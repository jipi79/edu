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b33b22e2-845b-3af6-a65b-5f5c89e7932b}">
          <p14:sldIdLst>
            <p14:sldId id="256"/>
            <p14:sldId id="257"/>
          </p14:sldIdLst>
        </p14:section>
        <p14:section name="연습" id="{2a7f2949-6011-1bad-a946-95411ca3ff18}">
          <p14:sldIdLst>
            <p14:sldId id="258"/>
            <p14:sldId id="259"/>
            <p14:sldId id="260"/>
            <p14:sldId id="262"/>
            <p14:sldId id="263"/>
            <p14:sldId id="264"/>
            <p14:sldId id="265"/>
            <p14:sldId id="267"/>
            <p14:sldId id="268"/>
            <p14:sldId id="269"/>
            <p14:sldId id="270"/>
            <p14:sldId id="272"/>
          </p14:sldIdLst>
        </p14:section>
        <p14:section name="개념" id="{921c81d3-efbc-6786-dc1c-bc686a50e0b6}">
          <p14:sldIdLst>
            <p14:sldId id="261"/>
            <p14:sldId id="266"/>
            <p14:sldId id="271"/>
          </p14:sldIdLst>
        </p14:section>
        <p14:section name="연습" id="{651c9306-8d01-8c12-7835-1e2111ad6656}">
          <p14:sldIdLst/>
        </p14:section>
        <p14:section name="개념" id="{6a6c876b-f964-5725-fd24-7c0209e4b56a}">
          <p14:sldIdLst/>
        </p14:section>
        <p14:section name="연습" id="{48ac9f7f-7793-35ce-8e6a-d6dc00b14cc9}">
          <p14:sldIdLst/>
        </p14:section>
        <p14:section name="개념" id="{049570d7-4223-f159-e8bf-1989db683c77}">
          <p14:sldIdLst/>
        </p14:section>
        <p14:section name="연습" id="{28477ad3-2bcf-5813-1692-e98f75404e4f}">
          <p14:sldIdLst/>
        </p14:section>
        <p14:section name="확인" id="{9707284e-936e-78fd-a8bb-dabbd613dc99}">
          <p14:sldIdLst>
            <p14:sldId id="273"/>
            <p14:sldId id="274"/>
            <p14:sldId id="275"/>
          </p14:sldIdLst>
        </p14:section>
        <p14:section name="정리" id="{f966c540-f71c-a72f-1ba5-bd8633c6bca3}">
          <p14:sldIdLst>
            <p14:sldId id="276"/>
          </p14:sldIdLst>
        </p14:section>
        <p14:section name="보충" id="{e163b15b-99b0-032f-e4b7-6edc2a48173d}">
          <p14:sldIdLst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알리고, 물에 녹은 설탕이 어떻게 되는지 궁금증을 갖게 합니다.
시간: 약 1분
이렇게 말해 보세요
- “코코아나 미숫가루를 물에 타 본 적 있지? 설탕을 물에 넣고 저으면 설탕이 안 보이게 되잖아. 설탕은 어디로 갔을까?”
- “오늘은 소금, 설탕, 밀가루를 물에 넣어 보고, 더 빨리 녹이는 방법과 더 진한 설탕물을 찾아볼 거야.”
예상 답
- “없어졌어요.” “물이랑 섞였어요.” 어떤 답이든 괜찮습니다. 답을 확인하지 않고 넘어갑니다.
막히면
- 설탕 한 숟가락을 보여 주기만 하고, 녹이는 것은 S04에서 합니다.
주의
- 컵 6개(투명한 플라스틱 컵), 찻숟가락, 소금·설탕·밀가루·흑설탕, 초시계(휴대 전화)를 미리 준비합니다.
- S09의 따뜻한 물은 부모가 만듭니다. 끓는 물은 쓰지 않고, 정수기 온수와 찬물을 섞어 손을 넣어도 뜨겁지 않은 목욕물 정도로 맞춥니다.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확인(물의 상태 변화)]
목적: 초4 ‘물의 상태 변화’(KR22-G04-SCI-WATERSTATE-L01)에서 배운 얼음이 녹음(고체 → 액체)과 증발을 확인합니다. 오늘 배우는 ‘물에 녹음(용해)’과 구별하고, 물이 증발해도 녹아 있던 물질이 남는다는 다음 차시와 이어집니다.
시간: 약 2분
이렇게 말해 보세요
- “① 얼음이 녹으면 무엇이 돼? 이건 어떤 변화였지?”
- “② 접시의 물을 그대로 두면 물은 어떻게 될까?”
정답
- ① 물(액체)이 된다. 고체가 액체로 변하는 상태 변화이다.
- ② 증발해서 수증기가 되어 공기 속으로 퍼진다(접시가 마른다).
막히면
- ①②가 흔들리면 S20(보충)을 먼저 합니다. 보충으로도 어려우면 초4 ‘물의 상태 변화’를 먼저 다시 봅니다.
주의
- 오늘 ‘설탕이 물에 녹는다’는 얼음이 녹는 것과 다른 일입니다. S06에서 비교합니다.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실험 전 예상하기(녹는 것과 녹지 않는 것)]
목적: 소금·설탕·밀가루를 물에 넣고 젓기 전에 녹을지 예상합니다(목표 A). 결과는 S04에서 확인합니다.
시간: 약 1분
이렇게 말해 보세요
- “세 가지를 물에 넣고 저으면 어떻게 될까? 녹을 것 같은 것은? 왜 그렇게 생각해?”
- “예상은 활동지 1의 ‘내 예상’ 칸에 써 줘.”
예상 답
- 어떤 예상이든 괜찮습니다. “소금이랑 설탕은 녹을 것 같아요.” “밀가루도 녹을 것 같아요.”
막히면
- “라면 국물에 소금을 넣으면 소금이 보여?”라고 경험을 떠올리게 합니다.
주의
- 결과를 알려 주지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소금·설탕·밀가루 녹이기]
목적: 같은 양의 찬물에 소금·설탕·밀가루를 넣고 저어 녹는 것과 녹지 않는 것을 관찰합니다(목표 A, 오해 M1).
시간: 약 3분
이렇게 말해 보세요
- “세 컵에 한 숟가락씩 넣고 똑같이 20번씩 저어 볼까? 물이 어떻게 보여?”
- “2분쯤 그대로 두고 컵 바닥을 봐. 가라앉은 것이 있어?”
예상 답
- “소금물과 설탕물은 맑아요. 알갱이가 안 보여요.” “밀가루 물은 뿌옇고, 바닥에 밀가루가 가라앉았어요.”
막히면
- 소금·설탕 알갱이가 조금 남으면 몇 번 더 젓습니다. 찻숟가락 하나(깎아서)면 반 컵의 물에 잘 녹습니다.
주의
- 숟가락은 컵마다 따로 쓰거나 닦아서 씁니다.
- 설탕물 컵은 S07에서 맛을 보고, 남은 소금물은 다음 차시 ‘혼합물의 분리’에서 쓸 수 있으니 버리지 않아도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관찰 결과 정리(녹는 것과 녹지 않는 것)]
목적: 세 컵의 결과를 정리하고 예상과 비교합니다(목표 A).
시간: 약 1분
이렇게 말해 보세요
- “활동지 1을 보면서 한 줄씩 말해 줄래?”
- “예상과 다른 것이 있었어?”
예상 답
- 소금: 맑음, 가라앉은 것 없음 / 설탕: 맑음, 가라앉은 것 없음 / 밀가루: 뿌옇고 바닥에 가라앉음(본 대로 말하면 맞음)
막히면
- 컵을 다시 눈높이에서 보며 하나씩 말하게 합니다.
주의
- 화면의 빈칸은 아이가 말로 채우는 자리입니다. 결과가 예상과 달라도 예상 칸을 고치지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결과로 설명하기(용해, 용질, 용매, 용액)]
목적: 관찰 결과를 증거로 용해·용질·용매·용액의 뜻을 정리하고, 밀가루 물은 용액이 아님을 확인합니다(목표 A, 오해 M2).
시간: 약 3분
이렇게 말해 보세요
- “설탕처럼 어떤 물질이 다른 물질에 녹아 골고루 섞이는 것을 ‘용해’라고 해.”
- “녹는 설탕은 ‘용질’, 설탕을 녹이는 물은 ‘용매’, 설탕이 물에 골고루 섞인 설탕물은 ‘용액’이야.”
- “밀가루 물은 용액일까? 왜 아닐까?”
예상 답
- “밀가루는 뿌옇고 가라앉았으니까 용액이 아니에요.”
막히면
- ‘녹는 것 → 용질, 녹이는 것 → 용매, 녹아서 섞인 것 → 용액’을 설탕물 컵을 가리키며 따라 말하게 합니다.
주의
- 얼음이 녹는 것(고체 → 액체, 상태 변화)과 설탕이 물에 녹는 것(용해)은 다릅니다. 설탕 혼자 물이 되는 것이 아니라 물에 골고루 섞이는 것입니다(오해 M2).
- 용액은 색이 있어도(흑설탕물, 주스) 맑게 비치면 투명하다고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오개념 비교(녹으면 없어진다)]
목적: 물에 녹은 설탕이 없어졌다는 생각을 증거(단맛)로 바로잡습니다(목표 A, 오해 M1).
시간: 약 2분
이렇게 말해 보세요
- “토끼는 설탕이 안 보이니까 없어졌대. 곰은 물에 골고루 섞여 있대. 누구 말이 맞을까?”
- “설탕물을 숟가락 끝으로 한 방울만 맛볼까? 맛이 어때? 이게 무엇의 증거일까?”
정답
- 곰. 증거: 설탕물에서 단맛이 납니다. 설탕은 아주 작게 나뉘어 눈에 보이지 않을 뿐 물속에 골고루 섞여 있습니다.
막히면
- 주방 저울이 있으면 물을 담은 컵과 설탕을 함께 잰 무게(예시: 110 g)와, 설탕을 녹인 뒤 잰 무게가 같다는 것을 보여 줍니다. 저울이 없으면 맛으로 충분합니다.
주의
- 맛보기는 부엌의 설탕과 깨끗한 컵·숟가락으로 만든 설탕물만, 부모가 허락할 때 한 방울만 합니다. 밀가루 물은 맛보지 않습니다. 실험실에서는 맛을 보지 않는다는 것도 알려 줍니다.
- 다음 차시에서 소금물의 물을 증발시켜 소금을 다시 얻는 것으로 한 번 더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실험 전 예상하기(녹는 빠르기)]
목적: 젓기와 물의 온도를 다르게 한 세 컵에서 설탕이 녹는 빠르기를 예상합니다(목표 B). 결과는 S09에서 확인합니다.
시간: 약 1분
이렇게 말해 보세요
- “세 컵 가운데 설탕이 가장 빨리 녹는 컵은 어느 것일까? 가장 느린 컵은?”
- “예상 순서를 활동지 2에 써 줘.”
예상 답
- 어떤 예상이든 괜찮습니다. “③이 제일 빠를 것 같아요.” “①은 안 녹을 것 같아요.”
막히면
- “코코아를 탈 때 어떻게 하면 잘 녹았어?”라고 경험을 떠올리게 합니다.
주의
- 결과를 알려 주지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녹는 빠르기 비교 실험]
목적: 젓기와 물의 온도를 하나씩 다르게 하여 설탕이 다 녹는 데 걸린 시간을 재고 비교합니다(목표 B).
시간: 약 5분
이렇게 말해 보세요
- “①에 설탕을 넣고 젓지 말고 그대로 둘게. 초시계를 켜자.”
- “이제 ②에 설탕을 넣고 저어 봐. 알갱이가 다 안 보일 때까지 몇 초 걸렸어?”
- “③은 따뜻한 물이야. ②와 똑같은 빠르기로 저어 볼래?”
예상 답
- 예시(한 가지 예일 뿐 정답이 아님): ② 약 50초, ③ 약 20초, ① 3분이 지나도 바닥에 설탕이 남음. 컵·설탕 알갱이·젓는 빠르기에 따라 시간은 달라집니다. ③이 ②보다 빠르고 ①이 가장 느리면 됩니다.
막히면
- ②와 ③의 차이가 작으면 설탕을 두 숟가락으로 늘려 다시 해 봅니다.
- 젓는 빠르기를 같게 하기 어려우면 부모가 “하나, 둘” 하고 박자를 세어 줍니다.
주의
- 따뜻한 물은 부모가 만들어 붓습니다. 끓는 물이나 갓 끓인 물은 쓰지 않습니다(정수기 온수와 찬물을 섞어 목욕물 정도).
- ①은 3분까지만 기다리고, 그때도 남아 있으면 ‘3분 넘음’으로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관찰 결과 정리(녹는 빠르기)]
목적: 세 컵의 시간을 정리하고, 어떤 두 컵을 견주면 무엇을 알 수 있는지 말합니다(목표 B).
시간: 약 1분
이렇게 말해 보세요
- “활동지 2에 쓴 시간을 말해 줄래? 가장 빨리 녹은 컵은?”
- “①과 ②는 무엇만 달랐지? ②와 ③은?”
예상 답
- 예시: ① 3분 넘음, ② 약 50초, ③ 약 20초(한 가지 예). “①과 ②는 젓기만 달라요. ②와 ③은 물의 온도만 달라요.”
막히면
- S08의 표에서 두 줄을 손가락으로 짚고 다른 칸 하나를 찾게 합니다.
주의
- 시간은 집마다 다릅니다. 숫자보다 ‘어느 컵이 더 빨랐는지’를 봅니다. 시간 뒤에 ‘초’를 붙였는지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결과로 설명하기(빨리 녹이는 방법)]
목적: 두 컵씩 견준 결과로 젓기와 물의 온도가 녹는 빠르기에 주는 영향을 정리합니다(목표 B, 오해 M3).
시간: 약 2분
이렇게 말해 보세요
- “①과 ②를 견주면 무엇을 알 수 있어? ②와 ③은?”
- “비교할 때 물의 양과 설탕의 양은 어떻게 했지? 왜 같게 했을까?”
예상 답
- “저으면 더 빨리 녹아요.” “따뜻한 물에서 더 빨리 녹아요.” “다른 것을 같게 해야 무엇 때문인지 알 수 있어요.”
막히면
- S10의 표에서 두 줄씩 가리고 하나씩 비교하게 합니다.
주의
- 저으면 ‘빨리’ 녹을 뿐, 녹을 수 있는 양이 늘어나지는 않습니다(오해 M3). 아이가 물으면 알려 줍니다.
- 설탕은 따뜻한 물에 더 많이 녹기도 합니다. 소금은 물의 온도가 달라져도 녹는 양이 거의 같습니다. 이 차시에서는 ‘빠르기’만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공정한 비교 판단하기]
목적: 물의 온도의 영향을 알아보는 두 방법을 비교해, 조건을 하나만 다르게 해야 한다는 것을 적용합니다(목표 B).
시간: 약 2분
이렇게 말해 보세요
- “토끼 방법으로 하면 따뜻한 컵이 빨리 녹았을 때, 따뜻해서일까 저어서일까?”
- “곰 방법은 무엇만 달라?”
정답
- 곰. 두 컵을 똑같이 젓고 물의 온도만 다르게 해야, 빨리 녹은 까닭이 물의 온도 때문인지 알 수 있습니다. 토끼 방법은 온도와 젓기가 함께 달라 무엇 때문인지 알 수 없습니다.
막히면
- 토끼 방법의 두 컵에서 다른 점을 모두 찾아 손가락으로 세어 보게 합니다(온도, 젓기 → 두 가지).
주의
- 초3 ‘관찰 기록하기’에서 ‘조건 하나만 다르게’를 배웠다면 그 말을 떠올리게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실험 전 예상하기(용액의 진하기)]
목적: 같은 양의 물에 흑설탕을 1숟가락, 3숟가락 녹이기 전에 어느 쪽이 진할지, 어떻게 비교할지 예상합니다(목표 C). 결과는 S14에서 확인합니다.
시간: 약 1분
이렇게 말해 보세요
- “같은 양의 물에 흑설탕을 1숟가락, 3숟가락 녹이면 어느 쪽이 더 진할까? 진한지 어떻게 알 수 있을까?”
예상 답
- 어떤 예상이든 괜찮습니다. “3숟가락이 진해요.” “색을 보면 알 수 있어요.” “맛을 보면 알아요.”
막히면
- “진한 코코아와 연한 코코아는 무엇이 달라?”라고 묻습니다.
주의
- 결과를 알려 주지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흑설탕 용액의 진하기 비교]
목적: 같은 양의 물에 흑설탕을 1숟가락, 3숟가락 녹여 색과 맛으로 진하기를 비교합니다(목표 C).
시간: 약 3분
이렇게 말해 보세요
- “두 컵에 물을 똑같이 담고, 한 컵에는 1숟가락, 다른 컵에는 3숟가락을 넣어 다 녹을 때까지 저어 볼까?”
- “흰 종이를 컵 뒤에 대고 색을 비교해 봐. 숟가락 끝으로 한 방울씩 맛도 비교해 볼래?”
예상 답
- “3숟가락 컵이 더 진한 갈색이에요.” “3숟가락 컵이 더 달아요.” “둘 다 맑아요.”
막히면
- 흑설탕이 없으면 황설탕을 씁니다. 둘 다 없으면 흰 설탕으로 맛만 비교합니다. 보리차처럼 원래 색이 있는 물에 흰 설탕을 녹이면 색이 설탕 양과 관계없으므로 색 비교에 쓰지 않습니다.
주의
- 맛보기는 부모가 허락할 때 숟가락 끝으로 한 방울만 합니다.
- 있으면 방울토마토를 두 컵에 넣어 볼 수 있습니다. 진한 쪽에서 더 높이 떠오릅니다. 다만 방울토마토마다 무게가 달라 묽은 쪽에서도 뜰 수 있으니, ‘더 높이 뜨는 쪽’만 비교합니다.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관찰 결과 정리(진하기)]
목적: 색과 맛으로 비교한 결과를 정리하고 예상과 비교합니다(목표 C).
시간: 약 1분
이렇게 말해 보세요
- “활동지 4를 보면서 말해 줄래? 어느 컵이 더 진했어? 무엇을 보고 알았어?”
예상 답
- 1숟가락: 연한 갈색, 조금 달다 / 3숟가락: 진한 갈색, 더 달다. 두 용액 모두 맑다(투명하다).
막히면
- 두 컵을 흰 종이 앞에 나란히 놓고 다시 봅니다.
주의
- 화면의 빈칸은 아이가 말로 채우는 자리입니다.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[S16 · 결과로 설명하기(용액의 진하기)]
목적: 실험 결과를 증거로 용액의 진하기의 뜻과 비교하는 방법을 정리합니다(목표 C, 오해 M4).
시간: 약 2분
이렇게 말해 보세요
- “같은 양의 물에 흑설탕을 더 많이 녹인 쪽이 더 진했지? 진하기는 같은 양의 용매에 녹아 있는 용질이 얼마나 많은지를 말해.”
- “진하기를 비교하는 방법은 무엇이 있었지?”
예상 답
- “색이 진해요.” “맛이 더 달아요.”
막히면
- 두 컵을 다시 나란히 놓고 ‘물은 같고, 흑설탕은 1과 3’을 짚어 줍니다.
주의
- 색이 없는 용액(흰 설탕물, 소금물)은 색으로 비교할 수 없습니다. 이때는 맛이나 물체가 뜨는 정도로 비교합니다.
- 진한 용액일수록 방울토마토·메추리알 같은 물체가 더 높이 떠오릅니다. 실험해 보지 않았다면 ‘교과서에서는 이렇게도 비교한다’고만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[S17 · 오개념 비교(양이 많으면 진하다)]
목적: 용액의 양이 많으면 더 진하다는 생각을, 같은 양의 용매에 녹은 용질의 양으로 바로잡습니다(목표 C, 오해 M4).
시간: 약 2분
이렇게 말해 보세요
- “가 컵과 나 컵에 넣은 설탕의 양은 같아. 물의 양은 어때?”
- “나 컵의 물을 반만 떼어 내면, 그 안에 설탕은 몇 숟가락만큼 있을까?”
정답
- 곰. 설탕의 양은 2숟가락으로 같지만 가는 물 100 mL, 나는 물 200 mL입니다. 물 100 mL에 녹은 설탕으로 견주면 가는 2숟가락, 나는 1숟가락만큼이므로 가가 더 진합니다.
막히면
- 나 컵의 물을 컵 두 개에 반씩 나누는 장면을 손으로 그려 보입니다. 한 컵에 설탕 1숟가락만큼씩 들어 있습니다.
주의
- ‘양이 많다’와 ‘진하다’는 다릅니다. 진하기는 용매의 양에 견주어 용질이 얼마나 녹아 있는지입니다.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[S18 · 혼자 해결]
목적: 도움 없이 용질·용매(①), 녹은 물질이 남아 있다는 증거(②), 빨리 녹이는 방법(③), 진하기 비교(④)를 말하는지 확인합니다(목표 A·B·C).
시간: 약 3분
이렇게 말해 보세요
- “이번에는 혼자 답해 볼래? 왜 그렇게 생각했는지도 말해 줘.”
정답
- ① 용질: 소금, 용매: 물
- ② 아니다. 소금물에서 짠맛이 나는 것이 증거이다(소금이 물에 골고루 섞여 있다).
- ③ 따뜻한 물에 넣는다, 젓는다(두 가지)
- ④ 가. 같은 양의 물에 설탕이 더 많이 녹아 있기 때문
막히면
- 바로 알려 주지 말고 “오늘 어떤 컵 실험과 비슷해?”라고만 묻습니다.
- 도움을 받아 해결했다면 기록표에 ‘도움’으로 표시합니다.
주의
- ③은 두 가지를 모두 말해야 맞습니다. 하나만 말하면 “또 다른 방법은?”이라고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[S19 · 정답과 피드백]
목적: 아이의 답을 함께 확인하고 흔한 실수를 바로잡습니다. 수업용에만 있는 장입니다.
시간: 약 1분
이렇게 말해 보세요
- “네 답과 같은지 볼까? 다르면 어디서 달라졌는지 찾아보자.”
정답
- ① 용질 소금, 용매 물 ② 없어지지 않음(짠맛) ③ 따뜻한 물, 젓기 ④ 가
막히면
- ①이 틀리면 S06으로, ②가 틀리면 S07로, ③이 틀리면 S11로, ④가 틀리면 S16·S17로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[S20 · 마무리 확인(용액 고르기)]
목적: 처음 보는 세 가지 가운데 용액을 고르고 까닭을 말하는지 확인합니다(목표 A).
시간: 약 2분
이렇게 말해 보세요
- “세 가지를 30분 동안 그대로 두었대. 어느 것이 용액일까? 왜 그렇게 생각해?”
정답
- 나. 꿀물은 꿀이 물에 녹아 맑고, 오래 두어도 가라앉는 것이 없습니다. 흙탕물과 미숫가루 물은 바닥에 가라앉는 것이 생기므로 용액이 아닙니다.
막히면
- S06의 핵심 카드(맑고, 가라앉거나 뜨는 것이 없다)를 다시 보여 줍니다.
주의
- 답만 맞히고 까닭을 말하지 못하면 기록표에 ‘답만’으로 적습니다.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[S21 · 정리와 다음 수업 복습]
목적: 핵심을 정리하고 다음 수업 첫 5분에 풀 복습 문제를 알려 줍니다.
시간: 약 1분
이렇게 말해 보세요
- “물에 녹은 설탕은 어디로 갔는지, 이제 설명해 볼래?”
예상 답
- “설탕이 아주 작게 나뉘어 물에 골고루 섞여 있어요. 그래서 설탕물이 달아요.”
정답
- ① 용질 ② 젓는다, 따뜻한 물을 쓴다 ③ 같은 양의 물에 용질이 많이 녹아 있는 용액
막히면
- S06, S11, S16을 다시 보여 줍니다.
주의
- 복습 세 문제는 다음 수업을 시작할 때 활동지 마지막 쪽과 함께 풉니다. S04의 소금물은 다음 차시에 쓸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[S22 · 선수 학습 보충(얼음이 녹음과 증발)]
목적: S02가 흔들리면, 얼음이 녹아 물이 되는 것과 물이 증발하는 것을 먼저 다시 봅니다.
시간: 약 4분
이렇게 말해 보세요
- “얼음 한 조각을 접시에 놓아 볼까? 조금 뒤 어떻게 될까?”
- “젖은 손수건을 널어 두면 물은 어디로 갈까?”
예상 답
- “얼음이 녹아 물이 돼요.” “물이 수증기가 되어 날아가요.”
막히면
- 얼음을 손바닥에 잠깐 쥐어 녹는 것을 느끼게 합니다.
주의
- 계획상 선수 차시는 초4 ‘물의 상태 변화’(KR22-G04-SCI-WATERSTATE-L01)입니다. 보충으로도 어려우면 그 차시를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과학 · 용액과분리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과학 · 용해와 용액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과학 · 용해와 용액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과학 · 용해와 용액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용해와 용액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물에 녹은 설탕은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어디로 갔을까?</a:t>
            </a:r>
            <a:endParaRPr lang="ko-KR" sz="28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물이 든 투명한 컵 위의 숟가락에 흰 알갱이(설탕)가 담겨 있는 그림"/>
          <p:cNvSpPr/>
          <p:nvPr/>
        </p:nvSpPr>
        <p:spPr>
          <a:xfrm>
            <a:off x="8605972" y="1921644"/>
            <a:ext cx="1791534" cy="1415515"/>
          </a:xfrm>
          <a:custGeom>
            <a:avLst/>
            <a:gdLst/>
            <a:ahLst/>
            <a:cxnLst/>
            <a:rect l="l" t="t" r="r" b="b"/>
            <a:pathLst>
              <a:path w="1791534" h="1415515">
                <a:moveTo>
                  <a:pt x="169862" y="1415515"/>
                </a:moveTo>
                <a:lnTo>
                  <a:pt x="1621672" y="1415515"/>
                </a:lnTo>
                <a:lnTo>
                  <a:pt x="1791534" y="0"/>
                </a:lnTo>
                <a:lnTo>
                  <a:pt x="0" y="0"/>
                </a:lnTo>
                <a:close/>
              </a:path>
            </a:pathLst>
          </a:custGeom>
          <a:solidFill>
            <a:srgbClr val="CFE3F7"/>
          </a:solidFill>
          <a:ln/>
        </p:spPr>
      </p:sp>
      <p:sp>
        <p:nvSpPr>
          <p:cNvPr id="6" name="S01-mark3"/>
          <p:cNvSpPr/>
          <p:nvPr/>
        </p:nvSpPr>
        <p:spPr>
          <a:xfrm>
            <a:off x="8549351" y="1449805"/>
            <a:ext cx="1904775" cy="1887354"/>
          </a:xfrm>
          <a:custGeom>
            <a:avLst/>
            <a:gdLst/>
            <a:ahLst/>
            <a:cxnLst/>
            <a:rect l="l" t="t" r="r" b="b"/>
            <a:pathLst>
              <a:path w="1904775" h="1887354">
                <a:moveTo>
                  <a:pt x="0" y="0"/>
                </a:moveTo>
                <a:lnTo>
                  <a:pt x="226482" y="1887354"/>
                </a:lnTo>
                <a:lnTo>
                  <a:pt x="1678293" y="1887354"/>
                </a:lnTo>
                <a:lnTo>
                  <a:pt x="1904775" y="0"/>
                </a:lnTo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9262190" y="992485"/>
            <a:ext cx="116145" cy="116145"/>
          </a:xfrm>
          <a:prstGeom prst="ellipse">
            <a:avLst/>
          </a:prstGeom>
          <a:solidFill>
            <a:srgbClr val="D1D5D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>
            <a:off x="9407371" y="1014262"/>
            <a:ext cx="116145" cy="116145"/>
          </a:xfrm>
          <a:prstGeom prst="ellipse">
            <a:avLst/>
          </a:prstGeom>
          <a:solidFill>
            <a:srgbClr val="D1D5D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>
            <a:off x="9552552" y="992485"/>
            <a:ext cx="116145" cy="116145"/>
          </a:xfrm>
          <a:prstGeom prst="ellipse">
            <a:avLst/>
          </a:prstGeom>
          <a:solidFill>
            <a:srgbClr val="D1D5D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0" name="S01-mark7"/>
          <p:cNvSpPr/>
          <p:nvPr/>
        </p:nvSpPr>
        <p:spPr>
          <a:xfrm>
            <a:off x="9661438" y="956190"/>
            <a:ext cx="116145" cy="116145"/>
          </a:xfrm>
          <a:prstGeom prst="ellipse">
            <a:avLst/>
          </a:prstGeom>
          <a:solidFill>
            <a:srgbClr val="D1D5D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1" name="S01-mark8"/>
          <p:cNvSpPr/>
          <p:nvPr/>
        </p:nvSpPr>
        <p:spPr>
          <a:xfrm>
            <a:off x="9334781" y="905376"/>
            <a:ext cx="116145" cy="116145"/>
          </a:xfrm>
          <a:prstGeom prst="ellipse">
            <a:avLst/>
          </a:prstGeom>
          <a:solidFill>
            <a:srgbClr val="D1D5D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2" name="S01-mark9"/>
          <p:cNvSpPr/>
          <p:nvPr/>
        </p:nvSpPr>
        <p:spPr>
          <a:xfrm>
            <a:off x="9479962" y="898117"/>
            <a:ext cx="116145" cy="116145"/>
          </a:xfrm>
          <a:prstGeom prst="ellipse">
            <a:avLst/>
          </a:prstGeom>
          <a:solidFill>
            <a:srgbClr val="D1D5DB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3" name="S01-mark10"/>
          <p:cNvSpPr/>
          <p:nvPr/>
        </p:nvSpPr>
        <p:spPr>
          <a:xfrm>
            <a:off x="9102491" y="869081"/>
            <a:ext cx="798496" cy="362953"/>
          </a:xfrm>
          <a:custGeom>
            <a:avLst/>
            <a:gdLst/>
            <a:ahLst/>
            <a:cxnLst/>
            <a:rect l="l" t="t" r="r" b="b"/>
            <a:pathLst>
              <a:path w="798496" h="362953">
                <a:moveTo>
                  <a:pt x="798496" y="181476"/>
                </a:moveTo>
                <a:lnTo>
                  <a:pt x="796977" y="165660"/>
                </a:lnTo>
                <a:lnTo>
                  <a:pt x="792430" y="149963"/>
                </a:lnTo>
                <a:lnTo>
                  <a:pt x="784892" y="134507"/>
                </a:lnTo>
                <a:lnTo>
                  <a:pt x="774418" y="119408"/>
                </a:lnTo>
                <a:lnTo>
                  <a:pt x="761089" y="104781"/>
                </a:lnTo>
                <a:lnTo>
                  <a:pt x="745007" y="90738"/>
                </a:lnTo>
                <a:lnTo>
                  <a:pt x="726293" y="77386"/>
                </a:lnTo>
                <a:lnTo>
                  <a:pt x="705090" y="64826"/>
                </a:lnTo>
                <a:lnTo>
                  <a:pt x="681559" y="53153"/>
                </a:lnTo>
                <a:lnTo>
                  <a:pt x="655879" y="42457"/>
                </a:lnTo>
                <a:lnTo>
                  <a:pt x="628247" y="32820"/>
                </a:lnTo>
                <a:lnTo>
                  <a:pt x="598872" y="24313"/>
                </a:lnTo>
                <a:lnTo>
                  <a:pt x="567977" y="17003"/>
                </a:lnTo>
                <a:lnTo>
                  <a:pt x="535799" y="10944"/>
                </a:lnTo>
                <a:lnTo>
                  <a:pt x="502581" y="6184"/>
                </a:lnTo>
                <a:lnTo>
                  <a:pt x="468577" y="2757"/>
                </a:lnTo>
                <a:lnTo>
                  <a:pt x="434045" y="691"/>
                </a:lnTo>
                <a:lnTo>
                  <a:pt x="399248" y="0"/>
                </a:lnTo>
                <a:lnTo>
                  <a:pt x="364451" y="691"/>
                </a:lnTo>
                <a:lnTo>
                  <a:pt x="329919" y="2757"/>
                </a:lnTo>
                <a:lnTo>
                  <a:pt x="295915" y="6184"/>
                </a:lnTo>
                <a:lnTo>
                  <a:pt x="262697" y="10944"/>
                </a:lnTo>
                <a:lnTo>
                  <a:pt x="230518" y="17003"/>
                </a:lnTo>
                <a:lnTo>
                  <a:pt x="199624" y="24313"/>
                </a:lnTo>
                <a:lnTo>
                  <a:pt x="170249" y="32820"/>
                </a:lnTo>
                <a:lnTo>
                  <a:pt x="142616" y="42457"/>
                </a:lnTo>
                <a:lnTo>
                  <a:pt x="116937" y="53153"/>
                </a:lnTo>
                <a:lnTo>
                  <a:pt x="93406" y="64826"/>
                </a:lnTo>
                <a:lnTo>
                  <a:pt x="72203" y="77386"/>
                </a:lnTo>
                <a:lnTo>
                  <a:pt x="53489" y="90738"/>
                </a:lnTo>
                <a:lnTo>
                  <a:pt x="37406" y="104781"/>
                </a:lnTo>
                <a:lnTo>
                  <a:pt x="24078" y="119408"/>
                </a:lnTo>
                <a:lnTo>
                  <a:pt x="13604" y="134507"/>
                </a:lnTo>
                <a:lnTo>
                  <a:pt x="6065" y="149963"/>
                </a:lnTo>
                <a:lnTo>
                  <a:pt x="1519" y="165660"/>
                </a:lnTo>
                <a:lnTo>
                  <a:pt x="0" y="181476"/>
                </a:lnTo>
                <a:lnTo>
                  <a:pt x="1519" y="197293"/>
                </a:lnTo>
                <a:lnTo>
                  <a:pt x="6065" y="212989"/>
                </a:lnTo>
                <a:lnTo>
                  <a:pt x="13604" y="228446"/>
                </a:lnTo>
                <a:lnTo>
                  <a:pt x="24078" y="243545"/>
                </a:lnTo>
                <a:lnTo>
                  <a:pt x="37406" y="258172"/>
                </a:lnTo>
                <a:lnTo>
                  <a:pt x="53489" y="272214"/>
                </a:lnTo>
                <a:lnTo>
                  <a:pt x="72203" y="285567"/>
                </a:lnTo>
                <a:lnTo>
                  <a:pt x="93406" y="298127"/>
                </a:lnTo>
                <a:lnTo>
                  <a:pt x="116937" y="309799"/>
                </a:lnTo>
                <a:lnTo>
                  <a:pt x="142616" y="320495"/>
                </a:lnTo>
                <a:lnTo>
                  <a:pt x="170249" y="330133"/>
                </a:lnTo>
                <a:lnTo>
                  <a:pt x="199624" y="338639"/>
                </a:lnTo>
                <a:lnTo>
                  <a:pt x="230518" y="345950"/>
                </a:lnTo>
                <a:lnTo>
                  <a:pt x="262697" y="352008"/>
                </a:lnTo>
                <a:lnTo>
                  <a:pt x="295915" y="356769"/>
                </a:lnTo>
                <a:lnTo>
                  <a:pt x="329919" y="360196"/>
                </a:lnTo>
                <a:lnTo>
                  <a:pt x="364451" y="362262"/>
                </a:lnTo>
                <a:lnTo>
                  <a:pt x="399248" y="362953"/>
                </a:lnTo>
                <a:lnTo>
                  <a:pt x="434045" y="362262"/>
                </a:lnTo>
                <a:lnTo>
                  <a:pt x="468577" y="360196"/>
                </a:lnTo>
                <a:lnTo>
                  <a:pt x="502581" y="356769"/>
                </a:lnTo>
                <a:lnTo>
                  <a:pt x="535799" y="352008"/>
                </a:lnTo>
                <a:lnTo>
                  <a:pt x="567977" y="345950"/>
                </a:lnTo>
                <a:lnTo>
                  <a:pt x="598872" y="338639"/>
                </a:lnTo>
                <a:lnTo>
                  <a:pt x="628247" y="330133"/>
                </a:lnTo>
                <a:lnTo>
                  <a:pt x="655879" y="320495"/>
                </a:lnTo>
                <a:lnTo>
                  <a:pt x="681559" y="309799"/>
                </a:lnTo>
                <a:lnTo>
                  <a:pt x="705090" y="298127"/>
                </a:lnTo>
                <a:lnTo>
                  <a:pt x="726293" y="285567"/>
                </a:lnTo>
                <a:lnTo>
                  <a:pt x="745007" y="272214"/>
                </a:lnTo>
                <a:lnTo>
                  <a:pt x="761089" y="258172"/>
                </a:lnTo>
                <a:lnTo>
                  <a:pt x="774418" y="243545"/>
                </a:lnTo>
                <a:lnTo>
                  <a:pt x="784892" y="228446"/>
                </a:lnTo>
                <a:lnTo>
                  <a:pt x="792430" y="212989"/>
                </a:lnTo>
                <a:lnTo>
                  <a:pt x="796977" y="197293"/>
                </a:lnTo>
                <a:close/>
              </a:path>
            </a:pathLst>
          </a:cu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4" name="S01-mark11"/>
          <p:cNvSpPr/>
          <p:nvPr/>
        </p:nvSpPr>
        <p:spPr>
          <a:xfrm flipV="1">
            <a:off x="9864692" y="723900"/>
            <a:ext cx="1016267" cy="254067"/>
          </a:xfrm>
          <a:prstGeom prst="line">
            <a:avLst/>
          </a:prstGeom>
          <a:noFill/>
          <a:ln w="38100">
            <a:solidFill>
              <a:srgbClr val="1F2937"/>
            </a:solidFill>
            <a:prstDash val="solid"/>
          </a:ln>
        </p:spPr>
      </p:sp>
      <p:sp>
        <p:nvSpPr>
          <p:cNvPr id="15" name="S01-card12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6" name="S01-cardtext13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녹는 것과 녹지 않는 것을 비교하고 용액을 알아봐요.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빨리 녹이는 방법과 용액의 진하기를 비교해요.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4학년 기억하기</a:t>
            </a:r>
            <a:endParaRPr lang="ko-KR" sz="4000" dirty="0"/>
          </a:p>
        </p:txBody>
      </p:sp>
      <p:sp>
        <p:nvSpPr>
          <p:cNvPr id="3" name="S02-chip1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15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얼음이 녹으면 무엇이 되나요?</a:t>
            </a:r>
            <a:endParaRPr lang="ko-KR" sz="2800" dirty="0"/>
          </a:p>
        </p:txBody>
      </p:sp>
      <p:sp>
        <p:nvSpPr>
          <p:cNvPr id="5" name="S02-chip16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17"/>
          <p:cNvSpPr txBox="1"/>
          <p:nvPr/>
        </p:nvSpPr>
        <p:spPr>
          <a:xfrm>
            <a:off x="1344168" y="38633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접시의 물을 오래 두면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물은 어떻게 되나요?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예상해 봐요</a:t>
            </a:r>
            <a:endParaRPr lang="ko-KR" sz="4000" dirty="0"/>
          </a:p>
        </p:txBody>
      </p:sp>
      <p:sp>
        <p:nvSpPr>
          <p:cNvPr id="3" name="S03-text1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양의 찬물에 한 숟가락씩 넣고 저어요.</a:t>
            </a:r>
            <a:endParaRPr lang="ko-KR" sz="2800" dirty="0"/>
          </a:p>
        </p:txBody>
      </p:sp>
      <p:sp>
        <p:nvSpPr>
          <p:cNvPr id="4" name="S03-card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1에 써요.</a:t>
            </a:r>
            <a:endParaRPr lang="ko-KR" sz="2800" dirty="0"/>
          </a:p>
        </p:txBody>
      </p:sp>
      <p:graphicFrame>
        <p:nvGraphicFramePr>
          <p:cNvPr id="4" name="S03-table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93876" y="2541016"/>
          <a:ext cx="9601200" cy="914400"/>
        </p:xfrm>
        <a:graphic>
          <a:graphicData uri="http://schemas.openxmlformats.org/drawingml/2006/table">
            <a:tbl>
              <a:tblPr/>
              <a:tblGrid>
                <a:gridCol w="4320540"/>
                <a:gridCol w="528066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넣는 것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예상(녹을까요?)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설탕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밀가루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물에 넣고 저어요</a:t>
            </a:r>
            <a:endParaRPr lang="ko-KR" sz="4000" dirty="0"/>
          </a:p>
        </p:txBody>
      </p:sp>
      <p:sp>
        <p:nvSpPr>
          <p:cNvPr id="3" name="S04-card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플라스틱 컵을 쓰고, 흘린 것은 바로 닦아요.</a:t>
            </a:r>
            <a:endParaRPr lang="ko-KR" sz="2800" dirty="0"/>
          </a:p>
        </p:txBody>
      </p:sp>
      <p:sp>
        <p:nvSpPr>
          <p:cNvPr id="5" name="S04-figure24" descr="같은 양의 찬물을 담은 컵 세 개: 소금, 설탕, 밀가루를 넣을 컵"/>
          <p:cNvSpPr/>
          <p:nvPr/>
        </p:nvSpPr>
        <p:spPr>
          <a:xfrm>
            <a:off x="7377141" y="1810914"/>
            <a:ext cx="997630" cy="745111"/>
          </a:xfrm>
          <a:custGeom>
            <a:avLst/>
            <a:gdLst/>
            <a:ahLst/>
            <a:cxnLst/>
            <a:rect l="l" t="t" r="r" b="b"/>
            <a:pathLst>
              <a:path w="997630" h="745111">
                <a:moveTo>
                  <a:pt x="89413" y="745111"/>
                </a:moveTo>
                <a:lnTo>
                  <a:pt x="908217" y="745111"/>
                </a:lnTo>
                <a:lnTo>
                  <a:pt x="997630" y="0"/>
                </a:lnTo>
                <a:lnTo>
                  <a:pt x="0" y="0"/>
                </a:lnTo>
                <a:close/>
              </a:path>
            </a:pathLst>
          </a:custGeom>
          <a:solidFill>
            <a:srgbClr val="CFE3F7"/>
          </a:solidFill>
          <a:ln/>
        </p:spPr>
      </p:sp>
      <p:sp>
        <p:nvSpPr>
          <p:cNvPr id="6" name="S04-mark25"/>
          <p:cNvSpPr/>
          <p:nvPr/>
        </p:nvSpPr>
        <p:spPr>
          <a:xfrm>
            <a:off x="7338821" y="1491580"/>
            <a:ext cx="1074270" cy="1064445"/>
          </a:xfrm>
          <a:custGeom>
            <a:avLst/>
            <a:gdLst/>
            <a:ahLst/>
            <a:cxnLst/>
            <a:rect l="l" t="t" r="r" b="b"/>
            <a:pathLst>
              <a:path w="1074270" h="1064445">
                <a:moveTo>
                  <a:pt x="0" y="0"/>
                </a:moveTo>
                <a:lnTo>
                  <a:pt x="127733" y="1064445"/>
                </a:lnTo>
                <a:lnTo>
                  <a:pt x="946537" y="1064445"/>
                </a:lnTo>
                <a:lnTo>
                  <a:pt x="1074270" y="0"/>
                </a:lnTo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04-mark26"/>
          <p:cNvSpPr/>
          <p:nvPr/>
        </p:nvSpPr>
        <p:spPr>
          <a:xfrm>
            <a:off x="8769107" y="1810914"/>
            <a:ext cx="997630" cy="745111"/>
          </a:xfrm>
          <a:custGeom>
            <a:avLst/>
            <a:gdLst/>
            <a:ahLst/>
            <a:cxnLst/>
            <a:rect l="l" t="t" r="r" b="b"/>
            <a:pathLst>
              <a:path w="997630" h="745111">
                <a:moveTo>
                  <a:pt x="89413" y="745111"/>
                </a:moveTo>
                <a:lnTo>
                  <a:pt x="908217" y="745111"/>
                </a:lnTo>
                <a:lnTo>
                  <a:pt x="997630" y="0"/>
                </a:lnTo>
                <a:lnTo>
                  <a:pt x="0" y="0"/>
                </a:lnTo>
                <a:close/>
              </a:path>
            </a:pathLst>
          </a:custGeom>
          <a:solidFill>
            <a:srgbClr val="CFE3F7"/>
          </a:solidFill>
          <a:ln/>
        </p:spPr>
      </p:sp>
      <p:sp>
        <p:nvSpPr>
          <p:cNvPr id="8" name="S04-mark27"/>
          <p:cNvSpPr/>
          <p:nvPr/>
        </p:nvSpPr>
        <p:spPr>
          <a:xfrm>
            <a:off x="8730787" y="1491580"/>
            <a:ext cx="1074270" cy="1064445"/>
          </a:xfrm>
          <a:custGeom>
            <a:avLst/>
            <a:gdLst/>
            <a:ahLst/>
            <a:cxnLst/>
            <a:rect l="l" t="t" r="r" b="b"/>
            <a:pathLst>
              <a:path w="1074270" h="1064445">
                <a:moveTo>
                  <a:pt x="0" y="0"/>
                </a:moveTo>
                <a:lnTo>
                  <a:pt x="127733" y="1064445"/>
                </a:lnTo>
                <a:lnTo>
                  <a:pt x="946537" y="1064445"/>
                </a:lnTo>
                <a:lnTo>
                  <a:pt x="1074270" y="0"/>
                </a:lnTo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9" name="S04-mark28"/>
          <p:cNvSpPr/>
          <p:nvPr/>
        </p:nvSpPr>
        <p:spPr>
          <a:xfrm>
            <a:off x="10161073" y="1810914"/>
            <a:ext cx="997630" cy="745111"/>
          </a:xfrm>
          <a:custGeom>
            <a:avLst/>
            <a:gdLst/>
            <a:ahLst/>
            <a:cxnLst/>
            <a:rect l="l" t="t" r="r" b="b"/>
            <a:pathLst>
              <a:path w="997630" h="745111">
                <a:moveTo>
                  <a:pt x="89413" y="745111"/>
                </a:moveTo>
                <a:lnTo>
                  <a:pt x="908217" y="745111"/>
                </a:lnTo>
                <a:lnTo>
                  <a:pt x="997630" y="0"/>
                </a:lnTo>
                <a:lnTo>
                  <a:pt x="0" y="0"/>
                </a:lnTo>
                <a:close/>
              </a:path>
            </a:pathLst>
          </a:custGeom>
          <a:solidFill>
            <a:srgbClr val="CFE3F7"/>
          </a:solidFill>
          <a:ln/>
        </p:spPr>
      </p:sp>
      <p:sp>
        <p:nvSpPr>
          <p:cNvPr id="10" name="S04-mark29"/>
          <p:cNvSpPr/>
          <p:nvPr/>
        </p:nvSpPr>
        <p:spPr>
          <a:xfrm>
            <a:off x="10122753" y="1491580"/>
            <a:ext cx="1074270" cy="1064445"/>
          </a:xfrm>
          <a:custGeom>
            <a:avLst/>
            <a:gdLst/>
            <a:ahLst/>
            <a:cxnLst/>
            <a:rect l="l" t="t" r="r" b="b"/>
            <a:pathLst>
              <a:path w="1074270" h="1064445">
                <a:moveTo>
                  <a:pt x="0" y="0"/>
                </a:moveTo>
                <a:lnTo>
                  <a:pt x="127733" y="1064445"/>
                </a:lnTo>
                <a:lnTo>
                  <a:pt x="946537" y="1064445"/>
                </a:lnTo>
                <a:lnTo>
                  <a:pt x="1074270" y="0"/>
                </a:lnTo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1" name="S04-label31"/>
          <p:cNvSpPr txBox="1"/>
          <p:nvPr/>
        </p:nvSpPr>
        <p:spPr>
          <a:xfrm>
            <a:off x="7597064" y="2720201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소금</a:t>
            </a:r>
            <a:endParaRPr lang="ko-KR" sz="1800" dirty="0"/>
          </a:p>
        </p:txBody>
      </p:sp>
      <p:sp>
        <p:nvSpPr>
          <p:cNvPr id="12" name="S04-label33"/>
          <p:cNvSpPr txBox="1"/>
          <p:nvPr/>
        </p:nvSpPr>
        <p:spPr>
          <a:xfrm>
            <a:off x="8989030" y="2720201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설탕</a:t>
            </a:r>
            <a:endParaRPr lang="ko-KR" sz="1800" dirty="0"/>
          </a:p>
        </p:txBody>
      </p:sp>
      <p:sp>
        <p:nvSpPr>
          <p:cNvPr id="13" name="S04-label35"/>
          <p:cNvSpPr txBox="1"/>
          <p:nvPr/>
        </p:nvSpPr>
        <p:spPr>
          <a:xfrm>
            <a:off x="10268982" y="2720201"/>
            <a:ext cx="781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밀가루</a:t>
            </a:r>
            <a:endParaRPr lang="ko-KR" sz="1800" dirty="0"/>
          </a:p>
        </p:txBody>
      </p:sp>
      <p:sp>
        <p:nvSpPr>
          <p:cNvPr id="14" name="S04-card36"/>
          <p:cNvSpPr/>
          <p:nvPr/>
        </p:nvSpPr>
        <p:spPr>
          <a:xfrm>
            <a:off x="6813652" y="3523488"/>
            <a:ext cx="4826660" cy="1597152"/>
          </a:xfrm>
          <a:prstGeom prst="roundRect">
            <a:avLst>
              <a:gd name="adj" fmla="val 687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5" name="S04-cardtext37"/>
          <p:cNvSpPr txBox="1"/>
          <p:nvPr/>
        </p:nvSpPr>
        <p:spPr>
          <a:xfrm>
            <a:off x="7087972" y="3660648"/>
            <a:ext cx="427802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물이 맑은지 봐요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바닥에 가라앉는지 봐요</a:t>
            </a:r>
            <a:endParaRPr lang="ko-KR" sz="2800" dirty="0"/>
          </a:p>
        </p:txBody>
      </p:sp>
      <p:sp>
        <p:nvSpPr>
          <p:cNvPr id="16" name="S04-stepno38"/>
          <p:cNvSpPr txBox="1"/>
          <p:nvPr/>
        </p:nvSpPr>
        <p:spPr>
          <a:xfrm>
            <a:off x="548640" y="14462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7" name="S04-text39"/>
          <p:cNvSpPr txBox="1"/>
          <p:nvPr/>
        </p:nvSpPr>
        <p:spPr>
          <a:xfrm>
            <a:off x="1325880" y="1400556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 3개에 찬물을 반 컵씩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담아요.</a:t>
            </a:r>
            <a:endParaRPr lang="ko-KR" sz="2800" dirty="0"/>
          </a:p>
        </p:txBody>
      </p:sp>
      <p:sp>
        <p:nvSpPr>
          <p:cNvPr id="18" name="S04-stepno40"/>
          <p:cNvSpPr txBox="1"/>
          <p:nvPr/>
        </p:nvSpPr>
        <p:spPr>
          <a:xfrm>
            <a:off x="548640" y="24785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9" name="S04-text41"/>
          <p:cNvSpPr txBox="1"/>
          <p:nvPr/>
        </p:nvSpPr>
        <p:spPr>
          <a:xfrm>
            <a:off x="1325880" y="2432812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소금·설탕·밀가루를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숟가락씩 넣어요.</a:t>
            </a:r>
            <a:endParaRPr lang="ko-KR" sz="2800" dirty="0"/>
          </a:p>
        </p:txBody>
      </p:sp>
      <p:sp>
        <p:nvSpPr>
          <p:cNvPr id="20" name="S04-stepno42"/>
          <p:cNvSpPr txBox="1"/>
          <p:nvPr/>
        </p:nvSpPr>
        <p:spPr>
          <a:xfrm>
            <a:off x="548640" y="346506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21" name="S04-text43"/>
          <p:cNvSpPr txBox="1"/>
          <p:nvPr/>
        </p:nvSpPr>
        <p:spPr>
          <a:xfrm>
            <a:off x="1325880" y="346506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20번씩 저어요.</a:t>
            </a:r>
            <a:endParaRPr lang="ko-KR" sz="2800" dirty="0"/>
          </a:p>
        </p:txBody>
      </p:sp>
      <p:sp>
        <p:nvSpPr>
          <p:cNvPr id="22" name="S04-stepno44"/>
          <p:cNvSpPr txBox="1"/>
          <p:nvPr/>
        </p:nvSpPr>
        <p:spPr>
          <a:xfrm>
            <a:off x="548640" y="42240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23" name="S04-text45"/>
          <p:cNvSpPr txBox="1"/>
          <p:nvPr/>
        </p:nvSpPr>
        <p:spPr>
          <a:xfrm>
            <a:off x="1325880" y="4178300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2분 뒤 바닥을 보고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1에 써요.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05-text4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1을 보며 빈칸을 말로 채워요.</a:t>
            </a:r>
            <a:endParaRPr lang="ko-KR" sz="2800" dirty="0"/>
          </a:p>
        </p:txBody>
      </p:sp>
      <p:sp>
        <p:nvSpPr>
          <p:cNvPr id="4" name="S05-card4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4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녹은 것과 녹지 않은 것은 무엇이 달랐나요?</a:t>
            </a:r>
            <a:endParaRPr lang="ko-KR" sz="2800" dirty="0"/>
          </a:p>
        </p:txBody>
      </p:sp>
      <p:graphicFrame>
        <p:nvGraphicFramePr>
          <p:cNvPr id="6" name="S05-table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541016"/>
          <a:ext cx="10515600" cy="914400"/>
        </p:xfrm>
        <a:graphic>
          <a:graphicData uri="http://schemas.openxmlformats.org/drawingml/2006/table">
            <a:tbl>
              <a:tblPr/>
              <a:tblGrid>
                <a:gridCol w="2734056"/>
                <a:gridCol w="4206240"/>
                <a:gridCol w="3575304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넣은 것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저은 뒤 물의 모습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2분 뒤 바닥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설탕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밀가루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용해와 용액</a:t>
            </a:r>
            <a:endParaRPr lang="ko-KR" sz="4000" dirty="0"/>
          </a:p>
        </p:txBody>
      </p:sp>
      <p:sp>
        <p:nvSpPr>
          <p:cNvPr id="3" name="S06-text5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물질이 다른 물질에 녹아 골고루 섞이는 것을 용해라고 해요.</a:t>
            </a:r>
            <a:endParaRPr lang="ko-KR" sz="2800" dirty="0"/>
          </a:p>
        </p:txBody>
      </p:sp>
      <p:sp>
        <p:nvSpPr>
          <p:cNvPr id="4" name="S06-card5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5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용액은 맑고, 오래 두어도 가라앉거나 뜨는 것이 없어요.</a:t>
            </a:r>
            <a:endParaRPr lang="ko-KR" sz="2800" dirty="0"/>
          </a:p>
        </p:txBody>
      </p:sp>
      <p:graphicFrame>
        <p:nvGraphicFramePr>
          <p:cNvPr id="7" name="S06-table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339594"/>
          <a:ext cx="10515600" cy="914400"/>
        </p:xfrm>
        <a:graphic>
          <a:graphicData uri="http://schemas.openxmlformats.org/drawingml/2006/table">
            <a:tbl>
              <a:tblPr/>
              <a:tblGrid>
                <a:gridCol w="1892808"/>
                <a:gridCol w="5257800"/>
                <a:gridCol w="3364992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뜻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설탕물에서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녹는 물질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설탕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용매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녹이는 물질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541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용질이 용매에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골고루 섞인 것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설탕물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07-card5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5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설탕을 물에 넣고 저었더니 설탕이 보이지 않아요.</a:t>
            </a:r>
            <a:endParaRPr lang="ko-KR" sz="2800" dirty="0"/>
          </a:p>
        </p:txBody>
      </p:sp>
      <p:sp>
        <p:nvSpPr>
          <p:cNvPr id="5" name="S07-card5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5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무엇이 증거일까요?</a:t>
            </a:r>
            <a:endParaRPr lang="ko-KR" sz="2800" dirty="0"/>
          </a:p>
        </p:txBody>
      </p:sp>
      <p:sp>
        <p:nvSpPr>
          <p:cNvPr id="7" name="S07-chip5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200" dirty="0"/>
          </a:p>
        </p:txBody>
      </p:sp>
      <p:sp>
        <p:nvSpPr>
          <p:cNvPr id="8" name="S07-text59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설탕이 보이지 않으니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없어졌어요.</a:t>
            </a:r>
            <a:endParaRPr lang="ko-KR" sz="2800" dirty="0"/>
          </a:p>
        </p:txBody>
      </p:sp>
      <p:sp>
        <p:nvSpPr>
          <p:cNvPr id="9" name="S07-chip6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200" dirty="0"/>
          </a:p>
        </p:txBody>
      </p:sp>
      <p:sp>
        <p:nvSpPr>
          <p:cNvPr id="10" name="S07-text61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설탕이 아주 작게 나뉘어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물에 골고루 섞여 있어요.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 예상해 봐요</a:t>
            </a:r>
            <a:endParaRPr lang="ko-KR" sz="4000" dirty="0"/>
          </a:p>
        </p:txBody>
      </p:sp>
      <p:sp>
        <p:nvSpPr>
          <p:cNvPr id="3" name="S08-text6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설탕 한 숟가락씩, 물의 양은 모두 같아요.</a:t>
            </a:r>
            <a:endParaRPr lang="ko-KR" sz="2800" dirty="0"/>
          </a:p>
        </p:txBody>
      </p:sp>
      <p:sp>
        <p:nvSpPr>
          <p:cNvPr id="4" name="S08-card6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6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2에 써요.</a:t>
            </a:r>
            <a:endParaRPr lang="ko-KR" sz="2800" dirty="0"/>
          </a:p>
        </p:txBody>
      </p:sp>
      <p:graphicFrame>
        <p:nvGraphicFramePr>
          <p:cNvPr id="9" name="S08-table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541016"/>
          <a:ext cx="10515600" cy="914400"/>
        </p:xfrm>
        <a:graphic>
          <a:graphicData uri="http://schemas.openxmlformats.org/drawingml/2006/table">
            <a:tbl>
              <a:tblPr/>
              <a:tblGrid>
                <a:gridCol w="1261872"/>
                <a:gridCol w="2628900"/>
                <a:gridCol w="2628900"/>
                <a:gridCol w="3995928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컵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젓기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예상(빠르기 순서)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찬물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젓지 않아요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찬물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저어요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따뜻한 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저어요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빨리 녹을까요?</a:t>
            </a:r>
            <a:endParaRPr lang="ko-KR" sz="4000" dirty="0"/>
          </a:p>
        </p:txBody>
      </p:sp>
      <p:sp>
        <p:nvSpPr>
          <p:cNvPr id="3" name="S09-card6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6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따뜻한 물은 어른이 만들어요. 끓는 물은 쓰지 않아요.</a:t>
            </a:r>
            <a:endParaRPr lang="ko-KR" sz="2800" dirty="0"/>
          </a:p>
        </p:txBody>
      </p:sp>
      <p:sp>
        <p:nvSpPr>
          <p:cNvPr id="5" name="S09-figure68" descr="물의 양이 같은 컵 세 개: ① 찬물(젓지 않음), ② 찬물(저음), ③ 따뜻한 물(저음)"/>
          <p:cNvSpPr/>
          <p:nvPr/>
        </p:nvSpPr>
        <p:spPr>
          <a:xfrm>
            <a:off x="7377141" y="1810914"/>
            <a:ext cx="997630" cy="745111"/>
          </a:xfrm>
          <a:custGeom>
            <a:avLst/>
            <a:gdLst/>
            <a:ahLst/>
            <a:cxnLst/>
            <a:rect l="l" t="t" r="r" b="b"/>
            <a:pathLst>
              <a:path w="997630" h="745111">
                <a:moveTo>
                  <a:pt x="89413" y="745111"/>
                </a:moveTo>
                <a:lnTo>
                  <a:pt x="908217" y="745111"/>
                </a:lnTo>
                <a:lnTo>
                  <a:pt x="997630" y="0"/>
                </a:lnTo>
                <a:lnTo>
                  <a:pt x="0" y="0"/>
                </a:lnTo>
                <a:close/>
              </a:path>
            </a:pathLst>
          </a:custGeom>
          <a:solidFill>
            <a:srgbClr val="CFE3F7"/>
          </a:solidFill>
          <a:ln/>
        </p:spPr>
      </p:sp>
      <p:sp>
        <p:nvSpPr>
          <p:cNvPr id="6" name="S09-mark69"/>
          <p:cNvSpPr/>
          <p:nvPr/>
        </p:nvSpPr>
        <p:spPr>
          <a:xfrm>
            <a:off x="7338821" y="1491580"/>
            <a:ext cx="1074270" cy="1064445"/>
          </a:xfrm>
          <a:custGeom>
            <a:avLst/>
            <a:gdLst/>
            <a:ahLst/>
            <a:cxnLst/>
            <a:rect l="l" t="t" r="r" b="b"/>
            <a:pathLst>
              <a:path w="1074270" h="1064445">
                <a:moveTo>
                  <a:pt x="0" y="0"/>
                </a:moveTo>
                <a:lnTo>
                  <a:pt x="127733" y="1064445"/>
                </a:lnTo>
                <a:lnTo>
                  <a:pt x="946537" y="1064445"/>
                </a:lnTo>
                <a:lnTo>
                  <a:pt x="1074270" y="0"/>
                </a:lnTo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09-mark70"/>
          <p:cNvSpPr/>
          <p:nvPr/>
        </p:nvSpPr>
        <p:spPr>
          <a:xfrm>
            <a:off x="8769107" y="1810914"/>
            <a:ext cx="997630" cy="745111"/>
          </a:xfrm>
          <a:custGeom>
            <a:avLst/>
            <a:gdLst/>
            <a:ahLst/>
            <a:cxnLst/>
            <a:rect l="l" t="t" r="r" b="b"/>
            <a:pathLst>
              <a:path w="997630" h="745111">
                <a:moveTo>
                  <a:pt x="89413" y="745111"/>
                </a:moveTo>
                <a:lnTo>
                  <a:pt x="908217" y="745111"/>
                </a:lnTo>
                <a:lnTo>
                  <a:pt x="997630" y="0"/>
                </a:lnTo>
                <a:lnTo>
                  <a:pt x="0" y="0"/>
                </a:lnTo>
                <a:close/>
              </a:path>
            </a:pathLst>
          </a:custGeom>
          <a:solidFill>
            <a:srgbClr val="CFE3F7"/>
          </a:solidFill>
          <a:ln/>
        </p:spPr>
      </p:sp>
      <p:sp>
        <p:nvSpPr>
          <p:cNvPr id="8" name="S09-mark71"/>
          <p:cNvSpPr/>
          <p:nvPr/>
        </p:nvSpPr>
        <p:spPr>
          <a:xfrm>
            <a:off x="8730787" y="1491580"/>
            <a:ext cx="1074270" cy="1064445"/>
          </a:xfrm>
          <a:custGeom>
            <a:avLst/>
            <a:gdLst/>
            <a:ahLst/>
            <a:cxnLst/>
            <a:rect l="l" t="t" r="r" b="b"/>
            <a:pathLst>
              <a:path w="1074270" h="1064445">
                <a:moveTo>
                  <a:pt x="0" y="0"/>
                </a:moveTo>
                <a:lnTo>
                  <a:pt x="127733" y="1064445"/>
                </a:lnTo>
                <a:lnTo>
                  <a:pt x="946537" y="1064445"/>
                </a:lnTo>
                <a:lnTo>
                  <a:pt x="1074270" y="0"/>
                </a:lnTo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9" name="S09-mark72"/>
          <p:cNvSpPr/>
          <p:nvPr/>
        </p:nvSpPr>
        <p:spPr>
          <a:xfrm>
            <a:off x="10161073" y="1810914"/>
            <a:ext cx="997630" cy="745111"/>
          </a:xfrm>
          <a:custGeom>
            <a:avLst/>
            <a:gdLst/>
            <a:ahLst/>
            <a:cxnLst/>
            <a:rect l="l" t="t" r="r" b="b"/>
            <a:pathLst>
              <a:path w="997630" h="745111">
                <a:moveTo>
                  <a:pt x="89413" y="745111"/>
                </a:moveTo>
                <a:lnTo>
                  <a:pt x="908217" y="745111"/>
                </a:lnTo>
                <a:lnTo>
                  <a:pt x="997630" y="0"/>
                </a:lnTo>
                <a:lnTo>
                  <a:pt x="0" y="0"/>
                </a:lnTo>
                <a:close/>
              </a:path>
            </a:pathLst>
          </a:custGeom>
          <a:solidFill>
            <a:srgbClr val="FBD9C4"/>
          </a:solidFill>
          <a:ln/>
        </p:spPr>
      </p:sp>
      <p:sp>
        <p:nvSpPr>
          <p:cNvPr id="10" name="S09-mark73"/>
          <p:cNvSpPr/>
          <p:nvPr/>
        </p:nvSpPr>
        <p:spPr>
          <a:xfrm>
            <a:off x="10122753" y="1491580"/>
            <a:ext cx="1074270" cy="1064445"/>
          </a:xfrm>
          <a:custGeom>
            <a:avLst/>
            <a:gdLst/>
            <a:ahLst/>
            <a:cxnLst/>
            <a:rect l="l" t="t" r="r" b="b"/>
            <a:pathLst>
              <a:path w="1074270" h="1064445">
                <a:moveTo>
                  <a:pt x="0" y="0"/>
                </a:moveTo>
                <a:lnTo>
                  <a:pt x="127733" y="1064445"/>
                </a:lnTo>
                <a:lnTo>
                  <a:pt x="946537" y="1064445"/>
                </a:lnTo>
                <a:lnTo>
                  <a:pt x="1074270" y="0"/>
                </a:lnTo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1" name="S09-label75"/>
          <p:cNvSpPr txBox="1"/>
          <p:nvPr/>
        </p:nvSpPr>
        <p:spPr>
          <a:xfrm>
            <a:off x="7450760" y="2577326"/>
            <a:ext cx="85039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찬물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그대로</a:t>
            </a:r>
            <a:endParaRPr lang="ko-KR" sz="1800" dirty="0"/>
          </a:p>
        </p:txBody>
      </p:sp>
      <p:sp>
        <p:nvSpPr>
          <p:cNvPr id="12" name="S09-label77"/>
          <p:cNvSpPr txBox="1"/>
          <p:nvPr/>
        </p:nvSpPr>
        <p:spPr>
          <a:xfrm>
            <a:off x="8842726" y="2577326"/>
            <a:ext cx="85039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찬물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젓기</a:t>
            </a:r>
            <a:endParaRPr lang="ko-KR" sz="1800" dirty="0"/>
          </a:p>
        </p:txBody>
      </p:sp>
      <p:sp>
        <p:nvSpPr>
          <p:cNvPr id="13" name="S09-label79"/>
          <p:cNvSpPr txBox="1"/>
          <p:nvPr/>
        </p:nvSpPr>
        <p:spPr>
          <a:xfrm>
            <a:off x="10122678" y="2577326"/>
            <a:ext cx="10744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따뜻한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 젓기</a:t>
            </a:r>
            <a:endParaRPr lang="ko-KR" sz="1800" dirty="0"/>
          </a:p>
        </p:txBody>
      </p:sp>
      <p:sp>
        <p:nvSpPr>
          <p:cNvPr id="14" name="S09-card80"/>
          <p:cNvSpPr/>
          <p:nvPr/>
        </p:nvSpPr>
        <p:spPr>
          <a:xfrm>
            <a:off x="6813652" y="3523488"/>
            <a:ext cx="4826660" cy="1597152"/>
          </a:xfrm>
          <a:prstGeom prst="roundRect">
            <a:avLst>
              <a:gd name="adj" fmla="val 687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5" name="S09-cardtext81"/>
          <p:cNvSpPr txBox="1"/>
          <p:nvPr/>
        </p:nvSpPr>
        <p:spPr>
          <a:xfrm>
            <a:off x="7087972" y="3660648"/>
            <a:ext cx="427802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물의 양·설탕 양을 같게 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젓는 빠르기를 같게 해요</a:t>
            </a:r>
            <a:endParaRPr lang="ko-KR" sz="2800" dirty="0"/>
          </a:p>
        </p:txBody>
      </p:sp>
      <p:sp>
        <p:nvSpPr>
          <p:cNvPr id="16" name="S09-stepno82"/>
          <p:cNvSpPr txBox="1"/>
          <p:nvPr/>
        </p:nvSpPr>
        <p:spPr>
          <a:xfrm>
            <a:off x="548640" y="172516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7" name="S09-text83"/>
          <p:cNvSpPr txBox="1"/>
          <p:nvPr/>
        </p:nvSpPr>
        <p:spPr>
          <a:xfrm>
            <a:off x="1325880" y="1679448"/>
            <a:ext cx="512201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 3개에 물을 똑같이 담아요.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③은 어른이 따뜻한 물을 부어요.</a:t>
            </a:r>
            <a:endParaRPr lang="ko-KR" sz="2200" dirty="0"/>
          </a:p>
        </p:txBody>
      </p:sp>
      <p:sp>
        <p:nvSpPr>
          <p:cNvPr id="18" name="S09-stepno84"/>
          <p:cNvSpPr txBox="1"/>
          <p:nvPr/>
        </p:nvSpPr>
        <p:spPr>
          <a:xfrm>
            <a:off x="548640" y="25257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9" name="S09-text85"/>
          <p:cNvSpPr txBox="1"/>
          <p:nvPr/>
        </p:nvSpPr>
        <p:spPr>
          <a:xfrm>
            <a:off x="1325880" y="252577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①에 설탕을 넣고 그대로 둬요.</a:t>
            </a:r>
            <a:endParaRPr lang="ko-KR" sz="2200" dirty="0"/>
          </a:p>
        </p:txBody>
      </p:sp>
      <p:sp>
        <p:nvSpPr>
          <p:cNvPr id="20" name="S09-stepno86"/>
          <p:cNvSpPr txBox="1"/>
          <p:nvPr/>
        </p:nvSpPr>
        <p:spPr>
          <a:xfrm>
            <a:off x="548640" y="32847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21" name="S09-text87"/>
          <p:cNvSpPr txBox="1"/>
          <p:nvPr/>
        </p:nvSpPr>
        <p:spPr>
          <a:xfrm>
            <a:off x="1325880" y="3239008"/>
            <a:ext cx="512201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②, ③에 설탕을 넣고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빠르기로 저어요.</a:t>
            </a:r>
            <a:endParaRPr lang="ko-KR" sz="2200" dirty="0"/>
          </a:p>
        </p:txBody>
      </p:sp>
      <p:sp>
        <p:nvSpPr>
          <p:cNvPr id="22" name="S09-stepno88"/>
          <p:cNvSpPr txBox="1"/>
          <p:nvPr/>
        </p:nvSpPr>
        <p:spPr>
          <a:xfrm>
            <a:off x="548640" y="41310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23" name="S09-text89"/>
          <p:cNvSpPr txBox="1"/>
          <p:nvPr/>
        </p:nvSpPr>
        <p:spPr>
          <a:xfrm>
            <a:off x="1325880" y="4085336"/>
            <a:ext cx="512201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녹는 시간을 재어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2에 써요.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10-text9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2를 보며 빈칸을 말로 채워요.</a:t>
            </a:r>
            <a:endParaRPr lang="ko-KR" sz="2800" dirty="0"/>
          </a:p>
        </p:txBody>
      </p:sp>
      <p:sp>
        <p:nvSpPr>
          <p:cNvPr id="4" name="S10-card9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9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①과 ②, ②와 ③은 무엇이 달랐나요?</a:t>
            </a:r>
            <a:endParaRPr lang="ko-KR" sz="2800" dirty="0"/>
          </a:p>
        </p:txBody>
      </p:sp>
      <p:graphicFrame>
        <p:nvGraphicFramePr>
          <p:cNvPr id="11" name="S10-table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541016"/>
          <a:ext cx="1005840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502920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컵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 녹는 데 걸린 시간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 찬물, 젓지 않기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 찬물, 젓기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 따뜻한 물, 젓기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빨리 녹이려면</a:t>
            </a:r>
            <a:endParaRPr lang="ko-KR" sz="4000" dirty="0"/>
          </a:p>
        </p:txBody>
      </p:sp>
      <p:sp>
        <p:nvSpPr>
          <p:cNvPr id="3" name="S11-text9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설탕이 녹는 빠르기를 두 컵씩 견주었어요.</a:t>
            </a:r>
            <a:endParaRPr lang="ko-KR" sz="2800" dirty="0"/>
          </a:p>
        </p:txBody>
      </p:sp>
      <p:sp>
        <p:nvSpPr>
          <p:cNvPr id="4" name="S11-card9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1-cardtext9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컵은 다른 조건을 모두 같게 하고 견주었어요.</a:t>
            </a:r>
            <a:endParaRPr lang="ko-KR" sz="2800" dirty="0"/>
          </a:p>
        </p:txBody>
      </p:sp>
      <p:sp>
        <p:nvSpPr>
          <p:cNvPr id="6" name="S11-card97"/>
          <p:cNvSpPr/>
          <p:nvPr/>
        </p:nvSpPr>
        <p:spPr>
          <a:xfrm>
            <a:off x="548640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1-cardtext98"/>
          <p:cNvSpPr txBox="1"/>
          <p:nvPr/>
        </p:nvSpPr>
        <p:spPr>
          <a:xfrm>
            <a:off x="822960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젓기(①과 ②)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저으면 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빨리 녹아요.</a:t>
            </a:r>
            <a:endParaRPr lang="ko-KR" sz="2800" dirty="0"/>
          </a:p>
        </p:txBody>
      </p:sp>
      <p:sp>
        <p:nvSpPr>
          <p:cNvPr id="8" name="S11-card99"/>
          <p:cNvSpPr/>
          <p:nvPr/>
        </p:nvSpPr>
        <p:spPr>
          <a:xfrm>
            <a:off x="6208776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1-cardtext100"/>
          <p:cNvSpPr txBox="1"/>
          <p:nvPr/>
        </p:nvSpPr>
        <p:spPr>
          <a:xfrm>
            <a:off x="6483096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물의 온도(②와 ③)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따뜻한 물에서 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빨리 녹아요.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방법이 알맞을까요?</a:t>
            </a:r>
            <a:endParaRPr lang="ko-KR" sz="4000" dirty="0"/>
          </a:p>
        </p:txBody>
      </p:sp>
      <p:sp>
        <p:nvSpPr>
          <p:cNvPr id="3" name="S12-card10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10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따뜻한 물에서 설탕이 빨리 녹는지 알아보려고 해요.</a:t>
            </a:r>
            <a:endParaRPr lang="ko-KR" sz="2800" dirty="0"/>
          </a:p>
        </p:txBody>
      </p:sp>
      <p:sp>
        <p:nvSpPr>
          <p:cNvPr id="5" name="S12-card10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2-cardtext10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방법이 알맞을까요? 까닭은 무엇일까요?</a:t>
            </a:r>
            <a:endParaRPr lang="ko-KR" sz="2800" dirty="0"/>
          </a:p>
        </p:txBody>
      </p:sp>
      <p:sp>
        <p:nvSpPr>
          <p:cNvPr id="7" name="S12-chip10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200" dirty="0"/>
          </a:p>
        </p:txBody>
      </p:sp>
      <p:sp>
        <p:nvSpPr>
          <p:cNvPr id="8" name="S12-text106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찬물은 그대로 두고,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따뜻한 물만 저어요.</a:t>
            </a:r>
            <a:endParaRPr lang="ko-KR" sz="2800" dirty="0"/>
          </a:p>
        </p:txBody>
      </p:sp>
      <p:sp>
        <p:nvSpPr>
          <p:cNvPr id="9" name="S12-chip107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200" dirty="0"/>
          </a:p>
        </p:txBody>
      </p:sp>
      <p:sp>
        <p:nvSpPr>
          <p:cNvPr id="10" name="S12-text108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다 똑같이 젓고,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물의 온도만 달리해요.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것이 진할까요?</a:t>
            </a:r>
            <a:endParaRPr lang="ko-KR" sz="4000" dirty="0"/>
          </a:p>
        </p:txBody>
      </p:sp>
      <p:sp>
        <p:nvSpPr>
          <p:cNvPr id="3" name="S13-text10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양의 물에 흑설탕을 녹여요.</a:t>
            </a:r>
            <a:endParaRPr lang="ko-KR" sz="2800" dirty="0"/>
          </a:p>
        </p:txBody>
      </p:sp>
      <p:sp>
        <p:nvSpPr>
          <p:cNvPr id="4" name="S13-card1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3-cardtext1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4에 써요.</a:t>
            </a:r>
            <a:endParaRPr lang="ko-KR" sz="2800" dirty="0"/>
          </a:p>
        </p:txBody>
      </p:sp>
      <p:graphicFrame>
        <p:nvGraphicFramePr>
          <p:cNvPr id="14" name="S13-table1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797302"/>
          <a:ext cx="10515600" cy="914400"/>
        </p:xfrm>
        <a:graphic>
          <a:graphicData uri="http://schemas.openxmlformats.org/drawingml/2006/table">
            <a:tbl>
              <a:tblPr/>
              <a:tblGrid>
                <a:gridCol w="6099048"/>
                <a:gridCol w="4416552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질문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1숟가락과 3숟가락 중 진한 것은?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진하기를 비교하는 방법은?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진하기를 비교해요</a:t>
            </a:r>
            <a:endParaRPr lang="ko-KR" sz="4000" dirty="0"/>
          </a:p>
        </p:txBody>
      </p:sp>
      <p:sp>
        <p:nvSpPr>
          <p:cNvPr id="3" name="S14-card11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11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맛은 어른이 허락할 때 한 방울만 봐요.</a:t>
            </a:r>
            <a:endParaRPr lang="ko-KR" sz="2800" dirty="0"/>
          </a:p>
        </p:txBody>
      </p:sp>
      <p:sp>
        <p:nvSpPr>
          <p:cNvPr id="5" name="S14-figure115" descr="물의 양이 같은 컵 두 개: 흑설탕 1숟가락을 넣을 컵과 3숟가락을 넣을 컵"/>
          <p:cNvSpPr/>
          <p:nvPr/>
        </p:nvSpPr>
        <p:spPr>
          <a:xfrm>
            <a:off x="8073124" y="1810914"/>
            <a:ext cx="997630" cy="745111"/>
          </a:xfrm>
          <a:custGeom>
            <a:avLst/>
            <a:gdLst/>
            <a:ahLst/>
            <a:cxnLst/>
            <a:rect l="l" t="t" r="r" b="b"/>
            <a:pathLst>
              <a:path w="997630" h="745111">
                <a:moveTo>
                  <a:pt x="89413" y="745111"/>
                </a:moveTo>
                <a:lnTo>
                  <a:pt x="908217" y="745111"/>
                </a:lnTo>
                <a:lnTo>
                  <a:pt x="997630" y="0"/>
                </a:lnTo>
                <a:lnTo>
                  <a:pt x="0" y="0"/>
                </a:lnTo>
                <a:close/>
              </a:path>
            </a:pathLst>
          </a:custGeom>
          <a:solidFill>
            <a:srgbClr val="CFE3F7"/>
          </a:solidFill>
          <a:ln/>
        </p:spPr>
      </p:sp>
      <p:sp>
        <p:nvSpPr>
          <p:cNvPr id="6" name="S14-mark116"/>
          <p:cNvSpPr/>
          <p:nvPr/>
        </p:nvSpPr>
        <p:spPr>
          <a:xfrm>
            <a:off x="8034804" y="1491580"/>
            <a:ext cx="1074270" cy="1064445"/>
          </a:xfrm>
          <a:custGeom>
            <a:avLst/>
            <a:gdLst/>
            <a:ahLst/>
            <a:cxnLst/>
            <a:rect l="l" t="t" r="r" b="b"/>
            <a:pathLst>
              <a:path w="1074270" h="1064445">
                <a:moveTo>
                  <a:pt x="0" y="0"/>
                </a:moveTo>
                <a:lnTo>
                  <a:pt x="127733" y="1064445"/>
                </a:lnTo>
                <a:lnTo>
                  <a:pt x="946537" y="1064445"/>
                </a:lnTo>
                <a:lnTo>
                  <a:pt x="1074270" y="0"/>
                </a:lnTo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14-mark117"/>
          <p:cNvSpPr/>
          <p:nvPr/>
        </p:nvSpPr>
        <p:spPr>
          <a:xfrm>
            <a:off x="9465090" y="1810914"/>
            <a:ext cx="997630" cy="745111"/>
          </a:xfrm>
          <a:custGeom>
            <a:avLst/>
            <a:gdLst/>
            <a:ahLst/>
            <a:cxnLst/>
            <a:rect l="l" t="t" r="r" b="b"/>
            <a:pathLst>
              <a:path w="997630" h="745111">
                <a:moveTo>
                  <a:pt x="89413" y="745111"/>
                </a:moveTo>
                <a:lnTo>
                  <a:pt x="908217" y="745111"/>
                </a:lnTo>
                <a:lnTo>
                  <a:pt x="997630" y="0"/>
                </a:lnTo>
                <a:lnTo>
                  <a:pt x="0" y="0"/>
                </a:lnTo>
                <a:close/>
              </a:path>
            </a:pathLst>
          </a:custGeom>
          <a:solidFill>
            <a:srgbClr val="CFE3F7"/>
          </a:solidFill>
          <a:ln/>
        </p:spPr>
      </p:sp>
      <p:sp>
        <p:nvSpPr>
          <p:cNvPr id="8" name="S14-mark118"/>
          <p:cNvSpPr/>
          <p:nvPr/>
        </p:nvSpPr>
        <p:spPr>
          <a:xfrm>
            <a:off x="9426770" y="1491580"/>
            <a:ext cx="1074270" cy="1064445"/>
          </a:xfrm>
          <a:custGeom>
            <a:avLst/>
            <a:gdLst/>
            <a:ahLst/>
            <a:cxnLst/>
            <a:rect l="l" t="t" r="r" b="b"/>
            <a:pathLst>
              <a:path w="1074270" h="1064445">
                <a:moveTo>
                  <a:pt x="0" y="0"/>
                </a:moveTo>
                <a:lnTo>
                  <a:pt x="127733" y="1064445"/>
                </a:lnTo>
                <a:lnTo>
                  <a:pt x="946537" y="1064445"/>
                </a:lnTo>
                <a:lnTo>
                  <a:pt x="1074270" y="0"/>
                </a:lnTo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9" name="S14-label120"/>
          <p:cNvSpPr txBox="1"/>
          <p:nvPr/>
        </p:nvSpPr>
        <p:spPr>
          <a:xfrm>
            <a:off x="8105595" y="2577326"/>
            <a:ext cx="93268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흑설탕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1숟가락</a:t>
            </a:r>
            <a:endParaRPr lang="ko-KR" sz="1800" dirty="0"/>
          </a:p>
        </p:txBody>
      </p:sp>
      <p:sp>
        <p:nvSpPr>
          <p:cNvPr id="10" name="S14-label122"/>
          <p:cNvSpPr txBox="1"/>
          <p:nvPr/>
        </p:nvSpPr>
        <p:spPr>
          <a:xfrm>
            <a:off x="9497561" y="2577326"/>
            <a:ext cx="93268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흑설탕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3숟가락</a:t>
            </a:r>
            <a:endParaRPr lang="ko-KR" sz="1800" dirty="0"/>
          </a:p>
        </p:txBody>
      </p:sp>
      <p:sp>
        <p:nvSpPr>
          <p:cNvPr id="11" name="S14-card123"/>
          <p:cNvSpPr/>
          <p:nvPr/>
        </p:nvSpPr>
        <p:spPr>
          <a:xfrm>
            <a:off x="6813652" y="3523488"/>
            <a:ext cx="4826660" cy="1597152"/>
          </a:xfrm>
          <a:prstGeom prst="roundRect">
            <a:avLst>
              <a:gd name="adj" fmla="val 687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14-cardtext124"/>
          <p:cNvSpPr txBox="1"/>
          <p:nvPr/>
        </p:nvSpPr>
        <p:spPr>
          <a:xfrm>
            <a:off x="7087972" y="3660648"/>
            <a:ext cx="427802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물의 양을 같게 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다 녹을 때까지 저어요</a:t>
            </a:r>
            <a:endParaRPr lang="ko-KR" sz="2800" dirty="0"/>
          </a:p>
        </p:txBody>
      </p:sp>
      <p:sp>
        <p:nvSpPr>
          <p:cNvPr id="13" name="S14-stepno125"/>
          <p:cNvSpPr txBox="1"/>
          <p:nvPr/>
        </p:nvSpPr>
        <p:spPr>
          <a:xfrm>
            <a:off x="548640" y="1400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4" name="S14-text126"/>
          <p:cNvSpPr txBox="1"/>
          <p:nvPr/>
        </p:nvSpPr>
        <p:spPr>
          <a:xfrm>
            <a:off x="1325880" y="14005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 2개에 물을 똑같이 담아요.</a:t>
            </a:r>
            <a:endParaRPr lang="ko-KR" sz="2800" dirty="0"/>
          </a:p>
        </p:txBody>
      </p:sp>
      <p:sp>
        <p:nvSpPr>
          <p:cNvPr id="15" name="S14-stepno127"/>
          <p:cNvSpPr txBox="1"/>
          <p:nvPr/>
        </p:nvSpPr>
        <p:spPr>
          <a:xfrm>
            <a:off x="548640" y="21595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6" name="S14-text128"/>
          <p:cNvSpPr txBox="1"/>
          <p:nvPr/>
        </p:nvSpPr>
        <p:spPr>
          <a:xfrm>
            <a:off x="1325880" y="2113788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흑설탕을 1숟가락,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3숟가락 넣고 저어요.</a:t>
            </a:r>
            <a:endParaRPr lang="ko-KR" sz="2800" dirty="0"/>
          </a:p>
        </p:txBody>
      </p:sp>
      <p:sp>
        <p:nvSpPr>
          <p:cNvPr id="17" name="S14-stepno129"/>
          <p:cNvSpPr txBox="1"/>
          <p:nvPr/>
        </p:nvSpPr>
        <p:spPr>
          <a:xfrm>
            <a:off x="548640" y="31917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8" name="S14-text130"/>
          <p:cNvSpPr txBox="1"/>
          <p:nvPr/>
        </p:nvSpPr>
        <p:spPr>
          <a:xfrm>
            <a:off x="1325880" y="3146044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흰 종이를 뒤에 대고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색을 비교해요.</a:t>
            </a:r>
            <a:endParaRPr lang="ko-KR" sz="2800" dirty="0"/>
          </a:p>
        </p:txBody>
      </p:sp>
      <p:sp>
        <p:nvSpPr>
          <p:cNvPr id="19" name="S14-stepno131"/>
          <p:cNvSpPr txBox="1"/>
          <p:nvPr/>
        </p:nvSpPr>
        <p:spPr>
          <a:xfrm>
            <a:off x="548640" y="42240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20" name="S14-text132"/>
          <p:cNvSpPr txBox="1"/>
          <p:nvPr/>
        </p:nvSpPr>
        <p:spPr>
          <a:xfrm>
            <a:off x="1325880" y="4178300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방울씩 맛보고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4에 써요.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15-text13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4를 보며 빈칸을 말로 채워요.</a:t>
            </a:r>
            <a:endParaRPr lang="ko-KR" sz="2800" dirty="0"/>
          </a:p>
        </p:txBody>
      </p:sp>
      <p:sp>
        <p:nvSpPr>
          <p:cNvPr id="4" name="S15-card13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13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진한 쪽은 어느 컵인가요?</a:t>
            </a:r>
            <a:endParaRPr lang="ko-KR" sz="2800" dirty="0"/>
          </a:p>
        </p:txBody>
      </p:sp>
      <p:graphicFrame>
        <p:nvGraphicFramePr>
          <p:cNvPr id="16" name="S15-table1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541016"/>
          <a:ext cx="10515600" cy="914400"/>
        </p:xfrm>
        <a:graphic>
          <a:graphicData uri="http://schemas.openxmlformats.org/drawingml/2006/table">
            <a:tbl>
              <a:tblPr/>
              <a:tblGrid>
                <a:gridCol w="2734056"/>
                <a:gridCol w="3890772"/>
                <a:gridCol w="3890772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흑설탕 1숟가락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흑설탕 3숟가락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색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맛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맑은가요?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용액의 진하기</a:t>
            </a:r>
            <a:endParaRPr lang="ko-KR" sz="4000" dirty="0"/>
          </a:p>
        </p:txBody>
      </p:sp>
      <p:sp>
        <p:nvSpPr>
          <p:cNvPr id="3" name="S16-text137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양의 용매에 용질이 많이 녹아 있을수록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진한 용액이에요.</a:t>
            </a:r>
            <a:endParaRPr lang="ko-KR" sz="2800" dirty="0"/>
          </a:p>
        </p:txBody>
      </p:sp>
      <p:sp>
        <p:nvSpPr>
          <p:cNvPr id="4" name="S16-card13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6-cardtext13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진하기를 비교할 때는 용매의 양을 같게 해요.</a:t>
            </a:r>
            <a:endParaRPr lang="ko-KR" sz="2800" dirty="0"/>
          </a:p>
        </p:txBody>
      </p:sp>
      <p:sp>
        <p:nvSpPr>
          <p:cNvPr id="6" name="S16-card140"/>
          <p:cNvSpPr/>
          <p:nvPr/>
        </p:nvSpPr>
        <p:spPr>
          <a:xfrm>
            <a:off x="548640" y="2651252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6-cardtext141"/>
          <p:cNvSpPr txBox="1"/>
          <p:nvPr/>
        </p:nvSpPr>
        <p:spPr>
          <a:xfrm>
            <a:off x="822960" y="2788412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색이 있는 용액은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색이 더 진해요.</a:t>
            </a:r>
            <a:endParaRPr lang="ko-KR" sz="2800" dirty="0"/>
          </a:p>
        </p:txBody>
      </p:sp>
      <p:sp>
        <p:nvSpPr>
          <p:cNvPr id="8" name="S16-card142"/>
          <p:cNvSpPr/>
          <p:nvPr/>
        </p:nvSpPr>
        <p:spPr>
          <a:xfrm>
            <a:off x="4322064" y="2651252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6-cardtext143"/>
          <p:cNvSpPr txBox="1"/>
          <p:nvPr/>
        </p:nvSpPr>
        <p:spPr>
          <a:xfrm>
            <a:off x="4596384" y="2788412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맛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설탕물은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달아요.</a:t>
            </a:r>
            <a:endParaRPr lang="ko-KR" sz="2800" dirty="0"/>
          </a:p>
        </p:txBody>
      </p:sp>
      <p:sp>
        <p:nvSpPr>
          <p:cNvPr id="10" name="S16-card144"/>
          <p:cNvSpPr/>
          <p:nvPr/>
        </p:nvSpPr>
        <p:spPr>
          <a:xfrm>
            <a:off x="8095488" y="2651252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6-cardtext145"/>
          <p:cNvSpPr txBox="1"/>
          <p:nvPr/>
        </p:nvSpPr>
        <p:spPr>
          <a:xfrm>
            <a:off x="8369808" y="2788412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뜨는 정도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물체가 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 떠요.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17-card146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7-cardtext147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가: 물 100 mL에 설탕 2숟가락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나: 물 200 mL에 설탕 2숟가락</a:t>
            </a:r>
            <a:endParaRPr lang="ko-KR" sz="2800" dirty="0"/>
          </a:p>
        </p:txBody>
      </p:sp>
      <p:sp>
        <p:nvSpPr>
          <p:cNvPr id="5" name="S17-card1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7-cardtext1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까닭은 무엇일까요?</a:t>
            </a:r>
            <a:endParaRPr lang="ko-KR" sz="2800" dirty="0"/>
          </a:p>
        </p:txBody>
      </p:sp>
      <p:sp>
        <p:nvSpPr>
          <p:cNvPr id="7" name="S17-chip150"/>
          <p:cNvSpPr txBox="1"/>
          <p:nvPr/>
        </p:nvSpPr>
        <p:spPr>
          <a:xfrm>
            <a:off x="548640" y="2751328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200" dirty="0"/>
          </a:p>
        </p:txBody>
      </p:sp>
      <p:sp>
        <p:nvSpPr>
          <p:cNvPr id="8" name="S17-text151"/>
          <p:cNvSpPr txBox="1"/>
          <p:nvPr/>
        </p:nvSpPr>
        <p:spPr>
          <a:xfrm>
            <a:off x="548640" y="3482848"/>
            <a:ext cx="5362956" cy="163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설탕물이 더 많으니까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진해요.</a:t>
            </a:r>
            <a:endParaRPr lang="ko-KR" sz="2800" dirty="0"/>
          </a:p>
        </p:txBody>
      </p:sp>
      <p:sp>
        <p:nvSpPr>
          <p:cNvPr id="9" name="S17-chip152"/>
          <p:cNvSpPr txBox="1"/>
          <p:nvPr/>
        </p:nvSpPr>
        <p:spPr>
          <a:xfrm>
            <a:off x="6277356" y="2751328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200" dirty="0"/>
          </a:p>
        </p:txBody>
      </p:sp>
      <p:sp>
        <p:nvSpPr>
          <p:cNvPr id="10" name="S17-text153"/>
          <p:cNvSpPr txBox="1"/>
          <p:nvPr/>
        </p:nvSpPr>
        <p:spPr>
          <a:xfrm>
            <a:off x="6277356" y="3482848"/>
            <a:ext cx="5362956" cy="163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양의 물에 견주면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설탕이 더 많은 가가 진해요.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8-chip15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8-text155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소금물에서 용질과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용매는 무엇인가요?</a:t>
            </a:r>
            <a:endParaRPr lang="ko-KR" sz="2800" dirty="0"/>
          </a:p>
        </p:txBody>
      </p:sp>
      <p:sp>
        <p:nvSpPr>
          <p:cNvPr id="5" name="S18-chip156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8-text157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물에 녹은 소금은 없어졌을까요?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증거도 말해요.</a:t>
            </a:r>
            <a:endParaRPr lang="ko-KR" sz="2800" dirty="0"/>
          </a:p>
        </p:txBody>
      </p:sp>
      <p:sp>
        <p:nvSpPr>
          <p:cNvPr id="7" name="S18-chip158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8-text159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각설탕을 빨리 녹이는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 두 가지는?</a:t>
            </a:r>
            <a:endParaRPr lang="ko-KR" sz="2800" dirty="0"/>
          </a:p>
        </p:txBody>
      </p:sp>
      <p:sp>
        <p:nvSpPr>
          <p:cNvPr id="9" name="S18-chip160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0" name="S18-text161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가는 설탕 3숟가락,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설탕 1숟가락을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 1컵에 녹였어요.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진한 것은?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9-card16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9-cardtext16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녹는 것이 용질, 녹이는 것이 용매예요.</a:t>
            </a:r>
            <a:endParaRPr lang="ko-KR" sz="2800" dirty="0"/>
          </a:p>
        </p:txBody>
      </p:sp>
      <p:sp>
        <p:nvSpPr>
          <p:cNvPr id="5" name="S19-chip164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9-text165"/>
          <p:cNvSpPr txBox="1"/>
          <p:nvPr/>
        </p:nvSpPr>
        <p:spPr>
          <a:xfrm>
            <a:off x="548640" y="20574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소금 / 물</a:t>
            </a:r>
            <a:endParaRPr lang="ko-KR" sz="2800" dirty="0"/>
          </a:p>
        </p:txBody>
      </p:sp>
      <p:sp>
        <p:nvSpPr>
          <p:cNvPr id="7" name="S19-text166"/>
          <p:cNvSpPr txBox="1"/>
          <p:nvPr/>
        </p:nvSpPr>
        <p:spPr>
          <a:xfrm>
            <a:off x="3367278" y="20574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용질 / 용매</a:t>
            </a:r>
            <a:endParaRPr lang="ko-KR" sz="2200" dirty="0"/>
          </a:p>
        </p:txBody>
      </p:sp>
      <p:sp>
        <p:nvSpPr>
          <p:cNvPr id="8" name="S19-text167"/>
          <p:cNvSpPr txBox="1"/>
          <p:nvPr/>
        </p:nvSpPr>
        <p:spPr>
          <a:xfrm>
            <a:off x="548640" y="28575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남아 있음</a:t>
            </a:r>
            <a:endParaRPr lang="ko-KR" sz="2800" dirty="0"/>
          </a:p>
        </p:txBody>
      </p:sp>
      <p:sp>
        <p:nvSpPr>
          <p:cNvPr id="9" name="S19-text168"/>
          <p:cNvSpPr txBox="1"/>
          <p:nvPr/>
        </p:nvSpPr>
        <p:spPr>
          <a:xfrm>
            <a:off x="3367278" y="28575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짠맛이 증거</a:t>
            </a:r>
            <a:endParaRPr lang="ko-KR" sz="2200" dirty="0"/>
          </a:p>
        </p:txBody>
      </p:sp>
      <p:sp>
        <p:nvSpPr>
          <p:cNvPr id="10" name="S19-text169"/>
          <p:cNvSpPr txBox="1"/>
          <p:nvPr/>
        </p:nvSpPr>
        <p:spPr>
          <a:xfrm>
            <a:off x="548640" y="36576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따뜻한 물, 젓기</a:t>
            </a:r>
            <a:endParaRPr lang="ko-KR" sz="2200" dirty="0"/>
          </a:p>
        </p:txBody>
      </p:sp>
      <p:sp>
        <p:nvSpPr>
          <p:cNvPr id="11" name="S19-text170"/>
          <p:cNvSpPr txBox="1"/>
          <p:nvPr/>
        </p:nvSpPr>
        <p:spPr>
          <a:xfrm>
            <a:off x="3367278" y="36576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</a:t>
            </a:r>
            <a:endParaRPr lang="ko-KR" sz="2200" dirty="0"/>
          </a:p>
        </p:txBody>
      </p:sp>
      <p:sp>
        <p:nvSpPr>
          <p:cNvPr id="12" name="S19-text171"/>
          <p:cNvSpPr txBox="1"/>
          <p:nvPr/>
        </p:nvSpPr>
        <p:spPr>
          <a:xfrm>
            <a:off x="548640" y="44577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가</a:t>
            </a:r>
            <a:endParaRPr lang="ko-KR" sz="2800" dirty="0"/>
          </a:p>
        </p:txBody>
      </p:sp>
      <p:sp>
        <p:nvSpPr>
          <p:cNvPr id="13" name="S19-text172"/>
          <p:cNvSpPr txBox="1"/>
          <p:nvPr/>
        </p:nvSpPr>
        <p:spPr>
          <a:xfrm>
            <a:off x="3367278" y="44577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물에 더 많이</a:t>
            </a:r>
            <a:endParaRPr lang="ko-KR" sz="2200" dirty="0"/>
          </a:p>
        </p:txBody>
      </p:sp>
      <p:sp>
        <p:nvSpPr>
          <p:cNvPr id="14" name="S19-chip173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5" name="S19-text174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용질이 물</a:t>
            </a:r>
            <a:endParaRPr lang="ko-KR" sz="2800" dirty="0"/>
          </a:p>
        </p:txBody>
      </p:sp>
      <p:sp>
        <p:nvSpPr>
          <p:cNvPr id="16" name="S19-text175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용질·용매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바뀜</a:t>
            </a:r>
            <a:endParaRPr lang="ko-KR" sz="2200" dirty="0"/>
          </a:p>
        </p:txBody>
      </p:sp>
      <p:sp>
        <p:nvSpPr>
          <p:cNvPr id="17" name="S19-text176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없어졌어요</a:t>
            </a:r>
            <a:endParaRPr lang="ko-KR" sz="2800" dirty="0"/>
          </a:p>
        </p:txBody>
      </p:sp>
      <p:sp>
        <p:nvSpPr>
          <p:cNvPr id="18" name="S19-text177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보이면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없다(M1)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용액은 어느 것일까요?</a:t>
            </a:r>
            <a:endParaRPr lang="ko-KR" sz="4000" dirty="0"/>
          </a:p>
        </p:txBody>
      </p:sp>
      <p:sp>
        <p:nvSpPr>
          <p:cNvPr id="3" name="S20-text17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가지를 저은 뒤 30분 동안 그대로 두었어요.</a:t>
            </a:r>
            <a:endParaRPr lang="ko-KR" sz="2800" dirty="0"/>
          </a:p>
        </p:txBody>
      </p:sp>
      <p:sp>
        <p:nvSpPr>
          <p:cNvPr id="4" name="S20-card17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20-cardtext18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고르고, 그렇게 생각한 까닭을 말해요.</a:t>
            </a:r>
            <a:endParaRPr lang="ko-KR" sz="2800" dirty="0"/>
          </a:p>
        </p:txBody>
      </p:sp>
      <p:sp>
        <p:nvSpPr>
          <p:cNvPr id="6" name="S20-chip181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20-card182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20-cardtext183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흙탕물: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바닥에 흙이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가라앉았어요.</a:t>
            </a:r>
            <a:endParaRPr lang="ko-KR" sz="2800" dirty="0"/>
          </a:p>
        </p:txBody>
      </p:sp>
      <p:sp>
        <p:nvSpPr>
          <p:cNvPr id="9" name="S20-chip184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0" name="S20-card185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20-cardtext186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꿀물: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맑고 가라앉은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것이 없어요.</a:t>
            </a:r>
            <a:endParaRPr lang="ko-KR" sz="2800" dirty="0"/>
          </a:p>
        </p:txBody>
      </p:sp>
      <p:sp>
        <p:nvSpPr>
          <p:cNvPr id="12" name="S20-chip187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3" name="S20-card188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20-cardtext189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미숫가루 물: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바닥에 가루가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가라앉았어요.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21-card190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21-cardtext191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용질이 용매에 녹아 골고루 섞인 것이 용액이에요.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양의 용매에 용질이 많이 녹을수록 진해요.</a:t>
            </a:r>
            <a:endParaRPr lang="ko-KR" sz="2800" dirty="0"/>
          </a:p>
        </p:txBody>
      </p:sp>
      <p:sp>
        <p:nvSpPr>
          <p:cNvPr id="5" name="S21-chip192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조건을 같게 하고 비교하기</a:t>
            </a:r>
            <a:endParaRPr lang="ko-KR" sz="2200" dirty="0"/>
          </a:p>
        </p:txBody>
      </p:sp>
      <p:sp>
        <p:nvSpPr>
          <p:cNvPr id="6" name="S21-chip193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녹으면 없어진다고 생각하기</a:t>
            </a:r>
            <a:endParaRPr lang="ko-KR" sz="2200" dirty="0"/>
          </a:p>
        </p:txBody>
      </p:sp>
      <p:sp>
        <p:nvSpPr>
          <p:cNvPr id="7" name="S21-text194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21-text195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설탕물에서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설탕은 무엇?</a:t>
            </a:r>
            <a:endParaRPr lang="ko-KR" sz="2200" dirty="0"/>
          </a:p>
        </p:txBody>
      </p:sp>
      <p:sp>
        <p:nvSpPr>
          <p:cNvPr id="9" name="S21-text196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설탕을 빨리 녹이는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 두 가지는?</a:t>
            </a:r>
            <a:endParaRPr lang="ko-KR" sz="2200" dirty="0"/>
          </a:p>
        </p:txBody>
      </p:sp>
      <p:sp>
        <p:nvSpPr>
          <p:cNvPr id="10" name="S21-text197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더 진한 용액이란?</a:t>
            </a:r>
            <a:endParaRPr lang="ko-KR" sz="2200" dirty="0"/>
          </a:p>
        </p:txBody>
      </p:sp>
      <p:sp>
        <p:nvSpPr>
          <p:cNvPr id="11" name="S21-text19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혼합물의 분리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물의 모습이 바뀌어요</a:t>
            </a:r>
            <a:endParaRPr lang="ko-KR" sz="4000" dirty="0"/>
          </a:p>
        </p:txBody>
      </p:sp>
      <p:sp>
        <p:nvSpPr>
          <p:cNvPr id="3" name="S22-text19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물은 얼음·물·수증기로 모습이 바뀌어요.</a:t>
            </a:r>
            <a:endParaRPr lang="ko-KR" sz="2800" dirty="0"/>
          </a:p>
        </p:txBody>
      </p:sp>
      <p:sp>
        <p:nvSpPr>
          <p:cNvPr id="4" name="S22-card20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22-cardtext20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배울 ‘물에 녹는 것’은 이것과 달라요.</a:t>
            </a:r>
            <a:endParaRPr lang="ko-KR" sz="2800" dirty="0"/>
          </a:p>
        </p:txBody>
      </p:sp>
      <p:sp>
        <p:nvSpPr>
          <p:cNvPr id="6" name="S22-card202"/>
          <p:cNvSpPr/>
          <p:nvPr/>
        </p:nvSpPr>
        <p:spPr>
          <a:xfrm>
            <a:off x="548640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22-cardtext203"/>
          <p:cNvSpPr txBox="1"/>
          <p:nvPr/>
        </p:nvSpPr>
        <p:spPr>
          <a:xfrm>
            <a:off x="822960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얼음이 녹아요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얼음(고체)이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물(액체)이 돼요.</a:t>
            </a:r>
            <a:endParaRPr lang="ko-KR" sz="2800" dirty="0"/>
          </a:p>
        </p:txBody>
      </p:sp>
      <p:sp>
        <p:nvSpPr>
          <p:cNvPr id="8" name="S22-card204"/>
          <p:cNvSpPr/>
          <p:nvPr/>
        </p:nvSpPr>
        <p:spPr>
          <a:xfrm>
            <a:off x="6208776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22-cardtext205"/>
          <p:cNvSpPr txBox="1"/>
          <p:nvPr/>
        </p:nvSpPr>
        <p:spPr>
          <a:xfrm>
            <a:off x="6483096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물이 증발해요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물이 수증기가 되어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 속으로 가요.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과학 용해와 용액</dc:title>
  <dc:subject>KR22-G05-SCI-SOLUTION-L01</dc:subject>
  <dc:creator>education-ppt</dc:creator>
  <cp:lastModifiedBy>education-ppt</cp:lastModifiedBy>
  <cp:revision>1</cp:revision>
  <dcterms:created xsi:type="dcterms:W3CDTF">2026-10-26T13:39:32Z</dcterms:created>
  <dcterms:modified xsi:type="dcterms:W3CDTF">2026-10-26T13:39:32Z</dcterms:modified>
</cp:coreProperties>
</file>