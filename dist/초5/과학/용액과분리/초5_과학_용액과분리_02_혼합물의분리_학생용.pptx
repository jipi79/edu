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c70f433-fb36-5a51-60cd-4e75ef16b41f}">
          <p14:sldIdLst>
            <p14:sldId id="256"/>
            <p14:sldId id="257"/>
          </p14:sldIdLst>
        </p14:section>
        <p14:section name="개념" id="{31cdf8ad-99ba-2c24-618f-95c7b66f228d}">
          <p14:sldIdLst>
            <p14:sldId id="258"/>
            <p14:sldId id="262"/>
            <p14:sldId id="267"/>
          </p14:sldIdLst>
        </p14:section>
        <p14:section name="연습" id="{1ffa0a4b-fffa-07e9-8bdc-3efb56dc9506}">
          <p14:sldIdLst>
            <p14:sldId id="259"/>
            <p14:sldId id="260"/>
            <p14:sldId id="261"/>
            <p14:sldId id="263"/>
            <p14:sldId id="264"/>
            <p14:sldId id="265"/>
            <p14:sldId id="266"/>
            <p14:sldId id="268"/>
            <p14:sldId id="269"/>
          </p14:sldIdLst>
        </p14:section>
        <p14:section name="개념" id="{eea292c1-97dd-08d5-9f07-087f567951d5}">
          <p14:sldIdLst/>
        </p14:section>
        <p14:section name="연습" id="{049f11c5-570b-c04d-a4cc-297687a2e03b}">
          <p14:sldIdLst/>
        </p14:section>
        <p14:section name="개념" id="{58a8a4cb-92d1-f59d-9e82-267258318b3f}">
          <p14:sldIdLst/>
        </p14:section>
        <p14:section name="연습" id="{9e2c7ed8-42ea-35a3-03dc-8d325e5f2376}">
          <p14:sldIdLst/>
        </p14:section>
        <p14:section name="확인" id="{e0a70df7-bbb6-9efc-5c3a-658b570778da}">
          <p14:sldIdLst>
            <p14:sldId id="270"/>
            <p14:sldId id="271"/>
          </p14:sldIdLst>
        </p14:section>
        <p14:section name="정리" id="{927b06ca-a56f-e08c-227c-12f7c614dd2e}">
          <p14:sldIdLst>
            <p14:sldId id="272"/>
          </p14:sldIdLst>
        </p14:section>
        <p14:section name="보충" id="{073e46bc-a862-e5b1-fcbd-30ffc192fba7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과학 · 용액과분리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과학 · 혼합물의 분리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과학 · 혼합물의 분리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과학 · 혼합물의 분리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혼합물의 분리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섞인 것을 어떻게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나눌까?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그릇에 콩, 모래 알갱이, 클립이 섞여 있는 그림"/>
          <p:cNvSpPr/>
          <p:nvPr/>
        </p:nvSpPr>
        <p:spPr>
          <a:xfrm>
            <a:off x="8010277" y="1653043"/>
            <a:ext cx="3273287" cy="1227483"/>
          </a:xfrm>
          <a:custGeom>
            <a:avLst/>
            <a:gdLst/>
            <a:ahLst/>
            <a:cxnLst/>
            <a:rect l="l" t="t" r="r" b="b"/>
            <a:pathLst>
              <a:path w="3273287" h="1227483">
                <a:moveTo>
                  <a:pt x="0" y="0"/>
                </a:moveTo>
                <a:lnTo>
                  <a:pt x="13911" y="160391"/>
                </a:lnTo>
                <a:lnTo>
                  <a:pt x="55646" y="317509"/>
                </a:lnTo>
                <a:lnTo>
                  <a:pt x="124385" y="469717"/>
                </a:lnTo>
                <a:lnTo>
                  <a:pt x="219310" y="613741"/>
                </a:lnTo>
                <a:lnTo>
                  <a:pt x="337967" y="747128"/>
                </a:lnTo>
                <a:lnTo>
                  <a:pt x="479537" y="868239"/>
                </a:lnTo>
                <a:lnTo>
                  <a:pt x="639928" y="973803"/>
                </a:lnTo>
                <a:lnTo>
                  <a:pt x="818322" y="1063000"/>
                </a:lnTo>
                <a:lnTo>
                  <a:pt x="1010627" y="1134194"/>
                </a:lnTo>
                <a:lnTo>
                  <a:pt x="1212753" y="1185748"/>
                </a:lnTo>
                <a:lnTo>
                  <a:pt x="1423062" y="1216844"/>
                </a:lnTo>
                <a:lnTo>
                  <a:pt x="1636643" y="1227483"/>
                </a:lnTo>
                <a:lnTo>
                  <a:pt x="1850225" y="1216844"/>
                </a:lnTo>
                <a:lnTo>
                  <a:pt x="2060534" y="1185748"/>
                </a:lnTo>
                <a:lnTo>
                  <a:pt x="2262660" y="1134194"/>
                </a:lnTo>
                <a:lnTo>
                  <a:pt x="2454965" y="1063000"/>
                </a:lnTo>
                <a:lnTo>
                  <a:pt x="2633359" y="973803"/>
                </a:lnTo>
                <a:lnTo>
                  <a:pt x="2793750" y="868239"/>
                </a:lnTo>
                <a:lnTo>
                  <a:pt x="2935320" y="747128"/>
                </a:lnTo>
                <a:lnTo>
                  <a:pt x="3053977" y="613741"/>
                </a:lnTo>
                <a:lnTo>
                  <a:pt x="3148902" y="469717"/>
                </a:lnTo>
                <a:lnTo>
                  <a:pt x="3217641" y="317509"/>
                </a:lnTo>
                <a:lnTo>
                  <a:pt x="3259375" y="160391"/>
                </a:lnTo>
                <a:lnTo>
                  <a:pt x="3273287" y="0"/>
                </a:lnTo>
                <a:close/>
              </a:path>
            </a:pathLst>
          </a:custGeom>
          <a:solidFill>
            <a:srgbClr val="E5E7EB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8763133" y="1914906"/>
            <a:ext cx="458260" cy="458260"/>
          </a:xfrm>
          <a:prstGeom prst="ellipse">
            <a:avLst/>
          </a:prstGeom>
          <a:solidFill>
            <a:srgbClr val="E9D8A6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9335958" y="2160403"/>
            <a:ext cx="458260" cy="458260"/>
          </a:xfrm>
          <a:prstGeom prst="ellipse">
            <a:avLst/>
          </a:prstGeom>
          <a:solidFill>
            <a:srgbClr val="E9D8A6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9908783" y="1914906"/>
            <a:ext cx="458260" cy="458260"/>
          </a:xfrm>
          <a:prstGeom prst="ellipse">
            <a:avLst/>
          </a:prstGeom>
          <a:solidFill>
            <a:srgbClr val="E9D8A6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9090461" y="1628493"/>
            <a:ext cx="458260" cy="458260"/>
          </a:xfrm>
          <a:prstGeom prst="ellipse">
            <a:avLst/>
          </a:prstGeom>
          <a:solidFill>
            <a:srgbClr val="E9D8A6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9663286" y="1628493"/>
            <a:ext cx="458260" cy="458260"/>
          </a:xfrm>
          <a:prstGeom prst="ellipse">
            <a:avLst/>
          </a:prstGeom>
          <a:solidFill>
            <a:srgbClr val="E9D8A6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>
            <a:off x="8615835" y="1767608"/>
            <a:ext cx="98199" cy="98199"/>
          </a:xfrm>
          <a:prstGeom prst="ellipse">
            <a:avLst/>
          </a:prstGeom>
          <a:solidFill>
            <a:srgbClr val="9C8B7A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>
            <a:off x="8779499" y="1685776"/>
            <a:ext cx="98199" cy="98199"/>
          </a:xfrm>
          <a:prstGeom prst="ellipse">
            <a:avLst/>
          </a:prstGeom>
          <a:solidFill>
            <a:srgbClr val="9C8B7A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>
            <a:off x="10416142" y="1767608"/>
            <a:ext cx="98199" cy="98199"/>
          </a:xfrm>
          <a:prstGeom prst="ellipse">
            <a:avLst/>
          </a:prstGeom>
          <a:solidFill>
            <a:srgbClr val="9C8B7A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>
            <a:off x="10579807" y="1685776"/>
            <a:ext cx="98199" cy="98199"/>
          </a:xfrm>
          <a:prstGeom prst="ellipse">
            <a:avLst/>
          </a:prstGeom>
          <a:solidFill>
            <a:srgbClr val="9C8B7A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>
            <a:off x="9597821" y="2013105"/>
            <a:ext cx="98199" cy="98199"/>
          </a:xfrm>
          <a:prstGeom prst="ellipse">
            <a:avLst/>
          </a:prstGeom>
          <a:solidFill>
            <a:srgbClr val="9C8B7A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>
            <a:off x="10334310" y="2340433"/>
            <a:ext cx="98199" cy="98199"/>
          </a:xfrm>
          <a:prstGeom prst="ellipse">
            <a:avLst/>
          </a:prstGeom>
          <a:solidFill>
            <a:srgbClr val="9C8B7A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>
            <a:off x="9024995" y="2463182"/>
            <a:ext cx="98199" cy="98199"/>
          </a:xfrm>
          <a:prstGeom prst="ellipse">
            <a:avLst/>
          </a:prstGeom>
          <a:solidFill>
            <a:srgbClr val="9C8B7A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18" name="S01-mark15"/>
          <p:cNvSpPr/>
          <p:nvPr/>
        </p:nvSpPr>
        <p:spPr>
          <a:xfrm>
            <a:off x="9925149" y="2545014"/>
            <a:ext cx="98199" cy="98199"/>
          </a:xfrm>
          <a:prstGeom prst="ellipse">
            <a:avLst/>
          </a:prstGeom>
          <a:solidFill>
            <a:srgbClr val="9C8B7A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19" name="S01-mark16"/>
          <p:cNvSpPr/>
          <p:nvPr/>
        </p:nvSpPr>
        <p:spPr>
          <a:xfrm flipV="1">
            <a:off x="8501270" y="1693959"/>
            <a:ext cx="409161" cy="245497"/>
          </a:xfrm>
          <a:prstGeom prst="line">
            <a:avLst/>
          </a:prstGeom>
          <a:noFill/>
          <a:ln w="31750">
            <a:solidFill>
              <a:srgbClr val="6B7280"/>
            </a:solidFill>
            <a:prstDash val="solid"/>
          </a:ln>
        </p:spPr>
      </p:sp>
      <p:sp>
        <p:nvSpPr>
          <p:cNvPr id="20" name="S01-mark17"/>
          <p:cNvSpPr/>
          <p:nvPr/>
        </p:nvSpPr>
        <p:spPr>
          <a:xfrm>
            <a:off x="10301577" y="1653043"/>
            <a:ext cx="409161" cy="245497"/>
          </a:xfrm>
          <a:prstGeom prst="line">
            <a:avLst/>
          </a:prstGeom>
          <a:noFill/>
          <a:ln w="31750">
            <a:solidFill>
              <a:srgbClr val="6B7280"/>
            </a:solidFill>
            <a:prstDash val="solid"/>
          </a:ln>
        </p:spPr>
      </p:sp>
      <p:sp>
        <p:nvSpPr>
          <p:cNvPr id="21" name="S01-card18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2" name="S01-cardtext19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알갱이 크기와 자석을 이용해 혼합물을 나눠요.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녹이고 거르고 증발시켜 소금을 얻어요.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수업 기억하기</a:t>
            </a:r>
            <a:endParaRPr lang="ko-KR" sz="4000" dirty="0"/>
          </a:p>
        </p:txBody>
      </p:sp>
      <p:sp>
        <p:nvSpPr>
          <p:cNvPr id="3" name="S02-chip2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21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소금을 물에 녹이면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소금은 없어진 걸까요?</a:t>
            </a:r>
            <a:endParaRPr lang="ko-KR" sz="2800" dirty="0"/>
          </a:p>
        </p:txBody>
      </p:sp>
      <p:sp>
        <p:nvSpPr>
          <p:cNvPr id="5" name="S02-chip22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23"/>
          <p:cNvSpPr txBox="1"/>
          <p:nvPr/>
        </p:nvSpPr>
        <p:spPr>
          <a:xfrm>
            <a:off x="1344168" y="38633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자석에 붙는 물체는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만들었나요?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혼합물</a:t>
            </a:r>
            <a:endParaRPr lang="ko-KR" sz="4000" dirty="0"/>
          </a:p>
        </p:txBody>
      </p:sp>
      <p:sp>
        <p:nvSpPr>
          <p:cNvPr id="3" name="S03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 이상의 물질이 섞여 있는 것을 혼합물이라고 해요.</a:t>
            </a:r>
            <a:endParaRPr lang="ko-KR" sz="2800" dirty="0"/>
          </a:p>
        </p:txBody>
      </p:sp>
      <p:sp>
        <p:nvSpPr>
          <p:cNvPr id="4" name="S03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물질의 성질을 이용하면 혼합물을 나눌 수 있어요.</a:t>
            </a:r>
            <a:endParaRPr lang="ko-KR" sz="2800" dirty="0"/>
          </a:p>
        </p:txBody>
      </p:sp>
      <p:sp>
        <p:nvSpPr>
          <p:cNvPr id="6" name="S03-card27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28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혼합물의 예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잡곡밥, 팥빙수,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김밥, 소금물</a:t>
            </a:r>
            <a:endParaRPr lang="ko-KR" sz="2800" dirty="0"/>
          </a:p>
        </p:txBody>
      </p:sp>
      <p:sp>
        <p:nvSpPr>
          <p:cNvPr id="8" name="S03-card29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30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섞여도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물질의 성질은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그대로예요.</a:t>
            </a:r>
            <a:endParaRPr lang="ko-KR" sz="2800" dirty="0"/>
          </a:p>
        </p:txBody>
      </p:sp>
      <p:sp>
        <p:nvSpPr>
          <p:cNvPr id="10" name="S03-card31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32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분리하는 까닭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물질을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얻으려고 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예상해 봐요</a:t>
            </a:r>
            <a:endParaRPr lang="ko-KR" sz="4000" dirty="0"/>
          </a:p>
        </p:txBody>
      </p:sp>
      <p:sp>
        <p:nvSpPr>
          <p:cNvPr id="3" name="S04-text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도구: 랩으로 싼 자석, 체</a:t>
            </a:r>
            <a:endParaRPr lang="ko-KR" sz="2800" dirty="0"/>
          </a:p>
        </p:txBody>
      </p:sp>
      <p:sp>
        <p:nvSpPr>
          <p:cNvPr id="4" name="S04-card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1에 써요.</a:t>
            </a:r>
            <a:endParaRPr lang="ko-KR" sz="2800" dirty="0"/>
          </a:p>
        </p:txBody>
      </p:sp>
      <p:graphicFrame>
        <p:nvGraphicFramePr>
          <p:cNvPr id="5" name="S04-table3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541016"/>
          <a:ext cx="10058400" cy="914400"/>
        </p:xfrm>
        <a:graphic>
          <a:graphicData uri="http://schemas.openxmlformats.org/drawingml/2006/table">
            <a:tbl>
              <a:tblPr/>
              <a:tblGrid>
                <a:gridCol w="3520440"/>
                <a:gridCol w="653796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섞인 것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예상(어떻게 골라낼까요?)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철 클립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콩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자석과 체로 나눠요</a:t>
            </a:r>
            <a:endParaRPr lang="ko-KR" sz="4000" dirty="0"/>
          </a:p>
        </p:txBody>
      </p:sp>
      <p:sp>
        <p:nvSpPr>
          <p:cNvPr id="3" name="S05-card37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38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자석은 휴대 전화에서 멀리 둬요. 모래를 만진 뒤 손을 씻어요.</a:t>
            </a:r>
            <a:endParaRPr lang="ko-KR" sz="2800" dirty="0"/>
          </a:p>
        </p:txBody>
      </p:sp>
      <p:sp>
        <p:nvSpPr>
          <p:cNvPr id="5" name="S05-figure39" descr="왼쪽: 비닐 랩으로 싼 막대자석. 오른쪽: 그릇 위에 올린 체(구멍이 있는 망)"/>
          <p:cNvSpPr/>
          <p:nvPr/>
        </p:nvSpPr>
        <p:spPr>
          <a:xfrm>
            <a:off x="7823934" y="2005995"/>
            <a:ext cx="350762" cy="210457"/>
          </a:xfrm>
          <a:custGeom>
            <a:avLst/>
            <a:gdLst/>
            <a:ahLst/>
            <a:cxnLst/>
            <a:rect l="l" t="t" r="r" b="b"/>
            <a:pathLst>
              <a:path w="350762" h="210457">
                <a:moveTo>
                  <a:pt x="0" y="210457"/>
                </a:moveTo>
                <a:lnTo>
                  <a:pt x="350762" y="210457"/>
                </a:lnTo>
                <a:lnTo>
                  <a:pt x="350762" y="0"/>
                </a:lnTo>
                <a:lnTo>
                  <a:pt x="0" y="0"/>
                </a:lnTo>
                <a:close/>
              </a:path>
            </a:pathLst>
          </a:custGeom>
          <a:solidFill>
            <a:srgbClr val="F8B4B4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5-mark40"/>
          <p:cNvSpPr/>
          <p:nvPr/>
        </p:nvSpPr>
        <p:spPr>
          <a:xfrm>
            <a:off x="8174696" y="2005995"/>
            <a:ext cx="350762" cy="210457"/>
          </a:xfrm>
          <a:custGeom>
            <a:avLst/>
            <a:gdLst/>
            <a:ahLst/>
            <a:cxnLst/>
            <a:rect l="l" t="t" r="r" b="b"/>
            <a:pathLst>
              <a:path w="350762" h="210457">
                <a:moveTo>
                  <a:pt x="0" y="210457"/>
                </a:moveTo>
                <a:lnTo>
                  <a:pt x="350762" y="210457"/>
                </a:lnTo>
                <a:lnTo>
                  <a:pt x="350762" y="0"/>
                </a:lnTo>
                <a:lnTo>
                  <a:pt x="0" y="0"/>
                </a:lnTo>
                <a:close/>
              </a:path>
            </a:pathLst>
          </a:custGeom>
          <a:solidFill>
            <a:srgbClr val="A9CCF2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5-mark41"/>
          <p:cNvSpPr/>
          <p:nvPr/>
        </p:nvSpPr>
        <p:spPr>
          <a:xfrm>
            <a:off x="7771320" y="1953381"/>
            <a:ext cx="806752" cy="315686"/>
          </a:xfrm>
          <a:custGeom>
            <a:avLst/>
            <a:gdLst/>
            <a:ahLst/>
            <a:cxnLst/>
            <a:rect l="l" t="t" r="r" b="b"/>
            <a:pathLst>
              <a:path w="806752" h="315686">
                <a:moveTo>
                  <a:pt x="0" y="315686"/>
                </a:moveTo>
                <a:lnTo>
                  <a:pt x="806752" y="315686"/>
                </a:lnTo>
                <a:lnTo>
                  <a:pt x="806752" y="0"/>
                </a:lnTo>
                <a:lnTo>
                  <a:pt x="0" y="0"/>
                </a:lnTo>
                <a:close/>
              </a:path>
            </a:pathLst>
          </a:custGeom>
          <a:noFill/>
          <a:ln w="15875">
            <a:solidFill>
              <a:srgbClr val="6B7280"/>
            </a:solidFill>
            <a:prstDash val="dash"/>
          </a:ln>
        </p:spPr>
      </p:sp>
      <p:sp>
        <p:nvSpPr>
          <p:cNvPr id="8" name="S05-mark42"/>
          <p:cNvSpPr/>
          <p:nvPr/>
        </p:nvSpPr>
        <p:spPr>
          <a:xfrm>
            <a:off x="9226982" y="2251529"/>
            <a:ext cx="1122438" cy="420914"/>
          </a:xfrm>
          <a:custGeom>
            <a:avLst/>
            <a:gdLst/>
            <a:ahLst/>
            <a:cxnLst/>
            <a:rect l="l" t="t" r="r" b="b"/>
            <a:pathLst>
              <a:path w="1122438" h="420914">
                <a:moveTo>
                  <a:pt x="0" y="0"/>
                </a:moveTo>
                <a:lnTo>
                  <a:pt x="4911" y="55070"/>
                </a:lnTo>
                <a:lnTo>
                  <a:pt x="19292" y="109087"/>
                </a:lnTo>
                <a:lnTo>
                  <a:pt x="42793" y="161000"/>
                </a:lnTo>
                <a:lnTo>
                  <a:pt x="75063" y="210457"/>
                </a:lnTo>
                <a:lnTo>
                  <a:pt x="116102" y="256407"/>
                </a:lnTo>
                <a:lnTo>
                  <a:pt x="164507" y="297797"/>
                </a:lnTo>
                <a:lnTo>
                  <a:pt x="219577" y="333925"/>
                </a:lnTo>
                <a:lnTo>
                  <a:pt x="280610" y="364442"/>
                </a:lnTo>
                <a:lnTo>
                  <a:pt x="346553" y="388995"/>
                </a:lnTo>
                <a:lnTo>
                  <a:pt x="416004" y="406533"/>
                </a:lnTo>
                <a:lnTo>
                  <a:pt x="487910" y="417407"/>
                </a:lnTo>
                <a:lnTo>
                  <a:pt x="561219" y="420914"/>
                </a:lnTo>
                <a:lnTo>
                  <a:pt x="634528" y="417407"/>
                </a:lnTo>
                <a:lnTo>
                  <a:pt x="706434" y="406533"/>
                </a:lnTo>
                <a:lnTo>
                  <a:pt x="775885" y="388995"/>
                </a:lnTo>
                <a:lnTo>
                  <a:pt x="841829" y="364442"/>
                </a:lnTo>
                <a:lnTo>
                  <a:pt x="902861" y="333925"/>
                </a:lnTo>
                <a:lnTo>
                  <a:pt x="957931" y="297797"/>
                </a:lnTo>
                <a:lnTo>
                  <a:pt x="1006336" y="256407"/>
                </a:lnTo>
                <a:lnTo>
                  <a:pt x="1047375" y="210457"/>
                </a:lnTo>
                <a:lnTo>
                  <a:pt x="1079645" y="161000"/>
                </a:lnTo>
                <a:lnTo>
                  <a:pt x="1103146" y="109087"/>
                </a:lnTo>
                <a:lnTo>
                  <a:pt x="1117527" y="55070"/>
                </a:lnTo>
                <a:lnTo>
                  <a:pt x="1122438" y="0"/>
                </a:lnTo>
                <a:close/>
              </a:path>
            </a:pathLst>
          </a:custGeom>
          <a:solidFill>
            <a:srgbClr val="E5E7EB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05-mark43"/>
          <p:cNvSpPr/>
          <p:nvPr/>
        </p:nvSpPr>
        <p:spPr>
          <a:xfrm>
            <a:off x="9349748" y="1900767"/>
            <a:ext cx="876905" cy="350762"/>
          </a:xfrm>
          <a:custGeom>
            <a:avLst/>
            <a:gdLst/>
            <a:ahLst/>
            <a:cxnLst/>
            <a:rect l="l" t="t" r="r" b="b"/>
            <a:pathLst>
              <a:path w="876905" h="350762">
                <a:moveTo>
                  <a:pt x="0" y="0"/>
                </a:moveTo>
                <a:lnTo>
                  <a:pt x="3858" y="45950"/>
                </a:lnTo>
                <a:lnTo>
                  <a:pt x="15083" y="90847"/>
                </a:lnTo>
                <a:lnTo>
                  <a:pt x="33322" y="134342"/>
                </a:lnTo>
                <a:lnTo>
                  <a:pt x="58577" y="175381"/>
                </a:lnTo>
                <a:lnTo>
                  <a:pt x="90497" y="213614"/>
                </a:lnTo>
                <a:lnTo>
                  <a:pt x="128379" y="247989"/>
                </a:lnTo>
                <a:lnTo>
                  <a:pt x="171523" y="278154"/>
                </a:lnTo>
                <a:lnTo>
                  <a:pt x="219226" y="303760"/>
                </a:lnTo>
                <a:lnTo>
                  <a:pt x="270788" y="324104"/>
                </a:lnTo>
                <a:lnTo>
                  <a:pt x="324806" y="338836"/>
                </a:lnTo>
                <a:lnTo>
                  <a:pt x="381278" y="347605"/>
                </a:lnTo>
                <a:lnTo>
                  <a:pt x="438452" y="350762"/>
                </a:lnTo>
                <a:lnTo>
                  <a:pt x="495627" y="347605"/>
                </a:lnTo>
                <a:lnTo>
                  <a:pt x="552099" y="338836"/>
                </a:lnTo>
                <a:lnTo>
                  <a:pt x="606117" y="324104"/>
                </a:lnTo>
                <a:lnTo>
                  <a:pt x="657679" y="303760"/>
                </a:lnTo>
                <a:lnTo>
                  <a:pt x="705382" y="278154"/>
                </a:lnTo>
                <a:lnTo>
                  <a:pt x="748526" y="247989"/>
                </a:lnTo>
                <a:lnTo>
                  <a:pt x="786408" y="213614"/>
                </a:lnTo>
                <a:lnTo>
                  <a:pt x="818328" y="175381"/>
                </a:lnTo>
                <a:lnTo>
                  <a:pt x="843582" y="134342"/>
                </a:lnTo>
                <a:lnTo>
                  <a:pt x="861822" y="90847"/>
                </a:lnTo>
                <a:lnTo>
                  <a:pt x="873046" y="45950"/>
                </a:lnTo>
                <a:lnTo>
                  <a:pt x="876905" y="0"/>
                </a:lnTo>
                <a:close/>
              </a:path>
            </a:pathLst>
          </a:cu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" name="S05-mark44"/>
          <p:cNvSpPr/>
          <p:nvPr/>
        </p:nvSpPr>
        <p:spPr>
          <a:xfrm>
            <a:off x="9525129" y="1900767"/>
            <a:ext cx="0" cy="28061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11" name="S05-mark45"/>
          <p:cNvSpPr/>
          <p:nvPr/>
        </p:nvSpPr>
        <p:spPr>
          <a:xfrm>
            <a:off x="9700510" y="1900767"/>
            <a:ext cx="0" cy="343747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12" name="S05-mark46"/>
          <p:cNvSpPr/>
          <p:nvPr/>
        </p:nvSpPr>
        <p:spPr>
          <a:xfrm>
            <a:off x="9875891" y="1900767"/>
            <a:ext cx="0" cy="343747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13" name="S05-mark47"/>
          <p:cNvSpPr/>
          <p:nvPr/>
        </p:nvSpPr>
        <p:spPr>
          <a:xfrm>
            <a:off x="10051272" y="1900767"/>
            <a:ext cx="0" cy="28061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14" name="S05-mark48"/>
          <p:cNvSpPr/>
          <p:nvPr/>
        </p:nvSpPr>
        <p:spPr>
          <a:xfrm>
            <a:off x="9454977" y="2128762"/>
            <a:ext cx="666448" cy="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15" name="S05-mark49"/>
          <p:cNvSpPr/>
          <p:nvPr/>
        </p:nvSpPr>
        <p:spPr>
          <a:xfrm>
            <a:off x="9377459" y="2023533"/>
            <a:ext cx="821484" cy="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16" name="S05-mark50"/>
          <p:cNvSpPr/>
          <p:nvPr/>
        </p:nvSpPr>
        <p:spPr>
          <a:xfrm>
            <a:off x="9349748" y="1900767"/>
            <a:ext cx="876905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7" name="S05-mark51"/>
          <p:cNvSpPr/>
          <p:nvPr/>
        </p:nvSpPr>
        <p:spPr>
          <a:xfrm flipV="1">
            <a:off x="10226653" y="1795538"/>
            <a:ext cx="473529" cy="105229"/>
          </a:xfrm>
          <a:prstGeom prst="line">
            <a:avLst/>
          </a:prstGeom>
          <a:noFill/>
          <a:ln w="63500">
            <a:solidFill>
              <a:srgbClr val="4B5563"/>
            </a:solidFill>
            <a:prstDash val="solid"/>
          </a:ln>
        </p:spPr>
      </p:sp>
      <p:sp>
        <p:nvSpPr>
          <p:cNvPr id="18" name="S05-label53"/>
          <p:cNvSpPr txBox="1"/>
          <p:nvPr/>
        </p:nvSpPr>
        <p:spPr>
          <a:xfrm>
            <a:off x="7852249" y="1936599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200" dirty="0"/>
          </a:p>
        </p:txBody>
      </p:sp>
      <p:sp>
        <p:nvSpPr>
          <p:cNvPr id="19" name="S05-label55"/>
          <p:cNvSpPr txBox="1"/>
          <p:nvPr/>
        </p:nvSpPr>
        <p:spPr>
          <a:xfrm>
            <a:off x="8203011" y="1936599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200" dirty="0"/>
          </a:p>
        </p:txBody>
      </p:sp>
      <p:sp>
        <p:nvSpPr>
          <p:cNvPr id="20" name="S05-label57"/>
          <p:cNvSpPr txBox="1"/>
          <p:nvPr/>
        </p:nvSpPr>
        <p:spPr>
          <a:xfrm>
            <a:off x="7214576" y="1533223"/>
            <a:ext cx="19202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랩으로 싼 자석</a:t>
            </a:r>
            <a:endParaRPr lang="ko-KR" sz="2200" dirty="0"/>
          </a:p>
        </p:txBody>
      </p:sp>
      <p:sp>
        <p:nvSpPr>
          <p:cNvPr id="21" name="S05-label59"/>
          <p:cNvSpPr txBox="1"/>
          <p:nvPr/>
        </p:nvSpPr>
        <p:spPr>
          <a:xfrm>
            <a:off x="9596431" y="1427994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</a:t>
            </a:r>
            <a:endParaRPr lang="ko-KR" sz="2200" dirty="0"/>
          </a:p>
        </p:txBody>
      </p:sp>
      <p:sp>
        <p:nvSpPr>
          <p:cNvPr id="22" name="S05-label61"/>
          <p:cNvSpPr txBox="1"/>
          <p:nvPr/>
        </p:nvSpPr>
        <p:spPr>
          <a:xfrm>
            <a:off x="9459525" y="262058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그릇</a:t>
            </a:r>
            <a:endParaRPr lang="ko-KR" sz="2200" dirty="0"/>
          </a:p>
        </p:txBody>
      </p:sp>
      <p:sp>
        <p:nvSpPr>
          <p:cNvPr id="23" name="S05-card62"/>
          <p:cNvSpPr/>
          <p:nvPr/>
        </p:nvSpPr>
        <p:spPr>
          <a:xfrm>
            <a:off x="6813652" y="3195320"/>
            <a:ext cx="4826660" cy="1597152"/>
          </a:xfrm>
          <a:prstGeom prst="roundRect">
            <a:avLst>
              <a:gd name="adj" fmla="val 687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4" name="S05-cardtext63"/>
          <p:cNvSpPr txBox="1"/>
          <p:nvPr/>
        </p:nvSpPr>
        <p:spPr>
          <a:xfrm>
            <a:off x="7087972" y="3332480"/>
            <a:ext cx="4278020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자석에 붙은 것을 봐요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체 위·아래를 봐요</a:t>
            </a:r>
            <a:endParaRPr lang="ko-KR" sz="2800" dirty="0"/>
          </a:p>
        </p:txBody>
      </p:sp>
      <p:sp>
        <p:nvSpPr>
          <p:cNvPr id="25" name="S05-stepno64"/>
          <p:cNvSpPr txBox="1"/>
          <p:nvPr/>
        </p:nvSpPr>
        <p:spPr>
          <a:xfrm>
            <a:off x="548640" y="14945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26" name="S05-text65"/>
          <p:cNvSpPr txBox="1"/>
          <p:nvPr/>
        </p:nvSpPr>
        <p:spPr>
          <a:xfrm>
            <a:off x="1325880" y="1448816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랩으로 싼 자석을 혼합물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위로 천천히 움직여요.</a:t>
            </a:r>
            <a:endParaRPr lang="ko-KR" sz="2200" dirty="0"/>
          </a:p>
        </p:txBody>
      </p:sp>
      <p:sp>
        <p:nvSpPr>
          <p:cNvPr id="27" name="S05-stepno66"/>
          <p:cNvSpPr txBox="1"/>
          <p:nvPr/>
        </p:nvSpPr>
        <p:spPr>
          <a:xfrm>
            <a:off x="548640" y="2340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8" name="S05-text67"/>
          <p:cNvSpPr txBox="1"/>
          <p:nvPr/>
        </p:nvSpPr>
        <p:spPr>
          <a:xfrm>
            <a:off x="1325880" y="2295144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붙은 것을 랩째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그릇에 떼어 내요.</a:t>
            </a:r>
            <a:endParaRPr lang="ko-KR" sz="2200" dirty="0"/>
          </a:p>
        </p:txBody>
      </p:sp>
      <p:sp>
        <p:nvSpPr>
          <p:cNvPr id="29" name="S05-stepno68"/>
          <p:cNvSpPr txBox="1"/>
          <p:nvPr/>
        </p:nvSpPr>
        <p:spPr>
          <a:xfrm>
            <a:off x="548640" y="31871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30" name="S05-text69"/>
          <p:cNvSpPr txBox="1"/>
          <p:nvPr/>
        </p:nvSpPr>
        <p:spPr>
          <a:xfrm>
            <a:off x="1325880" y="3141472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것을 체에 붓고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살살 흔들어요.</a:t>
            </a:r>
            <a:endParaRPr lang="ko-KR" sz="2200" dirty="0"/>
          </a:p>
        </p:txBody>
      </p:sp>
      <p:sp>
        <p:nvSpPr>
          <p:cNvPr id="31" name="S05-stepno70"/>
          <p:cNvSpPr txBox="1"/>
          <p:nvPr/>
        </p:nvSpPr>
        <p:spPr>
          <a:xfrm>
            <a:off x="548640" y="40335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32" name="S05-text71"/>
          <p:cNvSpPr txBox="1"/>
          <p:nvPr/>
        </p:nvSpPr>
        <p:spPr>
          <a:xfrm>
            <a:off x="1325880" y="3987800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무엇이 남았는지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1에 써요.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06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1을 보며 빈칸을 말로 채워요.</a:t>
            </a:r>
            <a:endParaRPr lang="ko-KR" sz="2800" dirty="0"/>
          </a:p>
        </p:txBody>
      </p:sp>
      <p:sp>
        <p:nvSpPr>
          <p:cNvPr id="4" name="S06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 도구로 나눌 수 있었을까요?</a:t>
            </a:r>
            <a:endParaRPr lang="ko-KR" sz="2800" dirty="0"/>
          </a:p>
        </p:txBody>
      </p:sp>
      <p:graphicFrame>
        <p:nvGraphicFramePr>
          <p:cNvPr id="7" name="S06-table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541016"/>
          <a:ext cx="100584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017520"/>
                <a:gridCol w="402336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섞인 것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쓴 도구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남은 곳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철 클립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콩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성질을 이용해 나눠요</a:t>
            </a:r>
            <a:endParaRPr lang="ko-KR" sz="4000" dirty="0"/>
          </a:p>
        </p:txBody>
      </p:sp>
      <p:sp>
        <p:nvSpPr>
          <p:cNvPr id="3" name="S07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물질의 성질에 맞는 방법으로 분리해요.</a:t>
            </a:r>
            <a:endParaRPr lang="ko-KR" sz="2800" dirty="0"/>
          </a:p>
        </p:txBody>
      </p:sp>
      <p:sp>
        <p:nvSpPr>
          <p:cNvPr id="4" name="S07-card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섞인 물질 사이에 다른 성질을 찾아요.</a:t>
            </a:r>
            <a:endParaRPr lang="ko-KR" sz="2800" dirty="0"/>
          </a:p>
        </p:txBody>
      </p:sp>
      <p:graphicFrame>
        <p:nvGraphicFramePr>
          <p:cNvPr id="8" name="S07-table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797302"/>
          <a:ext cx="10515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103120"/>
                <a:gridCol w="420624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혼합물의 성질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분리 방법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생활 속 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알갱이 크기가 달라요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공사장 모래와 자갈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자석에 붙는 것이 있어요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자석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재활용 센터의 철 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8-card8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8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재활용 상자에 철 캔과 알루미늄 캔이 섞여 있어요.</a:t>
            </a:r>
            <a:endParaRPr lang="ko-KR" sz="2800" dirty="0"/>
          </a:p>
        </p:txBody>
      </p:sp>
      <p:sp>
        <p:nvSpPr>
          <p:cNvPr id="5" name="S08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2800" dirty="0"/>
          </a:p>
        </p:txBody>
      </p:sp>
      <p:sp>
        <p:nvSpPr>
          <p:cNvPr id="7" name="S08-chip8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200" dirty="0"/>
          </a:p>
        </p:txBody>
      </p:sp>
      <p:sp>
        <p:nvSpPr>
          <p:cNvPr id="8" name="S08-text8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금속이니까 자석에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붙어서 골라져요.</a:t>
            </a:r>
            <a:endParaRPr lang="ko-KR" sz="2800" dirty="0"/>
          </a:p>
        </p:txBody>
      </p:sp>
      <p:sp>
        <p:nvSpPr>
          <p:cNvPr id="9" name="S08-chip8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200" dirty="0"/>
          </a:p>
        </p:txBody>
      </p:sp>
      <p:sp>
        <p:nvSpPr>
          <p:cNvPr id="10" name="S08-text8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 캔만 붙어요. 그래서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캔을 나눌 수 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 예상해 봐요</a:t>
            </a:r>
            <a:endParaRPr lang="ko-KR" sz="4000" dirty="0"/>
          </a:p>
        </p:txBody>
      </p:sp>
      <p:sp>
        <p:nvSpPr>
          <p:cNvPr id="3" name="S09-text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소금과 모래가 섞인 것에 물을 부어 저어요.</a:t>
            </a:r>
            <a:endParaRPr lang="ko-KR" sz="2800" dirty="0"/>
          </a:p>
        </p:txBody>
      </p:sp>
      <p:sp>
        <p:nvSpPr>
          <p:cNvPr id="4" name="S09-card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2에 써요.</a:t>
            </a:r>
            <a:endParaRPr lang="ko-KR" sz="2800" dirty="0"/>
          </a:p>
        </p:txBody>
      </p:sp>
      <p:graphicFrame>
        <p:nvGraphicFramePr>
          <p:cNvPr id="10" name="S09-table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541016"/>
          <a:ext cx="10515600" cy="914400"/>
        </p:xfrm>
        <a:graphic>
          <a:graphicData uri="http://schemas.openxmlformats.org/drawingml/2006/table">
            <a:tbl>
              <a:tblPr/>
              <a:tblGrid>
                <a:gridCol w="5783580"/>
                <a:gridCol w="473202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저은 뒤 소금은?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커피 필터 위에 남는 것은?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거른 물을 말리면?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녹이고 거르고 말려요</a:t>
            </a:r>
            <a:endParaRPr lang="ko-KR" sz="4000" dirty="0"/>
          </a:p>
        </p:txBody>
      </p:sp>
      <p:sp>
        <p:nvSpPr>
          <p:cNvPr id="3" name="S10-card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거른 물은 맛보지 않아요. 드라이어는 어른이 써요.</a:t>
            </a:r>
            <a:endParaRPr lang="ko-KR" sz="2800" dirty="0"/>
          </a:p>
        </p:txBody>
      </p:sp>
      <p:sp>
        <p:nvSpPr>
          <p:cNvPr id="5" name="S10-figure94" descr="빈 컵 위에 원뿔 모양으로 편 커피 필터를 얹고, 섞은 물을 위에서 붓는 그림"/>
          <p:cNvSpPr/>
          <p:nvPr/>
        </p:nvSpPr>
        <p:spPr>
          <a:xfrm>
            <a:off x="9063332" y="2264587"/>
            <a:ext cx="937933" cy="854887"/>
          </a:xfrm>
          <a:custGeom>
            <a:avLst/>
            <a:gdLst/>
            <a:ahLst/>
            <a:cxnLst/>
            <a:rect l="l" t="t" r="r" b="b"/>
            <a:pathLst>
              <a:path w="937933" h="854887">
                <a:moveTo>
                  <a:pt x="0" y="0"/>
                </a:moveTo>
                <a:lnTo>
                  <a:pt x="102586" y="854887"/>
                </a:lnTo>
                <a:lnTo>
                  <a:pt x="835346" y="854887"/>
                </a:lnTo>
                <a:lnTo>
                  <a:pt x="937933" y="0"/>
                </a:lnTo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6" name="S10-mark95"/>
          <p:cNvSpPr/>
          <p:nvPr/>
        </p:nvSpPr>
        <p:spPr>
          <a:xfrm>
            <a:off x="8982729" y="1715017"/>
            <a:ext cx="1099140" cy="793823"/>
          </a:xfrm>
          <a:custGeom>
            <a:avLst/>
            <a:gdLst/>
            <a:ahLst/>
            <a:cxnLst/>
            <a:rect l="l" t="t" r="r" b="b"/>
            <a:pathLst>
              <a:path w="1099140" h="793823">
                <a:moveTo>
                  <a:pt x="0" y="0"/>
                </a:moveTo>
                <a:lnTo>
                  <a:pt x="1099140" y="0"/>
                </a:lnTo>
                <a:lnTo>
                  <a:pt x="671697" y="793823"/>
                </a:lnTo>
                <a:lnTo>
                  <a:pt x="427443" y="793823"/>
                </a:lnTo>
                <a:close/>
              </a:path>
            </a:pathLst>
          </a:custGeom>
          <a:solidFill>
            <a:srgbClr val="FFF7E6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10-mark96"/>
          <p:cNvSpPr/>
          <p:nvPr/>
        </p:nvSpPr>
        <p:spPr>
          <a:xfrm>
            <a:off x="8494222" y="1470763"/>
            <a:ext cx="549570" cy="36638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10-label98"/>
          <p:cNvSpPr txBox="1"/>
          <p:nvPr/>
        </p:nvSpPr>
        <p:spPr>
          <a:xfrm>
            <a:off x="9203622" y="1671083"/>
            <a:ext cx="65735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커피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</a:t>
            </a:r>
            <a:endParaRPr lang="ko-KR" sz="2200" dirty="0"/>
          </a:p>
        </p:txBody>
      </p:sp>
      <p:sp>
        <p:nvSpPr>
          <p:cNvPr id="9" name="S10-label100"/>
          <p:cNvSpPr txBox="1"/>
          <p:nvPr/>
        </p:nvSpPr>
        <p:spPr>
          <a:xfrm>
            <a:off x="9340528" y="263953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</a:t>
            </a:r>
            <a:endParaRPr lang="ko-KR" sz="2200" dirty="0"/>
          </a:p>
        </p:txBody>
      </p:sp>
      <p:sp>
        <p:nvSpPr>
          <p:cNvPr id="10" name="S10-label102"/>
          <p:cNvSpPr txBox="1"/>
          <p:nvPr/>
        </p:nvSpPr>
        <p:spPr>
          <a:xfrm>
            <a:off x="8306925" y="1602673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붓기</a:t>
            </a:r>
            <a:endParaRPr lang="ko-KR" sz="1800" dirty="0"/>
          </a:p>
        </p:txBody>
      </p:sp>
      <p:sp>
        <p:nvSpPr>
          <p:cNvPr id="11" name="S10-card103"/>
          <p:cNvSpPr/>
          <p:nvPr/>
        </p:nvSpPr>
        <p:spPr>
          <a:xfrm>
            <a:off x="6813652" y="3523488"/>
            <a:ext cx="4826660" cy="1597152"/>
          </a:xfrm>
          <a:prstGeom prst="roundRect">
            <a:avLst>
              <a:gd name="adj" fmla="val 687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10-cardtext104"/>
          <p:cNvSpPr txBox="1"/>
          <p:nvPr/>
        </p:nvSpPr>
        <p:spPr>
          <a:xfrm>
            <a:off x="7087972" y="3660648"/>
            <a:ext cx="4278020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필터 위에 남은 것을 봐요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말린 뒤 접시를 봐요</a:t>
            </a:r>
            <a:endParaRPr lang="ko-KR" sz="2800" dirty="0"/>
          </a:p>
        </p:txBody>
      </p:sp>
      <p:sp>
        <p:nvSpPr>
          <p:cNvPr id="13" name="S10-stepno105"/>
          <p:cNvSpPr txBox="1"/>
          <p:nvPr/>
        </p:nvSpPr>
        <p:spPr>
          <a:xfrm>
            <a:off x="548640" y="16586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4" name="S10-text106"/>
          <p:cNvSpPr txBox="1"/>
          <p:nvPr/>
        </p:nvSpPr>
        <p:spPr>
          <a:xfrm>
            <a:off x="1325880" y="1612900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혼합물에 물을 붓고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소금이 녹을 때까지 저어요.</a:t>
            </a:r>
            <a:endParaRPr lang="ko-KR" sz="2200" dirty="0"/>
          </a:p>
        </p:txBody>
      </p:sp>
      <p:sp>
        <p:nvSpPr>
          <p:cNvPr id="15" name="S10-stepno107"/>
          <p:cNvSpPr txBox="1"/>
          <p:nvPr/>
        </p:nvSpPr>
        <p:spPr>
          <a:xfrm>
            <a:off x="548640" y="25049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6" name="S10-text108"/>
          <p:cNvSpPr txBox="1"/>
          <p:nvPr/>
        </p:nvSpPr>
        <p:spPr>
          <a:xfrm>
            <a:off x="1325880" y="2459228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커피 필터를 얹은 컵에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 부어요.</a:t>
            </a:r>
            <a:endParaRPr lang="ko-KR" sz="2200" dirty="0"/>
          </a:p>
        </p:txBody>
      </p:sp>
      <p:sp>
        <p:nvSpPr>
          <p:cNvPr id="17" name="S10-stepno109"/>
          <p:cNvSpPr txBox="1"/>
          <p:nvPr/>
        </p:nvSpPr>
        <p:spPr>
          <a:xfrm>
            <a:off x="548640" y="3351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8" name="S10-text110"/>
          <p:cNvSpPr txBox="1"/>
          <p:nvPr/>
        </p:nvSpPr>
        <p:spPr>
          <a:xfrm>
            <a:off x="1325880" y="3305556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 위와 거른 물을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살펴요.</a:t>
            </a:r>
            <a:endParaRPr lang="ko-KR" sz="2200" dirty="0"/>
          </a:p>
        </p:txBody>
      </p:sp>
      <p:sp>
        <p:nvSpPr>
          <p:cNvPr id="19" name="S10-stepno111"/>
          <p:cNvSpPr txBox="1"/>
          <p:nvPr/>
        </p:nvSpPr>
        <p:spPr>
          <a:xfrm>
            <a:off x="548640" y="41976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20" name="S10-text112"/>
          <p:cNvSpPr txBox="1"/>
          <p:nvPr/>
        </p:nvSpPr>
        <p:spPr>
          <a:xfrm>
            <a:off x="1325880" y="4151884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거른 물 몇 방울을 어두운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접시에 떨어뜨려 말려요.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11-text1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2를 보며 빈칸을 말로 채워요.</a:t>
            </a:r>
            <a:endParaRPr lang="ko-KR" sz="2800" dirty="0"/>
          </a:p>
        </p:txBody>
      </p:sp>
      <p:sp>
        <p:nvSpPr>
          <p:cNvPr id="4" name="S11-card1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1-cardtext1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소금과 모래는 어디로 갔나요?</a:t>
            </a:r>
            <a:endParaRPr lang="ko-KR" sz="2800" dirty="0"/>
          </a:p>
        </p:txBody>
      </p:sp>
      <p:graphicFrame>
        <p:nvGraphicFramePr>
          <p:cNvPr id="12" name="S11-table1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362200"/>
          <a:ext cx="10515600" cy="914400"/>
        </p:xfrm>
        <a:graphic>
          <a:graphicData uri="http://schemas.openxmlformats.org/drawingml/2006/table">
            <a:tbl>
              <a:tblPr/>
              <a:tblGrid>
                <a:gridCol w="5257800"/>
                <a:gridCol w="525780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관찰한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물에 넣고 저은 뒤 소금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커피 필터 위에 남은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거른 물의 모습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물방울이 마른 뒤 접시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녹이고, 거르고, 증발시켜요</a:t>
            </a:r>
            <a:endParaRPr lang="ko-KR" sz="4000" dirty="0"/>
          </a:p>
        </p:txBody>
      </p:sp>
      <p:sp>
        <p:nvSpPr>
          <p:cNvPr id="3" name="S12-text1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물에 녹는 성질이 다른 소금과 모래는 이렇게 나눠요.</a:t>
            </a:r>
            <a:endParaRPr lang="ko-KR" sz="2800" dirty="0"/>
          </a:p>
        </p:txBody>
      </p:sp>
      <p:sp>
        <p:nvSpPr>
          <p:cNvPr id="4" name="S12-card1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2-cardtext1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염전에서는 바닷물을 증발시켜 소금을 얻어요.</a:t>
            </a:r>
            <a:endParaRPr lang="ko-KR" sz="2800" dirty="0"/>
          </a:p>
        </p:txBody>
      </p:sp>
      <p:sp>
        <p:nvSpPr>
          <p:cNvPr id="6" name="S12-step120"/>
          <p:cNvSpPr txBox="1"/>
          <p:nvPr/>
        </p:nvSpPr>
        <p:spPr>
          <a:xfrm>
            <a:off x="548640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소금과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모래</a:t>
            </a:r>
            <a:endParaRPr lang="ko-KR" sz="2200" dirty="0"/>
          </a:p>
        </p:txBody>
      </p:sp>
      <p:sp>
        <p:nvSpPr>
          <p:cNvPr id="7" name="S12-line121"/>
          <p:cNvSpPr/>
          <p:nvPr/>
        </p:nvSpPr>
        <p:spPr>
          <a:xfrm>
            <a:off x="3067812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12-step122"/>
          <p:cNvSpPr txBox="1"/>
          <p:nvPr/>
        </p:nvSpPr>
        <p:spPr>
          <a:xfrm>
            <a:off x="3424428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물에 녹여요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(소금이 녹음)</a:t>
            </a:r>
            <a:endParaRPr lang="ko-KR" sz="2200" dirty="0"/>
          </a:p>
        </p:txBody>
      </p:sp>
      <p:sp>
        <p:nvSpPr>
          <p:cNvPr id="9" name="S12-line123"/>
          <p:cNvSpPr/>
          <p:nvPr/>
        </p:nvSpPr>
        <p:spPr>
          <a:xfrm>
            <a:off x="594360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12-step124"/>
          <p:cNvSpPr txBox="1"/>
          <p:nvPr/>
        </p:nvSpPr>
        <p:spPr>
          <a:xfrm>
            <a:off x="6300216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걸러요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(모래가 남음)</a:t>
            </a:r>
            <a:endParaRPr lang="ko-KR" sz="2200" dirty="0"/>
          </a:p>
        </p:txBody>
      </p:sp>
      <p:sp>
        <p:nvSpPr>
          <p:cNvPr id="11" name="S12-line125"/>
          <p:cNvSpPr/>
          <p:nvPr/>
        </p:nvSpPr>
        <p:spPr>
          <a:xfrm>
            <a:off x="8819388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12-step126"/>
          <p:cNvSpPr txBox="1"/>
          <p:nvPr/>
        </p:nvSpPr>
        <p:spPr>
          <a:xfrm>
            <a:off x="9176004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증발시켜요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(소금이 남음)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13-card12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2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커피 필터로 거른 물이 맑아요.</a:t>
            </a:r>
            <a:endParaRPr lang="ko-KR" sz="2800" dirty="0"/>
          </a:p>
        </p:txBody>
      </p:sp>
      <p:sp>
        <p:nvSpPr>
          <p:cNvPr id="5" name="S13-card1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3-cardtext1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2800" dirty="0"/>
          </a:p>
        </p:txBody>
      </p:sp>
      <p:sp>
        <p:nvSpPr>
          <p:cNvPr id="7" name="S13-chip13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200" dirty="0"/>
          </a:p>
        </p:txBody>
      </p:sp>
      <p:sp>
        <p:nvSpPr>
          <p:cNvPr id="8" name="S13-text13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맑으니까 물만 있고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소금은 걸러졌어요.</a:t>
            </a:r>
            <a:endParaRPr lang="ko-KR" sz="2800" dirty="0"/>
          </a:p>
        </p:txBody>
      </p:sp>
      <p:sp>
        <p:nvSpPr>
          <p:cNvPr id="9" name="S13-chip13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200" dirty="0"/>
          </a:p>
        </p:txBody>
      </p:sp>
      <p:sp>
        <p:nvSpPr>
          <p:cNvPr id="10" name="S13-text13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소금이 녹은 채로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필터를 지나갔어요.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나눌까요?</a:t>
            </a:r>
            <a:endParaRPr lang="ko-KR" sz="4000" dirty="0"/>
          </a:p>
        </p:txBody>
      </p:sp>
      <p:sp>
        <p:nvSpPr>
          <p:cNvPr id="3" name="S14-text1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성질을 찾고, 분리 방법과 까닭을 말해요.</a:t>
            </a:r>
            <a:endParaRPr lang="ko-KR" sz="2800" dirty="0"/>
          </a:p>
        </p:txBody>
      </p:sp>
      <p:sp>
        <p:nvSpPr>
          <p:cNvPr id="4" name="S14-card1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4-cardtext1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달라요? 자석에 붙어요? 물에 녹아요?</a:t>
            </a:r>
            <a:endParaRPr lang="ko-KR" sz="2800" dirty="0"/>
          </a:p>
        </p:txBody>
      </p:sp>
      <p:sp>
        <p:nvSpPr>
          <p:cNvPr id="6" name="S14-chip13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4-text139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 못과 나무 구슬</a:t>
            </a:r>
            <a:endParaRPr lang="ko-KR" sz="2800" dirty="0"/>
          </a:p>
        </p:txBody>
      </p:sp>
      <p:sp>
        <p:nvSpPr>
          <p:cNvPr id="8" name="S14-chip14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4-text141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콩과 좁쌀</a:t>
            </a:r>
            <a:endParaRPr lang="ko-KR" sz="2800" dirty="0"/>
          </a:p>
        </p:txBody>
      </p:sp>
      <p:sp>
        <p:nvSpPr>
          <p:cNvPr id="10" name="S14-chip14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4-text143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흙탕물에 섞인 흙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5-chip14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5-text145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모래와 자갈을 나누는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방법과 까닭은?</a:t>
            </a:r>
            <a:endParaRPr lang="ko-KR" sz="2800" dirty="0"/>
          </a:p>
        </p:txBody>
      </p:sp>
      <p:sp>
        <p:nvSpPr>
          <p:cNvPr id="5" name="S15-chip146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5-text147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모래에 섞인 쇳가루를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나누는 방법은?</a:t>
            </a:r>
            <a:endParaRPr lang="ko-KR" sz="2800" dirty="0"/>
          </a:p>
        </p:txBody>
      </p:sp>
      <p:sp>
        <p:nvSpPr>
          <p:cNvPr id="7" name="S15-chip148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5-text149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소금과 흙이 섞였어요.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소금을 얻는 순서는?</a:t>
            </a:r>
            <a:endParaRPr lang="ko-KR" sz="2800" dirty="0"/>
          </a:p>
        </p:txBody>
      </p:sp>
      <p:sp>
        <p:nvSpPr>
          <p:cNvPr id="9" name="S15-chip150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5-text151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흙탕물을 거르면 필터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 남는 것은?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염전은 어떻게 소금을 얻을까요?</a:t>
            </a:r>
            <a:endParaRPr lang="ko-KR" sz="4000" dirty="0"/>
          </a:p>
        </p:txBody>
      </p:sp>
      <p:sp>
        <p:nvSpPr>
          <p:cNvPr id="3" name="S17-text1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염전에서는 바닷물을 넓은 바닥에 가두어 소금을 얻어요.</a:t>
            </a:r>
            <a:endParaRPr lang="ko-KR" sz="2800" dirty="0"/>
          </a:p>
        </p:txBody>
      </p:sp>
      <p:sp>
        <p:nvSpPr>
          <p:cNvPr id="4" name="S17-card1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7-cardtext1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그렇게 생각한 까닭을 말해요.</a:t>
            </a:r>
            <a:endParaRPr lang="ko-KR" sz="2800" dirty="0"/>
          </a:p>
        </p:txBody>
      </p:sp>
      <p:sp>
        <p:nvSpPr>
          <p:cNvPr id="6" name="S17-chip155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7-card156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7-cardtext157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고운 체로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바닷물을 걸러요.</a:t>
            </a:r>
            <a:endParaRPr lang="ko-KR" sz="2800" dirty="0"/>
          </a:p>
        </p:txBody>
      </p:sp>
      <p:sp>
        <p:nvSpPr>
          <p:cNvPr id="9" name="S17-chip158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17-card159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7-cardtext160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자석을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바닷물에 넣어요.</a:t>
            </a:r>
            <a:endParaRPr lang="ko-KR" sz="2800" dirty="0"/>
          </a:p>
        </p:txBody>
      </p:sp>
      <p:sp>
        <p:nvSpPr>
          <p:cNvPr id="12" name="S17-chip161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3" name="S17-card162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7-cardtext163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햇볕과 바람으로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증발시켜요.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8-card164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8-cardtext165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혼합물은 크기·자석·녹는 성질처럼 다른 성질을 이용해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체·자석·거름·증발로 분리해요.</a:t>
            </a:r>
            <a:endParaRPr lang="ko-KR" sz="2800" dirty="0"/>
          </a:p>
        </p:txBody>
      </p:sp>
      <p:sp>
        <p:nvSpPr>
          <p:cNvPr id="5" name="S18-chip166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다른 성질부터 찾기</a:t>
            </a:r>
            <a:endParaRPr lang="ko-KR" sz="2200" dirty="0"/>
          </a:p>
        </p:txBody>
      </p:sp>
      <p:sp>
        <p:nvSpPr>
          <p:cNvPr id="6" name="S18-chip167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걸러진 물에 아무것도 없다고 생각하기</a:t>
            </a:r>
            <a:endParaRPr lang="ko-KR" sz="2000" dirty="0"/>
          </a:p>
        </p:txBody>
      </p:sp>
      <p:sp>
        <p:nvSpPr>
          <p:cNvPr id="7" name="S18-text168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8-text169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철 클립과 모래를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나누는 도구는?</a:t>
            </a:r>
            <a:endParaRPr lang="ko-KR" sz="2200" dirty="0"/>
          </a:p>
        </p:txBody>
      </p:sp>
      <p:sp>
        <p:nvSpPr>
          <p:cNvPr id="9" name="S18-text170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물에 녹지 않는 흙을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나누는 방법은?</a:t>
            </a:r>
            <a:endParaRPr lang="ko-KR" sz="2200" dirty="0"/>
          </a:p>
        </p:txBody>
      </p:sp>
      <p:sp>
        <p:nvSpPr>
          <p:cNvPr id="10" name="S18-text171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바닷물에서 소금을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얻는 방법은?</a:t>
            </a:r>
            <a:endParaRPr lang="ko-KR" sz="2200" dirty="0"/>
          </a:p>
        </p:txBody>
      </p:sp>
      <p:sp>
        <p:nvSpPr>
          <p:cNvPr id="11" name="S18-text17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우리 몸의 기관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녹는 것과 붙는 것</a:t>
            </a:r>
            <a:endParaRPr lang="ko-KR" sz="4000" dirty="0"/>
          </a:p>
        </p:txBody>
      </p:sp>
      <p:sp>
        <p:nvSpPr>
          <p:cNvPr id="3" name="S19-text1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해 보고 나눠 봐요.</a:t>
            </a:r>
            <a:endParaRPr lang="ko-KR" sz="2800" dirty="0"/>
          </a:p>
        </p:txBody>
      </p:sp>
      <p:sp>
        <p:nvSpPr>
          <p:cNvPr id="4" name="S19-card1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9-cardtext1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물에 녹은 소금은 없어지지 않고 물에 섞여 있어요.</a:t>
            </a:r>
            <a:endParaRPr lang="ko-KR" sz="2800" dirty="0"/>
          </a:p>
        </p:txBody>
      </p:sp>
      <p:sp>
        <p:nvSpPr>
          <p:cNvPr id="6" name="S19-card176"/>
          <p:cNvSpPr/>
          <p:nvPr/>
        </p:nvSpPr>
        <p:spPr>
          <a:xfrm>
            <a:off x="548640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9-cardtext177"/>
          <p:cNvSpPr txBox="1"/>
          <p:nvPr/>
        </p:nvSpPr>
        <p:spPr>
          <a:xfrm>
            <a:off x="822960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물에 녹아요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소금, 설탕</a:t>
            </a:r>
            <a:endParaRPr lang="ko-KR" sz="2800" dirty="0"/>
          </a:p>
        </p:txBody>
      </p:sp>
      <p:sp>
        <p:nvSpPr>
          <p:cNvPr id="8" name="S19-card178"/>
          <p:cNvSpPr/>
          <p:nvPr/>
        </p:nvSpPr>
        <p:spPr>
          <a:xfrm>
            <a:off x="6208776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9-cardtext179"/>
          <p:cNvSpPr txBox="1"/>
          <p:nvPr/>
        </p:nvSpPr>
        <p:spPr>
          <a:xfrm>
            <a:off x="6483096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물에 녹지 않아요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모래, 흙, 밀가루</a:t>
            </a:r>
            <a:endParaRPr lang="ko-KR" sz="2800" dirty="0"/>
          </a:p>
        </p:txBody>
      </p:sp>
      <p:sp>
        <p:nvSpPr>
          <p:cNvPr id="10" name="S19-card180"/>
          <p:cNvSpPr/>
          <p:nvPr/>
        </p:nvSpPr>
        <p:spPr>
          <a:xfrm>
            <a:off x="548640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9-cardtext181"/>
          <p:cNvSpPr txBox="1"/>
          <p:nvPr/>
        </p:nvSpPr>
        <p:spPr>
          <a:xfrm>
            <a:off x="822960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자석에 붙어요</a:t>
            </a:r>
            <a:endParaRPr lang="ko-KR" sz="2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철로 만든 물체</a:t>
            </a:r>
            <a:endParaRPr lang="ko-KR" sz="2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(클립, 못)</a:t>
            </a:r>
            <a:endParaRPr lang="ko-KR" sz="2200" dirty="0"/>
          </a:p>
        </p:txBody>
      </p:sp>
      <p:sp>
        <p:nvSpPr>
          <p:cNvPr id="12" name="S19-card182"/>
          <p:cNvSpPr/>
          <p:nvPr/>
        </p:nvSpPr>
        <p:spPr>
          <a:xfrm>
            <a:off x="6208776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9-cardtext183"/>
          <p:cNvSpPr txBox="1"/>
          <p:nvPr/>
        </p:nvSpPr>
        <p:spPr>
          <a:xfrm>
            <a:off x="6483096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자석에 붙지 않아요</a:t>
            </a:r>
            <a:endParaRPr lang="ko-KR" sz="2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알루미늄, 플라스틱,</a:t>
            </a:r>
            <a:endParaRPr lang="ko-KR" sz="2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과학 혼합물의 분리</dc:title>
  <dc:subject>KR22-G05-SCI-SEPARATE-L01</dc:subject>
  <dc:creator>education-ppt</dc:creator>
  <cp:lastModifiedBy>education-ppt</cp:lastModifiedBy>
  <cp:revision>1</cp:revision>
  <dcterms:created xsi:type="dcterms:W3CDTF">2026-10-26T13:44:16Z</dcterms:created>
  <dcterms:modified xsi:type="dcterms:W3CDTF">2026-10-26T13:44:16Z</dcterms:modified>
</cp:coreProperties>
</file>