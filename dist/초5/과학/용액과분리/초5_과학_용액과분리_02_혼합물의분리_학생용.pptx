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84fb70a-3cd8-5182-01e4-1d1a17476a7d}">
          <p14:sldIdLst>
            <p14:sldId id="256"/>
            <p14:sldId id="257"/>
          </p14:sldIdLst>
        </p14:section>
        <p14:section name="개념" id="{95dd7a32-13ee-4da9-f4a3-3e9fa4188f76}">
          <p14:sldIdLst>
            <p14:sldId id="258"/>
            <p14:sldId id="262"/>
            <p14:sldId id="267"/>
          </p14:sldIdLst>
        </p14:section>
        <p14:section name="연습" id="{8d6716c1-c61a-9f59-bf1b-9a671d2bb820}">
          <p14:sldIdLst>
            <p14:sldId id="259"/>
            <p14:sldId id="260"/>
            <p14:sldId id="261"/>
            <p14:sldId id="263"/>
            <p14:sldId id="264"/>
            <p14:sldId id="265"/>
            <p14:sldId id="266"/>
            <p14:sldId id="268"/>
            <p14:sldId id="269"/>
          </p14:sldIdLst>
        </p14:section>
        <p14:section name="개념" id="{b1430221-fb8c-71f7-8646-579fc4e2c8bb}">
          <p14:sldIdLst/>
        </p14:section>
        <p14:section name="연습" id="{2cdc6558-259a-5965-122a-b1bee289d05b}">
          <p14:sldIdLst/>
        </p14:section>
        <p14:section name="개념" id="{381a526b-199c-3f6d-7978-621db6ec9f79}">
          <p14:sldIdLst/>
        </p14:section>
        <p14:section name="연습" id="{3cc9f2f4-cc37-903b-abc4-ae31fe69eca0}">
          <p14:sldIdLst/>
        </p14:section>
        <p14:section name="확인" id="{fe5721d1-c5b3-2c7a-d99a-e334678e108a}">
          <p14:sldIdLst>
            <p14:sldId id="270"/>
            <p14:sldId id="271"/>
          </p14:sldIdLst>
        </p14:section>
        <p14:section name="정리" id="{830071cc-0e43-e47b-e182-6996ac2cba29}">
          <p14:sldIdLst>
            <p14:sldId id="272"/>
          </p14:sldIdLst>
        </p14:section>
        <p14:section name="보충" id="{e62a85dc-eb75-58a6-b57a-72d1f51eef91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용액과분리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혼합물의 분리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혼합물의 분리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혼합물의 분리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혼합물의 분리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섞인 것을 어떻게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나눌까?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그릇에 콩, 모래 알갱이, 클립이 섞여 있는 그림"/>
          <p:cNvSpPr/>
          <p:nvPr/>
        </p:nvSpPr>
        <p:spPr>
          <a:xfrm>
            <a:off x="8010277" y="1653043"/>
            <a:ext cx="3273287" cy="1227483"/>
          </a:xfrm>
          <a:custGeom>
            <a:avLst/>
            <a:gdLst/>
            <a:ahLst/>
            <a:cxnLst/>
            <a:rect l="l" t="t" r="r" b="b"/>
            <a:pathLst>
              <a:path w="3273287" h="1227483">
                <a:moveTo>
                  <a:pt x="0" y="0"/>
                </a:moveTo>
                <a:lnTo>
                  <a:pt x="13911" y="160391"/>
                </a:lnTo>
                <a:lnTo>
                  <a:pt x="55646" y="317509"/>
                </a:lnTo>
                <a:lnTo>
                  <a:pt x="124385" y="469717"/>
                </a:lnTo>
                <a:lnTo>
                  <a:pt x="219310" y="613741"/>
                </a:lnTo>
                <a:lnTo>
                  <a:pt x="337967" y="747128"/>
                </a:lnTo>
                <a:lnTo>
                  <a:pt x="479537" y="868239"/>
                </a:lnTo>
                <a:lnTo>
                  <a:pt x="639928" y="973803"/>
                </a:lnTo>
                <a:lnTo>
                  <a:pt x="818322" y="1063000"/>
                </a:lnTo>
                <a:lnTo>
                  <a:pt x="1010627" y="1134194"/>
                </a:lnTo>
                <a:lnTo>
                  <a:pt x="1212753" y="1185748"/>
                </a:lnTo>
                <a:lnTo>
                  <a:pt x="1423062" y="1216844"/>
                </a:lnTo>
                <a:lnTo>
                  <a:pt x="1636643" y="1227483"/>
                </a:lnTo>
                <a:lnTo>
                  <a:pt x="1850225" y="1216844"/>
                </a:lnTo>
                <a:lnTo>
                  <a:pt x="2060534" y="1185748"/>
                </a:lnTo>
                <a:lnTo>
                  <a:pt x="2262660" y="1134194"/>
                </a:lnTo>
                <a:lnTo>
                  <a:pt x="2454965" y="1063000"/>
                </a:lnTo>
                <a:lnTo>
                  <a:pt x="2633359" y="973803"/>
                </a:lnTo>
                <a:lnTo>
                  <a:pt x="2793750" y="868239"/>
                </a:lnTo>
                <a:lnTo>
                  <a:pt x="2935320" y="747128"/>
                </a:lnTo>
                <a:lnTo>
                  <a:pt x="3053977" y="613741"/>
                </a:lnTo>
                <a:lnTo>
                  <a:pt x="3148902" y="469717"/>
                </a:lnTo>
                <a:lnTo>
                  <a:pt x="3217641" y="317509"/>
                </a:lnTo>
                <a:lnTo>
                  <a:pt x="3259375" y="160391"/>
                </a:lnTo>
                <a:lnTo>
                  <a:pt x="3273287" y="0"/>
                </a:lnTo>
                <a:close/>
              </a:path>
            </a:pathLst>
          </a:custGeom>
          <a:solidFill>
            <a:srgbClr val="E5E7EB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763133" y="1914906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335958" y="2160403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908783" y="1914906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090461" y="1628493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663286" y="1628493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615835" y="1767608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779499" y="1685776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10416142" y="1767608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10579807" y="1685776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9597821" y="2013105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10334310" y="2340433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024995" y="2463182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925149" y="2545014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8501270" y="1693959"/>
            <a:ext cx="409161" cy="245497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10301577" y="1653043"/>
            <a:ext cx="409161" cy="245497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21" name="S01-card1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2" name="S01-cardtext1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알갱이 크기와 자석을 이용해 혼합물을 나눠요.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녹이고 거르고 증발시켜 소금을 얻어요.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수업 기억하기</a:t>
            </a:r>
            <a:endParaRPr lang="ko-KR" sz="4000" dirty="0"/>
          </a:p>
        </p:txBody>
      </p:sp>
      <p:sp>
        <p:nvSpPr>
          <p:cNvPr id="3" name="S02-chip2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2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소금을 물에 녹이면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소금은 없어진 걸까요?</a:t>
            </a:r>
            <a:endParaRPr lang="ko-KR" sz="2800" dirty="0"/>
          </a:p>
        </p:txBody>
      </p:sp>
      <p:sp>
        <p:nvSpPr>
          <p:cNvPr id="5" name="S02-chip2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23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붙는 물체는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만들었나요?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</a:t>
            </a:r>
            <a:endParaRPr lang="ko-KR" sz="4000" dirty="0"/>
          </a:p>
        </p:txBody>
      </p:sp>
      <p:sp>
        <p:nvSpPr>
          <p:cNvPr id="3" name="S03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이상의 물질이 섞여 있는 것을 혼합물이라고 해요.</a:t>
            </a:r>
            <a:endParaRPr lang="ko-KR" sz="2800" dirty="0"/>
          </a:p>
        </p:txBody>
      </p:sp>
      <p:sp>
        <p:nvSpPr>
          <p:cNvPr id="4" name="S03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물질의 성질을 이용하면 혼합물을 나눌 수 있어요.</a:t>
            </a:r>
            <a:endParaRPr lang="ko-KR" sz="2800" dirty="0"/>
          </a:p>
        </p:txBody>
      </p:sp>
      <p:sp>
        <p:nvSpPr>
          <p:cNvPr id="6" name="S03-card2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혼합물의 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잡곡밥, 팥빙수,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김밥, 소금물</a:t>
            </a:r>
            <a:endParaRPr lang="ko-KR" sz="2800" dirty="0"/>
          </a:p>
        </p:txBody>
      </p:sp>
      <p:sp>
        <p:nvSpPr>
          <p:cNvPr id="8" name="S03-card2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3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섞여도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물질의 성질은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그대로예요.</a:t>
            </a:r>
            <a:endParaRPr lang="ko-KR" sz="2800" dirty="0"/>
          </a:p>
        </p:txBody>
      </p:sp>
      <p:sp>
        <p:nvSpPr>
          <p:cNvPr id="10" name="S03-card3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3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분리하는 까닭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물질을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얻으려고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도구: 랩으로 싼 자석, 체</a:t>
            </a:r>
            <a:endParaRPr lang="ko-KR" sz="2800" dirty="0"/>
          </a:p>
        </p:txBody>
      </p:sp>
      <p:sp>
        <p:nvSpPr>
          <p:cNvPr id="4" name="S04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5" name="S04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65379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섞인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예상(어떻게 골라낼까요?)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 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자석과 체로 나눠요</a:t>
            </a:r>
            <a:endParaRPr lang="ko-KR" sz="4000" dirty="0"/>
          </a:p>
        </p:txBody>
      </p:sp>
      <p:sp>
        <p:nvSpPr>
          <p:cNvPr id="3" name="S05-card3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자석은 휴대 전화에서 멀리 둬요. 모래를 만진 뒤 손을 씻어요.</a:t>
            </a:r>
            <a:endParaRPr lang="ko-KR" sz="2800" dirty="0"/>
          </a:p>
        </p:txBody>
      </p:sp>
      <p:sp>
        <p:nvSpPr>
          <p:cNvPr id="5" name="S05-figure39" descr="왼쪽: 비닐 랩(점선)으로 싼 막대자석. 오른쪽: 그릇 위에 올린 체(구멍이 있는 망)"/>
          <p:cNvSpPr/>
          <p:nvPr/>
        </p:nvSpPr>
        <p:spPr>
          <a:xfrm>
            <a:off x="7059996" y="2065038"/>
            <a:ext cx="541747" cy="325048"/>
          </a:xfrm>
          <a:custGeom>
            <a:avLst/>
            <a:gdLst/>
            <a:ahLst/>
            <a:cxnLst/>
            <a:rect l="l" t="t" r="r" b="b"/>
            <a:pathLst>
              <a:path w="541747" h="325048">
                <a:moveTo>
                  <a:pt x="0" y="325048"/>
                </a:moveTo>
                <a:lnTo>
                  <a:pt x="541747" y="325048"/>
                </a:lnTo>
                <a:lnTo>
                  <a:pt x="5417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5-mark40"/>
          <p:cNvSpPr/>
          <p:nvPr/>
        </p:nvSpPr>
        <p:spPr>
          <a:xfrm>
            <a:off x="7601742" y="2065038"/>
            <a:ext cx="541747" cy="325048"/>
          </a:xfrm>
          <a:custGeom>
            <a:avLst/>
            <a:gdLst/>
            <a:ahLst/>
            <a:cxnLst/>
            <a:rect l="l" t="t" r="r" b="b"/>
            <a:pathLst>
              <a:path w="541747" h="325048">
                <a:moveTo>
                  <a:pt x="0" y="325048"/>
                </a:moveTo>
                <a:lnTo>
                  <a:pt x="541747" y="325048"/>
                </a:lnTo>
                <a:lnTo>
                  <a:pt x="541747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5-mark41"/>
          <p:cNvSpPr/>
          <p:nvPr/>
        </p:nvSpPr>
        <p:spPr>
          <a:xfrm>
            <a:off x="6978734" y="1983776"/>
            <a:ext cx="1246017" cy="487572"/>
          </a:xfrm>
          <a:custGeom>
            <a:avLst/>
            <a:gdLst/>
            <a:ahLst/>
            <a:cxnLst/>
            <a:rect l="l" t="t" r="r" b="b"/>
            <a:pathLst>
              <a:path w="1246017" h="487572">
                <a:moveTo>
                  <a:pt x="0" y="487572"/>
                </a:moveTo>
                <a:lnTo>
                  <a:pt x="1246017" y="487572"/>
                </a:lnTo>
                <a:lnTo>
                  <a:pt x="1246017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8" name="S05-mark42"/>
          <p:cNvSpPr/>
          <p:nvPr/>
        </p:nvSpPr>
        <p:spPr>
          <a:xfrm>
            <a:off x="9226982" y="2281737"/>
            <a:ext cx="1733589" cy="541747"/>
          </a:xfrm>
          <a:custGeom>
            <a:avLst/>
            <a:gdLst/>
            <a:ahLst/>
            <a:cxnLst/>
            <a:rect l="l" t="t" r="r" b="b"/>
            <a:pathLst>
              <a:path w="1733589" h="541747">
                <a:moveTo>
                  <a:pt x="0" y="0"/>
                </a:moveTo>
                <a:lnTo>
                  <a:pt x="7584" y="70969"/>
                </a:lnTo>
                <a:lnTo>
                  <a:pt x="29796" y="140312"/>
                </a:lnTo>
                <a:lnTo>
                  <a:pt x="66093" y="207489"/>
                </a:lnTo>
                <a:lnTo>
                  <a:pt x="115934" y="270873"/>
                </a:lnTo>
                <a:lnTo>
                  <a:pt x="179318" y="329924"/>
                </a:lnTo>
                <a:lnTo>
                  <a:pt x="254079" y="383015"/>
                </a:lnTo>
                <a:lnTo>
                  <a:pt x="339133" y="429605"/>
                </a:lnTo>
                <a:lnTo>
                  <a:pt x="433397" y="469153"/>
                </a:lnTo>
                <a:lnTo>
                  <a:pt x="535246" y="500574"/>
                </a:lnTo>
                <a:lnTo>
                  <a:pt x="642511" y="523327"/>
                </a:lnTo>
                <a:lnTo>
                  <a:pt x="753569" y="536871"/>
                </a:lnTo>
                <a:lnTo>
                  <a:pt x="866794" y="541747"/>
                </a:lnTo>
                <a:lnTo>
                  <a:pt x="980020" y="536871"/>
                </a:lnTo>
                <a:lnTo>
                  <a:pt x="1091078" y="523327"/>
                </a:lnTo>
                <a:lnTo>
                  <a:pt x="1198343" y="500574"/>
                </a:lnTo>
                <a:lnTo>
                  <a:pt x="1300192" y="469153"/>
                </a:lnTo>
                <a:lnTo>
                  <a:pt x="1394456" y="429605"/>
                </a:lnTo>
                <a:lnTo>
                  <a:pt x="1479510" y="383015"/>
                </a:lnTo>
                <a:lnTo>
                  <a:pt x="1554271" y="329924"/>
                </a:lnTo>
                <a:lnTo>
                  <a:pt x="1617655" y="270873"/>
                </a:lnTo>
                <a:lnTo>
                  <a:pt x="1667496" y="207489"/>
                </a:lnTo>
                <a:lnTo>
                  <a:pt x="1703793" y="140312"/>
                </a:lnTo>
                <a:lnTo>
                  <a:pt x="1726005" y="70969"/>
                </a:lnTo>
                <a:lnTo>
                  <a:pt x="1733589" y="0"/>
                </a:lnTo>
                <a:close/>
              </a:path>
            </a:pathLst>
          </a:custGeom>
          <a:solidFill>
            <a:srgbClr val="E5E7EB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5-mark43"/>
          <p:cNvSpPr/>
          <p:nvPr/>
        </p:nvSpPr>
        <p:spPr>
          <a:xfrm>
            <a:off x="9416593" y="1929601"/>
            <a:ext cx="1354366" cy="460485"/>
          </a:xfrm>
          <a:custGeom>
            <a:avLst/>
            <a:gdLst/>
            <a:ahLst/>
            <a:cxnLst/>
            <a:rect l="l" t="t" r="r" b="b"/>
            <a:pathLst>
              <a:path w="1354366" h="460485">
                <a:moveTo>
                  <a:pt x="0" y="0"/>
                </a:moveTo>
                <a:lnTo>
                  <a:pt x="5959" y="60134"/>
                </a:lnTo>
                <a:lnTo>
                  <a:pt x="23295" y="119184"/>
                </a:lnTo>
                <a:lnTo>
                  <a:pt x="51466" y="176068"/>
                </a:lnTo>
                <a:lnTo>
                  <a:pt x="90472" y="230242"/>
                </a:lnTo>
                <a:lnTo>
                  <a:pt x="139771" y="280083"/>
                </a:lnTo>
                <a:lnTo>
                  <a:pt x="198279" y="325590"/>
                </a:lnTo>
                <a:lnTo>
                  <a:pt x="264914" y="365137"/>
                </a:lnTo>
                <a:lnTo>
                  <a:pt x="338592" y="398725"/>
                </a:lnTo>
                <a:lnTo>
                  <a:pt x="418228" y="425271"/>
                </a:lnTo>
                <a:lnTo>
                  <a:pt x="501657" y="444774"/>
                </a:lnTo>
                <a:lnTo>
                  <a:pt x="588879" y="456692"/>
                </a:lnTo>
                <a:lnTo>
                  <a:pt x="677183" y="460485"/>
                </a:lnTo>
                <a:lnTo>
                  <a:pt x="765488" y="456692"/>
                </a:lnTo>
                <a:lnTo>
                  <a:pt x="852709" y="444774"/>
                </a:lnTo>
                <a:lnTo>
                  <a:pt x="936138" y="425271"/>
                </a:lnTo>
                <a:lnTo>
                  <a:pt x="1015775" y="398725"/>
                </a:lnTo>
                <a:lnTo>
                  <a:pt x="1089452" y="365137"/>
                </a:lnTo>
                <a:lnTo>
                  <a:pt x="1156087" y="325590"/>
                </a:lnTo>
                <a:lnTo>
                  <a:pt x="1214596" y="280083"/>
                </a:lnTo>
                <a:lnTo>
                  <a:pt x="1263895" y="230242"/>
                </a:lnTo>
                <a:lnTo>
                  <a:pt x="1302900" y="176068"/>
                </a:lnTo>
                <a:lnTo>
                  <a:pt x="1331071" y="119184"/>
                </a:lnTo>
                <a:lnTo>
                  <a:pt x="1348407" y="60134"/>
                </a:lnTo>
                <a:lnTo>
                  <a:pt x="1354366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5-mark44"/>
          <p:cNvSpPr/>
          <p:nvPr/>
        </p:nvSpPr>
        <p:spPr>
          <a:xfrm>
            <a:off x="9687466" y="1929601"/>
            <a:ext cx="0" cy="368388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1" name="S05-mark45"/>
          <p:cNvSpPr/>
          <p:nvPr/>
        </p:nvSpPr>
        <p:spPr>
          <a:xfrm>
            <a:off x="9958340" y="1929601"/>
            <a:ext cx="0" cy="451275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2" name="S05-mark46"/>
          <p:cNvSpPr/>
          <p:nvPr/>
        </p:nvSpPr>
        <p:spPr>
          <a:xfrm>
            <a:off x="10229213" y="1929601"/>
            <a:ext cx="0" cy="451275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3" name="S05-mark47"/>
          <p:cNvSpPr/>
          <p:nvPr/>
        </p:nvSpPr>
        <p:spPr>
          <a:xfrm>
            <a:off x="10500086" y="1929601"/>
            <a:ext cx="0" cy="368388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4" name="S05-mark48"/>
          <p:cNvSpPr/>
          <p:nvPr/>
        </p:nvSpPr>
        <p:spPr>
          <a:xfrm>
            <a:off x="9577492" y="2227562"/>
            <a:ext cx="1032569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5" name="S05-mark49"/>
          <p:cNvSpPr/>
          <p:nvPr/>
        </p:nvSpPr>
        <p:spPr>
          <a:xfrm>
            <a:off x="9451807" y="2075873"/>
            <a:ext cx="1283939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6" name="S05-mark50"/>
          <p:cNvSpPr/>
          <p:nvPr/>
        </p:nvSpPr>
        <p:spPr>
          <a:xfrm>
            <a:off x="9416593" y="1929601"/>
            <a:ext cx="135436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7" name="S05-mark51"/>
          <p:cNvSpPr/>
          <p:nvPr/>
        </p:nvSpPr>
        <p:spPr>
          <a:xfrm flipV="1">
            <a:off x="10770959" y="1767077"/>
            <a:ext cx="731358" cy="162524"/>
          </a:xfrm>
          <a:prstGeom prst="line">
            <a:avLst/>
          </a:prstGeom>
          <a:noFill/>
          <a:ln w="63500">
            <a:solidFill>
              <a:srgbClr val="4B5563"/>
            </a:solidFill>
            <a:prstDash val="solid"/>
          </a:ln>
        </p:spPr>
      </p:sp>
      <p:sp>
        <p:nvSpPr>
          <p:cNvPr id="18" name="S05-label53"/>
          <p:cNvSpPr txBox="1"/>
          <p:nvPr/>
        </p:nvSpPr>
        <p:spPr>
          <a:xfrm>
            <a:off x="7273066" y="148410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</a:t>
            </a:r>
            <a:endParaRPr lang="ko-KR" sz="2200" dirty="0"/>
          </a:p>
        </p:txBody>
      </p:sp>
      <p:sp>
        <p:nvSpPr>
          <p:cNvPr id="19" name="S05-label55"/>
          <p:cNvSpPr txBox="1"/>
          <p:nvPr/>
        </p:nvSpPr>
        <p:spPr>
          <a:xfrm>
            <a:off x="9902006" y="145701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</a:t>
            </a:r>
            <a:endParaRPr lang="ko-KR" sz="2200" dirty="0"/>
          </a:p>
        </p:txBody>
      </p:sp>
      <p:sp>
        <p:nvSpPr>
          <p:cNvPr id="20" name="S05-card56"/>
          <p:cNvSpPr/>
          <p:nvPr/>
        </p:nvSpPr>
        <p:spPr>
          <a:xfrm>
            <a:off x="6813652" y="3195320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5-cardtext57"/>
          <p:cNvSpPr txBox="1"/>
          <p:nvPr/>
        </p:nvSpPr>
        <p:spPr>
          <a:xfrm>
            <a:off x="7087972" y="3332480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자석에 붙은 것을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체 위·아래를 봐요</a:t>
            </a:r>
            <a:endParaRPr lang="ko-KR" sz="2800" dirty="0"/>
          </a:p>
        </p:txBody>
      </p:sp>
      <p:sp>
        <p:nvSpPr>
          <p:cNvPr id="22" name="S05-stepno58"/>
          <p:cNvSpPr txBox="1"/>
          <p:nvPr/>
        </p:nvSpPr>
        <p:spPr>
          <a:xfrm>
            <a:off x="548640" y="1494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3" name="S05-text59"/>
          <p:cNvSpPr txBox="1"/>
          <p:nvPr/>
        </p:nvSpPr>
        <p:spPr>
          <a:xfrm>
            <a:off x="1325880" y="144881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랩으로 싼 자석을 혼합물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위로 천천히 움직여요.</a:t>
            </a:r>
            <a:endParaRPr lang="ko-KR" sz="2200" dirty="0"/>
          </a:p>
        </p:txBody>
      </p:sp>
      <p:sp>
        <p:nvSpPr>
          <p:cNvPr id="24" name="S05-stepno60"/>
          <p:cNvSpPr txBox="1"/>
          <p:nvPr/>
        </p:nvSpPr>
        <p:spPr>
          <a:xfrm>
            <a:off x="548640" y="2340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05-text61"/>
          <p:cNvSpPr txBox="1"/>
          <p:nvPr/>
        </p:nvSpPr>
        <p:spPr>
          <a:xfrm>
            <a:off x="1325880" y="229514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붙은 것을 랩째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그릇에 떼어 내요.</a:t>
            </a:r>
            <a:endParaRPr lang="ko-KR" sz="2200" dirty="0"/>
          </a:p>
        </p:txBody>
      </p:sp>
      <p:sp>
        <p:nvSpPr>
          <p:cNvPr id="26" name="S05-stepno62"/>
          <p:cNvSpPr txBox="1"/>
          <p:nvPr/>
        </p:nvSpPr>
        <p:spPr>
          <a:xfrm>
            <a:off x="548640" y="3187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7" name="S05-text63"/>
          <p:cNvSpPr txBox="1"/>
          <p:nvPr/>
        </p:nvSpPr>
        <p:spPr>
          <a:xfrm>
            <a:off x="1325880" y="3141472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것을 체에 붓고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살살 흔들어요.</a:t>
            </a:r>
            <a:endParaRPr lang="ko-KR" sz="2200" dirty="0"/>
          </a:p>
        </p:txBody>
      </p:sp>
      <p:sp>
        <p:nvSpPr>
          <p:cNvPr id="28" name="S05-stepno64"/>
          <p:cNvSpPr txBox="1"/>
          <p:nvPr/>
        </p:nvSpPr>
        <p:spPr>
          <a:xfrm>
            <a:off x="548640" y="4033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9" name="S05-text65"/>
          <p:cNvSpPr txBox="1"/>
          <p:nvPr/>
        </p:nvSpPr>
        <p:spPr>
          <a:xfrm>
            <a:off x="1325880" y="3987800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무엇이 남았는지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6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6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도구로 나눌 수 있었을까요?</a:t>
            </a:r>
            <a:endParaRPr lang="ko-KR" sz="2800" dirty="0"/>
          </a:p>
        </p:txBody>
      </p:sp>
      <p:graphicFrame>
        <p:nvGraphicFramePr>
          <p:cNvPr id="7" name="S06-table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40233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섞인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쓴 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남은 곳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 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성질을 이용해 나눠요</a:t>
            </a:r>
            <a:endParaRPr lang="ko-KR" sz="4000" dirty="0"/>
          </a:p>
        </p:txBody>
      </p:sp>
      <p:sp>
        <p:nvSpPr>
          <p:cNvPr id="3" name="S07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물질의 성질에 맞는 방법으로 분리해요.</a:t>
            </a:r>
            <a:endParaRPr lang="ko-KR" sz="2800" dirty="0"/>
          </a:p>
        </p:txBody>
      </p:sp>
      <p:sp>
        <p:nvSpPr>
          <p:cNvPr id="4" name="S07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섞인 물질 사이에 다른 성질을 찾아요.</a:t>
            </a:r>
            <a:endParaRPr lang="ko-KR" sz="2800" dirty="0"/>
          </a:p>
        </p:txBody>
      </p:sp>
      <p:graphicFrame>
        <p:nvGraphicFramePr>
          <p:cNvPr id="8" name="S07-table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42062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혼합물의 성질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분리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 속 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알갱이 크기가 달라요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공사장 모래와 자갈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자석에 붙는 것이 있어요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재활용 센터의 철 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상자에 철 캔과 알루미늄 캔이 섞여 있어요.</a:t>
            </a:r>
            <a:endParaRPr lang="ko-KR" sz="2800" dirty="0"/>
          </a:p>
        </p:txBody>
      </p:sp>
      <p:sp>
        <p:nvSpPr>
          <p:cNvPr id="5" name="S08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8-chip7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7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금속이니까 자석에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붙어서 골라져요.</a:t>
            </a:r>
            <a:endParaRPr lang="ko-KR" sz="2800" dirty="0"/>
          </a:p>
        </p:txBody>
      </p:sp>
      <p:sp>
        <p:nvSpPr>
          <p:cNvPr id="9" name="S08-chip8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8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 캔만 붙어요. 그래서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캔을 나눌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9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소금과 모래가 섞인 것에 물을 부어 저어요.</a:t>
            </a:r>
            <a:endParaRPr lang="ko-KR" sz="2800" dirty="0"/>
          </a:p>
        </p:txBody>
      </p:sp>
      <p:sp>
        <p:nvSpPr>
          <p:cNvPr id="4" name="S09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10" name="S09-table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저은 뒤 소금은?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 필터 위에 남는 것은?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거른 물을 말리면?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녹이고 거르고 말려요</a:t>
            </a:r>
            <a:endParaRPr lang="ko-KR" sz="4000" dirty="0"/>
          </a:p>
        </p:txBody>
      </p:sp>
      <p:sp>
        <p:nvSpPr>
          <p:cNvPr id="3" name="S10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거른 물은 맛보지 않아요. 드라이어는 어른이 써요.</a:t>
            </a:r>
            <a:endParaRPr lang="ko-KR" sz="2800" dirty="0"/>
          </a:p>
        </p:txBody>
      </p:sp>
      <p:sp>
        <p:nvSpPr>
          <p:cNvPr id="5" name="S10-figure88" descr="빈 컵 위에 원뿔 모양으로 편 커피 필터를 얹은 거름 장치"/>
          <p:cNvSpPr/>
          <p:nvPr/>
        </p:nvSpPr>
        <p:spPr>
          <a:xfrm>
            <a:off x="7591340" y="2090217"/>
            <a:ext cx="1229734" cy="1120851"/>
          </a:xfrm>
          <a:custGeom>
            <a:avLst/>
            <a:gdLst/>
            <a:ahLst/>
            <a:cxnLst/>
            <a:rect l="l" t="t" r="r" b="b"/>
            <a:pathLst>
              <a:path w="1229734" h="1120851">
                <a:moveTo>
                  <a:pt x="0" y="0"/>
                </a:moveTo>
                <a:lnTo>
                  <a:pt x="134502" y="1120851"/>
                </a:lnTo>
                <a:lnTo>
                  <a:pt x="1095232" y="1120851"/>
                </a:lnTo>
                <a:lnTo>
                  <a:pt x="1229734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0-mark89"/>
          <p:cNvSpPr/>
          <p:nvPr/>
        </p:nvSpPr>
        <p:spPr>
          <a:xfrm>
            <a:off x="7525690" y="1449730"/>
            <a:ext cx="1361034" cy="880669"/>
          </a:xfrm>
          <a:custGeom>
            <a:avLst/>
            <a:gdLst/>
            <a:ahLst/>
            <a:cxnLst/>
            <a:rect l="l" t="t" r="r" b="b"/>
            <a:pathLst>
              <a:path w="1361034" h="880669">
                <a:moveTo>
                  <a:pt x="0" y="0"/>
                </a:moveTo>
                <a:lnTo>
                  <a:pt x="1361034" y="0"/>
                </a:lnTo>
                <a:lnTo>
                  <a:pt x="840638" y="880669"/>
                </a:lnTo>
                <a:lnTo>
                  <a:pt x="520395" y="880669"/>
                </a:lnTo>
                <a:close/>
              </a:path>
            </a:pathLst>
          </a:custGeom>
          <a:solidFill>
            <a:srgbClr val="FFF7E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0-mark90"/>
          <p:cNvSpPr/>
          <p:nvPr/>
        </p:nvSpPr>
        <p:spPr>
          <a:xfrm flipH="1">
            <a:off x="8646541" y="1769974"/>
            <a:ext cx="36027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8" name="S10-mark91"/>
          <p:cNvSpPr/>
          <p:nvPr/>
        </p:nvSpPr>
        <p:spPr>
          <a:xfrm flipH="1">
            <a:off x="8766632" y="2730703"/>
            <a:ext cx="24018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9" name="S10-label93"/>
          <p:cNvSpPr txBox="1"/>
          <p:nvPr/>
        </p:nvSpPr>
        <p:spPr>
          <a:xfrm>
            <a:off x="9086875" y="1595349"/>
            <a:ext cx="12887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 필터</a:t>
            </a:r>
            <a:endParaRPr lang="ko-KR" sz="2200" dirty="0"/>
          </a:p>
        </p:txBody>
      </p:sp>
      <p:sp>
        <p:nvSpPr>
          <p:cNvPr id="10" name="S10-label95"/>
          <p:cNvSpPr txBox="1"/>
          <p:nvPr/>
        </p:nvSpPr>
        <p:spPr>
          <a:xfrm>
            <a:off x="9086875" y="2556078"/>
            <a:ext cx="74117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컵</a:t>
            </a:r>
            <a:endParaRPr lang="ko-KR" sz="2200" dirty="0"/>
          </a:p>
        </p:txBody>
      </p:sp>
      <p:sp>
        <p:nvSpPr>
          <p:cNvPr id="11" name="S10-card96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0-cardtext97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필터 위에 남은 것을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말린 뒤 접시를 봐요</a:t>
            </a:r>
            <a:endParaRPr lang="ko-KR" sz="2800" dirty="0"/>
          </a:p>
        </p:txBody>
      </p:sp>
      <p:sp>
        <p:nvSpPr>
          <p:cNvPr id="13" name="S10-stepno98"/>
          <p:cNvSpPr txBox="1"/>
          <p:nvPr/>
        </p:nvSpPr>
        <p:spPr>
          <a:xfrm>
            <a:off x="548640" y="1658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0-text99"/>
          <p:cNvSpPr txBox="1"/>
          <p:nvPr/>
        </p:nvSpPr>
        <p:spPr>
          <a:xfrm>
            <a:off x="1325880" y="1612900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혼합물에 물을 붓고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소금이 녹을 때까지 저어요.</a:t>
            </a:r>
            <a:endParaRPr lang="ko-KR" sz="2200" dirty="0"/>
          </a:p>
        </p:txBody>
      </p:sp>
      <p:sp>
        <p:nvSpPr>
          <p:cNvPr id="15" name="S10-stepno100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10-text101"/>
          <p:cNvSpPr txBox="1"/>
          <p:nvPr/>
        </p:nvSpPr>
        <p:spPr>
          <a:xfrm>
            <a:off x="1325880" y="245922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 필터를 얹은 컵에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부어요.</a:t>
            </a:r>
            <a:endParaRPr lang="ko-KR" sz="2200" dirty="0"/>
          </a:p>
        </p:txBody>
      </p:sp>
      <p:sp>
        <p:nvSpPr>
          <p:cNvPr id="17" name="S10-stepno102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8" name="S10-text103"/>
          <p:cNvSpPr txBox="1"/>
          <p:nvPr/>
        </p:nvSpPr>
        <p:spPr>
          <a:xfrm>
            <a:off x="1325880" y="330555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위와 거른 물을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살펴요.</a:t>
            </a:r>
            <a:endParaRPr lang="ko-KR" sz="2200" dirty="0"/>
          </a:p>
        </p:txBody>
      </p:sp>
      <p:sp>
        <p:nvSpPr>
          <p:cNvPr id="19" name="S10-stepno104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0" name="S10-text105"/>
          <p:cNvSpPr txBox="1"/>
          <p:nvPr/>
        </p:nvSpPr>
        <p:spPr>
          <a:xfrm>
            <a:off x="1325880" y="415188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거른 물 몇 방울을 어두운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접시에 떨어뜨려 말려요.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1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11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소금과 모래는 어디로 갔나요?</a:t>
            </a:r>
            <a:endParaRPr lang="ko-KR" sz="2800" dirty="0"/>
          </a:p>
        </p:txBody>
      </p:sp>
      <p:graphicFrame>
        <p:nvGraphicFramePr>
          <p:cNvPr id="12" name="S11-table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물에 넣고 저은 뒤 소금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 필터 위에 남은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거른 물의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물방울이 마른 뒤 접시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녹이고, 거르고, 증발시켜요</a:t>
            </a:r>
            <a:endParaRPr lang="ko-KR" sz="4000" dirty="0"/>
          </a:p>
        </p:txBody>
      </p:sp>
      <p:sp>
        <p:nvSpPr>
          <p:cNvPr id="3" name="S12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녹는 성질이 다른 소금과 모래는 이렇게 나눠요.</a:t>
            </a:r>
            <a:endParaRPr lang="ko-KR" sz="2800" dirty="0"/>
          </a:p>
        </p:txBody>
      </p:sp>
      <p:sp>
        <p:nvSpPr>
          <p:cNvPr id="4" name="S12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염전에서는 바닷물을 증발시켜 소금을 얻어요.</a:t>
            </a:r>
            <a:endParaRPr lang="ko-KR" sz="2800" dirty="0"/>
          </a:p>
        </p:txBody>
      </p:sp>
      <p:sp>
        <p:nvSpPr>
          <p:cNvPr id="6" name="S12-step113"/>
          <p:cNvSpPr txBox="1"/>
          <p:nvPr/>
        </p:nvSpPr>
        <p:spPr>
          <a:xfrm>
            <a:off x="548640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소금과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</a:t>
            </a:r>
            <a:endParaRPr lang="ko-KR" sz="2200" dirty="0"/>
          </a:p>
        </p:txBody>
      </p:sp>
      <p:sp>
        <p:nvSpPr>
          <p:cNvPr id="7" name="S12-line114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2-step115"/>
          <p:cNvSpPr txBox="1"/>
          <p:nvPr/>
        </p:nvSpPr>
        <p:spPr>
          <a:xfrm>
            <a:off x="3424428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녹여요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(소금이 녹음)</a:t>
            </a:r>
            <a:endParaRPr lang="ko-KR" sz="2200" dirty="0"/>
          </a:p>
        </p:txBody>
      </p:sp>
      <p:sp>
        <p:nvSpPr>
          <p:cNvPr id="9" name="S12-line116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2-step117"/>
          <p:cNvSpPr txBox="1"/>
          <p:nvPr/>
        </p:nvSpPr>
        <p:spPr>
          <a:xfrm>
            <a:off x="6300216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걸러요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(모래가 남음)</a:t>
            </a:r>
            <a:endParaRPr lang="ko-KR" sz="2200" dirty="0"/>
          </a:p>
        </p:txBody>
      </p:sp>
      <p:sp>
        <p:nvSpPr>
          <p:cNvPr id="11" name="S12-line118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2-step119"/>
          <p:cNvSpPr txBox="1"/>
          <p:nvPr/>
        </p:nvSpPr>
        <p:spPr>
          <a:xfrm>
            <a:off x="9176004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증발시켜요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(소금이 남음)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1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 필터로 거른 물이 맑아요.</a:t>
            </a:r>
            <a:endParaRPr lang="ko-KR" sz="2800" dirty="0"/>
          </a:p>
        </p:txBody>
      </p:sp>
      <p:sp>
        <p:nvSpPr>
          <p:cNvPr id="5" name="S13-card1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1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3-chip12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3-text12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맑으니까 물만 있고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소금은 걸러졌어요.</a:t>
            </a:r>
            <a:endParaRPr lang="ko-KR" sz="2800" dirty="0"/>
          </a:p>
        </p:txBody>
      </p:sp>
      <p:sp>
        <p:nvSpPr>
          <p:cNvPr id="9" name="S13-chip1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3-text12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소금이 녹은 채로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필터를 지나갔어요.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나눌까요?</a:t>
            </a:r>
            <a:endParaRPr lang="ko-KR" sz="4000" dirty="0"/>
          </a:p>
        </p:txBody>
      </p:sp>
      <p:sp>
        <p:nvSpPr>
          <p:cNvPr id="3" name="S14-text1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성질을 찾고, 분리 방법과 까닭을 말해요.</a:t>
            </a:r>
            <a:endParaRPr lang="ko-KR" sz="2800" dirty="0"/>
          </a:p>
        </p:txBody>
      </p:sp>
      <p:sp>
        <p:nvSpPr>
          <p:cNvPr id="4" name="S14-card1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1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달라요? 자석에 붙어요? 물에 녹아요?</a:t>
            </a:r>
            <a:endParaRPr lang="ko-KR" sz="2800" dirty="0"/>
          </a:p>
        </p:txBody>
      </p:sp>
      <p:sp>
        <p:nvSpPr>
          <p:cNvPr id="6" name="S14-chip13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4-text13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 못과 나무 구슬</a:t>
            </a:r>
            <a:endParaRPr lang="ko-KR" sz="2800" dirty="0"/>
          </a:p>
        </p:txBody>
      </p:sp>
      <p:sp>
        <p:nvSpPr>
          <p:cNvPr id="8" name="S14-chip13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4-text13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콩과 좁쌀</a:t>
            </a:r>
            <a:endParaRPr lang="ko-KR" sz="2800" dirty="0"/>
          </a:p>
        </p:txBody>
      </p:sp>
      <p:sp>
        <p:nvSpPr>
          <p:cNvPr id="10" name="S14-chip13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4-text13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흙탕물에 섞인 흙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5-chip1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5-text13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모래와 자갈을 나누는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방법과 까닭은?</a:t>
            </a:r>
            <a:endParaRPr lang="ko-KR" sz="2800" dirty="0"/>
          </a:p>
        </p:txBody>
      </p:sp>
      <p:sp>
        <p:nvSpPr>
          <p:cNvPr id="5" name="S15-chip13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5-text14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모래에 섞인 쇳가루를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방법은?</a:t>
            </a:r>
            <a:endParaRPr lang="ko-KR" sz="2800" dirty="0"/>
          </a:p>
        </p:txBody>
      </p:sp>
      <p:sp>
        <p:nvSpPr>
          <p:cNvPr id="7" name="S15-chip14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5-text142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소금과 흙이 섞였어요.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소금을 얻는 순서는?</a:t>
            </a:r>
            <a:endParaRPr lang="ko-KR" sz="2800" dirty="0"/>
          </a:p>
        </p:txBody>
      </p:sp>
      <p:sp>
        <p:nvSpPr>
          <p:cNvPr id="9" name="S15-chip143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5-text144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흙탕물을 거르면 필터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 남는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염전은 어떻게 소금을 얻을까요?</a:t>
            </a:r>
            <a:endParaRPr lang="ko-KR" sz="4000" dirty="0"/>
          </a:p>
        </p:txBody>
      </p:sp>
      <p:sp>
        <p:nvSpPr>
          <p:cNvPr id="3" name="S17-text1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염전에서는 바닷물을 넓은 바닥에 가두어 소금을 얻어요.</a:t>
            </a:r>
            <a:endParaRPr lang="ko-KR" sz="2800" dirty="0"/>
          </a:p>
        </p:txBody>
      </p:sp>
      <p:sp>
        <p:nvSpPr>
          <p:cNvPr id="4" name="S17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7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2800" dirty="0"/>
          </a:p>
        </p:txBody>
      </p:sp>
      <p:sp>
        <p:nvSpPr>
          <p:cNvPr id="6" name="S17-chip14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7-card14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7-cardtext15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체로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바닷물을 걸러요.</a:t>
            </a:r>
            <a:endParaRPr lang="ko-KR" sz="2800" dirty="0"/>
          </a:p>
        </p:txBody>
      </p:sp>
      <p:sp>
        <p:nvSpPr>
          <p:cNvPr id="9" name="S17-chip15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7-card15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7-cardtext15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자석을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바닷물에 넣어요.</a:t>
            </a:r>
            <a:endParaRPr lang="ko-KR" sz="2800" dirty="0"/>
          </a:p>
        </p:txBody>
      </p:sp>
      <p:sp>
        <p:nvSpPr>
          <p:cNvPr id="12" name="S17-chip15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7-card15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7-cardtext15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햇볕과 바람으로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증발시켜요.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8-card15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8-cardtext15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혼합물은 크기·자석·녹는 성질처럼 다른 성질을 이용해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체·자석·거름·증발로 분리해요.</a:t>
            </a:r>
            <a:endParaRPr lang="ko-KR" sz="2800" dirty="0"/>
          </a:p>
        </p:txBody>
      </p:sp>
      <p:sp>
        <p:nvSpPr>
          <p:cNvPr id="5" name="S18-chip15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성질부터 찾기</a:t>
            </a:r>
            <a:endParaRPr lang="ko-KR" sz="2200" dirty="0"/>
          </a:p>
        </p:txBody>
      </p:sp>
      <p:sp>
        <p:nvSpPr>
          <p:cNvPr id="6" name="S18-chip16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걸러진 물에 아무것도 없다고 생각하기</a:t>
            </a:r>
            <a:endParaRPr lang="ko-KR" sz="2000" dirty="0"/>
          </a:p>
        </p:txBody>
      </p:sp>
      <p:sp>
        <p:nvSpPr>
          <p:cNvPr id="7" name="S18-text16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8-text16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철 클립과 모래를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도구는?</a:t>
            </a:r>
            <a:endParaRPr lang="ko-KR" sz="2200" dirty="0"/>
          </a:p>
        </p:txBody>
      </p:sp>
      <p:sp>
        <p:nvSpPr>
          <p:cNvPr id="9" name="S18-text16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물에 녹지 않는 흙을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방법은?</a:t>
            </a:r>
            <a:endParaRPr lang="ko-KR" sz="2200" dirty="0"/>
          </a:p>
        </p:txBody>
      </p:sp>
      <p:sp>
        <p:nvSpPr>
          <p:cNvPr id="10" name="S18-text16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바닷물에서 소금을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얻는 방법은?</a:t>
            </a:r>
            <a:endParaRPr lang="ko-KR" sz="2200" dirty="0"/>
          </a:p>
        </p:txBody>
      </p:sp>
      <p:sp>
        <p:nvSpPr>
          <p:cNvPr id="11" name="S18-text16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우리 몸의 기관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녹는 것과 붙는 것</a:t>
            </a:r>
            <a:endParaRPr lang="ko-KR" sz="4000" dirty="0"/>
          </a:p>
        </p:txBody>
      </p:sp>
      <p:sp>
        <p:nvSpPr>
          <p:cNvPr id="3" name="S19-text1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해 보고 나눠 봐요.</a:t>
            </a:r>
            <a:endParaRPr lang="ko-KR" sz="2800" dirty="0"/>
          </a:p>
        </p:txBody>
      </p:sp>
      <p:sp>
        <p:nvSpPr>
          <p:cNvPr id="4" name="S19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9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녹은 소금은 없어지지 않고 물에 섞여 있어요.</a:t>
            </a:r>
            <a:endParaRPr lang="ko-KR" sz="2800" dirty="0"/>
          </a:p>
        </p:txBody>
      </p:sp>
      <p:sp>
        <p:nvSpPr>
          <p:cNvPr id="6" name="S19-card169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9-cardtext170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소금, 설탕</a:t>
            </a:r>
            <a:endParaRPr lang="ko-KR" sz="2800" dirty="0"/>
          </a:p>
        </p:txBody>
      </p:sp>
      <p:sp>
        <p:nvSpPr>
          <p:cNvPr id="8" name="S19-card171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9-cardtext172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모래, 흙, 밀가루</a:t>
            </a:r>
            <a:endParaRPr lang="ko-KR" sz="2800" dirty="0"/>
          </a:p>
        </p:txBody>
      </p:sp>
      <p:sp>
        <p:nvSpPr>
          <p:cNvPr id="10" name="S19-card173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9-cardtext174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붙어요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철로 만든 물체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(클립, 못)</a:t>
            </a:r>
            <a:endParaRPr lang="ko-KR" sz="2200" dirty="0"/>
          </a:p>
        </p:txBody>
      </p:sp>
      <p:sp>
        <p:nvSpPr>
          <p:cNvPr id="12" name="S19-card175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9-cardtext176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붙지 않아요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알루미늄, 플라스틱,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혼합물의 분리</dc:title>
  <dc:subject>KR22-G05-SCI-SEPARATE-L01</dc:subject>
  <dc:creator>education-ppt</dc:creator>
  <cp:lastModifiedBy>education-ppt</cp:lastModifiedBy>
  <cp:revision>1</cp:revision>
  <dcterms:created xsi:type="dcterms:W3CDTF">2026-10-26T13:44:55Z</dcterms:created>
  <dcterms:modified xsi:type="dcterms:W3CDTF">2026-10-26T13:44:55Z</dcterms:modified>
</cp:coreProperties>
</file>