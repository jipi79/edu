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d7dea54-5772-ea61-d6a7-807e356bfaf5}">
          <p14:sldIdLst>
            <p14:sldId id="256"/>
            <p14:sldId id="257"/>
          </p14:sldIdLst>
        </p14:section>
        <p14:section name="개념" id="{bf788dae-9ae6-5fa4-e3b5-81f831b9e023}">
          <p14:sldIdLst>
            <p14:sldId id="258"/>
            <p14:sldId id="262"/>
            <p14:sldId id="267"/>
          </p14:sldIdLst>
        </p14:section>
        <p14:section name="연습" id="{0198654b-38c0-2b88-fa91-2d33500c4da3}">
          <p14:sldIdLst>
            <p14:sldId id="259"/>
            <p14:sldId id="260"/>
            <p14:sldId id="261"/>
            <p14:sldId id="263"/>
            <p14:sldId id="264"/>
            <p14:sldId id="265"/>
            <p14:sldId id="266"/>
            <p14:sldId id="268"/>
            <p14:sldId id="269"/>
          </p14:sldIdLst>
        </p14:section>
        <p14:section name="개념" id="{8344dfd5-f3f7-2353-0ab2-218294a1d530}">
          <p14:sldIdLst/>
        </p14:section>
        <p14:section name="연습" id="{3bfc2c98-38ae-8555-5280-8691d0afe821}">
          <p14:sldIdLst/>
        </p14:section>
        <p14:section name="개념" id="{0b043c10-6498-6e87-1d7c-ff836feab7a7}">
          <p14:sldIdLst/>
        </p14:section>
        <p14:section name="연습" id="{4b123e07-6d07-6812-f3cc-e6f08b1795ed}">
          <p14:sldIdLst/>
        </p14:section>
        <p14:section name="확인" id="{54621683-49b2-ccd6-6f1a-58328456d8d9}">
          <p14:sldIdLst>
            <p14:sldId id="270"/>
            <p14:sldId id="271"/>
            <p14:sldId id="272"/>
          </p14:sldIdLst>
        </p14:section>
        <p14:section name="정리" id="{0bdadfc3-2b3e-db2b-d3b2-cacf45635e27}">
          <p14:sldIdLst>
            <p14:sldId id="273"/>
          </p14:sldIdLst>
        </p14:section>
        <p14:section name="보충" id="{a217b9fd-574f-5d40-5eec-f3ca9b4dafc2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알리고, 섞인 것을 다시 나누는 방법에 궁금증을 갖게 합니다.
시간: 약 1분
이렇게 말해 보세요
- “콩, 클립, 모래가 한 그릇에 섞여 버렸어. 하나씩 손으로 골라내면 오래 걸리겠지? 더 쉬운 방법이 있을까?”
- “바닷물에서 소금은 어떻게 얻을까? 오늘은 섞인 것의 성질을 이용해 나누는 방법을 알아볼 거야.”
예상 답
- “자석을 써요.” “체로 걸러요.” 어떤 답이든 괜찮습니다. 답을 확인하지 않고 넘어갑니다.
막히면
- 섞인 그릇을 보여 주기만 하고, 나누는 것은 S05에서 합니다.
주의
- 준비: 혼합물 ① 콩 한 줌 + 철 클립 5~6개 + 고운 모래 두 숟가락, 혼합물 ② 모래 두 숟가락 + 소금 두 숟가락(따로 그릇에). 막대자석은 랩으로 싸 둡니다.
- 자석은 휴대 전화·카드에서 멀리 두고, 작은 자석은 어린 동생이 삼키지 않게 치웁니다.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확인(용해, 자석에 붙는 물체)]
목적: ‘용해와 용액’(KR22-G05-SCI-SOLUTION-L01)에서 배운 녹은 용질이 없어지지 않는다는 것과, 초4 ‘자석의 성질’(KR22-G04-SCI-MAGNET-L01)에서 배운 철이 자석에 붙는다는 것을 확인합니다. 오늘 분리 방법을 고르는 데 쓰입니다.
시간: 약 2분
이렇게 말해 보세요
- “① 소금을 물에 녹이면 소금은 없어진 걸까?”
- “② 자석에 붙는 물체는 무엇으로 만들었지?”
정답
- ① 없어지지 않는다. 아주 작게 나뉘어 물에 골고루 섞여 있다(소금물이 짜다).
- ② 철
막히면
- ①②가 흔들리면 S19(보충)를 먼저 합니다. 보충으로도 어려우면 ‘용해와 용액’ 또는 초4 ‘자석의 성질’을 먼저 다시 봅니다.
주의
- ②에서 ‘금속’이라고 하면 “알루미늄 캔도 붙었어?”라고 다시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혼합물의 뜻과 분리하는 까닭]
목적: 혼합물의 뜻과, 섞여도 물질의 성질이 그대로라는 것, 분리하는 까닭을 알려 줍니다(목표 A).
시간: 약 2분
이렇게 말해 보세요
- “콩밥에서 콩을 골라 먹어 본 적 있어? 콩밥처럼 두 가지 넘는 물질이 섞여 있는 것을 ‘혼합물’이라고 해.”
- “콩밥 속 콩은 맛이 콩 그대로지? 섞여도 물질의 성질은 바뀌지 않아. 그래서 성질을 이용하면 다시 나눌 수 있어.”
예상 답
- “팥빙수요.” “김밥이요.” “잡곡밥이요.”
막히면
- 식탁 위 음식에서 섞인 것을 하나 찾아 무엇과 무엇이 섞였는지 말하게 합니다.
주의
- 소금물·설탕물 같은 용액도 혼합물입니다. 아이가 물으면 “맞아, 그래서 오늘 소금물에서 소금도 다시 꺼내 볼 거야”라고 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실험 전 예상하기(콩·클립·모래)]
목적: 콩·철 클립·모래가 섞인 혼합물을 어떤 도구로 나눌지 예상하고 까닭을 말합니다(목표 A). 결과는 S05에서 확인합니다.
시간: 약 1분
이렇게 말해 보세요
- “자석과 체가 있어. 클립은 무엇으로 골라낼까? 콩과 모래는? 왜 그렇게 생각해?”
- “예상은 활동지 1의 ‘내 예상’ 칸에 써 줘.”
예상 답
- 어떤 예상이든 괜찮습니다. “클립은 자석으로요.” “콩은 체로 걸러요.” “손으로 골라요.”
막히면
- “클립은 무엇으로 만들었지? 지난 시간 자석에 붙었던 것은?”이라고 묻습니다.
주의
- 결과를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자석과 체로 분리하기]
목적: 자석으로 철 클립을, 체로 콩과 모래를 나누고 각 물질이 어디에 남는지 관찰합니다(목표 A).
시간: 약 4분
이렇게 말해 보세요
- “랩으로 싼 자석을 혼합물 위로 천천히 지나가게 해 볼래? 무엇이 붙었어?”
- “이제 남은 것을 체에 붓고 살살 흔들어 봐. 체 위에는 무엇이 남고, 그릇에는 무엇이 떨어졌어?”
예상 답
- “클립만 자석에 붙었어요.” “콩은 체 위에 남고, 모래는 체 구멍으로 빠져 그릇에 떨어졌어요.”
막히면
- 클립이 콩 사이에 끼어 잘 안 붙으면 자석을 그릇 바닥 가까이 천천히 움직입니다.
- 체 구멍이 커서 콩이 빠지면 더 고운 체(차 거름망)를 씁니다.
주의
- 모래 속 검은 알갱이(사철)가 자석에 조금 붙을 수 있습니다. 랩을 벗기면 쉽게 떨어집니다. 아이가 발견하면 “철 성분이 있는 모래 알갱이야”라고 알려 줍니다.
- 모래는 놀이터 모래를 체에 한 번 쳐서 고운 것을 쓰면 좋습니다. 모래를 만진 뒤 손을 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관찰 결과 정리(자석과 체)]
목적: 어떤 도구로 무엇을 나누었는지 정리하고 예상과 비교합니다(목표 A).
시간: 약 1분
이렇게 말해 보세요
- “활동지 1을 보며 말해 줄래? 클립은 어디에 있었어? 콩은? 모래는?”
예상 답
- 철 클립: 자석에 붙음 / 콩: 체 위에 남음 / 모래: 체 구멍으로 빠져 그릇에 떨어짐
막히면
- 나눈 그릇 세 개를 앞에 놓고 하나씩 짚으며 말하게 합니다.
주의
- 화면의 빈칸은 아이가 말로 채우는 자리입니다.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결과로 설명하기(성질에 맞는 분리 방법)]
목적: 결과를 증거로, 알갱이 크기가 다르면 체로, 자석에 붙는 물질이 있으면 자석으로 나눈다는 것을 정리하고 생활 속 예와 잇습니다(목표 A).
시간: 약 2분
이렇게 말해 보세요
- “클립은 왜 자석으로 나눌 수 있었지? 콩은 왜 체로 나눌 수 있었지?”
- “이렇게 물질의 성질을 이용하면 혼합물을 쉽게 나눌 수 있어. 공사장에서는 큰 체로 모래와 자갈을 나누고, 재활용 센터에서는 큰 자석으로 철 캔을 골라내.”
예상 답
- “클립은 철이라서 자석에 붙어요.” “콩은 크고 모래는 작아서 체 구멍으로 모래만 빠져요.”
막히면
- S06의 표에서 ‘쓴 도구’ 칸과 물질의 성질을 하나씩 이어 말하게 합니다.
주의
- 체는 알갱이 크기가 체 구멍보다 큰 것과 작은 것을 나눕니다. 알갱이 크기가 비슷하면 체로 나누기 어렵습니다.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비교(자석으로 금속을 모두 고른다)]
목적: 자석으로 금속 캔을 모두 골라낼 수 있다는 생각을 초4에서 배운 결과(알루미늄은 붙지 않음)로 바로잡습니다(목표 A, 오해 M2).
시간: 약 2분
이렇게 말해 보세요
- “재활용 상자에 철 캔과 알루미늄 캔이 섞여 있어. 자석으로 모두 골라낼 수 있을까?”
- “4학년 때 알루미늄 캔을 자석에 대었더니 어떻게 됐지?”
정답
- 곰. 자석에는 철로 만든 캔만 붙고 알루미늄 캔은 붙지 않으므로, 자석으로 철 캔을 골라내면 알루미늄 캔이 남아 두 가지를 나눌 수 있습니다.
막히면
- 집에 있는 캔의 분리배출 표시(‘철’, ‘알미늄’)를 함께 읽고 자석에 대어 봅니다.
주의
- 증거를 하나 이상 말하면 잘한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실험 전 예상하기(소금과 모래)]
목적: 소금과 모래가 섞인 혼합물을 물에 녹이고 거르고 말리면 어떻게 될지 예상합니다(목표 B). 결과는 S10에서 확인합니다.
시간: 약 1분
이렇게 말해 보세요
- “소금과 모래는 알갱이 크기가 비슷해서 체로는 나누기 어려워. 그럼 어떤 성질이 다를까?”
- “물에 넣고 저으면 어떻게 될까? 커피 필터로 거르면 위에 무엇이 남을까? 거른 물을 말리면?”
예상 답
- 어떤 예상이든 괜찮습니다. “소금이 녹아요.” “모래가 필터에 남아요.” “말리면 아무것도 안 남을 것 같아요.”
막히면
- “지난 시간에 소금을 물에 넣고 저었더니 어떻게 됐지? 모래는?”이라고 묻습니다.
주의
- 결과를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녹이기·거르기·말리기]
목적: 소금과 모래 혼합물을 물에 녹여 커피 필터로 거르고, 거른 물을 몇 방울 말려 무엇이 남는지 관찰합니다(목표 B, 오해 M1).
시간: 약 6분
이렇게 말해 보세요
- “혼합물에 물을 반 컵 붓고 저어 볼까? 소금은 어떻게 됐어? 모래는?”
- “커피 필터를 빈 컵에 얹고 천천히 부어 봐. 필터 위에는 무엇이 남았어? 컵에 떨어진 물은 어떻게 보여?”
- “거른 물을 어두운 접시에 몇 방울 떨어뜨려 창가에 두자. 수업이 끝날 때 다시 보자.”
예상 답
- “소금은 녹아서 안 보이고 모래는 바닥에 가라앉았어요.” “필터 위에 모래가 남았어요.” “거른 물은 맑아요.”
막히면
- 필터가 컵 안으로 빠지면 빨래집게나 고무줄로 컵 가장자리에 고정합니다. 커피 필터가 없으면 키친타월 두 겹을 씁니다.
- 물방울이 수업 끝까지 마르지 않으면 부모가 헤어드라이어의 따뜻한 바람으로 1~2분 말리거나, 다음 날 봅니다.
주의
- 모래가 섞인 물과 거른 물은 맛보지 않습니다.
- 헤어드라이어는 부모만 쓰고, 물컵에서 멀리 떨어진 곳에서 마른 손으로 씁니다. 불로 끓여 증발시키는 방법은 소금이 튀어 위험하므로 집에서는 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관찰 결과 정리(녹이기·거르기·말리기)]
목적: 녹이기·거르기·말리기의 결과를 정리하고 예상과 비교합니다(목표 B). 접시가 아직 안 말랐으면 마지막 줄은 S18에서 채웁니다.
시간: 약 2분
이렇게 말해 보세요
- “활동지 2를 보며 한 줄씩 말해 줄래?”
- “접시의 물방울은 어떻게 됐어? 무엇이 남았어?”
예상 답
- 소금이 녹아 안 보임 / 필터 위에 모래가 남음 / 거른 물은 맑음 / 마른 접시에 하얀 알갱이(소금)가 남음
막히면
- 필터를 펼쳐 모래를 보여 주고, 접시를 빛에 비스듬히 비추어 하얀 자국을 찾게 합니다.
주의
- 화면의 빈칸은 아이가 말로 채우는 자리입니다.
- 하얀 자국이 아주 얇게 남을 수 있습니다. 접시를 손가락으로 만지면 까슬까슬합니다.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결과로 설명하기(거름과 증발)]
목적: 실험 결과를 증거로 물에 녹는 성질의 차이를 이용한 분리(거름)와 증발로 용질을 얻는 방법을 정리합니다(목표 B).
시간: 약 3분
이렇게 말해 보세요
- “모래는 물에 녹지 않아서 필터 구멍을 지나지 못하고 남았어. 이렇게 거름종이로 걸러 나누는 것을 ‘거름’이라고 해.”
- “소금은 물에 녹아 필터를 지나갔지. 물을 증발시키니 무엇이 남았어? 바닷물에서 소금을 얻는 염전도 햇볕과 바람으로 물을 증발시켜.”
예상 답
- “모래는 필터에, 소금은 물에 녹아 아래로 갔어요.” “물이 증발하니까 소금이 남았어요.”
막히면
- 그림의 상자를 차례로 짚으며 실험에서 한 일을 하나씩 말하게 합니다.
주의
- 커피 필터(거름종이)에는 아주 작은 구멍이 있어 물과 물에 녹은 소금은 지나가고, 녹지 않은 모래는 지나가지 못합니다.
- 증발은 4학년 ‘물의 상태 변화’에서 배운 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오개념 비교(거른 물에는 아무것도 없다)]
목적: 맑게 걸러진 물에는 아무것도 없다는 생각을 증발 결과로 바로잡습니다(목표 B, 오해 M1).
시간: 약 2분
이렇게 말해 보세요
- “거른 물은 맑았지? 토끼는 아무것도 없다고 하고, 곰은 소금이 녹아 있다고 해. 누구 말이 맞을까?”
- “무엇을 보면 알 수 있었어?”
정답
- 곰. 증거: 거른 물 몇 방울을 말린 접시에 하얀 알갱이(소금)가 남았습니다. 소금은 물에 녹아 필터를 지나갔고, 물만 증발했습니다.
막히면
- 접시가 아직 안 말랐다면 지난 시간 소금물의 짠맛을 떠올리게 하고, 수업 끝에 접시를 함께 봅니다.
주의
- 거름종이는 녹지 않은 알갱이만 거른다는 점을 강조합니다. 녹아 있는 물질은 거름으로 나눌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알맞은 분리 방법 고르기]
목적: 처음 보는 혼합물에서 물질 사이의 다른 성질을 찾아 알맞은 분리 방법을 고르는 연습을 합니다(목표 A·B).
시간: 약 3분
이렇게 말해 보세요
- “먼저 두 물질이 어떤 성질이 다른지 찾아봐. 크기? 자석? 물에 녹는지?”
- “①부터 방법과 까닭을 함께 말해 줄래?”
정답
- ① 자석(철 못만 자석에 붙음)
- ② 체(콩이 좁쌀보다 커서 체 위에 남음)
- ③ 거름(흙은 물에 녹지 않아 거름종이에 남음)
막히면
- S07의 표와 S12의 그림을 다시 보여 주고 ‘다른 성질’부터 찾게 합니다.
주의
- 방법만 말하고 까닭을 말하지 못하면 “왜 그 방법이면 나뉠까?”라고 다시 묻습니다.
- ②에서 체 구멍은 좁쌀보다 크고 콩보다 작아야 합니다. 아이가 이 조건까지 말하면 칭찬합니다.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혼자 해결]
목적: 도움 없이 알맞은 분리 방법(①②)과 녹이기·거르기·증발의 순서(③), 거름의 결과(④)를 말하는지 확인합니다(목표 A·B).
시간: 약 3분
이렇게 말해 보세요
- “이번에는 혼자 답해 볼래? 까닭도 말해 줘.”
정답
- ① 체. 자갈이 모래보다 커서 체 위에 남는다.
- ② 자석. 쇳가루만 자석에 붙는다.
- ③ 물에 녹인다 → 거른다(흙이 남음) → 거른 물을 증발시킨다(소금이 남음)
- ④ 녹지 않은 흙(알갱이). 물과 물에 녹은 소금은 지나간다.
막히면
- 바로 알려 주지 말고 “두 물질은 무엇이 달라?”라고만 묻습니다.
- 도움을 받아 해결했다면 기록표에 ‘도움’으로 표시합니다.
주의
- ③은 순서가 맞아야 합니다. 증발을 먼저 하면 흙과 소금이 함께 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정답과 피드백]
목적: 아이의 답을 함께 확인하고 흔한 실수를 바로잡습니다. 수업용에만 있는 장입니다.
시간: 약 1분
이렇게 말해 보세요
- “네 답과 같은지 볼까? 다르면 어디서 달라졌는지 찾아보자.”
정답
- ① 체(크기) ② 자석 ③ 녹이기 → 거르기 → 증발 ④ 흙
막히면
- ①②가 틀리면 S07로, ③④가 틀리면 S12·S13으로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[S17 · 마무리 확인(염전의 분리 방법)]
목적: 처음 보는 상황(염전)에서 바닷물에 녹은 소금을 얻는 방법을 고르고 까닭을 말하는지 확인합니다(목표 B).
시간: 약 2분
이렇게 말해 보세요
- “바닷물에는 소금이 녹아 있어. 소금을 얻으려면 어떻게 해야 할까? 왜 다른 방법은 안 될까?”
정답
- 다. 소금은 물에 녹아 있어 체나 거름으로는 걸러지지 않고 자석에도 붙지 않습니다. 물을 증발시키면 녹아 있던 소금이 남습니다.
막히면
- S12의 그림에서 마지막 상자를 다시 보여 줍니다.
주의
- 답만 맞히고 까닭을 말하지 못하면 기록표에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[S18 · 정리와 다음 수업 복습]
목적: 핵심을 정리하고 다음 수업 첫 5분에 풀 복습 문제를 알려 줍니다. 창가의 접시를 함께 봅니다.
시간: 약 1분
이렇게 말해 보세요
- “창가에 둔 접시를 볼까? 무엇이 남았어? S11 표의 마지막 줄을 채워 보자.”
- “섞인 것을 나누려면 무엇부터 찾아야 할까?”
예상 답
- “하얀 소금이 남았어요.” “두 물질의 다른 성질을 찾아요.”
정답
- ① 자석 ② 거름(거르기) ③ 증발
막히면
- S07, S12를 다시 보여 줍니다.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[S19 · 선수 학습 보충(녹는 것, 자석에 붙는 것)]
목적: S02가 흔들리면, 물에 녹는 것과 녹지 않는 것, 자석에 붙는 것과 붙지 않는 것을 직접 해 보며 먼저 다시 익힙니다.
시간: 약 4분
이렇게 말해 보세요
- “소금과 모래를 각각 물에 넣고 저어 볼까? 어느 것이 녹았어?”
- “클립과 알루미늄 포일을 자석에 대어 볼까? 어느 것이 붙어?”
예상 답
- “소금은 녹고 모래는 그대로예요.” “클립만 붙어요.”
막히면
- 두 가지를 한 번에 하지 말고, 녹이기 → 자석 순서로 하나씩 합니다.
주의
- 계획상 선수 차시는 ‘용해와 용액’(KR22-G05-SCI-SOLUTION-L01)과 초4 ‘자석의 성질’(KR22-G04-SCI-MAGNET-L01)입니다. 보충으로도 어려우면 해당 차시를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용액과분리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혼합물의 분리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혼합물의 분리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과학 · 혼합물의 분리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혼합물의 분리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섞인 것을 어떻게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나눌까?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그릇에 콩, 모래 알갱이, 클립이 섞여 있는 그림"/>
          <p:cNvSpPr/>
          <p:nvPr/>
        </p:nvSpPr>
        <p:spPr>
          <a:xfrm>
            <a:off x="8010277" y="1653043"/>
            <a:ext cx="3273287" cy="1227483"/>
          </a:xfrm>
          <a:custGeom>
            <a:avLst/>
            <a:gdLst/>
            <a:ahLst/>
            <a:cxnLst/>
            <a:rect l="l" t="t" r="r" b="b"/>
            <a:pathLst>
              <a:path w="3273287" h="1227483">
                <a:moveTo>
                  <a:pt x="0" y="0"/>
                </a:moveTo>
                <a:lnTo>
                  <a:pt x="13911" y="160391"/>
                </a:lnTo>
                <a:lnTo>
                  <a:pt x="55646" y="317509"/>
                </a:lnTo>
                <a:lnTo>
                  <a:pt x="124385" y="469717"/>
                </a:lnTo>
                <a:lnTo>
                  <a:pt x="219310" y="613741"/>
                </a:lnTo>
                <a:lnTo>
                  <a:pt x="337967" y="747128"/>
                </a:lnTo>
                <a:lnTo>
                  <a:pt x="479537" y="868239"/>
                </a:lnTo>
                <a:lnTo>
                  <a:pt x="639928" y="973803"/>
                </a:lnTo>
                <a:lnTo>
                  <a:pt x="818322" y="1063000"/>
                </a:lnTo>
                <a:lnTo>
                  <a:pt x="1010627" y="1134194"/>
                </a:lnTo>
                <a:lnTo>
                  <a:pt x="1212753" y="1185748"/>
                </a:lnTo>
                <a:lnTo>
                  <a:pt x="1423062" y="1216844"/>
                </a:lnTo>
                <a:lnTo>
                  <a:pt x="1636643" y="1227483"/>
                </a:lnTo>
                <a:lnTo>
                  <a:pt x="1850225" y="1216844"/>
                </a:lnTo>
                <a:lnTo>
                  <a:pt x="2060534" y="1185748"/>
                </a:lnTo>
                <a:lnTo>
                  <a:pt x="2262660" y="1134194"/>
                </a:lnTo>
                <a:lnTo>
                  <a:pt x="2454965" y="1063000"/>
                </a:lnTo>
                <a:lnTo>
                  <a:pt x="2633359" y="973803"/>
                </a:lnTo>
                <a:lnTo>
                  <a:pt x="2793750" y="868239"/>
                </a:lnTo>
                <a:lnTo>
                  <a:pt x="2935320" y="747128"/>
                </a:lnTo>
                <a:lnTo>
                  <a:pt x="3053977" y="613741"/>
                </a:lnTo>
                <a:lnTo>
                  <a:pt x="3148902" y="469717"/>
                </a:lnTo>
                <a:lnTo>
                  <a:pt x="3217641" y="317509"/>
                </a:lnTo>
                <a:lnTo>
                  <a:pt x="3259375" y="160391"/>
                </a:lnTo>
                <a:lnTo>
                  <a:pt x="3273287" y="0"/>
                </a:lnTo>
                <a:close/>
              </a:path>
            </a:pathLst>
          </a:custGeom>
          <a:solidFill>
            <a:srgbClr val="E5E7EB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763133" y="1914906"/>
            <a:ext cx="458260" cy="458260"/>
          </a:xfrm>
          <a:prstGeom prst="ellipse">
            <a:avLst/>
          </a:prstGeom>
          <a:solidFill>
            <a:srgbClr val="E9D8A6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9335958" y="2160403"/>
            <a:ext cx="458260" cy="458260"/>
          </a:xfrm>
          <a:prstGeom prst="ellipse">
            <a:avLst/>
          </a:prstGeom>
          <a:solidFill>
            <a:srgbClr val="E9D8A6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9908783" y="1914906"/>
            <a:ext cx="458260" cy="458260"/>
          </a:xfrm>
          <a:prstGeom prst="ellipse">
            <a:avLst/>
          </a:prstGeom>
          <a:solidFill>
            <a:srgbClr val="E9D8A6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9090461" y="1628493"/>
            <a:ext cx="458260" cy="458260"/>
          </a:xfrm>
          <a:prstGeom prst="ellipse">
            <a:avLst/>
          </a:prstGeom>
          <a:solidFill>
            <a:srgbClr val="E9D8A6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9663286" y="1628493"/>
            <a:ext cx="458260" cy="458260"/>
          </a:xfrm>
          <a:prstGeom prst="ellipse">
            <a:avLst/>
          </a:prstGeom>
          <a:solidFill>
            <a:srgbClr val="E9D8A6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8615835" y="1767608"/>
            <a:ext cx="98199" cy="98199"/>
          </a:xfrm>
          <a:prstGeom prst="ellipse">
            <a:avLst/>
          </a:prstGeom>
          <a:solidFill>
            <a:srgbClr val="9C8B7A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8779499" y="1685776"/>
            <a:ext cx="98199" cy="98199"/>
          </a:xfrm>
          <a:prstGeom prst="ellipse">
            <a:avLst/>
          </a:prstGeom>
          <a:solidFill>
            <a:srgbClr val="9C8B7A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10416142" y="1767608"/>
            <a:ext cx="98199" cy="98199"/>
          </a:xfrm>
          <a:prstGeom prst="ellipse">
            <a:avLst/>
          </a:prstGeom>
          <a:solidFill>
            <a:srgbClr val="9C8B7A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10579807" y="1685776"/>
            <a:ext cx="98199" cy="98199"/>
          </a:xfrm>
          <a:prstGeom prst="ellipse">
            <a:avLst/>
          </a:prstGeom>
          <a:solidFill>
            <a:srgbClr val="9C8B7A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9597821" y="2013105"/>
            <a:ext cx="98199" cy="98199"/>
          </a:xfrm>
          <a:prstGeom prst="ellipse">
            <a:avLst/>
          </a:prstGeom>
          <a:solidFill>
            <a:srgbClr val="9C8B7A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10334310" y="2340433"/>
            <a:ext cx="98199" cy="98199"/>
          </a:xfrm>
          <a:prstGeom prst="ellipse">
            <a:avLst/>
          </a:prstGeom>
          <a:solidFill>
            <a:srgbClr val="9C8B7A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>
            <a:off x="9024995" y="2463182"/>
            <a:ext cx="98199" cy="98199"/>
          </a:xfrm>
          <a:prstGeom prst="ellipse">
            <a:avLst/>
          </a:prstGeom>
          <a:solidFill>
            <a:srgbClr val="9C8B7A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>
            <a:off x="9925149" y="2545014"/>
            <a:ext cx="98199" cy="98199"/>
          </a:xfrm>
          <a:prstGeom prst="ellipse">
            <a:avLst/>
          </a:prstGeom>
          <a:solidFill>
            <a:srgbClr val="9C8B7A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 flipV="1">
            <a:off x="8501270" y="1693959"/>
            <a:ext cx="409161" cy="245497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</a:ln>
        </p:spPr>
      </p:sp>
      <p:sp>
        <p:nvSpPr>
          <p:cNvPr id="20" name="S01-mark17"/>
          <p:cNvSpPr/>
          <p:nvPr/>
        </p:nvSpPr>
        <p:spPr>
          <a:xfrm>
            <a:off x="10301577" y="1653043"/>
            <a:ext cx="409161" cy="245497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</a:ln>
        </p:spPr>
      </p:sp>
      <p:sp>
        <p:nvSpPr>
          <p:cNvPr id="21" name="S01-card18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2" name="S01-cardtext19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알갱이 크기와 자석을 이용해 혼합물을 나눠요.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녹이고 거르고 증발시켜 소금을 얻어요.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수업 기억하기</a:t>
            </a:r>
            <a:endParaRPr lang="ko-KR" sz="4000" dirty="0"/>
          </a:p>
        </p:txBody>
      </p:sp>
      <p:sp>
        <p:nvSpPr>
          <p:cNvPr id="3" name="S02-chip2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21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소금을 물에 녹이면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소금은 없어진 걸까요?</a:t>
            </a:r>
            <a:endParaRPr lang="ko-KR" sz="2800" dirty="0"/>
          </a:p>
        </p:txBody>
      </p:sp>
      <p:sp>
        <p:nvSpPr>
          <p:cNvPr id="5" name="S02-chip22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23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자석에 붙는 물체는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만들었나요?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혼합물</a:t>
            </a:r>
            <a:endParaRPr lang="ko-KR" sz="4000" dirty="0"/>
          </a:p>
        </p:txBody>
      </p:sp>
      <p:sp>
        <p:nvSpPr>
          <p:cNvPr id="3" name="S03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이상의 물질이 섞여 있는 것을 혼합물이라고 해요.</a:t>
            </a:r>
            <a:endParaRPr lang="ko-KR" sz="2800" dirty="0"/>
          </a:p>
        </p:txBody>
      </p:sp>
      <p:sp>
        <p:nvSpPr>
          <p:cNvPr id="4" name="S03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물질의 성질을 이용하면 혼합물을 나눌 수 있어요.</a:t>
            </a:r>
            <a:endParaRPr lang="ko-KR" sz="2800" dirty="0"/>
          </a:p>
        </p:txBody>
      </p:sp>
      <p:sp>
        <p:nvSpPr>
          <p:cNvPr id="6" name="S03-card27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28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혼합물의 예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잡곡밥, 팥빙수,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김밥, 소금물</a:t>
            </a:r>
            <a:endParaRPr lang="ko-KR" sz="2800" dirty="0"/>
          </a:p>
        </p:txBody>
      </p:sp>
      <p:sp>
        <p:nvSpPr>
          <p:cNvPr id="8" name="S03-card29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30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섞여도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물질의 성질은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그대로예요.</a:t>
            </a:r>
            <a:endParaRPr lang="ko-KR" sz="2800" dirty="0"/>
          </a:p>
        </p:txBody>
      </p:sp>
      <p:sp>
        <p:nvSpPr>
          <p:cNvPr id="10" name="S03-card31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32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분리하는 까닭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물질을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얻으려고 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4-text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도구: 랩으로 싼 자석, 체</a:t>
            </a:r>
            <a:endParaRPr lang="ko-KR" sz="2800" dirty="0"/>
          </a:p>
        </p:txBody>
      </p:sp>
      <p:sp>
        <p:nvSpPr>
          <p:cNvPr id="4" name="S04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</a:t>
            </a:r>
            <a:endParaRPr lang="ko-KR" sz="2800" dirty="0"/>
          </a:p>
        </p:txBody>
      </p:sp>
      <p:graphicFrame>
        <p:nvGraphicFramePr>
          <p:cNvPr id="5" name="S04-table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41016"/>
          <a:ext cx="10058400" cy="914400"/>
        </p:xfrm>
        <a:graphic>
          <a:graphicData uri="http://schemas.openxmlformats.org/drawingml/2006/table">
            <a:tbl>
              <a:tblPr/>
              <a:tblGrid>
                <a:gridCol w="3520440"/>
                <a:gridCol w="653796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섞인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예상(어떻게 골라낼까요?)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철 클립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콩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자석과 체로 나눠요</a:t>
            </a:r>
            <a:endParaRPr lang="ko-KR" sz="4000" dirty="0"/>
          </a:p>
        </p:txBody>
      </p:sp>
      <p:sp>
        <p:nvSpPr>
          <p:cNvPr id="3" name="S05-card37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38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자석은 휴대 전화에서 멀리 둬요. 모래를 만진 뒤 손을 씻어요.</a:t>
            </a:r>
            <a:endParaRPr lang="ko-KR" sz="2800" dirty="0"/>
          </a:p>
        </p:txBody>
      </p:sp>
      <p:sp>
        <p:nvSpPr>
          <p:cNvPr id="5" name="S05-figure39" descr="왼쪽: 비닐 랩으로 싼 막대자석. 오른쪽: 그릇 위에 올린 체(구멍이 있는 망)"/>
          <p:cNvSpPr/>
          <p:nvPr/>
        </p:nvSpPr>
        <p:spPr>
          <a:xfrm>
            <a:off x="7823934" y="2005995"/>
            <a:ext cx="350762" cy="210457"/>
          </a:xfrm>
          <a:custGeom>
            <a:avLst/>
            <a:gdLst/>
            <a:ahLst/>
            <a:cxnLst/>
            <a:rect l="l" t="t" r="r" b="b"/>
            <a:pathLst>
              <a:path w="350762" h="210457">
                <a:moveTo>
                  <a:pt x="0" y="210457"/>
                </a:moveTo>
                <a:lnTo>
                  <a:pt x="350762" y="210457"/>
                </a:lnTo>
                <a:lnTo>
                  <a:pt x="350762" y="0"/>
                </a:lnTo>
                <a:lnTo>
                  <a:pt x="0" y="0"/>
                </a:lnTo>
                <a:close/>
              </a:path>
            </a:pathLst>
          </a:custGeom>
          <a:solidFill>
            <a:srgbClr val="F8B4B4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5-mark40"/>
          <p:cNvSpPr/>
          <p:nvPr/>
        </p:nvSpPr>
        <p:spPr>
          <a:xfrm>
            <a:off x="8174696" y="2005995"/>
            <a:ext cx="350762" cy="210457"/>
          </a:xfrm>
          <a:custGeom>
            <a:avLst/>
            <a:gdLst/>
            <a:ahLst/>
            <a:cxnLst/>
            <a:rect l="l" t="t" r="r" b="b"/>
            <a:pathLst>
              <a:path w="350762" h="210457">
                <a:moveTo>
                  <a:pt x="0" y="210457"/>
                </a:moveTo>
                <a:lnTo>
                  <a:pt x="350762" y="210457"/>
                </a:lnTo>
                <a:lnTo>
                  <a:pt x="350762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5-mark41"/>
          <p:cNvSpPr/>
          <p:nvPr/>
        </p:nvSpPr>
        <p:spPr>
          <a:xfrm>
            <a:off x="7771320" y="1953381"/>
            <a:ext cx="806752" cy="315686"/>
          </a:xfrm>
          <a:custGeom>
            <a:avLst/>
            <a:gdLst/>
            <a:ahLst/>
            <a:cxnLst/>
            <a:rect l="l" t="t" r="r" b="b"/>
            <a:pathLst>
              <a:path w="806752" h="315686">
                <a:moveTo>
                  <a:pt x="0" y="315686"/>
                </a:moveTo>
                <a:lnTo>
                  <a:pt x="806752" y="315686"/>
                </a:lnTo>
                <a:lnTo>
                  <a:pt x="806752" y="0"/>
                </a:lnTo>
                <a:lnTo>
                  <a:pt x="0" y="0"/>
                </a:lnTo>
                <a:close/>
              </a:path>
            </a:pathLst>
          </a:custGeom>
          <a:noFill/>
          <a:ln w="15875">
            <a:solidFill>
              <a:srgbClr val="6B7280"/>
            </a:solidFill>
            <a:prstDash val="dash"/>
          </a:ln>
        </p:spPr>
      </p:sp>
      <p:sp>
        <p:nvSpPr>
          <p:cNvPr id="8" name="S05-mark42"/>
          <p:cNvSpPr/>
          <p:nvPr/>
        </p:nvSpPr>
        <p:spPr>
          <a:xfrm>
            <a:off x="9226982" y="2251529"/>
            <a:ext cx="1122438" cy="420914"/>
          </a:xfrm>
          <a:custGeom>
            <a:avLst/>
            <a:gdLst/>
            <a:ahLst/>
            <a:cxnLst/>
            <a:rect l="l" t="t" r="r" b="b"/>
            <a:pathLst>
              <a:path w="1122438" h="420914">
                <a:moveTo>
                  <a:pt x="0" y="0"/>
                </a:moveTo>
                <a:lnTo>
                  <a:pt x="4911" y="55070"/>
                </a:lnTo>
                <a:lnTo>
                  <a:pt x="19292" y="109087"/>
                </a:lnTo>
                <a:lnTo>
                  <a:pt x="42793" y="161000"/>
                </a:lnTo>
                <a:lnTo>
                  <a:pt x="75063" y="210457"/>
                </a:lnTo>
                <a:lnTo>
                  <a:pt x="116102" y="256407"/>
                </a:lnTo>
                <a:lnTo>
                  <a:pt x="164507" y="297797"/>
                </a:lnTo>
                <a:lnTo>
                  <a:pt x="219577" y="333925"/>
                </a:lnTo>
                <a:lnTo>
                  <a:pt x="280610" y="364442"/>
                </a:lnTo>
                <a:lnTo>
                  <a:pt x="346553" y="388995"/>
                </a:lnTo>
                <a:lnTo>
                  <a:pt x="416004" y="406533"/>
                </a:lnTo>
                <a:lnTo>
                  <a:pt x="487910" y="417407"/>
                </a:lnTo>
                <a:lnTo>
                  <a:pt x="561219" y="420914"/>
                </a:lnTo>
                <a:lnTo>
                  <a:pt x="634528" y="417407"/>
                </a:lnTo>
                <a:lnTo>
                  <a:pt x="706434" y="406533"/>
                </a:lnTo>
                <a:lnTo>
                  <a:pt x="775885" y="388995"/>
                </a:lnTo>
                <a:lnTo>
                  <a:pt x="841829" y="364442"/>
                </a:lnTo>
                <a:lnTo>
                  <a:pt x="902861" y="333925"/>
                </a:lnTo>
                <a:lnTo>
                  <a:pt x="957931" y="297797"/>
                </a:lnTo>
                <a:lnTo>
                  <a:pt x="1006336" y="256407"/>
                </a:lnTo>
                <a:lnTo>
                  <a:pt x="1047375" y="210457"/>
                </a:lnTo>
                <a:lnTo>
                  <a:pt x="1079645" y="161000"/>
                </a:lnTo>
                <a:lnTo>
                  <a:pt x="1103146" y="109087"/>
                </a:lnTo>
                <a:lnTo>
                  <a:pt x="1117527" y="55070"/>
                </a:lnTo>
                <a:lnTo>
                  <a:pt x="1122438" y="0"/>
                </a:lnTo>
                <a:close/>
              </a:path>
            </a:pathLst>
          </a:custGeom>
          <a:solidFill>
            <a:srgbClr val="E5E7EB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" name="S05-mark43"/>
          <p:cNvSpPr/>
          <p:nvPr/>
        </p:nvSpPr>
        <p:spPr>
          <a:xfrm>
            <a:off x="9349748" y="1900767"/>
            <a:ext cx="876905" cy="350762"/>
          </a:xfrm>
          <a:custGeom>
            <a:avLst/>
            <a:gdLst/>
            <a:ahLst/>
            <a:cxnLst/>
            <a:rect l="l" t="t" r="r" b="b"/>
            <a:pathLst>
              <a:path w="876905" h="350762">
                <a:moveTo>
                  <a:pt x="0" y="0"/>
                </a:moveTo>
                <a:lnTo>
                  <a:pt x="3858" y="45950"/>
                </a:lnTo>
                <a:lnTo>
                  <a:pt x="15083" y="90847"/>
                </a:lnTo>
                <a:lnTo>
                  <a:pt x="33322" y="134342"/>
                </a:lnTo>
                <a:lnTo>
                  <a:pt x="58577" y="175381"/>
                </a:lnTo>
                <a:lnTo>
                  <a:pt x="90497" y="213614"/>
                </a:lnTo>
                <a:lnTo>
                  <a:pt x="128379" y="247989"/>
                </a:lnTo>
                <a:lnTo>
                  <a:pt x="171523" y="278154"/>
                </a:lnTo>
                <a:lnTo>
                  <a:pt x="219226" y="303760"/>
                </a:lnTo>
                <a:lnTo>
                  <a:pt x="270788" y="324104"/>
                </a:lnTo>
                <a:lnTo>
                  <a:pt x="324806" y="338836"/>
                </a:lnTo>
                <a:lnTo>
                  <a:pt x="381278" y="347605"/>
                </a:lnTo>
                <a:lnTo>
                  <a:pt x="438452" y="350762"/>
                </a:lnTo>
                <a:lnTo>
                  <a:pt x="495627" y="347605"/>
                </a:lnTo>
                <a:lnTo>
                  <a:pt x="552099" y="338836"/>
                </a:lnTo>
                <a:lnTo>
                  <a:pt x="606117" y="324104"/>
                </a:lnTo>
                <a:lnTo>
                  <a:pt x="657679" y="303760"/>
                </a:lnTo>
                <a:lnTo>
                  <a:pt x="705382" y="278154"/>
                </a:lnTo>
                <a:lnTo>
                  <a:pt x="748526" y="247989"/>
                </a:lnTo>
                <a:lnTo>
                  <a:pt x="786408" y="213614"/>
                </a:lnTo>
                <a:lnTo>
                  <a:pt x="818328" y="175381"/>
                </a:lnTo>
                <a:lnTo>
                  <a:pt x="843582" y="134342"/>
                </a:lnTo>
                <a:lnTo>
                  <a:pt x="861822" y="90847"/>
                </a:lnTo>
                <a:lnTo>
                  <a:pt x="873046" y="45950"/>
                </a:lnTo>
                <a:lnTo>
                  <a:pt x="876905" y="0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05-mark44"/>
          <p:cNvSpPr/>
          <p:nvPr/>
        </p:nvSpPr>
        <p:spPr>
          <a:xfrm>
            <a:off x="9525129" y="1900767"/>
            <a:ext cx="0" cy="28061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11" name="S05-mark45"/>
          <p:cNvSpPr/>
          <p:nvPr/>
        </p:nvSpPr>
        <p:spPr>
          <a:xfrm>
            <a:off x="9700510" y="1900767"/>
            <a:ext cx="0" cy="343747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12" name="S05-mark46"/>
          <p:cNvSpPr/>
          <p:nvPr/>
        </p:nvSpPr>
        <p:spPr>
          <a:xfrm>
            <a:off x="9875891" y="1900767"/>
            <a:ext cx="0" cy="343747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13" name="S05-mark47"/>
          <p:cNvSpPr/>
          <p:nvPr/>
        </p:nvSpPr>
        <p:spPr>
          <a:xfrm>
            <a:off x="10051272" y="1900767"/>
            <a:ext cx="0" cy="28061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14" name="S05-mark48"/>
          <p:cNvSpPr/>
          <p:nvPr/>
        </p:nvSpPr>
        <p:spPr>
          <a:xfrm>
            <a:off x="9454977" y="2128762"/>
            <a:ext cx="666448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15" name="S05-mark49"/>
          <p:cNvSpPr/>
          <p:nvPr/>
        </p:nvSpPr>
        <p:spPr>
          <a:xfrm>
            <a:off x="9377459" y="2023533"/>
            <a:ext cx="821484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16" name="S05-mark50"/>
          <p:cNvSpPr/>
          <p:nvPr/>
        </p:nvSpPr>
        <p:spPr>
          <a:xfrm>
            <a:off x="9349748" y="1900767"/>
            <a:ext cx="876905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7" name="S05-mark51"/>
          <p:cNvSpPr/>
          <p:nvPr/>
        </p:nvSpPr>
        <p:spPr>
          <a:xfrm flipV="1">
            <a:off x="10226653" y="1795538"/>
            <a:ext cx="473529" cy="105229"/>
          </a:xfrm>
          <a:prstGeom prst="line">
            <a:avLst/>
          </a:prstGeom>
          <a:noFill/>
          <a:ln w="63500">
            <a:solidFill>
              <a:srgbClr val="4B5563"/>
            </a:solidFill>
            <a:prstDash val="solid"/>
          </a:ln>
        </p:spPr>
      </p:sp>
      <p:sp>
        <p:nvSpPr>
          <p:cNvPr id="18" name="S05-label53"/>
          <p:cNvSpPr txBox="1"/>
          <p:nvPr/>
        </p:nvSpPr>
        <p:spPr>
          <a:xfrm>
            <a:off x="7852249" y="1936599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2200" dirty="0"/>
          </a:p>
        </p:txBody>
      </p:sp>
      <p:sp>
        <p:nvSpPr>
          <p:cNvPr id="19" name="S05-label55"/>
          <p:cNvSpPr txBox="1"/>
          <p:nvPr/>
        </p:nvSpPr>
        <p:spPr>
          <a:xfrm>
            <a:off x="8203011" y="1936599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2200" dirty="0"/>
          </a:p>
        </p:txBody>
      </p:sp>
      <p:sp>
        <p:nvSpPr>
          <p:cNvPr id="20" name="S05-label57"/>
          <p:cNvSpPr txBox="1"/>
          <p:nvPr/>
        </p:nvSpPr>
        <p:spPr>
          <a:xfrm>
            <a:off x="7214576" y="1533223"/>
            <a:ext cx="19202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랩으로 싼 자석</a:t>
            </a:r>
            <a:endParaRPr lang="ko-KR" sz="2200" dirty="0"/>
          </a:p>
        </p:txBody>
      </p:sp>
      <p:sp>
        <p:nvSpPr>
          <p:cNvPr id="21" name="S05-label59"/>
          <p:cNvSpPr txBox="1"/>
          <p:nvPr/>
        </p:nvSpPr>
        <p:spPr>
          <a:xfrm>
            <a:off x="9596431" y="1427994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</a:t>
            </a:r>
            <a:endParaRPr lang="ko-KR" sz="2200" dirty="0"/>
          </a:p>
        </p:txBody>
      </p:sp>
      <p:sp>
        <p:nvSpPr>
          <p:cNvPr id="22" name="S05-label61"/>
          <p:cNvSpPr txBox="1"/>
          <p:nvPr/>
        </p:nvSpPr>
        <p:spPr>
          <a:xfrm>
            <a:off x="9459525" y="262058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그릇</a:t>
            </a:r>
            <a:endParaRPr lang="ko-KR" sz="2200" dirty="0"/>
          </a:p>
        </p:txBody>
      </p:sp>
      <p:sp>
        <p:nvSpPr>
          <p:cNvPr id="23" name="S05-card62"/>
          <p:cNvSpPr/>
          <p:nvPr/>
        </p:nvSpPr>
        <p:spPr>
          <a:xfrm>
            <a:off x="6813652" y="3195320"/>
            <a:ext cx="4826660" cy="1597152"/>
          </a:xfrm>
          <a:prstGeom prst="roundRect">
            <a:avLst>
              <a:gd name="adj" fmla="val 687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4" name="S05-cardtext63"/>
          <p:cNvSpPr txBox="1"/>
          <p:nvPr/>
        </p:nvSpPr>
        <p:spPr>
          <a:xfrm>
            <a:off x="7087972" y="3332480"/>
            <a:ext cx="427802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자석에 붙은 것을 봐요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체 위·아래를 봐요</a:t>
            </a:r>
            <a:endParaRPr lang="ko-KR" sz="2800" dirty="0"/>
          </a:p>
        </p:txBody>
      </p:sp>
      <p:sp>
        <p:nvSpPr>
          <p:cNvPr id="25" name="S05-stepno64"/>
          <p:cNvSpPr txBox="1"/>
          <p:nvPr/>
        </p:nvSpPr>
        <p:spPr>
          <a:xfrm>
            <a:off x="548640" y="14945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6" name="S05-text65"/>
          <p:cNvSpPr txBox="1"/>
          <p:nvPr/>
        </p:nvSpPr>
        <p:spPr>
          <a:xfrm>
            <a:off x="1325880" y="1448816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랩으로 싼 자석을 혼합물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위로 천천히 움직여요.</a:t>
            </a:r>
            <a:endParaRPr lang="ko-KR" sz="2200" dirty="0"/>
          </a:p>
        </p:txBody>
      </p:sp>
      <p:sp>
        <p:nvSpPr>
          <p:cNvPr id="27" name="S05-stepno66"/>
          <p:cNvSpPr txBox="1"/>
          <p:nvPr/>
        </p:nvSpPr>
        <p:spPr>
          <a:xfrm>
            <a:off x="548640" y="2340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8" name="S05-text67"/>
          <p:cNvSpPr txBox="1"/>
          <p:nvPr/>
        </p:nvSpPr>
        <p:spPr>
          <a:xfrm>
            <a:off x="1325880" y="2295144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붙은 것을 랩째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그릇에 떼어 내요.</a:t>
            </a:r>
            <a:endParaRPr lang="ko-KR" sz="2200" dirty="0"/>
          </a:p>
        </p:txBody>
      </p:sp>
      <p:sp>
        <p:nvSpPr>
          <p:cNvPr id="29" name="S05-stepno68"/>
          <p:cNvSpPr txBox="1"/>
          <p:nvPr/>
        </p:nvSpPr>
        <p:spPr>
          <a:xfrm>
            <a:off x="548640" y="31871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0" name="S05-text69"/>
          <p:cNvSpPr txBox="1"/>
          <p:nvPr/>
        </p:nvSpPr>
        <p:spPr>
          <a:xfrm>
            <a:off x="1325880" y="3141472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것을 체에 붓고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살살 흔들어요.</a:t>
            </a:r>
            <a:endParaRPr lang="ko-KR" sz="2200" dirty="0"/>
          </a:p>
        </p:txBody>
      </p:sp>
      <p:sp>
        <p:nvSpPr>
          <p:cNvPr id="31" name="S05-stepno70"/>
          <p:cNvSpPr txBox="1"/>
          <p:nvPr/>
        </p:nvSpPr>
        <p:spPr>
          <a:xfrm>
            <a:off x="548640" y="40335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32" name="S05-text71"/>
          <p:cNvSpPr txBox="1"/>
          <p:nvPr/>
        </p:nvSpPr>
        <p:spPr>
          <a:xfrm>
            <a:off x="1325880" y="3987800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무엇이 남았는지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1에 써요.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6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1을 보며 빈칸을 말로 채워요.</a:t>
            </a:r>
            <a:endParaRPr lang="ko-KR" sz="2800" dirty="0"/>
          </a:p>
        </p:txBody>
      </p:sp>
      <p:sp>
        <p:nvSpPr>
          <p:cNvPr id="4" name="S06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 도구로 나눌 수 있었을까요?</a:t>
            </a:r>
            <a:endParaRPr lang="ko-KR" sz="2800" dirty="0"/>
          </a:p>
        </p:txBody>
      </p:sp>
      <p:graphicFrame>
        <p:nvGraphicFramePr>
          <p:cNvPr id="7" name="S06-table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41016"/>
          <a:ext cx="100584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017520"/>
                <a:gridCol w="402336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섞인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쓴 도구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남은 곳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철 클립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콩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성질을 이용해 나눠요</a:t>
            </a:r>
            <a:endParaRPr lang="ko-KR" sz="4000" dirty="0"/>
          </a:p>
        </p:txBody>
      </p:sp>
      <p:sp>
        <p:nvSpPr>
          <p:cNvPr id="3" name="S07-text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물질의 성질에 맞는 방법으로 분리해요.</a:t>
            </a:r>
            <a:endParaRPr lang="ko-KR" sz="2800" dirty="0"/>
          </a:p>
        </p:txBody>
      </p:sp>
      <p:sp>
        <p:nvSpPr>
          <p:cNvPr id="4" name="S07-card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섞인 물질 사이에 다른 성질을 찾아요.</a:t>
            </a:r>
            <a:endParaRPr lang="ko-KR" sz="2800" dirty="0"/>
          </a:p>
        </p:txBody>
      </p:sp>
      <p:graphicFrame>
        <p:nvGraphicFramePr>
          <p:cNvPr id="8" name="S07-table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797302"/>
          <a:ext cx="10515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103120"/>
                <a:gridCol w="420624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혼합물의 성질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분리 방법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생활 속 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알갱이 크기가 달라요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공사장 모래와 자갈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자석에 붙는 것이 있어요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자석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재활용 센터의 철 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8-card8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8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재활용 상자에 철 캔과 알루미늄 캔이 섞여 있어요.</a:t>
            </a:r>
            <a:endParaRPr lang="ko-KR" sz="2800" dirty="0"/>
          </a:p>
        </p:txBody>
      </p:sp>
      <p:sp>
        <p:nvSpPr>
          <p:cNvPr id="5" name="S08-card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2800" dirty="0"/>
          </a:p>
        </p:txBody>
      </p:sp>
      <p:sp>
        <p:nvSpPr>
          <p:cNvPr id="7" name="S08-chip8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08-text8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금속이니까 자석에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붙어서 골라져요.</a:t>
            </a:r>
            <a:endParaRPr lang="ko-KR" sz="2800" dirty="0"/>
          </a:p>
        </p:txBody>
      </p:sp>
      <p:sp>
        <p:nvSpPr>
          <p:cNvPr id="9" name="S08-chip8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08-text8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 캔만 붙어요. 그래서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캔을 나눌 수 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예상해 봐요</a:t>
            </a:r>
            <a:endParaRPr lang="ko-KR" sz="4000" dirty="0"/>
          </a:p>
        </p:txBody>
      </p:sp>
      <p:sp>
        <p:nvSpPr>
          <p:cNvPr id="3" name="S09-text8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소금과 모래가 섞인 것에 물을 부어 저어요.</a:t>
            </a:r>
            <a:endParaRPr lang="ko-KR" sz="2800" dirty="0"/>
          </a:p>
        </p:txBody>
      </p:sp>
      <p:sp>
        <p:nvSpPr>
          <p:cNvPr id="4" name="S09-card8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9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2에 써요.</a:t>
            </a:r>
            <a:endParaRPr lang="ko-KR" sz="2800" dirty="0"/>
          </a:p>
        </p:txBody>
      </p:sp>
      <p:graphicFrame>
        <p:nvGraphicFramePr>
          <p:cNvPr id="10" name="S09-table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5783580"/>
                <a:gridCol w="473202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저은 뒤 소금은?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커피 필터 위에 남는 것은?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거른 물을 말리면?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녹이고 거르고 말려요</a:t>
            </a:r>
            <a:endParaRPr lang="ko-KR" sz="4000" dirty="0"/>
          </a:p>
        </p:txBody>
      </p:sp>
      <p:sp>
        <p:nvSpPr>
          <p:cNvPr id="3" name="S10-card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거른 물은 맛보지 않아요. 드라이어는 어른이 써요.</a:t>
            </a:r>
            <a:endParaRPr lang="ko-KR" sz="2800" dirty="0"/>
          </a:p>
        </p:txBody>
      </p:sp>
      <p:sp>
        <p:nvSpPr>
          <p:cNvPr id="5" name="S10-figure94" descr="빈 컵 위에 원뿔 모양으로 편 커피 필터를 얹고, 섞은 물을 위에서 붓는 그림"/>
          <p:cNvSpPr/>
          <p:nvPr/>
        </p:nvSpPr>
        <p:spPr>
          <a:xfrm>
            <a:off x="9063332" y="2264587"/>
            <a:ext cx="937933" cy="854887"/>
          </a:xfrm>
          <a:custGeom>
            <a:avLst/>
            <a:gdLst/>
            <a:ahLst/>
            <a:cxnLst/>
            <a:rect l="l" t="t" r="r" b="b"/>
            <a:pathLst>
              <a:path w="937933" h="854887">
                <a:moveTo>
                  <a:pt x="0" y="0"/>
                </a:moveTo>
                <a:lnTo>
                  <a:pt x="102586" y="854887"/>
                </a:lnTo>
                <a:lnTo>
                  <a:pt x="835346" y="854887"/>
                </a:lnTo>
                <a:lnTo>
                  <a:pt x="937933" y="0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10-mark95"/>
          <p:cNvSpPr/>
          <p:nvPr/>
        </p:nvSpPr>
        <p:spPr>
          <a:xfrm>
            <a:off x="8982729" y="1715017"/>
            <a:ext cx="1099140" cy="793823"/>
          </a:xfrm>
          <a:custGeom>
            <a:avLst/>
            <a:gdLst/>
            <a:ahLst/>
            <a:cxnLst/>
            <a:rect l="l" t="t" r="r" b="b"/>
            <a:pathLst>
              <a:path w="1099140" h="793823">
                <a:moveTo>
                  <a:pt x="0" y="0"/>
                </a:moveTo>
                <a:lnTo>
                  <a:pt x="1099140" y="0"/>
                </a:lnTo>
                <a:lnTo>
                  <a:pt x="671697" y="793823"/>
                </a:lnTo>
                <a:lnTo>
                  <a:pt x="427443" y="793823"/>
                </a:lnTo>
                <a:close/>
              </a:path>
            </a:pathLst>
          </a:custGeom>
          <a:solidFill>
            <a:srgbClr val="FFF7E6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10-mark96"/>
          <p:cNvSpPr/>
          <p:nvPr/>
        </p:nvSpPr>
        <p:spPr>
          <a:xfrm>
            <a:off x="8494222" y="1470763"/>
            <a:ext cx="549570" cy="36638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10-label98"/>
          <p:cNvSpPr txBox="1"/>
          <p:nvPr/>
        </p:nvSpPr>
        <p:spPr>
          <a:xfrm>
            <a:off x="9203622" y="1671083"/>
            <a:ext cx="65735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커피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</a:t>
            </a:r>
            <a:endParaRPr lang="ko-KR" sz="2200" dirty="0"/>
          </a:p>
        </p:txBody>
      </p:sp>
      <p:sp>
        <p:nvSpPr>
          <p:cNvPr id="9" name="S10-label100"/>
          <p:cNvSpPr txBox="1"/>
          <p:nvPr/>
        </p:nvSpPr>
        <p:spPr>
          <a:xfrm>
            <a:off x="9340528" y="263953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</a:t>
            </a:r>
            <a:endParaRPr lang="ko-KR" sz="2200" dirty="0"/>
          </a:p>
        </p:txBody>
      </p:sp>
      <p:sp>
        <p:nvSpPr>
          <p:cNvPr id="10" name="S10-label102"/>
          <p:cNvSpPr txBox="1"/>
          <p:nvPr/>
        </p:nvSpPr>
        <p:spPr>
          <a:xfrm>
            <a:off x="8306925" y="1602673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붓기</a:t>
            </a:r>
            <a:endParaRPr lang="ko-KR" sz="1800" dirty="0"/>
          </a:p>
        </p:txBody>
      </p:sp>
      <p:sp>
        <p:nvSpPr>
          <p:cNvPr id="11" name="S10-card103"/>
          <p:cNvSpPr/>
          <p:nvPr/>
        </p:nvSpPr>
        <p:spPr>
          <a:xfrm>
            <a:off x="6813652" y="3523488"/>
            <a:ext cx="4826660" cy="1597152"/>
          </a:xfrm>
          <a:prstGeom prst="roundRect">
            <a:avLst>
              <a:gd name="adj" fmla="val 687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10-cardtext104"/>
          <p:cNvSpPr txBox="1"/>
          <p:nvPr/>
        </p:nvSpPr>
        <p:spPr>
          <a:xfrm>
            <a:off x="7087972" y="3660648"/>
            <a:ext cx="427802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필터 위에 남은 것을 봐요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말린 뒤 접시를 봐요</a:t>
            </a:r>
            <a:endParaRPr lang="ko-KR" sz="2800" dirty="0"/>
          </a:p>
        </p:txBody>
      </p:sp>
      <p:sp>
        <p:nvSpPr>
          <p:cNvPr id="13" name="S10-stepno105"/>
          <p:cNvSpPr txBox="1"/>
          <p:nvPr/>
        </p:nvSpPr>
        <p:spPr>
          <a:xfrm>
            <a:off x="548640" y="16586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4" name="S10-text106"/>
          <p:cNvSpPr txBox="1"/>
          <p:nvPr/>
        </p:nvSpPr>
        <p:spPr>
          <a:xfrm>
            <a:off x="1325880" y="1612900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혼합물에 물을 붓고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소금이 녹을 때까지 저어요.</a:t>
            </a:r>
            <a:endParaRPr lang="ko-KR" sz="2200" dirty="0"/>
          </a:p>
        </p:txBody>
      </p:sp>
      <p:sp>
        <p:nvSpPr>
          <p:cNvPr id="15" name="S10-stepno107"/>
          <p:cNvSpPr txBox="1"/>
          <p:nvPr/>
        </p:nvSpPr>
        <p:spPr>
          <a:xfrm>
            <a:off x="548640" y="25049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6" name="S10-text108"/>
          <p:cNvSpPr txBox="1"/>
          <p:nvPr/>
        </p:nvSpPr>
        <p:spPr>
          <a:xfrm>
            <a:off x="1325880" y="2459228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커피 필터를 얹은 컵에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천천히 부어요.</a:t>
            </a:r>
            <a:endParaRPr lang="ko-KR" sz="2200" dirty="0"/>
          </a:p>
        </p:txBody>
      </p:sp>
      <p:sp>
        <p:nvSpPr>
          <p:cNvPr id="17" name="S10-stepno109"/>
          <p:cNvSpPr txBox="1"/>
          <p:nvPr/>
        </p:nvSpPr>
        <p:spPr>
          <a:xfrm>
            <a:off x="548640" y="3351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8" name="S10-text110"/>
          <p:cNvSpPr txBox="1"/>
          <p:nvPr/>
        </p:nvSpPr>
        <p:spPr>
          <a:xfrm>
            <a:off x="1325880" y="3305556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 위와 거른 물을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살펴요.</a:t>
            </a:r>
            <a:endParaRPr lang="ko-KR" sz="2200" dirty="0"/>
          </a:p>
        </p:txBody>
      </p:sp>
      <p:sp>
        <p:nvSpPr>
          <p:cNvPr id="19" name="S10-stepno111"/>
          <p:cNvSpPr txBox="1"/>
          <p:nvPr/>
        </p:nvSpPr>
        <p:spPr>
          <a:xfrm>
            <a:off x="548640" y="41976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0" name="S10-text112"/>
          <p:cNvSpPr txBox="1"/>
          <p:nvPr/>
        </p:nvSpPr>
        <p:spPr>
          <a:xfrm>
            <a:off x="1325880" y="4151884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거른 물 몇 방울을 어두운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접시에 떨어뜨려 말려요.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11-text1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2를 보며 빈칸을 말로 채워요.</a:t>
            </a:r>
            <a:endParaRPr lang="ko-KR" sz="2800" dirty="0"/>
          </a:p>
        </p:txBody>
      </p:sp>
      <p:sp>
        <p:nvSpPr>
          <p:cNvPr id="4" name="S11-card1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1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소금과 모래는 어디로 갔나요?</a:t>
            </a:r>
            <a:endParaRPr lang="ko-KR" sz="2800" dirty="0"/>
          </a:p>
        </p:txBody>
      </p:sp>
      <p:graphicFrame>
        <p:nvGraphicFramePr>
          <p:cNvPr id="12" name="S11-table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362200"/>
          <a:ext cx="10515600" cy="91440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물에 넣고 저은 뒤 소금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커피 필터 위에 남은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거른 물의 모습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물방울이 마른 뒤 접시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녹이고, 거르고, 증발시켜요</a:t>
            </a:r>
            <a:endParaRPr lang="ko-KR" sz="4000" dirty="0"/>
          </a:p>
        </p:txBody>
      </p:sp>
      <p:sp>
        <p:nvSpPr>
          <p:cNvPr id="3" name="S12-text11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녹는 성질이 다른 소금과 모래는 이렇게 나눠요.</a:t>
            </a:r>
            <a:endParaRPr lang="ko-KR" sz="2800" dirty="0"/>
          </a:p>
        </p:txBody>
      </p:sp>
      <p:sp>
        <p:nvSpPr>
          <p:cNvPr id="4" name="S12-card1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2-cardtext1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염전에서는 바닷물을 증발시켜 소금을 얻어요.</a:t>
            </a:r>
            <a:endParaRPr lang="ko-KR" sz="2800" dirty="0"/>
          </a:p>
        </p:txBody>
      </p:sp>
      <p:sp>
        <p:nvSpPr>
          <p:cNvPr id="6" name="S12-step120"/>
          <p:cNvSpPr txBox="1"/>
          <p:nvPr/>
        </p:nvSpPr>
        <p:spPr>
          <a:xfrm>
            <a:off x="548640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소금과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모래</a:t>
            </a:r>
            <a:endParaRPr lang="ko-KR" sz="2200" dirty="0"/>
          </a:p>
        </p:txBody>
      </p:sp>
      <p:sp>
        <p:nvSpPr>
          <p:cNvPr id="7" name="S12-line121"/>
          <p:cNvSpPr/>
          <p:nvPr/>
        </p:nvSpPr>
        <p:spPr>
          <a:xfrm>
            <a:off x="3067812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12-step122"/>
          <p:cNvSpPr txBox="1"/>
          <p:nvPr/>
        </p:nvSpPr>
        <p:spPr>
          <a:xfrm>
            <a:off x="3424428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녹여요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(소금이 녹음)</a:t>
            </a:r>
            <a:endParaRPr lang="ko-KR" sz="2200" dirty="0"/>
          </a:p>
        </p:txBody>
      </p:sp>
      <p:sp>
        <p:nvSpPr>
          <p:cNvPr id="9" name="S12-line123"/>
          <p:cNvSpPr/>
          <p:nvPr/>
        </p:nvSpPr>
        <p:spPr>
          <a:xfrm>
            <a:off x="594360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2-step124"/>
          <p:cNvSpPr txBox="1"/>
          <p:nvPr/>
        </p:nvSpPr>
        <p:spPr>
          <a:xfrm>
            <a:off x="6300216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걸러요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(모래가 남음)</a:t>
            </a:r>
            <a:endParaRPr lang="ko-KR" sz="2200" dirty="0"/>
          </a:p>
        </p:txBody>
      </p:sp>
      <p:sp>
        <p:nvSpPr>
          <p:cNvPr id="11" name="S12-line125"/>
          <p:cNvSpPr/>
          <p:nvPr/>
        </p:nvSpPr>
        <p:spPr>
          <a:xfrm>
            <a:off x="8819388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12-step126"/>
          <p:cNvSpPr txBox="1"/>
          <p:nvPr/>
        </p:nvSpPr>
        <p:spPr>
          <a:xfrm>
            <a:off x="9176004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증발시켜요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(소금이 남음)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3-card12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2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커피 필터로 거른 물이 맑아요.</a:t>
            </a:r>
            <a:endParaRPr lang="ko-KR" sz="2800" dirty="0"/>
          </a:p>
        </p:txBody>
      </p:sp>
      <p:sp>
        <p:nvSpPr>
          <p:cNvPr id="5" name="S13-card1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3-cardtext1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2800" dirty="0"/>
          </a:p>
        </p:txBody>
      </p:sp>
      <p:sp>
        <p:nvSpPr>
          <p:cNvPr id="7" name="S13-chip13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13-text13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맑으니까 물만 있고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소금은 걸러졌어요.</a:t>
            </a:r>
            <a:endParaRPr lang="ko-KR" sz="2800" dirty="0"/>
          </a:p>
        </p:txBody>
      </p:sp>
      <p:sp>
        <p:nvSpPr>
          <p:cNvPr id="9" name="S13-chip13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13-text13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소금이 녹은 채로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필터를 지나갔어요.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나눌까요?</a:t>
            </a:r>
            <a:endParaRPr lang="ko-KR" sz="4000" dirty="0"/>
          </a:p>
        </p:txBody>
      </p:sp>
      <p:sp>
        <p:nvSpPr>
          <p:cNvPr id="3" name="S14-text1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성질을 찾고, 분리 방법과 까닭을 말해요.</a:t>
            </a:r>
            <a:endParaRPr lang="ko-KR" sz="2800" dirty="0"/>
          </a:p>
        </p:txBody>
      </p:sp>
      <p:sp>
        <p:nvSpPr>
          <p:cNvPr id="4" name="S14-card1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4-cardtext1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크기가 달라요? 자석에 붙어요? 물에 녹아요?</a:t>
            </a:r>
            <a:endParaRPr lang="ko-KR" sz="2800" dirty="0"/>
          </a:p>
        </p:txBody>
      </p:sp>
      <p:sp>
        <p:nvSpPr>
          <p:cNvPr id="6" name="S14-chip13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4-text13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 못과 나무 구슬</a:t>
            </a:r>
            <a:endParaRPr lang="ko-KR" sz="2800" dirty="0"/>
          </a:p>
        </p:txBody>
      </p:sp>
      <p:sp>
        <p:nvSpPr>
          <p:cNvPr id="8" name="S14-chip14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4-text14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콩과 좁쌀</a:t>
            </a:r>
            <a:endParaRPr lang="ko-KR" sz="2800" dirty="0"/>
          </a:p>
        </p:txBody>
      </p:sp>
      <p:sp>
        <p:nvSpPr>
          <p:cNvPr id="10" name="S14-chip14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4-text14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흙탕물에 섞인 흙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5-chip14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5-text145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모래와 자갈을 나누는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방법과 까닭은?</a:t>
            </a:r>
            <a:endParaRPr lang="ko-KR" sz="2800" dirty="0"/>
          </a:p>
        </p:txBody>
      </p:sp>
      <p:sp>
        <p:nvSpPr>
          <p:cNvPr id="5" name="S15-chip146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5-text147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모래에 섞인 쇳가루를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방법은?</a:t>
            </a:r>
            <a:endParaRPr lang="ko-KR" sz="2800" dirty="0"/>
          </a:p>
        </p:txBody>
      </p:sp>
      <p:sp>
        <p:nvSpPr>
          <p:cNvPr id="7" name="S15-chip148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5-text149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소금과 흙이 섞였어요.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소금을 얻는 순서는?</a:t>
            </a:r>
            <a:endParaRPr lang="ko-KR" sz="2800" dirty="0"/>
          </a:p>
        </p:txBody>
      </p:sp>
      <p:sp>
        <p:nvSpPr>
          <p:cNvPr id="9" name="S15-chip150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5-text151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흙탕물을 거르면 필터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 남는 것은?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6-card1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6-cardtext1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성질을 먼저 찾으면 방법이 보여요.</a:t>
            </a:r>
            <a:endParaRPr lang="ko-KR" sz="2800" dirty="0"/>
          </a:p>
        </p:txBody>
      </p:sp>
      <p:sp>
        <p:nvSpPr>
          <p:cNvPr id="5" name="S16-chip15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6-text155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체</a:t>
            </a:r>
            <a:endParaRPr lang="ko-KR" sz="2800" dirty="0"/>
          </a:p>
        </p:txBody>
      </p:sp>
      <p:sp>
        <p:nvSpPr>
          <p:cNvPr id="7" name="S16-text156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알갱이 크기</a:t>
            </a:r>
            <a:endParaRPr lang="ko-KR" sz="2200" dirty="0"/>
          </a:p>
        </p:txBody>
      </p:sp>
      <p:sp>
        <p:nvSpPr>
          <p:cNvPr id="8" name="S16-text157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자석</a:t>
            </a:r>
            <a:endParaRPr lang="ko-KR" sz="2800" dirty="0"/>
          </a:p>
        </p:txBody>
      </p:sp>
      <p:sp>
        <p:nvSpPr>
          <p:cNvPr id="9" name="S16-text158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쇳가루가 붙음</a:t>
            </a:r>
            <a:endParaRPr lang="ko-KR" sz="2200" dirty="0"/>
          </a:p>
        </p:txBody>
      </p:sp>
      <p:sp>
        <p:nvSpPr>
          <p:cNvPr id="10" name="S16-text159"/>
          <p:cNvSpPr txBox="1"/>
          <p:nvPr/>
        </p:nvSpPr>
        <p:spPr>
          <a:xfrm>
            <a:off x="548640" y="36576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녹이기 → 거르기 → 증발</a:t>
            </a:r>
            <a:endParaRPr lang="ko-KR" sz="2800" dirty="0"/>
          </a:p>
        </p:txBody>
      </p:sp>
      <p:sp>
        <p:nvSpPr>
          <p:cNvPr id="11" name="S16-text160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흙</a:t>
            </a:r>
            <a:endParaRPr lang="ko-KR" sz="2800" dirty="0"/>
          </a:p>
        </p:txBody>
      </p:sp>
      <p:sp>
        <p:nvSpPr>
          <p:cNvPr id="12" name="S16-text161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녹지 않은 것</a:t>
            </a:r>
            <a:endParaRPr lang="ko-KR" sz="2200" dirty="0"/>
          </a:p>
        </p:txBody>
      </p:sp>
      <p:sp>
        <p:nvSpPr>
          <p:cNvPr id="13" name="S16-chip16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4" name="S16-text16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바로 증발</a:t>
            </a:r>
            <a:endParaRPr lang="ko-KR" sz="2800" dirty="0"/>
          </a:p>
        </p:txBody>
      </p:sp>
      <p:sp>
        <p:nvSpPr>
          <p:cNvPr id="15" name="S16-text16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흙도 함께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남음</a:t>
            </a:r>
            <a:endParaRPr lang="ko-KR" sz="2200" dirty="0"/>
          </a:p>
        </p:txBody>
      </p:sp>
      <p:sp>
        <p:nvSpPr>
          <p:cNvPr id="16" name="S16-text16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소금도 남음</a:t>
            </a:r>
            <a:endParaRPr lang="ko-KR" sz="2800" dirty="0"/>
          </a:p>
        </p:txBody>
      </p:sp>
      <p:sp>
        <p:nvSpPr>
          <p:cNvPr id="17" name="S16-text16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녹은 것은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지나감(M1)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염전은 어떻게 소금을 얻을까요?</a:t>
            </a:r>
            <a:endParaRPr lang="ko-KR" sz="4000" dirty="0"/>
          </a:p>
        </p:txBody>
      </p:sp>
      <p:sp>
        <p:nvSpPr>
          <p:cNvPr id="3" name="S17-text1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염전에서는 바닷물을 넓은 바닥에 가두어 소금을 얻어요.</a:t>
            </a:r>
            <a:endParaRPr lang="ko-KR" sz="2800" dirty="0"/>
          </a:p>
        </p:txBody>
      </p:sp>
      <p:sp>
        <p:nvSpPr>
          <p:cNvPr id="4" name="S17-card1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7-cardtext1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그렇게 생각한 까닭을 말해요.</a:t>
            </a:r>
            <a:endParaRPr lang="ko-KR" sz="2800" dirty="0"/>
          </a:p>
        </p:txBody>
      </p:sp>
      <p:sp>
        <p:nvSpPr>
          <p:cNvPr id="6" name="S17-chip17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7-card171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7-cardtext172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고운 체로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바닷물을 걸러요.</a:t>
            </a:r>
            <a:endParaRPr lang="ko-KR" sz="2800" dirty="0"/>
          </a:p>
        </p:txBody>
      </p:sp>
      <p:sp>
        <p:nvSpPr>
          <p:cNvPr id="9" name="S17-chip173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7-card174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7-cardtext175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자석을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바닷물에 넣어요.</a:t>
            </a:r>
            <a:endParaRPr lang="ko-KR" sz="2800" dirty="0"/>
          </a:p>
        </p:txBody>
      </p:sp>
      <p:sp>
        <p:nvSpPr>
          <p:cNvPr id="12" name="S17-chip176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17-card177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7-cardtext178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햇볕과 바람으로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증발시켜요.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8-card179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8-cardtext180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혼합물은 크기·자석·녹는 성질처럼 다른 성질을 이용해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체·자석·거름·증발로 분리해요.</a:t>
            </a:r>
            <a:endParaRPr lang="ko-KR" sz="2800" dirty="0"/>
          </a:p>
        </p:txBody>
      </p:sp>
      <p:sp>
        <p:nvSpPr>
          <p:cNvPr id="5" name="S18-chip181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다른 성질부터 찾기</a:t>
            </a:r>
            <a:endParaRPr lang="ko-KR" sz="2200" dirty="0"/>
          </a:p>
        </p:txBody>
      </p:sp>
      <p:sp>
        <p:nvSpPr>
          <p:cNvPr id="6" name="S18-chip182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걸러진 물에 아무것도 없다고 생각하기</a:t>
            </a:r>
            <a:endParaRPr lang="ko-KR" sz="2000" dirty="0"/>
          </a:p>
        </p:txBody>
      </p:sp>
      <p:sp>
        <p:nvSpPr>
          <p:cNvPr id="7" name="S18-text183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8-text184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철 클립과 모래를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도구는?</a:t>
            </a:r>
            <a:endParaRPr lang="ko-KR" sz="2200" dirty="0"/>
          </a:p>
        </p:txBody>
      </p:sp>
      <p:sp>
        <p:nvSpPr>
          <p:cNvPr id="9" name="S18-text185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물에 녹지 않는 흙을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방법은?</a:t>
            </a:r>
            <a:endParaRPr lang="ko-KR" sz="2200" dirty="0"/>
          </a:p>
        </p:txBody>
      </p:sp>
      <p:sp>
        <p:nvSpPr>
          <p:cNvPr id="10" name="S18-text186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바닷물에서 소금을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얻는 방법은?</a:t>
            </a:r>
            <a:endParaRPr lang="ko-KR" sz="2200" dirty="0"/>
          </a:p>
        </p:txBody>
      </p:sp>
      <p:sp>
        <p:nvSpPr>
          <p:cNvPr id="11" name="S18-text18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우리 몸의 기관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녹는 것과 붙는 것</a:t>
            </a:r>
            <a:endParaRPr lang="ko-KR" sz="4000" dirty="0"/>
          </a:p>
        </p:txBody>
      </p:sp>
      <p:sp>
        <p:nvSpPr>
          <p:cNvPr id="3" name="S19-text18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해 보고 나눠 봐요.</a:t>
            </a:r>
            <a:endParaRPr lang="ko-KR" sz="2800" dirty="0"/>
          </a:p>
        </p:txBody>
      </p:sp>
      <p:sp>
        <p:nvSpPr>
          <p:cNvPr id="4" name="S19-card18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9-cardtext19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녹은 소금은 없어지지 않고 물에 섞여 있어요.</a:t>
            </a:r>
            <a:endParaRPr lang="ko-KR" sz="2800" dirty="0"/>
          </a:p>
        </p:txBody>
      </p:sp>
      <p:sp>
        <p:nvSpPr>
          <p:cNvPr id="6" name="S19-card191"/>
          <p:cNvSpPr/>
          <p:nvPr/>
        </p:nvSpPr>
        <p:spPr>
          <a:xfrm>
            <a:off x="548640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9-cardtext192"/>
          <p:cNvSpPr txBox="1"/>
          <p:nvPr/>
        </p:nvSpPr>
        <p:spPr>
          <a:xfrm>
            <a:off x="822960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녹아요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소금, 설탕</a:t>
            </a:r>
            <a:endParaRPr lang="ko-KR" sz="2800" dirty="0"/>
          </a:p>
        </p:txBody>
      </p:sp>
      <p:sp>
        <p:nvSpPr>
          <p:cNvPr id="8" name="S19-card193"/>
          <p:cNvSpPr/>
          <p:nvPr/>
        </p:nvSpPr>
        <p:spPr>
          <a:xfrm>
            <a:off x="6208776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9-cardtext194"/>
          <p:cNvSpPr txBox="1"/>
          <p:nvPr/>
        </p:nvSpPr>
        <p:spPr>
          <a:xfrm>
            <a:off x="6483096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녹지 않아요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모래, 흙, 밀가루</a:t>
            </a:r>
            <a:endParaRPr lang="ko-KR" sz="2800" dirty="0"/>
          </a:p>
        </p:txBody>
      </p:sp>
      <p:sp>
        <p:nvSpPr>
          <p:cNvPr id="10" name="S19-card195"/>
          <p:cNvSpPr/>
          <p:nvPr/>
        </p:nvSpPr>
        <p:spPr>
          <a:xfrm>
            <a:off x="548640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9-cardtext196"/>
          <p:cNvSpPr txBox="1"/>
          <p:nvPr/>
        </p:nvSpPr>
        <p:spPr>
          <a:xfrm>
            <a:off x="822960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자석에 붙어요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철로 만든 물체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(클립, 못)</a:t>
            </a:r>
            <a:endParaRPr lang="ko-KR" sz="2200" dirty="0"/>
          </a:p>
        </p:txBody>
      </p:sp>
      <p:sp>
        <p:nvSpPr>
          <p:cNvPr id="12" name="S19-card197"/>
          <p:cNvSpPr/>
          <p:nvPr/>
        </p:nvSpPr>
        <p:spPr>
          <a:xfrm>
            <a:off x="6208776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9-cardtext198"/>
          <p:cNvSpPr txBox="1"/>
          <p:nvPr/>
        </p:nvSpPr>
        <p:spPr>
          <a:xfrm>
            <a:off x="6483096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자석에 붙지 않아요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알루미늄, 플라스틱,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과학 혼합물의 분리</dc:title>
  <dc:subject>KR22-G05-SCI-SEPARATE-L01</dc:subject>
  <dc:creator>education-ppt</dc:creator>
  <cp:lastModifiedBy>education-ppt</cp:lastModifiedBy>
  <cp:revision>1</cp:revision>
  <dcterms:created xsi:type="dcterms:W3CDTF">2026-10-26T13:44:16Z</dcterms:created>
  <dcterms:modified xsi:type="dcterms:W3CDTF">2026-10-26T13:44:16Z</dcterms:modified>
</cp:coreProperties>
</file>