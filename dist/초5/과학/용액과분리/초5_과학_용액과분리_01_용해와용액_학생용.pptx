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c658a5a-9fe4-08e4-a1e9-5be43d8f9176}">
          <p14:sldIdLst>
            <p14:sldId id="256"/>
            <p14:sldId id="257"/>
          </p14:sldIdLst>
        </p14:section>
        <p14:section name="연습" id="{40038687-01d4-b978-ca0c-530d6fe850da}">
          <p14:sldIdLst>
            <p14:sldId id="258"/>
            <p14:sldId id="259"/>
            <p14:sldId id="260"/>
            <p14:sldId id="262"/>
            <p14:sldId id="263"/>
            <p14:sldId id="264"/>
            <p14:sldId id="265"/>
            <p14:sldId id="267"/>
            <p14:sldId id="268"/>
            <p14:sldId id="269"/>
            <p14:sldId id="270"/>
            <p14:sldId id="272"/>
          </p14:sldIdLst>
        </p14:section>
        <p14:section name="개념" id="{622b8c5e-b23a-4bee-d196-71a3e990b85a}">
          <p14:sldIdLst>
            <p14:sldId id="261"/>
            <p14:sldId id="266"/>
            <p14:sldId id="271"/>
          </p14:sldIdLst>
        </p14:section>
        <p14:section name="연습" id="{2864e827-90f7-f0c3-8ea9-dbffc45f0510}">
          <p14:sldIdLst/>
        </p14:section>
        <p14:section name="개념" id="{96552f01-4501-ebab-210c-8ecd2a76e4ff}">
          <p14:sldIdLst/>
        </p14:section>
        <p14:section name="연습" id="{648c97d1-5a9a-7421-3be7-451d68f84f24}">
          <p14:sldIdLst/>
        </p14:section>
        <p14:section name="개념" id="{dd1eed17-ce0f-61cb-3dd5-0e629eb60ce6}">
          <p14:sldIdLst/>
        </p14:section>
        <p14:section name="연습" id="{b8d3a0a1-036f-3d0e-ba3b-7b609c7fc116}">
          <p14:sldIdLst/>
        </p14:section>
        <p14:section name="확인" id="{b124c43f-dbb8-4480-8cc9-8fbf2c1851ce}">
          <p14:sldIdLst>
            <p14:sldId id="273"/>
            <p14:sldId id="274"/>
          </p14:sldIdLst>
        </p14:section>
        <p14:section name="정리" id="{b4d1aae8-7165-a043-feb6-f656246db473}">
          <p14:sldIdLst>
            <p14:sldId id="275"/>
          </p14:sldIdLst>
        </p14:section>
        <p14:section name="보충" id="{a588a867-fa84-f0e8-1262-b19c54a18a4c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용액과분리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용해와 용액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용해와 용액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과학 · 용해와 용액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용해와 용액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녹은 설탕은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갔을까?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물이 든 투명한 컵 위의 숟가락에 흰 알갱이(설탕)가 담겨 있는 그림"/>
          <p:cNvSpPr/>
          <p:nvPr/>
        </p:nvSpPr>
        <p:spPr>
          <a:xfrm>
            <a:off x="8605972" y="1921644"/>
            <a:ext cx="1791534" cy="1415515"/>
          </a:xfrm>
          <a:custGeom>
            <a:avLst/>
            <a:gdLst/>
            <a:ahLst/>
            <a:cxnLst/>
            <a:rect l="l" t="t" r="r" b="b"/>
            <a:pathLst>
              <a:path w="1791534" h="1415515">
                <a:moveTo>
                  <a:pt x="169862" y="1415515"/>
                </a:moveTo>
                <a:lnTo>
                  <a:pt x="1621672" y="1415515"/>
                </a:lnTo>
                <a:lnTo>
                  <a:pt x="1791534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6" name="S01-mark3"/>
          <p:cNvSpPr/>
          <p:nvPr/>
        </p:nvSpPr>
        <p:spPr>
          <a:xfrm>
            <a:off x="8549351" y="1449805"/>
            <a:ext cx="1904775" cy="1887354"/>
          </a:xfrm>
          <a:custGeom>
            <a:avLst/>
            <a:gdLst/>
            <a:ahLst/>
            <a:cxnLst/>
            <a:rect l="l" t="t" r="r" b="b"/>
            <a:pathLst>
              <a:path w="1904775" h="1887354">
                <a:moveTo>
                  <a:pt x="0" y="0"/>
                </a:moveTo>
                <a:lnTo>
                  <a:pt x="226482" y="1887354"/>
                </a:lnTo>
                <a:lnTo>
                  <a:pt x="1678293" y="1887354"/>
                </a:lnTo>
                <a:lnTo>
                  <a:pt x="1904775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262190" y="992485"/>
            <a:ext cx="116145" cy="116145"/>
          </a:xfrm>
          <a:prstGeom prst="ellipse">
            <a:avLst/>
          </a:prstGeom>
          <a:solidFill>
            <a:srgbClr val="D1D5D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407371" y="1014262"/>
            <a:ext cx="116145" cy="116145"/>
          </a:xfrm>
          <a:prstGeom prst="ellipse">
            <a:avLst/>
          </a:prstGeom>
          <a:solidFill>
            <a:srgbClr val="D1D5D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552552" y="992485"/>
            <a:ext cx="116145" cy="116145"/>
          </a:xfrm>
          <a:prstGeom prst="ellipse">
            <a:avLst/>
          </a:prstGeom>
          <a:solidFill>
            <a:srgbClr val="D1D5D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661438" y="956190"/>
            <a:ext cx="116145" cy="116145"/>
          </a:xfrm>
          <a:prstGeom prst="ellipse">
            <a:avLst/>
          </a:prstGeom>
          <a:solidFill>
            <a:srgbClr val="D1D5D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9334781" y="905376"/>
            <a:ext cx="116145" cy="116145"/>
          </a:xfrm>
          <a:prstGeom prst="ellipse">
            <a:avLst/>
          </a:prstGeom>
          <a:solidFill>
            <a:srgbClr val="D1D5D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9479962" y="898117"/>
            <a:ext cx="116145" cy="116145"/>
          </a:xfrm>
          <a:prstGeom prst="ellipse">
            <a:avLst/>
          </a:prstGeom>
          <a:solidFill>
            <a:srgbClr val="D1D5D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9102491" y="869081"/>
            <a:ext cx="798496" cy="362953"/>
          </a:xfrm>
          <a:custGeom>
            <a:avLst/>
            <a:gdLst/>
            <a:ahLst/>
            <a:cxnLst/>
            <a:rect l="l" t="t" r="r" b="b"/>
            <a:pathLst>
              <a:path w="798496" h="362953">
                <a:moveTo>
                  <a:pt x="798496" y="181476"/>
                </a:moveTo>
                <a:lnTo>
                  <a:pt x="796977" y="165660"/>
                </a:lnTo>
                <a:lnTo>
                  <a:pt x="792430" y="149963"/>
                </a:lnTo>
                <a:lnTo>
                  <a:pt x="784892" y="134507"/>
                </a:lnTo>
                <a:lnTo>
                  <a:pt x="774418" y="119408"/>
                </a:lnTo>
                <a:lnTo>
                  <a:pt x="761089" y="104781"/>
                </a:lnTo>
                <a:lnTo>
                  <a:pt x="745007" y="90738"/>
                </a:lnTo>
                <a:lnTo>
                  <a:pt x="726293" y="77386"/>
                </a:lnTo>
                <a:lnTo>
                  <a:pt x="705090" y="64826"/>
                </a:lnTo>
                <a:lnTo>
                  <a:pt x="681559" y="53153"/>
                </a:lnTo>
                <a:lnTo>
                  <a:pt x="655879" y="42457"/>
                </a:lnTo>
                <a:lnTo>
                  <a:pt x="628247" y="32820"/>
                </a:lnTo>
                <a:lnTo>
                  <a:pt x="598872" y="24313"/>
                </a:lnTo>
                <a:lnTo>
                  <a:pt x="567977" y="17003"/>
                </a:lnTo>
                <a:lnTo>
                  <a:pt x="535799" y="10944"/>
                </a:lnTo>
                <a:lnTo>
                  <a:pt x="502581" y="6184"/>
                </a:lnTo>
                <a:lnTo>
                  <a:pt x="468577" y="2757"/>
                </a:lnTo>
                <a:lnTo>
                  <a:pt x="434045" y="691"/>
                </a:lnTo>
                <a:lnTo>
                  <a:pt x="399248" y="0"/>
                </a:lnTo>
                <a:lnTo>
                  <a:pt x="364451" y="691"/>
                </a:lnTo>
                <a:lnTo>
                  <a:pt x="329919" y="2757"/>
                </a:lnTo>
                <a:lnTo>
                  <a:pt x="295915" y="6184"/>
                </a:lnTo>
                <a:lnTo>
                  <a:pt x="262697" y="10944"/>
                </a:lnTo>
                <a:lnTo>
                  <a:pt x="230518" y="17003"/>
                </a:lnTo>
                <a:lnTo>
                  <a:pt x="199624" y="24313"/>
                </a:lnTo>
                <a:lnTo>
                  <a:pt x="170249" y="32820"/>
                </a:lnTo>
                <a:lnTo>
                  <a:pt x="142616" y="42457"/>
                </a:lnTo>
                <a:lnTo>
                  <a:pt x="116937" y="53153"/>
                </a:lnTo>
                <a:lnTo>
                  <a:pt x="93406" y="64826"/>
                </a:lnTo>
                <a:lnTo>
                  <a:pt x="72203" y="77386"/>
                </a:lnTo>
                <a:lnTo>
                  <a:pt x="53489" y="90738"/>
                </a:lnTo>
                <a:lnTo>
                  <a:pt x="37406" y="104781"/>
                </a:lnTo>
                <a:lnTo>
                  <a:pt x="24078" y="119408"/>
                </a:lnTo>
                <a:lnTo>
                  <a:pt x="13604" y="134507"/>
                </a:lnTo>
                <a:lnTo>
                  <a:pt x="6065" y="149963"/>
                </a:lnTo>
                <a:lnTo>
                  <a:pt x="1519" y="165660"/>
                </a:lnTo>
                <a:lnTo>
                  <a:pt x="0" y="181476"/>
                </a:lnTo>
                <a:lnTo>
                  <a:pt x="1519" y="197293"/>
                </a:lnTo>
                <a:lnTo>
                  <a:pt x="6065" y="212989"/>
                </a:lnTo>
                <a:lnTo>
                  <a:pt x="13604" y="228446"/>
                </a:lnTo>
                <a:lnTo>
                  <a:pt x="24078" y="243545"/>
                </a:lnTo>
                <a:lnTo>
                  <a:pt x="37406" y="258172"/>
                </a:lnTo>
                <a:lnTo>
                  <a:pt x="53489" y="272214"/>
                </a:lnTo>
                <a:lnTo>
                  <a:pt x="72203" y="285567"/>
                </a:lnTo>
                <a:lnTo>
                  <a:pt x="93406" y="298127"/>
                </a:lnTo>
                <a:lnTo>
                  <a:pt x="116937" y="309799"/>
                </a:lnTo>
                <a:lnTo>
                  <a:pt x="142616" y="320495"/>
                </a:lnTo>
                <a:lnTo>
                  <a:pt x="170249" y="330133"/>
                </a:lnTo>
                <a:lnTo>
                  <a:pt x="199624" y="338639"/>
                </a:lnTo>
                <a:lnTo>
                  <a:pt x="230518" y="345950"/>
                </a:lnTo>
                <a:lnTo>
                  <a:pt x="262697" y="352008"/>
                </a:lnTo>
                <a:lnTo>
                  <a:pt x="295915" y="356769"/>
                </a:lnTo>
                <a:lnTo>
                  <a:pt x="329919" y="360196"/>
                </a:lnTo>
                <a:lnTo>
                  <a:pt x="364451" y="362262"/>
                </a:lnTo>
                <a:lnTo>
                  <a:pt x="399248" y="362953"/>
                </a:lnTo>
                <a:lnTo>
                  <a:pt x="434045" y="362262"/>
                </a:lnTo>
                <a:lnTo>
                  <a:pt x="468577" y="360196"/>
                </a:lnTo>
                <a:lnTo>
                  <a:pt x="502581" y="356769"/>
                </a:lnTo>
                <a:lnTo>
                  <a:pt x="535799" y="352008"/>
                </a:lnTo>
                <a:lnTo>
                  <a:pt x="567977" y="345950"/>
                </a:lnTo>
                <a:lnTo>
                  <a:pt x="598872" y="338639"/>
                </a:lnTo>
                <a:lnTo>
                  <a:pt x="628247" y="330133"/>
                </a:lnTo>
                <a:lnTo>
                  <a:pt x="655879" y="320495"/>
                </a:lnTo>
                <a:lnTo>
                  <a:pt x="681559" y="309799"/>
                </a:lnTo>
                <a:lnTo>
                  <a:pt x="705090" y="298127"/>
                </a:lnTo>
                <a:lnTo>
                  <a:pt x="726293" y="285567"/>
                </a:lnTo>
                <a:lnTo>
                  <a:pt x="745007" y="272214"/>
                </a:lnTo>
                <a:lnTo>
                  <a:pt x="761089" y="258172"/>
                </a:lnTo>
                <a:lnTo>
                  <a:pt x="774418" y="243545"/>
                </a:lnTo>
                <a:lnTo>
                  <a:pt x="784892" y="228446"/>
                </a:lnTo>
                <a:lnTo>
                  <a:pt x="792430" y="212989"/>
                </a:lnTo>
                <a:lnTo>
                  <a:pt x="796977" y="197293"/>
                </a:lnTo>
                <a:close/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 flipV="1">
            <a:off x="9864692" y="723900"/>
            <a:ext cx="1016267" cy="254067"/>
          </a:xfrm>
          <a:prstGeom prst="line">
            <a:avLst/>
          </a:prstGeom>
          <a:noFill/>
          <a:ln w="38100">
            <a:solidFill>
              <a:srgbClr val="1F2937"/>
            </a:solidFill>
            <a:prstDash val="solid"/>
          </a:ln>
        </p:spPr>
      </p:sp>
      <p:sp>
        <p:nvSpPr>
          <p:cNvPr id="15" name="S01-card1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6" name="S01-cardtext1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녹는 것과 녹지 않는 것을 비교하고 용액을 알아봐요.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빨리 녹이는 방법과 용액의 진하기를 비교해요.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4학년 기억하기</a:t>
            </a:r>
            <a:endParaRPr lang="ko-KR" sz="4000" dirty="0"/>
          </a:p>
        </p:txBody>
      </p:sp>
      <p:sp>
        <p:nvSpPr>
          <p:cNvPr id="3" name="S02-chip1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 녹으면 무엇이 되나요?</a:t>
            </a:r>
            <a:endParaRPr lang="ko-KR" sz="2800" dirty="0"/>
          </a:p>
        </p:txBody>
      </p:sp>
      <p:sp>
        <p:nvSpPr>
          <p:cNvPr id="5" name="S02-chip16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7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접시의 물을 오래 두면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어떻게 되나요?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양의 찬물에 한 숟가락씩 넣고 저어요.</a:t>
            </a:r>
            <a:endParaRPr lang="ko-KR" sz="2800" dirty="0"/>
          </a:p>
        </p:txBody>
      </p:sp>
      <p:sp>
        <p:nvSpPr>
          <p:cNvPr id="4" name="S03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2800" dirty="0"/>
          </a:p>
        </p:txBody>
      </p:sp>
      <p:graphicFrame>
        <p:nvGraphicFramePr>
          <p:cNvPr id="4" name="S03-table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541016"/>
          <a:ext cx="9601200" cy="914400"/>
        </p:xfrm>
        <a:graphic>
          <a:graphicData uri="http://schemas.openxmlformats.org/drawingml/2006/table">
            <a:tbl>
              <a:tblPr/>
              <a:tblGrid>
                <a:gridCol w="4320540"/>
                <a:gridCol w="528066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넣는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예상(녹을까요?)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밀가루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넣고 저어요</a:t>
            </a:r>
            <a:endParaRPr lang="ko-KR" sz="4000" dirty="0"/>
          </a:p>
        </p:txBody>
      </p:sp>
      <p:sp>
        <p:nvSpPr>
          <p:cNvPr id="3" name="S04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플라스틱 컵을 쓰고, 흘린 것은 바로 닦아요.</a:t>
            </a:r>
            <a:endParaRPr lang="ko-KR" sz="2800" dirty="0"/>
          </a:p>
        </p:txBody>
      </p:sp>
      <p:sp>
        <p:nvSpPr>
          <p:cNvPr id="5" name="S04-figure24" descr="같은 양의 찬물을 담은 컵 세 개: 소금, 설탕, 밀가루를 넣을 컵"/>
          <p:cNvSpPr/>
          <p:nvPr/>
        </p:nvSpPr>
        <p:spPr>
          <a:xfrm>
            <a:off x="7377141" y="1810914"/>
            <a:ext cx="997630" cy="745111"/>
          </a:xfrm>
          <a:custGeom>
            <a:avLst/>
            <a:gdLst/>
            <a:ahLst/>
            <a:cxnLst/>
            <a:rect l="l" t="t" r="r" b="b"/>
            <a:pathLst>
              <a:path w="997630" h="745111">
                <a:moveTo>
                  <a:pt x="89413" y="745111"/>
                </a:moveTo>
                <a:lnTo>
                  <a:pt x="908217" y="745111"/>
                </a:lnTo>
                <a:lnTo>
                  <a:pt x="997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6" name="S04-mark25"/>
          <p:cNvSpPr/>
          <p:nvPr/>
        </p:nvSpPr>
        <p:spPr>
          <a:xfrm>
            <a:off x="7338821" y="1491580"/>
            <a:ext cx="1074270" cy="1064445"/>
          </a:xfrm>
          <a:custGeom>
            <a:avLst/>
            <a:gdLst/>
            <a:ahLst/>
            <a:cxnLst/>
            <a:rect l="l" t="t" r="r" b="b"/>
            <a:pathLst>
              <a:path w="1074270" h="1064445">
                <a:moveTo>
                  <a:pt x="0" y="0"/>
                </a:moveTo>
                <a:lnTo>
                  <a:pt x="127733" y="1064445"/>
                </a:lnTo>
                <a:lnTo>
                  <a:pt x="946537" y="1064445"/>
                </a:lnTo>
                <a:lnTo>
                  <a:pt x="107427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4-mark26"/>
          <p:cNvSpPr/>
          <p:nvPr/>
        </p:nvSpPr>
        <p:spPr>
          <a:xfrm>
            <a:off x="8769107" y="1810914"/>
            <a:ext cx="997630" cy="745111"/>
          </a:xfrm>
          <a:custGeom>
            <a:avLst/>
            <a:gdLst/>
            <a:ahLst/>
            <a:cxnLst/>
            <a:rect l="l" t="t" r="r" b="b"/>
            <a:pathLst>
              <a:path w="997630" h="745111">
                <a:moveTo>
                  <a:pt x="89413" y="745111"/>
                </a:moveTo>
                <a:lnTo>
                  <a:pt x="908217" y="745111"/>
                </a:lnTo>
                <a:lnTo>
                  <a:pt x="997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8" name="S04-mark27"/>
          <p:cNvSpPr/>
          <p:nvPr/>
        </p:nvSpPr>
        <p:spPr>
          <a:xfrm>
            <a:off x="8730787" y="1491580"/>
            <a:ext cx="1074270" cy="1064445"/>
          </a:xfrm>
          <a:custGeom>
            <a:avLst/>
            <a:gdLst/>
            <a:ahLst/>
            <a:cxnLst/>
            <a:rect l="l" t="t" r="r" b="b"/>
            <a:pathLst>
              <a:path w="1074270" h="1064445">
                <a:moveTo>
                  <a:pt x="0" y="0"/>
                </a:moveTo>
                <a:lnTo>
                  <a:pt x="127733" y="1064445"/>
                </a:lnTo>
                <a:lnTo>
                  <a:pt x="946537" y="1064445"/>
                </a:lnTo>
                <a:lnTo>
                  <a:pt x="107427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4-mark28"/>
          <p:cNvSpPr/>
          <p:nvPr/>
        </p:nvSpPr>
        <p:spPr>
          <a:xfrm>
            <a:off x="10161073" y="1810914"/>
            <a:ext cx="997630" cy="745111"/>
          </a:xfrm>
          <a:custGeom>
            <a:avLst/>
            <a:gdLst/>
            <a:ahLst/>
            <a:cxnLst/>
            <a:rect l="l" t="t" r="r" b="b"/>
            <a:pathLst>
              <a:path w="997630" h="745111">
                <a:moveTo>
                  <a:pt x="89413" y="745111"/>
                </a:moveTo>
                <a:lnTo>
                  <a:pt x="908217" y="745111"/>
                </a:lnTo>
                <a:lnTo>
                  <a:pt x="997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10" name="S04-mark29"/>
          <p:cNvSpPr/>
          <p:nvPr/>
        </p:nvSpPr>
        <p:spPr>
          <a:xfrm>
            <a:off x="10122753" y="1491580"/>
            <a:ext cx="1074270" cy="1064445"/>
          </a:xfrm>
          <a:custGeom>
            <a:avLst/>
            <a:gdLst/>
            <a:ahLst/>
            <a:cxnLst/>
            <a:rect l="l" t="t" r="r" b="b"/>
            <a:pathLst>
              <a:path w="1074270" h="1064445">
                <a:moveTo>
                  <a:pt x="0" y="0"/>
                </a:moveTo>
                <a:lnTo>
                  <a:pt x="127733" y="1064445"/>
                </a:lnTo>
                <a:lnTo>
                  <a:pt x="946537" y="1064445"/>
                </a:lnTo>
                <a:lnTo>
                  <a:pt x="107427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4-label31"/>
          <p:cNvSpPr txBox="1"/>
          <p:nvPr/>
        </p:nvSpPr>
        <p:spPr>
          <a:xfrm>
            <a:off x="7597064" y="2720201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</a:t>
            </a:r>
            <a:endParaRPr lang="ko-KR" sz="1800" dirty="0"/>
          </a:p>
        </p:txBody>
      </p:sp>
      <p:sp>
        <p:nvSpPr>
          <p:cNvPr id="12" name="S04-label33"/>
          <p:cNvSpPr txBox="1"/>
          <p:nvPr/>
        </p:nvSpPr>
        <p:spPr>
          <a:xfrm>
            <a:off x="8989030" y="2720201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</a:t>
            </a:r>
            <a:endParaRPr lang="ko-KR" sz="1800" dirty="0"/>
          </a:p>
        </p:txBody>
      </p:sp>
      <p:sp>
        <p:nvSpPr>
          <p:cNvPr id="13" name="S04-label35"/>
          <p:cNvSpPr txBox="1"/>
          <p:nvPr/>
        </p:nvSpPr>
        <p:spPr>
          <a:xfrm>
            <a:off x="10268982" y="2720201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밀가루</a:t>
            </a:r>
            <a:endParaRPr lang="ko-KR" sz="1800" dirty="0"/>
          </a:p>
        </p:txBody>
      </p:sp>
      <p:sp>
        <p:nvSpPr>
          <p:cNvPr id="14" name="S04-card36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4-cardtext37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물이 맑은지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바닥에 가라앉는지 봐요</a:t>
            </a:r>
            <a:endParaRPr lang="ko-KR" sz="2800" dirty="0"/>
          </a:p>
        </p:txBody>
      </p:sp>
      <p:sp>
        <p:nvSpPr>
          <p:cNvPr id="16" name="S04-stepno38"/>
          <p:cNvSpPr txBox="1"/>
          <p:nvPr/>
        </p:nvSpPr>
        <p:spPr>
          <a:xfrm>
            <a:off x="548640" y="1446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7" name="S04-text39"/>
          <p:cNvSpPr txBox="1"/>
          <p:nvPr/>
        </p:nvSpPr>
        <p:spPr>
          <a:xfrm>
            <a:off x="1325880" y="140055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3개에 찬물을 반 컵씩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담아요.</a:t>
            </a:r>
            <a:endParaRPr lang="ko-KR" sz="2800" dirty="0"/>
          </a:p>
        </p:txBody>
      </p:sp>
      <p:sp>
        <p:nvSpPr>
          <p:cNvPr id="18" name="S04-stepno40"/>
          <p:cNvSpPr txBox="1"/>
          <p:nvPr/>
        </p:nvSpPr>
        <p:spPr>
          <a:xfrm>
            <a:off x="548640" y="24785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9" name="S04-text41"/>
          <p:cNvSpPr txBox="1"/>
          <p:nvPr/>
        </p:nvSpPr>
        <p:spPr>
          <a:xfrm>
            <a:off x="1325880" y="243281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소금·설탕·밀가루를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숟가락씩 넣어요.</a:t>
            </a:r>
            <a:endParaRPr lang="ko-KR" sz="2800" dirty="0"/>
          </a:p>
        </p:txBody>
      </p:sp>
      <p:sp>
        <p:nvSpPr>
          <p:cNvPr id="20" name="S04-stepno42"/>
          <p:cNvSpPr txBox="1"/>
          <p:nvPr/>
        </p:nvSpPr>
        <p:spPr>
          <a:xfrm>
            <a:off x="548640" y="3465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1" name="S04-text43"/>
          <p:cNvSpPr txBox="1"/>
          <p:nvPr/>
        </p:nvSpPr>
        <p:spPr>
          <a:xfrm>
            <a:off x="1325880" y="34650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20번씩 저어요.</a:t>
            </a:r>
            <a:endParaRPr lang="ko-KR" sz="2800" dirty="0"/>
          </a:p>
        </p:txBody>
      </p:sp>
      <p:sp>
        <p:nvSpPr>
          <p:cNvPr id="22" name="S04-stepno44"/>
          <p:cNvSpPr txBox="1"/>
          <p:nvPr/>
        </p:nvSpPr>
        <p:spPr>
          <a:xfrm>
            <a:off x="548640" y="4224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3" name="S04-text45"/>
          <p:cNvSpPr txBox="1"/>
          <p:nvPr/>
        </p:nvSpPr>
        <p:spPr>
          <a:xfrm>
            <a:off x="1325880" y="417830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 뒤 바닥을 보고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2800" dirty="0"/>
          </a:p>
        </p:txBody>
      </p:sp>
      <p:sp>
        <p:nvSpPr>
          <p:cNvPr id="4" name="S05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녹은 것과 녹지 않은 것은 무엇이 달랐나요?</a:t>
            </a:r>
            <a:endParaRPr lang="ko-KR" sz="2800" dirty="0"/>
          </a:p>
        </p:txBody>
      </p:sp>
      <p:graphicFrame>
        <p:nvGraphicFramePr>
          <p:cNvPr id="6" name="S05-table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2734056"/>
                <a:gridCol w="4206240"/>
                <a:gridCol w="3575304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넣은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저은 뒤 물의 모습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2분 뒤 바닥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밀가루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용해와 용액</a:t>
            </a:r>
            <a:endParaRPr lang="ko-KR" sz="4000" dirty="0"/>
          </a:p>
        </p:txBody>
      </p:sp>
      <p:sp>
        <p:nvSpPr>
          <p:cNvPr id="3" name="S06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물질이 다른 물질에 녹아 골고루 섞이는 것을 용해라고 해요.</a:t>
            </a:r>
            <a:endParaRPr lang="ko-KR" sz="2800" dirty="0"/>
          </a:p>
        </p:txBody>
      </p:sp>
      <p:sp>
        <p:nvSpPr>
          <p:cNvPr id="4" name="S06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용액은 맑고, 오래 두어도 가라앉거나 뜨는 것이 없어요.</a:t>
            </a:r>
            <a:endParaRPr lang="ko-KR" sz="2800" dirty="0"/>
          </a:p>
        </p:txBody>
      </p:sp>
      <p:graphicFrame>
        <p:nvGraphicFramePr>
          <p:cNvPr id="7" name="S06-table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39594"/>
          <a:ext cx="10515600" cy="914400"/>
        </p:xfrm>
        <a:graphic>
          <a:graphicData uri="http://schemas.openxmlformats.org/drawingml/2006/table">
            <a:tbl>
              <a:tblPr/>
              <a:tblGrid>
                <a:gridCol w="1892808"/>
                <a:gridCol w="5257800"/>
                <a:gridCol w="336499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설탕물에서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녹는 물질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녹이는 물질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용질이 용매에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골고루 섞인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설탕물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7-card5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설탕을 물에 넣고 저었더니 설탕이 보이지 않아요.</a:t>
            </a:r>
            <a:endParaRPr lang="ko-KR" sz="2800" dirty="0"/>
          </a:p>
        </p:txBody>
      </p:sp>
      <p:sp>
        <p:nvSpPr>
          <p:cNvPr id="5" name="S07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07-chip5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7-text5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설탕이 보이지 않으니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없어졌어요.</a:t>
            </a:r>
            <a:endParaRPr lang="ko-KR" sz="2800" dirty="0"/>
          </a:p>
        </p:txBody>
      </p:sp>
      <p:sp>
        <p:nvSpPr>
          <p:cNvPr id="9" name="S07-chip6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7-text6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설탕이 아주 작게 나뉘어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골고루 섞여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08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 한 숟가락씩, 물의 양은 모두 같아요.</a:t>
            </a:r>
            <a:endParaRPr lang="ko-KR" sz="2800" dirty="0"/>
          </a:p>
        </p:txBody>
      </p:sp>
      <p:sp>
        <p:nvSpPr>
          <p:cNvPr id="4" name="S08-card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2에 써요.</a:t>
            </a:r>
            <a:endParaRPr lang="ko-KR" sz="2800" dirty="0"/>
          </a:p>
        </p:txBody>
      </p:sp>
      <p:graphicFrame>
        <p:nvGraphicFramePr>
          <p:cNvPr id="9" name="S08-table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2628900"/>
                <a:gridCol w="2628900"/>
                <a:gridCol w="3995928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젓기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예상(빠르기 순서)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찬물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젓지 않아요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찬물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따뜻한 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빨리 녹을까요?</a:t>
            </a:r>
            <a:endParaRPr lang="ko-KR" sz="4000" dirty="0"/>
          </a:p>
        </p:txBody>
      </p:sp>
      <p:sp>
        <p:nvSpPr>
          <p:cNvPr id="3" name="S09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따뜻한 물은 어른이 만들어요. 끓는 물은 쓰지 않아요.</a:t>
            </a:r>
            <a:endParaRPr lang="ko-KR" sz="2800" dirty="0"/>
          </a:p>
        </p:txBody>
      </p:sp>
      <p:sp>
        <p:nvSpPr>
          <p:cNvPr id="5" name="S09-figure68" descr="물의 양이 같은 컵 세 개: ① 찬물(젓지 않음), ② 찬물(저음), ③ 따뜻한 물(저음)"/>
          <p:cNvSpPr/>
          <p:nvPr/>
        </p:nvSpPr>
        <p:spPr>
          <a:xfrm>
            <a:off x="7377141" y="1810914"/>
            <a:ext cx="997630" cy="745111"/>
          </a:xfrm>
          <a:custGeom>
            <a:avLst/>
            <a:gdLst/>
            <a:ahLst/>
            <a:cxnLst/>
            <a:rect l="l" t="t" r="r" b="b"/>
            <a:pathLst>
              <a:path w="997630" h="745111">
                <a:moveTo>
                  <a:pt x="89413" y="745111"/>
                </a:moveTo>
                <a:lnTo>
                  <a:pt x="908217" y="745111"/>
                </a:lnTo>
                <a:lnTo>
                  <a:pt x="997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6" name="S09-mark69"/>
          <p:cNvSpPr/>
          <p:nvPr/>
        </p:nvSpPr>
        <p:spPr>
          <a:xfrm>
            <a:off x="7338821" y="1491580"/>
            <a:ext cx="1074270" cy="1064445"/>
          </a:xfrm>
          <a:custGeom>
            <a:avLst/>
            <a:gdLst/>
            <a:ahLst/>
            <a:cxnLst/>
            <a:rect l="l" t="t" r="r" b="b"/>
            <a:pathLst>
              <a:path w="1074270" h="1064445">
                <a:moveTo>
                  <a:pt x="0" y="0"/>
                </a:moveTo>
                <a:lnTo>
                  <a:pt x="127733" y="1064445"/>
                </a:lnTo>
                <a:lnTo>
                  <a:pt x="946537" y="1064445"/>
                </a:lnTo>
                <a:lnTo>
                  <a:pt x="107427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9-mark70"/>
          <p:cNvSpPr/>
          <p:nvPr/>
        </p:nvSpPr>
        <p:spPr>
          <a:xfrm>
            <a:off x="8769107" y="1810914"/>
            <a:ext cx="997630" cy="745111"/>
          </a:xfrm>
          <a:custGeom>
            <a:avLst/>
            <a:gdLst/>
            <a:ahLst/>
            <a:cxnLst/>
            <a:rect l="l" t="t" r="r" b="b"/>
            <a:pathLst>
              <a:path w="997630" h="745111">
                <a:moveTo>
                  <a:pt x="89413" y="745111"/>
                </a:moveTo>
                <a:lnTo>
                  <a:pt x="908217" y="745111"/>
                </a:lnTo>
                <a:lnTo>
                  <a:pt x="997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8" name="S09-mark71"/>
          <p:cNvSpPr/>
          <p:nvPr/>
        </p:nvSpPr>
        <p:spPr>
          <a:xfrm>
            <a:off x="8730787" y="1491580"/>
            <a:ext cx="1074270" cy="1064445"/>
          </a:xfrm>
          <a:custGeom>
            <a:avLst/>
            <a:gdLst/>
            <a:ahLst/>
            <a:cxnLst/>
            <a:rect l="l" t="t" r="r" b="b"/>
            <a:pathLst>
              <a:path w="1074270" h="1064445">
                <a:moveTo>
                  <a:pt x="0" y="0"/>
                </a:moveTo>
                <a:lnTo>
                  <a:pt x="127733" y="1064445"/>
                </a:lnTo>
                <a:lnTo>
                  <a:pt x="946537" y="1064445"/>
                </a:lnTo>
                <a:lnTo>
                  <a:pt x="107427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9-mark72"/>
          <p:cNvSpPr/>
          <p:nvPr/>
        </p:nvSpPr>
        <p:spPr>
          <a:xfrm>
            <a:off x="10161073" y="1810914"/>
            <a:ext cx="997630" cy="745111"/>
          </a:xfrm>
          <a:custGeom>
            <a:avLst/>
            <a:gdLst/>
            <a:ahLst/>
            <a:cxnLst/>
            <a:rect l="l" t="t" r="r" b="b"/>
            <a:pathLst>
              <a:path w="997630" h="745111">
                <a:moveTo>
                  <a:pt x="89413" y="745111"/>
                </a:moveTo>
                <a:lnTo>
                  <a:pt x="908217" y="745111"/>
                </a:lnTo>
                <a:lnTo>
                  <a:pt x="997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FBD9C4"/>
          </a:solidFill>
          <a:ln/>
        </p:spPr>
      </p:sp>
      <p:sp>
        <p:nvSpPr>
          <p:cNvPr id="10" name="S09-mark73"/>
          <p:cNvSpPr/>
          <p:nvPr/>
        </p:nvSpPr>
        <p:spPr>
          <a:xfrm>
            <a:off x="10122753" y="1491580"/>
            <a:ext cx="1074270" cy="1064445"/>
          </a:xfrm>
          <a:custGeom>
            <a:avLst/>
            <a:gdLst/>
            <a:ahLst/>
            <a:cxnLst/>
            <a:rect l="l" t="t" r="r" b="b"/>
            <a:pathLst>
              <a:path w="1074270" h="1064445">
                <a:moveTo>
                  <a:pt x="0" y="0"/>
                </a:moveTo>
                <a:lnTo>
                  <a:pt x="127733" y="1064445"/>
                </a:lnTo>
                <a:lnTo>
                  <a:pt x="946537" y="1064445"/>
                </a:lnTo>
                <a:lnTo>
                  <a:pt x="107427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9-label75"/>
          <p:cNvSpPr txBox="1"/>
          <p:nvPr/>
        </p:nvSpPr>
        <p:spPr>
          <a:xfrm>
            <a:off x="7450760" y="2577326"/>
            <a:ext cx="8503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찬물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</a:t>
            </a:r>
            <a:endParaRPr lang="ko-KR" sz="1800" dirty="0"/>
          </a:p>
        </p:txBody>
      </p:sp>
      <p:sp>
        <p:nvSpPr>
          <p:cNvPr id="12" name="S09-label77"/>
          <p:cNvSpPr txBox="1"/>
          <p:nvPr/>
        </p:nvSpPr>
        <p:spPr>
          <a:xfrm>
            <a:off x="8842726" y="2577326"/>
            <a:ext cx="8503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찬물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젓기</a:t>
            </a:r>
            <a:endParaRPr lang="ko-KR" sz="1800" dirty="0"/>
          </a:p>
        </p:txBody>
      </p:sp>
      <p:sp>
        <p:nvSpPr>
          <p:cNvPr id="13" name="S09-label79"/>
          <p:cNvSpPr txBox="1"/>
          <p:nvPr/>
        </p:nvSpPr>
        <p:spPr>
          <a:xfrm>
            <a:off x="10122678" y="2577326"/>
            <a:ext cx="10744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따뜻한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젓기</a:t>
            </a:r>
            <a:endParaRPr lang="ko-KR" sz="1800" dirty="0"/>
          </a:p>
        </p:txBody>
      </p:sp>
      <p:sp>
        <p:nvSpPr>
          <p:cNvPr id="14" name="S09-card80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9-cardtext81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물의 양·설탕 양을 같게 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젓는 빠르기를 같게 해요</a:t>
            </a:r>
            <a:endParaRPr lang="ko-KR" sz="2800" dirty="0"/>
          </a:p>
        </p:txBody>
      </p:sp>
      <p:sp>
        <p:nvSpPr>
          <p:cNvPr id="16" name="S09-stepno82"/>
          <p:cNvSpPr txBox="1"/>
          <p:nvPr/>
        </p:nvSpPr>
        <p:spPr>
          <a:xfrm>
            <a:off x="548640" y="17251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7" name="S09-text83"/>
          <p:cNvSpPr txBox="1"/>
          <p:nvPr/>
        </p:nvSpPr>
        <p:spPr>
          <a:xfrm>
            <a:off x="1325880" y="1679448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3개에 물을 똑같이 담아요.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③은 어른이 따뜻한 물을 부어요.</a:t>
            </a:r>
            <a:endParaRPr lang="ko-KR" sz="2200" dirty="0"/>
          </a:p>
        </p:txBody>
      </p:sp>
      <p:sp>
        <p:nvSpPr>
          <p:cNvPr id="18" name="S09-stepno84"/>
          <p:cNvSpPr txBox="1"/>
          <p:nvPr/>
        </p:nvSpPr>
        <p:spPr>
          <a:xfrm>
            <a:off x="548640" y="25257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9" name="S09-text85"/>
          <p:cNvSpPr txBox="1"/>
          <p:nvPr/>
        </p:nvSpPr>
        <p:spPr>
          <a:xfrm>
            <a:off x="1325880" y="252577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①에 설탕을 넣고 그대로 둬요.</a:t>
            </a:r>
            <a:endParaRPr lang="ko-KR" sz="2200" dirty="0"/>
          </a:p>
        </p:txBody>
      </p:sp>
      <p:sp>
        <p:nvSpPr>
          <p:cNvPr id="20" name="S09-stepno86"/>
          <p:cNvSpPr txBox="1"/>
          <p:nvPr/>
        </p:nvSpPr>
        <p:spPr>
          <a:xfrm>
            <a:off x="548640" y="32847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1" name="S09-text87"/>
          <p:cNvSpPr txBox="1"/>
          <p:nvPr/>
        </p:nvSpPr>
        <p:spPr>
          <a:xfrm>
            <a:off x="1325880" y="3239008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②, ③에 설탕을 넣고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빠르기로 저어요.</a:t>
            </a:r>
            <a:endParaRPr lang="ko-KR" sz="2200" dirty="0"/>
          </a:p>
        </p:txBody>
      </p:sp>
      <p:sp>
        <p:nvSpPr>
          <p:cNvPr id="22" name="S09-stepno88"/>
          <p:cNvSpPr txBox="1"/>
          <p:nvPr/>
        </p:nvSpPr>
        <p:spPr>
          <a:xfrm>
            <a:off x="548640" y="41310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3" name="S09-text89"/>
          <p:cNvSpPr txBox="1"/>
          <p:nvPr/>
        </p:nvSpPr>
        <p:spPr>
          <a:xfrm>
            <a:off x="1325880" y="4085336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녹는 시간을 재어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2에 써요.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0-text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2800" dirty="0"/>
          </a:p>
        </p:txBody>
      </p:sp>
      <p:sp>
        <p:nvSpPr>
          <p:cNvPr id="4" name="S10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①과 ②, ②와 ③은 무엇이 달랐나요?</a:t>
            </a:r>
            <a:endParaRPr lang="ko-KR" sz="2800" dirty="0"/>
          </a:p>
        </p:txBody>
      </p:sp>
      <p:graphicFrame>
        <p:nvGraphicFramePr>
          <p:cNvPr id="11" name="S10-table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50292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 녹는 데 걸린 시간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찬물, 젓지 않기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찬물, 젓기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따뜻한 물, 젓기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빨리 녹이려면</a:t>
            </a:r>
            <a:endParaRPr lang="ko-KR" sz="4000" dirty="0"/>
          </a:p>
        </p:txBody>
      </p:sp>
      <p:sp>
        <p:nvSpPr>
          <p:cNvPr id="3" name="S11-text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설탕이 녹는 빠르기를 두 컵씩 견주었어요.</a:t>
            </a:r>
            <a:endParaRPr lang="ko-KR" sz="2800" dirty="0"/>
          </a:p>
        </p:txBody>
      </p:sp>
      <p:sp>
        <p:nvSpPr>
          <p:cNvPr id="4" name="S11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컵은 다른 조건을 모두 같게 하고 견주었어요.</a:t>
            </a:r>
            <a:endParaRPr lang="ko-KR" sz="2800" dirty="0"/>
          </a:p>
        </p:txBody>
      </p:sp>
      <p:sp>
        <p:nvSpPr>
          <p:cNvPr id="6" name="S11-card97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98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젓기(①과 ②)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저으면 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녹아요.</a:t>
            </a:r>
            <a:endParaRPr lang="ko-KR" sz="2800" dirty="0"/>
          </a:p>
        </p:txBody>
      </p:sp>
      <p:sp>
        <p:nvSpPr>
          <p:cNvPr id="8" name="S11-card99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1-cardtext100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물의 온도(②와 ③)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물에서 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녹아요.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방법이 알맞을까요?</a:t>
            </a:r>
            <a:endParaRPr lang="ko-KR" sz="4000" dirty="0"/>
          </a:p>
        </p:txBody>
      </p:sp>
      <p:sp>
        <p:nvSpPr>
          <p:cNvPr id="3" name="S12-card10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0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물에서 설탕이 빨리 녹는지 알아보려고 해요.</a:t>
            </a:r>
            <a:endParaRPr lang="ko-KR" sz="2800" dirty="0"/>
          </a:p>
        </p:txBody>
      </p:sp>
      <p:sp>
        <p:nvSpPr>
          <p:cNvPr id="5" name="S12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2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방법이 알맞을까요? 까닭은 무엇일까요?</a:t>
            </a:r>
            <a:endParaRPr lang="ko-KR" sz="2800" dirty="0"/>
          </a:p>
        </p:txBody>
      </p:sp>
      <p:sp>
        <p:nvSpPr>
          <p:cNvPr id="7" name="S12-chip10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2-text10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찬물은 그대로 두고,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물만 저어요.</a:t>
            </a:r>
            <a:endParaRPr lang="ko-KR" sz="2800" dirty="0"/>
          </a:p>
        </p:txBody>
      </p:sp>
      <p:sp>
        <p:nvSpPr>
          <p:cNvPr id="9" name="S12-chip10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2-text10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똑같이 젓고,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물의 온도만 달리해요.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것이 진할까요?</a:t>
            </a:r>
            <a:endParaRPr lang="ko-KR" sz="4000" dirty="0"/>
          </a:p>
        </p:txBody>
      </p:sp>
      <p:sp>
        <p:nvSpPr>
          <p:cNvPr id="3" name="S13-text10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양의 물에 흑설탕을 녹여요.</a:t>
            </a:r>
            <a:endParaRPr lang="ko-KR" sz="2800" dirty="0"/>
          </a:p>
        </p:txBody>
      </p:sp>
      <p:sp>
        <p:nvSpPr>
          <p:cNvPr id="4" name="S13-card1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4에 써요.</a:t>
            </a:r>
            <a:endParaRPr lang="ko-KR" sz="2800" dirty="0"/>
          </a:p>
        </p:txBody>
      </p:sp>
      <p:graphicFrame>
        <p:nvGraphicFramePr>
          <p:cNvPr id="14" name="S13-table1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797302"/>
          <a:ext cx="10515600" cy="914400"/>
        </p:xfrm>
        <a:graphic>
          <a:graphicData uri="http://schemas.openxmlformats.org/drawingml/2006/table">
            <a:tbl>
              <a:tblPr/>
              <a:tblGrid>
                <a:gridCol w="6099048"/>
                <a:gridCol w="44165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1숟가락과 3숟가락 중 진한 것은?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진하기를 비교하는 방법은?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진하기를 비교해요</a:t>
            </a:r>
            <a:endParaRPr lang="ko-KR" sz="4000" dirty="0"/>
          </a:p>
        </p:txBody>
      </p:sp>
      <p:sp>
        <p:nvSpPr>
          <p:cNvPr id="3" name="S14-card1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맛은 어른이 허락할 때 한 방울만 봐요.</a:t>
            </a:r>
            <a:endParaRPr lang="ko-KR" sz="2800" dirty="0"/>
          </a:p>
        </p:txBody>
      </p:sp>
      <p:sp>
        <p:nvSpPr>
          <p:cNvPr id="5" name="S14-figure115" descr="물의 양이 같은 컵 두 개: 흑설탕 1숟가락을 넣을 컵과 3숟가락을 넣을 컵"/>
          <p:cNvSpPr/>
          <p:nvPr/>
        </p:nvSpPr>
        <p:spPr>
          <a:xfrm>
            <a:off x="8073124" y="1810914"/>
            <a:ext cx="997630" cy="745111"/>
          </a:xfrm>
          <a:custGeom>
            <a:avLst/>
            <a:gdLst/>
            <a:ahLst/>
            <a:cxnLst/>
            <a:rect l="l" t="t" r="r" b="b"/>
            <a:pathLst>
              <a:path w="997630" h="745111">
                <a:moveTo>
                  <a:pt x="89413" y="745111"/>
                </a:moveTo>
                <a:lnTo>
                  <a:pt x="908217" y="745111"/>
                </a:lnTo>
                <a:lnTo>
                  <a:pt x="997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6" name="S14-mark116"/>
          <p:cNvSpPr/>
          <p:nvPr/>
        </p:nvSpPr>
        <p:spPr>
          <a:xfrm>
            <a:off x="8034804" y="1491580"/>
            <a:ext cx="1074270" cy="1064445"/>
          </a:xfrm>
          <a:custGeom>
            <a:avLst/>
            <a:gdLst/>
            <a:ahLst/>
            <a:cxnLst/>
            <a:rect l="l" t="t" r="r" b="b"/>
            <a:pathLst>
              <a:path w="1074270" h="1064445">
                <a:moveTo>
                  <a:pt x="0" y="0"/>
                </a:moveTo>
                <a:lnTo>
                  <a:pt x="127733" y="1064445"/>
                </a:lnTo>
                <a:lnTo>
                  <a:pt x="946537" y="1064445"/>
                </a:lnTo>
                <a:lnTo>
                  <a:pt x="107427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14-mark117"/>
          <p:cNvSpPr/>
          <p:nvPr/>
        </p:nvSpPr>
        <p:spPr>
          <a:xfrm>
            <a:off x="9465090" y="1810914"/>
            <a:ext cx="997630" cy="745111"/>
          </a:xfrm>
          <a:custGeom>
            <a:avLst/>
            <a:gdLst/>
            <a:ahLst/>
            <a:cxnLst/>
            <a:rect l="l" t="t" r="r" b="b"/>
            <a:pathLst>
              <a:path w="997630" h="745111">
                <a:moveTo>
                  <a:pt x="89413" y="745111"/>
                </a:moveTo>
                <a:lnTo>
                  <a:pt x="908217" y="745111"/>
                </a:lnTo>
                <a:lnTo>
                  <a:pt x="997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8" name="S14-mark118"/>
          <p:cNvSpPr/>
          <p:nvPr/>
        </p:nvSpPr>
        <p:spPr>
          <a:xfrm>
            <a:off x="9426770" y="1491580"/>
            <a:ext cx="1074270" cy="1064445"/>
          </a:xfrm>
          <a:custGeom>
            <a:avLst/>
            <a:gdLst/>
            <a:ahLst/>
            <a:cxnLst/>
            <a:rect l="l" t="t" r="r" b="b"/>
            <a:pathLst>
              <a:path w="1074270" h="1064445">
                <a:moveTo>
                  <a:pt x="0" y="0"/>
                </a:moveTo>
                <a:lnTo>
                  <a:pt x="127733" y="1064445"/>
                </a:lnTo>
                <a:lnTo>
                  <a:pt x="946537" y="1064445"/>
                </a:lnTo>
                <a:lnTo>
                  <a:pt x="107427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14-label120"/>
          <p:cNvSpPr txBox="1"/>
          <p:nvPr/>
        </p:nvSpPr>
        <p:spPr>
          <a:xfrm>
            <a:off x="8105595" y="2577326"/>
            <a:ext cx="93268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흑설탕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1숟가락</a:t>
            </a:r>
            <a:endParaRPr lang="ko-KR" sz="1800" dirty="0"/>
          </a:p>
        </p:txBody>
      </p:sp>
      <p:sp>
        <p:nvSpPr>
          <p:cNvPr id="10" name="S14-label122"/>
          <p:cNvSpPr txBox="1"/>
          <p:nvPr/>
        </p:nvSpPr>
        <p:spPr>
          <a:xfrm>
            <a:off x="9497561" y="2577326"/>
            <a:ext cx="93268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흑설탕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3숟가락</a:t>
            </a:r>
            <a:endParaRPr lang="ko-KR" sz="1800" dirty="0"/>
          </a:p>
        </p:txBody>
      </p:sp>
      <p:sp>
        <p:nvSpPr>
          <p:cNvPr id="11" name="S14-card123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4-cardtext124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물의 양을 같게 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 녹을 때까지 저어요</a:t>
            </a:r>
            <a:endParaRPr lang="ko-KR" sz="2800" dirty="0"/>
          </a:p>
        </p:txBody>
      </p:sp>
      <p:sp>
        <p:nvSpPr>
          <p:cNvPr id="13" name="S14-stepno125"/>
          <p:cNvSpPr txBox="1"/>
          <p:nvPr/>
        </p:nvSpPr>
        <p:spPr>
          <a:xfrm>
            <a:off x="548640" y="1400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" name="S14-text126"/>
          <p:cNvSpPr txBox="1"/>
          <p:nvPr/>
        </p:nvSpPr>
        <p:spPr>
          <a:xfrm>
            <a:off x="1325880" y="1400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2개에 물을 똑같이 담아요.</a:t>
            </a:r>
            <a:endParaRPr lang="ko-KR" sz="2800" dirty="0"/>
          </a:p>
        </p:txBody>
      </p:sp>
      <p:sp>
        <p:nvSpPr>
          <p:cNvPr id="15" name="S14-stepno127"/>
          <p:cNvSpPr txBox="1"/>
          <p:nvPr/>
        </p:nvSpPr>
        <p:spPr>
          <a:xfrm>
            <a:off x="548640" y="2159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6" name="S14-text128"/>
          <p:cNvSpPr txBox="1"/>
          <p:nvPr/>
        </p:nvSpPr>
        <p:spPr>
          <a:xfrm>
            <a:off x="1325880" y="211378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흑설탕을 1숟가락,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3숟가락 넣고 저어요.</a:t>
            </a:r>
            <a:endParaRPr lang="ko-KR" sz="2800" dirty="0"/>
          </a:p>
        </p:txBody>
      </p:sp>
      <p:sp>
        <p:nvSpPr>
          <p:cNvPr id="17" name="S14-stepno129"/>
          <p:cNvSpPr txBox="1"/>
          <p:nvPr/>
        </p:nvSpPr>
        <p:spPr>
          <a:xfrm>
            <a:off x="548640" y="31917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8" name="S14-text130"/>
          <p:cNvSpPr txBox="1"/>
          <p:nvPr/>
        </p:nvSpPr>
        <p:spPr>
          <a:xfrm>
            <a:off x="1325880" y="314604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종이를 뒤에 대고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색을 비교해요.</a:t>
            </a:r>
            <a:endParaRPr lang="ko-KR" sz="2800" dirty="0"/>
          </a:p>
        </p:txBody>
      </p:sp>
      <p:sp>
        <p:nvSpPr>
          <p:cNvPr id="19" name="S14-stepno131"/>
          <p:cNvSpPr txBox="1"/>
          <p:nvPr/>
        </p:nvSpPr>
        <p:spPr>
          <a:xfrm>
            <a:off x="548640" y="4224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0" name="S14-text132"/>
          <p:cNvSpPr txBox="1"/>
          <p:nvPr/>
        </p:nvSpPr>
        <p:spPr>
          <a:xfrm>
            <a:off x="1325880" y="417830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방울씩 맛보고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5-text1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4를 보며 빈칸을 말로 채워요.</a:t>
            </a:r>
            <a:endParaRPr lang="ko-KR" sz="2800" dirty="0"/>
          </a:p>
        </p:txBody>
      </p:sp>
      <p:sp>
        <p:nvSpPr>
          <p:cNvPr id="4" name="S15-card1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진한 쪽은 어느 컵인가요?</a:t>
            </a:r>
            <a:endParaRPr lang="ko-KR" sz="2800" dirty="0"/>
          </a:p>
        </p:txBody>
      </p:sp>
      <p:graphicFrame>
        <p:nvGraphicFramePr>
          <p:cNvPr id="16" name="S15-table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2734056"/>
                <a:gridCol w="3890772"/>
                <a:gridCol w="389077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흑설탕 1숟가락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흑설탕 3숟가락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맛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맑은가요?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용액의 진하기</a:t>
            </a:r>
            <a:endParaRPr lang="ko-KR" sz="4000" dirty="0"/>
          </a:p>
        </p:txBody>
      </p:sp>
      <p:sp>
        <p:nvSpPr>
          <p:cNvPr id="3" name="S16-text137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양의 용매에 용질이 많이 녹아 있을수록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진한 용액이에요.</a:t>
            </a:r>
            <a:endParaRPr lang="ko-KR" sz="2800" dirty="0"/>
          </a:p>
        </p:txBody>
      </p:sp>
      <p:sp>
        <p:nvSpPr>
          <p:cNvPr id="4" name="S16-card1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1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진하기를 비교할 때는 용매의 양을 같게 해요.</a:t>
            </a:r>
            <a:endParaRPr lang="ko-KR" sz="2800" dirty="0"/>
          </a:p>
        </p:txBody>
      </p:sp>
      <p:sp>
        <p:nvSpPr>
          <p:cNvPr id="6" name="S16-card140"/>
          <p:cNvSpPr/>
          <p:nvPr/>
        </p:nvSpPr>
        <p:spPr>
          <a:xfrm>
            <a:off x="548640" y="2651252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6-cardtext141"/>
          <p:cNvSpPr txBox="1"/>
          <p:nvPr/>
        </p:nvSpPr>
        <p:spPr>
          <a:xfrm>
            <a:off x="822960" y="2788412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색이 있는 용액은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색이 더 진해요.</a:t>
            </a:r>
            <a:endParaRPr lang="ko-KR" sz="2800" dirty="0"/>
          </a:p>
        </p:txBody>
      </p:sp>
      <p:sp>
        <p:nvSpPr>
          <p:cNvPr id="8" name="S16-card142"/>
          <p:cNvSpPr/>
          <p:nvPr/>
        </p:nvSpPr>
        <p:spPr>
          <a:xfrm>
            <a:off x="4322064" y="2651252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6-cardtext143"/>
          <p:cNvSpPr txBox="1"/>
          <p:nvPr/>
        </p:nvSpPr>
        <p:spPr>
          <a:xfrm>
            <a:off x="4596384" y="2788412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설탕물은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달아요.</a:t>
            </a:r>
            <a:endParaRPr lang="ko-KR" sz="2800" dirty="0"/>
          </a:p>
        </p:txBody>
      </p:sp>
      <p:sp>
        <p:nvSpPr>
          <p:cNvPr id="10" name="S16-card144"/>
          <p:cNvSpPr/>
          <p:nvPr/>
        </p:nvSpPr>
        <p:spPr>
          <a:xfrm>
            <a:off x="8095488" y="2651252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6-cardtext145"/>
          <p:cNvSpPr txBox="1"/>
          <p:nvPr/>
        </p:nvSpPr>
        <p:spPr>
          <a:xfrm>
            <a:off x="8369808" y="2788412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뜨는 정도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물체가 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떠요.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7-card146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7-cardtext147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가: 물 100 mL에 설탕 2숟가락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물 200 mL에 설탕 2숟가락</a:t>
            </a:r>
            <a:endParaRPr lang="ko-KR" sz="2800" dirty="0"/>
          </a:p>
        </p:txBody>
      </p:sp>
      <p:sp>
        <p:nvSpPr>
          <p:cNvPr id="5" name="S17-card1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7-cardtext1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까닭은 무엇일까요?</a:t>
            </a:r>
            <a:endParaRPr lang="ko-KR" sz="2800" dirty="0"/>
          </a:p>
        </p:txBody>
      </p:sp>
      <p:sp>
        <p:nvSpPr>
          <p:cNvPr id="7" name="S17-chip150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7-text151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설탕물이 더 많으니까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진해요.</a:t>
            </a:r>
            <a:endParaRPr lang="ko-KR" sz="2800" dirty="0"/>
          </a:p>
        </p:txBody>
      </p:sp>
      <p:sp>
        <p:nvSpPr>
          <p:cNvPr id="9" name="S17-chip152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7-text153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양의 물에 견주면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설탕이 더 많은 가가 진해요.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8-chip15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8-text15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소금물에서 용질과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용매는 무엇인가요?</a:t>
            </a:r>
            <a:endParaRPr lang="ko-KR" sz="2800" dirty="0"/>
          </a:p>
        </p:txBody>
      </p:sp>
      <p:sp>
        <p:nvSpPr>
          <p:cNvPr id="5" name="S18-chip15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8-text157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녹은 소금은 없어졌을까요?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증거도 말해요.</a:t>
            </a:r>
            <a:endParaRPr lang="ko-KR" sz="2800" dirty="0"/>
          </a:p>
        </p:txBody>
      </p:sp>
      <p:sp>
        <p:nvSpPr>
          <p:cNvPr id="7" name="S18-chip158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8-text159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각설탕을 빨리 녹이는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두 가지는?</a:t>
            </a:r>
            <a:endParaRPr lang="ko-KR" sz="2800" dirty="0"/>
          </a:p>
        </p:txBody>
      </p:sp>
      <p:sp>
        <p:nvSpPr>
          <p:cNvPr id="9" name="S18-chip160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8-text161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가는 설탕 3숟가락,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설탕 1숟가락을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1컵에 녹였어요.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진한 것은?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용액은 어느 것일까요?</a:t>
            </a:r>
            <a:endParaRPr lang="ko-KR" sz="4000" dirty="0"/>
          </a:p>
        </p:txBody>
      </p:sp>
      <p:sp>
        <p:nvSpPr>
          <p:cNvPr id="3" name="S20-text1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가지를 저은 뒤 30분 동안 그대로 두었어요.</a:t>
            </a:r>
            <a:endParaRPr lang="ko-KR" sz="2800" dirty="0"/>
          </a:p>
        </p:txBody>
      </p:sp>
      <p:sp>
        <p:nvSpPr>
          <p:cNvPr id="4" name="S20-card1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20-cardtext1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그렇게 생각한 까닭을 말해요.</a:t>
            </a:r>
            <a:endParaRPr lang="ko-KR" sz="2800" dirty="0"/>
          </a:p>
        </p:txBody>
      </p:sp>
      <p:sp>
        <p:nvSpPr>
          <p:cNvPr id="6" name="S20-chip165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20-card166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20-cardtext167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흙탕물: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바닥에 흙이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가라앉았어요.</a:t>
            </a:r>
            <a:endParaRPr lang="ko-KR" sz="2800" dirty="0"/>
          </a:p>
        </p:txBody>
      </p:sp>
      <p:sp>
        <p:nvSpPr>
          <p:cNvPr id="9" name="S20-chip16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20-card169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20-cardtext170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꿀물: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맑고 가라앉은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것이 없어요.</a:t>
            </a:r>
            <a:endParaRPr lang="ko-KR" sz="2800" dirty="0"/>
          </a:p>
        </p:txBody>
      </p:sp>
      <p:sp>
        <p:nvSpPr>
          <p:cNvPr id="12" name="S20-chip17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20-card172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20-cardtext173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미숫가루 물: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바닥에 가루가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가라앉았어요.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21-card174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21-cardtext175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용질이 용매에 녹아 골고루 섞인 것이 용액이에요.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양의 용매에 용질이 많이 녹을수록 진해요.</a:t>
            </a:r>
            <a:endParaRPr lang="ko-KR" sz="2800" dirty="0"/>
          </a:p>
        </p:txBody>
      </p:sp>
      <p:sp>
        <p:nvSpPr>
          <p:cNvPr id="5" name="S21-chip176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조건을 같게 하고 비교하기</a:t>
            </a:r>
            <a:endParaRPr lang="ko-KR" sz="2200" dirty="0"/>
          </a:p>
        </p:txBody>
      </p:sp>
      <p:sp>
        <p:nvSpPr>
          <p:cNvPr id="6" name="S21-chip177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녹으면 없어진다고 생각하기</a:t>
            </a:r>
            <a:endParaRPr lang="ko-KR" sz="2200" dirty="0"/>
          </a:p>
        </p:txBody>
      </p:sp>
      <p:sp>
        <p:nvSpPr>
          <p:cNvPr id="7" name="S21-text178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21-text179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설탕물에서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설탕은 무엇?</a:t>
            </a:r>
            <a:endParaRPr lang="ko-KR" sz="2200" dirty="0"/>
          </a:p>
        </p:txBody>
      </p:sp>
      <p:sp>
        <p:nvSpPr>
          <p:cNvPr id="9" name="S21-text180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설탕을 빨리 녹이는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두 가지는?</a:t>
            </a:r>
            <a:endParaRPr lang="ko-KR" sz="2200" dirty="0"/>
          </a:p>
        </p:txBody>
      </p:sp>
      <p:sp>
        <p:nvSpPr>
          <p:cNvPr id="10" name="S21-text181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더 진한 용액이란?</a:t>
            </a:r>
            <a:endParaRPr lang="ko-KR" sz="2200" dirty="0"/>
          </a:p>
        </p:txBody>
      </p:sp>
      <p:sp>
        <p:nvSpPr>
          <p:cNvPr id="11" name="S21-text18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혼합물의 분리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물의 모습이 바뀌어요</a:t>
            </a:r>
            <a:endParaRPr lang="ko-KR" sz="4000" dirty="0"/>
          </a:p>
        </p:txBody>
      </p:sp>
      <p:sp>
        <p:nvSpPr>
          <p:cNvPr id="3" name="S22-text1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얼음·물·수증기로 모습이 바뀌어요.</a:t>
            </a:r>
            <a:endParaRPr lang="ko-KR" sz="2800" dirty="0"/>
          </a:p>
        </p:txBody>
      </p:sp>
      <p:sp>
        <p:nvSpPr>
          <p:cNvPr id="4" name="S22-card1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22-cardtext1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‘물에 녹는 것’은 이것과 달라요.</a:t>
            </a:r>
            <a:endParaRPr lang="ko-KR" sz="2800" dirty="0"/>
          </a:p>
        </p:txBody>
      </p:sp>
      <p:sp>
        <p:nvSpPr>
          <p:cNvPr id="6" name="S22-card186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22-cardtext187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 녹아요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얼음(고체)이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물(액체)이 돼요.</a:t>
            </a:r>
            <a:endParaRPr lang="ko-KR" sz="2800" dirty="0"/>
          </a:p>
        </p:txBody>
      </p:sp>
      <p:sp>
        <p:nvSpPr>
          <p:cNvPr id="8" name="S22-card188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22-cardtext189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증발해요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수증기가 되어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속으로 가요.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과학 용해와 용액</dc:title>
  <dc:subject>KR22-G05-SCI-SOLUTION-L01</dc:subject>
  <dc:creator>education-ppt</dc:creator>
  <cp:lastModifiedBy>education-ppt</cp:lastModifiedBy>
  <cp:revision>1</cp:revision>
  <dcterms:created xsi:type="dcterms:W3CDTF">2026-10-26T13:39:32Z</dcterms:created>
  <dcterms:modified xsi:type="dcterms:W3CDTF">2026-10-26T13:39:32Z</dcterms:modified>
</cp:coreProperties>
</file>