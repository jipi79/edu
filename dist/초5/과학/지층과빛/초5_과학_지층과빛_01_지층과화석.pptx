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7992b7a-36c2-733f-d1ed-81c494e06294}">
          <p14:sldIdLst>
            <p14:sldId id="256"/>
            <p14:sldId id="257"/>
          </p14:sldIdLst>
        </p14:section>
        <p14:section name="연습" id="{31a62b8f-2f6a-094f-1c54-367d992ba709}">
          <p14:sldIdLst>
            <p14:sldId id="258"/>
            <p14:sldId id="259"/>
            <p14:sldId id="260"/>
            <p14:sldId id="262"/>
            <p14:sldId id="264"/>
            <p14:sldId id="265"/>
            <p14:sldId id="266"/>
            <p14:sldId id="267"/>
            <p14:sldId id="268"/>
            <p14:sldId id="270"/>
          </p14:sldIdLst>
        </p14:section>
        <p14:section name="개념" id="{1df890a7-5a5e-3156-e668-cd8965135692}">
          <p14:sldIdLst>
            <p14:sldId id="261"/>
            <p14:sldId id="263"/>
            <p14:sldId id="269"/>
          </p14:sldIdLst>
        </p14:section>
        <p14:section name="연습" id="{0d5472bf-a1ab-07ad-6c5d-6370bc48ab33}">
          <p14:sldIdLst/>
        </p14:section>
        <p14:section name="개념" id="{82f99d17-c28b-1081-ea1f-e9b860880edf}">
          <p14:sldIdLst/>
        </p14:section>
        <p14:section name="연습" id="{2677d9ab-6e26-cec3-93ff-17a629dbcec5}">
          <p14:sldIdLst/>
        </p14:section>
        <p14:section name="개념" id="{beb91ddd-a18b-4571-354c-46d9162bfd3f}">
          <p14:sldIdLst/>
        </p14:section>
        <p14:section name="연습" id="{eb042742-441e-9be0-e6e6-f710d6a3f2b4}">
          <p14:sldIdLst/>
        </p14:section>
        <p14:section name="확인" id="{5fe317c2-1201-6c88-b100-364c0c11afbd}">
          <p14:sldIdLst>
            <p14:sldId id="271"/>
            <p14:sldId id="272"/>
            <p14:sldId id="273"/>
          </p14:sldIdLst>
        </p14:section>
        <p14:section name="정리" id="{4b7f6d04-f1d6-5edf-f5e0-6c8354e76e47}">
          <p14:sldIdLst>
            <p14:sldId id="274"/>
          </p14:sldIdLst>
        </p14:section>
        <p14:section name="보충" id="{697fd469-766f-004f-1c17-7203594ff823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땅속의 줄무늬(지층)와 화석에 궁금증을 갖게 합니다.
시간: 약 1분
이렇게 말해 보세요
- “도로 옆 깎인 산이나 바닷가 절벽에서 줄무늬처럼 층이 진 바위를 본 적 있어? 이 줄무늬는 어떻게 생겼을까?”
- “오늘은 컵과 찰흙으로 모형을 만들어서, 땅속의 줄무늬와 화석이 무엇을 알려 주는지 알아볼 거야.”
예상 답
- “흙이 쌓여서요.” “원래 그래요.” 어떤 답이든 괜찮습니다. 답을 확인하지 않고 넘어갑니다.
막히면
- 표지 그림을 가리키며 “층마다 색이 다르지? 왜 다를까?”라고만 묻습니다.
주의
- S04 실험에 쓸 자갈·모래·흙을 미리 한 그릇에 섞어 둡니다. 흙은 마당·화단의 흙을 씁니다. 분갈이용 상토는 물에 뜨는 알갱이가 많아 결과를 보기 어렵습니다.
- S11 화석 모형에 쓸 찰흙(또는 지점토)과 조개껍데기(없으면 잎맥이 뚜렷한 나뭇잎)를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확인(흐르는 물과 땅, 알갱이 크기)]
목적: 초4 ‘흐르는 물과 땅’(KR22-G04-SCI-RIVER-L01)에서 배운 흐르는 물이 하는 일과, 자갈·모래·진흙의 알갱이 크기를 확인합니다. 오늘 지층이 쌓이는 과정과 퇴적암을 구별할 때 필요합니다.
시간: 약 2분
이렇게 말해 보세요
- “① 흐르는 물은 땅에서 어떤 일을 하지? 세 가지를 말해 볼래?”
- “② 자갈, 모래, 진흙 가운데 알갱이가 가장 작은 것은 무엇일까?”
정답
- ① 땅을 깎아요(침식), 흙과 돌을 옮겨요(운반), 옮긴 것을 쌓아요(퇴적). 세 가지 중 ‘옮긴다’와 ‘쌓는다’를 말하면 오늘 수업에 충분합니다.
- ② 진흙(알갱이 크기: 자갈 &gt; 모래 &gt; 진흙)
막히면
- ①②가 흔들리면 S20(보충)을 먼저 합니다. 보충으로도 어려우면 초4 ‘흐르는 물과 땅’을 먼저 다시 봅니다.
주의
- ‘침식·운반·퇴적’이라는 말을 몰라도 ‘깎는다·옮긴다·쌓는다’로 말하면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예상하기(지층 모형)]
목적: 물이 든 컵에 섞인 알갱이를 넣기 전에 결과를 예상하고 까닭을 말합니다(목표 A). 결과는 S04에서 확인합니다.
시간: 약 1분
이렇게 말해 보세요
- “자갈, 모래, 흙을 섞어서 물이 든 컵에 넣을 거야. 어떤 알갱이가 먼저 바닥에 닿을까? 맨 위에는 무엇이 쌓일까?”
- “한 숟가락을 더 넣으면 어디에 쌓일까? 예상은 활동지 1의 ‘내 예상’ 칸에 써 줘.”
예상 답
- 어떤 예상이든 괜찮습니다. “무거운 자갈이 먼저 가라앉을 것 같아요.” “다 섞여서 쌓일 것 같아요.” “두 번째 것은 밑으로 들어갈 것 같아요.”
막히면
- 쓰기가 느리면 부모가 받아 적고 아이는 말로 예상합니다.
주의
- 결과를 알려 주지 않습니다. 특히 ‘아래층이 먼저 쌓인다’는 말은 S06까지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지층 모형 실험]
목적: 물이 든 투명한 컵에 섞은 알갱이를 두 번 넣어, 알갱이가 가라앉아 층층이 쌓이는 모습을 관찰하고 기록합니다(목표 A, 오해 M1).
시간: 약 5분
이렇게 말해 보세요
- “숟가락을 컵 물 위에 대고 살짝 쏟아 봐. 무엇이 먼저 바닥에 닿아?”
- “3분쯤 기다렸다가 한 숟가락을 더 넣어 볼게. 이번 것은 어디에 쌓여?”
- “컵을 옆에서 봐. 아래부터 무엇이 쌓였는지 말해 줄래?”
예상 답
- “자갈이 가장 먼저 바닥에 떨어졌어요.” “모래가 그 위에 쌓이고, 흙은 천천히 내려와서 맨 위에 쌓였어요.” “물이 뿌예졌어요.” “두 번째 넣은 것은 처음 쌓인 것 위에 또 쌓였어요.”
막히면
- 물이 뿌예서 층이 잘 안 보이면 컵 아래쪽 옆면에 눈을 가까이 대고 봅니다. 흙을 반 숟가락만 넣으면 물이 덜 뿌옇습니다.
- 층 경계가 흐리면 휴대 전화 손전등을 컵 뒤에서 비춰 봅니다.
주의
- 컵은 흔들거나 젓지 않습니다. 흔들면 쌓인 층이 다시 섞입니다.
- 고운 흙이 다 가라앉아 물이 맑아지는 데는 몇 시간이 걸릴 수 있습니다. 컵을 그대로 두고 수업 끝(S19)이나 다음 날 다시 봅니다.
- 다 쓴 흙탕물은 싱크대에 붓지 않습니다(배수구가 막힐 수 있음). 윗물만 화단에 버리고, 가라앉은 흙은 화단이나 일반 쓰레기로 버립니다.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정리(지층 모형)]
목적: 관찰 결과를 정리하고 예상과 비교합니다(목표 A).
시간: 약 2분
이렇게 말해 보세요
- “활동지 1을 보면서 한 줄씩 말해 줄래?”
- “예상과 다른 것이 있었어?”
예상 답
- 보통: 자갈 / 고운 흙(진흙) / 처음 쌓인 것 위 / 뿌옇다가 천천히 맑아짐(본 대로 말하면 맞음)
막히면
- 컵을 다시 옆에서 보며 아래부터 손가락으로 짚어 말하게 합니다.
주의
- 화면의 빈칸은 아이가 말로 채우는 자리입니다. 결과가 예상과 달라도 예상 칸을 고치지 않습니다.
- 흙의 종류에 따라 층 경계가 뚜렷하지 않을 수 있습니다. ‘아래쪽은 굵고 위쪽은 곱다’, ‘두 번째 것이 위에 쌓였다’만 확인되면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설명하기(지층이 쌓이는 과정)]
목적: 실험 결과를 증거로 지층의 뜻과 쌓이는 순서를 정리합니다(목표 A, 오해 M1).
시간: 약 3분
이렇게 말해 보세요
- “컵 속처럼 자갈, 모래, 진흙이 층층이 쌓여 줄무늬를 이룬 것을 ‘지층’이라고 해.”
- “강물이 옮긴 알갱이는 바다나 호수 밑에 쌓여. 그 위에 또 쌓이고 또 쌓이지. 그러면 아래층과 위층 중 어느 것이 먼저 쌓였을까?”
- “쌓인 것이 아주 오랫동안 위에서 눌리면 단단한 바위가 돼. 그 땅이 솟아오르고 깎이면 우리 눈에 보이는 거야.”
예상 답
- “아래층이 먼저예요. 컵에서도 두 번째 것이 위에 쌓였어요.”
막히면
- 컵을 다시 보여 주고 “두 번째로 넣은 것은 어디 있어? 그럼 먼저 넣은 것은?”이라고 묻습니다.
주의
- ‘아래층이 먼저’는 지층이 뒤집히지 않았을 때의 이야기입니다. 지층이 휘거나 끊어진 모습은 이 차시에서 다루지 않습니다.
- 실제 지층은 수천 년이 넘는 아주 오랜 시간에 걸쳐 쌓입니다. 정확한 햇수는 말하지 않고 ‘아주 오랜 시간’이라고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비교(위층이 먼저 쌓였다)]
목적: ‘맨 위에 있는 층이 먼저 쌓였다’는 생각을 실험 결과로 바로잡습니다(목표 A, 오해 M1).
시간: 약 2분
이렇게 말해 보세요
- “토끼는 위층이 먼저 쌓였다고 하고, 곰은 아래층이 먼저라고 해. 누구 말이 맞을까?”
- “우리 컵에서 두 번째로 넣은 알갱이는 어디에 쌓였지? 그게 증거가 될까?”
정답
- 곰. 증거: 컵에 나중에 넣은 알갱이가 먼저 쌓인 층 위에 쌓였습니다. 새로 쌓이는 것은 늘 그 위에 놓이므로, 아래층이 먼저 쌓였습니다.
막히면
- 책을 한 권씩 쌓아 보게 하고 “맨 처음 놓은 책은 어디 있어?”라고 묻습니다.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퇴적암을 알갱이 크기로 구별하기]
목적: 쌓인 알갱이가 굳어 된 암석을 퇴적암이라 하고, 알갱이 크기에 따라 이암·사암·역암으로 나눈다는 것을 알려 줍니다(목표 A, 오해 M3).
시간: 약 2분
이렇게 말해 보세요
- “컵 바닥에 쌓인 알갱이가 아주 오랫동안 눌려 굳으면 바위가 돼. 이런 바위를 ‘퇴적암’이라고 해.”
- “진흙이 굳으면 이암, 모래가 굳으면 사암, 자갈이 모래와 함께 굳으면 역암이야. 무엇으로 이름을 나눴을까?”
예상 답
- “알갱이 크기로요.”
막히면
- ‘이(진흙)·사(모래)·역(자갈)’을 알갱이 크기 순서(작은 것부터)로 손가락으로 짚으며 읽습니다.
주의
- 이암·사암·역암은 교과서에서 쓰는 이름입니다. 한자 뜻(이=진흙, 사=모래, 역=자갈)은 외우게 하지 않고 기억을 돕는 데만 씁니다.
- 이암은 알갱이가 아주 작아 눈으로 알갱이가 잘 보이지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그림으로 퇴적암 구별하기]
목적: 알갱이의 크기를 보고 퇴적암의 이름을 고르는 연습을 합니다(목표 A, 오해 M3).
시간: 약 2분
이렇게 말해 보세요
- “가, 나, 다를 차례로 볼까? 알갱이가 어떻게 생겼어? 그럼 어떤 퇴적암일까?”
정답
- 가: 사암(모래 크기의 고른 알갱이)
- 나: 역암(자갈 같은 큰 알갱이 사이에 작은 알갱이)
- 다: 이암(알갱이가 보이지 않을 만큼 작음)
막히면
- S08의 표를 다시 보여 주고 ‘알갱이 크기’ 칸만 짚어 비교하게 합니다.
주의
- 색으로 고르지 않게 합니다. 실제 퇴적암은 같은 종류라도 색이 여러 가지입니다. 알갱이 크기가 기준입니다.
- 지치면 여기서 쉬고, 다음에 S10부터 이어도 됩니다. 쉬는 동안 S04의 컵을 그대로 두면 물이 더 맑아집니다.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실험 전 예상하기(화석 모형)]
목적: 찰흙에 조개껍데기를 찍기 전에 결과를 예상합니다(목표 B). 결과는 S11에서 확인합니다.
시간: 약 1분
이렇게 말해 보세요
- “찰흙에 조개껍데기를 꾹 눌렀다가 떼면 찰흙에 무엇이 남을까? 진짜 조개와 무엇이 같고 무엇이 다를까?”
예상 답
- 어떤 예상이든 괜찮습니다. “조개 모양이 남을 것 같아요.” “아무것도 안 남을 것 같아요.”
막히면
- “눈 위에 발을 디디면 무엇이 남지?”라고 경험을 떠올리게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화석 모형 만들기]
목적: 찰흙에 조개껍데기(또는 나뭇잎)를 찍어 생물의 흔적이 남는 모습을 관찰하고 기록합니다(목표 B, 오해 M2).
시간: 약 3분
이렇게 말해 보세요
- “찰흙을 손바닥만 하게 납작하게 펴 볼까? 조개껍데기를 무늬가 있는 쪽으로 꾹 눌렀다가 살살 떼어 봐.”
- “찰흙에 무엇이 남았어? 진짜 조개와 나란히 놓고 비교해 볼래?”
예상 답
- “조개 모양 자국이 남았어요.” “줄무늬도 찍혔어요.” “모양은 같은데 색은 찰흙 색이에요.” “움푹 들어갔어요.”
막히면
- 자국이 흐리면 찰흙을 더 두껍게 펴고 다시 누릅니다. 조개가 없으면 잎맥이 뚜렷한 나뭇잎의 뒷면을 눌러 찍습니다.
주의
- 조개껍데기의 깨진 가장자리에 손을 베이지 않게 합니다.
- 찍은 찰흙은 그대로 말려 두면 다음 수업에서 다시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관찰 결과 정리(모형과 실제 견주기)]
목적: 화석 모형의 결과를 말하고, 모형의 각 부분이 실제 화석에서 무엇에 해당하는지 연결합니다(목표 B).
시간: 약 2분
이렇게 말해 보세요
- “찰흙에 무엇이 남았어? 활동지 4에 쓴 것을 말해 줘.”
- “모형에서 조개껍데기는 실제로는 무엇일까? 찰흙은? 남은 자국은?”
- “모형은 몇 초 만에 만들었지? 실제 화석도 그렇게 빨리 만들어질까?”
예상 답
- “조개 모양 자국이 남았어요.” “실제 화석은 아주 오래 걸려요.”
막히면
- 표의 왼쪽 칸을 하나씩 가리키며 “이건 실제로는 무엇일까?” 하고 오른쪽 칸을 읽어 줍니다.
주의
- 모형과 실제의 다른 점(걸린 시간, 단단함)을 말하게 하는 것이 중요합니다. 실제 화석은 아주 오랜 시간에 걸쳐 만들어지고 암석 속에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오개념 비교(흔적은 화석이 아니다)]
목적: 화석은 뼈나 껍데기 같은 몸만이라는 생각을 바로잡고, 생물의 흔적도 화석임을 확인합니다(목표 B, 오해 M2).
시간: 약 2분
이렇게 말해 보세요
- “토끼는 자국은 조개가 아니니까 화석이 아니래. 곰은 흔적도 화석이래. 누구 말이 맞을까?”
- “찰흙에 남은 자국을 보면 조개의 생김새를 알 수 있었어?”
정답
- 곰. 화석은 옛날 생물의 몸(뼈, 껍데기, 잎)뿐 아니라 생물이 남긴 흔적(발자국, 기어간 자국, 찍힌 모양)이 암석에 남은 것도 포함합니다. 자국만 보고도 조개의 생김새를 알 수 있었습니다.
막히면
- “공룡 발자국 화석이라는 말 들어 본 적 있어? 발자국은 공룡의 몸일까, 흔적일까?”라고 묻습니다.
주의
- 우리나라 남해안(경남 고성 등)에서는 공룡 발자국 화석이 많이 발견됩니다. 아이가 관심을 보이면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화석이 만들어지는 과정]
목적: 모형 실험을 실제와 이어 화석의 뜻과 만들어지는 과정을 정리합니다(목표 B).
시간: 약 2분
이렇게 말해 보세요
- “화석은 옛날에 살았던 생물의 몸이나 흔적이 암석 속에 남은 거야.”
- “조개가 죽어서 바다 밑에 가라앉았어. 그 위에 진흙이 쌓여 묻혔지. 또 쌓이고 쌓여 오랜 시간이 지나면? 그 땅이 솟아올라 깎이면?”
예상 답
- “진흙이 굳어서 바위가 되고, 조개 모양이 바위에 남아요.” “땅이 깎이면 화석이 보여요.”
막히면
- S06의 지층 그림과 S12의 표를 다시 보며 ‘묻힌다 → 쌓인다 → 굳는다 → 드러난다’를 차례로 짚습니다.
주의
- 생물이 빨리 묻혀야 화석이 되기 쉽고, 뼈·껍데기처럼 단단한 부분이 잘 남습니다. 아이가 물으면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화석으로 과거 환경 추리하기(안내받는 연습)]
목적: 시범(조개 화석)을 보고, 화석의 생물이 살던 곳을 떠올려 그곳의 옛날 환경을 추리합니다(목표 B, 오해 M4).
시간: 약 3분
이렇게 말해 보세요
- “위의 예를 볼까? 조개는 어디에 살지? 그러니까 조개 화석이 나온 곳은 옛날에 물속이었다고 추리할 수 있어.”
- “①부터 해 볼래? 그 생물이 어디에 살았는지 먼저 말하고, 옛날 그곳이 어땠을지 말해 줘.”
정답
- ① 물속(바다나 호수, 강) — 물고기는 물에 삽니다.
- ② 따뜻하고 축축한 땅(숲) — 고사리는 습하고 그늘진 땅에서 자랍니다.
- ③ 공룡이 걸어 다닌 땅(물가의 진흙 땅) — 발자국은 땅을 걸어야 생깁니다.
막히면
- “이 생물을 본다면 어디에서 볼 수 있을까?”라고 바꾸어 묻습니다.
주의
- ②는 ‘숲’, ‘땅’, ‘축축한 곳’ 가운데 하나를 말하면 맞습니다.
- 높은 산에서 바다 생물 화석이 나오는 까닭은 바다 밑에 쌓인 지층이 오랜 시간에 걸쳐 솟아올랐기 때문입니다(S06 셋째 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혼자 해결]
목적: 도움 없이 지층의 순서(①), 퇴적암 이름(②), 화석으로 환경 추리(③), 화석의 뜻(④)을 말하는지 확인합니다(목표 A·B).
시간: 약 3분
이렇게 말해 보세요
- “이번에는 혼자 답해 볼래? 왜 그렇게 생각했는지도 말해 줘.”
정답
- ① 아래층(나중에 쌓인 것은 위에 놓이므로)
- ② 사암
- ③ 바다(따뜻하고 얕은 바다) — 산호는 바다에 사는 생물이므로
- ④ 화석이다. 생물이 남긴 흔적도 화석이다(잎의 생김새를 알 수 있다)
막히면
- 바로 알려 주지 말고 “오늘 컵 실험(찰흙 모형)에서 어땠지?”라고만 묻습니다.
- 도움을 받아 해결했다면 기록표에 ‘도움’으로 표시합니다.
주의
- ③에서 ‘바다’ 또는 ‘물속’이라고 하면 맞습니다. ‘따뜻하고 얕은 바다’까지는 몰라도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정답과 피드백]
목적: 아이의 답을 함께 확인하고 흔한 실수를 바로잡습니다. 수업용에만 있는 장입니다.
시간: 약 1분
이렇게 말해 보세요
- “네 답과 같은지 볼까? 다르면 어디서 달라졌는지 찾아보자.”
정답
- ① 아래층 ② 사암 ③ 바다(물속) ④ 화석이다(흔적도 화석)
막히면
- ①이 틀리면 S06·S07로, ②가 틀리면 S08·S09로, ③이 틀리면 S15로, ④가 틀리면 S13으로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마무리 확인(지층 순서와 화석으로 환경 변화 추리)]
목적: 처음 보는 문제에서 ‘아래층이 먼저’와 ‘화석으로 환경 추리’를 함께 써서 판단하는지 확인합니다(목표 A·B).
시간: 약 2분
이렇게 말해 보세요
- “아래층과 위층 중 먼저 쌓인 것은? 조개 화석은 어떤 곳이었다는 증거지? 고사리 화석은?”
정답
- 나. 먼저 쌓인 아래층에 조개 화석이 있으니 처음에는 바다(물속)였고, 나중에 쌓인 위층에 고사리 화석이 있으니 나중에는 땅이 되었습니다.
막히면
- 아래층 → 위층 순서로 각각 어떤 곳이었는지 따로 말하게 한 뒤, 두 답을 이어 말하게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정리와 다음 수업 복습]
목적: 핵심을 정리하고 다음 수업 첫 5분에 풀 복습 문제를 알려 줍니다.
시간: 약 1분
이렇게 말해 보세요
- “도로 옆 바위의 줄무늬가 어떻게 생겼는지, 이제 설명해 볼래?”
- “S04의 컵을 다시 볼까? 처음보다 물이 맑아졌어?”
예상 답
- “물이 옮긴 자갈, 모래, 진흙이 물 밑에 층층이 쌓이고 굳어서 생겼어요. 아래층이 먼저 쌓였어요.”
정답
- ① 아래층 ② 이암 ③ 옛날 그곳은 물속(바다나 호수)이었다
막히면
- S06, S08, S14를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선수 학습 보충(흐르는 물이 하는 일, 알갱이 크기)]
목적: S02가 흔들리면, 흐르는 물이 흙을 깎고 옮기고 쌓는다는 것과 알갱이 크기 순서를 먼저 익힙니다.
시간: 약 4분
이렇게 말해 보세요
- “쟁반에 흙을 쌓고 한쪽을 조금 들어 물을 천천히 부어 볼까? 위쪽 흙은 어떻게 돼? 흙은 어디로 가서 쌓여?”
- “자갈, 모래, 진흙을 손가락으로 만져 볼래? 알갱이가 큰 것부터 말해 줘.”
예상 답
- “위쪽 흙이 깎여서 물에 실려 내려가요.” “아래쪽에 흙이 쌓여요.” “자갈, 모래, 진흙 순서로 커요.”
막히면
- 쟁반 실험이 어렵으면 비 온 뒤 흙탕물이 흐르는 길가의 모습을 떠올리게 합니다.
주의
- 계획상 선수 차시는 초4 ‘흐르는 물과 땅’(KR22-G04-SCI-RIVER-L01)입니다. 보충으로도 어려우면 그 차시를 먼저 다시 합니다.
- 쟁반 실험은 베란다나 욕실에서 하고, 흙탕물은 싱크대에 붓지 않습니다.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지층과빛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지층과 화석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땅속 줄무늬와 화석은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알려 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색과 두께가 다른 층이 줄무늬처럼 겹겹이 쌓인 땅의 단면"/>
          <p:cNvSpPr/>
          <p:nvPr/>
        </p:nvSpPr>
        <p:spPr>
          <a:xfrm>
            <a:off x="7764780" y="2840292"/>
            <a:ext cx="3764280" cy="564642"/>
          </a:xfrm>
          <a:custGeom>
            <a:avLst/>
            <a:gdLst/>
            <a:ahLst/>
            <a:cxnLst/>
            <a:rect l="l" t="t" r="r" b="b"/>
            <a:pathLst>
              <a:path w="3764280" h="564642">
                <a:moveTo>
                  <a:pt x="0" y="564642"/>
                </a:moveTo>
                <a:lnTo>
                  <a:pt x="3764280" y="564642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8A8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2463863"/>
            <a:ext cx="3764280" cy="376428"/>
          </a:xfrm>
          <a:custGeom>
            <a:avLst/>
            <a:gdLst/>
            <a:ahLst/>
            <a:cxnLst/>
            <a:rect l="l" t="t" r="r" b="b"/>
            <a:pathLst>
              <a:path w="3764280" h="376428">
                <a:moveTo>
                  <a:pt x="0" y="376428"/>
                </a:moveTo>
                <a:lnTo>
                  <a:pt x="3764280" y="376428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64780" y="1836483"/>
            <a:ext cx="3764280" cy="627380"/>
          </a:xfrm>
          <a:custGeom>
            <a:avLst/>
            <a:gdLst/>
            <a:ahLst/>
            <a:cxnLst/>
            <a:rect l="l" t="t" r="r" b="b"/>
            <a:pathLst>
              <a:path w="3764280" h="627380">
                <a:moveTo>
                  <a:pt x="0" y="627380"/>
                </a:moveTo>
                <a:lnTo>
                  <a:pt x="3764280" y="627380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E5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1397317"/>
            <a:ext cx="3764280" cy="439166"/>
          </a:xfrm>
          <a:custGeom>
            <a:avLst/>
            <a:gdLst/>
            <a:ahLst/>
            <a:cxnLst/>
            <a:rect l="l" t="t" r="r" b="b"/>
            <a:pathLst>
              <a:path w="3764280" h="439166">
                <a:moveTo>
                  <a:pt x="0" y="439166"/>
                </a:moveTo>
                <a:lnTo>
                  <a:pt x="3764280" y="439166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CB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7764780" y="958152"/>
            <a:ext cx="3764280" cy="439166"/>
          </a:xfrm>
          <a:custGeom>
            <a:avLst/>
            <a:gdLst/>
            <a:ahLst/>
            <a:cxnLst/>
            <a:rect l="l" t="t" r="r" b="b"/>
            <a:pathLst>
              <a:path w="3764280" h="439166">
                <a:moveTo>
                  <a:pt x="0" y="439166"/>
                </a:moveTo>
                <a:lnTo>
                  <a:pt x="3764280" y="439166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2A87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7764780" y="801307"/>
            <a:ext cx="3764280" cy="156845"/>
          </a:xfrm>
          <a:custGeom>
            <a:avLst/>
            <a:gdLst/>
            <a:ahLst/>
            <a:cxnLst/>
            <a:rect l="l" t="t" r="r" b="b"/>
            <a:pathLst>
              <a:path w="3764280" h="156845">
                <a:moveTo>
                  <a:pt x="0" y="156845"/>
                </a:moveTo>
                <a:lnTo>
                  <a:pt x="3764280" y="156845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7FB069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지층이 만들어지는 과정을 모형으로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화석을 증거로 옛날 환경을 추리해요.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땅에서 하는 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가지는 무엇인가요?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자갈·모래·진흙 가운데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알갱이가 가장 작은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알갱이를 물이 든 컵에 넣으면?</a:t>
            </a:r>
            <a:endParaRPr lang="ko-KR" sz="28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바닥에 닿는 알갱이는?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맨 위에 쌓이는 알갱이는?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숟가락 더 넣으면 어디에?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물속에서 쌓아 봐요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플라스틱 컵을 쓰고, 흙을 만진 뒤 손을 씻어요.</a:t>
            </a:r>
            <a:endParaRPr lang="ko-KR" sz="2800" dirty="0"/>
          </a:p>
        </p:txBody>
      </p:sp>
      <p:sp>
        <p:nvSpPr>
          <p:cNvPr id="5" name="S04-figure20" descr="물을 3분의 2쯤 담은 투명한 컵 위에서 섞은 알갱이(자갈·모래·흙) 한 숟가락을 넣는 그림"/>
          <p:cNvSpPr/>
          <p:nvPr/>
        </p:nvSpPr>
        <p:spPr>
          <a:xfrm>
            <a:off x="9424113" y="2463330"/>
            <a:ext cx="1169190" cy="747738"/>
          </a:xfrm>
          <a:custGeom>
            <a:avLst/>
            <a:gdLst/>
            <a:ahLst/>
            <a:cxnLst/>
            <a:rect l="l" t="t" r="r" b="b"/>
            <a:pathLst>
              <a:path w="1169190" h="747738">
                <a:moveTo>
                  <a:pt x="74774" y="747738"/>
                </a:moveTo>
                <a:lnTo>
                  <a:pt x="1094416" y="747738"/>
                </a:lnTo>
                <a:lnTo>
                  <a:pt x="116919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4-mark21"/>
          <p:cNvSpPr/>
          <p:nvPr/>
        </p:nvSpPr>
        <p:spPr>
          <a:xfrm>
            <a:off x="9396922" y="2191426"/>
            <a:ext cx="1223571" cy="1019642"/>
          </a:xfrm>
          <a:custGeom>
            <a:avLst/>
            <a:gdLst/>
            <a:ahLst/>
            <a:cxnLst/>
            <a:rect l="l" t="t" r="r" b="b"/>
            <a:pathLst>
              <a:path w="1223571" h="1019642">
                <a:moveTo>
                  <a:pt x="0" y="0"/>
                </a:moveTo>
                <a:lnTo>
                  <a:pt x="101964" y="1019642"/>
                </a:lnTo>
                <a:lnTo>
                  <a:pt x="1121606" y="1019642"/>
                </a:lnTo>
                <a:lnTo>
                  <a:pt x="1223571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22"/>
          <p:cNvSpPr/>
          <p:nvPr/>
        </p:nvSpPr>
        <p:spPr>
          <a:xfrm>
            <a:off x="9804779" y="1460682"/>
            <a:ext cx="407857" cy="203928"/>
          </a:xfrm>
          <a:custGeom>
            <a:avLst/>
            <a:gdLst/>
            <a:ahLst/>
            <a:cxnLst/>
            <a:rect l="l" t="t" r="r" b="b"/>
            <a:pathLst>
              <a:path w="407857" h="203928">
                <a:moveTo>
                  <a:pt x="407857" y="101964"/>
                </a:moveTo>
                <a:lnTo>
                  <a:pt x="407081" y="93077"/>
                </a:lnTo>
                <a:lnTo>
                  <a:pt x="404759" y="84258"/>
                </a:lnTo>
                <a:lnTo>
                  <a:pt x="400908" y="75574"/>
                </a:lnTo>
                <a:lnTo>
                  <a:pt x="395559" y="67090"/>
                </a:lnTo>
                <a:lnTo>
                  <a:pt x="388750" y="58872"/>
                </a:lnTo>
                <a:lnTo>
                  <a:pt x="380536" y="50982"/>
                </a:lnTo>
                <a:lnTo>
                  <a:pt x="370977" y="43480"/>
                </a:lnTo>
                <a:lnTo>
                  <a:pt x="360147" y="36423"/>
                </a:lnTo>
                <a:lnTo>
                  <a:pt x="348128" y="29865"/>
                </a:lnTo>
                <a:lnTo>
                  <a:pt x="335011" y="23855"/>
                </a:lnTo>
                <a:lnTo>
                  <a:pt x="320897" y="18440"/>
                </a:lnTo>
                <a:lnTo>
                  <a:pt x="305893" y="13661"/>
                </a:lnTo>
                <a:lnTo>
                  <a:pt x="290112" y="9553"/>
                </a:lnTo>
                <a:lnTo>
                  <a:pt x="273676" y="6149"/>
                </a:lnTo>
                <a:lnTo>
                  <a:pt x="256709" y="3474"/>
                </a:lnTo>
                <a:lnTo>
                  <a:pt x="239340" y="1549"/>
                </a:lnTo>
                <a:lnTo>
                  <a:pt x="221702" y="388"/>
                </a:lnTo>
                <a:lnTo>
                  <a:pt x="203928" y="0"/>
                </a:lnTo>
                <a:lnTo>
                  <a:pt x="186155" y="388"/>
                </a:lnTo>
                <a:lnTo>
                  <a:pt x="168517" y="1549"/>
                </a:lnTo>
                <a:lnTo>
                  <a:pt x="151148" y="3474"/>
                </a:lnTo>
                <a:lnTo>
                  <a:pt x="134181" y="6149"/>
                </a:lnTo>
                <a:lnTo>
                  <a:pt x="117745" y="9553"/>
                </a:lnTo>
                <a:lnTo>
                  <a:pt x="101964" y="13661"/>
                </a:lnTo>
                <a:lnTo>
                  <a:pt x="86960" y="18440"/>
                </a:lnTo>
                <a:lnTo>
                  <a:pt x="72846" y="23855"/>
                </a:lnTo>
                <a:lnTo>
                  <a:pt x="59729" y="29865"/>
                </a:lnTo>
                <a:lnTo>
                  <a:pt x="47710" y="36423"/>
                </a:lnTo>
                <a:lnTo>
                  <a:pt x="36880" y="43480"/>
                </a:lnTo>
                <a:lnTo>
                  <a:pt x="27321" y="50982"/>
                </a:lnTo>
                <a:lnTo>
                  <a:pt x="19107" y="58872"/>
                </a:lnTo>
                <a:lnTo>
                  <a:pt x="12298" y="67090"/>
                </a:lnTo>
                <a:lnTo>
                  <a:pt x="6949" y="75574"/>
                </a:lnTo>
                <a:lnTo>
                  <a:pt x="3098" y="84258"/>
                </a:lnTo>
                <a:lnTo>
                  <a:pt x="776" y="93077"/>
                </a:lnTo>
                <a:lnTo>
                  <a:pt x="0" y="101964"/>
                </a:lnTo>
                <a:lnTo>
                  <a:pt x="776" y="110851"/>
                </a:lnTo>
                <a:lnTo>
                  <a:pt x="3098" y="119670"/>
                </a:lnTo>
                <a:lnTo>
                  <a:pt x="6949" y="128355"/>
                </a:lnTo>
                <a:lnTo>
                  <a:pt x="12298" y="136838"/>
                </a:lnTo>
                <a:lnTo>
                  <a:pt x="19107" y="145056"/>
                </a:lnTo>
                <a:lnTo>
                  <a:pt x="27321" y="152946"/>
                </a:lnTo>
                <a:lnTo>
                  <a:pt x="36880" y="160449"/>
                </a:lnTo>
                <a:lnTo>
                  <a:pt x="47710" y="167506"/>
                </a:lnTo>
                <a:lnTo>
                  <a:pt x="59729" y="174064"/>
                </a:lnTo>
                <a:lnTo>
                  <a:pt x="72846" y="180073"/>
                </a:lnTo>
                <a:lnTo>
                  <a:pt x="86960" y="185488"/>
                </a:lnTo>
                <a:lnTo>
                  <a:pt x="101964" y="190268"/>
                </a:lnTo>
                <a:lnTo>
                  <a:pt x="117745" y="194375"/>
                </a:lnTo>
                <a:lnTo>
                  <a:pt x="134181" y="197779"/>
                </a:lnTo>
                <a:lnTo>
                  <a:pt x="151148" y="200454"/>
                </a:lnTo>
                <a:lnTo>
                  <a:pt x="168517" y="202379"/>
                </a:lnTo>
                <a:lnTo>
                  <a:pt x="186155" y="203540"/>
                </a:lnTo>
                <a:lnTo>
                  <a:pt x="203928" y="203928"/>
                </a:lnTo>
                <a:lnTo>
                  <a:pt x="221702" y="203540"/>
                </a:lnTo>
                <a:lnTo>
                  <a:pt x="239340" y="202379"/>
                </a:lnTo>
                <a:lnTo>
                  <a:pt x="256709" y="200454"/>
                </a:lnTo>
                <a:lnTo>
                  <a:pt x="273676" y="197779"/>
                </a:lnTo>
                <a:lnTo>
                  <a:pt x="290112" y="194375"/>
                </a:lnTo>
                <a:lnTo>
                  <a:pt x="305893" y="190268"/>
                </a:lnTo>
                <a:lnTo>
                  <a:pt x="320897" y="185488"/>
                </a:lnTo>
                <a:lnTo>
                  <a:pt x="335011" y="180073"/>
                </a:lnTo>
                <a:lnTo>
                  <a:pt x="348128" y="174064"/>
                </a:lnTo>
                <a:lnTo>
                  <a:pt x="360147" y="167506"/>
                </a:lnTo>
                <a:lnTo>
                  <a:pt x="370977" y="160449"/>
                </a:lnTo>
                <a:lnTo>
                  <a:pt x="380536" y="152946"/>
                </a:lnTo>
                <a:lnTo>
                  <a:pt x="388750" y="145056"/>
                </a:lnTo>
                <a:lnTo>
                  <a:pt x="395559" y="136838"/>
                </a:lnTo>
                <a:lnTo>
                  <a:pt x="400908" y="128355"/>
                </a:lnTo>
                <a:lnTo>
                  <a:pt x="404759" y="119670"/>
                </a:lnTo>
                <a:lnTo>
                  <a:pt x="407081" y="110851"/>
                </a:lnTo>
                <a:close/>
              </a:path>
            </a:pathLst>
          </a:custGeom>
          <a:solidFill>
            <a:srgbClr val="D6D3D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3"/>
          <p:cNvSpPr/>
          <p:nvPr/>
        </p:nvSpPr>
        <p:spPr>
          <a:xfrm flipV="1">
            <a:off x="10212636" y="1409700"/>
            <a:ext cx="509821" cy="118958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9" name="S04-mark24"/>
          <p:cNvSpPr/>
          <p:nvPr/>
        </p:nvSpPr>
        <p:spPr>
          <a:xfrm>
            <a:off x="10008708" y="1732587"/>
            <a:ext cx="0" cy="594791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label26"/>
          <p:cNvSpPr txBox="1"/>
          <p:nvPr/>
        </p:nvSpPr>
        <p:spPr>
          <a:xfrm>
            <a:off x="9816938" y="266257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1" name="S04-label28"/>
          <p:cNvSpPr txBox="1"/>
          <p:nvPr/>
        </p:nvSpPr>
        <p:spPr>
          <a:xfrm>
            <a:off x="7901869" y="1366343"/>
            <a:ext cx="156260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숟가락</a:t>
            </a:r>
            <a:endParaRPr lang="ko-KR" sz="2200" dirty="0"/>
          </a:p>
        </p:txBody>
      </p:sp>
      <p:sp>
        <p:nvSpPr>
          <p:cNvPr id="12" name="S04-card29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30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무엇이 먼저 닿는지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컵을 흔들지 않아요</a:t>
            </a:r>
            <a:endParaRPr lang="ko-KR" sz="2800" dirty="0"/>
          </a:p>
        </p:txBody>
      </p:sp>
      <p:sp>
        <p:nvSpPr>
          <p:cNvPr id="14" name="S04-stepno31"/>
          <p:cNvSpPr txBox="1"/>
          <p:nvPr/>
        </p:nvSpPr>
        <p:spPr>
          <a:xfrm>
            <a:off x="548640" y="1745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4-text32"/>
          <p:cNvSpPr txBox="1"/>
          <p:nvPr/>
        </p:nvSpPr>
        <p:spPr>
          <a:xfrm>
            <a:off x="1325880" y="17459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투명한 컵에 물을 3분의 2쯤 담아요.</a:t>
            </a:r>
            <a:endParaRPr lang="ko-KR" sz="2200" dirty="0"/>
          </a:p>
        </p:txBody>
      </p:sp>
      <p:sp>
        <p:nvSpPr>
          <p:cNvPr id="16" name="S04-stepno33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4-text34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 한 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위에서 살짝 쏟아요.</a:t>
            </a:r>
            <a:endParaRPr lang="ko-KR" sz="2200" dirty="0"/>
          </a:p>
        </p:txBody>
      </p:sp>
      <p:sp>
        <p:nvSpPr>
          <p:cNvPr id="18" name="S04-stepno35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36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뒤 한 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쏟아요.</a:t>
            </a:r>
            <a:endParaRPr lang="ko-KR" sz="2200" dirty="0"/>
          </a:p>
        </p:txBody>
      </p:sp>
      <p:sp>
        <p:nvSpPr>
          <p:cNvPr id="20" name="S04-stepno37"/>
          <p:cNvSpPr txBox="1"/>
          <p:nvPr/>
        </p:nvSpPr>
        <p:spPr>
          <a:xfrm>
            <a:off x="548640" y="41518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04-text38"/>
          <p:cNvSpPr txBox="1"/>
          <p:nvPr/>
        </p:nvSpPr>
        <p:spPr>
          <a:xfrm>
            <a:off x="1325880" y="41518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보고 활동지 1·2에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2800" dirty="0"/>
          </a:p>
        </p:txBody>
      </p:sp>
      <p:graphicFrame>
        <p:nvGraphicFramePr>
          <p:cNvPr id="6" name="S05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바닥에 닿은 알갱이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맨 위에 쌓인 알갱이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번째 한 숟가락이 쌓인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지층은 이렇게 쌓여요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자갈·모래·진흙이 층층이 쌓인 것을 지층이라고 해요.</a:t>
            </a:r>
            <a:endParaRPr lang="ko-KR" sz="2800" dirty="0"/>
          </a:p>
        </p:txBody>
      </p:sp>
      <p:sp>
        <p:nvSpPr>
          <p:cNvPr id="4" name="S06-figure44" descr="지층 단면: 아래부터 자갈층, 모래층, 진흙층, 모래층. 왼쪽 화살표가 아래(먼저)에서 위(나중)로 향함"/>
          <p:cNvSpPr/>
          <p:nvPr/>
        </p:nvSpPr>
        <p:spPr>
          <a:xfrm>
            <a:off x="1848153" y="4570685"/>
            <a:ext cx="3039233" cy="729416"/>
          </a:xfrm>
          <a:custGeom>
            <a:avLst/>
            <a:gdLst/>
            <a:ahLst/>
            <a:cxnLst/>
            <a:rect l="l" t="t" r="r" b="b"/>
            <a:pathLst>
              <a:path w="3039233" h="729416">
                <a:moveTo>
                  <a:pt x="0" y="729416"/>
                </a:moveTo>
                <a:lnTo>
                  <a:pt x="3039233" y="729416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CAC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45"/>
          <p:cNvSpPr/>
          <p:nvPr/>
        </p:nvSpPr>
        <p:spPr>
          <a:xfrm>
            <a:off x="1848153" y="3962838"/>
            <a:ext cx="3039233" cy="607847"/>
          </a:xfrm>
          <a:custGeom>
            <a:avLst/>
            <a:gdLst/>
            <a:ahLst/>
            <a:cxnLst/>
            <a:rect l="l" t="t" r="r" b="b"/>
            <a:pathLst>
              <a:path w="3039233" h="607847">
                <a:moveTo>
                  <a:pt x="0" y="607847"/>
                </a:moveTo>
                <a:lnTo>
                  <a:pt x="3039233" y="607847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DFA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46"/>
          <p:cNvSpPr/>
          <p:nvPr/>
        </p:nvSpPr>
        <p:spPr>
          <a:xfrm>
            <a:off x="1848153" y="3476561"/>
            <a:ext cx="3039233" cy="486277"/>
          </a:xfrm>
          <a:custGeom>
            <a:avLst/>
            <a:gdLst/>
            <a:ahLst/>
            <a:cxnLst/>
            <a:rect l="l" t="t" r="r" b="b"/>
            <a:pathLst>
              <a:path w="3039233" h="486277">
                <a:moveTo>
                  <a:pt x="0" y="486277"/>
                </a:moveTo>
                <a:lnTo>
                  <a:pt x="3039233" y="486277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96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47"/>
          <p:cNvSpPr/>
          <p:nvPr/>
        </p:nvSpPr>
        <p:spPr>
          <a:xfrm>
            <a:off x="1848153" y="2929499"/>
            <a:ext cx="3039233" cy="547062"/>
          </a:xfrm>
          <a:custGeom>
            <a:avLst/>
            <a:gdLst/>
            <a:ahLst/>
            <a:cxnLst/>
            <a:rect l="l" t="t" r="r" b="b"/>
            <a:pathLst>
              <a:path w="3039233" h="547062">
                <a:moveTo>
                  <a:pt x="0" y="547062"/>
                </a:moveTo>
                <a:lnTo>
                  <a:pt x="3039233" y="547062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DFA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8"/>
          <p:cNvSpPr/>
          <p:nvPr/>
        </p:nvSpPr>
        <p:spPr>
          <a:xfrm>
            <a:off x="1969722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49"/>
          <p:cNvSpPr/>
          <p:nvPr/>
        </p:nvSpPr>
        <p:spPr>
          <a:xfrm>
            <a:off x="2091292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50"/>
          <p:cNvSpPr/>
          <p:nvPr/>
        </p:nvSpPr>
        <p:spPr>
          <a:xfrm>
            <a:off x="2456000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mark51"/>
          <p:cNvSpPr/>
          <p:nvPr/>
        </p:nvSpPr>
        <p:spPr>
          <a:xfrm>
            <a:off x="2577569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52"/>
          <p:cNvSpPr/>
          <p:nvPr/>
        </p:nvSpPr>
        <p:spPr>
          <a:xfrm>
            <a:off x="2942277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53"/>
          <p:cNvSpPr/>
          <p:nvPr/>
        </p:nvSpPr>
        <p:spPr>
          <a:xfrm>
            <a:off x="3063846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mark54"/>
          <p:cNvSpPr/>
          <p:nvPr/>
        </p:nvSpPr>
        <p:spPr>
          <a:xfrm>
            <a:off x="3428554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55"/>
          <p:cNvSpPr/>
          <p:nvPr/>
        </p:nvSpPr>
        <p:spPr>
          <a:xfrm>
            <a:off x="3550123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56"/>
          <p:cNvSpPr/>
          <p:nvPr/>
        </p:nvSpPr>
        <p:spPr>
          <a:xfrm>
            <a:off x="3914831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57"/>
          <p:cNvSpPr/>
          <p:nvPr/>
        </p:nvSpPr>
        <p:spPr>
          <a:xfrm>
            <a:off x="4036401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58"/>
          <p:cNvSpPr/>
          <p:nvPr/>
        </p:nvSpPr>
        <p:spPr>
          <a:xfrm>
            <a:off x="4401109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mark59"/>
          <p:cNvSpPr/>
          <p:nvPr/>
        </p:nvSpPr>
        <p:spPr>
          <a:xfrm>
            <a:off x="4522678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60"/>
          <p:cNvSpPr/>
          <p:nvPr/>
        </p:nvSpPr>
        <p:spPr>
          <a:xfrm>
            <a:off x="1969722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S06-mark61"/>
          <p:cNvSpPr/>
          <p:nvPr/>
        </p:nvSpPr>
        <p:spPr>
          <a:xfrm>
            <a:off x="2188547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2" name="S06-mark62"/>
          <p:cNvSpPr/>
          <p:nvPr/>
        </p:nvSpPr>
        <p:spPr>
          <a:xfrm>
            <a:off x="2407372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3" name="S06-mark63"/>
          <p:cNvSpPr/>
          <p:nvPr/>
        </p:nvSpPr>
        <p:spPr>
          <a:xfrm>
            <a:off x="2626197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S06-mark64"/>
          <p:cNvSpPr/>
          <p:nvPr/>
        </p:nvSpPr>
        <p:spPr>
          <a:xfrm>
            <a:off x="2845021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5" name="S06-mark65"/>
          <p:cNvSpPr/>
          <p:nvPr/>
        </p:nvSpPr>
        <p:spPr>
          <a:xfrm>
            <a:off x="3063846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6" name="S06-mark66"/>
          <p:cNvSpPr/>
          <p:nvPr/>
        </p:nvSpPr>
        <p:spPr>
          <a:xfrm>
            <a:off x="3282671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7" name="S06-mark67"/>
          <p:cNvSpPr/>
          <p:nvPr/>
        </p:nvSpPr>
        <p:spPr>
          <a:xfrm>
            <a:off x="3501496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8" name="S06-mark68"/>
          <p:cNvSpPr/>
          <p:nvPr/>
        </p:nvSpPr>
        <p:spPr>
          <a:xfrm>
            <a:off x="3720320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9" name="S06-mark69"/>
          <p:cNvSpPr/>
          <p:nvPr/>
        </p:nvSpPr>
        <p:spPr>
          <a:xfrm>
            <a:off x="3939145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0" name="S06-mark70"/>
          <p:cNvSpPr/>
          <p:nvPr/>
        </p:nvSpPr>
        <p:spPr>
          <a:xfrm>
            <a:off x="4157970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S06-mark71"/>
          <p:cNvSpPr/>
          <p:nvPr/>
        </p:nvSpPr>
        <p:spPr>
          <a:xfrm>
            <a:off x="4376795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2" name="S06-mark72"/>
          <p:cNvSpPr/>
          <p:nvPr/>
        </p:nvSpPr>
        <p:spPr>
          <a:xfrm>
            <a:off x="4595619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S06-mark73"/>
          <p:cNvSpPr/>
          <p:nvPr/>
        </p:nvSpPr>
        <p:spPr>
          <a:xfrm>
            <a:off x="2079135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4" name="S06-mark74"/>
          <p:cNvSpPr/>
          <p:nvPr/>
        </p:nvSpPr>
        <p:spPr>
          <a:xfrm>
            <a:off x="2297960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5" name="S06-mark75"/>
          <p:cNvSpPr/>
          <p:nvPr/>
        </p:nvSpPr>
        <p:spPr>
          <a:xfrm>
            <a:off x="2516784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6" name="S06-mark76"/>
          <p:cNvSpPr/>
          <p:nvPr/>
        </p:nvSpPr>
        <p:spPr>
          <a:xfrm>
            <a:off x="2735609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7" name="S06-mark77"/>
          <p:cNvSpPr/>
          <p:nvPr/>
        </p:nvSpPr>
        <p:spPr>
          <a:xfrm>
            <a:off x="2954434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8" name="S06-mark78"/>
          <p:cNvSpPr/>
          <p:nvPr/>
        </p:nvSpPr>
        <p:spPr>
          <a:xfrm>
            <a:off x="3173259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9" name="S06-mark79"/>
          <p:cNvSpPr/>
          <p:nvPr/>
        </p:nvSpPr>
        <p:spPr>
          <a:xfrm>
            <a:off x="3392083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0" name="S06-mark80"/>
          <p:cNvSpPr/>
          <p:nvPr/>
        </p:nvSpPr>
        <p:spPr>
          <a:xfrm>
            <a:off x="3610908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1" name="S06-mark81"/>
          <p:cNvSpPr/>
          <p:nvPr/>
        </p:nvSpPr>
        <p:spPr>
          <a:xfrm>
            <a:off x="3829733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2" name="S06-mark82"/>
          <p:cNvSpPr/>
          <p:nvPr/>
        </p:nvSpPr>
        <p:spPr>
          <a:xfrm>
            <a:off x="4048558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3" name="S06-mark83"/>
          <p:cNvSpPr/>
          <p:nvPr/>
        </p:nvSpPr>
        <p:spPr>
          <a:xfrm>
            <a:off x="4267382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4" name="S06-mark84"/>
          <p:cNvSpPr/>
          <p:nvPr/>
        </p:nvSpPr>
        <p:spPr>
          <a:xfrm>
            <a:off x="4486207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5" name="S06-mark85"/>
          <p:cNvSpPr/>
          <p:nvPr/>
        </p:nvSpPr>
        <p:spPr>
          <a:xfrm>
            <a:off x="4705032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6" name="S06-mark86"/>
          <p:cNvSpPr/>
          <p:nvPr/>
        </p:nvSpPr>
        <p:spPr>
          <a:xfrm>
            <a:off x="1969722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7" name="S06-mark87"/>
          <p:cNvSpPr/>
          <p:nvPr/>
        </p:nvSpPr>
        <p:spPr>
          <a:xfrm>
            <a:off x="2188547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8" name="S06-mark88"/>
          <p:cNvSpPr/>
          <p:nvPr/>
        </p:nvSpPr>
        <p:spPr>
          <a:xfrm>
            <a:off x="2407372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9" name="S06-mark89"/>
          <p:cNvSpPr/>
          <p:nvPr/>
        </p:nvSpPr>
        <p:spPr>
          <a:xfrm>
            <a:off x="2626197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0" name="S06-mark90"/>
          <p:cNvSpPr/>
          <p:nvPr/>
        </p:nvSpPr>
        <p:spPr>
          <a:xfrm>
            <a:off x="2845021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1" name="S06-mark91"/>
          <p:cNvSpPr/>
          <p:nvPr/>
        </p:nvSpPr>
        <p:spPr>
          <a:xfrm>
            <a:off x="3063846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2" name="S06-mark92"/>
          <p:cNvSpPr/>
          <p:nvPr/>
        </p:nvSpPr>
        <p:spPr>
          <a:xfrm>
            <a:off x="3282671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3" name="S06-mark93"/>
          <p:cNvSpPr/>
          <p:nvPr/>
        </p:nvSpPr>
        <p:spPr>
          <a:xfrm>
            <a:off x="3501496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4" name="S06-mark94"/>
          <p:cNvSpPr/>
          <p:nvPr/>
        </p:nvSpPr>
        <p:spPr>
          <a:xfrm>
            <a:off x="3720320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5" name="S06-mark95"/>
          <p:cNvSpPr/>
          <p:nvPr/>
        </p:nvSpPr>
        <p:spPr>
          <a:xfrm>
            <a:off x="3939145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6" name="S06-mark96"/>
          <p:cNvSpPr/>
          <p:nvPr/>
        </p:nvSpPr>
        <p:spPr>
          <a:xfrm>
            <a:off x="4157970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7" name="S06-mark97"/>
          <p:cNvSpPr/>
          <p:nvPr/>
        </p:nvSpPr>
        <p:spPr>
          <a:xfrm>
            <a:off x="4376795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8" name="S06-mark98"/>
          <p:cNvSpPr/>
          <p:nvPr/>
        </p:nvSpPr>
        <p:spPr>
          <a:xfrm>
            <a:off x="4595619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9" name="S06-mark99"/>
          <p:cNvSpPr/>
          <p:nvPr/>
        </p:nvSpPr>
        <p:spPr>
          <a:xfrm>
            <a:off x="1969722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0" name="S06-mark100"/>
          <p:cNvSpPr/>
          <p:nvPr/>
        </p:nvSpPr>
        <p:spPr>
          <a:xfrm>
            <a:off x="2188547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1" name="S06-mark101"/>
          <p:cNvSpPr/>
          <p:nvPr/>
        </p:nvSpPr>
        <p:spPr>
          <a:xfrm>
            <a:off x="2407372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2" name="S06-mark102"/>
          <p:cNvSpPr/>
          <p:nvPr/>
        </p:nvSpPr>
        <p:spPr>
          <a:xfrm>
            <a:off x="2626197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3" name="S06-mark103"/>
          <p:cNvSpPr/>
          <p:nvPr/>
        </p:nvSpPr>
        <p:spPr>
          <a:xfrm>
            <a:off x="2845021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4" name="S06-mark104"/>
          <p:cNvSpPr/>
          <p:nvPr/>
        </p:nvSpPr>
        <p:spPr>
          <a:xfrm>
            <a:off x="3063846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5" name="S06-mark105"/>
          <p:cNvSpPr/>
          <p:nvPr/>
        </p:nvSpPr>
        <p:spPr>
          <a:xfrm>
            <a:off x="3282671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6" name="S06-mark106"/>
          <p:cNvSpPr/>
          <p:nvPr/>
        </p:nvSpPr>
        <p:spPr>
          <a:xfrm>
            <a:off x="3501496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7" name="S06-mark107"/>
          <p:cNvSpPr/>
          <p:nvPr/>
        </p:nvSpPr>
        <p:spPr>
          <a:xfrm>
            <a:off x="3720320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8" name="S06-mark108"/>
          <p:cNvSpPr/>
          <p:nvPr/>
        </p:nvSpPr>
        <p:spPr>
          <a:xfrm>
            <a:off x="3939145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9" name="S06-mark109"/>
          <p:cNvSpPr/>
          <p:nvPr/>
        </p:nvSpPr>
        <p:spPr>
          <a:xfrm>
            <a:off x="4157970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0" name="S06-mark110"/>
          <p:cNvSpPr/>
          <p:nvPr/>
        </p:nvSpPr>
        <p:spPr>
          <a:xfrm>
            <a:off x="4376795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1" name="S06-mark111"/>
          <p:cNvSpPr/>
          <p:nvPr/>
        </p:nvSpPr>
        <p:spPr>
          <a:xfrm>
            <a:off x="4595619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2" name="S06-mark112"/>
          <p:cNvSpPr/>
          <p:nvPr/>
        </p:nvSpPr>
        <p:spPr>
          <a:xfrm>
            <a:off x="2079135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3" name="S06-mark113"/>
          <p:cNvSpPr/>
          <p:nvPr/>
        </p:nvSpPr>
        <p:spPr>
          <a:xfrm>
            <a:off x="2297960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4" name="S06-mark114"/>
          <p:cNvSpPr/>
          <p:nvPr/>
        </p:nvSpPr>
        <p:spPr>
          <a:xfrm>
            <a:off x="2516784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5" name="S06-mark115"/>
          <p:cNvSpPr/>
          <p:nvPr/>
        </p:nvSpPr>
        <p:spPr>
          <a:xfrm>
            <a:off x="2735609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6" name="S06-mark116"/>
          <p:cNvSpPr/>
          <p:nvPr/>
        </p:nvSpPr>
        <p:spPr>
          <a:xfrm>
            <a:off x="2954434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7" name="S06-mark117"/>
          <p:cNvSpPr/>
          <p:nvPr/>
        </p:nvSpPr>
        <p:spPr>
          <a:xfrm>
            <a:off x="3173259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8" name="S06-mark118"/>
          <p:cNvSpPr/>
          <p:nvPr/>
        </p:nvSpPr>
        <p:spPr>
          <a:xfrm>
            <a:off x="3392083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9" name="S06-mark119"/>
          <p:cNvSpPr/>
          <p:nvPr/>
        </p:nvSpPr>
        <p:spPr>
          <a:xfrm>
            <a:off x="3610908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0" name="S06-mark120"/>
          <p:cNvSpPr/>
          <p:nvPr/>
        </p:nvSpPr>
        <p:spPr>
          <a:xfrm>
            <a:off x="3829733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1" name="S06-mark121"/>
          <p:cNvSpPr/>
          <p:nvPr/>
        </p:nvSpPr>
        <p:spPr>
          <a:xfrm>
            <a:off x="4048558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2" name="S06-mark122"/>
          <p:cNvSpPr/>
          <p:nvPr/>
        </p:nvSpPr>
        <p:spPr>
          <a:xfrm>
            <a:off x="4267382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3" name="S06-mark123"/>
          <p:cNvSpPr/>
          <p:nvPr/>
        </p:nvSpPr>
        <p:spPr>
          <a:xfrm>
            <a:off x="4486207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4" name="S06-mark124"/>
          <p:cNvSpPr/>
          <p:nvPr/>
        </p:nvSpPr>
        <p:spPr>
          <a:xfrm>
            <a:off x="4705032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5" name="S06-mark125"/>
          <p:cNvSpPr/>
          <p:nvPr/>
        </p:nvSpPr>
        <p:spPr>
          <a:xfrm flipV="1">
            <a:off x="1483445" y="3051069"/>
            <a:ext cx="0" cy="212746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6" name="S06-label127"/>
          <p:cNvSpPr txBox="1"/>
          <p:nvPr/>
        </p:nvSpPr>
        <p:spPr>
          <a:xfrm>
            <a:off x="607707" y="4912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200" dirty="0"/>
          </a:p>
        </p:txBody>
      </p:sp>
      <p:sp>
        <p:nvSpPr>
          <p:cNvPr id="87" name="S06-label129"/>
          <p:cNvSpPr txBox="1"/>
          <p:nvPr/>
        </p:nvSpPr>
        <p:spPr>
          <a:xfrm>
            <a:off x="607707" y="296762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</a:t>
            </a:r>
            <a:endParaRPr lang="ko-KR" sz="2200" dirty="0"/>
          </a:p>
        </p:txBody>
      </p:sp>
      <p:sp>
        <p:nvSpPr>
          <p:cNvPr id="88" name="S06-label131"/>
          <p:cNvSpPr txBox="1"/>
          <p:nvPr/>
        </p:nvSpPr>
        <p:spPr>
          <a:xfrm>
            <a:off x="5069740" y="476076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</a:t>
            </a:r>
            <a:endParaRPr lang="ko-KR" sz="2200" dirty="0"/>
          </a:p>
        </p:txBody>
      </p:sp>
      <p:sp>
        <p:nvSpPr>
          <p:cNvPr id="89" name="S06-label133"/>
          <p:cNvSpPr txBox="1"/>
          <p:nvPr/>
        </p:nvSpPr>
        <p:spPr>
          <a:xfrm>
            <a:off x="5069740" y="40921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90" name="S06-label135"/>
          <p:cNvSpPr txBox="1"/>
          <p:nvPr/>
        </p:nvSpPr>
        <p:spPr>
          <a:xfrm>
            <a:off x="5069740" y="35450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진흙</a:t>
            </a:r>
            <a:endParaRPr lang="ko-KR" sz="2200" dirty="0"/>
          </a:p>
        </p:txBody>
      </p:sp>
      <p:sp>
        <p:nvSpPr>
          <p:cNvPr id="91" name="S06-label137"/>
          <p:cNvSpPr txBox="1"/>
          <p:nvPr/>
        </p:nvSpPr>
        <p:spPr>
          <a:xfrm>
            <a:off x="5069740" y="30284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92" name="S06-card138"/>
          <p:cNvSpPr/>
          <p:nvPr/>
        </p:nvSpPr>
        <p:spPr>
          <a:xfrm>
            <a:off x="6491874" y="2090928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3" name="S06-cardtext139"/>
          <p:cNvSpPr txBox="1"/>
          <p:nvPr/>
        </p:nvSpPr>
        <p:spPr>
          <a:xfrm>
            <a:off x="6766194" y="2228088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옮긴 알갱이가 물 밑에 쌓여요.</a:t>
            </a:r>
            <a:endParaRPr lang="ko-KR" sz="2800" dirty="0"/>
          </a:p>
        </p:txBody>
      </p:sp>
      <p:sp>
        <p:nvSpPr>
          <p:cNvPr id="94" name="S06-card140"/>
          <p:cNvSpPr/>
          <p:nvPr/>
        </p:nvSpPr>
        <p:spPr>
          <a:xfrm>
            <a:off x="6491874" y="3516376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5" name="S06-cardtext141"/>
          <p:cNvSpPr txBox="1"/>
          <p:nvPr/>
        </p:nvSpPr>
        <p:spPr>
          <a:xfrm>
            <a:off x="6766194" y="3653536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아래층이 먼저,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위층이 나중에 쌓여요.</a:t>
            </a:r>
            <a:endParaRPr lang="ko-KR" sz="2800" dirty="0"/>
          </a:p>
        </p:txBody>
      </p:sp>
      <p:sp>
        <p:nvSpPr>
          <p:cNvPr id="96" name="S06-card142"/>
          <p:cNvSpPr/>
          <p:nvPr/>
        </p:nvSpPr>
        <p:spPr>
          <a:xfrm>
            <a:off x="6491874" y="4941824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7" name="S06-cardtext143"/>
          <p:cNvSpPr txBox="1"/>
          <p:nvPr/>
        </p:nvSpPr>
        <p:spPr>
          <a:xfrm>
            <a:off x="6766194" y="5078984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시간 눌려 단단해지고,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솟아 드러나요.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1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지층의 아래층과 위층 가운데 어느 층이 먼저 쌓였을까요?</a:t>
            </a:r>
            <a:endParaRPr lang="ko-KR" sz="2800" dirty="0"/>
          </a:p>
        </p:txBody>
      </p:sp>
      <p:sp>
        <p:nvSpPr>
          <p:cNvPr id="5" name="S07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1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1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위에 보이니까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위층이 먼저 쌓였어요.</a:t>
            </a:r>
            <a:endParaRPr lang="ko-KR" sz="2800" dirty="0"/>
          </a:p>
        </p:txBody>
      </p:sp>
      <p:sp>
        <p:nvSpPr>
          <p:cNvPr id="9" name="S07-chip1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1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넣은 것이 위에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쌓였으니 아래층이 먼저예요.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퇴적암의 이름</a:t>
            </a:r>
            <a:endParaRPr lang="ko-KR" sz="4000" dirty="0"/>
          </a:p>
        </p:txBody>
      </p:sp>
      <p:sp>
        <p:nvSpPr>
          <p:cNvPr id="3" name="S08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알갱이가 굳어 된 암석을 퇴적암이라고 해요.</a:t>
            </a:r>
            <a:endParaRPr lang="ko-KR" sz="2800" dirty="0"/>
          </a:p>
        </p:txBody>
      </p:sp>
      <p:sp>
        <p:nvSpPr>
          <p:cNvPr id="4" name="S08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퇴적암은 알갱이의 크기로 나눠요.</a:t>
            </a:r>
            <a:endParaRPr lang="ko-KR" sz="2800" dirty="0"/>
          </a:p>
        </p:txBody>
      </p:sp>
      <p:graphicFrame>
        <p:nvGraphicFramePr>
          <p:cNvPr id="9" name="S08-table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4416552"/>
                <a:gridCol w="378561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퇴적암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이루는 알갱이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만져 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진흙(아주 작아요)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부드러워요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까끌까끌해요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자갈과 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울퉁불퉁해요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퇴적암일까요?</a:t>
            </a:r>
            <a:endParaRPr lang="ko-KR" sz="4000" dirty="0"/>
          </a:p>
        </p:txBody>
      </p:sp>
      <p:sp>
        <p:nvSpPr>
          <p:cNvPr id="3" name="S09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 크기를 보고 이름을 말해요. 까닭도 말해요.</a:t>
            </a:r>
            <a:endParaRPr lang="ko-KR" sz="2800" dirty="0"/>
          </a:p>
        </p:txBody>
      </p:sp>
      <p:sp>
        <p:nvSpPr>
          <p:cNvPr id="5" name="S09-figure158" descr="가: 고른 모래 크기의 알갱이가 빽빽한 암석"/>
          <p:cNvSpPr/>
          <p:nvPr/>
        </p:nvSpPr>
        <p:spPr>
          <a:xfrm>
            <a:off x="702183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9-mark159"/>
          <p:cNvSpPr/>
          <p:nvPr/>
        </p:nvSpPr>
        <p:spPr>
          <a:xfrm>
            <a:off x="853080" y="423703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09-mark160"/>
          <p:cNvSpPr/>
          <p:nvPr/>
        </p:nvSpPr>
        <p:spPr>
          <a:xfrm>
            <a:off x="1218409" y="422114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S09-mark161"/>
          <p:cNvSpPr/>
          <p:nvPr/>
        </p:nvSpPr>
        <p:spPr>
          <a:xfrm>
            <a:off x="1559913" y="422114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S09-mark162"/>
          <p:cNvSpPr/>
          <p:nvPr/>
        </p:nvSpPr>
        <p:spPr>
          <a:xfrm>
            <a:off x="1853765" y="425291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S09-mark163"/>
          <p:cNvSpPr/>
          <p:nvPr/>
        </p:nvSpPr>
        <p:spPr>
          <a:xfrm>
            <a:off x="2274688" y="424497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64"/>
          <p:cNvSpPr/>
          <p:nvPr/>
        </p:nvSpPr>
        <p:spPr>
          <a:xfrm>
            <a:off x="2624134" y="428468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09-mark165"/>
          <p:cNvSpPr/>
          <p:nvPr/>
        </p:nvSpPr>
        <p:spPr>
          <a:xfrm>
            <a:off x="2941811" y="427674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S09-mark166"/>
          <p:cNvSpPr/>
          <p:nvPr/>
        </p:nvSpPr>
        <p:spPr>
          <a:xfrm>
            <a:off x="3291257" y="424497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67"/>
          <p:cNvSpPr/>
          <p:nvPr/>
        </p:nvSpPr>
        <p:spPr>
          <a:xfrm>
            <a:off x="980151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5" name="S09-mark168"/>
          <p:cNvSpPr/>
          <p:nvPr/>
        </p:nvSpPr>
        <p:spPr>
          <a:xfrm>
            <a:off x="1353422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6" name="S09-mark169"/>
          <p:cNvSpPr/>
          <p:nvPr/>
        </p:nvSpPr>
        <p:spPr>
          <a:xfrm>
            <a:off x="1742578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170"/>
          <p:cNvSpPr/>
          <p:nvPr/>
        </p:nvSpPr>
        <p:spPr>
          <a:xfrm>
            <a:off x="2092023" y="396700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8" name="S09-mark171"/>
          <p:cNvSpPr/>
          <p:nvPr/>
        </p:nvSpPr>
        <p:spPr>
          <a:xfrm>
            <a:off x="2425585" y="396700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9" name="S09-mark172"/>
          <p:cNvSpPr/>
          <p:nvPr/>
        </p:nvSpPr>
        <p:spPr>
          <a:xfrm>
            <a:off x="2727379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173"/>
          <p:cNvSpPr/>
          <p:nvPr/>
        </p:nvSpPr>
        <p:spPr>
          <a:xfrm>
            <a:off x="3092708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1" name="S09-mark174"/>
          <p:cNvSpPr/>
          <p:nvPr/>
        </p:nvSpPr>
        <p:spPr>
          <a:xfrm>
            <a:off x="3505690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09-mark175"/>
          <p:cNvSpPr/>
          <p:nvPr/>
        </p:nvSpPr>
        <p:spPr>
          <a:xfrm>
            <a:off x="829254" y="35778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176"/>
          <p:cNvSpPr/>
          <p:nvPr/>
        </p:nvSpPr>
        <p:spPr>
          <a:xfrm>
            <a:off x="1194584" y="360167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4" name="S09-mark177"/>
          <p:cNvSpPr/>
          <p:nvPr/>
        </p:nvSpPr>
        <p:spPr>
          <a:xfrm>
            <a:off x="1520203" y="358579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S09-mark178"/>
          <p:cNvSpPr/>
          <p:nvPr/>
        </p:nvSpPr>
        <p:spPr>
          <a:xfrm>
            <a:off x="1909359" y="35778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179"/>
          <p:cNvSpPr/>
          <p:nvPr/>
        </p:nvSpPr>
        <p:spPr>
          <a:xfrm>
            <a:off x="2274688" y="363344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7" name="S09-mark180"/>
          <p:cNvSpPr/>
          <p:nvPr/>
        </p:nvSpPr>
        <p:spPr>
          <a:xfrm>
            <a:off x="2584424" y="364138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8" name="S09-mark181"/>
          <p:cNvSpPr/>
          <p:nvPr/>
        </p:nvSpPr>
        <p:spPr>
          <a:xfrm>
            <a:off x="2910044" y="364932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9" name="S09-mark182"/>
          <p:cNvSpPr/>
          <p:nvPr/>
        </p:nvSpPr>
        <p:spPr>
          <a:xfrm>
            <a:off x="3275373" y="360961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0" name="S09-mark183"/>
          <p:cNvSpPr/>
          <p:nvPr/>
        </p:nvSpPr>
        <p:spPr>
          <a:xfrm>
            <a:off x="980151" y="328399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1" name="S09-mark184"/>
          <p:cNvSpPr/>
          <p:nvPr/>
        </p:nvSpPr>
        <p:spPr>
          <a:xfrm>
            <a:off x="1353422" y="331576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185"/>
          <p:cNvSpPr/>
          <p:nvPr/>
        </p:nvSpPr>
        <p:spPr>
          <a:xfrm>
            <a:off x="1742578" y="329988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3" name="S09-mark186"/>
          <p:cNvSpPr/>
          <p:nvPr/>
        </p:nvSpPr>
        <p:spPr>
          <a:xfrm>
            <a:off x="2052314" y="329988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4" name="S09-mark187"/>
          <p:cNvSpPr/>
          <p:nvPr/>
        </p:nvSpPr>
        <p:spPr>
          <a:xfrm>
            <a:off x="2433527" y="33316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5" name="S09-mark188"/>
          <p:cNvSpPr/>
          <p:nvPr/>
        </p:nvSpPr>
        <p:spPr>
          <a:xfrm>
            <a:off x="2806798" y="333959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6" name="S09-mark189"/>
          <p:cNvSpPr/>
          <p:nvPr/>
        </p:nvSpPr>
        <p:spPr>
          <a:xfrm>
            <a:off x="3132418" y="327605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7" name="S09-mark190"/>
          <p:cNvSpPr/>
          <p:nvPr/>
        </p:nvSpPr>
        <p:spPr>
          <a:xfrm>
            <a:off x="3426270" y="327605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8" name="S09-mark191"/>
          <p:cNvSpPr/>
          <p:nvPr/>
        </p:nvSpPr>
        <p:spPr>
          <a:xfrm>
            <a:off x="837196" y="297426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9" name="S09-mark192"/>
          <p:cNvSpPr/>
          <p:nvPr/>
        </p:nvSpPr>
        <p:spPr>
          <a:xfrm>
            <a:off x="1154874" y="302191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0" name="S09-mark193"/>
          <p:cNvSpPr/>
          <p:nvPr/>
        </p:nvSpPr>
        <p:spPr>
          <a:xfrm>
            <a:off x="1520203" y="294249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1" name="S09-mark194"/>
          <p:cNvSpPr/>
          <p:nvPr/>
        </p:nvSpPr>
        <p:spPr>
          <a:xfrm>
            <a:off x="1869649" y="295837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2" name="S09-mark195"/>
          <p:cNvSpPr/>
          <p:nvPr/>
        </p:nvSpPr>
        <p:spPr>
          <a:xfrm>
            <a:off x="2274688" y="295043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3" name="S09-mark196"/>
          <p:cNvSpPr/>
          <p:nvPr/>
        </p:nvSpPr>
        <p:spPr>
          <a:xfrm>
            <a:off x="2576482" y="299014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4" name="S09-mark197"/>
          <p:cNvSpPr/>
          <p:nvPr/>
        </p:nvSpPr>
        <p:spPr>
          <a:xfrm>
            <a:off x="2941811" y="295837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5" name="S09-mark198"/>
          <p:cNvSpPr/>
          <p:nvPr/>
        </p:nvSpPr>
        <p:spPr>
          <a:xfrm>
            <a:off x="3259489" y="296632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6" name="S09-mark199"/>
          <p:cNvSpPr/>
          <p:nvPr/>
        </p:nvSpPr>
        <p:spPr>
          <a:xfrm>
            <a:off x="1043687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7" name="S09-mark200"/>
          <p:cNvSpPr/>
          <p:nvPr/>
        </p:nvSpPr>
        <p:spPr>
          <a:xfrm>
            <a:off x="1329597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8" name="S09-mark201"/>
          <p:cNvSpPr/>
          <p:nvPr/>
        </p:nvSpPr>
        <p:spPr>
          <a:xfrm>
            <a:off x="1686984" y="268041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9" name="S09-mark202"/>
          <p:cNvSpPr/>
          <p:nvPr/>
        </p:nvSpPr>
        <p:spPr>
          <a:xfrm>
            <a:off x="2076139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0" name="S09-mark203"/>
          <p:cNvSpPr/>
          <p:nvPr/>
        </p:nvSpPr>
        <p:spPr>
          <a:xfrm>
            <a:off x="2401759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1" name="S09-mark204"/>
          <p:cNvSpPr/>
          <p:nvPr/>
        </p:nvSpPr>
        <p:spPr>
          <a:xfrm>
            <a:off x="2767089" y="268041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2" name="S09-mark205"/>
          <p:cNvSpPr/>
          <p:nvPr/>
        </p:nvSpPr>
        <p:spPr>
          <a:xfrm>
            <a:off x="3100650" y="268835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3" name="S09-mark206"/>
          <p:cNvSpPr/>
          <p:nvPr/>
        </p:nvSpPr>
        <p:spPr>
          <a:xfrm>
            <a:off x="3434212" y="269629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4" name="S09-mark207"/>
          <p:cNvSpPr/>
          <p:nvPr/>
        </p:nvSpPr>
        <p:spPr>
          <a:xfrm>
            <a:off x="861022" y="230714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5" name="S09-mark208"/>
          <p:cNvSpPr/>
          <p:nvPr/>
        </p:nvSpPr>
        <p:spPr>
          <a:xfrm>
            <a:off x="1170758" y="238655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6" name="S09-mark209"/>
          <p:cNvSpPr/>
          <p:nvPr/>
        </p:nvSpPr>
        <p:spPr>
          <a:xfrm>
            <a:off x="1583739" y="234685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7" name="S09-mark210"/>
          <p:cNvSpPr/>
          <p:nvPr/>
        </p:nvSpPr>
        <p:spPr>
          <a:xfrm>
            <a:off x="1885533" y="237067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8" name="S09-mark211"/>
          <p:cNvSpPr/>
          <p:nvPr/>
        </p:nvSpPr>
        <p:spPr>
          <a:xfrm>
            <a:off x="2250862" y="232302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9" name="S09-mark212"/>
          <p:cNvSpPr/>
          <p:nvPr/>
        </p:nvSpPr>
        <p:spPr>
          <a:xfrm>
            <a:off x="2592366" y="235479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0" name="S09-mark213"/>
          <p:cNvSpPr/>
          <p:nvPr/>
        </p:nvSpPr>
        <p:spPr>
          <a:xfrm>
            <a:off x="2910044" y="231508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1" name="S09-mark214"/>
          <p:cNvSpPr/>
          <p:nvPr/>
        </p:nvSpPr>
        <p:spPr>
          <a:xfrm>
            <a:off x="3251547" y="234685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2" name="S09-mark215"/>
          <p:cNvSpPr/>
          <p:nvPr/>
        </p:nvSpPr>
        <p:spPr>
          <a:xfrm>
            <a:off x="1043687" y="206093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3" name="S09-mark216"/>
          <p:cNvSpPr/>
          <p:nvPr/>
        </p:nvSpPr>
        <p:spPr>
          <a:xfrm>
            <a:off x="1385190" y="199740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4" name="S09-mark217"/>
          <p:cNvSpPr/>
          <p:nvPr/>
        </p:nvSpPr>
        <p:spPr>
          <a:xfrm>
            <a:off x="1726694" y="200534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5" name="S09-mark218"/>
          <p:cNvSpPr/>
          <p:nvPr/>
        </p:nvSpPr>
        <p:spPr>
          <a:xfrm>
            <a:off x="2036430" y="203711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6" name="S09-mark219"/>
          <p:cNvSpPr/>
          <p:nvPr/>
        </p:nvSpPr>
        <p:spPr>
          <a:xfrm>
            <a:off x="2385875" y="200534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7" name="S09-mark220"/>
          <p:cNvSpPr/>
          <p:nvPr/>
        </p:nvSpPr>
        <p:spPr>
          <a:xfrm>
            <a:off x="2751205" y="202917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8" name="S09-mark221"/>
          <p:cNvSpPr/>
          <p:nvPr/>
        </p:nvSpPr>
        <p:spPr>
          <a:xfrm>
            <a:off x="3156244" y="199740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9" name="S09-mark222"/>
          <p:cNvSpPr/>
          <p:nvPr/>
        </p:nvSpPr>
        <p:spPr>
          <a:xfrm>
            <a:off x="3505690" y="202917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0" name="S09-mark223"/>
          <p:cNvSpPr/>
          <p:nvPr/>
        </p:nvSpPr>
        <p:spPr>
          <a:xfrm>
            <a:off x="845138" y="169561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1" name="S09-mark224"/>
          <p:cNvSpPr/>
          <p:nvPr/>
        </p:nvSpPr>
        <p:spPr>
          <a:xfrm>
            <a:off x="1194584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2" name="S09-mark225"/>
          <p:cNvSpPr/>
          <p:nvPr/>
        </p:nvSpPr>
        <p:spPr>
          <a:xfrm>
            <a:off x="1536087" y="174326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3" name="S09-mark226"/>
          <p:cNvSpPr/>
          <p:nvPr/>
        </p:nvSpPr>
        <p:spPr>
          <a:xfrm>
            <a:off x="1885533" y="167178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4" name="S09-mark227"/>
          <p:cNvSpPr/>
          <p:nvPr/>
        </p:nvSpPr>
        <p:spPr>
          <a:xfrm>
            <a:off x="2282630" y="170355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5" name="S09-mark228"/>
          <p:cNvSpPr/>
          <p:nvPr/>
        </p:nvSpPr>
        <p:spPr>
          <a:xfrm>
            <a:off x="2592366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6" name="S09-mark229"/>
          <p:cNvSpPr/>
          <p:nvPr/>
        </p:nvSpPr>
        <p:spPr>
          <a:xfrm>
            <a:off x="2910044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7" name="S09-mark230"/>
          <p:cNvSpPr/>
          <p:nvPr/>
        </p:nvSpPr>
        <p:spPr>
          <a:xfrm>
            <a:off x="3315083" y="167972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8" name="S09-label231"/>
          <p:cNvSpPr txBox="1"/>
          <p:nvPr/>
        </p:nvSpPr>
        <p:spPr>
          <a:xfrm>
            <a:off x="548640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79" name="S09-figure232" descr="나: 큰 자갈 알갱이 사이에 작은 알갱이가 섞인 암석"/>
          <p:cNvSpPr/>
          <p:nvPr/>
        </p:nvSpPr>
        <p:spPr>
          <a:xfrm>
            <a:off x="4506087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7DFD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0" name="S09-mark233"/>
          <p:cNvSpPr/>
          <p:nvPr/>
        </p:nvSpPr>
        <p:spPr>
          <a:xfrm>
            <a:off x="4744345" y="3395186"/>
            <a:ext cx="953033" cy="953033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1" name="S09-mark234"/>
          <p:cNvSpPr/>
          <p:nvPr/>
        </p:nvSpPr>
        <p:spPr>
          <a:xfrm>
            <a:off x="6134186" y="3514315"/>
            <a:ext cx="873614" cy="87361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2" name="S09-mark235"/>
          <p:cNvSpPr/>
          <p:nvPr/>
        </p:nvSpPr>
        <p:spPr>
          <a:xfrm>
            <a:off x="5459120" y="2521572"/>
            <a:ext cx="794194" cy="79419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3" name="S09-mark236"/>
          <p:cNvSpPr/>
          <p:nvPr/>
        </p:nvSpPr>
        <p:spPr>
          <a:xfrm>
            <a:off x="6491573" y="2203895"/>
            <a:ext cx="953033" cy="953033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4" name="S09-mark237"/>
          <p:cNvSpPr/>
          <p:nvPr/>
        </p:nvSpPr>
        <p:spPr>
          <a:xfrm>
            <a:off x="4744345" y="1806797"/>
            <a:ext cx="794194" cy="79419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5" name="S09-mark238"/>
          <p:cNvSpPr/>
          <p:nvPr/>
        </p:nvSpPr>
        <p:spPr>
          <a:xfrm>
            <a:off x="5935637" y="1647958"/>
            <a:ext cx="635356" cy="635356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6" name="S09-mark239"/>
          <p:cNvSpPr/>
          <p:nvPr/>
        </p:nvSpPr>
        <p:spPr>
          <a:xfrm>
            <a:off x="5816508" y="4149671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7" name="S09-mark240"/>
          <p:cNvSpPr/>
          <p:nvPr/>
        </p:nvSpPr>
        <p:spPr>
          <a:xfrm>
            <a:off x="5697379" y="3514315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8" name="S09-mark241"/>
          <p:cNvSpPr/>
          <p:nvPr/>
        </p:nvSpPr>
        <p:spPr>
          <a:xfrm>
            <a:off x="4664926" y="2998089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9" name="S09-mark242"/>
          <p:cNvSpPr/>
          <p:nvPr/>
        </p:nvSpPr>
        <p:spPr>
          <a:xfrm>
            <a:off x="6491573" y="3276057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0" name="S09-mark243"/>
          <p:cNvSpPr/>
          <p:nvPr/>
        </p:nvSpPr>
        <p:spPr>
          <a:xfrm>
            <a:off x="7285768" y="3395186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1" name="S09-mark244"/>
          <p:cNvSpPr/>
          <p:nvPr/>
        </p:nvSpPr>
        <p:spPr>
          <a:xfrm>
            <a:off x="7325477" y="1806797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2" name="S09-mark245"/>
          <p:cNvSpPr/>
          <p:nvPr/>
        </p:nvSpPr>
        <p:spPr>
          <a:xfrm>
            <a:off x="5617959" y="1647958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3" name="S09-mark246"/>
          <p:cNvSpPr/>
          <p:nvPr/>
        </p:nvSpPr>
        <p:spPr>
          <a:xfrm>
            <a:off x="4704636" y="4268800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4" name="S09-mark247"/>
          <p:cNvSpPr/>
          <p:nvPr/>
        </p:nvSpPr>
        <p:spPr>
          <a:xfrm>
            <a:off x="6332734" y="2521572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5" name="S09-mark248"/>
          <p:cNvSpPr/>
          <p:nvPr/>
        </p:nvSpPr>
        <p:spPr>
          <a:xfrm>
            <a:off x="7047509" y="4308510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6" name="S09-label249"/>
          <p:cNvSpPr txBox="1"/>
          <p:nvPr/>
        </p:nvSpPr>
        <p:spPr>
          <a:xfrm>
            <a:off x="4352544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97" name="S09-figure250" descr="다: 알갱이가 보이지 않을 만큼 작고 매끈한 암석"/>
          <p:cNvSpPr/>
          <p:nvPr/>
        </p:nvSpPr>
        <p:spPr>
          <a:xfrm>
            <a:off x="8309991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A8958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8" name="S09-label251"/>
          <p:cNvSpPr txBox="1"/>
          <p:nvPr/>
        </p:nvSpPr>
        <p:spPr>
          <a:xfrm>
            <a:off x="8156448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2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조개껍데기를 눌렀다 떼면?</a:t>
            </a:r>
            <a:endParaRPr lang="ko-KR" sz="2800" dirty="0"/>
          </a:p>
        </p:txBody>
      </p:sp>
      <p:sp>
        <p:nvSpPr>
          <p:cNvPr id="4" name="S10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4에 써요.</a:t>
            </a:r>
            <a:endParaRPr lang="ko-KR" sz="2800" dirty="0"/>
          </a:p>
        </p:txBody>
      </p:sp>
      <p:graphicFrame>
        <p:nvGraphicFramePr>
          <p:cNvPr id="11" name="S10-table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찰흙에 무엇이 남을까요?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진짜 조개와 같은 점은?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진짜 조개와 다른 점은?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 모형을 만들어요</a:t>
            </a:r>
            <a:endParaRPr lang="ko-KR" sz="4000" dirty="0"/>
          </a:p>
        </p:txBody>
      </p:sp>
      <p:sp>
        <p:nvSpPr>
          <p:cNvPr id="3" name="S11-card2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깨진 조개껍데기에 베이지 않게 하고, 손을 씻어요.</a:t>
            </a:r>
            <a:endParaRPr lang="ko-KR" sz="2800" dirty="0"/>
          </a:p>
        </p:txBody>
      </p:sp>
      <p:sp>
        <p:nvSpPr>
          <p:cNvPr id="5" name="S11-figure258" descr="납작하게 편 찰흙 판 위에 조개껍데기를 놓고 아래로 눌러 찍는 그림"/>
          <p:cNvSpPr/>
          <p:nvPr/>
        </p:nvSpPr>
        <p:spPr>
          <a:xfrm>
            <a:off x="8176184" y="2798254"/>
            <a:ext cx="2101596" cy="412813"/>
          </a:xfrm>
          <a:custGeom>
            <a:avLst/>
            <a:gdLst/>
            <a:ahLst/>
            <a:cxnLst/>
            <a:rect l="l" t="t" r="r" b="b"/>
            <a:pathLst>
              <a:path w="2101596" h="412813">
                <a:moveTo>
                  <a:pt x="0" y="412813"/>
                </a:moveTo>
                <a:lnTo>
                  <a:pt x="1801368" y="412813"/>
                </a:lnTo>
                <a:lnTo>
                  <a:pt x="2101596" y="0"/>
                </a:lnTo>
                <a:lnTo>
                  <a:pt x="300228" y="0"/>
                </a:lnTo>
                <a:close/>
              </a:path>
            </a:pathLst>
          </a:custGeom>
          <a:solidFill>
            <a:srgbClr val="C8A27C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11-mark259"/>
          <p:cNvSpPr/>
          <p:nvPr/>
        </p:nvSpPr>
        <p:spPr>
          <a:xfrm>
            <a:off x="8750745" y="1824390"/>
            <a:ext cx="952473" cy="523523"/>
          </a:xfrm>
          <a:custGeom>
            <a:avLst/>
            <a:gdLst/>
            <a:ahLst/>
            <a:cxnLst/>
            <a:rect l="l" t="t" r="r" b="b"/>
            <a:pathLst>
              <a:path w="952473" h="523523">
                <a:moveTo>
                  <a:pt x="476237" y="523523"/>
                </a:moveTo>
                <a:lnTo>
                  <a:pt x="952473" y="301354"/>
                </a:lnTo>
                <a:lnTo>
                  <a:pt x="906689" y="222169"/>
                </a:lnTo>
                <a:lnTo>
                  <a:pt x="847769" y="151990"/>
                </a:lnTo>
                <a:lnTo>
                  <a:pt x="777591" y="93071"/>
                </a:lnTo>
                <a:lnTo>
                  <a:pt x="698405" y="47286"/>
                </a:lnTo>
                <a:lnTo>
                  <a:pt x="612090" y="16137"/>
                </a:lnTo>
                <a:lnTo>
                  <a:pt x="522021" y="0"/>
                </a:lnTo>
                <a:lnTo>
                  <a:pt x="430452" y="0"/>
                </a:lnTo>
                <a:lnTo>
                  <a:pt x="340383" y="16137"/>
                </a:lnTo>
                <a:lnTo>
                  <a:pt x="254068" y="47286"/>
                </a:lnTo>
                <a:lnTo>
                  <a:pt x="174883" y="93071"/>
                </a:lnTo>
                <a:lnTo>
                  <a:pt x="104705" y="151990"/>
                </a:lnTo>
                <a:lnTo>
                  <a:pt x="45785" y="222169"/>
                </a:lnTo>
                <a:lnTo>
                  <a:pt x="0" y="301354"/>
                </a:lnTo>
                <a:close/>
              </a:path>
            </a:pathLst>
          </a:custGeom>
          <a:solidFill>
            <a:srgbClr val="F5E6CC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260"/>
          <p:cNvSpPr/>
          <p:nvPr/>
        </p:nvSpPr>
        <p:spPr>
          <a:xfrm flipV="1">
            <a:off x="9226982" y="1989515"/>
            <a:ext cx="358397" cy="35839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261"/>
          <p:cNvSpPr/>
          <p:nvPr/>
        </p:nvSpPr>
        <p:spPr>
          <a:xfrm flipV="1">
            <a:off x="9226982" y="1909204"/>
            <a:ext cx="253317" cy="4387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262"/>
          <p:cNvSpPr/>
          <p:nvPr/>
        </p:nvSpPr>
        <p:spPr>
          <a:xfrm flipV="1">
            <a:off x="9226982" y="1858541"/>
            <a:ext cx="130974" cy="48937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11-mark263"/>
          <p:cNvSpPr/>
          <p:nvPr/>
        </p:nvSpPr>
        <p:spPr>
          <a:xfrm flipV="1">
            <a:off x="9226982" y="1841278"/>
            <a:ext cx="0" cy="5066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64"/>
          <p:cNvSpPr/>
          <p:nvPr/>
        </p:nvSpPr>
        <p:spPr>
          <a:xfrm flipH="1" flipV="1">
            <a:off x="9096007" y="1858541"/>
            <a:ext cx="130974" cy="48937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11-mark265"/>
          <p:cNvSpPr/>
          <p:nvPr/>
        </p:nvSpPr>
        <p:spPr>
          <a:xfrm flipH="1" flipV="1">
            <a:off x="8973664" y="1909204"/>
            <a:ext cx="253317" cy="4387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11-mark266"/>
          <p:cNvSpPr/>
          <p:nvPr/>
        </p:nvSpPr>
        <p:spPr>
          <a:xfrm flipH="1" flipV="1">
            <a:off x="8868585" y="1989515"/>
            <a:ext cx="358397" cy="35839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11-mark267"/>
          <p:cNvSpPr/>
          <p:nvPr/>
        </p:nvSpPr>
        <p:spPr>
          <a:xfrm>
            <a:off x="8513940" y="2010156"/>
            <a:ext cx="0" cy="694277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1-label269"/>
          <p:cNvSpPr txBox="1"/>
          <p:nvPr/>
        </p:nvSpPr>
        <p:spPr>
          <a:xfrm>
            <a:off x="8487588" y="1366425"/>
            <a:ext cx="14787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조개껍데기</a:t>
            </a:r>
            <a:endParaRPr lang="ko-KR" sz="2200" dirty="0"/>
          </a:p>
        </p:txBody>
      </p:sp>
      <p:sp>
        <p:nvSpPr>
          <p:cNvPr id="16" name="S11-label271"/>
          <p:cNvSpPr txBox="1"/>
          <p:nvPr/>
        </p:nvSpPr>
        <p:spPr>
          <a:xfrm>
            <a:off x="8898306" y="283003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</a:t>
            </a:r>
            <a:endParaRPr lang="ko-KR" sz="2200" dirty="0"/>
          </a:p>
        </p:txBody>
      </p:sp>
      <p:sp>
        <p:nvSpPr>
          <p:cNvPr id="17" name="S11-card272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1-cardtext273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무늬가 남았는지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점·다른 점을 찾아요</a:t>
            </a:r>
            <a:endParaRPr lang="ko-KR" sz="2800" dirty="0"/>
          </a:p>
        </p:txBody>
      </p:sp>
      <p:sp>
        <p:nvSpPr>
          <p:cNvPr id="19" name="S11-stepno274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0" name="S11-text275"/>
          <p:cNvSpPr txBox="1"/>
          <p:nvPr/>
        </p:nvSpPr>
        <p:spPr>
          <a:xfrm>
            <a:off x="1325880" y="175717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찰흙을 손바닥만 하게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납작하게 펴요.</a:t>
            </a:r>
            <a:endParaRPr lang="ko-KR" sz="2800" dirty="0"/>
          </a:p>
        </p:txBody>
      </p:sp>
      <p:sp>
        <p:nvSpPr>
          <p:cNvPr id="21" name="S11-stepno276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" name="S11-text277"/>
          <p:cNvSpPr txBox="1"/>
          <p:nvPr/>
        </p:nvSpPr>
        <p:spPr>
          <a:xfrm>
            <a:off x="1325880" y="2789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조개껍데기를 꾹 눌렀다가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떼어요.</a:t>
            </a:r>
            <a:endParaRPr lang="ko-KR" sz="2800" dirty="0"/>
          </a:p>
        </p:txBody>
      </p:sp>
      <p:sp>
        <p:nvSpPr>
          <p:cNvPr id="23" name="S11-stepno278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11-text279"/>
          <p:cNvSpPr txBox="1"/>
          <p:nvPr/>
        </p:nvSpPr>
        <p:spPr>
          <a:xfrm>
            <a:off x="1325880" y="3821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모습을 진짜 조개와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 활동지 4에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모형과 실제를 견주어요</a:t>
            </a:r>
            <a:endParaRPr lang="ko-KR" sz="4000" dirty="0"/>
          </a:p>
        </p:txBody>
      </p:sp>
      <p:sp>
        <p:nvSpPr>
          <p:cNvPr id="3" name="S12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무엇이 남았나요? 모형과 실제를 견주어요.</a:t>
            </a:r>
            <a:endParaRPr lang="ko-KR" sz="2800" dirty="0"/>
          </a:p>
        </p:txBody>
      </p:sp>
      <p:sp>
        <p:nvSpPr>
          <p:cNvPr id="4" name="S12-card2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2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모형과 실제가 다른 점도 말해 봐요.</a:t>
            </a:r>
            <a:endParaRPr lang="ko-KR" sz="2800" dirty="0"/>
          </a:p>
        </p:txBody>
      </p:sp>
      <p:graphicFrame>
        <p:nvGraphicFramePr>
          <p:cNvPr id="13" name="S12-table2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모형에서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조개껍데기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옛날에 살았던 생물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밑에 쌓인 진흙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찰흙에 남은 자국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걸린 시간: 몇 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오랜 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2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남은 조개 자국 같은 것도 화석이 될까요?</a:t>
            </a:r>
            <a:endParaRPr lang="ko-KR" sz="2800" dirty="0"/>
          </a:p>
        </p:txBody>
      </p:sp>
      <p:sp>
        <p:nvSpPr>
          <p:cNvPr id="5" name="S13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2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2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자국은 조개가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 아니에요.</a:t>
            </a:r>
            <a:endParaRPr lang="ko-KR" sz="2800" dirty="0"/>
          </a:p>
        </p:txBody>
      </p:sp>
      <p:sp>
        <p:nvSpPr>
          <p:cNvPr id="9" name="S13-chip2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2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남긴 흔적도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 만들어지는 과정</a:t>
            </a:r>
            <a:endParaRPr lang="ko-KR" sz="4000" dirty="0"/>
          </a:p>
        </p:txBody>
      </p:sp>
      <p:sp>
        <p:nvSpPr>
          <p:cNvPr id="3" name="S14-text2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화석: 옛날 생물의 몸이나 흔적이 암석에 남은 것</a:t>
            </a:r>
            <a:endParaRPr lang="ko-KR" sz="2800" dirty="0"/>
          </a:p>
        </p:txBody>
      </p:sp>
      <p:sp>
        <p:nvSpPr>
          <p:cNvPr id="4" name="S14-card2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화석은 퇴적암으로 된 지층에서 발견돼요.</a:t>
            </a:r>
            <a:endParaRPr lang="ko-KR" sz="2800" dirty="0"/>
          </a:p>
        </p:txBody>
      </p:sp>
      <p:sp>
        <p:nvSpPr>
          <p:cNvPr id="6" name="S14-step295"/>
          <p:cNvSpPr txBox="1"/>
          <p:nvPr/>
        </p:nvSpPr>
        <p:spPr>
          <a:xfrm>
            <a:off x="548640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죽어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밑에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가라앉아요</a:t>
            </a:r>
            <a:endParaRPr lang="ko-KR" sz="2200" dirty="0"/>
          </a:p>
        </p:txBody>
      </p:sp>
      <p:sp>
        <p:nvSpPr>
          <p:cNvPr id="7" name="S14-line296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297"/>
          <p:cNvSpPr txBox="1"/>
          <p:nvPr/>
        </p:nvSpPr>
        <p:spPr>
          <a:xfrm>
            <a:off x="3424428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진흙·모래에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덮여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묻혀요</a:t>
            </a:r>
            <a:endParaRPr lang="ko-KR" sz="2200" dirty="0"/>
          </a:p>
        </p:txBody>
      </p:sp>
      <p:sp>
        <p:nvSpPr>
          <p:cNvPr id="9" name="S14-line298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299"/>
          <p:cNvSpPr txBox="1"/>
          <p:nvPr/>
        </p:nvSpPr>
        <p:spPr>
          <a:xfrm>
            <a:off x="6300216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층이 쌓이고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시간이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흘러요</a:t>
            </a:r>
            <a:endParaRPr lang="ko-KR" sz="2200" dirty="0"/>
          </a:p>
        </p:txBody>
      </p:sp>
      <p:sp>
        <p:nvSpPr>
          <p:cNvPr id="11" name="S14-line300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4-step301"/>
          <p:cNvSpPr txBox="1"/>
          <p:nvPr/>
        </p:nvSpPr>
        <p:spPr>
          <a:xfrm>
            <a:off x="9176004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솟고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깎여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이곳은 어땠을까요?</a:t>
            </a:r>
            <a:endParaRPr lang="ko-KR" sz="4000" dirty="0"/>
          </a:p>
        </p:txBody>
      </p:sp>
      <p:sp>
        <p:nvSpPr>
          <p:cNvPr id="3" name="S15-text30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조개 화석 → 조개는 물속에 살아요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옛날 이곳은 물속이었어요.</a:t>
            </a:r>
            <a:endParaRPr lang="ko-KR" sz="2800" dirty="0"/>
          </a:p>
        </p:txBody>
      </p:sp>
      <p:sp>
        <p:nvSpPr>
          <p:cNvPr id="4" name="S15-card3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3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생물이 살던 곳을 떠올려요. 활동지 5에도 써요.</a:t>
            </a:r>
            <a:endParaRPr lang="ko-KR" sz="2800" dirty="0"/>
          </a:p>
        </p:txBody>
      </p:sp>
      <p:sp>
        <p:nvSpPr>
          <p:cNvPr id="6" name="S15-chip305"/>
          <p:cNvSpPr txBox="1"/>
          <p:nvPr/>
        </p:nvSpPr>
        <p:spPr>
          <a:xfrm>
            <a:off x="548640" y="248936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5-text306"/>
          <p:cNvSpPr txBox="1"/>
          <p:nvPr/>
        </p:nvSpPr>
        <p:spPr>
          <a:xfrm>
            <a:off x="1344168" y="2376424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 화석이 나온 곳</a:t>
            </a:r>
            <a:endParaRPr lang="ko-KR" sz="2800" dirty="0"/>
          </a:p>
        </p:txBody>
      </p:sp>
      <p:sp>
        <p:nvSpPr>
          <p:cNvPr id="8" name="S15-chip307"/>
          <p:cNvSpPr txBox="1"/>
          <p:nvPr/>
        </p:nvSpPr>
        <p:spPr>
          <a:xfrm>
            <a:off x="548640" y="34650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5-text308"/>
          <p:cNvSpPr txBox="1"/>
          <p:nvPr/>
        </p:nvSpPr>
        <p:spPr>
          <a:xfrm>
            <a:off x="1344168" y="3352123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고사리 화석이 나온 곳</a:t>
            </a:r>
            <a:endParaRPr lang="ko-KR" sz="2800" dirty="0"/>
          </a:p>
        </p:txBody>
      </p:sp>
      <p:sp>
        <p:nvSpPr>
          <p:cNvPr id="10" name="S15-chip309"/>
          <p:cNvSpPr txBox="1"/>
          <p:nvPr/>
        </p:nvSpPr>
        <p:spPr>
          <a:xfrm>
            <a:off x="548640" y="44407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5-text310"/>
          <p:cNvSpPr txBox="1"/>
          <p:nvPr/>
        </p:nvSpPr>
        <p:spPr>
          <a:xfrm>
            <a:off x="1344168" y="4327821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발자국 화석이 나온 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31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31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지층에서 먼저 쌓인 층은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아래층, 위층 중 어느 것?</a:t>
            </a:r>
            <a:endParaRPr lang="ko-KR" sz="2800" dirty="0"/>
          </a:p>
        </p:txBody>
      </p:sp>
      <p:sp>
        <p:nvSpPr>
          <p:cNvPr id="5" name="S16-chip31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31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모래가 쌓여 굳은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퇴적암의 이름은?</a:t>
            </a:r>
            <a:endParaRPr lang="ko-KR" sz="2800" dirty="0"/>
          </a:p>
        </p:txBody>
      </p:sp>
      <p:sp>
        <p:nvSpPr>
          <p:cNvPr id="7" name="S16-chip31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31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 사는 산호의 화석이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산에서 나왔어요.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이곳은 어땠을까요?</a:t>
            </a:r>
            <a:endParaRPr lang="ko-KR" sz="2800" dirty="0"/>
          </a:p>
        </p:txBody>
      </p:sp>
      <p:sp>
        <p:nvSpPr>
          <p:cNvPr id="9" name="S16-chip31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31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 자국도 화석일까요?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7-card3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3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까닭까지 말하면 잘한 거예요.</a:t>
            </a:r>
            <a:endParaRPr lang="ko-KR" sz="2800" dirty="0"/>
          </a:p>
        </p:txBody>
      </p:sp>
      <p:sp>
        <p:nvSpPr>
          <p:cNvPr id="5" name="S17-chip32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7-text32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아래층</a:t>
            </a:r>
            <a:endParaRPr lang="ko-KR" sz="2800" dirty="0"/>
          </a:p>
        </p:txBody>
      </p:sp>
      <p:sp>
        <p:nvSpPr>
          <p:cNvPr id="7" name="S17-text32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것이 위에</a:t>
            </a:r>
            <a:endParaRPr lang="ko-KR" sz="2200" dirty="0"/>
          </a:p>
        </p:txBody>
      </p:sp>
      <p:sp>
        <p:nvSpPr>
          <p:cNvPr id="8" name="S17-text32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사암</a:t>
            </a:r>
            <a:endParaRPr lang="ko-KR" sz="2800" dirty="0"/>
          </a:p>
        </p:txBody>
      </p:sp>
      <p:sp>
        <p:nvSpPr>
          <p:cNvPr id="9" name="S17-text32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10" name="S17-text32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바다</a:t>
            </a:r>
            <a:endParaRPr lang="ko-KR" sz="2800" dirty="0"/>
          </a:p>
        </p:txBody>
      </p:sp>
      <p:sp>
        <p:nvSpPr>
          <p:cNvPr id="11" name="S17-text32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산호는 바다에</a:t>
            </a:r>
            <a:endParaRPr lang="ko-KR" sz="2200" dirty="0"/>
          </a:p>
        </p:txBody>
      </p:sp>
      <p:sp>
        <p:nvSpPr>
          <p:cNvPr id="12" name="S17-text32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화석이다</a:t>
            </a:r>
            <a:endParaRPr lang="ko-KR" sz="2800" dirty="0"/>
          </a:p>
        </p:txBody>
      </p:sp>
      <p:sp>
        <p:nvSpPr>
          <p:cNvPr id="13" name="S17-text32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흔적도 화석</a:t>
            </a:r>
            <a:endParaRPr lang="ko-KR" sz="2200" dirty="0"/>
          </a:p>
        </p:txBody>
      </p:sp>
      <p:sp>
        <p:nvSpPr>
          <p:cNvPr id="14" name="S17-chip33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7-text33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위층</a:t>
            </a:r>
            <a:endParaRPr lang="ko-KR" sz="2800" dirty="0"/>
          </a:p>
        </p:txBody>
      </p:sp>
      <p:sp>
        <p:nvSpPr>
          <p:cNvPr id="16" name="S17-text33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순서로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판단(M1)</a:t>
            </a:r>
            <a:endParaRPr lang="ko-KR" sz="2200" dirty="0"/>
          </a:p>
        </p:txBody>
      </p:sp>
      <p:sp>
        <p:nvSpPr>
          <p:cNvPr id="17" name="S17-text33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아니다</a:t>
            </a:r>
            <a:endParaRPr lang="ko-KR" sz="2800" dirty="0"/>
          </a:p>
        </p:txBody>
      </p:sp>
      <p:sp>
        <p:nvSpPr>
          <p:cNvPr id="18" name="S17-text33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몸만 화석이라고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생각(M2)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이곳은 어떻게 변했을까요?</a:t>
            </a:r>
            <a:endParaRPr lang="ko-KR" sz="4000" dirty="0"/>
          </a:p>
        </p:txBody>
      </p:sp>
      <p:sp>
        <p:nvSpPr>
          <p:cNvPr id="3" name="S18-text335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지층의 아래층에서는 조개 화석이,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위층에서는 고사리 화석이 나왔어요.</a:t>
            </a:r>
            <a:endParaRPr lang="ko-KR" sz="2800" dirty="0"/>
          </a:p>
        </p:txBody>
      </p:sp>
      <p:sp>
        <p:nvSpPr>
          <p:cNvPr id="4" name="S18-card3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8-cardtext3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18-chip338"/>
          <p:cNvSpPr txBox="1"/>
          <p:nvPr/>
        </p:nvSpPr>
        <p:spPr>
          <a:xfrm>
            <a:off x="1991868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8-card339"/>
          <p:cNvSpPr/>
          <p:nvPr/>
        </p:nvSpPr>
        <p:spPr>
          <a:xfrm>
            <a:off x="548640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8-cardtext340"/>
          <p:cNvSpPr txBox="1"/>
          <p:nvPr/>
        </p:nvSpPr>
        <p:spPr>
          <a:xfrm>
            <a:off x="822960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땅이었다가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바다가 되었어요.</a:t>
            </a:r>
            <a:endParaRPr lang="ko-KR" sz="2800" dirty="0"/>
          </a:p>
        </p:txBody>
      </p:sp>
      <p:sp>
        <p:nvSpPr>
          <p:cNvPr id="9" name="S18-chip341"/>
          <p:cNvSpPr txBox="1"/>
          <p:nvPr/>
        </p:nvSpPr>
        <p:spPr>
          <a:xfrm>
            <a:off x="5811012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8-card342"/>
          <p:cNvSpPr/>
          <p:nvPr/>
        </p:nvSpPr>
        <p:spPr>
          <a:xfrm>
            <a:off x="4367784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343"/>
          <p:cNvSpPr txBox="1"/>
          <p:nvPr/>
        </p:nvSpPr>
        <p:spPr>
          <a:xfrm>
            <a:off x="4642104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바다였다가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땅이 되었어요.</a:t>
            </a:r>
            <a:endParaRPr lang="ko-KR" sz="2800" dirty="0"/>
          </a:p>
        </p:txBody>
      </p:sp>
      <p:sp>
        <p:nvSpPr>
          <p:cNvPr id="12" name="S18-chip344"/>
          <p:cNvSpPr txBox="1"/>
          <p:nvPr/>
        </p:nvSpPr>
        <p:spPr>
          <a:xfrm>
            <a:off x="9630156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8-card345"/>
          <p:cNvSpPr/>
          <p:nvPr/>
        </p:nvSpPr>
        <p:spPr>
          <a:xfrm>
            <a:off x="8186928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8-cardtext346"/>
          <p:cNvSpPr txBox="1"/>
          <p:nvPr/>
        </p:nvSpPr>
        <p:spPr>
          <a:xfrm>
            <a:off x="8461248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줄곧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바다였어요.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34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34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지층은 알갱이가 층층이 쌓여 굳은 것으로, 아래층이 먼저예요.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화석은 옛날 생물과 환경을 알려 주는 증거예요.</a:t>
            </a:r>
            <a:endParaRPr lang="ko-KR" sz="2800" dirty="0"/>
          </a:p>
        </p:txBody>
      </p:sp>
      <p:sp>
        <p:nvSpPr>
          <p:cNvPr id="5" name="S19-chip34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결과와 화석을 증거로 추리하기</a:t>
            </a:r>
            <a:endParaRPr lang="ko-KR" sz="2200" dirty="0"/>
          </a:p>
        </p:txBody>
      </p:sp>
      <p:sp>
        <p:nvSpPr>
          <p:cNvPr id="6" name="S19-chip35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위층이 먼저 쌓였다고 생각하기</a:t>
            </a:r>
            <a:endParaRPr lang="ko-KR" sz="2200" dirty="0"/>
          </a:p>
        </p:txBody>
      </p:sp>
      <p:sp>
        <p:nvSpPr>
          <p:cNvPr id="7" name="S19-text35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35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지층에서 먼저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층은?</a:t>
            </a:r>
            <a:endParaRPr lang="ko-KR" sz="2200" dirty="0"/>
          </a:p>
        </p:txBody>
      </p:sp>
      <p:sp>
        <p:nvSpPr>
          <p:cNvPr id="9" name="S19-text35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진흙이 굳어 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퇴적암은?</a:t>
            </a:r>
            <a:endParaRPr lang="ko-KR" sz="2200" dirty="0"/>
          </a:p>
        </p:txBody>
      </p:sp>
      <p:sp>
        <p:nvSpPr>
          <p:cNvPr id="10" name="S19-text35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조개 화석이 나온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옛날 모습은?</a:t>
            </a:r>
            <a:endParaRPr lang="ko-KR" sz="2200" dirty="0"/>
          </a:p>
        </p:txBody>
      </p:sp>
      <p:sp>
        <p:nvSpPr>
          <p:cNvPr id="11" name="S19-text3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빛의 반사와 굴절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흐르는 물이 하는 일</a:t>
            </a:r>
            <a:endParaRPr lang="ko-KR" sz="4000" dirty="0"/>
          </a:p>
        </p:txBody>
      </p:sp>
      <p:sp>
        <p:nvSpPr>
          <p:cNvPr id="3" name="S20-text3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물은 땅을 바꿔요.</a:t>
            </a:r>
            <a:endParaRPr lang="ko-KR" sz="2800" dirty="0"/>
          </a:p>
        </p:txBody>
      </p:sp>
      <p:sp>
        <p:nvSpPr>
          <p:cNvPr id="4" name="S20-card3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3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 크기: 자갈 &gt; 모래 &gt; 진흙</a:t>
            </a:r>
            <a:endParaRPr lang="ko-KR" sz="2800" dirty="0"/>
          </a:p>
        </p:txBody>
      </p:sp>
      <p:sp>
        <p:nvSpPr>
          <p:cNvPr id="6" name="S20-card35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36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흙과 돌을 깎아요.</a:t>
            </a:r>
            <a:endParaRPr lang="ko-KR" sz="2800" dirty="0"/>
          </a:p>
        </p:txBody>
      </p:sp>
      <p:sp>
        <p:nvSpPr>
          <p:cNvPr id="8" name="S20-card36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36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깎인 알갱이를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실어 날라요.</a:t>
            </a:r>
            <a:endParaRPr lang="ko-KR" sz="2800" dirty="0"/>
          </a:p>
        </p:txBody>
      </p:sp>
      <p:sp>
        <p:nvSpPr>
          <p:cNvPr id="10" name="S20-card36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36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느려지는 곳에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알갱이가 쌓여요.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지층과 화석</dc:title>
  <dc:subject>KR22-G05-SCI-STRATA-L01</dc:subject>
  <dc:creator>education-ppt</dc:creator>
  <cp:lastModifiedBy>education-ppt</cp:lastModifiedBy>
  <cp:revision>1</cp:revision>
  <dcterms:created xsi:type="dcterms:W3CDTF">2026-10-26T13:26:30Z</dcterms:created>
  <dcterms:modified xsi:type="dcterms:W3CDTF">2026-10-26T13:26:30Z</dcterms:modified>
</cp:coreProperties>
</file>