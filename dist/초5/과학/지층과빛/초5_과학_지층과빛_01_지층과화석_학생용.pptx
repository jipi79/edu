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4cf570-be64-c2af-0468-a539f6a1e8f2}">
          <p14:sldIdLst>
            <p14:sldId id="256"/>
            <p14:sldId id="257"/>
          </p14:sldIdLst>
        </p14:section>
        <p14:section name="연습" id="{008df921-671e-b465-aa60-cf3bf1d3aa14}">
          <p14:sldIdLst>
            <p14:sldId id="258"/>
            <p14:sldId id="259"/>
            <p14:sldId id="260"/>
            <p14:sldId id="262"/>
            <p14:sldId id="264"/>
            <p14:sldId id="265"/>
            <p14:sldId id="266"/>
            <p14:sldId id="267"/>
            <p14:sldId id="268"/>
            <p14:sldId id="270"/>
          </p14:sldIdLst>
        </p14:section>
        <p14:section name="개념" id="{e142fec1-2db9-05ad-8763-51db8b425546}">
          <p14:sldIdLst>
            <p14:sldId id="261"/>
            <p14:sldId id="263"/>
            <p14:sldId id="269"/>
          </p14:sldIdLst>
        </p14:section>
        <p14:section name="연습" id="{3eec4b9b-50c3-5ba4-e052-3dd81391d198}">
          <p14:sldIdLst/>
        </p14:section>
        <p14:section name="개념" id="{9789d7f2-1d7e-3a79-40a5-d99f8a3013fc}">
          <p14:sldIdLst/>
        </p14:section>
        <p14:section name="연습" id="{6c29084e-635e-015b-8fc7-0cb8279197a8}">
          <p14:sldIdLst/>
        </p14:section>
        <p14:section name="개념" id="{a5db2ff2-765b-ba45-e69e-63f475970cb7}">
          <p14:sldIdLst/>
        </p14:section>
        <p14:section name="연습" id="{62f719f9-7ca5-83ff-4407-6017740d74b3}">
          <p14:sldIdLst/>
        </p14:section>
        <p14:section name="확인" id="{88b71fb6-2e71-41af-651f-8f3d2dfddd34}">
          <p14:sldIdLst>
            <p14:sldId id="271"/>
            <p14:sldId id="272"/>
          </p14:sldIdLst>
        </p14:section>
        <p14:section name="정리" id="{d6973fc8-d0be-dfc6-f470-38b9b7198eae}">
          <p14:sldIdLst>
            <p14:sldId id="273"/>
          </p14:sldIdLst>
        </p14:section>
        <p14:section name="보충" id="{d2af6385-4908-1881-ca87-ba6b0f86288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지층과빛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 화석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 화석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지층과 화석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지층과 화석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땅속 줄무늬와 화석은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알려 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색과 두께가 다른 층이 줄무늬처럼 겹겹이 쌓인 땅의 단면"/>
          <p:cNvSpPr/>
          <p:nvPr/>
        </p:nvSpPr>
        <p:spPr>
          <a:xfrm>
            <a:off x="7764780" y="2840292"/>
            <a:ext cx="3764280" cy="564642"/>
          </a:xfrm>
          <a:custGeom>
            <a:avLst/>
            <a:gdLst/>
            <a:ahLst/>
            <a:cxnLst/>
            <a:rect l="l" t="t" r="r" b="b"/>
            <a:pathLst>
              <a:path w="3764280" h="564642">
                <a:moveTo>
                  <a:pt x="0" y="564642"/>
                </a:moveTo>
                <a:lnTo>
                  <a:pt x="3764280" y="564642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8A8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764780" y="2463863"/>
            <a:ext cx="3764280" cy="376428"/>
          </a:xfrm>
          <a:custGeom>
            <a:avLst/>
            <a:gdLst/>
            <a:ahLst/>
            <a:cxnLst/>
            <a:rect l="l" t="t" r="r" b="b"/>
            <a:pathLst>
              <a:path w="3764280" h="376428">
                <a:moveTo>
                  <a:pt x="0" y="376428"/>
                </a:moveTo>
                <a:lnTo>
                  <a:pt x="3764280" y="376428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764780" y="1836483"/>
            <a:ext cx="3764280" cy="627380"/>
          </a:xfrm>
          <a:custGeom>
            <a:avLst/>
            <a:gdLst/>
            <a:ahLst/>
            <a:cxnLst/>
            <a:rect l="l" t="t" r="r" b="b"/>
            <a:pathLst>
              <a:path w="3764280" h="627380">
                <a:moveTo>
                  <a:pt x="0" y="627380"/>
                </a:moveTo>
                <a:lnTo>
                  <a:pt x="3764280" y="627380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A47E5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64780" y="1397317"/>
            <a:ext cx="3764280" cy="439166"/>
          </a:xfrm>
          <a:custGeom>
            <a:avLst/>
            <a:gdLst/>
            <a:ahLst/>
            <a:cxnLst/>
            <a:rect l="l" t="t" r="r" b="b"/>
            <a:pathLst>
              <a:path w="3764280" h="439166">
                <a:moveTo>
                  <a:pt x="0" y="439166"/>
                </a:moveTo>
                <a:lnTo>
                  <a:pt x="3764280" y="439166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CB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7764780" y="958152"/>
            <a:ext cx="3764280" cy="439166"/>
          </a:xfrm>
          <a:custGeom>
            <a:avLst/>
            <a:gdLst/>
            <a:ahLst/>
            <a:cxnLst/>
            <a:rect l="l" t="t" r="r" b="b"/>
            <a:pathLst>
              <a:path w="3764280" h="439166">
                <a:moveTo>
                  <a:pt x="0" y="439166"/>
                </a:moveTo>
                <a:lnTo>
                  <a:pt x="3764280" y="439166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2A87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7764780" y="801307"/>
            <a:ext cx="3764280" cy="156845"/>
          </a:xfrm>
          <a:custGeom>
            <a:avLst/>
            <a:gdLst/>
            <a:ahLst/>
            <a:cxnLst/>
            <a:rect l="l" t="t" r="r" b="b"/>
            <a:pathLst>
              <a:path w="3764280" h="156845">
                <a:moveTo>
                  <a:pt x="0" y="156845"/>
                </a:moveTo>
                <a:lnTo>
                  <a:pt x="3764280" y="156845"/>
                </a:lnTo>
                <a:lnTo>
                  <a:pt x="3764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7FB069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지층이 만들어지는 과정을 모형으로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화석을 증거로 옛날 환경을 추리해요.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 기억하기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땅에서 하는 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가지는 무엇인가요?</a:t>
            </a:r>
            <a:endParaRPr lang="ko-KR" sz="28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자갈·모래·진흙 가운데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알갱이가 가장 작은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알갱이를 물이 든 컵에 넣으면?</a:t>
            </a:r>
            <a:endParaRPr lang="ko-KR" sz="28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바닥에 닿는 알갱이는?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맨 위에 쌓이는 알갱이는?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숟가락 더 넣으면 어디에?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물속에서 쌓아 봐요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플라스틱 컵을 쓰고, 흙을 만진 뒤 손을 씻어요.</a:t>
            </a:r>
            <a:endParaRPr lang="ko-KR" sz="2800" dirty="0"/>
          </a:p>
        </p:txBody>
      </p:sp>
      <p:sp>
        <p:nvSpPr>
          <p:cNvPr id="5" name="S04-figure20" descr="물을 3분의 2쯤 담은 투명한 컵 위에서 섞은 알갱이(자갈·모래·흙) 한 숟가락을 넣는 그림"/>
          <p:cNvSpPr/>
          <p:nvPr/>
        </p:nvSpPr>
        <p:spPr>
          <a:xfrm>
            <a:off x="9424113" y="2463330"/>
            <a:ext cx="1169190" cy="747738"/>
          </a:xfrm>
          <a:custGeom>
            <a:avLst/>
            <a:gdLst/>
            <a:ahLst/>
            <a:cxnLst/>
            <a:rect l="l" t="t" r="r" b="b"/>
            <a:pathLst>
              <a:path w="1169190" h="747738">
                <a:moveTo>
                  <a:pt x="74774" y="747738"/>
                </a:moveTo>
                <a:lnTo>
                  <a:pt x="1094416" y="747738"/>
                </a:lnTo>
                <a:lnTo>
                  <a:pt x="116919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4-mark21"/>
          <p:cNvSpPr/>
          <p:nvPr/>
        </p:nvSpPr>
        <p:spPr>
          <a:xfrm>
            <a:off x="9396922" y="2191426"/>
            <a:ext cx="1223571" cy="1019642"/>
          </a:xfrm>
          <a:custGeom>
            <a:avLst/>
            <a:gdLst/>
            <a:ahLst/>
            <a:cxnLst/>
            <a:rect l="l" t="t" r="r" b="b"/>
            <a:pathLst>
              <a:path w="1223571" h="1019642">
                <a:moveTo>
                  <a:pt x="0" y="0"/>
                </a:moveTo>
                <a:lnTo>
                  <a:pt x="101964" y="1019642"/>
                </a:lnTo>
                <a:lnTo>
                  <a:pt x="1121606" y="1019642"/>
                </a:lnTo>
                <a:lnTo>
                  <a:pt x="1223571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22"/>
          <p:cNvSpPr/>
          <p:nvPr/>
        </p:nvSpPr>
        <p:spPr>
          <a:xfrm>
            <a:off x="9804779" y="1460682"/>
            <a:ext cx="407857" cy="203928"/>
          </a:xfrm>
          <a:custGeom>
            <a:avLst/>
            <a:gdLst/>
            <a:ahLst/>
            <a:cxnLst/>
            <a:rect l="l" t="t" r="r" b="b"/>
            <a:pathLst>
              <a:path w="407857" h="203928">
                <a:moveTo>
                  <a:pt x="407857" y="101964"/>
                </a:moveTo>
                <a:lnTo>
                  <a:pt x="407081" y="93077"/>
                </a:lnTo>
                <a:lnTo>
                  <a:pt x="404759" y="84258"/>
                </a:lnTo>
                <a:lnTo>
                  <a:pt x="400908" y="75574"/>
                </a:lnTo>
                <a:lnTo>
                  <a:pt x="395559" y="67090"/>
                </a:lnTo>
                <a:lnTo>
                  <a:pt x="388750" y="58872"/>
                </a:lnTo>
                <a:lnTo>
                  <a:pt x="380536" y="50982"/>
                </a:lnTo>
                <a:lnTo>
                  <a:pt x="370977" y="43480"/>
                </a:lnTo>
                <a:lnTo>
                  <a:pt x="360147" y="36423"/>
                </a:lnTo>
                <a:lnTo>
                  <a:pt x="348128" y="29865"/>
                </a:lnTo>
                <a:lnTo>
                  <a:pt x="335011" y="23855"/>
                </a:lnTo>
                <a:lnTo>
                  <a:pt x="320897" y="18440"/>
                </a:lnTo>
                <a:lnTo>
                  <a:pt x="305893" y="13661"/>
                </a:lnTo>
                <a:lnTo>
                  <a:pt x="290112" y="9553"/>
                </a:lnTo>
                <a:lnTo>
                  <a:pt x="273676" y="6149"/>
                </a:lnTo>
                <a:lnTo>
                  <a:pt x="256709" y="3474"/>
                </a:lnTo>
                <a:lnTo>
                  <a:pt x="239340" y="1549"/>
                </a:lnTo>
                <a:lnTo>
                  <a:pt x="221702" y="388"/>
                </a:lnTo>
                <a:lnTo>
                  <a:pt x="203928" y="0"/>
                </a:lnTo>
                <a:lnTo>
                  <a:pt x="186155" y="388"/>
                </a:lnTo>
                <a:lnTo>
                  <a:pt x="168517" y="1549"/>
                </a:lnTo>
                <a:lnTo>
                  <a:pt x="151148" y="3474"/>
                </a:lnTo>
                <a:lnTo>
                  <a:pt x="134181" y="6149"/>
                </a:lnTo>
                <a:lnTo>
                  <a:pt x="117745" y="9553"/>
                </a:lnTo>
                <a:lnTo>
                  <a:pt x="101964" y="13661"/>
                </a:lnTo>
                <a:lnTo>
                  <a:pt x="86960" y="18440"/>
                </a:lnTo>
                <a:lnTo>
                  <a:pt x="72846" y="23855"/>
                </a:lnTo>
                <a:lnTo>
                  <a:pt x="59729" y="29865"/>
                </a:lnTo>
                <a:lnTo>
                  <a:pt x="47710" y="36423"/>
                </a:lnTo>
                <a:lnTo>
                  <a:pt x="36880" y="43480"/>
                </a:lnTo>
                <a:lnTo>
                  <a:pt x="27321" y="50982"/>
                </a:lnTo>
                <a:lnTo>
                  <a:pt x="19107" y="58872"/>
                </a:lnTo>
                <a:lnTo>
                  <a:pt x="12298" y="67090"/>
                </a:lnTo>
                <a:lnTo>
                  <a:pt x="6949" y="75574"/>
                </a:lnTo>
                <a:lnTo>
                  <a:pt x="3098" y="84258"/>
                </a:lnTo>
                <a:lnTo>
                  <a:pt x="776" y="93077"/>
                </a:lnTo>
                <a:lnTo>
                  <a:pt x="0" y="101964"/>
                </a:lnTo>
                <a:lnTo>
                  <a:pt x="776" y="110851"/>
                </a:lnTo>
                <a:lnTo>
                  <a:pt x="3098" y="119670"/>
                </a:lnTo>
                <a:lnTo>
                  <a:pt x="6949" y="128355"/>
                </a:lnTo>
                <a:lnTo>
                  <a:pt x="12298" y="136838"/>
                </a:lnTo>
                <a:lnTo>
                  <a:pt x="19107" y="145056"/>
                </a:lnTo>
                <a:lnTo>
                  <a:pt x="27321" y="152946"/>
                </a:lnTo>
                <a:lnTo>
                  <a:pt x="36880" y="160449"/>
                </a:lnTo>
                <a:lnTo>
                  <a:pt x="47710" y="167506"/>
                </a:lnTo>
                <a:lnTo>
                  <a:pt x="59729" y="174064"/>
                </a:lnTo>
                <a:lnTo>
                  <a:pt x="72846" y="180073"/>
                </a:lnTo>
                <a:lnTo>
                  <a:pt x="86960" y="185488"/>
                </a:lnTo>
                <a:lnTo>
                  <a:pt x="101964" y="190268"/>
                </a:lnTo>
                <a:lnTo>
                  <a:pt x="117745" y="194375"/>
                </a:lnTo>
                <a:lnTo>
                  <a:pt x="134181" y="197779"/>
                </a:lnTo>
                <a:lnTo>
                  <a:pt x="151148" y="200454"/>
                </a:lnTo>
                <a:lnTo>
                  <a:pt x="168517" y="202379"/>
                </a:lnTo>
                <a:lnTo>
                  <a:pt x="186155" y="203540"/>
                </a:lnTo>
                <a:lnTo>
                  <a:pt x="203928" y="203928"/>
                </a:lnTo>
                <a:lnTo>
                  <a:pt x="221702" y="203540"/>
                </a:lnTo>
                <a:lnTo>
                  <a:pt x="239340" y="202379"/>
                </a:lnTo>
                <a:lnTo>
                  <a:pt x="256709" y="200454"/>
                </a:lnTo>
                <a:lnTo>
                  <a:pt x="273676" y="197779"/>
                </a:lnTo>
                <a:lnTo>
                  <a:pt x="290112" y="194375"/>
                </a:lnTo>
                <a:lnTo>
                  <a:pt x="305893" y="190268"/>
                </a:lnTo>
                <a:lnTo>
                  <a:pt x="320897" y="185488"/>
                </a:lnTo>
                <a:lnTo>
                  <a:pt x="335011" y="180073"/>
                </a:lnTo>
                <a:lnTo>
                  <a:pt x="348128" y="174064"/>
                </a:lnTo>
                <a:lnTo>
                  <a:pt x="360147" y="167506"/>
                </a:lnTo>
                <a:lnTo>
                  <a:pt x="370977" y="160449"/>
                </a:lnTo>
                <a:lnTo>
                  <a:pt x="380536" y="152946"/>
                </a:lnTo>
                <a:lnTo>
                  <a:pt x="388750" y="145056"/>
                </a:lnTo>
                <a:lnTo>
                  <a:pt x="395559" y="136838"/>
                </a:lnTo>
                <a:lnTo>
                  <a:pt x="400908" y="128355"/>
                </a:lnTo>
                <a:lnTo>
                  <a:pt x="404759" y="119670"/>
                </a:lnTo>
                <a:lnTo>
                  <a:pt x="407081" y="110851"/>
                </a:lnTo>
                <a:close/>
              </a:path>
            </a:pathLst>
          </a:custGeom>
          <a:solidFill>
            <a:srgbClr val="D6D3D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23"/>
          <p:cNvSpPr/>
          <p:nvPr/>
        </p:nvSpPr>
        <p:spPr>
          <a:xfrm flipV="1">
            <a:off x="10212636" y="1409700"/>
            <a:ext cx="509821" cy="118958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9" name="S04-mark24"/>
          <p:cNvSpPr/>
          <p:nvPr/>
        </p:nvSpPr>
        <p:spPr>
          <a:xfrm>
            <a:off x="10008708" y="1732587"/>
            <a:ext cx="0" cy="594791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label26"/>
          <p:cNvSpPr txBox="1"/>
          <p:nvPr/>
        </p:nvSpPr>
        <p:spPr>
          <a:xfrm>
            <a:off x="9816938" y="266257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200" dirty="0"/>
          </a:p>
        </p:txBody>
      </p:sp>
      <p:sp>
        <p:nvSpPr>
          <p:cNvPr id="11" name="S04-label28"/>
          <p:cNvSpPr txBox="1"/>
          <p:nvPr/>
        </p:nvSpPr>
        <p:spPr>
          <a:xfrm>
            <a:off x="7901869" y="1366343"/>
            <a:ext cx="156260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알갱이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숟가락</a:t>
            </a:r>
            <a:endParaRPr lang="ko-KR" sz="2200" dirty="0"/>
          </a:p>
        </p:txBody>
      </p:sp>
      <p:sp>
        <p:nvSpPr>
          <p:cNvPr id="12" name="S04-card29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30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무엇이 먼저 닿는지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컵을 흔들지 않아요</a:t>
            </a:r>
            <a:endParaRPr lang="ko-KR" sz="2800" dirty="0"/>
          </a:p>
        </p:txBody>
      </p:sp>
      <p:sp>
        <p:nvSpPr>
          <p:cNvPr id="14" name="S04-stepno31"/>
          <p:cNvSpPr txBox="1"/>
          <p:nvPr/>
        </p:nvSpPr>
        <p:spPr>
          <a:xfrm>
            <a:off x="548640" y="1745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4-text32"/>
          <p:cNvSpPr txBox="1"/>
          <p:nvPr/>
        </p:nvSpPr>
        <p:spPr>
          <a:xfrm>
            <a:off x="1325880" y="17459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투명한 컵에 물을 3분의 2쯤 담아요.</a:t>
            </a:r>
            <a:endParaRPr lang="ko-KR" sz="2200" dirty="0"/>
          </a:p>
        </p:txBody>
      </p:sp>
      <p:sp>
        <p:nvSpPr>
          <p:cNvPr id="16" name="S04-stepno33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4-text34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섞은 알갱이 한 숟가락을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위에서 살짝 쏟아요.</a:t>
            </a:r>
            <a:endParaRPr lang="ko-KR" sz="2200" dirty="0"/>
          </a:p>
        </p:txBody>
      </p:sp>
      <p:sp>
        <p:nvSpPr>
          <p:cNvPr id="18" name="S04-stepno35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4-text36"/>
          <p:cNvSpPr txBox="1"/>
          <p:nvPr/>
        </p:nvSpPr>
        <p:spPr>
          <a:xfrm>
            <a:off x="1325880" y="330555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뒤 한 숟가락을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쏟아요.</a:t>
            </a:r>
            <a:endParaRPr lang="ko-KR" sz="2200" dirty="0"/>
          </a:p>
        </p:txBody>
      </p:sp>
      <p:sp>
        <p:nvSpPr>
          <p:cNvPr id="20" name="S04-stepno37"/>
          <p:cNvSpPr txBox="1"/>
          <p:nvPr/>
        </p:nvSpPr>
        <p:spPr>
          <a:xfrm>
            <a:off x="548640" y="41518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04-text38"/>
          <p:cNvSpPr txBox="1"/>
          <p:nvPr/>
        </p:nvSpPr>
        <p:spPr>
          <a:xfrm>
            <a:off x="1325880" y="41518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보고 활동지 1·2에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2800" dirty="0"/>
          </a:p>
        </p:txBody>
      </p:sp>
      <p:graphicFrame>
        <p:nvGraphicFramePr>
          <p:cNvPr id="6" name="S05-table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바닥에 닿은 알갱이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맨 위에 쌓인 알갱이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번째 한 숟가락이 쌓인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물의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지층은 이렇게 쌓여요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자갈·모래·진흙이 층층이 쌓인 것을 지층이라고 해요.</a:t>
            </a:r>
            <a:endParaRPr lang="ko-KR" sz="2800" dirty="0"/>
          </a:p>
        </p:txBody>
      </p:sp>
      <p:sp>
        <p:nvSpPr>
          <p:cNvPr id="4" name="S06-figure44" descr="지층 단면: 아래부터 자갈층, 모래층, 진흙층, 모래층. 왼쪽 화살표가 아래(먼저)에서 위(나중)로 향함"/>
          <p:cNvSpPr/>
          <p:nvPr/>
        </p:nvSpPr>
        <p:spPr>
          <a:xfrm>
            <a:off x="1848153" y="4570685"/>
            <a:ext cx="3039233" cy="729416"/>
          </a:xfrm>
          <a:custGeom>
            <a:avLst/>
            <a:gdLst/>
            <a:ahLst/>
            <a:cxnLst/>
            <a:rect l="l" t="t" r="r" b="b"/>
            <a:pathLst>
              <a:path w="3039233" h="729416">
                <a:moveTo>
                  <a:pt x="0" y="729416"/>
                </a:moveTo>
                <a:lnTo>
                  <a:pt x="3039233" y="729416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CFCAC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mark45"/>
          <p:cNvSpPr/>
          <p:nvPr/>
        </p:nvSpPr>
        <p:spPr>
          <a:xfrm>
            <a:off x="1848153" y="3962838"/>
            <a:ext cx="3039233" cy="607847"/>
          </a:xfrm>
          <a:custGeom>
            <a:avLst/>
            <a:gdLst/>
            <a:ahLst/>
            <a:cxnLst/>
            <a:rect l="l" t="t" r="r" b="b"/>
            <a:pathLst>
              <a:path w="3039233" h="607847">
                <a:moveTo>
                  <a:pt x="0" y="607847"/>
                </a:moveTo>
                <a:lnTo>
                  <a:pt x="3039233" y="607847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DFA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46"/>
          <p:cNvSpPr/>
          <p:nvPr/>
        </p:nvSpPr>
        <p:spPr>
          <a:xfrm>
            <a:off x="1848153" y="3476561"/>
            <a:ext cx="3039233" cy="486277"/>
          </a:xfrm>
          <a:custGeom>
            <a:avLst/>
            <a:gdLst/>
            <a:ahLst/>
            <a:cxnLst/>
            <a:rect l="l" t="t" r="r" b="b"/>
            <a:pathLst>
              <a:path w="3039233" h="486277">
                <a:moveTo>
                  <a:pt x="0" y="486277"/>
                </a:moveTo>
                <a:lnTo>
                  <a:pt x="3039233" y="486277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B0896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47"/>
          <p:cNvSpPr/>
          <p:nvPr/>
        </p:nvSpPr>
        <p:spPr>
          <a:xfrm>
            <a:off x="1848153" y="2929499"/>
            <a:ext cx="3039233" cy="547062"/>
          </a:xfrm>
          <a:custGeom>
            <a:avLst/>
            <a:gdLst/>
            <a:ahLst/>
            <a:cxnLst/>
            <a:rect l="l" t="t" r="r" b="b"/>
            <a:pathLst>
              <a:path w="3039233" h="547062">
                <a:moveTo>
                  <a:pt x="0" y="547062"/>
                </a:moveTo>
                <a:lnTo>
                  <a:pt x="3039233" y="547062"/>
                </a:lnTo>
                <a:lnTo>
                  <a:pt x="3039233" y="0"/>
                </a:lnTo>
                <a:lnTo>
                  <a:pt x="0" y="0"/>
                </a:lnTo>
                <a:close/>
              </a:path>
            </a:pathLst>
          </a:custGeom>
          <a:solidFill>
            <a:srgbClr val="F1DFA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48"/>
          <p:cNvSpPr/>
          <p:nvPr/>
        </p:nvSpPr>
        <p:spPr>
          <a:xfrm>
            <a:off x="1969722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mark49"/>
          <p:cNvSpPr/>
          <p:nvPr/>
        </p:nvSpPr>
        <p:spPr>
          <a:xfrm>
            <a:off x="2091292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mark50"/>
          <p:cNvSpPr/>
          <p:nvPr/>
        </p:nvSpPr>
        <p:spPr>
          <a:xfrm>
            <a:off x="2456000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mark51"/>
          <p:cNvSpPr/>
          <p:nvPr/>
        </p:nvSpPr>
        <p:spPr>
          <a:xfrm>
            <a:off x="2577569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mark52"/>
          <p:cNvSpPr/>
          <p:nvPr/>
        </p:nvSpPr>
        <p:spPr>
          <a:xfrm>
            <a:off x="2942277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53"/>
          <p:cNvSpPr/>
          <p:nvPr/>
        </p:nvSpPr>
        <p:spPr>
          <a:xfrm>
            <a:off x="3063846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mark54"/>
          <p:cNvSpPr/>
          <p:nvPr/>
        </p:nvSpPr>
        <p:spPr>
          <a:xfrm>
            <a:off x="3428554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55"/>
          <p:cNvSpPr/>
          <p:nvPr/>
        </p:nvSpPr>
        <p:spPr>
          <a:xfrm>
            <a:off x="3550123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56"/>
          <p:cNvSpPr/>
          <p:nvPr/>
        </p:nvSpPr>
        <p:spPr>
          <a:xfrm>
            <a:off x="3914831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57"/>
          <p:cNvSpPr/>
          <p:nvPr/>
        </p:nvSpPr>
        <p:spPr>
          <a:xfrm>
            <a:off x="4036401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58"/>
          <p:cNvSpPr/>
          <p:nvPr/>
        </p:nvSpPr>
        <p:spPr>
          <a:xfrm>
            <a:off x="4401109" y="4947550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mark59"/>
          <p:cNvSpPr/>
          <p:nvPr/>
        </p:nvSpPr>
        <p:spPr>
          <a:xfrm>
            <a:off x="4522678" y="4619313"/>
            <a:ext cx="303923" cy="303923"/>
          </a:xfrm>
          <a:prstGeom prst="ellipse">
            <a:avLst/>
          </a:prstGeom>
          <a:solidFill>
            <a:srgbClr val="A8A29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mark60"/>
          <p:cNvSpPr/>
          <p:nvPr/>
        </p:nvSpPr>
        <p:spPr>
          <a:xfrm>
            <a:off x="1969722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1" name="S06-mark61"/>
          <p:cNvSpPr/>
          <p:nvPr/>
        </p:nvSpPr>
        <p:spPr>
          <a:xfrm>
            <a:off x="2188547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2" name="S06-mark62"/>
          <p:cNvSpPr/>
          <p:nvPr/>
        </p:nvSpPr>
        <p:spPr>
          <a:xfrm>
            <a:off x="2407372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3" name="S06-mark63"/>
          <p:cNvSpPr/>
          <p:nvPr/>
        </p:nvSpPr>
        <p:spPr>
          <a:xfrm>
            <a:off x="2626197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4" name="S06-mark64"/>
          <p:cNvSpPr/>
          <p:nvPr/>
        </p:nvSpPr>
        <p:spPr>
          <a:xfrm>
            <a:off x="2845021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5" name="S06-mark65"/>
          <p:cNvSpPr/>
          <p:nvPr/>
        </p:nvSpPr>
        <p:spPr>
          <a:xfrm>
            <a:off x="3063846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6" name="S06-mark66"/>
          <p:cNvSpPr/>
          <p:nvPr/>
        </p:nvSpPr>
        <p:spPr>
          <a:xfrm>
            <a:off x="3282671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7" name="S06-mark67"/>
          <p:cNvSpPr/>
          <p:nvPr/>
        </p:nvSpPr>
        <p:spPr>
          <a:xfrm>
            <a:off x="3501496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8" name="S06-mark68"/>
          <p:cNvSpPr/>
          <p:nvPr/>
        </p:nvSpPr>
        <p:spPr>
          <a:xfrm>
            <a:off x="3720320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9" name="S06-mark69"/>
          <p:cNvSpPr/>
          <p:nvPr/>
        </p:nvSpPr>
        <p:spPr>
          <a:xfrm>
            <a:off x="3939145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0" name="S06-mark70"/>
          <p:cNvSpPr/>
          <p:nvPr/>
        </p:nvSpPr>
        <p:spPr>
          <a:xfrm>
            <a:off x="4157970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1" name="S06-mark71"/>
          <p:cNvSpPr/>
          <p:nvPr/>
        </p:nvSpPr>
        <p:spPr>
          <a:xfrm>
            <a:off x="4376795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2" name="S06-mark72"/>
          <p:cNvSpPr/>
          <p:nvPr/>
        </p:nvSpPr>
        <p:spPr>
          <a:xfrm>
            <a:off x="4595619" y="4418723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3" name="S06-mark73"/>
          <p:cNvSpPr/>
          <p:nvPr/>
        </p:nvSpPr>
        <p:spPr>
          <a:xfrm>
            <a:off x="2079135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4" name="S06-mark74"/>
          <p:cNvSpPr/>
          <p:nvPr/>
        </p:nvSpPr>
        <p:spPr>
          <a:xfrm>
            <a:off x="2297960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5" name="S06-mark75"/>
          <p:cNvSpPr/>
          <p:nvPr/>
        </p:nvSpPr>
        <p:spPr>
          <a:xfrm>
            <a:off x="2516784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6" name="S06-mark76"/>
          <p:cNvSpPr/>
          <p:nvPr/>
        </p:nvSpPr>
        <p:spPr>
          <a:xfrm>
            <a:off x="2735609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7" name="S06-mark77"/>
          <p:cNvSpPr/>
          <p:nvPr/>
        </p:nvSpPr>
        <p:spPr>
          <a:xfrm>
            <a:off x="2954434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8" name="S06-mark78"/>
          <p:cNvSpPr/>
          <p:nvPr/>
        </p:nvSpPr>
        <p:spPr>
          <a:xfrm>
            <a:off x="3173259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39" name="S06-mark79"/>
          <p:cNvSpPr/>
          <p:nvPr/>
        </p:nvSpPr>
        <p:spPr>
          <a:xfrm>
            <a:off x="3392083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0" name="S06-mark80"/>
          <p:cNvSpPr/>
          <p:nvPr/>
        </p:nvSpPr>
        <p:spPr>
          <a:xfrm>
            <a:off x="3610908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1" name="S06-mark81"/>
          <p:cNvSpPr/>
          <p:nvPr/>
        </p:nvSpPr>
        <p:spPr>
          <a:xfrm>
            <a:off x="3829733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2" name="S06-mark82"/>
          <p:cNvSpPr/>
          <p:nvPr/>
        </p:nvSpPr>
        <p:spPr>
          <a:xfrm>
            <a:off x="4048558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3" name="S06-mark83"/>
          <p:cNvSpPr/>
          <p:nvPr/>
        </p:nvSpPr>
        <p:spPr>
          <a:xfrm>
            <a:off x="4267382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4" name="S06-mark84"/>
          <p:cNvSpPr/>
          <p:nvPr/>
        </p:nvSpPr>
        <p:spPr>
          <a:xfrm>
            <a:off x="4486207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5" name="S06-mark85"/>
          <p:cNvSpPr/>
          <p:nvPr/>
        </p:nvSpPr>
        <p:spPr>
          <a:xfrm>
            <a:off x="4705032" y="423636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6" name="S06-mark86"/>
          <p:cNvSpPr/>
          <p:nvPr/>
        </p:nvSpPr>
        <p:spPr>
          <a:xfrm>
            <a:off x="1969722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7" name="S06-mark87"/>
          <p:cNvSpPr/>
          <p:nvPr/>
        </p:nvSpPr>
        <p:spPr>
          <a:xfrm>
            <a:off x="2188547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8" name="S06-mark88"/>
          <p:cNvSpPr/>
          <p:nvPr/>
        </p:nvSpPr>
        <p:spPr>
          <a:xfrm>
            <a:off x="2407372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9" name="S06-mark89"/>
          <p:cNvSpPr/>
          <p:nvPr/>
        </p:nvSpPr>
        <p:spPr>
          <a:xfrm>
            <a:off x="2626197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0" name="S06-mark90"/>
          <p:cNvSpPr/>
          <p:nvPr/>
        </p:nvSpPr>
        <p:spPr>
          <a:xfrm>
            <a:off x="2845021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1" name="S06-mark91"/>
          <p:cNvSpPr/>
          <p:nvPr/>
        </p:nvSpPr>
        <p:spPr>
          <a:xfrm>
            <a:off x="3063846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2" name="S06-mark92"/>
          <p:cNvSpPr/>
          <p:nvPr/>
        </p:nvSpPr>
        <p:spPr>
          <a:xfrm>
            <a:off x="3282671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3" name="S06-mark93"/>
          <p:cNvSpPr/>
          <p:nvPr/>
        </p:nvSpPr>
        <p:spPr>
          <a:xfrm>
            <a:off x="3501496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4" name="S06-mark94"/>
          <p:cNvSpPr/>
          <p:nvPr/>
        </p:nvSpPr>
        <p:spPr>
          <a:xfrm>
            <a:off x="3720320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5" name="S06-mark95"/>
          <p:cNvSpPr/>
          <p:nvPr/>
        </p:nvSpPr>
        <p:spPr>
          <a:xfrm>
            <a:off x="3939145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6" name="S06-mark96"/>
          <p:cNvSpPr/>
          <p:nvPr/>
        </p:nvSpPr>
        <p:spPr>
          <a:xfrm>
            <a:off x="4157970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7" name="S06-mark97"/>
          <p:cNvSpPr/>
          <p:nvPr/>
        </p:nvSpPr>
        <p:spPr>
          <a:xfrm>
            <a:off x="4376795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8" name="S06-mark98"/>
          <p:cNvSpPr/>
          <p:nvPr/>
        </p:nvSpPr>
        <p:spPr>
          <a:xfrm>
            <a:off x="4595619" y="4054015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59" name="S06-mark99"/>
          <p:cNvSpPr/>
          <p:nvPr/>
        </p:nvSpPr>
        <p:spPr>
          <a:xfrm>
            <a:off x="1969722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0" name="S06-mark100"/>
          <p:cNvSpPr/>
          <p:nvPr/>
        </p:nvSpPr>
        <p:spPr>
          <a:xfrm>
            <a:off x="2188547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1" name="S06-mark101"/>
          <p:cNvSpPr/>
          <p:nvPr/>
        </p:nvSpPr>
        <p:spPr>
          <a:xfrm>
            <a:off x="2407372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2" name="S06-mark102"/>
          <p:cNvSpPr/>
          <p:nvPr/>
        </p:nvSpPr>
        <p:spPr>
          <a:xfrm>
            <a:off x="2626197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3" name="S06-mark103"/>
          <p:cNvSpPr/>
          <p:nvPr/>
        </p:nvSpPr>
        <p:spPr>
          <a:xfrm>
            <a:off x="2845021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4" name="S06-mark104"/>
          <p:cNvSpPr/>
          <p:nvPr/>
        </p:nvSpPr>
        <p:spPr>
          <a:xfrm>
            <a:off x="3063846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5" name="S06-mark105"/>
          <p:cNvSpPr/>
          <p:nvPr/>
        </p:nvSpPr>
        <p:spPr>
          <a:xfrm>
            <a:off x="3282671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6" name="S06-mark106"/>
          <p:cNvSpPr/>
          <p:nvPr/>
        </p:nvSpPr>
        <p:spPr>
          <a:xfrm>
            <a:off x="3501496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7" name="S06-mark107"/>
          <p:cNvSpPr/>
          <p:nvPr/>
        </p:nvSpPr>
        <p:spPr>
          <a:xfrm>
            <a:off x="3720320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8" name="S06-mark108"/>
          <p:cNvSpPr/>
          <p:nvPr/>
        </p:nvSpPr>
        <p:spPr>
          <a:xfrm>
            <a:off x="3939145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69" name="S06-mark109"/>
          <p:cNvSpPr/>
          <p:nvPr/>
        </p:nvSpPr>
        <p:spPr>
          <a:xfrm>
            <a:off x="4157970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0" name="S06-mark110"/>
          <p:cNvSpPr/>
          <p:nvPr/>
        </p:nvSpPr>
        <p:spPr>
          <a:xfrm>
            <a:off x="4376795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1" name="S06-mark111"/>
          <p:cNvSpPr/>
          <p:nvPr/>
        </p:nvSpPr>
        <p:spPr>
          <a:xfrm>
            <a:off x="4595619" y="3324599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2" name="S06-mark112"/>
          <p:cNvSpPr/>
          <p:nvPr/>
        </p:nvSpPr>
        <p:spPr>
          <a:xfrm>
            <a:off x="2079135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3" name="S06-mark113"/>
          <p:cNvSpPr/>
          <p:nvPr/>
        </p:nvSpPr>
        <p:spPr>
          <a:xfrm>
            <a:off x="2297960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4" name="S06-mark114"/>
          <p:cNvSpPr/>
          <p:nvPr/>
        </p:nvSpPr>
        <p:spPr>
          <a:xfrm>
            <a:off x="2516784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5" name="S06-mark115"/>
          <p:cNvSpPr/>
          <p:nvPr/>
        </p:nvSpPr>
        <p:spPr>
          <a:xfrm>
            <a:off x="2735609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6" name="S06-mark116"/>
          <p:cNvSpPr/>
          <p:nvPr/>
        </p:nvSpPr>
        <p:spPr>
          <a:xfrm>
            <a:off x="2954434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7" name="S06-mark117"/>
          <p:cNvSpPr/>
          <p:nvPr/>
        </p:nvSpPr>
        <p:spPr>
          <a:xfrm>
            <a:off x="3173259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8" name="S06-mark118"/>
          <p:cNvSpPr/>
          <p:nvPr/>
        </p:nvSpPr>
        <p:spPr>
          <a:xfrm>
            <a:off x="3392083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9" name="S06-mark119"/>
          <p:cNvSpPr/>
          <p:nvPr/>
        </p:nvSpPr>
        <p:spPr>
          <a:xfrm>
            <a:off x="3610908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0" name="S06-mark120"/>
          <p:cNvSpPr/>
          <p:nvPr/>
        </p:nvSpPr>
        <p:spPr>
          <a:xfrm>
            <a:off x="3829733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1" name="S06-mark121"/>
          <p:cNvSpPr/>
          <p:nvPr/>
        </p:nvSpPr>
        <p:spPr>
          <a:xfrm>
            <a:off x="4048558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2" name="S06-mark122"/>
          <p:cNvSpPr/>
          <p:nvPr/>
        </p:nvSpPr>
        <p:spPr>
          <a:xfrm>
            <a:off x="4267382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3" name="S06-mark123"/>
          <p:cNvSpPr/>
          <p:nvPr/>
        </p:nvSpPr>
        <p:spPr>
          <a:xfrm>
            <a:off x="4486207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4" name="S06-mark124"/>
          <p:cNvSpPr/>
          <p:nvPr/>
        </p:nvSpPr>
        <p:spPr>
          <a:xfrm>
            <a:off x="4705032" y="3142246"/>
            <a:ext cx="60785" cy="60785"/>
          </a:xfrm>
          <a:prstGeom prst="ellipse">
            <a:avLst/>
          </a:prstGeom>
          <a:solidFill>
            <a:srgbClr val="8C6D46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5" name="S06-mark125"/>
          <p:cNvSpPr/>
          <p:nvPr/>
        </p:nvSpPr>
        <p:spPr>
          <a:xfrm flipV="1">
            <a:off x="1483445" y="3051069"/>
            <a:ext cx="0" cy="2127463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6" name="S06-label127"/>
          <p:cNvSpPr txBox="1"/>
          <p:nvPr/>
        </p:nvSpPr>
        <p:spPr>
          <a:xfrm>
            <a:off x="607707" y="491272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200" dirty="0"/>
          </a:p>
        </p:txBody>
      </p:sp>
      <p:sp>
        <p:nvSpPr>
          <p:cNvPr id="87" name="S06-label129"/>
          <p:cNvSpPr txBox="1"/>
          <p:nvPr/>
        </p:nvSpPr>
        <p:spPr>
          <a:xfrm>
            <a:off x="607707" y="296762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</a:t>
            </a:r>
            <a:endParaRPr lang="ko-KR" sz="2200" dirty="0"/>
          </a:p>
        </p:txBody>
      </p:sp>
      <p:sp>
        <p:nvSpPr>
          <p:cNvPr id="88" name="S06-label131"/>
          <p:cNvSpPr txBox="1"/>
          <p:nvPr/>
        </p:nvSpPr>
        <p:spPr>
          <a:xfrm>
            <a:off x="5069740" y="476076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</a:t>
            </a:r>
            <a:endParaRPr lang="ko-KR" sz="2200" dirty="0"/>
          </a:p>
        </p:txBody>
      </p:sp>
      <p:sp>
        <p:nvSpPr>
          <p:cNvPr id="89" name="S06-label133"/>
          <p:cNvSpPr txBox="1"/>
          <p:nvPr/>
        </p:nvSpPr>
        <p:spPr>
          <a:xfrm>
            <a:off x="5069740" y="40921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90" name="S06-label135"/>
          <p:cNvSpPr txBox="1"/>
          <p:nvPr/>
        </p:nvSpPr>
        <p:spPr>
          <a:xfrm>
            <a:off x="5069740" y="35450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진흙</a:t>
            </a:r>
            <a:endParaRPr lang="ko-KR" sz="2200" dirty="0"/>
          </a:p>
        </p:txBody>
      </p:sp>
      <p:sp>
        <p:nvSpPr>
          <p:cNvPr id="91" name="S06-label137"/>
          <p:cNvSpPr txBox="1"/>
          <p:nvPr/>
        </p:nvSpPr>
        <p:spPr>
          <a:xfrm>
            <a:off x="5069740" y="302840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92" name="S06-card138"/>
          <p:cNvSpPr/>
          <p:nvPr/>
        </p:nvSpPr>
        <p:spPr>
          <a:xfrm>
            <a:off x="6491874" y="2090928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3" name="S06-cardtext139"/>
          <p:cNvSpPr txBox="1"/>
          <p:nvPr/>
        </p:nvSpPr>
        <p:spPr>
          <a:xfrm>
            <a:off x="6766194" y="2228088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옮긴 알갱이가 물 밑에 쌓여요.</a:t>
            </a:r>
            <a:endParaRPr lang="ko-KR" sz="2800" dirty="0"/>
          </a:p>
        </p:txBody>
      </p:sp>
      <p:sp>
        <p:nvSpPr>
          <p:cNvPr id="94" name="S06-card140"/>
          <p:cNvSpPr/>
          <p:nvPr/>
        </p:nvSpPr>
        <p:spPr>
          <a:xfrm>
            <a:off x="6491874" y="3516376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5" name="S06-cardtext141"/>
          <p:cNvSpPr txBox="1"/>
          <p:nvPr/>
        </p:nvSpPr>
        <p:spPr>
          <a:xfrm>
            <a:off x="6766194" y="3653536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아래층이 먼저,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위층이 나중에 쌓여요.</a:t>
            </a:r>
            <a:endParaRPr lang="ko-KR" sz="2800" dirty="0"/>
          </a:p>
        </p:txBody>
      </p:sp>
      <p:sp>
        <p:nvSpPr>
          <p:cNvPr id="96" name="S06-card142"/>
          <p:cNvSpPr/>
          <p:nvPr/>
        </p:nvSpPr>
        <p:spPr>
          <a:xfrm>
            <a:off x="6491874" y="4941824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7" name="S06-cardtext143"/>
          <p:cNvSpPr txBox="1"/>
          <p:nvPr/>
        </p:nvSpPr>
        <p:spPr>
          <a:xfrm>
            <a:off x="6766194" y="5078984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시간 눌려 단단해지고,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솟아 드러나요.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1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지층의 아래층과 위층 가운데 어느 층이 먼저 쌓였을까요?</a:t>
            </a:r>
            <a:endParaRPr lang="ko-KR" sz="2800" dirty="0"/>
          </a:p>
        </p:txBody>
      </p:sp>
      <p:sp>
        <p:nvSpPr>
          <p:cNvPr id="5" name="S07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1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1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위에 보이니까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위층이 먼저 쌓였어요.</a:t>
            </a:r>
            <a:endParaRPr lang="ko-KR" sz="2800" dirty="0"/>
          </a:p>
        </p:txBody>
      </p:sp>
      <p:sp>
        <p:nvSpPr>
          <p:cNvPr id="9" name="S07-chip1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1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넣은 것이 위에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쌓였으니 아래층이 먼저예요.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퇴적암의 이름</a:t>
            </a:r>
            <a:endParaRPr lang="ko-KR" sz="4000" dirty="0"/>
          </a:p>
        </p:txBody>
      </p:sp>
      <p:sp>
        <p:nvSpPr>
          <p:cNvPr id="3" name="S08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알갱이가 굳어 된 암석을 퇴적암이라고 해요.</a:t>
            </a:r>
            <a:endParaRPr lang="ko-KR" sz="2800" dirty="0"/>
          </a:p>
        </p:txBody>
      </p:sp>
      <p:sp>
        <p:nvSpPr>
          <p:cNvPr id="4" name="S08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퇴적암은 알갱이의 크기로 나눠요.</a:t>
            </a:r>
            <a:endParaRPr lang="ko-KR" sz="2800" dirty="0"/>
          </a:p>
        </p:txBody>
      </p:sp>
      <p:graphicFrame>
        <p:nvGraphicFramePr>
          <p:cNvPr id="9" name="S08-table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4416552"/>
                <a:gridCol w="378561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퇴적암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이루는 알갱이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만져 보면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진흙(아주 작아요)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부드러워요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까끌까끌해요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자갈과 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울퉁불퉁해요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퇴적암일까요?</a:t>
            </a:r>
            <a:endParaRPr lang="ko-KR" sz="4000" dirty="0"/>
          </a:p>
        </p:txBody>
      </p:sp>
      <p:sp>
        <p:nvSpPr>
          <p:cNvPr id="3" name="S09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 크기를 보고 이름을 말해요. 까닭도 말해요.</a:t>
            </a:r>
            <a:endParaRPr lang="ko-KR" sz="2800" dirty="0"/>
          </a:p>
        </p:txBody>
      </p:sp>
      <p:sp>
        <p:nvSpPr>
          <p:cNvPr id="5" name="S09-figure158" descr="가: 고른 모래 크기의 알갱이가 빽빽한 암석"/>
          <p:cNvSpPr/>
          <p:nvPr/>
        </p:nvSpPr>
        <p:spPr>
          <a:xfrm>
            <a:off x="702183" y="1409700"/>
            <a:ext cx="3176778" cy="3176778"/>
          </a:xfrm>
          <a:custGeom>
            <a:avLst/>
            <a:gdLst/>
            <a:ahLst/>
            <a:cxnLst/>
            <a:rect l="l" t="t" r="r" b="b"/>
            <a:pathLst>
              <a:path w="3176778" h="3176778">
                <a:moveTo>
                  <a:pt x="0" y="3176778"/>
                </a:moveTo>
                <a:lnTo>
                  <a:pt x="3176778" y="3176778"/>
                </a:lnTo>
                <a:lnTo>
                  <a:pt x="3176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D8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9-mark159"/>
          <p:cNvSpPr/>
          <p:nvPr/>
        </p:nvSpPr>
        <p:spPr>
          <a:xfrm>
            <a:off x="853080" y="423703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09-mark160"/>
          <p:cNvSpPr/>
          <p:nvPr/>
        </p:nvSpPr>
        <p:spPr>
          <a:xfrm>
            <a:off x="1218409" y="422114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S09-mark161"/>
          <p:cNvSpPr/>
          <p:nvPr/>
        </p:nvSpPr>
        <p:spPr>
          <a:xfrm>
            <a:off x="1559913" y="422114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S09-mark162"/>
          <p:cNvSpPr/>
          <p:nvPr/>
        </p:nvSpPr>
        <p:spPr>
          <a:xfrm>
            <a:off x="1853765" y="425291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S09-mark163"/>
          <p:cNvSpPr/>
          <p:nvPr/>
        </p:nvSpPr>
        <p:spPr>
          <a:xfrm>
            <a:off x="2274688" y="424497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S09-mark164"/>
          <p:cNvSpPr/>
          <p:nvPr/>
        </p:nvSpPr>
        <p:spPr>
          <a:xfrm>
            <a:off x="2624134" y="428468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09-mark165"/>
          <p:cNvSpPr/>
          <p:nvPr/>
        </p:nvSpPr>
        <p:spPr>
          <a:xfrm>
            <a:off x="2941811" y="427674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S09-mark166"/>
          <p:cNvSpPr/>
          <p:nvPr/>
        </p:nvSpPr>
        <p:spPr>
          <a:xfrm>
            <a:off x="3291257" y="424497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S09-mark167"/>
          <p:cNvSpPr/>
          <p:nvPr/>
        </p:nvSpPr>
        <p:spPr>
          <a:xfrm>
            <a:off x="980151" y="395906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5" name="S09-mark168"/>
          <p:cNvSpPr/>
          <p:nvPr/>
        </p:nvSpPr>
        <p:spPr>
          <a:xfrm>
            <a:off x="1353422" y="390347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6" name="S09-mark169"/>
          <p:cNvSpPr/>
          <p:nvPr/>
        </p:nvSpPr>
        <p:spPr>
          <a:xfrm>
            <a:off x="1742578" y="395906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09-mark170"/>
          <p:cNvSpPr/>
          <p:nvPr/>
        </p:nvSpPr>
        <p:spPr>
          <a:xfrm>
            <a:off x="2092023" y="396700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8" name="S09-mark171"/>
          <p:cNvSpPr/>
          <p:nvPr/>
        </p:nvSpPr>
        <p:spPr>
          <a:xfrm>
            <a:off x="2425585" y="396700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9" name="S09-mark172"/>
          <p:cNvSpPr/>
          <p:nvPr/>
        </p:nvSpPr>
        <p:spPr>
          <a:xfrm>
            <a:off x="2727379" y="390347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0" name="S09-mark173"/>
          <p:cNvSpPr/>
          <p:nvPr/>
        </p:nvSpPr>
        <p:spPr>
          <a:xfrm>
            <a:off x="3092708" y="395906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1" name="S09-mark174"/>
          <p:cNvSpPr/>
          <p:nvPr/>
        </p:nvSpPr>
        <p:spPr>
          <a:xfrm>
            <a:off x="3505690" y="390347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S09-mark175"/>
          <p:cNvSpPr/>
          <p:nvPr/>
        </p:nvSpPr>
        <p:spPr>
          <a:xfrm>
            <a:off x="829254" y="357785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3" name="S09-mark176"/>
          <p:cNvSpPr/>
          <p:nvPr/>
        </p:nvSpPr>
        <p:spPr>
          <a:xfrm>
            <a:off x="1194584" y="360167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4" name="S09-mark177"/>
          <p:cNvSpPr/>
          <p:nvPr/>
        </p:nvSpPr>
        <p:spPr>
          <a:xfrm>
            <a:off x="1520203" y="358579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5" name="S09-mark178"/>
          <p:cNvSpPr/>
          <p:nvPr/>
        </p:nvSpPr>
        <p:spPr>
          <a:xfrm>
            <a:off x="1909359" y="357785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6" name="S09-mark179"/>
          <p:cNvSpPr/>
          <p:nvPr/>
        </p:nvSpPr>
        <p:spPr>
          <a:xfrm>
            <a:off x="2274688" y="363344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7" name="S09-mark180"/>
          <p:cNvSpPr/>
          <p:nvPr/>
        </p:nvSpPr>
        <p:spPr>
          <a:xfrm>
            <a:off x="2584424" y="364138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8" name="S09-mark181"/>
          <p:cNvSpPr/>
          <p:nvPr/>
        </p:nvSpPr>
        <p:spPr>
          <a:xfrm>
            <a:off x="2910044" y="364932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9" name="S09-mark182"/>
          <p:cNvSpPr/>
          <p:nvPr/>
        </p:nvSpPr>
        <p:spPr>
          <a:xfrm>
            <a:off x="3275373" y="360961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0" name="S09-mark183"/>
          <p:cNvSpPr/>
          <p:nvPr/>
        </p:nvSpPr>
        <p:spPr>
          <a:xfrm>
            <a:off x="980151" y="328399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1" name="S09-mark184"/>
          <p:cNvSpPr/>
          <p:nvPr/>
        </p:nvSpPr>
        <p:spPr>
          <a:xfrm>
            <a:off x="1353422" y="331576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2" name="S09-mark185"/>
          <p:cNvSpPr/>
          <p:nvPr/>
        </p:nvSpPr>
        <p:spPr>
          <a:xfrm>
            <a:off x="1742578" y="329988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3" name="S09-mark186"/>
          <p:cNvSpPr/>
          <p:nvPr/>
        </p:nvSpPr>
        <p:spPr>
          <a:xfrm>
            <a:off x="2052314" y="329988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4" name="S09-mark187"/>
          <p:cNvSpPr/>
          <p:nvPr/>
        </p:nvSpPr>
        <p:spPr>
          <a:xfrm>
            <a:off x="2433527" y="333165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5" name="S09-mark188"/>
          <p:cNvSpPr/>
          <p:nvPr/>
        </p:nvSpPr>
        <p:spPr>
          <a:xfrm>
            <a:off x="2806798" y="333959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6" name="S09-mark189"/>
          <p:cNvSpPr/>
          <p:nvPr/>
        </p:nvSpPr>
        <p:spPr>
          <a:xfrm>
            <a:off x="3132418" y="327605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7" name="S09-mark190"/>
          <p:cNvSpPr/>
          <p:nvPr/>
        </p:nvSpPr>
        <p:spPr>
          <a:xfrm>
            <a:off x="3426270" y="327605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8" name="S09-mark191"/>
          <p:cNvSpPr/>
          <p:nvPr/>
        </p:nvSpPr>
        <p:spPr>
          <a:xfrm>
            <a:off x="837196" y="297426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9" name="S09-mark192"/>
          <p:cNvSpPr/>
          <p:nvPr/>
        </p:nvSpPr>
        <p:spPr>
          <a:xfrm>
            <a:off x="1154874" y="302191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0" name="S09-mark193"/>
          <p:cNvSpPr/>
          <p:nvPr/>
        </p:nvSpPr>
        <p:spPr>
          <a:xfrm>
            <a:off x="1520203" y="294249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1" name="S09-mark194"/>
          <p:cNvSpPr/>
          <p:nvPr/>
        </p:nvSpPr>
        <p:spPr>
          <a:xfrm>
            <a:off x="1869649" y="295837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2" name="S09-mark195"/>
          <p:cNvSpPr/>
          <p:nvPr/>
        </p:nvSpPr>
        <p:spPr>
          <a:xfrm>
            <a:off x="2274688" y="295043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3" name="S09-mark196"/>
          <p:cNvSpPr/>
          <p:nvPr/>
        </p:nvSpPr>
        <p:spPr>
          <a:xfrm>
            <a:off x="2576482" y="2990147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4" name="S09-mark197"/>
          <p:cNvSpPr/>
          <p:nvPr/>
        </p:nvSpPr>
        <p:spPr>
          <a:xfrm>
            <a:off x="2941811" y="295837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5" name="S09-mark198"/>
          <p:cNvSpPr/>
          <p:nvPr/>
        </p:nvSpPr>
        <p:spPr>
          <a:xfrm>
            <a:off x="3259489" y="296632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6" name="S09-mark199"/>
          <p:cNvSpPr/>
          <p:nvPr/>
        </p:nvSpPr>
        <p:spPr>
          <a:xfrm>
            <a:off x="1043687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7" name="S09-mark200"/>
          <p:cNvSpPr/>
          <p:nvPr/>
        </p:nvSpPr>
        <p:spPr>
          <a:xfrm>
            <a:off x="1329597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8" name="S09-mark201"/>
          <p:cNvSpPr/>
          <p:nvPr/>
        </p:nvSpPr>
        <p:spPr>
          <a:xfrm>
            <a:off x="1686984" y="268041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9" name="S09-mark202"/>
          <p:cNvSpPr/>
          <p:nvPr/>
        </p:nvSpPr>
        <p:spPr>
          <a:xfrm>
            <a:off x="2076139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0" name="S09-mark203"/>
          <p:cNvSpPr/>
          <p:nvPr/>
        </p:nvSpPr>
        <p:spPr>
          <a:xfrm>
            <a:off x="2401759" y="263276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1" name="S09-mark204"/>
          <p:cNvSpPr/>
          <p:nvPr/>
        </p:nvSpPr>
        <p:spPr>
          <a:xfrm>
            <a:off x="2767089" y="268041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2" name="S09-mark205"/>
          <p:cNvSpPr/>
          <p:nvPr/>
        </p:nvSpPr>
        <p:spPr>
          <a:xfrm>
            <a:off x="3100650" y="2688353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3" name="S09-mark206"/>
          <p:cNvSpPr/>
          <p:nvPr/>
        </p:nvSpPr>
        <p:spPr>
          <a:xfrm>
            <a:off x="3434212" y="269629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4" name="S09-mark207"/>
          <p:cNvSpPr/>
          <p:nvPr/>
        </p:nvSpPr>
        <p:spPr>
          <a:xfrm>
            <a:off x="861022" y="230714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5" name="S09-mark208"/>
          <p:cNvSpPr/>
          <p:nvPr/>
        </p:nvSpPr>
        <p:spPr>
          <a:xfrm>
            <a:off x="1170758" y="238655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6" name="S09-mark209"/>
          <p:cNvSpPr/>
          <p:nvPr/>
        </p:nvSpPr>
        <p:spPr>
          <a:xfrm>
            <a:off x="1583739" y="234685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7" name="S09-mark210"/>
          <p:cNvSpPr/>
          <p:nvPr/>
        </p:nvSpPr>
        <p:spPr>
          <a:xfrm>
            <a:off x="1885533" y="2370675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8" name="S09-mark211"/>
          <p:cNvSpPr/>
          <p:nvPr/>
        </p:nvSpPr>
        <p:spPr>
          <a:xfrm>
            <a:off x="2250862" y="232302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9" name="S09-mark212"/>
          <p:cNvSpPr/>
          <p:nvPr/>
        </p:nvSpPr>
        <p:spPr>
          <a:xfrm>
            <a:off x="2592366" y="2354791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0" name="S09-mark213"/>
          <p:cNvSpPr/>
          <p:nvPr/>
        </p:nvSpPr>
        <p:spPr>
          <a:xfrm>
            <a:off x="2910044" y="231508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1" name="S09-mark214"/>
          <p:cNvSpPr/>
          <p:nvPr/>
        </p:nvSpPr>
        <p:spPr>
          <a:xfrm>
            <a:off x="3251547" y="234685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2" name="S09-mark215"/>
          <p:cNvSpPr/>
          <p:nvPr/>
        </p:nvSpPr>
        <p:spPr>
          <a:xfrm>
            <a:off x="1043687" y="2060939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3" name="S09-mark216"/>
          <p:cNvSpPr/>
          <p:nvPr/>
        </p:nvSpPr>
        <p:spPr>
          <a:xfrm>
            <a:off x="1385190" y="199740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4" name="S09-mark217"/>
          <p:cNvSpPr/>
          <p:nvPr/>
        </p:nvSpPr>
        <p:spPr>
          <a:xfrm>
            <a:off x="1726694" y="200534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5" name="S09-mark218"/>
          <p:cNvSpPr/>
          <p:nvPr/>
        </p:nvSpPr>
        <p:spPr>
          <a:xfrm>
            <a:off x="2036430" y="203711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6" name="S09-mark219"/>
          <p:cNvSpPr/>
          <p:nvPr/>
        </p:nvSpPr>
        <p:spPr>
          <a:xfrm>
            <a:off x="2385875" y="200534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7" name="S09-mark220"/>
          <p:cNvSpPr/>
          <p:nvPr/>
        </p:nvSpPr>
        <p:spPr>
          <a:xfrm>
            <a:off x="2751205" y="202917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8" name="S09-mark221"/>
          <p:cNvSpPr/>
          <p:nvPr/>
        </p:nvSpPr>
        <p:spPr>
          <a:xfrm>
            <a:off x="3156244" y="199740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9" name="S09-mark222"/>
          <p:cNvSpPr/>
          <p:nvPr/>
        </p:nvSpPr>
        <p:spPr>
          <a:xfrm>
            <a:off x="3505690" y="202917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0" name="S09-mark223"/>
          <p:cNvSpPr/>
          <p:nvPr/>
        </p:nvSpPr>
        <p:spPr>
          <a:xfrm>
            <a:off x="845138" y="1695610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1" name="S09-mark224"/>
          <p:cNvSpPr/>
          <p:nvPr/>
        </p:nvSpPr>
        <p:spPr>
          <a:xfrm>
            <a:off x="1194584" y="172737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2" name="S09-mark225"/>
          <p:cNvSpPr/>
          <p:nvPr/>
        </p:nvSpPr>
        <p:spPr>
          <a:xfrm>
            <a:off x="1536087" y="174326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3" name="S09-mark226"/>
          <p:cNvSpPr/>
          <p:nvPr/>
        </p:nvSpPr>
        <p:spPr>
          <a:xfrm>
            <a:off x="1885533" y="1671784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4" name="S09-mark227"/>
          <p:cNvSpPr/>
          <p:nvPr/>
        </p:nvSpPr>
        <p:spPr>
          <a:xfrm>
            <a:off x="2282630" y="1703552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5" name="S09-mark228"/>
          <p:cNvSpPr/>
          <p:nvPr/>
        </p:nvSpPr>
        <p:spPr>
          <a:xfrm>
            <a:off x="2592366" y="172737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6" name="S09-mark229"/>
          <p:cNvSpPr/>
          <p:nvPr/>
        </p:nvSpPr>
        <p:spPr>
          <a:xfrm>
            <a:off x="2910044" y="1727378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7" name="S09-mark230"/>
          <p:cNvSpPr/>
          <p:nvPr/>
        </p:nvSpPr>
        <p:spPr>
          <a:xfrm>
            <a:off x="3315083" y="1679726"/>
            <a:ext cx="190607" cy="190607"/>
          </a:xfrm>
          <a:prstGeom prst="ellipse">
            <a:avLst/>
          </a:prstGeom>
          <a:solidFill>
            <a:srgbClr val="C9A66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8" name="S09-label231"/>
          <p:cNvSpPr txBox="1"/>
          <p:nvPr/>
        </p:nvSpPr>
        <p:spPr>
          <a:xfrm>
            <a:off x="548640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79" name="S09-figure232" descr="나: 큰 자갈 알갱이 사이에 작은 알갱이가 섞인 암석"/>
          <p:cNvSpPr/>
          <p:nvPr/>
        </p:nvSpPr>
        <p:spPr>
          <a:xfrm>
            <a:off x="4506087" y="1409700"/>
            <a:ext cx="3176778" cy="3176778"/>
          </a:xfrm>
          <a:custGeom>
            <a:avLst/>
            <a:gdLst/>
            <a:ahLst/>
            <a:cxnLst/>
            <a:rect l="l" t="t" r="r" b="b"/>
            <a:pathLst>
              <a:path w="3176778" h="3176778">
                <a:moveTo>
                  <a:pt x="0" y="3176778"/>
                </a:moveTo>
                <a:lnTo>
                  <a:pt x="3176778" y="3176778"/>
                </a:lnTo>
                <a:lnTo>
                  <a:pt x="3176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7DFD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0" name="S09-mark233"/>
          <p:cNvSpPr/>
          <p:nvPr/>
        </p:nvSpPr>
        <p:spPr>
          <a:xfrm>
            <a:off x="4744345" y="3395186"/>
            <a:ext cx="953033" cy="953033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1" name="S09-mark234"/>
          <p:cNvSpPr/>
          <p:nvPr/>
        </p:nvSpPr>
        <p:spPr>
          <a:xfrm>
            <a:off x="6134186" y="3514315"/>
            <a:ext cx="873614" cy="873614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2" name="S09-mark235"/>
          <p:cNvSpPr/>
          <p:nvPr/>
        </p:nvSpPr>
        <p:spPr>
          <a:xfrm>
            <a:off x="5459120" y="2521572"/>
            <a:ext cx="794194" cy="794194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3" name="S09-mark236"/>
          <p:cNvSpPr/>
          <p:nvPr/>
        </p:nvSpPr>
        <p:spPr>
          <a:xfrm>
            <a:off x="6491573" y="2203895"/>
            <a:ext cx="953033" cy="953033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4" name="S09-mark237"/>
          <p:cNvSpPr/>
          <p:nvPr/>
        </p:nvSpPr>
        <p:spPr>
          <a:xfrm>
            <a:off x="4744345" y="1806797"/>
            <a:ext cx="794194" cy="794194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5" name="S09-mark238"/>
          <p:cNvSpPr/>
          <p:nvPr/>
        </p:nvSpPr>
        <p:spPr>
          <a:xfrm>
            <a:off x="5935637" y="1647958"/>
            <a:ext cx="635356" cy="635356"/>
          </a:xfrm>
          <a:prstGeom prst="ellipse">
            <a:avLst/>
          </a:prstGeom>
          <a:solidFill>
            <a:srgbClr val="9E9A93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6" name="S09-mark239"/>
          <p:cNvSpPr/>
          <p:nvPr/>
        </p:nvSpPr>
        <p:spPr>
          <a:xfrm>
            <a:off x="5816508" y="4149671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7" name="S09-mark240"/>
          <p:cNvSpPr/>
          <p:nvPr/>
        </p:nvSpPr>
        <p:spPr>
          <a:xfrm>
            <a:off x="5697379" y="3514315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8" name="S09-mark241"/>
          <p:cNvSpPr/>
          <p:nvPr/>
        </p:nvSpPr>
        <p:spPr>
          <a:xfrm>
            <a:off x="4664926" y="2998089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9" name="S09-mark242"/>
          <p:cNvSpPr/>
          <p:nvPr/>
        </p:nvSpPr>
        <p:spPr>
          <a:xfrm>
            <a:off x="6491573" y="3276057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0" name="S09-mark243"/>
          <p:cNvSpPr/>
          <p:nvPr/>
        </p:nvSpPr>
        <p:spPr>
          <a:xfrm>
            <a:off x="7285768" y="3395186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1" name="S09-mark244"/>
          <p:cNvSpPr/>
          <p:nvPr/>
        </p:nvSpPr>
        <p:spPr>
          <a:xfrm>
            <a:off x="7325477" y="1806797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2" name="S09-mark245"/>
          <p:cNvSpPr/>
          <p:nvPr/>
        </p:nvSpPr>
        <p:spPr>
          <a:xfrm>
            <a:off x="5617959" y="1647958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3" name="S09-mark246"/>
          <p:cNvSpPr/>
          <p:nvPr/>
        </p:nvSpPr>
        <p:spPr>
          <a:xfrm>
            <a:off x="4704636" y="4268800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4" name="S09-mark247"/>
          <p:cNvSpPr/>
          <p:nvPr/>
        </p:nvSpPr>
        <p:spPr>
          <a:xfrm>
            <a:off x="6332734" y="2521572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5" name="S09-mark248"/>
          <p:cNvSpPr/>
          <p:nvPr/>
        </p:nvSpPr>
        <p:spPr>
          <a:xfrm>
            <a:off x="7047509" y="4308510"/>
            <a:ext cx="158839" cy="158839"/>
          </a:xfrm>
          <a:prstGeom prst="ellipse">
            <a:avLst/>
          </a:prstGeom>
          <a:solidFill>
            <a:srgbClr val="C9A66B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6" name="S09-label249"/>
          <p:cNvSpPr txBox="1"/>
          <p:nvPr/>
        </p:nvSpPr>
        <p:spPr>
          <a:xfrm>
            <a:off x="4352544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97" name="S09-figure250" descr="다: 알갱이가 보이지 않을 만큼 작고 매끈한 암석"/>
          <p:cNvSpPr/>
          <p:nvPr/>
        </p:nvSpPr>
        <p:spPr>
          <a:xfrm>
            <a:off x="8309991" y="1409700"/>
            <a:ext cx="3176778" cy="3176778"/>
          </a:xfrm>
          <a:custGeom>
            <a:avLst/>
            <a:gdLst/>
            <a:ahLst/>
            <a:cxnLst/>
            <a:rect l="l" t="t" r="r" b="b"/>
            <a:pathLst>
              <a:path w="3176778" h="3176778">
                <a:moveTo>
                  <a:pt x="0" y="3176778"/>
                </a:moveTo>
                <a:lnTo>
                  <a:pt x="3176778" y="3176778"/>
                </a:lnTo>
                <a:lnTo>
                  <a:pt x="3176778" y="0"/>
                </a:lnTo>
                <a:lnTo>
                  <a:pt x="0" y="0"/>
                </a:lnTo>
                <a:close/>
              </a:path>
            </a:pathLst>
          </a:custGeom>
          <a:solidFill>
            <a:srgbClr val="A8958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8" name="S09-label251"/>
          <p:cNvSpPr txBox="1"/>
          <p:nvPr/>
        </p:nvSpPr>
        <p:spPr>
          <a:xfrm>
            <a:off x="8156448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0-text2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찰흙에 조개껍데기를 눌렀다 떼면?</a:t>
            </a:r>
            <a:endParaRPr lang="ko-KR" sz="2800" dirty="0"/>
          </a:p>
        </p:txBody>
      </p:sp>
      <p:sp>
        <p:nvSpPr>
          <p:cNvPr id="4" name="S10-card2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4에 써요.</a:t>
            </a:r>
            <a:endParaRPr lang="ko-KR" sz="2800" dirty="0"/>
          </a:p>
        </p:txBody>
      </p:sp>
      <p:graphicFrame>
        <p:nvGraphicFramePr>
          <p:cNvPr id="11" name="S10-table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찰흙에 무엇이 남을까요?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진짜 조개와 같은 점은?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진짜 조개와 다른 점은?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 모형을 만들어요</a:t>
            </a:r>
            <a:endParaRPr lang="ko-KR" sz="4000" dirty="0"/>
          </a:p>
        </p:txBody>
      </p:sp>
      <p:sp>
        <p:nvSpPr>
          <p:cNvPr id="3" name="S11-card2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2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깨진 조개껍데기에 베이지 않게 하고, 손을 씻어요.</a:t>
            </a:r>
            <a:endParaRPr lang="ko-KR" sz="2800" dirty="0"/>
          </a:p>
        </p:txBody>
      </p:sp>
      <p:sp>
        <p:nvSpPr>
          <p:cNvPr id="5" name="S11-figure258" descr="납작하게 편 찰흙 판 위에 조개껍데기를 놓고 아래로 눌러 찍는 그림"/>
          <p:cNvSpPr/>
          <p:nvPr/>
        </p:nvSpPr>
        <p:spPr>
          <a:xfrm>
            <a:off x="8176184" y="2798254"/>
            <a:ext cx="2101596" cy="412813"/>
          </a:xfrm>
          <a:custGeom>
            <a:avLst/>
            <a:gdLst/>
            <a:ahLst/>
            <a:cxnLst/>
            <a:rect l="l" t="t" r="r" b="b"/>
            <a:pathLst>
              <a:path w="2101596" h="412813">
                <a:moveTo>
                  <a:pt x="0" y="412813"/>
                </a:moveTo>
                <a:lnTo>
                  <a:pt x="1801368" y="412813"/>
                </a:lnTo>
                <a:lnTo>
                  <a:pt x="2101596" y="0"/>
                </a:lnTo>
                <a:lnTo>
                  <a:pt x="300228" y="0"/>
                </a:lnTo>
                <a:close/>
              </a:path>
            </a:pathLst>
          </a:custGeom>
          <a:solidFill>
            <a:srgbClr val="C8A27C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11-mark259"/>
          <p:cNvSpPr/>
          <p:nvPr/>
        </p:nvSpPr>
        <p:spPr>
          <a:xfrm>
            <a:off x="8750745" y="1824390"/>
            <a:ext cx="952473" cy="523523"/>
          </a:xfrm>
          <a:custGeom>
            <a:avLst/>
            <a:gdLst/>
            <a:ahLst/>
            <a:cxnLst/>
            <a:rect l="l" t="t" r="r" b="b"/>
            <a:pathLst>
              <a:path w="952473" h="523523">
                <a:moveTo>
                  <a:pt x="476237" y="523523"/>
                </a:moveTo>
                <a:lnTo>
                  <a:pt x="952473" y="301354"/>
                </a:lnTo>
                <a:lnTo>
                  <a:pt x="906689" y="222169"/>
                </a:lnTo>
                <a:lnTo>
                  <a:pt x="847769" y="151990"/>
                </a:lnTo>
                <a:lnTo>
                  <a:pt x="777591" y="93071"/>
                </a:lnTo>
                <a:lnTo>
                  <a:pt x="698405" y="47286"/>
                </a:lnTo>
                <a:lnTo>
                  <a:pt x="612090" y="16137"/>
                </a:lnTo>
                <a:lnTo>
                  <a:pt x="522021" y="0"/>
                </a:lnTo>
                <a:lnTo>
                  <a:pt x="430452" y="0"/>
                </a:lnTo>
                <a:lnTo>
                  <a:pt x="340383" y="16137"/>
                </a:lnTo>
                <a:lnTo>
                  <a:pt x="254068" y="47286"/>
                </a:lnTo>
                <a:lnTo>
                  <a:pt x="174883" y="93071"/>
                </a:lnTo>
                <a:lnTo>
                  <a:pt x="104705" y="151990"/>
                </a:lnTo>
                <a:lnTo>
                  <a:pt x="45785" y="222169"/>
                </a:lnTo>
                <a:lnTo>
                  <a:pt x="0" y="301354"/>
                </a:lnTo>
                <a:close/>
              </a:path>
            </a:pathLst>
          </a:custGeom>
          <a:solidFill>
            <a:srgbClr val="F5E6CC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11-mark260"/>
          <p:cNvSpPr/>
          <p:nvPr/>
        </p:nvSpPr>
        <p:spPr>
          <a:xfrm flipV="1">
            <a:off x="9226982" y="1989515"/>
            <a:ext cx="358397" cy="35839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11-mark261"/>
          <p:cNvSpPr/>
          <p:nvPr/>
        </p:nvSpPr>
        <p:spPr>
          <a:xfrm flipV="1">
            <a:off x="9226982" y="1909204"/>
            <a:ext cx="253317" cy="4387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11-mark262"/>
          <p:cNvSpPr/>
          <p:nvPr/>
        </p:nvSpPr>
        <p:spPr>
          <a:xfrm flipV="1">
            <a:off x="9226982" y="1858541"/>
            <a:ext cx="130974" cy="48937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11-mark263"/>
          <p:cNvSpPr/>
          <p:nvPr/>
        </p:nvSpPr>
        <p:spPr>
          <a:xfrm flipV="1">
            <a:off x="9226982" y="1841278"/>
            <a:ext cx="0" cy="506635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11-mark264"/>
          <p:cNvSpPr/>
          <p:nvPr/>
        </p:nvSpPr>
        <p:spPr>
          <a:xfrm flipH="1" flipV="1">
            <a:off x="9096007" y="1858541"/>
            <a:ext cx="130974" cy="48937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11-mark265"/>
          <p:cNvSpPr/>
          <p:nvPr/>
        </p:nvSpPr>
        <p:spPr>
          <a:xfrm flipH="1" flipV="1">
            <a:off x="8973664" y="1909204"/>
            <a:ext cx="253317" cy="438708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11-mark266"/>
          <p:cNvSpPr/>
          <p:nvPr/>
        </p:nvSpPr>
        <p:spPr>
          <a:xfrm flipH="1" flipV="1">
            <a:off x="8868585" y="1989515"/>
            <a:ext cx="358397" cy="358397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11-mark267"/>
          <p:cNvSpPr/>
          <p:nvPr/>
        </p:nvSpPr>
        <p:spPr>
          <a:xfrm>
            <a:off x="8513940" y="2010156"/>
            <a:ext cx="0" cy="694277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11-label269"/>
          <p:cNvSpPr txBox="1"/>
          <p:nvPr/>
        </p:nvSpPr>
        <p:spPr>
          <a:xfrm>
            <a:off x="8487588" y="1366425"/>
            <a:ext cx="147878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조개껍데기</a:t>
            </a:r>
            <a:endParaRPr lang="ko-KR" sz="2200" dirty="0"/>
          </a:p>
        </p:txBody>
      </p:sp>
      <p:sp>
        <p:nvSpPr>
          <p:cNvPr id="16" name="S11-label271"/>
          <p:cNvSpPr txBox="1"/>
          <p:nvPr/>
        </p:nvSpPr>
        <p:spPr>
          <a:xfrm>
            <a:off x="8898306" y="2830036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</a:t>
            </a:r>
            <a:endParaRPr lang="ko-KR" sz="2200" dirty="0"/>
          </a:p>
        </p:txBody>
      </p:sp>
      <p:sp>
        <p:nvSpPr>
          <p:cNvPr id="17" name="S11-card272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11-cardtext273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무늬가 남았는지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점·다른 점을 찾아요</a:t>
            </a:r>
            <a:endParaRPr lang="ko-KR" sz="2800" dirty="0"/>
          </a:p>
        </p:txBody>
      </p:sp>
      <p:sp>
        <p:nvSpPr>
          <p:cNvPr id="19" name="S11-stepno274"/>
          <p:cNvSpPr txBox="1"/>
          <p:nvPr/>
        </p:nvSpPr>
        <p:spPr>
          <a:xfrm>
            <a:off x="548640" y="1802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0" name="S11-text275"/>
          <p:cNvSpPr txBox="1"/>
          <p:nvPr/>
        </p:nvSpPr>
        <p:spPr>
          <a:xfrm>
            <a:off x="1325880" y="175717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찰흙을 손바닥만 하게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납작하게 펴요.</a:t>
            </a:r>
            <a:endParaRPr lang="ko-KR" sz="2800" dirty="0"/>
          </a:p>
        </p:txBody>
      </p:sp>
      <p:sp>
        <p:nvSpPr>
          <p:cNvPr id="21" name="S11-stepno276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" name="S11-text277"/>
          <p:cNvSpPr txBox="1"/>
          <p:nvPr/>
        </p:nvSpPr>
        <p:spPr>
          <a:xfrm>
            <a:off x="1325880" y="2789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조개껍데기를 꾹 눌렀다가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 떼어요.</a:t>
            </a:r>
            <a:endParaRPr lang="ko-KR" sz="2800" dirty="0"/>
          </a:p>
        </p:txBody>
      </p:sp>
      <p:sp>
        <p:nvSpPr>
          <p:cNvPr id="23" name="S11-stepno278"/>
          <p:cNvSpPr txBox="1"/>
          <p:nvPr/>
        </p:nvSpPr>
        <p:spPr>
          <a:xfrm>
            <a:off x="548640" y="3867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11-text279"/>
          <p:cNvSpPr txBox="1"/>
          <p:nvPr/>
        </p:nvSpPr>
        <p:spPr>
          <a:xfrm>
            <a:off x="1325880" y="3821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모습을 진짜 조개와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비교해 활동지 4에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모형과 실제를 견주어요</a:t>
            </a:r>
            <a:endParaRPr lang="ko-KR" sz="4000" dirty="0"/>
          </a:p>
        </p:txBody>
      </p:sp>
      <p:sp>
        <p:nvSpPr>
          <p:cNvPr id="3" name="S12-text2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찰흙에 무엇이 남았나요? 모형과 실제를 견주어요.</a:t>
            </a:r>
            <a:endParaRPr lang="ko-KR" sz="2800" dirty="0"/>
          </a:p>
        </p:txBody>
      </p:sp>
      <p:sp>
        <p:nvSpPr>
          <p:cNvPr id="4" name="S12-card2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2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모형과 실제가 다른 점도 말해 봐요.</a:t>
            </a:r>
            <a:endParaRPr lang="ko-KR" sz="2800" dirty="0"/>
          </a:p>
        </p:txBody>
      </p:sp>
      <p:graphicFrame>
        <p:nvGraphicFramePr>
          <p:cNvPr id="13" name="S12-table2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모형에서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조개껍데기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옛날에 살았던 생물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찰흙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밑에 쌓인 진흙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찰흙에 남은 자국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걸린 시간: 몇 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아주 오랜 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2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찰흙에 남은 조개 자국 같은 것도 화석이 될까요?</a:t>
            </a:r>
            <a:endParaRPr lang="ko-KR" sz="2800" dirty="0"/>
          </a:p>
        </p:txBody>
      </p:sp>
      <p:sp>
        <p:nvSpPr>
          <p:cNvPr id="5" name="S13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3-chip28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28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자국은 조개가 아니니까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화석이 아니에요.</a:t>
            </a:r>
            <a:endParaRPr lang="ko-KR" sz="2800" dirty="0"/>
          </a:p>
        </p:txBody>
      </p:sp>
      <p:sp>
        <p:nvSpPr>
          <p:cNvPr id="9" name="S13-chip2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29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생물이 남긴 흔적도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화석이 만들어지는 과정</a:t>
            </a:r>
            <a:endParaRPr lang="ko-KR" sz="4000" dirty="0"/>
          </a:p>
        </p:txBody>
      </p:sp>
      <p:sp>
        <p:nvSpPr>
          <p:cNvPr id="3" name="S14-text2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화석: 옛날 생물의 몸이나 흔적이 암석에 남은 것</a:t>
            </a:r>
            <a:endParaRPr lang="ko-KR" sz="2800" dirty="0"/>
          </a:p>
        </p:txBody>
      </p:sp>
      <p:sp>
        <p:nvSpPr>
          <p:cNvPr id="4" name="S14-card2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화석은 퇴적암으로 된 지층에서 발견돼요.</a:t>
            </a:r>
            <a:endParaRPr lang="ko-KR" sz="2800" dirty="0"/>
          </a:p>
        </p:txBody>
      </p:sp>
      <p:sp>
        <p:nvSpPr>
          <p:cNvPr id="6" name="S14-step295"/>
          <p:cNvSpPr txBox="1"/>
          <p:nvPr/>
        </p:nvSpPr>
        <p:spPr>
          <a:xfrm>
            <a:off x="548640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생물이 죽어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밑에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가라앉아요</a:t>
            </a:r>
            <a:endParaRPr lang="ko-KR" sz="2200" dirty="0"/>
          </a:p>
        </p:txBody>
      </p:sp>
      <p:sp>
        <p:nvSpPr>
          <p:cNvPr id="7" name="S14-line296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297"/>
          <p:cNvSpPr txBox="1"/>
          <p:nvPr/>
        </p:nvSpPr>
        <p:spPr>
          <a:xfrm>
            <a:off x="3424428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진흙·모래에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덮여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묻혀요</a:t>
            </a:r>
            <a:endParaRPr lang="ko-KR" sz="2200" dirty="0"/>
          </a:p>
        </p:txBody>
      </p:sp>
      <p:sp>
        <p:nvSpPr>
          <p:cNvPr id="9" name="S14-line298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299"/>
          <p:cNvSpPr txBox="1"/>
          <p:nvPr/>
        </p:nvSpPr>
        <p:spPr>
          <a:xfrm>
            <a:off x="6300216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층이 쌓이고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시간이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흘러요</a:t>
            </a:r>
            <a:endParaRPr lang="ko-KR" sz="2200" dirty="0"/>
          </a:p>
        </p:txBody>
      </p:sp>
      <p:sp>
        <p:nvSpPr>
          <p:cNvPr id="11" name="S14-line300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4-step301"/>
          <p:cNvSpPr txBox="1"/>
          <p:nvPr/>
        </p:nvSpPr>
        <p:spPr>
          <a:xfrm>
            <a:off x="9176004" y="26974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솟고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깎여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드러나요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이곳은 어땠을까요?</a:t>
            </a:r>
            <a:endParaRPr lang="ko-KR" sz="4000" dirty="0"/>
          </a:p>
        </p:txBody>
      </p:sp>
      <p:sp>
        <p:nvSpPr>
          <p:cNvPr id="3" name="S15-text30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조개 화석 → 조개는 물속에 살아요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옛날 이곳은 물속이었어요.</a:t>
            </a:r>
            <a:endParaRPr lang="ko-KR" sz="2800" dirty="0"/>
          </a:p>
        </p:txBody>
      </p:sp>
      <p:sp>
        <p:nvSpPr>
          <p:cNvPr id="4" name="S15-card3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3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생물이 살던 곳을 떠올려요. 활동지 5에도 써요.</a:t>
            </a:r>
            <a:endParaRPr lang="ko-KR" sz="2800" dirty="0"/>
          </a:p>
        </p:txBody>
      </p:sp>
      <p:sp>
        <p:nvSpPr>
          <p:cNvPr id="6" name="S15-chip305"/>
          <p:cNvSpPr txBox="1"/>
          <p:nvPr/>
        </p:nvSpPr>
        <p:spPr>
          <a:xfrm>
            <a:off x="548640" y="248936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5-text306"/>
          <p:cNvSpPr txBox="1"/>
          <p:nvPr/>
        </p:nvSpPr>
        <p:spPr>
          <a:xfrm>
            <a:off x="1344168" y="2376424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 화석이 나온 곳</a:t>
            </a:r>
            <a:endParaRPr lang="ko-KR" sz="2800" dirty="0"/>
          </a:p>
        </p:txBody>
      </p:sp>
      <p:sp>
        <p:nvSpPr>
          <p:cNvPr id="8" name="S15-chip307"/>
          <p:cNvSpPr txBox="1"/>
          <p:nvPr/>
        </p:nvSpPr>
        <p:spPr>
          <a:xfrm>
            <a:off x="548640" y="34650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5-text308"/>
          <p:cNvSpPr txBox="1"/>
          <p:nvPr/>
        </p:nvSpPr>
        <p:spPr>
          <a:xfrm>
            <a:off x="1344168" y="3352123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고사리 화석이 나온 곳</a:t>
            </a:r>
            <a:endParaRPr lang="ko-KR" sz="2800" dirty="0"/>
          </a:p>
        </p:txBody>
      </p:sp>
      <p:sp>
        <p:nvSpPr>
          <p:cNvPr id="10" name="S15-chip309"/>
          <p:cNvSpPr txBox="1"/>
          <p:nvPr/>
        </p:nvSpPr>
        <p:spPr>
          <a:xfrm>
            <a:off x="548640" y="44407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5-text310"/>
          <p:cNvSpPr txBox="1"/>
          <p:nvPr/>
        </p:nvSpPr>
        <p:spPr>
          <a:xfrm>
            <a:off x="1344168" y="4327821"/>
            <a:ext cx="10296144" cy="79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공룡 발자국 화석이 나온 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31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31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지층에서 먼저 쌓인 층은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아래층, 위층 중 어느 것?</a:t>
            </a:r>
            <a:endParaRPr lang="ko-KR" sz="2800" dirty="0"/>
          </a:p>
        </p:txBody>
      </p:sp>
      <p:sp>
        <p:nvSpPr>
          <p:cNvPr id="5" name="S16-chip31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31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모래가 쌓여 굳은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퇴적암의 이름은?</a:t>
            </a:r>
            <a:endParaRPr lang="ko-KR" sz="2800" dirty="0"/>
          </a:p>
        </p:txBody>
      </p:sp>
      <p:sp>
        <p:nvSpPr>
          <p:cNvPr id="7" name="S16-chip31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31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바다에 사는 산호의 화석이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산에서 나왔어요.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이곳은 어땠을까요?</a:t>
            </a:r>
            <a:endParaRPr lang="ko-KR" sz="2800" dirty="0"/>
          </a:p>
        </p:txBody>
      </p:sp>
      <p:sp>
        <p:nvSpPr>
          <p:cNvPr id="9" name="S16-chip31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31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 자국도 화석일까요?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이곳은 어떻게 변했을까요?</a:t>
            </a:r>
            <a:endParaRPr lang="ko-KR" sz="4000" dirty="0"/>
          </a:p>
        </p:txBody>
      </p:sp>
      <p:sp>
        <p:nvSpPr>
          <p:cNvPr id="3" name="S18-text319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지층의 아래층에서는 조개 화석이,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위층에서는 고사리 화석이 나왔어요.</a:t>
            </a:r>
            <a:endParaRPr lang="ko-KR" sz="2800" dirty="0"/>
          </a:p>
        </p:txBody>
      </p:sp>
      <p:sp>
        <p:nvSpPr>
          <p:cNvPr id="4" name="S18-card3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8-cardtext3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18-chip322"/>
          <p:cNvSpPr txBox="1"/>
          <p:nvPr/>
        </p:nvSpPr>
        <p:spPr>
          <a:xfrm>
            <a:off x="1991868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8-card323"/>
          <p:cNvSpPr/>
          <p:nvPr/>
        </p:nvSpPr>
        <p:spPr>
          <a:xfrm>
            <a:off x="548640" y="3080512"/>
            <a:ext cx="3453384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8-cardtext324"/>
          <p:cNvSpPr txBox="1"/>
          <p:nvPr/>
        </p:nvSpPr>
        <p:spPr>
          <a:xfrm>
            <a:off x="822960" y="3217672"/>
            <a:ext cx="2904744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땅이었다가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바다가 되었어요.</a:t>
            </a:r>
            <a:endParaRPr lang="ko-KR" sz="2800" dirty="0"/>
          </a:p>
        </p:txBody>
      </p:sp>
      <p:sp>
        <p:nvSpPr>
          <p:cNvPr id="9" name="S18-chip325"/>
          <p:cNvSpPr txBox="1"/>
          <p:nvPr/>
        </p:nvSpPr>
        <p:spPr>
          <a:xfrm>
            <a:off x="5811012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8-card326"/>
          <p:cNvSpPr/>
          <p:nvPr/>
        </p:nvSpPr>
        <p:spPr>
          <a:xfrm>
            <a:off x="4367784" y="3080512"/>
            <a:ext cx="3453384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327"/>
          <p:cNvSpPr txBox="1"/>
          <p:nvPr/>
        </p:nvSpPr>
        <p:spPr>
          <a:xfrm>
            <a:off x="4642104" y="3217672"/>
            <a:ext cx="2904744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 바다였다가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땅이 되었어요.</a:t>
            </a:r>
            <a:endParaRPr lang="ko-KR" sz="2800" dirty="0"/>
          </a:p>
        </p:txBody>
      </p:sp>
      <p:sp>
        <p:nvSpPr>
          <p:cNvPr id="12" name="S18-chip328"/>
          <p:cNvSpPr txBox="1"/>
          <p:nvPr/>
        </p:nvSpPr>
        <p:spPr>
          <a:xfrm>
            <a:off x="9630156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8-card329"/>
          <p:cNvSpPr/>
          <p:nvPr/>
        </p:nvSpPr>
        <p:spPr>
          <a:xfrm>
            <a:off x="8186928" y="3080512"/>
            <a:ext cx="3453384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8-cardtext330"/>
          <p:cNvSpPr txBox="1"/>
          <p:nvPr/>
        </p:nvSpPr>
        <p:spPr>
          <a:xfrm>
            <a:off x="8461248" y="3217672"/>
            <a:ext cx="2904744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줄곧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바다였어요.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33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33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지층은 알갱이가 층층이 쌓여 굳은 것으로, 아래층이 먼저예요.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화석은 옛날 생물과 환경을 알려 주는 증거예요.</a:t>
            </a:r>
            <a:endParaRPr lang="ko-KR" sz="2800" dirty="0"/>
          </a:p>
        </p:txBody>
      </p:sp>
      <p:sp>
        <p:nvSpPr>
          <p:cNvPr id="5" name="S19-chip33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결과와 화석을 증거로 추리하기</a:t>
            </a:r>
            <a:endParaRPr lang="ko-KR" sz="2200" dirty="0"/>
          </a:p>
        </p:txBody>
      </p:sp>
      <p:sp>
        <p:nvSpPr>
          <p:cNvPr id="6" name="S19-chip33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위층이 먼저 쌓였다고 생각하기</a:t>
            </a:r>
            <a:endParaRPr lang="ko-KR" sz="2200" dirty="0"/>
          </a:p>
        </p:txBody>
      </p:sp>
      <p:sp>
        <p:nvSpPr>
          <p:cNvPr id="7" name="S19-text33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33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지층에서 먼저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 층은?</a:t>
            </a:r>
            <a:endParaRPr lang="ko-KR" sz="2200" dirty="0"/>
          </a:p>
        </p:txBody>
      </p:sp>
      <p:sp>
        <p:nvSpPr>
          <p:cNvPr id="9" name="S19-text33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진흙이 굳어 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퇴적암은?</a:t>
            </a:r>
            <a:endParaRPr lang="ko-KR" sz="2200" dirty="0"/>
          </a:p>
        </p:txBody>
      </p:sp>
      <p:sp>
        <p:nvSpPr>
          <p:cNvPr id="10" name="S19-text33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조개 화석이 나온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곳의 옛날 모습은?</a:t>
            </a:r>
            <a:endParaRPr lang="ko-KR" sz="2200" dirty="0"/>
          </a:p>
        </p:txBody>
      </p:sp>
      <p:sp>
        <p:nvSpPr>
          <p:cNvPr id="11" name="S19-text33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빛의 반사와 굴절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흐르는 물이 하는 일</a:t>
            </a:r>
            <a:endParaRPr lang="ko-KR" sz="4000" dirty="0"/>
          </a:p>
        </p:txBody>
      </p:sp>
      <p:sp>
        <p:nvSpPr>
          <p:cNvPr id="3" name="S20-text3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물은 땅을 바꿔요.</a:t>
            </a:r>
            <a:endParaRPr lang="ko-KR" sz="2800" dirty="0"/>
          </a:p>
        </p:txBody>
      </p:sp>
      <p:sp>
        <p:nvSpPr>
          <p:cNvPr id="4" name="S20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0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 크기: 자갈 &gt; 모래 &gt; 진흙</a:t>
            </a:r>
            <a:endParaRPr lang="ko-KR" sz="2800" dirty="0"/>
          </a:p>
        </p:txBody>
      </p:sp>
      <p:sp>
        <p:nvSpPr>
          <p:cNvPr id="6" name="S20-card34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0-cardtext34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흙과 돌을 깎아요.</a:t>
            </a:r>
            <a:endParaRPr lang="ko-KR" sz="2800" dirty="0"/>
          </a:p>
        </p:txBody>
      </p:sp>
      <p:sp>
        <p:nvSpPr>
          <p:cNvPr id="8" name="S20-card34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0-cardtext34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깎인 알갱이를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실어 날라요.</a:t>
            </a:r>
            <a:endParaRPr lang="ko-KR" sz="2800" dirty="0"/>
          </a:p>
        </p:txBody>
      </p:sp>
      <p:sp>
        <p:nvSpPr>
          <p:cNvPr id="10" name="S20-card34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34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느려지는 곳에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알갱이가 쌓여요.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지층과 화석</dc:title>
  <dc:subject>KR22-G05-SCI-STRATA-L01</dc:subject>
  <dc:creator>education-ppt</dc:creator>
  <cp:lastModifiedBy>education-ppt</cp:lastModifiedBy>
  <cp:revision>1</cp:revision>
  <dcterms:created xsi:type="dcterms:W3CDTF">2026-10-26T13:27:00Z</dcterms:created>
  <dcterms:modified xsi:type="dcterms:W3CDTF">2026-10-26T13:27:00Z</dcterms:modified>
</cp:coreProperties>
</file>