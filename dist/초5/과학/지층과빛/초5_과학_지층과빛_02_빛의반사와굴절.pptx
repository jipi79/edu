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d0e5b1-4a01-12ef-ad1a-03efe18118fd}">
          <p14:sldIdLst>
            <p14:sldId id="256"/>
            <p14:sldId id="257"/>
          </p14:sldIdLst>
        </p14:section>
        <p14:section name="연습" id="{747e9b39-02c6-3621-00a0-247ffbf8fe46}">
          <p14:sldIdLst>
            <p14:sldId id="258"/>
            <p14:sldId id="259"/>
            <p14:sldId id="260"/>
            <p14:sldId id="263"/>
            <p14:sldId id="264"/>
            <p14:sldId id="265"/>
            <p14:sldId id="266"/>
            <p14:sldId id="267"/>
            <p14:sldId id="270"/>
          </p14:sldIdLst>
        </p14:section>
        <p14:section name="개념" id="{6bea2eba-fd0f-70db-a2da-917e13d926b6}">
          <p14:sldIdLst>
            <p14:sldId id="261"/>
            <p14:sldId id="262"/>
            <p14:sldId id="268"/>
            <p14:sldId id="269"/>
          </p14:sldIdLst>
        </p14:section>
        <p14:section name="연습" id="{cc45d2dd-6d14-cba8-69ce-8acbd337f84e}">
          <p14:sldIdLst/>
        </p14:section>
        <p14:section name="개념" id="{1b4dca25-3ae9-fe02-18e9-d69bd8142e06}">
          <p14:sldIdLst/>
        </p14:section>
        <p14:section name="연습" id="{0164132f-a7ca-90bb-ddd9-2227bfa94392}">
          <p14:sldIdLst/>
        </p14:section>
        <p14:section name="확인" id="{0584dd0a-d598-fd8b-97d1-a1ed6b1e0fbc}">
          <p14:sldIdLst>
            <p14:sldId id="271"/>
            <p14:sldId id="272"/>
            <p14:sldId id="273"/>
          </p14:sldIdLst>
        </p14:section>
        <p14:section name="정리" id="{84721138-54c6-e057-da89-2924aa840ab2}">
          <p14:sldIdLst>
            <p14:sldId id="274"/>
          </p14:sldIdLst>
        </p14:section>
        <p14:section name="보충" id="{f78f6b85-0bf9-723e-d1a7-75ba66edbcc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빛이 나아가는 모습에 궁금증을 갖게 합니다.
시간: 약 1분
이렇게 말해 보세요
- “물컵에 숟가락을 넣으면 숟가락이 꺾여 보이는 것 본 적 있어? 정말 꺾였을까?”
- “오늘은 손전등, 거울, 물컵, 돋보기로 빛이 어떻게 나아가는지 직접 알아볼 거야.”
예상 답
- “꺾여 보였어요.” “물이 숟가락을 휘게 해요.” 어떤 답이든 괜찮습니다. 답을 확인하지 않고 넘어갑니다.
막히면
- 물컵과 숟가락을 보여 주기만 하고, 관찰은 S11에서 합니다.
주의
- S04는 방을 어둡게 해야 잘 보입니다. 커튼을 칠 수 있는 방이나 저녁 시간을 고릅니다.
- 돋보기나 거울로 해를 보거나, 돋보기로 햇빛을 종이에 모으지 않습니다(눈을 다치거나 불이 날 수 있음). 오늘 실험은 모두 실내에서 손전등과 방 불빛으로만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확인(관찰 기록하기)]
목적: 초3 ‘관찰 기록하기’(KR22-G03-SCI-RECORD-L01)에서 배운 관찰 기록의 요소와, 예상과 결과를 나누어 쓰는 까닭을 확인합니다. 오늘은 실험 두 가지를 예상하고 기록합니다.
시간: 약 2분
이렇게 말해 보세요
- “① 관찰한 것을 기록할 때 꼭 써야 하는 것을 두 가지 말해 볼래?”
- “② 예상과 결과를 왜 따로 써야 할까?”
정답
- ① 날짜·시각, 관찰 대상, 조건, 측정값과 단위, 그림 메모 가운데 두 가지
- ② 실제로 일어난 일(결과)을 내 생각(예상)과 섞지 않고 비교하기 위해서. 예상이 틀려도 결과는 본 대로 씁니다.
막히면
- ①②가 흔들리면 S20(보충)을 먼저 합니다. 보충으로도 어려우면 초3 ‘관찰 기록하기’를 먼저 다시 봅니다.
주의
- ②는 ‘예상이 틀려도 괜찮다’는 말을 이끌어 내면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예상하기(그림자, 거울)]
목적: 손전등 실험을 하기 전에 결과를 예상하고 까닭을 말합니다(목표 A). 결과는 S04에서 확인합니다.
시간: 약 1분
이렇게 말해 보세요
- “손전등과 벽 사이에 컵을 놓으면 벽에 무엇이 생길까? 어떤 모양일까?”
- “손전등 빛을 거울에 비추면 빛은 어디로 갈까? 예상은 활동지 1에 써 줘.”
예상 답
- 어떤 예상이든 괜찮습니다. “그림자가 생겨요.” “거울이 빛을 막아요.” “빛이 거울에 들어가 버려요.”
막히면
- 쓰기가 느리면 부모가 받아 적고 아이는 말로 예상합니다.
주의
- 결과를 알려 주지 않습니다. ‘반사’라는 말은 S07에서 처음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그림자와 거울 실험]
목적: 어두운 방에서 손전등으로 그림자를 만들고, 손거울로 손전등 빛의 방향을 바꾸어 벽에 보내며 관찰합니다(목표 A, 오해 M1·M2).
시간: 약 4분
이렇게 말해 보세요
- “손전등과 벽 사이에 컵을 놓아 볼까? 벽에 무엇이 생겼어? 모양은?”
- “이번엔 손거울로 손전등 빛을 받아서 벽에 붙인 종이 과녁에 보내 볼래? 거울을 조금씩 기울여 봐.”
- “손전등을 끄면 벽의 밝은 곳은 어떻게 돼?”
예상 답
- “컵 모양 그림자가 생겼어요.” “거울을 기울이니까 빛이 다른 곳으로 가요.” “손전등을 끄니까 밝은 곳이 없어졌어요.”
막히면
- 그림자가 흐리면 방을 더 어둡게 하고, 컵 대신 두꺼운 종이를 오린 모양(별, 세모)을 씁니다.
- 과녁 맞히기가 어려우면 부모가 손전등을 고정해 주고 아이는 거울만 움직입니다.
주의
- 손전등 빛과 거울에 반사된 빛을 사람 눈에 비추지 않습니다.
- 유리 손거울을 떨어뜨리지 않게 책상 위에서 합니다. 있으면 깨지지 않는 거울(아크릴 거울)을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정리(그림자, 거울)]
목적: 손전등 실험의 결과를 정리하고 예상과 비교합니다(목표 A).
시간: 약 2분
이렇게 말해 보세요
- “활동지 1을 보면서 한 줄씩 말해 줄래?”
- “예상과 다른 것이 있었어?”
예상 답
- 보통: 컵 그림자 / 컵과 모양이 닮음 / 거울에서 방향이 바뀌어 다른 곳(과녁)으로 감 / 밝은 곳이 사라짐
막히면
- 손전등을 다시 켜고 한 가지씩 다시 해 보며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설명하기(빛의 직진과 그림자)]
목적: 그림자 결과를 증거로 빛이 곧게 나아간다(직진)는 것을 정리합니다(목표 A).
시간: 약 2분
이렇게 말해 보세요
- “빛은 손전등에서 나와 곧게 나아가. 이것을 빛의 ‘직진’이라고 해.”
- “곧게 가던 빛이 컵에 막히면 컵 뒤로는 빛이 가지 못하지? 그래서 그림자가 생겨.”
- “빛이 곧게 나아가니까 그림자 모양은 물체와 어떨까?”
예상 답
- “그림자가 컵 모양이랑 닮았어요.”
막히면
- 손전등과 컵 사이에 실이나 막대를 대어 빛이 지나는 길을 직선으로 보여 줍니다.
주의
- 그림자의 크기가 물체와 손전등의 거리에 따라 달라지는 것은 이 차시에서 다루지 않습니다. 아이가 발견하면 칭찬하고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결과로 설명하기(반사와 거울의 쓰임)]
목적: 거울 실험 결과를 증거로 반사를 정리하고 거울의 쓰임과 잇습니다(목표 A, 오해 M1).
시간: 약 3분
이렇게 말해 보세요
- “손전등 빛이 거울에 부딪치니 어떻게 됐지? 방향이 바뀌어서 벽으로 갔어. 이것을 빛의 ‘반사’라고 해.”
- “거울을 기울이니까 빛이 가는 곳도 바뀌었지? 거울로 빛의 방향을 바꿀 수 있어.”
- “우리 생활에서 거울로 빛의 방향을 바꾸어 쓰는 곳이 어디 있을까?”
예상 답
- “자동차 옆거울이요.” “세면대 거울이요.” “무용실 거울이요.”
막히면
- 자동차 옆거울 사진 대신, 손거울을 어깨 위에 들고 뒤에 있는 물건을 비춰 보게 합니다.
주의
- 거울에 비친 모습은 왼쪽과 오른쪽이 바뀌어 보입니다. 아이가 물으면 거울 앞에서 오른손을 들어 보게 합니다.
- 빛이 들어오는 각과 나가는 각이 같다는 규칙은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비교(거울이 빛을 낸다)]
목적: 거울이 스스로 빛을 낸다는 생각을 실험 결과(손전등을 끄면 밝은 곳이 사라짐)로 바로잡습니다(목표 A, 오해 M1).
시간: 약 2분
이렇게 말해 보세요
- “토끼는 거울이 빛을 냈다고 하고, 곰은 손전등 빛이 거울에서 반사된 거래. 누구 말이 맞을까?”
- “손전등을 껐을 때 벽은 어땠지? 그게 무엇의 증거일까?”
정답
- 곰. 증거: 손전등을 끄자 벽의 밝은 곳이 사라졌습니다. 거울은 스스로 빛을 내지 않고, 들어온 빛의 방향을 바꿀 뿐입니다.
막히면
- 어두운 방에서 손전등을 끈 채 거울을 벽에 비춰 보게 합니다. 밝은 곳이 생기지 않습니다.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속 직진과 반사 구별하기]
목적: 생활 속 장면을 빛의 직진과 반사로 설명하는 연습을 합니다(목표 A).
시간: 약 2분
이렇게 말해 보세요
- “①부터 차례로 말해 볼래? 빛이 곧게 가다 막힌 걸까, 거울 같은 것에 부딪쳐 방향이 바뀐 걸까?”
정답
- ① 직진(빛이 손에 막혀 손 모양 그림자가 생김)
- ② 반사(뒤차에서 온 빛이 옆거울에서 방향이 바뀌어 눈으로 옴)
- ③ 반사(잔잔한 물 표면이 거울처럼 빛을 반사함)
막히면
- S06과 S07의 그림을 나란히 보여 주고 어느 쪽과 비슷한지 고르게 합니다.
주의
- ③은 물 표면에서 빛의 일부가 반사되어 생깁니다. ‘거울처럼’이라고 말하면 맞습니다.
- 지치면 여기서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실험 전 예상하기(물컵 속 빨대, 돋보기)]
목적: 물컵 속 빨대와 돋보기를 관찰하기 전에 결과를 예상합니다(목표 B). 결과는 S11에서 확인합니다.
시간: 약 1분
이렇게 말해 보세요
- “물이 든 컵에 빨대를 비스듬히 넣고 옆에서 보면 어떻게 보일까?”
- “돋보기로 글자를 보면 어떻게 보일까? 돋보기는 가운데와 가장자리 중 어디가 두꺼울까?”
예상 답
- 어떤 예상이든 괜찮습니다. “그대로 보여요.” “글자가 커 보여요.” “두께는 같을 것 같아요.”
막히면
- “수영장에서 물속 다리를 본 적 있어?”라고 경험을 떠올리게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물컵 속 빨대와 돋보기 관찰]
목적: 물컵 속 빨대가 물 표면에서 꺾여 보이는 것과, 돋보기로 본 글자가 크게 보이는 것을 관찰하고 돋보기의 생김새를 확인합니다(목표 B, 오해 M3).
시간: 약 4분
이렇게 말해 보세요
- “빨대를 물컵에 비스듬히 넣고, 눈을 물 높이에 맞춰 옆에서 볼래? 빨대가 어떻게 보여?”
- “빨대를 꺼내 볼까? 빨대는 정말 꺾였어?”
- “돋보기를 글자 위에 대고 천천히 들어 올려 봐. 글자가 어떻게 보여? 돋보기 가운데와 가장자리를 손가락으로 살짝 잡아 두께를 비교해 봐.”
예상 답
- “물 표면에서 빨대가 꺾여(끊어져) 보여요.” “꺼내니까 곧아요.” “글자가 크게 보여요.” “돋보기는 가운데가 더 두꺼워요.”
막히면
- 빨대가 잘 꺾여 보이지 않으면 빨대를 더 비스듬히 넣고, 컵 옆면과 물 표면이 만나는 높이에서 봅니다.
- 돋보기가 없으면 투명한 비닐을 신문 위에 덮고 물 한 방울을 떨어뜨려 물방울로 글자를 봅니다(물방울도 가운데가 볼록한 렌즈 구실을 함).
주의
- 돋보기를 글자에서 많이 떼면 흐려지다가 작고 거꾸로 보일 수 있습니다. 결과대로 말하게 합니다.
- 돋보기는 실내에서만 쓰고, 해를 보거나 햇빛을 종이에 모으지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관찰 결과 정리(빨대, 돋보기)]
목적: 빨대와 돋보기 관찰 결과를 정리하고 예상과 비교합니다(목표 B).
시간: 약 2분
이렇게 말해 보세요
- “활동지 2를 보면서 한 줄씩 말해 줄래?”
- “빨대가 꺾여 보였는데, 꺼내니 어땠지? 이상하지 않아?”
예상 답
- 보통: 물 표면에서 꺾여(끊어져) 보임 / 곧음 / 글자가 크게 보임(많이 떼면 흐려지거나 거꾸로 보임) / 가운데가 두꺼움
막히면
- 빨대를 다시 넣었다 빼며 차례로 말하게 합니다.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결과로 설명하기(빛의 굴절)]
목적: 빨대 관찰 결과를 증거로 빛의 굴절을 정리합니다(목표 B, 오해 M3).
시간: 약 2분
이렇게 말해 보세요
- “빨대는 곧은데 왜 꺾여 보였을까? 빨대에서 나온 빛이 물에서 공기로 나올 때 꺾여서 우리 눈에 들어오기 때문이야.”
- “이렇게 빛이 공기와 물처럼 서로 다른 물질의 경계에서 꺾여 나아가는 것을 ‘굴절’이라고 해.”
예상 답
- “빛이 꺾여서 빨대가 꺾여 보인 거예요.”
막히면
- 그림의 점선(꺾이지 않았다면 갔을 길)과 실제 빛의 길(화살표)을 손가락으로 따라가게 합니다.
주의
- 그림의 꺾인 정도는 물과 공기에서 실제로 꺾이는 비율에 맞춰 그렸습니다. 빛이 물에서 공기로 비스듬히 나올 때 꺾이고, 경계에 수직으로 나오면 꺾이지 않습니다. 이 차시에서는 ‘비스듬히 지날 때 꺾인다’까지만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볼록 렌즈의 생김새와 쓰임]
목적: 돋보기 관찰을 이어 볼록 렌즈의 생김새와 하는 일, 쓰임을 정리합니다(목표 B).
시간: 약 2분
이렇게 말해 보세요
- “돋보기처럼 가운데가 가장자리보다 두꺼운 렌즈를 ‘볼록 렌즈’라고 해.”
- “빛이 볼록 렌즈를 지나면서 굴절해서 한곳으로 모여. 그래서 가까운 물체를 크게 볼 수 있어.”
- “볼록 렌즈를 쓰는 물건에는 무엇이 있을까?”
예상 답
- “돋보기요.” “현미경이요.” “망원경이요.” “사진기요.”
막히면
- 돋보기를 다시 손에 쥐고 가운데와 가장자리를 비교하게 합니다.
주의
- 햇빛이 볼록 렌즈로 모인 곳은 매우 뜨거워져 종이에 불이 붙을 수 있습니다. 이 실험은 하지 않습니다. 아이가 해 보자고 하면 왜 위험한지 이야기합니다.
- 볼록 렌즈로 해를 보면 눈을 크게 다칩니다. 거울로 햇빛을 반사해 사람 눈에 비추는 것도 위험합니다.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오개념 비교(빨대가 정말 꺾였다)]
목적: 물속 빨대가 실제로 휘었다는 생각을 관찰 결과(꺼낸 빨대는 곧음)로 바로잡습니다(목표 B, 오해 M3).
시간: 약 2분
이렇게 말해 보세요
- “토끼는 물이 빨대를 휘게 했대. 곰은 빛이 꺾여서 꺾여 보일 뿐이래. 누구 말이 맞을까?”
- “무엇을 보면 알 수 있었지?”
정답
- 곰. 증거: 빨대를 꺼내 보니 곧았습니다. 빨대는 그대로이고, 빨대에서 온 빛이 물 표면에서 굴절해 꺾여 보였습니다.
막히면
- 빨대를 넣은 채 손가락으로 물속 빨대를 따라 만져 보게 합니다. 손으로는 곧게 느껴집니다.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혼자 해결]
목적: 도움 없이 생활 속 현상을 직진(①)·반사(②)·굴절(③)로 설명하고 볼록 렌즈의 쓰임(④)을 말하는지 확인합니다(목표 A·B).
시간: 약 3분
이렇게 말해 보세요
- “이번에는 혼자 답해 볼래? 왜 그렇게 생각했는지도 말해 줘.”
정답
- ① 빛이 곧게 나아가는데 나무가 빛을 막기 때문(직진)
- ② 반사
- ③ 굴절(바닥에서 온 빛이 물 표면에서 꺾여 눈에 들어오기 때문)
- ④ 돋보기, 현미경, 망원경, 사진기 가운데 두 가지
막히면
- 바로 알려 주지 말고 “오늘 실험 가운데 무엇과 비슷해?”라고만 묻습니다.
- 도움을 받아 해결했다면 기록표에 ‘도움’으로 표시합니다.
주의
- ③에서 ‘물이 바닥을 올려서’처럼 말하면 오해 M3입니다. S13·S15를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정답과 피드백]
목적: 아이의 답을 함께 확인하고 흔한 실수를 바로잡습니다. 수업용에만 있는 장입니다.
시간: 약 1분
이렇게 말해 보세요
- “네 답과 같은지 볼까? 다르면 어디서 달라졌는지 찾아보자.”
정답
- ① 직진(빛이 막힘) ② 반사 ③ 굴절 ④ 돋보기·현미경·망원경·사진기 중 두 가지
막히면
- ①이 틀리면 S06으로, ②가 틀리면 S07·S08로, ③이 틀리면 S13·S15로, ④가 틀리면 S14로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마무리 확인(직진·반사·굴절 구별)]
목적: 처음 보는 세 장면에서 굴절로 생기는 일을 고르고, 나머지가 직진·반사 때문임을 말하는지 확인합니다(목표 A·B).
시간: 약 2분
이렇게 말해 보세요
- “세 가지 가운데 빛이 꺾여서 생기는 일은 무엇일까? 다른 두 가지는 무엇 때문일까?”
정답
- 나. 물에서 공기로 나오는 빛이 꺾여(굴절) 다리가 짧아 보입니다. 가는 반사, 다는 빛의 직진(그림자) 때문입니다.
막히면
- 세 장면을 ‘거울·물·막힘’ 낱말로 먼저 짚어 보게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정리와 다음 수업 복습]
목적: 핵심을 정리하고 다음 수업 첫 5분에 풀 복습 문제를 알려 줍니다.
시간: 약 1분
이렇게 말해 보세요
- “물속 빨대가 왜 꺾여 보이는지, 이제 설명해 볼래?”
예상 답
- “빨대에서 온 빛이 물에서 공기로 나올 때 꺾여서(굴절) 그래요.”
정답
- ① 그림자 ② 반사 ③ 가운데가 가장자리보다 두꺼운 렌즈
막히면
- S06, S07, S13, S14를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선수 학습 보충(관찰 기록하기)]
목적: S02가 흔들리면, 관찰 기록에 쓸 것과 예상·결과를 나누어 쓰는 방법을 먼저 익힙니다.
시간: 약 4분
이렇게 말해 보세요
- “오늘 날짜와 지금 시각을 써 볼까? 무엇을 관찰할지(대상), 어떻게 놓았는지(조건)도 써 보자.”
- “예상은 ‘실험 전에 내 생각’, 결과는 ‘실험에서 본 것’이야. 예상이 틀려도 결과는 본 대로 써.”
예상 답
- “10월 26일 오후 4시, 물컵 속 빨대, 물을 반쯤 담음.”
막히면
- 활동지 1의 표에서 ‘내 예상’ 칸과 ‘결과’ 칸을 손가락으로 짚으며 어느 칸에 무엇을 쓰는지 말하게 합니다.
주의
- 계획상 선수 차시는 초3 ‘관찰 기록하기’(KR22-G03-SCI-RECORD-L01)입니다.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지층과빛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반사와 굴절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 빨대는 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돋보기(볼록 렌즈) 그림"/>
          <p:cNvSpPr/>
          <p:nvPr/>
        </p:nvSpPr>
        <p:spPr>
          <a:xfrm>
            <a:off x="8267700" y="723900"/>
            <a:ext cx="1992207" cy="1992207"/>
          </a:xfrm>
          <a:prstGeom prst="ellipse">
            <a:avLst/>
          </a:prstGeom>
          <a:solidFill>
            <a:srgbClr val="DBEAFE"/>
          </a:solidFill>
          <a:ln w="508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991725" y="2447925"/>
            <a:ext cx="1034415" cy="1034415"/>
          </a:xfrm>
          <a:prstGeom prst="line">
            <a:avLst/>
          </a:prstGeom>
          <a:noFill/>
          <a:ln w="177800">
            <a:solidFill>
              <a:srgbClr val="4B5563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빛이 곧게 나아가고 거울에서 반사되는 것을 관찰해요.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빛의 굴절과 볼록 렌즈의 쓰임을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 떠올리기</a:t>
            </a:r>
            <a:endParaRPr lang="ko-KR" sz="4000" dirty="0"/>
          </a:p>
        </p:txBody>
      </p:sp>
      <p:sp>
        <p:nvSpPr>
          <p:cNvPr id="3" name="S02-chip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꼭 써야 하는 것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 무엇인가요?</a:t>
            </a:r>
            <a:endParaRPr lang="ko-KR" sz="2800" dirty="0"/>
          </a:p>
        </p:txBody>
      </p:sp>
      <p:sp>
        <p:nvSpPr>
          <p:cNvPr id="5" name="S02-chip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9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결과를 나누어 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손전등으로 벽을 비추며 실험해요.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컵을 두면 벽에 무엇이 생길까요?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모양은 컵과 어떨까요?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거울에 비춘 빛은 어디로 갈까요?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손전등으로 실험해요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빛을 사람 눈에 비추지 않아요.</a:t>
            </a:r>
            <a:endParaRPr lang="ko-KR" sz="2800" dirty="0"/>
          </a:p>
        </p:txBody>
      </p:sp>
      <p:sp>
        <p:nvSpPr>
          <p:cNvPr id="5" name="S04-figure16" descr="옆에서 본 실험 배치: 왼쪽에 손전등, 가운데에 컵, 오른쪽에 벽"/>
          <p:cNvSpPr/>
          <p:nvPr/>
        </p:nvSpPr>
        <p:spPr>
          <a:xfrm>
            <a:off x="7293513" y="2826776"/>
            <a:ext cx="768584" cy="240182"/>
          </a:xfrm>
          <a:custGeom>
            <a:avLst/>
            <a:gdLst/>
            <a:ahLst/>
            <a:cxnLst/>
            <a:rect l="l" t="t" r="r" b="b"/>
            <a:pathLst>
              <a:path w="768584" h="240182">
                <a:moveTo>
                  <a:pt x="0" y="240182"/>
                </a:moveTo>
                <a:lnTo>
                  <a:pt x="768584" y="240182"/>
                </a:lnTo>
                <a:lnTo>
                  <a:pt x="768584" y="0"/>
                </a:lnTo>
                <a:lnTo>
                  <a:pt x="0" y="0"/>
                </a:lnTo>
                <a:close/>
              </a:path>
            </a:pathLst>
          </a:custGeom>
          <a:solidFill>
            <a:srgbClr val="9CA3A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7"/>
          <p:cNvSpPr/>
          <p:nvPr/>
        </p:nvSpPr>
        <p:spPr>
          <a:xfrm>
            <a:off x="8062097" y="2706685"/>
            <a:ext cx="240182" cy="480365"/>
          </a:xfrm>
          <a:custGeom>
            <a:avLst/>
            <a:gdLst/>
            <a:ahLst/>
            <a:cxnLst/>
            <a:rect l="l" t="t" r="r" b="b"/>
            <a:pathLst>
              <a:path w="240182" h="480365">
                <a:moveTo>
                  <a:pt x="0" y="417917"/>
                </a:moveTo>
                <a:lnTo>
                  <a:pt x="240182" y="480365"/>
                </a:lnTo>
                <a:lnTo>
                  <a:pt x="240182" y="0"/>
                </a:lnTo>
                <a:lnTo>
                  <a:pt x="0" y="62447"/>
                </a:lnTo>
                <a:close/>
              </a:path>
            </a:pathLst>
          </a:custGeom>
          <a:solidFill>
            <a:srgbClr val="6B72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8"/>
          <p:cNvSpPr/>
          <p:nvPr/>
        </p:nvSpPr>
        <p:spPr>
          <a:xfrm>
            <a:off x="9190954" y="2442484"/>
            <a:ext cx="528401" cy="768584"/>
          </a:xfrm>
          <a:custGeom>
            <a:avLst/>
            <a:gdLst/>
            <a:ahLst/>
            <a:cxnLst/>
            <a:rect l="l" t="t" r="r" b="b"/>
            <a:pathLst>
              <a:path w="528401" h="768584">
                <a:moveTo>
                  <a:pt x="72055" y="768584"/>
                </a:moveTo>
                <a:lnTo>
                  <a:pt x="456347" y="768584"/>
                </a:lnTo>
                <a:lnTo>
                  <a:pt x="5284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04-mark19"/>
          <p:cNvSpPr/>
          <p:nvPr/>
        </p:nvSpPr>
        <p:spPr>
          <a:xfrm>
            <a:off x="11136432" y="1673901"/>
            <a:ext cx="168128" cy="1537167"/>
          </a:xfrm>
          <a:custGeom>
            <a:avLst/>
            <a:gdLst/>
            <a:ahLst/>
            <a:cxnLst/>
            <a:rect l="l" t="t" r="r" b="b"/>
            <a:pathLst>
              <a:path w="168128" h="1537167">
                <a:moveTo>
                  <a:pt x="0" y="1537167"/>
                </a:moveTo>
                <a:lnTo>
                  <a:pt x="168128" y="1537167"/>
                </a:lnTo>
                <a:lnTo>
                  <a:pt x="168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6D3D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20"/>
          <p:cNvSpPr/>
          <p:nvPr/>
        </p:nvSpPr>
        <p:spPr>
          <a:xfrm>
            <a:off x="7149404" y="3211068"/>
            <a:ext cx="398702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label22"/>
          <p:cNvSpPr txBox="1"/>
          <p:nvPr/>
        </p:nvSpPr>
        <p:spPr>
          <a:xfrm>
            <a:off x="7332315" y="2291878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</a:t>
            </a:r>
            <a:endParaRPr lang="ko-KR" sz="2200" dirty="0"/>
          </a:p>
        </p:txBody>
      </p:sp>
      <p:sp>
        <p:nvSpPr>
          <p:cNvPr id="11" name="S04-label24"/>
          <p:cNvSpPr txBox="1"/>
          <p:nvPr/>
        </p:nvSpPr>
        <p:spPr>
          <a:xfrm>
            <a:off x="9263385" y="197964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200" dirty="0"/>
          </a:p>
        </p:txBody>
      </p:sp>
      <p:sp>
        <p:nvSpPr>
          <p:cNvPr id="12" name="S04-label26"/>
          <p:cNvSpPr txBox="1"/>
          <p:nvPr/>
        </p:nvSpPr>
        <p:spPr>
          <a:xfrm>
            <a:off x="11026324" y="12350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</a:t>
            </a:r>
            <a:endParaRPr lang="ko-KR" sz="2200" dirty="0"/>
          </a:p>
        </p:txBody>
      </p:sp>
      <p:sp>
        <p:nvSpPr>
          <p:cNvPr id="13" name="S04-card27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8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그림자 모양을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거울을 기울이며 봐요</a:t>
            </a:r>
            <a:endParaRPr lang="ko-KR" sz="2800" dirty="0"/>
          </a:p>
        </p:txBody>
      </p:sp>
      <p:sp>
        <p:nvSpPr>
          <p:cNvPr id="15" name="S04-stepno29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4-text30"/>
          <p:cNvSpPr txBox="1"/>
          <p:nvPr/>
        </p:nvSpPr>
        <p:spPr>
          <a:xfrm>
            <a:off x="1325880" y="16129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방을 어둡게 하고 손전등으로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벽을 비춰요.</a:t>
            </a:r>
            <a:endParaRPr lang="ko-KR" sz="2200" dirty="0"/>
          </a:p>
        </p:txBody>
      </p:sp>
      <p:sp>
        <p:nvSpPr>
          <p:cNvPr id="17" name="S04-stepno31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4-text32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손전등과 벽 사이에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놓아요.</a:t>
            </a:r>
            <a:endParaRPr lang="ko-KR" sz="2200" dirty="0"/>
          </a:p>
        </p:txBody>
      </p:sp>
      <p:sp>
        <p:nvSpPr>
          <p:cNvPr id="19" name="S04-stepno33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04-text34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손거울로 빛을 받아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벽의 과녁에 보내요.</a:t>
            </a:r>
            <a:endParaRPr lang="ko-KR" sz="2200" dirty="0"/>
          </a:p>
        </p:txBody>
      </p:sp>
      <p:sp>
        <p:nvSpPr>
          <p:cNvPr id="21" name="S04-stepno35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" name="S04-text36"/>
          <p:cNvSpPr txBox="1"/>
          <p:nvPr/>
        </p:nvSpPr>
        <p:spPr>
          <a:xfrm>
            <a:off x="1325880" y="415188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손전등을 껐다 켜 보고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2800" dirty="0"/>
          </a:p>
        </p:txBody>
      </p:sp>
      <p:graphicFrame>
        <p:nvGraphicFramePr>
          <p:cNvPr id="6" name="S05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컵을 두었을 때 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그림자의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거울에 비춘 빛이 간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손전등을 끄면 벽의 밝은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곧게 나아가요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곧게 나아가는 것을 빛의 직진이라고 해요.</a:t>
            </a:r>
            <a:endParaRPr lang="ko-KR" sz="2800" dirty="0"/>
          </a:p>
        </p:txBody>
      </p:sp>
      <p:sp>
        <p:nvSpPr>
          <p:cNvPr id="4" name="S06-figure42" descr="손전등(점)에서 나온 빛이 곧게 나아가다 물체에 막혀, 벽에 물체를 닮은 그림자가 생기는 그림. 물체 가장자리를 지나는 빛의 연장선(점선)이 그림자의 끝을 정함"/>
          <p:cNvSpPr/>
          <p:nvPr/>
        </p:nvSpPr>
        <p:spPr>
          <a:xfrm>
            <a:off x="4949398" y="2530101"/>
            <a:ext cx="191257" cy="3169398"/>
          </a:xfrm>
          <a:custGeom>
            <a:avLst/>
            <a:gdLst/>
            <a:ahLst/>
            <a:cxnLst/>
            <a:rect l="l" t="t" r="r" b="b"/>
            <a:pathLst>
              <a:path w="191257" h="3169398">
                <a:moveTo>
                  <a:pt x="0" y="3169398"/>
                </a:moveTo>
                <a:lnTo>
                  <a:pt x="191257" y="3169398"/>
                </a:lnTo>
                <a:lnTo>
                  <a:pt x="191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43"/>
          <p:cNvSpPr/>
          <p:nvPr/>
        </p:nvSpPr>
        <p:spPr>
          <a:xfrm>
            <a:off x="4949398" y="3349773"/>
            <a:ext cx="191257" cy="1530054"/>
          </a:xfrm>
          <a:custGeom>
            <a:avLst/>
            <a:gdLst/>
            <a:ahLst/>
            <a:cxnLst/>
            <a:rect l="l" t="t" r="r" b="b"/>
            <a:pathLst>
              <a:path w="191257" h="1530054">
                <a:moveTo>
                  <a:pt x="0" y="1530054"/>
                </a:moveTo>
                <a:lnTo>
                  <a:pt x="191257" y="1530054"/>
                </a:lnTo>
                <a:lnTo>
                  <a:pt x="191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44"/>
          <p:cNvSpPr/>
          <p:nvPr/>
        </p:nvSpPr>
        <p:spPr>
          <a:xfrm>
            <a:off x="2708962" y="3786931"/>
            <a:ext cx="109290" cy="655737"/>
          </a:xfrm>
          <a:custGeom>
            <a:avLst/>
            <a:gdLst/>
            <a:ahLst/>
            <a:cxnLst/>
            <a:rect l="l" t="t" r="r" b="b"/>
            <a:pathLst>
              <a:path w="109290" h="655737">
                <a:moveTo>
                  <a:pt x="0" y="655737"/>
                </a:moveTo>
                <a:lnTo>
                  <a:pt x="109290" y="655737"/>
                </a:lnTo>
                <a:lnTo>
                  <a:pt x="10929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45"/>
          <p:cNvSpPr/>
          <p:nvPr/>
        </p:nvSpPr>
        <p:spPr>
          <a:xfrm>
            <a:off x="1025902" y="4016439"/>
            <a:ext cx="196721" cy="196721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 flipV="1">
            <a:off x="1124263" y="2694035"/>
            <a:ext cx="3825135" cy="1420765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9" name="S06-mark47"/>
          <p:cNvSpPr/>
          <p:nvPr/>
        </p:nvSpPr>
        <p:spPr>
          <a:xfrm>
            <a:off x="1124263" y="4114800"/>
            <a:ext cx="3825135" cy="1420765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06-mark48"/>
          <p:cNvSpPr/>
          <p:nvPr/>
        </p:nvSpPr>
        <p:spPr>
          <a:xfrm flipV="1">
            <a:off x="1124263" y="3786931"/>
            <a:ext cx="1639344" cy="32786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1124263" y="4114800"/>
            <a:ext cx="1639344" cy="32786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 flipV="1">
            <a:off x="2763607" y="3349773"/>
            <a:ext cx="2185792" cy="43715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3" name="S06-mark51"/>
          <p:cNvSpPr/>
          <p:nvPr/>
        </p:nvSpPr>
        <p:spPr>
          <a:xfrm>
            <a:off x="2763607" y="4442669"/>
            <a:ext cx="2185792" cy="43715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S06-label53"/>
          <p:cNvSpPr txBox="1"/>
          <p:nvPr/>
        </p:nvSpPr>
        <p:spPr>
          <a:xfrm>
            <a:off x="932493" y="35303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</a:t>
            </a:r>
            <a:endParaRPr lang="ko-KR" sz="2200" dirty="0"/>
          </a:p>
        </p:txBody>
      </p:sp>
      <p:sp>
        <p:nvSpPr>
          <p:cNvPr id="15" name="S06-label55"/>
          <p:cNvSpPr txBox="1"/>
          <p:nvPr/>
        </p:nvSpPr>
        <p:spPr>
          <a:xfrm>
            <a:off x="2434931" y="322979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</a:t>
            </a:r>
            <a:endParaRPr lang="ko-KR" sz="2200" dirty="0"/>
          </a:p>
        </p:txBody>
      </p:sp>
      <p:sp>
        <p:nvSpPr>
          <p:cNvPr id="16" name="S06-label57"/>
          <p:cNvSpPr txBox="1"/>
          <p:nvPr/>
        </p:nvSpPr>
        <p:spPr>
          <a:xfrm>
            <a:off x="5495846" y="394017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</a:t>
            </a:r>
            <a:endParaRPr lang="ko-KR" sz="2200" dirty="0"/>
          </a:p>
        </p:txBody>
      </p:sp>
      <p:sp>
        <p:nvSpPr>
          <p:cNvPr id="17" name="S06-card58"/>
          <p:cNvSpPr/>
          <p:nvPr/>
        </p:nvSpPr>
        <p:spPr>
          <a:xfrm>
            <a:off x="6491874" y="2586736"/>
            <a:ext cx="5148438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6-cardtext59"/>
          <p:cNvSpPr txBox="1"/>
          <p:nvPr/>
        </p:nvSpPr>
        <p:spPr>
          <a:xfrm>
            <a:off x="6766194" y="2723896"/>
            <a:ext cx="4599798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곧게 가던 빛이 물체에 막히면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그림자가 생겨요.</a:t>
            </a:r>
            <a:endParaRPr lang="ko-KR" sz="2800" dirty="0"/>
          </a:p>
        </p:txBody>
      </p:sp>
      <p:sp>
        <p:nvSpPr>
          <p:cNvPr id="19" name="S06-card60"/>
          <p:cNvSpPr/>
          <p:nvPr/>
        </p:nvSpPr>
        <p:spPr>
          <a:xfrm>
            <a:off x="6491874" y="4446016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6-cardtext61"/>
          <p:cNvSpPr txBox="1"/>
          <p:nvPr/>
        </p:nvSpPr>
        <p:spPr>
          <a:xfrm>
            <a:off x="6766194" y="4583176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그림자는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모양이 닮아요.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거울에서 빛이 반사돼요</a:t>
            </a:r>
            <a:endParaRPr lang="ko-KR" sz="4000" dirty="0"/>
          </a:p>
        </p:txBody>
      </p:sp>
      <p:sp>
        <p:nvSpPr>
          <p:cNvPr id="3" name="S07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거울에 부딪쳐 방향이 바뀌는 것을 반사라고 해요.</a:t>
            </a:r>
            <a:endParaRPr lang="ko-KR" sz="2800" dirty="0"/>
          </a:p>
        </p:txBody>
      </p:sp>
      <p:sp>
        <p:nvSpPr>
          <p:cNvPr id="4" name="S07-figure63" descr="비스듬히 들어온 빛이 거울에 부딪쳐 방향이 바뀌어 나가는 그림(반사)"/>
          <p:cNvSpPr/>
          <p:nvPr/>
        </p:nvSpPr>
        <p:spPr>
          <a:xfrm>
            <a:off x="1119521" y="5068628"/>
            <a:ext cx="4221194" cy="243530"/>
          </a:xfrm>
          <a:custGeom>
            <a:avLst/>
            <a:gdLst/>
            <a:ahLst/>
            <a:cxnLst/>
            <a:rect l="l" t="t" r="r" b="b"/>
            <a:pathLst>
              <a:path w="4221194" h="243530">
                <a:moveTo>
                  <a:pt x="0" y="243530"/>
                </a:moveTo>
                <a:lnTo>
                  <a:pt x="4221194" y="243530"/>
                </a:lnTo>
                <a:lnTo>
                  <a:pt x="4221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7-mark64"/>
          <p:cNvSpPr/>
          <p:nvPr/>
        </p:nvSpPr>
        <p:spPr>
          <a:xfrm>
            <a:off x="1281875" y="3120384"/>
            <a:ext cx="1907655" cy="1907655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6" name="S07-mark65"/>
          <p:cNvSpPr/>
          <p:nvPr/>
        </p:nvSpPr>
        <p:spPr>
          <a:xfrm flipV="1">
            <a:off x="3270706" y="3120384"/>
            <a:ext cx="1907655" cy="1907655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7" name="S07-label67"/>
          <p:cNvSpPr txBox="1"/>
          <p:nvPr/>
        </p:nvSpPr>
        <p:spPr>
          <a:xfrm>
            <a:off x="2901442" y="542165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</a:t>
            </a:r>
            <a:endParaRPr lang="ko-KR" sz="2200" dirty="0"/>
          </a:p>
        </p:txBody>
      </p:sp>
      <p:sp>
        <p:nvSpPr>
          <p:cNvPr id="8" name="S07-label69"/>
          <p:cNvSpPr txBox="1"/>
          <p:nvPr/>
        </p:nvSpPr>
        <p:spPr>
          <a:xfrm>
            <a:off x="825278" y="2580463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들어오는 빛</a:t>
            </a:r>
            <a:endParaRPr lang="ko-KR" sz="2200" dirty="0"/>
          </a:p>
        </p:txBody>
      </p:sp>
      <p:sp>
        <p:nvSpPr>
          <p:cNvPr id="9" name="S07-label71"/>
          <p:cNvSpPr txBox="1"/>
          <p:nvPr/>
        </p:nvSpPr>
        <p:spPr>
          <a:xfrm>
            <a:off x="4209256" y="2580463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나가는 빛</a:t>
            </a:r>
            <a:endParaRPr lang="ko-KR" sz="2200" dirty="0"/>
          </a:p>
        </p:txBody>
      </p:sp>
      <p:sp>
        <p:nvSpPr>
          <p:cNvPr id="10" name="S07-card72"/>
          <p:cNvSpPr/>
          <p:nvPr/>
        </p:nvSpPr>
        <p:spPr>
          <a:xfrm>
            <a:off x="6277356" y="280365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73"/>
          <p:cNvSpPr txBox="1"/>
          <p:nvPr/>
        </p:nvSpPr>
        <p:spPr>
          <a:xfrm>
            <a:off x="6551676" y="294081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거울을 기울이면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가는 곳이 바뀌어요.</a:t>
            </a:r>
            <a:endParaRPr lang="ko-KR" sz="2800" dirty="0"/>
          </a:p>
        </p:txBody>
      </p:sp>
      <p:sp>
        <p:nvSpPr>
          <p:cNvPr id="12" name="S07-card74"/>
          <p:cNvSpPr/>
          <p:nvPr/>
        </p:nvSpPr>
        <p:spPr>
          <a:xfrm>
            <a:off x="6277356" y="422910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7-cardtext75"/>
          <p:cNvSpPr txBox="1"/>
          <p:nvPr/>
        </p:nvSpPr>
        <p:spPr>
          <a:xfrm>
            <a:off x="6551676" y="436626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옆거울은 반사로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뒤를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거울로 벽의 과녁을 밝게 비추었어요.</a:t>
            </a:r>
            <a:endParaRPr lang="ko-KR" sz="28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거울이 빛을 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벽이 밝아졌어요.</a:t>
            </a:r>
            <a:endParaRPr lang="ko-KR" sz="28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 빛이 거울에서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반사되어 벽에 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 때문일까요?</a:t>
            </a:r>
            <a:endParaRPr lang="ko-KR" sz="4000" dirty="0"/>
          </a:p>
        </p:txBody>
      </p:sp>
      <p:sp>
        <p:nvSpPr>
          <p:cNvPr id="3" name="S09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직진과 반사 중 무엇 때문인지 말해요.</a:t>
            </a:r>
            <a:endParaRPr lang="ko-KR" sz="2800" dirty="0"/>
          </a:p>
        </p:txBody>
      </p:sp>
      <p:sp>
        <p:nvSpPr>
          <p:cNvPr id="4" name="S09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막혔나요, 방향이 바뀌었나요?</a:t>
            </a:r>
            <a:endParaRPr lang="ko-KR" sz="2800" dirty="0"/>
          </a:p>
        </p:txBody>
      </p:sp>
      <p:sp>
        <p:nvSpPr>
          <p:cNvPr id="6" name="S09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8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그림자 놀이로 벽에 강아지 모양을 만들어요.</a:t>
            </a:r>
            <a:endParaRPr lang="ko-KR" sz="2800" dirty="0"/>
          </a:p>
        </p:txBody>
      </p:sp>
      <p:sp>
        <p:nvSpPr>
          <p:cNvPr id="8" name="S09-chip8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9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옆거울로 뒤에 오는 차를 봐요.</a:t>
            </a:r>
            <a:endParaRPr lang="ko-KR" sz="2800" dirty="0"/>
          </a:p>
        </p:txBody>
      </p:sp>
      <p:sp>
        <p:nvSpPr>
          <p:cNvPr id="10" name="S09-chip9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9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잔잔한 호수에 산의 모습이 비쳐요.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빨대와 돋보기를 관찰해요.</a:t>
            </a:r>
            <a:endParaRPr lang="ko-KR" sz="2800" dirty="0"/>
          </a:p>
        </p:txBody>
      </p:sp>
      <p:sp>
        <p:nvSpPr>
          <p:cNvPr id="4" name="S10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1" name="S10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물컵 속 빨대를 옆에서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돋보기로 글자를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돋보기에서 더 두꺼운 곳은?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빨대와 돋보기를 봐요</a:t>
            </a:r>
            <a:endParaRPr lang="ko-KR" sz="4000" dirty="0"/>
          </a:p>
        </p:txBody>
      </p:sp>
      <p:sp>
        <p:nvSpPr>
          <p:cNvPr id="3" name="S11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돋보기로 해를 보거나 햇빛을 종이에 모으지 않아요.</a:t>
            </a:r>
            <a:endParaRPr lang="ko-KR" sz="2800" dirty="0"/>
          </a:p>
        </p:txBody>
      </p:sp>
      <p:sp>
        <p:nvSpPr>
          <p:cNvPr id="5" name="S11-figure99" descr="왼쪽: 물을 담은 투명한 컵과 그 위에서 비스듬히 넣으려는 빨대. 오른쪽: 글자가 쓰인 종이 위의 돋보기"/>
          <p:cNvSpPr/>
          <p:nvPr/>
        </p:nvSpPr>
        <p:spPr>
          <a:xfrm>
            <a:off x="7998776" y="2425017"/>
            <a:ext cx="1015317" cy="720547"/>
          </a:xfrm>
          <a:custGeom>
            <a:avLst/>
            <a:gdLst/>
            <a:ahLst/>
            <a:cxnLst/>
            <a:rect l="l" t="t" r="r" b="b"/>
            <a:pathLst>
              <a:path w="1015317" h="720547">
                <a:moveTo>
                  <a:pt x="81880" y="720547"/>
                </a:moveTo>
                <a:lnTo>
                  <a:pt x="933436" y="720547"/>
                </a:lnTo>
                <a:lnTo>
                  <a:pt x="1015317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11-mark100"/>
          <p:cNvSpPr/>
          <p:nvPr/>
        </p:nvSpPr>
        <p:spPr>
          <a:xfrm>
            <a:off x="7966024" y="2162999"/>
            <a:ext cx="1080821" cy="982564"/>
          </a:xfrm>
          <a:custGeom>
            <a:avLst/>
            <a:gdLst/>
            <a:ahLst/>
            <a:cxnLst/>
            <a:rect l="l" t="t" r="r" b="b"/>
            <a:pathLst>
              <a:path w="1080821" h="982564">
                <a:moveTo>
                  <a:pt x="0" y="0"/>
                </a:moveTo>
                <a:lnTo>
                  <a:pt x="114633" y="982564"/>
                </a:lnTo>
                <a:lnTo>
                  <a:pt x="966188" y="982564"/>
                </a:lnTo>
                <a:lnTo>
                  <a:pt x="1080821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1-mark101"/>
          <p:cNvSpPr/>
          <p:nvPr/>
        </p:nvSpPr>
        <p:spPr>
          <a:xfrm>
            <a:off x="9587255" y="2228504"/>
            <a:ext cx="917060" cy="524034"/>
          </a:xfrm>
          <a:custGeom>
            <a:avLst/>
            <a:gdLst/>
            <a:ahLst/>
            <a:cxnLst/>
            <a:rect l="l" t="t" r="r" b="b"/>
            <a:pathLst>
              <a:path w="917060" h="524034">
                <a:moveTo>
                  <a:pt x="0" y="524034"/>
                </a:moveTo>
                <a:lnTo>
                  <a:pt x="917060" y="524034"/>
                </a:lnTo>
                <a:lnTo>
                  <a:pt x="917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102"/>
          <p:cNvSpPr/>
          <p:nvPr/>
        </p:nvSpPr>
        <p:spPr>
          <a:xfrm>
            <a:off x="9751016" y="1802726"/>
            <a:ext cx="589539" cy="589539"/>
          </a:xfrm>
          <a:prstGeom prst="ellipse">
            <a:avLst/>
          </a:prstGeom>
          <a:solidFill>
            <a:srgbClr val="DBEAFE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9" name="S11-mark103"/>
          <p:cNvSpPr/>
          <p:nvPr/>
        </p:nvSpPr>
        <p:spPr>
          <a:xfrm flipV="1">
            <a:off x="10242298" y="1638965"/>
            <a:ext cx="262017" cy="245641"/>
          </a:xfrm>
          <a:prstGeom prst="line">
            <a:avLst/>
          </a:prstGeom>
          <a:noFill/>
          <a:ln w="114300">
            <a:solidFill>
              <a:srgbClr val="4B5563"/>
            </a:solidFill>
            <a:prstDash val="solid"/>
          </a:ln>
        </p:spPr>
      </p:sp>
      <p:sp>
        <p:nvSpPr>
          <p:cNvPr id="10" name="S11-mark104"/>
          <p:cNvSpPr/>
          <p:nvPr/>
        </p:nvSpPr>
        <p:spPr>
          <a:xfrm flipV="1">
            <a:off x="8277170" y="1507956"/>
            <a:ext cx="589539" cy="491282"/>
          </a:xfrm>
          <a:prstGeom prst="line">
            <a:avLst/>
          </a:prstGeom>
          <a:noFill/>
          <a:ln w="114300">
            <a:solidFill>
              <a:srgbClr val="E9762B"/>
            </a:solidFill>
            <a:prstDash val="solid"/>
          </a:ln>
        </p:spPr>
      </p:sp>
      <p:sp>
        <p:nvSpPr>
          <p:cNvPr id="11" name="S11-mark105"/>
          <p:cNvSpPr/>
          <p:nvPr/>
        </p:nvSpPr>
        <p:spPr>
          <a:xfrm>
            <a:off x="8473682" y="2031991"/>
            <a:ext cx="0" cy="262017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1-label107"/>
          <p:cNvSpPr txBox="1"/>
          <p:nvPr/>
        </p:nvSpPr>
        <p:spPr>
          <a:xfrm>
            <a:off x="8314665" y="26434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3" name="S11-label109"/>
          <p:cNvSpPr txBox="1"/>
          <p:nvPr/>
        </p:nvSpPr>
        <p:spPr>
          <a:xfrm>
            <a:off x="9654879" y="2478654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가나다</a:t>
            </a:r>
            <a:endParaRPr lang="ko-KR" sz="1800" dirty="0"/>
          </a:p>
        </p:txBody>
      </p:sp>
      <p:sp>
        <p:nvSpPr>
          <p:cNvPr id="14" name="S11-label111"/>
          <p:cNvSpPr txBox="1"/>
          <p:nvPr/>
        </p:nvSpPr>
        <p:spPr>
          <a:xfrm>
            <a:off x="8865554" y="133333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</a:t>
            </a:r>
            <a:endParaRPr lang="ko-KR" sz="2200" dirty="0"/>
          </a:p>
        </p:txBody>
      </p:sp>
      <p:sp>
        <p:nvSpPr>
          <p:cNvPr id="15" name="S11-card112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1-cardtext113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 표면 높이에서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꺼낸 빨대와 비교해요</a:t>
            </a:r>
            <a:endParaRPr lang="ko-KR" sz="2800" dirty="0"/>
          </a:p>
        </p:txBody>
      </p:sp>
      <p:sp>
        <p:nvSpPr>
          <p:cNvPr id="17" name="S11-stepno114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11-text115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물컵에 빨대를 비스듬히 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봐요.</a:t>
            </a:r>
            <a:endParaRPr lang="ko-KR" sz="2800" dirty="0"/>
          </a:p>
        </p:txBody>
      </p:sp>
      <p:sp>
        <p:nvSpPr>
          <p:cNvPr id="19" name="S11-stepno116"/>
          <p:cNvSpPr txBox="1"/>
          <p:nvPr/>
        </p:nvSpPr>
        <p:spPr>
          <a:xfrm>
            <a:off x="548640" y="2432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11-text117"/>
          <p:cNvSpPr txBox="1"/>
          <p:nvPr/>
        </p:nvSpPr>
        <p:spPr>
          <a:xfrm>
            <a:off x="1325880" y="2432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빨대를 꺼내 모양을 봐요.</a:t>
            </a:r>
            <a:endParaRPr lang="ko-KR" sz="2800" dirty="0"/>
          </a:p>
        </p:txBody>
      </p:sp>
      <p:sp>
        <p:nvSpPr>
          <p:cNvPr id="21" name="S11-stepno118"/>
          <p:cNvSpPr txBox="1"/>
          <p:nvPr/>
        </p:nvSpPr>
        <p:spPr>
          <a:xfrm>
            <a:off x="548640" y="319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2" name="S11-text119"/>
          <p:cNvSpPr txBox="1"/>
          <p:nvPr/>
        </p:nvSpPr>
        <p:spPr>
          <a:xfrm>
            <a:off x="1325880" y="314604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돋보기로 글자를 보며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들어 올려요.</a:t>
            </a:r>
            <a:endParaRPr lang="ko-KR" sz="2800" dirty="0"/>
          </a:p>
        </p:txBody>
      </p:sp>
      <p:sp>
        <p:nvSpPr>
          <p:cNvPr id="23" name="S11-stepno120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4" name="S11-text121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 가운데와 가장자리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두께를 비교해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2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보인 빨대는 정말 꺾였을까요?</a:t>
            </a:r>
            <a:endParaRPr lang="ko-KR" sz="2800" dirty="0"/>
          </a:p>
        </p:txBody>
      </p:sp>
      <p:graphicFrame>
        <p:nvGraphicFramePr>
          <p:cNvPr id="13" name="S12-table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물컵 속 빨대(옆에서)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꺼낸 빨대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돋보기로 본 글자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돋보기에서 두꺼운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꺾여 나아가요</a:t>
            </a:r>
            <a:endParaRPr lang="ko-KR" sz="4000" dirty="0"/>
          </a:p>
        </p:txBody>
      </p:sp>
      <p:sp>
        <p:nvSpPr>
          <p:cNvPr id="3" name="S13-text12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다른 물질의 경계에서 꺾여 나아가는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굴절이라고 해요.</a:t>
            </a:r>
            <a:endParaRPr lang="ko-KR" sz="2800" dirty="0"/>
          </a:p>
        </p:txBody>
      </p:sp>
      <p:sp>
        <p:nvSpPr>
          <p:cNvPr id="4" name="S13-figure127" descr="물속에서 나온 빛이 물과 공기의 경계에서 꺾여 나아가는 그림(물속 30°, 공기 중 약 42°로 실제 비율에 맞춤). 점선은 꺾이지 않았다면 갔을 방향"/>
          <p:cNvSpPr/>
          <p:nvPr/>
        </p:nvSpPr>
        <p:spPr>
          <a:xfrm>
            <a:off x="892210" y="4297172"/>
            <a:ext cx="4675817" cy="1836928"/>
          </a:xfrm>
          <a:custGeom>
            <a:avLst/>
            <a:gdLst/>
            <a:ahLst/>
            <a:cxnLst/>
            <a:rect l="l" t="t" r="r" b="b"/>
            <a:pathLst>
              <a:path w="4675817" h="1836928">
                <a:moveTo>
                  <a:pt x="0" y="1836928"/>
                </a:moveTo>
                <a:lnTo>
                  <a:pt x="4675817" y="1836928"/>
                </a:lnTo>
                <a:lnTo>
                  <a:pt x="4675817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5" name="S13-mark128"/>
          <p:cNvSpPr/>
          <p:nvPr/>
        </p:nvSpPr>
        <p:spPr>
          <a:xfrm>
            <a:off x="892210" y="4297172"/>
            <a:ext cx="467581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13-mark129"/>
          <p:cNvSpPr/>
          <p:nvPr/>
        </p:nvSpPr>
        <p:spPr>
          <a:xfrm flipV="1">
            <a:off x="2311654" y="4297172"/>
            <a:ext cx="918464" cy="1590613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7" name="S13-mark130"/>
          <p:cNvSpPr/>
          <p:nvPr/>
        </p:nvSpPr>
        <p:spPr>
          <a:xfrm flipV="1">
            <a:off x="3230118" y="2925321"/>
            <a:ext cx="1221557" cy="1371851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8" name="S13-mark131"/>
          <p:cNvSpPr/>
          <p:nvPr/>
        </p:nvSpPr>
        <p:spPr>
          <a:xfrm flipV="1">
            <a:off x="3230118" y="2851009"/>
            <a:ext cx="834967" cy="1446163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13-label133"/>
          <p:cNvSpPr txBox="1"/>
          <p:nvPr/>
        </p:nvSpPr>
        <p:spPr>
          <a:xfrm>
            <a:off x="1315004" y="32875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2200" dirty="0"/>
          </a:p>
        </p:txBody>
      </p:sp>
      <p:sp>
        <p:nvSpPr>
          <p:cNvPr id="10" name="S13-label135"/>
          <p:cNvSpPr txBox="1"/>
          <p:nvPr/>
        </p:nvSpPr>
        <p:spPr>
          <a:xfrm>
            <a:off x="4374296" y="51245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1" name="S13-card136"/>
          <p:cNvSpPr/>
          <p:nvPr/>
        </p:nvSpPr>
        <p:spPr>
          <a:xfrm>
            <a:off x="6277356" y="2986024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137"/>
          <p:cNvSpPr txBox="1"/>
          <p:nvPr/>
        </p:nvSpPr>
        <p:spPr>
          <a:xfrm>
            <a:off x="6551676" y="3123184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 빨대에서 온 빛이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표면에서 꺾여요.</a:t>
            </a:r>
            <a:endParaRPr lang="ko-KR" sz="2800" dirty="0"/>
          </a:p>
        </p:txBody>
      </p:sp>
      <p:sp>
        <p:nvSpPr>
          <p:cNvPr id="13" name="S13-card138"/>
          <p:cNvSpPr/>
          <p:nvPr/>
        </p:nvSpPr>
        <p:spPr>
          <a:xfrm>
            <a:off x="6277356" y="441147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39"/>
          <p:cNvSpPr txBox="1"/>
          <p:nvPr/>
        </p:nvSpPr>
        <p:spPr>
          <a:xfrm>
            <a:off x="6551676" y="454863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빛이 눈에 들어와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빨대가 꺾여 보여요.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</a:t>
            </a:r>
            <a:endParaRPr lang="ko-KR" sz="4000" dirty="0"/>
          </a:p>
        </p:txBody>
      </p:sp>
      <p:sp>
        <p:nvSpPr>
          <p:cNvPr id="3" name="S14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가운데가 가장자리보다 두꺼운 렌즈를 볼록 렌즈라고 해요.</a:t>
            </a:r>
            <a:endParaRPr lang="ko-KR" sz="2800" dirty="0"/>
          </a:p>
        </p:txBody>
      </p:sp>
      <p:sp>
        <p:nvSpPr>
          <p:cNvPr id="4" name="S14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햇빛을 모으면 불이 날 수 있어요. 해를 렌즈로 보지 않아요.</a:t>
            </a:r>
            <a:endParaRPr lang="ko-KR" sz="2800" dirty="0"/>
          </a:p>
        </p:txBody>
      </p:sp>
      <p:sp>
        <p:nvSpPr>
          <p:cNvPr id="6" name="S14-figure143" descr="가운데가 가장자리보다 두꺼운 볼록 렌즈를 지난 나란한 빛 세 줄기가 꺾여 한곳에 모이는 그림"/>
          <p:cNvSpPr/>
          <p:nvPr/>
        </p:nvSpPr>
        <p:spPr>
          <a:xfrm>
            <a:off x="2943020" y="2607034"/>
            <a:ext cx="446313" cy="1918252"/>
          </a:xfrm>
          <a:custGeom>
            <a:avLst/>
            <a:gdLst/>
            <a:ahLst/>
            <a:cxnLst/>
            <a:rect l="l" t="t" r="r" b="b"/>
            <a:pathLst>
              <a:path w="446313" h="1918252">
                <a:moveTo>
                  <a:pt x="223157" y="0"/>
                </a:moveTo>
                <a:lnTo>
                  <a:pt x="274949" y="113177"/>
                </a:lnTo>
                <a:lnTo>
                  <a:pt x="319709" y="228911"/>
                </a:lnTo>
                <a:lnTo>
                  <a:pt x="358074" y="346564"/>
                </a:lnTo>
                <a:lnTo>
                  <a:pt x="389405" y="466775"/>
                </a:lnTo>
                <a:lnTo>
                  <a:pt x="414342" y="588264"/>
                </a:lnTo>
                <a:lnTo>
                  <a:pt x="432246" y="711032"/>
                </a:lnTo>
                <a:lnTo>
                  <a:pt x="442477" y="835079"/>
                </a:lnTo>
                <a:lnTo>
                  <a:pt x="446313" y="959126"/>
                </a:lnTo>
                <a:lnTo>
                  <a:pt x="442477" y="1083173"/>
                </a:lnTo>
                <a:lnTo>
                  <a:pt x="432246" y="1207220"/>
                </a:lnTo>
                <a:lnTo>
                  <a:pt x="414342" y="1329988"/>
                </a:lnTo>
                <a:lnTo>
                  <a:pt x="389405" y="1451477"/>
                </a:lnTo>
                <a:lnTo>
                  <a:pt x="358074" y="1571688"/>
                </a:lnTo>
                <a:lnTo>
                  <a:pt x="319709" y="1689341"/>
                </a:lnTo>
                <a:lnTo>
                  <a:pt x="274949" y="1805075"/>
                </a:lnTo>
                <a:lnTo>
                  <a:pt x="223157" y="1918252"/>
                </a:lnTo>
                <a:lnTo>
                  <a:pt x="171364" y="1805075"/>
                </a:lnTo>
                <a:lnTo>
                  <a:pt x="126605" y="1689341"/>
                </a:lnTo>
                <a:lnTo>
                  <a:pt x="88240" y="1571688"/>
                </a:lnTo>
                <a:lnTo>
                  <a:pt x="56908" y="1451477"/>
                </a:lnTo>
                <a:lnTo>
                  <a:pt x="31971" y="1329988"/>
                </a:lnTo>
                <a:lnTo>
                  <a:pt x="14067" y="1207220"/>
                </a:lnTo>
                <a:lnTo>
                  <a:pt x="3837" y="1083173"/>
                </a:lnTo>
                <a:lnTo>
                  <a:pt x="0" y="959126"/>
                </a:lnTo>
                <a:lnTo>
                  <a:pt x="3837" y="835079"/>
                </a:lnTo>
                <a:lnTo>
                  <a:pt x="14067" y="711032"/>
                </a:lnTo>
                <a:lnTo>
                  <a:pt x="31971" y="588264"/>
                </a:lnTo>
                <a:lnTo>
                  <a:pt x="56908" y="466775"/>
                </a:lnTo>
                <a:lnTo>
                  <a:pt x="88240" y="346564"/>
                </a:lnTo>
                <a:lnTo>
                  <a:pt x="126605" y="228911"/>
                </a:lnTo>
                <a:lnTo>
                  <a:pt x="171364" y="113177"/>
                </a:lnTo>
                <a:close/>
              </a:path>
            </a:pathLst>
          </a:custGeom>
          <a:solidFill>
            <a:srgbClr val="DBEAF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4-mark144"/>
          <p:cNvSpPr/>
          <p:nvPr/>
        </p:nvSpPr>
        <p:spPr>
          <a:xfrm>
            <a:off x="1120041" y="2926743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8" name="S14-mark145"/>
          <p:cNvSpPr/>
          <p:nvPr/>
        </p:nvSpPr>
        <p:spPr>
          <a:xfrm>
            <a:off x="3166176" y="2926743"/>
            <a:ext cx="1918252" cy="639417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9" name="S14-mark146"/>
          <p:cNvSpPr/>
          <p:nvPr/>
        </p:nvSpPr>
        <p:spPr>
          <a:xfrm>
            <a:off x="1120041" y="3566160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14-mark147"/>
          <p:cNvSpPr/>
          <p:nvPr/>
        </p:nvSpPr>
        <p:spPr>
          <a:xfrm>
            <a:off x="3166176" y="3566160"/>
            <a:ext cx="1918252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14-mark148"/>
          <p:cNvSpPr/>
          <p:nvPr/>
        </p:nvSpPr>
        <p:spPr>
          <a:xfrm>
            <a:off x="1120041" y="4205577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2" name="S14-mark149"/>
          <p:cNvSpPr/>
          <p:nvPr/>
        </p:nvSpPr>
        <p:spPr>
          <a:xfrm flipV="1">
            <a:off x="3166176" y="3566160"/>
            <a:ext cx="1918252" cy="639417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3" name="S14-label151"/>
          <p:cNvSpPr txBox="1"/>
          <p:nvPr/>
        </p:nvSpPr>
        <p:spPr>
          <a:xfrm>
            <a:off x="2521778" y="2112700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</a:t>
            </a:r>
            <a:endParaRPr lang="ko-KR" sz="2200" dirty="0"/>
          </a:p>
        </p:txBody>
      </p:sp>
      <p:sp>
        <p:nvSpPr>
          <p:cNvPr id="14" name="S14-label153"/>
          <p:cNvSpPr txBox="1"/>
          <p:nvPr/>
        </p:nvSpPr>
        <p:spPr>
          <a:xfrm>
            <a:off x="4618846" y="377518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모여요</a:t>
            </a:r>
            <a:endParaRPr lang="ko-KR" sz="2200" dirty="0"/>
          </a:p>
        </p:txBody>
      </p:sp>
      <p:sp>
        <p:nvSpPr>
          <p:cNvPr id="15" name="S14-card154"/>
          <p:cNvSpPr/>
          <p:nvPr/>
        </p:nvSpPr>
        <p:spPr>
          <a:xfrm>
            <a:off x="6277356" y="225501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155"/>
          <p:cNvSpPr txBox="1"/>
          <p:nvPr/>
        </p:nvSpPr>
        <p:spPr>
          <a:xfrm>
            <a:off x="6551676" y="239217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물체를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볼 수 있어요.</a:t>
            </a:r>
            <a:endParaRPr lang="ko-KR" sz="2800" dirty="0"/>
          </a:p>
        </p:txBody>
      </p:sp>
      <p:sp>
        <p:nvSpPr>
          <p:cNvPr id="17" name="S14-card156"/>
          <p:cNvSpPr/>
          <p:nvPr/>
        </p:nvSpPr>
        <p:spPr>
          <a:xfrm>
            <a:off x="6277356" y="368046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4-cardtext157"/>
          <p:cNvSpPr txBox="1"/>
          <p:nvPr/>
        </p:nvSpPr>
        <p:spPr>
          <a:xfrm>
            <a:off x="6551676" y="381762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돋보기·현미경·망원경·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사진기에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5-card1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빨대가 물 표면에서 꺾여 보였어요.</a:t>
            </a:r>
            <a:endParaRPr lang="ko-KR" sz="2800" dirty="0"/>
          </a:p>
        </p:txBody>
      </p:sp>
      <p:sp>
        <p:nvSpPr>
          <p:cNvPr id="5" name="S15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5-chip1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5-text1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빨대를 휘게 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꺾였어요.</a:t>
            </a:r>
            <a:endParaRPr lang="ko-KR" sz="2800" dirty="0"/>
          </a:p>
        </p:txBody>
      </p:sp>
      <p:sp>
        <p:nvSpPr>
          <p:cNvPr id="9" name="S15-chip1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5-text1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꺾여서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보이는 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1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16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비치면 나무 그림자가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생기는 까닭은?</a:t>
            </a:r>
            <a:endParaRPr lang="ko-KR" sz="2800" dirty="0"/>
          </a:p>
        </p:txBody>
      </p:sp>
      <p:sp>
        <p:nvSpPr>
          <p:cNvPr id="5" name="S16-chip16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16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옆거울로 뒤를 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 빛의 무엇 때문?</a:t>
            </a:r>
            <a:endParaRPr lang="ko-KR" sz="2800" dirty="0"/>
          </a:p>
        </p:txBody>
      </p:sp>
      <p:sp>
        <p:nvSpPr>
          <p:cNvPr id="7" name="S16-chip17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17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담긴 수영장 바닥이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얕아 보이는 까닭은?</a:t>
            </a:r>
            <a:endParaRPr lang="ko-KR" sz="2800" dirty="0"/>
          </a:p>
        </p:txBody>
      </p:sp>
      <p:sp>
        <p:nvSpPr>
          <p:cNvPr id="9" name="S16-chip17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17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렌즈를 쓰는 물건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7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거울은 반사, 물·렌즈는 굴절이에요.</a:t>
            </a:r>
            <a:endParaRPr lang="ko-KR" sz="2800" dirty="0"/>
          </a:p>
        </p:txBody>
      </p:sp>
      <p:sp>
        <p:nvSpPr>
          <p:cNvPr id="5" name="S17-chip1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7-text17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직진</a:t>
            </a:r>
            <a:endParaRPr lang="ko-KR" sz="2800" dirty="0"/>
          </a:p>
        </p:txBody>
      </p:sp>
      <p:sp>
        <p:nvSpPr>
          <p:cNvPr id="7" name="S17-text17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나무에 막힘</a:t>
            </a:r>
            <a:endParaRPr lang="ko-KR" sz="2200" dirty="0"/>
          </a:p>
        </p:txBody>
      </p:sp>
      <p:sp>
        <p:nvSpPr>
          <p:cNvPr id="8" name="S17-text17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반사</a:t>
            </a:r>
            <a:endParaRPr lang="ko-KR" sz="2800" dirty="0"/>
          </a:p>
        </p:txBody>
      </p:sp>
      <p:sp>
        <p:nvSpPr>
          <p:cNvPr id="9" name="S17-text18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바뀜</a:t>
            </a:r>
            <a:endParaRPr lang="ko-KR" sz="2200" dirty="0"/>
          </a:p>
        </p:txBody>
      </p:sp>
      <p:sp>
        <p:nvSpPr>
          <p:cNvPr id="10" name="S17-text18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굴절</a:t>
            </a:r>
            <a:endParaRPr lang="ko-KR" sz="2800" dirty="0"/>
          </a:p>
        </p:txBody>
      </p:sp>
      <p:sp>
        <p:nvSpPr>
          <p:cNvPr id="11" name="S17-text18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표면에서 꺾임</a:t>
            </a:r>
            <a:endParaRPr lang="ko-KR" sz="2200" dirty="0"/>
          </a:p>
        </p:txBody>
      </p:sp>
      <p:sp>
        <p:nvSpPr>
          <p:cNvPr id="12" name="S17-text18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돋보기 등</a:t>
            </a:r>
            <a:endParaRPr lang="ko-KR" sz="2800" dirty="0"/>
          </a:p>
        </p:txBody>
      </p:sp>
      <p:sp>
        <p:nvSpPr>
          <p:cNvPr id="13" name="S17-text18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현미경·망원경</a:t>
            </a:r>
            <a:endParaRPr lang="ko-KR" sz="2200" dirty="0"/>
          </a:p>
        </p:txBody>
      </p:sp>
      <p:sp>
        <p:nvSpPr>
          <p:cNvPr id="14" name="S17-chip18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7-text18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굴절</a:t>
            </a:r>
            <a:endParaRPr lang="ko-KR" sz="2800" dirty="0"/>
          </a:p>
        </p:txBody>
      </p:sp>
      <p:sp>
        <p:nvSpPr>
          <p:cNvPr id="16" name="S17-text18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반사와 굴절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헷갈림</a:t>
            </a:r>
            <a:endParaRPr lang="ko-KR" sz="2200" dirty="0"/>
          </a:p>
        </p:txBody>
      </p:sp>
      <p:sp>
        <p:nvSpPr>
          <p:cNvPr id="17" name="S17-text18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바닥이 올라옴</a:t>
            </a:r>
            <a:endParaRPr lang="ko-KR" sz="2800" dirty="0"/>
          </a:p>
        </p:txBody>
      </p:sp>
      <p:sp>
        <p:nvSpPr>
          <p:cNvPr id="18" name="S17-text18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대로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믿음(M3)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굴절로 생기는 일은?</a:t>
            </a:r>
            <a:endParaRPr lang="ko-KR" sz="4000" dirty="0"/>
          </a:p>
        </p:txBody>
      </p:sp>
      <p:sp>
        <p:nvSpPr>
          <p:cNvPr id="3" name="S18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나머지 둘은 무엇 때문인지도 말해요.</a:t>
            </a:r>
            <a:endParaRPr lang="ko-KR" sz="2800" dirty="0"/>
          </a:p>
        </p:txBody>
      </p:sp>
      <p:sp>
        <p:nvSpPr>
          <p:cNvPr id="5" name="S18-chip19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8-card193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94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얼굴이 비쳐요.</a:t>
            </a:r>
            <a:endParaRPr lang="ko-KR" sz="2800" dirty="0"/>
          </a:p>
        </p:txBody>
      </p:sp>
      <p:sp>
        <p:nvSpPr>
          <p:cNvPr id="8" name="S18-chip19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8-card196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8-cardtext197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넣은 다리가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짧아 보여요.</a:t>
            </a:r>
            <a:endParaRPr lang="ko-KR" sz="2800" dirty="0"/>
          </a:p>
        </p:txBody>
      </p:sp>
      <p:sp>
        <p:nvSpPr>
          <p:cNvPr id="11" name="S18-chip19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8-card199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8-cardtext200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손 그림자가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2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2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곧게 나아가다 거울에서 반사되고,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물질의 경계에서는 굴절해요.</a:t>
            </a:r>
            <a:endParaRPr lang="ko-KR" sz="2800" dirty="0"/>
          </a:p>
        </p:txBody>
      </p:sp>
      <p:sp>
        <p:nvSpPr>
          <p:cNvPr id="5" name="S19-chip2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결과를 증거로 설명하기</a:t>
            </a:r>
            <a:endParaRPr lang="ko-KR" sz="2200" dirty="0"/>
          </a:p>
        </p:txBody>
      </p:sp>
      <p:sp>
        <p:nvSpPr>
          <p:cNvPr id="6" name="S19-chip2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렌즈·거울로 해를 보기</a:t>
            </a:r>
            <a:endParaRPr lang="ko-KR" sz="2200" dirty="0"/>
          </a:p>
        </p:txBody>
      </p:sp>
      <p:sp>
        <p:nvSpPr>
          <p:cNvPr id="7" name="S19-text2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2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빛이 곧게 나아가서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생기는 것은?</a:t>
            </a:r>
            <a:endParaRPr lang="ko-KR" sz="2200" dirty="0"/>
          </a:p>
        </p:txBody>
      </p:sp>
      <p:sp>
        <p:nvSpPr>
          <p:cNvPr id="9" name="S19-text2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빛이 거울에 부딪쳐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바뀌는 것은?</a:t>
            </a:r>
            <a:endParaRPr lang="ko-KR" sz="2200" dirty="0"/>
          </a:p>
        </p:txBody>
      </p:sp>
      <p:sp>
        <p:nvSpPr>
          <p:cNvPr id="10" name="S19-text2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볼록 렌즈는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생겼나요?</a:t>
            </a:r>
            <a:endParaRPr lang="ko-KR" sz="2200" dirty="0"/>
          </a:p>
        </p:txBody>
      </p:sp>
      <p:sp>
        <p:nvSpPr>
          <p:cNvPr id="11" name="S19-text2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용해와 용액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관찰 기록하기</a:t>
            </a:r>
            <a:endParaRPr lang="ko-KR" sz="4000" dirty="0"/>
          </a:p>
        </p:txBody>
      </p:sp>
      <p:sp>
        <p:nvSpPr>
          <p:cNvPr id="3" name="S20-text2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이것을 써요.</a:t>
            </a:r>
            <a:endParaRPr lang="ko-KR" sz="2800" dirty="0"/>
          </a:p>
        </p:txBody>
      </p:sp>
      <p:sp>
        <p:nvSpPr>
          <p:cNvPr id="4" name="S20-card2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2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결과는 나누어 써요. 예상이 틀려도 괜찮아요.</a:t>
            </a:r>
            <a:endParaRPr lang="ko-KR" sz="2800" dirty="0"/>
          </a:p>
        </p:txBody>
      </p:sp>
      <p:sp>
        <p:nvSpPr>
          <p:cNvPr id="6" name="S20-card2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2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시각</a:t>
            </a:r>
            <a:endParaRPr lang="ko-KR" sz="2800" dirty="0"/>
          </a:p>
        </p:txBody>
      </p:sp>
      <p:sp>
        <p:nvSpPr>
          <p:cNvPr id="8" name="S20-card2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2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무엇을·어떻게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대상과 조건</a:t>
            </a:r>
            <a:endParaRPr lang="ko-KR" sz="2800" dirty="0"/>
          </a:p>
        </p:txBody>
      </p:sp>
      <p:sp>
        <p:nvSpPr>
          <p:cNvPr id="10" name="S20-card2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2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측정값과 단위,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빛의 반사와 굴절</dc:title>
  <dc:subject>KR22-G05-SCI-LIGHT-L01</dc:subject>
  <dc:creator>education-ppt</dc:creator>
  <cp:lastModifiedBy>education-ppt</cp:lastModifiedBy>
  <cp:revision>1</cp:revision>
  <dcterms:created xsi:type="dcterms:W3CDTF">2026-10-26T13:32:18Z</dcterms:created>
  <dcterms:modified xsi:type="dcterms:W3CDTF">2026-10-26T13:32:18Z</dcterms:modified>
</cp:coreProperties>
</file>