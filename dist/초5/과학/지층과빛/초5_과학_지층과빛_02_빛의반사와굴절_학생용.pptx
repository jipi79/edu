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</p:sldIdLst>
  <p:notesMasterIdLst>
    <p:notesMasterId r:id="rId2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도입" id="{5242e913-b528-8c03-0392-2ad7855a28e2}">
          <p14:sldIdLst>
            <p14:sldId id="256"/>
            <p14:sldId id="257"/>
          </p14:sldIdLst>
        </p14:section>
        <p14:section name="연습" id="{960423c1-f797-514e-1899-2d5850639f11}">
          <p14:sldIdLst>
            <p14:sldId id="258"/>
            <p14:sldId id="259"/>
            <p14:sldId id="260"/>
            <p14:sldId id="263"/>
            <p14:sldId id="264"/>
            <p14:sldId id="265"/>
            <p14:sldId id="266"/>
            <p14:sldId id="267"/>
            <p14:sldId id="270"/>
          </p14:sldIdLst>
        </p14:section>
        <p14:section name="개념" id="{93517e7d-a5c0-eda6-778e-b85bd96c3997}">
          <p14:sldIdLst>
            <p14:sldId id="261"/>
            <p14:sldId id="262"/>
            <p14:sldId id="268"/>
            <p14:sldId id="269"/>
          </p14:sldIdLst>
        </p14:section>
        <p14:section name="연습" id="{5cbcb20d-89c2-c298-793c-5c255125350a}">
          <p14:sldIdLst/>
        </p14:section>
        <p14:section name="개념" id="{723d9377-9136-3a66-6ecd-4ddbbc3c1784}">
          <p14:sldIdLst/>
        </p14:section>
        <p14:section name="연습" id="{1e1461c7-973e-4869-8a4b-348b25fa73f8}">
          <p14:sldIdLst/>
        </p14:section>
        <p14:section name="확인" id="{61b843a0-1e61-e6fd-8863-e7e31ddf12f9}">
          <p14:sldIdLst>
            <p14:sldId id="271"/>
            <p14:sldId id="272"/>
          </p14:sldIdLst>
        </p14:section>
        <p14:section name="정리" id="{af024376-4636-0360-b60a-88eadf815b4a}">
          <p14:sldIdLst>
            <p14:sldId id="273"/>
          </p14:sldIdLst>
        </p14:section>
        <p14:section name="보충" id="{e1590e87-b767-760d-25fa-3255fec16b9d}">
          <p14:sldIdLst>
            <p14:sldId id="27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notesMaster" Target="notesMasters/notesMaster1.xml"/><Relationship Id="rId22" Type="http://schemas.openxmlformats.org/officeDocument/2006/relationships/presProps" Target="presProps.xml"/><Relationship Id="rId23" Type="http://schemas.openxmlformats.org/officeDocument/2006/relationships/viewProps" Target="viewProps.xml"/><Relationship Id="rId24" Type="http://schemas.openxmlformats.org/officeDocument/2006/relationships/theme" Target="theme/theme1.xml"/><Relationship Id="rId2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  <p:sp>
        <p:nvSpPr>
          <p:cNvPr id="4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지층과빛 · 2차시</a:t>
            </a:r>
            <a:endParaRPr lang="en-US" sz="1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빛의 반사와 굴절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LOSING">
    <p:bg>
      <p:bgPr>
        <a:solidFill>
          <a:srgbClr val="26465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초5 과학 · 빛의 반사와 굴절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UPPORT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/>
        </p:nvSpPr>
        <p:spPr>
          <a:xfrm>
            <a:off x="548640" y="6382512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B5563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 자료 · 초5 과학 · 빛의 반사와 굴절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731520" y="640080"/>
            <a:ext cx="66751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빛의 반사와 굴절</a:t>
            </a:r>
            <a:endParaRPr lang="ko-KR" sz="4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731520" y="1920240"/>
            <a:ext cx="667512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 빨대는 왜</a:t>
            </a:r>
            <a:endParaRPr lang="ko-KR" sz="2800" dirty="0"/>
          </a:p>
          <a:p>
            <a:pPr eaLnBrk="0" indent="0" marL="0">
              <a:buNone/>
            </a:pPr>
            <a:r>
              <a:rPr lang="ko-KR" altLang="en-US" sz="28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꺾여 보일까?</a:t>
            </a:r>
            <a:endParaRPr lang="ko-KR" sz="2800" dirty="0"/>
          </a:p>
        </p:txBody>
      </p:sp>
      <p:sp>
        <p:nvSpPr>
          <p:cNvPr id="4" name="S01-panel1"/>
          <p:cNvSpPr/>
          <p:nvPr/>
        </p:nvSpPr>
        <p:spPr>
          <a:xfrm>
            <a:off x="7543800" y="502920"/>
            <a:ext cx="4206240" cy="3200400"/>
          </a:xfrm>
          <a:prstGeom prst="roundRect">
            <a:avLst>
              <a:gd name="adj" fmla="val 4286"/>
            </a:avLst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" name="S01-figure2" descr="돋보기(볼록 렌즈) 그림"/>
          <p:cNvSpPr/>
          <p:nvPr/>
        </p:nvSpPr>
        <p:spPr>
          <a:xfrm>
            <a:off x="8267700" y="723900"/>
            <a:ext cx="1992207" cy="1992207"/>
          </a:xfrm>
          <a:prstGeom prst="ellipse">
            <a:avLst/>
          </a:prstGeom>
          <a:solidFill>
            <a:srgbClr val="DBEAFE"/>
          </a:solidFill>
          <a:ln w="50800">
            <a:solidFill>
              <a:srgbClr val="1F2937"/>
            </a:solidFill>
            <a:prstDash val="solid"/>
          </a:ln>
        </p:spPr>
      </p:sp>
      <p:sp>
        <p:nvSpPr>
          <p:cNvPr id="6" name="S01-mark3"/>
          <p:cNvSpPr/>
          <p:nvPr/>
        </p:nvSpPr>
        <p:spPr>
          <a:xfrm>
            <a:off x="9991725" y="2447925"/>
            <a:ext cx="1034415" cy="1034415"/>
          </a:xfrm>
          <a:prstGeom prst="line">
            <a:avLst/>
          </a:prstGeom>
          <a:noFill/>
          <a:ln w="177800">
            <a:solidFill>
              <a:srgbClr val="4B5563"/>
            </a:solidFill>
            <a:prstDash val="solid"/>
          </a:ln>
        </p:spPr>
      </p:sp>
      <p:sp>
        <p:nvSpPr>
          <p:cNvPr id="7" name="S01-card4"/>
          <p:cNvSpPr/>
          <p:nvPr/>
        </p:nvSpPr>
        <p:spPr>
          <a:xfrm>
            <a:off x="731520" y="4529328"/>
            <a:ext cx="10725912" cy="1597152"/>
          </a:xfrm>
          <a:prstGeom prst="roundRect">
            <a:avLst>
              <a:gd name="adj" fmla="val 6870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8" name="S01-cardtext5"/>
          <p:cNvSpPr txBox="1"/>
          <p:nvPr/>
        </p:nvSpPr>
        <p:spPr>
          <a:xfrm>
            <a:off x="1005840" y="4666488"/>
            <a:ext cx="10177272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할 수 있게 될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빛이 곧게 나아가고 거울에서 반사되는 것을 관찰해요.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빛의 굴절과 볼록 렌즈의 쓰임을 알아봐요.</a:t>
            </a:r>
            <a:endParaRPr lang="ko-KR" sz="2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 떠올리기</a:t>
            </a:r>
            <a:endParaRPr lang="ko-KR" sz="4000" dirty="0"/>
          </a:p>
        </p:txBody>
      </p:sp>
      <p:sp>
        <p:nvSpPr>
          <p:cNvPr id="3" name="S02-chip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02-text7"/>
          <p:cNvSpPr txBox="1"/>
          <p:nvPr/>
        </p:nvSpPr>
        <p:spPr>
          <a:xfrm>
            <a:off x="1344168" y="132588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 꼭 써야 하는 것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 무엇인가요?</a:t>
            </a:r>
            <a:endParaRPr lang="ko-KR" sz="2800" dirty="0"/>
          </a:p>
        </p:txBody>
      </p:sp>
      <p:sp>
        <p:nvSpPr>
          <p:cNvPr id="5" name="S02-chip8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02-text9"/>
          <p:cNvSpPr txBox="1"/>
          <p:nvPr/>
        </p:nvSpPr>
        <p:spPr>
          <a:xfrm>
            <a:off x="1344168" y="3863340"/>
            <a:ext cx="1029614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결과를 나누어 쓰는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까닭은 무엇인가요?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예상해 봐요</a:t>
            </a:r>
            <a:endParaRPr lang="ko-KR" sz="4000" dirty="0"/>
          </a:p>
        </p:txBody>
      </p:sp>
      <p:sp>
        <p:nvSpPr>
          <p:cNvPr id="3" name="S03-text1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손전등으로 벽을 비추며 실험해요.</a:t>
            </a:r>
            <a:endParaRPr lang="ko-KR" sz="2800" dirty="0"/>
          </a:p>
        </p:txBody>
      </p:sp>
      <p:sp>
        <p:nvSpPr>
          <p:cNvPr id="4" name="S03-card1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3-cardtext1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1에 써요.</a:t>
            </a:r>
            <a:endParaRPr lang="ko-KR" sz="2800" dirty="0"/>
          </a:p>
        </p:txBody>
      </p:sp>
      <p:graphicFrame>
        <p:nvGraphicFramePr>
          <p:cNvPr id="4" name="S03-table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컵을 두면 벽에 무엇이 생길까요?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 모양은 컵과 어떨까요?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거울에 비춘 빛은 어디로 갈까요?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손전등으로 실험해요</a:t>
            </a:r>
            <a:endParaRPr lang="ko-KR" sz="4000" dirty="0"/>
          </a:p>
        </p:txBody>
      </p:sp>
      <p:sp>
        <p:nvSpPr>
          <p:cNvPr id="3" name="S04-card1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04-cardtext1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빛을 사람 눈에 비추지 않아요.</a:t>
            </a:r>
            <a:endParaRPr lang="ko-KR" sz="2800" dirty="0"/>
          </a:p>
        </p:txBody>
      </p:sp>
      <p:sp>
        <p:nvSpPr>
          <p:cNvPr id="5" name="S04-figure16" descr="옆에서 본 실험 배치: 왼쪽에 손전등, 가운데에 컵, 오른쪽에 벽"/>
          <p:cNvSpPr/>
          <p:nvPr/>
        </p:nvSpPr>
        <p:spPr>
          <a:xfrm>
            <a:off x="7293513" y="2826776"/>
            <a:ext cx="768584" cy="240182"/>
          </a:xfrm>
          <a:custGeom>
            <a:avLst/>
            <a:gdLst/>
            <a:ahLst/>
            <a:cxnLst/>
            <a:rect l="l" t="t" r="r" b="b"/>
            <a:pathLst>
              <a:path w="768584" h="240182">
                <a:moveTo>
                  <a:pt x="0" y="240182"/>
                </a:moveTo>
                <a:lnTo>
                  <a:pt x="768584" y="240182"/>
                </a:lnTo>
                <a:lnTo>
                  <a:pt x="768584" y="0"/>
                </a:lnTo>
                <a:lnTo>
                  <a:pt x="0" y="0"/>
                </a:lnTo>
                <a:close/>
              </a:path>
            </a:pathLst>
          </a:custGeom>
          <a:solidFill>
            <a:srgbClr val="9CA3A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4-mark17"/>
          <p:cNvSpPr/>
          <p:nvPr/>
        </p:nvSpPr>
        <p:spPr>
          <a:xfrm>
            <a:off x="8062097" y="2706685"/>
            <a:ext cx="240182" cy="480365"/>
          </a:xfrm>
          <a:custGeom>
            <a:avLst/>
            <a:gdLst/>
            <a:ahLst/>
            <a:cxnLst/>
            <a:rect l="l" t="t" r="r" b="b"/>
            <a:pathLst>
              <a:path w="240182" h="480365">
                <a:moveTo>
                  <a:pt x="0" y="417917"/>
                </a:moveTo>
                <a:lnTo>
                  <a:pt x="240182" y="480365"/>
                </a:lnTo>
                <a:lnTo>
                  <a:pt x="240182" y="0"/>
                </a:lnTo>
                <a:lnTo>
                  <a:pt x="0" y="62447"/>
                </a:lnTo>
                <a:close/>
              </a:path>
            </a:pathLst>
          </a:custGeom>
          <a:solidFill>
            <a:srgbClr val="6B728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4-mark18"/>
          <p:cNvSpPr/>
          <p:nvPr/>
        </p:nvSpPr>
        <p:spPr>
          <a:xfrm>
            <a:off x="9190954" y="2442484"/>
            <a:ext cx="528401" cy="768584"/>
          </a:xfrm>
          <a:custGeom>
            <a:avLst/>
            <a:gdLst/>
            <a:ahLst/>
            <a:cxnLst/>
            <a:rect l="l" t="t" r="r" b="b"/>
            <a:pathLst>
              <a:path w="528401" h="768584">
                <a:moveTo>
                  <a:pt x="72055" y="768584"/>
                </a:moveTo>
                <a:lnTo>
                  <a:pt x="456347" y="768584"/>
                </a:lnTo>
                <a:lnTo>
                  <a:pt x="528401" y="0"/>
                </a:lnTo>
                <a:lnTo>
                  <a:pt x="0" y="0"/>
                </a:lnTo>
                <a:close/>
              </a:path>
            </a:pathLst>
          </a:custGeom>
          <a:solidFill>
            <a:srgbClr val="F2C14E"/>
          </a:solidFill>
          <a:ln w="22225">
            <a:solidFill>
              <a:srgbClr val="1F2937"/>
            </a:solidFill>
            <a:prstDash val="solid"/>
          </a:ln>
        </p:spPr>
      </p:sp>
      <p:sp>
        <p:nvSpPr>
          <p:cNvPr id="8" name="S04-mark19"/>
          <p:cNvSpPr/>
          <p:nvPr/>
        </p:nvSpPr>
        <p:spPr>
          <a:xfrm>
            <a:off x="11136432" y="1673901"/>
            <a:ext cx="168128" cy="1537167"/>
          </a:xfrm>
          <a:custGeom>
            <a:avLst/>
            <a:gdLst/>
            <a:ahLst/>
            <a:cxnLst/>
            <a:rect l="l" t="t" r="r" b="b"/>
            <a:pathLst>
              <a:path w="168128" h="1537167">
                <a:moveTo>
                  <a:pt x="0" y="1537167"/>
                </a:moveTo>
                <a:lnTo>
                  <a:pt x="168128" y="1537167"/>
                </a:lnTo>
                <a:lnTo>
                  <a:pt x="168128" y="0"/>
                </a:lnTo>
                <a:lnTo>
                  <a:pt x="0" y="0"/>
                </a:lnTo>
                <a:close/>
              </a:path>
            </a:pathLst>
          </a:custGeom>
          <a:solidFill>
            <a:srgbClr val="D6D3D1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9" name="S04-mark20"/>
          <p:cNvSpPr/>
          <p:nvPr/>
        </p:nvSpPr>
        <p:spPr>
          <a:xfrm>
            <a:off x="7149404" y="3211068"/>
            <a:ext cx="3987028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10" name="S04-label22"/>
          <p:cNvSpPr txBox="1"/>
          <p:nvPr/>
        </p:nvSpPr>
        <p:spPr>
          <a:xfrm>
            <a:off x="7332315" y="2291878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</a:t>
            </a:r>
            <a:endParaRPr lang="ko-KR" sz="2200" dirty="0"/>
          </a:p>
        </p:txBody>
      </p:sp>
      <p:sp>
        <p:nvSpPr>
          <p:cNvPr id="11" name="S04-label24"/>
          <p:cNvSpPr txBox="1"/>
          <p:nvPr/>
        </p:nvSpPr>
        <p:spPr>
          <a:xfrm>
            <a:off x="9263385" y="1979640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</a:t>
            </a:r>
            <a:endParaRPr lang="ko-KR" sz="2200" dirty="0"/>
          </a:p>
        </p:txBody>
      </p:sp>
      <p:sp>
        <p:nvSpPr>
          <p:cNvPr id="12" name="S04-label26"/>
          <p:cNvSpPr txBox="1"/>
          <p:nvPr/>
        </p:nvSpPr>
        <p:spPr>
          <a:xfrm>
            <a:off x="11026324" y="1235075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</a:t>
            </a:r>
            <a:endParaRPr lang="ko-KR" sz="2200" dirty="0"/>
          </a:p>
        </p:txBody>
      </p:sp>
      <p:sp>
        <p:nvSpPr>
          <p:cNvPr id="13" name="S04-card27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04-cardtext28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그림자 모양을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거울을 기울이며 봐요</a:t>
            </a:r>
            <a:endParaRPr lang="ko-KR" sz="2800" dirty="0"/>
          </a:p>
        </p:txBody>
      </p:sp>
      <p:sp>
        <p:nvSpPr>
          <p:cNvPr id="15" name="S04-stepno29"/>
          <p:cNvSpPr txBox="1"/>
          <p:nvPr/>
        </p:nvSpPr>
        <p:spPr>
          <a:xfrm>
            <a:off x="548640" y="16586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6" name="S04-text30"/>
          <p:cNvSpPr txBox="1"/>
          <p:nvPr/>
        </p:nvSpPr>
        <p:spPr>
          <a:xfrm>
            <a:off x="1325880" y="1612900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방을 어둡게 하고 손전등으로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벽을 비춰요.</a:t>
            </a:r>
            <a:endParaRPr lang="ko-KR" sz="2200" dirty="0"/>
          </a:p>
        </p:txBody>
      </p:sp>
      <p:sp>
        <p:nvSpPr>
          <p:cNvPr id="17" name="S04-stepno31"/>
          <p:cNvSpPr txBox="1"/>
          <p:nvPr/>
        </p:nvSpPr>
        <p:spPr>
          <a:xfrm>
            <a:off x="548640" y="2504948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18" name="S04-text32"/>
          <p:cNvSpPr txBox="1"/>
          <p:nvPr/>
        </p:nvSpPr>
        <p:spPr>
          <a:xfrm>
            <a:off x="1325880" y="2459228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손전등과 벽 사이에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컵을 놓아요.</a:t>
            </a:r>
            <a:endParaRPr lang="ko-KR" sz="2200" dirty="0"/>
          </a:p>
        </p:txBody>
      </p:sp>
      <p:sp>
        <p:nvSpPr>
          <p:cNvPr id="19" name="S04-stepno33"/>
          <p:cNvSpPr txBox="1"/>
          <p:nvPr/>
        </p:nvSpPr>
        <p:spPr>
          <a:xfrm>
            <a:off x="548640" y="3351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0" name="S04-text34"/>
          <p:cNvSpPr txBox="1"/>
          <p:nvPr/>
        </p:nvSpPr>
        <p:spPr>
          <a:xfrm>
            <a:off x="1325880" y="3305556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손거울로 빛을 받아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벽의 과녁에 보내요.</a:t>
            </a:r>
            <a:endParaRPr lang="ko-KR" sz="2200" dirty="0"/>
          </a:p>
        </p:txBody>
      </p:sp>
      <p:sp>
        <p:nvSpPr>
          <p:cNvPr id="21" name="S04-stepno35"/>
          <p:cNvSpPr txBox="1"/>
          <p:nvPr/>
        </p:nvSpPr>
        <p:spPr>
          <a:xfrm>
            <a:off x="548640" y="419760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2" name="S04-text36"/>
          <p:cNvSpPr txBox="1"/>
          <p:nvPr/>
        </p:nvSpPr>
        <p:spPr>
          <a:xfrm>
            <a:off x="1325880" y="4151884"/>
            <a:ext cx="5122012" cy="6817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손전등을 껐다 켜 보고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1에 써요.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05-text37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1을 보며 빈칸을 말로 채워요.</a:t>
            </a:r>
            <a:endParaRPr lang="ko-KR" sz="2800" dirty="0"/>
          </a:p>
        </p:txBody>
      </p:sp>
      <p:sp>
        <p:nvSpPr>
          <p:cNvPr id="4" name="S05-card3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05-cardtext3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같은 것과 다른 것을 찾아봐요.</a:t>
            </a:r>
            <a:endParaRPr lang="ko-KR" sz="2800" dirty="0"/>
          </a:p>
        </p:txBody>
      </p:sp>
      <p:graphicFrame>
        <p:nvGraphicFramePr>
          <p:cNvPr id="6" name="S05-table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5783580"/>
                <a:gridCol w="473202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컵을 두었을 때 벽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그림자의 모양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거울에 비춘 빛이 간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손전등을 끄면 벽의 밝은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빛은 곧게 나아가요</a:t>
            </a:r>
            <a:endParaRPr lang="ko-KR" sz="4000" dirty="0"/>
          </a:p>
        </p:txBody>
      </p:sp>
      <p:sp>
        <p:nvSpPr>
          <p:cNvPr id="3" name="S06-text41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곧게 나아가는 것을 빛의 직진이라고 해요.</a:t>
            </a:r>
            <a:endParaRPr lang="ko-KR" sz="2800" dirty="0"/>
          </a:p>
        </p:txBody>
      </p:sp>
      <p:sp>
        <p:nvSpPr>
          <p:cNvPr id="4" name="S06-figure42" descr="손전등(점)에서 나온 빛이 곧게 나아가다 물체에 막혀, 벽에 물체를 닮은 그림자가 생기는 그림. 물체 가장자리를 지나는 빛의 연장선(점선)이 그림자의 끝을 정함"/>
          <p:cNvSpPr/>
          <p:nvPr/>
        </p:nvSpPr>
        <p:spPr>
          <a:xfrm>
            <a:off x="4949398" y="2530101"/>
            <a:ext cx="191257" cy="3169398"/>
          </a:xfrm>
          <a:custGeom>
            <a:avLst/>
            <a:gdLst/>
            <a:ahLst/>
            <a:cxnLst/>
            <a:rect l="l" t="t" r="r" b="b"/>
            <a:pathLst>
              <a:path w="191257" h="3169398">
                <a:moveTo>
                  <a:pt x="0" y="3169398"/>
                </a:moveTo>
                <a:lnTo>
                  <a:pt x="191257" y="3169398"/>
                </a:lnTo>
                <a:lnTo>
                  <a:pt x="191257" y="0"/>
                </a:lnTo>
                <a:lnTo>
                  <a:pt x="0" y="0"/>
                </a:lnTo>
                <a:close/>
              </a:path>
            </a:pathLst>
          </a:custGeom>
          <a:solidFill>
            <a:srgbClr val="E5E7EB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5" name="S06-mark43"/>
          <p:cNvSpPr/>
          <p:nvPr/>
        </p:nvSpPr>
        <p:spPr>
          <a:xfrm>
            <a:off x="4949398" y="3349773"/>
            <a:ext cx="191257" cy="1530054"/>
          </a:xfrm>
          <a:custGeom>
            <a:avLst/>
            <a:gdLst/>
            <a:ahLst/>
            <a:cxnLst/>
            <a:rect l="l" t="t" r="r" b="b"/>
            <a:pathLst>
              <a:path w="191257" h="1530054">
                <a:moveTo>
                  <a:pt x="0" y="1530054"/>
                </a:moveTo>
                <a:lnTo>
                  <a:pt x="191257" y="1530054"/>
                </a:lnTo>
                <a:lnTo>
                  <a:pt x="191257" y="0"/>
                </a:lnTo>
                <a:lnTo>
                  <a:pt x="0" y="0"/>
                </a:lnTo>
                <a:close/>
              </a:path>
            </a:pathLst>
          </a:custGeom>
          <a:solidFill>
            <a:srgbClr val="4B5563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6" name="S06-mark44"/>
          <p:cNvSpPr/>
          <p:nvPr/>
        </p:nvSpPr>
        <p:spPr>
          <a:xfrm>
            <a:off x="2708962" y="3786931"/>
            <a:ext cx="109290" cy="655737"/>
          </a:xfrm>
          <a:custGeom>
            <a:avLst/>
            <a:gdLst/>
            <a:ahLst/>
            <a:cxnLst/>
            <a:rect l="l" t="t" r="r" b="b"/>
            <a:pathLst>
              <a:path w="109290" h="655737">
                <a:moveTo>
                  <a:pt x="0" y="655737"/>
                </a:moveTo>
                <a:lnTo>
                  <a:pt x="109290" y="655737"/>
                </a:lnTo>
                <a:lnTo>
                  <a:pt x="109290" y="0"/>
                </a:lnTo>
                <a:lnTo>
                  <a:pt x="0" y="0"/>
                </a:lnTo>
                <a:close/>
              </a:path>
            </a:pathLst>
          </a:custGeom>
          <a:solidFill>
            <a:srgbClr val="3D5A80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7" name="S06-mark45"/>
          <p:cNvSpPr/>
          <p:nvPr/>
        </p:nvSpPr>
        <p:spPr>
          <a:xfrm>
            <a:off x="1025902" y="4016439"/>
            <a:ext cx="196721" cy="196721"/>
          </a:xfrm>
          <a:prstGeom prst="ellipse">
            <a:avLst/>
          </a:prstGeom>
          <a:solidFill>
            <a:srgbClr val="F2C14E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06-mark46"/>
          <p:cNvSpPr/>
          <p:nvPr/>
        </p:nvSpPr>
        <p:spPr>
          <a:xfrm flipV="1">
            <a:off x="1124263" y="2694035"/>
            <a:ext cx="3825135" cy="1420765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9" name="S06-mark47"/>
          <p:cNvSpPr/>
          <p:nvPr/>
        </p:nvSpPr>
        <p:spPr>
          <a:xfrm>
            <a:off x="1124263" y="4114800"/>
            <a:ext cx="3825135" cy="1420765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0" name="S06-mark48"/>
          <p:cNvSpPr/>
          <p:nvPr/>
        </p:nvSpPr>
        <p:spPr>
          <a:xfrm flipV="1">
            <a:off x="1124263" y="3786931"/>
            <a:ext cx="1639344" cy="327869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</a:ln>
        </p:spPr>
      </p:sp>
      <p:sp>
        <p:nvSpPr>
          <p:cNvPr id="11" name="S06-mark49"/>
          <p:cNvSpPr/>
          <p:nvPr/>
        </p:nvSpPr>
        <p:spPr>
          <a:xfrm>
            <a:off x="1124263" y="4114800"/>
            <a:ext cx="1639344" cy="327869"/>
          </a:xfrm>
          <a:prstGeom prst="line">
            <a:avLst/>
          </a:prstGeom>
          <a:noFill/>
          <a:ln w="25400">
            <a:solidFill>
              <a:srgbClr val="E9762B"/>
            </a:solidFill>
            <a:prstDash val="solid"/>
          </a:ln>
        </p:spPr>
      </p:sp>
      <p:sp>
        <p:nvSpPr>
          <p:cNvPr id="12" name="S06-mark50"/>
          <p:cNvSpPr/>
          <p:nvPr/>
        </p:nvSpPr>
        <p:spPr>
          <a:xfrm flipV="1">
            <a:off x="2763607" y="3349773"/>
            <a:ext cx="2185792" cy="43715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3" name="S06-mark51"/>
          <p:cNvSpPr/>
          <p:nvPr/>
        </p:nvSpPr>
        <p:spPr>
          <a:xfrm>
            <a:off x="2763607" y="4442669"/>
            <a:ext cx="2185792" cy="437158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14" name="S06-label53"/>
          <p:cNvSpPr txBox="1"/>
          <p:nvPr/>
        </p:nvSpPr>
        <p:spPr>
          <a:xfrm>
            <a:off x="932493" y="3530339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</a:t>
            </a:r>
            <a:endParaRPr lang="ko-KR" sz="2200" dirty="0"/>
          </a:p>
        </p:txBody>
      </p:sp>
      <p:sp>
        <p:nvSpPr>
          <p:cNvPr id="15" name="S06-label55"/>
          <p:cNvSpPr txBox="1"/>
          <p:nvPr/>
        </p:nvSpPr>
        <p:spPr>
          <a:xfrm>
            <a:off x="2434931" y="3229793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</a:t>
            </a:r>
            <a:endParaRPr lang="ko-KR" sz="2200" dirty="0"/>
          </a:p>
        </p:txBody>
      </p:sp>
      <p:sp>
        <p:nvSpPr>
          <p:cNvPr id="16" name="S06-label57"/>
          <p:cNvSpPr txBox="1"/>
          <p:nvPr/>
        </p:nvSpPr>
        <p:spPr>
          <a:xfrm>
            <a:off x="5495846" y="394017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그림자</a:t>
            </a:r>
            <a:endParaRPr lang="ko-KR" sz="2200" dirty="0"/>
          </a:p>
        </p:txBody>
      </p:sp>
      <p:sp>
        <p:nvSpPr>
          <p:cNvPr id="17" name="S06-card58"/>
          <p:cNvSpPr/>
          <p:nvPr/>
        </p:nvSpPr>
        <p:spPr>
          <a:xfrm>
            <a:off x="6491874" y="2586736"/>
            <a:ext cx="5148438" cy="1630680"/>
          </a:xfrm>
          <a:prstGeom prst="roundRect">
            <a:avLst>
              <a:gd name="adj" fmla="val 6729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06-cardtext59"/>
          <p:cNvSpPr txBox="1"/>
          <p:nvPr/>
        </p:nvSpPr>
        <p:spPr>
          <a:xfrm>
            <a:off x="6766194" y="2723896"/>
            <a:ext cx="4599798" cy="1356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곧게 가던 빛이 물체에 막히면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뒤에 그림자가 생겨요.</a:t>
            </a:r>
            <a:endParaRPr lang="ko-KR" sz="2800" dirty="0"/>
          </a:p>
        </p:txBody>
      </p:sp>
      <p:sp>
        <p:nvSpPr>
          <p:cNvPr id="19" name="S06-card60"/>
          <p:cNvSpPr/>
          <p:nvPr/>
        </p:nvSpPr>
        <p:spPr>
          <a:xfrm>
            <a:off x="6491874" y="4446016"/>
            <a:ext cx="5148438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20" name="S06-cardtext61"/>
          <p:cNvSpPr txBox="1"/>
          <p:nvPr/>
        </p:nvSpPr>
        <p:spPr>
          <a:xfrm>
            <a:off x="6766194" y="4583176"/>
            <a:ext cx="4599798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그래서 그림자는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물체와 모양이 닮아요.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거울에서 빛이 반사돼요</a:t>
            </a:r>
            <a:endParaRPr lang="ko-KR" sz="4000" dirty="0"/>
          </a:p>
        </p:txBody>
      </p:sp>
      <p:sp>
        <p:nvSpPr>
          <p:cNvPr id="3" name="S07-text6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거울에 부딪쳐 방향이 바뀌는 것을 반사라고 해요.</a:t>
            </a:r>
            <a:endParaRPr lang="ko-KR" sz="2800" dirty="0"/>
          </a:p>
        </p:txBody>
      </p:sp>
      <p:sp>
        <p:nvSpPr>
          <p:cNvPr id="4" name="S07-figure63" descr="비스듬히 들어온 빛이 거울에 부딪쳐 방향이 바뀌어 나가는 그림(반사)"/>
          <p:cNvSpPr/>
          <p:nvPr/>
        </p:nvSpPr>
        <p:spPr>
          <a:xfrm>
            <a:off x="1119521" y="5068628"/>
            <a:ext cx="4221194" cy="243530"/>
          </a:xfrm>
          <a:custGeom>
            <a:avLst/>
            <a:gdLst/>
            <a:ahLst/>
            <a:cxnLst/>
            <a:rect l="l" t="t" r="r" b="b"/>
            <a:pathLst>
              <a:path w="4221194" h="243530">
                <a:moveTo>
                  <a:pt x="0" y="243530"/>
                </a:moveTo>
                <a:lnTo>
                  <a:pt x="4221194" y="243530"/>
                </a:lnTo>
                <a:lnTo>
                  <a:pt x="4221194" y="0"/>
                </a:lnTo>
                <a:lnTo>
                  <a:pt x="0" y="0"/>
                </a:lnTo>
                <a:close/>
              </a:path>
            </a:pathLst>
          </a:custGeom>
          <a:solidFill>
            <a:srgbClr val="BFD7EA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5" name="S07-mark64"/>
          <p:cNvSpPr/>
          <p:nvPr/>
        </p:nvSpPr>
        <p:spPr>
          <a:xfrm>
            <a:off x="1281875" y="3120384"/>
            <a:ext cx="1907655" cy="1907655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6" name="S07-mark65"/>
          <p:cNvSpPr/>
          <p:nvPr/>
        </p:nvSpPr>
        <p:spPr>
          <a:xfrm flipV="1">
            <a:off x="3270706" y="3120384"/>
            <a:ext cx="1907655" cy="1907655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7" name="S07-label67"/>
          <p:cNvSpPr txBox="1"/>
          <p:nvPr/>
        </p:nvSpPr>
        <p:spPr>
          <a:xfrm>
            <a:off x="2901442" y="5421652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</a:t>
            </a:r>
            <a:endParaRPr lang="ko-KR" sz="2200" dirty="0"/>
          </a:p>
        </p:txBody>
      </p:sp>
      <p:sp>
        <p:nvSpPr>
          <p:cNvPr id="8" name="S07-label69"/>
          <p:cNvSpPr txBox="1"/>
          <p:nvPr/>
        </p:nvSpPr>
        <p:spPr>
          <a:xfrm>
            <a:off x="825278" y="2580463"/>
            <a:ext cx="1562608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들어오는 빛</a:t>
            </a:r>
            <a:endParaRPr lang="ko-KR" sz="2200" dirty="0"/>
          </a:p>
        </p:txBody>
      </p:sp>
      <p:sp>
        <p:nvSpPr>
          <p:cNvPr id="9" name="S07-label71"/>
          <p:cNvSpPr txBox="1"/>
          <p:nvPr/>
        </p:nvSpPr>
        <p:spPr>
          <a:xfrm>
            <a:off x="4209256" y="2580463"/>
            <a:ext cx="12887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나가는 빛</a:t>
            </a:r>
            <a:endParaRPr lang="ko-KR" sz="2200" dirty="0"/>
          </a:p>
        </p:txBody>
      </p:sp>
      <p:sp>
        <p:nvSpPr>
          <p:cNvPr id="10" name="S07-card72"/>
          <p:cNvSpPr/>
          <p:nvPr/>
        </p:nvSpPr>
        <p:spPr>
          <a:xfrm>
            <a:off x="6277356" y="280365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07-cardtext73"/>
          <p:cNvSpPr txBox="1"/>
          <p:nvPr/>
        </p:nvSpPr>
        <p:spPr>
          <a:xfrm>
            <a:off x="6551676" y="294081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거울을 기울이면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가는 곳이 바뀌어요.</a:t>
            </a:r>
            <a:endParaRPr lang="ko-KR" sz="2800" dirty="0"/>
          </a:p>
        </p:txBody>
      </p:sp>
      <p:sp>
        <p:nvSpPr>
          <p:cNvPr id="12" name="S07-card74"/>
          <p:cNvSpPr/>
          <p:nvPr/>
        </p:nvSpPr>
        <p:spPr>
          <a:xfrm>
            <a:off x="6277356" y="4229100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07-cardtext75"/>
          <p:cNvSpPr txBox="1"/>
          <p:nvPr/>
        </p:nvSpPr>
        <p:spPr>
          <a:xfrm>
            <a:off x="6551676" y="4366260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옆거울은 반사로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뒤를 보여 줘요.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08-card76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08-cardtext77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거울로 벽의 과녁을 밝게 비추었어요.</a:t>
            </a:r>
            <a:endParaRPr lang="ko-KR" sz="2800" dirty="0"/>
          </a:p>
        </p:txBody>
      </p:sp>
      <p:sp>
        <p:nvSpPr>
          <p:cNvPr id="5" name="S08-card78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08-cardtext79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08-chip80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08-text81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거울이 빛을 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벽이 밝아졌어요.</a:t>
            </a:r>
            <a:endParaRPr lang="ko-KR" sz="2800" dirty="0"/>
          </a:p>
        </p:txBody>
      </p:sp>
      <p:sp>
        <p:nvSpPr>
          <p:cNvPr id="9" name="S08-chip82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08-text83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손전등 빛이 거울에서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반사되어 벽에 갔어요.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 때문일까요?</a:t>
            </a:r>
            <a:endParaRPr lang="ko-KR" sz="4000" dirty="0"/>
          </a:p>
        </p:txBody>
      </p:sp>
      <p:sp>
        <p:nvSpPr>
          <p:cNvPr id="3" name="S09-text8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빛의 직진과 반사 중 무엇 때문인지 말해요.</a:t>
            </a:r>
            <a:endParaRPr lang="ko-KR" sz="2800" dirty="0"/>
          </a:p>
        </p:txBody>
      </p:sp>
      <p:sp>
        <p:nvSpPr>
          <p:cNvPr id="4" name="S09-card8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6ECF4"/>
          </a:solidFill>
          <a:ln w="12700">
            <a:solidFill>
              <a:srgbClr val="E6ECF4"/>
            </a:solidFill>
            <a:prstDash val="solid"/>
          </a:ln>
        </p:spPr>
      </p:sp>
      <p:sp>
        <p:nvSpPr>
          <p:cNvPr id="5" name="S09-cardtext8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막혔나요, 방향이 바뀌었나요?</a:t>
            </a:r>
            <a:endParaRPr lang="ko-KR" sz="2800" dirty="0"/>
          </a:p>
        </p:txBody>
      </p:sp>
      <p:sp>
        <p:nvSpPr>
          <p:cNvPr id="6" name="S09-chip87"/>
          <p:cNvSpPr txBox="1"/>
          <p:nvPr/>
        </p:nvSpPr>
        <p:spPr>
          <a:xfrm>
            <a:off x="548640" y="218541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7" name="S09-text88"/>
          <p:cNvSpPr txBox="1"/>
          <p:nvPr/>
        </p:nvSpPr>
        <p:spPr>
          <a:xfrm>
            <a:off x="1344168" y="201168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손 그림자 놀이로 벽에 강아지 모양을 만들어요.</a:t>
            </a:r>
            <a:endParaRPr lang="ko-KR" sz="2800" dirty="0"/>
          </a:p>
        </p:txBody>
      </p:sp>
      <p:sp>
        <p:nvSpPr>
          <p:cNvPr id="8" name="S09-chip89"/>
          <p:cNvSpPr txBox="1"/>
          <p:nvPr/>
        </p:nvSpPr>
        <p:spPr>
          <a:xfrm>
            <a:off x="548640" y="32826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9" name="S09-text90"/>
          <p:cNvSpPr txBox="1"/>
          <p:nvPr/>
        </p:nvSpPr>
        <p:spPr>
          <a:xfrm>
            <a:off x="1344168" y="310896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옆거울로 뒤에 오는 차를 봐요.</a:t>
            </a:r>
            <a:endParaRPr lang="ko-KR" sz="2800" dirty="0"/>
          </a:p>
        </p:txBody>
      </p:sp>
      <p:sp>
        <p:nvSpPr>
          <p:cNvPr id="10" name="S09-chip91"/>
          <p:cNvSpPr txBox="1"/>
          <p:nvPr/>
        </p:nvSpPr>
        <p:spPr>
          <a:xfrm>
            <a:off x="548640" y="437997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11" name="S09-text92"/>
          <p:cNvSpPr txBox="1"/>
          <p:nvPr/>
        </p:nvSpPr>
        <p:spPr>
          <a:xfrm>
            <a:off x="1344168" y="4206240"/>
            <a:ext cx="10296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잔잔한 호수에 산의 모습이 비쳐요.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또 예상해 봐요</a:t>
            </a:r>
            <a:endParaRPr lang="ko-KR" sz="4000" dirty="0"/>
          </a:p>
        </p:txBody>
      </p:sp>
      <p:sp>
        <p:nvSpPr>
          <p:cNvPr id="3" name="S10-text93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물컵 속 빨대와 돋보기를 관찰해요.</a:t>
            </a:r>
            <a:endParaRPr lang="ko-KR" sz="2800" dirty="0"/>
          </a:p>
        </p:txBody>
      </p:sp>
      <p:sp>
        <p:nvSpPr>
          <p:cNvPr id="4" name="S10-card9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0-cardtext9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예상은 활동지 2에 써요.</a:t>
            </a:r>
            <a:endParaRPr lang="ko-KR" sz="2800" dirty="0"/>
          </a:p>
        </p:txBody>
      </p:sp>
      <p:graphicFrame>
        <p:nvGraphicFramePr>
          <p:cNvPr id="11" name="S10-table9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541016"/>
          <a:ext cx="10515600" cy="914400"/>
        </p:xfrm>
        <a:graphic>
          <a:graphicData uri="http://schemas.openxmlformats.org/drawingml/2006/table">
            <a:tbl>
              <a:tblPr/>
              <a:tblGrid>
                <a:gridCol w="6099048"/>
                <a:gridCol w="4416552"/>
              </a:tblGrid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질문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내 예상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물컵 속 빨대를 옆에서 보면?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돋보기로 글자를 보면?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2572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6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돋보기에서 더 두꺼운 곳은?</a:t>
                      </a: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6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빨대와 돋보기를 봐요</a:t>
            </a:r>
            <a:endParaRPr lang="ko-KR" sz="4000" dirty="0"/>
          </a:p>
        </p:txBody>
      </p:sp>
      <p:sp>
        <p:nvSpPr>
          <p:cNvPr id="3" name="S11-card97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4" name="S11-cardtext98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안전: 돋보기로 해를 보거나 햇빛을 종이에 모으지 않아요.</a:t>
            </a:r>
            <a:endParaRPr lang="ko-KR" sz="2800" dirty="0"/>
          </a:p>
        </p:txBody>
      </p:sp>
      <p:sp>
        <p:nvSpPr>
          <p:cNvPr id="5" name="S11-figure99" descr="왼쪽: 물을 담은 투명한 컵과 그 위에서 비스듬히 넣으려는 빨대. 오른쪽: 글자가 쓰인 종이 위의 돋보기"/>
          <p:cNvSpPr/>
          <p:nvPr/>
        </p:nvSpPr>
        <p:spPr>
          <a:xfrm>
            <a:off x="7998776" y="2425017"/>
            <a:ext cx="1015317" cy="720547"/>
          </a:xfrm>
          <a:custGeom>
            <a:avLst/>
            <a:gdLst/>
            <a:ahLst/>
            <a:cxnLst/>
            <a:rect l="l" t="t" r="r" b="b"/>
            <a:pathLst>
              <a:path w="1015317" h="720547">
                <a:moveTo>
                  <a:pt x="81880" y="720547"/>
                </a:moveTo>
                <a:lnTo>
                  <a:pt x="933436" y="720547"/>
                </a:lnTo>
                <a:lnTo>
                  <a:pt x="1015317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6" name="S11-mark100"/>
          <p:cNvSpPr/>
          <p:nvPr/>
        </p:nvSpPr>
        <p:spPr>
          <a:xfrm>
            <a:off x="7966024" y="2162999"/>
            <a:ext cx="1080821" cy="982564"/>
          </a:xfrm>
          <a:custGeom>
            <a:avLst/>
            <a:gdLst/>
            <a:ahLst/>
            <a:cxnLst/>
            <a:rect l="l" t="t" r="r" b="b"/>
            <a:pathLst>
              <a:path w="1080821" h="982564">
                <a:moveTo>
                  <a:pt x="0" y="0"/>
                </a:moveTo>
                <a:lnTo>
                  <a:pt x="114633" y="982564"/>
                </a:lnTo>
                <a:lnTo>
                  <a:pt x="966188" y="982564"/>
                </a:lnTo>
                <a:lnTo>
                  <a:pt x="1080821" y="0"/>
                </a:lnTo>
              </a:path>
            </a:pathLst>
          </a:custGeom>
          <a:noFill/>
          <a:ln w="31750">
            <a:solidFill>
              <a:srgbClr val="1F2937"/>
            </a:solidFill>
            <a:prstDash val="solid"/>
          </a:ln>
        </p:spPr>
      </p:sp>
      <p:sp>
        <p:nvSpPr>
          <p:cNvPr id="7" name="S11-mark101"/>
          <p:cNvSpPr/>
          <p:nvPr/>
        </p:nvSpPr>
        <p:spPr>
          <a:xfrm>
            <a:off x="9587255" y="2228504"/>
            <a:ext cx="917060" cy="524034"/>
          </a:xfrm>
          <a:custGeom>
            <a:avLst/>
            <a:gdLst/>
            <a:ahLst/>
            <a:cxnLst/>
            <a:rect l="l" t="t" r="r" b="b"/>
            <a:pathLst>
              <a:path w="917060" h="524034">
                <a:moveTo>
                  <a:pt x="0" y="524034"/>
                </a:moveTo>
                <a:lnTo>
                  <a:pt x="917060" y="524034"/>
                </a:lnTo>
                <a:lnTo>
                  <a:pt x="917060" y="0"/>
                </a:lnTo>
                <a:lnTo>
                  <a:pt x="0" y="0"/>
                </a:lnTo>
                <a:close/>
              </a:path>
            </a:pathLst>
          </a:custGeom>
          <a:solidFill>
            <a:srgbClr val="FFFFFF"/>
          </a:solidFill>
          <a:ln w="19050">
            <a:solidFill>
              <a:srgbClr val="1F2937"/>
            </a:solidFill>
            <a:prstDash val="solid"/>
          </a:ln>
        </p:spPr>
      </p:sp>
      <p:sp>
        <p:nvSpPr>
          <p:cNvPr id="8" name="S11-mark102"/>
          <p:cNvSpPr/>
          <p:nvPr/>
        </p:nvSpPr>
        <p:spPr>
          <a:xfrm>
            <a:off x="9751016" y="1802726"/>
            <a:ext cx="589539" cy="589539"/>
          </a:xfrm>
          <a:prstGeom prst="ellipse">
            <a:avLst/>
          </a:prstGeom>
          <a:solidFill>
            <a:srgbClr val="DBEAFE"/>
          </a:solidFill>
          <a:ln w="38100">
            <a:solidFill>
              <a:srgbClr val="1F2937"/>
            </a:solidFill>
            <a:prstDash val="solid"/>
          </a:ln>
        </p:spPr>
      </p:sp>
      <p:sp>
        <p:nvSpPr>
          <p:cNvPr id="9" name="S11-mark103"/>
          <p:cNvSpPr/>
          <p:nvPr/>
        </p:nvSpPr>
        <p:spPr>
          <a:xfrm flipV="1">
            <a:off x="10242298" y="1638965"/>
            <a:ext cx="262017" cy="245641"/>
          </a:xfrm>
          <a:prstGeom prst="line">
            <a:avLst/>
          </a:prstGeom>
          <a:noFill/>
          <a:ln w="114300">
            <a:solidFill>
              <a:srgbClr val="4B5563"/>
            </a:solidFill>
            <a:prstDash val="solid"/>
          </a:ln>
        </p:spPr>
      </p:sp>
      <p:sp>
        <p:nvSpPr>
          <p:cNvPr id="10" name="S11-mark104"/>
          <p:cNvSpPr/>
          <p:nvPr/>
        </p:nvSpPr>
        <p:spPr>
          <a:xfrm flipV="1">
            <a:off x="8277170" y="1507956"/>
            <a:ext cx="589539" cy="491282"/>
          </a:xfrm>
          <a:prstGeom prst="line">
            <a:avLst/>
          </a:prstGeom>
          <a:noFill/>
          <a:ln w="114300">
            <a:solidFill>
              <a:srgbClr val="E9762B"/>
            </a:solidFill>
            <a:prstDash val="solid"/>
          </a:ln>
        </p:spPr>
      </p:sp>
      <p:sp>
        <p:nvSpPr>
          <p:cNvPr id="11" name="S11-mark105"/>
          <p:cNvSpPr/>
          <p:nvPr/>
        </p:nvSpPr>
        <p:spPr>
          <a:xfrm>
            <a:off x="8473682" y="2031991"/>
            <a:ext cx="0" cy="262017"/>
          </a:xfrm>
          <a:prstGeom prst="line">
            <a:avLst/>
          </a:prstGeom>
          <a:noFill/>
          <a:ln w="31750">
            <a:solidFill>
              <a:srgbClr val="3D5A80"/>
            </a:solidFill>
            <a:prstDash val="solid"/>
            <a:tailEnd type="triangle"/>
          </a:ln>
        </p:spPr>
      </p:sp>
      <p:sp>
        <p:nvSpPr>
          <p:cNvPr id="12" name="S11-label107"/>
          <p:cNvSpPr txBox="1"/>
          <p:nvPr/>
        </p:nvSpPr>
        <p:spPr>
          <a:xfrm>
            <a:off x="8314665" y="2643417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2200" dirty="0"/>
          </a:p>
        </p:txBody>
      </p:sp>
      <p:sp>
        <p:nvSpPr>
          <p:cNvPr id="13" name="S11-label109"/>
          <p:cNvSpPr txBox="1"/>
          <p:nvPr/>
        </p:nvSpPr>
        <p:spPr>
          <a:xfrm>
            <a:off x="9654879" y="2478654"/>
            <a:ext cx="781812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1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가나다</a:t>
            </a:r>
            <a:endParaRPr lang="ko-KR" sz="1800" dirty="0"/>
          </a:p>
        </p:txBody>
      </p:sp>
      <p:sp>
        <p:nvSpPr>
          <p:cNvPr id="14" name="S11-label111"/>
          <p:cNvSpPr txBox="1"/>
          <p:nvPr/>
        </p:nvSpPr>
        <p:spPr>
          <a:xfrm>
            <a:off x="8865554" y="1333331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</a:t>
            </a:r>
            <a:endParaRPr lang="ko-KR" sz="2200" dirty="0"/>
          </a:p>
        </p:txBody>
      </p:sp>
      <p:sp>
        <p:nvSpPr>
          <p:cNvPr id="15" name="S11-card112"/>
          <p:cNvSpPr/>
          <p:nvPr/>
        </p:nvSpPr>
        <p:spPr>
          <a:xfrm>
            <a:off x="6813652" y="3523488"/>
            <a:ext cx="4826660" cy="1597152"/>
          </a:xfrm>
          <a:prstGeom prst="roundRect">
            <a:avLst>
              <a:gd name="adj" fmla="val 687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1-cardtext113"/>
          <p:cNvSpPr txBox="1"/>
          <p:nvPr/>
        </p:nvSpPr>
        <p:spPr>
          <a:xfrm>
            <a:off x="7087972" y="3660648"/>
            <a:ext cx="4278020" cy="13228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관찰할 때 확인해요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물 표면 높이에서 봐요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☐ 꺼낸 빨대와 비교해요</a:t>
            </a:r>
            <a:endParaRPr lang="ko-KR" sz="2800" dirty="0"/>
          </a:p>
        </p:txBody>
      </p:sp>
      <p:sp>
        <p:nvSpPr>
          <p:cNvPr id="17" name="S11-stepno114"/>
          <p:cNvSpPr txBox="1"/>
          <p:nvPr/>
        </p:nvSpPr>
        <p:spPr>
          <a:xfrm>
            <a:off x="548640" y="1446276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</a:t>
            </a:r>
            <a:endParaRPr lang="ko-KR" sz="2200" dirty="0"/>
          </a:p>
        </p:txBody>
      </p:sp>
      <p:sp>
        <p:nvSpPr>
          <p:cNvPr id="18" name="S11-text115"/>
          <p:cNvSpPr txBox="1"/>
          <p:nvPr/>
        </p:nvSpPr>
        <p:spPr>
          <a:xfrm>
            <a:off x="1325880" y="1400556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물컵에 빨대를 비스듬히 넣고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옆에서 봐요.</a:t>
            </a:r>
            <a:endParaRPr lang="ko-KR" sz="2800" dirty="0"/>
          </a:p>
        </p:txBody>
      </p:sp>
      <p:sp>
        <p:nvSpPr>
          <p:cNvPr id="19" name="S11-stepno116"/>
          <p:cNvSpPr txBox="1"/>
          <p:nvPr/>
        </p:nvSpPr>
        <p:spPr>
          <a:xfrm>
            <a:off x="548640" y="2432812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</a:t>
            </a:r>
            <a:endParaRPr lang="ko-KR" sz="2200" dirty="0"/>
          </a:p>
        </p:txBody>
      </p:sp>
      <p:sp>
        <p:nvSpPr>
          <p:cNvPr id="20" name="S11-text117"/>
          <p:cNvSpPr txBox="1"/>
          <p:nvPr/>
        </p:nvSpPr>
        <p:spPr>
          <a:xfrm>
            <a:off x="1325880" y="2432812"/>
            <a:ext cx="51220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빨대를 꺼내 모양을 봐요.</a:t>
            </a:r>
            <a:endParaRPr lang="ko-KR" sz="2800" dirty="0"/>
          </a:p>
        </p:txBody>
      </p:sp>
      <p:sp>
        <p:nvSpPr>
          <p:cNvPr id="21" name="S11-stepno118"/>
          <p:cNvSpPr txBox="1"/>
          <p:nvPr/>
        </p:nvSpPr>
        <p:spPr>
          <a:xfrm>
            <a:off x="548640" y="3191764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endParaRPr lang="ko-KR" sz="2200" dirty="0"/>
          </a:p>
        </p:txBody>
      </p:sp>
      <p:sp>
        <p:nvSpPr>
          <p:cNvPr id="22" name="S11-text119"/>
          <p:cNvSpPr txBox="1"/>
          <p:nvPr/>
        </p:nvSpPr>
        <p:spPr>
          <a:xfrm>
            <a:off x="1325880" y="3146044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돋보기로 글자를 보며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천천히 들어 올려요.</a:t>
            </a:r>
            <a:endParaRPr lang="ko-KR" sz="2800" dirty="0"/>
          </a:p>
        </p:txBody>
      </p:sp>
      <p:sp>
        <p:nvSpPr>
          <p:cNvPr id="23" name="S11-stepno120"/>
          <p:cNvSpPr txBox="1"/>
          <p:nvPr/>
        </p:nvSpPr>
        <p:spPr>
          <a:xfrm>
            <a:off x="548640" y="4224020"/>
            <a:ext cx="548640" cy="548640"/>
          </a:xfrm>
          <a:prstGeom prst="ellipse">
            <a:avLst/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</a:t>
            </a:r>
            <a:endParaRPr lang="ko-KR" sz="2200" dirty="0"/>
          </a:p>
        </p:txBody>
      </p:sp>
      <p:sp>
        <p:nvSpPr>
          <p:cNvPr id="24" name="S11-text121"/>
          <p:cNvSpPr txBox="1"/>
          <p:nvPr/>
        </p:nvSpPr>
        <p:spPr>
          <a:xfrm>
            <a:off x="1325880" y="4178300"/>
            <a:ext cx="512201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돋보기 가운데와 가장자리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두께를 비교해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결과를 정리해요</a:t>
            </a:r>
            <a:endParaRPr lang="ko-KR" sz="4000" dirty="0"/>
          </a:p>
        </p:txBody>
      </p:sp>
      <p:sp>
        <p:nvSpPr>
          <p:cNvPr id="3" name="S12-text122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활동지 2를 보며 빈칸을 말로 채워요.</a:t>
            </a:r>
            <a:endParaRPr lang="ko-KR" sz="2800" dirty="0"/>
          </a:p>
        </p:txBody>
      </p:sp>
      <p:sp>
        <p:nvSpPr>
          <p:cNvPr id="4" name="S12-card123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2-cardtext124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꺾여 보인 빨대는 정말 꺾였을까요?</a:t>
            </a:r>
            <a:endParaRPr lang="ko-KR" sz="2800" dirty="0"/>
          </a:p>
        </p:txBody>
      </p:sp>
      <p:graphicFrame>
        <p:nvGraphicFramePr>
          <p:cNvPr id="13" name="S12-table1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36676" y="2362200"/>
          <a:ext cx="10515600" cy="914400"/>
        </p:xfrm>
        <a:graphic>
          <a:graphicData uri="http://schemas.openxmlformats.org/drawingml/2006/table">
            <a:tbl>
              <a:tblPr/>
              <a:tblGrid>
                <a:gridCol w="5257800"/>
                <a:gridCol w="5257800"/>
              </a:tblGrid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관찰한 것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b="1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결과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1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물컵 속 빨대(옆에서)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꺼낸 빨대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돋보기로 본 글자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81584"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r>
                        <a:rPr lang="en-US" sz="2400" dirty="0">
                          <a:solidFill>
                            <a:srgbClr val="1F293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돋보기에서 두꺼운 곳</a:t>
                      </a: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eaLnBrk="0" algn="ctr" indent="0" marL="0">
                        <a:buNone/>
                      </a:pPr>
                      <a:endParaRPr lang="en-US" sz="24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marL="38100" marR="38100" marT="38100" marB="38100" anchor="ctr">
                    <a:lnL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94A3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꺾여 나아가요</a:t>
            </a:r>
            <a:endParaRPr lang="ko-KR" sz="4000" dirty="0"/>
          </a:p>
        </p:txBody>
      </p:sp>
      <p:sp>
        <p:nvSpPr>
          <p:cNvPr id="3" name="S13-text126"/>
          <p:cNvSpPr txBox="1"/>
          <p:nvPr/>
        </p:nvSpPr>
        <p:spPr>
          <a:xfrm>
            <a:off x="548640" y="1325880"/>
            <a:ext cx="11091672" cy="8676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다른 물질의 경계에서 꺾여 나아가는 것을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빛의 굴절이라고 해요.</a:t>
            </a:r>
            <a:endParaRPr lang="ko-KR" sz="2800" dirty="0"/>
          </a:p>
        </p:txBody>
      </p:sp>
      <p:sp>
        <p:nvSpPr>
          <p:cNvPr id="4" name="S13-figure127" descr="물속에서 나온 빛이 물과 공기의 경계에서 꺾여 나아가는 그림(물속 30°, 공기 중 약 42°로 실제 비율에 맞춤). 점선은 꺾이지 않았다면 갔을 방향"/>
          <p:cNvSpPr/>
          <p:nvPr/>
        </p:nvSpPr>
        <p:spPr>
          <a:xfrm>
            <a:off x="892210" y="4297172"/>
            <a:ext cx="4675817" cy="1836928"/>
          </a:xfrm>
          <a:custGeom>
            <a:avLst/>
            <a:gdLst/>
            <a:ahLst/>
            <a:cxnLst/>
            <a:rect l="l" t="t" r="r" b="b"/>
            <a:pathLst>
              <a:path w="4675817" h="1836928">
                <a:moveTo>
                  <a:pt x="0" y="1836928"/>
                </a:moveTo>
                <a:lnTo>
                  <a:pt x="4675817" y="1836928"/>
                </a:lnTo>
                <a:lnTo>
                  <a:pt x="4675817" y="0"/>
                </a:lnTo>
                <a:lnTo>
                  <a:pt x="0" y="0"/>
                </a:lnTo>
                <a:close/>
              </a:path>
            </a:pathLst>
          </a:custGeom>
          <a:solidFill>
            <a:srgbClr val="CFE3F7"/>
          </a:solidFill>
          <a:ln/>
        </p:spPr>
      </p:sp>
      <p:sp>
        <p:nvSpPr>
          <p:cNvPr id="5" name="S13-mark128"/>
          <p:cNvSpPr/>
          <p:nvPr/>
        </p:nvSpPr>
        <p:spPr>
          <a:xfrm>
            <a:off x="892210" y="4297172"/>
            <a:ext cx="4675817" cy="0"/>
          </a:xfrm>
          <a:prstGeom prst="line">
            <a:avLst/>
          </a:prstGeom>
          <a:noFill/>
          <a:ln w="25400">
            <a:solidFill>
              <a:srgbClr val="1F2937"/>
            </a:solidFill>
            <a:prstDash val="solid"/>
          </a:ln>
        </p:spPr>
      </p:sp>
      <p:sp>
        <p:nvSpPr>
          <p:cNvPr id="6" name="S13-mark129"/>
          <p:cNvSpPr/>
          <p:nvPr/>
        </p:nvSpPr>
        <p:spPr>
          <a:xfrm flipV="1">
            <a:off x="2311654" y="4297172"/>
            <a:ext cx="918464" cy="1590613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7" name="S13-mark130"/>
          <p:cNvSpPr/>
          <p:nvPr/>
        </p:nvSpPr>
        <p:spPr>
          <a:xfrm flipV="1">
            <a:off x="3230118" y="2925321"/>
            <a:ext cx="1221557" cy="1371851"/>
          </a:xfrm>
          <a:prstGeom prst="line">
            <a:avLst/>
          </a:prstGeom>
          <a:noFill/>
          <a:ln w="34925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8" name="S13-mark131"/>
          <p:cNvSpPr/>
          <p:nvPr/>
        </p:nvSpPr>
        <p:spPr>
          <a:xfrm flipV="1">
            <a:off x="3230118" y="2851009"/>
            <a:ext cx="834967" cy="1446163"/>
          </a:xfrm>
          <a:prstGeom prst="line">
            <a:avLst/>
          </a:prstGeom>
          <a:noFill/>
          <a:ln w="19050">
            <a:solidFill>
              <a:srgbClr val="6B7280"/>
            </a:solidFill>
            <a:prstDash val="dash"/>
          </a:ln>
        </p:spPr>
      </p:sp>
      <p:sp>
        <p:nvSpPr>
          <p:cNvPr id="9" name="S13-label133"/>
          <p:cNvSpPr txBox="1"/>
          <p:nvPr/>
        </p:nvSpPr>
        <p:spPr>
          <a:xfrm>
            <a:off x="1315004" y="3287580"/>
            <a:ext cx="657352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공기</a:t>
            </a:r>
            <a:endParaRPr lang="ko-KR" sz="2200" dirty="0"/>
          </a:p>
        </p:txBody>
      </p:sp>
      <p:sp>
        <p:nvSpPr>
          <p:cNvPr id="10" name="S13-label135"/>
          <p:cNvSpPr txBox="1"/>
          <p:nvPr/>
        </p:nvSpPr>
        <p:spPr>
          <a:xfrm>
            <a:off x="4374296" y="5124508"/>
            <a:ext cx="383540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</a:t>
            </a:r>
            <a:endParaRPr lang="ko-KR" sz="2200" dirty="0"/>
          </a:p>
        </p:txBody>
      </p:sp>
      <p:sp>
        <p:nvSpPr>
          <p:cNvPr id="11" name="S13-card136"/>
          <p:cNvSpPr/>
          <p:nvPr/>
        </p:nvSpPr>
        <p:spPr>
          <a:xfrm>
            <a:off x="6277356" y="2986024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2" name="S13-cardtext137"/>
          <p:cNvSpPr txBox="1"/>
          <p:nvPr/>
        </p:nvSpPr>
        <p:spPr>
          <a:xfrm>
            <a:off x="6551676" y="3123184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 빨대에서 온 빛이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 표면에서 꺾여요.</a:t>
            </a:r>
            <a:endParaRPr lang="ko-KR" sz="2800" dirty="0"/>
          </a:p>
        </p:txBody>
      </p:sp>
      <p:sp>
        <p:nvSpPr>
          <p:cNvPr id="13" name="S13-card138"/>
          <p:cNvSpPr/>
          <p:nvPr/>
        </p:nvSpPr>
        <p:spPr>
          <a:xfrm>
            <a:off x="6277356" y="441147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4" name="S13-cardtext139"/>
          <p:cNvSpPr txBox="1"/>
          <p:nvPr/>
        </p:nvSpPr>
        <p:spPr>
          <a:xfrm>
            <a:off x="6551676" y="454863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꺾인 빛이 눈에 들어와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빨대가 꺾여 보여요.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 렌즈</a:t>
            </a:r>
            <a:endParaRPr lang="ko-KR" sz="4000" dirty="0"/>
          </a:p>
        </p:txBody>
      </p:sp>
      <p:sp>
        <p:nvSpPr>
          <p:cNvPr id="3" name="S14-text140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가운데가 가장자리보다 두꺼운 렌즈를 볼록 렌즈라고 해요.</a:t>
            </a:r>
            <a:endParaRPr lang="ko-KR" sz="2800" dirty="0"/>
          </a:p>
        </p:txBody>
      </p:sp>
      <p:sp>
        <p:nvSpPr>
          <p:cNvPr id="4" name="S14-card141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14-cardtext142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햇빛을 모으면 불이 날 수 있어요. 해를 렌즈로 보지 않아요.</a:t>
            </a:r>
            <a:endParaRPr lang="ko-KR" sz="2800" dirty="0"/>
          </a:p>
        </p:txBody>
      </p:sp>
      <p:sp>
        <p:nvSpPr>
          <p:cNvPr id="6" name="S14-figure143" descr="가운데가 가장자리보다 두꺼운 볼록 렌즈를 지난 나란한 빛 세 줄기가 꺾여 한곳에 모이는 그림"/>
          <p:cNvSpPr/>
          <p:nvPr/>
        </p:nvSpPr>
        <p:spPr>
          <a:xfrm>
            <a:off x="2943020" y="2607034"/>
            <a:ext cx="446313" cy="1918252"/>
          </a:xfrm>
          <a:custGeom>
            <a:avLst/>
            <a:gdLst/>
            <a:ahLst/>
            <a:cxnLst/>
            <a:rect l="l" t="t" r="r" b="b"/>
            <a:pathLst>
              <a:path w="446313" h="1918252">
                <a:moveTo>
                  <a:pt x="223157" y="0"/>
                </a:moveTo>
                <a:lnTo>
                  <a:pt x="274949" y="113177"/>
                </a:lnTo>
                <a:lnTo>
                  <a:pt x="319709" y="228911"/>
                </a:lnTo>
                <a:lnTo>
                  <a:pt x="358074" y="346564"/>
                </a:lnTo>
                <a:lnTo>
                  <a:pt x="389405" y="466775"/>
                </a:lnTo>
                <a:lnTo>
                  <a:pt x="414342" y="588264"/>
                </a:lnTo>
                <a:lnTo>
                  <a:pt x="432246" y="711032"/>
                </a:lnTo>
                <a:lnTo>
                  <a:pt x="442477" y="835079"/>
                </a:lnTo>
                <a:lnTo>
                  <a:pt x="446313" y="959126"/>
                </a:lnTo>
                <a:lnTo>
                  <a:pt x="442477" y="1083173"/>
                </a:lnTo>
                <a:lnTo>
                  <a:pt x="432246" y="1207220"/>
                </a:lnTo>
                <a:lnTo>
                  <a:pt x="414342" y="1329988"/>
                </a:lnTo>
                <a:lnTo>
                  <a:pt x="389405" y="1451477"/>
                </a:lnTo>
                <a:lnTo>
                  <a:pt x="358074" y="1571688"/>
                </a:lnTo>
                <a:lnTo>
                  <a:pt x="319709" y="1689341"/>
                </a:lnTo>
                <a:lnTo>
                  <a:pt x="274949" y="1805075"/>
                </a:lnTo>
                <a:lnTo>
                  <a:pt x="223157" y="1918252"/>
                </a:lnTo>
                <a:lnTo>
                  <a:pt x="171364" y="1805075"/>
                </a:lnTo>
                <a:lnTo>
                  <a:pt x="126605" y="1689341"/>
                </a:lnTo>
                <a:lnTo>
                  <a:pt x="88240" y="1571688"/>
                </a:lnTo>
                <a:lnTo>
                  <a:pt x="56908" y="1451477"/>
                </a:lnTo>
                <a:lnTo>
                  <a:pt x="31971" y="1329988"/>
                </a:lnTo>
                <a:lnTo>
                  <a:pt x="14067" y="1207220"/>
                </a:lnTo>
                <a:lnTo>
                  <a:pt x="3837" y="1083173"/>
                </a:lnTo>
                <a:lnTo>
                  <a:pt x="0" y="959126"/>
                </a:lnTo>
                <a:lnTo>
                  <a:pt x="3837" y="835079"/>
                </a:lnTo>
                <a:lnTo>
                  <a:pt x="14067" y="711032"/>
                </a:lnTo>
                <a:lnTo>
                  <a:pt x="31971" y="588264"/>
                </a:lnTo>
                <a:lnTo>
                  <a:pt x="56908" y="466775"/>
                </a:lnTo>
                <a:lnTo>
                  <a:pt x="88240" y="346564"/>
                </a:lnTo>
                <a:lnTo>
                  <a:pt x="126605" y="228911"/>
                </a:lnTo>
                <a:lnTo>
                  <a:pt x="171364" y="113177"/>
                </a:lnTo>
                <a:close/>
              </a:path>
            </a:pathLst>
          </a:custGeom>
          <a:solidFill>
            <a:srgbClr val="DBEAFE"/>
          </a:solidFill>
          <a:ln w="25400">
            <a:solidFill>
              <a:srgbClr val="1F2937"/>
            </a:solidFill>
            <a:prstDash val="solid"/>
          </a:ln>
        </p:spPr>
      </p:sp>
      <p:sp>
        <p:nvSpPr>
          <p:cNvPr id="7" name="S14-mark144"/>
          <p:cNvSpPr/>
          <p:nvPr/>
        </p:nvSpPr>
        <p:spPr>
          <a:xfrm>
            <a:off x="1120041" y="2926743"/>
            <a:ext cx="2046136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8" name="S14-mark145"/>
          <p:cNvSpPr/>
          <p:nvPr/>
        </p:nvSpPr>
        <p:spPr>
          <a:xfrm>
            <a:off x="3166176" y="2926743"/>
            <a:ext cx="1918252" cy="639417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9" name="S14-mark146"/>
          <p:cNvSpPr/>
          <p:nvPr/>
        </p:nvSpPr>
        <p:spPr>
          <a:xfrm>
            <a:off x="1120041" y="3566160"/>
            <a:ext cx="2046136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0" name="S14-mark147"/>
          <p:cNvSpPr/>
          <p:nvPr/>
        </p:nvSpPr>
        <p:spPr>
          <a:xfrm>
            <a:off x="3166176" y="3566160"/>
            <a:ext cx="1918252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1" name="S14-mark148"/>
          <p:cNvSpPr/>
          <p:nvPr/>
        </p:nvSpPr>
        <p:spPr>
          <a:xfrm>
            <a:off x="1120041" y="4205577"/>
            <a:ext cx="2046136" cy="0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  <a:tailEnd type="triangle"/>
          </a:ln>
        </p:spPr>
      </p:sp>
      <p:sp>
        <p:nvSpPr>
          <p:cNvPr id="12" name="S14-mark149"/>
          <p:cNvSpPr/>
          <p:nvPr/>
        </p:nvSpPr>
        <p:spPr>
          <a:xfrm flipV="1">
            <a:off x="3166176" y="3566160"/>
            <a:ext cx="1918252" cy="639417"/>
          </a:xfrm>
          <a:prstGeom prst="line">
            <a:avLst/>
          </a:prstGeom>
          <a:noFill/>
          <a:ln w="31750">
            <a:solidFill>
              <a:srgbClr val="E9762B"/>
            </a:solidFill>
            <a:prstDash val="solid"/>
          </a:ln>
        </p:spPr>
      </p:sp>
      <p:sp>
        <p:nvSpPr>
          <p:cNvPr id="13" name="S14-label151"/>
          <p:cNvSpPr txBox="1"/>
          <p:nvPr/>
        </p:nvSpPr>
        <p:spPr>
          <a:xfrm>
            <a:off x="2521778" y="2112700"/>
            <a:ext cx="1288796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 렌즈</a:t>
            </a:r>
            <a:endParaRPr lang="ko-KR" sz="2200" dirty="0"/>
          </a:p>
        </p:txBody>
      </p:sp>
      <p:sp>
        <p:nvSpPr>
          <p:cNvPr id="14" name="S14-label153"/>
          <p:cNvSpPr txBox="1"/>
          <p:nvPr/>
        </p:nvSpPr>
        <p:spPr>
          <a:xfrm>
            <a:off x="4618846" y="3775185"/>
            <a:ext cx="931164" cy="349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모여요</a:t>
            </a:r>
            <a:endParaRPr lang="ko-KR" sz="2200" dirty="0"/>
          </a:p>
        </p:txBody>
      </p:sp>
      <p:sp>
        <p:nvSpPr>
          <p:cNvPr id="15" name="S14-card154"/>
          <p:cNvSpPr/>
          <p:nvPr/>
        </p:nvSpPr>
        <p:spPr>
          <a:xfrm>
            <a:off x="6277356" y="2255012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6" name="S14-cardtext155"/>
          <p:cNvSpPr txBox="1"/>
          <p:nvPr/>
        </p:nvSpPr>
        <p:spPr>
          <a:xfrm>
            <a:off x="6551676" y="2392172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가까운 물체를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크게 볼 수 있어요.</a:t>
            </a:r>
            <a:endParaRPr lang="ko-KR" sz="2800" dirty="0"/>
          </a:p>
        </p:txBody>
      </p:sp>
      <p:sp>
        <p:nvSpPr>
          <p:cNvPr id="17" name="S14-card156"/>
          <p:cNvSpPr/>
          <p:nvPr/>
        </p:nvSpPr>
        <p:spPr>
          <a:xfrm>
            <a:off x="6277356" y="3680460"/>
            <a:ext cx="5362956" cy="1196848"/>
          </a:xfrm>
          <a:prstGeom prst="roundRect">
            <a:avLst>
              <a:gd name="adj" fmla="val 9168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8" name="S14-cardtext157"/>
          <p:cNvSpPr txBox="1"/>
          <p:nvPr/>
        </p:nvSpPr>
        <p:spPr>
          <a:xfrm>
            <a:off x="6551676" y="3817620"/>
            <a:ext cx="4814316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돋보기·현미경·망원경·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사진기에 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</a:t>
            </a:r>
            <a:endParaRPr lang="ko-KR" sz="4000" dirty="0"/>
          </a:p>
        </p:txBody>
      </p:sp>
      <p:sp>
        <p:nvSpPr>
          <p:cNvPr id="3" name="S15-card158"/>
          <p:cNvSpPr/>
          <p:nvPr/>
        </p:nvSpPr>
        <p:spPr>
          <a:xfrm>
            <a:off x="548640" y="132588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5-cardtext159"/>
          <p:cNvSpPr txBox="1"/>
          <p:nvPr/>
        </p:nvSpPr>
        <p:spPr>
          <a:xfrm>
            <a:off x="822960" y="146304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물컵 속 빨대가 물 표면에서 꺾여 보였어요.</a:t>
            </a:r>
            <a:endParaRPr lang="ko-KR" sz="2800" dirty="0"/>
          </a:p>
        </p:txBody>
      </p:sp>
      <p:sp>
        <p:nvSpPr>
          <p:cNvPr id="5" name="S15-card160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6" name="S15-cardtext161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누구 말이 맞을까요? 무엇이 증거일까요?</a:t>
            </a:r>
            <a:endParaRPr lang="ko-KR" sz="2800" dirty="0"/>
          </a:p>
        </p:txBody>
      </p:sp>
      <p:sp>
        <p:nvSpPr>
          <p:cNvPr id="7" name="S15-chip162"/>
          <p:cNvSpPr txBox="1"/>
          <p:nvPr/>
        </p:nvSpPr>
        <p:spPr>
          <a:xfrm>
            <a:off x="548640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토끼</a:t>
            </a:r>
            <a:endParaRPr lang="ko-KR" sz="2200" dirty="0"/>
          </a:p>
        </p:txBody>
      </p:sp>
      <p:sp>
        <p:nvSpPr>
          <p:cNvPr id="8" name="S15-text163"/>
          <p:cNvSpPr txBox="1"/>
          <p:nvPr/>
        </p:nvSpPr>
        <p:spPr>
          <a:xfrm>
            <a:off x="548640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빨대를 휘게 해서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정말 꺾였어요.</a:t>
            </a:r>
            <a:endParaRPr lang="ko-KR" sz="2800" dirty="0"/>
          </a:p>
        </p:txBody>
      </p:sp>
      <p:sp>
        <p:nvSpPr>
          <p:cNvPr id="9" name="S15-chip164"/>
          <p:cNvSpPr txBox="1"/>
          <p:nvPr/>
        </p:nvSpPr>
        <p:spPr>
          <a:xfrm>
            <a:off x="6277356" y="2423160"/>
            <a:ext cx="5362956" cy="566928"/>
          </a:xfrm>
          <a:prstGeom prst="roundRect">
            <a:avLst>
              <a:gd name="adj" fmla="val 25806"/>
            </a:avLst>
          </a:prstGeom>
          <a:solidFill>
            <a:srgbClr val="E6ECF4"/>
          </a:solidFill>
          <a:ln>
            <a:solidFill>
              <a:srgbClr val="E6ECF4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곰</a:t>
            </a:r>
            <a:endParaRPr lang="ko-KR" sz="2200" dirty="0"/>
          </a:p>
        </p:txBody>
      </p:sp>
      <p:sp>
        <p:nvSpPr>
          <p:cNvPr id="10" name="S15-text165"/>
          <p:cNvSpPr txBox="1"/>
          <p:nvPr/>
        </p:nvSpPr>
        <p:spPr>
          <a:xfrm>
            <a:off x="6277356" y="3154680"/>
            <a:ext cx="5362956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빛이 꺾여서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꺾여 보이는 거예요.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혼자 해 보기</a:t>
            </a:r>
            <a:endParaRPr lang="ko-KR" sz="4000" dirty="0"/>
          </a:p>
        </p:txBody>
      </p:sp>
      <p:sp>
        <p:nvSpPr>
          <p:cNvPr id="3" name="S16-chip166"/>
          <p:cNvSpPr txBox="1"/>
          <p:nvPr/>
        </p:nvSpPr>
        <p:spPr>
          <a:xfrm>
            <a:off x="548640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</a:t>
            </a:r>
            <a:endParaRPr lang="ko-KR" sz="2200" dirty="0"/>
          </a:p>
        </p:txBody>
      </p:sp>
      <p:sp>
        <p:nvSpPr>
          <p:cNvPr id="4" name="S16-text167"/>
          <p:cNvSpPr txBox="1"/>
          <p:nvPr/>
        </p:nvSpPr>
        <p:spPr>
          <a:xfrm>
            <a:off x="1344168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해가 비치면 나무 그림자가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생기는 까닭은?</a:t>
            </a:r>
            <a:endParaRPr lang="ko-KR" sz="2800" dirty="0"/>
          </a:p>
        </p:txBody>
      </p:sp>
      <p:sp>
        <p:nvSpPr>
          <p:cNvPr id="5" name="S16-chip168"/>
          <p:cNvSpPr txBox="1"/>
          <p:nvPr/>
        </p:nvSpPr>
        <p:spPr>
          <a:xfrm>
            <a:off x="6277356" y="177393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</a:t>
            </a:r>
            <a:endParaRPr lang="ko-KR" sz="2200" dirty="0"/>
          </a:p>
        </p:txBody>
      </p:sp>
      <p:sp>
        <p:nvSpPr>
          <p:cNvPr id="6" name="S16-text169"/>
          <p:cNvSpPr txBox="1"/>
          <p:nvPr/>
        </p:nvSpPr>
        <p:spPr>
          <a:xfrm>
            <a:off x="7072884" y="132588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자동차 옆거울로 뒤를 보는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것은 빛의 무엇 때문?</a:t>
            </a:r>
            <a:endParaRPr lang="ko-KR" sz="2800" dirty="0"/>
          </a:p>
        </p:txBody>
      </p:sp>
      <p:sp>
        <p:nvSpPr>
          <p:cNvPr id="7" name="S16-chip170"/>
          <p:cNvSpPr txBox="1"/>
          <p:nvPr/>
        </p:nvSpPr>
        <p:spPr>
          <a:xfrm>
            <a:off x="548640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</a:t>
            </a:r>
            <a:endParaRPr lang="ko-KR" sz="2200" dirty="0"/>
          </a:p>
        </p:txBody>
      </p:sp>
      <p:sp>
        <p:nvSpPr>
          <p:cNvPr id="8" name="S16-text171"/>
          <p:cNvSpPr txBox="1"/>
          <p:nvPr/>
        </p:nvSpPr>
        <p:spPr>
          <a:xfrm>
            <a:off x="1344168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물이 담긴 수영장 바닥이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얕아 보이는 까닭은?</a:t>
            </a:r>
            <a:endParaRPr lang="ko-KR" sz="2800" dirty="0"/>
          </a:p>
        </p:txBody>
      </p:sp>
      <p:sp>
        <p:nvSpPr>
          <p:cNvPr id="9" name="S16-chip172"/>
          <p:cNvSpPr txBox="1"/>
          <p:nvPr/>
        </p:nvSpPr>
        <p:spPr>
          <a:xfrm>
            <a:off x="6277356" y="4311396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④</a:t>
            </a:r>
            <a:endParaRPr lang="ko-KR" sz="2200" dirty="0"/>
          </a:p>
        </p:txBody>
      </p:sp>
      <p:sp>
        <p:nvSpPr>
          <p:cNvPr id="10" name="S16-text173"/>
          <p:cNvSpPr txBox="1"/>
          <p:nvPr/>
        </p:nvSpPr>
        <p:spPr>
          <a:xfrm>
            <a:off x="7072884" y="3863340"/>
            <a:ext cx="4567428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볼록 렌즈를 쓰는 물건</a:t>
            </a:r>
            <a:endParaRPr lang="ko-KR" sz="2800" dirty="0"/>
          </a:p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두 가지는?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굴절로 생기는 일은?</a:t>
            </a:r>
            <a:endParaRPr lang="ko-KR" sz="4000" dirty="0"/>
          </a:p>
        </p:txBody>
      </p:sp>
      <p:sp>
        <p:nvSpPr>
          <p:cNvPr id="3" name="S18-card174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4" name="S18-cardtext175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고르고, 나머지 둘은 무엇 때문인지도 말해요.</a:t>
            </a:r>
            <a:endParaRPr lang="ko-KR" sz="2800" dirty="0"/>
          </a:p>
        </p:txBody>
      </p:sp>
      <p:sp>
        <p:nvSpPr>
          <p:cNvPr id="5" name="S18-chip176"/>
          <p:cNvSpPr txBox="1"/>
          <p:nvPr/>
        </p:nvSpPr>
        <p:spPr>
          <a:xfrm>
            <a:off x="1991868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</a:t>
            </a:r>
            <a:endParaRPr lang="ko-KR" sz="2800" dirty="0"/>
          </a:p>
        </p:txBody>
      </p:sp>
      <p:sp>
        <p:nvSpPr>
          <p:cNvPr id="6" name="S18-card177"/>
          <p:cNvSpPr/>
          <p:nvPr/>
        </p:nvSpPr>
        <p:spPr>
          <a:xfrm>
            <a:off x="548640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18-cardtext178"/>
          <p:cNvSpPr txBox="1"/>
          <p:nvPr/>
        </p:nvSpPr>
        <p:spPr>
          <a:xfrm>
            <a:off x="822960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거울에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내 얼굴이 비쳐요.</a:t>
            </a:r>
            <a:endParaRPr lang="ko-KR" sz="2800" dirty="0"/>
          </a:p>
        </p:txBody>
      </p:sp>
      <p:sp>
        <p:nvSpPr>
          <p:cNvPr id="8" name="S18-chip179"/>
          <p:cNvSpPr txBox="1"/>
          <p:nvPr/>
        </p:nvSpPr>
        <p:spPr>
          <a:xfrm>
            <a:off x="5811012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나</a:t>
            </a:r>
            <a:endParaRPr lang="ko-KR" sz="2800" dirty="0"/>
          </a:p>
        </p:txBody>
      </p:sp>
      <p:sp>
        <p:nvSpPr>
          <p:cNvPr id="9" name="S18-card180"/>
          <p:cNvSpPr/>
          <p:nvPr/>
        </p:nvSpPr>
        <p:spPr>
          <a:xfrm>
            <a:off x="4367784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0" name="S18-cardtext181"/>
          <p:cNvSpPr txBox="1"/>
          <p:nvPr/>
        </p:nvSpPr>
        <p:spPr>
          <a:xfrm>
            <a:off x="4642104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물속에 넣은 다리가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짧아 보여요.</a:t>
            </a:r>
            <a:endParaRPr lang="ko-KR" sz="2800" dirty="0"/>
          </a:p>
        </p:txBody>
      </p:sp>
      <p:sp>
        <p:nvSpPr>
          <p:cNvPr id="11" name="S18-chip182"/>
          <p:cNvSpPr txBox="1"/>
          <p:nvPr/>
        </p:nvSpPr>
        <p:spPr>
          <a:xfrm>
            <a:off x="9630156" y="1325880"/>
            <a:ext cx="566928" cy="566928"/>
          </a:xfrm>
          <a:prstGeom prst="roundRect">
            <a:avLst>
              <a:gd name="adj" fmla="val 25806"/>
            </a:avLst>
          </a:prstGeom>
          <a:solidFill>
            <a:srgbClr val="264653"/>
          </a:solidFill>
          <a:ln>
            <a:solidFill>
              <a:srgbClr val="264653"/>
            </a:solidFill>
          </a:ln>
        </p:spPr>
        <p:txBody>
          <a:bodyPr wrap="square" lIns="0" tIns="0" rIns="0" bIns="0" rtlCol="0" anchor="ctr"/>
          <a:lstStyle/>
          <a:p>
            <a:pPr eaLnBrk="0" algn="ctr" indent="0" marL="0">
              <a:buNone/>
            </a:pPr>
            <a:r>
              <a:rPr lang="ko-KR" altLang="en-US" sz="2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</a:t>
            </a:r>
            <a:endParaRPr lang="ko-KR" sz="2800" dirty="0"/>
          </a:p>
        </p:txBody>
      </p:sp>
      <p:sp>
        <p:nvSpPr>
          <p:cNvPr id="12" name="S18-card183"/>
          <p:cNvSpPr/>
          <p:nvPr/>
        </p:nvSpPr>
        <p:spPr>
          <a:xfrm>
            <a:off x="8186928" y="2029968"/>
            <a:ext cx="3453384" cy="3090672"/>
          </a:xfrm>
          <a:prstGeom prst="roundRect">
            <a:avLst>
              <a:gd name="adj" fmla="val 355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3" name="S18-cardtext184"/>
          <p:cNvSpPr txBox="1"/>
          <p:nvPr/>
        </p:nvSpPr>
        <p:spPr>
          <a:xfrm>
            <a:off x="8461248" y="2167128"/>
            <a:ext cx="2904744" cy="2816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벽에 손 그림자가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생겨요.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 배운 것</a:t>
            </a:r>
            <a:endParaRPr lang="ko-KR" sz="4000" dirty="0"/>
          </a:p>
        </p:txBody>
      </p:sp>
      <p:sp>
        <p:nvSpPr>
          <p:cNvPr id="3" name="S19-card185"/>
          <p:cNvSpPr/>
          <p:nvPr/>
        </p:nvSpPr>
        <p:spPr>
          <a:xfrm>
            <a:off x="548640" y="1325880"/>
            <a:ext cx="11091672" cy="1196848"/>
          </a:xfrm>
          <a:prstGeom prst="roundRect">
            <a:avLst>
              <a:gd name="adj" fmla="val 9168"/>
            </a:avLst>
          </a:prstGeom>
          <a:solidFill>
            <a:srgbClr val="32606F"/>
          </a:solidFill>
          <a:ln w="12700">
            <a:solidFill>
              <a:srgbClr val="32606F"/>
            </a:solidFill>
            <a:prstDash val="solid"/>
          </a:ln>
        </p:spPr>
      </p:sp>
      <p:sp>
        <p:nvSpPr>
          <p:cNvPr id="4" name="S19-cardtext186"/>
          <p:cNvSpPr txBox="1"/>
          <p:nvPr/>
        </p:nvSpPr>
        <p:spPr>
          <a:xfrm>
            <a:off x="822960" y="1463040"/>
            <a:ext cx="10543032" cy="922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빛은 곧게 나아가다 거울에서 반사되고,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다른 물질의 경계에서는 굴절해요.</a:t>
            </a:r>
            <a:endParaRPr lang="ko-KR" sz="2800" dirty="0"/>
          </a:p>
        </p:txBody>
      </p:sp>
      <p:sp>
        <p:nvSpPr>
          <p:cNvPr id="5" name="S19-chip187"/>
          <p:cNvSpPr txBox="1"/>
          <p:nvPr/>
        </p:nvSpPr>
        <p:spPr>
          <a:xfrm>
            <a:off x="548640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2A9D8F"/>
          </a:solidFill>
          <a:ln>
            <a:solidFill>
              <a:srgbClr val="2A9D8F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○ 결과를 증거로 설명하기</a:t>
            </a:r>
            <a:endParaRPr lang="ko-KR" sz="2200" dirty="0"/>
          </a:p>
        </p:txBody>
      </p:sp>
      <p:sp>
        <p:nvSpPr>
          <p:cNvPr id="6" name="S19-chip188"/>
          <p:cNvSpPr txBox="1"/>
          <p:nvPr/>
        </p:nvSpPr>
        <p:spPr>
          <a:xfrm>
            <a:off x="6208776" y="2751328"/>
            <a:ext cx="5431536" cy="594360"/>
          </a:xfrm>
          <a:prstGeom prst="roundRect">
            <a:avLst>
              <a:gd name="adj" fmla="val 24615"/>
            </a:avLst>
          </a:prstGeom>
          <a:solidFill>
            <a:srgbClr val="C8434E"/>
          </a:solidFill>
          <a:ln>
            <a:solidFill>
              <a:srgbClr val="C8434E"/>
            </a:solidFill>
          </a:ln>
        </p:spPr>
        <p:txBody>
          <a:bodyPr wrap="square" lIns="177800" tIns="0" rIns="177800" bIns="0" rtlCol="0" anchor="ctr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× 렌즈·거울로 해를 보기</a:t>
            </a:r>
            <a:endParaRPr lang="ko-KR" sz="2200" dirty="0"/>
          </a:p>
        </p:txBody>
      </p:sp>
      <p:sp>
        <p:nvSpPr>
          <p:cNvPr id="7" name="S19-text189"/>
          <p:cNvSpPr txBox="1"/>
          <p:nvPr/>
        </p:nvSpPr>
        <p:spPr>
          <a:xfrm>
            <a:off x="548640" y="3574288"/>
            <a:ext cx="110916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eaLnBrk="0" algn="l" indent="0" marL="0">
              <a:buNone/>
            </a:pPr>
            <a:r>
              <a:rPr lang="ko-KR" alt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수업을 시작할 때 다시 풀어요</a:t>
            </a:r>
            <a:endParaRPr lang="ko-KR" sz="2200" dirty="0"/>
          </a:p>
        </p:txBody>
      </p:sp>
      <p:sp>
        <p:nvSpPr>
          <p:cNvPr id="8" name="S19-text190"/>
          <p:cNvSpPr txBox="1"/>
          <p:nvPr/>
        </p:nvSpPr>
        <p:spPr>
          <a:xfrm>
            <a:off x="548640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① 빛이 곧게 나아가서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생기는 것은?</a:t>
            </a:r>
            <a:endParaRPr lang="ko-KR" sz="2200" dirty="0"/>
          </a:p>
        </p:txBody>
      </p:sp>
      <p:sp>
        <p:nvSpPr>
          <p:cNvPr id="9" name="S19-text191"/>
          <p:cNvSpPr txBox="1"/>
          <p:nvPr/>
        </p:nvSpPr>
        <p:spPr>
          <a:xfrm>
            <a:off x="4322064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② 빛이 거울에 부딪쳐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방향이 바뀌는 것은?</a:t>
            </a:r>
            <a:endParaRPr lang="ko-KR" sz="2200" dirty="0"/>
          </a:p>
        </p:txBody>
      </p:sp>
      <p:sp>
        <p:nvSpPr>
          <p:cNvPr id="10" name="S19-text192"/>
          <p:cNvSpPr txBox="1"/>
          <p:nvPr/>
        </p:nvSpPr>
        <p:spPr>
          <a:xfrm>
            <a:off x="8095488" y="4077208"/>
            <a:ext cx="3544824" cy="15006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③ 볼록 렌즈는 어떻게</a:t>
            </a:r>
            <a:endParaRPr lang="ko-KR" sz="2200" dirty="0"/>
          </a:p>
          <a:p>
            <a:pPr eaLnBrk="0" algn="l" indent="0" marL="0">
              <a:buNone/>
            </a:pPr>
            <a:r>
              <a:rPr lang="ko-KR" altLang="en-US" sz="22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생겼나요?</a:t>
            </a:r>
            <a:endParaRPr lang="ko-KR" sz="2200" dirty="0"/>
          </a:p>
        </p:txBody>
      </p:sp>
      <p:sp>
        <p:nvSpPr>
          <p:cNvPr id="11" name="S19-text193"/>
          <p:cNvSpPr txBox="1"/>
          <p:nvPr/>
        </p:nvSpPr>
        <p:spPr>
          <a:xfrm>
            <a:off x="548640" y="571500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200" dirty="0">
                <a:solidFill>
                  <a:srgbClr val="C9DCD8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다음 시간: 용해와 용액</a:t>
            </a:r>
            <a:endParaRPr lang="ko-KR" sz="2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C9DCD8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40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보충: 관찰 기록하기</a:t>
            </a:r>
            <a:endParaRPr lang="ko-KR" sz="4000" dirty="0"/>
          </a:p>
        </p:txBody>
      </p:sp>
      <p:sp>
        <p:nvSpPr>
          <p:cNvPr id="3" name="S20-text194"/>
          <p:cNvSpPr txBox="1"/>
          <p:nvPr/>
        </p:nvSpPr>
        <p:spPr>
          <a:xfrm>
            <a:off x="548640" y="1325880"/>
            <a:ext cx="110916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algn="l" indent="0" marL="0"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기록에는 이것을 써요.</a:t>
            </a:r>
            <a:endParaRPr lang="ko-KR" sz="2800" dirty="0"/>
          </a:p>
        </p:txBody>
      </p:sp>
      <p:sp>
        <p:nvSpPr>
          <p:cNvPr id="4" name="S20-card195"/>
          <p:cNvSpPr/>
          <p:nvPr/>
        </p:nvSpPr>
        <p:spPr>
          <a:xfrm>
            <a:off x="548640" y="5349240"/>
            <a:ext cx="11091672" cy="868680"/>
          </a:xfrm>
          <a:prstGeom prst="roundRect">
            <a:avLst>
              <a:gd name="adj" fmla="val 12632"/>
            </a:avLst>
          </a:prstGeom>
          <a:solidFill>
            <a:srgbClr val="FDEBDD"/>
          </a:solidFill>
          <a:ln w="12700">
            <a:solidFill>
              <a:srgbClr val="FDEBDD"/>
            </a:solidFill>
            <a:prstDash val="solid"/>
          </a:ln>
        </p:spPr>
      </p:sp>
      <p:sp>
        <p:nvSpPr>
          <p:cNvPr id="5" name="S20-cardtext196"/>
          <p:cNvSpPr txBox="1"/>
          <p:nvPr/>
        </p:nvSpPr>
        <p:spPr>
          <a:xfrm>
            <a:off x="822960" y="5486400"/>
            <a:ext cx="1054303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예상과 결과는 나누어 써요. 예상이 틀려도 괜찮아요.</a:t>
            </a:r>
            <a:endParaRPr lang="ko-KR" sz="2800" dirty="0"/>
          </a:p>
        </p:txBody>
      </p:sp>
      <p:sp>
        <p:nvSpPr>
          <p:cNvPr id="6" name="S20-card197"/>
          <p:cNvSpPr/>
          <p:nvPr/>
        </p:nvSpPr>
        <p:spPr>
          <a:xfrm>
            <a:off x="548640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7" name="S20-cardtext198"/>
          <p:cNvSpPr txBox="1"/>
          <p:nvPr/>
        </p:nvSpPr>
        <p:spPr>
          <a:xfrm>
            <a:off x="822960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언제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날짜와 시각</a:t>
            </a:r>
            <a:endParaRPr lang="ko-KR" sz="2800" dirty="0"/>
          </a:p>
        </p:txBody>
      </p:sp>
      <p:sp>
        <p:nvSpPr>
          <p:cNvPr id="8" name="S20-card199"/>
          <p:cNvSpPr/>
          <p:nvPr/>
        </p:nvSpPr>
        <p:spPr>
          <a:xfrm>
            <a:off x="4322064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9" name="S20-cardtext200"/>
          <p:cNvSpPr txBox="1"/>
          <p:nvPr/>
        </p:nvSpPr>
        <p:spPr>
          <a:xfrm>
            <a:off x="4596384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무엇을·어떻게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관찰 대상과 조건</a:t>
            </a:r>
            <a:endParaRPr lang="ko-KR" sz="2800" dirty="0"/>
          </a:p>
        </p:txBody>
      </p:sp>
      <p:sp>
        <p:nvSpPr>
          <p:cNvPr id="10" name="S20-card201"/>
          <p:cNvSpPr/>
          <p:nvPr/>
        </p:nvSpPr>
        <p:spPr>
          <a:xfrm>
            <a:off x="8095488" y="2468880"/>
            <a:ext cx="3544824" cy="2194560"/>
          </a:xfrm>
          <a:prstGeom prst="roundRect">
            <a:avLst>
              <a:gd name="adj" fmla="val 5000"/>
            </a:avLst>
          </a:prstGeom>
          <a:solidFill>
            <a:srgbClr val="EAF3F1"/>
          </a:solidFill>
          <a:ln w="12700">
            <a:solidFill>
              <a:srgbClr val="EAF3F1"/>
            </a:solidFill>
            <a:prstDash val="solid"/>
          </a:ln>
        </p:spPr>
      </p:sp>
      <p:sp>
        <p:nvSpPr>
          <p:cNvPr id="11" name="S20-cardtext202"/>
          <p:cNvSpPr txBox="1"/>
          <p:nvPr/>
        </p:nvSpPr>
        <p:spPr>
          <a:xfrm>
            <a:off x="8369808" y="2606040"/>
            <a:ext cx="2996184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eaLnBrk="0" indent="0" marL="0">
              <a:spcAft>
                <a:spcPts val="600"/>
              </a:spcAft>
              <a:buNone/>
            </a:pPr>
            <a:r>
              <a:rPr lang="ko-KR" altLang="en-US" sz="2800" b="1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본 것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측정값과 단위,</a:t>
            </a:r>
            <a:endParaRPr lang="ko-KR" sz="2800" dirty="0"/>
          </a:p>
          <a:p>
            <a:pPr eaLnBrk="0" indent="0" marL="0">
              <a:spcAft>
                <a:spcPts val="600"/>
              </a:spcAft>
              <a:buNone/>
            </a:pPr>
            <a:r>
              <a:rPr lang="ko-KR" altLang="en-US" sz="2200" dirty="0">
                <a:solidFill>
                  <a:srgbClr val="1F293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그림 메모</a:t>
            </a:r>
            <a:endParaRPr lang="ko-KR" sz="2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881360" y="6382512"/>
            <a:ext cx="731520" cy="32004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4B5563"/>
                </a:solidFill>
                <a:latin typeface="맑은 고딕"/>
                <a:ea typeface="맑은 고딕"/>
                <a:cs typeface="맑은 고딕"/>
              </a:defRPr>
            </a:lvl1pPr>
          </a:lstStyle>
          <a:p>
            <a:pPr eaLnBrk="0"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ducation Classroom">
  <a:themeElements>
    <a:clrScheme name="Education Classroom">
      <a:dk1>
        <a:srgbClr val="1F2937"/>
      </a:dk1>
      <a:lt1>
        <a:srgbClr val="FFFFFF"/>
      </a:lt1>
      <a:dk2>
        <a:srgbClr val="264653"/>
      </a:dk2>
      <a:lt2>
        <a:srgbClr val="EAF3F1"/>
      </a:lt2>
      <a:accent1>
        <a:srgbClr val="E9762B"/>
      </a:accent1>
      <a:accent2>
        <a:srgbClr val="2A9D8F"/>
      </a:accent2>
      <a:accent3>
        <a:srgbClr val="C8434E"/>
      </a:accent3>
      <a:accent4>
        <a:srgbClr val="3D5A80"/>
      </a:accent4>
      <a:accent5>
        <a:srgbClr val="F2C14E"/>
      </a:accent5>
      <a:accent6>
        <a:srgbClr val="4B5563"/>
      </a:accent6>
      <a:hlink>
        <a:srgbClr val="3D5A80"/>
      </a:hlink>
      <a:folHlink>
        <a:srgbClr val="7A4E8A"/>
      </a:folHlink>
    </a:clrScheme>
    <a:fontScheme name="Education Classroom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초5 과학 빛의 반사와 굴절</dc:title>
  <dc:subject>KR22-G05-SCI-LIGHT-L01</dc:subject>
  <dc:creator>education-ppt</dc:creator>
  <cp:lastModifiedBy>education-ppt</cp:lastModifiedBy>
  <cp:revision>1</cp:revision>
  <dcterms:created xsi:type="dcterms:W3CDTF">2026-10-26T13:32:18Z</dcterms:created>
  <dcterms:modified xsi:type="dcterms:W3CDTF">2026-10-26T13:32:18Z</dcterms:modified>
</cp:coreProperties>
</file>