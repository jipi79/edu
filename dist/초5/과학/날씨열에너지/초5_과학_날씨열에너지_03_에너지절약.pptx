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c8fa903-6fac-9534-4a6a-3159e4d50bd8}">
          <p14:sldIdLst>
            <p14:sldId id="256"/>
            <p14:sldId id="257"/>
          </p14:sldIdLst>
        </p14:section>
        <p14:section name="개념" id="{1cce1966-b509-9bdd-682e-d85e555c3171}">
          <p14:sldIdLst>
            <p14:sldId id="258"/>
            <p14:sldId id="262"/>
            <p14:sldId id="265"/>
            <p14:sldId id="269"/>
          </p14:sldIdLst>
        </p14:section>
        <p14:section name="연습" id="{44cb3547-f1aa-5d07-2f1c-367edbd172a5}">
          <p14:sldIdLst>
            <p14:sldId id="259"/>
            <p14:sldId id="260"/>
            <p14:sldId id="261"/>
            <p14:sldId id="263"/>
            <p14:sldId id="264"/>
            <p14:sldId id="266"/>
            <p14:sldId id="267"/>
            <p14:sldId id="268"/>
            <p14:sldId id="270"/>
            <p14:sldId id="271"/>
          </p14:sldIdLst>
        </p14:section>
        <p14:section name="개념" id="{7600a1a8-d8f1-2a74-678f-3fec7355a6c0}">
          <p14:sldIdLst/>
        </p14:section>
        <p14:section name="연습" id="{479aad27-d11b-fb80-7597-9e0afc58cc1a}">
          <p14:sldIdLst/>
        </p14:section>
        <p14:section name="개념" id="{7dbbc473-43f4-1b83-b383-c4a188ed8bc0}">
          <p14:sldIdLst/>
        </p14:section>
        <p14:section name="연습" id="{5d7bcbbf-c3ba-e763-036a-bad4b7f2a9ec}">
          <p14:sldIdLst/>
        </p14:section>
        <p14:section name="개념" id="{8ebfbc22-613e-4f3d-cb1b-0f8cc05a55ed}">
          <p14:sldIdLst/>
        </p14:section>
        <p14:section name="연습" id="{0e4c516b-99c1-3a2b-2ad6-47770e8e0fa2}">
          <p14:sldIdLst/>
        </p14:section>
        <p14:section name="확인" id="{3984200b-7b0b-9b04-a50f-b53f926e84bd}">
          <p14:sldIdLst>
            <p14:sldId id="272"/>
            <p14:sldId id="273"/>
            <p14:sldId id="274"/>
          </p14:sldIdLst>
        </p14:section>
        <p14:section name="정리" id="{79e52be8-1923-9943-8ac6-cd3125be993b}">
          <p14:sldIdLst>
            <p14:sldId id="275"/>
          </p14:sldIdLst>
        </p14:section>
        <p14:section name="보충" id="{439c528d-861d-88ed-c277-789e53f1498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생활 속 에너지 사용에 궁금증을 갖게 합니다.
시간: 약 2분
이렇게 말해 보세요
- “텔레비전을 리모컨으로 끄면 전기를 하나도 안 쓸까?”
- “오늘은 손바닥, 손전등, 공으로 에너지가 어떻게 바뀌는지 알아보고, 우리 집에서 에너지를 아끼는 방법을 찾아볼 거야.”
예상 답
- “안 써요.” “조금 쓸 것 같아요.” 어떤 답이든 괜찮습니다. 답을 확인하지 않고 넘어갑니다.
막히면
- 질문만 남겨 두고 S11~S13에서 직접 찾아보자고 말합니다.
주의
- 대기 전력 찾기(S12)에서는 콘센트와 플러그를 만지지 않고 눈으로만 찾습니다. 수업 전에 집 안에서 함께 둘러볼 곳(거실, 부엌, 방)을 정해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확인(열의 이동, 단열, 대류)]
목적: 선수 차시 ‘열의 이동’(KR22-G05-SCI-HEAT-L01)에서 배운 열의 이동 방향, 단열, 대류를 확인합니다. 오늘 냉난방 에너지를 아끼는 방법(단열, 알맞은 온도)에서 다시 씁니다.
시간: 약 2분
이렇게 말해 보세요
- “① 따뜻한 손으로 온도계를 쥐었을 때 열은 어디에서 어디로 갔지?”
- “② 보온병이나 냄비 손잡이처럼 열이 잘 이동하지 않게 하는 것을 뭐라고 했지?”
- “③ 에어컨은 왜 위에 달았지?”
정답
- ① 온도가 높은 곳에서 낮은 곳으로
- ② 단열
- ③ 차가운 공기는 아래로 내려오고 데워진 공기는 위로 올라가(대류) 방 전체가 시원해지기 때문
막히면
- ①②가 흔들리면 S21(보충)을 먼저 합니다. 보충으로도 어려우면 앞 차시 ‘열의 이동’(KR22-G05-SCI-HEAT-L01)의 S08·S15·S16을 다시 봅니다.
주의
- ③에서 ‘대류’라는 낱말을 몰라도 까닭을 말하면 맞은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에너지의 여러 형태]
목적: 에너지의 여러 형태와 그 뜻을 생활 예로 알려 줍니다(목표 A).
시간: 약 2분
이렇게 말해 보세요
- “기계가 움직이고 우리가 살아가려면 에너지가 필요해. 에너지에는 여러 형태가 있어.”
- “우리가 먹는 밥에는 어떤 에너지가 있을까? 굴러가는 공은? 미끄럼틀 꼭대기에 앉은 사람은?”
예상 답
- “밥은 화학 에너지요.” “굴러가는 공은 운동 에너지요.” “꼭대기에 있으면 위치 에너지요.”
막히면
- 카드마다 집 안에서 예를 하나씩 찾게 합니다(전등 → 빛, 난로 → 열, 냉장고 → 전기).
주의
- ‘열에너지’, ‘빛에너지’는 붙여 쓰고 ‘전기 에너지’, ‘화학 에너지’, ‘운동 에너지’, ‘위치 에너지’는 띄어 씁니다(교과서 표기).
- 식물이 햇빛을 받아 양분을 만드는 것(광합성)은 6학년에서 자세히 배웁니다. 오늘은 ‘빛에너지가 화학 에너지로 바뀐다’ 정도만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에너지 활동 전 예상하기]
목적: 세 가지 활동을 하기 전에 무엇이 생길지 예상합니다(목표 A). 결과는 S05·S06에서 확인합니다.
시간: 약 1분
이렇게 말해 보세요
- “손바닥을 빠르게 비비면 어떻게 될까? 손전등을 켜면? 공은 어느 높이에서 떨어뜨렸을 때 더 높이 튈까?”
예상 답
- 어떤 예상이든 괜찮습니다. “손이 따뜻해져요.” “빛이 나요.” “어깨에서 떨어뜨린 공이 더 높이 튈 것 같아요.” “똑같을 것 같아요.”
막히면
- 쓰기가 느리면 부모가 받아 적고 아이는 말로 예상합니다.
주의
- 결과와 에너지 이름은 아직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에너지 전환 활동(손바닥, 손전등, 공)]
목적: 손바닥 비비기, 손전등 켜기, 공 떨어뜨리기를 하며 바뀐 것을 관찰해 기록합니다(목표 A, 오해 M1).
시간: 약 3분
이렇게 말해 보세요
- “손바닥을 비빈 뒤 볼에 대 보니 어때?”
- “손전등을 켜니 무엇이 나와? 손전등 안에는 무엇이 들어 있지?”
- “공을 손에서 그냥 놓아. 던지지 말고! 무릎과 어깨 중 어디에서 떨어뜨린 공이 더 높이 튀었어?”
예상 답
- “손바닥이 따뜻해졌어요.” “빛이 나와요. 건전지가 들어 있어요.” “어깨 높이에서 떨어뜨린 공이 더 높이 튀었어요.”
막히면
- 공이 튄 높이를 비교하기 어려우면 부모가 벽 옆에 서서 튀어 오른 높이를 손으로 표시해 줍니다.
주의
- 공은 던지지 않고 손을 펴서 떨어뜨려야 공정하게 비교할 수 있습니다. 같은 공, 같은 바닥에서 두세 번씩 해 봅니다.
- 휴대 전화 손전등을 쓰면 ‘배터리(충전지)’가 건전지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활동 결과 정리]
목적: 활동 결과를 정리하고 예상과 비교합니다(목표 A).
시간: 약 2분
이렇게 말해 보세요
- “한 줄씩 결과를 말해 줄래? 예상과 같았어?”
예상 답
- 손바닥이 따뜻해짐 / 빛이 나옴(오래 켜면 조금 따뜻해질 수도 있음) / 어깨 높이에서 떨어뜨린 공이 더 높이 튐
막히면
- 실제로 한 번 더 해 보며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결과로 설명하기(에너지 전환)]
목적: 활동 결과를 근거로 에너지가 한 형태에서 다른 형태로 바뀌는 것(에너지 전환)을 정리합니다(목표 A).
시간: 약 2분
이렇게 말해 보세요
- “손바닥을 움직였더니 따뜻해졌지? 움직이는 에너지가 열에너지로 바뀐 거야. 이렇게 에너지의 형태가 바뀌는 것을 ‘에너지 전환’이라고 해.”
- “손전등은 건전지에 저장된 화학 에너지가 전기 에너지로, 다시 빛에너지로 바뀌어.”
- “어깨 높이의 공이 더 높이 튄 까닭은 무엇일까?”
예상 답
- “더 높은 곳에 있어서 위치 에너지가 더 커요.” “떨어지면서 더 빨라졌어요.”
막히면
- 화살표 앞(처음 에너지)과 뒤(바뀐 에너지)를 손가락으로 나누어 짚게 합니다.
주의
- 공이 처음 높이까지 다시 튀어 오르지 못하는 것은 부딪칠 때 일부가 소리·열 등으로 바뀌기 때문입니다. 아이가 물으면 그렇게 답합니다.
- 손전등 전구가 오래 켜 두면 조금 따뜻해지는 것은 전기 에너지 일부가 열에너지로도 바뀌기 때문입니다(LED는 적게, 옛날 전구는 많이).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비교(움직이지 않으면 에너지가 없다)]
목적: 움직이지 않는 물체는 에너지가 없다는 생각을 공 떨어뜨리기 결과로 바로잡습니다(목표 A, 오해 M1).
시간: 약 2분
이렇게 말해 보세요
- “선반 위의 공이 떨어지면 어떻게 될까? 어깨 높이에서 떨어뜨린 공은 어땠지?”
정답
- 곰. 증거: 더 높은 곳(어깨 높이)에서 떨어뜨린 공이 더 높이 튀었습니다. 높은 곳에 있는 공은 움직이지 않아도 위치 에너지를 가지고 있고, 떨어지면서 운동 에너지로 바뀝니다.
막히면
- 공을 선반 높이까지 들어 올렸다가 놓아 보며 “들고 있을 때와 놓은 뒤가 어떻게 달라?”라고 묻습니다.
주의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속 에너지 전환 찾기]
목적: 도움을 받으며 생활 속 기기와 자연에서 에너지 전환을 찾습니다(목표 A).
시간: 약 2분
이렇게 말해 보세요
- “전기밥솥은 어떤 에너지를 받아서 무엇으로 바꿀까? 쌀이 익으려면 무엇이 필요해?”
정답
- ① 전기 에너지 → 열에너지
- ② 전기 에너지 → 운동 에너지
- ③ 빛에너지 → 전기 에너지
- ④ 빛에너지 → 화학 에너지
막히면
- “처음에 무엇을 받지? 그다음에 무엇이 생기지?” 두 질문으로 나누어 묻습니다.
- S03의 카드를 다시 보여 줍니다.
주의
- ①에서 ‘빛에너지’도 말하면(표시등) 맞다고 해 줍니다. 가장 많이 바뀌는 것은 열에너지입니다.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에너지를 아껴야 하는 까닭]
목적: 에너지를 아껴야 하는 까닭(자원이 한정됨, 이산화 탄소)을 알려 줍니다. 이 까닭이 오늘 절약 방법의 첫 번째 근거입니다(목표 B, 오해 M3).
시간: 약 2분
이렇게 말해 보세요
- “전기는 어디에서 올까? 발전소에서 전기를 만들 때 석탄이나 천연가스 같은 연료를 많이 써.”
- “석탄이나 석유는 아주 오랜 시간에 걸쳐 만들어져서 쓰면 다시 만들기 어려워. 그리고 태우면 이산화 탄소가 나와.”
예상 답
- “아껴 쓰지 않으면 나중에 없어져요.” “지구가 더워져요.”
막히면
- 4학년 ‘기후변화와 생활’에서 이산화 탄소와 지구가 더워지는 것을 배웠다면 떠올리게 합니다(아직 배우지 않았다면 이산화 탄소가 지구를 덥게 만드는 기체 중 하나라고만 말합니다).
주의
- 우리나라의 전기는 석탄·천연가스를 쓰는 발전소, 원자력 발전소, 햇빛·바람을 쓰는 발전 등에서 만듭니다. 비율은 해마다 달라지므로 숫자는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대기 전력 찾기 전 예상하기]
목적: 대기 전력 찾기를 하기 전에 꺼진 기기가 전기를 쓸지 예상합니다(목표 B). 결과는 S12·S13에서 확인합니다.
시간: 약 1분
이렇게 말해 보세요
- “리모컨으로 끈 텔레비전은 전기를 쓸까, 안 쓸까? 왜 그렇게 생각해?”
예상 답
- 어떤 예상이든 괜찮습니다. “꺼졌으니까 안 써요.” “조금 쓸 것 같아요.”
막히면
- “리모컨으로 텔레비전을 다시 켤 수 있지? 텔레비전은 어떻게 리모컨 신호를 기다리고 있을까?”라고 묻습니다.
주의
- 결과를 알려 주지 않습니다. ‘대기 전력’이라는 말도 아직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우리 집 대기 전력 찾기]
목적: 집 안에서 꺼져 있지만 플러그가 꽂힌 기기를 찾아 불빛·표시를 관찰해 기록합니다(목표 B, 오해 M2).
시간: 약 3분
이렇게 말해 보세요
- “거실, 부엌, 방을 돌아볼까? 꺼져 있는데도 빨간 불빛이나 시계 숫자가 켜져 있는 기기가 있어?”
- “찾은 기기의 이름과 보인 것을 활동지 3에 써 줘.”
예상 답
- “텔레비전 아래에 빨간 불이 켜져 있어요.” “전자레인지에 시계 숫자가 보여요.” “충전기에 불이 들어와 있어요.” “셋톱박스, 컴퓨터, 세탁기에도 불이 있어요.”
막히면
- 부모가 먼저 한 가지를 찾아 보여 주고 “이런 불빛을 더 찾아볼래?”라고 합니다.
주의
- 아이는 콘센트·플러그·전선을 만지지 않습니다. 멀티탭 스위치를 끄는 것은 부모가 합니다.
- 불빛이 없는 기기도 플러그가 꽂혀 있으면 대기 전력을 쓰는 경우가 많습니다. 불빛은 ‘전기를 쓰고 있다’는 눈에 보이는 증거로만 씁니다.
- 냉장고·공유기처럼 늘 켜 두는 기기는 대기 전력이 아니라 실제로 일하고 있는 것입니다. 끄지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대기 전력 찾기 결과 정리]
목적: 찾은 기기를 정리하고 예상과 비교합니다(목표 B).
시간: 약 1분
이렇게 말해 보세요
- “몇 개를 찾았어? 하나씩 말해 줄래? 처음 예상과 같았어?”
예상 답
- 예: 텔레비전 – 빨간 불빛 / 전자레인지 – 시계 숫자 / 충전기 – 작은 불빛 (집마다 다름)
막히면
- 활동지 3에 쓴 것을 손가락으로 짚으며 읽게 합니다.
주의
- 화면의 빈칸은 아이가 말로 채우는 자리입니다. 찾은 개수는 집마다 다르므로 많고 적음을 비교하지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대기 전력과 에너지를 아끼는 방법]
목적: 대기 전력 찾기 결과를 근거로 대기 전력의 뜻을 정리하고, 생활 속 에너지 절약 방법을 근거와 함께 알려 줍니다(목표 B).
시간: 약 2분
이렇게 말해 보세요
- “꺼진 텔레비전의 빨간 불은 리모컨 신호를 기다리느라 켜져 있어. 이렇게 전원을 꺼도 플러그가 꽂혀 있으면 쓰는 전기를 ‘대기 전력’이라고 해.”
- “여름에 에어컨 온도를 너무 낮추거나 겨울에 난방 온도를 너무 높이면 에너지를 더 많이 써. 지난 시간에 배운 단열은 어떻게 도움이 될까?”
예상 답
- “멀티탭을 꺼요.” “문풍지를 붙이면 열이 덜 빠져나가요.”
막히면
- 카드 하나마다 “우리 집에서 할 수 있는 것은?”이라고 물어 한 가지씩 정하게 합니다.
주의
- 정부와 한국에너지공단의 절약 캠페인은 가정의 여름 실내 온도 26 °C 정도, 겨울 20 °C 정도를 권장해 왔습니다(해마다 안내가 조금씩 다를 수 있음). 아이에게는 ‘너무 낮게·너무 높게 하지 않기’로 말합니다.
- 에너지 소비 효율 등급은 1등급이 같은 일을 할 때 에너지를 가장 적게 쓰는 제품입니다. 집에 있는 가전제품의 스티커를 함께 찾아보면 좋습니다.
- 대기 전력이 집 전체 전기의 몇 %인지 같은 수치는 조사마다 달라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오해 비교(전원을 끄면 전기를 안 쓴다)]
목적: 전원을 끄면 전기를 전혀 쓰지 않는다는 생각을 대기 전력 찾기 결과로 바로잡습니다(목표 B, 오해 M2).
시간: 약 2분
이렇게 말해 보세요
- “꺼진 텔레비전에서 무엇을 봤지? 불빛이 켜지려면 무엇이 필요할까?”
정답
- 곰. 증거: 리모컨으로 끈 텔레비전과 전자레인지·충전기에 불빛이나 시계 숫자가 켜져 있었습니다. 플러그가 꽂혀 있으면 대기 전력을 씁니다.
막히면
- 부모가 멀티탭 스위치를 끈 뒤 불빛이 꺼지는 것을 함께 봅니다(아이는 만지지 않음).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예시 자료(그래프) 읽고 절약 근거 말하기]
목적: 지어낸 예시 자료의 막대그래프를 읽고, 냉방 온도를 알맞게 하는 것이 에너지를 아끼는 근거가 됨을 말합니다(목표 B, 오해 M3).
시간: 약 3분
이렇게 말해 보세요
- “눈금 한 칸은 몇 원이야? 22 °C일 때 요금은? 26 °C일 때는?”
- “설정 온도를 높이니까 요금은 어떻게 됐어? 30일이면 얼마나 차이가 날까?”
정답
- ① 줄어듭니다(900원 → 800원 → 700원).
- ② 200원 (900 − 700)
- ③ 6,000원 (200 × 30)
막히면
- 막대 끝에서 왼쪽 눈금까지 손가락으로 수평으로 따라가 읽게 합니다.
- ③은 “하루에 200원이면 이틀에는? 사흘에는?”처럼 늘려 가며 생각하게 합니다.
주의
- 이 그래프의 요금은 경향을 보여 주려고 지어낸 예시 값입니다. 실제 요금은 에어컨, 집, 날씨, 사용 시간에 따라 크게 다릅니다. 아이에게도 “실제 값이 아니라 예시야.”라고 말해 줍니다.
- 막대그래프 읽기는 4학년 수학에서 배웠습니다. 눈금 한 칸의 크기를 먼저 확인하는 습관을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혼자 해결]
목적: 도움 없이 에너지 전환(①②)과 절약 방법의 근거(③④)를 말하는지 확인합니다(목표 A·B).
시간: 약 3분
이렇게 말해 보세요
- “이번에는 혼자 답해 볼래? 왜 그렇게 생각했는지도 말해 줘.”
정답
- ① 전기 에너지 → 열에너지(빛에너지도 말하면 맞음)
- ② 위치 에너지 → 운동 에너지
- ③ 플러그를 뽑는다(멀티탭을 끈다). 꽂아 두면 대기 전력을 쓰기 때문
- ④ 집 안의 열이 밖으로 덜 빠져나가(단열) 난방 에너지를 아낄 수 있기 때문
막히면
- 바로 알려 주지 말고 “오늘 해 본 것 중 무엇과 비슷해?”라고만 묻습니다.
- 도움을 받아 해결했다면 기록표에 ‘도움’으로 표시합니다.
주의
- ③에서 ‘아껴야 하니까’만 말하면 “무엇을 아끼는 거야? 왜 전기가 쓰여?”라고 다시 물어 대기 전력을 말하게 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전기 에너지 → 열에너지 ② 위치 에너지 → 운동 에너지 ③ 플러그를 뽑는다(대기 전력) ④ 단열로 난방 에너지를 아낀다
막히면
- ①②가 틀리면 S07·S09로, ③이 틀리면 S13~S15로, ④가 틀리면 S14와 앞 차시의 단열(S15)로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마무리 확인(근거가 바른 절약 방법 고르기)]
목적: 처음 보는 문장에서 바른 절약 방법을 고르고 근거를 말하는지 확인합니다(목표 B).
시간: 약 2분
이렇게 말해 보세요
- “세 가지를 하나씩 읽어 볼까? 에너지를 아끼는 것은 어느 것이야? 다른 것은 왜 아니야?”
정답
- 나. 문풍지로 단열하면 열이 덜 빠져나가고, 난방 온도를 너무 높이지 않으면 에너지를 덜 씁니다.
- 가는 시원한 공기가 창문으로 빠져나가 에너지를 낭비합니다. 다는 플러그가 꽂혀 있으면 대기 전력을 쓰므로 에너지를 아끼는 방법이 아닙니다.
막히면
- S14의 카드를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정리와 다음 수업 복습]
목적: 핵심을 정리하고 다음 수업 첫 5분에 풀 복습 문제를 알려 줍니다.
시간: 약 1분
이렇게 말해 보세요
- “꺼 둔 텔레비전도 전기를 쓸까? 이제 증거를 들어 말해 볼래?”
예상 답
- “플러그가 꽂혀 있으면 대기 전력을 써요. 빨간 불빛이 켜져 있었어요.”
정답
- ① 화학 에너지 → 전기 에너지 → 빛에너지 ② 대기 전력 ③ 석탄·석유 같은 자원이 한정되어 있다, 이산화 탄소를 줄인다 중 하나
막히면
- S07, S10, S14를 다시 보여 줍니다.
주의
- 복습 세 문제는 다음 수업을 시작할 때 활동지 마지막 쪽과 함께 풉니다. 우리 집 절약 약속(활동지 5)을 일주일 지켰는지도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[S21 · 선수 학습 보충(열의 이동, 단열)]
목적: S02가 흔들리면, 열의 이동 방향과 단열을 집의 예로 다시 익힙니다. 오늘 냉난방 에너지 절약을 이해하는 바탕입니다.
시간: 약 4분
이렇게 말해 보세요
- “겨울에 집 안과 밖 중 어디가 더 따뜻해? 그럼 열은 어디로 이동할까?”
- “창문 틈에 손을 대 보면 찬 바람이 느껴지지? 문풍지를 붙이면 어떻게 될까?”
예상 답
- “집 안의 열이 밖으로 나가요.” “문풍지를 붙이면 열이 덜 나가요.”
막히면
- 따뜻한 물이 든 컵을 수건으로 감싼 것과 감싸지 않은 것 중 어느 쪽이 오래 따뜻할지 이야기해 봅니다(물은 부모가 준비).
주의
- 선수 차시는 ‘열의 이동’(KR22-G05-SCI-HEAT-L01)입니다. 보충으로도 어려우면 그 차시의 S08·S13·S15를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에너지 절약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절약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 둔 텔레비전도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쓸까?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에너지의 형태와 에너지가 바뀌는 모습을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에너지를 아끼는 방법을 근거와 함께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어디에서 어디로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보온병처럼 열의 이동을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줄이는 것을 무엇이라고 하나요?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에어컨을 방 위쪽에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에너지의 여러 형태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에너지가 있어야 기계가 움직이고 생물이 살아가요.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물체의 온도를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기구를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작동하게 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주위를 밝게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비춰요.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음식, 연료, 건전지에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저장되어 있어요.</a:t>
            </a:r>
            <a:endParaRPr lang="ko-KR" sz="2800" dirty="0"/>
          </a:p>
        </p:txBody>
      </p:sp>
      <p:sp>
        <p:nvSpPr>
          <p:cNvPr id="12" name="S03-card18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3-cardtext19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움직이는 물체가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가져요.</a:t>
            </a:r>
            <a:endParaRPr lang="ko-KR" sz="2800" dirty="0"/>
          </a:p>
        </p:txBody>
      </p:sp>
      <p:sp>
        <p:nvSpPr>
          <p:cNvPr id="14" name="S03-card20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3-cardtext21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에너지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곳에 있는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 가져요.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 무엇이 생길지 예상해요.</a:t>
            </a:r>
            <a:endParaRPr lang="ko-KR" sz="28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5" name="S04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" y="2417064"/>
          <a:ext cx="10241280" cy="914400"/>
        </p:xfrm>
        <a:graphic>
          <a:graphicData uri="http://schemas.openxmlformats.org/drawingml/2006/table">
            <a:tbl>
              <a:tblPr/>
              <a:tblGrid>
                <a:gridCol w="6144768"/>
                <a:gridCol w="40965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볼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손바닥을 빠르게 20번 비벼요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손전등을 켜요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공을 무릎 높이, 어깨 높이에서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떨어뜨려요(어느 쪽이 높이 튈까?)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보고 바뀐 것을 찾아요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손전등 빛을 눈에 비추지 않아요. 공은 빈 곳에서 해요.</a:t>
            </a:r>
            <a:endParaRPr lang="ko-KR" sz="2800" dirty="0"/>
          </a:p>
        </p:txBody>
      </p:sp>
      <p:sp>
        <p:nvSpPr>
          <p:cNvPr id="5" name="S05-card2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것을 말해요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공, 같은 바닥에서 해요</a:t>
            </a:r>
            <a:endParaRPr lang="ko-KR" sz="2800" dirty="0"/>
          </a:p>
        </p:txBody>
      </p:sp>
      <p:sp>
        <p:nvSpPr>
          <p:cNvPr id="7" name="S05-stepno30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5-text31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손바닥을 빠르게 20번 비비고 볼에 대요.</a:t>
            </a:r>
            <a:endParaRPr lang="ko-KR" sz="2800" dirty="0"/>
          </a:p>
        </p:txBody>
      </p:sp>
      <p:sp>
        <p:nvSpPr>
          <p:cNvPr id="9" name="S05-stepno32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5-text33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손전등을 켜고 무엇이 나오는지 봐요.</a:t>
            </a:r>
            <a:endParaRPr lang="ko-KR" sz="2800" dirty="0"/>
          </a:p>
        </p:txBody>
      </p:sp>
      <p:sp>
        <p:nvSpPr>
          <p:cNvPr id="11" name="S05-stepno34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5-text35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무릎 높이에서 떨어뜨려요.</a:t>
            </a:r>
            <a:endParaRPr lang="ko-KR" sz="2800" dirty="0"/>
          </a:p>
        </p:txBody>
      </p:sp>
      <p:sp>
        <p:nvSpPr>
          <p:cNvPr id="13" name="S05-stepno36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5-text37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어깨 높이에서도 떨어뜨려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6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무엇으로 바뀌었을까요?</a:t>
            </a:r>
            <a:endParaRPr lang="ko-KR" sz="28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4732020"/>
                <a:gridCol w="57835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 비비기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 켜기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떨어뜨리기(무릎·어깨)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전환</a:t>
            </a:r>
            <a:endParaRPr lang="ko-KR" sz="40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에너지는 다른 형태로 바뀔 수 있어요.</a:t>
            </a:r>
            <a:endParaRPr lang="ko-KR" sz="2800" dirty="0"/>
          </a:p>
        </p:txBody>
      </p:sp>
      <p:sp>
        <p:nvSpPr>
          <p:cNvPr id="4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곳의 공일수록 위치 에너지가 커서 더 높이 튀어요.</a:t>
            </a:r>
            <a:endParaRPr lang="ko-KR" sz="2800" dirty="0"/>
          </a:p>
        </p:txBody>
      </p:sp>
      <p:graphicFrame>
        <p:nvGraphicFramePr>
          <p:cNvPr id="8" name="S07-table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39594"/>
          <a:ext cx="10515600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694029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에너지가 바뀐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 비비기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 에너지 → 열에너지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 켜기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 에너지 → 전기 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빛에너지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떨어뜨리기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 에너지 → 운동 에너지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선반 위에 공이 가만히 놓여 있어요.</a:t>
            </a:r>
            <a:endParaRPr lang="ko-KR" sz="28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공 떨어뜨리기의 무엇이 증거일까요?</a:t>
            </a:r>
            <a:endParaRPr lang="ko-KR" sz="28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에너지가 없어요.</a:t>
            </a:r>
            <a:endParaRPr lang="ko-KR" sz="28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곳에 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에너지가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에너지로 바뀔까요?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 에너지 → △△ 에너지’로 말해요.</a:t>
            </a:r>
            <a:endParaRPr lang="ko-KR" sz="2800" dirty="0"/>
          </a:p>
        </p:txBody>
      </p:sp>
      <p:sp>
        <p:nvSpPr>
          <p:cNvPr id="5" name="S09-chip5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5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전기밥솥으로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지어요.</a:t>
            </a:r>
            <a:endParaRPr lang="ko-KR" sz="2800" dirty="0"/>
          </a:p>
        </p:txBody>
      </p:sp>
      <p:sp>
        <p:nvSpPr>
          <p:cNvPr id="7" name="S09-chip5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5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돌아가요.</a:t>
            </a:r>
            <a:endParaRPr lang="ko-KR" sz="2800" dirty="0"/>
          </a:p>
        </p:txBody>
      </p:sp>
      <p:sp>
        <p:nvSpPr>
          <p:cNvPr id="9" name="S09-chip60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61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 전지로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만들어요.</a:t>
            </a:r>
            <a:endParaRPr lang="ko-KR" sz="2800" dirty="0"/>
          </a:p>
        </p:txBody>
      </p:sp>
      <p:sp>
        <p:nvSpPr>
          <p:cNvPr id="11" name="S09-chip62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63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햇빛을 받아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아껴 써야 할까요?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쓰는 전기와 난방은 자원에서 와요.</a:t>
            </a:r>
            <a:endParaRPr lang="ko-KR" sz="2800" dirty="0"/>
          </a:p>
        </p:txBody>
      </p:sp>
      <p:sp>
        <p:nvSpPr>
          <p:cNvPr id="4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아끼면 자원과 환경을 함께 지켜요.</a:t>
            </a:r>
            <a:endParaRPr lang="ko-KR" sz="2800" dirty="0"/>
          </a:p>
        </p:txBody>
      </p:sp>
      <p:sp>
        <p:nvSpPr>
          <p:cNvPr id="6" name="S10-card67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8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자원이 한정돼요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석탄, 석유, 천연가스는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 다시 만들기 어려워요.</a:t>
            </a:r>
            <a:endParaRPr lang="ko-KR" sz="2800" dirty="0"/>
          </a:p>
        </p:txBody>
      </p:sp>
      <p:sp>
        <p:nvSpPr>
          <p:cNvPr id="8" name="S10-card69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70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연료를 태울 때 나오는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탄소를 줄여요.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1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끈 기기도 전기를 쓸까요?</a:t>
            </a:r>
            <a:endParaRPr lang="ko-KR" sz="2800" dirty="0"/>
          </a:p>
        </p:txBody>
      </p:sp>
      <p:sp>
        <p:nvSpPr>
          <p:cNvPr id="4" name="S11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2" name="S11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전기를 쓸까?(써요 / 안 써요)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리모컨으로 끈 텔레비전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 전화를 뺀 채 꽂혀 있는 충전기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플러그를 뽑은 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찾아봐요</a:t>
            </a:r>
            <a:endParaRPr lang="ko-KR" sz="4000" dirty="0"/>
          </a:p>
        </p:txBody>
      </p:sp>
      <p:sp>
        <p:nvSpPr>
          <p:cNvPr id="3" name="S12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눈으로만 찾아요. 플러그는 어른이 다뤄요.</a:t>
            </a:r>
            <a:endParaRPr lang="ko-KR" sz="2800" dirty="0"/>
          </a:p>
        </p:txBody>
      </p:sp>
      <p:sp>
        <p:nvSpPr>
          <p:cNvPr id="5" name="S12-card77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78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콘센트·플러그는 만지지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불빛과 숫자 표시를 찾아요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곳 이상 둘러봐요</a:t>
            </a:r>
            <a:endParaRPr lang="ko-KR" sz="2800" dirty="0"/>
          </a:p>
        </p:txBody>
      </p:sp>
      <p:sp>
        <p:nvSpPr>
          <p:cNvPr id="7" name="S12-stepno79"/>
          <p:cNvSpPr txBox="1"/>
          <p:nvPr/>
        </p:nvSpPr>
        <p:spPr>
          <a:xfrm>
            <a:off x="548640" y="1962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ext80"/>
          <p:cNvSpPr txBox="1"/>
          <p:nvPr/>
        </p:nvSpPr>
        <p:spPr>
          <a:xfrm>
            <a:off x="1325880" y="1916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꺼져 있지만 플러그가 꽂힌 기기를 찾아요.</a:t>
            </a:r>
            <a:endParaRPr lang="ko-KR" sz="2800" dirty="0"/>
          </a:p>
        </p:txBody>
      </p:sp>
      <p:sp>
        <p:nvSpPr>
          <p:cNvPr id="9" name="S12-stepno81"/>
          <p:cNvSpPr txBox="1"/>
          <p:nvPr/>
        </p:nvSpPr>
        <p:spPr>
          <a:xfrm>
            <a:off x="548640" y="2994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ext82"/>
          <p:cNvSpPr txBox="1"/>
          <p:nvPr/>
        </p:nvSpPr>
        <p:spPr>
          <a:xfrm>
            <a:off x="1325880" y="2948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불빛이나 시계 숫자가 켜져 있는지 봐요.</a:t>
            </a:r>
            <a:endParaRPr lang="ko-KR" sz="2800" dirty="0"/>
          </a:p>
        </p:txBody>
      </p:sp>
      <p:sp>
        <p:nvSpPr>
          <p:cNvPr id="11" name="S12-stepno83"/>
          <p:cNvSpPr txBox="1"/>
          <p:nvPr/>
        </p:nvSpPr>
        <p:spPr>
          <a:xfrm>
            <a:off x="548640" y="3981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ext84"/>
          <p:cNvSpPr txBox="1"/>
          <p:nvPr/>
        </p:nvSpPr>
        <p:spPr>
          <a:xfrm>
            <a:off x="1325880" y="3981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기기를 활동지 3에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정리해요</a:t>
            </a:r>
            <a:endParaRPr lang="ko-KR" sz="4000" dirty="0"/>
          </a:p>
        </p:txBody>
      </p:sp>
      <p:sp>
        <p:nvSpPr>
          <p:cNvPr id="3" name="S13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3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꺼져 있는데 불빛이 켜진 기기는 전기를 쓰고 있을까요?</a:t>
            </a:r>
            <a:endParaRPr lang="ko-KR" sz="2800" dirty="0"/>
          </a:p>
        </p:txBody>
      </p:sp>
      <p:graphicFrame>
        <p:nvGraphicFramePr>
          <p:cNvPr id="14" name="S13-table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4732020"/>
                <a:gridCol w="57835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찾은 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꺼져 있을 때 보인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아끼는 방법</a:t>
            </a:r>
            <a:endParaRPr lang="ko-KR" sz="4000" dirty="0"/>
          </a:p>
        </p:txBody>
      </p:sp>
      <p:sp>
        <p:nvSpPr>
          <p:cNvPr id="3" name="S1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전력: 전원을 꺼도 플러그가 꽂혀 있으면 쓰는 전기</a:t>
            </a:r>
            <a:endParaRPr lang="ko-KR" sz="2800" dirty="0"/>
          </a:p>
        </p:txBody>
      </p:sp>
      <p:sp>
        <p:nvSpPr>
          <p:cNvPr id="4" name="S1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꺼진 기기의 불빛이 대기 전력의 증거예요.</a:t>
            </a:r>
            <a:endParaRPr lang="ko-KR" sz="2800" dirty="0"/>
          </a:p>
        </p:txBody>
      </p:sp>
      <p:sp>
        <p:nvSpPr>
          <p:cNvPr id="6" name="S14-card9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 줄이기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기기는 플러그를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뽑거나 멀티탭을 꺼요.</a:t>
            </a:r>
            <a:endParaRPr lang="ko-KR" sz="2200" dirty="0"/>
          </a:p>
        </p:txBody>
      </p:sp>
      <p:sp>
        <p:nvSpPr>
          <p:cNvPr id="8" name="S14-card9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9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냉난방 온도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여름엔 너무 낮게, 겨울엔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높게 하지 않아요.</a:t>
            </a:r>
            <a:endParaRPr lang="ko-KR" sz="2200" dirty="0"/>
          </a:p>
        </p:txBody>
      </p:sp>
      <p:sp>
        <p:nvSpPr>
          <p:cNvPr id="10" name="S14-card9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9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단열하기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문풍지·커튼으로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새지 않게 해요.</a:t>
            </a:r>
            <a:endParaRPr lang="ko-KR" sz="2200" dirty="0"/>
          </a:p>
        </p:txBody>
      </p:sp>
      <p:sp>
        <p:nvSpPr>
          <p:cNvPr id="12" name="S14-card9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9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효율이 높은 기구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전등, 에너지 소비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1등급 제품을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5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리모컨으로 텔레비전을 껐어요.</a:t>
            </a:r>
            <a:endParaRPr lang="ko-KR" sz="2800" dirty="0"/>
          </a:p>
        </p:txBody>
      </p:sp>
      <p:sp>
        <p:nvSpPr>
          <p:cNvPr id="5" name="S1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우리 집에서 찾은 무엇이 증거일까요?</a:t>
            </a:r>
            <a:endParaRPr lang="ko-KR" sz="2800" dirty="0"/>
          </a:p>
        </p:txBody>
      </p:sp>
      <p:sp>
        <p:nvSpPr>
          <p:cNvPr id="7" name="S15-chip1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5-text10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껐으니 전기를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전혀 쓰지 않아요.</a:t>
            </a:r>
            <a:endParaRPr lang="ko-KR" sz="2800" dirty="0"/>
          </a:p>
        </p:txBody>
      </p:sp>
      <p:sp>
        <p:nvSpPr>
          <p:cNvPr id="9" name="S15-chip10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5-text10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플러그가 꽂혀 있으면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조금씩 전기를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자료를 읽어요</a:t>
            </a:r>
            <a:endParaRPr lang="ko-KR" sz="4000" dirty="0"/>
          </a:p>
        </p:txBody>
      </p:sp>
      <p:sp>
        <p:nvSpPr>
          <p:cNvPr id="3" name="S16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하루 에어컨 전기 요금이에요(예시).</a:t>
            </a:r>
            <a:endParaRPr lang="ko-KR" sz="2800" dirty="0"/>
          </a:p>
        </p:txBody>
      </p:sp>
      <p:sp>
        <p:nvSpPr>
          <p:cNvPr id="4" name="S16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한 칸은 100원이에요.</a:t>
            </a:r>
            <a:endParaRPr lang="ko-KR" sz="2800" dirty="0"/>
          </a:p>
        </p:txBody>
      </p:sp>
      <p:sp>
        <p:nvSpPr>
          <p:cNvPr id="6" name="S16-figure111" descr="예시 자료 막대그래프 ‘하루 에어컨 전기 요금’: 세로 눈금 한 칸 100원. 설정 온도 22 °C 900원, 24 °C 800원, 26 °C 700원"/>
          <p:cNvSpPr/>
          <p:nvPr/>
        </p:nvSpPr>
        <p:spPr>
          <a:xfrm>
            <a:off x="7769518" y="2632611"/>
            <a:ext cx="613841" cy="1841522"/>
          </a:xfrm>
          <a:custGeom>
            <a:avLst/>
            <a:gdLst/>
            <a:ahLst/>
            <a:cxnLst/>
            <a:rect l="l" t="t" r="r" b="b"/>
            <a:pathLst>
              <a:path w="613841" h="1841522">
                <a:moveTo>
                  <a:pt x="0" y="1841522"/>
                </a:moveTo>
                <a:lnTo>
                  <a:pt x="613841" y="1841522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6-mark112"/>
          <p:cNvSpPr/>
          <p:nvPr/>
        </p:nvSpPr>
        <p:spPr>
          <a:xfrm>
            <a:off x="8843739" y="2837224"/>
            <a:ext cx="613841" cy="1636909"/>
          </a:xfrm>
          <a:custGeom>
            <a:avLst/>
            <a:gdLst/>
            <a:ahLst/>
            <a:cxnLst/>
            <a:rect l="l" t="t" r="r" b="b"/>
            <a:pathLst>
              <a:path w="613841" h="1636909">
                <a:moveTo>
                  <a:pt x="0" y="1636909"/>
                </a:moveTo>
                <a:lnTo>
                  <a:pt x="613841" y="1636909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6-mark113"/>
          <p:cNvSpPr/>
          <p:nvPr/>
        </p:nvSpPr>
        <p:spPr>
          <a:xfrm>
            <a:off x="9917960" y="3041838"/>
            <a:ext cx="613841" cy="1432295"/>
          </a:xfrm>
          <a:custGeom>
            <a:avLst/>
            <a:gdLst/>
            <a:ahLst/>
            <a:cxnLst/>
            <a:rect l="l" t="t" r="r" b="b"/>
            <a:pathLst>
              <a:path w="613841" h="1432295">
                <a:moveTo>
                  <a:pt x="0" y="1432295"/>
                </a:moveTo>
                <a:lnTo>
                  <a:pt x="613841" y="1432295"/>
                </a:lnTo>
                <a:lnTo>
                  <a:pt x="613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114"/>
          <p:cNvSpPr/>
          <p:nvPr/>
        </p:nvSpPr>
        <p:spPr>
          <a:xfrm>
            <a:off x="7360291" y="4269519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6-mark115"/>
          <p:cNvSpPr/>
          <p:nvPr/>
        </p:nvSpPr>
        <p:spPr>
          <a:xfrm>
            <a:off x="7360291" y="4064906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6-mark116"/>
          <p:cNvSpPr/>
          <p:nvPr/>
        </p:nvSpPr>
        <p:spPr>
          <a:xfrm>
            <a:off x="7360291" y="3860292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6-mark117"/>
          <p:cNvSpPr/>
          <p:nvPr/>
        </p:nvSpPr>
        <p:spPr>
          <a:xfrm>
            <a:off x="7360291" y="3655678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6-mark118"/>
          <p:cNvSpPr/>
          <p:nvPr/>
        </p:nvSpPr>
        <p:spPr>
          <a:xfrm>
            <a:off x="7360291" y="3451065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6-mark119"/>
          <p:cNvSpPr/>
          <p:nvPr/>
        </p:nvSpPr>
        <p:spPr>
          <a:xfrm>
            <a:off x="7360291" y="3246451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6-mark120"/>
          <p:cNvSpPr/>
          <p:nvPr/>
        </p:nvSpPr>
        <p:spPr>
          <a:xfrm>
            <a:off x="7360291" y="3041838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6-mark121"/>
          <p:cNvSpPr/>
          <p:nvPr/>
        </p:nvSpPr>
        <p:spPr>
          <a:xfrm>
            <a:off x="7360291" y="2837224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6-mark122"/>
          <p:cNvSpPr/>
          <p:nvPr/>
        </p:nvSpPr>
        <p:spPr>
          <a:xfrm>
            <a:off x="7360291" y="2632611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6-mark123"/>
          <p:cNvSpPr/>
          <p:nvPr/>
        </p:nvSpPr>
        <p:spPr>
          <a:xfrm>
            <a:off x="7360291" y="2427997"/>
            <a:ext cx="35807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6-mark124"/>
          <p:cNvSpPr/>
          <p:nvPr/>
        </p:nvSpPr>
        <p:spPr>
          <a:xfrm>
            <a:off x="7360291" y="4474133"/>
            <a:ext cx="3580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6-mark125"/>
          <p:cNvSpPr/>
          <p:nvPr/>
        </p:nvSpPr>
        <p:spPr>
          <a:xfrm flipV="1">
            <a:off x="7360291" y="2274537"/>
            <a:ext cx="0" cy="21995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6-label127"/>
          <p:cNvSpPr txBox="1"/>
          <p:nvPr/>
        </p:nvSpPr>
        <p:spPr>
          <a:xfrm>
            <a:off x="7644384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°C</a:t>
            </a:r>
            <a:endParaRPr lang="ko-KR" sz="2200" dirty="0"/>
          </a:p>
        </p:txBody>
      </p:sp>
      <p:sp>
        <p:nvSpPr>
          <p:cNvPr id="22" name="S16-label129"/>
          <p:cNvSpPr txBox="1"/>
          <p:nvPr/>
        </p:nvSpPr>
        <p:spPr>
          <a:xfrm>
            <a:off x="8718605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°C</a:t>
            </a:r>
            <a:endParaRPr lang="ko-KR" sz="2200" dirty="0"/>
          </a:p>
        </p:txBody>
      </p:sp>
      <p:sp>
        <p:nvSpPr>
          <p:cNvPr id="23" name="S16-label131"/>
          <p:cNvSpPr txBox="1"/>
          <p:nvPr/>
        </p:nvSpPr>
        <p:spPr>
          <a:xfrm>
            <a:off x="9792826" y="4529698"/>
            <a:ext cx="8641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°C</a:t>
            </a:r>
            <a:endParaRPr lang="ko-KR" sz="2200" dirty="0"/>
          </a:p>
        </p:txBody>
      </p:sp>
      <p:sp>
        <p:nvSpPr>
          <p:cNvPr id="24" name="S16-label133"/>
          <p:cNvSpPr txBox="1"/>
          <p:nvPr/>
        </p:nvSpPr>
        <p:spPr>
          <a:xfrm>
            <a:off x="6846338" y="433125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5" name="S16-label135"/>
          <p:cNvSpPr txBox="1"/>
          <p:nvPr/>
        </p:nvSpPr>
        <p:spPr>
          <a:xfrm>
            <a:off x="6695462" y="392203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6" name="S16-label137"/>
          <p:cNvSpPr txBox="1"/>
          <p:nvPr/>
        </p:nvSpPr>
        <p:spPr>
          <a:xfrm>
            <a:off x="6695462" y="351280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7" name="S16-label139"/>
          <p:cNvSpPr txBox="1"/>
          <p:nvPr/>
        </p:nvSpPr>
        <p:spPr>
          <a:xfrm>
            <a:off x="6695462" y="310357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8" name="S16-label141"/>
          <p:cNvSpPr txBox="1"/>
          <p:nvPr/>
        </p:nvSpPr>
        <p:spPr>
          <a:xfrm>
            <a:off x="6695462" y="269434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ko-KR" sz="1800" dirty="0"/>
          </a:p>
        </p:txBody>
      </p:sp>
      <p:sp>
        <p:nvSpPr>
          <p:cNvPr id="29" name="S16-label143"/>
          <p:cNvSpPr txBox="1"/>
          <p:nvPr/>
        </p:nvSpPr>
        <p:spPr>
          <a:xfrm>
            <a:off x="6551444" y="2285122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1800" dirty="0"/>
          </a:p>
        </p:txBody>
      </p:sp>
      <p:sp>
        <p:nvSpPr>
          <p:cNvPr id="30" name="S16-label145"/>
          <p:cNvSpPr txBox="1"/>
          <p:nvPr/>
        </p:nvSpPr>
        <p:spPr>
          <a:xfrm>
            <a:off x="7056253" y="1952625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(원)</a:t>
            </a:r>
            <a:endParaRPr lang="ko-KR" sz="1800" dirty="0"/>
          </a:p>
        </p:txBody>
      </p:sp>
      <p:sp>
        <p:nvSpPr>
          <p:cNvPr id="31" name="S16-label147"/>
          <p:cNvSpPr txBox="1"/>
          <p:nvPr/>
        </p:nvSpPr>
        <p:spPr>
          <a:xfrm>
            <a:off x="8243117" y="4893945"/>
            <a:ext cx="18150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 설정 온도</a:t>
            </a:r>
            <a:endParaRPr lang="ko-KR" sz="1800" dirty="0"/>
          </a:p>
        </p:txBody>
      </p:sp>
      <p:sp>
        <p:nvSpPr>
          <p:cNvPr id="32" name="S16-label149"/>
          <p:cNvSpPr txBox="1"/>
          <p:nvPr/>
        </p:nvSpPr>
        <p:spPr>
          <a:xfrm>
            <a:off x="9687670" y="1952625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자료</a:t>
            </a:r>
            <a:endParaRPr lang="ko-KR" sz="1800" dirty="0"/>
          </a:p>
        </p:txBody>
      </p:sp>
      <p:sp>
        <p:nvSpPr>
          <p:cNvPr id="33" name="S16-chip1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6-text151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온도를 높이면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요금은?</a:t>
            </a:r>
            <a:endParaRPr lang="ko-KR" sz="2800" dirty="0"/>
          </a:p>
        </p:txBody>
      </p:sp>
      <p:sp>
        <p:nvSpPr>
          <p:cNvPr id="35" name="S16-chip1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6-text153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°C와 26 °C의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 차이는?</a:t>
            </a:r>
            <a:endParaRPr lang="ko-KR" sz="2800" dirty="0"/>
          </a:p>
        </p:txBody>
      </p:sp>
      <p:sp>
        <p:nvSpPr>
          <p:cNvPr id="37" name="S16-chip1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6-text15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동안이면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얼마?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7-chip15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7-text15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전기난로를 켜면 어떤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에너지로 바뀌나요?</a:t>
            </a:r>
            <a:endParaRPr lang="ko-KR" sz="2800" dirty="0"/>
          </a:p>
        </p:txBody>
      </p:sp>
      <p:sp>
        <p:nvSpPr>
          <p:cNvPr id="5" name="S17-chip15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7-text15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폭포의 물이 떨어져요.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에너지가 바뀌나요?</a:t>
            </a:r>
            <a:endParaRPr lang="ko-KR" sz="2800" dirty="0"/>
          </a:p>
        </p:txBody>
      </p:sp>
      <p:sp>
        <p:nvSpPr>
          <p:cNvPr id="7" name="S17-chip16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7-text16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쓴 충전기는 어떻게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할까요? 까닭은?</a:t>
            </a:r>
            <a:endParaRPr lang="ko-KR" sz="2800" dirty="0"/>
          </a:p>
        </p:txBody>
      </p:sp>
      <p:sp>
        <p:nvSpPr>
          <p:cNvPr id="9" name="S17-chip16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7-text16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문풍지를 붙이면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8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‘처음 에너지 → 바뀐 에너지’ 차례로 말하면 쉬워요.</a:t>
            </a:r>
            <a:endParaRPr lang="ko-KR" sz="2800" dirty="0"/>
          </a:p>
        </p:txBody>
      </p:sp>
      <p:sp>
        <p:nvSpPr>
          <p:cNvPr id="5" name="S18-chip1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8-text16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전기 → 열</a:t>
            </a:r>
            <a:endParaRPr lang="ko-KR" sz="2800" dirty="0"/>
          </a:p>
        </p:txBody>
      </p:sp>
      <p:sp>
        <p:nvSpPr>
          <p:cNvPr id="7" name="S18-text16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빛도 맞음</a:t>
            </a:r>
            <a:endParaRPr lang="ko-KR" sz="2200" dirty="0"/>
          </a:p>
        </p:txBody>
      </p:sp>
      <p:sp>
        <p:nvSpPr>
          <p:cNvPr id="8" name="S18-text16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위치 → 운동</a:t>
            </a:r>
            <a:endParaRPr lang="ko-KR" sz="2800" dirty="0"/>
          </a:p>
        </p:txBody>
      </p:sp>
      <p:sp>
        <p:nvSpPr>
          <p:cNvPr id="9" name="S18-text17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곳의 물</a:t>
            </a:r>
            <a:endParaRPr lang="ko-KR" sz="2200" dirty="0"/>
          </a:p>
        </p:txBody>
      </p:sp>
      <p:sp>
        <p:nvSpPr>
          <p:cNvPr id="10" name="S18-text17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플러그 뽑기</a:t>
            </a:r>
            <a:endParaRPr lang="ko-KR" sz="2800" dirty="0"/>
          </a:p>
        </p:txBody>
      </p:sp>
      <p:sp>
        <p:nvSpPr>
          <p:cNvPr id="11" name="S18-text17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</a:t>
            </a:r>
            <a:endParaRPr lang="ko-KR" sz="2200" dirty="0"/>
          </a:p>
        </p:txBody>
      </p:sp>
      <p:sp>
        <p:nvSpPr>
          <p:cNvPr id="12" name="S18-text17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열이 덜 새요</a:t>
            </a:r>
            <a:endParaRPr lang="ko-KR" sz="2800" dirty="0"/>
          </a:p>
        </p:txBody>
      </p:sp>
      <p:sp>
        <p:nvSpPr>
          <p:cNvPr id="13" name="S18-text17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</a:t>
            </a:r>
            <a:endParaRPr lang="ko-KR" sz="2200" dirty="0"/>
          </a:p>
        </p:txBody>
      </p:sp>
      <p:sp>
        <p:nvSpPr>
          <p:cNvPr id="14" name="S18-chip17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8-text17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운동 → 위치</a:t>
            </a:r>
            <a:endParaRPr lang="ko-KR" sz="2800" dirty="0"/>
          </a:p>
        </p:txBody>
      </p:sp>
      <p:sp>
        <p:nvSpPr>
          <p:cNvPr id="16" name="S18-text17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빨라져요</a:t>
            </a:r>
            <a:endParaRPr lang="ko-KR" sz="2200" dirty="0"/>
          </a:p>
        </p:txBody>
      </p:sp>
      <p:sp>
        <p:nvSpPr>
          <p:cNvPr id="17" name="S18-text17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그냥 둬요</a:t>
            </a:r>
            <a:endParaRPr lang="ko-KR" sz="2800" dirty="0"/>
          </a:p>
        </p:txBody>
      </p:sp>
      <p:sp>
        <p:nvSpPr>
          <p:cNvPr id="18" name="S18-text17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꺼져도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써요(M2)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아끼는 방법은?</a:t>
            </a:r>
            <a:endParaRPr lang="ko-KR" sz="4000" dirty="0"/>
          </a:p>
        </p:txBody>
      </p:sp>
      <p:sp>
        <p:nvSpPr>
          <p:cNvPr id="3" name="S19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에너지를 아끼는 방법을 골라요.</a:t>
            </a:r>
            <a:endParaRPr lang="ko-KR" sz="2800" dirty="0"/>
          </a:p>
        </p:txBody>
      </p:sp>
      <p:sp>
        <p:nvSpPr>
          <p:cNvPr id="4" name="S19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9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 방법이 에너지를 아끼는 까닭을 말해요.</a:t>
            </a:r>
            <a:endParaRPr lang="ko-KR" sz="2800" dirty="0"/>
          </a:p>
        </p:txBody>
      </p:sp>
      <p:sp>
        <p:nvSpPr>
          <p:cNvPr id="6" name="S19-chip18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9-card18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9-cardtext18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연 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에어컨을 켜요.</a:t>
            </a:r>
            <a:endParaRPr lang="ko-KR" sz="2800" dirty="0"/>
          </a:p>
        </p:txBody>
      </p:sp>
      <p:sp>
        <p:nvSpPr>
          <p:cNvPr id="9" name="S19-chip18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9-card18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18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문풍지를 붙이고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난방 온도를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낮춰요.</a:t>
            </a:r>
            <a:endParaRPr lang="ko-KR" sz="2800" dirty="0"/>
          </a:p>
        </p:txBody>
      </p:sp>
      <p:sp>
        <p:nvSpPr>
          <p:cNvPr id="12" name="S19-chip18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9-card19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9-cardtext19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꺼진 텔레비전의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플러그를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꽂아 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0-card19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0-cardtext19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에너지는 다른 형태로 바뀌어요(에너지 전환).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전력을 줄이고 알맞은 온도를 지키면 에너지를 아껴요.</a:t>
            </a:r>
            <a:endParaRPr lang="ko-KR" sz="2800" dirty="0"/>
          </a:p>
        </p:txBody>
      </p:sp>
      <p:sp>
        <p:nvSpPr>
          <p:cNvPr id="5" name="S20-chip19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근거를 들어 절약 방법 말하기</a:t>
            </a:r>
            <a:endParaRPr lang="ko-KR" sz="2200" dirty="0"/>
          </a:p>
        </p:txBody>
      </p:sp>
      <p:sp>
        <p:nvSpPr>
          <p:cNvPr id="6" name="S20-chip19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꺼진 기기는 전기를 안 쓴다고 생각하기</a:t>
            </a:r>
            <a:endParaRPr lang="ko-KR" sz="2000" dirty="0"/>
          </a:p>
        </p:txBody>
      </p:sp>
      <p:sp>
        <p:nvSpPr>
          <p:cNvPr id="7" name="S20-text19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0-text19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손전등을 켤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전환은?</a:t>
            </a:r>
            <a:endParaRPr lang="ko-KR" sz="2200" dirty="0"/>
          </a:p>
        </p:txBody>
      </p:sp>
      <p:sp>
        <p:nvSpPr>
          <p:cNvPr id="9" name="S20-text19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전원을 꺼도 쓰는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무엇이라 하나요?</a:t>
            </a:r>
            <a:endParaRPr lang="ko-KR" sz="2200" dirty="0"/>
          </a:p>
        </p:txBody>
      </p:sp>
      <p:sp>
        <p:nvSpPr>
          <p:cNvPr id="10" name="S20-text19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에너지를 아껴야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 한 가지는?</a:t>
            </a:r>
            <a:endParaRPr lang="ko-KR" sz="2200" dirty="0"/>
          </a:p>
        </p:txBody>
      </p:sp>
      <p:sp>
        <p:nvSpPr>
          <p:cNvPr id="11" name="S20-text2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산과 염기(초6)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열의 이동과 단열</a:t>
            </a:r>
            <a:endParaRPr lang="ko-KR" sz="4000" dirty="0"/>
          </a:p>
        </p:txBody>
      </p:sp>
      <p:sp>
        <p:nvSpPr>
          <p:cNvPr id="3" name="S21-text2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열은 온도가 높은 곳에서 낮은 곳으로 이동해요.</a:t>
            </a:r>
            <a:endParaRPr lang="ko-KR" sz="2800" dirty="0"/>
          </a:p>
        </p:txBody>
      </p:sp>
      <p:sp>
        <p:nvSpPr>
          <p:cNvPr id="4" name="S21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1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덜 빠져나가면 난방 에너지를 아껴요.</a:t>
            </a:r>
            <a:endParaRPr lang="ko-KR" sz="2800" dirty="0"/>
          </a:p>
        </p:txBody>
      </p:sp>
      <p:sp>
        <p:nvSpPr>
          <p:cNvPr id="6" name="S21-card204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1-cardtext205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집 안의 열이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밖으로 빠져나가요.</a:t>
            </a:r>
            <a:endParaRPr lang="ko-KR" sz="2800" dirty="0"/>
          </a:p>
        </p:txBody>
      </p:sp>
      <p:sp>
        <p:nvSpPr>
          <p:cNvPr id="8" name="S21-card206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1-cardtext207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문풍지·두꺼운 커튼이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열의 이동을 줄여요.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에너지 절약</dc:title>
  <dc:subject>KR22-G05-SCI-ENERGY-L01</dc:subject>
  <dc:creator>education-ppt</dc:creator>
  <cp:lastModifiedBy>education-ppt</cp:lastModifiedBy>
  <cp:revision>1</cp:revision>
  <dcterms:created xsi:type="dcterms:W3CDTF">2026-10-26T13:51:58Z</dcterms:created>
  <dcterms:modified xsi:type="dcterms:W3CDTF">2026-10-26T13:51:58Z</dcterms:modified>
</cp:coreProperties>
</file>