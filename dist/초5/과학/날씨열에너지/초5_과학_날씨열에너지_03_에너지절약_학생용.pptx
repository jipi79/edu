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1dddb8-2cb8-29de-cbd6-84d7e866045d}">
          <p14:sldIdLst>
            <p14:sldId id="256"/>
            <p14:sldId id="257"/>
          </p14:sldIdLst>
        </p14:section>
        <p14:section name="개념" id="{2dd0b77d-c6a8-7f35-2525-43fe1c416199}">
          <p14:sldIdLst>
            <p14:sldId id="258"/>
            <p14:sldId id="262"/>
            <p14:sldId id="265"/>
            <p14:sldId id="269"/>
          </p14:sldIdLst>
        </p14:section>
        <p14:section name="연습" id="{d9ae3181-0c1e-93e3-7590-0fa70c543f9c}">
          <p14:sldIdLst>
            <p14:sldId id="259"/>
            <p14:sldId id="260"/>
            <p14:sldId id="261"/>
            <p14:sldId id="263"/>
            <p14:sldId id="264"/>
            <p14:sldId id="266"/>
            <p14:sldId id="267"/>
            <p14:sldId id="268"/>
            <p14:sldId id="270"/>
            <p14:sldId id="271"/>
          </p14:sldIdLst>
        </p14:section>
        <p14:section name="개념" id="{2d9552c5-0808-bd70-e005-ee57188d9456}">
          <p14:sldIdLst/>
        </p14:section>
        <p14:section name="연습" id="{a15543d3-941e-6556-28a5-37c0eb3461b0}">
          <p14:sldIdLst/>
        </p14:section>
        <p14:section name="개념" id="{17202eb7-acbe-1729-d704-df9417487fdf}">
          <p14:sldIdLst/>
        </p14:section>
        <p14:section name="연습" id="{4eb0bd48-e9cc-326b-8842-a7d828a2a284}">
          <p14:sldIdLst/>
        </p14:section>
        <p14:section name="개념" id="{551a6bd2-87e6-0bf0-5043-ac2bf7da003d}">
          <p14:sldIdLst/>
        </p14:section>
        <p14:section name="연습" id="{221fd8a0-b7bd-83af-cfb4-f9f6bbec2393}">
          <p14:sldIdLst/>
        </p14:section>
        <p14:section name="확인" id="{8eac4263-33ad-cc9c-b95a-5c261819ada3}">
          <p14:sldIdLst>
            <p14:sldId id="272"/>
            <p14:sldId id="273"/>
          </p14:sldIdLst>
        </p14:section>
        <p14:section name="정리" id="{160e137c-69e3-1608-40dd-1f97876ed0a7}">
          <p14:sldIdLst>
            <p14:sldId id="274"/>
          </p14:sldIdLst>
        </p14:section>
        <p14:section name="보충" id="{2c0a8322-9196-3548-7f7f-90e7e4340604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절약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 둔 텔레비전도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쓸까?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에너지의 형태와 에너지가 바뀌는 모습을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에너지를 아끼는 방법을 근거와 함께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보온병처럼 열의 이동을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것을 무엇이라고 하나요?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에어컨을 방 위쪽에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에너지의 여러 형태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에너지가 있어야 기계가 움직이고 생물이 살아가요.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물체의 온도를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기구를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작동하게 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주위를 밝게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비춰요.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음식, 연료, 건전지에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저장되어 있어요.</a:t>
            </a:r>
            <a:endParaRPr lang="ko-KR" sz="2800" dirty="0"/>
          </a:p>
        </p:txBody>
      </p:sp>
      <p:sp>
        <p:nvSpPr>
          <p:cNvPr id="12" name="S03-card18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3-cardtext19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움직이는 물체가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가져요.</a:t>
            </a:r>
            <a:endParaRPr lang="ko-KR" sz="2800" dirty="0"/>
          </a:p>
        </p:txBody>
      </p:sp>
      <p:sp>
        <p:nvSpPr>
          <p:cNvPr id="14" name="S03-card20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3-cardtext21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곳에 있는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 가져요.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 무엇이 생길지 예상해요.</a:t>
            </a:r>
            <a:endParaRPr lang="ko-KR" sz="28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5" name="S04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" y="2417064"/>
          <a:ext cx="10241280" cy="914400"/>
        </p:xfrm>
        <a:graphic>
          <a:graphicData uri="http://schemas.openxmlformats.org/drawingml/2006/table">
            <a:tbl>
              <a:tblPr/>
              <a:tblGrid>
                <a:gridCol w="6144768"/>
                <a:gridCol w="40965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볼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손바닥을 빠르게 20번 비벼요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손전등을 켜요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공을 무릎 높이, 어깨 높이에서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떨어뜨려요(어느 쪽이 높이 튈까?)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보고 바뀐 것을 찾아요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손전등 빛을 눈에 비추지 않아요. 공은 빈 곳에서 해요.</a:t>
            </a:r>
            <a:endParaRPr lang="ko-KR" sz="2800" dirty="0"/>
          </a:p>
        </p:txBody>
      </p:sp>
      <p:sp>
        <p:nvSpPr>
          <p:cNvPr id="5" name="S05-card2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것을 말해요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공, 같은 바닥에서 해요</a:t>
            </a:r>
            <a:endParaRPr lang="ko-KR" sz="2800" dirty="0"/>
          </a:p>
        </p:txBody>
      </p:sp>
      <p:sp>
        <p:nvSpPr>
          <p:cNvPr id="7" name="S05-stepno30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5-text31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손바닥을 빠르게 20번 비비고 볼에 대요.</a:t>
            </a:r>
            <a:endParaRPr lang="ko-KR" sz="2800" dirty="0"/>
          </a:p>
        </p:txBody>
      </p:sp>
      <p:sp>
        <p:nvSpPr>
          <p:cNvPr id="9" name="S05-stepno32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5-text33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손전등을 켜고 무엇이 나오는지 봐요.</a:t>
            </a:r>
            <a:endParaRPr lang="ko-KR" sz="2800" dirty="0"/>
          </a:p>
        </p:txBody>
      </p:sp>
      <p:sp>
        <p:nvSpPr>
          <p:cNvPr id="11" name="S05-stepno34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5-text35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무릎 높이에서 떨어뜨려요.</a:t>
            </a:r>
            <a:endParaRPr lang="ko-KR" sz="2800" dirty="0"/>
          </a:p>
        </p:txBody>
      </p:sp>
      <p:sp>
        <p:nvSpPr>
          <p:cNvPr id="13" name="S05-stepno36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5-text37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어깨 높이에서도 떨어뜨려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6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무엇으로 바뀌었을까요?</a:t>
            </a:r>
            <a:endParaRPr lang="ko-KR" sz="28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4732020"/>
                <a:gridCol w="57835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 비비기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 켜기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떨어뜨리기(무릎·어깨)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전환</a:t>
            </a:r>
            <a:endParaRPr lang="ko-KR" sz="40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에너지는 다른 형태로 바뀔 수 있어요.</a:t>
            </a:r>
            <a:endParaRPr lang="ko-KR" sz="2800" dirty="0"/>
          </a:p>
        </p:txBody>
      </p:sp>
      <p:sp>
        <p:nvSpPr>
          <p:cNvPr id="4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곳의 공일수록 위치 에너지가 커서 더 높이 튀어요.</a:t>
            </a:r>
            <a:endParaRPr lang="ko-KR" sz="2800" dirty="0"/>
          </a:p>
        </p:txBody>
      </p:sp>
      <p:graphicFrame>
        <p:nvGraphicFramePr>
          <p:cNvPr id="8" name="S07-table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39594"/>
          <a:ext cx="10515600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694029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에너지가 바뀐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 비비기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 에너지 → 열에너지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 켜기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 에너지 → 전기 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빛에너지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떨어뜨리기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에너지 → 운동 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선반 위에 공이 가만히 놓여 있어요.</a:t>
            </a:r>
            <a:endParaRPr lang="ko-KR" sz="28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공 떨어뜨리기의 무엇이 증거일까요?</a:t>
            </a:r>
            <a:endParaRPr lang="ko-KR" sz="28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에너지가 없어요.</a:t>
            </a:r>
            <a:endParaRPr lang="ko-KR" sz="28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곳에 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에너지가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에너지로 바뀔까요?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 에너지 → △△ 에너지’로 말해요.</a:t>
            </a:r>
            <a:endParaRPr lang="ko-KR" sz="2800" dirty="0"/>
          </a:p>
        </p:txBody>
      </p:sp>
      <p:sp>
        <p:nvSpPr>
          <p:cNvPr id="5" name="S09-chip5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5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전기밥솥으로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지어요.</a:t>
            </a:r>
            <a:endParaRPr lang="ko-KR" sz="2800" dirty="0"/>
          </a:p>
        </p:txBody>
      </p:sp>
      <p:sp>
        <p:nvSpPr>
          <p:cNvPr id="7" name="S09-chip5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5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돌아가요.</a:t>
            </a:r>
            <a:endParaRPr lang="ko-KR" sz="2800" dirty="0"/>
          </a:p>
        </p:txBody>
      </p:sp>
      <p:sp>
        <p:nvSpPr>
          <p:cNvPr id="9" name="S09-chip60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61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 전지로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만들어요.</a:t>
            </a:r>
            <a:endParaRPr lang="ko-KR" sz="2800" dirty="0"/>
          </a:p>
        </p:txBody>
      </p:sp>
      <p:sp>
        <p:nvSpPr>
          <p:cNvPr id="11" name="S09-chip62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63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햇빛을 받아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아껴 써야 할까요?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쓰는 전기와 난방은 자원에서 와요.</a:t>
            </a:r>
            <a:endParaRPr lang="ko-KR" sz="2800" dirty="0"/>
          </a:p>
        </p:txBody>
      </p:sp>
      <p:sp>
        <p:nvSpPr>
          <p:cNvPr id="4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아끼면 자원과 환경을 함께 지켜요.</a:t>
            </a:r>
            <a:endParaRPr lang="ko-KR" sz="2800" dirty="0"/>
          </a:p>
        </p:txBody>
      </p:sp>
      <p:sp>
        <p:nvSpPr>
          <p:cNvPr id="6" name="S10-card67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8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자원이 한정돼요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석탄, 석유, 천연가스는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 다시 만들기 어려워요.</a:t>
            </a:r>
            <a:endParaRPr lang="ko-KR" sz="2800" dirty="0"/>
          </a:p>
        </p:txBody>
      </p:sp>
      <p:sp>
        <p:nvSpPr>
          <p:cNvPr id="8" name="S10-card69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70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연료를 태울 때 나오는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탄소를 줄여요.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1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끈 기기도 전기를 쓸까요?</a:t>
            </a:r>
            <a:endParaRPr lang="ko-KR" sz="2800" dirty="0"/>
          </a:p>
        </p:txBody>
      </p:sp>
      <p:sp>
        <p:nvSpPr>
          <p:cNvPr id="4" name="S11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2" name="S11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전기를 쓸까?(써요 / 안 써요)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리모컨으로 끈 텔레비전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 전화를 뺀 채 꽂혀 있는 충전기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플러그를 뽑은 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찾아봐요</a:t>
            </a:r>
            <a:endParaRPr lang="ko-KR" sz="4000" dirty="0"/>
          </a:p>
        </p:txBody>
      </p:sp>
      <p:sp>
        <p:nvSpPr>
          <p:cNvPr id="3" name="S12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눈으로만 찾아요. 플러그는 어른이 다뤄요.</a:t>
            </a:r>
            <a:endParaRPr lang="ko-KR" sz="2800" dirty="0"/>
          </a:p>
        </p:txBody>
      </p:sp>
      <p:sp>
        <p:nvSpPr>
          <p:cNvPr id="5" name="S12-card77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78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콘센트·플러그는 만지지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불빛과 숫자 표시를 찾아요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곳 이상 둘러봐요</a:t>
            </a:r>
            <a:endParaRPr lang="ko-KR" sz="2800" dirty="0"/>
          </a:p>
        </p:txBody>
      </p:sp>
      <p:sp>
        <p:nvSpPr>
          <p:cNvPr id="7" name="S12-stepno79"/>
          <p:cNvSpPr txBox="1"/>
          <p:nvPr/>
        </p:nvSpPr>
        <p:spPr>
          <a:xfrm>
            <a:off x="548640" y="1962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ext80"/>
          <p:cNvSpPr txBox="1"/>
          <p:nvPr/>
        </p:nvSpPr>
        <p:spPr>
          <a:xfrm>
            <a:off x="1325880" y="1916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꺼져 있지만 플러그가 꽂힌 기기를 찾아요.</a:t>
            </a:r>
            <a:endParaRPr lang="ko-KR" sz="2800" dirty="0"/>
          </a:p>
        </p:txBody>
      </p:sp>
      <p:sp>
        <p:nvSpPr>
          <p:cNvPr id="9" name="S12-stepno81"/>
          <p:cNvSpPr txBox="1"/>
          <p:nvPr/>
        </p:nvSpPr>
        <p:spPr>
          <a:xfrm>
            <a:off x="548640" y="2994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ext82"/>
          <p:cNvSpPr txBox="1"/>
          <p:nvPr/>
        </p:nvSpPr>
        <p:spPr>
          <a:xfrm>
            <a:off x="1325880" y="2948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불빛이나 시계 숫자가 켜져 있는지 봐요.</a:t>
            </a:r>
            <a:endParaRPr lang="ko-KR" sz="2800" dirty="0"/>
          </a:p>
        </p:txBody>
      </p:sp>
      <p:sp>
        <p:nvSpPr>
          <p:cNvPr id="11" name="S12-stepno83"/>
          <p:cNvSpPr txBox="1"/>
          <p:nvPr/>
        </p:nvSpPr>
        <p:spPr>
          <a:xfrm>
            <a:off x="548640" y="3981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ext84"/>
          <p:cNvSpPr txBox="1"/>
          <p:nvPr/>
        </p:nvSpPr>
        <p:spPr>
          <a:xfrm>
            <a:off x="1325880" y="3981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기기를 활동지 3에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정리해요</a:t>
            </a:r>
            <a:endParaRPr lang="ko-KR" sz="4000" dirty="0"/>
          </a:p>
        </p:txBody>
      </p:sp>
      <p:sp>
        <p:nvSpPr>
          <p:cNvPr id="3" name="S13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3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꺼져 있는데 불빛이 켜진 기기는 전기를 쓰고 있을까요?</a:t>
            </a:r>
            <a:endParaRPr lang="ko-KR" sz="2800" dirty="0"/>
          </a:p>
        </p:txBody>
      </p:sp>
      <p:graphicFrame>
        <p:nvGraphicFramePr>
          <p:cNvPr id="14" name="S13-table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4732020"/>
                <a:gridCol w="57835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찾은 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꺼져 있을 때 보인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아끼는 방법</a:t>
            </a:r>
            <a:endParaRPr lang="ko-KR" sz="4000" dirty="0"/>
          </a:p>
        </p:txBody>
      </p:sp>
      <p:sp>
        <p:nvSpPr>
          <p:cNvPr id="3" name="S1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전력: 전원을 꺼도 플러그가 꽂혀 있으면 쓰는 전기</a:t>
            </a:r>
            <a:endParaRPr lang="ko-KR" sz="2800" dirty="0"/>
          </a:p>
        </p:txBody>
      </p:sp>
      <p:sp>
        <p:nvSpPr>
          <p:cNvPr id="4" name="S1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꺼진 기기의 불빛이 대기 전력의 증거예요.</a:t>
            </a:r>
            <a:endParaRPr lang="ko-KR" sz="2800" dirty="0"/>
          </a:p>
        </p:txBody>
      </p:sp>
      <p:sp>
        <p:nvSpPr>
          <p:cNvPr id="6" name="S14-card9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 줄이기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기기는 플러그를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뽑거나 멀티탭을 꺼요.</a:t>
            </a:r>
            <a:endParaRPr lang="ko-KR" sz="2200" dirty="0"/>
          </a:p>
        </p:txBody>
      </p:sp>
      <p:sp>
        <p:nvSpPr>
          <p:cNvPr id="8" name="S14-card9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9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냉난방 온도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여름엔 너무 낮게, 겨울엔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높게 하지 않아요.</a:t>
            </a:r>
            <a:endParaRPr lang="ko-KR" sz="2200" dirty="0"/>
          </a:p>
        </p:txBody>
      </p:sp>
      <p:sp>
        <p:nvSpPr>
          <p:cNvPr id="10" name="S14-card9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9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단열하기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문풍지·커튼으로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새지 않게 해요.</a:t>
            </a:r>
            <a:endParaRPr lang="ko-KR" sz="2200" dirty="0"/>
          </a:p>
        </p:txBody>
      </p:sp>
      <p:sp>
        <p:nvSpPr>
          <p:cNvPr id="12" name="S14-card9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9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효율이 높은 기구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전등, 에너지 소비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1등급 제품을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5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리모컨으로 텔레비전을 껐어요.</a:t>
            </a:r>
            <a:endParaRPr lang="ko-KR" sz="2800" dirty="0"/>
          </a:p>
        </p:txBody>
      </p:sp>
      <p:sp>
        <p:nvSpPr>
          <p:cNvPr id="5" name="S1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우리 집에서 찾은 무엇이 증거일까요?</a:t>
            </a:r>
            <a:endParaRPr lang="ko-KR" sz="2800" dirty="0"/>
          </a:p>
        </p:txBody>
      </p:sp>
      <p:sp>
        <p:nvSpPr>
          <p:cNvPr id="7" name="S15-chip1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5-text10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껐으니 전기를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전혀 쓰지 않아요.</a:t>
            </a:r>
            <a:endParaRPr lang="ko-KR" sz="2800" dirty="0"/>
          </a:p>
        </p:txBody>
      </p:sp>
      <p:sp>
        <p:nvSpPr>
          <p:cNvPr id="9" name="S15-chip10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5-text10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플러그가 꽂혀 있으면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조금씩 전기를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자료를 읽어요</a:t>
            </a:r>
            <a:endParaRPr lang="ko-KR" sz="4000" dirty="0"/>
          </a:p>
        </p:txBody>
      </p:sp>
      <p:sp>
        <p:nvSpPr>
          <p:cNvPr id="3" name="S16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하루 에어컨 전기 요금이에요(예시).</a:t>
            </a:r>
            <a:endParaRPr lang="ko-KR" sz="2800" dirty="0"/>
          </a:p>
        </p:txBody>
      </p:sp>
      <p:sp>
        <p:nvSpPr>
          <p:cNvPr id="4" name="S16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한 칸은 100원이에요.</a:t>
            </a:r>
            <a:endParaRPr lang="ko-KR" sz="2800" dirty="0"/>
          </a:p>
        </p:txBody>
      </p:sp>
      <p:sp>
        <p:nvSpPr>
          <p:cNvPr id="6" name="S16-figure111" descr="예시 자료 막대그래프 ‘하루 에어컨 전기 요금’: 세로 눈금 한 칸 100원. 설정 온도 22 °C 900원, 24 °C 800원, 26 °C 700원"/>
          <p:cNvSpPr/>
          <p:nvPr/>
        </p:nvSpPr>
        <p:spPr>
          <a:xfrm>
            <a:off x="7769518" y="2632611"/>
            <a:ext cx="613841" cy="1841522"/>
          </a:xfrm>
          <a:custGeom>
            <a:avLst/>
            <a:gdLst/>
            <a:ahLst/>
            <a:cxnLst/>
            <a:rect l="l" t="t" r="r" b="b"/>
            <a:pathLst>
              <a:path w="613841" h="1841522">
                <a:moveTo>
                  <a:pt x="0" y="1841522"/>
                </a:moveTo>
                <a:lnTo>
                  <a:pt x="613841" y="1841522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6-mark112"/>
          <p:cNvSpPr/>
          <p:nvPr/>
        </p:nvSpPr>
        <p:spPr>
          <a:xfrm>
            <a:off x="8843739" y="2837224"/>
            <a:ext cx="613841" cy="1636909"/>
          </a:xfrm>
          <a:custGeom>
            <a:avLst/>
            <a:gdLst/>
            <a:ahLst/>
            <a:cxnLst/>
            <a:rect l="l" t="t" r="r" b="b"/>
            <a:pathLst>
              <a:path w="613841" h="1636909">
                <a:moveTo>
                  <a:pt x="0" y="1636909"/>
                </a:moveTo>
                <a:lnTo>
                  <a:pt x="613841" y="1636909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6-mark113"/>
          <p:cNvSpPr/>
          <p:nvPr/>
        </p:nvSpPr>
        <p:spPr>
          <a:xfrm>
            <a:off x="9917960" y="3041838"/>
            <a:ext cx="613841" cy="1432295"/>
          </a:xfrm>
          <a:custGeom>
            <a:avLst/>
            <a:gdLst/>
            <a:ahLst/>
            <a:cxnLst/>
            <a:rect l="l" t="t" r="r" b="b"/>
            <a:pathLst>
              <a:path w="613841" h="1432295">
                <a:moveTo>
                  <a:pt x="0" y="1432295"/>
                </a:moveTo>
                <a:lnTo>
                  <a:pt x="613841" y="1432295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114"/>
          <p:cNvSpPr/>
          <p:nvPr/>
        </p:nvSpPr>
        <p:spPr>
          <a:xfrm>
            <a:off x="7360291" y="4269519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6-mark115"/>
          <p:cNvSpPr/>
          <p:nvPr/>
        </p:nvSpPr>
        <p:spPr>
          <a:xfrm>
            <a:off x="7360291" y="4064906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6-mark116"/>
          <p:cNvSpPr/>
          <p:nvPr/>
        </p:nvSpPr>
        <p:spPr>
          <a:xfrm>
            <a:off x="7360291" y="3860292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6-mark117"/>
          <p:cNvSpPr/>
          <p:nvPr/>
        </p:nvSpPr>
        <p:spPr>
          <a:xfrm>
            <a:off x="7360291" y="3655678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6-mark118"/>
          <p:cNvSpPr/>
          <p:nvPr/>
        </p:nvSpPr>
        <p:spPr>
          <a:xfrm>
            <a:off x="7360291" y="3451065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6-mark119"/>
          <p:cNvSpPr/>
          <p:nvPr/>
        </p:nvSpPr>
        <p:spPr>
          <a:xfrm>
            <a:off x="7360291" y="3246451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6-mark120"/>
          <p:cNvSpPr/>
          <p:nvPr/>
        </p:nvSpPr>
        <p:spPr>
          <a:xfrm>
            <a:off x="7360291" y="3041838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6-mark121"/>
          <p:cNvSpPr/>
          <p:nvPr/>
        </p:nvSpPr>
        <p:spPr>
          <a:xfrm>
            <a:off x="7360291" y="2837224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6-mark122"/>
          <p:cNvSpPr/>
          <p:nvPr/>
        </p:nvSpPr>
        <p:spPr>
          <a:xfrm>
            <a:off x="7360291" y="2632611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6-mark123"/>
          <p:cNvSpPr/>
          <p:nvPr/>
        </p:nvSpPr>
        <p:spPr>
          <a:xfrm>
            <a:off x="7360291" y="2427997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6-mark124"/>
          <p:cNvSpPr/>
          <p:nvPr/>
        </p:nvSpPr>
        <p:spPr>
          <a:xfrm>
            <a:off x="7360291" y="4474133"/>
            <a:ext cx="3580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6-mark125"/>
          <p:cNvSpPr/>
          <p:nvPr/>
        </p:nvSpPr>
        <p:spPr>
          <a:xfrm flipV="1">
            <a:off x="7360291" y="2274537"/>
            <a:ext cx="0" cy="21995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6-label127"/>
          <p:cNvSpPr txBox="1"/>
          <p:nvPr/>
        </p:nvSpPr>
        <p:spPr>
          <a:xfrm>
            <a:off x="7644384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°C</a:t>
            </a:r>
            <a:endParaRPr lang="ko-KR" sz="2200" dirty="0"/>
          </a:p>
        </p:txBody>
      </p:sp>
      <p:sp>
        <p:nvSpPr>
          <p:cNvPr id="22" name="S16-label129"/>
          <p:cNvSpPr txBox="1"/>
          <p:nvPr/>
        </p:nvSpPr>
        <p:spPr>
          <a:xfrm>
            <a:off x="8718605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°C</a:t>
            </a:r>
            <a:endParaRPr lang="ko-KR" sz="2200" dirty="0"/>
          </a:p>
        </p:txBody>
      </p:sp>
      <p:sp>
        <p:nvSpPr>
          <p:cNvPr id="23" name="S16-label131"/>
          <p:cNvSpPr txBox="1"/>
          <p:nvPr/>
        </p:nvSpPr>
        <p:spPr>
          <a:xfrm>
            <a:off x="9792826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°C</a:t>
            </a:r>
            <a:endParaRPr lang="ko-KR" sz="2200" dirty="0"/>
          </a:p>
        </p:txBody>
      </p:sp>
      <p:sp>
        <p:nvSpPr>
          <p:cNvPr id="24" name="S16-label133"/>
          <p:cNvSpPr txBox="1"/>
          <p:nvPr/>
        </p:nvSpPr>
        <p:spPr>
          <a:xfrm>
            <a:off x="6846338" y="433125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5" name="S16-label135"/>
          <p:cNvSpPr txBox="1"/>
          <p:nvPr/>
        </p:nvSpPr>
        <p:spPr>
          <a:xfrm>
            <a:off x="6695462" y="392203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6" name="S16-label137"/>
          <p:cNvSpPr txBox="1"/>
          <p:nvPr/>
        </p:nvSpPr>
        <p:spPr>
          <a:xfrm>
            <a:off x="6695462" y="351280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7" name="S16-label139"/>
          <p:cNvSpPr txBox="1"/>
          <p:nvPr/>
        </p:nvSpPr>
        <p:spPr>
          <a:xfrm>
            <a:off x="6695462" y="310357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8" name="S16-label141"/>
          <p:cNvSpPr txBox="1"/>
          <p:nvPr/>
        </p:nvSpPr>
        <p:spPr>
          <a:xfrm>
            <a:off x="6695462" y="269434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ko-KR" sz="1800" dirty="0"/>
          </a:p>
        </p:txBody>
      </p:sp>
      <p:sp>
        <p:nvSpPr>
          <p:cNvPr id="29" name="S16-label143"/>
          <p:cNvSpPr txBox="1"/>
          <p:nvPr/>
        </p:nvSpPr>
        <p:spPr>
          <a:xfrm>
            <a:off x="6551444" y="2285122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1800" dirty="0"/>
          </a:p>
        </p:txBody>
      </p:sp>
      <p:sp>
        <p:nvSpPr>
          <p:cNvPr id="30" name="S16-label145"/>
          <p:cNvSpPr txBox="1"/>
          <p:nvPr/>
        </p:nvSpPr>
        <p:spPr>
          <a:xfrm>
            <a:off x="7056253" y="1952625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(원)</a:t>
            </a:r>
            <a:endParaRPr lang="ko-KR" sz="1800" dirty="0"/>
          </a:p>
        </p:txBody>
      </p:sp>
      <p:sp>
        <p:nvSpPr>
          <p:cNvPr id="31" name="S16-label147"/>
          <p:cNvSpPr txBox="1"/>
          <p:nvPr/>
        </p:nvSpPr>
        <p:spPr>
          <a:xfrm>
            <a:off x="8243117" y="4893945"/>
            <a:ext cx="18150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 설정 온도</a:t>
            </a:r>
            <a:endParaRPr lang="ko-KR" sz="1800" dirty="0"/>
          </a:p>
        </p:txBody>
      </p:sp>
      <p:sp>
        <p:nvSpPr>
          <p:cNvPr id="32" name="S16-label149"/>
          <p:cNvSpPr txBox="1"/>
          <p:nvPr/>
        </p:nvSpPr>
        <p:spPr>
          <a:xfrm>
            <a:off x="9687670" y="1952625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자료</a:t>
            </a:r>
            <a:endParaRPr lang="ko-KR" sz="1800" dirty="0"/>
          </a:p>
        </p:txBody>
      </p:sp>
      <p:sp>
        <p:nvSpPr>
          <p:cNvPr id="33" name="S16-chip1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6-text151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온도를 높이면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요금은?</a:t>
            </a:r>
            <a:endParaRPr lang="ko-KR" sz="2800" dirty="0"/>
          </a:p>
        </p:txBody>
      </p:sp>
      <p:sp>
        <p:nvSpPr>
          <p:cNvPr id="35" name="S16-chip1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6-text153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°C와 26 °C의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 차이는?</a:t>
            </a:r>
            <a:endParaRPr lang="ko-KR" sz="2800" dirty="0"/>
          </a:p>
        </p:txBody>
      </p:sp>
      <p:sp>
        <p:nvSpPr>
          <p:cNvPr id="37" name="S16-chip1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6-text15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동안이면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얼마?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7-chip15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7-text15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전기난로를 켜면 어떤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에너지로 바뀌나요?</a:t>
            </a:r>
            <a:endParaRPr lang="ko-KR" sz="2800" dirty="0"/>
          </a:p>
        </p:txBody>
      </p:sp>
      <p:sp>
        <p:nvSpPr>
          <p:cNvPr id="5" name="S17-chip15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7-text15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폭포의 물이 떨어져요.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에너지가 바뀌나요?</a:t>
            </a:r>
            <a:endParaRPr lang="ko-KR" sz="2800" dirty="0"/>
          </a:p>
        </p:txBody>
      </p:sp>
      <p:sp>
        <p:nvSpPr>
          <p:cNvPr id="7" name="S17-chip16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7-text16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쓴 충전기는 어떻게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할까요? 까닭은?</a:t>
            </a:r>
            <a:endParaRPr lang="ko-KR" sz="2800" dirty="0"/>
          </a:p>
        </p:txBody>
      </p:sp>
      <p:sp>
        <p:nvSpPr>
          <p:cNvPr id="9" name="S17-chip16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7-text16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문풍지를 붙이면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아끼는 방법은?</a:t>
            </a:r>
            <a:endParaRPr lang="ko-KR" sz="4000" dirty="0"/>
          </a:p>
        </p:txBody>
      </p:sp>
      <p:sp>
        <p:nvSpPr>
          <p:cNvPr id="3" name="S19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아끼는 방법을 골라요.</a:t>
            </a:r>
            <a:endParaRPr lang="ko-KR" sz="2800" dirty="0"/>
          </a:p>
        </p:txBody>
      </p:sp>
      <p:sp>
        <p:nvSpPr>
          <p:cNvPr id="4" name="S19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9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 방법이 에너지를 아끼는 까닭을 말해요.</a:t>
            </a:r>
            <a:endParaRPr lang="ko-KR" sz="2800" dirty="0"/>
          </a:p>
        </p:txBody>
      </p:sp>
      <p:sp>
        <p:nvSpPr>
          <p:cNvPr id="6" name="S19-chip16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9-card16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9-cardtext16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연 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에어컨을 켜요.</a:t>
            </a:r>
            <a:endParaRPr lang="ko-KR" sz="2800" dirty="0"/>
          </a:p>
        </p:txBody>
      </p:sp>
      <p:sp>
        <p:nvSpPr>
          <p:cNvPr id="9" name="S19-chip17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9-card17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17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문풍지를 붙이고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난방 온도를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낮춰요.</a:t>
            </a:r>
            <a:endParaRPr lang="ko-KR" sz="2800" dirty="0"/>
          </a:p>
        </p:txBody>
      </p:sp>
      <p:sp>
        <p:nvSpPr>
          <p:cNvPr id="12" name="S19-chip17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9-card17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9-cardtext17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꺼진 텔레비전의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플러그를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꽂아 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0-card17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0-cardtext17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에너지는 다른 형태로 바뀌어요(에너지 전환).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전력을 줄이고 알맞은 온도를 지키면 에너지를 아껴요.</a:t>
            </a:r>
            <a:endParaRPr lang="ko-KR" sz="2800" dirty="0"/>
          </a:p>
        </p:txBody>
      </p:sp>
      <p:sp>
        <p:nvSpPr>
          <p:cNvPr id="5" name="S20-chip17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근거를 들어 절약 방법 말하기</a:t>
            </a:r>
            <a:endParaRPr lang="ko-KR" sz="2200" dirty="0"/>
          </a:p>
        </p:txBody>
      </p:sp>
      <p:sp>
        <p:nvSpPr>
          <p:cNvPr id="6" name="S20-chip17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꺼진 기기는 전기를 안 쓴다고 생각하기</a:t>
            </a:r>
            <a:endParaRPr lang="ko-KR" sz="2000" dirty="0"/>
          </a:p>
        </p:txBody>
      </p:sp>
      <p:sp>
        <p:nvSpPr>
          <p:cNvPr id="7" name="S20-text18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0-text18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손전등을 켤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전환은?</a:t>
            </a:r>
            <a:endParaRPr lang="ko-KR" sz="2200" dirty="0"/>
          </a:p>
        </p:txBody>
      </p:sp>
      <p:sp>
        <p:nvSpPr>
          <p:cNvPr id="9" name="S20-text18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전원을 꺼도 쓰는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무엇이라 하나요?</a:t>
            </a:r>
            <a:endParaRPr lang="ko-KR" sz="2200" dirty="0"/>
          </a:p>
        </p:txBody>
      </p:sp>
      <p:sp>
        <p:nvSpPr>
          <p:cNvPr id="10" name="S20-text18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에너지를 아껴야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 한 가지는?</a:t>
            </a:r>
            <a:endParaRPr lang="ko-KR" sz="2200" dirty="0"/>
          </a:p>
        </p:txBody>
      </p:sp>
      <p:sp>
        <p:nvSpPr>
          <p:cNvPr id="11" name="S20-text1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산과 염기(초6)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열의 이동과 단열</a:t>
            </a:r>
            <a:endParaRPr lang="ko-KR" sz="4000" dirty="0"/>
          </a:p>
        </p:txBody>
      </p:sp>
      <p:sp>
        <p:nvSpPr>
          <p:cNvPr id="3" name="S21-text1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</p:txBody>
      </p:sp>
      <p:sp>
        <p:nvSpPr>
          <p:cNvPr id="4" name="S21-card1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1-cardtext1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덜 빠져나가면 난방 에너지를 아껴요.</a:t>
            </a:r>
            <a:endParaRPr lang="ko-KR" sz="2800" dirty="0"/>
          </a:p>
        </p:txBody>
      </p:sp>
      <p:sp>
        <p:nvSpPr>
          <p:cNvPr id="6" name="S21-card188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1-cardtext189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집 안의 열이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밖으로 빠져나가요.</a:t>
            </a:r>
            <a:endParaRPr lang="ko-KR" sz="2800" dirty="0"/>
          </a:p>
        </p:txBody>
      </p:sp>
      <p:sp>
        <p:nvSpPr>
          <p:cNvPr id="8" name="S21-card190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1-cardtext191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문풍지·두꺼운 커튼이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이동을 줄여요.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에너지 절약</dc:title>
  <dc:subject>KR22-G05-SCI-ENERGY-L01</dc:subject>
  <dc:creator>education-ppt</dc:creator>
  <cp:lastModifiedBy>education-ppt</cp:lastModifiedBy>
  <cp:revision>1</cp:revision>
  <dcterms:created xsi:type="dcterms:W3CDTF">2026-10-26T13:51:58Z</dcterms:created>
  <dcterms:modified xsi:type="dcterms:W3CDTF">2026-10-26T13:51:58Z</dcterms:modified>
</cp:coreProperties>
</file>