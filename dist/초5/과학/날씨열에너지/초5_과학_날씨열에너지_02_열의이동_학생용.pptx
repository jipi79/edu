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5824d6c-69f2-7782-eab7-73cdb5b1ef9b}">
          <p14:sldIdLst>
            <p14:sldId id="256"/>
            <p14:sldId id="257"/>
          </p14:sldIdLst>
        </p14:section>
        <p14:section name="개념" id="{fab06787-5e9e-7064-89b4-6c39c18f500a}">
          <p14:sldIdLst>
            <p14:sldId id="258"/>
            <p14:sldId id="263"/>
            <p14:sldId id="268"/>
            <p14:sldId id="270"/>
            <p14:sldId id="271"/>
          </p14:sldIdLst>
        </p14:section>
        <p14:section name="연습" id="{e6849ad9-4bae-c6bb-f394-f68b22d9cbdf}">
          <p14:sldIdLst>
            <p14:sldId id="259"/>
            <p14:sldId id="260"/>
            <p14:sldId id="261"/>
            <p14:sldId id="262"/>
            <p14:sldId id="264"/>
            <p14:sldId id="265"/>
            <p14:sldId id="266"/>
            <p14:sldId id="267"/>
            <p14:sldId id="269"/>
            <p14:sldId id="272"/>
          </p14:sldIdLst>
        </p14:section>
        <p14:section name="개념" id="{ce675699-aee3-1cc6-5e7c-1a11c628f785}">
          <p14:sldIdLst/>
        </p14:section>
        <p14:section name="연습" id="{6918a0e4-c90d-7aa0-449a-6ca006ddb42c}">
          <p14:sldIdLst/>
        </p14:section>
        <p14:section name="개념" id="{e434ce71-d4e9-928c-dba1-bddbd11c3d33}">
          <p14:sldIdLst/>
        </p14:section>
        <p14:section name="연습" id="{c5e773f0-2811-4618-3ee6-330a991083ea}">
          <p14:sldIdLst/>
        </p14:section>
        <p14:section name="개념" id="{96ddd6a2-94eb-ff9a-2850-6813c4d5939b}">
          <p14:sldIdLst/>
        </p14:section>
        <p14:section name="연습" id="{014f330d-e4b1-fe64-f4c1-6b6934724f50}">
          <p14:sldIdLst/>
        </p14:section>
        <p14:section name="확인" id="{01cab376-0538-d68e-e28c-65e34522b1ef}">
          <p14:sldIdLst>
            <p14:sldId id="273"/>
            <p14:sldId id="274"/>
          </p14:sldIdLst>
        </p14:section>
        <p14:section name="정리" id="{6dbcaa9a-0120-a691-2aff-4e8491e7f599}">
          <p14:sldIdLst>
            <p14:sldId id="275"/>
          </p14:sldIdLst>
        </p14:section>
        <p14:section name="보충" id="{79e9d6b0-de5e-2f06-330c-a6432da4e185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날씨열에너지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열의 이동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열의 이동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과학 · 열의 이동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열의 이동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국에 넣어 둔 숟가락은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뜨거워질까?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알코올 온도계: 0부터 40까지 눈금, 빨간 액체 기둥이 23 °C를 가리킴"/>
          <p:cNvSpPr/>
          <p:nvPr/>
        </p:nvSpPr>
        <p:spPr>
          <a:xfrm>
            <a:off x="7970392" y="2131589"/>
            <a:ext cx="3368872" cy="126530"/>
          </a:xfrm>
          <a:custGeom>
            <a:avLst/>
            <a:gdLst/>
            <a:ahLst/>
            <a:cxnLst/>
            <a:rect l="l" t="t" r="r" b="b"/>
            <a:pathLst>
              <a:path w="3368872" h="126530">
                <a:moveTo>
                  <a:pt x="0" y="126530"/>
                </a:moveTo>
                <a:lnTo>
                  <a:pt x="3368872" y="126530"/>
                </a:lnTo>
                <a:lnTo>
                  <a:pt x="336887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7970392" y="2167967"/>
            <a:ext cx="1913773" cy="53775"/>
          </a:xfrm>
          <a:custGeom>
            <a:avLst/>
            <a:gdLst/>
            <a:ahLst/>
            <a:cxnLst/>
            <a:rect l="l" t="t" r="r" b="b"/>
            <a:pathLst>
              <a:path w="1913773" h="53775">
                <a:moveTo>
                  <a:pt x="0" y="53775"/>
                </a:moveTo>
                <a:lnTo>
                  <a:pt x="1913773" y="53775"/>
                </a:lnTo>
                <a:lnTo>
                  <a:pt x="1913773" y="0"/>
                </a:lnTo>
                <a:lnTo>
                  <a:pt x="0" y="0"/>
                </a:lnTo>
                <a:close/>
              </a:path>
            </a:pathLst>
          </a:custGeom>
          <a:solidFill>
            <a:srgbClr val="D9534F"/>
          </a:solidFill>
          <a:ln/>
        </p:spPr>
      </p:sp>
      <p:sp>
        <p:nvSpPr>
          <p:cNvPr id="7" name="S01-mark4"/>
          <p:cNvSpPr/>
          <p:nvPr/>
        </p:nvSpPr>
        <p:spPr>
          <a:xfrm>
            <a:off x="7764780" y="2068324"/>
            <a:ext cx="253061" cy="253061"/>
          </a:xfrm>
          <a:prstGeom prst="ellipse">
            <a:avLst/>
          </a:prstGeom>
          <a:solidFill>
            <a:srgbClr val="D9534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 flipV="1">
            <a:off x="8065290" y="1998732"/>
            <a:ext cx="0" cy="132857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 flipV="1">
            <a:off x="8144371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 flipV="1">
            <a:off x="8223453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 flipV="1">
            <a:off x="8302534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 flipV="1">
            <a:off x="8381616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 flipV="1">
            <a:off x="8460697" y="2036692"/>
            <a:ext cx="0" cy="9489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 flipV="1">
            <a:off x="8539779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 flipV="1">
            <a:off x="8618860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 flipV="1">
            <a:off x="8697942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 flipV="1">
            <a:off x="8777023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 flipV="1">
            <a:off x="8856105" y="1998732"/>
            <a:ext cx="0" cy="132857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 flipV="1">
            <a:off x="8935186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1-mark17"/>
          <p:cNvSpPr/>
          <p:nvPr/>
        </p:nvSpPr>
        <p:spPr>
          <a:xfrm flipV="1">
            <a:off x="9014268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1-mark18"/>
          <p:cNvSpPr/>
          <p:nvPr/>
        </p:nvSpPr>
        <p:spPr>
          <a:xfrm flipV="1">
            <a:off x="9093349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1-mark19"/>
          <p:cNvSpPr/>
          <p:nvPr/>
        </p:nvSpPr>
        <p:spPr>
          <a:xfrm flipV="1">
            <a:off x="9172431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1-mark20"/>
          <p:cNvSpPr/>
          <p:nvPr/>
        </p:nvSpPr>
        <p:spPr>
          <a:xfrm flipV="1">
            <a:off x="9251512" y="2036692"/>
            <a:ext cx="0" cy="9489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4" name="S01-mark21"/>
          <p:cNvSpPr/>
          <p:nvPr/>
        </p:nvSpPr>
        <p:spPr>
          <a:xfrm flipV="1">
            <a:off x="9330594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1-mark22"/>
          <p:cNvSpPr/>
          <p:nvPr/>
        </p:nvSpPr>
        <p:spPr>
          <a:xfrm flipV="1">
            <a:off x="9409675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1-mark23"/>
          <p:cNvSpPr/>
          <p:nvPr/>
        </p:nvSpPr>
        <p:spPr>
          <a:xfrm flipV="1">
            <a:off x="9488757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1-mark24"/>
          <p:cNvSpPr/>
          <p:nvPr/>
        </p:nvSpPr>
        <p:spPr>
          <a:xfrm flipV="1">
            <a:off x="9567838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1-mark25"/>
          <p:cNvSpPr/>
          <p:nvPr/>
        </p:nvSpPr>
        <p:spPr>
          <a:xfrm flipV="1">
            <a:off x="9646920" y="1998732"/>
            <a:ext cx="0" cy="132857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9" name="S01-mark26"/>
          <p:cNvSpPr/>
          <p:nvPr/>
        </p:nvSpPr>
        <p:spPr>
          <a:xfrm flipV="1">
            <a:off x="9726002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1-mark27"/>
          <p:cNvSpPr/>
          <p:nvPr/>
        </p:nvSpPr>
        <p:spPr>
          <a:xfrm flipV="1">
            <a:off x="9805083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1-mark28"/>
          <p:cNvSpPr/>
          <p:nvPr/>
        </p:nvSpPr>
        <p:spPr>
          <a:xfrm flipV="1">
            <a:off x="9884165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1-mark29"/>
          <p:cNvSpPr/>
          <p:nvPr/>
        </p:nvSpPr>
        <p:spPr>
          <a:xfrm flipV="1">
            <a:off x="9963246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1-mark30"/>
          <p:cNvSpPr/>
          <p:nvPr/>
        </p:nvSpPr>
        <p:spPr>
          <a:xfrm flipV="1">
            <a:off x="10042328" y="2036692"/>
            <a:ext cx="0" cy="9489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4" name="S01-mark31"/>
          <p:cNvSpPr/>
          <p:nvPr/>
        </p:nvSpPr>
        <p:spPr>
          <a:xfrm flipV="1">
            <a:off x="10121409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1-mark32"/>
          <p:cNvSpPr/>
          <p:nvPr/>
        </p:nvSpPr>
        <p:spPr>
          <a:xfrm flipV="1">
            <a:off x="10200491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1-mark33"/>
          <p:cNvSpPr/>
          <p:nvPr/>
        </p:nvSpPr>
        <p:spPr>
          <a:xfrm flipV="1">
            <a:off x="10279572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1-mark34"/>
          <p:cNvSpPr/>
          <p:nvPr/>
        </p:nvSpPr>
        <p:spPr>
          <a:xfrm flipV="1">
            <a:off x="10358654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1-mark35"/>
          <p:cNvSpPr/>
          <p:nvPr/>
        </p:nvSpPr>
        <p:spPr>
          <a:xfrm flipV="1">
            <a:off x="10437735" y="1998732"/>
            <a:ext cx="0" cy="132857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9" name="S01-mark36"/>
          <p:cNvSpPr/>
          <p:nvPr/>
        </p:nvSpPr>
        <p:spPr>
          <a:xfrm flipV="1">
            <a:off x="10516817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1-mark37"/>
          <p:cNvSpPr/>
          <p:nvPr/>
        </p:nvSpPr>
        <p:spPr>
          <a:xfrm flipV="1">
            <a:off x="10595898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1-mark38"/>
          <p:cNvSpPr/>
          <p:nvPr/>
        </p:nvSpPr>
        <p:spPr>
          <a:xfrm flipV="1">
            <a:off x="10674980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1-mark39"/>
          <p:cNvSpPr/>
          <p:nvPr/>
        </p:nvSpPr>
        <p:spPr>
          <a:xfrm flipV="1">
            <a:off x="10754061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1-mark40"/>
          <p:cNvSpPr/>
          <p:nvPr/>
        </p:nvSpPr>
        <p:spPr>
          <a:xfrm flipV="1">
            <a:off x="10833143" y="2036692"/>
            <a:ext cx="0" cy="9489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4" name="S01-mark41"/>
          <p:cNvSpPr/>
          <p:nvPr/>
        </p:nvSpPr>
        <p:spPr>
          <a:xfrm flipV="1">
            <a:off x="10912224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1-mark42"/>
          <p:cNvSpPr/>
          <p:nvPr/>
        </p:nvSpPr>
        <p:spPr>
          <a:xfrm flipV="1">
            <a:off x="10991306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1-mark43"/>
          <p:cNvSpPr/>
          <p:nvPr/>
        </p:nvSpPr>
        <p:spPr>
          <a:xfrm flipV="1">
            <a:off x="11070387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1-mark44"/>
          <p:cNvSpPr/>
          <p:nvPr/>
        </p:nvSpPr>
        <p:spPr>
          <a:xfrm flipV="1">
            <a:off x="11149469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1-mark45"/>
          <p:cNvSpPr/>
          <p:nvPr/>
        </p:nvSpPr>
        <p:spPr>
          <a:xfrm flipV="1">
            <a:off x="11228550" y="1998732"/>
            <a:ext cx="0" cy="132857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9" name="S01-label47"/>
          <p:cNvSpPr txBox="1"/>
          <p:nvPr/>
        </p:nvSpPr>
        <p:spPr>
          <a:xfrm>
            <a:off x="7918224" y="1710230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50" name="S01-label49"/>
          <p:cNvSpPr txBox="1"/>
          <p:nvPr/>
        </p:nvSpPr>
        <p:spPr>
          <a:xfrm>
            <a:off x="8616837" y="171023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51" name="S01-label51"/>
          <p:cNvSpPr txBox="1"/>
          <p:nvPr/>
        </p:nvSpPr>
        <p:spPr>
          <a:xfrm>
            <a:off x="9407652" y="171023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52" name="S01-label53"/>
          <p:cNvSpPr txBox="1"/>
          <p:nvPr/>
        </p:nvSpPr>
        <p:spPr>
          <a:xfrm>
            <a:off x="10198467" y="171023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200" dirty="0"/>
          </a:p>
        </p:txBody>
      </p:sp>
      <p:sp>
        <p:nvSpPr>
          <p:cNvPr id="53" name="S01-label55"/>
          <p:cNvSpPr txBox="1"/>
          <p:nvPr/>
        </p:nvSpPr>
        <p:spPr>
          <a:xfrm>
            <a:off x="10989282" y="171023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200" dirty="0"/>
          </a:p>
        </p:txBody>
      </p:sp>
      <p:sp>
        <p:nvSpPr>
          <p:cNvPr id="54" name="S01-label57"/>
          <p:cNvSpPr txBox="1"/>
          <p:nvPr/>
        </p:nvSpPr>
        <p:spPr>
          <a:xfrm>
            <a:off x="11323320" y="1710230"/>
            <a:ext cx="41148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°C</a:t>
            </a:r>
            <a:endParaRPr lang="ko-KR" sz="2200" dirty="0"/>
          </a:p>
        </p:txBody>
      </p:sp>
      <p:sp>
        <p:nvSpPr>
          <p:cNvPr id="55" name="S01-card58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6" name="S01-cardtext59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온도계로 온도를 재고, 열이 이동하는 방향을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전도와 대류로 열이 이동하는 모습을 설명해요.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6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61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바람은 어디에서 어디로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불까요?</a:t>
            </a:r>
            <a:endParaRPr lang="ko-KR" sz="2800" dirty="0"/>
          </a:p>
        </p:txBody>
      </p:sp>
      <p:sp>
        <p:nvSpPr>
          <p:cNvPr id="5" name="S02-chip62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3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부피라면 차가운 공기와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따뜻한 공기 중 무거운 것은?</a:t>
            </a:r>
            <a:endParaRPr lang="ko-KR" sz="2800" dirty="0"/>
          </a:p>
        </p:txBody>
      </p:sp>
      <p:sp>
        <p:nvSpPr>
          <p:cNvPr id="7" name="S02-chip6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65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낮에 바닷가에서 바람은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어디로 불까요?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온도계를 읽어요</a:t>
            </a:r>
            <a:endParaRPr lang="ko-KR" sz="4000" dirty="0"/>
          </a:p>
        </p:txBody>
      </p:sp>
      <p:sp>
        <p:nvSpPr>
          <p:cNvPr id="3" name="S03-text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온도: 차갑고 따뜻한 정도를 숫자로 나타낸 것</a:t>
            </a:r>
            <a:endParaRPr lang="ko-KR" sz="2800" dirty="0"/>
          </a:p>
        </p:txBody>
      </p:sp>
      <p:sp>
        <p:nvSpPr>
          <p:cNvPr id="4" name="S03-card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°C는 ‘섭씨 이십삼 도’라고 읽어요.</a:t>
            </a:r>
            <a:endParaRPr lang="ko-KR" sz="2800" dirty="0"/>
          </a:p>
        </p:txBody>
      </p:sp>
      <p:sp>
        <p:nvSpPr>
          <p:cNvPr id="6" name="S03-card69"/>
          <p:cNvSpPr/>
          <p:nvPr/>
        </p:nvSpPr>
        <p:spPr>
          <a:xfrm>
            <a:off x="548640" y="359968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70"/>
          <p:cNvSpPr txBox="1"/>
          <p:nvPr/>
        </p:nvSpPr>
        <p:spPr>
          <a:xfrm>
            <a:off x="822960" y="373684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액체 기둥이 멈출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때까지 기다려요.</a:t>
            </a:r>
            <a:endParaRPr lang="ko-KR" sz="2800" dirty="0"/>
          </a:p>
        </p:txBody>
      </p:sp>
      <p:sp>
        <p:nvSpPr>
          <p:cNvPr id="8" name="S03-card71"/>
          <p:cNvSpPr/>
          <p:nvPr/>
        </p:nvSpPr>
        <p:spPr>
          <a:xfrm>
            <a:off x="4322064" y="359968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72"/>
          <p:cNvSpPr txBox="1"/>
          <p:nvPr/>
        </p:nvSpPr>
        <p:spPr>
          <a:xfrm>
            <a:off x="4596384" y="373684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기둥 끝과 눈높이를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맞춰요.</a:t>
            </a:r>
            <a:endParaRPr lang="ko-KR" sz="2800" dirty="0"/>
          </a:p>
        </p:txBody>
      </p:sp>
      <p:sp>
        <p:nvSpPr>
          <p:cNvPr id="10" name="S03-card73"/>
          <p:cNvSpPr/>
          <p:nvPr/>
        </p:nvSpPr>
        <p:spPr>
          <a:xfrm>
            <a:off x="8095488" y="359968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74"/>
          <p:cNvSpPr txBox="1"/>
          <p:nvPr/>
        </p:nvSpPr>
        <p:spPr>
          <a:xfrm>
            <a:off x="8369808" y="373684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가까운 눈금을 읽고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°C를 붙여요.</a:t>
            </a:r>
            <a:endParaRPr lang="ko-KR" sz="2800" dirty="0"/>
          </a:p>
        </p:txBody>
      </p:sp>
      <p:sp>
        <p:nvSpPr>
          <p:cNvPr id="12" name="S03-figure75" descr="알코올 온도계: 0부터 40까지 1 °C마다 눈금, 10마다 숫자. 빨간 액체 기둥 끝이 23 °C"/>
          <p:cNvSpPr/>
          <p:nvPr/>
        </p:nvSpPr>
        <p:spPr>
          <a:xfrm>
            <a:off x="1517396" y="2769108"/>
            <a:ext cx="9197340" cy="345440"/>
          </a:xfrm>
          <a:custGeom>
            <a:avLst/>
            <a:gdLst/>
            <a:ahLst/>
            <a:cxnLst/>
            <a:rect l="l" t="t" r="r" b="b"/>
            <a:pathLst>
              <a:path w="9197340" h="345440">
                <a:moveTo>
                  <a:pt x="0" y="345440"/>
                </a:moveTo>
                <a:lnTo>
                  <a:pt x="9197340" y="345440"/>
                </a:lnTo>
                <a:lnTo>
                  <a:pt x="91973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mark76"/>
          <p:cNvSpPr/>
          <p:nvPr/>
        </p:nvSpPr>
        <p:spPr>
          <a:xfrm>
            <a:off x="1517396" y="2868422"/>
            <a:ext cx="5224780" cy="146812"/>
          </a:xfrm>
          <a:custGeom>
            <a:avLst/>
            <a:gdLst/>
            <a:ahLst/>
            <a:cxnLst/>
            <a:rect l="l" t="t" r="r" b="b"/>
            <a:pathLst>
              <a:path w="5224780" h="146812">
                <a:moveTo>
                  <a:pt x="0" y="146812"/>
                </a:moveTo>
                <a:lnTo>
                  <a:pt x="5224780" y="146812"/>
                </a:lnTo>
                <a:lnTo>
                  <a:pt x="5224780" y="0"/>
                </a:lnTo>
                <a:lnTo>
                  <a:pt x="0" y="0"/>
                </a:lnTo>
                <a:close/>
              </a:path>
            </a:pathLst>
          </a:custGeom>
          <a:solidFill>
            <a:srgbClr val="D9534F"/>
          </a:solidFill>
          <a:ln/>
        </p:spPr>
      </p:sp>
      <p:sp>
        <p:nvSpPr>
          <p:cNvPr id="14" name="S03-mark77"/>
          <p:cNvSpPr/>
          <p:nvPr/>
        </p:nvSpPr>
        <p:spPr>
          <a:xfrm>
            <a:off x="956056" y="2596388"/>
            <a:ext cx="690880" cy="690880"/>
          </a:xfrm>
          <a:prstGeom prst="ellipse">
            <a:avLst/>
          </a:prstGeom>
          <a:solidFill>
            <a:srgbClr val="D9534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mark78"/>
          <p:cNvSpPr/>
          <p:nvPr/>
        </p:nvSpPr>
        <p:spPr>
          <a:xfrm flipV="1">
            <a:off x="1776476" y="2406396"/>
            <a:ext cx="0" cy="36271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6" name="S03-mark79"/>
          <p:cNvSpPr/>
          <p:nvPr/>
        </p:nvSpPr>
        <p:spPr>
          <a:xfrm flipV="1">
            <a:off x="19923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3-mark80"/>
          <p:cNvSpPr/>
          <p:nvPr/>
        </p:nvSpPr>
        <p:spPr>
          <a:xfrm flipV="1">
            <a:off x="22082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3-mark81"/>
          <p:cNvSpPr/>
          <p:nvPr/>
        </p:nvSpPr>
        <p:spPr>
          <a:xfrm flipV="1">
            <a:off x="24241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mark82"/>
          <p:cNvSpPr/>
          <p:nvPr/>
        </p:nvSpPr>
        <p:spPr>
          <a:xfrm flipV="1">
            <a:off x="26400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mark83"/>
          <p:cNvSpPr/>
          <p:nvPr/>
        </p:nvSpPr>
        <p:spPr>
          <a:xfrm flipV="1">
            <a:off x="2855976" y="2510028"/>
            <a:ext cx="0" cy="25908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1" name="S03-mark84"/>
          <p:cNvSpPr/>
          <p:nvPr/>
        </p:nvSpPr>
        <p:spPr>
          <a:xfrm flipV="1">
            <a:off x="30718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3-mark85"/>
          <p:cNvSpPr/>
          <p:nvPr/>
        </p:nvSpPr>
        <p:spPr>
          <a:xfrm flipV="1">
            <a:off x="32877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mark86"/>
          <p:cNvSpPr/>
          <p:nvPr/>
        </p:nvSpPr>
        <p:spPr>
          <a:xfrm flipV="1">
            <a:off x="35036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mark87"/>
          <p:cNvSpPr/>
          <p:nvPr/>
        </p:nvSpPr>
        <p:spPr>
          <a:xfrm flipV="1">
            <a:off x="37195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mark88"/>
          <p:cNvSpPr/>
          <p:nvPr/>
        </p:nvSpPr>
        <p:spPr>
          <a:xfrm flipV="1">
            <a:off x="3935476" y="2406396"/>
            <a:ext cx="0" cy="36271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6" name="S03-mark89"/>
          <p:cNvSpPr/>
          <p:nvPr/>
        </p:nvSpPr>
        <p:spPr>
          <a:xfrm flipV="1">
            <a:off x="41513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3-mark90"/>
          <p:cNvSpPr/>
          <p:nvPr/>
        </p:nvSpPr>
        <p:spPr>
          <a:xfrm flipV="1">
            <a:off x="43672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3-mark91"/>
          <p:cNvSpPr/>
          <p:nvPr/>
        </p:nvSpPr>
        <p:spPr>
          <a:xfrm flipV="1">
            <a:off x="45831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mark92"/>
          <p:cNvSpPr/>
          <p:nvPr/>
        </p:nvSpPr>
        <p:spPr>
          <a:xfrm flipV="1">
            <a:off x="47990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3-mark93"/>
          <p:cNvSpPr/>
          <p:nvPr/>
        </p:nvSpPr>
        <p:spPr>
          <a:xfrm flipV="1">
            <a:off x="5014976" y="2510028"/>
            <a:ext cx="0" cy="25908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1" name="S03-mark94"/>
          <p:cNvSpPr/>
          <p:nvPr/>
        </p:nvSpPr>
        <p:spPr>
          <a:xfrm flipV="1">
            <a:off x="52308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3-mark95"/>
          <p:cNvSpPr/>
          <p:nvPr/>
        </p:nvSpPr>
        <p:spPr>
          <a:xfrm flipV="1">
            <a:off x="54467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3-mark96"/>
          <p:cNvSpPr/>
          <p:nvPr/>
        </p:nvSpPr>
        <p:spPr>
          <a:xfrm flipV="1">
            <a:off x="56626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mark97"/>
          <p:cNvSpPr/>
          <p:nvPr/>
        </p:nvSpPr>
        <p:spPr>
          <a:xfrm flipV="1">
            <a:off x="58785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mark98"/>
          <p:cNvSpPr/>
          <p:nvPr/>
        </p:nvSpPr>
        <p:spPr>
          <a:xfrm flipV="1">
            <a:off x="6094476" y="2406396"/>
            <a:ext cx="0" cy="36271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6" name="S03-mark99"/>
          <p:cNvSpPr/>
          <p:nvPr/>
        </p:nvSpPr>
        <p:spPr>
          <a:xfrm flipV="1">
            <a:off x="63103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3-mark100"/>
          <p:cNvSpPr/>
          <p:nvPr/>
        </p:nvSpPr>
        <p:spPr>
          <a:xfrm flipV="1">
            <a:off x="65262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3-mark101"/>
          <p:cNvSpPr/>
          <p:nvPr/>
        </p:nvSpPr>
        <p:spPr>
          <a:xfrm flipV="1">
            <a:off x="67421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3-mark102"/>
          <p:cNvSpPr/>
          <p:nvPr/>
        </p:nvSpPr>
        <p:spPr>
          <a:xfrm flipV="1">
            <a:off x="69580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3-mark103"/>
          <p:cNvSpPr/>
          <p:nvPr/>
        </p:nvSpPr>
        <p:spPr>
          <a:xfrm flipV="1">
            <a:off x="7173976" y="2510028"/>
            <a:ext cx="0" cy="25908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1" name="S03-mark104"/>
          <p:cNvSpPr/>
          <p:nvPr/>
        </p:nvSpPr>
        <p:spPr>
          <a:xfrm flipV="1">
            <a:off x="73898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3-mark105"/>
          <p:cNvSpPr/>
          <p:nvPr/>
        </p:nvSpPr>
        <p:spPr>
          <a:xfrm flipV="1">
            <a:off x="76057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3-mark106"/>
          <p:cNvSpPr/>
          <p:nvPr/>
        </p:nvSpPr>
        <p:spPr>
          <a:xfrm flipV="1">
            <a:off x="78216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3-mark107"/>
          <p:cNvSpPr/>
          <p:nvPr/>
        </p:nvSpPr>
        <p:spPr>
          <a:xfrm flipV="1">
            <a:off x="80375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3-mark108"/>
          <p:cNvSpPr/>
          <p:nvPr/>
        </p:nvSpPr>
        <p:spPr>
          <a:xfrm flipV="1">
            <a:off x="8253476" y="2406396"/>
            <a:ext cx="0" cy="36271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6" name="S03-mark109"/>
          <p:cNvSpPr/>
          <p:nvPr/>
        </p:nvSpPr>
        <p:spPr>
          <a:xfrm flipV="1">
            <a:off x="84693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3-mark110"/>
          <p:cNvSpPr/>
          <p:nvPr/>
        </p:nvSpPr>
        <p:spPr>
          <a:xfrm flipV="1">
            <a:off x="86852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3-mark111"/>
          <p:cNvSpPr/>
          <p:nvPr/>
        </p:nvSpPr>
        <p:spPr>
          <a:xfrm flipV="1">
            <a:off x="89011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3-mark112"/>
          <p:cNvSpPr/>
          <p:nvPr/>
        </p:nvSpPr>
        <p:spPr>
          <a:xfrm flipV="1">
            <a:off x="91170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3-mark113"/>
          <p:cNvSpPr/>
          <p:nvPr/>
        </p:nvSpPr>
        <p:spPr>
          <a:xfrm flipV="1">
            <a:off x="9332976" y="2510028"/>
            <a:ext cx="0" cy="25908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51" name="S03-mark114"/>
          <p:cNvSpPr/>
          <p:nvPr/>
        </p:nvSpPr>
        <p:spPr>
          <a:xfrm flipV="1">
            <a:off x="95488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3-mark115"/>
          <p:cNvSpPr/>
          <p:nvPr/>
        </p:nvSpPr>
        <p:spPr>
          <a:xfrm flipV="1">
            <a:off x="97647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3-mark116"/>
          <p:cNvSpPr/>
          <p:nvPr/>
        </p:nvSpPr>
        <p:spPr>
          <a:xfrm flipV="1">
            <a:off x="99806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3-mark117"/>
          <p:cNvSpPr/>
          <p:nvPr/>
        </p:nvSpPr>
        <p:spPr>
          <a:xfrm flipV="1">
            <a:off x="101965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3-mark118"/>
          <p:cNvSpPr/>
          <p:nvPr/>
        </p:nvSpPr>
        <p:spPr>
          <a:xfrm flipV="1">
            <a:off x="10412476" y="2406396"/>
            <a:ext cx="0" cy="36271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56" name="S03-label120"/>
          <p:cNvSpPr txBox="1"/>
          <p:nvPr/>
        </p:nvSpPr>
        <p:spPr>
          <a:xfrm>
            <a:off x="1629410" y="19208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57" name="S03-label122"/>
          <p:cNvSpPr txBox="1"/>
          <p:nvPr/>
        </p:nvSpPr>
        <p:spPr>
          <a:xfrm>
            <a:off x="3696208" y="192087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58" name="S03-label124"/>
          <p:cNvSpPr txBox="1"/>
          <p:nvPr/>
        </p:nvSpPr>
        <p:spPr>
          <a:xfrm>
            <a:off x="5855208" y="192087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59" name="S03-label126"/>
          <p:cNvSpPr txBox="1"/>
          <p:nvPr/>
        </p:nvSpPr>
        <p:spPr>
          <a:xfrm>
            <a:off x="8014208" y="192087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200" dirty="0"/>
          </a:p>
        </p:txBody>
      </p:sp>
      <p:sp>
        <p:nvSpPr>
          <p:cNvPr id="60" name="S03-label128"/>
          <p:cNvSpPr txBox="1"/>
          <p:nvPr/>
        </p:nvSpPr>
        <p:spPr>
          <a:xfrm>
            <a:off x="10173208" y="192087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200" dirty="0"/>
          </a:p>
        </p:txBody>
      </p:sp>
      <p:sp>
        <p:nvSpPr>
          <p:cNvPr id="61" name="S03-label130"/>
          <p:cNvSpPr txBox="1"/>
          <p:nvPr/>
        </p:nvSpPr>
        <p:spPr>
          <a:xfrm>
            <a:off x="11027156" y="1920875"/>
            <a:ext cx="41148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°C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°C일까요?</a:t>
            </a:r>
            <a:endParaRPr lang="ko-KR" sz="4000" dirty="0"/>
          </a:p>
        </p:txBody>
      </p:sp>
      <p:sp>
        <p:nvSpPr>
          <p:cNvPr id="3" name="S04-text1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액체 기둥 끝의 눈금을 읽어요.</a:t>
            </a:r>
            <a:endParaRPr lang="ko-KR" sz="2800" dirty="0"/>
          </a:p>
        </p:txBody>
      </p:sp>
      <p:sp>
        <p:nvSpPr>
          <p:cNvPr id="4" name="S04-card1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1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10마다 쓰인 숫자에서 작은 눈금을 세요.</a:t>
            </a:r>
            <a:endParaRPr lang="ko-KR" sz="2800" dirty="0"/>
          </a:p>
        </p:txBody>
      </p:sp>
      <p:sp>
        <p:nvSpPr>
          <p:cNvPr id="6" name="S04-chip13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4-figure135" descr="온도계: 액체 기둥 끝이 18 °C"/>
          <p:cNvSpPr/>
          <p:nvPr/>
        </p:nvSpPr>
        <p:spPr>
          <a:xfrm>
            <a:off x="3624249" y="2517582"/>
            <a:ext cx="5763039" cy="216452"/>
          </a:xfrm>
          <a:custGeom>
            <a:avLst/>
            <a:gdLst/>
            <a:ahLst/>
            <a:cxnLst/>
            <a:rect l="l" t="t" r="r" b="b"/>
            <a:pathLst>
              <a:path w="5763039" h="216452">
                <a:moveTo>
                  <a:pt x="0" y="216452"/>
                </a:moveTo>
                <a:lnTo>
                  <a:pt x="5763039" y="216452"/>
                </a:lnTo>
                <a:lnTo>
                  <a:pt x="576303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mark136"/>
          <p:cNvSpPr/>
          <p:nvPr/>
        </p:nvSpPr>
        <p:spPr>
          <a:xfrm>
            <a:off x="3624249" y="2579812"/>
            <a:ext cx="2597426" cy="91992"/>
          </a:xfrm>
          <a:custGeom>
            <a:avLst/>
            <a:gdLst/>
            <a:ahLst/>
            <a:cxnLst/>
            <a:rect l="l" t="t" r="r" b="b"/>
            <a:pathLst>
              <a:path w="2597426" h="91992">
                <a:moveTo>
                  <a:pt x="0" y="91992"/>
                </a:moveTo>
                <a:lnTo>
                  <a:pt x="2597426" y="91992"/>
                </a:lnTo>
                <a:lnTo>
                  <a:pt x="2597426" y="0"/>
                </a:lnTo>
                <a:lnTo>
                  <a:pt x="0" y="0"/>
                </a:lnTo>
                <a:close/>
              </a:path>
            </a:pathLst>
          </a:custGeom>
          <a:solidFill>
            <a:srgbClr val="D9534F"/>
          </a:solidFill>
          <a:ln/>
        </p:spPr>
      </p:sp>
      <p:sp>
        <p:nvSpPr>
          <p:cNvPr id="9" name="S04-mark137"/>
          <p:cNvSpPr/>
          <p:nvPr/>
        </p:nvSpPr>
        <p:spPr>
          <a:xfrm>
            <a:off x="3272514" y="2409356"/>
            <a:ext cx="432904" cy="432904"/>
          </a:xfrm>
          <a:prstGeom prst="ellipse">
            <a:avLst/>
          </a:prstGeom>
          <a:solidFill>
            <a:srgbClr val="D9534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4-mark138"/>
          <p:cNvSpPr/>
          <p:nvPr/>
        </p:nvSpPr>
        <p:spPr>
          <a:xfrm flipV="1">
            <a:off x="3786588" y="229030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" name="S04-mark139"/>
          <p:cNvSpPr/>
          <p:nvPr/>
        </p:nvSpPr>
        <p:spPr>
          <a:xfrm flipV="1">
            <a:off x="3921870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4-mark140"/>
          <p:cNvSpPr/>
          <p:nvPr/>
        </p:nvSpPr>
        <p:spPr>
          <a:xfrm flipV="1">
            <a:off x="4057153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4-mark141"/>
          <p:cNvSpPr/>
          <p:nvPr/>
        </p:nvSpPr>
        <p:spPr>
          <a:xfrm flipV="1">
            <a:off x="4192436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4-mark142"/>
          <p:cNvSpPr/>
          <p:nvPr/>
        </p:nvSpPr>
        <p:spPr>
          <a:xfrm flipV="1">
            <a:off x="4327718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4-mark143"/>
          <p:cNvSpPr/>
          <p:nvPr/>
        </p:nvSpPr>
        <p:spPr>
          <a:xfrm flipV="1">
            <a:off x="4463001" y="2355243"/>
            <a:ext cx="0" cy="16233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6" name="S04-mark144"/>
          <p:cNvSpPr/>
          <p:nvPr/>
        </p:nvSpPr>
        <p:spPr>
          <a:xfrm flipV="1">
            <a:off x="4598283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4-mark145"/>
          <p:cNvSpPr/>
          <p:nvPr/>
        </p:nvSpPr>
        <p:spPr>
          <a:xfrm flipV="1">
            <a:off x="4733566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4-mark146"/>
          <p:cNvSpPr/>
          <p:nvPr/>
        </p:nvSpPr>
        <p:spPr>
          <a:xfrm flipV="1">
            <a:off x="4868849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4-mark147"/>
          <p:cNvSpPr/>
          <p:nvPr/>
        </p:nvSpPr>
        <p:spPr>
          <a:xfrm flipV="1">
            <a:off x="5004131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4-mark148"/>
          <p:cNvSpPr/>
          <p:nvPr/>
        </p:nvSpPr>
        <p:spPr>
          <a:xfrm flipV="1">
            <a:off x="5139414" y="229030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1" name="S04-mark149"/>
          <p:cNvSpPr/>
          <p:nvPr/>
        </p:nvSpPr>
        <p:spPr>
          <a:xfrm flipV="1">
            <a:off x="5274697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4-mark150"/>
          <p:cNvSpPr/>
          <p:nvPr/>
        </p:nvSpPr>
        <p:spPr>
          <a:xfrm flipV="1">
            <a:off x="5409979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4-mark151"/>
          <p:cNvSpPr/>
          <p:nvPr/>
        </p:nvSpPr>
        <p:spPr>
          <a:xfrm flipV="1">
            <a:off x="5545262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4-mark152"/>
          <p:cNvSpPr/>
          <p:nvPr/>
        </p:nvSpPr>
        <p:spPr>
          <a:xfrm flipV="1">
            <a:off x="5680544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4-mark153"/>
          <p:cNvSpPr/>
          <p:nvPr/>
        </p:nvSpPr>
        <p:spPr>
          <a:xfrm flipV="1">
            <a:off x="5815827" y="2355243"/>
            <a:ext cx="0" cy="16233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6" name="S04-mark154"/>
          <p:cNvSpPr/>
          <p:nvPr/>
        </p:nvSpPr>
        <p:spPr>
          <a:xfrm flipV="1">
            <a:off x="5951110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4-mark155"/>
          <p:cNvSpPr/>
          <p:nvPr/>
        </p:nvSpPr>
        <p:spPr>
          <a:xfrm flipV="1">
            <a:off x="6086392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4-mark156"/>
          <p:cNvSpPr/>
          <p:nvPr/>
        </p:nvSpPr>
        <p:spPr>
          <a:xfrm flipV="1">
            <a:off x="6221675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4-mark157"/>
          <p:cNvSpPr/>
          <p:nvPr/>
        </p:nvSpPr>
        <p:spPr>
          <a:xfrm flipV="1">
            <a:off x="6356957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4-mark158"/>
          <p:cNvSpPr/>
          <p:nvPr/>
        </p:nvSpPr>
        <p:spPr>
          <a:xfrm flipV="1">
            <a:off x="6492240" y="229030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1" name="S04-mark159"/>
          <p:cNvSpPr/>
          <p:nvPr/>
        </p:nvSpPr>
        <p:spPr>
          <a:xfrm flipV="1">
            <a:off x="6627523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4-mark160"/>
          <p:cNvSpPr/>
          <p:nvPr/>
        </p:nvSpPr>
        <p:spPr>
          <a:xfrm flipV="1">
            <a:off x="6762805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4-mark161"/>
          <p:cNvSpPr/>
          <p:nvPr/>
        </p:nvSpPr>
        <p:spPr>
          <a:xfrm flipV="1">
            <a:off x="6898088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4-mark162"/>
          <p:cNvSpPr/>
          <p:nvPr/>
        </p:nvSpPr>
        <p:spPr>
          <a:xfrm flipV="1">
            <a:off x="7033370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4-mark163"/>
          <p:cNvSpPr/>
          <p:nvPr/>
        </p:nvSpPr>
        <p:spPr>
          <a:xfrm flipV="1">
            <a:off x="7168653" y="2355243"/>
            <a:ext cx="0" cy="16233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6" name="S04-mark164"/>
          <p:cNvSpPr/>
          <p:nvPr/>
        </p:nvSpPr>
        <p:spPr>
          <a:xfrm flipV="1">
            <a:off x="7303936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4-mark165"/>
          <p:cNvSpPr/>
          <p:nvPr/>
        </p:nvSpPr>
        <p:spPr>
          <a:xfrm flipV="1">
            <a:off x="7439218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4-mark166"/>
          <p:cNvSpPr/>
          <p:nvPr/>
        </p:nvSpPr>
        <p:spPr>
          <a:xfrm flipV="1">
            <a:off x="7574501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4-mark167"/>
          <p:cNvSpPr/>
          <p:nvPr/>
        </p:nvSpPr>
        <p:spPr>
          <a:xfrm flipV="1">
            <a:off x="7709783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4-mark168"/>
          <p:cNvSpPr/>
          <p:nvPr/>
        </p:nvSpPr>
        <p:spPr>
          <a:xfrm flipV="1">
            <a:off x="7845066" y="229030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1" name="S04-mark169"/>
          <p:cNvSpPr/>
          <p:nvPr/>
        </p:nvSpPr>
        <p:spPr>
          <a:xfrm flipV="1">
            <a:off x="7980349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4-mark170"/>
          <p:cNvSpPr/>
          <p:nvPr/>
        </p:nvSpPr>
        <p:spPr>
          <a:xfrm flipV="1">
            <a:off x="8115631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4-mark171"/>
          <p:cNvSpPr/>
          <p:nvPr/>
        </p:nvSpPr>
        <p:spPr>
          <a:xfrm flipV="1">
            <a:off x="8250914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4-mark172"/>
          <p:cNvSpPr/>
          <p:nvPr/>
        </p:nvSpPr>
        <p:spPr>
          <a:xfrm flipV="1">
            <a:off x="8386197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4-mark173"/>
          <p:cNvSpPr/>
          <p:nvPr/>
        </p:nvSpPr>
        <p:spPr>
          <a:xfrm flipV="1">
            <a:off x="8521479" y="2355243"/>
            <a:ext cx="0" cy="16233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6" name="S04-mark174"/>
          <p:cNvSpPr/>
          <p:nvPr/>
        </p:nvSpPr>
        <p:spPr>
          <a:xfrm flipV="1">
            <a:off x="8656762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4-mark175"/>
          <p:cNvSpPr/>
          <p:nvPr/>
        </p:nvSpPr>
        <p:spPr>
          <a:xfrm flipV="1">
            <a:off x="8792044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4-mark176"/>
          <p:cNvSpPr/>
          <p:nvPr/>
        </p:nvSpPr>
        <p:spPr>
          <a:xfrm flipV="1">
            <a:off x="8927327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4-mark177"/>
          <p:cNvSpPr/>
          <p:nvPr/>
        </p:nvSpPr>
        <p:spPr>
          <a:xfrm flipV="1">
            <a:off x="9062610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4-mark178"/>
          <p:cNvSpPr/>
          <p:nvPr/>
        </p:nvSpPr>
        <p:spPr>
          <a:xfrm flipV="1">
            <a:off x="9197892" y="229030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51" name="S04-label180"/>
          <p:cNvSpPr txBox="1"/>
          <p:nvPr/>
        </p:nvSpPr>
        <p:spPr>
          <a:xfrm>
            <a:off x="3639522" y="19208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52" name="S04-label182"/>
          <p:cNvSpPr txBox="1"/>
          <p:nvPr/>
        </p:nvSpPr>
        <p:spPr>
          <a:xfrm>
            <a:off x="4900146" y="192087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53" name="S04-label184"/>
          <p:cNvSpPr txBox="1"/>
          <p:nvPr/>
        </p:nvSpPr>
        <p:spPr>
          <a:xfrm>
            <a:off x="6252972" y="192087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54" name="S04-label186"/>
          <p:cNvSpPr txBox="1"/>
          <p:nvPr/>
        </p:nvSpPr>
        <p:spPr>
          <a:xfrm>
            <a:off x="7605798" y="192087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200" dirty="0"/>
          </a:p>
        </p:txBody>
      </p:sp>
      <p:sp>
        <p:nvSpPr>
          <p:cNvPr id="55" name="S04-label188"/>
          <p:cNvSpPr txBox="1"/>
          <p:nvPr/>
        </p:nvSpPr>
        <p:spPr>
          <a:xfrm>
            <a:off x="8958624" y="192087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200" dirty="0"/>
          </a:p>
        </p:txBody>
      </p:sp>
      <p:sp>
        <p:nvSpPr>
          <p:cNvPr id="56" name="S04-label190"/>
          <p:cNvSpPr txBox="1"/>
          <p:nvPr/>
        </p:nvSpPr>
        <p:spPr>
          <a:xfrm>
            <a:off x="9506226" y="1920875"/>
            <a:ext cx="41148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°C</a:t>
            </a:r>
            <a:endParaRPr lang="ko-KR" sz="2200" dirty="0"/>
          </a:p>
        </p:txBody>
      </p:sp>
      <p:sp>
        <p:nvSpPr>
          <p:cNvPr id="57" name="S04-chip19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58" name="S04-figure192" descr="온도계: 액체 기둥 끝이 26 °C"/>
          <p:cNvSpPr/>
          <p:nvPr/>
        </p:nvSpPr>
        <p:spPr>
          <a:xfrm>
            <a:off x="3624249" y="3614862"/>
            <a:ext cx="5763039" cy="216452"/>
          </a:xfrm>
          <a:custGeom>
            <a:avLst/>
            <a:gdLst/>
            <a:ahLst/>
            <a:cxnLst/>
            <a:rect l="l" t="t" r="r" b="b"/>
            <a:pathLst>
              <a:path w="5763039" h="216452">
                <a:moveTo>
                  <a:pt x="0" y="216452"/>
                </a:moveTo>
                <a:lnTo>
                  <a:pt x="5763039" y="216452"/>
                </a:lnTo>
                <a:lnTo>
                  <a:pt x="576303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04-mark193"/>
          <p:cNvSpPr/>
          <p:nvPr/>
        </p:nvSpPr>
        <p:spPr>
          <a:xfrm>
            <a:off x="3624249" y="3677092"/>
            <a:ext cx="3679687" cy="91992"/>
          </a:xfrm>
          <a:custGeom>
            <a:avLst/>
            <a:gdLst/>
            <a:ahLst/>
            <a:cxnLst/>
            <a:rect l="l" t="t" r="r" b="b"/>
            <a:pathLst>
              <a:path w="3679687" h="91992">
                <a:moveTo>
                  <a:pt x="0" y="91992"/>
                </a:moveTo>
                <a:lnTo>
                  <a:pt x="3679687" y="91992"/>
                </a:lnTo>
                <a:lnTo>
                  <a:pt x="3679687" y="0"/>
                </a:lnTo>
                <a:lnTo>
                  <a:pt x="0" y="0"/>
                </a:lnTo>
                <a:close/>
              </a:path>
            </a:pathLst>
          </a:custGeom>
          <a:solidFill>
            <a:srgbClr val="D9534F"/>
          </a:solidFill>
          <a:ln/>
        </p:spPr>
      </p:sp>
      <p:sp>
        <p:nvSpPr>
          <p:cNvPr id="60" name="S04-mark194"/>
          <p:cNvSpPr/>
          <p:nvPr/>
        </p:nvSpPr>
        <p:spPr>
          <a:xfrm>
            <a:off x="3272514" y="3506636"/>
            <a:ext cx="432904" cy="432904"/>
          </a:xfrm>
          <a:prstGeom prst="ellipse">
            <a:avLst/>
          </a:prstGeom>
          <a:solidFill>
            <a:srgbClr val="D9534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4-mark195"/>
          <p:cNvSpPr/>
          <p:nvPr/>
        </p:nvSpPr>
        <p:spPr>
          <a:xfrm flipV="1">
            <a:off x="3786588" y="338758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62" name="S04-mark196"/>
          <p:cNvSpPr/>
          <p:nvPr/>
        </p:nvSpPr>
        <p:spPr>
          <a:xfrm flipV="1">
            <a:off x="3921870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4-mark197"/>
          <p:cNvSpPr/>
          <p:nvPr/>
        </p:nvSpPr>
        <p:spPr>
          <a:xfrm flipV="1">
            <a:off x="4057153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4-mark198"/>
          <p:cNvSpPr/>
          <p:nvPr/>
        </p:nvSpPr>
        <p:spPr>
          <a:xfrm flipV="1">
            <a:off x="4192436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4-mark199"/>
          <p:cNvSpPr/>
          <p:nvPr/>
        </p:nvSpPr>
        <p:spPr>
          <a:xfrm flipV="1">
            <a:off x="4327718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4-mark200"/>
          <p:cNvSpPr/>
          <p:nvPr/>
        </p:nvSpPr>
        <p:spPr>
          <a:xfrm flipV="1">
            <a:off x="4463001" y="3452523"/>
            <a:ext cx="0" cy="16233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67" name="S04-mark201"/>
          <p:cNvSpPr/>
          <p:nvPr/>
        </p:nvSpPr>
        <p:spPr>
          <a:xfrm flipV="1">
            <a:off x="4598283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4-mark202"/>
          <p:cNvSpPr/>
          <p:nvPr/>
        </p:nvSpPr>
        <p:spPr>
          <a:xfrm flipV="1">
            <a:off x="4733566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4-mark203"/>
          <p:cNvSpPr/>
          <p:nvPr/>
        </p:nvSpPr>
        <p:spPr>
          <a:xfrm flipV="1">
            <a:off x="4868849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4-mark204"/>
          <p:cNvSpPr/>
          <p:nvPr/>
        </p:nvSpPr>
        <p:spPr>
          <a:xfrm flipV="1">
            <a:off x="5004131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4-mark205"/>
          <p:cNvSpPr/>
          <p:nvPr/>
        </p:nvSpPr>
        <p:spPr>
          <a:xfrm flipV="1">
            <a:off x="5139414" y="338758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72" name="S04-mark206"/>
          <p:cNvSpPr/>
          <p:nvPr/>
        </p:nvSpPr>
        <p:spPr>
          <a:xfrm flipV="1">
            <a:off x="5274697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4-mark207"/>
          <p:cNvSpPr/>
          <p:nvPr/>
        </p:nvSpPr>
        <p:spPr>
          <a:xfrm flipV="1">
            <a:off x="5409979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4-mark208"/>
          <p:cNvSpPr/>
          <p:nvPr/>
        </p:nvSpPr>
        <p:spPr>
          <a:xfrm flipV="1">
            <a:off x="5545262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4-mark209"/>
          <p:cNvSpPr/>
          <p:nvPr/>
        </p:nvSpPr>
        <p:spPr>
          <a:xfrm flipV="1">
            <a:off x="5680544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4-mark210"/>
          <p:cNvSpPr/>
          <p:nvPr/>
        </p:nvSpPr>
        <p:spPr>
          <a:xfrm flipV="1">
            <a:off x="5815827" y="3452523"/>
            <a:ext cx="0" cy="16233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77" name="S04-mark211"/>
          <p:cNvSpPr/>
          <p:nvPr/>
        </p:nvSpPr>
        <p:spPr>
          <a:xfrm flipV="1">
            <a:off x="5951110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4-mark212"/>
          <p:cNvSpPr/>
          <p:nvPr/>
        </p:nvSpPr>
        <p:spPr>
          <a:xfrm flipV="1">
            <a:off x="6086392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04-mark213"/>
          <p:cNvSpPr/>
          <p:nvPr/>
        </p:nvSpPr>
        <p:spPr>
          <a:xfrm flipV="1">
            <a:off x="6221675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04-mark214"/>
          <p:cNvSpPr/>
          <p:nvPr/>
        </p:nvSpPr>
        <p:spPr>
          <a:xfrm flipV="1">
            <a:off x="6356957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04-mark215"/>
          <p:cNvSpPr/>
          <p:nvPr/>
        </p:nvSpPr>
        <p:spPr>
          <a:xfrm flipV="1">
            <a:off x="6492240" y="338758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2" name="S04-mark216"/>
          <p:cNvSpPr/>
          <p:nvPr/>
        </p:nvSpPr>
        <p:spPr>
          <a:xfrm flipV="1">
            <a:off x="6627523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04-mark217"/>
          <p:cNvSpPr/>
          <p:nvPr/>
        </p:nvSpPr>
        <p:spPr>
          <a:xfrm flipV="1">
            <a:off x="6762805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4-mark218"/>
          <p:cNvSpPr/>
          <p:nvPr/>
        </p:nvSpPr>
        <p:spPr>
          <a:xfrm flipV="1">
            <a:off x="6898088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4-mark219"/>
          <p:cNvSpPr/>
          <p:nvPr/>
        </p:nvSpPr>
        <p:spPr>
          <a:xfrm flipV="1">
            <a:off x="7033370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4-mark220"/>
          <p:cNvSpPr/>
          <p:nvPr/>
        </p:nvSpPr>
        <p:spPr>
          <a:xfrm flipV="1">
            <a:off x="7168653" y="3452523"/>
            <a:ext cx="0" cy="16233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7" name="S04-mark221"/>
          <p:cNvSpPr/>
          <p:nvPr/>
        </p:nvSpPr>
        <p:spPr>
          <a:xfrm flipV="1">
            <a:off x="7303936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4-mark222"/>
          <p:cNvSpPr/>
          <p:nvPr/>
        </p:nvSpPr>
        <p:spPr>
          <a:xfrm flipV="1">
            <a:off x="7439218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4-mark223"/>
          <p:cNvSpPr/>
          <p:nvPr/>
        </p:nvSpPr>
        <p:spPr>
          <a:xfrm flipV="1">
            <a:off x="7574501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4-mark224"/>
          <p:cNvSpPr/>
          <p:nvPr/>
        </p:nvSpPr>
        <p:spPr>
          <a:xfrm flipV="1">
            <a:off x="7709783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4-mark225"/>
          <p:cNvSpPr/>
          <p:nvPr/>
        </p:nvSpPr>
        <p:spPr>
          <a:xfrm flipV="1">
            <a:off x="7845066" y="338758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2" name="S04-mark226"/>
          <p:cNvSpPr/>
          <p:nvPr/>
        </p:nvSpPr>
        <p:spPr>
          <a:xfrm flipV="1">
            <a:off x="7980349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4-mark227"/>
          <p:cNvSpPr/>
          <p:nvPr/>
        </p:nvSpPr>
        <p:spPr>
          <a:xfrm flipV="1">
            <a:off x="8115631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4-mark228"/>
          <p:cNvSpPr/>
          <p:nvPr/>
        </p:nvSpPr>
        <p:spPr>
          <a:xfrm flipV="1">
            <a:off x="8250914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4-mark229"/>
          <p:cNvSpPr/>
          <p:nvPr/>
        </p:nvSpPr>
        <p:spPr>
          <a:xfrm flipV="1">
            <a:off x="8386197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4-mark230"/>
          <p:cNvSpPr/>
          <p:nvPr/>
        </p:nvSpPr>
        <p:spPr>
          <a:xfrm flipV="1">
            <a:off x="8521479" y="3452523"/>
            <a:ext cx="0" cy="16233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7" name="S04-mark231"/>
          <p:cNvSpPr/>
          <p:nvPr/>
        </p:nvSpPr>
        <p:spPr>
          <a:xfrm flipV="1">
            <a:off x="8656762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4-mark232"/>
          <p:cNvSpPr/>
          <p:nvPr/>
        </p:nvSpPr>
        <p:spPr>
          <a:xfrm flipV="1">
            <a:off x="8792044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4-mark233"/>
          <p:cNvSpPr/>
          <p:nvPr/>
        </p:nvSpPr>
        <p:spPr>
          <a:xfrm flipV="1">
            <a:off x="8927327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4-mark234"/>
          <p:cNvSpPr/>
          <p:nvPr/>
        </p:nvSpPr>
        <p:spPr>
          <a:xfrm flipV="1">
            <a:off x="9062610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4-mark235"/>
          <p:cNvSpPr/>
          <p:nvPr/>
        </p:nvSpPr>
        <p:spPr>
          <a:xfrm flipV="1">
            <a:off x="9197892" y="338758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2" name="S04-label237"/>
          <p:cNvSpPr txBox="1"/>
          <p:nvPr/>
        </p:nvSpPr>
        <p:spPr>
          <a:xfrm>
            <a:off x="3639522" y="301815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103" name="S04-label239"/>
          <p:cNvSpPr txBox="1"/>
          <p:nvPr/>
        </p:nvSpPr>
        <p:spPr>
          <a:xfrm>
            <a:off x="4900146" y="301815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104" name="S04-label241"/>
          <p:cNvSpPr txBox="1"/>
          <p:nvPr/>
        </p:nvSpPr>
        <p:spPr>
          <a:xfrm>
            <a:off x="6252972" y="301815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105" name="S04-label243"/>
          <p:cNvSpPr txBox="1"/>
          <p:nvPr/>
        </p:nvSpPr>
        <p:spPr>
          <a:xfrm>
            <a:off x="7605798" y="301815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200" dirty="0"/>
          </a:p>
        </p:txBody>
      </p:sp>
      <p:sp>
        <p:nvSpPr>
          <p:cNvPr id="106" name="S04-label245"/>
          <p:cNvSpPr txBox="1"/>
          <p:nvPr/>
        </p:nvSpPr>
        <p:spPr>
          <a:xfrm>
            <a:off x="8958624" y="301815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200" dirty="0"/>
          </a:p>
        </p:txBody>
      </p:sp>
      <p:sp>
        <p:nvSpPr>
          <p:cNvPr id="107" name="S04-label247"/>
          <p:cNvSpPr txBox="1"/>
          <p:nvPr/>
        </p:nvSpPr>
        <p:spPr>
          <a:xfrm>
            <a:off x="9506226" y="3018155"/>
            <a:ext cx="41148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°C</a:t>
            </a:r>
            <a:endParaRPr lang="ko-KR" sz="2200" dirty="0"/>
          </a:p>
        </p:txBody>
      </p:sp>
      <p:sp>
        <p:nvSpPr>
          <p:cNvPr id="108" name="S04-chip24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9" name="S04-figure249" descr="온도계: 액체 기둥 끝이 31 °C"/>
          <p:cNvSpPr/>
          <p:nvPr/>
        </p:nvSpPr>
        <p:spPr>
          <a:xfrm>
            <a:off x="3624249" y="4712142"/>
            <a:ext cx="5763039" cy="216452"/>
          </a:xfrm>
          <a:custGeom>
            <a:avLst/>
            <a:gdLst/>
            <a:ahLst/>
            <a:cxnLst/>
            <a:rect l="l" t="t" r="r" b="b"/>
            <a:pathLst>
              <a:path w="5763039" h="216452">
                <a:moveTo>
                  <a:pt x="0" y="216452"/>
                </a:moveTo>
                <a:lnTo>
                  <a:pt x="5763039" y="216452"/>
                </a:lnTo>
                <a:lnTo>
                  <a:pt x="576303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0" name="S04-mark250"/>
          <p:cNvSpPr/>
          <p:nvPr/>
        </p:nvSpPr>
        <p:spPr>
          <a:xfrm>
            <a:off x="3624249" y="4774372"/>
            <a:ext cx="4356100" cy="91992"/>
          </a:xfrm>
          <a:custGeom>
            <a:avLst/>
            <a:gdLst/>
            <a:ahLst/>
            <a:cxnLst/>
            <a:rect l="l" t="t" r="r" b="b"/>
            <a:pathLst>
              <a:path w="4356100" h="91992">
                <a:moveTo>
                  <a:pt x="0" y="91992"/>
                </a:moveTo>
                <a:lnTo>
                  <a:pt x="4356100" y="91992"/>
                </a:lnTo>
                <a:lnTo>
                  <a:pt x="4356100" y="0"/>
                </a:lnTo>
                <a:lnTo>
                  <a:pt x="0" y="0"/>
                </a:lnTo>
                <a:close/>
              </a:path>
            </a:pathLst>
          </a:custGeom>
          <a:solidFill>
            <a:srgbClr val="D9534F"/>
          </a:solidFill>
          <a:ln/>
        </p:spPr>
      </p:sp>
      <p:sp>
        <p:nvSpPr>
          <p:cNvPr id="111" name="S04-mark251"/>
          <p:cNvSpPr/>
          <p:nvPr/>
        </p:nvSpPr>
        <p:spPr>
          <a:xfrm>
            <a:off x="3272514" y="4603916"/>
            <a:ext cx="432904" cy="432904"/>
          </a:xfrm>
          <a:prstGeom prst="ellipse">
            <a:avLst/>
          </a:prstGeom>
          <a:solidFill>
            <a:srgbClr val="D9534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2" name="S04-mark252"/>
          <p:cNvSpPr/>
          <p:nvPr/>
        </p:nvSpPr>
        <p:spPr>
          <a:xfrm flipV="1">
            <a:off x="3786588" y="448486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3" name="S04-mark253"/>
          <p:cNvSpPr/>
          <p:nvPr/>
        </p:nvSpPr>
        <p:spPr>
          <a:xfrm flipV="1">
            <a:off x="3921870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4-mark254"/>
          <p:cNvSpPr/>
          <p:nvPr/>
        </p:nvSpPr>
        <p:spPr>
          <a:xfrm flipV="1">
            <a:off x="4057153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4-mark255"/>
          <p:cNvSpPr/>
          <p:nvPr/>
        </p:nvSpPr>
        <p:spPr>
          <a:xfrm flipV="1">
            <a:off x="4192436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4-mark256"/>
          <p:cNvSpPr/>
          <p:nvPr/>
        </p:nvSpPr>
        <p:spPr>
          <a:xfrm flipV="1">
            <a:off x="4327718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4-mark257"/>
          <p:cNvSpPr/>
          <p:nvPr/>
        </p:nvSpPr>
        <p:spPr>
          <a:xfrm flipV="1">
            <a:off x="4463001" y="4549803"/>
            <a:ext cx="0" cy="16233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8" name="S04-mark258"/>
          <p:cNvSpPr/>
          <p:nvPr/>
        </p:nvSpPr>
        <p:spPr>
          <a:xfrm flipV="1">
            <a:off x="4598283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4-mark259"/>
          <p:cNvSpPr/>
          <p:nvPr/>
        </p:nvSpPr>
        <p:spPr>
          <a:xfrm flipV="1">
            <a:off x="4733566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4-mark260"/>
          <p:cNvSpPr/>
          <p:nvPr/>
        </p:nvSpPr>
        <p:spPr>
          <a:xfrm flipV="1">
            <a:off x="4868849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4-mark261"/>
          <p:cNvSpPr/>
          <p:nvPr/>
        </p:nvSpPr>
        <p:spPr>
          <a:xfrm flipV="1">
            <a:off x="5004131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4-mark262"/>
          <p:cNvSpPr/>
          <p:nvPr/>
        </p:nvSpPr>
        <p:spPr>
          <a:xfrm flipV="1">
            <a:off x="5139414" y="448486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3" name="S04-mark263"/>
          <p:cNvSpPr/>
          <p:nvPr/>
        </p:nvSpPr>
        <p:spPr>
          <a:xfrm flipV="1">
            <a:off x="5274697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4-mark264"/>
          <p:cNvSpPr/>
          <p:nvPr/>
        </p:nvSpPr>
        <p:spPr>
          <a:xfrm flipV="1">
            <a:off x="5409979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4-mark265"/>
          <p:cNvSpPr/>
          <p:nvPr/>
        </p:nvSpPr>
        <p:spPr>
          <a:xfrm flipV="1">
            <a:off x="5545262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4-mark266"/>
          <p:cNvSpPr/>
          <p:nvPr/>
        </p:nvSpPr>
        <p:spPr>
          <a:xfrm flipV="1">
            <a:off x="5680544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4-mark267"/>
          <p:cNvSpPr/>
          <p:nvPr/>
        </p:nvSpPr>
        <p:spPr>
          <a:xfrm flipV="1">
            <a:off x="5815827" y="4549803"/>
            <a:ext cx="0" cy="16233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8" name="S04-mark268"/>
          <p:cNvSpPr/>
          <p:nvPr/>
        </p:nvSpPr>
        <p:spPr>
          <a:xfrm flipV="1">
            <a:off x="5951110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4-mark269"/>
          <p:cNvSpPr/>
          <p:nvPr/>
        </p:nvSpPr>
        <p:spPr>
          <a:xfrm flipV="1">
            <a:off x="6086392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4-mark270"/>
          <p:cNvSpPr/>
          <p:nvPr/>
        </p:nvSpPr>
        <p:spPr>
          <a:xfrm flipV="1">
            <a:off x="6221675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4-mark271"/>
          <p:cNvSpPr/>
          <p:nvPr/>
        </p:nvSpPr>
        <p:spPr>
          <a:xfrm flipV="1">
            <a:off x="6356957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4-mark272"/>
          <p:cNvSpPr/>
          <p:nvPr/>
        </p:nvSpPr>
        <p:spPr>
          <a:xfrm flipV="1">
            <a:off x="6492240" y="448486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3" name="S04-mark273"/>
          <p:cNvSpPr/>
          <p:nvPr/>
        </p:nvSpPr>
        <p:spPr>
          <a:xfrm flipV="1">
            <a:off x="6627523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4-mark274"/>
          <p:cNvSpPr/>
          <p:nvPr/>
        </p:nvSpPr>
        <p:spPr>
          <a:xfrm flipV="1">
            <a:off x="6762805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4-mark275"/>
          <p:cNvSpPr/>
          <p:nvPr/>
        </p:nvSpPr>
        <p:spPr>
          <a:xfrm flipV="1">
            <a:off x="6898088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4-mark276"/>
          <p:cNvSpPr/>
          <p:nvPr/>
        </p:nvSpPr>
        <p:spPr>
          <a:xfrm flipV="1">
            <a:off x="7033370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4-mark277"/>
          <p:cNvSpPr/>
          <p:nvPr/>
        </p:nvSpPr>
        <p:spPr>
          <a:xfrm flipV="1">
            <a:off x="7168653" y="4549803"/>
            <a:ext cx="0" cy="16233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8" name="S04-mark278"/>
          <p:cNvSpPr/>
          <p:nvPr/>
        </p:nvSpPr>
        <p:spPr>
          <a:xfrm flipV="1">
            <a:off x="7303936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4-mark279"/>
          <p:cNvSpPr/>
          <p:nvPr/>
        </p:nvSpPr>
        <p:spPr>
          <a:xfrm flipV="1">
            <a:off x="7439218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4-mark280"/>
          <p:cNvSpPr/>
          <p:nvPr/>
        </p:nvSpPr>
        <p:spPr>
          <a:xfrm flipV="1">
            <a:off x="7574501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4-mark281"/>
          <p:cNvSpPr/>
          <p:nvPr/>
        </p:nvSpPr>
        <p:spPr>
          <a:xfrm flipV="1">
            <a:off x="7709783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4-mark282"/>
          <p:cNvSpPr/>
          <p:nvPr/>
        </p:nvSpPr>
        <p:spPr>
          <a:xfrm flipV="1">
            <a:off x="7845066" y="448486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3" name="S04-mark283"/>
          <p:cNvSpPr/>
          <p:nvPr/>
        </p:nvSpPr>
        <p:spPr>
          <a:xfrm flipV="1">
            <a:off x="7980349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04-mark284"/>
          <p:cNvSpPr/>
          <p:nvPr/>
        </p:nvSpPr>
        <p:spPr>
          <a:xfrm flipV="1">
            <a:off x="8115631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04-mark285"/>
          <p:cNvSpPr/>
          <p:nvPr/>
        </p:nvSpPr>
        <p:spPr>
          <a:xfrm flipV="1">
            <a:off x="8250914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6" name="S04-mark286"/>
          <p:cNvSpPr/>
          <p:nvPr/>
        </p:nvSpPr>
        <p:spPr>
          <a:xfrm flipV="1">
            <a:off x="8386197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7" name="S04-mark287"/>
          <p:cNvSpPr/>
          <p:nvPr/>
        </p:nvSpPr>
        <p:spPr>
          <a:xfrm flipV="1">
            <a:off x="8521479" y="4549803"/>
            <a:ext cx="0" cy="16233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8" name="S04-mark288"/>
          <p:cNvSpPr/>
          <p:nvPr/>
        </p:nvSpPr>
        <p:spPr>
          <a:xfrm flipV="1">
            <a:off x="8656762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9" name="S04-mark289"/>
          <p:cNvSpPr/>
          <p:nvPr/>
        </p:nvSpPr>
        <p:spPr>
          <a:xfrm flipV="1">
            <a:off x="8792044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0" name="S04-mark290"/>
          <p:cNvSpPr/>
          <p:nvPr/>
        </p:nvSpPr>
        <p:spPr>
          <a:xfrm flipV="1">
            <a:off x="8927327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1" name="S04-mark291"/>
          <p:cNvSpPr/>
          <p:nvPr/>
        </p:nvSpPr>
        <p:spPr>
          <a:xfrm flipV="1">
            <a:off x="9062610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2" name="S04-mark292"/>
          <p:cNvSpPr/>
          <p:nvPr/>
        </p:nvSpPr>
        <p:spPr>
          <a:xfrm flipV="1">
            <a:off x="9197892" y="448486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53" name="S04-label294"/>
          <p:cNvSpPr txBox="1"/>
          <p:nvPr/>
        </p:nvSpPr>
        <p:spPr>
          <a:xfrm>
            <a:off x="3639522" y="411543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154" name="S04-label296"/>
          <p:cNvSpPr txBox="1"/>
          <p:nvPr/>
        </p:nvSpPr>
        <p:spPr>
          <a:xfrm>
            <a:off x="4900146" y="411543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155" name="S04-label298"/>
          <p:cNvSpPr txBox="1"/>
          <p:nvPr/>
        </p:nvSpPr>
        <p:spPr>
          <a:xfrm>
            <a:off x="6252972" y="411543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156" name="S04-label300"/>
          <p:cNvSpPr txBox="1"/>
          <p:nvPr/>
        </p:nvSpPr>
        <p:spPr>
          <a:xfrm>
            <a:off x="7605798" y="411543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200" dirty="0"/>
          </a:p>
        </p:txBody>
      </p:sp>
      <p:sp>
        <p:nvSpPr>
          <p:cNvPr id="157" name="S04-label302"/>
          <p:cNvSpPr txBox="1"/>
          <p:nvPr/>
        </p:nvSpPr>
        <p:spPr>
          <a:xfrm>
            <a:off x="8958624" y="411543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200" dirty="0"/>
          </a:p>
        </p:txBody>
      </p:sp>
      <p:sp>
        <p:nvSpPr>
          <p:cNvPr id="158" name="S04-label304"/>
          <p:cNvSpPr txBox="1"/>
          <p:nvPr/>
        </p:nvSpPr>
        <p:spPr>
          <a:xfrm>
            <a:off x="9506226" y="4115435"/>
            <a:ext cx="41148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°C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5-text30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온도계로 재어 보기 전에 예상해요.</a:t>
            </a:r>
            <a:endParaRPr lang="ko-KR" sz="2800" dirty="0"/>
          </a:p>
        </p:txBody>
      </p:sp>
      <p:sp>
        <p:nvSpPr>
          <p:cNvPr id="4" name="S05-card30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0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2에 써요.</a:t>
            </a:r>
            <a:endParaRPr lang="ko-KR" sz="2800" dirty="0"/>
          </a:p>
        </p:txBody>
      </p:sp>
      <p:graphicFrame>
        <p:nvGraphicFramePr>
          <p:cNvPr id="6" name="S05-table3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95880"/>
          <a:ext cx="1005840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402336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거실 공기의 온도는 몇 °C쯤?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541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온도계의 둥근 부분을 손으로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1분 감싸 쥐면 눈금은?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손으로 감싸 봐요</a:t>
            </a:r>
            <a:endParaRPr lang="ko-KR" sz="4000" dirty="0"/>
          </a:p>
        </p:txBody>
      </p:sp>
      <p:sp>
        <p:nvSpPr>
          <p:cNvPr id="3" name="S06-card3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온도계는 유리예요. 흔들거나 떨어뜨리지 않아요.</a:t>
            </a:r>
            <a:endParaRPr lang="ko-KR" sz="2800" dirty="0"/>
          </a:p>
        </p:txBody>
      </p:sp>
      <p:sp>
        <p:nvSpPr>
          <p:cNvPr id="5" name="S06-card311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312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잴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눈높이를 맞춰 읽어요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°C를 붙여 써요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변한 방향을 말해요</a:t>
            </a:r>
            <a:endParaRPr lang="ko-KR" sz="2800" dirty="0"/>
          </a:p>
        </p:txBody>
      </p:sp>
      <p:sp>
        <p:nvSpPr>
          <p:cNvPr id="7" name="S06-stepno313"/>
          <p:cNvSpPr txBox="1"/>
          <p:nvPr/>
        </p:nvSpPr>
        <p:spPr>
          <a:xfrm>
            <a:off x="548640" y="1719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6-text314"/>
          <p:cNvSpPr txBox="1"/>
          <p:nvPr/>
        </p:nvSpPr>
        <p:spPr>
          <a:xfrm>
            <a:off x="1325880" y="171958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 위 온도계를 읽고 써요.</a:t>
            </a:r>
            <a:endParaRPr lang="ko-KR" sz="2800" dirty="0"/>
          </a:p>
        </p:txBody>
      </p:sp>
      <p:sp>
        <p:nvSpPr>
          <p:cNvPr id="9" name="S06-stepno315"/>
          <p:cNvSpPr txBox="1"/>
          <p:nvPr/>
        </p:nvSpPr>
        <p:spPr>
          <a:xfrm>
            <a:off x="548640" y="24785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6-text316"/>
          <p:cNvSpPr txBox="1"/>
          <p:nvPr/>
        </p:nvSpPr>
        <p:spPr>
          <a:xfrm>
            <a:off x="1325880" y="243281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 부분을 손으로 1분 감싸 쥐어요.</a:t>
            </a:r>
            <a:endParaRPr lang="ko-KR" sz="2800" dirty="0"/>
          </a:p>
        </p:txBody>
      </p:sp>
      <p:sp>
        <p:nvSpPr>
          <p:cNvPr id="11" name="S06-stepno317"/>
          <p:cNvSpPr txBox="1"/>
          <p:nvPr/>
        </p:nvSpPr>
        <p:spPr>
          <a:xfrm>
            <a:off x="548640" y="34650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06-text318"/>
          <p:cNvSpPr txBox="1"/>
          <p:nvPr/>
        </p:nvSpPr>
        <p:spPr>
          <a:xfrm>
            <a:off x="1325880" y="346506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쥔 채로 다시 읽고 써요.</a:t>
            </a:r>
            <a:endParaRPr lang="ko-KR" sz="2800" dirty="0"/>
          </a:p>
        </p:txBody>
      </p:sp>
      <p:sp>
        <p:nvSpPr>
          <p:cNvPr id="13" name="S06-stepno319"/>
          <p:cNvSpPr txBox="1"/>
          <p:nvPr/>
        </p:nvSpPr>
        <p:spPr>
          <a:xfrm>
            <a:off x="548640" y="41783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4" name="S06-text320"/>
          <p:cNvSpPr txBox="1"/>
          <p:nvPr/>
        </p:nvSpPr>
        <p:spPr>
          <a:xfrm>
            <a:off x="1325880" y="417830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떼고 눈금을 2분 지켜봐요.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7-text3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2를 보며 빈칸을 말로 채워요.</a:t>
            </a:r>
            <a:endParaRPr lang="ko-KR" sz="2800" dirty="0"/>
          </a:p>
        </p:txBody>
      </p:sp>
      <p:sp>
        <p:nvSpPr>
          <p:cNvPr id="4" name="S07-card3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3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손으로 감싸자 눈금은 어떻게 되었나요?</a:t>
            </a:r>
            <a:endParaRPr lang="ko-KR" sz="2800" dirty="0"/>
          </a:p>
        </p:txBody>
      </p:sp>
      <p:graphicFrame>
        <p:nvGraphicFramePr>
          <p:cNvPr id="8" name="S07-table3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24638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거실 공기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      °C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손으로 감싼 뒤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      °C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손을 뗀 뒤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열은 어디로 이동할까요?</a:t>
            </a:r>
            <a:endParaRPr lang="ko-KR" sz="4000" dirty="0"/>
          </a:p>
        </p:txBody>
      </p:sp>
      <p:sp>
        <p:nvSpPr>
          <p:cNvPr id="3" name="S08-text3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손의 열이 온도계로 이동해 온도계의 온도가 올라갔어요.</a:t>
            </a:r>
            <a:endParaRPr lang="ko-KR" sz="2800" dirty="0"/>
          </a:p>
        </p:txBody>
      </p:sp>
      <p:sp>
        <p:nvSpPr>
          <p:cNvPr id="4" name="S08-card326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327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열은 온도가 높은 곳에서 낮은 곳으로 이동해요.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두 물체의 온도가 점점 같아져요.</a:t>
            </a:r>
            <a:endParaRPr lang="ko-KR" sz="2800" dirty="0"/>
          </a:p>
        </p:txBody>
      </p:sp>
      <p:sp>
        <p:nvSpPr>
          <p:cNvPr id="6" name="S08-card328"/>
          <p:cNvSpPr/>
          <p:nvPr/>
        </p:nvSpPr>
        <p:spPr>
          <a:xfrm>
            <a:off x="548640" y="2304796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329"/>
          <p:cNvSpPr txBox="1"/>
          <p:nvPr/>
        </p:nvSpPr>
        <p:spPr>
          <a:xfrm>
            <a:off x="822960" y="2441956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→ 온도계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온도계의 온도가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올라갔어요.</a:t>
            </a:r>
            <a:endParaRPr lang="ko-KR" sz="2800" dirty="0"/>
          </a:p>
        </p:txBody>
      </p:sp>
      <p:sp>
        <p:nvSpPr>
          <p:cNvPr id="8" name="S08-card330"/>
          <p:cNvSpPr/>
          <p:nvPr/>
        </p:nvSpPr>
        <p:spPr>
          <a:xfrm>
            <a:off x="4322064" y="2304796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8-cardtext331"/>
          <p:cNvSpPr txBox="1"/>
          <p:nvPr/>
        </p:nvSpPr>
        <p:spPr>
          <a:xfrm>
            <a:off x="4596384" y="2441956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 → 그릇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국을 담은 그릇이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따뜻해져요.</a:t>
            </a:r>
            <a:endParaRPr lang="ko-KR" sz="2800" dirty="0"/>
          </a:p>
        </p:txBody>
      </p:sp>
      <p:sp>
        <p:nvSpPr>
          <p:cNvPr id="10" name="S08-card332"/>
          <p:cNvSpPr/>
          <p:nvPr/>
        </p:nvSpPr>
        <p:spPr>
          <a:xfrm>
            <a:off x="8095488" y="2304796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8-cardtext333"/>
          <p:cNvSpPr txBox="1"/>
          <p:nvPr/>
        </p:nvSpPr>
        <p:spPr>
          <a:xfrm>
            <a:off x="8369808" y="2441956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→ 얼음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얼음이 녹고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손은 차가워져요.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9-card33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33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얼음을 손에 쥐었더니 손이 차가워졌어요.</a:t>
            </a:r>
            <a:endParaRPr lang="ko-KR" sz="2800" dirty="0"/>
          </a:p>
        </p:txBody>
      </p:sp>
      <p:sp>
        <p:nvSpPr>
          <p:cNvPr id="5" name="S09-card3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3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온도계 실험과 견주어 말해요.</a:t>
            </a:r>
            <a:endParaRPr lang="ko-KR" sz="2800" dirty="0"/>
          </a:p>
        </p:txBody>
      </p:sp>
      <p:sp>
        <p:nvSpPr>
          <p:cNvPr id="7" name="S09-chip33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09-text33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얼음의 차가움이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손으로 들어왔어요.</a:t>
            </a:r>
            <a:endParaRPr lang="ko-KR" sz="2800" dirty="0"/>
          </a:p>
        </p:txBody>
      </p:sp>
      <p:sp>
        <p:nvSpPr>
          <p:cNvPr id="9" name="S09-chip34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09-text34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손의 열이 얼음으로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 예상해 봐요</a:t>
            </a:r>
            <a:endParaRPr lang="ko-KR" sz="4000" dirty="0"/>
          </a:p>
        </p:txBody>
      </p:sp>
      <p:sp>
        <p:nvSpPr>
          <p:cNvPr id="3" name="S10-text34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따뜻한 물에 숟가락을 세워 2분 두면?</a:t>
            </a:r>
            <a:endParaRPr lang="ko-KR" sz="2800" dirty="0"/>
          </a:p>
        </p:txBody>
      </p:sp>
      <p:sp>
        <p:nvSpPr>
          <p:cNvPr id="4" name="S10-card3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3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3에 써요.</a:t>
            </a:r>
            <a:endParaRPr lang="ko-KR" sz="2800" dirty="0"/>
          </a:p>
        </p:txBody>
      </p:sp>
      <p:graphicFrame>
        <p:nvGraphicFramePr>
          <p:cNvPr id="11" name="S10-table3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41016"/>
          <a:ext cx="10058400" cy="914400"/>
        </p:xfrm>
        <a:graphic>
          <a:graphicData uri="http://schemas.openxmlformats.org/drawingml/2006/table">
            <a:tbl>
              <a:tblPr/>
              <a:tblGrid>
                <a:gridCol w="3621024"/>
                <a:gridCol w="6437376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숟가락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컵 위 손잡이는?(따뜻해요 / 그대로예요)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금속 숟가락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플라스틱 숟가락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나무 숟가락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숟가락을 만져 봐요</a:t>
            </a:r>
            <a:endParaRPr lang="ko-KR" sz="4000" dirty="0"/>
          </a:p>
        </p:txBody>
      </p:sp>
      <p:sp>
        <p:nvSpPr>
          <p:cNvPr id="3" name="S11-card3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3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물은 어른이 부어요. 숟가락을 꺼내지 않아요.</a:t>
            </a:r>
            <a:endParaRPr lang="ko-KR" sz="2800" dirty="0"/>
          </a:p>
        </p:txBody>
      </p:sp>
      <p:sp>
        <p:nvSpPr>
          <p:cNvPr id="5" name="S11-figure348" descr="따뜻한 물이 반쯤 담긴 머그컵에 금속(왼쪽), 플라스틱(가운데), 나무(오른쪽) 숟가락을 세워 둔 그림"/>
          <p:cNvSpPr/>
          <p:nvPr/>
        </p:nvSpPr>
        <p:spPr>
          <a:xfrm>
            <a:off x="8820531" y="2406634"/>
            <a:ext cx="812902" cy="575806"/>
          </a:xfrm>
          <a:custGeom>
            <a:avLst/>
            <a:gdLst/>
            <a:ahLst/>
            <a:cxnLst/>
            <a:rect l="l" t="t" r="r" b="b"/>
            <a:pathLst>
              <a:path w="812902" h="575806">
                <a:moveTo>
                  <a:pt x="0" y="575806"/>
                </a:moveTo>
                <a:lnTo>
                  <a:pt x="812902" y="575806"/>
                </a:lnTo>
                <a:lnTo>
                  <a:pt x="812902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BF7"/>
          </a:solidFill>
          <a:ln/>
        </p:spPr>
      </p:sp>
      <p:sp>
        <p:nvSpPr>
          <p:cNvPr id="6" name="S11-mark349"/>
          <p:cNvSpPr/>
          <p:nvPr/>
        </p:nvSpPr>
        <p:spPr>
          <a:xfrm>
            <a:off x="8598676" y="1409700"/>
            <a:ext cx="452177" cy="1514030"/>
          </a:xfrm>
          <a:custGeom>
            <a:avLst/>
            <a:gdLst/>
            <a:ahLst/>
            <a:cxnLst/>
            <a:rect l="l" t="t" r="r" b="b"/>
            <a:pathLst>
              <a:path w="452177" h="1514030">
                <a:moveTo>
                  <a:pt x="381048" y="1514030"/>
                </a:moveTo>
                <a:lnTo>
                  <a:pt x="0" y="18064"/>
                </a:lnTo>
                <a:lnTo>
                  <a:pt x="71129" y="0"/>
                </a:lnTo>
                <a:lnTo>
                  <a:pt x="452177" y="1495965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11-mark350"/>
          <p:cNvSpPr/>
          <p:nvPr/>
        </p:nvSpPr>
        <p:spPr>
          <a:xfrm>
            <a:off x="9190288" y="1418732"/>
            <a:ext cx="73387" cy="1495965"/>
          </a:xfrm>
          <a:custGeom>
            <a:avLst/>
            <a:gdLst/>
            <a:ahLst/>
            <a:cxnLst/>
            <a:rect l="l" t="t" r="r" b="b"/>
            <a:pathLst>
              <a:path w="73387" h="1495965">
                <a:moveTo>
                  <a:pt x="0" y="1495965"/>
                </a:moveTo>
                <a:lnTo>
                  <a:pt x="0" y="0"/>
                </a:lnTo>
                <a:lnTo>
                  <a:pt x="73387" y="0"/>
                </a:lnTo>
                <a:lnTo>
                  <a:pt x="73387" y="1495965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11-mark351"/>
          <p:cNvSpPr/>
          <p:nvPr/>
        </p:nvSpPr>
        <p:spPr>
          <a:xfrm>
            <a:off x="9403111" y="1409700"/>
            <a:ext cx="452177" cy="1514030"/>
          </a:xfrm>
          <a:custGeom>
            <a:avLst/>
            <a:gdLst/>
            <a:ahLst/>
            <a:cxnLst/>
            <a:rect l="l" t="t" r="r" b="b"/>
            <a:pathLst>
              <a:path w="452177" h="1514030">
                <a:moveTo>
                  <a:pt x="0" y="1495965"/>
                </a:moveTo>
                <a:lnTo>
                  <a:pt x="381048" y="0"/>
                </a:lnTo>
                <a:lnTo>
                  <a:pt x="452177" y="18064"/>
                </a:lnTo>
                <a:lnTo>
                  <a:pt x="71129" y="1514030"/>
                </a:lnTo>
                <a:close/>
              </a:path>
            </a:pathLst>
          </a:custGeom>
          <a:solidFill>
            <a:srgbClr val="C8A27A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11-mark352"/>
          <p:cNvSpPr/>
          <p:nvPr/>
        </p:nvSpPr>
        <p:spPr>
          <a:xfrm>
            <a:off x="8803595" y="2152602"/>
            <a:ext cx="846773" cy="846773"/>
          </a:xfrm>
          <a:custGeom>
            <a:avLst/>
            <a:gdLst/>
            <a:ahLst/>
            <a:cxnLst/>
            <a:rect l="l" t="t" r="r" b="b"/>
            <a:pathLst>
              <a:path w="846773" h="846773">
                <a:moveTo>
                  <a:pt x="0" y="0"/>
                </a:moveTo>
                <a:lnTo>
                  <a:pt x="0" y="846773"/>
                </a:lnTo>
                <a:lnTo>
                  <a:pt x="846773" y="846773"/>
                </a:lnTo>
                <a:lnTo>
                  <a:pt x="846773" y="0"/>
                </a:lnTo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0" name="S11-mark353"/>
          <p:cNvSpPr/>
          <p:nvPr/>
        </p:nvSpPr>
        <p:spPr>
          <a:xfrm>
            <a:off x="9650368" y="2321957"/>
            <a:ext cx="197580" cy="451612"/>
          </a:xfrm>
          <a:custGeom>
            <a:avLst/>
            <a:gdLst/>
            <a:ahLst/>
            <a:cxnLst/>
            <a:rect l="l" t="t" r="r" b="b"/>
            <a:pathLst>
              <a:path w="197580" h="451612">
                <a:moveTo>
                  <a:pt x="0" y="0"/>
                </a:moveTo>
                <a:lnTo>
                  <a:pt x="197580" y="0"/>
                </a:lnTo>
                <a:lnTo>
                  <a:pt x="197580" y="451612"/>
                </a:lnTo>
                <a:lnTo>
                  <a:pt x="0" y="451612"/>
                </a:lnTo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1" name="S11-label355"/>
          <p:cNvSpPr txBox="1"/>
          <p:nvPr/>
        </p:nvSpPr>
        <p:spPr>
          <a:xfrm>
            <a:off x="7569632" y="3068193"/>
            <a:ext cx="33147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왼쪽부터 금속·플라스틱·나무</a:t>
            </a:r>
            <a:endParaRPr lang="ko-KR" sz="1800" dirty="0"/>
          </a:p>
        </p:txBody>
      </p:sp>
      <p:sp>
        <p:nvSpPr>
          <p:cNvPr id="12" name="S11-card356"/>
          <p:cNvSpPr/>
          <p:nvPr/>
        </p:nvSpPr>
        <p:spPr>
          <a:xfrm>
            <a:off x="6813652" y="3523488"/>
            <a:ext cx="4826660" cy="1597152"/>
          </a:xfrm>
          <a:prstGeom prst="roundRect">
            <a:avLst>
              <a:gd name="adj" fmla="val 687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1-cardtext357"/>
          <p:cNvSpPr txBox="1"/>
          <p:nvPr/>
        </p:nvSpPr>
        <p:spPr>
          <a:xfrm>
            <a:off x="7087972" y="3660648"/>
            <a:ext cx="427802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물과 컵은 만지지 않아요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세 숟가락의 같은 곳을 잡아요</a:t>
            </a:r>
            <a:endParaRPr lang="ko-KR" sz="2800" dirty="0"/>
          </a:p>
        </p:txBody>
      </p:sp>
      <p:sp>
        <p:nvSpPr>
          <p:cNvPr id="14" name="S11-stepno358"/>
          <p:cNvSpPr txBox="1"/>
          <p:nvPr/>
        </p:nvSpPr>
        <p:spPr>
          <a:xfrm>
            <a:off x="548640" y="160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5" name="S11-text359"/>
          <p:cNvSpPr txBox="1"/>
          <p:nvPr/>
        </p:nvSpPr>
        <p:spPr>
          <a:xfrm>
            <a:off x="1325880" y="156006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어른이 머그컵에 따뜻한 물을 부어요.</a:t>
            </a:r>
            <a:endParaRPr lang="ko-KR" sz="2800" dirty="0"/>
          </a:p>
        </p:txBody>
      </p:sp>
      <p:sp>
        <p:nvSpPr>
          <p:cNvPr id="16" name="S11-stepno360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7" name="S11-text361"/>
          <p:cNvSpPr txBox="1"/>
          <p:nvPr/>
        </p:nvSpPr>
        <p:spPr>
          <a:xfrm>
            <a:off x="1325880" y="2592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숟가락 세 개를 컵에 세워요.</a:t>
            </a:r>
            <a:endParaRPr lang="ko-KR" sz="2800" dirty="0"/>
          </a:p>
        </p:txBody>
      </p:sp>
      <p:sp>
        <p:nvSpPr>
          <p:cNvPr id="18" name="S11-stepno362"/>
          <p:cNvSpPr txBox="1"/>
          <p:nvPr/>
        </p:nvSpPr>
        <p:spPr>
          <a:xfrm>
            <a:off x="548640" y="3351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9" name="S11-text363"/>
          <p:cNvSpPr txBox="1"/>
          <p:nvPr/>
        </p:nvSpPr>
        <p:spPr>
          <a:xfrm>
            <a:off x="1325880" y="330555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 뒤 컵 바로 위 손잡이를 잡아 봐요.</a:t>
            </a:r>
            <a:endParaRPr lang="ko-KR" sz="2800" dirty="0"/>
          </a:p>
        </p:txBody>
      </p:sp>
      <p:sp>
        <p:nvSpPr>
          <p:cNvPr id="20" name="S11-stepno364"/>
          <p:cNvSpPr txBox="1"/>
          <p:nvPr/>
        </p:nvSpPr>
        <p:spPr>
          <a:xfrm>
            <a:off x="548640" y="4337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1" name="S11-text365"/>
          <p:cNvSpPr txBox="1"/>
          <p:nvPr/>
        </p:nvSpPr>
        <p:spPr>
          <a:xfrm>
            <a:off x="1325880" y="433781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손잡이 끝도 차례로 만져 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12-text3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3을 보며 빈칸을 말로 채워요.</a:t>
            </a:r>
            <a:endParaRPr lang="ko-KR" sz="2800" dirty="0"/>
          </a:p>
        </p:txBody>
      </p:sp>
      <p:sp>
        <p:nvSpPr>
          <p:cNvPr id="4" name="S12-card3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2-cardtext3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숟가락이 가장 따뜻해졌나요?</a:t>
            </a:r>
            <a:endParaRPr lang="ko-KR" sz="2800" dirty="0"/>
          </a:p>
        </p:txBody>
      </p:sp>
      <p:graphicFrame>
        <p:nvGraphicFramePr>
          <p:cNvPr id="13" name="S12-table3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3995928"/>
                <a:gridCol w="336499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숟가락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컵 바로 위 손잡이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손잡이 끝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금속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플라스틱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열이 숟가락을 따라 이동해요</a:t>
            </a:r>
            <a:endParaRPr lang="ko-KR" sz="4000" dirty="0"/>
          </a:p>
        </p:txBody>
      </p:sp>
      <p:sp>
        <p:nvSpPr>
          <p:cNvPr id="3" name="S13-text3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닿은 곳에서 손잡이 쪽으로 열이 이동했어요.</a:t>
            </a:r>
            <a:endParaRPr lang="ko-KR" sz="2800" dirty="0"/>
          </a:p>
        </p:txBody>
      </p:sp>
      <p:sp>
        <p:nvSpPr>
          <p:cNvPr id="4" name="S13-card3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3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물질에 따라 열이 전달되는 정도가 달라요.</a:t>
            </a:r>
            <a:endParaRPr lang="ko-KR" sz="2800" dirty="0"/>
          </a:p>
        </p:txBody>
      </p:sp>
      <p:sp>
        <p:nvSpPr>
          <p:cNvPr id="6" name="S13-card373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374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고체에서 열이 물질을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 이동하는 것</a:t>
            </a:r>
            <a:endParaRPr lang="ko-KR" sz="2800" dirty="0"/>
          </a:p>
        </p:txBody>
      </p:sp>
      <p:sp>
        <p:nvSpPr>
          <p:cNvPr id="8" name="S13-card375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3-cardtext376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열이 잘 전달돼요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금속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(철, 구리, 알루미늄)</a:t>
            </a:r>
            <a:endParaRPr lang="ko-KR" sz="2800" dirty="0"/>
          </a:p>
        </p:txBody>
      </p:sp>
      <p:sp>
        <p:nvSpPr>
          <p:cNvPr id="10" name="S13-card377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378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전달되지 않아요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플라스틱, 나무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냄비 손잡이는 무엇으로?</a:t>
            </a:r>
            <a:endParaRPr lang="ko-KR" sz="4000" dirty="0"/>
          </a:p>
        </p:txBody>
      </p:sp>
      <p:sp>
        <p:nvSpPr>
          <p:cNvPr id="3" name="S14-card37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38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냄비의 손잡이를 만들려고 해요.</a:t>
            </a:r>
            <a:endParaRPr lang="ko-KR" sz="2800" dirty="0"/>
          </a:p>
        </p:txBody>
      </p:sp>
      <p:sp>
        <p:nvSpPr>
          <p:cNvPr id="5" name="S14-card3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4-cardtext3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생각이 더 안전할까요? 숟가락 실험의 무엇이 증거일까요?</a:t>
            </a:r>
            <a:endParaRPr lang="ko-KR" sz="2800" dirty="0"/>
          </a:p>
        </p:txBody>
      </p:sp>
      <p:sp>
        <p:nvSpPr>
          <p:cNvPr id="7" name="S14-chip38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14-text38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금속은 튼튼하니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손잡이도 금속으로 해요.</a:t>
            </a:r>
            <a:endParaRPr lang="ko-KR" sz="2800" dirty="0"/>
          </a:p>
        </p:txBody>
      </p:sp>
      <p:sp>
        <p:nvSpPr>
          <p:cNvPr id="9" name="S14-chip38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14-text38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손잡이는 플라스틱이나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나무로 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열의 이동을 막아요</a:t>
            </a:r>
            <a:endParaRPr lang="ko-KR" sz="4000" dirty="0"/>
          </a:p>
        </p:txBody>
      </p:sp>
      <p:sp>
        <p:nvSpPr>
          <p:cNvPr id="3" name="S15-text38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단열: 두 물체 사이에서 열의 이동을 줄이는 것</a:t>
            </a:r>
            <a:endParaRPr lang="ko-KR" sz="2800" dirty="0"/>
          </a:p>
        </p:txBody>
      </p:sp>
      <p:sp>
        <p:nvSpPr>
          <p:cNvPr id="4" name="S15-card3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3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열이 잘 전달되지 않는 물질로 단열해요.</a:t>
            </a:r>
            <a:endParaRPr lang="ko-KR" sz="2800" dirty="0"/>
          </a:p>
        </p:txBody>
      </p:sp>
      <p:sp>
        <p:nvSpPr>
          <p:cNvPr id="6" name="S15-card390"/>
          <p:cNvSpPr/>
          <p:nvPr/>
        </p:nvSpPr>
        <p:spPr>
          <a:xfrm>
            <a:off x="548640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391"/>
          <p:cNvSpPr txBox="1"/>
          <p:nvPr/>
        </p:nvSpPr>
        <p:spPr>
          <a:xfrm>
            <a:off x="822960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냄비 손잡이·주방 장갑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뜨거운 열이 손으로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오지 않게 해요.</a:t>
            </a:r>
            <a:endParaRPr lang="ko-KR" sz="2200" dirty="0"/>
          </a:p>
        </p:txBody>
      </p:sp>
      <p:sp>
        <p:nvSpPr>
          <p:cNvPr id="8" name="S15-card392"/>
          <p:cNvSpPr/>
          <p:nvPr/>
        </p:nvSpPr>
        <p:spPr>
          <a:xfrm>
            <a:off x="6208776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5-cardtext393"/>
          <p:cNvSpPr txBox="1"/>
          <p:nvPr/>
        </p:nvSpPr>
        <p:spPr>
          <a:xfrm>
            <a:off x="6483096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보온병·아이스박스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안의 온도를 오래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지켜 줘요.</a:t>
            </a:r>
            <a:endParaRPr lang="ko-KR" sz="2200" dirty="0"/>
          </a:p>
        </p:txBody>
      </p:sp>
      <p:sp>
        <p:nvSpPr>
          <p:cNvPr id="10" name="S15-card394"/>
          <p:cNvSpPr/>
          <p:nvPr/>
        </p:nvSpPr>
        <p:spPr>
          <a:xfrm>
            <a:off x="548640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5-cardtext395"/>
          <p:cNvSpPr txBox="1"/>
          <p:nvPr/>
        </p:nvSpPr>
        <p:spPr>
          <a:xfrm>
            <a:off x="822960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이중창·벽 속 단열재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겨울에 집 안의 열이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밖으로 덜 나가요.</a:t>
            </a:r>
            <a:endParaRPr lang="ko-KR" sz="2200" dirty="0"/>
          </a:p>
        </p:txBody>
      </p:sp>
      <p:sp>
        <p:nvSpPr>
          <p:cNvPr id="12" name="S15-card396"/>
          <p:cNvSpPr/>
          <p:nvPr/>
        </p:nvSpPr>
        <p:spPr>
          <a:xfrm>
            <a:off x="6208776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5-cardtext397"/>
          <p:cNvSpPr txBox="1"/>
          <p:nvPr/>
        </p:nvSpPr>
        <p:spPr>
          <a:xfrm>
            <a:off x="6483096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두꺼운 겨울옷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몸의 열이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덜 빠져나가요.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물과 공기에서는 대류</a:t>
            </a:r>
            <a:endParaRPr lang="ko-KR" sz="4000" dirty="0"/>
          </a:p>
        </p:txBody>
      </p:sp>
      <p:sp>
        <p:nvSpPr>
          <p:cNvPr id="3" name="S16-card398"/>
          <p:cNvSpPr/>
          <p:nvPr/>
        </p:nvSpPr>
        <p:spPr>
          <a:xfrm>
            <a:off x="548640" y="4696968"/>
            <a:ext cx="11091672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6-cardtext399"/>
          <p:cNvSpPr txBox="1"/>
          <p:nvPr/>
        </p:nvSpPr>
        <p:spPr>
          <a:xfrm>
            <a:off x="822960" y="4834128"/>
            <a:ext cx="10543032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데워진 물·공기는 위로 올라가고, 차가운 물·공기는 아래로 내려와요.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과정이 되풀이되며 전체가 데워져요.</a:t>
            </a:r>
            <a:endParaRPr lang="ko-KR" sz="2800" dirty="0"/>
          </a:p>
        </p:txBody>
      </p:sp>
      <p:sp>
        <p:nvSpPr>
          <p:cNvPr id="5" name="S16-figure400" descr="아래에서 불로 데우는 냄비 속 물: 가운데에서 위로 올라가는 화살표(데워진 물), 위에서 양옆으로 퍼져 벽을 따라 아래로 내려오는 화살표(차가운 물)"/>
          <p:cNvSpPr/>
          <p:nvPr/>
        </p:nvSpPr>
        <p:spPr>
          <a:xfrm>
            <a:off x="1995273" y="1729258"/>
            <a:ext cx="2492550" cy="1565833"/>
          </a:xfrm>
          <a:custGeom>
            <a:avLst/>
            <a:gdLst/>
            <a:ahLst/>
            <a:cxnLst/>
            <a:rect l="l" t="t" r="r" b="b"/>
            <a:pathLst>
              <a:path w="2492550" h="1565833">
                <a:moveTo>
                  <a:pt x="0" y="1565833"/>
                </a:moveTo>
                <a:lnTo>
                  <a:pt x="2492550" y="1565833"/>
                </a:lnTo>
                <a:lnTo>
                  <a:pt x="2492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BF7"/>
          </a:solidFill>
          <a:ln/>
        </p:spPr>
      </p:sp>
      <p:sp>
        <p:nvSpPr>
          <p:cNvPr id="6" name="S16-mark401"/>
          <p:cNvSpPr/>
          <p:nvPr/>
        </p:nvSpPr>
        <p:spPr>
          <a:xfrm>
            <a:off x="1963317" y="1409700"/>
            <a:ext cx="2556462" cy="1917346"/>
          </a:xfrm>
          <a:custGeom>
            <a:avLst/>
            <a:gdLst/>
            <a:ahLst/>
            <a:cxnLst/>
            <a:rect l="l" t="t" r="r" b="b"/>
            <a:pathLst>
              <a:path w="2556462" h="1917346">
                <a:moveTo>
                  <a:pt x="0" y="0"/>
                </a:moveTo>
                <a:lnTo>
                  <a:pt x="0" y="1917346"/>
                </a:lnTo>
                <a:lnTo>
                  <a:pt x="2556462" y="1917346"/>
                </a:lnTo>
                <a:lnTo>
                  <a:pt x="2556462" y="0"/>
                </a:lnTo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16-mark402"/>
          <p:cNvSpPr/>
          <p:nvPr/>
        </p:nvSpPr>
        <p:spPr>
          <a:xfrm>
            <a:off x="2921990" y="3422914"/>
            <a:ext cx="639115" cy="511292"/>
          </a:xfrm>
          <a:custGeom>
            <a:avLst/>
            <a:gdLst/>
            <a:ahLst/>
            <a:cxnLst/>
            <a:rect l="l" t="t" r="r" b="b"/>
            <a:pathLst>
              <a:path w="639115" h="511292">
                <a:moveTo>
                  <a:pt x="0" y="511292"/>
                </a:moveTo>
                <a:lnTo>
                  <a:pt x="639115" y="511292"/>
                </a:lnTo>
                <a:lnTo>
                  <a:pt x="319558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16-mark403"/>
          <p:cNvSpPr/>
          <p:nvPr/>
        </p:nvSpPr>
        <p:spPr>
          <a:xfrm flipV="1">
            <a:off x="3241548" y="1984904"/>
            <a:ext cx="0" cy="1118452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9" name="S16-mark404"/>
          <p:cNvSpPr/>
          <p:nvPr/>
        </p:nvSpPr>
        <p:spPr>
          <a:xfrm flipH="1">
            <a:off x="2410698" y="1889037"/>
            <a:ext cx="703027" cy="0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0" name="S16-mark405"/>
          <p:cNvSpPr/>
          <p:nvPr/>
        </p:nvSpPr>
        <p:spPr>
          <a:xfrm>
            <a:off x="3369371" y="1889037"/>
            <a:ext cx="703027" cy="0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1" name="S16-mark406"/>
          <p:cNvSpPr/>
          <p:nvPr/>
        </p:nvSpPr>
        <p:spPr>
          <a:xfrm>
            <a:off x="2282875" y="1984904"/>
            <a:ext cx="0" cy="105454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16-mark407"/>
          <p:cNvSpPr/>
          <p:nvPr/>
        </p:nvSpPr>
        <p:spPr>
          <a:xfrm>
            <a:off x="4200221" y="1984904"/>
            <a:ext cx="0" cy="105454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3" name="S16-mark408"/>
          <p:cNvSpPr/>
          <p:nvPr/>
        </p:nvSpPr>
        <p:spPr>
          <a:xfrm>
            <a:off x="2410698" y="3135312"/>
            <a:ext cx="575204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16-mark409"/>
          <p:cNvSpPr/>
          <p:nvPr/>
        </p:nvSpPr>
        <p:spPr>
          <a:xfrm flipH="1">
            <a:off x="3497194" y="3135312"/>
            <a:ext cx="575204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5" name="S16-label410"/>
          <p:cNvSpPr txBox="1"/>
          <p:nvPr/>
        </p:nvSpPr>
        <p:spPr>
          <a:xfrm>
            <a:off x="548640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냄비의 물을 데울 때</a:t>
            </a:r>
            <a:endParaRPr lang="ko-KR" sz="2200" dirty="0"/>
          </a:p>
        </p:txBody>
      </p:sp>
      <p:sp>
        <p:nvSpPr>
          <p:cNvPr id="16" name="S16-figure411" descr="방의 왼쪽 아래에 난로. 난로 위로 올라가는 화살표, 천장을 따라 오른쪽으로, 오른쪽 벽을 따라 아래로, 바닥을 따라 난로 쪽으로 돌아오는 화살표"/>
          <p:cNvSpPr/>
          <p:nvPr/>
        </p:nvSpPr>
        <p:spPr>
          <a:xfrm>
            <a:off x="7232904" y="1437513"/>
            <a:ext cx="3429000" cy="2194560"/>
          </a:xfrm>
          <a:custGeom>
            <a:avLst/>
            <a:gdLst/>
            <a:ahLst/>
            <a:cxnLst/>
            <a:rect l="l" t="t" r="r" b="b"/>
            <a:pathLst>
              <a:path w="3429000" h="2194560">
                <a:moveTo>
                  <a:pt x="0" y="2194560"/>
                </a:moveTo>
                <a:lnTo>
                  <a:pt x="3429000" y="2194560"/>
                </a:lnTo>
                <a:lnTo>
                  <a:pt x="3429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17" name="S16-mark412"/>
          <p:cNvSpPr/>
          <p:nvPr/>
        </p:nvSpPr>
        <p:spPr>
          <a:xfrm>
            <a:off x="7404354" y="3220593"/>
            <a:ext cx="548640" cy="411480"/>
          </a:xfrm>
          <a:custGeom>
            <a:avLst/>
            <a:gdLst/>
            <a:ahLst/>
            <a:cxnLst/>
            <a:rect l="l" t="t" r="r" b="b"/>
            <a:pathLst>
              <a:path w="548640" h="411480">
                <a:moveTo>
                  <a:pt x="0" y="411480"/>
                </a:moveTo>
                <a:lnTo>
                  <a:pt x="548640" y="411480"/>
                </a:lnTo>
                <a:lnTo>
                  <a:pt x="54864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6-mark413"/>
          <p:cNvSpPr/>
          <p:nvPr/>
        </p:nvSpPr>
        <p:spPr>
          <a:xfrm flipV="1">
            <a:off x="7678674" y="1711833"/>
            <a:ext cx="0" cy="1371600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9" name="S16-mark414"/>
          <p:cNvSpPr/>
          <p:nvPr/>
        </p:nvSpPr>
        <p:spPr>
          <a:xfrm>
            <a:off x="7815834" y="1608963"/>
            <a:ext cx="2503170" cy="0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20" name="S16-mark415"/>
          <p:cNvSpPr/>
          <p:nvPr/>
        </p:nvSpPr>
        <p:spPr>
          <a:xfrm>
            <a:off x="10456164" y="1746123"/>
            <a:ext cx="0" cy="154305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1" name="S16-mark416"/>
          <p:cNvSpPr/>
          <p:nvPr/>
        </p:nvSpPr>
        <p:spPr>
          <a:xfrm flipH="1">
            <a:off x="8124444" y="3426333"/>
            <a:ext cx="2194560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2" name="S16-label418"/>
          <p:cNvSpPr txBox="1"/>
          <p:nvPr/>
        </p:nvSpPr>
        <p:spPr>
          <a:xfrm>
            <a:off x="7349998" y="3731768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난로</a:t>
            </a:r>
            <a:endParaRPr lang="ko-KR" sz="2200" dirty="0"/>
          </a:p>
        </p:txBody>
      </p:sp>
      <p:sp>
        <p:nvSpPr>
          <p:cNvPr id="23" name="S16-label419"/>
          <p:cNvSpPr txBox="1"/>
          <p:nvPr/>
        </p:nvSpPr>
        <p:spPr>
          <a:xfrm>
            <a:off x="6254496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난로를 켠 방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두면 좋을까요?</a:t>
            </a:r>
            <a:endParaRPr lang="ko-KR" sz="4000" dirty="0"/>
          </a:p>
        </p:txBody>
      </p:sp>
      <p:sp>
        <p:nvSpPr>
          <p:cNvPr id="3" name="S17-text4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방의 위쪽과 아래쪽 중 어디가 좋을까요?</a:t>
            </a:r>
            <a:endParaRPr lang="ko-KR" sz="2800" dirty="0"/>
          </a:p>
        </p:txBody>
      </p:sp>
      <p:sp>
        <p:nvSpPr>
          <p:cNvPr id="4" name="S17-card4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7-cardtext4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데워진 것은 위로, 차가운 것은 아래로 움직여요.</a:t>
            </a:r>
            <a:endParaRPr lang="ko-KR" sz="2800" dirty="0"/>
          </a:p>
        </p:txBody>
      </p:sp>
      <p:sp>
        <p:nvSpPr>
          <p:cNvPr id="6" name="S17-chip42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7-text424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난로는 방의 어디에 두면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 전체가 빨리 따뜻해질까요?</a:t>
            </a:r>
            <a:endParaRPr lang="ko-KR" sz="2800" dirty="0"/>
          </a:p>
        </p:txBody>
      </p:sp>
      <p:sp>
        <p:nvSpPr>
          <p:cNvPr id="8" name="S17-chip42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7-text426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에어컨은 방의 어디에 달면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 전체가 빨리 시원해질까요?</a:t>
            </a:r>
            <a:endParaRPr lang="ko-KR" sz="2800" dirty="0"/>
          </a:p>
        </p:txBody>
      </p:sp>
      <p:sp>
        <p:nvSpPr>
          <p:cNvPr id="10" name="S17-chip42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7-text428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냄비 물은 왜 아래에서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데울까요?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8-chip42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8-text430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프라이팬 몸통을 금속으로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까닭은?</a:t>
            </a:r>
            <a:endParaRPr lang="ko-KR" sz="2800" dirty="0"/>
          </a:p>
        </p:txBody>
      </p:sp>
      <p:sp>
        <p:nvSpPr>
          <p:cNvPr id="5" name="S18-chip43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8-text432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보온병에 넣은 물이 오래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따뜻한 까닭은?</a:t>
            </a:r>
            <a:endParaRPr lang="ko-KR" sz="2800" dirty="0"/>
          </a:p>
        </p:txBody>
      </p:sp>
      <p:sp>
        <p:nvSpPr>
          <p:cNvPr id="7" name="S18-chip43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8-text434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2층 침대는 왜 위 칸이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따뜻할까요?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열은 어느 쪽으로 이동할까요?</a:t>
            </a:r>
            <a:endParaRPr lang="ko-KR" sz="4000" dirty="0"/>
          </a:p>
        </p:txBody>
      </p:sp>
      <p:sp>
        <p:nvSpPr>
          <p:cNvPr id="3" name="S20-text4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따뜻한 우유 컵을 찬물이 담긴 그릇에 넣었어요.</a:t>
            </a:r>
            <a:endParaRPr lang="ko-KR" sz="2800" dirty="0"/>
          </a:p>
        </p:txBody>
      </p:sp>
      <p:sp>
        <p:nvSpPr>
          <p:cNvPr id="4" name="S20-card4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20-cardtext4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10분 뒤 두 온도가 어떻게 될지 말해요.</a:t>
            </a:r>
            <a:endParaRPr lang="ko-KR" sz="2800" dirty="0"/>
          </a:p>
        </p:txBody>
      </p:sp>
      <p:sp>
        <p:nvSpPr>
          <p:cNvPr id="6" name="S20-chip438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20-card439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20-cardtext440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우유의 열이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찬물로 이동해요.</a:t>
            </a:r>
            <a:endParaRPr lang="ko-KR" sz="2800" dirty="0"/>
          </a:p>
        </p:txBody>
      </p:sp>
      <p:sp>
        <p:nvSpPr>
          <p:cNvPr id="9" name="S20-chip44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20-card442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20-cardtext443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찬물의 차가움이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우유로 이동해요.</a:t>
            </a:r>
            <a:endParaRPr lang="ko-KR" sz="2800" dirty="0"/>
          </a:p>
        </p:txBody>
      </p:sp>
      <p:sp>
        <p:nvSpPr>
          <p:cNvPr id="12" name="S20-chip444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20-card445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20-cardtext446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열은 이동하지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21-card447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21-cardtext448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열은 온도가 높은 곳에서 낮은 곳으로 이동해요.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고체에서는 전도, 물과 공기에서는 대류로 이동해요.</a:t>
            </a:r>
            <a:endParaRPr lang="ko-KR" sz="2800" dirty="0"/>
          </a:p>
        </p:txBody>
      </p:sp>
      <p:sp>
        <p:nvSpPr>
          <p:cNvPr id="5" name="S21-chip449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눈높이를 맞춰 온도 읽기</a:t>
            </a:r>
            <a:endParaRPr lang="ko-KR" sz="2200" dirty="0"/>
          </a:p>
        </p:txBody>
      </p:sp>
      <p:sp>
        <p:nvSpPr>
          <p:cNvPr id="6" name="S21-chip450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차가움이 이동한다고 생각하기</a:t>
            </a:r>
            <a:endParaRPr lang="ko-KR" sz="2200" dirty="0"/>
          </a:p>
        </p:txBody>
      </p:sp>
      <p:sp>
        <p:nvSpPr>
          <p:cNvPr id="7" name="S21-text451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21-text452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온도계 눈금 23의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단위까지 읽으면?</a:t>
            </a:r>
            <a:endParaRPr lang="ko-KR" sz="2200" dirty="0"/>
          </a:p>
        </p:txBody>
      </p:sp>
      <p:sp>
        <p:nvSpPr>
          <p:cNvPr id="9" name="S21-text453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냄비 손잡이를 나무로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까닭은?</a:t>
            </a:r>
            <a:endParaRPr lang="ko-KR" sz="2200" dirty="0"/>
          </a:p>
        </p:txBody>
      </p:sp>
      <p:sp>
        <p:nvSpPr>
          <p:cNvPr id="10" name="S21-text454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에어컨을 방 위쪽에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다는 까닭은?</a:t>
            </a:r>
            <a:endParaRPr lang="ko-KR" sz="2200" dirty="0"/>
          </a:p>
        </p:txBody>
      </p:sp>
      <p:sp>
        <p:nvSpPr>
          <p:cNvPr id="11" name="S21-text45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에너지 절약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차가운 공기와 따뜻한 공기</a:t>
            </a:r>
            <a:endParaRPr lang="ko-KR" sz="4000" dirty="0"/>
          </a:p>
        </p:txBody>
      </p:sp>
      <p:sp>
        <p:nvSpPr>
          <p:cNvPr id="3" name="S22-text4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크기의 상자에 담았다고 생각해요.</a:t>
            </a:r>
            <a:endParaRPr lang="ko-KR" sz="2800" dirty="0"/>
          </a:p>
        </p:txBody>
      </p:sp>
      <p:sp>
        <p:nvSpPr>
          <p:cNvPr id="4" name="S22-card4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22-cardtext4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바람은 고기압에서 저기압으로 불어요.</a:t>
            </a:r>
            <a:endParaRPr lang="ko-KR" sz="2800" dirty="0"/>
          </a:p>
        </p:txBody>
      </p:sp>
      <p:sp>
        <p:nvSpPr>
          <p:cNvPr id="6" name="S22-card459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22-cardtext460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차가운 공기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무거워요.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기압이 높아요(고기압).</a:t>
            </a:r>
            <a:endParaRPr lang="ko-KR" sz="2800" dirty="0"/>
          </a:p>
        </p:txBody>
      </p:sp>
      <p:sp>
        <p:nvSpPr>
          <p:cNvPr id="8" name="S22-card461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22-cardtext462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따뜻한 공기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가벼워요.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기압이 낮아요(저기압).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과학 열의 이동</dc:title>
  <dc:subject>KR22-G05-SCI-HEAT-L01</dc:subject>
  <dc:creator>education-ppt</dc:creator>
  <cp:lastModifiedBy>education-ppt</cp:lastModifiedBy>
  <cp:revision>1</cp:revision>
  <dcterms:created xsi:type="dcterms:W3CDTF">2026-10-26T13:46:45Z</dcterms:created>
  <dcterms:modified xsi:type="dcterms:W3CDTF">2026-10-26T13:46:45Z</dcterms:modified>
</cp:coreProperties>
</file>