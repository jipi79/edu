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b2e676f-eefd-4af6-c6aa-b69c79b43136}">
          <p14:sldIdLst>
            <p14:sldId id="256"/>
            <p14:sldId id="257"/>
          </p14:sldIdLst>
        </p14:section>
        <p14:section name="연습" id="{d33a615d-5eef-00ac-01ad-e0142c01297b}">
          <p14:sldIdLst>
            <p14:sldId id="258"/>
            <p14:sldId id="259"/>
            <p14:sldId id="260"/>
            <p14:sldId id="261"/>
            <p14:sldId id="262"/>
            <p14:sldId id="264"/>
            <p14:sldId id="266"/>
            <p14:sldId id="268"/>
            <p14:sldId id="270"/>
          </p14:sldIdLst>
        </p14:section>
        <p14:section name="개념" id="{2f32f05e-123d-98e3-ac21-4c4babedd9e3}">
          <p14:sldIdLst>
            <p14:sldId id="263"/>
            <p14:sldId id="265"/>
            <p14:sldId id="267"/>
            <p14:sldId id="269"/>
          </p14:sldIdLst>
        </p14:section>
        <p14:section name="연습" id="{f4fbe686-f3d9-2901-c683-4ec35f9a3540}">
          <p14:sldIdLst/>
        </p14:section>
        <p14:section name="개념" id="{4288ba0c-d4d0-a5f8-414e-cbc01531a336}">
          <p14:sldIdLst/>
        </p14:section>
        <p14:section name="연습" id="{a6afe6c8-cb46-9781-d7fe-c72eaa1f646c}">
          <p14:sldIdLst/>
        </p14:section>
        <p14:section name="개념" id="{904cffb3-2e44-539f-c2ac-869e12dccb45}">
          <p14:sldIdLst/>
        </p14:section>
        <p14:section name="연습" id="{d69cc863-33f0-b01a-87ed-de8ea7fa3026}">
          <p14:sldIdLst/>
        </p14:section>
        <p14:section name="개념" id="{1dfce261-6dfc-c44b-1a08-8ef7c0ff732e}">
          <p14:sldIdLst/>
        </p14:section>
        <p14:section name="연습" id="{6b57772a-92f4-4903-c8ad-13911f967b58}">
          <p14:sldIdLst/>
        </p14:section>
        <p14:section name="확인" id="{f4996a86-b66c-94fa-77b1-9bfb43ab0900}">
          <p14:sldIdLst>
            <p14:sldId id="271"/>
            <p14:sldId id="272"/>
          </p14:sldIdLst>
        </p14:section>
        <p14:section name="정리" id="{ad5e8f45-7087-245d-83e5-6f890901046e}">
          <p14:sldIdLst>
            <p14:sldId id="273"/>
          </p14:sldIdLst>
        </p14:section>
        <p14:section name="보충" id="{8f7251ca-84d0-e878-f730-9d9fb21b75f3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날씨열에너지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 요소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날씨 요소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날씨 요소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요소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빨래가 잘 마르는 날과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마르는 날은 왜 다를까?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습도와 이슬·안개·구름·비가 생기는 까닭을 관찰로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기압의 차이로 바람이 부는 방향을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수증기로 변하는 것을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수증기가 물로 변하는 것을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수증기는 눈에 보이나요?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적신 수건 두 장을 15분 동안 두면?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5833872"/>
                <a:gridCol w="422452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뚜껑 닫은 통 안의 수건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 밖 접시 위의 수건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많이 마를 쪽은?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 두 장을 놓아요</a:t>
            </a:r>
            <a:endParaRPr lang="ko-KR" sz="4000" dirty="0"/>
          </a:p>
        </p:txBody>
      </p:sp>
      <p:sp>
        <p:nvSpPr>
          <p:cNvPr id="3" name="S04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흘린 물은 바로 닦고, 전기 제품 옆에 두지 않아요.</a:t>
            </a:r>
            <a:endParaRPr lang="ko-KR" sz="2800" dirty="0"/>
          </a:p>
        </p:txBody>
      </p:sp>
      <p:sp>
        <p:nvSpPr>
          <p:cNvPr id="5" name="S04-figure15" descr="왼쪽: 뚜껑을 닫은 투명한 통 바닥에 젖은 수건을 펼쳐 넣음. 오른쪽: 통 옆 접시 위에 같은 젖은 수건을 펼쳐 놓음"/>
          <p:cNvSpPr/>
          <p:nvPr/>
        </p:nvSpPr>
        <p:spPr>
          <a:xfrm>
            <a:off x="6990035" y="1739577"/>
            <a:ext cx="1974684" cy="987342"/>
          </a:xfrm>
          <a:custGeom>
            <a:avLst/>
            <a:gdLst/>
            <a:ahLst/>
            <a:cxnLst/>
            <a:rect l="l" t="t" r="r" b="b"/>
            <a:pathLst>
              <a:path w="1974684" h="987342">
                <a:moveTo>
                  <a:pt x="0" y="987342"/>
                </a:moveTo>
                <a:lnTo>
                  <a:pt x="1974684" y="987342"/>
                </a:lnTo>
                <a:lnTo>
                  <a:pt x="1974684" y="0"/>
                </a:lnTo>
                <a:lnTo>
                  <a:pt x="0" y="0"/>
                </a:lnTo>
                <a:close/>
              </a:path>
            </a:pathLst>
          </a:custGeom>
          <a:solidFill>
            <a:srgbClr val="F3F6FA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4-mark16"/>
          <p:cNvSpPr/>
          <p:nvPr/>
        </p:nvSpPr>
        <p:spPr>
          <a:xfrm>
            <a:off x="6897472" y="1554450"/>
            <a:ext cx="2159811" cy="185127"/>
          </a:xfrm>
          <a:custGeom>
            <a:avLst/>
            <a:gdLst/>
            <a:ahLst/>
            <a:cxnLst/>
            <a:rect l="l" t="t" r="r" b="b"/>
            <a:pathLst>
              <a:path w="2159811" h="185127">
                <a:moveTo>
                  <a:pt x="0" y="185127"/>
                </a:moveTo>
                <a:lnTo>
                  <a:pt x="2159811" y="185127"/>
                </a:lnTo>
                <a:lnTo>
                  <a:pt x="2159811" y="0"/>
                </a:lnTo>
                <a:lnTo>
                  <a:pt x="0" y="0"/>
                </a:lnTo>
                <a:close/>
              </a:path>
            </a:pathLst>
          </a:custGeom>
          <a:solidFill>
            <a:srgbClr val="CBD5E1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4-mark17"/>
          <p:cNvSpPr/>
          <p:nvPr/>
        </p:nvSpPr>
        <p:spPr>
          <a:xfrm>
            <a:off x="7175162" y="2541792"/>
            <a:ext cx="1604431" cy="148101"/>
          </a:xfrm>
          <a:custGeom>
            <a:avLst/>
            <a:gdLst/>
            <a:ahLst/>
            <a:cxnLst/>
            <a:rect l="l" t="t" r="r" b="b"/>
            <a:pathLst>
              <a:path w="1604431" h="148101">
                <a:moveTo>
                  <a:pt x="0" y="148101"/>
                </a:moveTo>
                <a:lnTo>
                  <a:pt x="1604431" y="148101"/>
                </a:lnTo>
                <a:lnTo>
                  <a:pt x="1604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18"/>
          <p:cNvSpPr/>
          <p:nvPr/>
        </p:nvSpPr>
        <p:spPr>
          <a:xfrm>
            <a:off x="9211555" y="2591159"/>
            <a:ext cx="2344937" cy="135760"/>
          </a:xfrm>
          <a:custGeom>
            <a:avLst/>
            <a:gdLst/>
            <a:ahLst/>
            <a:cxnLst/>
            <a:rect l="l" t="t" r="r" b="b"/>
            <a:pathLst>
              <a:path w="2344937" h="135760">
                <a:moveTo>
                  <a:pt x="185127" y="135760"/>
                </a:moveTo>
                <a:lnTo>
                  <a:pt x="2159811" y="135760"/>
                </a:lnTo>
                <a:lnTo>
                  <a:pt x="2344937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19"/>
          <p:cNvSpPr/>
          <p:nvPr/>
        </p:nvSpPr>
        <p:spPr>
          <a:xfrm>
            <a:off x="9581808" y="2443058"/>
            <a:ext cx="1604431" cy="148101"/>
          </a:xfrm>
          <a:custGeom>
            <a:avLst/>
            <a:gdLst/>
            <a:ahLst/>
            <a:cxnLst/>
            <a:rect l="l" t="t" r="r" b="b"/>
            <a:pathLst>
              <a:path w="1604431" h="148101">
                <a:moveTo>
                  <a:pt x="0" y="148101"/>
                </a:moveTo>
                <a:lnTo>
                  <a:pt x="1604431" y="148101"/>
                </a:lnTo>
                <a:lnTo>
                  <a:pt x="1604431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label21"/>
          <p:cNvSpPr txBox="1"/>
          <p:nvPr/>
        </p:nvSpPr>
        <p:spPr>
          <a:xfrm>
            <a:off x="6849617" y="2891693"/>
            <a:ext cx="225552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 안(뚜껑 닫음)</a:t>
            </a:r>
            <a:endParaRPr lang="ko-KR" sz="2200" dirty="0"/>
          </a:p>
        </p:txBody>
      </p:sp>
      <p:sp>
        <p:nvSpPr>
          <p:cNvPr id="11" name="S04-label23"/>
          <p:cNvSpPr txBox="1"/>
          <p:nvPr/>
        </p:nvSpPr>
        <p:spPr>
          <a:xfrm>
            <a:off x="9393169" y="2891693"/>
            <a:ext cx="19817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 밖(접시 위)</a:t>
            </a:r>
            <a:endParaRPr lang="ko-KR" sz="2200" dirty="0"/>
          </a:p>
        </p:txBody>
      </p:sp>
      <p:sp>
        <p:nvSpPr>
          <p:cNvPr id="12" name="S04-card24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25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두 수건을 같은 곳에 둬요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선풍기 바람이 닿지 않게 해요</a:t>
            </a:r>
            <a:endParaRPr lang="ko-KR" sz="2800" dirty="0"/>
          </a:p>
        </p:txBody>
      </p:sp>
      <p:sp>
        <p:nvSpPr>
          <p:cNvPr id="14" name="S04-stepno2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4-text27"/>
          <p:cNvSpPr txBox="1"/>
          <p:nvPr/>
        </p:nvSpPr>
        <p:spPr>
          <a:xfrm>
            <a:off x="1325880" y="18790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키친타월 두 장을 물에 적셔 똑같이 짜요.</a:t>
            </a:r>
            <a:endParaRPr lang="ko-KR" sz="2200" dirty="0"/>
          </a:p>
        </p:txBody>
      </p:sp>
      <p:sp>
        <p:nvSpPr>
          <p:cNvPr id="16" name="S04-stepno2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4-text29"/>
          <p:cNvSpPr txBox="1"/>
          <p:nvPr/>
        </p:nvSpPr>
        <p:spPr>
          <a:xfrm>
            <a:off x="1325880" y="2592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장은 통 바닥에 펴고 뚜껑을 닫아요.</a:t>
            </a:r>
            <a:endParaRPr lang="ko-KR" sz="2200" dirty="0"/>
          </a:p>
        </p:txBody>
      </p:sp>
      <p:sp>
        <p:nvSpPr>
          <p:cNvPr id="18" name="S04-stepno3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4-text31"/>
          <p:cNvSpPr txBox="1"/>
          <p:nvPr/>
        </p:nvSpPr>
        <p:spPr>
          <a:xfrm>
            <a:off x="1325880" y="33055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한 장은 접시에 똑같이 펴요.</a:t>
            </a:r>
            <a:endParaRPr lang="ko-KR" sz="2200" dirty="0"/>
          </a:p>
        </p:txBody>
      </p:sp>
      <p:sp>
        <p:nvSpPr>
          <p:cNvPr id="20" name="S04-stepno3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1" name="S04-text33"/>
          <p:cNvSpPr txBox="1"/>
          <p:nvPr/>
        </p:nvSpPr>
        <p:spPr>
          <a:xfrm>
            <a:off x="1325880" y="4018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시각을 쓰고 15분 뒤에 만져 봐요.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차가운 물체에 닿으면?</a:t>
            </a:r>
            <a:endParaRPr lang="ko-KR" sz="2800" dirty="0"/>
          </a:p>
        </p:txBody>
      </p:sp>
      <p:sp>
        <p:nvSpPr>
          <p:cNvPr id="4" name="S05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6" name="S05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541016"/>
          <a:ext cx="10058400" cy="914400"/>
        </p:xfrm>
        <a:graphic>
          <a:graphicData uri="http://schemas.openxmlformats.org/drawingml/2006/table">
            <a:tbl>
              <a:tblPr/>
              <a:tblGrid>
                <a:gridCol w="5833872"/>
                <a:gridCol w="4224528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얼음물 컵의 겉면(5분 뒤)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차가운 숟가락에 입김을 불면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 숟가락에 입김을 불면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컵과 숟가락</a:t>
            </a:r>
            <a:endParaRPr lang="ko-KR" sz="4000" dirty="0"/>
          </a:p>
        </p:txBody>
      </p:sp>
      <p:sp>
        <p:nvSpPr>
          <p:cNvPr id="3" name="S06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숟가락은 입술이나 혀에 대지 않아요.</a:t>
            </a:r>
            <a:endParaRPr lang="ko-KR" sz="2800" dirty="0"/>
          </a:p>
        </p:txBody>
      </p:sp>
      <p:sp>
        <p:nvSpPr>
          <p:cNvPr id="5" name="S06-card4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더 뿌예지는 숟가락을 찾아요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뿌연 것이 언제 사라지나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5분 뒤 컵 겉면을 만져 봐요</a:t>
            </a:r>
            <a:endParaRPr lang="ko-KR" sz="2800" dirty="0"/>
          </a:p>
        </p:txBody>
      </p:sp>
      <p:sp>
        <p:nvSpPr>
          <p:cNvPr id="7" name="S06-stepno42"/>
          <p:cNvSpPr txBox="1"/>
          <p:nvPr/>
        </p:nvSpPr>
        <p:spPr>
          <a:xfrm>
            <a:off x="548640" y="144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6-text43"/>
          <p:cNvSpPr txBox="1"/>
          <p:nvPr/>
        </p:nvSpPr>
        <p:spPr>
          <a:xfrm>
            <a:off x="1325880" y="1400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컵에 얼음물을 담고 겉면을 닦아요.</a:t>
            </a:r>
            <a:endParaRPr lang="ko-KR" sz="2800" dirty="0"/>
          </a:p>
        </p:txBody>
      </p:sp>
      <p:sp>
        <p:nvSpPr>
          <p:cNvPr id="9" name="S06-stepno44"/>
          <p:cNvSpPr txBox="1"/>
          <p:nvPr/>
        </p:nvSpPr>
        <p:spPr>
          <a:xfrm>
            <a:off x="548640" y="2478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6-text45"/>
          <p:cNvSpPr txBox="1"/>
          <p:nvPr/>
        </p:nvSpPr>
        <p:spPr>
          <a:xfrm>
            <a:off x="1325880" y="243281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 하나를 얼음물에 1분 담가요.</a:t>
            </a:r>
            <a:endParaRPr lang="ko-KR" sz="2800" dirty="0"/>
          </a:p>
        </p:txBody>
      </p:sp>
      <p:sp>
        <p:nvSpPr>
          <p:cNvPr id="11" name="S06-stepno46"/>
          <p:cNvSpPr txBox="1"/>
          <p:nvPr/>
        </p:nvSpPr>
        <p:spPr>
          <a:xfrm>
            <a:off x="548640" y="3510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6-text47"/>
          <p:cNvSpPr txBox="1"/>
          <p:nvPr/>
        </p:nvSpPr>
        <p:spPr>
          <a:xfrm>
            <a:off x="1325880" y="346506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꺼내 닦고 바로 ‘하’ 입김을 불어요.</a:t>
            </a:r>
            <a:endParaRPr lang="ko-KR" sz="2800" dirty="0"/>
          </a:p>
        </p:txBody>
      </p:sp>
      <p:sp>
        <p:nvSpPr>
          <p:cNvPr id="13" name="S06-stepno48"/>
          <p:cNvSpPr txBox="1"/>
          <p:nvPr/>
        </p:nvSpPr>
        <p:spPr>
          <a:xfrm>
            <a:off x="548640" y="4497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6-text49"/>
          <p:cNvSpPr txBox="1"/>
          <p:nvPr/>
        </p:nvSpPr>
        <p:spPr>
          <a:xfrm>
            <a:off x="1325880" y="44973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 숟가락에도 똑같이 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7-text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07-card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중 수증기는 차가운 곳에서 어떻게 되었나요?</a:t>
            </a:r>
            <a:endParaRPr lang="ko-KR" sz="2800" dirty="0"/>
          </a:p>
        </p:txBody>
      </p:sp>
      <p:graphicFrame>
        <p:nvGraphicFramePr>
          <p:cNvPr id="8" name="S07-table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5047488"/>
                <a:gridCol w="546811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얼음물 컵의 겉면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차가운 숟가락 + 입김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 숟가락 + 입김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이슬, 안개, 구름</a:t>
            </a:r>
            <a:endParaRPr lang="ko-KR" sz="4000" dirty="0"/>
          </a:p>
        </p:txBody>
      </p:sp>
      <p:sp>
        <p:nvSpPr>
          <p:cNvPr id="3" name="S08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공기 중 수증기가 차가워져 응결한 거예요.</a:t>
            </a:r>
            <a:endParaRPr lang="ko-KR" sz="2800" dirty="0"/>
          </a:p>
        </p:txBody>
      </p:sp>
      <p:sp>
        <p:nvSpPr>
          <p:cNvPr id="4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물방울이 많이 모이면 뿌옇게 보여요.</a:t>
            </a:r>
            <a:endParaRPr lang="ko-KR" sz="2800" dirty="0"/>
          </a:p>
        </p:txBody>
      </p:sp>
      <p:graphicFrame>
        <p:nvGraphicFramePr>
          <p:cNvPr id="9" name="S08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286000"/>
          <a:ext cx="10607040" cy="914400"/>
        </p:xfrm>
        <a:graphic>
          <a:graphicData uri="http://schemas.openxmlformats.org/drawingml/2006/table">
            <a:tbl>
              <a:tblPr/>
              <a:tblGrid>
                <a:gridCol w="2015338"/>
                <a:gridCol w="2651760"/>
                <a:gridCol w="2863901"/>
                <a:gridCol w="307604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생기는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차가운 물체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표면(풀잎)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땅 가까운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공기 속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높은 하늘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252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물방울이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맺혀요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물방울이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떠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물방울·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얼음 알갱이가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떠 있어요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9-card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하늘에 하얀 구름이 떠 있어요.</a:t>
            </a:r>
            <a:endParaRPr lang="ko-KR" sz="2800" dirty="0"/>
          </a:p>
        </p:txBody>
      </p:sp>
      <p:sp>
        <p:nvSpPr>
          <p:cNvPr id="5" name="S09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9-chip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9-text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구름은 수증기가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모인 거예요.</a:t>
            </a:r>
            <a:endParaRPr lang="ko-KR" sz="2800" dirty="0"/>
          </a:p>
        </p:txBody>
      </p:sp>
      <p:sp>
        <p:nvSpPr>
          <p:cNvPr id="9" name="S09-chip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9-text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구름은 작은 물방울이나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알갱이가 모인 거예요.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비와 눈은 어떻게 내릴까요?</a:t>
            </a:r>
            <a:endParaRPr lang="ko-KR" sz="4000" dirty="0"/>
          </a:p>
        </p:txBody>
      </p:sp>
      <p:sp>
        <p:nvSpPr>
          <p:cNvPr id="3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 속 물방울과 얼음 알갱이가 무거워지면 떨어져요.</a:t>
            </a:r>
            <a:endParaRPr lang="ko-KR" sz="2800" dirty="0"/>
          </a:p>
        </p:txBody>
      </p:sp>
      <p:sp>
        <p:nvSpPr>
          <p:cNvPr id="5" name="S10-card68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0-cardtext69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물방울로 떨어지거나,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얼음이 녹아 떨어져요.</a:t>
            </a:r>
            <a:endParaRPr lang="ko-KR" sz="2800" dirty="0"/>
          </a:p>
        </p:txBody>
      </p:sp>
      <p:sp>
        <p:nvSpPr>
          <p:cNvPr id="7" name="S10-card70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71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 알갱이가 녹지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않고 떨어져요.</a:t>
            </a:r>
            <a:endParaRPr lang="ko-KR" sz="2800" dirty="0"/>
          </a:p>
        </p:txBody>
      </p:sp>
      <p:sp>
        <p:nvSpPr>
          <p:cNvPr id="9" name="S10-step72"/>
          <p:cNvSpPr txBox="1"/>
          <p:nvPr/>
        </p:nvSpPr>
        <p:spPr>
          <a:xfrm>
            <a:off x="1293876" y="1708404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구름 속 작은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물방울·얼음 알갱이</a:t>
            </a:r>
            <a:endParaRPr lang="ko-KR" sz="2200" dirty="0"/>
          </a:p>
        </p:txBody>
      </p:sp>
      <p:sp>
        <p:nvSpPr>
          <p:cNvPr id="10" name="S10-line73"/>
          <p:cNvSpPr/>
          <p:nvPr/>
        </p:nvSpPr>
        <p:spPr>
          <a:xfrm>
            <a:off x="4274820" y="234848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10-step74"/>
          <p:cNvSpPr txBox="1"/>
          <p:nvPr/>
        </p:nvSpPr>
        <p:spPr>
          <a:xfrm>
            <a:off x="4631436" y="1708404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합쳐지거나 커져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무거워져요</a:t>
            </a:r>
            <a:endParaRPr lang="ko-KR" sz="2200" dirty="0"/>
          </a:p>
        </p:txBody>
      </p:sp>
      <p:sp>
        <p:nvSpPr>
          <p:cNvPr id="12" name="S10-line75"/>
          <p:cNvSpPr/>
          <p:nvPr/>
        </p:nvSpPr>
        <p:spPr>
          <a:xfrm>
            <a:off x="7612380" y="2348484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10-step76"/>
          <p:cNvSpPr txBox="1"/>
          <p:nvPr/>
        </p:nvSpPr>
        <p:spPr>
          <a:xfrm>
            <a:off x="7968996" y="1708404"/>
            <a:ext cx="2926080" cy="1280160"/>
          </a:xfrm>
          <a:prstGeom prst="roundRect">
            <a:avLst>
              <a:gd name="adj" fmla="val 8571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아래로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떨어져요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수건은 어떻게 되었나요?</a:t>
            </a:r>
            <a:endParaRPr lang="ko-KR" sz="4000" dirty="0"/>
          </a:p>
        </p:txBody>
      </p:sp>
      <p:sp>
        <p:nvSpPr>
          <p:cNvPr id="3" name="S11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수건을 만져 보고 빈칸을 말로 채워요.</a:t>
            </a:r>
            <a:endParaRPr lang="ko-KR" sz="2800" dirty="0"/>
          </a:p>
        </p:txBody>
      </p:sp>
      <p:sp>
        <p:nvSpPr>
          <p:cNvPr id="4" name="S11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말랐나요? 왜 그럴까요?</a:t>
            </a:r>
            <a:endParaRPr lang="ko-KR" sz="2800" dirty="0"/>
          </a:p>
        </p:txBody>
      </p:sp>
      <p:graphicFrame>
        <p:nvGraphicFramePr>
          <p:cNvPr id="12" name="S11-table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680460"/>
                <a:gridCol w="36804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 안 수건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 밖 수건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만진 느낌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마른 쪽(○)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 안쪽 벽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(통 없음)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습도와 우리 생활</a:t>
            </a:r>
            <a:endParaRPr lang="ko-KR" sz="4000" dirty="0"/>
          </a:p>
        </p:txBody>
      </p:sp>
      <p:sp>
        <p:nvSpPr>
          <p:cNvPr id="3" name="S12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습도: 공기 중에 수증기가 포함된 정도(%)</a:t>
            </a:r>
            <a:endParaRPr lang="ko-KR" sz="2800" dirty="0"/>
          </a:p>
        </p:txBody>
      </p:sp>
      <p:sp>
        <p:nvSpPr>
          <p:cNvPr id="4" name="S12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 안은 수증기가 많아져(습도가 높아져) 수건이 덜 말랐어요.</a:t>
            </a:r>
            <a:endParaRPr lang="ko-KR" sz="2800" dirty="0"/>
          </a:p>
        </p:txBody>
      </p:sp>
      <p:graphicFrame>
        <p:nvGraphicFramePr>
          <p:cNvPr id="13" name="S12-table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2657856"/>
          <a:ext cx="10607040" cy="914400"/>
        </p:xfrm>
        <a:graphic>
          <a:graphicData uri="http://schemas.openxmlformats.org/drawingml/2006/table">
            <a:tbl>
              <a:tblPr/>
              <a:tblGrid>
                <a:gridCol w="2121408"/>
                <a:gridCol w="4242816"/>
                <a:gridCol w="424281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습도가 높을 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습도가 낮을 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생기는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빨래가 잘 안 말라요.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곰팡이가 잘 생겨요.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피부와 목이 건조해요.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산불이 나기 쉬워요.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 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제습기, 창문 열어 환기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가습기, 젖은 수건 널기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3-card8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8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오는 날, 빨래를 집 안에 널었어요.</a:t>
            </a:r>
            <a:endParaRPr lang="ko-KR" sz="2800" dirty="0"/>
          </a:p>
        </p:txBody>
      </p:sp>
      <p:sp>
        <p:nvSpPr>
          <p:cNvPr id="5" name="S13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3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오늘 실험의 무엇이 증거일까요?</a:t>
            </a:r>
            <a:endParaRPr lang="ko-KR" sz="2800" dirty="0"/>
          </a:p>
        </p:txBody>
      </p:sp>
      <p:sp>
        <p:nvSpPr>
          <p:cNvPr id="7" name="S13-chip8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3-text9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비를 맞지 않으니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맑은 날처럼 잘 말라요.</a:t>
            </a:r>
            <a:endParaRPr lang="ko-KR" sz="2800" dirty="0"/>
          </a:p>
        </p:txBody>
      </p:sp>
      <p:sp>
        <p:nvSpPr>
          <p:cNvPr id="9" name="S13-chip9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3-text9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 중 수증기가 많아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마르지 않아요.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기압과 바람</a:t>
            </a:r>
            <a:endParaRPr lang="ko-KR" sz="4000" dirty="0"/>
          </a:p>
        </p:txBody>
      </p:sp>
      <p:sp>
        <p:nvSpPr>
          <p:cNvPr id="3" name="S14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부피라면 차가운 공기가 더 무거워요.</a:t>
            </a:r>
            <a:endParaRPr lang="ko-KR" sz="2800" dirty="0"/>
          </a:p>
        </p:txBody>
      </p:sp>
      <p:sp>
        <p:nvSpPr>
          <p:cNvPr id="4" name="S14-card94"/>
          <p:cNvSpPr/>
          <p:nvPr/>
        </p:nvSpPr>
        <p:spPr>
          <a:xfrm>
            <a:off x="548640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95"/>
          <p:cNvSpPr txBox="1"/>
          <p:nvPr/>
        </p:nvSpPr>
        <p:spPr>
          <a:xfrm>
            <a:off x="822960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공기의 무게로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누르는 힘</a:t>
            </a:r>
            <a:endParaRPr lang="ko-KR" sz="2800" dirty="0"/>
          </a:p>
        </p:txBody>
      </p:sp>
      <p:sp>
        <p:nvSpPr>
          <p:cNvPr id="6" name="S14-card96"/>
          <p:cNvSpPr/>
          <p:nvPr/>
        </p:nvSpPr>
        <p:spPr>
          <a:xfrm>
            <a:off x="4322064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97"/>
          <p:cNvSpPr txBox="1"/>
          <p:nvPr/>
        </p:nvSpPr>
        <p:spPr>
          <a:xfrm>
            <a:off x="4596384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고기압·저기압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곳은 고기압,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곳은 저기압</a:t>
            </a:r>
            <a:endParaRPr lang="ko-KR" sz="2800" dirty="0"/>
          </a:p>
        </p:txBody>
      </p:sp>
      <p:sp>
        <p:nvSpPr>
          <p:cNvPr id="8" name="S14-card98"/>
          <p:cNvSpPr/>
          <p:nvPr/>
        </p:nvSpPr>
        <p:spPr>
          <a:xfrm>
            <a:off x="8095488" y="4696968"/>
            <a:ext cx="3544824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99"/>
          <p:cNvSpPr txBox="1"/>
          <p:nvPr/>
        </p:nvSpPr>
        <p:spPr>
          <a:xfrm>
            <a:off x="8369808" y="4834128"/>
            <a:ext cx="2996184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기압이 높은 곳에서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낮은 곳으로 불어요.</a:t>
            </a:r>
            <a:endParaRPr lang="ko-KR" sz="2800" dirty="0"/>
          </a:p>
        </p:txBody>
      </p:sp>
      <p:sp>
        <p:nvSpPr>
          <p:cNvPr id="10" name="S14-figure100" descr="같은 크기의 상자 두 개. 왼쪽 차가운 공기 상자에는 공기 알갱이(점) 12개, 오른쪽 따뜻한 공기 상자에는 6개. 왼쪽 아래 ‘고기압’, 오른쪽 아래 ‘저기압’. 두 상자 사이 아래쪽에 왼쪽에서 오른쪽으로 향하는 화살표 ‘바람’"/>
          <p:cNvSpPr/>
          <p:nvPr/>
        </p:nvSpPr>
        <p:spPr>
          <a:xfrm>
            <a:off x="3522726" y="2622804"/>
            <a:ext cx="2057400" cy="1234440"/>
          </a:xfrm>
          <a:custGeom>
            <a:avLst/>
            <a:gdLst/>
            <a:ahLst/>
            <a:cxnLst/>
            <a:rect l="l" t="t" r="r" b="b"/>
            <a:pathLst>
              <a:path w="2057400" h="1234440">
                <a:moveTo>
                  <a:pt x="0" y="1234440"/>
                </a:moveTo>
                <a:lnTo>
                  <a:pt x="2057400" y="1234440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DCEBF7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14-mark101"/>
          <p:cNvSpPr/>
          <p:nvPr/>
        </p:nvSpPr>
        <p:spPr>
          <a:xfrm>
            <a:off x="6608826" y="2622804"/>
            <a:ext cx="2057400" cy="1234440"/>
          </a:xfrm>
          <a:custGeom>
            <a:avLst/>
            <a:gdLst/>
            <a:ahLst/>
            <a:cxnLst/>
            <a:rect l="l" t="t" r="r" b="b"/>
            <a:pathLst>
              <a:path w="2057400" h="1234440">
                <a:moveTo>
                  <a:pt x="0" y="1234440"/>
                </a:moveTo>
                <a:lnTo>
                  <a:pt x="2057400" y="1234440"/>
                </a:lnTo>
                <a:lnTo>
                  <a:pt x="2057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2" name="S14-mark102"/>
          <p:cNvSpPr/>
          <p:nvPr/>
        </p:nvSpPr>
        <p:spPr>
          <a:xfrm>
            <a:off x="3783330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4-mark103"/>
          <p:cNvSpPr/>
          <p:nvPr/>
        </p:nvSpPr>
        <p:spPr>
          <a:xfrm>
            <a:off x="3783330" y="31577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mark104"/>
          <p:cNvSpPr/>
          <p:nvPr/>
        </p:nvSpPr>
        <p:spPr>
          <a:xfrm>
            <a:off x="3783330" y="284911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4-mark105"/>
          <p:cNvSpPr/>
          <p:nvPr/>
        </p:nvSpPr>
        <p:spPr>
          <a:xfrm>
            <a:off x="4242816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4-mark106"/>
          <p:cNvSpPr/>
          <p:nvPr/>
        </p:nvSpPr>
        <p:spPr>
          <a:xfrm>
            <a:off x="4242816" y="31577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4-mark107"/>
          <p:cNvSpPr/>
          <p:nvPr/>
        </p:nvSpPr>
        <p:spPr>
          <a:xfrm>
            <a:off x="4242816" y="284911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mark108"/>
          <p:cNvSpPr/>
          <p:nvPr/>
        </p:nvSpPr>
        <p:spPr>
          <a:xfrm>
            <a:off x="4695444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4-mark109"/>
          <p:cNvSpPr/>
          <p:nvPr/>
        </p:nvSpPr>
        <p:spPr>
          <a:xfrm>
            <a:off x="4695444" y="31577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mark110"/>
          <p:cNvSpPr/>
          <p:nvPr/>
        </p:nvSpPr>
        <p:spPr>
          <a:xfrm>
            <a:off x="4695444" y="284911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4-mark111"/>
          <p:cNvSpPr/>
          <p:nvPr/>
        </p:nvSpPr>
        <p:spPr>
          <a:xfrm>
            <a:off x="5154930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mark112"/>
          <p:cNvSpPr/>
          <p:nvPr/>
        </p:nvSpPr>
        <p:spPr>
          <a:xfrm>
            <a:off x="5154930" y="31577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4-mark113"/>
          <p:cNvSpPr/>
          <p:nvPr/>
        </p:nvSpPr>
        <p:spPr>
          <a:xfrm>
            <a:off x="5154930" y="284911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4-mark114"/>
          <p:cNvSpPr/>
          <p:nvPr/>
        </p:nvSpPr>
        <p:spPr>
          <a:xfrm>
            <a:off x="6869430" y="34663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4-mark115"/>
          <p:cNvSpPr/>
          <p:nvPr/>
        </p:nvSpPr>
        <p:spPr>
          <a:xfrm>
            <a:off x="7760970" y="343204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4-mark116"/>
          <p:cNvSpPr/>
          <p:nvPr/>
        </p:nvSpPr>
        <p:spPr>
          <a:xfrm>
            <a:off x="8241030" y="302056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4-mark117"/>
          <p:cNvSpPr/>
          <p:nvPr/>
        </p:nvSpPr>
        <p:spPr>
          <a:xfrm>
            <a:off x="7349490" y="31234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4-mark118"/>
          <p:cNvSpPr/>
          <p:nvPr/>
        </p:nvSpPr>
        <p:spPr>
          <a:xfrm>
            <a:off x="6869430" y="281482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4-mark119"/>
          <p:cNvSpPr/>
          <p:nvPr/>
        </p:nvSpPr>
        <p:spPr>
          <a:xfrm>
            <a:off x="7829550" y="2780538"/>
            <a:ext cx="164592" cy="16459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4-mark120"/>
          <p:cNvSpPr/>
          <p:nvPr/>
        </p:nvSpPr>
        <p:spPr>
          <a:xfrm>
            <a:off x="5648706" y="3617214"/>
            <a:ext cx="891540" cy="0"/>
          </a:xfrm>
          <a:prstGeom prst="line">
            <a:avLst/>
          </a:prstGeom>
          <a:noFill/>
          <a:ln w="381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31" name="S14-label122"/>
          <p:cNvSpPr txBox="1"/>
          <p:nvPr/>
        </p:nvSpPr>
        <p:spPr>
          <a:xfrm>
            <a:off x="3770122" y="2173859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공기</a:t>
            </a:r>
            <a:endParaRPr lang="ko-KR" sz="2200" dirty="0"/>
          </a:p>
        </p:txBody>
      </p:sp>
      <p:sp>
        <p:nvSpPr>
          <p:cNvPr id="32" name="S14-label124"/>
          <p:cNvSpPr txBox="1"/>
          <p:nvPr/>
        </p:nvSpPr>
        <p:spPr>
          <a:xfrm>
            <a:off x="6856222" y="2173859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공기</a:t>
            </a:r>
            <a:endParaRPr lang="ko-KR" sz="2200" dirty="0"/>
          </a:p>
        </p:txBody>
      </p:sp>
      <p:sp>
        <p:nvSpPr>
          <p:cNvPr id="33" name="S14-label126"/>
          <p:cNvSpPr txBox="1"/>
          <p:nvPr/>
        </p:nvSpPr>
        <p:spPr>
          <a:xfrm>
            <a:off x="4085844" y="3956939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고기압</a:t>
            </a:r>
            <a:endParaRPr lang="ko-KR" sz="2200" dirty="0"/>
          </a:p>
        </p:txBody>
      </p:sp>
      <p:sp>
        <p:nvSpPr>
          <p:cNvPr id="34" name="S14-label128"/>
          <p:cNvSpPr txBox="1"/>
          <p:nvPr/>
        </p:nvSpPr>
        <p:spPr>
          <a:xfrm>
            <a:off x="7171944" y="3956939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저기압</a:t>
            </a:r>
            <a:endParaRPr lang="ko-KR" sz="2200" dirty="0"/>
          </a:p>
        </p:txBody>
      </p:sp>
      <p:sp>
        <p:nvSpPr>
          <p:cNvPr id="35" name="S14-label130"/>
          <p:cNvSpPr txBox="1"/>
          <p:nvPr/>
        </p:nvSpPr>
        <p:spPr>
          <a:xfrm>
            <a:off x="5765800" y="3099689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바닷가의 낮</a:t>
            </a:r>
            <a:endParaRPr lang="ko-KR" sz="4000" dirty="0"/>
          </a:p>
        </p:txBody>
      </p:sp>
      <p:sp>
        <p:nvSpPr>
          <p:cNvPr id="3" name="S15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낮에는 육지가 바다보다 빨리 데워져요.</a:t>
            </a:r>
            <a:endParaRPr lang="ko-KR" sz="2800" dirty="0"/>
          </a:p>
        </p:txBody>
      </p:sp>
      <p:sp>
        <p:nvSpPr>
          <p:cNvPr id="4" name="S15-card1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1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S14의 규칙: 바람은 기압이 높은 곳 → 낮은 곳</a:t>
            </a:r>
            <a:endParaRPr lang="ko-KR" sz="2800" dirty="0"/>
          </a:p>
        </p:txBody>
      </p:sp>
      <p:sp>
        <p:nvSpPr>
          <p:cNvPr id="6" name="S15-figure134" descr="바닷가의 낮: 왼쪽 육지, 오른쪽 바다, 육지 위 하늘에 해. 바람의 방향은 그리지 않음"/>
          <p:cNvSpPr/>
          <p:nvPr/>
        </p:nvSpPr>
        <p:spPr>
          <a:xfrm>
            <a:off x="6581394" y="3878199"/>
            <a:ext cx="2377440" cy="713232"/>
          </a:xfrm>
          <a:custGeom>
            <a:avLst/>
            <a:gdLst/>
            <a:ahLst/>
            <a:cxnLst/>
            <a:rect l="l" t="t" r="r" b="b"/>
            <a:pathLst>
              <a:path w="2377440" h="713232">
                <a:moveTo>
                  <a:pt x="0" y="713232"/>
                </a:moveTo>
                <a:lnTo>
                  <a:pt x="2377440" y="713232"/>
                </a:lnTo>
                <a:lnTo>
                  <a:pt x="2377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E8D3A9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135"/>
          <p:cNvSpPr/>
          <p:nvPr/>
        </p:nvSpPr>
        <p:spPr>
          <a:xfrm>
            <a:off x="8958834" y="4115943"/>
            <a:ext cx="2377440" cy="475488"/>
          </a:xfrm>
          <a:custGeom>
            <a:avLst/>
            <a:gdLst/>
            <a:ahLst/>
            <a:cxnLst/>
            <a:rect l="l" t="t" r="r" b="b"/>
            <a:pathLst>
              <a:path w="2377440" h="475488">
                <a:moveTo>
                  <a:pt x="0" y="475488"/>
                </a:moveTo>
                <a:lnTo>
                  <a:pt x="2377440" y="475488"/>
                </a:lnTo>
                <a:lnTo>
                  <a:pt x="237744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CCF2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mark136"/>
          <p:cNvSpPr/>
          <p:nvPr/>
        </p:nvSpPr>
        <p:spPr>
          <a:xfrm>
            <a:off x="7502652" y="2540889"/>
            <a:ext cx="534924" cy="534924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5-label138"/>
          <p:cNvSpPr txBox="1"/>
          <p:nvPr/>
        </p:nvSpPr>
        <p:spPr>
          <a:xfrm>
            <a:off x="7441438" y="406019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육지</a:t>
            </a:r>
            <a:endParaRPr lang="ko-KR" sz="2200" dirty="0"/>
          </a:p>
        </p:txBody>
      </p:sp>
      <p:sp>
        <p:nvSpPr>
          <p:cNvPr id="10" name="S15-label140"/>
          <p:cNvSpPr txBox="1"/>
          <p:nvPr/>
        </p:nvSpPr>
        <p:spPr>
          <a:xfrm>
            <a:off x="9818878" y="4179062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11" name="S15-label142"/>
          <p:cNvSpPr txBox="1"/>
          <p:nvPr/>
        </p:nvSpPr>
        <p:spPr>
          <a:xfrm>
            <a:off x="8172704" y="263372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</a:t>
            </a:r>
            <a:endParaRPr lang="ko-KR" sz="2200" dirty="0"/>
          </a:p>
        </p:txBody>
      </p:sp>
      <p:sp>
        <p:nvSpPr>
          <p:cNvPr id="12" name="S15-chip14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3" name="S15-text14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공기가 더 따뜻한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곳은?</a:t>
            </a:r>
            <a:endParaRPr lang="ko-KR" sz="2800" dirty="0"/>
          </a:p>
        </p:txBody>
      </p:sp>
      <p:sp>
        <p:nvSpPr>
          <p:cNvPr id="14" name="S15-chip14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5-text14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기압이 더 높은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곳은?</a:t>
            </a:r>
            <a:endParaRPr lang="ko-KR" sz="2800" dirty="0"/>
          </a:p>
        </p:txBody>
      </p:sp>
      <p:sp>
        <p:nvSpPr>
          <p:cNvPr id="16" name="S15-chip14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7" name="S15-text14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바람은 어디에서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어디로 불까요?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6-chip14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6-text15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장마철 방에 곰팡이가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생겼어요. 무엇이 높을까요?</a:t>
            </a:r>
            <a:endParaRPr lang="ko-KR" sz="2800" dirty="0"/>
          </a:p>
        </p:txBody>
      </p:sp>
      <p:sp>
        <p:nvSpPr>
          <p:cNvPr id="5" name="S16-chip15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6-text15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겨울에 방이 건조해요.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습도를 높이는 방법은?</a:t>
            </a:r>
            <a:endParaRPr lang="ko-KR" sz="2800" dirty="0"/>
          </a:p>
        </p:txBody>
      </p:sp>
      <p:sp>
        <p:nvSpPr>
          <p:cNvPr id="7" name="S16-chip15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6-text15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이른 아침 풀잎의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물방울은 어떻게 생겼나요?</a:t>
            </a:r>
            <a:endParaRPr lang="ko-KR" sz="2800" dirty="0"/>
          </a:p>
        </p:txBody>
      </p:sp>
      <p:sp>
        <p:nvSpPr>
          <p:cNvPr id="9" name="S16-chip15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6-text15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밤에는 육지가 빨리 식어요.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 바람은 어느 쪽으로?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공기는 어느 쪽으로 움직일까요?</a:t>
            </a:r>
            <a:endParaRPr lang="ko-KR" sz="4000" dirty="0"/>
          </a:p>
        </p:txBody>
      </p:sp>
      <p:sp>
        <p:nvSpPr>
          <p:cNvPr id="3" name="S18-text157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닫힌 상자 한쪽에 얼음물, 다른 쪽에 따뜻한 물을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두었어요. 상자 바닥 가까이의 공기는?</a:t>
            </a:r>
            <a:endParaRPr lang="ko-KR" sz="2800" dirty="0"/>
          </a:p>
        </p:txBody>
      </p:sp>
      <p:sp>
        <p:nvSpPr>
          <p:cNvPr id="4" name="S18-card1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8-cardtext1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기압으로 까닭을 말해요.</a:t>
            </a:r>
            <a:endParaRPr lang="ko-KR" sz="2800" dirty="0"/>
          </a:p>
        </p:txBody>
      </p:sp>
      <p:sp>
        <p:nvSpPr>
          <p:cNvPr id="6" name="S18-chip160"/>
          <p:cNvSpPr txBox="1"/>
          <p:nvPr/>
        </p:nvSpPr>
        <p:spPr>
          <a:xfrm>
            <a:off x="2946654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8-card161"/>
          <p:cNvSpPr/>
          <p:nvPr/>
        </p:nvSpPr>
        <p:spPr>
          <a:xfrm>
            <a:off x="548640" y="3080512"/>
            <a:ext cx="5362956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8-cardtext162"/>
          <p:cNvSpPr txBox="1"/>
          <p:nvPr/>
        </p:nvSpPr>
        <p:spPr>
          <a:xfrm>
            <a:off x="822960" y="3217672"/>
            <a:ext cx="4814316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얼음물 쪽에서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 쪽으로</a:t>
            </a:r>
            <a:endParaRPr lang="ko-KR" sz="2800" dirty="0"/>
          </a:p>
        </p:txBody>
      </p:sp>
      <p:sp>
        <p:nvSpPr>
          <p:cNvPr id="9" name="S18-chip163"/>
          <p:cNvSpPr txBox="1"/>
          <p:nvPr/>
        </p:nvSpPr>
        <p:spPr>
          <a:xfrm>
            <a:off x="8675370" y="237642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8-card164"/>
          <p:cNvSpPr/>
          <p:nvPr/>
        </p:nvSpPr>
        <p:spPr>
          <a:xfrm>
            <a:off x="6277356" y="3080512"/>
            <a:ext cx="5362956" cy="2040128"/>
          </a:xfrm>
          <a:prstGeom prst="roundRect">
            <a:avLst>
              <a:gd name="adj" fmla="val 537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8-cardtext165"/>
          <p:cNvSpPr txBox="1"/>
          <p:nvPr/>
        </p:nvSpPr>
        <p:spPr>
          <a:xfrm>
            <a:off x="6551676" y="3217672"/>
            <a:ext cx="4814316" cy="176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따뜻한 물 쪽에서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얼음물 쪽으로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9-card16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9-cardtext16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습도가 높으면 빨래가 잘 마르지 않아요. 이슬·안개·구름은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수증기가 응결한 것이고, 바람은 고기압에서 저기압으로 불어요.</a:t>
            </a:r>
            <a:endParaRPr lang="ko-KR" sz="2800" dirty="0"/>
          </a:p>
        </p:txBody>
      </p:sp>
      <p:sp>
        <p:nvSpPr>
          <p:cNvPr id="5" name="S19-chip168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관찰 결과로 날씨를 설명하기</a:t>
            </a:r>
            <a:endParaRPr lang="ko-KR" sz="2200" dirty="0"/>
          </a:p>
        </p:txBody>
      </p:sp>
      <p:sp>
        <p:nvSpPr>
          <p:cNvPr id="6" name="S19-chip169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구름을 수증기라고 생각하기</a:t>
            </a:r>
            <a:endParaRPr lang="ko-KR" sz="2200" dirty="0"/>
          </a:p>
        </p:txBody>
      </p:sp>
      <p:sp>
        <p:nvSpPr>
          <p:cNvPr id="7" name="S19-text170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9-text171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공기 중에 수증기가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포함된 정도는?</a:t>
            </a:r>
            <a:endParaRPr lang="ko-KR" sz="2200" dirty="0"/>
          </a:p>
        </p:txBody>
      </p:sp>
      <p:sp>
        <p:nvSpPr>
          <p:cNvPr id="9" name="S19-text172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이슬과 구름의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점은?</a:t>
            </a:r>
            <a:endParaRPr lang="ko-KR" sz="2200" dirty="0"/>
          </a:p>
        </p:txBody>
      </p:sp>
      <p:sp>
        <p:nvSpPr>
          <p:cNvPr id="10" name="S19-text173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바닷가에서 낮에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바람이 부는 방향은?</a:t>
            </a:r>
            <a:endParaRPr lang="ko-KR" sz="2200" dirty="0"/>
          </a:p>
        </p:txBody>
      </p:sp>
      <p:sp>
        <p:nvSpPr>
          <p:cNvPr id="11" name="S19-text17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열의 이동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증발과 응결</a:t>
            </a:r>
            <a:endParaRPr lang="ko-KR" sz="4000" dirty="0"/>
          </a:p>
        </p:txBody>
      </p:sp>
      <p:sp>
        <p:nvSpPr>
          <p:cNvPr id="3" name="S20-text1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물과 수증기는 서로 모습을 바꿔요.</a:t>
            </a:r>
            <a:endParaRPr lang="ko-KR" sz="2800" dirty="0"/>
          </a:p>
        </p:txBody>
      </p:sp>
      <p:sp>
        <p:nvSpPr>
          <p:cNvPr id="4" name="S20-card1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0-cardtext1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수증기는 기체라서 눈에 보이지 않아요.</a:t>
            </a:r>
            <a:endParaRPr lang="ko-KR" sz="2800" dirty="0"/>
          </a:p>
        </p:txBody>
      </p:sp>
      <p:sp>
        <p:nvSpPr>
          <p:cNvPr id="6" name="S20-card178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0-cardtext179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증발: 물 → 수증기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손등의 물이 말라요.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빨래가 말라요.</a:t>
            </a:r>
            <a:endParaRPr lang="ko-KR" sz="2800" dirty="0"/>
          </a:p>
        </p:txBody>
      </p:sp>
      <p:sp>
        <p:nvSpPr>
          <p:cNvPr id="8" name="S20-card180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0-cardtext181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응결: 수증기 → 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차가운 컵 겉면에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물방울이 생겨요.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날씨 요소</dc:title>
  <dc:subject>KR22-G05-SCI-WEATHER-L01</dc:subject>
  <dc:creator>education-ppt</dc:creator>
  <cp:lastModifiedBy>education-ppt</cp:lastModifiedBy>
  <cp:revision>1</cp:revision>
  <dcterms:created xsi:type="dcterms:W3CDTF">2026-10-26T13:39:23Z</dcterms:created>
  <dcterms:modified xsi:type="dcterms:W3CDTF">2026-10-26T13:39:23Z</dcterms:modified>
</cp:coreProperties>
</file>