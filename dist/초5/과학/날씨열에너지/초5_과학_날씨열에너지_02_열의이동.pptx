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1869614-3fbd-38e8-9b9a-9a70c323220d}">
          <p14:sldIdLst>
            <p14:sldId id="256"/>
            <p14:sldId id="257"/>
          </p14:sldIdLst>
        </p14:section>
        <p14:section name="개념" id="{00214df3-0c22-c99d-fb81-ce985fa50250}">
          <p14:sldIdLst>
            <p14:sldId id="258"/>
            <p14:sldId id="263"/>
            <p14:sldId id="268"/>
            <p14:sldId id="270"/>
            <p14:sldId id="271"/>
          </p14:sldIdLst>
        </p14:section>
        <p14:section name="연습" id="{1576c9cc-8c34-2d34-e06a-ae8bd9dd1ec8}">
          <p14:sldIdLst>
            <p14:sldId id="259"/>
            <p14:sldId id="260"/>
            <p14:sldId id="261"/>
            <p14:sldId id="262"/>
            <p14:sldId id="264"/>
            <p14:sldId id="265"/>
            <p14:sldId id="266"/>
            <p14:sldId id="267"/>
            <p14:sldId id="269"/>
            <p14:sldId id="272"/>
          </p14:sldIdLst>
        </p14:section>
        <p14:section name="개념" id="{1c9bcef9-9f08-cd62-4c60-7e68514f65ee}">
          <p14:sldIdLst/>
        </p14:section>
        <p14:section name="연습" id="{5666e0d4-92ec-d21c-604d-c75db85492ce}">
          <p14:sldIdLst/>
        </p14:section>
        <p14:section name="개념" id="{86eec7ee-3e85-6c21-3a65-bd945c924fc2}">
          <p14:sldIdLst/>
        </p14:section>
        <p14:section name="연습" id="{9c6af9b2-0401-db81-3202-b4ceb0de9a09}">
          <p14:sldIdLst/>
        </p14:section>
        <p14:section name="개념" id="{06d61a94-b1dd-103f-e3be-b45782bd531c}">
          <p14:sldIdLst/>
        </p14:section>
        <p14:section name="연습" id="{a8db5297-694e-28f2-a94c-5048a905715a}">
          <p14:sldIdLst/>
        </p14:section>
        <p14:section name="확인" id="{ba0ea655-75e6-b526-7fa3-3a830b8404ab}">
          <p14:sldIdLst>
            <p14:sldId id="273"/>
            <p14:sldId id="274"/>
            <p14:sldId id="275"/>
          </p14:sldIdLst>
        </p14:section>
        <p14:section name="정리" id="{ef78651c-bcba-28e9-dd36-5788d56fb6d2}">
          <p14:sldIdLst>
            <p14:sldId id="276"/>
          </p14:sldIdLst>
        </p14:section>
        <p14:section name="보충" id="{67ac073a-cb7d-f0da-2b05-84b599820fcd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생활 속에서 열이 이동하는 경험을 떠올리게 합니다.
시간: 약 2분
이렇게 말해 보세요
- “뜨거운 국에 숟가락을 넣어 두면 손잡이도 뜨거워지지? 열은 어떻게 손잡이까지 왔을까?”
- “오늘은 온도계로 온도를 재 보고, 숟가락으로 실험하면서 열이 어떻게 이동하는지 알아볼 거야.”
예상 답
- “숟가락이 뜨거워져서요.” “국이 올라와서요.” 어떤 답이든 괜찮습니다. 답을 확인하지 않고 넘어갑니다.
막히면
- 숟가락 하나를 보여 주며 “어느 쪽이 국에 닿아 있었지?”라고만 묻습니다.
주의
- 따뜻한 물은 숟가락 실험(S11) 바로 전에 부모가 준비합니다. 끓는 물은 쓰지 않습니다.
- 온도계는 수업 전에 책상 위에 두어 방 공기의 온도에 맞춰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확인(기압과 바람)]
목적: 선수 차시 ‘날씨 요소’(KR22-G05-SCI-WEATHER-L01)의 기압과 바람을 확인합니다. ‘따뜻한 공기는 가볍다’는 것은 오늘 대류(S16)를 설명할 때 다시 씁니다.
시간: 약 2분
이렇게 말해 보세요
- “① 바람은 기압이 높은 곳에서 어디로 불었지?”
- “② 같은 크기의 상자에 담긴 차가운 공기와 따뜻한 공기 중 어느 쪽이 더 무거웠지?”
- “③ 낮에 바닷가에서는 바람이 어느 쪽으로 불었지?”
정답
- ① 기압이 높은 곳에서 낮은 곳으로
- ② 차가운 공기
- ③ 바다에서 육지로
막히면
- ①②가 흔들리면 S22(보충)를 먼저 합니다. 보충으로도 어려우면 앞 차시 ‘날씨 요소’(KR22-G05-SCI-WEATHER-L01)의 S14·S15를 다시 봅니다.
주의
- ③을 ‘육지에서 바다로’라고 하면 앞 차시의 오해(바람 방향 거꾸로)가 남아 있는 것입니다. S22에서 규칙을 다시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온도와 온도계 읽는 방법]
목적: 온도의 뜻과 알코올 온도계를 읽는 차례를 그림으로 보여 줍니다(목표 A).
시간: 약 2분
이렇게 말해 보세요
- “온도는 차갑고 따뜻한 정도를 숫자로 나타낸 거야. 공기의 온도를 ‘기온’, 물의 온도를 ‘수온’, 몸의 온도를 ‘체온’이라고 해.”
- “빨간 액체 기둥이 끝난 곳을 봐. 20에서 작은 눈금을 몇 칸 더 갔어? 한 칸은 1 °C야.”
- “읽을 때는 기둥 끝과 눈의 높이를 맞춰. 위나 아래에서 비스듬히 보면 다르게 읽혀.”
예상 답
- “20에서 세 칸 더 가서 23이에요.” “섭씨 이십삼 도요.”
막히면
- 20에 손가락을 대고 작은 눈금을 하나씩 세며 21, 22, 23으로 따라가게 합니다.
주의
- °C(섭씨도)는 우리나라에서 쓰는 온도의 단위입니다. 수 뒤에 꼭 붙여 쓰게 합니다.
- 실제 온도계는 눈금 범위가 제품마다 다릅니다(예: −20~50 °C). 아이의 온도계에서 10마다 숫자가 쓰인 곳과 한 칸의 크기를 먼저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온도계 눈금 읽기 연습]
목적: 도움을 받으며 온도계 눈금을 1 °C 단위로 읽고 단위를 붙여 말합니다(목표 A).
시간: 약 2분
이렇게 말해 보세요
- “①은 10과 20 사이야. 20보다 작으니까 10에서 몇 칸 더 갔는지 세어 볼래?”
- “읽은 수 뒤에 무엇을 붙여야 하지?”
정답
- ① 18 °C
- ② 26 °C
- ③ 31 °C
막히면
- ①에서 20부터 거꾸로 세어 19, 18로 읽어도 됩니다. 긴 눈금은 5마다 있다는 것을 알려 주면 25, 30을 기준으로 쉽게 셉니다.
주의
- 답에 °C를 붙이지 않으면 다시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온도계 실험 전 예상하기]
목적: 온도계로 재기 전에 기온과, 손으로 감싸 쥐었을 때의 변화를 예상합니다(목표 A). 결과는 S06·S07에서 확인합니다.
시간: 약 1분
이렇게 말해 보세요
- “지금 이 방 공기는 몇 °C쯤일까?”
- “온도계 아래 둥근 부분을 손으로 1분 동안 꼭 감싸 쥐면 눈금은 어떻게 될까? 왜 그렇게 생각해?”
예상 답
- 어떤 예상이든 괜찮습니다. “20 °C쯤이요.” “올라갈 것 같아요. 손이 따뜻하니까요.” “그대로일 것 같아요.”
막히면
- “네 손은 차가워, 따뜻해?”라고 묻습니다.
주의
- 결과를 알려 주지 않습니다. ‘열이 이동한다’는 말도 아직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기온 재기와 손으로 감싼 온도계 관찰]
목적: 기온을 재고, 온도계를 손으로 감쌌을 때와 손을 뗐을 때의 눈금 변화를 관찰해 기록합니다(목표 A, 오해 M1).
시간: 약 3분
이렇게 말해 보세요
- “먼저 지금 방의 온도를 읽어 볼까? 눈높이를 맞췄어?”
- “이제 둥근 부분을 손으로 감싸 쥐고 1분 기다려 보자. 눈금이 어떻게 돼?”
- “손을 떼니까 어떻게 돼?”
예상 답
- 예: “처음엔 22 °C였는데 손으로 쥐니까 29 °C까지 올라갔어요.” “손을 떼니까 다시 내려가요.” (값은 하나의 예이며 방과 손의 온도에 따라 다릅니다.)
막히면
- 눈금이 천천히 올라가면 1분을 더 기다립니다. 손이 차가우면 손바닥을 비벼 따뜻하게 한 뒤 다시 해 봅니다.
주의
- 온도계를 쥘 때는 둥근 부분만 감싸고 유리관을 꺾지 않게 합니다.
- 디지털 온도계를 쓰면 끝부분(재는 곳)을 손으로 감쌉니다. 숫자가 바뀌는 것을 같은 방법으로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온도계 실험 결과 정리]
목적: 측정 결과를 정리하고 예상과 비교합니다(목표 A).
시간: 약 1분
이렇게 말해 보세요
- “세 줄을 차례로 말해 줄래? 예상과 같았어?”
- “온도계의 온도는 왜 올라갔을까?”
예상 답
- 예: 22 °C / 29 °C / 다시 내려갔어요. “손이 따뜻해서 온도계도 따뜻해졌어요.”
막히면
- 활동지 2의 숫자를 짚으며 읽게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결과로 설명하기(열의 이동 방향)]
목적: 온도계 실험 결과를 근거로 열이 온도가 높은 곳에서 낮은 곳으로 이동한다는 것을 정리합니다(목표 A).
시간: 약 2분
이렇게 말해 보세요
- “손과 온도계 중 어느 쪽 온도가 더 높았어? 열은 어느 쪽에서 어느 쪽으로 갔을까?”
- “뜨거운 국을 그릇에 담으면 그릇이 따뜻해지지? 열은 어디에서 어디로 갔을까?”
- “온도계를 계속 쥐고 있으면 온도계는 손보다 더 뜨거워질까?”
예상 답
- “손에서 온도계로요.” “국에서 그릇으로요.” “손이랑 비슷해질 때까지만 올라가요.”
막히면
- 화살표 방향을 손가락으로 따라가며 ‘더 따뜻한 쪽 → 더 차가운 쪽’을 소리 내어 말하게 합니다.
주의
- 온도계가 손의 온도보다 높아지지 않는 것은 두 온도가 같아지면 열의 이동이 멈추기 때문입니다. 아이가 물으면 그렇게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비교(차가움이 이동한다)]
목적: ‘차가움(냉기)이 이동한다’는 생각을 열의 이동 방향 규칙으로 바로잡습니다(목표 A, 오해 M1).
시간: 약 2분
이렇게 말해 보세요
- “손과 얼음 중 어느 쪽 온도가 높아? 그럼 열은 어디에서 어디로 갈까?”
- “온도계를 쥐었을 때 손의 열이 온도계로 갔지? 얼음을 쥘 때도 같아.”
정답
- 곰. 손이 얼음보다 온도가 높으므로 열이 손에서 얼음으로 이동합니다. 손은 열을 잃어 차가워지고, 얼음은 열을 받아 녹습니다.
막히면
- 얼음 한 조각을 손바닥에 10초쯤 올려 보게 하고 “얼음이 녹았지? 녹으려면 열이 필요해. 열은 어디서 왔을까?”라고 묻습니다.
주의
- 얼음은 오래 쥐지 않습니다. 10초 정도면 충분하고, 끝나면 손을 닦습니다.
- 지치면 여기서 쉬고,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숟가락 실험 전 예상하기]
목적: 숟가락 세 개의 손잡이가 어떻게 될지 예상합니다(목표 B). 결과는 S11·S12에서 확인합니다.
시간: 약 1분
이렇게 말해 보세요
- “세 숟가락을 따뜻한 물에 세워 두면, 물 밖으로 나온 손잡이는 어떻게 될까? 셋이 똑같을까?”
예상 답
- 어떤 예상이든 괜찮습니다. “다 따뜻해질 것 같아요.” “쇠숟가락만 뜨거워질 것 같아요.”
막히면
- “뜨거운 국에 넣은 숟가락을 잡아 본 적 있어?”라고 경험을 묻습니다.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숟가락 재질에 따른 열 전달 비교]
목적: 같은 물에 세운 금속·플라스틱·나무 숟가락의 손잡이를 만져 열이 전달되는 정도를 비교합니다(목표 B, 오해 M2).
시간: 약 3분
이렇게 말해 보세요
- “2분이 지났어. 컵 가장자리 바로 위의 손잡이를 손가락으로 살짝 잡아 볼래? 어느 숟가락이 가장 따뜻해?”
- “이번에는 손잡이 끝을 만져 봐. 컵 가까운 곳과 무엇이 달라?”
예상 답
- “금속 숟가락만 따뜻해요. 플라스틱이랑 나무는 그대로예요.” “금속 숟가락도 끝은 덜 따뜻해요.”
막히면
- 차이가 잘 느껴지지 않으면 1~2분 더 기다리고, 손가락을 컵 가장자리에 더 가까운(물에 닿지 않은) 곳에 대게 합니다.
주의
- 물은 김이 살짝 나는 정도로 식혀 컵의 반쯤만 붓습니다. 끓는 물은 쓰지 않습니다. 컵은 쟁반 위에 두고, 손잡이는 아이 반대쪽으로 둡니다.
- 스테인리스 숟가락은 손잡이 끝까지 열이 오는 데 시간이 걸립니다. 컵 가까운 쪽부터 따뜻해지는 것이 바로 열이 숟가락을 따라 이동하는 모습입니다.
- 숟가락의 길이와 굵기는 비슷한 것으로 고릅니다. 실험이 끝나면 물이 식은 뒤 부모가 치웁니다.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숟가락 실험 결과 정리]
목적: 숟가락 실험 결과를 정리하고 예상과 비교합니다(목표 B).
시간: 약 1분
이렇게 말해 보세요
- “한 줄씩 말해 줄래? 예상과 같았어?”
예상 답
- 금속: 컵 바로 위는 따뜻함, 끝은 조금 따뜻하거나 그대로 / 플라스틱: 그대로(또는 아주 조금) / 나무: 그대로
막히면
- 숟가락을 다시 만져 보게 합니다(꺼내지 않음).
주의
- 화면의 빈칸은 아이가 말로 채우는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결과로 설명하기(전도)]
목적: 숟가락 실험 결과를 근거로 전도의 뜻과 물질에 따른 차이를 정리합니다(목표 B).
시간: 약 2분
이렇게 말해 보세요
- “금속 숟가락은 물에 닿은 곳부터 따뜻해져서 위로 올라왔지? 고체에서 열이 이렇게 물질을 따라 이동하는 것을 ‘전도’라고 해.”
- “세 숟가락이 같은 물에 있었는데 왜 결과가 달랐을까?”
예상 답
- “금속은 열이 잘 전해져요.” “플라스틱이랑 나무는 열이 잘 안 전해져요.”
막히면
- S12 표의 ‘금속’ 줄과 ‘나무’ 줄을 나란히 짚어 비교하게 합니다.
주의
- 플라스틱과 나무에서도 열은 아주 조금 전도됩니다. ‘잘 전달되지 않는다’고 말하고 ‘전혀 안 된다’고 하지 않습니다.
- 금속끼리도 열이 전달되는 빠르기가 다릅니다(구리가 철보다 빠름). 교과서 실험에 나오면 그때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적용과 오해 비교(냄비 손잡이)]
목적: 숟가락 실험 결과를 생활 속 물건(냄비 손잡이)에 적용하고, 물질에 따라 열이 전달되는 정도가 다르다는 것을 확인합니다(목표 B, 오해 M2).
시간: 약 2분
이렇게 말해 보세요
- “금속 손잡이를 단 냄비로 국을 끓이면 손잡이는 어떻게 될까? 우리 실험에서 금속 숟가락은 어땠지?”
정답
- 곰. 증거: 금속 숟가락은 손잡이까지 따뜻해졌지만 플라스틱·나무 숟가락은 거의 그대로였습니다. 손잡이를 열이 잘 전달되지 않는 물질로 만들면 손을 데지 않습니다.
막히면
- 집에 있는 냄비나 프라이팬의 손잡이를 함께 보고 무엇으로 만들었는지 확인합니다(불 위에 있지 않은 차가운 것).
주의
- 냄비 몸통은 열이 잘 전달되어야 음식이 빨리 데워지므로 금속으로 만듭니다. 아이가 말하면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단열과 생활 속 예]
목적: 단열의 뜻과 생활 속 예를 전도와 연결해 정리합니다(목표 B).
시간: 약 2분
이렇게 말해 보세요
- “냄비 손잡이처럼 열이 잘 전달되지 않는 물질을 써서 열의 이동을 줄이는 것을 ‘단열’이라고 해.”
- “보온병에 넣은 물은 왜 오래 따뜻할까? 우리 집에서 단열을 한 물건을 하나 더 찾아볼래?”
예상 답
- “보온병은 열이 밖으로 잘 안 나가게 만들었어요.” “냄비 받침이요.” “문풍지요.”
막히면
- “이 물건이 없으면 무엇이 불편할까?”라고 물어 쓰임을 먼저 말하게 합니다.
주의
- 보온병은 두 겹의 벽 사이 공기를 거의 빼서(진공) 열의 이동을 줄입니다. 겨울옷과 이중창은 그 사이의 공기층이 열의 이동을 줄입니다. 아이가 물으면 ‘공기도 열을 잘 전달하지 않는다’고 답합니다.
- 아이스박스는 밖의 열이 안으로 들어오는 것을 막아 차가운 것을 차갑게 지킵니다.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대류(그림과 생활 예)]
목적: 액체와 기체에서 열이 이동하는 대류를 냄비와 방의 그림으로 설명합니다(목표 C, 오해 M3).
시간: 약 3분
이렇게 말해 보세요
- “지난 시간에 같은 부피라면 따뜻한 공기가 더 가볍다고 했지? 데워진 공기는 위로 올라가고, 위에 있던 차가운 공기는 아래로 내려와.”
- “냄비는 아래에서 데우지. 바닥의 물이 데워지면 어디로 갈까? 빨간 화살표를 따라가 볼래?”
- “물이나 공기처럼 흐르는 것에서 데워진 것이 위로 올라가고 차가운 것이 내려오며 열이 이동하는 것을 ‘대류’라고 해.”
예상 답
- “데워진 물이 위로 올라가요.” “위에 있던 물은 옆으로 가서 아래로 내려와요.”
막히면
- 빨간 화살표(데워진 것)와 파란 화살표(차가운 것)를 나누어 손가락으로 따라가게 합니다.
주의
- 교과서에서는 색깔 물이나 향 연기로 대류를 보지만, 이 차시에서는 그림과 생활 예로 대신합니다. 교과서 영상이 있으면 함께 봐도 좋습니다.
- 고체(숟가락)는 전도, 액체·기체(물, 공기)는 대류로 열이 이동한다고 구별합니다.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대류로 생활 속 위치 설명하기]
목적: 도움을 받으며 대류로 난로·에어컨의 위치와 냄비를 아래에서 데우는 까닭을 설명합니다(목표 C).
시간: 약 2분
이렇게 말해 보세요
- “난로를 천장에 달면 데워진 공기는 어디로 갈까? 아래로 내려올까?”
- “에어컨에서 나온 차가운 공기는 어디로 움직이지?”
정답
- ① 아래쪽. 데워진 공기가 위로 올라가고 차가운 공기가 내려오며 방 전체가 데워집니다.
- ② 위쪽. 차가운 공기가 아래로 내려오고 데워진 공기는 위로 올라가며 방 전체가 시원해집니다.
- ③ 바닥의 데워진 물이 위로 올라가고 위의 차가운 물이 내려오며 물 전체가 고르게 데워지기 때문입니다.
막히면
- S16의 방 그림에서 난로를 천장으로 옮긴다고 상상하게 하고 화살표가 어떻게 될지 묻습니다.
주의
- 벽걸이 에어컨·천장형 에어컨은 위에, 바닥 난방과 난로는 아래에 있다는 것을 집에서 함께 찾아보면 좋습니다(스탠드형 에어컨도 찬 바람을 위쪽으로 보내도록 날개를 올려 쓰면 좋습니다).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혼자 해결]
목적: 도움 없이 전도(①), 단열(②), 대류(③)로 생활 속 현상을 설명하는지 확인합니다(목표 B·C).
시간: 약 3분
이렇게 말해 보세요
- “이번에는 혼자 답해 볼래? 오늘 배운 말(전도, 단열, 대류)을 넣어서 말해 줘.”
정답
- ① 금속은 열이 잘 전달되어(전도) 불의 열이 음식으로 빨리 전해지기 때문입니다.
- ② 보온병이 열의 이동을 줄이도록(단열) 만들어져 안의 열이 밖으로 잘 빠져나가지 않기 때문입니다.
- ③ 방 안의 데워진 공기가 위로 올라가기 때문입니다(대류).
막히면
- 바로 알려 주지 말고 “오늘 실험이나 그림 중 무엇과 비슷해?”라고만 묻습니다.
- 도움을 받아 해결했다면 기록표에 ‘도움’으로 표시합니다.
주의
- 낱말(전도·단열·대류)을 말하지 못해도 까닭을 바르게 설명하면 맞은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금속은 열이 잘 전달되어서(전도) ② 열의 이동을 줄이게 만들어서(단열) ③ 데워진 공기가 위로 올라가서(대류)
막히면
- ①이 틀리면 S12·S13으로, ②가 틀리면 S15로, ③이 틀리면 S16·S17로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[S20 · 마무리 확인(열의 이동 방향과 온도 변화)]
목적: 처음 보는 상황에서 열이 이동하는 방향과 그 결과(두 온도가 가까워짐)를 말하는지 확인합니다(목표 A, 오해 M1).
시간: 약 2분
이렇게 말해 보세요
- “우유와 찬물 중 어느 쪽 온도가 높아? 열은 어디로 갈까? 10분 뒤에 우유와 찬물의 온도는 어떻게 될까?”
정답
- 가. 온도가 높은 우유에서 온도가 낮은 찬물로 열이 이동합니다. 우유의 온도는 내려가고 찬물의 온도는 올라가 두 온도가 점점 같아집니다.
막히면
- S08의 카드와 S09의 비교를 다시 보여 줍니다.
주의
- 나를 고르면 오해 M1입니다. ‘차가움’이 아니라 ‘열’이 이동한다는 것을 다시 짚습니다.
- 답만 맞히고 온도 변화를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[S21 · 정리와 다음 수업 복습]
목적: 핵심을 정리하고 다음 수업 첫 5분에 풀 복습 문제를 알려 줍니다.
시간: 약 1분
이렇게 말해 보세요
- “국에 넣어 둔 숟가락이 왜 뜨거워지는지 이제 설명해 볼래?”
예상 답
- “국의 열이 숟가락을 따라 손잡이까지 이동해서요. 전도예요.”
정답
- ① 23 °C(섭씨 이십삼 도) ② 나무는 열이 잘 전달되지 않아 손으로 열이 덜 오기 때문(단열) ③ 차가운 공기가 아래로 내려오고 데워진 공기가 위로 올라가 방 전체가 시원해지기 때문(대류)
막히면
- S08, S13, S16을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[S22 · 선수 학습 보충(차가운 공기와 따뜻한 공기, 바람)]
목적: S02가 흔들리면, 차가운 공기와 따뜻한 공기의 무게 차이와 바람의 방향을 다시 익힙니다. 오늘 대류(따뜻한 공기가 위로 올라감)를 이해하는 바탕입니다.
시간: 약 4분
이렇게 말해 보세요
- “같은 상자에 차가운 공기와 따뜻한 공기를 담으면 어느 쪽이 더 무거울까?”
- “바람은 기압이 높은 곳에서 낮은 곳으로 불어. 차가운 곳과 따뜻한 곳 중 바람은 어디에서 출발할까?”
예상 답
- “차가운 공기가 무거워요.” “차가운 곳에서 따뜻한 곳으로 불어요.”
막히면
- 냉장고 문을 잠깐 열고 문 아래쪽에 손을 대어 차가운 공기가 아래로 흘러나오는 것을 느끼게 합니다(곧 닫습니다).
주의
- 선수 차시는 ‘날씨 요소’(KR22-G05-SCI-WEATHER-L01)입니다. 보충으로도 어려우면 그 차시의 S14·S15를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날씨열에너지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열의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열의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열의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열의 이동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국에 넣어 둔 숟가락은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뜨거워질까?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알코올 온도계: 0부터 40까지 눈금, 빨간 액체 기둥이 23 °C를 가리킴"/>
          <p:cNvSpPr/>
          <p:nvPr/>
        </p:nvSpPr>
        <p:spPr>
          <a:xfrm>
            <a:off x="7970392" y="2131589"/>
            <a:ext cx="3368872" cy="126530"/>
          </a:xfrm>
          <a:custGeom>
            <a:avLst/>
            <a:gdLst/>
            <a:ahLst/>
            <a:cxnLst/>
            <a:rect l="l" t="t" r="r" b="b"/>
            <a:pathLst>
              <a:path w="3368872" h="126530">
                <a:moveTo>
                  <a:pt x="0" y="126530"/>
                </a:moveTo>
                <a:lnTo>
                  <a:pt x="3368872" y="126530"/>
                </a:lnTo>
                <a:lnTo>
                  <a:pt x="3368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70392" y="2167967"/>
            <a:ext cx="1913773" cy="53775"/>
          </a:xfrm>
          <a:custGeom>
            <a:avLst/>
            <a:gdLst/>
            <a:ahLst/>
            <a:cxnLst/>
            <a:rect l="l" t="t" r="r" b="b"/>
            <a:pathLst>
              <a:path w="1913773" h="53775">
                <a:moveTo>
                  <a:pt x="0" y="53775"/>
                </a:moveTo>
                <a:lnTo>
                  <a:pt x="1913773" y="53775"/>
                </a:lnTo>
                <a:lnTo>
                  <a:pt x="191377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7" name="S01-mark4"/>
          <p:cNvSpPr/>
          <p:nvPr/>
        </p:nvSpPr>
        <p:spPr>
          <a:xfrm>
            <a:off x="7764780" y="2068324"/>
            <a:ext cx="253061" cy="253061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065290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14437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8223453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830253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838161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8460697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853977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8618860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V="1">
            <a:off x="8697942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8777023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V="1">
            <a:off x="8856105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893518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 flipV="1">
            <a:off x="9014268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 flipV="1">
            <a:off x="909334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 flipV="1">
            <a:off x="917243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 flipV="1">
            <a:off x="9251512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 flipV="1">
            <a:off x="933059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 flipV="1">
            <a:off x="9409675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 flipV="1">
            <a:off x="9488757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 flipV="1">
            <a:off x="9567838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 flipV="1">
            <a:off x="9646920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1-mark26"/>
          <p:cNvSpPr/>
          <p:nvPr/>
        </p:nvSpPr>
        <p:spPr>
          <a:xfrm flipV="1">
            <a:off x="9726002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mark27"/>
          <p:cNvSpPr/>
          <p:nvPr/>
        </p:nvSpPr>
        <p:spPr>
          <a:xfrm flipV="1">
            <a:off x="9805083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mark28"/>
          <p:cNvSpPr/>
          <p:nvPr/>
        </p:nvSpPr>
        <p:spPr>
          <a:xfrm flipV="1">
            <a:off x="9884165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mark29"/>
          <p:cNvSpPr/>
          <p:nvPr/>
        </p:nvSpPr>
        <p:spPr>
          <a:xfrm flipV="1">
            <a:off x="996324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mark30"/>
          <p:cNvSpPr/>
          <p:nvPr/>
        </p:nvSpPr>
        <p:spPr>
          <a:xfrm flipV="1">
            <a:off x="10042328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1-mark31"/>
          <p:cNvSpPr/>
          <p:nvPr/>
        </p:nvSpPr>
        <p:spPr>
          <a:xfrm flipV="1">
            <a:off x="1012140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mark32"/>
          <p:cNvSpPr/>
          <p:nvPr/>
        </p:nvSpPr>
        <p:spPr>
          <a:xfrm flipV="1">
            <a:off x="1020049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mark33"/>
          <p:cNvSpPr/>
          <p:nvPr/>
        </p:nvSpPr>
        <p:spPr>
          <a:xfrm flipV="1">
            <a:off x="10279572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mark34"/>
          <p:cNvSpPr/>
          <p:nvPr/>
        </p:nvSpPr>
        <p:spPr>
          <a:xfrm flipV="1">
            <a:off x="1035865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mark35"/>
          <p:cNvSpPr/>
          <p:nvPr/>
        </p:nvSpPr>
        <p:spPr>
          <a:xfrm flipV="1">
            <a:off x="10437735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01-mark36"/>
          <p:cNvSpPr/>
          <p:nvPr/>
        </p:nvSpPr>
        <p:spPr>
          <a:xfrm flipV="1">
            <a:off x="10516817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mark37"/>
          <p:cNvSpPr/>
          <p:nvPr/>
        </p:nvSpPr>
        <p:spPr>
          <a:xfrm flipV="1">
            <a:off x="10595898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1-mark38"/>
          <p:cNvSpPr/>
          <p:nvPr/>
        </p:nvSpPr>
        <p:spPr>
          <a:xfrm flipV="1">
            <a:off x="10674980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mark39"/>
          <p:cNvSpPr/>
          <p:nvPr/>
        </p:nvSpPr>
        <p:spPr>
          <a:xfrm flipV="1">
            <a:off x="10754061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mark40"/>
          <p:cNvSpPr/>
          <p:nvPr/>
        </p:nvSpPr>
        <p:spPr>
          <a:xfrm flipV="1">
            <a:off x="10833143" y="2036692"/>
            <a:ext cx="0" cy="9489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4" name="S01-mark41"/>
          <p:cNvSpPr/>
          <p:nvPr/>
        </p:nvSpPr>
        <p:spPr>
          <a:xfrm flipV="1">
            <a:off x="10912224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mark42"/>
          <p:cNvSpPr/>
          <p:nvPr/>
        </p:nvSpPr>
        <p:spPr>
          <a:xfrm flipV="1">
            <a:off x="10991306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mark43"/>
          <p:cNvSpPr/>
          <p:nvPr/>
        </p:nvSpPr>
        <p:spPr>
          <a:xfrm flipV="1">
            <a:off x="11070387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mark44"/>
          <p:cNvSpPr/>
          <p:nvPr/>
        </p:nvSpPr>
        <p:spPr>
          <a:xfrm flipV="1">
            <a:off x="11149469" y="2077814"/>
            <a:ext cx="0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mark45"/>
          <p:cNvSpPr/>
          <p:nvPr/>
        </p:nvSpPr>
        <p:spPr>
          <a:xfrm flipV="1">
            <a:off x="11228550" y="1998732"/>
            <a:ext cx="0" cy="13285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9" name="S01-label47"/>
          <p:cNvSpPr txBox="1"/>
          <p:nvPr/>
        </p:nvSpPr>
        <p:spPr>
          <a:xfrm>
            <a:off x="7918224" y="171023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0" name="S01-label49"/>
          <p:cNvSpPr txBox="1"/>
          <p:nvPr/>
        </p:nvSpPr>
        <p:spPr>
          <a:xfrm>
            <a:off x="8616837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51" name="S01-label51"/>
          <p:cNvSpPr txBox="1"/>
          <p:nvPr/>
        </p:nvSpPr>
        <p:spPr>
          <a:xfrm>
            <a:off x="9407652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52" name="S01-label53"/>
          <p:cNvSpPr txBox="1"/>
          <p:nvPr/>
        </p:nvSpPr>
        <p:spPr>
          <a:xfrm>
            <a:off x="10198467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53" name="S01-label55"/>
          <p:cNvSpPr txBox="1"/>
          <p:nvPr/>
        </p:nvSpPr>
        <p:spPr>
          <a:xfrm>
            <a:off x="10989282" y="171023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54" name="S01-label57"/>
          <p:cNvSpPr txBox="1"/>
          <p:nvPr/>
        </p:nvSpPr>
        <p:spPr>
          <a:xfrm>
            <a:off x="11323320" y="1710230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55" name="S01-card5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6" name="S01-cardtext5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온도계로 온도를 재고, 열이 이동하는 방향을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전도와 대류로 열이 이동하는 모습을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6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6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어디에서 어디로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불까요?</a:t>
            </a:r>
            <a:endParaRPr lang="ko-KR" sz="2800" dirty="0"/>
          </a:p>
        </p:txBody>
      </p:sp>
      <p:sp>
        <p:nvSpPr>
          <p:cNvPr id="5" name="S02-chip6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부피라면 차가운 공기와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공기 중 무거운 것은?</a:t>
            </a:r>
            <a:endParaRPr lang="ko-KR" sz="2800" dirty="0"/>
          </a:p>
        </p:txBody>
      </p:sp>
      <p:sp>
        <p:nvSpPr>
          <p:cNvPr id="7" name="S02-chip6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6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 바닷가에서 바람은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어디로 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온도계를 읽어요</a:t>
            </a:r>
            <a:endParaRPr lang="ko-KR" sz="4000" dirty="0"/>
          </a:p>
        </p:txBody>
      </p:sp>
      <p:sp>
        <p:nvSpPr>
          <p:cNvPr id="3" name="S03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온도: 차갑고 따뜻한 정도를 숫자로 나타낸 것</a:t>
            </a:r>
            <a:endParaRPr lang="ko-KR" sz="2800" dirty="0"/>
          </a:p>
        </p:txBody>
      </p:sp>
      <p:sp>
        <p:nvSpPr>
          <p:cNvPr id="4" name="S03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°C는 ‘섭씨 이십삼 도’라고 읽어요.</a:t>
            </a:r>
            <a:endParaRPr lang="ko-KR" sz="2800" dirty="0"/>
          </a:p>
        </p:txBody>
      </p:sp>
      <p:sp>
        <p:nvSpPr>
          <p:cNvPr id="6" name="S03-card69"/>
          <p:cNvSpPr/>
          <p:nvPr/>
        </p:nvSpPr>
        <p:spPr>
          <a:xfrm>
            <a:off x="548640" y="359968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70"/>
          <p:cNvSpPr txBox="1"/>
          <p:nvPr/>
        </p:nvSpPr>
        <p:spPr>
          <a:xfrm>
            <a:off x="822960" y="373684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 기둥이 멈출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때까지 기다려요.</a:t>
            </a:r>
            <a:endParaRPr lang="ko-KR" sz="2800" dirty="0"/>
          </a:p>
        </p:txBody>
      </p:sp>
      <p:sp>
        <p:nvSpPr>
          <p:cNvPr id="8" name="S03-card71"/>
          <p:cNvSpPr/>
          <p:nvPr/>
        </p:nvSpPr>
        <p:spPr>
          <a:xfrm>
            <a:off x="4322064" y="359968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72"/>
          <p:cNvSpPr txBox="1"/>
          <p:nvPr/>
        </p:nvSpPr>
        <p:spPr>
          <a:xfrm>
            <a:off x="4596384" y="373684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기둥 끝과 눈높이를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맞춰요.</a:t>
            </a:r>
            <a:endParaRPr lang="ko-KR" sz="2800" dirty="0"/>
          </a:p>
        </p:txBody>
      </p:sp>
      <p:sp>
        <p:nvSpPr>
          <p:cNvPr id="10" name="S03-card73"/>
          <p:cNvSpPr/>
          <p:nvPr/>
        </p:nvSpPr>
        <p:spPr>
          <a:xfrm>
            <a:off x="8095488" y="359968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74"/>
          <p:cNvSpPr txBox="1"/>
          <p:nvPr/>
        </p:nvSpPr>
        <p:spPr>
          <a:xfrm>
            <a:off x="8369808" y="373684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눈금을 읽고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°C를 붙여요.</a:t>
            </a:r>
            <a:endParaRPr lang="ko-KR" sz="2800" dirty="0"/>
          </a:p>
        </p:txBody>
      </p:sp>
      <p:sp>
        <p:nvSpPr>
          <p:cNvPr id="12" name="S03-figure75" descr="알코올 온도계: 0부터 40까지 1 °C마다 눈금, 10마다 숫자. 빨간 액체 기둥 끝이 23 °C"/>
          <p:cNvSpPr/>
          <p:nvPr/>
        </p:nvSpPr>
        <p:spPr>
          <a:xfrm>
            <a:off x="1517396" y="2769108"/>
            <a:ext cx="9197340" cy="345440"/>
          </a:xfrm>
          <a:custGeom>
            <a:avLst/>
            <a:gdLst/>
            <a:ahLst/>
            <a:cxnLst/>
            <a:rect l="l" t="t" r="r" b="b"/>
            <a:pathLst>
              <a:path w="9197340" h="345440">
                <a:moveTo>
                  <a:pt x="0" y="345440"/>
                </a:moveTo>
                <a:lnTo>
                  <a:pt x="9197340" y="345440"/>
                </a:lnTo>
                <a:lnTo>
                  <a:pt x="9197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76"/>
          <p:cNvSpPr/>
          <p:nvPr/>
        </p:nvSpPr>
        <p:spPr>
          <a:xfrm>
            <a:off x="1517396" y="2868422"/>
            <a:ext cx="5224780" cy="146812"/>
          </a:xfrm>
          <a:custGeom>
            <a:avLst/>
            <a:gdLst/>
            <a:ahLst/>
            <a:cxnLst/>
            <a:rect l="l" t="t" r="r" b="b"/>
            <a:pathLst>
              <a:path w="5224780" h="146812">
                <a:moveTo>
                  <a:pt x="0" y="146812"/>
                </a:moveTo>
                <a:lnTo>
                  <a:pt x="5224780" y="146812"/>
                </a:lnTo>
                <a:lnTo>
                  <a:pt x="522478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14" name="S03-mark77"/>
          <p:cNvSpPr/>
          <p:nvPr/>
        </p:nvSpPr>
        <p:spPr>
          <a:xfrm>
            <a:off x="956056" y="2596388"/>
            <a:ext cx="690880" cy="690880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mark78"/>
          <p:cNvSpPr/>
          <p:nvPr/>
        </p:nvSpPr>
        <p:spPr>
          <a:xfrm flipV="1">
            <a:off x="1776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3-mark79"/>
          <p:cNvSpPr/>
          <p:nvPr/>
        </p:nvSpPr>
        <p:spPr>
          <a:xfrm flipV="1">
            <a:off x="1992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80"/>
          <p:cNvSpPr/>
          <p:nvPr/>
        </p:nvSpPr>
        <p:spPr>
          <a:xfrm flipV="1">
            <a:off x="2208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mark81"/>
          <p:cNvSpPr/>
          <p:nvPr/>
        </p:nvSpPr>
        <p:spPr>
          <a:xfrm flipV="1">
            <a:off x="2424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82"/>
          <p:cNvSpPr/>
          <p:nvPr/>
        </p:nvSpPr>
        <p:spPr>
          <a:xfrm flipV="1">
            <a:off x="2640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mark83"/>
          <p:cNvSpPr/>
          <p:nvPr/>
        </p:nvSpPr>
        <p:spPr>
          <a:xfrm flipV="1">
            <a:off x="2855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3-mark84"/>
          <p:cNvSpPr/>
          <p:nvPr/>
        </p:nvSpPr>
        <p:spPr>
          <a:xfrm flipV="1">
            <a:off x="3071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mark85"/>
          <p:cNvSpPr/>
          <p:nvPr/>
        </p:nvSpPr>
        <p:spPr>
          <a:xfrm flipV="1">
            <a:off x="3287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86"/>
          <p:cNvSpPr/>
          <p:nvPr/>
        </p:nvSpPr>
        <p:spPr>
          <a:xfrm flipV="1">
            <a:off x="3503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mark87"/>
          <p:cNvSpPr/>
          <p:nvPr/>
        </p:nvSpPr>
        <p:spPr>
          <a:xfrm flipV="1">
            <a:off x="3719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mark88"/>
          <p:cNvSpPr/>
          <p:nvPr/>
        </p:nvSpPr>
        <p:spPr>
          <a:xfrm flipV="1">
            <a:off x="3935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3-mark89"/>
          <p:cNvSpPr/>
          <p:nvPr/>
        </p:nvSpPr>
        <p:spPr>
          <a:xfrm flipV="1">
            <a:off x="4151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90"/>
          <p:cNvSpPr/>
          <p:nvPr/>
        </p:nvSpPr>
        <p:spPr>
          <a:xfrm flipV="1">
            <a:off x="4367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mark91"/>
          <p:cNvSpPr/>
          <p:nvPr/>
        </p:nvSpPr>
        <p:spPr>
          <a:xfrm flipV="1">
            <a:off x="4583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92"/>
          <p:cNvSpPr/>
          <p:nvPr/>
        </p:nvSpPr>
        <p:spPr>
          <a:xfrm flipV="1">
            <a:off x="4799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mark93"/>
          <p:cNvSpPr/>
          <p:nvPr/>
        </p:nvSpPr>
        <p:spPr>
          <a:xfrm flipV="1">
            <a:off x="5014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3-mark94"/>
          <p:cNvSpPr/>
          <p:nvPr/>
        </p:nvSpPr>
        <p:spPr>
          <a:xfrm flipV="1">
            <a:off x="5230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mark95"/>
          <p:cNvSpPr/>
          <p:nvPr/>
        </p:nvSpPr>
        <p:spPr>
          <a:xfrm flipV="1">
            <a:off x="5446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mark96"/>
          <p:cNvSpPr/>
          <p:nvPr/>
        </p:nvSpPr>
        <p:spPr>
          <a:xfrm flipV="1">
            <a:off x="5662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mark97"/>
          <p:cNvSpPr/>
          <p:nvPr/>
        </p:nvSpPr>
        <p:spPr>
          <a:xfrm flipV="1">
            <a:off x="5878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98"/>
          <p:cNvSpPr/>
          <p:nvPr/>
        </p:nvSpPr>
        <p:spPr>
          <a:xfrm flipV="1">
            <a:off x="6094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3-mark99"/>
          <p:cNvSpPr/>
          <p:nvPr/>
        </p:nvSpPr>
        <p:spPr>
          <a:xfrm flipV="1">
            <a:off x="6310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100"/>
          <p:cNvSpPr/>
          <p:nvPr/>
        </p:nvSpPr>
        <p:spPr>
          <a:xfrm flipV="1">
            <a:off x="6526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01"/>
          <p:cNvSpPr/>
          <p:nvPr/>
        </p:nvSpPr>
        <p:spPr>
          <a:xfrm flipV="1">
            <a:off x="6742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102"/>
          <p:cNvSpPr/>
          <p:nvPr/>
        </p:nvSpPr>
        <p:spPr>
          <a:xfrm flipV="1">
            <a:off x="6958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mark103"/>
          <p:cNvSpPr/>
          <p:nvPr/>
        </p:nvSpPr>
        <p:spPr>
          <a:xfrm flipV="1">
            <a:off x="7173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3-mark104"/>
          <p:cNvSpPr/>
          <p:nvPr/>
        </p:nvSpPr>
        <p:spPr>
          <a:xfrm flipV="1">
            <a:off x="7389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mark105"/>
          <p:cNvSpPr/>
          <p:nvPr/>
        </p:nvSpPr>
        <p:spPr>
          <a:xfrm flipV="1">
            <a:off x="7605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mark106"/>
          <p:cNvSpPr/>
          <p:nvPr/>
        </p:nvSpPr>
        <p:spPr>
          <a:xfrm flipV="1">
            <a:off x="7821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mark107"/>
          <p:cNvSpPr/>
          <p:nvPr/>
        </p:nvSpPr>
        <p:spPr>
          <a:xfrm flipV="1">
            <a:off x="8037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mark108"/>
          <p:cNvSpPr/>
          <p:nvPr/>
        </p:nvSpPr>
        <p:spPr>
          <a:xfrm flipV="1">
            <a:off x="8253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6" name="S03-mark109"/>
          <p:cNvSpPr/>
          <p:nvPr/>
        </p:nvSpPr>
        <p:spPr>
          <a:xfrm flipV="1">
            <a:off x="84693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mark110"/>
          <p:cNvSpPr/>
          <p:nvPr/>
        </p:nvSpPr>
        <p:spPr>
          <a:xfrm flipV="1">
            <a:off x="86852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mark111"/>
          <p:cNvSpPr/>
          <p:nvPr/>
        </p:nvSpPr>
        <p:spPr>
          <a:xfrm flipV="1">
            <a:off x="89011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mark112"/>
          <p:cNvSpPr/>
          <p:nvPr/>
        </p:nvSpPr>
        <p:spPr>
          <a:xfrm flipV="1">
            <a:off x="91170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mark113"/>
          <p:cNvSpPr/>
          <p:nvPr/>
        </p:nvSpPr>
        <p:spPr>
          <a:xfrm flipV="1">
            <a:off x="9332976" y="2510028"/>
            <a:ext cx="0" cy="25908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1" name="S03-mark114"/>
          <p:cNvSpPr/>
          <p:nvPr/>
        </p:nvSpPr>
        <p:spPr>
          <a:xfrm flipV="1">
            <a:off x="95488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mark115"/>
          <p:cNvSpPr/>
          <p:nvPr/>
        </p:nvSpPr>
        <p:spPr>
          <a:xfrm flipV="1">
            <a:off x="97647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mark116"/>
          <p:cNvSpPr/>
          <p:nvPr/>
        </p:nvSpPr>
        <p:spPr>
          <a:xfrm flipV="1">
            <a:off x="99806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mark117"/>
          <p:cNvSpPr/>
          <p:nvPr/>
        </p:nvSpPr>
        <p:spPr>
          <a:xfrm flipV="1">
            <a:off x="10196576" y="2622296"/>
            <a:ext cx="0" cy="1468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mark118"/>
          <p:cNvSpPr/>
          <p:nvPr/>
        </p:nvSpPr>
        <p:spPr>
          <a:xfrm flipV="1">
            <a:off x="10412476" y="2406396"/>
            <a:ext cx="0" cy="36271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6" name="S03-label120"/>
          <p:cNvSpPr txBox="1"/>
          <p:nvPr/>
        </p:nvSpPr>
        <p:spPr>
          <a:xfrm>
            <a:off x="1629410" y="1920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7" name="S03-label122"/>
          <p:cNvSpPr txBox="1"/>
          <p:nvPr/>
        </p:nvSpPr>
        <p:spPr>
          <a:xfrm>
            <a:off x="3696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58" name="S03-label124"/>
          <p:cNvSpPr txBox="1"/>
          <p:nvPr/>
        </p:nvSpPr>
        <p:spPr>
          <a:xfrm>
            <a:off x="5855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59" name="S03-label126"/>
          <p:cNvSpPr txBox="1"/>
          <p:nvPr/>
        </p:nvSpPr>
        <p:spPr>
          <a:xfrm>
            <a:off x="8014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60" name="S03-label128"/>
          <p:cNvSpPr txBox="1"/>
          <p:nvPr/>
        </p:nvSpPr>
        <p:spPr>
          <a:xfrm>
            <a:off x="1017320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61" name="S03-label130"/>
          <p:cNvSpPr txBox="1"/>
          <p:nvPr/>
        </p:nvSpPr>
        <p:spPr>
          <a:xfrm>
            <a:off x="11027156" y="192087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°C일까요?</a:t>
            </a:r>
            <a:endParaRPr lang="ko-KR" sz="4000" dirty="0"/>
          </a:p>
        </p:txBody>
      </p:sp>
      <p:sp>
        <p:nvSpPr>
          <p:cNvPr id="3" name="S04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 기둥 끝의 눈금을 읽어요.</a:t>
            </a:r>
            <a:endParaRPr lang="ko-KR" sz="2800" dirty="0"/>
          </a:p>
        </p:txBody>
      </p:sp>
      <p:sp>
        <p:nvSpPr>
          <p:cNvPr id="4" name="S04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10마다 쓰인 숫자에서 작은 눈금을 세요.</a:t>
            </a:r>
            <a:endParaRPr lang="ko-KR" sz="2800" dirty="0"/>
          </a:p>
        </p:txBody>
      </p:sp>
      <p:sp>
        <p:nvSpPr>
          <p:cNvPr id="6" name="S04-chip13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4-figure135" descr="온도계: 액체 기둥 끝이 18 °C"/>
          <p:cNvSpPr/>
          <p:nvPr/>
        </p:nvSpPr>
        <p:spPr>
          <a:xfrm>
            <a:off x="3624249" y="2517582"/>
            <a:ext cx="5763039" cy="216452"/>
          </a:xfrm>
          <a:custGeom>
            <a:avLst/>
            <a:gdLst/>
            <a:ahLst/>
            <a:cxnLst/>
            <a:rect l="l" t="t" r="r" b="b"/>
            <a:pathLst>
              <a:path w="5763039" h="216452">
                <a:moveTo>
                  <a:pt x="0" y="216452"/>
                </a:moveTo>
                <a:lnTo>
                  <a:pt x="5763039" y="216452"/>
                </a:lnTo>
                <a:lnTo>
                  <a:pt x="5763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36"/>
          <p:cNvSpPr/>
          <p:nvPr/>
        </p:nvSpPr>
        <p:spPr>
          <a:xfrm>
            <a:off x="3624249" y="2579812"/>
            <a:ext cx="2597426" cy="91992"/>
          </a:xfrm>
          <a:custGeom>
            <a:avLst/>
            <a:gdLst/>
            <a:ahLst/>
            <a:cxnLst/>
            <a:rect l="l" t="t" r="r" b="b"/>
            <a:pathLst>
              <a:path w="2597426" h="91992">
                <a:moveTo>
                  <a:pt x="0" y="91992"/>
                </a:moveTo>
                <a:lnTo>
                  <a:pt x="2597426" y="91992"/>
                </a:lnTo>
                <a:lnTo>
                  <a:pt x="25974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9" name="S04-mark137"/>
          <p:cNvSpPr/>
          <p:nvPr/>
        </p:nvSpPr>
        <p:spPr>
          <a:xfrm>
            <a:off x="3272514" y="2409356"/>
            <a:ext cx="432904" cy="432904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138"/>
          <p:cNvSpPr/>
          <p:nvPr/>
        </p:nvSpPr>
        <p:spPr>
          <a:xfrm flipV="1">
            <a:off x="3786588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139"/>
          <p:cNvSpPr/>
          <p:nvPr/>
        </p:nvSpPr>
        <p:spPr>
          <a:xfrm flipV="1">
            <a:off x="392187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mark140"/>
          <p:cNvSpPr/>
          <p:nvPr/>
        </p:nvSpPr>
        <p:spPr>
          <a:xfrm flipV="1">
            <a:off x="405715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mark141"/>
          <p:cNvSpPr/>
          <p:nvPr/>
        </p:nvSpPr>
        <p:spPr>
          <a:xfrm flipV="1">
            <a:off x="4192436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mark142"/>
          <p:cNvSpPr/>
          <p:nvPr/>
        </p:nvSpPr>
        <p:spPr>
          <a:xfrm flipV="1">
            <a:off x="4327718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mark143"/>
          <p:cNvSpPr/>
          <p:nvPr/>
        </p:nvSpPr>
        <p:spPr>
          <a:xfrm flipV="1">
            <a:off x="4463001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4-mark144"/>
          <p:cNvSpPr/>
          <p:nvPr/>
        </p:nvSpPr>
        <p:spPr>
          <a:xfrm flipV="1">
            <a:off x="459828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mark145"/>
          <p:cNvSpPr/>
          <p:nvPr/>
        </p:nvSpPr>
        <p:spPr>
          <a:xfrm flipV="1">
            <a:off x="4733566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mark146"/>
          <p:cNvSpPr/>
          <p:nvPr/>
        </p:nvSpPr>
        <p:spPr>
          <a:xfrm flipV="1">
            <a:off x="4868849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mark147"/>
          <p:cNvSpPr/>
          <p:nvPr/>
        </p:nvSpPr>
        <p:spPr>
          <a:xfrm flipV="1">
            <a:off x="5004131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mark148"/>
          <p:cNvSpPr/>
          <p:nvPr/>
        </p:nvSpPr>
        <p:spPr>
          <a:xfrm flipV="1">
            <a:off x="5139414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149"/>
          <p:cNvSpPr/>
          <p:nvPr/>
        </p:nvSpPr>
        <p:spPr>
          <a:xfrm flipV="1">
            <a:off x="527469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mark150"/>
          <p:cNvSpPr/>
          <p:nvPr/>
        </p:nvSpPr>
        <p:spPr>
          <a:xfrm flipV="1">
            <a:off x="5409979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mark151"/>
          <p:cNvSpPr/>
          <p:nvPr/>
        </p:nvSpPr>
        <p:spPr>
          <a:xfrm flipV="1">
            <a:off x="5545262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mark152"/>
          <p:cNvSpPr/>
          <p:nvPr/>
        </p:nvSpPr>
        <p:spPr>
          <a:xfrm flipV="1">
            <a:off x="5680544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mark153"/>
          <p:cNvSpPr/>
          <p:nvPr/>
        </p:nvSpPr>
        <p:spPr>
          <a:xfrm flipV="1">
            <a:off x="5815827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4-mark154"/>
          <p:cNvSpPr/>
          <p:nvPr/>
        </p:nvSpPr>
        <p:spPr>
          <a:xfrm flipV="1">
            <a:off x="595111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mark155"/>
          <p:cNvSpPr/>
          <p:nvPr/>
        </p:nvSpPr>
        <p:spPr>
          <a:xfrm flipV="1">
            <a:off x="6086392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mark156"/>
          <p:cNvSpPr/>
          <p:nvPr/>
        </p:nvSpPr>
        <p:spPr>
          <a:xfrm flipV="1">
            <a:off x="6221675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mark157"/>
          <p:cNvSpPr/>
          <p:nvPr/>
        </p:nvSpPr>
        <p:spPr>
          <a:xfrm flipV="1">
            <a:off x="635695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mark158"/>
          <p:cNvSpPr/>
          <p:nvPr/>
        </p:nvSpPr>
        <p:spPr>
          <a:xfrm flipV="1">
            <a:off x="6492240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4-mark159"/>
          <p:cNvSpPr/>
          <p:nvPr/>
        </p:nvSpPr>
        <p:spPr>
          <a:xfrm flipV="1">
            <a:off x="662752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mark160"/>
          <p:cNvSpPr/>
          <p:nvPr/>
        </p:nvSpPr>
        <p:spPr>
          <a:xfrm flipV="1">
            <a:off x="6762805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mark161"/>
          <p:cNvSpPr/>
          <p:nvPr/>
        </p:nvSpPr>
        <p:spPr>
          <a:xfrm flipV="1">
            <a:off x="6898088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mark162"/>
          <p:cNvSpPr/>
          <p:nvPr/>
        </p:nvSpPr>
        <p:spPr>
          <a:xfrm flipV="1">
            <a:off x="703337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mark163"/>
          <p:cNvSpPr/>
          <p:nvPr/>
        </p:nvSpPr>
        <p:spPr>
          <a:xfrm flipV="1">
            <a:off x="7168653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4-mark164"/>
          <p:cNvSpPr/>
          <p:nvPr/>
        </p:nvSpPr>
        <p:spPr>
          <a:xfrm flipV="1">
            <a:off x="7303936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mark165"/>
          <p:cNvSpPr/>
          <p:nvPr/>
        </p:nvSpPr>
        <p:spPr>
          <a:xfrm flipV="1">
            <a:off x="7439218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mark166"/>
          <p:cNvSpPr/>
          <p:nvPr/>
        </p:nvSpPr>
        <p:spPr>
          <a:xfrm flipV="1">
            <a:off x="7574501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mark167"/>
          <p:cNvSpPr/>
          <p:nvPr/>
        </p:nvSpPr>
        <p:spPr>
          <a:xfrm flipV="1">
            <a:off x="7709783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mark168"/>
          <p:cNvSpPr/>
          <p:nvPr/>
        </p:nvSpPr>
        <p:spPr>
          <a:xfrm flipV="1">
            <a:off x="7845066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4-mark169"/>
          <p:cNvSpPr/>
          <p:nvPr/>
        </p:nvSpPr>
        <p:spPr>
          <a:xfrm flipV="1">
            <a:off x="7980349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mark170"/>
          <p:cNvSpPr/>
          <p:nvPr/>
        </p:nvSpPr>
        <p:spPr>
          <a:xfrm flipV="1">
            <a:off x="8115631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mark171"/>
          <p:cNvSpPr/>
          <p:nvPr/>
        </p:nvSpPr>
        <p:spPr>
          <a:xfrm flipV="1">
            <a:off x="8250914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mark172"/>
          <p:cNvSpPr/>
          <p:nvPr/>
        </p:nvSpPr>
        <p:spPr>
          <a:xfrm flipV="1">
            <a:off x="838619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mark173"/>
          <p:cNvSpPr/>
          <p:nvPr/>
        </p:nvSpPr>
        <p:spPr>
          <a:xfrm flipV="1">
            <a:off x="8521479" y="235524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6" name="S04-mark174"/>
          <p:cNvSpPr/>
          <p:nvPr/>
        </p:nvSpPr>
        <p:spPr>
          <a:xfrm flipV="1">
            <a:off x="8656762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mark175"/>
          <p:cNvSpPr/>
          <p:nvPr/>
        </p:nvSpPr>
        <p:spPr>
          <a:xfrm flipV="1">
            <a:off x="8792044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mark176"/>
          <p:cNvSpPr/>
          <p:nvPr/>
        </p:nvSpPr>
        <p:spPr>
          <a:xfrm flipV="1">
            <a:off x="8927327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mark177"/>
          <p:cNvSpPr/>
          <p:nvPr/>
        </p:nvSpPr>
        <p:spPr>
          <a:xfrm flipV="1">
            <a:off x="9062610" y="242559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mark178"/>
          <p:cNvSpPr/>
          <p:nvPr/>
        </p:nvSpPr>
        <p:spPr>
          <a:xfrm flipV="1">
            <a:off x="9197892" y="229030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1" name="S04-label180"/>
          <p:cNvSpPr txBox="1"/>
          <p:nvPr/>
        </p:nvSpPr>
        <p:spPr>
          <a:xfrm>
            <a:off x="3639522" y="1920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2" name="S04-label182"/>
          <p:cNvSpPr txBox="1"/>
          <p:nvPr/>
        </p:nvSpPr>
        <p:spPr>
          <a:xfrm>
            <a:off x="4900146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53" name="S04-label184"/>
          <p:cNvSpPr txBox="1"/>
          <p:nvPr/>
        </p:nvSpPr>
        <p:spPr>
          <a:xfrm>
            <a:off x="6252972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54" name="S04-label186"/>
          <p:cNvSpPr txBox="1"/>
          <p:nvPr/>
        </p:nvSpPr>
        <p:spPr>
          <a:xfrm>
            <a:off x="7605798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55" name="S04-label188"/>
          <p:cNvSpPr txBox="1"/>
          <p:nvPr/>
        </p:nvSpPr>
        <p:spPr>
          <a:xfrm>
            <a:off x="8958624" y="192087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56" name="S04-label190"/>
          <p:cNvSpPr txBox="1"/>
          <p:nvPr/>
        </p:nvSpPr>
        <p:spPr>
          <a:xfrm>
            <a:off x="9506226" y="192087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57" name="S04-chip19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58" name="S04-figure192" descr="온도계: 액체 기둥 끝이 26 °C"/>
          <p:cNvSpPr/>
          <p:nvPr/>
        </p:nvSpPr>
        <p:spPr>
          <a:xfrm>
            <a:off x="3624249" y="3614862"/>
            <a:ext cx="5763039" cy="216452"/>
          </a:xfrm>
          <a:custGeom>
            <a:avLst/>
            <a:gdLst/>
            <a:ahLst/>
            <a:cxnLst/>
            <a:rect l="l" t="t" r="r" b="b"/>
            <a:pathLst>
              <a:path w="5763039" h="216452">
                <a:moveTo>
                  <a:pt x="0" y="216452"/>
                </a:moveTo>
                <a:lnTo>
                  <a:pt x="5763039" y="216452"/>
                </a:lnTo>
                <a:lnTo>
                  <a:pt x="5763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4-mark193"/>
          <p:cNvSpPr/>
          <p:nvPr/>
        </p:nvSpPr>
        <p:spPr>
          <a:xfrm>
            <a:off x="3624249" y="3677092"/>
            <a:ext cx="3679687" cy="91992"/>
          </a:xfrm>
          <a:custGeom>
            <a:avLst/>
            <a:gdLst/>
            <a:ahLst/>
            <a:cxnLst/>
            <a:rect l="l" t="t" r="r" b="b"/>
            <a:pathLst>
              <a:path w="3679687" h="91992">
                <a:moveTo>
                  <a:pt x="0" y="91992"/>
                </a:moveTo>
                <a:lnTo>
                  <a:pt x="3679687" y="91992"/>
                </a:lnTo>
                <a:lnTo>
                  <a:pt x="367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60" name="S04-mark194"/>
          <p:cNvSpPr/>
          <p:nvPr/>
        </p:nvSpPr>
        <p:spPr>
          <a:xfrm>
            <a:off x="3272514" y="3506636"/>
            <a:ext cx="432904" cy="432904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4-mark195"/>
          <p:cNvSpPr/>
          <p:nvPr/>
        </p:nvSpPr>
        <p:spPr>
          <a:xfrm flipV="1">
            <a:off x="3786588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2" name="S04-mark196"/>
          <p:cNvSpPr/>
          <p:nvPr/>
        </p:nvSpPr>
        <p:spPr>
          <a:xfrm flipV="1">
            <a:off x="392187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mark197"/>
          <p:cNvSpPr/>
          <p:nvPr/>
        </p:nvSpPr>
        <p:spPr>
          <a:xfrm flipV="1">
            <a:off x="405715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mark198"/>
          <p:cNvSpPr/>
          <p:nvPr/>
        </p:nvSpPr>
        <p:spPr>
          <a:xfrm flipV="1">
            <a:off x="4192436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mark199"/>
          <p:cNvSpPr/>
          <p:nvPr/>
        </p:nvSpPr>
        <p:spPr>
          <a:xfrm flipV="1">
            <a:off x="4327718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mark200"/>
          <p:cNvSpPr/>
          <p:nvPr/>
        </p:nvSpPr>
        <p:spPr>
          <a:xfrm flipV="1">
            <a:off x="4463001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7" name="S04-mark201"/>
          <p:cNvSpPr/>
          <p:nvPr/>
        </p:nvSpPr>
        <p:spPr>
          <a:xfrm flipV="1">
            <a:off x="459828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mark202"/>
          <p:cNvSpPr/>
          <p:nvPr/>
        </p:nvSpPr>
        <p:spPr>
          <a:xfrm flipV="1">
            <a:off x="4733566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mark203"/>
          <p:cNvSpPr/>
          <p:nvPr/>
        </p:nvSpPr>
        <p:spPr>
          <a:xfrm flipV="1">
            <a:off x="4868849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mark204"/>
          <p:cNvSpPr/>
          <p:nvPr/>
        </p:nvSpPr>
        <p:spPr>
          <a:xfrm flipV="1">
            <a:off x="5004131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mark205"/>
          <p:cNvSpPr/>
          <p:nvPr/>
        </p:nvSpPr>
        <p:spPr>
          <a:xfrm flipV="1">
            <a:off x="5139414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2" name="S04-mark206"/>
          <p:cNvSpPr/>
          <p:nvPr/>
        </p:nvSpPr>
        <p:spPr>
          <a:xfrm flipV="1">
            <a:off x="527469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mark207"/>
          <p:cNvSpPr/>
          <p:nvPr/>
        </p:nvSpPr>
        <p:spPr>
          <a:xfrm flipV="1">
            <a:off x="5409979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mark208"/>
          <p:cNvSpPr/>
          <p:nvPr/>
        </p:nvSpPr>
        <p:spPr>
          <a:xfrm flipV="1">
            <a:off x="5545262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mark209"/>
          <p:cNvSpPr/>
          <p:nvPr/>
        </p:nvSpPr>
        <p:spPr>
          <a:xfrm flipV="1">
            <a:off x="5680544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mark210"/>
          <p:cNvSpPr/>
          <p:nvPr/>
        </p:nvSpPr>
        <p:spPr>
          <a:xfrm flipV="1">
            <a:off x="5815827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7" name="S04-mark211"/>
          <p:cNvSpPr/>
          <p:nvPr/>
        </p:nvSpPr>
        <p:spPr>
          <a:xfrm flipV="1">
            <a:off x="595111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mark212"/>
          <p:cNvSpPr/>
          <p:nvPr/>
        </p:nvSpPr>
        <p:spPr>
          <a:xfrm flipV="1">
            <a:off x="6086392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4-mark213"/>
          <p:cNvSpPr/>
          <p:nvPr/>
        </p:nvSpPr>
        <p:spPr>
          <a:xfrm flipV="1">
            <a:off x="6221675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4-mark214"/>
          <p:cNvSpPr/>
          <p:nvPr/>
        </p:nvSpPr>
        <p:spPr>
          <a:xfrm flipV="1">
            <a:off x="635695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4-mark215"/>
          <p:cNvSpPr/>
          <p:nvPr/>
        </p:nvSpPr>
        <p:spPr>
          <a:xfrm flipV="1">
            <a:off x="6492240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2" name="S04-mark216"/>
          <p:cNvSpPr/>
          <p:nvPr/>
        </p:nvSpPr>
        <p:spPr>
          <a:xfrm flipV="1">
            <a:off x="662752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4-mark217"/>
          <p:cNvSpPr/>
          <p:nvPr/>
        </p:nvSpPr>
        <p:spPr>
          <a:xfrm flipV="1">
            <a:off x="6762805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4-mark218"/>
          <p:cNvSpPr/>
          <p:nvPr/>
        </p:nvSpPr>
        <p:spPr>
          <a:xfrm flipV="1">
            <a:off x="6898088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4-mark219"/>
          <p:cNvSpPr/>
          <p:nvPr/>
        </p:nvSpPr>
        <p:spPr>
          <a:xfrm flipV="1">
            <a:off x="703337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4-mark220"/>
          <p:cNvSpPr/>
          <p:nvPr/>
        </p:nvSpPr>
        <p:spPr>
          <a:xfrm flipV="1">
            <a:off x="7168653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7" name="S04-mark221"/>
          <p:cNvSpPr/>
          <p:nvPr/>
        </p:nvSpPr>
        <p:spPr>
          <a:xfrm flipV="1">
            <a:off x="7303936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4-mark222"/>
          <p:cNvSpPr/>
          <p:nvPr/>
        </p:nvSpPr>
        <p:spPr>
          <a:xfrm flipV="1">
            <a:off x="7439218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4-mark223"/>
          <p:cNvSpPr/>
          <p:nvPr/>
        </p:nvSpPr>
        <p:spPr>
          <a:xfrm flipV="1">
            <a:off x="7574501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4-mark224"/>
          <p:cNvSpPr/>
          <p:nvPr/>
        </p:nvSpPr>
        <p:spPr>
          <a:xfrm flipV="1">
            <a:off x="7709783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4-mark225"/>
          <p:cNvSpPr/>
          <p:nvPr/>
        </p:nvSpPr>
        <p:spPr>
          <a:xfrm flipV="1">
            <a:off x="7845066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2" name="S04-mark226"/>
          <p:cNvSpPr/>
          <p:nvPr/>
        </p:nvSpPr>
        <p:spPr>
          <a:xfrm flipV="1">
            <a:off x="7980349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4-mark227"/>
          <p:cNvSpPr/>
          <p:nvPr/>
        </p:nvSpPr>
        <p:spPr>
          <a:xfrm flipV="1">
            <a:off x="8115631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4-mark228"/>
          <p:cNvSpPr/>
          <p:nvPr/>
        </p:nvSpPr>
        <p:spPr>
          <a:xfrm flipV="1">
            <a:off x="8250914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4-mark229"/>
          <p:cNvSpPr/>
          <p:nvPr/>
        </p:nvSpPr>
        <p:spPr>
          <a:xfrm flipV="1">
            <a:off x="838619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4-mark230"/>
          <p:cNvSpPr/>
          <p:nvPr/>
        </p:nvSpPr>
        <p:spPr>
          <a:xfrm flipV="1">
            <a:off x="8521479" y="345252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7" name="S04-mark231"/>
          <p:cNvSpPr/>
          <p:nvPr/>
        </p:nvSpPr>
        <p:spPr>
          <a:xfrm flipV="1">
            <a:off x="8656762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4-mark232"/>
          <p:cNvSpPr/>
          <p:nvPr/>
        </p:nvSpPr>
        <p:spPr>
          <a:xfrm flipV="1">
            <a:off x="8792044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4-mark233"/>
          <p:cNvSpPr/>
          <p:nvPr/>
        </p:nvSpPr>
        <p:spPr>
          <a:xfrm flipV="1">
            <a:off x="8927327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4-mark234"/>
          <p:cNvSpPr/>
          <p:nvPr/>
        </p:nvSpPr>
        <p:spPr>
          <a:xfrm flipV="1">
            <a:off x="9062610" y="352287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4-mark235"/>
          <p:cNvSpPr/>
          <p:nvPr/>
        </p:nvSpPr>
        <p:spPr>
          <a:xfrm flipV="1">
            <a:off x="9197892" y="338758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2" name="S04-label237"/>
          <p:cNvSpPr txBox="1"/>
          <p:nvPr/>
        </p:nvSpPr>
        <p:spPr>
          <a:xfrm>
            <a:off x="3639522" y="301815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03" name="S04-label239"/>
          <p:cNvSpPr txBox="1"/>
          <p:nvPr/>
        </p:nvSpPr>
        <p:spPr>
          <a:xfrm>
            <a:off x="4900146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04" name="S04-label241"/>
          <p:cNvSpPr txBox="1"/>
          <p:nvPr/>
        </p:nvSpPr>
        <p:spPr>
          <a:xfrm>
            <a:off x="6252972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105" name="S04-label243"/>
          <p:cNvSpPr txBox="1"/>
          <p:nvPr/>
        </p:nvSpPr>
        <p:spPr>
          <a:xfrm>
            <a:off x="7605798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106" name="S04-label245"/>
          <p:cNvSpPr txBox="1"/>
          <p:nvPr/>
        </p:nvSpPr>
        <p:spPr>
          <a:xfrm>
            <a:off x="8958624" y="301815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107" name="S04-label247"/>
          <p:cNvSpPr txBox="1"/>
          <p:nvPr/>
        </p:nvSpPr>
        <p:spPr>
          <a:xfrm>
            <a:off x="9506226" y="301815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108" name="S04-chip24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9" name="S04-figure249" descr="온도계: 액체 기둥 끝이 31 °C"/>
          <p:cNvSpPr/>
          <p:nvPr/>
        </p:nvSpPr>
        <p:spPr>
          <a:xfrm>
            <a:off x="3624249" y="4712142"/>
            <a:ext cx="5763039" cy="216452"/>
          </a:xfrm>
          <a:custGeom>
            <a:avLst/>
            <a:gdLst/>
            <a:ahLst/>
            <a:cxnLst/>
            <a:rect l="l" t="t" r="r" b="b"/>
            <a:pathLst>
              <a:path w="5763039" h="216452">
                <a:moveTo>
                  <a:pt x="0" y="216452"/>
                </a:moveTo>
                <a:lnTo>
                  <a:pt x="5763039" y="216452"/>
                </a:lnTo>
                <a:lnTo>
                  <a:pt x="5763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0" name="S04-mark250"/>
          <p:cNvSpPr/>
          <p:nvPr/>
        </p:nvSpPr>
        <p:spPr>
          <a:xfrm>
            <a:off x="3624249" y="4774372"/>
            <a:ext cx="4356100" cy="91992"/>
          </a:xfrm>
          <a:custGeom>
            <a:avLst/>
            <a:gdLst/>
            <a:ahLst/>
            <a:cxnLst/>
            <a:rect l="l" t="t" r="r" b="b"/>
            <a:pathLst>
              <a:path w="4356100" h="91992">
                <a:moveTo>
                  <a:pt x="0" y="91992"/>
                </a:moveTo>
                <a:lnTo>
                  <a:pt x="4356100" y="91992"/>
                </a:lnTo>
                <a:lnTo>
                  <a:pt x="4356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534F"/>
          </a:solidFill>
          <a:ln/>
        </p:spPr>
      </p:sp>
      <p:sp>
        <p:nvSpPr>
          <p:cNvPr id="111" name="S04-mark251"/>
          <p:cNvSpPr/>
          <p:nvPr/>
        </p:nvSpPr>
        <p:spPr>
          <a:xfrm>
            <a:off x="3272514" y="4603916"/>
            <a:ext cx="432904" cy="432904"/>
          </a:xfrm>
          <a:prstGeom prst="ellipse">
            <a:avLst/>
          </a:prstGeom>
          <a:solidFill>
            <a:srgbClr val="D9534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4-mark252"/>
          <p:cNvSpPr/>
          <p:nvPr/>
        </p:nvSpPr>
        <p:spPr>
          <a:xfrm flipV="1">
            <a:off x="3786588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3" name="S04-mark253"/>
          <p:cNvSpPr/>
          <p:nvPr/>
        </p:nvSpPr>
        <p:spPr>
          <a:xfrm flipV="1">
            <a:off x="392187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4-mark254"/>
          <p:cNvSpPr/>
          <p:nvPr/>
        </p:nvSpPr>
        <p:spPr>
          <a:xfrm flipV="1">
            <a:off x="405715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4-mark255"/>
          <p:cNvSpPr/>
          <p:nvPr/>
        </p:nvSpPr>
        <p:spPr>
          <a:xfrm flipV="1">
            <a:off x="4192436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4-mark256"/>
          <p:cNvSpPr/>
          <p:nvPr/>
        </p:nvSpPr>
        <p:spPr>
          <a:xfrm flipV="1">
            <a:off x="4327718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4-mark257"/>
          <p:cNvSpPr/>
          <p:nvPr/>
        </p:nvSpPr>
        <p:spPr>
          <a:xfrm flipV="1">
            <a:off x="4463001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8" name="S04-mark258"/>
          <p:cNvSpPr/>
          <p:nvPr/>
        </p:nvSpPr>
        <p:spPr>
          <a:xfrm flipV="1">
            <a:off x="459828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4-mark259"/>
          <p:cNvSpPr/>
          <p:nvPr/>
        </p:nvSpPr>
        <p:spPr>
          <a:xfrm flipV="1">
            <a:off x="4733566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4-mark260"/>
          <p:cNvSpPr/>
          <p:nvPr/>
        </p:nvSpPr>
        <p:spPr>
          <a:xfrm flipV="1">
            <a:off x="4868849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4-mark261"/>
          <p:cNvSpPr/>
          <p:nvPr/>
        </p:nvSpPr>
        <p:spPr>
          <a:xfrm flipV="1">
            <a:off x="5004131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4-mark262"/>
          <p:cNvSpPr/>
          <p:nvPr/>
        </p:nvSpPr>
        <p:spPr>
          <a:xfrm flipV="1">
            <a:off x="5139414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3" name="S04-mark263"/>
          <p:cNvSpPr/>
          <p:nvPr/>
        </p:nvSpPr>
        <p:spPr>
          <a:xfrm flipV="1">
            <a:off x="527469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4-mark264"/>
          <p:cNvSpPr/>
          <p:nvPr/>
        </p:nvSpPr>
        <p:spPr>
          <a:xfrm flipV="1">
            <a:off x="5409979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4-mark265"/>
          <p:cNvSpPr/>
          <p:nvPr/>
        </p:nvSpPr>
        <p:spPr>
          <a:xfrm flipV="1">
            <a:off x="5545262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4-mark266"/>
          <p:cNvSpPr/>
          <p:nvPr/>
        </p:nvSpPr>
        <p:spPr>
          <a:xfrm flipV="1">
            <a:off x="5680544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4-mark267"/>
          <p:cNvSpPr/>
          <p:nvPr/>
        </p:nvSpPr>
        <p:spPr>
          <a:xfrm flipV="1">
            <a:off x="5815827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8" name="S04-mark268"/>
          <p:cNvSpPr/>
          <p:nvPr/>
        </p:nvSpPr>
        <p:spPr>
          <a:xfrm flipV="1">
            <a:off x="595111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4-mark269"/>
          <p:cNvSpPr/>
          <p:nvPr/>
        </p:nvSpPr>
        <p:spPr>
          <a:xfrm flipV="1">
            <a:off x="6086392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4-mark270"/>
          <p:cNvSpPr/>
          <p:nvPr/>
        </p:nvSpPr>
        <p:spPr>
          <a:xfrm flipV="1">
            <a:off x="6221675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4-mark271"/>
          <p:cNvSpPr/>
          <p:nvPr/>
        </p:nvSpPr>
        <p:spPr>
          <a:xfrm flipV="1">
            <a:off x="635695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4-mark272"/>
          <p:cNvSpPr/>
          <p:nvPr/>
        </p:nvSpPr>
        <p:spPr>
          <a:xfrm flipV="1">
            <a:off x="6492240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3" name="S04-mark273"/>
          <p:cNvSpPr/>
          <p:nvPr/>
        </p:nvSpPr>
        <p:spPr>
          <a:xfrm flipV="1">
            <a:off x="662752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4-mark274"/>
          <p:cNvSpPr/>
          <p:nvPr/>
        </p:nvSpPr>
        <p:spPr>
          <a:xfrm flipV="1">
            <a:off x="6762805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4-mark275"/>
          <p:cNvSpPr/>
          <p:nvPr/>
        </p:nvSpPr>
        <p:spPr>
          <a:xfrm flipV="1">
            <a:off x="6898088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4-mark276"/>
          <p:cNvSpPr/>
          <p:nvPr/>
        </p:nvSpPr>
        <p:spPr>
          <a:xfrm flipV="1">
            <a:off x="703337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4-mark277"/>
          <p:cNvSpPr/>
          <p:nvPr/>
        </p:nvSpPr>
        <p:spPr>
          <a:xfrm flipV="1">
            <a:off x="7168653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8" name="S04-mark278"/>
          <p:cNvSpPr/>
          <p:nvPr/>
        </p:nvSpPr>
        <p:spPr>
          <a:xfrm flipV="1">
            <a:off x="7303936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4-mark279"/>
          <p:cNvSpPr/>
          <p:nvPr/>
        </p:nvSpPr>
        <p:spPr>
          <a:xfrm flipV="1">
            <a:off x="7439218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4-mark280"/>
          <p:cNvSpPr/>
          <p:nvPr/>
        </p:nvSpPr>
        <p:spPr>
          <a:xfrm flipV="1">
            <a:off x="7574501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4-mark281"/>
          <p:cNvSpPr/>
          <p:nvPr/>
        </p:nvSpPr>
        <p:spPr>
          <a:xfrm flipV="1">
            <a:off x="7709783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4-mark282"/>
          <p:cNvSpPr/>
          <p:nvPr/>
        </p:nvSpPr>
        <p:spPr>
          <a:xfrm flipV="1">
            <a:off x="7845066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3" name="S04-mark283"/>
          <p:cNvSpPr/>
          <p:nvPr/>
        </p:nvSpPr>
        <p:spPr>
          <a:xfrm flipV="1">
            <a:off x="7980349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4-mark284"/>
          <p:cNvSpPr/>
          <p:nvPr/>
        </p:nvSpPr>
        <p:spPr>
          <a:xfrm flipV="1">
            <a:off x="8115631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4-mark285"/>
          <p:cNvSpPr/>
          <p:nvPr/>
        </p:nvSpPr>
        <p:spPr>
          <a:xfrm flipV="1">
            <a:off x="8250914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4-mark286"/>
          <p:cNvSpPr/>
          <p:nvPr/>
        </p:nvSpPr>
        <p:spPr>
          <a:xfrm flipV="1">
            <a:off x="838619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4-mark287"/>
          <p:cNvSpPr/>
          <p:nvPr/>
        </p:nvSpPr>
        <p:spPr>
          <a:xfrm flipV="1">
            <a:off x="8521479" y="4549803"/>
            <a:ext cx="0" cy="16233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8" name="S04-mark288"/>
          <p:cNvSpPr/>
          <p:nvPr/>
        </p:nvSpPr>
        <p:spPr>
          <a:xfrm flipV="1">
            <a:off x="8656762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4-mark289"/>
          <p:cNvSpPr/>
          <p:nvPr/>
        </p:nvSpPr>
        <p:spPr>
          <a:xfrm flipV="1">
            <a:off x="8792044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4-mark290"/>
          <p:cNvSpPr/>
          <p:nvPr/>
        </p:nvSpPr>
        <p:spPr>
          <a:xfrm flipV="1">
            <a:off x="8927327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4-mark291"/>
          <p:cNvSpPr/>
          <p:nvPr/>
        </p:nvSpPr>
        <p:spPr>
          <a:xfrm flipV="1">
            <a:off x="9062610" y="4620150"/>
            <a:ext cx="0" cy="919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4-mark292"/>
          <p:cNvSpPr/>
          <p:nvPr/>
        </p:nvSpPr>
        <p:spPr>
          <a:xfrm flipV="1">
            <a:off x="9197892" y="4484867"/>
            <a:ext cx="0" cy="22727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3" name="S04-label294"/>
          <p:cNvSpPr txBox="1"/>
          <p:nvPr/>
        </p:nvSpPr>
        <p:spPr>
          <a:xfrm>
            <a:off x="3639522" y="411543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54" name="S04-label296"/>
          <p:cNvSpPr txBox="1"/>
          <p:nvPr/>
        </p:nvSpPr>
        <p:spPr>
          <a:xfrm>
            <a:off x="4900146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55" name="S04-label298"/>
          <p:cNvSpPr txBox="1"/>
          <p:nvPr/>
        </p:nvSpPr>
        <p:spPr>
          <a:xfrm>
            <a:off x="6252972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156" name="S04-label300"/>
          <p:cNvSpPr txBox="1"/>
          <p:nvPr/>
        </p:nvSpPr>
        <p:spPr>
          <a:xfrm>
            <a:off x="7605798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200" dirty="0"/>
          </a:p>
        </p:txBody>
      </p:sp>
      <p:sp>
        <p:nvSpPr>
          <p:cNvPr id="157" name="S04-label302"/>
          <p:cNvSpPr txBox="1"/>
          <p:nvPr/>
        </p:nvSpPr>
        <p:spPr>
          <a:xfrm>
            <a:off x="8958624" y="411543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158" name="S04-label304"/>
          <p:cNvSpPr txBox="1"/>
          <p:nvPr/>
        </p:nvSpPr>
        <p:spPr>
          <a:xfrm>
            <a:off x="9506226" y="4115435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°C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5-text3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온도계로 재어 보기 전에 예상해요.</a:t>
            </a:r>
            <a:endParaRPr lang="ko-KR" sz="2800" dirty="0"/>
          </a:p>
        </p:txBody>
      </p:sp>
      <p:sp>
        <p:nvSpPr>
          <p:cNvPr id="4" name="S05-card3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6" name="S05-table3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95880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 공기의 온도는 몇 °C쯤?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온도계의 둥근 부분을 손으로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1분 감싸 쥐면 눈금은?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감싸 봐요</a:t>
            </a:r>
            <a:endParaRPr lang="ko-KR" sz="4000" dirty="0"/>
          </a:p>
        </p:txBody>
      </p:sp>
      <p:sp>
        <p:nvSpPr>
          <p:cNvPr id="3" name="S06-card3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온도계는 유리예요. 흔들거나 떨어뜨리지 않아요.</a:t>
            </a:r>
            <a:endParaRPr lang="ko-KR" sz="2800" dirty="0"/>
          </a:p>
        </p:txBody>
      </p:sp>
      <p:sp>
        <p:nvSpPr>
          <p:cNvPr id="5" name="S06-card31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1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잴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눈높이를 맞춰 읽어요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°C를 붙여 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변한 방향을 말해요</a:t>
            </a:r>
            <a:endParaRPr lang="ko-KR" sz="2800" dirty="0"/>
          </a:p>
        </p:txBody>
      </p:sp>
      <p:sp>
        <p:nvSpPr>
          <p:cNvPr id="7" name="S06-stepno313"/>
          <p:cNvSpPr txBox="1"/>
          <p:nvPr/>
        </p:nvSpPr>
        <p:spPr>
          <a:xfrm>
            <a:off x="548640" y="1719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6-text314"/>
          <p:cNvSpPr txBox="1"/>
          <p:nvPr/>
        </p:nvSpPr>
        <p:spPr>
          <a:xfrm>
            <a:off x="1325880" y="1719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 온도계를 읽고 써요.</a:t>
            </a:r>
            <a:endParaRPr lang="ko-KR" sz="2800" dirty="0"/>
          </a:p>
        </p:txBody>
      </p:sp>
      <p:sp>
        <p:nvSpPr>
          <p:cNvPr id="9" name="S06-stepno315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6-text316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부분을 손으로 1분 감싸 쥐어요.</a:t>
            </a:r>
            <a:endParaRPr lang="ko-KR" sz="2800" dirty="0"/>
          </a:p>
        </p:txBody>
      </p:sp>
      <p:sp>
        <p:nvSpPr>
          <p:cNvPr id="11" name="S06-stepno317"/>
          <p:cNvSpPr txBox="1"/>
          <p:nvPr/>
        </p:nvSpPr>
        <p:spPr>
          <a:xfrm>
            <a:off x="548640" y="3465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6-text318"/>
          <p:cNvSpPr txBox="1"/>
          <p:nvPr/>
        </p:nvSpPr>
        <p:spPr>
          <a:xfrm>
            <a:off x="1325880" y="3465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쥔 채로 다시 읽고 써요.</a:t>
            </a:r>
            <a:endParaRPr lang="ko-KR" sz="2800" dirty="0"/>
          </a:p>
        </p:txBody>
      </p:sp>
      <p:sp>
        <p:nvSpPr>
          <p:cNvPr id="13" name="S06-stepno319"/>
          <p:cNvSpPr txBox="1"/>
          <p:nvPr/>
        </p:nvSpPr>
        <p:spPr>
          <a:xfrm>
            <a:off x="548640" y="4178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6-text320"/>
          <p:cNvSpPr txBox="1"/>
          <p:nvPr/>
        </p:nvSpPr>
        <p:spPr>
          <a:xfrm>
            <a:off x="1325880" y="41783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떼고 눈금을 2분 지켜봐요.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07-card3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감싸자 눈금은 어떻게 되었나요?</a:t>
            </a:r>
            <a:endParaRPr lang="ko-KR" sz="2800" dirty="0"/>
          </a:p>
        </p:txBody>
      </p:sp>
      <p:graphicFrame>
        <p:nvGraphicFramePr>
          <p:cNvPr id="8" name="S07-table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463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 공기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°C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손으로 감싼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°C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뗀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어디로 이동할까요?</a:t>
            </a:r>
            <a:endParaRPr lang="ko-KR" sz="4000" dirty="0"/>
          </a:p>
        </p:txBody>
      </p:sp>
      <p:sp>
        <p:nvSpPr>
          <p:cNvPr id="3" name="S08-text3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손의 열이 온도계로 이동해 온도계의 온도가 올라갔어요.</a:t>
            </a:r>
            <a:endParaRPr lang="ko-KR" sz="2800" dirty="0"/>
          </a:p>
        </p:txBody>
      </p:sp>
      <p:sp>
        <p:nvSpPr>
          <p:cNvPr id="4" name="S08-card32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32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온도가 높은 곳에서 낮은 곳으로 이동해요.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두 물체의 온도가 점점 같아져요.</a:t>
            </a:r>
            <a:endParaRPr lang="ko-KR" sz="2800" dirty="0"/>
          </a:p>
        </p:txBody>
      </p:sp>
      <p:sp>
        <p:nvSpPr>
          <p:cNvPr id="6" name="S08-card328"/>
          <p:cNvSpPr/>
          <p:nvPr/>
        </p:nvSpPr>
        <p:spPr>
          <a:xfrm>
            <a:off x="548640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329"/>
          <p:cNvSpPr txBox="1"/>
          <p:nvPr/>
        </p:nvSpPr>
        <p:spPr>
          <a:xfrm>
            <a:off x="822960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→ 온도계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온도계의 온도가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올라갔어요.</a:t>
            </a:r>
            <a:endParaRPr lang="ko-KR" sz="2800" dirty="0"/>
          </a:p>
        </p:txBody>
      </p:sp>
      <p:sp>
        <p:nvSpPr>
          <p:cNvPr id="8" name="S08-card330"/>
          <p:cNvSpPr/>
          <p:nvPr/>
        </p:nvSpPr>
        <p:spPr>
          <a:xfrm>
            <a:off x="4322064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331"/>
          <p:cNvSpPr txBox="1"/>
          <p:nvPr/>
        </p:nvSpPr>
        <p:spPr>
          <a:xfrm>
            <a:off x="4596384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 → 그릇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국을 담은 그릇이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따뜻해져요.</a:t>
            </a:r>
            <a:endParaRPr lang="ko-KR" sz="2800" dirty="0"/>
          </a:p>
        </p:txBody>
      </p:sp>
      <p:sp>
        <p:nvSpPr>
          <p:cNvPr id="10" name="S08-card332"/>
          <p:cNvSpPr/>
          <p:nvPr/>
        </p:nvSpPr>
        <p:spPr>
          <a:xfrm>
            <a:off x="8095488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333"/>
          <p:cNvSpPr txBox="1"/>
          <p:nvPr/>
        </p:nvSpPr>
        <p:spPr>
          <a:xfrm>
            <a:off x="8369808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→ 얼음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손은 차가워져요.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3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얼음을 손에 쥐었더니 손이 차가워졌어요.</a:t>
            </a:r>
            <a:endParaRPr lang="ko-KR" sz="2800" dirty="0"/>
          </a:p>
        </p:txBody>
      </p:sp>
      <p:sp>
        <p:nvSpPr>
          <p:cNvPr id="5" name="S09-card3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3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온도계 실험과 견주어 말해요.</a:t>
            </a:r>
            <a:endParaRPr lang="ko-KR" sz="2800" dirty="0"/>
          </a:p>
        </p:txBody>
      </p:sp>
      <p:sp>
        <p:nvSpPr>
          <p:cNvPr id="7" name="S09-chip3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9-text3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얼음의 차가움이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들어왔어요.</a:t>
            </a:r>
            <a:endParaRPr lang="ko-KR" sz="2800" dirty="0"/>
          </a:p>
        </p:txBody>
      </p:sp>
      <p:sp>
        <p:nvSpPr>
          <p:cNvPr id="9" name="S09-chip3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9-text3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손의 열이 얼음으로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0-text3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물에 숟가락을 세워 2분 두면?</a:t>
            </a:r>
            <a:endParaRPr lang="ko-KR" sz="2800" dirty="0"/>
          </a:p>
        </p:txBody>
      </p:sp>
      <p:sp>
        <p:nvSpPr>
          <p:cNvPr id="4" name="S10-card3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2800" dirty="0"/>
          </a:p>
        </p:txBody>
      </p:sp>
      <p:graphicFrame>
        <p:nvGraphicFramePr>
          <p:cNvPr id="11" name="S10-table3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621024"/>
                <a:gridCol w="643737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 위 손잡이는?(따뜻해요 / 그대로예요)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 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 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숟가락을 만져 봐요</a:t>
            </a:r>
            <a:endParaRPr lang="ko-KR" sz="4000" dirty="0"/>
          </a:p>
        </p:txBody>
      </p:sp>
      <p:sp>
        <p:nvSpPr>
          <p:cNvPr id="3" name="S11-card3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3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물은 어른이 부어요. 숟가락을 꺼내지 않아요.</a:t>
            </a:r>
            <a:endParaRPr lang="ko-KR" sz="2800" dirty="0"/>
          </a:p>
        </p:txBody>
      </p:sp>
      <p:sp>
        <p:nvSpPr>
          <p:cNvPr id="5" name="S11-figure348" descr="따뜻한 물이 반쯤 담긴 머그컵에 금속(왼쪽), 플라스틱(가운데), 나무(오른쪽) 숟가락을 세워 둔 그림"/>
          <p:cNvSpPr/>
          <p:nvPr/>
        </p:nvSpPr>
        <p:spPr>
          <a:xfrm>
            <a:off x="8820531" y="2406634"/>
            <a:ext cx="812902" cy="575806"/>
          </a:xfrm>
          <a:custGeom>
            <a:avLst/>
            <a:gdLst/>
            <a:ahLst/>
            <a:cxnLst/>
            <a:rect l="l" t="t" r="r" b="b"/>
            <a:pathLst>
              <a:path w="812902" h="575806">
                <a:moveTo>
                  <a:pt x="0" y="575806"/>
                </a:moveTo>
                <a:lnTo>
                  <a:pt x="812902" y="575806"/>
                </a:lnTo>
                <a:lnTo>
                  <a:pt x="8129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BF7"/>
          </a:solidFill>
          <a:ln/>
        </p:spPr>
      </p:sp>
      <p:sp>
        <p:nvSpPr>
          <p:cNvPr id="6" name="S11-mark349"/>
          <p:cNvSpPr/>
          <p:nvPr/>
        </p:nvSpPr>
        <p:spPr>
          <a:xfrm>
            <a:off x="8598676" y="1409700"/>
            <a:ext cx="452177" cy="1514030"/>
          </a:xfrm>
          <a:custGeom>
            <a:avLst/>
            <a:gdLst/>
            <a:ahLst/>
            <a:cxnLst/>
            <a:rect l="l" t="t" r="r" b="b"/>
            <a:pathLst>
              <a:path w="452177" h="1514030">
                <a:moveTo>
                  <a:pt x="381048" y="1514030"/>
                </a:moveTo>
                <a:lnTo>
                  <a:pt x="0" y="18064"/>
                </a:lnTo>
                <a:lnTo>
                  <a:pt x="71129" y="0"/>
                </a:lnTo>
                <a:lnTo>
                  <a:pt x="452177" y="1495965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1-mark350"/>
          <p:cNvSpPr/>
          <p:nvPr/>
        </p:nvSpPr>
        <p:spPr>
          <a:xfrm>
            <a:off x="9190288" y="1418732"/>
            <a:ext cx="73387" cy="1495965"/>
          </a:xfrm>
          <a:custGeom>
            <a:avLst/>
            <a:gdLst/>
            <a:ahLst/>
            <a:cxnLst/>
            <a:rect l="l" t="t" r="r" b="b"/>
            <a:pathLst>
              <a:path w="73387" h="1495965">
                <a:moveTo>
                  <a:pt x="0" y="1495965"/>
                </a:moveTo>
                <a:lnTo>
                  <a:pt x="0" y="0"/>
                </a:lnTo>
                <a:lnTo>
                  <a:pt x="73387" y="0"/>
                </a:lnTo>
                <a:lnTo>
                  <a:pt x="73387" y="1495965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1-mark351"/>
          <p:cNvSpPr/>
          <p:nvPr/>
        </p:nvSpPr>
        <p:spPr>
          <a:xfrm>
            <a:off x="9403111" y="1409700"/>
            <a:ext cx="452177" cy="1514030"/>
          </a:xfrm>
          <a:custGeom>
            <a:avLst/>
            <a:gdLst/>
            <a:ahLst/>
            <a:cxnLst/>
            <a:rect l="l" t="t" r="r" b="b"/>
            <a:pathLst>
              <a:path w="452177" h="1514030">
                <a:moveTo>
                  <a:pt x="0" y="1495965"/>
                </a:moveTo>
                <a:lnTo>
                  <a:pt x="381048" y="0"/>
                </a:lnTo>
                <a:lnTo>
                  <a:pt x="452177" y="18064"/>
                </a:lnTo>
                <a:lnTo>
                  <a:pt x="71129" y="1514030"/>
                </a:lnTo>
                <a:close/>
              </a:path>
            </a:pathLst>
          </a:custGeom>
          <a:solidFill>
            <a:srgbClr val="C8A27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1-mark352"/>
          <p:cNvSpPr/>
          <p:nvPr/>
        </p:nvSpPr>
        <p:spPr>
          <a:xfrm>
            <a:off x="8803595" y="2152602"/>
            <a:ext cx="846773" cy="846773"/>
          </a:xfrm>
          <a:custGeom>
            <a:avLst/>
            <a:gdLst/>
            <a:ahLst/>
            <a:cxnLst/>
            <a:rect l="l" t="t" r="r" b="b"/>
            <a:pathLst>
              <a:path w="846773" h="846773">
                <a:moveTo>
                  <a:pt x="0" y="0"/>
                </a:moveTo>
                <a:lnTo>
                  <a:pt x="0" y="846773"/>
                </a:lnTo>
                <a:lnTo>
                  <a:pt x="846773" y="846773"/>
                </a:lnTo>
                <a:lnTo>
                  <a:pt x="846773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1-mark353"/>
          <p:cNvSpPr/>
          <p:nvPr/>
        </p:nvSpPr>
        <p:spPr>
          <a:xfrm>
            <a:off x="9650368" y="2321957"/>
            <a:ext cx="197580" cy="451612"/>
          </a:xfrm>
          <a:custGeom>
            <a:avLst/>
            <a:gdLst/>
            <a:ahLst/>
            <a:cxnLst/>
            <a:rect l="l" t="t" r="r" b="b"/>
            <a:pathLst>
              <a:path w="197580" h="451612">
                <a:moveTo>
                  <a:pt x="0" y="0"/>
                </a:moveTo>
                <a:lnTo>
                  <a:pt x="197580" y="0"/>
                </a:lnTo>
                <a:lnTo>
                  <a:pt x="197580" y="451612"/>
                </a:lnTo>
                <a:lnTo>
                  <a:pt x="0" y="451612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11-label355"/>
          <p:cNvSpPr txBox="1"/>
          <p:nvPr/>
        </p:nvSpPr>
        <p:spPr>
          <a:xfrm>
            <a:off x="7569632" y="3068193"/>
            <a:ext cx="3314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왼쪽부터 금속·플라스틱·나무</a:t>
            </a:r>
            <a:endParaRPr lang="ko-KR" sz="1800" dirty="0"/>
          </a:p>
        </p:txBody>
      </p:sp>
      <p:sp>
        <p:nvSpPr>
          <p:cNvPr id="12" name="S11-card356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357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물과 컵은 만지지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숟가락의 같은 곳을 잡아요</a:t>
            </a:r>
            <a:endParaRPr lang="ko-KR" sz="2800" dirty="0"/>
          </a:p>
        </p:txBody>
      </p:sp>
      <p:sp>
        <p:nvSpPr>
          <p:cNvPr id="14" name="S11-stepno358"/>
          <p:cNvSpPr txBox="1"/>
          <p:nvPr/>
        </p:nvSpPr>
        <p:spPr>
          <a:xfrm>
            <a:off x="548640" y="160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11-text359"/>
          <p:cNvSpPr txBox="1"/>
          <p:nvPr/>
        </p:nvSpPr>
        <p:spPr>
          <a:xfrm>
            <a:off x="1325880" y="1560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머그컵에 따뜻한 물을 부어요.</a:t>
            </a:r>
            <a:endParaRPr lang="ko-KR" sz="2800" dirty="0"/>
          </a:p>
        </p:txBody>
      </p:sp>
      <p:sp>
        <p:nvSpPr>
          <p:cNvPr id="16" name="S11-stepno360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11-text361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 세 개를 컵에 세워요.</a:t>
            </a:r>
            <a:endParaRPr lang="ko-KR" sz="2800" dirty="0"/>
          </a:p>
        </p:txBody>
      </p:sp>
      <p:sp>
        <p:nvSpPr>
          <p:cNvPr id="18" name="S11-stepno362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11-text363"/>
          <p:cNvSpPr txBox="1"/>
          <p:nvPr/>
        </p:nvSpPr>
        <p:spPr>
          <a:xfrm>
            <a:off x="1325880" y="3305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뒤 컵 바로 위 손잡이를 잡아 봐요.</a:t>
            </a:r>
            <a:endParaRPr lang="ko-KR" sz="2800" dirty="0"/>
          </a:p>
        </p:txBody>
      </p:sp>
      <p:sp>
        <p:nvSpPr>
          <p:cNvPr id="20" name="S11-stepno364"/>
          <p:cNvSpPr txBox="1"/>
          <p:nvPr/>
        </p:nvSpPr>
        <p:spPr>
          <a:xfrm>
            <a:off x="548640" y="433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11-text365"/>
          <p:cNvSpPr txBox="1"/>
          <p:nvPr/>
        </p:nvSpPr>
        <p:spPr>
          <a:xfrm>
            <a:off x="1325880" y="4337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 끝도 차례로 만져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3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2800" dirty="0"/>
          </a:p>
        </p:txBody>
      </p:sp>
      <p:sp>
        <p:nvSpPr>
          <p:cNvPr id="4" name="S12-card3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3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숟가락이 가장 따뜻해졌나요?</a:t>
            </a:r>
            <a:endParaRPr lang="ko-KR" sz="2800" dirty="0"/>
          </a:p>
        </p:txBody>
      </p:sp>
      <p:graphicFrame>
        <p:nvGraphicFramePr>
          <p:cNvPr id="13" name="S12-table3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995928"/>
                <a:gridCol w="33649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 바로 위 손잡이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손잡이 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숟가락을 따라 이동해요</a:t>
            </a:r>
            <a:endParaRPr lang="ko-KR" sz="4000" dirty="0"/>
          </a:p>
        </p:txBody>
      </p:sp>
      <p:sp>
        <p:nvSpPr>
          <p:cNvPr id="3" name="S13-text3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닿은 곳에서 손잡이 쪽으로 열이 이동했어요.</a:t>
            </a:r>
            <a:endParaRPr lang="ko-KR" sz="2800" dirty="0"/>
          </a:p>
        </p:txBody>
      </p:sp>
      <p:sp>
        <p:nvSpPr>
          <p:cNvPr id="4" name="S13-card3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3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물질에 따라 열이 전달되는 정도가 달라요.</a:t>
            </a:r>
            <a:endParaRPr lang="ko-KR" sz="2800" dirty="0"/>
          </a:p>
        </p:txBody>
      </p:sp>
      <p:sp>
        <p:nvSpPr>
          <p:cNvPr id="6" name="S13-card37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7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고체에서 열이 물질을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이동하는 것</a:t>
            </a:r>
            <a:endParaRPr lang="ko-KR" sz="2800" dirty="0"/>
          </a:p>
        </p:txBody>
      </p:sp>
      <p:sp>
        <p:nvSpPr>
          <p:cNvPr id="8" name="S13-card37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37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잘 전달돼요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(철, 구리, 알루미늄)</a:t>
            </a:r>
            <a:endParaRPr lang="ko-KR" sz="2800" dirty="0"/>
          </a:p>
        </p:txBody>
      </p:sp>
      <p:sp>
        <p:nvSpPr>
          <p:cNvPr id="10" name="S13-card37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7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전달되지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플라스틱, 나무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 손잡이는 무엇으로?</a:t>
            </a:r>
            <a:endParaRPr lang="ko-KR" sz="4000" dirty="0"/>
          </a:p>
        </p:txBody>
      </p:sp>
      <p:sp>
        <p:nvSpPr>
          <p:cNvPr id="3" name="S14-card3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3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냄비의 손잡이를 만들려고 해요.</a:t>
            </a:r>
            <a:endParaRPr lang="ko-KR" sz="2800" dirty="0"/>
          </a:p>
        </p:txBody>
      </p:sp>
      <p:sp>
        <p:nvSpPr>
          <p:cNvPr id="5" name="S14-card3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3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더 안전할까요? 숟가락 실험의 무엇이 증거일까요?</a:t>
            </a:r>
            <a:endParaRPr lang="ko-KR" sz="2800" dirty="0"/>
          </a:p>
        </p:txBody>
      </p:sp>
      <p:sp>
        <p:nvSpPr>
          <p:cNvPr id="7" name="S14-chip3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4-text3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금속은 튼튼하니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손잡이도 금속으로 해요.</a:t>
            </a:r>
            <a:endParaRPr lang="ko-KR" sz="2800" dirty="0"/>
          </a:p>
        </p:txBody>
      </p:sp>
      <p:sp>
        <p:nvSpPr>
          <p:cNvPr id="9" name="S14-chip3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4-text3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손잡이는 플라스틱이나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나무로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열의 이동을 막아요</a:t>
            </a:r>
            <a:endParaRPr lang="ko-KR" sz="4000" dirty="0"/>
          </a:p>
        </p:txBody>
      </p:sp>
      <p:sp>
        <p:nvSpPr>
          <p:cNvPr id="3" name="S15-text3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단열: 두 물체 사이에서 열의 이동을 줄이는 것</a:t>
            </a:r>
            <a:endParaRPr lang="ko-KR" sz="2800" dirty="0"/>
          </a:p>
        </p:txBody>
      </p:sp>
      <p:sp>
        <p:nvSpPr>
          <p:cNvPr id="4" name="S15-card3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잘 전달되지 않는 물질로 단열해요.</a:t>
            </a:r>
            <a:endParaRPr lang="ko-KR" sz="2800" dirty="0"/>
          </a:p>
        </p:txBody>
      </p:sp>
      <p:sp>
        <p:nvSpPr>
          <p:cNvPr id="6" name="S15-card390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91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 손잡이·주방 장갑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뜨거운 열이 손으로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오지 않게 해요.</a:t>
            </a:r>
            <a:endParaRPr lang="ko-KR" sz="2200" dirty="0"/>
          </a:p>
        </p:txBody>
      </p:sp>
      <p:sp>
        <p:nvSpPr>
          <p:cNvPr id="8" name="S15-card392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393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보온병·아이스박스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안의 온도를 오래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 줘요.</a:t>
            </a:r>
            <a:endParaRPr lang="ko-KR" sz="2200" dirty="0"/>
          </a:p>
        </p:txBody>
      </p:sp>
      <p:sp>
        <p:nvSpPr>
          <p:cNvPr id="10" name="S15-card394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395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이중창·벽 속 단열재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집 안의 열이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밖으로 덜 나가요.</a:t>
            </a:r>
            <a:endParaRPr lang="ko-KR" sz="2200" dirty="0"/>
          </a:p>
        </p:txBody>
      </p:sp>
      <p:sp>
        <p:nvSpPr>
          <p:cNvPr id="12" name="S15-card396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397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두꺼운 겨울옷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몸의 열이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빠져나가요.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물과 공기에서는 대류</a:t>
            </a:r>
            <a:endParaRPr lang="ko-KR" sz="4000" dirty="0"/>
          </a:p>
        </p:txBody>
      </p:sp>
      <p:sp>
        <p:nvSpPr>
          <p:cNvPr id="3" name="S16-card398"/>
          <p:cNvSpPr/>
          <p:nvPr/>
        </p:nvSpPr>
        <p:spPr>
          <a:xfrm>
            <a:off x="548640" y="4696968"/>
            <a:ext cx="1109167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399"/>
          <p:cNvSpPr txBox="1"/>
          <p:nvPr/>
        </p:nvSpPr>
        <p:spPr>
          <a:xfrm>
            <a:off x="822960" y="4834128"/>
            <a:ext cx="1054303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데워진 물·공기는 위로 올라가고, 차가운 물·공기는 아래로 내려와요.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과정이 되풀이되며 전체가 데워져요.</a:t>
            </a:r>
            <a:endParaRPr lang="ko-KR" sz="2800" dirty="0"/>
          </a:p>
        </p:txBody>
      </p:sp>
      <p:sp>
        <p:nvSpPr>
          <p:cNvPr id="5" name="S16-figure400" descr="아래에서 불로 데우는 냄비 속 물: 가운데에서 위로 올라가는 화살표(데워진 물), 위에서 양옆으로 퍼져 벽을 따라 아래로 내려오는 화살표(차가운 물)"/>
          <p:cNvSpPr/>
          <p:nvPr/>
        </p:nvSpPr>
        <p:spPr>
          <a:xfrm>
            <a:off x="1995273" y="1729258"/>
            <a:ext cx="2492550" cy="1565833"/>
          </a:xfrm>
          <a:custGeom>
            <a:avLst/>
            <a:gdLst/>
            <a:ahLst/>
            <a:cxnLst/>
            <a:rect l="l" t="t" r="r" b="b"/>
            <a:pathLst>
              <a:path w="2492550" h="1565833">
                <a:moveTo>
                  <a:pt x="0" y="1565833"/>
                </a:moveTo>
                <a:lnTo>
                  <a:pt x="2492550" y="1565833"/>
                </a:lnTo>
                <a:lnTo>
                  <a:pt x="2492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BF7"/>
          </a:solidFill>
          <a:ln/>
        </p:spPr>
      </p:sp>
      <p:sp>
        <p:nvSpPr>
          <p:cNvPr id="6" name="S16-mark401"/>
          <p:cNvSpPr/>
          <p:nvPr/>
        </p:nvSpPr>
        <p:spPr>
          <a:xfrm>
            <a:off x="1963317" y="1409700"/>
            <a:ext cx="2556462" cy="1917346"/>
          </a:xfrm>
          <a:custGeom>
            <a:avLst/>
            <a:gdLst/>
            <a:ahLst/>
            <a:cxnLst/>
            <a:rect l="l" t="t" r="r" b="b"/>
            <a:pathLst>
              <a:path w="2556462" h="1917346">
                <a:moveTo>
                  <a:pt x="0" y="0"/>
                </a:moveTo>
                <a:lnTo>
                  <a:pt x="0" y="1917346"/>
                </a:lnTo>
                <a:lnTo>
                  <a:pt x="2556462" y="1917346"/>
                </a:lnTo>
                <a:lnTo>
                  <a:pt x="2556462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6-mark402"/>
          <p:cNvSpPr/>
          <p:nvPr/>
        </p:nvSpPr>
        <p:spPr>
          <a:xfrm>
            <a:off x="2921990" y="3422914"/>
            <a:ext cx="639115" cy="511292"/>
          </a:xfrm>
          <a:custGeom>
            <a:avLst/>
            <a:gdLst/>
            <a:ahLst/>
            <a:cxnLst/>
            <a:rect l="l" t="t" r="r" b="b"/>
            <a:pathLst>
              <a:path w="639115" h="511292">
                <a:moveTo>
                  <a:pt x="0" y="511292"/>
                </a:moveTo>
                <a:lnTo>
                  <a:pt x="639115" y="511292"/>
                </a:lnTo>
                <a:lnTo>
                  <a:pt x="319558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6-mark403"/>
          <p:cNvSpPr/>
          <p:nvPr/>
        </p:nvSpPr>
        <p:spPr>
          <a:xfrm flipV="1">
            <a:off x="3241548" y="1984904"/>
            <a:ext cx="0" cy="1118452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9" name="S16-mark404"/>
          <p:cNvSpPr/>
          <p:nvPr/>
        </p:nvSpPr>
        <p:spPr>
          <a:xfrm flipH="1">
            <a:off x="2410698" y="1889037"/>
            <a:ext cx="703027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16-mark405"/>
          <p:cNvSpPr/>
          <p:nvPr/>
        </p:nvSpPr>
        <p:spPr>
          <a:xfrm>
            <a:off x="3369371" y="1889037"/>
            <a:ext cx="703027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16-mark406"/>
          <p:cNvSpPr/>
          <p:nvPr/>
        </p:nvSpPr>
        <p:spPr>
          <a:xfrm>
            <a:off x="2282875" y="1984904"/>
            <a:ext cx="0" cy="10545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6-mark407"/>
          <p:cNvSpPr/>
          <p:nvPr/>
        </p:nvSpPr>
        <p:spPr>
          <a:xfrm>
            <a:off x="4200221" y="1984904"/>
            <a:ext cx="0" cy="10545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16-mark408"/>
          <p:cNvSpPr/>
          <p:nvPr/>
        </p:nvSpPr>
        <p:spPr>
          <a:xfrm>
            <a:off x="2410698" y="3135312"/>
            <a:ext cx="57520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6-mark409"/>
          <p:cNvSpPr/>
          <p:nvPr/>
        </p:nvSpPr>
        <p:spPr>
          <a:xfrm flipH="1">
            <a:off x="3497194" y="3135312"/>
            <a:ext cx="57520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16-label410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냄비의 물을 데울 때</a:t>
            </a:r>
            <a:endParaRPr lang="ko-KR" sz="2200" dirty="0"/>
          </a:p>
        </p:txBody>
      </p:sp>
      <p:sp>
        <p:nvSpPr>
          <p:cNvPr id="16" name="S16-figure411" descr="방의 왼쪽 아래에 난로. 난로 위로 올라가는 화살표, 천장을 따라 오른쪽으로, 오른쪽 벽을 따라 아래로, 바닥을 따라 난로 쪽으로 돌아오는 화살표"/>
          <p:cNvSpPr/>
          <p:nvPr/>
        </p:nvSpPr>
        <p:spPr>
          <a:xfrm>
            <a:off x="7232904" y="1437513"/>
            <a:ext cx="3429000" cy="2194560"/>
          </a:xfrm>
          <a:custGeom>
            <a:avLst/>
            <a:gdLst/>
            <a:ahLst/>
            <a:cxnLst/>
            <a:rect l="l" t="t" r="r" b="b"/>
            <a:pathLst>
              <a:path w="3429000" h="2194560">
                <a:moveTo>
                  <a:pt x="0" y="2194560"/>
                </a:moveTo>
                <a:lnTo>
                  <a:pt x="3429000" y="2194560"/>
                </a:lnTo>
                <a:lnTo>
                  <a:pt x="3429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7" name="S16-mark412"/>
          <p:cNvSpPr/>
          <p:nvPr/>
        </p:nvSpPr>
        <p:spPr>
          <a:xfrm>
            <a:off x="7404354" y="3220593"/>
            <a:ext cx="548640" cy="411480"/>
          </a:xfrm>
          <a:custGeom>
            <a:avLst/>
            <a:gdLst/>
            <a:ahLst/>
            <a:cxnLst/>
            <a:rect l="l" t="t" r="r" b="b"/>
            <a:pathLst>
              <a:path w="548640" h="411480">
                <a:moveTo>
                  <a:pt x="0" y="411480"/>
                </a:moveTo>
                <a:lnTo>
                  <a:pt x="548640" y="41148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6-mark413"/>
          <p:cNvSpPr/>
          <p:nvPr/>
        </p:nvSpPr>
        <p:spPr>
          <a:xfrm flipV="1">
            <a:off x="7678674" y="1711833"/>
            <a:ext cx="0" cy="137160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9" name="S16-mark414"/>
          <p:cNvSpPr/>
          <p:nvPr/>
        </p:nvSpPr>
        <p:spPr>
          <a:xfrm>
            <a:off x="7815834" y="1608963"/>
            <a:ext cx="2503170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0" name="S16-mark415"/>
          <p:cNvSpPr/>
          <p:nvPr/>
        </p:nvSpPr>
        <p:spPr>
          <a:xfrm>
            <a:off x="10456164" y="1746123"/>
            <a:ext cx="0" cy="154305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16-mark416"/>
          <p:cNvSpPr/>
          <p:nvPr/>
        </p:nvSpPr>
        <p:spPr>
          <a:xfrm flipH="1">
            <a:off x="8124444" y="3426333"/>
            <a:ext cx="2194560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16-label418"/>
          <p:cNvSpPr txBox="1"/>
          <p:nvPr/>
        </p:nvSpPr>
        <p:spPr>
          <a:xfrm>
            <a:off x="7349998" y="373176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난로</a:t>
            </a:r>
            <a:endParaRPr lang="ko-KR" sz="2200" dirty="0"/>
          </a:p>
        </p:txBody>
      </p:sp>
      <p:sp>
        <p:nvSpPr>
          <p:cNvPr id="23" name="S16-label419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난로를 켠 방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두면 좋을까요?</a:t>
            </a:r>
            <a:endParaRPr lang="ko-KR" sz="4000" dirty="0"/>
          </a:p>
        </p:txBody>
      </p:sp>
      <p:sp>
        <p:nvSpPr>
          <p:cNvPr id="3" name="S17-text4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방의 위쪽과 아래쪽 중 어디가 좋을까요?</a:t>
            </a:r>
            <a:endParaRPr lang="ko-KR" sz="2800" dirty="0"/>
          </a:p>
        </p:txBody>
      </p:sp>
      <p:sp>
        <p:nvSpPr>
          <p:cNvPr id="4" name="S17-card4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7-cardtext4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데워진 것은 위로, 차가운 것은 아래로 움직여요.</a:t>
            </a:r>
            <a:endParaRPr lang="ko-KR" sz="2800" dirty="0"/>
          </a:p>
        </p:txBody>
      </p:sp>
      <p:sp>
        <p:nvSpPr>
          <p:cNvPr id="6" name="S17-chip4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7-text42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난로는 방의 어디에 두면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전체가 빨리 따뜻해질까요?</a:t>
            </a:r>
            <a:endParaRPr lang="ko-KR" sz="2800" dirty="0"/>
          </a:p>
        </p:txBody>
      </p:sp>
      <p:sp>
        <p:nvSpPr>
          <p:cNvPr id="8" name="S17-chip4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7-text42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에어컨은 방의 어디에 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전체가 빨리 시원해질까요?</a:t>
            </a:r>
            <a:endParaRPr lang="ko-KR" sz="2800" dirty="0"/>
          </a:p>
        </p:txBody>
      </p:sp>
      <p:sp>
        <p:nvSpPr>
          <p:cNvPr id="10" name="S17-chip4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7-text42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 물은 왜 아래에서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데울까요?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8-chip4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8-text43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프라이팬 몸통을 금속으로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까닭은?</a:t>
            </a:r>
            <a:endParaRPr lang="ko-KR" sz="2800" dirty="0"/>
          </a:p>
        </p:txBody>
      </p:sp>
      <p:sp>
        <p:nvSpPr>
          <p:cNvPr id="5" name="S18-chip43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8-text43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보온병에 넣은 물이 오래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까닭은?</a:t>
            </a:r>
            <a:endParaRPr lang="ko-KR" sz="2800" dirty="0"/>
          </a:p>
        </p:txBody>
      </p:sp>
      <p:sp>
        <p:nvSpPr>
          <p:cNvPr id="7" name="S18-chip43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8-text43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침대는 왜 위 칸이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따뜻할까요?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9-card4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9-cardtext4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고체는 전도, 물과 공기는 대류로 열이 이동해요.</a:t>
            </a:r>
            <a:endParaRPr lang="ko-KR" sz="2800" dirty="0"/>
          </a:p>
        </p:txBody>
      </p:sp>
      <p:sp>
        <p:nvSpPr>
          <p:cNvPr id="5" name="S19-chip43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9-text43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전도</a:t>
            </a:r>
            <a:endParaRPr lang="ko-KR" sz="2800" dirty="0"/>
          </a:p>
        </p:txBody>
      </p:sp>
      <p:sp>
        <p:nvSpPr>
          <p:cNvPr id="7" name="S19-text43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금속은 열이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전달돼요</a:t>
            </a:r>
            <a:endParaRPr lang="ko-KR" sz="2200" dirty="0"/>
          </a:p>
        </p:txBody>
      </p:sp>
      <p:sp>
        <p:nvSpPr>
          <p:cNvPr id="8" name="S19-text44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단열</a:t>
            </a:r>
            <a:endParaRPr lang="ko-KR" sz="2800" dirty="0"/>
          </a:p>
        </p:txBody>
      </p:sp>
      <p:sp>
        <p:nvSpPr>
          <p:cNvPr id="9" name="S19-text44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열의 이동을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줄여요</a:t>
            </a:r>
            <a:endParaRPr lang="ko-KR" sz="2200" dirty="0"/>
          </a:p>
        </p:txBody>
      </p:sp>
      <p:sp>
        <p:nvSpPr>
          <p:cNvPr id="10" name="S19-text44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대류</a:t>
            </a:r>
            <a:endParaRPr lang="ko-KR" sz="2800" dirty="0"/>
          </a:p>
        </p:txBody>
      </p:sp>
      <p:sp>
        <p:nvSpPr>
          <p:cNvPr id="11" name="S19-text44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데워진 공기가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위로 가요</a:t>
            </a:r>
            <a:endParaRPr lang="ko-KR" sz="2200" dirty="0"/>
          </a:p>
        </p:txBody>
      </p:sp>
      <p:sp>
        <p:nvSpPr>
          <p:cNvPr id="12" name="S19-chip44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9-text44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튼튼해서</a:t>
            </a:r>
            <a:endParaRPr lang="ko-KR" sz="2800" dirty="0"/>
          </a:p>
        </p:txBody>
      </p:sp>
      <p:sp>
        <p:nvSpPr>
          <p:cNvPr id="14" name="S19-text44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전달을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생각해요</a:t>
            </a:r>
            <a:endParaRPr lang="ko-KR" sz="2200" dirty="0"/>
          </a:p>
        </p:txBody>
      </p:sp>
      <p:sp>
        <p:nvSpPr>
          <p:cNvPr id="15" name="S19-text44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높아서</a:t>
            </a:r>
            <a:endParaRPr lang="ko-KR" sz="2800" dirty="0"/>
          </a:p>
        </p:txBody>
      </p:sp>
      <p:sp>
        <p:nvSpPr>
          <p:cNvPr id="16" name="S19-text44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데워진 공기가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올라가요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어느 쪽으로 이동할까요?</a:t>
            </a:r>
            <a:endParaRPr lang="ko-KR" sz="4000" dirty="0"/>
          </a:p>
        </p:txBody>
      </p:sp>
      <p:sp>
        <p:nvSpPr>
          <p:cNvPr id="3" name="S20-text4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우유 컵을 찬물이 담긴 그릇에 넣었어요.</a:t>
            </a:r>
            <a:endParaRPr lang="ko-KR" sz="2800" dirty="0"/>
          </a:p>
        </p:txBody>
      </p:sp>
      <p:sp>
        <p:nvSpPr>
          <p:cNvPr id="4" name="S20-card4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20-cardtext4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10분 뒤 두 온도가 어떻게 될지 말해요.</a:t>
            </a:r>
            <a:endParaRPr lang="ko-KR" sz="2800" dirty="0"/>
          </a:p>
        </p:txBody>
      </p:sp>
      <p:sp>
        <p:nvSpPr>
          <p:cNvPr id="6" name="S20-chip45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20-card45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20-cardtext45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우유의 열이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찬물로 이동해요.</a:t>
            </a:r>
            <a:endParaRPr lang="ko-KR" sz="2800" dirty="0"/>
          </a:p>
        </p:txBody>
      </p:sp>
      <p:sp>
        <p:nvSpPr>
          <p:cNvPr id="9" name="S20-chip45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20-card45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45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찬물의 차가움이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우유로 이동해요.</a:t>
            </a:r>
            <a:endParaRPr lang="ko-KR" sz="2800" dirty="0"/>
          </a:p>
        </p:txBody>
      </p:sp>
      <p:sp>
        <p:nvSpPr>
          <p:cNvPr id="12" name="S20-chip45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20-card45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20-cardtext46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이동하지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1-card46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1-cardtext46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온도가 높은 곳에서 낮은 곳으로 이동해요.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고체에서는 전도, 물과 공기에서는 대류로 이동해요.</a:t>
            </a:r>
            <a:endParaRPr lang="ko-KR" sz="2800" dirty="0"/>
          </a:p>
        </p:txBody>
      </p:sp>
      <p:sp>
        <p:nvSpPr>
          <p:cNvPr id="5" name="S21-chip46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눈높이를 맞춰 온도 읽기</a:t>
            </a:r>
            <a:endParaRPr lang="ko-KR" sz="2200" dirty="0"/>
          </a:p>
        </p:txBody>
      </p:sp>
      <p:sp>
        <p:nvSpPr>
          <p:cNvPr id="6" name="S21-chip46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차가움이 이동한다고 생각하기</a:t>
            </a:r>
            <a:endParaRPr lang="ko-KR" sz="2200" dirty="0"/>
          </a:p>
        </p:txBody>
      </p:sp>
      <p:sp>
        <p:nvSpPr>
          <p:cNvPr id="7" name="S21-text46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1-text46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온도계 눈금 23의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단위까지 읽으면?</a:t>
            </a:r>
            <a:endParaRPr lang="ko-KR" sz="2200" dirty="0"/>
          </a:p>
        </p:txBody>
      </p:sp>
      <p:sp>
        <p:nvSpPr>
          <p:cNvPr id="9" name="S21-text46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냄비 손잡이를 나무로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까닭은?</a:t>
            </a:r>
            <a:endParaRPr lang="ko-KR" sz="2200" dirty="0"/>
          </a:p>
        </p:txBody>
      </p:sp>
      <p:sp>
        <p:nvSpPr>
          <p:cNvPr id="10" name="S21-text46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에어컨을 방 위쪽에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다는 까닭은?</a:t>
            </a:r>
            <a:endParaRPr lang="ko-KR" sz="2200" dirty="0"/>
          </a:p>
        </p:txBody>
      </p:sp>
      <p:sp>
        <p:nvSpPr>
          <p:cNvPr id="11" name="S21-text4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에너지 절약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차가운 공기와 따뜻한 공기</a:t>
            </a:r>
            <a:endParaRPr lang="ko-KR" sz="4000" dirty="0"/>
          </a:p>
        </p:txBody>
      </p:sp>
      <p:sp>
        <p:nvSpPr>
          <p:cNvPr id="3" name="S22-text4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크기의 상자에 담았다고 생각해요.</a:t>
            </a:r>
            <a:endParaRPr lang="ko-KR" sz="2800" dirty="0"/>
          </a:p>
        </p:txBody>
      </p:sp>
      <p:sp>
        <p:nvSpPr>
          <p:cNvPr id="4" name="S22-card4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2-cardtext4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고기압에서 저기압으로 불어요.</a:t>
            </a:r>
            <a:endParaRPr lang="ko-KR" sz="2800" dirty="0"/>
          </a:p>
        </p:txBody>
      </p:sp>
      <p:sp>
        <p:nvSpPr>
          <p:cNvPr id="6" name="S22-card47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2-cardtext47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공기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무거워요.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높아요(고기압).</a:t>
            </a:r>
            <a:endParaRPr lang="ko-KR" sz="2800" dirty="0"/>
          </a:p>
        </p:txBody>
      </p:sp>
      <p:sp>
        <p:nvSpPr>
          <p:cNvPr id="8" name="S22-card47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2-cardtext47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공기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가벼워요.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낮아요(저기압).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열의 이동</dc:title>
  <dc:subject>KR22-G05-SCI-HEAT-L01</dc:subject>
  <dc:creator>education-ppt</dc:creator>
  <cp:lastModifiedBy>education-ppt</cp:lastModifiedBy>
  <cp:revision>1</cp:revision>
  <dcterms:created xsi:type="dcterms:W3CDTF">2026-10-26T13:46:45Z</dcterms:created>
  <dcterms:modified xsi:type="dcterms:W3CDTF">2026-10-26T13:46:45Z</dcterms:modified>
</cp:coreProperties>
</file>