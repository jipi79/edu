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b5af65a-4308-47c3-e67c-25c6937b12be}">
          <p14:sldIdLst>
            <p14:sldId id="256"/>
            <p14:sldId id="257"/>
          </p14:sldIdLst>
        </p14:section>
        <p14:section name="연습" id="{8cda45d7-82d1-1f31-c282-6d6f7e643748}">
          <p14:sldIdLst>
            <p14:sldId id="258"/>
            <p14:sldId id="259"/>
            <p14:sldId id="260"/>
            <p14:sldId id="261"/>
            <p14:sldId id="262"/>
            <p14:sldId id="264"/>
            <p14:sldId id="266"/>
            <p14:sldId id="268"/>
            <p14:sldId id="270"/>
          </p14:sldIdLst>
        </p14:section>
        <p14:section name="개념" id="{44c51048-cc20-5666-535d-2e9242c10e7a}">
          <p14:sldIdLst>
            <p14:sldId id="263"/>
            <p14:sldId id="265"/>
            <p14:sldId id="267"/>
            <p14:sldId id="269"/>
          </p14:sldIdLst>
        </p14:section>
        <p14:section name="연습" id="{5eb94afc-abd6-8608-5096-261ba2580817}">
          <p14:sldIdLst/>
        </p14:section>
        <p14:section name="개념" id="{051ee25a-c3b2-6223-35f0-92d7b19e453f}">
          <p14:sldIdLst/>
        </p14:section>
        <p14:section name="연습" id="{e0278bea-9771-4834-7853-8c676a03fd8f}">
          <p14:sldIdLst/>
        </p14:section>
        <p14:section name="개념" id="{3bdbce9f-ef06-d396-a383-a95748a0120f}">
          <p14:sldIdLst/>
        </p14:section>
        <p14:section name="연습" id="{8127b0f6-ee72-ce99-84e7-1389119c909b}">
          <p14:sldIdLst/>
        </p14:section>
        <p14:section name="개념" id="{2090487b-aead-4b2c-0b80-9456052f79bc}">
          <p14:sldIdLst/>
        </p14:section>
        <p14:section name="연습" id="{e8e79678-e4f8-4ecc-f5f6-0b62dfa0d6a5}">
          <p14:sldIdLst/>
        </p14:section>
        <p14:section name="확인" id="{a1703289-dc9c-2b45-a5d5-811f1f8a07ed}">
          <p14:sldIdLst>
            <p14:sldId id="271"/>
            <p14:sldId id="272"/>
            <p14:sldId id="273"/>
          </p14:sldIdLst>
        </p14:section>
        <p14:section name="정리" id="{f5055fde-0f0e-7768-97e6-71ca118415cb}">
          <p14:sldIdLst>
            <p14:sldId id="274"/>
          </p14:sldIdLst>
        </p14:section>
        <p14:section name="보충" id="{990d7b12-c075-9166-3724-4c0debcbde66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날씨를 이루는 습도·구름·비·바람에 궁금증을 갖게 합니다.
시간: 약 2분
이렇게 말해 보세요
- “비 오는 날 빨래를 집 안에 널면 잘 마를까? 맑은 날과 무엇이 다를까?”
- “오늘은 수건, 얼음물 컵, 숟가락으로 실험하면서 습도, 구름과 비, 바람이 생기는 까닭을 알아볼 거야.”
예상 답
- “비 오는 날은 잘 안 말라요.” “햇빛이 없어서요.” 어떤 답이든 괜찮습니다. 답을 확인하지 않고 넘어갑니다.
막히면
- “장마철에 빨래 냄새가 났던 적 있어?”처럼 경험만 떠올리게 합니다.
주의
- 수업 전에 얼음을 준비하고, 키친타월 2장·뚜껑 있는 통·접시를 한곳에 모아 둡니다. 수건 실험(S04)은 결과를 보기까지 15분쯤 걸리므로 수업 앞부분에 시작합니다.
- 이 차시는 찬물과 얼음만 씁니다. 뜨거운 물을 쓰는 교과서 실험은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확인(증발, 응결, 수증기)]
목적: 선수 차시 ‘물의 상태 변화’(KR22-G04-SCI-WATERSTATE-L01)에서 배운 증발·응결과 수증기가 기체라 보이지 않는다는 것을 확인합니다. 오늘 습도·이슬·구름을 설명할 때 그대로 씁니다.
시간: 약 2분
이렇게 말해 보세요
- “① 젖은 빨래가 마를 때 물은 무엇으로 변했지? 그걸 뭐라고 했어?”
- “② 차가운 컵 바깥에 물방울이 생기는 건? 무엇이 무엇으로 변한 거야?”
- “③ 수증기는 눈으로 볼 수 있을까?”
정답
- ① 증발
- ② 응결
- ③ 보이지 않는다(수증기는 기체)
막히면
- ①②가 흔들리면 S20(보충)을 먼저 합니다. 보충으로도 어려우면 앞 차시 ‘물의 상태 변화’(KR22-G04-SCI-WATERSTATE-L01)의 S07·S11을 다시 봅니다.
주의
- ③에서 ‘하얀 김이 수증기’라고 하면 S09에서 다시 다룹니다. 지금은 “수증기는 보이지 않아.”라고만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수건 실험 전 예상하기]
목적: 수건을 두기 전에 어느 쪽이 더 잘 마를지 예상하고 까닭을 말합니다(목표 A). 결과는 S11에서 확인합니다.
시간: 약 1분
이렇게 말해 보세요
- “똑같이 적신 수건을 하나는 뚜껑 닫은 통에, 하나는 통 밖 접시에 둘 거야. 15분 뒤에 어느 쪽이 더 말라 있을까? 왜 그렇게 생각해?”
- “예상은 활동지 1의 ‘내 예상’ 칸에 써 줘.”
예상 답
- 어떤 예상이든 괜찮습니다. “통 밖이 더 마를 것 같아요. 바람이 통하니까요.” “똑같을 것 같아요.”
막히면
- “빨래를 비닐봉지에 넣어 두면 마를까?”라고 경험을 떠올리게 합니다.
주의
- 결과를 알려 주지 않습니다. ‘습도’라는 말도 아직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수건 실험 시작하기]
목적: 조건(뚜껑을 닫았는지)만 다르게 하여 수건 두 장을 둡니다(목표 A). 기다리는 동안 다음 실험(S05~S10)을 하고, 결과는 S11에서 봅니다.
시간: 약 2분
이렇게 말해 보세요
- “두 장을 똑같이 적시고 똑같이 짜야 해. 왜 똑같이 해야 할까?”
- “한 장은 통 바닥에 펴서 뚜껑을 꼭 닫고, 한 장은 접시에 똑같이 펴 두자. 지금 몇 시 몇 분이야? 활동지 1에 써 줘.”
예상 답
- “공평하게 비교하려고요.” “다르게 하면 무엇 때문인지 몰라요.”
막히면
- 짜는 힘을 맞추기 어려우면 부모가 두 장을 모두 짜 줍니다.
주의
- 두 수건은 같은 방, 같은 높이에 두고 햇빛·선풍기·에어컨 바람이 한쪽에만 닿지 않게 합니다. 다르게 하는 조건은 ‘뚜껑을 닫았는지’ 하나뿐입니다.
- 키친타월이 없으면 얇은 손수건을 씁니다. 손수건은 더 천천히 마르므로 S11에서 차이가 작으면 수업 끝에 한 번 더 만져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차가운 컵·숟가락 관찰 전 예상하기]
목적: 관찰 전에 차가운 물체에 공기(입김)가 닿으면 어떻게 될지 예상합니다(목표 B). 결과는 S06·S07에서 확인합니다.
시간: 약 1분
이렇게 말해 보세요
- “얼음물 컵 겉면은 5분 뒤에 어떻게 될까? 4학년 때 해 본 것 기억나?”
- “얼음물에 담갔던 차가운 숟가락과 보통 숟가락에 ‘하’ 하고 입김을 불면 어느 쪽이 어떻게 될까?”
예상 답
- 어떤 예상이든 괜찮습니다. “컵에 물방울이 생겨요.” “숟가락이 뿌예질 것 같아요.” “둘 다 똑같을 것 같아요.”
막히면
- “추운 날 버스 창문에 입김을 불면 어떻게 됐어?”라고 경험을 떠올리게 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얼음물 컵과 숟가락 김 서림 관찰]
목적: 얼음물 컵 겉면의 물방울과 숟가락의 김 서림을 관찰해 기록합니다(목표 B, 오해 M2).
시간: 약 3분
이렇게 말해 보세요
- “숟가락을 입에서 한 뼘쯤 떨어뜨리고 ‘하’ 하고 길게 불어 봐. 어느 숟가락이 더 뿌예졌어? 뿌연 것은 어떻게 사라져?”
- “5분이 지났어. 컵 겉면을 손가락으로 만져 볼까? 휴지로 찍어 봐.”
예상 답
- “차가운 숟가락이 더 하얗게 뿌예지고 오래 남아요.” “보통 숟가락은 조금 뿌예졌다가 금방 없어져요.” “컵 겉면에 물방울이 생겼어요.”
막히면
- 보통 숟가락도 뿌예지면 “어느 쪽이 더 오래 남았어?”로 비교하게 합니다. 입김은 따뜻하고 수증기가 많아서 보통 숟가락도 잠깐 뿌예질 수 있습니다.
- 방이 건조해 컵 겉면에 물방울이 잘 생기지 않으면 얼음을 더 넣고 몇 분 더 기다립니다.
주의
- 숟가락을 냉동실에 넣지 않습니다. 아주 차가운 금속은 입술이나 혀에 달라붙을 수 있습니다. 얼음물에 담근 숟가락으로 충분합니다.
- 숟가락을 꺼내면 마른 수건으로 물기를 닦고 바로 입김을 붑니다. 닦지 않으면 원래 묻어 있던 물과 헷갈립니다.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컵·숟가락 관찰 결과 정리]
목적: 관찰 결과를 정리하고 예상과 비교합니다(목표 B).
시간: 약 2분
이렇게 말해 보세요
- “한 줄씩 결과를 말해 줄래? 예상과 같았어?”
- “컵 겉면 물방울과 숟가락의 뿌연 것은 어디에서 왔을까? 4학년 때 배운 말로 해 볼래?”
예상 답
- 얼음물 컵: 겉면에 물방울이 맺힘 / 차가운 숟가락: 하얗게 뿌예지고 조금 오래 남음 / 보통 숟가락: 조금 뿌예졌다가 금방 사라지거나 거의 그대로
- “공기 속 수증기가 차가운 데 닿아서 물방울이 됐어요. 응결이에요.”
막히면
- S02 ②(응결)를 다시 떠올리게 합니다.
주의
- 화면의 빈칸은 아이가 말로 채우는 자리입니다. 예상이 달랐어도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결과로 설명하기(이슬·안개·구름)]
목적: 컵과 숟가락의 관찰 결과를 근거로 이슬·안개·구름이 모두 응결로 생기며, 생기는 곳이 다르다는 것을 정리합니다(목표 B).
시간: 약 3분
이렇게 말해 보세요
- “컵 겉면에 맺힌 물방울처럼, 밤에 차가워진 풀잎에 공기 중 수증기가 응결해 맺힌 것이 ‘이슬’이야.”
- “땅 가까운 공기가 차가워지면 수증기가 응결해 아주 작은 물방울이 공기 속에 떠 있어. 그게 ‘안개’야. 숟가락이 뿌옇게 보인 것처럼 작은 물방울이 많으면 뿌옇게 보여.”
- “공기가 하늘 높이 올라가면 차가워져서 수증기가 응결하거나 얼어. 작은 물방울이나 얼음 알갱이가 하늘에 떠 있는 것이 ‘구름’이야.”
- “셋의 같은 점은? 다른 점은?”
예상 답
- “셋 다 수증기가 응결한 거예요.” “생기는 곳이 달라요. 이슬은 풀잎, 안개는 땅 가까이, 구름은 높은 하늘이요.”
막히면
- 표의 ‘생기는 곳’ 줄만 먼저 읽게 하고, 컵 겉면(이슬)과 숟가락(뿌옇게 보임)을 다시 가리킵니다.
주의
- 추운 날 입김이 하얗게 보이는 것은 공기 속에 작은 물방울이 떠 있는 것이라 안개·구름과 같은 모습입니다. 아이가 예로 들면 칭찬합니다.
- 구름이 생기는 까닭(공기가 위로 올라가면 부피가 커지며 온도가 낮아짐)은 ‘높이 올라가면 차가워진다’ 정도로만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비교(구름은 수증기다)]
목적: 구름(안개, 김)을 수증기로 생각하는 오해를 관찰과 4학년 지식으로 바로잡습니다(목표 B, 오해 M2).
시간: 약 2분
이렇게 말해 보세요
- “수증기는 눈에 보였어, 안 보였어? 그런데 구름은 보이지?”
- “숟가락에 입김을 불었을 때 뿌옇게 보인 건 무엇이었지?”
정답
- 곰. 증거: 수증기는 기체라서 눈에 보이지 않는데 구름은 눈에 보입니다. 숟가락이 뿌옇게 된 것도 수증기가 응결한 작은 물방울이 많이 생겼기 때문입니다.
막히면
- S02 ③을 다시 묻고, 차가운 숟가락에 한 번 더 입김을 불어 손가락으로 문질러 물기를 느끼게 합니다.
주의
- 증거를 하나 이상 말하면 잘한 것입니다. 냄비 위 하얀 김도 수증기가 아니라 작은 물방울입니다(4학년에서 배움).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비와 눈이 내리는 과정]
목적: 구름 속 작은 물방울과 얼음 알갱이가 커지고 무거워져 떨어지는 것이 비와 눈이라는 것을 교과서 수준으로 설명합니다(목표 B).
시간: 약 2분
이렇게 말해 보세요
- “구름 속 물방울은 아주 작아서 떠 있어. 이 물방울들이 서로 합쳐져 커지면 어떻게 될까?”
- “구름 속 얼음 알갱이가 커져서 떨어질 때, 내려오다가 녹으면 비, 녹지 않으면 눈이 돼.”
예상 답
- “무거워져서 떨어져요.” “겨울에는 추워서 안 녹고 눈이 돼요.”
막히면
- 숟가락의 작은 물방울이 모여 큰 물방울이 되어 흘러내리는 모습을 떠올리게 합니다(물방울이 커지면 흘러내림).
주의
- 우박, 진눈깨비 같은 다른 강수는 다루지 않습니다. 아이가 물으면 “얼음 알갱이가 크게 자라서 떨어진 것이 우박이야.” 정도로만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수건 실험 결과 정리]
목적: S04에서 둔 두 수건을 만져 비교하고 예상과 견줍니다(목표 A).
시간: 약 2분
이렇게 말해 보세요
- “시작한 지 몇 분 지났어? 두 수건을 손바닥으로 살짝 눌러 볼래? 어느 쪽이 더 말랐어?”
- “통 안쪽 벽에 물방울이나 뿌연 것이 생겼어?”
- “통 밖 수건의 물은 어디로 갔을까? 통 안 수건은 왜 덜 말랐을까?”
예상 답
- “통 밖 수건이 더 말랐어요.” “통 안 수건은 아직 축축해요.” “통 벽에 작은 물방울이 생겼어요(생기지 않을 수도 있음).”
막히면
- 차이가 작으면 두 수건을 볼에 살짝 대어 차갑고 축축한 정도를 비교하게 하거나, 수업 끝에 한 번 더 만져 봅니다.
주의
- 시간이 15분이 안 되었으면 S12를 먼저 하지 말고 S14(기압과 바람)를 먼저 한 뒤 돌아옵니다. 결과를 보기 전에 습도를 설명하지 않습니다.
- 통 밖 수건이 다 마를 때까지 두고, 다 마른 시각을 활동지 1에 쓰면 다음 수업에서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결과로 설명하기(습도와 우리 생활)]
목적: 수건 실험 결과를 근거로 습도의 뜻과, 습도가 생활에 주는 영향과 대처를 정리합니다(목표 A, 오해 M1).
시간: 약 3분
이렇게 말해 보세요
- “통 안 수건에서 증발한 수증기는 뚜껑 때문에 빠져나가지 못했어. 그래서 통 안 공기에는 수증기가 점점 많아졌지.”
- “공기 중에 수증기가 포함된 정도를 ‘습도’라고 해. 통 안처럼 습도가 높으면 물이 잘 증발하지 않아서 빨래가 잘 마르지 않아.”
- “습도가 높을 때와 낮을 때 어떤 일이 생기고, 무엇을 하면 좋을까?”
예상 답
- “장마철에 빨래가 안 말라요.” “겨울에 입술이 터져요.” “가습기를 틀어요.”
막히면
- 집에 온습도계가 있으면 지금 습도를 함께 읽어 봅니다. 예를 들어 ‘45 %’라고 쓰여 있으면 “사십오 퍼센트”라고 읽습니다(하나의 예이며, 집과 날씨에 따라 다릅니다).
주의
- 교과서에서는 건습구 습도계(온도계 두 개)와 습도표로 습도를 구합니다. 이 차시에서는 다루지 않으니 교과서 진도에 맞춰 따로 연습합니다.
- 통 안에서 수건이 덜 마른 데에는 바람이 통하지 않은 것도 함께 작용합니다. 아이가 ‘바람이 없어서’라고 하면 “맞아, 그리고 통 안 공기에 수증기가 가득 찬 것도 까닭이야.”라고 덧붙입니다.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오해 비교(비 오는 날 집 안 빨래)]
목적: 비만 맞지 않으면 빨래가 똑같이 마른다는 생각을 수건 실험 결과로 바로잡습니다(목표 A, 오해 M1).
시간: 약 2분
이렇게 말해 보세요
- “비 오는 날 공기에는 수증기가 많을까, 적을까? 우리 통 안 수건은 어땠지?”
정답
- 곰. 증거: 수증기가 빠져나가지 못한 통 안(습도가 높은 곳)의 수건이 통 밖 수건보다 덜 말랐습니다. 비 오는 날은 습도가 높아 빨래가 잘 마르지 않습니다.
막히면
- 두 수건을 다시 만져 보게 하고 “통 안은 비 오는 날 공기와 비슷해.”라고 연결해 줍니다.
주의
- 비 오는 날 빨래를 말릴 때 제습기를 켜거나 선풍기로 바람을 보내는 까닭(습도를 낮추고 공기를 움직임)을 덧붙이면 좋습니다.
- 지치면 여기서 쉬고, 다음에 S14부터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기압과 바람]
목적: 기압의 뜻, 차가운 공기와 따뜻한 공기의 기압 차이, 바람이 부는 방향의 규칙을 그림으로 설명합니다(목표 C, 오해 M3).
시간: 약 3분
이렇게 말해 보세요
- “공기에도 무게가 있다고 4학년 때 배웠지? 공기의 무게 때문에 생기는 누르는 힘을 ‘기압’이라고 해.”
- “두 상자는 크기가 같아. 점은 공기라고 생각해 봐. 어느 상자의 공기가 더 무거울까? 차가운 공기 쪽이 더 무거워서 기압이 높아. 주위보다 기압이 높은 곳을 ‘고기압’, 낮은 곳을 ‘저기압’이라고 해.”
- “바람은 공기가 움직이는 거야. 기압이 높은 곳에서 낮은 곳으로 공기가 움직여. 화살표를 따라 말해 볼래?”
예상 답
- “차가운 공기가 무거워요.” “바람은 차가운 쪽에서 따뜻한 쪽으로 불어요.”
막히면
- “물도 높은 곳에서 낮은 곳으로 흐르지? 공기도 기압이 높은 곳에서 낮은 곳으로 움직여.”라고 비유합니다.
주의
- 점의 수는 ‘같은 부피에 공기가 더 많이 들어 있다’는 뜻을 보여 주는 그림일 뿐, 실제 개수가 아닙니다.
- 공기에 무게가 있다는 것은 4학년 ‘기체의 성질’에서 배웠습니다. 기억하지 못하면 ‘공기를 넣은 공이 조금 더 무거워진다’는 예를 들어 줍니다.
- 높은 하늘의 바람이나 일기도는 다루지 않습니다. 땅 가까이에서 부는 바람만 생각합니다.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바닷가의 낮 바람(규칙 적용)]
목적: 도움을 받으며 바닷가의 낮에 바람이 부는 방향을 기압의 차이로 설명합니다(목표 C).
시간: 약 3분
이렇게 말해 보세요
- “햇볕을 받으면 모래(육지)와 바닷물 중 어느 쪽이 빨리 뜨거워질까? 그럼 어느 쪽 공기가 더 따뜻해?”
- “따뜻한 곳은 기압이 높아, 낮아? 그럼 바람은 어디에서 어디로 불까? 손가락으로 그림 위에 화살표를 그려 볼래?”
정답
- ① 육지 위
- ② 바다 위
- ③ 바다에서 육지로
막히면
- 여름 바닷가에서 모래는 뜨겁고 바닷물은 시원했던 경험을 떠올리게 합니다.
- S14 그림에서 ‘차가운 공기 = 바다 위’, ‘따뜻한 공기 = 육지 위’로 바꾸어 짚어 줍니다.
주의
- 낮에 바다에서 육지로 부는 바람을 ‘해풍’, 밤에 육지에서 바다로 부는 바람을 ‘육풍’이라고 합니다. 교과서에 나오면 알려 줍니다.
- 밤의 바람은 S16 ④에서 혼자 판단하게 하므로 여기서 미리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혼자 해결]
목적: 도움 없이 습도(①②), 이슬(③), 바람의 방향(④)을 설명하는지 확인합니다(목표 A·B·C).
시간: 약 3분
이렇게 말해 보세요
- “이번에는 혼자 답해 볼래? 왜 그렇게 생각했는지도 말해 줘.”
정답
- ① 습도(공기 중 수증기가 많음). 제습기나 환기로 습도를 낮춥니다.
- ② 가습기 틀기, 젖은 수건이나 빨래 널기, 물을 담은 그릇 두기 중 하나
- ③ 이슬. 밤에 차가워진 풀잎에 공기 중 수증기가 응결해 맺혔습니다.
- ④ 육지에서 바다로. 밤에는 육지 위가 더 차가워 기압이 높고, 바다 위가 기압이 낮기 때문입니다.
막히면
- 바로 알려 주지 말고 “오늘 실험 중 무엇과 비슷해?”라고만 묻습니다.
- 도움을 받아 해결했다면 기록표에 ‘도움’으로 표시합니다.
주의
- ④에서 낮과 같은 ‘바다에서 육지로’라고 하면 S14 규칙(차가운 곳 = 기압 높음)부터 다시 짚습니다(오해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습도 ② 가습기·젖은 수건 널기 등 ③ 이슬(풀잎에서 수증기가 응결) ④ 육지에서 바다로
막히면
- ①②가 틀리면 S11~S13으로, ③이 틀리면 S07·S08로, ④가 틀리면 S14·S15로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마무리 확인(처음 보는 상황에서 공기가 움직이는 방향)]
목적: 처음 보는 상황에서 ‘차가운 곳 = 고기압 → 따뜻한 곳 = 저기압’으로 공기가 움직이는 방향을 판단하는지 확인합니다(목표 C).
시간: 약 2분
이렇게 말해 보세요
- “얼음물 위 공기와 따뜻한 물 위 공기 중 어느 쪽이 차가워? 그럼 기압이 높은 쪽은?”
정답
- 가. 얼음물 위의 공기는 차가워 기압이 높고, 따뜻한 물 위의 공기는 기압이 낮으므로 바닥 가까이의 공기는 얼음물 쪽에서 따뜻한 물 쪽으로 움직입니다.
막히면
- S14의 그림에서 ‘차가운 공기’ 상자를 얼음물 쪽, ‘따뜻한 공기’ 상자를 따뜻한 물 쪽에 놓아 보게 합니다.
주의
- 이 상황은 교과서의 바람 모형 실험입니다(향 연기와 따뜻한 물을 쓰므로 집에서는 하지 않습니다). 교과서 실험에서도 연기는 얼음물 쪽에서 따뜻한 물 쪽으로 움직입니다.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정리와 다음 수업 복습]
목적: 핵심을 정리하고 다음 수업 첫 5분에 풀 복습 문제를 알려 줍니다.
시간: 약 1분
이렇게 말해 보세요
- “빨래가 잘 마르는 날과 안 마르는 날이 왜 다른지, 이제 설명해 볼래?”
예상 답
- “비 오는 날은 습도가 높아서 물이 잘 증발하지 않아요.”
정답
- ① 습도 ② 둘 다 공기 중 수증기가 응결한 것(생기는 곳만 다름) ③ 바다에서 육지로
막히면
- S08, S12, S14를 다시 보여 줍니다.
주의
- 복습 세 문제는 다음 수업을 시작할 때 활동지 마지막 쪽과 함께 풉니다. 그때 통 밖 수건이 다 마른 시각(활동지 1)도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[S20 · 선수 학습 보충(증발과 응결)]
목적: S02가 흔들리면, 손등의 물이 마르는 것(증발)과 차가운 컵 겉면의 물방울(응결)을 직접 해 보며 다시 익힙니다.
시간: 약 4분
이렇게 말해 보세요
- “손등에 물을 조금 바르고 부채질해 볼까? 물은 어디로 갔어?”
- “얼음물 컵 겉면에 생긴 물방울은 어디서 왔을까? 컵 안의 물이 새어 나온 걸까?”
예상 답
- “수증기가 되어 공기 속으로 갔어요.” “공기 속 수증기가 물방울이 됐어요.”
막히면
- ‘물 → 수증기’, ‘수증기 → 물’ 화살표를 종이에 써 두고 현상마다 어느 쪽인지 고르게 합니다.
주의
- 선수 차시는 4학년 ‘물의 상태 변화’(KR22-G04-SCI-WATERSTATE-L01)입니다. 보충으로도 증발과 응결을 구별하기 어려우면 그 차시를 먼저 다시 합니다.
- 보충이 오래 걸리면 오늘은 여기까지 하고 다음 날 S02부터 다시 시작합니다. 수건 실험은 그날 처음부터 다시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날씨열에너지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 요소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 요소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날씨 요소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요소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빨래가 잘 마르는 날과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마르는 날은 왜 다를까?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습도와 이슬·안개·구름·비가 생기는 까닭을 관찰로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기압의 차이로 바람이 부는 방향을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수증기로 변하는 것을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물로 변하는 것을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수증기는 눈에 보이나요?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적신 수건 두 장을 15분 동안 두면?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5833872"/>
                <a:gridCol w="422452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뚜껑 닫은 통 안의 수건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 밖 접시 위의 수건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많이 마를 쪽은?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두 장을 놓아요</a:t>
            </a:r>
            <a:endParaRPr lang="ko-KR" sz="4000" dirty="0"/>
          </a:p>
        </p:txBody>
      </p:sp>
      <p:sp>
        <p:nvSpPr>
          <p:cNvPr id="3" name="S04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흘린 물은 바로 닦고, 전기 제품 옆에 두지 않아요.</a:t>
            </a:r>
            <a:endParaRPr lang="ko-KR" sz="2800" dirty="0"/>
          </a:p>
        </p:txBody>
      </p:sp>
      <p:sp>
        <p:nvSpPr>
          <p:cNvPr id="5" name="S04-figure15" descr="왼쪽: 뚜껑을 닫은 투명한 통 바닥에 젖은 수건을 펼쳐 넣음. 오른쪽: 통 옆 접시 위에 같은 젖은 수건을 펼쳐 놓음"/>
          <p:cNvSpPr/>
          <p:nvPr/>
        </p:nvSpPr>
        <p:spPr>
          <a:xfrm>
            <a:off x="6990035" y="1739577"/>
            <a:ext cx="1974684" cy="987342"/>
          </a:xfrm>
          <a:custGeom>
            <a:avLst/>
            <a:gdLst/>
            <a:ahLst/>
            <a:cxnLst/>
            <a:rect l="l" t="t" r="r" b="b"/>
            <a:pathLst>
              <a:path w="1974684" h="987342">
                <a:moveTo>
                  <a:pt x="0" y="987342"/>
                </a:moveTo>
                <a:lnTo>
                  <a:pt x="1974684" y="987342"/>
                </a:lnTo>
                <a:lnTo>
                  <a:pt x="197468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6FA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4-mark16"/>
          <p:cNvSpPr/>
          <p:nvPr/>
        </p:nvSpPr>
        <p:spPr>
          <a:xfrm>
            <a:off x="6897472" y="1554450"/>
            <a:ext cx="2159811" cy="185127"/>
          </a:xfrm>
          <a:custGeom>
            <a:avLst/>
            <a:gdLst/>
            <a:ahLst/>
            <a:cxnLst/>
            <a:rect l="l" t="t" r="r" b="b"/>
            <a:pathLst>
              <a:path w="2159811" h="185127">
                <a:moveTo>
                  <a:pt x="0" y="185127"/>
                </a:moveTo>
                <a:lnTo>
                  <a:pt x="2159811" y="185127"/>
                </a:lnTo>
                <a:lnTo>
                  <a:pt x="2159811" y="0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4-mark17"/>
          <p:cNvSpPr/>
          <p:nvPr/>
        </p:nvSpPr>
        <p:spPr>
          <a:xfrm>
            <a:off x="7175162" y="2541792"/>
            <a:ext cx="1604431" cy="148101"/>
          </a:xfrm>
          <a:custGeom>
            <a:avLst/>
            <a:gdLst/>
            <a:ahLst/>
            <a:cxnLst/>
            <a:rect l="l" t="t" r="r" b="b"/>
            <a:pathLst>
              <a:path w="1604431" h="148101">
                <a:moveTo>
                  <a:pt x="0" y="148101"/>
                </a:moveTo>
                <a:lnTo>
                  <a:pt x="1604431" y="148101"/>
                </a:lnTo>
                <a:lnTo>
                  <a:pt x="1604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18"/>
          <p:cNvSpPr/>
          <p:nvPr/>
        </p:nvSpPr>
        <p:spPr>
          <a:xfrm>
            <a:off x="9211555" y="2591159"/>
            <a:ext cx="2344937" cy="135760"/>
          </a:xfrm>
          <a:custGeom>
            <a:avLst/>
            <a:gdLst/>
            <a:ahLst/>
            <a:cxnLst/>
            <a:rect l="l" t="t" r="r" b="b"/>
            <a:pathLst>
              <a:path w="2344937" h="135760">
                <a:moveTo>
                  <a:pt x="185127" y="135760"/>
                </a:moveTo>
                <a:lnTo>
                  <a:pt x="2159811" y="135760"/>
                </a:lnTo>
                <a:lnTo>
                  <a:pt x="234493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19"/>
          <p:cNvSpPr/>
          <p:nvPr/>
        </p:nvSpPr>
        <p:spPr>
          <a:xfrm>
            <a:off x="9581808" y="2443058"/>
            <a:ext cx="1604431" cy="148101"/>
          </a:xfrm>
          <a:custGeom>
            <a:avLst/>
            <a:gdLst/>
            <a:ahLst/>
            <a:cxnLst/>
            <a:rect l="l" t="t" r="r" b="b"/>
            <a:pathLst>
              <a:path w="1604431" h="148101">
                <a:moveTo>
                  <a:pt x="0" y="148101"/>
                </a:moveTo>
                <a:lnTo>
                  <a:pt x="1604431" y="148101"/>
                </a:lnTo>
                <a:lnTo>
                  <a:pt x="1604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label21"/>
          <p:cNvSpPr txBox="1"/>
          <p:nvPr/>
        </p:nvSpPr>
        <p:spPr>
          <a:xfrm>
            <a:off x="6849617" y="2891693"/>
            <a:ext cx="22555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 안(뚜껑 닫음)</a:t>
            </a:r>
            <a:endParaRPr lang="ko-KR" sz="2200" dirty="0"/>
          </a:p>
        </p:txBody>
      </p:sp>
      <p:sp>
        <p:nvSpPr>
          <p:cNvPr id="11" name="S04-label23"/>
          <p:cNvSpPr txBox="1"/>
          <p:nvPr/>
        </p:nvSpPr>
        <p:spPr>
          <a:xfrm>
            <a:off x="9393169" y="2891693"/>
            <a:ext cx="19817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 밖(접시 위)</a:t>
            </a:r>
            <a:endParaRPr lang="ko-KR" sz="2200" dirty="0"/>
          </a:p>
        </p:txBody>
      </p:sp>
      <p:sp>
        <p:nvSpPr>
          <p:cNvPr id="12" name="S04-card24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25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수건을 같은 곳에 둬요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선풍기 바람이 닿지 않게 해요</a:t>
            </a:r>
            <a:endParaRPr lang="ko-KR" sz="2800" dirty="0"/>
          </a:p>
        </p:txBody>
      </p:sp>
      <p:sp>
        <p:nvSpPr>
          <p:cNvPr id="14" name="S04-stepno2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4-text27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키친타월 두 장을 물에 적셔 똑같이 짜요.</a:t>
            </a:r>
            <a:endParaRPr lang="ko-KR" sz="2200" dirty="0"/>
          </a:p>
        </p:txBody>
      </p:sp>
      <p:sp>
        <p:nvSpPr>
          <p:cNvPr id="16" name="S04-stepno2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4-text29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장은 통 바닥에 펴고 뚜껑을 닫아요.</a:t>
            </a:r>
            <a:endParaRPr lang="ko-KR" sz="2200" dirty="0"/>
          </a:p>
        </p:txBody>
      </p:sp>
      <p:sp>
        <p:nvSpPr>
          <p:cNvPr id="18" name="S04-stepno3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4-text31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한 장은 접시에 똑같이 펴요.</a:t>
            </a:r>
            <a:endParaRPr lang="ko-KR" sz="2200" dirty="0"/>
          </a:p>
        </p:txBody>
      </p:sp>
      <p:sp>
        <p:nvSpPr>
          <p:cNvPr id="20" name="S04-stepno3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04-text33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시각을 쓰고 15분 뒤에 만져 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차가운 물체에 닿으면?</a:t>
            </a:r>
            <a:endParaRPr lang="ko-KR" sz="2800" dirty="0"/>
          </a:p>
        </p:txBody>
      </p:sp>
      <p:sp>
        <p:nvSpPr>
          <p:cNvPr id="4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6" name="S05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5833872"/>
                <a:gridCol w="422452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얼음물 컵의 겉면(5분 뒤)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차가운 숟가락에 입김을 불면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숟가락에 입김을 불면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컵과 숟가락</a:t>
            </a:r>
            <a:endParaRPr lang="ko-KR" sz="4000" dirty="0"/>
          </a:p>
        </p:txBody>
      </p:sp>
      <p:sp>
        <p:nvSpPr>
          <p:cNvPr id="3" name="S06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숟가락은 입술이나 혀에 대지 않아요.</a:t>
            </a:r>
            <a:endParaRPr lang="ko-KR" sz="2800" dirty="0"/>
          </a:p>
        </p:txBody>
      </p:sp>
      <p:sp>
        <p:nvSpPr>
          <p:cNvPr id="5" name="S06-card4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더 뿌예지는 숟가락을 찾아요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뿌연 것이 언제 사라지나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5분 뒤 컵 겉면을 만져 봐요</a:t>
            </a:r>
            <a:endParaRPr lang="ko-KR" sz="2800" dirty="0"/>
          </a:p>
        </p:txBody>
      </p:sp>
      <p:sp>
        <p:nvSpPr>
          <p:cNvPr id="7" name="S06-stepno42"/>
          <p:cNvSpPr txBox="1"/>
          <p:nvPr/>
        </p:nvSpPr>
        <p:spPr>
          <a:xfrm>
            <a:off x="548640" y="144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6-text43"/>
          <p:cNvSpPr txBox="1"/>
          <p:nvPr/>
        </p:nvSpPr>
        <p:spPr>
          <a:xfrm>
            <a:off x="1325880" y="1400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얼음물을 담고 겉면을 닦아요.</a:t>
            </a:r>
            <a:endParaRPr lang="ko-KR" sz="2800" dirty="0"/>
          </a:p>
        </p:txBody>
      </p:sp>
      <p:sp>
        <p:nvSpPr>
          <p:cNvPr id="9" name="S06-stepno44"/>
          <p:cNvSpPr txBox="1"/>
          <p:nvPr/>
        </p:nvSpPr>
        <p:spPr>
          <a:xfrm>
            <a:off x="548640" y="2478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6-text45"/>
          <p:cNvSpPr txBox="1"/>
          <p:nvPr/>
        </p:nvSpPr>
        <p:spPr>
          <a:xfrm>
            <a:off x="1325880" y="243281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 하나를 얼음물에 1분 담가요.</a:t>
            </a:r>
            <a:endParaRPr lang="ko-KR" sz="2800" dirty="0"/>
          </a:p>
        </p:txBody>
      </p:sp>
      <p:sp>
        <p:nvSpPr>
          <p:cNvPr id="11" name="S06-stepno46"/>
          <p:cNvSpPr txBox="1"/>
          <p:nvPr/>
        </p:nvSpPr>
        <p:spPr>
          <a:xfrm>
            <a:off x="548640" y="3510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6-text47"/>
          <p:cNvSpPr txBox="1"/>
          <p:nvPr/>
        </p:nvSpPr>
        <p:spPr>
          <a:xfrm>
            <a:off x="1325880" y="3465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꺼내 닦고 바로 ‘하’ 입김을 불어요.</a:t>
            </a:r>
            <a:endParaRPr lang="ko-KR" sz="2800" dirty="0"/>
          </a:p>
        </p:txBody>
      </p:sp>
      <p:sp>
        <p:nvSpPr>
          <p:cNvPr id="13" name="S06-stepno48"/>
          <p:cNvSpPr txBox="1"/>
          <p:nvPr/>
        </p:nvSpPr>
        <p:spPr>
          <a:xfrm>
            <a:off x="548640" y="4497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6-text49"/>
          <p:cNvSpPr txBox="1"/>
          <p:nvPr/>
        </p:nvSpPr>
        <p:spPr>
          <a:xfrm>
            <a:off x="1325880" y="4497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숟가락에도 똑같이 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7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중 수증기는 차가운 곳에서 어떻게 되었나요?</a:t>
            </a:r>
            <a:endParaRPr lang="ko-KR" sz="2800" dirty="0"/>
          </a:p>
        </p:txBody>
      </p:sp>
      <p:graphicFrame>
        <p:nvGraphicFramePr>
          <p:cNvPr id="8" name="S07-table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047488"/>
                <a:gridCol w="546811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얼음물 컵의 겉면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차가운 숟가락 + 입김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숟가락 + 입김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이슬, 안개, 구름</a:t>
            </a:r>
            <a:endParaRPr lang="ko-KR" sz="4000" dirty="0"/>
          </a:p>
        </p:txBody>
      </p:sp>
      <p:sp>
        <p:nvSpPr>
          <p:cNvPr id="3" name="S08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공기 중 수증기가 차가워져 응결한 거예요.</a:t>
            </a:r>
            <a:endParaRPr lang="ko-KR" sz="2800" dirty="0"/>
          </a:p>
        </p:txBody>
      </p:sp>
      <p:sp>
        <p:nvSpPr>
          <p:cNvPr id="4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물방울이 많이 모이면 뿌옇게 보여요.</a:t>
            </a:r>
            <a:endParaRPr lang="ko-KR" sz="2800" dirty="0"/>
          </a:p>
        </p:txBody>
      </p:sp>
      <p:graphicFrame>
        <p:nvGraphicFramePr>
          <p:cNvPr id="9" name="S08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286000"/>
          <a:ext cx="10607040" cy="914400"/>
        </p:xfrm>
        <a:graphic>
          <a:graphicData uri="http://schemas.openxmlformats.org/drawingml/2006/table">
            <a:tbl>
              <a:tblPr/>
              <a:tblGrid>
                <a:gridCol w="2015338"/>
                <a:gridCol w="2651760"/>
                <a:gridCol w="2863901"/>
                <a:gridCol w="307604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생기는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차가운 물체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표면(풀잎)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땅 가까운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공기 속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높은 하늘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52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물방울이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맺혀요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물방울이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떠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물방울·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 알갱이가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떠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9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하늘에 하얀 구름이 떠 있어요.</a:t>
            </a:r>
            <a:endParaRPr lang="ko-KR" sz="2800" dirty="0"/>
          </a:p>
        </p:txBody>
      </p:sp>
      <p:sp>
        <p:nvSpPr>
          <p:cNvPr id="5" name="S09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9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9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구름은 수증기가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모인 거예요.</a:t>
            </a:r>
            <a:endParaRPr lang="ko-KR" sz="2800" dirty="0"/>
          </a:p>
        </p:txBody>
      </p:sp>
      <p:sp>
        <p:nvSpPr>
          <p:cNvPr id="9" name="S09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9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구름은 작은 물방울이나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알갱이가 모인 거예요.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비와 눈은 어떻게 내릴까요?</a:t>
            </a:r>
            <a:endParaRPr lang="ko-KR" sz="4000" dirty="0"/>
          </a:p>
        </p:txBody>
      </p:sp>
      <p:sp>
        <p:nvSpPr>
          <p:cNvPr id="3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 속 물방울과 얼음 알갱이가 무거워지면 떨어져요.</a:t>
            </a:r>
            <a:endParaRPr lang="ko-KR" sz="2800" dirty="0"/>
          </a:p>
        </p:txBody>
      </p:sp>
      <p:sp>
        <p:nvSpPr>
          <p:cNvPr id="5" name="S10-card68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69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물방울로 떨어지거나,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녹아 떨어져요.</a:t>
            </a:r>
            <a:endParaRPr lang="ko-KR" sz="2800" dirty="0"/>
          </a:p>
        </p:txBody>
      </p:sp>
      <p:sp>
        <p:nvSpPr>
          <p:cNvPr id="7" name="S10-card70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71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알갱이가 녹지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않고 떨어져요.</a:t>
            </a:r>
            <a:endParaRPr lang="ko-KR" sz="2800" dirty="0"/>
          </a:p>
        </p:txBody>
      </p:sp>
      <p:sp>
        <p:nvSpPr>
          <p:cNvPr id="9" name="S10-step72"/>
          <p:cNvSpPr txBox="1"/>
          <p:nvPr/>
        </p:nvSpPr>
        <p:spPr>
          <a:xfrm>
            <a:off x="1293876" y="1708404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 속 작은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물방울·얼음 알갱이</a:t>
            </a:r>
            <a:endParaRPr lang="ko-KR" sz="2200" dirty="0"/>
          </a:p>
        </p:txBody>
      </p:sp>
      <p:sp>
        <p:nvSpPr>
          <p:cNvPr id="10" name="S10-line73"/>
          <p:cNvSpPr/>
          <p:nvPr/>
        </p:nvSpPr>
        <p:spPr>
          <a:xfrm>
            <a:off x="4274820" y="234848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10-step74"/>
          <p:cNvSpPr txBox="1"/>
          <p:nvPr/>
        </p:nvSpPr>
        <p:spPr>
          <a:xfrm>
            <a:off x="4631436" y="1708404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합쳐지거나 커져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무거워져요</a:t>
            </a:r>
            <a:endParaRPr lang="ko-KR" sz="2200" dirty="0"/>
          </a:p>
        </p:txBody>
      </p:sp>
      <p:sp>
        <p:nvSpPr>
          <p:cNvPr id="12" name="S10-line75"/>
          <p:cNvSpPr/>
          <p:nvPr/>
        </p:nvSpPr>
        <p:spPr>
          <a:xfrm>
            <a:off x="7612380" y="234848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10-step76"/>
          <p:cNvSpPr txBox="1"/>
          <p:nvPr/>
        </p:nvSpPr>
        <p:spPr>
          <a:xfrm>
            <a:off x="7968996" y="1708404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아래로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떨어져요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수건은 어떻게 되었나요?</a:t>
            </a:r>
            <a:endParaRPr lang="ko-KR" sz="4000" dirty="0"/>
          </a:p>
        </p:txBody>
      </p:sp>
      <p:sp>
        <p:nvSpPr>
          <p:cNvPr id="3" name="S11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수건을 만져 보고 빈칸을 말로 채워요.</a:t>
            </a:r>
            <a:endParaRPr lang="ko-KR" sz="2800" dirty="0"/>
          </a:p>
        </p:txBody>
      </p:sp>
      <p:sp>
        <p:nvSpPr>
          <p:cNvPr id="4" name="S11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말랐나요? 왜 그럴까요?</a:t>
            </a:r>
            <a:endParaRPr lang="ko-KR" sz="2800" dirty="0"/>
          </a:p>
        </p:txBody>
      </p:sp>
      <p:graphicFrame>
        <p:nvGraphicFramePr>
          <p:cNvPr id="12" name="S11-table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680460"/>
                <a:gridCol w="36804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 안 수건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 밖 수건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만진 느낌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마른 쪽(○)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 안쪽 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(통 없음)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습도와 우리 생활</a:t>
            </a:r>
            <a:endParaRPr lang="ko-KR" sz="4000" dirty="0"/>
          </a:p>
        </p:txBody>
      </p:sp>
      <p:sp>
        <p:nvSpPr>
          <p:cNvPr id="3" name="S12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습도: 공기 중에 수증기가 포함된 정도(%)</a:t>
            </a:r>
            <a:endParaRPr lang="ko-KR" sz="2800" dirty="0"/>
          </a:p>
        </p:txBody>
      </p:sp>
      <p:sp>
        <p:nvSpPr>
          <p:cNvPr id="4" name="S12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 안은 수증기가 많아져(습도가 높아져) 수건이 덜 말랐어요.</a:t>
            </a:r>
            <a:endParaRPr lang="ko-KR" sz="2800" dirty="0"/>
          </a:p>
        </p:txBody>
      </p:sp>
      <p:graphicFrame>
        <p:nvGraphicFramePr>
          <p:cNvPr id="13" name="S12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657856"/>
          <a:ext cx="10607040" cy="914400"/>
        </p:xfrm>
        <a:graphic>
          <a:graphicData uri="http://schemas.openxmlformats.org/drawingml/2006/table">
            <a:tbl>
              <a:tblPr/>
              <a:tblGrid>
                <a:gridCol w="2121408"/>
                <a:gridCol w="4242816"/>
                <a:gridCol w="424281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습도가 높을 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습도가 낮을 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생기는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빨래가 잘 안 말라요.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곰팡이가 잘 생겨요.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피부와 목이 건조해요.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산불이 나기 쉬워요.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제습기, 창문 열어 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가습기, 젖은 수건 널기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8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오는 날, 빨래를 집 안에 널었어요.</a:t>
            </a:r>
            <a:endParaRPr lang="ko-KR" sz="2800" dirty="0"/>
          </a:p>
        </p:txBody>
      </p:sp>
      <p:sp>
        <p:nvSpPr>
          <p:cNvPr id="5" name="S13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오늘 실험의 무엇이 증거일까요?</a:t>
            </a:r>
            <a:endParaRPr lang="ko-KR" sz="2800" dirty="0"/>
          </a:p>
        </p:txBody>
      </p:sp>
      <p:sp>
        <p:nvSpPr>
          <p:cNvPr id="7" name="S13-chip8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3-text9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비를 맞지 않으니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맑은 날처럼 잘 말라요.</a:t>
            </a:r>
            <a:endParaRPr lang="ko-KR" sz="2800" dirty="0"/>
          </a:p>
        </p:txBody>
      </p:sp>
      <p:sp>
        <p:nvSpPr>
          <p:cNvPr id="9" name="S13-chip9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3-text9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중 수증기가 많아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마르지 않아요.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기압과 바람</a:t>
            </a:r>
            <a:endParaRPr lang="ko-KR" sz="4000" dirty="0"/>
          </a:p>
        </p:txBody>
      </p:sp>
      <p:sp>
        <p:nvSpPr>
          <p:cNvPr id="3" name="S14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부피라면 차가운 공기가 더 무거워요.</a:t>
            </a:r>
            <a:endParaRPr lang="ko-KR" sz="2800" dirty="0"/>
          </a:p>
        </p:txBody>
      </p:sp>
      <p:sp>
        <p:nvSpPr>
          <p:cNvPr id="4" name="S14-card94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95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공기의 무게로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누르는 힘</a:t>
            </a:r>
            <a:endParaRPr lang="ko-KR" sz="2800" dirty="0"/>
          </a:p>
        </p:txBody>
      </p:sp>
      <p:sp>
        <p:nvSpPr>
          <p:cNvPr id="6" name="S14-card96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7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고기압·저기압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곳은 고기압,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곳은 저기압</a:t>
            </a:r>
            <a:endParaRPr lang="ko-KR" sz="2800" dirty="0"/>
          </a:p>
        </p:txBody>
      </p:sp>
      <p:sp>
        <p:nvSpPr>
          <p:cNvPr id="8" name="S14-card98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99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기압이 높은 곳에서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곳으로 불어요.</a:t>
            </a:r>
            <a:endParaRPr lang="ko-KR" sz="2800" dirty="0"/>
          </a:p>
        </p:txBody>
      </p:sp>
      <p:sp>
        <p:nvSpPr>
          <p:cNvPr id="10" name="S14-figure100" descr="같은 크기의 상자 두 개. 왼쪽 차가운 공기 상자에는 공기 알갱이(점) 12개, 오른쪽 따뜻한 공기 상자에는 6개. 왼쪽 아래 ‘고기압’, 오른쪽 아래 ‘저기압’. 두 상자 사이 아래쪽에 왼쪽에서 오른쪽으로 향하는 화살표 ‘바람’"/>
          <p:cNvSpPr/>
          <p:nvPr/>
        </p:nvSpPr>
        <p:spPr>
          <a:xfrm>
            <a:off x="3522726" y="2622804"/>
            <a:ext cx="2057400" cy="1234440"/>
          </a:xfrm>
          <a:custGeom>
            <a:avLst/>
            <a:gdLst/>
            <a:ahLst/>
            <a:cxnLst/>
            <a:rect l="l" t="t" r="r" b="b"/>
            <a:pathLst>
              <a:path w="2057400" h="1234440">
                <a:moveTo>
                  <a:pt x="0" y="1234440"/>
                </a:moveTo>
                <a:lnTo>
                  <a:pt x="2057400" y="1234440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BF7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14-mark101"/>
          <p:cNvSpPr/>
          <p:nvPr/>
        </p:nvSpPr>
        <p:spPr>
          <a:xfrm>
            <a:off x="6608826" y="2622804"/>
            <a:ext cx="2057400" cy="1234440"/>
          </a:xfrm>
          <a:custGeom>
            <a:avLst/>
            <a:gdLst/>
            <a:ahLst/>
            <a:cxnLst/>
            <a:rect l="l" t="t" r="r" b="b"/>
            <a:pathLst>
              <a:path w="2057400" h="1234440">
                <a:moveTo>
                  <a:pt x="0" y="1234440"/>
                </a:moveTo>
                <a:lnTo>
                  <a:pt x="2057400" y="1234440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2" name="S14-mark102"/>
          <p:cNvSpPr/>
          <p:nvPr/>
        </p:nvSpPr>
        <p:spPr>
          <a:xfrm>
            <a:off x="3783330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mark103"/>
          <p:cNvSpPr/>
          <p:nvPr/>
        </p:nvSpPr>
        <p:spPr>
          <a:xfrm>
            <a:off x="3783330" y="31577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mark104"/>
          <p:cNvSpPr/>
          <p:nvPr/>
        </p:nvSpPr>
        <p:spPr>
          <a:xfrm>
            <a:off x="3783330" y="284911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mark105"/>
          <p:cNvSpPr/>
          <p:nvPr/>
        </p:nvSpPr>
        <p:spPr>
          <a:xfrm>
            <a:off x="4242816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4-mark106"/>
          <p:cNvSpPr/>
          <p:nvPr/>
        </p:nvSpPr>
        <p:spPr>
          <a:xfrm>
            <a:off x="4242816" y="31577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4-mark107"/>
          <p:cNvSpPr/>
          <p:nvPr/>
        </p:nvSpPr>
        <p:spPr>
          <a:xfrm>
            <a:off x="4242816" y="284911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mark108"/>
          <p:cNvSpPr/>
          <p:nvPr/>
        </p:nvSpPr>
        <p:spPr>
          <a:xfrm>
            <a:off x="4695444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4-mark109"/>
          <p:cNvSpPr/>
          <p:nvPr/>
        </p:nvSpPr>
        <p:spPr>
          <a:xfrm>
            <a:off x="4695444" y="31577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mark110"/>
          <p:cNvSpPr/>
          <p:nvPr/>
        </p:nvSpPr>
        <p:spPr>
          <a:xfrm>
            <a:off x="4695444" y="284911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4-mark111"/>
          <p:cNvSpPr/>
          <p:nvPr/>
        </p:nvSpPr>
        <p:spPr>
          <a:xfrm>
            <a:off x="5154930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mark112"/>
          <p:cNvSpPr/>
          <p:nvPr/>
        </p:nvSpPr>
        <p:spPr>
          <a:xfrm>
            <a:off x="5154930" y="31577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4-mark113"/>
          <p:cNvSpPr/>
          <p:nvPr/>
        </p:nvSpPr>
        <p:spPr>
          <a:xfrm>
            <a:off x="5154930" y="284911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4-mark114"/>
          <p:cNvSpPr/>
          <p:nvPr/>
        </p:nvSpPr>
        <p:spPr>
          <a:xfrm>
            <a:off x="6869430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4-mark115"/>
          <p:cNvSpPr/>
          <p:nvPr/>
        </p:nvSpPr>
        <p:spPr>
          <a:xfrm>
            <a:off x="7760970" y="343204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4-mark116"/>
          <p:cNvSpPr/>
          <p:nvPr/>
        </p:nvSpPr>
        <p:spPr>
          <a:xfrm>
            <a:off x="8241030" y="302056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4-mark117"/>
          <p:cNvSpPr/>
          <p:nvPr/>
        </p:nvSpPr>
        <p:spPr>
          <a:xfrm>
            <a:off x="7349490" y="31234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4-mark118"/>
          <p:cNvSpPr/>
          <p:nvPr/>
        </p:nvSpPr>
        <p:spPr>
          <a:xfrm>
            <a:off x="6869430" y="28148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4-mark119"/>
          <p:cNvSpPr/>
          <p:nvPr/>
        </p:nvSpPr>
        <p:spPr>
          <a:xfrm>
            <a:off x="7829550" y="27805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4-mark120"/>
          <p:cNvSpPr/>
          <p:nvPr/>
        </p:nvSpPr>
        <p:spPr>
          <a:xfrm>
            <a:off x="5648706" y="3617214"/>
            <a:ext cx="891540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31" name="S14-label122"/>
          <p:cNvSpPr txBox="1"/>
          <p:nvPr/>
        </p:nvSpPr>
        <p:spPr>
          <a:xfrm>
            <a:off x="3770122" y="2173859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공기</a:t>
            </a:r>
            <a:endParaRPr lang="ko-KR" sz="2200" dirty="0"/>
          </a:p>
        </p:txBody>
      </p:sp>
      <p:sp>
        <p:nvSpPr>
          <p:cNvPr id="32" name="S14-label124"/>
          <p:cNvSpPr txBox="1"/>
          <p:nvPr/>
        </p:nvSpPr>
        <p:spPr>
          <a:xfrm>
            <a:off x="6856222" y="2173859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공기</a:t>
            </a:r>
            <a:endParaRPr lang="ko-KR" sz="2200" dirty="0"/>
          </a:p>
        </p:txBody>
      </p:sp>
      <p:sp>
        <p:nvSpPr>
          <p:cNvPr id="33" name="S14-label126"/>
          <p:cNvSpPr txBox="1"/>
          <p:nvPr/>
        </p:nvSpPr>
        <p:spPr>
          <a:xfrm>
            <a:off x="4085844" y="3956939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고기압</a:t>
            </a:r>
            <a:endParaRPr lang="ko-KR" sz="2200" dirty="0"/>
          </a:p>
        </p:txBody>
      </p:sp>
      <p:sp>
        <p:nvSpPr>
          <p:cNvPr id="34" name="S14-label128"/>
          <p:cNvSpPr txBox="1"/>
          <p:nvPr/>
        </p:nvSpPr>
        <p:spPr>
          <a:xfrm>
            <a:off x="7171944" y="3956939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저기압</a:t>
            </a:r>
            <a:endParaRPr lang="ko-KR" sz="2200" dirty="0"/>
          </a:p>
        </p:txBody>
      </p:sp>
      <p:sp>
        <p:nvSpPr>
          <p:cNvPr id="35" name="S14-label130"/>
          <p:cNvSpPr txBox="1"/>
          <p:nvPr/>
        </p:nvSpPr>
        <p:spPr>
          <a:xfrm>
            <a:off x="5765800" y="30996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바닷가의 낮</a:t>
            </a:r>
            <a:endParaRPr lang="ko-KR" sz="4000" dirty="0"/>
          </a:p>
        </p:txBody>
      </p:sp>
      <p:sp>
        <p:nvSpPr>
          <p:cNvPr id="3" name="S15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낮에는 육지가 바다보다 빨리 데워져요.</a:t>
            </a:r>
            <a:endParaRPr lang="ko-KR" sz="2800" dirty="0"/>
          </a:p>
        </p:txBody>
      </p:sp>
      <p:sp>
        <p:nvSpPr>
          <p:cNvPr id="4" name="S15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S14의 규칙: 바람은 기압이 높은 곳 → 낮은 곳</a:t>
            </a:r>
            <a:endParaRPr lang="ko-KR" sz="2800" dirty="0"/>
          </a:p>
        </p:txBody>
      </p:sp>
      <p:sp>
        <p:nvSpPr>
          <p:cNvPr id="6" name="S15-figure134" descr="바닷가의 낮: 왼쪽 육지, 오른쪽 바다, 육지 위 하늘에 해. 바람의 방향은 그리지 않음"/>
          <p:cNvSpPr/>
          <p:nvPr/>
        </p:nvSpPr>
        <p:spPr>
          <a:xfrm>
            <a:off x="6581394" y="3878199"/>
            <a:ext cx="2377440" cy="713232"/>
          </a:xfrm>
          <a:custGeom>
            <a:avLst/>
            <a:gdLst/>
            <a:ahLst/>
            <a:cxnLst/>
            <a:rect l="l" t="t" r="r" b="b"/>
            <a:pathLst>
              <a:path w="2377440" h="713232">
                <a:moveTo>
                  <a:pt x="0" y="713232"/>
                </a:moveTo>
                <a:lnTo>
                  <a:pt x="2377440" y="713232"/>
                </a:lnTo>
                <a:lnTo>
                  <a:pt x="2377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3A9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135"/>
          <p:cNvSpPr/>
          <p:nvPr/>
        </p:nvSpPr>
        <p:spPr>
          <a:xfrm>
            <a:off x="8958834" y="4115943"/>
            <a:ext cx="2377440" cy="475488"/>
          </a:xfrm>
          <a:custGeom>
            <a:avLst/>
            <a:gdLst/>
            <a:ahLst/>
            <a:cxnLst/>
            <a:rect l="l" t="t" r="r" b="b"/>
            <a:pathLst>
              <a:path w="2377440" h="475488">
                <a:moveTo>
                  <a:pt x="0" y="475488"/>
                </a:moveTo>
                <a:lnTo>
                  <a:pt x="2377440" y="475488"/>
                </a:lnTo>
                <a:lnTo>
                  <a:pt x="2377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mark136"/>
          <p:cNvSpPr/>
          <p:nvPr/>
        </p:nvSpPr>
        <p:spPr>
          <a:xfrm>
            <a:off x="7502652" y="2540889"/>
            <a:ext cx="534924" cy="534924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5-label138"/>
          <p:cNvSpPr txBox="1"/>
          <p:nvPr/>
        </p:nvSpPr>
        <p:spPr>
          <a:xfrm>
            <a:off x="7441438" y="406019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2200" dirty="0"/>
          </a:p>
        </p:txBody>
      </p:sp>
      <p:sp>
        <p:nvSpPr>
          <p:cNvPr id="10" name="S15-label140"/>
          <p:cNvSpPr txBox="1"/>
          <p:nvPr/>
        </p:nvSpPr>
        <p:spPr>
          <a:xfrm>
            <a:off x="9818878" y="4179062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11" name="S15-label142"/>
          <p:cNvSpPr txBox="1"/>
          <p:nvPr/>
        </p:nvSpPr>
        <p:spPr>
          <a:xfrm>
            <a:off x="8172704" y="263372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</a:t>
            </a:r>
            <a:endParaRPr lang="ko-KR" sz="2200" dirty="0"/>
          </a:p>
        </p:txBody>
      </p:sp>
      <p:sp>
        <p:nvSpPr>
          <p:cNvPr id="12" name="S15-chip14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5-text14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더 따뜻한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곳은?</a:t>
            </a:r>
            <a:endParaRPr lang="ko-KR" sz="2800" dirty="0"/>
          </a:p>
        </p:txBody>
      </p:sp>
      <p:sp>
        <p:nvSpPr>
          <p:cNvPr id="14" name="S15-chip14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5-text14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기압이 더 높은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곳은?</a:t>
            </a:r>
            <a:endParaRPr lang="ko-KR" sz="2800" dirty="0"/>
          </a:p>
        </p:txBody>
      </p:sp>
      <p:sp>
        <p:nvSpPr>
          <p:cNvPr id="16" name="S15-chip14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5-text14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바람은 어디에서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불까요?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6-chip14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6-text15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장마철 방에 곰팡이가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생겼어요. 무엇이 높을까요?</a:t>
            </a:r>
            <a:endParaRPr lang="ko-KR" sz="2800" dirty="0"/>
          </a:p>
        </p:txBody>
      </p:sp>
      <p:sp>
        <p:nvSpPr>
          <p:cNvPr id="5" name="S16-chip15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6-text15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방이 건조해요.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습도를 높이는 방법은?</a:t>
            </a:r>
            <a:endParaRPr lang="ko-KR" sz="2800" dirty="0"/>
          </a:p>
        </p:txBody>
      </p:sp>
      <p:sp>
        <p:nvSpPr>
          <p:cNvPr id="7" name="S16-chip15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6-text15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이른 아침 풀잎의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물방울은 어떻게 생겼나요?</a:t>
            </a:r>
            <a:endParaRPr lang="ko-KR" sz="2800" dirty="0"/>
          </a:p>
        </p:txBody>
      </p:sp>
      <p:sp>
        <p:nvSpPr>
          <p:cNvPr id="9" name="S16-chip15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6-text15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밤에는 육지가 빨리 식어요.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 바람은 어느 쪽으로?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7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7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④는 ‘어디가 더 차가운가 → 기압이 높은 곳’ 순서로 생각해요.</a:t>
            </a:r>
            <a:endParaRPr lang="ko-KR" sz="2800" dirty="0"/>
          </a:p>
        </p:txBody>
      </p:sp>
      <p:sp>
        <p:nvSpPr>
          <p:cNvPr id="5" name="S17-chip15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7-text160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습도</a:t>
            </a:r>
            <a:endParaRPr lang="ko-KR" sz="2800" dirty="0"/>
          </a:p>
        </p:txBody>
      </p:sp>
      <p:sp>
        <p:nvSpPr>
          <p:cNvPr id="7" name="S17-text161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많음</a:t>
            </a:r>
            <a:endParaRPr lang="ko-KR" sz="2200" dirty="0"/>
          </a:p>
        </p:txBody>
      </p:sp>
      <p:sp>
        <p:nvSpPr>
          <p:cNvPr id="8" name="S17-text162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가습기</a:t>
            </a:r>
            <a:endParaRPr lang="ko-KR" sz="2800" dirty="0"/>
          </a:p>
        </p:txBody>
      </p:sp>
      <p:sp>
        <p:nvSpPr>
          <p:cNvPr id="9" name="S17-text163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수건 널기</a:t>
            </a:r>
            <a:endParaRPr lang="ko-KR" sz="2200" dirty="0"/>
          </a:p>
        </p:txBody>
      </p:sp>
      <p:sp>
        <p:nvSpPr>
          <p:cNvPr id="10" name="S17-text164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이슬</a:t>
            </a:r>
            <a:endParaRPr lang="ko-KR" sz="2800" dirty="0"/>
          </a:p>
        </p:txBody>
      </p:sp>
      <p:sp>
        <p:nvSpPr>
          <p:cNvPr id="11" name="S17-text165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풀잎에서 응결</a:t>
            </a:r>
            <a:endParaRPr lang="ko-KR" sz="2200" dirty="0"/>
          </a:p>
        </p:txBody>
      </p:sp>
      <p:sp>
        <p:nvSpPr>
          <p:cNvPr id="12" name="S17-text166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육지 → 바다</a:t>
            </a:r>
            <a:endParaRPr lang="ko-KR" sz="2800" dirty="0"/>
          </a:p>
        </p:txBody>
      </p:sp>
      <p:sp>
        <p:nvSpPr>
          <p:cNvPr id="13" name="S17-text167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 위 고기압</a:t>
            </a:r>
            <a:endParaRPr lang="ko-KR" sz="2200" dirty="0"/>
          </a:p>
        </p:txBody>
      </p:sp>
      <p:sp>
        <p:nvSpPr>
          <p:cNvPr id="14" name="S17-chip16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7-text16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비가 왔어요</a:t>
            </a:r>
            <a:endParaRPr lang="ko-KR" sz="2800" dirty="0"/>
          </a:p>
        </p:txBody>
      </p:sp>
      <p:sp>
        <p:nvSpPr>
          <p:cNvPr id="16" name="S17-text17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밤사이 응결(이슬)</a:t>
            </a:r>
            <a:endParaRPr lang="ko-KR" sz="2200" dirty="0"/>
          </a:p>
        </p:txBody>
      </p:sp>
      <p:sp>
        <p:nvSpPr>
          <p:cNvPr id="17" name="S17-text17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바다 → 육지</a:t>
            </a:r>
            <a:endParaRPr lang="ko-KR" sz="2800" dirty="0"/>
          </a:p>
        </p:txBody>
      </p:sp>
      <p:sp>
        <p:nvSpPr>
          <p:cNvPr id="18" name="S17-text17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낮과 반대(M3)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어느 쪽으로 움직일까요?</a:t>
            </a:r>
            <a:endParaRPr lang="ko-KR" sz="4000" dirty="0"/>
          </a:p>
        </p:txBody>
      </p:sp>
      <p:sp>
        <p:nvSpPr>
          <p:cNvPr id="3" name="S18-text17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닫힌 상자 한쪽에 얼음물, 다른 쪽에 따뜻한 물을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두었어요. 상자 바닥 가까이의 공기는?</a:t>
            </a:r>
            <a:endParaRPr lang="ko-KR" sz="2800" dirty="0"/>
          </a:p>
        </p:txBody>
      </p:sp>
      <p:sp>
        <p:nvSpPr>
          <p:cNvPr id="4" name="S18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8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기압으로 까닭을 말해요.</a:t>
            </a:r>
            <a:endParaRPr lang="ko-KR" sz="2800" dirty="0"/>
          </a:p>
        </p:txBody>
      </p:sp>
      <p:sp>
        <p:nvSpPr>
          <p:cNvPr id="6" name="S18-chip176"/>
          <p:cNvSpPr txBox="1"/>
          <p:nvPr/>
        </p:nvSpPr>
        <p:spPr>
          <a:xfrm>
            <a:off x="2946654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8-card177"/>
          <p:cNvSpPr/>
          <p:nvPr/>
        </p:nvSpPr>
        <p:spPr>
          <a:xfrm>
            <a:off x="548640" y="3080512"/>
            <a:ext cx="5362956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8-cardtext178"/>
          <p:cNvSpPr txBox="1"/>
          <p:nvPr/>
        </p:nvSpPr>
        <p:spPr>
          <a:xfrm>
            <a:off x="822960" y="3217672"/>
            <a:ext cx="4814316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얼음물 쪽에서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 쪽으로</a:t>
            </a:r>
            <a:endParaRPr lang="ko-KR" sz="2800" dirty="0"/>
          </a:p>
        </p:txBody>
      </p:sp>
      <p:sp>
        <p:nvSpPr>
          <p:cNvPr id="9" name="S18-chip179"/>
          <p:cNvSpPr txBox="1"/>
          <p:nvPr/>
        </p:nvSpPr>
        <p:spPr>
          <a:xfrm>
            <a:off x="8675370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8-card180"/>
          <p:cNvSpPr/>
          <p:nvPr/>
        </p:nvSpPr>
        <p:spPr>
          <a:xfrm>
            <a:off x="6277356" y="3080512"/>
            <a:ext cx="5362956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181"/>
          <p:cNvSpPr txBox="1"/>
          <p:nvPr/>
        </p:nvSpPr>
        <p:spPr>
          <a:xfrm>
            <a:off x="6551676" y="3217672"/>
            <a:ext cx="4814316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 쪽에서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얼음물 쪽으로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9-card18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9-cardtext18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습도가 높으면 빨래가 잘 마르지 않아요. 이슬·안개·구름은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응결한 것이고, 바람은 고기압에서 저기압으로 불어요.</a:t>
            </a:r>
            <a:endParaRPr lang="ko-KR" sz="2800" dirty="0"/>
          </a:p>
        </p:txBody>
      </p:sp>
      <p:sp>
        <p:nvSpPr>
          <p:cNvPr id="5" name="S19-chip18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관찰 결과로 날씨를 설명하기</a:t>
            </a:r>
            <a:endParaRPr lang="ko-KR" sz="2200" dirty="0"/>
          </a:p>
        </p:txBody>
      </p:sp>
      <p:sp>
        <p:nvSpPr>
          <p:cNvPr id="6" name="S19-chip18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구름을 수증기라고 생각하기</a:t>
            </a:r>
            <a:endParaRPr lang="ko-KR" sz="2200" dirty="0"/>
          </a:p>
        </p:txBody>
      </p:sp>
      <p:sp>
        <p:nvSpPr>
          <p:cNvPr id="7" name="S19-text18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9-text18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공기 중에 수증기가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포함된 정도는?</a:t>
            </a:r>
            <a:endParaRPr lang="ko-KR" sz="2200" dirty="0"/>
          </a:p>
        </p:txBody>
      </p:sp>
      <p:sp>
        <p:nvSpPr>
          <p:cNvPr id="9" name="S19-text18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이슬과 구름의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점은?</a:t>
            </a:r>
            <a:endParaRPr lang="ko-KR" sz="2200" dirty="0"/>
          </a:p>
        </p:txBody>
      </p:sp>
      <p:sp>
        <p:nvSpPr>
          <p:cNvPr id="10" name="S19-text18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바닷가에서 낮에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부는 방향은?</a:t>
            </a:r>
            <a:endParaRPr lang="ko-KR" sz="2200" dirty="0"/>
          </a:p>
        </p:txBody>
      </p:sp>
      <p:sp>
        <p:nvSpPr>
          <p:cNvPr id="11" name="S19-text19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열의 이동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증발과 응결</a:t>
            </a:r>
            <a:endParaRPr lang="ko-KR" sz="4000" dirty="0"/>
          </a:p>
        </p:txBody>
      </p:sp>
      <p:sp>
        <p:nvSpPr>
          <p:cNvPr id="3" name="S20-text1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물과 수증기는 서로 모습을 바꿔요.</a:t>
            </a:r>
            <a:endParaRPr lang="ko-KR" sz="2800" dirty="0"/>
          </a:p>
        </p:txBody>
      </p:sp>
      <p:sp>
        <p:nvSpPr>
          <p:cNvPr id="4" name="S20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0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수증기는 기체라서 눈에 보이지 않아요.</a:t>
            </a:r>
            <a:endParaRPr lang="ko-KR" sz="2800" dirty="0"/>
          </a:p>
        </p:txBody>
      </p:sp>
      <p:sp>
        <p:nvSpPr>
          <p:cNvPr id="6" name="S20-card194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0-cardtext195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증발: 물 → 수증기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손등의 물이 말라요.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빨래가 말라요.</a:t>
            </a:r>
            <a:endParaRPr lang="ko-KR" sz="2800" dirty="0"/>
          </a:p>
        </p:txBody>
      </p:sp>
      <p:sp>
        <p:nvSpPr>
          <p:cNvPr id="8" name="S20-card196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0-cardtext197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응결: 수증기 → 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컵 겉면에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물방울이 생겨요.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날씨 요소</dc:title>
  <dc:subject>KR22-G05-SCI-WEATHER-L01</dc:subject>
  <dc:creator>education-ppt</dc:creator>
  <cp:lastModifiedBy>education-ppt</cp:lastModifiedBy>
  <cp:revision>1</cp:revision>
  <dcterms:created xsi:type="dcterms:W3CDTF">2026-10-26T13:39:23Z</dcterms:created>
  <dcterms:modified xsi:type="dcterms:W3CDTF">2026-10-26T13:39:23Z</dcterms:modified>
</cp:coreProperties>
</file>