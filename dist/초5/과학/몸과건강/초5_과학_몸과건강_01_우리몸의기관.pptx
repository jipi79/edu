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7bce592e-0de5-6e21-4711-ab894e081817}">
          <p14:sldIdLst>
            <p14:sldId id="256"/>
            <p14:sldId id="257"/>
          </p14:sldIdLst>
        </p14:section>
        <p14:section name="연습" id="{71cd504b-97d2-d98d-b0a6-839bddbd036f}">
          <p14:sldIdLst>
            <p14:sldId id="258"/>
            <p14:sldId id="259"/>
            <p14:sldId id="260"/>
            <p14:sldId id="262"/>
            <p14:sldId id="264"/>
            <p14:sldId id="265"/>
            <p14:sldId id="266"/>
            <p14:sldId id="268"/>
            <p14:sldId id="271"/>
          </p14:sldIdLst>
        </p14:section>
        <p14:section name="개념" id="{2feb170e-2376-a63f-ea44-c43348d5624c}">
          <p14:sldIdLst>
            <p14:sldId id="261"/>
            <p14:sldId id="263"/>
            <p14:sldId id="267"/>
            <p14:sldId id="269"/>
            <p14:sldId id="270"/>
          </p14:sldIdLst>
        </p14:section>
        <p14:section name="연습" id="{4bfc2770-3ca3-2441-d3d9-9868a034de53}">
          <p14:sldIdLst/>
        </p14:section>
        <p14:section name="개념" id="{7770c6e3-70a2-7125-10a2-b16433f77942}">
          <p14:sldIdLst/>
        </p14:section>
        <p14:section name="연습" id="{91c8ea25-28fb-7e4c-0e31-fcdbafd68bc0}">
          <p14:sldIdLst/>
        </p14:section>
        <p14:section name="개념" id="{18541256-fae7-d9f6-276b-a1fca0f509cd}">
          <p14:sldIdLst/>
        </p14:section>
        <p14:section name="연습" id="{dd59fbc1-99e8-76fb-c27f-95bd861d1649}">
          <p14:sldIdLst/>
        </p14:section>
        <p14:section name="개념" id="{58396957-13cd-2b37-82d4-7834c4b526d8}">
          <p14:sldIdLst/>
        </p14:section>
        <p14:section name="연습" id="{e895a0e7-2963-4005-eb97-897596c05f78}">
          <p14:sldIdLst/>
        </p14:section>
        <p14:section name="확인" id="{8396de4b-638b-a2dc-97fd-c125591c7cef}">
          <p14:sldIdLst>
            <p14:sldId id="272"/>
            <p14:sldId id="273"/>
            <p14:sldId id="274"/>
          </p14:sldIdLst>
        </p14:section>
        <p14:section name="정리" id="{68d715c5-3155-9e2b-06ef-24b1320df9ad}">
          <p14:sldIdLst>
            <p14:sldId id="275"/>
          </p14:sldIdLst>
        </p14:section>
        <p14:section name="보충" id="{4575e25b-0b79-a7bb-c0a4-885c4d3cb5bb}">
          <p14:sldIdLst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알리고, 우리 몸속에서 일하는 기관에 궁금증을 갖게 합니다.
시간: 약 1분
이렇게 말해 보세요
- “팔을 굽혀 볼래? 팔 안에서 무엇이 움직여서 팔이 굽혀질까? 우리가 먹은 밥은 몸속 어디로 갈까?”
- “오늘은 우리 몸을 직접 만져 보고 재 보면서, 몸속 기관들이 하는 일을 알아볼 거야.”
예상 답
- “뼈가 움직여요.” “근육이요.” “배로 가요.” 어떤 답이든 괜찮습니다. 답을 확인하지 않고 넘어갑니다.
막히면
- 팔을 굽혔다 펴는 것만 함께 해 보고, 관찰은 S04에서 합니다.
주의
- S10에서 가슴둘레를 잴 줄자(없으면 끈과 자)를 준비합니다. 끈은 가슴에만 두르고 목에 감지 않습니다.
- 화면의 몸 그림은 기관의 대략적인 위치와 순서를 보여 주는 모식도입니다. 실제 크기·모양과는 다릅니다.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확인(동물의 생김새와 움직임)]
목적: 초3 ‘동물의 생김새와 생활’(KR22-G03-SCI-ANIMAL-L01)에서 배운 생김새와 움직이는 방법의 관계를 확인합니다. 오늘은 우리 몸의 생김새(기관)와 하는 일을 연결합니다.
시간: 약 2분
이렇게 말해 보세요
- “① 새는 어떤 생김새 덕분에 날 수 있었지? 물고기는 무엇으로 헤엄쳤지?”
- “② 사람은 몸의 어느 부분으로 걷고 뛰어?”
정답
- ① 새: 날개, 물고기: 지느러미
- ② 다리(다리의 뼈와 근육)
막히면
- ①이 흔들리면 S21(보충)을 먼저 합니다. 보충으로도 어려우면 초3 ‘동물의 생김새와 생활’을 먼저 다시 봅니다.
주의
- ②에서 ‘다리’라고 하면 충분합니다. 뼈와 근육은 오늘 배웁니다.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관찰 전 예상하기(팔의 근육)]
목적: 팔을 굽히고 펼 때 위팔 앞쪽 근육이 어떻게 될지 예상합니다(목표 A). 결과는 S04에서 확인합니다.
시간: 약 1분
이렇게 말해 보세요
- “팔을 굽히면 위팔 앞쪽(알통이 생기는 곳)은 어떻게 될까? 펴면?”
- “예상은 활동지 1에 써 줘.”
예상 답
- 어떤 예상이든 괜찮습니다. “단단해질 것 같아요.” “그대로일 것 같아요.”
막히면
- “무거운 가방을 들 때 팔 어디에 힘이 들어가?”라고 묻습니다.
주의
- 결과를 알려 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팔의 뼈와 근육 관찰]
목적: 자기 팔을 굽히고 펴며 위팔 앞쪽 근육의 모양과 단단함이 바뀌는 것을 만져 보고, 단단한 뼈를 찾습니다(목표 A, 오해 M1).
시간: 약 3분
이렇게 말해 보세요
- “왼손으로 오른쪽 위팔 앞쪽을 가볍게 잡아 봐. 천천히 팔을 굽혀 볼래? 무엇이 느껴져?”
- “이번엔 팔을 쭉 펴 봐. 근육이 어떻게 됐어?”
- “팔꿈치 위아래를 눌러 볼래? 말랑한 곳과 단단한 곳이 있어?”
예상 답
- “굽히면 근육이 볼록하고 단단해져요(짧아져요).” “펴면 길고 말랑해져요.” “속에 딱딱한 뼈가 있어요.”
막히면
- 근육 변화가 잘 느껴지지 않으면 주먹을 쥐고 팔을 굽히게 하거나, 부모 팔로 먼저 만져 보게 합니다.
주의
- 무거운 물건을 들지 않고, 맨팔로 천천히 합니다.
- 근육은 스스로 늘어나 미는 것이 아니라 줄어들며 당깁니다. 팔을 펼 때는 위팔 뒤쪽 근육이 줄어듭니다. 아이가 뒤쪽도 만져 보면 칭찬합니다.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관찰 결과 정리(팔의 근육)]
목적: 관찰 결과를 정리하고 예상과 비교합니다(목표 A).
시간: 약 1분
이렇게 말해 보세요
- “활동지 1을 보면서 말해 줄래?”
예상 답
- 굽힐 때: 볼록하고 단단해짐(짧아짐) / 펼 때: 길어지고 말랑해짐 / 팔꿈치 위아래에 단단한 뼈가 있음
막히면
- 한 번 더 굽혔다 펴며 말하게 합니다.
주의
- 화면의 빈칸은 아이가 말로 채우는 자리입니다.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결과로 설명하기(뼈와 근육)]
목적: 관찰 결과를 증거로 근육이 줄어들고 늘어나며 뼈를 움직인다는 것과 뼈의 역할을 정리합니다(목표 A, 오해 M1).
시간: 약 3분
이렇게 말해 보세요
- “팔을 굽힐 때 근육이 짧고 볼록해졌지? 근육의 양 끝은 뼈에 붙어 있어서, 근육이 줄어들면 아래팔뼈를 당겨 팔이 굽혀져.”
- “뼈는 단단해서 몸의 모양을 만들고 몸을 받쳐 줘. 머리뼈는 뇌를, 갈비뼈는 심장과 폐를 보호해.”
예상 답
- “근육이 줄어들면서 뼈를 당겨요.” “뼈는 몸을 받쳐요.”
막히면
- 그림의 근육 길이를 두 그림에서 손가락으로 재어 비교하게 합니다.
주의
- 그림은 팔의 뼈와 근육을 아주 단순하게 나타낸 모식도입니다.
- 뼈와 근육처럼 몸을 움직이는 기관을 운동 기관이라고 부르기도 합니다. 용어는 외우지 않아도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비교(뼈가 스스로 움직인다)]
목적: 뼈가 스스로 굽혀진다는 생각을 관찰 결과(굽힐 때 근육이 짧아지고 단단해짐)로 바로잡습니다(목표 A, 오해 M1).
시간: 약 2분
이렇게 말해 보세요
- “토끼는 뼈가 스스로 굽혀진대. 곰은 근육이 뼈를 당긴대. 누구 말이 맞을까?”
- “팔을 굽힐 때 무엇이 바뀌는 걸 느꼈지?”
정답
- 곰. 증거: 팔을 굽힐 때 위팔 앞쪽 근육이 짧아지고 단단해졌습니다. 뼈는 스스로 움직이지 못하고, 뼈에 붙은 근육이 줄어들며 뼈를 당깁니다.
막히면
- 다시 팔을 굽히며 근육을 만지게 하고 “뼈의 모양은 바뀌었어? 근육은?”이라고 묻습니다.
주의
- 증거를 하나 이상 말하면 잘한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소화 기관과 음식물이 지나는 길]
목적: 소화의 뜻과 소화 기관, 음식물이 지나는 순서를 모식도로 알려 줍니다(목표 B, 오해 M2).
시간: 약 3분
이렇게 말해 보세요
- “밥을 먹으면 입에서 잘게 씹고, 식도를 지나 위로 가. 위에서 더 잘게 섞이고, 작은창자에서 영양소가 몸속으로 흡수돼.”
- “큰창자에서는 물이 흡수되고, 남은 찌꺼기는 항문으로 나가. 손가락으로 그림의 길을 따라가 볼래?”
예상 답
- “입, 식도, 위, 작은창자, 큰창자, 항문이에요.”
막히면
- 배 위에 손을 대고 위(왼쪽 위), 작은창자(배꼽 둘레)의 대략적인 위치를 짚어 줍니다.
주의
- 간, 쓸개, 이자도 소화를 돕는 기관이지만 음식물이 지나가지는 않습니다. 아이가 물으면 알려 줍니다.
- 그림은 순서와 대략적인 위치만 나타낸 모식도입니다.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측정 전 예상하기(숨 쉴 때 가슴둘레)]
목적: 숨을 크게 들이쉬고 내쉴 때 가슴둘레가 어떻게 될지 예상합니다(목표 B). 결과는 S10에서 확인합니다.
시간: 약 1분
이렇게 말해 보세요
- “숨을 크게 들이쉬면 가슴둘레는 어떻게 될까? 내쉬면?”
- “예상은 활동지 2에 써 줘.”
예상 답
- 어떤 예상이든 괜찮습니다. “커질 것 같아요.” “배만 나올 것 같아요.”
막히면
- 가슴에 손을 얹고 숨을 쉬어 보게 합니다.
주의
- 결과를 알려 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숨 쉴 때 가슴둘레 재기]
목적: 숨을 크게 내쉬었을 때와 들이쉬었을 때 가슴둘레를 재어 비교합니다(목표 B, 오해 M3).
시간: 약 3분
이렇게 말해 보세요
- “겨드랑이 바로 아래에 줄자를 둘렀어. 숨을 크게 내쉬어 볼래? 몇 cm야?”
- “이번에는 숨을 크게 들이쉬고 잠깐 멈춰. 몇 cm야?”
- “두 번 재서 차이를 구해 보자.”
예상 답
- 예시(한 가지 예일 뿐 정답이 아님): 내쉬었을 때 64 cm, 들이쉬었을 때 68 cm, 차이 4 cm. 아이의 몸에 따라 값과 차이(보통 몇 cm)가 다릅니다. 들이쉴 때가 더 크면 됩니다.
막히면
- 줄자가 없으면 끈을 둘러 손가락으로 집고 자에 대어 잽니다.
- 차이가 잘 안 나면 숨을 더 크게, 천천히 쉬게 하고 부모가 줄자를 살짝 느슨하게 잡습니다.
주의
- 줄자나 끈은 가슴에만 두르고 목에 감지 않습니다.
- 숨을 오래 참지 않습니다. 어지러우면 바로 멈추고 앉아서 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측정 결과 정리(가슴둘레)]
목적: 잰 값과 차이를 정리하고 예상과 비교합니다(목표 B).
시간: 약 1분
이렇게 말해 보세요
- “활동지 2에 쓴 값을 말해 줄래? 어느 때 더 컸어? 몇 cm 차이야?”
예상 답
- 예시(한 가지 예): 내쉬었을 때 64 cm, 들이쉬었을 때 68 cm, 차이 68 − 64 = 4(cm). 아이가 잰 값이 정답입니다. 들이쉴 때가 더 크면 됩니다.
막히면
- 두 값을 세로로 나란히 쓰고 큰 수에서 작은 수를 빼게 합니다.
주의
- 화면의 빈칸은 아이가 말로 채우는 자리입니다. 단위(cm)를 붙였는지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결과로 설명하기(호흡 기관)]
목적: 가슴둘레 결과를 증거로 숨을 들이쉬면 폐에 공기가 들어가 가슴이 커진다는 것과 호흡 기관을 정리합니다(목표 B, 오해 M3).
시간: 약 2분
이렇게 말해 보세요
- “숨을 들이쉬면 공기가 코로 들어가 기관과 기관지를 지나 폐로 가. 폐에 공기가 차서 가슴이 커졌던 거야.”
- “폐에서는 공기 속 산소를 몸속으로 받아들이고, 몸에서 생긴 이산화 탄소를 내보내.”
예상 답
- “코, 기관, 기관지, 폐예요.” “들이쉴 때 폐가 커져서 가슴이 커졌어요.”
막히면
- 그림의 길을 손가락으로 따라가며 함께 말합니다.
주의
- 내쉬는 공기에도 산소가 남아 있지만, 들이쉬는 공기보다 이산화 탄소가 많습니다. 이 차시에서는 ‘산소를 받아들이고 이산화 탄소를 내보낸다’까지만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오개념 비교(들이쉰 공기가 배로 간다)]
목적: 숨을 들이쉬면 공기가 배(위)로 간다는 생각을 측정 결과와 호흡 기관의 길로 바로잡습니다(목표 B, 오해 M3).
시간: 약 2분
이렇게 말해 보세요
- “숨을 크게 들이쉬면 배도 나오지? 그래서 토끼는 공기가 배로 간대. 곰은 폐로 간대.”
- “가슴둘레를 재 보니 어땠지?”
정답
- 곰. 증거: 숨을 들이쉬자 가슴둘레가 커졌습니다. 들이쉰 공기는 코 → 기관 → 기관지를 지나 가슴 속 폐로 갑니다.
막히면
- S12의 그림에서 공기의 길이 위(소화 기관)로 이어지는지 폐로 이어지는지 따라가게 합니다.
주의
- 숨을 들이쉴 때 배가 나오는 것은 가슴과 배 사이의 근육이 아래로 내려가 배 속 기관을 밀기 때문입니다(중학교 내용). 공기가 배로 들어가는 것이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순환 기관(심장과 혈관)]
목적: 심장과 혈관이 하는 일(순환)을 알려 주고, 가슴에 손을 대어 심장이 뛰는 것을 느낍니다(목표 C).
시간: 약 3분
이렇게 말해 보세요
- “가슴 왼쪽에 손을 대 볼래? 쿵쿵 뛰는 게 느껴지지? 심장이 뛰는 거야. 심장은 펌프처럼 혈액을 온몸으로 내보내.”
- “혈액은 혈관을 따라 온몸을 돌고 다시 심장으로 돌아와. 혈액은 소화로 흡수한 영양소와 폐에서 받아들인 산소를 온몸에 날라 줘.”
예상 답
- “심장이 뛰어요.” “혈액이 산소랑 영양소를 날라요.”
막히면
- 손목 안쪽 엄지 쪽에 두 손가락을 대어 맥박을 함께 느껴 봅니다(재는 것은 다음 차시에서 합니다).
주의
- 심장은 자기 주먹만 한 크기이고 가슴 가운데에서 약간 왼쪽에 있습니다.
- 그림의 빨간 화살표는 심장에서 나가는 혈액, 파란 화살표는 심장으로 돌아오는 혈액의 방향을 나타낸 모식도입니다.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배설 기관(콩팥, 오줌관, 방광)]
목적: 배설의 뜻과 콩팥·오줌관·방광이 하는 일을 알려 줍니다(목표 C, 오해 M4).
시간: 약 2분
이렇게 말해 보세요
- “몸에서 영양소를 쓰고 나면 필요 없는 노폐물이 생겨. 노폐물은 혈액에 실려 콩팥으로 가.”
- “콩팥은 혈액 속 노폐물을 걸러 오줌을 만들어. 오줌은 오줌관을 지나 방광에 모였다가 몸 밖으로 나가. 이것을 배설이라고 해.”
예상 답
- “콩팥이 오줌을 만들어요.” “방광에 모아요.”
막히면
- ‘거른다’는 지난 차시 커피 필터로 모래를 거른 것을 떠올리게 합니다.
주의
- 콩팥은 등 쪽 허리 위, 등뼈 양옆에 두 개가 있습니다. 그림은 위치를 단순하게 나타냈습니다.
- 땀으로도 노폐물 일부가 몸 밖으로 나갑니다.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하는 일로 기관 찾기]
목적: 하는 일을 보고 기관의 이름을 찾는 연습을 합니다(목표 B·C, 오해 M4).
시간: 약 2분
이렇게 말해 보세요
- “①부터 차례로 말해 볼래? 어느 기관 그림에서 배웠는지 떠올려 봐.”
정답
- ① 작은창자
- ② 심장
- ③ 폐
- ④ 콩팥
막히면
- S08·S12·S14·S15의 그림을 차례로 다시 보여 줍니다.
주의
- ④에서 ‘방광’이라고 하면 오해 M4입니다. 방광은 오줌을 모으는 곳이고, 오줌을 만드는 곳은 콩팥입니다.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[S17 · 혼자 해결]
목적: 도움 없이 근육이 하는 일(①), 소화(②), 호흡(③), 배설(④)을 말하는지 확인합니다(목표 A·B·C).
시간: 약 3분
이렇게 말해 보세요
- “이번에는 혼자 답해 볼래? 왜 그렇게 생각했는지도 말해 줘.”
정답
- ① 근육이 줄어들며(짧아지며) 뼈를 당긴다
- ② 위, 큰창자
- ③ 코 → 기관 → 기관지 → 폐
- ④ 오줌을 모았다가 몸 밖으로 내보낸다
막히면
- 바로 알려 주지 말고 해당 그림의 제목만 말해 줍니다.
- 도움을 받아 해결했다면 기록표에 ‘도움’으로 표시합니다.
주의
- ②는 두 칸 모두 맞아야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[S18 · 정답과 피드백]
목적: 아이의 답을 함께 확인하고 흔한 실수를 바로잡습니다. 수업용에만 있는 장입니다.
시간: 약 1분
이렇게 말해 보세요
- “네 답과 같은지 볼까? 다르면 어디서 달라졌는지 찾아보자.”
정답
- ① 줄어들며 당긴다 ② 위, 큰창자 ③ 코 → 기관 → 기관지 → 폐 ④ 오줌을 모았다가 내보낸다
막히면
- ①이 틀리면 S06·S07로, ②가 틀리면 S08로, ③이 틀리면 S12·S13으로, ④가 틀리면 S15로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[S19 · 마무리 확인(오줌을 만드는 기관)]
목적: 처음 보는 문제에서 오줌을 만드는 기관(콩팥)과 모으는 기관(방광)을 구별하는지 확인합니다(목표 C, 오해 M4).
시간: 약 2분
이렇게 말해 보세요
- “혈액 속 노폐물을 걸러 오줌을 만드는 기관은 어느 것일까? 다른 두 기관은 무슨 일을 하지?”
정답
- 나(콩팥). 방광은 오줌을 모았다가 내보내고, 큰창자는 물을 흡수하는 소화 기관입니다.
막히면
- S15의 그림과 카드를 다시 보여 줍니다.
주의
- 답만 맞히고 까닭을 말하지 못하면 기록표에 ‘답만’으로 적습니다.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[S20 · 정리와 다음 수업 복습]
목적: 핵심을 정리하고 다음 수업 첫 5분에 풀 복습 문제를 알려 줍니다.
시간: 약 1분
이렇게 말해 보세요
- “오늘 배운 기관 가운데 하나를 골라 하는 일을 설명해 볼래?”
예상 답
- “폐는 숨 쉴 때 산소를 받아들여요.” “콩팥은 오줌을 만들어요.”
정답
- ① 근육 ② 작은창자 ③ 콩팥
막히면
- S06, S08, S12, S14, S15를 다시 보여 줍니다.
주의
- 복습 세 문제는 다음 수업을 시작할 때 활동지 마지막 쪽과 함께 풉니다. 다음 차시에서는 운동할 때 이 기관들이 함께 일하는 모습을 맥박과 호흡으로 재어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[S21 · 선수 학습 보충(동물의 생김새와 움직임)]
목적: S02가 흔들리면, 동물의 생김새와 움직이는 방법이 관계가 있다는 것을 먼저 다시 봅니다.
시간: 약 4분
이렇게 말해 보세요
- “새의 날개, 물고기의 지느러미, 강아지의 다리는 각각 무엇을 하는 데 쓰일까?”
- “우리 몸도 생김새마다 하는 일이 있어. 오늘은 몸속 생김새(기관)를 알아볼 거야.”
예상 답
- “날개로 날아요.” “지느러미로 헤엄쳐요.” “다리로 걸어요.”
막히면
- 동물 그림책이나 사진을 보며 몸의 부분을 하나씩 가리켜 말하게 합니다.
주의
- 계획상 선수 차시는 초3 ‘동물의 생김새와 생활’(KR22-G03-SCI-ANIMAL-L01)입니다. 보충으로도 어려우면 그 차시를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몸과건강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우리 몸의 기관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우리 몸의 기관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과학 · 우리 몸의 기관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몸의 기관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몸속에서는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일이 일어날까?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팔을 굽힌 모습의 뼈와 근육 모식도"/>
          <p:cNvSpPr/>
          <p:nvPr/>
        </p:nvSpPr>
        <p:spPr>
          <a:xfrm>
            <a:off x="9552813" y="2757591"/>
            <a:ext cx="188214" cy="18821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8299479" y="2381163"/>
            <a:ext cx="983846" cy="410649"/>
          </a:xfrm>
          <a:custGeom>
            <a:avLst/>
            <a:gdLst/>
            <a:ahLst/>
            <a:cxnLst/>
            <a:rect l="l" t="t" r="r" b="b"/>
            <a:pathLst>
              <a:path w="983846" h="410649">
                <a:moveTo>
                  <a:pt x="983846" y="205324"/>
                </a:moveTo>
                <a:lnTo>
                  <a:pt x="981974" y="187429"/>
                </a:lnTo>
                <a:lnTo>
                  <a:pt x="976372" y="169670"/>
                </a:lnTo>
                <a:lnTo>
                  <a:pt x="967084" y="152183"/>
                </a:lnTo>
                <a:lnTo>
                  <a:pt x="954179" y="135099"/>
                </a:lnTo>
                <a:lnTo>
                  <a:pt x="937757" y="118551"/>
                </a:lnTo>
                <a:lnTo>
                  <a:pt x="917941" y="102662"/>
                </a:lnTo>
                <a:lnTo>
                  <a:pt x="894883" y="87555"/>
                </a:lnTo>
                <a:lnTo>
                  <a:pt x="868758" y="73344"/>
                </a:lnTo>
                <a:lnTo>
                  <a:pt x="839765" y="60138"/>
                </a:lnTo>
                <a:lnTo>
                  <a:pt x="808125" y="48037"/>
                </a:lnTo>
                <a:lnTo>
                  <a:pt x="774078" y="37132"/>
                </a:lnTo>
                <a:lnTo>
                  <a:pt x="737884" y="27508"/>
                </a:lnTo>
                <a:lnTo>
                  <a:pt x="699819" y="19237"/>
                </a:lnTo>
                <a:lnTo>
                  <a:pt x="660171" y="12383"/>
                </a:lnTo>
                <a:lnTo>
                  <a:pt x="619242" y="6996"/>
                </a:lnTo>
                <a:lnTo>
                  <a:pt x="577344" y="3119"/>
                </a:lnTo>
                <a:lnTo>
                  <a:pt x="534797" y="781"/>
                </a:lnTo>
                <a:lnTo>
                  <a:pt x="491923" y="0"/>
                </a:lnTo>
                <a:lnTo>
                  <a:pt x="449049" y="781"/>
                </a:lnTo>
                <a:lnTo>
                  <a:pt x="406501" y="3119"/>
                </a:lnTo>
                <a:lnTo>
                  <a:pt x="364604" y="6996"/>
                </a:lnTo>
                <a:lnTo>
                  <a:pt x="323675" y="12383"/>
                </a:lnTo>
                <a:lnTo>
                  <a:pt x="284027" y="19237"/>
                </a:lnTo>
                <a:lnTo>
                  <a:pt x="245961" y="27508"/>
                </a:lnTo>
                <a:lnTo>
                  <a:pt x="209768" y="37132"/>
                </a:lnTo>
                <a:lnTo>
                  <a:pt x="175721" y="48037"/>
                </a:lnTo>
                <a:lnTo>
                  <a:pt x="144081" y="60138"/>
                </a:lnTo>
                <a:lnTo>
                  <a:pt x="115088" y="73344"/>
                </a:lnTo>
                <a:lnTo>
                  <a:pt x="88963" y="87555"/>
                </a:lnTo>
                <a:lnTo>
                  <a:pt x="65905" y="102662"/>
                </a:lnTo>
                <a:lnTo>
                  <a:pt x="46089" y="118551"/>
                </a:lnTo>
                <a:lnTo>
                  <a:pt x="29667" y="135099"/>
                </a:lnTo>
                <a:lnTo>
                  <a:pt x="16762" y="152183"/>
                </a:lnTo>
                <a:lnTo>
                  <a:pt x="7473" y="169670"/>
                </a:lnTo>
                <a:lnTo>
                  <a:pt x="1872" y="187429"/>
                </a:lnTo>
                <a:lnTo>
                  <a:pt x="0" y="205324"/>
                </a:lnTo>
                <a:lnTo>
                  <a:pt x="1872" y="223220"/>
                </a:lnTo>
                <a:lnTo>
                  <a:pt x="7473" y="240979"/>
                </a:lnTo>
                <a:lnTo>
                  <a:pt x="16762" y="258466"/>
                </a:lnTo>
                <a:lnTo>
                  <a:pt x="29667" y="275549"/>
                </a:lnTo>
                <a:lnTo>
                  <a:pt x="46089" y="292098"/>
                </a:lnTo>
                <a:lnTo>
                  <a:pt x="65905" y="307987"/>
                </a:lnTo>
                <a:lnTo>
                  <a:pt x="88963" y="323094"/>
                </a:lnTo>
                <a:lnTo>
                  <a:pt x="115088" y="337304"/>
                </a:lnTo>
                <a:lnTo>
                  <a:pt x="144081" y="350511"/>
                </a:lnTo>
                <a:lnTo>
                  <a:pt x="175721" y="362612"/>
                </a:lnTo>
                <a:lnTo>
                  <a:pt x="209768" y="373516"/>
                </a:lnTo>
                <a:lnTo>
                  <a:pt x="245961" y="383140"/>
                </a:lnTo>
                <a:lnTo>
                  <a:pt x="284027" y="391411"/>
                </a:lnTo>
                <a:lnTo>
                  <a:pt x="323675" y="398266"/>
                </a:lnTo>
                <a:lnTo>
                  <a:pt x="364604" y="403652"/>
                </a:lnTo>
                <a:lnTo>
                  <a:pt x="406501" y="407529"/>
                </a:lnTo>
                <a:lnTo>
                  <a:pt x="449049" y="409867"/>
                </a:lnTo>
                <a:lnTo>
                  <a:pt x="491923" y="410649"/>
                </a:lnTo>
                <a:lnTo>
                  <a:pt x="534797" y="409867"/>
                </a:lnTo>
                <a:lnTo>
                  <a:pt x="577344" y="407529"/>
                </a:lnTo>
                <a:lnTo>
                  <a:pt x="619242" y="403652"/>
                </a:lnTo>
                <a:lnTo>
                  <a:pt x="660171" y="398266"/>
                </a:lnTo>
                <a:lnTo>
                  <a:pt x="699819" y="391411"/>
                </a:lnTo>
                <a:lnTo>
                  <a:pt x="737884" y="383140"/>
                </a:lnTo>
                <a:lnTo>
                  <a:pt x="774078" y="373516"/>
                </a:lnTo>
                <a:lnTo>
                  <a:pt x="808125" y="362612"/>
                </a:lnTo>
                <a:lnTo>
                  <a:pt x="839765" y="350511"/>
                </a:lnTo>
                <a:lnTo>
                  <a:pt x="868758" y="337304"/>
                </a:lnTo>
                <a:lnTo>
                  <a:pt x="894883" y="323094"/>
                </a:lnTo>
                <a:lnTo>
                  <a:pt x="917941" y="307987"/>
                </a:lnTo>
                <a:lnTo>
                  <a:pt x="937757" y="292098"/>
                </a:lnTo>
                <a:lnTo>
                  <a:pt x="954179" y="275549"/>
                </a:lnTo>
                <a:lnTo>
                  <a:pt x="967084" y="258466"/>
                </a:lnTo>
                <a:lnTo>
                  <a:pt x="976372" y="240979"/>
                </a:lnTo>
                <a:lnTo>
                  <a:pt x="981974" y="223220"/>
                </a:lnTo>
                <a:close/>
              </a:path>
            </a:pathLst>
          </a:custGeom>
          <a:solidFill>
            <a:srgbClr val="F8B4B4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7935884" y="2851698"/>
            <a:ext cx="1711036" cy="0"/>
          </a:xfrm>
          <a:prstGeom prst="line">
            <a:avLst/>
          </a:prstGeom>
          <a:noFill/>
          <a:ln w="114300">
            <a:solidFill>
              <a:srgbClr val="D6D3D1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 flipH="1" flipV="1">
            <a:off x="9061746" y="1243752"/>
            <a:ext cx="585174" cy="1607946"/>
          </a:xfrm>
          <a:prstGeom prst="line">
            <a:avLst/>
          </a:prstGeom>
          <a:noFill/>
          <a:ln w="114300">
            <a:solidFill>
              <a:srgbClr val="D6D3D1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 flipV="1">
            <a:off x="8064211" y="2586488"/>
            <a:ext cx="235268" cy="21388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 flipV="1">
            <a:off x="9283325" y="2570233"/>
            <a:ext cx="261361" cy="16255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1" name="S01-label9"/>
          <p:cNvSpPr txBox="1"/>
          <p:nvPr/>
        </p:nvSpPr>
        <p:spPr>
          <a:xfrm>
            <a:off x="8512510" y="2045797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근육</a:t>
            </a:r>
            <a:endParaRPr lang="ko-KR" sz="1800" dirty="0"/>
          </a:p>
        </p:txBody>
      </p:sp>
      <p:sp>
        <p:nvSpPr>
          <p:cNvPr id="12" name="S01-label11"/>
          <p:cNvSpPr txBox="1"/>
          <p:nvPr/>
        </p:nvSpPr>
        <p:spPr>
          <a:xfrm>
            <a:off x="8624524" y="2944091"/>
            <a:ext cx="3337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뼈</a:t>
            </a:r>
            <a:endParaRPr lang="ko-KR" sz="1800" dirty="0"/>
          </a:p>
        </p:txBody>
      </p:sp>
      <p:sp>
        <p:nvSpPr>
          <p:cNvPr id="13" name="S01-card12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4" name="S01-cardtext13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뼈와 근육이 몸을 움직이는 방법을 알아봐요.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소화·호흡·순환·배설 기관이 하는 일을 알아봐요.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3학년 기억하기</a:t>
            </a:r>
            <a:endParaRPr lang="ko-KR" sz="4000" dirty="0"/>
          </a:p>
        </p:txBody>
      </p:sp>
      <p:sp>
        <p:nvSpPr>
          <p:cNvPr id="3" name="S02-chip1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1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새는 무엇으로 날고, 물고기는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무엇으로 헤엄치나요?</a:t>
            </a:r>
            <a:endParaRPr lang="ko-KR" sz="2800" dirty="0"/>
          </a:p>
        </p:txBody>
      </p:sp>
      <p:sp>
        <p:nvSpPr>
          <p:cNvPr id="5" name="S02-chip16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17"/>
          <p:cNvSpPr txBox="1"/>
          <p:nvPr/>
        </p:nvSpPr>
        <p:spPr>
          <a:xfrm>
            <a:off x="1344168" y="38633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사람은 몸의 어느 부분으로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걷고 뛰나요?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 봐요</a:t>
            </a:r>
            <a:endParaRPr lang="ko-KR" sz="4000" dirty="0"/>
          </a:p>
        </p:txBody>
      </p:sp>
      <p:sp>
        <p:nvSpPr>
          <p:cNvPr id="3" name="S03-text1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반대쪽 손으로 위팔 앞쪽을 잡고 해 봐요.</a:t>
            </a:r>
            <a:endParaRPr lang="ko-KR" sz="2800" dirty="0"/>
          </a:p>
        </p:txBody>
      </p:sp>
      <p:sp>
        <p:nvSpPr>
          <p:cNvPr id="4" name="S03-card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1에 써요.</a:t>
            </a:r>
            <a:endParaRPr lang="ko-KR" sz="2800" dirty="0"/>
          </a:p>
        </p:txBody>
      </p:sp>
      <p:graphicFrame>
        <p:nvGraphicFramePr>
          <p:cNvPr id="4" name="S03-table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541016"/>
          <a:ext cx="10515600" cy="914400"/>
        </p:xfrm>
        <a:graphic>
          <a:graphicData uri="http://schemas.openxmlformats.org/drawingml/2006/table">
            <a:tbl>
              <a:tblPr/>
              <a:tblGrid>
                <a:gridCol w="6099048"/>
                <a:gridCol w="4416552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질문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팔을 굽히면 위팔 앞쪽 근육은?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팔을 펴면 위팔 앞쪽 근육은?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팔꿈치에서 단단한 것은?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팔을 굽혔다 펴 봐요</a:t>
            </a:r>
            <a:endParaRPr lang="ko-KR" sz="4000" dirty="0"/>
          </a:p>
        </p:txBody>
      </p:sp>
      <p:sp>
        <p:nvSpPr>
          <p:cNvPr id="3" name="S04-card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무거운 물건 없이 천천히 해요.</a:t>
            </a:r>
            <a:endParaRPr lang="ko-KR" sz="2800" dirty="0"/>
          </a:p>
        </p:txBody>
      </p:sp>
      <p:sp>
        <p:nvSpPr>
          <p:cNvPr id="5" name="S04-card24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25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모양과 단단함을 봐요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굽힐 때와 펼 때를 비교해요</a:t>
            </a:r>
            <a:endParaRPr lang="ko-KR" sz="2800" dirty="0"/>
          </a:p>
        </p:txBody>
      </p:sp>
      <p:sp>
        <p:nvSpPr>
          <p:cNvPr id="7" name="S04-stepno26"/>
          <p:cNvSpPr txBox="1"/>
          <p:nvPr/>
        </p:nvSpPr>
        <p:spPr>
          <a:xfrm>
            <a:off x="548640" y="1605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8" name="S04-text27"/>
          <p:cNvSpPr txBox="1"/>
          <p:nvPr/>
        </p:nvSpPr>
        <p:spPr>
          <a:xfrm>
            <a:off x="1325880" y="1560068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반대쪽 손으로 위팔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앞쪽을 가볍게 잡아요.</a:t>
            </a:r>
            <a:endParaRPr lang="ko-KR" sz="2800" dirty="0"/>
          </a:p>
        </p:txBody>
      </p:sp>
      <p:sp>
        <p:nvSpPr>
          <p:cNvPr id="9" name="S04-stepno28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0" name="S04-text29"/>
          <p:cNvSpPr txBox="1"/>
          <p:nvPr/>
        </p:nvSpPr>
        <p:spPr>
          <a:xfrm>
            <a:off x="1325880" y="25923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팔을 천천히 굽혀요.</a:t>
            </a:r>
            <a:endParaRPr lang="ko-KR" sz="2800" dirty="0"/>
          </a:p>
        </p:txBody>
      </p:sp>
      <p:sp>
        <p:nvSpPr>
          <p:cNvPr id="11" name="S04-stepno30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2" name="S04-text31"/>
          <p:cNvSpPr txBox="1"/>
          <p:nvPr/>
        </p:nvSpPr>
        <p:spPr>
          <a:xfrm>
            <a:off x="1325880" y="33055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팔을 쭉 펴요.</a:t>
            </a:r>
            <a:endParaRPr lang="ko-KR" sz="2800" dirty="0"/>
          </a:p>
        </p:txBody>
      </p:sp>
      <p:sp>
        <p:nvSpPr>
          <p:cNvPr id="13" name="S04-stepno32"/>
          <p:cNvSpPr txBox="1"/>
          <p:nvPr/>
        </p:nvSpPr>
        <p:spPr>
          <a:xfrm>
            <a:off x="548640" y="40645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4" name="S04-text33"/>
          <p:cNvSpPr txBox="1"/>
          <p:nvPr/>
        </p:nvSpPr>
        <p:spPr>
          <a:xfrm>
            <a:off x="1325880" y="4018788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근육과 뼈의 느낌을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1에 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05-text3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1을 보며 빈칸을 말로 채워요.</a:t>
            </a:r>
            <a:endParaRPr lang="ko-KR" sz="2800" dirty="0"/>
          </a:p>
        </p:txBody>
      </p:sp>
      <p:sp>
        <p:nvSpPr>
          <p:cNvPr id="4" name="S05-card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근육의 모양은 언제 바뀌었나요?</a:t>
            </a:r>
            <a:endParaRPr lang="ko-KR" sz="2800" dirty="0"/>
          </a:p>
        </p:txBody>
      </p:sp>
      <p:graphicFrame>
        <p:nvGraphicFramePr>
          <p:cNvPr id="6" name="S05-table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541016"/>
          <a:ext cx="10515600" cy="914400"/>
        </p:xfrm>
        <a:graphic>
          <a:graphicData uri="http://schemas.openxmlformats.org/drawingml/2006/table">
            <a:tbl>
              <a:tblPr/>
              <a:tblGrid>
                <a:gridCol w="5783580"/>
                <a:gridCol w="473202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관찰한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팔을 굽힐 때 위팔 앞쪽 근육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팔을 펼 때 위팔 앞쪽 근육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팔꿈치 위아래를 눌러 보면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뼈와 근육이 하는 일</a:t>
            </a:r>
            <a:endParaRPr lang="ko-KR" sz="4000" dirty="0"/>
          </a:p>
        </p:txBody>
      </p:sp>
      <p:sp>
        <p:nvSpPr>
          <p:cNvPr id="3" name="S06-card38"/>
          <p:cNvSpPr/>
          <p:nvPr/>
        </p:nvSpPr>
        <p:spPr>
          <a:xfrm>
            <a:off x="548640" y="5021072"/>
            <a:ext cx="543153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39"/>
          <p:cNvSpPr txBox="1"/>
          <p:nvPr/>
        </p:nvSpPr>
        <p:spPr>
          <a:xfrm>
            <a:off x="822960" y="5158232"/>
            <a:ext cx="488289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근육이 줄어들거나 늘어나며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뼈를 움직여요.</a:t>
            </a:r>
            <a:endParaRPr lang="ko-KR" sz="2800" dirty="0"/>
          </a:p>
        </p:txBody>
      </p:sp>
      <p:sp>
        <p:nvSpPr>
          <p:cNvPr id="5" name="S06-card40"/>
          <p:cNvSpPr/>
          <p:nvPr/>
        </p:nvSpPr>
        <p:spPr>
          <a:xfrm>
            <a:off x="6208776" y="5021072"/>
            <a:ext cx="543153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41"/>
          <p:cNvSpPr txBox="1"/>
          <p:nvPr/>
        </p:nvSpPr>
        <p:spPr>
          <a:xfrm>
            <a:off x="6483096" y="5158232"/>
            <a:ext cx="488289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뼈는 몸을 받치고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뇌·심장·폐를 보호해요.</a:t>
            </a:r>
            <a:endParaRPr lang="ko-KR" sz="2800" dirty="0"/>
          </a:p>
        </p:txBody>
      </p:sp>
      <p:sp>
        <p:nvSpPr>
          <p:cNvPr id="7" name="S06-figure42" descr="팔을 폈을 때: 위팔뼈와 아래팔뼈가 일직선이고, 위팔 앞쪽 근육이 길고 얇음. 근육의 양 끝은 위팔뼈와 아래팔뼈에 붙어 있음"/>
          <p:cNvSpPr/>
          <p:nvPr/>
        </p:nvSpPr>
        <p:spPr>
          <a:xfrm>
            <a:off x="3113651" y="3723469"/>
            <a:ext cx="255794" cy="25579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6-mark43"/>
          <p:cNvSpPr/>
          <p:nvPr/>
        </p:nvSpPr>
        <p:spPr>
          <a:xfrm>
            <a:off x="1206827" y="3490929"/>
            <a:ext cx="1860317" cy="279048"/>
          </a:xfrm>
          <a:custGeom>
            <a:avLst/>
            <a:gdLst/>
            <a:ahLst/>
            <a:cxnLst/>
            <a:rect l="l" t="t" r="r" b="b"/>
            <a:pathLst>
              <a:path w="1860317" h="279048">
                <a:moveTo>
                  <a:pt x="1860317" y="139524"/>
                </a:moveTo>
                <a:lnTo>
                  <a:pt x="1856777" y="127363"/>
                </a:lnTo>
                <a:lnTo>
                  <a:pt x="1846186" y="115296"/>
                </a:lnTo>
                <a:lnTo>
                  <a:pt x="1828622" y="103412"/>
                </a:lnTo>
                <a:lnTo>
                  <a:pt x="1804221" y="91804"/>
                </a:lnTo>
                <a:lnTo>
                  <a:pt x="1773168" y="80558"/>
                </a:lnTo>
                <a:lnTo>
                  <a:pt x="1735699" y="69762"/>
                </a:lnTo>
                <a:lnTo>
                  <a:pt x="1692099" y="59496"/>
                </a:lnTo>
                <a:lnTo>
                  <a:pt x="1642701" y="49840"/>
                </a:lnTo>
                <a:lnTo>
                  <a:pt x="1587880" y="40866"/>
                </a:lnTo>
                <a:lnTo>
                  <a:pt x="1528053" y="32642"/>
                </a:lnTo>
                <a:lnTo>
                  <a:pt x="1463675" y="25233"/>
                </a:lnTo>
                <a:lnTo>
                  <a:pt x="1395238" y="18693"/>
                </a:lnTo>
                <a:lnTo>
                  <a:pt x="1323260" y="13072"/>
                </a:lnTo>
                <a:lnTo>
                  <a:pt x="1248291" y="8414"/>
                </a:lnTo>
                <a:lnTo>
                  <a:pt x="1170901" y="4754"/>
                </a:lnTo>
                <a:lnTo>
                  <a:pt x="1091679" y="2120"/>
                </a:lnTo>
                <a:lnTo>
                  <a:pt x="1011227" y="531"/>
                </a:lnTo>
                <a:lnTo>
                  <a:pt x="930158" y="0"/>
                </a:lnTo>
                <a:lnTo>
                  <a:pt x="849090" y="531"/>
                </a:lnTo>
                <a:lnTo>
                  <a:pt x="768638" y="2120"/>
                </a:lnTo>
                <a:lnTo>
                  <a:pt x="689416" y="4754"/>
                </a:lnTo>
                <a:lnTo>
                  <a:pt x="612025" y="8414"/>
                </a:lnTo>
                <a:lnTo>
                  <a:pt x="537056" y="13072"/>
                </a:lnTo>
                <a:lnTo>
                  <a:pt x="465079" y="18693"/>
                </a:lnTo>
                <a:lnTo>
                  <a:pt x="396641" y="25233"/>
                </a:lnTo>
                <a:lnTo>
                  <a:pt x="332264" y="32642"/>
                </a:lnTo>
                <a:lnTo>
                  <a:pt x="272437" y="40866"/>
                </a:lnTo>
                <a:lnTo>
                  <a:pt x="217616" y="49840"/>
                </a:lnTo>
                <a:lnTo>
                  <a:pt x="168217" y="59496"/>
                </a:lnTo>
                <a:lnTo>
                  <a:pt x="124618" y="69762"/>
                </a:lnTo>
                <a:lnTo>
                  <a:pt x="87149" y="80558"/>
                </a:lnTo>
                <a:lnTo>
                  <a:pt x="56095" y="91804"/>
                </a:lnTo>
                <a:lnTo>
                  <a:pt x="31694" y="103412"/>
                </a:lnTo>
                <a:lnTo>
                  <a:pt x="14131" y="115296"/>
                </a:lnTo>
                <a:lnTo>
                  <a:pt x="3540" y="127363"/>
                </a:lnTo>
                <a:lnTo>
                  <a:pt x="0" y="139524"/>
                </a:lnTo>
                <a:lnTo>
                  <a:pt x="3540" y="151684"/>
                </a:lnTo>
                <a:lnTo>
                  <a:pt x="14131" y="163752"/>
                </a:lnTo>
                <a:lnTo>
                  <a:pt x="31694" y="175635"/>
                </a:lnTo>
                <a:lnTo>
                  <a:pt x="56095" y="187244"/>
                </a:lnTo>
                <a:lnTo>
                  <a:pt x="87149" y="198489"/>
                </a:lnTo>
                <a:lnTo>
                  <a:pt x="124618" y="209286"/>
                </a:lnTo>
                <a:lnTo>
                  <a:pt x="168217" y="219551"/>
                </a:lnTo>
                <a:lnTo>
                  <a:pt x="217616" y="229208"/>
                </a:lnTo>
                <a:lnTo>
                  <a:pt x="272437" y="238182"/>
                </a:lnTo>
                <a:lnTo>
                  <a:pt x="332264" y="246405"/>
                </a:lnTo>
                <a:lnTo>
                  <a:pt x="396641" y="253815"/>
                </a:lnTo>
                <a:lnTo>
                  <a:pt x="465079" y="260355"/>
                </a:lnTo>
                <a:lnTo>
                  <a:pt x="537056" y="265975"/>
                </a:lnTo>
                <a:lnTo>
                  <a:pt x="612025" y="270633"/>
                </a:lnTo>
                <a:lnTo>
                  <a:pt x="689416" y="274293"/>
                </a:lnTo>
                <a:lnTo>
                  <a:pt x="768638" y="276928"/>
                </a:lnTo>
                <a:lnTo>
                  <a:pt x="849090" y="278517"/>
                </a:lnTo>
                <a:lnTo>
                  <a:pt x="930158" y="279048"/>
                </a:lnTo>
                <a:lnTo>
                  <a:pt x="1011227" y="278517"/>
                </a:lnTo>
                <a:lnTo>
                  <a:pt x="1091679" y="276928"/>
                </a:lnTo>
                <a:lnTo>
                  <a:pt x="1170901" y="274293"/>
                </a:lnTo>
                <a:lnTo>
                  <a:pt x="1248291" y="270633"/>
                </a:lnTo>
                <a:lnTo>
                  <a:pt x="1323260" y="265975"/>
                </a:lnTo>
                <a:lnTo>
                  <a:pt x="1395238" y="260355"/>
                </a:lnTo>
                <a:lnTo>
                  <a:pt x="1463675" y="253815"/>
                </a:lnTo>
                <a:lnTo>
                  <a:pt x="1528053" y="246405"/>
                </a:lnTo>
                <a:lnTo>
                  <a:pt x="1587880" y="238182"/>
                </a:lnTo>
                <a:lnTo>
                  <a:pt x="1642701" y="229208"/>
                </a:lnTo>
                <a:lnTo>
                  <a:pt x="1692099" y="219551"/>
                </a:lnTo>
                <a:lnTo>
                  <a:pt x="1735699" y="209286"/>
                </a:lnTo>
                <a:lnTo>
                  <a:pt x="1773168" y="198489"/>
                </a:lnTo>
                <a:lnTo>
                  <a:pt x="1804221" y="187244"/>
                </a:lnTo>
                <a:lnTo>
                  <a:pt x="1828622" y="175635"/>
                </a:lnTo>
                <a:lnTo>
                  <a:pt x="1846186" y="163752"/>
                </a:lnTo>
                <a:lnTo>
                  <a:pt x="1856777" y="151684"/>
                </a:lnTo>
                <a:close/>
              </a:path>
            </a:pathLst>
          </a:custGeom>
          <a:solidFill>
            <a:srgbClr val="F8B4B4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9" name="S06-mark44"/>
          <p:cNvSpPr/>
          <p:nvPr/>
        </p:nvSpPr>
        <p:spPr>
          <a:xfrm>
            <a:off x="916152" y="3851366"/>
            <a:ext cx="2325396" cy="0"/>
          </a:xfrm>
          <a:prstGeom prst="line">
            <a:avLst/>
          </a:prstGeom>
          <a:noFill/>
          <a:ln w="114300">
            <a:solidFill>
              <a:srgbClr val="D6D3D1"/>
            </a:solidFill>
            <a:prstDash val="solid"/>
          </a:ln>
        </p:spPr>
      </p:sp>
      <p:sp>
        <p:nvSpPr>
          <p:cNvPr id="10" name="S06-mark45"/>
          <p:cNvSpPr/>
          <p:nvPr/>
        </p:nvSpPr>
        <p:spPr>
          <a:xfrm>
            <a:off x="3241548" y="3851366"/>
            <a:ext cx="2325396" cy="0"/>
          </a:xfrm>
          <a:prstGeom prst="line">
            <a:avLst/>
          </a:prstGeom>
          <a:noFill/>
          <a:ln w="114300">
            <a:solidFill>
              <a:srgbClr val="D6D3D1"/>
            </a:solidFill>
            <a:prstDash val="solid"/>
          </a:ln>
        </p:spPr>
      </p:sp>
      <p:sp>
        <p:nvSpPr>
          <p:cNvPr id="11" name="S06-mark46"/>
          <p:cNvSpPr/>
          <p:nvPr/>
        </p:nvSpPr>
        <p:spPr>
          <a:xfrm flipV="1">
            <a:off x="1090557" y="3630453"/>
            <a:ext cx="116270" cy="151151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2" name="S06-mark47"/>
          <p:cNvSpPr/>
          <p:nvPr/>
        </p:nvSpPr>
        <p:spPr>
          <a:xfrm>
            <a:off x="3067143" y="3630453"/>
            <a:ext cx="581349" cy="220913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3" name="S06-label49"/>
          <p:cNvSpPr txBox="1"/>
          <p:nvPr/>
        </p:nvSpPr>
        <p:spPr>
          <a:xfrm>
            <a:off x="1799958" y="3010872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근육</a:t>
            </a:r>
            <a:endParaRPr lang="ko-KR" sz="1800" dirty="0"/>
          </a:p>
        </p:txBody>
      </p:sp>
      <p:sp>
        <p:nvSpPr>
          <p:cNvPr id="14" name="S06-label51"/>
          <p:cNvSpPr txBox="1"/>
          <p:nvPr/>
        </p:nvSpPr>
        <p:spPr>
          <a:xfrm>
            <a:off x="1911972" y="4028233"/>
            <a:ext cx="3337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뼈</a:t>
            </a:r>
            <a:endParaRPr lang="ko-KR" sz="1800" dirty="0"/>
          </a:p>
        </p:txBody>
      </p:sp>
      <p:sp>
        <p:nvSpPr>
          <p:cNvPr id="15" name="S06-label52"/>
          <p:cNvSpPr txBox="1"/>
          <p:nvPr/>
        </p:nvSpPr>
        <p:spPr>
          <a:xfrm>
            <a:off x="548640" y="4415282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팔을 폈을 때</a:t>
            </a:r>
            <a:endParaRPr lang="ko-KR" sz="2200" dirty="0"/>
          </a:p>
        </p:txBody>
      </p:sp>
      <p:sp>
        <p:nvSpPr>
          <p:cNvPr id="16" name="S06-figure53" descr="팔을 굽혔을 때: 아래팔뼈가 위로 올라가고, 위팔 앞쪽 근육이 짧고 두꺼워져 아래팔뼈를 당김"/>
          <p:cNvSpPr/>
          <p:nvPr/>
        </p:nvSpPr>
        <p:spPr>
          <a:xfrm>
            <a:off x="8819507" y="3723469"/>
            <a:ext cx="255794" cy="25579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6-mark54"/>
          <p:cNvSpPr/>
          <p:nvPr/>
        </p:nvSpPr>
        <p:spPr>
          <a:xfrm>
            <a:off x="7116155" y="3211882"/>
            <a:ext cx="1337103" cy="558095"/>
          </a:xfrm>
          <a:custGeom>
            <a:avLst/>
            <a:gdLst/>
            <a:ahLst/>
            <a:cxnLst/>
            <a:rect l="l" t="t" r="r" b="b"/>
            <a:pathLst>
              <a:path w="1337103" h="558095">
                <a:moveTo>
                  <a:pt x="1337103" y="279048"/>
                </a:moveTo>
                <a:lnTo>
                  <a:pt x="1334559" y="254727"/>
                </a:lnTo>
                <a:lnTo>
                  <a:pt x="1326946" y="230591"/>
                </a:lnTo>
                <a:lnTo>
                  <a:pt x="1314322" y="206825"/>
                </a:lnTo>
                <a:lnTo>
                  <a:pt x="1296784" y="183608"/>
                </a:lnTo>
                <a:lnTo>
                  <a:pt x="1274465" y="161117"/>
                </a:lnTo>
                <a:lnTo>
                  <a:pt x="1247534" y="139524"/>
                </a:lnTo>
                <a:lnTo>
                  <a:pt x="1216197" y="118992"/>
                </a:lnTo>
                <a:lnTo>
                  <a:pt x="1180691" y="99679"/>
                </a:lnTo>
                <a:lnTo>
                  <a:pt x="1141289" y="81731"/>
                </a:lnTo>
                <a:lnTo>
                  <a:pt x="1098288" y="65285"/>
                </a:lnTo>
                <a:lnTo>
                  <a:pt x="1052017" y="50465"/>
                </a:lnTo>
                <a:lnTo>
                  <a:pt x="1002827" y="37385"/>
                </a:lnTo>
                <a:lnTo>
                  <a:pt x="951093" y="26145"/>
                </a:lnTo>
                <a:lnTo>
                  <a:pt x="897209" y="16829"/>
                </a:lnTo>
                <a:lnTo>
                  <a:pt x="841585" y="9508"/>
                </a:lnTo>
                <a:lnTo>
                  <a:pt x="784644" y="4239"/>
                </a:lnTo>
                <a:lnTo>
                  <a:pt x="726819" y="1062"/>
                </a:lnTo>
                <a:lnTo>
                  <a:pt x="668551" y="0"/>
                </a:lnTo>
                <a:lnTo>
                  <a:pt x="610283" y="1062"/>
                </a:lnTo>
                <a:lnTo>
                  <a:pt x="552459" y="4239"/>
                </a:lnTo>
                <a:lnTo>
                  <a:pt x="495518" y="9508"/>
                </a:lnTo>
                <a:lnTo>
                  <a:pt x="439893" y="16829"/>
                </a:lnTo>
                <a:lnTo>
                  <a:pt x="386009" y="26145"/>
                </a:lnTo>
                <a:lnTo>
                  <a:pt x="334276" y="37385"/>
                </a:lnTo>
                <a:lnTo>
                  <a:pt x="285086" y="50465"/>
                </a:lnTo>
                <a:lnTo>
                  <a:pt x="238815" y="65285"/>
                </a:lnTo>
                <a:lnTo>
                  <a:pt x="195814" y="81731"/>
                </a:lnTo>
                <a:lnTo>
                  <a:pt x="156411" y="99679"/>
                </a:lnTo>
                <a:lnTo>
                  <a:pt x="120906" y="118992"/>
                </a:lnTo>
                <a:lnTo>
                  <a:pt x="89569" y="139524"/>
                </a:lnTo>
                <a:lnTo>
                  <a:pt x="62638" y="161117"/>
                </a:lnTo>
                <a:lnTo>
                  <a:pt x="40319" y="183608"/>
                </a:lnTo>
                <a:lnTo>
                  <a:pt x="22780" y="206825"/>
                </a:lnTo>
                <a:lnTo>
                  <a:pt x="10157" y="230591"/>
                </a:lnTo>
                <a:lnTo>
                  <a:pt x="2544" y="254727"/>
                </a:lnTo>
                <a:lnTo>
                  <a:pt x="0" y="279048"/>
                </a:lnTo>
                <a:lnTo>
                  <a:pt x="2544" y="303368"/>
                </a:lnTo>
                <a:lnTo>
                  <a:pt x="10157" y="327504"/>
                </a:lnTo>
                <a:lnTo>
                  <a:pt x="22780" y="351270"/>
                </a:lnTo>
                <a:lnTo>
                  <a:pt x="40319" y="374487"/>
                </a:lnTo>
                <a:lnTo>
                  <a:pt x="62638" y="396978"/>
                </a:lnTo>
                <a:lnTo>
                  <a:pt x="89569" y="418571"/>
                </a:lnTo>
                <a:lnTo>
                  <a:pt x="120906" y="439103"/>
                </a:lnTo>
                <a:lnTo>
                  <a:pt x="156411" y="458416"/>
                </a:lnTo>
                <a:lnTo>
                  <a:pt x="195814" y="476364"/>
                </a:lnTo>
                <a:lnTo>
                  <a:pt x="238815" y="492810"/>
                </a:lnTo>
                <a:lnTo>
                  <a:pt x="285086" y="507630"/>
                </a:lnTo>
                <a:lnTo>
                  <a:pt x="334276" y="520710"/>
                </a:lnTo>
                <a:lnTo>
                  <a:pt x="386009" y="531950"/>
                </a:lnTo>
                <a:lnTo>
                  <a:pt x="439893" y="541266"/>
                </a:lnTo>
                <a:lnTo>
                  <a:pt x="495518" y="548587"/>
                </a:lnTo>
                <a:lnTo>
                  <a:pt x="552459" y="553856"/>
                </a:lnTo>
                <a:lnTo>
                  <a:pt x="610283" y="557033"/>
                </a:lnTo>
                <a:lnTo>
                  <a:pt x="668551" y="558095"/>
                </a:lnTo>
                <a:lnTo>
                  <a:pt x="726819" y="557033"/>
                </a:lnTo>
                <a:lnTo>
                  <a:pt x="784644" y="553856"/>
                </a:lnTo>
                <a:lnTo>
                  <a:pt x="841585" y="548587"/>
                </a:lnTo>
                <a:lnTo>
                  <a:pt x="897209" y="541266"/>
                </a:lnTo>
                <a:lnTo>
                  <a:pt x="951093" y="531950"/>
                </a:lnTo>
                <a:lnTo>
                  <a:pt x="1002827" y="520710"/>
                </a:lnTo>
                <a:lnTo>
                  <a:pt x="1052017" y="507630"/>
                </a:lnTo>
                <a:lnTo>
                  <a:pt x="1098288" y="492810"/>
                </a:lnTo>
                <a:lnTo>
                  <a:pt x="1141289" y="476364"/>
                </a:lnTo>
                <a:lnTo>
                  <a:pt x="1180691" y="458416"/>
                </a:lnTo>
                <a:lnTo>
                  <a:pt x="1216197" y="439103"/>
                </a:lnTo>
                <a:lnTo>
                  <a:pt x="1247534" y="418571"/>
                </a:lnTo>
                <a:lnTo>
                  <a:pt x="1274465" y="396978"/>
                </a:lnTo>
                <a:lnTo>
                  <a:pt x="1296784" y="374487"/>
                </a:lnTo>
                <a:lnTo>
                  <a:pt x="1314322" y="351270"/>
                </a:lnTo>
                <a:lnTo>
                  <a:pt x="1326946" y="327504"/>
                </a:lnTo>
                <a:lnTo>
                  <a:pt x="1334559" y="303368"/>
                </a:lnTo>
                <a:close/>
              </a:path>
            </a:pathLst>
          </a:custGeom>
          <a:solidFill>
            <a:srgbClr val="F8B4B4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8" name="S06-mark55"/>
          <p:cNvSpPr/>
          <p:nvPr/>
        </p:nvSpPr>
        <p:spPr>
          <a:xfrm>
            <a:off x="6622008" y="3851366"/>
            <a:ext cx="2325396" cy="0"/>
          </a:xfrm>
          <a:prstGeom prst="line">
            <a:avLst/>
          </a:prstGeom>
          <a:noFill/>
          <a:ln w="114300">
            <a:solidFill>
              <a:srgbClr val="D6D3D1"/>
            </a:solidFill>
            <a:prstDash val="solid"/>
          </a:ln>
        </p:spPr>
      </p:sp>
      <p:sp>
        <p:nvSpPr>
          <p:cNvPr id="19" name="S06-mark56"/>
          <p:cNvSpPr/>
          <p:nvPr/>
        </p:nvSpPr>
        <p:spPr>
          <a:xfrm flipH="1" flipV="1">
            <a:off x="8152119" y="1666075"/>
            <a:ext cx="795285" cy="2185291"/>
          </a:xfrm>
          <a:prstGeom prst="line">
            <a:avLst/>
          </a:prstGeom>
          <a:noFill/>
          <a:ln w="114300">
            <a:solidFill>
              <a:srgbClr val="D6D3D1"/>
            </a:solidFill>
            <a:prstDash val="solid"/>
          </a:ln>
        </p:spPr>
      </p:sp>
      <p:sp>
        <p:nvSpPr>
          <p:cNvPr id="20" name="S06-mark57"/>
          <p:cNvSpPr/>
          <p:nvPr/>
        </p:nvSpPr>
        <p:spPr>
          <a:xfrm flipV="1">
            <a:off x="6796413" y="3490929"/>
            <a:ext cx="319742" cy="29067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1" name="S06-mark58"/>
          <p:cNvSpPr/>
          <p:nvPr/>
        </p:nvSpPr>
        <p:spPr>
          <a:xfrm flipV="1">
            <a:off x="8453257" y="3468838"/>
            <a:ext cx="355204" cy="22091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2" name="S06-label60"/>
          <p:cNvSpPr txBox="1"/>
          <p:nvPr/>
        </p:nvSpPr>
        <p:spPr>
          <a:xfrm>
            <a:off x="7505814" y="2807400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근육</a:t>
            </a:r>
            <a:endParaRPr lang="ko-KR" sz="1800" dirty="0"/>
          </a:p>
        </p:txBody>
      </p:sp>
      <p:sp>
        <p:nvSpPr>
          <p:cNvPr id="23" name="S06-label62"/>
          <p:cNvSpPr txBox="1"/>
          <p:nvPr/>
        </p:nvSpPr>
        <p:spPr>
          <a:xfrm>
            <a:off x="7617828" y="4028233"/>
            <a:ext cx="3337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뼈</a:t>
            </a:r>
            <a:endParaRPr lang="ko-KR" sz="1800" dirty="0"/>
          </a:p>
        </p:txBody>
      </p:sp>
      <p:sp>
        <p:nvSpPr>
          <p:cNvPr id="24" name="S06-label63"/>
          <p:cNvSpPr txBox="1"/>
          <p:nvPr/>
        </p:nvSpPr>
        <p:spPr>
          <a:xfrm>
            <a:off x="6254496" y="4415282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팔을 굽혔을 때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7-card6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6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팔을 굽힐 때 무엇이 팔을 움직일까요?</a:t>
            </a:r>
            <a:endParaRPr lang="ko-KR" sz="2800" dirty="0"/>
          </a:p>
        </p:txBody>
      </p:sp>
      <p:sp>
        <p:nvSpPr>
          <p:cNvPr id="5" name="S07-card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2800" dirty="0"/>
          </a:p>
        </p:txBody>
      </p:sp>
      <p:sp>
        <p:nvSpPr>
          <p:cNvPr id="7" name="S07-chip6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07-text6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팔꿈치에서 뼈가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스스로 굽혀져요.</a:t>
            </a:r>
            <a:endParaRPr lang="ko-KR" sz="2800" dirty="0"/>
          </a:p>
        </p:txBody>
      </p:sp>
      <p:sp>
        <p:nvSpPr>
          <p:cNvPr id="9" name="S07-chip7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07-text7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근육이 줄어들면서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뼈를 당겨요.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음식물이 지나는 길</a:t>
            </a:r>
            <a:endParaRPr lang="ko-KR" sz="4000" dirty="0"/>
          </a:p>
        </p:txBody>
      </p:sp>
      <p:sp>
        <p:nvSpPr>
          <p:cNvPr id="3" name="S08-text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음식물을 잘게 쪼개 흡수하기 쉽게 하는 것을 소화라고 해요.</a:t>
            </a:r>
            <a:endParaRPr lang="ko-KR" sz="2800" dirty="0"/>
          </a:p>
        </p:txBody>
      </p:sp>
      <p:sp>
        <p:nvSpPr>
          <p:cNvPr id="4" name="S08-figure73" descr="몸 윤곽 안의 소화 기관 모식도: 입 → 식도 → 위 → 작은창자(구불구불한 관) → 큰창자(작은창자를 둘러싼 굵은 관) → 항문"/>
          <p:cNvSpPr/>
          <p:nvPr/>
        </p:nvSpPr>
        <p:spPr>
          <a:xfrm>
            <a:off x="2711394" y="2135886"/>
            <a:ext cx="848106" cy="848106"/>
          </a:xfrm>
          <a:prstGeom prst="ellipse">
            <a:avLst/>
          </a:prstGeom>
          <a:solidFill>
            <a:srgbClr val="F3F4F6"/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5" name="S08-mark74"/>
          <p:cNvSpPr/>
          <p:nvPr/>
        </p:nvSpPr>
        <p:spPr>
          <a:xfrm>
            <a:off x="2953710" y="2943606"/>
            <a:ext cx="363474" cy="444246"/>
          </a:xfrm>
          <a:custGeom>
            <a:avLst/>
            <a:gdLst/>
            <a:ahLst/>
            <a:cxnLst/>
            <a:rect l="l" t="t" r="r" b="b"/>
            <a:pathLst>
              <a:path w="363474" h="444246">
                <a:moveTo>
                  <a:pt x="0" y="444246"/>
                </a:moveTo>
                <a:lnTo>
                  <a:pt x="363474" y="444246"/>
                </a:lnTo>
                <a:lnTo>
                  <a:pt x="363474" y="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6" name="S08-mark75"/>
          <p:cNvSpPr/>
          <p:nvPr/>
        </p:nvSpPr>
        <p:spPr>
          <a:xfrm>
            <a:off x="2166183" y="3347466"/>
            <a:ext cx="1938528" cy="2665476"/>
          </a:xfrm>
          <a:custGeom>
            <a:avLst/>
            <a:gdLst/>
            <a:ahLst/>
            <a:cxnLst/>
            <a:rect l="l" t="t" r="r" b="b"/>
            <a:pathLst>
              <a:path w="1938528" h="2665476">
                <a:moveTo>
                  <a:pt x="121158" y="2665476"/>
                </a:moveTo>
                <a:lnTo>
                  <a:pt x="1817370" y="2665476"/>
                </a:lnTo>
                <a:lnTo>
                  <a:pt x="1938528" y="282702"/>
                </a:lnTo>
                <a:lnTo>
                  <a:pt x="1615440" y="0"/>
                </a:lnTo>
                <a:lnTo>
                  <a:pt x="323088" y="0"/>
                </a:lnTo>
                <a:lnTo>
                  <a:pt x="0" y="282702"/>
                </a:lnTo>
                <a:close/>
              </a:path>
            </a:pathLst>
          </a:custGeom>
          <a:solidFill>
            <a:srgbClr val="F3F4F6"/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7" name="S08-mark76"/>
          <p:cNvSpPr/>
          <p:nvPr/>
        </p:nvSpPr>
        <p:spPr>
          <a:xfrm>
            <a:off x="2792166" y="4639818"/>
            <a:ext cx="686562" cy="706755"/>
          </a:xfrm>
          <a:custGeom>
            <a:avLst/>
            <a:gdLst/>
            <a:ahLst/>
            <a:cxnLst/>
            <a:rect l="l" t="t" r="r" b="b"/>
            <a:pathLst>
              <a:path w="686562" h="706755">
                <a:moveTo>
                  <a:pt x="0" y="0"/>
                </a:moveTo>
                <a:lnTo>
                  <a:pt x="686562" y="0"/>
                </a:lnTo>
                <a:lnTo>
                  <a:pt x="686562" y="141351"/>
                </a:lnTo>
                <a:lnTo>
                  <a:pt x="0" y="141351"/>
                </a:lnTo>
                <a:lnTo>
                  <a:pt x="0" y="282702"/>
                </a:lnTo>
                <a:lnTo>
                  <a:pt x="686562" y="282702"/>
                </a:lnTo>
                <a:lnTo>
                  <a:pt x="686562" y="424053"/>
                </a:lnTo>
                <a:lnTo>
                  <a:pt x="0" y="424053"/>
                </a:lnTo>
                <a:lnTo>
                  <a:pt x="0" y="565404"/>
                </a:lnTo>
                <a:lnTo>
                  <a:pt x="686562" y="565404"/>
                </a:lnTo>
                <a:lnTo>
                  <a:pt x="686562" y="706755"/>
                </a:lnTo>
                <a:lnTo>
                  <a:pt x="0" y="706755"/>
                </a:lnTo>
              </a:path>
            </a:pathLst>
          </a:cu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8" name="S08-mark77"/>
          <p:cNvSpPr/>
          <p:nvPr/>
        </p:nvSpPr>
        <p:spPr>
          <a:xfrm>
            <a:off x="2549850" y="4397502"/>
            <a:ext cx="1171194" cy="1595247"/>
          </a:xfrm>
          <a:custGeom>
            <a:avLst/>
            <a:gdLst/>
            <a:ahLst/>
            <a:cxnLst/>
            <a:rect l="l" t="t" r="r" b="b"/>
            <a:pathLst>
              <a:path w="1171194" h="1595247">
                <a:moveTo>
                  <a:pt x="242316" y="989457"/>
                </a:moveTo>
                <a:lnTo>
                  <a:pt x="0" y="989457"/>
                </a:lnTo>
                <a:lnTo>
                  <a:pt x="0" y="0"/>
                </a:lnTo>
                <a:lnTo>
                  <a:pt x="1171194" y="0"/>
                </a:lnTo>
                <a:lnTo>
                  <a:pt x="1171194" y="1211580"/>
                </a:lnTo>
                <a:lnTo>
                  <a:pt x="585597" y="1332738"/>
                </a:lnTo>
                <a:lnTo>
                  <a:pt x="585597" y="1595247"/>
                </a:lnTo>
              </a:path>
            </a:pathLst>
          </a:custGeom>
          <a:noFill/>
          <a:ln w="76200">
            <a:solidFill>
              <a:srgbClr val="A47148"/>
            </a:solidFill>
            <a:prstDash val="solid"/>
          </a:ln>
        </p:spPr>
      </p:sp>
      <p:sp>
        <p:nvSpPr>
          <p:cNvPr id="9" name="S08-mark78"/>
          <p:cNvSpPr/>
          <p:nvPr/>
        </p:nvSpPr>
        <p:spPr>
          <a:xfrm>
            <a:off x="3086984" y="2693213"/>
            <a:ext cx="96926" cy="96926"/>
          </a:xfrm>
          <a:prstGeom prst="ellipse">
            <a:avLst/>
          </a:prstGeom>
          <a:solidFill>
            <a:srgbClr val="C8434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8-mark79"/>
          <p:cNvSpPr/>
          <p:nvPr/>
        </p:nvSpPr>
        <p:spPr>
          <a:xfrm>
            <a:off x="3095061" y="3771519"/>
            <a:ext cx="686562" cy="444246"/>
          </a:xfrm>
          <a:custGeom>
            <a:avLst/>
            <a:gdLst/>
            <a:ahLst/>
            <a:cxnLst/>
            <a:rect l="l" t="t" r="r" b="b"/>
            <a:pathLst>
              <a:path w="686562" h="444246">
                <a:moveTo>
                  <a:pt x="686562" y="222123"/>
                </a:moveTo>
                <a:lnTo>
                  <a:pt x="685256" y="202764"/>
                </a:lnTo>
                <a:lnTo>
                  <a:pt x="681347" y="183552"/>
                </a:lnTo>
                <a:lnTo>
                  <a:pt x="674865" y="164633"/>
                </a:lnTo>
                <a:lnTo>
                  <a:pt x="665860" y="146152"/>
                </a:lnTo>
                <a:lnTo>
                  <a:pt x="654399" y="128250"/>
                </a:lnTo>
                <a:lnTo>
                  <a:pt x="640571" y="111061"/>
                </a:lnTo>
                <a:lnTo>
                  <a:pt x="624480" y="94718"/>
                </a:lnTo>
                <a:lnTo>
                  <a:pt x="606250" y="79345"/>
                </a:lnTo>
                <a:lnTo>
                  <a:pt x="586017" y="65058"/>
                </a:lnTo>
                <a:lnTo>
                  <a:pt x="563938" y="51967"/>
                </a:lnTo>
                <a:lnTo>
                  <a:pt x="540179" y="40170"/>
                </a:lnTo>
                <a:lnTo>
                  <a:pt x="514921" y="29759"/>
                </a:lnTo>
                <a:lnTo>
                  <a:pt x="488358" y="20811"/>
                </a:lnTo>
                <a:lnTo>
                  <a:pt x="460690" y="13396"/>
                </a:lnTo>
                <a:lnTo>
                  <a:pt x="432129" y="7569"/>
                </a:lnTo>
                <a:lnTo>
                  <a:pt x="402891" y="3375"/>
                </a:lnTo>
                <a:lnTo>
                  <a:pt x="373200" y="845"/>
                </a:lnTo>
                <a:lnTo>
                  <a:pt x="343281" y="0"/>
                </a:lnTo>
                <a:lnTo>
                  <a:pt x="313362" y="845"/>
                </a:lnTo>
                <a:lnTo>
                  <a:pt x="283671" y="3375"/>
                </a:lnTo>
                <a:lnTo>
                  <a:pt x="254433" y="7569"/>
                </a:lnTo>
                <a:lnTo>
                  <a:pt x="225872" y="13396"/>
                </a:lnTo>
                <a:lnTo>
                  <a:pt x="198204" y="20811"/>
                </a:lnTo>
                <a:lnTo>
                  <a:pt x="171640" y="29759"/>
                </a:lnTo>
                <a:lnTo>
                  <a:pt x="146383" y="40170"/>
                </a:lnTo>
                <a:lnTo>
                  <a:pt x="122624" y="51967"/>
                </a:lnTo>
                <a:lnTo>
                  <a:pt x="100545" y="65058"/>
                </a:lnTo>
                <a:lnTo>
                  <a:pt x="80312" y="79345"/>
                </a:lnTo>
                <a:lnTo>
                  <a:pt x="62082" y="94718"/>
                </a:lnTo>
                <a:lnTo>
                  <a:pt x="45991" y="111061"/>
                </a:lnTo>
                <a:lnTo>
                  <a:pt x="32163" y="128250"/>
                </a:lnTo>
                <a:lnTo>
                  <a:pt x="20702" y="146152"/>
                </a:lnTo>
                <a:lnTo>
                  <a:pt x="11697" y="164633"/>
                </a:lnTo>
                <a:lnTo>
                  <a:pt x="5215" y="183552"/>
                </a:lnTo>
                <a:lnTo>
                  <a:pt x="1306" y="202764"/>
                </a:lnTo>
                <a:lnTo>
                  <a:pt x="0" y="222123"/>
                </a:lnTo>
                <a:lnTo>
                  <a:pt x="1306" y="241482"/>
                </a:lnTo>
                <a:lnTo>
                  <a:pt x="5215" y="260694"/>
                </a:lnTo>
                <a:lnTo>
                  <a:pt x="11697" y="279613"/>
                </a:lnTo>
                <a:lnTo>
                  <a:pt x="20702" y="298094"/>
                </a:lnTo>
                <a:lnTo>
                  <a:pt x="32163" y="315996"/>
                </a:lnTo>
                <a:lnTo>
                  <a:pt x="45991" y="333184"/>
                </a:lnTo>
                <a:lnTo>
                  <a:pt x="62082" y="349528"/>
                </a:lnTo>
                <a:lnTo>
                  <a:pt x="80312" y="364901"/>
                </a:lnTo>
                <a:lnTo>
                  <a:pt x="100545" y="379188"/>
                </a:lnTo>
                <a:lnTo>
                  <a:pt x="122624" y="392279"/>
                </a:lnTo>
                <a:lnTo>
                  <a:pt x="146383" y="404076"/>
                </a:lnTo>
                <a:lnTo>
                  <a:pt x="171640" y="414487"/>
                </a:lnTo>
                <a:lnTo>
                  <a:pt x="198204" y="423435"/>
                </a:lnTo>
                <a:lnTo>
                  <a:pt x="225872" y="430850"/>
                </a:lnTo>
                <a:lnTo>
                  <a:pt x="254433" y="436677"/>
                </a:lnTo>
                <a:lnTo>
                  <a:pt x="283671" y="440871"/>
                </a:lnTo>
                <a:lnTo>
                  <a:pt x="313362" y="443401"/>
                </a:lnTo>
                <a:lnTo>
                  <a:pt x="343281" y="444246"/>
                </a:lnTo>
                <a:lnTo>
                  <a:pt x="373200" y="443401"/>
                </a:lnTo>
                <a:lnTo>
                  <a:pt x="402891" y="440871"/>
                </a:lnTo>
                <a:lnTo>
                  <a:pt x="432129" y="436677"/>
                </a:lnTo>
                <a:lnTo>
                  <a:pt x="460690" y="430850"/>
                </a:lnTo>
                <a:lnTo>
                  <a:pt x="488358" y="423435"/>
                </a:lnTo>
                <a:lnTo>
                  <a:pt x="514921" y="414487"/>
                </a:lnTo>
                <a:lnTo>
                  <a:pt x="540179" y="404076"/>
                </a:lnTo>
                <a:lnTo>
                  <a:pt x="563938" y="392279"/>
                </a:lnTo>
                <a:lnTo>
                  <a:pt x="586017" y="379188"/>
                </a:lnTo>
                <a:lnTo>
                  <a:pt x="606250" y="364901"/>
                </a:lnTo>
                <a:lnTo>
                  <a:pt x="624480" y="349528"/>
                </a:lnTo>
                <a:lnTo>
                  <a:pt x="640571" y="333184"/>
                </a:lnTo>
                <a:lnTo>
                  <a:pt x="654399" y="315996"/>
                </a:lnTo>
                <a:lnTo>
                  <a:pt x="665860" y="298094"/>
                </a:lnTo>
                <a:lnTo>
                  <a:pt x="674865" y="279613"/>
                </a:lnTo>
                <a:lnTo>
                  <a:pt x="681347" y="260694"/>
                </a:lnTo>
                <a:lnTo>
                  <a:pt x="685256" y="241482"/>
                </a:lnTo>
                <a:close/>
              </a:path>
            </a:pathLst>
          </a:custGeom>
          <a:solidFill>
            <a:srgbClr val="F8B4B4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1" name="S08-mark80"/>
          <p:cNvSpPr/>
          <p:nvPr/>
        </p:nvSpPr>
        <p:spPr>
          <a:xfrm>
            <a:off x="3135447" y="2782062"/>
            <a:ext cx="0" cy="1009650"/>
          </a:xfrm>
          <a:prstGeom prst="line">
            <a:avLst/>
          </a:prstGeom>
          <a:noFill/>
          <a:ln w="50800">
            <a:solidFill>
              <a:srgbClr val="C8434E"/>
            </a:solidFill>
            <a:prstDash val="solid"/>
          </a:ln>
        </p:spPr>
      </p:sp>
      <p:sp>
        <p:nvSpPr>
          <p:cNvPr id="12" name="S08-mark81"/>
          <p:cNvSpPr/>
          <p:nvPr/>
        </p:nvSpPr>
        <p:spPr>
          <a:xfrm>
            <a:off x="3135447" y="3791712"/>
            <a:ext cx="80772" cy="141351"/>
          </a:xfrm>
          <a:prstGeom prst="line">
            <a:avLst/>
          </a:prstGeom>
          <a:noFill/>
          <a:ln w="50800">
            <a:solidFill>
              <a:srgbClr val="C8434E"/>
            </a:solidFill>
            <a:prstDash val="solid"/>
          </a:ln>
        </p:spPr>
      </p:sp>
      <p:sp>
        <p:nvSpPr>
          <p:cNvPr id="13" name="S08-mark82"/>
          <p:cNvSpPr/>
          <p:nvPr/>
        </p:nvSpPr>
        <p:spPr>
          <a:xfrm flipH="1">
            <a:off x="3478728" y="4134993"/>
            <a:ext cx="201930" cy="504825"/>
          </a:xfrm>
          <a:prstGeom prst="line">
            <a:avLst/>
          </a:pr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14" name="S08-mark83"/>
          <p:cNvSpPr/>
          <p:nvPr/>
        </p:nvSpPr>
        <p:spPr>
          <a:xfrm flipH="1">
            <a:off x="3216219" y="2741676"/>
            <a:ext cx="1070229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5" name="S08-mark84"/>
          <p:cNvSpPr/>
          <p:nvPr/>
        </p:nvSpPr>
        <p:spPr>
          <a:xfrm flipH="1">
            <a:off x="3155640" y="3468624"/>
            <a:ext cx="1130808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6" name="S08-mark85"/>
          <p:cNvSpPr/>
          <p:nvPr/>
        </p:nvSpPr>
        <p:spPr>
          <a:xfrm flipH="1">
            <a:off x="3781623" y="3993642"/>
            <a:ext cx="504825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7" name="S08-mark86"/>
          <p:cNvSpPr/>
          <p:nvPr/>
        </p:nvSpPr>
        <p:spPr>
          <a:xfrm flipH="1">
            <a:off x="3478728" y="4962906"/>
            <a:ext cx="80772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8" name="S08-mark87"/>
          <p:cNvSpPr/>
          <p:nvPr/>
        </p:nvSpPr>
        <p:spPr>
          <a:xfrm>
            <a:off x="1984446" y="4720590"/>
            <a:ext cx="565404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9" name="S08-mark88"/>
          <p:cNvSpPr/>
          <p:nvPr/>
        </p:nvSpPr>
        <p:spPr>
          <a:xfrm flipH="1">
            <a:off x="3155640" y="5851398"/>
            <a:ext cx="1130808" cy="60579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0" name="S08-label90"/>
          <p:cNvSpPr txBox="1"/>
          <p:nvPr/>
        </p:nvSpPr>
        <p:spPr>
          <a:xfrm>
            <a:off x="4347027" y="2567051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</a:t>
            </a:r>
            <a:endParaRPr lang="ko-KR" sz="2200" dirty="0"/>
          </a:p>
        </p:txBody>
      </p:sp>
      <p:sp>
        <p:nvSpPr>
          <p:cNvPr id="21" name="S08-label92"/>
          <p:cNvSpPr txBox="1"/>
          <p:nvPr/>
        </p:nvSpPr>
        <p:spPr>
          <a:xfrm>
            <a:off x="4347027" y="3293999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식도</a:t>
            </a:r>
            <a:endParaRPr lang="ko-KR" sz="2200" dirty="0"/>
          </a:p>
        </p:txBody>
      </p:sp>
      <p:sp>
        <p:nvSpPr>
          <p:cNvPr id="22" name="S08-label94"/>
          <p:cNvSpPr txBox="1"/>
          <p:nvPr/>
        </p:nvSpPr>
        <p:spPr>
          <a:xfrm>
            <a:off x="4347027" y="3819017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</a:t>
            </a:r>
            <a:endParaRPr lang="ko-KR" sz="2200" dirty="0"/>
          </a:p>
        </p:txBody>
      </p:sp>
      <p:sp>
        <p:nvSpPr>
          <p:cNvPr id="23" name="S08-label96"/>
          <p:cNvSpPr txBox="1"/>
          <p:nvPr/>
        </p:nvSpPr>
        <p:spPr>
          <a:xfrm>
            <a:off x="4347027" y="4788281"/>
            <a:ext cx="12049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작은창자</a:t>
            </a:r>
            <a:endParaRPr lang="ko-KR" sz="2200" dirty="0"/>
          </a:p>
        </p:txBody>
      </p:sp>
      <p:sp>
        <p:nvSpPr>
          <p:cNvPr id="24" name="S08-label98"/>
          <p:cNvSpPr txBox="1"/>
          <p:nvPr/>
        </p:nvSpPr>
        <p:spPr>
          <a:xfrm>
            <a:off x="1005962" y="4545965"/>
            <a:ext cx="9311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큰창자</a:t>
            </a:r>
            <a:endParaRPr lang="ko-KR" sz="2200" dirty="0"/>
          </a:p>
        </p:txBody>
      </p:sp>
      <p:sp>
        <p:nvSpPr>
          <p:cNvPr id="25" name="S08-label100"/>
          <p:cNvSpPr txBox="1"/>
          <p:nvPr/>
        </p:nvSpPr>
        <p:spPr>
          <a:xfrm>
            <a:off x="4347027" y="5676773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항문</a:t>
            </a:r>
            <a:endParaRPr lang="ko-KR" sz="2200" dirty="0"/>
          </a:p>
        </p:txBody>
      </p:sp>
      <p:sp>
        <p:nvSpPr>
          <p:cNvPr id="26" name="S08-card101"/>
          <p:cNvSpPr/>
          <p:nvPr/>
        </p:nvSpPr>
        <p:spPr>
          <a:xfrm>
            <a:off x="6491874" y="2803652"/>
            <a:ext cx="5148438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7" name="S08-cardtext102"/>
          <p:cNvSpPr txBox="1"/>
          <p:nvPr/>
        </p:nvSpPr>
        <p:spPr>
          <a:xfrm>
            <a:off x="6766194" y="2940812"/>
            <a:ext cx="4599798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 → 식도 → 위 →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작은창자 → 큰창자 → 항문</a:t>
            </a:r>
            <a:endParaRPr lang="ko-KR" sz="2800" dirty="0"/>
          </a:p>
        </p:txBody>
      </p:sp>
      <p:sp>
        <p:nvSpPr>
          <p:cNvPr id="28" name="S08-card103"/>
          <p:cNvSpPr/>
          <p:nvPr/>
        </p:nvSpPr>
        <p:spPr>
          <a:xfrm>
            <a:off x="6491874" y="4229100"/>
            <a:ext cx="5148438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9" name="S08-cardtext104"/>
          <p:cNvSpPr txBox="1"/>
          <p:nvPr/>
        </p:nvSpPr>
        <p:spPr>
          <a:xfrm>
            <a:off x="6766194" y="4366260"/>
            <a:ext cx="4599798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작은창자에서 영양소,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큰창자에서 물을 흡수해요.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 예상해 봐요</a:t>
            </a:r>
            <a:endParaRPr lang="ko-KR" sz="4000" dirty="0"/>
          </a:p>
        </p:txBody>
      </p:sp>
      <p:sp>
        <p:nvSpPr>
          <p:cNvPr id="3" name="S09-text10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줄자를 가슴에 두르고 재요.</a:t>
            </a:r>
            <a:endParaRPr lang="ko-KR" sz="2800" dirty="0"/>
          </a:p>
        </p:txBody>
      </p:sp>
      <p:sp>
        <p:nvSpPr>
          <p:cNvPr id="4" name="S09-card10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10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2에 써요.</a:t>
            </a:r>
            <a:endParaRPr lang="ko-KR" sz="2800" dirty="0"/>
          </a:p>
        </p:txBody>
      </p:sp>
      <p:graphicFrame>
        <p:nvGraphicFramePr>
          <p:cNvPr id="10" name="S09-table10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797302"/>
          <a:ext cx="10515600" cy="914400"/>
        </p:xfrm>
        <a:graphic>
          <a:graphicData uri="http://schemas.openxmlformats.org/drawingml/2006/table">
            <a:tbl>
              <a:tblPr/>
              <a:tblGrid>
                <a:gridCol w="6099048"/>
                <a:gridCol w="4416552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질문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숨을 들이쉬면 가슴둘레는?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숨을 내쉬면 가슴둘레는?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가슴둘레를 재 봐요</a:t>
            </a:r>
            <a:endParaRPr lang="ko-KR" sz="4000" dirty="0"/>
          </a:p>
        </p:txBody>
      </p:sp>
      <p:sp>
        <p:nvSpPr>
          <p:cNvPr id="3" name="S10-card10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1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줄이나 끈을 목에 감지 않아요. 어지러우면 쉬어요.</a:t>
            </a:r>
            <a:endParaRPr lang="ko-KR" sz="2800" dirty="0"/>
          </a:p>
        </p:txBody>
      </p:sp>
      <p:sp>
        <p:nvSpPr>
          <p:cNvPr id="5" name="S10-figure111" descr="몸 윤곽의 가슴(겨드랑이 바로 아래) 높이에 줄자를 수평으로 두른 그림"/>
          <p:cNvSpPr/>
          <p:nvPr/>
        </p:nvSpPr>
        <p:spPr>
          <a:xfrm>
            <a:off x="8785647" y="1427714"/>
            <a:ext cx="378287" cy="378287"/>
          </a:xfrm>
          <a:prstGeom prst="ellipse">
            <a:avLst/>
          </a:prstGeom>
          <a:solidFill>
            <a:srgbClr val="F3F4F6"/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6" name="S10-mark112"/>
          <p:cNvSpPr/>
          <p:nvPr/>
        </p:nvSpPr>
        <p:spPr>
          <a:xfrm>
            <a:off x="8893729" y="1787987"/>
            <a:ext cx="162123" cy="198150"/>
          </a:xfrm>
          <a:custGeom>
            <a:avLst/>
            <a:gdLst/>
            <a:ahLst/>
            <a:cxnLst/>
            <a:rect l="l" t="t" r="r" b="b"/>
            <a:pathLst>
              <a:path w="162123" h="198150">
                <a:moveTo>
                  <a:pt x="0" y="198150"/>
                </a:moveTo>
                <a:lnTo>
                  <a:pt x="162123" y="198150"/>
                </a:lnTo>
                <a:lnTo>
                  <a:pt x="162123" y="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7" name="S10-mark113"/>
          <p:cNvSpPr/>
          <p:nvPr/>
        </p:nvSpPr>
        <p:spPr>
          <a:xfrm>
            <a:off x="8542462" y="1968124"/>
            <a:ext cx="864657" cy="1188903"/>
          </a:xfrm>
          <a:custGeom>
            <a:avLst/>
            <a:gdLst/>
            <a:ahLst/>
            <a:cxnLst/>
            <a:rect l="l" t="t" r="r" b="b"/>
            <a:pathLst>
              <a:path w="864657" h="1188903">
                <a:moveTo>
                  <a:pt x="54041" y="1188903"/>
                </a:moveTo>
                <a:lnTo>
                  <a:pt x="810616" y="1188903"/>
                </a:lnTo>
                <a:lnTo>
                  <a:pt x="864657" y="126096"/>
                </a:lnTo>
                <a:lnTo>
                  <a:pt x="720547" y="0"/>
                </a:lnTo>
                <a:lnTo>
                  <a:pt x="144109" y="0"/>
                </a:lnTo>
                <a:lnTo>
                  <a:pt x="0" y="126096"/>
                </a:lnTo>
                <a:close/>
              </a:path>
            </a:pathLst>
          </a:custGeom>
          <a:solidFill>
            <a:srgbClr val="F3F4F6"/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8" name="S10-mark114"/>
          <p:cNvSpPr/>
          <p:nvPr/>
        </p:nvSpPr>
        <p:spPr>
          <a:xfrm>
            <a:off x="8542462" y="2193295"/>
            <a:ext cx="864657" cy="63048"/>
          </a:xfrm>
          <a:custGeom>
            <a:avLst/>
            <a:gdLst/>
            <a:ahLst/>
            <a:cxnLst/>
            <a:rect l="l" t="t" r="r" b="b"/>
            <a:pathLst>
              <a:path w="864657" h="63048">
                <a:moveTo>
                  <a:pt x="3603" y="63048"/>
                </a:moveTo>
                <a:lnTo>
                  <a:pt x="861054" y="63048"/>
                </a:lnTo>
                <a:lnTo>
                  <a:pt x="864657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0-mark115"/>
          <p:cNvSpPr/>
          <p:nvPr/>
        </p:nvSpPr>
        <p:spPr>
          <a:xfrm flipH="1">
            <a:off x="9416125" y="2225720"/>
            <a:ext cx="72055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" name="S10-label117"/>
          <p:cNvSpPr txBox="1"/>
          <p:nvPr/>
        </p:nvSpPr>
        <p:spPr>
          <a:xfrm>
            <a:off x="9515201" y="205109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줄자</a:t>
            </a:r>
            <a:endParaRPr lang="ko-KR" sz="2200" dirty="0"/>
          </a:p>
        </p:txBody>
      </p:sp>
      <p:sp>
        <p:nvSpPr>
          <p:cNvPr id="11" name="S10-card118"/>
          <p:cNvSpPr/>
          <p:nvPr/>
        </p:nvSpPr>
        <p:spPr>
          <a:xfrm>
            <a:off x="6813652" y="3523488"/>
            <a:ext cx="4826660" cy="1597152"/>
          </a:xfrm>
          <a:prstGeom prst="roundRect">
            <a:avLst>
              <a:gd name="adj" fmla="val 687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10-cardtext119"/>
          <p:cNvSpPr txBox="1"/>
          <p:nvPr/>
        </p:nvSpPr>
        <p:spPr>
          <a:xfrm>
            <a:off x="7087972" y="3660648"/>
            <a:ext cx="427802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같은 높이에서 재요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cm를 붙여 써요</a:t>
            </a:r>
            <a:endParaRPr lang="ko-KR" sz="2800" dirty="0"/>
          </a:p>
        </p:txBody>
      </p:sp>
      <p:sp>
        <p:nvSpPr>
          <p:cNvPr id="13" name="S10-stepno120"/>
          <p:cNvSpPr txBox="1"/>
          <p:nvPr/>
        </p:nvSpPr>
        <p:spPr>
          <a:xfrm>
            <a:off x="548640" y="1605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4" name="S10-text121"/>
          <p:cNvSpPr txBox="1"/>
          <p:nvPr/>
        </p:nvSpPr>
        <p:spPr>
          <a:xfrm>
            <a:off x="1325880" y="1560068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겨드랑이 바로 아래에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줄자를 둘러요.</a:t>
            </a:r>
            <a:endParaRPr lang="ko-KR" sz="2800" dirty="0"/>
          </a:p>
        </p:txBody>
      </p:sp>
      <p:sp>
        <p:nvSpPr>
          <p:cNvPr id="15" name="S10-stepno122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6" name="S10-text123"/>
          <p:cNvSpPr txBox="1"/>
          <p:nvPr/>
        </p:nvSpPr>
        <p:spPr>
          <a:xfrm>
            <a:off x="1325880" y="25923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숨을 크게 내쉬고 재요.</a:t>
            </a:r>
            <a:endParaRPr lang="ko-KR" sz="2800" dirty="0"/>
          </a:p>
        </p:txBody>
      </p:sp>
      <p:sp>
        <p:nvSpPr>
          <p:cNvPr id="17" name="S10-stepno124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8" name="S10-text125"/>
          <p:cNvSpPr txBox="1"/>
          <p:nvPr/>
        </p:nvSpPr>
        <p:spPr>
          <a:xfrm>
            <a:off x="1325880" y="33055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숨을 크게 들이쉬고 재요.</a:t>
            </a:r>
            <a:endParaRPr lang="ko-KR" sz="2800" dirty="0"/>
          </a:p>
        </p:txBody>
      </p:sp>
      <p:sp>
        <p:nvSpPr>
          <p:cNvPr id="19" name="S10-stepno126"/>
          <p:cNvSpPr txBox="1"/>
          <p:nvPr/>
        </p:nvSpPr>
        <p:spPr>
          <a:xfrm>
            <a:off x="548640" y="40645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20" name="S10-text127"/>
          <p:cNvSpPr txBox="1"/>
          <p:nvPr/>
        </p:nvSpPr>
        <p:spPr>
          <a:xfrm>
            <a:off x="1325880" y="4018788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값과 차이를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2에 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11-text12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2를 보며 빈칸을 말로 채워요.</a:t>
            </a:r>
            <a:endParaRPr lang="ko-KR" sz="2800" dirty="0"/>
          </a:p>
        </p:txBody>
      </p:sp>
      <p:sp>
        <p:nvSpPr>
          <p:cNvPr id="4" name="S11-card1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1-cardtext1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숨을 들이쉬면 가슴둘레는 어떻게 되었나요?</a:t>
            </a:r>
            <a:endParaRPr lang="ko-KR" sz="2800" dirty="0"/>
          </a:p>
        </p:txBody>
      </p:sp>
      <p:graphicFrame>
        <p:nvGraphicFramePr>
          <p:cNvPr id="12" name="S11-table1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2541016"/>
          <a:ext cx="914400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411480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가슴둘레(cm)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숨을 내쉬었을 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숨을 들이쉬었을 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쉴 때 공기가 지나는 길</a:t>
            </a:r>
            <a:endParaRPr lang="ko-KR" sz="4000" dirty="0"/>
          </a:p>
        </p:txBody>
      </p:sp>
      <p:sp>
        <p:nvSpPr>
          <p:cNvPr id="3" name="S12-text1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숨을 들이쉬고 내쉬는 것을 호흡이라고 해요.</a:t>
            </a:r>
            <a:endParaRPr lang="ko-KR" sz="2800" dirty="0"/>
          </a:p>
        </p:txBody>
      </p:sp>
      <p:sp>
        <p:nvSpPr>
          <p:cNvPr id="4" name="S12-figure133" descr="몸 윤곽 안의 호흡 기관 모식도: 코 → 기관 → 두 갈래 기관지 → 양쪽 폐"/>
          <p:cNvSpPr/>
          <p:nvPr/>
        </p:nvSpPr>
        <p:spPr>
          <a:xfrm>
            <a:off x="2711394" y="2135886"/>
            <a:ext cx="848106" cy="848106"/>
          </a:xfrm>
          <a:prstGeom prst="ellipse">
            <a:avLst/>
          </a:prstGeom>
          <a:solidFill>
            <a:srgbClr val="F3F4F6"/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5" name="S12-mark134"/>
          <p:cNvSpPr/>
          <p:nvPr/>
        </p:nvSpPr>
        <p:spPr>
          <a:xfrm>
            <a:off x="2953710" y="2943606"/>
            <a:ext cx="363474" cy="444246"/>
          </a:xfrm>
          <a:custGeom>
            <a:avLst/>
            <a:gdLst/>
            <a:ahLst/>
            <a:cxnLst/>
            <a:rect l="l" t="t" r="r" b="b"/>
            <a:pathLst>
              <a:path w="363474" h="444246">
                <a:moveTo>
                  <a:pt x="0" y="444246"/>
                </a:moveTo>
                <a:lnTo>
                  <a:pt x="363474" y="444246"/>
                </a:lnTo>
                <a:lnTo>
                  <a:pt x="363474" y="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6" name="S12-mark135"/>
          <p:cNvSpPr/>
          <p:nvPr/>
        </p:nvSpPr>
        <p:spPr>
          <a:xfrm>
            <a:off x="2166183" y="3347466"/>
            <a:ext cx="1938528" cy="2665476"/>
          </a:xfrm>
          <a:custGeom>
            <a:avLst/>
            <a:gdLst/>
            <a:ahLst/>
            <a:cxnLst/>
            <a:rect l="l" t="t" r="r" b="b"/>
            <a:pathLst>
              <a:path w="1938528" h="2665476">
                <a:moveTo>
                  <a:pt x="121158" y="2665476"/>
                </a:moveTo>
                <a:lnTo>
                  <a:pt x="1817370" y="2665476"/>
                </a:lnTo>
                <a:lnTo>
                  <a:pt x="1938528" y="282702"/>
                </a:lnTo>
                <a:lnTo>
                  <a:pt x="1615440" y="0"/>
                </a:lnTo>
                <a:lnTo>
                  <a:pt x="323088" y="0"/>
                </a:lnTo>
                <a:lnTo>
                  <a:pt x="0" y="282702"/>
                </a:lnTo>
                <a:close/>
              </a:path>
            </a:pathLst>
          </a:custGeom>
          <a:solidFill>
            <a:srgbClr val="F3F4F6"/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7" name="S12-mark136"/>
          <p:cNvSpPr/>
          <p:nvPr/>
        </p:nvSpPr>
        <p:spPr>
          <a:xfrm>
            <a:off x="3086984" y="2491283"/>
            <a:ext cx="96926" cy="9692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2-mark137"/>
          <p:cNvSpPr/>
          <p:nvPr/>
        </p:nvSpPr>
        <p:spPr>
          <a:xfrm>
            <a:off x="2327727" y="3650361"/>
            <a:ext cx="686562" cy="1171194"/>
          </a:xfrm>
          <a:custGeom>
            <a:avLst/>
            <a:gdLst/>
            <a:ahLst/>
            <a:cxnLst/>
            <a:rect l="l" t="t" r="r" b="b"/>
            <a:pathLst>
              <a:path w="686562" h="1171194">
                <a:moveTo>
                  <a:pt x="686562" y="585597"/>
                </a:moveTo>
                <a:lnTo>
                  <a:pt x="685256" y="534559"/>
                </a:lnTo>
                <a:lnTo>
                  <a:pt x="681347" y="483909"/>
                </a:lnTo>
                <a:lnTo>
                  <a:pt x="674865" y="434033"/>
                </a:lnTo>
                <a:lnTo>
                  <a:pt x="665860" y="385311"/>
                </a:lnTo>
                <a:lnTo>
                  <a:pt x="654399" y="338113"/>
                </a:lnTo>
                <a:lnTo>
                  <a:pt x="640571" y="292799"/>
                </a:lnTo>
                <a:lnTo>
                  <a:pt x="624480" y="249712"/>
                </a:lnTo>
                <a:lnTo>
                  <a:pt x="606250" y="209183"/>
                </a:lnTo>
                <a:lnTo>
                  <a:pt x="586017" y="171517"/>
                </a:lnTo>
                <a:lnTo>
                  <a:pt x="563938" y="137004"/>
                </a:lnTo>
                <a:lnTo>
                  <a:pt x="540179" y="105904"/>
                </a:lnTo>
                <a:lnTo>
                  <a:pt x="514922" y="78455"/>
                </a:lnTo>
                <a:lnTo>
                  <a:pt x="488358" y="54866"/>
                </a:lnTo>
                <a:lnTo>
                  <a:pt x="460690" y="35316"/>
                </a:lnTo>
                <a:lnTo>
                  <a:pt x="432129" y="19954"/>
                </a:lnTo>
                <a:lnTo>
                  <a:pt x="402891" y="8897"/>
                </a:lnTo>
                <a:lnTo>
                  <a:pt x="373200" y="2228"/>
                </a:lnTo>
                <a:lnTo>
                  <a:pt x="343281" y="0"/>
                </a:lnTo>
                <a:lnTo>
                  <a:pt x="313362" y="2228"/>
                </a:lnTo>
                <a:lnTo>
                  <a:pt x="283671" y="8897"/>
                </a:lnTo>
                <a:lnTo>
                  <a:pt x="254433" y="19954"/>
                </a:lnTo>
                <a:lnTo>
                  <a:pt x="225872" y="35316"/>
                </a:lnTo>
                <a:lnTo>
                  <a:pt x="198204" y="54866"/>
                </a:lnTo>
                <a:lnTo>
                  <a:pt x="171641" y="78455"/>
                </a:lnTo>
                <a:lnTo>
                  <a:pt x="146383" y="105904"/>
                </a:lnTo>
                <a:lnTo>
                  <a:pt x="122624" y="137004"/>
                </a:lnTo>
                <a:lnTo>
                  <a:pt x="100545" y="171517"/>
                </a:lnTo>
                <a:lnTo>
                  <a:pt x="80312" y="209183"/>
                </a:lnTo>
                <a:lnTo>
                  <a:pt x="62082" y="249712"/>
                </a:lnTo>
                <a:lnTo>
                  <a:pt x="45991" y="292799"/>
                </a:lnTo>
                <a:lnTo>
                  <a:pt x="32163" y="338113"/>
                </a:lnTo>
                <a:lnTo>
                  <a:pt x="20702" y="385311"/>
                </a:lnTo>
                <a:lnTo>
                  <a:pt x="11697" y="434033"/>
                </a:lnTo>
                <a:lnTo>
                  <a:pt x="5215" y="483909"/>
                </a:lnTo>
                <a:lnTo>
                  <a:pt x="1306" y="534559"/>
                </a:lnTo>
                <a:lnTo>
                  <a:pt x="0" y="585597"/>
                </a:lnTo>
                <a:lnTo>
                  <a:pt x="1306" y="636635"/>
                </a:lnTo>
                <a:lnTo>
                  <a:pt x="5215" y="687285"/>
                </a:lnTo>
                <a:lnTo>
                  <a:pt x="11697" y="737161"/>
                </a:lnTo>
                <a:lnTo>
                  <a:pt x="20702" y="785883"/>
                </a:lnTo>
                <a:lnTo>
                  <a:pt x="32163" y="833081"/>
                </a:lnTo>
                <a:lnTo>
                  <a:pt x="45991" y="878395"/>
                </a:lnTo>
                <a:lnTo>
                  <a:pt x="62082" y="921482"/>
                </a:lnTo>
                <a:lnTo>
                  <a:pt x="80312" y="962011"/>
                </a:lnTo>
                <a:lnTo>
                  <a:pt x="100545" y="999677"/>
                </a:lnTo>
                <a:lnTo>
                  <a:pt x="122624" y="1034190"/>
                </a:lnTo>
                <a:lnTo>
                  <a:pt x="146383" y="1065290"/>
                </a:lnTo>
                <a:lnTo>
                  <a:pt x="171640" y="1092739"/>
                </a:lnTo>
                <a:lnTo>
                  <a:pt x="198204" y="1116328"/>
                </a:lnTo>
                <a:lnTo>
                  <a:pt x="225872" y="1135878"/>
                </a:lnTo>
                <a:lnTo>
                  <a:pt x="254433" y="1151240"/>
                </a:lnTo>
                <a:lnTo>
                  <a:pt x="283671" y="1162297"/>
                </a:lnTo>
                <a:lnTo>
                  <a:pt x="313362" y="1168966"/>
                </a:lnTo>
                <a:lnTo>
                  <a:pt x="343281" y="1171194"/>
                </a:lnTo>
                <a:lnTo>
                  <a:pt x="373200" y="1168966"/>
                </a:lnTo>
                <a:lnTo>
                  <a:pt x="402891" y="1162297"/>
                </a:lnTo>
                <a:lnTo>
                  <a:pt x="432129" y="1151240"/>
                </a:lnTo>
                <a:lnTo>
                  <a:pt x="460690" y="1135878"/>
                </a:lnTo>
                <a:lnTo>
                  <a:pt x="488358" y="1116328"/>
                </a:lnTo>
                <a:lnTo>
                  <a:pt x="514922" y="1092739"/>
                </a:lnTo>
                <a:lnTo>
                  <a:pt x="540179" y="1065290"/>
                </a:lnTo>
                <a:lnTo>
                  <a:pt x="563938" y="1034190"/>
                </a:lnTo>
                <a:lnTo>
                  <a:pt x="586017" y="999677"/>
                </a:lnTo>
                <a:lnTo>
                  <a:pt x="606250" y="962011"/>
                </a:lnTo>
                <a:lnTo>
                  <a:pt x="624480" y="921482"/>
                </a:lnTo>
                <a:lnTo>
                  <a:pt x="640571" y="878395"/>
                </a:lnTo>
                <a:lnTo>
                  <a:pt x="654399" y="833081"/>
                </a:lnTo>
                <a:lnTo>
                  <a:pt x="665860" y="785883"/>
                </a:lnTo>
                <a:lnTo>
                  <a:pt x="674865" y="737161"/>
                </a:lnTo>
                <a:lnTo>
                  <a:pt x="681347" y="687285"/>
                </a:lnTo>
                <a:lnTo>
                  <a:pt x="685256" y="636635"/>
                </a:lnTo>
                <a:close/>
              </a:path>
            </a:pathLst>
          </a:custGeom>
          <a:solidFill>
            <a:srgbClr val="A9CCF2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9" name="S12-mark138"/>
          <p:cNvSpPr/>
          <p:nvPr/>
        </p:nvSpPr>
        <p:spPr>
          <a:xfrm>
            <a:off x="3256605" y="3650361"/>
            <a:ext cx="686562" cy="1171194"/>
          </a:xfrm>
          <a:custGeom>
            <a:avLst/>
            <a:gdLst/>
            <a:ahLst/>
            <a:cxnLst/>
            <a:rect l="l" t="t" r="r" b="b"/>
            <a:pathLst>
              <a:path w="686562" h="1171194">
                <a:moveTo>
                  <a:pt x="686562" y="585597"/>
                </a:moveTo>
                <a:lnTo>
                  <a:pt x="685256" y="534559"/>
                </a:lnTo>
                <a:lnTo>
                  <a:pt x="681347" y="483909"/>
                </a:lnTo>
                <a:lnTo>
                  <a:pt x="674865" y="434033"/>
                </a:lnTo>
                <a:lnTo>
                  <a:pt x="665860" y="385311"/>
                </a:lnTo>
                <a:lnTo>
                  <a:pt x="654399" y="338113"/>
                </a:lnTo>
                <a:lnTo>
                  <a:pt x="640571" y="292799"/>
                </a:lnTo>
                <a:lnTo>
                  <a:pt x="624480" y="249712"/>
                </a:lnTo>
                <a:lnTo>
                  <a:pt x="606250" y="209183"/>
                </a:lnTo>
                <a:lnTo>
                  <a:pt x="586017" y="171517"/>
                </a:lnTo>
                <a:lnTo>
                  <a:pt x="563938" y="137004"/>
                </a:lnTo>
                <a:lnTo>
                  <a:pt x="540179" y="105904"/>
                </a:lnTo>
                <a:lnTo>
                  <a:pt x="514922" y="78455"/>
                </a:lnTo>
                <a:lnTo>
                  <a:pt x="488358" y="54866"/>
                </a:lnTo>
                <a:lnTo>
                  <a:pt x="460690" y="35316"/>
                </a:lnTo>
                <a:lnTo>
                  <a:pt x="432129" y="19954"/>
                </a:lnTo>
                <a:lnTo>
                  <a:pt x="402891" y="8897"/>
                </a:lnTo>
                <a:lnTo>
                  <a:pt x="373200" y="2228"/>
                </a:lnTo>
                <a:lnTo>
                  <a:pt x="343281" y="0"/>
                </a:lnTo>
                <a:lnTo>
                  <a:pt x="313362" y="2228"/>
                </a:lnTo>
                <a:lnTo>
                  <a:pt x="283671" y="8897"/>
                </a:lnTo>
                <a:lnTo>
                  <a:pt x="254433" y="19954"/>
                </a:lnTo>
                <a:lnTo>
                  <a:pt x="225872" y="35316"/>
                </a:lnTo>
                <a:lnTo>
                  <a:pt x="198204" y="54866"/>
                </a:lnTo>
                <a:lnTo>
                  <a:pt x="171641" y="78455"/>
                </a:lnTo>
                <a:lnTo>
                  <a:pt x="146383" y="105904"/>
                </a:lnTo>
                <a:lnTo>
                  <a:pt x="122624" y="137004"/>
                </a:lnTo>
                <a:lnTo>
                  <a:pt x="100545" y="171517"/>
                </a:lnTo>
                <a:lnTo>
                  <a:pt x="80312" y="209183"/>
                </a:lnTo>
                <a:lnTo>
                  <a:pt x="62082" y="249712"/>
                </a:lnTo>
                <a:lnTo>
                  <a:pt x="45991" y="292799"/>
                </a:lnTo>
                <a:lnTo>
                  <a:pt x="32163" y="338113"/>
                </a:lnTo>
                <a:lnTo>
                  <a:pt x="20702" y="385311"/>
                </a:lnTo>
                <a:lnTo>
                  <a:pt x="11697" y="434033"/>
                </a:lnTo>
                <a:lnTo>
                  <a:pt x="5215" y="483909"/>
                </a:lnTo>
                <a:lnTo>
                  <a:pt x="1306" y="534559"/>
                </a:lnTo>
                <a:lnTo>
                  <a:pt x="0" y="585597"/>
                </a:lnTo>
                <a:lnTo>
                  <a:pt x="1306" y="636635"/>
                </a:lnTo>
                <a:lnTo>
                  <a:pt x="5215" y="687285"/>
                </a:lnTo>
                <a:lnTo>
                  <a:pt x="11697" y="737161"/>
                </a:lnTo>
                <a:lnTo>
                  <a:pt x="20702" y="785883"/>
                </a:lnTo>
                <a:lnTo>
                  <a:pt x="32163" y="833081"/>
                </a:lnTo>
                <a:lnTo>
                  <a:pt x="45991" y="878395"/>
                </a:lnTo>
                <a:lnTo>
                  <a:pt x="62082" y="921482"/>
                </a:lnTo>
                <a:lnTo>
                  <a:pt x="80312" y="962011"/>
                </a:lnTo>
                <a:lnTo>
                  <a:pt x="100545" y="999677"/>
                </a:lnTo>
                <a:lnTo>
                  <a:pt x="122624" y="1034190"/>
                </a:lnTo>
                <a:lnTo>
                  <a:pt x="146383" y="1065290"/>
                </a:lnTo>
                <a:lnTo>
                  <a:pt x="171640" y="1092739"/>
                </a:lnTo>
                <a:lnTo>
                  <a:pt x="198204" y="1116328"/>
                </a:lnTo>
                <a:lnTo>
                  <a:pt x="225872" y="1135878"/>
                </a:lnTo>
                <a:lnTo>
                  <a:pt x="254433" y="1151240"/>
                </a:lnTo>
                <a:lnTo>
                  <a:pt x="283671" y="1162297"/>
                </a:lnTo>
                <a:lnTo>
                  <a:pt x="313362" y="1168966"/>
                </a:lnTo>
                <a:lnTo>
                  <a:pt x="343281" y="1171194"/>
                </a:lnTo>
                <a:lnTo>
                  <a:pt x="373200" y="1168966"/>
                </a:lnTo>
                <a:lnTo>
                  <a:pt x="402891" y="1162297"/>
                </a:lnTo>
                <a:lnTo>
                  <a:pt x="432129" y="1151240"/>
                </a:lnTo>
                <a:lnTo>
                  <a:pt x="460690" y="1135878"/>
                </a:lnTo>
                <a:lnTo>
                  <a:pt x="488358" y="1116328"/>
                </a:lnTo>
                <a:lnTo>
                  <a:pt x="514922" y="1092739"/>
                </a:lnTo>
                <a:lnTo>
                  <a:pt x="540179" y="1065290"/>
                </a:lnTo>
                <a:lnTo>
                  <a:pt x="563938" y="1034190"/>
                </a:lnTo>
                <a:lnTo>
                  <a:pt x="586017" y="999677"/>
                </a:lnTo>
                <a:lnTo>
                  <a:pt x="606250" y="962011"/>
                </a:lnTo>
                <a:lnTo>
                  <a:pt x="624480" y="921482"/>
                </a:lnTo>
                <a:lnTo>
                  <a:pt x="640571" y="878395"/>
                </a:lnTo>
                <a:lnTo>
                  <a:pt x="654399" y="833081"/>
                </a:lnTo>
                <a:lnTo>
                  <a:pt x="665860" y="785883"/>
                </a:lnTo>
                <a:lnTo>
                  <a:pt x="674865" y="737161"/>
                </a:lnTo>
                <a:lnTo>
                  <a:pt x="681347" y="687285"/>
                </a:lnTo>
                <a:lnTo>
                  <a:pt x="685256" y="636635"/>
                </a:lnTo>
                <a:close/>
              </a:path>
            </a:pathLst>
          </a:custGeom>
          <a:solidFill>
            <a:srgbClr val="A9CCF2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0" name="S12-mark139"/>
          <p:cNvSpPr/>
          <p:nvPr/>
        </p:nvSpPr>
        <p:spPr>
          <a:xfrm>
            <a:off x="3135447" y="2539746"/>
            <a:ext cx="0" cy="1211580"/>
          </a:xfrm>
          <a:prstGeom prst="line">
            <a:avLst/>
          </a:prstGeom>
          <a:noFill/>
          <a:ln w="57150">
            <a:solidFill>
              <a:srgbClr val="3D5A80"/>
            </a:solidFill>
            <a:prstDash val="solid"/>
          </a:ln>
        </p:spPr>
      </p:sp>
      <p:sp>
        <p:nvSpPr>
          <p:cNvPr id="11" name="S12-mark140"/>
          <p:cNvSpPr/>
          <p:nvPr/>
        </p:nvSpPr>
        <p:spPr>
          <a:xfrm flipH="1">
            <a:off x="2771973" y="3751326"/>
            <a:ext cx="363474" cy="282702"/>
          </a:xfrm>
          <a:prstGeom prst="line">
            <a:avLst/>
          </a:prstGeom>
          <a:noFill/>
          <a:ln w="44450">
            <a:solidFill>
              <a:srgbClr val="3D5A80"/>
            </a:solidFill>
            <a:prstDash val="solid"/>
          </a:ln>
        </p:spPr>
      </p:sp>
      <p:sp>
        <p:nvSpPr>
          <p:cNvPr id="12" name="S12-mark141"/>
          <p:cNvSpPr/>
          <p:nvPr/>
        </p:nvSpPr>
        <p:spPr>
          <a:xfrm>
            <a:off x="3135447" y="3751326"/>
            <a:ext cx="363474" cy="282702"/>
          </a:xfrm>
          <a:prstGeom prst="line">
            <a:avLst/>
          </a:prstGeom>
          <a:noFill/>
          <a:ln w="44450">
            <a:solidFill>
              <a:srgbClr val="3D5A80"/>
            </a:solidFill>
            <a:prstDash val="solid"/>
          </a:ln>
        </p:spPr>
      </p:sp>
      <p:sp>
        <p:nvSpPr>
          <p:cNvPr id="13" name="S12-mark142"/>
          <p:cNvSpPr/>
          <p:nvPr/>
        </p:nvSpPr>
        <p:spPr>
          <a:xfrm flipH="1">
            <a:off x="3216219" y="2539746"/>
            <a:ext cx="1070229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4" name="S12-mark143"/>
          <p:cNvSpPr/>
          <p:nvPr/>
        </p:nvSpPr>
        <p:spPr>
          <a:xfrm flipH="1">
            <a:off x="3155640" y="3347466"/>
            <a:ext cx="1130808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5" name="S12-mark144"/>
          <p:cNvSpPr/>
          <p:nvPr/>
        </p:nvSpPr>
        <p:spPr>
          <a:xfrm flipH="1">
            <a:off x="3337377" y="3892677"/>
            <a:ext cx="949071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6" name="S12-mark145"/>
          <p:cNvSpPr/>
          <p:nvPr/>
        </p:nvSpPr>
        <p:spPr>
          <a:xfrm>
            <a:off x="1984446" y="4680204"/>
            <a:ext cx="625983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7" name="S12-label147"/>
          <p:cNvSpPr txBox="1"/>
          <p:nvPr/>
        </p:nvSpPr>
        <p:spPr>
          <a:xfrm>
            <a:off x="4347027" y="2365121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</a:t>
            </a:r>
            <a:endParaRPr lang="ko-KR" sz="2200" dirty="0"/>
          </a:p>
        </p:txBody>
      </p:sp>
      <p:sp>
        <p:nvSpPr>
          <p:cNvPr id="18" name="S12-label149"/>
          <p:cNvSpPr txBox="1"/>
          <p:nvPr/>
        </p:nvSpPr>
        <p:spPr>
          <a:xfrm>
            <a:off x="4347027" y="3172841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기관</a:t>
            </a:r>
            <a:endParaRPr lang="ko-KR" sz="2200" dirty="0"/>
          </a:p>
        </p:txBody>
      </p:sp>
      <p:sp>
        <p:nvSpPr>
          <p:cNvPr id="19" name="S12-label151"/>
          <p:cNvSpPr txBox="1"/>
          <p:nvPr/>
        </p:nvSpPr>
        <p:spPr>
          <a:xfrm>
            <a:off x="4347027" y="3718052"/>
            <a:ext cx="9311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기관지</a:t>
            </a:r>
            <a:endParaRPr lang="ko-KR" sz="2200" dirty="0"/>
          </a:p>
        </p:txBody>
      </p:sp>
      <p:sp>
        <p:nvSpPr>
          <p:cNvPr id="20" name="S12-label153"/>
          <p:cNvSpPr txBox="1"/>
          <p:nvPr/>
        </p:nvSpPr>
        <p:spPr>
          <a:xfrm>
            <a:off x="1578630" y="4505579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폐</a:t>
            </a:r>
            <a:endParaRPr lang="ko-KR" sz="2200" dirty="0"/>
          </a:p>
        </p:txBody>
      </p:sp>
      <p:sp>
        <p:nvSpPr>
          <p:cNvPr id="21" name="S12-card154"/>
          <p:cNvSpPr/>
          <p:nvPr/>
        </p:nvSpPr>
        <p:spPr>
          <a:xfrm>
            <a:off x="6491874" y="2803652"/>
            <a:ext cx="5148438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2" name="S12-cardtext155"/>
          <p:cNvSpPr txBox="1"/>
          <p:nvPr/>
        </p:nvSpPr>
        <p:spPr>
          <a:xfrm>
            <a:off x="6766194" y="2940812"/>
            <a:ext cx="4599798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 → 기관 →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기관지 → 폐</a:t>
            </a:r>
            <a:endParaRPr lang="ko-KR" sz="2800" dirty="0"/>
          </a:p>
        </p:txBody>
      </p:sp>
      <p:sp>
        <p:nvSpPr>
          <p:cNvPr id="23" name="S12-card156"/>
          <p:cNvSpPr/>
          <p:nvPr/>
        </p:nvSpPr>
        <p:spPr>
          <a:xfrm>
            <a:off x="6491874" y="4229100"/>
            <a:ext cx="5148438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4" name="S12-cardtext157"/>
          <p:cNvSpPr txBox="1"/>
          <p:nvPr/>
        </p:nvSpPr>
        <p:spPr>
          <a:xfrm>
            <a:off x="6766194" y="4366260"/>
            <a:ext cx="4599798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폐에서 산소를 받아들이고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이산화 탄소를 내보내요.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13-card15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15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숨을 크게 들이쉬었더니 가슴과 배가 나왔어요.</a:t>
            </a:r>
            <a:endParaRPr lang="ko-KR" sz="2800" dirty="0"/>
          </a:p>
        </p:txBody>
      </p:sp>
      <p:sp>
        <p:nvSpPr>
          <p:cNvPr id="5" name="S13-card1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3-cardtext1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2800" dirty="0"/>
          </a:p>
        </p:txBody>
      </p:sp>
      <p:sp>
        <p:nvSpPr>
          <p:cNvPr id="7" name="S13-chip16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13-text163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들이쉰 공기가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배로 들어갔어요.</a:t>
            </a:r>
            <a:endParaRPr lang="ko-KR" sz="2800" dirty="0"/>
          </a:p>
        </p:txBody>
      </p:sp>
      <p:sp>
        <p:nvSpPr>
          <p:cNvPr id="9" name="S13-chip16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13-text165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들이쉰 공기는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가슴 속 폐로 갔어요.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혈액이 온몸을 돌아요</a:t>
            </a:r>
            <a:endParaRPr lang="ko-KR" sz="4000" dirty="0"/>
          </a:p>
        </p:txBody>
      </p:sp>
      <p:sp>
        <p:nvSpPr>
          <p:cNvPr id="3" name="S14-text16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혈액이 온몸을 도는 것을 순환이라고 해요.</a:t>
            </a:r>
            <a:endParaRPr lang="ko-KR" sz="2800" dirty="0"/>
          </a:p>
        </p:txBody>
      </p:sp>
      <p:sp>
        <p:nvSpPr>
          <p:cNvPr id="4" name="S14-figure167" descr="몸 윤곽 안의 순환 기관 모식도: 가운데 심장에서 나간 혈액이 혈관을 따라 머리 쪽과 몸 아래쪽을 한 바퀴 돌아(빨간 화살표: 나가는 쪽, 파란 화살표: 돌아오는 쪽) 다시 심장으로 들어옴"/>
          <p:cNvSpPr/>
          <p:nvPr/>
        </p:nvSpPr>
        <p:spPr>
          <a:xfrm>
            <a:off x="2711394" y="2135886"/>
            <a:ext cx="848106" cy="848106"/>
          </a:xfrm>
          <a:prstGeom prst="ellipse">
            <a:avLst/>
          </a:prstGeom>
          <a:solidFill>
            <a:srgbClr val="F3F4F6"/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5" name="S14-mark168"/>
          <p:cNvSpPr/>
          <p:nvPr/>
        </p:nvSpPr>
        <p:spPr>
          <a:xfrm>
            <a:off x="2953710" y="2943606"/>
            <a:ext cx="363474" cy="444246"/>
          </a:xfrm>
          <a:custGeom>
            <a:avLst/>
            <a:gdLst/>
            <a:ahLst/>
            <a:cxnLst/>
            <a:rect l="l" t="t" r="r" b="b"/>
            <a:pathLst>
              <a:path w="363474" h="444246">
                <a:moveTo>
                  <a:pt x="0" y="444246"/>
                </a:moveTo>
                <a:lnTo>
                  <a:pt x="363474" y="444246"/>
                </a:lnTo>
                <a:lnTo>
                  <a:pt x="363474" y="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6" name="S14-mark169"/>
          <p:cNvSpPr/>
          <p:nvPr/>
        </p:nvSpPr>
        <p:spPr>
          <a:xfrm>
            <a:off x="2166183" y="3347466"/>
            <a:ext cx="1938528" cy="2665476"/>
          </a:xfrm>
          <a:custGeom>
            <a:avLst/>
            <a:gdLst/>
            <a:ahLst/>
            <a:cxnLst/>
            <a:rect l="l" t="t" r="r" b="b"/>
            <a:pathLst>
              <a:path w="1938528" h="2665476">
                <a:moveTo>
                  <a:pt x="121158" y="2665476"/>
                </a:moveTo>
                <a:lnTo>
                  <a:pt x="1817370" y="2665476"/>
                </a:lnTo>
                <a:lnTo>
                  <a:pt x="1938528" y="282702"/>
                </a:lnTo>
                <a:lnTo>
                  <a:pt x="1615440" y="0"/>
                </a:lnTo>
                <a:lnTo>
                  <a:pt x="323088" y="0"/>
                </a:lnTo>
                <a:lnTo>
                  <a:pt x="0" y="282702"/>
                </a:lnTo>
                <a:close/>
              </a:path>
            </a:pathLst>
          </a:custGeom>
          <a:solidFill>
            <a:srgbClr val="F3F4F6"/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7" name="S14-mark170"/>
          <p:cNvSpPr/>
          <p:nvPr/>
        </p:nvSpPr>
        <p:spPr>
          <a:xfrm>
            <a:off x="3276798" y="2620518"/>
            <a:ext cx="262509" cy="1272159"/>
          </a:xfrm>
          <a:custGeom>
            <a:avLst/>
            <a:gdLst/>
            <a:ahLst/>
            <a:cxnLst/>
            <a:rect l="l" t="t" r="r" b="b"/>
            <a:pathLst>
              <a:path w="262509" h="1272159">
                <a:moveTo>
                  <a:pt x="0" y="1272159"/>
                </a:moveTo>
                <a:lnTo>
                  <a:pt x="262509" y="969264"/>
                </a:lnTo>
                <a:lnTo>
                  <a:pt x="262509" y="0"/>
                </a:lnTo>
              </a:path>
            </a:pathLst>
          </a:custGeom>
          <a:noFill/>
          <a:ln w="28575">
            <a:solidFill>
              <a:srgbClr val="C8434E"/>
            </a:solidFill>
            <a:prstDash val="solid"/>
          </a:ln>
        </p:spPr>
      </p:sp>
      <p:sp>
        <p:nvSpPr>
          <p:cNvPr id="8" name="S14-mark171"/>
          <p:cNvSpPr/>
          <p:nvPr/>
        </p:nvSpPr>
        <p:spPr>
          <a:xfrm>
            <a:off x="2731587" y="2297430"/>
            <a:ext cx="807720" cy="323088"/>
          </a:xfrm>
          <a:custGeom>
            <a:avLst/>
            <a:gdLst/>
            <a:ahLst/>
            <a:cxnLst/>
            <a:rect l="l" t="t" r="r" b="b"/>
            <a:pathLst>
              <a:path w="807720" h="323088">
                <a:moveTo>
                  <a:pt x="807720" y="323088"/>
                </a:moveTo>
                <a:lnTo>
                  <a:pt x="646176" y="0"/>
                </a:lnTo>
                <a:lnTo>
                  <a:pt x="161544" y="0"/>
                </a:lnTo>
                <a:lnTo>
                  <a:pt x="0" y="323088"/>
                </a:lnTo>
              </a:path>
            </a:pathLst>
          </a:custGeom>
          <a:noFill/>
          <a:ln w="28575">
            <a:solidFill>
              <a:srgbClr val="9CA3AF"/>
            </a:solidFill>
            <a:prstDash val="solid"/>
          </a:ln>
        </p:spPr>
      </p:sp>
      <p:sp>
        <p:nvSpPr>
          <p:cNvPr id="9" name="S14-mark172"/>
          <p:cNvSpPr/>
          <p:nvPr/>
        </p:nvSpPr>
        <p:spPr>
          <a:xfrm>
            <a:off x="2731587" y="2620518"/>
            <a:ext cx="262509" cy="1272159"/>
          </a:xfrm>
          <a:custGeom>
            <a:avLst/>
            <a:gdLst/>
            <a:ahLst/>
            <a:cxnLst/>
            <a:rect l="l" t="t" r="r" b="b"/>
            <a:pathLst>
              <a:path w="262509" h="1272159">
                <a:moveTo>
                  <a:pt x="0" y="0"/>
                </a:moveTo>
                <a:lnTo>
                  <a:pt x="0" y="969264"/>
                </a:lnTo>
                <a:lnTo>
                  <a:pt x="262509" y="1272159"/>
                </a:lnTo>
              </a:path>
            </a:pathLst>
          </a:cu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10" name="S14-mark173"/>
          <p:cNvSpPr/>
          <p:nvPr/>
        </p:nvSpPr>
        <p:spPr>
          <a:xfrm>
            <a:off x="3317184" y="4316730"/>
            <a:ext cx="424053" cy="1413510"/>
          </a:xfrm>
          <a:custGeom>
            <a:avLst/>
            <a:gdLst/>
            <a:ahLst/>
            <a:cxnLst/>
            <a:rect l="l" t="t" r="r" b="b"/>
            <a:pathLst>
              <a:path w="424053" h="1413510">
                <a:moveTo>
                  <a:pt x="0" y="0"/>
                </a:moveTo>
                <a:lnTo>
                  <a:pt x="424053" y="403860"/>
                </a:lnTo>
                <a:lnTo>
                  <a:pt x="424053" y="1413510"/>
                </a:lnTo>
              </a:path>
            </a:pathLst>
          </a:custGeom>
          <a:noFill/>
          <a:ln w="28575">
            <a:solidFill>
              <a:srgbClr val="C8434E"/>
            </a:solidFill>
            <a:prstDash val="solid"/>
          </a:ln>
        </p:spPr>
      </p:sp>
      <p:sp>
        <p:nvSpPr>
          <p:cNvPr id="11" name="S14-mark174"/>
          <p:cNvSpPr/>
          <p:nvPr/>
        </p:nvSpPr>
        <p:spPr>
          <a:xfrm>
            <a:off x="2529657" y="5730240"/>
            <a:ext cx="1211580" cy="9144"/>
          </a:xfrm>
          <a:custGeom>
            <a:avLst/>
            <a:gdLst/>
            <a:ahLst/>
            <a:cxnLst/>
            <a:rect l="l" t="t" r="r" b="b"/>
            <a:pathLst>
              <a:path w="1211580" h="9144">
                <a:moveTo>
                  <a:pt x="121158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9CA3AF"/>
            </a:solidFill>
            <a:prstDash val="solid"/>
          </a:ln>
        </p:spPr>
      </p:sp>
      <p:sp>
        <p:nvSpPr>
          <p:cNvPr id="12" name="S14-mark175"/>
          <p:cNvSpPr/>
          <p:nvPr/>
        </p:nvSpPr>
        <p:spPr>
          <a:xfrm>
            <a:off x="2529657" y="4316730"/>
            <a:ext cx="424053" cy="1413510"/>
          </a:xfrm>
          <a:custGeom>
            <a:avLst/>
            <a:gdLst/>
            <a:ahLst/>
            <a:cxnLst/>
            <a:rect l="l" t="t" r="r" b="b"/>
            <a:pathLst>
              <a:path w="424053" h="1413510">
                <a:moveTo>
                  <a:pt x="0" y="1413510"/>
                </a:moveTo>
                <a:lnTo>
                  <a:pt x="0" y="403860"/>
                </a:lnTo>
                <a:lnTo>
                  <a:pt x="424053" y="0"/>
                </a:lnTo>
              </a:path>
            </a:pathLst>
          </a:custGeom>
          <a:noFill/>
          <a:ln w="28575">
            <a:solidFill>
              <a:srgbClr val="3D5A80"/>
            </a:solidFill>
            <a:prstDash val="solid"/>
          </a:ln>
        </p:spPr>
      </p:sp>
      <p:sp>
        <p:nvSpPr>
          <p:cNvPr id="13" name="S14-mark176"/>
          <p:cNvSpPr/>
          <p:nvPr/>
        </p:nvSpPr>
        <p:spPr>
          <a:xfrm>
            <a:off x="2913324" y="3852291"/>
            <a:ext cx="444246" cy="525018"/>
          </a:xfrm>
          <a:custGeom>
            <a:avLst/>
            <a:gdLst/>
            <a:ahLst/>
            <a:cxnLst/>
            <a:rect l="l" t="t" r="r" b="b"/>
            <a:pathLst>
              <a:path w="444246" h="525018">
                <a:moveTo>
                  <a:pt x="444246" y="262509"/>
                </a:moveTo>
                <a:lnTo>
                  <a:pt x="443401" y="239630"/>
                </a:lnTo>
                <a:lnTo>
                  <a:pt x="440871" y="216925"/>
                </a:lnTo>
                <a:lnTo>
                  <a:pt x="436677" y="194567"/>
                </a:lnTo>
                <a:lnTo>
                  <a:pt x="430850" y="172726"/>
                </a:lnTo>
                <a:lnTo>
                  <a:pt x="423435" y="151568"/>
                </a:lnTo>
                <a:lnTo>
                  <a:pt x="414487" y="131254"/>
                </a:lnTo>
                <a:lnTo>
                  <a:pt x="404076" y="111940"/>
                </a:lnTo>
                <a:lnTo>
                  <a:pt x="392279" y="93771"/>
                </a:lnTo>
                <a:lnTo>
                  <a:pt x="379188" y="76887"/>
                </a:lnTo>
                <a:lnTo>
                  <a:pt x="364901" y="61415"/>
                </a:lnTo>
                <a:lnTo>
                  <a:pt x="349528" y="47474"/>
                </a:lnTo>
                <a:lnTo>
                  <a:pt x="333184" y="35170"/>
                </a:lnTo>
                <a:lnTo>
                  <a:pt x="315996" y="24595"/>
                </a:lnTo>
                <a:lnTo>
                  <a:pt x="298094" y="15831"/>
                </a:lnTo>
                <a:lnTo>
                  <a:pt x="279613" y="8945"/>
                </a:lnTo>
                <a:lnTo>
                  <a:pt x="260694" y="3988"/>
                </a:lnTo>
                <a:lnTo>
                  <a:pt x="241482" y="999"/>
                </a:lnTo>
                <a:lnTo>
                  <a:pt x="222123" y="0"/>
                </a:lnTo>
                <a:lnTo>
                  <a:pt x="202764" y="999"/>
                </a:lnTo>
                <a:lnTo>
                  <a:pt x="183552" y="3988"/>
                </a:lnTo>
                <a:lnTo>
                  <a:pt x="164633" y="8945"/>
                </a:lnTo>
                <a:lnTo>
                  <a:pt x="146152" y="15831"/>
                </a:lnTo>
                <a:lnTo>
                  <a:pt x="128250" y="24595"/>
                </a:lnTo>
                <a:lnTo>
                  <a:pt x="111061" y="35170"/>
                </a:lnTo>
                <a:lnTo>
                  <a:pt x="94718" y="47474"/>
                </a:lnTo>
                <a:lnTo>
                  <a:pt x="79345" y="61415"/>
                </a:lnTo>
                <a:lnTo>
                  <a:pt x="65058" y="76887"/>
                </a:lnTo>
                <a:lnTo>
                  <a:pt x="51967" y="93771"/>
                </a:lnTo>
                <a:lnTo>
                  <a:pt x="40170" y="111940"/>
                </a:lnTo>
                <a:lnTo>
                  <a:pt x="29759" y="131254"/>
                </a:lnTo>
                <a:lnTo>
                  <a:pt x="20811" y="151568"/>
                </a:lnTo>
                <a:lnTo>
                  <a:pt x="13396" y="172726"/>
                </a:lnTo>
                <a:lnTo>
                  <a:pt x="7569" y="194567"/>
                </a:lnTo>
                <a:lnTo>
                  <a:pt x="3375" y="216925"/>
                </a:lnTo>
                <a:lnTo>
                  <a:pt x="845" y="239630"/>
                </a:lnTo>
                <a:lnTo>
                  <a:pt x="0" y="262509"/>
                </a:lnTo>
                <a:lnTo>
                  <a:pt x="845" y="285388"/>
                </a:lnTo>
                <a:lnTo>
                  <a:pt x="3375" y="308093"/>
                </a:lnTo>
                <a:lnTo>
                  <a:pt x="7569" y="330451"/>
                </a:lnTo>
                <a:lnTo>
                  <a:pt x="13396" y="352292"/>
                </a:lnTo>
                <a:lnTo>
                  <a:pt x="20811" y="373450"/>
                </a:lnTo>
                <a:lnTo>
                  <a:pt x="29759" y="393764"/>
                </a:lnTo>
                <a:lnTo>
                  <a:pt x="40170" y="413078"/>
                </a:lnTo>
                <a:lnTo>
                  <a:pt x="51967" y="431247"/>
                </a:lnTo>
                <a:lnTo>
                  <a:pt x="65058" y="448131"/>
                </a:lnTo>
                <a:lnTo>
                  <a:pt x="79345" y="463603"/>
                </a:lnTo>
                <a:lnTo>
                  <a:pt x="94718" y="477544"/>
                </a:lnTo>
                <a:lnTo>
                  <a:pt x="111061" y="489848"/>
                </a:lnTo>
                <a:lnTo>
                  <a:pt x="128250" y="500423"/>
                </a:lnTo>
                <a:lnTo>
                  <a:pt x="146152" y="509187"/>
                </a:lnTo>
                <a:lnTo>
                  <a:pt x="164633" y="516073"/>
                </a:lnTo>
                <a:lnTo>
                  <a:pt x="183552" y="521030"/>
                </a:lnTo>
                <a:lnTo>
                  <a:pt x="202764" y="524019"/>
                </a:lnTo>
                <a:lnTo>
                  <a:pt x="222123" y="525018"/>
                </a:lnTo>
                <a:lnTo>
                  <a:pt x="241482" y="524019"/>
                </a:lnTo>
                <a:lnTo>
                  <a:pt x="260694" y="521030"/>
                </a:lnTo>
                <a:lnTo>
                  <a:pt x="279613" y="516073"/>
                </a:lnTo>
                <a:lnTo>
                  <a:pt x="298094" y="509187"/>
                </a:lnTo>
                <a:lnTo>
                  <a:pt x="315996" y="500423"/>
                </a:lnTo>
                <a:lnTo>
                  <a:pt x="333184" y="489848"/>
                </a:lnTo>
                <a:lnTo>
                  <a:pt x="349528" y="477544"/>
                </a:lnTo>
                <a:lnTo>
                  <a:pt x="364901" y="463603"/>
                </a:lnTo>
                <a:lnTo>
                  <a:pt x="379188" y="448131"/>
                </a:lnTo>
                <a:lnTo>
                  <a:pt x="392279" y="431247"/>
                </a:lnTo>
                <a:lnTo>
                  <a:pt x="404076" y="413078"/>
                </a:lnTo>
                <a:lnTo>
                  <a:pt x="414487" y="393764"/>
                </a:lnTo>
                <a:lnTo>
                  <a:pt x="423435" y="373450"/>
                </a:lnTo>
                <a:lnTo>
                  <a:pt x="430850" y="352292"/>
                </a:lnTo>
                <a:lnTo>
                  <a:pt x="436677" y="330451"/>
                </a:lnTo>
                <a:lnTo>
                  <a:pt x="440871" y="308093"/>
                </a:lnTo>
                <a:lnTo>
                  <a:pt x="443401" y="285388"/>
                </a:lnTo>
                <a:close/>
              </a:path>
            </a:pathLst>
          </a:custGeom>
          <a:solidFill>
            <a:srgbClr val="C8434E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4" name="S14-mark177"/>
          <p:cNvSpPr/>
          <p:nvPr/>
        </p:nvSpPr>
        <p:spPr>
          <a:xfrm flipV="1">
            <a:off x="3539307" y="2983992"/>
            <a:ext cx="0" cy="282702"/>
          </a:xfrm>
          <a:prstGeom prst="line">
            <a:avLst/>
          </a:prstGeom>
          <a:noFill/>
          <a:ln w="28575">
            <a:solidFill>
              <a:srgbClr val="C8434E"/>
            </a:solidFill>
            <a:prstDash val="solid"/>
            <a:tailEnd type="triangle"/>
          </a:ln>
        </p:spPr>
      </p:sp>
      <p:sp>
        <p:nvSpPr>
          <p:cNvPr id="15" name="S14-mark178"/>
          <p:cNvSpPr/>
          <p:nvPr/>
        </p:nvSpPr>
        <p:spPr>
          <a:xfrm>
            <a:off x="2731587" y="2983992"/>
            <a:ext cx="0" cy="282702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6" name="S14-mark179"/>
          <p:cNvSpPr/>
          <p:nvPr/>
        </p:nvSpPr>
        <p:spPr>
          <a:xfrm>
            <a:off x="3741237" y="5043678"/>
            <a:ext cx="0" cy="323088"/>
          </a:xfrm>
          <a:prstGeom prst="line">
            <a:avLst/>
          </a:prstGeom>
          <a:noFill/>
          <a:ln w="28575">
            <a:solidFill>
              <a:srgbClr val="C8434E"/>
            </a:solidFill>
            <a:prstDash val="solid"/>
            <a:tailEnd type="triangle"/>
          </a:ln>
        </p:spPr>
      </p:sp>
      <p:sp>
        <p:nvSpPr>
          <p:cNvPr id="17" name="S14-mark180"/>
          <p:cNvSpPr/>
          <p:nvPr/>
        </p:nvSpPr>
        <p:spPr>
          <a:xfrm flipV="1">
            <a:off x="2529657" y="5043678"/>
            <a:ext cx="0" cy="323088"/>
          </a:xfrm>
          <a:prstGeom prst="line">
            <a:avLst/>
          </a:prstGeom>
          <a:noFill/>
          <a:ln w="28575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8" name="S14-mark181"/>
          <p:cNvSpPr/>
          <p:nvPr/>
        </p:nvSpPr>
        <p:spPr>
          <a:xfrm flipH="1">
            <a:off x="3377763" y="4114800"/>
            <a:ext cx="908685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9" name="S14-mark182"/>
          <p:cNvSpPr/>
          <p:nvPr/>
        </p:nvSpPr>
        <p:spPr>
          <a:xfrm flipH="1">
            <a:off x="3761430" y="5205222"/>
            <a:ext cx="525018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0" name="S14-label184"/>
          <p:cNvSpPr txBox="1"/>
          <p:nvPr/>
        </p:nvSpPr>
        <p:spPr>
          <a:xfrm>
            <a:off x="4347027" y="394017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심장</a:t>
            </a:r>
            <a:endParaRPr lang="ko-KR" sz="2200" dirty="0"/>
          </a:p>
        </p:txBody>
      </p:sp>
      <p:sp>
        <p:nvSpPr>
          <p:cNvPr id="21" name="S14-label186"/>
          <p:cNvSpPr txBox="1"/>
          <p:nvPr/>
        </p:nvSpPr>
        <p:spPr>
          <a:xfrm>
            <a:off x="4347027" y="5030597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혈관</a:t>
            </a:r>
            <a:endParaRPr lang="ko-KR" sz="2200" dirty="0"/>
          </a:p>
        </p:txBody>
      </p:sp>
      <p:sp>
        <p:nvSpPr>
          <p:cNvPr id="22" name="S14-card187"/>
          <p:cNvSpPr/>
          <p:nvPr/>
        </p:nvSpPr>
        <p:spPr>
          <a:xfrm>
            <a:off x="6491874" y="2803652"/>
            <a:ext cx="5148438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3" name="S14-cardtext188"/>
          <p:cNvSpPr txBox="1"/>
          <p:nvPr/>
        </p:nvSpPr>
        <p:spPr>
          <a:xfrm>
            <a:off x="6766194" y="2940812"/>
            <a:ext cx="4599798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심장이 펌프처럼 뛰어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혈액을 온몸으로 보내요.</a:t>
            </a:r>
            <a:endParaRPr lang="ko-KR" sz="2800" dirty="0"/>
          </a:p>
        </p:txBody>
      </p:sp>
      <p:sp>
        <p:nvSpPr>
          <p:cNvPr id="24" name="S14-card189"/>
          <p:cNvSpPr/>
          <p:nvPr/>
        </p:nvSpPr>
        <p:spPr>
          <a:xfrm>
            <a:off x="6491874" y="4229100"/>
            <a:ext cx="5148438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5" name="S14-cardtext190"/>
          <p:cNvSpPr txBox="1"/>
          <p:nvPr/>
        </p:nvSpPr>
        <p:spPr>
          <a:xfrm>
            <a:off x="6766194" y="4366260"/>
            <a:ext cx="4599798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혈액은 혈관을 따라 돌며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영양소와 산소를 날라요.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노폐물을 내보내요</a:t>
            </a:r>
            <a:endParaRPr lang="ko-KR" sz="4000" dirty="0"/>
          </a:p>
        </p:txBody>
      </p:sp>
      <p:sp>
        <p:nvSpPr>
          <p:cNvPr id="3" name="S15-text19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혈액 속 노폐물을 몸 밖으로 내보내는 것을 배설이라고 해요.</a:t>
            </a:r>
            <a:endParaRPr lang="ko-KR" sz="2800" dirty="0"/>
          </a:p>
        </p:txBody>
      </p:sp>
      <p:sp>
        <p:nvSpPr>
          <p:cNvPr id="4" name="S15-figure192" descr="몸 윤곽 안의 배설 기관 모식도: 양쪽 콩팥에서 오줌관을 따라 아래쪽 방광으로 이어지고, 방광에서 몸 밖으로 나감"/>
          <p:cNvSpPr/>
          <p:nvPr/>
        </p:nvSpPr>
        <p:spPr>
          <a:xfrm>
            <a:off x="2711394" y="2135886"/>
            <a:ext cx="848106" cy="848106"/>
          </a:xfrm>
          <a:prstGeom prst="ellipse">
            <a:avLst/>
          </a:prstGeom>
          <a:solidFill>
            <a:srgbClr val="F3F4F6"/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5" name="S15-mark193"/>
          <p:cNvSpPr/>
          <p:nvPr/>
        </p:nvSpPr>
        <p:spPr>
          <a:xfrm>
            <a:off x="2953710" y="2943606"/>
            <a:ext cx="363474" cy="444246"/>
          </a:xfrm>
          <a:custGeom>
            <a:avLst/>
            <a:gdLst/>
            <a:ahLst/>
            <a:cxnLst/>
            <a:rect l="l" t="t" r="r" b="b"/>
            <a:pathLst>
              <a:path w="363474" h="444246">
                <a:moveTo>
                  <a:pt x="0" y="444246"/>
                </a:moveTo>
                <a:lnTo>
                  <a:pt x="363474" y="444246"/>
                </a:lnTo>
                <a:lnTo>
                  <a:pt x="363474" y="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6" name="S15-mark194"/>
          <p:cNvSpPr/>
          <p:nvPr/>
        </p:nvSpPr>
        <p:spPr>
          <a:xfrm>
            <a:off x="2166183" y="3347466"/>
            <a:ext cx="1938528" cy="2665476"/>
          </a:xfrm>
          <a:custGeom>
            <a:avLst/>
            <a:gdLst/>
            <a:ahLst/>
            <a:cxnLst/>
            <a:rect l="l" t="t" r="r" b="b"/>
            <a:pathLst>
              <a:path w="1938528" h="2665476">
                <a:moveTo>
                  <a:pt x="121158" y="2665476"/>
                </a:moveTo>
                <a:lnTo>
                  <a:pt x="1817370" y="2665476"/>
                </a:lnTo>
                <a:lnTo>
                  <a:pt x="1938528" y="282702"/>
                </a:lnTo>
                <a:lnTo>
                  <a:pt x="1615440" y="0"/>
                </a:lnTo>
                <a:lnTo>
                  <a:pt x="323088" y="0"/>
                </a:lnTo>
                <a:lnTo>
                  <a:pt x="0" y="282702"/>
                </a:lnTo>
                <a:close/>
              </a:path>
            </a:pathLst>
          </a:custGeom>
          <a:solidFill>
            <a:srgbClr val="F3F4F6"/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7" name="S15-mark195"/>
          <p:cNvSpPr/>
          <p:nvPr/>
        </p:nvSpPr>
        <p:spPr>
          <a:xfrm>
            <a:off x="2501387" y="4276344"/>
            <a:ext cx="339242" cy="565404"/>
          </a:xfrm>
          <a:custGeom>
            <a:avLst/>
            <a:gdLst/>
            <a:ahLst/>
            <a:cxnLst/>
            <a:rect l="l" t="t" r="r" b="b"/>
            <a:pathLst>
              <a:path w="339242" h="565404">
                <a:moveTo>
                  <a:pt x="339242" y="282702"/>
                </a:moveTo>
                <a:lnTo>
                  <a:pt x="338597" y="258063"/>
                </a:lnTo>
                <a:lnTo>
                  <a:pt x="336665" y="233611"/>
                </a:lnTo>
                <a:lnTo>
                  <a:pt x="333463" y="209533"/>
                </a:lnTo>
                <a:lnTo>
                  <a:pt x="329013" y="186012"/>
                </a:lnTo>
                <a:lnTo>
                  <a:pt x="323350" y="163227"/>
                </a:lnTo>
                <a:lnTo>
                  <a:pt x="316517" y="141351"/>
                </a:lnTo>
                <a:lnTo>
                  <a:pt x="308567" y="120551"/>
                </a:lnTo>
                <a:lnTo>
                  <a:pt x="299559" y="100985"/>
                </a:lnTo>
                <a:lnTo>
                  <a:pt x="289562" y="82801"/>
                </a:lnTo>
                <a:lnTo>
                  <a:pt x="278652" y="66140"/>
                </a:lnTo>
                <a:lnTo>
                  <a:pt x="266912" y="51126"/>
                </a:lnTo>
                <a:lnTo>
                  <a:pt x="254432" y="37875"/>
                </a:lnTo>
                <a:lnTo>
                  <a:pt x="241306" y="26487"/>
                </a:lnTo>
                <a:lnTo>
                  <a:pt x="227635" y="17049"/>
                </a:lnTo>
                <a:lnTo>
                  <a:pt x="213522" y="9633"/>
                </a:lnTo>
                <a:lnTo>
                  <a:pt x="199076" y="4295"/>
                </a:lnTo>
                <a:lnTo>
                  <a:pt x="184405" y="1076"/>
                </a:lnTo>
                <a:lnTo>
                  <a:pt x="169621" y="0"/>
                </a:lnTo>
                <a:lnTo>
                  <a:pt x="154838" y="1076"/>
                </a:lnTo>
                <a:lnTo>
                  <a:pt x="140167" y="4295"/>
                </a:lnTo>
                <a:lnTo>
                  <a:pt x="125720" y="9633"/>
                </a:lnTo>
                <a:lnTo>
                  <a:pt x="111607" y="17049"/>
                </a:lnTo>
                <a:lnTo>
                  <a:pt x="97936" y="26487"/>
                </a:lnTo>
                <a:lnTo>
                  <a:pt x="84811" y="37875"/>
                </a:lnTo>
                <a:lnTo>
                  <a:pt x="72330" y="51126"/>
                </a:lnTo>
                <a:lnTo>
                  <a:pt x="60591" y="66140"/>
                </a:lnTo>
                <a:lnTo>
                  <a:pt x="49681" y="82801"/>
                </a:lnTo>
                <a:lnTo>
                  <a:pt x="39684" y="100985"/>
                </a:lnTo>
                <a:lnTo>
                  <a:pt x="30676" y="120551"/>
                </a:lnTo>
                <a:lnTo>
                  <a:pt x="22725" y="141351"/>
                </a:lnTo>
                <a:lnTo>
                  <a:pt x="15892" y="163227"/>
                </a:lnTo>
                <a:lnTo>
                  <a:pt x="10229" y="186012"/>
                </a:lnTo>
                <a:lnTo>
                  <a:pt x="5780" y="209533"/>
                </a:lnTo>
                <a:lnTo>
                  <a:pt x="2577" y="233611"/>
                </a:lnTo>
                <a:lnTo>
                  <a:pt x="645" y="258063"/>
                </a:lnTo>
                <a:lnTo>
                  <a:pt x="0" y="282702"/>
                </a:lnTo>
                <a:lnTo>
                  <a:pt x="645" y="307341"/>
                </a:lnTo>
                <a:lnTo>
                  <a:pt x="2577" y="331793"/>
                </a:lnTo>
                <a:lnTo>
                  <a:pt x="5780" y="355871"/>
                </a:lnTo>
                <a:lnTo>
                  <a:pt x="10229" y="379392"/>
                </a:lnTo>
                <a:lnTo>
                  <a:pt x="15892" y="402177"/>
                </a:lnTo>
                <a:lnTo>
                  <a:pt x="22725" y="424053"/>
                </a:lnTo>
                <a:lnTo>
                  <a:pt x="30676" y="444853"/>
                </a:lnTo>
                <a:lnTo>
                  <a:pt x="39684" y="464419"/>
                </a:lnTo>
                <a:lnTo>
                  <a:pt x="49681" y="482603"/>
                </a:lnTo>
                <a:lnTo>
                  <a:pt x="60591" y="499264"/>
                </a:lnTo>
                <a:lnTo>
                  <a:pt x="72330" y="514278"/>
                </a:lnTo>
                <a:lnTo>
                  <a:pt x="84811" y="527529"/>
                </a:lnTo>
                <a:lnTo>
                  <a:pt x="97936" y="538917"/>
                </a:lnTo>
                <a:lnTo>
                  <a:pt x="111607" y="548355"/>
                </a:lnTo>
                <a:lnTo>
                  <a:pt x="125720" y="555771"/>
                </a:lnTo>
                <a:lnTo>
                  <a:pt x="140167" y="561109"/>
                </a:lnTo>
                <a:lnTo>
                  <a:pt x="154838" y="564328"/>
                </a:lnTo>
                <a:lnTo>
                  <a:pt x="169621" y="565404"/>
                </a:lnTo>
                <a:lnTo>
                  <a:pt x="184405" y="564328"/>
                </a:lnTo>
                <a:lnTo>
                  <a:pt x="199076" y="561109"/>
                </a:lnTo>
                <a:lnTo>
                  <a:pt x="213522" y="555771"/>
                </a:lnTo>
                <a:lnTo>
                  <a:pt x="227635" y="548355"/>
                </a:lnTo>
                <a:lnTo>
                  <a:pt x="241306" y="538917"/>
                </a:lnTo>
                <a:lnTo>
                  <a:pt x="254432" y="527529"/>
                </a:lnTo>
                <a:lnTo>
                  <a:pt x="266912" y="514278"/>
                </a:lnTo>
                <a:lnTo>
                  <a:pt x="278652" y="499264"/>
                </a:lnTo>
                <a:lnTo>
                  <a:pt x="289562" y="482603"/>
                </a:lnTo>
                <a:lnTo>
                  <a:pt x="299559" y="464419"/>
                </a:lnTo>
                <a:lnTo>
                  <a:pt x="308567" y="444853"/>
                </a:lnTo>
                <a:lnTo>
                  <a:pt x="316517" y="424053"/>
                </a:lnTo>
                <a:lnTo>
                  <a:pt x="323350" y="402177"/>
                </a:lnTo>
                <a:lnTo>
                  <a:pt x="329013" y="379392"/>
                </a:lnTo>
                <a:lnTo>
                  <a:pt x="333463" y="355871"/>
                </a:lnTo>
                <a:lnTo>
                  <a:pt x="336665" y="331793"/>
                </a:lnTo>
                <a:lnTo>
                  <a:pt x="338597" y="307341"/>
                </a:lnTo>
                <a:close/>
              </a:path>
            </a:pathLst>
          </a:custGeom>
          <a:solidFill>
            <a:srgbClr val="A47148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5-mark196"/>
          <p:cNvSpPr/>
          <p:nvPr/>
        </p:nvSpPr>
        <p:spPr>
          <a:xfrm>
            <a:off x="3430265" y="4276344"/>
            <a:ext cx="339242" cy="565404"/>
          </a:xfrm>
          <a:custGeom>
            <a:avLst/>
            <a:gdLst/>
            <a:ahLst/>
            <a:cxnLst/>
            <a:rect l="l" t="t" r="r" b="b"/>
            <a:pathLst>
              <a:path w="339242" h="565404">
                <a:moveTo>
                  <a:pt x="339242" y="282702"/>
                </a:moveTo>
                <a:lnTo>
                  <a:pt x="338597" y="258063"/>
                </a:lnTo>
                <a:lnTo>
                  <a:pt x="336665" y="233611"/>
                </a:lnTo>
                <a:lnTo>
                  <a:pt x="333463" y="209533"/>
                </a:lnTo>
                <a:lnTo>
                  <a:pt x="329013" y="186012"/>
                </a:lnTo>
                <a:lnTo>
                  <a:pt x="323350" y="163227"/>
                </a:lnTo>
                <a:lnTo>
                  <a:pt x="316517" y="141351"/>
                </a:lnTo>
                <a:lnTo>
                  <a:pt x="308567" y="120551"/>
                </a:lnTo>
                <a:lnTo>
                  <a:pt x="299559" y="100985"/>
                </a:lnTo>
                <a:lnTo>
                  <a:pt x="289562" y="82801"/>
                </a:lnTo>
                <a:lnTo>
                  <a:pt x="278652" y="66140"/>
                </a:lnTo>
                <a:lnTo>
                  <a:pt x="266912" y="51126"/>
                </a:lnTo>
                <a:lnTo>
                  <a:pt x="254432" y="37875"/>
                </a:lnTo>
                <a:lnTo>
                  <a:pt x="241306" y="26487"/>
                </a:lnTo>
                <a:lnTo>
                  <a:pt x="227635" y="17049"/>
                </a:lnTo>
                <a:lnTo>
                  <a:pt x="213522" y="9633"/>
                </a:lnTo>
                <a:lnTo>
                  <a:pt x="199076" y="4295"/>
                </a:lnTo>
                <a:lnTo>
                  <a:pt x="184405" y="1076"/>
                </a:lnTo>
                <a:lnTo>
                  <a:pt x="169621" y="0"/>
                </a:lnTo>
                <a:lnTo>
                  <a:pt x="154838" y="1076"/>
                </a:lnTo>
                <a:lnTo>
                  <a:pt x="140167" y="4295"/>
                </a:lnTo>
                <a:lnTo>
                  <a:pt x="125720" y="9633"/>
                </a:lnTo>
                <a:lnTo>
                  <a:pt x="111607" y="17049"/>
                </a:lnTo>
                <a:lnTo>
                  <a:pt x="97936" y="26487"/>
                </a:lnTo>
                <a:lnTo>
                  <a:pt x="84811" y="37875"/>
                </a:lnTo>
                <a:lnTo>
                  <a:pt x="72330" y="51126"/>
                </a:lnTo>
                <a:lnTo>
                  <a:pt x="60591" y="66140"/>
                </a:lnTo>
                <a:lnTo>
                  <a:pt x="49681" y="82801"/>
                </a:lnTo>
                <a:lnTo>
                  <a:pt x="39684" y="100985"/>
                </a:lnTo>
                <a:lnTo>
                  <a:pt x="30676" y="120551"/>
                </a:lnTo>
                <a:lnTo>
                  <a:pt x="22725" y="141351"/>
                </a:lnTo>
                <a:lnTo>
                  <a:pt x="15892" y="163227"/>
                </a:lnTo>
                <a:lnTo>
                  <a:pt x="10229" y="186012"/>
                </a:lnTo>
                <a:lnTo>
                  <a:pt x="5780" y="209533"/>
                </a:lnTo>
                <a:lnTo>
                  <a:pt x="2577" y="233611"/>
                </a:lnTo>
                <a:lnTo>
                  <a:pt x="645" y="258063"/>
                </a:lnTo>
                <a:lnTo>
                  <a:pt x="0" y="282702"/>
                </a:lnTo>
                <a:lnTo>
                  <a:pt x="645" y="307341"/>
                </a:lnTo>
                <a:lnTo>
                  <a:pt x="2577" y="331793"/>
                </a:lnTo>
                <a:lnTo>
                  <a:pt x="5780" y="355871"/>
                </a:lnTo>
                <a:lnTo>
                  <a:pt x="10229" y="379392"/>
                </a:lnTo>
                <a:lnTo>
                  <a:pt x="15892" y="402177"/>
                </a:lnTo>
                <a:lnTo>
                  <a:pt x="22725" y="424053"/>
                </a:lnTo>
                <a:lnTo>
                  <a:pt x="30676" y="444853"/>
                </a:lnTo>
                <a:lnTo>
                  <a:pt x="39684" y="464419"/>
                </a:lnTo>
                <a:lnTo>
                  <a:pt x="49681" y="482603"/>
                </a:lnTo>
                <a:lnTo>
                  <a:pt x="60591" y="499264"/>
                </a:lnTo>
                <a:lnTo>
                  <a:pt x="72330" y="514278"/>
                </a:lnTo>
                <a:lnTo>
                  <a:pt x="84811" y="527529"/>
                </a:lnTo>
                <a:lnTo>
                  <a:pt x="97936" y="538917"/>
                </a:lnTo>
                <a:lnTo>
                  <a:pt x="111607" y="548355"/>
                </a:lnTo>
                <a:lnTo>
                  <a:pt x="125720" y="555771"/>
                </a:lnTo>
                <a:lnTo>
                  <a:pt x="140167" y="561109"/>
                </a:lnTo>
                <a:lnTo>
                  <a:pt x="154838" y="564328"/>
                </a:lnTo>
                <a:lnTo>
                  <a:pt x="169621" y="565404"/>
                </a:lnTo>
                <a:lnTo>
                  <a:pt x="184405" y="564328"/>
                </a:lnTo>
                <a:lnTo>
                  <a:pt x="199076" y="561109"/>
                </a:lnTo>
                <a:lnTo>
                  <a:pt x="213522" y="555771"/>
                </a:lnTo>
                <a:lnTo>
                  <a:pt x="227635" y="548355"/>
                </a:lnTo>
                <a:lnTo>
                  <a:pt x="241306" y="538917"/>
                </a:lnTo>
                <a:lnTo>
                  <a:pt x="254432" y="527529"/>
                </a:lnTo>
                <a:lnTo>
                  <a:pt x="266912" y="514278"/>
                </a:lnTo>
                <a:lnTo>
                  <a:pt x="278652" y="499264"/>
                </a:lnTo>
                <a:lnTo>
                  <a:pt x="289562" y="482603"/>
                </a:lnTo>
                <a:lnTo>
                  <a:pt x="299559" y="464419"/>
                </a:lnTo>
                <a:lnTo>
                  <a:pt x="308567" y="444853"/>
                </a:lnTo>
                <a:lnTo>
                  <a:pt x="316517" y="424053"/>
                </a:lnTo>
                <a:lnTo>
                  <a:pt x="323350" y="402177"/>
                </a:lnTo>
                <a:lnTo>
                  <a:pt x="329013" y="379392"/>
                </a:lnTo>
                <a:lnTo>
                  <a:pt x="333463" y="355871"/>
                </a:lnTo>
                <a:lnTo>
                  <a:pt x="336665" y="331793"/>
                </a:lnTo>
                <a:lnTo>
                  <a:pt x="338597" y="307341"/>
                </a:lnTo>
                <a:close/>
              </a:path>
            </a:pathLst>
          </a:custGeom>
          <a:solidFill>
            <a:srgbClr val="A47148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5-mark197"/>
          <p:cNvSpPr/>
          <p:nvPr/>
        </p:nvSpPr>
        <p:spPr>
          <a:xfrm>
            <a:off x="2872938" y="5407152"/>
            <a:ext cx="525018" cy="363474"/>
          </a:xfrm>
          <a:custGeom>
            <a:avLst/>
            <a:gdLst/>
            <a:ahLst/>
            <a:cxnLst/>
            <a:rect l="l" t="t" r="r" b="b"/>
            <a:pathLst>
              <a:path w="525018" h="363474">
                <a:moveTo>
                  <a:pt x="525018" y="181737"/>
                </a:moveTo>
                <a:lnTo>
                  <a:pt x="524019" y="165898"/>
                </a:lnTo>
                <a:lnTo>
                  <a:pt x="521030" y="150179"/>
                </a:lnTo>
                <a:lnTo>
                  <a:pt x="516073" y="134700"/>
                </a:lnTo>
                <a:lnTo>
                  <a:pt x="509187" y="119579"/>
                </a:lnTo>
                <a:lnTo>
                  <a:pt x="500423" y="104932"/>
                </a:lnTo>
                <a:lnTo>
                  <a:pt x="489848" y="90868"/>
                </a:lnTo>
                <a:lnTo>
                  <a:pt x="477544" y="77497"/>
                </a:lnTo>
                <a:lnTo>
                  <a:pt x="463603" y="64919"/>
                </a:lnTo>
                <a:lnTo>
                  <a:pt x="448131" y="53230"/>
                </a:lnTo>
                <a:lnTo>
                  <a:pt x="431247" y="42518"/>
                </a:lnTo>
                <a:lnTo>
                  <a:pt x="413078" y="32867"/>
                </a:lnTo>
                <a:lnTo>
                  <a:pt x="393764" y="24348"/>
                </a:lnTo>
                <a:lnTo>
                  <a:pt x="373450" y="17027"/>
                </a:lnTo>
                <a:lnTo>
                  <a:pt x="352292" y="10960"/>
                </a:lnTo>
                <a:lnTo>
                  <a:pt x="330451" y="6193"/>
                </a:lnTo>
                <a:lnTo>
                  <a:pt x="308093" y="2761"/>
                </a:lnTo>
                <a:lnTo>
                  <a:pt x="285388" y="692"/>
                </a:lnTo>
                <a:lnTo>
                  <a:pt x="262509" y="0"/>
                </a:lnTo>
                <a:lnTo>
                  <a:pt x="239630" y="692"/>
                </a:lnTo>
                <a:lnTo>
                  <a:pt x="216925" y="2761"/>
                </a:lnTo>
                <a:lnTo>
                  <a:pt x="194567" y="6193"/>
                </a:lnTo>
                <a:lnTo>
                  <a:pt x="172726" y="10960"/>
                </a:lnTo>
                <a:lnTo>
                  <a:pt x="151568" y="17027"/>
                </a:lnTo>
                <a:lnTo>
                  <a:pt x="131255" y="24348"/>
                </a:lnTo>
                <a:lnTo>
                  <a:pt x="111940" y="32867"/>
                </a:lnTo>
                <a:lnTo>
                  <a:pt x="93771" y="42518"/>
                </a:lnTo>
                <a:lnTo>
                  <a:pt x="76887" y="53230"/>
                </a:lnTo>
                <a:lnTo>
                  <a:pt x="61415" y="64919"/>
                </a:lnTo>
                <a:lnTo>
                  <a:pt x="47474" y="77497"/>
                </a:lnTo>
                <a:lnTo>
                  <a:pt x="35170" y="90868"/>
                </a:lnTo>
                <a:lnTo>
                  <a:pt x="24595" y="104932"/>
                </a:lnTo>
                <a:lnTo>
                  <a:pt x="15831" y="119579"/>
                </a:lnTo>
                <a:lnTo>
                  <a:pt x="8945" y="134700"/>
                </a:lnTo>
                <a:lnTo>
                  <a:pt x="3988" y="150179"/>
                </a:lnTo>
                <a:lnTo>
                  <a:pt x="999" y="165898"/>
                </a:lnTo>
                <a:lnTo>
                  <a:pt x="0" y="181737"/>
                </a:lnTo>
                <a:lnTo>
                  <a:pt x="999" y="197576"/>
                </a:lnTo>
                <a:lnTo>
                  <a:pt x="3988" y="213295"/>
                </a:lnTo>
                <a:lnTo>
                  <a:pt x="8945" y="228774"/>
                </a:lnTo>
                <a:lnTo>
                  <a:pt x="15831" y="243895"/>
                </a:lnTo>
                <a:lnTo>
                  <a:pt x="24595" y="258542"/>
                </a:lnTo>
                <a:lnTo>
                  <a:pt x="35170" y="272605"/>
                </a:lnTo>
                <a:lnTo>
                  <a:pt x="47474" y="285977"/>
                </a:lnTo>
                <a:lnTo>
                  <a:pt x="61415" y="298555"/>
                </a:lnTo>
                <a:lnTo>
                  <a:pt x="76887" y="310244"/>
                </a:lnTo>
                <a:lnTo>
                  <a:pt x="93771" y="320956"/>
                </a:lnTo>
                <a:lnTo>
                  <a:pt x="111940" y="330607"/>
                </a:lnTo>
                <a:lnTo>
                  <a:pt x="131255" y="339126"/>
                </a:lnTo>
                <a:lnTo>
                  <a:pt x="151568" y="346447"/>
                </a:lnTo>
                <a:lnTo>
                  <a:pt x="172726" y="352514"/>
                </a:lnTo>
                <a:lnTo>
                  <a:pt x="194567" y="357281"/>
                </a:lnTo>
                <a:lnTo>
                  <a:pt x="216925" y="360713"/>
                </a:lnTo>
                <a:lnTo>
                  <a:pt x="239630" y="362782"/>
                </a:lnTo>
                <a:lnTo>
                  <a:pt x="262509" y="363474"/>
                </a:lnTo>
                <a:lnTo>
                  <a:pt x="285388" y="362782"/>
                </a:lnTo>
                <a:lnTo>
                  <a:pt x="308093" y="360713"/>
                </a:lnTo>
                <a:lnTo>
                  <a:pt x="330451" y="357281"/>
                </a:lnTo>
                <a:lnTo>
                  <a:pt x="352292" y="352514"/>
                </a:lnTo>
                <a:lnTo>
                  <a:pt x="373450" y="346447"/>
                </a:lnTo>
                <a:lnTo>
                  <a:pt x="393764" y="339126"/>
                </a:lnTo>
                <a:lnTo>
                  <a:pt x="413078" y="330607"/>
                </a:lnTo>
                <a:lnTo>
                  <a:pt x="431247" y="320956"/>
                </a:lnTo>
                <a:lnTo>
                  <a:pt x="448131" y="310244"/>
                </a:lnTo>
                <a:lnTo>
                  <a:pt x="463603" y="298555"/>
                </a:lnTo>
                <a:lnTo>
                  <a:pt x="477544" y="285977"/>
                </a:lnTo>
                <a:lnTo>
                  <a:pt x="489848" y="272605"/>
                </a:lnTo>
                <a:lnTo>
                  <a:pt x="500423" y="258542"/>
                </a:lnTo>
                <a:lnTo>
                  <a:pt x="509187" y="243895"/>
                </a:lnTo>
                <a:lnTo>
                  <a:pt x="516073" y="228774"/>
                </a:lnTo>
                <a:lnTo>
                  <a:pt x="521030" y="213295"/>
                </a:lnTo>
                <a:lnTo>
                  <a:pt x="524019" y="197576"/>
                </a:lnTo>
                <a:close/>
              </a:path>
            </a:pathLst>
          </a:custGeom>
          <a:solidFill>
            <a:srgbClr val="F2C14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5-mark198"/>
          <p:cNvSpPr/>
          <p:nvPr/>
        </p:nvSpPr>
        <p:spPr>
          <a:xfrm>
            <a:off x="2731587" y="4821555"/>
            <a:ext cx="242316" cy="646176"/>
          </a:xfrm>
          <a:prstGeom prst="line">
            <a:avLst/>
          </a:prstGeom>
          <a:noFill/>
          <a:ln w="28575">
            <a:solidFill>
              <a:srgbClr val="B45309"/>
            </a:solidFill>
            <a:prstDash val="solid"/>
          </a:ln>
        </p:spPr>
      </p:sp>
      <p:sp>
        <p:nvSpPr>
          <p:cNvPr id="11" name="S15-mark199"/>
          <p:cNvSpPr/>
          <p:nvPr/>
        </p:nvSpPr>
        <p:spPr>
          <a:xfrm flipH="1">
            <a:off x="3296991" y="4821555"/>
            <a:ext cx="242316" cy="646176"/>
          </a:xfrm>
          <a:prstGeom prst="line">
            <a:avLst/>
          </a:prstGeom>
          <a:noFill/>
          <a:ln w="28575">
            <a:solidFill>
              <a:srgbClr val="B45309"/>
            </a:solidFill>
            <a:prstDash val="solid"/>
          </a:ln>
        </p:spPr>
      </p:sp>
      <p:sp>
        <p:nvSpPr>
          <p:cNvPr id="12" name="S15-mark200"/>
          <p:cNvSpPr/>
          <p:nvPr/>
        </p:nvSpPr>
        <p:spPr>
          <a:xfrm>
            <a:off x="3135447" y="5770626"/>
            <a:ext cx="0" cy="222123"/>
          </a:xfrm>
          <a:prstGeom prst="line">
            <a:avLst/>
          </a:prstGeom>
          <a:noFill/>
          <a:ln w="28575">
            <a:solidFill>
              <a:srgbClr val="B45309"/>
            </a:solidFill>
            <a:prstDash val="solid"/>
          </a:ln>
        </p:spPr>
      </p:sp>
      <p:sp>
        <p:nvSpPr>
          <p:cNvPr id="13" name="S15-mark201"/>
          <p:cNvSpPr/>
          <p:nvPr/>
        </p:nvSpPr>
        <p:spPr>
          <a:xfrm flipH="1">
            <a:off x="3761430" y="4559046"/>
            <a:ext cx="525018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4" name="S15-mark202"/>
          <p:cNvSpPr/>
          <p:nvPr/>
        </p:nvSpPr>
        <p:spPr>
          <a:xfrm flipH="1">
            <a:off x="3438342" y="5124450"/>
            <a:ext cx="848106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5" name="S15-mark203"/>
          <p:cNvSpPr/>
          <p:nvPr/>
        </p:nvSpPr>
        <p:spPr>
          <a:xfrm flipH="1">
            <a:off x="3397956" y="5609082"/>
            <a:ext cx="88849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6" name="S15-label205"/>
          <p:cNvSpPr txBox="1"/>
          <p:nvPr/>
        </p:nvSpPr>
        <p:spPr>
          <a:xfrm>
            <a:off x="4347027" y="4384421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콩팥</a:t>
            </a:r>
            <a:endParaRPr lang="ko-KR" sz="2200" dirty="0"/>
          </a:p>
        </p:txBody>
      </p:sp>
      <p:sp>
        <p:nvSpPr>
          <p:cNvPr id="17" name="S15-label207"/>
          <p:cNvSpPr txBox="1"/>
          <p:nvPr/>
        </p:nvSpPr>
        <p:spPr>
          <a:xfrm>
            <a:off x="4347027" y="4949825"/>
            <a:ext cx="9311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오줌관</a:t>
            </a:r>
            <a:endParaRPr lang="ko-KR" sz="2200" dirty="0"/>
          </a:p>
        </p:txBody>
      </p:sp>
      <p:sp>
        <p:nvSpPr>
          <p:cNvPr id="18" name="S15-label209"/>
          <p:cNvSpPr txBox="1"/>
          <p:nvPr/>
        </p:nvSpPr>
        <p:spPr>
          <a:xfrm>
            <a:off x="4347027" y="5434457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방광</a:t>
            </a:r>
            <a:endParaRPr lang="ko-KR" sz="2200" dirty="0"/>
          </a:p>
        </p:txBody>
      </p:sp>
      <p:sp>
        <p:nvSpPr>
          <p:cNvPr id="19" name="S15-card210"/>
          <p:cNvSpPr/>
          <p:nvPr/>
        </p:nvSpPr>
        <p:spPr>
          <a:xfrm>
            <a:off x="6491874" y="2803652"/>
            <a:ext cx="5148438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0" name="S15-cardtext211"/>
          <p:cNvSpPr txBox="1"/>
          <p:nvPr/>
        </p:nvSpPr>
        <p:spPr>
          <a:xfrm>
            <a:off x="6766194" y="2940812"/>
            <a:ext cx="4599798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콩팥이 혈액 속 노폐물을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걸러 오줌을 만들어요.</a:t>
            </a:r>
            <a:endParaRPr lang="ko-KR" sz="2800" dirty="0"/>
          </a:p>
        </p:txBody>
      </p:sp>
      <p:sp>
        <p:nvSpPr>
          <p:cNvPr id="21" name="S15-card212"/>
          <p:cNvSpPr/>
          <p:nvPr/>
        </p:nvSpPr>
        <p:spPr>
          <a:xfrm>
            <a:off x="6491874" y="4229100"/>
            <a:ext cx="5148438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2" name="S15-cardtext213"/>
          <p:cNvSpPr txBox="1"/>
          <p:nvPr/>
        </p:nvSpPr>
        <p:spPr>
          <a:xfrm>
            <a:off x="6766194" y="4366260"/>
            <a:ext cx="4599798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오줌은 오줌관을 지나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방광에 모였다가 나가요.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기관일까요?</a:t>
            </a:r>
            <a:endParaRPr lang="ko-KR" sz="4000" dirty="0"/>
          </a:p>
        </p:txBody>
      </p:sp>
      <p:sp>
        <p:nvSpPr>
          <p:cNvPr id="3" name="S16-text2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일을 보고 기관의 이름을 말해요.</a:t>
            </a:r>
            <a:endParaRPr lang="ko-KR" sz="2800" dirty="0"/>
          </a:p>
        </p:txBody>
      </p:sp>
      <p:sp>
        <p:nvSpPr>
          <p:cNvPr id="4" name="S16-card2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6-cardtext2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소화·순환·호흡·배설 그림을 떠올려요.</a:t>
            </a:r>
            <a:endParaRPr lang="ko-KR" sz="2800" dirty="0"/>
          </a:p>
        </p:txBody>
      </p:sp>
      <p:sp>
        <p:nvSpPr>
          <p:cNvPr id="6" name="S16-chip217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6-text218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영양소를 흡수해요.</a:t>
            </a:r>
            <a:endParaRPr lang="ko-KR" sz="2800" dirty="0"/>
          </a:p>
        </p:txBody>
      </p:sp>
      <p:sp>
        <p:nvSpPr>
          <p:cNvPr id="8" name="S16-chip219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6-text220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혈액을 온몸으로 보내요.</a:t>
            </a:r>
            <a:endParaRPr lang="ko-KR" sz="2800" dirty="0"/>
          </a:p>
        </p:txBody>
      </p:sp>
      <p:sp>
        <p:nvSpPr>
          <p:cNvPr id="10" name="S16-chip221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6-text222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산소를 받아들여요.</a:t>
            </a:r>
            <a:endParaRPr lang="ko-KR" sz="2800" dirty="0"/>
          </a:p>
        </p:txBody>
      </p:sp>
      <p:sp>
        <p:nvSpPr>
          <p:cNvPr id="12" name="S16-chip223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16-text224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노폐물을 걸러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오줌을 만들어요.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7-chip22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7-text226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팔을 굽힐 때 근육은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뼈를 어떻게 하나요?</a:t>
            </a:r>
            <a:endParaRPr lang="ko-KR" sz="2800" dirty="0"/>
          </a:p>
        </p:txBody>
      </p:sp>
      <p:sp>
        <p:nvSpPr>
          <p:cNvPr id="5" name="S17-chip227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7-text228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 → 식도 → □ →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작은창자 → □ → 항문</a:t>
            </a:r>
            <a:endParaRPr lang="ko-KR" sz="2800" dirty="0"/>
          </a:p>
        </p:txBody>
      </p:sp>
      <p:sp>
        <p:nvSpPr>
          <p:cNvPr id="7" name="S17-chip229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7-text230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숨을 들이쉴 때 공기가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지나는 길은?</a:t>
            </a:r>
            <a:endParaRPr lang="ko-KR" sz="2800" dirty="0"/>
          </a:p>
        </p:txBody>
      </p:sp>
      <p:sp>
        <p:nvSpPr>
          <p:cNvPr id="9" name="S17-chip231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7-text232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방광이 하는 일은?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8-card2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8-cardtext2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그림에서 길을 손가락으로 따라가 보세요.</a:t>
            </a:r>
            <a:endParaRPr lang="ko-KR" sz="2800" dirty="0"/>
          </a:p>
        </p:txBody>
      </p:sp>
      <p:sp>
        <p:nvSpPr>
          <p:cNvPr id="5" name="S18-chip235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8-text236"/>
          <p:cNvSpPr txBox="1"/>
          <p:nvPr/>
        </p:nvSpPr>
        <p:spPr>
          <a:xfrm>
            <a:off x="548640" y="20574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줄어들며 당겨요</a:t>
            </a:r>
            <a:endParaRPr lang="ko-KR" sz="2800" dirty="0"/>
          </a:p>
        </p:txBody>
      </p:sp>
      <p:sp>
        <p:nvSpPr>
          <p:cNvPr id="7" name="S18-text237"/>
          <p:cNvSpPr txBox="1"/>
          <p:nvPr/>
        </p:nvSpPr>
        <p:spPr>
          <a:xfrm>
            <a:off x="548640" y="28575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위, 큰창자</a:t>
            </a:r>
            <a:endParaRPr lang="ko-KR" sz="2800" dirty="0"/>
          </a:p>
        </p:txBody>
      </p:sp>
      <p:sp>
        <p:nvSpPr>
          <p:cNvPr id="8" name="S18-text238"/>
          <p:cNvSpPr txBox="1"/>
          <p:nvPr/>
        </p:nvSpPr>
        <p:spPr>
          <a:xfrm>
            <a:off x="548640" y="36576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코→기관→기관지→폐</a:t>
            </a:r>
            <a:endParaRPr lang="ko-KR" sz="2800" dirty="0"/>
          </a:p>
        </p:txBody>
      </p:sp>
      <p:sp>
        <p:nvSpPr>
          <p:cNvPr id="9" name="S18-text239"/>
          <p:cNvSpPr txBox="1"/>
          <p:nvPr/>
        </p:nvSpPr>
        <p:spPr>
          <a:xfrm>
            <a:off x="548640" y="44577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오줌을 모아요</a:t>
            </a:r>
            <a:endParaRPr lang="ko-KR" sz="2800" dirty="0"/>
          </a:p>
        </p:txBody>
      </p:sp>
      <p:sp>
        <p:nvSpPr>
          <p:cNvPr id="10" name="S18-chip240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1" name="S18-text241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뼈를 밀어요</a:t>
            </a:r>
            <a:endParaRPr lang="ko-KR" sz="2800" dirty="0"/>
          </a:p>
        </p:txBody>
      </p:sp>
      <p:sp>
        <p:nvSpPr>
          <p:cNvPr id="12" name="S18-text242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근육은 당김</a:t>
            </a:r>
            <a:endParaRPr lang="ko-KR" sz="2200" dirty="0"/>
          </a:p>
        </p:txBody>
      </p:sp>
      <p:sp>
        <p:nvSpPr>
          <p:cNvPr id="13" name="S18-text243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오줌을 만들어요</a:t>
            </a:r>
            <a:endParaRPr lang="ko-KR" sz="2800" dirty="0"/>
          </a:p>
        </p:txBody>
      </p:sp>
      <p:sp>
        <p:nvSpPr>
          <p:cNvPr id="14" name="S18-text244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만드는 곳은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콩팥(M4)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오줌은 어디에서 만들까요?</a:t>
            </a:r>
            <a:endParaRPr lang="ko-KR" sz="4000" dirty="0"/>
          </a:p>
        </p:txBody>
      </p:sp>
      <p:sp>
        <p:nvSpPr>
          <p:cNvPr id="3" name="S19-text24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혈액 속 노폐물을 걸러 오줌을 만드는 기관은?</a:t>
            </a:r>
            <a:endParaRPr lang="ko-KR" sz="2800" dirty="0"/>
          </a:p>
        </p:txBody>
      </p:sp>
      <p:sp>
        <p:nvSpPr>
          <p:cNvPr id="4" name="S19-card2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9-cardtext2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나머지 두 기관이 하는 일도 말해요.</a:t>
            </a:r>
            <a:endParaRPr lang="ko-KR" sz="2800" dirty="0"/>
          </a:p>
        </p:txBody>
      </p:sp>
      <p:sp>
        <p:nvSpPr>
          <p:cNvPr id="6" name="S19-chip248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9-card249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9-cardtext250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방광</a:t>
            </a:r>
            <a:endParaRPr lang="ko-KR" sz="2800" dirty="0"/>
          </a:p>
        </p:txBody>
      </p:sp>
      <p:sp>
        <p:nvSpPr>
          <p:cNvPr id="9" name="S19-chip251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19-card252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9-cardtext253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콩팥</a:t>
            </a:r>
            <a:endParaRPr lang="ko-KR" sz="2800" dirty="0"/>
          </a:p>
        </p:txBody>
      </p:sp>
      <p:sp>
        <p:nvSpPr>
          <p:cNvPr id="12" name="S19-chip254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3" name="S19-card255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9-cardtext256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큰창자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20-card257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20-cardtext258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뼈와 근육은 몸을 움직이고, 소화·호흡·순환·배설 기관은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영양소와 산소를 받아들이고 나르고, 노폐물을 내보내요.</a:t>
            </a:r>
            <a:endParaRPr lang="ko-KR" sz="2800" dirty="0"/>
          </a:p>
        </p:txBody>
      </p:sp>
      <p:sp>
        <p:nvSpPr>
          <p:cNvPr id="5" name="S20-chip259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그림에서 길을 따라 설명하기</a:t>
            </a:r>
            <a:endParaRPr lang="ko-KR" sz="2200" dirty="0"/>
          </a:p>
        </p:txBody>
      </p:sp>
      <p:sp>
        <p:nvSpPr>
          <p:cNvPr id="6" name="S20-chip260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방광이 오줌을 만든다고 생각하기</a:t>
            </a:r>
            <a:endParaRPr lang="ko-KR" sz="2200" dirty="0"/>
          </a:p>
        </p:txBody>
      </p:sp>
      <p:sp>
        <p:nvSpPr>
          <p:cNvPr id="7" name="S20-text261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20-text262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줄어들고 늘어나며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뼈를 움직이는 것은?</a:t>
            </a:r>
            <a:endParaRPr lang="ko-KR" sz="2200" dirty="0"/>
          </a:p>
        </p:txBody>
      </p:sp>
      <p:sp>
        <p:nvSpPr>
          <p:cNvPr id="9" name="S20-text263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영양소를 흡수하는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소화 기관은?</a:t>
            </a:r>
            <a:endParaRPr lang="ko-KR" sz="2200" dirty="0"/>
          </a:p>
        </p:txBody>
      </p:sp>
      <p:sp>
        <p:nvSpPr>
          <p:cNvPr id="10" name="S20-text264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노폐물을 걸러 오줌을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만드는 기관은?</a:t>
            </a:r>
            <a:endParaRPr lang="ko-KR" sz="2200" dirty="0"/>
          </a:p>
        </p:txBody>
      </p:sp>
      <p:sp>
        <p:nvSpPr>
          <p:cNvPr id="11" name="S20-text26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기관의 협력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생김새와 움직임</a:t>
            </a:r>
            <a:endParaRPr lang="ko-KR" sz="4000" dirty="0"/>
          </a:p>
        </p:txBody>
      </p:sp>
      <p:sp>
        <p:nvSpPr>
          <p:cNvPr id="3" name="S21-text26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생김새마다 하는 일이 있어요.</a:t>
            </a:r>
            <a:endParaRPr lang="ko-KR" sz="2800" dirty="0"/>
          </a:p>
        </p:txBody>
      </p:sp>
      <p:sp>
        <p:nvSpPr>
          <p:cNvPr id="4" name="S21-card26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21-cardtext26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몸속 기관도 저마다 하는 일이 있어요.</a:t>
            </a:r>
            <a:endParaRPr lang="ko-KR" sz="2800" dirty="0"/>
          </a:p>
        </p:txBody>
      </p:sp>
      <p:sp>
        <p:nvSpPr>
          <p:cNvPr id="6" name="S21-card269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21-cardtext270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새가 날아요.</a:t>
            </a:r>
            <a:endParaRPr lang="ko-KR" sz="2800" dirty="0"/>
          </a:p>
        </p:txBody>
      </p:sp>
      <p:sp>
        <p:nvSpPr>
          <p:cNvPr id="8" name="S21-card271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21-cardtext272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지느러미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물고기가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헤엄쳐요.</a:t>
            </a:r>
            <a:endParaRPr lang="ko-KR" sz="2800" dirty="0"/>
          </a:p>
        </p:txBody>
      </p:sp>
      <p:sp>
        <p:nvSpPr>
          <p:cNvPr id="10" name="S21-card273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21-cardtext274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사람과 개가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걷고 뛰어요.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과학 우리 몸의 기관</dc:title>
  <dc:subject>KR22-G05-SCI-ORGANS-L01</dc:subject>
  <dc:creator>education-ppt</dc:creator>
  <cp:lastModifiedBy>education-ppt</cp:lastModifiedBy>
  <cp:revision>1</cp:revision>
  <dcterms:created xsi:type="dcterms:W3CDTF">2026-10-26T13:50:23Z</dcterms:created>
  <dcterms:modified xsi:type="dcterms:W3CDTF">2026-10-26T13:50:23Z</dcterms:modified>
</cp:coreProperties>
</file>