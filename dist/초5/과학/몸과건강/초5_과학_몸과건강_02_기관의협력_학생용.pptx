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8c59de0-db1c-5606-1b75-9a9db68695ab}">
          <p14:sldIdLst>
            <p14:sldId id="256"/>
            <p14:sldId id="257"/>
          </p14:sldIdLst>
        </p14:section>
        <p14:section name="개념" id="{d7823414-9394-a81f-9b85-f2244b1949ef}">
          <p14:sldIdLst>
            <p14:sldId id="258"/>
            <p14:sldId id="264"/>
            <p14:sldId id="265"/>
          </p14:sldIdLst>
        </p14:section>
        <p14:section name="연습" id="{51039235-aaaf-db43-fafe-76b997d41c65}">
          <p14:sldIdLst>
            <p14:sldId id="259"/>
            <p14:sldId id="260"/>
            <p14:sldId id="261"/>
            <p14:sldId id="262"/>
            <p14:sldId id="263"/>
            <p14:sldId id="266"/>
          </p14:sldIdLst>
        </p14:section>
        <p14:section name="개념" id="{d24cd58b-6829-504c-9203-cfd1befe0e54}">
          <p14:sldIdLst/>
        </p14:section>
        <p14:section name="연습" id="{f1c118a5-03c8-3e20-ce7d-3032b2a7b4e4}">
          <p14:sldIdLst/>
        </p14:section>
        <p14:section name="확인" id="{0d1b9f5c-ae3d-32fe-ad9c-6eab1c03f2ba}">
          <p14:sldIdLst>
            <p14:sldId id="267"/>
            <p14:sldId id="268"/>
          </p14:sldIdLst>
        </p14:section>
        <p14:section name="정리" id="{acd6f2a6-5b7d-090a-c976-5100bf552b70}">
          <p14:sldIdLst>
            <p14:sldId id="269"/>
          </p14:sldIdLst>
        </p14:section>
        <p14:section name="보충" id="{9d318fe1-7b47-92eb-2262-6f638cef025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과학 · 몸과건강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기관의 협력</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운동하면 왜 숨이 차고</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가슴이 뛸까?</a:t>
            </a:r>
            <a:endParaRPr lang="ko-KR" sz="28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손바닥이 위를 향한 팔의 손목 안쪽 엄지 쪽(빨간 점)에 다른 손의 두 손가락(검지·중지)을 가볍게 대는 그림"/>
          <p:cNvSpPr/>
          <p:nvPr/>
        </p:nvSpPr>
        <p:spPr>
          <a:xfrm>
            <a:off x="7991544" y="1649592"/>
            <a:ext cx="3446811" cy="1043114"/>
          </a:xfrm>
          <a:custGeom>
            <a:avLst/>
            <a:gdLst/>
            <a:ahLst/>
            <a:cxnLst/>
            <a:rect l="l" t="t" r="r" b="b"/>
            <a:pathLst>
              <a:path w="3446811" h="1043114">
                <a:moveTo>
                  <a:pt x="0" y="770997"/>
                </a:moveTo>
                <a:lnTo>
                  <a:pt x="1904816" y="770997"/>
                </a:lnTo>
                <a:lnTo>
                  <a:pt x="2086227" y="1043114"/>
                </a:lnTo>
                <a:lnTo>
                  <a:pt x="3356105" y="952408"/>
                </a:lnTo>
                <a:lnTo>
                  <a:pt x="3446811" y="136058"/>
                </a:lnTo>
                <a:lnTo>
                  <a:pt x="2086227" y="0"/>
                </a:lnTo>
                <a:lnTo>
                  <a:pt x="1904816" y="181411"/>
                </a:lnTo>
                <a:lnTo>
                  <a:pt x="0" y="181411"/>
                </a:lnTo>
                <a:close/>
              </a:path>
            </a:pathLst>
          </a:custGeom>
          <a:solidFill>
            <a:srgbClr val="F3F4F6"/>
          </a:solidFill>
          <a:ln w="22225">
            <a:solidFill>
              <a:srgbClr val="1F2937"/>
            </a:solidFill>
            <a:prstDash val="solid"/>
          </a:ln>
        </p:spPr>
      </p:sp>
      <p:sp>
        <p:nvSpPr>
          <p:cNvPr id="6" name="S01-mark3"/>
          <p:cNvSpPr/>
          <p:nvPr/>
        </p:nvSpPr>
        <p:spPr>
          <a:xfrm>
            <a:off x="9352127" y="1332123"/>
            <a:ext cx="226764" cy="498880"/>
          </a:xfrm>
          <a:custGeom>
            <a:avLst/>
            <a:gdLst/>
            <a:ahLst/>
            <a:cxnLst/>
            <a:rect l="l" t="t" r="r" b="b"/>
            <a:pathLst>
              <a:path w="226764" h="498880">
                <a:moveTo>
                  <a:pt x="0" y="498880"/>
                </a:moveTo>
                <a:lnTo>
                  <a:pt x="226764" y="498880"/>
                </a:lnTo>
                <a:lnTo>
                  <a:pt x="226764" y="0"/>
                </a:lnTo>
                <a:lnTo>
                  <a:pt x="0" y="0"/>
                </a:lnTo>
                <a:close/>
              </a:path>
            </a:pathLst>
          </a:custGeom>
          <a:solidFill>
            <a:srgbClr val="FBD5D5"/>
          </a:solidFill>
          <a:ln w="19050">
            <a:solidFill>
              <a:srgbClr val="1F2937"/>
            </a:solidFill>
            <a:prstDash val="solid"/>
          </a:ln>
        </p:spPr>
      </p:sp>
      <p:sp>
        <p:nvSpPr>
          <p:cNvPr id="7" name="S01-mark4"/>
          <p:cNvSpPr/>
          <p:nvPr/>
        </p:nvSpPr>
        <p:spPr>
          <a:xfrm>
            <a:off x="9624244" y="1332123"/>
            <a:ext cx="226764" cy="498880"/>
          </a:xfrm>
          <a:custGeom>
            <a:avLst/>
            <a:gdLst/>
            <a:ahLst/>
            <a:cxnLst/>
            <a:rect l="l" t="t" r="r" b="b"/>
            <a:pathLst>
              <a:path w="226764" h="498880">
                <a:moveTo>
                  <a:pt x="0" y="498880"/>
                </a:moveTo>
                <a:lnTo>
                  <a:pt x="226764" y="498880"/>
                </a:lnTo>
                <a:lnTo>
                  <a:pt x="226764" y="0"/>
                </a:lnTo>
                <a:lnTo>
                  <a:pt x="0" y="0"/>
                </a:lnTo>
                <a:close/>
              </a:path>
            </a:pathLst>
          </a:custGeom>
          <a:solidFill>
            <a:srgbClr val="FBD5D5"/>
          </a:solidFill>
          <a:ln w="19050">
            <a:solidFill>
              <a:srgbClr val="1F2937"/>
            </a:solidFill>
            <a:prstDash val="solid"/>
          </a:ln>
        </p:spPr>
      </p:sp>
      <p:sp>
        <p:nvSpPr>
          <p:cNvPr id="8" name="S01-mark5"/>
          <p:cNvSpPr/>
          <p:nvPr/>
        </p:nvSpPr>
        <p:spPr>
          <a:xfrm>
            <a:off x="9519932" y="1953456"/>
            <a:ext cx="163270" cy="163270"/>
          </a:xfrm>
          <a:prstGeom prst="ellipse">
            <a:avLst/>
          </a:prstGeom>
          <a:solidFill>
            <a:srgbClr val="C8434E"/>
          </a:solidFill>
          <a:ln w="12700">
            <a:solidFill>
              <a:srgbClr val="1F2937"/>
            </a:solidFill>
            <a:prstDash val="solid"/>
          </a:ln>
        </p:spPr>
      </p:sp>
      <p:sp>
        <p:nvSpPr>
          <p:cNvPr id="9" name="S01-label7"/>
          <p:cNvSpPr txBox="1"/>
          <p:nvPr/>
        </p:nvSpPr>
        <p:spPr>
          <a:xfrm>
            <a:off x="10321804" y="2005598"/>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손바닥</a:t>
            </a:r>
            <a:endParaRPr lang="ko-KR" sz="1800" dirty="0"/>
          </a:p>
        </p:txBody>
      </p:sp>
      <p:sp>
        <p:nvSpPr>
          <p:cNvPr id="10" name="S01-label9"/>
          <p:cNvSpPr txBox="1"/>
          <p:nvPr/>
        </p:nvSpPr>
        <p:spPr>
          <a:xfrm>
            <a:off x="8438296" y="1982921"/>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손목</a:t>
            </a:r>
            <a:endParaRPr lang="ko-KR" sz="1800" dirty="0"/>
          </a:p>
        </p:txBody>
      </p:sp>
      <p:sp>
        <p:nvSpPr>
          <p:cNvPr id="11" name="S01-label11"/>
          <p:cNvSpPr txBox="1"/>
          <p:nvPr/>
        </p:nvSpPr>
        <p:spPr>
          <a:xfrm>
            <a:off x="9176371" y="2436449"/>
            <a:ext cx="85039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엄지 쪽</a:t>
            </a:r>
            <a:endParaRPr lang="ko-KR" sz="1800" dirty="0"/>
          </a:p>
        </p:txBody>
      </p:sp>
      <p:sp>
        <p:nvSpPr>
          <p:cNvPr id="12" name="S01-card12"/>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13" name="S01-cardtext13"/>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운동 전과 후의 맥박과 호흡을 재어 비교해요.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여러 기관이 함께 일하는 모습을 모형으로 설명해요.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수업 기억하기</a:t>
            </a:r>
            <a:endParaRPr lang="ko-KR" sz="4000" dirty="0"/>
          </a:p>
        </p:txBody>
      </p:sp>
      <p:sp>
        <p:nvSpPr>
          <p:cNvPr id="3" name="S02-chip14"/>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02-text15"/>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심장이 하는 일은?</a:t>
            </a:r>
            <a:endParaRPr lang="ko-KR" sz="2800" dirty="0"/>
          </a:p>
        </p:txBody>
      </p:sp>
      <p:sp>
        <p:nvSpPr>
          <p:cNvPr id="5" name="S02-chip16"/>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02-text17"/>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폐가 하는 일은?</a:t>
            </a:r>
            <a:endParaRPr lang="ko-KR" sz="2800" dirty="0"/>
          </a:p>
        </p:txBody>
      </p:sp>
      <p:sp>
        <p:nvSpPr>
          <p:cNvPr id="7" name="S02-chip18"/>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02-text19"/>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작은창자가 하는 일은?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맥박과 숨을 세는 방법</a:t>
            </a:r>
            <a:endParaRPr lang="ko-KR" sz="4000" dirty="0"/>
          </a:p>
        </p:txBody>
      </p:sp>
      <p:sp>
        <p:nvSpPr>
          <p:cNvPr id="3" name="S03-card2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2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숨은 30초 동안 세고 2를 곱해요.</a:t>
            </a:r>
            <a:endParaRPr lang="ko-KR" sz="2800" dirty="0"/>
          </a:p>
        </p:txBody>
      </p:sp>
      <p:sp>
        <p:nvSpPr>
          <p:cNvPr id="5" name="S03-figure22" descr="손바닥이 위를 향한 팔의 손목 안쪽 엄지 쪽(빨간 점)에 다른 손의 두 손가락(검지·중지)을 가볍게 대는 그림"/>
          <p:cNvSpPr/>
          <p:nvPr/>
        </p:nvSpPr>
        <p:spPr>
          <a:xfrm>
            <a:off x="7278933" y="2674855"/>
            <a:ext cx="4167878" cy="1261331"/>
          </a:xfrm>
          <a:custGeom>
            <a:avLst/>
            <a:gdLst/>
            <a:ahLst/>
            <a:cxnLst/>
            <a:rect l="l" t="t" r="r" b="b"/>
            <a:pathLst>
              <a:path w="4167878" h="1261331">
                <a:moveTo>
                  <a:pt x="0" y="932288"/>
                </a:moveTo>
                <a:lnTo>
                  <a:pt x="2303301" y="932288"/>
                </a:lnTo>
                <a:lnTo>
                  <a:pt x="2522663" y="1261331"/>
                </a:lnTo>
                <a:lnTo>
                  <a:pt x="4058197" y="1151650"/>
                </a:lnTo>
                <a:lnTo>
                  <a:pt x="4167878" y="164521"/>
                </a:lnTo>
                <a:lnTo>
                  <a:pt x="2522663" y="0"/>
                </a:lnTo>
                <a:lnTo>
                  <a:pt x="2303301" y="219362"/>
                </a:lnTo>
                <a:lnTo>
                  <a:pt x="0" y="219362"/>
                </a:lnTo>
                <a:close/>
              </a:path>
            </a:pathLst>
          </a:custGeom>
          <a:solidFill>
            <a:srgbClr val="F3F4F6"/>
          </a:solidFill>
          <a:ln w="22225">
            <a:solidFill>
              <a:srgbClr val="1F2937"/>
            </a:solidFill>
            <a:prstDash val="solid"/>
          </a:ln>
        </p:spPr>
      </p:sp>
      <p:sp>
        <p:nvSpPr>
          <p:cNvPr id="6" name="S03-mark23"/>
          <p:cNvSpPr/>
          <p:nvPr/>
        </p:nvSpPr>
        <p:spPr>
          <a:xfrm>
            <a:off x="8924148" y="2290972"/>
            <a:ext cx="274202" cy="603245"/>
          </a:xfrm>
          <a:custGeom>
            <a:avLst/>
            <a:gdLst/>
            <a:ahLst/>
            <a:cxnLst/>
            <a:rect l="l" t="t" r="r" b="b"/>
            <a:pathLst>
              <a:path w="274202" h="603245">
                <a:moveTo>
                  <a:pt x="0" y="603245"/>
                </a:moveTo>
                <a:lnTo>
                  <a:pt x="274202" y="603245"/>
                </a:lnTo>
                <a:lnTo>
                  <a:pt x="274202" y="0"/>
                </a:lnTo>
                <a:lnTo>
                  <a:pt x="0" y="0"/>
                </a:lnTo>
                <a:close/>
              </a:path>
            </a:pathLst>
          </a:custGeom>
          <a:solidFill>
            <a:srgbClr val="FBD5D5"/>
          </a:solidFill>
          <a:ln w="19050">
            <a:solidFill>
              <a:srgbClr val="1F2937"/>
            </a:solidFill>
            <a:prstDash val="solid"/>
          </a:ln>
        </p:spPr>
      </p:sp>
      <p:sp>
        <p:nvSpPr>
          <p:cNvPr id="7" name="S03-mark24"/>
          <p:cNvSpPr/>
          <p:nvPr/>
        </p:nvSpPr>
        <p:spPr>
          <a:xfrm>
            <a:off x="9253191" y="2290972"/>
            <a:ext cx="274202" cy="603245"/>
          </a:xfrm>
          <a:custGeom>
            <a:avLst/>
            <a:gdLst/>
            <a:ahLst/>
            <a:cxnLst/>
            <a:rect l="l" t="t" r="r" b="b"/>
            <a:pathLst>
              <a:path w="274202" h="603245">
                <a:moveTo>
                  <a:pt x="0" y="603245"/>
                </a:moveTo>
                <a:lnTo>
                  <a:pt x="274202" y="603245"/>
                </a:lnTo>
                <a:lnTo>
                  <a:pt x="274202" y="0"/>
                </a:lnTo>
                <a:lnTo>
                  <a:pt x="0" y="0"/>
                </a:lnTo>
                <a:close/>
              </a:path>
            </a:pathLst>
          </a:custGeom>
          <a:solidFill>
            <a:srgbClr val="FBD5D5"/>
          </a:solidFill>
          <a:ln w="19050">
            <a:solidFill>
              <a:srgbClr val="1F2937"/>
            </a:solidFill>
            <a:prstDash val="solid"/>
          </a:ln>
        </p:spPr>
      </p:sp>
      <p:sp>
        <p:nvSpPr>
          <p:cNvPr id="8" name="S03-mark25"/>
          <p:cNvSpPr/>
          <p:nvPr/>
        </p:nvSpPr>
        <p:spPr>
          <a:xfrm>
            <a:off x="9127058" y="3042286"/>
            <a:ext cx="197426" cy="197426"/>
          </a:xfrm>
          <a:prstGeom prst="ellipse">
            <a:avLst/>
          </a:prstGeom>
          <a:solidFill>
            <a:srgbClr val="C8434E"/>
          </a:solidFill>
          <a:ln w="12700">
            <a:solidFill>
              <a:srgbClr val="1F2937"/>
            </a:solidFill>
            <a:prstDash val="solid"/>
          </a:ln>
        </p:spPr>
      </p:sp>
      <p:sp>
        <p:nvSpPr>
          <p:cNvPr id="9" name="S03-label27"/>
          <p:cNvSpPr txBox="1"/>
          <p:nvPr/>
        </p:nvSpPr>
        <p:spPr>
          <a:xfrm>
            <a:off x="10178457" y="3135225"/>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손바닥</a:t>
            </a:r>
            <a:endParaRPr lang="ko-KR" sz="1800" dirty="0"/>
          </a:p>
        </p:txBody>
      </p:sp>
      <p:sp>
        <p:nvSpPr>
          <p:cNvPr id="10" name="S03-label29"/>
          <p:cNvSpPr txBox="1"/>
          <p:nvPr/>
        </p:nvSpPr>
        <p:spPr>
          <a:xfrm>
            <a:off x="7877489" y="3107805"/>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손목</a:t>
            </a:r>
            <a:endParaRPr lang="ko-KR" sz="1800" dirty="0"/>
          </a:p>
        </p:txBody>
      </p:sp>
      <p:sp>
        <p:nvSpPr>
          <p:cNvPr id="11" name="S03-label31"/>
          <p:cNvSpPr txBox="1"/>
          <p:nvPr/>
        </p:nvSpPr>
        <p:spPr>
          <a:xfrm>
            <a:off x="8800575" y="3656210"/>
            <a:ext cx="85039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엄지 쪽</a:t>
            </a:r>
            <a:endParaRPr lang="ko-KR" sz="1800" dirty="0"/>
          </a:p>
        </p:txBody>
      </p:sp>
      <p:sp>
        <p:nvSpPr>
          <p:cNvPr id="12" name="S03-stepno32"/>
          <p:cNvSpPr txBox="1"/>
          <p:nvPr/>
        </p:nvSpPr>
        <p:spPr>
          <a:xfrm>
            <a:off x="548640" y="152857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13" name="S03-text33"/>
          <p:cNvSpPr txBox="1"/>
          <p:nvPr/>
        </p:nvSpPr>
        <p:spPr>
          <a:xfrm>
            <a:off x="1325880" y="1482852"/>
            <a:ext cx="5229271"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손목 안쪽 엄지 쪽에</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두 손가락을 대요.</a:t>
            </a:r>
            <a:endParaRPr lang="ko-KR" sz="2800" dirty="0"/>
          </a:p>
        </p:txBody>
      </p:sp>
      <p:sp>
        <p:nvSpPr>
          <p:cNvPr id="14" name="S03-stepno34"/>
          <p:cNvSpPr txBox="1"/>
          <p:nvPr/>
        </p:nvSpPr>
        <p:spPr>
          <a:xfrm>
            <a:off x="548640" y="251510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5" name="S03-text35"/>
          <p:cNvSpPr txBox="1"/>
          <p:nvPr/>
        </p:nvSpPr>
        <p:spPr>
          <a:xfrm>
            <a:off x="1325880" y="2515108"/>
            <a:ext cx="5229271"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15초 동안 맥박을 세요.</a:t>
            </a:r>
            <a:endParaRPr lang="ko-KR" sz="2800" dirty="0"/>
          </a:p>
        </p:txBody>
      </p:sp>
      <p:sp>
        <p:nvSpPr>
          <p:cNvPr id="16" name="S03-stepno36"/>
          <p:cNvSpPr txBox="1"/>
          <p:nvPr/>
        </p:nvSpPr>
        <p:spPr>
          <a:xfrm>
            <a:off x="548640" y="327406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7" name="S03-text37"/>
          <p:cNvSpPr txBox="1"/>
          <p:nvPr/>
        </p:nvSpPr>
        <p:spPr>
          <a:xfrm>
            <a:off x="1325880" y="3228340"/>
            <a:ext cx="2706536" cy="1735328"/>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센 횟수에 4를 곱해요.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(예: 15초 동안 20번)</a:t>
            </a:r>
            <a:endParaRPr lang="ko-KR" sz="2800" dirty="0"/>
          </a:p>
        </p:txBody>
      </p:sp>
      <p:sp>
        <p:nvSpPr>
          <p:cNvPr id="18" name="S03-eqtext38"/>
          <p:cNvSpPr txBox="1"/>
          <p:nvPr/>
        </p:nvSpPr>
        <p:spPr>
          <a:xfrm>
            <a:off x="4032416" y="3228340"/>
            <a:ext cx="2522735" cy="1735328"/>
          </a:xfrm>
          <a:prstGeom prst="rect">
            <a:avLst/>
          </a:prstGeom>
          <a:noFill/>
          <a:ln/>
        </p:spPr>
        <p:txBody>
          <a:bodyPr wrap="square" lIns="0" tIns="0" rIns="0" bIns="0" rtlCol="0" anchor="ctr"/>
          <a:lstStyle/>
          <a:p>
            <a:pPr eaLnBrk="0" algn="l" indent="0" marL="0">
              <a:buNone/>
            </a:pPr>
            <a:r>
              <a:rPr lang="ko-KR" altLang="en-US" sz="2800" b="1" dirty="0">
                <a:solidFill>
                  <a:srgbClr val="1F2937"/>
                </a:solidFill>
                <a:latin typeface="맑은 고딕" pitchFamily="34" charset="0"/>
                <a:ea typeface="맑은 고딕" pitchFamily="34" charset="-122"/>
                <a:cs typeface="맑은 고딕" pitchFamily="34" charset="-120"/>
              </a:rPr>
              <a:t>20 × 4 = 80</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1분 동안은 몇 번일까요?</a:t>
            </a:r>
            <a:endParaRPr lang="ko-KR" sz="4000" dirty="0"/>
          </a:p>
        </p:txBody>
      </p:sp>
      <p:sp>
        <p:nvSpPr>
          <p:cNvPr id="3" name="S04-card3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4-cardtext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15초 동안 센 것은 × 4, 30초 동안 센 것은 × 2</a:t>
            </a:r>
            <a:endParaRPr lang="ko-KR" sz="2800" dirty="0"/>
          </a:p>
        </p:txBody>
      </p:sp>
      <p:sp>
        <p:nvSpPr>
          <p:cNvPr id="5" name="S04-chip41"/>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6" name="S04-text42"/>
          <p:cNvSpPr txBox="1"/>
          <p:nvPr/>
        </p:nvSpPr>
        <p:spPr>
          <a:xfrm>
            <a:off x="1344168" y="132588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맥박: 15초 동안 22번 → 1분 동안은?</a:t>
            </a:r>
            <a:endParaRPr lang="ko-KR" sz="2800" dirty="0"/>
          </a:p>
        </p:txBody>
      </p:sp>
      <p:sp>
        <p:nvSpPr>
          <p:cNvPr id="7" name="S04-chip43"/>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8" name="S04-text44"/>
          <p:cNvSpPr txBox="1"/>
          <p:nvPr/>
        </p:nvSpPr>
        <p:spPr>
          <a:xfrm>
            <a:off x="1344168" y="265176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숨: 30초 동안 10번 → 1분 동안은?</a:t>
            </a:r>
            <a:endParaRPr lang="ko-KR" sz="2800" dirty="0"/>
          </a:p>
        </p:txBody>
      </p:sp>
      <p:sp>
        <p:nvSpPr>
          <p:cNvPr id="9" name="S04-chip45"/>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0" name="S04-text46"/>
          <p:cNvSpPr txBox="1"/>
          <p:nvPr/>
        </p:nvSpPr>
        <p:spPr>
          <a:xfrm>
            <a:off x="1344168" y="397764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맥박: 15초 동안 25번 → 1분 동안은?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예상해 봐요</a:t>
            </a:r>
            <a:endParaRPr lang="ko-KR" sz="4000" dirty="0"/>
          </a:p>
        </p:txBody>
      </p:sp>
      <p:sp>
        <p:nvSpPr>
          <p:cNvPr id="3" name="S05-text4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 전과 비교해 어떻게 될까요?</a:t>
            </a:r>
            <a:endParaRPr lang="ko-KR" sz="2800" dirty="0"/>
          </a:p>
        </p:txBody>
      </p:sp>
      <p:sp>
        <p:nvSpPr>
          <p:cNvPr id="4" name="S05-card4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5-cardtext4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예상은 활동지 2에 써요.</a:t>
            </a:r>
            <a:endParaRPr lang="ko-KR" sz="2800" dirty="0"/>
          </a:p>
        </p:txBody>
      </p:sp>
      <p:graphicFrame>
        <p:nvGraphicFramePr>
          <p:cNvPr id="6" name="S05-table50"/>
          <p:cNvGraphicFramePr>
            <a:graphicFrameLocks noGrp="1"/>
          </p:cNvGraphicFramePr>
          <p:nvPr>
            <p:extLst>
              <p:ext uri="{D42A27DB-BD31-4B8C-83A1-F6EECF244321}">
                <p14:modId xmlns:p14="http://schemas.microsoft.com/office/powerpoint/2010/main" val="1579011935"/>
              </p:ext>
            </p:extLst>
          </p:nvPr>
        </p:nvGraphicFramePr>
        <p:xfrm>
          <a:off x="1065276" y="2797302"/>
          <a:ext cx="10058400" cy="914400"/>
        </p:xfrm>
        <a:graphic>
          <a:graphicData uri="http://schemas.openxmlformats.org/drawingml/2006/table">
            <a:tbl>
              <a:tblPr/>
              <a:tblGrid>
                <a:gridCol w="3017520"/>
                <a:gridCol w="3520440"/>
                <a:gridCol w="3520440"/>
              </a:tblGrid>
              <a:tr h="512572">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맥박</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숨</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직후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3분 쉰 뒤</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운동 전과 후를 재요</a:t>
            </a:r>
            <a:endParaRPr lang="ko-KR" sz="4000" dirty="0"/>
          </a:p>
        </p:txBody>
      </p:sp>
      <p:sp>
        <p:nvSpPr>
          <p:cNvPr id="3" name="S06-card5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5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안전: 어지러우면 바로 멈추고 앉아서 쉬어요.</a:t>
            </a:r>
            <a:endParaRPr lang="ko-KR" sz="2800" dirty="0"/>
          </a:p>
        </p:txBody>
      </p:sp>
      <p:sp>
        <p:nvSpPr>
          <p:cNvPr id="5" name="S06-card53"/>
          <p:cNvSpPr/>
          <p:nvPr/>
        </p:nvSpPr>
        <p:spPr>
          <a:xfrm>
            <a:off x="6813652" y="1325880"/>
            <a:ext cx="4826660" cy="3794760"/>
          </a:xfrm>
          <a:prstGeom prst="roundRect">
            <a:avLst>
              <a:gd name="adj" fmla="val 2892"/>
            </a:avLst>
          </a:prstGeom>
          <a:solidFill>
            <a:srgbClr val="EAF3F1"/>
          </a:solidFill>
          <a:ln w="12700">
            <a:solidFill>
              <a:srgbClr val="EAF3F1"/>
            </a:solidFill>
            <a:prstDash val="solid"/>
          </a:ln>
        </p:spPr>
      </p:sp>
      <p:sp>
        <p:nvSpPr>
          <p:cNvPr id="6" name="S06-cardtext54"/>
          <p:cNvSpPr txBox="1"/>
          <p:nvPr/>
        </p:nvSpPr>
        <p:spPr>
          <a:xfrm>
            <a:off x="7087972" y="1463040"/>
            <a:ext cx="4278020" cy="35204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관찰할 때 확인해요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세는 시간을 지켜요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‘번’을 붙여 써요</a:t>
            </a:r>
            <a:endParaRPr lang="ko-KR" sz="2800" dirty="0"/>
          </a:p>
        </p:txBody>
      </p:sp>
      <p:sp>
        <p:nvSpPr>
          <p:cNvPr id="7" name="S06-stepno55"/>
          <p:cNvSpPr txBox="1"/>
          <p:nvPr/>
        </p:nvSpPr>
        <p:spPr>
          <a:xfrm>
            <a:off x="548640" y="165862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8" name="S06-text56"/>
          <p:cNvSpPr txBox="1"/>
          <p:nvPr/>
        </p:nvSpPr>
        <p:spPr>
          <a:xfrm>
            <a:off x="1325880" y="1612900"/>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앉아서 1분 쉬고, 맥박(15초)과</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숨(30초)을 세요.</a:t>
            </a:r>
            <a:endParaRPr lang="ko-KR" sz="2200" dirty="0"/>
          </a:p>
        </p:txBody>
      </p:sp>
      <p:sp>
        <p:nvSpPr>
          <p:cNvPr id="9" name="S06-stepno57"/>
          <p:cNvSpPr txBox="1"/>
          <p:nvPr/>
        </p:nvSpPr>
        <p:spPr>
          <a:xfrm>
            <a:off x="548640" y="250494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0" name="S06-text58"/>
          <p:cNvSpPr txBox="1"/>
          <p:nvPr/>
        </p:nvSpPr>
        <p:spPr>
          <a:xfrm>
            <a:off x="1325880" y="2459228"/>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1분 동안 제자리에서</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가볍게 뛰어요.</a:t>
            </a:r>
            <a:endParaRPr lang="ko-KR" sz="2200" dirty="0"/>
          </a:p>
        </p:txBody>
      </p:sp>
      <p:sp>
        <p:nvSpPr>
          <p:cNvPr id="11" name="S06-stepno59"/>
          <p:cNvSpPr txBox="1"/>
          <p:nvPr/>
        </p:nvSpPr>
        <p:spPr>
          <a:xfrm>
            <a:off x="548640" y="335127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2" name="S06-text60"/>
          <p:cNvSpPr txBox="1"/>
          <p:nvPr/>
        </p:nvSpPr>
        <p:spPr>
          <a:xfrm>
            <a:off x="1325880" y="3305556"/>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바로 앉아서 맥박과</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숨을 다시 세요.</a:t>
            </a:r>
            <a:endParaRPr lang="ko-KR" sz="2200" dirty="0"/>
          </a:p>
        </p:txBody>
      </p:sp>
      <p:sp>
        <p:nvSpPr>
          <p:cNvPr id="13" name="S06-stepno61"/>
          <p:cNvSpPr txBox="1"/>
          <p:nvPr/>
        </p:nvSpPr>
        <p:spPr>
          <a:xfrm>
            <a:off x="548640" y="419760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4" name="S06-text62"/>
          <p:cNvSpPr txBox="1"/>
          <p:nvPr/>
        </p:nvSpPr>
        <p:spPr>
          <a:xfrm>
            <a:off x="1325880" y="4151884"/>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3분 쉰 뒤 한 번 더 세고</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활동지 2에 써요.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결과를 정리해요</a:t>
            </a:r>
            <a:endParaRPr lang="ko-KR" sz="4000" dirty="0"/>
          </a:p>
        </p:txBody>
      </p:sp>
      <p:sp>
        <p:nvSpPr>
          <p:cNvPr id="3" name="S07-text6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활동지 2를 보며 1분 동안의 횟수를 말해요.</a:t>
            </a:r>
            <a:endParaRPr lang="ko-KR" sz="2800" dirty="0"/>
          </a:p>
        </p:txBody>
      </p:sp>
      <p:sp>
        <p:nvSpPr>
          <p:cNvPr id="4" name="S07-card6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7-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운동 직후에 맥박과 숨은 어떻게 변했나요?</a:t>
            </a:r>
            <a:endParaRPr lang="ko-KR" sz="2800" dirty="0"/>
          </a:p>
        </p:txBody>
      </p:sp>
      <p:graphicFrame>
        <p:nvGraphicFramePr>
          <p:cNvPr id="8" name="S07-table66"/>
          <p:cNvGraphicFramePr>
            <a:graphicFrameLocks noGrp="1"/>
          </p:cNvGraphicFramePr>
          <p:nvPr>
            <p:extLst>
              <p:ext uri="{D42A27DB-BD31-4B8C-83A1-F6EECF244321}">
                <p14:modId xmlns:p14="http://schemas.microsoft.com/office/powerpoint/2010/main" val="1579011935"/>
              </p:ext>
            </p:extLst>
          </p:nvPr>
        </p:nvGraphicFramePr>
        <p:xfrm>
          <a:off x="836676" y="2541016"/>
          <a:ext cx="10515600" cy="914400"/>
        </p:xfrm>
        <a:graphic>
          <a:graphicData uri="http://schemas.openxmlformats.org/drawingml/2006/table">
            <a:tbl>
              <a:tblPr/>
              <a:tblGrid>
                <a:gridCol w="2734056"/>
                <a:gridCol w="3890772"/>
                <a:gridCol w="3890772"/>
              </a:tblGrid>
              <a:tr h="512572">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맥박(1분 동안, 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숨(1분 동안, 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직후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3분 쉰 뒤</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누구 말이 맞을까요?</a:t>
            </a:r>
            <a:endParaRPr lang="ko-KR" sz="4000" dirty="0"/>
          </a:p>
        </p:txBody>
      </p:sp>
      <p:sp>
        <p:nvSpPr>
          <p:cNvPr id="3" name="S08-card67"/>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68"/>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운동을 하면 숨이 차요.</a:t>
            </a:r>
            <a:endParaRPr lang="ko-KR" sz="2800" dirty="0"/>
          </a:p>
        </p:txBody>
      </p:sp>
      <p:sp>
        <p:nvSpPr>
          <p:cNvPr id="5" name="S08-card6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7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누구 말이 맞을까요? 무엇이 증거일까요?</a:t>
            </a:r>
            <a:endParaRPr lang="ko-KR" sz="2800" dirty="0"/>
          </a:p>
        </p:txBody>
      </p:sp>
      <p:sp>
        <p:nvSpPr>
          <p:cNvPr id="7" name="S08-chip71"/>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토끼</a:t>
            </a:r>
            <a:endParaRPr lang="ko-KR" sz="2200" dirty="0"/>
          </a:p>
        </p:txBody>
      </p:sp>
      <p:sp>
        <p:nvSpPr>
          <p:cNvPr id="8" name="S08-text72"/>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폐만 바빠지고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심장은 그대로예요.</a:t>
            </a:r>
            <a:endParaRPr lang="ko-KR" sz="2800" dirty="0"/>
          </a:p>
        </p:txBody>
      </p:sp>
      <p:sp>
        <p:nvSpPr>
          <p:cNvPr id="9" name="S08-chip73"/>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곰</a:t>
            </a:r>
            <a:endParaRPr lang="ko-KR" sz="2200" dirty="0"/>
          </a:p>
        </p:txBody>
      </p:sp>
      <p:sp>
        <p:nvSpPr>
          <p:cNvPr id="10" name="S08-text74"/>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숨도 맥박도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함께 빨라져요.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왜 함께 빨라질까요?</a:t>
            </a:r>
            <a:endParaRPr lang="ko-KR" sz="4000" dirty="0"/>
          </a:p>
        </p:txBody>
      </p:sp>
      <p:sp>
        <p:nvSpPr>
          <p:cNvPr id="3" name="S09-text7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운동할 때 근육은 산소와 영양소를 더 많이 써요.</a:t>
            </a:r>
            <a:endParaRPr lang="ko-KR" sz="2800" dirty="0"/>
          </a:p>
        </p:txBody>
      </p:sp>
      <p:sp>
        <p:nvSpPr>
          <p:cNvPr id="4" name="S09-card7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9-cardtext7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여러 기관이 함께 일해서 우리 몸이 움직여요.</a:t>
            </a:r>
            <a:endParaRPr lang="ko-KR" sz="2800" dirty="0"/>
          </a:p>
        </p:txBody>
      </p:sp>
      <p:sp>
        <p:nvSpPr>
          <p:cNvPr id="6" name="S09-card78"/>
          <p:cNvSpPr/>
          <p:nvPr/>
        </p:nvSpPr>
        <p:spPr>
          <a:xfrm>
            <a:off x="548640" y="2468880"/>
            <a:ext cx="3544824" cy="2194560"/>
          </a:xfrm>
          <a:prstGeom prst="roundRect">
            <a:avLst>
              <a:gd name="adj" fmla="val 5000"/>
            </a:avLst>
          </a:prstGeom>
          <a:solidFill>
            <a:srgbClr val="EAF3F1"/>
          </a:solidFill>
          <a:ln w="12700">
            <a:solidFill>
              <a:srgbClr val="EAF3F1"/>
            </a:solidFill>
            <a:prstDash val="solid"/>
          </a:ln>
        </p:spPr>
      </p:sp>
      <p:sp>
        <p:nvSpPr>
          <p:cNvPr id="7" name="S09-cardtext79"/>
          <p:cNvSpPr txBox="1"/>
          <p:nvPr/>
        </p:nvSpPr>
        <p:spPr>
          <a:xfrm>
            <a:off x="822960"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호흡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숨을 빨리 쉬어 산소를</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더 받아들이고 이산화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탄소를 더 내보내요.</a:t>
            </a:r>
            <a:endParaRPr lang="ko-KR" sz="2800" dirty="0"/>
          </a:p>
        </p:txBody>
      </p:sp>
      <p:sp>
        <p:nvSpPr>
          <p:cNvPr id="8" name="S09-card80"/>
          <p:cNvSpPr/>
          <p:nvPr/>
        </p:nvSpPr>
        <p:spPr>
          <a:xfrm>
            <a:off x="4322064" y="2468880"/>
            <a:ext cx="3544824" cy="2194560"/>
          </a:xfrm>
          <a:prstGeom prst="roundRect">
            <a:avLst>
              <a:gd name="adj" fmla="val 5000"/>
            </a:avLst>
          </a:prstGeom>
          <a:solidFill>
            <a:srgbClr val="EAF3F1"/>
          </a:solidFill>
          <a:ln w="12700">
            <a:solidFill>
              <a:srgbClr val="EAF3F1"/>
            </a:solidFill>
            <a:prstDash val="solid"/>
          </a:ln>
        </p:spPr>
      </p:sp>
      <p:sp>
        <p:nvSpPr>
          <p:cNvPr id="9" name="S09-cardtext81"/>
          <p:cNvSpPr txBox="1"/>
          <p:nvPr/>
        </p:nvSpPr>
        <p:spPr>
          <a:xfrm>
            <a:off x="4596384"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순환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심장이 빨리 뛰어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산소와 영양소를</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근육에 더 빨리 날라요.</a:t>
            </a:r>
            <a:endParaRPr lang="ko-KR" sz="2800" dirty="0"/>
          </a:p>
        </p:txBody>
      </p:sp>
      <p:sp>
        <p:nvSpPr>
          <p:cNvPr id="10" name="S09-card82"/>
          <p:cNvSpPr/>
          <p:nvPr/>
        </p:nvSpPr>
        <p:spPr>
          <a:xfrm>
            <a:off x="8095488" y="2468880"/>
            <a:ext cx="3544824" cy="2194560"/>
          </a:xfrm>
          <a:prstGeom prst="roundRect">
            <a:avLst>
              <a:gd name="adj" fmla="val 5000"/>
            </a:avLst>
          </a:prstGeom>
          <a:solidFill>
            <a:srgbClr val="EAF3F1"/>
          </a:solidFill>
          <a:ln w="12700">
            <a:solidFill>
              <a:srgbClr val="EAF3F1"/>
            </a:solidFill>
            <a:prstDash val="solid"/>
          </a:ln>
        </p:spPr>
      </p:sp>
      <p:sp>
        <p:nvSpPr>
          <p:cNvPr id="11" name="S09-cardtext83"/>
          <p:cNvSpPr txBox="1"/>
          <p:nvPr/>
        </p:nvSpPr>
        <p:spPr>
          <a:xfrm>
            <a:off x="8369808"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소화·배설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영양소를 흡수하고,</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늘어난 노폐물을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내보내요.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기관이 함께 일하는 모형</a:t>
            </a:r>
            <a:endParaRPr lang="ko-KR" sz="4000" dirty="0"/>
          </a:p>
        </p:txBody>
      </p:sp>
      <p:sp>
        <p:nvSpPr>
          <p:cNvPr id="3" name="S10-text84"/>
          <p:cNvSpPr txBox="1"/>
          <p:nvPr/>
        </p:nvSpPr>
        <p:spPr>
          <a:xfrm>
            <a:off x="548640" y="1325880"/>
            <a:ext cx="11091672" cy="867664"/>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가운데 순환 기관이 산소와 영양소를 나르고,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이산화 탄소와 노폐물을 실어 가요.</a:t>
            </a:r>
            <a:endParaRPr lang="ko-KR" sz="2800" dirty="0"/>
          </a:p>
        </p:txBody>
      </p:sp>
      <p:sp>
        <p:nvSpPr>
          <p:cNvPr id="4" name="S10-figure85" descr="기관 협력 모형: 가운데 순환 기관(심장·혈관) 상자. 위의 폐(호흡 기관)에서 산소가 들어오고 이산화 탄소가 폐로 나감. 왼쪽 작은창자(소화 기관)에서 영양소가 들어옴. 오른쪽 근육(운동 기관)으로 산소·영양소가 가고, 근육에서 이산화 탄소·노폐물이 돌아옴. 아래 콩팥(배설 기관)으로 노폐물이 감"/>
          <p:cNvSpPr/>
          <p:nvPr/>
        </p:nvSpPr>
        <p:spPr>
          <a:xfrm>
            <a:off x="5301257"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BD5D5"/>
          </a:solidFill>
          <a:ln w="25400">
            <a:solidFill>
              <a:srgbClr val="1F2937"/>
            </a:solidFill>
            <a:prstDash val="solid"/>
          </a:ln>
        </p:spPr>
      </p:sp>
      <p:sp>
        <p:nvSpPr>
          <p:cNvPr id="5" name="S10-mark86"/>
          <p:cNvSpPr/>
          <p:nvPr/>
        </p:nvSpPr>
        <p:spPr>
          <a:xfrm>
            <a:off x="5301257" y="2501992"/>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DBEAFE"/>
          </a:solidFill>
          <a:ln w="25400">
            <a:solidFill>
              <a:srgbClr val="1F2937"/>
            </a:solidFill>
            <a:prstDash val="solid"/>
          </a:ln>
        </p:spPr>
      </p:sp>
      <p:sp>
        <p:nvSpPr>
          <p:cNvPr id="6" name="S10-mark87"/>
          <p:cNvSpPr/>
          <p:nvPr/>
        </p:nvSpPr>
        <p:spPr>
          <a:xfrm>
            <a:off x="2712859"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DE8C8"/>
          </a:solidFill>
          <a:ln w="25400">
            <a:solidFill>
              <a:srgbClr val="1F2937"/>
            </a:solidFill>
            <a:prstDash val="solid"/>
          </a:ln>
        </p:spPr>
      </p:sp>
      <p:sp>
        <p:nvSpPr>
          <p:cNvPr id="7" name="S10-mark88"/>
          <p:cNvSpPr/>
          <p:nvPr/>
        </p:nvSpPr>
        <p:spPr>
          <a:xfrm>
            <a:off x="7889656"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E5E7EB"/>
          </a:solidFill>
          <a:ln w="25400">
            <a:solidFill>
              <a:srgbClr val="1F2937"/>
            </a:solidFill>
            <a:prstDash val="solid"/>
          </a:ln>
        </p:spPr>
      </p:sp>
      <p:sp>
        <p:nvSpPr>
          <p:cNvPr id="8" name="S10-mark89"/>
          <p:cNvSpPr/>
          <p:nvPr/>
        </p:nvSpPr>
        <p:spPr>
          <a:xfrm>
            <a:off x="5301257" y="5340881"/>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5E6CC"/>
          </a:solidFill>
          <a:ln w="25400">
            <a:solidFill>
              <a:srgbClr val="1F2937"/>
            </a:solidFill>
            <a:prstDash val="solid"/>
          </a:ln>
        </p:spPr>
      </p:sp>
      <p:sp>
        <p:nvSpPr>
          <p:cNvPr id="9" name="S10-mark90"/>
          <p:cNvSpPr/>
          <p:nvPr/>
        </p:nvSpPr>
        <p:spPr>
          <a:xfrm>
            <a:off x="5843986" y="3253463"/>
            <a:ext cx="0" cy="667974"/>
          </a:xfrm>
          <a:prstGeom prst="line">
            <a:avLst/>
          </a:prstGeom>
          <a:noFill/>
          <a:ln w="31750">
            <a:solidFill>
              <a:srgbClr val="3D5A80"/>
            </a:solidFill>
            <a:prstDash val="solid"/>
            <a:tailEnd type="triangle"/>
          </a:ln>
        </p:spPr>
      </p:sp>
      <p:sp>
        <p:nvSpPr>
          <p:cNvPr id="10" name="S10-mark91"/>
          <p:cNvSpPr/>
          <p:nvPr/>
        </p:nvSpPr>
        <p:spPr>
          <a:xfrm flipV="1">
            <a:off x="6344966" y="3253463"/>
            <a:ext cx="0" cy="667974"/>
          </a:xfrm>
          <a:prstGeom prst="line">
            <a:avLst/>
          </a:prstGeom>
          <a:noFill/>
          <a:ln w="31750">
            <a:solidFill>
              <a:srgbClr val="6B7280"/>
            </a:solidFill>
            <a:prstDash val="solid"/>
            <a:tailEnd type="triangle"/>
          </a:ln>
        </p:spPr>
      </p:sp>
      <p:sp>
        <p:nvSpPr>
          <p:cNvPr id="11" name="S10-mark92"/>
          <p:cNvSpPr/>
          <p:nvPr/>
        </p:nvSpPr>
        <p:spPr>
          <a:xfrm>
            <a:off x="4299296" y="4297172"/>
            <a:ext cx="1001961" cy="0"/>
          </a:xfrm>
          <a:prstGeom prst="line">
            <a:avLst/>
          </a:prstGeom>
          <a:noFill/>
          <a:ln w="31750">
            <a:solidFill>
              <a:srgbClr val="B45309"/>
            </a:solidFill>
            <a:prstDash val="solid"/>
            <a:tailEnd type="triangle"/>
          </a:ln>
        </p:spPr>
      </p:sp>
      <p:sp>
        <p:nvSpPr>
          <p:cNvPr id="12" name="S10-mark93"/>
          <p:cNvSpPr/>
          <p:nvPr/>
        </p:nvSpPr>
        <p:spPr>
          <a:xfrm>
            <a:off x="6887695" y="4130179"/>
            <a:ext cx="1001961" cy="0"/>
          </a:xfrm>
          <a:prstGeom prst="line">
            <a:avLst/>
          </a:prstGeom>
          <a:noFill/>
          <a:ln w="31750">
            <a:solidFill>
              <a:srgbClr val="C8434E"/>
            </a:solidFill>
            <a:prstDash val="solid"/>
            <a:tailEnd type="triangle"/>
          </a:ln>
        </p:spPr>
      </p:sp>
      <p:sp>
        <p:nvSpPr>
          <p:cNvPr id="13" name="S10-mark94"/>
          <p:cNvSpPr/>
          <p:nvPr/>
        </p:nvSpPr>
        <p:spPr>
          <a:xfrm flipH="1">
            <a:off x="6887695" y="4464165"/>
            <a:ext cx="1001961" cy="0"/>
          </a:xfrm>
          <a:prstGeom prst="line">
            <a:avLst/>
          </a:prstGeom>
          <a:noFill/>
          <a:ln w="31750">
            <a:solidFill>
              <a:srgbClr val="6B7280"/>
            </a:solidFill>
            <a:prstDash val="solid"/>
            <a:tailEnd type="triangle"/>
          </a:ln>
        </p:spPr>
      </p:sp>
      <p:sp>
        <p:nvSpPr>
          <p:cNvPr id="14" name="S10-mark95"/>
          <p:cNvSpPr/>
          <p:nvPr/>
        </p:nvSpPr>
        <p:spPr>
          <a:xfrm>
            <a:off x="6094476" y="4672907"/>
            <a:ext cx="0" cy="667974"/>
          </a:xfrm>
          <a:prstGeom prst="line">
            <a:avLst/>
          </a:prstGeom>
          <a:noFill/>
          <a:ln w="31750">
            <a:solidFill>
              <a:srgbClr val="6B7280"/>
            </a:solidFill>
            <a:prstDash val="solid"/>
            <a:tailEnd type="triangle"/>
          </a:ln>
        </p:spPr>
      </p:sp>
      <p:sp>
        <p:nvSpPr>
          <p:cNvPr id="15" name="S10-label97"/>
          <p:cNvSpPr txBox="1"/>
          <p:nvPr/>
        </p:nvSpPr>
        <p:spPr>
          <a:xfrm>
            <a:off x="5355082" y="3997302"/>
            <a:ext cx="1478788"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심장·혈관</a:t>
            </a:r>
            <a:endParaRPr lang="ko-KR" sz="2200" dirty="0"/>
          </a:p>
        </p:txBody>
      </p:sp>
      <p:sp>
        <p:nvSpPr>
          <p:cNvPr id="16" name="S10-label99"/>
          <p:cNvSpPr txBox="1"/>
          <p:nvPr/>
        </p:nvSpPr>
        <p:spPr>
          <a:xfrm>
            <a:off x="5557266"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순환 기관</a:t>
            </a:r>
            <a:endParaRPr lang="ko-KR" sz="1800" dirty="0"/>
          </a:p>
        </p:txBody>
      </p:sp>
      <p:sp>
        <p:nvSpPr>
          <p:cNvPr id="17" name="S10-label101"/>
          <p:cNvSpPr txBox="1"/>
          <p:nvPr/>
        </p:nvSpPr>
        <p:spPr>
          <a:xfrm>
            <a:off x="5902706" y="2577858"/>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폐</a:t>
            </a:r>
            <a:endParaRPr lang="ko-KR" sz="2200" dirty="0"/>
          </a:p>
        </p:txBody>
      </p:sp>
      <p:sp>
        <p:nvSpPr>
          <p:cNvPr id="18" name="S10-label103"/>
          <p:cNvSpPr txBox="1"/>
          <p:nvPr/>
        </p:nvSpPr>
        <p:spPr>
          <a:xfrm>
            <a:off x="5557266" y="2922720"/>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호흡 기관</a:t>
            </a:r>
            <a:endParaRPr lang="ko-KR" sz="1800" dirty="0"/>
          </a:p>
        </p:txBody>
      </p:sp>
      <p:sp>
        <p:nvSpPr>
          <p:cNvPr id="19" name="S10-label105"/>
          <p:cNvSpPr txBox="1"/>
          <p:nvPr/>
        </p:nvSpPr>
        <p:spPr>
          <a:xfrm>
            <a:off x="2903589" y="3997302"/>
            <a:ext cx="1204976"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작은창자</a:t>
            </a:r>
            <a:endParaRPr lang="ko-KR" sz="2200" dirty="0"/>
          </a:p>
        </p:txBody>
      </p:sp>
      <p:sp>
        <p:nvSpPr>
          <p:cNvPr id="20" name="S10-label107"/>
          <p:cNvSpPr txBox="1"/>
          <p:nvPr/>
        </p:nvSpPr>
        <p:spPr>
          <a:xfrm>
            <a:off x="2968867"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소화 기관</a:t>
            </a:r>
            <a:endParaRPr lang="ko-KR" sz="1800" dirty="0"/>
          </a:p>
        </p:txBody>
      </p:sp>
      <p:sp>
        <p:nvSpPr>
          <p:cNvPr id="21" name="S10-label109"/>
          <p:cNvSpPr txBox="1"/>
          <p:nvPr/>
        </p:nvSpPr>
        <p:spPr>
          <a:xfrm>
            <a:off x="8354199" y="3997302"/>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근육</a:t>
            </a:r>
            <a:endParaRPr lang="ko-KR" sz="2200" dirty="0"/>
          </a:p>
        </p:txBody>
      </p:sp>
      <p:sp>
        <p:nvSpPr>
          <p:cNvPr id="22" name="S10-label111"/>
          <p:cNvSpPr txBox="1"/>
          <p:nvPr/>
        </p:nvSpPr>
        <p:spPr>
          <a:xfrm>
            <a:off x="8145665"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운동 기관</a:t>
            </a:r>
            <a:endParaRPr lang="ko-KR" sz="1800" dirty="0"/>
          </a:p>
        </p:txBody>
      </p:sp>
      <p:sp>
        <p:nvSpPr>
          <p:cNvPr id="23" name="S10-label113"/>
          <p:cNvSpPr txBox="1"/>
          <p:nvPr/>
        </p:nvSpPr>
        <p:spPr>
          <a:xfrm>
            <a:off x="5765800" y="5416746"/>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콩팥</a:t>
            </a:r>
            <a:endParaRPr lang="ko-KR" sz="2200" dirty="0"/>
          </a:p>
        </p:txBody>
      </p:sp>
      <p:sp>
        <p:nvSpPr>
          <p:cNvPr id="24" name="S10-label115"/>
          <p:cNvSpPr txBox="1"/>
          <p:nvPr/>
        </p:nvSpPr>
        <p:spPr>
          <a:xfrm>
            <a:off x="5557266" y="5761609"/>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배설 기관</a:t>
            </a:r>
            <a:endParaRPr lang="ko-KR" sz="1800" dirty="0"/>
          </a:p>
        </p:txBody>
      </p:sp>
      <p:sp>
        <p:nvSpPr>
          <p:cNvPr id="25" name="S10-label117"/>
          <p:cNvSpPr txBox="1"/>
          <p:nvPr/>
        </p:nvSpPr>
        <p:spPr>
          <a:xfrm>
            <a:off x="5105862" y="3444575"/>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산소</a:t>
            </a:r>
            <a:endParaRPr lang="ko-KR" sz="1800" dirty="0"/>
          </a:p>
        </p:txBody>
      </p:sp>
      <p:sp>
        <p:nvSpPr>
          <p:cNvPr id="26" name="S10-label119"/>
          <p:cNvSpPr txBox="1"/>
          <p:nvPr/>
        </p:nvSpPr>
        <p:spPr>
          <a:xfrm>
            <a:off x="6384590" y="3444575"/>
            <a:ext cx="1298448"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이산화 탄소</a:t>
            </a:r>
            <a:endParaRPr lang="ko-KR" sz="1800" dirty="0"/>
          </a:p>
        </p:txBody>
      </p:sp>
      <p:sp>
        <p:nvSpPr>
          <p:cNvPr id="27" name="S10-label121"/>
          <p:cNvSpPr txBox="1"/>
          <p:nvPr/>
        </p:nvSpPr>
        <p:spPr>
          <a:xfrm>
            <a:off x="4409371" y="3945555"/>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영양소</a:t>
            </a:r>
            <a:endParaRPr lang="ko-KR" sz="1800" dirty="0"/>
          </a:p>
        </p:txBody>
      </p:sp>
      <p:sp>
        <p:nvSpPr>
          <p:cNvPr id="28" name="S10-label123"/>
          <p:cNvSpPr txBox="1"/>
          <p:nvPr/>
        </p:nvSpPr>
        <p:spPr>
          <a:xfrm>
            <a:off x="6661727" y="3632442"/>
            <a:ext cx="1453896"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산소·영양소</a:t>
            </a:r>
            <a:endParaRPr lang="ko-KR" sz="1800" dirty="0"/>
          </a:p>
        </p:txBody>
      </p:sp>
      <p:sp>
        <p:nvSpPr>
          <p:cNvPr id="29" name="S10-label125"/>
          <p:cNvSpPr txBox="1"/>
          <p:nvPr/>
        </p:nvSpPr>
        <p:spPr>
          <a:xfrm>
            <a:off x="6291395" y="4676152"/>
            <a:ext cx="219456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이산화 탄소·노폐물</a:t>
            </a:r>
            <a:endParaRPr lang="ko-KR" sz="1800" dirty="0"/>
          </a:p>
        </p:txBody>
      </p:sp>
      <p:sp>
        <p:nvSpPr>
          <p:cNvPr id="30" name="S10-label127"/>
          <p:cNvSpPr txBox="1"/>
          <p:nvPr/>
        </p:nvSpPr>
        <p:spPr>
          <a:xfrm>
            <a:off x="6204550" y="4864019"/>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노폐물</a:t>
            </a:r>
            <a:endParaRPr lang="ko-KR" sz="1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기관이 할까요?</a:t>
            </a:r>
            <a:endParaRPr lang="ko-KR" sz="4000" dirty="0"/>
          </a:p>
        </p:txBody>
      </p:sp>
      <p:sp>
        <p:nvSpPr>
          <p:cNvPr id="3" name="S11-text12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모형을 떠올리며 어느 기관이 하는지 말해요.</a:t>
            </a:r>
            <a:endParaRPr lang="ko-KR" sz="2800" dirty="0"/>
          </a:p>
        </p:txBody>
      </p:sp>
      <p:sp>
        <p:nvSpPr>
          <p:cNvPr id="4" name="S11-card12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1-cardtext1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화살표가 어디에서 시작했나요?</a:t>
            </a:r>
            <a:endParaRPr lang="ko-KR" sz="2800" dirty="0"/>
          </a:p>
        </p:txBody>
      </p:sp>
      <p:sp>
        <p:nvSpPr>
          <p:cNvPr id="6" name="S11-chip131"/>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7" name="S11-text132"/>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산소를 받아들여요.</a:t>
            </a:r>
            <a:endParaRPr lang="ko-KR" sz="2800" dirty="0"/>
          </a:p>
        </p:txBody>
      </p:sp>
      <p:sp>
        <p:nvSpPr>
          <p:cNvPr id="8" name="S11-chip133"/>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9" name="S11-text134"/>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영양소를 흡수해요.</a:t>
            </a:r>
            <a:endParaRPr lang="ko-KR" sz="2800" dirty="0"/>
          </a:p>
        </p:txBody>
      </p:sp>
      <p:sp>
        <p:nvSpPr>
          <p:cNvPr id="10" name="S11-chip135"/>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1" name="S11-text136"/>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산소와 영양소를</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근육으로 날라요.</a:t>
            </a:r>
            <a:endParaRPr lang="ko-KR" sz="2800" dirty="0"/>
          </a:p>
        </p:txBody>
      </p:sp>
      <p:sp>
        <p:nvSpPr>
          <p:cNvPr id="12" name="S11-chip137"/>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3" name="S11-text138"/>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노폐물을 걸러</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내보내요.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2-chip139"/>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12-text140"/>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15초 동안 맥박이 27번이면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1분 동안은 몇 번일까요?</a:t>
            </a:r>
            <a:endParaRPr lang="ko-KR" sz="2800" dirty="0"/>
          </a:p>
        </p:txBody>
      </p:sp>
      <p:sp>
        <p:nvSpPr>
          <p:cNvPr id="5" name="S12-chip141"/>
          <p:cNvSpPr txBox="1"/>
          <p:nvPr/>
        </p:nvSpPr>
        <p:spPr>
          <a:xfrm>
            <a:off x="6277356"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12-text142"/>
          <p:cNvSpPr txBox="1"/>
          <p:nvPr/>
        </p:nvSpPr>
        <p:spPr>
          <a:xfrm>
            <a:off x="7072884"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운동하면 숨이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빨라지는 까닭은?</a:t>
            </a:r>
            <a:endParaRPr lang="ko-KR" sz="2800" dirty="0"/>
          </a:p>
        </p:txBody>
      </p:sp>
      <p:sp>
        <p:nvSpPr>
          <p:cNvPr id="7" name="S12-chip143"/>
          <p:cNvSpPr txBox="1"/>
          <p:nvPr/>
        </p:nvSpPr>
        <p:spPr>
          <a:xfrm>
            <a:off x="548640"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12-text144"/>
          <p:cNvSpPr txBox="1"/>
          <p:nvPr/>
        </p:nvSpPr>
        <p:spPr>
          <a:xfrm>
            <a:off x="1344168"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운동하면 맥박이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빨라지는 까닭은?</a:t>
            </a:r>
            <a:endParaRPr lang="ko-KR" sz="2800" dirty="0"/>
          </a:p>
        </p:txBody>
      </p:sp>
      <p:sp>
        <p:nvSpPr>
          <p:cNvPr id="9" name="S12-chip145"/>
          <p:cNvSpPr txBox="1"/>
          <p:nvPr/>
        </p:nvSpPr>
        <p:spPr>
          <a:xfrm>
            <a:off x="6277356"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0" name="S12-text146"/>
          <p:cNvSpPr txBox="1"/>
          <p:nvPr/>
        </p:nvSpPr>
        <p:spPr>
          <a:xfrm>
            <a:off x="7072884"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영양소를 근육까지</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나르는 두 기관은?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운동 직후에 잰 것은?</a:t>
            </a:r>
            <a:endParaRPr lang="ko-KR" sz="4000" dirty="0"/>
          </a:p>
        </p:txBody>
      </p:sp>
      <p:sp>
        <p:nvSpPr>
          <p:cNvPr id="3" name="S14-text14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하늘이가 잰 1분 동안의 맥박이에요. 순서는 섞여 있어요.</a:t>
            </a:r>
            <a:endParaRPr lang="ko-KR" sz="2800" dirty="0"/>
          </a:p>
        </p:txBody>
      </p:sp>
      <p:sp>
        <p:nvSpPr>
          <p:cNvPr id="4" name="S14-card148"/>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14-cardtext14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고르고, 나머지 두 값은 언제 잰 것인지 말해요.</a:t>
            </a:r>
            <a:endParaRPr lang="ko-KR" sz="2800" dirty="0"/>
          </a:p>
        </p:txBody>
      </p:sp>
      <p:sp>
        <p:nvSpPr>
          <p:cNvPr id="6" name="S14-chip150"/>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7" name="S14-card151"/>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14-cardtext152"/>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76번</a:t>
            </a:r>
            <a:endParaRPr lang="ko-KR" sz="2800" dirty="0"/>
          </a:p>
        </p:txBody>
      </p:sp>
      <p:sp>
        <p:nvSpPr>
          <p:cNvPr id="9" name="S14-chip153"/>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10" name="S14-card154"/>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14-cardtext155"/>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120번</a:t>
            </a:r>
            <a:endParaRPr lang="ko-KR" sz="2800" dirty="0"/>
          </a:p>
        </p:txBody>
      </p:sp>
      <p:sp>
        <p:nvSpPr>
          <p:cNvPr id="12" name="S14-chip156"/>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3" name="S14-card157"/>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14-cardtext158"/>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84번</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5-card159"/>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5-cardtext160"/>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운동하면 근육이 산소와 영양소를 많이 써서 숨과 맥박이 빨라져요.</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여러 기관이 함께 일해 우리 몸을 움직여요.</a:t>
            </a:r>
            <a:endParaRPr lang="ko-KR" sz="2800" dirty="0"/>
          </a:p>
        </p:txBody>
      </p:sp>
      <p:sp>
        <p:nvSpPr>
          <p:cNvPr id="5" name="S15-chip161"/>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잰 값을 증거로 설명하기</a:t>
            </a:r>
            <a:endParaRPr lang="ko-KR" sz="2200" dirty="0"/>
          </a:p>
        </p:txBody>
      </p:sp>
      <p:sp>
        <p:nvSpPr>
          <p:cNvPr id="6" name="S15-chip162"/>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기관이 따로따로 일한다고 생각하기</a:t>
            </a:r>
            <a:endParaRPr lang="ko-KR" sz="2200" dirty="0"/>
          </a:p>
        </p:txBody>
      </p:sp>
      <p:sp>
        <p:nvSpPr>
          <p:cNvPr id="7" name="S15-text163"/>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5-text164"/>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15초 동안 센 맥박으로</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1분 값을 구하려면?</a:t>
            </a:r>
            <a:endParaRPr lang="ko-KR" sz="2200" dirty="0"/>
          </a:p>
        </p:txBody>
      </p:sp>
      <p:sp>
        <p:nvSpPr>
          <p:cNvPr id="9" name="S15-text165"/>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운동 직후 맥박과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숨은 어떻게 되나요?</a:t>
            </a:r>
            <a:endParaRPr lang="ko-KR" sz="2200" dirty="0"/>
          </a:p>
        </p:txBody>
      </p:sp>
      <p:sp>
        <p:nvSpPr>
          <p:cNvPr id="10" name="S15-text166"/>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산소와 영양소를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나르는 기관은?</a:t>
            </a:r>
            <a:endParaRPr lang="ko-KR" sz="2200" dirty="0"/>
          </a:p>
        </p:txBody>
      </p:sp>
      <p:sp>
        <p:nvSpPr>
          <p:cNvPr id="11" name="S15-text167"/>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날씨 요소</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기관이 하는 일</a:t>
            </a:r>
            <a:endParaRPr lang="ko-KR" sz="4000" dirty="0"/>
          </a:p>
        </p:txBody>
      </p:sp>
      <p:sp>
        <p:nvSpPr>
          <p:cNvPr id="3" name="S16-text16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네 기관이 하는 일을 다시 봐요.</a:t>
            </a:r>
            <a:endParaRPr lang="ko-KR" sz="2800" dirty="0"/>
          </a:p>
        </p:txBody>
      </p:sp>
      <p:sp>
        <p:nvSpPr>
          <p:cNvPr id="4" name="S16-card16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6-cardtext17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오늘은 이 기관들이 함께 일하는 모습을 알아봐요.</a:t>
            </a:r>
            <a:endParaRPr lang="ko-KR" sz="2800" dirty="0"/>
          </a:p>
        </p:txBody>
      </p:sp>
      <p:sp>
        <p:nvSpPr>
          <p:cNvPr id="6" name="S16-card171"/>
          <p:cNvSpPr/>
          <p:nvPr/>
        </p:nvSpPr>
        <p:spPr>
          <a:xfrm>
            <a:off x="548640" y="2011680"/>
            <a:ext cx="5431536" cy="1440180"/>
          </a:xfrm>
          <a:prstGeom prst="roundRect">
            <a:avLst>
              <a:gd name="adj" fmla="val 7619"/>
            </a:avLst>
          </a:prstGeom>
          <a:solidFill>
            <a:srgbClr val="EAF3F1"/>
          </a:solidFill>
          <a:ln w="12700">
            <a:solidFill>
              <a:srgbClr val="EAF3F1"/>
            </a:solidFill>
            <a:prstDash val="solid"/>
          </a:ln>
        </p:spPr>
      </p:sp>
      <p:sp>
        <p:nvSpPr>
          <p:cNvPr id="7" name="S16-cardtext172"/>
          <p:cNvSpPr txBox="1"/>
          <p:nvPr/>
        </p:nvSpPr>
        <p:spPr>
          <a:xfrm>
            <a:off x="822960"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심장</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혈액을 온몸으로</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보내요.</a:t>
            </a:r>
            <a:endParaRPr lang="ko-KR" sz="2200" dirty="0"/>
          </a:p>
        </p:txBody>
      </p:sp>
      <p:sp>
        <p:nvSpPr>
          <p:cNvPr id="8" name="S16-card173"/>
          <p:cNvSpPr/>
          <p:nvPr/>
        </p:nvSpPr>
        <p:spPr>
          <a:xfrm>
            <a:off x="6208776" y="2011680"/>
            <a:ext cx="5431536" cy="1440180"/>
          </a:xfrm>
          <a:prstGeom prst="roundRect">
            <a:avLst>
              <a:gd name="adj" fmla="val 7619"/>
            </a:avLst>
          </a:prstGeom>
          <a:solidFill>
            <a:srgbClr val="EAF3F1"/>
          </a:solidFill>
          <a:ln w="12700">
            <a:solidFill>
              <a:srgbClr val="EAF3F1"/>
            </a:solidFill>
            <a:prstDash val="solid"/>
          </a:ln>
        </p:spPr>
      </p:sp>
      <p:sp>
        <p:nvSpPr>
          <p:cNvPr id="9" name="S16-cardtext174"/>
          <p:cNvSpPr txBox="1"/>
          <p:nvPr/>
        </p:nvSpPr>
        <p:spPr>
          <a:xfrm>
            <a:off x="6483096"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폐</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산소를 받아들이고</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이산화 탄소를 내보내요.</a:t>
            </a:r>
            <a:endParaRPr lang="ko-KR" sz="2200" dirty="0"/>
          </a:p>
        </p:txBody>
      </p:sp>
      <p:sp>
        <p:nvSpPr>
          <p:cNvPr id="10" name="S16-card175"/>
          <p:cNvSpPr/>
          <p:nvPr/>
        </p:nvSpPr>
        <p:spPr>
          <a:xfrm>
            <a:off x="548640" y="3680460"/>
            <a:ext cx="5431536" cy="1440180"/>
          </a:xfrm>
          <a:prstGeom prst="roundRect">
            <a:avLst>
              <a:gd name="adj" fmla="val 7619"/>
            </a:avLst>
          </a:prstGeom>
          <a:solidFill>
            <a:srgbClr val="EAF3F1"/>
          </a:solidFill>
          <a:ln w="12700">
            <a:solidFill>
              <a:srgbClr val="EAF3F1"/>
            </a:solidFill>
            <a:prstDash val="solid"/>
          </a:ln>
        </p:spPr>
      </p:sp>
      <p:sp>
        <p:nvSpPr>
          <p:cNvPr id="11" name="S16-cardtext176"/>
          <p:cNvSpPr txBox="1"/>
          <p:nvPr/>
        </p:nvSpPr>
        <p:spPr>
          <a:xfrm>
            <a:off x="822960"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작은창자</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영양소를</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흡수해요.</a:t>
            </a:r>
            <a:endParaRPr lang="ko-KR" sz="2200" dirty="0"/>
          </a:p>
        </p:txBody>
      </p:sp>
      <p:sp>
        <p:nvSpPr>
          <p:cNvPr id="12" name="S16-card177"/>
          <p:cNvSpPr/>
          <p:nvPr/>
        </p:nvSpPr>
        <p:spPr>
          <a:xfrm>
            <a:off x="6208776" y="3680460"/>
            <a:ext cx="5431536" cy="1440180"/>
          </a:xfrm>
          <a:prstGeom prst="roundRect">
            <a:avLst>
              <a:gd name="adj" fmla="val 7619"/>
            </a:avLst>
          </a:prstGeom>
          <a:solidFill>
            <a:srgbClr val="EAF3F1"/>
          </a:solidFill>
          <a:ln w="12700">
            <a:solidFill>
              <a:srgbClr val="EAF3F1"/>
            </a:solidFill>
            <a:prstDash val="solid"/>
          </a:ln>
        </p:spPr>
      </p:sp>
      <p:sp>
        <p:nvSpPr>
          <p:cNvPr id="13" name="S16-cardtext178"/>
          <p:cNvSpPr txBox="1"/>
          <p:nvPr/>
        </p:nvSpPr>
        <p:spPr>
          <a:xfrm>
            <a:off x="6483096"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콩팥</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노폐물을 걸러</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오줌을 만들어요.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초5 과학 기관의 협력</dc:title>
  <dc:subject>KR22-G05-SCI-TOGETHER-L01</dc:subject>
  <dc:creator>education-ppt</dc:creator>
  <cp:lastModifiedBy>education-ppt</cp:lastModifiedBy>
  <cp:revision>1</cp:revision>
  <dcterms:created xsi:type="dcterms:W3CDTF">2026-10-26T13:53:59Z</dcterms:created>
  <dcterms:modified xsi:type="dcterms:W3CDTF">2026-10-26T13:53:59Z</dcterms:modified>
</cp:coreProperties>
</file>