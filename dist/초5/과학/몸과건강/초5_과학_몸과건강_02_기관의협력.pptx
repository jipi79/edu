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0eeb08e-5fcd-a62b-2d23-6d177a55dab8}">
          <p14:sldIdLst>
            <p14:sldId id="256"/>
            <p14:sldId id="257"/>
          </p14:sldIdLst>
        </p14:section>
        <p14:section name="개념" id="{f3e07a08-20d6-9993-8d92-c83551b61fc8}">
          <p14:sldIdLst>
            <p14:sldId id="258"/>
            <p14:sldId id="264"/>
            <p14:sldId id="265"/>
          </p14:sldIdLst>
        </p14:section>
        <p14:section name="연습" id="{e8ee6277-8b6d-35e8-9c59-878c15541c25}">
          <p14:sldIdLst>
            <p14:sldId id="259"/>
            <p14:sldId id="260"/>
            <p14:sldId id="261"/>
            <p14:sldId id="262"/>
            <p14:sldId id="263"/>
            <p14:sldId id="266"/>
          </p14:sldIdLst>
        </p14:section>
        <p14:section name="개념" id="{bfd12907-1ed5-90e1-473d-8f4bea134057}">
          <p14:sldIdLst/>
        </p14:section>
        <p14:section name="연습" id="{592e3a36-ea95-1c24-603c-938c3f202325}">
          <p14:sldIdLst/>
        </p14:section>
        <p14:section name="확인" id="{71275313-0fac-fc0c-d094-6a1f84795316}">
          <p14:sldIdLst>
            <p14:sldId id="267"/>
            <p14:sldId id="268"/>
            <p14:sldId id="269"/>
          </p14:sldIdLst>
        </p14:section>
        <p14:section name="정리" id="{20cbb51c-aeca-7a2a-314a-1f32a58b7688}">
          <p14:sldIdLst>
            <p14:sldId id="270"/>
          </p14:sldIdLst>
        </p14:section>
        <p14:section name="보충" id="{34719871-604f-8d5d-329a-046abd325a9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운동할 때 몸에서 일어나는 변화에 궁금증을 갖게 합니다.
시간: 약 1분
이렇게 말해 보세요
- “달리기를 하고 나면 숨이 차고 가슴이 쿵쿵 뛰지? 왜 그럴까?”
- “오늘은 운동하기 전과 후에 맥박과 숨 쉬는 횟수를 직접 재 보고, 우리 몸의 기관들이 어떻게 함께 일하는지 알아볼 거야.”
예상 답
- “힘들어서요.” “숨이 모자라서요.” 어떤 답이든 괜찮습니다. 답을 확인하지 않고 넘어갑니다.
막히면
- 가슴에 손을 대 심장이 뛰는 것만 느껴 보고, 재는 것은 S06에서 합니다.
주의
- 초시계(휴대 전화)를 준비합니다. 운동할 자리(넓고 미끄럽지 않은 곳)의 물건을 치웁니다.
- 천식이나 심장 질환이 있거나 몸이 좋지 않은 날에는 운동 측정을 하지 않고, 화면과 노트의 예시 값으로 수업합니다.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확인(우리 몸의 기관)]
목적: 앞 차시 ‘우리 몸의 기관’(KR22-G05-SCI-ORGANS-L01)에서 배운 심장과 폐, 작은창자가 하는 일을 확인합니다. 오늘 기관들이 함께 일하는 모습을 설명하는 데 쓰입니다.
시간: 약 2분
이렇게 말해 보세요
- “① 심장은 무슨 일을 하지?”
- “② 폐는? ③ 작은창자는?”
정답
- ① 혈액을 온몸으로 보낸다(펌프처럼 뛴다).
- ② 산소를 받아들이고 이산화 탄소를 내보낸다.
- ③ 영양소를 흡수한다.
막히면
- ①~③ 가운데 두 개 넘게 흔들리면 S16(보충)을 먼저 합니다. 보충으로도 어려우면 앞 차시 ‘우리 몸의 기관’을 먼저 다시 봅니다.
주의
- 앞 차시의 몸 그림을 떠올리게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맥박과 호흡을 재는 방법(1분 값 구하기)]
목적: 맥박의 뜻과 손목에서 맥박을 찾는 법, 15초 동안 세어 4를 곱해 1분 동안의 횟수를 구하는 방법을 시범으로 보여 줍니다(목표 A).
시간: 약 3분
이렇게 말해 보세요
- “심장이 뛸 때마다 혈관이 톡톡 뛰는 것을 맥박이라고 해. 손목 안쪽 엄지 쪽에 두 손가락을 살짝 대 볼래?”
- “1분 동안 다 세면 오래 걸리니까 15초 동안 세고 4를 곱하자. 15초가 네 번이면 1분이니까.”
- “숨은 들이쉬고 내쉬는 것을 한 번으로 세. 30초 동안 세고 2를 곱하면 1분 동안의 횟수야.”
예상 답
- “톡톡 뛰는 게 느껴져요.” “15초 × 4 = 60초라서 4를 곱해요.”
막히면
- 손목에서 찾기 어려우면 손바닥을 왼쪽 가슴에 대고 심장 뛰는 것을 셉니다. 목 옆에서 찾을 때는 한쪽만 살짝 대고 세게 누르지 않습니다.
- 엄지손가락으로 재면 엄지의 맥박이 섞일 수 있으니 검지와 중지로 잽니다.
주의
- 화면의 20번은 방법을 보여 주는 예입니다. 아이의 실제 맥박과 같을 필요가 없습니다.
- 숨 쉬는 횟수는 스스로 세면 일부러 천천히 쉬게 되므로, 부모가 아이의 가슴이 오르내리는 것을 보고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1분 동안의 횟수 구하기 연습]
목적: 15초·30초 동안 센 횟수로 1분 동안의 횟수를 구하는 연습을 합니다(목표 A).
시간: 약 2분
이렇게 말해 보세요
- “①은 15초 동안 센 거야. 몇을 곱해야 1분이 될까?”
- “②는 30초 동안 센 숨이야. 몇을 곱할까?”
정답
- ① 22 × 4 = 88(번)
- ② 10 × 2 = 20(번)
- ③ 25 × 4 = 100(번)
막히면
- “15초가 몇 번 있으면 60초(1분)가 될까?”라고 묻고, 수직선에 15, 30, 45, 60을 써 보게 합니다.
- 22 × 4가 어려우면 22 + 22 + 22 + 22로 구하게 합니다.
주의
- ‘번’이라는 단위를 붙여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측정 전 예상하기(운동 전·후)]
목적: 운동 직후와 쉰 뒤에 맥박과 숨이 어떻게 될지 예상합니다(목표 A). 결과는 S06에서 확인합니다.
시간: 약 1분
이렇게 말해 보세요
- “제자리에서 1분 동안 가볍게 뛰고 나면 맥박은 어떻게 될까? 숨은? 3분 쉬고 나면?”
- “예상은 활동지 2의 ‘내 예상’ 칸에 써 줘.”
예상 답
- 어떤 예상이든 괜찮습니다. “빨라질 것 같아요.” “쉬면 다시 느려질 것 같아요.” “숨만 빨라질 것 같아요.”
막히면
- “계단을 빨리 올라가고 나면 어땠어?”라고 경험을 떠올리게 합니다.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운동 전·후 맥박과 호흡 재기]
목적: 운동 전, 가벼운 운동 직후, 3분 쉰 뒤에 맥박(15초)과 숨(30초)을 세어 기록합니다(목표 A, 오해 M1).
시간: 약 8분
이렇게 말해 보세요
- “먼저 의자에 앉아 1분 쉬고 맥박을 15초 동안 세어 볼까? 엄마(아빠)는 네 숨을 30초 동안 셀게.”
- “이제 1분 동안 제자리에서 가볍게 뛰어 보자. 끝나면 바로 앉아서 다시 세자.”
- “3분 쉬는 동안 활동지에 1분 동안의 횟수를 계산해 볼까? 3분이 지나면 한 번 더 재자.”
예상 답
- 예시(한 가지 예일 뿐 정답이 아님): 맥박 15초 동안 운동 전 21번 → 1분 84번, 운동 직후 30번 → 120번, 3분 쉰 뒤 23번 → 92번. 숨 30초 동안 운동 전 9번 → 1분 18번, 운동 직후 14번 → 28번, 3분 쉰 뒤 10번 → 20번. 아이마다 값이 다릅니다. 운동 직후에 둘 다 늘고, 쉰 뒤에 다시 줄어들면 됩니다.
막히면
- 운동 직후 맥박을 찾는 데 시간이 걸리면 미리 손가락 자리를 정해 두고, 손바닥을 가슴에 대고 셉니다.
- 층간 소음이 걱정되면 제자리에서 빠르게 걷기나 앉았다 일어나기 15번으로 바꿉니다(무엇을 했는지 활동지에 씁니다).
주의
- 어지럽거나 가슴이 아프거나 숨이 너무 차면 바로 멈추고 앉아서 쉽니다. 이때는 측정을 멈추고 예시 값으로 수업합니다.
- 운동 직후에는 맥박부터 세고(15초), 이어서 숨(30초)을 셉니다. 부모가 숨을 세면 두 가지를 함께 잴 수 있습니다.
- 운동은 미끄럽지 않은 바닥에서 맨발이나 실내화로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측정 결과 정리(1분 동안의 횟수)]
목적: 센 횟수를 1분 동안의 횟수로 바꾸어 정리하고 예상과 비교합니다(목표 A).
시간: 약 3분
이렇게 말해 보세요
- “15초 동안 센 맥박에 4를 곱해 볼까? 숨은 2를 곱하고.”
- “운동 직후에 맥박과 숨은 어떻게 됐어? 쉬고 나니?”
예상 답
- 예시(한 가지 예): 맥박 84번 → 120번 → 92번, 숨 18번 → 28번 → 20번(모두 1분 동안). 아이가 잰 값이 정답입니다. 운동 직후에 둘 다 늘고 쉬면 다시 줄어들면 됩니다.
막히면
- 곱셈이 어려우면 S04로 돌아가 한 번 더 연습합니다.
주의
- 화면의 빈칸은 아이가 말로 채우는 자리입니다. 계산이 맞는지 부모가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비교(기관이 따로 일한다)]
목적: 운동할 때 한 기관만 바빠진다는 생각을, 맥박과 숨이 함께 빨라진 측정 결과로 바로잡습니다(목표 A·B, 오해 M2).
시간: 약 2분
이렇게 말해 보세요
- “토끼는 운동할 때 폐만 바빠지고 심장은 그대로래. 곰은 둘 다 바빠진대. 우리가 잰 결과는 어땠지?”
정답
- 곰. 증거: 운동 직후 숨 쉬는 횟수와 맥박이 모두 늘었습니다(예시: 숨 18번 → 28번, 맥박 84번 → 120번). 호흡 기관과 순환 기관이 함께 바빠졌습니다.
막히면
- S07의 표에서 두 열을 손가락으로 위아래로 따라가며 비교하게 합니다.
주의
- 증거를 하나 이상 말하면 잘한 것입니다. 왜 함께 바빠지는지는 S09에서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결과로 설명하기(운동할 때 기관이 바빠지는 까닭)]
목적: 측정 결과를 증거로 운동할 때 근육이 산소와 영양소를 더 많이 쓰기 때문에 호흡 기관과 순환 기관이 함께 바빠진다는 것을 정리합니다(목표 B, 오해 M2).
시간: 약 3분
이렇게 말해 보세요
- “뛸 때 다리 근육은 많이 움직이지? 근육이 일하려면 산소와 영양소가 많이 필요해.”
- “그래서 숨을 빨리 쉬어 산소를 더 받아들이고, 심장이 빨리 뛰어 산소와 영양소를 실은 혈액을 근육에 더 빨리 보내.”
- “근육에서 생긴 이산화 탄소와 노폐물도 더 많이 내보내야 해.”
예상 답
- “근육이 산소를 많이 써서 숨이 빨라져요.” “심장이 혈액을 빨리 보내려고 맥박이 빨라져요.”
막히면
- 카드를 순서대로 읽으며 ‘근육이 필요한 것 → 폐가 하는 일 → 심장이 하는 일’로 잇습니다.
주의
- 운동할 때 땀이 나는 것도 몸의 온도를 조절하고 노폐물 일부를 내보내는 일입니다. 아이가 물으면 알려 줍니다.
- 쉬면 근육이 쓰는 산소가 줄어 맥박과 숨이 다시 운동 전에 가까워집니다(S07의 3분 쉰 뒤 값).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기관의 협력 모형]
목적: 가운데 순환 기관을 중심으로 각 기관이 무엇을 주고받는지 모형(그림)으로 정리합니다(목표 B).
시간: 약 3분
이렇게 말해 보세요
- “가운데 심장·혈관이 있지? 폐에서 산소를, 작은창자에서 영양소를 받아 근육으로 날라.”
- “근육에서 생긴 이산화 탄소는 폐로, 노폐물은 콩팥으로 가서 몸 밖으로 나가. 화살표를 손가락으로 따라가며 말해 볼래?”
예상 답
- “폐에서 산소가 들어와서 심장이 근육으로 보내요.” “노폐물은 콩팥으로 가요.”
막히면
- 한 번에 화살표 하나씩만 따라가며 ‘어디에서 → 무엇이 → 어디로’를 말하게 합니다.
주의
- 이 그림은 기관이 주고받는 것을 나타낸 모형입니다. 실제로는 혈액이 온몸을 돌면서 이 일들이 함께 일어납니다.
- 원하면 아이가 ‘심장’이 되어 종이 카드(산소, 영양소)를 들고 방 안의 ‘근육’ 자리까지 나르는 놀이로 모형을 몸으로 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모형으로 기관의 협력 설명하기]
목적: 모형을 떠올려 각 일을 맡은 기관을 말하고, 기관이 함께 일하는 순서를 연습합니다(목표 B).
시간: 약 3분
이렇게 말해 보세요
- “①부터 어느 기관이 하는지 말해 볼래? 모형에서 화살표가 어디에서 시작했는지 떠올려 봐.”
정답
- ① 폐(호흡 기관)
- ② 작은창자(소화 기관)
- ③ 심장·혈관(순환 기관)
- ④ 콩팥(배설 기관)
막히면
- S10의 모형을 다시 보여 주고 해당 화살표를 함께 찾습니다.
주의
- 기관 이름이나 기관 계통 이름(호흡 기관 등) 가운데 하나를 말하면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1분 동안의 맥박을 구하고(①), 운동할 때 숨(②)과 맥박(③)이 빨라지는 까닭과 함께 일하는 기관(④)을 설명하는지 확인합니다(목표 A·B).
시간: 약 3분
이렇게 말해 보세요
- “이번에는 혼자 답해 볼래? 왜 그렇게 생각했는지도 말해 줘.”
정답
- ① 27 × 4 = 108(번)
- ② 근육이 산소를 많이 쓰므로 산소를 더 많이 받아들이려고(이산화 탄소를 더 많이 내보내려고)
- ③ 심장이 빨리 뛰어 산소와 영양소를 실은 혈액을 근육에 더 빨리 보내려고
- ④ 소화 기관(작은창자)과 순환 기관(심장·혈관)
막히면
- 바로 알려 주지 말고 “근육에게 무엇이 필요하지?”라고만 묻습니다.
- 도움을 받아 해결했다면 기록표에 ‘도움’으로 표시합니다.
주의
- ②③은 ‘근육이 산소(영양소)를 많이 쓴다’는 까닭이 들어 있어야 맞습니다. ‘힘들어서’만 말하면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1분
이렇게 말해 보세요
- “네 답과 같은지 볼까? 다르면 어디서 달라졌는지 찾아보자.”
정답
- ① 108번 ② 산소를 더 받아들이려고 ③ 혈액을 근육에 더 빨리 보내려고 ④ 소화 기관, 순환 기관
막히면
- ①이 틀리면 S03·S04로, ②③이 틀리면 S09로, ④가 틀리면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확인(측정값 해석)]
목적: 처음 보는 측정값에서 운동 직후의 값을 고르고, 나머지 값을 언제 쟀는지와 까닭을 말하는지 확인합니다(목표 A·B).
시간: 약 2분
이렇게 말해 보세요
- “하늘이가 운동 전, 줄넘기 직후, 5분 쉰 뒤에 1분 동안의 맥박을 쟀대. 순서가 섞여 있어. 줄넘기 직후에 잰 것은 어느 것일까?”
정답
- 나(120번). 줄넘기를 하면 근육이 산소와 영양소를 많이 써서 심장이 빨리 뛰기 때문입니다. 가(76번)는 운동 전, 다(84번)는 5분 쉰 뒤에 잰 값입니다.
막히면
- S07의 표에서 우리가 잰 값의 순서를 다시 보게 합니다.
주의
- 하늘이는 지어낸 이름이고 값은 한 가지 예시입니다.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“운동하면 왜 숨이 차고 가슴이 뛰는지, 이제 설명해 볼래?”
예상 답
- “근육이 산소랑 영양소를 많이 써서, 폐는 숨을 빨리 쉬고 심장은 빨리 뛰어 혈액을 빨리 보내요.”
정답
- ① 4를 곱한다 ② 빨라진다(늘어난다) ③ 순환 기관(심장·혈관)
막히면
- S09, S10을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보충(기관이 하는 일)]
목적: S02가 흔들리면, 오늘 쓰는 네 기관이 하는 일을 먼저 다시 익힙니다.
시간: 약 4분
이렇게 말해 보세요
- “카드를 하나씩 읽어 볼까? 몸의 어디쯤에 있는지 손으로 짚어 봐.”
- “가슴에 손을 대 볼까? 뛰는 것은 무슨 기관이지?”
예상 답
- “심장이요.” “폐는 가슴에 있어요.”
막히면
- 앞 차시의 몸 그림(S08·S12·S14·S15)을 다시 보여 줍니다.
주의
- 계획상 선수 차시는 ‘우리 몸의 기관’(KR22-G05-SCI-ORGANS-L01)입니다. 보충으로도 어려우면 그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몸과건강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기관의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기관의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과학 · 기관의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기관의 협력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운동하면 왜 숨이 차고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가슴이 뛸까?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/>
          <p:cNvSpPr/>
          <p:nvPr/>
        </p:nvSpPr>
        <p:spPr>
          <a:xfrm>
            <a:off x="7991544" y="1649592"/>
            <a:ext cx="3446811" cy="1043114"/>
          </a:xfrm>
          <a:custGeom>
            <a:avLst/>
            <a:gdLst/>
            <a:ahLst/>
            <a:cxnLst/>
            <a:rect l="l" t="t" r="r" b="b"/>
            <a:pathLst>
              <a:path w="3446811" h="1043114">
                <a:moveTo>
                  <a:pt x="0" y="770997"/>
                </a:moveTo>
                <a:lnTo>
                  <a:pt x="1904816" y="770997"/>
                </a:lnTo>
                <a:lnTo>
                  <a:pt x="2086227" y="1043114"/>
                </a:lnTo>
                <a:lnTo>
                  <a:pt x="3356105" y="952408"/>
                </a:lnTo>
                <a:lnTo>
                  <a:pt x="3446811" y="136058"/>
                </a:lnTo>
                <a:lnTo>
                  <a:pt x="2086227" y="0"/>
                </a:lnTo>
                <a:lnTo>
                  <a:pt x="1904816" y="181411"/>
                </a:lnTo>
                <a:lnTo>
                  <a:pt x="0" y="181411"/>
                </a:lnTo>
                <a:close/>
              </a:path>
            </a:pathLst>
          </a:custGeom>
          <a:solidFill>
            <a:srgbClr val="F3F4F6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352127" y="1332123"/>
            <a:ext cx="226764" cy="498880"/>
          </a:xfrm>
          <a:custGeom>
            <a:avLst/>
            <a:gdLst/>
            <a:ahLst/>
            <a:cxnLst/>
            <a:rect l="l" t="t" r="r" b="b"/>
            <a:pathLst>
              <a:path w="226764" h="498880">
                <a:moveTo>
                  <a:pt x="0" y="498880"/>
                </a:moveTo>
                <a:lnTo>
                  <a:pt x="226764" y="498880"/>
                </a:lnTo>
                <a:lnTo>
                  <a:pt x="226764" y="0"/>
                </a:lnTo>
                <a:lnTo>
                  <a:pt x="0" y="0"/>
                </a:lnTo>
                <a:close/>
              </a:path>
            </a:pathLst>
          </a:custGeom>
          <a:solidFill>
            <a:srgbClr val="FBD5D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24244" y="1332123"/>
            <a:ext cx="226764" cy="498880"/>
          </a:xfrm>
          <a:custGeom>
            <a:avLst/>
            <a:gdLst/>
            <a:ahLst/>
            <a:cxnLst/>
            <a:rect l="l" t="t" r="r" b="b"/>
            <a:pathLst>
              <a:path w="226764" h="498880">
                <a:moveTo>
                  <a:pt x="0" y="498880"/>
                </a:moveTo>
                <a:lnTo>
                  <a:pt x="226764" y="498880"/>
                </a:lnTo>
                <a:lnTo>
                  <a:pt x="226764" y="0"/>
                </a:lnTo>
                <a:lnTo>
                  <a:pt x="0" y="0"/>
                </a:lnTo>
                <a:close/>
              </a:path>
            </a:pathLst>
          </a:custGeom>
          <a:solidFill>
            <a:srgbClr val="FBD5D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519932" y="1953456"/>
            <a:ext cx="163270" cy="163270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label7"/>
          <p:cNvSpPr txBox="1"/>
          <p:nvPr/>
        </p:nvSpPr>
        <p:spPr>
          <a:xfrm>
            <a:off x="10321804" y="2005598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</a:t>
            </a:r>
            <a:endParaRPr lang="ko-KR" sz="1800" dirty="0"/>
          </a:p>
        </p:txBody>
      </p:sp>
      <p:sp>
        <p:nvSpPr>
          <p:cNvPr id="10" name="S01-label9"/>
          <p:cNvSpPr txBox="1"/>
          <p:nvPr/>
        </p:nvSpPr>
        <p:spPr>
          <a:xfrm>
            <a:off x="8438296" y="198292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손목</a:t>
            </a:r>
            <a:endParaRPr lang="ko-KR" sz="1800" dirty="0"/>
          </a:p>
        </p:txBody>
      </p:sp>
      <p:sp>
        <p:nvSpPr>
          <p:cNvPr id="11" name="S01-label11"/>
          <p:cNvSpPr txBox="1"/>
          <p:nvPr/>
        </p:nvSpPr>
        <p:spPr>
          <a:xfrm>
            <a:off x="9176371" y="2436449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엄지 쪽</a:t>
            </a:r>
            <a:endParaRPr lang="ko-KR" sz="1800" dirty="0"/>
          </a:p>
        </p:txBody>
      </p:sp>
      <p:sp>
        <p:nvSpPr>
          <p:cNvPr id="12" name="S01-card1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3" name="S01-cardtext1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운동 전과 후의 맥박과 호흡을 재어 비교해요.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여러 기관이 함께 일하는 모습을 모형으로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수업 기억하기</a:t>
            </a:r>
            <a:endParaRPr lang="ko-KR" sz="4000" dirty="0"/>
          </a:p>
        </p:txBody>
      </p:sp>
      <p:sp>
        <p:nvSpPr>
          <p:cNvPr id="3" name="S02-chip1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심장이 하는 일은?</a:t>
            </a:r>
            <a:endParaRPr lang="ko-KR" sz="2800" dirty="0"/>
          </a:p>
        </p:txBody>
      </p:sp>
      <p:sp>
        <p:nvSpPr>
          <p:cNvPr id="5" name="S02-chip1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폐가 하는 일은?</a:t>
            </a:r>
            <a:endParaRPr lang="ko-KR" sz="2800" dirty="0"/>
          </a:p>
        </p:txBody>
      </p:sp>
      <p:sp>
        <p:nvSpPr>
          <p:cNvPr id="7" name="S02-chip1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작은창자가 하는 일은?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맥박과 숨을 세는 방법</a:t>
            </a:r>
            <a:endParaRPr lang="ko-KR" sz="4000" dirty="0"/>
          </a:p>
        </p:txBody>
      </p:sp>
      <p:sp>
        <p:nvSpPr>
          <p:cNvPr id="3" name="S03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숨은 30초 동안 세고 2를 곱해요.</a:t>
            </a:r>
            <a:endParaRPr lang="ko-KR" sz="2800" dirty="0"/>
          </a:p>
        </p:txBody>
      </p:sp>
      <p:sp>
        <p:nvSpPr>
          <p:cNvPr id="5" name="S03-figure22"/>
          <p:cNvSpPr/>
          <p:nvPr/>
        </p:nvSpPr>
        <p:spPr>
          <a:xfrm>
            <a:off x="7278933" y="2674855"/>
            <a:ext cx="4167878" cy="1261331"/>
          </a:xfrm>
          <a:custGeom>
            <a:avLst/>
            <a:gdLst/>
            <a:ahLst/>
            <a:cxnLst/>
            <a:rect l="l" t="t" r="r" b="b"/>
            <a:pathLst>
              <a:path w="4167878" h="1261331">
                <a:moveTo>
                  <a:pt x="0" y="932288"/>
                </a:moveTo>
                <a:lnTo>
                  <a:pt x="2303301" y="932288"/>
                </a:lnTo>
                <a:lnTo>
                  <a:pt x="2522663" y="1261331"/>
                </a:lnTo>
                <a:lnTo>
                  <a:pt x="4058197" y="1151650"/>
                </a:lnTo>
                <a:lnTo>
                  <a:pt x="4167878" y="164521"/>
                </a:lnTo>
                <a:lnTo>
                  <a:pt x="2522663" y="0"/>
                </a:lnTo>
                <a:lnTo>
                  <a:pt x="2303301" y="219362"/>
                </a:lnTo>
                <a:lnTo>
                  <a:pt x="0" y="219362"/>
                </a:lnTo>
                <a:close/>
              </a:path>
            </a:pathLst>
          </a:custGeom>
          <a:solidFill>
            <a:srgbClr val="F3F4F6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3-mark23"/>
          <p:cNvSpPr/>
          <p:nvPr/>
        </p:nvSpPr>
        <p:spPr>
          <a:xfrm>
            <a:off x="8924148" y="2290972"/>
            <a:ext cx="274202" cy="603245"/>
          </a:xfrm>
          <a:custGeom>
            <a:avLst/>
            <a:gdLst/>
            <a:ahLst/>
            <a:cxnLst/>
            <a:rect l="l" t="t" r="r" b="b"/>
            <a:pathLst>
              <a:path w="274202" h="603245">
                <a:moveTo>
                  <a:pt x="0" y="603245"/>
                </a:moveTo>
                <a:lnTo>
                  <a:pt x="274202" y="603245"/>
                </a:lnTo>
                <a:lnTo>
                  <a:pt x="2742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BD5D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24"/>
          <p:cNvSpPr/>
          <p:nvPr/>
        </p:nvSpPr>
        <p:spPr>
          <a:xfrm>
            <a:off x="9253191" y="2290972"/>
            <a:ext cx="274202" cy="603245"/>
          </a:xfrm>
          <a:custGeom>
            <a:avLst/>
            <a:gdLst/>
            <a:ahLst/>
            <a:cxnLst/>
            <a:rect l="l" t="t" r="r" b="b"/>
            <a:pathLst>
              <a:path w="274202" h="603245">
                <a:moveTo>
                  <a:pt x="0" y="603245"/>
                </a:moveTo>
                <a:lnTo>
                  <a:pt x="274202" y="603245"/>
                </a:lnTo>
                <a:lnTo>
                  <a:pt x="2742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BD5D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25"/>
          <p:cNvSpPr/>
          <p:nvPr/>
        </p:nvSpPr>
        <p:spPr>
          <a:xfrm>
            <a:off x="9127058" y="3042286"/>
            <a:ext cx="197426" cy="197426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label27"/>
          <p:cNvSpPr txBox="1"/>
          <p:nvPr/>
        </p:nvSpPr>
        <p:spPr>
          <a:xfrm>
            <a:off x="10178457" y="313522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</a:t>
            </a:r>
            <a:endParaRPr lang="ko-KR" sz="1800" dirty="0"/>
          </a:p>
        </p:txBody>
      </p:sp>
      <p:sp>
        <p:nvSpPr>
          <p:cNvPr id="10" name="S03-label29"/>
          <p:cNvSpPr txBox="1"/>
          <p:nvPr/>
        </p:nvSpPr>
        <p:spPr>
          <a:xfrm>
            <a:off x="7877489" y="310780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손목</a:t>
            </a:r>
            <a:endParaRPr lang="ko-KR" sz="1800" dirty="0"/>
          </a:p>
        </p:txBody>
      </p:sp>
      <p:sp>
        <p:nvSpPr>
          <p:cNvPr id="11" name="S03-label31"/>
          <p:cNvSpPr txBox="1"/>
          <p:nvPr/>
        </p:nvSpPr>
        <p:spPr>
          <a:xfrm>
            <a:off x="8800575" y="3656210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엄지 쪽</a:t>
            </a:r>
            <a:endParaRPr lang="ko-KR" sz="1800" dirty="0"/>
          </a:p>
        </p:txBody>
      </p:sp>
      <p:sp>
        <p:nvSpPr>
          <p:cNvPr id="12" name="S03-stepno32"/>
          <p:cNvSpPr txBox="1"/>
          <p:nvPr/>
        </p:nvSpPr>
        <p:spPr>
          <a:xfrm>
            <a:off x="548640" y="1528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3-text33"/>
          <p:cNvSpPr txBox="1"/>
          <p:nvPr/>
        </p:nvSpPr>
        <p:spPr>
          <a:xfrm>
            <a:off x="1325880" y="1482852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손목 안쪽 엄지 쪽에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손가락을 대요.</a:t>
            </a:r>
            <a:endParaRPr lang="ko-KR" sz="2800" dirty="0"/>
          </a:p>
        </p:txBody>
      </p:sp>
      <p:sp>
        <p:nvSpPr>
          <p:cNvPr id="14" name="S03-stepno34"/>
          <p:cNvSpPr txBox="1"/>
          <p:nvPr/>
        </p:nvSpPr>
        <p:spPr>
          <a:xfrm>
            <a:off x="548640" y="2515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5" name="S03-text35"/>
          <p:cNvSpPr txBox="1"/>
          <p:nvPr/>
        </p:nvSpPr>
        <p:spPr>
          <a:xfrm>
            <a:off x="1325880" y="25151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15초 동안 맥박을 세요.</a:t>
            </a:r>
            <a:endParaRPr lang="ko-KR" sz="2800" dirty="0"/>
          </a:p>
        </p:txBody>
      </p:sp>
      <p:sp>
        <p:nvSpPr>
          <p:cNvPr id="16" name="S03-stepno36"/>
          <p:cNvSpPr txBox="1"/>
          <p:nvPr/>
        </p:nvSpPr>
        <p:spPr>
          <a:xfrm>
            <a:off x="548640" y="3274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7" name="S03-text37"/>
          <p:cNvSpPr txBox="1"/>
          <p:nvPr/>
        </p:nvSpPr>
        <p:spPr>
          <a:xfrm>
            <a:off x="1325880" y="3228340"/>
            <a:ext cx="2706536" cy="173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횟수에 4를 곱해요.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15초 동안 20번)</a:t>
            </a:r>
            <a:endParaRPr lang="ko-KR" sz="2800" dirty="0"/>
          </a:p>
        </p:txBody>
      </p:sp>
      <p:sp>
        <p:nvSpPr>
          <p:cNvPr id="18" name="S03-eqtext38"/>
          <p:cNvSpPr txBox="1"/>
          <p:nvPr/>
        </p:nvSpPr>
        <p:spPr>
          <a:xfrm>
            <a:off x="4032416" y="3228340"/>
            <a:ext cx="2522735" cy="173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 = 80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동안은 몇 번일까요?</a:t>
            </a:r>
            <a:endParaRPr lang="ko-KR" sz="4000" dirty="0"/>
          </a:p>
        </p:txBody>
      </p:sp>
      <p:sp>
        <p:nvSpPr>
          <p:cNvPr id="3" name="S04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4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15초 동안 센 것은 × 4, 30초 동안 센 것은 × 2</a:t>
            </a:r>
            <a:endParaRPr lang="ko-KR" sz="2800" dirty="0"/>
          </a:p>
        </p:txBody>
      </p:sp>
      <p:sp>
        <p:nvSpPr>
          <p:cNvPr id="5" name="S04-chip4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4-text42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맥박: 15초 동안 22번 → 1분 동안은?</a:t>
            </a:r>
            <a:endParaRPr lang="ko-KR" sz="2800" dirty="0"/>
          </a:p>
        </p:txBody>
      </p:sp>
      <p:sp>
        <p:nvSpPr>
          <p:cNvPr id="7" name="S04-chip4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4-text44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숨: 30초 동안 10번 → 1분 동안은?</a:t>
            </a:r>
            <a:endParaRPr lang="ko-KR" sz="2800" dirty="0"/>
          </a:p>
        </p:txBody>
      </p:sp>
      <p:sp>
        <p:nvSpPr>
          <p:cNvPr id="9" name="S04-chip4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4-text46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맥박: 15초 동안 25번 → 1분 동안은?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5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 전과 비교해 어떻게 될까요?</a:t>
            </a:r>
            <a:endParaRPr lang="ko-KR" sz="2800" dirty="0"/>
          </a:p>
        </p:txBody>
      </p:sp>
      <p:sp>
        <p:nvSpPr>
          <p:cNvPr id="4" name="S05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2에 써요.</a:t>
            </a:r>
            <a:endParaRPr lang="ko-KR" sz="2800" dirty="0"/>
          </a:p>
        </p:txBody>
      </p:sp>
      <p:graphicFrame>
        <p:nvGraphicFramePr>
          <p:cNvPr id="6" name="S05-table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797302"/>
          <a:ext cx="100584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20440"/>
                <a:gridCol w="3520440"/>
              </a:tblGrid>
              <a:tr h="5125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맥박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 직후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3분 쉰 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 전과 후를 재요</a:t>
            </a:r>
            <a:endParaRPr lang="ko-KR" sz="4000" dirty="0"/>
          </a:p>
        </p:txBody>
      </p:sp>
      <p:sp>
        <p:nvSpPr>
          <p:cNvPr id="3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어지러우면 바로 멈추고 앉아서 쉬어요.</a:t>
            </a:r>
            <a:endParaRPr lang="ko-KR" sz="2800" dirty="0"/>
          </a:p>
        </p:txBody>
      </p:sp>
      <p:sp>
        <p:nvSpPr>
          <p:cNvPr id="5" name="S06-card53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4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세는 시간을 지켜요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‘번’을 붙여 써요</a:t>
            </a:r>
            <a:endParaRPr lang="ko-KR" sz="2800" dirty="0"/>
          </a:p>
        </p:txBody>
      </p:sp>
      <p:sp>
        <p:nvSpPr>
          <p:cNvPr id="7" name="S06-stepno55"/>
          <p:cNvSpPr txBox="1"/>
          <p:nvPr/>
        </p:nvSpPr>
        <p:spPr>
          <a:xfrm>
            <a:off x="548640" y="1658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6-text56"/>
          <p:cNvSpPr txBox="1"/>
          <p:nvPr/>
        </p:nvSpPr>
        <p:spPr>
          <a:xfrm>
            <a:off x="1325880" y="1612900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앉아서 1분 쉬고, 맥박(15초)과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숨(30초)을 세요.</a:t>
            </a:r>
            <a:endParaRPr lang="ko-KR" sz="2200" dirty="0"/>
          </a:p>
        </p:txBody>
      </p:sp>
      <p:sp>
        <p:nvSpPr>
          <p:cNvPr id="9" name="S06-stepno57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6-text58"/>
          <p:cNvSpPr txBox="1"/>
          <p:nvPr/>
        </p:nvSpPr>
        <p:spPr>
          <a:xfrm>
            <a:off x="1325880" y="245922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동안 제자리에서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가볍게 뛰어요.</a:t>
            </a:r>
            <a:endParaRPr lang="ko-KR" sz="2200" dirty="0"/>
          </a:p>
        </p:txBody>
      </p:sp>
      <p:sp>
        <p:nvSpPr>
          <p:cNvPr id="11" name="S06-stepno59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6-text60"/>
          <p:cNvSpPr txBox="1"/>
          <p:nvPr/>
        </p:nvSpPr>
        <p:spPr>
          <a:xfrm>
            <a:off x="1325880" y="330555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앉아서 맥박과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다시 세요.</a:t>
            </a:r>
            <a:endParaRPr lang="ko-KR" sz="2200" dirty="0"/>
          </a:p>
        </p:txBody>
      </p:sp>
      <p:sp>
        <p:nvSpPr>
          <p:cNvPr id="13" name="S06-stepno61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6-text62"/>
          <p:cNvSpPr txBox="1"/>
          <p:nvPr/>
        </p:nvSpPr>
        <p:spPr>
          <a:xfrm>
            <a:off x="1325880" y="415188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쉰 뒤 한 번 더 세고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2에 써요.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1분 동안의 횟수를 말해요.</a:t>
            </a:r>
            <a:endParaRPr lang="ko-KR" sz="28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 직후에 맥박과 숨은 어떻게 변했나요?</a:t>
            </a:r>
            <a:endParaRPr lang="ko-KR" sz="2800" dirty="0"/>
          </a:p>
        </p:txBody>
      </p:sp>
      <p:graphicFrame>
        <p:nvGraphicFramePr>
          <p:cNvPr id="8" name="S07-table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2734056"/>
                <a:gridCol w="3890772"/>
                <a:gridCol w="3890772"/>
              </a:tblGrid>
              <a:tr h="5125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맥박(1분 동안, 번)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숨(1분 동안, 번)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 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 직후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3분 쉰 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운동을 하면 숨이 차요.</a:t>
            </a:r>
            <a:endParaRPr lang="ko-KR" sz="2800" dirty="0"/>
          </a:p>
        </p:txBody>
      </p:sp>
      <p:sp>
        <p:nvSpPr>
          <p:cNvPr id="5" name="S08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08-chip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8-text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폐만 바빠지고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심장은 그대로예요.</a:t>
            </a:r>
            <a:endParaRPr lang="ko-KR" sz="2800" dirty="0"/>
          </a:p>
        </p:txBody>
      </p:sp>
      <p:sp>
        <p:nvSpPr>
          <p:cNvPr id="9" name="S08-chip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8-text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숨도 맥박도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빨라져요.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함께 빨라질까요?</a:t>
            </a:r>
            <a:endParaRPr lang="ko-KR" sz="4000" dirty="0"/>
          </a:p>
        </p:txBody>
      </p:sp>
      <p:sp>
        <p:nvSpPr>
          <p:cNvPr id="3" name="S09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운동할 때 근육은 산소와 영양소를 더 많이 써요.</a:t>
            </a:r>
            <a:endParaRPr lang="ko-KR" sz="2800" dirty="0"/>
          </a:p>
        </p:txBody>
      </p:sp>
      <p:sp>
        <p:nvSpPr>
          <p:cNvPr id="4" name="S09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기관이 함께 일해서 우리 몸이 움직여요.</a:t>
            </a:r>
            <a:endParaRPr lang="ko-KR" sz="2800" dirty="0"/>
          </a:p>
        </p:txBody>
      </p:sp>
      <p:sp>
        <p:nvSpPr>
          <p:cNvPr id="6" name="S09-card78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9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기관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빨리 쉬어 산소를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받아들이고 이산화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탄소를 더 내보내요.</a:t>
            </a:r>
            <a:endParaRPr lang="ko-KR" sz="2800" dirty="0"/>
          </a:p>
        </p:txBody>
      </p:sp>
      <p:sp>
        <p:nvSpPr>
          <p:cNvPr id="8" name="S09-card80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81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순환 기관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심장이 빨리 뛰어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산소와 영양소를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근육에 더 빨리 날라요.</a:t>
            </a:r>
            <a:endParaRPr lang="ko-KR" sz="2800" dirty="0"/>
          </a:p>
        </p:txBody>
      </p:sp>
      <p:sp>
        <p:nvSpPr>
          <p:cNvPr id="10" name="S09-card82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83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소화·배설 기관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영양소를 흡수하고,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늘어난 노폐물을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내보내요.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기관이 함께 일하는 모형</a:t>
            </a:r>
            <a:endParaRPr lang="ko-KR" sz="4000" dirty="0"/>
          </a:p>
        </p:txBody>
      </p:sp>
      <p:sp>
        <p:nvSpPr>
          <p:cNvPr id="3" name="S10-text84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순환 기관이 산소와 영양소를 나르고,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이산화 탄소와 노폐물을 실어 가요.</a:t>
            </a:r>
            <a:endParaRPr lang="ko-KR" sz="2800" dirty="0"/>
          </a:p>
        </p:txBody>
      </p:sp>
      <p:sp>
        <p:nvSpPr>
          <p:cNvPr id="4" name="S10-figure85"/>
          <p:cNvSpPr/>
          <p:nvPr/>
        </p:nvSpPr>
        <p:spPr>
          <a:xfrm>
            <a:off x="5301257" y="3921437"/>
            <a:ext cx="1586438" cy="751471"/>
          </a:xfrm>
          <a:custGeom>
            <a:avLst/>
            <a:gdLst/>
            <a:ahLst/>
            <a:cxnLst/>
            <a:rect l="l" t="t" r="r" b="b"/>
            <a:pathLst>
              <a:path w="1586438" h="751471">
                <a:moveTo>
                  <a:pt x="0" y="751471"/>
                </a:moveTo>
                <a:lnTo>
                  <a:pt x="1586438" y="751471"/>
                </a:lnTo>
                <a:lnTo>
                  <a:pt x="158643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D5D5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10-mark86"/>
          <p:cNvSpPr/>
          <p:nvPr/>
        </p:nvSpPr>
        <p:spPr>
          <a:xfrm>
            <a:off x="5301257" y="2501992"/>
            <a:ext cx="1586438" cy="751471"/>
          </a:xfrm>
          <a:custGeom>
            <a:avLst/>
            <a:gdLst/>
            <a:ahLst/>
            <a:cxnLst/>
            <a:rect l="l" t="t" r="r" b="b"/>
            <a:pathLst>
              <a:path w="1586438" h="751471">
                <a:moveTo>
                  <a:pt x="0" y="751471"/>
                </a:moveTo>
                <a:lnTo>
                  <a:pt x="1586438" y="751471"/>
                </a:lnTo>
                <a:lnTo>
                  <a:pt x="1586438" y="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0-mark87"/>
          <p:cNvSpPr/>
          <p:nvPr/>
        </p:nvSpPr>
        <p:spPr>
          <a:xfrm>
            <a:off x="2712859" y="3921437"/>
            <a:ext cx="1586438" cy="751471"/>
          </a:xfrm>
          <a:custGeom>
            <a:avLst/>
            <a:gdLst/>
            <a:ahLst/>
            <a:cxnLst/>
            <a:rect l="l" t="t" r="r" b="b"/>
            <a:pathLst>
              <a:path w="1586438" h="751471">
                <a:moveTo>
                  <a:pt x="0" y="751471"/>
                </a:moveTo>
                <a:lnTo>
                  <a:pt x="1586438" y="751471"/>
                </a:lnTo>
                <a:lnTo>
                  <a:pt x="158643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8C8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0-mark88"/>
          <p:cNvSpPr/>
          <p:nvPr/>
        </p:nvSpPr>
        <p:spPr>
          <a:xfrm>
            <a:off x="7889656" y="3921437"/>
            <a:ext cx="1586438" cy="751471"/>
          </a:xfrm>
          <a:custGeom>
            <a:avLst/>
            <a:gdLst/>
            <a:ahLst/>
            <a:cxnLst/>
            <a:rect l="l" t="t" r="r" b="b"/>
            <a:pathLst>
              <a:path w="1586438" h="751471">
                <a:moveTo>
                  <a:pt x="0" y="751471"/>
                </a:moveTo>
                <a:lnTo>
                  <a:pt x="1586438" y="751471"/>
                </a:lnTo>
                <a:lnTo>
                  <a:pt x="15864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0-mark89"/>
          <p:cNvSpPr/>
          <p:nvPr/>
        </p:nvSpPr>
        <p:spPr>
          <a:xfrm>
            <a:off x="5301257" y="5340881"/>
            <a:ext cx="1586438" cy="751471"/>
          </a:xfrm>
          <a:custGeom>
            <a:avLst/>
            <a:gdLst/>
            <a:ahLst/>
            <a:cxnLst/>
            <a:rect l="l" t="t" r="r" b="b"/>
            <a:pathLst>
              <a:path w="1586438" h="751471">
                <a:moveTo>
                  <a:pt x="0" y="751471"/>
                </a:moveTo>
                <a:lnTo>
                  <a:pt x="1586438" y="751471"/>
                </a:lnTo>
                <a:lnTo>
                  <a:pt x="1586438" y="0"/>
                </a:lnTo>
                <a:lnTo>
                  <a:pt x="0" y="0"/>
                </a:lnTo>
                <a:close/>
              </a:path>
            </a:pathLst>
          </a:custGeom>
          <a:solidFill>
            <a:srgbClr val="F5E6CC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0-mark90"/>
          <p:cNvSpPr/>
          <p:nvPr/>
        </p:nvSpPr>
        <p:spPr>
          <a:xfrm>
            <a:off x="5843986" y="3253463"/>
            <a:ext cx="0" cy="667974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0-mark91"/>
          <p:cNvSpPr/>
          <p:nvPr/>
        </p:nvSpPr>
        <p:spPr>
          <a:xfrm flipV="1">
            <a:off x="6344966" y="3253463"/>
            <a:ext cx="0" cy="667974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10-mark92"/>
          <p:cNvSpPr/>
          <p:nvPr/>
        </p:nvSpPr>
        <p:spPr>
          <a:xfrm>
            <a:off x="4299296" y="4297172"/>
            <a:ext cx="1001961" cy="0"/>
          </a:xfrm>
          <a:prstGeom prst="line">
            <a:avLst/>
          </a:prstGeom>
          <a:noFill/>
          <a:ln w="3175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2" name="S10-mark93"/>
          <p:cNvSpPr/>
          <p:nvPr/>
        </p:nvSpPr>
        <p:spPr>
          <a:xfrm>
            <a:off x="6887695" y="4130179"/>
            <a:ext cx="1001961" cy="0"/>
          </a:xfrm>
          <a:prstGeom prst="line">
            <a:avLst/>
          </a:prstGeom>
          <a:noFill/>
          <a:ln w="31750">
            <a:solidFill>
              <a:srgbClr val="C8434E"/>
            </a:solidFill>
            <a:prstDash val="solid"/>
            <a:tailEnd type="triangle"/>
          </a:ln>
        </p:spPr>
      </p:sp>
      <p:sp>
        <p:nvSpPr>
          <p:cNvPr id="13" name="S10-mark94"/>
          <p:cNvSpPr/>
          <p:nvPr/>
        </p:nvSpPr>
        <p:spPr>
          <a:xfrm flipH="1">
            <a:off x="6887695" y="4464165"/>
            <a:ext cx="1001961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10-mark95"/>
          <p:cNvSpPr/>
          <p:nvPr/>
        </p:nvSpPr>
        <p:spPr>
          <a:xfrm>
            <a:off x="6094476" y="4672907"/>
            <a:ext cx="0" cy="667974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10-label97"/>
          <p:cNvSpPr txBox="1"/>
          <p:nvPr/>
        </p:nvSpPr>
        <p:spPr>
          <a:xfrm>
            <a:off x="5355082" y="3997302"/>
            <a:ext cx="14787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심장·혈관</a:t>
            </a:r>
            <a:endParaRPr lang="ko-KR" sz="2200" dirty="0"/>
          </a:p>
        </p:txBody>
      </p:sp>
      <p:sp>
        <p:nvSpPr>
          <p:cNvPr id="16" name="S10-label99"/>
          <p:cNvSpPr txBox="1"/>
          <p:nvPr/>
        </p:nvSpPr>
        <p:spPr>
          <a:xfrm>
            <a:off x="5557266" y="4342165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순환 기관</a:t>
            </a:r>
            <a:endParaRPr lang="ko-KR" sz="1800" dirty="0"/>
          </a:p>
        </p:txBody>
      </p:sp>
      <p:sp>
        <p:nvSpPr>
          <p:cNvPr id="17" name="S10-label101"/>
          <p:cNvSpPr txBox="1"/>
          <p:nvPr/>
        </p:nvSpPr>
        <p:spPr>
          <a:xfrm>
            <a:off x="5902706" y="257785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</a:t>
            </a:r>
            <a:endParaRPr lang="ko-KR" sz="2200" dirty="0"/>
          </a:p>
        </p:txBody>
      </p:sp>
      <p:sp>
        <p:nvSpPr>
          <p:cNvPr id="18" name="S10-label103"/>
          <p:cNvSpPr txBox="1"/>
          <p:nvPr/>
        </p:nvSpPr>
        <p:spPr>
          <a:xfrm>
            <a:off x="5557266" y="2922720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기관</a:t>
            </a:r>
            <a:endParaRPr lang="ko-KR" sz="1800" dirty="0"/>
          </a:p>
        </p:txBody>
      </p:sp>
      <p:sp>
        <p:nvSpPr>
          <p:cNvPr id="19" name="S10-label105"/>
          <p:cNvSpPr txBox="1"/>
          <p:nvPr/>
        </p:nvSpPr>
        <p:spPr>
          <a:xfrm>
            <a:off x="2903589" y="3997302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작은창자</a:t>
            </a:r>
            <a:endParaRPr lang="ko-KR" sz="2200" dirty="0"/>
          </a:p>
        </p:txBody>
      </p:sp>
      <p:sp>
        <p:nvSpPr>
          <p:cNvPr id="20" name="S10-label107"/>
          <p:cNvSpPr txBox="1"/>
          <p:nvPr/>
        </p:nvSpPr>
        <p:spPr>
          <a:xfrm>
            <a:off x="2968867" y="4342165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소화 기관</a:t>
            </a:r>
            <a:endParaRPr lang="ko-KR" sz="1800" dirty="0"/>
          </a:p>
        </p:txBody>
      </p:sp>
      <p:sp>
        <p:nvSpPr>
          <p:cNvPr id="21" name="S10-label109"/>
          <p:cNvSpPr txBox="1"/>
          <p:nvPr/>
        </p:nvSpPr>
        <p:spPr>
          <a:xfrm>
            <a:off x="8354199" y="399730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근육</a:t>
            </a:r>
            <a:endParaRPr lang="ko-KR" sz="2200" dirty="0"/>
          </a:p>
        </p:txBody>
      </p:sp>
      <p:sp>
        <p:nvSpPr>
          <p:cNvPr id="22" name="S10-label111"/>
          <p:cNvSpPr txBox="1"/>
          <p:nvPr/>
        </p:nvSpPr>
        <p:spPr>
          <a:xfrm>
            <a:off x="8145665" y="4342165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 기관</a:t>
            </a:r>
            <a:endParaRPr lang="ko-KR" sz="1800" dirty="0"/>
          </a:p>
        </p:txBody>
      </p:sp>
      <p:sp>
        <p:nvSpPr>
          <p:cNvPr id="23" name="S10-label113"/>
          <p:cNvSpPr txBox="1"/>
          <p:nvPr/>
        </p:nvSpPr>
        <p:spPr>
          <a:xfrm>
            <a:off x="5765800" y="54167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콩팥</a:t>
            </a:r>
            <a:endParaRPr lang="ko-KR" sz="2200" dirty="0"/>
          </a:p>
        </p:txBody>
      </p:sp>
      <p:sp>
        <p:nvSpPr>
          <p:cNvPr id="24" name="S10-label115"/>
          <p:cNvSpPr txBox="1"/>
          <p:nvPr/>
        </p:nvSpPr>
        <p:spPr>
          <a:xfrm>
            <a:off x="5557266" y="5761609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배설 기관</a:t>
            </a:r>
            <a:endParaRPr lang="ko-KR" sz="1800" dirty="0"/>
          </a:p>
        </p:txBody>
      </p:sp>
      <p:sp>
        <p:nvSpPr>
          <p:cNvPr id="25" name="S10-label117"/>
          <p:cNvSpPr txBox="1"/>
          <p:nvPr/>
        </p:nvSpPr>
        <p:spPr>
          <a:xfrm>
            <a:off x="5105862" y="344457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산소</a:t>
            </a:r>
            <a:endParaRPr lang="ko-KR" sz="1800" dirty="0"/>
          </a:p>
        </p:txBody>
      </p:sp>
      <p:sp>
        <p:nvSpPr>
          <p:cNvPr id="26" name="S10-label119"/>
          <p:cNvSpPr txBox="1"/>
          <p:nvPr/>
        </p:nvSpPr>
        <p:spPr>
          <a:xfrm>
            <a:off x="6384590" y="3444575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이산화 탄소</a:t>
            </a:r>
            <a:endParaRPr lang="ko-KR" sz="1800" dirty="0"/>
          </a:p>
        </p:txBody>
      </p:sp>
      <p:sp>
        <p:nvSpPr>
          <p:cNvPr id="27" name="S10-label121"/>
          <p:cNvSpPr txBox="1"/>
          <p:nvPr/>
        </p:nvSpPr>
        <p:spPr>
          <a:xfrm>
            <a:off x="4409371" y="394555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</a:t>
            </a:r>
            <a:endParaRPr lang="ko-KR" sz="1800" dirty="0"/>
          </a:p>
        </p:txBody>
      </p:sp>
      <p:sp>
        <p:nvSpPr>
          <p:cNvPr id="28" name="S10-label123"/>
          <p:cNvSpPr txBox="1"/>
          <p:nvPr/>
        </p:nvSpPr>
        <p:spPr>
          <a:xfrm>
            <a:off x="6661727" y="3632442"/>
            <a:ext cx="1453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산소·영양소</a:t>
            </a:r>
            <a:endParaRPr lang="ko-KR" sz="1800" dirty="0"/>
          </a:p>
        </p:txBody>
      </p:sp>
      <p:sp>
        <p:nvSpPr>
          <p:cNvPr id="29" name="S10-label125"/>
          <p:cNvSpPr txBox="1"/>
          <p:nvPr/>
        </p:nvSpPr>
        <p:spPr>
          <a:xfrm>
            <a:off x="6291395" y="4676152"/>
            <a:ext cx="21945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이산화 탄소·노폐물</a:t>
            </a:r>
            <a:endParaRPr lang="ko-KR" sz="1800" dirty="0"/>
          </a:p>
        </p:txBody>
      </p:sp>
      <p:sp>
        <p:nvSpPr>
          <p:cNvPr id="30" name="S10-label127"/>
          <p:cNvSpPr txBox="1"/>
          <p:nvPr/>
        </p:nvSpPr>
        <p:spPr>
          <a:xfrm>
            <a:off x="6204550" y="486401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노폐물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기관이 할까요?</a:t>
            </a:r>
            <a:endParaRPr lang="ko-KR" sz="4000" dirty="0"/>
          </a:p>
        </p:txBody>
      </p:sp>
      <p:sp>
        <p:nvSpPr>
          <p:cNvPr id="3" name="S11-text1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모형을 떠올리며 어느 기관이 하는지 말해요.</a:t>
            </a:r>
            <a:endParaRPr lang="ko-KR" sz="2800" dirty="0"/>
          </a:p>
        </p:txBody>
      </p:sp>
      <p:sp>
        <p:nvSpPr>
          <p:cNvPr id="4" name="S11-card1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1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화살표가 어디에서 시작했나요?</a:t>
            </a:r>
            <a:endParaRPr lang="ko-KR" sz="2800" dirty="0"/>
          </a:p>
        </p:txBody>
      </p:sp>
      <p:sp>
        <p:nvSpPr>
          <p:cNvPr id="6" name="S11-chip13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13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산소를 받아들여요.</a:t>
            </a:r>
            <a:endParaRPr lang="ko-KR" sz="2800" dirty="0"/>
          </a:p>
        </p:txBody>
      </p:sp>
      <p:sp>
        <p:nvSpPr>
          <p:cNvPr id="8" name="S11-chip13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13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영양소를 흡수해요.</a:t>
            </a:r>
            <a:endParaRPr lang="ko-KR" sz="2800" dirty="0"/>
          </a:p>
        </p:txBody>
      </p:sp>
      <p:sp>
        <p:nvSpPr>
          <p:cNvPr id="10" name="S11-chip13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13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산소와 영양소를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근육으로 날라요.</a:t>
            </a:r>
            <a:endParaRPr lang="ko-KR" sz="2800" dirty="0"/>
          </a:p>
        </p:txBody>
      </p:sp>
      <p:sp>
        <p:nvSpPr>
          <p:cNvPr id="12" name="S11-chip13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1-text138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노폐물을 걸러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내보내요.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3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4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15초 동안 맥박이 27번이면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동안은 몇 번일까요?</a:t>
            </a:r>
            <a:endParaRPr lang="ko-KR" sz="2800" dirty="0"/>
          </a:p>
        </p:txBody>
      </p:sp>
      <p:sp>
        <p:nvSpPr>
          <p:cNvPr id="5" name="S12-chip14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4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운동하면 숨이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빨라지는 까닭은?</a:t>
            </a:r>
            <a:endParaRPr lang="ko-KR" sz="2800" dirty="0"/>
          </a:p>
        </p:txBody>
      </p:sp>
      <p:sp>
        <p:nvSpPr>
          <p:cNvPr id="7" name="S12-chip14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14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운동하면 맥박이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빨라지는 까닭은?</a:t>
            </a:r>
            <a:endParaRPr lang="ko-KR" sz="2800" dirty="0"/>
          </a:p>
        </p:txBody>
      </p:sp>
      <p:sp>
        <p:nvSpPr>
          <p:cNvPr id="9" name="S12-chip14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4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영양소를 근육까지</a:t>
            </a:r>
            <a:endParaRPr lang="ko-KR" sz="2800" dirty="0"/>
          </a:p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나르는 두 기관은?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15초 동안 센 것은 4를 곱해요.</a:t>
            </a:r>
            <a:endParaRPr lang="ko-KR" sz="2800" dirty="0"/>
          </a:p>
        </p:txBody>
      </p:sp>
      <p:sp>
        <p:nvSpPr>
          <p:cNvPr id="5" name="S13-chip14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eqtext150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4 = 108</a:t>
            </a:r>
            <a:endParaRPr lang="ko-KR" sz="2600" dirty="0"/>
          </a:p>
        </p:txBody>
      </p:sp>
      <p:sp>
        <p:nvSpPr>
          <p:cNvPr id="7" name="S13-text151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15초 × 4</a:t>
            </a:r>
            <a:endParaRPr lang="ko-KR" sz="2200" dirty="0"/>
          </a:p>
        </p:txBody>
      </p:sp>
      <p:sp>
        <p:nvSpPr>
          <p:cNvPr id="8" name="S13-text152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산소를 더</a:t>
            </a:r>
            <a:endParaRPr lang="ko-KR" sz="2800" dirty="0"/>
          </a:p>
        </p:txBody>
      </p:sp>
      <p:sp>
        <p:nvSpPr>
          <p:cNvPr id="9" name="S13-text153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근육이 많이 씀</a:t>
            </a:r>
            <a:endParaRPr lang="ko-KR" sz="2200" dirty="0"/>
          </a:p>
        </p:txBody>
      </p:sp>
      <p:sp>
        <p:nvSpPr>
          <p:cNvPr id="10" name="S13-text154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혈액을 빨리</a:t>
            </a:r>
            <a:endParaRPr lang="ko-KR" sz="2800" dirty="0"/>
          </a:p>
        </p:txBody>
      </p:sp>
      <p:sp>
        <p:nvSpPr>
          <p:cNvPr id="11" name="S13-text155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산소·영양소 운반</a:t>
            </a:r>
            <a:endParaRPr lang="ko-KR" sz="2200" dirty="0"/>
          </a:p>
        </p:txBody>
      </p:sp>
      <p:sp>
        <p:nvSpPr>
          <p:cNvPr id="12" name="S13-text156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소화, 순환</a:t>
            </a:r>
            <a:endParaRPr lang="ko-KR" sz="2800" dirty="0"/>
          </a:p>
        </p:txBody>
      </p:sp>
      <p:sp>
        <p:nvSpPr>
          <p:cNvPr id="13" name="S13-text157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작은창자, 심장</a:t>
            </a:r>
            <a:endParaRPr lang="ko-KR" sz="2200" dirty="0"/>
          </a:p>
        </p:txBody>
      </p:sp>
      <p:sp>
        <p:nvSpPr>
          <p:cNvPr id="14" name="S13-chip15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3-eqtext15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2 = 54</a:t>
            </a:r>
            <a:endParaRPr lang="ko-KR" sz="2600" dirty="0"/>
          </a:p>
        </p:txBody>
      </p:sp>
      <p:sp>
        <p:nvSpPr>
          <p:cNvPr id="16" name="S13-text16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30초처럼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계산함</a:t>
            </a:r>
            <a:endParaRPr lang="ko-KR" sz="2200" dirty="0"/>
          </a:p>
        </p:txBody>
      </p:sp>
      <p:sp>
        <p:nvSpPr>
          <p:cNvPr id="17" name="S13-text16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힘들어서</a:t>
            </a:r>
            <a:endParaRPr lang="ko-KR" sz="2800" dirty="0"/>
          </a:p>
        </p:txBody>
      </p:sp>
      <p:sp>
        <p:nvSpPr>
          <p:cNvPr id="18" name="S13-text16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 직후에 잰 것은?</a:t>
            </a:r>
            <a:endParaRPr lang="ko-KR" sz="4000" dirty="0"/>
          </a:p>
        </p:txBody>
      </p:sp>
      <p:sp>
        <p:nvSpPr>
          <p:cNvPr id="3" name="S14-text1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하늘이가 잰 1분 동안의 맥박이에요. 순서는 섞여 있어요.</a:t>
            </a:r>
            <a:endParaRPr lang="ko-KR" sz="2800" dirty="0"/>
          </a:p>
        </p:txBody>
      </p:sp>
      <p:sp>
        <p:nvSpPr>
          <p:cNvPr id="4" name="S14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나머지 두 값은 언제 잰 것인지 말해요.</a:t>
            </a:r>
            <a:endParaRPr lang="ko-KR" sz="2800" dirty="0"/>
          </a:p>
        </p:txBody>
      </p:sp>
      <p:sp>
        <p:nvSpPr>
          <p:cNvPr id="6" name="S14-chip16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4-card16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6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76번</a:t>
            </a:r>
            <a:endParaRPr lang="ko-KR" sz="2800" dirty="0"/>
          </a:p>
        </p:txBody>
      </p:sp>
      <p:sp>
        <p:nvSpPr>
          <p:cNvPr id="9" name="S14-chip16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4-card17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7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120번</a:t>
            </a:r>
            <a:endParaRPr lang="ko-KR" sz="2800" dirty="0"/>
          </a:p>
        </p:txBody>
      </p:sp>
      <p:sp>
        <p:nvSpPr>
          <p:cNvPr id="12" name="S14-chip17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4-card17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7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84번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7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운동하면 근육이 산소와 영양소를 많이 써서 숨과 맥박이 빨라져요.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기관이 함께 일해 우리 몸을 움직여요.</a:t>
            </a:r>
            <a:endParaRPr lang="ko-KR" sz="2800" dirty="0"/>
          </a:p>
        </p:txBody>
      </p:sp>
      <p:sp>
        <p:nvSpPr>
          <p:cNvPr id="5" name="S15-chip17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잰 값을 증거로 설명하기</a:t>
            </a:r>
            <a:endParaRPr lang="ko-KR" sz="2200" dirty="0"/>
          </a:p>
        </p:txBody>
      </p:sp>
      <p:sp>
        <p:nvSpPr>
          <p:cNvPr id="6" name="S15-chip17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기관이 따로따로 일한다고 생각하기</a:t>
            </a:r>
            <a:endParaRPr lang="ko-KR" sz="2200" dirty="0"/>
          </a:p>
        </p:txBody>
      </p:sp>
      <p:sp>
        <p:nvSpPr>
          <p:cNvPr id="7" name="S15-text17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18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15초 동안 센 맥박으로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값을 구하려면?</a:t>
            </a:r>
            <a:endParaRPr lang="ko-KR" sz="2200" dirty="0"/>
          </a:p>
        </p:txBody>
      </p:sp>
      <p:sp>
        <p:nvSpPr>
          <p:cNvPr id="9" name="S15-text18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운동 직후 맥박과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숨은 어떻게 되나요?</a:t>
            </a:r>
            <a:endParaRPr lang="ko-KR" sz="2200" dirty="0"/>
          </a:p>
        </p:txBody>
      </p:sp>
      <p:sp>
        <p:nvSpPr>
          <p:cNvPr id="10" name="S15-text18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산소와 영양소를</a:t>
            </a:r>
            <a:endParaRPr lang="ko-KR" sz="2200" dirty="0"/>
          </a:p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나르는 기관은?</a:t>
            </a:r>
            <a:endParaRPr lang="ko-KR" sz="2200" dirty="0"/>
          </a:p>
        </p:txBody>
      </p:sp>
      <p:sp>
        <p:nvSpPr>
          <p:cNvPr id="11" name="S15-text1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날씨 요소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기관이 하는 일</a:t>
            </a:r>
            <a:endParaRPr lang="ko-KR" sz="4000" dirty="0"/>
          </a:p>
        </p:txBody>
      </p:sp>
      <p:sp>
        <p:nvSpPr>
          <p:cNvPr id="3" name="S16-text1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기관이 하는 일을 다시 봐요.</a:t>
            </a:r>
            <a:endParaRPr lang="ko-KR" sz="2800" dirty="0"/>
          </a:p>
        </p:txBody>
      </p:sp>
      <p:sp>
        <p:nvSpPr>
          <p:cNvPr id="4" name="S16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이 기관들이 함께 일하는 모습을 알아봐요.</a:t>
            </a:r>
            <a:endParaRPr lang="ko-KR" sz="2800" dirty="0"/>
          </a:p>
        </p:txBody>
      </p:sp>
      <p:sp>
        <p:nvSpPr>
          <p:cNvPr id="6" name="S16-card187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88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혈액을 온몸으로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보내요.</a:t>
            </a:r>
            <a:endParaRPr lang="ko-KR" sz="2200" dirty="0"/>
          </a:p>
        </p:txBody>
      </p:sp>
      <p:sp>
        <p:nvSpPr>
          <p:cNvPr id="8" name="S16-card189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6-cardtext190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산소를 받아들이고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이산화 탄소를 내보내요.</a:t>
            </a:r>
            <a:endParaRPr lang="ko-KR" sz="2200" dirty="0"/>
          </a:p>
        </p:txBody>
      </p:sp>
      <p:sp>
        <p:nvSpPr>
          <p:cNvPr id="10" name="S16-card191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6-cardtext192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작은창자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영양소를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흡수해요.</a:t>
            </a:r>
            <a:endParaRPr lang="ko-KR" sz="2200" dirty="0"/>
          </a:p>
        </p:txBody>
      </p:sp>
      <p:sp>
        <p:nvSpPr>
          <p:cNvPr id="12" name="S16-card193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194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콩팥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노폐물을 걸러</a:t>
            </a:r>
            <a:endParaRPr lang="ko-KR" sz="2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오줌을 만들어요.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과학 기관의 협력</dc:title>
  <dc:subject>KR22-G05-SCI-TOGETHER-L01</dc:subject>
  <dc:creator>education-ppt</dc:creator>
  <cp:lastModifiedBy>education-ppt</cp:lastModifiedBy>
  <cp:revision>1</cp:revision>
  <dcterms:created xsi:type="dcterms:W3CDTF">2026-10-26T13:53:59Z</dcterms:created>
  <dcterms:modified xsi:type="dcterms:W3CDTF">2026-10-26T13:53:59Z</dcterms:modified>
</cp:coreProperties>
</file>