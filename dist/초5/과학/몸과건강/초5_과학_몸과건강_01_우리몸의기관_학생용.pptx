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702a230-ccbf-54ff-e5b3-5b20241e1116}">
          <p14:sldIdLst>
            <p14:sldId id="256"/>
            <p14:sldId id="257"/>
          </p14:sldIdLst>
        </p14:section>
        <p14:section name="연습" id="{dd39ae5b-b152-afd0-54a7-5b14b308a9f3}">
          <p14:sldIdLst>
            <p14:sldId id="258"/>
            <p14:sldId id="259"/>
            <p14:sldId id="260"/>
            <p14:sldId id="262"/>
            <p14:sldId id="264"/>
            <p14:sldId id="265"/>
            <p14:sldId id="266"/>
            <p14:sldId id="268"/>
            <p14:sldId id="271"/>
          </p14:sldIdLst>
        </p14:section>
        <p14:section name="개념" id="{3693902c-a4b0-558d-05e6-0102aee63b02}">
          <p14:sldIdLst>
            <p14:sldId id="261"/>
            <p14:sldId id="263"/>
            <p14:sldId id="267"/>
            <p14:sldId id="269"/>
            <p14:sldId id="270"/>
          </p14:sldIdLst>
        </p14:section>
        <p14:section name="연습" id="{9dbfd7f6-690f-37c1-23b0-23b0e0a6fa2f}">
          <p14:sldIdLst/>
        </p14:section>
        <p14:section name="개념" id="{0500b9ae-fced-2682-7293-7514a0825f07}">
          <p14:sldIdLst/>
        </p14:section>
        <p14:section name="연습" id="{4295b09a-27ce-dc00-b661-d0eb5a458b32}">
          <p14:sldIdLst/>
        </p14:section>
        <p14:section name="개념" id="{fd2a1809-5253-ba90-debd-79dcb8809b6c}">
          <p14:sldIdLst/>
        </p14:section>
        <p14:section name="연습" id="{edd1b316-13e8-766f-3417-e266f9a1d665}">
          <p14:sldIdLst/>
        </p14:section>
        <p14:section name="개념" id="{cb469fed-16bb-9f84-2447-47b337ca1d59}">
          <p14:sldIdLst/>
        </p14:section>
        <p14:section name="연습" id="{6476ba1e-2475-fe1e-5a97-2cd23ca09192}">
          <p14:sldIdLst/>
        </p14:section>
        <p14:section name="확인" id="{a0cc59f1-cb32-80e0-9d7d-b46c41c3915c}">
          <p14:sldIdLst>
            <p14:sldId id="272"/>
            <p14:sldId id="273"/>
          </p14:sldIdLst>
        </p14:section>
        <p14:section name="정리" id="{4498bc3d-f804-ced2-106c-bbb2bfb5ad96}">
          <p14:sldIdLst>
            <p14:sldId id="274"/>
          </p14:sldIdLst>
        </p14:section>
        <p14:section name="보충" id="{3badb53d-3371-fb62-b202-c8edb1da95bd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몸과건강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우리 몸의 기관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우리 몸의 기관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우리 몸의 기관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몸의 기관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몸속에서는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 일어날까?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팔을 굽힌 모습의 뼈와 근육 모식도"/>
          <p:cNvSpPr/>
          <p:nvPr/>
        </p:nvSpPr>
        <p:spPr>
          <a:xfrm>
            <a:off x="9552813" y="2757591"/>
            <a:ext cx="188214" cy="18821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299479" y="2381163"/>
            <a:ext cx="983846" cy="410649"/>
          </a:xfrm>
          <a:custGeom>
            <a:avLst/>
            <a:gdLst/>
            <a:ahLst/>
            <a:cxnLst/>
            <a:rect l="l" t="t" r="r" b="b"/>
            <a:pathLst>
              <a:path w="983846" h="410649">
                <a:moveTo>
                  <a:pt x="983846" y="205324"/>
                </a:moveTo>
                <a:lnTo>
                  <a:pt x="981974" y="187429"/>
                </a:lnTo>
                <a:lnTo>
                  <a:pt x="976372" y="169670"/>
                </a:lnTo>
                <a:lnTo>
                  <a:pt x="967084" y="152183"/>
                </a:lnTo>
                <a:lnTo>
                  <a:pt x="954179" y="135099"/>
                </a:lnTo>
                <a:lnTo>
                  <a:pt x="937757" y="118551"/>
                </a:lnTo>
                <a:lnTo>
                  <a:pt x="917941" y="102662"/>
                </a:lnTo>
                <a:lnTo>
                  <a:pt x="894883" y="87555"/>
                </a:lnTo>
                <a:lnTo>
                  <a:pt x="868758" y="73344"/>
                </a:lnTo>
                <a:lnTo>
                  <a:pt x="839765" y="60138"/>
                </a:lnTo>
                <a:lnTo>
                  <a:pt x="808125" y="48037"/>
                </a:lnTo>
                <a:lnTo>
                  <a:pt x="774078" y="37132"/>
                </a:lnTo>
                <a:lnTo>
                  <a:pt x="737884" y="27508"/>
                </a:lnTo>
                <a:lnTo>
                  <a:pt x="699819" y="19237"/>
                </a:lnTo>
                <a:lnTo>
                  <a:pt x="660171" y="12383"/>
                </a:lnTo>
                <a:lnTo>
                  <a:pt x="619242" y="6996"/>
                </a:lnTo>
                <a:lnTo>
                  <a:pt x="577344" y="3119"/>
                </a:lnTo>
                <a:lnTo>
                  <a:pt x="534797" y="781"/>
                </a:lnTo>
                <a:lnTo>
                  <a:pt x="491923" y="0"/>
                </a:lnTo>
                <a:lnTo>
                  <a:pt x="449049" y="781"/>
                </a:lnTo>
                <a:lnTo>
                  <a:pt x="406501" y="3119"/>
                </a:lnTo>
                <a:lnTo>
                  <a:pt x="364604" y="6996"/>
                </a:lnTo>
                <a:lnTo>
                  <a:pt x="323675" y="12383"/>
                </a:lnTo>
                <a:lnTo>
                  <a:pt x="284027" y="19237"/>
                </a:lnTo>
                <a:lnTo>
                  <a:pt x="245961" y="27508"/>
                </a:lnTo>
                <a:lnTo>
                  <a:pt x="209768" y="37132"/>
                </a:lnTo>
                <a:lnTo>
                  <a:pt x="175721" y="48037"/>
                </a:lnTo>
                <a:lnTo>
                  <a:pt x="144081" y="60138"/>
                </a:lnTo>
                <a:lnTo>
                  <a:pt x="115088" y="73344"/>
                </a:lnTo>
                <a:lnTo>
                  <a:pt x="88963" y="87555"/>
                </a:lnTo>
                <a:lnTo>
                  <a:pt x="65905" y="102662"/>
                </a:lnTo>
                <a:lnTo>
                  <a:pt x="46089" y="118551"/>
                </a:lnTo>
                <a:lnTo>
                  <a:pt x="29667" y="135099"/>
                </a:lnTo>
                <a:lnTo>
                  <a:pt x="16762" y="152183"/>
                </a:lnTo>
                <a:lnTo>
                  <a:pt x="7473" y="169670"/>
                </a:lnTo>
                <a:lnTo>
                  <a:pt x="1872" y="187429"/>
                </a:lnTo>
                <a:lnTo>
                  <a:pt x="0" y="205324"/>
                </a:lnTo>
                <a:lnTo>
                  <a:pt x="1872" y="223220"/>
                </a:lnTo>
                <a:lnTo>
                  <a:pt x="7473" y="240979"/>
                </a:lnTo>
                <a:lnTo>
                  <a:pt x="16762" y="258466"/>
                </a:lnTo>
                <a:lnTo>
                  <a:pt x="29667" y="275549"/>
                </a:lnTo>
                <a:lnTo>
                  <a:pt x="46089" y="292098"/>
                </a:lnTo>
                <a:lnTo>
                  <a:pt x="65905" y="307987"/>
                </a:lnTo>
                <a:lnTo>
                  <a:pt x="88963" y="323094"/>
                </a:lnTo>
                <a:lnTo>
                  <a:pt x="115088" y="337304"/>
                </a:lnTo>
                <a:lnTo>
                  <a:pt x="144081" y="350511"/>
                </a:lnTo>
                <a:lnTo>
                  <a:pt x="175721" y="362612"/>
                </a:lnTo>
                <a:lnTo>
                  <a:pt x="209768" y="373516"/>
                </a:lnTo>
                <a:lnTo>
                  <a:pt x="245961" y="383140"/>
                </a:lnTo>
                <a:lnTo>
                  <a:pt x="284027" y="391411"/>
                </a:lnTo>
                <a:lnTo>
                  <a:pt x="323675" y="398266"/>
                </a:lnTo>
                <a:lnTo>
                  <a:pt x="364604" y="403652"/>
                </a:lnTo>
                <a:lnTo>
                  <a:pt x="406501" y="407529"/>
                </a:lnTo>
                <a:lnTo>
                  <a:pt x="449049" y="409867"/>
                </a:lnTo>
                <a:lnTo>
                  <a:pt x="491923" y="410649"/>
                </a:lnTo>
                <a:lnTo>
                  <a:pt x="534797" y="409867"/>
                </a:lnTo>
                <a:lnTo>
                  <a:pt x="577344" y="407529"/>
                </a:lnTo>
                <a:lnTo>
                  <a:pt x="619242" y="403652"/>
                </a:lnTo>
                <a:lnTo>
                  <a:pt x="660171" y="398266"/>
                </a:lnTo>
                <a:lnTo>
                  <a:pt x="699819" y="391411"/>
                </a:lnTo>
                <a:lnTo>
                  <a:pt x="737884" y="383140"/>
                </a:lnTo>
                <a:lnTo>
                  <a:pt x="774078" y="373516"/>
                </a:lnTo>
                <a:lnTo>
                  <a:pt x="808125" y="362612"/>
                </a:lnTo>
                <a:lnTo>
                  <a:pt x="839765" y="350511"/>
                </a:lnTo>
                <a:lnTo>
                  <a:pt x="868758" y="337304"/>
                </a:lnTo>
                <a:lnTo>
                  <a:pt x="894883" y="323094"/>
                </a:lnTo>
                <a:lnTo>
                  <a:pt x="917941" y="307987"/>
                </a:lnTo>
                <a:lnTo>
                  <a:pt x="937757" y="292098"/>
                </a:lnTo>
                <a:lnTo>
                  <a:pt x="954179" y="275549"/>
                </a:lnTo>
                <a:lnTo>
                  <a:pt x="967084" y="258466"/>
                </a:lnTo>
                <a:lnTo>
                  <a:pt x="976372" y="240979"/>
                </a:lnTo>
                <a:lnTo>
                  <a:pt x="981974" y="223220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935884" y="2851698"/>
            <a:ext cx="171103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H="1" flipV="1">
            <a:off x="9061746" y="1243752"/>
            <a:ext cx="585174" cy="1607946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064211" y="2586488"/>
            <a:ext cx="235268" cy="213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9283325" y="2570233"/>
            <a:ext cx="261361" cy="16255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01-label9"/>
          <p:cNvSpPr txBox="1"/>
          <p:nvPr/>
        </p:nvSpPr>
        <p:spPr>
          <a:xfrm>
            <a:off x="8512510" y="204579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</a:t>
            </a:r>
            <a:endParaRPr lang="ko-KR" sz="1800" dirty="0"/>
          </a:p>
        </p:txBody>
      </p:sp>
      <p:sp>
        <p:nvSpPr>
          <p:cNvPr id="12" name="S01-label11"/>
          <p:cNvSpPr txBox="1"/>
          <p:nvPr/>
        </p:nvSpPr>
        <p:spPr>
          <a:xfrm>
            <a:off x="8624524" y="2944091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</a:t>
            </a:r>
            <a:endParaRPr lang="ko-KR" sz="1800" dirty="0"/>
          </a:p>
        </p:txBody>
      </p:sp>
      <p:sp>
        <p:nvSpPr>
          <p:cNvPr id="13" name="S01-card1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뼈와 근육이 몸을 움직이는 방법을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소화·호흡·순환·배설 기관이 하는 일을 알아봐요.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새는 무엇으로 날고, 물고기는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헤엄치나요?</a:t>
            </a:r>
            <a:endParaRPr lang="ko-KR" sz="2800" dirty="0"/>
          </a:p>
        </p:txBody>
      </p:sp>
      <p:sp>
        <p:nvSpPr>
          <p:cNvPr id="5" name="S02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7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몸의 어느 부분으로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걷고 뛰나요?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반대쪽 손으로 위팔 앞쪽을 잡고 해 봐요.</a:t>
            </a:r>
            <a:endParaRPr lang="ko-KR" sz="2800" dirty="0"/>
          </a:p>
        </p:txBody>
      </p:sp>
      <p:sp>
        <p:nvSpPr>
          <p:cNvPr id="4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굽히면 위팔 앞쪽 근육은?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펴면 위팔 앞쪽 근육은?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팔꿈치에서 단단한 것은?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굽혔다 펴 봐요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무거운 물건 없이 천천히 해요.</a:t>
            </a:r>
            <a:endParaRPr lang="ko-KR" sz="2800" dirty="0"/>
          </a:p>
        </p:txBody>
      </p:sp>
      <p:sp>
        <p:nvSpPr>
          <p:cNvPr id="5" name="S04-card24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5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모양과 단단함을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굽힐 때와 펼 때를 비교해요</a:t>
            </a:r>
            <a:endParaRPr lang="ko-KR" sz="2800" dirty="0"/>
          </a:p>
        </p:txBody>
      </p:sp>
      <p:sp>
        <p:nvSpPr>
          <p:cNvPr id="7" name="S04-stepno26"/>
          <p:cNvSpPr txBox="1"/>
          <p:nvPr/>
        </p:nvSpPr>
        <p:spPr>
          <a:xfrm>
            <a:off x="548640" y="160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27"/>
          <p:cNvSpPr txBox="1"/>
          <p:nvPr/>
        </p:nvSpPr>
        <p:spPr>
          <a:xfrm>
            <a:off x="1325880" y="1560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반대쪽 손으로 위팔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앞쪽을 가볍게 잡아요.</a:t>
            </a:r>
            <a:endParaRPr lang="ko-KR" sz="2800" dirty="0"/>
          </a:p>
        </p:txBody>
      </p:sp>
      <p:sp>
        <p:nvSpPr>
          <p:cNvPr id="9" name="S04-stepno2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29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천천히 굽혀요.</a:t>
            </a:r>
            <a:endParaRPr lang="ko-KR" sz="2800" dirty="0"/>
          </a:p>
        </p:txBody>
      </p:sp>
      <p:sp>
        <p:nvSpPr>
          <p:cNvPr id="11" name="S04-stepno3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31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쭉 펴요.</a:t>
            </a:r>
            <a:endParaRPr lang="ko-KR" sz="2800" dirty="0"/>
          </a:p>
        </p:txBody>
      </p:sp>
      <p:sp>
        <p:nvSpPr>
          <p:cNvPr id="13" name="S04-stepno32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4-text33"/>
          <p:cNvSpPr txBox="1"/>
          <p:nvPr/>
        </p:nvSpPr>
        <p:spPr>
          <a:xfrm>
            <a:off x="1325880" y="401878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근육과 뼈의 느낌을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근육의 모양은 언제 바뀌었나요?</a:t>
            </a:r>
            <a:endParaRPr lang="ko-KR" sz="2800" dirty="0"/>
          </a:p>
        </p:txBody>
      </p:sp>
      <p:graphicFrame>
        <p:nvGraphicFramePr>
          <p:cNvPr id="6" name="S05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굽힐 때 위팔 앞쪽 근육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펼 때 위팔 앞쪽 근육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팔꿈치 위아래를 눌러 보면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뼈와 근육이 하는 일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근육이 줄어들거나 늘어나며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움직여요.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뼈는 몸을 받치고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뇌·심장·폐를 보호해요.</a:t>
            </a:r>
            <a:endParaRPr lang="ko-KR" sz="2800" dirty="0"/>
          </a:p>
        </p:txBody>
      </p:sp>
      <p:sp>
        <p:nvSpPr>
          <p:cNvPr id="7" name="S06-figure42" descr="팔을 폈을 때: 위팔뼈와 아래팔뼈가 일직선이고, 위팔 앞쪽 근육이 길고 얇음. 근육의 양 끝은 위팔뼈와 아래팔뼈에 붙어 있음"/>
          <p:cNvSpPr/>
          <p:nvPr/>
        </p:nvSpPr>
        <p:spPr>
          <a:xfrm>
            <a:off x="3113651" y="3723469"/>
            <a:ext cx="255794" cy="25579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43"/>
          <p:cNvSpPr/>
          <p:nvPr/>
        </p:nvSpPr>
        <p:spPr>
          <a:xfrm>
            <a:off x="1206827" y="3490929"/>
            <a:ext cx="1860317" cy="279048"/>
          </a:xfrm>
          <a:custGeom>
            <a:avLst/>
            <a:gdLst/>
            <a:ahLst/>
            <a:cxnLst/>
            <a:rect l="l" t="t" r="r" b="b"/>
            <a:pathLst>
              <a:path w="1860317" h="279048">
                <a:moveTo>
                  <a:pt x="1860317" y="139524"/>
                </a:moveTo>
                <a:lnTo>
                  <a:pt x="1856777" y="127363"/>
                </a:lnTo>
                <a:lnTo>
                  <a:pt x="1846186" y="115296"/>
                </a:lnTo>
                <a:lnTo>
                  <a:pt x="1828622" y="103412"/>
                </a:lnTo>
                <a:lnTo>
                  <a:pt x="1804221" y="91804"/>
                </a:lnTo>
                <a:lnTo>
                  <a:pt x="1773168" y="80558"/>
                </a:lnTo>
                <a:lnTo>
                  <a:pt x="1735699" y="69762"/>
                </a:lnTo>
                <a:lnTo>
                  <a:pt x="1692099" y="59496"/>
                </a:lnTo>
                <a:lnTo>
                  <a:pt x="1642701" y="49840"/>
                </a:lnTo>
                <a:lnTo>
                  <a:pt x="1587880" y="40866"/>
                </a:lnTo>
                <a:lnTo>
                  <a:pt x="1528053" y="32642"/>
                </a:lnTo>
                <a:lnTo>
                  <a:pt x="1463675" y="25233"/>
                </a:lnTo>
                <a:lnTo>
                  <a:pt x="1395238" y="18693"/>
                </a:lnTo>
                <a:lnTo>
                  <a:pt x="1323260" y="13072"/>
                </a:lnTo>
                <a:lnTo>
                  <a:pt x="1248291" y="8414"/>
                </a:lnTo>
                <a:lnTo>
                  <a:pt x="1170901" y="4754"/>
                </a:lnTo>
                <a:lnTo>
                  <a:pt x="1091679" y="2120"/>
                </a:lnTo>
                <a:lnTo>
                  <a:pt x="1011227" y="531"/>
                </a:lnTo>
                <a:lnTo>
                  <a:pt x="930158" y="0"/>
                </a:lnTo>
                <a:lnTo>
                  <a:pt x="849090" y="531"/>
                </a:lnTo>
                <a:lnTo>
                  <a:pt x="768638" y="2120"/>
                </a:lnTo>
                <a:lnTo>
                  <a:pt x="689416" y="4754"/>
                </a:lnTo>
                <a:lnTo>
                  <a:pt x="612025" y="8414"/>
                </a:lnTo>
                <a:lnTo>
                  <a:pt x="537056" y="13072"/>
                </a:lnTo>
                <a:lnTo>
                  <a:pt x="465079" y="18693"/>
                </a:lnTo>
                <a:lnTo>
                  <a:pt x="396641" y="25233"/>
                </a:lnTo>
                <a:lnTo>
                  <a:pt x="332264" y="32642"/>
                </a:lnTo>
                <a:lnTo>
                  <a:pt x="272437" y="40866"/>
                </a:lnTo>
                <a:lnTo>
                  <a:pt x="217616" y="49840"/>
                </a:lnTo>
                <a:lnTo>
                  <a:pt x="168217" y="59496"/>
                </a:lnTo>
                <a:lnTo>
                  <a:pt x="124618" y="69762"/>
                </a:lnTo>
                <a:lnTo>
                  <a:pt x="87149" y="80558"/>
                </a:lnTo>
                <a:lnTo>
                  <a:pt x="56095" y="91804"/>
                </a:lnTo>
                <a:lnTo>
                  <a:pt x="31694" y="103412"/>
                </a:lnTo>
                <a:lnTo>
                  <a:pt x="14131" y="115296"/>
                </a:lnTo>
                <a:lnTo>
                  <a:pt x="3540" y="127363"/>
                </a:lnTo>
                <a:lnTo>
                  <a:pt x="0" y="139524"/>
                </a:lnTo>
                <a:lnTo>
                  <a:pt x="3540" y="151684"/>
                </a:lnTo>
                <a:lnTo>
                  <a:pt x="14131" y="163752"/>
                </a:lnTo>
                <a:lnTo>
                  <a:pt x="31694" y="175635"/>
                </a:lnTo>
                <a:lnTo>
                  <a:pt x="56095" y="187244"/>
                </a:lnTo>
                <a:lnTo>
                  <a:pt x="87149" y="198489"/>
                </a:lnTo>
                <a:lnTo>
                  <a:pt x="124618" y="209286"/>
                </a:lnTo>
                <a:lnTo>
                  <a:pt x="168217" y="219551"/>
                </a:lnTo>
                <a:lnTo>
                  <a:pt x="217616" y="229208"/>
                </a:lnTo>
                <a:lnTo>
                  <a:pt x="272437" y="238182"/>
                </a:lnTo>
                <a:lnTo>
                  <a:pt x="332264" y="246405"/>
                </a:lnTo>
                <a:lnTo>
                  <a:pt x="396641" y="253815"/>
                </a:lnTo>
                <a:lnTo>
                  <a:pt x="465079" y="260355"/>
                </a:lnTo>
                <a:lnTo>
                  <a:pt x="537056" y="265975"/>
                </a:lnTo>
                <a:lnTo>
                  <a:pt x="612025" y="270633"/>
                </a:lnTo>
                <a:lnTo>
                  <a:pt x="689416" y="274293"/>
                </a:lnTo>
                <a:lnTo>
                  <a:pt x="768638" y="276928"/>
                </a:lnTo>
                <a:lnTo>
                  <a:pt x="849090" y="278517"/>
                </a:lnTo>
                <a:lnTo>
                  <a:pt x="930158" y="279048"/>
                </a:lnTo>
                <a:lnTo>
                  <a:pt x="1011227" y="278517"/>
                </a:lnTo>
                <a:lnTo>
                  <a:pt x="1091679" y="276928"/>
                </a:lnTo>
                <a:lnTo>
                  <a:pt x="1170901" y="274293"/>
                </a:lnTo>
                <a:lnTo>
                  <a:pt x="1248291" y="270633"/>
                </a:lnTo>
                <a:lnTo>
                  <a:pt x="1323260" y="265975"/>
                </a:lnTo>
                <a:lnTo>
                  <a:pt x="1395238" y="260355"/>
                </a:lnTo>
                <a:lnTo>
                  <a:pt x="1463675" y="253815"/>
                </a:lnTo>
                <a:lnTo>
                  <a:pt x="1528053" y="246405"/>
                </a:lnTo>
                <a:lnTo>
                  <a:pt x="1587880" y="238182"/>
                </a:lnTo>
                <a:lnTo>
                  <a:pt x="1642701" y="229208"/>
                </a:lnTo>
                <a:lnTo>
                  <a:pt x="1692099" y="219551"/>
                </a:lnTo>
                <a:lnTo>
                  <a:pt x="1735699" y="209286"/>
                </a:lnTo>
                <a:lnTo>
                  <a:pt x="1773168" y="198489"/>
                </a:lnTo>
                <a:lnTo>
                  <a:pt x="1804221" y="187244"/>
                </a:lnTo>
                <a:lnTo>
                  <a:pt x="1828622" y="175635"/>
                </a:lnTo>
                <a:lnTo>
                  <a:pt x="1846186" y="163752"/>
                </a:lnTo>
                <a:lnTo>
                  <a:pt x="1856777" y="151684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6-mark44"/>
          <p:cNvSpPr/>
          <p:nvPr/>
        </p:nvSpPr>
        <p:spPr>
          <a:xfrm>
            <a:off x="916152" y="3851366"/>
            <a:ext cx="232539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10" name="S06-mark45"/>
          <p:cNvSpPr/>
          <p:nvPr/>
        </p:nvSpPr>
        <p:spPr>
          <a:xfrm>
            <a:off x="3241548" y="3851366"/>
            <a:ext cx="232539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11" name="S06-mark46"/>
          <p:cNvSpPr/>
          <p:nvPr/>
        </p:nvSpPr>
        <p:spPr>
          <a:xfrm flipV="1">
            <a:off x="1090557" y="3630453"/>
            <a:ext cx="116270" cy="15115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06-mark47"/>
          <p:cNvSpPr/>
          <p:nvPr/>
        </p:nvSpPr>
        <p:spPr>
          <a:xfrm>
            <a:off x="3067143" y="3630453"/>
            <a:ext cx="581349" cy="220913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06-label49"/>
          <p:cNvSpPr txBox="1"/>
          <p:nvPr/>
        </p:nvSpPr>
        <p:spPr>
          <a:xfrm>
            <a:off x="1799958" y="3010872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</a:t>
            </a:r>
            <a:endParaRPr lang="ko-KR" sz="1800" dirty="0"/>
          </a:p>
        </p:txBody>
      </p:sp>
      <p:sp>
        <p:nvSpPr>
          <p:cNvPr id="14" name="S06-label51"/>
          <p:cNvSpPr txBox="1"/>
          <p:nvPr/>
        </p:nvSpPr>
        <p:spPr>
          <a:xfrm>
            <a:off x="1911972" y="402823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</a:t>
            </a:r>
            <a:endParaRPr lang="ko-KR" sz="1800" dirty="0"/>
          </a:p>
        </p:txBody>
      </p:sp>
      <p:sp>
        <p:nvSpPr>
          <p:cNvPr id="15" name="S06-label52"/>
          <p:cNvSpPr txBox="1"/>
          <p:nvPr/>
        </p:nvSpPr>
        <p:spPr>
          <a:xfrm>
            <a:off x="548640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폈을 때</a:t>
            </a:r>
            <a:endParaRPr lang="ko-KR" sz="2200" dirty="0"/>
          </a:p>
        </p:txBody>
      </p:sp>
      <p:sp>
        <p:nvSpPr>
          <p:cNvPr id="16" name="S06-figure53" descr="팔을 굽혔을 때: 아래팔뼈가 위로 올라가고, 위팔 앞쪽 근육이 짧고 두꺼워져 아래팔뼈를 당김"/>
          <p:cNvSpPr/>
          <p:nvPr/>
        </p:nvSpPr>
        <p:spPr>
          <a:xfrm>
            <a:off x="8819507" y="3723469"/>
            <a:ext cx="255794" cy="25579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54"/>
          <p:cNvSpPr/>
          <p:nvPr/>
        </p:nvSpPr>
        <p:spPr>
          <a:xfrm>
            <a:off x="7116155" y="3211882"/>
            <a:ext cx="1337103" cy="558095"/>
          </a:xfrm>
          <a:custGeom>
            <a:avLst/>
            <a:gdLst/>
            <a:ahLst/>
            <a:cxnLst/>
            <a:rect l="l" t="t" r="r" b="b"/>
            <a:pathLst>
              <a:path w="1337103" h="558095">
                <a:moveTo>
                  <a:pt x="1337103" y="279048"/>
                </a:moveTo>
                <a:lnTo>
                  <a:pt x="1334559" y="254727"/>
                </a:lnTo>
                <a:lnTo>
                  <a:pt x="1326946" y="230591"/>
                </a:lnTo>
                <a:lnTo>
                  <a:pt x="1314322" y="206825"/>
                </a:lnTo>
                <a:lnTo>
                  <a:pt x="1296784" y="183608"/>
                </a:lnTo>
                <a:lnTo>
                  <a:pt x="1274465" y="161117"/>
                </a:lnTo>
                <a:lnTo>
                  <a:pt x="1247534" y="139524"/>
                </a:lnTo>
                <a:lnTo>
                  <a:pt x="1216197" y="118992"/>
                </a:lnTo>
                <a:lnTo>
                  <a:pt x="1180691" y="99679"/>
                </a:lnTo>
                <a:lnTo>
                  <a:pt x="1141289" y="81731"/>
                </a:lnTo>
                <a:lnTo>
                  <a:pt x="1098288" y="65285"/>
                </a:lnTo>
                <a:lnTo>
                  <a:pt x="1052017" y="50465"/>
                </a:lnTo>
                <a:lnTo>
                  <a:pt x="1002827" y="37385"/>
                </a:lnTo>
                <a:lnTo>
                  <a:pt x="951093" y="26145"/>
                </a:lnTo>
                <a:lnTo>
                  <a:pt x="897209" y="16829"/>
                </a:lnTo>
                <a:lnTo>
                  <a:pt x="841585" y="9508"/>
                </a:lnTo>
                <a:lnTo>
                  <a:pt x="784644" y="4239"/>
                </a:lnTo>
                <a:lnTo>
                  <a:pt x="726819" y="1062"/>
                </a:lnTo>
                <a:lnTo>
                  <a:pt x="668551" y="0"/>
                </a:lnTo>
                <a:lnTo>
                  <a:pt x="610283" y="1062"/>
                </a:lnTo>
                <a:lnTo>
                  <a:pt x="552459" y="4239"/>
                </a:lnTo>
                <a:lnTo>
                  <a:pt x="495518" y="9508"/>
                </a:lnTo>
                <a:lnTo>
                  <a:pt x="439893" y="16829"/>
                </a:lnTo>
                <a:lnTo>
                  <a:pt x="386009" y="26145"/>
                </a:lnTo>
                <a:lnTo>
                  <a:pt x="334276" y="37385"/>
                </a:lnTo>
                <a:lnTo>
                  <a:pt x="285086" y="50465"/>
                </a:lnTo>
                <a:lnTo>
                  <a:pt x="238815" y="65285"/>
                </a:lnTo>
                <a:lnTo>
                  <a:pt x="195814" y="81731"/>
                </a:lnTo>
                <a:lnTo>
                  <a:pt x="156411" y="99679"/>
                </a:lnTo>
                <a:lnTo>
                  <a:pt x="120906" y="118992"/>
                </a:lnTo>
                <a:lnTo>
                  <a:pt x="89569" y="139524"/>
                </a:lnTo>
                <a:lnTo>
                  <a:pt x="62638" y="161117"/>
                </a:lnTo>
                <a:lnTo>
                  <a:pt x="40319" y="183608"/>
                </a:lnTo>
                <a:lnTo>
                  <a:pt x="22780" y="206825"/>
                </a:lnTo>
                <a:lnTo>
                  <a:pt x="10157" y="230591"/>
                </a:lnTo>
                <a:lnTo>
                  <a:pt x="2544" y="254727"/>
                </a:lnTo>
                <a:lnTo>
                  <a:pt x="0" y="279048"/>
                </a:lnTo>
                <a:lnTo>
                  <a:pt x="2544" y="303368"/>
                </a:lnTo>
                <a:lnTo>
                  <a:pt x="10157" y="327504"/>
                </a:lnTo>
                <a:lnTo>
                  <a:pt x="22780" y="351270"/>
                </a:lnTo>
                <a:lnTo>
                  <a:pt x="40319" y="374487"/>
                </a:lnTo>
                <a:lnTo>
                  <a:pt x="62638" y="396978"/>
                </a:lnTo>
                <a:lnTo>
                  <a:pt x="89569" y="418571"/>
                </a:lnTo>
                <a:lnTo>
                  <a:pt x="120906" y="439103"/>
                </a:lnTo>
                <a:lnTo>
                  <a:pt x="156411" y="458416"/>
                </a:lnTo>
                <a:lnTo>
                  <a:pt x="195814" y="476364"/>
                </a:lnTo>
                <a:lnTo>
                  <a:pt x="238815" y="492810"/>
                </a:lnTo>
                <a:lnTo>
                  <a:pt x="285086" y="507630"/>
                </a:lnTo>
                <a:lnTo>
                  <a:pt x="334276" y="520710"/>
                </a:lnTo>
                <a:lnTo>
                  <a:pt x="386009" y="531950"/>
                </a:lnTo>
                <a:lnTo>
                  <a:pt x="439893" y="541266"/>
                </a:lnTo>
                <a:lnTo>
                  <a:pt x="495518" y="548587"/>
                </a:lnTo>
                <a:lnTo>
                  <a:pt x="552459" y="553856"/>
                </a:lnTo>
                <a:lnTo>
                  <a:pt x="610283" y="557033"/>
                </a:lnTo>
                <a:lnTo>
                  <a:pt x="668551" y="558095"/>
                </a:lnTo>
                <a:lnTo>
                  <a:pt x="726819" y="557033"/>
                </a:lnTo>
                <a:lnTo>
                  <a:pt x="784644" y="553856"/>
                </a:lnTo>
                <a:lnTo>
                  <a:pt x="841585" y="548587"/>
                </a:lnTo>
                <a:lnTo>
                  <a:pt x="897209" y="541266"/>
                </a:lnTo>
                <a:lnTo>
                  <a:pt x="951093" y="531950"/>
                </a:lnTo>
                <a:lnTo>
                  <a:pt x="1002827" y="520710"/>
                </a:lnTo>
                <a:lnTo>
                  <a:pt x="1052017" y="507630"/>
                </a:lnTo>
                <a:lnTo>
                  <a:pt x="1098288" y="492810"/>
                </a:lnTo>
                <a:lnTo>
                  <a:pt x="1141289" y="476364"/>
                </a:lnTo>
                <a:lnTo>
                  <a:pt x="1180691" y="458416"/>
                </a:lnTo>
                <a:lnTo>
                  <a:pt x="1216197" y="439103"/>
                </a:lnTo>
                <a:lnTo>
                  <a:pt x="1247534" y="418571"/>
                </a:lnTo>
                <a:lnTo>
                  <a:pt x="1274465" y="396978"/>
                </a:lnTo>
                <a:lnTo>
                  <a:pt x="1296784" y="374487"/>
                </a:lnTo>
                <a:lnTo>
                  <a:pt x="1314322" y="351270"/>
                </a:lnTo>
                <a:lnTo>
                  <a:pt x="1326946" y="327504"/>
                </a:lnTo>
                <a:lnTo>
                  <a:pt x="1334559" y="303368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55"/>
          <p:cNvSpPr/>
          <p:nvPr/>
        </p:nvSpPr>
        <p:spPr>
          <a:xfrm>
            <a:off x="6622008" y="3851366"/>
            <a:ext cx="232539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19" name="S06-mark56"/>
          <p:cNvSpPr/>
          <p:nvPr/>
        </p:nvSpPr>
        <p:spPr>
          <a:xfrm flipH="1" flipV="1">
            <a:off x="8152119" y="1666075"/>
            <a:ext cx="795285" cy="2185291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20" name="S06-mark57"/>
          <p:cNvSpPr/>
          <p:nvPr/>
        </p:nvSpPr>
        <p:spPr>
          <a:xfrm flipV="1">
            <a:off x="6796413" y="3490929"/>
            <a:ext cx="319742" cy="29067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06-mark58"/>
          <p:cNvSpPr/>
          <p:nvPr/>
        </p:nvSpPr>
        <p:spPr>
          <a:xfrm flipV="1">
            <a:off x="8453257" y="3468838"/>
            <a:ext cx="355204" cy="2209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06-label60"/>
          <p:cNvSpPr txBox="1"/>
          <p:nvPr/>
        </p:nvSpPr>
        <p:spPr>
          <a:xfrm>
            <a:off x="7505814" y="280740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</a:t>
            </a:r>
            <a:endParaRPr lang="ko-KR" sz="1800" dirty="0"/>
          </a:p>
        </p:txBody>
      </p:sp>
      <p:sp>
        <p:nvSpPr>
          <p:cNvPr id="23" name="S06-label62"/>
          <p:cNvSpPr txBox="1"/>
          <p:nvPr/>
        </p:nvSpPr>
        <p:spPr>
          <a:xfrm>
            <a:off x="7617828" y="402823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</a:t>
            </a:r>
            <a:endParaRPr lang="ko-KR" sz="1800" dirty="0"/>
          </a:p>
        </p:txBody>
      </p:sp>
      <p:sp>
        <p:nvSpPr>
          <p:cNvPr id="24" name="S06-label63"/>
          <p:cNvSpPr txBox="1"/>
          <p:nvPr/>
        </p:nvSpPr>
        <p:spPr>
          <a:xfrm>
            <a:off x="6254496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굽혔을 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굽힐 때 무엇이 팔을 움직일까요?</a:t>
            </a:r>
            <a:endParaRPr lang="ko-KR" sz="2800" dirty="0"/>
          </a:p>
        </p:txBody>
      </p:sp>
      <p:sp>
        <p:nvSpPr>
          <p:cNvPr id="5" name="S07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팔꿈치에서 뼈가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굽혀져요.</a:t>
            </a:r>
            <a:endParaRPr lang="ko-KR" sz="2800" dirty="0"/>
          </a:p>
        </p:txBody>
      </p:sp>
      <p:sp>
        <p:nvSpPr>
          <p:cNvPr id="9" name="S07-chip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근육이 줄어들면서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당겨요.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음식물이 지나는 길</a:t>
            </a:r>
            <a:endParaRPr lang="ko-KR" sz="4000" dirty="0"/>
          </a:p>
        </p:txBody>
      </p:sp>
      <p:sp>
        <p:nvSpPr>
          <p:cNvPr id="3" name="S08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음식물을 잘게 쪼개 흡수하기 쉽게 하는 것을 소화라고 해요.</a:t>
            </a:r>
            <a:endParaRPr lang="ko-KR" sz="2800" dirty="0"/>
          </a:p>
        </p:txBody>
      </p:sp>
      <p:sp>
        <p:nvSpPr>
          <p:cNvPr id="4" name="S08-figure73" descr="몸 윤곽 안의 소화 기관 모식도: 입 → 식도 → 위 → 작은창자(구불구불한 관) → 큰창자(작은창자를 둘러싼 굵은 관) → 항문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08-mark74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08-mark75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08-mark76"/>
          <p:cNvSpPr/>
          <p:nvPr/>
        </p:nvSpPr>
        <p:spPr>
          <a:xfrm>
            <a:off x="2792166" y="4639818"/>
            <a:ext cx="686562" cy="706755"/>
          </a:xfrm>
          <a:custGeom>
            <a:avLst/>
            <a:gdLst/>
            <a:ahLst/>
            <a:cxnLst/>
            <a:rect l="l" t="t" r="r" b="b"/>
            <a:pathLst>
              <a:path w="686562" h="706755">
                <a:moveTo>
                  <a:pt x="0" y="0"/>
                </a:moveTo>
                <a:lnTo>
                  <a:pt x="686562" y="0"/>
                </a:lnTo>
                <a:lnTo>
                  <a:pt x="686562" y="141351"/>
                </a:lnTo>
                <a:lnTo>
                  <a:pt x="0" y="141351"/>
                </a:lnTo>
                <a:lnTo>
                  <a:pt x="0" y="282702"/>
                </a:lnTo>
                <a:lnTo>
                  <a:pt x="686562" y="282702"/>
                </a:lnTo>
                <a:lnTo>
                  <a:pt x="686562" y="424053"/>
                </a:lnTo>
                <a:lnTo>
                  <a:pt x="0" y="424053"/>
                </a:lnTo>
                <a:lnTo>
                  <a:pt x="0" y="565404"/>
                </a:lnTo>
                <a:lnTo>
                  <a:pt x="686562" y="565404"/>
                </a:lnTo>
                <a:lnTo>
                  <a:pt x="686562" y="706755"/>
                </a:lnTo>
                <a:lnTo>
                  <a:pt x="0" y="706755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8" name="S08-mark77"/>
          <p:cNvSpPr/>
          <p:nvPr/>
        </p:nvSpPr>
        <p:spPr>
          <a:xfrm>
            <a:off x="2549850" y="4397502"/>
            <a:ext cx="1171194" cy="1595247"/>
          </a:xfrm>
          <a:custGeom>
            <a:avLst/>
            <a:gdLst/>
            <a:ahLst/>
            <a:cxnLst/>
            <a:rect l="l" t="t" r="r" b="b"/>
            <a:pathLst>
              <a:path w="1171194" h="1595247">
                <a:moveTo>
                  <a:pt x="242316" y="989457"/>
                </a:moveTo>
                <a:lnTo>
                  <a:pt x="0" y="989457"/>
                </a:lnTo>
                <a:lnTo>
                  <a:pt x="0" y="0"/>
                </a:lnTo>
                <a:lnTo>
                  <a:pt x="1171194" y="0"/>
                </a:lnTo>
                <a:lnTo>
                  <a:pt x="1171194" y="1211580"/>
                </a:lnTo>
                <a:lnTo>
                  <a:pt x="585597" y="1332738"/>
                </a:lnTo>
                <a:lnTo>
                  <a:pt x="585597" y="1595247"/>
                </a:lnTo>
              </a:path>
            </a:pathLst>
          </a:custGeom>
          <a:noFill/>
          <a:ln w="76200">
            <a:solidFill>
              <a:srgbClr val="A47148"/>
            </a:solidFill>
            <a:prstDash val="solid"/>
          </a:ln>
        </p:spPr>
      </p:sp>
      <p:sp>
        <p:nvSpPr>
          <p:cNvPr id="9" name="S08-mark78"/>
          <p:cNvSpPr/>
          <p:nvPr/>
        </p:nvSpPr>
        <p:spPr>
          <a:xfrm>
            <a:off x="3086984" y="2693213"/>
            <a:ext cx="96926" cy="96926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mark79"/>
          <p:cNvSpPr/>
          <p:nvPr/>
        </p:nvSpPr>
        <p:spPr>
          <a:xfrm>
            <a:off x="3095061" y="3771519"/>
            <a:ext cx="686562" cy="444246"/>
          </a:xfrm>
          <a:custGeom>
            <a:avLst/>
            <a:gdLst/>
            <a:ahLst/>
            <a:cxnLst/>
            <a:rect l="l" t="t" r="r" b="b"/>
            <a:pathLst>
              <a:path w="686562" h="444246">
                <a:moveTo>
                  <a:pt x="686562" y="222123"/>
                </a:moveTo>
                <a:lnTo>
                  <a:pt x="685256" y="202764"/>
                </a:lnTo>
                <a:lnTo>
                  <a:pt x="681347" y="183552"/>
                </a:lnTo>
                <a:lnTo>
                  <a:pt x="674865" y="164633"/>
                </a:lnTo>
                <a:lnTo>
                  <a:pt x="665860" y="146152"/>
                </a:lnTo>
                <a:lnTo>
                  <a:pt x="654399" y="128250"/>
                </a:lnTo>
                <a:lnTo>
                  <a:pt x="640571" y="111061"/>
                </a:lnTo>
                <a:lnTo>
                  <a:pt x="624480" y="94718"/>
                </a:lnTo>
                <a:lnTo>
                  <a:pt x="606250" y="79345"/>
                </a:lnTo>
                <a:lnTo>
                  <a:pt x="586017" y="65058"/>
                </a:lnTo>
                <a:lnTo>
                  <a:pt x="563938" y="51967"/>
                </a:lnTo>
                <a:lnTo>
                  <a:pt x="540179" y="40170"/>
                </a:lnTo>
                <a:lnTo>
                  <a:pt x="514921" y="29759"/>
                </a:lnTo>
                <a:lnTo>
                  <a:pt x="488358" y="20811"/>
                </a:lnTo>
                <a:lnTo>
                  <a:pt x="460690" y="13396"/>
                </a:lnTo>
                <a:lnTo>
                  <a:pt x="432129" y="7569"/>
                </a:lnTo>
                <a:lnTo>
                  <a:pt x="402891" y="3375"/>
                </a:lnTo>
                <a:lnTo>
                  <a:pt x="373200" y="845"/>
                </a:lnTo>
                <a:lnTo>
                  <a:pt x="343281" y="0"/>
                </a:lnTo>
                <a:lnTo>
                  <a:pt x="313362" y="845"/>
                </a:lnTo>
                <a:lnTo>
                  <a:pt x="283671" y="3375"/>
                </a:lnTo>
                <a:lnTo>
                  <a:pt x="254433" y="7569"/>
                </a:lnTo>
                <a:lnTo>
                  <a:pt x="225872" y="13396"/>
                </a:lnTo>
                <a:lnTo>
                  <a:pt x="198204" y="20811"/>
                </a:lnTo>
                <a:lnTo>
                  <a:pt x="171640" y="29759"/>
                </a:lnTo>
                <a:lnTo>
                  <a:pt x="146383" y="40170"/>
                </a:lnTo>
                <a:lnTo>
                  <a:pt x="122624" y="51967"/>
                </a:lnTo>
                <a:lnTo>
                  <a:pt x="100545" y="65058"/>
                </a:lnTo>
                <a:lnTo>
                  <a:pt x="80312" y="79345"/>
                </a:lnTo>
                <a:lnTo>
                  <a:pt x="62082" y="94718"/>
                </a:lnTo>
                <a:lnTo>
                  <a:pt x="45991" y="111061"/>
                </a:lnTo>
                <a:lnTo>
                  <a:pt x="32163" y="128250"/>
                </a:lnTo>
                <a:lnTo>
                  <a:pt x="20702" y="146152"/>
                </a:lnTo>
                <a:lnTo>
                  <a:pt x="11697" y="164633"/>
                </a:lnTo>
                <a:lnTo>
                  <a:pt x="5215" y="183552"/>
                </a:lnTo>
                <a:lnTo>
                  <a:pt x="1306" y="202764"/>
                </a:lnTo>
                <a:lnTo>
                  <a:pt x="0" y="222123"/>
                </a:lnTo>
                <a:lnTo>
                  <a:pt x="1306" y="241482"/>
                </a:lnTo>
                <a:lnTo>
                  <a:pt x="5215" y="260694"/>
                </a:lnTo>
                <a:lnTo>
                  <a:pt x="11697" y="279613"/>
                </a:lnTo>
                <a:lnTo>
                  <a:pt x="20702" y="298094"/>
                </a:lnTo>
                <a:lnTo>
                  <a:pt x="32163" y="315996"/>
                </a:lnTo>
                <a:lnTo>
                  <a:pt x="45991" y="333184"/>
                </a:lnTo>
                <a:lnTo>
                  <a:pt x="62082" y="349528"/>
                </a:lnTo>
                <a:lnTo>
                  <a:pt x="80312" y="364901"/>
                </a:lnTo>
                <a:lnTo>
                  <a:pt x="100545" y="379188"/>
                </a:lnTo>
                <a:lnTo>
                  <a:pt x="122624" y="392279"/>
                </a:lnTo>
                <a:lnTo>
                  <a:pt x="146383" y="404076"/>
                </a:lnTo>
                <a:lnTo>
                  <a:pt x="171640" y="414487"/>
                </a:lnTo>
                <a:lnTo>
                  <a:pt x="198204" y="423435"/>
                </a:lnTo>
                <a:lnTo>
                  <a:pt x="225872" y="430850"/>
                </a:lnTo>
                <a:lnTo>
                  <a:pt x="254433" y="436677"/>
                </a:lnTo>
                <a:lnTo>
                  <a:pt x="283671" y="440871"/>
                </a:lnTo>
                <a:lnTo>
                  <a:pt x="313362" y="443401"/>
                </a:lnTo>
                <a:lnTo>
                  <a:pt x="343281" y="444246"/>
                </a:lnTo>
                <a:lnTo>
                  <a:pt x="373200" y="443401"/>
                </a:lnTo>
                <a:lnTo>
                  <a:pt x="402891" y="440871"/>
                </a:lnTo>
                <a:lnTo>
                  <a:pt x="432129" y="436677"/>
                </a:lnTo>
                <a:lnTo>
                  <a:pt x="460690" y="430850"/>
                </a:lnTo>
                <a:lnTo>
                  <a:pt x="488358" y="423435"/>
                </a:lnTo>
                <a:lnTo>
                  <a:pt x="514921" y="414487"/>
                </a:lnTo>
                <a:lnTo>
                  <a:pt x="540179" y="404076"/>
                </a:lnTo>
                <a:lnTo>
                  <a:pt x="563938" y="392279"/>
                </a:lnTo>
                <a:lnTo>
                  <a:pt x="586017" y="379188"/>
                </a:lnTo>
                <a:lnTo>
                  <a:pt x="606250" y="364901"/>
                </a:lnTo>
                <a:lnTo>
                  <a:pt x="624480" y="349528"/>
                </a:lnTo>
                <a:lnTo>
                  <a:pt x="640571" y="333184"/>
                </a:lnTo>
                <a:lnTo>
                  <a:pt x="654399" y="315996"/>
                </a:lnTo>
                <a:lnTo>
                  <a:pt x="665860" y="298094"/>
                </a:lnTo>
                <a:lnTo>
                  <a:pt x="674865" y="279613"/>
                </a:lnTo>
                <a:lnTo>
                  <a:pt x="681347" y="260694"/>
                </a:lnTo>
                <a:lnTo>
                  <a:pt x="685256" y="241482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8-mark80"/>
          <p:cNvSpPr/>
          <p:nvPr/>
        </p:nvSpPr>
        <p:spPr>
          <a:xfrm>
            <a:off x="3135447" y="2782062"/>
            <a:ext cx="0" cy="1009650"/>
          </a:xfrm>
          <a:prstGeom prst="line">
            <a:avLst/>
          </a:prstGeom>
          <a:noFill/>
          <a:ln w="50800">
            <a:solidFill>
              <a:srgbClr val="C8434E"/>
            </a:solidFill>
            <a:prstDash val="solid"/>
          </a:ln>
        </p:spPr>
      </p:sp>
      <p:sp>
        <p:nvSpPr>
          <p:cNvPr id="12" name="S08-mark81"/>
          <p:cNvSpPr/>
          <p:nvPr/>
        </p:nvSpPr>
        <p:spPr>
          <a:xfrm>
            <a:off x="3135447" y="3791712"/>
            <a:ext cx="80772" cy="141351"/>
          </a:xfrm>
          <a:prstGeom prst="line">
            <a:avLst/>
          </a:prstGeom>
          <a:noFill/>
          <a:ln w="50800">
            <a:solidFill>
              <a:srgbClr val="C8434E"/>
            </a:solidFill>
            <a:prstDash val="solid"/>
          </a:ln>
        </p:spPr>
      </p:sp>
      <p:sp>
        <p:nvSpPr>
          <p:cNvPr id="13" name="S08-mark82"/>
          <p:cNvSpPr/>
          <p:nvPr/>
        </p:nvSpPr>
        <p:spPr>
          <a:xfrm flipH="1">
            <a:off x="3478728" y="4134993"/>
            <a:ext cx="201930" cy="504825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4" name="S08-mark83"/>
          <p:cNvSpPr/>
          <p:nvPr/>
        </p:nvSpPr>
        <p:spPr>
          <a:xfrm flipH="1">
            <a:off x="3216219" y="2741676"/>
            <a:ext cx="1070229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08-mark84"/>
          <p:cNvSpPr/>
          <p:nvPr/>
        </p:nvSpPr>
        <p:spPr>
          <a:xfrm flipH="1">
            <a:off x="3155640" y="3468624"/>
            <a:ext cx="113080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08-mark85"/>
          <p:cNvSpPr/>
          <p:nvPr/>
        </p:nvSpPr>
        <p:spPr>
          <a:xfrm flipH="1">
            <a:off x="3781623" y="3993642"/>
            <a:ext cx="50482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08-mark86"/>
          <p:cNvSpPr/>
          <p:nvPr/>
        </p:nvSpPr>
        <p:spPr>
          <a:xfrm flipH="1">
            <a:off x="3478728" y="4962906"/>
            <a:ext cx="8077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8" name="S08-mark87"/>
          <p:cNvSpPr/>
          <p:nvPr/>
        </p:nvSpPr>
        <p:spPr>
          <a:xfrm>
            <a:off x="1984446" y="4720590"/>
            <a:ext cx="5654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9" name="S08-mark88"/>
          <p:cNvSpPr/>
          <p:nvPr/>
        </p:nvSpPr>
        <p:spPr>
          <a:xfrm flipH="1">
            <a:off x="3155640" y="5851398"/>
            <a:ext cx="1130808" cy="60579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0" name="S08-label90"/>
          <p:cNvSpPr txBox="1"/>
          <p:nvPr/>
        </p:nvSpPr>
        <p:spPr>
          <a:xfrm>
            <a:off x="4347027" y="256705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ko-KR" sz="2200" dirty="0"/>
          </a:p>
        </p:txBody>
      </p:sp>
      <p:sp>
        <p:nvSpPr>
          <p:cNvPr id="21" name="S08-label92"/>
          <p:cNvSpPr txBox="1"/>
          <p:nvPr/>
        </p:nvSpPr>
        <p:spPr>
          <a:xfrm>
            <a:off x="4347027" y="329399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식도</a:t>
            </a:r>
            <a:endParaRPr lang="ko-KR" sz="2200" dirty="0"/>
          </a:p>
        </p:txBody>
      </p:sp>
      <p:sp>
        <p:nvSpPr>
          <p:cNvPr id="22" name="S08-label94"/>
          <p:cNvSpPr txBox="1"/>
          <p:nvPr/>
        </p:nvSpPr>
        <p:spPr>
          <a:xfrm>
            <a:off x="4347027" y="38190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200" dirty="0"/>
          </a:p>
        </p:txBody>
      </p:sp>
      <p:sp>
        <p:nvSpPr>
          <p:cNvPr id="23" name="S08-label96"/>
          <p:cNvSpPr txBox="1"/>
          <p:nvPr/>
        </p:nvSpPr>
        <p:spPr>
          <a:xfrm>
            <a:off x="4347027" y="4788281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</a:t>
            </a:r>
            <a:endParaRPr lang="ko-KR" sz="2200" dirty="0"/>
          </a:p>
        </p:txBody>
      </p:sp>
      <p:sp>
        <p:nvSpPr>
          <p:cNvPr id="24" name="S08-label98"/>
          <p:cNvSpPr txBox="1"/>
          <p:nvPr/>
        </p:nvSpPr>
        <p:spPr>
          <a:xfrm>
            <a:off x="1005962" y="454596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큰창자</a:t>
            </a:r>
            <a:endParaRPr lang="ko-KR" sz="2200" dirty="0"/>
          </a:p>
        </p:txBody>
      </p:sp>
      <p:sp>
        <p:nvSpPr>
          <p:cNvPr id="25" name="S08-label100"/>
          <p:cNvSpPr txBox="1"/>
          <p:nvPr/>
        </p:nvSpPr>
        <p:spPr>
          <a:xfrm>
            <a:off x="4347027" y="567677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항문</a:t>
            </a:r>
            <a:endParaRPr lang="ko-KR" sz="2200" dirty="0"/>
          </a:p>
        </p:txBody>
      </p:sp>
      <p:sp>
        <p:nvSpPr>
          <p:cNvPr id="26" name="S08-card101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8-cardtext102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→ 식도 → 위 →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 → 큰창자 → 항문</a:t>
            </a:r>
            <a:endParaRPr lang="ko-KR" sz="2800" dirty="0"/>
          </a:p>
        </p:txBody>
      </p:sp>
      <p:sp>
        <p:nvSpPr>
          <p:cNvPr id="28" name="S08-card103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8-cardtext104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작은창자에서 영양소,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큰창자에서 물을 흡수해요.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9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줄자를 가슴에 두르고 재요.</a:t>
            </a:r>
            <a:endParaRPr lang="ko-KR" sz="2800" dirty="0"/>
          </a:p>
        </p:txBody>
      </p:sp>
      <p:sp>
        <p:nvSpPr>
          <p:cNvPr id="4" name="S09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10" name="S09-table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들이쉬면 가슴둘레는?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내쉬면 가슴둘레는?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가슴둘레를 재 봐요</a:t>
            </a:r>
            <a:endParaRPr lang="ko-KR" sz="4000" dirty="0"/>
          </a:p>
        </p:txBody>
      </p:sp>
      <p:sp>
        <p:nvSpPr>
          <p:cNvPr id="3" name="S10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줄이나 끈을 목에 감지 않아요. 어지러우면 쉬어요.</a:t>
            </a:r>
            <a:endParaRPr lang="ko-KR" sz="2800" dirty="0"/>
          </a:p>
        </p:txBody>
      </p:sp>
      <p:sp>
        <p:nvSpPr>
          <p:cNvPr id="5" name="S10-figure111" descr="몸 윤곽의 가슴(겨드랑이 바로 아래) 높이에 줄자를 수평으로 두른 그림"/>
          <p:cNvSpPr/>
          <p:nvPr/>
        </p:nvSpPr>
        <p:spPr>
          <a:xfrm>
            <a:off x="8785647" y="1427714"/>
            <a:ext cx="378287" cy="378287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0-mark112"/>
          <p:cNvSpPr/>
          <p:nvPr/>
        </p:nvSpPr>
        <p:spPr>
          <a:xfrm>
            <a:off x="8893729" y="1787987"/>
            <a:ext cx="162123" cy="198150"/>
          </a:xfrm>
          <a:custGeom>
            <a:avLst/>
            <a:gdLst/>
            <a:ahLst/>
            <a:cxnLst/>
            <a:rect l="l" t="t" r="r" b="b"/>
            <a:pathLst>
              <a:path w="162123" h="198150">
                <a:moveTo>
                  <a:pt x="0" y="198150"/>
                </a:moveTo>
                <a:lnTo>
                  <a:pt x="162123" y="198150"/>
                </a:lnTo>
                <a:lnTo>
                  <a:pt x="1621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0-mark113"/>
          <p:cNvSpPr/>
          <p:nvPr/>
        </p:nvSpPr>
        <p:spPr>
          <a:xfrm>
            <a:off x="8542462" y="1968124"/>
            <a:ext cx="864657" cy="1188903"/>
          </a:xfrm>
          <a:custGeom>
            <a:avLst/>
            <a:gdLst/>
            <a:ahLst/>
            <a:cxnLst/>
            <a:rect l="l" t="t" r="r" b="b"/>
            <a:pathLst>
              <a:path w="864657" h="1188903">
                <a:moveTo>
                  <a:pt x="54041" y="1188903"/>
                </a:moveTo>
                <a:lnTo>
                  <a:pt x="810616" y="1188903"/>
                </a:lnTo>
                <a:lnTo>
                  <a:pt x="864657" y="126096"/>
                </a:lnTo>
                <a:lnTo>
                  <a:pt x="720547" y="0"/>
                </a:lnTo>
                <a:lnTo>
                  <a:pt x="144109" y="0"/>
                </a:lnTo>
                <a:lnTo>
                  <a:pt x="0" y="126096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8" name="S10-mark114"/>
          <p:cNvSpPr/>
          <p:nvPr/>
        </p:nvSpPr>
        <p:spPr>
          <a:xfrm>
            <a:off x="8542462" y="2193295"/>
            <a:ext cx="864657" cy="63048"/>
          </a:xfrm>
          <a:custGeom>
            <a:avLst/>
            <a:gdLst/>
            <a:ahLst/>
            <a:cxnLst/>
            <a:rect l="l" t="t" r="r" b="b"/>
            <a:pathLst>
              <a:path w="864657" h="63048">
                <a:moveTo>
                  <a:pt x="3603" y="63048"/>
                </a:moveTo>
                <a:lnTo>
                  <a:pt x="861054" y="63048"/>
                </a:lnTo>
                <a:lnTo>
                  <a:pt x="86465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mark115"/>
          <p:cNvSpPr/>
          <p:nvPr/>
        </p:nvSpPr>
        <p:spPr>
          <a:xfrm flipH="1">
            <a:off x="9416125" y="2225720"/>
            <a:ext cx="7205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10-label117"/>
          <p:cNvSpPr txBox="1"/>
          <p:nvPr/>
        </p:nvSpPr>
        <p:spPr>
          <a:xfrm>
            <a:off x="9515201" y="20510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줄자</a:t>
            </a:r>
            <a:endParaRPr lang="ko-KR" sz="2200" dirty="0"/>
          </a:p>
        </p:txBody>
      </p:sp>
      <p:sp>
        <p:nvSpPr>
          <p:cNvPr id="11" name="S10-card118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0-cardtext119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높이에서 재요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cm를 붙여 써요</a:t>
            </a:r>
            <a:endParaRPr lang="ko-KR" sz="2800" dirty="0"/>
          </a:p>
        </p:txBody>
      </p:sp>
      <p:sp>
        <p:nvSpPr>
          <p:cNvPr id="13" name="S10-stepno120"/>
          <p:cNvSpPr txBox="1"/>
          <p:nvPr/>
        </p:nvSpPr>
        <p:spPr>
          <a:xfrm>
            <a:off x="548640" y="160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0-text121"/>
          <p:cNvSpPr txBox="1"/>
          <p:nvPr/>
        </p:nvSpPr>
        <p:spPr>
          <a:xfrm>
            <a:off x="1325880" y="1560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겨드랑이 바로 아래에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줄자를 둘러요.</a:t>
            </a:r>
            <a:endParaRPr lang="ko-KR" sz="2800" dirty="0"/>
          </a:p>
        </p:txBody>
      </p:sp>
      <p:sp>
        <p:nvSpPr>
          <p:cNvPr id="15" name="S10-stepno12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10-text123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크게 내쉬고 재요.</a:t>
            </a:r>
            <a:endParaRPr lang="ko-KR" sz="2800" dirty="0"/>
          </a:p>
        </p:txBody>
      </p:sp>
      <p:sp>
        <p:nvSpPr>
          <p:cNvPr id="17" name="S10-stepno12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10-text125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크게 들이쉬고 재요.</a:t>
            </a:r>
            <a:endParaRPr lang="ko-KR" sz="2800" dirty="0"/>
          </a:p>
        </p:txBody>
      </p:sp>
      <p:sp>
        <p:nvSpPr>
          <p:cNvPr id="19" name="S10-stepno126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0" name="S10-text127"/>
          <p:cNvSpPr txBox="1"/>
          <p:nvPr/>
        </p:nvSpPr>
        <p:spPr>
          <a:xfrm>
            <a:off x="1325880" y="401878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값과 차이를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1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들이쉬면 가슴둘레는 어떻게 되었나요?</a:t>
            </a:r>
            <a:endParaRPr lang="ko-KR" sz="2800" dirty="0"/>
          </a:p>
        </p:txBody>
      </p:sp>
      <p:graphicFrame>
        <p:nvGraphicFramePr>
          <p:cNvPr id="12" name="S11-table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541016"/>
          <a:ext cx="9144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41148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가슴둘레(cm)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내쉬었을 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들이쉬었을 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쉴 때 공기가 지나는 길</a:t>
            </a:r>
            <a:endParaRPr lang="ko-KR" sz="4000" dirty="0"/>
          </a:p>
        </p:txBody>
      </p:sp>
      <p:sp>
        <p:nvSpPr>
          <p:cNvPr id="3" name="S12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들이쉬고 내쉬는 것을 호흡이라고 해요.</a:t>
            </a:r>
            <a:endParaRPr lang="ko-KR" sz="2800" dirty="0"/>
          </a:p>
        </p:txBody>
      </p:sp>
      <p:sp>
        <p:nvSpPr>
          <p:cNvPr id="4" name="S12-figure133" descr="몸 윤곽 안의 호흡 기관 모식도: 코 → 기관 → 두 갈래 기관지 → 양쪽 폐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12-mark134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2-mark135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2-mark136"/>
          <p:cNvSpPr/>
          <p:nvPr/>
        </p:nvSpPr>
        <p:spPr>
          <a:xfrm>
            <a:off x="3086984" y="2491283"/>
            <a:ext cx="96926" cy="9692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2-mark137"/>
          <p:cNvSpPr/>
          <p:nvPr/>
        </p:nvSpPr>
        <p:spPr>
          <a:xfrm>
            <a:off x="2327727" y="3650361"/>
            <a:ext cx="686562" cy="1171194"/>
          </a:xfrm>
          <a:custGeom>
            <a:avLst/>
            <a:gdLst/>
            <a:ahLst/>
            <a:cxnLst/>
            <a:rect l="l" t="t" r="r" b="b"/>
            <a:pathLst>
              <a:path w="686562" h="1171194">
                <a:moveTo>
                  <a:pt x="686562" y="585597"/>
                </a:moveTo>
                <a:lnTo>
                  <a:pt x="685256" y="534559"/>
                </a:lnTo>
                <a:lnTo>
                  <a:pt x="681347" y="483909"/>
                </a:lnTo>
                <a:lnTo>
                  <a:pt x="674865" y="434033"/>
                </a:lnTo>
                <a:lnTo>
                  <a:pt x="665860" y="385311"/>
                </a:lnTo>
                <a:lnTo>
                  <a:pt x="654399" y="338113"/>
                </a:lnTo>
                <a:lnTo>
                  <a:pt x="640571" y="292799"/>
                </a:lnTo>
                <a:lnTo>
                  <a:pt x="624480" y="249712"/>
                </a:lnTo>
                <a:lnTo>
                  <a:pt x="606250" y="209183"/>
                </a:lnTo>
                <a:lnTo>
                  <a:pt x="586017" y="171517"/>
                </a:lnTo>
                <a:lnTo>
                  <a:pt x="563938" y="137004"/>
                </a:lnTo>
                <a:lnTo>
                  <a:pt x="540179" y="105904"/>
                </a:lnTo>
                <a:lnTo>
                  <a:pt x="514922" y="78455"/>
                </a:lnTo>
                <a:lnTo>
                  <a:pt x="488358" y="54866"/>
                </a:lnTo>
                <a:lnTo>
                  <a:pt x="460690" y="35316"/>
                </a:lnTo>
                <a:lnTo>
                  <a:pt x="432129" y="19954"/>
                </a:lnTo>
                <a:lnTo>
                  <a:pt x="402891" y="8897"/>
                </a:lnTo>
                <a:lnTo>
                  <a:pt x="373200" y="2228"/>
                </a:lnTo>
                <a:lnTo>
                  <a:pt x="343281" y="0"/>
                </a:lnTo>
                <a:lnTo>
                  <a:pt x="313362" y="2228"/>
                </a:lnTo>
                <a:lnTo>
                  <a:pt x="283671" y="8897"/>
                </a:lnTo>
                <a:lnTo>
                  <a:pt x="254433" y="19954"/>
                </a:lnTo>
                <a:lnTo>
                  <a:pt x="225872" y="35316"/>
                </a:lnTo>
                <a:lnTo>
                  <a:pt x="198204" y="54866"/>
                </a:lnTo>
                <a:lnTo>
                  <a:pt x="171641" y="78455"/>
                </a:lnTo>
                <a:lnTo>
                  <a:pt x="146383" y="105904"/>
                </a:lnTo>
                <a:lnTo>
                  <a:pt x="122624" y="137004"/>
                </a:lnTo>
                <a:lnTo>
                  <a:pt x="100545" y="171517"/>
                </a:lnTo>
                <a:lnTo>
                  <a:pt x="80312" y="209183"/>
                </a:lnTo>
                <a:lnTo>
                  <a:pt x="62082" y="249712"/>
                </a:lnTo>
                <a:lnTo>
                  <a:pt x="45991" y="292799"/>
                </a:lnTo>
                <a:lnTo>
                  <a:pt x="32163" y="338113"/>
                </a:lnTo>
                <a:lnTo>
                  <a:pt x="20702" y="385311"/>
                </a:lnTo>
                <a:lnTo>
                  <a:pt x="11697" y="434033"/>
                </a:lnTo>
                <a:lnTo>
                  <a:pt x="5215" y="483909"/>
                </a:lnTo>
                <a:lnTo>
                  <a:pt x="1306" y="534559"/>
                </a:lnTo>
                <a:lnTo>
                  <a:pt x="0" y="585597"/>
                </a:lnTo>
                <a:lnTo>
                  <a:pt x="1306" y="636635"/>
                </a:lnTo>
                <a:lnTo>
                  <a:pt x="5215" y="687285"/>
                </a:lnTo>
                <a:lnTo>
                  <a:pt x="11697" y="737161"/>
                </a:lnTo>
                <a:lnTo>
                  <a:pt x="20702" y="785883"/>
                </a:lnTo>
                <a:lnTo>
                  <a:pt x="32163" y="833081"/>
                </a:lnTo>
                <a:lnTo>
                  <a:pt x="45991" y="878395"/>
                </a:lnTo>
                <a:lnTo>
                  <a:pt x="62082" y="921482"/>
                </a:lnTo>
                <a:lnTo>
                  <a:pt x="80312" y="962011"/>
                </a:lnTo>
                <a:lnTo>
                  <a:pt x="100545" y="999677"/>
                </a:lnTo>
                <a:lnTo>
                  <a:pt x="122624" y="1034190"/>
                </a:lnTo>
                <a:lnTo>
                  <a:pt x="146383" y="1065290"/>
                </a:lnTo>
                <a:lnTo>
                  <a:pt x="171640" y="1092739"/>
                </a:lnTo>
                <a:lnTo>
                  <a:pt x="198204" y="1116328"/>
                </a:lnTo>
                <a:lnTo>
                  <a:pt x="225872" y="1135878"/>
                </a:lnTo>
                <a:lnTo>
                  <a:pt x="254433" y="1151240"/>
                </a:lnTo>
                <a:lnTo>
                  <a:pt x="283671" y="1162297"/>
                </a:lnTo>
                <a:lnTo>
                  <a:pt x="313362" y="1168966"/>
                </a:lnTo>
                <a:lnTo>
                  <a:pt x="343281" y="1171194"/>
                </a:lnTo>
                <a:lnTo>
                  <a:pt x="373200" y="1168966"/>
                </a:lnTo>
                <a:lnTo>
                  <a:pt x="402891" y="1162297"/>
                </a:lnTo>
                <a:lnTo>
                  <a:pt x="432129" y="1151240"/>
                </a:lnTo>
                <a:lnTo>
                  <a:pt x="460690" y="1135878"/>
                </a:lnTo>
                <a:lnTo>
                  <a:pt x="488358" y="1116328"/>
                </a:lnTo>
                <a:lnTo>
                  <a:pt x="514922" y="1092739"/>
                </a:lnTo>
                <a:lnTo>
                  <a:pt x="540179" y="1065290"/>
                </a:lnTo>
                <a:lnTo>
                  <a:pt x="563938" y="1034190"/>
                </a:lnTo>
                <a:lnTo>
                  <a:pt x="586017" y="999677"/>
                </a:lnTo>
                <a:lnTo>
                  <a:pt x="606250" y="962011"/>
                </a:lnTo>
                <a:lnTo>
                  <a:pt x="624480" y="921482"/>
                </a:lnTo>
                <a:lnTo>
                  <a:pt x="640571" y="878395"/>
                </a:lnTo>
                <a:lnTo>
                  <a:pt x="654399" y="833081"/>
                </a:lnTo>
                <a:lnTo>
                  <a:pt x="665860" y="785883"/>
                </a:lnTo>
                <a:lnTo>
                  <a:pt x="674865" y="737161"/>
                </a:lnTo>
                <a:lnTo>
                  <a:pt x="681347" y="687285"/>
                </a:lnTo>
                <a:lnTo>
                  <a:pt x="685256" y="636635"/>
                </a:lnTo>
                <a:close/>
              </a:path>
            </a:pathLst>
          </a:custGeom>
          <a:solidFill>
            <a:srgbClr val="A9CCF2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2-mark138"/>
          <p:cNvSpPr/>
          <p:nvPr/>
        </p:nvSpPr>
        <p:spPr>
          <a:xfrm>
            <a:off x="3256605" y="3650361"/>
            <a:ext cx="686562" cy="1171194"/>
          </a:xfrm>
          <a:custGeom>
            <a:avLst/>
            <a:gdLst/>
            <a:ahLst/>
            <a:cxnLst/>
            <a:rect l="l" t="t" r="r" b="b"/>
            <a:pathLst>
              <a:path w="686562" h="1171194">
                <a:moveTo>
                  <a:pt x="686562" y="585597"/>
                </a:moveTo>
                <a:lnTo>
                  <a:pt x="685256" y="534559"/>
                </a:lnTo>
                <a:lnTo>
                  <a:pt x="681347" y="483909"/>
                </a:lnTo>
                <a:lnTo>
                  <a:pt x="674865" y="434033"/>
                </a:lnTo>
                <a:lnTo>
                  <a:pt x="665860" y="385311"/>
                </a:lnTo>
                <a:lnTo>
                  <a:pt x="654399" y="338113"/>
                </a:lnTo>
                <a:lnTo>
                  <a:pt x="640571" y="292799"/>
                </a:lnTo>
                <a:lnTo>
                  <a:pt x="624480" y="249712"/>
                </a:lnTo>
                <a:lnTo>
                  <a:pt x="606250" y="209183"/>
                </a:lnTo>
                <a:lnTo>
                  <a:pt x="586017" y="171517"/>
                </a:lnTo>
                <a:lnTo>
                  <a:pt x="563938" y="137004"/>
                </a:lnTo>
                <a:lnTo>
                  <a:pt x="540179" y="105904"/>
                </a:lnTo>
                <a:lnTo>
                  <a:pt x="514922" y="78455"/>
                </a:lnTo>
                <a:lnTo>
                  <a:pt x="488358" y="54866"/>
                </a:lnTo>
                <a:lnTo>
                  <a:pt x="460690" y="35316"/>
                </a:lnTo>
                <a:lnTo>
                  <a:pt x="432129" y="19954"/>
                </a:lnTo>
                <a:lnTo>
                  <a:pt x="402891" y="8897"/>
                </a:lnTo>
                <a:lnTo>
                  <a:pt x="373200" y="2228"/>
                </a:lnTo>
                <a:lnTo>
                  <a:pt x="343281" y="0"/>
                </a:lnTo>
                <a:lnTo>
                  <a:pt x="313362" y="2228"/>
                </a:lnTo>
                <a:lnTo>
                  <a:pt x="283671" y="8897"/>
                </a:lnTo>
                <a:lnTo>
                  <a:pt x="254433" y="19954"/>
                </a:lnTo>
                <a:lnTo>
                  <a:pt x="225872" y="35316"/>
                </a:lnTo>
                <a:lnTo>
                  <a:pt x="198204" y="54866"/>
                </a:lnTo>
                <a:lnTo>
                  <a:pt x="171641" y="78455"/>
                </a:lnTo>
                <a:lnTo>
                  <a:pt x="146383" y="105904"/>
                </a:lnTo>
                <a:lnTo>
                  <a:pt x="122624" y="137004"/>
                </a:lnTo>
                <a:lnTo>
                  <a:pt x="100545" y="171517"/>
                </a:lnTo>
                <a:lnTo>
                  <a:pt x="80312" y="209183"/>
                </a:lnTo>
                <a:lnTo>
                  <a:pt x="62082" y="249712"/>
                </a:lnTo>
                <a:lnTo>
                  <a:pt x="45991" y="292799"/>
                </a:lnTo>
                <a:lnTo>
                  <a:pt x="32163" y="338113"/>
                </a:lnTo>
                <a:lnTo>
                  <a:pt x="20702" y="385311"/>
                </a:lnTo>
                <a:lnTo>
                  <a:pt x="11697" y="434033"/>
                </a:lnTo>
                <a:lnTo>
                  <a:pt x="5215" y="483909"/>
                </a:lnTo>
                <a:lnTo>
                  <a:pt x="1306" y="534559"/>
                </a:lnTo>
                <a:lnTo>
                  <a:pt x="0" y="585597"/>
                </a:lnTo>
                <a:lnTo>
                  <a:pt x="1306" y="636635"/>
                </a:lnTo>
                <a:lnTo>
                  <a:pt x="5215" y="687285"/>
                </a:lnTo>
                <a:lnTo>
                  <a:pt x="11697" y="737161"/>
                </a:lnTo>
                <a:lnTo>
                  <a:pt x="20702" y="785883"/>
                </a:lnTo>
                <a:lnTo>
                  <a:pt x="32163" y="833081"/>
                </a:lnTo>
                <a:lnTo>
                  <a:pt x="45991" y="878395"/>
                </a:lnTo>
                <a:lnTo>
                  <a:pt x="62082" y="921482"/>
                </a:lnTo>
                <a:lnTo>
                  <a:pt x="80312" y="962011"/>
                </a:lnTo>
                <a:lnTo>
                  <a:pt x="100545" y="999677"/>
                </a:lnTo>
                <a:lnTo>
                  <a:pt x="122624" y="1034190"/>
                </a:lnTo>
                <a:lnTo>
                  <a:pt x="146383" y="1065290"/>
                </a:lnTo>
                <a:lnTo>
                  <a:pt x="171640" y="1092739"/>
                </a:lnTo>
                <a:lnTo>
                  <a:pt x="198204" y="1116328"/>
                </a:lnTo>
                <a:lnTo>
                  <a:pt x="225872" y="1135878"/>
                </a:lnTo>
                <a:lnTo>
                  <a:pt x="254433" y="1151240"/>
                </a:lnTo>
                <a:lnTo>
                  <a:pt x="283671" y="1162297"/>
                </a:lnTo>
                <a:lnTo>
                  <a:pt x="313362" y="1168966"/>
                </a:lnTo>
                <a:lnTo>
                  <a:pt x="343281" y="1171194"/>
                </a:lnTo>
                <a:lnTo>
                  <a:pt x="373200" y="1168966"/>
                </a:lnTo>
                <a:lnTo>
                  <a:pt x="402891" y="1162297"/>
                </a:lnTo>
                <a:lnTo>
                  <a:pt x="432129" y="1151240"/>
                </a:lnTo>
                <a:lnTo>
                  <a:pt x="460690" y="1135878"/>
                </a:lnTo>
                <a:lnTo>
                  <a:pt x="488358" y="1116328"/>
                </a:lnTo>
                <a:lnTo>
                  <a:pt x="514922" y="1092739"/>
                </a:lnTo>
                <a:lnTo>
                  <a:pt x="540179" y="1065290"/>
                </a:lnTo>
                <a:lnTo>
                  <a:pt x="563938" y="1034190"/>
                </a:lnTo>
                <a:lnTo>
                  <a:pt x="586017" y="999677"/>
                </a:lnTo>
                <a:lnTo>
                  <a:pt x="606250" y="962011"/>
                </a:lnTo>
                <a:lnTo>
                  <a:pt x="624480" y="921482"/>
                </a:lnTo>
                <a:lnTo>
                  <a:pt x="640571" y="878395"/>
                </a:lnTo>
                <a:lnTo>
                  <a:pt x="654399" y="833081"/>
                </a:lnTo>
                <a:lnTo>
                  <a:pt x="665860" y="785883"/>
                </a:lnTo>
                <a:lnTo>
                  <a:pt x="674865" y="737161"/>
                </a:lnTo>
                <a:lnTo>
                  <a:pt x="681347" y="687285"/>
                </a:lnTo>
                <a:lnTo>
                  <a:pt x="685256" y="636635"/>
                </a:lnTo>
                <a:close/>
              </a:path>
            </a:pathLst>
          </a:custGeom>
          <a:solidFill>
            <a:srgbClr val="A9CCF2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2-mark139"/>
          <p:cNvSpPr/>
          <p:nvPr/>
        </p:nvSpPr>
        <p:spPr>
          <a:xfrm>
            <a:off x="3135447" y="2539746"/>
            <a:ext cx="0" cy="1211580"/>
          </a:xfrm>
          <a:prstGeom prst="line">
            <a:avLst/>
          </a:prstGeom>
          <a:noFill/>
          <a:ln w="57150">
            <a:solidFill>
              <a:srgbClr val="3D5A80"/>
            </a:solidFill>
            <a:prstDash val="solid"/>
          </a:ln>
        </p:spPr>
      </p:sp>
      <p:sp>
        <p:nvSpPr>
          <p:cNvPr id="11" name="S12-mark140"/>
          <p:cNvSpPr/>
          <p:nvPr/>
        </p:nvSpPr>
        <p:spPr>
          <a:xfrm flipH="1">
            <a:off x="2771973" y="3751326"/>
            <a:ext cx="363474" cy="282702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</a:ln>
        </p:spPr>
      </p:sp>
      <p:sp>
        <p:nvSpPr>
          <p:cNvPr id="12" name="S12-mark141"/>
          <p:cNvSpPr/>
          <p:nvPr/>
        </p:nvSpPr>
        <p:spPr>
          <a:xfrm>
            <a:off x="3135447" y="3751326"/>
            <a:ext cx="363474" cy="282702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</a:ln>
        </p:spPr>
      </p:sp>
      <p:sp>
        <p:nvSpPr>
          <p:cNvPr id="13" name="S12-mark142"/>
          <p:cNvSpPr/>
          <p:nvPr/>
        </p:nvSpPr>
        <p:spPr>
          <a:xfrm flipH="1">
            <a:off x="3216219" y="2539746"/>
            <a:ext cx="1070229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4" name="S12-mark143"/>
          <p:cNvSpPr/>
          <p:nvPr/>
        </p:nvSpPr>
        <p:spPr>
          <a:xfrm flipH="1">
            <a:off x="3155640" y="3347466"/>
            <a:ext cx="113080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12-mark144"/>
          <p:cNvSpPr/>
          <p:nvPr/>
        </p:nvSpPr>
        <p:spPr>
          <a:xfrm flipH="1">
            <a:off x="3337377" y="3892677"/>
            <a:ext cx="949071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12-mark145"/>
          <p:cNvSpPr/>
          <p:nvPr/>
        </p:nvSpPr>
        <p:spPr>
          <a:xfrm>
            <a:off x="1984446" y="4680204"/>
            <a:ext cx="62598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12-label147"/>
          <p:cNvSpPr txBox="1"/>
          <p:nvPr/>
        </p:nvSpPr>
        <p:spPr>
          <a:xfrm>
            <a:off x="4347027" y="23651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</a:t>
            </a:r>
            <a:endParaRPr lang="ko-KR" sz="2200" dirty="0"/>
          </a:p>
        </p:txBody>
      </p:sp>
      <p:sp>
        <p:nvSpPr>
          <p:cNvPr id="18" name="S12-label149"/>
          <p:cNvSpPr txBox="1"/>
          <p:nvPr/>
        </p:nvSpPr>
        <p:spPr>
          <a:xfrm>
            <a:off x="4347027" y="317284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</a:t>
            </a:r>
            <a:endParaRPr lang="ko-KR" sz="2200" dirty="0"/>
          </a:p>
        </p:txBody>
      </p:sp>
      <p:sp>
        <p:nvSpPr>
          <p:cNvPr id="19" name="S12-label151"/>
          <p:cNvSpPr txBox="1"/>
          <p:nvPr/>
        </p:nvSpPr>
        <p:spPr>
          <a:xfrm>
            <a:off x="4347027" y="3718052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기관지</a:t>
            </a:r>
            <a:endParaRPr lang="ko-KR" sz="2200" dirty="0"/>
          </a:p>
        </p:txBody>
      </p:sp>
      <p:sp>
        <p:nvSpPr>
          <p:cNvPr id="20" name="S12-label153"/>
          <p:cNvSpPr txBox="1"/>
          <p:nvPr/>
        </p:nvSpPr>
        <p:spPr>
          <a:xfrm>
            <a:off x="1578630" y="450557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</a:t>
            </a:r>
            <a:endParaRPr lang="ko-KR" sz="2200" dirty="0"/>
          </a:p>
        </p:txBody>
      </p:sp>
      <p:sp>
        <p:nvSpPr>
          <p:cNvPr id="21" name="S12-card154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12-cardtext155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 → 기관 →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기관지 → 폐</a:t>
            </a:r>
            <a:endParaRPr lang="ko-KR" sz="2800" dirty="0"/>
          </a:p>
        </p:txBody>
      </p:sp>
      <p:sp>
        <p:nvSpPr>
          <p:cNvPr id="23" name="S12-card156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2-cardtext157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폐에서 산소를 받아들이고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탄소를 내보내요.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1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크게 들이쉬었더니 가슴과 배가 나왔어요.</a:t>
            </a:r>
            <a:endParaRPr lang="ko-KR" sz="2800" dirty="0"/>
          </a:p>
        </p:txBody>
      </p:sp>
      <p:sp>
        <p:nvSpPr>
          <p:cNvPr id="5" name="S13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3-chip1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1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들이쉰 공기가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배로 들어갔어요.</a:t>
            </a:r>
            <a:endParaRPr lang="ko-KR" sz="2800" dirty="0"/>
          </a:p>
        </p:txBody>
      </p:sp>
      <p:sp>
        <p:nvSpPr>
          <p:cNvPr id="9" name="S13-chip1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1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들이쉰 공기는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가슴 속 폐로 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혈액이 온몸을 돌아요</a:t>
            </a:r>
            <a:endParaRPr lang="ko-KR" sz="4000" dirty="0"/>
          </a:p>
        </p:txBody>
      </p:sp>
      <p:sp>
        <p:nvSpPr>
          <p:cNvPr id="3" name="S14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혈액이 온몸을 도는 것을 순환이라고 해요.</a:t>
            </a:r>
            <a:endParaRPr lang="ko-KR" sz="2800" dirty="0"/>
          </a:p>
        </p:txBody>
      </p:sp>
      <p:sp>
        <p:nvSpPr>
          <p:cNvPr id="4" name="S14-figure167" descr="몸 윤곽 안의 순환 기관 모식도: 가운데 심장에서 나간 혈액이 혈관을 따라 머리 쪽과 몸 아래쪽을 한 바퀴 돌아(빨간 화살표: 나가는 쪽, 파란 화살표: 돌아오는 쪽) 다시 심장으로 들어옴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14-mark168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4-mark169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4-mark170"/>
          <p:cNvSpPr/>
          <p:nvPr/>
        </p:nvSpPr>
        <p:spPr>
          <a:xfrm>
            <a:off x="3276798" y="2620518"/>
            <a:ext cx="262509" cy="1272159"/>
          </a:xfrm>
          <a:custGeom>
            <a:avLst/>
            <a:gdLst/>
            <a:ahLst/>
            <a:cxnLst/>
            <a:rect l="l" t="t" r="r" b="b"/>
            <a:pathLst>
              <a:path w="262509" h="1272159">
                <a:moveTo>
                  <a:pt x="0" y="1272159"/>
                </a:moveTo>
                <a:lnTo>
                  <a:pt x="262509" y="969264"/>
                </a:lnTo>
                <a:lnTo>
                  <a:pt x="262509" y="0"/>
                </a:lnTo>
              </a:path>
            </a:pathLst>
          </a:custGeom>
          <a:noFill/>
          <a:ln w="28575">
            <a:solidFill>
              <a:srgbClr val="C8434E"/>
            </a:solidFill>
            <a:prstDash val="solid"/>
          </a:ln>
        </p:spPr>
      </p:sp>
      <p:sp>
        <p:nvSpPr>
          <p:cNvPr id="8" name="S14-mark171"/>
          <p:cNvSpPr/>
          <p:nvPr/>
        </p:nvSpPr>
        <p:spPr>
          <a:xfrm>
            <a:off x="2731587" y="2297430"/>
            <a:ext cx="807720" cy="323088"/>
          </a:xfrm>
          <a:custGeom>
            <a:avLst/>
            <a:gdLst/>
            <a:ahLst/>
            <a:cxnLst/>
            <a:rect l="l" t="t" r="r" b="b"/>
            <a:pathLst>
              <a:path w="807720" h="323088">
                <a:moveTo>
                  <a:pt x="807720" y="323088"/>
                </a:moveTo>
                <a:lnTo>
                  <a:pt x="646176" y="0"/>
                </a:lnTo>
                <a:lnTo>
                  <a:pt x="161544" y="0"/>
                </a:lnTo>
                <a:lnTo>
                  <a:pt x="0" y="323088"/>
                </a:lnTo>
              </a:path>
            </a:pathLst>
          </a:custGeom>
          <a:noFill/>
          <a:ln w="28575">
            <a:solidFill>
              <a:srgbClr val="9CA3AF"/>
            </a:solidFill>
            <a:prstDash val="solid"/>
          </a:ln>
        </p:spPr>
      </p:sp>
      <p:sp>
        <p:nvSpPr>
          <p:cNvPr id="9" name="S14-mark172"/>
          <p:cNvSpPr/>
          <p:nvPr/>
        </p:nvSpPr>
        <p:spPr>
          <a:xfrm>
            <a:off x="2731587" y="2620518"/>
            <a:ext cx="262509" cy="1272159"/>
          </a:xfrm>
          <a:custGeom>
            <a:avLst/>
            <a:gdLst/>
            <a:ahLst/>
            <a:cxnLst/>
            <a:rect l="l" t="t" r="r" b="b"/>
            <a:pathLst>
              <a:path w="262509" h="1272159">
                <a:moveTo>
                  <a:pt x="0" y="0"/>
                </a:moveTo>
                <a:lnTo>
                  <a:pt x="0" y="969264"/>
                </a:lnTo>
                <a:lnTo>
                  <a:pt x="262509" y="127215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0" name="S14-mark173"/>
          <p:cNvSpPr/>
          <p:nvPr/>
        </p:nvSpPr>
        <p:spPr>
          <a:xfrm>
            <a:off x="3317184" y="4316730"/>
            <a:ext cx="424053" cy="1413510"/>
          </a:xfrm>
          <a:custGeom>
            <a:avLst/>
            <a:gdLst/>
            <a:ahLst/>
            <a:cxnLst/>
            <a:rect l="l" t="t" r="r" b="b"/>
            <a:pathLst>
              <a:path w="424053" h="1413510">
                <a:moveTo>
                  <a:pt x="0" y="0"/>
                </a:moveTo>
                <a:lnTo>
                  <a:pt x="424053" y="403860"/>
                </a:lnTo>
                <a:lnTo>
                  <a:pt x="424053" y="1413510"/>
                </a:lnTo>
              </a:path>
            </a:pathLst>
          </a:custGeom>
          <a:noFill/>
          <a:ln w="28575">
            <a:solidFill>
              <a:srgbClr val="C8434E"/>
            </a:solidFill>
            <a:prstDash val="solid"/>
          </a:ln>
        </p:spPr>
      </p:sp>
      <p:sp>
        <p:nvSpPr>
          <p:cNvPr id="11" name="S14-mark174"/>
          <p:cNvSpPr/>
          <p:nvPr/>
        </p:nvSpPr>
        <p:spPr>
          <a:xfrm>
            <a:off x="2529657" y="5730240"/>
            <a:ext cx="1211580" cy="9144"/>
          </a:xfrm>
          <a:custGeom>
            <a:avLst/>
            <a:gdLst/>
            <a:ahLst/>
            <a:cxnLst/>
            <a:rect l="l" t="t" r="r" b="b"/>
            <a:pathLst>
              <a:path w="1211580" h="9144">
                <a:moveTo>
                  <a:pt x="121158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9CA3AF"/>
            </a:solidFill>
            <a:prstDash val="solid"/>
          </a:ln>
        </p:spPr>
      </p:sp>
      <p:sp>
        <p:nvSpPr>
          <p:cNvPr id="12" name="S14-mark175"/>
          <p:cNvSpPr/>
          <p:nvPr/>
        </p:nvSpPr>
        <p:spPr>
          <a:xfrm>
            <a:off x="2529657" y="4316730"/>
            <a:ext cx="424053" cy="1413510"/>
          </a:xfrm>
          <a:custGeom>
            <a:avLst/>
            <a:gdLst/>
            <a:ahLst/>
            <a:cxnLst/>
            <a:rect l="l" t="t" r="r" b="b"/>
            <a:pathLst>
              <a:path w="424053" h="1413510">
                <a:moveTo>
                  <a:pt x="0" y="1413510"/>
                </a:moveTo>
                <a:lnTo>
                  <a:pt x="0" y="403860"/>
                </a:lnTo>
                <a:lnTo>
                  <a:pt x="424053" y="0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3" name="S14-mark176"/>
          <p:cNvSpPr/>
          <p:nvPr/>
        </p:nvSpPr>
        <p:spPr>
          <a:xfrm>
            <a:off x="2913324" y="3852291"/>
            <a:ext cx="444246" cy="525018"/>
          </a:xfrm>
          <a:custGeom>
            <a:avLst/>
            <a:gdLst/>
            <a:ahLst/>
            <a:cxnLst/>
            <a:rect l="l" t="t" r="r" b="b"/>
            <a:pathLst>
              <a:path w="444246" h="525018">
                <a:moveTo>
                  <a:pt x="444246" y="262509"/>
                </a:moveTo>
                <a:lnTo>
                  <a:pt x="443401" y="239630"/>
                </a:lnTo>
                <a:lnTo>
                  <a:pt x="440871" y="216925"/>
                </a:lnTo>
                <a:lnTo>
                  <a:pt x="436677" y="194567"/>
                </a:lnTo>
                <a:lnTo>
                  <a:pt x="430850" y="172726"/>
                </a:lnTo>
                <a:lnTo>
                  <a:pt x="423435" y="151568"/>
                </a:lnTo>
                <a:lnTo>
                  <a:pt x="414487" y="131254"/>
                </a:lnTo>
                <a:lnTo>
                  <a:pt x="404076" y="111940"/>
                </a:lnTo>
                <a:lnTo>
                  <a:pt x="392279" y="93771"/>
                </a:lnTo>
                <a:lnTo>
                  <a:pt x="379188" y="76887"/>
                </a:lnTo>
                <a:lnTo>
                  <a:pt x="364901" y="61415"/>
                </a:lnTo>
                <a:lnTo>
                  <a:pt x="349528" y="47474"/>
                </a:lnTo>
                <a:lnTo>
                  <a:pt x="333184" y="35170"/>
                </a:lnTo>
                <a:lnTo>
                  <a:pt x="315996" y="24595"/>
                </a:lnTo>
                <a:lnTo>
                  <a:pt x="298094" y="15831"/>
                </a:lnTo>
                <a:lnTo>
                  <a:pt x="279613" y="8945"/>
                </a:lnTo>
                <a:lnTo>
                  <a:pt x="260694" y="3988"/>
                </a:lnTo>
                <a:lnTo>
                  <a:pt x="241482" y="999"/>
                </a:lnTo>
                <a:lnTo>
                  <a:pt x="222123" y="0"/>
                </a:lnTo>
                <a:lnTo>
                  <a:pt x="202764" y="999"/>
                </a:lnTo>
                <a:lnTo>
                  <a:pt x="183552" y="3988"/>
                </a:lnTo>
                <a:lnTo>
                  <a:pt x="164633" y="8945"/>
                </a:lnTo>
                <a:lnTo>
                  <a:pt x="146152" y="15831"/>
                </a:lnTo>
                <a:lnTo>
                  <a:pt x="128250" y="24595"/>
                </a:lnTo>
                <a:lnTo>
                  <a:pt x="111061" y="35170"/>
                </a:lnTo>
                <a:lnTo>
                  <a:pt x="94718" y="47474"/>
                </a:lnTo>
                <a:lnTo>
                  <a:pt x="79345" y="61415"/>
                </a:lnTo>
                <a:lnTo>
                  <a:pt x="65058" y="76887"/>
                </a:lnTo>
                <a:lnTo>
                  <a:pt x="51967" y="93771"/>
                </a:lnTo>
                <a:lnTo>
                  <a:pt x="40170" y="111940"/>
                </a:lnTo>
                <a:lnTo>
                  <a:pt x="29759" y="131254"/>
                </a:lnTo>
                <a:lnTo>
                  <a:pt x="20811" y="151568"/>
                </a:lnTo>
                <a:lnTo>
                  <a:pt x="13396" y="172726"/>
                </a:lnTo>
                <a:lnTo>
                  <a:pt x="7569" y="194567"/>
                </a:lnTo>
                <a:lnTo>
                  <a:pt x="3375" y="216925"/>
                </a:lnTo>
                <a:lnTo>
                  <a:pt x="845" y="239630"/>
                </a:lnTo>
                <a:lnTo>
                  <a:pt x="0" y="262509"/>
                </a:lnTo>
                <a:lnTo>
                  <a:pt x="845" y="285388"/>
                </a:lnTo>
                <a:lnTo>
                  <a:pt x="3375" y="308093"/>
                </a:lnTo>
                <a:lnTo>
                  <a:pt x="7569" y="330451"/>
                </a:lnTo>
                <a:lnTo>
                  <a:pt x="13396" y="352292"/>
                </a:lnTo>
                <a:lnTo>
                  <a:pt x="20811" y="373450"/>
                </a:lnTo>
                <a:lnTo>
                  <a:pt x="29759" y="393764"/>
                </a:lnTo>
                <a:lnTo>
                  <a:pt x="40170" y="413078"/>
                </a:lnTo>
                <a:lnTo>
                  <a:pt x="51967" y="431247"/>
                </a:lnTo>
                <a:lnTo>
                  <a:pt x="65058" y="448131"/>
                </a:lnTo>
                <a:lnTo>
                  <a:pt x="79345" y="463603"/>
                </a:lnTo>
                <a:lnTo>
                  <a:pt x="94718" y="477544"/>
                </a:lnTo>
                <a:lnTo>
                  <a:pt x="111061" y="489848"/>
                </a:lnTo>
                <a:lnTo>
                  <a:pt x="128250" y="500423"/>
                </a:lnTo>
                <a:lnTo>
                  <a:pt x="146152" y="509187"/>
                </a:lnTo>
                <a:lnTo>
                  <a:pt x="164633" y="516073"/>
                </a:lnTo>
                <a:lnTo>
                  <a:pt x="183552" y="521030"/>
                </a:lnTo>
                <a:lnTo>
                  <a:pt x="202764" y="524019"/>
                </a:lnTo>
                <a:lnTo>
                  <a:pt x="222123" y="525018"/>
                </a:lnTo>
                <a:lnTo>
                  <a:pt x="241482" y="524019"/>
                </a:lnTo>
                <a:lnTo>
                  <a:pt x="260694" y="521030"/>
                </a:lnTo>
                <a:lnTo>
                  <a:pt x="279613" y="516073"/>
                </a:lnTo>
                <a:lnTo>
                  <a:pt x="298094" y="509187"/>
                </a:lnTo>
                <a:lnTo>
                  <a:pt x="315996" y="500423"/>
                </a:lnTo>
                <a:lnTo>
                  <a:pt x="333184" y="489848"/>
                </a:lnTo>
                <a:lnTo>
                  <a:pt x="349528" y="477544"/>
                </a:lnTo>
                <a:lnTo>
                  <a:pt x="364901" y="463603"/>
                </a:lnTo>
                <a:lnTo>
                  <a:pt x="379188" y="448131"/>
                </a:lnTo>
                <a:lnTo>
                  <a:pt x="392279" y="431247"/>
                </a:lnTo>
                <a:lnTo>
                  <a:pt x="404076" y="413078"/>
                </a:lnTo>
                <a:lnTo>
                  <a:pt x="414487" y="393764"/>
                </a:lnTo>
                <a:lnTo>
                  <a:pt x="423435" y="373450"/>
                </a:lnTo>
                <a:lnTo>
                  <a:pt x="430850" y="352292"/>
                </a:lnTo>
                <a:lnTo>
                  <a:pt x="436677" y="330451"/>
                </a:lnTo>
                <a:lnTo>
                  <a:pt x="440871" y="308093"/>
                </a:lnTo>
                <a:lnTo>
                  <a:pt x="443401" y="285388"/>
                </a:lnTo>
                <a:close/>
              </a:path>
            </a:pathLst>
          </a:custGeom>
          <a:solidFill>
            <a:srgbClr val="C843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4-mark177"/>
          <p:cNvSpPr/>
          <p:nvPr/>
        </p:nvSpPr>
        <p:spPr>
          <a:xfrm flipV="1">
            <a:off x="3539307" y="2983992"/>
            <a:ext cx="0" cy="282702"/>
          </a:xfrm>
          <a:prstGeom prst="line">
            <a:avLst/>
          </a:prstGeom>
          <a:noFill/>
          <a:ln w="28575">
            <a:solidFill>
              <a:srgbClr val="C8434E"/>
            </a:solidFill>
            <a:prstDash val="solid"/>
            <a:tailEnd type="triangle"/>
          </a:ln>
        </p:spPr>
      </p:sp>
      <p:sp>
        <p:nvSpPr>
          <p:cNvPr id="15" name="S14-mark178"/>
          <p:cNvSpPr/>
          <p:nvPr/>
        </p:nvSpPr>
        <p:spPr>
          <a:xfrm>
            <a:off x="2731587" y="2983992"/>
            <a:ext cx="0" cy="282702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14-mark179"/>
          <p:cNvSpPr/>
          <p:nvPr/>
        </p:nvSpPr>
        <p:spPr>
          <a:xfrm>
            <a:off x="3741237" y="5043678"/>
            <a:ext cx="0" cy="323088"/>
          </a:xfrm>
          <a:prstGeom prst="line">
            <a:avLst/>
          </a:prstGeom>
          <a:noFill/>
          <a:ln w="28575">
            <a:solidFill>
              <a:srgbClr val="C8434E"/>
            </a:solidFill>
            <a:prstDash val="solid"/>
            <a:tailEnd type="triangle"/>
          </a:ln>
        </p:spPr>
      </p:sp>
      <p:sp>
        <p:nvSpPr>
          <p:cNvPr id="17" name="S14-mark180"/>
          <p:cNvSpPr/>
          <p:nvPr/>
        </p:nvSpPr>
        <p:spPr>
          <a:xfrm flipV="1">
            <a:off x="2529657" y="5043678"/>
            <a:ext cx="0" cy="32308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8" name="S14-mark181"/>
          <p:cNvSpPr/>
          <p:nvPr/>
        </p:nvSpPr>
        <p:spPr>
          <a:xfrm flipH="1">
            <a:off x="3377763" y="4114800"/>
            <a:ext cx="90868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9" name="S14-mark182"/>
          <p:cNvSpPr/>
          <p:nvPr/>
        </p:nvSpPr>
        <p:spPr>
          <a:xfrm flipH="1">
            <a:off x="3761430" y="5205222"/>
            <a:ext cx="52501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0" name="S14-label184"/>
          <p:cNvSpPr txBox="1"/>
          <p:nvPr/>
        </p:nvSpPr>
        <p:spPr>
          <a:xfrm>
            <a:off x="4347027" y="39401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심장</a:t>
            </a:r>
            <a:endParaRPr lang="ko-KR" sz="2200" dirty="0"/>
          </a:p>
        </p:txBody>
      </p:sp>
      <p:sp>
        <p:nvSpPr>
          <p:cNvPr id="21" name="S14-label186"/>
          <p:cNvSpPr txBox="1"/>
          <p:nvPr/>
        </p:nvSpPr>
        <p:spPr>
          <a:xfrm>
            <a:off x="4347027" y="503059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혈관</a:t>
            </a:r>
            <a:endParaRPr lang="ko-KR" sz="2200" dirty="0"/>
          </a:p>
        </p:txBody>
      </p:sp>
      <p:sp>
        <p:nvSpPr>
          <p:cNvPr id="22" name="S14-card187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4-cardtext188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심장이 펌프처럼 뛰어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혈액을 온몸으로 보내요.</a:t>
            </a:r>
            <a:endParaRPr lang="ko-KR" sz="2800" dirty="0"/>
          </a:p>
        </p:txBody>
      </p:sp>
      <p:sp>
        <p:nvSpPr>
          <p:cNvPr id="24" name="S14-card189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4-cardtext190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혈액은 혈관을 따라 돌며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영양소와 산소를 날라요.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노폐물을 내보내요</a:t>
            </a:r>
            <a:endParaRPr lang="ko-KR" sz="4000" dirty="0"/>
          </a:p>
        </p:txBody>
      </p:sp>
      <p:sp>
        <p:nvSpPr>
          <p:cNvPr id="3" name="S15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 속 노폐물을 몸 밖으로 내보내는 것을 배설이라고 해요.</a:t>
            </a:r>
            <a:endParaRPr lang="ko-KR" sz="2800" dirty="0"/>
          </a:p>
        </p:txBody>
      </p:sp>
      <p:sp>
        <p:nvSpPr>
          <p:cNvPr id="4" name="S15-figure192" descr="몸 윤곽 안의 배설 기관 모식도: 양쪽 콩팥에서 오줌관을 따라 아래쪽 방광으로 이어지고, 방광에서 몸 밖으로 나감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15-mark193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5-mark194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5-mark195"/>
          <p:cNvSpPr/>
          <p:nvPr/>
        </p:nvSpPr>
        <p:spPr>
          <a:xfrm>
            <a:off x="2501387" y="4276344"/>
            <a:ext cx="339242" cy="565404"/>
          </a:xfrm>
          <a:custGeom>
            <a:avLst/>
            <a:gdLst/>
            <a:ahLst/>
            <a:cxnLst/>
            <a:rect l="l" t="t" r="r" b="b"/>
            <a:pathLst>
              <a:path w="339242" h="565404">
                <a:moveTo>
                  <a:pt x="339242" y="282702"/>
                </a:moveTo>
                <a:lnTo>
                  <a:pt x="338597" y="258063"/>
                </a:lnTo>
                <a:lnTo>
                  <a:pt x="336665" y="233611"/>
                </a:lnTo>
                <a:lnTo>
                  <a:pt x="333463" y="209533"/>
                </a:lnTo>
                <a:lnTo>
                  <a:pt x="329013" y="186012"/>
                </a:lnTo>
                <a:lnTo>
                  <a:pt x="323350" y="163227"/>
                </a:lnTo>
                <a:lnTo>
                  <a:pt x="316517" y="141351"/>
                </a:lnTo>
                <a:lnTo>
                  <a:pt x="308567" y="120551"/>
                </a:lnTo>
                <a:lnTo>
                  <a:pt x="299559" y="100985"/>
                </a:lnTo>
                <a:lnTo>
                  <a:pt x="289562" y="82801"/>
                </a:lnTo>
                <a:lnTo>
                  <a:pt x="278652" y="66140"/>
                </a:lnTo>
                <a:lnTo>
                  <a:pt x="266912" y="51126"/>
                </a:lnTo>
                <a:lnTo>
                  <a:pt x="254432" y="37875"/>
                </a:lnTo>
                <a:lnTo>
                  <a:pt x="241306" y="26487"/>
                </a:lnTo>
                <a:lnTo>
                  <a:pt x="227635" y="17049"/>
                </a:lnTo>
                <a:lnTo>
                  <a:pt x="213522" y="9633"/>
                </a:lnTo>
                <a:lnTo>
                  <a:pt x="199076" y="4295"/>
                </a:lnTo>
                <a:lnTo>
                  <a:pt x="184405" y="1076"/>
                </a:lnTo>
                <a:lnTo>
                  <a:pt x="169621" y="0"/>
                </a:lnTo>
                <a:lnTo>
                  <a:pt x="154838" y="1076"/>
                </a:lnTo>
                <a:lnTo>
                  <a:pt x="140167" y="4295"/>
                </a:lnTo>
                <a:lnTo>
                  <a:pt x="125720" y="9633"/>
                </a:lnTo>
                <a:lnTo>
                  <a:pt x="111607" y="17049"/>
                </a:lnTo>
                <a:lnTo>
                  <a:pt x="97936" y="26487"/>
                </a:lnTo>
                <a:lnTo>
                  <a:pt x="84811" y="37875"/>
                </a:lnTo>
                <a:lnTo>
                  <a:pt x="72330" y="51126"/>
                </a:lnTo>
                <a:lnTo>
                  <a:pt x="60591" y="66140"/>
                </a:lnTo>
                <a:lnTo>
                  <a:pt x="49681" y="82801"/>
                </a:lnTo>
                <a:lnTo>
                  <a:pt x="39684" y="100985"/>
                </a:lnTo>
                <a:lnTo>
                  <a:pt x="30676" y="120551"/>
                </a:lnTo>
                <a:lnTo>
                  <a:pt x="22725" y="141351"/>
                </a:lnTo>
                <a:lnTo>
                  <a:pt x="15892" y="163227"/>
                </a:lnTo>
                <a:lnTo>
                  <a:pt x="10229" y="186012"/>
                </a:lnTo>
                <a:lnTo>
                  <a:pt x="5780" y="209533"/>
                </a:lnTo>
                <a:lnTo>
                  <a:pt x="2577" y="233611"/>
                </a:lnTo>
                <a:lnTo>
                  <a:pt x="645" y="258063"/>
                </a:lnTo>
                <a:lnTo>
                  <a:pt x="0" y="282702"/>
                </a:lnTo>
                <a:lnTo>
                  <a:pt x="645" y="307341"/>
                </a:lnTo>
                <a:lnTo>
                  <a:pt x="2577" y="331793"/>
                </a:lnTo>
                <a:lnTo>
                  <a:pt x="5780" y="355871"/>
                </a:lnTo>
                <a:lnTo>
                  <a:pt x="10229" y="379392"/>
                </a:lnTo>
                <a:lnTo>
                  <a:pt x="15892" y="402177"/>
                </a:lnTo>
                <a:lnTo>
                  <a:pt x="22725" y="424053"/>
                </a:lnTo>
                <a:lnTo>
                  <a:pt x="30676" y="444853"/>
                </a:lnTo>
                <a:lnTo>
                  <a:pt x="39684" y="464419"/>
                </a:lnTo>
                <a:lnTo>
                  <a:pt x="49681" y="482603"/>
                </a:lnTo>
                <a:lnTo>
                  <a:pt x="60591" y="499264"/>
                </a:lnTo>
                <a:lnTo>
                  <a:pt x="72330" y="514278"/>
                </a:lnTo>
                <a:lnTo>
                  <a:pt x="84811" y="527529"/>
                </a:lnTo>
                <a:lnTo>
                  <a:pt x="97936" y="538917"/>
                </a:lnTo>
                <a:lnTo>
                  <a:pt x="111607" y="548355"/>
                </a:lnTo>
                <a:lnTo>
                  <a:pt x="125720" y="555771"/>
                </a:lnTo>
                <a:lnTo>
                  <a:pt x="140167" y="561109"/>
                </a:lnTo>
                <a:lnTo>
                  <a:pt x="154838" y="564328"/>
                </a:lnTo>
                <a:lnTo>
                  <a:pt x="169621" y="565404"/>
                </a:lnTo>
                <a:lnTo>
                  <a:pt x="184405" y="564328"/>
                </a:lnTo>
                <a:lnTo>
                  <a:pt x="199076" y="561109"/>
                </a:lnTo>
                <a:lnTo>
                  <a:pt x="213522" y="555771"/>
                </a:lnTo>
                <a:lnTo>
                  <a:pt x="227635" y="548355"/>
                </a:lnTo>
                <a:lnTo>
                  <a:pt x="241306" y="538917"/>
                </a:lnTo>
                <a:lnTo>
                  <a:pt x="254432" y="527529"/>
                </a:lnTo>
                <a:lnTo>
                  <a:pt x="266912" y="514278"/>
                </a:lnTo>
                <a:lnTo>
                  <a:pt x="278652" y="499264"/>
                </a:lnTo>
                <a:lnTo>
                  <a:pt x="289562" y="482603"/>
                </a:lnTo>
                <a:lnTo>
                  <a:pt x="299559" y="464419"/>
                </a:lnTo>
                <a:lnTo>
                  <a:pt x="308567" y="444853"/>
                </a:lnTo>
                <a:lnTo>
                  <a:pt x="316517" y="424053"/>
                </a:lnTo>
                <a:lnTo>
                  <a:pt x="323350" y="402177"/>
                </a:lnTo>
                <a:lnTo>
                  <a:pt x="329013" y="379392"/>
                </a:lnTo>
                <a:lnTo>
                  <a:pt x="333463" y="355871"/>
                </a:lnTo>
                <a:lnTo>
                  <a:pt x="336665" y="331793"/>
                </a:lnTo>
                <a:lnTo>
                  <a:pt x="338597" y="307341"/>
                </a:lnTo>
                <a:close/>
              </a:path>
            </a:pathLst>
          </a:custGeom>
          <a:solidFill>
            <a:srgbClr val="A4714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196"/>
          <p:cNvSpPr/>
          <p:nvPr/>
        </p:nvSpPr>
        <p:spPr>
          <a:xfrm>
            <a:off x="3430265" y="4276344"/>
            <a:ext cx="339242" cy="565404"/>
          </a:xfrm>
          <a:custGeom>
            <a:avLst/>
            <a:gdLst/>
            <a:ahLst/>
            <a:cxnLst/>
            <a:rect l="l" t="t" r="r" b="b"/>
            <a:pathLst>
              <a:path w="339242" h="565404">
                <a:moveTo>
                  <a:pt x="339242" y="282702"/>
                </a:moveTo>
                <a:lnTo>
                  <a:pt x="338597" y="258063"/>
                </a:lnTo>
                <a:lnTo>
                  <a:pt x="336665" y="233611"/>
                </a:lnTo>
                <a:lnTo>
                  <a:pt x="333463" y="209533"/>
                </a:lnTo>
                <a:lnTo>
                  <a:pt x="329013" y="186012"/>
                </a:lnTo>
                <a:lnTo>
                  <a:pt x="323350" y="163227"/>
                </a:lnTo>
                <a:lnTo>
                  <a:pt x="316517" y="141351"/>
                </a:lnTo>
                <a:lnTo>
                  <a:pt x="308567" y="120551"/>
                </a:lnTo>
                <a:lnTo>
                  <a:pt x="299559" y="100985"/>
                </a:lnTo>
                <a:lnTo>
                  <a:pt x="289562" y="82801"/>
                </a:lnTo>
                <a:lnTo>
                  <a:pt x="278652" y="66140"/>
                </a:lnTo>
                <a:lnTo>
                  <a:pt x="266912" y="51126"/>
                </a:lnTo>
                <a:lnTo>
                  <a:pt x="254432" y="37875"/>
                </a:lnTo>
                <a:lnTo>
                  <a:pt x="241306" y="26487"/>
                </a:lnTo>
                <a:lnTo>
                  <a:pt x="227635" y="17049"/>
                </a:lnTo>
                <a:lnTo>
                  <a:pt x="213522" y="9633"/>
                </a:lnTo>
                <a:lnTo>
                  <a:pt x="199076" y="4295"/>
                </a:lnTo>
                <a:lnTo>
                  <a:pt x="184405" y="1076"/>
                </a:lnTo>
                <a:lnTo>
                  <a:pt x="169621" y="0"/>
                </a:lnTo>
                <a:lnTo>
                  <a:pt x="154838" y="1076"/>
                </a:lnTo>
                <a:lnTo>
                  <a:pt x="140167" y="4295"/>
                </a:lnTo>
                <a:lnTo>
                  <a:pt x="125720" y="9633"/>
                </a:lnTo>
                <a:lnTo>
                  <a:pt x="111607" y="17049"/>
                </a:lnTo>
                <a:lnTo>
                  <a:pt x="97936" y="26487"/>
                </a:lnTo>
                <a:lnTo>
                  <a:pt x="84811" y="37875"/>
                </a:lnTo>
                <a:lnTo>
                  <a:pt x="72330" y="51126"/>
                </a:lnTo>
                <a:lnTo>
                  <a:pt x="60591" y="66140"/>
                </a:lnTo>
                <a:lnTo>
                  <a:pt x="49681" y="82801"/>
                </a:lnTo>
                <a:lnTo>
                  <a:pt x="39684" y="100985"/>
                </a:lnTo>
                <a:lnTo>
                  <a:pt x="30676" y="120551"/>
                </a:lnTo>
                <a:lnTo>
                  <a:pt x="22725" y="141351"/>
                </a:lnTo>
                <a:lnTo>
                  <a:pt x="15892" y="163227"/>
                </a:lnTo>
                <a:lnTo>
                  <a:pt x="10229" y="186012"/>
                </a:lnTo>
                <a:lnTo>
                  <a:pt x="5780" y="209533"/>
                </a:lnTo>
                <a:lnTo>
                  <a:pt x="2577" y="233611"/>
                </a:lnTo>
                <a:lnTo>
                  <a:pt x="645" y="258063"/>
                </a:lnTo>
                <a:lnTo>
                  <a:pt x="0" y="282702"/>
                </a:lnTo>
                <a:lnTo>
                  <a:pt x="645" y="307341"/>
                </a:lnTo>
                <a:lnTo>
                  <a:pt x="2577" y="331793"/>
                </a:lnTo>
                <a:lnTo>
                  <a:pt x="5780" y="355871"/>
                </a:lnTo>
                <a:lnTo>
                  <a:pt x="10229" y="379392"/>
                </a:lnTo>
                <a:lnTo>
                  <a:pt x="15892" y="402177"/>
                </a:lnTo>
                <a:lnTo>
                  <a:pt x="22725" y="424053"/>
                </a:lnTo>
                <a:lnTo>
                  <a:pt x="30676" y="444853"/>
                </a:lnTo>
                <a:lnTo>
                  <a:pt x="39684" y="464419"/>
                </a:lnTo>
                <a:lnTo>
                  <a:pt x="49681" y="482603"/>
                </a:lnTo>
                <a:lnTo>
                  <a:pt x="60591" y="499264"/>
                </a:lnTo>
                <a:lnTo>
                  <a:pt x="72330" y="514278"/>
                </a:lnTo>
                <a:lnTo>
                  <a:pt x="84811" y="527529"/>
                </a:lnTo>
                <a:lnTo>
                  <a:pt x="97936" y="538917"/>
                </a:lnTo>
                <a:lnTo>
                  <a:pt x="111607" y="548355"/>
                </a:lnTo>
                <a:lnTo>
                  <a:pt x="125720" y="555771"/>
                </a:lnTo>
                <a:lnTo>
                  <a:pt x="140167" y="561109"/>
                </a:lnTo>
                <a:lnTo>
                  <a:pt x="154838" y="564328"/>
                </a:lnTo>
                <a:lnTo>
                  <a:pt x="169621" y="565404"/>
                </a:lnTo>
                <a:lnTo>
                  <a:pt x="184405" y="564328"/>
                </a:lnTo>
                <a:lnTo>
                  <a:pt x="199076" y="561109"/>
                </a:lnTo>
                <a:lnTo>
                  <a:pt x="213522" y="555771"/>
                </a:lnTo>
                <a:lnTo>
                  <a:pt x="227635" y="548355"/>
                </a:lnTo>
                <a:lnTo>
                  <a:pt x="241306" y="538917"/>
                </a:lnTo>
                <a:lnTo>
                  <a:pt x="254432" y="527529"/>
                </a:lnTo>
                <a:lnTo>
                  <a:pt x="266912" y="514278"/>
                </a:lnTo>
                <a:lnTo>
                  <a:pt x="278652" y="499264"/>
                </a:lnTo>
                <a:lnTo>
                  <a:pt x="289562" y="482603"/>
                </a:lnTo>
                <a:lnTo>
                  <a:pt x="299559" y="464419"/>
                </a:lnTo>
                <a:lnTo>
                  <a:pt x="308567" y="444853"/>
                </a:lnTo>
                <a:lnTo>
                  <a:pt x="316517" y="424053"/>
                </a:lnTo>
                <a:lnTo>
                  <a:pt x="323350" y="402177"/>
                </a:lnTo>
                <a:lnTo>
                  <a:pt x="329013" y="379392"/>
                </a:lnTo>
                <a:lnTo>
                  <a:pt x="333463" y="355871"/>
                </a:lnTo>
                <a:lnTo>
                  <a:pt x="336665" y="331793"/>
                </a:lnTo>
                <a:lnTo>
                  <a:pt x="338597" y="307341"/>
                </a:lnTo>
                <a:close/>
              </a:path>
            </a:pathLst>
          </a:custGeom>
          <a:solidFill>
            <a:srgbClr val="A4714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5-mark197"/>
          <p:cNvSpPr/>
          <p:nvPr/>
        </p:nvSpPr>
        <p:spPr>
          <a:xfrm>
            <a:off x="2872938" y="5407152"/>
            <a:ext cx="525018" cy="363474"/>
          </a:xfrm>
          <a:custGeom>
            <a:avLst/>
            <a:gdLst/>
            <a:ahLst/>
            <a:cxnLst/>
            <a:rect l="l" t="t" r="r" b="b"/>
            <a:pathLst>
              <a:path w="525018" h="363474">
                <a:moveTo>
                  <a:pt x="525018" y="181737"/>
                </a:moveTo>
                <a:lnTo>
                  <a:pt x="524019" y="165898"/>
                </a:lnTo>
                <a:lnTo>
                  <a:pt x="521030" y="150179"/>
                </a:lnTo>
                <a:lnTo>
                  <a:pt x="516073" y="134700"/>
                </a:lnTo>
                <a:lnTo>
                  <a:pt x="509187" y="119579"/>
                </a:lnTo>
                <a:lnTo>
                  <a:pt x="500423" y="104932"/>
                </a:lnTo>
                <a:lnTo>
                  <a:pt x="489848" y="90868"/>
                </a:lnTo>
                <a:lnTo>
                  <a:pt x="477544" y="77497"/>
                </a:lnTo>
                <a:lnTo>
                  <a:pt x="463603" y="64919"/>
                </a:lnTo>
                <a:lnTo>
                  <a:pt x="448131" y="53230"/>
                </a:lnTo>
                <a:lnTo>
                  <a:pt x="431247" y="42518"/>
                </a:lnTo>
                <a:lnTo>
                  <a:pt x="413078" y="32867"/>
                </a:lnTo>
                <a:lnTo>
                  <a:pt x="393764" y="24348"/>
                </a:lnTo>
                <a:lnTo>
                  <a:pt x="373450" y="17027"/>
                </a:lnTo>
                <a:lnTo>
                  <a:pt x="352292" y="10960"/>
                </a:lnTo>
                <a:lnTo>
                  <a:pt x="330451" y="6193"/>
                </a:lnTo>
                <a:lnTo>
                  <a:pt x="308093" y="2761"/>
                </a:lnTo>
                <a:lnTo>
                  <a:pt x="285388" y="692"/>
                </a:lnTo>
                <a:lnTo>
                  <a:pt x="262509" y="0"/>
                </a:lnTo>
                <a:lnTo>
                  <a:pt x="239630" y="692"/>
                </a:lnTo>
                <a:lnTo>
                  <a:pt x="216925" y="2761"/>
                </a:lnTo>
                <a:lnTo>
                  <a:pt x="194567" y="6193"/>
                </a:lnTo>
                <a:lnTo>
                  <a:pt x="172726" y="10960"/>
                </a:lnTo>
                <a:lnTo>
                  <a:pt x="151568" y="17027"/>
                </a:lnTo>
                <a:lnTo>
                  <a:pt x="131255" y="24348"/>
                </a:lnTo>
                <a:lnTo>
                  <a:pt x="111940" y="32867"/>
                </a:lnTo>
                <a:lnTo>
                  <a:pt x="93771" y="42518"/>
                </a:lnTo>
                <a:lnTo>
                  <a:pt x="76887" y="53230"/>
                </a:lnTo>
                <a:lnTo>
                  <a:pt x="61415" y="64919"/>
                </a:lnTo>
                <a:lnTo>
                  <a:pt x="47474" y="77497"/>
                </a:lnTo>
                <a:lnTo>
                  <a:pt x="35170" y="90868"/>
                </a:lnTo>
                <a:lnTo>
                  <a:pt x="24595" y="104932"/>
                </a:lnTo>
                <a:lnTo>
                  <a:pt x="15831" y="119579"/>
                </a:lnTo>
                <a:lnTo>
                  <a:pt x="8945" y="134700"/>
                </a:lnTo>
                <a:lnTo>
                  <a:pt x="3988" y="150179"/>
                </a:lnTo>
                <a:lnTo>
                  <a:pt x="999" y="165898"/>
                </a:lnTo>
                <a:lnTo>
                  <a:pt x="0" y="181737"/>
                </a:lnTo>
                <a:lnTo>
                  <a:pt x="999" y="197576"/>
                </a:lnTo>
                <a:lnTo>
                  <a:pt x="3988" y="213295"/>
                </a:lnTo>
                <a:lnTo>
                  <a:pt x="8945" y="228774"/>
                </a:lnTo>
                <a:lnTo>
                  <a:pt x="15831" y="243895"/>
                </a:lnTo>
                <a:lnTo>
                  <a:pt x="24595" y="258542"/>
                </a:lnTo>
                <a:lnTo>
                  <a:pt x="35170" y="272605"/>
                </a:lnTo>
                <a:lnTo>
                  <a:pt x="47474" y="285977"/>
                </a:lnTo>
                <a:lnTo>
                  <a:pt x="61415" y="298555"/>
                </a:lnTo>
                <a:lnTo>
                  <a:pt x="76887" y="310244"/>
                </a:lnTo>
                <a:lnTo>
                  <a:pt x="93771" y="320956"/>
                </a:lnTo>
                <a:lnTo>
                  <a:pt x="111940" y="330607"/>
                </a:lnTo>
                <a:lnTo>
                  <a:pt x="131255" y="339126"/>
                </a:lnTo>
                <a:lnTo>
                  <a:pt x="151568" y="346447"/>
                </a:lnTo>
                <a:lnTo>
                  <a:pt x="172726" y="352514"/>
                </a:lnTo>
                <a:lnTo>
                  <a:pt x="194567" y="357281"/>
                </a:lnTo>
                <a:lnTo>
                  <a:pt x="216925" y="360713"/>
                </a:lnTo>
                <a:lnTo>
                  <a:pt x="239630" y="362782"/>
                </a:lnTo>
                <a:lnTo>
                  <a:pt x="262509" y="363474"/>
                </a:lnTo>
                <a:lnTo>
                  <a:pt x="285388" y="362782"/>
                </a:lnTo>
                <a:lnTo>
                  <a:pt x="308093" y="360713"/>
                </a:lnTo>
                <a:lnTo>
                  <a:pt x="330451" y="357281"/>
                </a:lnTo>
                <a:lnTo>
                  <a:pt x="352292" y="352514"/>
                </a:lnTo>
                <a:lnTo>
                  <a:pt x="373450" y="346447"/>
                </a:lnTo>
                <a:lnTo>
                  <a:pt x="393764" y="339126"/>
                </a:lnTo>
                <a:lnTo>
                  <a:pt x="413078" y="330607"/>
                </a:lnTo>
                <a:lnTo>
                  <a:pt x="431247" y="320956"/>
                </a:lnTo>
                <a:lnTo>
                  <a:pt x="448131" y="310244"/>
                </a:lnTo>
                <a:lnTo>
                  <a:pt x="463603" y="298555"/>
                </a:lnTo>
                <a:lnTo>
                  <a:pt x="477544" y="285977"/>
                </a:lnTo>
                <a:lnTo>
                  <a:pt x="489848" y="272605"/>
                </a:lnTo>
                <a:lnTo>
                  <a:pt x="500423" y="258542"/>
                </a:lnTo>
                <a:lnTo>
                  <a:pt x="509187" y="243895"/>
                </a:lnTo>
                <a:lnTo>
                  <a:pt x="516073" y="228774"/>
                </a:lnTo>
                <a:lnTo>
                  <a:pt x="521030" y="213295"/>
                </a:lnTo>
                <a:lnTo>
                  <a:pt x="524019" y="197576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mark198"/>
          <p:cNvSpPr/>
          <p:nvPr/>
        </p:nvSpPr>
        <p:spPr>
          <a:xfrm>
            <a:off x="2731587" y="4821555"/>
            <a:ext cx="242316" cy="646176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1" name="S15-mark199"/>
          <p:cNvSpPr/>
          <p:nvPr/>
        </p:nvSpPr>
        <p:spPr>
          <a:xfrm flipH="1">
            <a:off x="3296991" y="4821555"/>
            <a:ext cx="242316" cy="646176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2" name="S15-mark200"/>
          <p:cNvSpPr/>
          <p:nvPr/>
        </p:nvSpPr>
        <p:spPr>
          <a:xfrm>
            <a:off x="3135447" y="5770626"/>
            <a:ext cx="0" cy="222123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3" name="S15-mark201"/>
          <p:cNvSpPr/>
          <p:nvPr/>
        </p:nvSpPr>
        <p:spPr>
          <a:xfrm flipH="1">
            <a:off x="3761430" y="4559046"/>
            <a:ext cx="52501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4" name="S15-mark202"/>
          <p:cNvSpPr/>
          <p:nvPr/>
        </p:nvSpPr>
        <p:spPr>
          <a:xfrm flipH="1">
            <a:off x="3438342" y="5124450"/>
            <a:ext cx="84810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15-mark203"/>
          <p:cNvSpPr/>
          <p:nvPr/>
        </p:nvSpPr>
        <p:spPr>
          <a:xfrm flipH="1">
            <a:off x="3397956" y="5609082"/>
            <a:ext cx="88849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15-label205"/>
          <p:cNvSpPr txBox="1"/>
          <p:nvPr/>
        </p:nvSpPr>
        <p:spPr>
          <a:xfrm>
            <a:off x="4347027" y="438442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</a:t>
            </a:r>
            <a:endParaRPr lang="ko-KR" sz="2200" dirty="0"/>
          </a:p>
        </p:txBody>
      </p:sp>
      <p:sp>
        <p:nvSpPr>
          <p:cNvPr id="17" name="S15-label207"/>
          <p:cNvSpPr txBox="1"/>
          <p:nvPr/>
        </p:nvSpPr>
        <p:spPr>
          <a:xfrm>
            <a:off x="4347027" y="494982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오줌관</a:t>
            </a:r>
            <a:endParaRPr lang="ko-KR" sz="2200" dirty="0"/>
          </a:p>
        </p:txBody>
      </p:sp>
      <p:sp>
        <p:nvSpPr>
          <p:cNvPr id="18" name="S15-label209"/>
          <p:cNvSpPr txBox="1"/>
          <p:nvPr/>
        </p:nvSpPr>
        <p:spPr>
          <a:xfrm>
            <a:off x="4347027" y="543445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</a:t>
            </a:r>
            <a:endParaRPr lang="ko-KR" sz="2200" dirty="0"/>
          </a:p>
        </p:txBody>
      </p:sp>
      <p:sp>
        <p:nvSpPr>
          <p:cNvPr id="19" name="S15-card210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15-cardtext211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콩팥이 혈액 속 노폐물을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 오줌을 만들어요.</a:t>
            </a:r>
            <a:endParaRPr lang="ko-KR" sz="2800" dirty="0"/>
          </a:p>
        </p:txBody>
      </p:sp>
      <p:sp>
        <p:nvSpPr>
          <p:cNvPr id="21" name="S15-card212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15-cardtext213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오줌은 오줌관을 지나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방광에 모였다가 나가요.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기관일까요?</a:t>
            </a:r>
            <a:endParaRPr lang="ko-KR" sz="4000" dirty="0"/>
          </a:p>
        </p:txBody>
      </p:sp>
      <p:sp>
        <p:nvSpPr>
          <p:cNvPr id="3" name="S16-text2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일을 보고 기관의 이름을 말해요.</a:t>
            </a:r>
            <a:endParaRPr lang="ko-KR" sz="2800" dirty="0"/>
          </a:p>
        </p:txBody>
      </p:sp>
      <p:sp>
        <p:nvSpPr>
          <p:cNvPr id="4" name="S16-card2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2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소화·순환·호흡·배설 그림을 떠올려요.</a:t>
            </a:r>
            <a:endParaRPr lang="ko-KR" sz="2800" dirty="0"/>
          </a:p>
        </p:txBody>
      </p:sp>
      <p:sp>
        <p:nvSpPr>
          <p:cNvPr id="6" name="S16-chip21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6-text21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영양소를 흡수해요.</a:t>
            </a:r>
            <a:endParaRPr lang="ko-KR" sz="2800" dirty="0"/>
          </a:p>
        </p:txBody>
      </p:sp>
      <p:sp>
        <p:nvSpPr>
          <p:cNvPr id="8" name="S16-chip2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6-text22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혈액을 온몸으로 보내요.</a:t>
            </a:r>
            <a:endParaRPr lang="ko-KR" sz="2800" dirty="0"/>
          </a:p>
        </p:txBody>
      </p:sp>
      <p:sp>
        <p:nvSpPr>
          <p:cNvPr id="10" name="S16-chip22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6-text22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산소를 받아들여요.</a:t>
            </a:r>
            <a:endParaRPr lang="ko-KR" sz="2800" dirty="0"/>
          </a:p>
        </p:txBody>
      </p:sp>
      <p:sp>
        <p:nvSpPr>
          <p:cNvPr id="12" name="S16-chip22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6-text22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노폐물을 걸러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7-chip22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7-text22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굽힐 때 근육은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어떻게 하나요?</a:t>
            </a:r>
            <a:endParaRPr lang="ko-KR" sz="2800" dirty="0"/>
          </a:p>
        </p:txBody>
      </p:sp>
      <p:sp>
        <p:nvSpPr>
          <p:cNvPr id="5" name="S17-chip22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7-text22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→ 식도 → □ →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 → □ → 항문</a:t>
            </a:r>
            <a:endParaRPr lang="ko-KR" sz="2800" dirty="0"/>
          </a:p>
        </p:txBody>
      </p:sp>
      <p:sp>
        <p:nvSpPr>
          <p:cNvPr id="7" name="S17-chip22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7-text23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들이쉴 때 공기가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지나는 길은?</a:t>
            </a:r>
            <a:endParaRPr lang="ko-KR" sz="2800" dirty="0"/>
          </a:p>
        </p:txBody>
      </p:sp>
      <p:sp>
        <p:nvSpPr>
          <p:cNvPr id="9" name="S17-chip23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7-text23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방광이 하는 일은?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오줌은 어디에서 만들까요?</a:t>
            </a:r>
            <a:endParaRPr lang="ko-KR" sz="4000" dirty="0"/>
          </a:p>
        </p:txBody>
      </p:sp>
      <p:sp>
        <p:nvSpPr>
          <p:cNvPr id="3" name="S19-text2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 속 노폐물을 걸러 오줌을 만드는 기관은?</a:t>
            </a:r>
            <a:endParaRPr lang="ko-KR" sz="2800" dirty="0"/>
          </a:p>
        </p:txBody>
      </p:sp>
      <p:sp>
        <p:nvSpPr>
          <p:cNvPr id="4" name="S19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9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나머지 두 기관이 하는 일도 말해요.</a:t>
            </a:r>
            <a:endParaRPr lang="ko-KR" sz="2800" dirty="0"/>
          </a:p>
        </p:txBody>
      </p:sp>
      <p:sp>
        <p:nvSpPr>
          <p:cNvPr id="6" name="S19-chip23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9-card23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9-cardtext23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</a:t>
            </a:r>
            <a:endParaRPr lang="ko-KR" sz="2800" dirty="0"/>
          </a:p>
        </p:txBody>
      </p:sp>
      <p:sp>
        <p:nvSpPr>
          <p:cNvPr id="9" name="S19-chip23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9-card24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9-cardtext24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</a:t>
            </a:r>
            <a:endParaRPr lang="ko-KR" sz="2800" dirty="0"/>
          </a:p>
        </p:txBody>
      </p:sp>
      <p:sp>
        <p:nvSpPr>
          <p:cNvPr id="12" name="S19-chip24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9-card24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9-cardtext24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큰창자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0-card24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0-cardtext24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뼈와 근육은 몸을 움직이고, 소화·호흡·순환·배설 기관은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영양소와 산소를 받아들이고 나르고, 노폐물을 내보내요.</a:t>
            </a:r>
            <a:endParaRPr lang="ko-KR" sz="2800" dirty="0"/>
          </a:p>
        </p:txBody>
      </p:sp>
      <p:sp>
        <p:nvSpPr>
          <p:cNvPr id="5" name="S20-chip24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그림에서 길을 따라 설명하기</a:t>
            </a:r>
            <a:endParaRPr lang="ko-KR" sz="2200" dirty="0"/>
          </a:p>
        </p:txBody>
      </p:sp>
      <p:sp>
        <p:nvSpPr>
          <p:cNvPr id="6" name="S20-chip24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방광이 오줌을 만든다고 생각하기</a:t>
            </a:r>
            <a:endParaRPr lang="ko-KR" sz="2200" dirty="0"/>
          </a:p>
        </p:txBody>
      </p:sp>
      <p:sp>
        <p:nvSpPr>
          <p:cNvPr id="7" name="S20-text24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0-text25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줄어들고 늘어나며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움직이는 것은?</a:t>
            </a:r>
            <a:endParaRPr lang="ko-KR" sz="2200" dirty="0"/>
          </a:p>
        </p:txBody>
      </p:sp>
      <p:sp>
        <p:nvSpPr>
          <p:cNvPr id="9" name="S20-text25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영양소를 흡수하는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 기관은?</a:t>
            </a:r>
            <a:endParaRPr lang="ko-KR" sz="2200" dirty="0"/>
          </a:p>
        </p:txBody>
      </p:sp>
      <p:sp>
        <p:nvSpPr>
          <p:cNvPr id="10" name="S20-text25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노폐물을 걸러 오줌을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기관은?</a:t>
            </a:r>
            <a:endParaRPr lang="ko-KR" sz="2200" dirty="0"/>
          </a:p>
        </p:txBody>
      </p:sp>
      <p:sp>
        <p:nvSpPr>
          <p:cNvPr id="11" name="S20-text2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기관의 협력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생김새와 움직임</a:t>
            </a:r>
            <a:endParaRPr lang="ko-KR" sz="4000" dirty="0"/>
          </a:p>
        </p:txBody>
      </p:sp>
      <p:sp>
        <p:nvSpPr>
          <p:cNvPr id="3" name="S21-text2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생김새마다 하는 일이 있어요.</a:t>
            </a:r>
            <a:endParaRPr lang="ko-KR" sz="2800" dirty="0"/>
          </a:p>
        </p:txBody>
      </p:sp>
      <p:sp>
        <p:nvSpPr>
          <p:cNvPr id="4" name="S21-card2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1-cardtext2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몸속 기관도 저마다 하는 일이 있어요.</a:t>
            </a:r>
            <a:endParaRPr lang="ko-KR" sz="2800" dirty="0"/>
          </a:p>
        </p:txBody>
      </p:sp>
      <p:sp>
        <p:nvSpPr>
          <p:cNvPr id="6" name="S21-card25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1-cardtext25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 날아요.</a:t>
            </a:r>
            <a:endParaRPr lang="ko-KR" sz="2800" dirty="0"/>
          </a:p>
        </p:txBody>
      </p:sp>
      <p:sp>
        <p:nvSpPr>
          <p:cNvPr id="8" name="S21-card25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1-cardtext26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지느러미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헤엄쳐요.</a:t>
            </a:r>
            <a:endParaRPr lang="ko-KR" sz="2800" dirty="0"/>
          </a:p>
        </p:txBody>
      </p:sp>
      <p:sp>
        <p:nvSpPr>
          <p:cNvPr id="10" name="S21-card26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1-cardtext26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개가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걷고 뛰어요.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우리 몸의 기관</dc:title>
  <dc:subject>KR22-G05-SCI-ORGANS-L01</dc:subject>
  <dc:creator>education-ppt</dc:creator>
  <cp:lastModifiedBy>education-ppt</cp:lastModifiedBy>
  <cp:revision>1</cp:revision>
  <dcterms:created xsi:type="dcterms:W3CDTF">2026-10-26T13:50:23Z</dcterms:created>
  <dcterms:modified xsi:type="dcterms:W3CDTF">2026-10-26T13:50:23Z</dcterms:modified>
</cp:coreProperties>
</file>