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5feb961-b837-48e6-58a3-ebbb6d787ce8}">
          <p14:sldIdLst>
            <p14:sldId id="256"/>
            <p14:sldId id="257"/>
          </p14:sldIdLst>
        </p14:section>
        <p14:section name="개념" id="{af40a9c9-c7ae-9650-4e4d-a5b22b66eee0}">
          <p14:sldIdLst>
            <p14:sldId id="258"/>
            <p14:sldId id="259"/>
            <p14:sldId id="260"/>
            <p14:sldId id="262"/>
            <p14:sldId id="263"/>
            <p14:sldId id="264"/>
          </p14:sldIdLst>
        </p14:section>
        <p14:section name="연습" id="{f52949fc-9874-95bc-6062-9da29ba970b8}">
          <p14:sldIdLst>
            <p14:sldId id="261"/>
            <p14:sldId id="265"/>
            <p14:sldId id="266"/>
          </p14:sldIdLst>
        </p14:section>
        <p14:section name="개념" id="{818457d2-cd52-12d8-e399-05a21c4617d4}">
          <p14:sldIdLst/>
        </p14:section>
        <p14:section name="연습" id="{bb0cc7f4-9f5c-100f-5a53-27390a474d1a}">
          <p14:sldIdLst/>
        </p14:section>
        <p14:section name="확인" id="{6ded2574-39af-b4c4-ead1-611b3ed89eba}">
          <p14:sldIdLst>
            <p14:sldId id="267"/>
            <p14:sldId id="268"/>
          </p14:sldIdLst>
        </p14:section>
        <p14:section name="정리" id="{9d55aa65-d5ba-8fa5-0078-4bfd2303613f}">
          <p14:sldIdLst>
            <p14:sldId id="269"/>
          </p14:sldIdLst>
        </p14:section>
        <p14:section name="보충" id="{5b71a0b5-c6bc-2ddc-56e5-e14f545ab1be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나라를 잃은 시기에도 사람들이 포기하지 않고 노력했다는 데 초점을 둔다는 것을 알려 줍니다.
시간: 약 2분
이렇게 말해 보세요
- “3월 1일이 왜 쉬는 날인지 알아? 오늘은 그날과 관계있는 이야기를 할 거야.”
- “조선 말에 우리나라는 다른 나라에 나라를 빼앗기는 아픈 일을 겪었어. 오늘은 그때 사람들이 나라를 되찾으려고 무엇을 위해 어떻게 노력했는지 알아보자.”
예상 답
- “삼일절이요.” “만세를 불렀어요.”
막히면
- 달력에서 3월 1일(삼일절)과 8월 15일(광복절)을 함께 찾아봅니다.
주의
- 이 차시는 아픈 역사를 다룹니다. 고통을 자세히 묘사하지 않고, 사람들이 무엇을 지키려고 어떻게 노력했는지에 초점을 둡니다.
- 잘못된 일을 한 것은 그때 일본의 정부와 군대입니다. 오늘날 일본 사람 모두를 미워하는 것과는 구별하도록 이야기합니다(오해 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확인(조선)]
목적: 지난 차시 ‘조선’(KR22-G05-SOC-JOSEON-L01)의 핵심과, 나라가 어려울 때 여러 사람이 힘을 모았다는 생각을 확인합니다.
시간: 약 3분
이렇게 말해 보세요
- “지난 시간에 배운 조선을 떠올려 볼까?”
정답
- ① 이성계, 1392년
- ② 이순신
- ③ 양반·농민·승려 등 여러 신분의 백성이 스스로 일어나 나라와 고향을 지킨 사람들
막히면
- ③을 어려워하면 “나라의 군대 말고도 스스로 나선 사람들이 있었지?”라고 묻습니다.
- 세 문제 가운데 두 개 이상 어려워하면 S15(보충)를 먼저 합니다. 보충으로도 어려우면 앞 차시 ‘조선’(KR22-G05-SOC-JOSEON-L01)을 다시 합니다.
주의
- ③은 오늘 배울 독립운동과 이어집니다. “나라가 어려울 때 스스로 나선 사람들이 또 있었는지 오늘 알아보자.”라고 이어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개항에서 광복까지의 차례]
목적: 개항부터 광복까지의 큰 흐름을 시간 띠로 보여 주고, 일제강점기의 뜻을 알려 줍니다(목표 A).
시간: 약 3분
이렇게 말해 보세요
- “조선은 오랫동안 다른 나라와 교류를 조심스럽게 했어. 그런데 1876년에 일본과 강화도 조약을 맺고 항구를 열었어. 이것을 개항이라고 해.”
- “그 뒤 일본은 조선을 점점 더 간섭했고, 1910년에는 나라를 빼앗았어. 이것을 국권 피탈이라고 해. 국권은 나라의 주인으로서의 권리라는 뜻이야.”
- “그때부터 1945년 광복까지를 일제강점기라고 해. 몇 년쯤 될까?”
예상 답
- “35년쯤이요.”
정답
- 1910년부터 1945년까지 약 35년(햇수로 36년이라고도 함)
막히면
- 시간 띠의 점을 왼쪽부터 짚으며 함께 읽습니다. 계산은 꼭 하지 않아도 됩니다.
주의
- ‘국권 피탈’ 대신 ‘나라를 빼앗김’이라고 쉬운 말로 말해도 됩니다.
- 개항 뒤에는 전기, 전차, 우편, 새 학교처럼 새로운 문물도 들어왔습니다. 변화에는 여러 면이 있었다고 짧게 덧붙입니다.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자료 읽기(강화도 조약의 내용)]
목적: 조약 내용을 자료로 읽고, 강화도 조약이 일본에 유리한 불평등 조약이었음을 근거와 함께 말하게 합니다(목표 A, 오해 M3).
시간: 약 3분
이렇게 말해 보세요
- “조약은 나라와 나라 사이의 약속이야. 세 가지 내용을 하나씩 읽고, 누구에게 좋은 약속인지 따져 보자.”
- “②, 남의 나라 바닷가를 마음대로 조사하면 어떤 일이 생길까? ③, 우리나라에서 죄를 지은 사람을 우리가 재판하지 못한다면?”
예상 답
- “일본에 유리해요. 일본 사람이 죄를 지어도 우리가 벌을 줄 수 없어요.”
정답
- 일본에 더 유리한 불평등 조약입니다. 근거: ② 일본이 조선의 바닷가를 마음대로 조사할 수 있다(군사적으로 쓸 수 있다). ③ 일본 사람이 죄를 지어도 조선이 재판할 수 없다.
막히면
- “우리 집에 손님이 와서 잘못을 했는데, 우리 집 규칙으로 말할 수 없고 손님 집 규칙으로만 따진다면 공평할까?”라고 생활 예로 묻습니다.
주의
- 항구 세 곳은 부산, 원산, 인천입니다(궁금해하면 알려 주는 정도로).
- 조약의 원문이 아니라 내용 일부를 쉬운 말로 풀어 쓴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나라를 지키려는 노력(국권 피탈 전)]
목적: 나라를 빼앗기기 전, 여러 사람이 여러 방법으로 나라를 지키려 했음을 알려 줍니다(목표 A).
시간: 약 3분
이렇게 말해 보세요
- “일본은 조선에 돈을 빌려주고 그 빚을 핑계로 더 간섭했어. 그러자 사람들은 그 빚을 우리 힘으로 갚자고 나섰어. 남자들은 담배를 끊고, 여자들은 반지나 비녀를 내놓았어. 이것을 국채 보상 운동이라고 해.”
- “임진왜란 때처럼 의병이 다시 일어났고, 학교를 세워 아이들을 가르치거나 신문을 만들어 사람들에게 나라의 사정을 알린 사람들도 있었어.”
- “세 카드의 사람들은 모두 무엇을 위해 노력했을까?”
예상 답
- “나라를 지키려고요.”
막히면
- 카드 제목만 짚으며 “돈을 모았어, 싸웠어, 가르쳤어. 모두 무엇을 위해서?”라고 묻습니다.
주의
- 이 무렵 안중근은 나라를 빼앗는 데 앞장선 일본의 우두머리 이토 히로부미를 처단했고, 재판에서도 당당히 뜻을 밝혔습니다. 아이가 궁금해하면 사건의 장면보다 ‘동양의 평화와 나라의 독립을 바랐다’는 뜻에 초점을 두어 말합니다.
- ‘깨우쳤다’는 ‘새로운 것을 알게 했다’는 뜻이라고 풀어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연습(일제강점기 생활 자료로 짐작하기)]
목적: 일제강점기에 우리 민족의 생활이 어떻게 어려워졌는지 자료로 짐작합니다(목표 A).
시간: 약 3분
이렇게 말해 보세요
- “①, 학교에서 우리말을 쓰지 못하게 하면 어떻게 될까? 일본은 왜 그랬을까?”
- “②, 농민이 지은 쌀이 일본으로 많이 실려 가면 우리 농민의 밥상은 어떻게 될까?”
- “③, 내 이름을 다른 나라 식으로 바꾸라고 하면 어떤 마음이 들까?”
정답
- ① 우리말과 우리 역사를 잊게 하려 했다고 생각할 수 있어요. 아이들이 우리말을 배우기 어려워졌어요.
- ② 우리 농민들은 먹을 쌀이 모자라 생활이 어려워졌다고 생각할 수 있어요.
- ③ 우리 민족의 얼(정신)을 없애려 했다고 생각할 수 있어요. 사람들은 속상하고 억울했을 거예요.
- 기준: 자료를 근거로 생활의 변화나 일본의 의도를 한 가지씩 말하면 맞음
막히면
- “네가 학교에서 한국어를 못 쓰게 된다면 어떨까?”라고 아이 자신의 일로 바꾸어 묻습니다.
주의
- 고통을 자세히 묘사하지 않습니다. ‘생활이 어려워졌다, 속상했다’ 정도로 담담하게 말하고, 다음 장에서 사람들이 어떻게 맞섰는지로 넘어갑니다.
- ①③은 일제강점기 후반에 특히 심해진 일입니다. 시기는 자세히 다루지 않습니다.
- 여기까지가 개항과 일제강점기의 생활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3·1 운동의 흐름]
목적: 3·1 운동의 흐름을 알고, 많은 사람이 함께 독립을 외쳤다는 데 초점을 둡니다(목표 B).
시간: 약 3분
이렇게 말해 보세요
- “1919년 3월 1일, 민족 대표들이 ‘우리나라는 독립국이다’라는 독립 선언서를 발표했어. 같은 날 학생과 시민들이 태극기를 들고 거리로 나와 ‘대한 독립 만세’를 외쳤어.”
- “만세 운동은 몇 달 동안 전국 곳곳으로, 그리고 나라 밖에 사는 우리 동포에게까지 퍼졌어.”
- “무기를 들지 않고 만세를 부른 까닭은 무엇일까?”
예상 답
- “평화롭게 독립을 바란다는 걸 보여 주려고요.”
막히면
- “모두 같은 날 같은 말을 외치면 세상 사람들이 무엇을 알게 될까?”라고 묻습니다.
주의
- 유관순은 이화 학당의 학생으로, 고향 천안의 장터에서 만세 운동을 이끌었습니다(아이가 알고 있으면 함께 이야기합니다).
- 일본은 만세 운동을 힘으로 막아 많은 사람이 다치거나 붙잡혔습니다. 이 부분은 짧고 담담하게만 말합니다.
- 독립 선언서 원문은 옮기지 않습니다. ‘우리나라가 독립국이며 우리 민족이 자주민임을 세계에 알린다’는 뜻만 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대한민국 임시 정부]
목적: 3·1 운동을 계기로 대한민국 임시 정부가 세워졌고, 오늘날 대한민국의 뿌리가 되었음을 알려 줍니다(목표 B).
시간: 약 3분
이렇게 말해 보세요
- “3·1 운동으로 사람들은 독립운동을 이끌 중심이 필요하다고 느꼈어. 그래서 1919년 중국 상하이에 대한민국 임시 정부를 세웠어.”
- “나라 이름을 ‘대한민국’이라고 하고, 왕이 아니라 국민이 주인인 나라를 만들겠다고 했어. 오늘 우리나라 이름과 같지?”
- “오늘날 우리나라의 헌법에도 대한민국이 임시 정부를 이어받았다고 쓰여 있어.”
예상 답
- “우리나라 이름이랑 같아요.”
막히면
- “조선에는 왕이 있었지? 임시 정부는 나라의 주인이 누구라고 했을까?”라고 견주어 묻습니다.
주의
- ‘임시’는 나라를 되찾기 전까지 잠시 나라 밖에 세운 정부라는 뜻입니다.
- 임시 정부는 뒤에 여러 곳으로 옮겨 다니며 활동했고, 한국광복군을 만들어 독립 전쟁을 준비했습니다(궁금해하면 알려 주는 정도로).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여러 방법의 독립운동]
목적: 독립운동이 여러 방법으로 이루어졌음을 표로 정리합니다(목표 B, 오해 M2).
시간: 약 3분
이렇게 말해 보세요
- “나라를 되찾기 위한 방법은 하나가 아니었어. 표를 같이 읽어 보자.”
- “독립군은 만주 같은 나라 밖에서 일본군과 싸웠어. 홍범도와 김좌진이 이끈 독립군은 큰 승리를 거두기도 했어.”
- “조선어 학회는 우리말을 지키려고 우리말 사전을 만들려 애썼어. 왜 사전이 독립운동이 될까?”
예상 답
- “말과 글을 잃지 않아야 나중에 나라를 되찾아도 우리 민족이니까요.”
막히면
- “네가 할 수 있는 방법이었다면 너는 어떤 방법을 골랐을까?”라고 물어 각 방법의 뜻을 생각하게 합니다.
주의
- 조선어 학회 회원들은 일본에 붙잡히기도 했고, 우리말 사전은 광복 뒤에 완성되었습니다.
- 독립군의 전투는 이름과 승리 정도만 말하고 장면은 묘사하지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연습(독립운동 방법 나누기)]
목적: 독립운동가가 한 일을 방법별로 나누고, 모두 같은 목표(독립)를 향했음을 말합니다(목표 B, 오해 M2).
시간: 약 3분
이렇게 말해 보세요
- “①부터 S09의 표에서 어떤 방법인지 찾아볼래?”
- “세 사람은 방법이 달랐어. 그럼 같은 점은 무엇일까?”
정답
- ① 가르쳐서(교육)
- ② 싸워서(독립군)
- ③ 우리말을 지켜서
- 공통점: 모두 나라의 독립을 위해, 자기가 할 수 있는 방법으로 노력했어요.
막히면
- 문장 속 낱말(학교, 독립군, 우리말)에 손가락을 대고 표의 같은 낱말을 찾게 합니다.
주의
- 주시경은 ‘한글’이라는 이름을 널리 쓰는 데 힘쓴 국어학자로 알려져 있습니다. 세 사람의 활동 시기는 조금씩 다르지만 이 차시에서는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오해 비교(3·1 운동의 의미)]
목적: 3·1 운동이 바로 독립을 가져오지 못했어도, 그 뒤 독립운동에 큰 힘이 되었음을 원인과 결과로 말하게 합니다(목표 B, 오해 M1).
시간: 약 3분
이렇게 말해 보세요
- “3·1 운동이 끝난 뒤 바로 독립이 되었어? 그럼 아무것도 달라지지 않았을까?”
- “S03의 시간 띠에서 3·1 운동 바로 다음에 무엇이 있었지?”
정답
- 기준: 나의 생각을 고르고 ‘임시 정부가 세워졌다’, ‘독립운동이 더 활발해졌다’, ‘우리 민족이 독립을 바란다는 것을 세계에 알렸다’ 가운데 하나를 근거로 말하면 잘함.
- 가를 고르면 “바로 독립하지 못한 건 맞아. 그 뒤에 어떤 일이 생겼는지 볼까?”라고 S08로 돌아갑니다.
막히면
- “씨앗을 심은 날 바로 열매가 열리지는 않지? 그래도 씨앗을 심은 건 소용없을까?”라고 비유로 묻습니다.
주의
- 누구 편을 드는지보다 원인과 결과를 근거로 말하는지를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 보기(흐름, 조약, 임시 정부, 독립운동의 방법)]
목적: 개항부터 3·1 운동까지의 흐름, 조약의 불평등, 임시 정부, 독립운동의 여러 방법을 도움 없이 말하는지 확인합니다(목표 A·B).
시간: 약 5분
이렇게 말해 보세요
- “이번에는 혼자 해 볼래? 활동지 1의 시간 띠를 채우면서 ①을 말해도 돼.”
- “다 하면 왜 그렇게 생각했는지 말해 줘.”
정답
- ① 1876년 강화도 조약(개항) / 1910년 국권 피탈(나라를 빼앗김) / 1919년 3·1 운동과 대한민국 임시 정부
- ② 일본 사람이 조선에서 죄를 지어도 일본 관리가 재판했다 / 일본이 조선의 바닷가를 마음대로 조사할 수 있었다 가운데 하나
- ③ 대한민국 임시 정부
- ④ 예: 싸워서(홍범도의 독립군), 가르쳐서(안창호가 학교를 세움), 우리말을 지켜서(조선어 학회), 만세 운동(3·1 운동) 가운데 두 가지
- 기준: 네 문제 가운데 세 개 이상이면 목표를 이룬 것으로 봅니다.
막히면
- 바로 알려 주지 말고 ①은 “S03의 시간 띠를 떠올려 봐.”, ②는 “누가 재판했다고 했지?”라고만 묻습니다.
- 도움을 받아 해결했다면 기록표에 ‘도움’으로 표시합니다.
주의
- ④에서 방법만 말하고 예가 없으면 “누가 그렇게 했지?”라고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S12의 답을 확인하고 흔한 실수와 견줍니다.
시간: 약 2분
이렇게 말해 보세요
- “네 답과 왼쪽을 견주어 보자. 오른쪽 두 생각은 무엇을 놓쳤을까?”
예상 답
- “학교를 세운 것도 독립운동이에요.” “3·1 운동 뒤 임시 정부가 세워졌어요.”
정답
- ① 1876년 강화도 조약(개항) → 1910년 국권 피탈 → 1919년 3·1 운동·임시 정부 ② 일본 사람이 죄를 지어도 일본 관리가 재판 / 바닷가를 마음대로 조사 ③ 대한민국 임시 정부 ④ 싸워서·가르쳐서·우리말을 지켜서·만세 운동 가운데 두 가지와 예
막히면
- ①은 S03, ②는 S04, ③은 S08, ④는 S09를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 질문을 알려 줍니다.
시간: 약 2분
이렇게 말해 보세요
- “오늘 배운 사람들 가운데 가장 기억에 남는 사람은 누구야? 그 사람은 무엇을 위해 어떻게 노력했어?”
예상 답
- “유관순이요. 독립을 위해 만세 운동을 이끌었어요.”
정답
- ① 강화도 조약 ② 1919년 3월 1일 ③ 대한민국 임시 정부
막히면
- S03의 시간 띠와 S09의 표를 다시 보여 줍니다.
주의
- 아이가 ‘일본 사람은 다 나빠’처럼 말하면, 잘못된 것은 그때 나라를 빼앗은 일이고 오늘날 사람 모두를 미워할 일은 아니라고 차분히 이야기합니다(오해 M4).
- 독립운동 기념관이나 박물관(또는 그 누리집)을 함께 찾아보면 좋은 복습이 됩니다(활동지 5, 선택).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보충(나라가 어려울 때의 노력 다시 보기)]
목적: S02에서 조선의 내용을 어려워하면, 지난 두 차시에서 배운 ‘나라를 지킨 노력’을 표로 다시 정리하고 오늘의 독립운동으로 이어 줍니다.
시간: 약 4분
이렇게 말해 보세요
- “표를 같이 읽어 보자. 고려 때 거란이 쳐들어오자 서희는 어떻게 했지?”
- “조선 때 임진왜란에서 나라를 지킨 사람들은? 의병은 어떤 사람들이었지?”
- “오늘은 나라를 빼앗긴 뒤에 사람들이 어떻게 노력했는지 배울 거야.”
정답
- 고려: 서희는 말(외교)로, 강감찬은 귀주에서 싸워, 몽골 때는 강화도로 옮겨 맞섬 / 조선: 이순신과 수군이 바다에서, 여러 신분의 의병이 고향에서 싸움
막히면
- ‘어려움 → 방법 → 결과’ 틀로 하나씩 묻습니다.
주의
- 이 차시의 계획상 선수 차시는 ‘조선’(KR22-G05-SOC-JOSEON-L01)입니다. 보충 뒤에도 어려우면 그 차시의 S09~S10을 다시 하고 오늘 수업은 다음 날 S02부터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역사와생활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개항과 일제강점기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개항과 일제강점기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개항과 일제강점기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개항과 일제강점기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잃은 사람들은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위해 어떻게 노력했을까?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개항부터 나라를 빼앗기기까지의 흐름을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여러 가지 독립운동을 자료로 살펴요.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조선을 세운 사람과 해는?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임진왜란 때 바다에서 나라를 지킨 장군은?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의병은 어떤 사람들이었나요?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개항에서 광복까지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1876년 조선은 일본과 조약을 맺고 항구를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열었어요. 이것을 개항이라고 해요.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일본에 나라를 빼앗긴 1910년부터 1945년까지를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일제강점기라고 해요.</a:t>
            </a:r>
            <a:endParaRPr lang="ko-KR" sz="2800" dirty="0"/>
          </a:p>
        </p:txBody>
      </p:sp>
      <p:sp>
        <p:nvSpPr>
          <p:cNvPr id="6" name="S03-line12"/>
          <p:cNvSpPr/>
          <p:nvPr/>
        </p:nvSpPr>
        <p:spPr>
          <a:xfrm>
            <a:off x="822960" y="3584448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3-event13"/>
          <p:cNvSpPr/>
          <p:nvPr/>
        </p:nvSpPr>
        <p:spPr>
          <a:xfrm>
            <a:off x="1758391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3-label14"/>
          <p:cNvSpPr txBox="1"/>
          <p:nvPr/>
        </p:nvSpPr>
        <p:spPr>
          <a:xfrm>
            <a:off x="868680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강화도 조약</a:t>
            </a:r>
            <a:endParaRPr lang="ko-KR" sz="2200" dirty="0"/>
          </a:p>
        </p:txBody>
      </p:sp>
      <p:sp>
        <p:nvSpPr>
          <p:cNvPr id="9" name="S03-label15"/>
          <p:cNvSpPr txBox="1"/>
          <p:nvPr/>
        </p:nvSpPr>
        <p:spPr>
          <a:xfrm>
            <a:off x="868680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1876년, 개항</a:t>
            </a:r>
            <a:endParaRPr lang="ko-KR" sz="1800" dirty="0"/>
          </a:p>
        </p:txBody>
      </p:sp>
      <p:sp>
        <p:nvSpPr>
          <p:cNvPr id="10" name="S03-event16"/>
          <p:cNvSpPr/>
          <p:nvPr/>
        </p:nvSpPr>
        <p:spPr>
          <a:xfrm>
            <a:off x="3866998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3-label17"/>
          <p:cNvSpPr txBox="1"/>
          <p:nvPr/>
        </p:nvSpPr>
        <p:spPr>
          <a:xfrm>
            <a:off x="2977286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국권 피탈</a:t>
            </a:r>
            <a:endParaRPr lang="ko-KR" sz="2200" dirty="0"/>
          </a:p>
        </p:txBody>
      </p:sp>
      <p:sp>
        <p:nvSpPr>
          <p:cNvPr id="12" name="S03-label18"/>
          <p:cNvSpPr txBox="1"/>
          <p:nvPr/>
        </p:nvSpPr>
        <p:spPr>
          <a:xfrm>
            <a:off x="2977286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1910년</a:t>
            </a:r>
            <a:endParaRPr lang="ko-KR" sz="1800" dirty="0"/>
          </a:p>
        </p:txBody>
      </p:sp>
      <p:sp>
        <p:nvSpPr>
          <p:cNvPr id="13" name="S03-event19"/>
          <p:cNvSpPr/>
          <p:nvPr/>
        </p:nvSpPr>
        <p:spPr>
          <a:xfrm>
            <a:off x="5975604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3-label20"/>
          <p:cNvSpPr txBox="1"/>
          <p:nvPr/>
        </p:nvSpPr>
        <p:spPr>
          <a:xfrm>
            <a:off x="5085893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</a:t>
            </a:r>
            <a:endParaRPr lang="ko-KR" sz="2200" dirty="0"/>
          </a:p>
        </p:txBody>
      </p:sp>
      <p:sp>
        <p:nvSpPr>
          <p:cNvPr id="15" name="S03-label21"/>
          <p:cNvSpPr txBox="1"/>
          <p:nvPr/>
        </p:nvSpPr>
        <p:spPr>
          <a:xfrm>
            <a:off x="5085893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1919년</a:t>
            </a:r>
            <a:endParaRPr lang="ko-KR" sz="1800" dirty="0"/>
          </a:p>
        </p:txBody>
      </p:sp>
      <p:sp>
        <p:nvSpPr>
          <p:cNvPr id="16" name="S03-event22"/>
          <p:cNvSpPr/>
          <p:nvPr/>
        </p:nvSpPr>
        <p:spPr>
          <a:xfrm>
            <a:off x="8084210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3-label23"/>
          <p:cNvSpPr txBox="1"/>
          <p:nvPr/>
        </p:nvSpPr>
        <p:spPr>
          <a:xfrm>
            <a:off x="7194499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 정부</a:t>
            </a:r>
            <a:endParaRPr lang="ko-KR" sz="2200" dirty="0"/>
          </a:p>
        </p:txBody>
      </p:sp>
      <p:sp>
        <p:nvSpPr>
          <p:cNvPr id="18" name="S03-label24"/>
          <p:cNvSpPr txBox="1"/>
          <p:nvPr/>
        </p:nvSpPr>
        <p:spPr>
          <a:xfrm>
            <a:off x="7194499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1919년</a:t>
            </a:r>
            <a:endParaRPr lang="ko-KR" sz="1800" dirty="0"/>
          </a:p>
        </p:txBody>
      </p:sp>
      <p:sp>
        <p:nvSpPr>
          <p:cNvPr id="19" name="S03-event25"/>
          <p:cNvSpPr/>
          <p:nvPr/>
        </p:nvSpPr>
        <p:spPr>
          <a:xfrm>
            <a:off x="10192817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3-label26"/>
          <p:cNvSpPr txBox="1"/>
          <p:nvPr/>
        </p:nvSpPr>
        <p:spPr>
          <a:xfrm>
            <a:off x="9303106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</a:t>
            </a:r>
            <a:endParaRPr lang="ko-KR" sz="2200" dirty="0"/>
          </a:p>
        </p:txBody>
      </p:sp>
      <p:sp>
        <p:nvSpPr>
          <p:cNvPr id="21" name="S03-label27"/>
          <p:cNvSpPr txBox="1"/>
          <p:nvPr/>
        </p:nvSpPr>
        <p:spPr>
          <a:xfrm>
            <a:off x="9303106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1945년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강화도 조약 읽기</a:t>
            </a:r>
            <a:endParaRPr lang="ko-KR" sz="4000" dirty="0"/>
          </a:p>
        </p:txBody>
      </p:sp>
      <p:sp>
        <p:nvSpPr>
          <p:cNvPr id="3" name="S04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조약은 어느 나라에 더 유리할까요? 왜 그럴까요?</a:t>
            </a:r>
            <a:endParaRPr lang="ko-KR" sz="2800" dirty="0"/>
          </a:p>
        </p:txBody>
      </p:sp>
      <p:sp>
        <p:nvSpPr>
          <p:cNvPr id="5" name="S04-passagebox3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3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강화도 조약의 내용 가운데 일부(쉽게 풀어 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조선은 부산 등 항구 세 곳을 열어 일본과 무역한다.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일본은 조선의 바닷가를 자유롭게 조사할 수 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일본 사람이 조선의 항구에서 죄를 지으면 일본 관리가 재판한다.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지키려는 노력</a:t>
            </a:r>
            <a:endParaRPr lang="ko-KR" sz="4000" dirty="0"/>
          </a:p>
        </p:txBody>
      </p:sp>
      <p:sp>
        <p:nvSpPr>
          <p:cNvPr id="3" name="S05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일본의 간섭이 심해지자 사람들은 이렇게 노력했어요.</a:t>
            </a:r>
            <a:endParaRPr lang="ko-KR" sz="2800" dirty="0"/>
          </a:p>
        </p:txBody>
      </p:sp>
      <p:sp>
        <p:nvSpPr>
          <p:cNvPr id="4" name="S05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그러나 일본은 1910년에 나라를 빼앗았어요.</a:t>
            </a:r>
            <a:endParaRPr lang="ko-KR" sz="2800" dirty="0"/>
          </a:p>
        </p:txBody>
      </p:sp>
      <p:sp>
        <p:nvSpPr>
          <p:cNvPr id="6" name="S05-card35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6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국채 보상 운동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나랏빚을 갚으려고 담배를 끊고 반지를 내놓아 돈을 모았어요.</a:t>
            </a:r>
            <a:endParaRPr lang="ko-KR" sz="2800" dirty="0"/>
          </a:p>
        </p:txBody>
      </p:sp>
      <p:sp>
        <p:nvSpPr>
          <p:cNvPr id="8" name="S05-card37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8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지키려고 다시 의병이 일어났어요.</a:t>
            </a:r>
            <a:endParaRPr lang="ko-KR" sz="2800" dirty="0"/>
          </a:p>
        </p:txBody>
      </p:sp>
      <p:sp>
        <p:nvSpPr>
          <p:cNvPr id="10" name="S05-card39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40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학교와 신문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학교를 세우고 신문을 펴내 사람들을 깨우쳤어요.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일제강점기의 생활</a:t>
            </a:r>
            <a:endParaRPr lang="ko-KR" sz="4000" dirty="0"/>
          </a:p>
        </p:txBody>
      </p:sp>
      <p:sp>
        <p:nvSpPr>
          <p:cNvPr id="3" name="S06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보고 생활이 어떻게 달라졌는지 짐작해요.</a:t>
            </a:r>
            <a:endParaRPr lang="ko-KR" sz="2800" dirty="0"/>
          </a:p>
        </p:txBody>
      </p:sp>
      <p:sp>
        <p:nvSpPr>
          <p:cNvPr id="4" name="S06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‘자료로 보면 ~라고 생각할 수 있어요.’로 말해요.</a:t>
            </a:r>
            <a:endParaRPr lang="ko-KR" sz="2800" dirty="0"/>
          </a:p>
        </p:txBody>
      </p:sp>
      <p:sp>
        <p:nvSpPr>
          <p:cNvPr id="6" name="S06-chip4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4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우리말 대신 일본어로 공부하게 했어요.</a:t>
            </a:r>
            <a:endParaRPr lang="ko-KR" sz="2800" dirty="0"/>
          </a:p>
        </p:txBody>
      </p:sp>
      <p:sp>
        <p:nvSpPr>
          <p:cNvPr id="8" name="S06-chip4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4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쌀이 일본으로 실려 갔어요.</a:t>
            </a:r>
            <a:endParaRPr lang="ko-KR" sz="2800" dirty="0"/>
          </a:p>
        </p:txBody>
      </p:sp>
      <p:sp>
        <p:nvSpPr>
          <p:cNvPr id="10" name="S06-chip4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4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일본식으로 바꾸게 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</a:t>
            </a:r>
            <a:endParaRPr lang="ko-KR" sz="4000" dirty="0"/>
          </a:p>
        </p:txBody>
      </p:sp>
      <p:sp>
        <p:nvSpPr>
          <p:cNvPr id="3" name="S07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아이, 남자와 여자 모두 함께했어요.</a:t>
            </a:r>
            <a:endParaRPr lang="ko-KR" sz="2800" dirty="0"/>
          </a:p>
        </p:txBody>
      </p:sp>
      <p:sp>
        <p:nvSpPr>
          <p:cNvPr id="5" name="S07-text52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1919년 3월 1일, 사람들이 독립을 외쳤어요.</a:t>
            </a:r>
            <a:endParaRPr lang="ko-KR" sz="2800" dirty="0"/>
          </a:p>
        </p:txBody>
      </p:sp>
      <p:sp>
        <p:nvSpPr>
          <p:cNvPr id="6" name="S07-stepno53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7-text54"/>
          <p:cNvSpPr txBox="1"/>
          <p:nvPr/>
        </p:nvSpPr>
        <p:spPr>
          <a:xfrm>
            <a:off x="1325880" y="2875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민족 대표들이 독립 선언서를 발표했어요.</a:t>
            </a:r>
            <a:endParaRPr lang="ko-KR" sz="2800" dirty="0"/>
          </a:p>
        </p:txBody>
      </p:sp>
      <p:sp>
        <p:nvSpPr>
          <p:cNvPr id="8" name="S07-stepno55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7-text56"/>
          <p:cNvSpPr txBox="1"/>
          <p:nvPr/>
        </p:nvSpPr>
        <p:spPr>
          <a:xfrm>
            <a:off x="1325880" y="35890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학생과 시민이 태극기를 들고 ‘대한 독립 만세’를 외쳤어요.</a:t>
            </a:r>
            <a:endParaRPr lang="ko-KR" sz="2800" dirty="0"/>
          </a:p>
        </p:txBody>
      </p:sp>
      <p:sp>
        <p:nvSpPr>
          <p:cNvPr id="10" name="S07-stepno57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7-text58"/>
          <p:cNvSpPr txBox="1"/>
          <p:nvPr/>
        </p:nvSpPr>
        <p:spPr>
          <a:xfrm>
            <a:off x="1325880" y="43022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만세 운동이 전국과 나라 밖까지 퍼졌어요.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대한민국 임시 정부</a:t>
            </a:r>
            <a:endParaRPr lang="ko-KR" sz="4000" dirty="0"/>
          </a:p>
        </p:txBody>
      </p:sp>
      <p:sp>
        <p:nvSpPr>
          <p:cNvPr id="3" name="S08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 뒤, 1919년 중국 상하이에 세워졌어요.</a:t>
            </a:r>
            <a:endParaRPr lang="ko-KR" sz="2800" dirty="0"/>
          </a:p>
        </p:txBody>
      </p:sp>
      <p:sp>
        <p:nvSpPr>
          <p:cNvPr id="4" name="S08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김구 같은 사람들이 임시 정부를 이끌었어요.</a:t>
            </a:r>
            <a:endParaRPr lang="ko-KR" sz="2800" dirty="0"/>
          </a:p>
        </p:txBody>
      </p:sp>
      <p:sp>
        <p:nvSpPr>
          <p:cNvPr id="6" name="S08-card6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6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독립운동을 이끌었어요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안팎의 독립운동을 하나로 모으려 했어요.</a:t>
            </a:r>
            <a:endParaRPr lang="ko-KR" sz="2800" dirty="0"/>
          </a:p>
        </p:txBody>
      </p:sp>
      <p:sp>
        <p:nvSpPr>
          <p:cNvPr id="8" name="S08-card6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6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이름, 대한민국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국민이 주인인 민주 공화국을 내세웠어요.</a:t>
            </a:r>
            <a:endParaRPr lang="ko-KR" sz="2800" dirty="0"/>
          </a:p>
        </p:txBody>
      </p:sp>
      <p:sp>
        <p:nvSpPr>
          <p:cNvPr id="10" name="S08-card6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오늘날의 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 대한민국은 임시 정부를 이어받았어요.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독립운동</a:t>
            </a:r>
            <a:endParaRPr lang="ko-KR" sz="4000" dirty="0"/>
          </a:p>
        </p:txBody>
      </p:sp>
      <p:sp>
        <p:nvSpPr>
          <p:cNvPr id="3" name="S09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저마다 할 수 있는 방법으로 힘썼어요.</a:t>
            </a:r>
            <a:endParaRPr lang="ko-KR" sz="2800" dirty="0"/>
          </a:p>
        </p:txBody>
      </p:sp>
      <p:sp>
        <p:nvSpPr>
          <p:cNvPr id="4" name="S09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나라의 독립이라는 같은 목표를 위해 노력했어요.</a:t>
            </a:r>
            <a:endParaRPr lang="ko-KR" sz="2800" dirty="0"/>
          </a:p>
        </p:txBody>
      </p:sp>
      <p:graphicFrame>
        <p:nvGraphicFramePr>
          <p:cNvPr id="10" name="S09-table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62200"/>
          <a:ext cx="109728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833932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싸워서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독립군이 만주 등에서 일본군과 싸워 이기기도 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가르쳐서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학교를 세워 우리 역사와 글을 가르쳤어요.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우리말을 지켜서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조선어 학회가 우리말 사전을 만들려고 애썼어요.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알려서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 밖에 우리 사정을 알리고 도움을 구했어요.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방법이었을까?</a:t>
            </a:r>
            <a:endParaRPr lang="ko-KR" sz="4000" dirty="0"/>
          </a:p>
        </p:txBody>
      </p:sp>
      <p:sp>
        <p:nvSpPr>
          <p:cNvPr id="3" name="S10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표의 방법 가운데 어디에 들어갈까요?</a:t>
            </a:r>
            <a:endParaRPr lang="ko-KR" sz="2800" dirty="0"/>
          </a:p>
        </p:txBody>
      </p:sp>
      <p:sp>
        <p:nvSpPr>
          <p:cNvPr id="4" name="S10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사람의 공통점은 무엇일까요?</a:t>
            </a:r>
            <a:endParaRPr lang="ko-KR" sz="2800" dirty="0"/>
          </a:p>
        </p:txBody>
      </p:sp>
      <p:sp>
        <p:nvSpPr>
          <p:cNvPr id="6" name="S10-chip7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7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안창호는 학교를 세워 나라를 이끌 사람을 길렀어요.</a:t>
            </a:r>
            <a:endParaRPr lang="ko-KR" sz="2800" dirty="0"/>
          </a:p>
        </p:txBody>
      </p:sp>
      <p:sp>
        <p:nvSpPr>
          <p:cNvPr id="8" name="S10-chip7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7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홍범도는 봉오동에서 독립군을 이끌고 싸웠어요.</a:t>
            </a:r>
            <a:endParaRPr lang="ko-KR" sz="2800" dirty="0"/>
          </a:p>
        </p:txBody>
      </p:sp>
      <p:sp>
        <p:nvSpPr>
          <p:cNvPr id="10" name="S10-chip7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8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주시경은 우리말과 한글을 연구하고 가르쳤어요.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운동은 소용없었을까?</a:t>
            </a:r>
            <a:endParaRPr lang="ko-KR" sz="4000" dirty="0"/>
          </a:p>
        </p:txBody>
      </p:sp>
      <p:sp>
        <p:nvSpPr>
          <p:cNvPr id="3" name="S11-card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운동을 배우고 두 친구가 말했어요.</a:t>
            </a:r>
            <a:endParaRPr lang="ko-KR" sz="2800" dirty="0"/>
          </a:p>
        </p:txBody>
      </p:sp>
      <p:sp>
        <p:nvSpPr>
          <p:cNvPr id="5" name="S11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생각에 고개가 끄덕여지나요? 까닭도 말해요.</a:t>
            </a:r>
            <a:endParaRPr lang="ko-KR" sz="2800" dirty="0"/>
          </a:p>
        </p:txBody>
      </p:sp>
      <p:sp>
        <p:nvSpPr>
          <p:cNvPr id="7" name="S11-chip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1-text8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“바로 독립하지 못했으니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소용없었어요.”</a:t>
            </a:r>
            <a:endParaRPr lang="ko-KR" sz="2800" dirty="0"/>
          </a:p>
        </p:txBody>
      </p:sp>
      <p:sp>
        <p:nvSpPr>
          <p:cNvPr id="9" name="S11-chip8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1-text8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“바로 독립하지는 못했지만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 정부가 세워지고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독립운동이 더 활발해졌어요.”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8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9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1876년, 1910년,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1919년에 있었던 일은?</a:t>
            </a:r>
            <a:endParaRPr lang="ko-KR" sz="2800" dirty="0"/>
          </a:p>
        </p:txBody>
      </p:sp>
      <p:sp>
        <p:nvSpPr>
          <p:cNvPr id="5" name="S12-chip9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9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강화도 조약이 불평등했던 까닭 하나는?</a:t>
            </a:r>
            <a:endParaRPr lang="ko-KR" sz="2800" dirty="0"/>
          </a:p>
        </p:txBody>
      </p:sp>
      <p:sp>
        <p:nvSpPr>
          <p:cNvPr id="7" name="S12-chip9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2-text9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 뒤에 세워진 것은?</a:t>
            </a:r>
            <a:endParaRPr lang="ko-KR" sz="2800" dirty="0"/>
          </a:p>
        </p:txBody>
      </p:sp>
      <p:sp>
        <p:nvSpPr>
          <p:cNvPr id="9" name="S12-chip9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2-text9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독립운동의 방법 두 가지를 예와 함께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3-card9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9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사람이 여러 방법으로, 나라의 독립이라는 같은 목표를 위해 노력했어요.</a:t>
            </a:r>
            <a:endParaRPr lang="ko-KR" sz="2800" dirty="0"/>
          </a:p>
        </p:txBody>
      </p:sp>
      <p:sp>
        <p:nvSpPr>
          <p:cNvPr id="5" name="S13-chip9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3-text100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개항 → 국권 피탈 → 3·1</a:t>
            </a:r>
            <a:endParaRPr lang="ko-KR" sz="2800" dirty="0"/>
          </a:p>
        </p:txBody>
      </p:sp>
      <p:sp>
        <p:nvSpPr>
          <p:cNvPr id="7" name="S13-text101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일본이 재판했어요</a:t>
            </a:r>
            <a:endParaRPr lang="ko-KR" sz="2800" dirty="0"/>
          </a:p>
        </p:txBody>
      </p:sp>
      <p:sp>
        <p:nvSpPr>
          <p:cNvPr id="8" name="S13-text102"/>
          <p:cNvSpPr txBox="1"/>
          <p:nvPr/>
        </p:nvSpPr>
        <p:spPr>
          <a:xfrm>
            <a:off x="548640" y="3493516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대한민국 임시 정부</a:t>
            </a:r>
            <a:endParaRPr lang="ko-KR" sz="2800" dirty="0"/>
          </a:p>
        </p:txBody>
      </p:sp>
      <p:sp>
        <p:nvSpPr>
          <p:cNvPr id="9" name="S13-text103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싸움·교육·우리말</a:t>
            </a:r>
            <a:endParaRPr lang="ko-KR" sz="2800" dirty="0"/>
          </a:p>
        </p:txBody>
      </p:sp>
      <p:sp>
        <p:nvSpPr>
          <p:cNvPr id="10" name="S13-chip10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3-text10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“싸운 사람만”</a:t>
            </a:r>
            <a:endParaRPr lang="ko-KR" sz="2800" dirty="0"/>
          </a:p>
        </p:txBody>
      </p:sp>
      <p:sp>
        <p:nvSpPr>
          <p:cNvPr id="12" name="S13-text10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가르치고 지킨 것도</a:t>
            </a:r>
            <a:endParaRPr lang="ko-KR" sz="2200" dirty="0"/>
          </a:p>
        </p:txBody>
      </p:sp>
      <p:sp>
        <p:nvSpPr>
          <p:cNvPr id="13" name="S13-text10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“3·1은 소용없음”</a:t>
            </a:r>
            <a:endParaRPr lang="ko-KR" sz="2800" dirty="0"/>
          </a:p>
        </p:txBody>
      </p:sp>
      <p:sp>
        <p:nvSpPr>
          <p:cNvPr id="14" name="S13-text10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 정부로 이어짐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0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1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1910년 나라를 빼앗긴 뒤에도 사람들은 3·1 운동, 임시 정부,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독립군, 교육, 우리말 지키기로 독립을 위해 노력했어요.</a:t>
            </a:r>
            <a:endParaRPr lang="ko-KR" sz="2800" dirty="0"/>
          </a:p>
        </p:txBody>
      </p:sp>
      <p:sp>
        <p:nvSpPr>
          <p:cNvPr id="5" name="S14-chip11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무엇을 위해 어떻게 노력했나</a:t>
            </a:r>
            <a:endParaRPr lang="ko-KR" sz="2200" dirty="0"/>
          </a:p>
        </p:txBody>
      </p:sp>
      <p:sp>
        <p:nvSpPr>
          <p:cNvPr id="6" name="S14-chip11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싸움만 독립운동으로 보기</a:t>
            </a:r>
            <a:endParaRPr lang="ko-KR" sz="2200" dirty="0"/>
          </a:p>
        </p:txBody>
      </p:sp>
      <p:sp>
        <p:nvSpPr>
          <p:cNvPr id="7" name="S14-text11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1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1876년에 일본과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맺은 조약은?</a:t>
            </a:r>
            <a:endParaRPr lang="ko-KR" sz="2200" dirty="0"/>
          </a:p>
        </p:txBody>
      </p:sp>
      <p:sp>
        <p:nvSpPr>
          <p:cNvPr id="9" name="S14-text11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3·1 운동은 몇 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월 며칠?</a:t>
            </a:r>
            <a:endParaRPr lang="ko-KR" sz="2200" dirty="0"/>
          </a:p>
        </p:txBody>
      </p:sp>
      <p:sp>
        <p:nvSpPr>
          <p:cNvPr id="10" name="S14-text11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1919년 상하이에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세워진 것은?</a:t>
            </a:r>
            <a:endParaRPr lang="ko-KR" sz="2200" dirty="0"/>
          </a:p>
        </p:txBody>
      </p:sp>
      <p:sp>
        <p:nvSpPr>
          <p:cNvPr id="11" name="S14-text11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광복과 6·25전쟁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나라를 지킨 노력</a:t>
            </a:r>
            <a:endParaRPr lang="ko-KR" sz="4000" dirty="0"/>
          </a:p>
        </p:txBody>
      </p:sp>
      <p:sp>
        <p:nvSpPr>
          <p:cNvPr id="3" name="S15-text1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시간까지 배운 노력을 다시 봐요.</a:t>
            </a:r>
            <a:endParaRPr lang="ko-KR" sz="2800" dirty="0"/>
          </a:p>
        </p:txBody>
      </p:sp>
      <p:sp>
        <p:nvSpPr>
          <p:cNvPr id="4" name="S15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나라가 어려울 때 사람들은 여러 방법으로 힘을 모았어요.</a:t>
            </a:r>
            <a:endParaRPr lang="ko-KR" sz="2800" dirty="0"/>
          </a:p>
        </p:txBody>
      </p:sp>
      <p:graphicFrame>
        <p:nvGraphicFramePr>
          <p:cNvPr id="16" name="S15-table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843784"/>
          <a:ext cx="1097280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3950208"/>
                <a:gridCol w="526694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어려움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나라를 지킨 노력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거란·몽골이 쳐들어옴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서희의 외교, 강감찬, 강화도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임진왜란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이순신과 수군, 의병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개항과 일제강점기</dc:title>
  <dc:subject>KR22-G05-SOC-COLONIAL-L01</dc:subject>
  <dc:creator>education-ppt</dc:creator>
  <cp:lastModifiedBy>education-ppt</cp:lastModifiedBy>
  <cp:revision>1</cp:revision>
  <dcterms:created xsi:type="dcterms:W3CDTF">2026-10-26T13:42:58Z</dcterms:created>
  <dcterms:modified xsi:type="dcterms:W3CDTF">2026-10-26T13:42:58Z</dcterms:modified>
</cp:coreProperties>
</file>