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c838675-aadc-735c-5811-5731062a5667}">
          <p14:sldIdLst>
            <p14:sldId id="256"/>
            <p14:sldId id="257"/>
          </p14:sldIdLst>
        </p14:section>
        <p14:section name="개념" id="{e4c4a5d5-066c-68b6-2add-e3cd46ff8cd6}">
          <p14:sldIdLst>
            <p14:sldId id="258"/>
            <p14:sldId id="259"/>
            <p14:sldId id="260"/>
            <p14:sldId id="262"/>
            <p14:sldId id="264"/>
          </p14:sldIdLst>
        </p14:section>
        <p14:section name="연습" id="{68a4c080-4859-f371-dab8-9df6953b3417}">
          <p14:sldIdLst>
            <p14:sldId id="261"/>
            <p14:sldId id="263"/>
            <p14:sldId id="265"/>
          </p14:sldIdLst>
        </p14:section>
        <p14:section name="개념" id="{fc3ef325-c008-d697-78b8-5584418c7553}">
          <p14:sldIdLst/>
        </p14:section>
        <p14:section name="연습" id="{c3c6a830-8b89-31d5-42cf-fe5784bdc100}">
          <p14:sldIdLst/>
        </p14:section>
        <p14:section name="개념" id="{4d0015b6-4583-73ef-6dbd-cc1a8a14e342}">
          <p14:sldIdLst/>
        </p14:section>
        <p14:section name="연습" id="{34a0733b-e3c6-5725-235a-900dc879a727}">
          <p14:sldIdLst/>
        </p14:section>
        <p14:section name="확인" id="{4470495f-d6b3-9d90-c52f-6c5d94d20f78}">
          <p14:sldIdLst>
            <p14:sldId id="266"/>
            <p14:sldId id="267"/>
          </p14:sldIdLst>
        </p14:section>
        <p14:section name="정리" id="{4cc43100-08ed-cb1d-be58-2b870c04e2f9}">
          <p14:sldIdLst>
            <p14:sldId id="268"/>
          </p14:sldIdLst>
        </p14:section>
        <p14:section name="보충" id="{b2eb14b8-f503-653b-2b96-dfef18d6888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우리가 날마다 쓰는 한글이 조선 때 만들어졌다는 것에서 흥미를 엽니다.
시간: 약 2분
이렇게 말해 보세요
- “우리가 날마다 쓰는 한글은 누가 만들었을까? 한글이 없었다면 우리는 어떤 글자를 써야 했을까?”
- “오늘은 고려 다음에 세워진 조선을 배울 거야. 세종이 왜 새 글자를 만들었는지, 조선 사람들은 어떻게 살았는지, 큰 전쟁이 났을 때 누가 나라를 지켰는지 알아보자.”
예상 답
- “세종 대왕이요.” “한자를 썼을 것 같아요.”
막히면
- 만 원짜리 지폐가 있으면 앞면의 인물(세종)을 보여 줍니다(선택).
주의
- 표지 그림은 측우기를 간단히 그린 것입니다. S05에서 다시 봅니다. 실제 모양을 정확히 옮긴 그림은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확인(고려)]
목적: 지난 차시 ‘고려’(KR22-G05-SOC-GORYEO-L01)의 핵심과, 나라를 지킨 노력을 방법과 함께 말하는 힘을 확인합니다.
시간: 약 3분
이렇게 말해 보세요
- “지난 시간에 배운 고려를 떠올려 볼까? 세 가지를 물어볼게.”
정답
- ① 왕건
- ② 목판(나무판)
- ③ 거란 장수와 담판을 벌여 말로 설득해 싸우지 않고 물러가게 했다(외교).
막히면
- ③을 어려워하면 “서희는 칼로 싸웠을까, 말로 설득했을까?”라고 묻습니다.
- 세 문제 가운데 두 개 이상 어려워하면 S14(보충)를 먼저 합니다. 보충으로도 어려우면 앞 차시 ‘고려’(KR22-G05-SOC-GORYEO-L01)를 다시 합니다.
주의
- ③에서 ‘어려움 → 방법 → 결과’로 말하면 크게 칭찬합니다. 오늘 임진왜란에서도 같은 틀을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조선의 건국과 오늘 배울 일의 차례]
목적: 조선의 건국과 오늘 배울 일을 시간 띠에 차례로 놓고, 훈민정음의 창제와 반포를 구별합니다(목표 A, 오해 M2).
시간: 약 3분
이렇게 말해 보세요
- “고려 말에 나라가 어지러워지자, 장군 이성계가 새 나라를 세우려는 사람들과 함께 1392년에 조선을 세웠어. 도읍은 한양, 오늘날의 서울이야.”
- “조선의 넷째 임금이 세종이야. 세종은 1443년에 새 글자 훈민정음을 만들고(창제), 1446년에 백성에게 널리 알렸어(반포).”
- “10월 9일 한글날은 만든 날일까, 널리 알린 날일까?”
예상 답
- “널리 알린 날이요.”
정답
- 한글날은 훈민정음을 널리 알린(반포한) 것을 기념하는 날입니다.
막히면
- ‘창제’는 처음 만듦, ‘반포’는 세상에 널리 알림이라고 쉬운 말로 다시 알려 줍니다.
주의
- 창제와 반포를 헷갈리면 시간 띠의 두 점을 짚으며 “만들고 3년 뒤에 널리 알렸어.”라고 정리합니다(오해 M2).
- 조선은 유교를 나라를 다스리는 바탕으로 삼았습니다(궁금해하면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자료 읽기(훈민정음을 만든 까닭)]
목적: 훈민정음 머리말을 쉬운 말로 읽고, 세종이 새 글자를 만든 까닭을 문제와 해결로 정리합니다(목표 A).
시간: 약 3분
이렇게 말해 보세요
- “이 글은 세종이 훈민정음을 펴내며 쓴 머리말을 쉬운 말로 바꾼 거야. ‘내가’는 세종이야.”
- “①②에서 문제는 무엇이야? ③에서 세종은 어떻게 해결했어?”
- “‘훈민정음’은 ‘백성을 가르치는 바른 소리’라는 뜻이야. 이름에도 누구를 위한 글자인지 담겨 있지?”
예상 답
- “한자가 어려워서 백성이 글을 못 썼어요. 그래서 쉬운 글자를 만들었어요.”
정답
- 문제: 우리말과 한자가 달라 백성들이 글로 제 뜻을 나타내기 어려웠다.
- 해결: 누구나 쉽게 익혀 날마다 쓸 수 있는 스물여덟 글자를 만들었다(백성을 위한 글자).
막히면
- “한자 ‘學(배울 학)’을 쓸 수 있어? 이런 글자를 수천 개 외워야 한다면?”이라고 묻습니다.
주의
- 처음 만든 글자는 28자였고, 오늘날에는 그 가운데 24자를 씁니다.
- 세종이 직접 만들었다고 보는 것이 일반적이며, 집현전 학자들은 글자의 원리를 풀이한 책(『훈민정음』 해례본)을 쓰는 등 도왔습니다. 해례본은 유네스코 세계 기록 유산입니다.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세종 때의 과학 기구와 백성의 생활]
목적: 세종 때 만든 과학 기구가 하는 일을 알고, 백성의 생활과 농사를 돕기 위한 것이었음을 이해합니다(목표 A).
시간: 약 3분
이렇게 말해 보세요
- “측우기는 원통 모양 그릇에 빗물을 받아 깊이를 재서 비가 얼마나 왔는지 알아내는 기구야. 여러 고을에 두고 비의 양을 기록하게 했어.”
- “앙부일구는 가마솥처럼 오목한 해시계야. 해 그림자가 가리키는 곳으로 시각을 알았어. 자격루는 물이 흘러 들어가는 힘으로 정해진 시각에 저절로 종이나 북을 울리는 물시계야.”
- “농사짓는 백성에게 비의 양과 정확한 시각을 아는 것이 왜 중요했을까?”
예상 답
- “씨 뿌릴 때를 알 수 있어요.” “가뭄이나 홍수를 대비해요.”
막히면
- 집에 있는 우산이나 시계를 보여 주며 “오늘날 우리는 비의 양과 시각을 어떻게 알지?(일기 예보, 시계)”라고 견주게 합니다.
주의
- 과학 기구를 만드는 데 장영실 같은 과학자들이 큰 역할을 했습니다.
- 앙부일구는 사람이 많이 다니는 길가에 두어 백성도 시각을 알 수 있게 했다고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연습(문제 → 만든 것 → 달라진 생활)]
목적: 세종 때 만든 것을 문제와 해결, 달라진 생활로 이어 말하는 연습을 합니다(목표 A, 오해 M3).
시간: 약 4분
이렇게 말해 보세요
- “①을 엄마(아빠)가 먼저 해 볼게. 백성들이 한자를 몰라 억울한 일을 글로 알리지 못했어(문제). 그래서 세종이 훈민정음을 만들었어(만든 것). 그 뒤 백성들도 쉽게 글을 익혀 자기 뜻을 글로 나타낼 수 있게 되었어(달라진 생활).”
- “②와 ③은 네가 해 볼래?”
정답
- ① 훈민정음 → 백성도 쉽게 글을 익혀 자기 뜻을 글로 나타낼 수 있게 되었어요.
- ② 측우기 → 비의 양을 재고 기록해 농사 준비와 가뭄·홍수 대비에 썼어요.
- ③ 자격루(물시계) → 흐린 날이나 밤에도 정확한 시각을 알 수 있게 되었어요.
- 기준: 만든 것을 바르게 고르고, 생활이 어떻게 달라졌는지 까닭과 함께 말하면 맞음
막히면
- S05의 카드를 다시 보여 주고 “이 가운데 비와 관계있는 것은? 밤에도 쓸 수 있는 것은?”이라고 묻습니다.
주의
- 여기까지가 조선의 건국과 세종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조선의 신분 제도와 생활]
목적: 조선의 네 신분과 신분에 따라 달랐던 생활을 알려 줍니다(목표 B, 오해 M1).
시간: 약 3분
이렇게 말해 보세요
- “조선에서는 태어난 집안에 따라 신분이 정해졌고, 신분에 따라 할 수 있는 일과 생활이 달랐어.”
- “양반은 공부를 해서 ‘과거’라는 시험을 보고 관리가 되었어. 상민은 대부분 농사를 지었고, 나라에 세금을 내고 일을 했어.”
- “이 가운데 사람 수가 가장 많았던 신분은 무엇이었을까?”
예상 답
- “양반이요.”(오해) “농사짓는 사람이요.”
막히면
- “조선 사람 대부분이 무엇을 해서 먹고살았을까? 쌀은 누가 지었을까?”라고 묻습니다.
주의
- 사극에서는 양반이 많이 나오지만, 조선 사람 가운데 가장 많은 것은 농사짓는 상민이었습니다(오해 M1). 답은 S08 ③에서 확인합니다.
- 천민 가운데 노비는 주인에게 매여 일했고 사고팔리기도 했습니다. 아이에게는 ‘자유롭지 못하고 가장 낮은 대접을 받았다’ 정도로 담담하게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연습(조선과 오늘날의 생활 견주기)]
목적: 조선의 신분 제도를 오늘날과 견주어 무엇이 달라졌는지 말하고, 가장 많았던 신분을 확인합니다(목표 B, 오해 M1).
시간: 약 2분
이렇게 말해 보세요
- “①②, 오늘날에는 어떻게 달라졌을까?”
- “③, 앞 장에서 짐작해 본 답을 확인해 보자.”
정답
- ① 오늘날에는 신분이 없고, 누구나 법 앞에 평등해요.
- ② 오늘날에는 자격을 갖춘 사람이면 누구나 시험을 볼 수 있어요.
- ③ 상민(대부분 농사를 지었어요).
막히면
- “너는 커서 하고 싶은 일을 스스로 고를 수 있어? 조선의 상민 아이도 그랬을까?”라고 묻습니다.
주의
- 조선 사람들을 깎아내리기보다 ‘그때는 그런 제도가 있었고, 오늘날은 모두가 평등한 권리를 갖게 되었다’는 쪽으로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임진왜란과 나라를 지킨 사람들]
목적: 임진왜란 때 이순신과 수군, 여러 신분의 의병이 나라를 지키려고 한 노력을 알려 줍니다(목표 B, 오해 M4).
시간: 약 3분
이렇게 말해 보세요
- “1592년에 일본이 조선에 쳐들어왔어. 이 전쟁을 임진왜란이라고 해. 전쟁은 7년 동안 이어졌어.”
- “이순신 장군은 수군을 이끌고, 지붕을 덮개로 씌운 튼튼한 배인 거북선을 앞세워 바다에서 일본군을 여러 번 물리쳤어.”
- “나라의 군대만 싸운 게 아니야. 양반, 농민, 스님 같은 여러 신분의 사람들이 스스로 의병이 되어 고향을 지켰어. 왜 스스로 나섰을까?”
예상 답
- “가족과 마을을 지키고 싶어서요.” “나라를 지키고 싶어서요.”
막히면
- “네가 사는 동네에 나쁜 일이 생기면 어른들은 어떻게 할까?”라고 생활과 이어 묻습니다.
주의
- 널리 알려진 의병장으로 곽재우(양반), 승병을 이끈 서산 대사·사명 대사가 있습니다. 명나라 군대도 조선을 도왔습니다(궁금해하면 알려 주는 정도로).
- 전쟁으로 많은 사람이 어려움을 겪었다는 것은 담담하게 말하고, 전투 장면을 자세히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연습(누가 어떻게 나라를 지켰나)]
목적: 임진왜란 때의 노력을 어려움·방법·결과로 말하고, 여러 신분이 함께 나라를 지켰다는 것의 의미를 짐작합니다(목표 B, 오해 M4).
시간: 약 3분
이렇게 말해 보세요
- “①은 지난 시간 서희처럼 세 가지를 갖추어 말해 볼래?”
- “③, 평소에는 신분에 따라 생활이 달랐지? 그런데 전쟁 때 함께 싸웠다면 무엇을 짐작할 수 있을까?”
정답
- ① 일본군이 쳐들어오자 → 이순신이 수군을 이끌고 거북선을 앞세워 싸워 → 바다에서 일본군을 여러 번 물리쳤어요.
- ② 양반·농민·승려 등 여러 신분의 백성이 스스로 일어난 군대예요.
- ③ 신분은 달라도 나라와 고향을 지키려는 마음은 같았다고 생각할 수 있어요.
- 기준: ①은 세 가지를 갖추면 맞음, ③은 까닭이 있으면 맞음
막히면
- S09 카드를 다시 보여 주고 “누가, 어떻게, 그래서?”라고 하나씩 묻습니다.
주의
- ③은 정답이 하나가 아닙니다. ‘함께 힘을 모았다’는 생각이 담기면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보기(차례, 훈민정음, 측우기, 의병)]
목적: 조선의 일을 차례로 놓고, 세종 때 만든 것의 까닭과 쓰임, 임진왜란 때의 노력을 도움 없이 말하는지 확인합니다(목표 A·B).
시간: 약 5분
이렇게 말해 보세요
- “이번에는 혼자 해 볼래? ①은 종이 카드 세 장에 하나씩 써서 오래된 것부터 왼쪽에 놓아 봐. 해(연도)도 기억나면 말해 줘.”
- “다 하면 왜 그렇게 생각했는지 말해 줘.”
정답
- ① 조선 건국(1392년) → 훈민정음 반포(1446년) → 임진왜란(1592년)
- ② 한자가 어려워 백성들이 글로 제 뜻을 나타내지 못하는 것을 딱하게 여겨, 누구나 쉽게 익혀 쓰게 하려고요.
- ③ 비의 양을 재고 기록해 농사 준비와 가뭄·홍수 대비에 도움을 주었어요.
- ④ 양반·농민·승려 등 여러 신분의 백성이 스스로 일어나 고향을 지키며 일본군과 싸웠어요.
- 기준: 네 문제 가운데 세 개 이상, 그리고 ②③에서 까닭을 말하면 목표를 이룬 것으로 봅니다. 연도는 차례가 맞으면 몰라도 괜찮습니다.
막히면
- 바로 알려 주지 말고 ①은 “세종은 조선이 세워진 다음의 임금이었지?”, ③은 “농사에는 무엇이 중요하지?”라고만 묻습니다.
- 도움을 받아 해결했다면 기록표에 ‘도움’으로 표시합니다.
주의
- ②에서 ‘한글이 예뻐서’처럼 까닭 없이 말하면 S04의 머리말을 다시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S11의 답을 확인하고 흔한 실수와 견줍니다.
시간: 약 2분
이렇게 말해 보세요
- “네 답과 왼쪽을 견주어 보자. 오른쪽 두 생각은 무엇이 아쉬울까?”
예상 답
- “의병도 싸웠어요.” “농사짓는 상민이 가장 많았어요.”
정답
- ① 조선 건국(1392년) → 훈민정음 반포(1446년) → 임진왜란(1592년) ② 백성이 쉽게 익혀 쓰게 하려고 ③ 비의 양을 재어 농사 준비를 도움 ④ 여러 신분의 백성이 스스로 일어나 싸움
막히면
- ①은 S03, ②는 S04, ③은 S05·S06, ④는 S09를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“세종이 만든 것들의 공통점은 무엇일까? 누구를 위해 만들었지?”
예상 답
- “백성을 위해 만들었어요.”
정답
- ① 이성계, 1392년 ② 내린 비의 양 ③ 이순신
막히면
- S04~S06을 다시 넘겨 봅니다.
주의
- 한글날(10월 9일) 무렵이면 집 안이나 길에서 한글 간판을 찾아보며 ‘쉽게 읽고 쓸 수 있는 글자’의 고마움을 이야기해 보아도 좋습니다(선택).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보충(고려 다시 보기)]
목적: S02에서 고려의 내용을 어려워하면 표로 고려를 다시 정리하고 조선으로 이어 줍니다.
시간: 약 4분
이렇게 말해 보세요
- “표를 같이 읽어 보자. 고려를 세운 사람은? 고려의 문화유산 세 가지는?”
- “서희와 강감찬은 각각 어떻게 나라를 지켰지?”
- “이번에는 표를 가리고 말해 볼래?”
정답
- 왕건(918년) / 고려청자·팔만대장경·『직지심체요절』 / 서희는 말(외교 담판)로, 강감찬은 귀주에서 싸워, 몽골 침입 때는 강화도로 도읍을 옮겨 맞섬
막히면
- 팔만대장경과 『직지심체요절』을 헷갈리면 ‘나무판’과 ‘금속 활자 책’을 손짓으로 구별해 줍니다.
주의
- 이 차시의 계획상 선수 차시는 ‘고려’(KR22-G05-SOC-GORYEO-L01)입니다. 보충 뒤에도 어려우면 그 차시를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세종은 왜 새 글자를 만들었고,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사람들은 어떻게 살았을까?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측우기: 네모난 돌 받침 위에 세운 원통 모양 그릇. 원통에 고리 띠가 둘러져 있다"/>
          <p:cNvSpPr/>
          <p:nvPr/>
        </p:nvSpPr>
        <p:spPr>
          <a:xfrm>
            <a:off x="8751753" y="2355093"/>
            <a:ext cx="1790334" cy="1127247"/>
          </a:xfrm>
          <a:custGeom>
            <a:avLst/>
            <a:gdLst/>
            <a:ahLst/>
            <a:cxnLst/>
            <a:rect l="l" t="t" r="r" b="b"/>
            <a:pathLst>
              <a:path w="1790334" h="1127247">
                <a:moveTo>
                  <a:pt x="0" y="1127247"/>
                </a:moveTo>
                <a:lnTo>
                  <a:pt x="1790334" y="1127247"/>
                </a:lnTo>
                <a:lnTo>
                  <a:pt x="179033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235806" y="829994"/>
            <a:ext cx="822227" cy="1525099"/>
          </a:xfrm>
          <a:custGeom>
            <a:avLst/>
            <a:gdLst/>
            <a:ahLst/>
            <a:cxnLst/>
            <a:rect l="l" t="t" r="r" b="b"/>
            <a:pathLst>
              <a:path w="822227" h="1525099">
                <a:moveTo>
                  <a:pt x="0" y="1525099"/>
                </a:moveTo>
                <a:lnTo>
                  <a:pt x="822227" y="1525099"/>
                </a:lnTo>
                <a:lnTo>
                  <a:pt x="822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EA2"/>
          </a:solidFill>
          <a:ln w="25400">
            <a:solidFill>
              <a:srgbClr val="3F4B4E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235806" y="723900"/>
            <a:ext cx="822227" cy="212188"/>
          </a:xfrm>
          <a:custGeom>
            <a:avLst/>
            <a:gdLst/>
            <a:ahLst/>
            <a:cxnLst/>
            <a:rect l="l" t="t" r="r" b="b"/>
            <a:pathLst>
              <a:path w="822227" h="212188">
                <a:moveTo>
                  <a:pt x="822227" y="106094"/>
                </a:moveTo>
                <a:lnTo>
                  <a:pt x="820663" y="96847"/>
                </a:lnTo>
                <a:lnTo>
                  <a:pt x="815982" y="87671"/>
                </a:lnTo>
                <a:lnTo>
                  <a:pt x="808219" y="78635"/>
                </a:lnTo>
                <a:lnTo>
                  <a:pt x="797434" y="69808"/>
                </a:lnTo>
                <a:lnTo>
                  <a:pt x="783709" y="61257"/>
                </a:lnTo>
                <a:lnTo>
                  <a:pt x="767149" y="53047"/>
                </a:lnTo>
                <a:lnTo>
                  <a:pt x="747878" y="45241"/>
                </a:lnTo>
                <a:lnTo>
                  <a:pt x="726045" y="37898"/>
                </a:lnTo>
                <a:lnTo>
                  <a:pt x="701815" y="31074"/>
                </a:lnTo>
                <a:lnTo>
                  <a:pt x="675372" y="24821"/>
                </a:lnTo>
                <a:lnTo>
                  <a:pt x="646919" y="19187"/>
                </a:lnTo>
                <a:lnTo>
                  <a:pt x="616670" y="14214"/>
                </a:lnTo>
                <a:lnTo>
                  <a:pt x="584858" y="9940"/>
                </a:lnTo>
                <a:lnTo>
                  <a:pt x="551723" y="6398"/>
                </a:lnTo>
                <a:lnTo>
                  <a:pt x="517518" y="3615"/>
                </a:lnTo>
                <a:lnTo>
                  <a:pt x="482503" y="1612"/>
                </a:lnTo>
                <a:lnTo>
                  <a:pt x="446945" y="404"/>
                </a:lnTo>
                <a:lnTo>
                  <a:pt x="411114" y="0"/>
                </a:lnTo>
                <a:lnTo>
                  <a:pt x="375283" y="404"/>
                </a:lnTo>
                <a:lnTo>
                  <a:pt x="339725" y="1612"/>
                </a:lnTo>
                <a:lnTo>
                  <a:pt x="304710" y="3615"/>
                </a:lnTo>
                <a:lnTo>
                  <a:pt x="270505" y="6398"/>
                </a:lnTo>
                <a:lnTo>
                  <a:pt x="237370" y="9940"/>
                </a:lnTo>
                <a:lnTo>
                  <a:pt x="205557" y="14214"/>
                </a:lnTo>
                <a:lnTo>
                  <a:pt x="175309" y="19187"/>
                </a:lnTo>
                <a:lnTo>
                  <a:pt x="146855" y="24821"/>
                </a:lnTo>
                <a:lnTo>
                  <a:pt x="120412" y="31074"/>
                </a:lnTo>
                <a:lnTo>
                  <a:pt x="96182" y="37898"/>
                </a:lnTo>
                <a:lnTo>
                  <a:pt x="74349" y="45241"/>
                </a:lnTo>
                <a:lnTo>
                  <a:pt x="55079" y="53047"/>
                </a:lnTo>
                <a:lnTo>
                  <a:pt x="38518" y="61257"/>
                </a:lnTo>
                <a:lnTo>
                  <a:pt x="24793" y="69808"/>
                </a:lnTo>
                <a:lnTo>
                  <a:pt x="14008" y="78635"/>
                </a:lnTo>
                <a:lnTo>
                  <a:pt x="6246" y="87671"/>
                </a:lnTo>
                <a:lnTo>
                  <a:pt x="1564" y="96847"/>
                </a:lnTo>
                <a:lnTo>
                  <a:pt x="0" y="106094"/>
                </a:lnTo>
                <a:lnTo>
                  <a:pt x="1564" y="115341"/>
                </a:lnTo>
                <a:lnTo>
                  <a:pt x="6246" y="124517"/>
                </a:lnTo>
                <a:lnTo>
                  <a:pt x="14008" y="133553"/>
                </a:lnTo>
                <a:lnTo>
                  <a:pt x="24793" y="142380"/>
                </a:lnTo>
                <a:lnTo>
                  <a:pt x="38518" y="150931"/>
                </a:lnTo>
                <a:lnTo>
                  <a:pt x="55079" y="159141"/>
                </a:lnTo>
                <a:lnTo>
                  <a:pt x="74349" y="166947"/>
                </a:lnTo>
                <a:lnTo>
                  <a:pt x="96182" y="174290"/>
                </a:lnTo>
                <a:lnTo>
                  <a:pt x="120412" y="181114"/>
                </a:lnTo>
                <a:lnTo>
                  <a:pt x="146855" y="187366"/>
                </a:lnTo>
                <a:lnTo>
                  <a:pt x="175309" y="193001"/>
                </a:lnTo>
                <a:lnTo>
                  <a:pt x="205557" y="197974"/>
                </a:lnTo>
                <a:lnTo>
                  <a:pt x="237370" y="202248"/>
                </a:lnTo>
                <a:lnTo>
                  <a:pt x="270505" y="205789"/>
                </a:lnTo>
                <a:lnTo>
                  <a:pt x="304710" y="208573"/>
                </a:lnTo>
                <a:lnTo>
                  <a:pt x="339725" y="210576"/>
                </a:lnTo>
                <a:lnTo>
                  <a:pt x="375283" y="211784"/>
                </a:lnTo>
                <a:lnTo>
                  <a:pt x="411114" y="212188"/>
                </a:lnTo>
                <a:lnTo>
                  <a:pt x="446945" y="211784"/>
                </a:lnTo>
                <a:lnTo>
                  <a:pt x="482503" y="210576"/>
                </a:lnTo>
                <a:lnTo>
                  <a:pt x="517518" y="208573"/>
                </a:lnTo>
                <a:lnTo>
                  <a:pt x="551723" y="205789"/>
                </a:lnTo>
                <a:lnTo>
                  <a:pt x="584858" y="202248"/>
                </a:lnTo>
                <a:lnTo>
                  <a:pt x="616670" y="197974"/>
                </a:lnTo>
                <a:lnTo>
                  <a:pt x="646919" y="193001"/>
                </a:lnTo>
                <a:lnTo>
                  <a:pt x="675372" y="187366"/>
                </a:lnTo>
                <a:lnTo>
                  <a:pt x="701815" y="181114"/>
                </a:lnTo>
                <a:lnTo>
                  <a:pt x="726045" y="174290"/>
                </a:lnTo>
                <a:lnTo>
                  <a:pt x="747878" y="166947"/>
                </a:lnTo>
                <a:lnTo>
                  <a:pt x="767149" y="159141"/>
                </a:lnTo>
                <a:lnTo>
                  <a:pt x="783709" y="150931"/>
                </a:lnTo>
                <a:lnTo>
                  <a:pt x="797434" y="142380"/>
                </a:lnTo>
                <a:lnTo>
                  <a:pt x="808219" y="133553"/>
                </a:lnTo>
                <a:lnTo>
                  <a:pt x="815982" y="124517"/>
                </a:lnTo>
                <a:lnTo>
                  <a:pt x="820663" y="115341"/>
                </a:lnTo>
                <a:close/>
              </a:path>
            </a:pathLst>
          </a:custGeom>
          <a:solidFill>
            <a:srgbClr val="B9C6C9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235806" y="1857778"/>
            <a:ext cx="822227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235806" y="1327309"/>
            <a:ext cx="822227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751753" y="2520865"/>
            <a:ext cx="1790334" cy="0"/>
          </a:xfrm>
          <a:prstGeom prst="line">
            <a:avLst/>
          </a:prstGeom>
          <a:noFill/>
          <a:ln w="12700">
            <a:solidFill>
              <a:srgbClr val="8A847A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세종 때 만든 훈민정음과 과학 기구를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조선의 신분과 임진왜란 때 나라를 지킨 노력을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고려를 세운 사람은?</a:t>
            </a:r>
            <a:endParaRPr lang="ko-KR" sz="28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팔만대장경은 목판일까요, 금속 활자일까요?</a:t>
            </a:r>
            <a:endParaRPr lang="ko-KR" sz="28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서희는 어떻게 나라를 지켰나요?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조선의 차례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말에 이성계가 새 나라 조선을 세웠어요.</a:t>
            </a:r>
            <a:endParaRPr lang="ko-KR" sz="2800" dirty="0"/>
          </a:p>
        </p:txBody>
      </p:sp>
      <p:sp>
        <p:nvSpPr>
          <p:cNvPr id="4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조선은 도읍을 한양(오늘날 서울)으로 정했어요.</a:t>
            </a:r>
            <a:endParaRPr lang="ko-KR" sz="2800" dirty="0"/>
          </a:p>
        </p:txBody>
      </p:sp>
      <p:sp>
        <p:nvSpPr>
          <p:cNvPr id="6" name="S03-line19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20"/>
          <p:cNvSpPr/>
          <p:nvPr/>
        </p:nvSpPr>
        <p:spPr>
          <a:xfrm>
            <a:off x="202196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21"/>
          <p:cNvSpPr txBox="1"/>
          <p:nvPr/>
        </p:nvSpPr>
        <p:spPr>
          <a:xfrm>
            <a:off x="868680" y="2883535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건국</a:t>
            </a:r>
            <a:endParaRPr lang="ko-KR" sz="2200" dirty="0"/>
          </a:p>
        </p:txBody>
      </p:sp>
      <p:sp>
        <p:nvSpPr>
          <p:cNvPr id="9" name="S03-label22"/>
          <p:cNvSpPr txBox="1"/>
          <p:nvPr/>
        </p:nvSpPr>
        <p:spPr>
          <a:xfrm>
            <a:off x="868680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1392년, 이성계</a:t>
            </a:r>
            <a:endParaRPr lang="ko-KR" sz="1800" dirty="0"/>
          </a:p>
        </p:txBody>
      </p:sp>
      <p:sp>
        <p:nvSpPr>
          <p:cNvPr id="10" name="S03-event23"/>
          <p:cNvSpPr/>
          <p:nvPr/>
        </p:nvSpPr>
        <p:spPr>
          <a:xfrm>
            <a:off x="4657725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24"/>
          <p:cNvSpPr txBox="1"/>
          <p:nvPr/>
        </p:nvSpPr>
        <p:spPr>
          <a:xfrm>
            <a:off x="3504438" y="2534285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창제</a:t>
            </a:r>
            <a:endParaRPr lang="ko-KR" sz="2200" dirty="0"/>
          </a:p>
        </p:txBody>
      </p:sp>
      <p:sp>
        <p:nvSpPr>
          <p:cNvPr id="12" name="S03-label25"/>
          <p:cNvSpPr txBox="1"/>
          <p:nvPr/>
        </p:nvSpPr>
        <p:spPr>
          <a:xfrm>
            <a:off x="3504438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1443년, 세종</a:t>
            </a:r>
            <a:endParaRPr lang="ko-KR" sz="1800" dirty="0"/>
          </a:p>
        </p:txBody>
      </p:sp>
      <p:sp>
        <p:nvSpPr>
          <p:cNvPr id="13" name="S03-event26"/>
          <p:cNvSpPr/>
          <p:nvPr/>
        </p:nvSpPr>
        <p:spPr>
          <a:xfrm>
            <a:off x="7293483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7"/>
          <p:cNvSpPr txBox="1"/>
          <p:nvPr/>
        </p:nvSpPr>
        <p:spPr>
          <a:xfrm>
            <a:off x="6140196" y="2534285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반포</a:t>
            </a:r>
            <a:endParaRPr lang="ko-KR" sz="2200" dirty="0"/>
          </a:p>
        </p:txBody>
      </p:sp>
      <p:sp>
        <p:nvSpPr>
          <p:cNvPr id="15" name="S03-label28"/>
          <p:cNvSpPr txBox="1"/>
          <p:nvPr/>
        </p:nvSpPr>
        <p:spPr>
          <a:xfrm>
            <a:off x="6140196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1446년</a:t>
            </a:r>
            <a:endParaRPr lang="ko-KR" sz="1800" dirty="0"/>
          </a:p>
        </p:txBody>
      </p:sp>
      <p:sp>
        <p:nvSpPr>
          <p:cNvPr id="16" name="S03-event29"/>
          <p:cNvSpPr/>
          <p:nvPr/>
        </p:nvSpPr>
        <p:spPr>
          <a:xfrm>
            <a:off x="992924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3-label30"/>
          <p:cNvSpPr txBox="1"/>
          <p:nvPr/>
        </p:nvSpPr>
        <p:spPr>
          <a:xfrm>
            <a:off x="8775954" y="2883535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</a:t>
            </a:r>
            <a:endParaRPr lang="ko-KR" sz="2200" dirty="0"/>
          </a:p>
        </p:txBody>
      </p:sp>
      <p:sp>
        <p:nvSpPr>
          <p:cNvPr id="18" name="S03-label31"/>
          <p:cNvSpPr txBox="1"/>
          <p:nvPr/>
        </p:nvSpPr>
        <p:spPr>
          <a:xfrm>
            <a:off x="8775954" y="3794760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1592년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훈민정음을 만든 까닭</a:t>
            </a:r>
            <a:endParaRPr lang="ko-KR" sz="4000" dirty="0"/>
          </a:p>
        </p:txBody>
      </p:sp>
      <p:sp>
        <p:nvSpPr>
          <p:cNvPr id="3" name="S04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무엇이었고, 세종은 어떻게 해결했나요?</a:t>
            </a:r>
            <a:endParaRPr lang="ko-KR" sz="2800" dirty="0"/>
          </a:p>
        </p:txBody>
      </p:sp>
      <p:sp>
        <p:nvSpPr>
          <p:cNvPr id="5" name="S04-passagebox3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3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훈민정음 머리말(쉽게 풀어 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 말은 중국과 달라서 한자로는 서로 잘 통하지 않아요.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백성들은 하고 싶은 말이 있어도 글로 제 뜻을 나타내지 못하는 사람이 많아요.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이를 딱하게 여겨 새로 스물여덟 글자를 만드니, 사람마다 쉽게 익혀 날마다 편하게 쓰게 하려는 것이에요.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백성을 도운 과학 기구</a:t>
            </a:r>
            <a:endParaRPr lang="ko-KR" sz="4000" dirty="0"/>
          </a:p>
        </p:txBody>
      </p:sp>
      <p:sp>
        <p:nvSpPr>
          <p:cNvPr id="3" name="S05-figure36" descr="측우기: 네모난 돌 받침 위에 세운 원통 모양 그릇. 원통에 고리 띠가 둘러져 있다"/>
          <p:cNvSpPr/>
          <p:nvPr/>
        </p:nvSpPr>
        <p:spPr>
          <a:xfrm>
            <a:off x="1137605" y="3894201"/>
            <a:ext cx="2468880" cy="1554480"/>
          </a:xfrm>
          <a:custGeom>
            <a:avLst/>
            <a:gdLst/>
            <a:ahLst/>
            <a:cxnLst/>
            <a:rect l="l" t="t" r="r" b="b"/>
            <a:pathLst>
              <a:path w="2468880" h="1554480">
                <a:moveTo>
                  <a:pt x="0" y="1554480"/>
                </a:moveTo>
                <a:lnTo>
                  <a:pt x="2468880" y="1554480"/>
                </a:lnTo>
                <a:lnTo>
                  <a:pt x="24688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4" name="S05-mark37"/>
          <p:cNvSpPr/>
          <p:nvPr/>
        </p:nvSpPr>
        <p:spPr>
          <a:xfrm>
            <a:off x="1805117" y="1791081"/>
            <a:ext cx="1133856" cy="2103120"/>
          </a:xfrm>
          <a:custGeom>
            <a:avLst/>
            <a:gdLst/>
            <a:ahLst/>
            <a:cxnLst/>
            <a:rect l="l" t="t" r="r" b="b"/>
            <a:pathLst>
              <a:path w="1133856" h="2103120">
                <a:moveTo>
                  <a:pt x="0" y="2103120"/>
                </a:moveTo>
                <a:lnTo>
                  <a:pt x="1133856" y="2103120"/>
                </a:lnTo>
                <a:lnTo>
                  <a:pt x="1133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EA2"/>
          </a:solidFill>
          <a:ln w="25400">
            <a:solidFill>
              <a:srgbClr val="3F4B4E"/>
            </a:solidFill>
            <a:prstDash val="solid"/>
          </a:ln>
        </p:spPr>
      </p:sp>
      <p:sp>
        <p:nvSpPr>
          <p:cNvPr id="5" name="S05-mark38"/>
          <p:cNvSpPr/>
          <p:nvPr/>
        </p:nvSpPr>
        <p:spPr>
          <a:xfrm>
            <a:off x="1805117" y="1644777"/>
            <a:ext cx="1133856" cy="292608"/>
          </a:xfrm>
          <a:custGeom>
            <a:avLst/>
            <a:gdLst/>
            <a:ahLst/>
            <a:cxnLst/>
            <a:rect l="l" t="t" r="r" b="b"/>
            <a:pathLst>
              <a:path w="1133856" h="292608">
                <a:moveTo>
                  <a:pt x="1133856" y="146304"/>
                </a:moveTo>
                <a:lnTo>
                  <a:pt x="1131699" y="133553"/>
                </a:lnTo>
                <a:lnTo>
                  <a:pt x="1125243" y="120899"/>
                </a:lnTo>
                <a:lnTo>
                  <a:pt x="1114538" y="108438"/>
                </a:lnTo>
                <a:lnTo>
                  <a:pt x="1099666" y="96265"/>
                </a:lnTo>
                <a:lnTo>
                  <a:pt x="1080739" y="84473"/>
                </a:lnTo>
                <a:lnTo>
                  <a:pt x="1057902" y="73152"/>
                </a:lnTo>
                <a:lnTo>
                  <a:pt x="1031328" y="62387"/>
                </a:lnTo>
                <a:lnTo>
                  <a:pt x="1001220" y="52262"/>
                </a:lnTo>
                <a:lnTo>
                  <a:pt x="967807" y="42851"/>
                </a:lnTo>
                <a:lnTo>
                  <a:pt x="931342" y="34229"/>
                </a:lnTo>
                <a:lnTo>
                  <a:pt x="892105" y="26459"/>
                </a:lnTo>
                <a:lnTo>
                  <a:pt x="850392" y="19601"/>
                </a:lnTo>
                <a:lnTo>
                  <a:pt x="806522" y="13708"/>
                </a:lnTo>
                <a:lnTo>
                  <a:pt x="760829" y="8823"/>
                </a:lnTo>
                <a:lnTo>
                  <a:pt x="713660" y="4985"/>
                </a:lnTo>
                <a:lnTo>
                  <a:pt x="665374" y="2223"/>
                </a:lnTo>
                <a:lnTo>
                  <a:pt x="616339" y="557"/>
                </a:lnTo>
                <a:lnTo>
                  <a:pt x="566928" y="0"/>
                </a:lnTo>
                <a:lnTo>
                  <a:pt x="517517" y="557"/>
                </a:lnTo>
                <a:lnTo>
                  <a:pt x="468482" y="2223"/>
                </a:lnTo>
                <a:lnTo>
                  <a:pt x="420196" y="4985"/>
                </a:lnTo>
                <a:lnTo>
                  <a:pt x="373027" y="8823"/>
                </a:lnTo>
                <a:lnTo>
                  <a:pt x="327334" y="13708"/>
                </a:lnTo>
                <a:lnTo>
                  <a:pt x="283464" y="19601"/>
                </a:lnTo>
                <a:lnTo>
                  <a:pt x="241751" y="26459"/>
                </a:lnTo>
                <a:lnTo>
                  <a:pt x="202514" y="34229"/>
                </a:lnTo>
                <a:lnTo>
                  <a:pt x="166049" y="42851"/>
                </a:lnTo>
                <a:lnTo>
                  <a:pt x="132636" y="52262"/>
                </a:lnTo>
                <a:lnTo>
                  <a:pt x="102528" y="62387"/>
                </a:lnTo>
                <a:lnTo>
                  <a:pt x="75954" y="73152"/>
                </a:lnTo>
                <a:lnTo>
                  <a:pt x="53117" y="84473"/>
                </a:lnTo>
                <a:lnTo>
                  <a:pt x="34190" y="96265"/>
                </a:lnTo>
                <a:lnTo>
                  <a:pt x="19318" y="108438"/>
                </a:lnTo>
                <a:lnTo>
                  <a:pt x="8613" y="120899"/>
                </a:lnTo>
                <a:lnTo>
                  <a:pt x="2157" y="133553"/>
                </a:lnTo>
                <a:lnTo>
                  <a:pt x="0" y="146304"/>
                </a:lnTo>
                <a:lnTo>
                  <a:pt x="2157" y="159055"/>
                </a:lnTo>
                <a:lnTo>
                  <a:pt x="8613" y="171709"/>
                </a:lnTo>
                <a:lnTo>
                  <a:pt x="19318" y="184170"/>
                </a:lnTo>
                <a:lnTo>
                  <a:pt x="34190" y="196343"/>
                </a:lnTo>
                <a:lnTo>
                  <a:pt x="53117" y="208135"/>
                </a:lnTo>
                <a:lnTo>
                  <a:pt x="75954" y="219456"/>
                </a:lnTo>
                <a:lnTo>
                  <a:pt x="102528" y="230221"/>
                </a:lnTo>
                <a:lnTo>
                  <a:pt x="132636" y="240346"/>
                </a:lnTo>
                <a:lnTo>
                  <a:pt x="166049" y="249757"/>
                </a:lnTo>
                <a:lnTo>
                  <a:pt x="202514" y="258379"/>
                </a:lnTo>
                <a:lnTo>
                  <a:pt x="241751" y="266149"/>
                </a:lnTo>
                <a:lnTo>
                  <a:pt x="283464" y="273007"/>
                </a:lnTo>
                <a:lnTo>
                  <a:pt x="327334" y="278900"/>
                </a:lnTo>
                <a:lnTo>
                  <a:pt x="373027" y="283785"/>
                </a:lnTo>
                <a:lnTo>
                  <a:pt x="420196" y="287623"/>
                </a:lnTo>
                <a:lnTo>
                  <a:pt x="468482" y="290385"/>
                </a:lnTo>
                <a:lnTo>
                  <a:pt x="517517" y="292051"/>
                </a:lnTo>
                <a:lnTo>
                  <a:pt x="566928" y="292608"/>
                </a:lnTo>
                <a:lnTo>
                  <a:pt x="616339" y="292051"/>
                </a:lnTo>
                <a:lnTo>
                  <a:pt x="665374" y="290385"/>
                </a:lnTo>
                <a:lnTo>
                  <a:pt x="713660" y="287623"/>
                </a:lnTo>
                <a:lnTo>
                  <a:pt x="760829" y="283785"/>
                </a:lnTo>
                <a:lnTo>
                  <a:pt x="806522" y="278900"/>
                </a:lnTo>
                <a:lnTo>
                  <a:pt x="850392" y="273007"/>
                </a:lnTo>
                <a:lnTo>
                  <a:pt x="892105" y="266149"/>
                </a:lnTo>
                <a:lnTo>
                  <a:pt x="931342" y="258379"/>
                </a:lnTo>
                <a:lnTo>
                  <a:pt x="967807" y="249757"/>
                </a:lnTo>
                <a:lnTo>
                  <a:pt x="1001220" y="240346"/>
                </a:lnTo>
                <a:lnTo>
                  <a:pt x="1031328" y="230221"/>
                </a:lnTo>
                <a:lnTo>
                  <a:pt x="1057902" y="219456"/>
                </a:lnTo>
                <a:lnTo>
                  <a:pt x="1080739" y="208135"/>
                </a:lnTo>
                <a:lnTo>
                  <a:pt x="1099666" y="196343"/>
                </a:lnTo>
                <a:lnTo>
                  <a:pt x="1114538" y="184170"/>
                </a:lnTo>
                <a:lnTo>
                  <a:pt x="1125243" y="171709"/>
                </a:lnTo>
                <a:lnTo>
                  <a:pt x="1131699" y="159055"/>
                </a:lnTo>
                <a:close/>
              </a:path>
            </a:pathLst>
          </a:custGeom>
          <a:solidFill>
            <a:srgbClr val="B9C6C9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39"/>
          <p:cNvSpPr/>
          <p:nvPr/>
        </p:nvSpPr>
        <p:spPr>
          <a:xfrm>
            <a:off x="1805117" y="3208401"/>
            <a:ext cx="1133856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7" name="S05-mark40"/>
          <p:cNvSpPr/>
          <p:nvPr/>
        </p:nvSpPr>
        <p:spPr>
          <a:xfrm>
            <a:off x="1805117" y="2476881"/>
            <a:ext cx="1133856" cy="0"/>
          </a:xfrm>
          <a:prstGeom prst="line">
            <a:avLst/>
          </a:prstGeom>
          <a:noFill/>
          <a:ln w="31750">
            <a:solidFill>
              <a:srgbClr val="3F4B4E"/>
            </a:solidFill>
            <a:prstDash val="solid"/>
          </a:ln>
        </p:spPr>
      </p:sp>
      <p:sp>
        <p:nvSpPr>
          <p:cNvPr id="8" name="S05-mark41"/>
          <p:cNvSpPr/>
          <p:nvPr/>
        </p:nvSpPr>
        <p:spPr>
          <a:xfrm>
            <a:off x="1137605" y="4122801"/>
            <a:ext cx="2468880" cy="0"/>
          </a:xfrm>
          <a:prstGeom prst="line">
            <a:avLst/>
          </a:prstGeom>
          <a:noFill/>
          <a:ln w="12700">
            <a:solidFill>
              <a:srgbClr val="8A847A"/>
            </a:solidFill>
            <a:prstDash val="solid"/>
          </a:ln>
        </p:spPr>
      </p:sp>
      <p:sp>
        <p:nvSpPr>
          <p:cNvPr id="9" name="S05-label42"/>
          <p:cNvSpPr txBox="1"/>
          <p:nvPr/>
        </p:nvSpPr>
        <p:spPr>
          <a:xfrm>
            <a:off x="548640" y="5840730"/>
            <a:ext cx="36468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측우기</a:t>
            </a:r>
            <a:endParaRPr lang="ko-KR" sz="2200" dirty="0"/>
          </a:p>
        </p:txBody>
      </p:sp>
      <p:sp>
        <p:nvSpPr>
          <p:cNvPr id="10" name="S05-card43"/>
          <p:cNvSpPr/>
          <p:nvPr/>
        </p:nvSpPr>
        <p:spPr>
          <a:xfrm>
            <a:off x="4561210" y="1773174"/>
            <a:ext cx="707910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44"/>
          <p:cNvSpPr txBox="1"/>
          <p:nvPr/>
        </p:nvSpPr>
        <p:spPr>
          <a:xfrm>
            <a:off x="4835530" y="1910334"/>
            <a:ext cx="653046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측우기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내린 비의 양을 재요.</a:t>
            </a:r>
            <a:endParaRPr lang="ko-KR" sz="2800" dirty="0"/>
          </a:p>
        </p:txBody>
      </p:sp>
      <p:sp>
        <p:nvSpPr>
          <p:cNvPr id="12" name="S05-card45"/>
          <p:cNvSpPr/>
          <p:nvPr/>
        </p:nvSpPr>
        <p:spPr>
          <a:xfrm>
            <a:off x="4561210" y="3181858"/>
            <a:ext cx="707910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46"/>
          <p:cNvSpPr txBox="1"/>
          <p:nvPr/>
        </p:nvSpPr>
        <p:spPr>
          <a:xfrm>
            <a:off x="4835530" y="3319018"/>
            <a:ext cx="653046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앙부일구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그림자로 시각을 알려요.</a:t>
            </a:r>
            <a:endParaRPr lang="ko-KR" sz="2800" dirty="0"/>
          </a:p>
        </p:txBody>
      </p:sp>
      <p:sp>
        <p:nvSpPr>
          <p:cNvPr id="14" name="S05-card47"/>
          <p:cNvSpPr/>
          <p:nvPr/>
        </p:nvSpPr>
        <p:spPr>
          <a:xfrm>
            <a:off x="4561210" y="4590542"/>
            <a:ext cx="707910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5-cardtext48"/>
          <p:cNvSpPr txBox="1"/>
          <p:nvPr/>
        </p:nvSpPr>
        <p:spPr>
          <a:xfrm>
            <a:off x="4835530" y="4727702"/>
            <a:ext cx="653046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힘으로 스스로 시각을 알려요.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풀려고 만든 것</a:t>
            </a:r>
            <a:endParaRPr lang="ko-KR" sz="4000" dirty="0"/>
          </a:p>
        </p:txBody>
      </p:sp>
      <p:sp>
        <p:nvSpPr>
          <p:cNvPr id="3" name="S06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문제를 풀려고 무엇을 만들었을까요?</a:t>
            </a:r>
            <a:endParaRPr lang="ko-KR" sz="2800" dirty="0"/>
          </a:p>
        </p:txBody>
      </p:sp>
      <p:sp>
        <p:nvSpPr>
          <p:cNvPr id="4" name="S06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만든 것 → 달라진 생활 차례로 말해요.</a:t>
            </a:r>
            <a:endParaRPr lang="ko-KR" sz="2800" dirty="0"/>
          </a:p>
        </p:txBody>
      </p:sp>
      <p:sp>
        <p:nvSpPr>
          <p:cNvPr id="6" name="S06-chip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5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백성들이 한자를 몰라 억울한 일을 글로 알리지 못했어요.</a:t>
            </a:r>
            <a:endParaRPr lang="ko-KR" sz="2800" dirty="0"/>
          </a:p>
        </p:txBody>
      </p:sp>
      <p:sp>
        <p:nvSpPr>
          <p:cNvPr id="8" name="S06-chip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5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고을마다 비가 얼마나 왔는지 정확히 알기 어려웠어요.</a:t>
            </a:r>
            <a:endParaRPr lang="ko-KR" sz="2800" dirty="0"/>
          </a:p>
        </p:txBody>
      </p:sp>
      <p:sp>
        <p:nvSpPr>
          <p:cNvPr id="10" name="S06-chip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흐린 날이나 밤에는 해시계로 시각을 알 수 없었어요.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조선의 신분</a:t>
            </a:r>
            <a:endParaRPr lang="ko-KR" sz="4000" dirty="0"/>
          </a:p>
        </p:txBody>
      </p:sp>
      <p:sp>
        <p:nvSpPr>
          <p:cNvPr id="3" name="S07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사람들은 태어날 때부터 신분이 정해졌어요.</a:t>
            </a:r>
            <a:endParaRPr lang="ko-KR" sz="2800" dirty="0"/>
          </a:p>
        </p:txBody>
      </p:sp>
      <p:sp>
        <p:nvSpPr>
          <p:cNvPr id="4" name="S07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신분에 따라 하는 일과 생활이 달랐어요.</a:t>
            </a:r>
            <a:endParaRPr lang="ko-KR" sz="2800" dirty="0"/>
          </a:p>
        </p:txBody>
      </p:sp>
      <p:graphicFrame>
        <p:nvGraphicFramePr>
          <p:cNvPr id="8" name="S07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362200"/>
          <a:ext cx="10607040" cy="914400"/>
        </p:xfrm>
        <a:graphic>
          <a:graphicData uri="http://schemas.openxmlformats.org/drawingml/2006/table">
            <a:tbl>
              <a:tblPr/>
              <a:tblGrid>
                <a:gridCol w="1909267"/>
                <a:gridCol w="8697773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어떤 사람들이었나요?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공부해서 과거를 보고 나랏일을 맡았어요.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통역이나 의술 같은 기술을 가졌어요.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짓거나 물건을 만들고 팔았어요.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노비 등으로 가장 낮은 대접을 받았어요.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조선과 오늘날</a:t>
            </a:r>
            <a:endParaRPr lang="ko-KR" sz="4000" dirty="0"/>
          </a:p>
        </p:txBody>
      </p:sp>
      <p:sp>
        <p:nvSpPr>
          <p:cNvPr id="3" name="S08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우리 생활과 견주어 말해요.</a:t>
            </a:r>
            <a:endParaRPr lang="ko-KR" sz="2800" dirty="0"/>
          </a:p>
        </p:txBody>
      </p:sp>
      <p:sp>
        <p:nvSpPr>
          <p:cNvPr id="5" name="S08-chip6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text6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조선: 신분은 태어날 때 정해졌어요. 오늘날은?</a:t>
            </a:r>
            <a:endParaRPr lang="ko-KR" sz="2800" dirty="0"/>
          </a:p>
        </p:txBody>
      </p:sp>
      <p:sp>
        <p:nvSpPr>
          <p:cNvPr id="7" name="S08-chip6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text6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조선: 과거 시험은 주로 양반이 보았어요. 오늘날 공무원 시험은?</a:t>
            </a:r>
            <a:endParaRPr lang="ko-KR" sz="2800" dirty="0"/>
          </a:p>
        </p:txBody>
      </p:sp>
      <p:sp>
        <p:nvSpPr>
          <p:cNvPr id="9" name="S08-chip6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text6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사람들 가운데 가장 많았던 신분은?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임진왜란과 나라를 지킨 사람들</a:t>
            </a:r>
            <a:endParaRPr lang="ko-KR" sz="4000" dirty="0"/>
          </a:p>
        </p:txBody>
      </p:sp>
      <p:sp>
        <p:nvSpPr>
          <p:cNvPr id="3" name="S09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1592년 일본이 쳐들어와 7년 동안 전쟁이 이어졌어요.</a:t>
            </a:r>
            <a:endParaRPr lang="ko-KR" sz="2800" dirty="0"/>
          </a:p>
        </p:txBody>
      </p:sp>
      <p:sp>
        <p:nvSpPr>
          <p:cNvPr id="4" name="S09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신분은 달라도 힘을 모아 나라를 지켰어요.</a:t>
            </a:r>
            <a:endParaRPr lang="ko-KR" sz="2800" dirty="0"/>
          </a:p>
        </p:txBody>
      </p:sp>
      <p:sp>
        <p:nvSpPr>
          <p:cNvPr id="6" name="S09-card7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이순신과 수군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거북선을 앞세워 바다에서 일본군을 여러 번 물리쳤어요.</a:t>
            </a:r>
            <a:endParaRPr lang="ko-KR" sz="2800" dirty="0"/>
          </a:p>
        </p:txBody>
      </p:sp>
      <p:sp>
        <p:nvSpPr>
          <p:cNvPr id="8" name="S09-card7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양반·농민·승려 등이 스스로 일어나 고향을 지켰어요.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어떻게 지켰을까?</a:t>
            </a:r>
            <a:endParaRPr lang="ko-KR" sz="4000" dirty="0"/>
          </a:p>
        </p:txBody>
      </p:sp>
      <p:sp>
        <p:nvSpPr>
          <p:cNvPr id="3" name="S10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“~이 쳐들어오자, ~해서, ~되었어요.”</a:t>
            </a:r>
            <a:endParaRPr lang="ko-KR" sz="2800" dirty="0"/>
          </a:p>
        </p:txBody>
      </p:sp>
      <p:sp>
        <p:nvSpPr>
          <p:cNvPr id="5" name="S10-chip7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80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이순신의 노력을 어려움 → 방법 → 결과로 말해요.</a:t>
            </a:r>
            <a:endParaRPr lang="ko-KR" sz="2800" dirty="0"/>
          </a:p>
        </p:txBody>
      </p:sp>
      <p:sp>
        <p:nvSpPr>
          <p:cNvPr id="7" name="S10-chip8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82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의병은 어떤 사람들이었나요?</a:t>
            </a:r>
            <a:endParaRPr lang="ko-KR" sz="2800" dirty="0"/>
          </a:p>
        </p:txBody>
      </p:sp>
      <p:sp>
        <p:nvSpPr>
          <p:cNvPr id="9" name="S10-chip8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84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신분이 다른 사람들이 함께 싸운 것으로 무엇을 짐작할 수 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8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8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 건국, 임진왜란, 훈민정음 반포를 차례로 놓아요.</a:t>
            </a:r>
            <a:endParaRPr lang="ko-KR" sz="2800" dirty="0"/>
          </a:p>
        </p:txBody>
      </p:sp>
      <p:sp>
        <p:nvSpPr>
          <p:cNvPr id="5" name="S11-chip8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8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세종이 훈민정음을 만든 까닭은?</a:t>
            </a:r>
            <a:endParaRPr lang="ko-KR" sz="2800" dirty="0"/>
          </a:p>
        </p:txBody>
      </p:sp>
      <p:sp>
        <p:nvSpPr>
          <p:cNvPr id="7" name="S11-chip8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9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측우기는 농사에 어떤 도움을 주었나요?</a:t>
            </a:r>
            <a:endParaRPr lang="ko-KR" sz="2800" dirty="0"/>
          </a:p>
        </p:txBody>
      </p:sp>
      <p:sp>
        <p:nvSpPr>
          <p:cNvPr id="9" name="S11-chip9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9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의병은 누구였고, 어떻게 나라를 지켰나요?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9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것은 어떤 문제를 풀었는지, 나라를 지킨 노력은 누가 어떻게 했는지 함께 말해요.</a:t>
            </a:r>
            <a:endParaRPr lang="ko-KR" sz="2800" dirty="0"/>
          </a:p>
        </p:txBody>
      </p:sp>
      <p:sp>
        <p:nvSpPr>
          <p:cNvPr id="5" name="S12-chip9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96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건국 → 반포 → 임진왜란</a:t>
            </a:r>
            <a:endParaRPr lang="ko-KR" sz="2800" dirty="0"/>
          </a:p>
        </p:txBody>
      </p:sp>
      <p:sp>
        <p:nvSpPr>
          <p:cNvPr id="7" name="S12-text97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백성이 쉽게 쓰도록</a:t>
            </a:r>
            <a:endParaRPr lang="ko-KR" sz="2800" dirty="0"/>
          </a:p>
        </p:txBody>
      </p:sp>
      <p:sp>
        <p:nvSpPr>
          <p:cNvPr id="8" name="S12-text98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비의 양 → 농사 준비</a:t>
            </a:r>
            <a:endParaRPr lang="ko-KR" sz="2800" dirty="0"/>
          </a:p>
        </p:txBody>
      </p:sp>
      <p:sp>
        <p:nvSpPr>
          <p:cNvPr id="9" name="S12-text99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여러 신분의 백성</a:t>
            </a:r>
            <a:endParaRPr lang="ko-KR" sz="2800" dirty="0"/>
          </a:p>
        </p:txBody>
      </p:sp>
      <p:sp>
        <p:nvSpPr>
          <p:cNvPr id="10" name="S12-chip10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0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“이순신 혼자”</a:t>
            </a:r>
            <a:endParaRPr lang="ko-KR" sz="2800" dirty="0"/>
          </a:p>
        </p:txBody>
      </p:sp>
      <p:sp>
        <p:nvSpPr>
          <p:cNvPr id="12" name="S12-text10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의병·백성도 함께</a:t>
            </a:r>
            <a:endParaRPr lang="ko-KR" sz="2200" dirty="0"/>
          </a:p>
        </p:txBody>
      </p:sp>
      <p:sp>
        <p:nvSpPr>
          <p:cNvPr id="13" name="S12-text10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“모두 양반”</a:t>
            </a:r>
            <a:endParaRPr lang="ko-KR" sz="2800" dirty="0"/>
          </a:p>
        </p:txBody>
      </p:sp>
      <p:sp>
        <p:nvSpPr>
          <p:cNvPr id="14" name="S12-text10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상민이 가장 많음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세종은 백성을 위해 훈민정음과 과학 기구를 만들었어요.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 때 신분이 다른 사람들이 함께 나라를 지켰어요.</a:t>
            </a:r>
            <a:endParaRPr lang="ko-KR" sz="2800" dirty="0"/>
          </a:p>
        </p:txBody>
      </p:sp>
      <p:sp>
        <p:nvSpPr>
          <p:cNvPr id="5" name="S13-chip10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문제 → 만든 것 → 달라진 생활</a:t>
            </a:r>
            <a:endParaRPr lang="ko-KR" sz="2200" dirty="0"/>
          </a:p>
        </p:txBody>
      </p:sp>
      <p:sp>
        <p:nvSpPr>
          <p:cNvPr id="6" name="S13-chip10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이름만 외우기</a:t>
            </a:r>
            <a:endParaRPr lang="ko-KR" sz="2200" dirty="0"/>
          </a:p>
        </p:txBody>
      </p:sp>
      <p:sp>
        <p:nvSpPr>
          <p:cNvPr id="7" name="S13-text10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1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조선을 세운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해는?</a:t>
            </a:r>
            <a:endParaRPr lang="ko-KR" sz="2200" dirty="0"/>
          </a:p>
        </p:txBody>
      </p:sp>
      <p:sp>
        <p:nvSpPr>
          <p:cNvPr id="9" name="S13-text11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측우기는 무엇을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재는 기구?</a:t>
            </a:r>
            <a:endParaRPr lang="ko-KR" sz="2200" dirty="0"/>
          </a:p>
        </p:txBody>
      </p:sp>
      <p:sp>
        <p:nvSpPr>
          <p:cNvPr id="10" name="S13-text11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임진왜란 때 바다를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지킨 장군은?</a:t>
            </a:r>
            <a:endParaRPr lang="ko-KR" sz="2200" dirty="0"/>
          </a:p>
        </p:txBody>
      </p:sp>
      <p:sp>
        <p:nvSpPr>
          <p:cNvPr id="11" name="S13-text1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개항과 일제강점기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고려 다시 보기</a:t>
            </a:r>
            <a:endParaRPr lang="ko-KR" sz="4000" dirty="0"/>
          </a:p>
        </p:txBody>
      </p:sp>
      <p:sp>
        <p:nvSpPr>
          <p:cNvPr id="3" name="S14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고려를 정리해요.</a:t>
            </a:r>
            <a:endParaRPr lang="ko-KR" sz="2800" dirty="0"/>
          </a:p>
        </p:txBody>
      </p:sp>
      <p:sp>
        <p:nvSpPr>
          <p:cNvPr id="4" name="S14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다음에 세워진 나라가 오늘 배울 조선이에요.</a:t>
            </a:r>
            <a:endParaRPr lang="ko-KR" sz="2800" dirty="0"/>
          </a:p>
        </p:txBody>
      </p:sp>
      <p:graphicFrame>
        <p:nvGraphicFramePr>
          <p:cNvPr id="15" name="S14-table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02992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90041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세운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왕건(918년)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문화유산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고려청자, 팔만대장경, 『직지심체요절』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나라를 지킨 노력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서희의 외교 담판, 강감찬, 강화도로 옮김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조선</dc:title>
  <dc:subject>KR22-G05-SOC-JOSEON-L01</dc:subject>
  <dc:creator>education-ppt</dc:creator>
  <cp:lastModifiedBy>education-ppt</cp:lastModifiedBy>
  <cp:revision>1</cp:revision>
  <dcterms:created xsi:type="dcterms:W3CDTF">2026-10-26T13:08:40Z</dcterms:created>
  <dcterms:modified xsi:type="dcterms:W3CDTF">2026-10-26T13:08:40Z</dcterms:modified>
</cp:coreProperties>
</file>