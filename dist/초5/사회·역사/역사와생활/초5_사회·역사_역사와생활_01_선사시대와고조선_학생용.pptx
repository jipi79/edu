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79151aa-8ed4-0f7d-0b5d-6126d49e291b}">
          <p14:sldIdLst>
            <p14:sldId id="256"/>
            <p14:sldId id="257"/>
          </p14:sldIdLst>
        </p14:section>
        <p14:section name="개념" id="{8d748c63-e5fe-ade7-7edb-9ae8a76967ba}">
          <p14:sldIdLst>
            <p14:sldId id="258"/>
            <p14:sldId id="259"/>
            <p14:sldId id="260"/>
            <p14:sldId id="264"/>
            <p14:sldId id="265"/>
          </p14:sldIdLst>
        </p14:section>
        <p14:section name="연습" id="{3319cc95-6dfc-3f3c-c548-7a97c0e2d268}">
          <p14:sldIdLst>
            <p14:sldId id="261"/>
            <p14:sldId id="262"/>
            <p14:sldId id="263"/>
            <p14:sldId id="266"/>
          </p14:sldIdLst>
        </p14:section>
        <p14:section name="개념" id="{94afb707-d5f9-b5b7-c6f4-26c3a53ac12c}">
          <p14:sldIdLst/>
        </p14:section>
        <p14:section name="연습" id="{475010f1-f9e2-41ff-5ec3-bde82a3dea29}">
          <p14:sldIdLst/>
        </p14:section>
        <p14:section name="확인" id="{78fd8cae-185d-a758-6a8d-a81f192e61cd}">
          <p14:sldIdLst>
            <p14:sldId id="267"/>
          </p14:sldIdLst>
        </p14:section>
        <p14:section name="정리" id="{87a735b1-c654-734a-c38e-042a72aab6cc}">
          <p14:sldIdLst>
            <p14:sldId id="268"/>
          </p14:sldIdLst>
        </p14:section>
        <p14:section name="보충" id="{8c5cfcf3-bc9d-7ffc-3728-d6cdaae8cbf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선사 시대와 고조선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선사 시대와 고조선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선사 시대와 고조선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선사 시대와 고조선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없던 아주 먼 옛날의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생활을 어떻게 알 수 있을까?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탁자식 고인돌: 받침돌 두 개 위에 크고 넓적한 덮개돌을 올린 모습"/>
          <p:cNvSpPr/>
          <p:nvPr/>
        </p:nvSpPr>
        <p:spPr>
          <a:xfrm>
            <a:off x="8601287" y="1893993"/>
            <a:ext cx="392113" cy="941070"/>
          </a:xfrm>
          <a:custGeom>
            <a:avLst/>
            <a:gdLst/>
            <a:ahLst/>
            <a:cxnLst/>
            <a:rect l="l" t="t" r="r" b="b"/>
            <a:pathLst>
              <a:path w="392113" h="941070">
                <a:moveTo>
                  <a:pt x="0" y="941070"/>
                </a:moveTo>
                <a:lnTo>
                  <a:pt x="392113" y="941070"/>
                </a:lnTo>
                <a:lnTo>
                  <a:pt x="355515" y="0"/>
                </a:lnTo>
                <a:lnTo>
                  <a:pt x="41825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10300441" y="1893993"/>
            <a:ext cx="392113" cy="941070"/>
          </a:xfrm>
          <a:custGeom>
            <a:avLst/>
            <a:gdLst/>
            <a:ahLst/>
            <a:cxnLst/>
            <a:rect l="l" t="t" r="r" b="b"/>
            <a:pathLst>
              <a:path w="392113" h="941070">
                <a:moveTo>
                  <a:pt x="0" y="941070"/>
                </a:moveTo>
                <a:lnTo>
                  <a:pt x="392113" y="941070"/>
                </a:lnTo>
                <a:lnTo>
                  <a:pt x="350287" y="0"/>
                </a:lnTo>
                <a:lnTo>
                  <a:pt x="36597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921625" y="1371177"/>
            <a:ext cx="3450590" cy="522817"/>
          </a:xfrm>
          <a:custGeom>
            <a:avLst/>
            <a:gdLst/>
            <a:ahLst/>
            <a:cxnLst/>
            <a:rect l="l" t="t" r="r" b="b"/>
            <a:pathLst>
              <a:path w="3450590" h="522817">
                <a:moveTo>
                  <a:pt x="104563" y="522817"/>
                </a:moveTo>
                <a:lnTo>
                  <a:pt x="3346027" y="522817"/>
                </a:lnTo>
                <a:lnTo>
                  <a:pt x="3450590" y="261408"/>
                </a:lnTo>
                <a:lnTo>
                  <a:pt x="3136900" y="0"/>
                </a:lnTo>
                <a:lnTo>
                  <a:pt x="418253" y="26141"/>
                </a:lnTo>
                <a:lnTo>
                  <a:pt x="0" y="261408"/>
                </a:lnTo>
                <a:close/>
              </a:path>
            </a:pathLst>
          </a:custGeom>
          <a:solidFill>
            <a:srgbClr val="B5AFA5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7764780" y="2835063"/>
            <a:ext cx="3764280" cy="0"/>
          </a:xfrm>
          <a:prstGeom prst="line">
            <a:avLst/>
          </a:prstGeom>
          <a:noFill/>
          <a:ln w="25400">
            <a:solidFill>
              <a:srgbClr val="8A7F6E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유물을 보고 선사 시대 사람들의 생활을 짐작해요.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고조선이 어떻게 세워졌는지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옛날을 알아보는 방법</a:t>
            </a:r>
            <a:endParaRPr lang="ko-KR" sz="4000" dirty="0"/>
          </a:p>
        </p:txBody>
      </p:sp>
      <p:sp>
        <p:nvSpPr>
          <p:cNvPr id="3" name="S02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3·4학년 때 배운 것을 떠올려요.</a:t>
            </a:r>
            <a:endParaRPr lang="ko-KR" sz="2800" dirty="0"/>
          </a:p>
        </p:txBody>
      </p:sp>
      <p:sp>
        <p:nvSpPr>
          <p:cNvPr id="4" name="S02-chip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1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어린 시절, 오늘, 할머니 어린 시절을 오래된 차례로 놓아요.</a:t>
            </a:r>
            <a:endParaRPr lang="ko-KR" sz="2800" dirty="0"/>
          </a:p>
        </p:txBody>
      </p:sp>
      <p:sp>
        <p:nvSpPr>
          <p:cNvPr id="6" name="S02-chip1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1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맷돌을 보면 옛날 사람들이 무엇을 했는지 알 수 있나요?</a:t>
            </a:r>
            <a:endParaRPr lang="ko-KR" sz="2800" dirty="0"/>
          </a:p>
        </p:txBody>
      </p:sp>
      <p:sp>
        <p:nvSpPr>
          <p:cNvPr id="8" name="S02-chip1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모습을 알려 주는 자료를 두 가지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선사 시대의 차례</a:t>
            </a:r>
            <a:endParaRPr lang="ko-KR" sz="4000" dirty="0"/>
          </a:p>
        </p:txBody>
      </p:sp>
      <p:sp>
        <p:nvSpPr>
          <p:cNvPr id="3" name="S03-text15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글자로 기록을 남기기 전의 아주 먼 옛날을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선사 시대라고 해요.</a:t>
            </a:r>
            <a:endParaRPr lang="ko-KR" sz="2800" dirty="0"/>
          </a:p>
        </p:txBody>
      </p:sp>
      <p:sp>
        <p:nvSpPr>
          <p:cNvPr id="4" name="S03-card1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옛사람이 남긴 물건을 유물이라고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유물로 그때의 생활을 짐작해요.</a:t>
            </a:r>
            <a:endParaRPr lang="ko-KR" sz="2800" dirty="0"/>
          </a:p>
        </p:txBody>
      </p:sp>
      <p:sp>
        <p:nvSpPr>
          <p:cNvPr id="6" name="S03-line18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3-event19"/>
          <p:cNvSpPr/>
          <p:nvPr/>
        </p:nvSpPr>
        <p:spPr>
          <a:xfrm>
            <a:off x="2461260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3-label20"/>
          <p:cNvSpPr txBox="1"/>
          <p:nvPr/>
        </p:nvSpPr>
        <p:spPr>
          <a:xfrm>
            <a:off x="868680" y="2901823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구석기 시대</a:t>
            </a:r>
            <a:endParaRPr lang="ko-KR" sz="2200" dirty="0"/>
          </a:p>
        </p:txBody>
      </p:sp>
      <p:sp>
        <p:nvSpPr>
          <p:cNvPr id="9" name="S03-label21"/>
          <p:cNvSpPr txBox="1"/>
          <p:nvPr/>
        </p:nvSpPr>
        <p:spPr>
          <a:xfrm>
            <a:off x="868680" y="3813048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깨뜨려 만든 도구</a:t>
            </a:r>
            <a:endParaRPr lang="ko-KR" sz="1800" dirty="0"/>
          </a:p>
        </p:txBody>
      </p:sp>
      <p:sp>
        <p:nvSpPr>
          <p:cNvPr id="10" name="S03-event22"/>
          <p:cNvSpPr/>
          <p:nvPr/>
        </p:nvSpPr>
        <p:spPr>
          <a:xfrm>
            <a:off x="5975604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3-label23"/>
          <p:cNvSpPr txBox="1"/>
          <p:nvPr/>
        </p:nvSpPr>
        <p:spPr>
          <a:xfrm>
            <a:off x="4383024" y="2901823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신석기 시대</a:t>
            </a:r>
            <a:endParaRPr lang="ko-KR" sz="2200" dirty="0"/>
          </a:p>
        </p:txBody>
      </p:sp>
      <p:sp>
        <p:nvSpPr>
          <p:cNvPr id="12" name="S03-label24"/>
          <p:cNvSpPr txBox="1"/>
          <p:nvPr/>
        </p:nvSpPr>
        <p:spPr>
          <a:xfrm>
            <a:off x="4383024" y="3813048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갈아 만든 도구</a:t>
            </a:r>
            <a:endParaRPr lang="ko-KR" sz="1800" dirty="0"/>
          </a:p>
        </p:txBody>
      </p:sp>
      <p:sp>
        <p:nvSpPr>
          <p:cNvPr id="13" name="S03-event25"/>
          <p:cNvSpPr/>
          <p:nvPr/>
        </p:nvSpPr>
        <p:spPr>
          <a:xfrm>
            <a:off x="9489948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6"/>
          <p:cNvSpPr txBox="1"/>
          <p:nvPr/>
        </p:nvSpPr>
        <p:spPr>
          <a:xfrm>
            <a:off x="7897368" y="2901823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청동기 시대</a:t>
            </a:r>
            <a:endParaRPr lang="ko-KR" sz="2200" dirty="0"/>
          </a:p>
        </p:txBody>
      </p:sp>
      <p:sp>
        <p:nvSpPr>
          <p:cNvPr id="15" name="S03-label27"/>
          <p:cNvSpPr txBox="1"/>
          <p:nvPr/>
        </p:nvSpPr>
        <p:spPr>
          <a:xfrm>
            <a:off x="7897368" y="3813048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청동으로 만든 도구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주먹도끼로 짐작하기</a:t>
            </a:r>
            <a:endParaRPr lang="ko-KR" sz="4000" dirty="0"/>
          </a:p>
        </p:txBody>
      </p:sp>
      <p:sp>
        <p:nvSpPr>
          <p:cNvPr id="3" name="S04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구석기 시대 유물, 주먹도끼예요.</a:t>
            </a:r>
            <a:endParaRPr lang="ko-KR" sz="2800" dirty="0"/>
          </a:p>
        </p:txBody>
      </p:sp>
      <p:sp>
        <p:nvSpPr>
          <p:cNvPr id="4" name="S04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자료로 보면 ~라고 생각할 수 있어요.</a:t>
            </a:r>
            <a:endParaRPr lang="ko-KR" sz="2800" dirty="0"/>
          </a:p>
        </p:txBody>
      </p:sp>
      <p:sp>
        <p:nvSpPr>
          <p:cNvPr id="6" name="S04-figure31" descr="주먹도끼: 끝이 뾰족하고 가장자리가 울퉁불퉁한 돌도끼"/>
          <p:cNvSpPr/>
          <p:nvPr/>
        </p:nvSpPr>
        <p:spPr>
          <a:xfrm>
            <a:off x="8761993" y="2095500"/>
            <a:ext cx="1895309" cy="2490978"/>
          </a:xfrm>
          <a:custGeom>
            <a:avLst/>
            <a:gdLst/>
            <a:ahLst/>
            <a:cxnLst/>
            <a:rect l="l" t="t" r="r" b="b"/>
            <a:pathLst>
              <a:path w="1895309" h="2490978">
                <a:moveTo>
                  <a:pt x="928315" y="0"/>
                </a:moveTo>
                <a:lnTo>
                  <a:pt x="1160393" y="270758"/>
                </a:lnTo>
                <a:lnTo>
                  <a:pt x="1253225" y="232079"/>
                </a:lnTo>
                <a:lnTo>
                  <a:pt x="1407944" y="657556"/>
                </a:lnTo>
                <a:lnTo>
                  <a:pt x="1562663" y="696236"/>
                </a:lnTo>
                <a:lnTo>
                  <a:pt x="1663231" y="1121714"/>
                </a:lnTo>
                <a:lnTo>
                  <a:pt x="1817950" y="1237753"/>
                </a:lnTo>
                <a:lnTo>
                  <a:pt x="1794742" y="1663231"/>
                </a:lnTo>
                <a:lnTo>
                  <a:pt x="1895309" y="1856630"/>
                </a:lnTo>
                <a:lnTo>
                  <a:pt x="1740590" y="2204748"/>
                </a:lnTo>
                <a:lnTo>
                  <a:pt x="1508512" y="2398147"/>
                </a:lnTo>
                <a:lnTo>
                  <a:pt x="1160393" y="2490978"/>
                </a:lnTo>
                <a:lnTo>
                  <a:pt x="773596" y="2475506"/>
                </a:lnTo>
                <a:lnTo>
                  <a:pt x="464157" y="2413618"/>
                </a:lnTo>
                <a:lnTo>
                  <a:pt x="193399" y="2243427"/>
                </a:lnTo>
                <a:lnTo>
                  <a:pt x="15472" y="1933989"/>
                </a:lnTo>
                <a:lnTo>
                  <a:pt x="77360" y="1624551"/>
                </a:lnTo>
                <a:lnTo>
                  <a:pt x="0" y="1315113"/>
                </a:lnTo>
                <a:lnTo>
                  <a:pt x="193399" y="1083034"/>
                </a:lnTo>
                <a:lnTo>
                  <a:pt x="247551" y="734916"/>
                </a:lnTo>
                <a:lnTo>
                  <a:pt x="464157" y="618877"/>
                </a:lnTo>
                <a:lnTo>
                  <a:pt x="580197" y="270758"/>
                </a:lnTo>
                <a:lnTo>
                  <a:pt x="773596" y="232079"/>
                </a:lnTo>
                <a:close/>
              </a:path>
            </a:pathLst>
          </a:custGeom>
          <a:solidFill>
            <a:srgbClr val="D9C9AE"/>
          </a:solidFill>
          <a:ln w="25400">
            <a:solidFill>
              <a:srgbClr val="6B5B45"/>
            </a:solidFill>
            <a:prstDash val="solid"/>
          </a:ln>
        </p:spPr>
      </p:sp>
      <p:sp>
        <p:nvSpPr>
          <p:cNvPr id="7" name="S04-mark32"/>
          <p:cNvSpPr/>
          <p:nvPr/>
        </p:nvSpPr>
        <p:spPr>
          <a:xfrm>
            <a:off x="9690308" y="2366258"/>
            <a:ext cx="116039" cy="696236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8" name="S04-mark33"/>
          <p:cNvSpPr/>
          <p:nvPr/>
        </p:nvSpPr>
        <p:spPr>
          <a:xfrm>
            <a:off x="9187471" y="3062495"/>
            <a:ext cx="580197" cy="502837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9" name="S04-mark34"/>
          <p:cNvSpPr/>
          <p:nvPr/>
        </p:nvSpPr>
        <p:spPr>
          <a:xfrm flipH="1">
            <a:off x="9806347" y="3294573"/>
            <a:ext cx="464157" cy="348118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0" name="S04-mark35"/>
          <p:cNvSpPr/>
          <p:nvPr/>
        </p:nvSpPr>
        <p:spPr>
          <a:xfrm>
            <a:off x="9032752" y="3952130"/>
            <a:ext cx="618877" cy="193399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1" name="S04-mark36"/>
          <p:cNvSpPr/>
          <p:nvPr/>
        </p:nvSpPr>
        <p:spPr>
          <a:xfrm flipH="1">
            <a:off x="9922387" y="3990809"/>
            <a:ext cx="502837" cy="232079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2" name="S04-label37"/>
          <p:cNvSpPr txBox="1"/>
          <p:nvPr/>
        </p:nvSpPr>
        <p:spPr>
          <a:xfrm>
            <a:off x="7778984" y="4743450"/>
            <a:ext cx="38613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주먹도끼(뗀석기)</a:t>
            </a:r>
            <a:endParaRPr lang="ko-KR" sz="2200" dirty="0"/>
          </a:p>
        </p:txBody>
      </p:sp>
      <p:sp>
        <p:nvSpPr>
          <p:cNvPr id="13" name="S04-stepno38"/>
          <p:cNvSpPr txBox="1"/>
          <p:nvPr/>
        </p:nvSpPr>
        <p:spPr>
          <a:xfrm>
            <a:off x="548640" y="2145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04-text39"/>
          <p:cNvSpPr txBox="1"/>
          <p:nvPr/>
        </p:nvSpPr>
        <p:spPr>
          <a:xfrm>
            <a:off x="1325880" y="2100072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모습: 돌을 깨뜨려 떼어 내서 끝이 뾰족하고 날카로워요.</a:t>
            </a:r>
            <a:endParaRPr lang="ko-KR" sz="2800" dirty="0"/>
          </a:p>
        </p:txBody>
      </p:sp>
      <p:sp>
        <p:nvSpPr>
          <p:cNvPr id="15" name="S04-stepno40"/>
          <p:cNvSpPr txBox="1"/>
          <p:nvPr/>
        </p:nvSpPr>
        <p:spPr>
          <a:xfrm>
            <a:off x="548640" y="3178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04-text41"/>
          <p:cNvSpPr txBox="1"/>
          <p:nvPr/>
        </p:nvSpPr>
        <p:spPr>
          <a:xfrm>
            <a:off x="1325880" y="3132328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쓰임: 짐승을 잡고, 가죽을 벗기고, 땅을 팠어요.</a:t>
            </a:r>
            <a:endParaRPr lang="ko-KR" sz="2800" dirty="0"/>
          </a:p>
        </p:txBody>
      </p:sp>
      <p:sp>
        <p:nvSpPr>
          <p:cNvPr id="17" name="S04-stepno42"/>
          <p:cNvSpPr txBox="1"/>
          <p:nvPr/>
        </p:nvSpPr>
        <p:spPr>
          <a:xfrm>
            <a:off x="548640" y="4210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8" name="S04-text43"/>
          <p:cNvSpPr txBox="1"/>
          <p:nvPr/>
        </p:nvSpPr>
        <p:spPr>
          <a:xfrm>
            <a:off x="1325880" y="4164584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생활: 사냥과 채집을 하며 살았다고 생각할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뗀석기와 간석기</a:t>
            </a:r>
            <a:endParaRPr lang="ko-KR" sz="4000" dirty="0"/>
          </a:p>
        </p:txBody>
      </p:sp>
      <p:sp>
        <p:nvSpPr>
          <p:cNvPr id="3" name="S05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구석기와 신석기 시대의 돌도끼예요.</a:t>
            </a:r>
            <a:endParaRPr lang="ko-KR" sz="2800" dirty="0"/>
          </a:p>
        </p:txBody>
      </p:sp>
      <p:sp>
        <p:nvSpPr>
          <p:cNvPr id="5" name="S05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간석기를 쓰면서 무엇이 좋아졌을까요?</a:t>
            </a:r>
            <a:endParaRPr lang="ko-KR" sz="2800" dirty="0"/>
          </a:p>
        </p:txBody>
      </p:sp>
      <p:sp>
        <p:nvSpPr>
          <p:cNvPr id="7" name="S05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구석기: 뗀석기</a:t>
            </a:r>
            <a:endParaRPr lang="ko-KR" sz="2200" dirty="0"/>
          </a:p>
        </p:txBody>
      </p:sp>
      <p:sp>
        <p:nvSpPr>
          <p:cNvPr id="8" name="S05-figure49" descr="주먹도끼: 끝이 뾰족하고 가장자리가 울퉁불퉁한 돌도끼"/>
          <p:cNvSpPr/>
          <p:nvPr/>
        </p:nvSpPr>
        <p:spPr>
          <a:xfrm>
            <a:off x="2710440" y="3238500"/>
            <a:ext cx="1039357" cy="1366012"/>
          </a:xfrm>
          <a:custGeom>
            <a:avLst/>
            <a:gdLst/>
            <a:ahLst/>
            <a:cxnLst/>
            <a:rect l="l" t="t" r="r" b="b"/>
            <a:pathLst>
              <a:path w="1039357" h="1366012">
                <a:moveTo>
                  <a:pt x="509073" y="0"/>
                </a:moveTo>
                <a:lnTo>
                  <a:pt x="636341" y="148480"/>
                </a:lnTo>
                <a:lnTo>
                  <a:pt x="687248" y="127268"/>
                </a:lnTo>
                <a:lnTo>
                  <a:pt x="772094" y="360593"/>
                </a:lnTo>
                <a:lnTo>
                  <a:pt x="856939" y="381805"/>
                </a:lnTo>
                <a:lnTo>
                  <a:pt x="912089" y="615130"/>
                </a:lnTo>
                <a:lnTo>
                  <a:pt x="996934" y="678764"/>
                </a:lnTo>
                <a:lnTo>
                  <a:pt x="984207" y="912089"/>
                </a:lnTo>
                <a:lnTo>
                  <a:pt x="1039357" y="1018146"/>
                </a:lnTo>
                <a:lnTo>
                  <a:pt x="954511" y="1209048"/>
                </a:lnTo>
                <a:lnTo>
                  <a:pt x="827243" y="1315105"/>
                </a:lnTo>
                <a:lnTo>
                  <a:pt x="636341" y="1366012"/>
                </a:lnTo>
                <a:lnTo>
                  <a:pt x="424227" y="1357527"/>
                </a:lnTo>
                <a:lnTo>
                  <a:pt x="254536" y="1323589"/>
                </a:lnTo>
                <a:lnTo>
                  <a:pt x="106057" y="1230259"/>
                </a:lnTo>
                <a:lnTo>
                  <a:pt x="8485" y="1060568"/>
                </a:lnTo>
                <a:lnTo>
                  <a:pt x="42423" y="890877"/>
                </a:lnTo>
                <a:lnTo>
                  <a:pt x="0" y="721186"/>
                </a:lnTo>
                <a:lnTo>
                  <a:pt x="106057" y="593918"/>
                </a:lnTo>
                <a:lnTo>
                  <a:pt x="135753" y="403016"/>
                </a:lnTo>
                <a:lnTo>
                  <a:pt x="254536" y="339382"/>
                </a:lnTo>
                <a:lnTo>
                  <a:pt x="318170" y="148480"/>
                </a:lnTo>
                <a:lnTo>
                  <a:pt x="424227" y="127268"/>
                </a:lnTo>
                <a:close/>
              </a:path>
            </a:pathLst>
          </a:custGeom>
          <a:solidFill>
            <a:srgbClr val="D9C9AE"/>
          </a:solidFill>
          <a:ln w="25400">
            <a:solidFill>
              <a:srgbClr val="6B5B45"/>
            </a:solidFill>
            <a:prstDash val="solid"/>
          </a:ln>
        </p:spPr>
      </p:sp>
      <p:sp>
        <p:nvSpPr>
          <p:cNvPr id="9" name="S05-mark50"/>
          <p:cNvSpPr/>
          <p:nvPr/>
        </p:nvSpPr>
        <p:spPr>
          <a:xfrm>
            <a:off x="3219512" y="3386980"/>
            <a:ext cx="63634" cy="381805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0" name="S05-mark51"/>
          <p:cNvSpPr/>
          <p:nvPr/>
        </p:nvSpPr>
        <p:spPr>
          <a:xfrm>
            <a:off x="2943765" y="3768784"/>
            <a:ext cx="318170" cy="275748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1" name="S05-mark52"/>
          <p:cNvSpPr/>
          <p:nvPr/>
        </p:nvSpPr>
        <p:spPr>
          <a:xfrm flipH="1">
            <a:off x="3283146" y="3896052"/>
            <a:ext cx="254536" cy="190902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2" name="S05-mark53"/>
          <p:cNvSpPr/>
          <p:nvPr/>
        </p:nvSpPr>
        <p:spPr>
          <a:xfrm>
            <a:off x="2858919" y="4256646"/>
            <a:ext cx="339382" cy="106057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3" name="S05-mark54"/>
          <p:cNvSpPr/>
          <p:nvPr/>
        </p:nvSpPr>
        <p:spPr>
          <a:xfrm flipH="1">
            <a:off x="3346781" y="4277857"/>
            <a:ext cx="275748" cy="127268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4" name="S05-text55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깨뜨리고 떼어 내 만들어요.</a:t>
            </a:r>
            <a:endParaRPr lang="ko-KR" sz="2200" dirty="0"/>
          </a:p>
        </p:txBody>
      </p:sp>
      <p:sp>
        <p:nvSpPr>
          <p:cNvPr id="15" name="S05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신석기: 간석기</a:t>
            </a:r>
            <a:endParaRPr lang="ko-KR" sz="2200" dirty="0"/>
          </a:p>
        </p:txBody>
      </p:sp>
      <p:sp>
        <p:nvSpPr>
          <p:cNvPr id="16" name="S05-figure57" descr="간돌도끼: 돌을 갈아 매끈하고, 아래쪽 날이 고르게 갈린 돌도끼"/>
          <p:cNvSpPr/>
          <p:nvPr/>
        </p:nvSpPr>
        <p:spPr>
          <a:xfrm>
            <a:off x="8635958" y="3238500"/>
            <a:ext cx="645751" cy="1366012"/>
          </a:xfrm>
          <a:custGeom>
            <a:avLst/>
            <a:gdLst/>
            <a:ahLst/>
            <a:cxnLst/>
            <a:rect l="l" t="t" r="r" b="b"/>
            <a:pathLst>
              <a:path w="645751" h="1366012">
                <a:moveTo>
                  <a:pt x="509150" y="124183"/>
                </a:moveTo>
                <a:lnTo>
                  <a:pt x="502941" y="91895"/>
                </a:lnTo>
                <a:lnTo>
                  <a:pt x="484313" y="62091"/>
                </a:lnTo>
                <a:lnTo>
                  <a:pt x="454509" y="36427"/>
                </a:lnTo>
                <a:lnTo>
                  <a:pt x="416013" y="16558"/>
                </a:lnTo>
                <a:lnTo>
                  <a:pt x="370893" y="4139"/>
                </a:lnTo>
                <a:lnTo>
                  <a:pt x="322876" y="0"/>
                </a:lnTo>
                <a:lnTo>
                  <a:pt x="274858" y="4139"/>
                </a:lnTo>
                <a:lnTo>
                  <a:pt x="229738" y="16558"/>
                </a:lnTo>
                <a:lnTo>
                  <a:pt x="191242" y="36427"/>
                </a:lnTo>
                <a:lnTo>
                  <a:pt x="161438" y="62091"/>
                </a:lnTo>
                <a:lnTo>
                  <a:pt x="142810" y="91895"/>
                </a:lnTo>
                <a:lnTo>
                  <a:pt x="136601" y="124183"/>
                </a:lnTo>
                <a:lnTo>
                  <a:pt x="119630" y="253333"/>
                </a:lnTo>
                <a:lnTo>
                  <a:pt x="102658" y="382897"/>
                </a:lnTo>
                <a:lnTo>
                  <a:pt x="85272" y="512461"/>
                </a:lnTo>
                <a:lnTo>
                  <a:pt x="68301" y="641612"/>
                </a:lnTo>
                <a:lnTo>
                  <a:pt x="51329" y="770762"/>
                </a:lnTo>
                <a:lnTo>
                  <a:pt x="33943" y="900326"/>
                </a:lnTo>
                <a:lnTo>
                  <a:pt x="16972" y="1029890"/>
                </a:lnTo>
                <a:lnTo>
                  <a:pt x="0" y="1159040"/>
                </a:lnTo>
                <a:lnTo>
                  <a:pt x="53813" y="1222374"/>
                </a:lnTo>
                <a:lnTo>
                  <a:pt x="107625" y="1274117"/>
                </a:lnTo>
                <a:lnTo>
                  <a:pt x="161438" y="1314269"/>
                </a:lnTo>
                <a:lnTo>
                  <a:pt x="215250" y="1342831"/>
                </a:lnTo>
                <a:lnTo>
                  <a:pt x="269063" y="1360217"/>
                </a:lnTo>
                <a:lnTo>
                  <a:pt x="322876" y="1366012"/>
                </a:lnTo>
                <a:lnTo>
                  <a:pt x="376688" y="1360217"/>
                </a:lnTo>
                <a:lnTo>
                  <a:pt x="430501" y="1342831"/>
                </a:lnTo>
                <a:lnTo>
                  <a:pt x="484313" y="1314269"/>
                </a:lnTo>
                <a:lnTo>
                  <a:pt x="538126" y="1274117"/>
                </a:lnTo>
                <a:lnTo>
                  <a:pt x="591939" y="1222374"/>
                </a:lnTo>
                <a:lnTo>
                  <a:pt x="645751" y="1159040"/>
                </a:lnTo>
                <a:lnTo>
                  <a:pt x="628779" y="1029890"/>
                </a:lnTo>
                <a:lnTo>
                  <a:pt x="611808" y="900326"/>
                </a:lnTo>
                <a:lnTo>
                  <a:pt x="594422" y="770762"/>
                </a:lnTo>
                <a:lnTo>
                  <a:pt x="577451" y="641612"/>
                </a:lnTo>
                <a:lnTo>
                  <a:pt x="560479" y="512461"/>
                </a:lnTo>
                <a:lnTo>
                  <a:pt x="543093" y="382897"/>
                </a:lnTo>
                <a:lnTo>
                  <a:pt x="526122" y="253333"/>
                </a:lnTo>
                <a:close/>
              </a:path>
            </a:pathLst>
          </a:custGeom>
          <a:solidFill>
            <a:srgbClr val="BFC8C4"/>
          </a:solidFill>
          <a:ln w="25400">
            <a:solidFill>
              <a:srgbClr val="4B5A55"/>
            </a:solidFill>
            <a:prstDash val="solid"/>
          </a:ln>
        </p:spPr>
      </p:sp>
      <p:sp>
        <p:nvSpPr>
          <p:cNvPr id="17" name="S05-mark58"/>
          <p:cNvSpPr/>
          <p:nvPr/>
        </p:nvSpPr>
        <p:spPr>
          <a:xfrm>
            <a:off x="8652516" y="4347867"/>
            <a:ext cx="612636" cy="0"/>
          </a:xfrm>
          <a:prstGeom prst="line">
            <a:avLst/>
          </a:prstGeom>
          <a:noFill/>
          <a:ln w="15875">
            <a:solidFill>
              <a:srgbClr val="7D8A85"/>
            </a:solidFill>
            <a:prstDash val="solid"/>
          </a:ln>
        </p:spPr>
      </p:sp>
      <p:sp>
        <p:nvSpPr>
          <p:cNvPr id="18" name="S05-text59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갈아서 매끈하게 만들어요.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빗살무늬 토기로 짐작하기</a:t>
            </a:r>
            <a:endParaRPr lang="ko-KR" sz="4000" dirty="0"/>
          </a:p>
        </p:txBody>
      </p:sp>
      <p:sp>
        <p:nvSpPr>
          <p:cNvPr id="3" name="S06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신석기 시대 유물이에요. 흙으로 빚어 불에 구웠어요.</a:t>
            </a:r>
            <a:endParaRPr lang="ko-KR" sz="2800" dirty="0"/>
          </a:p>
        </p:txBody>
      </p:sp>
      <p:sp>
        <p:nvSpPr>
          <p:cNvPr id="4" name="S06-figure61" descr="빗살무늬 토기: 아가리가 넓고 바닥이 뾰족하며 겉에 빗살 같은 짧은 빗금이 촘촘한 그릇"/>
          <p:cNvSpPr/>
          <p:nvPr/>
        </p:nvSpPr>
        <p:spPr>
          <a:xfrm>
            <a:off x="1133707" y="2095500"/>
            <a:ext cx="2691194" cy="3588258"/>
          </a:xfrm>
          <a:custGeom>
            <a:avLst/>
            <a:gdLst/>
            <a:ahLst/>
            <a:cxnLst/>
            <a:rect l="l" t="t" r="r" b="b"/>
            <a:pathLst>
              <a:path w="2691194" h="3588258">
                <a:moveTo>
                  <a:pt x="2691194" y="0"/>
                </a:moveTo>
                <a:lnTo>
                  <a:pt x="2648134" y="224266"/>
                </a:lnTo>
                <a:lnTo>
                  <a:pt x="2604178" y="448532"/>
                </a:lnTo>
                <a:lnTo>
                  <a:pt x="2558428" y="672798"/>
                </a:lnTo>
                <a:lnTo>
                  <a:pt x="2510884" y="897064"/>
                </a:lnTo>
                <a:lnTo>
                  <a:pt x="2461545" y="1121331"/>
                </a:lnTo>
                <a:lnTo>
                  <a:pt x="2409515" y="1345597"/>
                </a:lnTo>
                <a:lnTo>
                  <a:pt x="2354794" y="1569863"/>
                </a:lnTo>
                <a:lnTo>
                  <a:pt x="2297382" y="1794129"/>
                </a:lnTo>
                <a:lnTo>
                  <a:pt x="2235485" y="2018395"/>
                </a:lnTo>
                <a:lnTo>
                  <a:pt x="2169999" y="2242661"/>
                </a:lnTo>
                <a:lnTo>
                  <a:pt x="2098234" y="2466927"/>
                </a:lnTo>
                <a:lnTo>
                  <a:pt x="2018395" y="2691193"/>
                </a:lnTo>
                <a:lnTo>
                  <a:pt x="1928689" y="2915460"/>
                </a:lnTo>
                <a:lnTo>
                  <a:pt x="1821041" y="3139726"/>
                </a:lnTo>
                <a:lnTo>
                  <a:pt x="1681996" y="3363992"/>
                </a:lnTo>
                <a:lnTo>
                  <a:pt x="1345597" y="3588258"/>
                </a:lnTo>
                <a:lnTo>
                  <a:pt x="1009198" y="3363992"/>
                </a:lnTo>
                <a:lnTo>
                  <a:pt x="870153" y="3139726"/>
                </a:lnTo>
                <a:lnTo>
                  <a:pt x="762505" y="2915460"/>
                </a:lnTo>
                <a:lnTo>
                  <a:pt x="672798" y="2691193"/>
                </a:lnTo>
                <a:lnTo>
                  <a:pt x="592960" y="2466927"/>
                </a:lnTo>
                <a:lnTo>
                  <a:pt x="521194" y="2242661"/>
                </a:lnTo>
                <a:lnTo>
                  <a:pt x="455709" y="2018395"/>
                </a:lnTo>
                <a:lnTo>
                  <a:pt x="393811" y="1794129"/>
                </a:lnTo>
                <a:lnTo>
                  <a:pt x="336399" y="1569863"/>
                </a:lnTo>
                <a:lnTo>
                  <a:pt x="281678" y="1345597"/>
                </a:lnTo>
                <a:lnTo>
                  <a:pt x="229649" y="1121331"/>
                </a:lnTo>
                <a:lnTo>
                  <a:pt x="180310" y="897064"/>
                </a:lnTo>
                <a:lnTo>
                  <a:pt x="132766" y="672798"/>
                </a:lnTo>
                <a:lnTo>
                  <a:pt x="87015" y="448532"/>
                </a:lnTo>
                <a:lnTo>
                  <a:pt x="43059" y="224266"/>
                </a:lnTo>
                <a:lnTo>
                  <a:pt x="0" y="0"/>
                </a:lnTo>
                <a:close/>
              </a:path>
            </a:pathLst>
          </a:custGeom>
          <a:solidFill>
            <a:srgbClr val="E7C9A4"/>
          </a:solidFill>
          <a:ln w="25400">
            <a:solidFill>
              <a:srgbClr val="7A5230"/>
            </a:solidFill>
            <a:prstDash val="solid"/>
          </a:ln>
        </p:spPr>
      </p:sp>
      <p:sp>
        <p:nvSpPr>
          <p:cNvPr id="5" name="S06-mark62"/>
          <p:cNvSpPr/>
          <p:nvPr/>
        </p:nvSpPr>
        <p:spPr>
          <a:xfrm flipV="1">
            <a:off x="1391165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6" name="S06-mark63"/>
          <p:cNvSpPr/>
          <p:nvPr/>
        </p:nvSpPr>
        <p:spPr>
          <a:xfrm flipV="1">
            <a:off x="1588519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7" name="S06-mark64"/>
          <p:cNvSpPr/>
          <p:nvPr/>
        </p:nvSpPr>
        <p:spPr>
          <a:xfrm flipV="1">
            <a:off x="1785873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8" name="S06-mark65"/>
          <p:cNvSpPr/>
          <p:nvPr/>
        </p:nvSpPr>
        <p:spPr>
          <a:xfrm flipV="1">
            <a:off x="1983227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9" name="S06-mark66"/>
          <p:cNvSpPr/>
          <p:nvPr/>
        </p:nvSpPr>
        <p:spPr>
          <a:xfrm flipV="1">
            <a:off x="2180582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0" name="S06-mark67"/>
          <p:cNvSpPr/>
          <p:nvPr/>
        </p:nvSpPr>
        <p:spPr>
          <a:xfrm flipV="1">
            <a:off x="2377936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1" name="S06-mark68"/>
          <p:cNvSpPr/>
          <p:nvPr/>
        </p:nvSpPr>
        <p:spPr>
          <a:xfrm flipV="1">
            <a:off x="2575290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2" name="S06-mark69"/>
          <p:cNvSpPr/>
          <p:nvPr/>
        </p:nvSpPr>
        <p:spPr>
          <a:xfrm flipV="1">
            <a:off x="2772644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3" name="S06-mark70"/>
          <p:cNvSpPr/>
          <p:nvPr/>
        </p:nvSpPr>
        <p:spPr>
          <a:xfrm flipV="1">
            <a:off x="2969998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4" name="S06-mark71"/>
          <p:cNvSpPr/>
          <p:nvPr/>
        </p:nvSpPr>
        <p:spPr>
          <a:xfrm flipV="1">
            <a:off x="3167353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5" name="S06-mark72"/>
          <p:cNvSpPr/>
          <p:nvPr/>
        </p:nvSpPr>
        <p:spPr>
          <a:xfrm flipV="1">
            <a:off x="3364707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6" name="S06-mark73"/>
          <p:cNvSpPr/>
          <p:nvPr/>
        </p:nvSpPr>
        <p:spPr>
          <a:xfrm flipV="1">
            <a:off x="3562061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7" name="S06-mark74"/>
          <p:cNvSpPr/>
          <p:nvPr/>
        </p:nvSpPr>
        <p:spPr>
          <a:xfrm flipV="1">
            <a:off x="1528416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8" name="S06-mark75"/>
          <p:cNvSpPr/>
          <p:nvPr/>
        </p:nvSpPr>
        <p:spPr>
          <a:xfrm flipV="1">
            <a:off x="1743711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9" name="S06-mark76"/>
          <p:cNvSpPr/>
          <p:nvPr/>
        </p:nvSpPr>
        <p:spPr>
          <a:xfrm flipV="1">
            <a:off x="1959007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0" name="S06-mark77"/>
          <p:cNvSpPr/>
          <p:nvPr/>
        </p:nvSpPr>
        <p:spPr>
          <a:xfrm flipV="1">
            <a:off x="2174302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1" name="S06-mark78"/>
          <p:cNvSpPr/>
          <p:nvPr/>
        </p:nvSpPr>
        <p:spPr>
          <a:xfrm flipV="1">
            <a:off x="2389598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2" name="S06-mark79"/>
          <p:cNvSpPr/>
          <p:nvPr/>
        </p:nvSpPr>
        <p:spPr>
          <a:xfrm flipV="1">
            <a:off x="2604893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3" name="S06-mark80"/>
          <p:cNvSpPr/>
          <p:nvPr/>
        </p:nvSpPr>
        <p:spPr>
          <a:xfrm flipV="1">
            <a:off x="2820189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4" name="S06-mark81"/>
          <p:cNvSpPr/>
          <p:nvPr/>
        </p:nvSpPr>
        <p:spPr>
          <a:xfrm flipV="1">
            <a:off x="3035484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5" name="S06-mark82"/>
          <p:cNvSpPr/>
          <p:nvPr/>
        </p:nvSpPr>
        <p:spPr>
          <a:xfrm flipV="1">
            <a:off x="3250780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6" name="S06-mark83"/>
          <p:cNvSpPr/>
          <p:nvPr/>
        </p:nvSpPr>
        <p:spPr>
          <a:xfrm flipH="1" flipV="1">
            <a:off x="1619019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7" name="S06-mark84"/>
          <p:cNvSpPr/>
          <p:nvPr/>
        </p:nvSpPr>
        <p:spPr>
          <a:xfrm flipH="1" flipV="1">
            <a:off x="1834315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8" name="S06-mark85"/>
          <p:cNvSpPr/>
          <p:nvPr/>
        </p:nvSpPr>
        <p:spPr>
          <a:xfrm flipH="1" flipV="1">
            <a:off x="2049610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9" name="S06-mark86"/>
          <p:cNvSpPr/>
          <p:nvPr/>
        </p:nvSpPr>
        <p:spPr>
          <a:xfrm flipH="1" flipV="1">
            <a:off x="2264906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0" name="S06-mark87"/>
          <p:cNvSpPr/>
          <p:nvPr/>
        </p:nvSpPr>
        <p:spPr>
          <a:xfrm flipH="1" flipV="1">
            <a:off x="2480201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1" name="S06-mark88"/>
          <p:cNvSpPr/>
          <p:nvPr/>
        </p:nvSpPr>
        <p:spPr>
          <a:xfrm flipH="1" flipV="1">
            <a:off x="2695497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2" name="S06-mark89"/>
          <p:cNvSpPr/>
          <p:nvPr/>
        </p:nvSpPr>
        <p:spPr>
          <a:xfrm flipH="1" flipV="1">
            <a:off x="2910792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3" name="S06-mark90"/>
          <p:cNvSpPr/>
          <p:nvPr/>
        </p:nvSpPr>
        <p:spPr>
          <a:xfrm flipH="1" flipV="1">
            <a:off x="3126088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4" name="S06-mark91"/>
          <p:cNvSpPr/>
          <p:nvPr/>
        </p:nvSpPr>
        <p:spPr>
          <a:xfrm flipV="1">
            <a:off x="1716799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5" name="S06-mark92"/>
          <p:cNvSpPr/>
          <p:nvPr/>
        </p:nvSpPr>
        <p:spPr>
          <a:xfrm flipV="1">
            <a:off x="1932095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6" name="S06-mark93"/>
          <p:cNvSpPr/>
          <p:nvPr/>
        </p:nvSpPr>
        <p:spPr>
          <a:xfrm flipV="1">
            <a:off x="2147390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7" name="S06-mark94"/>
          <p:cNvSpPr/>
          <p:nvPr/>
        </p:nvSpPr>
        <p:spPr>
          <a:xfrm flipV="1">
            <a:off x="2362686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8" name="S06-mark95"/>
          <p:cNvSpPr/>
          <p:nvPr/>
        </p:nvSpPr>
        <p:spPr>
          <a:xfrm flipV="1">
            <a:off x="2577981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9" name="S06-mark96"/>
          <p:cNvSpPr/>
          <p:nvPr/>
        </p:nvSpPr>
        <p:spPr>
          <a:xfrm flipV="1">
            <a:off x="2793277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0" name="S06-mark97"/>
          <p:cNvSpPr/>
          <p:nvPr/>
        </p:nvSpPr>
        <p:spPr>
          <a:xfrm flipV="1">
            <a:off x="3008572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1" name="S06-mark98"/>
          <p:cNvSpPr/>
          <p:nvPr/>
        </p:nvSpPr>
        <p:spPr>
          <a:xfrm flipH="1" flipV="1">
            <a:off x="1826241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2" name="S06-mark99"/>
          <p:cNvSpPr/>
          <p:nvPr/>
        </p:nvSpPr>
        <p:spPr>
          <a:xfrm flipH="1" flipV="1">
            <a:off x="2041537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3" name="S06-mark100"/>
          <p:cNvSpPr/>
          <p:nvPr/>
        </p:nvSpPr>
        <p:spPr>
          <a:xfrm flipH="1" flipV="1">
            <a:off x="2256832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4" name="S06-mark101"/>
          <p:cNvSpPr/>
          <p:nvPr/>
        </p:nvSpPr>
        <p:spPr>
          <a:xfrm flipH="1" flipV="1">
            <a:off x="2472128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5" name="S06-mark102"/>
          <p:cNvSpPr/>
          <p:nvPr/>
        </p:nvSpPr>
        <p:spPr>
          <a:xfrm flipH="1" flipV="1">
            <a:off x="2687423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6" name="S06-mark103"/>
          <p:cNvSpPr/>
          <p:nvPr/>
        </p:nvSpPr>
        <p:spPr>
          <a:xfrm flipH="1" flipV="1">
            <a:off x="2902719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7" name="S06-mark104"/>
          <p:cNvSpPr/>
          <p:nvPr/>
        </p:nvSpPr>
        <p:spPr>
          <a:xfrm flipV="1">
            <a:off x="1950933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8" name="S06-mark105"/>
          <p:cNvSpPr/>
          <p:nvPr/>
        </p:nvSpPr>
        <p:spPr>
          <a:xfrm flipV="1">
            <a:off x="2166229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9" name="S06-mark106"/>
          <p:cNvSpPr/>
          <p:nvPr/>
        </p:nvSpPr>
        <p:spPr>
          <a:xfrm flipV="1">
            <a:off x="2381524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50" name="S06-mark107"/>
          <p:cNvSpPr/>
          <p:nvPr/>
        </p:nvSpPr>
        <p:spPr>
          <a:xfrm flipV="1">
            <a:off x="2596820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51" name="S06-mark108"/>
          <p:cNvSpPr/>
          <p:nvPr/>
        </p:nvSpPr>
        <p:spPr>
          <a:xfrm flipV="1">
            <a:off x="2812115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52" name="S06-label109"/>
          <p:cNvSpPr txBox="1"/>
          <p:nvPr/>
        </p:nvSpPr>
        <p:spPr>
          <a:xfrm>
            <a:off x="548640" y="5840730"/>
            <a:ext cx="38613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빗살무늬 토기</a:t>
            </a:r>
            <a:endParaRPr lang="ko-KR" sz="2200" dirty="0"/>
          </a:p>
        </p:txBody>
      </p:sp>
      <p:sp>
        <p:nvSpPr>
          <p:cNvPr id="53" name="S06-card110"/>
          <p:cNvSpPr/>
          <p:nvPr/>
        </p:nvSpPr>
        <p:spPr>
          <a:xfrm>
            <a:off x="4775728" y="2419096"/>
            <a:ext cx="686458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4" name="S06-cardtext111"/>
          <p:cNvSpPr txBox="1"/>
          <p:nvPr/>
        </p:nvSpPr>
        <p:spPr>
          <a:xfrm>
            <a:off x="5050048" y="2556256"/>
            <a:ext cx="6315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 그릇에 무엇을 담았을까요?</a:t>
            </a:r>
            <a:endParaRPr lang="ko-KR" sz="2800" dirty="0"/>
          </a:p>
        </p:txBody>
      </p:sp>
      <p:sp>
        <p:nvSpPr>
          <p:cNvPr id="55" name="S06-card112"/>
          <p:cNvSpPr/>
          <p:nvPr/>
        </p:nvSpPr>
        <p:spPr>
          <a:xfrm>
            <a:off x="4775728" y="3516376"/>
            <a:ext cx="686458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6" name="S06-cardtext113"/>
          <p:cNvSpPr txBox="1"/>
          <p:nvPr/>
        </p:nvSpPr>
        <p:spPr>
          <a:xfrm>
            <a:off x="5050048" y="3653536"/>
            <a:ext cx="6315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바닥은 왜 뾰족할까요?</a:t>
            </a:r>
            <a:endParaRPr lang="ko-KR" sz="2800" dirty="0"/>
          </a:p>
        </p:txBody>
      </p:sp>
      <p:sp>
        <p:nvSpPr>
          <p:cNvPr id="57" name="S06-card114"/>
          <p:cNvSpPr/>
          <p:nvPr/>
        </p:nvSpPr>
        <p:spPr>
          <a:xfrm>
            <a:off x="4775728" y="4613656"/>
            <a:ext cx="686458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8" name="S06-cardtext115"/>
          <p:cNvSpPr txBox="1"/>
          <p:nvPr/>
        </p:nvSpPr>
        <p:spPr>
          <a:xfrm>
            <a:off x="5050048" y="4750816"/>
            <a:ext cx="631594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어떤 생활을 했다고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생각할 수 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청동기 시대 유물로 짐작하기</a:t>
            </a:r>
            <a:endParaRPr lang="ko-KR" sz="4000" dirty="0"/>
          </a:p>
        </p:txBody>
      </p:sp>
      <p:sp>
        <p:nvSpPr>
          <p:cNvPr id="3" name="S07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‘자료로 보면 ~라고 생각할 수 있어요.’로 말해요.</a:t>
            </a:r>
            <a:endParaRPr lang="ko-KR" sz="2800" dirty="0"/>
          </a:p>
        </p:txBody>
      </p:sp>
      <p:sp>
        <p:nvSpPr>
          <p:cNvPr id="5" name="S07-card118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19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고인돌</a:t>
            </a:r>
            <a:endParaRPr lang="ko-KR" sz="2800" dirty="0"/>
          </a:p>
        </p:txBody>
      </p:sp>
      <p:sp>
        <p:nvSpPr>
          <p:cNvPr id="7" name="S07-figure120" descr="탁자식 고인돌: 받침돌 두 개 위에 크고 넓적한 덮개돌을 올린 모습"/>
          <p:cNvSpPr/>
          <p:nvPr/>
        </p:nvSpPr>
        <p:spPr>
          <a:xfrm>
            <a:off x="7668091" y="3216571"/>
            <a:ext cx="484029" cy="1161669"/>
          </a:xfrm>
          <a:custGeom>
            <a:avLst/>
            <a:gdLst/>
            <a:ahLst/>
            <a:cxnLst/>
            <a:rect l="l" t="t" r="r" b="b"/>
            <a:pathLst>
              <a:path w="484029" h="1161669">
                <a:moveTo>
                  <a:pt x="0" y="1161669"/>
                </a:moveTo>
                <a:lnTo>
                  <a:pt x="484029" y="1161669"/>
                </a:lnTo>
                <a:lnTo>
                  <a:pt x="438853" y="0"/>
                </a:lnTo>
                <a:lnTo>
                  <a:pt x="51630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8" name="S07-mark121"/>
          <p:cNvSpPr/>
          <p:nvPr/>
        </p:nvSpPr>
        <p:spPr>
          <a:xfrm>
            <a:off x="9765549" y="3216571"/>
            <a:ext cx="484029" cy="1161669"/>
          </a:xfrm>
          <a:custGeom>
            <a:avLst/>
            <a:gdLst/>
            <a:ahLst/>
            <a:cxnLst/>
            <a:rect l="l" t="t" r="r" b="b"/>
            <a:pathLst>
              <a:path w="484029" h="1161669">
                <a:moveTo>
                  <a:pt x="0" y="1161669"/>
                </a:moveTo>
                <a:lnTo>
                  <a:pt x="484029" y="1161669"/>
                </a:lnTo>
                <a:lnTo>
                  <a:pt x="432399" y="0"/>
                </a:lnTo>
                <a:lnTo>
                  <a:pt x="45176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9" name="S07-mark122"/>
          <p:cNvSpPr/>
          <p:nvPr/>
        </p:nvSpPr>
        <p:spPr>
          <a:xfrm>
            <a:off x="6829108" y="2571200"/>
            <a:ext cx="4259453" cy="645372"/>
          </a:xfrm>
          <a:custGeom>
            <a:avLst/>
            <a:gdLst/>
            <a:ahLst/>
            <a:cxnLst/>
            <a:rect l="l" t="t" r="r" b="b"/>
            <a:pathLst>
              <a:path w="4259453" h="645372">
                <a:moveTo>
                  <a:pt x="129074" y="645372"/>
                </a:moveTo>
                <a:lnTo>
                  <a:pt x="4130379" y="645372"/>
                </a:lnTo>
                <a:lnTo>
                  <a:pt x="4259453" y="322686"/>
                </a:lnTo>
                <a:lnTo>
                  <a:pt x="3872230" y="0"/>
                </a:lnTo>
                <a:lnTo>
                  <a:pt x="516297" y="32269"/>
                </a:lnTo>
                <a:lnTo>
                  <a:pt x="0" y="322686"/>
                </a:lnTo>
                <a:close/>
              </a:path>
            </a:pathLst>
          </a:custGeom>
          <a:solidFill>
            <a:srgbClr val="B5AFA5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10" name="S07-mark123"/>
          <p:cNvSpPr/>
          <p:nvPr/>
        </p:nvSpPr>
        <p:spPr>
          <a:xfrm>
            <a:off x="6635496" y="4378240"/>
            <a:ext cx="4646676" cy="0"/>
          </a:xfrm>
          <a:prstGeom prst="line">
            <a:avLst/>
          </a:prstGeom>
          <a:noFill/>
          <a:ln w="25400">
            <a:solidFill>
              <a:srgbClr val="8A7F6E"/>
            </a:solidFill>
            <a:prstDash val="solid"/>
          </a:ln>
        </p:spPr>
      </p:sp>
      <p:sp>
        <p:nvSpPr>
          <p:cNvPr id="11" name="S07-mark124"/>
          <p:cNvSpPr/>
          <p:nvPr/>
        </p:nvSpPr>
        <p:spPr>
          <a:xfrm flipH="1">
            <a:off x="8171481" y="3797406"/>
            <a:ext cx="303325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7-mark125"/>
          <p:cNvSpPr/>
          <p:nvPr/>
        </p:nvSpPr>
        <p:spPr>
          <a:xfrm>
            <a:off x="9442863" y="3797406"/>
            <a:ext cx="303325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7-label127"/>
          <p:cNvSpPr txBox="1"/>
          <p:nvPr/>
        </p:nvSpPr>
        <p:spPr>
          <a:xfrm>
            <a:off x="8493252" y="2719260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덮개돌</a:t>
            </a:r>
            <a:endParaRPr lang="ko-KR" sz="2200" dirty="0"/>
          </a:p>
        </p:txBody>
      </p:sp>
      <p:sp>
        <p:nvSpPr>
          <p:cNvPr id="14" name="S07-label129"/>
          <p:cNvSpPr txBox="1"/>
          <p:nvPr/>
        </p:nvSpPr>
        <p:spPr>
          <a:xfrm>
            <a:off x="8493252" y="3622781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받침돌</a:t>
            </a:r>
            <a:endParaRPr lang="ko-KR" sz="2200" dirty="0"/>
          </a:p>
        </p:txBody>
      </p:sp>
      <p:sp>
        <p:nvSpPr>
          <p:cNvPr id="15" name="S07-chip130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6" name="S07-text131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 돌칼: 곡식의 이삭을 땄어요.</a:t>
            </a:r>
            <a:endParaRPr lang="ko-KR" sz="2800" dirty="0"/>
          </a:p>
        </p:txBody>
      </p:sp>
      <p:sp>
        <p:nvSpPr>
          <p:cNvPr id="17" name="S07-chip132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8" name="S07-text133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청동 거울: 만들기 어렵고 귀했어요.</a:t>
            </a:r>
            <a:endParaRPr lang="ko-KR" sz="2800" dirty="0"/>
          </a:p>
        </p:txBody>
      </p:sp>
      <p:sp>
        <p:nvSpPr>
          <p:cNvPr id="19" name="S07-chip134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0" name="S07-text135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고인돌: 큰 돌을 올려 만든 무덤이에요.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말하면 좋을까요?</a:t>
            </a:r>
            <a:endParaRPr lang="ko-KR" sz="4000" dirty="0"/>
          </a:p>
        </p:txBody>
      </p:sp>
      <p:sp>
        <p:nvSpPr>
          <p:cNvPr id="3" name="S08-card1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뒷산의 고인돌을 보고 두 친구가 말했어요.</a:t>
            </a:r>
            <a:endParaRPr lang="ko-KR" sz="2800" dirty="0"/>
          </a:p>
        </p:txBody>
      </p:sp>
      <p:sp>
        <p:nvSpPr>
          <p:cNvPr id="5" name="S08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더 알맞을까요? 왜 그럴까요?</a:t>
            </a:r>
            <a:endParaRPr lang="ko-KR" sz="2800" dirty="0"/>
          </a:p>
        </p:txBody>
      </p:sp>
      <p:sp>
        <p:nvSpPr>
          <p:cNvPr id="7" name="S08-chip1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1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마을 사람들은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부자였어요. 틀림없어요.”</a:t>
            </a:r>
            <a:endParaRPr lang="ko-KR" sz="2800" dirty="0"/>
          </a:p>
        </p:txBody>
      </p:sp>
      <p:sp>
        <p:nvSpPr>
          <p:cNvPr id="9" name="S08-chip1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1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“큰 돌을 옮길 만큼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이끈 지배자가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있었다고 생각할 수 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고조선을 세운 이야기</a:t>
            </a:r>
            <a:endParaRPr lang="ko-KR" sz="4000" dirty="0"/>
          </a:p>
        </p:txBody>
      </p:sp>
      <p:sp>
        <p:nvSpPr>
          <p:cNvPr id="3" name="S09-card1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이야기에서 농사와 관계있는 것을 찾아봐요.</a:t>
            </a:r>
            <a:endParaRPr lang="ko-KR" sz="2800" dirty="0"/>
          </a:p>
        </p:txBody>
      </p:sp>
      <p:sp>
        <p:nvSpPr>
          <p:cNvPr id="5" name="S09-passagebox14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14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단군 이야기(『삼국유사』에 전해요)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하늘나라 환인의 아들 환웅이 사람들을 널리 이롭게 하려고 바람·비·구름을 다스리는 신하들과 땅으로 내려왔어요.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곰과 호랑이가 사람이 되고 싶어 했어요. 쑥과 마늘을 먹으며 동굴에서 끝까지 견딘 곰이 여자(웅녀)가 되었어요.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환웅과 웅녀 사이에서 태어난 단군왕검이 고조선을 세웠어요. 기원전 2333년이라고 전해져요.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이야기로 짐작하는 고조선</a:t>
            </a:r>
            <a:endParaRPr lang="ko-KR" sz="4000" dirty="0"/>
          </a:p>
        </p:txBody>
      </p:sp>
      <p:sp>
        <p:nvSpPr>
          <p:cNvPr id="3" name="S10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이야기로 보면 이렇게 생각할 수 있어요.</a:t>
            </a:r>
            <a:endParaRPr lang="ko-KR" sz="2800" dirty="0"/>
          </a:p>
        </p:txBody>
      </p:sp>
      <p:sp>
        <p:nvSpPr>
          <p:cNvPr id="4" name="S10-card14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5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고조선은 청동기 문화를 바탕으로 세워진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역사의 첫 나라예요.</a:t>
            </a:r>
            <a:endParaRPr lang="ko-KR" sz="2800" dirty="0"/>
          </a:p>
        </p:txBody>
      </p:sp>
      <p:graphicFrame>
        <p:nvGraphicFramePr>
          <p:cNvPr id="11" name="S10-table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438908"/>
          <a:ext cx="10972800" cy="914400"/>
        </p:xfrm>
        <a:graphic>
          <a:graphicData uri="http://schemas.openxmlformats.org/drawingml/2006/table">
            <a:tbl>
              <a:tblPr/>
              <a:tblGrid>
                <a:gridCol w="5047488"/>
                <a:gridCol w="592531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이야기 속 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짐작할 수 있는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바람·비·구름을 다스리는 신하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농사를 중요하게 여겼어요.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곰이 사람이 되어 환웅과 혼인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곰을 섬기던 무리와 힘을 합쳤어요.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단군왕검이 나라를 세움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제사와 정치를 이끈 지배자가 있었어요.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법으로 짐작하는 고조선</a:t>
            </a:r>
            <a:endParaRPr lang="ko-KR" sz="4000" dirty="0"/>
          </a:p>
        </p:txBody>
      </p:sp>
      <p:sp>
        <p:nvSpPr>
          <p:cNvPr id="3" name="S11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고조선에는 법이 8개 있었는데, 3개가 전해져요.</a:t>
            </a:r>
            <a:endParaRPr lang="ko-KR" sz="2800" dirty="0"/>
          </a:p>
        </p:txBody>
      </p:sp>
      <p:sp>
        <p:nvSpPr>
          <p:cNvPr id="4" name="S11-card1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1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법마다 무엇을 소중히 여겼는지 짐작해요.</a:t>
            </a:r>
            <a:endParaRPr lang="ko-KR" sz="2800" dirty="0"/>
          </a:p>
        </p:txBody>
      </p:sp>
      <p:sp>
        <p:nvSpPr>
          <p:cNvPr id="6" name="S11-chip15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1-text15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목숨을 빼앗은 사람은 사형에 처해요.</a:t>
            </a:r>
            <a:endParaRPr lang="ko-KR" sz="2800" dirty="0"/>
          </a:p>
        </p:txBody>
      </p:sp>
      <p:sp>
        <p:nvSpPr>
          <p:cNvPr id="8" name="S11-chip15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1-text15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남을 다치게 한 사람은 곡식으로 갚아요.</a:t>
            </a:r>
            <a:endParaRPr lang="ko-KR" sz="2800" dirty="0"/>
          </a:p>
        </p:txBody>
      </p:sp>
      <p:sp>
        <p:nvSpPr>
          <p:cNvPr id="10" name="S11-chip15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1-text16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물건을 훔친 사람은 노비로 삼아요.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16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16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그물추(그물 끝에 매단 돌)로 짐작할 수 있는 생활은?</a:t>
            </a:r>
            <a:endParaRPr lang="ko-KR" sz="2800" dirty="0"/>
          </a:p>
        </p:txBody>
      </p:sp>
      <p:sp>
        <p:nvSpPr>
          <p:cNvPr id="5" name="S12-chip16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16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주먹도끼, 청동 거울, 빗살무늬 토기를 오래된 차례로 놓아요.</a:t>
            </a:r>
            <a:endParaRPr lang="ko-KR" sz="2800" dirty="0"/>
          </a:p>
        </p:txBody>
      </p:sp>
      <p:sp>
        <p:nvSpPr>
          <p:cNvPr id="7" name="S12-chip16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166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고조선은 누가, 어떤 문화를 바탕으로 세웠나요?</a:t>
            </a:r>
            <a:endParaRPr lang="ko-KR" sz="2800" dirty="0"/>
          </a:p>
        </p:txBody>
      </p:sp>
      <p:sp>
        <p:nvSpPr>
          <p:cNvPr id="9" name="S12-chip167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2-text168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단군 이야기로 짐작할 수 있는 것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6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7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유물의 모습과 쓰임으로 선사 시대 생활을 짐작해요.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고조선은 청동기 문화를 바탕으로 세워진 첫 나라예요.</a:t>
            </a:r>
            <a:endParaRPr lang="ko-KR" sz="2800" dirty="0"/>
          </a:p>
        </p:txBody>
      </p:sp>
      <p:sp>
        <p:nvSpPr>
          <p:cNvPr id="5" name="S14-chip17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‘~라고 생각할 수 있어요’로 짐작</a:t>
            </a:r>
            <a:endParaRPr lang="ko-KR" sz="2200" dirty="0"/>
          </a:p>
        </p:txBody>
      </p:sp>
      <p:sp>
        <p:nvSpPr>
          <p:cNvPr id="6" name="S14-chip17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자료 없이 단정하기</a:t>
            </a:r>
            <a:endParaRPr lang="ko-KR" sz="2200" dirty="0"/>
          </a:p>
        </p:txBody>
      </p:sp>
      <p:sp>
        <p:nvSpPr>
          <p:cNvPr id="7" name="S14-text17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7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돌을 갈아 도구를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시대는?</a:t>
            </a:r>
            <a:endParaRPr lang="ko-KR" sz="2200" dirty="0"/>
          </a:p>
        </p:txBody>
      </p:sp>
      <p:sp>
        <p:nvSpPr>
          <p:cNvPr id="9" name="S14-text17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고인돌로 짐작할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있는 것은?</a:t>
            </a:r>
            <a:endParaRPr lang="ko-KR" sz="2200" dirty="0"/>
          </a:p>
        </p:txBody>
      </p:sp>
      <p:sp>
        <p:nvSpPr>
          <p:cNvPr id="10" name="S14-text17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고조선을 세웠다고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전해지는 사람은?</a:t>
            </a:r>
            <a:endParaRPr lang="ko-KR" sz="2200" dirty="0"/>
          </a:p>
        </p:txBody>
      </p:sp>
      <p:sp>
        <p:nvSpPr>
          <p:cNvPr id="11" name="S14-text17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삼국과 남북국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물건으로 생활 짐작하기</a:t>
            </a:r>
            <a:endParaRPr lang="ko-KR" sz="4000" dirty="0"/>
          </a:p>
        </p:txBody>
      </p:sp>
      <p:sp>
        <p:nvSpPr>
          <p:cNvPr id="3" name="S15-text1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물건으로 연습해요.</a:t>
            </a:r>
            <a:endParaRPr lang="ko-KR" sz="2800" dirty="0"/>
          </a:p>
        </p:txBody>
      </p:sp>
      <p:sp>
        <p:nvSpPr>
          <p:cNvPr id="4" name="S15-card1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물건의 쓰임을 알면 그 물건을 쓴 사람의 생활이 보여요.</a:t>
            </a:r>
            <a:endParaRPr lang="ko-KR" sz="2800" dirty="0"/>
          </a:p>
        </p:txBody>
      </p:sp>
      <p:graphicFrame>
        <p:nvGraphicFramePr>
          <p:cNvPr id="15" name="S15-table1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541016"/>
          <a:ext cx="10607040" cy="914400"/>
        </p:xfrm>
        <a:graphic>
          <a:graphicData uri="http://schemas.openxmlformats.org/drawingml/2006/table">
            <a:tbl>
              <a:tblPr/>
              <a:tblGrid>
                <a:gridCol w="2545690"/>
                <a:gridCol w="4030675"/>
                <a:gridCol w="4030675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쓰임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짐작한 생활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책가방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책을 넣어 다녀요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학교에 다녀요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낚싯대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물고기를 낚아요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낚시를 즐겨요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털장갑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손을 따뜻하게 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추운 겨울이 있어요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선사 시대와 고조선</dc:title>
  <dc:subject>KR22-G05-SOC-PREHIST-L01</dc:subject>
  <dc:creator>education-ppt</dc:creator>
  <cp:lastModifiedBy>education-ppt</cp:lastModifiedBy>
  <cp:revision>1</cp:revision>
  <dcterms:created xsi:type="dcterms:W3CDTF">2026-10-26T13:08:32Z</dcterms:created>
  <dcterms:modified xsi:type="dcterms:W3CDTF">2026-10-26T13:08:32Z</dcterms:modified>
</cp:coreProperties>
</file>