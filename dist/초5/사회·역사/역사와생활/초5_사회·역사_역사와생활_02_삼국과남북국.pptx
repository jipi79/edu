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7273261d-69ae-f931-eb8c-4049fb6be822}">
          <p14:sldIdLst>
            <p14:sldId id="256"/>
            <p14:sldId id="257"/>
          </p14:sldIdLst>
        </p14:section>
        <p14:section name="개념" id="{cd785392-de70-f801-ff98-099d8dcf68ac}">
          <p14:sldIdLst>
            <p14:sldId id="258"/>
            <p14:sldId id="259"/>
            <p14:sldId id="260"/>
            <p14:sldId id="262"/>
            <p14:sldId id="263"/>
          </p14:sldIdLst>
        </p14:section>
        <p14:section name="연습" id="{5d7d855c-67d3-d939-08f4-8b70bd5eb27a}">
          <p14:sldIdLst>
            <p14:sldId id="261"/>
            <p14:sldId id="264"/>
            <p14:sldId id="265"/>
          </p14:sldIdLst>
        </p14:section>
        <p14:section name="개념" id="{696cb286-fc65-2f4b-8c70-4df21e738229}">
          <p14:sldIdLst/>
        </p14:section>
        <p14:section name="연습" id="{b1285ff5-1fd3-fdae-06aa-124da8f2827d}">
          <p14:sldIdLst/>
        </p14:section>
        <p14:section name="확인" id="{5c84c52b-e549-4621-9a16-82db1e25a57f}">
          <p14:sldIdLst>
            <p14:sldId id="266"/>
            <p14:sldId id="267"/>
          </p14:sldIdLst>
        </p14:section>
        <p14:section name="정리" id="{5fbd87aa-1f45-e45e-c6d6-c167b43f4e74}">
          <p14:sldIdLst>
            <p14:sldId id="268"/>
          </p14:sldIdLst>
        </p14:section>
        <p14:section name="보충" id="{07924bf6-f9fc-a9ca-8881-6891e7df8490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지난 시간처럼 문화유산을 근거로 옛사람들의 생활을 짐작한다는 것을 떠올리게 합니다.
시간: 약 2분
이렇게 말해 보세요
- “지난 시간에 우리 역사의 첫 나라 고조선을 배웠지? 고조선 뒤에 여러 나라가 생겼고, 그중 세 나라가 크게 자랐어.”
- “오늘은 세 나라가 남긴 문화유산으로 그 나라 사람들의 생활을 짐작해 보고, 세 나라가 어떻게 하나로 합쳐졌는지 알아볼 거야.”
예상 답
- “고구려, 백제, 신라요.” “주몽 이야기를 들어 봤어요.”
막히면
- 아는 것이 없어도 괜찮다고 말하고, “경주에 가 본 적 있어? 경주는 신라의 서울이었어.”처럼 가까운 경험에서 시작합니다.
주의
- 표지 오른쪽 그림은 신라의 첨성대를 간단히 그린 것입니다. S06에서 다시 봅니다. 실제 모양을 정확히 옮긴 그림은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확인(선사 시대와 고조선)]
목적: 지난 차시 ‘선사 시대와 고조선’(KR22-G05-SOC-PREHIST-L01)의 핵심과, 유물로 생활을 짐작하는 세 단계를 기억하는지 확인합니다.
시간: 약 3분
이렇게 말해 보세요
- “지난 시간에 배운 것을 세 가지 물어볼게. 기억나는 대로 말해 줘.”
정답
- ① 단군왕검
- ② 큰 돌을 옮길 많은 사람을 이끈 힘센 지배자가 있었다(고 생각할 수 있다).
- ③ 모습 → 쓰임 → 생활
막히면
- ③을 어려워하면 “주먹도끼를 보고 무엇부터 살폈지?”라고 묻습니다.
- 세 문제 가운데 두 개 이상 어려워하면 S14(보충)를 먼저 합니다. 보충으로도 어려우면 앞 차시 ‘선사 시대와 고조선’(KR22-G05-SOC-PREHIST-L01)을 다시 합니다.
주의
- ②는 ‘~라고 생각할 수 있어요’처럼 짐작으로 말하면 더 좋습니다. 오늘도 같은 말투를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삼국과 가야를 세운 사람과 자리]
목적: 삼국과 가야를 세운 사람과 대략의 자리를 알려 주어, 뒤에서 문화유산을 나라와 짝지을 바탕을 만듭니다(목표 A, 오해 M3).
시간: 약 3분
이렇게 말해 보세요
- “고조선이 무너진 뒤 여러 나라가 생겼어. 그중 고구려, 백제, 신라 세 나라가 크게 자랐어. 그래서 이때를 ‘삼국 시대’라고 해.”
- “남쪽 낙동강 가에는 가야도 있었어. 가야는 작은 나라 여럿이 모인 연맹이었고, 나중에 신라에 합쳐졌어.”
- “세 나라 가운데 가장 북쪽에 있던 나라는? 한강 부근에 자리 잡은 나라는?”
예상 답
- “고구려요.” “백제요.”
막히면
- 표의 ‘자리 잡은 곳’ 칸만 손으로 짚으며 북쪽 → 가운데 → 동남쪽 차례로 읽어 줍니다.
주의
- 세운 사람의 이야기(주몽이 알에서 태어난 이야기 등)는 건국 이야기입니다. 고조선의 단군 이야기처럼 그대로 일어난 일이라기보다 그때 사람들의 생각이 담긴 이야기라고 말해 줍니다.
- 김수로는 가야 여러 나라 가운데 금관가야를 세웠다고 전해집니다. 나라의 자리는 대략적인 것이며, 세 나라의 땅은 시대에 따라 넓어지기도 줄어들기도 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시범(고구려 고분 벽화로 짐작하기)]
목적: 지난 시간의 세 단계(모습 → 쓰임·뜻 → 생활)를 문화유산에 그대로 써서 짐작하는 방법을 부모가 소리 내어 보여 줍니다(목표 A, 오해 M2).
시간: 약 3분
이렇게 말해 보세요
- “고구려 사람들은 무덤 안 벽과 천장에 그림을 그렸어. 이걸 고분 벽화라고 해. 어떤 벽화에는 사람들이 말을 달리면서 몸을 뒤로 돌려 활을 쏘는 모습이 있어.”
- “이 그림은 무덤 주인이 살았을 때의 생활을 그렸다고 봐. 그러니까 자료로 보면 고구려 사람들은 말을 잘 타고 활을 잘 쏘았다고 생각할 수 있어.”
- “다른 벽화에는 여러 사람이 줄지어 춤추는 모습도 있어. 이걸로는 무엇을 짐작할 수 있을까?”
예상 답
- “춤과 노래를 즐겼어요.”
막히면
- “네가 그림일기에 그리는 건 무엇이야? 네가 한 일이지? 무덤 주인도 자기가 한 일을 그려 달라고 했을 거야.”라고 이어 줍니다.
주의
- 벽화는 사진 없이 말로 설명합니다. 아이가 궁금해하면 함께 박물관이나 박물관 누리집에서 고분 벽화 자료를 찾아봅니다(활동지 5, 선택).
- ‘씩씩한 기상’은 학자들이 벽화와 기록을 보고 내린 풀이입니다.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백제 금동 대향로와 신라 금관으로 짐작하기]
목적: 백제와 신라의 대표 문화유산으로 그 나라의 솜씨와 사회 모습을 짐작하는 예를 보여 줍니다(목표 A).
시간: 약 3분
이렇게 말해 보세요
- “백제 금동 대향로는 향을 피우던 그릇이야. 구리로 만들고 금을 입혔어. 뚜껑에는 산봉우리가 겹겹이 있고, 그 사이에 사람과 동물이 아주 작고 섬세하게 새겨져 있어. 맨 위에는 봉황이, 받침에는 용이 있어.”
- “신라 금관은 금으로 만든 관이야. 나뭇가지와 사슴뿔 모양 장식이 솟아 있고, 작은 금 장식과 옥이 달려 있어. 이렇게 화려한 관을 누가 썼을까?”
예상 답
- “왕이요.” “아주 부자인 사람이요.”
막히면
- “이렇게 작고 섬세하게 만들려면 어떤 솜씨가 필요할까?”라고 묻습니다.
주의
- 금동 대향로는 부여의 옛 절터에서, 신라 금관은 경주의 큰 무덤들에서 발견되었습니다.
- ‘왕의 힘이 컸다’도 문화유산을 보고 한 짐작입니다. 아이가 ‘신라 사람들은 모두 금을 썼다’고 하면 지난 시간 S08처럼 “자료로 알 수 있는 것은 어디까지일까?”라고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안내받는 연습(첨성대, 가야의 철, 백제의 교류)]
목적: 세 나라와 가야의 자료로 생활과 솜씨를 아이가 직접 짐작해 봅니다(목표 A, 오해 M3).
시간: 약 4분
이렇게 말해 보세요
- “①, 첨성대는 신라 선덕 여왕 때 돌을 쌓아 만든 건물이야. 하늘의 해와 달, 별을 살피던 곳이라고 해. 옛날 사람들은 왜 하늘을 살폈을까? 농사와 이어서 생각해 봐.”
- “②, 덩이쇠는 쇠를 납작한 덩어리로 만든 거야. 다른 나라와 물건을 바꿀 때 돈처럼 쓰기도 했어. 철 갑옷과 덩이쇠가 많이 나왔다면 가야는 어떤 나라였을까?”
- “③, 백제가 일본에 글과 기술을 전했다면 무엇을 짐작할 수 있을까?”
정답
- ① 날씨와 계절의 변화를 알아 농사짓는 데 쓰려고 하늘을 살폈다고 생각할 수 있어요.
- ② 철이 많이 났고 철을 다루는 기술이 뛰어났다, 덩이쇠로 다른 나라와 물건을 사고팔았다(교류했다)고 생각할 수 있어요.
- ③ 백제의 학문과 기술이 발달했고, 이웃 나라와 활발히 교류했다고 생각할 수 있어요.
- 기준: 자료를 근거로 생활이나 솜씨를 짐작하면 맞음
막히면
- ①은 “씨를 언제 뿌릴지 어떻게 알았을까? 달력이 없다면?”이라고 묻습니다.
주의
- 첨성대를 천문 관측대로 보는 것이 널리 알려진 풀이이며, 교과서도 그렇게 설명합니다. ‘~라고 해요’로 말합니다.
- 여기까지가 삼국의 문화 부분입니다. 아이가 지치면 여기서 나누어 다음 날 S07부터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삼국 통일과 남북국 시대의 차례]
목적: 신라의 삼국 통일 과정과 남북국 시대를 시간 띠로 차례 짓습니다(목표 B).
시간: 약 3분
이렇게 말해 보세요
- “세 나라는 땅을 넓히려고 서로 다투기도 했어. 신라는 당나라와 손을 잡고 먼저 백제를, 그다음 고구려를 무너뜨렸어.”
- “그런데 당나라는 그 땅을 자기 것으로 하려고 했어. 그래서 신라는 당나라 군대와 싸워 몰아내고 삼국을 하나로 합쳤어. 이걸 신라의 삼국 통일이라고 해.”
- “백제와 고구려 가운데 먼저 무너진 나라는?”
예상 답
- “백제요.”
막히면
- 시간 띠의 점을 왼쪽부터 손가락으로 짚으며 함께 읽습니다.
주의
- 통일에 힘쓴 사람으로 김춘추(태종 무열왕)와 김유신이 널리 알려져 있습니다(궁금해하면 알려 주는 정도로).
- 정확한 연도는 다루지 않고 차례만 익힙니다. 전쟁 장면은 자세히 말하지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남북국 시대의 두 나라(통일 신라와 발해)]
목적: 통일 신라와 발해가 남과 북에 함께 있었던 남북국 시대를 알고, 두 나라의 대표 문화를 견줍니다(목표 B, 오해 M1).
시간: 약 3분
이렇게 말해 보세요
- “통일 신라는 경주를 중심으로 불교문화가 꽃피었어. 불국사라는 절과, 돌을 다듬어 쌓은 굴 안에 부처를 모신 석굴암이 이때 만들어졌어.”
- “고구려가 무너지고 얼마 뒤, 고구려의 장수였던 대조영이 고구려 사람들과 말갈 사람들을 이끌고 북쪽에 발해를 세웠어. 발해는 크게 발전해서 ‘바다 동쪽의 번성한 나라(해동성국)’라고 불렸어.”
- “그럼 왜 이때를 ‘남북국 시대’라고 부를까?”
예상 답
- “남쪽 나라와 북쪽 나라가 함께 있어서요.”
막히면
- “남쪽에 있던 나라는? 북쪽에 있던 나라는? 둘을 합쳐 부르면?”이라고 나누어 묻습니다.
주의
- 불국사와 석굴암은 유네스코 세계 유산입니다.
- 말갈은 그때 만주 지역에 살던 사람들입니다. 발해 사람 가운데 고구려 사람과 말갈 사람이 함께 있었다는 정도만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연습(자료로 발해와 고구려의 관계 짐작하기)]
목적: 여러 자료를 근거로 발해가 고구려를 이은 나라라고 짐작하고 설명합니다(목표 B, 오해 M4).
시간: 약 3분
이렇게 말해 보세요
- “①의 ‘고려’는 그때 고구려를 가리키던 이름이야. 나중에 왕건이 세운 고려와는 다른 거야.”
- “세 자료를 함께 보면 발해는 어느 나라를 이었다고 생각할 수 있을까? 어떤 자료가 그렇게 생각하게 했어?”
정답
- 발해는 고구려를 이은 나라라고 생각할 수 있어요.
- 근거: ① 스스로 고구려(고려)의 왕이라고 했어요. ② 고구려처럼 온돌을 썼어요. ③ 기와의 무늬가 고구려와 닮았어요.
- 기준: 짐작과 근거 한 가지 이상을 함께 말하면 맞음
막히면
- “고구려 사람들이 세운 나라라면 생활 모습이 어떨까? 고구려와 닮았을까, 아주 다를까?”라고 묻습니다.
주의
- ‘고려’를 다음 차시의 고려(왕건)와 헷갈리지 않게 짚어 줍니다(오해 M4).
- 온돌은 오늘날 우리 집 바닥 난방과 이어지는 생활 방식이라고 덧붙여도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오해 비교(통일 뒤 고구려의 옛 땅)]
목적: 삼국 통일이 고구려의 옛 땅 전체를 합친 것이 아니었고, 북쪽에 발해가 세워졌음을 확인합니다(목표 B, 오해 M1).
시간: 약 3분
이렇게 말해 보세요
- “S08에서 북쪽에 어떤 나라가 있었지? 그 나라는 어디에 세워졌을까?”
- “신라의 통일은 세 나라를 하나로 합쳤다는 점에서 뜻이 커. 하지만 다른 나라(당)의 힘을 빌렸고 고구려의 북쪽 땅을 차지하지 못한 점을 아쉽게 보는 사람도 있어. 너는 어떻게 생각해?”
정답
- 나. 고구려가 무너진 뒤 그 북쪽 땅에 발해가 세워져 통일 신라와 함께 있었기 때문이에요(남북국 시대라는 이름도 근거).
- 가는 발해를 빠뜨렸어요.
막히면
- S07의 시간 띠 마지막 칸 ‘통일 신라와 발해’를 다시 보여 줍니다.
주의
- 통일의 의미를 묻는 마지막 질문은 정답이 하나가 아닙니다. 까닭을 말하면 받아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 보기(처음 보는 자료, 차례 놓기, 남북국)]
목적: 처음 보는 자료로 생활을 짐작하고, 통일 과정을 차례로 놓고, 남북국 시대를 말하는지 도움 없이 확인합니다(목표 A·B).
시간: 약 5분
이렇게 말해 보세요
- “이번에는 혼자 해 볼래? ②는 종이 카드 세 장에 하나씩 써서 오래된 것부터 왼쪽에 놓아 봐.”
- “④의 석굴암은 돌을 다듬어 쌓은 굴 안에 부처를 모신 곳이야. 무엇을 짐작할 수 있을까? 다 하면 까닭을 말해 줘.”
정답
- ① 씨름 같은 놀이를 즐겼다, 힘과 몸을 단련했다고 생각할 수 있어요.
- ② 백제가 무너짐 → 고구려가 무너짐 → 남북국 시대
- ③ 통일 신라와 발해
- ④ 불교를 믿었다, 돌을 다루는 기술이 뛰어났다고 생각할 수 있어요.
- 기준: ①④는 자료를 근거로 짐작하면 맞음. 네 문제 가운데 세 개 이상이면 목표를 이룬 것으로 봅니다.
막히면
- 바로 알려 주지 말고 ①은 “벽화에는 무엇을 그렸다고 했지?”, ②는 “S07의 시간 띠를 떠올려 봐.”라고만 묻습니다.
- 도움을 받아 해결했다면 기록표에 ‘도움’으로 표시합니다.
주의
- ③에서 ‘신라’라고만 하면 “통일 뒤의 신라라서 무엇이라고 부르지?”라고 묻습니다. 발해를 빠뜨리면 오해 M1이 남아 있는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S11의 답을 확인하고 흔한 실수와 견줍니다.
시간: 약 2분
이렇게 말해 보세요
- “네 답과 왼쪽을 견주어 보자. 오른쪽 실수는 왜 생겼을까?”
예상 답
- “발해를 잊었어요.” “백제가 먼저였어요.”
정답
- ① 씨름을 즐겼다(힘을 길렀다) ② 백제가 무너짐 → 고구려가 무너짐 → 남북국 시대 ③ 통일 신라와 발해 ④ 불교를 믿었다(돌을 다루는 기술이 뛰어났다)
막히면
- ②③이 틀렸다면 S07과 S08을, ①④가 근거 없이 짧았다면 S04의 세 단계를 다시 봅니다.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다음 학습과 복습]
목적: 핵심을 정리하고 다음 수업 첫 5분에 풀 복습 질문을 알려 줍니다.
시간: 약 2분
이렇게 말해 보세요
- “오늘 배운 시대를 차례로 말해 볼래? 삼국 시대 다음은?”
예상 답
- “삼국 시대, 삼국 통일, 남북국 시대요.”
정답
- ① 말 타기와 활쏘기를 잘했다(씩씩한 기상) ② 신라 ③ 발해
막히면
- S07의 시간 띠를 다시 보여 줍니다.
주의
- 경주(신라)·부여와 공주(백제)에 갈 기회가 있으면 오늘 배운 문화유산을 직접 찾아보게 합니다(선택).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보충(선사 시대·고조선 자료로 짐작하기 다시 보기)]
목적: S02에서 지난 차시 내용이나 짐작하는 방법을 어려워하면, 지난 차시의 자료로 ‘모습 → 쓰임 → 생활’을 다시 익힙니다.
시간: 약 4분
이렇게 말해 보세요
- “표를 같이 읽어 보자. 고인돌은 아주 큰 돌로 만든 무덤이었지? 그래서 무엇을 짐작했지?”
- “이번에는 표를 가리고 말해 볼래? 빗살무늬 토기로는 무엇을 짐작할 수 있었지?”
정답
- 고인돌 → 많은 사람을 이끈 힘센 지배자가 있었다 / 빗살무늬 토기 → 농사를 지어 곡식을 저장했다 / 단군 이야기 → 농사를 중요하게 여겼다
막히면
- S02 ③의 세 단계를 손가락 세 개로 짚으며 “모습, 쓰임, 생활”을 함께 말합니다.
주의
- 이 차시의 계획상 선수 차시는 ‘선사 시대와 고조선’(KR22-G05-SOC-PREHIST-L01)입니다. 보충 뒤에도 어려우면 그 차시의 S04~S08을 다시 하고 오늘 수업은 다음 날 S02부터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역사와생활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삼국과 남북국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삼국과 남북국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사회·역사 · 삼국과 남북국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삼국과 남북국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나라 사람들은 어떻게 살았고,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하나로 합쳐졌을까?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첨성대: 네모난 받침 위에 돌을 둥글게 쌓아 올린 병 모양 건물. 가운데에 네모난 창이 있고 맨 위에 네모난 틀이 있다"/>
          <p:cNvSpPr/>
          <p:nvPr/>
        </p:nvSpPr>
        <p:spPr>
          <a:xfrm>
            <a:off x="8661763" y="3334566"/>
            <a:ext cx="1970314" cy="147774"/>
          </a:xfrm>
          <a:custGeom>
            <a:avLst/>
            <a:gdLst/>
            <a:ahLst/>
            <a:cxnLst/>
            <a:rect l="l" t="t" r="r" b="b"/>
            <a:pathLst>
              <a:path w="1970314" h="147774">
                <a:moveTo>
                  <a:pt x="0" y="147774"/>
                </a:moveTo>
                <a:lnTo>
                  <a:pt x="1970314" y="147774"/>
                </a:lnTo>
                <a:lnTo>
                  <a:pt x="1970314" y="0"/>
                </a:lnTo>
                <a:lnTo>
                  <a:pt x="0" y="0"/>
                </a:lnTo>
                <a:close/>
              </a:path>
            </a:pathLst>
          </a:custGeom>
          <a:solidFill>
            <a:srgbClr val="C9BFA8"/>
          </a:solidFill>
          <a:ln w="19050">
            <a:solidFill>
              <a:srgbClr val="6B6150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8735650" y="3186793"/>
            <a:ext cx="1822541" cy="147774"/>
          </a:xfrm>
          <a:custGeom>
            <a:avLst/>
            <a:gdLst/>
            <a:ahLst/>
            <a:cxnLst/>
            <a:rect l="l" t="t" r="r" b="b"/>
            <a:pathLst>
              <a:path w="1822541" h="147774">
                <a:moveTo>
                  <a:pt x="0" y="147774"/>
                </a:moveTo>
                <a:lnTo>
                  <a:pt x="1822541" y="147774"/>
                </a:lnTo>
                <a:lnTo>
                  <a:pt x="1822541" y="0"/>
                </a:lnTo>
                <a:lnTo>
                  <a:pt x="0" y="0"/>
                </a:lnTo>
                <a:close/>
              </a:path>
            </a:pathLst>
          </a:custGeom>
          <a:solidFill>
            <a:srgbClr val="C9BFA8"/>
          </a:solidFill>
          <a:ln w="19050">
            <a:solidFill>
              <a:srgbClr val="6B6150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8809536" y="1019447"/>
            <a:ext cx="1674767" cy="2167346"/>
          </a:xfrm>
          <a:custGeom>
            <a:avLst/>
            <a:gdLst/>
            <a:ahLst/>
            <a:cxnLst/>
            <a:rect l="l" t="t" r="r" b="b"/>
            <a:pathLst>
              <a:path w="1674767" h="2167346">
                <a:moveTo>
                  <a:pt x="1674767" y="2167346"/>
                </a:moveTo>
                <a:lnTo>
                  <a:pt x="1632898" y="2031887"/>
                </a:lnTo>
                <a:lnTo>
                  <a:pt x="1593984" y="1896428"/>
                </a:lnTo>
                <a:lnTo>
                  <a:pt x="1557533" y="1760968"/>
                </a:lnTo>
                <a:lnTo>
                  <a:pt x="1524038" y="1625509"/>
                </a:lnTo>
                <a:lnTo>
                  <a:pt x="1493006" y="1490050"/>
                </a:lnTo>
                <a:lnTo>
                  <a:pt x="1464436" y="1354591"/>
                </a:lnTo>
                <a:lnTo>
                  <a:pt x="1438822" y="1219132"/>
                </a:lnTo>
                <a:lnTo>
                  <a:pt x="1416163" y="1083673"/>
                </a:lnTo>
                <a:lnTo>
                  <a:pt x="1395968" y="948214"/>
                </a:lnTo>
                <a:lnTo>
                  <a:pt x="1378235" y="812755"/>
                </a:lnTo>
                <a:lnTo>
                  <a:pt x="1363457" y="677296"/>
                </a:lnTo>
                <a:lnTo>
                  <a:pt x="1351636" y="541836"/>
                </a:lnTo>
                <a:lnTo>
                  <a:pt x="1342277" y="406377"/>
                </a:lnTo>
                <a:lnTo>
                  <a:pt x="1335381" y="270918"/>
                </a:lnTo>
                <a:lnTo>
                  <a:pt x="1331440" y="135459"/>
                </a:lnTo>
                <a:lnTo>
                  <a:pt x="1329962" y="0"/>
                </a:lnTo>
                <a:lnTo>
                  <a:pt x="344805" y="0"/>
                </a:lnTo>
                <a:lnTo>
                  <a:pt x="343327" y="135459"/>
                </a:lnTo>
                <a:lnTo>
                  <a:pt x="339387" y="270918"/>
                </a:lnTo>
                <a:lnTo>
                  <a:pt x="332491" y="406377"/>
                </a:lnTo>
                <a:lnTo>
                  <a:pt x="323132" y="541836"/>
                </a:lnTo>
                <a:lnTo>
                  <a:pt x="311310" y="677296"/>
                </a:lnTo>
                <a:lnTo>
                  <a:pt x="296532" y="812755"/>
                </a:lnTo>
                <a:lnTo>
                  <a:pt x="278799" y="948214"/>
                </a:lnTo>
                <a:lnTo>
                  <a:pt x="258604" y="1083673"/>
                </a:lnTo>
                <a:lnTo>
                  <a:pt x="235945" y="1219132"/>
                </a:lnTo>
                <a:lnTo>
                  <a:pt x="210331" y="1354591"/>
                </a:lnTo>
                <a:lnTo>
                  <a:pt x="181761" y="1490050"/>
                </a:lnTo>
                <a:lnTo>
                  <a:pt x="150729" y="1625509"/>
                </a:lnTo>
                <a:lnTo>
                  <a:pt x="117234" y="1760968"/>
                </a:lnTo>
                <a:lnTo>
                  <a:pt x="80783" y="1896428"/>
                </a:lnTo>
                <a:lnTo>
                  <a:pt x="41869" y="2031887"/>
                </a:lnTo>
                <a:lnTo>
                  <a:pt x="0" y="2167346"/>
                </a:lnTo>
                <a:close/>
              </a:path>
            </a:pathLst>
          </a:custGeom>
          <a:solidFill>
            <a:srgbClr val="DCCFB3"/>
          </a:solidFill>
          <a:ln w="25400">
            <a:solidFill>
              <a:srgbClr val="6B6150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9055826" y="871674"/>
            <a:ext cx="1182189" cy="147774"/>
          </a:xfrm>
          <a:custGeom>
            <a:avLst/>
            <a:gdLst/>
            <a:ahLst/>
            <a:cxnLst/>
            <a:rect l="l" t="t" r="r" b="b"/>
            <a:pathLst>
              <a:path w="1182189" h="147774">
                <a:moveTo>
                  <a:pt x="0" y="147774"/>
                </a:moveTo>
                <a:lnTo>
                  <a:pt x="1182189" y="147774"/>
                </a:lnTo>
                <a:lnTo>
                  <a:pt x="1182189" y="0"/>
                </a:lnTo>
                <a:lnTo>
                  <a:pt x="0" y="0"/>
                </a:lnTo>
                <a:close/>
              </a:path>
            </a:pathLst>
          </a:custGeom>
          <a:solidFill>
            <a:srgbClr val="C9BFA8"/>
          </a:solidFill>
          <a:ln w="19050">
            <a:solidFill>
              <a:srgbClr val="6B6150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>
            <a:off x="9055826" y="723900"/>
            <a:ext cx="1182189" cy="147774"/>
          </a:xfrm>
          <a:custGeom>
            <a:avLst/>
            <a:gdLst/>
            <a:ahLst/>
            <a:cxnLst/>
            <a:rect l="l" t="t" r="r" b="b"/>
            <a:pathLst>
              <a:path w="1182189" h="147774">
                <a:moveTo>
                  <a:pt x="0" y="147774"/>
                </a:moveTo>
                <a:lnTo>
                  <a:pt x="1182189" y="147774"/>
                </a:lnTo>
                <a:lnTo>
                  <a:pt x="1182189" y="0"/>
                </a:lnTo>
                <a:lnTo>
                  <a:pt x="0" y="0"/>
                </a:lnTo>
                <a:close/>
              </a:path>
            </a:pathLst>
          </a:custGeom>
          <a:solidFill>
            <a:srgbClr val="C9BFA8"/>
          </a:solidFill>
          <a:ln w="19050">
            <a:solidFill>
              <a:srgbClr val="6B6150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>
            <a:off x="9489295" y="1979975"/>
            <a:ext cx="315250" cy="295547"/>
          </a:xfrm>
          <a:custGeom>
            <a:avLst/>
            <a:gdLst/>
            <a:ahLst/>
            <a:cxnLst/>
            <a:rect l="l" t="t" r="r" b="b"/>
            <a:pathLst>
              <a:path w="315250" h="295547">
                <a:moveTo>
                  <a:pt x="0" y="295547"/>
                </a:moveTo>
                <a:lnTo>
                  <a:pt x="315250" y="295547"/>
                </a:lnTo>
                <a:lnTo>
                  <a:pt x="31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4A4033"/>
          </a:solidFill>
          <a:ln w="12700">
            <a:solidFill>
              <a:srgbClr val="4A4033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>
            <a:off x="8869138" y="2989761"/>
            <a:ext cx="1555563" cy="0"/>
          </a:xfrm>
          <a:prstGeom prst="line">
            <a:avLst/>
          </a:prstGeom>
          <a:noFill/>
          <a:ln w="12700">
            <a:solidFill>
              <a:srgbClr val="9C8F75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>
            <a:off x="8923322" y="2792730"/>
            <a:ext cx="1447196" cy="0"/>
          </a:xfrm>
          <a:prstGeom prst="line">
            <a:avLst/>
          </a:prstGeom>
          <a:noFill/>
          <a:ln w="12700">
            <a:solidFill>
              <a:srgbClr val="9C8F75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>
            <a:off x="8972087" y="2595699"/>
            <a:ext cx="1349665" cy="0"/>
          </a:xfrm>
          <a:prstGeom prst="line">
            <a:avLst/>
          </a:prstGeom>
          <a:noFill/>
          <a:ln w="12700">
            <a:solidFill>
              <a:srgbClr val="9C8F75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>
            <a:off x="9014942" y="2398667"/>
            <a:ext cx="1263957" cy="0"/>
          </a:xfrm>
          <a:prstGeom prst="line">
            <a:avLst/>
          </a:prstGeom>
          <a:noFill/>
          <a:ln w="12700">
            <a:solidFill>
              <a:srgbClr val="9C8F75"/>
            </a:solidFill>
            <a:prstDash val="solid"/>
          </a:ln>
        </p:spPr>
      </p:sp>
      <p:sp>
        <p:nvSpPr>
          <p:cNvPr id="15" name="S01-mark12"/>
          <p:cNvSpPr/>
          <p:nvPr/>
        </p:nvSpPr>
        <p:spPr>
          <a:xfrm>
            <a:off x="9108532" y="1807573"/>
            <a:ext cx="1076777" cy="0"/>
          </a:xfrm>
          <a:prstGeom prst="line">
            <a:avLst/>
          </a:prstGeom>
          <a:noFill/>
          <a:ln w="12700">
            <a:solidFill>
              <a:srgbClr val="9C8F75"/>
            </a:solidFill>
            <a:prstDash val="solid"/>
          </a:ln>
        </p:spPr>
      </p:sp>
      <p:sp>
        <p:nvSpPr>
          <p:cNvPr id="16" name="S01-mark13"/>
          <p:cNvSpPr/>
          <p:nvPr/>
        </p:nvSpPr>
        <p:spPr>
          <a:xfrm>
            <a:off x="9128727" y="1610541"/>
            <a:ext cx="1036385" cy="0"/>
          </a:xfrm>
          <a:prstGeom prst="line">
            <a:avLst/>
          </a:prstGeom>
          <a:noFill/>
          <a:ln w="12700">
            <a:solidFill>
              <a:srgbClr val="9C8F75"/>
            </a:solidFill>
            <a:prstDash val="solid"/>
          </a:ln>
        </p:spPr>
      </p:sp>
      <p:sp>
        <p:nvSpPr>
          <p:cNvPr id="17" name="S01-mark14"/>
          <p:cNvSpPr/>
          <p:nvPr/>
        </p:nvSpPr>
        <p:spPr>
          <a:xfrm>
            <a:off x="9143012" y="1413510"/>
            <a:ext cx="1007816" cy="0"/>
          </a:xfrm>
          <a:prstGeom prst="line">
            <a:avLst/>
          </a:prstGeom>
          <a:noFill/>
          <a:ln w="12700">
            <a:solidFill>
              <a:srgbClr val="9C8F75"/>
            </a:solidFill>
            <a:prstDash val="solid"/>
          </a:ln>
        </p:spPr>
      </p:sp>
      <p:sp>
        <p:nvSpPr>
          <p:cNvPr id="18" name="S01-mark15"/>
          <p:cNvSpPr/>
          <p:nvPr/>
        </p:nvSpPr>
        <p:spPr>
          <a:xfrm>
            <a:off x="9151386" y="1216479"/>
            <a:ext cx="991068" cy="0"/>
          </a:xfrm>
          <a:prstGeom prst="line">
            <a:avLst/>
          </a:prstGeom>
          <a:noFill/>
          <a:ln w="12700">
            <a:solidFill>
              <a:srgbClr val="9C8F75"/>
            </a:solidFill>
            <a:prstDash val="solid"/>
          </a:ln>
        </p:spPr>
      </p:sp>
      <p:sp>
        <p:nvSpPr>
          <p:cNvPr id="19" name="S01-card16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20" name="S01-cardtext17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문화유산을 보고 삼국 사람들의 생활을 짐작해요.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삼국 통일과 남북국 시대를 차례대로 말해요.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떠올리기</a:t>
            </a:r>
            <a:endParaRPr lang="ko-KR" sz="4000" dirty="0"/>
          </a:p>
        </p:txBody>
      </p:sp>
      <p:sp>
        <p:nvSpPr>
          <p:cNvPr id="3" name="S02-chip18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19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고조선을 세웠다고 전해지는 사람은?</a:t>
            </a:r>
            <a:endParaRPr lang="ko-KR" sz="2800" dirty="0"/>
          </a:p>
        </p:txBody>
      </p:sp>
      <p:sp>
        <p:nvSpPr>
          <p:cNvPr id="5" name="S02-chip20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21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고인돌로 짐작할 수 있는 것은?</a:t>
            </a:r>
            <a:endParaRPr lang="ko-KR" sz="2800" dirty="0"/>
          </a:p>
        </p:txBody>
      </p:sp>
      <p:sp>
        <p:nvSpPr>
          <p:cNvPr id="7" name="S02-chip22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23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유물로 생활을 짐작할 때 살펴보는 세 가지는?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나라와 가야</a:t>
            </a:r>
            <a:endParaRPr lang="ko-KR" sz="4000" dirty="0"/>
          </a:p>
        </p:txBody>
      </p:sp>
      <p:sp>
        <p:nvSpPr>
          <p:cNvPr id="3" name="S03-text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고조선 뒤에 여러 나라가 생겨났어요.</a:t>
            </a:r>
            <a:endParaRPr lang="ko-KR" sz="2800" dirty="0"/>
          </a:p>
        </p:txBody>
      </p:sp>
      <p:sp>
        <p:nvSpPr>
          <p:cNvPr id="4" name="S03-card25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26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고구려·백제·신라가 함께 자라던 때를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삼국 시대라고 해요.</a:t>
            </a:r>
            <a:endParaRPr lang="ko-KR" sz="2800" dirty="0"/>
          </a:p>
        </p:txBody>
      </p:sp>
      <p:graphicFrame>
        <p:nvGraphicFramePr>
          <p:cNvPr id="4" name="S03-table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198116"/>
          <a:ext cx="10058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615184"/>
                <a:gridCol w="5431536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세운 사람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자리 잡은 곳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고구려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주몽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북쪽(압록강 부근)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가운데(한강 부근)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박혁거세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동남쪽(오늘날 경주)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김수로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남쪽(낙동강 부근)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고분 벽화로 짐작하기</a:t>
            </a:r>
            <a:endParaRPr lang="ko-KR" sz="4000" dirty="0"/>
          </a:p>
        </p:txBody>
      </p:sp>
      <p:sp>
        <p:nvSpPr>
          <p:cNvPr id="3" name="S04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고구려 사람들은 씩씩하고 힘찬 기상을 지녔다고 봐요.</a:t>
            </a:r>
            <a:endParaRPr lang="ko-KR" sz="2800" dirty="0"/>
          </a:p>
        </p:txBody>
      </p:sp>
      <p:sp>
        <p:nvSpPr>
          <p:cNvPr id="5" name="S04-text30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고구려 무덤의 벽에 그린 그림(고분 벽화)</a:t>
            </a:r>
            <a:endParaRPr lang="ko-KR" sz="2800" dirty="0"/>
          </a:p>
        </p:txBody>
      </p:sp>
      <p:sp>
        <p:nvSpPr>
          <p:cNvPr id="6" name="S04-stepno31"/>
          <p:cNvSpPr txBox="1"/>
          <p:nvPr/>
        </p:nvSpPr>
        <p:spPr>
          <a:xfrm>
            <a:off x="548640" y="2875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7" name="S04-text32"/>
          <p:cNvSpPr txBox="1"/>
          <p:nvPr/>
        </p:nvSpPr>
        <p:spPr>
          <a:xfrm>
            <a:off x="1325880" y="2875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모습: 말을 달리며 활로 짐승을 사냥해요.</a:t>
            </a:r>
            <a:endParaRPr lang="ko-KR" sz="2800" dirty="0"/>
          </a:p>
        </p:txBody>
      </p:sp>
      <p:sp>
        <p:nvSpPr>
          <p:cNvPr id="8" name="S04-stepno33"/>
          <p:cNvSpPr txBox="1"/>
          <p:nvPr/>
        </p:nvSpPr>
        <p:spPr>
          <a:xfrm>
            <a:off x="548640" y="3589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9" name="S04-text34"/>
          <p:cNvSpPr txBox="1"/>
          <p:nvPr/>
        </p:nvSpPr>
        <p:spPr>
          <a:xfrm>
            <a:off x="1325880" y="358902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뜻: 무덤 주인의 생활을 그렸다고 봐요.</a:t>
            </a:r>
            <a:endParaRPr lang="ko-KR" sz="2800" dirty="0"/>
          </a:p>
        </p:txBody>
      </p:sp>
      <p:sp>
        <p:nvSpPr>
          <p:cNvPr id="10" name="S04-stepno35"/>
          <p:cNvSpPr txBox="1"/>
          <p:nvPr/>
        </p:nvSpPr>
        <p:spPr>
          <a:xfrm>
            <a:off x="548640" y="43022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1" name="S04-text36"/>
          <p:cNvSpPr txBox="1"/>
          <p:nvPr/>
        </p:nvSpPr>
        <p:spPr>
          <a:xfrm>
            <a:off x="1325880" y="430225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생활: 말 타기와 활쏘기를 잘했다고 생각할 수 있어요.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금동 대향로와 금관</a:t>
            </a:r>
            <a:endParaRPr lang="ko-KR" sz="4000" dirty="0"/>
          </a:p>
        </p:txBody>
      </p:sp>
      <p:sp>
        <p:nvSpPr>
          <p:cNvPr id="3" name="S05-text3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문화유산의 모습으로 짐작해요.</a:t>
            </a:r>
            <a:endParaRPr lang="ko-KR" sz="2800" dirty="0"/>
          </a:p>
        </p:txBody>
      </p:sp>
      <p:sp>
        <p:nvSpPr>
          <p:cNvPr id="4" name="S05-card38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39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문화유산을 보면 그 나라 사람들의 솜씨와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생각을 짐작할 수 있어요.</a:t>
            </a:r>
            <a:endParaRPr lang="ko-KR" sz="2800" dirty="0"/>
          </a:p>
        </p:txBody>
      </p:sp>
      <p:graphicFrame>
        <p:nvGraphicFramePr>
          <p:cNvPr id="6" name="S05-table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307844"/>
          <a:ext cx="10972800" cy="914400"/>
        </p:xfrm>
        <a:graphic>
          <a:graphicData uri="http://schemas.openxmlformats.org/drawingml/2006/table">
            <a:tbl>
              <a:tblPr/>
              <a:tblGrid>
                <a:gridCol w="1536192"/>
                <a:gridCol w="5486400"/>
                <a:gridCol w="3950208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문화유산과 모습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짐작할 수 있는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금동 대향로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산·사람·동물을 섬세하게 새김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금속을 다루는 솜씨가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뛰어났어요.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나뭇가지·사슴뿔 모양 장식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왕의 힘이 컸어요.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문화유산으로 짐작하기</a:t>
            </a:r>
            <a:endParaRPr lang="ko-KR" sz="4000" dirty="0"/>
          </a:p>
        </p:txBody>
      </p:sp>
      <p:sp>
        <p:nvSpPr>
          <p:cNvPr id="3" name="S06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6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‘자료로 보면 ~라고 생각할 수 있어요.’로 말해요.</a:t>
            </a:r>
            <a:endParaRPr lang="ko-KR" sz="2800" dirty="0"/>
          </a:p>
        </p:txBody>
      </p:sp>
      <p:sp>
        <p:nvSpPr>
          <p:cNvPr id="5" name="S06-card43"/>
          <p:cNvSpPr/>
          <p:nvPr/>
        </p:nvSpPr>
        <p:spPr>
          <a:xfrm>
            <a:off x="6277356" y="1325880"/>
            <a:ext cx="5362956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44"/>
          <p:cNvSpPr txBox="1"/>
          <p:nvPr/>
        </p:nvSpPr>
        <p:spPr>
          <a:xfrm>
            <a:off x="6551676" y="1463040"/>
            <a:ext cx="481431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첨성대(신라)</a:t>
            </a:r>
            <a:endParaRPr lang="ko-KR" sz="2800" dirty="0"/>
          </a:p>
        </p:txBody>
      </p:sp>
      <p:sp>
        <p:nvSpPr>
          <p:cNvPr id="7" name="S06-figure45" descr="첨성대: 네모난 받침 위에 돌을 둥글게 쌓아 올린 병 모양 건물. 가운데에 네모난 창이 있고 맨 위에 네모난 틀이 있다"/>
          <p:cNvSpPr/>
          <p:nvPr/>
        </p:nvSpPr>
        <p:spPr>
          <a:xfrm>
            <a:off x="7973677" y="4706166"/>
            <a:ext cx="1970314" cy="147774"/>
          </a:xfrm>
          <a:custGeom>
            <a:avLst/>
            <a:gdLst/>
            <a:ahLst/>
            <a:cxnLst/>
            <a:rect l="l" t="t" r="r" b="b"/>
            <a:pathLst>
              <a:path w="1970314" h="147774">
                <a:moveTo>
                  <a:pt x="0" y="147774"/>
                </a:moveTo>
                <a:lnTo>
                  <a:pt x="1970314" y="147774"/>
                </a:lnTo>
                <a:lnTo>
                  <a:pt x="1970314" y="0"/>
                </a:lnTo>
                <a:lnTo>
                  <a:pt x="0" y="0"/>
                </a:lnTo>
                <a:close/>
              </a:path>
            </a:pathLst>
          </a:custGeom>
          <a:solidFill>
            <a:srgbClr val="C9BFA8"/>
          </a:solidFill>
          <a:ln w="19050">
            <a:solidFill>
              <a:srgbClr val="6B6150"/>
            </a:solidFill>
            <a:prstDash val="solid"/>
          </a:ln>
        </p:spPr>
      </p:sp>
      <p:sp>
        <p:nvSpPr>
          <p:cNvPr id="8" name="S06-mark46"/>
          <p:cNvSpPr/>
          <p:nvPr/>
        </p:nvSpPr>
        <p:spPr>
          <a:xfrm>
            <a:off x="8047564" y="4558393"/>
            <a:ext cx="1822541" cy="147774"/>
          </a:xfrm>
          <a:custGeom>
            <a:avLst/>
            <a:gdLst/>
            <a:ahLst/>
            <a:cxnLst/>
            <a:rect l="l" t="t" r="r" b="b"/>
            <a:pathLst>
              <a:path w="1822541" h="147774">
                <a:moveTo>
                  <a:pt x="0" y="147774"/>
                </a:moveTo>
                <a:lnTo>
                  <a:pt x="1822541" y="147774"/>
                </a:lnTo>
                <a:lnTo>
                  <a:pt x="1822541" y="0"/>
                </a:lnTo>
                <a:lnTo>
                  <a:pt x="0" y="0"/>
                </a:lnTo>
                <a:close/>
              </a:path>
            </a:pathLst>
          </a:custGeom>
          <a:solidFill>
            <a:srgbClr val="C9BFA8"/>
          </a:solidFill>
          <a:ln w="19050">
            <a:solidFill>
              <a:srgbClr val="6B6150"/>
            </a:solidFill>
            <a:prstDash val="solid"/>
          </a:ln>
        </p:spPr>
      </p:sp>
      <p:sp>
        <p:nvSpPr>
          <p:cNvPr id="9" name="S06-mark47"/>
          <p:cNvSpPr/>
          <p:nvPr/>
        </p:nvSpPr>
        <p:spPr>
          <a:xfrm>
            <a:off x="8121450" y="2391047"/>
            <a:ext cx="1674767" cy="2167346"/>
          </a:xfrm>
          <a:custGeom>
            <a:avLst/>
            <a:gdLst/>
            <a:ahLst/>
            <a:cxnLst/>
            <a:rect l="l" t="t" r="r" b="b"/>
            <a:pathLst>
              <a:path w="1674767" h="2167346">
                <a:moveTo>
                  <a:pt x="1674767" y="2167346"/>
                </a:moveTo>
                <a:lnTo>
                  <a:pt x="1632898" y="2031887"/>
                </a:lnTo>
                <a:lnTo>
                  <a:pt x="1593984" y="1896428"/>
                </a:lnTo>
                <a:lnTo>
                  <a:pt x="1557533" y="1760968"/>
                </a:lnTo>
                <a:lnTo>
                  <a:pt x="1524038" y="1625509"/>
                </a:lnTo>
                <a:lnTo>
                  <a:pt x="1493006" y="1490050"/>
                </a:lnTo>
                <a:lnTo>
                  <a:pt x="1464436" y="1354591"/>
                </a:lnTo>
                <a:lnTo>
                  <a:pt x="1438822" y="1219132"/>
                </a:lnTo>
                <a:lnTo>
                  <a:pt x="1416163" y="1083673"/>
                </a:lnTo>
                <a:lnTo>
                  <a:pt x="1395968" y="948214"/>
                </a:lnTo>
                <a:lnTo>
                  <a:pt x="1378235" y="812755"/>
                </a:lnTo>
                <a:lnTo>
                  <a:pt x="1363457" y="677296"/>
                </a:lnTo>
                <a:lnTo>
                  <a:pt x="1351636" y="541836"/>
                </a:lnTo>
                <a:lnTo>
                  <a:pt x="1342277" y="406377"/>
                </a:lnTo>
                <a:lnTo>
                  <a:pt x="1335381" y="270918"/>
                </a:lnTo>
                <a:lnTo>
                  <a:pt x="1331440" y="135459"/>
                </a:lnTo>
                <a:lnTo>
                  <a:pt x="1329962" y="0"/>
                </a:lnTo>
                <a:lnTo>
                  <a:pt x="344805" y="0"/>
                </a:lnTo>
                <a:lnTo>
                  <a:pt x="343327" y="135459"/>
                </a:lnTo>
                <a:lnTo>
                  <a:pt x="339387" y="270918"/>
                </a:lnTo>
                <a:lnTo>
                  <a:pt x="332491" y="406377"/>
                </a:lnTo>
                <a:lnTo>
                  <a:pt x="323132" y="541836"/>
                </a:lnTo>
                <a:lnTo>
                  <a:pt x="311310" y="677296"/>
                </a:lnTo>
                <a:lnTo>
                  <a:pt x="296532" y="812755"/>
                </a:lnTo>
                <a:lnTo>
                  <a:pt x="278799" y="948214"/>
                </a:lnTo>
                <a:lnTo>
                  <a:pt x="258604" y="1083673"/>
                </a:lnTo>
                <a:lnTo>
                  <a:pt x="235945" y="1219132"/>
                </a:lnTo>
                <a:lnTo>
                  <a:pt x="210331" y="1354591"/>
                </a:lnTo>
                <a:lnTo>
                  <a:pt x="181761" y="1490050"/>
                </a:lnTo>
                <a:lnTo>
                  <a:pt x="150729" y="1625509"/>
                </a:lnTo>
                <a:lnTo>
                  <a:pt x="117234" y="1760968"/>
                </a:lnTo>
                <a:lnTo>
                  <a:pt x="80783" y="1896428"/>
                </a:lnTo>
                <a:lnTo>
                  <a:pt x="41869" y="2031887"/>
                </a:lnTo>
                <a:lnTo>
                  <a:pt x="0" y="2167346"/>
                </a:lnTo>
                <a:close/>
              </a:path>
            </a:pathLst>
          </a:custGeom>
          <a:solidFill>
            <a:srgbClr val="DCCFB3"/>
          </a:solidFill>
          <a:ln w="25400">
            <a:solidFill>
              <a:srgbClr val="6B6150"/>
            </a:solidFill>
            <a:prstDash val="solid"/>
          </a:ln>
        </p:spPr>
      </p:sp>
      <p:sp>
        <p:nvSpPr>
          <p:cNvPr id="10" name="S06-mark48"/>
          <p:cNvSpPr/>
          <p:nvPr/>
        </p:nvSpPr>
        <p:spPr>
          <a:xfrm>
            <a:off x="8367740" y="2243274"/>
            <a:ext cx="1182189" cy="147774"/>
          </a:xfrm>
          <a:custGeom>
            <a:avLst/>
            <a:gdLst/>
            <a:ahLst/>
            <a:cxnLst/>
            <a:rect l="l" t="t" r="r" b="b"/>
            <a:pathLst>
              <a:path w="1182189" h="147774">
                <a:moveTo>
                  <a:pt x="0" y="147774"/>
                </a:moveTo>
                <a:lnTo>
                  <a:pt x="1182189" y="147774"/>
                </a:lnTo>
                <a:lnTo>
                  <a:pt x="1182189" y="0"/>
                </a:lnTo>
                <a:lnTo>
                  <a:pt x="0" y="0"/>
                </a:lnTo>
                <a:close/>
              </a:path>
            </a:pathLst>
          </a:custGeom>
          <a:solidFill>
            <a:srgbClr val="C9BFA8"/>
          </a:solidFill>
          <a:ln w="19050">
            <a:solidFill>
              <a:srgbClr val="6B6150"/>
            </a:solidFill>
            <a:prstDash val="solid"/>
          </a:ln>
        </p:spPr>
      </p:sp>
      <p:sp>
        <p:nvSpPr>
          <p:cNvPr id="11" name="S06-mark49"/>
          <p:cNvSpPr/>
          <p:nvPr/>
        </p:nvSpPr>
        <p:spPr>
          <a:xfrm>
            <a:off x="8367740" y="2095500"/>
            <a:ext cx="1182189" cy="147774"/>
          </a:xfrm>
          <a:custGeom>
            <a:avLst/>
            <a:gdLst/>
            <a:ahLst/>
            <a:cxnLst/>
            <a:rect l="l" t="t" r="r" b="b"/>
            <a:pathLst>
              <a:path w="1182189" h="147774">
                <a:moveTo>
                  <a:pt x="0" y="147774"/>
                </a:moveTo>
                <a:lnTo>
                  <a:pt x="1182189" y="147774"/>
                </a:lnTo>
                <a:lnTo>
                  <a:pt x="1182189" y="0"/>
                </a:lnTo>
                <a:lnTo>
                  <a:pt x="0" y="0"/>
                </a:lnTo>
                <a:close/>
              </a:path>
            </a:pathLst>
          </a:custGeom>
          <a:solidFill>
            <a:srgbClr val="C9BFA8"/>
          </a:solidFill>
          <a:ln w="19050">
            <a:solidFill>
              <a:srgbClr val="6B6150"/>
            </a:solidFill>
            <a:prstDash val="solid"/>
          </a:ln>
        </p:spPr>
      </p:sp>
      <p:sp>
        <p:nvSpPr>
          <p:cNvPr id="12" name="S06-mark50"/>
          <p:cNvSpPr/>
          <p:nvPr/>
        </p:nvSpPr>
        <p:spPr>
          <a:xfrm>
            <a:off x="8801209" y="3351575"/>
            <a:ext cx="315250" cy="295547"/>
          </a:xfrm>
          <a:custGeom>
            <a:avLst/>
            <a:gdLst/>
            <a:ahLst/>
            <a:cxnLst/>
            <a:rect l="l" t="t" r="r" b="b"/>
            <a:pathLst>
              <a:path w="315250" h="295547">
                <a:moveTo>
                  <a:pt x="0" y="295547"/>
                </a:moveTo>
                <a:lnTo>
                  <a:pt x="315250" y="295547"/>
                </a:lnTo>
                <a:lnTo>
                  <a:pt x="31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4A4033"/>
          </a:solidFill>
          <a:ln w="12700">
            <a:solidFill>
              <a:srgbClr val="4A4033"/>
            </a:solidFill>
            <a:prstDash val="solid"/>
          </a:ln>
        </p:spPr>
      </p:sp>
      <p:sp>
        <p:nvSpPr>
          <p:cNvPr id="13" name="S06-mark51"/>
          <p:cNvSpPr/>
          <p:nvPr/>
        </p:nvSpPr>
        <p:spPr>
          <a:xfrm>
            <a:off x="8181052" y="4361361"/>
            <a:ext cx="1555563" cy="0"/>
          </a:xfrm>
          <a:prstGeom prst="line">
            <a:avLst/>
          </a:prstGeom>
          <a:noFill/>
          <a:ln w="12700">
            <a:solidFill>
              <a:srgbClr val="9C8F75"/>
            </a:solidFill>
            <a:prstDash val="solid"/>
          </a:ln>
        </p:spPr>
      </p:sp>
      <p:sp>
        <p:nvSpPr>
          <p:cNvPr id="14" name="S06-mark52"/>
          <p:cNvSpPr/>
          <p:nvPr/>
        </p:nvSpPr>
        <p:spPr>
          <a:xfrm>
            <a:off x="8235236" y="4164330"/>
            <a:ext cx="1447196" cy="0"/>
          </a:xfrm>
          <a:prstGeom prst="line">
            <a:avLst/>
          </a:prstGeom>
          <a:noFill/>
          <a:ln w="12700">
            <a:solidFill>
              <a:srgbClr val="9C8F75"/>
            </a:solidFill>
            <a:prstDash val="solid"/>
          </a:ln>
        </p:spPr>
      </p:sp>
      <p:sp>
        <p:nvSpPr>
          <p:cNvPr id="15" name="S06-mark53"/>
          <p:cNvSpPr/>
          <p:nvPr/>
        </p:nvSpPr>
        <p:spPr>
          <a:xfrm>
            <a:off x="8284001" y="3967299"/>
            <a:ext cx="1349665" cy="0"/>
          </a:xfrm>
          <a:prstGeom prst="line">
            <a:avLst/>
          </a:prstGeom>
          <a:noFill/>
          <a:ln w="12700">
            <a:solidFill>
              <a:srgbClr val="9C8F75"/>
            </a:solidFill>
            <a:prstDash val="solid"/>
          </a:ln>
        </p:spPr>
      </p:sp>
      <p:sp>
        <p:nvSpPr>
          <p:cNvPr id="16" name="S06-mark54"/>
          <p:cNvSpPr/>
          <p:nvPr/>
        </p:nvSpPr>
        <p:spPr>
          <a:xfrm>
            <a:off x="8326856" y="3770267"/>
            <a:ext cx="1263957" cy="0"/>
          </a:xfrm>
          <a:prstGeom prst="line">
            <a:avLst/>
          </a:prstGeom>
          <a:noFill/>
          <a:ln w="12700">
            <a:solidFill>
              <a:srgbClr val="9C8F75"/>
            </a:solidFill>
            <a:prstDash val="solid"/>
          </a:ln>
        </p:spPr>
      </p:sp>
      <p:sp>
        <p:nvSpPr>
          <p:cNvPr id="17" name="S06-mark55"/>
          <p:cNvSpPr/>
          <p:nvPr/>
        </p:nvSpPr>
        <p:spPr>
          <a:xfrm>
            <a:off x="8420446" y="3179173"/>
            <a:ext cx="1076777" cy="0"/>
          </a:xfrm>
          <a:prstGeom prst="line">
            <a:avLst/>
          </a:prstGeom>
          <a:noFill/>
          <a:ln w="12700">
            <a:solidFill>
              <a:srgbClr val="9C8F75"/>
            </a:solidFill>
            <a:prstDash val="solid"/>
          </a:ln>
        </p:spPr>
      </p:sp>
      <p:sp>
        <p:nvSpPr>
          <p:cNvPr id="18" name="S06-mark56"/>
          <p:cNvSpPr/>
          <p:nvPr/>
        </p:nvSpPr>
        <p:spPr>
          <a:xfrm>
            <a:off x="8440641" y="2982141"/>
            <a:ext cx="1036385" cy="0"/>
          </a:xfrm>
          <a:prstGeom prst="line">
            <a:avLst/>
          </a:prstGeom>
          <a:noFill/>
          <a:ln w="12700">
            <a:solidFill>
              <a:srgbClr val="9C8F75"/>
            </a:solidFill>
            <a:prstDash val="solid"/>
          </a:ln>
        </p:spPr>
      </p:sp>
      <p:sp>
        <p:nvSpPr>
          <p:cNvPr id="19" name="S06-mark57"/>
          <p:cNvSpPr/>
          <p:nvPr/>
        </p:nvSpPr>
        <p:spPr>
          <a:xfrm>
            <a:off x="8454926" y="2785110"/>
            <a:ext cx="1007816" cy="0"/>
          </a:xfrm>
          <a:prstGeom prst="line">
            <a:avLst/>
          </a:prstGeom>
          <a:noFill/>
          <a:ln w="12700">
            <a:solidFill>
              <a:srgbClr val="9C8F75"/>
            </a:solidFill>
            <a:prstDash val="solid"/>
          </a:ln>
        </p:spPr>
      </p:sp>
      <p:sp>
        <p:nvSpPr>
          <p:cNvPr id="20" name="S06-mark58"/>
          <p:cNvSpPr/>
          <p:nvPr/>
        </p:nvSpPr>
        <p:spPr>
          <a:xfrm>
            <a:off x="8463300" y="2588079"/>
            <a:ext cx="991068" cy="0"/>
          </a:xfrm>
          <a:prstGeom prst="line">
            <a:avLst/>
          </a:prstGeom>
          <a:noFill/>
          <a:ln w="12700">
            <a:solidFill>
              <a:srgbClr val="9C8F75"/>
            </a:solidFill>
            <a:prstDash val="solid"/>
          </a:ln>
        </p:spPr>
      </p:sp>
      <p:sp>
        <p:nvSpPr>
          <p:cNvPr id="21" name="S06-chip59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22" name="S06-text60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첨성대: 해·달·별을 살핀 곳이에요. 왜 하늘을 살폈을까요?</a:t>
            </a:r>
            <a:endParaRPr lang="ko-KR" sz="2200" dirty="0"/>
          </a:p>
        </p:txBody>
      </p:sp>
      <p:sp>
        <p:nvSpPr>
          <p:cNvPr id="23" name="S06-chip61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24" name="S06-text62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가야: 철 갑옷과 덩이쇠가 많이 나왔어요.</a:t>
            </a:r>
            <a:endParaRPr lang="ko-KR" sz="2800" dirty="0"/>
          </a:p>
        </p:txBody>
      </p:sp>
      <p:sp>
        <p:nvSpPr>
          <p:cNvPr id="25" name="S06-chip63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6" name="S06-text64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백제: 일본에 학자와 기술자를 보내 글과 기술을 전했어요.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삼국 통일의 차례</a:t>
            </a:r>
            <a:endParaRPr lang="ko-KR" sz="4000" dirty="0"/>
          </a:p>
        </p:txBody>
      </p:sp>
      <p:sp>
        <p:nvSpPr>
          <p:cNvPr id="3" name="S07-text65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신라는 당나라와 손잡고 백제와 고구려를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무너뜨렸어요.</a:t>
            </a:r>
            <a:endParaRPr lang="ko-KR" sz="2800" dirty="0"/>
          </a:p>
        </p:txBody>
      </p:sp>
      <p:sp>
        <p:nvSpPr>
          <p:cNvPr id="4" name="S07-card66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67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통일 신라와 발해가 남과 북에 함께 있던 때를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남북국 시대라고 해요.</a:t>
            </a:r>
            <a:endParaRPr lang="ko-KR" sz="2800" dirty="0"/>
          </a:p>
        </p:txBody>
      </p:sp>
      <p:sp>
        <p:nvSpPr>
          <p:cNvPr id="6" name="S07-line68"/>
          <p:cNvSpPr/>
          <p:nvPr/>
        </p:nvSpPr>
        <p:spPr>
          <a:xfrm>
            <a:off x="822960" y="3584448"/>
            <a:ext cx="10543032" cy="0"/>
          </a:xfrm>
          <a:prstGeom prst="line">
            <a:avLst/>
          </a:prstGeom>
          <a:noFill/>
          <a:ln w="38100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7" name="S07-event69"/>
          <p:cNvSpPr/>
          <p:nvPr/>
        </p:nvSpPr>
        <p:spPr>
          <a:xfrm>
            <a:off x="1758391" y="3465576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07-label70"/>
          <p:cNvSpPr txBox="1"/>
          <p:nvPr/>
        </p:nvSpPr>
        <p:spPr>
          <a:xfrm>
            <a:off x="868680" y="2901823"/>
            <a:ext cx="201716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삼국 시대</a:t>
            </a:r>
            <a:endParaRPr lang="ko-KR" sz="2200" dirty="0"/>
          </a:p>
        </p:txBody>
      </p:sp>
      <p:sp>
        <p:nvSpPr>
          <p:cNvPr id="9" name="S07-label71"/>
          <p:cNvSpPr txBox="1"/>
          <p:nvPr/>
        </p:nvSpPr>
        <p:spPr>
          <a:xfrm>
            <a:off x="868680" y="3813048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나라가 다툼</a:t>
            </a:r>
            <a:endParaRPr lang="ko-KR" sz="1800" dirty="0"/>
          </a:p>
        </p:txBody>
      </p:sp>
      <p:sp>
        <p:nvSpPr>
          <p:cNvPr id="10" name="S07-event72"/>
          <p:cNvSpPr/>
          <p:nvPr/>
        </p:nvSpPr>
        <p:spPr>
          <a:xfrm>
            <a:off x="3866998" y="3465576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07-label73"/>
          <p:cNvSpPr txBox="1"/>
          <p:nvPr/>
        </p:nvSpPr>
        <p:spPr>
          <a:xfrm>
            <a:off x="2977286" y="2552573"/>
            <a:ext cx="2017166" cy="8032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백제가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무너짐</a:t>
            </a:r>
            <a:endParaRPr lang="ko-KR" sz="2200" dirty="0"/>
          </a:p>
        </p:txBody>
      </p:sp>
      <p:sp>
        <p:nvSpPr>
          <p:cNvPr id="12" name="S07-label74"/>
          <p:cNvSpPr txBox="1"/>
          <p:nvPr/>
        </p:nvSpPr>
        <p:spPr>
          <a:xfrm>
            <a:off x="2977286" y="3813048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신라·당이 공격</a:t>
            </a:r>
            <a:endParaRPr lang="ko-KR" sz="1800" dirty="0"/>
          </a:p>
        </p:txBody>
      </p:sp>
      <p:sp>
        <p:nvSpPr>
          <p:cNvPr id="13" name="S07-event75"/>
          <p:cNvSpPr/>
          <p:nvPr/>
        </p:nvSpPr>
        <p:spPr>
          <a:xfrm>
            <a:off x="5975604" y="3465576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07-label76"/>
          <p:cNvSpPr txBox="1"/>
          <p:nvPr/>
        </p:nvSpPr>
        <p:spPr>
          <a:xfrm>
            <a:off x="5085893" y="2552573"/>
            <a:ext cx="2017166" cy="8032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고구려가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무너짐</a:t>
            </a:r>
            <a:endParaRPr lang="ko-KR" sz="2200" dirty="0"/>
          </a:p>
        </p:txBody>
      </p:sp>
      <p:sp>
        <p:nvSpPr>
          <p:cNvPr id="15" name="S07-label77"/>
          <p:cNvSpPr txBox="1"/>
          <p:nvPr/>
        </p:nvSpPr>
        <p:spPr>
          <a:xfrm>
            <a:off x="5085893" y="3813048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신라·당이 공격</a:t>
            </a:r>
            <a:endParaRPr lang="ko-KR" sz="1800" dirty="0"/>
          </a:p>
        </p:txBody>
      </p:sp>
      <p:sp>
        <p:nvSpPr>
          <p:cNvPr id="16" name="S07-event78"/>
          <p:cNvSpPr/>
          <p:nvPr/>
        </p:nvSpPr>
        <p:spPr>
          <a:xfrm>
            <a:off x="8084210" y="3465576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07-label79"/>
          <p:cNvSpPr txBox="1"/>
          <p:nvPr/>
        </p:nvSpPr>
        <p:spPr>
          <a:xfrm>
            <a:off x="7194499" y="2901823"/>
            <a:ext cx="201716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삼국 통일</a:t>
            </a:r>
            <a:endParaRPr lang="ko-KR" sz="2200" dirty="0"/>
          </a:p>
        </p:txBody>
      </p:sp>
      <p:sp>
        <p:nvSpPr>
          <p:cNvPr id="18" name="S07-label80"/>
          <p:cNvSpPr txBox="1"/>
          <p:nvPr/>
        </p:nvSpPr>
        <p:spPr>
          <a:xfrm>
            <a:off x="7194499" y="3813048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신라가 당을 몰아냄</a:t>
            </a:r>
            <a:endParaRPr lang="ko-KR" sz="1800" dirty="0"/>
          </a:p>
        </p:txBody>
      </p:sp>
      <p:sp>
        <p:nvSpPr>
          <p:cNvPr id="19" name="S07-event81"/>
          <p:cNvSpPr/>
          <p:nvPr/>
        </p:nvSpPr>
        <p:spPr>
          <a:xfrm>
            <a:off x="10192817" y="3465576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07-label82"/>
          <p:cNvSpPr txBox="1"/>
          <p:nvPr/>
        </p:nvSpPr>
        <p:spPr>
          <a:xfrm>
            <a:off x="9303106" y="2901823"/>
            <a:ext cx="201716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남북국 시대</a:t>
            </a:r>
            <a:endParaRPr lang="ko-KR" sz="2200" dirty="0"/>
          </a:p>
        </p:txBody>
      </p:sp>
      <p:sp>
        <p:nvSpPr>
          <p:cNvPr id="21" name="S07-label83"/>
          <p:cNvSpPr txBox="1"/>
          <p:nvPr/>
        </p:nvSpPr>
        <p:spPr>
          <a:xfrm>
            <a:off x="9303106" y="3813048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통일 신라와 발해</a:t>
            </a:r>
            <a:endParaRPr lang="ko-K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남북국 시대의 두 나라</a:t>
            </a:r>
            <a:endParaRPr lang="ko-KR" sz="4000" dirty="0"/>
          </a:p>
        </p:txBody>
      </p:sp>
      <p:sp>
        <p:nvSpPr>
          <p:cNvPr id="3" name="S08-card8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8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삼국 통일 뒤 남쪽엔 통일 신라, 북쪽엔 발해가 있었어요.</a:t>
            </a:r>
            <a:endParaRPr lang="ko-KR" sz="2800" dirty="0"/>
          </a:p>
        </p:txBody>
      </p:sp>
      <p:sp>
        <p:nvSpPr>
          <p:cNvPr id="5" name="S08-card8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8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이때를 ‘남북국 시대’라고 부를까요?</a:t>
            </a:r>
            <a:endParaRPr lang="ko-KR" sz="2800" dirty="0"/>
          </a:p>
        </p:txBody>
      </p:sp>
      <p:sp>
        <p:nvSpPr>
          <p:cNvPr id="7" name="S08-chip8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남쪽: 통일 신라</a:t>
            </a:r>
            <a:endParaRPr lang="ko-KR" sz="2200" dirty="0"/>
          </a:p>
        </p:txBody>
      </p:sp>
      <p:sp>
        <p:nvSpPr>
          <p:cNvPr id="8" name="S08-text8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불국사와 석굴암을 지었어요.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불교문화가 꽃피었어요.</a:t>
            </a:r>
            <a:endParaRPr lang="ko-KR" sz="2800" dirty="0"/>
          </a:p>
        </p:txBody>
      </p:sp>
      <p:sp>
        <p:nvSpPr>
          <p:cNvPr id="9" name="S08-chip9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북쪽: 발해</a:t>
            </a:r>
            <a:endParaRPr lang="ko-KR" sz="2200" dirty="0"/>
          </a:p>
        </p:txBody>
      </p:sp>
      <p:sp>
        <p:nvSpPr>
          <p:cNvPr id="10" name="S08-text9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대조영이 고구려 사람들을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이끌고 세웠어요.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‘바다 동쪽의 번성한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나라’로 불렸어요.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발해는 어느 나라를 이었을까?</a:t>
            </a:r>
            <a:endParaRPr lang="ko-KR" sz="4000" dirty="0"/>
          </a:p>
        </p:txBody>
      </p:sp>
      <p:sp>
        <p:nvSpPr>
          <p:cNvPr id="3" name="S09-text9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자료를 보고 짐작해요.</a:t>
            </a:r>
            <a:endParaRPr lang="ko-KR" sz="2800" dirty="0"/>
          </a:p>
        </p:txBody>
      </p:sp>
      <p:sp>
        <p:nvSpPr>
          <p:cNvPr id="4" name="S09-card9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9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자료로 무엇을 짐작할 수 있나요? 까닭도 말해요.</a:t>
            </a:r>
            <a:endParaRPr lang="ko-KR" sz="2800" dirty="0"/>
          </a:p>
        </p:txBody>
      </p:sp>
      <p:sp>
        <p:nvSpPr>
          <p:cNvPr id="6" name="S09-chip95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9-text96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발해 왕이 일본에 보낸 글에 스스로 ‘고려 국왕’이라고 썼어요.</a:t>
            </a:r>
            <a:endParaRPr lang="ko-KR" sz="2800" dirty="0"/>
          </a:p>
        </p:txBody>
      </p:sp>
      <p:sp>
        <p:nvSpPr>
          <p:cNvPr id="8" name="S09-chip97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9-text98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발해의 집터에서 바닥을 데우는 온돌 자리가 나왔어요.</a:t>
            </a:r>
            <a:endParaRPr lang="ko-KR" sz="2800" dirty="0"/>
          </a:p>
        </p:txBody>
      </p:sp>
      <p:sp>
        <p:nvSpPr>
          <p:cNvPr id="10" name="S09-chip9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9-text100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발해 기와의 연꽃무늬가 고구려 기와와 닮았어요.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삼국 통일 뒤의 땅</a:t>
            </a:r>
            <a:endParaRPr lang="ko-KR" sz="4000" dirty="0"/>
          </a:p>
        </p:txBody>
      </p:sp>
      <p:sp>
        <p:nvSpPr>
          <p:cNvPr id="3" name="S10-card10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10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신라의 삼국 통일을 두고 두 친구가 말했어요.</a:t>
            </a:r>
            <a:endParaRPr lang="ko-KR" sz="2800" dirty="0"/>
          </a:p>
        </p:txBody>
      </p:sp>
      <p:sp>
        <p:nvSpPr>
          <p:cNvPr id="5" name="S10-card10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10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말이 맞을까요? 무엇을 보고 알 수 있나요?</a:t>
            </a:r>
            <a:endParaRPr lang="ko-KR" sz="2800" dirty="0"/>
          </a:p>
        </p:txBody>
      </p:sp>
      <p:sp>
        <p:nvSpPr>
          <p:cNvPr id="7" name="S10-chip10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10-text10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“신라가 고구려의 땅을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차지했어요.”</a:t>
            </a:r>
            <a:endParaRPr lang="ko-KR" sz="2800" dirty="0"/>
          </a:p>
        </p:txBody>
      </p:sp>
      <p:sp>
        <p:nvSpPr>
          <p:cNvPr id="9" name="S10-chip10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10-text10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“고구려의 북쪽 땅은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차지하지 못했고, 그곳에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발해가 세워졌어요.”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hip10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1-text110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고구려 벽화의 씨름하는 사람들로 짐작할 수 있는 것은?</a:t>
            </a:r>
            <a:endParaRPr lang="ko-KR" sz="2800" dirty="0"/>
          </a:p>
        </p:txBody>
      </p:sp>
      <p:sp>
        <p:nvSpPr>
          <p:cNvPr id="5" name="S11-chip111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1-text112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고구려가 무너짐, 남북국 시대, 백제가 무너짐을 차례로 놓아요.</a:t>
            </a:r>
            <a:endParaRPr lang="ko-KR" sz="2800" dirty="0"/>
          </a:p>
        </p:txBody>
      </p:sp>
      <p:sp>
        <p:nvSpPr>
          <p:cNvPr id="7" name="S11-chip113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1-text114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남북국 시대의 두 나라는?</a:t>
            </a:r>
            <a:endParaRPr lang="ko-KR" sz="2800" dirty="0"/>
          </a:p>
        </p:txBody>
      </p:sp>
      <p:sp>
        <p:nvSpPr>
          <p:cNvPr id="9" name="S11-chip115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1-text116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석굴암으로 짐작할 수 있는 것은?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2-card117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18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문화유산의 모습을 근거로 짐작하고, 남북국 시대에는 두 나라가 함께 있었어요.</a:t>
            </a:r>
            <a:endParaRPr lang="ko-KR" sz="2800" dirty="0"/>
          </a:p>
        </p:txBody>
      </p:sp>
      <p:sp>
        <p:nvSpPr>
          <p:cNvPr id="5" name="S12-chip119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text120"/>
          <p:cNvSpPr txBox="1"/>
          <p:nvPr/>
        </p:nvSpPr>
        <p:spPr>
          <a:xfrm>
            <a:off x="548640" y="2057400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씨름을 즐겼어요</a:t>
            </a:r>
            <a:endParaRPr lang="ko-KR" sz="2800" dirty="0"/>
          </a:p>
        </p:txBody>
      </p:sp>
      <p:sp>
        <p:nvSpPr>
          <p:cNvPr id="7" name="S12-text121"/>
          <p:cNvSpPr txBox="1"/>
          <p:nvPr/>
        </p:nvSpPr>
        <p:spPr>
          <a:xfrm>
            <a:off x="548640" y="2775458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백제 → 고구려 → 남북국</a:t>
            </a:r>
            <a:endParaRPr lang="ko-KR" sz="2800" dirty="0"/>
          </a:p>
        </p:txBody>
      </p:sp>
      <p:sp>
        <p:nvSpPr>
          <p:cNvPr id="8" name="S12-text122"/>
          <p:cNvSpPr txBox="1"/>
          <p:nvPr/>
        </p:nvSpPr>
        <p:spPr>
          <a:xfrm>
            <a:off x="548640" y="3493516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통일 신라와 발해</a:t>
            </a:r>
            <a:endParaRPr lang="ko-KR" sz="2800" dirty="0"/>
          </a:p>
        </p:txBody>
      </p:sp>
      <p:sp>
        <p:nvSpPr>
          <p:cNvPr id="9" name="S12-text123"/>
          <p:cNvSpPr txBox="1"/>
          <p:nvPr/>
        </p:nvSpPr>
        <p:spPr>
          <a:xfrm>
            <a:off x="548640" y="4211574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불교를 믿었어요</a:t>
            </a:r>
            <a:endParaRPr lang="ko-KR" sz="2800" dirty="0"/>
          </a:p>
        </p:txBody>
      </p:sp>
      <p:sp>
        <p:nvSpPr>
          <p:cNvPr id="10" name="S12-chip124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1" name="S12-text125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신라만 씀</a:t>
            </a:r>
            <a:endParaRPr lang="ko-KR" sz="2800" dirty="0"/>
          </a:p>
        </p:txBody>
      </p:sp>
      <p:sp>
        <p:nvSpPr>
          <p:cNvPr id="12" name="S12-text126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발해를 빠뜨림</a:t>
            </a:r>
            <a:endParaRPr lang="ko-KR" sz="2200" dirty="0"/>
          </a:p>
        </p:txBody>
      </p:sp>
      <p:sp>
        <p:nvSpPr>
          <p:cNvPr id="13" name="S12-text127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고구려가 먼저</a:t>
            </a:r>
            <a:endParaRPr lang="ko-KR" sz="2800" dirty="0"/>
          </a:p>
        </p:txBody>
      </p:sp>
      <p:sp>
        <p:nvSpPr>
          <p:cNvPr id="14" name="S12-text128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백제가 먼저 무너짐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129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30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문화유산으로 삼국 사람들의 생활과 솜씨를 짐작해요.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신라의 통일 뒤 통일 신라와 발해가 함께 있었어요.</a:t>
            </a:r>
            <a:endParaRPr lang="ko-KR" sz="2800" dirty="0"/>
          </a:p>
        </p:txBody>
      </p:sp>
      <p:sp>
        <p:nvSpPr>
          <p:cNvPr id="5" name="S13-chip131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문화유산을 근거로 짐작하기</a:t>
            </a:r>
            <a:endParaRPr lang="ko-KR" sz="2200" dirty="0"/>
          </a:p>
        </p:txBody>
      </p:sp>
      <p:sp>
        <p:nvSpPr>
          <p:cNvPr id="6" name="S13-chip132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발해를 빠뜨리기</a:t>
            </a:r>
            <a:endParaRPr lang="ko-KR" sz="2200" dirty="0"/>
          </a:p>
        </p:txBody>
      </p:sp>
      <p:sp>
        <p:nvSpPr>
          <p:cNvPr id="7" name="S13-text133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134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고구려 고분 벽화로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짐작한 것은?</a:t>
            </a:r>
            <a:endParaRPr lang="ko-KR" sz="2200" dirty="0"/>
          </a:p>
        </p:txBody>
      </p:sp>
      <p:sp>
        <p:nvSpPr>
          <p:cNvPr id="9" name="S13-text135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삼국을 통일한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나라는?</a:t>
            </a:r>
            <a:endParaRPr lang="ko-KR" sz="2200" dirty="0"/>
          </a:p>
        </p:txBody>
      </p:sp>
      <p:sp>
        <p:nvSpPr>
          <p:cNvPr id="10" name="S13-text136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대조영이 세운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나라는?</a:t>
            </a:r>
            <a:endParaRPr lang="ko-KR" sz="2200" dirty="0"/>
          </a:p>
        </p:txBody>
      </p:sp>
      <p:sp>
        <p:nvSpPr>
          <p:cNvPr id="11" name="S13-text13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고려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자료로 짐작하기</a:t>
            </a:r>
            <a:endParaRPr lang="ko-KR" sz="4000" dirty="0"/>
          </a:p>
        </p:txBody>
      </p:sp>
      <p:sp>
        <p:nvSpPr>
          <p:cNvPr id="3" name="S14-text13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시간의 자료를 다시 봐요.</a:t>
            </a:r>
            <a:endParaRPr lang="ko-KR" sz="2800" dirty="0"/>
          </a:p>
        </p:txBody>
      </p:sp>
      <p:sp>
        <p:nvSpPr>
          <p:cNvPr id="4" name="S14-card13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4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모습 → 쓰임 → 생활 차례로 짐작해요.</a:t>
            </a:r>
            <a:endParaRPr lang="ko-KR" sz="2800" dirty="0"/>
          </a:p>
        </p:txBody>
      </p:sp>
      <p:graphicFrame>
        <p:nvGraphicFramePr>
          <p:cNvPr id="15" name="S14-table1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602992"/>
          <a:ext cx="10972800" cy="914400"/>
        </p:xfrm>
        <a:graphic>
          <a:graphicData uri="http://schemas.openxmlformats.org/drawingml/2006/table">
            <a:tbl>
              <a:tblPr/>
              <a:tblGrid>
                <a:gridCol w="2633472"/>
                <a:gridCol w="4169664"/>
                <a:gridCol w="4169664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모습이나 내용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짐작할 수 있는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고인돌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아주 큰 돌로 만든 무덤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힘센 지배자가 있었어요.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빗살무늬 토기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곡식을 담은 그릇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농사를 지었어요.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단군 이야기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바람·비·구름을 다스림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농사를 중요하게 여겼어요.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사회·역사 삼국과 남북국</dc:title>
  <dc:subject>KR22-G05-SOC-KINGDOMS-L01</dc:subject>
  <dc:creator>education-ppt</dc:creator>
  <cp:lastModifiedBy>education-ppt</cp:lastModifiedBy>
  <cp:revision>1</cp:revision>
  <dcterms:created xsi:type="dcterms:W3CDTF">2026-10-26T13:08:34Z</dcterms:created>
  <dcterms:modified xsi:type="dcterms:W3CDTF">2026-10-26T13:08:34Z</dcterms:modified>
</cp:coreProperties>
</file>