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6ee774b-eae8-0c6d-1e56-018b316411b2}">
          <p14:sldIdLst>
            <p14:sldId id="256"/>
            <p14:sldId id="257"/>
          </p14:sldIdLst>
        </p14:section>
        <p14:section name="개념" id="{f0edea17-5465-815b-d3a7-83fd72ab04b1}">
          <p14:sldIdLst>
            <p14:sldId id="258"/>
            <p14:sldId id="259"/>
            <p14:sldId id="260"/>
            <p14:sldId id="262"/>
            <p14:sldId id="263"/>
          </p14:sldIdLst>
        </p14:section>
        <p14:section name="연습" id="{b7ed1990-cda7-78b2-d9c1-69ddb73f63a6}">
          <p14:sldIdLst>
            <p14:sldId id="261"/>
            <p14:sldId id="264"/>
            <p14:sldId id="265"/>
          </p14:sldIdLst>
        </p14:section>
        <p14:section name="개념" id="{daf66526-b6ea-f0f4-02dd-46977e4dd622}">
          <p14:sldIdLst/>
        </p14:section>
        <p14:section name="연습" id="{c95504a7-10fe-7851-9750-5f5da3826204}">
          <p14:sldIdLst/>
        </p14:section>
        <p14:section name="확인" id="{79e6c40f-40f1-4870-4a3a-ecb6d3c66955}">
          <p14:sldIdLst>
            <p14:sldId id="266"/>
            <p14:sldId id="267"/>
          </p14:sldIdLst>
        </p14:section>
        <p14:section name="정리" id="{f294decd-4306-2f3e-69d7-05793d4d4a36}">
          <p14:sldIdLst>
            <p14:sldId id="268"/>
          </p14:sldIdLst>
        </p14:section>
        <p14:section name="보충" id="{473539be-30ad-df53-79a6-603dc23307bf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고려라는 나라 이름이 오늘날 영어 이름 ‘코리아’와 이어진다는 이야기로 흥미를 엽니다.
시간: 약 2분
이렇게 말해 보세요
- “우리나라를 영어로 무엇이라고 하지? ‘코리아’는 고려라는 이름이 다른 나라에 알려지면서 생긴 이름이라고 해.”
- “오늘은 고려가 어떻게 세워졌는지, 고려 사람들이 어떤 문화를 남겼는지, 그리고 다른 나라가 쳐들어왔을 때 어떻게 나라를 지켰는지 알아볼 거야.”
예상 답
- “코리아요.” “고려청자를 들어 봤어요.”
막히면
- “표지 그림은 고려 사람들이 만든 그릇이야. 무슨 색일까?”라고 그림에서 시작합니다.
주의
- 표지 그림은 고려청자 매병(병의 한 종류)을 간단히 그린 것입니다. 실제 무늬와 모양을 정확히 옮긴 그림은 아닙니다.
- ‘코리아’가 고려에서 왔다는 것은 널리 알려진 설명입니다. 흥미를 여는 정도로만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확인(삼국과 남북국)]
목적: 지난 차시 ‘삼국과 남북국’(KR22-G05-SOC-KINGDOMS-L01)의 흐름과, 자료를 근거로 말하는 방법을 기억하는지 확인합니다.
시간: 약 3분
이렇게 말해 보세요
- “지난 시간에 배운 것을 세 가지 물어볼게.”
정답
- ① 신라
- ② 통일 신라와 발해
- ③ 발해 왕이 일본에 보낸 글에 스스로 ‘고려(고구려) 국왕’이라고 썼다 / 고구려처럼 온돌을 썼다 / 기와 무늬가 고구려와 닮았다 가운데 하나
막히면
- ①②를 어려워하면 “삼국 통일 다음에 남쪽과 북쪽에 어떤 나라가 있었지?”라고 차례를 따라 묻습니다.
- 세 문제 가운데 두 개 이상 어려워하면 S14(보충)를 먼저 합니다. 보충으로도 어려우면 앞 차시 ‘삼국과 남북국’(KR22-G05-SOC-KINGDOMS-L01)의 S07~S10을 다시 합니다.
주의
- ③의 ‘고려’는 고구려를 가리킵니다. 오늘 배울 고려(왕건)와 다르다는 것을 S03에서 짚습니다.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후삼국 시대와 고려의 건국·통일]
목적: 후삼국 시대와 고려의 건국, 후삼국 통일의 흐름을 시간 띠로 보여 줍니다(목표 A, 오해 M4).
시간: 약 3분
이렇게 말해 보세요
- “통일 신라 말에는 왕의 자리를 두고 다툼이 많았고, 지방의 힘센 사람들이 자라났어. 그러다 견훤이 후백제를, 궁예가 후고구려를 세워 다시 세 나라가 되었어. 이때를 후삼국 시대라고 해.”
- “궁예의 신하였던 왕건이 918년에 왕이 되어 고려를 세웠어. 그 뒤 신라가 스스로 고려에 합쳐지고, 고려가 후백제를 무너뜨려 다시 하나가 되었어.”
- “왜 나라 이름을 ‘고려’라고 했을까? 지난 시간에 발해 왕이 스스로 뭐라고 했지?”
예상 답
- “고구려를 이으려고요.” “고구려처럼 강한 나라가 되고 싶어서요.”
막히면
- 시간 띠의 점을 하나씩 짚으며 “그다음에는?”이라고 묻습니다.
주의
- 고려는 고구려를 잇는다는 뜻을 이름에 담았지만, 고구려와는 다른 새 나라입니다(오해 M4).
- 발해가 무너진 뒤 고려는 발해 사람들도 받아들였습니다(궁금해하면 알려 주는 정도로). 후삼국 통일의 연도는 쓰지 않고 차례만 익힙니다.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고려청자와 상감 기법]
목적: 고려청자의 빛깔과 상감 기법을 설명하고, 문화유산으로 솜씨를 짐작합니다(목표 A).
시간: 약 3분
이렇게 말해 보세요
- “고려청자는 푸른빛이 도는 도자기야. 고려 사람들은 이 빛깔을 ‘비색’이라고 불렀어. 비취라는 푸른 보석 빛깔이라는 뜻이야.”
- “상감 기법은 그릇 겉면에 무늬를 파내고, 그 홈에 흰 흙이나 검은 흙을 메운 다음 구워서 무늬가 드러나게 하는 방법이야. 그림 속 동그란 무늬처럼.”
- “이렇게 만들려면 무엇이 필요했을까?”
예상 답
- “솜씨가 좋아야 해요.” “시간이 오래 걸려요.”
막히면
- 찰흙이 있으면 손톱으로 홈을 파고 다른 색 찰흙을 메워 보며 상감을 흉내 냅니다(선택).
주의
- 상감 기법은 고려 사람들이 발전시킨 독창적인 방법으로 알려져 있습니다.
- 그림의 둥근 무늬는 상감 무늬를 단순하게 나타낸 것입니다. 실제 청자에는 구름과 학 같은 무늬가 많습니다.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목판 인쇄와 금속 활자 견주기]
목적: 목판 인쇄와 금속 활자 인쇄의 차이를 견주어, 금속 활자가 여러 가지 책을 찍기에 편리하다는 것을 알게 합니다(목표 A, 오해 M1).
시간: 약 4분
이렇게 말해 보세요
- “목판은 나무판 한 장에 책 한 쪽의 글자를 통째로 새겨서 찍어. 팔만대장경이 바로 이런 나무판이야.”
- “금속 활자는 쇠붙이로 글자를 하나씩 따로 만들어 두고, 필요한 글자를 골라 짜 맞춰서 찍어.”
- “다른 책을 찍으려면 목판은 어떻게 해야 할까? 금속 활자는?”
예상 답
- “목판은 처음부터 다시 새겨야 해요. 활자는 글자를 다시 짜 맞추면 돼요.”
막히면
- 도장이 있으면 보여 주며 “이 도장으로는 한 가지만 찍히지? 글자를 하나씩 따로 만들면 어떨까?”라고 묻습니다.
- 블록 장난감을 글자라고 생각하고 다른 낱말로 다시 짜 맞추는 흉내를 내 봅니다.
주의
- 목판은 한 가지 책을 많이 찍을 때 좋고, 금속 활자는 여러 가지 책을 조금씩 찍을 때 좋습니다. 둘 다 고려의 뛰어난 인쇄 기술입니다.
- 오른쪽 그림의 글자 조각은 활자를 나타낸 것입니다. 실제 활자는 글자가 거꾸로 새겨져 있습니다(궁금해하면 알려 주는 정도로).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연습(팔만대장경, 직지심체요절)]
목적: 팔만대장경과 『직지심체요절』의 특징을 목판·금속 활자와 이어 말하고, 소중한 까닭을 설명합니다(목표 A, 오해 M1·M2).
시간: 약 3분
이렇게 말해 보세요
- “①, 팔만대장경은 불교 경전을 새긴 나무판이 8만 장이 넘어서 붙은 이름이야. 그럼 목판일까, 금속 활자일까?”
- “②, 『직지심체요절』은 줄여서 ‘직지’라고 해. 이 책이 왜 소중할까?”
- “③, 목판으로 다른 책을 찍으려면?”
정답
- ① 목판(나무판)이에요.
- ② 고려 사람들이 일찍부터 금속 활자로 책을 찍을 만큼 인쇄 기술이 뛰어났다는 것을 보여 주기 때문이에요.
- ③ 나무판을 처음부터 새로 새겨야 해요.
- 기준: ②는 ‘남아 있는 가장 오래된 금속 활자 책’이라는 점과 고려의 인쇄 기술을 이어 말하면 맞음
막히면
- ①은 S05의 왼쪽 그림을 다시 보여 줍니다.
주의
- 『직지심체요절』은 ‘세계에서 처음 만든’ 금속 활자 책이 아니라 ‘지금 남아 있는 것 가운데 가장 오래된’ 금속 활자 책입니다. 말을 정확히 쓰게 합니다(오해 M2). 이 책은 지금 프랑스 국립 도서관에 있고, 유네스코 세계 기록 유산입니다.
- 팔만대장경판은 합천 해인사에 보관되어 있고, 유네스코 세계 기록 유산입니다.
- 여기까지가 고려의 건국과 문화 부분입니다. 아이가 지치면 여기서 나누어 다음 날 S07부터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거란의 침입에 맞선 노력(서희, 강감찬)]
목적: 거란의 침입에 맞서 서희는 외교 담판으로, 강감찬은 전투로 나라를 지켰음을 알려 줍니다(목표 B, 오해 M3).
시간: 약 3분
이렇게 말해 보세요
- “거란은 고려 북쪽에 있던 나라야. 거란이 쳐들어왔을 때 서희는 거란 장수를 찾아가 말로 따졌어. ‘고려는 고구려를 이은 나라다’라고 내세우며 설득해서, 싸우지 않고 거란군을 돌아가게 하고 북쪽 땅도 얻었어. 이렇게 말로 나라 사이의 일을 푸는 것을 외교라고 해.”
- “그 뒤 거란이 다시 쳐들어왔을 때 강감찬 장군은 귀주라는 곳에서 거란군을 크게 물리쳤어.”
- “두 사람은 어떻게 다른 방법으로 나라를 지켰을까?”
예상 답
- “서희는 말로, 강감찬은 싸워서 지켰어요.”
막히면
- “친구와 다툼이 생기면 싸우지 않고 말로 풀 수도 있지?”처럼 생활 예로 ‘말로 푼다(외교)’의 뜻을 먼저 알려 줍니다.
주의
- 서희가 얻은 북쪽 땅을 ‘강동 6주’라고 합니다(궁금해하면 알려 주는 정도로).
- 전투는 자세한 장면 없이 ‘크게 물리쳤다’ 정도로만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몽골의 침입에 맞선 노력]
목적: 몽골의 침입에 맞선 고려 사람들의 여러 노력을 표로 정리합니다(목표 B).
시간: 약 3분
이렇게 말해 보세요
- “몽골은 말을 탄 군사가 아주 강했어. 그런데 바다에서 싸우는 데는 익숙하지 않았어. 그래서 고려는 도읍을 바다로 둘러싸인 강화도로 옮겨 오랫동안 맞섰어.”
- “군사뿐 아니라 백성들도 마을과 성을 지키려고 힘을 모았어.”
- “그리고 고려 사람들은 부처의 힘으로 나라를 지키고 싶다는 마음을 모아 팔만대장경을 만들었어. 오랜 시간 많은 사람이 함께 새겼어.”
예상 답
- “왜 바다 섬으로 갔어요?” “말이 바다를 못 건너서요.”
막히면
- “말을 탄 군사가 강하다면, 말이 가기 어려운 곳은 어디일까?”라고 묻습니다.
주의
- 거란이 쳐들어왔을 때도 대장경을 만들었는데, 그 대장경이 몽골의 침입 때 불에 타 다시 만든 것이 팔만대장경입니다.
- 오랜 전쟁으로 백성들이 어려움을 겪었다는 것은 담담하게 말하고, 사람들이 무엇을 위해 노력했는지에 초점을 둡니다. 고려는 결국 몽골과 전쟁을 끝내고 강화도에서 개경으로 돌아왔습니다.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오해 비교(나라를 지키는 방법)]
목적: 싸움뿐 아니라 외교와 마음 모으기도 나라를 지키는 방법이었음을 고려의 예를 근거로 말하게 합니다(목표 B, 오해 M3).
시간: 약 3분
이렇게 말해 보세요
- “가의 말에도 맞는 부분이 있을까? 강감찬은 어떻게 나라를 지켰지?”
- “그럼 서희는? 팔만대장경을 만든 사람들은?”
정답
- 기준: 나의 생각을 고르고 서희(외교 담판)나 팔만대장경(마음을 모음)을 예로 들면 잘함. 가를 고르더라도 강감찬처럼 까닭을 말하면 받아 주고, 서희의 예를 다시 물어봅니다.
- 예: “나요. 서희는 싸우지 않고 말로 거란군을 돌아가게 했어요.”
막히면
- S07 카드의 ‘말로 지켰어요’를 다시 보여 줍니다.
주의
- 누구 편을 드는지보다 고려의 예를 근거로 드는지를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안내받는 연습(어려움 → 방법 → 결과로 말하기)]
목적: 외적의 침입에 맞선 노력을 ‘어려움 → 방법 → 결과’로 갖추어 말하는 연습을 합니다(목표 B).
시간: 약 3분
이렇게 말해 보세요
- “엄마(아빠)가 ①을 먼저 해 볼게. ‘거란이 쳐들어오자(어려움), 서희가 거란 장수와 담판을 벌여(방법), 싸우지 않고 거란군이 돌아가고 땅도 얻었어요(결과).’”
- “②와 ③은 네가 틀에 맞추어 말해 볼래?”
정답
- ① 거란이 쳐들어오자, 서희가 외교 담판으로 설득해, 거란군이 물러가고 북쪽 땅을 얻었어요.
- ② 몽골이 쳐들어오자, 도읍을 강화도로 옮기고 팔만대장경을 만들며, 오랫동안 맞섰어요.
- ③ 거란이 다시 쳐들어오자, 강감찬이 군사를 이끌고 싸워, 귀주에서 크게 물리쳤어요.
- 기준: 어려움·방법·결과가 모두 들어가면 맞음
막히면
- 표의 세 칸(어려움, 방법, 결과)을 손가락으로 하나씩 짚으며 차례로 묻습니다.
주의
- ‘결과’를 빠뜨리기 쉽습니다. “그래서 어떻게 되었어?”라고 꼭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 보기(건국, 문화유산, 침입에 맞선 노력)]
목적: 고려의 건국과 문화유산, 외적의 침입에 맞선 노력을 도움 없이 설명하는지 확인합니다(목표 A·B).
시간: 약 5분
이렇게 말해 보세요
- “이번에는 혼자 해 볼래? ④는 오늘 배운 노력 가운데 하나를 골라 세 가지를 갖추어 말해 줘. 활동지 4에 써도 돼.”
정답
- ① 왕건, 918년
- ② 그릇 겉면에 무늬를 파내고, 그 홈에 다른 색 흙을 메워 구워요.
- ③ 금속 활자로 찍은 책 가운데 지금 남아 있는 가장 오래된 책이어서, 고려의 인쇄 기술이 뛰어났음을 보여 줘요.
- ④ 예: 몽골이 쳐들어오자 → 도읍을 강화도로 옮겨 → 오랫동안 맞섰어요. (어려움·방법·결과가 모두 있으면 맞음)
막히면
- 바로 알려 주지 말고 ②는 “무늬를 어떻게 넣었다고 했지?”, ④는 “누가 쳐들어왔어? 그래서 어떻게 했어? 그래서 어떻게 되었어?”라고만 묻습니다.
- 도움을 받아 해결했다면 기록표에 ‘도움’으로 표시합니다.
주의
- ③에서 ‘세계 최초의 금속 활자 책’이라고 하면 ‘지금 남아 있는 것 가운데 가장 오래된’으로 고쳐 줍니다(오해 M2). 네 문제 가운데 세 개 이상이면 목표를 이룬 것으로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S11의 답을 확인하고 흔한 실수와 견줍니다.
시간: 약 2분
이렇게 말해 보세요
- “네 답과 왼쪽을 견주어 보자. 오른쪽 두 가지는 무엇을 헷갈린 걸까?”
예상 답
- “팔만대장경은 나무판이에요.” “직지는 남아 있는 것 중에서 가장 오래된 거예요.”
정답
- ① 왕건, 918년 ② 무늬를 파내고 다른 색 흙을 메워 구움 ③ 금속 활자로 찍은 책 가운데 지금 남아 있는 가장 오래된 책 ④ 어려움·방법·결과를 갖춘 예(서희, 강감찬, 강화도, 팔만대장경 가운데 하나)
막히면
- ①은 S03, ②는 S04, ③은 S06, ④는 S10을 다시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 첫 5분에 풀 복습 질문을 알려 줍니다.
시간: 약 2분
이렇게 말해 보세요
- “고려 사람들이 남긴 문화유산 세 가지를 말해 볼래? 나라를 지킨 사람이나 방법은?”
예상 답
- “고려청자, 팔만대장경, 직지요. 서희, 강감찬, 강화도요.”
정답
- ① 왕건 ② 목판(나무판) ③ 거란 장수와 담판을 벌여 말로 설득했다(외교)
막히면
- S04~S08을 넘겨 보며 그림과 표를 다시 봅니다.
주의
- 박물관이나 박물관 누리집에서 고려청자나 팔만대장경 자료를 함께 찾아보면 좋은 복습이 됩니다(활동지 5, 선택).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보충(삼국에서 남북국까지의 흐름 다시 보기)]
목적: S02에서 지난 차시의 흐름을 어려워하면 삼국 시대 → 삼국 통일 → 남북국 시대를 다시 익힙니다.
시간: 약 4분
이렇게 말해 보세요
- “시간 띠를 왼쪽부터 같이 읽어 보자. 삼국 시대의 세 나라는?”
- “세 나라를 하나로 합친 나라는? 그 뒤 남쪽과 북쪽에 있던 두 나라는?”
- “이번에는 화면을 가리고 차례로 말해 볼래?”
정답
- 삼국: 고구려·백제·신라 / 통일한 나라: 신라 / 남북국 시대: 통일 신라(남)와 발해(북)
막히면
- 종이 카드에 ‘삼국 시대, 삼국 통일, 남북국 시대’를 써서 차례로 놓아 보게 합니다.
주의
- 이 차시의 계획상 선수 차시는 ‘삼국과 남북국’(KR22-G05-SOC-KINGDOMS-L01)입니다. 보충 뒤에도 어려우면 그 차시의 S07~S10을 다시 하고 오늘 수업은 다음 날 S02부터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역사와생활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고려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고려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사회·역사 · 고려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 사람들은 어떤 문화를 남겼고,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나라를 어떻게 지켰을까?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고려청자 매병: 아가리가 작고 어깨가 넓으며 아래로 갈수록 좁아지는 푸른빛 병. 몸통에 둥근 무늬가 새겨져 있다"/>
          <p:cNvSpPr/>
          <p:nvPr/>
        </p:nvSpPr>
        <p:spPr>
          <a:xfrm>
            <a:off x="8782956" y="723900"/>
            <a:ext cx="1727928" cy="2758440"/>
          </a:xfrm>
          <a:custGeom>
            <a:avLst/>
            <a:gdLst/>
            <a:ahLst/>
            <a:cxnLst/>
            <a:rect l="l" t="t" r="r" b="b"/>
            <a:pathLst>
              <a:path w="1727928" h="2758440">
                <a:moveTo>
                  <a:pt x="1046125" y="0"/>
                </a:moveTo>
                <a:lnTo>
                  <a:pt x="1061739" y="130115"/>
                </a:lnTo>
                <a:lnTo>
                  <a:pt x="1176240" y="182161"/>
                </a:lnTo>
                <a:lnTo>
                  <a:pt x="1384425" y="286253"/>
                </a:lnTo>
                <a:lnTo>
                  <a:pt x="1566586" y="442391"/>
                </a:lnTo>
                <a:lnTo>
                  <a:pt x="1686292" y="650575"/>
                </a:lnTo>
                <a:lnTo>
                  <a:pt x="1727928" y="884783"/>
                </a:lnTo>
                <a:lnTo>
                  <a:pt x="1707110" y="1145013"/>
                </a:lnTo>
                <a:lnTo>
                  <a:pt x="1644655" y="1457289"/>
                </a:lnTo>
                <a:lnTo>
                  <a:pt x="1566586" y="1821611"/>
                </a:lnTo>
                <a:lnTo>
                  <a:pt x="1478107" y="2185934"/>
                </a:lnTo>
                <a:lnTo>
                  <a:pt x="1394834" y="2524233"/>
                </a:lnTo>
                <a:lnTo>
                  <a:pt x="1374015" y="2664757"/>
                </a:lnTo>
                <a:lnTo>
                  <a:pt x="1415652" y="2758440"/>
                </a:lnTo>
                <a:lnTo>
                  <a:pt x="312276" y="2758440"/>
                </a:lnTo>
                <a:lnTo>
                  <a:pt x="353913" y="2664757"/>
                </a:lnTo>
                <a:lnTo>
                  <a:pt x="333095" y="2524233"/>
                </a:lnTo>
                <a:lnTo>
                  <a:pt x="249821" y="2185934"/>
                </a:lnTo>
                <a:lnTo>
                  <a:pt x="161343" y="1821611"/>
                </a:lnTo>
                <a:lnTo>
                  <a:pt x="83274" y="1457289"/>
                </a:lnTo>
                <a:lnTo>
                  <a:pt x="20818" y="1145013"/>
                </a:lnTo>
                <a:lnTo>
                  <a:pt x="0" y="884783"/>
                </a:lnTo>
                <a:lnTo>
                  <a:pt x="41637" y="650575"/>
                </a:lnTo>
                <a:lnTo>
                  <a:pt x="161343" y="442391"/>
                </a:lnTo>
                <a:lnTo>
                  <a:pt x="343504" y="286253"/>
                </a:lnTo>
                <a:lnTo>
                  <a:pt x="551688" y="182161"/>
                </a:lnTo>
                <a:lnTo>
                  <a:pt x="666189" y="130115"/>
                </a:lnTo>
                <a:lnTo>
                  <a:pt x="681803" y="0"/>
                </a:lnTo>
                <a:close/>
              </a:path>
            </a:pathLst>
          </a:custGeom>
          <a:solidFill>
            <a:srgbClr val="A9CDBB"/>
          </a:solidFill>
          <a:ln w="25400">
            <a:solidFill>
              <a:srgbClr val="4F7564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9469963" y="1509795"/>
            <a:ext cx="353913" cy="353913"/>
          </a:xfrm>
          <a:prstGeom prst="ellipse">
            <a:avLst/>
          </a:prstGeom>
          <a:solidFill>
            <a:srgbClr val="F4F1E8"/>
          </a:solidFill>
          <a:ln w="15875">
            <a:solidFill>
              <a:srgbClr val="5E7F70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9053595" y="2082302"/>
            <a:ext cx="353913" cy="353913"/>
          </a:xfrm>
          <a:prstGeom prst="ellipse">
            <a:avLst/>
          </a:prstGeom>
          <a:solidFill>
            <a:srgbClr val="F4F1E8"/>
          </a:solidFill>
          <a:ln w="15875">
            <a:solidFill>
              <a:srgbClr val="5E7F70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9886332" y="2082302"/>
            <a:ext cx="353913" cy="353913"/>
          </a:xfrm>
          <a:prstGeom prst="ellipse">
            <a:avLst/>
          </a:prstGeom>
          <a:solidFill>
            <a:srgbClr val="F4F1E8"/>
          </a:solidFill>
          <a:ln w="15875">
            <a:solidFill>
              <a:srgbClr val="5E7F70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9469963" y="2654808"/>
            <a:ext cx="353913" cy="353913"/>
          </a:xfrm>
          <a:prstGeom prst="ellipse">
            <a:avLst/>
          </a:prstGeom>
          <a:solidFill>
            <a:srgbClr val="F4F1E8"/>
          </a:solidFill>
          <a:ln w="15875">
            <a:solidFill>
              <a:srgbClr val="5E7F70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8959912" y="1166291"/>
            <a:ext cx="1374015" cy="0"/>
          </a:xfrm>
          <a:prstGeom prst="line">
            <a:avLst/>
          </a:prstGeom>
          <a:noFill/>
          <a:ln w="12700">
            <a:solidFill>
              <a:srgbClr val="5E7F70"/>
            </a:solidFill>
            <a:prstDash val="solid"/>
          </a:ln>
        </p:spPr>
      </p:sp>
      <p:sp>
        <p:nvSpPr>
          <p:cNvPr id="11" name="S01-card8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2" name="S01-cardtext9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고려의 건국과 고려의 문화유산을 설명해요.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외적의 침입에 맞선 고려 사람들의 노력을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떠올리기</a:t>
            </a:r>
            <a:endParaRPr lang="ko-KR" sz="4000" dirty="0"/>
          </a:p>
        </p:txBody>
      </p:sp>
      <p:sp>
        <p:nvSpPr>
          <p:cNvPr id="3" name="S02-chip1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11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삼국을 통일한 나라는?</a:t>
            </a:r>
            <a:endParaRPr lang="ko-KR" sz="2800" dirty="0"/>
          </a:p>
        </p:txBody>
      </p:sp>
      <p:sp>
        <p:nvSpPr>
          <p:cNvPr id="5" name="S02-chip12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13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남북국 시대의 두 나라는?</a:t>
            </a:r>
            <a:endParaRPr lang="ko-KR" sz="2800" dirty="0"/>
          </a:p>
        </p:txBody>
      </p:sp>
      <p:sp>
        <p:nvSpPr>
          <p:cNvPr id="7" name="S02-chip14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15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발해가 고구려를 이었다고 볼 근거 하나는?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고려가 세워지기까지</a:t>
            </a:r>
            <a:endParaRPr lang="ko-KR" sz="4000" dirty="0"/>
          </a:p>
        </p:txBody>
      </p:sp>
      <p:sp>
        <p:nvSpPr>
          <p:cNvPr id="3" name="S03-text16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통일 신라의 힘이 약해지자 나라가 다시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셋으로 나뉘었어요.</a:t>
            </a:r>
            <a:endParaRPr lang="ko-KR" sz="2800" dirty="0"/>
          </a:p>
        </p:txBody>
      </p:sp>
      <p:sp>
        <p:nvSpPr>
          <p:cNvPr id="4" name="S03-card17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8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‘고려’라는 이름에는 고구려를 잇는다는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뜻이 담겨 있어요.</a:t>
            </a:r>
            <a:endParaRPr lang="ko-KR" sz="2800" dirty="0"/>
          </a:p>
        </p:txBody>
      </p:sp>
      <p:sp>
        <p:nvSpPr>
          <p:cNvPr id="6" name="S03-line19"/>
          <p:cNvSpPr/>
          <p:nvPr/>
        </p:nvSpPr>
        <p:spPr>
          <a:xfrm>
            <a:off x="822960" y="3584448"/>
            <a:ext cx="10543032" cy="0"/>
          </a:xfrm>
          <a:prstGeom prst="line">
            <a:avLst/>
          </a:prstGeom>
          <a:noFill/>
          <a:ln w="381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7" name="S03-event20"/>
          <p:cNvSpPr/>
          <p:nvPr/>
        </p:nvSpPr>
        <p:spPr>
          <a:xfrm>
            <a:off x="2021967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03-label21"/>
          <p:cNvSpPr txBox="1"/>
          <p:nvPr/>
        </p:nvSpPr>
        <p:spPr>
          <a:xfrm>
            <a:off x="868680" y="2901823"/>
            <a:ext cx="2544318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통일 신라</a:t>
            </a:r>
            <a:endParaRPr lang="ko-KR" sz="2200" dirty="0"/>
          </a:p>
        </p:txBody>
      </p:sp>
      <p:sp>
        <p:nvSpPr>
          <p:cNvPr id="9" name="S03-label22"/>
          <p:cNvSpPr txBox="1"/>
          <p:nvPr/>
        </p:nvSpPr>
        <p:spPr>
          <a:xfrm>
            <a:off x="868680" y="3813048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힘이 약해짐</a:t>
            </a:r>
            <a:endParaRPr lang="ko-KR" sz="1800" dirty="0"/>
          </a:p>
        </p:txBody>
      </p:sp>
      <p:sp>
        <p:nvSpPr>
          <p:cNvPr id="10" name="S03-event23"/>
          <p:cNvSpPr/>
          <p:nvPr/>
        </p:nvSpPr>
        <p:spPr>
          <a:xfrm>
            <a:off x="4657725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03-label24"/>
          <p:cNvSpPr txBox="1"/>
          <p:nvPr/>
        </p:nvSpPr>
        <p:spPr>
          <a:xfrm>
            <a:off x="3504438" y="2901823"/>
            <a:ext cx="2544318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후삼국 시대</a:t>
            </a:r>
            <a:endParaRPr lang="ko-KR" sz="2200" dirty="0"/>
          </a:p>
        </p:txBody>
      </p:sp>
      <p:sp>
        <p:nvSpPr>
          <p:cNvPr id="12" name="S03-label25"/>
          <p:cNvSpPr txBox="1"/>
          <p:nvPr/>
        </p:nvSpPr>
        <p:spPr>
          <a:xfrm>
            <a:off x="3504438" y="3813048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후백제·후고구려가 생김</a:t>
            </a:r>
            <a:endParaRPr lang="ko-KR" sz="1800" dirty="0"/>
          </a:p>
        </p:txBody>
      </p:sp>
      <p:sp>
        <p:nvSpPr>
          <p:cNvPr id="13" name="S03-event26"/>
          <p:cNvSpPr/>
          <p:nvPr/>
        </p:nvSpPr>
        <p:spPr>
          <a:xfrm>
            <a:off x="7293483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03-label27"/>
          <p:cNvSpPr txBox="1"/>
          <p:nvPr/>
        </p:nvSpPr>
        <p:spPr>
          <a:xfrm>
            <a:off x="6140196" y="2901823"/>
            <a:ext cx="2544318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 건국</a:t>
            </a:r>
            <a:endParaRPr lang="ko-KR" sz="2200" dirty="0"/>
          </a:p>
        </p:txBody>
      </p:sp>
      <p:sp>
        <p:nvSpPr>
          <p:cNvPr id="15" name="S03-label28"/>
          <p:cNvSpPr txBox="1"/>
          <p:nvPr/>
        </p:nvSpPr>
        <p:spPr>
          <a:xfrm>
            <a:off x="6140196" y="3813048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918년, 왕건</a:t>
            </a:r>
            <a:endParaRPr lang="ko-KR" sz="1800" dirty="0"/>
          </a:p>
        </p:txBody>
      </p:sp>
      <p:sp>
        <p:nvSpPr>
          <p:cNvPr id="16" name="S03-event29"/>
          <p:cNvSpPr/>
          <p:nvPr/>
        </p:nvSpPr>
        <p:spPr>
          <a:xfrm>
            <a:off x="9929241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03-label30"/>
          <p:cNvSpPr txBox="1"/>
          <p:nvPr/>
        </p:nvSpPr>
        <p:spPr>
          <a:xfrm>
            <a:off x="8775954" y="2901823"/>
            <a:ext cx="2544318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후삼국 통일</a:t>
            </a:r>
            <a:endParaRPr lang="ko-KR" sz="2200" dirty="0"/>
          </a:p>
        </p:txBody>
      </p:sp>
      <p:sp>
        <p:nvSpPr>
          <p:cNvPr id="18" name="S03-label31"/>
          <p:cNvSpPr txBox="1"/>
          <p:nvPr/>
        </p:nvSpPr>
        <p:spPr>
          <a:xfrm>
            <a:off x="8775954" y="3813048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고려가 하나로 합침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고려청자와 상감 기법</a:t>
            </a:r>
            <a:endParaRPr lang="ko-KR" sz="4000" dirty="0"/>
          </a:p>
        </p:txBody>
      </p:sp>
      <p:sp>
        <p:nvSpPr>
          <p:cNvPr id="3" name="S04-figure32" descr="고려청자 매병: 아가리가 작고 어깨가 넓으며 아래로 갈수록 좁아지는 푸른빛 병. 몸통에 둥근 무늬가 새겨져 있다"/>
          <p:cNvSpPr/>
          <p:nvPr/>
        </p:nvSpPr>
        <p:spPr>
          <a:xfrm>
            <a:off x="1140637" y="1409700"/>
            <a:ext cx="2677334" cy="4274058"/>
          </a:xfrm>
          <a:custGeom>
            <a:avLst/>
            <a:gdLst/>
            <a:ahLst/>
            <a:cxnLst/>
            <a:rect l="l" t="t" r="r" b="b"/>
            <a:pathLst>
              <a:path w="2677334" h="4274058">
                <a:moveTo>
                  <a:pt x="1620916" y="0"/>
                </a:moveTo>
                <a:lnTo>
                  <a:pt x="1645109" y="201607"/>
                </a:lnTo>
                <a:lnTo>
                  <a:pt x="1822523" y="282249"/>
                </a:lnTo>
                <a:lnTo>
                  <a:pt x="2145093" y="443534"/>
                </a:lnTo>
                <a:lnTo>
                  <a:pt x="2427342" y="685462"/>
                </a:lnTo>
                <a:lnTo>
                  <a:pt x="2612820" y="1008033"/>
                </a:lnTo>
                <a:lnTo>
                  <a:pt x="2677334" y="1370924"/>
                </a:lnTo>
                <a:lnTo>
                  <a:pt x="2645077" y="1774137"/>
                </a:lnTo>
                <a:lnTo>
                  <a:pt x="2548306" y="2257993"/>
                </a:lnTo>
                <a:lnTo>
                  <a:pt x="2427342" y="2822491"/>
                </a:lnTo>
                <a:lnTo>
                  <a:pt x="2290250" y="3386989"/>
                </a:lnTo>
                <a:lnTo>
                  <a:pt x="2161222" y="3911166"/>
                </a:lnTo>
                <a:lnTo>
                  <a:pt x="2128965" y="4128901"/>
                </a:lnTo>
                <a:lnTo>
                  <a:pt x="2193479" y="4274058"/>
                </a:lnTo>
                <a:lnTo>
                  <a:pt x="483856" y="4274058"/>
                </a:lnTo>
                <a:lnTo>
                  <a:pt x="548370" y="4128901"/>
                </a:lnTo>
                <a:lnTo>
                  <a:pt x="516113" y="3911166"/>
                </a:lnTo>
                <a:lnTo>
                  <a:pt x="387084" y="3386989"/>
                </a:lnTo>
                <a:lnTo>
                  <a:pt x="249992" y="2822491"/>
                </a:lnTo>
                <a:lnTo>
                  <a:pt x="129028" y="2257993"/>
                </a:lnTo>
                <a:lnTo>
                  <a:pt x="32257" y="1774137"/>
                </a:lnTo>
                <a:lnTo>
                  <a:pt x="0" y="1370924"/>
                </a:lnTo>
                <a:lnTo>
                  <a:pt x="64514" y="1008033"/>
                </a:lnTo>
                <a:lnTo>
                  <a:pt x="249992" y="685462"/>
                </a:lnTo>
                <a:lnTo>
                  <a:pt x="532241" y="443534"/>
                </a:lnTo>
                <a:lnTo>
                  <a:pt x="854812" y="282249"/>
                </a:lnTo>
                <a:lnTo>
                  <a:pt x="1032225" y="201607"/>
                </a:lnTo>
                <a:lnTo>
                  <a:pt x="1056418" y="0"/>
                </a:lnTo>
                <a:close/>
              </a:path>
            </a:pathLst>
          </a:custGeom>
          <a:solidFill>
            <a:srgbClr val="A9CDBB"/>
          </a:solidFill>
          <a:ln w="25400">
            <a:solidFill>
              <a:srgbClr val="4F7564"/>
            </a:solidFill>
            <a:prstDash val="solid"/>
          </a:ln>
        </p:spPr>
      </p:sp>
      <p:sp>
        <p:nvSpPr>
          <p:cNvPr id="4" name="S04-mark33"/>
          <p:cNvSpPr/>
          <p:nvPr/>
        </p:nvSpPr>
        <p:spPr>
          <a:xfrm>
            <a:off x="2205119" y="2627403"/>
            <a:ext cx="548370" cy="548370"/>
          </a:xfrm>
          <a:prstGeom prst="ellipse">
            <a:avLst/>
          </a:prstGeom>
          <a:solidFill>
            <a:srgbClr val="F4F1E8"/>
          </a:solidFill>
          <a:ln w="15875">
            <a:solidFill>
              <a:srgbClr val="5E7F70"/>
            </a:solidFill>
            <a:prstDash val="solid"/>
          </a:ln>
        </p:spPr>
      </p:sp>
      <p:sp>
        <p:nvSpPr>
          <p:cNvPr id="5" name="S04-mark34"/>
          <p:cNvSpPr/>
          <p:nvPr/>
        </p:nvSpPr>
        <p:spPr>
          <a:xfrm>
            <a:off x="1559978" y="3514472"/>
            <a:ext cx="548370" cy="548370"/>
          </a:xfrm>
          <a:prstGeom prst="ellipse">
            <a:avLst/>
          </a:prstGeom>
          <a:solidFill>
            <a:srgbClr val="F4F1E8"/>
          </a:solidFill>
          <a:ln w="15875">
            <a:solidFill>
              <a:srgbClr val="5E7F70"/>
            </a:solidFill>
            <a:prstDash val="solid"/>
          </a:ln>
        </p:spPr>
      </p:sp>
      <p:sp>
        <p:nvSpPr>
          <p:cNvPr id="6" name="S04-mark35"/>
          <p:cNvSpPr/>
          <p:nvPr/>
        </p:nvSpPr>
        <p:spPr>
          <a:xfrm>
            <a:off x="2850260" y="3514472"/>
            <a:ext cx="548370" cy="548370"/>
          </a:xfrm>
          <a:prstGeom prst="ellipse">
            <a:avLst/>
          </a:prstGeom>
          <a:solidFill>
            <a:srgbClr val="F4F1E8"/>
          </a:solidFill>
          <a:ln w="15875">
            <a:solidFill>
              <a:srgbClr val="5E7F70"/>
            </a:solidFill>
            <a:prstDash val="solid"/>
          </a:ln>
        </p:spPr>
      </p:sp>
      <p:sp>
        <p:nvSpPr>
          <p:cNvPr id="7" name="S04-mark36"/>
          <p:cNvSpPr/>
          <p:nvPr/>
        </p:nvSpPr>
        <p:spPr>
          <a:xfrm>
            <a:off x="2205119" y="4401541"/>
            <a:ext cx="548370" cy="548370"/>
          </a:xfrm>
          <a:prstGeom prst="ellipse">
            <a:avLst/>
          </a:prstGeom>
          <a:solidFill>
            <a:srgbClr val="F4F1E8"/>
          </a:solidFill>
          <a:ln w="15875">
            <a:solidFill>
              <a:srgbClr val="5E7F70"/>
            </a:solidFill>
            <a:prstDash val="solid"/>
          </a:ln>
        </p:spPr>
      </p:sp>
      <p:sp>
        <p:nvSpPr>
          <p:cNvPr id="8" name="S04-mark37"/>
          <p:cNvSpPr/>
          <p:nvPr/>
        </p:nvSpPr>
        <p:spPr>
          <a:xfrm>
            <a:off x="1414822" y="2095162"/>
            <a:ext cx="2128965" cy="0"/>
          </a:xfrm>
          <a:prstGeom prst="line">
            <a:avLst/>
          </a:prstGeom>
          <a:noFill/>
          <a:ln w="12700">
            <a:solidFill>
              <a:srgbClr val="5E7F70"/>
            </a:solidFill>
            <a:prstDash val="solid"/>
          </a:ln>
        </p:spPr>
      </p:sp>
      <p:sp>
        <p:nvSpPr>
          <p:cNvPr id="9" name="S04-label38"/>
          <p:cNvSpPr txBox="1"/>
          <p:nvPr/>
        </p:nvSpPr>
        <p:spPr>
          <a:xfrm>
            <a:off x="548640" y="5840730"/>
            <a:ext cx="386132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고려청자 매병</a:t>
            </a:r>
            <a:endParaRPr lang="ko-KR" sz="2200" dirty="0"/>
          </a:p>
        </p:txBody>
      </p:sp>
      <p:sp>
        <p:nvSpPr>
          <p:cNvPr id="10" name="S04-card39"/>
          <p:cNvSpPr/>
          <p:nvPr/>
        </p:nvSpPr>
        <p:spPr>
          <a:xfrm>
            <a:off x="4775728" y="1432306"/>
            <a:ext cx="6864584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4-cardtext40"/>
          <p:cNvSpPr txBox="1"/>
          <p:nvPr/>
        </p:nvSpPr>
        <p:spPr>
          <a:xfrm>
            <a:off x="5050048" y="1569466"/>
            <a:ext cx="6315944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맑은 푸른빛(비색)이에요.</a:t>
            </a:r>
            <a:endParaRPr lang="ko-KR" sz="2800" dirty="0"/>
          </a:p>
        </p:txBody>
      </p:sp>
      <p:sp>
        <p:nvSpPr>
          <p:cNvPr id="12" name="S04-card41"/>
          <p:cNvSpPr/>
          <p:nvPr/>
        </p:nvSpPr>
        <p:spPr>
          <a:xfrm>
            <a:off x="4775728" y="2840990"/>
            <a:ext cx="686458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4-cardtext42"/>
          <p:cNvSpPr txBox="1"/>
          <p:nvPr/>
        </p:nvSpPr>
        <p:spPr>
          <a:xfrm>
            <a:off x="5050048" y="2978150"/>
            <a:ext cx="631594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상감 기법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무늬를 파내고 다른 색 흙을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메워 구웠어요.</a:t>
            </a:r>
            <a:endParaRPr lang="ko-KR" sz="2800" dirty="0"/>
          </a:p>
        </p:txBody>
      </p:sp>
      <p:sp>
        <p:nvSpPr>
          <p:cNvPr id="14" name="S04-card43"/>
          <p:cNvSpPr/>
          <p:nvPr/>
        </p:nvSpPr>
        <p:spPr>
          <a:xfrm>
            <a:off x="4775728" y="4590542"/>
            <a:ext cx="6864584" cy="1520952"/>
          </a:xfrm>
          <a:prstGeom prst="roundRect">
            <a:avLst>
              <a:gd name="adj" fmla="val 72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5" name="S04-cardtext44"/>
          <p:cNvSpPr txBox="1"/>
          <p:nvPr/>
        </p:nvSpPr>
        <p:spPr>
          <a:xfrm>
            <a:off x="5050048" y="4727702"/>
            <a:ext cx="631594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짐작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그릇을 만드는 솜씨가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뛰어났다고 생각할 수 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목판과 금속 활자</a:t>
            </a:r>
            <a:endParaRPr lang="ko-KR" sz="4000" dirty="0"/>
          </a:p>
        </p:txBody>
      </p:sp>
      <p:sp>
        <p:nvSpPr>
          <p:cNvPr id="3" name="S05-card4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4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 사람들은 두 가지 방법으로 책을 찍었어요.</a:t>
            </a:r>
            <a:endParaRPr lang="ko-KR" sz="2800" dirty="0"/>
          </a:p>
        </p:txBody>
      </p:sp>
      <p:sp>
        <p:nvSpPr>
          <p:cNvPr id="5" name="S05-card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책을 찍을 때 어느 쪽이 더 편리할까요?</a:t>
            </a:r>
            <a:endParaRPr lang="ko-KR" sz="2800" dirty="0"/>
          </a:p>
        </p:txBody>
      </p:sp>
      <p:sp>
        <p:nvSpPr>
          <p:cNvPr id="7" name="S05-chip4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목판</a:t>
            </a:r>
            <a:endParaRPr lang="ko-KR" sz="2200" dirty="0"/>
          </a:p>
        </p:txBody>
      </p:sp>
      <p:sp>
        <p:nvSpPr>
          <p:cNvPr id="8" name="S05-figure50" descr="목판: 나무판 한 장에 한 쪽의 글자를 모두 새긴 모습"/>
          <p:cNvSpPr/>
          <p:nvPr/>
        </p:nvSpPr>
        <p:spPr>
          <a:xfrm>
            <a:off x="2273910" y="3238500"/>
            <a:ext cx="1912417" cy="1366012"/>
          </a:xfrm>
          <a:custGeom>
            <a:avLst/>
            <a:gdLst/>
            <a:ahLst/>
            <a:cxnLst/>
            <a:rect l="l" t="t" r="r" b="b"/>
            <a:pathLst>
              <a:path w="1912417" h="1366012">
                <a:moveTo>
                  <a:pt x="0" y="1366012"/>
                </a:moveTo>
                <a:lnTo>
                  <a:pt x="1912417" y="1366012"/>
                </a:lnTo>
                <a:lnTo>
                  <a:pt x="1912417" y="0"/>
                </a:lnTo>
                <a:lnTo>
                  <a:pt x="0" y="0"/>
                </a:lnTo>
                <a:close/>
              </a:path>
            </a:pathLst>
          </a:custGeom>
          <a:solidFill>
            <a:srgbClr val="D8B48A"/>
          </a:solidFill>
          <a:ln w="25400">
            <a:solidFill>
              <a:srgbClr val="7A5634"/>
            </a:solidFill>
            <a:prstDash val="solid"/>
          </a:ln>
        </p:spPr>
      </p:sp>
      <p:sp>
        <p:nvSpPr>
          <p:cNvPr id="9" name="S05-mark51"/>
          <p:cNvSpPr/>
          <p:nvPr/>
        </p:nvSpPr>
        <p:spPr>
          <a:xfrm>
            <a:off x="2501578" y="3397868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10" name="S05-mark52"/>
          <p:cNvSpPr/>
          <p:nvPr/>
        </p:nvSpPr>
        <p:spPr>
          <a:xfrm>
            <a:off x="2501578" y="3561790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11" name="S05-mark53"/>
          <p:cNvSpPr/>
          <p:nvPr/>
        </p:nvSpPr>
        <p:spPr>
          <a:xfrm>
            <a:off x="2501578" y="3725711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12" name="S05-mark54"/>
          <p:cNvSpPr/>
          <p:nvPr/>
        </p:nvSpPr>
        <p:spPr>
          <a:xfrm>
            <a:off x="2501578" y="3889632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13" name="S05-mark55"/>
          <p:cNvSpPr/>
          <p:nvPr/>
        </p:nvSpPr>
        <p:spPr>
          <a:xfrm>
            <a:off x="2501578" y="4053554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14" name="S05-mark56"/>
          <p:cNvSpPr/>
          <p:nvPr/>
        </p:nvSpPr>
        <p:spPr>
          <a:xfrm>
            <a:off x="2501578" y="4217475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15" name="S05-mark57"/>
          <p:cNvSpPr/>
          <p:nvPr/>
        </p:nvSpPr>
        <p:spPr>
          <a:xfrm>
            <a:off x="2501578" y="4381397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16" name="S05-mark58"/>
          <p:cNvSpPr/>
          <p:nvPr/>
        </p:nvSpPr>
        <p:spPr>
          <a:xfrm>
            <a:off x="2742907" y="3397868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17" name="S05-mark59"/>
          <p:cNvSpPr/>
          <p:nvPr/>
        </p:nvSpPr>
        <p:spPr>
          <a:xfrm>
            <a:off x="2742907" y="3561790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18" name="S05-mark60"/>
          <p:cNvSpPr/>
          <p:nvPr/>
        </p:nvSpPr>
        <p:spPr>
          <a:xfrm>
            <a:off x="2742907" y="3725711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19" name="S05-mark61"/>
          <p:cNvSpPr/>
          <p:nvPr/>
        </p:nvSpPr>
        <p:spPr>
          <a:xfrm>
            <a:off x="2742907" y="3889632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20" name="S05-mark62"/>
          <p:cNvSpPr/>
          <p:nvPr/>
        </p:nvSpPr>
        <p:spPr>
          <a:xfrm>
            <a:off x="2742907" y="4053554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21" name="S05-mark63"/>
          <p:cNvSpPr/>
          <p:nvPr/>
        </p:nvSpPr>
        <p:spPr>
          <a:xfrm>
            <a:off x="2742907" y="4217475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22" name="S05-mark64"/>
          <p:cNvSpPr/>
          <p:nvPr/>
        </p:nvSpPr>
        <p:spPr>
          <a:xfrm>
            <a:off x="2742907" y="4381397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23" name="S05-mark65"/>
          <p:cNvSpPr/>
          <p:nvPr/>
        </p:nvSpPr>
        <p:spPr>
          <a:xfrm>
            <a:off x="2984236" y="3397868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24" name="S05-mark66"/>
          <p:cNvSpPr/>
          <p:nvPr/>
        </p:nvSpPr>
        <p:spPr>
          <a:xfrm>
            <a:off x="2984236" y="3561790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25" name="S05-mark67"/>
          <p:cNvSpPr/>
          <p:nvPr/>
        </p:nvSpPr>
        <p:spPr>
          <a:xfrm>
            <a:off x="2984236" y="3725711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26" name="S05-mark68"/>
          <p:cNvSpPr/>
          <p:nvPr/>
        </p:nvSpPr>
        <p:spPr>
          <a:xfrm>
            <a:off x="2984236" y="3889632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27" name="S05-mark69"/>
          <p:cNvSpPr/>
          <p:nvPr/>
        </p:nvSpPr>
        <p:spPr>
          <a:xfrm>
            <a:off x="2984236" y="4053554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28" name="S05-mark70"/>
          <p:cNvSpPr/>
          <p:nvPr/>
        </p:nvSpPr>
        <p:spPr>
          <a:xfrm>
            <a:off x="2984236" y="4217475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29" name="S05-mark71"/>
          <p:cNvSpPr/>
          <p:nvPr/>
        </p:nvSpPr>
        <p:spPr>
          <a:xfrm>
            <a:off x="2984236" y="4381397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30" name="S05-mark72"/>
          <p:cNvSpPr/>
          <p:nvPr/>
        </p:nvSpPr>
        <p:spPr>
          <a:xfrm>
            <a:off x="3225565" y="3397868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31" name="S05-mark73"/>
          <p:cNvSpPr/>
          <p:nvPr/>
        </p:nvSpPr>
        <p:spPr>
          <a:xfrm>
            <a:off x="3225565" y="3561790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32" name="S05-mark74"/>
          <p:cNvSpPr/>
          <p:nvPr/>
        </p:nvSpPr>
        <p:spPr>
          <a:xfrm>
            <a:off x="3225565" y="3725711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33" name="S05-mark75"/>
          <p:cNvSpPr/>
          <p:nvPr/>
        </p:nvSpPr>
        <p:spPr>
          <a:xfrm>
            <a:off x="3225565" y="3889632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34" name="S05-mark76"/>
          <p:cNvSpPr/>
          <p:nvPr/>
        </p:nvSpPr>
        <p:spPr>
          <a:xfrm>
            <a:off x="3225565" y="4053554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35" name="S05-mark77"/>
          <p:cNvSpPr/>
          <p:nvPr/>
        </p:nvSpPr>
        <p:spPr>
          <a:xfrm>
            <a:off x="3225565" y="4217475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36" name="S05-mark78"/>
          <p:cNvSpPr/>
          <p:nvPr/>
        </p:nvSpPr>
        <p:spPr>
          <a:xfrm>
            <a:off x="3225565" y="4381397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37" name="S05-mark79"/>
          <p:cNvSpPr/>
          <p:nvPr/>
        </p:nvSpPr>
        <p:spPr>
          <a:xfrm>
            <a:off x="3466893" y="3397868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38" name="S05-mark80"/>
          <p:cNvSpPr/>
          <p:nvPr/>
        </p:nvSpPr>
        <p:spPr>
          <a:xfrm>
            <a:off x="3466893" y="3561790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39" name="S05-mark81"/>
          <p:cNvSpPr/>
          <p:nvPr/>
        </p:nvSpPr>
        <p:spPr>
          <a:xfrm>
            <a:off x="3466893" y="3725711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40" name="S05-mark82"/>
          <p:cNvSpPr/>
          <p:nvPr/>
        </p:nvSpPr>
        <p:spPr>
          <a:xfrm>
            <a:off x="3466893" y="3889632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41" name="S05-mark83"/>
          <p:cNvSpPr/>
          <p:nvPr/>
        </p:nvSpPr>
        <p:spPr>
          <a:xfrm>
            <a:off x="3466893" y="4053554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42" name="S05-mark84"/>
          <p:cNvSpPr/>
          <p:nvPr/>
        </p:nvSpPr>
        <p:spPr>
          <a:xfrm>
            <a:off x="3466893" y="4217475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43" name="S05-mark85"/>
          <p:cNvSpPr/>
          <p:nvPr/>
        </p:nvSpPr>
        <p:spPr>
          <a:xfrm>
            <a:off x="3466893" y="4381397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44" name="S05-mark86"/>
          <p:cNvSpPr/>
          <p:nvPr/>
        </p:nvSpPr>
        <p:spPr>
          <a:xfrm>
            <a:off x="3708222" y="3397868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45" name="S05-mark87"/>
          <p:cNvSpPr/>
          <p:nvPr/>
        </p:nvSpPr>
        <p:spPr>
          <a:xfrm>
            <a:off x="3708222" y="3561790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46" name="S05-mark88"/>
          <p:cNvSpPr/>
          <p:nvPr/>
        </p:nvSpPr>
        <p:spPr>
          <a:xfrm>
            <a:off x="3708222" y="3725711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47" name="S05-mark89"/>
          <p:cNvSpPr/>
          <p:nvPr/>
        </p:nvSpPr>
        <p:spPr>
          <a:xfrm>
            <a:off x="3708222" y="3889632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48" name="S05-mark90"/>
          <p:cNvSpPr/>
          <p:nvPr/>
        </p:nvSpPr>
        <p:spPr>
          <a:xfrm>
            <a:off x="3708222" y="4053554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49" name="S05-mark91"/>
          <p:cNvSpPr/>
          <p:nvPr/>
        </p:nvSpPr>
        <p:spPr>
          <a:xfrm>
            <a:off x="3708222" y="4217475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50" name="S05-mark92"/>
          <p:cNvSpPr/>
          <p:nvPr/>
        </p:nvSpPr>
        <p:spPr>
          <a:xfrm>
            <a:off x="3708222" y="4381397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51" name="S05-mark93"/>
          <p:cNvSpPr/>
          <p:nvPr/>
        </p:nvSpPr>
        <p:spPr>
          <a:xfrm>
            <a:off x="3949551" y="3397868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52" name="S05-mark94"/>
          <p:cNvSpPr/>
          <p:nvPr/>
        </p:nvSpPr>
        <p:spPr>
          <a:xfrm>
            <a:off x="3949551" y="3561790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53" name="S05-mark95"/>
          <p:cNvSpPr/>
          <p:nvPr/>
        </p:nvSpPr>
        <p:spPr>
          <a:xfrm>
            <a:off x="3949551" y="3725711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54" name="S05-mark96"/>
          <p:cNvSpPr/>
          <p:nvPr/>
        </p:nvSpPr>
        <p:spPr>
          <a:xfrm>
            <a:off x="3949551" y="3889632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55" name="S05-mark97"/>
          <p:cNvSpPr/>
          <p:nvPr/>
        </p:nvSpPr>
        <p:spPr>
          <a:xfrm>
            <a:off x="3949551" y="4053554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56" name="S05-mark98"/>
          <p:cNvSpPr/>
          <p:nvPr/>
        </p:nvSpPr>
        <p:spPr>
          <a:xfrm>
            <a:off x="3949551" y="4217475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57" name="S05-mark99"/>
          <p:cNvSpPr/>
          <p:nvPr/>
        </p:nvSpPr>
        <p:spPr>
          <a:xfrm>
            <a:off x="3949551" y="4381397"/>
            <a:ext cx="0" cy="100174"/>
          </a:xfrm>
          <a:prstGeom prst="line">
            <a:avLst/>
          </a:prstGeom>
          <a:noFill/>
          <a:ln w="31750">
            <a:solidFill>
              <a:srgbClr val="5C3F22"/>
            </a:solidFill>
            <a:prstDash val="solid"/>
          </a:ln>
        </p:spPr>
      </p:sp>
      <p:sp>
        <p:nvSpPr>
          <p:cNvPr id="58" name="S05-text100"/>
          <p:cNvSpPr txBox="1"/>
          <p:nvPr/>
        </p:nvSpPr>
        <p:spPr>
          <a:xfrm>
            <a:off x="548640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나무판 한 장에 한 쪽을 통째로 새겨요.</a:t>
            </a:r>
            <a:endParaRPr lang="ko-KR" sz="2200" dirty="0"/>
          </a:p>
        </p:txBody>
      </p:sp>
      <p:sp>
        <p:nvSpPr>
          <p:cNvPr id="59" name="S05-chip10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금속 활자</a:t>
            </a:r>
            <a:endParaRPr lang="ko-KR" sz="2200" dirty="0"/>
          </a:p>
        </p:txBody>
      </p:sp>
      <p:sp>
        <p:nvSpPr>
          <p:cNvPr id="60" name="S05-tile102"/>
          <p:cNvSpPr txBox="1"/>
          <p:nvPr/>
        </p:nvSpPr>
        <p:spPr>
          <a:xfrm>
            <a:off x="6277356" y="3326575"/>
            <a:ext cx="1189863" cy="1189863"/>
          </a:xfrm>
          <a:prstGeom prst="roundRect">
            <a:avLst>
              <a:gd name="adj" fmla="val 1075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</a:t>
            </a:r>
            <a:endParaRPr lang="ko-KR" sz="5200" dirty="0"/>
          </a:p>
        </p:txBody>
      </p:sp>
      <p:sp>
        <p:nvSpPr>
          <p:cNvPr id="61" name="S05-tile103"/>
          <p:cNvSpPr txBox="1"/>
          <p:nvPr/>
        </p:nvSpPr>
        <p:spPr>
          <a:xfrm>
            <a:off x="7668387" y="3326575"/>
            <a:ext cx="1189863" cy="1189863"/>
          </a:xfrm>
          <a:prstGeom prst="roundRect">
            <a:avLst>
              <a:gd name="adj" fmla="val 1075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려</a:t>
            </a:r>
            <a:endParaRPr lang="ko-KR" sz="5200" dirty="0"/>
          </a:p>
        </p:txBody>
      </p:sp>
      <p:sp>
        <p:nvSpPr>
          <p:cNvPr id="62" name="S05-tile104"/>
          <p:cNvSpPr txBox="1"/>
          <p:nvPr/>
        </p:nvSpPr>
        <p:spPr>
          <a:xfrm>
            <a:off x="9059418" y="3326575"/>
            <a:ext cx="1189863" cy="1189863"/>
          </a:xfrm>
          <a:prstGeom prst="roundRect">
            <a:avLst>
              <a:gd name="adj" fmla="val 1075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</a:t>
            </a:r>
            <a:endParaRPr lang="ko-KR" sz="5200" dirty="0"/>
          </a:p>
        </p:txBody>
      </p:sp>
      <p:sp>
        <p:nvSpPr>
          <p:cNvPr id="63" name="S05-tile105"/>
          <p:cNvSpPr txBox="1"/>
          <p:nvPr/>
        </p:nvSpPr>
        <p:spPr>
          <a:xfrm>
            <a:off x="10450449" y="3326575"/>
            <a:ext cx="1189863" cy="1189863"/>
          </a:xfrm>
          <a:prstGeom prst="roundRect">
            <a:avLst>
              <a:gd name="adj" fmla="val 1075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</a:t>
            </a:r>
            <a:endParaRPr lang="ko-KR" sz="5200" dirty="0"/>
          </a:p>
        </p:txBody>
      </p:sp>
      <p:sp>
        <p:nvSpPr>
          <p:cNvPr id="64" name="S05-text106"/>
          <p:cNvSpPr txBox="1"/>
          <p:nvPr/>
        </p:nvSpPr>
        <p:spPr>
          <a:xfrm>
            <a:off x="6277356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글자를 하나씩 만들어 짜 맞춰요.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고려의 문화유산</a:t>
            </a:r>
            <a:endParaRPr lang="ko-KR" sz="4000" dirty="0"/>
          </a:p>
        </p:txBody>
      </p:sp>
      <p:sp>
        <p:nvSpPr>
          <p:cNvPr id="3" name="S06-chip10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6-text108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팔만대장경은 목판일까요, 금속 활자일까요?</a:t>
            </a:r>
            <a:endParaRPr lang="ko-KR" sz="2800" dirty="0"/>
          </a:p>
        </p:txBody>
      </p:sp>
      <p:sp>
        <p:nvSpPr>
          <p:cNvPr id="5" name="S06-chip10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6-text110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『직지심체요절』은 금속 활자로 찍은 책 가운데 지금 남아 있는 가장 오래된 책이에요. 왜 소중할까요?</a:t>
            </a:r>
            <a:endParaRPr lang="ko-KR" sz="2800" dirty="0"/>
          </a:p>
        </p:txBody>
      </p:sp>
      <p:sp>
        <p:nvSpPr>
          <p:cNvPr id="7" name="S06-chip11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6-text112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목판으로 다른 책을 찍으려면 어떻게 해야 할까요?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거란의 침입과 고려</a:t>
            </a:r>
            <a:endParaRPr lang="ko-KR" sz="4000" dirty="0"/>
          </a:p>
        </p:txBody>
      </p:sp>
      <p:sp>
        <p:nvSpPr>
          <p:cNvPr id="3" name="S07-text1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북쪽의 거란이 여러 차례 쳐들어왔어요.</a:t>
            </a:r>
            <a:endParaRPr lang="ko-KR" sz="2800" dirty="0"/>
          </a:p>
        </p:txBody>
      </p:sp>
      <p:sp>
        <p:nvSpPr>
          <p:cNvPr id="4" name="S07-card1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1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고려는 말(외교)과 힘(전투)으로 나라를 지켰어요.</a:t>
            </a:r>
            <a:endParaRPr lang="ko-KR" sz="2800" dirty="0"/>
          </a:p>
        </p:txBody>
      </p:sp>
      <p:sp>
        <p:nvSpPr>
          <p:cNvPr id="6" name="S07-card116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7-cardtext117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서희: 말로 지켰어요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거란 장수와 담판을 벌여 싸우지 않고 물러가게 했어요. 땅도 넓혔어요.</a:t>
            </a:r>
            <a:endParaRPr lang="ko-KR" sz="2800" dirty="0"/>
          </a:p>
        </p:txBody>
      </p:sp>
      <p:sp>
        <p:nvSpPr>
          <p:cNvPr id="8" name="S07-card118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7-cardtext119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강감찬: 힘으로 지켰어요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쳐들어온 거란군을 귀주에서 크게 물리쳤어요.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몽골의 침입과 고려</a:t>
            </a:r>
            <a:endParaRPr lang="ko-KR" sz="4000" dirty="0"/>
          </a:p>
        </p:txBody>
      </p:sp>
      <p:sp>
        <p:nvSpPr>
          <p:cNvPr id="3" name="S08-text1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힘센 몽골이 쳐들어오자 고려는 이렇게 맞섰어요.</a:t>
            </a:r>
            <a:endParaRPr lang="ko-KR" sz="2800" dirty="0"/>
          </a:p>
        </p:txBody>
      </p:sp>
      <p:sp>
        <p:nvSpPr>
          <p:cNvPr id="4" name="S08-card1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1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 사람들은 여러 방법으로 힘을 모아 몽골에 맞섰어요.</a:t>
            </a:r>
            <a:endParaRPr lang="ko-KR" sz="2800" dirty="0"/>
          </a:p>
        </p:txBody>
      </p:sp>
      <p:graphicFrame>
        <p:nvGraphicFramePr>
          <p:cNvPr id="9" name="S08-table1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602992"/>
          <a:ext cx="10972800" cy="914400"/>
        </p:xfrm>
        <a:graphic>
          <a:graphicData uri="http://schemas.openxmlformats.org/drawingml/2006/table">
            <a:tbl>
              <a:tblPr/>
              <a:tblGrid>
                <a:gridCol w="2962656"/>
                <a:gridCol w="8010144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노력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어떻게 했나요?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도읍을 옮김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바다로 둘러싸인 강화도로 옮겨 오래 맞섰어요.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백성의 항쟁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백성들도 곳곳에서 힘을 모아 싸웠어요.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팔만대장경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부처의 힘으로 나라를 지키려는 마음을 모았어요.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나라를 지키는 방법</a:t>
            </a:r>
            <a:endParaRPr lang="ko-KR" sz="4000" dirty="0"/>
          </a:p>
        </p:txBody>
      </p:sp>
      <p:sp>
        <p:nvSpPr>
          <p:cNvPr id="3" name="S09-card12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2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고려의 이야기를 듣고 두 친구가 말했어요.</a:t>
            </a:r>
            <a:endParaRPr lang="ko-KR" sz="2800" dirty="0"/>
          </a:p>
        </p:txBody>
      </p:sp>
      <p:sp>
        <p:nvSpPr>
          <p:cNvPr id="5" name="S09-card1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1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생각에 고개가 끄덕여지나요? 고려의 예를 들어 말해요.</a:t>
            </a:r>
            <a:endParaRPr lang="ko-KR" sz="2800" dirty="0"/>
          </a:p>
        </p:txBody>
      </p:sp>
      <p:sp>
        <p:nvSpPr>
          <p:cNvPr id="7" name="S09-chip12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9-text12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“나라를 지키려면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싸워서 이기는 방법밖에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없어요.”</a:t>
            </a:r>
            <a:endParaRPr lang="ko-KR" sz="2800" dirty="0"/>
          </a:p>
        </p:txBody>
      </p:sp>
      <p:sp>
        <p:nvSpPr>
          <p:cNvPr id="9" name="S09-chip13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9-text13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“말로 설득하거나 마음을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모으는 것도 나라를 지키는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방법이었어요.”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어려움 → 방법 → 결과</a:t>
            </a:r>
            <a:endParaRPr lang="ko-KR" sz="4000" dirty="0"/>
          </a:p>
        </p:txBody>
      </p:sp>
      <p:sp>
        <p:nvSpPr>
          <p:cNvPr id="3" name="S10-text1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가지를 갖추어 말해요.</a:t>
            </a:r>
            <a:endParaRPr lang="ko-KR" sz="2800" dirty="0"/>
          </a:p>
        </p:txBody>
      </p:sp>
      <p:sp>
        <p:nvSpPr>
          <p:cNvPr id="4" name="S10-card1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1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“~이 쳐들어오자, ~해서, ~되었어요.”</a:t>
            </a:r>
            <a:endParaRPr lang="ko-KR" sz="2800" dirty="0"/>
          </a:p>
        </p:txBody>
      </p:sp>
      <p:sp>
        <p:nvSpPr>
          <p:cNvPr id="6" name="S10-chip13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0-text136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서희: 거란이 쳐들어왔을 때</a:t>
            </a:r>
            <a:endParaRPr lang="ko-KR" sz="2800" dirty="0"/>
          </a:p>
        </p:txBody>
      </p:sp>
      <p:sp>
        <p:nvSpPr>
          <p:cNvPr id="8" name="S10-chip13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0-text138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고려: 몽골이 쳐들어왔을 때</a:t>
            </a:r>
            <a:endParaRPr lang="ko-KR" sz="2800" dirty="0"/>
          </a:p>
        </p:txBody>
      </p:sp>
      <p:sp>
        <p:nvSpPr>
          <p:cNvPr id="10" name="S10-chip13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0-text140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강감찬: 거란이 다시 쳐들어왔을 때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hip14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1-text142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고려를 세운 사람과 해는?</a:t>
            </a:r>
            <a:endParaRPr lang="ko-KR" sz="2800" dirty="0"/>
          </a:p>
        </p:txBody>
      </p:sp>
      <p:sp>
        <p:nvSpPr>
          <p:cNvPr id="5" name="S11-chip143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1-text144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상감 기법은 어떻게 하는 방법인가요?</a:t>
            </a:r>
            <a:endParaRPr lang="ko-KR" sz="2800" dirty="0"/>
          </a:p>
        </p:txBody>
      </p:sp>
      <p:sp>
        <p:nvSpPr>
          <p:cNvPr id="7" name="S11-chip145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1-text146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『직지심체요절』이 소중한 까닭은?</a:t>
            </a:r>
            <a:endParaRPr lang="ko-KR" sz="2800" dirty="0"/>
          </a:p>
        </p:txBody>
      </p:sp>
      <p:sp>
        <p:nvSpPr>
          <p:cNvPr id="9" name="S11-chip147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1-text148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외적에 맞선 노력 하나를 어려움 → 방법 → 결과로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2-card149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50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문화유산은 특징과 소중한 까닭을, 나라를 지킨 노력은 어려움·방법·결과를 함께 말해요.</a:t>
            </a:r>
            <a:endParaRPr lang="ko-KR" sz="2800" dirty="0"/>
          </a:p>
        </p:txBody>
      </p:sp>
      <p:sp>
        <p:nvSpPr>
          <p:cNvPr id="5" name="S12-chip151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152"/>
          <p:cNvSpPr txBox="1"/>
          <p:nvPr/>
        </p:nvSpPr>
        <p:spPr>
          <a:xfrm>
            <a:off x="548640" y="2057400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왕건, 918년</a:t>
            </a:r>
            <a:endParaRPr lang="ko-KR" sz="2800" dirty="0"/>
          </a:p>
        </p:txBody>
      </p:sp>
      <p:sp>
        <p:nvSpPr>
          <p:cNvPr id="7" name="S12-text153"/>
          <p:cNvSpPr txBox="1"/>
          <p:nvPr/>
        </p:nvSpPr>
        <p:spPr>
          <a:xfrm>
            <a:off x="548640" y="2775458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파고 메워 구움</a:t>
            </a:r>
            <a:endParaRPr lang="ko-KR" sz="2800" dirty="0"/>
          </a:p>
        </p:txBody>
      </p:sp>
      <p:sp>
        <p:nvSpPr>
          <p:cNvPr id="8" name="S12-text154"/>
          <p:cNvSpPr txBox="1"/>
          <p:nvPr/>
        </p:nvSpPr>
        <p:spPr>
          <a:xfrm>
            <a:off x="548640" y="3493516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남은 가장 오래된 책</a:t>
            </a:r>
            <a:endParaRPr lang="ko-KR" sz="2800" dirty="0"/>
          </a:p>
        </p:txBody>
      </p:sp>
      <p:sp>
        <p:nvSpPr>
          <p:cNvPr id="9" name="S12-text155"/>
          <p:cNvSpPr txBox="1"/>
          <p:nvPr/>
        </p:nvSpPr>
        <p:spPr>
          <a:xfrm>
            <a:off x="548640" y="4211574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어려움·방법·결과</a:t>
            </a:r>
            <a:endParaRPr lang="ko-KR" sz="2800" dirty="0"/>
          </a:p>
        </p:txBody>
      </p:sp>
      <p:sp>
        <p:nvSpPr>
          <p:cNvPr id="10" name="S12-chip156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1" name="S12-text157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대장경 = 활자</a:t>
            </a:r>
            <a:endParaRPr lang="ko-KR" sz="2800" dirty="0"/>
          </a:p>
        </p:txBody>
      </p:sp>
      <p:sp>
        <p:nvSpPr>
          <p:cNvPr id="12" name="S12-text158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나무판(목판)이에요</a:t>
            </a:r>
            <a:endParaRPr lang="ko-KR" sz="2200" dirty="0"/>
          </a:p>
        </p:txBody>
      </p:sp>
      <p:sp>
        <p:nvSpPr>
          <p:cNvPr id="13" name="S12-text159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직지 = 최초</a:t>
            </a:r>
            <a:endParaRPr lang="ko-KR" sz="2800" dirty="0"/>
          </a:p>
        </p:txBody>
      </p:sp>
      <p:sp>
        <p:nvSpPr>
          <p:cNvPr id="14" name="S12-text160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것 중 가장 오래됨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61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62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왕건이 세운 고려는 청자·대장경·금속 활자 같은 문화를 남겼고,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거란과 몽골의 침입에 여러 방법으로 맞섰어요.</a:t>
            </a:r>
            <a:endParaRPr lang="ko-KR" sz="2800" dirty="0"/>
          </a:p>
        </p:txBody>
      </p:sp>
      <p:sp>
        <p:nvSpPr>
          <p:cNvPr id="5" name="S13-chip163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어려움·방법·결과로 말하기</a:t>
            </a:r>
            <a:endParaRPr lang="ko-KR" sz="2200" dirty="0"/>
          </a:p>
        </p:txBody>
      </p:sp>
      <p:sp>
        <p:nvSpPr>
          <p:cNvPr id="6" name="S13-chip164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목판과 활자 헷갈리기</a:t>
            </a:r>
            <a:endParaRPr lang="ko-KR" sz="2200" dirty="0"/>
          </a:p>
        </p:txBody>
      </p:sp>
      <p:sp>
        <p:nvSpPr>
          <p:cNvPr id="7" name="S13-text165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166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고려를 세운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사람은?</a:t>
            </a:r>
            <a:endParaRPr lang="ko-KR" sz="2200" dirty="0"/>
          </a:p>
        </p:txBody>
      </p:sp>
      <p:sp>
        <p:nvSpPr>
          <p:cNvPr id="9" name="S13-text167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팔만대장경은 목판?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금속 활자?</a:t>
            </a:r>
            <a:endParaRPr lang="ko-KR" sz="2200" dirty="0"/>
          </a:p>
        </p:txBody>
      </p:sp>
      <p:sp>
        <p:nvSpPr>
          <p:cNvPr id="10" name="S13-text168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서희는 어떻게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나라를 지켰나요?</a:t>
            </a:r>
            <a:endParaRPr lang="ko-KR" sz="2200" dirty="0"/>
          </a:p>
        </p:txBody>
      </p:sp>
      <p:sp>
        <p:nvSpPr>
          <p:cNvPr id="11" name="S13-text16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조선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삼국에서 남북국까지</a:t>
            </a:r>
            <a:endParaRPr lang="ko-KR" sz="4000" dirty="0"/>
          </a:p>
        </p:txBody>
      </p:sp>
      <p:sp>
        <p:nvSpPr>
          <p:cNvPr id="3" name="S14-text17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시간의 흐름을 다시 봐요.</a:t>
            </a:r>
            <a:endParaRPr lang="ko-KR" sz="2800" dirty="0"/>
          </a:p>
        </p:txBody>
      </p:sp>
      <p:sp>
        <p:nvSpPr>
          <p:cNvPr id="4" name="S14-card1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통일 신라 남쪽, 발해 북쪽. 오늘은 그다음 이야기예요.</a:t>
            </a:r>
            <a:endParaRPr lang="ko-KR" sz="2800" dirty="0"/>
          </a:p>
        </p:txBody>
      </p:sp>
      <p:sp>
        <p:nvSpPr>
          <p:cNvPr id="6" name="S14-line173"/>
          <p:cNvSpPr/>
          <p:nvPr/>
        </p:nvSpPr>
        <p:spPr>
          <a:xfrm>
            <a:off x="822960" y="3566160"/>
            <a:ext cx="10543032" cy="0"/>
          </a:xfrm>
          <a:prstGeom prst="line">
            <a:avLst/>
          </a:prstGeom>
          <a:noFill/>
          <a:ln w="381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7" name="S14-event174"/>
          <p:cNvSpPr/>
          <p:nvPr/>
        </p:nvSpPr>
        <p:spPr>
          <a:xfrm>
            <a:off x="2461260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14-label175"/>
          <p:cNvSpPr txBox="1"/>
          <p:nvPr/>
        </p:nvSpPr>
        <p:spPr>
          <a:xfrm>
            <a:off x="868680" y="2883535"/>
            <a:ext cx="3422904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삼국 시대</a:t>
            </a:r>
            <a:endParaRPr lang="ko-KR" sz="2200" dirty="0"/>
          </a:p>
        </p:txBody>
      </p:sp>
      <p:sp>
        <p:nvSpPr>
          <p:cNvPr id="9" name="S14-label176"/>
          <p:cNvSpPr txBox="1"/>
          <p:nvPr/>
        </p:nvSpPr>
        <p:spPr>
          <a:xfrm>
            <a:off x="868680" y="3794760"/>
            <a:ext cx="34229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고구려·백제·신라</a:t>
            </a:r>
            <a:endParaRPr lang="ko-KR" sz="1800" dirty="0"/>
          </a:p>
        </p:txBody>
      </p:sp>
      <p:sp>
        <p:nvSpPr>
          <p:cNvPr id="10" name="S14-event177"/>
          <p:cNvSpPr/>
          <p:nvPr/>
        </p:nvSpPr>
        <p:spPr>
          <a:xfrm>
            <a:off x="5975604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14-label178"/>
          <p:cNvSpPr txBox="1"/>
          <p:nvPr/>
        </p:nvSpPr>
        <p:spPr>
          <a:xfrm>
            <a:off x="4383024" y="2883535"/>
            <a:ext cx="3422904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삼국 통일</a:t>
            </a:r>
            <a:endParaRPr lang="ko-KR" sz="2200" dirty="0"/>
          </a:p>
        </p:txBody>
      </p:sp>
      <p:sp>
        <p:nvSpPr>
          <p:cNvPr id="12" name="S14-label179"/>
          <p:cNvSpPr txBox="1"/>
          <p:nvPr/>
        </p:nvSpPr>
        <p:spPr>
          <a:xfrm>
            <a:off x="4383024" y="3794760"/>
            <a:ext cx="34229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신라가 하나로 합침</a:t>
            </a:r>
            <a:endParaRPr lang="ko-KR" sz="1800" dirty="0"/>
          </a:p>
        </p:txBody>
      </p:sp>
      <p:sp>
        <p:nvSpPr>
          <p:cNvPr id="13" name="S14-event180"/>
          <p:cNvSpPr/>
          <p:nvPr/>
        </p:nvSpPr>
        <p:spPr>
          <a:xfrm>
            <a:off x="9489948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14-label181"/>
          <p:cNvSpPr txBox="1"/>
          <p:nvPr/>
        </p:nvSpPr>
        <p:spPr>
          <a:xfrm>
            <a:off x="7897368" y="2883535"/>
            <a:ext cx="3422904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남북국 시대</a:t>
            </a:r>
            <a:endParaRPr lang="ko-KR" sz="2200" dirty="0"/>
          </a:p>
        </p:txBody>
      </p:sp>
      <p:sp>
        <p:nvSpPr>
          <p:cNvPr id="15" name="S14-label182"/>
          <p:cNvSpPr txBox="1"/>
          <p:nvPr/>
        </p:nvSpPr>
        <p:spPr>
          <a:xfrm>
            <a:off x="7897368" y="3794760"/>
            <a:ext cx="34229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통일 신라와 발해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사회·역사 고려</dc:title>
  <dc:subject>KR22-G05-SOC-GORYEO-L01</dc:subject>
  <dc:creator>education-ppt</dc:creator>
  <cp:lastModifiedBy>education-ppt</cp:lastModifiedBy>
  <cp:revision>1</cp:revision>
  <dcterms:created xsi:type="dcterms:W3CDTF">2026-10-26T13:42:53Z</dcterms:created>
  <dcterms:modified xsi:type="dcterms:W3CDTF">2026-10-26T13:42:53Z</dcterms:modified>
</cp:coreProperties>
</file>