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02e1757-eae8-f6da-f266-9dfa7f0259fe}">
          <p14:sldIdLst>
            <p14:sldId id="256"/>
            <p14:sldId id="257"/>
          </p14:sldIdLst>
        </p14:section>
        <p14:section name="개념" id="{87b5c641-af00-d5af-87b7-996fc4bdf243}">
          <p14:sldIdLst>
            <p14:sldId id="258"/>
            <p14:sldId id="259"/>
            <p14:sldId id="260"/>
            <p14:sldId id="262"/>
            <p14:sldId id="264"/>
          </p14:sldIdLst>
        </p14:section>
        <p14:section name="연습" id="{c4463720-db51-f4dc-c535-669f6a258f06}">
          <p14:sldIdLst>
            <p14:sldId id="261"/>
            <p14:sldId id="263"/>
            <p14:sldId id="265"/>
          </p14:sldIdLst>
        </p14:section>
        <p14:section name="개념" id="{9a82a35d-fa90-2ba8-a204-67189c1320d1}">
          <p14:sldIdLst/>
        </p14:section>
        <p14:section name="연습" id="{4fca62b8-2ad3-3acb-a6e3-4a962bf3d1d1}">
          <p14:sldIdLst/>
        </p14:section>
        <p14:section name="개념" id="{cf2b8ce0-9fe2-0a2d-8e37-8fd307b880dc}">
          <p14:sldIdLst/>
        </p14:section>
        <p14:section name="연습" id="{210f957e-3fd0-46eb-7d84-f0498b7b0568}">
          <p14:sldIdLst/>
        </p14:section>
        <p14:section name="확인" id="{64918e18-2fd0-6fab-fcb7-b500689b9a85}">
          <p14:sldIdLst>
            <p14:sldId id="266"/>
          </p14:sldIdLst>
        </p14:section>
        <p14:section name="정리" id="{baf0595c-967f-129a-97f9-c1ca6756cc1f}">
          <p14:sldIdLst>
            <p14:sldId id="267"/>
          </p14:sldIdLst>
        </p14:section>
        <p14:section name="보충" id="{f7f5c90d-fb03-1722-50a1-3aeb0a625db2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역사와생활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조선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조선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조선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세종은 왜 새 글자를 만들었고,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 사람들은 어떻게 살았을까?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측우기: 네모난 돌 받침 위에 세운 원통 모양 그릇. 원통에 고리 띠가 둘러져 있다"/>
          <p:cNvSpPr/>
          <p:nvPr/>
        </p:nvSpPr>
        <p:spPr>
          <a:xfrm>
            <a:off x="8751753" y="2355093"/>
            <a:ext cx="1790334" cy="1127247"/>
          </a:xfrm>
          <a:custGeom>
            <a:avLst/>
            <a:gdLst/>
            <a:ahLst/>
            <a:cxnLst/>
            <a:rect l="l" t="t" r="r" b="b"/>
            <a:pathLst>
              <a:path w="1790334" h="1127247">
                <a:moveTo>
                  <a:pt x="0" y="1127247"/>
                </a:moveTo>
                <a:lnTo>
                  <a:pt x="1790334" y="1127247"/>
                </a:lnTo>
                <a:lnTo>
                  <a:pt x="1790334" y="0"/>
                </a:lnTo>
                <a:lnTo>
                  <a:pt x="0" y="0"/>
                </a:lnTo>
                <a:close/>
              </a:path>
            </a:pathLst>
          </a:custGeom>
          <a:solidFill>
            <a:srgbClr val="C9C4BA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235806" y="829994"/>
            <a:ext cx="822227" cy="1525099"/>
          </a:xfrm>
          <a:custGeom>
            <a:avLst/>
            <a:gdLst/>
            <a:ahLst/>
            <a:cxnLst/>
            <a:rect l="l" t="t" r="r" b="b"/>
            <a:pathLst>
              <a:path w="822227" h="1525099">
                <a:moveTo>
                  <a:pt x="0" y="1525099"/>
                </a:moveTo>
                <a:lnTo>
                  <a:pt x="822227" y="1525099"/>
                </a:lnTo>
                <a:lnTo>
                  <a:pt x="822227" y="0"/>
                </a:lnTo>
                <a:lnTo>
                  <a:pt x="0" y="0"/>
                </a:lnTo>
                <a:close/>
              </a:path>
            </a:pathLst>
          </a:custGeom>
          <a:solidFill>
            <a:srgbClr val="8E9EA2"/>
          </a:solidFill>
          <a:ln w="25400">
            <a:solidFill>
              <a:srgbClr val="3F4B4E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235806" y="723900"/>
            <a:ext cx="822227" cy="212188"/>
          </a:xfrm>
          <a:custGeom>
            <a:avLst/>
            <a:gdLst/>
            <a:ahLst/>
            <a:cxnLst/>
            <a:rect l="l" t="t" r="r" b="b"/>
            <a:pathLst>
              <a:path w="822227" h="212188">
                <a:moveTo>
                  <a:pt x="822227" y="106094"/>
                </a:moveTo>
                <a:lnTo>
                  <a:pt x="820663" y="96847"/>
                </a:lnTo>
                <a:lnTo>
                  <a:pt x="815982" y="87671"/>
                </a:lnTo>
                <a:lnTo>
                  <a:pt x="808219" y="78635"/>
                </a:lnTo>
                <a:lnTo>
                  <a:pt x="797434" y="69808"/>
                </a:lnTo>
                <a:lnTo>
                  <a:pt x="783709" y="61257"/>
                </a:lnTo>
                <a:lnTo>
                  <a:pt x="767149" y="53047"/>
                </a:lnTo>
                <a:lnTo>
                  <a:pt x="747878" y="45241"/>
                </a:lnTo>
                <a:lnTo>
                  <a:pt x="726045" y="37898"/>
                </a:lnTo>
                <a:lnTo>
                  <a:pt x="701815" y="31074"/>
                </a:lnTo>
                <a:lnTo>
                  <a:pt x="675372" y="24821"/>
                </a:lnTo>
                <a:lnTo>
                  <a:pt x="646919" y="19187"/>
                </a:lnTo>
                <a:lnTo>
                  <a:pt x="616670" y="14214"/>
                </a:lnTo>
                <a:lnTo>
                  <a:pt x="584858" y="9940"/>
                </a:lnTo>
                <a:lnTo>
                  <a:pt x="551723" y="6398"/>
                </a:lnTo>
                <a:lnTo>
                  <a:pt x="517518" y="3615"/>
                </a:lnTo>
                <a:lnTo>
                  <a:pt x="482503" y="1612"/>
                </a:lnTo>
                <a:lnTo>
                  <a:pt x="446945" y="404"/>
                </a:lnTo>
                <a:lnTo>
                  <a:pt x="411114" y="0"/>
                </a:lnTo>
                <a:lnTo>
                  <a:pt x="375283" y="404"/>
                </a:lnTo>
                <a:lnTo>
                  <a:pt x="339725" y="1612"/>
                </a:lnTo>
                <a:lnTo>
                  <a:pt x="304710" y="3615"/>
                </a:lnTo>
                <a:lnTo>
                  <a:pt x="270505" y="6398"/>
                </a:lnTo>
                <a:lnTo>
                  <a:pt x="237370" y="9940"/>
                </a:lnTo>
                <a:lnTo>
                  <a:pt x="205557" y="14214"/>
                </a:lnTo>
                <a:lnTo>
                  <a:pt x="175309" y="19187"/>
                </a:lnTo>
                <a:lnTo>
                  <a:pt x="146855" y="24821"/>
                </a:lnTo>
                <a:lnTo>
                  <a:pt x="120412" y="31074"/>
                </a:lnTo>
                <a:lnTo>
                  <a:pt x="96182" y="37898"/>
                </a:lnTo>
                <a:lnTo>
                  <a:pt x="74349" y="45241"/>
                </a:lnTo>
                <a:lnTo>
                  <a:pt x="55079" y="53047"/>
                </a:lnTo>
                <a:lnTo>
                  <a:pt x="38518" y="61257"/>
                </a:lnTo>
                <a:lnTo>
                  <a:pt x="24793" y="69808"/>
                </a:lnTo>
                <a:lnTo>
                  <a:pt x="14008" y="78635"/>
                </a:lnTo>
                <a:lnTo>
                  <a:pt x="6246" y="87671"/>
                </a:lnTo>
                <a:lnTo>
                  <a:pt x="1564" y="96847"/>
                </a:lnTo>
                <a:lnTo>
                  <a:pt x="0" y="106094"/>
                </a:lnTo>
                <a:lnTo>
                  <a:pt x="1564" y="115341"/>
                </a:lnTo>
                <a:lnTo>
                  <a:pt x="6246" y="124517"/>
                </a:lnTo>
                <a:lnTo>
                  <a:pt x="14008" y="133553"/>
                </a:lnTo>
                <a:lnTo>
                  <a:pt x="24793" y="142380"/>
                </a:lnTo>
                <a:lnTo>
                  <a:pt x="38518" y="150931"/>
                </a:lnTo>
                <a:lnTo>
                  <a:pt x="55079" y="159141"/>
                </a:lnTo>
                <a:lnTo>
                  <a:pt x="74349" y="166947"/>
                </a:lnTo>
                <a:lnTo>
                  <a:pt x="96182" y="174290"/>
                </a:lnTo>
                <a:lnTo>
                  <a:pt x="120412" y="181114"/>
                </a:lnTo>
                <a:lnTo>
                  <a:pt x="146855" y="187366"/>
                </a:lnTo>
                <a:lnTo>
                  <a:pt x="175309" y="193001"/>
                </a:lnTo>
                <a:lnTo>
                  <a:pt x="205557" y="197974"/>
                </a:lnTo>
                <a:lnTo>
                  <a:pt x="237370" y="202248"/>
                </a:lnTo>
                <a:lnTo>
                  <a:pt x="270505" y="205789"/>
                </a:lnTo>
                <a:lnTo>
                  <a:pt x="304710" y="208573"/>
                </a:lnTo>
                <a:lnTo>
                  <a:pt x="339725" y="210576"/>
                </a:lnTo>
                <a:lnTo>
                  <a:pt x="375283" y="211784"/>
                </a:lnTo>
                <a:lnTo>
                  <a:pt x="411114" y="212188"/>
                </a:lnTo>
                <a:lnTo>
                  <a:pt x="446945" y="211784"/>
                </a:lnTo>
                <a:lnTo>
                  <a:pt x="482503" y="210576"/>
                </a:lnTo>
                <a:lnTo>
                  <a:pt x="517518" y="208573"/>
                </a:lnTo>
                <a:lnTo>
                  <a:pt x="551723" y="205789"/>
                </a:lnTo>
                <a:lnTo>
                  <a:pt x="584858" y="202248"/>
                </a:lnTo>
                <a:lnTo>
                  <a:pt x="616670" y="197974"/>
                </a:lnTo>
                <a:lnTo>
                  <a:pt x="646919" y="193001"/>
                </a:lnTo>
                <a:lnTo>
                  <a:pt x="675372" y="187366"/>
                </a:lnTo>
                <a:lnTo>
                  <a:pt x="701815" y="181114"/>
                </a:lnTo>
                <a:lnTo>
                  <a:pt x="726045" y="174290"/>
                </a:lnTo>
                <a:lnTo>
                  <a:pt x="747878" y="166947"/>
                </a:lnTo>
                <a:lnTo>
                  <a:pt x="767149" y="159141"/>
                </a:lnTo>
                <a:lnTo>
                  <a:pt x="783709" y="150931"/>
                </a:lnTo>
                <a:lnTo>
                  <a:pt x="797434" y="142380"/>
                </a:lnTo>
                <a:lnTo>
                  <a:pt x="808219" y="133553"/>
                </a:lnTo>
                <a:lnTo>
                  <a:pt x="815982" y="124517"/>
                </a:lnTo>
                <a:lnTo>
                  <a:pt x="820663" y="115341"/>
                </a:lnTo>
                <a:close/>
              </a:path>
            </a:pathLst>
          </a:custGeom>
          <a:solidFill>
            <a:srgbClr val="B9C6C9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9235806" y="1857778"/>
            <a:ext cx="822227" cy="0"/>
          </a:xfrm>
          <a:prstGeom prst="line">
            <a:avLst/>
          </a:prstGeom>
          <a:noFill/>
          <a:ln w="31750">
            <a:solidFill>
              <a:srgbClr val="3F4B4E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9235806" y="1327309"/>
            <a:ext cx="822227" cy="0"/>
          </a:xfrm>
          <a:prstGeom prst="line">
            <a:avLst/>
          </a:prstGeom>
          <a:noFill/>
          <a:ln w="31750">
            <a:solidFill>
              <a:srgbClr val="3F4B4E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8751753" y="2520865"/>
            <a:ext cx="1790334" cy="0"/>
          </a:xfrm>
          <a:prstGeom prst="line">
            <a:avLst/>
          </a:prstGeom>
          <a:noFill/>
          <a:ln w="12700">
            <a:solidFill>
              <a:srgbClr val="8A847A"/>
            </a:solidFill>
            <a:prstDash val="solid"/>
          </a:ln>
        </p:spPr>
      </p:sp>
      <p:sp>
        <p:nvSpPr>
          <p:cNvPr id="11" name="S01-card8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세종 때 만든 훈민정음과 과학 기구를 설명해요.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조선의 신분과 임진왜란 때 나라를 지킨 노력을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chip1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11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고려를 세운 사람은?</a:t>
            </a:r>
            <a:endParaRPr lang="ko-KR" sz="2800" dirty="0"/>
          </a:p>
        </p:txBody>
      </p:sp>
      <p:sp>
        <p:nvSpPr>
          <p:cNvPr id="5" name="S02-chip1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13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팔만대장경은 목판일까요, 금속 활자일까요?</a:t>
            </a:r>
            <a:endParaRPr lang="ko-KR" sz="2800" dirty="0"/>
          </a:p>
        </p:txBody>
      </p:sp>
      <p:sp>
        <p:nvSpPr>
          <p:cNvPr id="7" name="S02-chip1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1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서희는 어떻게 나라를 지켰나요?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조선의 차례</a:t>
            </a:r>
            <a:endParaRPr lang="ko-KR" sz="4000" dirty="0"/>
          </a:p>
        </p:txBody>
      </p:sp>
      <p:sp>
        <p:nvSpPr>
          <p:cNvPr id="3" name="S03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 말에 이성계가 새 나라 조선을 세웠어요.</a:t>
            </a:r>
            <a:endParaRPr lang="ko-KR" sz="2800" dirty="0"/>
          </a:p>
        </p:txBody>
      </p:sp>
      <p:sp>
        <p:nvSpPr>
          <p:cNvPr id="4" name="S03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조선은 도읍을 한양(오늘날 서울)으로 정했어요.</a:t>
            </a:r>
            <a:endParaRPr lang="ko-KR" sz="2800" dirty="0"/>
          </a:p>
        </p:txBody>
      </p:sp>
      <p:sp>
        <p:nvSpPr>
          <p:cNvPr id="6" name="S03-line19"/>
          <p:cNvSpPr/>
          <p:nvPr/>
        </p:nvSpPr>
        <p:spPr>
          <a:xfrm>
            <a:off x="822960" y="3566160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03-event20"/>
          <p:cNvSpPr/>
          <p:nvPr/>
        </p:nvSpPr>
        <p:spPr>
          <a:xfrm>
            <a:off x="2021967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03-label21"/>
          <p:cNvSpPr txBox="1"/>
          <p:nvPr/>
        </p:nvSpPr>
        <p:spPr>
          <a:xfrm>
            <a:off x="868680" y="2883535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 건국</a:t>
            </a:r>
            <a:endParaRPr lang="ko-KR" sz="2200" dirty="0"/>
          </a:p>
        </p:txBody>
      </p:sp>
      <p:sp>
        <p:nvSpPr>
          <p:cNvPr id="9" name="S03-label22"/>
          <p:cNvSpPr txBox="1"/>
          <p:nvPr/>
        </p:nvSpPr>
        <p:spPr>
          <a:xfrm>
            <a:off x="868680" y="3794760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1392년, 이성계</a:t>
            </a:r>
            <a:endParaRPr lang="ko-KR" sz="1800" dirty="0"/>
          </a:p>
        </p:txBody>
      </p:sp>
      <p:sp>
        <p:nvSpPr>
          <p:cNvPr id="10" name="S03-event23"/>
          <p:cNvSpPr/>
          <p:nvPr/>
        </p:nvSpPr>
        <p:spPr>
          <a:xfrm>
            <a:off x="4657725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03-label24"/>
          <p:cNvSpPr txBox="1"/>
          <p:nvPr/>
        </p:nvSpPr>
        <p:spPr>
          <a:xfrm>
            <a:off x="3504438" y="2534285"/>
            <a:ext cx="2544318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훈민정음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창제</a:t>
            </a:r>
            <a:endParaRPr lang="ko-KR" sz="2200" dirty="0"/>
          </a:p>
        </p:txBody>
      </p:sp>
      <p:sp>
        <p:nvSpPr>
          <p:cNvPr id="12" name="S03-label25"/>
          <p:cNvSpPr txBox="1"/>
          <p:nvPr/>
        </p:nvSpPr>
        <p:spPr>
          <a:xfrm>
            <a:off x="3504438" y="3794760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1443년, 세종</a:t>
            </a:r>
            <a:endParaRPr lang="ko-KR" sz="1800" dirty="0"/>
          </a:p>
        </p:txBody>
      </p:sp>
      <p:sp>
        <p:nvSpPr>
          <p:cNvPr id="13" name="S03-event26"/>
          <p:cNvSpPr/>
          <p:nvPr/>
        </p:nvSpPr>
        <p:spPr>
          <a:xfrm>
            <a:off x="7293483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3-label27"/>
          <p:cNvSpPr txBox="1"/>
          <p:nvPr/>
        </p:nvSpPr>
        <p:spPr>
          <a:xfrm>
            <a:off x="6140196" y="2534285"/>
            <a:ext cx="2544318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훈민정음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반포</a:t>
            </a:r>
            <a:endParaRPr lang="ko-KR" sz="2200" dirty="0"/>
          </a:p>
        </p:txBody>
      </p:sp>
      <p:sp>
        <p:nvSpPr>
          <p:cNvPr id="15" name="S03-label28"/>
          <p:cNvSpPr txBox="1"/>
          <p:nvPr/>
        </p:nvSpPr>
        <p:spPr>
          <a:xfrm>
            <a:off x="6140196" y="3794760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1446년</a:t>
            </a:r>
            <a:endParaRPr lang="ko-KR" sz="1800" dirty="0"/>
          </a:p>
        </p:txBody>
      </p:sp>
      <p:sp>
        <p:nvSpPr>
          <p:cNvPr id="16" name="S03-event29"/>
          <p:cNvSpPr/>
          <p:nvPr/>
        </p:nvSpPr>
        <p:spPr>
          <a:xfrm>
            <a:off x="9929241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03-label30"/>
          <p:cNvSpPr txBox="1"/>
          <p:nvPr/>
        </p:nvSpPr>
        <p:spPr>
          <a:xfrm>
            <a:off x="8775954" y="2883535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임진왜란</a:t>
            </a:r>
            <a:endParaRPr lang="ko-KR" sz="2200" dirty="0"/>
          </a:p>
        </p:txBody>
      </p:sp>
      <p:sp>
        <p:nvSpPr>
          <p:cNvPr id="18" name="S03-label31"/>
          <p:cNvSpPr txBox="1"/>
          <p:nvPr/>
        </p:nvSpPr>
        <p:spPr>
          <a:xfrm>
            <a:off x="8775954" y="3794760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1592년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훈민정음을 만든 까닭</a:t>
            </a:r>
            <a:endParaRPr lang="ko-KR" sz="4000" dirty="0"/>
          </a:p>
        </p:txBody>
      </p:sp>
      <p:sp>
        <p:nvSpPr>
          <p:cNvPr id="3" name="S04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문제는 무엇이었고, 세종은 어떻게 해결했나요?</a:t>
            </a:r>
            <a:endParaRPr lang="ko-KR" sz="2800" dirty="0"/>
          </a:p>
        </p:txBody>
      </p:sp>
      <p:sp>
        <p:nvSpPr>
          <p:cNvPr id="5" name="S04-passagebox34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35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훈민정음 머리말(쉽게 풀어 씀)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우리나라 말은 중국과 달라서 한자로는 서로 잘 통하지 않아요.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그래서 백성들은 하고 싶은 말이 있어도 글로 제 뜻을 나타내지 못하는 사람이 많아요.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내가 이를 딱하게 여겨 새로 스물여덟 글자를 만드니, 사람마다 쉽게 익혀 날마다 편하게 쓰게 하려는 것이에요.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백성을 도운 과학 기구</a:t>
            </a:r>
            <a:endParaRPr lang="ko-KR" sz="4000" dirty="0"/>
          </a:p>
        </p:txBody>
      </p:sp>
      <p:sp>
        <p:nvSpPr>
          <p:cNvPr id="3" name="S05-figure36" descr="측우기: 네모난 돌 받침 위에 세운 원통 모양 그릇. 원통에 고리 띠가 둘러져 있다"/>
          <p:cNvSpPr/>
          <p:nvPr/>
        </p:nvSpPr>
        <p:spPr>
          <a:xfrm>
            <a:off x="1137605" y="3894201"/>
            <a:ext cx="2468880" cy="1554480"/>
          </a:xfrm>
          <a:custGeom>
            <a:avLst/>
            <a:gdLst/>
            <a:ahLst/>
            <a:cxnLst/>
            <a:rect l="l" t="t" r="r" b="b"/>
            <a:pathLst>
              <a:path w="2468880" h="1554480">
                <a:moveTo>
                  <a:pt x="0" y="1554480"/>
                </a:moveTo>
                <a:lnTo>
                  <a:pt x="2468880" y="1554480"/>
                </a:lnTo>
                <a:lnTo>
                  <a:pt x="2468880" y="0"/>
                </a:lnTo>
                <a:lnTo>
                  <a:pt x="0" y="0"/>
                </a:lnTo>
                <a:close/>
              </a:path>
            </a:pathLst>
          </a:custGeom>
          <a:solidFill>
            <a:srgbClr val="C9C4BA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4" name="S05-mark37"/>
          <p:cNvSpPr/>
          <p:nvPr/>
        </p:nvSpPr>
        <p:spPr>
          <a:xfrm>
            <a:off x="1805117" y="1791081"/>
            <a:ext cx="1133856" cy="2103120"/>
          </a:xfrm>
          <a:custGeom>
            <a:avLst/>
            <a:gdLst/>
            <a:ahLst/>
            <a:cxnLst/>
            <a:rect l="l" t="t" r="r" b="b"/>
            <a:pathLst>
              <a:path w="1133856" h="2103120">
                <a:moveTo>
                  <a:pt x="0" y="2103120"/>
                </a:moveTo>
                <a:lnTo>
                  <a:pt x="1133856" y="2103120"/>
                </a:lnTo>
                <a:lnTo>
                  <a:pt x="1133856" y="0"/>
                </a:lnTo>
                <a:lnTo>
                  <a:pt x="0" y="0"/>
                </a:lnTo>
                <a:close/>
              </a:path>
            </a:pathLst>
          </a:custGeom>
          <a:solidFill>
            <a:srgbClr val="8E9EA2"/>
          </a:solidFill>
          <a:ln w="25400">
            <a:solidFill>
              <a:srgbClr val="3F4B4E"/>
            </a:solidFill>
            <a:prstDash val="solid"/>
          </a:ln>
        </p:spPr>
      </p:sp>
      <p:sp>
        <p:nvSpPr>
          <p:cNvPr id="5" name="S05-mark38"/>
          <p:cNvSpPr/>
          <p:nvPr/>
        </p:nvSpPr>
        <p:spPr>
          <a:xfrm>
            <a:off x="1805117" y="1644777"/>
            <a:ext cx="1133856" cy="292608"/>
          </a:xfrm>
          <a:custGeom>
            <a:avLst/>
            <a:gdLst/>
            <a:ahLst/>
            <a:cxnLst/>
            <a:rect l="l" t="t" r="r" b="b"/>
            <a:pathLst>
              <a:path w="1133856" h="292608">
                <a:moveTo>
                  <a:pt x="1133856" y="146304"/>
                </a:moveTo>
                <a:lnTo>
                  <a:pt x="1131699" y="133553"/>
                </a:lnTo>
                <a:lnTo>
                  <a:pt x="1125243" y="120899"/>
                </a:lnTo>
                <a:lnTo>
                  <a:pt x="1114538" y="108438"/>
                </a:lnTo>
                <a:lnTo>
                  <a:pt x="1099666" y="96265"/>
                </a:lnTo>
                <a:lnTo>
                  <a:pt x="1080739" y="84473"/>
                </a:lnTo>
                <a:lnTo>
                  <a:pt x="1057902" y="73152"/>
                </a:lnTo>
                <a:lnTo>
                  <a:pt x="1031328" y="62387"/>
                </a:lnTo>
                <a:lnTo>
                  <a:pt x="1001220" y="52262"/>
                </a:lnTo>
                <a:lnTo>
                  <a:pt x="967807" y="42851"/>
                </a:lnTo>
                <a:lnTo>
                  <a:pt x="931342" y="34229"/>
                </a:lnTo>
                <a:lnTo>
                  <a:pt x="892105" y="26459"/>
                </a:lnTo>
                <a:lnTo>
                  <a:pt x="850392" y="19601"/>
                </a:lnTo>
                <a:lnTo>
                  <a:pt x="806522" y="13708"/>
                </a:lnTo>
                <a:lnTo>
                  <a:pt x="760829" y="8823"/>
                </a:lnTo>
                <a:lnTo>
                  <a:pt x="713660" y="4985"/>
                </a:lnTo>
                <a:lnTo>
                  <a:pt x="665374" y="2223"/>
                </a:lnTo>
                <a:lnTo>
                  <a:pt x="616339" y="557"/>
                </a:lnTo>
                <a:lnTo>
                  <a:pt x="566928" y="0"/>
                </a:lnTo>
                <a:lnTo>
                  <a:pt x="517517" y="557"/>
                </a:lnTo>
                <a:lnTo>
                  <a:pt x="468482" y="2223"/>
                </a:lnTo>
                <a:lnTo>
                  <a:pt x="420196" y="4985"/>
                </a:lnTo>
                <a:lnTo>
                  <a:pt x="373027" y="8823"/>
                </a:lnTo>
                <a:lnTo>
                  <a:pt x="327334" y="13708"/>
                </a:lnTo>
                <a:lnTo>
                  <a:pt x="283464" y="19601"/>
                </a:lnTo>
                <a:lnTo>
                  <a:pt x="241751" y="26459"/>
                </a:lnTo>
                <a:lnTo>
                  <a:pt x="202514" y="34229"/>
                </a:lnTo>
                <a:lnTo>
                  <a:pt x="166049" y="42851"/>
                </a:lnTo>
                <a:lnTo>
                  <a:pt x="132636" y="52262"/>
                </a:lnTo>
                <a:lnTo>
                  <a:pt x="102528" y="62387"/>
                </a:lnTo>
                <a:lnTo>
                  <a:pt x="75954" y="73152"/>
                </a:lnTo>
                <a:lnTo>
                  <a:pt x="53117" y="84473"/>
                </a:lnTo>
                <a:lnTo>
                  <a:pt x="34190" y="96265"/>
                </a:lnTo>
                <a:lnTo>
                  <a:pt x="19318" y="108438"/>
                </a:lnTo>
                <a:lnTo>
                  <a:pt x="8613" y="120899"/>
                </a:lnTo>
                <a:lnTo>
                  <a:pt x="2157" y="133553"/>
                </a:lnTo>
                <a:lnTo>
                  <a:pt x="0" y="146304"/>
                </a:lnTo>
                <a:lnTo>
                  <a:pt x="2157" y="159055"/>
                </a:lnTo>
                <a:lnTo>
                  <a:pt x="8613" y="171709"/>
                </a:lnTo>
                <a:lnTo>
                  <a:pt x="19318" y="184170"/>
                </a:lnTo>
                <a:lnTo>
                  <a:pt x="34190" y="196343"/>
                </a:lnTo>
                <a:lnTo>
                  <a:pt x="53117" y="208135"/>
                </a:lnTo>
                <a:lnTo>
                  <a:pt x="75954" y="219456"/>
                </a:lnTo>
                <a:lnTo>
                  <a:pt x="102528" y="230221"/>
                </a:lnTo>
                <a:lnTo>
                  <a:pt x="132636" y="240346"/>
                </a:lnTo>
                <a:lnTo>
                  <a:pt x="166049" y="249757"/>
                </a:lnTo>
                <a:lnTo>
                  <a:pt x="202514" y="258379"/>
                </a:lnTo>
                <a:lnTo>
                  <a:pt x="241751" y="266149"/>
                </a:lnTo>
                <a:lnTo>
                  <a:pt x="283464" y="273007"/>
                </a:lnTo>
                <a:lnTo>
                  <a:pt x="327334" y="278900"/>
                </a:lnTo>
                <a:lnTo>
                  <a:pt x="373027" y="283785"/>
                </a:lnTo>
                <a:lnTo>
                  <a:pt x="420196" y="287623"/>
                </a:lnTo>
                <a:lnTo>
                  <a:pt x="468482" y="290385"/>
                </a:lnTo>
                <a:lnTo>
                  <a:pt x="517517" y="292051"/>
                </a:lnTo>
                <a:lnTo>
                  <a:pt x="566928" y="292608"/>
                </a:lnTo>
                <a:lnTo>
                  <a:pt x="616339" y="292051"/>
                </a:lnTo>
                <a:lnTo>
                  <a:pt x="665374" y="290385"/>
                </a:lnTo>
                <a:lnTo>
                  <a:pt x="713660" y="287623"/>
                </a:lnTo>
                <a:lnTo>
                  <a:pt x="760829" y="283785"/>
                </a:lnTo>
                <a:lnTo>
                  <a:pt x="806522" y="278900"/>
                </a:lnTo>
                <a:lnTo>
                  <a:pt x="850392" y="273007"/>
                </a:lnTo>
                <a:lnTo>
                  <a:pt x="892105" y="266149"/>
                </a:lnTo>
                <a:lnTo>
                  <a:pt x="931342" y="258379"/>
                </a:lnTo>
                <a:lnTo>
                  <a:pt x="967807" y="249757"/>
                </a:lnTo>
                <a:lnTo>
                  <a:pt x="1001220" y="240346"/>
                </a:lnTo>
                <a:lnTo>
                  <a:pt x="1031328" y="230221"/>
                </a:lnTo>
                <a:lnTo>
                  <a:pt x="1057902" y="219456"/>
                </a:lnTo>
                <a:lnTo>
                  <a:pt x="1080739" y="208135"/>
                </a:lnTo>
                <a:lnTo>
                  <a:pt x="1099666" y="196343"/>
                </a:lnTo>
                <a:lnTo>
                  <a:pt x="1114538" y="184170"/>
                </a:lnTo>
                <a:lnTo>
                  <a:pt x="1125243" y="171709"/>
                </a:lnTo>
                <a:lnTo>
                  <a:pt x="1131699" y="159055"/>
                </a:lnTo>
                <a:close/>
              </a:path>
            </a:pathLst>
          </a:custGeom>
          <a:solidFill>
            <a:srgbClr val="B9C6C9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5-mark39"/>
          <p:cNvSpPr/>
          <p:nvPr/>
        </p:nvSpPr>
        <p:spPr>
          <a:xfrm>
            <a:off x="1805117" y="3208401"/>
            <a:ext cx="1133856" cy="0"/>
          </a:xfrm>
          <a:prstGeom prst="line">
            <a:avLst/>
          </a:prstGeom>
          <a:noFill/>
          <a:ln w="31750">
            <a:solidFill>
              <a:srgbClr val="3F4B4E"/>
            </a:solidFill>
            <a:prstDash val="solid"/>
          </a:ln>
        </p:spPr>
      </p:sp>
      <p:sp>
        <p:nvSpPr>
          <p:cNvPr id="7" name="S05-mark40"/>
          <p:cNvSpPr/>
          <p:nvPr/>
        </p:nvSpPr>
        <p:spPr>
          <a:xfrm>
            <a:off x="1805117" y="2476881"/>
            <a:ext cx="1133856" cy="0"/>
          </a:xfrm>
          <a:prstGeom prst="line">
            <a:avLst/>
          </a:prstGeom>
          <a:noFill/>
          <a:ln w="31750">
            <a:solidFill>
              <a:srgbClr val="3F4B4E"/>
            </a:solidFill>
            <a:prstDash val="solid"/>
          </a:ln>
        </p:spPr>
      </p:sp>
      <p:sp>
        <p:nvSpPr>
          <p:cNvPr id="8" name="S05-mark41"/>
          <p:cNvSpPr/>
          <p:nvPr/>
        </p:nvSpPr>
        <p:spPr>
          <a:xfrm>
            <a:off x="1137605" y="4122801"/>
            <a:ext cx="2468880" cy="0"/>
          </a:xfrm>
          <a:prstGeom prst="line">
            <a:avLst/>
          </a:prstGeom>
          <a:noFill/>
          <a:ln w="12700">
            <a:solidFill>
              <a:srgbClr val="8A847A"/>
            </a:solidFill>
            <a:prstDash val="solid"/>
          </a:ln>
        </p:spPr>
      </p:sp>
      <p:sp>
        <p:nvSpPr>
          <p:cNvPr id="9" name="S05-label42"/>
          <p:cNvSpPr txBox="1"/>
          <p:nvPr/>
        </p:nvSpPr>
        <p:spPr>
          <a:xfrm>
            <a:off x="548640" y="5840730"/>
            <a:ext cx="364681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측우기</a:t>
            </a:r>
            <a:endParaRPr lang="ko-KR" sz="2200" dirty="0"/>
          </a:p>
        </p:txBody>
      </p:sp>
      <p:sp>
        <p:nvSpPr>
          <p:cNvPr id="10" name="S05-card43"/>
          <p:cNvSpPr/>
          <p:nvPr/>
        </p:nvSpPr>
        <p:spPr>
          <a:xfrm>
            <a:off x="4561210" y="1773174"/>
            <a:ext cx="7079102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44"/>
          <p:cNvSpPr txBox="1"/>
          <p:nvPr/>
        </p:nvSpPr>
        <p:spPr>
          <a:xfrm>
            <a:off x="4835530" y="1910334"/>
            <a:ext cx="653046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측우기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내린 비의 양을 재요.</a:t>
            </a:r>
            <a:endParaRPr lang="ko-KR" sz="2800" dirty="0"/>
          </a:p>
        </p:txBody>
      </p:sp>
      <p:sp>
        <p:nvSpPr>
          <p:cNvPr id="12" name="S05-card45"/>
          <p:cNvSpPr/>
          <p:nvPr/>
        </p:nvSpPr>
        <p:spPr>
          <a:xfrm>
            <a:off x="4561210" y="3181858"/>
            <a:ext cx="7079102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5-cardtext46"/>
          <p:cNvSpPr txBox="1"/>
          <p:nvPr/>
        </p:nvSpPr>
        <p:spPr>
          <a:xfrm>
            <a:off x="4835530" y="3319018"/>
            <a:ext cx="653046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앙부일구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 그림자로 시각을 알려요.</a:t>
            </a:r>
            <a:endParaRPr lang="ko-KR" sz="2800" dirty="0"/>
          </a:p>
        </p:txBody>
      </p:sp>
      <p:sp>
        <p:nvSpPr>
          <p:cNvPr id="14" name="S05-card47"/>
          <p:cNvSpPr/>
          <p:nvPr/>
        </p:nvSpPr>
        <p:spPr>
          <a:xfrm>
            <a:off x="4561210" y="4590542"/>
            <a:ext cx="7079102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5" name="S05-cardtext48"/>
          <p:cNvSpPr txBox="1"/>
          <p:nvPr/>
        </p:nvSpPr>
        <p:spPr>
          <a:xfrm>
            <a:off x="4835530" y="4727702"/>
            <a:ext cx="653046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물의 힘으로 스스로 시각을 알려요.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문제를 풀려고 만든 것</a:t>
            </a:r>
            <a:endParaRPr lang="ko-KR" sz="4000" dirty="0"/>
          </a:p>
        </p:txBody>
      </p:sp>
      <p:sp>
        <p:nvSpPr>
          <p:cNvPr id="3" name="S06-text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문제를 풀려고 무엇을 만들었을까요?</a:t>
            </a:r>
            <a:endParaRPr lang="ko-KR" sz="2800" dirty="0"/>
          </a:p>
        </p:txBody>
      </p:sp>
      <p:sp>
        <p:nvSpPr>
          <p:cNvPr id="4" name="S06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→ 만든 것 → 달라진 생활 차례로 말해요.</a:t>
            </a:r>
            <a:endParaRPr lang="ko-KR" sz="2800" dirty="0"/>
          </a:p>
        </p:txBody>
      </p:sp>
      <p:sp>
        <p:nvSpPr>
          <p:cNvPr id="6" name="S06-chip5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6-text53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백성들이 한자를 몰라 억울한 일을 글로 알리지 못했어요.</a:t>
            </a:r>
            <a:endParaRPr lang="ko-KR" sz="2800" dirty="0"/>
          </a:p>
        </p:txBody>
      </p:sp>
      <p:sp>
        <p:nvSpPr>
          <p:cNvPr id="8" name="S06-chip5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6-text55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고을마다 비가 얼마나 왔는지 정확히 알기 어려웠어요.</a:t>
            </a:r>
            <a:endParaRPr lang="ko-KR" sz="2800" dirty="0"/>
          </a:p>
        </p:txBody>
      </p:sp>
      <p:sp>
        <p:nvSpPr>
          <p:cNvPr id="10" name="S06-chip5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6-text57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흐린 날이나 밤에는 해시계로 시각을 알 수 없었어요.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조선의 신분</a:t>
            </a:r>
            <a:endParaRPr lang="ko-KR" sz="4000" dirty="0"/>
          </a:p>
        </p:txBody>
      </p:sp>
      <p:sp>
        <p:nvSpPr>
          <p:cNvPr id="3" name="S07-text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 사람들은 태어날 때부터 신분이 정해졌어요.</a:t>
            </a:r>
            <a:endParaRPr lang="ko-KR" sz="2800" dirty="0"/>
          </a:p>
        </p:txBody>
      </p:sp>
      <p:sp>
        <p:nvSpPr>
          <p:cNvPr id="4" name="S07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신분에 따라 하는 일과 생활이 달랐어요.</a:t>
            </a:r>
            <a:endParaRPr lang="ko-KR" sz="2800" dirty="0"/>
          </a:p>
        </p:txBody>
      </p:sp>
      <p:graphicFrame>
        <p:nvGraphicFramePr>
          <p:cNvPr id="8" name="S07-table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0956" y="2362200"/>
          <a:ext cx="10607040" cy="914400"/>
        </p:xfrm>
        <a:graphic>
          <a:graphicData uri="http://schemas.openxmlformats.org/drawingml/2006/table">
            <a:tbl>
              <a:tblPr/>
              <a:tblGrid>
                <a:gridCol w="1909267"/>
                <a:gridCol w="8697773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어떤 사람들이었나요?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공부해서 과거를 보고 나랏일을 맡았어요.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통역이나 의술 같은 기술을 가졌어요.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농사를 짓거나 물건을 만들고 팔았어요.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천민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노비 등으로 가장 낮은 대접을 받았어요.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조선과 오늘날</a:t>
            </a:r>
            <a:endParaRPr lang="ko-KR" sz="4000" dirty="0"/>
          </a:p>
        </p:txBody>
      </p:sp>
      <p:sp>
        <p:nvSpPr>
          <p:cNvPr id="3" name="S08-card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오늘날 우리 생활과 견주어 말해요.</a:t>
            </a:r>
            <a:endParaRPr lang="ko-KR" sz="2800" dirty="0"/>
          </a:p>
        </p:txBody>
      </p:sp>
      <p:sp>
        <p:nvSpPr>
          <p:cNvPr id="5" name="S08-chip64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8-text65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조선: 신분은 태어날 때 정해졌어요. 오늘날은?</a:t>
            </a:r>
            <a:endParaRPr lang="ko-KR" sz="2800" dirty="0"/>
          </a:p>
        </p:txBody>
      </p:sp>
      <p:sp>
        <p:nvSpPr>
          <p:cNvPr id="7" name="S08-chip66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8-text67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조선: 과거 시험은 주로 양반이 보았어요. 오늘날 공무원 시험은?</a:t>
            </a:r>
            <a:endParaRPr lang="ko-KR" sz="2800" dirty="0"/>
          </a:p>
        </p:txBody>
      </p:sp>
      <p:sp>
        <p:nvSpPr>
          <p:cNvPr id="9" name="S08-chip68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8-text69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 사람들 가운데 가장 많았던 신분은?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임진왜란과 나라를 지킨 사람들</a:t>
            </a:r>
            <a:endParaRPr lang="ko-KR" sz="4000" dirty="0"/>
          </a:p>
        </p:txBody>
      </p:sp>
      <p:sp>
        <p:nvSpPr>
          <p:cNvPr id="3" name="S09-text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1592년 일본이 쳐들어와 7년 동안 전쟁이 이어졌어요.</a:t>
            </a:r>
            <a:endParaRPr lang="ko-KR" sz="2800" dirty="0"/>
          </a:p>
        </p:txBody>
      </p:sp>
      <p:sp>
        <p:nvSpPr>
          <p:cNvPr id="4" name="S09-card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신분은 달라도 힘을 모아 나라를 지켰어요.</a:t>
            </a:r>
            <a:endParaRPr lang="ko-KR" sz="2800" dirty="0"/>
          </a:p>
        </p:txBody>
      </p:sp>
      <p:sp>
        <p:nvSpPr>
          <p:cNvPr id="6" name="S09-card73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74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이순신과 수군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거북선을 앞세워 바다에서 일본군을 여러 번 물리쳤어요.</a:t>
            </a:r>
            <a:endParaRPr lang="ko-KR" sz="2800" dirty="0"/>
          </a:p>
        </p:txBody>
      </p:sp>
      <p:sp>
        <p:nvSpPr>
          <p:cNvPr id="8" name="S09-card75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76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의병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양반·농민·승려 등이 스스로 일어나 고향을 지켰어요.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어떻게 지켰을까?</a:t>
            </a:r>
            <a:endParaRPr lang="ko-KR" sz="4000" dirty="0"/>
          </a:p>
        </p:txBody>
      </p:sp>
      <p:sp>
        <p:nvSpPr>
          <p:cNvPr id="3" name="S10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0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“~이 쳐들어오자, ~해서, ~되었어요.”</a:t>
            </a:r>
            <a:endParaRPr lang="ko-KR" sz="2800" dirty="0"/>
          </a:p>
        </p:txBody>
      </p:sp>
      <p:sp>
        <p:nvSpPr>
          <p:cNvPr id="5" name="S10-chip79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10-text80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이순신의 노력을 어려움 → 방법 → 결과로 말해요.</a:t>
            </a:r>
            <a:endParaRPr lang="ko-KR" sz="2800" dirty="0"/>
          </a:p>
        </p:txBody>
      </p:sp>
      <p:sp>
        <p:nvSpPr>
          <p:cNvPr id="7" name="S10-chip81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10-text82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의병은 어떤 사람들이었나요?</a:t>
            </a:r>
            <a:endParaRPr lang="ko-KR" sz="2800" dirty="0"/>
          </a:p>
        </p:txBody>
      </p:sp>
      <p:sp>
        <p:nvSpPr>
          <p:cNvPr id="9" name="S10-chip83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10-text84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신분이 다른 사람들이 함께 싸운 것으로 무엇을 짐작할 수 있나요?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8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1-text8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 건국, 임진왜란, 훈민정음 반포를 차례로 놓아요.</a:t>
            </a:r>
            <a:endParaRPr lang="ko-KR" sz="2800" dirty="0"/>
          </a:p>
        </p:txBody>
      </p:sp>
      <p:sp>
        <p:nvSpPr>
          <p:cNvPr id="5" name="S11-chip87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1-text88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세종이 훈민정음을 만든 까닭은?</a:t>
            </a:r>
            <a:endParaRPr lang="ko-KR" sz="2800" dirty="0"/>
          </a:p>
        </p:txBody>
      </p:sp>
      <p:sp>
        <p:nvSpPr>
          <p:cNvPr id="7" name="S11-chip89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1-text90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측우기는 농사에 어떤 도움을 주었나요?</a:t>
            </a:r>
            <a:endParaRPr lang="ko-KR" sz="2800" dirty="0"/>
          </a:p>
        </p:txBody>
      </p:sp>
      <p:sp>
        <p:nvSpPr>
          <p:cNvPr id="9" name="S11-chip91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1-text92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의병은 누구였고, 어떻게 나라를 지켰나요?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93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4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세종은 백성을 위해 훈민정음과 과학 기구를 만들었어요.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임진왜란 때 신분이 다른 사람들이 함께 나라를 지켰어요.</a:t>
            </a:r>
            <a:endParaRPr lang="ko-KR" sz="2800" dirty="0"/>
          </a:p>
        </p:txBody>
      </p:sp>
      <p:sp>
        <p:nvSpPr>
          <p:cNvPr id="5" name="S13-chip95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문제 → 만든 것 → 달라진 생활</a:t>
            </a:r>
            <a:endParaRPr lang="ko-KR" sz="2200" dirty="0"/>
          </a:p>
        </p:txBody>
      </p:sp>
      <p:sp>
        <p:nvSpPr>
          <p:cNvPr id="6" name="S13-chip96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이름만 외우기</a:t>
            </a:r>
            <a:endParaRPr lang="ko-KR" sz="2200" dirty="0"/>
          </a:p>
        </p:txBody>
      </p:sp>
      <p:sp>
        <p:nvSpPr>
          <p:cNvPr id="7" name="S13-text97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98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조선을 세운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사람과 해는?</a:t>
            </a:r>
            <a:endParaRPr lang="ko-KR" sz="2200" dirty="0"/>
          </a:p>
        </p:txBody>
      </p:sp>
      <p:sp>
        <p:nvSpPr>
          <p:cNvPr id="9" name="S13-text99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측우기는 무엇을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재는 기구?</a:t>
            </a:r>
            <a:endParaRPr lang="ko-KR" sz="2200" dirty="0"/>
          </a:p>
        </p:txBody>
      </p:sp>
      <p:sp>
        <p:nvSpPr>
          <p:cNvPr id="10" name="S13-text100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임진왜란 때 바다를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지킨 장군은?</a:t>
            </a:r>
            <a:endParaRPr lang="ko-KR" sz="2200" dirty="0"/>
          </a:p>
        </p:txBody>
      </p:sp>
      <p:sp>
        <p:nvSpPr>
          <p:cNvPr id="11" name="S13-text10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개항과 일제강점기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고려 다시 보기</a:t>
            </a:r>
            <a:endParaRPr lang="ko-KR" sz="4000" dirty="0"/>
          </a:p>
        </p:txBody>
      </p:sp>
      <p:sp>
        <p:nvSpPr>
          <p:cNvPr id="3" name="S14-text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시간에 배운 고려를 정리해요.</a:t>
            </a:r>
            <a:endParaRPr lang="ko-KR" sz="2800" dirty="0"/>
          </a:p>
        </p:txBody>
      </p:sp>
      <p:sp>
        <p:nvSpPr>
          <p:cNvPr id="4" name="S14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 다음에 세워진 나라가 오늘 배울 조선이에요.</a:t>
            </a:r>
            <a:endParaRPr lang="ko-KR" sz="2800" dirty="0"/>
          </a:p>
        </p:txBody>
      </p:sp>
      <p:graphicFrame>
        <p:nvGraphicFramePr>
          <p:cNvPr id="14" name="S14-table10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602992"/>
          <a:ext cx="10972800" cy="914400"/>
        </p:xfrm>
        <a:graphic>
          <a:graphicData uri="http://schemas.openxmlformats.org/drawingml/2006/table">
            <a:tbl>
              <a:tblPr/>
              <a:tblGrid>
                <a:gridCol w="3072384"/>
                <a:gridCol w="7900416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세운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왕건(918년)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문화유산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고려청자, 팔만대장경, 『직지심체요절』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나라를 지킨 노력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서희의 외교 담판, 강감찬, 강화도로 옮김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조선</dc:title>
  <dc:subject>KR22-G05-SOC-JOSEON-L01</dc:subject>
  <dc:creator>education-ppt</dc:creator>
  <cp:lastModifiedBy>education-ppt</cp:lastModifiedBy>
  <cp:revision>1</cp:revision>
  <dcterms:created xsi:type="dcterms:W3CDTF">2026-10-26T13:42:56Z</dcterms:created>
  <dcterms:modified xsi:type="dcterms:W3CDTF">2026-10-26T13:42:56Z</dcterms:modified>
</cp:coreProperties>
</file>