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570c98f-0b95-615b-a98e-c985b591578d}">
          <p14:sldIdLst>
            <p14:sldId id="256"/>
            <p14:sldId id="257"/>
          </p14:sldIdLst>
        </p14:section>
        <p14:section name="개념" id="{e909ac19-c7a9-324e-85c4-5bbb84c201e4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8637e307-38b9-e88a-527a-eda10f765ade}">
          <p14:sldIdLst>
            <p14:sldId id="261"/>
            <p14:sldId id="264"/>
            <p14:sldId id="265"/>
          </p14:sldIdLst>
        </p14:section>
        <p14:section name="개념" id="{4c887f2f-dd7a-ef45-2339-ede8c6befb70}">
          <p14:sldIdLst/>
        </p14:section>
        <p14:section name="연습" id="{f408753b-085c-8f67-b7e4-77180332e8dd}">
          <p14:sldIdLst/>
        </p14:section>
        <p14:section name="확인" id="{ba076825-9efc-e9d8-66d4-19b21bafefaf}">
          <p14:sldIdLst>
            <p14:sldId id="266"/>
          </p14:sldIdLst>
        </p14:section>
        <p14:section name="정리" id="{e47ce567-c223-d010-810f-c93a9f663d88}">
          <p14:sldIdLst>
            <p14:sldId id="267"/>
          </p14:sldIdLst>
        </p14:section>
        <p14:section name="보충" id="{21171614-d604-461d-245a-cb6a6235118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고려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고려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고려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사람들은 어떤 문화를 남겼고,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어떻게 지켰을까?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고려청자 매병: 아가리가 작고 어깨가 넓으며 아래로 갈수록 좁아지는 푸른빛 병. 몸통에 둥근 무늬가 새겨져 있다"/>
          <p:cNvSpPr/>
          <p:nvPr/>
        </p:nvSpPr>
        <p:spPr>
          <a:xfrm>
            <a:off x="8782956" y="723900"/>
            <a:ext cx="1727928" cy="2758440"/>
          </a:xfrm>
          <a:custGeom>
            <a:avLst/>
            <a:gdLst/>
            <a:ahLst/>
            <a:cxnLst/>
            <a:rect l="l" t="t" r="r" b="b"/>
            <a:pathLst>
              <a:path w="1727928" h="2758440">
                <a:moveTo>
                  <a:pt x="1046125" y="0"/>
                </a:moveTo>
                <a:lnTo>
                  <a:pt x="1061739" y="130115"/>
                </a:lnTo>
                <a:lnTo>
                  <a:pt x="1176240" y="182161"/>
                </a:lnTo>
                <a:lnTo>
                  <a:pt x="1384425" y="286253"/>
                </a:lnTo>
                <a:lnTo>
                  <a:pt x="1566586" y="442391"/>
                </a:lnTo>
                <a:lnTo>
                  <a:pt x="1686292" y="650575"/>
                </a:lnTo>
                <a:lnTo>
                  <a:pt x="1727928" y="884783"/>
                </a:lnTo>
                <a:lnTo>
                  <a:pt x="1707110" y="1145013"/>
                </a:lnTo>
                <a:lnTo>
                  <a:pt x="1644655" y="1457289"/>
                </a:lnTo>
                <a:lnTo>
                  <a:pt x="1566586" y="1821611"/>
                </a:lnTo>
                <a:lnTo>
                  <a:pt x="1478107" y="2185934"/>
                </a:lnTo>
                <a:lnTo>
                  <a:pt x="1394834" y="2524233"/>
                </a:lnTo>
                <a:lnTo>
                  <a:pt x="1374015" y="2664757"/>
                </a:lnTo>
                <a:lnTo>
                  <a:pt x="1415652" y="2758440"/>
                </a:lnTo>
                <a:lnTo>
                  <a:pt x="312276" y="2758440"/>
                </a:lnTo>
                <a:lnTo>
                  <a:pt x="353913" y="2664757"/>
                </a:lnTo>
                <a:lnTo>
                  <a:pt x="333095" y="2524233"/>
                </a:lnTo>
                <a:lnTo>
                  <a:pt x="249821" y="2185934"/>
                </a:lnTo>
                <a:lnTo>
                  <a:pt x="161343" y="1821611"/>
                </a:lnTo>
                <a:lnTo>
                  <a:pt x="83274" y="1457289"/>
                </a:lnTo>
                <a:lnTo>
                  <a:pt x="20818" y="1145013"/>
                </a:lnTo>
                <a:lnTo>
                  <a:pt x="0" y="884783"/>
                </a:lnTo>
                <a:lnTo>
                  <a:pt x="41637" y="650575"/>
                </a:lnTo>
                <a:lnTo>
                  <a:pt x="161343" y="442391"/>
                </a:lnTo>
                <a:lnTo>
                  <a:pt x="343504" y="286253"/>
                </a:lnTo>
                <a:lnTo>
                  <a:pt x="551688" y="182161"/>
                </a:lnTo>
                <a:lnTo>
                  <a:pt x="666189" y="130115"/>
                </a:lnTo>
                <a:lnTo>
                  <a:pt x="681803" y="0"/>
                </a:lnTo>
                <a:close/>
              </a:path>
            </a:pathLst>
          </a:custGeom>
          <a:solidFill>
            <a:srgbClr val="A9CDBB"/>
          </a:solidFill>
          <a:ln w="25400">
            <a:solidFill>
              <a:srgbClr val="4F7564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469963" y="1509795"/>
            <a:ext cx="353913" cy="353913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053595" y="2082302"/>
            <a:ext cx="353913" cy="353913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886332" y="2082302"/>
            <a:ext cx="353913" cy="353913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469963" y="2654808"/>
            <a:ext cx="353913" cy="353913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959912" y="1166291"/>
            <a:ext cx="1374015" cy="0"/>
          </a:xfrm>
          <a:prstGeom prst="line">
            <a:avLst/>
          </a:prstGeom>
          <a:noFill/>
          <a:ln w="12700">
            <a:solidFill>
              <a:srgbClr val="5E7F70"/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고려의 건국과 고려의 문화유산을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외적의 침입에 맞선 고려 사람들의 노력을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삼국을 통일한 나라는?</a:t>
            </a:r>
            <a:endParaRPr lang="ko-KR" sz="28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시대의 두 나라는?</a:t>
            </a:r>
            <a:endParaRPr lang="ko-KR" sz="2800" dirty="0"/>
          </a:p>
        </p:txBody>
      </p:sp>
      <p:sp>
        <p:nvSpPr>
          <p:cNvPr id="7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발해가 고구려를 이었다고 볼 근거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고려가 세워지기까지</a:t>
            </a:r>
            <a:endParaRPr lang="ko-KR" sz="40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신라의 힘이 약해지자 나라가 다시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셋으로 나뉘었어요.</a:t>
            </a:r>
            <a:endParaRPr lang="ko-KR" sz="2800" dirty="0"/>
          </a:p>
        </p:txBody>
      </p:sp>
      <p:sp>
        <p:nvSpPr>
          <p:cNvPr id="4" name="S03-card1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‘고려’라는 이름에는 고구려를 잇는다는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담겨 있어요.</a:t>
            </a:r>
            <a:endParaRPr lang="ko-KR" sz="2800" dirty="0"/>
          </a:p>
        </p:txBody>
      </p:sp>
      <p:sp>
        <p:nvSpPr>
          <p:cNvPr id="6" name="S03-line19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3-event20"/>
          <p:cNvSpPr/>
          <p:nvPr/>
        </p:nvSpPr>
        <p:spPr>
          <a:xfrm>
            <a:off x="2021967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3-label21"/>
          <p:cNvSpPr txBox="1"/>
          <p:nvPr/>
        </p:nvSpPr>
        <p:spPr>
          <a:xfrm>
            <a:off x="868680" y="2901823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</a:t>
            </a:r>
            <a:endParaRPr lang="ko-KR" sz="2200" dirty="0"/>
          </a:p>
        </p:txBody>
      </p:sp>
      <p:sp>
        <p:nvSpPr>
          <p:cNvPr id="9" name="S03-label22"/>
          <p:cNvSpPr txBox="1"/>
          <p:nvPr/>
        </p:nvSpPr>
        <p:spPr>
          <a:xfrm>
            <a:off x="868680" y="3813048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힘이 약해짐</a:t>
            </a:r>
            <a:endParaRPr lang="ko-KR" sz="1800" dirty="0"/>
          </a:p>
        </p:txBody>
      </p:sp>
      <p:sp>
        <p:nvSpPr>
          <p:cNvPr id="10" name="S03-event23"/>
          <p:cNvSpPr/>
          <p:nvPr/>
        </p:nvSpPr>
        <p:spPr>
          <a:xfrm>
            <a:off x="4657725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3-label24"/>
          <p:cNvSpPr txBox="1"/>
          <p:nvPr/>
        </p:nvSpPr>
        <p:spPr>
          <a:xfrm>
            <a:off x="3504438" y="2901823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후삼국 시대</a:t>
            </a:r>
            <a:endParaRPr lang="ko-KR" sz="2200" dirty="0"/>
          </a:p>
        </p:txBody>
      </p:sp>
      <p:sp>
        <p:nvSpPr>
          <p:cNvPr id="12" name="S03-label25"/>
          <p:cNvSpPr txBox="1"/>
          <p:nvPr/>
        </p:nvSpPr>
        <p:spPr>
          <a:xfrm>
            <a:off x="3504438" y="3813048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후백제·후고구려가 생김</a:t>
            </a:r>
            <a:endParaRPr lang="ko-KR" sz="1800" dirty="0"/>
          </a:p>
        </p:txBody>
      </p:sp>
      <p:sp>
        <p:nvSpPr>
          <p:cNvPr id="13" name="S03-event26"/>
          <p:cNvSpPr/>
          <p:nvPr/>
        </p:nvSpPr>
        <p:spPr>
          <a:xfrm>
            <a:off x="7293483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7"/>
          <p:cNvSpPr txBox="1"/>
          <p:nvPr/>
        </p:nvSpPr>
        <p:spPr>
          <a:xfrm>
            <a:off x="6140196" y="2901823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건국</a:t>
            </a:r>
            <a:endParaRPr lang="ko-KR" sz="2200" dirty="0"/>
          </a:p>
        </p:txBody>
      </p:sp>
      <p:sp>
        <p:nvSpPr>
          <p:cNvPr id="15" name="S03-label28"/>
          <p:cNvSpPr txBox="1"/>
          <p:nvPr/>
        </p:nvSpPr>
        <p:spPr>
          <a:xfrm>
            <a:off x="6140196" y="3813048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918년, 왕건</a:t>
            </a:r>
            <a:endParaRPr lang="ko-KR" sz="1800" dirty="0"/>
          </a:p>
        </p:txBody>
      </p:sp>
      <p:sp>
        <p:nvSpPr>
          <p:cNvPr id="16" name="S03-event29"/>
          <p:cNvSpPr/>
          <p:nvPr/>
        </p:nvSpPr>
        <p:spPr>
          <a:xfrm>
            <a:off x="9929241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3-label30"/>
          <p:cNvSpPr txBox="1"/>
          <p:nvPr/>
        </p:nvSpPr>
        <p:spPr>
          <a:xfrm>
            <a:off x="8775954" y="2901823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후삼국 통일</a:t>
            </a:r>
            <a:endParaRPr lang="ko-KR" sz="2200" dirty="0"/>
          </a:p>
        </p:txBody>
      </p:sp>
      <p:sp>
        <p:nvSpPr>
          <p:cNvPr id="18" name="S03-label31"/>
          <p:cNvSpPr txBox="1"/>
          <p:nvPr/>
        </p:nvSpPr>
        <p:spPr>
          <a:xfrm>
            <a:off x="8775954" y="3813048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고려가 하나로 합침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고려청자와 상감 기법</a:t>
            </a:r>
            <a:endParaRPr lang="ko-KR" sz="4000" dirty="0"/>
          </a:p>
        </p:txBody>
      </p:sp>
      <p:sp>
        <p:nvSpPr>
          <p:cNvPr id="3" name="S04-figure32" descr="고려청자 매병: 아가리가 작고 어깨가 넓으며 아래로 갈수록 좁아지는 푸른빛 병. 몸통에 둥근 무늬가 새겨져 있다"/>
          <p:cNvSpPr/>
          <p:nvPr/>
        </p:nvSpPr>
        <p:spPr>
          <a:xfrm>
            <a:off x="1140637" y="1409700"/>
            <a:ext cx="2677334" cy="4274058"/>
          </a:xfrm>
          <a:custGeom>
            <a:avLst/>
            <a:gdLst/>
            <a:ahLst/>
            <a:cxnLst/>
            <a:rect l="l" t="t" r="r" b="b"/>
            <a:pathLst>
              <a:path w="2677334" h="4274058">
                <a:moveTo>
                  <a:pt x="1620916" y="0"/>
                </a:moveTo>
                <a:lnTo>
                  <a:pt x="1645109" y="201607"/>
                </a:lnTo>
                <a:lnTo>
                  <a:pt x="1822523" y="282249"/>
                </a:lnTo>
                <a:lnTo>
                  <a:pt x="2145093" y="443534"/>
                </a:lnTo>
                <a:lnTo>
                  <a:pt x="2427342" y="685462"/>
                </a:lnTo>
                <a:lnTo>
                  <a:pt x="2612820" y="1008033"/>
                </a:lnTo>
                <a:lnTo>
                  <a:pt x="2677334" y="1370924"/>
                </a:lnTo>
                <a:lnTo>
                  <a:pt x="2645077" y="1774137"/>
                </a:lnTo>
                <a:lnTo>
                  <a:pt x="2548306" y="2257993"/>
                </a:lnTo>
                <a:lnTo>
                  <a:pt x="2427342" y="2822491"/>
                </a:lnTo>
                <a:lnTo>
                  <a:pt x="2290250" y="3386989"/>
                </a:lnTo>
                <a:lnTo>
                  <a:pt x="2161222" y="3911166"/>
                </a:lnTo>
                <a:lnTo>
                  <a:pt x="2128965" y="4128901"/>
                </a:lnTo>
                <a:lnTo>
                  <a:pt x="2193479" y="4274058"/>
                </a:lnTo>
                <a:lnTo>
                  <a:pt x="483856" y="4274058"/>
                </a:lnTo>
                <a:lnTo>
                  <a:pt x="548370" y="4128901"/>
                </a:lnTo>
                <a:lnTo>
                  <a:pt x="516113" y="3911166"/>
                </a:lnTo>
                <a:lnTo>
                  <a:pt x="387084" y="3386989"/>
                </a:lnTo>
                <a:lnTo>
                  <a:pt x="249992" y="2822491"/>
                </a:lnTo>
                <a:lnTo>
                  <a:pt x="129028" y="2257993"/>
                </a:lnTo>
                <a:lnTo>
                  <a:pt x="32257" y="1774137"/>
                </a:lnTo>
                <a:lnTo>
                  <a:pt x="0" y="1370924"/>
                </a:lnTo>
                <a:lnTo>
                  <a:pt x="64514" y="1008033"/>
                </a:lnTo>
                <a:lnTo>
                  <a:pt x="249992" y="685462"/>
                </a:lnTo>
                <a:lnTo>
                  <a:pt x="532241" y="443534"/>
                </a:lnTo>
                <a:lnTo>
                  <a:pt x="854812" y="282249"/>
                </a:lnTo>
                <a:lnTo>
                  <a:pt x="1032225" y="201607"/>
                </a:lnTo>
                <a:lnTo>
                  <a:pt x="1056418" y="0"/>
                </a:lnTo>
                <a:close/>
              </a:path>
            </a:pathLst>
          </a:custGeom>
          <a:solidFill>
            <a:srgbClr val="A9CDBB"/>
          </a:solidFill>
          <a:ln w="25400">
            <a:solidFill>
              <a:srgbClr val="4F7564"/>
            </a:solidFill>
            <a:prstDash val="solid"/>
          </a:ln>
        </p:spPr>
      </p:sp>
      <p:sp>
        <p:nvSpPr>
          <p:cNvPr id="4" name="S04-mark33"/>
          <p:cNvSpPr/>
          <p:nvPr/>
        </p:nvSpPr>
        <p:spPr>
          <a:xfrm>
            <a:off x="2205119" y="2627403"/>
            <a:ext cx="548370" cy="548370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5" name="S04-mark34"/>
          <p:cNvSpPr/>
          <p:nvPr/>
        </p:nvSpPr>
        <p:spPr>
          <a:xfrm>
            <a:off x="1559978" y="3514472"/>
            <a:ext cx="548370" cy="548370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6" name="S04-mark35"/>
          <p:cNvSpPr/>
          <p:nvPr/>
        </p:nvSpPr>
        <p:spPr>
          <a:xfrm>
            <a:off x="2850260" y="3514472"/>
            <a:ext cx="548370" cy="548370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7" name="S04-mark36"/>
          <p:cNvSpPr/>
          <p:nvPr/>
        </p:nvSpPr>
        <p:spPr>
          <a:xfrm>
            <a:off x="2205119" y="4401541"/>
            <a:ext cx="548370" cy="548370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8" name="S04-mark37"/>
          <p:cNvSpPr/>
          <p:nvPr/>
        </p:nvSpPr>
        <p:spPr>
          <a:xfrm>
            <a:off x="1414822" y="2095162"/>
            <a:ext cx="2128965" cy="0"/>
          </a:xfrm>
          <a:prstGeom prst="line">
            <a:avLst/>
          </a:prstGeom>
          <a:noFill/>
          <a:ln w="12700">
            <a:solidFill>
              <a:srgbClr val="5E7F70"/>
            </a:solidFill>
            <a:prstDash val="solid"/>
          </a:ln>
        </p:spPr>
      </p:sp>
      <p:sp>
        <p:nvSpPr>
          <p:cNvPr id="9" name="S04-label38"/>
          <p:cNvSpPr txBox="1"/>
          <p:nvPr/>
        </p:nvSpPr>
        <p:spPr>
          <a:xfrm>
            <a:off x="548640" y="5840730"/>
            <a:ext cx="38613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고려청자 매병</a:t>
            </a:r>
            <a:endParaRPr lang="ko-KR" sz="2200" dirty="0"/>
          </a:p>
        </p:txBody>
      </p:sp>
      <p:sp>
        <p:nvSpPr>
          <p:cNvPr id="10" name="S04-card39"/>
          <p:cNvSpPr/>
          <p:nvPr/>
        </p:nvSpPr>
        <p:spPr>
          <a:xfrm>
            <a:off x="4775728" y="1432306"/>
            <a:ext cx="686458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40"/>
          <p:cNvSpPr txBox="1"/>
          <p:nvPr/>
        </p:nvSpPr>
        <p:spPr>
          <a:xfrm>
            <a:off x="5050048" y="1569466"/>
            <a:ext cx="631594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맑은 푸른빛(비색)이에요.</a:t>
            </a:r>
            <a:endParaRPr lang="ko-KR" sz="2800" dirty="0"/>
          </a:p>
        </p:txBody>
      </p:sp>
      <p:sp>
        <p:nvSpPr>
          <p:cNvPr id="12" name="S04-card41"/>
          <p:cNvSpPr/>
          <p:nvPr/>
        </p:nvSpPr>
        <p:spPr>
          <a:xfrm>
            <a:off x="4775728" y="2840990"/>
            <a:ext cx="686458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42"/>
          <p:cNvSpPr txBox="1"/>
          <p:nvPr/>
        </p:nvSpPr>
        <p:spPr>
          <a:xfrm>
            <a:off x="5050048" y="2978150"/>
            <a:ext cx="631594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상감 기법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무늬를 파내고 다른 색 흙을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메워 구웠어요.</a:t>
            </a:r>
            <a:endParaRPr lang="ko-KR" sz="2800" dirty="0"/>
          </a:p>
        </p:txBody>
      </p:sp>
      <p:sp>
        <p:nvSpPr>
          <p:cNvPr id="14" name="S04-card43"/>
          <p:cNvSpPr/>
          <p:nvPr/>
        </p:nvSpPr>
        <p:spPr>
          <a:xfrm>
            <a:off x="4775728" y="4590542"/>
            <a:ext cx="6864584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5" name="S04-cardtext44"/>
          <p:cNvSpPr txBox="1"/>
          <p:nvPr/>
        </p:nvSpPr>
        <p:spPr>
          <a:xfrm>
            <a:off x="5050048" y="4727702"/>
            <a:ext cx="631594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그릇을 만드는 솜씨가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뛰어났다고 생각할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목판과 금속 활자</a:t>
            </a:r>
            <a:endParaRPr lang="ko-KR" sz="4000" dirty="0"/>
          </a:p>
        </p:txBody>
      </p:sp>
      <p:sp>
        <p:nvSpPr>
          <p:cNvPr id="3" name="S05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사람들은 두 가지 방법으로 책을 찍었어요.</a:t>
            </a:r>
            <a:endParaRPr lang="ko-KR" sz="2800" dirty="0"/>
          </a:p>
        </p:txBody>
      </p:sp>
      <p:sp>
        <p:nvSpPr>
          <p:cNvPr id="5" name="S05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책을 찍을 때 어느 쪽이 더 편리할까요?</a:t>
            </a:r>
            <a:endParaRPr lang="ko-KR" sz="2800" dirty="0"/>
          </a:p>
        </p:txBody>
      </p:sp>
      <p:sp>
        <p:nvSpPr>
          <p:cNvPr id="7" name="S05-chip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목판</a:t>
            </a:r>
            <a:endParaRPr lang="ko-KR" sz="2200" dirty="0"/>
          </a:p>
        </p:txBody>
      </p:sp>
      <p:sp>
        <p:nvSpPr>
          <p:cNvPr id="8" name="S05-figure50" descr="목판: 나무판 한 장에 한 쪽의 글자를 모두 새긴 모습"/>
          <p:cNvSpPr/>
          <p:nvPr/>
        </p:nvSpPr>
        <p:spPr>
          <a:xfrm>
            <a:off x="2273910" y="3238500"/>
            <a:ext cx="1912417" cy="1366012"/>
          </a:xfrm>
          <a:custGeom>
            <a:avLst/>
            <a:gdLst/>
            <a:ahLst/>
            <a:cxnLst/>
            <a:rect l="l" t="t" r="r" b="b"/>
            <a:pathLst>
              <a:path w="1912417" h="1366012">
                <a:moveTo>
                  <a:pt x="0" y="1366012"/>
                </a:moveTo>
                <a:lnTo>
                  <a:pt x="1912417" y="1366012"/>
                </a:lnTo>
                <a:lnTo>
                  <a:pt x="19124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48A"/>
          </a:solidFill>
          <a:ln w="25400">
            <a:solidFill>
              <a:srgbClr val="7A5634"/>
            </a:solidFill>
            <a:prstDash val="solid"/>
          </a:ln>
        </p:spPr>
      </p:sp>
      <p:sp>
        <p:nvSpPr>
          <p:cNvPr id="9" name="S05-mark51"/>
          <p:cNvSpPr/>
          <p:nvPr/>
        </p:nvSpPr>
        <p:spPr>
          <a:xfrm>
            <a:off x="2501578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0" name="S05-mark52"/>
          <p:cNvSpPr/>
          <p:nvPr/>
        </p:nvSpPr>
        <p:spPr>
          <a:xfrm>
            <a:off x="2501578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1" name="S05-mark53"/>
          <p:cNvSpPr/>
          <p:nvPr/>
        </p:nvSpPr>
        <p:spPr>
          <a:xfrm>
            <a:off x="2501578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2" name="S05-mark54"/>
          <p:cNvSpPr/>
          <p:nvPr/>
        </p:nvSpPr>
        <p:spPr>
          <a:xfrm>
            <a:off x="2501578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3" name="S05-mark55"/>
          <p:cNvSpPr/>
          <p:nvPr/>
        </p:nvSpPr>
        <p:spPr>
          <a:xfrm>
            <a:off x="2501578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4" name="S05-mark56"/>
          <p:cNvSpPr/>
          <p:nvPr/>
        </p:nvSpPr>
        <p:spPr>
          <a:xfrm>
            <a:off x="2501578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5" name="S05-mark57"/>
          <p:cNvSpPr/>
          <p:nvPr/>
        </p:nvSpPr>
        <p:spPr>
          <a:xfrm>
            <a:off x="2501578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6" name="S05-mark58"/>
          <p:cNvSpPr/>
          <p:nvPr/>
        </p:nvSpPr>
        <p:spPr>
          <a:xfrm>
            <a:off x="2742907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7" name="S05-mark59"/>
          <p:cNvSpPr/>
          <p:nvPr/>
        </p:nvSpPr>
        <p:spPr>
          <a:xfrm>
            <a:off x="2742907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8" name="S05-mark60"/>
          <p:cNvSpPr/>
          <p:nvPr/>
        </p:nvSpPr>
        <p:spPr>
          <a:xfrm>
            <a:off x="2742907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9" name="S05-mark61"/>
          <p:cNvSpPr/>
          <p:nvPr/>
        </p:nvSpPr>
        <p:spPr>
          <a:xfrm>
            <a:off x="2742907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0" name="S05-mark62"/>
          <p:cNvSpPr/>
          <p:nvPr/>
        </p:nvSpPr>
        <p:spPr>
          <a:xfrm>
            <a:off x="2742907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1" name="S05-mark63"/>
          <p:cNvSpPr/>
          <p:nvPr/>
        </p:nvSpPr>
        <p:spPr>
          <a:xfrm>
            <a:off x="2742907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2" name="S05-mark64"/>
          <p:cNvSpPr/>
          <p:nvPr/>
        </p:nvSpPr>
        <p:spPr>
          <a:xfrm>
            <a:off x="2742907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3" name="S05-mark65"/>
          <p:cNvSpPr/>
          <p:nvPr/>
        </p:nvSpPr>
        <p:spPr>
          <a:xfrm>
            <a:off x="2984236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4" name="S05-mark66"/>
          <p:cNvSpPr/>
          <p:nvPr/>
        </p:nvSpPr>
        <p:spPr>
          <a:xfrm>
            <a:off x="2984236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5" name="S05-mark67"/>
          <p:cNvSpPr/>
          <p:nvPr/>
        </p:nvSpPr>
        <p:spPr>
          <a:xfrm>
            <a:off x="2984236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6" name="S05-mark68"/>
          <p:cNvSpPr/>
          <p:nvPr/>
        </p:nvSpPr>
        <p:spPr>
          <a:xfrm>
            <a:off x="2984236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7" name="S05-mark69"/>
          <p:cNvSpPr/>
          <p:nvPr/>
        </p:nvSpPr>
        <p:spPr>
          <a:xfrm>
            <a:off x="2984236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8" name="S05-mark70"/>
          <p:cNvSpPr/>
          <p:nvPr/>
        </p:nvSpPr>
        <p:spPr>
          <a:xfrm>
            <a:off x="2984236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9" name="S05-mark71"/>
          <p:cNvSpPr/>
          <p:nvPr/>
        </p:nvSpPr>
        <p:spPr>
          <a:xfrm>
            <a:off x="2984236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0" name="S05-mark72"/>
          <p:cNvSpPr/>
          <p:nvPr/>
        </p:nvSpPr>
        <p:spPr>
          <a:xfrm>
            <a:off x="3225565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1" name="S05-mark73"/>
          <p:cNvSpPr/>
          <p:nvPr/>
        </p:nvSpPr>
        <p:spPr>
          <a:xfrm>
            <a:off x="3225565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2" name="S05-mark74"/>
          <p:cNvSpPr/>
          <p:nvPr/>
        </p:nvSpPr>
        <p:spPr>
          <a:xfrm>
            <a:off x="3225565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3" name="S05-mark75"/>
          <p:cNvSpPr/>
          <p:nvPr/>
        </p:nvSpPr>
        <p:spPr>
          <a:xfrm>
            <a:off x="3225565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4" name="S05-mark76"/>
          <p:cNvSpPr/>
          <p:nvPr/>
        </p:nvSpPr>
        <p:spPr>
          <a:xfrm>
            <a:off x="3225565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5" name="S05-mark77"/>
          <p:cNvSpPr/>
          <p:nvPr/>
        </p:nvSpPr>
        <p:spPr>
          <a:xfrm>
            <a:off x="3225565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6" name="S05-mark78"/>
          <p:cNvSpPr/>
          <p:nvPr/>
        </p:nvSpPr>
        <p:spPr>
          <a:xfrm>
            <a:off x="3225565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7" name="S05-mark79"/>
          <p:cNvSpPr/>
          <p:nvPr/>
        </p:nvSpPr>
        <p:spPr>
          <a:xfrm>
            <a:off x="3466893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8" name="S05-mark80"/>
          <p:cNvSpPr/>
          <p:nvPr/>
        </p:nvSpPr>
        <p:spPr>
          <a:xfrm>
            <a:off x="3466893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9" name="S05-mark81"/>
          <p:cNvSpPr/>
          <p:nvPr/>
        </p:nvSpPr>
        <p:spPr>
          <a:xfrm>
            <a:off x="3466893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0" name="S05-mark82"/>
          <p:cNvSpPr/>
          <p:nvPr/>
        </p:nvSpPr>
        <p:spPr>
          <a:xfrm>
            <a:off x="3466893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1" name="S05-mark83"/>
          <p:cNvSpPr/>
          <p:nvPr/>
        </p:nvSpPr>
        <p:spPr>
          <a:xfrm>
            <a:off x="3466893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2" name="S05-mark84"/>
          <p:cNvSpPr/>
          <p:nvPr/>
        </p:nvSpPr>
        <p:spPr>
          <a:xfrm>
            <a:off x="3466893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3" name="S05-mark85"/>
          <p:cNvSpPr/>
          <p:nvPr/>
        </p:nvSpPr>
        <p:spPr>
          <a:xfrm>
            <a:off x="3466893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4" name="S05-mark86"/>
          <p:cNvSpPr/>
          <p:nvPr/>
        </p:nvSpPr>
        <p:spPr>
          <a:xfrm>
            <a:off x="3708222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5" name="S05-mark87"/>
          <p:cNvSpPr/>
          <p:nvPr/>
        </p:nvSpPr>
        <p:spPr>
          <a:xfrm>
            <a:off x="3708222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6" name="S05-mark88"/>
          <p:cNvSpPr/>
          <p:nvPr/>
        </p:nvSpPr>
        <p:spPr>
          <a:xfrm>
            <a:off x="3708222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7" name="S05-mark89"/>
          <p:cNvSpPr/>
          <p:nvPr/>
        </p:nvSpPr>
        <p:spPr>
          <a:xfrm>
            <a:off x="3708222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8" name="S05-mark90"/>
          <p:cNvSpPr/>
          <p:nvPr/>
        </p:nvSpPr>
        <p:spPr>
          <a:xfrm>
            <a:off x="3708222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9" name="S05-mark91"/>
          <p:cNvSpPr/>
          <p:nvPr/>
        </p:nvSpPr>
        <p:spPr>
          <a:xfrm>
            <a:off x="3708222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0" name="S05-mark92"/>
          <p:cNvSpPr/>
          <p:nvPr/>
        </p:nvSpPr>
        <p:spPr>
          <a:xfrm>
            <a:off x="3708222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1" name="S05-mark93"/>
          <p:cNvSpPr/>
          <p:nvPr/>
        </p:nvSpPr>
        <p:spPr>
          <a:xfrm>
            <a:off x="3949551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2" name="S05-mark94"/>
          <p:cNvSpPr/>
          <p:nvPr/>
        </p:nvSpPr>
        <p:spPr>
          <a:xfrm>
            <a:off x="3949551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3" name="S05-mark95"/>
          <p:cNvSpPr/>
          <p:nvPr/>
        </p:nvSpPr>
        <p:spPr>
          <a:xfrm>
            <a:off x="3949551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4" name="S05-mark96"/>
          <p:cNvSpPr/>
          <p:nvPr/>
        </p:nvSpPr>
        <p:spPr>
          <a:xfrm>
            <a:off x="3949551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5" name="S05-mark97"/>
          <p:cNvSpPr/>
          <p:nvPr/>
        </p:nvSpPr>
        <p:spPr>
          <a:xfrm>
            <a:off x="3949551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6" name="S05-mark98"/>
          <p:cNvSpPr/>
          <p:nvPr/>
        </p:nvSpPr>
        <p:spPr>
          <a:xfrm>
            <a:off x="3949551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7" name="S05-mark99"/>
          <p:cNvSpPr/>
          <p:nvPr/>
        </p:nvSpPr>
        <p:spPr>
          <a:xfrm>
            <a:off x="3949551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8" name="S05-text100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나무판 한 장에 한 쪽을 통째로 새겨요.</a:t>
            </a:r>
            <a:endParaRPr lang="ko-KR" sz="2200" dirty="0"/>
          </a:p>
        </p:txBody>
      </p:sp>
      <p:sp>
        <p:nvSpPr>
          <p:cNvPr id="59" name="S05-chip10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 활자</a:t>
            </a:r>
            <a:endParaRPr lang="ko-KR" sz="2200" dirty="0"/>
          </a:p>
        </p:txBody>
      </p:sp>
      <p:sp>
        <p:nvSpPr>
          <p:cNvPr id="60" name="S05-tile102"/>
          <p:cNvSpPr txBox="1"/>
          <p:nvPr/>
        </p:nvSpPr>
        <p:spPr>
          <a:xfrm>
            <a:off x="6277356" y="3326575"/>
            <a:ext cx="1189863" cy="1189863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5200" dirty="0"/>
          </a:p>
        </p:txBody>
      </p:sp>
      <p:sp>
        <p:nvSpPr>
          <p:cNvPr id="61" name="S05-tile103"/>
          <p:cNvSpPr txBox="1"/>
          <p:nvPr/>
        </p:nvSpPr>
        <p:spPr>
          <a:xfrm>
            <a:off x="7668387" y="3326575"/>
            <a:ext cx="1189863" cy="1189863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려</a:t>
            </a:r>
            <a:endParaRPr lang="ko-KR" sz="5200" dirty="0"/>
          </a:p>
        </p:txBody>
      </p:sp>
      <p:sp>
        <p:nvSpPr>
          <p:cNvPr id="62" name="S05-tile104"/>
          <p:cNvSpPr txBox="1"/>
          <p:nvPr/>
        </p:nvSpPr>
        <p:spPr>
          <a:xfrm>
            <a:off x="9059418" y="3326575"/>
            <a:ext cx="1189863" cy="1189863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endParaRPr lang="ko-KR" sz="5200" dirty="0"/>
          </a:p>
        </p:txBody>
      </p:sp>
      <p:sp>
        <p:nvSpPr>
          <p:cNvPr id="63" name="S05-tile105"/>
          <p:cNvSpPr txBox="1"/>
          <p:nvPr/>
        </p:nvSpPr>
        <p:spPr>
          <a:xfrm>
            <a:off x="10450449" y="3326575"/>
            <a:ext cx="1189863" cy="1189863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</a:t>
            </a:r>
            <a:endParaRPr lang="ko-KR" sz="5200" dirty="0"/>
          </a:p>
        </p:txBody>
      </p:sp>
      <p:sp>
        <p:nvSpPr>
          <p:cNvPr id="64" name="S05-text106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하나씩 만들어 짜 맞춰요.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고려의 문화유산</a:t>
            </a:r>
            <a:endParaRPr lang="ko-KR" sz="4000" dirty="0"/>
          </a:p>
        </p:txBody>
      </p:sp>
      <p:sp>
        <p:nvSpPr>
          <p:cNvPr id="3" name="S06-chip10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6-text10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팔만대장경은 목판일까요, 금속 활자일까요?</a:t>
            </a:r>
            <a:endParaRPr lang="ko-KR" sz="2800" dirty="0"/>
          </a:p>
        </p:txBody>
      </p:sp>
      <p:sp>
        <p:nvSpPr>
          <p:cNvPr id="5" name="S06-chip10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6-text1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『직지심체요절』은 금속 활자로 찍은 책 가운데 지금 남아 있는 가장 오래된 책이에요. 왜 소중할까요?</a:t>
            </a:r>
            <a:endParaRPr lang="ko-KR" sz="2800" dirty="0"/>
          </a:p>
        </p:txBody>
      </p:sp>
      <p:sp>
        <p:nvSpPr>
          <p:cNvPr id="7" name="S06-chip1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6-text1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목판으로 다른 책을 찍으려면 어떻게 해야 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거란의 침입과 고려</a:t>
            </a:r>
            <a:endParaRPr lang="ko-KR" sz="4000" dirty="0"/>
          </a:p>
        </p:txBody>
      </p:sp>
      <p:sp>
        <p:nvSpPr>
          <p:cNvPr id="3" name="S07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북쪽의 거란이 여러 차례 쳐들어왔어요.</a:t>
            </a:r>
            <a:endParaRPr lang="ko-KR" sz="2800" dirty="0"/>
          </a:p>
        </p:txBody>
      </p:sp>
      <p:sp>
        <p:nvSpPr>
          <p:cNvPr id="4" name="S07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고려는 말(외교)과 힘(전투)으로 나라를 지켰어요.</a:t>
            </a:r>
            <a:endParaRPr lang="ko-KR" sz="2800" dirty="0"/>
          </a:p>
        </p:txBody>
      </p:sp>
      <p:sp>
        <p:nvSpPr>
          <p:cNvPr id="6" name="S07-card116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117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서희: 말로 지켰어요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거란 장수와 담판을 벌여 싸우지 않고 물러가게 했어요. 땅도 넓혔어요.</a:t>
            </a:r>
            <a:endParaRPr lang="ko-KR" sz="2800" dirty="0"/>
          </a:p>
        </p:txBody>
      </p:sp>
      <p:sp>
        <p:nvSpPr>
          <p:cNvPr id="8" name="S07-card118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119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강감찬: 힘으로 지켰어요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쳐들어온 거란군을 귀주에서 크게 물리쳤어요.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몽골의 침입과 고려</a:t>
            </a:r>
            <a:endParaRPr lang="ko-KR" sz="4000" dirty="0"/>
          </a:p>
        </p:txBody>
      </p:sp>
      <p:sp>
        <p:nvSpPr>
          <p:cNvPr id="3" name="S08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힘센 몽골이 쳐들어오자 고려는 이렇게 맞섰어요.</a:t>
            </a:r>
            <a:endParaRPr lang="ko-KR" sz="2800" dirty="0"/>
          </a:p>
        </p:txBody>
      </p:sp>
      <p:sp>
        <p:nvSpPr>
          <p:cNvPr id="4" name="S08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사람들은 여러 방법으로 힘을 모아 몽골에 맞섰어요.</a:t>
            </a:r>
            <a:endParaRPr lang="ko-KR" sz="2800" dirty="0"/>
          </a:p>
        </p:txBody>
      </p:sp>
      <p:graphicFrame>
        <p:nvGraphicFramePr>
          <p:cNvPr id="9" name="S08-table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02992"/>
          <a:ext cx="1097280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801014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도읍을 옮김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바다로 둘러싸인 강화도로 옮겨 오래 맞섰어요.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백성의 항쟁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백성들도 곳곳에서 힘을 모아 싸웠어요.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팔만대장경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부처의 힘으로 나라를 지키려는 마음을 모았어요.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지키는 방법</a:t>
            </a:r>
            <a:endParaRPr lang="ko-KR" sz="4000" dirty="0"/>
          </a:p>
        </p:txBody>
      </p:sp>
      <p:sp>
        <p:nvSpPr>
          <p:cNvPr id="3" name="S09-card12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2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고려의 이야기를 듣고 두 친구가 말했어요.</a:t>
            </a:r>
            <a:endParaRPr lang="ko-KR" sz="2800" dirty="0"/>
          </a:p>
        </p:txBody>
      </p:sp>
      <p:sp>
        <p:nvSpPr>
          <p:cNvPr id="5" name="S09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생각에 고개가 끄덕여지나요? 고려의 예를 들어 말해요.</a:t>
            </a:r>
            <a:endParaRPr lang="ko-KR" sz="2800" dirty="0"/>
          </a:p>
        </p:txBody>
      </p:sp>
      <p:sp>
        <p:nvSpPr>
          <p:cNvPr id="7" name="S09-chip12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12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“나라를 지키려면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싸워서 이기는 방법밖에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없어요.”</a:t>
            </a:r>
            <a:endParaRPr lang="ko-KR" sz="2800" dirty="0"/>
          </a:p>
        </p:txBody>
      </p:sp>
      <p:sp>
        <p:nvSpPr>
          <p:cNvPr id="9" name="S09-chip13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13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“말로 설득하거나 마음을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모으는 것도 나라를 지키는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방법이었어요.”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어려움 → 방법 → 결과</a:t>
            </a:r>
            <a:endParaRPr lang="ko-KR" sz="4000" dirty="0"/>
          </a:p>
        </p:txBody>
      </p:sp>
      <p:sp>
        <p:nvSpPr>
          <p:cNvPr id="3" name="S10-text1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갖추어 말해요.</a:t>
            </a:r>
            <a:endParaRPr lang="ko-KR" sz="2800" dirty="0"/>
          </a:p>
        </p:txBody>
      </p:sp>
      <p:sp>
        <p:nvSpPr>
          <p:cNvPr id="4" name="S10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“~이 쳐들어오자, ~해서, ~되었어요.”</a:t>
            </a:r>
            <a:endParaRPr lang="ko-KR" sz="2800" dirty="0"/>
          </a:p>
        </p:txBody>
      </p:sp>
      <p:sp>
        <p:nvSpPr>
          <p:cNvPr id="6" name="S10-chip13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13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서희: 거란이 쳐들어왔을 때</a:t>
            </a:r>
            <a:endParaRPr lang="ko-KR" sz="2800" dirty="0"/>
          </a:p>
        </p:txBody>
      </p:sp>
      <p:sp>
        <p:nvSpPr>
          <p:cNvPr id="8" name="S10-chip13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13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고려: 몽골이 쳐들어왔을 때</a:t>
            </a:r>
            <a:endParaRPr lang="ko-KR" sz="2800" dirty="0"/>
          </a:p>
        </p:txBody>
      </p:sp>
      <p:sp>
        <p:nvSpPr>
          <p:cNvPr id="10" name="S10-chip13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14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강감찬: 거란이 다시 쳐들어왔을 때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4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4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고려를 세운 사람과 해는?</a:t>
            </a:r>
            <a:endParaRPr lang="ko-KR" sz="2800" dirty="0"/>
          </a:p>
        </p:txBody>
      </p:sp>
      <p:sp>
        <p:nvSpPr>
          <p:cNvPr id="5" name="S11-chip14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4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상감 기법은 어떻게 하는 방법인가요?</a:t>
            </a:r>
            <a:endParaRPr lang="ko-KR" sz="2800" dirty="0"/>
          </a:p>
        </p:txBody>
      </p:sp>
      <p:sp>
        <p:nvSpPr>
          <p:cNvPr id="7" name="S11-chip14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46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『직지심체요절』이 소중한 까닭은?</a:t>
            </a:r>
            <a:endParaRPr lang="ko-KR" sz="2800" dirty="0"/>
          </a:p>
        </p:txBody>
      </p:sp>
      <p:sp>
        <p:nvSpPr>
          <p:cNvPr id="9" name="S11-chip147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48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외적에 맞선 노력 하나를 어려움 → 방법 → 결과로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4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왕건이 세운 고려는 청자·대장경·금속 활자 같은 문화를 남겼고,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거란과 몽골의 침입에 여러 방법으로 맞섰어요.</a:t>
            </a:r>
            <a:endParaRPr lang="ko-KR" sz="2800" dirty="0"/>
          </a:p>
        </p:txBody>
      </p:sp>
      <p:sp>
        <p:nvSpPr>
          <p:cNvPr id="5" name="S13-chip15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어려움·방법·결과로 말하기</a:t>
            </a:r>
            <a:endParaRPr lang="ko-KR" sz="2200" dirty="0"/>
          </a:p>
        </p:txBody>
      </p:sp>
      <p:sp>
        <p:nvSpPr>
          <p:cNvPr id="6" name="S13-chip15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목판과 활자 헷갈리기</a:t>
            </a:r>
            <a:endParaRPr lang="ko-KR" sz="2200" dirty="0"/>
          </a:p>
        </p:txBody>
      </p:sp>
      <p:sp>
        <p:nvSpPr>
          <p:cNvPr id="7" name="S13-text15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5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고려를 세운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사람은?</a:t>
            </a:r>
            <a:endParaRPr lang="ko-KR" sz="2200" dirty="0"/>
          </a:p>
        </p:txBody>
      </p:sp>
      <p:sp>
        <p:nvSpPr>
          <p:cNvPr id="9" name="S13-text15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팔만대장경은 목판?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 활자?</a:t>
            </a:r>
            <a:endParaRPr lang="ko-KR" sz="2200" dirty="0"/>
          </a:p>
        </p:txBody>
      </p:sp>
      <p:sp>
        <p:nvSpPr>
          <p:cNvPr id="10" name="S13-text15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서희는 어떻게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지켰나요?</a:t>
            </a:r>
            <a:endParaRPr lang="ko-KR" sz="2200" dirty="0"/>
          </a:p>
        </p:txBody>
      </p:sp>
      <p:sp>
        <p:nvSpPr>
          <p:cNvPr id="11" name="S13-text15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조선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삼국에서 남북국까지</a:t>
            </a:r>
            <a:endParaRPr lang="ko-KR" sz="4000" dirty="0"/>
          </a:p>
        </p:txBody>
      </p:sp>
      <p:sp>
        <p:nvSpPr>
          <p:cNvPr id="3" name="S14-text1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시간의 흐름을 다시 봐요.</a:t>
            </a:r>
            <a:endParaRPr lang="ko-KR" sz="2800" dirty="0"/>
          </a:p>
        </p:txBody>
      </p:sp>
      <p:sp>
        <p:nvSpPr>
          <p:cNvPr id="4" name="S14-card1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 남쪽, 발해 북쪽. 오늘은 그다음 이야기예요.</a:t>
            </a:r>
            <a:endParaRPr lang="ko-KR" sz="2800" dirty="0"/>
          </a:p>
        </p:txBody>
      </p:sp>
      <p:sp>
        <p:nvSpPr>
          <p:cNvPr id="6" name="S14-line161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14-event162"/>
          <p:cNvSpPr/>
          <p:nvPr/>
        </p:nvSpPr>
        <p:spPr>
          <a:xfrm>
            <a:off x="2461260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14-label163"/>
          <p:cNvSpPr txBox="1"/>
          <p:nvPr/>
        </p:nvSpPr>
        <p:spPr>
          <a:xfrm>
            <a:off x="868680" y="2883535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시대</a:t>
            </a:r>
            <a:endParaRPr lang="ko-KR" sz="2200" dirty="0"/>
          </a:p>
        </p:txBody>
      </p:sp>
      <p:sp>
        <p:nvSpPr>
          <p:cNvPr id="9" name="S14-label164"/>
          <p:cNvSpPr txBox="1"/>
          <p:nvPr/>
        </p:nvSpPr>
        <p:spPr>
          <a:xfrm>
            <a:off x="868680" y="3794760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고구려·백제·신라</a:t>
            </a:r>
            <a:endParaRPr lang="ko-KR" sz="1800" dirty="0"/>
          </a:p>
        </p:txBody>
      </p:sp>
      <p:sp>
        <p:nvSpPr>
          <p:cNvPr id="10" name="S14-event165"/>
          <p:cNvSpPr/>
          <p:nvPr/>
        </p:nvSpPr>
        <p:spPr>
          <a:xfrm>
            <a:off x="5975604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14-label166"/>
          <p:cNvSpPr txBox="1"/>
          <p:nvPr/>
        </p:nvSpPr>
        <p:spPr>
          <a:xfrm>
            <a:off x="4383024" y="2883535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</a:t>
            </a:r>
            <a:endParaRPr lang="ko-KR" sz="2200" dirty="0"/>
          </a:p>
        </p:txBody>
      </p:sp>
      <p:sp>
        <p:nvSpPr>
          <p:cNvPr id="12" name="S14-label167"/>
          <p:cNvSpPr txBox="1"/>
          <p:nvPr/>
        </p:nvSpPr>
        <p:spPr>
          <a:xfrm>
            <a:off x="4383024" y="3794760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신라가 하나로 합침</a:t>
            </a:r>
            <a:endParaRPr lang="ko-KR" sz="1800" dirty="0"/>
          </a:p>
        </p:txBody>
      </p:sp>
      <p:sp>
        <p:nvSpPr>
          <p:cNvPr id="13" name="S14-event168"/>
          <p:cNvSpPr/>
          <p:nvPr/>
        </p:nvSpPr>
        <p:spPr>
          <a:xfrm>
            <a:off x="9489948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14-label169"/>
          <p:cNvSpPr txBox="1"/>
          <p:nvPr/>
        </p:nvSpPr>
        <p:spPr>
          <a:xfrm>
            <a:off x="7897368" y="2883535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</a:t>
            </a:r>
            <a:endParaRPr lang="ko-KR" sz="2200" dirty="0"/>
          </a:p>
        </p:txBody>
      </p:sp>
      <p:sp>
        <p:nvSpPr>
          <p:cNvPr id="15" name="S14-label170"/>
          <p:cNvSpPr txBox="1"/>
          <p:nvPr/>
        </p:nvSpPr>
        <p:spPr>
          <a:xfrm>
            <a:off x="7897368" y="3794760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신라와 발해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고려</dc:title>
  <dc:subject>KR22-G05-SOC-GORYEO-L01</dc:subject>
  <dc:creator>education-ppt</dc:creator>
  <cp:lastModifiedBy>education-ppt</cp:lastModifiedBy>
  <cp:revision>1</cp:revision>
  <dcterms:created xsi:type="dcterms:W3CDTF">2026-10-26T10:06:57Z</dcterms:created>
  <dcterms:modified xsi:type="dcterms:W3CDTF">2026-10-26T10:06:57Z</dcterms:modified>
</cp:coreProperties>
</file>