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27f60d1-264e-0042-347c-efcb09d33280}">
          <p14:sldIdLst>
            <p14:sldId id="256"/>
            <p14:sldId id="257"/>
          </p14:sldIdLst>
        </p14:section>
        <p14:section name="개념" id="{1523010f-1dca-4524-102d-9668fe3040f0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e4365d78-93bf-ee19-a7de-2a791d662462}">
          <p14:sldIdLst>
            <p14:sldId id="261"/>
            <p14:sldId id="264"/>
            <p14:sldId id="265"/>
          </p14:sldIdLst>
        </p14:section>
        <p14:section name="개념" id="{ad79a959-67d6-b320-058c-10bca678a020}">
          <p14:sldIdLst/>
        </p14:section>
        <p14:section name="연습" id="{840e052f-ab99-f18f-d962-a2135ba7b08c}">
          <p14:sldIdLst/>
        </p14:section>
        <p14:section name="확인" id="{0674dd0d-c209-bdb4-5a82-90811470c394}">
          <p14:sldIdLst>
            <p14:sldId id="266"/>
          </p14:sldIdLst>
        </p14:section>
        <p14:section name="정리" id="{47e5894a-36dc-f31e-e3e6-8c2742908d61}">
          <p14:sldIdLst>
            <p14:sldId id="267"/>
          </p14:sldIdLst>
        </p14:section>
        <p14:section name="보충" id="{3d3da9e9-c8b5-1aa4-dfcc-551b508a5a2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삼국과 남북국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 사람들은 어떻게 살았고,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하나로 합쳐졌을까?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8661763" y="33345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735650" y="31867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809536" y="10194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055826" y="8716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055826" y="7239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489295" y="19799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869138" y="29897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923322" y="27927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972087" y="25956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014942" y="23986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108532" y="18075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128727" y="16105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143012" y="14135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151386" y="12164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문화유산을 보고 삼국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 통일과 남북국 시대를 차례대로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세웠다고 전해지는 사람은?</a:t>
            </a:r>
            <a:endParaRPr lang="ko-KR" sz="28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2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고인돌로 짐작할 수 있는 것은?</a:t>
            </a:r>
            <a:endParaRPr lang="ko-KR" sz="2800" dirty="0"/>
          </a:p>
        </p:txBody>
      </p:sp>
      <p:sp>
        <p:nvSpPr>
          <p:cNvPr id="7" name="S02-chip2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생활을 짐작할 때 살펴보는 세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나라와 가야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 뒤에 여러 나라가 생겨났어요.</a:t>
            </a:r>
            <a:endParaRPr lang="ko-KR" sz="2800" dirty="0"/>
          </a:p>
        </p:txBody>
      </p:sp>
      <p:sp>
        <p:nvSpPr>
          <p:cNvPr id="4" name="S03-card25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고구려·백제·신라가 함께 자라던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시대라고 해요.</a:t>
            </a:r>
            <a:endParaRPr lang="ko-KR" sz="2800" dirty="0"/>
          </a:p>
        </p:txBody>
      </p:sp>
      <p:graphicFrame>
        <p:nvGraphicFramePr>
          <p:cNvPr id="4" name="S03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98116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15184"/>
                <a:gridCol w="543153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 잡은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고구려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북쪽(압록강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가운데(한강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박혁거세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동남쪽(오늘날 경주)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김수로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남쪽(낙동강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고분 벽화로 짐작하기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사람들은 씩씩하고 힘찬 기상을 지녔다고 봐요.</a:t>
            </a:r>
            <a:endParaRPr lang="ko-KR" sz="2800" dirty="0"/>
          </a:p>
        </p:txBody>
      </p:sp>
      <p:sp>
        <p:nvSpPr>
          <p:cNvPr id="5" name="S04-text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무덤의 벽에 그린 그림(고분 벽화)</a:t>
            </a:r>
            <a:endParaRPr lang="ko-KR" sz="2800" dirty="0"/>
          </a:p>
        </p:txBody>
      </p:sp>
      <p:sp>
        <p:nvSpPr>
          <p:cNvPr id="6" name="S04-stepno31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32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말을 달리며 활로 짐승을 사냥해요.</a:t>
            </a:r>
            <a:endParaRPr lang="ko-KR" sz="2800" dirty="0"/>
          </a:p>
        </p:txBody>
      </p:sp>
      <p:sp>
        <p:nvSpPr>
          <p:cNvPr id="8" name="S04-stepno33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34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뜻: 무덤 주인의 생활을 그렸다고 봐요.</a:t>
            </a:r>
            <a:endParaRPr lang="ko-KR" sz="2800" dirty="0"/>
          </a:p>
        </p:txBody>
      </p:sp>
      <p:sp>
        <p:nvSpPr>
          <p:cNvPr id="10" name="S04-stepno35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36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말 타기와 활쏘기를 잘했다고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금동 대향로와 금관</a:t>
            </a:r>
            <a:endParaRPr lang="ko-KR" sz="40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모습으로 짐작해요.</a:t>
            </a:r>
            <a:endParaRPr lang="ko-KR" sz="2800" dirty="0"/>
          </a:p>
        </p:txBody>
      </p:sp>
      <p:sp>
        <p:nvSpPr>
          <p:cNvPr id="4" name="S05-card38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9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문화유산을 보면 그 나라 사람들의 솜씨와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생각을 짐작할 수 있어요.</a:t>
            </a:r>
            <a:endParaRPr lang="ko-KR" sz="2800" dirty="0"/>
          </a:p>
        </p:txBody>
      </p:sp>
      <p:graphicFrame>
        <p:nvGraphicFramePr>
          <p:cNvPr id="6" name="S05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07844"/>
          <a:ext cx="1097280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5486400"/>
                <a:gridCol w="39502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문화유산과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금동 대향로: 산·사람·동물을 섬세하게 새긴 향로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금속을 다루는 솜씨가 뛰어났어요.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금관: 나뭇가지와 사슴뿔 모양으로 꾸민 금 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왕의 힘이 컸어요.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짐작하기</a:t>
            </a:r>
            <a:endParaRPr lang="ko-KR" sz="4000" dirty="0"/>
          </a:p>
        </p:txBody>
      </p:sp>
      <p:sp>
        <p:nvSpPr>
          <p:cNvPr id="3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6-card43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4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첨성대(신라)</a:t>
            </a:r>
            <a:endParaRPr lang="ko-KR" sz="2800" dirty="0"/>
          </a:p>
        </p:txBody>
      </p:sp>
      <p:sp>
        <p:nvSpPr>
          <p:cNvPr id="7" name="S06-figure45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7973677" y="47061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8" name="S06-mark46"/>
          <p:cNvSpPr/>
          <p:nvPr/>
        </p:nvSpPr>
        <p:spPr>
          <a:xfrm>
            <a:off x="8047564" y="45583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6-mark47"/>
          <p:cNvSpPr/>
          <p:nvPr/>
        </p:nvSpPr>
        <p:spPr>
          <a:xfrm>
            <a:off x="8121450" y="23910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10" name="S06-mark48"/>
          <p:cNvSpPr/>
          <p:nvPr/>
        </p:nvSpPr>
        <p:spPr>
          <a:xfrm>
            <a:off x="8367740" y="22432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1" name="S06-mark49"/>
          <p:cNvSpPr/>
          <p:nvPr/>
        </p:nvSpPr>
        <p:spPr>
          <a:xfrm>
            <a:off x="8367740" y="20955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2" name="S06-mark50"/>
          <p:cNvSpPr/>
          <p:nvPr/>
        </p:nvSpPr>
        <p:spPr>
          <a:xfrm>
            <a:off x="8801209" y="33515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3" name="S06-mark51"/>
          <p:cNvSpPr/>
          <p:nvPr/>
        </p:nvSpPr>
        <p:spPr>
          <a:xfrm>
            <a:off x="8181052" y="43613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6-mark52"/>
          <p:cNvSpPr/>
          <p:nvPr/>
        </p:nvSpPr>
        <p:spPr>
          <a:xfrm>
            <a:off x="8235236" y="41643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6-mark53"/>
          <p:cNvSpPr/>
          <p:nvPr/>
        </p:nvSpPr>
        <p:spPr>
          <a:xfrm>
            <a:off x="8284001" y="39672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6-mark54"/>
          <p:cNvSpPr/>
          <p:nvPr/>
        </p:nvSpPr>
        <p:spPr>
          <a:xfrm>
            <a:off x="8326856" y="37702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6-mark55"/>
          <p:cNvSpPr/>
          <p:nvPr/>
        </p:nvSpPr>
        <p:spPr>
          <a:xfrm>
            <a:off x="8420446" y="31791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6-mark56"/>
          <p:cNvSpPr/>
          <p:nvPr/>
        </p:nvSpPr>
        <p:spPr>
          <a:xfrm>
            <a:off x="8440641" y="29821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6-mark57"/>
          <p:cNvSpPr/>
          <p:nvPr/>
        </p:nvSpPr>
        <p:spPr>
          <a:xfrm>
            <a:off x="8454926" y="27851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0" name="S06-mark58"/>
          <p:cNvSpPr/>
          <p:nvPr/>
        </p:nvSpPr>
        <p:spPr>
          <a:xfrm>
            <a:off x="8463300" y="25880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1" name="S06-chip5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2" name="S06-text6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첨성대: 해·달·별을 살핀 곳이에요. 왜 하늘을 살폈을까요?</a:t>
            </a:r>
            <a:endParaRPr lang="ko-KR" sz="2200" dirty="0"/>
          </a:p>
        </p:txBody>
      </p:sp>
      <p:sp>
        <p:nvSpPr>
          <p:cNvPr id="23" name="S06-chip6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4" name="S06-text6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가야: 철 갑옷과 덩이쇠가 많이 나왔어요.</a:t>
            </a:r>
            <a:endParaRPr lang="ko-KR" sz="2800" dirty="0"/>
          </a:p>
        </p:txBody>
      </p:sp>
      <p:sp>
        <p:nvSpPr>
          <p:cNvPr id="25" name="S06-chip6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06-text6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백제: 일본에 학자와 기술자를 보내 글과 기술을 전했어요.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통일의 차례</a:t>
            </a:r>
            <a:endParaRPr lang="ko-KR" sz="4000" dirty="0"/>
          </a:p>
        </p:txBody>
      </p:sp>
      <p:sp>
        <p:nvSpPr>
          <p:cNvPr id="3" name="S07-text6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신라는 당나라와 손잡고 백제와 고구려를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무너뜨렸어요.</a:t>
            </a:r>
            <a:endParaRPr lang="ko-KR" sz="2800" dirty="0"/>
          </a:p>
        </p:txBody>
      </p:sp>
      <p:sp>
        <p:nvSpPr>
          <p:cNvPr id="4" name="S07-card6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발해가 남과 북에 함께 있던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시대라고 해요.</a:t>
            </a:r>
            <a:endParaRPr lang="ko-KR" sz="2800" dirty="0"/>
          </a:p>
        </p:txBody>
      </p:sp>
      <p:sp>
        <p:nvSpPr>
          <p:cNvPr id="6" name="S07-line6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7-event69"/>
          <p:cNvSpPr/>
          <p:nvPr/>
        </p:nvSpPr>
        <p:spPr>
          <a:xfrm>
            <a:off x="175839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7-label70"/>
          <p:cNvSpPr txBox="1"/>
          <p:nvPr/>
        </p:nvSpPr>
        <p:spPr>
          <a:xfrm>
            <a:off x="868680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</a:t>
            </a:r>
            <a:endParaRPr lang="ko-KR" sz="2200" dirty="0"/>
          </a:p>
        </p:txBody>
      </p:sp>
      <p:sp>
        <p:nvSpPr>
          <p:cNvPr id="9" name="S07-label71"/>
          <p:cNvSpPr txBox="1"/>
          <p:nvPr/>
        </p:nvSpPr>
        <p:spPr>
          <a:xfrm>
            <a:off x="868680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나라가 다툼</a:t>
            </a:r>
            <a:endParaRPr lang="ko-KR" sz="1800" dirty="0"/>
          </a:p>
        </p:txBody>
      </p:sp>
      <p:sp>
        <p:nvSpPr>
          <p:cNvPr id="10" name="S07-event72"/>
          <p:cNvSpPr/>
          <p:nvPr/>
        </p:nvSpPr>
        <p:spPr>
          <a:xfrm>
            <a:off x="386699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7-label73"/>
          <p:cNvSpPr txBox="1"/>
          <p:nvPr/>
        </p:nvSpPr>
        <p:spPr>
          <a:xfrm>
            <a:off x="2977286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2" name="S07-label74"/>
          <p:cNvSpPr txBox="1"/>
          <p:nvPr/>
        </p:nvSpPr>
        <p:spPr>
          <a:xfrm>
            <a:off x="297728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3" name="S07-event75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7-label76"/>
          <p:cNvSpPr txBox="1"/>
          <p:nvPr/>
        </p:nvSpPr>
        <p:spPr>
          <a:xfrm>
            <a:off x="5085893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5" name="S07-label77"/>
          <p:cNvSpPr txBox="1"/>
          <p:nvPr/>
        </p:nvSpPr>
        <p:spPr>
          <a:xfrm>
            <a:off x="5085893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6" name="S07-event78"/>
          <p:cNvSpPr/>
          <p:nvPr/>
        </p:nvSpPr>
        <p:spPr>
          <a:xfrm>
            <a:off x="808421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7-label79"/>
          <p:cNvSpPr txBox="1"/>
          <p:nvPr/>
        </p:nvSpPr>
        <p:spPr>
          <a:xfrm>
            <a:off x="7194499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</a:t>
            </a:r>
            <a:endParaRPr lang="ko-KR" sz="2200" dirty="0"/>
          </a:p>
        </p:txBody>
      </p:sp>
      <p:sp>
        <p:nvSpPr>
          <p:cNvPr id="18" name="S07-label80"/>
          <p:cNvSpPr txBox="1"/>
          <p:nvPr/>
        </p:nvSpPr>
        <p:spPr>
          <a:xfrm>
            <a:off x="7194499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신라가 당을 몰아냄</a:t>
            </a:r>
            <a:endParaRPr lang="ko-KR" sz="1800" dirty="0"/>
          </a:p>
        </p:txBody>
      </p:sp>
      <p:sp>
        <p:nvSpPr>
          <p:cNvPr id="19" name="S07-event81"/>
          <p:cNvSpPr/>
          <p:nvPr/>
        </p:nvSpPr>
        <p:spPr>
          <a:xfrm>
            <a:off x="1019281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7-label82"/>
          <p:cNvSpPr txBox="1"/>
          <p:nvPr/>
        </p:nvSpPr>
        <p:spPr>
          <a:xfrm>
            <a:off x="9303106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</a:t>
            </a:r>
            <a:endParaRPr lang="ko-KR" sz="2200" dirty="0"/>
          </a:p>
        </p:txBody>
      </p:sp>
      <p:sp>
        <p:nvSpPr>
          <p:cNvPr id="21" name="S07-label83"/>
          <p:cNvSpPr txBox="1"/>
          <p:nvPr/>
        </p:nvSpPr>
        <p:spPr>
          <a:xfrm>
            <a:off x="930310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</a:t>
            </a:r>
            <a:endParaRPr lang="ko-KR" sz="4000" dirty="0"/>
          </a:p>
        </p:txBody>
      </p:sp>
      <p:sp>
        <p:nvSpPr>
          <p:cNvPr id="3" name="S08-card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 남쪽엔 통일 신라, 북쪽엔 발해가 있었어요.</a:t>
            </a:r>
            <a:endParaRPr lang="ko-KR" sz="2800" dirty="0"/>
          </a:p>
        </p:txBody>
      </p:sp>
      <p:sp>
        <p:nvSpPr>
          <p:cNvPr id="5" name="S08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이때를 ‘남북국 시대’라고 부를까요?</a:t>
            </a:r>
            <a:endParaRPr lang="ko-KR" sz="2800" dirty="0"/>
          </a:p>
        </p:txBody>
      </p:sp>
      <p:sp>
        <p:nvSpPr>
          <p:cNvPr id="7" name="S08-chip8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남쪽: 통일 신라</a:t>
            </a:r>
            <a:endParaRPr lang="ko-KR" sz="2200" dirty="0"/>
          </a:p>
        </p:txBody>
      </p:sp>
      <p:sp>
        <p:nvSpPr>
          <p:cNvPr id="8" name="S08-text8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불국사와 석굴암을 지었어요.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불교문화가 꽃피었어요.</a:t>
            </a:r>
            <a:endParaRPr lang="ko-KR" sz="2800" dirty="0"/>
          </a:p>
        </p:txBody>
      </p:sp>
      <p:sp>
        <p:nvSpPr>
          <p:cNvPr id="9" name="S08-chip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북쪽: 발해</a:t>
            </a:r>
            <a:endParaRPr lang="ko-KR" sz="2200" dirty="0"/>
          </a:p>
        </p:txBody>
      </p:sp>
      <p:sp>
        <p:nvSpPr>
          <p:cNvPr id="10" name="S08-text9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대조영이 고구려 사람들을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이끌고 세웠어요.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‘바다 동쪽의 번성한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나라’로 불렸어요.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발해는 어느 나라를 이었을까?</a:t>
            </a:r>
            <a:endParaRPr lang="ko-KR" sz="4000" dirty="0"/>
          </a:p>
        </p:txBody>
      </p:sp>
      <p:sp>
        <p:nvSpPr>
          <p:cNvPr id="3" name="S09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자료를 보고 짐작해요.</a:t>
            </a:r>
            <a:endParaRPr lang="ko-KR" sz="2800" dirty="0"/>
          </a:p>
        </p:txBody>
      </p:sp>
      <p:sp>
        <p:nvSpPr>
          <p:cNvPr id="4" name="S09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자료로 무엇을 짐작할 수 있나요? 까닭도 말해요.</a:t>
            </a:r>
            <a:endParaRPr lang="ko-KR" sz="2800" dirty="0"/>
          </a:p>
        </p:txBody>
      </p:sp>
      <p:sp>
        <p:nvSpPr>
          <p:cNvPr id="6" name="S09-chip9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9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왕이 일본에 보낸 글에 스스로 ‘고려 국왕’이라고 썼어요.</a:t>
            </a:r>
            <a:endParaRPr lang="ko-KR" sz="2800" dirty="0"/>
          </a:p>
        </p:txBody>
      </p:sp>
      <p:sp>
        <p:nvSpPr>
          <p:cNvPr id="8" name="S09-chip9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9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발해의 집터에서 바닥을 데우는 온돌 자리가 나왔어요.</a:t>
            </a:r>
            <a:endParaRPr lang="ko-KR" sz="2800" dirty="0"/>
          </a:p>
        </p:txBody>
      </p:sp>
      <p:sp>
        <p:nvSpPr>
          <p:cNvPr id="10" name="S09-chip9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10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기와의 연꽃무늬가 고구려 기와와 닮았어요.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뒤의 땅</a:t>
            </a:r>
            <a:endParaRPr lang="ko-KR" sz="4000" dirty="0"/>
          </a:p>
        </p:txBody>
      </p:sp>
      <p:sp>
        <p:nvSpPr>
          <p:cNvPr id="3" name="S10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삼국 통일을 두고 두 친구가 말했어요.</a:t>
            </a:r>
            <a:endParaRPr lang="ko-KR" sz="2800" dirty="0"/>
          </a:p>
        </p:txBody>
      </p:sp>
      <p:sp>
        <p:nvSpPr>
          <p:cNvPr id="5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맞을까요? 무엇을 보고 알 수 있나요?</a:t>
            </a:r>
            <a:endParaRPr lang="ko-KR" sz="2800" dirty="0"/>
          </a:p>
        </p:txBody>
      </p:sp>
      <p:sp>
        <p:nvSpPr>
          <p:cNvPr id="7" name="S10-chip1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0-text10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“신라가 고구려의 땅을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차지했어요.”</a:t>
            </a:r>
            <a:endParaRPr lang="ko-KR" sz="2800" dirty="0"/>
          </a:p>
        </p:txBody>
      </p:sp>
      <p:sp>
        <p:nvSpPr>
          <p:cNvPr id="9" name="S10-chip10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0-text10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“고구려의 북쪽 땅은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차지하지 못했고, 그곳에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발해가 세워졌어요.”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1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벽화의 씨름하는 사람들로 짐작할 수 있는 것은?</a:t>
            </a:r>
            <a:endParaRPr lang="ko-KR" sz="2800" dirty="0"/>
          </a:p>
        </p:txBody>
      </p:sp>
      <p:sp>
        <p:nvSpPr>
          <p:cNvPr id="5" name="S11-chip11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1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 무너짐, 남북국 시대, 백제가 무너짐을 차례로 놓아요.</a:t>
            </a:r>
            <a:endParaRPr lang="ko-KR" sz="2800" dirty="0"/>
          </a:p>
        </p:txBody>
      </p:sp>
      <p:sp>
        <p:nvSpPr>
          <p:cNvPr id="7" name="S11-chip11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1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나라는?</a:t>
            </a:r>
            <a:endParaRPr lang="ko-KR" sz="2800" dirty="0"/>
          </a:p>
        </p:txBody>
      </p:sp>
      <p:sp>
        <p:nvSpPr>
          <p:cNvPr id="9" name="S11-chip11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1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석굴암으로 짐작할 수 있는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1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삼국 사람들의 생활과 솜씨를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통일 뒤 통일 신라와 발해가 함께 있었어요.</a:t>
            </a:r>
            <a:endParaRPr lang="ko-KR" sz="2800" dirty="0"/>
          </a:p>
        </p:txBody>
      </p:sp>
      <p:sp>
        <p:nvSpPr>
          <p:cNvPr id="5" name="S13-chip11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문화유산을 근거로 짐작하기</a:t>
            </a:r>
            <a:endParaRPr lang="ko-KR" sz="2200" dirty="0"/>
          </a:p>
        </p:txBody>
      </p:sp>
      <p:sp>
        <p:nvSpPr>
          <p:cNvPr id="6" name="S13-chip12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발해를 빠뜨리기</a:t>
            </a:r>
            <a:endParaRPr lang="ko-KR" sz="2200" dirty="0"/>
          </a:p>
        </p:txBody>
      </p:sp>
      <p:sp>
        <p:nvSpPr>
          <p:cNvPr id="7" name="S13-text12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2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고구려 고분 벽화로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것은?</a:t>
            </a:r>
            <a:endParaRPr lang="ko-KR" sz="2200" dirty="0"/>
          </a:p>
        </p:txBody>
      </p:sp>
      <p:sp>
        <p:nvSpPr>
          <p:cNvPr id="9" name="S13-text12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삼국을 통일한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0" name="S13-text12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대조영이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1" name="S13-text12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고려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자료로 짐작하기</a:t>
            </a:r>
            <a:endParaRPr lang="ko-KR" sz="4000" dirty="0"/>
          </a:p>
        </p:txBody>
      </p:sp>
      <p:sp>
        <p:nvSpPr>
          <p:cNvPr id="3" name="S14-text1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자료를 다시 봐요.</a:t>
            </a:r>
            <a:endParaRPr lang="ko-KR" sz="2800" dirty="0"/>
          </a:p>
        </p:txBody>
      </p:sp>
      <p:sp>
        <p:nvSpPr>
          <p:cNvPr id="4" name="S14-card1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 → 쓰임 → 생활 차례로 짐작해요.</a:t>
            </a:r>
            <a:endParaRPr lang="ko-KR" sz="2800" dirty="0"/>
          </a:p>
        </p:txBody>
      </p:sp>
      <p:graphicFrame>
        <p:nvGraphicFramePr>
          <p:cNvPr id="14" name="S14-table1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4169664"/>
                <a:gridCol w="41696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모습이나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고인돌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아주 큰 돌로 만든 무덤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힘센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빗살무늬 토기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담은 그릇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지었어요.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 이야기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삼국과 남북국</dc:title>
  <dc:subject>KR22-G05-SOC-KINGDOMS-L01</dc:subject>
  <dc:creator>education-ppt</dc:creator>
  <cp:lastModifiedBy>education-ppt</cp:lastModifiedBy>
  <cp:revision>1</cp:revision>
  <dcterms:created xsi:type="dcterms:W3CDTF">2026-10-26T10:02:34Z</dcterms:created>
  <dcterms:modified xsi:type="dcterms:W3CDTF">2026-10-26T10:02:34Z</dcterms:modified>
</cp:coreProperties>
</file>