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1f9972b-b352-4f7c-d359-f6f8be1907a7}">
          <p14:sldIdLst>
            <p14:sldId id="256"/>
            <p14:sldId id="257"/>
          </p14:sldIdLst>
        </p14:section>
        <p14:section name="개념" id="{fe184415-ced6-6c2c-842f-0910e8d90e1a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13f35221-1f20-258c-f836-db5aa1598dd6}">
          <p14:sldIdLst>
            <p14:sldId id="261"/>
            <p14:sldId id="264"/>
            <p14:sldId id="265"/>
          </p14:sldIdLst>
        </p14:section>
        <p14:section name="개념" id="{9d571771-8c0d-aef8-4787-ef8da1b5fc0c}">
          <p14:sldIdLst/>
        </p14:section>
        <p14:section name="연습" id="{e9ccb7b2-f476-1338-4739-41eca61d0d0d}">
          <p14:sldIdLst/>
        </p14:section>
        <p14:section name="확인" id="{c785483f-e06a-4958-6962-b8bb8e28b1cd}">
          <p14:sldIdLst>
            <p14:sldId id="266"/>
          </p14:sldIdLst>
        </p14:section>
        <p14:section name="정리" id="{266b3a8e-7a65-8bc2-6a46-f8a128a3fd28}">
          <p14:sldIdLst>
            <p14:sldId id="267"/>
          </p14:sldIdLst>
        </p14:section>
        <p14:section name="보충" id="{2b6f0739-a86f-c2fd-0400-630c4a623ad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역사와생활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삼국과 남북국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삼국과 남북국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삼국과 남북국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삼국과 남북국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나라 사람들은 어떻게 살았고,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하나로 합쳐졌을까?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첨성대: 네모난 받침 위에 돌을 둥글게 쌓아 올린 병 모양 건물. 가운데에 네모난 창이 있고 맨 위에 네모난 틀이 있다"/>
          <p:cNvSpPr/>
          <p:nvPr/>
        </p:nvSpPr>
        <p:spPr>
          <a:xfrm>
            <a:off x="8661763" y="3334566"/>
            <a:ext cx="1970314" cy="147774"/>
          </a:xfrm>
          <a:custGeom>
            <a:avLst/>
            <a:gdLst/>
            <a:ahLst/>
            <a:cxnLst/>
            <a:rect l="l" t="t" r="r" b="b"/>
            <a:pathLst>
              <a:path w="1970314" h="147774">
                <a:moveTo>
                  <a:pt x="0" y="147774"/>
                </a:moveTo>
                <a:lnTo>
                  <a:pt x="1970314" y="147774"/>
                </a:lnTo>
                <a:lnTo>
                  <a:pt x="1970314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735650" y="3186793"/>
            <a:ext cx="1822541" cy="147774"/>
          </a:xfrm>
          <a:custGeom>
            <a:avLst/>
            <a:gdLst/>
            <a:ahLst/>
            <a:cxnLst/>
            <a:rect l="l" t="t" r="r" b="b"/>
            <a:pathLst>
              <a:path w="1822541" h="147774">
                <a:moveTo>
                  <a:pt x="0" y="147774"/>
                </a:moveTo>
                <a:lnTo>
                  <a:pt x="1822541" y="147774"/>
                </a:lnTo>
                <a:lnTo>
                  <a:pt x="1822541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809536" y="1019447"/>
            <a:ext cx="1674767" cy="2167346"/>
          </a:xfrm>
          <a:custGeom>
            <a:avLst/>
            <a:gdLst/>
            <a:ahLst/>
            <a:cxnLst/>
            <a:rect l="l" t="t" r="r" b="b"/>
            <a:pathLst>
              <a:path w="1674767" h="2167346">
                <a:moveTo>
                  <a:pt x="1674767" y="2167346"/>
                </a:moveTo>
                <a:lnTo>
                  <a:pt x="1632898" y="2031887"/>
                </a:lnTo>
                <a:lnTo>
                  <a:pt x="1593984" y="1896428"/>
                </a:lnTo>
                <a:lnTo>
                  <a:pt x="1557533" y="1760968"/>
                </a:lnTo>
                <a:lnTo>
                  <a:pt x="1524038" y="1625509"/>
                </a:lnTo>
                <a:lnTo>
                  <a:pt x="1493006" y="1490050"/>
                </a:lnTo>
                <a:lnTo>
                  <a:pt x="1464436" y="1354591"/>
                </a:lnTo>
                <a:lnTo>
                  <a:pt x="1438822" y="1219132"/>
                </a:lnTo>
                <a:lnTo>
                  <a:pt x="1416163" y="1083673"/>
                </a:lnTo>
                <a:lnTo>
                  <a:pt x="1395968" y="948214"/>
                </a:lnTo>
                <a:lnTo>
                  <a:pt x="1378235" y="812755"/>
                </a:lnTo>
                <a:lnTo>
                  <a:pt x="1363457" y="677296"/>
                </a:lnTo>
                <a:lnTo>
                  <a:pt x="1351636" y="541836"/>
                </a:lnTo>
                <a:lnTo>
                  <a:pt x="1342277" y="406377"/>
                </a:lnTo>
                <a:lnTo>
                  <a:pt x="1335381" y="270918"/>
                </a:lnTo>
                <a:lnTo>
                  <a:pt x="1331440" y="135459"/>
                </a:lnTo>
                <a:lnTo>
                  <a:pt x="1329962" y="0"/>
                </a:lnTo>
                <a:lnTo>
                  <a:pt x="344805" y="0"/>
                </a:lnTo>
                <a:lnTo>
                  <a:pt x="343327" y="135459"/>
                </a:lnTo>
                <a:lnTo>
                  <a:pt x="339387" y="270918"/>
                </a:lnTo>
                <a:lnTo>
                  <a:pt x="332491" y="406377"/>
                </a:lnTo>
                <a:lnTo>
                  <a:pt x="323132" y="541836"/>
                </a:lnTo>
                <a:lnTo>
                  <a:pt x="311310" y="677296"/>
                </a:lnTo>
                <a:lnTo>
                  <a:pt x="296532" y="812755"/>
                </a:lnTo>
                <a:lnTo>
                  <a:pt x="278799" y="948214"/>
                </a:lnTo>
                <a:lnTo>
                  <a:pt x="258604" y="1083673"/>
                </a:lnTo>
                <a:lnTo>
                  <a:pt x="235945" y="1219132"/>
                </a:lnTo>
                <a:lnTo>
                  <a:pt x="210331" y="1354591"/>
                </a:lnTo>
                <a:lnTo>
                  <a:pt x="181761" y="1490050"/>
                </a:lnTo>
                <a:lnTo>
                  <a:pt x="150729" y="1625509"/>
                </a:lnTo>
                <a:lnTo>
                  <a:pt x="117234" y="1760968"/>
                </a:lnTo>
                <a:lnTo>
                  <a:pt x="80783" y="1896428"/>
                </a:lnTo>
                <a:lnTo>
                  <a:pt x="41869" y="2031887"/>
                </a:lnTo>
                <a:lnTo>
                  <a:pt x="0" y="2167346"/>
                </a:lnTo>
                <a:close/>
              </a:path>
            </a:pathLst>
          </a:custGeom>
          <a:solidFill>
            <a:srgbClr val="DCCFB3"/>
          </a:solidFill>
          <a:ln w="25400">
            <a:solidFill>
              <a:srgbClr val="6B6150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055826" y="871674"/>
            <a:ext cx="1182189" cy="147774"/>
          </a:xfrm>
          <a:custGeom>
            <a:avLst/>
            <a:gdLst/>
            <a:ahLst/>
            <a:cxnLst/>
            <a:rect l="l" t="t" r="r" b="b"/>
            <a:pathLst>
              <a:path w="1182189" h="147774">
                <a:moveTo>
                  <a:pt x="0" y="147774"/>
                </a:moveTo>
                <a:lnTo>
                  <a:pt x="1182189" y="147774"/>
                </a:lnTo>
                <a:lnTo>
                  <a:pt x="118218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055826" y="723900"/>
            <a:ext cx="1182189" cy="147774"/>
          </a:xfrm>
          <a:custGeom>
            <a:avLst/>
            <a:gdLst/>
            <a:ahLst/>
            <a:cxnLst/>
            <a:rect l="l" t="t" r="r" b="b"/>
            <a:pathLst>
              <a:path w="1182189" h="147774">
                <a:moveTo>
                  <a:pt x="0" y="147774"/>
                </a:moveTo>
                <a:lnTo>
                  <a:pt x="1182189" y="147774"/>
                </a:lnTo>
                <a:lnTo>
                  <a:pt x="118218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489295" y="1979975"/>
            <a:ext cx="315250" cy="295547"/>
          </a:xfrm>
          <a:custGeom>
            <a:avLst/>
            <a:gdLst/>
            <a:ahLst/>
            <a:cxnLst/>
            <a:rect l="l" t="t" r="r" b="b"/>
            <a:pathLst>
              <a:path w="315250" h="295547">
                <a:moveTo>
                  <a:pt x="0" y="295547"/>
                </a:moveTo>
                <a:lnTo>
                  <a:pt x="315250" y="295547"/>
                </a:lnTo>
                <a:lnTo>
                  <a:pt x="31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A4033"/>
          </a:solidFill>
          <a:ln w="12700">
            <a:solidFill>
              <a:srgbClr val="4A4033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8869138" y="2989761"/>
            <a:ext cx="1555563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8923322" y="2792730"/>
            <a:ext cx="1447196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972087" y="2595699"/>
            <a:ext cx="1349665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9014942" y="2398667"/>
            <a:ext cx="1263957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9108532" y="1807573"/>
            <a:ext cx="1076777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9128727" y="1610541"/>
            <a:ext cx="1036385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9143012" y="1413510"/>
            <a:ext cx="1007816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9151386" y="1216479"/>
            <a:ext cx="991068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9" name="S01-card16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0" name="S01-cardtext17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문화유산을 보고 삼국 사람들의 생활을 짐작해요.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삼국 통일과 남북국 시대를 차례대로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1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고조선을 세웠다고 전해지는 사람은?</a:t>
            </a:r>
            <a:endParaRPr lang="ko-KR" sz="2800" dirty="0"/>
          </a:p>
        </p:txBody>
      </p:sp>
      <p:sp>
        <p:nvSpPr>
          <p:cNvPr id="5" name="S02-chip2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2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고인돌로 짐작할 수 있는 것은?</a:t>
            </a:r>
            <a:endParaRPr lang="ko-KR" sz="2800" dirty="0"/>
          </a:p>
        </p:txBody>
      </p:sp>
      <p:sp>
        <p:nvSpPr>
          <p:cNvPr id="7" name="S02-chip2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2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유물로 생활을 짐작할 때 살펴보는 세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나라와 가야</a:t>
            </a:r>
            <a:endParaRPr lang="ko-KR" sz="4000" dirty="0"/>
          </a:p>
        </p:txBody>
      </p:sp>
      <p:sp>
        <p:nvSpPr>
          <p:cNvPr id="3" name="S03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 뒤에 여러 나라가 생겨났어요.</a:t>
            </a:r>
            <a:endParaRPr lang="ko-KR" sz="2800" dirty="0"/>
          </a:p>
        </p:txBody>
      </p:sp>
      <p:sp>
        <p:nvSpPr>
          <p:cNvPr id="4" name="S03-card25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6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고구려·백제·신라가 함께 자라던 때를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시대라고 해요.</a:t>
            </a:r>
            <a:endParaRPr lang="ko-KR" sz="2800" dirty="0"/>
          </a:p>
        </p:txBody>
      </p:sp>
      <p:graphicFrame>
        <p:nvGraphicFramePr>
          <p:cNvPr id="4" name="S03-table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98116"/>
          <a:ext cx="10058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15184"/>
                <a:gridCol w="543153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세운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자리 잡은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고구려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북쪽(압록강 부근)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가운데(한강 부근)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박혁거세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동남쪽(오늘날 경주)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김수로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남쪽(낙동강 부근)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고분 벽화로 짐작하기</a:t>
            </a:r>
            <a:endParaRPr lang="ko-KR" sz="4000" dirty="0"/>
          </a:p>
        </p:txBody>
      </p:sp>
      <p:sp>
        <p:nvSpPr>
          <p:cNvPr id="3" name="S04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 사람들은 씩씩하고 힘찬 기상을 지녔다고 봐요.</a:t>
            </a:r>
            <a:endParaRPr lang="ko-KR" sz="2800" dirty="0"/>
          </a:p>
        </p:txBody>
      </p:sp>
      <p:sp>
        <p:nvSpPr>
          <p:cNvPr id="5" name="S04-text3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 무덤의 벽에 그린 그림(고분 벽화)</a:t>
            </a:r>
            <a:endParaRPr lang="ko-KR" sz="2800" dirty="0"/>
          </a:p>
        </p:txBody>
      </p:sp>
      <p:sp>
        <p:nvSpPr>
          <p:cNvPr id="6" name="S04-stepno31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32"/>
          <p:cNvSpPr txBox="1"/>
          <p:nvPr/>
        </p:nvSpPr>
        <p:spPr>
          <a:xfrm>
            <a:off x="1325880" y="2875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모습: 말을 달리며 활로 짐승을 사냥해요.</a:t>
            </a:r>
            <a:endParaRPr lang="ko-KR" sz="2800" dirty="0"/>
          </a:p>
        </p:txBody>
      </p:sp>
      <p:sp>
        <p:nvSpPr>
          <p:cNvPr id="8" name="S04-stepno33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4-text34"/>
          <p:cNvSpPr txBox="1"/>
          <p:nvPr/>
        </p:nvSpPr>
        <p:spPr>
          <a:xfrm>
            <a:off x="1325880" y="35890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뜻: 무덤 주인의 생활을 그렸다고 봐요.</a:t>
            </a:r>
            <a:endParaRPr lang="ko-KR" sz="2800" dirty="0"/>
          </a:p>
        </p:txBody>
      </p:sp>
      <p:sp>
        <p:nvSpPr>
          <p:cNvPr id="10" name="S04-stepno35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4-text36"/>
          <p:cNvSpPr txBox="1"/>
          <p:nvPr/>
        </p:nvSpPr>
        <p:spPr>
          <a:xfrm>
            <a:off x="1325880" y="43022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생활: 말 타기와 활쏘기를 잘했다고 생각할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금동 대향로와 금관</a:t>
            </a:r>
            <a:endParaRPr lang="ko-KR" sz="4000" dirty="0"/>
          </a:p>
        </p:txBody>
      </p:sp>
      <p:sp>
        <p:nvSpPr>
          <p:cNvPr id="3" name="S05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문화유산의 모습으로 짐작해요.</a:t>
            </a:r>
            <a:endParaRPr lang="ko-KR" sz="2800" dirty="0"/>
          </a:p>
        </p:txBody>
      </p:sp>
      <p:sp>
        <p:nvSpPr>
          <p:cNvPr id="4" name="S05-card38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9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문화유산을 보면 그 나라 사람들의 솜씨와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생각을 짐작할 수 있어요.</a:t>
            </a:r>
            <a:endParaRPr lang="ko-KR" sz="2800" dirty="0"/>
          </a:p>
        </p:txBody>
      </p:sp>
      <p:graphicFrame>
        <p:nvGraphicFramePr>
          <p:cNvPr id="6" name="S05-table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07844"/>
          <a:ext cx="10972800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5486400"/>
                <a:gridCol w="395020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문화유산과 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짐작할 수 있는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금동 대향로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산·사람·동물을 섬세하게 새김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금속을 다루는 솜씨가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뛰어났어요.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나뭇가지·사슴뿔 모양 장식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왕의 힘이 컸어요.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문화유산으로 짐작하기</a:t>
            </a:r>
            <a:endParaRPr lang="ko-KR" sz="4000" dirty="0"/>
          </a:p>
        </p:txBody>
      </p:sp>
      <p:sp>
        <p:nvSpPr>
          <p:cNvPr id="3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‘자료로 보면 ~라고 생각할 수 있어요.’로 말해요.</a:t>
            </a:r>
            <a:endParaRPr lang="ko-KR" sz="2800" dirty="0"/>
          </a:p>
        </p:txBody>
      </p:sp>
      <p:sp>
        <p:nvSpPr>
          <p:cNvPr id="5" name="S06-card43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44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첨성대(신라)</a:t>
            </a:r>
            <a:endParaRPr lang="ko-KR" sz="2800" dirty="0"/>
          </a:p>
        </p:txBody>
      </p:sp>
      <p:sp>
        <p:nvSpPr>
          <p:cNvPr id="7" name="S06-figure45" descr="첨성대: 네모난 받침 위에 돌을 둥글게 쌓아 올린 병 모양 건물. 가운데에 네모난 창이 있고 맨 위에 네모난 틀이 있다"/>
          <p:cNvSpPr/>
          <p:nvPr/>
        </p:nvSpPr>
        <p:spPr>
          <a:xfrm>
            <a:off x="7973677" y="4706166"/>
            <a:ext cx="1970314" cy="147774"/>
          </a:xfrm>
          <a:custGeom>
            <a:avLst/>
            <a:gdLst/>
            <a:ahLst/>
            <a:cxnLst/>
            <a:rect l="l" t="t" r="r" b="b"/>
            <a:pathLst>
              <a:path w="1970314" h="147774">
                <a:moveTo>
                  <a:pt x="0" y="147774"/>
                </a:moveTo>
                <a:lnTo>
                  <a:pt x="1970314" y="147774"/>
                </a:lnTo>
                <a:lnTo>
                  <a:pt x="1970314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8" name="S06-mark46"/>
          <p:cNvSpPr/>
          <p:nvPr/>
        </p:nvSpPr>
        <p:spPr>
          <a:xfrm>
            <a:off x="8047564" y="4558393"/>
            <a:ext cx="1822541" cy="147774"/>
          </a:xfrm>
          <a:custGeom>
            <a:avLst/>
            <a:gdLst/>
            <a:ahLst/>
            <a:cxnLst/>
            <a:rect l="l" t="t" r="r" b="b"/>
            <a:pathLst>
              <a:path w="1822541" h="147774">
                <a:moveTo>
                  <a:pt x="0" y="147774"/>
                </a:moveTo>
                <a:lnTo>
                  <a:pt x="1822541" y="147774"/>
                </a:lnTo>
                <a:lnTo>
                  <a:pt x="1822541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9" name="S06-mark47"/>
          <p:cNvSpPr/>
          <p:nvPr/>
        </p:nvSpPr>
        <p:spPr>
          <a:xfrm>
            <a:off x="8121450" y="2391047"/>
            <a:ext cx="1674767" cy="2167346"/>
          </a:xfrm>
          <a:custGeom>
            <a:avLst/>
            <a:gdLst/>
            <a:ahLst/>
            <a:cxnLst/>
            <a:rect l="l" t="t" r="r" b="b"/>
            <a:pathLst>
              <a:path w="1674767" h="2167346">
                <a:moveTo>
                  <a:pt x="1674767" y="2167346"/>
                </a:moveTo>
                <a:lnTo>
                  <a:pt x="1632898" y="2031887"/>
                </a:lnTo>
                <a:lnTo>
                  <a:pt x="1593984" y="1896428"/>
                </a:lnTo>
                <a:lnTo>
                  <a:pt x="1557533" y="1760968"/>
                </a:lnTo>
                <a:lnTo>
                  <a:pt x="1524038" y="1625509"/>
                </a:lnTo>
                <a:lnTo>
                  <a:pt x="1493006" y="1490050"/>
                </a:lnTo>
                <a:lnTo>
                  <a:pt x="1464436" y="1354591"/>
                </a:lnTo>
                <a:lnTo>
                  <a:pt x="1438822" y="1219132"/>
                </a:lnTo>
                <a:lnTo>
                  <a:pt x="1416163" y="1083673"/>
                </a:lnTo>
                <a:lnTo>
                  <a:pt x="1395968" y="948214"/>
                </a:lnTo>
                <a:lnTo>
                  <a:pt x="1378235" y="812755"/>
                </a:lnTo>
                <a:lnTo>
                  <a:pt x="1363457" y="677296"/>
                </a:lnTo>
                <a:lnTo>
                  <a:pt x="1351636" y="541836"/>
                </a:lnTo>
                <a:lnTo>
                  <a:pt x="1342277" y="406377"/>
                </a:lnTo>
                <a:lnTo>
                  <a:pt x="1335381" y="270918"/>
                </a:lnTo>
                <a:lnTo>
                  <a:pt x="1331440" y="135459"/>
                </a:lnTo>
                <a:lnTo>
                  <a:pt x="1329962" y="0"/>
                </a:lnTo>
                <a:lnTo>
                  <a:pt x="344805" y="0"/>
                </a:lnTo>
                <a:lnTo>
                  <a:pt x="343327" y="135459"/>
                </a:lnTo>
                <a:lnTo>
                  <a:pt x="339387" y="270918"/>
                </a:lnTo>
                <a:lnTo>
                  <a:pt x="332491" y="406377"/>
                </a:lnTo>
                <a:lnTo>
                  <a:pt x="323132" y="541836"/>
                </a:lnTo>
                <a:lnTo>
                  <a:pt x="311310" y="677296"/>
                </a:lnTo>
                <a:lnTo>
                  <a:pt x="296532" y="812755"/>
                </a:lnTo>
                <a:lnTo>
                  <a:pt x="278799" y="948214"/>
                </a:lnTo>
                <a:lnTo>
                  <a:pt x="258604" y="1083673"/>
                </a:lnTo>
                <a:lnTo>
                  <a:pt x="235945" y="1219132"/>
                </a:lnTo>
                <a:lnTo>
                  <a:pt x="210331" y="1354591"/>
                </a:lnTo>
                <a:lnTo>
                  <a:pt x="181761" y="1490050"/>
                </a:lnTo>
                <a:lnTo>
                  <a:pt x="150729" y="1625509"/>
                </a:lnTo>
                <a:lnTo>
                  <a:pt x="117234" y="1760968"/>
                </a:lnTo>
                <a:lnTo>
                  <a:pt x="80783" y="1896428"/>
                </a:lnTo>
                <a:lnTo>
                  <a:pt x="41869" y="2031887"/>
                </a:lnTo>
                <a:lnTo>
                  <a:pt x="0" y="2167346"/>
                </a:lnTo>
                <a:close/>
              </a:path>
            </a:pathLst>
          </a:custGeom>
          <a:solidFill>
            <a:srgbClr val="DCCFB3"/>
          </a:solidFill>
          <a:ln w="25400">
            <a:solidFill>
              <a:srgbClr val="6B6150"/>
            </a:solidFill>
            <a:prstDash val="solid"/>
          </a:ln>
        </p:spPr>
      </p:sp>
      <p:sp>
        <p:nvSpPr>
          <p:cNvPr id="10" name="S06-mark48"/>
          <p:cNvSpPr/>
          <p:nvPr/>
        </p:nvSpPr>
        <p:spPr>
          <a:xfrm>
            <a:off x="8367740" y="2243274"/>
            <a:ext cx="1182189" cy="147774"/>
          </a:xfrm>
          <a:custGeom>
            <a:avLst/>
            <a:gdLst/>
            <a:ahLst/>
            <a:cxnLst/>
            <a:rect l="l" t="t" r="r" b="b"/>
            <a:pathLst>
              <a:path w="1182189" h="147774">
                <a:moveTo>
                  <a:pt x="0" y="147774"/>
                </a:moveTo>
                <a:lnTo>
                  <a:pt x="1182189" y="147774"/>
                </a:lnTo>
                <a:lnTo>
                  <a:pt x="118218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11" name="S06-mark49"/>
          <p:cNvSpPr/>
          <p:nvPr/>
        </p:nvSpPr>
        <p:spPr>
          <a:xfrm>
            <a:off x="8367740" y="2095500"/>
            <a:ext cx="1182189" cy="147774"/>
          </a:xfrm>
          <a:custGeom>
            <a:avLst/>
            <a:gdLst/>
            <a:ahLst/>
            <a:cxnLst/>
            <a:rect l="l" t="t" r="r" b="b"/>
            <a:pathLst>
              <a:path w="1182189" h="147774">
                <a:moveTo>
                  <a:pt x="0" y="147774"/>
                </a:moveTo>
                <a:lnTo>
                  <a:pt x="1182189" y="147774"/>
                </a:lnTo>
                <a:lnTo>
                  <a:pt x="118218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BFA8"/>
          </a:solidFill>
          <a:ln w="19050">
            <a:solidFill>
              <a:srgbClr val="6B6150"/>
            </a:solidFill>
            <a:prstDash val="solid"/>
          </a:ln>
        </p:spPr>
      </p:sp>
      <p:sp>
        <p:nvSpPr>
          <p:cNvPr id="12" name="S06-mark50"/>
          <p:cNvSpPr/>
          <p:nvPr/>
        </p:nvSpPr>
        <p:spPr>
          <a:xfrm>
            <a:off x="8801209" y="3351575"/>
            <a:ext cx="315250" cy="295547"/>
          </a:xfrm>
          <a:custGeom>
            <a:avLst/>
            <a:gdLst/>
            <a:ahLst/>
            <a:cxnLst/>
            <a:rect l="l" t="t" r="r" b="b"/>
            <a:pathLst>
              <a:path w="315250" h="295547">
                <a:moveTo>
                  <a:pt x="0" y="295547"/>
                </a:moveTo>
                <a:lnTo>
                  <a:pt x="315250" y="295547"/>
                </a:lnTo>
                <a:lnTo>
                  <a:pt x="31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A4033"/>
          </a:solidFill>
          <a:ln w="12700">
            <a:solidFill>
              <a:srgbClr val="4A4033"/>
            </a:solidFill>
            <a:prstDash val="solid"/>
          </a:ln>
        </p:spPr>
      </p:sp>
      <p:sp>
        <p:nvSpPr>
          <p:cNvPr id="13" name="S06-mark51"/>
          <p:cNvSpPr/>
          <p:nvPr/>
        </p:nvSpPr>
        <p:spPr>
          <a:xfrm>
            <a:off x="8181052" y="4361361"/>
            <a:ext cx="1555563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4" name="S06-mark52"/>
          <p:cNvSpPr/>
          <p:nvPr/>
        </p:nvSpPr>
        <p:spPr>
          <a:xfrm>
            <a:off x="8235236" y="4164330"/>
            <a:ext cx="1447196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5" name="S06-mark53"/>
          <p:cNvSpPr/>
          <p:nvPr/>
        </p:nvSpPr>
        <p:spPr>
          <a:xfrm>
            <a:off x="8284001" y="3967299"/>
            <a:ext cx="1349665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6" name="S06-mark54"/>
          <p:cNvSpPr/>
          <p:nvPr/>
        </p:nvSpPr>
        <p:spPr>
          <a:xfrm>
            <a:off x="8326856" y="3770267"/>
            <a:ext cx="1263957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7" name="S06-mark55"/>
          <p:cNvSpPr/>
          <p:nvPr/>
        </p:nvSpPr>
        <p:spPr>
          <a:xfrm>
            <a:off x="8420446" y="3179173"/>
            <a:ext cx="1076777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8" name="S06-mark56"/>
          <p:cNvSpPr/>
          <p:nvPr/>
        </p:nvSpPr>
        <p:spPr>
          <a:xfrm>
            <a:off x="8440641" y="2982141"/>
            <a:ext cx="1036385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19" name="S06-mark57"/>
          <p:cNvSpPr/>
          <p:nvPr/>
        </p:nvSpPr>
        <p:spPr>
          <a:xfrm>
            <a:off x="8454926" y="2785110"/>
            <a:ext cx="1007816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20" name="S06-mark58"/>
          <p:cNvSpPr/>
          <p:nvPr/>
        </p:nvSpPr>
        <p:spPr>
          <a:xfrm>
            <a:off x="8463300" y="2588079"/>
            <a:ext cx="991068" cy="0"/>
          </a:xfrm>
          <a:prstGeom prst="line">
            <a:avLst/>
          </a:prstGeom>
          <a:noFill/>
          <a:ln w="12700">
            <a:solidFill>
              <a:srgbClr val="9C8F75"/>
            </a:solidFill>
            <a:prstDash val="solid"/>
          </a:ln>
        </p:spPr>
      </p:sp>
      <p:sp>
        <p:nvSpPr>
          <p:cNvPr id="21" name="S06-chip5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2" name="S06-text60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첨성대: 해·달·별을 살핀 곳이에요. 왜 하늘을 살폈을까요?</a:t>
            </a:r>
            <a:endParaRPr lang="ko-KR" sz="2200" dirty="0"/>
          </a:p>
        </p:txBody>
      </p:sp>
      <p:sp>
        <p:nvSpPr>
          <p:cNvPr id="23" name="S06-chip6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4" name="S06-text62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가야: 철 갑옷과 덩이쇠가 많이 나왔어요.</a:t>
            </a:r>
            <a:endParaRPr lang="ko-KR" sz="2800" dirty="0"/>
          </a:p>
        </p:txBody>
      </p:sp>
      <p:sp>
        <p:nvSpPr>
          <p:cNvPr id="25" name="S06-chip6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6" name="S06-text64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백제: 일본에 학자와 기술자를 보내 글과 기술을 전했어요.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통일의 차례</a:t>
            </a:r>
            <a:endParaRPr lang="ko-KR" sz="4000" dirty="0"/>
          </a:p>
        </p:txBody>
      </p:sp>
      <p:sp>
        <p:nvSpPr>
          <p:cNvPr id="3" name="S07-text65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신라는 당나라와 손잡고 백제와 고구려를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무너뜨렸어요.</a:t>
            </a:r>
            <a:endParaRPr lang="ko-KR" sz="2800" dirty="0"/>
          </a:p>
        </p:txBody>
      </p:sp>
      <p:sp>
        <p:nvSpPr>
          <p:cNvPr id="4" name="S07-card6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6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 신라와 발해가 남과 북에 함께 있던 때를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남북국 시대라고 해요.</a:t>
            </a:r>
            <a:endParaRPr lang="ko-KR" sz="2800" dirty="0"/>
          </a:p>
        </p:txBody>
      </p:sp>
      <p:sp>
        <p:nvSpPr>
          <p:cNvPr id="6" name="S07-line68"/>
          <p:cNvSpPr/>
          <p:nvPr/>
        </p:nvSpPr>
        <p:spPr>
          <a:xfrm>
            <a:off x="822960" y="3584448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7-event69"/>
          <p:cNvSpPr/>
          <p:nvPr/>
        </p:nvSpPr>
        <p:spPr>
          <a:xfrm>
            <a:off x="1758391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7-label70"/>
          <p:cNvSpPr txBox="1"/>
          <p:nvPr/>
        </p:nvSpPr>
        <p:spPr>
          <a:xfrm>
            <a:off x="868680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시대</a:t>
            </a:r>
            <a:endParaRPr lang="ko-KR" sz="2200" dirty="0"/>
          </a:p>
        </p:txBody>
      </p:sp>
      <p:sp>
        <p:nvSpPr>
          <p:cNvPr id="9" name="S07-label71"/>
          <p:cNvSpPr txBox="1"/>
          <p:nvPr/>
        </p:nvSpPr>
        <p:spPr>
          <a:xfrm>
            <a:off x="868680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나라가 다툼</a:t>
            </a:r>
            <a:endParaRPr lang="ko-KR" sz="1800" dirty="0"/>
          </a:p>
        </p:txBody>
      </p:sp>
      <p:sp>
        <p:nvSpPr>
          <p:cNvPr id="10" name="S07-event72"/>
          <p:cNvSpPr/>
          <p:nvPr/>
        </p:nvSpPr>
        <p:spPr>
          <a:xfrm>
            <a:off x="3866998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7-label73"/>
          <p:cNvSpPr txBox="1"/>
          <p:nvPr/>
        </p:nvSpPr>
        <p:spPr>
          <a:xfrm>
            <a:off x="2977286" y="2552573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백제가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무너짐</a:t>
            </a:r>
            <a:endParaRPr lang="ko-KR" sz="2200" dirty="0"/>
          </a:p>
        </p:txBody>
      </p:sp>
      <p:sp>
        <p:nvSpPr>
          <p:cNvPr id="12" name="S07-label74"/>
          <p:cNvSpPr txBox="1"/>
          <p:nvPr/>
        </p:nvSpPr>
        <p:spPr>
          <a:xfrm>
            <a:off x="2977286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신라·당이 공격</a:t>
            </a:r>
            <a:endParaRPr lang="ko-KR" sz="1800" dirty="0"/>
          </a:p>
        </p:txBody>
      </p:sp>
      <p:sp>
        <p:nvSpPr>
          <p:cNvPr id="13" name="S07-event75"/>
          <p:cNvSpPr/>
          <p:nvPr/>
        </p:nvSpPr>
        <p:spPr>
          <a:xfrm>
            <a:off x="5975604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7-label76"/>
          <p:cNvSpPr txBox="1"/>
          <p:nvPr/>
        </p:nvSpPr>
        <p:spPr>
          <a:xfrm>
            <a:off x="5085893" y="2552573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무너짐</a:t>
            </a:r>
            <a:endParaRPr lang="ko-KR" sz="2200" dirty="0"/>
          </a:p>
        </p:txBody>
      </p:sp>
      <p:sp>
        <p:nvSpPr>
          <p:cNvPr id="15" name="S07-label77"/>
          <p:cNvSpPr txBox="1"/>
          <p:nvPr/>
        </p:nvSpPr>
        <p:spPr>
          <a:xfrm>
            <a:off x="5085893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신라·당이 공격</a:t>
            </a:r>
            <a:endParaRPr lang="ko-KR" sz="1800" dirty="0"/>
          </a:p>
        </p:txBody>
      </p:sp>
      <p:sp>
        <p:nvSpPr>
          <p:cNvPr id="16" name="S07-event78"/>
          <p:cNvSpPr/>
          <p:nvPr/>
        </p:nvSpPr>
        <p:spPr>
          <a:xfrm>
            <a:off x="8084210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7-label79"/>
          <p:cNvSpPr txBox="1"/>
          <p:nvPr/>
        </p:nvSpPr>
        <p:spPr>
          <a:xfrm>
            <a:off x="7194499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통일</a:t>
            </a:r>
            <a:endParaRPr lang="ko-KR" sz="2200" dirty="0"/>
          </a:p>
        </p:txBody>
      </p:sp>
      <p:sp>
        <p:nvSpPr>
          <p:cNvPr id="18" name="S07-label80"/>
          <p:cNvSpPr txBox="1"/>
          <p:nvPr/>
        </p:nvSpPr>
        <p:spPr>
          <a:xfrm>
            <a:off x="7194499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신라가 당을 몰아냄</a:t>
            </a:r>
            <a:endParaRPr lang="ko-KR" sz="1800" dirty="0"/>
          </a:p>
        </p:txBody>
      </p:sp>
      <p:sp>
        <p:nvSpPr>
          <p:cNvPr id="19" name="S07-event81"/>
          <p:cNvSpPr/>
          <p:nvPr/>
        </p:nvSpPr>
        <p:spPr>
          <a:xfrm>
            <a:off x="10192817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7-label82"/>
          <p:cNvSpPr txBox="1"/>
          <p:nvPr/>
        </p:nvSpPr>
        <p:spPr>
          <a:xfrm>
            <a:off x="9303106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남북국 시대</a:t>
            </a:r>
            <a:endParaRPr lang="ko-KR" sz="2200" dirty="0"/>
          </a:p>
        </p:txBody>
      </p:sp>
      <p:sp>
        <p:nvSpPr>
          <p:cNvPr id="21" name="S07-label83"/>
          <p:cNvSpPr txBox="1"/>
          <p:nvPr/>
        </p:nvSpPr>
        <p:spPr>
          <a:xfrm>
            <a:off x="9303106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 신라와 발해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남북국 시대의 두 나라</a:t>
            </a:r>
            <a:endParaRPr lang="ko-KR" sz="4000" dirty="0"/>
          </a:p>
        </p:txBody>
      </p:sp>
      <p:sp>
        <p:nvSpPr>
          <p:cNvPr id="3" name="S08-card8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8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통일 뒤 남쪽엔 통일 신라, 북쪽엔 발해가 있었어요.</a:t>
            </a:r>
            <a:endParaRPr lang="ko-KR" sz="2800" dirty="0"/>
          </a:p>
        </p:txBody>
      </p:sp>
      <p:sp>
        <p:nvSpPr>
          <p:cNvPr id="5" name="S08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이때를 ‘남북국 시대’라고 부를까요?</a:t>
            </a:r>
            <a:endParaRPr lang="ko-KR" sz="2800" dirty="0"/>
          </a:p>
        </p:txBody>
      </p:sp>
      <p:sp>
        <p:nvSpPr>
          <p:cNvPr id="7" name="S08-chip8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남쪽: 통일 신라</a:t>
            </a:r>
            <a:endParaRPr lang="ko-KR" sz="2200" dirty="0"/>
          </a:p>
        </p:txBody>
      </p:sp>
      <p:sp>
        <p:nvSpPr>
          <p:cNvPr id="8" name="S08-text8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불국사와 석굴암을 지었어요.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불교문화가 꽃피었어요.</a:t>
            </a:r>
            <a:endParaRPr lang="ko-KR" sz="2800" dirty="0"/>
          </a:p>
        </p:txBody>
      </p:sp>
      <p:sp>
        <p:nvSpPr>
          <p:cNvPr id="9" name="S08-chip9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북쪽: 발해</a:t>
            </a:r>
            <a:endParaRPr lang="ko-KR" sz="2200" dirty="0"/>
          </a:p>
        </p:txBody>
      </p:sp>
      <p:sp>
        <p:nvSpPr>
          <p:cNvPr id="10" name="S08-text9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대조영이 고구려 사람들을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이끌고 세웠어요.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‘바다 동쪽의 번성한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나라’로 불렸어요.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발해는 어느 나라를 이었을까?</a:t>
            </a:r>
            <a:endParaRPr lang="ko-KR" sz="4000" dirty="0"/>
          </a:p>
        </p:txBody>
      </p:sp>
      <p:sp>
        <p:nvSpPr>
          <p:cNvPr id="3" name="S09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자료를 보고 짐작해요.</a:t>
            </a:r>
            <a:endParaRPr lang="ko-KR" sz="2800" dirty="0"/>
          </a:p>
        </p:txBody>
      </p:sp>
      <p:sp>
        <p:nvSpPr>
          <p:cNvPr id="4" name="S09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자료로 무엇을 짐작할 수 있나요? 까닭도 말해요.</a:t>
            </a:r>
            <a:endParaRPr lang="ko-KR" sz="2800" dirty="0"/>
          </a:p>
        </p:txBody>
      </p:sp>
      <p:sp>
        <p:nvSpPr>
          <p:cNvPr id="6" name="S09-chip9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9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발해 왕이 일본에 보낸 글에 스스로 ‘고려 국왕’이라고 썼어요.</a:t>
            </a:r>
            <a:endParaRPr lang="ko-KR" sz="2800" dirty="0"/>
          </a:p>
        </p:txBody>
      </p:sp>
      <p:sp>
        <p:nvSpPr>
          <p:cNvPr id="8" name="S09-chip9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9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발해의 집터에서 바닥을 데우는 온돌 자리가 나왔어요.</a:t>
            </a:r>
            <a:endParaRPr lang="ko-KR" sz="2800" dirty="0"/>
          </a:p>
        </p:txBody>
      </p:sp>
      <p:sp>
        <p:nvSpPr>
          <p:cNvPr id="10" name="S09-chip9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10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발해 기와의 연꽃무늬가 고구려 기와와 닮았어요.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통일 뒤의 땅</a:t>
            </a:r>
            <a:endParaRPr lang="ko-KR" sz="4000" dirty="0"/>
          </a:p>
        </p:txBody>
      </p:sp>
      <p:sp>
        <p:nvSpPr>
          <p:cNvPr id="3" name="S10-card10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0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신라의 삼국 통일을 두고 두 친구가 말했어요.</a:t>
            </a:r>
            <a:endParaRPr lang="ko-KR" sz="2800" dirty="0"/>
          </a:p>
        </p:txBody>
      </p:sp>
      <p:sp>
        <p:nvSpPr>
          <p:cNvPr id="5" name="S10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맞을까요? 무엇을 보고 알 수 있나요?</a:t>
            </a:r>
            <a:endParaRPr lang="ko-KR" sz="2800" dirty="0"/>
          </a:p>
        </p:txBody>
      </p:sp>
      <p:sp>
        <p:nvSpPr>
          <p:cNvPr id="7" name="S10-chip10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0-text10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“신라가 고구려의 땅을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차지했어요.”</a:t>
            </a:r>
            <a:endParaRPr lang="ko-KR" sz="2800" dirty="0"/>
          </a:p>
        </p:txBody>
      </p:sp>
      <p:sp>
        <p:nvSpPr>
          <p:cNvPr id="9" name="S10-chip10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10-text10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“고구려의 북쪽 땅은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차지하지 못했고, 그곳에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발해가 세워졌어요.”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0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11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 벽화의 씨름하는 사람들로 짐작할 수 있는 것은?</a:t>
            </a:r>
            <a:endParaRPr lang="ko-KR" sz="2800" dirty="0"/>
          </a:p>
        </p:txBody>
      </p:sp>
      <p:sp>
        <p:nvSpPr>
          <p:cNvPr id="5" name="S11-chip11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11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고구려가 무너짐, 남북국 시대, 백제가 무너짐을 차례로 놓아요.</a:t>
            </a:r>
            <a:endParaRPr lang="ko-KR" sz="2800" dirty="0"/>
          </a:p>
        </p:txBody>
      </p:sp>
      <p:sp>
        <p:nvSpPr>
          <p:cNvPr id="7" name="S11-chip11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11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남북국 시대의 두 나라는?</a:t>
            </a:r>
            <a:endParaRPr lang="ko-KR" sz="2800" dirty="0"/>
          </a:p>
        </p:txBody>
      </p:sp>
      <p:sp>
        <p:nvSpPr>
          <p:cNvPr id="9" name="S11-chip11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11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석굴암으로 짐작할 수 있는 것은?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1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1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문화유산으로 삼국 사람들의 생활과 솜씨를 짐작해요.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신라의 통일 뒤 통일 신라와 발해가 함께 있었어요.</a:t>
            </a:r>
            <a:endParaRPr lang="ko-KR" sz="2800" dirty="0"/>
          </a:p>
        </p:txBody>
      </p:sp>
      <p:sp>
        <p:nvSpPr>
          <p:cNvPr id="5" name="S13-chip11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문화유산을 근거로 짐작하기</a:t>
            </a:r>
            <a:endParaRPr lang="ko-KR" sz="2200" dirty="0"/>
          </a:p>
        </p:txBody>
      </p:sp>
      <p:sp>
        <p:nvSpPr>
          <p:cNvPr id="6" name="S13-chip12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발해를 빠뜨리기</a:t>
            </a:r>
            <a:endParaRPr lang="ko-KR" sz="2200" dirty="0"/>
          </a:p>
        </p:txBody>
      </p:sp>
      <p:sp>
        <p:nvSpPr>
          <p:cNvPr id="7" name="S13-text12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2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고구려 고분 벽화로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짐작한 것은?</a:t>
            </a:r>
            <a:endParaRPr lang="ko-KR" sz="2200" dirty="0"/>
          </a:p>
        </p:txBody>
      </p:sp>
      <p:sp>
        <p:nvSpPr>
          <p:cNvPr id="9" name="S13-text12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삼국을 통일한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나라는?</a:t>
            </a:r>
            <a:endParaRPr lang="ko-KR" sz="2200" dirty="0"/>
          </a:p>
        </p:txBody>
      </p:sp>
      <p:sp>
        <p:nvSpPr>
          <p:cNvPr id="10" name="S13-text12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대조영이 세운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나라는?</a:t>
            </a:r>
            <a:endParaRPr lang="ko-KR" sz="2200" dirty="0"/>
          </a:p>
        </p:txBody>
      </p:sp>
      <p:sp>
        <p:nvSpPr>
          <p:cNvPr id="11" name="S13-text12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고려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자료로 짐작하기</a:t>
            </a:r>
            <a:endParaRPr lang="ko-KR" sz="4000" dirty="0"/>
          </a:p>
        </p:txBody>
      </p:sp>
      <p:sp>
        <p:nvSpPr>
          <p:cNvPr id="3" name="S14-text1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시간의 자료를 다시 봐요.</a:t>
            </a:r>
            <a:endParaRPr lang="ko-KR" sz="2800" dirty="0"/>
          </a:p>
        </p:txBody>
      </p:sp>
      <p:sp>
        <p:nvSpPr>
          <p:cNvPr id="4" name="S14-card1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 → 쓰임 → 생활 차례로 짐작해요.</a:t>
            </a:r>
            <a:endParaRPr lang="ko-KR" sz="2800" dirty="0"/>
          </a:p>
        </p:txBody>
      </p:sp>
      <p:graphicFrame>
        <p:nvGraphicFramePr>
          <p:cNvPr id="14" name="S14-table1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602992"/>
          <a:ext cx="109728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4169664"/>
                <a:gridCol w="416966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모습이나 내용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짐작할 수 있는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고인돌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아주 큰 돌로 만든 무덤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힘센 지배자가 있었어요.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빗살무늬 토기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곡식을 담은 그릇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농사를 지었어요.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단군 이야기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바람·비·구름을 다스림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농사를 중요하게 여겼어요.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삼국과 남북국</dc:title>
  <dc:subject>KR22-G05-SOC-KINGDOMS-L01</dc:subject>
  <dc:creator>education-ppt</dc:creator>
  <cp:lastModifiedBy>education-ppt</cp:lastModifiedBy>
  <cp:revision>1</cp:revision>
  <dcterms:created xsi:type="dcterms:W3CDTF">2026-10-26T13:42:51Z</dcterms:created>
  <dcterms:modified xsi:type="dcterms:W3CDTF">2026-10-26T13:42:51Z</dcterms:modified>
</cp:coreProperties>
</file>