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04b1a4-89e2-e489-65c4-bb8afd524fde}">
          <p14:sldIdLst>
            <p14:sldId id="256"/>
            <p14:sldId id="257"/>
          </p14:sldIdLst>
        </p14:section>
        <p14:section name="개념" id="{f02c3561-6687-bf33-6661-f03fb29c221c}">
          <p14:sldIdLst>
            <p14:sldId id="258"/>
            <p14:sldId id="259"/>
            <p14:sldId id="262"/>
            <p14:sldId id="263"/>
            <p14:sldId id="264"/>
          </p14:sldIdLst>
        </p14:section>
        <p14:section name="연습" id="{fc84455a-642a-bf46-30fb-a29948f11e7e}">
          <p14:sldIdLst>
            <p14:sldId id="260"/>
            <p14:sldId id="261"/>
            <p14:sldId id="265"/>
            <p14:sldId id="266"/>
          </p14:sldIdLst>
        </p14:section>
        <p14:section name="개념" id="{139973ac-dedc-7a26-1fcc-8e90f592ce84}">
          <p14:sldIdLst/>
        </p14:section>
        <p14:section name="연습" id="{955ce4b1-721f-9cbd-0eae-394b0c0e7977}">
          <p14:sldIdLst/>
        </p14:section>
        <p14:section name="확인" id="{4e13f5e0-2623-fa71-eec9-dc549db7e123}">
          <p14:sldIdLst>
            <p14:sldId id="267"/>
            <p14:sldId id="268"/>
          </p14:sldIdLst>
        </p14:section>
        <p14:section name="정리" id="{36e95eee-0f65-f602-c83d-1044392b63a7}">
          <p14:sldIdLst>
            <p14:sldId id="269"/>
          </p14:sldIdLst>
        </p14:section>
        <p14:section name="보충" id="{714e836f-fb06-f547-64ee-79a283440cc6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광복절과 6월 25일처럼 달력 속 날짜와 이어 흥미를 엽니다.
시간: 약 2분
이렇게 말해 보세요
- “8월 15일은 무슨 날이지? 그날은 두 가지 일을 함께 기념하는 날이야. 오늘 그 까닭을 알게 될 거야.”
- “광복 뒤 우리나라가 어떻게 세워졌는지, 그리고 그 뒤에 일어난 6·25 전쟁이 사람들의 삶을 어떻게 바꾸었는지 알아보자.”
예상 답
- “광복절이요.” “나라를 되찾은 날이요.”
막히면
- 달력에서 8월 15일(광복절)을 찾아봅니다.
주의
- 전쟁은 아픈 역사입니다. 장면을 자세히 묘사하지 않고, 사람들의 삶과 평화의 소중함에 초점을 둡니다.
- 가족 가운데 전쟁이나 피란을 겪은 어른이 계시면 이야기를 들을 수 있지만, 아픈 기억을 억지로 여쭙지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확인(개항과 일제강점기)]
목적: 지난 차시 ‘개항과 일제강점기’(KR22-G05-SOC-COLONIAL-L01)의 흐름과 독립운동을 기억하는지 확인합니다. 오늘 광복의 까닭과 이어집니다.
시간: 약 3분
이렇게 말해 보세요
- “지난 시간에 배운 것을 세 가지 물어볼게.”
정답
- ① 3·1 운동, 대한민국 임시 정부 수립
- ② 싸워서(독립군), 가르쳐서(학교), 우리말을 지켜서(조선어 학회), 만세 운동 가운데 두 가지
- ③ 1910년
막히면
- ①을 어려워하면 “3월 1일에 사람들이 무엇을 외쳤지? 그 뒤 상하이에 무엇이 세워졌지?”라고 묻습니다.
- 세 문제 가운데 두 개 이상 어려워하면 S15(보충)를 먼저 합니다. 보충으로도 어려우면 앞 차시 ‘개항과 일제강점기’(KR22-G05-SOC-COLONIAL-L01)를 다시 합니다.
주의
- ②의 독립운동은 S03·S06에서 광복의 까닭으로 다시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광복의 뜻과 까닭]
목적: 광복의 뜻을 알고, 광복을 맞은 까닭을 두 가지로 말하게 합니다(목표 A, 오해 M1).
시간: 약 3분
이렇게 말해 보세요
- “‘광복’은 빛을 되찾았다는 뜻이야. 1945년 8월 15일, 사람들은 거리로 나와 태극기를 흔들며 기뻐했어.”
- “광복을 맞은 까닭은 두 가지야. 일본이 세계 여러 나라와 벌인 큰 전쟁에서 졌고, 우리 민족은 35년 동안 포기하지 않고 독립운동을 했어.”
- “지난 시간에 배운 독립운동 가운데 생각나는 것을 말해 볼래?”
예상 답
- “3·1 운동이요.” “임시 정부요.” “독립군이요.”
막히면
- S02 ②의 답을 다시 떠올리게 합니다.
주의
- 제2차 세계 대전은 일본·독일 등과 미국·영국·중국·소련 등이 맞서 싸운 큰 전쟁입니다. 자세히 다루지 않습니다.
- 대한민국 임시 정부는 한국광복군을 만들어 연합국과 함께 싸울 준비를 했습니다(궁금해하면 알려 주는 정도로).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광복에서 정부 수립까지의 차례]
목적: 광복부터 대한민국 정부 수립, 남북 분단까지의 흐름을 시간 띠로 보여 줍니다(목표 A).
시간: 약 3분
이렇게 말해 보세요
- “광복 뒤 일본군을 물러가게 한다며 38도선을 경계로 남쪽에는 미국 군대가, 북쪽에는 소련 군대가 들어왔어.”
- “사람들은 하나의 나라를 세우려고 애썼지만 뜻을 모으지 못했어. 1948년 남쪽에서는 우리 역사에서 처음으로 국민이 투표해 대표(국회 의원)를 뽑는 총선거를 했어. 그 대표들이 헌법을 만들고, 1948년 8월 15일 대한민국 정부가 세워졌어.”
- “그런데 북쪽에도 따로 정부가 세워졌어. 그래서 어떻게 되었을까?”
예상 답
- “나라가 둘로 나뉘었어요.”
막히면
- 시간 띠의 점을 왼쪽부터 짚으며 “그다음에는?”이라고 묻습니다.
주의
- 이 총선거를 ‘5·10 총선거’라고 하며, 국회가 헌법을 만들어 발표한 날을 기념하는 날이 제헌절입니다(궁금해하면 알려 주는 정도로).
- 김구 등은 남과 북이 따로 정부를 세우는 것을 막고 하나의 정부를 세우려고 노력했습니다. 여러 입장이 있었다는 정도만 말합니다.
- 8월 15일은 광복과 대한민국 정부 수립을 함께 기념하는 광복절입니다.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연습(광복 뒤 일의 원인과 결과)]
목적: 광복 뒤의 일을 원인과 결과로 잇고, 총선거와 정부 수립의 의미를 말해 봅니다(목표 A).
시간: 약 3분
이렇게 말해 보세요
- “①, 남과 북에 다른 나라 군대가 들어왔고, 하나로 뜻을 모으지 못했지. 그래서?”
- “②, 조선 때는 누가 나라를 다스렸지? 이제는 누가 대표를 뽑았어?”
- “③, 8월 15일에 함께 기념하는 두 가지 일은?”
정답
- ① 남과 북에 서로 다른 정부가 세워져 나라가 둘로 나뉘었어요(분단).
- ② 국민이 직접 대표를 뽑아 나라의 주인이 되었기 때문이에요(민주 국가의 시작).
- ③ 1945년 광복과 1948년 대한민국 정부 수립
- 기준: ①②는 까닭이나 결과를 이어 말하면 맞음
막히면
- S04의 시간 띠를 다시 보여 줍니다. ②는 지난 시간 임시 정부의 ‘국민이 주인인 나라’를 떠올리게 합니다.
주의
- ②는 6학년 ‘시민 참여와 선거’로 이어집니다. 지금은 ‘국민이 직접 뽑았다’는 데만 초점을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비교(광복은 저절로 왔을까)]
목적: 광복을 맞은 까닭을 한쪽으로만 보지 않고, 독립운동의 의미를 근거로 말하게 합니다(목표 A, 오해 M1).
시간: 약 3분
이렇게 말해 보세요
- “가의 말에도 맞는 부분이 있을까? 그럼 독립운동은 아무 소용이 없었을까?”
- “우리 민족이 35년 동안 계속 독립을 외치고 준비하지 않았다면 어땠을까?”
정답
- 나. 일본의 패망과 함께, 3·1 운동·임시 정부·독립군처럼 끈질긴 독립운동이 광복의 바탕이 되었기 때문이에요.
- 기준: 두 까닭을 함께 말하거나, 독립운동의 예를 근거로 들면 잘함
막히면
- “지난 시간 3·1 운동은 소용없었을까?”를 다시 떠올리게 합니다.
주의
- 전쟁 중에 연합국 지도자들은 한국을 독립시키겠다고 약속하기도 했습니다. 우리 민족의 독립 의지가 세계에 알려졌기 때문이라고 보는 설명이 많습니다(궁금해하면 알려 주는 정도로).
- 여기까지가 광복과 정부 수립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6·25 전쟁의 큰 흐름]
목적: 6·25 전쟁의 큰 흐름과 정전 협정을 시간 띠로 보여 줍니다(목표 B, 오해 M2).
시간: 약 3분
이렇게 말해 보세요
- “1950년 6월 25일 새벽, 북한군이 38도선을 넘어 쳐들어왔어. 국군은 남쪽 낙동강까지 밀려 내려갔어.”
- “유엔(국제 연합)의 여러 나라 군대가 도우러 와서 서울을 되찾고 북쪽으로 올라갔어. 그런데 중국군이 북한을 도우러 내려와서 다시 밀렸고, 38도선 근처에서 오랫동안 싸웠어.”
- “1953년, 싸움을 멈추자는 정전 협정을 맺었어. ‘정전’은 싸움을 멈춘다는 뜻이야. 전쟁이 완전히 끝났다는 ‘종전’과는 달라.”
예상 답
- “그럼 아직 전쟁이 안 끝난 거예요?”
정답
- 싸움은 멈췄지만, 전쟁을 완전히 끝내는 평화 협정은 아직 맺지 못했습니다. S11에서 다시 다룹니다.
막히면
- 시간 띠를 왼쪽부터 짚으며 ‘밀려 내려감 → 올라감 → 다시 밀림 → 멈춤’을 손짓으로 보여 줍니다.
주의
- 전투의 이름과 장면, 사상자 수는 말하지 않습니다.
- 정전 협정으로 생긴 군사 분계선(휴전선)과 그 남북 각 2 km의 비무장 지대(DMZ)는 지금도 남아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자료 읽기(피란과 헤어진 가족 이야기)]
목적: 그때의 생활을 바탕으로 꾸며 쓴 이야기를 읽고, 전쟁이 사람들의 생활에 준 영향(피란, 헤어진 가족, 어려운 살림 속의 배움)을 찾습니다(목표 B, 오해 M3).
시간: 약 3분
이렇게 말해 보세요
- “이 글은 실제 한 사람의 이야기가 아니라, 그때 많은 사람이 겪은 일을 바탕으로 꾸며 쓴 글이야. ‘피란’은 전쟁을 피해 다른 곳으로 옮겨 가는 거야.”
- “이야기 속 사람의 생활은 전쟁 때문에 어떻게 바뀌었을까? 문단마다 하나씩 찾아볼래?”
예상 답
- “집을 떠나야 했어요.” “가족과 헤어졌어요.” “판잣집에서 살았지만 공부는 계속했어요.”
정답
- ① 살던 집을 떠나 피란을 가야 했다. ② 가족과 헤어져 다시 만나지 못했다(이산가족). ③ 어려운 살림 속에서도 천막 학교에서 공부를 이어 갔다.
막히면
- “네가 갑자기 집을 떠나 먼 곳으로 가야 한다면 무엇이 가장 힘들까?”라고 아이의 일로 바꾸어 묻습니다.
주의
- 전쟁 중에 부산은 정부가 옮겨 온 임시 수도였고, 많은 피란민이 모여 살았습니다.
- ③처럼 어려운 가운데서도 배움과 삶을 이어 간 사람들의 노력도 함께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전쟁이 생활에 준 영향 정리]
목적: 전쟁이 사람, 가족, 삶터, 남북 관계에 준 영향을 표로 정리합니다(목표 B, 오해 M3).
시간: 약 3분
이렇게 말해 보세요
- “전쟁이 남긴 것을 네 가지로 정리해 보자. 눈에 보이는 것도 있고, 보이지 않는 것도 있어.”
- “이 가운데 오늘날까지 이어지는 것은 무엇일까?”
예상 답
- “가족을 아직 못 만난 사람들이요.” “남과 북이 나뉘어 있는 거요.”
막히면
- S08의 이야기에서 표의 어느 줄에 해당하는 내용이 있었는지 찾게 합니다.
주의
- 첫 줄은 짧고 담담하게 읽고 넘어갑니다. 사상자 수는 말하지 않습니다.
- 전쟁 뒤 사람들이 힘을 모아 나라를 다시 일으킨 이야기는 6학년 ‘산업화와 생활 변화’에서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연습(이산가족의 마음과 평화)]
목적: 이산가족의 뜻과 마음을 생각하고, 평화가 왜 필요한지 말해 봅니다(목표 B, 오해 M4).
시간: 약 3분
이렇게 말해 보세요
- “전쟁 때 헤어져 서로 소식을 모르고 사는 가족을 이산가족이라고 해.”
- “전쟁이 끝나고 오랜 시간이 지난 뒤, 텔레비전 방송에서 이산가족이 서로를 찾는 프로그램을 했어. 많은 사람이 방송국 앞에 가족의 이름을 써 붙이고 기다렸어. 왜 그렇게 애타게 찾았을까?”
- “북쪽에 가족이 있는 분들은 아직 마음대로 만날 수 없어. 그분들께 무엇이 필요할까?”
정답
- ① 전쟁 때 헤어져 서로 소식을 모르고 사는 가족
- ② 오랫동안 보고 싶었고, 살아 있는지라도 알고 싶었기 때문이에요(그리움).
- ③ 예: 남과 북이 대화해 가족을 만날 수 있게 하는 것, 평화, 편지나 소식을 주고받을 길
- 기준: ②③은 이산가족의 마음을 헤아려 까닭을 말하면 맞음
막히면
- “네가 엄마(아빠)를 오랫동안 못 만난다면 어떤 마음일까?”라고 묻습니다.
주의
- 남과 북의 정부가 합의해 이산가족이 잠시 만나는 ‘이산가족 상봉’이 여러 차례 있었지만, 아직 만나지 못한 분이 많고 그분들은 나이가 많이 드셨습니다.
- 북한 사람 모두를 미워하게 하기보다, 전쟁이 남과 북 모두의 사람들에게 아픔을 주었고 그래서 평화가 소중하다는 데 초점을 둡니다(오해 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오해 비교(정전과 종전)]
목적: 정전과 종전을 구별하고, 휴전선이 남아 있는 까닭을 말하게 합니다(목표 B, 오해 M2).
시간: 약 3분
이렇게 말해 보세요
- “S07에서 정전은 무슨 뜻이라고 했지? 지금도 남과 북 사이에 무엇이 있지?”
- “전쟁을 완전히 끝내고 평화롭게 지내려면 무엇이 필요할까?”
정답
- 나. 1953년 정전 협정은 싸움을 멈춘 약속이고, 지금도 휴전선과 비무장 지대가 남아 있어 남과 북이 나뉘어 있기 때문이에요.
- 평화를 위해: 대화, 서로 이해하기, 평화 협정 등 (까닭이 있으면 맞음)
막히면
- “친구와 싸우다가 ‘잠깐 멈추자’ 한 것과 ‘다시는 안 싸우고 사이좋게 지내자’ 한 것은 같을까?”라고 비유로 묻습니다.
주의
- 아이가 불안해하면 “싸움은 멈춘 지 아주 오래되었고, 많은 사람이 평화를 지키려고 노력하고 있어.”라고 안심시킵니다. 평화 통일을 위한 노력은 6학년 ‘분단과 평화 통일’에서 자세히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 보기(차례, 광복의 까닭, 전쟁의 영향, 평화)]
목적: 광복부터 6·25 전쟁까지의 차례와 해, 광복의 까닭, 전쟁의 영향, 평화의 필요를 도움 없이 말하는지 확인합니다(목표 A·B).
시간: 약 5분
이렇게 말해 보세요
- “이번에는 혼자 해 볼래? ①은 활동지 1의 시간 띠에 써도 돼.”
- “다 하면 왜 그렇게 생각했는지 말해 줘.”
정답
- ① 광복(1945년) → 대한민국 정부 수립(1948년) → 6·25 전쟁 시작(1950년)
- ② 일본이 제2차 세계 대전에서 졌다. 우리 민족이 끈질기게 독립운동을 했다.
- ③ 예: 많은 사람이 피란을 가고 목숨을 잃거나 다쳤다 / 이산가족이 생겼다 / 집·학교·공장이 무너졌다 / 분단이 굳어졌다 가운데 두 가지
- ④ 예: 남과 북이 대화하기, 서로 이해하기, 이산가족이 만날 수 있게 하기, 평화 협정 (까닭이 있으면 맞음)
- 기준: 네 문제 가운데 세 개 이상, 그리고 ②에서 두 까닭을 모두 말하면 목표를 이룬 것으로 봅니다.
막히면
- 바로 알려 주지 말고 ①은 “8월 15일에 함께 기념하는 두 가지 일을 떠올려 봐.”, ②는 “지난 시간에 배운 것과 이어 봐.”라고만 묻습니다.
- 도움을 받아 해결했다면 기록표에 ‘도움’으로 표시합니다.
주의
- ④는 아이의 생각을 존중합니다. ‘싸우지 않기’처럼 짧게 말하면 “어떻게 하면 싸우지 않을 수 있을까?”라고 한 번 더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S12의 답을 확인하고 흔한 실수와 견줍니다.
시간: 약 2분
이렇게 말해 보세요
- “네 답과 왼쪽을 견주어 보자. 오른쪽 두 생각은 무엇을 놓쳤을까?”
예상 답
- “독립운동도 광복의 까닭이에요.” “싸움을 멈춘 거지 끝난 건 아니에요.”
정답
- ① 광복(1945년) → 대한민국 정부 수립(1948년) → 6·25 전쟁 시작(1950년) ② 일본의 패망, 우리 민족의 독립운동 ③ 피란, 이산가족, 무너진 삶터, 굳어진 분단 가운데 두 가지 ④ 대화, 서로 이해하기, 이산가족 만남 등
막히면
- ①은 S04, ②는 S03·S06, ③은 S09, ④는 S10·S11을 다시 봅니다.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 질문을 알려 줍니다. 역사 단원(선사 시대부터 6·25 전쟁까지)을 마무리합니다.
시간: 약 2분
이렇게 말해 보세요
- “오늘 배운 것 가운데 가장 마음에 남는 것은 무엇이야? 왜 그래?”
- “여섯 번에 걸쳐 선사 시대부터 6·25 전쟁까지 배웠어. 시대 이름을 차례로 말해 볼까?”
예상 답
- “이산가족 이야기요. 가족을 못 만나서 슬플 것 같아요.”
- “선사 시대, 고조선, 삼국, 남북국, 고려, 조선, 일제강점기, 광복과 6·25 전쟁이요.”
정답
- ① 1945년 8월 15일 ② 1948년 ③ 이산가족
막히면
- S04와 S07의 시간 띠를 다시 보여 줍니다.
주의
- 아이가 ‘북한 사람은 다 나빠’처럼 말하면, 전쟁은 남과 북 모두에게 아픔을 주었고 그래서 평화가 필요하다고 차분히 이야기합니다(오해 M4).
- 다음 차시 ‘인권’은 새 단원(권리와 생활)의 첫 차시입니다. 오늘 배운 ‘국민이 나라의 주인’이라는 생각과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보충(개항에서 광복까지 다시 보기)]
목적: S02에서 지난 차시의 흐름을 어려워하면 개항부터 광복까지를 시간 띠로 다시 익히고 오늘 수업으로 이어 줍니다.
시간: 약 4분
이렇게 말해 보세요
- “시간 띠를 왼쪽부터 같이 읽어 보자. 1876년에 무슨 일이 있었지?”
- “나라를 빼앗긴 해는? 그 뒤 사람들이 함께 만세를 부른 해는?”
- “이번에는 화면을 가리고 차례로 말해 볼래?”
정답
- 1876년 강화도 조약(개항) → 1910년 국권 피탈 → 1919년 3·1 운동·대한민국 임시 정부 → 1945년 광복
막히면
- 종이 카드 네 장에 일을 써서 차례로 놓아 보게 합니다.
주의
- 이 차시의 계획상 선수 차시는 ‘개항과 일제강점기’(KR22-G05-SOC-COLONIAL-L01)입니다. 보충 뒤에도 어려우면 그 차시를 다시 하고 오늘 수업은 다음 날 S02부터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역사와생활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사회·역사 · 광복과 6·25전쟁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광복과 6·25전쟁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 우리나라는 어떻게 세워졌고,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전쟁은 사람들의 삶을 어떻게 바꾸었을까?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광복부터 대한민국 정부 수립까지 차례대로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6·25 전쟁이 사람들의 생활에 준 영향을 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1919년에 있었던 일 두 가지는?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독립운동의 방법 두 가지는?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일본에 나라를 빼앗긴 해는?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광복의 뜻과 까닭</a:t>
            </a:r>
            <a:endParaRPr lang="ko-KR" sz="40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 8월 15일, 우리나라는 광복을 맞았어요.</a:t>
            </a:r>
            <a:endParaRPr lang="ko-KR" sz="28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광복은 우리 민족이 오랫동안 노력한 결과이기도 해요.</a:t>
            </a:r>
            <a:endParaRPr lang="ko-KR" sz="2800" dirty="0"/>
          </a:p>
        </p:txBody>
      </p:sp>
      <p:sp>
        <p:nvSpPr>
          <p:cNvPr id="6" name="S03-card12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‘빛을 되찾음’이라는 뜻으로, 빼앗긴 나라를 되찾은 것을 말해요.</a:t>
            </a:r>
            <a:endParaRPr lang="ko-KR" sz="2800" dirty="0"/>
          </a:p>
        </p:txBody>
      </p:sp>
      <p:sp>
        <p:nvSpPr>
          <p:cNvPr id="8" name="S03-card14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일본이 제2차 세계 대전에서 졌어요.</a:t>
            </a:r>
            <a:endParaRPr lang="ko-KR" sz="2800" dirty="0"/>
          </a:p>
        </p:txBody>
      </p:sp>
      <p:sp>
        <p:nvSpPr>
          <p:cNvPr id="10" name="S03-card16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②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민족이 끈질기게 독립운동을 했어요.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정부가 세워지기까지</a:t>
            </a:r>
            <a:endParaRPr lang="ko-KR" sz="4000" dirty="0"/>
          </a:p>
        </p:txBody>
      </p:sp>
      <p:sp>
        <p:nvSpPr>
          <p:cNvPr id="3" name="S04-text18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 38도선을 경계로 남쪽에는 미군,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북쪽에는 소련군이 들어왔어요.</a:t>
            </a:r>
            <a:endParaRPr lang="ko-KR" sz="2800" dirty="0"/>
          </a:p>
        </p:txBody>
      </p:sp>
      <p:sp>
        <p:nvSpPr>
          <p:cNvPr id="4" name="S04-card1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남과 북에 서로 다른 정부가 세워져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나라가 둘로 나뉘었어요.</a:t>
            </a:r>
            <a:endParaRPr lang="ko-KR" sz="2800" dirty="0"/>
          </a:p>
        </p:txBody>
      </p:sp>
      <p:sp>
        <p:nvSpPr>
          <p:cNvPr id="6" name="S04-line21"/>
          <p:cNvSpPr/>
          <p:nvPr/>
        </p:nvSpPr>
        <p:spPr>
          <a:xfrm>
            <a:off x="822960" y="3584448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4-event22"/>
          <p:cNvSpPr/>
          <p:nvPr/>
        </p:nvSpPr>
        <p:spPr>
          <a:xfrm>
            <a:off x="1758391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4-label23"/>
          <p:cNvSpPr txBox="1"/>
          <p:nvPr/>
        </p:nvSpPr>
        <p:spPr>
          <a:xfrm>
            <a:off x="868680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9" name="S04-label24"/>
          <p:cNvSpPr txBox="1"/>
          <p:nvPr/>
        </p:nvSpPr>
        <p:spPr>
          <a:xfrm>
            <a:off x="868680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 8월 15일</a:t>
            </a:r>
            <a:endParaRPr lang="ko-KR" sz="1800" dirty="0"/>
          </a:p>
        </p:txBody>
      </p:sp>
      <p:sp>
        <p:nvSpPr>
          <p:cNvPr id="10" name="S04-event25"/>
          <p:cNvSpPr/>
          <p:nvPr/>
        </p:nvSpPr>
        <p:spPr>
          <a:xfrm>
            <a:off x="3866998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4-label26"/>
          <p:cNvSpPr txBox="1"/>
          <p:nvPr/>
        </p:nvSpPr>
        <p:spPr>
          <a:xfrm>
            <a:off x="297728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남북으로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나뉨</a:t>
            </a:r>
            <a:endParaRPr lang="ko-KR" sz="2200" dirty="0"/>
          </a:p>
        </p:txBody>
      </p:sp>
      <p:sp>
        <p:nvSpPr>
          <p:cNvPr id="12" name="S04-label27"/>
          <p:cNvSpPr txBox="1"/>
          <p:nvPr/>
        </p:nvSpPr>
        <p:spPr>
          <a:xfrm>
            <a:off x="297728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38도선이 경계</a:t>
            </a:r>
            <a:endParaRPr lang="ko-KR" sz="1800" dirty="0"/>
          </a:p>
        </p:txBody>
      </p:sp>
      <p:sp>
        <p:nvSpPr>
          <p:cNvPr id="13" name="S04-event28"/>
          <p:cNvSpPr/>
          <p:nvPr/>
        </p:nvSpPr>
        <p:spPr>
          <a:xfrm>
            <a:off x="5975604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4-label29"/>
          <p:cNvSpPr txBox="1"/>
          <p:nvPr/>
        </p:nvSpPr>
        <p:spPr>
          <a:xfrm>
            <a:off x="5085893" y="2901823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총선거</a:t>
            </a:r>
            <a:endParaRPr lang="ko-KR" sz="2200" dirty="0"/>
          </a:p>
        </p:txBody>
      </p:sp>
      <p:sp>
        <p:nvSpPr>
          <p:cNvPr id="15" name="S04-label30"/>
          <p:cNvSpPr txBox="1"/>
          <p:nvPr/>
        </p:nvSpPr>
        <p:spPr>
          <a:xfrm>
            <a:off x="5085893" y="3813048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1948년, 국민이 대표를 뽑음</a:t>
            </a:r>
            <a:endParaRPr lang="ko-KR" sz="1800" dirty="0"/>
          </a:p>
        </p:txBody>
      </p:sp>
      <p:sp>
        <p:nvSpPr>
          <p:cNvPr id="16" name="S04-event31"/>
          <p:cNvSpPr/>
          <p:nvPr/>
        </p:nvSpPr>
        <p:spPr>
          <a:xfrm>
            <a:off x="8084210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4-label32"/>
          <p:cNvSpPr txBox="1"/>
          <p:nvPr/>
        </p:nvSpPr>
        <p:spPr>
          <a:xfrm>
            <a:off x="7194499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대한민국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 수립</a:t>
            </a:r>
            <a:endParaRPr lang="ko-KR" sz="2200" dirty="0"/>
          </a:p>
        </p:txBody>
      </p:sp>
      <p:sp>
        <p:nvSpPr>
          <p:cNvPr id="18" name="S04-label33"/>
          <p:cNvSpPr txBox="1"/>
          <p:nvPr/>
        </p:nvSpPr>
        <p:spPr>
          <a:xfrm>
            <a:off x="7194499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8월 15일</a:t>
            </a:r>
            <a:endParaRPr lang="ko-KR" sz="1800" dirty="0"/>
          </a:p>
        </p:txBody>
      </p:sp>
      <p:sp>
        <p:nvSpPr>
          <p:cNvPr id="19" name="S04-event34"/>
          <p:cNvSpPr/>
          <p:nvPr/>
        </p:nvSpPr>
        <p:spPr>
          <a:xfrm>
            <a:off x="10192817" y="3465576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4-label35"/>
          <p:cNvSpPr txBox="1"/>
          <p:nvPr/>
        </p:nvSpPr>
        <p:spPr>
          <a:xfrm>
            <a:off x="9303106" y="2552573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북쪽에도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정부</a:t>
            </a:r>
            <a:endParaRPr lang="ko-KR" sz="2200" dirty="0"/>
          </a:p>
        </p:txBody>
      </p:sp>
      <p:sp>
        <p:nvSpPr>
          <p:cNvPr id="21" name="S04-label36"/>
          <p:cNvSpPr txBox="1"/>
          <p:nvPr/>
        </p:nvSpPr>
        <p:spPr>
          <a:xfrm>
            <a:off x="9303106" y="3813048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남북이 나뉨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 뒤의 일</a:t>
            </a:r>
            <a:endParaRPr lang="ko-KR" sz="4000" dirty="0"/>
          </a:p>
        </p:txBody>
      </p:sp>
      <p:sp>
        <p:nvSpPr>
          <p:cNvPr id="3" name="S05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5-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38도선을 경계로 남북에 다른 군대가 들어왔어요. 그 뒤 어떤 일이 생겼나요?</a:t>
            </a:r>
            <a:endParaRPr lang="ko-KR" sz="2800" dirty="0"/>
          </a:p>
        </p:txBody>
      </p:sp>
      <p:sp>
        <p:nvSpPr>
          <p:cNvPr id="5" name="S05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5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1948년 총선거는 국민이 처음 투표해 대표를 뽑은 선거예요. 왜 소중할까요?</a:t>
            </a:r>
            <a:endParaRPr lang="ko-KR" sz="2800" dirty="0"/>
          </a:p>
        </p:txBody>
      </p:sp>
      <p:sp>
        <p:nvSpPr>
          <p:cNvPr id="7" name="S05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5-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광복절에 함께 기념하는 일 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광복은 저절로 왔을까?</a:t>
            </a:r>
            <a:endParaRPr lang="ko-KR" sz="4000" dirty="0"/>
          </a:p>
        </p:txBody>
      </p:sp>
      <p:sp>
        <p:nvSpPr>
          <p:cNvPr id="3" name="S06-card4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광복을 배우고 두 친구가 말했어요.</a:t>
            </a:r>
            <a:endParaRPr lang="ko-KR" sz="2800" dirty="0"/>
          </a:p>
        </p:txBody>
      </p:sp>
      <p:sp>
        <p:nvSpPr>
          <p:cNvPr id="5" name="S06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더 알맞을까요? 근거를 말해요.</a:t>
            </a:r>
            <a:endParaRPr lang="ko-KR" sz="2800" dirty="0"/>
          </a:p>
        </p:txBody>
      </p:sp>
      <p:sp>
        <p:nvSpPr>
          <p:cNvPr id="7" name="S06-chip4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text4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“일본이 전쟁에서 져서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저절로 광복이 되었어요.”</a:t>
            </a:r>
            <a:endParaRPr lang="ko-KR" sz="2800" dirty="0"/>
          </a:p>
        </p:txBody>
      </p:sp>
      <p:sp>
        <p:nvSpPr>
          <p:cNvPr id="9" name="S06-chip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text5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“일본이 진 것도 까닭이지만,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민족의 독립운동도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광복의 바탕이 되었어요.”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전쟁의 흐름</a:t>
            </a:r>
            <a:endParaRPr lang="ko-KR" sz="4000" dirty="0"/>
          </a:p>
        </p:txBody>
      </p:sp>
      <p:sp>
        <p:nvSpPr>
          <p:cNvPr id="3" name="S07-text51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 6월 25일, 북한군이 38도선을 넘어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쳐들어왔어요.</a:t>
            </a:r>
            <a:endParaRPr lang="ko-KR" sz="2800" dirty="0"/>
          </a:p>
        </p:txBody>
      </p:sp>
      <p:sp>
        <p:nvSpPr>
          <p:cNvPr id="4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협정으로 싸움을 멈추고 휴전선이 생겼어요.</a:t>
            </a:r>
            <a:endParaRPr lang="ko-KR" sz="2800" dirty="0"/>
          </a:p>
        </p:txBody>
      </p:sp>
      <p:sp>
        <p:nvSpPr>
          <p:cNvPr id="6" name="S07-line54"/>
          <p:cNvSpPr/>
          <p:nvPr/>
        </p:nvSpPr>
        <p:spPr>
          <a:xfrm>
            <a:off x="822960" y="3748532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07-event55"/>
          <p:cNvSpPr/>
          <p:nvPr/>
        </p:nvSpPr>
        <p:spPr>
          <a:xfrm>
            <a:off x="1758391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07-label56"/>
          <p:cNvSpPr txBox="1"/>
          <p:nvPr/>
        </p:nvSpPr>
        <p:spPr>
          <a:xfrm>
            <a:off x="868680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 시작</a:t>
            </a:r>
            <a:endParaRPr lang="ko-KR" sz="2200" dirty="0"/>
          </a:p>
        </p:txBody>
      </p:sp>
      <p:sp>
        <p:nvSpPr>
          <p:cNvPr id="9" name="S07-label57"/>
          <p:cNvSpPr txBox="1"/>
          <p:nvPr/>
        </p:nvSpPr>
        <p:spPr>
          <a:xfrm>
            <a:off x="868680" y="3977132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1950년, 북한군이 내려옴</a:t>
            </a:r>
            <a:endParaRPr lang="ko-KR" sz="1800" dirty="0"/>
          </a:p>
        </p:txBody>
      </p:sp>
      <p:sp>
        <p:nvSpPr>
          <p:cNvPr id="10" name="S07-event58"/>
          <p:cNvSpPr/>
          <p:nvPr/>
        </p:nvSpPr>
        <p:spPr>
          <a:xfrm>
            <a:off x="3866998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07-label59"/>
          <p:cNvSpPr txBox="1"/>
          <p:nvPr/>
        </p:nvSpPr>
        <p:spPr>
          <a:xfrm>
            <a:off x="2977286" y="2716657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낙동강까지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밀림</a:t>
            </a:r>
            <a:endParaRPr lang="ko-KR" sz="2200" dirty="0"/>
          </a:p>
        </p:txBody>
      </p:sp>
      <p:sp>
        <p:nvSpPr>
          <p:cNvPr id="12" name="S07-label60"/>
          <p:cNvSpPr txBox="1"/>
          <p:nvPr/>
        </p:nvSpPr>
        <p:spPr>
          <a:xfrm>
            <a:off x="2977286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유엔군이 도우러 옴</a:t>
            </a:r>
            <a:endParaRPr lang="ko-KR" sz="1800" dirty="0"/>
          </a:p>
        </p:txBody>
      </p:sp>
      <p:sp>
        <p:nvSpPr>
          <p:cNvPr id="13" name="S07-event61"/>
          <p:cNvSpPr/>
          <p:nvPr/>
        </p:nvSpPr>
        <p:spPr>
          <a:xfrm>
            <a:off x="5975604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7-label62"/>
          <p:cNvSpPr txBox="1"/>
          <p:nvPr/>
        </p:nvSpPr>
        <p:spPr>
          <a:xfrm>
            <a:off x="5085893" y="2716657"/>
            <a:ext cx="2017166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서울을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되찾음</a:t>
            </a:r>
            <a:endParaRPr lang="ko-KR" sz="2200" dirty="0"/>
          </a:p>
        </p:txBody>
      </p:sp>
      <p:sp>
        <p:nvSpPr>
          <p:cNvPr id="15" name="S07-label63"/>
          <p:cNvSpPr txBox="1"/>
          <p:nvPr/>
        </p:nvSpPr>
        <p:spPr>
          <a:xfrm>
            <a:off x="5085893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북쪽으로 올라감</a:t>
            </a:r>
            <a:endParaRPr lang="ko-KR" sz="1800" dirty="0"/>
          </a:p>
        </p:txBody>
      </p:sp>
      <p:sp>
        <p:nvSpPr>
          <p:cNvPr id="16" name="S07-event64"/>
          <p:cNvSpPr/>
          <p:nvPr/>
        </p:nvSpPr>
        <p:spPr>
          <a:xfrm>
            <a:off x="8084210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07-label65"/>
          <p:cNvSpPr txBox="1"/>
          <p:nvPr/>
        </p:nvSpPr>
        <p:spPr>
          <a:xfrm>
            <a:off x="7194499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밀림</a:t>
            </a:r>
            <a:endParaRPr lang="ko-KR" sz="2200" dirty="0"/>
          </a:p>
        </p:txBody>
      </p:sp>
      <p:sp>
        <p:nvSpPr>
          <p:cNvPr id="18" name="S07-label66"/>
          <p:cNvSpPr txBox="1"/>
          <p:nvPr/>
        </p:nvSpPr>
        <p:spPr>
          <a:xfrm>
            <a:off x="7194499" y="3977132"/>
            <a:ext cx="20171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중국군이 내려옴</a:t>
            </a:r>
            <a:endParaRPr lang="ko-KR" sz="1800" dirty="0"/>
          </a:p>
        </p:txBody>
      </p:sp>
      <p:sp>
        <p:nvSpPr>
          <p:cNvPr id="19" name="S07-event67"/>
          <p:cNvSpPr/>
          <p:nvPr/>
        </p:nvSpPr>
        <p:spPr>
          <a:xfrm>
            <a:off x="10192817" y="3629660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S07-label68"/>
          <p:cNvSpPr txBox="1"/>
          <p:nvPr/>
        </p:nvSpPr>
        <p:spPr>
          <a:xfrm>
            <a:off x="9303106" y="3065907"/>
            <a:ext cx="2017166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 협정</a:t>
            </a:r>
            <a:endParaRPr lang="ko-KR" sz="2200" dirty="0"/>
          </a:p>
        </p:txBody>
      </p:sp>
      <p:sp>
        <p:nvSpPr>
          <p:cNvPr id="21" name="S07-label69"/>
          <p:cNvSpPr txBox="1"/>
          <p:nvPr/>
        </p:nvSpPr>
        <p:spPr>
          <a:xfrm>
            <a:off x="9303106" y="3977132"/>
            <a:ext cx="2017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1953년, 싸움을 멈춤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들려준 이야기</a:t>
            </a:r>
            <a:endParaRPr lang="ko-KR" sz="4000" dirty="0"/>
          </a:p>
        </p:txBody>
      </p:sp>
      <p:sp>
        <p:nvSpPr>
          <p:cNvPr id="3" name="S08-card7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7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전쟁은 사람들의 생활을 어떻게 바꾸었나요?</a:t>
            </a:r>
            <a:endParaRPr lang="ko-KR" sz="2800" dirty="0"/>
          </a:p>
        </p:txBody>
      </p:sp>
      <p:sp>
        <p:nvSpPr>
          <p:cNvPr id="5" name="S08-passagebox72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73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피란 이야기(그때를 바탕으로 꾸며 쓴 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전쟁이 나자 우리 가족은 짐을 이고 지고 남쪽으로 피란을 떠났어. 길에는 피란 가는 사람들이 끝없이 이어졌지.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사람들 틈에서 오빠의 손을 놓쳤는데, 그 뒤로 오빠를 다시 만나지 못했단다.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부산의 작은 판잣집에서 살면서도 천막 학교에 다니며 공부를 이어 갔어.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전쟁이 남긴 것</a:t>
            </a:r>
            <a:endParaRPr lang="ko-KR" sz="4000" dirty="0"/>
          </a:p>
        </p:txBody>
      </p:sp>
      <p:sp>
        <p:nvSpPr>
          <p:cNvPr id="3" name="S09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그래도 사람들은 힘을 모아 무너진 삶터를 다시 일으켰어요.</a:t>
            </a:r>
            <a:endParaRPr lang="ko-KR" sz="2800" dirty="0"/>
          </a:p>
        </p:txBody>
      </p:sp>
      <p:graphicFrame>
        <p:nvGraphicFramePr>
          <p:cNvPr id="10" name="S09-table7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77824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어떻게 되었나요?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사람이 목숨을 잃거나 다쳤어요.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헤어진 이산가족과 부모를 잃은 아이들이 생겼어요.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삶터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집·학교·공장·다리가 많이 무너졌어요.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남과 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서로 믿지 못하게 되고 분단이 굳어졌어요.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이산가족의 마음</a:t>
            </a:r>
            <a:endParaRPr lang="ko-KR" sz="4000" dirty="0"/>
          </a:p>
        </p:txBody>
      </p:sp>
      <p:sp>
        <p:nvSpPr>
          <p:cNvPr id="3" name="S10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그분들의 마음이 되어 생각해요.</a:t>
            </a:r>
            <a:endParaRPr lang="ko-KR" sz="2800" dirty="0"/>
          </a:p>
        </p:txBody>
      </p:sp>
      <p:sp>
        <p:nvSpPr>
          <p:cNvPr id="5" name="S10-chip7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10-text8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이산가족은 어떤 사람들인가요?</a:t>
            </a:r>
            <a:endParaRPr lang="ko-KR" sz="2800" dirty="0"/>
          </a:p>
        </p:txBody>
      </p:sp>
      <p:sp>
        <p:nvSpPr>
          <p:cNvPr id="7" name="S10-chip8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10-text8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방송으로 많은 이산가족이 서로를 찾았어요. 왜 그렇게 애타게 찾았을까요?</a:t>
            </a:r>
            <a:endParaRPr lang="ko-KR" sz="2800" dirty="0"/>
          </a:p>
        </p:txBody>
      </p:sp>
      <p:sp>
        <p:nvSpPr>
          <p:cNvPr id="9" name="S10-chip8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10-text8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지금도 가족을 만나지 못한 분들께 무엇이 필요할까요?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전쟁은 끝났을까?</a:t>
            </a:r>
            <a:endParaRPr lang="ko-KR" sz="4000" dirty="0"/>
          </a:p>
        </p:txBody>
      </p:sp>
      <p:sp>
        <p:nvSpPr>
          <p:cNvPr id="3" name="S11-card8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8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전쟁을 배우고 두 친구가 말했어요.</a:t>
            </a:r>
            <a:endParaRPr lang="ko-KR" sz="2800" dirty="0"/>
          </a:p>
        </p:txBody>
      </p:sp>
      <p:sp>
        <p:nvSpPr>
          <p:cNvPr id="5" name="S11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맞을까요? 휴전선을 보면 무엇을 알 수 있나요?</a:t>
            </a:r>
            <a:endParaRPr lang="ko-KR" sz="2800" dirty="0"/>
          </a:p>
        </p:txBody>
      </p:sp>
      <p:sp>
        <p:nvSpPr>
          <p:cNvPr id="7" name="S11-chip8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11-text9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“1953년에 전쟁이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완전히 끝났어요.”</a:t>
            </a:r>
            <a:endParaRPr lang="ko-KR" sz="2800" dirty="0"/>
          </a:p>
        </p:txBody>
      </p:sp>
      <p:sp>
        <p:nvSpPr>
          <p:cNvPr id="9" name="S11-chip9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11-text9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“싸움을 멈추기로(정전)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약속했지만, 아직 평화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협정은 맺지 못했어요.”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chip9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2-text94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광복, 6·25 전쟁 시작, 정부 수립을 차례로 놓고 해를 말해요.</a:t>
            </a:r>
            <a:endParaRPr lang="ko-KR" sz="2800" dirty="0"/>
          </a:p>
        </p:txBody>
      </p:sp>
      <p:sp>
        <p:nvSpPr>
          <p:cNvPr id="5" name="S12-chip95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2-text96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광복을 맞은 까닭 두 가지는?</a:t>
            </a:r>
            <a:endParaRPr lang="ko-KR" sz="2800" dirty="0"/>
          </a:p>
        </p:txBody>
      </p:sp>
      <p:sp>
        <p:nvSpPr>
          <p:cNvPr id="7" name="S12-chip97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2-text98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6·25 전쟁이 생활에 준 영향 두 가지는?</a:t>
            </a:r>
            <a:endParaRPr lang="ko-KR" sz="2800" dirty="0"/>
          </a:p>
        </p:txBody>
      </p:sp>
      <p:sp>
        <p:nvSpPr>
          <p:cNvPr id="9" name="S12-chip99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2-text100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평화를 위해 필요한 일 하나는?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3-card101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02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광복은 우리 민족의 노력이 바탕이었고, 전쟁의 아픔은 오늘까지 이어져 평화가 소중해요.</a:t>
            </a:r>
            <a:endParaRPr lang="ko-KR" sz="2800" dirty="0"/>
          </a:p>
        </p:txBody>
      </p:sp>
      <p:sp>
        <p:nvSpPr>
          <p:cNvPr id="5" name="S13-chip10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3-text104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광복 → 정부 → 전쟁</a:t>
            </a:r>
            <a:endParaRPr lang="ko-KR" sz="2800" dirty="0"/>
          </a:p>
        </p:txBody>
      </p:sp>
      <p:sp>
        <p:nvSpPr>
          <p:cNvPr id="7" name="S13-text105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일본 패망, 독립운동</a:t>
            </a:r>
            <a:endParaRPr lang="ko-KR" sz="2800" dirty="0"/>
          </a:p>
        </p:txBody>
      </p:sp>
      <p:sp>
        <p:nvSpPr>
          <p:cNvPr id="8" name="S13-text106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피란, 이산가족 등</a:t>
            </a:r>
            <a:endParaRPr lang="ko-KR" sz="2800" dirty="0"/>
          </a:p>
        </p:txBody>
      </p:sp>
      <p:sp>
        <p:nvSpPr>
          <p:cNvPr id="9" name="S13-text107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대화, 서로 이해하기</a:t>
            </a:r>
            <a:endParaRPr lang="ko-KR" sz="2800" dirty="0"/>
          </a:p>
        </p:txBody>
      </p:sp>
      <p:sp>
        <p:nvSpPr>
          <p:cNvPr id="10" name="S13-chip10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3-text10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“저절로 광복”</a:t>
            </a:r>
            <a:endParaRPr lang="ko-KR" sz="2800" dirty="0"/>
          </a:p>
        </p:txBody>
      </p:sp>
      <p:sp>
        <p:nvSpPr>
          <p:cNvPr id="12" name="S13-text11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독립운동을 빠뜨림</a:t>
            </a:r>
            <a:endParaRPr lang="ko-KR" sz="2200" dirty="0"/>
          </a:p>
        </p:txBody>
      </p:sp>
      <p:sp>
        <p:nvSpPr>
          <p:cNvPr id="13" name="S13-text11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“전쟁은 끝났다”</a:t>
            </a:r>
            <a:endParaRPr lang="ko-KR" sz="2800" dirty="0"/>
          </a:p>
        </p:txBody>
      </p:sp>
      <p:sp>
        <p:nvSpPr>
          <p:cNvPr id="14" name="S13-text11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정전은 싸움을 멈춤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13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4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광복과 대한민국 정부 수립 뒤 6·25 전쟁이 일어났어요.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전쟁의 아픔을 겪은 우리에게 평화는 소중해요.</a:t>
            </a:r>
            <a:endParaRPr lang="ko-KR" sz="2800" dirty="0"/>
          </a:p>
        </p:txBody>
      </p:sp>
      <p:sp>
        <p:nvSpPr>
          <p:cNvPr id="5" name="S14-chip115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광복의 까닭 두 가지 말하기</a:t>
            </a:r>
            <a:endParaRPr lang="ko-KR" sz="2200" dirty="0"/>
          </a:p>
        </p:txBody>
      </p:sp>
      <p:sp>
        <p:nvSpPr>
          <p:cNvPr id="6" name="S14-chip116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정전을 종전으로 알기</a:t>
            </a:r>
            <a:endParaRPr lang="ko-KR" sz="2200" dirty="0"/>
          </a:p>
        </p:txBody>
      </p:sp>
      <p:sp>
        <p:nvSpPr>
          <p:cNvPr id="7" name="S14-text117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18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광복을 맞은 날은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언제인가요?</a:t>
            </a:r>
            <a:endParaRPr lang="ko-KR" sz="2200" dirty="0"/>
          </a:p>
        </p:txBody>
      </p:sp>
      <p:sp>
        <p:nvSpPr>
          <p:cNvPr id="9" name="S14-text119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대한민국 정부가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세워진 해는?</a:t>
            </a:r>
            <a:endParaRPr lang="ko-KR" sz="2200" dirty="0"/>
          </a:p>
        </p:txBody>
      </p:sp>
      <p:sp>
        <p:nvSpPr>
          <p:cNvPr id="10" name="S14-text120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전쟁 때 헤어진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가족을 무엇이라 하나요?</a:t>
            </a:r>
            <a:endParaRPr lang="ko-KR" sz="2200" dirty="0"/>
          </a:p>
        </p:txBody>
      </p:sp>
      <p:sp>
        <p:nvSpPr>
          <p:cNvPr id="11" name="S14-text12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인권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개항에서 광복까지</a:t>
            </a:r>
            <a:endParaRPr lang="ko-KR" sz="4000" dirty="0"/>
          </a:p>
        </p:txBody>
      </p:sp>
      <p:sp>
        <p:nvSpPr>
          <p:cNvPr id="3" name="S15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시간의 흐름을 다시 봐요.</a:t>
            </a:r>
            <a:endParaRPr lang="ko-KR" sz="2800" dirty="0"/>
          </a:p>
        </p:txBody>
      </p:sp>
      <p:sp>
        <p:nvSpPr>
          <p:cNvPr id="4" name="S15-card12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2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1910년부터 1945년까지 사람들은 여러 방법으로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독립운동을 했어요.</a:t>
            </a:r>
            <a:endParaRPr lang="ko-KR" sz="2800" dirty="0"/>
          </a:p>
        </p:txBody>
      </p:sp>
      <p:sp>
        <p:nvSpPr>
          <p:cNvPr id="6" name="S15-line125"/>
          <p:cNvSpPr/>
          <p:nvPr/>
        </p:nvSpPr>
        <p:spPr>
          <a:xfrm>
            <a:off x="822960" y="3402076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7" name="S15-event126"/>
          <p:cNvSpPr/>
          <p:nvPr/>
        </p:nvSpPr>
        <p:spPr>
          <a:xfrm>
            <a:off x="2021967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15-label127"/>
          <p:cNvSpPr txBox="1"/>
          <p:nvPr/>
        </p:nvSpPr>
        <p:spPr>
          <a:xfrm>
            <a:off x="868680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강화도 조약</a:t>
            </a:r>
            <a:endParaRPr lang="ko-KR" sz="2200" dirty="0"/>
          </a:p>
        </p:txBody>
      </p:sp>
      <p:sp>
        <p:nvSpPr>
          <p:cNvPr id="9" name="S15-label128"/>
          <p:cNvSpPr txBox="1"/>
          <p:nvPr/>
        </p:nvSpPr>
        <p:spPr>
          <a:xfrm>
            <a:off x="868680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1876년, 개항</a:t>
            </a:r>
            <a:endParaRPr lang="ko-KR" sz="1800" dirty="0"/>
          </a:p>
        </p:txBody>
      </p:sp>
      <p:sp>
        <p:nvSpPr>
          <p:cNvPr id="10" name="S15-event129"/>
          <p:cNvSpPr/>
          <p:nvPr/>
        </p:nvSpPr>
        <p:spPr>
          <a:xfrm>
            <a:off x="4657725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S15-label130"/>
          <p:cNvSpPr txBox="1"/>
          <p:nvPr/>
        </p:nvSpPr>
        <p:spPr>
          <a:xfrm>
            <a:off x="3504438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국권 피탈</a:t>
            </a:r>
            <a:endParaRPr lang="ko-KR" sz="2200" dirty="0"/>
          </a:p>
        </p:txBody>
      </p:sp>
      <p:sp>
        <p:nvSpPr>
          <p:cNvPr id="12" name="S15-label131"/>
          <p:cNvSpPr txBox="1"/>
          <p:nvPr/>
        </p:nvSpPr>
        <p:spPr>
          <a:xfrm>
            <a:off x="3504438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1910년</a:t>
            </a:r>
            <a:endParaRPr lang="ko-KR" sz="1800" dirty="0"/>
          </a:p>
        </p:txBody>
      </p:sp>
      <p:sp>
        <p:nvSpPr>
          <p:cNvPr id="13" name="S15-event132"/>
          <p:cNvSpPr/>
          <p:nvPr/>
        </p:nvSpPr>
        <p:spPr>
          <a:xfrm>
            <a:off x="7293483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15-label133"/>
          <p:cNvSpPr txBox="1"/>
          <p:nvPr/>
        </p:nvSpPr>
        <p:spPr>
          <a:xfrm>
            <a:off x="6140196" y="2370201"/>
            <a:ext cx="2544318" cy="8032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3·1 운동</a:t>
            </a:r>
            <a:endParaRPr lang="ko-KR" sz="2200" dirty="0"/>
          </a:p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임시 정부</a:t>
            </a:r>
            <a:endParaRPr lang="ko-KR" sz="2200" dirty="0"/>
          </a:p>
        </p:txBody>
      </p:sp>
      <p:sp>
        <p:nvSpPr>
          <p:cNvPr id="15" name="S15-label134"/>
          <p:cNvSpPr txBox="1"/>
          <p:nvPr/>
        </p:nvSpPr>
        <p:spPr>
          <a:xfrm>
            <a:off x="6140196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1919년</a:t>
            </a:r>
            <a:endParaRPr lang="ko-KR" sz="1800" dirty="0"/>
          </a:p>
        </p:txBody>
      </p:sp>
      <p:sp>
        <p:nvSpPr>
          <p:cNvPr id="16" name="S15-event135"/>
          <p:cNvSpPr/>
          <p:nvPr/>
        </p:nvSpPr>
        <p:spPr>
          <a:xfrm>
            <a:off x="9929241" y="3283204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S15-label136"/>
          <p:cNvSpPr txBox="1"/>
          <p:nvPr/>
        </p:nvSpPr>
        <p:spPr>
          <a:xfrm>
            <a:off x="8775954" y="2719451"/>
            <a:ext cx="2544318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광복</a:t>
            </a:r>
            <a:endParaRPr lang="ko-KR" sz="2200" dirty="0"/>
          </a:p>
        </p:txBody>
      </p:sp>
      <p:sp>
        <p:nvSpPr>
          <p:cNvPr id="18" name="S15-label137"/>
          <p:cNvSpPr txBox="1"/>
          <p:nvPr/>
        </p:nvSpPr>
        <p:spPr>
          <a:xfrm>
            <a:off x="8775954" y="3630676"/>
            <a:ext cx="25443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ctr" indent="0" marL="0">
              <a:buNone/>
            </a:pPr>
            <a:r>
              <a:rPr lang="ko-KR" altLang="en-US" sz="18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1945년</a:t>
            </a:r>
            <a:endParaRPr lang="ko-KR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사회·역사 광복과 6·25전쟁</dc:title>
  <dc:subject>KR22-G05-SOC-LIBERATION-L01</dc:subject>
  <dc:creator>education-ppt</dc:creator>
  <cp:lastModifiedBy>education-ppt</cp:lastModifiedBy>
  <cp:revision>1</cp:revision>
  <dcterms:created xsi:type="dcterms:W3CDTF">2026-10-26T13:43:00Z</dcterms:created>
  <dcterms:modified xsi:type="dcterms:W3CDTF">2026-10-26T13:43:00Z</dcterms:modified>
</cp:coreProperties>
</file>