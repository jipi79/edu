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c6f03b7d-7cf9-5208-f264-6dd981720987}">
          <p14:sldIdLst>
            <p14:sldId id="256"/>
            <p14:sldId id="257"/>
          </p14:sldIdLst>
        </p14:section>
        <p14:section name="개념" id="{c9eb66b0-8bf2-b04b-b751-5459a19b4cc3}">
          <p14:sldIdLst>
            <p14:sldId id="258"/>
            <p14:sldId id="259"/>
            <p14:sldId id="260"/>
            <p14:sldId id="262"/>
            <p14:sldId id="263"/>
            <p14:sldId id="264"/>
          </p14:sldIdLst>
        </p14:section>
        <p14:section name="연습" id="{b99f8725-3ee3-bf4e-a512-a79caf617073}">
          <p14:sldIdLst>
            <p14:sldId id="261"/>
            <p14:sldId id="265"/>
            <p14:sldId id="266"/>
          </p14:sldIdLst>
        </p14:section>
        <p14:section name="개념" id="{14dcd7e1-3301-c7d3-0671-f306d70949f9}">
          <p14:sldIdLst/>
        </p14:section>
        <p14:section name="연습" id="{7b69d135-93d4-b4c0-a655-85374150cacf}">
          <p14:sldIdLst/>
        </p14:section>
        <p14:section name="확인" id="{2c458252-960e-d94f-fa29-05509ff3b9a0}">
          <p14:sldIdLst>
            <p14:sldId id="267"/>
          </p14:sldIdLst>
        </p14:section>
        <p14:section name="정리" id="{f0590e58-bea5-3c3e-7b47-bd77dd16ca97}">
          <p14:sldIdLst>
            <p14:sldId id="268"/>
          </p14:sldIdLst>
        </p14:section>
        <p14:section name="보충" id="{f570e2be-4b5d-3821-9bbc-9082655293ff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역사와생활 · 5차시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개항과 일제강점기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개항과 일제강점기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사회·역사 · 개항과 일제강점기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개항과 일제강점기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나라를 잃은 사람들은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위해 어떻게 노력했을까?</a:t>
            </a:r>
            <a:endParaRPr lang="ko-KR" sz="2800" dirty="0"/>
          </a:p>
        </p:txBody>
      </p:sp>
      <p:sp>
        <p:nvSpPr>
          <p:cNvPr id="4" name="S01-card1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개항부터 나라를 빼앗기기까지의 흐름을 말해요.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여러 가지 독립운동을 자료로 살펴요.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떠올리기</a:t>
            </a:r>
            <a:endParaRPr lang="ko-KR" sz="4000" dirty="0"/>
          </a:p>
        </p:txBody>
      </p:sp>
      <p:sp>
        <p:nvSpPr>
          <p:cNvPr id="3" name="S02-chip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02-text4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조선을 세운 사람과 해는?</a:t>
            </a:r>
            <a:endParaRPr lang="ko-KR" sz="2800" dirty="0"/>
          </a:p>
        </p:txBody>
      </p:sp>
      <p:sp>
        <p:nvSpPr>
          <p:cNvPr id="5" name="S02-chip5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02-text6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임진왜란 때 바다에서 나라를 지킨 장군은?</a:t>
            </a:r>
            <a:endParaRPr lang="ko-KR" sz="2800" dirty="0"/>
          </a:p>
        </p:txBody>
      </p:sp>
      <p:sp>
        <p:nvSpPr>
          <p:cNvPr id="7" name="S02-chip7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02-text8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의병은 어떤 사람들이었나요?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개항에서 광복까지</a:t>
            </a:r>
            <a:endParaRPr lang="ko-KR" sz="4000" dirty="0"/>
          </a:p>
        </p:txBody>
      </p:sp>
      <p:sp>
        <p:nvSpPr>
          <p:cNvPr id="3" name="S03-text9"/>
          <p:cNvSpPr txBox="1"/>
          <p:nvPr/>
        </p:nvSpPr>
        <p:spPr>
          <a:xfrm>
            <a:off x="548640" y="1325880"/>
            <a:ext cx="1109167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1876년 조선은 일본과 조약을 맺고 항구를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열었어요. 이것을 개항이라고 해요.</a:t>
            </a:r>
            <a:endParaRPr lang="ko-KR" sz="2800" dirty="0"/>
          </a:p>
        </p:txBody>
      </p:sp>
      <p:sp>
        <p:nvSpPr>
          <p:cNvPr id="4" name="S03-card10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1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일본에 나라를 빼앗긴 1910년부터 1945년까지를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일제강점기라고 해요.</a:t>
            </a:r>
            <a:endParaRPr lang="ko-KR" sz="2800" dirty="0"/>
          </a:p>
        </p:txBody>
      </p:sp>
      <p:sp>
        <p:nvSpPr>
          <p:cNvPr id="6" name="S03-line12"/>
          <p:cNvSpPr/>
          <p:nvPr/>
        </p:nvSpPr>
        <p:spPr>
          <a:xfrm>
            <a:off x="822960" y="3584448"/>
            <a:ext cx="10543032" cy="0"/>
          </a:xfrm>
          <a:prstGeom prst="line">
            <a:avLst/>
          </a:prstGeom>
          <a:noFill/>
          <a:ln w="38100">
            <a:solidFill>
              <a:srgbClr val="264653"/>
            </a:solidFill>
            <a:prstDash val="solid"/>
            <a:tailEnd type="triangle"/>
          </a:ln>
        </p:spPr>
      </p:sp>
      <p:sp>
        <p:nvSpPr>
          <p:cNvPr id="7" name="S03-event13"/>
          <p:cNvSpPr/>
          <p:nvPr/>
        </p:nvSpPr>
        <p:spPr>
          <a:xfrm>
            <a:off x="1758391" y="3465576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S03-label14"/>
          <p:cNvSpPr txBox="1"/>
          <p:nvPr/>
        </p:nvSpPr>
        <p:spPr>
          <a:xfrm>
            <a:off x="868680" y="2901823"/>
            <a:ext cx="2017166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강화도 조약</a:t>
            </a:r>
            <a:endParaRPr lang="ko-KR" sz="2200" dirty="0"/>
          </a:p>
        </p:txBody>
      </p:sp>
      <p:sp>
        <p:nvSpPr>
          <p:cNvPr id="9" name="S03-label15"/>
          <p:cNvSpPr txBox="1"/>
          <p:nvPr/>
        </p:nvSpPr>
        <p:spPr>
          <a:xfrm>
            <a:off x="868680" y="3813048"/>
            <a:ext cx="201716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1876년, 개항</a:t>
            </a:r>
            <a:endParaRPr lang="ko-KR" sz="1800" dirty="0"/>
          </a:p>
        </p:txBody>
      </p:sp>
      <p:sp>
        <p:nvSpPr>
          <p:cNvPr id="10" name="S03-event16"/>
          <p:cNvSpPr/>
          <p:nvPr/>
        </p:nvSpPr>
        <p:spPr>
          <a:xfrm>
            <a:off x="3866998" y="3465576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S03-label17"/>
          <p:cNvSpPr txBox="1"/>
          <p:nvPr/>
        </p:nvSpPr>
        <p:spPr>
          <a:xfrm>
            <a:off x="2977286" y="2901823"/>
            <a:ext cx="2017166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국권 피탈</a:t>
            </a:r>
            <a:endParaRPr lang="ko-KR" sz="2200" dirty="0"/>
          </a:p>
        </p:txBody>
      </p:sp>
      <p:sp>
        <p:nvSpPr>
          <p:cNvPr id="12" name="S03-label18"/>
          <p:cNvSpPr txBox="1"/>
          <p:nvPr/>
        </p:nvSpPr>
        <p:spPr>
          <a:xfrm>
            <a:off x="2977286" y="3813048"/>
            <a:ext cx="201716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1910년</a:t>
            </a:r>
            <a:endParaRPr lang="ko-KR" sz="1800" dirty="0"/>
          </a:p>
        </p:txBody>
      </p:sp>
      <p:sp>
        <p:nvSpPr>
          <p:cNvPr id="13" name="S03-event19"/>
          <p:cNvSpPr/>
          <p:nvPr/>
        </p:nvSpPr>
        <p:spPr>
          <a:xfrm>
            <a:off x="5975604" y="3465576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03-label20"/>
          <p:cNvSpPr txBox="1"/>
          <p:nvPr/>
        </p:nvSpPr>
        <p:spPr>
          <a:xfrm>
            <a:off x="5085893" y="2901823"/>
            <a:ext cx="2017166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3·1 운동</a:t>
            </a:r>
            <a:endParaRPr lang="ko-KR" sz="2200" dirty="0"/>
          </a:p>
        </p:txBody>
      </p:sp>
      <p:sp>
        <p:nvSpPr>
          <p:cNvPr id="15" name="S03-label21"/>
          <p:cNvSpPr txBox="1"/>
          <p:nvPr/>
        </p:nvSpPr>
        <p:spPr>
          <a:xfrm>
            <a:off x="5085893" y="3813048"/>
            <a:ext cx="201716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1919년</a:t>
            </a:r>
            <a:endParaRPr lang="ko-KR" sz="1800" dirty="0"/>
          </a:p>
        </p:txBody>
      </p:sp>
      <p:sp>
        <p:nvSpPr>
          <p:cNvPr id="16" name="S03-event22"/>
          <p:cNvSpPr/>
          <p:nvPr/>
        </p:nvSpPr>
        <p:spPr>
          <a:xfrm>
            <a:off x="8084210" y="3465576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S03-label23"/>
          <p:cNvSpPr txBox="1"/>
          <p:nvPr/>
        </p:nvSpPr>
        <p:spPr>
          <a:xfrm>
            <a:off x="7194499" y="2901823"/>
            <a:ext cx="2017166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임시 정부</a:t>
            </a:r>
            <a:endParaRPr lang="ko-KR" sz="2200" dirty="0"/>
          </a:p>
        </p:txBody>
      </p:sp>
      <p:sp>
        <p:nvSpPr>
          <p:cNvPr id="18" name="S03-label24"/>
          <p:cNvSpPr txBox="1"/>
          <p:nvPr/>
        </p:nvSpPr>
        <p:spPr>
          <a:xfrm>
            <a:off x="7194499" y="3813048"/>
            <a:ext cx="201716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1919년</a:t>
            </a:r>
            <a:endParaRPr lang="ko-KR" sz="1800" dirty="0"/>
          </a:p>
        </p:txBody>
      </p:sp>
      <p:sp>
        <p:nvSpPr>
          <p:cNvPr id="19" name="S03-event25"/>
          <p:cNvSpPr/>
          <p:nvPr/>
        </p:nvSpPr>
        <p:spPr>
          <a:xfrm>
            <a:off x="10192817" y="3465576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S03-label26"/>
          <p:cNvSpPr txBox="1"/>
          <p:nvPr/>
        </p:nvSpPr>
        <p:spPr>
          <a:xfrm>
            <a:off x="9303106" y="2901823"/>
            <a:ext cx="2017166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광복</a:t>
            </a:r>
            <a:endParaRPr lang="ko-KR" sz="2200" dirty="0"/>
          </a:p>
        </p:txBody>
      </p:sp>
      <p:sp>
        <p:nvSpPr>
          <p:cNvPr id="21" name="S03-label27"/>
          <p:cNvSpPr txBox="1"/>
          <p:nvPr/>
        </p:nvSpPr>
        <p:spPr>
          <a:xfrm>
            <a:off x="9303106" y="3813048"/>
            <a:ext cx="201716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1945년</a:t>
            </a:r>
            <a:endParaRPr lang="ko-KR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강화도 조약 읽기</a:t>
            </a:r>
            <a:endParaRPr lang="ko-KR" sz="4000" dirty="0"/>
          </a:p>
        </p:txBody>
      </p:sp>
      <p:sp>
        <p:nvSpPr>
          <p:cNvPr id="3" name="S04-card2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2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조약은 어느 나라에 더 유리할까요? 왜 그럴까요?</a:t>
            </a:r>
            <a:endParaRPr lang="ko-KR" sz="2800" dirty="0"/>
          </a:p>
        </p:txBody>
      </p:sp>
      <p:sp>
        <p:nvSpPr>
          <p:cNvPr id="5" name="S04-passagebox30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4-passage31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강화도 조약의 내용 가운데 일부(쉽게 풀어 씀)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조선은 부산 등 항구 세 곳을 열어 일본과 무역한다.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일본은 조선의 바닷가를 자유롭게 조사할 수 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일본 사람이 조선의 항구에서 죄를 지으면 일본 관리가 재판한다.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나라를 지키려는 노력</a:t>
            </a:r>
            <a:endParaRPr lang="ko-KR" sz="4000" dirty="0"/>
          </a:p>
        </p:txBody>
      </p:sp>
      <p:sp>
        <p:nvSpPr>
          <p:cNvPr id="3" name="S05-text3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일본의 간섭이 심해지자 사람들은 이렇게 노력했어요.</a:t>
            </a:r>
            <a:endParaRPr lang="ko-KR" sz="2800" dirty="0"/>
          </a:p>
        </p:txBody>
      </p:sp>
      <p:sp>
        <p:nvSpPr>
          <p:cNvPr id="4" name="S05-card3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3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그러나 일본은 1910년에 나라를 빼앗았어요.</a:t>
            </a:r>
            <a:endParaRPr lang="ko-KR" sz="2800" dirty="0"/>
          </a:p>
        </p:txBody>
      </p:sp>
      <p:sp>
        <p:nvSpPr>
          <p:cNvPr id="6" name="S05-card35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5-cardtext36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국채 보상 운동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나랏빚을 갚으려고 담배를 끊고 반지를 내놓아 돈을 모았어요.</a:t>
            </a:r>
            <a:endParaRPr lang="ko-KR" sz="2800" dirty="0"/>
          </a:p>
        </p:txBody>
      </p:sp>
      <p:sp>
        <p:nvSpPr>
          <p:cNvPr id="8" name="S05-card37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5-cardtext38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의병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나라를 지키려고 다시 의병이 일어났어요.</a:t>
            </a:r>
            <a:endParaRPr lang="ko-KR" sz="2800" dirty="0"/>
          </a:p>
        </p:txBody>
      </p:sp>
      <p:sp>
        <p:nvSpPr>
          <p:cNvPr id="10" name="S05-card39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5-cardtext40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학교와 신문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학교를 세우고 신문을 펴내 사람들을 깨우쳤어요.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일제강점기의 생활</a:t>
            </a:r>
            <a:endParaRPr lang="ko-KR" sz="4000" dirty="0"/>
          </a:p>
        </p:txBody>
      </p:sp>
      <p:sp>
        <p:nvSpPr>
          <p:cNvPr id="3" name="S06-text4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자료를 보고 생활이 어떻게 달라졌는지 짐작해요.</a:t>
            </a:r>
            <a:endParaRPr lang="ko-KR" sz="2800" dirty="0"/>
          </a:p>
        </p:txBody>
      </p:sp>
      <p:sp>
        <p:nvSpPr>
          <p:cNvPr id="4" name="S06-card4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4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‘자료로 보면 ~라고 생각할 수 있어요.’로 말해요.</a:t>
            </a:r>
            <a:endParaRPr lang="ko-KR" sz="2800" dirty="0"/>
          </a:p>
        </p:txBody>
      </p:sp>
      <p:sp>
        <p:nvSpPr>
          <p:cNvPr id="6" name="S06-chip44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6-text45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학교에서 우리말 대신 일본어로 공부하게 했어요.</a:t>
            </a:r>
            <a:endParaRPr lang="ko-KR" sz="2800" dirty="0"/>
          </a:p>
        </p:txBody>
      </p:sp>
      <p:sp>
        <p:nvSpPr>
          <p:cNvPr id="8" name="S06-chip46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6-text47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많은 쌀이 일본으로 실려 갔어요.</a:t>
            </a:r>
            <a:endParaRPr lang="ko-KR" sz="2800" dirty="0"/>
          </a:p>
        </p:txBody>
      </p:sp>
      <p:sp>
        <p:nvSpPr>
          <p:cNvPr id="10" name="S06-chip48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6-text49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이름을 일본식으로 바꾸게 했어요.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3·1 운동</a:t>
            </a:r>
            <a:endParaRPr lang="ko-KR" sz="4000" dirty="0"/>
          </a:p>
        </p:txBody>
      </p:sp>
      <p:sp>
        <p:nvSpPr>
          <p:cNvPr id="3" name="S07-card5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5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어른과 아이, 남자와 여자 모두 함께했어요.</a:t>
            </a:r>
            <a:endParaRPr lang="ko-KR" sz="2800" dirty="0"/>
          </a:p>
        </p:txBody>
      </p:sp>
      <p:sp>
        <p:nvSpPr>
          <p:cNvPr id="5" name="S07-text52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1919년 3월 1일, 사람들이 독립을 외쳤어요.</a:t>
            </a:r>
            <a:endParaRPr lang="ko-KR" sz="2800" dirty="0"/>
          </a:p>
        </p:txBody>
      </p:sp>
      <p:sp>
        <p:nvSpPr>
          <p:cNvPr id="6" name="S07-stepno53"/>
          <p:cNvSpPr txBox="1"/>
          <p:nvPr/>
        </p:nvSpPr>
        <p:spPr>
          <a:xfrm>
            <a:off x="548640" y="2875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7" name="S07-text54"/>
          <p:cNvSpPr txBox="1"/>
          <p:nvPr/>
        </p:nvSpPr>
        <p:spPr>
          <a:xfrm>
            <a:off x="1325880" y="287578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민족 대표들이 독립 선언서를 발표했어요.</a:t>
            </a:r>
            <a:endParaRPr lang="ko-KR" sz="2800" dirty="0"/>
          </a:p>
        </p:txBody>
      </p:sp>
      <p:sp>
        <p:nvSpPr>
          <p:cNvPr id="8" name="S07-stepno55"/>
          <p:cNvSpPr txBox="1"/>
          <p:nvPr/>
        </p:nvSpPr>
        <p:spPr>
          <a:xfrm>
            <a:off x="548640" y="35890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9" name="S07-text56"/>
          <p:cNvSpPr txBox="1"/>
          <p:nvPr/>
        </p:nvSpPr>
        <p:spPr>
          <a:xfrm>
            <a:off x="1325880" y="3589020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학생과 시민이 태극기를 들고 ‘대한 독립 만세’를 외쳤어요.</a:t>
            </a:r>
            <a:endParaRPr lang="ko-KR" sz="2800" dirty="0"/>
          </a:p>
        </p:txBody>
      </p:sp>
      <p:sp>
        <p:nvSpPr>
          <p:cNvPr id="10" name="S07-stepno57"/>
          <p:cNvSpPr txBox="1"/>
          <p:nvPr/>
        </p:nvSpPr>
        <p:spPr>
          <a:xfrm>
            <a:off x="548640" y="43022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1" name="S07-text58"/>
          <p:cNvSpPr txBox="1"/>
          <p:nvPr/>
        </p:nvSpPr>
        <p:spPr>
          <a:xfrm>
            <a:off x="1325880" y="430225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만세 운동이 전국과 나라 밖까지 퍼졌어요.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대한민국 임시 정부</a:t>
            </a:r>
            <a:endParaRPr lang="ko-KR" sz="4000" dirty="0"/>
          </a:p>
        </p:txBody>
      </p:sp>
      <p:sp>
        <p:nvSpPr>
          <p:cNvPr id="3" name="S08-text5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3·1 운동 뒤, 1919년 중국 상하이에 세워졌어요.</a:t>
            </a:r>
            <a:endParaRPr lang="ko-KR" sz="2800" dirty="0"/>
          </a:p>
        </p:txBody>
      </p:sp>
      <p:sp>
        <p:nvSpPr>
          <p:cNvPr id="4" name="S08-card6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6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김구 같은 사람들이 임시 정부를 이끌었어요.</a:t>
            </a:r>
            <a:endParaRPr lang="ko-KR" sz="2800" dirty="0"/>
          </a:p>
        </p:txBody>
      </p:sp>
      <p:sp>
        <p:nvSpPr>
          <p:cNvPr id="6" name="S08-card62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8-cardtext63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독립운동을 이끌었어요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 안팎의 독립운동을 하나로 모으려 했어요.</a:t>
            </a:r>
            <a:endParaRPr lang="ko-KR" sz="2800" dirty="0"/>
          </a:p>
        </p:txBody>
      </p:sp>
      <p:sp>
        <p:nvSpPr>
          <p:cNvPr id="8" name="S08-card64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8-cardtext65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 이름, 대한민국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국민이 주인인 민주 공화국을 내세웠어요.</a:t>
            </a:r>
            <a:endParaRPr lang="ko-KR" sz="2800" dirty="0"/>
          </a:p>
        </p:txBody>
      </p:sp>
      <p:sp>
        <p:nvSpPr>
          <p:cNvPr id="10" name="S08-card66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8-cardtext67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오늘날의 뿌리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오늘날 대한민국은 임시 정부를 이어받았어요.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가지 독립운동</a:t>
            </a:r>
            <a:endParaRPr lang="ko-KR" sz="4000" dirty="0"/>
          </a:p>
        </p:txBody>
      </p:sp>
      <p:sp>
        <p:nvSpPr>
          <p:cNvPr id="3" name="S09-text6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사람들은 저마다 할 수 있는 방법으로 힘썼어요.</a:t>
            </a:r>
            <a:endParaRPr lang="ko-KR" sz="2800" dirty="0"/>
          </a:p>
        </p:txBody>
      </p:sp>
      <p:sp>
        <p:nvSpPr>
          <p:cNvPr id="4" name="S09-card6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7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나라의 독립이라는 같은 목표를 위해 노력했어요.</a:t>
            </a:r>
            <a:endParaRPr lang="ko-KR" sz="2800" dirty="0"/>
          </a:p>
        </p:txBody>
      </p:sp>
      <p:graphicFrame>
        <p:nvGraphicFramePr>
          <p:cNvPr id="10" name="S09-table7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2362200"/>
          <a:ext cx="10972800" cy="914400"/>
        </p:xfrm>
        <a:graphic>
          <a:graphicData uri="http://schemas.openxmlformats.org/drawingml/2006/table">
            <a:tbl>
              <a:tblPr/>
              <a:tblGrid>
                <a:gridCol w="2633472"/>
                <a:gridCol w="8339328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방법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 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싸워서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독립군이 만주 등에서 일본군과 싸워 이기기도 했어요.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가르쳐서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학교를 세워 우리 역사와 글을 가르쳤어요.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우리말을 지켜서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조선어 학회가 우리말 사전을 만들려고 애썼어요.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알려서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나라 밖에 우리 사정을 알리고 도움을 구했어요.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방법이었을까?</a:t>
            </a:r>
            <a:endParaRPr lang="ko-KR" sz="4000" dirty="0"/>
          </a:p>
        </p:txBody>
      </p:sp>
      <p:sp>
        <p:nvSpPr>
          <p:cNvPr id="3" name="S10-text7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표의 방법 가운데 어디에 들어갈까요?</a:t>
            </a:r>
            <a:endParaRPr lang="ko-KR" sz="2800" dirty="0"/>
          </a:p>
        </p:txBody>
      </p:sp>
      <p:sp>
        <p:nvSpPr>
          <p:cNvPr id="4" name="S10-card7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7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사람의 공통점은 무엇일까요?</a:t>
            </a:r>
            <a:endParaRPr lang="ko-KR" sz="2800" dirty="0"/>
          </a:p>
        </p:txBody>
      </p:sp>
      <p:sp>
        <p:nvSpPr>
          <p:cNvPr id="6" name="S10-chip75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10-text76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안창호는 학교를 세워 나라를 이끌 사람을 길렀어요.</a:t>
            </a:r>
            <a:endParaRPr lang="ko-KR" sz="2800" dirty="0"/>
          </a:p>
        </p:txBody>
      </p:sp>
      <p:sp>
        <p:nvSpPr>
          <p:cNvPr id="8" name="S10-chip77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10-text78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홍범도는 봉오동에서 독립군을 이끌고 싸웠어요.</a:t>
            </a:r>
            <a:endParaRPr lang="ko-KR" sz="2800" dirty="0"/>
          </a:p>
        </p:txBody>
      </p:sp>
      <p:sp>
        <p:nvSpPr>
          <p:cNvPr id="10" name="S10-chip79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10-text80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주시경은 우리말과 한글을 연구하고 가르쳤어요.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3·1 운동은 소용없었을까?</a:t>
            </a:r>
            <a:endParaRPr lang="ko-KR" sz="4000" dirty="0"/>
          </a:p>
        </p:txBody>
      </p:sp>
      <p:sp>
        <p:nvSpPr>
          <p:cNvPr id="3" name="S11-card8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8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3·1 운동을 배우고 두 친구가 말했어요.</a:t>
            </a:r>
            <a:endParaRPr lang="ko-KR" sz="2800" dirty="0"/>
          </a:p>
        </p:txBody>
      </p:sp>
      <p:sp>
        <p:nvSpPr>
          <p:cNvPr id="5" name="S11-card8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1-cardtext8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생각에 고개가 끄덕여지나요? 까닭도 말해요.</a:t>
            </a:r>
            <a:endParaRPr lang="ko-KR" sz="2800" dirty="0"/>
          </a:p>
        </p:txBody>
      </p:sp>
      <p:sp>
        <p:nvSpPr>
          <p:cNvPr id="7" name="S11-chip85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11-text86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“바로 독립하지 못했으니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소용없었어요.”</a:t>
            </a:r>
            <a:endParaRPr lang="ko-KR" sz="2800" dirty="0"/>
          </a:p>
        </p:txBody>
      </p:sp>
      <p:sp>
        <p:nvSpPr>
          <p:cNvPr id="9" name="S11-chip87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11-text88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“바로 독립하지는 못했지만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임시 정부가 세워지고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독립운동이 더 활발해졌어요.”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2-chip89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12-text90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1876년, 1910년,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1919년에 있었던 일은?</a:t>
            </a:r>
            <a:endParaRPr lang="ko-KR" sz="2800" dirty="0"/>
          </a:p>
        </p:txBody>
      </p:sp>
      <p:sp>
        <p:nvSpPr>
          <p:cNvPr id="5" name="S12-chip91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12-text92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강화도 조약이 불평등했던 까닭 하나는?</a:t>
            </a:r>
            <a:endParaRPr lang="ko-KR" sz="2800" dirty="0"/>
          </a:p>
        </p:txBody>
      </p:sp>
      <p:sp>
        <p:nvSpPr>
          <p:cNvPr id="7" name="S12-chip93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12-text94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3·1 운동 뒤에 세워진 것은?</a:t>
            </a:r>
            <a:endParaRPr lang="ko-KR" sz="2800" dirty="0"/>
          </a:p>
        </p:txBody>
      </p:sp>
      <p:sp>
        <p:nvSpPr>
          <p:cNvPr id="9" name="S12-chip95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0" name="S12-text96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독립운동의 방법 두 가지를 예와 함께 말해요.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97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98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1910년 나라를 빼앗긴 뒤에도 사람들은 3·1 운동, 임시 정부,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독립군, 교육, 우리말 지키기로 독립을 위해 노력했어요.</a:t>
            </a:r>
            <a:endParaRPr lang="ko-KR" sz="2800" dirty="0"/>
          </a:p>
        </p:txBody>
      </p:sp>
      <p:sp>
        <p:nvSpPr>
          <p:cNvPr id="5" name="S14-chip99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무엇을 위해 어떻게 노력했나</a:t>
            </a:r>
            <a:endParaRPr lang="ko-KR" sz="2200" dirty="0"/>
          </a:p>
        </p:txBody>
      </p:sp>
      <p:sp>
        <p:nvSpPr>
          <p:cNvPr id="6" name="S14-chip100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싸움만 독립운동으로 보기</a:t>
            </a:r>
            <a:endParaRPr lang="ko-KR" sz="2200" dirty="0"/>
          </a:p>
        </p:txBody>
      </p:sp>
      <p:sp>
        <p:nvSpPr>
          <p:cNvPr id="7" name="S14-text101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text102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1876년에 일본과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맺은 조약은?</a:t>
            </a:r>
            <a:endParaRPr lang="ko-KR" sz="2200" dirty="0"/>
          </a:p>
        </p:txBody>
      </p:sp>
      <p:sp>
        <p:nvSpPr>
          <p:cNvPr id="9" name="S14-text103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3·1 운동은 몇 년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월 며칠?</a:t>
            </a:r>
            <a:endParaRPr lang="ko-KR" sz="2200" dirty="0"/>
          </a:p>
        </p:txBody>
      </p:sp>
      <p:sp>
        <p:nvSpPr>
          <p:cNvPr id="10" name="S14-text104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1919년 상하이에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세워진 것은?</a:t>
            </a:r>
            <a:endParaRPr lang="ko-KR" sz="2200" dirty="0"/>
          </a:p>
        </p:txBody>
      </p:sp>
      <p:sp>
        <p:nvSpPr>
          <p:cNvPr id="11" name="S14-text105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광복과 6·25전쟁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나라를 지킨 노력</a:t>
            </a:r>
            <a:endParaRPr lang="ko-KR" sz="4000" dirty="0"/>
          </a:p>
        </p:txBody>
      </p:sp>
      <p:sp>
        <p:nvSpPr>
          <p:cNvPr id="3" name="S15-text10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시간까지 배운 노력을 다시 봐요.</a:t>
            </a:r>
            <a:endParaRPr lang="ko-KR" sz="2800" dirty="0"/>
          </a:p>
        </p:txBody>
      </p:sp>
      <p:sp>
        <p:nvSpPr>
          <p:cNvPr id="4" name="S15-card10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10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나라가 어려울 때 사람들은 여러 방법으로 힘을 모았어요.</a:t>
            </a:r>
            <a:endParaRPr lang="ko-KR" sz="2800" dirty="0"/>
          </a:p>
        </p:txBody>
      </p:sp>
      <p:graphicFrame>
        <p:nvGraphicFramePr>
          <p:cNvPr id="15" name="S15-table10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2843784"/>
          <a:ext cx="10972800" cy="914400"/>
        </p:xfrm>
        <a:graphic>
          <a:graphicData uri="http://schemas.openxmlformats.org/drawingml/2006/table">
            <a:tbl>
              <a:tblPr/>
              <a:tblGrid>
                <a:gridCol w="1755648"/>
                <a:gridCol w="3950208"/>
                <a:gridCol w="5266944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어려움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나라를 지킨 노력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거란·몽골이 쳐들어옴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서희의 외교, 강감찬, 강화도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조선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임진왜란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이순신과 수군, 의병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사회·역사 개항과 일제강점기</dc:title>
  <dc:subject>KR22-G05-SOC-COLONIAL-L01</dc:subject>
  <dc:creator>education-ppt</dc:creator>
  <cp:lastModifiedBy>education-ppt</cp:lastModifiedBy>
  <cp:revision>1</cp:revision>
  <dcterms:created xsi:type="dcterms:W3CDTF">2026-10-26T13:42:58Z</dcterms:created>
  <dcterms:modified xsi:type="dcterms:W3CDTF">2026-10-26T13:42:58Z</dcterms:modified>
</cp:coreProperties>
</file>