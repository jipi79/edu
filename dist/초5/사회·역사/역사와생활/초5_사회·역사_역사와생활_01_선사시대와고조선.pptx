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498aed9-f9d3-d4f8-d298-da8f9b33086a}">
          <p14:sldIdLst>
            <p14:sldId id="256"/>
            <p14:sldId id="257"/>
          </p14:sldIdLst>
        </p14:section>
        <p14:section name="개념" id="{87818eed-2e56-b153-fabd-cccbad5d75ed}">
          <p14:sldIdLst>
            <p14:sldId id="258"/>
            <p14:sldId id="259"/>
            <p14:sldId id="260"/>
            <p14:sldId id="264"/>
            <p14:sldId id="265"/>
          </p14:sldIdLst>
        </p14:section>
        <p14:section name="연습" id="{a62f06a5-e8f8-9595-bf09-b93841017dd3}">
          <p14:sldIdLst>
            <p14:sldId id="261"/>
            <p14:sldId id="262"/>
            <p14:sldId id="263"/>
            <p14:sldId id="266"/>
          </p14:sldIdLst>
        </p14:section>
        <p14:section name="개념" id="{84a86445-4f34-3a10-c5e4-06936ddfa26b}">
          <p14:sldIdLst/>
        </p14:section>
        <p14:section name="연습" id="{cd2a2d77-45a9-33f8-859f-c70010074d62}">
          <p14:sldIdLst/>
        </p14:section>
        <p14:section name="확인" id="{87214458-2f79-08a4-2140-bd2b41975958}">
          <p14:sldIdLst>
            <p14:sldId id="267"/>
            <p14:sldId id="268"/>
          </p14:sldIdLst>
        </p14:section>
        <p14:section name="정리" id="{01bc369d-63de-294f-3455-05b3d876436c}">
          <p14:sldIdLst>
            <p14:sldId id="269"/>
          </p14:sldIdLst>
        </p14:section>
        <p14:section name="보충" id="{d5c95a2a-03b8-a8ca-462f-552aa49bfbd1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기록이 없는 시대의 일은 옛사람이 남긴 물건으로 알아낸다는 생각을 열어 줍니다.
시간: 약 2분
이렇게 말해 보세요
- “우리는 옛날 일을 책이나 기록으로 알 수 있어. 그런데 글자가 아예 없던 아주 먼 옛날의 일은 어떻게 알 수 있을까?”
- “오늘은 옛사람들이 남긴 물건으로 그때 생활을 짐작해 보고, 우리 역사에서 처음 세워진 나라 고조선을 알아볼 거야.”
예상 답
- “땅을 파서 찾아요.” “박물관에 있는 물건을 봐요.” “잘 모르겠어요.”
막히면
- 박물관에 가 본 경험이 있으면 “박물관 유리 상자 안에 무엇이 있었지?”라고 묻습니다.
주의
- 오늘 유물은 사진 없이 말과 간단한 윤곽 그림으로 설명합니다. 그림은 생김새를 짐작하게 돕는 것이며 실제 크기나 모양을 정확히 옮긴 것이 아닙니다.
- 표지 오른쪽 그림은 고인돌입니다. S07에서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확인(시간의 차례, 물건으로 생활 짐작하기)]
목적: 오늘 수업에 필요한 두 가지, 곧 일을 오래된 차례로 놓기와 옛 물건으로 옛날 생활을 짐작하기를 할 수 있는지 확인합니다. 3학년 ‘생활 도구의 변화’(KR22-G03-SOC-TOOLS-L01), 4학년 ‘지역의 역사’(KR22-G04-SOC-LOCALHIST-L01)에서 해 본 일입니다.
시간: 약 3분
이렇게 말해 보세요
- “①, 세 때를 가장 오래된 것부터 차례로 말해 볼래?”
- “②, 맷돌은 무슨 일을 하는 도구였지? 맷돌이 있었다는 걸로 옛날 사람들이 무엇을 했는지 알 수 있을까?”
- “③, 옛날 모습을 알려 주는 자료에는 무엇이 있었지?”
정답
- ① 할머니 어린 시절 → 엄마 어린 시절 → 오늘
- ② 네. 맷돌로 곡식을 갈았으니, 곡식이나 콩을 갈아 음식을 만들어 먹었다는 것을 알 수 있어요(하는 일과 생활을 이어 말하면 맞음).
- ③ 옛 물건(문화유산), 옛 사진, 옛 지도, 어르신 이야기, 책과 기록 가운데 두 가지
막히면
- ①은 “할머니가 어릴 때가 먼저야, 엄마가 어릴 때가 먼저야?”라고 둘씩 견주게 합니다.
- 차례 놓기나 물건으로 생활 짐작하기를 어려워하면 S15(보충)를 먼저 합니다. 앞 차시는 4학년 ‘지역의 역사’이고, 3학년 ‘생활 도구의 변화’와도 이어집니다.
주의
- ③에서 ‘옛 물건’이 나오면 “오늘은 그중에서도 아주아주 오래된 물건을 볼 거야.”라고 S03으로 이어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선사 시대의 뜻과 세 시대의 차례]
목적: 선사 시대와 유물의 뜻을 알려 주고, 도구를 만든 재료에 따라 붙인 세 시대 이름과 차례를 보여 줍니다(목표 A).
시간: 약 2분
이렇게 말해 보세요
- “글자가 없으니 일기도 책도 없었어. 그래서 땅속에서 찾아낸 옛사람의 물건, 곧 유물을 보고 생활을 짐작해.”
- “시대 이름은 사람들이 무엇으로 도구를 만들었는지에 따라 붙였어. ‘구’는 옛, ‘신’은 새롭다는 뜻이야. 화살표는 시간이 흐르는 쪽이야. 가장 오래된 시대는?”
예상 답
- “구석기 시대요.”
막히면
- 화살표 왼쪽 끝을 짚으며 “여기가 가장 먼 옛날이고, 오른쪽으로 갈수록 오늘에 가까워져.”라고 알려 줍니다.
주의
- 각 시대가 언제 시작되었는지 정확한 연도는 다루지 않습니다. 아주 오랜 시간에 걸쳐 천천히 바뀌었다는 것만 말합니다.
- 공룡은 사람이 나타나기 훨씬 전에 사라졌습니다. 아이가 ‘원시인이 공룡과 살았다’고 하면 바로잡아 줍니다(오해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시범(유물로 생활 짐작하기: 주먹도끼)]
목적: 유물의 모습 → 쓰임 → 생활 차례로 짐작하는 방법을 부모가 소리 내어 생각하며 보여 줍니다(목표 A).
시간: 약 4분
이렇게 말해 보세요
- “엄마(아빠)가 먼저 해 볼게. 모습을 보면 돌을 깨뜨리고 떼어 내서 끝이 뾰족하고 가장자리가 날카로워. 이렇게 돌을 깨뜨리거나 떼어 내 만든 도구를 ‘뗀석기’라고 해.”
- “이렇게 뾰족하고 날카로우면 무엇에 썼을까? 짐승을 잡거나, 잡은 짐승의 가죽을 벗기거나, 땅을 파서 뿌리를 캤겠지.”
- “그러니까 자료로 보면 구석기 사람들은 사냥하고 열매나 뿌리를 모아 먹을 것을 얻었다고 생각할 수 있어. 먹을 것이 떨어지면 다른 곳으로 옮겨 다녔고, 동굴이나 강가의 막집에서 살았어.”
예상 답
- 아이가 “칼처럼 썼어요.” “고기를 잘랐어요.”처럼 쓰임을 덧붙입니다.
막히면
- 주먹을 쥐어 보이며 “손에 꼭 쥐고 썼다고 해서 주먹도끼야. 이걸로 무엇을 할 수 있을까?”라고 묻습니다.
주의
- ‘사냥과 채집’은 짐승을 잡고, 열매나 뿌리를 따거나 캐어 모으는 일입니다.
- 주먹도끼는 경기도 연천 전곡리 같은 우리나라 여러 곳에서도 발견되었습니다(궁금해하면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뗀석기와 간석기 견주기]
목적: 뗀석기와 간석기를 견주어, 신석기 시대 사람들이 돌을 갈아 쓰임에 맞는 도구를 만들었다는 것을 알게 합니다(목표 A, 오해 M1).
시간: 약 3분
이렇게 말해 보세요
- “왼쪽은 깨뜨려 만든 뗀석기, 오른쪽은 돌을 갈아서 만든 간석기야. 두 도끼의 가장자리를 손가락으로 따라 그려 볼래? 무엇이 달라?”
- “신석기 사람들은 돌을 숫돌에 오래 갈아서 날을 고르게 만들었어. 간석기를 쓰면서 무엇이 좋아졌을까?”
예상 답
- “날이 고르고 잘 들어요.” “쓰기 편한 모양으로 만들 수 있어요.” “덜 부러져요.”
막히면
- 울퉁불퉁한 돌과 매끈한 칼을 떠올리게 하며 “어느 쪽으로 나무를 자르기 쉬울까?”라고 묻습니다.
주의
- 신석기 시대에는 간석기로 땅을 일구는 도구, 곡식을 가는 갈돌과 갈판 같은 농사 도구도 만들었습니다. S06에서 농사와 이어집니다.
- 그림은 생김새를 견주기 위한 간단한 윤곽입니다.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연습(빗살무늬 토기로 짐작하기)]
목적: S04의 짐작하는 순서(모습 → 쓰임 → 생활)를 아이가 직접 해 봅니다(목표 A).
시간: 약 3분
이렇게 말해 보세요
- “겉에 빗살처럼 짧은 금이 촘촘하지? 그래서 빗살무늬 토기라고 불러. 토기는 흙으로 빚어 구운 그릇이야.”
- “①부터 차례로 말해 볼래? 모습, 쓰임, 생활 순서로.”
정답
- ① 곡식이나 도토리 같은 열매를 담아 두거나, 물을 붓고 음식을 끓였어요.
- ② 강가나 바닷가의 모래땅에 꽂아 세워 썼다고 생각할 수 있어요.
- ③ 농사를 지어 거둔 곡식을 저장했다, 한곳에 머물러 살았다(정착 생활)고 생각할 수 있어요.
- 기준: 그릇의 쓰임과 생활을 이어 말하면 맞음
막히면
- “우리 집에서 쌀은 어디에 담아 둬? 국은 무엇에 끓여?”라고 오늘날 그릇과 견주게 합니다.
주의
- ②의 까닭은 학자들의 짐작 가운데 하나입니다. ‘생각할 수 있어요’로 말하게 합니다.
- 신석기 사람들은 강가나 바닷가에 움집(땅을 파고 기둥을 세워 지붕을 덮은 집)을 짓고 모여 살았고, 농사를 짓기 시작했으며 물고기잡이와 사냥도 했습니다. 가락바퀴로 실을 뽑고 뼈바늘로 옷을 지었습니다.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연습(청동기 시대 유물로 짐작하기)]
목적: 청동기 시대 유물 세 가지로 농사의 발달과 지배자의 등장을 짐작해 봅니다(목표 A, 오해 M3).
시간: 약 4분
이렇게 말해 보세요
- “청동은 구리에 주석을 섞어 만든 금속이야. 광석을 녹여 틀에 부어야 해서 만들기 어려웠어.”
- “①, 반달 돌칼은 반달 모양의 돌에 구멍 두 개를 뚫고 끈을 꿰어 손에 걸고 썼어. 곡식의 이삭을 땄다면 무엇을 짐작할 수 있을까?”
- “②, 귀한 청동 거울은 누가 가졌을까? ③, 고인돌의 덮개돌은 아주 무거워. 이 돌을 옮기려면 무엇이 필요했을까?”
정답
- ① 농사를 지었다(농사가 더 발달했다)고 생각할 수 있어요. 벼농사도 지었어요.
- ② 힘 있는 사람(지배자)이 가졌다고 생각할 수 있어요. 제사 같은 의식에 썼다고 보기도 해요.
- ③ 많은 사람이 힘을 모아야 했으니, 많은 사람을 이끌 만큼 힘센 지배자의 무덤이라고 생각할 수 있어요.
- 기준: 유물의 쓰임이나 모습을 근거로 생활을 짐작하면 맞음
막히면
- ③은 “이 큰 돌을 너 혼자 옮길 수 있을까? 몇 사람이 필요할까? 그 많은 사람을 누가 불러 모았을까?”라고 차례로 묻습니다.
주의
- 청동은 귀해서 무기·거울·방울 같은 물건에 주로 쓰였고, 곡식을 거두는 도구는 반달 돌칼처럼 여전히 돌로 만들었습니다(오해 M3).
- 우리나라에는 고인돌이 아주 많이 남아 있고, 고창·화순·강화의 고인돌 유적은 유네스코 세계 유산입니다.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비교(단정과 근거 있는 짐작)]
목적: 자료에 없는 것을 단정하는 말과, 자료를 근거로 짐작하는 말을 구별하게 합니다(목표 A, 오해 M2).
시간: 약 2분
이렇게 말해 보세요
- “고인돌을 보고 알 수 있는 건 무엇이었지? 가의 말에서 ‘모두 부자였다’는 고인돌로 알 수 있을까?”
- “역사를 짐작할 때는 ‘틀림없어요’보다 ‘자료로 보면 ~라고 생각할 수 있어요’라고 말해.”
정답
- 나. 고인돌(자료)로 알 수 있는 것, 곧 큰 돌을 옮길 많은 사람과 그들을 이끈 지배자가 있었다는 것만 근거로 짐작했기 때문이에요.
- 가는 자료에 없는 내용(모두 부자)을 ‘틀림없다’고 단정했어요.
막히면
- “고인돌에 ‘이 마을 사람은 모두 부자’라고 쓰여 있었어?”라고 묻습니다.
주의
- 누구를 고르는지보다 까닭을 말하는지를 봅니다.
- 여기까지가 선사 시대 부분입니다. 아이가 지치면 여기서 나누어 다음 날 S09부터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자료 읽기(고조선의 건국 이야기)]
목적: 고조선의 건국 이야기를 읽고, 건국 이야기도 그 시대를 짐작하는 자료가 된다는 것을 알게 합니다(목표 B, 오해 M4).
시간: 약 3분
이렇게 말해 보세요
- “고조선은 우리 역사에서 처음 세워진 나라야. 고조선이 세워진 이야기가 고려 때 쓰인 『삼국유사』라는 책에 전해 와.”
- “이야기를 같이 읽어 보자. 농사를 지으려면 무엇이 알맞게 와야 할까? 이야기에서 찾아볼래?”
예상 답
- “바람, 비, 구름이요.”
정답
- 바람·비·구름을 다스리는 신하. 농사에는 알맞은 비와 바람이 중요하므로 고조선 사람들이 농사를 중요하게 여겼다고 생각할 수 있어요.
막히면
- “비가 너무 안 오면 논밭은 어떻게 될까?”라고 묻습니다.
주의
- 건국 이야기는 있는 그대로 일어난 일이라기보다 그때 사람들의 생각이 담긴 이야기입니다. ‘거짓말이라 쓸모없다’고 하면 “이야기 속에 그때 사람들이 중요하게 여긴 것이 숨어 있어.”라고 말해 줍니다(오해 M4).
- 기원전 2333년은 『삼국유사』 등의 기록에 따라 ‘전해지는 해’입니다. ‘확실히 그해에 세워졌다’고 말하지 않습니다.
- ‘널리 사람을 이롭게 한다’는 뜻의 ‘홍익인간’은 오늘날 우리나라 교육의 이념으로도 쓰입니다(궁금해하면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건국 이야기로 고조선의 모습 짐작하기]
목적: 건국 이야기의 내용에서 고조선 사회의 모습을 짐작하는 방법을 보여 주고, 고조선이 청동기 문화를 바탕으로 세워졌음을 정리합니다(목표 B).
시간: 약 3분
이렇게 말해 보세요
- “첫째 줄은 방금 찾았지? 둘째 줄을 보자. 하늘에서 온 환웅의 무리와, 곰을 섬기던 무리가 힘을 합쳐 나라를 세웠다고 생각할 수 있어.”
- “‘단군’은 제사를 맡은 사람, ‘왕검’은 나라를 다스리는 사람이라는 뜻으로 봐. 그래서 단군왕검은 제사와 정치를 함께 이끈 지배자였다고 생각할 수 있어.”
- “고인돌과 청동 거울이 있던 청동기 시대에 지배자가 나타났지? 그런 지배자가 나라를 세운 것이 고조선이야.”
예상 답
- “곰이 진짜 사람이 된 건 아니고, 곰을 섬기는 사람들이었어요.”
막히면
- S07의 고인돌로 짐작한 ‘힘센 지배자’와 단군왕검을 이어 줍니다.
주의
- 둘째·셋째 줄은 학자들이 이야기를 풀이한 짐작입니다. ‘~라고 생각할 수 있어요’로 말합니다.
- 비파형 동검(비파라는 악기를 닮은 청동 검)과 탁자식 고인돌이 발견된 곳을 보고 고조선의 세력이 미친 곳을 짐작하기도 합니다(궁금해하면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연습(8조법으로 고조선 사회 짐작하기)]
목적: 8조법에서 고조선 사회의 모습(생명 존중, 농사와 곡식, 개인의 재산, 신분의 차이)을 짐작해 봅니다(목표 B).
시간: 약 3분
이렇게 말해 보세요
- “법을 보면 그 사회가 무엇을 지키려 했는지 알 수 있어. ①, 이 법으로 고조선 사람들이 무엇을 소중히 여겼다고 생각할 수 있을까?”
- “②, 다치게 한 값을 왜 곡식으로 갚았을까? ③, ‘노비’는 남의 집에 매여 일하며 자유롭지 못한 낮은 신분이야. 이 법으로 무엇을 알 수 있을까?”
정답
- ① 사람의 생명을 소중히 여겼어요.
- ② 농사를 지었고 곡식이 귀한 재산이었어요.
- ③ 자기 물건(재산)이 있었고, 노비라는 신분이 있어 사람들 사이에 신분의 차이가 있었어요.
- 기준: 법의 내용을 근거로 사회 모습을 한 가지씩 말하면 맞음
막히면
- “오늘날에도 남을 다치게 하면 무엇으로 갚게 하지?(돈)” “고조선에서는 곡식으로 갚았대. 그럼 곡식이 어떤 것이었을까?”
주의
- 법의 내용은 아이에게 무섭지 않게, ‘이런 일을 막으려고 법을 만들었다’는 쪽으로 이야기합니다.
- 8조법은 ‘범금 8조’라고도 하며, 8개 가운데 3개만 기록으로 전해집니다.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보기(처음 보는 유물, 차례 놓기, 고조선)]
목적: 처음 보는 유물로 생활을 짐작하고, 유물을 시대 차례로 놓고, 고조선의 건국을 말하는지 도움 없이 확인합니다(목표 A·B).
시간: 약 5분
이렇게 말해 보세요
- “이번에는 혼자 해 볼래? ②는 종이 카드 세 장에 유물 이름을 하나씩 써서 오래된 것부터 왼쪽에 놓아 봐.”
- “다 하면 왜 그렇게 생각했는지 말해 줘.”
정답
- ① 그물로 물고기를 잡았다(강가나 바닷가에 살았다)고 생각할 수 있어요. 그물추는 신석기 시대 유물이에요.
- ② 주먹도끼(구석기) → 빗살무늬 토기(신석기) → 청동 거울(청동기)
- ③ 단군왕검이 청동기 문화를 바탕으로 세웠어요(기원전 2333년이라고 전해져요).
- ④ 예: 농사를 중요하게 여겼다 / 곰을 섬기던 무리와 힘을 합쳤다 / 제사와 정치를 이끈 지배자가 있었다 (이야기 속 근거와 함께 말하면 맞음)
막히면
- 바로 알려 주지 말고 ①은 “그물추를 그물 끝에 매달면 그물이 어떻게 될까?(물속에 가라앉아요)”, ②는 “도구를 무엇으로 만들었는지 떠올려 봐.”라고만 묻습니다.
- 도움을 받아 해결했다면 기록표에 ‘도움’으로 표시합니다.
주의
- ①④는 ‘~라고 생각할 수 있어요’로 근거와 함께 말하면 맞습니다. 네 문제 가운데 세 개 이상 맞히면 목표를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S12의 답을 확인하고 흔한 실수와 견줍니다.
시간: 약 2분
이렇게 말해 보세요
- “네 답과 왼쪽을 견주어 보자. 오른쪽처럼 말하면 무엇이 아쉬울까?”
예상 답
- “모두 부자였다는 건 고인돌로 알 수 없어요.” “청동기는 맨 나중이에요.”
정답
- ① 물고기를 잡았다 ② 주먹도끼 → 빗살무늬 토기 → 청동 거울 ③ 단군왕검, 청동기 문화 ④ 예: 농사를 중요하게 여겼다
막히면
- ②가 틀렸다면 S03의 시간 띠를, ①④에서 근거가 없었다면 S04의 세 단계를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 질문을 알려 줍니다.
시간: 약 2분
이렇게 말해 보세요
- “유물로 옛날 생활을 짐작할 때 무엇을 차례로 살폈지?”
예상 답
- “모습, 쓰임, 생활이요.”
정답
- ① 신석기 시대 ② 많은 사람을 이끈 힘센 지배자가 있었다 ③ 단군왕검
막히면
- S03의 시간 띠와 S04의 세 단계를 다시 보여 줍니다.
주의
- 활동지 5(박물관이나 박물관 누리집에서 유물 찾기)는 선택 활동입니다. 다음 수업 전까지 함께 해 보면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보충(물건의 쓰임으로 생활 짐작하기)]
목적: S02에서 차례 놓기나 물건으로 생활 짐작하기를 어려워하면, 아이에게 익숙한 물건으로 ‘물건 → 쓰임 → 생활’을 먼저 익힙니다.
시간: 약 4분
이렇게 말해 보세요
- “책가방은 무엇에 쓰지? 책가방이 있는 걸 보면 이 집 아이는 무엇을 한다고 짐작할 수 있을까?”
- “이번에는 엄마(아빠)가 물건을 하나 가져올게. 쓰임과 생활을 말해 볼래?” (예: 우산, 수영 안경, 줄넘기)
- “차례 놓기도 해 보자. 네가 아기였을 때, 유치원 때, 지금을 오래된 차례로 말해 볼래?”
정답
- 예: 우산 – 비를 막아요 – 비가 오는 날이 있어요 / 수영 안경 – 물속에서 눈을 보호해요 – 수영을 배워요 (물건의 쓰임과 생활을 이어 말하면 맞음)
- 차례: 아기 때 → 유치원 때 → 지금
막히면
- 물건을 직접 들고 써 보게 한 뒤 “이걸 언제, 왜 써?”라고 묻습니다.
주의
- 보충 뒤에도 어려우면 3학년 ‘생활 도구의 변화’(KR22-G03-SOC-TOOLS-L01)를 먼저 하고 S02부터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선사 시대와 고조선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선사 시대와 고조선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선사 시대와 고조선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선사 시대와 고조선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글자가 없던 아주 먼 옛날의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생활을 어떻게 알 수 있을까?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탁자식 고인돌: 받침돌 두 개 위에 크고 넓적한 덮개돌을 올린 모습"/>
          <p:cNvSpPr/>
          <p:nvPr/>
        </p:nvSpPr>
        <p:spPr>
          <a:xfrm>
            <a:off x="8601287" y="1893993"/>
            <a:ext cx="392113" cy="941070"/>
          </a:xfrm>
          <a:custGeom>
            <a:avLst/>
            <a:gdLst/>
            <a:ahLst/>
            <a:cxnLst/>
            <a:rect l="l" t="t" r="r" b="b"/>
            <a:pathLst>
              <a:path w="392113" h="941070">
                <a:moveTo>
                  <a:pt x="0" y="941070"/>
                </a:moveTo>
                <a:lnTo>
                  <a:pt x="392113" y="941070"/>
                </a:lnTo>
                <a:lnTo>
                  <a:pt x="355515" y="0"/>
                </a:lnTo>
                <a:lnTo>
                  <a:pt x="41825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10300441" y="1893993"/>
            <a:ext cx="392113" cy="941070"/>
          </a:xfrm>
          <a:custGeom>
            <a:avLst/>
            <a:gdLst/>
            <a:ahLst/>
            <a:cxnLst/>
            <a:rect l="l" t="t" r="r" b="b"/>
            <a:pathLst>
              <a:path w="392113" h="941070">
                <a:moveTo>
                  <a:pt x="0" y="941070"/>
                </a:moveTo>
                <a:lnTo>
                  <a:pt x="392113" y="941070"/>
                </a:lnTo>
                <a:lnTo>
                  <a:pt x="350287" y="0"/>
                </a:lnTo>
                <a:lnTo>
                  <a:pt x="36597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921625" y="1371177"/>
            <a:ext cx="3450590" cy="522817"/>
          </a:xfrm>
          <a:custGeom>
            <a:avLst/>
            <a:gdLst/>
            <a:ahLst/>
            <a:cxnLst/>
            <a:rect l="l" t="t" r="r" b="b"/>
            <a:pathLst>
              <a:path w="3450590" h="522817">
                <a:moveTo>
                  <a:pt x="104563" y="522817"/>
                </a:moveTo>
                <a:lnTo>
                  <a:pt x="3346027" y="522817"/>
                </a:lnTo>
                <a:lnTo>
                  <a:pt x="3450590" y="261408"/>
                </a:lnTo>
                <a:lnTo>
                  <a:pt x="3136900" y="0"/>
                </a:lnTo>
                <a:lnTo>
                  <a:pt x="418253" y="26141"/>
                </a:lnTo>
                <a:lnTo>
                  <a:pt x="0" y="261408"/>
                </a:lnTo>
                <a:close/>
              </a:path>
            </a:pathLst>
          </a:custGeom>
          <a:solidFill>
            <a:srgbClr val="B5AFA5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7764780" y="2835063"/>
            <a:ext cx="3764280" cy="0"/>
          </a:xfrm>
          <a:prstGeom prst="line">
            <a:avLst/>
          </a:prstGeom>
          <a:noFill/>
          <a:ln w="25400">
            <a:solidFill>
              <a:srgbClr val="8A7F6E"/>
            </a:solidFill>
            <a:prstDash val="solid"/>
          </a:ln>
        </p:spPr>
      </p:sp>
      <p:sp>
        <p:nvSpPr>
          <p:cNvPr id="9" name="S01-card6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유물을 보고 선사 시대 사람들의 생활을 짐작해요.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고조선이 어떻게 세워졌는지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옛날을 알아보는 방법</a:t>
            </a:r>
            <a:endParaRPr lang="ko-KR" sz="4000" dirty="0"/>
          </a:p>
        </p:txBody>
      </p:sp>
      <p:sp>
        <p:nvSpPr>
          <p:cNvPr id="3" name="S02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3·4학년 때 배운 것을 떠올려요.</a:t>
            </a:r>
            <a:endParaRPr lang="ko-KR" sz="2800" dirty="0"/>
          </a:p>
        </p:txBody>
      </p:sp>
      <p:sp>
        <p:nvSpPr>
          <p:cNvPr id="4" name="S02-chip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10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 어린 시절, 오늘, 할머니 어린 시절을 오래된 차례로 놓아요.</a:t>
            </a:r>
            <a:endParaRPr lang="ko-KR" sz="2800" dirty="0"/>
          </a:p>
        </p:txBody>
      </p:sp>
      <p:sp>
        <p:nvSpPr>
          <p:cNvPr id="6" name="S02-chip1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12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맷돌을 보면 옛날 사람들이 무엇을 했는지 알 수 있나요?</a:t>
            </a:r>
            <a:endParaRPr lang="ko-KR" sz="2800" dirty="0"/>
          </a:p>
        </p:txBody>
      </p:sp>
      <p:sp>
        <p:nvSpPr>
          <p:cNvPr id="8" name="S02-chip13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4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 모습을 알려 주는 자료를 두 가지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선사 시대의 차례</a:t>
            </a:r>
            <a:endParaRPr lang="ko-KR" sz="4000" dirty="0"/>
          </a:p>
        </p:txBody>
      </p:sp>
      <p:sp>
        <p:nvSpPr>
          <p:cNvPr id="3" name="S03-text15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글자로 기록을 남기기 전의 아주 먼 옛날을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선사 시대라고 해요.</a:t>
            </a:r>
            <a:endParaRPr lang="ko-KR" sz="2800" dirty="0"/>
          </a:p>
        </p:txBody>
      </p:sp>
      <p:sp>
        <p:nvSpPr>
          <p:cNvPr id="4" name="S03-card1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옛사람이 남긴 물건을 유물이라고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유물로 그때의 생활을 짐작해요.</a:t>
            </a:r>
            <a:endParaRPr lang="ko-KR" sz="2800" dirty="0"/>
          </a:p>
        </p:txBody>
      </p:sp>
      <p:sp>
        <p:nvSpPr>
          <p:cNvPr id="6" name="S03-line18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3-event19"/>
          <p:cNvSpPr/>
          <p:nvPr/>
        </p:nvSpPr>
        <p:spPr>
          <a:xfrm>
            <a:off x="2461260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3-label20"/>
          <p:cNvSpPr txBox="1"/>
          <p:nvPr/>
        </p:nvSpPr>
        <p:spPr>
          <a:xfrm>
            <a:off x="868680" y="2901823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구석기 시대</a:t>
            </a:r>
            <a:endParaRPr lang="ko-KR" sz="2200" dirty="0"/>
          </a:p>
        </p:txBody>
      </p:sp>
      <p:sp>
        <p:nvSpPr>
          <p:cNvPr id="9" name="S03-label21"/>
          <p:cNvSpPr txBox="1"/>
          <p:nvPr/>
        </p:nvSpPr>
        <p:spPr>
          <a:xfrm>
            <a:off x="868680" y="3813048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깨뜨려 만든 도구</a:t>
            </a:r>
            <a:endParaRPr lang="ko-KR" sz="1800" dirty="0"/>
          </a:p>
        </p:txBody>
      </p:sp>
      <p:sp>
        <p:nvSpPr>
          <p:cNvPr id="10" name="S03-event22"/>
          <p:cNvSpPr/>
          <p:nvPr/>
        </p:nvSpPr>
        <p:spPr>
          <a:xfrm>
            <a:off x="5975604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3-label23"/>
          <p:cNvSpPr txBox="1"/>
          <p:nvPr/>
        </p:nvSpPr>
        <p:spPr>
          <a:xfrm>
            <a:off x="4383024" y="2901823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신석기 시대</a:t>
            </a:r>
            <a:endParaRPr lang="ko-KR" sz="2200" dirty="0"/>
          </a:p>
        </p:txBody>
      </p:sp>
      <p:sp>
        <p:nvSpPr>
          <p:cNvPr id="12" name="S03-label24"/>
          <p:cNvSpPr txBox="1"/>
          <p:nvPr/>
        </p:nvSpPr>
        <p:spPr>
          <a:xfrm>
            <a:off x="4383024" y="3813048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갈아 만든 도구</a:t>
            </a:r>
            <a:endParaRPr lang="ko-KR" sz="1800" dirty="0"/>
          </a:p>
        </p:txBody>
      </p:sp>
      <p:sp>
        <p:nvSpPr>
          <p:cNvPr id="13" name="S03-event25"/>
          <p:cNvSpPr/>
          <p:nvPr/>
        </p:nvSpPr>
        <p:spPr>
          <a:xfrm>
            <a:off x="9489948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3-label26"/>
          <p:cNvSpPr txBox="1"/>
          <p:nvPr/>
        </p:nvSpPr>
        <p:spPr>
          <a:xfrm>
            <a:off x="7897368" y="2901823"/>
            <a:ext cx="342290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청동기 시대</a:t>
            </a:r>
            <a:endParaRPr lang="ko-KR" sz="2200" dirty="0"/>
          </a:p>
        </p:txBody>
      </p:sp>
      <p:sp>
        <p:nvSpPr>
          <p:cNvPr id="15" name="S03-label27"/>
          <p:cNvSpPr txBox="1"/>
          <p:nvPr/>
        </p:nvSpPr>
        <p:spPr>
          <a:xfrm>
            <a:off x="7897368" y="3813048"/>
            <a:ext cx="34229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청동으로 만든 도구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주먹도끼로 짐작하기</a:t>
            </a:r>
            <a:endParaRPr lang="ko-KR" sz="4000" dirty="0"/>
          </a:p>
        </p:txBody>
      </p:sp>
      <p:sp>
        <p:nvSpPr>
          <p:cNvPr id="3" name="S04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구석기 시대 유물, 주먹도끼예요.</a:t>
            </a:r>
            <a:endParaRPr lang="ko-KR" sz="2800" dirty="0"/>
          </a:p>
        </p:txBody>
      </p:sp>
      <p:sp>
        <p:nvSpPr>
          <p:cNvPr id="4" name="S04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자료로 보면 ~라고 생각할 수 있어요.</a:t>
            </a:r>
            <a:endParaRPr lang="ko-KR" sz="2800" dirty="0"/>
          </a:p>
        </p:txBody>
      </p:sp>
      <p:sp>
        <p:nvSpPr>
          <p:cNvPr id="6" name="S04-figure31" descr="주먹도끼: 끝이 뾰족하고 가장자리가 울퉁불퉁한 돌도끼"/>
          <p:cNvSpPr/>
          <p:nvPr/>
        </p:nvSpPr>
        <p:spPr>
          <a:xfrm>
            <a:off x="8761993" y="2095500"/>
            <a:ext cx="1895309" cy="2490978"/>
          </a:xfrm>
          <a:custGeom>
            <a:avLst/>
            <a:gdLst/>
            <a:ahLst/>
            <a:cxnLst/>
            <a:rect l="l" t="t" r="r" b="b"/>
            <a:pathLst>
              <a:path w="1895309" h="2490978">
                <a:moveTo>
                  <a:pt x="928315" y="0"/>
                </a:moveTo>
                <a:lnTo>
                  <a:pt x="1160393" y="270758"/>
                </a:lnTo>
                <a:lnTo>
                  <a:pt x="1253225" y="232079"/>
                </a:lnTo>
                <a:lnTo>
                  <a:pt x="1407944" y="657556"/>
                </a:lnTo>
                <a:lnTo>
                  <a:pt x="1562663" y="696236"/>
                </a:lnTo>
                <a:lnTo>
                  <a:pt x="1663231" y="1121714"/>
                </a:lnTo>
                <a:lnTo>
                  <a:pt x="1817950" y="1237753"/>
                </a:lnTo>
                <a:lnTo>
                  <a:pt x="1794742" y="1663231"/>
                </a:lnTo>
                <a:lnTo>
                  <a:pt x="1895309" y="1856630"/>
                </a:lnTo>
                <a:lnTo>
                  <a:pt x="1740590" y="2204748"/>
                </a:lnTo>
                <a:lnTo>
                  <a:pt x="1508512" y="2398147"/>
                </a:lnTo>
                <a:lnTo>
                  <a:pt x="1160393" y="2490978"/>
                </a:lnTo>
                <a:lnTo>
                  <a:pt x="773596" y="2475506"/>
                </a:lnTo>
                <a:lnTo>
                  <a:pt x="464157" y="2413618"/>
                </a:lnTo>
                <a:lnTo>
                  <a:pt x="193399" y="2243427"/>
                </a:lnTo>
                <a:lnTo>
                  <a:pt x="15472" y="1933989"/>
                </a:lnTo>
                <a:lnTo>
                  <a:pt x="77360" y="1624551"/>
                </a:lnTo>
                <a:lnTo>
                  <a:pt x="0" y="1315113"/>
                </a:lnTo>
                <a:lnTo>
                  <a:pt x="193399" y="1083034"/>
                </a:lnTo>
                <a:lnTo>
                  <a:pt x="247551" y="734916"/>
                </a:lnTo>
                <a:lnTo>
                  <a:pt x="464157" y="618877"/>
                </a:lnTo>
                <a:lnTo>
                  <a:pt x="580197" y="270758"/>
                </a:lnTo>
                <a:lnTo>
                  <a:pt x="773596" y="232079"/>
                </a:lnTo>
                <a:close/>
              </a:path>
            </a:pathLst>
          </a:custGeom>
          <a:solidFill>
            <a:srgbClr val="D9C9AE"/>
          </a:solidFill>
          <a:ln w="25400">
            <a:solidFill>
              <a:srgbClr val="6B5B45"/>
            </a:solidFill>
            <a:prstDash val="solid"/>
          </a:ln>
        </p:spPr>
      </p:sp>
      <p:sp>
        <p:nvSpPr>
          <p:cNvPr id="7" name="S04-mark32"/>
          <p:cNvSpPr/>
          <p:nvPr/>
        </p:nvSpPr>
        <p:spPr>
          <a:xfrm>
            <a:off x="9690308" y="2366258"/>
            <a:ext cx="116039" cy="696236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8" name="S04-mark33"/>
          <p:cNvSpPr/>
          <p:nvPr/>
        </p:nvSpPr>
        <p:spPr>
          <a:xfrm>
            <a:off x="9187471" y="3062495"/>
            <a:ext cx="580197" cy="502837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9" name="S04-mark34"/>
          <p:cNvSpPr/>
          <p:nvPr/>
        </p:nvSpPr>
        <p:spPr>
          <a:xfrm flipH="1">
            <a:off x="9806347" y="3294573"/>
            <a:ext cx="464157" cy="348118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0" name="S04-mark35"/>
          <p:cNvSpPr/>
          <p:nvPr/>
        </p:nvSpPr>
        <p:spPr>
          <a:xfrm>
            <a:off x="9032752" y="3952130"/>
            <a:ext cx="618877" cy="193399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1" name="S04-mark36"/>
          <p:cNvSpPr/>
          <p:nvPr/>
        </p:nvSpPr>
        <p:spPr>
          <a:xfrm flipH="1">
            <a:off x="9922387" y="3990809"/>
            <a:ext cx="502837" cy="232079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2" name="S04-label37"/>
          <p:cNvSpPr txBox="1"/>
          <p:nvPr/>
        </p:nvSpPr>
        <p:spPr>
          <a:xfrm>
            <a:off x="7778984" y="4743450"/>
            <a:ext cx="38613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주먹도끼(뗀석기)</a:t>
            </a:r>
            <a:endParaRPr lang="ko-KR" sz="2200" dirty="0"/>
          </a:p>
        </p:txBody>
      </p:sp>
      <p:sp>
        <p:nvSpPr>
          <p:cNvPr id="13" name="S04-stepno38"/>
          <p:cNvSpPr txBox="1"/>
          <p:nvPr/>
        </p:nvSpPr>
        <p:spPr>
          <a:xfrm>
            <a:off x="548640" y="2145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4" name="S04-text39"/>
          <p:cNvSpPr txBox="1"/>
          <p:nvPr/>
        </p:nvSpPr>
        <p:spPr>
          <a:xfrm>
            <a:off x="1325880" y="2100072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모습: 돌을 깨뜨려 떼어 내서 끝이 뾰족하고 날카로워요.</a:t>
            </a:r>
            <a:endParaRPr lang="ko-KR" sz="2800" dirty="0"/>
          </a:p>
        </p:txBody>
      </p:sp>
      <p:sp>
        <p:nvSpPr>
          <p:cNvPr id="15" name="S04-stepno40"/>
          <p:cNvSpPr txBox="1"/>
          <p:nvPr/>
        </p:nvSpPr>
        <p:spPr>
          <a:xfrm>
            <a:off x="548640" y="3178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04-text41"/>
          <p:cNvSpPr txBox="1"/>
          <p:nvPr/>
        </p:nvSpPr>
        <p:spPr>
          <a:xfrm>
            <a:off x="1325880" y="3132328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쓰임: 짐승을 잡고, 가죽을 벗기고, 땅을 팠어요.</a:t>
            </a:r>
            <a:endParaRPr lang="ko-KR" sz="2800" dirty="0"/>
          </a:p>
        </p:txBody>
      </p:sp>
      <p:sp>
        <p:nvSpPr>
          <p:cNvPr id="17" name="S04-stepno42"/>
          <p:cNvSpPr txBox="1"/>
          <p:nvPr/>
        </p:nvSpPr>
        <p:spPr>
          <a:xfrm>
            <a:off x="548640" y="4210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8" name="S04-text43"/>
          <p:cNvSpPr txBox="1"/>
          <p:nvPr/>
        </p:nvSpPr>
        <p:spPr>
          <a:xfrm>
            <a:off x="1325880" y="4164584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생활: 사냥과 채집을 하며 살았다고 생각할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뗀석기와 간석기</a:t>
            </a:r>
            <a:endParaRPr lang="ko-KR" sz="4000" dirty="0"/>
          </a:p>
        </p:txBody>
      </p:sp>
      <p:sp>
        <p:nvSpPr>
          <p:cNvPr id="3" name="S05-card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구석기와 신석기 시대의 돌도끼예요.</a:t>
            </a:r>
            <a:endParaRPr lang="ko-KR" sz="2800" dirty="0"/>
          </a:p>
        </p:txBody>
      </p:sp>
      <p:sp>
        <p:nvSpPr>
          <p:cNvPr id="5" name="S05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간석기를 쓰면서 무엇이 좋아졌을까요?</a:t>
            </a:r>
            <a:endParaRPr lang="ko-KR" sz="2800" dirty="0"/>
          </a:p>
        </p:txBody>
      </p:sp>
      <p:sp>
        <p:nvSpPr>
          <p:cNvPr id="7" name="S05-chip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구석기: 뗀석기</a:t>
            </a:r>
            <a:endParaRPr lang="ko-KR" sz="2200" dirty="0"/>
          </a:p>
        </p:txBody>
      </p:sp>
      <p:sp>
        <p:nvSpPr>
          <p:cNvPr id="8" name="S05-figure49" descr="주먹도끼: 끝이 뾰족하고 가장자리가 울퉁불퉁한 돌도끼"/>
          <p:cNvSpPr/>
          <p:nvPr/>
        </p:nvSpPr>
        <p:spPr>
          <a:xfrm>
            <a:off x="2710440" y="3238500"/>
            <a:ext cx="1039357" cy="1366012"/>
          </a:xfrm>
          <a:custGeom>
            <a:avLst/>
            <a:gdLst/>
            <a:ahLst/>
            <a:cxnLst/>
            <a:rect l="l" t="t" r="r" b="b"/>
            <a:pathLst>
              <a:path w="1039357" h="1366012">
                <a:moveTo>
                  <a:pt x="509073" y="0"/>
                </a:moveTo>
                <a:lnTo>
                  <a:pt x="636341" y="148480"/>
                </a:lnTo>
                <a:lnTo>
                  <a:pt x="687248" y="127268"/>
                </a:lnTo>
                <a:lnTo>
                  <a:pt x="772094" y="360593"/>
                </a:lnTo>
                <a:lnTo>
                  <a:pt x="856939" y="381805"/>
                </a:lnTo>
                <a:lnTo>
                  <a:pt x="912089" y="615130"/>
                </a:lnTo>
                <a:lnTo>
                  <a:pt x="996934" y="678764"/>
                </a:lnTo>
                <a:lnTo>
                  <a:pt x="984207" y="912089"/>
                </a:lnTo>
                <a:lnTo>
                  <a:pt x="1039357" y="1018146"/>
                </a:lnTo>
                <a:lnTo>
                  <a:pt x="954511" y="1209048"/>
                </a:lnTo>
                <a:lnTo>
                  <a:pt x="827243" y="1315105"/>
                </a:lnTo>
                <a:lnTo>
                  <a:pt x="636341" y="1366012"/>
                </a:lnTo>
                <a:lnTo>
                  <a:pt x="424227" y="1357527"/>
                </a:lnTo>
                <a:lnTo>
                  <a:pt x="254536" y="1323589"/>
                </a:lnTo>
                <a:lnTo>
                  <a:pt x="106057" y="1230259"/>
                </a:lnTo>
                <a:lnTo>
                  <a:pt x="8485" y="1060568"/>
                </a:lnTo>
                <a:lnTo>
                  <a:pt x="42423" y="890877"/>
                </a:lnTo>
                <a:lnTo>
                  <a:pt x="0" y="721186"/>
                </a:lnTo>
                <a:lnTo>
                  <a:pt x="106057" y="593918"/>
                </a:lnTo>
                <a:lnTo>
                  <a:pt x="135753" y="403016"/>
                </a:lnTo>
                <a:lnTo>
                  <a:pt x="254536" y="339382"/>
                </a:lnTo>
                <a:lnTo>
                  <a:pt x="318170" y="148480"/>
                </a:lnTo>
                <a:lnTo>
                  <a:pt x="424227" y="127268"/>
                </a:lnTo>
                <a:close/>
              </a:path>
            </a:pathLst>
          </a:custGeom>
          <a:solidFill>
            <a:srgbClr val="D9C9AE"/>
          </a:solidFill>
          <a:ln w="25400">
            <a:solidFill>
              <a:srgbClr val="6B5B45"/>
            </a:solidFill>
            <a:prstDash val="solid"/>
          </a:ln>
        </p:spPr>
      </p:sp>
      <p:sp>
        <p:nvSpPr>
          <p:cNvPr id="9" name="S05-mark50"/>
          <p:cNvSpPr/>
          <p:nvPr/>
        </p:nvSpPr>
        <p:spPr>
          <a:xfrm>
            <a:off x="3219512" y="3386980"/>
            <a:ext cx="63634" cy="381805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0" name="S05-mark51"/>
          <p:cNvSpPr/>
          <p:nvPr/>
        </p:nvSpPr>
        <p:spPr>
          <a:xfrm>
            <a:off x="2943765" y="3768784"/>
            <a:ext cx="318170" cy="275748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1" name="S05-mark52"/>
          <p:cNvSpPr/>
          <p:nvPr/>
        </p:nvSpPr>
        <p:spPr>
          <a:xfrm flipH="1">
            <a:off x="3283146" y="3896052"/>
            <a:ext cx="254536" cy="190902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2" name="S05-mark53"/>
          <p:cNvSpPr/>
          <p:nvPr/>
        </p:nvSpPr>
        <p:spPr>
          <a:xfrm>
            <a:off x="2858919" y="4256646"/>
            <a:ext cx="339382" cy="106057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3" name="S05-mark54"/>
          <p:cNvSpPr/>
          <p:nvPr/>
        </p:nvSpPr>
        <p:spPr>
          <a:xfrm flipH="1">
            <a:off x="3346781" y="4277857"/>
            <a:ext cx="275748" cy="127268"/>
          </a:xfrm>
          <a:prstGeom prst="line">
            <a:avLst/>
          </a:prstGeom>
          <a:noFill/>
          <a:ln w="15875">
            <a:solidFill>
              <a:srgbClr val="8C7B65"/>
            </a:solidFill>
            <a:prstDash val="solid"/>
          </a:ln>
        </p:spPr>
      </p:sp>
      <p:sp>
        <p:nvSpPr>
          <p:cNvPr id="14" name="S05-text55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깨뜨리고 떼어 내 만들어요.</a:t>
            </a:r>
            <a:endParaRPr lang="ko-KR" sz="2200" dirty="0"/>
          </a:p>
        </p:txBody>
      </p:sp>
      <p:sp>
        <p:nvSpPr>
          <p:cNvPr id="15" name="S05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신석기: 간석기</a:t>
            </a:r>
            <a:endParaRPr lang="ko-KR" sz="2200" dirty="0"/>
          </a:p>
        </p:txBody>
      </p:sp>
      <p:sp>
        <p:nvSpPr>
          <p:cNvPr id="16" name="S05-figure57" descr="간돌도끼: 돌을 갈아 매끈하고, 아래쪽 날이 고르게 갈린 돌도끼"/>
          <p:cNvSpPr/>
          <p:nvPr/>
        </p:nvSpPr>
        <p:spPr>
          <a:xfrm>
            <a:off x="8635958" y="3238500"/>
            <a:ext cx="645751" cy="1366012"/>
          </a:xfrm>
          <a:custGeom>
            <a:avLst/>
            <a:gdLst/>
            <a:ahLst/>
            <a:cxnLst/>
            <a:rect l="l" t="t" r="r" b="b"/>
            <a:pathLst>
              <a:path w="645751" h="1366012">
                <a:moveTo>
                  <a:pt x="509150" y="124183"/>
                </a:moveTo>
                <a:lnTo>
                  <a:pt x="502941" y="91895"/>
                </a:lnTo>
                <a:lnTo>
                  <a:pt x="484313" y="62091"/>
                </a:lnTo>
                <a:lnTo>
                  <a:pt x="454509" y="36427"/>
                </a:lnTo>
                <a:lnTo>
                  <a:pt x="416013" y="16558"/>
                </a:lnTo>
                <a:lnTo>
                  <a:pt x="370893" y="4139"/>
                </a:lnTo>
                <a:lnTo>
                  <a:pt x="322876" y="0"/>
                </a:lnTo>
                <a:lnTo>
                  <a:pt x="274858" y="4139"/>
                </a:lnTo>
                <a:lnTo>
                  <a:pt x="229738" y="16558"/>
                </a:lnTo>
                <a:lnTo>
                  <a:pt x="191242" y="36427"/>
                </a:lnTo>
                <a:lnTo>
                  <a:pt x="161438" y="62091"/>
                </a:lnTo>
                <a:lnTo>
                  <a:pt x="142810" y="91895"/>
                </a:lnTo>
                <a:lnTo>
                  <a:pt x="136601" y="124183"/>
                </a:lnTo>
                <a:lnTo>
                  <a:pt x="119630" y="253333"/>
                </a:lnTo>
                <a:lnTo>
                  <a:pt x="102658" y="382897"/>
                </a:lnTo>
                <a:lnTo>
                  <a:pt x="85272" y="512461"/>
                </a:lnTo>
                <a:lnTo>
                  <a:pt x="68301" y="641612"/>
                </a:lnTo>
                <a:lnTo>
                  <a:pt x="51329" y="770762"/>
                </a:lnTo>
                <a:lnTo>
                  <a:pt x="33943" y="900326"/>
                </a:lnTo>
                <a:lnTo>
                  <a:pt x="16972" y="1029890"/>
                </a:lnTo>
                <a:lnTo>
                  <a:pt x="0" y="1159040"/>
                </a:lnTo>
                <a:lnTo>
                  <a:pt x="53813" y="1222374"/>
                </a:lnTo>
                <a:lnTo>
                  <a:pt x="107625" y="1274117"/>
                </a:lnTo>
                <a:lnTo>
                  <a:pt x="161438" y="1314269"/>
                </a:lnTo>
                <a:lnTo>
                  <a:pt x="215250" y="1342831"/>
                </a:lnTo>
                <a:lnTo>
                  <a:pt x="269063" y="1360217"/>
                </a:lnTo>
                <a:lnTo>
                  <a:pt x="322876" y="1366012"/>
                </a:lnTo>
                <a:lnTo>
                  <a:pt x="376688" y="1360217"/>
                </a:lnTo>
                <a:lnTo>
                  <a:pt x="430501" y="1342831"/>
                </a:lnTo>
                <a:lnTo>
                  <a:pt x="484313" y="1314269"/>
                </a:lnTo>
                <a:lnTo>
                  <a:pt x="538126" y="1274117"/>
                </a:lnTo>
                <a:lnTo>
                  <a:pt x="591939" y="1222374"/>
                </a:lnTo>
                <a:lnTo>
                  <a:pt x="645751" y="1159040"/>
                </a:lnTo>
                <a:lnTo>
                  <a:pt x="628779" y="1029890"/>
                </a:lnTo>
                <a:lnTo>
                  <a:pt x="611808" y="900326"/>
                </a:lnTo>
                <a:lnTo>
                  <a:pt x="594422" y="770762"/>
                </a:lnTo>
                <a:lnTo>
                  <a:pt x="577451" y="641612"/>
                </a:lnTo>
                <a:lnTo>
                  <a:pt x="560479" y="512461"/>
                </a:lnTo>
                <a:lnTo>
                  <a:pt x="543093" y="382897"/>
                </a:lnTo>
                <a:lnTo>
                  <a:pt x="526122" y="253333"/>
                </a:lnTo>
                <a:close/>
              </a:path>
            </a:pathLst>
          </a:custGeom>
          <a:solidFill>
            <a:srgbClr val="BFC8C4"/>
          </a:solidFill>
          <a:ln w="25400">
            <a:solidFill>
              <a:srgbClr val="4B5A55"/>
            </a:solidFill>
            <a:prstDash val="solid"/>
          </a:ln>
        </p:spPr>
      </p:sp>
      <p:sp>
        <p:nvSpPr>
          <p:cNvPr id="17" name="S05-mark58"/>
          <p:cNvSpPr/>
          <p:nvPr/>
        </p:nvSpPr>
        <p:spPr>
          <a:xfrm>
            <a:off x="8652516" y="4347867"/>
            <a:ext cx="612636" cy="0"/>
          </a:xfrm>
          <a:prstGeom prst="line">
            <a:avLst/>
          </a:prstGeom>
          <a:noFill/>
          <a:ln w="15875">
            <a:solidFill>
              <a:srgbClr val="7D8A85"/>
            </a:solidFill>
            <a:prstDash val="solid"/>
          </a:ln>
        </p:spPr>
      </p:sp>
      <p:sp>
        <p:nvSpPr>
          <p:cNvPr id="18" name="S05-text59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돌을 갈아서 매끈하게 만들어요.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빗살무늬 토기로 짐작하기</a:t>
            </a:r>
            <a:endParaRPr lang="ko-KR" sz="4000" dirty="0"/>
          </a:p>
        </p:txBody>
      </p:sp>
      <p:sp>
        <p:nvSpPr>
          <p:cNvPr id="3" name="S06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신석기 시대 유물이에요. 흙으로 빚어 불에 구웠어요.</a:t>
            </a:r>
            <a:endParaRPr lang="ko-KR" sz="2800" dirty="0"/>
          </a:p>
        </p:txBody>
      </p:sp>
      <p:sp>
        <p:nvSpPr>
          <p:cNvPr id="4" name="S06-figure61" descr="빗살무늬 토기: 아가리가 넓고 바닥이 뾰족하며 겉에 빗살 같은 짧은 빗금이 촘촘한 그릇"/>
          <p:cNvSpPr/>
          <p:nvPr/>
        </p:nvSpPr>
        <p:spPr>
          <a:xfrm>
            <a:off x="1133707" y="2095500"/>
            <a:ext cx="2691194" cy="3588258"/>
          </a:xfrm>
          <a:custGeom>
            <a:avLst/>
            <a:gdLst/>
            <a:ahLst/>
            <a:cxnLst/>
            <a:rect l="l" t="t" r="r" b="b"/>
            <a:pathLst>
              <a:path w="2691194" h="3588258">
                <a:moveTo>
                  <a:pt x="2691194" y="0"/>
                </a:moveTo>
                <a:lnTo>
                  <a:pt x="2648134" y="224266"/>
                </a:lnTo>
                <a:lnTo>
                  <a:pt x="2604178" y="448532"/>
                </a:lnTo>
                <a:lnTo>
                  <a:pt x="2558428" y="672798"/>
                </a:lnTo>
                <a:lnTo>
                  <a:pt x="2510884" y="897064"/>
                </a:lnTo>
                <a:lnTo>
                  <a:pt x="2461545" y="1121331"/>
                </a:lnTo>
                <a:lnTo>
                  <a:pt x="2409515" y="1345597"/>
                </a:lnTo>
                <a:lnTo>
                  <a:pt x="2354794" y="1569863"/>
                </a:lnTo>
                <a:lnTo>
                  <a:pt x="2297382" y="1794129"/>
                </a:lnTo>
                <a:lnTo>
                  <a:pt x="2235485" y="2018395"/>
                </a:lnTo>
                <a:lnTo>
                  <a:pt x="2169999" y="2242661"/>
                </a:lnTo>
                <a:lnTo>
                  <a:pt x="2098234" y="2466927"/>
                </a:lnTo>
                <a:lnTo>
                  <a:pt x="2018395" y="2691193"/>
                </a:lnTo>
                <a:lnTo>
                  <a:pt x="1928689" y="2915460"/>
                </a:lnTo>
                <a:lnTo>
                  <a:pt x="1821041" y="3139726"/>
                </a:lnTo>
                <a:lnTo>
                  <a:pt x="1681996" y="3363992"/>
                </a:lnTo>
                <a:lnTo>
                  <a:pt x="1345597" y="3588258"/>
                </a:lnTo>
                <a:lnTo>
                  <a:pt x="1009198" y="3363992"/>
                </a:lnTo>
                <a:lnTo>
                  <a:pt x="870153" y="3139726"/>
                </a:lnTo>
                <a:lnTo>
                  <a:pt x="762505" y="2915460"/>
                </a:lnTo>
                <a:lnTo>
                  <a:pt x="672798" y="2691193"/>
                </a:lnTo>
                <a:lnTo>
                  <a:pt x="592960" y="2466927"/>
                </a:lnTo>
                <a:lnTo>
                  <a:pt x="521194" y="2242661"/>
                </a:lnTo>
                <a:lnTo>
                  <a:pt x="455709" y="2018395"/>
                </a:lnTo>
                <a:lnTo>
                  <a:pt x="393811" y="1794129"/>
                </a:lnTo>
                <a:lnTo>
                  <a:pt x="336399" y="1569863"/>
                </a:lnTo>
                <a:lnTo>
                  <a:pt x="281678" y="1345597"/>
                </a:lnTo>
                <a:lnTo>
                  <a:pt x="229649" y="1121331"/>
                </a:lnTo>
                <a:lnTo>
                  <a:pt x="180310" y="897064"/>
                </a:lnTo>
                <a:lnTo>
                  <a:pt x="132766" y="672798"/>
                </a:lnTo>
                <a:lnTo>
                  <a:pt x="87015" y="448532"/>
                </a:lnTo>
                <a:lnTo>
                  <a:pt x="43059" y="224266"/>
                </a:lnTo>
                <a:lnTo>
                  <a:pt x="0" y="0"/>
                </a:lnTo>
                <a:close/>
              </a:path>
            </a:pathLst>
          </a:custGeom>
          <a:solidFill>
            <a:srgbClr val="E7C9A4"/>
          </a:solidFill>
          <a:ln w="25400">
            <a:solidFill>
              <a:srgbClr val="7A5230"/>
            </a:solidFill>
            <a:prstDash val="solid"/>
          </a:ln>
        </p:spPr>
      </p:sp>
      <p:sp>
        <p:nvSpPr>
          <p:cNvPr id="5" name="S06-mark62"/>
          <p:cNvSpPr/>
          <p:nvPr/>
        </p:nvSpPr>
        <p:spPr>
          <a:xfrm flipV="1">
            <a:off x="1391165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6" name="S06-mark63"/>
          <p:cNvSpPr/>
          <p:nvPr/>
        </p:nvSpPr>
        <p:spPr>
          <a:xfrm flipV="1">
            <a:off x="1588519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7" name="S06-mark64"/>
          <p:cNvSpPr/>
          <p:nvPr/>
        </p:nvSpPr>
        <p:spPr>
          <a:xfrm flipV="1">
            <a:off x="1785873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8" name="S06-mark65"/>
          <p:cNvSpPr/>
          <p:nvPr/>
        </p:nvSpPr>
        <p:spPr>
          <a:xfrm flipV="1">
            <a:off x="1983227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9" name="S06-mark66"/>
          <p:cNvSpPr/>
          <p:nvPr/>
        </p:nvSpPr>
        <p:spPr>
          <a:xfrm flipV="1">
            <a:off x="2180582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0" name="S06-mark67"/>
          <p:cNvSpPr/>
          <p:nvPr/>
        </p:nvSpPr>
        <p:spPr>
          <a:xfrm flipV="1">
            <a:off x="2377936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1" name="S06-mark68"/>
          <p:cNvSpPr/>
          <p:nvPr/>
        </p:nvSpPr>
        <p:spPr>
          <a:xfrm flipV="1">
            <a:off x="2575290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2" name="S06-mark69"/>
          <p:cNvSpPr/>
          <p:nvPr/>
        </p:nvSpPr>
        <p:spPr>
          <a:xfrm flipV="1">
            <a:off x="2772644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3" name="S06-mark70"/>
          <p:cNvSpPr/>
          <p:nvPr/>
        </p:nvSpPr>
        <p:spPr>
          <a:xfrm flipV="1">
            <a:off x="2969998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4" name="S06-mark71"/>
          <p:cNvSpPr/>
          <p:nvPr/>
        </p:nvSpPr>
        <p:spPr>
          <a:xfrm flipV="1">
            <a:off x="3167353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5" name="S06-mark72"/>
          <p:cNvSpPr/>
          <p:nvPr/>
        </p:nvSpPr>
        <p:spPr>
          <a:xfrm flipV="1">
            <a:off x="3364707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6" name="S06-mark73"/>
          <p:cNvSpPr/>
          <p:nvPr/>
        </p:nvSpPr>
        <p:spPr>
          <a:xfrm flipV="1">
            <a:off x="3562061" y="2203148"/>
            <a:ext cx="53824" cy="296031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7" name="S06-mark74"/>
          <p:cNvSpPr/>
          <p:nvPr/>
        </p:nvSpPr>
        <p:spPr>
          <a:xfrm flipV="1">
            <a:off x="1528416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8" name="S06-mark75"/>
          <p:cNvSpPr/>
          <p:nvPr/>
        </p:nvSpPr>
        <p:spPr>
          <a:xfrm flipV="1">
            <a:off x="1743711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19" name="S06-mark76"/>
          <p:cNvSpPr/>
          <p:nvPr/>
        </p:nvSpPr>
        <p:spPr>
          <a:xfrm flipV="1">
            <a:off x="1959007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0" name="S06-mark77"/>
          <p:cNvSpPr/>
          <p:nvPr/>
        </p:nvSpPr>
        <p:spPr>
          <a:xfrm flipV="1">
            <a:off x="2174302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1" name="S06-mark78"/>
          <p:cNvSpPr/>
          <p:nvPr/>
        </p:nvSpPr>
        <p:spPr>
          <a:xfrm flipV="1">
            <a:off x="2389598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2" name="S06-mark79"/>
          <p:cNvSpPr/>
          <p:nvPr/>
        </p:nvSpPr>
        <p:spPr>
          <a:xfrm flipV="1">
            <a:off x="2604893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3" name="S06-mark80"/>
          <p:cNvSpPr/>
          <p:nvPr/>
        </p:nvSpPr>
        <p:spPr>
          <a:xfrm flipV="1">
            <a:off x="2820189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4" name="S06-mark81"/>
          <p:cNvSpPr/>
          <p:nvPr/>
        </p:nvSpPr>
        <p:spPr>
          <a:xfrm flipV="1">
            <a:off x="3035484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5" name="S06-mark82"/>
          <p:cNvSpPr/>
          <p:nvPr/>
        </p:nvSpPr>
        <p:spPr>
          <a:xfrm flipV="1">
            <a:off x="3250780" y="2678592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6" name="S06-mark83"/>
          <p:cNvSpPr/>
          <p:nvPr/>
        </p:nvSpPr>
        <p:spPr>
          <a:xfrm flipH="1" flipV="1">
            <a:off x="1619019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7" name="S06-mark84"/>
          <p:cNvSpPr/>
          <p:nvPr/>
        </p:nvSpPr>
        <p:spPr>
          <a:xfrm flipH="1" flipV="1">
            <a:off x="1834315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8" name="S06-mark85"/>
          <p:cNvSpPr/>
          <p:nvPr/>
        </p:nvSpPr>
        <p:spPr>
          <a:xfrm flipH="1" flipV="1">
            <a:off x="2049610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29" name="S06-mark86"/>
          <p:cNvSpPr/>
          <p:nvPr/>
        </p:nvSpPr>
        <p:spPr>
          <a:xfrm flipH="1" flipV="1">
            <a:off x="2264906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0" name="S06-mark87"/>
          <p:cNvSpPr/>
          <p:nvPr/>
        </p:nvSpPr>
        <p:spPr>
          <a:xfrm flipH="1" flipV="1">
            <a:off x="2480201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1" name="S06-mark88"/>
          <p:cNvSpPr/>
          <p:nvPr/>
        </p:nvSpPr>
        <p:spPr>
          <a:xfrm flipH="1" flipV="1">
            <a:off x="2695497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2" name="S06-mark89"/>
          <p:cNvSpPr/>
          <p:nvPr/>
        </p:nvSpPr>
        <p:spPr>
          <a:xfrm flipH="1" flipV="1">
            <a:off x="2910792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3" name="S06-mark90"/>
          <p:cNvSpPr/>
          <p:nvPr/>
        </p:nvSpPr>
        <p:spPr>
          <a:xfrm flipH="1" flipV="1">
            <a:off x="3126088" y="3082271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4" name="S06-mark91"/>
          <p:cNvSpPr/>
          <p:nvPr/>
        </p:nvSpPr>
        <p:spPr>
          <a:xfrm flipV="1">
            <a:off x="1716799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5" name="S06-mark92"/>
          <p:cNvSpPr/>
          <p:nvPr/>
        </p:nvSpPr>
        <p:spPr>
          <a:xfrm flipV="1">
            <a:off x="1932095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6" name="S06-mark93"/>
          <p:cNvSpPr/>
          <p:nvPr/>
        </p:nvSpPr>
        <p:spPr>
          <a:xfrm flipV="1">
            <a:off x="2147390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7" name="S06-mark94"/>
          <p:cNvSpPr/>
          <p:nvPr/>
        </p:nvSpPr>
        <p:spPr>
          <a:xfrm flipV="1">
            <a:off x="2362686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8" name="S06-mark95"/>
          <p:cNvSpPr/>
          <p:nvPr/>
        </p:nvSpPr>
        <p:spPr>
          <a:xfrm flipV="1">
            <a:off x="2577981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39" name="S06-mark96"/>
          <p:cNvSpPr/>
          <p:nvPr/>
        </p:nvSpPr>
        <p:spPr>
          <a:xfrm flipV="1">
            <a:off x="2793277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0" name="S06-mark97"/>
          <p:cNvSpPr/>
          <p:nvPr/>
        </p:nvSpPr>
        <p:spPr>
          <a:xfrm flipV="1">
            <a:off x="3008572" y="3485950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1" name="S06-mark98"/>
          <p:cNvSpPr/>
          <p:nvPr/>
        </p:nvSpPr>
        <p:spPr>
          <a:xfrm flipH="1" flipV="1">
            <a:off x="1826241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2" name="S06-mark99"/>
          <p:cNvSpPr/>
          <p:nvPr/>
        </p:nvSpPr>
        <p:spPr>
          <a:xfrm flipH="1" flipV="1">
            <a:off x="2041537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3" name="S06-mark100"/>
          <p:cNvSpPr/>
          <p:nvPr/>
        </p:nvSpPr>
        <p:spPr>
          <a:xfrm flipH="1" flipV="1">
            <a:off x="2256832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4" name="S06-mark101"/>
          <p:cNvSpPr/>
          <p:nvPr/>
        </p:nvSpPr>
        <p:spPr>
          <a:xfrm flipH="1" flipV="1">
            <a:off x="2472128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5" name="S06-mark102"/>
          <p:cNvSpPr/>
          <p:nvPr/>
        </p:nvSpPr>
        <p:spPr>
          <a:xfrm flipH="1" flipV="1">
            <a:off x="2687423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6" name="S06-mark103"/>
          <p:cNvSpPr/>
          <p:nvPr/>
        </p:nvSpPr>
        <p:spPr>
          <a:xfrm flipH="1" flipV="1">
            <a:off x="2902719" y="3889629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7" name="S06-mark104"/>
          <p:cNvSpPr/>
          <p:nvPr/>
        </p:nvSpPr>
        <p:spPr>
          <a:xfrm flipV="1">
            <a:off x="1950933" y="4293308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8" name="S06-mark105"/>
          <p:cNvSpPr/>
          <p:nvPr/>
        </p:nvSpPr>
        <p:spPr>
          <a:xfrm flipV="1">
            <a:off x="2166229" y="4293308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49" name="S06-mark106"/>
          <p:cNvSpPr/>
          <p:nvPr/>
        </p:nvSpPr>
        <p:spPr>
          <a:xfrm flipV="1">
            <a:off x="2381524" y="4293308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50" name="S06-mark107"/>
          <p:cNvSpPr/>
          <p:nvPr/>
        </p:nvSpPr>
        <p:spPr>
          <a:xfrm flipV="1">
            <a:off x="2596820" y="4293308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51" name="S06-mark108"/>
          <p:cNvSpPr/>
          <p:nvPr/>
        </p:nvSpPr>
        <p:spPr>
          <a:xfrm flipV="1">
            <a:off x="2812115" y="4293308"/>
            <a:ext cx="125589" cy="269119"/>
          </a:xfrm>
          <a:prstGeom prst="line">
            <a:avLst/>
          </a:prstGeom>
          <a:noFill/>
          <a:ln w="12700">
            <a:solidFill>
              <a:srgbClr val="7A5230"/>
            </a:solidFill>
            <a:prstDash val="solid"/>
          </a:ln>
        </p:spPr>
      </p:sp>
      <p:sp>
        <p:nvSpPr>
          <p:cNvPr id="52" name="S06-label109"/>
          <p:cNvSpPr txBox="1"/>
          <p:nvPr/>
        </p:nvSpPr>
        <p:spPr>
          <a:xfrm>
            <a:off x="548640" y="5840730"/>
            <a:ext cx="3861328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빗살무늬 토기</a:t>
            </a:r>
            <a:endParaRPr lang="ko-KR" sz="2200" dirty="0"/>
          </a:p>
        </p:txBody>
      </p:sp>
      <p:sp>
        <p:nvSpPr>
          <p:cNvPr id="53" name="S06-card110"/>
          <p:cNvSpPr/>
          <p:nvPr/>
        </p:nvSpPr>
        <p:spPr>
          <a:xfrm>
            <a:off x="4775728" y="2419096"/>
            <a:ext cx="686458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4" name="S06-cardtext111"/>
          <p:cNvSpPr txBox="1"/>
          <p:nvPr/>
        </p:nvSpPr>
        <p:spPr>
          <a:xfrm>
            <a:off x="5050048" y="2556256"/>
            <a:ext cx="6315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 그릇에 무엇을 담았을까요?</a:t>
            </a:r>
            <a:endParaRPr lang="ko-KR" sz="2800" dirty="0"/>
          </a:p>
        </p:txBody>
      </p:sp>
      <p:sp>
        <p:nvSpPr>
          <p:cNvPr id="55" name="S06-card112"/>
          <p:cNvSpPr/>
          <p:nvPr/>
        </p:nvSpPr>
        <p:spPr>
          <a:xfrm>
            <a:off x="4775728" y="3516376"/>
            <a:ext cx="686458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6" name="S06-cardtext113"/>
          <p:cNvSpPr txBox="1"/>
          <p:nvPr/>
        </p:nvSpPr>
        <p:spPr>
          <a:xfrm>
            <a:off x="5050048" y="3653536"/>
            <a:ext cx="6315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바닥은 왜 뾰족할까요?</a:t>
            </a:r>
            <a:endParaRPr lang="ko-KR" sz="2800" dirty="0"/>
          </a:p>
        </p:txBody>
      </p:sp>
      <p:sp>
        <p:nvSpPr>
          <p:cNvPr id="57" name="S06-card114"/>
          <p:cNvSpPr/>
          <p:nvPr/>
        </p:nvSpPr>
        <p:spPr>
          <a:xfrm>
            <a:off x="4775728" y="4613656"/>
            <a:ext cx="686458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8" name="S06-cardtext115"/>
          <p:cNvSpPr txBox="1"/>
          <p:nvPr/>
        </p:nvSpPr>
        <p:spPr>
          <a:xfrm>
            <a:off x="5050048" y="4750816"/>
            <a:ext cx="631594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어떤 생활을 했다고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생각할 수 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청동기 시대 유물로 짐작하기</a:t>
            </a:r>
            <a:endParaRPr lang="ko-KR" sz="4000" dirty="0"/>
          </a:p>
        </p:txBody>
      </p:sp>
      <p:sp>
        <p:nvSpPr>
          <p:cNvPr id="3" name="S07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‘자료로 보면 ~라고 생각할 수 있어요.’로 말해요.</a:t>
            </a:r>
            <a:endParaRPr lang="ko-KR" sz="2800" dirty="0"/>
          </a:p>
        </p:txBody>
      </p:sp>
      <p:sp>
        <p:nvSpPr>
          <p:cNvPr id="5" name="S07-card118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119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고인돌</a:t>
            </a:r>
            <a:endParaRPr lang="ko-KR" sz="2800" dirty="0"/>
          </a:p>
        </p:txBody>
      </p:sp>
      <p:sp>
        <p:nvSpPr>
          <p:cNvPr id="7" name="S07-figure120" descr="탁자식 고인돌: 받침돌 두 개 위에 크고 넓적한 덮개돌을 올린 모습"/>
          <p:cNvSpPr/>
          <p:nvPr/>
        </p:nvSpPr>
        <p:spPr>
          <a:xfrm>
            <a:off x="7668091" y="3216571"/>
            <a:ext cx="484029" cy="1161669"/>
          </a:xfrm>
          <a:custGeom>
            <a:avLst/>
            <a:gdLst/>
            <a:ahLst/>
            <a:cxnLst/>
            <a:rect l="l" t="t" r="r" b="b"/>
            <a:pathLst>
              <a:path w="484029" h="1161669">
                <a:moveTo>
                  <a:pt x="0" y="1161669"/>
                </a:moveTo>
                <a:lnTo>
                  <a:pt x="484029" y="1161669"/>
                </a:lnTo>
                <a:lnTo>
                  <a:pt x="438853" y="0"/>
                </a:lnTo>
                <a:lnTo>
                  <a:pt x="51630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8" name="S07-mark121"/>
          <p:cNvSpPr/>
          <p:nvPr/>
        </p:nvSpPr>
        <p:spPr>
          <a:xfrm>
            <a:off x="9765549" y="3216571"/>
            <a:ext cx="484029" cy="1161669"/>
          </a:xfrm>
          <a:custGeom>
            <a:avLst/>
            <a:gdLst/>
            <a:ahLst/>
            <a:cxnLst/>
            <a:rect l="l" t="t" r="r" b="b"/>
            <a:pathLst>
              <a:path w="484029" h="1161669">
                <a:moveTo>
                  <a:pt x="0" y="1161669"/>
                </a:moveTo>
                <a:lnTo>
                  <a:pt x="484029" y="1161669"/>
                </a:lnTo>
                <a:lnTo>
                  <a:pt x="432399" y="0"/>
                </a:lnTo>
                <a:lnTo>
                  <a:pt x="45176" y="0"/>
                </a:lnTo>
                <a:close/>
              </a:path>
            </a:pathLst>
          </a:custGeom>
          <a:solidFill>
            <a:srgbClr val="C9C4BA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9" name="S07-mark122"/>
          <p:cNvSpPr/>
          <p:nvPr/>
        </p:nvSpPr>
        <p:spPr>
          <a:xfrm>
            <a:off x="6829108" y="2571200"/>
            <a:ext cx="4259453" cy="645372"/>
          </a:xfrm>
          <a:custGeom>
            <a:avLst/>
            <a:gdLst/>
            <a:ahLst/>
            <a:cxnLst/>
            <a:rect l="l" t="t" r="r" b="b"/>
            <a:pathLst>
              <a:path w="4259453" h="645372">
                <a:moveTo>
                  <a:pt x="129074" y="645372"/>
                </a:moveTo>
                <a:lnTo>
                  <a:pt x="4130379" y="645372"/>
                </a:lnTo>
                <a:lnTo>
                  <a:pt x="4259453" y="322686"/>
                </a:lnTo>
                <a:lnTo>
                  <a:pt x="3872230" y="0"/>
                </a:lnTo>
                <a:lnTo>
                  <a:pt x="516297" y="32269"/>
                </a:lnTo>
                <a:lnTo>
                  <a:pt x="0" y="322686"/>
                </a:lnTo>
                <a:close/>
              </a:path>
            </a:pathLst>
          </a:custGeom>
          <a:solidFill>
            <a:srgbClr val="B5AFA5"/>
          </a:solidFill>
          <a:ln w="25400">
            <a:solidFill>
              <a:srgbClr val="5F5A52"/>
            </a:solidFill>
            <a:prstDash val="solid"/>
          </a:ln>
        </p:spPr>
      </p:sp>
      <p:sp>
        <p:nvSpPr>
          <p:cNvPr id="10" name="S07-mark123"/>
          <p:cNvSpPr/>
          <p:nvPr/>
        </p:nvSpPr>
        <p:spPr>
          <a:xfrm>
            <a:off x="6635496" y="4378240"/>
            <a:ext cx="4646676" cy="0"/>
          </a:xfrm>
          <a:prstGeom prst="line">
            <a:avLst/>
          </a:prstGeom>
          <a:noFill/>
          <a:ln w="25400">
            <a:solidFill>
              <a:srgbClr val="8A7F6E"/>
            </a:solidFill>
            <a:prstDash val="solid"/>
          </a:ln>
        </p:spPr>
      </p:sp>
      <p:sp>
        <p:nvSpPr>
          <p:cNvPr id="11" name="S07-mark124"/>
          <p:cNvSpPr/>
          <p:nvPr/>
        </p:nvSpPr>
        <p:spPr>
          <a:xfrm flipH="1">
            <a:off x="8171481" y="3797406"/>
            <a:ext cx="303325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7-mark125"/>
          <p:cNvSpPr/>
          <p:nvPr/>
        </p:nvSpPr>
        <p:spPr>
          <a:xfrm>
            <a:off x="9442863" y="3797406"/>
            <a:ext cx="303325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7-label127"/>
          <p:cNvSpPr txBox="1"/>
          <p:nvPr/>
        </p:nvSpPr>
        <p:spPr>
          <a:xfrm>
            <a:off x="8493252" y="2719260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덮개돌</a:t>
            </a:r>
            <a:endParaRPr lang="ko-KR" sz="2200" dirty="0"/>
          </a:p>
        </p:txBody>
      </p:sp>
      <p:sp>
        <p:nvSpPr>
          <p:cNvPr id="14" name="S07-label129"/>
          <p:cNvSpPr txBox="1"/>
          <p:nvPr/>
        </p:nvSpPr>
        <p:spPr>
          <a:xfrm>
            <a:off x="8493252" y="3622781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받침돌</a:t>
            </a:r>
            <a:endParaRPr lang="ko-KR" sz="2200" dirty="0"/>
          </a:p>
        </p:txBody>
      </p:sp>
      <p:sp>
        <p:nvSpPr>
          <p:cNvPr id="15" name="S07-chip130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6" name="S07-text131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반달 돌칼: 곡식의 이삭을 땄어요.</a:t>
            </a:r>
            <a:endParaRPr lang="ko-KR" sz="2800" dirty="0"/>
          </a:p>
        </p:txBody>
      </p:sp>
      <p:sp>
        <p:nvSpPr>
          <p:cNvPr id="17" name="S07-chip132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8" name="S07-text133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청동 거울: 만들기 어렵고 귀했어요.</a:t>
            </a:r>
            <a:endParaRPr lang="ko-KR" sz="2800" dirty="0"/>
          </a:p>
        </p:txBody>
      </p:sp>
      <p:sp>
        <p:nvSpPr>
          <p:cNvPr id="19" name="S07-chip134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0" name="S07-text135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고인돌: 큰 돌을 올려 만든 무덤이에요.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말하면 좋을까요?</a:t>
            </a:r>
            <a:endParaRPr lang="ko-KR" sz="4000" dirty="0"/>
          </a:p>
        </p:txBody>
      </p:sp>
      <p:sp>
        <p:nvSpPr>
          <p:cNvPr id="3" name="S08-card1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뒷산의 고인돌을 보고 두 친구가 말했어요.</a:t>
            </a:r>
            <a:endParaRPr lang="ko-KR" sz="2800" dirty="0"/>
          </a:p>
        </p:txBody>
      </p:sp>
      <p:sp>
        <p:nvSpPr>
          <p:cNvPr id="5" name="S08-card1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더 알맞을까요? 왜 그럴까요?</a:t>
            </a:r>
            <a:endParaRPr lang="ko-KR" sz="2800" dirty="0"/>
          </a:p>
        </p:txBody>
      </p:sp>
      <p:sp>
        <p:nvSpPr>
          <p:cNvPr id="7" name="S08-chip1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14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마을 사람들은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부자였어요. 틀림없어요.”</a:t>
            </a:r>
            <a:endParaRPr lang="ko-KR" sz="2800" dirty="0"/>
          </a:p>
        </p:txBody>
      </p:sp>
      <p:sp>
        <p:nvSpPr>
          <p:cNvPr id="9" name="S08-chip1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14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“큰 돌을 옮길 만큼 많은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사람을 이끈 지배자가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있었다고 생각할 수 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고조선을 세운 이야기</a:t>
            </a:r>
            <a:endParaRPr lang="ko-KR" sz="4000" dirty="0"/>
          </a:p>
        </p:txBody>
      </p:sp>
      <p:sp>
        <p:nvSpPr>
          <p:cNvPr id="3" name="S09-card1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이야기에서 농사와 관계있는 것을 찾아봐요.</a:t>
            </a:r>
            <a:endParaRPr lang="ko-KR" sz="2800" dirty="0"/>
          </a:p>
        </p:txBody>
      </p:sp>
      <p:sp>
        <p:nvSpPr>
          <p:cNvPr id="5" name="S09-passagebox14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14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단군 이야기(『삼국유사』에 전해요)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하늘나라 환인의 아들 환웅이 사람들을 널리 이롭게 하려고 바람·비·구름을 다스리는 신하들과 땅으로 내려왔어요.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곰과 호랑이가 사람이 되고 싶어 했어요. 쑥과 마늘을 먹으며 동굴에서 끝까지 견딘 곰이 여자(웅녀)가 되었어요.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환웅과 웅녀 사이에서 태어난 단군왕검이 고조선을 세웠어요. 기원전 2333년이라고 전해져요.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이야기로 짐작하는 고조선</a:t>
            </a:r>
            <a:endParaRPr lang="ko-KR" sz="4000" dirty="0"/>
          </a:p>
        </p:txBody>
      </p:sp>
      <p:sp>
        <p:nvSpPr>
          <p:cNvPr id="3" name="S10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이야기로 보면 이렇게 생각할 수 있어요.</a:t>
            </a:r>
            <a:endParaRPr lang="ko-KR" sz="2800" dirty="0"/>
          </a:p>
        </p:txBody>
      </p:sp>
      <p:sp>
        <p:nvSpPr>
          <p:cNvPr id="4" name="S10-card14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5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고조선은 청동기 문화를 바탕으로 세워진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역사의 첫 나라예요.</a:t>
            </a:r>
            <a:endParaRPr lang="ko-KR" sz="2800" dirty="0"/>
          </a:p>
        </p:txBody>
      </p:sp>
      <p:graphicFrame>
        <p:nvGraphicFramePr>
          <p:cNvPr id="11" name="S10-table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438908"/>
          <a:ext cx="10972800" cy="914400"/>
        </p:xfrm>
        <a:graphic>
          <a:graphicData uri="http://schemas.openxmlformats.org/drawingml/2006/table">
            <a:tbl>
              <a:tblPr/>
              <a:tblGrid>
                <a:gridCol w="5047488"/>
                <a:gridCol w="592531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이야기 속 내용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짐작할 수 있는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바람·비·구름을 다스리는 신하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농사를 중요하게 여겼어요.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곰이 사람이 되어 환웅과 혼인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곰을 섬기던 무리와 힘을 합쳤어요.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단군왕검이 나라를 세움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제사와 정치를 이끈 지배자가 있었어요.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법으로 짐작하는 고조선</a:t>
            </a:r>
            <a:endParaRPr lang="ko-KR" sz="4000" dirty="0"/>
          </a:p>
        </p:txBody>
      </p:sp>
      <p:sp>
        <p:nvSpPr>
          <p:cNvPr id="3" name="S11-text1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고조선에는 법이 8개 있었는데, 3개가 전해져요.</a:t>
            </a:r>
            <a:endParaRPr lang="ko-KR" sz="2800" dirty="0"/>
          </a:p>
        </p:txBody>
      </p:sp>
      <p:sp>
        <p:nvSpPr>
          <p:cNvPr id="4" name="S11-card1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1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법마다 무엇을 소중히 여겼는지 짐작해요.</a:t>
            </a:r>
            <a:endParaRPr lang="ko-KR" sz="2800" dirty="0"/>
          </a:p>
        </p:txBody>
      </p:sp>
      <p:sp>
        <p:nvSpPr>
          <p:cNvPr id="6" name="S11-chip15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1-text15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목숨을 빼앗은 사람은 사형에 처해요.</a:t>
            </a:r>
            <a:endParaRPr lang="ko-KR" sz="2800" dirty="0"/>
          </a:p>
        </p:txBody>
      </p:sp>
      <p:sp>
        <p:nvSpPr>
          <p:cNvPr id="8" name="S11-chip15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1-text15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남을 다치게 한 사람은 곡식으로 갚아요.</a:t>
            </a:r>
            <a:endParaRPr lang="ko-KR" sz="2800" dirty="0"/>
          </a:p>
        </p:txBody>
      </p:sp>
      <p:sp>
        <p:nvSpPr>
          <p:cNvPr id="10" name="S11-chip15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1-text16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물건을 훔친 사람은 노비로 삼아요.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16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16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그물추(그물 끝에 매단 돌)로 짐작할 수 있는 생활은?</a:t>
            </a:r>
            <a:endParaRPr lang="ko-KR" sz="2800" dirty="0"/>
          </a:p>
        </p:txBody>
      </p:sp>
      <p:sp>
        <p:nvSpPr>
          <p:cNvPr id="5" name="S12-chip163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164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주먹도끼, 청동 거울, 빗살무늬 토기를 오래된 차례로 놓아요.</a:t>
            </a:r>
            <a:endParaRPr lang="ko-KR" sz="2800" dirty="0"/>
          </a:p>
        </p:txBody>
      </p:sp>
      <p:sp>
        <p:nvSpPr>
          <p:cNvPr id="7" name="S12-chip16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166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고조선은 누가, 어떤 문화를 바탕으로 세웠나요?</a:t>
            </a:r>
            <a:endParaRPr lang="ko-KR" sz="2800" dirty="0"/>
          </a:p>
        </p:txBody>
      </p:sp>
      <p:sp>
        <p:nvSpPr>
          <p:cNvPr id="9" name="S12-chip167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2-text168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단군 이야기로 짐작할 수 있는 것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3-card16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7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유물의 모습 → 쓰임 → 생활 차례로 짐작하고, ‘~라고 생각할 수 있어요’로 말해요.</a:t>
            </a:r>
            <a:endParaRPr lang="ko-KR" sz="2800" dirty="0"/>
          </a:p>
        </p:txBody>
      </p:sp>
      <p:sp>
        <p:nvSpPr>
          <p:cNvPr id="5" name="S13-chip17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3-text172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물고기를 잡았어요</a:t>
            </a:r>
            <a:endParaRPr lang="ko-KR" sz="2800" dirty="0"/>
          </a:p>
        </p:txBody>
      </p:sp>
      <p:sp>
        <p:nvSpPr>
          <p:cNvPr id="7" name="S13-text173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주먹도끼 → 토기 → 거울</a:t>
            </a:r>
            <a:endParaRPr lang="ko-KR" sz="2800" dirty="0"/>
          </a:p>
        </p:txBody>
      </p:sp>
      <p:sp>
        <p:nvSpPr>
          <p:cNvPr id="8" name="S13-text174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단군왕검, 청동기 문화</a:t>
            </a:r>
            <a:endParaRPr lang="ko-KR" sz="2800" dirty="0"/>
          </a:p>
        </p:txBody>
      </p:sp>
      <p:sp>
        <p:nvSpPr>
          <p:cNvPr id="9" name="S13-text175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농사를 중요하게 여겼어요</a:t>
            </a:r>
            <a:endParaRPr lang="ko-KR" sz="2800" dirty="0"/>
          </a:p>
        </p:txBody>
      </p:sp>
      <p:sp>
        <p:nvSpPr>
          <p:cNvPr id="10" name="S13-chip17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3-text17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“틀림없어요.”</a:t>
            </a:r>
            <a:endParaRPr lang="ko-KR" sz="2800" dirty="0"/>
          </a:p>
        </p:txBody>
      </p:sp>
      <p:sp>
        <p:nvSpPr>
          <p:cNvPr id="12" name="S13-text17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없이 단정</a:t>
            </a:r>
            <a:endParaRPr lang="ko-KR" sz="2200" dirty="0"/>
          </a:p>
        </p:txBody>
      </p:sp>
      <p:sp>
        <p:nvSpPr>
          <p:cNvPr id="13" name="S13-text17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청동 거울이 먼저</a:t>
            </a:r>
            <a:endParaRPr lang="ko-KR" sz="2800" dirty="0"/>
          </a:p>
        </p:txBody>
      </p:sp>
      <p:sp>
        <p:nvSpPr>
          <p:cNvPr id="14" name="S13-text18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재료의 차례를 헷갈림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8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8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유물의 모습과 쓰임으로 선사 시대 생활을 짐작해요.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고조선은 청동기 문화를 바탕으로 세워진 첫 나라예요.</a:t>
            </a:r>
            <a:endParaRPr lang="ko-KR" sz="2800" dirty="0"/>
          </a:p>
        </p:txBody>
      </p:sp>
      <p:sp>
        <p:nvSpPr>
          <p:cNvPr id="5" name="S14-chip18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‘~라고 생각할 수 있어요’로 짐작</a:t>
            </a:r>
            <a:endParaRPr lang="ko-KR" sz="2200" dirty="0"/>
          </a:p>
        </p:txBody>
      </p:sp>
      <p:sp>
        <p:nvSpPr>
          <p:cNvPr id="6" name="S14-chip18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자료 없이 단정하기</a:t>
            </a:r>
            <a:endParaRPr lang="ko-KR" sz="2200" dirty="0"/>
          </a:p>
        </p:txBody>
      </p:sp>
      <p:sp>
        <p:nvSpPr>
          <p:cNvPr id="7" name="S14-text18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8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돌을 갈아 도구를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시대는?</a:t>
            </a:r>
            <a:endParaRPr lang="ko-KR" sz="2200" dirty="0"/>
          </a:p>
        </p:txBody>
      </p:sp>
      <p:sp>
        <p:nvSpPr>
          <p:cNvPr id="9" name="S14-text18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고인돌로 짐작할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있는 것은?</a:t>
            </a:r>
            <a:endParaRPr lang="ko-KR" sz="2200" dirty="0"/>
          </a:p>
        </p:txBody>
      </p:sp>
      <p:sp>
        <p:nvSpPr>
          <p:cNvPr id="10" name="S14-text18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고조선을 세웠다고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전해지는 사람은?</a:t>
            </a:r>
            <a:endParaRPr lang="ko-KR" sz="2200" dirty="0"/>
          </a:p>
        </p:txBody>
      </p:sp>
      <p:sp>
        <p:nvSpPr>
          <p:cNvPr id="11" name="S14-text18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삼국과 남북국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물건으로 생활 짐작하기</a:t>
            </a:r>
            <a:endParaRPr lang="ko-KR" sz="4000" dirty="0"/>
          </a:p>
        </p:txBody>
      </p:sp>
      <p:sp>
        <p:nvSpPr>
          <p:cNvPr id="3" name="S15-text19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물건으로 연습해요.</a:t>
            </a:r>
            <a:endParaRPr lang="ko-KR" sz="2800" dirty="0"/>
          </a:p>
        </p:txBody>
      </p:sp>
      <p:sp>
        <p:nvSpPr>
          <p:cNvPr id="4" name="S15-card1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물건의 쓰임을 알면 그 물건을 쓴 사람의 생활이 보여요.</a:t>
            </a:r>
            <a:endParaRPr lang="ko-KR" sz="2800" dirty="0"/>
          </a:p>
        </p:txBody>
      </p:sp>
      <p:graphicFrame>
        <p:nvGraphicFramePr>
          <p:cNvPr id="16" name="S15-table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541016"/>
          <a:ext cx="10607040" cy="914400"/>
        </p:xfrm>
        <a:graphic>
          <a:graphicData uri="http://schemas.openxmlformats.org/drawingml/2006/table">
            <a:tbl>
              <a:tblPr/>
              <a:tblGrid>
                <a:gridCol w="2545690"/>
                <a:gridCol w="4030675"/>
                <a:gridCol w="4030675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쓰임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짐작한 생활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책가방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책을 넣어 다녀요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학교에 다녀요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낚싯대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물고기를 낚아요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낚시를 즐겨요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털장갑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손을 따뜻하게 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추운 겨울이 있어요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선사 시대와 고조선</dc:title>
  <dc:subject>KR22-G05-SOC-PREHIST-L01</dc:subject>
  <dc:creator>education-ppt</dc:creator>
  <cp:lastModifiedBy>education-ppt</cp:lastModifiedBy>
  <cp:revision>1</cp:revision>
  <dcterms:created xsi:type="dcterms:W3CDTF">2026-10-26T13:19:18Z</dcterms:created>
  <dcterms:modified xsi:type="dcterms:W3CDTF">2026-10-26T13:19:18Z</dcterms:modified>
</cp:coreProperties>
</file>