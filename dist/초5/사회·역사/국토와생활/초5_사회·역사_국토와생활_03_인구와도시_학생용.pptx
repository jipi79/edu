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7f9199b-4339-88db-ab27-f5718b300788}">
          <p14:sldIdLst>
            <p14:sldId id="256"/>
            <p14:sldId id="257"/>
          </p14:sldIdLst>
        </p14:section>
        <p14:section name="개념" id="{375194e5-d13c-f237-ee87-15b6dec47b21}">
          <p14:sldIdLst>
            <p14:sldId id="258"/>
            <p14:sldId id="259"/>
            <p14:sldId id="262"/>
            <p14:sldId id="263"/>
          </p14:sldIdLst>
        </p14:section>
        <p14:section name="연습" id="{1c843a29-1f98-94ca-f6a4-20d54f822d4c}">
          <p14:sldIdLst>
            <p14:sldId id="260"/>
            <p14:sldId id="261"/>
            <p14:sldId id="264"/>
            <p14:sldId id="265"/>
          </p14:sldIdLst>
        </p14:section>
        <p14:section name="개념" id="{609b72d0-7845-fc8c-5f12-52f00e8f308d}">
          <p14:sldIdLst/>
        </p14:section>
        <p14:section name="연습" id="{33f42d87-016b-dd16-743b-d7b85afa7742}">
          <p14:sldIdLst/>
        </p14:section>
        <p14:section name="확인" id="{c7c6c925-df79-8e09-edbf-fa6c05ed6199}">
          <p14:sldIdLst>
            <p14:sldId id="266"/>
            <p14:sldId id="267"/>
          </p14:sldIdLst>
        </p14:section>
        <p14:section name="정리" id="{76aab094-92e9-c17a-06a6-7906f87821f2}">
          <p14:sldIdLst>
            <p14:sldId id="268"/>
          </p14:sldIdLst>
        </p14:section>
        <p14:section name="보충" id="{791f7bd2-0f70-98d8-fd4f-dfb4d470e9c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국토와생활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인구와 도시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인구와 도시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인구와 도시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인구와 도시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사람들은 왜 어떤 곳에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많이 모여 살까요?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사람이 많이 사는 곳과 그 까닭을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도시 발달과 인구 변화가 생활에 준 영향을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 국토에 가장 많은 지형은?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평야는 주로 어느 쪽에 있나요?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촌락과 도시 중 사람이 많이 모여 사는 곳은?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사람들은 어디에 모여 살까요?</a:t>
            </a:r>
            <a:endParaRPr lang="ko-KR" sz="4000" dirty="0"/>
          </a:p>
        </p:txBody>
      </p:sp>
      <p:sp>
        <p:nvSpPr>
          <p:cNvPr id="3" name="S03-figure9" descr="지어낸 누리 지역의 인구 분포 지도(예시). 왼쪽은 바다, 오른쪽 위는 산지, 나머지는 평야. 강이 산지에서 바다로 흐르고 큰 길이 동서로 지나감. 강어귀 가까운 평야(새솔시)에 점 14개, 큰 길 옆 평야에 점 6개, 넓은 산지에 점 2개. 점 하나는 1만 명"/>
          <p:cNvSpPr/>
          <p:nvPr/>
        </p:nvSpPr>
        <p:spPr>
          <a:xfrm>
            <a:off x="1527875" y="1532045"/>
            <a:ext cx="5372492" cy="4029369"/>
          </a:xfrm>
          <a:custGeom>
            <a:avLst/>
            <a:gdLst/>
            <a:ahLst/>
            <a:cxnLst/>
            <a:rect l="l" t="t" r="r" b="b"/>
            <a:pathLst>
              <a:path w="5372492" h="4029369">
                <a:moveTo>
                  <a:pt x="0" y="4029369"/>
                </a:moveTo>
                <a:lnTo>
                  <a:pt x="5372492" y="4029369"/>
                </a:lnTo>
                <a:lnTo>
                  <a:pt x="537249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FD0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3-mark10"/>
          <p:cNvSpPr/>
          <p:nvPr/>
        </p:nvSpPr>
        <p:spPr>
          <a:xfrm>
            <a:off x="3990267" y="1532045"/>
            <a:ext cx="2910100" cy="2417621"/>
          </a:xfrm>
          <a:custGeom>
            <a:avLst/>
            <a:gdLst/>
            <a:ahLst/>
            <a:cxnLst/>
            <a:rect l="l" t="t" r="r" b="b"/>
            <a:pathLst>
              <a:path w="2910100" h="2417621">
                <a:moveTo>
                  <a:pt x="0" y="0"/>
                </a:moveTo>
                <a:lnTo>
                  <a:pt x="2910100" y="0"/>
                </a:lnTo>
                <a:lnTo>
                  <a:pt x="2910100" y="2417621"/>
                </a:lnTo>
                <a:lnTo>
                  <a:pt x="1566977" y="2148997"/>
                </a:lnTo>
                <a:lnTo>
                  <a:pt x="671561" y="1701289"/>
                </a:lnTo>
                <a:lnTo>
                  <a:pt x="0" y="1119269"/>
                </a:lnTo>
                <a:close/>
              </a:path>
            </a:pathLst>
          </a:custGeom>
          <a:solidFill>
            <a:srgbClr val="E3D3B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3-mark11"/>
          <p:cNvSpPr/>
          <p:nvPr/>
        </p:nvSpPr>
        <p:spPr>
          <a:xfrm>
            <a:off x="632460" y="1532045"/>
            <a:ext cx="895415" cy="4029369"/>
          </a:xfrm>
          <a:custGeom>
            <a:avLst/>
            <a:gdLst/>
            <a:ahLst/>
            <a:cxnLst/>
            <a:rect l="l" t="t" r="r" b="b"/>
            <a:pathLst>
              <a:path w="895415" h="4029369">
                <a:moveTo>
                  <a:pt x="0" y="4029369"/>
                </a:moveTo>
                <a:lnTo>
                  <a:pt x="895415" y="4029369"/>
                </a:lnTo>
                <a:lnTo>
                  <a:pt x="895415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6" name="S03-mark12"/>
          <p:cNvSpPr/>
          <p:nvPr/>
        </p:nvSpPr>
        <p:spPr>
          <a:xfrm>
            <a:off x="4876729" y="2119437"/>
            <a:ext cx="286533" cy="243553"/>
          </a:xfrm>
          <a:custGeom>
            <a:avLst/>
            <a:gdLst/>
            <a:ahLst/>
            <a:cxnLst/>
            <a:rect l="l" t="t" r="r" b="b"/>
            <a:pathLst>
              <a:path w="286533" h="243553">
                <a:moveTo>
                  <a:pt x="0" y="243553"/>
                </a:moveTo>
                <a:lnTo>
                  <a:pt x="286533" y="243553"/>
                </a:lnTo>
                <a:lnTo>
                  <a:pt x="143266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7" name="S03-mark13"/>
          <p:cNvSpPr/>
          <p:nvPr/>
        </p:nvSpPr>
        <p:spPr>
          <a:xfrm>
            <a:off x="6130310" y="2074666"/>
            <a:ext cx="286533" cy="243553"/>
          </a:xfrm>
          <a:custGeom>
            <a:avLst/>
            <a:gdLst/>
            <a:ahLst/>
            <a:cxnLst/>
            <a:rect l="l" t="t" r="r" b="b"/>
            <a:pathLst>
              <a:path w="286533" h="243553">
                <a:moveTo>
                  <a:pt x="0" y="243553"/>
                </a:moveTo>
                <a:lnTo>
                  <a:pt x="286533" y="243553"/>
                </a:lnTo>
                <a:lnTo>
                  <a:pt x="143266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8" name="S03-mark14"/>
          <p:cNvSpPr/>
          <p:nvPr/>
        </p:nvSpPr>
        <p:spPr>
          <a:xfrm>
            <a:off x="6264622" y="3149165"/>
            <a:ext cx="286533" cy="243553"/>
          </a:xfrm>
          <a:custGeom>
            <a:avLst/>
            <a:gdLst/>
            <a:ahLst/>
            <a:cxnLst/>
            <a:rect l="l" t="t" r="r" b="b"/>
            <a:pathLst>
              <a:path w="286533" h="243553">
                <a:moveTo>
                  <a:pt x="0" y="243553"/>
                </a:moveTo>
                <a:lnTo>
                  <a:pt x="286533" y="243553"/>
                </a:lnTo>
                <a:lnTo>
                  <a:pt x="143266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9" name="S03-mark15"/>
          <p:cNvSpPr/>
          <p:nvPr/>
        </p:nvSpPr>
        <p:spPr>
          <a:xfrm>
            <a:off x="4339479" y="2074666"/>
            <a:ext cx="286533" cy="243553"/>
          </a:xfrm>
          <a:custGeom>
            <a:avLst/>
            <a:gdLst/>
            <a:ahLst/>
            <a:cxnLst/>
            <a:rect l="l" t="t" r="r" b="b"/>
            <a:pathLst>
              <a:path w="286533" h="243553">
                <a:moveTo>
                  <a:pt x="0" y="243553"/>
                </a:moveTo>
                <a:lnTo>
                  <a:pt x="286533" y="243553"/>
                </a:lnTo>
                <a:lnTo>
                  <a:pt x="143266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0" name="S03-mark16"/>
          <p:cNvSpPr/>
          <p:nvPr/>
        </p:nvSpPr>
        <p:spPr>
          <a:xfrm>
            <a:off x="6488476" y="2477603"/>
            <a:ext cx="286533" cy="243553"/>
          </a:xfrm>
          <a:custGeom>
            <a:avLst/>
            <a:gdLst/>
            <a:ahLst/>
            <a:cxnLst/>
            <a:rect l="l" t="t" r="r" b="b"/>
            <a:pathLst>
              <a:path w="286533" h="243553">
                <a:moveTo>
                  <a:pt x="0" y="243553"/>
                </a:moveTo>
                <a:lnTo>
                  <a:pt x="286533" y="243553"/>
                </a:lnTo>
                <a:lnTo>
                  <a:pt x="143266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1" name="S03-mark17"/>
          <p:cNvSpPr/>
          <p:nvPr/>
        </p:nvSpPr>
        <p:spPr>
          <a:xfrm>
            <a:off x="5055812" y="3014852"/>
            <a:ext cx="286533" cy="243553"/>
          </a:xfrm>
          <a:custGeom>
            <a:avLst/>
            <a:gdLst/>
            <a:ahLst/>
            <a:cxnLst/>
            <a:rect l="l" t="t" r="r" b="b"/>
            <a:pathLst>
              <a:path w="286533" h="243553">
                <a:moveTo>
                  <a:pt x="0" y="243553"/>
                </a:moveTo>
                <a:lnTo>
                  <a:pt x="286533" y="243553"/>
                </a:lnTo>
                <a:lnTo>
                  <a:pt x="143266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2" name="S03-mark18"/>
          <p:cNvSpPr/>
          <p:nvPr/>
        </p:nvSpPr>
        <p:spPr>
          <a:xfrm>
            <a:off x="1527875" y="2919938"/>
            <a:ext cx="3133954" cy="582020"/>
          </a:xfrm>
          <a:custGeom>
            <a:avLst/>
            <a:gdLst/>
            <a:ahLst/>
            <a:cxnLst/>
            <a:rect l="l" t="t" r="r" b="b"/>
            <a:pathLst>
              <a:path w="3133954" h="582020">
                <a:moveTo>
                  <a:pt x="3133954" y="0"/>
                </a:moveTo>
                <a:lnTo>
                  <a:pt x="2328080" y="402937"/>
                </a:lnTo>
                <a:lnTo>
                  <a:pt x="1566977" y="492478"/>
                </a:lnTo>
                <a:lnTo>
                  <a:pt x="984957" y="537249"/>
                </a:lnTo>
                <a:lnTo>
                  <a:pt x="0" y="582020"/>
                </a:lnTo>
              </a:path>
            </a:pathLst>
          </a:custGeom>
          <a:noFill/>
          <a:ln w="44450">
            <a:solidFill>
              <a:srgbClr val="4A90C8"/>
            </a:solidFill>
            <a:prstDash val="solid"/>
          </a:ln>
        </p:spPr>
      </p:sp>
      <p:sp>
        <p:nvSpPr>
          <p:cNvPr id="13" name="S03-mark19"/>
          <p:cNvSpPr/>
          <p:nvPr/>
        </p:nvSpPr>
        <p:spPr>
          <a:xfrm>
            <a:off x="2691915" y="4263061"/>
            <a:ext cx="4118910" cy="582020"/>
          </a:xfrm>
          <a:custGeom>
            <a:avLst/>
            <a:gdLst/>
            <a:ahLst/>
            <a:cxnLst/>
            <a:rect l="l" t="t" r="r" b="b"/>
            <a:pathLst>
              <a:path w="4118910" h="582020">
                <a:moveTo>
                  <a:pt x="0" y="0"/>
                </a:moveTo>
                <a:lnTo>
                  <a:pt x="1074498" y="313395"/>
                </a:lnTo>
                <a:lnTo>
                  <a:pt x="2417621" y="313395"/>
                </a:lnTo>
                <a:lnTo>
                  <a:pt x="4118910" y="582020"/>
                </a:lnTo>
              </a:path>
            </a:pathLst>
          </a:custGeom>
          <a:noFill/>
          <a:ln w="63500">
            <a:solidFill>
              <a:srgbClr val="8A94A3"/>
            </a:solidFill>
            <a:prstDash val="solid"/>
          </a:ln>
        </p:spPr>
      </p:sp>
      <p:sp>
        <p:nvSpPr>
          <p:cNvPr id="14" name="S03-mark20"/>
          <p:cNvSpPr/>
          <p:nvPr/>
        </p:nvSpPr>
        <p:spPr>
          <a:xfrm>
            <a:off x="1827839" y="4339172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mark21"/>
          <p:cNvSpPr/>
          <p:nvPr/>
        </p:nvSpPr>
        <p:spPr>
          <a:xfrm>
            <a:off x="2051693" y="4339172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mark22"/>
          <p:cNvSpPr/>
          <p:nvPr/>
        </p:nvSpPr>
        <p:spPr>
          <a:xfrm>
            <a:off x="2275547" y="4339172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mark23"/>
          <p:cNvSpPr/>
          <p:nvPr/>
        </p:nvSpPr>
        <p:spPr>
          <a:xfrm>
            <a:off x="2499401" y="4339172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mark24"/>
          <p:cNvSpPr/>
          <p:nvPr/>
        </p:nvSpPr>
        <p:spPr>
          <a:xfrm>
            <a:off x="1939766" y="4115318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3-mark25"/>
          <p:cNvSpPr/>
          <p:nvPr/>
        </p:nvSpPr>
        <p:spPr>
          <a:xfrm>
            <a:off x="2163620" y="4115318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mark26"/>
          <p:cNvSpPr/>
          <p:nvPr/>
        </p:nvSpPr>
        <p:spPr>
          <a:xfrm>
            <a:off x="2387474" y="4115318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mark27"/>
          <p:cNvSpPr/>
          <p:nvPr/>
        </p:nvSpPr>
        <p:spPr>
          <a:xfrm>
            <a:off x="2611328" y="4115318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3-mark28"/>
          <p:cNvSpPr/>
          <p:nvPr/>
        </p:nvSpPr>
        <p:spPr>
          <a:xfrm>
            <a:off x="1827839" y="3891464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3-mark29"/>
          <p:cNvSpPr/>
          <p:nvPr/>
        </p:nvSpPr>
        <p:spPr>
          <a:xfrm>
            <a:off x="2051693" y="3891464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mark30"/>
          <p:cNvSpPr/>
          <p:nvPr/>
        </p:nvSpPr>
        <p:spPr>
          <a:xfrm>
            <a:off x="2275547" y="3891464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mark31"/>
          <p:cNvSpPr/>
          <p:nvPr/>
        </p:nvSpPr>
        <p:spPr>
          <a:xfrm>
            <a:off x="2499401" y="3891464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3-mark32"/>
          <p:cNvSpPr/>
          <p:nvPr/>
        </p:nvSpPr>
        <p:spPr>
          <a:xfrm>
            <a:off x="2051693" y="3667610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3-mark33"/>
          <p:cNvSpPr/>
          <p:nvPr/>
        </p:nvSpPr>
        <p:spPr>
          <a:xfrm>
            <a:off x="2275547" y="3667610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3-mark34"/>
          <p:cNvSpPr/>
          <p:nvPr/>
        </p:nvSpPr>
        <p:spPr>
          <a:xfrm>
            <a:off x="4111148" y="4272015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3-mark35"/>
          <p:cNvSpPr/>
          <p:nvPr/>
        </p:nvSpPr>
        <p:spPr>
          <a:xfrm>
            <a:off x="4335002" y="4182474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3-mark36"/>
          <p:cNvSpPr/>
          <p:nvPr/>
        </p:nvSpPr>
        <p:spPr>
          <a:xfrm>
            <a:off x="4558856" y="4272015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3-mark37"/>
          <p:cNvSpPr/>
          <p:nvPr/>
        </p:nvSpPr>
        <p:spPr>
          <a:xfrm>
            <a:off x="4782710" y="4182474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3-mark38"/>
          <p:cNvSpPr/>
          <p:nvPr/>
        </p:nvSpPr>
        <p:spPr>
          <a:xfrm>
            <a:off x="4223075" y="4786879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3-mark39"/>
          <p:cNvSpPr/>
          <p:nvPr/>
        </p:nvSpPr>
        <p:spPr>
          <a:xfrm>
            <a:off x="4558856" y="4786879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3-mark40"/>
          <p:cNvSpPr/>
          <p:nvPr/>
        </p:nvSpPr>
        <p:spPr>
          <a:xfrm>
            <a:off x="5319959" y="2458799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3-mark41"/>
          <p:cNvSpPr/>
          <p:nvPr/>
        </p:nvSpPr>
        <p:spPr>
          <a:xfrm>
            <a:off x="5767667" y="2861736"/>
            <a:ext cx="116404" cy="11640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3-label43"/>
          <p:cNvSpPr txBox="1"/>
          <p:nvPr/>
        </p:nvSpPr>
        <p:spPr>
          <a:xfrm>
            <a:off x="801276" y="1747336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1800" dirty="0"/>
          </a:p>
        </p:txBody>
      </p:sp>
      <p:sp>
        <p:nvSpPr>
          <p:cNvPr id="37" name="S03-label45"/>
          <p:cNvSpPr txBox="1"/>
          <p:nvPr/>
        </p:nvSpPr>
        <p:spPr>
          <a:xfrm>
            <a:off x="5323123" y="1635409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산지</a:t>
            </a:r>
            <a:endParaRPr lang="ko-KR" sz="1800" dirty="0"/>
          </a:p>
        </p:txBody>
      </p:sp>
      <p:sp>
        <p:nvSpPr>
          <p:cNvPr id="38" name="S03-label47"/>
          <p:cNvSpPr txBox="1"/>
          <p:nvPr/>
        </p:nvSpPr>
        <p:spPr>
          <a:xfrm>
            <a:off x="3174126" y="4970831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평야</a:t>
            </a:r>
            <a:endParaRPr lang="ko-KR" sz="1800" dirty="0"/>
          </a:p>
        </p:txBody>
      </p:sp>
      <p:sp>
        <p:nvSpPr>
          <p:cNvPr id="39" name="S03-label49"/>
          <p:cNvSpPr txBox="1"/>
          <p:nvPr/>
        </p:nvSpPr>
        <p:spPr>
          <a:xfrm>
            <a:off x="3330911" y="2978532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4A9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</a:t>
            </a:r>
            <a:endParaRPr lang="ko-KR" sz="1800" dirty="0"/>
          </a:p>
        </p:txBody>
      </p:sp>
      <p:sp>
        <p:nvSpPr>
          <p:cNvPr id="40" name="S03-label51"/>
          <p:cNvSpPr txBox="1"/>
          <p:nvPr/>
        </p:nvSpPr>
        <p:spPr>
          <a:xfrm>
            <a:off x="5646999" y="4903675"/>
            <a:ext cx="6263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길</a:t>
            </a:r>
            <a:endParaRPr lang="ko-KR" sz="1800" dirty="0"/>
          </a:p>
        </p:txBody>
      </p:sp>
      <p:sp>
        <p:nvSpPr>
          <p:cNvPr id="41" name="S03-label53"/>
          <p:cNvSpPr txBox="1"/>
          <p:nvPr/>
        </p:nvSpPr>
        <p:spPr>
          <a:xfrm>
            <a:off x="1830916" y="4590279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새솔시</a:t>
            </a:r>
            <a:endParaRPr lang="ko-KR" sz="1800" dirty="0"/>
          </a:p>
        </p:txBody>
      </p:sp>
      <p:sp>
        <p:nvSpPr>
          <p:cNvPr id="42" name="S03-label54"/>
          <p:cNvSpPr txBox="1"/>
          <p:nvPr/>
        </p:nvSpPr>
        <p:spPr>
          <a:xfrm>
            <a:off x="548640" y="5840730"/>
            <a:ext cx="6435547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 지역(예시) ● 점 하나 = 1만 명</a:t>
            </a:r>
            <a:endParaRPr lang="ko-KR" sz="2200" dirty="0"/>
          </a:p>
        </p:txBody>
      </p:sp>
      <p:sp>
        <p:nvSpPr>
          <p:cNvPr id="43" name="S03-card55"/>
          <p:cNvSpPr/>
          <p:nvPr/>
        </p:nvSpPr>
        <p:spPr>
          <a:xfrm>
            <a:off x="7349947" y="2307082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4" name="S03-cardtext56"/>
          <p:cNvSpPr txBox="1"/>
          <p:nvPr/>
        </p:nvSpPr>
        <p:spPr>
          <a:xfrm>
            <a:off x="7624267" y="2444242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사는 곳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평야, 강과 바다 가까이,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길 옆</a:t>
            </a:r>
            <a:endParaRPr lang="ko-KR" sz="2800" dirty="0"/>
          </a:p>
        </p:txBody>
      </p:sp>
      <p:sp>
        <p:nvSpPr>
          <p:cNvPr id="45" name="S03-card57"/>
          <p:cNvSpPr/>
          <p:nvPr/>
        </p:nvSpPr>
        <p:spPr>
          <a:xfrm>
            <a:off x="7349947" y="4056634"/>
            <a:ext cx="4290365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6" name="S03-cardtext58"/>
          <p:cNvSpPr txBox="1"/>
          <p:nvPr/>
        </p:nvSpPr>
        <p:spPr>
          <a:xfrm>
            <a:off x="7624267" y="4193794"/>
            <a:ext cx="3741725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적게 사는 곳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높고 험한 산지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그곳에 모여 살까요?</a:t>
            </a:r>
            <a:endParaRPr lang="ko-KR" sz="4000" dirty="0"/>
          </a:p>
        </p:txBody>
      </p:sp>
      <p:sp>
        <p:nvSpPr>
          <p:cNvPr id="3" name="S04-card5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6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수도권(서울·인천·경기)에 사람이 아주 많이 모여 살아요.</a:t>
            </a:r>
            <a:endParaRPr lang="ko-KR" sz="2800" dirty="0"/>
          </a:p>
        </p:txBody>
      </p:sp>
      <p:sp>
        <p:nvSpPr>
          <p:cNvPr id="5" name="S04-card61"/>
          <p:cNvSpPr/>
          <p:nvPr/>
        </p:nvSpPr>
        <p:spPr>
          <a:xfrm>
            <a:off x="548640" y="1325880"/>
            <a:ext cx="5431536" cy="1618996"/>
          </a:xfrm>
          <a:prstGeom prst="roundRect">
            <a:avLst>
              <a:gd name="adj" fmla="val 67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62"/>
          <p:cNvSpPr txBox="1"/>
          <p:nvPr/>
        </p:nvSpPr>
        <p:spPr>
          <a:xfrm>
            <a:off x="822960" y="1463040"/>
            <a:ext cx="4882896" cy="1344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땅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집을 짓고 농사짓기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좋아요.</a:t>
            </a:r>
            <a:endParaRPr lang="ko-KR" sz="2800" dirty="0"/>
          </a:p>
        </p:txBody>
      </p:sp>
      <p:sp>
        <p:nvSpPr>
          <p:cNvPr id="7" name="S04-card63"/>
          <p:cNvSpPr/>
          <p:nvPr/>
        </p:nvSpPr>
        <p:spPr>
          <a:xfrm>
            <a:off x="6208776" y="1325880"/>
            <a:ext cx="5431536" cy="1618996"/>
          </a:xfrm>
          <a:prstGeom prst="roundRect">
            <a:avLst>
              <a:gd name="adj" fmla="val 67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64"/>
          <p:cNvSpPr txBox="1"/>
          <p:nvPr/>
        </p:nvSpPr>
        <p:spPr>
          <a:xfrm>
            <a:off x="6483096" y="1463040"/>
            <a:ext cx="4882896" cy="1344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편리한 교통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길과 철도가 있어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오가기 쉬워요.</a:t>
            </a:r>
            <a:endParaRPr lang="ko-KR" sz="2800" dirty="0"/>
          </a:p>
        </p:txBody>
      </p:sp>
      <p:sp>
        <p:nvSpPr>
          <p:cNvPr id="9" name="S04-card65"/>
          <p:cNvSpPr/>
          <p:nvPr/>
        </p:nvSpPr>
        <p:spPr>
          <a:xfrm>
            <a:off x="548640" y="3173476"/>
            <a:ext cx="5431536" cy="1618996"/>
          </a:xfrm>
          <a:prstGeom prst="roundRect">
            <a:avLst>
              <a:gd name="adj" fmla="val 67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66"/>
          <p:cNvSpPr txBox="1"/>
          <p:nvPr/>
        </p:nvSpPr>
        <p:spPr>
          <a:xfrm>
            <a:off x="822960" y="3310636"/>
            <a:ext cx="4882896" cy="1344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일자리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회사와 공장, 가게가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많아요.</a:t>
            </a:r>
            <a:endParaRPr lang="ko-KR" sz="2800" dirty="0"/>
          </a:p>
        </p:txBody>
      </p:sp>
      <p:sp>
        <p:nvSpPr>
          <p:cNvPr id="11" name="S04-card67"/>
          <p:cNvSpPr/>
          <p:nvPr/>
        </p:nvSpPr>
        <p:spPr>
          <a:xfrm>
            <a:off x="6208776" y="3173476"/>
            <a:ext cx="5431536" cy="1618996"/>
          </a:xfrm>
          <a:prstGeom prst="roundRect">
            <a:avLst>
              <a:gd name="adj" fmla="val 67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68"/>
          <p:cNvSpPr txBox="1"/>
          <p:nvPr/>
        </p:nvSpPr>
        <p:spPr>
          <a:xfrm>
            <a:off x="6483096" y="3310636"/>
            <a:ext cx="4882896" cy="1344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시설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학교, 병원, 문화 시설이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가까워요.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점을 세어 봐요</a:t>
            </a:r>
            <a:endParaRPr lang="ko-KR" sz="4000" dirty="0"/>
          </a:p>
        </p:txBody>
      </p:sp>
      <p:sp>
        <p:nvSpPr>
          <p:cNvPr id="3" name="S05-figure69" descr="지어낸 누리 지역의 인구 분포 지도(예시). 왼쪽은 바다, 오른쪽 위는 산지, 나머지는 평야. 강이 산지에서 바다로 흐르고 큰 길이 동서로 지나감. 강어귀 가까운 평야(가)에 점 14개, 큰 길 옆 평야(나)에 점 6개, 넓은 산지(다)에 점 2개. 점 하나는 1만 명"/>
          <p:cNvSpPr/>
          <p:nvPr/>
        </p:nvSpPr>
        <p:spPr>
          <a:xfrm>
            <a:off x="7103364" y="1876806"/>
            <a:ext cx="4453128" cy="3339846"/>
          </a:xfrm>
          <a:custGeom>
            <a:avLst/>
            <a:gdLst/>
            <a:ahLst/>
            <a:cxnLst/>
            <a:rect l="l" t="t" r="r" b="b"/>
            <a:pathLst>
              <a:path w="4453128" h="3339846">
                <a:moveTo>
                  <a:pt x="0" y="3339846"/>
                </a:moveTo>
                <a:lnTo>
                  <a:pt x="4453128" y="3339846"/>
                </a:lnTo>
                <a:lnTo>
                  <a:pt x="4453128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FD0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5-mark70"/>
          <p:cNvSpPr/>
          <p:nvPr/>
        </p:nvSpPr>
        <p:spPr>
          <a:xfrm>
            <a:off x="9144381" y="1876806"/>
            <a:ext cx="2412111" cy="2003908"/>
          </a:xfrm>
          <a:custGeom>
            <a:avLst/>
            <a:gdLst/>
            <a:ahLst/>
            <a:cxnLst/>
            <a:rect l="l" t="t" r="r" b="b"/>
            <a:pathLst>
              <a:path w="2412111" h="2003908">
                <a:moveTo>
                  <a:pt x="0" y="0"/>
                </a:moveTo>
                <a:lnTo>
                  <a:pt x="2412111" y="0"/>
                </a:lnTo>
                <a:lnTo>
                  <a:pt x="2412111" y="2003908"/>
                </a:lnTo>
                <a:lnTo>
                  <a:pt x="1298829" y="1781251"/>
                </a:lnTo>
                <a:lnTo>
                  <a:pt x="556641" y="1410157"/>
                </a:lnTo>
                <a:lnTo>
                  <a:pt x="0" y="927735"/>
                </a:lnTo>
                <a:close/>
              </a:path>
            </a:pathLst>
          </a:custGeom>
          <a:solidFill>
            <a:srgbClr val="E3D3B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5-mark71"/>
          <p:cNvSpPr/>
          <p:nvPr/>
        </p:nvSpPr>
        <p:spPr>
          <a:xfrm>
            <a:off x="6361176" y="1876806"/>
            <a:ext cx="742188" cy="3339846"/>
          </a:xfrm>
          <a:custGeom>
            <a:avLst/>
            <a:gdLst/>
            <a:ahLst/>
            <a:cxnLst/>
            <a:rect l="l" t="t" r="r" b="b"/>
            <a:pathLst>
              <a:path w="742188" h="3339846">
                <a:moveTo>
                  <a:pt x="0" y="3339846"/>
                </a:moveTo>
                <a:lnTo>
                  <a:pt x="742188" y="3339846"/>
                </a:lnTo>
                <a:lnTo>
                  <a:pt x="742188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6" name="S05-mark72"/>
          <p:cNvSpPr/>
          <p:nvPr/>
        </p:nvSpPr>
        <p:spPr>
          <a:xfrm>
            <a:off x="9879147" y="2363681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7" name="S05-mark73"/>
          <p:cNvSpPr/>
          <p:nvPr/>
        </p:nvSpPr>
        <p:spPr>
          <a:xfrm>
            <a:off x="10918210" y="2326572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8" name="S05-mark74"/>
          <p:cNvSpPr/>
          <p:nvPr/>
        </p:nvSpPr>
        <p:spPr>
          <a:xfrm>
            <a:off x="11029539" y="3217198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9" name="S05-mark75"/>
          <p:cNvSpPr/>
          <p:nvPr/>
        </p:nvSpPr>
        <p:spPr>
          <a:xfrm>
            <a:off x="9433834" y="2326572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0" name="S05-mark76"/>
          <p:cNvSpPr/>
          <p:nvPr/>
        </p:nvSpPr>
        <p:spPr>
          <a:xfrm>
            <a:off x="11215086" y="2660557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1" name="S05-mark77"/>
          <p:cNvSpPr/>
          <p:nvPr/>
        </p:nvSpPr>
        <p:spPr>
          <a:xfrm>
            <a:off x="10027585" y="3105869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2" name="S05-mark78"/>
          <p:cNvSpPr/>
          <p:nvPr/>
        </p:nvSpPr>
        <p:spPr>
          <a:xfrm>
            <a:off x="7103364" y="3027197"/>
            <a:ext cx="2597658" cy="482422"/>
          </a:xfrm>
          <a:custGeom>
            <a:avLst/>
            <a:gdLst/>
            <a:ahLst/>
            <a:cxnLst/>
            <a:rect l="l" t="t" r="r" b="b"/>
            <a:pathLst>
              <a:path w="2597658" h="482422">
                <a:moveTo>
                  <a:pt x="2597658" y="0"/>
                </a:moveTo>
                <a:lnTo>
                  <a:pt x="1929689" y="333985"/>
                </a:lnTo>
                <a:lnTo>
                  <a:pt x="1298829" y="408203"/>
                </a:lnTo>
                <a:lnTo>
                  <a:pt x="816407" y="445313"/>
                </a:lnTo>
                <a:lnTo>
                  <a:pt x="0" y="482422"/>
                </a:lnTo>
              </a:path>
            </a:pathLst>
          </a:custGeom>
          <a:noFill/>
          <a:ln w="44450">
            <a:solidFill>
              <a:srgbClr val="4A90C8"/>
            </a:solidFill>
            <a:prstDash val="solid"/>
          </a:ln>
        </p:spPr>
      </p:sp>
      <p:sp>
        <p:nvSpPr>
          <p:cNvPr id="13" name="S05-mark79"/>
          <p:cNvSpPr/>
          <p:nvPr/>
        </p:nvSpPr>
        <p:spPr>
          <a:xfrm>
            <a:off x="8068208" y="4140479"/>
            <a:ext cx="3414065" cy="482422"/>
          </a:xfrm>
          <a:custGeom>
            <a:avLst/>
            <a:gdLst/>
            <a:ahLst/>
            <a:cxnLst/>
            <a:rect l="l" t="t" r="r" b="b"/>
            <a:pathLst>
              <a:path w="3414065" h="482422">
                <a:moveTo>
                  <a:pt x="0" y="0"/>
                </a:moveTo>
                <a:lnTo>
                  <a:pt x="890626" y="259766"/>
                </a:lnTo>
                <a:lnTo>
                  <a:pt x="2003908" y="259766"/>
                </a:lnTo>
                <a:lnTo>
                  <a:pt x="3414065" y="482422"/>
                </a:lnTo>
              </a:path>
            </a:pathLst>
          </a:custGeom>
          <a:noFill/>
          <a:ln w="63500">
            <a:solidFill>
              <a:srgbClr val="8A94A3"/>
            </a:solidFill>
            <a:prstDash val="solid"/>
          </a:ln>
        </p:spPr>
      </p:sp>
      <p:sp>
        <p:nvSpPr>
          <p:cNvPr id="14" name="S05-mark80"/>
          <p:cNvSpPr/>
          <p:nvPr/>
        </p:nvSpPr>
        <p:spPr>
          <a:xfrm>
            <a:off x="7351997" y="4203565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mark81"/>
          <p:cNvSpPr/>
          <p:nvPr/>
        </p:nvSpPr>
        <p:spPr>
          <a:xfrm>
            <a:off x="7537544" y="4203565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mark82"/>
          <p:cNvSpPr/>
          <p:nvPr/>
        </p:nvSpPr>
        <p:spPr>
          <a:xfrm>
            <a:off x="7723091" y="4203565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mark83"/>
          <p:cNvSpPr/>
          <p:nvPr/>
        </p:nvSpPr>
        <p:spPr>
          <a:xfrm>
            <a:off x="7908638" y="4203565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5-mark84"/>
          <p:cNvSpPr/>
          <p:nvPr/>
        </p:nvSpPr>
        <p:spPr>
          <a:xfrm>
            <a:off x="7444770" y="4018018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5-mark85"/>
          <p:cNvSpPr/>
          <p:nvPr/>
        </p:nvSpPr>
        <p:spPr>
          <a:xfrm>
            <a:off x="7630317" y="4018018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5-mark86"/>
          <p:cNvSpPr/>
          <p:nvPr/>
        </p:nvSpPr>
        <p:spPr>
          <a:xfrm>
            <a:off x="7815864" y="4018018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5-mark87"/>
          <p:cNvSpPr/>
          <p:nvPr/>
        </p:nvSpPr>
        <p:spPr>
          <a:xfrm>
            <a:off x="8001411" y="4018018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5-mark88"/>
          <p:cNvSpPr/>
          <p:nvPr/>
        </p:nvSpPr>
        <p:spPr>
          <a:xfrm>
            <a:off x="7351997" y="3832471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5-mark89"/>
          <p:cNvSpPr/>
          <p:nvPr/>
        </p:nvSpPr>
        <p:spPr>
          <a:xfrm>
            <a:off x="7537544" y="3832471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mark90"/>
          <p:cNvSpPr/>
          <p:nvPr/>
        </p:nvSpPr>
        <p:spPr>
          <a:xfrm>
            <a:off x="7723091" y="3832471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5-mark91"/>
          <p:cNvSpPr/>
          <p:nvPr/>
        </p:nvSpPr>
        <p:spPr>
          <a:xfrm>
            <a:off x="7908638" y="3832471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5-mark92"/>
          <p:cNvSpPr/>
          <p:nvPr/>
        </p:nvSpPr>
        <p:spPr>
          <a:xfrm>
            <a:off x="7537544" y="3646924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5-mark93"/>
          <p:cNvSpPr/>
          <p:nvPr/>
        </p:nvSpPr>
        <p:spPr>
          <a:xfrm>
            <a:off x="7723091" y="3646924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5-mark94"/>
          <p:cNvSpPr/>
          <p:nvPr/>
        </p:nvSpPr>
        <p:spPr>
          <a:xfrm>
            <a:off x="9244576" y="4147901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5-mark95"/>
          <p:cNvSpPr/>
          <p:nvPr/>
        </p:nvSpPr>
        <p:spPr>
          <a:xfrm>
            <a:off x="9430123" y="4073682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5-mark96"/>
          <p:cNvSpPr/>
          <p:nvPr/>
        </p:nvSpPr>
        <p:spPr>
          <a:xfrm>
            <a:off x="9615670" y="4147901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5-mark97"/>
          <p:cNvSpPr/>
          <p:nvPr/>
        </p:nvSpPr>
        <p:spPr>
          <a:xfrm>
            <a:off x="9801217" y="4073682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5-mark98"/>
          <p:cNvSpPr/>
          <p:nvPr/>
        </p:nvSpPr>
        <p:spPr>
          <a:xfrm>
            <a:off x="9337350" y="4574659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5-mark99"/>
          <p:cNvSpPr/>
          <p:nvPr/>
        </p:nvSpPr>
        <p:spPr>
          <a:xfrm>
            <a:off x="9615670" y="4574659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5-mark100"/>
          <p:cNvSpPr/>
          <p:nvPr/>
        </p:nvSpPr>
        <p:spPr>
          <a:xfrm>
            <a:off x="10246530" y="2644971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5-mark101"/>
          <p:cNvSpPr/>
          <p:nvPr/>
        </p:nvSpPr>
        <p:spPr>
          <a:xfrm>
            <a:off x="10617624" y="2978955"/>
            <a:ext cx="96484" cy="9648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5-label103"/>
          <p:cNvSpPr txBox="1"/>
          <p:nvPr/>
        </p:nvSpPr>
        <p:spPr>
          <a:xfrm>
            <a:off x="6453378" y="2030806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1800" dirty="0"/>
          </a:p>
        </p:txBody>
      </p:sp>
      <p:sp>
        <p:nvSpPr>
          <p:cNvPr id="37" name="S05-label105"/>
          <p:cNvSpPr txBox="1"/>
          <p:nvPr/>
        </p:nvSpPr>
        <p:spPr>
          <a:xfrm>
            <a:off x="10201427" y="193803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산지</a:t>
            </a:r>
            <a:endParaRPr lang="ko-KR" sz="1800" dirty="0"/>
          </a:p>
        </p:txBody>
      </p:sp>
      <p:sp>
        <p:nvSpPr>
          <p:cNvPr id="38" name="S05-label107"/>
          <p:cNvSpPr txBox="1"/>
          <p:nvPr/>
        </p:nvSpPr>
        <p:spPr>
          <a:xfrm>
            <a:off x="8420176" y="470268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평야</a:t>
            </a:r>
            <a:endParaRPr lang="ko-KR" sz="1800" dirty="0"/>
          </a:p>
        </p:txBody>
      </p:sp>
      <p:sp>
        <p:nvSpPr>
          <p:cNvPr id="39" name="S05-label109"/>
          <p:cNvSpPr txBox="1"/>
          <p:nvPr/>
        </p:nvSpPr>
        <p:spPr>
          <a:xfrm>
            <a:off x="8569300" y="3051315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4A9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</a:t>
            </a:r>
            <a:endParaRPr lang="ko-KR" sz="1800" dirty="0"/>
          </a:p>
        </p:txBody>
      </p:sp>
      <p:sp>
        <p:nvSpPr>
          <p:cNvPr id="40" name="S05-label111"/>
          <p:cNvSpPr txBox="1"/>
          <p:nvPr/>
        </p:nvSpPr>
        <p:spPr>
          <a:xfrm>
            <a:off x="10464013" y="4647019"/>
            <a:ext cx="6263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길</a:t>
            </a:r>
            <a:endParaRPr lang="ko-KR" sz="1800" dirty="0"/>
          </a:p>
        </p:txBody>
      </p:sp>
      <p:sp>
        <p:nvSpPr>
          <p:cNvPr id="41" name="S05-labelbg113"/>
          <p:cNvSpPr/>
          <p:nvPr/>
        </p:nvSpPr>
        <p:spPr>
          <a:xfrm>
            <a:off x="7532510" y="4390428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05-label114"/>
          <p:cNvSpPr txBox="1"/>
          <p:nvPr/>
        </p:nvSpPr>
        <p:spPr>
          <a:xfrm>
            <a:off x="7486790" y="435550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43" name="S05-labelbg116"/>
          <p:cNvSpPr/>
          <p:nvPr/>
        </p:nvSpPr>
        <p:spPr>
          <a:xfrm>
            <a:off x="9425089" y="3685350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05-label117"/>
          <p:cNvSpPr txBox="1"/>
          <p:nvPr/>
        </p:nvSpPr>
        <p:spPr>
          <a:xfrm>
            <a:off x="9379369" y="365042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45" name="S05-labelbg119"/>
          <p:cNvSpPr/>
          <p:nvPr/>
        </p:nvSpPr>
        <p:spPr>
          <a:xfrm>
            <a:off x="10816692" y="2664841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05-label120"/>
          <p:cNvSpPr txBox="1"/>
          <p:nvPr/>
        </p:nvSpPr>
        <p:spPr>
          <a:xfrm>
            <a:off x="10770972" y="262991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47" name="S05-label121"/>
          <p:cNvSpPr txBox="1"/>
          <p:nvPr/>
        </p:nvSpPr>
        <p:spPr>
          <a:xfrm>
            <a:off x="6277356" y="5840730"/>
            <a:ext cx="53629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 지역(예시) ● 점 하나 = 1만 명</a:t>
            </a:r>
            <a:endParaRPr lang="ko-KR" sz="2200" dirty="0"/>
          </a:p>
        </p:txBody>
      </p:sp>
      <p:sp>
        <p:nvSpPr>
          <p:cNvPr id="48" name="S05-chip12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9" name="S05-text12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나, 다는 각각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몇만 명일까요?</a:t>
            </a:r>
            <a:endParaRPr lang="ko-KR" sz="2800" dirty="0"/>
          </a:p>
        </p:txBody>
      </p:sp>
      <p:sp>
        <p:nvSpPr>
          <p:cNvPr id="50" name="S05-chip12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51" name="S05-text125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가는 다보다 몇만 명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많나요?</a:t>
            </a:r>
            <a:endParaRPr lang="ko-KR" sz="2800" dirty="0"/>
          </a:p>
        </p:txBody>
      </p:sp>
      <p:sp>
        <p:nvSpPr>
          <p:cNvPr id="52" name="S05-chip12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53" name="S05-text127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가에 사람이 많은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두 가지는?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땅이 넓으면 사람이 많을까요?</a:t>
            </a:r>
            <a:endParaRPr lang="ko-KR" sz="4000" dirty="0"/>
          </a:p>
        </p:txBody>
      </p:sp>
      <p:sp>
        <p:nvSpPr>
          <p:cNvPr id="3" name="S06-card12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2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 지역에서 산지(다)는 새솔시(가)보다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땅이 훨씬 넓어요.</a:t>
            </a:r>
            <a:endParaRPr lang="ko-KR" sz="2800" dirty="0"/>
          </a:p>
        </p:txBody>
      </p:sp>
      <p:sp>
        <p:nvSpPr>
          <p:cNvPr id="5" name="S06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지도에서 근거를 찾아요.</a:t>
            </a:r>
            <a:endParaRPr lang="ko-KR" sz="2800" dirty="0"/>
          </a:p>
        </p:txBody>
      </p:sp>
      <p:sp>
        <p:nvSpPr>
          <p:cNvPr id="7" name="S06-chip132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6-text133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“땅이 넓은 산지에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더 많이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 거예요.”</a:t>
            </a:r>
            <a:endParaRPr lang="ko-KR" sz="2800" dirty="0"/>
          </a:p>
        </p:txBody>
      </p:sp>
      <p:sp>
        <p:nvSpPr>
          <p:cNvPr id="9" name="S06-chip134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6-text135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“땅이 넓어도 살기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곳이면 사람이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사람들이 도시로 옮겨 갔어요</a:t>
            </a:r>
            <a:endParaRPr lang="ko-KR" sz="4000" dirty="0"/>
          </a:p>
        </p:txBody>
      </p:sp>
      <p:sp>
        <p:nvSpPr>
          <p:cNvPr id="3" name="S07-text1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공장과 회사가 늘자 사람들이 일자리를 찾아 도시로 갔어요.</a:t>
            </a:r>
            <a:endParaRPr lang="ko-KR" sz="2800" dirty="0"/>
          </a:p>
        </p:txBody>
      </p:sp>
      <p:sp>
        <p:nvSpPr>
          <p:cNvPr id="4" name="S07-figure137" descr="막대그래프(지어낸 예시): 새솔시(도시) 인구는 40년 전 10만 명, 20년 전 30만 명, 지금 50만 명. 들꽃군(촌락) 인구는 40년 전 12만 명, 20년 전 8만 명, 지금 5만 명"/>
          <p:cNvSpPr/>
          <p:nvPr/>
        </p:nvSpPr>
        <p:spPr>
          <a:xfrm>
            <a:off x="1917443" y="5208756"/>
            <a:ext cx="656273" cy="420519"/>
          </a:xfrm>
          <a:custGeom>
            <a:avLst/>
            <a:gdLst/>
            <a:ahLst/>
            <a:cxnLst/>
            <a:rect l="l" t="t" r="r" b="b"/>
            <a:pathLst>
              <a:path w="656273" h="420519">
                <a:moveTo>
                  <a:pt x="0" y="420519"/>
                </a:moveTo>
                <a:lnTo>
                  <a:pt x="656273" y="420519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7-mark138"/>
          <p:cNvSpPr/>
          <p:nvPr/>
        </p:nvSpPr>
        <p:spPr>
          <a:xfrm>
            <a:off x="2573716" y="5124450"/>
            <a:ext cx="656273" cy="504825"/>
          </a:xfrm>
          <a:custGeom>
            <a:avLst/>
            <a:gdLst/>
            <a:ahLst/>
            <a:cxnLst/>
            <a:rect l="l" t="t" r="r" b="b"/>
            <a:pathLst>
              <a:path w="656273" h="504825">
                <a:moveTo>
                  <a:pt x="0" y="504825"/>
                </a:moveTo>
                <a:lnTo>
                  <a:pt x="656273" y="504825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7-mark139"/>
          <p:cNvSpPr/>
          <p:nvPr/>
        </p:nvSpPr>
        <p:spPr>
          <a:xfrm>
            <a:off x="3734813" y="4367213"/>
            <a:ext cx="656273" cy="1262062"/>
          </a:xfrm>
          <a:custGeom>
            <a:avLst/>
            <a:gdLst/>
            <a:ahLst/>
            <a:cxnLst/>
            <a:rect l="l" t="t" r="r" b="b"/>
            <a:pathLst>
              <a:path w="656273" h="1262062">
                <a:moveTo>
                  <a:pt x="0" y="1262062"/>
                </a:moveTo>
                <a:lnTo>
                  <a:pt x="656273" y="1262062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7-mark140"/>
          <p:cNvSpPr/>
          <p:nvPr/>
        </p:nvSpPr>
        <p:spPr>
          <a:xfrm>
            <a:off x="4391086" y="5292557"/>
            <a:ext cx="656273" cy="336718"/>
          </a:xfrm>
          <a:custGeom>
            <a:avLst/>
            <a:gdLst/>
            <a:ahLst/>
            <a:cxnLst/>
            <a:rect l="l" t="t" r="r" b="b"/>
            <a:pathLst>
              <a:path w="656273" h="336718">
                <a:moveTo>
                  <a:pt x="0" y="336718"/>
                </a:moveTo>
                <a:lnTo>
                  <a:pt x="656273" y="336718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7-mark141"/>
          <p:cNvSpPr/>
          <p:nvPr/>
        </p:nvSpPr>
        <p:spPr>
          <a:xfrm>
            <a:off x="5552183" y="3525669"/>
            <a:ext cx="656273" cy="2103606"/>
          </a:xfrm>
          <a:custGeom>
            <a:avLst/>
            <a:gdLst/>
            <a:ahLst/>
            <a:cxnLst/>
            <a:rect l="l" t="t" r="r" b="b"/>
            <a:pathLst>
              <a:path w="656273" h="2103606">
                <a:moveTo>
                  <a:pt x="0" y="2103606"/>
                </a:moveTo>
                <a:lnTo>
                  <a:pt x="656273" y="2103606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7-mark142"/>
          <p:cNvSpPr/>
          <p:nvPr/>
        </p:nvSpPr>
        <p:spPr>
          <a:xfrm>
            <a:off x="6208456" y="5418763"/>
            <a:ext cx="656273" cy="210512"/>
          </a:xfrm>
          <a:custGeom>
            <a:avLst/>
            <a:gdLst/>
            <a:ahLst/>
            <a:cxnLst/>
            <a:rect l="l" t="t" r="r" b="b"/>
            <a:pathLst>
              <a:path w="656273" h="210512">
                <a:moveTo>
                  <a:pt x="0" y="210512"/>
                </a:moveTo>
                <a:lnTo>
                  <a:pt x="656273" y="210512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7-mark143"/>
          <p:cNvSpPr/>
          <p:nvPr/>
        </p:nvSpPr>
        <p:spPr>
          <a:xfrm>
            <a:off x="1665031" y="3029426"/>
            <a:ext cx="252412" cy="252413"/>
          </a:xfrm>
          <a:custGeom>
            <a:avLst/>
            <a:gdLst/>
            <a:ahLst/>
            <a:cxnLst/>
            <a:rect l="l" t="t" r="r" b="b"/>
            <a:pathLst>
              <a:path w="252412" h="252413">
                <a:moveTo>
                  <a:pt x="0" y="252413"/>
                </a:moveTo>
                <a:lnTo>
                  <a:pt x="252412" y="252413"/>
                </a:lnTo>
                <a:lnTo>
                  <a:pt x="2524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7-mark144"/>
          <p:cNvSpPr/>
          <p:nvPr/>
        </p:nvSpPr>
        <p:spPr>
          <a:xfrm>
            <a:off x="1665031" y="3458528"/>
            <a:ext cx="252412" cy="252412"/>
          </a:xfrm>
          <a:custGeom>
            <a:avLst/>
            <a:gdLst/>
            <a:ahLst/>
            <a:cxnLst/>
            <a:rect l="l" t="t" r="r" b="b"/>
            <a:pathLst>
              <a:path w="252412" h="252412">
                <a:moveTo>
                  <a:pt x="0" y="252412"/>
                </a:moveTo>
                <a:lnTo>
                  <a:pt x="252412" y="252412"/>
                </a:lnTo>
                <a:lnTo>
                  <a:pt x="2524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7-mark145"/>
          <p:cNvSpPr/>
          <p:nvPr/>
        </p:nvSpPr>
        <p:spPr>
          <a:xfrm>
            <a:off x="1412618" y="5208588"/>
            <a:ext cx="595693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3" name="S07-mark146"/>
          <p:cNvSpPr/>
          <p:nvPr/>
        </p:nvSpPr>
        <p:spPr>
          <a:xfrm>
            <a:off x="1412618" y="4787900"/>
            <a:ext cx="595693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4" name="S07-mark147"/>
          <p:cNvSpPr/>
          <p:nvPr/>
        </p:nvSpPr>
        <p:spPr>
          <a:xfrm>
            <a:off x="1412618" y="4367213"/>
            <a:ext cx="595693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5" name="S07-mark148"/>
          <p:cNvSpPr/>
          <p:nvPr/>
        </p:nvSpPr>
        <p:spPr>
          <a:xfrm>
            <a:off x="1412618" y="3946525"/>
            <a:ext cx="595693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6" name="S07-mark149"/>
          <p:cNvSpPr/>
          <p:nvPr/>
        </p:nvSpPr>
        <p:spPr>
          <a:xfrm>
            <a:off x="1412618" y="3525838"/>
            <a:ext cx="595693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7" name="S07-mark150"/>
          <p:cNvSpPr/>
          <p:nvPr/>
        </p:nvSpPr>
        <p:spPr>
          <a:xfrm>
            <a:off x="1412618" y="3105150"/>
            <a:ext cx="595693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8" name="S07-mark151"/>
          <p:cNvSpPr/>
          <p:nvPr/>
        </p:nvSpPr>
        <p:spPr>
          <a:xfrm flipV="1">
            <a:off x="1412618" y="2903220"/>
            <a:ext cx="0" cy="272605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7-mark152"/>
          <p:cNvSpPr/>
          <p:nvPr/>
        </p:nvSpPr>
        <p:spPr>
          <a:xfrm>
            <a:off x="1412618" y="5629275"/>
            <a:ext cx="5956935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abel154"/>
          <p:cNvSpPr txBox="1"/>
          <p:nvPr/>
        </p:nvSpPr>
        <p:spPr>
          <a:xfrm>
            <a:off x="903698" y="5486400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21" name="S07-label156"/>
          <p:cNvSpPr txBox="1"/>
          <p:nvPr/>
        </p:nvSpPr>
        <p:spPr>
          <a:xfrm>
            <a:off x="828260" y="5065881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22" name="S07-label158"/>
          <p:cNvSpPr txBox="1"/>
          <p:nvPr/>
        </p:nvSpPr>
        <p:spPr>
          <a:xfrm>
            <a:off x="828260" y="4644857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800" dirty="0"/>
          </a:p>
        </p:txBody>
      </p:sp>
      <p:sp>
        <p:nvSpPr>
          <p:cNvPr id="23" name="S07-label160"/>
          <p:cNvSpPr txBox="1"/>
          <p:nvPr/>
        </p:nvSpPr>
        <p:spPr>
          <a:xfrm>
            <a:off x="828260" y="4224338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800" dirty="0"/>
          </a:p>
        </p:txBody>
      </p:sp>
      <p:sp>
        <p:nvSpPr>
          <p:cNvPr id="24" name="S07-label162"/>
          <p:cNvSpPr txBox="1"/>
          <p:nvPr/>
        </p:nvSpPr>
        <p:spPr>
          <a:xfrm>
            <a:off x="828260" y="3803818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800" dirty="0"/>
          </a:p>
        </p:txBody>
      </p:sp>
      <p:sp>
        <p:nvSpPr>
          <p:cNvPr id="25" name="S07-label164"/>
          <p:cNvSpPr txBox="1"/>
          <p:nvPr/>
        </p:nvSpPr>
        <p:spPr>
          <a:xfrm>
            <a:off x="828260" y="3382794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800" dirty="0"/>
          </a:p>
        </p:txBody>
      </p:sp>
      <p:sp>
        <p:nvSpPr>
          <p:cNvPr id="26" name="S07-label166"/>
          <p:cNvSpPr txBox="1"/>
          <p:nvPr/>
        </p:nvSpPr>
        <p:spPr>
          <a:xfrm>
            <a:off x="828260" y="2962275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800" dirty="0"/>
          </a:p>
        </p:txBody>
      </p:sp>
      <p:sp>
        <p:nvSpPr>
          <p:cNvPr id="27" name="S07-label168"/>
          <p:cNvSpPr txBox="1"/>
          <p:nvPr/>
        </p:nvSpPr>
        <p:spPr>
          <a:xfrm>
            <a:off x="861311" y="2507933"/>
            <a:ext cx="9006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(만 명)</a:t>
            </a:r>
            <a:endParaRPr lang="ko-KR" sz="1800" dirty="0"/>
          </a:p>
        </p:txBody>
      </p:sp>
      <p:sp>
        <p:nvSpPr>
          <p:cNvPr id="28" name="S07-label170"/>
          <p:cNvSpPr txBox="1"/>
          <p:nvPr/>
        </p:nvSpPr>
        <p:spPr>
          <a:xfrm>
            <a:off x="2039840" y="4863951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29" name="S07-label172"/>
          <p:cNvSpPr txBox="1"/>
          <p:nvPr/>
        </p:nvSpPr>
        <p:spPr>
          <a:xfrm>
            <a:off x="2696112" y="4779645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800" dirty="0"/>
          </a:p>
        </p:txBody>
      </p:sp>
      <p:sp>
        <p:nvSpPr>
          <p:cNvPr id="30" name="S07-label174"/>
          <p:cNvSpPr txBox="1"/>
          <p:nvPr/>
        </p:nvSpPr>
        <p:spPr>
          <a:xfrm>
            <a:off x="2109658" y="5764054"/>
            <a:ext cx="9281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전</a:t>
            </a:r>
            <a:endParaRPr lang="ko-KR" sz="1800" dirty="0"/>
          </a:p>
        </p:txBody>
      </p:sp>
      <p:sp>
        <p:nvSpPr>
          <p:cNvPr id="31" name="S07-label176"/>
          <p:cNvSpPr txBox="1"/>
          <p:nvPr/>
        </p:nvSpPr>
        <p:spPr>
          <a:xfrm>
            <a:off x="3857210" y="4022408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800" dirty="0"/>
          </a:p>
        </p:txBody>
      </p:sp>
      <p:sp>
        <p:nvSpPr>
          <p:cNvPr id="32" name="S07-label178"/>
          <p:cNvSpPr txBox="1"/>
          <p:nvPr/>
        </p:nvSpPr>
        <p:spPr>
          <a:xfrm>
            <a:off x="4588920" y="4947752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800" dirty="0"/>
          </a:p>
        </p:txBody>
      </p:sp>
      <p:sp>
        <p:nvSpPr>
          <p:cNvPr id="33" name="S07-label180"/>
          <p:cNvSpPr txBox="1"/>
          <p:nvPr/>
        </p:nvSpPr>
        <p:spPr>
          <a:xfrm>
            <a:off x="3927028" y="5764054"/>
            <a:ext cx="9281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 전</a:t>
            </a:r>
            <a:endParaRPr lang="ko-KR" sz="1800" dirty="0"/>
          </a:p>
        </p:txBody>
      </p:sp>
      <p:sp>
        <p:nvSpPr>
          <p:cNvPr id="34" name="S07-label182"/>
          <p:cNvSpPr txBox="1"/>
          <p:nvPr/>
        </p:nvSpPr>
        <p:spPr>
          <a:xfrm>
            <a:off x="5674580" y="3180864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800" dirty="0"/>
          </a:p>
        </p:txBody>
      </p:sp>
      <p:sp>
        <p:nvSpPr>
          <p:cNvPr id="35" name="S07-label184"/>
          <p:cNvSpPr txBox="1"/>
          <p:nvPr/>
        </p:nvSpPr>
        <p:spPr>
          <a:xfrm>
            <a:off x="6406290" y="5073958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800" dirty="0"/>
          </a:p>
        </p:txBody>
      </p:sp>
      <p:sp>
        <p:nvSpPr>
          <p:cNvPr id="36" name="S07-label186"/>
          <p:cNvSpPr txBox="1"/>
          <p:nvPr/>
        </p:nvSpPr>
        <p:spPr>
          <a:xfrm>
            <a:off x="5929564" y="576405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ko-KR" sz="1800" dirty="0"/>
          </a:p>
        </p:txBody>
      </p:sp>
      <p:sp>
        <p:nvSpPr>
          <p:cNvPr id="37" name="S07-label188"/>
          <p:cNvSpPr txBox="1"/>
          <p:nvPr/>
        </p:nvSpPr>
        <p:spPr>
          <a:xfrm>
            <a:off x="2786314" y="2154555"/>
            <a:ext cx="32095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새솔시와 들꽃군의 인구(예시)</a:t>
            </a:r>
            <a:endParaRPr lang="ko-KR" sz="1800" dirty="0"/>
          </a:p>
        </p:txBody>
      </p:sp>
      <p:sp>
        <p:nvSpPr>
          <p:cNvPr id="38" name="S07-labelbg190"/>
          <p:cNvSpPr/>
          <p:nvPr/>
        </p:nvSpPr>
        <p:spPr>
          <a:xfrm>
            <a:off x="2064128" y="3041333"/>
            <a:ext cx="141274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07-label191"/>
          <p:cNvSpPr txBox="1"/>
          <p:nvPr/>
        </p:nvSpPr>
        <p:spPr>
          <a:xfrm>
            <a:off x="2018408" y="3012758"/>
            <a:ext cx="1504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새솔시(도시)</a:t>
            </a:r>
            <a:endParaRPr lang="ko-KR" sz="1800" dirty="0"/>
          </a:p>
        </p:txBody>
      </p:sp>
      <p:sp>
        <p:nvSpPr>
          <p:cNvPr id="40" name="S07-labelbg193"/>
          <p:cNvSpPr/>
          <p:nvPr/>
        </p:nvSpPr>
        <p:spPr>
          <a:xfrm>
            <a:off x="2064128" y="3470434"/>
            <a:ext cx="141274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07-label194"/>
          <p:cNvSpPr txBox="1"/>
          <p:nvPr/>
        </p:nvSpPr>
        <p:spPr>
          <a:xfrm>
            <a:off x="2018408" y="3441859"/>
            <a:ext cx="1504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들꽃군(촌락)</a:t>
            </a:r>
            <a:endParaRPr lang="ko-KR" sz="1800" dirty="0"/>
          </a:p>
        </p:txBody>
      </p:sp>
      <p:sp>
        <p:nvSpPr>
          <p:cNvPr id="42" name="S07-card195"/>
          <p:cNvSpPr/>
          <p:nvPr/>
        </p:nvSpPr>
        <p:spPr>
          <a:xfrm>
            <a:off x="7993502" y="2479548"/>
            <a:ext cx="364681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3" name="S07-cardtext196"/>
          <p:cNvSpPr txBox="1"/>
          <p:nvPr/>
        </p:nvSpPr>
        <p:spPr>
          <a:xfrm>
            <a:off x="8267822" y="2616708"/>
            <a:ext cx="309817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크게 늘고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도시가 커졌어요.</a:t>
            </a:r>
            <a:endParaRPr lang="ko-KR" sz="2800" dirty="0"/>
          </a:p>
        </p:txBody>
      </p:sp>
      <p:sp>
        <p:nvSpPr>
          <p:cNvPr id="44" name="S07-card197"/>
          <p:cNvSpPr/>
          <p:nvPr/>
        </p:nvSpPr>
        <p:spPr>
          <a:xfrm>
            <a:off x="7993502" y="4229100"/>
            <a:ext cx="364681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5" name="S07-cardtext198"/>
          <p:cNvSpPr txBox="1"/>
          <p:nvPr/>
        </p:nvSpPr>
        <p:spPr>
          <a:xfrm>
            <a:off x="8267822" y="4366260"/>
            <a:ext cx="309817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줄고 일할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모자라요.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아기는 줄고 어르신은 늘어요</a:t>
            </a:r>
            <a:endParaRPr lang="ko-KR" sz="4000" dirty="0"/>
          </a:p>
        </p:txBody>
      </p:sp>
      <p:sp>
        <p:nvSpPr>
          <p:cNvPr id="3" name="S08-figure199" descr="막대그래프(지어낸 예시): 누리시에서 한 해에 태어난 아기 수는 30년 전 4천 명, 20년 전 3천 명, 10년 전 2천 명, 지금 1천 명. 65세 이상 어르신 수는 5천 명, 8천 명, 1만 2천 명, 2만 명"/>
          <p:cNvSpPr/>
          <p:nvPr/>
        </p:nvSpPr>
        <p:spPr>
          <a:xfrm>
            <a:off x="1668213" y="4600502"/>
            <a:ext cx="538592" cy="414301"/>
          </a:xfrm>
          <a:custGeom>
            <a:avLst/>
            <a:gdLst/>
            <a:ahLst/>
            <a:cxnLst/>
            <a:rect l="l" t="t" r="r" b="b"/>
            <a:pathLst>
              <a:path w="538592" h="414301">
                <a:moveTo>
                  <a:pt x="0" y="414301"/>
                </a:moveTo>
                <a:lnTo>
                  <a:pt x="538592" y="414301"/>
                </a:lnTo>
                <a:lnTo>
                  <a:pt x="538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" name="S08-mark200"/>
          <p:cNvSpPr/>
          <p:nvPr/>
        </p:nvSpPr>
        <p:spPr>
          <a:xfrm>
            <a:off x="2206804" y="4496927"/>
            <a:ext cx="538592" cy="517876"/>
          </a:xfrm>
          <a:custGeom>
            <a:avLst/>
            <a:gdLst/>
            <a:ahLst/>
            <a:cxnLst/>
            <a:rect l="l" t="t" r="r" b="b"/>
            <a:pathLst>
              <a:path w="538592" h="517876">
                <a:moveTo>
                  <a:pt x="0" y="517876"/>
                </a:moveTo>
                <a:lnTo>
                  <a:pt x="538592" y="517876"/>
                </a:lnTo>
                <a:lnTo>
                  <a:pt x="538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8-mark201"/>
          <p:cNvSpPr/>
          <p:nvPr/>
        </p:nvSpPr>
        <p:spPr>
          <a:xfrm>
            <a:off x="3159697" y="4704078"/>
            <a:ext cx="538592" cy="310726"/>
          </a:xfrm>
          <a:custGeom>
            <a:avLst/>
            <a:gdLst/>
            <a:ahLst/>
            <a:cxnLst/>
            <a:rect l="l" t="t" r="r" b="b"/>
            <a:pathLst>
              <a:path w="538592" h="310726">
                <a:moveTo>
                  <a:pt x="0" y="310726"/>
                </a:moveTo>
                <a:lnTo>
                  <a:pt x="538592" y="310726"/>
                </a:lnTo>
                <a:lnTo>
                  <a:pt x="538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8-mark202"/>
          <p:cNvSpPr/>
          <p:nvPr/>
        </p:nvSpPr>
        <p:spPr>
          <a:xfrm>
            <a:off x="3698289" y="4186201"/>
            <a:ext cx="538592" cy="828602"/>
          </a:xfrm>
          <a:custGeom>
            <a:avLst/>
            <a:gdLst/>
            <a:ahLst/>
            <a:cxnLst/>
            <a:rect l="l" t="t" r="r" b="b"/>
            <a:pathLst>
              <a:path w="538592" h="828602">
                <a:moveTo>
                  <a:pt x="0" y="828602"/>
                </a:moveTo>
                <a:lnTo>
                  <a:pt x="538592" y="828602"/>
                </a:lnTo>
                <a:lnTo>
                  <a:pt x="538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8-mark203"/>
          <p:cNvSpPr/>
          <p:nvPr/>
        </p:nvSpPr>
        <p:spPr>
          <a:xfrm>
            <a:off x="4651181" y="4807653"/>
            <a:ext cx="538592" cy="207151"/>
          </a:xfrm>
          <a:custGeom>
            <a:avLst/>
            <a:gdLst/>
            <a:ahLst/>
            <a:cxnLst/>
            <a:rect l="l" t="t" r="r" b="b"/>
            <a:pathLst>
              <a:path w="538592" h="207151">
                <a:moveTo>
                  <a:pt x="0" y="207151"/>
                </a:moveTo>
                <a:lnTo>
                  <a:pt x="538592" y="207151"/>
                </a:lnTo>
                <a:lnTo>
                  <a:pt x="538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8-mark204"/>
          <p:cNvSpPr/>
          <p:nvPr/>
        </p:nvSpPr>
        <p:spPr>
          <a:xfrm>
            <a:off x="5189773" y="3771900"/>
            <a:ext cx="538592" cy="1242904"/>
          </a:xfrm>
          <a:custGeom>
            <a:avLst/>
            <a:gdLst/>
            <a:ahLst/>
            <a:cxnLst/>
            <a:rect l="l" t="t" r="r" b="b"/>
            <a:pathLst>
              <a:path w="538592" h="1242904">
                <a:moveTo>
                  <a:pt x="0" y="1242904"/>
                </a:moveTo>
                <a:lnTo>
                  <a:pt x="538592" y="1242904"/>
                </a:lnTo>
                <a:lnTo>
                  <a:pt x="538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8-mark205"/>
          <p:cNvSpPr/>
          <p:nvPr/>
        </p:nvSpPr>
        <p:spPr>
          <a:xfrm>
            <a:off x="6142666" y="4911228"/>
            <a:ext cx="538592" cy="103575"/>
          </a:xfrm>
          <a:custGeom>
            <a:avLst/>
            <a:gdLst/>
            <a:ahLst/>
            <a:cxnLst/>
            <a:rect l="l" t="t" r="r" b="b"/>
            <a:pathLst>
              <a:path w="538592" h="103575">
                <a:moveTo>
                  <a:pt x="0" y="103575"/>
                </a:moveTo>
                <a:lnTo>
                  <a:pt x="538592" y="103575"/>
                </a:lnTo>
                <a:lnTo>
                  <a:pt x="538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8-mark206"/>
          <p:cNvSpPr/>
          <p:nvPr/>
        </p:nvSpPr>
        <p:spPr>
          <a:xfrm>
            <a:off x="6681257" y="2943298"/>
            <a:ext cx="538592" cy="2071506"/>
          </a:xfrm>
          <a:custGeom>
            <a:avLst/>
            <a:gdLst/>
            <a:ahLst/>
            <a:cxnLst/>
            <a:rect l="l" t="t" r="r" b="b"/>
            <a:pathLst>
              <a:path w="538592" h="2071506">
                <a:moveTo>
                  <a:pt x="0" y="2071506"/>
                </a:moveTo>
                <a:lnTo>
                  <a:pt x="538592" y="2071506"/>
                </a:lnTo>
                <a:lnTo>
                  <a:pt x="538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08-mark207"/>
          <p:cNvSpPr/>
          <p:nvPr/>
        </p:nvSpPr>
        <p:spPr>
          <a:xfrm>
            <a:off x="1461062" y="2881152"/>
            <a:ext cx="207151" cy="207151"/>
          </a:xfrm>
          <a:custGeom>
            <a:avLst/>
            <a:gdLst/>
            <a:ahLst/>
            <a:cxnLst/>
            <a:rect l="l" t="t" r="r" b="b"/>
            <a:pathLst>
              <a:path w="207151" h="207151">
                <a:moveTo>
                  <a:pt x="0" y="207151"/>
                </a:moveTo>
                <a:lnTo>
                  <a:pt x="207151" y="207151"/>
                </a:lnTo>
                <a:lnTo>
                  <a:pt x="207151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8-mark208"/>
          <p:cNvSpPr/>
          <p:nvPr/>
        </p:nvSpPr>
        <p:spPr>
          <a:xfrm>
            <a:off x="1461062" y="3233308"/>
            <a:ext cx="207151" cy="207151"/>
          </a:xfrm>
          <a:custGeom>
            <a:avLst/>
            <a:gdLst/>
            <a:ahLst/>
            <a:cxnLst/>
            <a:rect l="l" t="t" r="r" b="b"/>
            <a:pathLst>
              <a:path w="207151" h="207151">
                <a:moveTo>
                  <a:pt x="0" y="207151"/>
                </a:moveTo>
                <a:lnTo>
                  <a:pt x="207151" y="207151"/>
                </a:lnTo>
                <a:lnTo>
                  <a:pt x="2071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8-mark209"/>
          <p:cNvSpPr/>
          <p:nvPr/>
        </p:nvSpPr>
        <p:spPr>
          <a:xfrm>
            <a:off x="1253912" y="4496927"/>
            <a:ext cx="6380238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4" name="S08-mark210"/>
          <p:cNvSpPr/>
          <p:nvPr/>
        </p:nvSpPr>
        <p:spPr>
          <a:xfrm>
            <a:off x="1253912" y="3979051"/>
            <a:ext cx="6380238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5" name="S08-mark211"/>
          <p:cNvSpPr/>
          <p:nvPr/>
        </p:nvSpPr>
        <p:spPr>
          <a:xfrm>
            <a:off x="1253912" y="3461174"/>
            <a:ext cx="6380238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6" name="S08-mark212"/>
          <p:cNvSpPr/>
          <p:nvPr/>
        </p:nvSpPr>
        <p:spPr>
          <a:xfrm>
            <a:off x="1253912" y="2943298"/>
            <a:ext cx="6380238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7" name="S08-mark213"/>
          <p:cNvSpPr/>
          <p:nvPr/>
        </p:nvSpPr>
        <p:spPr>
          <a:xfrm flipV="1">
            <a:off x="1253912" y="2777577"/>
            <a:ext cx="0" cy="223722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8-mark214"/>
          <p:cNvSpPr/>
          <p:nvPr/>
        </p:nvSpPr>
        <p:spPr>
          <a:xfrm>
            <a:off x="1253912" y="5014804"/>
            <a:ext cx="6380238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8-label216"/>
          <p:cNvSpPr txBox="1"/>
          <p:nvPr/>
        </p:nvSpPr>
        <p:spPr>
          <a:xfrm>
            <a:off x="812884" y="4871929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20" name="S08-label218"/>
          <p:cNvSpPr txBox="1"/>
          <p:nvPr/>
        </p:nvSpPr>
        <p:spPr>
          <a:xfrm>
            <a:off x="812884" y="4354052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800" dirty="0"/>
          </a:p>
        </p:txBody>
      </p:sp>
      <p:sp>
        <p:nvSpPr>
          <p:cNvPr id="21" name="S08-label220"/>
          <p:cNvSpPr txBox="1"/>
          <p:nvPr/>
        </p:nvSpPr>
        <p:spPr>
          <a:xfrm>
            <a:off x="737446" y="3836176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22" name="S08-label222"/>
          <p:cNvSpPr txBox="1"/>
          <p:nvPr/>
        </p:nvSpPr>
        <p:spPr>
          <a:xfrm>
            <a:off x="737446" y="3318299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1800" dirty="0"/>
          </a:p>
        </p:txBody>
      </p:sp>
      <p:sp>
        <p:nvSpPr>
          <p:cNvPr id="23" name="S08-label224"/>
          <p:cNvSpPr txBox="1"/>
          <p:nvPr/>
        </p:nvSpPr>
        <p:spPr>
          <a:xfrm>
            <a:off x="737446" y="2800423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800" dirty="0"/>
          </a:p>
        </p:txBody>
      </p:sp>
      <p:sp>
        <p:nvSpPr>
          <p:cNvPr id="24" name="S08-label226"/>
          <p:cNvSpPr txBox="1"/>
          <p:nvPr/>
        </p:nvSpPr>
        <p:spPr>
          <a:xfrm>
            <a:off x="720710" y="2427552"/>
            <a:ext cx="9006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(천 명)</a:t>
            </a:r>
            <a:endParaRPr lang="ko-KR" sz="1800" dirty="0"/>
          </a:p>
        </p:txBody>
      </p:sp>
      <p:sp>
        <p:nvSpPr>
          <p:cNvPr id="25" name="S08-label228"/>
          <p:cNvSpPr txBox="1"/>
          <p:nvPr/>
        </p:nvSpPr>
        <p:spPr>
          <a:xfrm>
            <a:off x="1807207" y="4291907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26" name="S08-label230"/>
          <p:cNvSpPr txBox="1"/>
          <p:nvPr/>
        </p:nvSpPr>
        <p:spPr>
          <a:xfrm>
            <a:off x="2345798" y="4188332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800" dirty="0"/>
          </a:p>
        </p:txBody>
      </p:sp>
      <p:sp>
        <p:nvSpPr>
          <p:cNvPr id="27" name="S08-label232"/>
          <p:cNvSpPr txBox="1"/>
          <p:nvPr/>
        </p:nvSpPr>
        <p:spPr>
          <a:xfrm>
            <a:off x="1742746" y="5099794"/>
            <a:ext cx="9281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30년 전</a:t>
            </a:r>
            <a:endParaRPr lang="ko-KR" sz="1800" dirty="0"/>
          </a:p>
        </p:txBody>
      </p:sp>
      <p:sp>
        <p:nvSpPr>
          <p:cNvPr id="28" name="S08-label234"/>
          <p:cNvSpPr txBox="1"/>
          <p:nvPr/>
        </p:nvSpPr>
        <p:spPr>
          <a:xfrm>
            <a:off x="3298691" y="4395482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800" dirty="0"/>
          </a:p>
        </p:txBody>
      </p:sp>
      <p:sp>
        <p:nvSpPr>
          <p:cNvPr id="29" name="S08-label236"/>
          <p:cNvSpPr txBox="1"/>
          <p:nvPr/>
        </p:nvSpPr>
        <p:spPr>
          <a:xfrm>
            <a:off x="3837282" y="3877606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800" dirty="0"/>
          </a:p>
        </p:txBody>
      </p:sp>
      <p:sp>
        <p:nvSpPr>
          <p:cNvPr id="30" name="S08-label238"/>
          <p:cNvSpPr txBox="1"/>
          <p:nvPr/>
        </p:nvSpPr>
        <p:spPr>
          <a:xfrm>
            <a:off x="3234231" y="5099794"/>
            <a:ext cx="9281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 전</a:t>
            </a:r>
            <a:endParaRPr lang="ko-KR" sz="1800" dirty="0"/>
          </a:p>
        </p:txBody>
      </p:sp>
      <p:sp>
        <p:nvSpPr>
          <p:cNvPr id="31" name="S08-label240"/>
          <p:cNvSpPr txBox="1"/>
          <p:nvPr/>
        </p:nvSpPr>
        <p:spPr>
          <a:xfrm>
            <a:off x="4790175" y="4499057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800" dirty="0"/>
          </a:p>
        </p:txBody>
      </p:sp>
      <p:sp>
        <p:nvSpPr>
          <p:cNvPr id="32" name="S08-label242"/>
          <p:cNvSpPr txBox="1"/>
          <p:nvPr/>
        </p:nvSpPr>
        <p:spPr>
          <a:xfrm>
            <a:off x="5253329" y="3463305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800" dirty="0"/>
          </a:p>
        </p:txBody>
      </p:sp>
      <p:sp>
        <p:nvSpPr>
          <p:cNvPr id="33" name="S08-label244"/>
          <p:cNvSpPr txBox="1"/>
          <p:nvPr/>
        </p:nvSpPr>
        <p:spPr>
          <a:xfrm>
            <a:off x="4725715" y="5099794"/>
            <a:ext cx="9281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10년 전</a:t>
            </a:r>
            <a:endParaRPr lang="ko-KR" sz="1800" dirty="0"/>
          </a:p>
        </p:txBody>
      </p:sp>
      <p:sp>
        <p:nvSpPr>
          <p:cNvPr id="34" name="S08-label246"/>
          <p:cNvSpPr txBox="1"/>
          <p:nvPr/>
        </p:nvSpPr>
        <p:spPr>
          <a:xfrm>
            <a:off x="6281659" y="4602633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800" dirty="0"/>
          </a:p>
        </p:txBody>
      </p:sp>
      <p:sp>
        <p:nvSpPr>
          <p:cNvPr id="35" name="S08-label248"/>
          <p:cNvSpPr txBox="1"/>
          <p:nvPr/>
        </p:nvSpPr>
        <p:spPr>
          <a:xfrm>
            <a:off x="6744813" y="2634702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800" dirty="0"/>
          </a:p>
        </p:txBody>
      </p:sp>
      <p:sp>
        <p:nvSpPr>
          <p:cNvPr id="36" name="S08-label250"/>
          <p:cNvSpPr txBox="1"/>
          <p:nvPr/>
        </p:nvSpPr>
        <p:spPr>
          <a:xfrm>
            <a:off x="6402365" y="509979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ko-KR" sz="1800" dirty="0"/>
          </a:p>
        </p:txBody>
      </p:sp>
      <p:sp>
        <p:nvSpPr>
          <p:cNvPr id="37" name="S08-label252"/>
          <p:cNvSpPr txBox="1"/>
          <p:nvPr/>
        </p:nvSpPr>
        <p:spPr>
          <a:xfrm>
            <a:off x="3063287" y="2137541"/>
            <a:ext cx="27614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누리시의 인구 변화(예시)</a:t>
            </a:r>
            <a:endParaRPr lang="ko-KR" sz="1800" dirty="0"/>
          </a:p>
        </p:txBody>
      </p:sp>
      <p:sp>
        <p:nvSpPr>
          <p:cNvPr id="38" name="S08-labelbg254"/>
          <p:cNvSpPr/>
          <p:nvPr/>
        </p:nvSpPr>
        <p:spPr>
          <a:xfrm>
            <a:off x="1796793" y="2870428"/>
            <a:ext cx="201625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08-label255"/>
          <p:cNvSpPr txBox="1"/>
          <p:nvPr/>
        </p:nvSpPr>
        <p:spPr>
          <a:xfrm>
            <a:off x="1751073" y="2841853"/>
            <a:ext cx="21076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해에 태어난 아기</a:t>
            </a:r>
            <a:endParaRPr lang="ko-KR" sz="1800" dirty="0"/>
          </a:p>
        </p:txBody>
      </p:sp>
      <p:sp>
        <p:nvSpPr>
          <p:cNvPr id="40" name="S08-labelbg257"/>
          <p:cNvSpPr/>
          <p:nvPr/>
        </p:nvSpPr>
        <p:spPr>
          <a:xfrm>
            <a:off x="1796793" y="3222584"/>
            <a:ext cx="180136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08-label258"/>
          <p:cNvSpPr txBox="1"/>
          <p:nvPr/>
        </p:nvSpPr>
        <p:spPr>
          <a:xfrm>
            <a:off x="1751073" y="3194009"/>
            <a:ext cx="18928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65세 이상 어르신</a:t>
            </a:r>
            <a:endParaRPr lang="ko-KR" sz="1800" dirty="0"/>
          </a:p>
        </p:txBody>
      </p:sp>
      <p:sp>
        <p:nvSpPr>
          <p:cNvPr id="42" name="S08-card259"/>
          <p:cNvSpPr/>
          <p:nvPr/>
        </p:nvSpPr>
        <p:spPr>
          <a:xfrm>
            <a:off x="8208020" y="2136648"/>
            <a:ext cx="3432292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3" name="S08-cardtext260"/>
          <p:cNvSpPr txBox="1"/>
          <p:nvPr/>
        </p:nvSpPr>
        <p:spPr>
          <a:xfrm>
            <a:off x="8482340" y="2273808"/>
            <a:ext cx="2883652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저출산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태어나는 아기가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줄어드는 것</a:t>
            </a:r>
            <a:endParaRPr lang="ko-KR" sz="2800" dirty="0"/>
          </a:p>
        </p:txBody>
      </p:sp>
      <p:sp>
        <p:nvSpPr>
          <p:cNvPr id="44" name="S08-card261"/>
          <p:cNvSpPr/>
          <p:nvPr/>
        </p:nvSpPr>
        <p:spPr>
          <a:xfrm>
            <a:off x="8208020" y="3886200"/>
            <a:ext cx="3432292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5" name="S08-cardtext262"/>
          <p:cNvSpPr txBox="1"/>
          <p:nvPr/>
        </p:nvSpPr>
        <p:spPr>
          <a:xfrm>
            <a:off x="8482340" y="4023360"/>
            <a:ext cx="2883652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고령화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인구 가운데 노인의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비율이 높아지는 것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생활은 어떻게 달라질까요?</a:t>
            </a:r>
            <a:endParaRPr lang="ko-KR" sz="4000" dirty="0"/>
          </a:p>
        </p:txBody>
      </p:sp>
      <p:sp>
        <p:nvSpPr>
          <p:cNvPr id="3" name="S09-chip26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9-text26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도시에 사람이 몰리면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도시에는 어떤 일이?</a:t>
            </a:r>
            <a:endParaRPr lang="ko-KR" sz="2800" dirty="0"/>
          </a:p>
        </p:txBody>
      </p:sp>
      <p:sp>
        <p:nvSpPr>
          <p:cNvPr id="5" name="S09-chip26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9-text266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촌락에 사람이 줄면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촌락에는 어떤 일이?</a:t>
            </a:r>
            <a:endParaRPr lang="ko-KR" sz="2800" dirty="0"/>
          </a:p>
        </p:txBody>
      </p:sp>
      <p:sp>
        <p:nvSpPr>
          <p:cNvPr id="7" name="S09-chip267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9-text268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 줄면 학교에는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일이?</a:t>
            </a:r>
            <a:endParaRPr lang="ko-KR" sz="2800" dirty="0"/>
          </a:p>
        </p:txBody>
      </p:sp>
      <p:sp>
        <p:nvSpPr>
          <p:cNvPr id="9" name="S09-chip269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09-text270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어르신이 늘면 어떤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시설이 더 필요할까요?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동네의 변화 조사</a:t>
            </a:r>
            <a:endParaRPr lang="ko-KR" sz="4000" dirty="0"/>
          </a:p>
        </p:txBody>
      </p:sp>
      <p:sp>
        <p:nvSpPr>
          <p:cNvPr id="3" name="S10-text2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조사해요.</a:t>
            </a:r>
            <a:endParaRPr lang="ko-KR" sz="2800" dirty="0"/>
          </a:p>
        </p:txBody>
      </p:sp>
      <p:sp>
        <p:nvSpPr>
          <p:cNvPr id="4" name="S10-card2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2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밖에서는 꼭 어른과 함께 다녀요.</a:t>
            </a:r>
            <a:endParaRPr lang="ko-KR" sz="2800" dirty="0"/>
          </a:p>
        </p:txBody>
      </p:sp>
      <p:sp>
        <p:nvSpPr>
          <p:cNvPr id="6" name="S10-card274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275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달라진 점 두 가지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어린이·어르신 시설 찾기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변화의 까닭 짐작하기</a:t>
            </a:r>
            <a:endParaRPr lang="ko-KR" sz="2800" dirty="0"/>
          </a:p>
        </p:txBody>
      </p:sp>
      <p:sp>
        <p:nvSpPr>
          <p:cNvPr id="8" name="S10-stepno276"/>
          <p:cNvSpPr txBox="1"/>
          <p:nvPr/>
        </p:nvSpPr>
        <p:spPr>
          <a:xfrm>
            <a:off x="548640" y="21554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10-text277"/>
          <p:cNvSpPr txBox="1"/>
          <p:nvPr/>
        </p:nvSpPr>
        <p:spPr>
          <a:xfrm>
            <a:off x="1325880" y="215544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어른께 예전의 우리 동네 모습을 여쭤요.</a:t>
            </a:r>
            <a:endParaRPr lang="ko-KR" sz="2200" dirty="0"/>
          </a:p>
        </p:txBody>
      </p:sp>
      <p:sp>
        <p:nvSpPr>
          <p:cNvPr id="10" name="S10-stepno278"/>
          <p:cNvSpPr txBox="1"/>
          <p:nvPr/>
        </p:nvSpPr>
        <p:spPr>
          <a:xfrm>
            <a:off x="548640" y="28686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10-text279"/>
          <p:cNvSpPr txBox="1"/>
          <p:nvPr/>
        </p:nvSpPr>
        <p:spPr>
          <a:xfrm>
            <a:off x="1325880" y="286867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지금과 달라진 점을 들어요.</a:t>
            </a:r>
            <a:endParaRPr lang="ko-KR" sz="2200" dirty="0"/>
          </a:p>
        </p:txBody>
      </p:sp>
      <p:sp>
        <p:nvSpPr>
          <p:cNvPr id="12" name="S10-stepno280"/>
          <p:cNvSpPr txBox="1"/>
          <p:nvPr/>
        </p:nvSpPr>
        <p:spPr>
          <a:xfrm>
            <a:off x="548640" y="36276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10-text281"/>
          <p:cNvSpPr txBox="1"/>
          <p:nvPr/>
        </p:nvSpPr>
        <p:spPr>
          <a:xfrm>
            <a:off x="1325880" y="3581908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동네에서 어린이 시설과 어르신 시설을 찾아요.</a:t>
            </a:r>
            <a:endParaRPr lang="ko-KR" sz="2200" dirty="0"/>
          </a:p>
        </p:txBody>
      </p:sp>
      <p:sp>
        <p:nvSpPr>
          <p:cNvPr id="14" name="S10-stepno282"/>
          <p:cNvSpPr txBox="1"/>
          <p:nvPr/>
        </p:nvSpPr>
        <p:spPr>
          <a:xfrm>
            <a:off x="548640" y="44282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5" name="S10-text283"/>
          <p:cNvSpPr txBox="1"/>
          <p:nvPr/>
        </p:nvSpPr>
        <p:spPr>
          <a:xfrm>
            <a:off x="1325880" y="442823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5에 기록해요.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figure284" descr="지어낸 바람 지역의 지도(예시). 아래쪽은 바다, 왼쪽은 산지, 오른쪽은 평야. 강이 산지에서 평야를 지나 바다로 흐르고, 바닷가를 따라 큰 길이 있음. 가는 산지 한가운데, 나는 강어귀와 큰 길이 만나는 바닷가 평야, 다는 강과 큰 길에서 먼 평야"/>
          <p:cNvSpPr/>
          <p:nvPr/>
        </p:nvSpPr>
        <p:spPr>
          <a:xfrm>
            <a:off x="6361176" y="2062353"/>
            <a:ext cx="5195316" cy="2523439"/>
          </a:xfrm>
          <a:custGeom>
            <a:avLst/>
            <a:gdLst/>
            <a:ahLst/>
            <a:cxnLst/>
            <a:rect l="l" t="t" r="r" b="b"/>
            <a:pathLst>
              <a:path w="5195316" h="2523439">
                <a:moveTo>
                  <a:pt x="0" y="2523439"/>
                </a:moveTo>
                <a:lnTo>
                  <a:pt x="5195316" y="2523439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FD0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11-mark285"/>
          <p:cNvSpPr/>
          <p:nvPr/>
        </p:nvSpPr>
        <p:spPr>
          <a:xfrm>
            <a:off x="6361176" y="2062353"/>
            <a:ext cx="2041017" cy="2523439"/>
          </a:xfrm>
          <a:custGeom>
            <a:avLst/>
            <a:gdLst/>
            <a:ahLst/>
            <a:cxnLst/>
            <a:rect l="l" t="t" r="r" b="b"/>
            <a:pathLst>
              <a:path w="2041017" h="2523439">
                <a:moveTo>
                  <a:pt x="0" y="0"/>
                </a:moveTo>
                <a:lnTo>
                  <a:pt x="2041017" y="0"/>
                </a:lnTo>
                <a:lnTo>
                  <a:pt x="1855470" y="1113282"/>
                </a:lnTo>
                <a:lnTo>
                  <a:pt x="1484376" y="2523439"/>
                </a:lnTo>
                <a:lnTo>
                  <a:pt x="0" y="2523439"/>
                </a:lnTo>
                <a:close/>
              </a:path>
            </a:pathLst>
          </a:custGeom>
          <a:solidFill>
            <a:srgbClr val="E3D3B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11-mark286"/>
          <p:cNvSpPr/>
          <p:nvPr/>
        </p:nvSpPr>
        <p:spPr>
          <a:xfrm>
            <a:off x="6361176" y="4585792"/>
            <a:ext cx="5195316" cy="445313"/>
          </a:xfrm>
          <a:custGeom>
            <a:avLst/>
            <a:gdLst/>
            <a:ahLst/>
            <a:cxnLst/>
            <a:rect l="l" t="t" r="r" b="b"/>
            <a:pathLst>
              <a:path w="5195316" h="445313">
                <a:moveTo>
                  <a:pt x="0" y="445313"/>
                </a:moveTo>
                <a:lnTo>
                  <a:pt x="5195316" y="445313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6" name="S11-mark287"/>
          <p:cNvSpPr/>
          <p:nvPr/>
        </p:nvSpPr>
        <p:spPr>
          <a:xfrm>
            <a:off x="6613520" y="2475010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7" name="S11-mark288"/>
          <p:cNvSpPr/>
          <p:nvPr/>
        </p:nvSpPr>
        <p:spPr>
          <a:xfrm>
            <a:off x="7689693" y="2475010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8" name="S11-mark289"/>
          <p:cNvSpPr/>
          <p:nvPr/>
        </p:nvSpPr>
        <p:spPr>
          <a:xfrm>
            <a:off x="6687739" y="3662510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9" name="S11-mark290"/>
          <p:cNvSpPr/>
          <p:nvPr/>
        </p:nvSpPr>
        <p:spPr>
          <a:xfrm>
            <a:off x="7467036" y="3736729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0" name="S11-mark291"/>
          <p:cNvSpPr/>
          <p:nvPr/>
        </p:nvSpPr>
        <p:spPr>
          <a:xfrm>
            <a:off x="6613520" y="3105869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1" name="S11-mark292"/>
          <p:cNvSpPr/>
          <p:nvPr/>
        </p:nvSpPr>
        <p:spPr>
          <a:xfrm>
            <a:off x="7689693" y="3217198"/>
            <a:ext cx="237500" cy="201875"/>
          </a:xfrm>
          <a:custGeom>
            <a:avLst/>
            <a:gdLst/>
            <a:ahLst/>
            <a:cxnLst/>
            <a:rect l="l" t="t" r="r" b="b"/>
            <a:pathLst>
              <a:path w="237500" h="201875">
                <a:moveTo>
                  <a:pt x="0" y="201875"/>
                </a:moveTo>
                <a:lnTo>
                  <a:pt x="237500" y="201875"/>
                </a:lnTo>
                <a:lnTo>
                  <a:pt x="118750" y="0"/>
                </a:lnTo>
                <a:close/>
              </a:path>
            </a:pathLst>
          </a:custGeom>
          <a:solidFill>
            <a:srgbClr val="A0784C"/>
          </a:solidFill>
          <a:ln w="12700">
            <a:solidFill>
              <a:srgbClr val="A0784C"/>
            </a:solidFill>
            <a:prstDash val="solid"/>
          </a:ln>
        </p:spPr>
      </p:sp>
      <p:sp>
        <p:nvSpPr>
          <p:cNvPr id="12" name="S11-mark293"/>
          <p:cNvSpPr/>
          <p:nvPr/>
        </p:nvSpPr>
        <p:spPr>
          <a:xfrm>
            <a:off x="8068208" y="2618994"/>
            <a:ext cx="1781251" cy="1966798"/>
          </a:xfrm>
          <a:custGeom>
            <a:avLst/>
            <a:gdLst/>
            <a:ahLst/>
            <a:cxnLst/>
            <a:rect l="l" t="t" r="r" b="b"/>
            <a:pathLst>
              <a:path w="1781251" h="1966798">
                <a:moveTo>
                  <a:pt x="0" y="0"/>
                </a:moveTo>
                <a:lnTo>
                  <a:pt x="705079" y="742188"/>
                </a:lnTo>
                <a:lnTo>
                  <a:pt x="1558595" y="1521485"/>
                </a:lnTo>
                <a:lnTo>
                  <a:pt x="1781251" y="1966798"/>
                </a:lnTo>
              </a:path>
            </a:pathLst>
          </a:custGeom>
          <a:noFill/>
          <a:ln w="44450">
            <a:solidFill>
              <a:srgbClr val="4A90C8"/>
            </a:solidFill>
            <a:prstDash val="solid"/>
          </a:ln>
        </p:spPr>
      </p:sp>
      <p:sp>
        <p:nvSpPr>
          <p:cNvPr id="13" name="S11-mark294"/>
          <p:cNvSpPr/>
          <p:nvPr/>
        </p:nvSpPr>
        <p:spPr>
          <a:xfrm>
            <a:off x="8290865" y="4288917"/>
            <a:ext cx="3191408" cy="9144"/>
          </a:xfrm>
          <a:custGeom>
            <a:avLst/>
            <a:gdLst/>
            <a:ahLst/>
            <a:cxnLst/>
            <a:rect l="l" t="t" r="r" b="b"/>
            <a:pathLst>
              <a:path w="3191408" h="9144">
                <a:moveTo>
                  <a:pt x="0" y="0"/>
                </a:moveTo>
                <a:lnTo>
                  <a:pt x="3191408" y="0"/>
                </a:lnTo>
              </a:path>
            </a:pathLst>
          </a:custGeom>
          <a:noFill/>
          <a:ln w="63500">
            <a:solidFill>
              <a:srgbClr val="8A94A3"/>
            </a:solidFill>
            <a:prstDash val="solid"/>
          </a:ln>
        </p:spPr>
      </p:sp>
      <p:sp>
        <p:nvSpPr>
          <p:cNvPr id="14" name="S11-label296"/>
          <p:cNvSpPr txBox="1"/>
          <p:nvPr/>
        </p:nvSpPr>
        <p:spPr>
          <a:xfrm>
            <a:off x="10758068" y="466557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1800" dirty="0"/>
          </a:p>
        </p:txBody>
      </p:sp>
      <p:sp>
        <p:nvSpPr>
          <p:cNvPr id="15" name="S11-label298"/>
          <p:cNvSpPr txBox="1"/>
          <p:nvPr/>
        </p:nvSpPr>
        <p:spPr>
          <a:xfrm>
            <a:off x="7010019" y="2123580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산지</a:t>
            </a:r>
            <a:endParaRPr lang="ko-KR" sz="1800" dirty="0"/>
          </a:p>
        </p:txBody>
      </p:sp>
      <p:sp>
        <p:nvSpPr>
          <p:cNvPr id="16" name="S11-label300"/>
          <p:cNvSpPr txBox="1"/>
          <p:nvPr/>
        </p:nvSpPr>
        <p:spPr>
          <a:xfrm>
            <a:off x="9422130" y="2661666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평야</a:t>
            </a:r>
            <a:endParaRPr lang="ko-KR" sz="1800" dirty="0"/>
          </a:p>
        </p:txBody>
      </p:sp>
      <p:sp>
        <p:nvSpPr>
          <p:cNvPr id="17" name="S11-label302"/>
          <p:cNvSpPr txBox="1"/>
          <p:nvPr/>
        </p:nvSpPr>
        <p:spPr>
          <a:xfrm>
            <a:off x="8680628" y="2847213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4A9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</a:t>
            </a:r>
            <a:endParaRPr lang="ko-KR" sz="1800" dirty="0"/>
          </a:p>
        </p:txBody>
      </p:sp>
      <p:sp>
        <p:nvSpPr>
          <p:cNvPr id="18" name="S11-label304"/>
          <p:cNvSpPr txBox="1"/>
          <p:nvPr/>
        </p:nvSpPr>
        <p:spPr>
          <a:xfrm>
            <a:off x="8571433" y="3923386"/>
            <a:ext cx="6263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길</a:t>
            </a:r>
            <a:endParaRPr lang="ko-KR" sz="1800" dirty="0"/>
          </a:p>
        </p:txBody>
      </p:sp>
      <p:sp>
        <p:nvSpPr>
          <p:cNvPr id="19" name="S11-labelbg306"/>
          <p:cNvSpPr/>
          <p:nvPr/>
        </p:nvSpPr>
        <p:spPr>
          <a:xfrm>
            <a:off x="7105752" y="2961716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11-label307"/>
          <p:cNvSpPr txBox="1"/>
          <p:nvPr/>
        </p:nvSpPr>
        <p:spPr>
          <a:xfrm>
            <a:off x="7060032" y="292679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21" name="S11-labelbg309"/>
          <p:cNvSpPr/>
          <p:nvPr/>
        </p:nvSpPr>
        <p:spPr>
          <a:xfrm>
            <a:off x="10074504" y="3815232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11-label310"/>
          <p:cNvSpPr txBox="1"/>
          <p:nvPr/>
        </p:nvSpPr>
        <p:spPr>
          <a:xfrm>
            <a:off x="10028784" y="378030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3" name="S11-labelbg312"/>
          <p:cNvSpPr/>
          <p:nvPr/>
        </p:nvSpPr>
        <p:spPr>
          <a:xfrm>
            <a:off x="10668254" y="2442185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11-label313"/>
          <p:cNvSpPr txBox="1"/>
          <p:nvPr/>
        </p:nvSpPr>
        <p:spPr>
          <a:xfrm>
            <a:off x="10622534" y="240726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25" name="S11-label314"/>
          <p:cNvSpPr txBox="1"/>
          <p:nvPr/>
        </p:nvSpPr>
        <p:spPr>
          <a:xfrm>
            <a:off x="6277356" y="5840730"/>
            <a:ext cx="53629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 지역(지어낸 예시)</a:t>
            </a:r>
            <a:endParaRPr lang="ko-KR" sz="2200" dirty="0"/>
          </a:p>
        </p:txBody>
      </p:sp>
      <p:sp>
        <p:nvSpPr>
          <p:cNvPr id="26" name="S11-chip31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7" name="S11-text31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가장 많이 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 같은 곳과 까닭은?</a:t>
            </a:r>
            <a:endParaRPr lang="ko-KR" sz="2800" dirty="0"/>
          </a:p>
        </p:txBody>
      </p:sp>
      <p:sp>
        <p:nvSpPr>
          <p:cNvPr id="28" name="S11-chip31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9" name="S11-text318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가장 적게 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 같은 곳과 까닭은?</a:t>
            </a:r>
            <a:endParaRPr lang="ko-KR" sz="2800" dirty="0"/>
          </a:p>
        </p:txBody>
      </p:sp>
      <p:sp>
        <p:nvSpPr>
          <p:cNvPr id="30" name="S11-chip31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1" name="S11-text320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서울·인천·경기를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부르는 말은?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수가 줄었어요</a:t>
            </a:r>
            <a:endParaRPr lang="ko-KR" sz="4000" dirty="0"/>
          </a:p>
        </p:txBody>
      </p:sp>
      <p:sp>
        <p:nvSpPr>
          <p:cNvPr id="3" name="S13-figure321" descr="막대그래프(지어낸 예시): 구름초등학교 학생 수는 20년 전 600명, 10년 전 400명, 지금 250명"/>
          <p:cNvSpPr/>
          <p:nvPr/>
        </p:nvSpPr>
        <p:spPr>
          <a:xfrm>
            <a:off x="7700175" y="3083119"/>
            <a:ext cx="696279" cy="2295580"/>
          </a:xfrm>
          <a:custGeom>
            <a:avLst/>
            <a:gdLst/>
            <a:ahLst/>
            <a:cxnLst/>
            <a:rect l="l" t="t" r="r" b="b"/>
            <a:pathLst>
              <a:path w="696279" h="2295580">
                <a:moveTo>
                  <a:pt x="0" y="2295580"/>
                </a:moveTo>
                <a:lnTo>
                  <a:pt x="696279" y="2295580"/>
                </a:lnTo>
                <a:lnTo>
                  <a:pt x="696279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" name="S13-mark322"/>
          <p:cNvSpPr/>
          <p:nvPr/>
        </p:nvSpPr>
        <p:spPr>
          <a:xfrm>
            <a:off x="8932054" y="3848491"/>
            <a:ext cx="696279" cy="1530208"/>
          </a:xfrm>
          <a:custGeom>
            <a:avLst/>
            <a:gdLst/>
            <a:ahLst/>
            <a:cxnLst/>
            <a:rect l="l" t="t" r="r" b="b"/>
            <a:pathLst>
              <a:path w="696279" h="1530208">
                <a:moveTo>
                  <a:pt x="0" y="1530208"/>
                </a:moveTo>
                <a:lnTo>
                  <a:pt x="696279" y="1530208"/>
                </a:lnTo>
                <a:lnTo>
                  <a:pt x="696279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13-mark323"/>
          <p:cNvSpPr/>
          <p:nvPr/>
        </p:nvSpPr>
        <p:spPr>
          <a:xfrm>
            <a:off x="10163933" y="4422118"/>
            <a:ext cx="696279" cy="956581"/>
          </a:xfrm>
          <a:custGeom>
            <a:avLst/>
            <a:gdLst/>
            <a:ahLst/>
            <a:cxnLst/>
            <a:rect l="l" t="t" r="r" b="b"/>
            <a:pathLst>
              <a:path w="696279" h="956581">
                <a:moveTo>
                  <a:pt x="0" y="956581"/>
                </a:moveTo>
                <a:lnTo>
                  <a:pt x="696279" y="956581"/>
                </a:lnTo>
                <a:lnTo>
                  <a:pt x="696279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13-mark324"/>
          <p:cNvSpPr/>
          <p:nvPr/>
        </p:nvSpPr>
        <p:spPr>
          <a:xfrm>
            <a:off x="7164575" y="4996128"/>
            <a:ext cx="4231237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7" name="S13-mark325"/>
          <p:cNvSpPr/>
          <p:nvPr/>
        </p:nvSpPr>
        <p:spPr>
          <a:xfrm>
            <a:off x="7164575" y="4613556"/>
            <a:ext cx="4231237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8" name="S13-mark326"/>
          <p:cNvSpPr/>
          <p:nvPr/>
        </p:nvSpPr>
        <p:spPr>
          <a:xfrm>
            <a:off x="7164575" y="4230985"/>
            <a:ext cx="4231237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9" name="S13-mark327"/>
          <p:cNvSpPr/>
          <p:nvPr/>
        </p:nvSpPr>
        <p:spPr>
          <a:xfrm>
            <a:off x="7164575" y="3848414"/>
            <a:ext cx="4231237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0" name="S13-mark328"/>
          <p:cNvSpPr/>
          <p:nvPr/>
        </p:nvSpPr>
        <p:spPr>
          <a:xfrm>
            <a:off x="7164575" y="3465843"/>
            <a:ext cx="4231237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1" name="S13-mark329"/>
          <p:cNvSpPr/>
          <p:nvPr/>
        </p:nvSpPr>
        <p:spPr>
          <a:xfrm>
            <a:off x="7164575" y="3083272"/>
            <a:ext cx="4231237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2" name="S13-mark330"/>
          <p:cNvSpPr/>
          <p:nvPr/>
        </p:nvSpPr>
        <p:spPr>
          <a:xfrm>
            <a:off x="7164575" y="2700701"/>
            <a:ext cx="4231237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3" name="S13-mark331"/>
          <p:cNvSpPr/>
          <p:nvPr/>
        </p:nvSpPr>
        <p:spPr>
          <a:xfrm flipV="1">
            <a:off x="7164575" y="2486461"/>
            <a:ext cx="0" cy="289223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3-mark332"/>
          <p:cNvSpPr/>
          <p:nvPr/>
        </p:nvSpPr>
        <p:spPr>
          <a:xfrm>
            <a:off x="7164575" y="5378699"/>
            <a:ext cx="4231237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3-label334"/>
          <p:cNvSpPr txBox="1"/>
          <p:nvPr/>
        </p:nvSpPr>
        <p:spPr>
          <a:xfrm>
            <a:off x="6632574" y="5235824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16" name="S13-label336"/>
          <p:cNvSpPr txBox="1"/>
          <p:nvPr/>
        </p:nvSpPr>
        <p:spPr>
          <a:xfrm>
            <a:off x="6481698" y="4853406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800" dirty="0"/>
          </a:p>
        </p:txBody>
      </p:sp>
      <p:sp>
        <p:nvSpPr>
          <p:cNvPr id="17" name="S13-label338"/>
          <p:cNvSpPr txBox="1"/>
          <p:nvPr/>
        </p:nvSpPr>
        <p:spPr>
          <a:xfrm>
            <a:off x="6481698" y="4470452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1800" dirty="0"/>
          </a:p>
        </p:txBody>
      </p:sp>
      <p:sp>
        <p:nvSpPr>
          <p:cNvPr id="18" name="S13-label340"/>
          <p:cNvSpPr txBox="1"/>
          <p:nvPr/>
        </p:nvSpPr>
        <p:spPr>
          <a:xfrm>
            <a:off x="6481698" y="4088034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</a:t>
            </a:r>
            <a:endParaRPr lang="ko-KR" sz="1800" dirty="0"/>
          </a:p>
        </p:txBody>
      </p:sp>
      <p:sp>
        <p:nvSpPr>
          <p:cNvPr id="19" name="S13-label342"/>
          <p:cNvSpPr txBox="1"/>
          <p:nvPr/>
        </p:nvSpPr>
        <p:spPr>
          <a:xfrm>
            <a:off x="6481698" y="3705616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</a:t>
            </a:r>
            <a:endParaRPr lang="ko-KR" sz="1800" dirty="0"/>
          </a:p>
        </p:txBody>
      </p:sp>
      <p:sp>
        <p:nvSpPr>
          <p:cNvPr id="20" name="S13-label344"/>
          <p:cNvSpPr txBox="1"/>
          <p:nvPr/>
        </p:nvSpPr>
        <p:spPr>
          <a:xfrm>
            <a:off x="6481698" y="3323198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</a:t>
            </a:r>
            <a:endParaRPr lang="ko-KR" sz="1800" dirty="0"/>
          </a:p>
        </p:txBody>
      </p:sp>
      <p:sp>
        <p:nvSpPr>
          <p:cNvPr id="21" name="S13-label346"/>
          <p:cNvSpPr txBox="1"/>
          <p:nvPr/>
        </p:nvSpPr>
        <p:spPr>
          <a:xfrm>
            <a:off x="6481698" y="2940244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</a:t>
            </a:r>
            <a:endParaRPr lang="ko-KR" sz="1800" dirty="0"/>
          </a:p>
        </p:txBody>
      </p:sp>
      <p:sp>
        <p:nvSpPr>
          <p:cNvPr id="22" name="S13-label348"/>
          <p:cNvSpPr txBox="1"/>
          <p:nvPr/>
        </p:nvSpPr>
        <p:spPr>
          <a:xfrm>
            <a:off x="6481698" y="2557826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700</a:t>
            </a:r>
            <a:endParaRPr lang="ko-KR" sz="1800" dirty="0"/>
          </a:p>
        </p:txBody>
      </p:sp>
      <p:sp>
        <p:nvSpPr>
          <p:cNvPr id="23" name="S13-label350"/>
          <p:cNvSpPr txBox="1"/>
          <p:nvPr/>
        </p:nvSpPr>
        <p:spPr>
          <a:xfrm>
            <a:off x="6753417" y="2075786"/>
            <a:ext cx="6080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1800" dirty="0"/>
          </a:p>
        </p:txBody>
      </p:sp>
      <p:sp>
        <p:nvSpPr>
          <p:cNvPr id="24" name="S13-label352"/>
          <p:cNvSpPr txBox="1"/>
          <p:nvPr/>
        </p:nvSpPr>
        <p:spPr>
          <a:xfrm>
            <a:off x="7767137" y="2726004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</a:t>
            </a:r>
            <a:endParaRPr lang="ko-KR" sz="1800" dirty="0"/>
          </a:p>
        </p:txBody>
      </p:sp>
      <p:sp>
        <p:nvSpPr>
          <p:cNvPr id="25" name="S13-label354"/>
          <p:cNvSpPr txBox="1"/>
          <p:nvPr/>
        </p:nvSpPr>
        <p:spPr>
          <a:xfrm>
            <a:off x="7584257" y="5530404"/>
            <a:ext cx="9281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 전</a:t>
            </a:r>
            <a:endParaRPr lang="ko-KR" sz="1800" dirty="0"/>
          </a:p>
        </p:txBody>
      </p:sp>
      <p:sp>
        <p:nvSpPr>
          <p:cNvPr id="26" name="S13-label356"/>
          <p:cNvSpPr txBox="1"/>
          <p:nvPr/>
        </p:nvSpPr>
        <p:spPr>
          <a:xfrm>
            <a:off x="8999016" y="3491376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</a:t>
            </a:r>
            <a:endParaRPr lang="ko-KR" sz="1800" dirty="0"/>
          </a:p>
        </p:txBody>
      </p:sp>
      <p:sp>
        <p:nvSpPr>
          <p:cNvPr id="27" name="S13-label358"/>
          <p:cNvSpPr txBox="1"/>
          <p:nvPr/>
        </p:nvSpPr>
        <p:spPr>
          <a:xfrm>
            <a:off x="8816136" y="5530404"/>
            <a:ext cx="9281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10년 전</a:t>
            </a:r>
            <a:endParaRPr lang="ko-KR" sz="1800" dirty="0"/>
          </a:p>
        </p:txBody>
      </p:sp>
      <p:sp>
        <p:nvSpPr>
          <p:cNvPr id="28" name="S13-label360"/>
          <p:cNvSpPr txBox="1"/>
          <p:nvPr/>
        </p:nvSpPr>
        <p:spPr>
          <a:xfrm>
            <a:off x="10230895" y="4065003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</a:t>
            </a:r>
            <a:endParaRPr lang="ko-KR" sz="1800" dirty="0"/>
          </a:p>
        </p:txBody>
      </p:sp>
      <p:sp>
        <p:nvSpPr>
          <p:cNvPr id="29" name="S13-label362"/>
          <p:cNvSpPr txBox="1"/>
          <p:nvPr/>
        </p:nvSpPr>
        <p:spPr>
          <a:xfrm>
            <a:off x="10233181" y="553040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ko-KR" sz="1800" dirty="0"/>
          </a:p>
        </p:txBody>
      </p:sp>
      <p:sp>
        <p:nvSpPr>
          <p:cNvPr id="30" name="S13-label364"/>
          <p:cNvSpPr txBox="1"/>
          <p:nvPr/>
        </p:nvSpPr>
        <p:spPr>
          <a:xfrm>
            <a:off x="7787436" y="1700866"/>
            <a:ext cx="29855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구름초등학교 학생 수(예시)</a:t>
            </a:r>
            <a:endParaRPr lang="ko-KR" sz="1800" dirty="0"/>
          </a:p>
        </p:txBody>
      </p:sp>
      <p:sp>
        <p:nvSpPr>
          <p:cNvPr id="31" name="S13-chip36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2" name="S13-text36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 동안 학생은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명 줄었나요?</a:t>
            </a:r>
            <a:endParaRPr lang="ko-KR" sz="2800" dirty="0"/>
          </a:p>
        </p:txBody>
      </p:sp>
      <p:sp>
        <p:nvSpPr>
          <p:cNvPr id="33" name="S13-chip36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4" name="S13-text368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변한 까닭으로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것 두 가지는?</a:t>
            </a:r>
            <a:endParaRPr lang="ko-KR" sz="2800" dirty="0"/>
          </a:p>
        </p:txBody>
      </p:sp>
      <p:sp>
        <p:nvSpPr>
          <p:cNvPr id="35" name="S13-chip36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6" name="S13-text370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생길 수 있는 일과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생각 하나는?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7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7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사람들은 평야, 교통이 편리하고 일자리가 많은 곳에 모여 살아요.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도시로의 이동, 저출산·고령화로 생활이 달라지고 있어요.</a:t>
            </a:r>
            <a:endParaRPr lang="ko-KR" sz="2800" dirty="0"/>
          </a:p>
        </p:txBody>
      </p:sp>
      <p:sp>
        <p:nvSpPr>
          <p:cNvPr id="5" name="S14-chip37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지도·그래프에서 근거 찾기</a:t>
            </a:r>
            <a:endParaRPr lang="ko-KR" sz="2200" dirty="0"/>
          </a:p>
        </p:txBody>
      </p:sp>
      <p:sp>
        <p:nvSpPr>
          <p:cNvPr id="6" name="S14-chip37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땅의 넓이로만 판단하기</a:t>
            </a:r>
            <a:endParaRPr lang="ko-KR" sz="2200" dirty="0"/>
          </a:p>
        </p:txBody>
      </p:sp>
      <p:sp>
        <p:nvSpPr>
          <p:cNvPr id="7" name="S14-text37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7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사람이 많이 모이는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곳의 조건 두 가지는?</a:t>
            </a:r>
            <a:endParaRPr lang="ko-KR" sz="2200" dirty="0"/>
          </a:p>
        </p:txBody>
      </p:sp>
      <p:sp>
        <p:nvSpPr>
          <p:cNvPr id="9" name="S14-text37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서울·인천·경기를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부르는 말은?</a:t>
            </a:r>
            <a:endParaRPr lang="ko-KR" sz="2200" dirty="0"/>
          </a:p>
        </p:txBody>
      </p:sp>
      <p:sp>
        <p:nvSpPr>
          <p:cNvPr id="10" name="S14-text37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저출산이란?</a:t>
            </a:r>
            <a:endParaRPr lang="ko-KR" sz="2200" dirty="0"/>
          </a:p>
        </p:txBody>
      </p:sp>
      <p:sp>
        <p:nvSpPr>
          <p:cNvPr id="11" name="S14-text37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선사 시대와 고조선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촌락과 도시 다시 보기</a:t>
            </a:r>
            <a:endParaRPr lang="ko-KR" sz="4000" dirty="0"/>
          </a:p>
        </p:txBody>
      </p:sp>
      <p:graphicFrame>
        <p:nvGraphicFramePr>
          <p:cNvPr id="15" name="S15-table3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52984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4389120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촌락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모습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산·들·바다 같은 자연이 넓어요.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높은 건물과 넓은 도로가 많아요.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주로 하는 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농사, 고기잡이처럼 자연을 이용해요.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회사·가게·공장에서 여러 가지 일을 해요.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사는 사람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집이 띄엄띄엄 있고 사람이 적어요.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사람이 많이 모여 살아요.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인구와 도시</dc:title>
  <dc:subject>KR22-G05-SOC-POPULATION-L01</dc:subject>
  <dc:creator>education-ppt</dc:creator>
  <cp:lastModifiedBy>education-ppt</cp:lastModifiedBy>
  <cp:revision>1</cp:revision>
  <dcterms:created xsi:type="dcterms:W3CDTF">2026-10-26T13:24:55Z</dcterms:created>
  <dcterms:modified xsi:type="dcterms:W3CDTF">2026-10-26T13:24:55Z</dcterms:modified>
</cp:coreProperties>
</file>