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36aa53b-fe08-3ac4-0033-4249318c175e}">
          <p14:sldIdLst>
            <p14:sldId id="256"/>
            <p14:sldId id="257"/>
          </p14:sldIdLst>
        </p14:section>
        <p14:section name="개념" id="{05864b63-9e2c-609a-8384-48c3cc29d211}">
          <p14:sldIdLst>
            <p14:sldId id="258"/>
            <p14:sldId id="259"/>
            <p14:sldId id="262"/>
            <p14:sldId id="263"/>
          </p14:sldIdLst>
        </p14:section>
        <p14:section name="연습" id="{4c51982f-df82-957c-d13b-4f53bf524030}">
          <p14:sldIdLst>
            <p14:sldId id="260"/>
            <p14:sldId id="261"/>
            <p14:sldId id="264"/>
            <p14:sldId id="265"/>
          </p14:sldIdLst>
        </p14:section>
        <p14:section name="개념" id="{06f61539-630a-66d2-d0b1-9765816f640c}">
          <p14:sldIdLst/>
        </p14:section>
        <p14:section name="연습" id="{24c84f00-fd00-d4a9-4c4a-d0a8aca7fe12}">
          <p14:sldIdLst/>
        </p14:section>
        <p14:section name="확인" id="{269f21ba-af0f-edc1-91e5-26c0c3c0a1d6}">
          <p14:sldIdLst>
            <p14:sldId id="266"/>
            <p14:sldId id="267"/>
            <p14:sldId id="268"/>
          </p14:sldIdLst>
        </p14:section>
        <p14:section name="정리" id="{03ee8125-5d71-7ff0-85cc-6f4127c0705e}">
          <p14:sldIdLst>
            <p14:sldId id="269"/>
          </p14:sldIdLst>
        </p14:section>
        <p14:section name="보충" id="{b19246da-bda8-444c-1e5d-7d9f5c9ab9c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사람이 많은 곳과 적은 곳을 떠올리게 합니다.
시간: 약 2분
이렇게 말해 보세요
- “사람이 아주 많은 곳에 가 본 적 있어? 사람이 거의 없는 곳은?”
- “왜 어떤 곳에는 사람이 많고 어떤 곳에는 적을까? 오늘은 그 까닭과, 사람들이 사는 곳이 바뀌면서 생활이 어떻게 달라졌는지 알아볼 거야.”
예상 답
- “큰 도시요. 지하철에 사람이 많아요.” “할머니 댁 시골은 사람이 적어요.”
막히면
- 명절에 고속 도로가 붐비는 까닭(도시에 사는 사람이 고향에 다녀옴)을 이야기해 봅니다.
주의
- 오늘 나오는 지도와 그래프는 모두 수업을 위해 지어낸 예시입니다. 실제 통계는 쓰지 않고, 우리나라의 모습은 말로만 설명합니다.
- 어느 곳에 사는 것이 더 좋다는 판단은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확인(지형, 촌락과 도시)]
목적: 지난 차시 ‘국토의 자연환경’의 지형 특징과 4학년 ‘촌락과 도시’를 확인합니다. 오늘 사람들이 사는 곳을 설명할 때 그대로 씁니다.
시간: 약 3분
이렇게 말해 보세요
- “우리나라는 어떤 땅이 많았지? 평평한 땅은 어디에 많았어?”
- “③은 4학년 때 배운 거야. 기억나?”
정답
- ① 산지
- ② 서쪽(서쪽과 남쪽)
- ③ 도시
막히면
- ①·②가 어려우면 지난 차시 S03을 다시 봅니다. ③이 어려우면 S15(보충)를 먼저 합니다.
주의
- ②에서 ‘서해 쪽’이라고 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인구 분포 지도 읽기]
목적: 점으로 사람 수를 나타낸 인구 분포 지도를 읽고, 사람들이 평야·강·큰 길 가까이에 많이 살고 산지에는 적게 산다는 것을 알게 합니다(목표 A).
시간: 약 3분
이렇게 말해 보세요
- “이 지도는 지어낸 ‘누리 지역’이야. 점 하나가 1만 명이야. 점이 가장 많이 모인 곳은 어디야?”
- “새솔시 둘레에는 무엇이 있어? 땅은 어때?”
- “산지에는 점이 몇 개야? 왜 적을까?”
예상 답
- “새솔시요. 점이 엄청 많아요.” “강이랑 바다, 큰 길이 있어요. 평평해요.” “산은 집 짓기 어려워서요.”
막히면
- 범례(아래쪽 설명)를 먼저 함께 읽고, 색깔마다 어떤 땅인지 짚어 봅니다.
주의
- 지도와 점의 수는 수업을 위해 지어낸 예시입니다. 실제 인구 분포도도 이렇게 점이나 색으로 사람 수를 나타냅니다.
- 점 수: 새솔시 둘레 14개, 큰 길 옆 6개, 산지 2개(S05에서 셉니다).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사람이 모이는 까닭]
목적: 사람들이 평평한 땅, 편리한 교통, 많은 일자리, 여러 시설이 있는 곳에 모여 산다는 것과, 우리나라는 수도권에 인구가 많이 모여 있다는 것을 알려 줍니다(목표 A).
시간: 약 3분
이렇게 말해 보세요
- “네 가지 가운데 우리 가족이 지금 사는 곳을 고를 때 중요했던 것은 무엇일까?” (부모님이 실제 까닭을 한 가지 들려줍니다)
- “서울과 그 둘레의 인천, 경기도를 합쳐 ‘수도권’이라고 해. 우리나라에서 사람이 가장 많이 모여 사는 곳이야. 왜 그럴까?”
예상 답
- “아빠 회사가 가까워서요.” “수도권에는 회사랑 학교가 많아서요.”
막히면
- 카드를 하나씩 가리키며 “이게 없으면 살기 어떨까?”라고 물어봅니다.
주의
- 부모님 참고: 우리나라 인구의 약 절반이 수도권에 살고 있습니다. 아이에게는 ‘아주 많이’라고만 말해도 됩니다.
- 수도권에 사는 것이 더 좋다는 뜻이 아닙니다. 사람이 많이 모이면 좋은 점과 문제가 함께 생긴다는 것은 S09에서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인구 분포 지도에서 까닭 찾기]
목적: 인구 분포 지도에서 점을 세어 사람 수를 비교하고, 사람이 많은 까닭을 지도에서 찾아 말하는 연습을 합니다(목표 A).
시간: 약 3분
이렇게 말해 보세요
- “점 하나가 1만 명이었지? 가의 점을 세어 볼래? 연필로 하나씩 표시하면서 세면 빠뜨리지 않아.”
- “가 둘레에는 무엇이 있어? 그것이 사는 데 어떻게 도움이 될까?”
정답
- ① 가 14만 명, 나 6만 명, 다 2만 명
- ② 12만 명 (14 − 2 = 12)
- ③ 예: 평평한 평야예요. 강과 바다가 가까워요. 큰 길이 있어 오가기 편해요. (지도에서 찾은 까닭 두 가지면 맞음)
막히면
- ①은 화면을 가리키며 한 줄씩 함께 셉니다. ③은 S04의 카드 네 장을 떠올리게 합니다.
주의
- 누리 지역의 사람은 모두 22만 명입니다(14 + 6 + 2). 점이 많은 곳은 땅이 넓은 곳이 아니라는 것을 다음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비교(땅이 넓으면 사람이 많다)]
목적: 사람이 많이 사는 곳은 땅의 넓이가 아니라 살기 좋은 조건(평평한 땅, 교통, 일자리)에 따라 정해진다는 것을 지도로 확인합니다(목표 A, 오해 M1).
시간: 약 2분
이렇게 말해 보세요
- “S05 지도에서 산지는 땅이 넓었지? 점은 몇 개였어?”
- “그럼 사람 수는 땅의 넓이로 정해질까, 살기 좋은 조건으로 정해질까?”
정답
- 나. 산지는 땅이 넓어도 점이 2개(2만 명)뿐이고, 좁은 새솔시 둘레에 점이 14개(14만 명) 있어요. 사람은 평평하고 교통이 편리하며 일자리가 많은 곳에 모여 살아요.
막히면
- S05의 지도를 다시 보여 주고 다 지역을 손가락으로 크게 한 바퀴 그린 뒤 점을 세게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도시 발달과 인구 이동]
목적: 산업이 발달하면서 사람들이 일자리를 찾아 촌락에서 도시로 옮겨 가 도시는 커지고 촌락의 인구는 줄었다는 것을 예시 그래프로 알려 줍니다(목표 B).
시간: 약 3분
이렇게 말해 보세요
- “파란 막대는 도시인 새솔시, 주황 막대는 촌락인 들꽃군이야. 40년 동안 새솔시 인구는 어떻게 변했어? 몇만 명 늘었을까?”
- “들꽃군은? 들꽃군에 살던 사람들은 어디로 갔을까?”
예상 답
- “10만 명에서 50만 명으로 늘었어요. 40만 명이요.” “7만 명 줄었어요. 도시로 이사 갔어요.”
막히면
- 막대 위의 숫자를 차례로 읽게 한 뒤 “늘었어, 줄었어?”만 먼저 묻습니다.
주의
- 새솔시·들꽃군과 그래프의 값은 수업을 위해 지어낸 예시입니다(50 − 10 = 40, 12 − 5 = 7, 50 ÷ 10 = 5배).
- 부모님 참고: 우리나라는 1960년대 이후 공업이 빠르게 발달하면서 많은 사람이 촌락에서 도시로 옮겨 갔습니다. 실제 숫자는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저출산과 고령화]
목적: 태어나는 아기가 줄어드는 저출산과, 전체 인구 가운데 노인의 비율이 높아지는 고령화를 예시 그래프로 알려 줍니다(목표 B).
시간: 약 3분
이렇게 말해 보세요
- “초록 막대는 한 해에 태어난 아기 수, 주황 막대는 65세 이상 어르신 수야. 30년 동안 아기 수는 어떻게 변했어?”
- “어르신 수는? 30년 전과 비교하면 몇 배가 되었을까?”
- “아기가 적게 태어나는 것을 ‘저출산’, 인구 가운데 어르신이 차지하는 비율이 높아지는 것을 ‘고령화’라고 해.”
예상 답
- “4천 명에서 1천 명으로 줄었어요.” “5천 명에서 2만 명으로 4배가 됐어요.”
막히면
- “천 명” 단위가 어려우면 막대 위의 숫자만 비교하게 하고 단위는 나중에 붙입니다.
주의
- 누리시와 그래프의 값은 지어낸 예시입니다(4 − 1 = 3천 명 줄어듦, 20 ÷ 5 = 4배). 우리나라도 저출산과 고령화가 함께 나타나고 있지만 실제 숫자는 다루지 않습니다.
- 저출산·고령화는 누구의 잘못이 아니라 사회 전체가 함께 대비하는 변화라는 것을 차분하게 말해 줍니다. 어르신을 부담으로 표현하지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인구 변화가 생활에 주는 영향]
목적: 도시로의 인구 이동과 저출산·고령화가 생활에 주는 영향을 상황별로 추론합니다(목표 B).
시간: 약 4분
이렇게 말해 보세요
- “사람이 많아지면 길, 집, 공기는 어떻게 될까?”
- “④는 우리 동네에서 본 것을 떠올려 봐.”
정답
- ① 예: 길이 막혀요(교통 혼잡). 집이 모자라요. 쓰레기와 공기 오염이 늘어요.
- ② 예: 농사지을 사람이 모자라요. 빈집이 생겨요. 학교나 버스가 줄어요.
- ③ 예: 학생 수가 줄어 반이 줄거나 학교가 문을 닫아요.
- ④ 예: 노인 복지관, 경로당, 병원, 엘리베이터·경사로처럼 다니기 편한 시설
막히면
- “네가 그 동네에 산다면 무엇이 불편할까?”라고 바꾸어 묻습니다.
주의
- 여러 답이 가능합니다. 상황과 이어지는 까닭을 말하면 맞습니다. 문제를 해결하려는 노력(대중교통 늘리기, 촌락에 일자리 만들기 등)도 함께 이야기하면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동네 인구 변화 조사(부모와 함께)]
목적: 우리 동네의 인구와 생활 변화를 어른 인터뷰와 동네 살펴보기로 조사하는 방법을 안내합니다(목표 A·B). 실제 조사는 수업 뒤에 해도 됩니다.
시간: 약 3분
이렇게 말해 보세요
- “엄마(아빠)가 어렸을 때 살던 동네는 지금과 무엇이 달랐을까? 할머니·할아버지께 전화로 여쭤봐도 좋아.”
- “우리 동네에는 어린이집·놀이터 같은 어린이 시설과 경로당·노인 복지관 같은 어르신 시설이 각각 어디에 있을까?”
예상 답
- “예전에는 논이었는데 아파트가 생겼대요.” “학교 학생이 많았대요.”
정답
- 기준: 어른께 들은 동네의 달라진 점을 두 가지 쓰고, 동네의 어린이 시설과 어르신 시설을 하나 이상 찾으며, 변화의 까닭을 오늘 배운 말(도시로 이동, 저출산, 고령화 등)로 짐작해 말하면 잘한 것입니다. 답은 사는 곳마다 다릅니다.
막히면
- 여쭐 어른이 없으면 부모님이 기억하는 동네 이야기로 대신하고, 지도 앱으로 동네의 시설을 함께 찾습니다.
주의
- 가족의 이사 이야기 등 개인적인 일은 편하게 말할 수 있는 만큼만 나눕니다.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보기(인구 분포 예상하기)]
목적: 처음 보는 지도에서 지형·강·교통을 근거로 인구가 많을 곳과 적을 곳을 예상하고 까닭을 말하는지 확인합니다(목표 A).
시간: 약 4분
이렇게 말해 보세요
- “이 지도에는 점이 없어. 땅의 모습과 강, 큰 길을 보고 사람이 어디에 많이 살지 예상해 볼래? 까닭도 말해 줘.”
정답
- ① 나. 평야이고 강과 바다가 가까우며 큰 길이 지나가서 오가기 편해요(까닭 두 가지 이상이면 맞음).
- ② 가. 높고 험한 산지라 집을 짓거나 농사짓기 어렵고 교통이 불편해요.
- ③ 수도권
막히면
- “가, 나, 다는 각각 어떤 땅이야? 둘레에 무엇이 있어?”를 먼저 묻습니다. 도움을 받아 풀었다면 기록표에 ‘도움’으로 표시합니다.
주의
- ②에서 ‘다’를 고르고 ‘길과 강에서 멀어서’라고 까닭을 말하면 생각은 인정하고, 산지인 가와 비교해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까닭이 왼쪽과 같아? 땅이 넓은 곳에 사람이 많을 거라는 생각은 왜 아쉬울까?”
예상 답
- “산지는 넓어도 살기 어려워요.”
정답
- ① 나(평야, 강·바다 가까움, 큰 길) ② 가(험한 산지, 교통 불편) ③ 수도권
막히면
- S04,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확인(인구 변화와 생활)]
목적: 처음 보는 예시 그래프에서 변화를 계산하고, 인구 변화(저출산, 도시로의 이동)와 이어 까닭을 말하며, 생활에 주는 영향과 해결 생각을 말하는지 확인합니다(목표 B).
시간: 약 3분
이렇게 말해 보세요
- “구름초등학교는 지어낸 학교야. 그래프를 보고 혼자 답해 볼래?”
정답
- ① 350명 (600 − 250 = 350)
- ② 예: 태어나는 아기가 줄었어요(저출산). 젊은 가족이 도시로 이사 갔어요.
- ③ 예: 반이 줄거나 학교가 문을 닫을 수 있어요 / 가까운 학교와 함께 활동하기, 빈 교실을 마을 사람들이 함께 쓰기(생길 일과 생각이 서로 이어지면 맞음)
막히면
- ②는 S07과 S08의 제목만 다시 보여 줍니다. 그래도 어려우면 기록표에 ‘도움’으로 적습니다.
주의
- 그래프의 값은 지어낸 예시입니다. ②에서 까닭 하나만 말하면 “또 다른 까닭은 없을까?”라고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“사람들은 어떤 곳에 모여 살아? 요즘 우리나라 인구에는 어떤 변화가 있어?”
예상 답
- “평평하고 일자리가 많은 곳이요. 아기가 줄고 어르신이 늘어요.”
정답
- ① 예: 평평한 땅, 편리한 교통, 많은 일자리, 학교·병원 등 시설 가운데 두 가지 ② 수도권 ③ 태어나는 아기가 줄어드는 것
막히면
- S04, S08을 다시 보여 줍니다.
주의
- 활동지 5의 조사(어른 인터뷰, 동네 시설 찾기)는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보충(촌락과 도시)]
목적: S02 ③이 흔들리면 4학년에서 배운 촌락과 도시의 차이를 다시 확인합니다.
시간: 약 4분
이렇게 말해 보세요
- “엄마(아빠)가 촌락 칸을 읽을 테니 너는 도시 칸을 읽어 볼래?”
- “우리 동네는 촌락과 도시 중 어디에 더 가까울까? 무엇을 보고 그렇게 생각했어?”
예상 답
- “아파트와 가게가 많아서 도시에 가까워요.”
막히면
- 창밖이나 동네 사진을 보며 표의 낱말(건물, 도로, 논밭)을 찾아봅니다.
주의
- 계획상 이 차시의 선수 차시는 ‘국토의 자연환경’(KR22-G05-SOC-NATURE-L01)입니다. 지형(산지·평야)이 흔들리면 그 차시의 S03을 다시 하고, 촌락과 도시의 차이가 많이 흔들리면 4학년 ‘촌락과 도시’(KR22-G04-SOC-REGION-L01)를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인구와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왜 어떤 곳에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모여 살까요?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많이 사는 곳과 그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 발달과 인구 변화가 생활에 준 영향을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국토에 가장 많은 지형은?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평야는 주로 어느 쪽에 있나요?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 중 사람이 많이 모여 사는 곳은?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어디에 모여 살까요?</a:t>
            </a:r>
            <a:endParaRPr lang="ko-KR" sz="4000" dirty="0"/>
          </a:p>
        </p:txBody>
      </p:sp>
      <p:sp>
        <p:nvSpPr>
          <p:cNvPr id="3" name="S03-figure9" descr="지어낸 누리 지역의 인구 분포 지도(예시). 왼쪽은 바다, 오른쪽 위는 산지, 나머지는 평야. 강이 산지에서 바다로 흐르고 큰 길이 동서로 지나감. 강어귀 가까운 평야(새솔시)에 점 14개, 큰 길 옆 평야에 점 6개, 넓은 산지에 점 2개. 점 하나는 1만 명"/>
          <p:cNvSpPr/>
          <p:nvPr/>
        </p:nvSpPr>
        <p:spPr>
          <a:xfrm>
            <a:off x="1527875" y="1532045"/>
            <a:ext cx="5372492" cy="4029369"/>
          </a:xfrm>
          <a:custGeom>
            <a:avLst/>
            <a:gdLst/>
            <a:ahLst/>
            <a:cxnLst/>
            <a:rect l="l" t="t" r="r" b="b"/>
            <a:pathLst>
              <a:path w="5372492" h="4029369">
                <a:moveTo>
                  <a:pt x="0" y="4029369"/>
                </a:moveTo>
                <a:lnTo>
                  <a:pt x="5372492" y="4029369"/>
                </a:lnTo>
                <a:lnTo>
                  <a:pt x="5372492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3-mark10"/>
          <p:cNvSpPr/>
          <p:nvPr/>
        </p:nvSpPr>
        <p:spPr>
          <a:xfrm>
            <a:off x="3990267" y="1532045"/>
            <a:ext cx="2910100" cy="2417621"/>
          </a:xfrm>
          <a:custGeom>
            <a:avLst/>
            <a:gdLst/>
            <a:ahLst/>
            <a:cxnLst/>
            <a:rect l="l" t="t" r="r" b="b"/>
            <a:pathLst>
              <a:path w="2910100" h="2417621">
                <a:moveTo>
                  <a:pt x="0" y="0"/>
                </a:moveTo>
                <a:lnTo>
                  <a:pt x="2910100" y="0"/>
                </a:lnTo>
                <a:lnTo>
                  <a:pt x="2910100" y="2417621"/>
                </a:lnTo>
                <a:lnTo>
                  <a:pt x="1566977" y="2148997"/>
                </a:lnTo>
                <a:lnTo>
                  <a:pt x="671561" y="1701289"/>
                </a:lnTo>
                <a:lnTo>
                  <a:pt x="0" y="1119269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3-mark11"/>
          <p:cNvSpPr/>
          <p:nvPr/>
        </p:nvSpPr>
        <p:spPr>
          <a:xfrm>
            <a:off x="632460" y="1532045"/>
            <a:ext cx="895415" cy="4029369"/>
          </a:xfrm>
          <a:custGeom>
            <a:avLst/>
            <a:gdLst/>
            <a:ahLst/>
            <a:cxnLst/>
            <a:rect l="l" t="t" r="r" b="b"/>
            <a:pathLst>
              <a:path w="895415" h="4029369">
                <a:moveTo>
                  <a:pt x="0" y="4029369"/>
                </a:moveTo>
                <a:lnTo>
                  <a:pt x="895415" y="4029369"/>
                </a:lnTo>
                <a:lnTo>
                  <a:pt x="895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3-mark12"/>
          <p:cNvSpPr/>
          <p:nvPr/>
        </p:nvSpPr>
        <p:spPr>
          <a:xfrm>
            <a:off x="4876729" y="2119437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6130310" y="2074666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6264622" y="3149165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03-mark15"/>
          <p:cNvSpPr/>
          <p:nvPr/>
        </p:nvSpPr>
        <p:spPr>
          <a:xfrm>
            <a:off x="4339479" y="2074666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6488476" y="2477603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5055812" y="3014852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>
            <a:off x="1527875" y="2919938"/>
            <a:ext cx="3133954" cy="582020"/>
          </a:xfrm>
          <a:custGeom>
            <a:avLst/>
            <a:gdLst/>
            <a:ahLst/>
            <a:cxnLst/>
            <a:rect l="l" t="t" r="r" b="b"/>
            <a:pathLst>
              <a:path w="3133954" h="582020">
                <a:moveTo>
                  <a:pt x="3133954" y="0"/>
                </a:moveTo>
                <a:lnTo>
                  <a:pt x="2328080" y="402937"/>
                </a:lnTo>
                <a:lnTo>
                  <a:pt x="1566977" y="492478"/>
                </a:lnTo>
                <a:lnTo>
                  <a:pt x="984957" y="537249"/>
                </a:lnTo>
                <a:lnTo>
                  <a:pt x="0" y="582020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03-mark19"/>
          <p:cNvSpPr/>
          <p:nvPr/>
        </p:nvSpPr>
        <p:spPr>
          <a:xfrm>
            <a:off x="2691915" y="4263061"/>
            <a:ext cx="4118910" cy="582020"/>
          </a:xfrm>
          <a:custGeom>
            <a:avLst/>
            <a:gdLst/>
            <a:ahLst/>
            <a:cxnLst/>
            <a:rect l="l" t="t" r="r" b="b"/>
            <a:pathLst>
              <a:path w="4118910" h="582020">
                <a:moveTo>
                  <a:pt x="0" y="0"/>
                </a:moveTo>
                <a:lnTo>
                  <a:pt x="1074498" y="313395"/>
                </a:lnTo>
                <a:lnTo>
                  <a:pt x="2417621" y="313395"/>
                </a:lnTo>
                <a:lnTo>
                  <a:pt x="4118910" y="582020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03-mark20"/>
          <p:cNvSpPr/>
          <p:nvPr/>
        </p:nvSpPr>
        <p:spPr>
          <a:xfrm>
            <a:off x="1827839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mark21"/>
          <p:cNvSpPr/>
          <p:nvPr/>
        </p:nvSpPr>
        <p:spPr>
          <a:xfrm>
            <a:off x="2051693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mark22"/>
          <p:cNvSpPr/>
          <p:nvPr/>
        </p:nvSpPr>
        <p:spPr>
          <a:xfrm>
            <a:off x="2275547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mark23"/>
          <p:cNvSpPr/>
          <p:nvPr/>
        </p:nvSpPr>
        <p:spPr>
          <a:xfrm>
            <a:off x="2499401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mark24"/>
          <p:cNvSpPr/>
          <p:nvPr/>
        </p:nvSpPr>
        <p:spPr>
          <a:xfrm>
            <a:off x="1939766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mark25"/>
          <p:cNvSpPr/>
          <p:nvPr/>
        </p:nvSpPr>
        <p:spPr>
          <a:xfrm>
            <a:off x="2163620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2387474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2611328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1827839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29"/>
          <p:cNvSpPr/>
          <p:nvPr/>
        </p:nvSpPr>
        <p:spPr>
          <a:xfrm>
            <a:off x="2051693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mark30"/>
          <p:cNvSpPr/>
          <p:nvPr/>
        </p:nvSpPr>
        <p:spPr>
          <a:xfrm>
            <a:off x="2275547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mark31"/>
          <p:cNvSpPr/>
          <p:nvPr/>
        </p:nvSpPr>
        <p:spPr>
          <a:xfrm>
            <a:off x="2499401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mark32"/>
          <p:cNvSpPr/>
          <p:nvPr/>
        </p:nvSpPr>
        <p:spPr>
          <a:xfrm>
            <a:off x="2051693" y="3667610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mark33"/>
          <p:cNvSpPr/>
          <p:nvPr/>
        </p:nvSpPr>
        <p:spPr>
          <a:xfrm>
            <a:off x="2275547" y="3667610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mark34"/>
          <p:cNvSpPr/>
          <p:nvPr/>
        </p:nvSpPr>
        <p:spPr>
          <a:xfrm>
            <a:off x="4111148" y="4272015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mark35"/>
          <p:cNvSpPr/>
          <p:nvPr/>
        </p:nvSpPr>
        <p:spPr>
          <a:xfrm>
            <a:off x="4335002" y="418247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mark36"/>
          <p:cNvSpPr/>
          <p:nvPr/>
        </p:nvSpPr>
        <p:spPr>
          <a:xfrm>
            <a:off x="4558856" y="4272015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mark37"/>
          <p:cNvSpPr/>
          <p:nvPr/>
        </p:nvSpPr>
        <p:spPr>
          <a:xfrm>
            <a:off x="4782710" y="418247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mark38"/>
          <p:cNvSpPr/>
          <p:nvPr/>
        </p:nvSpPr>
        <p:spPr>
          <a:xfrm>
            <a:off x="4223075" y="478687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mark39"/>
          <p:cNvSpPr/>
          <p:nvPr/>
        </p:nvSpPr>
        <p:spPr>
          <a:xfrm>
            <a:off x="4558856" y="478687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mark40"/>
          <p:cNvSpPr/>
          <p:nvPr/>
        </p:nvSpPr>
        <p:spPr>
          <a:xfrm>
            <a:off x="5319959" y="245879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mark41"/>
          <p:cNvSpPr/>
          <p:nvPr/>
        </p:nvSpPr>
        <p:spPr>
          <a:xfrm>
            <a:off x="5767667" y="2861736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label43"/>
          <p:cNvSpPr txBox="1"/>
          <p:nvPr/>
        </p:nvSpPr>
        <p:spPr>
          <a:xfrm>
            <a:off x="801276" y="174733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37" name="S03-label45"/>
          <p:cNvSpPr txBox="1"/>
          <p:nvPr/>
        </p:nvSpPr>
        <p:spPr>
          <a:xfrm>
            <a:off x="5323123" y="163540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38" name="S03-label47"/>
          <p:cNvSpPr txBox="1"/>
          <p:nvPr/>
        </p:nvSpPr>
        <p:spPr>
          <a:xfrm>
            <a:off x="3174126" y="497083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39" name="S03-label49"/>
          <p:cNvSpPr txBox="1"/>
          <p:nvPr/>
        </p:nvSpPr>
        <p:spPr>
          <a:xfrm>
            <a:off x="3330911" y="2978532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40" name="S03-label51"/>
          <p:cNvSpPr txBox="1"/>
          <p:nvPr/>
        </p:nvSpPr>
        <p:spPr>
          <a:xfrm>
            <a:off x="5646999" y="4903675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41" name="S03-label53"/>
          <p:cNvSpPr txBox="1"/>
          <p:nvPr/>
        </p:nvSpPr>
        <p:spPr>
          <a:xfrm>
            <a:off x="1830916" y="459027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</a:t>
            </a:r>
            <a:endParaRPr lang="ko-KR" sz="1800" dirty="0"/>
          </a:p>
        </p:txBody>
      </p:sp>
      <p:sp>
        <p:nvSpPr>
          <p:cNvPr id="42" name="S03-label54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지역(예시) ● 점 하나 = 1만 명</a:t>
            </a:r>
            <a:endParaRPr lang="ko-KR" sz="2200" dirty="0"/>
          </a:p>
        </p:txBody>
      </p:sp>
      <p:sp>
        <p:nvSpPr>
          <p:cNvPr id="43" name="S03-card55"/>
          <p:cNvSpPr/>
          <p:nvPr/>
        </p:nvSpPr>
        <p:spPr>
          <a:xfrm>
            <a:off x="7349947" y="2307082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4" name="S03-cardtext56"/>
          <p:cNvSpPr txBox="1"/>
          <p:nvPr/>
        </p:nvSpPr>
        <p:spPr>
          <a:xfrm>
            <a:off x="7624267" y="2444242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사는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평야, 강과 바다 가까이,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 옆</a:t>
            </a:r>
            <a:endParaRPr lang="ko-KR" sz="2800" dirty="0"/>
          </a:p>
        </p:txBody>
      </p:sp>
      <p:sp>
        <p:nvSpPr>
          <p:cNvPr id="45" name="S03-card57"/>
          <p:cNvSpPr/>
          <p:nvPr/>
        </p:nvSpPr>
        <p:spPr>
          <a:xfrm>
            <a:off x="7349947" y="4056634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6" name="S03-cardtext58"/>
          <p:cNvSpPr txBox="1"/>
          <p:nvPr/>
        </p:nvSpPr>
        <p:spPr>
          <a:xfrm>
            <a:off x="7624267" y="4193794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사는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높고 험한 산지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 모여 살까요?</a:t>
            </a:r>
            <a:endParaRPr lang="ko-KR" sz="4000" dirty="0"/>
          </a:p>
        </p:txBody>
      </p:sp>
      <p:sp>
        <p:nvSpPr>
          <p:cNvPr id="3" name="S04-card5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수도권(서울·인천·경기)에 사람이 아주 많이 모여 살아요.</a:t>
            </a:r>
            <a:endParaRPr lang="ko-KR" sz="2800" dirty="0"/>
          </a:p>
        </p:txBody>
      </p:sp>
      <p:sp>
        <p:nvSpPr>
          <p:cNvPr id="5" name="S04-card61"/>
          <p:cNvSpPr/>
          <p:nvPr/>
        </p:nvSpPr>
        <p:spPr>
          <a:xfrm>
            <a:off x="548640" y="1325880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2"/>
          <p:cNvSpPr txBox="1"/>
          <p:nvPr/>
        </p:nvSpPr>
        <p:spPr>
          <a:xfrm>
            <a:off x="822960" y="1463040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짓고 농사짓기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좋아요.</a:t>
            </a:r>
            <a:endParaRPr lang="ko-KR" sz="2800" dirty="0"/>
          </a:p>
        </p:txBody>
      </p:sp>
      <p:sp>
        <p:nvSpPr>
          <p:cNvPr id="7" name="S04-card63"/>
          <p:cNvSpPr/>
          <p:nvPr/>
        </p:nvSpPr>
        <p:spPr>
          <a:xfrm>
            <a:off x="6208776" y="1325880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4"/>
          <p:cNvSpPr txBox="1"/>
          <p:nvPr/>
        </p:nvSpPr>
        <p:spPr>
          <a:xfrm>
            <a:off x="6483096" y="1463040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편리한 교통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길과 철도가 있어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오가기 쉬워요.</a:t>
            </a:r>
            <a:endParaRPr lang="ko-KR" sz="2800" dirty="0"/>
          </a:p>
        </p:txBody>
      </p:sp>
      <p:sp>
        <p:nvSpPr>
          <p:cNvPr id="9" name="S04-card65"/>
          <p:cNvSpPr/>
          <p:nvPr/>
        </p:nvSpPr>
        <p:spPr>
          <a:xfrm>
            <a:off x="548640" y="3173476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66"/>
          <p:cNvSpPr txBox="1"/>
          <p:nvPr/>
        </p:nvSpPr>
        <p:spPr>
          <a:xfrm>
            <a:off x="822960" y="3310636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일자리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회사와 공장, 가게가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많아요.</a:t>
            </a:r>
            <a:endParaRPr lang="ko-KR" sz="2800" dirty="0"/>
          </a:p>
        </p:txBody>
      </p:sp>
      <p:sp>
        <p:nvSpPr>
          <p:cNvPr id="11" name="S04-card67"/>
          <p:cNvSpPr/>
          <p:nvPr/>
        </p:nvSpPr>
        <p:spPr>
          <a:xfrm>
            <a:off x="6208776" y="3173476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68"/>
          <p:cNvSpPr txBox="1"/>
          <p:nvPr/>
        </p:nvSpPr>
        <p:spPr>
          <a:xfrm>
            <a:off x="6483096" y="3310636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시설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병원, 문화 시설이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세어 봐요</a:t>
            </a:r>
            <a:endParaRPr lang="ko-KR" sz="4000" dirty="0"/>
          </a:p>
        </p:txBody>
      </p:sp>
      <p:sp>
        <p:nvSpPr>
          <p:cNvPr id="3" name="S05-figure69" descr="지어낸 누리 지역의 인구 분포 지도(예시). 왼쪽은 바다, 오른쪽 위는 산지, 나머지는 평야. 강이 산지에서 바다로 흐르고 큰 길이 동서로 지나감. 강어귀 가까운 평야(가)에 점 14개, 큰 길 옆 평야(나)에 점 6개, 넓은 산지(다)에 점 2개. 점 하나는 1만 명"/>
          <p:cNvSpPr/>
          <p:nvPr/>
        </p:nvSpPr>
        <p:spPr>
          <a:xfrm>
            <a:off x="7103364" y="1876806"/>
            <a:ext cx="4453128" cy="3339846"/>
          </a:xfrm>
          <a:custGeom>
            <a:avLst/>
            <a:gdLst/>
            <a:ahLst/>
            <a:cxnLst/>
            <a:rect l="l" t="t" r="r" b="b"/>
            <a:pathLst>
              <a:path w="4453128" h="3339846">
                <a:moveTo>
                  <a:pt x="0" y="3339846"/>
                </a:moveTo>
                <a:lnTo>
                  <a:pt x="4453128" y="3339846"/>
                </a:lnTo>
                <a:lnTo>
                  <a:pt x="44531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5-mark70"/>
          <p:cNvSpPr/>
          <p:nvPr/>
        </p:nvSpPr>
        <p:spPr>
          <a:xfrm>
            <a:off x="9144381" y="1876806"/>
            <a:ext cx="2412111" cy="2003908"/>
          </a:xfrm>
          <a:custGeom>
            <a:avLst/>
            <a:gdLst/>
            <a:ahLst/>
            <a:cxnLst/>
            <a:rect l="l" t="t" r="r" b="b"/>
            <a:pathLst>
              <a:path w="2412111" h="2003908">
                <a:moveTo>
                  <a:pt x="0" y="0"/>
                </a:moveTo>
                <a:lnTo>
                  <a:pt x="2412111" y="0"/>
                </a:lnTo>
                <a:lnTo>
                  <a:pt x="2412111" y="2003908"/>
                </a:lnTo>
                <a:lnTo>
                  <a:pt x="1298829" y="1781251"/>
                </a:lnTo>
                <a:lnTo>
                  <a:pt x="556641" y="1410157"/>
                </a:lnTo>
                <a:lnTo>
                  <a:pt x="0" y="927735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mark71"/>
          <p:cNvSpPr/>
          <p:nvPr/>
        </p:nvSpPr>
        <p:spPr>
          <a:xfrm>
            <a:off x="6361176" y="1876806"/>
            <a:ext cx="742188" cy="3339846"/>
          </a:xfrm>
          <a:custGeom>
            <a:avLst/>
            <a:gdLst/>
            <a:ahLst/>
            <a:cxnLst/>
            <a:rect l="l" t="t" r="r" b="b"/>
            <a:pathLst>
              <a:path w="742188" h="3339846">
                <a:moveTo>
                  <a:pt x="0" y="3339846"/>
                </a:moveTo>
                <a:lnTo>
                  <a:pt x="742188" y="3339846"/>
                </a:lnTo>
                <a:lnTo>
                  <a:pt x="742188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5-mark72"/>
          <p:cNvSpPr/>
          <p:nvPr/>
        </p:nvSpPr>
        <p:spPr>
          <a:xfrm>
            <a:off x="9879147" y="2363681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05-mark73"/>
          <p:cNvSpPr/>
          <p:nvPr/>
        </p:nvSpPr>
        <p:spPr>
          <a:xfrm>
            <a:off x="10918210" y="2326572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05-mark74"/>
          <p:cNvSpPr/>
          <p:nvPr/>
        </p:nvSpPr>
        <p:spPr>
          <a:xfrm>
            <a:off x="11029539" y="3217198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05-mark75"/>
          <p:cNvSpPr/>
          <p:nvPr/>
        </p:nvSpPr>
        <p:spPr>
          <a:xfrm>
            <a:off x="9433834" y="2326572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05-mark76"/>
          <p:cNvSpPr/>
          <p:nvPr/>
        </p:nvSpPr>
        <p:spPr>
          <a:xfrm>
            <a:off x="11215086" y="2660557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05-mark77"/>
          <p:cNvSpPr/>
          <p:nvPr/>
        </p:nvSpPr>
        <p:spPr>
          <a:xfrm>
            <a:off x="10027585" y="310586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05-mark78"/>
          <p:cNvSpPr/>
          <p:nvPr/>
        </p:nvSpPr>
        <p:spPr>
          <a:xfrm>
            <a:off x="7103364" y="3027197"/>
            <a:ext cx="2597658" cy="482422"/>
          </a:xfrm>
          <a:custGeom>
            <a:avLst/>
            <a:gdLst/>
            <a:ahLst/>
            <a:cxnLst/>
            <a:rect l="l" t="t" r="r" b="b"/>
            <a:pathLst>
              <a:path w="2597658" h="482422">
                <a:moveTo>
                  <a:pt x="2597658" y="0"/>
                </a:moveTo>
                <a:lnTo>
                  <a:pt x="1929689" y="333985"/>
                </a:lnTo>
                <a:lnTo>
                  <a:pt x="1298829" y="408203"/>
                </a:lnTo>
                <a:lnTo>
                  <a:pt x="816407" y="445313"/>
                </a:lnTo>
                <a:lnTo>
                  <a:pt x="0" y="482422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05-mark79"/>
          <p:cNvSpPr/>
          <p:nvPr/>
        </p:nvSpPr>
        <p:spPr>
          <a:xfrm>
            <a:off x="8068208" y="4140479"/>
            <a:ext cx="3414065" cy="482422"/>
          </a:xfrm>
          <a:custGeom>
            <a:avLst/>
            <a:gdLst/>
            <a:ahLst/>
            <a:cxnLst/>
            <a:rect l="l" t="t" r="r" b="b"/>
            <a:pathLst>
              <a:path w="3414065" h="482422">
                <a:moveTo>
                  <a:pt x="0" y="0"/>
                </a:moveTo>
                <a:lnTo>
                  <a:pt x="890626" y="259766"/>
                </a:lnTo>
                <a:lnTo>
                  <a:pt x="2003908" y="259766"/>
                </a:lnTo>
                <a:lnTo>
                  <a:pt x="3414065" y="482422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05-mark80"/>
          <p:cNvSpPr/>
          <p:nvPr/>
        </p:nvSpPr>
        <p:spPr>
          <a:xfrm>
            <a:off x="7351997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mark81"/>
          <p:cNvSpPr/>
          <p:nvPr/>
        </p:nvSpPr>
        <p:spPr>
          <a:xfrm>
            <a:off x="7537544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mark82"/>
          <p:cNvSpPr/>
          <p:nvPr/>
        </p:nvSpPr>
        <p:spPr>
          <a:xfrm>
            <a:off x="7723091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mark83"/>
          <p:cNvSpPr/>
          <p:nvPr/>
        </p:nvSpPr>
        <p:spPr>
          <a:xfrm>
            <a:off x="7908638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mark84"/>
          <p:cNvSpPr/>
          <p:nvPr/>
        </p:nvSpPr>
        <p:spPr>
          <a:xfrm>
            <a:off x="7444770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mark85"/>
          <p:cNvSpPr/>
          <p:nvPr/>
        </p:nvSpPr>
        <p:spPr>
          <a:xfrm>
            <a:off x="7630317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mark86"/>
          <p:cNvSpPr/>
          <p:nvPr/>
        </p:nvSpPr>
        <p:spPr>
          <a:xfrm>
            <a:off x="7815864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mark87"/>
          <p:cNvSpPr/>
          <p:nvPr/>
        </p:nvSpPr>
        <p:spPr>
          <a:xfrm>
            <a:off x="8001411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mark88"/>
          <p:cNvSpPr/>
          <p:nvPr/>
        </p:nvSpPr>
        <p:spPr>
          <a:xfrm>
            <a:off x="7351997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mark89"/>
          <p:cNvSpPr/>
          <p:nvPr/>
        </p:nvSpPr>
        <p:spPr>
          <a:xfrm>
            <a:off x="7537544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mark90"/>
          <p:cNvSpPr/>
          <p:nvPr/>
        </p:nvSpPr>
        <p:spPr>
          <a:xfrm>
            <a:off x="7723091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mark91"/>
          <p:cNvSpPr/>
          <p:nvPr/>
        </p:nvSpPr>
        <p:spPr>
          <a:xfrm>
            <a:off x="7908638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mark92"/>
          <p:cNvSpPr/>
          <p:nvPr/>
        </p:nvSpPr>
        <p:spPr>
          <a:xfrm>
            <a:off x="7537544" y="3646924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mark93"/>
          <p:cNvSpPr/>
          <p:nvPr/>
        </p:nvSpPr>
        <p:spPr>
          <a:xfrm>
            <a:off x="7723091" y="3646924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mark94"/>
          <p:cNvSpPr/>
          <p:nvPr/>
        </p:nvSpPr>
        <p:spPr>
          <a:xfrm>
            <a:off x="9244576" y="414790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mark95"/>
          <p:cNvSpPr/>
          <p:nvPr/>
        </p:nvSpPr>
        <p:spPr>
          <a:xfrm>
            <a:off x="9430123" y="4073682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mark96"/>
          <p:cNvSpPr/>
          <p:nvPr/>
        </p:nvSpPr>
        <p:spPr>
          <a:xfrm>
            <a:off x="9615670" y="414790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mark97"/>
          <p:cNvSpPr/>
          <p:nvPr/>
        </p:nvSpPr>
        <p:spPr>
          <a:xfrm>
            <a:off x="9801217" y="4073682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5-mark98"/>
          <p:cNvSpPr/>
          <p:nvPr/>
        </p:nvSpPr>
        <p:spPr>
          <a:xfrm>
            <a:off x="9337350" y="4574659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mark99"/>
          <p:cNvSpPr/>
          <p:nvPr/>
        </p:nvSpPr>
        <p:spPr>
          <a:xfrm>
            <a:off x="9615670" y="4574659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mark100"/>
          <p:cNvSpPr/>
          <p:nvPr/>
        </p:nvSpPr>
        <p:spPr>
          <a:xfrm>
            <a:off x="10246530" y="26449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mark101"/>
          <p:cNvSpPr/>
          <p:nvPr/>
        </p:nvSpPr>
        <p:spPr>
          <a:xfrm>
            <a:off x="10617624" y="297895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label103"/>
          <p:cNvSpPr txBox="1"/>
          <p:nvPr/>
        </p:nvSpPr>
        <p:spPr>
          <a:xfrm>
            <a:off x="6453378" y="203080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37" name="S05-label105"/>
          <p:cNvSpPr txBox="1"/>
          <p:nvPr/>
        </p:nvSpPr>
        <p:spPr>
          <a:xfrm>
            <a:off x="10201427" y="193803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38" name="S05-label107"/>
          <p:cNvSpPr txBox="1"/>
          <p:nvPr/>
        </p:nvSpPr>
        <p:spPr>
          <a:xfrm>
            <a:off x="8420176" y="470268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39" name="S05-label109"/>
          <p:cNvSpPr txBox="1"/>
          <p:nvPr/>
        </p:nvSpPr>
        <p:spPr>
          <a:xfrm>
            <a:off x="8569300" y="305131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40" name="S05-label111"/>
          <p:cNvSpPr txBox="1"/>
          <p:nvPr/>
        </p:nvSpPr>
        <p:spPr>
          <a:xfrm>
            <a:off x="10464013" y="4647019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41" name="S05-labelbg113"/>
          <p:cNvSpPr/>
          <p:nvPr/>
        </p:nvSpPr>
        <p:spPr>
          <a:xfrm>
            <a:off x="7532510" y="439042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05-label114"/>
          <p:cNvSpPr txBox="1"/>
          <p:nvPr/>
        </p:nvSpPr>
        <p:spPr>
          <a:xfrm>
            <a:off x="7486790" y="435550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3" name="S05-labelbg116"/>
          <p:cNvSpPr/>
          <p:nvPr/>
        </p:nvSpPr>
        <p:spPr>
          <a:xfrm>
            <a:off x="9425089" y="3685350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05-label117"/>
          <p:cNvSpPr txBox="1"/>
          <p:nvPr/>
        </p:nvSpPr>
        <p:spPr>
          <a:xfrm>
            <a:off x="9379369" y="365042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5" name="S05-labelbg119"/>
          <p:cNvSpPr/>
          <p:nvPr/>
        </p:nvSpPr>
        <p:spPr>
          <a:xfrm>
            <a:off x="10816692" y="266484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05-label120"/>
          <p:cNvSpPr txBox="1"/>
          <p:nvPr/>
        </p:nvSpPr>
        <p:spPr>
          <a:xfrm>
            <a:off x="10770972" y="262991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7" name="S05-label121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지역(예시) ● 점 하나 = 1만 명</a:t>
            </a:r>
            <a:endParaRPr lang="ko-KR" sz="2200" dirty="0"/>
          </a:p>
        </p:txBody>
      </p:sp>
      <p:sp>
        <p:nvSpPr>
          <p:cNvPr id="48" name="S05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9" name="S05-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몇만 명일까요?</a:t>
            </a:r>
            <a:endParaRPr lang="ko-KR" sz="2800" dirty="0"/>
          </a:p>
        </p:txBody>
      </p:sp>
      <p:sp>
        <p:nvSpPr>
          <p:cNvPr id="50" name="S05-chip12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51" name="S05-text12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다보다 몇만 명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많나요?</a:t>
            </a:r>
            <a:endParaRPr lang="ko-KR" sz="2800" dirty="0"/>
          </a:p>
        </p:txBody>
      </p:sp>
      <p:sp>
        <p:nvSpPr>
          <p:cNvPr id="52" name="S05-chip1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3" name="S05-text12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가에 사람이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넓으면 사람이 많을까요?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지역에서 산지(다)는 새솔시(가)보다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훨씬 넓어요.</a:t>
            </a:r>
            <a:endParaRPr lang="ko-KR" sz="2800" dirty="0"/>
          </a:p>
        </p:txBody>
      </p:sp>
      <p:sp>
        <p:nvSpPr>
          <p:cNvPr id="5" name="S06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지도에서 근거를 찾아요.</a:t>
            </a:r>
            <a:endParaRPr lang="ko-KR" sz="2800" dirty="0"/>
          </a:p>
        </p:txBody>
      </p:sp>
      <p:sp>
        <p:nvSpPr>
          <p:cNvPr id="7" name="S06-chip132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133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“땅이 넓은 산지에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더 많이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 거예요.”</a:t>
            </a:r>
            <a:endParaRPr lang="ko-KR" sz="2800" dirty="0"/>
          </a:p>
        </p:txBody>
      </p:sp>
      <p:sp>
        <p:nvSpPr>
          <p:cNvPr id="9" name="S06-chip134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135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“땅이 넓어도 살기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곳이면 사람이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도시로 옮겨 갔어요</a:t>
            </a:r>
            <a:endParaRPr lang="ko-KR" sz="4000" dirty="0"/>
          </a:p>
        </p:txBody>
      </p:sp>
      <p:sp>
        <p:nvSpPr>
          <p:cNvPr id="3" name="S07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공장과 회사가 늘자 사람들이 일자리를 찾아 도시로 갔어요.</a:t>
            </a:r>
            <a:endParaRPr lang="ko-KR" sz="2800" dirty="0"/>
          </a:p>
        </p:txBody>
      </p:sp>
      <p:sp>
        <p:nvSpPr>
          <p:cNvPr id="4" name="S07-figure137" descr="막대그래프(지어낸 예시): 새솔시(도시) 인구는 40년 전 10만 명, 20년 전 30만 명, 지금 50만 명. 들꽃군(촌락) 인구는 40년 전 12만 명, 20년 전 8만 명, 지금 5만 명"/>
          <p:cNvSpPr/>
          <p:nvPr/>
        </p:nvSpPr>
        <p:spPr>
          <a:xfrm>
            <a:off x="1917443" y="5208756"/>
            <a:ext cx="656273" cy="420519"/>
          </a:xfrm>
          <a:custGeom>
            <a:avLst/>
            <a:gdLst/>
            <a:ahLst/>
            <a:cxnLst/>
            <a:rect l="l" t="t" r="r" b="b"/>
            <a:pathLst>
              <a:path w="656273" h="420519">
                <a:moveTo>
                  <a:pt x="0" y="420519"/>
                </a:moveTo>
                <a:lnTo>
                  <a:pt x="656273" y="420519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7-mark138"/>
          <p:cNvSpPr/>
          <p:nvPr/>
        </p:nvSpPr>
        <p:spPr>
          <a:xfrm>
            <a:off x="2573716" y="5124450"/>
            <a:ext cx="656273" cy="504825"/>
          </a:xfrm>
          <a:custGeom>
            <a:avLst/>
            <a:gdLst/>
            <a:ahLst/>
            <a:cxnLst/>
            <a:rect l="l" t="t" r="r" b="b"/>
            <a:pathLst>
              <a:path w="656273" h="504825">
                <a:moveTo>
                  <a:pt x="0" y="504825"/>
                </a:moveTo>
                <a:lnTo>
                  <a:pt x="656273" y="504825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7-mark139"/>
          <p:cNvSpPr/>
          <p:nvPr/>
        </p:nvSpPr>
        <p:spPr>
          <a:xfrm>
            <a:off x="3734813" y="4367213"/>
            <a:ext cx="656273" cy="1262062"/>
          </a:xfrm>
          <a:custGeom>
            <a:avLst/>
            <a:gdLst/>
            <a:ahLst/>
            <a:cxnLst/>
            <a:rect l="l" t="t" r="r" b="b"/>
            <a:pathLst>
              <a:path w="656273" h="1262062">
                <a:moveTo>
                  <a:pt x="0" y="1262062"/>
                </a:moveTo>
                <a:lnTo>
                  <a:pt x="656273" y="1262062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140"/>
          <p:cNvSpPr/>
          <p:nvPr/>
        </p:nvSpPr>
        <p:spPr>
          <a:xfrm>
            <a:off x="4391086" y="5292557"/>
            <a:ext cx="656273" cy="336718"/>
          </a:xfrm>
          <a:custGeom>
            <a:avLst/>
            <a:gdLst/>
            <a:ahLst/>
            <a:cxnLst/>
            <a:rect l="l" t="t" r="r" b="b"/>
            <a:pathLst>
              <a:path w="656273" h="336718">
                <a:moveTo>
                  <a:pt x="0" y="336718"/>
                </a:moveTo>
                <a:lnTo>
                  <a:pt x="656273" y="336718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141"/>
          <p:cNvSpPr/>
          <p:nvPr/>
        </p:nvSpPr>
        <p:spPr>
          <a:xfrm>
            <a:off x="5552183" y="3525669"/>
            <a:ext cx="656273" cy="2103606"/>
          </a:xfrm>
          <a:custGeom>
            <a:avLst/>
            <a:gdLst/>
            <a:ahLst/>
            <a:cxnLst/>
            <a:rect l="l" t="t" r="r" b="b"/>
            <a:pathLst>
              <a:path w="656273" h="2103606">
                <a:moveTo>
                  <a:pt x="0" y="2103606"/>
                </a:moveTo>
                <a:lnTo>
                  <a:pt x="656273" y="2103606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7-mark142"/>
          <p:cNvSpPr/>
          <p:nvPr/>
        </p:nvSpPr>
        <p:spPr>
          <a:xfrm>
            <a:off x="6208456" y="5418763"/>
            <a:ext cx="656273" cy="210512"/>
          </a:xfrm>
          <a:custGeom>
            <a:avLst/>
            <a:gdLst/>
            <a:ahLst/>
            <a:cxnLst/>
            <a:rect l="l" t="t" r="r" b="b"/>
            <a:pathLst>
              <a:path w="656273" h="210512">
                <a:moveTo>
                  <a:pt x="0" y="210512"/>
                </a:moveTo>
                <a:lnTo>
                  <a:pt x="656273" y="210512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7-mark143"/>
          <p:cNvSpPr/>
          <p:nvPr/>
        </p:nvSpPr>
        <p:spPr>
          <a:xfrm>
            <a:off x="1665031" y="3029426"/>
            <a:ext cx="252412" cy="252413"/>
          </a:xfrm>
          <a:custGeom>
            <a:avLst/>
            <a:gdLst/>
            <a:ahLst/>
            <a:cxnLst/>
            <a:rect l="l" t="t" r="r" b="b"/>
            <a:pathLst>
              <a:path w="252412" h="252413">
                <a:moveTo>
                  <a:pt x="0" y="252413"/>
                </a:moveTo>
                <a:lnTo>
                  <a:pt x="252412" y="252413"/>
                </a:lnTo>
                <a:lnTo>
                  <a:pt x="2524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144"/>
          <p:cNvSpPr/>
          <p:nvPr/>
        </p:nvSpPr>
        <p:spPr>
          <a:xfrm>
            <a:off x="1665031" y="3458528"/>
            <a:ext cx="252412" cy="252412"/>
          </a:xfrm>
          <a:custGeom>
            <a:avLst/>
            <a:gdLst/>
            <a:ahLst/>
            <a:cxnLst/>
            <a:rect l="l" t="t" r="r" b="b"/>
            <a:pathLst>
              <a:path w="252412" h="252412">
                <a:moveTo>
                  <a:pt x="0" y="252412"/>
                </a:moveTo>
                <a:lnTo>
                  <a:pt x="252412" y="252412"/>
                </a:lnTo>
                <a:lnTo>
                  <a:pt x="25241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145"/>
          <p:cNvSpPr/>
          <p:nvPr/>
        </p:nvSpPr>
        <p:spPr>
          <a:xfrm>
            <a:off x="1412618" y="5208588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7-mark146"/>
          <p:cNvSpPr/>
          <p:nvPr/>
        </p:nvSpPr>
        <p:spPr>
          <a:xfrm>
            <a:off x="1412618" y="4787900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7-mark147"/>
          <p:cNvSpPr/>
          <p:nvPr/>
        </p:nvSpPr>
        <p:spPr>
          <a:xfrm>
            <a:off x="1412618" y="4367213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7-mark148"/>
          <p:cNvSpPr/>
          <p:nvPr/>
        </p:nvSpPr>
        <p:spPr>
          <a:xfrm>
            <a:off x="1412618" y="3946525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7-mark149"/>
          <p:cNvSpPr/>
          <p:nvPr/>
        </p:nvSpPr>
        <p:spPr>
          <a:xfrm>
            <a:off x="1412618" y="3525838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7-mark150"/>
          <p:cNvSpPr/>
          <p:nvPr/>
        </p:nvSpPr>
        <p:spPr>
          <a:xfrm>
            <a:off x="1412618" y="3105150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7-mark151"/>
          <p:cNvSpPr/>
          <p:nvPr/>
        </p:nvSpPr>
        <p:spPr>
          <a:xfrm flipV="1">
            <a:off x="1412618" y="2903220"/>
            <a:ext cx="0" cy="272605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7-mark152"/>
          <p:cNvSpPr/>
          <p:nvPr/>
        </p:nvSpPr>
        <p:spPr>
          <a:xfrm>
            <a:off x="1412618" y="5629275"/>
            <a:ext cx="595693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54"/>
          <p:cNvSpPr txBox="1"/>
          <p:nvPr/>
        </p:nvSpPr>
        <p:spPr>
          <a:xfrm>
            <a:off x="903698" y="5486400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1" name="S07-label156"/>
          <p:cNvSpPr txBox="1"/>
          <p:nvPr/>
        </p:nvSpPr>
        <p:spPr>
          <a:xfrm>
            <a:off x="828260" y="506588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2" name="S07-label158"/>
          <p:cNvSpPr txBox="1"/>
          <p:nvPr/>
        </p:nvSpPr>
        <p:spPr>
          <a:xfrm>
            <a:off x="828260" y="4644857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3" name="S07-label160"/>
          <p:cNvSpPr txBox="1"/>
          <p:nvPr/>
        </p:nvSpPr>
        <p:spPr>
          <a:xfrm>
            <a:off x="828260" y="422433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24" name="S07-label162"/>
          <p:cNvSpPr txBox="1"/>
          <p:nvPr/>
        </p:nvSpPr>
        <p:spPr>
          <a:xfrm>
            <a:off x="828260" y="380381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800" dirty="0"/>
          </a:p>
        </p:txBody>
      </p:sp>
      <p:sp>
        <p:nvSpPr>
          <p:cNvPr id="25" name="S07-label164"/>
          <p:cNvSpPr txBox="1"/>
          <p:nvPr/>
        </p:nvSpPr>
        <p:spPr>
          <a:xfrm>
            <a:off x="828260" y="3382794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26" name="S07-label166"/>
          <p:cNvSpPr txBox="1"/>
          <p:nvPr/>
        </p:nvSpPr>
        <p:spPr>
          <a:xfrm>
            <a:off x="828260" y="296227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800" dirty="0"/>
          </a:p>
        </p:txBody>
      </p:sp>
      <p:sp>
        <p:nvSpPr>
          <p:cNvPr id="27" name="S07-label168"/>
          <p:cNvSpPr txBox="1"/>
          <p:nvPr/>
        </p:nvSpPr>
        <p:spPr>
          <a:xfrm>
            <a:off x="861311" y="2507933"/>
            <a:ext cx="9006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(만 명)</a:t>
            </a:r>
            <a:endParaRPr lang="ko-KR" sz="1800" dirty="0"/>
          </a:p>
        </p:txBody>
      </p:sp>
      <p:sp>
        <p:nvSpPr>
          <p:cNvPr id="28" name="S07-label170"/>
          <p:cNvSpPr txBox="1"/>
          <p:nvPr/>
        </p:nvSpPr>
        <p:spPr>
          <a:xfrm>
            <a:off x="2039840" y="486395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9" name="S07-label172"/>
          <p:cNvSpPr txBox="1"/>
          <p:nvPr/>
        </p:nvSpPr>
        <p:spPr>
          <a:xfrm>
            <a:off x="2696112" y="477964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30" name="S07-label174"/>
          <p:cNvSpPr txBox="1"/>
          <p:nvPr/>
        </p:nvSpPr>
        <p:spPr>
          <a:xfrm>
            <a:off x="2109658" y="576405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40년 전</a:t>
            </a:r>
            <a:endParaRPr lang="ko-KR" sz="1800" dirty="0"/>
          </a:p>
        </p:txBody>
      </p:sp>
      <p:sp>
        <p:nvSpPr>
          <p:cNvPr id="31" name="S07-label176"/>
          <p:cNvSpPr txBox="1"/>
          <p:nvPr/>
        </p:nvSpPr>
        <p:spPr>
          <a:xfrm>
            <a:off x="3857210" y="402240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32" name="S07-label178"/>
          <p:cNvSpPr txBox="1"/>
          <p:nvPr/>
        </p:nvSpPr>
        <p:spPr>
          <a:xfrm>
            <a:off x="4588920" y="494775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33" name="S07-label180"/>
          <p:cNvSpPr txBox="1"/>
          <p:nvPr/>
        </p:nvSpPr>
        <p:spPr>
          <a:xfrm>
            <a:off x="3927028" y="576405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34" name="S07-label182"/>
          <p:cNvSpPr txBox="1"/>
          <p:nvPr/>
        </p:nvSpPr>
        <p:spPr>
          <a:xfrm>
            <a:off x="5674580" y="3180864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35" name="S07-label184"/>
          <p:cNvSpPr txBox="1"/>
          <p:nvPr/>
        </p:nvSpPr>
        <p:spPr>
          <a:xfrm>
            <a:off x="6406290" y="507395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36" name="S07-label186"/>
          <p:cNvSpPr txBox="1"/>
          <p:nvPr/>
        </p:nvSpPr>
        <p:spPr>
          <a:xfrm>
            <a:off x="5929564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7" name="S07-label188"/>
          <p:cNvSpPr txBox="1"/>
          <p:nvPr/>
        </p:nvSpPr>
        <p:spPr>
          <a:xfrm>
            <a:off x="2786314" y="2154555"/>
            <a:ext cx="32095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새솔시와 들꽃군의 인구(예시)</a:t>
            </a:r>
            <a:endParaRPr lang="ko-KR" sz="1800" dirty="0"/>
          </a:p>
        </p:txBody>
      </p:sp>
      <p:sp>
        <p:nvSpPr>
          <p:cNvPr id="38" name="S07-labelbg190"/>
          <p:cNvSpPr/>
          <p:nvPr/>
        </p:nvSpPr>
        <p:spPr>
          <a:xfrm>
            <a:off x="2064128" y="3041333"/>
            <a:ext cx="141274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7-label191"/>
          <p:cNvSpPr txBox="1"/>
          <p:nvPr/>
        </p:nvSpPr>
        <p:spPr>
          <a:xfrm>
            <a:off x="2018408" y="3012758"/>
            <a:ext cx="1504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새솔시(도시)</a:t>
            </a:r>
            <a:endParaRPr lang="ko-KR" sz="1800" dirty="0"/>
          </a:p>
        </p:txBody>
      </p:sp>
      <p:sp>
        <p:nvSpPr>
          <p:cNvPr id="40" name="S07-labelbg193"/>
          <p:cNvSpPr/>
          <p:nvPr/>
        </p:nvSpPr>
        <p:spPr>
          <a:xfrm>
            <a:off x="2064128" y="3470434"/>
            <a:ext cx="141274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07-label194"/>
          <p:cNvSpPr txBox="1"/>
          <p:nvPr/>
        </p:nvSpPr>
        <p:spPr>
          <a:xfrm>
            <a:off x="2018408" y="3441859"/>
            <a:ext cx="1504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들꽃군(촌락)</a:t>
            </a:r>
            <a:endParaRPr lang="ko-KR" sz="1800" dirty="0"/>
          </a:p>
        </p:txBody>
      </p:sp>
      <p:sp>
        <p:nvSpPr>
          <p:cNvPr id="42" name="S07-card195"/>
          <p:cNvSpPr/>
          <p:nvPr/>
        </p:nvSpPr>
        <p:spPr>
          <a:xfrm>
            <a:off x="7993502" y="2479548"/>
            <a:ext cx="364681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7-cardtext196"/>
          <p:cNvSpPr txBox="1"/>
          <p:nvPr/>
        </p:nvSpPr>
        <p:spPr>
          <a:xfrm>
            <a:off x="8267822" y="2616708"/>
            <a:ext cx="309817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크게 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도시가 커졌어요.</a:t>
            </a:r>
            <a:endParaRPr lang="ko-KR" sz="2800" dirty="0"/>
          </a:p>
        </p:txBody>
      </p:sp>
      <p:sp>
        <p:nvSpPr>
          <p:cNvPr id="44" name="S07-card197"/>
          <p:cNvSpPr/>
          <p:nvPr/>
        </p:nvSpPr>
        <p:spPr>
          <a:xfrm>
            <a:off x="7993502" y="4229100"/>
            <a:ext cx="364681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5" name="S07-cardtext198"/>
          <p:cNvSpPr txBox="1"/>
          <p:nvPr/>
        </p:nvSpPr>
        <p:spPr>
          <a:xfrm>
            <a:off x="8267822" y="4366260"/>
            <a:ext cx="309817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줄고 일할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모자라요.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아기는 줄고 어르신은 늘어요</a:t>
            </a:r>
            <a:endParaRPr lang="ko-KR" sz="4000" dirty="0"/>
          </a:p>
        </p:txBody>
      </p:sp>
      <p:sp>
        <p:nvSpPr>
          <p:cNvPr id="3" name="S08-figure199" descr="막대그래프(지어낸 예시): 누리시에서 한 해에 태어난 아기 수는 30년 전 4천 명, 20년 전 3천 명, 10년 전 2천 명, 지금 1천 명. 65세 이상 어르신 수는 5천 명, 8천 명, 1만 2천 명, 2만 명"/>
          <p:cNvSpPr/>
          <p:nvPr/>
        </p:nvSpPr>
        <p:spPr>
          <a:xfrm>
            <a:off x="1668213" y="4600502"/>
            <a:ext cx="538592" cy="414301"/>
          </a:xfrm>
          <a:custGeom>
            <a:avLst/>
            <a:gdLst/>
            <a:ahLst/>
            <a:cxnLst/>
            <a:rect l="l" t="t" r="r" b="b"/>
            <a:pathLst>
              <a:path w="538592" h="414301">
                <a:moveTo>
                  <a:pt x="0" y="414301"/>
                </a:moveTo>
                <a:lnTo>
                  <a:pt x="538592" y="414301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8-mark200"/>
          <p:cNvSpPr/>
          <p:nvPr/>
        </p:nvSpPr>
        <p:spPr>
          <a:xfrm>
            <a:off x="2206804" y="4496927"/>
            <a:ext cx="538592" cy="517876"/>
          </a:xfrm>
          <a:custGeom>
            <a:avLst/>
            <a:gdLst/>
            <a:ahLst/>
            <a:cxnLst/>
            <a:rect l="l" t="t" r="r" b="b"/>
            <a:pathLst>
              <a:path w="538592" h="517876">
                <a:moveTo>
                  <a:pt x="0" y="517876"/>
                </a:moveTo>
                <a:lnTo>
                  <a:pt x="538592" y="51787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8-mark201"/>
          <p:cNvSpPr/>
          <p:nvPr/>
        </p:nvSpPr>
        <p:spPr>
          <a:xfrm>
            <a:off x="3159697" y="4704078"/>
            <a:ext cx="538592" cy="310726"/>
          </a:xfrm>
          <a:custGeom>
            <a:avLst/>
            <a:gdLst/>
            <a:ahLst/>
            <a:cxnLst/>
            <a:rect l="l" t="t" r="r" b="b"/>
            <a:pathLst>
              <a:path w="538592" h="310726">
                <a:moveTo>
                  <a:pt x="0" y="310726"/>
                </a:moveTo>
                <a:lnTo>
                  <a:pt x="538592" y="31072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202"/>
          <p:cNvSpPr/>
          <p:nvPr/>
        </p:nvSpPr>
        <p:spPr>
          <a:xfrm>
            <a:off x="3698289" y="4186201"/>
            <a:ext cx="538592" cy="828602"/>
          </a:xfrm>
          <a:custGeom>
            <a:avLst/>
            <a:gdLst/>
            <a:ahLst/>
            <a:cxnLst/>
            <a:rect l="l" t="t" r="r" b="b"/>
            <a:pathLst>
              <a:path w="538592" h="828602">
                <a:moveTo>
                  <a:pt x="0" y="828602"/>
                </a:moveTo>
                <a:lnTo>
                  <a:pt x="538592" y="828602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203"/>
          <p:cNvSpPr/>
          <p:nvPr/>
        </p:nvSpPr>
        <p:spPr>
          <a:xfrm>
            <a:off x="4651181" y="4807653"/>
            <a:ext cx="538592" cy="207151"/>
          </a:xfrm>
          <a:custGeom>
            <a:avLst/>
            <a:gdLst/>
            <a:ahLst/>
            <a:cxnLst/>
            <a:rect l="l" t="t" r="r" b="b"/>
            <a:pathLst>
              <a:path w="538592" h="207151">
                <a:moveTo>
                  <a:pt x="0" y="207151"/>
                </a:moveTo>
                <a:lnTo>
                  <a:pt x="538592" y="207151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8-mark204"/>
          <p:cNvSpPr/>
          <p:nvPr/>
        </p:nvSpPr>
        <p:spPr>
          <a:xfrm>
            <a:off x="5189773" y="3771900"/>
            <a:ext cx="538592" cy="1242904"/>
          </a:xfrm>
          <a:custGeom>
            <a:avLst/>
            <a:gdLst/>
            <a:ahLst/>
            <a:cxnLst/>
            <a:rect l="l" t="t" r="r" b="b"/>
            <a:pathLst>
              <a:path w="538592" h="1242904">
                <a:moveTo>
                  <a:pt x="0" y="1242904"/>
                </a:moveTo>
                <a:lnTo>
                  <a:pt x="538592" y="1242904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8-mark205"/>
          <p:cNvSpPr/>
          <p:nvPr/>
        </p:nvSpPr>
        <p:spPr>
          <a:xfrm>
            <a:off x="6142666" y="4911228"/>
            <a:ext cx="538592" cy="103575"/>
          </a:xfrm>
          <a:custGeom>
            <a:avLst/>
            <a:gdLst/>
            <a:ahLst/>
            <a:cxnLst/>
            <a:rect l="l" t="t" r="r" b="b"/>
            <a:pathLst>
              <a:path w="538592" h="103575">
                <a:moveTo>
                  <a:pt x="0" y="103575"/>
                </a:moveTo>
                <a:lnTo>
                  <a:pt x="538592" y="103575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8-mark206"/>
          <p:cNvSpPr/>
          <p:nvPr/>
        </p:nvSpPr>
        <p:spPr>
          <a:xfrm>
            <a:off x="6681257" y="2943298"/>
            <a:ext cx="538592" cy="2071506"/>
          </a:xfrm>
          <a:custGeom>
            <a:avLst/>
            <a:gdLst/>
            <a:ahLst/>
            <a:cxnLst/>
            <a:rect l="l" t="t" r="r" b="b"/>
            <a:pathLst>
              <a:path w="538592" h="2071506">
                <a:moveTo>
                  <a:pt x="0" y="2071506"/>
                </a:moveTo>
                <a:lnTo>
                  <a:pt x="538592" y="207150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207"/>
          <p:cNvSpPr/>
          <p:nvPr/>
        </p:nvSpPr>
        <p:spPr>
          <a:xfrm>
            <a:off x="1461062" y="2881152"/>
            <a:ext cx="207151" cy="207151"/>
          </a:xfrm>
          <a:custGeom>
            <a:avLst/>
            <a:gdLst/>
            <a:ahLst/>
            <a:cxnLst/>
            <a:rect l="l" t="t" r="r" b="b"/>
            <a:pathLst>
              <a:path w="207151" h="207151">
                <a:moveTo>
                  <a:pt x="0" y="207151"/>
                </a:moveTo>
                <a:lnTo>
                  <a:pt x="207151" y="207151"/>
                </a:lnTo>
                <a:lnTo>
                  <a:pt x="207151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08"/>
          <p:cNvSpPr/>
          <p:nvPr/>
        </p:nvSpPr>
        <p:spPr>
          <a:xfrm>
            <a:off x="1461062" y="3233308"/>
            <a:ext cx="207151" cy="207151"/>
          </a:xfrm>
          <a:custGeom>
            <a:avLst/>
            <a:gdLst/>
            <a:ahLst/>
            <a:cxnLst/>
            <a:rect l="l" t="t" r="r" b="b"/>
            <a:pathLst>
              <a:path w="207151" h="207151">
                <a:moveTo>
                  <a:pt x="0" y="207151"/>
                </a:moveTo>
                <a:lnTo>
                  <a:pt x="207151" y="207151"/>
                </a:lnTo>
                <a:lnTo>
                  <a:pt x="2071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09"/>
          <p:cNvSpPr/>
          <p:nvPr/>
        </p:nvSpPr>
        <p:spPr>
          <a:xfrm>
            <a:off x="1253912" y="4496927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8-mark210"/>
          <p:cNvSpPr/>
          <p:nvPr/>
        </p:nvSpPr>
        <p:spPr>
          <a:xfrm>
            <a:off x="1253912" y="3979051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8-mark211"/>
          <p:cNvSpPr/>
          <p:nvPr/>
        </p:nvSpPr>
        <p:spPr>
          <a:xfrm>
            <a:off x="1253912" y="3461174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8-mark212"/>
          <p:cNvSpPr/>
          <p:nvPr/>
        </p:nvSpPr>
        <p:spPr>
          <a:xfrm>
            <a:off x="1253912" y="2943298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8-mark213"/>
          <p:cNvSpPr/>
          <p:nvPr/>
        </p:nvSpPr>
        <p:spPr>
          <a:xfrm flipV="1">
            <a:off x="1253912" y="2777577"/>
            <a:ext cx="0" cy="223722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mark214"/>
          <p:cNvSpPr/>
          <p:nvPr/>
        </p:nvSpPr>
        <p:spPr>
          <a:xfrm>
            <a:off x="1253912" y="5014804"/>
            <a:ext cx="6380238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label216"/>
          <p:cNvSpPr txBox="1"/>
          <p:nvPr/>
        </p:nvSpPr>
        <p:spPr>
          <a:xfrm>
            <a:off x="812884" y="4871929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0" name="S08-label218"/>
          <p:cNvSpPr txBox="1"/>
          <p:nvPr/>
        </p:nvSpPr>
        <p:spPr>
          <a:xfrm>
            <a:off x="812884" y="435405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21" name="S08-label220"/>
          <p:cNvSpPr txBox="1"/>
          <p:nvPr/>
        </p:nvSpPr>
        <p:spPr>
          <a:xfrm>
            <a:off x="737446" y="383617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2" name="S08-label222"/>
          <p:cNvSpPr txBox="1"/>
          <p:nvPr/>
        </p:nvSpPr>
        <p:spPr>
          <a:xfrm>
            <a:off x="737446" y="3318299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3" name="S08-label224"/>
          <p:cNvSpPr txBox="1"/>
          <p:nvPr/>
        </p:nvSpPr>
        <p:spPr>
          <a:xfrm>
            <a:off x="737446" y="2800423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4" name="S08-label226"/>
          <p:cNvSpPr txBox="1"/>
          <p:nvPr/>
        </p:nvSpPr>
        <p:spPr>
          <a:xfrm>
            <a:off x="720710" y="2427552"/>
            <a:ext cx="9006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(천 명)</a:t>
            </a:r>
            <a:endParaRPr lang="ko-KR" sz="1800" dirty="0"/>
          </a:p>
        </p:txBody>
      </p:sp>
      <p:sp>
        <p:nvSpPr>
          <p:cNvPr id="25" name="S08-label228"/>
          <p:cNvSpPr txBox="1"/>
          <p:nvPr/>
        </p:nvSpPr>
        <p:spPr>
          <a:xfrm>
            <a:off x="1807207" y="4291907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6" name="S08-label230"/>
          <p:cNvSpPr txBox="1"/>
          <p:nvPr/>
        </p:nvSpPr>
        <p:spPr>
          <a:xfrm>
            <a:off x="2345798" y="418833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27" name="S08-label232"/>
          <p:cNvSpPr txBox="1"/>
          <p:nvPr/>
        </p:nvSpPr>
        <p:spPr>
          <a:xfrm>
            <a:off x="1742746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30년 전</a:t>
            </a:r>
            <a:endParaRPr lang="ko-KR" sz="1800" dirty="0"/>
          </a:p>
        </p:txBody>
      </p:sp>
      <p:sp>
        <p:nvSpPr>
          <p:cNvPr id="28" name="S08-label234"/>
          <p:cNvSpPr txBox="1"/>
          <p:nvPr/>
        </p:nvSpPr>
        <p:spPr>
          <a:xfrm>
            <a:off x="3298691" y="439548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29" name="S08-label236"/>
          <p:cNvSpPr txBox="1"/>
          <p:nvPr/>
        </p:nvSpPr>
        <p:spPr>
          <a:xfrm>
            <a:off x="3837282" y="3877606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30" name="S08-label238"/>
          <p:cNvSpPr txBox="1"/>
          <p:nvPr/>
        </p:nvSpPr>
        <p:spPr>
          <a:xfrm>
            <a:off x="3234231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31" name="S08-label240"/>
          <p:cNvSpPr txBox="1"/>
          <p:nvPr/>
        </p:nvSpPr>
        <p:spPr>
          <a:xfrm>
            <a:off x="4790175" y="4499057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32" name="S08-label242"/>
          <p:cNvSpPr txBox="1"/>
          <p:nvPr/>
        </p:nvSpPr>
        <p:spPr>
          <a:xfrm>
            <a:off x="5253329" y="346330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33" name="S08-label244"/>
          <p:cNvSpPr txBox="1"/>
          <p:nvPr/>
        </p:nvSpPr>
        <p:spPr>
          <a:xfrm>
            <a:off x="4725715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</a:t>
            </a:r>
            <a:endParaRPr lang="ko-KR" sz="1800" dirty="0"/>
          </a:p>
        </p:txBody>
      </p:sp>
      <p:sp>
        <p:nvSpPr>
          <p:cNvPr id="34" name="S08-label246"/>
          <p:cNvSpPr txBox="1"/>
          <p:nvPr/>
        </p:nvSpPr>
        <p:spPr>
          <a:xfrm>
            <a:off x="6281659" y="4602633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35" name="S08-label248"/>
          <p:cNvSpPr txBox="1"/>
          <p:nvPr/>
        </p:nvSpPr>
        <p:spPr>
          <a:xfrm>
            <a:off x="6744813" y="2634702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36" name="S08-label250"/>
          <p:cNvSpPr txBox="1"/>
          <p:nvPr/>
        </p:nvSpPr>
        <p:spPr>
          <a:xfrm>
            <a:off x="6402365" y="509979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7" name="S08-label252"/>
          <p:cNvSpPr txBox="1"/>
          <p:nvPr/>
        </p:nvSpPr>
        <p:spPr>
          <a:xfrm>
            <a:off x="3063287" y="2137541"/>
            <a:ext cx="27614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누리시의 인구 변화(예시)</a:t>
            </a:r>
            <a:endParaRPr lang="ko-KR" sz="1800" dirty="0"/>
          </a:p>
        </p:txBody>
      </p:sp>
      <p:sp>
        <p:nvSpPr>
          <p:cNvPr id="38" name="S08-labelbg254"/>
          <p:cNvSpPr/>
          <p:nvPr/>
        </p:nvSpPr>
        <p:spPr>
          <a:xfrm>
            <a:off x="1796793" y="2870428"/>
            <a:ext cx="201625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8-label255"/>
          <p:cNvSpPr txBox="1"/>
          <p:nvPr/>
        </p:nvSpPr>
        <p:spPr>
          <a:xfrm>
            <a:off x="1751073" y="2841853"/>
            <a:ext cx="21076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해에 태어난 아기</a:t>
            </a:r>
            <a:endParaRPr lang="ko-KR" sz="1800" dirty="0"/>
          </a:p>
        </p:txBody>
      </p:sp>
      <p:sp>
        <p:nvSpPr>
          <p:cNvPr id="40" name="S08-labelbg257"/>
          <p:cNvSpPr/>
          <p:nvPr/>
        </p:nvSpPr>
        <p:spPr>
          <a:xfrm>
            <a:off x="1796793" y="3222584"/>
            <a:ext cx="180136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08-label258"/>
          <p:cNvSpPr txBox="1"/>
          <p:nvPr/>
        </p:nvSpPr>
        <p:spPr>
          <a:xfrm>
            <a:off x="1751073" y="3194009"/>
            <a:ext cx="18928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어르신</a:t>
            </a:r>
            <a:endParaRPr lang="ko-KR" sz="1800" dirty="0"/>
          </a:p>
        </p:txBody>
      </p:sp>
      <p:sp>
        <p:nvSpPr>
          <p:cNvPr id="42" name="S08-card259"/>
          <p:cNvSpPr/>
          <p:nvPr/>
        </p:nvSpPr>
        <p:spPr>
          <a:xfrm>
            <a:off x="8208020" y="2136648"/>
            <a:ext cx="343229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8-cardtext260"/>
          <p:cNvSpPr txBox="1"/>
          <p:nvPr/>
        </p:nvSpPr>
        <p:spPr>
          <a:xfrm>
            <a:off x="8482340" y="2273808"/>
            <a:ext cx="288365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저출산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태어나는 아기가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줄어드는 것</a:t>
            </a:r>
            <a:endParaRPr lang="ko-KR" sz="2800" dirty="0"/>
          </a:p>
        </p:txBody>
      </p:sp>
      <p:sp>
        <p:nvSpPr>
          <p:cNvPr id="44" name="S08-card261"/>
          <p:cNvSpPr/>
          <p:nvPr/>
        </p:nvSpPr>
        <p:spPr>
          <a:xfrm>
            <a:off x="8208020" y="3886200"/>
            <a:ext cx="343229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5" name="S08-cardtext262"/>
          <p:cNvSpPr txBox="1"/>
          <p:nvPr/>
        </p:nvSpPr>
        <p:spPr>
          <a:xfrm>
            <a:off x="8482340" y="4023360"/>
            <a:ext cx="288365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가운데 노인의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높아지는 것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달라질까요?</a:t>
            </a:r>
            <a:endParaRPr lang="ko-KR" sz="4000" dirty="0"/>
          </a:p>
        </p:txBody>
      </p:sp>
      <p:sp>
        <p:nvSpPr>
          <p:cNvPr id="3" name="S09-chip26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9-text26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도시에 사람이 몰리면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도시에는 어떤 일이?</a:t>
            </a:r>
            <a:endParaRPr lang="ko-KR" sz="2800" dirty="0"/>
          </a:p>
        </p:txBody>
      </p:sp>
      <p:sp>
        <p:nvSpPr>
          <p:cNvPr id="5" name="S09-chip26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9-text26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 사람이 줄면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어떤 일이?</a:t>
            </a:r>
            <a:endParaRPr lang="ko-KR" sz="2800" dirty="0"/>
          </a:p>
        </p:txBody>
      </p:sp>
      <p:sp>
        <p:nvSpPr>
          <p:cNvPr id="7" name="S09-chip26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9-text26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줄면 학교에는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일이?</a:t>
            </a:r>
            <a:endParaRPr lang="ko-KR" sz="2800" dirty="0"/>
          </a:p>
        </p:txBody>
      </p:sp>
      <p:sp>
        <p:nvSpPr>
          <p:cNvPr id="9" name="S09-chip26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9-text27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늘면 어떤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시설이 더 필요할까요?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동네의 변화 조사</a:t>
            </a:r>
            <a:endParaRPr lang="ko-KR" sz="4000" dirty="0"/>
          </a:p>
        </p:txBody>
      </p:sp>
      <p:sp>
        <p:nvSpPr>
          <p:cNvPr id="3" name="S10-text2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2800" dirty="0"/>
          </a:p>
        </p:txBody>
      </p:sp>
      <p:sp>
        <p:nvSpPr>
          <p:cNvPr id="4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다녀요.</a:t>
            </a:r>
            <a:endParaRPr lang="ko-KR" sz="2800" dirty="0"/>
          </a:p>
        </p:txBody>
      </p:sp>
      <p:sp>
        <p:nvSpPr>
          <p:cNvPr id="6" name="S10-card27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7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점 두 가지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어린이·어르신 시설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변화의 까닭 짐작하기</a:t>
            </a:r>
            <a:endParaRPr lang="ko-KR" sz="2800" dirty="0"/>
          </a:p>
        </p:txBody>
      </p:sp>
      <p:sp>
        <p:nvSpPr>
          <p:cNvPr id="8" name="S10-stepno276"/>
          <p:cNvSpPr txBox="1"/>
          <p:nvPr/>
        </p:nvSpPr>
        <p:spPr>
          <a:xfrm>
            <a:off x="548640" y="2155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10-text277"/>
          <p:cNvSpPr txBox="1"/>
          <p:nvPr/>
        </p:nvSpPr>
        <p:spPr>
          <a:xfrm>
            <a:off x="1325880" y="21554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예전의 우리 동네 모습을 여쭤요.</a:t>
            </a:r>
            <a:endParaRPr lang="ko-KR" sz="2200" dirty="0"/>
          </a:p>
        </p:txBody>
      </p:sp>
      <p:sp>
        <p:nvSpPr>
          <p:cNvPr id="10" name="S10-stepno278"/>
          <p:cNvSpPr txBox="1"/>
          <p:nvPr/>
        </p:nvSpPr>
        <p:spPr>
          <a:xfrm>
            <a:off x="548640" y="28686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10-text279"/>
          <p:cNvSpPr txBox="1"/>
          <p:nvPr/>
        </p:nvSpPr>
        <p:spPr>
          <a:xfrm>
            <a:off x="1325880" y="28686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지금과 달라진 점을 들어요.</a:t>
            </a:r>
            <a:endParaRPr lang="ko-KR" sz="2200" dirty="0"/>
          </a:p>
        </p:txBody>
      </p:sp>
      <p:sp>
        <p:nvSpPr>
          <p:cNvPr id="12" name="S10-stepno280"/>
          <p:cNvSpPr txBox="1"/>
          <p:nvPr/>
        </p:nvSpPr>
        <p:spPr>
          <a:xfrm>
            <a:off x="548640" y="36276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0-text281"/>
          <p:cNvSpPr txBox="1"/>
          <p:nvPr/>
        </p:nvSpPr>
        <p:spPr>
          <a:xfrm>
            <a:off x="1325880" y="358190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동네에서 어린이 시설과 어르신 시설을 찾아요.</a:t>
            </a:r>
            <a:endParaRPr lang="ko-KR" sz="2200" dirty="0"/>
          </a:p>
        </p:txBody>
      </p:sp>
      <p:sp>
        <p:nvSpPr>
          <p:cNvPr id="14" name="S10-stepno282"/>
          <p:cNvSpPr txBox="1"/>
          <p:nvPr/>
        </p:nvSpPr>
        <p:spPr>
          <a:xfrm>
            <a:off x="548640" y="4428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10-text283"/>
          <p:cNvSpPr txBox="1"/>
          <p:nvPr/>
        </p:nvSpPr>
        <p:spPr>
          <a:xfrm>
            <a:off x="1325880" y="44282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5에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84" descr="지어낸 바람 지역의 지도(예시). 아래쪽은 바다, 왼쪽은 산지, 오른쪽은 평야. 강이 산지에서 평야를 지나 바다로 흐르고, 바닷가를 따라 큰 길이 있음. 가는 산지 한가운데, 나는 강어귀와 큰 길이 만나는 바닷가 평야, 다는 강과 큰 길에서 먼 평야"/>
          <p:cNvSpPr/>
          <p:nvPr/>
        </p:nvSpPr>
        <p:spPr>
          <a:xfrm>
            <a:off x="6361176" y="2062353"/>
            <a:ext cx="5195316" cy="2523439"/>
          </a:xfrm>
          <a:custGeom>
            <a:avLst/>
            <a:gdLst/>
            <a:ahLst/>
            <a:cxnLst/>
            <a:rect l="l" t="t" r="r" b="b"/>
            <a:pathLst>
              <a:path w="5195316" h="2523439">
                <a:moveTo>
                  <a:pt x="0" y="2523439"/>
                </a:moveTo>
                <a:lnTo>
                  <a:pt x="5195316" y="2523439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1-mark285"/>
          <p:cNvSpPr/>
          <p:nvPr/>
        </p:nvSpPr>
        <p:spPr>
          <a:xfrm>
            <a:off x="6361176" y="2062353"/>
            <a:ext cx="2041017" cy="2523439"/>
          </a:xfrm>
          <a:custGeom>
            <a:avLst/>
            <a:gdLst/>
            <a:ahLst/>
            <a:cxnLst/>
            <a:rect l="l" t="t" r="r" b="b"/>
            <a:pathLst>
              <a:path w="2041017" h="2523439">
                <a:moveTo>
                  <a:pt x="0" y="0"/>
                </a:moveTo>
                <a:lnTo>
                  <a:pt x="2041017" y="0"/>
                </a:lnTo>
                <a:lnTo>
                  <a:pt x="1855470" y="1113282"/>
                </a:lnTo>
                <a:lnTo>
                  <a:pt x="1484376" y="2523439"/>
                </a:lnTo>
                <a:lnTo>
                  <a:pt x="0" y="2523439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1-mark286"/>
          <p:cNvSpPr/>
          <p:nvPr/>
        </p:nvSpPr>
        <p:spPr>
          <a:xfrm>
            <a:off x="6361176" y="4585792"/>
            <a:ext cx="5195316" cy="445313"/>
          </a:xfrm>
          <a:custGeom>
            <a:avLst/>
            <a:gdLst/>
            <a:ahLst/>
            <a:cxnLst/>
            <a:rect l="l" t="t" r="r" b="b"/>
            <a:pathLst>
              <a:path w="5195316" h="445313">
                <a:moveTo>
                  <a:pt x="0" y="445313"/>
                </a:moveTo>
                <a:lnTo>
                  <a:pt x="5195316" y="445313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1-mark287"/>
          <p:cNvSpPr/>
          <p:nvPr/>
        </p:nvSpPr>
        <p:spPr>
          <a:xfrm>
            <a:off x="6613520" y="24750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11-mark288"/>
          <p:cNvSpPr/>
          <p:nvPr/>
        </p:nvSpPr>
        <p:spPr>
          <a:xfrm>
            <a:off x="7689693" y="24750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11-mark289"/>
          <p:cNvSpPr/>
          <p:nvPr/>
        </p:nvSpPr>
        <p:spPr>
          <a:xfrm>
            <a:off x="6687739" y="36625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11-mark290"/>
          <p:cNvSpPr/>
          <p:nvPr/>
        </p:nvSpPr>
        <p:spPr>
          <a:xfrm>
            <a:off x="7467036" y="373672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11-mark291"/>
          <p:cNvSpPr/>
          <p:nvPr/>
        </p:nvSpPr>
        <p:spPr>
          <a:xfrm>
            <a:off x="6613520" y="310586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11-mark292"/>
          <p:cNvSpPr/>
          <p:nvPr/>
        </p:nvSpPr>
        <p:spPr>
          <a:xfrm>
            <a:off x="7689693" y="3217198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11-mark293"/>
          <p:cNvSpPr/>
          <p:nvPr/>
        </p:nvSpPr>
        <p:spPr>
          <a:xfrm>
            <a:off x="8068208" y="2618994"/>
            <a:ext cx="1781251" cy="1966798"/>
          </a:xfrm>
          <a:custGeom>
            <a:avLst/>
            <a:gdLst/>
            <a:ahLst/>
            <a:cxnLst/>
            <a:rect l="l" t="t" r="r" b="b"/>
            <a:pathLst>
              <a:path w="1781251" h="1966798">
                <a:moveTo>
                  <a:pt x="0" y="0"/>
                </a:moveTo>
                <a:lnTo>
                  <a:pt x="705079" y="742188"/>
                </a:lnTo>
                <a:lnTo>
                  <a:pt x="1558595" y="1521485"/>
                </a:lnTo>
                <a:lnTo>
                  <a:pt x="1781251" y="1966798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11-mark294"/>
          <p:cNvSpPr/>
          <p:nvPr/>
        </p:nvSpPr>
        <p:spPr>
          <a:xfrm>
            <a:off x="8290865" y="4288917"/>
            <a:ext cx="3191408" cy="9144"/>
          </a:xfrm>
          <a:custGeom>
            <a:avLst/>
            <a:gdLst/>
            <a:ahLst/>
            <a:cxnLst/>
            <a:rect l="l" t="t" r="r" b="b"/>
            <a:pathLst>
              <a:path w="3191408" h="9144">
                <a:moveTo>
                  <a:pt x="0" y="0"/>
                </a:moveTo>
                <a:lnTo>
                  <a:pt x="3191408" y="0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11-label296"/>
          <p:cNvSpPr txBox="1"/>
          <p:nvPr/>
        </p:nvSpPr>
        <p:spPr>
          <a:xfrm>
            <a:off x="10758068" y="466557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15" name="S11-label298"/>
          <p:cNvSpPr txBox="1"/>
          <p:nvPr/>
        </p:nvSpPr>
        <p:spPr>
          <a:xfrm>
            <a:off x="7010019" y="212358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16" name="S11-label300"/>
          <p:cNvSpPr txBox="1"/>
          <p:nvPr/>
        </p:nvSpPr>
        <p:spPr>
          <a:xfrm>
            <a:off x="9422130" y="266166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17" name="S11-label302"/>
          <p:cNvSpPr txBox="1"/>
          <p:nvPr/>
        </p:nvSpPr>
        <p:spPr>
          <a:xfrm>
            <a:off x="8680628" y="2847213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18" name="S11-label304"/>
          <p:cNvSpPr txBox="1"/>
          <p:nvPr/>
        </p:nvSpPr>
        <p:spPr>
          <a:xfrm>
            <a:off x="8571433" y="3923386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19" name="S11-labelbg306"/>
          <p:cNvSpPr/>
          <p:nvPr/>
        </p:nvSpPr>
        <p:spPr>
          <a:xfrm>
            <a:off x="7105752" y="296171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11-label307"/>
          <p:cNvSpPr txBox="1"/>
          <p:nvPr/>
        </p:nvSpPr>
        <p:spPr>
          <a:xfrm>
            <a:off x="7060032" y="292679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1" name="S11-labelbg309"/>
          <p:cNvSpPr/>
          <p:nvPr/>
        </p:nvSpPr>
        <p:spPr>
          <a:xfrm>
            <a:off x="10074504" y="381523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11-label310"/>
          <p:cNvSpPr txBox="1"/>
          <p:nvPr/>
        </p:nvSpPr>
        <p:spPr>
          <a:xfrm>
            <a:off x="10028784" y="37803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3" name="S11-labelbg312"/>
          <p:cNvSpPr/>
          <p:nvPr/>
        </p:nvSpPr>
        <p:spPr>
          <a:xfrm>
            <a:off x="10668254" y="244218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11-label313"/>
          <p:cNvSpPr txBox="1"/>
          <p:nvPr/>
        </p:nvSpPr>
        <p:spPr>
          <a:xfrm>
            <a:off x="10622534" y="24072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5" name="S11-label314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지역(지어낸 예시)</a:t>
            </a:r>
            <a:endParaRPr lang="ko-KR" sz="2200" dirty="0"/>
          </a:p>
        </p:txBody>
      </p:sp>
      <p:sp>
        <p:nvSpPr>
          <p:cNvPr id="26" name="S11-chip3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11-text31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가장 많이 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곳과 까닭은?</a:t>
            </a:r>
            <a:endParaRPr lang="ko-KR" sz="2800" dirty="0"/>
          </a:p>
        </p:txBody>
      </p:sp>
      <p:sp>
        <p:nvSpPr>
          <p:cNvPr id="28" name="S11-chip3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9" name="S11-text31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가장 적게 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곳과 까닭은?</a:t>
            </a:r>
            <a:endParaRPr lang="ko-KR" sz="2800" dirty="0"/>
          </a:p>
        </p:txBody>
      </p:sp>
      <p:sp>
        <p:nvSpPr>
          <p:cNvPr id="30" name="S11-chip3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1" name="S11-text32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서울·인천·경기를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부르는 말은?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3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평평하고 교통이 편리하며 일자리가 많은 곳에 모여 살아요.</a:t>
            </a:r>
            <a:endParaRPr lang="ko-KR" sz="2800" dirty="0"/>
          </a:p>
        </p:txBody>
      </p:sp>
      <p:sp>
        <p:nvSpPr>
          <p:cNvPr id="5" name="S12-chip32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2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</a:t>
            </a:r>
            <a:endParaRPr lang="ko-KR" sz="2800" dirty="0"/>
          </a:p>
        </p:txBody>
      </p:sp>
      <p:sp>
        <p:nvSpPr>
          <p:cNvPr id="7" name="S12-text32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평야·강·바다·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2200" dirty="0"/>
          </a:p>
        </p:txBody>
      </p:sp>
      <p:sp>
        <p:nvSpPr>
          <p:cNvPr id="8" name="S12-text32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</a:t>
            </a:r>
            <a:endParaRPr lang="ko-KR" sz="2800" dirty="0"/>
          </a:p>
        </p:txBody>
      </p:sp>
      <p:sp>
        <p:nvSpPr>
          <p:cNvPr id="9" name="S12-text32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험한 산지,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불편</a:t>
            </a:r>
            <a:endParaRPr lang="ko-KR" sz="2200" dirty="0"/>
          </a:p>
        </p:txBody>
      </p:sp>
      <p:sp>
        <p:nvSpPr>
          <p:cNvPr id="10" name="S12-text328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수도권</a:t>
            </a:r>
            <a:endParaRPr lang="ko-KR" sz="2800" dirty="0"/>
          </a:p>
        </p:txBody>
      </p:sp>
      <p:sp>
        <p:nvSpPr>
          <p:cNvPr id="11" name="S12-chip32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2" name="S12-text33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“가, 땅이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넓어서”</a:t>
            </a:r>
            <a:endParaRPr lang="ko-KR" sz="2800" dirty="0"/>
          </a:p>
        </p:txBody>
      </p:sp>
      <p:sp>
        <p:nvSpPr>
          <p:cNvPr id="13" name="S12-text33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넓이로만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</a:t>
            </a:r>
            <a:endParaRPr lang="ko-KR" sz="2200" dirty="0"/>
          </a:p>
        </p:txBody>
      </p:sp>
      <p:sp>
        <p:nvSpPr>
          <p:cNvPr id="14" name="S12-text33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답만 말하기</a:t>
            </a:r>
            <a:endParaRPr lang="ko-KR" sz="2800" dirty="0"/>
          </a:p>
        </p:txBody>
      </p:sp>
      <p:sp>
        <p:nvSpPr>
          <p:cNvPr id="15" name="S12-text33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수가 줄었어요</a:t>
            </a:r>
            <a:endParaRPr lang="ko-KR" sz="4000" dirty="0"/>
          </a:p>
        </p:txBody>
      </p:sp>
      <p:sp>
        <p:nvSpPr>
          <p:cNvPr id="3" name="S13-figure334" descr="막대그래프(지어낸 예시): 구름초등학교 학생 수는 20년 전 600명, 10년 전 400명, 지금 250명"/>
          <p:cNvSpPr/>
          <p:nvPr/>
        </p:nvSpPr>
        <p:spPr>
          <a:xfrm>
            <a:off x="7700175" y="3083119"/>
            <a:ext cx="696279" cy="2295580"/>
          </a:xfrm>
          <a:custGeom>
            <a:avLst/>
            <a:gdLst/>
            <a:ahLst/>
            <a:cxnLst/>
            <a:rect l="l" t="t" r="r" b="b"/>
            <a:pathLst>
              <a:path w="696279" h="2295580">
                <a:moveTo>
                  <a:pt x="0" y="2295580"/>
                </a:moveTo>
                <a:lnTo>
                  <a:pt x="696279" y="2295580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13-mark335"/>
          <p:cNvSpPr/>
          <p:nvPr/>
        </p:nvSpPr>
        <p:spPr>
          <a:xfrm>
            <a:off x="8932054" y="3848491"/>
            <a:ext cx="696279" cy="1530208"/>
          </a:xfrm>
          <a:custGeom>
            <a:avLst/>
            <a:gdLst/>
            <a:ahLst/>
            <a:cxnLst/>
            <a:rect l="l" t="t" r="r" b="b"/>
            <a:pathLst>
              <a:path w="696279" h="1530208">
                <a:moveTo>
                  <a:pt x="0" y="1530208"/>
                </a:moveTo>
                <a:lnTo>
                  <a:pt x="696279" y="1530208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3-mark336"/>
          <p:cNvSpPr/>
          <p:nvPr/>
        </p:nvSpPr>
        <p:spPr>
          <a:xfrm>
            <a:off x="10163933" y="4422118"/>
            <a:ext cx="696279" cy="956581"/>
          </a:xfrm>
          <a:custGeom>
            <a:avLst/>
            <a:gdLst/>
            <a:ahLst/>
            <a:cxnLst/>
            <a:rect l="l" t="t" r="r" b="b"/>
            <a:pathLst>
              <a:path w="696279" h="956581">
                <a:moveTo>
                  <a:pt x="0" y="956581"/>
                </a:moveTo>
                <a:lnTo>
                  <a:pt x="696279" y="956581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3-mark337"/>
          <p:cNvSpPr/>
          <p:nvPr/>
        </p:nvSpPr>
        <p:spPr>
          <a:xfrm>
            <a:off x="7164575" y="4996128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7" name="S13-mark338"/>
          <p:cNvSpPr/>
          <p:nvPr/>
        </p:nvSpPr>
        <p:spPr>
          <a:xfrm>
            <a:off x="7164575" y="4613556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13-mark339"/>
          <p:cNvSpPr/>
          <p:nvPr/>
        </p:nvSpPr>
        <p:spPr>
          <a:xfrm>
            <a:off x="7164575" y="4230985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13-mark340"/>
          <p:cNvSpPr/>
          <p:nvPr/>
        </p:nvSpPr>
        <p:spPr>
          <a:xfrm>
            <a:off x="7164575" y="3848414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13-mark341"/>
          <p:cNvSpPr/>
          <p:nvPr/>
        </p:nvSpPr>
        <p:spPr>
          <a:xfrm>
            <a:off x="7164575" y="3465843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3-mark342"/>
          <p:cNvSpPr/>
          <p:nvPr/>
        </p:nvSpPr>
        <p:spPr>
          <a:xfrm>
            <a:off x="7164575" y="3083272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3-mark343"/>
          <p:cNvSpPr/>
          <p:nvPr/>
        </p:nvSpPr>
        <p:spPr>
          <a:xfrm>
            <a:off x="7164575" y="2700701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3-mark344"/>
          <p:cNvSpPr/>
          <p:nvPr/>
        </p:nvSpPr>
        <p:spPr>
          <a:xfrm flipV="1">
            <a:off x="7164575" y="2486461"/>
            <a:ext cx="0" cy="28922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mark345"/>
          <p:cNvSpPr/>
          <p:nvPr/>
        </p:nvSpPr>
        <p:spPr>
          <a:xfrm>
            <a:off x="7164575" y="5378699"/>
            <a:ext cx="4231237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label347"/>
          <p:cNvSpPr txBox="1"/>
          <p:nvPr/>
        </p:nvSpPr>
        <p:spPr>
          <a:xfrm>
            <a:off x="6632574" y="523582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6" name="S13-label349"/>
          <p:cNvSpPr txBox="1"/>
          <p:nvPr/>
        </p:nvSpPr>
        <p:spPr>
          <a:xfrm>
            <a:off x="6481698" y="485340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17" name="S13-label351"/>
          <p:cNvSpPr txBox="1"/>
          <p:nvPr/>
        </p:nvSpPr>
        <p:spPr>
          <a:xfrm>
            <a:off x="6481698" y="4470452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18" name="S13-label353"/>
          <p:cNvSpPr txBox="1"/>
          <p:nvPr/>
        </p:nvSpPr>
        <p:spPr>
          <a:xfrm>
            <a:off x="6481698" y="408803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19" name="S13-label355"/>
          <p:cNvSpPr txBox="1"/>
          <p:nvPr/>
        </p:nvSpPr>
        <p:spPr>
          <a:xfrm>
            <a:off x="6481698" y="370561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0" name="S13-label357"/>
          <p:cNvSpPr txBox="1"/>
          <p:nvPr/>
        </p:nvSpPr>
        <p:spPr>
          <a:xfrm>
            <a:off x="6481698" y="332319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800" dirty="0"/>
          </a:p>
        </p:txBody>
      </p:sp>
      <p:sp>
        <p:nvSpPr>
          <p:cNvPr id="21" name="S13-label359"/>
          <p:cNvSpPr txBox="1"/>
          <p:nvPr/>
        </p:nvSpPr>
        <p:spPr>
          <a:xfrm>
            <a:off x="6481698" y="294024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2" name="S13-label361"/>
          <p:cNvSpPr txBox="1"/>
          <p:nvPr/>
        </p:nvSpPr>
        <p:spPr>
          <a:xfrm>
            <a:off x="6481698" y="255782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3" name="S13-label363"/>
          <p:cNvSpPr txBox="1"/>
          <p:nvPr/>
        </p:nvSpPr>
        <p:spPr>
          <a:xfrm>
            <a:off x="6753417" y="2075786"/>
            <a:ext cx="6080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1800" dirty="0"/>
          </a:p>
        </p:txBody>
      </p:sp>
      <p:sp>
        <p:nvSpPr>
          <p:cNvPr id="24" name="S13-label365"/>
          <p:cNvSpPr txBox="1"/>
          <p:nvPr/>
        </p:nvSpPr>
        <p:spPr>
          <a:xfrm>
            <a:off x="7767137" y="272600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5" name="S13-label367"/>
          <p:cNvSpPr txBox="1"/>
          <p:nvPr/>
        </p:nvSpPr>
        <p:spPr>
          <a:xfrm>
            <a:off x="7584257" y="553040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26" name="S13-label369"/>
          <p:cNvSpPr txBox="1"/>
          <p:nvPr/>
        </p:nvSpPr>
        <p:spPr>
          <a:xfrm>
            <a:off x="8999016" y="349137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7" name="S13-label371"/>
          <p:cNvSpPr txBox="1"/>
          <p:nvPr/>
        </p:nvSpPr>
        <p:spPr>
          <a:xfrm>
            <a:off x="8816136" y="553040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</a:t>
            </a:r>
            <a:endParaRPr lang="ko-KR" sz="1800" dirty="0"/>
          </a:p>
        </p:txBody>
      </p:sp>
      <p:sp>
        <p:nvSpPr>
          <p:cNvPr id="28" name="S13-label373"/>
          <p:cNvSpPr txBox="1"/>
          <p:nvPr/>
        </p:nvSpPr>
        <p:spPr>
          <a:xfrm>
            <a:off x="10230895" y="406500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1800" dirty="0"/>
          </a:p>
        </p:txBody>
      </p:sp>
      <p:sp>
        <p:nvSpPr>
          <p:cNvPr id="29" name="S13-label375"/>
          <p:cNvSpPr txBox="1"/>
          <p:nvPr/>
        </p:nvSpPr>
        <p:spPr>
          <a:xfrm>
            <a:off x="10233181" y="553040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0" name="S13-label377"/>
          <p:cNvSpPr txBox="1"/>
          <p:nvPr/>
        </p:nvSpPr>
        <p:spPr>
          <a:xfrm>
            <a:off x="7787436" y="1700866"/>
            <a:ext cx="29855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구름초등학교 학생 수(예시)</a:t>
            </a:r>
            <a:endParaRPr lang="ko-KR" sz="1800" dirty="0"/>
          </a:p>
        </p:txBody>
      </p:sp>
      <p:sp>
        <p:nvSpPr>
          <p:cNvPr id="31" name="S13-chip37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2" name="S13-text37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동안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 줄었나요?</a:t>
            </a:r>
            <a:endParaRPr lang="ko-KR" sz="2800" dirty="0"/>
          </a:p>
        </p:txBody>
      </p:sp>
      <p:sp>
        <p:nvSpPr>
          <p:cNvPr id="33" name="S13-chip38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4" name="S13-text38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변한 까닭으로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 두 가지는?</a:t>
            </a:r>
            <a:endParaRPr lang="ko-KR" sz="2800" dirty="0"/>
          </a:p>
        </p:txBody>
      </p:sp>
      <p:sp>
        <p:nvSpPr>
          <p:cNvPr id="35" name="S13-chip38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6" name="S13-text38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생길 수 있는 일과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생각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8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8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평야, 교통이 편리하고 일자리가 많은 곳에 모여 살아요.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도시로의 이동, 저출산·고령화로 생활이 달라지고 있어요.</a:t>
            </a:r>
            <a:endParaRPr lang="ko-KR" sz="2800" dirty="0"/>
          </a:p>
        </p:txBody>
      </p:sp>
      <p:sp>
        <p:nvSpPr>
          <p:cNvPr id="5" name="S14-chip38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지도·그래프에서 근거 찾기</a:t>
            </a:r>
            <a:endParaRPr lang="ko-KR" sz="2200" dirty="0"/>
          </a:p>
        </p:txBody>
      </p:sp>
      <p:sp>
        <p:nvSpPr>
          <p:cNvPr id="6" name="S14-chip38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땅의 넓이로만 판단하기</a:t>
            </a:r>
            <a:endParaRPr lang="ko-KR" sz="2200" dirty="0"/>
          </a:p>
        </p:txBody>
      </p:sp>
      <p:sp>
        <p:nvSpPr>
          <p:cNvPr id="7" name="S14-text38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8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많이 모이는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조건 두 가지는?</a:t>
            </a:r>
            <a:endParaRPr lang="ko-KR" sz="2200" dirty="0"/>
          </a:p>
        </p:txBody>
      </p:sp>
      <p:sp>
        <p:nvSpPr>
          <p:cNvPr id="9" name="S14-text39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서울·인천·경기를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말은?</a:t>
            </a:r>
            <a:endParaRPr lang="ko-KR" sz="2200" dirty="0"/>
          </a:p>
        </p:txBody>
      </p:sp>
      <p:sp>
        <p:nvSpPr>
          <p:cNvPr id="10" name="S14-text39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저출산이란?</a:t>
            </a:r>
            <a:endParaRPr lang="ko-KR" sz="2200" dirty="0"/>
          </a:p>
        </p:txBody>
      </p:sp>
      <p:sp>
        <p:nvSpPr>
          <p:cNvPr id="11" name="S14-text3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선사 시대와 고조선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촌락과 도시 다시 보기</a:t>
            </a:r>
            <a:endParaRPr lang="ko-KR" sz="4000" dirty="0"/>
          </a:p>
        </p:txBody>
      </p:sp>
      <p:graphicFrame>
        <p:nvGraphicFramePr>
          <p:cNvPr id="16" name="S15-table3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52984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고기잡이처럼 자연을 이용해요.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회사·가게·공장에서 여러 가지 일을 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인구와 도시</dc:title>
  <dc:subject>KR22-G05-SOC-POPULATION-L01</dc:subject>
  <dc:creator>education-ppt</dc:creator>
  <cp:lastModifiedBy>education-ppt</cp:lastModifiedBy>
  <cp:revision>1</cp:revision>
  <dcterms:created xsi:type="dcterms:W3CDTF">2026-10-26T13:13:53Z</dcterms:created>
  <dcterms:modified xsi:type="dcterms:W3CDTF">2026-10-26T13:13:53Z</dcterms:modified>
</cp:coreProperties>
</file>