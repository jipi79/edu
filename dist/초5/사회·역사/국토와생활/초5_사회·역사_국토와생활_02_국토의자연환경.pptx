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4dfb832-edbb-99fa-b64b-f182b69e8c0e}">
          <p14:sldIdLst>
            <p14:sldId id="256"/>
            <p14:sldId id="257"/>
          </p14:sldIdLst>
        </p14:section>
        <p14:section name="개념" id="{5126c91e-f02b-8e5a-935a-c9b8e1e1896a}">
          <p14:sldIdLst>
            <p14:sldId id="258"/>
            <p14:sldId id="261"/>
            <p14:sldId id="262"/>
            <p14:sldId id="264"/>
          </p14:sldIdLst>
        </p14:section>
        <p14:section name="연습" id="{0e8a682d-3ce6-9885-0698-41397c30f17c}">
          <p14:sldIdLst>
            <p14:sldId id="259"/>
            <p14:sldId id="260"/>
            <p14:sldId id="263"/>
            <p14:sldId id="265"/>
          </p14:sldIdLst>
        </p14:section>
        <p14:section name="개념" id="{2f1b06fb-43ca-5961-be90-40e033269dcf}">
          <p14:sldIdLst/>
        </p14:section>
        <p14:section name="연습" id="{7970dbf8-7957-20f7-6cb7-e4b8df382795}">
          <p14:sldIdLst/>
        </p14:section>
        <p14:section name="개념" id="{cd5e3689-9c72-2d22-7729-774bc50ef135}">
          <p14:sldIdLst/>
        </p14:section>
        <p14:section name="연습" id="{83b3e985-0e4a-a384-b623-a96cad7d2658}">
          <p14:sldIdLst/>
        </p14:section>
        <p14:section name="확인" id="{e0e1ec82-8fcd-572a-0b22-7545267ef266}">
          <p14:sldIdLst>
            <p14:sldId id="266"/>
            <p14:sldId id="267"/>
            <p14:sldId id="268"/>
          </p14:sldIdLst>
        </p14:section>
        <p14:section name="정리" id="{be6c4b06-ce4e-56e3-ff35-faa889a32be3}">
          <p14:sldIdLst>
            <p14:sldId id="269"/>
          </p14:sldIdLst>
        </p14:section>
        <p14:section name="보충" id="{ea57e203-015c-c481-1a63-92fead7e372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우리나라의 산과 계절을 떠올리게 합니다.
시간: 약 2분
이렇게 말해 보세요
- “여행을 가거나 차를 타고 다닐 때 산을 많이 봤어, 넓은 들을 많이 봤어?”
- “우리나라는 여름과 겨울 날씨가 어떻게 달라? 오늘은 우리나라의 땅 모양(지형)과 날씨의 특징(기후)을 알아볼 거야.”
예상 답
- “산이 많았어요.” “여름에는 덥고 비가 많이 와요. 겨울에는 추워요.”
막히면
- 가족 여행 사진이나 창밖 풍경을 함께 보며 산·들·강을 찾아봅니다.
주의
- ‘지형’은 땅의 생김새, ‘기후’는 한 지역에서 오랫동안 나타나는 날씨의 평균적인 모습이라고 쉽게 풀어 줍니다. 오늘 날씨(하루)와 기후(오랜 기간)는 다르다는 것도 한 번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확인(바다와 방위, 높낮이)]
목적: 지난 차시 ‘우리나라의 위치와 영역’의 세 바다와 방위, 4학년 ‘지도 읽기’의 높낮이 읽기를 확인합니다. 오늘 지형을 설명할 때 그대로 씁니다.
시간: 약 3분
이렇게 말해 보세요
- “지난 시간에 배운 세 바다 이름을 말해 볼래?”
- “방위표가 없으면 지도의 위쪽이 북쪽이었지. 그럼 오른쪽은?”
정답
- ① 동해, 서해, 남해
- ② 동쪽
- ③ 높은 곳
막히면
- ①·②가 어려우면 지난 차시 S04를 다시 봅니다. ③이 어려우면 S15(보충)를 먼저 합니다.
주의
- ③은 4학년 내용이라 잊었을 수 있습니다. “산꼭대기로 갈수록 숫자가 커져”라고 짧게 알려 주고 넘어가도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산지가 많고 동쪽이 높은 지형]
목적: 우리나라는 산지가 많고, 동쪽이 높고 서쪽이 낮으며, 그래서 큰 강이 대부분 서해·남해로 흐르고 평야는 서쪽·남쪽에 많다는 것을 그림으로 알려 줍니다(목표 A).
시간: 약 4분
이렇게 말해 보세요
- “이 그림은 우리나라 땅을 서쪽에서 동쪽으로 칼로 자른 것처럼 옆에서 본 모습이야. 어느 쪽이 높아?”
- “물은 높은 곳에서 낮은 곳으로 흐르지? 그럼 동쪽 산에서 시작한 강물은 주로 어느 쪽으로 갈까?”
- “강이 흘러가는 서쪽에는 넓고 평평한 땅, 평야가 많아. 논농사를 많이 짓는 곳이야.”
예상 답
- “동쪽이 높아요.” “서쪽으로 흘러요.”
막히면
- S15(보충)의 비탈 그림으로 ‘물은 높은 곳에서 낮은 곳으로’를 먼저 확인합니다.
주의
- 그림은 특징만 보여 주려고 간단히 그린 것이며 실제 높이와 거리를 나타내지 않습니다.
- 부모님 참고: 교과서는 흔히 ‘국토의 약 70 %가 산지’라고 설명합니다. 큰 강 가운데 한강·금강·영산강은 서해로, 낙동강·섬진강은 남해로 흐릅니다. 동해로 흐르는 큰 강은 적습니다. 이름은 외우게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자른 그림 읽기]
목적: 자른 그림에서 높은 곳과 낮은 곳을 찾고, 강이 흐르는 방향과 평야의 위치를 까닭과 함께 말하는 연습을 합니다(목표 A).
시간: 약 3분
이렇게 말해 보세요
- “다는 서쪽에 있어, 동쪽에 있어? 높아, 낮아?”
- “②는 왜 그렇게 생각했는지도 말해 줘.”
정답
- ① 다(동쪽의 높은 산지)
- ② 서쪽 바다(서해). 물은 높은 동쪽에서 낮은 서쪽으로 흐르기 때문이에요.
- ③ 가(서쪽의 낮고 평평한 땅)
막히면
- 손가락을 다에 놓고 “여기에 물을 부으면 어느 쪽으로 흘러내릴까?” 하고 따라가 보게 합니다.
주의
- ②에서 ‘동해가 가까우니까 동해로’라고 하면, 다 바로 동쪽은 비탈이 짧고 급하다는 것을 그림으로 보여 주고 큰 강은 길게 흐를 수 있는 서쪽으로 많이 흐른다고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오해 비교(우리 동네만 보고 판단)]
목적: 한 지역의 모습만 보고 국토 전체의 특징을 판단하지 않고, 지도처럼 전체를 보여 주는 자료로 확인해야 한다는 것을 알게 합니다(목표 A, 오해 M1).
시간: 약 2분
이렇게 말해 보세요
- “우리 동네는 우리나라 전체 가운데 아주 작은 곳이야. 우리 동네만 보고 우리나라 전체를 말할 수 있을까?”
- “우리나라 전체의 땅 모양을 보려면 무엇을 보면 될까?”
정답
- 나. 한 동네의 모습만으로는 알 수 없고, 국토 전체를 보여 주는 지도(땅의 높낮이를 색으로 나타낸 지도)를 보면 산지가 많다는 것을 알 수 있어요.
막히면
- 사회과 부도나 지도 앱의 지형(높낮이) 보기를 잠깐 보여 주고 “갈색·초록색 가운데 어떤 색이 더 많아?”라고 묻습니다.
주의
- 도시에 사는 아이일수록 산지가 많다는 것이 와닿지 않을 수 있습니다. S10에서 실제 지도로 함께 확인합니다.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사계절의 특징]
목적: 우리나라는 사계절이 뚜렷하고 계절마다 기온과 비의 양이 다르다는 것을 알려 줍니다(목표 B).
시간: 약 3분
이렇게 말해 보세요
- “계절마다 어떤 옷을 입어? 왜 그럴까?”
- “여름에 비가 아주 많이 오는 때를 뭐라고 하지? 바람이 세고 비가 많이 오는 것은?”
예상 답
- “여름에는 반소매, 겨울에는 두꺼운 옷이요.” “장마요.” “태풍이요.”
막히면
- 달력을 보며 지금이 어느 계절인지, 지난 계절에는 어떤 날씨였는지 이야기합니다.
주의
- ‘건조하다’는 공기가 메말라 비가 적다는 뜻이라고 풀어 줍니다. 봄철 산불 조심, 겨울철 난방처럼 생활과 이어 말해 주면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예시 그래프로 보는 비의 양]
목적: 예시 그래프에서 계절별 비의 양을 비교해 여름에 비가 많이 오고 겨울에 적다는 것을 읽어 냅니다(목표 B).
시간: 약 3분
이렇게 말해 보세요
- “막대가 가장 긴 계절은? 몇 mm야?”
- “여름 비의 양은 겨울의 몇 배일까? 700 ÷ 100을 해 볼래?”
- “여름에 비가 많이 오면 우리 생활에서 무엇을 준비해야 할까?”
예상 답
- “여름이요, 700 mm예요.” “7배예요.” “우산, 장화를 챙겨요. 하수구를 청소해요.”
막히면
- 막대 위의 숫자를 손가락으로 짚으며 차례로 읽게 합니다.
주의
- 그래프의 값은 수업을 위해 정한 예시이며 실제 어느 도시의 값이 아닙니다. 다만 ‘여름에 비가 많이 오고 겨울에 적다’는 모습은 우리나라 기후의 특징과 같습니다.
- 부모님 참고: 우리나라는 1년 동안 내리는 비의 많은 양이 여름에 내립니다. ‘mm’는 내린 비가 고인 깊이를 나타내는 단위입니다.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예시 기온 그래프 읽기]
목적: 예시 기온 그래프에서 가장 더운 달을 찾고, 여름과 겨울의 기온 차이를 계산하며, 기후와 생활(옷)을 연결합니다(목표 B).
시간: 약 3분
이렇게 말해 보세요
- “가장 긴 막대는 몇 월이야?”
- “7월과 1월의 기온 차이는 26 − 4로 구해 볼래?”
- “이렇게 기온 차이가 크면 옷은 어떻게 달라질까?”
정답
- ① 7월, 26 °C
- ② 22 °C (26 − 4 = 22)
- ③ 예: 7월에는 얇고 짧은 옷, 1월에는 두꺼운 외투와 장갑(기온과 이어 말하면 맞음)
막히면
- ②는 막대 위의 두 수를 먼저 써 놓고 큰 수에서 작은 수를 빼게 합니다.
주의
- 값은 남쪽 바닷가 도시를 생각해 정한 예시입니다. 우리나라의 북쪽이나 내륙 지역은 1월 평균 기온이 0 °C보다 낮은 곳이 많습니다.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남쪽과 북쪽의 기온 차이]
목적: 같은 계절에도 남쪽이 북쪽보다 따뜻한 편이라는 것을 예시 그래프와 봄꽃 피는 순서로 알려 줍니다(목표 B).
시간: 약 3분
이렇게 말해 보세요
- “4월에 남쪽 도시와 북쪽 도시 가운데 어디가 더 따뜻해? 몇 °C 차이야?”
- “그래서 개나리나 벚꽃 같은 봄꽃은 어디에서 먼저 필까?”
예상 답
- “남쪽 도시요. 5 °C 차이예요.” “남쪽에서 먼저 펴요.”
막히면
- 뉴스나 일기 예보에서 ‘봄꽃 소식이 남쪽에서부터 올라온다’는 말을 들은 적이 있는지 물어봅니다.
주의
- 두 도시와 기온은 수업을 위해 정한 예시입니다(14 − 9 = 5).
- 바다와 가까운지, 산이 높은지에 따라서도 기온이 달라지지만 오늘은 남북의 차이만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우리 지역의 땅과 날씨 조사(부모와 함께)]
목적: 우리 지역의 지형과 날씨를 실제 자료(지도 앱, 일기 예보)로 조사하는 방법을 안내합니다(목표 A·B). 수업에서는 시작만 하고 나머지는 수업 뒤에 해도 됩니다.
시간: 약 3분
이렇게 말해 보세요
- “우리 집에서 가장 가까운 큰 강은 어디일까? 지도에서 강을 따라가 보면 어느 바다에 닿을까?”
- “이번 주 우리 지역의 가장 높은 기온과 낮은 기온은 몇 도야? 지금 계절의 특징과 맞아?”
예상 답
- “한강이 서해로 가요.” “낮에는 20도인데 아침에는 10도예요.”
정답
- 기준: 우리 지역 가까운 산이나 강을 하나 이상 찾고, 강이 흘러가는 바다를 지도에서 따라가 말하며, 조사한 기온을 지금 계절의 특징과 이어 말하면 잘한 것입니다. 사는 곳에 따라 답이 다릅니다.
막히면
- 지도 앱의 ‘지형’ 또는 위성 사진 보기로 바꾸면 산과 강이 잘 보입니다. 강 이름은 지도에서 함께 읽어 줍니다.
주의
- 실제 기온은 날마다 바뀝니다. 하루의 날씨와 오랜 기간의 기후는 다르다는 것을 다시 짚어 줍니다.
- 강이 작은 하천이면 더 큰 강과 만나는 곳까지 따라가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보기(지형과 강의 흐름)]
목적: 처음 보는 지형(지어낸 섬)에서 높은 쪽과 강의 흐름을 까닭과 함께 추론하고, 우리나라 지형의 특징을 말하는지 확인합니다(목표 A).
시간: 약 4분
이렇게 말해 보세요
- “이번에는 혼자 해 볼래? 누리섬은 지어낸 섬이라 우리나라와 다를 수 있어. 그림을 잘 봐.”
정답
- ① 서쪽
- ② 동쪽 바다. 물은 높은 곳(서쪽 산지)에서 낮은 곳(동쪽)으로 흐르기 때문이에요.
- ③ 동쪽이 높고 서쪽이 낮아서, 큰 강은 대부분 서해나 남해로 흘러요.
막히면
- “물은 어디에서 어디로 흐르지?”만 묻습니다. 도움을 받아 풀었다면 기록표에 ‘도움’으로 표시합니다.
주의
- ②에서 우리나라처럼 ‘서쪽 바다’라고 외워서 답하면 그림을 다시 보게 합니다. 까닭(높은 곳 → 낮은 곳)을 말해야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 답과 까닭이 왼쪽과 같아? 누리섬과 우리나라는 무엇이 달랐어?”
예상 답
- “누리섬은 서쪽이 높고, 우리나라는 동쪽이 높아요.”
정답
- ① 서쪽 ② 동쪽 바다(높은 곳에서 낮은 곳으로) ③ 동쪽이 높고 서쪽이 낮아 큰 강은 대부분 서해·남해로
막히면
- S03, S15를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확인(예시 그래프로 기후 설명)]
목적: 처음 보는 예시 그래프에서 계절별 비의 양을 비교하고, 기후 특징을 생활과 이어 말하며, 남북의 기온 차이를 말하는지 확인합니다(목표 B).
시간: 약 3분
이렇게 말해 보세요
- “바람시도 지어낸 도시야. 그래프를 보고 혼자 답해 볼래? ④는 까닭도 말해 줘.”
정답
- ① 여름(600 mm)
- ② 12배 (600 ÷ 50 = 12)
- ③ 예: 우산·장화 준비, 집 둘레 배수구 청소, 장마·태풍 소식 확인(비가 많은 것과 이어지면 맞음)
- ④ 남쪽. 같은 계절에도 남쪽이 북쪽보다 따뜻한 편이기 때문이에요.
막히면
- ②는 “50을 몇 번 더하면 600이 될까?”로 바꾸어 묻습니다. 그래도 어려우면 기록표에 ‘도움’으로 적습니다.
주의
- 그래프의 값은 수업을 위해 정한 예시입니다. ③과 ④에서 까닭을 말하면 목표 B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“우리나라 땅과 날씨의 특징을 한 가지씩 말해 볼래?”
예상 답
- “동쪽이 높고 서쪽이 낮아요. 여름에 비가 많이 와요.”
정답
- ① 동쪽 ② 서해, 남해 ③ 여름
막히면
- S03, S06, S07을 다시 보여 줍니다.
주의
- 활동지 5의 조사(지도 앱, 일기 예보)는 다음 수업 전까지 함께 해 오면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보충(높은 곳과 낮은 곳)]
목적: 높은 곳과 낮은 곳, 물이 흐르는 방향을 실제로 해 보며 다시 익힙니다.
시간: 약 4분
이렇게 말해 보세요
- “쟁반 한쪽 밑에 책을 받쳐 기울이고 물을 조금 떨어뜨려 볼까? 물이 어느 쪽으로 가?”
- “책을 반대쪽으로 옮기면?”
예상 답
- “낮은 쪽으로 흘러요.” “반대로 흘러요.”
막히면
- 물 대신 구슬이나 동전을 굴려 봐도 됩니다.
주의
- 물을 쓸 때는 수건을 깔고 합니다.
- 계획상 이 차시의 선수 차시는 ‘우리나라의 위치와 영역’(KR22-G05-SOC-TERRITORY-L01)입니다. 세 바다와 방위가 흔들리면 그 차시의 S04를 다시 하고, 높낮이 읽기가 많이 흔들리면 4학년 ‘지도 읽기’(KR22-G04-SOC-MAP-L01)의 등고선 부분을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국토와생활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국토의 자연환경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국토의 자연환경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국토의 자연환경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국토의 자연환경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우리나라의 땅과 날씨에는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특징이 있을까요?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우리나라 지형의 특징을 그림으로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계절에 따른 기후의 특징을 그래프로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 둘레의 세 바다의 이름은?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방위표가 없을 때 지도의 오른쪽은 어느 방위인가요?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등고선의 숫자가 클수록 어떤 곳인가요?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동쪽이 높고 서쪽이 낮아요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국토의 많은 부분이 산지예요.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산지는 동쪽에 많고 서쪽은 낮아요.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큰 강은 대부분 서해나 남해로 흘러요.</a:t>
            </a:r>
            <a:endParaRPr lang="ko-KR" sz="2800" dirty="0"/>
          </a:p>
        </p:txBody>
      </p:sp>
      <p:sp>
        <p:nvSpPr>
          <p:cNvPr id="6" name="S03-figure12" descr="우리나라 땅을 서쪽에서 동쪽으로 자른 모습을 간단히 나타낸 그림: 서해 쪽은 낮은 평야, 동쪽으로 갈수록 높아져 동해 가까이에 높은 산지가 있고, 동해 쪽으로는 급하게 낮아짐. 강물은 산지에서 서쪽 낮은 곳으로 흐르는 화살표"/>
          <p:cNvSpPr/>
          <p:nvPr/>
        </p:nvSpPr>
        <p:spPr>
          <a:xfrm>
            <a:off x="2715085" y="3965429"/>
            <a:ext cx="6758781" cy="292881"/>
          </a:xfrm>
          <a:custGeom>
            <a:avLst/>
            <a:gdLst/>
            <a:ahLst/>
            <a:cxnLst/>
            <a:rect l="l" t="t" r="r" b="b"/>
            <a:pathLst>
              <a:path w="6758781" h="292881">
                <a:moveTo>
                  <a:pt x="0" y="292881"/>
                </a:moveTo>
                <a:lnTo>
                  <a:pt x="6758781" y="292881"/>
                </a:lnTo>
                <a:lnTo>
                  <a:pt x="6758781" y="0"/>
                </a:lnTo>
                <a:lnTo>
                  <a:pt x="0" y="0"/>
                </a:lnTo>
                <a:close/>
              </a:path>
            </a:pathLst>
          </a:custGeom>
          <a:solidFill>
            <a:srgbClr val="BBD9F2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7" name="S03-mark13"/>
          <p:cNvSpPr/>
          <p:nvPr/>
        </p:nvSpPr>
        <p:spPr>
          <a:xfrm>
            <a:off x="3436022" y="2735331"/>
            <a:ext cx="5136674" cy="1522979"/>
          </a:xfrm>
          <a:custGeom>
            <a:avLst/>
            <a:gdLst/>
            <a:ahLst/>
            <a:cxnLst/>
            <a:rect l="l" t="t" r="r" b="b"/>
            <a:pathLst>
              <a:path w="5136674" h="1522979">
                <a:moveTo>
                  <a:pt x="0" y="1522979"/>
                </a:moveTo>
                <a:lnTo>
                  <a:pt x="0" y="1186391"/>
                </a:lnTo>
                <a:lnTo>
                  <a:pt x="630820" y="1157103"/>
                </a:lnTo>
                <a:lnTo>
                  <a:pt x="1306698" y="1127365"/>
                </a:lnTo>
                <a:lnTo>
                  <a:pt x="1757283" y="995794"/>
                </a:lnTo>
                <a:lnTo>
                  <a:pt x="2207869" y="1054370"/>
                </a:lnTo>
                <a:lnTo>
                  <a:pt x="2658454" y="849354"/>
                </a:lnTo>
                <a:lnTo>
                  <a:pt x="3109039" y="907930"/>
                </a:lnTo>
                <a:lnTo>
                  <a:pt x="3559625" y="585761"/>
                </a:lnTo>
                <a:lnTo>
                  <a:pt x="4010210" y="292881"/>
                </a:lnTo>
                <a:lnTo>
                  <a:pt x="4325620" y="0"/>
                </a:lnTo>
                <a:lnTo>
                  <a:pt x="4550913" y="175728"/>
                </a:lnTo>
                <a:lnTo>
                  <a:pt x="4821264" y="644337"/>
                </a:lnTo>
                <a:lnTo>
                  <a:pt x="5091615" y="1186391"/>
                </a:lnTo>
                <a:lnTo>
                  <a:pt x="5136674" y="1522979"/>
                </a:lnTo>
                <a:close/>
              </a:path>
            </a:pathLst>
          </a:custGeom>
          <a:solidFill>
            <a:srgbClr val="D9C49A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8" name="S03-mark14"/>
          <p:cNvSpPr/>
          <p:nvPr/>
        </p:nvSpPr>
        <p:spPr>
          <a:xfrm>
            <a:off x="3255788" y="2185617"/>
            <a:ext cx="567737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3-mark15"/>
          <p:cNvSpPr/>
          <p:nvPr/>
        </p:nvSpPr>
        <p:spPr>
          <a:xfrm flipH="1">
            <a:off x="4697661" y="3447256"/>
            <a:ext cx="1892459" cy="225293"/>
          </a:xfrm>
          <a:prstGeom prst="line">
            <a:avLst/>
          </a:prstGeom>
          <a:noFill/>
          <a:ln w="38100">
            <a:solidFill>
              <a:srgbClr val="2F6FB5"/>
            </a:solidFill>
            <a:prstDash val="solid"/>
            <a:tailEnd type="triangle"/>
          </a:ln>
        </p:spPr>
      </p:sp>
      <p:sp>
        <p:nvSpPr>
          <p:cNvPr id="10" name="S03-label17"/>
          <p:cNvSpPr txBox="1"/>
          <p:nvPr/>
        </p:nvSpPr>
        <p:spPr>
          <a:xfrm>
            <a:off x="2726079" y="201099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2200" dirty="0"/>
          </a:p>
        </p:txBody>
      </p:sp>
      <p:sp>
        <p:nvSpPr>
          <p:cNvPr id="11" name="S03-label19"/>
          <p:cNvSpPr txBox="1"/>
          <p:nvPr/>
        </p:nvSpPr>
        <p:spPr>
          <a:xfrm>
            <a:off x="9079333" y="201099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</a:t>
            </a:r>
            <a:endParaRPr lang="ko-KR" sz="2200" dirty="0"/>
          </a:p>
        </p:txBody>
      </p:sp>
      <p:sp>
        <p:nvSpPr>
          <p:cNvPr id="12" name="S03-label21"/>
          <p:cNvSpPr txBox="1"/>
          <p:nvPr/>
        </p:nvSpPr>
        <p:spPr>
          <a:xfrm>
            <a:off x="2796662" y="3971248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서해</a:t>
            </a:r>
            <a:endParaRPr lang="ko-KR" sz="1800" dirty="0"/>
          </a:p>
        </p:txBody>
      </p:sp>
      <p:sp>
        <p:nvSpPr>
          <p:cNvPr id="13" name="S03-label23"/>
          <p:cNvSpPr txBox="1"/>
          <p:nvPr/>
        </p:nvSpPr>
        <p:spPr>
          <a:xfrm>
            <a:off x="8789448" y="3971248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동해</a:t>
            </a:r>
            <a:endParaRPr lang="ko-KR" sz="1800" dirty="0"/>
          </a:p>
        </p:txBody>
      </p:sp>
      <p:sp>
        <p:nvSpPr>
          <p:cNvPr id="14" name="S03-label25"/>
          <p:cNvSpPr txBox="1"/>
          <p:nvPr/>
        </p:nvSpPr>
        <p:spPr>
          <a:xfrm>
            <a:off x="3742891" y="3507145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평야</a:t>
            </a:r>
            <a:endParaRPr lang="ko-KR" sz="1800" dirty="0"/>
          </a:p>
        </p:txBody>
      </p:sp>
      <p:sp>
        <p:nvSpPr>
          <p:cNvPr id="15" name="S03-label27"/>
          <p:cNvSpPr txBox="1"/>
          <p:nvPr/>
        </p:nvSpPr>
        <p:spPr>
          <a:xfrm>
            <a:off x="7224432" y="2358152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산지</a:t>
            </a:r>
            <a:endParaRPr lang="ko-KR" sz="1800" dirty="0"/>
          </a:p>
        </p:txBody>
      </p:sp>
      <p:sp>
        <p:nvSpPr>
          <p:cNvPr id="16" name="S03-label29"/>
          <p:cNvSpPr txBox="1"/>
          <p:nvPr/>
        </p:nvSpPr>
        <p:spPr>
          <a:xfrm>
            <a:off x="4781407" y="3056559"/>
            <a:ext cx="18150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2F6F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강물이 흐르는 쪽</a:t>
            </a:r>
            <a:endParaRPr lang="ko-KR" sz="1800" dirty="0"/>
          </a:p>
        </p:txBody>
      </p:sp>
      <p:sp>
        <p:nvSpPr>
          <p:cNvPr id="17" name="S03-label30"/>
          <p:cNvSpPr txBox="1"/>
          <p:nvPr/>
        </p:nvSpPr>
        <p:spPr>
          <a:xfrm>
            <a:off x="548640" y="4415282"/>
            <a:ext cx="1109167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서쪽에서 동쪽으로 자른 모습(간단히 나타낸 그림)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자른 그림을 읽어요</a:t>
            </a:r>
            <a:endParaRPr lang="ko-KR" sz="4000" dirty="0"/>
          </a:p>
        </p:txBody>
      </p:sp>
      <p:sp>
        <p:nvSpPr>
          <p:cNvPr id="3" name="S04-figure31" descr="서쪽에서 동쪽으로 자른 간단한 그림: 서해 쪽 낮은 땅 가, 가운데 낮은 언덕 나, 동해 가까이의 높은 산지 다"/>
          <p:cNvSpPr/>
          <p:nvPr/>
        </p:nvSpPr>
        <p:spPr>
          <a:xfrm>
            <a:off x="6361176" y="4152849"/>
            <a:ext cx="5195316" cy="225130"/>
          </a:xfrm>
          <a:custGeom>
            <a:avLst/>
            <a:gdLst/>
            <a:ahLst/>
            <a:cxnLst/>
            <a:rect l="l" t="t" r="r" b="b"/>
            <a:pathLst>
              <a:path w="5195316" h="225130">
                <a:moveTo>
                  <a:pt x="0" y="225130"/>
                </a:moveTo>
                <a:lnTo>
                  <a:pt x="5195316" y="225130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BBD9F2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04-mark32"/>
          <p:cNvSpPr/>
          <p:nvPr/>
        </p:nvSpPr>
        <p:spPr>
          <a:xfrm>
            <a:off x="6915343" y="3207302"/>
            <a:ext cx="3948440" cy="1170678"/>
          </a:xfrm>
          <a:custGeom>
            <a:avLst/>
            <a:gdLst/>
            <a:ahLst/>
            <a:cxnLst/>
            <a:rect l="l" t="t" r="r" b="b"/>
            <a:pathLst>
              <a:path w="3948440" h="1170678">
                <a:moveTo>
                  <a:pt x="0" y="1170678"/>
                </a:moveTo>
                <a:lnTo>
                  <a:pt x="0" y="911951"/>
                </a:lnTo>
                <a:lnTo>
                  <a:pt x="484896" y="889438"/>
                </a:lnTo>
                <a:lnTo>
                  <a:pt x="1004428" y="866579"/>
                </a:lnTo>
                <a:lnTo>
                  <a:pt x="1350782" y="765443"/>
                </a:lnTo>
                <a:lnTo>
                  <a:pt x="1697137" y="810469"/>
                </a:lnTo>
                <a:lnTo>
                  <a:pt x="2043491" y="652878"/>
                </a:lnTo>
                <a:lnTo>
                  <a:pt x="2389845" y="697904"/>
                </a:lnTo>
                <a:lnTo>
                  <a:pt x="2736200" y="450261"/>
                </a:lnTo>
                <a:lnTo>
                  <a:pt x="3082554" y="225130"/>
                </a:lnTo>
                <a:lnTo>
                  <a:pt x="3325002" y="0"/>
                </a:lnTo>
                <a:lnTo>
                  <a:pt x="3498179" y="135078"/>
                </a:lnTo>
                <a:lnTo>
                  <a:pt x="3705992" y="495287"/>
                </a:lnTo>
                <a:lnTo>
                  <a:pt x="3913805" y="911951"/>
                </a:lnTo>
                <a:lnTo>
                  <a:pt x="3948440" y="1170678"/>
                </a:lnTo>
                <a:close/>
              </a:path>
            </a:pathLst>
          </a:custGeom>
          <a:solidFill>
            <a:srgbClr val="D9C49A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" name="S04-mark33"/>
          <p:cNvSpPr/>
          <p:nvPr/>
        </p:nvSpPr>
        <p:spPr>
          <a:xfrm>
            <a:off x="6776801" y="2784749"/>
            <a:ext cx="4364065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6" name="S04-label35"/>
          <p:cNvSpPr txBox="1"/>
          <p:nvPr/>
        </p:nvSpPr>
        <p:spPr>
          <a:xfrm>
            <a:off x="6325265" y="261012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2200" dirty="0"/>
          </a:p>
        </p:txBody>
      </p:sp>
      <p:sp>
        <p:nvSpPr>
          <p:cNvPr id="7" name="S04-label37"/>
          <p:cNvSpPr txBox="1"/>
          <p:nvPr/>
        </p:nvSpPr>
        <p:spPr>
          <a:xfrm>
            <a:off x="11208863" y="261012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</a:t>
            </a:r>
            <a:endParaRPr lang="ko-KR" sz="2200" dirty="0"/>
          </a:p>
        </p:txBody>
      </p:sp>
      <p:sp>
        <p:nvSpPr>
          <p:cNvPr id="8" name="S04-label39"/>
          <p:cNvSpPr txBox="1"/>
          <p:nvPr/>
        </p:nvSpPr>
        <p:spPr>
          <a:xfrm>
            <a:off x="6359368" y="4124271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서해</a:t>
            </a:r>
            <a:endParaRPr lang="ko-KR" sz="1800" dirty="0"/>
          </a:p>
        </p:txBody>
      </p:sp>
      <p:sp>
        <p:nvSpPr>
          <p:cNvPr id="9" name="S04-label41"/>
          <p:cNvSpPr txBox="1"/>
          <p:nvPr/>
        </p:nvSpPr>
        <p:spPr>
          <a:xfrm>
            <a:off x="10965881" y="4124271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동해</a:t>
            </a:r>
            <a:endParaRPr lang="ko-KR" sz="1800" dirty="0"/>
          </a:p>
        </p:txBody>
      </p:sp>
      <p:sp>
        <p:nvSpPr>
          <p:cNvPr id="10" name="S04-labelbg43"/>
          <p:cNvSpPr/>
          <p:nvPr/>
        </p:nvSpPr>
        <p:spPr>
          <a:xfrm>
            <a:off x="7219554" y="3770701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04-label44"/>
          <p:cNvSpPr txBox="1"/>
          <p:nvPr/>
        </p:nvSpPr>
        <p:spPr>
          <a:xfrm>
            <a:off x="7173834" y="373577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2" name="S04-labelbg46"/>
          <p:cNvSpPr/>
          <p:nvPr/>
        </p:nvSpPr>
        <p:spPr>
          <a:xfrm>
            <a:off x="8812784" y="3528253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04-label47"/>
          <p:cNvSpPr txBox="1"/>
          <p:nvPr/>
        </p:nvSpPr>
        <p:spPr>
          <a:xfrm>
            <a:off x="8767064" y="349332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4" name="S04-labelbg49"/>
          <p:cNvSpPr/>
          <p:nvPr/>
        </p:nvSpPr>
        <p:spPr>
          <a:xfrm>
            <a:off x="10094295" y="2887497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04-label50"/>
          <p:cNvSpPr txBox="1"/>
          <p:nvPr/>
        </p:nvSpPr>
        <p:spPr>
          <a:xfrm>
            <a:off x="10048575" y="285257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16" name="S04-label51"/>
          <p:cNvSpPr txBox="1"/>
          <p:nvPr/>
        </p:nvSpPr>
        <p:spPr>
          <a:xfrm>
            <a:off x="6277356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자른 모습(간단한 그림)</a:t>
            </a:r>
            <a:endParaRPr lang="ko-KR" sz="2200" dirty="0"/>
          </a:p>
        </p:txBody>
      </p:sp>
      <p:sp>
        <p:nvSpPr>
          <p:cNvPr id="17" name="S04-chip5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8" name="S04-text5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 가운데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높은 곳은?</a:t>
            </a:r>
            <a:endParaRPr lang="ko-KR" sz="2800" dirty="0"/>
          </a:p>
        </p:txBody>
      </p:sp>
      <p:sp>
        <p:nvSpPr>
          <p:cNvPr id="19" name="S04-chip5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0" name="S04-text55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강물은 주로 어느 쪽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바다로 흐를까요?</a:t>
            </a:r>
            <a:endParaRPr lang="ko-KR" sz="2800" dirty="0"/>
          </a:p>
        </p:txBody>
      </p:sp>
      <p:sp>
        <p:nvSpPr>
          <p:cNvPr id="21" name="S04-chip5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2" name="S04-text57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평야가 있을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 같은 곳은?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땅이 더 많을까요?</a:t>
            </a:r>
            <a:endParaRPr lang="ko-KR" sz="4000" dirty="0"/>
          </a:p>
        </p:txBody>
      </p:sp>
      <p:sp>
        <p:nvSpPr>
          <p:cNvPr id="3" name="S05-card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동네에는 아파트와 평평한 길이 많아요.</a:t>
            </a:r>
            <a:endParaRPr lang="ko-KR" sz="2800" dirty="0"/>
          </a:p>
        </p:txBody>
      </p:sp>
      <p:sp>
        <p:nvSpPr>
          <p:cNvPr id="5" name="S05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무엇을 보면 알 수 있을까요?</a:t>
            </a:r>
            <a:endParaRPr lang="ko-KR" sz="2800" dirty="0"/>
          </a:p>
        </p:txBody>
      </p:sp>
      <p:sp>
        <p:nvSpPr>
          <p:cNvPr id="7" name="S05-chip6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5-text6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“그러니까 우리나라는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산보다 평평한 땅이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많아요.”</a:t>
            </a:r>
            <a:endParaRPr lang="ko-KR" sz="2800" dirty="0"/>
          </a:p>
        </p:txBody>
      </p:sp>
      <p:sp>
        <p:nvSpPr>
          <p:cNvPr id="9" name="S05-chip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5-text6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“우리 동네만 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 수 없어요. 국토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보면 산지가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많아요.”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사계절이 뚜렷해요</a:t>
            </a:r>
            <a:endParaRPr lang="ko-KR" sz="4000" dirty="0"/>
          </a:p>
        </p:txBody>
      </p:sp>
      <p:sp>
        <p:nvSpPr>
          <p:cNvPr id="3" name="S06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계절마다 기온과 비의 양이 많이 달라요.</a:t>
            </a:r>
            <a:endParaRPr lang="ko-KR" sz="2800" dirty="0"/>
          </a:p>
        </p:txBody>
      </p:sp>
      <p:sp>
        <p:nvSpPr>
          <p:cNvPr id="5" name="S06-card68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69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따뜻해지고 건조한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날이 많아요.</a:t>
            </a:r>
            <a:endParaRPr lang="ko-KR" sz="2800" dirty="0"/>
          </a:p>
        </p:txBody>
      </p:sp>
      <p:sp>
        <p:nvSpPr>
          <p:cNvPr id="7" name="S06-card70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71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덥고 비가 많이 와요.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장마와 태풍이 있어요.</a:t>
            </a:r>
            <a:endParaRPr lang="ko-KR" sz="2800" dirty="0"/>
          </a:p>
        </p:txBody>
      </p:sp>
      <p:sp>
        <p:nvSpPr>
          <p:cNvPr id="9" name="S06-card72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73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맑고 선선한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날이 많아요.</a:t>
            </a:r>
            <a:endParaRPr lang="ko-KR" sz="2800" dirty="0"/>
          </a:p>
        </p:txBody>
      </p:sp>
      <p:sp>
        <p:nvSpPr>
          <p:cNvPr id="11" name="S06-card74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6-cardtext75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춥고 건조해요.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눈이 오기도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 비가 많이 와요</a:t>
            </a:r>
            <a:endParaRPr lang="ko-KR" sz="4000" dirty="0"/>
          </a:p>
        </p:txBody>
      </p:sp>
      <p:sp>
        <p:nvSpPr>
          <p:cNvPr id="3" name="S07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지어낸 도시 ‘가람시’의 예시 그래프예요.</a:t>
            </a:r>
            <a:endParaRPr lang="ko-KR" sz="2800" dirty="0"/>
          </a:p>
        </p:txBody>
      </p:sp>
      <p:sp>
        <p:nvSpPr>
          <p:cNvPr id="4" name="S07-figure77" descr="막대그래프(지어낸 예시): 가람시의 계절별 비의 양. 봄 200 mm, 여름 700 mm, 가을 300 mm, 겨울 100 mm"/>
          <p:cNvSpPr/>
          <p:nvPr/>
        </p:nvSpPr>
        <p:spPr>
          <a:xfrm>
            <a:off x="1999526" y="4998244"/>
            <a:ext cx="656273" cy="631031"/>
          </a:xfrm>
          <a:custGeom>
            <a:avLst/>
            <a:gdLst/>
            <a:ahLst/>
            <a:cxnLst/>
            <a:rect l="l" t="t" r="r" b="b"/>
            <a:pathLst>
              <a:path w="656273" h="631031">
                <a:moveTo>
                  <a:pt x="0" y="631031"/>
                </a:moveTo>
                <a:lnTo>
                  <a:pt x="656273" y="631031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7-mark78"/>
          <p:cNvSpPr/>
          <p:nvPr/>
        </p:nvSpPr>
        <p:spPr>
          <a:xfrm>
            <a:off x="3160624" y="3420666"/>
            <a:ext cx="656273" cy="2208609"/>
          </a:xfrm>
          <a:custGeom>
            <a:avLst/>
            <a:gdLst/>
            <a:ahLst/>
            <a:cxnLst/>
            <a:rect l="l" t="t" r="r" b="b"/>
            <a:pathLst>
              <a:path w="656273" h="2208609">
                <a:moveTo>
                  <a:pt x="0" y="2208609"/>
                </a:moveTo>
                <a:lnTo>
                  <a:pt x="656273" y="2208609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7-mark79"/>
          <p:cNvSpPr/>
          <p:nvPr/>
        </p:nvSpPr>
        <p:spPr>
          <a:xfrm>
            <a:off x="4321721" y="4682728"/>
            <a:ext cx="656273" cy="946547"/>
          </a:xfrm>
          <a:custGeom>
            <a:avLst/>
            <a:gdLst/>
            <a:ahLst/>
            <a:cxnLst/>
            <a:rect l="l" t="t" r="r" b="b"/>
            <a:pathLst>
              <a:path w="656273" h="946547">
                <a:moveTo>
                  <a:pt x="0" y="946547"/>
                </a:moveTo>
                <a:lnTo>
                  <a:pt x="656273" y="946547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7-mark80"/>
          <p:cNvSpPr/>
          <p:nvPr/>
        </p:nvSpPr>
        <p:spPr>
          <a:xfrm>
            <a:off x="5482819" y="5313759"/>
            <a:ext cx="656272" cy="315516"/>
          </a:xfrm>
          <a:custGeom>
            <a:avLst/>
            <a:gdLst/>
            <a:ahLst/>
            <a:cxnLst/>
            <a:rect l="l" t="t" r="r" b="b"/>
            <a:pathLst>
              <a:path w="656272" h="315516">
                <a:moveTo>
                  <a:pt x="0" y="315516"/>
                </a:moveTo>
                <a:lnTo>
                  <a:pt x="656272" y="315516"/>
                </a:lnTo>
                <a:lnTo>
                  <a:pt x="656272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7-mark81"/>
          <p:cNvSpPr/>
          <p:nvPr/>
        </p:nvSpPr>
        <p:spPr>
          <a:xfrm>
            <a:off x="1494701" y="5313759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9" name="S07-mark82"/>
          <p:cNvSpPr/>
          <p:nvPr/>
        </p:nvSpPr>
        <p:spPr>
          <a:xfrm>
            <a:off x="1494701" y="4998244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0" name="S07-mark83"/>
          <p:cNvSpPr/>
          <p:nvPr/>
        </p:nvSpPr>
        <p:spPr>
          <a:xfrm>
            <a:off x="1494701" y="4682728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1" name="S07-mark84"/>
          <p:cNvSpPr/>
          <p:nvPr/>
        </p:nvSpPr>
        <p:spPr>
          <a:xfrm>
            <a:off x="1494701" y="4367213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2" name="S07-mark85"/>
          <p:cNvSpPr/>
          <p:nvPr/>
        </p:nvSpPr>
        <p:spPr>
          <a:xfrm>
            <a:off x="1494701" y="4051697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3" name="S07-mark86"/>
          <p:cNvSpPr/>
          <p:nvPr/>
        </p:nvSpPr>
        <p:spPr>
          <a:xfrm>
            <a:off x="1494701" y="3736181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4" name="S07-mark87"/>
          <p:cNvSpPr/>
          <p:nvPr/>
        </p:nvSpPr>
        <p:spPr>
          <a:xfrm>
            <a:off x="1494701" y="3420666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S07-mark88"/>
          <p:cNvSpPr/>
          <p:nvPr/>
        </p:nvSpPr>
        <p:spPr>
          <a:xfrm>
            <a:off x="1494701" y="3105150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6" name="S07-mark89"/>
          <p:cNvSpPr/>
          <p:nvPr/>
        </p:nvSpPr>
        <p:spPr>
          <a:xfrm flipV="1">
            <a:off x="1494701" y="2903220"/>
            <a:ext cx="0" cy="272605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7-mark90"/>
          <p:cNvSpPr/>
          <p:nvPr/>
        </p:nvSpPr>
        <p:spPr>
          <a:xfrm>
            <a:off x="1494701" y="5629275"/>
            <a:ext cx="5149215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92"/>
          <p:cNvSpPr txBox="1"/>
          <p:nvPr/>
        </p:nvSpPr>
        <p:spPr>
          <a:xfrm>
            <a:off x="985780" y="5486400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19" name="S07-label94"/>
          <p:cNvSpPr txBox="1"/>
          <p:nvPr/>
        </p:nvSpPr>
        <p:spPr>
          <a:xfrm>
            <a:off x="834904" y="4855369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1800" dirty="0"/>
          </a:p>
        </p:txBody>
      </p:sp>
      <p:sp>
        <p:nvSpPr>
          <p:cNvPr id="20" name="S07-label96"/>
          <p:cNvSpPr txBox="1"/>
          <p:nvPr/>
        </p:nvSpPr>
        <p:spPr>
          <a:xfrm>
            <a:off x="834904" y="4224338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</a:t>
            </a:r>
            <a:endParaRPr lang="ko-KR" sz="1800" dirty="0"/>
          </a:p>
        </p:txBody>
      </p:sp>
      <p:sp>
        <p:nvSpPr>
          <p:cNvPr id="21" name="S07-label98"/>
          <p:cNvSpPr txBox="1"/>
          <p:nvPr/>
        </p:nvSpPr>
        <p:spPr>
          <a:xfrm>
            <a:off x="834904" y="3593306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</a:t>
            </a:r>
            <a:endParaRPr lang="ko-KR" sz="1800" dirty="0"/>
          </a:p>
        </p:txBody>
      </p:sp>
      <p:sp>
        <p:nvSpPr>
          <p:cNvPr id="22" name="S07-label100"/>
          <p:cNvSpPr txBox="1"/>
          <p:nvPr/>
        </p:nvSpPr>
        <p:spPr>
          <a:xfrm>
            <a:off x="834904" y="2962275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</a:t>
            </a:r>
            <a:endParaRPr lang="ko-KR" sz="1800" dirty="0"/>
          </a:p>
        </p:txBody>
      </p:sp>
      <p:sp>
        <p:nvSpPr>
          <p:cNvPr id="23" name="S07-label102"/>
          <p:cNvSpPr txBox="1"/>
          <p:nvPr/>
        </p:nvSpPr>
        <p:spPr>
          <a:xfrm>
            <a:off x="1014260" y="2507933"/>
            <a:ext cx="7589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(mm)</a:t>
            </a:r>
            <a:endParaRPr lang="ko-KR" sz="1800" dirty="0"/>
          </a:p>
        </p:txBody>
      </p:sp>
      <p:sp>
        <p:nvSpPr>
          <p:cNvPr id="24" name="S07-label104"/>
          <p:cNvSpPr txBox="1"/>
          <p:nvPr/>
        </p:nvSpPr>
        <p:spPr>
          <a:xfrm>
            <a:off x="2046484" y="4653439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1800" dirty="0"/>
          </a:p>
        </p:txBody>
      </p:sp>
      <p:sp>
        <p:nvSpPr>
          <p:cNvPr id="25" name="S07-label106"/>
          <p:cNvSpPr txBox="1"/>
          <p:nvPr/>
        </p:nvSpPr>
        <p:spPr>
          <a:xfrm>
            <a:off x="2160784" y="5764054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1800" dirty="0"/>
          </a:p>
        </p:txBody>
      </p:sp>
      <p:sp>
        <p:nvSpPr>
          <p:cNvPr id="26" name="S07-label108"/>
          <p:cNvSpPr txBox="1"/>
          <p:nvPr/>
        </p:nvSpPr>
        <p:spPr>
          <a:xfrm>
            <a:off x="3207582" y="3075861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</a:t>
            </a:r>
            <a:endParaRPr lang="ko-KR" sz="1800" dirty="0"/>
          </a:p>
        </p:txBody>
      </p:sp>
      <p:sp>
        <p:nvSpPr>
          <p:cNvPr id="27" name="S07-label110"/>
          <p:cNvSpPr txBox="1"/>
          <p:nvPr/>
        </p:nvSpPr>
        <p:spPr>
          <a:xfrm>
            <a:off x="3209868" y="576405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1800" dirty="0"/>
          </a:p>
        </p:txBody>
      </p:sp>
      <p:sp>
        <p:nvSpPr>
          <p:cNvPr id="28" name="S07-label112"/>
          <p:cNvSpPr txBox="1"/>
          <p:nvPr/>
        </p:nvSpPr>
        <p:spPr>
          <a:xfrm>
            <a:off x="4368679" y="4337923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</a:t>
            </a:r>
            <a:endParaRPr lang="ko-KR" sz="1800" dirty="0"/>
          </a:p>
        </p:txBody>
      </p:sp>
      <p:sp>
        <p:nvSpPr>
          <p:cNvPr id="29" name="S07-label114"/>
          <p:cNvSpPr txBox="1"/>
          <p:nvPr/>
        </p:nvSpPr>
        <p:spPr>
          <a:xfrm>
            <a:off x="4370965" y="576405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1800" dirty="0"/>
          </a:p>
        </p:txBody>
      </p:sp>
      <p:sp>
        <p:nvSpPr>
          <p:cNvPr id="30" name="S07-label116"/>
          <p:cNvSpPr txBox="1"/>
          <p:nvPr/>
        </p:nvSpPr>
        <p:spPr>
          <a:xfrm>
            <a:off x="5529777" y="4968954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800" dirty="0"/>
          </a:p>
        </p:txBody>
      </p:sp>
      <p:sp>
        <p:nvSpPr>
          <p:cNvPr id="31" name="S07-label118"/>
          <p:cNvSpPr txBox="1"/>
          <p:nvPr/>
        </p:nvSpPr>
        <p:spPr>
          <a:xfrm>
            <a:off x="5532063" y="576405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1800" dirty="0"/>
          </a:p>
        </p:txBody>
      </p:sp>
      <p:sp>
        <p:nvSpPr>
          <p:cNvPr id="32" name="S07-label120"/>
          <p:cNvSpPr txBox="1"/>
          <p:nvPr/>
        </p:nvSpPr>
        <p:spPr>
          <a:xfrm>
            <a:off x="2430247" y="2154555"/>
            <a:ext cx="32781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가람시의 계절별 비의 양(예시)</a:t>
            </a:r>
            <a:endParaRPr lang="ko-KR" sz="1800" dirty="0"/>
          </a:p>
        </p:txBody>
      </p:sp>
      <p:sp>
        <p:nvSpPr>
          <p:cNvPr id="33" name="S07-card121"/>
          <p:cNvSpPr/>
          <p:nvPr/>
        </p:nvSpPr>
        <p:spPr>
          <a:xfrm>
            <a:off x="7349947" y="2090928"/>
            <a:ext cx="4290365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4" name="S07-cardtext122"/>
          <p:cNvSpPr txBox="1"/>
          <p:nvPr/>
        </p:nvSpPr>
        <p:spPr>
          <a:xfrm>
            <a:off x="7624267" y="2228088"/>
            <a:ext cx="374172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 비가 가장 많이 와요.</a:t>
            </a:r>
            <a:endParaRPr lang="ko-KR" sz="2800" dirty="0"/>
          </a:p>
        </p:txBody>
      </p:sp>
      <p:sp>
        <p:nvSpPr>
          <p:cNvPr id="35" name="S07-card123"/>
          <p:cNvSpPr/>
          <p:nvPr/>
        </p:nvSpPr>
        <p:spPr>
          <a:xfrm>
            <a:off x="7349947" y="3516376"/>
            <a:ext cx="4290365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6" name="S07-cardtext124"/>
          <p:cNvSpPr txBox="1"/>
          <p:nvPr/>
        </p:nvSpPr>
        <p:spPr>
          <a:xfrm>
            <a:off x="7624267" y="3653536"/>
            <a:ext cx="374172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겨울에는 비(눈)가 가장 적어요.</a:t>
            </a:r>
            <a:endParaRPr lang="ko-KR" sz="2800" dirty="0"/>
          </a:p>
        </p:txBody>
      </p:sp>
      <p:sp>
        <p:nvSpPr>
          <p:cNvPr id="37" name="S07-card125"/>
          <p:cNvSpPr/>
          <p:nvPr/>
        </p:nvSpPr>
        <p:spPr>
          <a:xfrm>
            <a:off x="7349947" y="4941824"/>
            <a:ext cx="4290365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8" name="S07-cardtext126"/>
          <p:cNvSpPr txBox="1"/>
          <p:nvPr/>
        </p:nvSpPr>
        <p:spPr>
          <a:xfrm>
            <a:off x="7624267" y="5078984"/>
            <a:ext cx="374172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여름에는 비 피해에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대비해요.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 그래프를 읽어요</a:t>
            </a:r>
            <a:endParaRPr lang="ko-KR" sz="4000" dirty="0"/>
          </a:p>
        </p:txBody>
      </p:sp>
      <p:sp>
        <p:nvSpPr>
          <p:cNvPr id="3" name="S08-figure127" descr="막대그래프(지어낸 예시): 가람시의 평균 기온. 1월 4 °C, 4월 14 °C, 7월 26 °C, 10월 18 °C"/>
          <p:cNvSpPr/>
          <p:nvPr/>
        </p:nvSpPr>
        <p:spPr>
          <a:xfrm>
            <a:off x="7443534" y="4781956"/>
            <a:ext cx="562826" cy="288773"/>
          </a:xfrm>
          <a:custGeom>
            <a:avLst/>
            <a:gdLst/>
            <a:ahLst/>
            <a:cxnLst/>
            <a:rect l="l" t="t" r="r" b="b"/>
            <a:pathLst>
              <a:path w="562826" h="288773">
                <a:moveTo>
                  <a:pt x="0" y="288773"/>
                </a:moveTo>
                <a:lnTo>
                  <a:pt x="562826" y="288773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" name="S08-mark128"/>
          <p:cNvSpPr/>
          <p:nvPr/>
        </p:nvSpPr>
        <p:spPr>
          <a:xfrm>
            <a:off x="8439302" y="4060673"/>
            <a:ext cx="562826" cy="1010056"/>
          </a:xfrm>
          <a:custGeom>
            <a:avLst/>
            <a:gdLst/>
            <a:ahLst/>
            <a:cxnLst/>
            <a:rect l="l" t="t" r="r" b="b"/>
            <a:pathLst>
              <a:path w="562826" h="1010056">
                <a:moveTo>
                  <a:pt x="0" y="1010056"/>
                </a:moveTo>
                <a:lnTo>
                  <a:pt x="562826" y="1010056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8-mark129"/>
          <p:cNvSpPr/>
          <p:nvPr/>
        </p:nvSpPr>
        <p:spPr>
          <a:xfrm>
            <a:off x="9435071" y="3194787"/>
            <a:ext cx="562826" cy="1875942"/>
          </a:xfrm>
          <a:custGeom>
            <a:avLst/>
            <a:gdLst/>
            <a:ahLst/>
            <a:cxnLst/>
            <a:rect l="l" t="t" r="r" b="b"/>
            <a:pathLst>
              <a:path w="562826" h="1875942">
                <a:moveTo>
                  <a:pt x="0" y="1875942"/>
                </a:moveTo>
                <a:lnTo>
                  <a:pt x="562826" y="1875942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8-mark130"/>
          <p:cNvSpPr/>
          <p:nvPr/>
        </p:nvSpPr>
        <p:spPr>
          <a:xfrm>
            <a:off x="10430840" y="3771900"/>
            <a:ext cx="562826" cy="1298829"/>
          </a:xfrm>
          <a:custGeom>
            <a:avLst/>
            <a:gdLst/>
            <a:ahLst/>
            <a:cxnLst/>
            <a:rect l="l" t="t" r="r" b="b"/>
            <a:pathLst>
              <a:path w="562826" h="1298829">
                <a:moveTo>
                  <a:pt x="0" y="1298829"/>
                </a:moveTo>
                <a:lnTo>
                  <a:pt x="562826" y="1298829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8-mark131"/>
          <p:cNvSpPr/>
          <p:nvPr/>
        </p:nvSpPr>
        <p:spPr>
          <a:xfrm>
            <a:off x="7010591" y="4709943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8" name="S08-mark132"/>
          <p:cNvSpPr/>
          <p:nvPr/>
        </p:nvSpPr>
        <p:spPr>
          <a:xfrm>
            <a:off x="7010591" y="4349157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9" name="S08-mark133"/>
          <p:cNvSpPr/>
          <p:nvPr/>
        </p:nvSpPr>
        <p:spPr>
          <a:xfrm>
            <a:off x="7010591" y="3988371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0" name="S08-mark134"/>
          <p:cNvSpPr/>
          <p:nvPr/>
        </p:nvSpPr>
        <p:spPr>
          <a:xfrm>
            <a:off x="7010591" y="3627586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1" name="S08-mark135"/>
          <p:cNvSpPr/>
          <p:nvPr/>
        </p:nvSpPr>
        <p:spPr>
          <a:xfrm>
            <a:off x="7010591" y="3266800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2" name="S08-mark136"/>
          <p:cNvSpPr/>
          <p:nvPr/>
        </p:nvSpPr>
        <p:spPr>
          <a:xfrm>
            <a:off x="7010591" y="2906014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3" name="S08-mark137"/>
          <p:cNvSpPr/>
          <p:nvPr/>
        </p:nvSpPr>
        <p:spPr>
          <a:xfrm flipV="1">
            <a:off x="7010591" y="2732837"/>
            <a:ext cx="0" cy="23378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8-mark138"/>
          <p:cNvSpPr/>
          <p:nvPr/>
        </p:nvSpPr>
        <p:spPr>
          <a:xfrm>
            <a:off x="7010591" y="5070729"/>
            <a:ext cx="4416019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8-label140"/>
          <p:cNvSpPr txBox="1"/>
          <p:nvPr/>
        </p:nvSpPr>
        <p:spPr>
          <a:xfrm>
            <a:off x="6555581" y="4927854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16" name="S08-label142"/>
          <p:cNvSpPr txBox="1"/>
          <p:nvPr/>
        </p:nvSpPr>
        <p:spPr>
          <a:xfrm>
            <a:off x="6555581" y="4567212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17" name="S08-label144"/>
          <p:cNvSpPr txBox="1"/>
          <p:nvPr/>
        </p:nvSpPr>
        <p:spPr>
          <a:xfrm>
            <a:off x="6480143" y="4206138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18" name="S08-label146"/>
          <p:cNvSpPr txBox="1"/>
          <p:nvPr/>
        </p:nvSpPr>
        <p:spPr>
          <a:xfrm>
            <a:off x="6480143" y="3845496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1800" dirty="0"/>
          </a:p>
        </p:txBody>
      </p:sp>
      <p:sp>
        <p:nvSpPr>
          <p:cNvPr id="19" name="S08-label148"/>
          <p:cNvSpPr txBox="1"/>
          <p:nvPr/>
        </p:nvSpPr>
        <p:spPr>
          <a:xfrm>
            <a:off x="6480143" y="3484855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800" dirty="0"/>
          </a:p>
        </p:txBody>
      </p:sp>
      <p:sp>
        <p:nvSpPr>
          <p:cNvPr id="20" name="S08-label150"/>
          <p:cNvSpPr txBox="1"/>
          <p:nvPr/>
        </p:nvSpPr>
        <p:spPr>
          <a:xfrm>
            <a:off x="6480143" y="3123781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1800" dirty="0"/>
          </a:p>
        </p:txBody>
      </p:sp>
      <p:sp>
        <p:nvSpPr>
          <p:cNvPr id="21" name="S08-label152"/>
          <p:cNvSpPr txBox="1"/>
          <p:nvPr/>
        </p:nvSpPr>
        <p:spPr>
          <a:xfrm>
            <a:off x="6480143" y="2763139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800" dirty="0"/>
          </a:p>
        </p:txBody>
      </p:sp>
      <p:sp>
        <p:nvSpPr>
          <p:cNvPr id="22" name="S08-label154"/>
          <p:cNvSpPr txBox="1"/>
          <p:nvPr/>
        </p:nvSpPr>
        <p:spPr>
          <a:xfrm>
            <a:off x="6608534" y="2373490"/>
            <a:ext cx="6309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(°C)</a:t>
            </a:r>
            <a:endParaRPr lang="ko-KR" sz="1800" dirty="0"/>
          </a:p>
        </p:txBody>
      </p:sp>
      <p:sp>
        <p:nvSpPr>
          <p:cNvPr id="23" name="S08-label156"/>
          <p:cNvSpPr txBox="1"/>
          <p:nvPr/>
        </p:nvSpPr>
        <p:spPr>
          <a:xfrm>
            <a:off x="7594644" y="4465904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24" name="S08-label158"/>
          <p:cNvSpPr txBox="1"/>
          <p:nvPr/>
        </p:nvSpPr>
        <p:spPr>
          <a:xfrm>
            <a:off x="7482630" y="5165973"/>
            <a:ext cx="4846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1월</a:t>
            </a:r>
            <a:endParaRPr lang="ko-KR" sz="1800" dirty="0"/>
          </a:p>
        </p:txBody>
      </p:sp>
      <p:sp>
        <p:nvSpPr>
          <p:cNvPr id="25" name="S08-label160"/>
          <p:cNvSpPr txBox="1"/>
          <p:nvPr/>
        </p:nvSpPr>
        <p:spPr>
          <a:xfrm>
            <a:off x="8514975" y="3744621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1800" dirty="0"/>
          </a:p>
        </p:txBody>
      </p:sp>
      <p:sp>
        <p:nvSpPr>
          <p:cNvPr id="26" name="S08-label162"/>
          <p:cNvSpPr txBox="1"/>
          <p:nvPr/>
        </p:nvSpPr>
        <p:spPr>
          <a:xfrm>
            <a:off x="8478399" y="5165973"/>
            <a:ext cx="4846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</a:t>
            </a:r>
            <a:endParaRPr lang="ko-KR" sz="1800" dirty="0"/>
          </a:p>
        </p:txBody>
      </p:sp>
      <p:sp>
        <p:nvSpPr>
          <p:cNvPr id="27" name="S08-label164"/>
          <p:cNvSpPr txBox="1"/>
          <p:nvPr/>
        </p:nvSpPr>
        <p:spPr>
          <a:xfrm>
            <a:off x="9510744" y="2878735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ko-KR" sz="1800" dirty="0"/>
          </a:p>
        </p:txBody>
      </p:sp>
      <p:sp>
        <p:nvSpPr>
          <p:cNvPr id="28" name="S08-label166"/>
          <p:cNvSpPr txBox="1"/>
          <p:nvPr/>
        </p:nvSpPr>
        <p:spPr>
          <a:xfrm>
            <a:off x="9474168" y="5165973"/>
            <a:ext cx="4846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</a:t>
            </a:r>
            <a:endParaRPr lang="ko-KR" sz="1800" dirty="0"/>
          </a:p>
        </p:txBody>
      </p:sp>
      <p:sp>
        <p:nvSpPr>
          <p:cNvPr id="29" name="S08-label168"/>
          <p:cNvSpPr txBox="1"/>
          <p:nvPr/>
        </p:nvSpPr>
        <p:spPr>
          <a:xfrm>
            <a:off x="10506513" y="3455848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1800" dirty="0"/>
          </a:p>
        </p:txBody>
      </p:sp>
      <p:sp>
        <p:nvSpPr>
          <p:cNvPr id="30" name="S08-label170"/>
          <p:cNvSpPr txBox="1"/>
          <p:nvPr/>
        </p:nvSpPr>
        <p:spPr>
          <a:xfrm>
            <a:off x="10394499" y="5165973"/>
            <a:ext cx="6355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</a:t>
            </a:r>
            <a:endParaRPr lang="ko-KR" sz="1800" dirty="0"/>
          </a:p>
        </p:txBody>
      </p:sp>
      <p:sp>
        <p:nvSpPr>
          <p:cNvPr id="31" name="S08-label172"/>
          <p:cNvSpPr txBox="1"/>
          <p:nvPr/>
        </p:nvSpPr>
        <p:spPr>
          <a:xfrm>
            <a:off x="7579538" y="2070430"/>
            <a:ext cx="32781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가람시의 달별 평균 기온(예시)</a:t>
            </a:r>
            <a:endParaRPr lang="ko-KR" sz="1800" dirty="0"/>
          </a:p>
        </p:txBody>
      </p:sp>
      <p:sp>
        <p:nvSpPr>
          <p:cNvPr id="32" name="S08-chip17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3" name="S08-text17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더운 달과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기온은?</a:t>
            </a:r>
            <a:endParaRPr lang="ko-KR" sz="2800" dirty="0"/>
          </a:p>
        </p:txBody>
      </p:sp>
      <p:sp>
        <p:nvSpPr>
          <p:cNvPr id="34" name="S08-chip17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5" name="S08-text176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7월은 1월보다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°C 높나요?</a:t>
            </a:r>
            <a:endParaRPr lang="ko-KR" sz="2800" dirty="0"/>
          </a:p>
        </p:txBody>
      </p:sp>
      <p:sp>
        <p:nvSpPr>
          <p:cNvPr id="36" name="S08-chip17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7" name="S08-text178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7월과 1월에는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옷을 입을까요?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남쪽이 더 따뜻해요</a:t>
            </a:r>
            <a:endParaRPr lang="ko-KR" sz="4000" dirty="0"/>
          </a:p>
        </p:txBody>
      </p:sp>
      <p:sp>
        <p:nvSpPr>
          <p:cNvPr id="3" name="S09-figure179" descr="막대그래프(지어낸 예시): 4월 평균 기온. 남쪽 도시 14 °C, 북쪽 도시 9 °C"/>
          <p:cNvSpPr/>
          <p:nvPr/>
        </p:nvSpPr>
        <p:spPr>
          <a:xfrm>
            <a:off x="2521458" y="3476625"/>
            <a:ext cx="767715" cy="2066925"/>
          </a:xfrm>
          <a:custGeom>
            <a:avLst/>
            <a:gdLst/>
            <a:ahLst/>
            <a:cxnLst/>
            <a:rect l="l" t="t" r="r" b="b"/>
            <a:pathLst>
              <a:path w="767715" h="2066925">
                <a:moveTo>
                  <a:pt x="0" y="2066925"/>
                </a:moveTo>
                <a:lnTo>
                  <a:pt x="767715" y="2066925"/>
                </a:lnTo>
                <a:lnTo>
                  <a:pt x="7677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" name="S09-mark180"/>
          <p:cNvSpPr/>
          <p:nvPr/>
        </p:nvSpPr>
        <p:spPr>
          <a:xfrm>
            <a:off x="3879723" y="4214813"/>
            <a:ext cx="767715" cy="1328738"/>
          </a:xfrm>
          <a:custGeom>
            <a:avLst/>
            <a:gdLst/>
            <a:ahLst/>
            <a:cxnLst/>
            <a:rect l="l" t="t" r="r" b="b"/>
            <a:pathLst>
              <a:path w="767715" h="1328738">
                <a:moveTo>
                  <a:pt x="0" y="1328738"/>
                </a:moveTo>
                <a:lnTo>
                  <a:pt x="767715" y="1328738"/>
                </a:lnTo>
                <a:lnTo>
                  <a:pt x="7677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9-mark181"/>
          <p:cNvSpPr/>
          <p:nvPr/>
        </p:nvSpPr>
        <p:spPr>
          <a:xfrm>
            <a:off x="1930908" y="4805363"/>
            <a:ext cx="33070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6" name="S09-mark182"/>
          <p:cNvSpPr/>
          <p:nvPr/>
        </p:nvSpPr>
        <p:spPr>
          <a:xfrm>
            <a:off x="1930908" y="4067175"/>
            <a:ext cx="33070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7" name="S09-mark183"/>
          <p:cNvSpPr/>
          <p:nvPr/>
        </p:nvSpPr>
        <p:spPr>
          <a:xfrm>
            <a:off x="1930908" y="3328988"/>
            <a:ext cx="33070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8" name="S09-mark184"/>
          <p:cNvSpPr/>
          <p:nvPr/>
        </p:nvSpPr>
        <p:spPr>
          <a:xfrm>
            <a:off x="1930908" y="2590800"/>
            <a:ext cx="33070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9" name="S09-mark185"/>
          <p:cNvSpPr/>
          <p:nvPr/>
        </p:nvSpPr>
        <p:spPr>
          <a:xfrm flipV="1">
            <a:off x="1930908" y="2354580"/>
            <a:ext cx="0" cy="318897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9-mark186"/>
          <p:cNvSpPr/>
          <p:nvPr/>
        </p:nvSpPr>
        <p:spPr>
          <a:xfrm>
            <a:off x="1930908" y="5543550"/>
            <a:ext cx="33070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9-label188"/>
          <p:cNvSpPr txBox="1"/>
          <p:nvPr/>
        </p:nvSpPr>
        <p:spPr>
          <a:xfrm>
            <a:off x="1357694" y="5400675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12" name="S09-label190"/>
          <p:cNvSpPr txBox="1"/>
          <p:nvPr/>
        </p:nvSpPr>
        <p:spPr>
          <a:xfrm>
            <a:off x="1357694" y="4662488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13" name="S09-label192"/>
          <p:cNvSpPr txBox="1"/>
          <p:nvPr/>
        </p:nvSpPr>
        <p:spPr>
          <a:xfrm>
            <a:off x="1282256" y="3924300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14" name="S09-label194"/>
          <p:cNvSpPr txBox="1"/>
          <p:nvPr/>
        </p:nvSpPr>
        <p:spPr>
          <a:xfrm>
            <a:off x="1282256" y="3186113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1800" dirty="0"/>
          </a:p>
        </p:txBody>
      </p:sp>
      <p:sp>
        <p:nvSpPr>
          <p:cNvPr id="15" name="S09-label196"/>
          <p:cNvSpPr txBox="1"/>
          <p:nvPr/>
        </p:nvSpPr>
        <p:spPr>
          <a:xfrm>
            <a:off x="1282256" y="2447925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800" dirty="0"/>
          </a:p>
        </p:txBody>
      </p:sp>
      <p:sp>
        <p:nvSpPr>
          <p:cNvPr id="16" name="S09-label198"/>
          <p:cNvSpPr txBox="1"/>
          <p:nvPr/>
        </p:nvSpPr>
        <p:spPr>
          <a:xfrm>
            <a:off x="1497330" y="1916430"/>
            <a:ext cx="6309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(°C)</a:t>
            </a:r>
            <a:endParaRPr lang="ko-KR" sz="1800" dirty="0"/>
          </a:p>
        </p:txBody>
      </p:sp>
      <p:sp>
        <p:nvSpPr>
          <p:cNvPr id="17" name="S09-label200"/>
          <p:cNvSpPr txBox="1"/>
          <p:nvPr/>
        </p:nvSpPr>
        <p:spPr>
          <a:xfrm>
            <a:off x="2699576" y="3097530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1800" dirty="0"/>
          </a:p>
        </p:txBody>
      </p:sp>
      <p:sp>
        <p:nvSpPr>
          <p:cNvPr id="18" name="S09-label202"/>
          <p:cNvSpPr txBox="1"/>
          <p:nvPr/>
        </p:nvSpPr>
        <p:spPr>
          <a:xfrm>
            <a:off x="2368106" y="5725478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 도시</a:t>
            </a:r>
            <a:endParaRPr lang="ko-KR" sz="1800" dirty="0"/>
          </a:p>
        </p:txBody>
      </p:sp>
      <p:sp>
        <p:nvSpPr>
          <p:cNvPr id="19" name="S09-label204"/>
          <p:cNvSpPr txBox="1"/>
          <p:nvPr/>
        </p:nvSpPr>
        <p:spPr>
          <a:xfrm>
            <a:off x="4133279" y="3835718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800" dirty="0"/>
          </a:p>
        </p:txBody>
      </p:sp>
      <p:sp>
        <p:nvSpPr>
          <p:cNvPr id="20" name="S09-label206"/>
          <p:cNvSpPr txBox="1"/>
          <p:nvPr/>
        </p:nvSpPr>
        <p:spPr>
          <a:xfrm>
            <a:off x="3726371" y="5725478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 도시</a:t>
            </a:r>
            <a:endParaRPr lang="ko-KR" sz="1800" dirty="0"/>
          </a:p>
        </p:txBody>
      </p:sp>
      <p:sp>
        <p:nvSpPr>
          <p:cNvPr id="21" name="S09-label208"/>
          <p:cNvSpPr txBox="1"/>
          <p:nvPr/>
        </p:nvSpPr>
        <p:spPr>
          <a:xfrm>
            <a:off x="2464308" y="1503045"/>
            <a:ext cx="22402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 평균 기온(예시)</a:t>
            </a:r>
            <a:endParaRPr lang="ko-KR" sz="1800" dirty="0"/>
          </a:p>
        </p:txBody>
      </p:sp>
      <p:sp>
        <p:nvSpPr>
          <p:cNvPr id="22" name="S09-card209"/>
          <p:cNvSpPr/>
          <p:nvPr/>
        </p:nvSpPr>
        <p:spPr>
          <a:xfrm>
            <a:off x="6277356" y="2136648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09-cardtext210"/>
          <p:cNvSpPr txBox="1"/>
          <p:nvPr/>
        </p:nvSpPr>
        <p:spPr>
          <a:xfrm>
            <a:off x="6551676" y="2273808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계절에도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남쪽이 북쪽보다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편이에요.</a:t>
            </a:r>
            <a:endParaRPr lang="ko-KR" sz="2800" dirty="0"/>
          </a:p>
        </p:txBody>
      </p:sp>
      <p:sp>
        <p:nvSpPr>
          <p:cNvPr id="24" name="S09-card211"/>
          <p:cNvSpPr/>
          <p:nvPr/>
        </p:nvSpPr>
        <p:spPr>
          <a:xfrm>
            <a:off x="6277356" y="3886200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09-cardtext212"/>
          <p:cNvSpPr txBox="1"/>
          <p:nvPr/>
        </p:nvSpPr>
        <p:spPr>
          <a:xfrm>
            <a:off x="6551676" y="4023360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남쪽에서 먼저 피고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북쪽으로 올라가요.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지역 살펴보기</a:t>
            </a:r>
            <a:endParaRPr lang="ko-KR" sz="4000" dirty="0"/>
          </a:p>
        </p:txBody>
      </p:sp>
      <p:sp>
        <p:nvSpPr>
          <p:cNvPr id="3" name="S10-text2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조사해요.</a:t>
            </a:r>
            <a:endParaRPr lang="ko-KR" sz="2800" dirty="0"/>
          </a:p>
        </p:txBody>
      </p:sp>
      <p:sp>
        <p:nvSpPr>
          <p:cNvPr id="4" name="S10-card214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215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가까운 산과 강 찾기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강이 가는 바다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기온을 계절과 이어 말하기</a:t>
            </a:r>
            <a:endParaRPr lang="ko-KR" sz="2800" dirty="0"/>
          </a:p>
        </p:txBody>
      </p:sp>
      <p:sp>
        <p:nvSpPr>
          <p:cNvPr id="6" name="S10-stepno216"/>
          <p:cNvSpPr txBox="1"/>
          <p:nvPr/>
        </p:nvSpPr>
        <p:spPr>
          <a:xfrm>
            <a:off x="548640" y="2337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0-text217"/>
          <p:cNvSpPr txBox="1"/>
          <p:nvPr/>
        </p:nvSpPr>
        <p:spPr>
          <a:xfrm>
            <a:off x="1325880" y="22920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앱에서 우리 지역 가까운 산과 강을 찾아요.</a:t>
            </a:r>
            <a:endParaRPr lang="ko-KR" sz="2800" dirty="0"/>
          </a:p>
        </p:txBody>
      </p:sp>
      <p:sp>
        <p:nvSpPr>
          <p:cNvPr id="8" name="S10-stepno218"/>
          <p:cNvSpPr txBox="1"/>
          <p:nvPr/>
        </p:nvSpPr>
        <p:spPr>
          <a:xfrm>
            <a:off x="548640" y="3370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10-text219"/>
          <p:cNvSpPr txBox="1"/>
          <p:nvPr/>
        </p:nvSpPr>
        <p:spPr>
          <a:xfrm>
            <a:off x="1325880" y="33243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강을 따라가 어느 바다로 가는지 봐요.</a:t>
            </a:r>
            <a:endParaRPr lang="ko-KR" sz="2800" dirty="0"/>
          </a:p>
        </p:txBody>
      </p:sp>
      <p:sp>
        <p:nvSpPr>
          <p:cNvPr id="10" name="S10-stepno220"/>
          <p:cNvSpPr txBox="1"/>
          <p:nvPr/>
        </p:nvSpPr>
        <p:spPr>
          <a:xfrm>
            <a:off x="548640" y="4402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10-text221"/>
          <p:cNvSpPr txBox="1"/>
          <p:nvPr/>
        </p:nvSpPr>
        <p:spPr>
          <a:xfrm>
            <a:off x="1325880" y="435660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일기 예보로 이번 주 기온을 봐요.</a:t>
            </a:r>
            <a:endParaRPr lang="ko-KR" sz="2800" dirty="0"/>
          </a:p>
        </p:txBody>
      </p:sp>
      <p:sp>
        <p:nvSpPr>
          <p:cNvPr id="12" name="S10-stepno222"/>
          <p:cNvSpPr txBox="1"/>
          <p:nvPr/>
        </p:nvSpPr>
        <p:spPr>
          <a:xfrm>
            <a:off x="548640" y="5388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10-text223"/>
          <p:cNvSpPr txBox="1"/>
          <p:nvPr/>
        </p:nvSpPr>
        <p:spPr>
          <a:xfrm>
            <a:off x="1325880" y="5388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5에 기록해요.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figure224" descr="지어낸 섬 누리섬을 서쪽에서 동쪽으로 자른 간단한 그림: 서쪽 바다 가까이에 높은 산지가 있고, 동쪽으로 갈수록 낮아져 동쪽 바다 쪽에 낮은 땅이 넓음"/>
          <p:cNvSpPr/>
          <p:nvPr/>
        </p:nvSpPr>
        <p:spPr>
          <a:xfrm>
            <a:off x="6361176" y="4152849"/>
            <a:ext cx="5195316" cy="225130"/>
          </a:xfrm>
          <a:custGeom>
            <a:avLst/>
            <a:gdLst/>
            <a:ahLst/>
            <a:cxnLst/>
            <a:rect l="l" t="t" r="r" b="b"/>
            <a:pathLst>
              <a:path w="5195316" h="225130">
                <a:moveTo>
                  <a:pt x="0" y="225130"/>
                </a:moveTo>
                <a:lnTo>
                  <a:pt x="5195316" y="225130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BBD9F2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11-mark225"/>
          <p:cNvSpPr/>
          <p:nvPr/>
        </p:nvSpPr>
        <p:spPr>
          <a:xfrm>
            <a:off x="7053885" y="3207302"/>
            <a:ext cx="3948440" cy="1170678"/>
          </a:xfrm>
          <a:custGeom>
            <a:avLst/>
            <a:gdLst/>
            <a:ahLst/>
            <a:cxnLst/>
            <a:rect l="l" t="t" r="r" b="b"/>
            <a:pathLst>
              <a:path w="3948440" h="1170678">
                <a:moveTo>
                  <a:pt x="3948440" y="1170678"/>
                </a:moveTo>
                <a:lnTo>
                  <a:pt x="3948440" y="911951"/>
                </a:lnTo>
                <a:lnTo>
                  <a:pt x="3463544" y="889438"/>
                </a:lnTo>
                <a:lnTo>
                  <a:pt x="2944012" y="866579"/>
                </a:lnTo>
                <a:lnTo>
                  <a:pt x="2597658" y="765443"/>
                </a:lnTo>
                <a:lnTo>
                  <a:pt x="2251304" y="810469"/>
                </a:lnTo>
                <a:lnTo>
                  <a:pt x="1904949" y="652878"/>
                </a:lnTo>
                <a:lnTo>
                  <a:pt x="1558595" y="697904"/>
                </a:lnTo>
                <a:lnTo>
                  <a:pt x="1212240" y="450261"/>
                </a:lnTo>
                <a:lnTo>
                  <a:pt x="865886" y="225130"/>
                </a:lnTo>
                <a:lnTo>
                  <a:pt x="623438" y="0"/>
                </a:lnTo>
                <a:lnTo>
                  <a:pt x="450261" y="135078"/>
                </a:lnTo>
                <a:lnTo>
                  <a:pt x="242448" y="495287"/>
                </a:lnTo>
                <a:lnTo>
                  <a:pt x="34635" y="911951"/>
                </a:lnTo>
                <a:lnTo>
                  <a:pt x="0" y="1170678"/>
                </a:lnTo>
                <a:close/>
              </a:path>
            </a:pathLst>
          </a:custGeom>
          <a:solidFill>
            <a:srgbClr val="D9C49A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" name="S11-mark226"/>
          <p:cNvSpPr/>
          <p:nvPr/>
        </p:nvSpPr>
        <p:spPr>
          <a:xfrm>
            <a:off x="6776801" y="2784749"/>
            <a:ext cx="4364065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6" name="S11-label228"/>
          <p:cNvSpPr txBox="1"/>
          <p:nvPr/>
        </p:nvSpPr>
        <p:spPr>
          <a:xfrm>
            <a:off x="6325265" y="261012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2200" dirty="0"/>
          </a:p>
        </p:txBody>
      </p:sp>
      <p:sp>
        <p:nvSpPr>
          <p:cNvPr id="7" name="S11-label230"/>
          <p:cNvSpPr txBox="1"/>
          <p:nvPr/>
        </p:nvSpPr>
        <p:spPr>
          <a:xfrm>
            <a:off x="11208863" y="261012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</a:t>
            </a:r>
            <a:endParaRPr lang="ko-KR" sz="2200" dirty="0"/>
          </a:p>
        </p:txBody>
      </p:sp>
      <p:sp>
        <p:nvSpPr>
          <p:cNvPr id="8" name="S11-label232"/>
          <p:cNvSpPr txBox="1"/>
          <p:nvPr/>
        </p:nvSpPr>
        <p:spPr>
          <a:xfrm>
            <a:off x="6359368" y="4124271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1800" dirty="0"/>
          </a:p>
        </p:txBody>
      </p:sp>
      <p:sp>
        <p:nvSpPr>
          <p:cNvPr id="9" name="S11-label234"/>
          <p:cNvSpPr txBox="1"/>
          <p:nvPr/>
        </p:nvSpPr>
        <p:spPr>
          <a:xfrm>
            <a:off x="10965881" y="4124271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1800" dirty="0"/>
          </a:p>
        </p:txBody>
      </p:sp>
      <p:sp>
        <p:nvSpPr>
          <p:cNvPr id="10" name="S11-label235"/>
          <p:cNvSpPr txBox="1"/>
          <p:nvPr/>
        </p:nvSpPr>
        <p:spPr>
          <a:xfrm>
            <a:off x="6277356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누리섬(지어낸 섬)을 자른 모습</a:t>
            </a:r>
            <a:endParaRPr lang="ko-KR" sz="2200" dirty="0"/>
          </a:p>
        </p:txBody>
      </p:sp>
      <p:sp>
        <p:nvSpPr>
          <p:cNvPr id="11" name="S11-chip23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2" name="S11-text23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누리섬은 어느 쪽이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높은가요?</a:t>
            </a:r>
            <a:endParaRPr lang="ko-KR" sz="2800" dirty="0"/>
          </a:p>
        </p:txBody>
      </p:sp>
      <p:sp>
        <p:nvSpPr>
          <p:cNvPr id="13" name="S11-chip238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4" name="S11-text239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누리섬의 강은 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 바다로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흐를까요? 왜요?</a:t>
            </a:r>
            <a:endParaRPr lang="ko-KR" sz="2800" dirty="0"/>
          </a:p>
        </p:txBody>
      </p:sp>
      <p:sp>
        <p:nvSpPr>
          <p:cNvPr id="15" name="S11-chip240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6" name="S11-text241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어느 쪽이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높고, 큰 강은 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흐르나요?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2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높은 곳에서 낮은 곳으로 흘러요.</a:t>
            </a:r>
            <a:endParaRPr lang="ko-KR" sz="2800" dirty="0"/>
          </a:p>
        </p:txBody>
      </p:sp>
      <p:sp>
        <p:nvSpPr>
          <p:cNvPr id="5" name="S12-chip24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245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서쪽</a:t>
            </a:r>
            <a:endParaRPr lang="ko-KR" sz="2800" dirty="0"/>
          </a:p>
        </p:txBody>
      </p:sp>
      <p:sp>
        <p:nvSpPr>
          <p:cNvPr id="7" name="S12-text246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동쪽 바다</a:t>
            </a:r>
            <a:endParaRPr lang="ko-KR" sz="2800" dirty="0"/>
          </a:p>
        </p:txBody>
      </p:sp>
      <p:sp>
        <p:nvSpPr>
          <p:cNvPr id="8" name="S12-text247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곳 →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곳</a:t>
            </a:r>
            <a:endParaRPr lang="ko-KR" sz="2200" dirty="0"/>
          </a:p>
        </p:txBody>
      </p:sp>
      <p:sp>
        <p:nvSpPr>
          <p:cNvPr id="9" name="S12-text248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동쪽이 높아요</a:t>
            </a:r>
            <a:endParaRPr lang="ko-KR" sz="2800" dirty="0"/>
          </a:p>
        </p:txBody>
      </p:sp>
      <p:sp>
        <p:nvSpPr>
          <p:cNvPr id="10" name="S12-text249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강은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서해·남해로</a:t>
            </a:r>
            <a:endParaRPr lang="ko-KR" sz="2200" dirty="0"/>
          </a:p>
        </p:txBody>
      </p:sp>
      <p:sp>
        <p:nvSpPr>
          <p:cNvPr id="11" name="S12-chip25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2" name="S12-text25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“서쪽 바다”</a:t>
            </a:r>
            <a:endParaRPr lang="ko-KR" sz="2800" dirty="0"/>
          </a:p>
        </p:txBody>
      </p:sp>
      <p:sp>
        <p:nvSpPr>
          <p:cNvPr id="13" name="S12-text25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보지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않고 외움</a:t>
            </a:r>
            <a:endParaRPr lang="ko-KR" sz="2200" dirty="0"/>
          </a:p>
        </p:txBody>
      </p:sp>
      <p:sp>
        <p:nvSpPr>
          <p:cNvPr id="14" name="S12-text25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없이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답만 말하기</a:t>
            </a:r>
            <a:endParaRPr lang="ko-KR" sz="2800" dirty="0"/>
          </a:p>
        </p:txBody>
      </p:sp>
      <p:sp>
        <p:nvSpPr>
          <p:cNvPr id="15" name="S12-text25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물의 흐름을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까닭으로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바람시의 비</a:t>
            </a:r>
            <a:endParaRPr lang="ko-KR" sz="4000" dirty="0"/>
          </a:p>
        </p:txBody>
      </p:sp>
      <p:sp>
        <p:nvSpPr>
          <p:cNvPr id="3" name="S13-figure255" descr="막대그래프(지어낸 예시): 바람시의 계절별 비의 양. 봄 150 mm, 여름 600 mm, 가을 250 mm, 겨울 50 mm"/>
          <p:cNvSpPr/>
          <p:nvPr/>
        </p:nvSpPr>
        <p:spPr>
          <a:xfrm>
            <a:off x="7443534" y="4607047"/>
            <a:ext cx="562826" cy="463682"/>
          </a:xfrm>
          <a:custGeom>
            <a:avLst/>
            <a:gdLst/>
            <a:ahLst/>
            <a:cxnLst/>
            <a:rect l="l" t="t" r="r" b="b"/>
            <a:pathLst>
              <a:path w="562826" h="463682">
                <a:moveTo>
                  <a:pt x="0" y="463682"/>
                </a:moveTo>
                <a:lnTo>
                  <a:pt x="562826" y="463682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" name="S13-mark256"/>
          <p:cNvSpPr/>
          <p:nvPr/>
        </p:nvSpPr>
        <p:spPr>
          <a:xfrm>
            <a:off x="8439302" y="3215135"/>
            <a:ext cx="562826" cy="1855594"/>
          </a:xfrm>
          <a:custGeom>
            <a:avLst/>
            <a:gdLst/>
            <a:ahLst/>
            <a:cxnLst/>
            <a:rect l="l" t="t" r="r" b="b"/>
            <a:pathLst>
              <a:path w="562826" h="1855594">
                <a:moveTo>
                  <a:pt x="0" y="1855594"/>
                </a:moveTo>
                <a:lnTo>
                  <a:pt x="562826" y="1855594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13-mark257"/>
          <p:cNvSpPr/>
          <p:nvPr/>
        </p:nvSpPr>
        <p:spPr>
          <a:xfrm>
            <a:off x="9435071" y="4297493"/>
            <a:ext cx="562826" cy="773236"/>
          </a:xfrm>
          <a:custGeom>
            <a:avLst/>
            <a:gdLst/>
            <a:ahLst/>
            <a:cxnLst/>
            <a:rect l="l" t="t" r="r" b="b"/>
            <a:pathLst>
              <a:path w="562826" h="773236">
                <a:moveTo>
                  <a:pt x="0" y="773236"/>
                </a:moveTo>
                <a:lnTo>
                  <a:pt x="562826" y="773236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13-mark258"/>
          <p:cNvSpPr/>
          <p:nvPr/>
        </p:nvSpPr>
        <p:spPr>
          <a:xfrm>
            <a:off x="10430840" y="4916168"/>
            <a:ext cx="562826" cy="154561"/>
          </a:xfrm>
          <a:custGeom>
            <a:avLst/>
            <a:gdLst/>
            <a:ahLst/>
            <a:cxnLst/>
            <a:rect l="l" t="t" r="r" b="b"/>
            <a:pathLst>
              <a:path w="562826" h="154561">
                <a:moveTo>
                  <a:pt x="0" y="154561"/>
                </a:moveTo>
                <a:lnTo>
                  <a:pt x="562826" y="154561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3-mark259"/>
          <p:cNvSpPr/>
          <p:nvPr/>
        </p:nvSpPr>
        <p:spPr>
          <a:xfrm>
            <a:off x="7010591" y="4761484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8" name="S13-mark260"/>
          <p:cNvSpPr/>
          <p:nvPr/>
        </p:nvSpPr>
        <p:spPr>
          <a:xfrm>
            <a:off x="7010591" y="4452239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9" name="S13-mark261"/>
          <p:cNvSpPr/>
          <p:nvPr/>
        </p:nvSpPr>
        <p:spPr>
          <a:xfrm>
            <a:off x="7010591" y="4142994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0" name="S13-mark262"/>
          <p:cNvSpPr/>
          <p:nvPr/>
        </p:nvSpPr>
        <p:spPr>
          <a:xfrm>
            <a:off x="7010591" y="3833749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1" name="S13-mark263"/>
          <p:cNvSpPr/>
          <p:nvPr/>
        </p:nvSpPr>
        <p:spPr>
          <a:xfrm>
            <a:off x="7010591" y="3524504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2" name="S13-mark264"/>
          <p:cNvSpPr/>
          <p:nvPr/>
        </p:nvSpPr>
        <p:spPr>
          <a:xfrm>
            <a:off x="7010591" y="3215259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3" name="S13-mark265"/>
          <p:cNvSpPr/>
          <p:nvPr/>
        </p:nvSpPr>
        <p:spPr>
          <a:xfrm>
            <a:off x="7010591" y="2906014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4" name="S13-mark266"/>
          <p:cNvSpPr/>
          <p:nvPr/>
        </p:nvSpPr>
        <p:spPr>
          <a:xfrm flipV="1">
            <a:off x="7010591" y="2732837"/>
            <a:ext cx="0" cy="23378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3-mark267"/>
          <p:cNvSpPr/>
          <p:nvPr/>
        </p:nvSpPr>
        <p:spPr>
          <a:xfrm>
            <a:off x="7010591" y="5070729"/>
            <a:ext cx="4416019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3-label269"/>
          <p:cNvSpPr txBox="1"/>
          <p:nvPr/>
        </p:nvSpPr>
        <p:spPr>
          <a:xfrm>
            <a:off x="6555581" y="4927854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17" name="S13-label271"/>
          <p:cNvSpPr txBox="1"/>
          <p:nvPr/>
        </p:nvSpPr>
        <p:spPr>
          <a:xfrm>
            <a:off x="6404705" y="4618733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800" dirty="0"/>
          </a:p>
        </p:txBody>
      </p:sp>
      <p:sp>
        <p:nvSpPr>
          <p:cNvPr id="18" name="S13-label273"/>
          <p:cNvSpPr txBox="1"/>
          <p:nvPr/>
        </p:nvSpPr>
        <p:spPr>
          <a:xfrm>
            <a:off x="6404705" y="4309178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1800" dirty="0"/>
          </a:p>
        </p:txBody>
      </p:sp>
      <p:sp>
        <p:nvSpPr>
          <p:cNvPr id="19" name="S13-label275"/>
          <p:cNvSpPr txBox="1"/>
          <p:nvPr/>
        </p:nvSpPr>
        <p:spPr>
          <a:xfrm>
            <a:off x="6404705" y="4000057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</a:t>
            </a:r>
            <a:endParaRPr lang="ko-KR" sz="1800" dirty="0"/>
          </a:p>
        </p:txBody>
      </p:sp>
      <p:sp>
        <p:nvSpPr>
          <p:cNvPr id="20" name="S13-label277"/>
          <p:cNvSpPr txBox="1"/>
          <p:nvPr/>
        </p:nvSpPr>
        <p:spPr>
          <a:xfrm>
            <a:off x="6404705" y="3690936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</a:t>
            </a:r>
            <a:endParaRPr lang="ko-KR" sz="1800" dirty="0"/>
          </a:p>
        </p:txBody>
      </p:sp>
      <p:sp>
        <p:nvSpPr>
          <p:cNvPr id="21" name="S13-label279"/>
          <p:cNvSpPr txBox="1"/>
          <p:nvPr/>
        </p:nvSpPr>
        <p:spPr>
          <a:xfrm>
            <a:off x="6404705" y="3381815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</a:t>
            </a:r>
            <a:endParaRPr lang="ko-KR" sz="1800" dirty="0"/>
          </a:p>
        </p:txBody>
      </p:sp>
      <p:sp>
        <p:nvSpPr>
          <p:cNvPr id="22" name="S13-label281"/>
          <p:cNvSpPr txBox="1"/>
          <p:nvPr/>
        </p:nvSpPr>
        <p:spPr>
          <a:xfrm>
            <a:off x="6404705" y="3072260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</a:t>
            </a:r>
            <a:endParaRPr lang="ko-KR" sz="1800" dirty="0"/>
          </a:p>
        </p:txBody>
      </p:sp>
      <p:sp>
        <p:nvSpPr>
          <p:cNvPr id="23" name="S13-label283"/>
          <p:cNvSpPr txBox="1"/>
          <p:nvPr/>
        </p:nvSpPr>
        <p:spPr>
          <a:xfrm>
            <a:off x="6404705" y="2763139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</a:t>
            </a:r>
            <a:endParaRPr lang="ko-KR" sz="1800" dirty="0"/>
          </a:p>
        </p:txBody>
      </p:sp>
      <p:sp>
        <p:nvSpPr>
          <p:cNvPr id="24" name="S13-label285"/>
          <p:cNvSpPr txBox="1"/>
          <p:nvPr/>
        </p:nvSpPr>
        <p:spPr>
          <a:xfrm>
            <a:off x="6544526" y="2373490"/>
            <a:ext cx="7589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(mm)</a:t>
            </a:r>
            <a:endParaRPr lang="ko-KR" sz="1800" dirty="0"/>
          </a:p>
        </p:txBody>
      </p:sp>
      <p:sp>
        <p:nvSpPr>
          <p:cNvPr id="25" name="S13-label287"/>
          <p:cNvSpPr txBox="1"/>
          <p:nvPr/>
        </p:nvSpPr>
        <p:spPr>
          <a:xfrm>
            <a:off x="7443768" y="4290995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800" dirty="0"/>
          </a:p>
        </p:txBody>
      </p:sp>
      <p:sp>
        <p:nvSpPr>
          <p:cNvPr id="26" name="S13-label289"/>
          <p:cNvSpPr txBox="1"/>
          <p:nvPr/>
        </p:nvSpPr>
        <p:spPr>
          <a:xfrm>
            <a:off x="7558068" y="5165973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1800" dirty="0"/>
          </a:p>
        </p:txBody>
      </p:sp>
      <p:sp>
        <p:nvSpPr>
          <p:cNvPr id="27" name="S13-label291"/>
          <p:cNvSpPr txBox="1"/>
          <p:nvPr/>
        </p:nvSpPr>
        <p:spPr>
          <a:xfrm>
            <a:off x="8439537" y="2899083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</a:t>
            </a:r>
            <a:endParaRPr lang="ko-KR" sz="1800" dirty="0"/>
          </a:p>
        </p:txBody>
      </p:sp>
      <p:sp>
        <p:nvSpPr>
          <p:cNvPr id="28" name="S13-label293"/>
          <p:cNvSpPr txBox="1"/>
          <p:nvPr/>
        </p:nvSpPr>
        <p:spPr>
          <a:xfrm>
            <a:off x="8441823" y="516597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1800" dirty="0"/>
          </a:p>
        </p:txBody>
      </p:sp>
      <p:sp>
        <p:nvSpPr>
          <p:cNvPr id="29" name="S13-label295"/>
          <p:cNvSpPr txBox="1"/>
          <p:nvPr/>
        </p:nvSpPr>
        <p:spPr>
          <a:xfrm>
            <a:off x="9435306" y="3981441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</a:t>
            </a:r>
            <a:endParaRPr lang="ko-KR" sz="1800" dirty="0"/>
          </a:p>
        </p:txBody>
      </p:sp>
      <p:sp>
        <p:nvSpPr>
          <p:cNvPr id="30" name="S13-label297"/>
          <p:cNvSpPr txBox="1"/>
          <p:nvPr/>
        </p:nvSpPr>
        <p:spPr>
          <a:xfrm>
            <a:off x="9437592" y="516597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1800" dirty="0"/>
          </a:p>
        </p:txBody>
      </p:sp>
      <p:sp>
        <p:nvSpPr>
          <p:cNvPr id="31" name="S13-label299"/>
          <p:cNvSpPr txBox="1"/>
          <p:nvPr/>
        </p:nvSpPr>
        <p:spPr>
          <a:xfrm>
            <a:off x="10506513" y="4600116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800" dirty="0"/>
          </a:p>
        </p:txBody>
      </p:sp>
      <p:sp>
        <p:nvSpPr>
          <p:cNvPr id="32" name="S13-label301"/>
          <p:cNvSpPr txBox="1"/>
          <p:nvPr/>
        </p:nvSpPr>
        <p:spPr>
          <a:xfrm>
            <a:off x="10433361" y="516597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1800" dirty="0"/>
          </a:p>
        </p:txBody>
      </p:sp>
      <p:sp>
        <p:nvSpPr>
          <p:cNvPr id="33" name="S13-label303"/>
          <p:cNvSpPr txBox="1"/>
          <p:nvPr/>
        </p:nvSpPr>
        <p:spPr>
          <a:xfrm>
            <a:off x="7579538" y="2070430"/>
            <a:ext cx="32781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바람시의 계절별 비의 양(예시)</a:t>
            </a:r>
            <a:endParaRPr lang="ko-KR" sz="1800" dirty="0"/>
          </a:p>
        </p:txBody>
      </p:sp>
      <p:sp>
        <p:nvSpPr>
          <p:cNvPr id="34" name="S13-chip304"/>
          <p:cNvSpPr txBox="1"/>
          <p:nvPr/>
        </p:nvSpPr>
        <p:spPr>
          <a:xfrm>
            <a:off x="548640" y="158534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5" name="S13-text305"/>
          <p:cNvSpPr txBox="1"/>
          <p:nvPr/>
        </p:nvSpPr>
        <p:spPr>
          <a:xfrm>
            <a:off x="1344168" y="132588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가장 많은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계절은?</a:t>
            </a:r>
            <a:endParaRPr lang="ko-KR" sz="2800" dirty="0"/>
          </a:p>
        </p:txBody>
      </p:sp>
      <p:sp>
        <p:nvSpPr>
          <p:cNvPr id="36" name="S13-chip306"/>
          <p:cNvSpPr txBox="1"/>
          <p:nvPr/>
        </p:nvSpPr>
        <p:spPr>
          <a:xfrm>
            <a:off x="548640" y="285407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7" name="S13-text307"/>
          <p:cNvSpPr txBox="1"/>
          <p:nvPr/>
        </p:nvSpPr>
        <p:spPr>
          <a:xfrm>
            <a:off x="1344168" y="259461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여름은 겨울의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배인가요?</a:t>
            </a:r>
            <a:endParaRPr lang="ko-KR" sz="2800" dirty="0"/>
          </a:p>
        </p:txBody>
      </p:sp>
      <p:sp>
        <p:nvSpPr>
          <p:cNvPr id="38" name="S13-chip308"/>
          <p:cNvSpPr txBox="1"/>
          <p:nvPr/>
        </p:nvSpPr>
        <p:spPr>
          <a:xfrm>
            <a:off x="548640" y="412280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9" name="S13-text309"/>
          <p:cNvSpPr txBox="1"/>
          <p:nvPr/>
        </p:nvSpPr>
        <p:spPr>
          <a:xfrm>
            <a:off x="1344168" y="386334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 미리 준비할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한 가지는?</a:t>
            </a:r>
            <a:endParaRPr lang="ko-KR" sz="2800" dirty="0"/>
          </a:p>
        </p:txBody>
      </p:sp>
      <p:sp>
        <p:nvSpPr>
          <p:cNvPr id="40" name="S13-chip310"/>
          <p:cNvSpPr txBox="1"/>
          <p:nvPr/>
        </p:nvSpPr>
        <p:spPr>
          <a:xfrm>
            <a:off x="548640" y="539153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41" name="S13-text311"/>
          <p:cNvSpPr txBox="1"/>
          <p:nvPr/>
        </p:nvSpPr>
        <p:spPr>
          <a:xfrm>
            <a:off x="1344168" y="513207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봄꽃은 남쪽과 북쪽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 어디서 먼저 필까요?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1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1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산지가 많고 동쪽이 높고 서쪽이 낮아요.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사계절이 뚜렷하고, 여름에 비가 많이 와요.</a:t>
            </a:r>
            <a:endParaRPr lang="ko-KR" sz="2800" dirty="0"/>
          </a:p>
        </p:txBody>
      </p:sp>
      <p:sp>
        <p:nvSpPr>
          <p:cNvPr id="5" name="S14-chip31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자료(지도·그래프)를 보고 말하기</a:t>
            </a:r>
            <a:endParaRPr lang="ko-KR" sz="2200" dirty="0"/>
          </a:p>
        </p:txBody>
      </p:sp>
      <p:sp>
        <p:nvSpPr>
          <p:cNvPr id="6" name="S14-chip31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우리 동네만 보고 정하기</a:t>
            </a:r>
            <a:endParaRPr lang="ko-KR" sz="2200" dirty="0"/>
          </a:p>
        </p:txBody>
      </p:sp>
      <p:sp>
        <p:nvSpPr>
          <p:cNvPr id="7" name="S14-text31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1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높은 산지가 많은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쪽은?</a:t>
            </a:r>
            <a:endParaRPr lang="ko-KR" sz="2200" dirty="0"/>
          </a:p>
        </p:txBody>
      </p:sp>
      <p:sp>
        <p:nvSpPr>
          <p:cNvPr id="9" name="S14-text31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큰 강은 주로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바다로?</a:t>
            </a:r>
            <a:endParaRPr lang="ko-KR" sz="2200" dirty="0"/>
          </a:p>
        </p:txBody>
      </p:sp>
      <p:sp>
        <p:nvSpPr>
          <p:cNvPr id="10" name="S14-text31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비가 가장 많은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계절은?</a:t>
            </a:r>
            <a:endParaRPr lang="ko-KR" sz="2200" dirty="0"/>
          </a:p>
        </p:txBody>
      </p:sp>
      <p:sp>
        <p:nvSpPr>
          <p:cNvPr id="11" name="S14-text32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인구와 도시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물은 어디로 흐를까요?</a:t>
            </a:r>
            <a:endParaRPr lang="ko-KR" sz="4000" dirty="0"/>
          </a:p>
        </p:txBody>
      </p:sp>
      <p:sp>
        <p:nvSpPr>
          <p:cNvPr id="3" name="S15-figure321" descr="비탈 그림: 왼쪽 높은 곳에서 오른쪽 낮은 곳과 바다 쪽으로 물이 흐르는 화살표"/>
          <p:cNvSpPr/>
          <p:nvPr/>
        </p:nvSpPr>
        <p:spPr>
          <a:xfrm>
            <a:off x="632460" y="3042422"/>
            <a:ext cx="4689500" cy="2084222"/>
          </a:xfrm>
          <a:custGeom>
            <a:avLst/>
            <a:gdLst/>
            <a:ahLst/>
            <a:cxnLst/>
            <a:rect l="l" t="t" r="r" b="b"/>
            <a:pathLst>
              <a:path w="4689500" h="2084222">
                <a:moveTo>
                  <a:pt x="0" y="2084222"/>
                </a:moveTo>
                <a:lnTo>
                  <a:pt x="0" y="0"/>
                </a:lnTo>
                <a:lnTo>
                  <a:pt x="781583" y="104211"/>
                </a:lnTo>
                <a:lnTo>
                  <a:pt x="1823695" y="729478"/>
                </a:lnTo>
                <a:lnTo>
                  <a:pt x="3126334" y="1458956"/>
                </a:lnTo>
                <a:lnTo>
                  <a:pt x="4689500" y="1771589"/>
                </a:lnTo>
                <a:lnTo>
                  <a:pt x="4689500" y="2084222"/>
                </a:lnTo>
                <a:close/>
              </a:path>
            </a:pathLst>
          </a:custGeom>
          <a:solidFill>
            <a:srgbClr val="D9C49A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" name="S15-mark322"/>
          <p:cNvSpPr/>
          <p:nvPr/>
        </p:nvSpPr>
        <p:spPr>
          <a:xfrm>
            <a:off x="5321960" y="4814011"/>
            <a:ext cx="1042111" cy="312633"/>
          </a:xfrm>
          <a:custGeom>
            <a:avLst/>
            <a:gdLst/>
            <a:ahLst/>
            <a:cxnLst/>
            <a:rect l="l" t="t" r="r" b="b"/>
            <a:pathLst>
              <a:path w="1042111" h="312633">
                <a:moveTo>
                  <a:pt x="0" y="312633"/>
                </a:moveTo>
                <a:lnTo>
                  <a:pt x="1042111" y="312633"/>
                </a:lnTo>
                <a:lnTo>
                  <a:pt x="1042111" y="0"/>
                </a:lnTo>
                <a:lnTo>
                  <a:pt x="0" y="0"/>
                </a:lnTo>
                <a:close/>
              </a:path>
            </a:pathLst>
          </a:custGeom>
          <a:solidFill>
            <a:srgbClr val="BBD9F2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5" name="S15-mark323"/>
          <p:cNvSpPr/>
          <p:nvPr/>
        </p:nvSpPr>
        <p:spPr>
          <a:xfrm>
            <a:off x="1466149" y="2912158"/>
            <a:ext cx="3438967" cy="1563167"/>
          </a:xfrm>
          <a:prstGeom prst="line">
            <a:avLst/>
          </a:prstGeom>
          <a:noFill/>
          <a:ln w="38100">
            <a:solidFill>
              <a:srgbClr val="2F6FB5"/>
            </a:solidFill>
            <a:prstDash val="solid"/>
            <a:tailEnd type="triangle"/>
          </a:ln>
        </p:spPr>
      </p:sp>
      <p:sp>
        <p:nvSpPr>
          <p:cNvPr id="6" name="S15-label325"/>
          <p:cNvSpPr txBox="1"/>
          <p:nvPr/>
        </p:nvSpPr>
        <p:spPr>
          <a:xfrm>
            <a:off x="728320" y="2508755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곳</a:t>
            </a:r>
            <a:endParaRPr lang="ko-KR" sz="1800" dirty="0"/>
          </a:p>
        </p:txBody>
      </p:sp>
      <p:sp>
        <p:nvSpPr>
          <p:cNvPr id="7" name="S15-label327"/>
          <p:cNvSpPr txBox="1"/>
          <p:nvPr/>
        </p:nvSpPr>
        <p:spPr>
          <a:xfrm>
            <a:off x="4167287" y="4827453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곳</a:t>
            </a:r>
            <a:endParaRPr lang="ko-KR" sz="1800" dirty="0"/>
          </a:p>
        </p:txBody>
      </p:sp>
      <p:sp>
        <p:nvSpPr>
          <p:cNvPr id="8" name="S15-label329"/>
          <p:cNvSpPr txBox="1"/>
          <p:nvPr/>
        </p:nvSpPr>
        <p:spPr>
          <a:xfrm>
            <a:off x="5564124" y="482745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1800" dirty="0"/>
          </a:p>
        </p:txBody>
      </p:sp>
      <p:sp>
        <p:nvSpPr>
          <p:cNvPr id="9" name="S15-label331"/>
          <p:cNvSpPr txBox="1"/>
          <p:nvPr/>
        </p:nvSpPr>
        <p:spPr>
          <a:xfrm>
            <a:off x="2754843" y="3264286"/>
            <a:ext cx="15910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2F6F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흐르는 쪽</a:t>
            </a:r>
            <a:endParaRPr lang="ko-KR" sz="1800" dirty="0"/>
          </a:p>
        </p:txBody>
      </p:sp>
      <p:sp>
        <p:nvSpPr>
          <p:cNvPr id="10" name="S15-card332"/>
          <p:cNvSpPr/>
          <p:nvPr/>
        </p:nvSpPr>
        <p:spPr>
          <a:xfrm>
            <a:off x="6813652" y="1531112"/>
            <a:ext cx="4826660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333"/>
          <p:cNvSpPr txBox="1"/>
          <p:nvPr/>
        </p:nvSpPr>
        <p:spPr>
          <a:xfrm>
            <a:off x="7087972" y="1668272"/>
            <a:ext cx="4278020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높은 곳에서 낮은 곳으로 흘러요.</a:t>
            </a:r>
            <a:endParaRPr lang="ko-KR" sz="2800" dirty="0"/>
          </a:p>
        </p:txBody>
      </p:sp>
      <p:sp>
        <p:nvSpPr>
          <p:cNvPr id="12" name="S15-card334"/>
          <p:cNvSpPr/>
          <p:nvPr/>
        </p:nvSpPr>
        <p:spPr>
          <a:xfrm>
            <a:off x="6813652" y="2956560"/>
            <a:ext cx="4826660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5-cardtext335"/>
          <p:cNvSpPr txBox="1"/>
          <p:nvPr/>
        </p:nvSpPr>
        <p:spPr>
          <a:xfrm>
            <a:off x="7087972" y="3093720"/>
            <a:ext cx="4278020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등고선 숫자가 클수록 높은 곳이에요.</a:t>
            </a:r>
            <a:endParaRPr lang="ko-KR" sz="2800" dirty="0"/>
          </a:p>
        </p:txBody>
      </p:sp>
      <p:sp>
        <p:nvSpPr>
          <p:cNvPr id="14" name="S15-card336"/>
          <p:cNvSpPr/>
          <p:nvPr/>
        </p:nvSpPr>
        <p:spPr>
          <a:xfrm>
            <a:off x="6813652" y="4382008"/>
            <a:ext cx="4826660" cy="1630680"/>
          </a:xfrm>
          <a:prstGeom prst="roundRect">
            <a:avLst>
              <a:gd name="adj" fmla="val 67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15-cardtext337"/>
          <p:cNvSpPr txBox="1"/>
          <p:nvPr/>
        </p:nvSpPr>
        <p:spPr>
          <a:xfrm>
            <a:off x="7087972" y="4519168"/>
            <a:ext cx="427802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높은 땅은 진한 갈색으로 나타낼 때가 많아요.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국토의 자연환경</dc:title>
  <dc:subject>KR22-G05-SOC-NATURE-L01</dc:subject>
  <dc:creator>education-ppt</dc:creator>
  <cp:lastModifiedBy>education-ppt</cp:lastModifiedBy>
  <cp:revision>1</cp:revision>
  <dcterms:created xsi:type="dcterms:W3CDTF">2026-10-26T13:24:53Z</dcterms:created>
  <dcterms:modified xsi:type="dcterms:W3CDTF">2026-10-26T13:24:53Z</dcterms:modified>
</cp:coreProperties>
</file>