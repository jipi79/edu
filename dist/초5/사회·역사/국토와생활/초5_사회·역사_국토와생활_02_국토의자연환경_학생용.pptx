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2d21eae-1f9e-f96b-6cc0-3bef5cd9ace7}">
          <p14:sldIdLst>
            <p14:sldId id="256"/>
            <p14:sldId id="257"/>
          </p14:sldIdLst>
        </p14:section>
        <p14:section name="개념" id="{30e4ec0e-78e3-ff9a-b43c-4859d7f85e21}">
          <p14:sldIdLst>
            <p14:sldId id="258"/>
            <p14:sldId id="261"/>
            <p14:sldId id="262"/>
            <p14:sldId id="264"/>
          </p14:sldIdLst>
        </p14:section>
        <p14:section name="연습" id="{fa69dfaf-1d9a-ae62-58ad-036399f173a7}">
          <p14:sldIdLst>
            <p14:sldId id="259"/>
            <p14:sldId id="260"/>
            <p14:sldId id="263"/>
            <p14:sldId id="265"/>
          </p14:sldIdLst>
        </p14:section>
        <p14:section name="개념" id="{ec0856f6-3783-5475-47a6-6a1c7d997c1a}">
          <p14:sldIdLst/>
        </p14:section>
        <p14:section name="연습" id="{6490c994-26b1-ea43-90ff-c15a4734c010}">
          <p14:sldIdLst/>
        </p14:section>
        <p14:section name="개념" id="{f4b0406a-7212-d4d7-7094-d7809a585233}">
          <p14:sldIdLst/>
        </p14:section>
        <p14:section name="연습" id="{07c1f7ca-f266-1325-2f31-6546183cdc71}">
          <p14:sldIdLst/>
        </p14:section>
        <p14:section name="확인" id="{3312e984-29fe-4a9a-b174-b8e3c02b78fd}">
          <p14:sldIdLst>
            <p14:sldId id="266"/>
            <p14:sldId id="267"/>
          </p14:sldIdLst>
        </p14:section>
        <p14:section name="정리" id="{60781d4f-3d90-9069-1129-f7bd4e8c230d}">
          <p14:sldIdLst>
            <p14:sldId id="268"/>
          </p14:sldIdLst>
        </p14:section>
        <p14:section name="보충" id="{d8d40a1b-0004-3df9-ef03-0cfa662945c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국토와생활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국토의 자연환경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국토의 자연환경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국토의 자연환경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국토의 자연환경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우리나라의 땅과 날씨에는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특징이 있을까요?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우리나라 지형의 특징을 그림으로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계절에 따른 기후의 특징을 그래프로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 둘레의 세 바다의 이름은?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방위표가 없을 때 지도의 오른쪽은 어느 방위인가요?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등고선의 숫자가 클수록 어떤 곳인가요?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동쪽이 높고 서쪽이 낮아요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국토의 많은 부분이 산지예요.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산지는 동쪽에 많고 서쪽은 낮아요.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큰 강은 대부분 서해나 남해로 흘러요.</a:t>
            </a:r>
            <a:endParaRPr lang="ko-KR" sz="2800" dirty="0"/>
          </a:p>
        </p:txBody>
      </p:sp>
      <p:sp>
        <p:nvSpPr>
          <p:cNvPr id="6" name="S03-figure12" descr="우리나라 땅을 서쪽에서 동쪽으로 자른 모습을 간단히 나타낸 그림: 서해 쪽은 낮은 평야, 동쪽으로 갈수록 높아져 동해 가까이에 높은 산지가 있고, 동해 쪽으로는 급하게 낮아짐. 강물은 산지에서 서쪽 낮은 곳으로 흐르는 화살표"/>
          <p:cNvSpPr/>
          <p:nvPr/>
        </p:nvSpPr>
        <p:spPr>
          <a:xfrm>
            <a:off x="2715085" y="3965429"/>
            <a:ext cx="6758781" cy="292881"/>
          </a:xfrm>
          <a:custGeom>
            <a:avLst/>
            <a:gdLst/>
            <a:ahLst/>
            <a:cxnLst/>
            <a:rect l="l" t="t" r="r" b="b"/>
            <a:pathLst>
              <a:path w="6758781" h="292881">
                <a:moveTo>
                  <a:pt x="0" y="292881"/>
                </a:moveTo>
                <a:lnTo>
                  <a:pt x="6758781" y="292881"/>
                </a:lnTo>
                <a:lnTo>
                  <a:pt x="6758781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7" name="S03-mark13"/>
          <p:cNvSpPr/>
          <p:nvPr/>
        </p:nvSpPr>
        <p:spPr>
          <a:xfrm>
            <a:off x="3436022" y="2735331"/>
            <a:ext cx="5136674" cy="1522979"/>
          </a:xfrm>
          <a:custGeom>
            <a:avLst/>
            <a:gdLst/>
            <a:ahLst/>
            <a:cxnLst/>
            <a:rect l="l" t="t" r="r" b="b"/>
            <a:pathLst>
              <a:path w="5136674" h="1522979">
                <a:moveTo>
                  <a:pt x="0" y="1522979"/>
                </a:moveTo>
                <a:lnTo>
                  <a:pt x="0" y="1186391"/>
                </a:lnTo>
                <a:lnTo>
                  <a:pt x="630820" y="1157103"/>
                </a:lnTo>
                <a:lnTo>
                  <a:pt x="1306698" y="1127365"/>
                </a:lnTo>
                <a:lnTo>
                  <a:pt x="1757283" y="995794"/>
                </a:lnTo>
                <a:lnTo>
                  <a:pt x="2207869" y="1054370"/>
                </a:lnTo>
                <a:lnTo>
                  <a:pt x="2658454" y="849354"/>
                </a:lnTo>
                <a:lnTo>
                  <a:pt x="3109039" y="907930"/>
                </a:lnTo>
                <a:lnTo>
                  <a:pt x="3559625" y="585761"/>
                </a:lnTo>
                <a:lnTo>
                  <a:pt x="4010210" y="292881"/>
                </a:lnTo>
                <a:lnTo>
                  <a:pt x="4325620" y="0"/>
                </a:lnTo>
                <a:lnTo>
                  <a:pt x="4550913" y="175728"/>
                </a:lnTo>
                <a:lnTo>
                  <a:pt x="4821264" y="644337"/>
                </a:lnTo>
                <a:lnTo>
                  <a:pt x="5091615" y="1186391"/>
                </a:lnTo>
                <a:lnTo>
                  <a:pt x="5136674" y="1522979"/>
                </a:lnTo>
                <a:close/>
              </a:path>
            </a:pathLst>
          </a:custGeom>
          <a:solidFill>
            <a:srgbClr val="D9C49A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8" name="S03-mark14"/>
          <p:cNvSpPr/>
          <p:nvPr/>
        </p:nvSpPr>
        <p:spPr>
          <a:xfrm>
            <a:off x="3255788" y="2185617"/>
            <a:ext cx="567737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3-mark15"/>
          <p:cNvSpPr/>
          <p:nvPr/>
        </p:nvSpPr>
        <p:spPr>
          <a:xfrm flipH="1">
            <a:off x="4697661" y="3447256"/>
            <a:ext cx="1892459" cy="225293"/>
          </a:xfrm>
          <a:prstGeom prst="line">
            <a:avLst/>
          </a:prstGeom>
          <a:noFill/>
          <a:ln w="3810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10" name="S03-label17"/>
          <p:cNvSpPr txBox="1"/>
          <p:nvPr/>
        </p:nvSpPr>
        <p:spPr>
          <a:xfrm>
            <a:off x="2726079" y="201099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200" dirty="0"/>
          </a:p>
        </p:txBody>
      </p:sp>
      <p:sp>
        <p:nvSpPr>
          <p:cNvPr id="11" name="S03-label19"/>
          <p:cNvSpPr txBox="1"/>
          <p:nvPr/>
        </p:nvSpPr>
        <p:spPr>
          <a:xfrm>
            <a:off x="9079333" y="201099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200" dirty="0"/>
          </a:p>
        </p:txBody>
      </p:sp>
      <p:sp>
        <p:nvSpPr>
          <p:cNvPr id="12" name="S03-label21"/>
          <p:cNvSpPr txBox="1"/>
          <p:nvPr/>
        </p:nvSpPr>
        <p:spPr>
          <a:xfrm>
            <a:off x="2796662" y="3971248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서해</a:t>
            </a:r>
            <a:endParaRPr lang="ko-KR" sz="1800" dirty="0"/>
          </a:p>
        </p:txBody>
      </p:sp>
      <p:sp>
        <p:nvSpPr>
          <p:cNvPr id="13" name="S03-label23"/>
          <p:cNvSpPr txBox="1"/>
          <p:nvPr/>
        </p:nvSpPr>
        <p:spPr>
          <a:xfrm>
            <a:off x="8789448" y="3971248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동해</a:t>
            </a:r>
            <a:endParaRPr lang="ko-KR" sz="1800" dirty="0"/>
          </a:p>
        </p:txBody>
      </p:sp>
      <p:sp>
        <p:nvSpPr>
          <p:cNvPr id="14" name="S03-label25"/>
          <p:cNvSpPr txBox="1"/>
          <p:nvPr/>
        </p:nvSpPr>
        <p:spPr>
          <a:xfrm>
            <a:off x="3742891" y="3507145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평야</a:t>
            </a:r>
            <a:endParaRPr lang="ko-KR" sz="1800" dirty="0"/>
          </a:p>
        </p:txBody>
      </p:sp>
      <p:sp>
        <p:nvSpPr>
          <p:cNvPr id="15" name="S03-label27"/>
          <p:cNvSpPr txBox="1"/>
          <p:nvPr/>
        </p:nvSpPr>
        <p:spPr>
          <a:xfrm>
            <a:off x="7224432" y="2358152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산지</a:t>
            </a:r>
            <a:endParaRPr lang="ko-KR" sz="1800" dirty="0"/>
          </a:p>
        </p:txBody>
      </p:sp>
      <p:sp>
        <p:nvSpPr>
          <p:cNvPr id="16" name="S03-label29"/>
          <p:cNvSpPr txBox="1"/>
          <p:nvPr/>
        </p:nvSpPr>
        <p:spPr>
          <a:xfrm>
            <a:off x="4781407" y="3056559"/>
            <a:ext cx="18150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2F6F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강물이 흐르는 쪽</a:t>
            </a:r>
            <a:endParaRPr lang="ko-KR" sz="1800" dirty="0"/>
          </a:p>
        </p:txBody>
      </p:sp>
      <p:sp>
        <p:nvSpPr>
          <p:cNvPr id="17" name="S03-label30"/>
          <p:cNvSpPr txBox="1"/>
          <p:nvPr/>
        </p:nvSpPr>
        <p:spPr>
          <a:xfrm>
            <a:off x="548640" y="4415282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서쪽에서 동쪽으로 자른 모습(간단히 나타낸 그림)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자른 그림을 읽어요</a:t>
            </a:r>
            <a:endParaRPr lang="ko-KR" sz="4000" dirty="0"/>
          </a:p>
        </p:txBody>
      </p:sp>
      <p:sp>
        <p:nvSpPr>
          <p:cNvPr id="3" name="S04-figure31" descr="서쪽에서 동쪽으로 자른 간단한 그림: 서해 쪽 낮은 땅 가, 가운데 낮은 언덕 나, 동해 가까이의 높은 산지 다"/>
          <p:cNvSpPr/>
          <p:nvPr/>
        </p:nvSpPr>
        <p:spPr>
          <a:xfrm>
            <a:off x="6361176" y="4152849"/>
            <a:ext cx="5195316" cy="225130"/>
          </a:xfrm>
          <a:custGeom>
            <a:avLst/>
            <a:gdLst/>
            <a:ahLst/>
            <a:cxnLst/>
            <a:rect l="l" t="t" r="r" b="b"/>
            <a:pathLst>
              <a:path w="5195316" h="225130">
                <a:moveTo>
                  <a:pt x="0" y="225130"/>
                </a:moveTo>
                <a:lnTo>
                  <a:pt x="5195316" y="225130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4-mark32"/>
          <p:cNvSpPr/>
          <p:nvPr/>
        </p:nvSpPr>
        <p:spPr>
          <a:xfrm>
            <a:off x="6915343" y="3207302"/>
            <a:ext cx="3948440" cy="1170678"/>
          </a:xfrm>
          <a:custGeom>
            <a:avLst/>
            <a:gdLst/>
            <a:ahLst/>
            <a:cxnLst/>
            <a:rect l="l" t="t" r="r" b="b"/>
            <a:pathLst>
              <a:path w="3948440" h="1170678">
                <a:moveTo>
                  <a:pt x="0" y="1170678"/>
                </a:moveTo>
                <a:lnTo>
                  <a:pt x="0" y="911951"/>
                </a:lnTo>
                <a:lnTo>
                  <a:pt x="484896" y="889438"/>
                </a:lnTo>
                <a:lnTo>
                  <a:pt x="1004428" y="866579"/>
                </a:lnTo>
                <a:lnTo>
                  <a:pt x="1350782" y="765443"/>
                </a:lnTo>
                <a:lnTo>
                  <a:pt x="1697137" y="810469"/>
                </a:lnTo>
                <a:lnTo>
                  <a:pt x="2043491" y="652878"/>
                </a:lnTo>
                <a:lnTo>
                  <a:pt x="2389845" y="697904"/>
                </a:lnTo>
                <a:lnTo>
                  <a:pt x="2736200" y="450261"/>
                </a:lnTo>
                <a:lnTo>
                  <a:pt x="3082554" y="225130"/>
                </a:lnTo>
                <a:lnTo>
                  <a:pt x="3325002" y="0"/>
                </a:lnTo>
                <a:lnTo>
                  <a:pt x="3498179" y="135078"/>
                </a:lnTo>
                <a:lnTo>
                  <a:pt x="3705992" y="495287"/>
                </a:lnTo>
                <a:lnTo>
                  <a:pt x="3913805" y="911951"/>
                </a:lnTo>
                <a:lnTo>
                  <a:pt x="3948440" y="1170678"/>
                </a:lnTo>
                <a:close/>
              </a:path>
            </a:pathLst>
          </a:custGeom>
          <a:solidFill>
            <a:srgbClr val="D9C49A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" name="S04-mark33"/>
          <p:cNvSpPr/>
          <p:nvPr/>
        </p:nvSpPr>
        <p:spPr>
          <a:xfrm>
            <a:off x="6776801" y="2784749"/>
            <a:ext cx="436406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6" name="S04-label35"/>
          <p:cNvSpPr txBox="1"/>
          <p:nvPr/>
        </p:nvSpPr>
        <p:spPr>
          <a:xfrm>
            <a:off x="6325265" y="261012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200" dirty="0"/>
          </a:p>
        </p:txBody>
      </p:sp>
      <p:sp>
        <p:nvSpPr>
          <p:cNvPr id="7" name="S04-label37"/>
          <p:cNvSpPr txBox="1"/>
          <p:nvPr/>
        </p:nvSpPr>
        <p:spPr>
          <a:xfrm>
            <a:off x="11208863" y="261012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200" dirty="0"/>
          </a:p>
        </p:txBody>
      </p:sp>
      <p:sp>
        <p:nvSpPr>
          <p:cNvPr id="8" name="S04-label39"/>
          <p:cNvSpPr txBox="1"/>
          <p:nvPr/>
        </p:nvSpPr>
        <p:spPr>
          <a:xfrm>
            <a:off x="6359368" y="412427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서해</a:t>
            </a:r>
            <a:endParaRPr lang="ko-KR" sz="1800" dirty="0"/>
          </a:p>
        </p:txBody>
      </p:sp>
      <p:sp>
        <p:nvSpPr>
          <p:cNvPr id="9" name="S04-label41"/>
          <p:cNvSpPr txBox="1"/>
          <p:nvPr/>
        </p:nvSpPr>
        <p:spPr>
          <a:xfrm>
            <a:off x="10965881" y="412427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동해</a:t>
            </a:r>
            <a:endParaRPr lang="ko-KR" sz="1800" dirty="0"/>
          </a:p>
        </p:txBody>
      </p:sp>
      <p:sp>
        <p:nvSpPr>
          <p:cNvPr id="10" name="S04-labelbg43"/>
          <p:cNvSpPr/>
          <p:nvPr/>
        </p:nvSpPr>
        <p:spPr>
          <a:xfrm>
            <a:off x="7219554" y="3770701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04-label44"/>
          <p:cNvSpPr txBox="1"/>
          <p:nvPr/>
        </p:nvSpPr>
        <p:spPr>
          <a:xfrm>
            <a:off x="7173834" y="373577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2" name="S04-labelbg46"/>
          <p:cNvSpPr/>
          <p:nvPr/>
        </p:nvSpPr>
        <p:spPr>
          <a:xfrm>
            <a:off x="8812784" y="3528253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04-label47"/>
          <p:cNvSpPr txBox="1"/>
          <p:nvPr/>
        </p:nvSpPr>
        <p:spPr>
          <a:xfrm>
            <a:off x="8767064" y="349332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4" name="S04-labelbg49"/>
          <p:cNvSpPr/>
          <p:nvPr/>
        </p:nvSpPr>
        <p:spPr>
          <a:xfrm>
            <a:off x="10094295" y="2887497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04-label50"/>
          <p:cNvSpPr txBox="1"/>
          <p:nvPr/>
        </p:nvSpPr>
        <p:spPr>
          <a:xfrm>
            <a:off x="10048575" y="285257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6" name="S04-label51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자른 모습(간단한 그림)</a:t>
            </a:r>
            <a:endParaRPr lang="ko-KR" sz="2200" dirty="0"/>
          </a:p>
        </p:txBody>
      </p:sp>
      <p:sp>
        <p:nvSpPr>
          <p:cNvPr id="17" name="S04-chip5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8" name="S04-text5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 가운데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높은 곳은?</a:t>
            </a:r>
            <a:endParaRPr lang="ko-KR" sz="2800" dirty="0"/>
          </a:p>
        </p:txBody>
      </p:sp>
      <p:sp>
        <p:nvSpPr>
          <p:cNvPr id="19" name="S04-chip5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0" name="S04-text55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강물은 주로 어느 쪽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바다로 흐를까요?</a:t>
            </a:r>
            <a:endParaRPr lang="ko-KR" sz="2800" dirty="0"/>
          </a:p>
        </p:txBody>
      </p:sp>
      <p:sp>
        <p:nvSpPr>
          <p:cNvPr id="21" name="S04-chip5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4-text57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평야가 있을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 같은 곳은?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땅이 더 많을까요?</a:t>
            </a:r>
            <a:endParaRPr lang="ko-KR" sz="4000" dirty="0"/>
          </a:p>
        </p:txBody>
      </p:sp>
      <p:sp>
        <p:nvSpPr>
          <p:cNvPr id="3" name="S05-card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동네에는 아파트와 평평한 길이 많아요.</a:t>
            </a:r>
            <a:endParaRPr lang="ko-KR" sz="2800" dirty="0"/>
          </a:p>
        </p:txBody>
      </p:sp>
      <p:sp>
        <p:nvSpPr>
          <p:cNvPr id="5" name="S05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무엇을 보면 알 수 있을까요?</a:t>
            </a:r>
            <a:endParaRPr lang="ko-KR" sz="2800" dirty="0"/>
          </a:p>
        </p:txBody>
      </p:sp>
      <p:sp>
        <p:nvSpPr>
          <p:cNvPr id="7" name="S05-chip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5-text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“그러니까 우리나라는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산보다 평평한 땅이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많아요.”</a:t>
            </a:r>
            <a:endParaRPr lang="ko-KR" sz="2800" dirty="0"/>
          </a:p>
        </p:txBody>
      </p:sp>
      <p:sp>
        <p:nvSpPr>
          <p:cNvPr id="9" name="S05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5-text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 동네만 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수 없어요. 국토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보면 산지가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많아요.”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사계절이 뚜렷해요</a:t>
            </a:r>
            <a:endParaRPr lang="ko-KR" sz="4000" dirty="0"/>
          </a:p>
        </p:txBody>
      </p:sp>
      <p:sp>
        <p:nvSpPr>
          <p:cNvPr id="3" name="S06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계절마다 기온과 비의 양이 많이 달라요.</a:t>
            </a:r>
            <a:endParaRPr lang="ko-KR" sz="2800" dirty="0"/>
          </a:p>
        </p:txBody>
      </p:sp>
      <p:sp>
        <p:nvSpPr>
          <p:cNvPr id="5" name="S06-card68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69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따뜻해지고 건조한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날이 많아요.</a:t>
            </a:r>
            <a:endParaRPr lang="ko-KR" sz="2800" dirty="0"/>
          </a:p>
        </p:txBody>
      </p:sp>
      <p:sp>
        <p:nvSpPr>
          <p:cNvPr id="7" name="S06-card70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71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비가 많이 와요.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장마와 태풍이 있어요.</a:t>
            </a:r>
            <a:endParaRPr lang="ko-KR" sz="2800" dirty="0"/>
          </a:p>
        </p:txBody>
      </p:sp>
      <p:sp>
        <p:nvSpPr>
          <p:cNvPr id="9" name="S06-card72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73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맑고 선선한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날이 많아요.</a:t>
            </a:r>
            <a:endParaRPr lang="ko-KR" sz="2800" dirty="0"/>
          </a:p>
        </p:txBody>
      </p:sp>
      <p:sp>
        <p:nvSpPr>
          <p:cNvPr id="11" name="S06-card74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6-cardtext75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춥고 건조해요.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오기도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비가 많이 와요</a:t>
            </a:r>
            <a:endParaRPr lang="ko-KR" sz="4000" dirty="0"/>
          </a:p>
        </p:txBody>
      </p:sp>
      <p:sp>
        <p:nvSpPr>
          <p:cNvPr id="3" name="S07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도시 ‘가람시’의 예시 그래프예요.</a:t>
            </a:r>
            <a:endParaRPr lang="ko-KR" sz="2800" dirty="0"/>
          </a:p>
        </p:txBody>
      </p:sp>
      <p:sp>
        <p:nvSpPr>
          <p:cNvPr id="4" name="S07-figure77" descr="막대그래프(지어낸 예시): 가람시의 계절별 비의 양. 봄 200 mm, 여름 700 mm, 가을 300 mm, 겨울 100 mm"/>
          <p:cNvSpPr/>
          <p:nvPr/>
        </p:nvSpPr>
        <p:spPr>
          <a:xfrm>
            <a:off x="1999526" y="4998244"/>
            <a:ext cx="656273" cy="631031"/>
          </a:xfrm>
          <a:custGeom>
            <a:avLst/>
            <a:gdLst/>
            <a:ahLst/>
            <a:cxnLst/>
            <a:rect l="l" t="t" r="r" b="b"/>
            <a:pathLst>
              <a:path w="656273" h="631031">
                <a:moveTo>
                  <a:pt x="0" y="631031"/>
                </a:moveTo>
                <a:lnTo>
                  <a:pt x="656273" y="631031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7-mark78"/>
          <p:cNvSpPr/>
          <p:nvPr/>
        </p:nvSpPr>
        <p:spPr>
          <a:xfrm>
            <a:off x="3160624" y="3420666"/>
            <a:ext cx="656273" cy="2208609"/>
          </a:xfrm>
          <a:custGeom>
            <a:avLst/>
            <a:gdLst/>
            <a:ahLst/>
            <a:cxnLst/>
            <a:rect l="l" t="t" r="r" b="b"/>
            <a:pathLst>
              <a:path w="656273" h="2208609">
                <a:moveTo>
                  <a:pt x="0" y="2208609"/>
                </a:moveTo>
                <a:lnTo>
                  <a:pt x="656273" y="2208609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7-mark79"/>
          <p:cNvSpPr/>
          <p:nvPr/>
        </p:nvSpPr>
        <p:spPr>
          <a:xfrm>
            <a:off x="4321721" y="4682728"/>
            <a:ext cx="656273" cy="946547"/>
          </a:xfrm>
          <a:custGeom>
            <a:avLst/>
            <a:gdLst/>
            <a:ahLst/>
            <a:cxnLst/>
            <a:rect l="l" t="t" r="r" b="b"/>
            <a:pathLst>
              <a:path w="656273" h="946547">
                <a:moveTo>
                  <a:pt x="0" y="946547"/>
                </a:moveTo>
                <a:lnTo>
                  <a:pt x="656273" y="946547"/>
                </a:lnTo>
                <a:lnTo>
                  <a:pt x="656273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7-mark80"/>
          <p:cNvSpPr/>
          <p:nvPr/>
        </p:nvSpPr>
        <p:spPr>
          <a:xfrm>
            <a:off x="5482819" y="5313759"/>
            <a:ext cx="656272" cy="315516"/>
          </a:xfrm>
          <a:custGeom>
            <a:avLst/>
            <a:gdLst/>
            <a:ahLst/>
            <a:cxnLst/>
            <a:rect l="l" t="t" r="r" b="b"/>
            <a:pathLst>
              <a:path w="656272" h="315516">
                <a:moveTo>
                  <a:pt x="0" y="315516"/>
                </a:moveTo>
                <a:lnTo>
                  <a:pt x="656272" y="315516"/>
                </a:lnTo>
                <a:lnTo>
                  <a:pt x="656272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7-mark81"/>
          <p:cNvSpPr/>
          <p:nvPr/>
        </p:nvSpPr>
        <p:spPr>
          <a:xfrm>
            <a:off x="1494701" y="5313759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9" name="S07-mark82"/>
          <p:cNvSpPr/>
          <p:nvPr/>
        </p:nvSpPr>
        <p:spPr>
          <a:xfrm>
            <a:off x="1494701" y="4998244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0" name="S07-mark83"/>
          <p:cNvSpPr/>
          <p:nvPr/>
        </p:nvSpPr>
        <p:spPr>
          <a:xfrm>
            <a:off x="1494701" y="4682728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1" name="S07-mark84"/>
          <p:cNvSpPr/>
          <p:nvPr/>
        </p:nvSpPr>
        <p:spPr>
          <a:xfrm>
            <a:off x="1494701" y="4367213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S07-mark85"/>
          <p:cNvSpPr/>
          <p:nvPr/>
        </p:nvSpPr>
        <p:spPr>
          <a:xfrm>
            <a:off x="1494701" y="4051697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07-mark86"/>
          <p:cNvSpPr/>
          <p:nvPr/>
        </p:nvSpPr>
        <p:spPr>
          <a:xfrm>
            <a:off x="1494701" y="3736181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07-mark87"/>
          <p:cNvSpPr/>
          <p:nvPr/>
        </p:nvSpPr>
        <p:spPr>
          <a:xfrm>
            <a:off x="1494701" y="3420666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S07-mark88"/>
          <p:cNvSpPr/>
          <p:nvPr/>
        </p:nvSpPr>
        <p:spPr>
          <a:xfrm>
            <a:off x="1494701" y="3105150"/>
            <a:ext cx="5149215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6" name="S07-mark89"/>
          <p:cNvSpPr/>
          <p:nvPr/>
        </p:nvSpPr>
        <p:spPr>
          <a:xfrm flipV="1">
            <a:off x="1494701" y="2903220"/>
            <a:ext cx="0" cy="272605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mark90"/>
          <p:cNvSpPr/>
          <p:nvPr/>
        </p:nvSpPr>
        <p:spPr>
          <a:xfrm>
            <a:off x="1494701" y="5629275"/>
            <a:ext cx="514921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92"/>
          <p:cNvSpPr txBox="1"/>
          <p:nvPr/>
        </p:nvSpPr>
        <p:spPr>
          <a:xfrm>
            <a:off x="985780" y="5486400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19" name="S07-label94"/>
          <p:cNvSpPr txBox="1"/>
          <p:nvPr/>
        </p:nvSpPr>
        <p:spPr>
          <a:xfrm>
            <a:off x="834904" y="4855369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800" dirty="0"/>
          </a:p>
        </p:txBody>
      </p:sp>
      <p:sp>
        <p:nvSpPr>
          <p:cNvPr id="20" name="S07-label96"/>
          <p:cNvSpPr txBox="1"/>
          <p:nvPr/>
        </p:nvSpPr>
        <p:spPr>
          <a:xfrm>
            <a:off x="834904" y="4224338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1800" dirty="0"/>
          </a:p>
        </p:txBody>
      </p:sp>
      <p:sp>
        <p:nvSpPr>
          <p:cNvPr id="21" name="S07-label98"/>
          <p:cNvSpPr txBox="1"/>
          <p:nvPr/>
        </p:nvSpPr>
        <p:spPr>
          <a:xfrm>
            <a:off x="834904" y="359330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2" name="S07-label100"/>
          <p:cNvSpPr txBox="1"/>
          <p:nvPr/>
        </p:nvSpPr>
        <p:spPr>
          <a:xfrm>
            <a:off x="834904" y="2962275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</a:t>
            </a:r>
            <a:endParaRPr lang="ko-KR" sz="1800" dirty="0"/>
          </a:p>
        </p:txBody>
      </p:sp>
      <p:sp>
        <p:nvSpPr>
          <p:cNvPr id="23" name="S07-label102"/>
          <p:cNvSpPr txBox="1"/>
          <p:nvPr/>
        </p:nvSpPr>
        <p:spPr>
          <a:xfrm>
            <a:off x="1014260" y="2507933"/>
            <a:ext cx="7589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(mm)</a:t>
            </a:r>
            <a:endParaRPr lang="ko-KR" sz="1800" dirty="0"/>
          </a:p>
        </p:txBody>
      </p:sp>
      <p:sp>
        <p:nvSpPr>
          <p:cNvPr id="24" name="S07-label104"/>
          <p:cNvSpPr txBox="1"/>
          <p:nvPr/>
        </p:nvSpPr>
        <p:spPr>
          <a:xfrm>
            <a:off x="2046484" y="4653439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800" dirty="0"/>
          </a:p>
        </p:txBody>
      </p:sp>
      <p:sp>
        <p:nvSpPr>
          <p:cNvPr id="25" name="S07-label106"/>
          <p:cNvSpPr txBox="1"/>
          <p:nvPr/>
        </p:nvSpPr>
        <p:spPr>
          <a:xfrm>
            <a:off x="2160784" y="5764054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1800" dirty="0"/>
          </a:p>
        </p:txBody>
      </p:sp>
      <p:sp>
        <p:nvSpPr>
          <p:cNvPr id="26" name="S07-label108"/>
          <p:cNvSpPr txBox="1"/>
          <p:nvPr/>
        </p:nvSpPr>
        <p:spPr>
          <a:xfrm>
            <a:off x="3207582" y="3075861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</a:t>
            </a:r>
            <a:endParaRPr lang="ko-KR" sz="1800" dirty="0"/>
          </a:p>
        </p:txBody>
      </p:sp>
      <p:sp>
        <p:nvSpPr>
          <p:cNvPr id="27" name="S07-label110"/>
          <p:cNvSpPr txBox="1"/>
          <p:nvPr/>
        </p:nvSpPr>
        <p:spPr>
          <a:xfrm>
            <a:off x="3209868" y="576405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1800" dirty="0"/>
          </a:p>
        </p:txBody>
      </p:sp>
      <p:sp>
        <p:nvSpPr>
          <p:cNvPr id="28" name="S07-label112"/>
          <p:cNvSpPr txBox="1"/>
          <p:nvPr/>
        </p:nvSpPr>
        <p:spPr>
          <a:xfrm>
            <a:off x="4368679" y="4337923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1800" dirty="0"/>
          </a:p>
        </p:txBody>
      </p:sp>
      <p:sp>
        <p:nvSpPr>
          <p:cNvPr id="29" name="S07-label114"/>
          <p:cNvSpPr txBox="1"/>
          <p:nvPr/>
        </p:nvSpPr>
        <p:spPr>
          <a:xfrm>
            <a:off x="4370965" y="576405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1800" dirty="0"/>
          </a:p>
        </p:txBody>
      </p:sp>
      <p:sp>
        <p:nvSpPr>
          <p:cNvPr id="30" name="S07-label116"/>
          <p:cNvSpPr txBox="1"/>
          <p:nvPr/>
        </p:nvSpPr>
        <p:spPr>
          <a:xfrm>
            <a:off x="5529777" y="4968954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800" dirty="0"/>
          </a:p>
        </p:txBody>
      </p:sp>
      <p:sp>
        <p:nvSpPr>
          <p:cNvPr id="31" name="S07-label118"/>
          <p:cNvSpPr txBox="1"/>
          <p:nvPr/>
        </p:nvSpPr>
        <p:spPr>
          <a:xfrm>
            <a:off x="5532063" y="576405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1800" dirty="0"/>
          </a:p>
        </p:txBody>
      </p:sp>
      <p:sp>
        <p:nvSpPr>
          <p:cNvPr id="32" name="S07-label120"/>
          <p:cNvSpPr txBox="1"/>
          <p:nvPr/>
        </p:nvSpPr>
        <p:spPr>
          <a:xfrm>
            <a:off x="2430247" y="2154555"/>
            <a:ext cx="32781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가람시의 계절별 비의 양(예시)</a:t>
            </a:r>
            <a:endParaRPr lang="ko-KR" sz="1800" dirty="0"/>
          </a:p>
        </p:txBody>
      </p:sp>
      <p:sp>
        <p:nvSpPr>
          <p:cNvPr id="33" name="S07-card121"/>
          <p:cNvSpPr/>
          <p:nvPr/>
        </p:nvSpPr>
        <p:spPr>
          <a:xfrm>
            <a:off x="7349947" y="2090928"/>
            <a:ext cx="4290365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7-cardtext122"/>
          <p:cNvSpPr txBox="1"/>
          <p:nvPr/>
        </p:nvSpPr>
        <p:spPr>
          <a:xfrm>
            <a:off x="7624267" y="2228088"/>
            <a:ext cx="374172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비가 가장 많이 와요.</a:t>
            </a:r>
            <a:endParaRPr lang="ko-KR" sz="2800" dirty="0"/>
          </a:p>
        </p:txBody>
      </p:sp>
      <p:sp>
        <p:nvSpPr>
          <p:cNvPr id="35" name="S07-card123"/>
          <p:cNvSpPr/>
          <p:nvPr/>
        </p:nvSpPr>
        <p:spPr>
          <a:xfrm>
            <a:off x="7349947" y="3516376"/>
            <a:ext cx="4290365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6" name="S07-cardtext124"/>
          <p:cNvSpPr txBox="1"/>
          <p:nvPr/>
        </p:nvSpPr>
        <p:spPr>
          <a:xfrm>
            <a:off x="7624267" y="3653536"/>
            <a:ext cx="374172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겨울에는 비(눈)가 가장 적어요.</a:t>
            </a:r>
            <a:endParaRPr lang="ko-KR" sz="2800" dirty="0"/>
          </a:p>
        </p:txBody>
      </p:sp>
      <p:sp>
        <p:nvSpPr>
          <p:cNvPr id="37" name="S07-card125"/>
          <p:cNvSpPr/>
          <p:nvPr/>
        </p:nvSpPr>
        <p:spPr>
          <a:xfrm>
            <a:off x="7349947" y="4941824"/>
            <a:ext cx="4290365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8" name="S07-cardtext126"/>
          <p:cNvSpPr txBox="1"/>
          <p:nvPr/>
        </p:nvSpPr>
        <p:spPr>
          <a:xfrm>
            <a:off x="7624267" y="5078984"/>
            <a:ext cx="3741725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여름에는 비 피해에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대비해요.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 그래프를 읽어요</a:t>
            </a:r>
            <a:endParaRPr lang="ko-KR" sz="4000" dirty="0"/>
          </a:p>
        </p:txBody>
      </p:sp>
      <p:sp>
        <p:nvSpPr>
          <p:cNvPr id="3" name="S08-figure127" descr="막대그래프(지어낸 예시): 가람시의 평균 기온. 1월 4 °C, 4월 14 °C, 7월 26 °C, 10월 18 °C"/>
          <p:cNvSpPr/>
          <p:nvPr/>
        </p:nvSpPr>
        <p:spPr>
          <a:xfrm>
            <a:off x="7443534" y="4781956"/>
            <a:ext cx="562826" cy="288773"/>
          </a:xfrm>
          <a:custGeom>
            <a:avLst/>
            <a:gdLst/>
            <a:ahLst/>
            <a:cxnLst/>
            <a:rect l="l" t="t" r="r" b="b"/>
            <a:pathLst>
              <a:path w="562826" h="288773">
                <a:moveTo>
                  <a:pt x="0" y="288773"/>
                </a:moveTo>
                <a:lnTo>
                  <a:pt x="562826" y="288773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08-mark128"/>
          <p:cNvSpPr/>
          <p:nvPr/>
        </p:nvSpPr>
        <p:spPr>
          <a:xfrm>
            <a:off x="8439302" y="4060673"/>
            <a:ext cx="562826" cy="1010056"/>
          </a:xfrm>
          <a:custGeom>
            <a:avLst/>
            <a:gdLst/>
            <a:ahLst/>
            <a:cxnLst/>
            <a:rect l="l" t="t" r="r" b="b"/>
            <a:pathLst>
              <a:path w="562826" h="1010056">
                <a:moveTo>
                  <a:pt x="0" y="1010056"/>
                </a:moveTo>
                <a:lnTo>
                  <a:pt x="562826" y="1010056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8-mark129"/>
          <p:cNvSpPr/>
          <p:nvPr/>
        </p:nvSpPr>
        <p:spPr>
          <a:xfrm>
            <a:off x="9435071" y="3194787"/>
            <a:ext cx="562826" cy="1875942"/>
          </a:xfrm>
          <a:custGeom>
            <a:avLst/>
            <a:gdLst/>
            <a:ahLst/>
            <a:cxnLst/>
            <a:rect l="l" t="t" r="r" b="b"/>
            <a:pathLst>
              <a:path w="562826" h="1875942">
                <a:moveTo>
                  <a:pt x="0" y="1875942"/>
                </a:moveTo>
                <a:lnTo>
                  <a:pt x="562826" y="1875942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8-mark130"/>
          <p:cNvSpPr/>
          <p:nvPr/>
        </p:nvSpPr>
        <p:spPr>
          <a:xfrm>
            <a:off x="10430840" y="3771900"/>
            <a:ext cx="562826" cy="1298829"/>
          </a:xfrm>
          <a:custGeom>
            <a:avLst/>
            <a:gdLst/>
            <a:ahLst/>
            <a:cxnLst/>
            <a:rect l="l" t="t" r="r" b="b"/>
            <a:pathLst>
              <a:path w="562826" h="1298829">
                <a:moveTo>
                  <a:pt x="0" y="1298829"/>
                </a:moveTo>
                <a:lnTo>
                  <a:pt x="562826" y="1298829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8-mark131"/>
          <p:cNvSpPr/>
          <p:nvPr/>
        </p:nvSpPr>
        <p:spPr>
          <a:xfrm>
            <a:off x="7010591" y="4709943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8" name="S08-mark132"/>
          <p:cNvSpPr/>
          <p:nvPr/>
        </p:nvSpPr>
        <p:spPr>
          <a:xfrm>
            <a:off x="7010591" y="4349157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9" name="S08-mark133"/>
          <p:cNvSpPr/>
          <p:nvPr/>
        </p:nvSpPr>
        <p:spPr>
          <a:xfrm>
            <a:off x="7010591" y="3988371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0" name="S08-mark134"/>
          <p:cNvSpPr/>
          <p:nvPr/>
        </p:nvSpPr>
        <p:spPr>
          <a:xfrm>
            <a:off x="7010591" y="3627586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1" name="S08-mark135"/>
          <p:cNvSpPr/>
          <p:nvPr/>
        </p:nvSpPr>
        <p:spPr>
          <a:xfrm>
            <a:off x="7010591" y="3266800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S08-mark136"/>
          <p:cNvSpPr/>
          <p:nvPr/>
        </p:nvSpPr>
        <p:spPr>
          <a:xfrm>
            <a:off x="7010591" y="2906014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08-mark137"/>
          <p:cNvSpPr/>
          <p:nvPr/>
        </p:nvSpPr>
        <p:spPr>
          <a:xfrm flipV="1">
            <a:off x="7010591" y="2732837"/>
            <a:ext cx="0" cy="23378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8-mark138"/>
          <p:cNvSpPr/>
          <p:nvPr/>
        </p:nvSpPr>
        <p:spPr>
          <a:xfrm>
            <a:off x="7010591" y="5070729"/>
            <a:ext cx="4416019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8-label140"/>
          <p:cNvSpPr txBox="1"/>
          <p:nvPr/>
        </p:nvSpPr>
        <p:spPr>
          <a:xfrm>
            <a:off x="6555581" y="4927854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16" name="S08-label142"/>
          <p:cNvSpPr txBox="1"/>
          <p:nvPr/>
        </p:nvSpPr>
        <p:spPr>
          <a:xfrm>
            <a:off x="6555581" y="4567212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17" name="S08-label144"/>
          <p:cNvSpPr txBox="1"/>
          <p:nvPr/>
        </p:nvSpPr>
        <p:spPr>
          <a:xfrm>
            <a:off x="6480143" y="4206138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18" name="S08-label146"/>
          <p:cNvSpPr txBox="1"/>
          <p:nvPr/>
        </p:nvSpPr>
        <p:spPr>
          <a:xfrm>
            <a:off x="6480143" y="3845496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1800" dirty="0"/>
          </a:p>
        </p:txBody>
      </p:sp>
      <p:sp>
        <p:nvSpPr>
          <p:cNvPr id="19" name="S08-label148"/>
          <p:cNvSpPr txBox="1"/>
          <p:nvPr/>
        </p:nvSpPr>
        <p:spPr>
          <a:xfrm>
            <a:off x="6480143" y="348485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800" dirty="0"/>
          </a:p>
        </p:txBody>
      </p:sp>
      <p:sp>
        <p:nvSpPr>
          <p:cNvPr id="20" name="S08-label150"/>
          <p:cNvSpPr txBox="1"/>
          <p:nvPr/>
        </p:nvSpPr>
        <p:spPr>
          <a:xfrm>
            <a:off x="6480143" y="3123781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1800" dirty="0"/>
          </a:p>
        </p:txBody>
      </p:sp>
      <p:sp>
        <p:nvSpPr>
          <p:cNvPr id="21" name="S08-label152"/>
          <p:cNvSpPr txBox="1"/>
          <p:nvPr/>
        </p:nvSpPr>
        <p:spPr>
          <a:xfrm>
            <a:off x="6480143" y="2763139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1800" dirty="0"/>
          </a:p>
        </p:txBody>
      </p:sp>
      <p:sp>
        <p:nvSpPr>
          <p:cNvPr id="22" name="S08-label154"/>
          <p:cNvSpPr txBox="1"/>
          <p:nvPr/>
        </p:nvSpPr>
        <p:spPr>
          <a:xfrm>
            <a:off x="6608534" y="2373490"/>
            <a:ext cx="6309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(°C)</a:t>
            </a:r>
            <a:endParaRPr lang="ko-KR" sz="1800" dirty="0"/>
          </a:p>
        </p:txBody>
      </p:sp>
      <p:sp>
        <p:nvSpPr>
          <p:cNvPr id="23" name="S08-label156"/>
          <p:cNvSpPr txBox="1"/>
          <p:nvPr/>
        </p:nvSpPr>
        <p:spPr>
          <a:xfrm>
            <a:off x="7594644" y="4465904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24" name="S08-label158"/>
          <p:cNvSpPr txBox="1"/>
          <p:nvPr/>
        </p:nvSpPr>
        <p:spPr>
          <a:xfrm>
            <a:off x="7482630" y="5165973"/>
            <a:ext cx="4846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</a:t>
            </a:r>
            <a:endParaRPr lang="ko-KR" sz="1800" dirty="0"/>
          </a:p>
        </p:txBody>
      </p:sp>
      <p:sp>
        <p:nvSpPr>
          <p:cNvPr id="25" name="S08-label160"/>
          <p:cNvSpPr txBox="1"/>
          <p:nvPr/>
        </p:nvSpPr>
        <p:spPr>
          <a:xfrm>
            <a:off x="8514975" y="3744621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1800" dirty="0"/>
          </a:p>
        </p:txBody>
      </p:sp>
      <p:sp>
        <p:nvSpPr>
          <p:cNvPr id="26" name="S08-label162"/>
          <p:cNvSpPr txBox="1"/>
          <p:nvPr/>
        </p:nvSpPr>
        <p:spPr>
          <a:xfrm>
            <a:off x="8478399" y="5165973"/>
            <a:ext cx="4846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ko-KR" sz="1800" dirty="0"/>
          </a:p>
        </p:txBody>
      </p:sp>
      <p:sp>
        <p:nvSpPr>
          <p:cNvPr id="27" name="S08-label164"/>
          <p:cNvSpPr txBox="1"/>
          <p:nvPr/>
        </p:nvSpPr>
        <p:spPr>
          <a:xfrm>
            <a:off x="9510744" y="287873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1800" dirty="0"/>
          </a:p>
        </p:txBody>
      </p:sp>
      <p:sp>
        <p:nvSpPr>
          <p:cNvPr id="28" name="S08-label166"/>
          <p:cNvSpPr txBox="1"/>
          <p:nvPr/>
        </p:nvSpPr>
        <p:spPr>
          <a:xfrm>
            <a:off x="9474168" y="5165973"/>
            <a:ext cx="4846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ko-KR" sz="1800" dirty="0"/>
          </a:p>
        </p:txBody>
      </p:sp>
      <p:sp>
        <p:nvSpPr>
          <p:cNvPr id="29" name="S08-label168"/>
          <p:cNvSpPr txBox="1"/>
          <p:nvPr/>
        </p:nvSpPr>
        <p:spPr>
          <a:xfrm>
            <a:off x="10506513" y="3455848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1800" dirty="0"/>
          </a:p>
        </p:txBody>
      </p:sp>
      <p:sp>
        <p:nvSpPr>
          <p:cNvPr id="30" name="S08-label170"/>
          <p:cNvSpPr txBox="1"/>
          <p:nvPr/>
        </p:nvSpPr>
        <p:spPr>
          <a:xfrm>
            <a:off x="10394499" y="5165973"/>
            <a:ext cx="6355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</a:t>
            </a:r>
            <a:endParaRPr lang="ko-KR" sz="1800" dirty="0"/>
          </a:p>
        </p:txBody>
      </p:sp>
      <p:sp>
        <p:nvSpPr>
          <p:cNvPr id="31" name="S08-label172"/>
          <p:cNvSpPr txBox="1"/>
          <p:nvPr/>
        </p:nvSpPr>
        <p:spPr>
          <a:xfrm>
            <a:off x="7579538" y="2070430"/>
            <a:ext cx="32781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가람시의 달별 평균 기온(예시)</a:t>
            </a:r>
            <a:endParaRPr lang="ko-KR" sz="1800" dirty="0"/>
          </a:p>
        </p:txBody>
      </p:sp>
      <p:sp>
        <p:nvSpPr>
          <p:cNvPr id="32" name="S08-chip17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3" name="S08-text17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더운 달과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기온은?</a:t>
            </a:r>
            <a:endParaRPr lang="ko-KR" sz="2800" dirty="0"/>
          </a:p>
        </p:txBody>
      </p:sp>
      <p:sp>
        <p:nvSpPr>
          <p:cNvPr id="34" name="S08-chip17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5" name="S08-text176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7월은 1월보다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°C 높나요?</a:t>
            </a:r>
            <a:endParaRPr lang="ko-KR" sz="2800" dirty="0"/>
          </a:p>
        </p:txBody>
      </p:sp>
      <p:sp>
        <p:nvSpPr>
          <p:cNvPr id="36" name="S08-chip17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7" name="S08-text178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7월과 1월에는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옷을 입을까요?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남쪽이 더 따뜻해요</a:t>
            </a:r>
            <a:endParaRPr lang="ko-KR" sz="4000" dirty="0"/>
          </a:p>
        </p:txBody>
      </p:sp>
      <p:sp>
        <p:nvSpPr>
          <p:cNvPr id="3" name="S09-figure179" descr="막대그래프(지어낸 예시): 4월 평균 기온. 남쪽 도시 14 °C, 북쪽 도시 9 °C"/>
          <p:cNvSpPr/>
          <p:nvPr/>
        </p:nvSpPr>
        <p:spPr>
          <a:xfrm>
            <a:off x="2521458" y="3476625"/>
            <a:ext cx="767715" cy="2066925"/>
          </a:xfrm>
          <a:custGeom>
            <a:avLst/>
            <a:gdLst/>
            <a:ahLst/>
            <a:cxnLst/>
            <a:rect l="l" t="t" r="r" b="b"/>
            <a:pathLst>
              <a:path w="767715" h="2066925">
                <a:moveTo>
                  <a:pt x="0" y="2066925"/>
                </a:moveTo>
                <a:lnTo>
                  <a:pt x="767715" y="2066925"/>
                </a:lnTo>
                <a:lnTo>
                  <a:pt x="7677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09-mark180"/>
          <p:cNvSpPr/>
          <p:nvPr/>
        </p:nvSpPr>
        <p:spPr>
          <a:xfrm>
            <a:off x="3879723" y="4214813"/>
            <a:ext cx="767715" cy="1328738"/>
          </a:xfrm>
          <a:custGeom>
            <a:avLst/>
            <a:gdLst/>
            <a:ahLst/>
            <a:cxnLst/>
            <a:rect l="l" t="t" r="r" b="b"/>
            <a:pathLst>
              <a:path w="767715" h="1328738">
                <a:moveTo>
                  <a:pt x="0" y="1328738"/>
                </a:moveTo>
                <a:lnTo>
                  <a:pt x="767715" y="1328738"/>
                </a:lnTo>
                <a:lnTo>
                  <a:pt x="7677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9-mark181"/>
          <p:cNvSpPr/>
          <p:nvPr/>
        </p:nvSpPr>
        <p:spPr>
          <a:xfrm>
            <a:off x="1930908" y="4805363"/>
            <a:ext cx="33070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6" name="S09-mark182"/>
          <p:cNvSpPr/>
          <p:nvPr/>
        </p:nvSpPr>
        <p:spPr>
          <a:xfrm>
            <a:off x="1930908" y="4067175"/>
            <a:ext cx="33070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7" name="S09-mark183"/>
          <p:cNvSpPr/>
          <p:nvPr/>
        </p:nvSpPr>
        <p:spPr>
          <a:xfrm>
            <a:off x="1930908" y="3328988"/>
            <a:ext cx="33070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8" name="S09-mark184"/>
          <p:cNvSpPr/>
          <p:nvPr/>
        </p:nvSpPr>
        <p:spPr>
          <a:xfrm>
            <a:off x="1930908" y="2590800"/>
            <a:ext cx="33070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9" name="S09-mark185"/>
          <p:cNvSpPr/>
          <p:nvPr/>
        </p:nvSpPr>
        <p:spPr>
          <a:xfrm flipV="1">
            <a:off x="1930908" y="2354580"/>
            <a:ext cx="0" cy="318897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mark186"/>
          <p:cNvSpPr/>
          <p:nvPr/>
        </p:nvSpPr>
        <p:spPr>
          <a:xfrm>
            <a:off x="1930908" y="5543550"/>
            <a:ext cx="33070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9-label188"/>
          <p:cNvSpPr txBox="1"/>
          <p:nvPr/>
        </p:nvSpPr>
        <p:spPr>
          <a:xfrm>
            <a:off x="1357694" y="5400675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12" name="S09-label190"/>
          <p:cNvSpPr txBox="1"/>
          <p:nvPr/>
        </p:nvSpPr>
        <p:spPr>
          <a:xfrm>
            <a:off x="1357694" y="4662488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800" dirty="0"/>
          </a:p>
        </p:txBody>
      </p:sp>
      <p:sp>
        <p:nvSpPr>
          <p:cNvPr id="13" name="S09-label192"/>
          <p:cNvSpPr txBox="1"/>
          <p:nvPr/>
        </p:nvSpPr>
        <p:spPr>
          <a:xfrm>
            <a:off x="1282256" y="3924300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14" name="S09-label194"/>
          <p:cNvSpPr txBox="1"/>
          <p:nvPr/>
        </p:nvSpPr>
        <p:spPr>
          <a:xfrm>
            <a:off x="1282256" y="3186113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1800" dirty="0"/>
          </a:p>
        </p:txBody>
      </p:sp>
      <p:sp>
        <p:nvSpPr>
          <p:cNvPr id="15" name="S09-label196"/>
          <p:cNvSpPr txBox="1"/>
          <p:nvPr/>
        </p:nvSpPr>
        <p:spPr>
          <a:xfrm>
            <a:off x="1282256" y="2447925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800" dirty="0"/>
          </a:p>
        </p:txBody>
      </p:sp>
      <p:sp>
        <p:nvSpPr>
          <p:cNvPr id="16" name="S09-label198"/>
          <p:cNvSpPr txBox="1"/>
          <p:nvPr/>
        </p:nvSpPr>
        <p:spPr>
          <a:xfrm>
            <a:off x="1497330" y="1916430"/>
            <a:ext cx="6309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(°C)</a:t>
            </a:r>
            <a:endParaRPr lang="ko-KR" sz="1800" dirty="0"/>
          </a:p>
        </p:txBody>
      </p:sp>
      <p:sp>
        <p:nvSpPr>
          <p:cNvPr id="17" name="S09-label200"/>
          <p:cNvSpPr txBox="1"/>
          <p:nvPr/>
        </p:nvSpPr>
        <p:spPr>
          <a:xfrm>
            <a:off x="2699576" y="3097530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1800" dirty="0"/>
          </a:p>
        </p:txBody>
      </p:sp>
      <p:sp>
        <p:nvSpPr>
          <p:cNvPr id="18" name="S09-label202"/>
          <p:cNvSpPr txBox="1"/>
          <p:nvPr/>
        </p:nvSpPr>
        <p:spPr>
          <a:xfrm>
            <a:off x="2368106" y="5725478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 도시</a:t>
            </a:r>
            <a:endParaRPr lang="ko-KR" sz="1800" dirty="0"/>
          </a:p>
        </p:txBody>
      </p:sp>
      <p:sp>
        <p:nvSpPr>
          <p:cNvPr id="19" name="S09-label204"/>
          <p:cNvSpPr txBox="1"/>
          <p:nvPr/>
        </p:nvSpPr>
        <p:spPr>
          <a:xfrm>
            <a:off x="4133279" y="3835718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800" dirty="0"/>
          </a:p>
        </p:txBody>
      </p:sp>
      <p:sp>
        <p:nvSpPr>
          <p:cNvPr id="20" name="S09-label206"/>
          <p:cNvSpPr txBox="1"/>
          <p:nvPr/>
        </p:nvSpPr>
        <p:spPr>
          <a:xfrm>
            <a:off x="3726371" y="5725478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 도시</a:t>
            </a:r>
            <a:endParaRPr lang="ko-KR" sz="1800" dirty="0"/>
          </a:p>
        </p:txBody>
      </p:sp>
      <p:sp>
        <p:nvSpPr>
          <p:cNvPr id="21" name="S09-label208"/>
          <p:cNvSpPr txBox="1"/>
          <p:nvPr/>
        </p:nvSpPr>
        <p:spPr>
          <a:xfrm>
            <a:off x="2464308" y="1503045"/>
            <a:ext cx="22402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 평균 기온(예시)</a:t>
            </a:r>
            <a:endParaRPr lang="ko-KR" sz="1800" dirty="0"/>
          </a:p>
        </p:txBody>
      </p:sp>
      <p:sp>
        <p:nvSpPr>
          <p:cNvPr id="22" name="S09-card209"/>
          <p:cNvSpPr/>
          <p:nvPr/>
        </p:nvSpPr>
        <p:spPr>
          <a:xfrm>
            <a:off x="6277356" y="213664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9-cardtext210"/>
          <p:cNvSpPr txBox="1"/>
          <p:nvPr/>
        </p:nvSpPr>
        <p:spPr>
          <a:xfrm>
            <a:off x="6551676" y="227380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계절에도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남쪽이 북쪽보다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편이에요.</a:t>
            </a:r>
            <a:endParaRPr lang="ko-KR" sz="2800" dirty="0"/>
          </a:p>
        </p:txBody>
      </p:sp>
      <p:sp>
        <p:nvSpPr>
          <p:cNvPr id="24" name="S09-card211"/>
          <p:cNvSpPr/>
          <p:nvPr/>
        </p:nvSpPr>
        <p:spPr>
          <a:xfrm>
            <a:off x="6277356" y="388620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9-cardtext212"/>
          <p:cNvSpPr txBox="1"/>
          <p:nvPr/>
        </p:nvSpPr>
        <p:spPr>
          <a:xfrm>
            <a:off x="6551676" y="402336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남쪽에서 먼저 피고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북쪽으로 올라가요.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 살펴보기</a:t>
            </a:r>
            <a:endParaRPr lang="ko-KR" sz="4000" dirty="0"/>
          </a:p>
        </p:txBody>
      </p:sp>
      <p:sp>
        <p:nvSpPr>
          <p:cNvPr id="3" name="S10-text2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조사해요.</a:t>
            </a:r>
            <a:endParaRPr lang="ko-KR" sz="2800" dirty="0"/>
          </a:p>
        </p:txBody>
      </p:sp>
      <p:sp>
        <p:nvSpPr>
          <p:cNvPr id="4" name="S10-card214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215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가까운 산과 강 찾기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강이 가는 바다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기온을 계절과 이어 말하기</a:t>
            </a:r>
            <a:endParaRPr lang="ko-KR" sz="2800" dirty="0"/>
          </a:p>
        </p:txBody>
      </p:sp>
      <p:sp>
        <p:nvSpPr>
          <p:cNvPr id="6" name="S10-stepno216"/>
          <p:cNvSpPr txBox="1"/>
          <p:nvPr/>
        </p:nvSpPr>
        <p:spPr>
          <a:xfrm>
            <a:off x="548640" y="2337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0-text217"/>
          <p:cNvSpPr txBox="1"/>
          <p:nvPr/>
        </p:nvSpPr>
        <p:spPr>
          <a:xfrm>
            <a:off x="1325880" y="22920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앱에서 우리 지역 가까운 산과 강을 찾아요.</a:t>
            </a:r>
            <a:endParaRPr lang="ko-KR" sz="2800" dirty="0"/>
          </a:p>
        </p:txBody>
      </p:sp>
      <p:sp>
        <p:nvSpPr>
          <p:cNvPr id="8" name="S10-stepno218"/>
          <p:cNvSpPr txBox="1"/>
          <p:nvPr/>
        </p:nvSpPr>
        <p:spPr>
          <a:xfrm>
            <a:off x="548640" y="3370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0-text219"/>
          <p:cNvSpPr txBox="1"/>
          <p:nvPr/>
        </p:nvSpPr>
        <p:spPr>
          <a:xfrm>
            <a:off x="1325880" y="33243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강을 따라가 어느 바다로 가는지 봐요.</a:t>
            </a:r>
            <a:endParaRPr lang="ko-KR" sz="2800" dirty="0"/>
          </a:p>
        </p:txBody>
      </p:sp>
      <p:sp>
        <p:nvSpPr>
          <p:cNvPr id="10" name="S10-stepno220"/>
          <p:cNvSpPr txBox="1"/>
          <p:nvPr/>
        </p:nvSpPr>
        <p:spPr>
          <a:xfrm>
            <a:off x="548640" y="4402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0-text221"/>
          <p:cNvSpPr txBox="1"/>
          <p:nvPr/>
        </p:nvSpPr>
        <p:spPr>
          <a:xfrm>
            <a:off x="1325880" y="435660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일기 예보로 이번 주 기온을 봐요.</a:t>
            </a:r>
            <a:endParaRPr lang="ko-KR" sz="2800" dirty="0"/>
          </a:p>
        </p:txBody>
      </p:sp>
      <p:sp>
        <p:nvSpPr>
          <p:cNvPr id="12" name="S10-stepno222"/>
          <p:cNvSpPr txBox="1"/>
          <p:nvPr/>
        </p:nvSpPr>
        <p:spPr>
          <a:xfrm>
            <a:off x="548640" y="5388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0-text223"/>
          <p:cNvSpPr txBox="1"/>
          <p:nvPr/>
        </p:nvSpPr>
        <p:spPr>
          <a:xfrm>
            <a:off x="1325880" y="5388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5에 기록해요.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224" descr="지어낸 섬 누리섬을 서쪽에서 동쪽으로 자른 간단한 그림: 서쪽 바다 가까이에 높은 산지가 있고, 동쪽으로 갈수록 낮아져 동쪽 바다 쪽에 낮은 땅이 넓음"/>
          <p:cNvSpPr/>
          <p:nvPr/>
        </p:nvSpPr>
        <p:spPr>
          <a:xfrm>
            <a:off x="6361176" y="4152849"/>
            <a:ext cx="5195316" cy="225130"/>
          </a:xfrm>
          <a:custGeom>
            <a:avLst/>
            <a:gdLst/>
            <a:ahLst/>
            <a:cxnLst/>
            <a:rect l="l" t="t" r="r" b="b"/>
            <a:pathLst>
              <a:path w="5195316" h="225130">
                <a:moveTo>
                  <a:pt x="0" y="225130"/>
                </a:moveTo>
                <a:lnTo>
                  <a:pt x="5195316" y="225130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11-mark225"/>
          <p:cNvSpPr/>
          <p:nvPr/>
        </p:nvSpPr>
        <p:spPr>
          <a:xfrm>
            <a:off x="7053885" y="3207302"/>
            <a:ext cx="3948440" cy="1170678"/>
          </a:xfrm>
          <a:custGeom>
            <a:avLst/>
            <a:gdLst/>
            <a:ahLst/>
            <a:cxnLst/>
            <a:rect l="l" t="t" r="r" b="b"/>
            <a:pathLst>
              <a:path w="3948440" h="1170678">
                <a:moveTo>
                  <a:pt x="3948440" y="1170678"/>
                </a:moveTo>
                <a:lnTo>
                  <a:pt x="3948440" y="911951"/>
                </a:lnTo>
                <a:lnTo>
                  <a:pt x="3463544" y="889438"/>
                </a:lnTo>
                <a:lnTo>
                  <a:pt x="2944012" y="866579"/>
                </a:lnTo>
                <a:lnTo>
                  <a:pt x="2597658" y="765443"/>
                </a:lnTo>
                <a:lnTo>
                  <a:pt x="2251304" y="810469"/>
                </a:lnTo>
                <a:lnTo>
                  <a:pt x="1904949" y="652878"/>
                </a:lnTo>
                <a:lnTo>
                  <a:pt x="1558595" y="697904"/>
                </a:lnTo>
                <a:lnTo>
                  <a:pt x="1212240" y="450261"/>
                </a:lnTo>
                <a:lnTo>
                  <a:pt x="865886" y="225130"/>
                </a:lnTo>
                <a:lnTo>
                  <a:pt x="623438" y="0"/>
                </a:lnTo>
                <a:lnTo>
                  <a:pt x="450261" y="135078"/>
                </a:lnTo>
                <a:lnTo>
                  <a:pt x="242448" y="495287"/>
                </a:lnTo>
                <a:lnTo>
                  <a:pt x="34635" y="911951"/>
                </a:lnTo>
                <a:lnTo>
                  <a:pt x="0" y="1170678"/>
                </a:lnTo>
                <a:close/>
              </a:path>
            </a:pathLst>
          </a:custGeom>
          <a:solidFill>
            <a:srgbClr val="D9C49A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" name="S11-mark226"/>
          <p:cNvSpPr/>
          <p:nvPr/>
        </p:nvSpPr>
        <p:spPr>
          <a:xfrm>
            <a:off x="6776801" y="2784749"/>
            <a:ext cx="4364065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6" name="S11-label228"/>
          <p:cNvSpPr txBox="1"/>
          <p:nvPr/>
        </p:nvSpPr>
        <p:spPr>
          <a:xfrm>
            <a:off x="6325265" y="261012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200" dirty="0"/>
          </a:p>
        </p:txBody>
      </p:sp>
      <p:sp>
        <p:nvSpPr>
          <p:cNvPr id="7" name="S11-label230"/>
          <p:cNvSpPr txBox="1"/>
          <p:nvPr/>
        </p:nvSpPr>
        <p:spPr>
          <a:xfrm>
            <a:off x="11208863" y="261012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200" dirty="0"/>
          </a:p>
        </p:txBody>
      </p:sp>
      <p:sp>
        <p:nvSpPr>
          <p:cNvPr id="8" name="S11-label232"/>
          <p:cNvSpPr txBox="1"/>
          <p:nvPr/>
        </p:nvSpPr>
        <p:spPr>
          <a:xfrm>
            <a:off x="6359368" y="412427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9" name="S11-label234"/>
          <p:cNvSpPr txBox="1"/>
          <p:nvPr/>
        </p:nvSpPr>
        <p:spPr>
          <a:xfrm>
            <a:off x="10965881" y="412427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10" name="S11-label235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누리섬(지어낸 섬)을 자른 모습</a:t>
            </a:r>
            <a:endParaRPr lang="ko-KR" sz="2200" dirty="0"/>
          </a:p>
        </p:txBody>
      </p:sp>
      <p:sp>
        <p:nvSpPr>
          <p:cNvPr id="11" name="S11-chip23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2" name="S11-text23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누리섬은 어느 쪽이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높은가요?</a:t>
            </a:r>
            <a:endParaRPr lang="ko-KR" sz="2800" dirty="0"/>
          </a:p>
        </p:txBody>
      </p:sp>
      <p:sp>
        <p:nvSpPr>
          <p:cNvPr id="13" name="S11-chip23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4" name="S11-text239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누리섬의 강은 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 바다로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흐를까요? 왜요?</a:t>
            </a:r>
            <a:endParaRPr lang="ko-KR" sz="2800" dirty="0"/>
          </a:p>
        </p:txBody>
      </p:sp>
      <p:sp>
        <p:nvSpPr>
          <p:cNvPr id="15" name="S11-chip24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6" name="S11-text241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어느 쪽이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높고, 큰 강은 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흐르나요?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바람시의 비</a:t>
            </a:r>
            <a:endParaRPr lang="ko-KR" sz="4000" dirty="0"/>
          </a:p>
        </p:txBody>
      </p:sp>
      <p:sp>
        <p:nvSpPr>
          <p:cNvPr id="3" name="S13-figure242" descr="막대그래프(지어낸 예시): 바람시의 계절별 비의 양. 봄 150 mm, 여름 600 mm, 가을 250 mm, 겨울 50 mm"/>
          <p:cNvSpPr/>
          <p:nvPr/>
        </p:nvSpPr>
        <p:spPr>
          <a:xfrm>
            <a:off x="7443534" y="4607047"/>
            <a:ext cx="562826" cy="463682"/>
          </a:xfrm>
          <a:custGeom>
            <a:avLst/>
            <a:gdLst/>
            <a:ahLst/>
            <a:cxnLst/>
            <a:rect l="l" t="t" r="r" b="b"/>
            <a:pathLst>
              <a:path w="562826" h="463682">
                <a:moveTo>
                  <a:pt x="0" y="463682"/>
                </a:moveTo>
                <a:lnTo>
                  <a:pt x="562826" y="463682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13-mark243"/>
          <p:cNvSpPr/>
          <p:nvPr/>
        </p:nvSpPr>
        <p:spPr>
          <a:xfrm>
            <a:off x="8439302" y="3215135"/>
            <a:ext cx="562826" cy="1855594"/>
          </a:xfrm>
          <a:custGeom>
            <a:avLst/>
            <a:gdLst/>
            <a:ahLst/>
            <a:cxnLst/>
            <a:rect l="l" t="t" r="r" b="b"/>
            <a:pathLst>
              <a:path w="562826" h="1855594">
                <a:moveTo>
                  <a:pt x="0" y="1855594"/>
                </a:moveTo>
                <a:lnTo>
                  <a:pt x="562826" y="1855594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13-mark244"/>
          <p:cNvSpPr/>
          <p:nvPr/>
        </p:nvSpPr>
        <p:spPr>
          <a:xfrm>
            <a:off x="9435071" y="4297493"/>
            <a:ext cx="562826" cy="773236"/>
          </a:xfrm>
          <a:custGeom>
            <a:avLst/>
            <a:gdLst/>
            <a:ahLst/>
            <a:cxnLst/>
            <a:rect l="l" t="t" r="r" b="b"/>
            <a:pathLst>
              <a:path w="562826" h="773236">
                <a:moveTo>
                  <a:pt x="0" y="773236"/>
                </a:moveTo>
                <a:lnTo>
                  <a:pt x="562826" y="773236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13-mark245"/>
          <p:cNvSpPr/>
          <p:nvPr/>
        </p:nvSpPr>
        <p:spPr>
          <a:xfrm>
            <a:off x="10430840" y="4916168"/>
            <a:ext cx="562826" cy="154561"/>
          </a:xfrm>
          <a:custGeom>
            <a:avLst/>
            <a:gdLst/>
            <a:ahLst/>
            <a:cxnLst/>
            <a:rect l="l" t="t" r="r" b="b"/>
            <a:pathLst>
              <a:path w="562826" h="154561">
                <a:moveTo>
                  <a:pt x="0" y="154561"/>
                </a:moveTo>
                <a:lnTo>
                  <a:pt x="562826" y="154561"/>
                </a:lnTo>
                <a:lnTo>
                  <a:pt x="562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3D7DC8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3-mark246"/>
          <p:cNvSpPr/>
          <p:nvPr/>
        </p:nvSpPr>
        <p:spPr>
          <a:xfrm>
            <a:off x="7010591" y="4761484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8" name="S13-mark247"/>
          <p:cNvSpPr/>
          <p:nvPr/>
        </p:nvSpPr>
        <p:spPr>
          <a:xfrm>
            <a:off x="7010591" y="4452239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9" name="S13-mark248"/>
          <p:cNvSpPr/>
          <p:nvPr/>
        </p:nvSpPr>
        <p:spPr>
          <a:xfrm>
            <a:off x="7010591" y="4142994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0" name="S13-mark249"/>
          <p:cNvSpPr/>
          <p:nvPr/>
        </p:nvSpPr>
        <p:spPr>
          <a:xfrm>
            <a:off x="7010591" y="3833749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1" name="S13-mark250"/>
          <p:cNvSpPr/>
          <p:nvPr/>
        </p:nvSpPr>
        <p:spPr>
          <a:xfrm>
            <a:off x="7010591" y="3524504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S13-mark251"/>
          <p:cNvSpPr/>
          <p:nvPr/>
        </p:nvSpPr>
        <p:spPr>
          <a:xfrm>
            <a:off x="7010591" y="3215259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3" name="S13-mark252"/>
          <p:cNvSpPr/>
          <p:nvPr/>
        </p:nvSpPr>
        <p:spPr>
          <a:xfrm>
            <a:off x="7010591" y="2906014"/>
            <a:ext cx="441601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S13-mark253"/>
          <p:cNvSpPr/>
          <p:nvPr/>
        </p:nvSpPr>
        <p:spPr>
          <a:xfrm flipV="1">
            <a:off x="7010591" y="2732837"/>
            <a:ext cx="0" cy="23378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3-mark254"/>
          <p:cNvSpPr/>
          <p:nvPr/>
        </p:nvSpPr>
        <p:spPr>
          <a:xfrm>
            <a:off x="7010591" y="5070729"/>
            <a:ext cx="4416019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3-label256"/>
          <p:cNvSpPr txBox="1"/>
          <p:nvPr/>
        </p:nvSpPr>
        <p:spPr>
          <a:xfrm>
            <a:off x="6555581" y="4927854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17" name="S13-label258"/>
          <p:cNvSpPr txBox="1"/>
          <p:nvPr/>
        </p:nvSpPr>
        <p:spPr>
          <a:xfrm>
            <a:off x="6404705" y="4618733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800" dirty="0"/>
          </a:p>
        </p:txBody>
      </p:sp>
      <p:sp>
        <p:nvSpPr>
          <p:cNvPr id="18" name="S13-label260"/>
          <p:cNvSpPr txBox="1"/>
          <p:nvPr/>
        </p:nvSpPr>
        <p:spPr>
          <a:xfrm>
            <a:off x="6404705" y="4309178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800" dirty="0"/>
          </a:p>
        </p:txBody>
      </p:sp>
      <p:sp>
        <p:nvSpPr>
          <p:cNvPr id="19" name="S13-label262"/>
          <p:cNvSpPr txBox="1"/>
          <p:nvPr/>
        </p:nvSpPr>
        <p:spPr>
          <a:xfrm>
            <a:off x="6404705" y="4000057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1800" dirty="0"/>
          </a:p>
        </p:txBody>
      </p:sp>
      <p:sp>
        <p:nvSpPr>
          <p:cNvPr id="20" name="S13-label264"/>
          <p:cNvSpPr txBox="1"/>
          <p:nvPr/>
        </p:nvSpPr>
        <p:spPr>
          <a:xfrm>
            <a:off x="6404705" y="3690936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1800" dirty="0"/>
          </a:p>
        </p:txBody>
      </p:sp>
      <p:sp>
        <p:nvSpPr>
          <p:cNvPr id="21" name="S13-label266"/>
          <p:cNvSpPr txBox="1"/>
          <p:nvPr/>
        </p:nvSpPr>
        <p:spPr>
          <a:xfrm>
            <a:off x="6404705" y="3381815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endParaRPr lang="ko-KR" sz="1800" dirty="0"/>
          </a:p>
        </p:txBody>
      </p:sp>
      <p:sp>
        <p:nvSpPr>
          <p:cNvPr id="22" name="S13-label268"/>
          <p:cNvSpPr txBox="1"/>
          <p:nvPr/>
        </p:nvSpPr>
        <p:spPr>
          <a:xfrm>
            <a:off x="6404705" y="3072260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3" name="S13-label270"/>
          <p:cNvSpPr txBox="1"/>
          <p:nvPr/>
        </p:nvSpPr>
        <p:spPr>
          <a:xfrm>
            <a:off x="6404705" y="2763139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</a:t>
            </a:r>
            <a:endParaRPr lang="ko-KR" sz="1800" dirty="0"/>
          </a:p>
        </p:txBody>
      </p:sp>
      <p:sp>
        <p:nvSpPr>
          <p:cNvPr id="24" name="S13-label272"/>
          <p:cNvSpPr txBox="1"/>
          <p:nvPr/>
        </p:nvSpPr>
        <p:spPr>
          <a:xfrm>
            <a:off x="6544526" y="2373490"/>
            <a:ext cx="7589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(mm)</a:t>
            </a:r>
            <a:endParaRPr lang="ko-KR" sz="1800" dirty="0"/>
          </a:p>
        </p:txBody>
      </p:sp>
      <p:sp>
        <p:nvSpPr>
          <p:cNvPr id="25" name="S13-label274"/>
          <p:cNvSpPr txBox="1"/>
          <p:nvPr/>
        </p:nvSpPr>
        <p:spPr>
          <a:xfrm>
            <a:off x="7443768" y="4290995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ko-KR" sz="1800" dirty="0"/>
          </a:p>
        </p:txBody>
      </p:sp>
      <p:sp>
        <p:nvSpPr>
          <p:cNvPr id="26" name="S13-label276"/>
          <p:cNvSpPr txBox="1"/>
          <p:nvPr/>
        </p:nvSpPr>
        <p:spPr>
          <a:xfrm>
            <a:off x="7558068" y="5165973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1800" dirty="0"/>
          </a:p>
        </p:txBody>
      </p:sp>
      <p:sp>
        <p:nvSpPr>
          <p:cNvPr id="27" name="S13-label278"/>
          <p:cNvSpPr txBox="1"/>
          <p:nvPr/>
        </p:nvSpPr>
        <p:spPr>
          <a:xfrm>
            <a:off x="8439537" y="2899083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</a:t>
            </a:r>
            <a:endParaRPr lang="ko-KR" sz="1800" dirty="0"/>
          </a:p>
        </p:txBody>
      </p:sp>
      <p:sp>
        <p:nvSpPr>
          <p:cNvPr id="28" name="S13-label280"/>
          <p:cNvSpPr txBox="1"/>
          <p:nvPr/>
        </p:nvSpPr>
        <p:spPr>
          <a:xfrm>
            <a:off x="8441823" y="516597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1800" dirty="0"/>
          </a:p>
        </p:txBody>
      </p:sp>
      <p:sp>
        <p:nvSpPr>
          <p:cNvPr id="29" name="S13-label282"/>
          <p:cNvSpPr txBox="1"/>
          <p:nvPr/>
        </p:nvSpPr>
        <p:spPr>
          <a:xfrm>
            <a:off x="9435306" y="3981441"/>
            <a:ext cx="562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ko-KR" sz="1800" dirty="0"/>
          </a:p>
        </p:txBody>
      </p:sp>
      <p:sp>
        <p:nvSpPr>
          <p:cNvPr id="30" name="S13-label284"/>
          <p:cNvSpPr txBox="1"/>
          <p:nvPr/>
        </p:nvSpPr>
        <p:spPr>
          <a:xfrm>
            <a:off x="9437592" y="516597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1800" dirty="0"/>
          </a:p>
        </p:txBody>
      </p:sp>
      <p:sp>
        <p:nvSpPr>
          <p:cNvPr id="31" name="S13-label286"/>
          <p:cNvSpPr txBox="1"/>
          <p:nvPr/>
        </p:nvSpPr>
        <p:spPr>
          <a:xfrm>
            <a:off x="10506513" y="4600116"/>
            <a:ext cx="411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1800" dirty="0"/>
          </a:p>
        </p:txBody>
      </p:sp>
      <p:sp>
        <p:nvSpPr>
          <p:cNvPr id="32" name="S13-label288"/>
          <p:cNvSpPr txBox="1"/>
          <p:nvPr/>
        </p:nvSpPr>
        <p:spPr>
          <a:xfrm>
            <a:off x="10433361" y="516597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1800" dirty="0"/>
          </a:p>
        </p:txBody>
      </p:sp>
      <p:sp>
        <p:nvSpPr>
          <p:cNvPr id="33" name="S13-label290"/>
          <p:cNvSpPr txBox="1"/>
          <p:nvPr/>
        </p:nvSpPr>
        <p:spPr>
          <a:xfrm>
            <a:off x="7579538" y="2070430"/>
            <a:ext cx="32781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바람시의 계절별 비의 양(예시)</a:t>
            </a:r>
            <a:endParaRPr lang="ko-KR" sz="1800" dirty="0"/>
          </a:p>
        </p:txBody>
      </p:sp>
      <p:sp>
        <p:nvSpPr>
          <p:cNvPr id="34" name="S13-chip291"/>
          <p:cNvSpPr txBox="1"/>
          <p:nvPr/>
        </p:nvSpPr>
        <p:spPr>
          <a:xfrm>
            <a:off x="548640" y="158534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5" name="S13-text292"/>
          <p:cNvSpPr txBox="1"/>
          <p:nvPr/>
        </p:nvSpPr>
        <p:spPr>
          <a:xfrm>
            <a:off x="1344168" y="132588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가장 많은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계절은?</a:t>
            </a:r>
            <a:endParaRPr lang="ko-KR" sz="2800" dirty="0"/>
          </a:p>
        </p:txBody>
      </p:sp>
      <p:sp>
        <p:nvSpPr>
          <p:cNvPr id="36" name="S13-chip293"/>
          <p:cNvSpPr txBox="1"/>
          <p:nvPr/>
        </p:nvSpPr>
        <p:spPr>
          <a:xfrm>
            <a:off x="548640" y="285407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7" name="S13-text294"/>
          <p:cNvSpPr txBox="1"/>
          <p:nvPr/>
        </p:nvSpPr>
        <p:spPr>
          <a:xfrm>
            <a:off x="1344168" y="259461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여름은 겨울의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배인가요?</a:t>
            </a:r>
            <a:endParaRPr lang="ko-KR" sz="2800" dirty="0"/>
          </a:p>
        </p:txBody>
      </p:sp>
      <p:sp>
        <p:nvSpPr>
          <p:cNvPr id="38" name="S13-chip295"/>
          <p:cNvSpPr txBox="1"/>
          <p:nvPr/>
        </p:nvSpPr>
        <p:spPr>
          <a:xfrm>
            <a:off x="548640" y="412280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9" name="S13-text296"/>
          <p:cNvSpPr txBox="1"/>
          <p:nvPr/>
        </p:nvSpPr>
        <p:spPr>
          <a:xfrm>
            <a:off x="1344168" y="386334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미리 준비할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한 가지는?</a:t>
            </a:r>
            <a:endParaRPr lang="ko-KR" sz="2800" dirty="0"/>
          </a:p>
        </p:txBody>
      </p:sp>
      <p:sp>
        <p:nvSpPr>
          <p:cNvPr id="40" name="S13-chip297"/>
          <p:cNvSpPr txBox="1"/>
          <p:nvPr/>
        </p:nvSpPr>
        <p:spPr>
          <a:xfrm>
            <a:off x="548640" y="539153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1" name="S13-text298"/>
          <p:cNvSpPr txBox="1"/>
          <p:nvPr/>
        </p:nvSpPr>
        <p:spPr>
          <a:xfrm>
            <a:off x="1344168" y="513207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봄꽃은 남쪽과 북쪽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어디서 먼저 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9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0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산지가 많고 동쪽이 높고 서쪽이 낮아요.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사계절이 뚜렷하고, 여름에 비가 많이 와요.</a:t>
            </a:r>
            <a:endParaRPr lang="ko-KR" sz="2800" dirty="0"/>
          </a:p>
        </p:txBody>
      </p:sp>
      <p:sp>
        <p:nvSpPr>
          <p:cNvPr id="5" name="S14-chip30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자료(지도·그래프)를 보고 말하기</a:t>
            </a:r>
            <a:endParaRPr lang="ko-KR" sz="2200" dirty="0"/>
          </a:p>
        </p:txBody>
      </p:sp>
      <p:sp>
        <p:nvSpPr>
          <p:cNvPr id="6" name="S14-chip30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우리 동네만 보고 정하기</a:t>
            </a:r>
            <a:endParaRPr lang="ko-KR" sz="2200" dirty="0"/>
          </a:p>
        </p:txBody>
      </p:sp>
      <p:sp>
        <p:nvSpPr>
          <p:cNvPr id="7" name="S14-text30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0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높은 산지가 많은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쪽은?</a:t>
            </a:r>
            <a:endParaRPr lang="ko-KR" sz="2200" dirty="0"/>
          </a:p>
        </p:txBody>
      </p:sp>
      <p:sp>
        <p:nvSpPr>
          <p:cNvPr id="9" name="S14-text30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큰 강은 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바다로?</a:t>
            </a:r>
            <a:endParaRPr lang="ko-KR" sz="2200" dirty="0"/>
          </a:p>
        </p:txBody>
      </p:sp>
      <p:sp>
        <p:nvSpPr>
          <p:cNvPr id="10" name="S14-text30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비가 가장 많은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계절은?</a:t>
            </a:r>
            <a:endParaRPr lang="ko-KR" sz="2200" dirty="0"/>
          </a:p>
        </p:txBody>
      </p:sp>
      <p:sp>
        <p:nvSpPr>
          <p:cNvPr id="11" name="S14-text30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인구와 도시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물은 어디로 흐를까요?</a:t>
            </a:r>
            <a:endParaRPr lang="ko-KR" sz="4000" dirty="0"/>
          </a:p>
        </p:txBody>
      </p:sp>
      <p:sp>
        <p:nvSpPr>
          <p:cNvPr id="3" name="S15-figure308" descr="비탈 그림: 왼쪽 높은 곳에서 오른쪽 낮은 곳과 바다 쪽으로 물이 흐르는 화살표"/>
          <p:cNvSpPr/>
          <p:nvPr/>
        </p:nvSpPr>
        <p:spPr>
          <a:xfrm>
            <a:off x="632460" y="3042422"/>
            <a:ext cx="4689500" cy="2084222"/>
          </a:xfrm>
          <a:custGeom>
            <a:avLst/>
            <a:gdLst/>
            <a:ahLst/>
            <a:cxnLst/>
            <a:rect l="l" t="t" r="r" b="b"/>
            <a:pathLst>
              <a:path w="4689500" h="2084222">
                <a:moveTo>
                  <a:pt x="0" y="2084222"/>
                </a:moveTo>
                <a:lnTo>
                  <a:pt x="0" y="0"/>
                </a:lnTo>
                <a:lnTo>
                  <a:pt x="781583" y="104211"/>
                </a:lnTo>
                <a:lnTo>
                  <a:pt x="1823695" y="729478"/>
                </a:lnTo>
                <a:lnTo>
                  <a:pt x="3126334" y="1458956"/>
                </a:lnTo>
                <a:lnTo>
                  <a:pt x="4689500" y="1771589"/>
                </a:lnTo>
                <a:lnTo>
                  <a:pt x="4689500" y="2084222"/>
                </a:lnTo>
                <a:close/>
              </a:path>
            </a:pathLst>
          </a:custGeom>
          <a:solidFill>
            <a:srgbClr val="D9C49A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" name="S15-mark309"/>
          <p:cNvSpPr/>
          <p:nvPr/>
        </p:nvSpPr>
        <p:spPr>
          <a:xfrm>
            <a:off x="5321960" y="4814011"/>
            <a:ext cx="1042111" cy="312633"/>
          </a:xfrm>
          <a:custGeom>
            <a:avLst/>
            <a:gdLst/>
            <a:ahLst/>
            <a:cxnLst/>
            <a:rect l="l" t="t" r="r" b="b"/>
            <a:pathLst>
              <a:path w="1042111" h="312633">
                <a:moveTo>
                  <a:pt x="0" y="312633"/>
                </a:moveTo>
                <a:lnTo>
                  <a:pt x="1042111" y="312633"/>
                </a:lnTo>
                <a:lnTo>
                  <a:pt x="1042111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5" name="S15-mark310"/>
          <p:cNvSpPr/>
          <p:nvPr/>
        </p:nvSpPr>
        <p:spPr>
          <a:xfrm>
            <a:off x="1466149" y="2912158"/>
            <a:ext cx="3438967" cy="1563167"/>
          </a:xfrm>
          <a:prstGeom prst="line">
            <a:avLst/>
          </a:prstGeom>
          <a:noFill/>
          <a:ln w="38100">
            <a:solidFill>
              <a:srgbClr val="2F6FB5"/>
            </a:solidFill>
            <a:prstDash val="solid"/>
            <a:tailEnd type="triangle"/>
          </a:ln>
        </p:spPr>
      </p:sp>
      <p:sp>
        <p:nvSpPr>
          <p:cNvPr id="6" name="S15-label312"/>
          <p:cNvSpPr txBox="1"/>
          <p:nvPr/>
        </p:nvSpPr>
        <p:spPr>
          <a:xfrm>
            <a:off x="728320" y="2508755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</a:t>
            </a:r>
            <a:endParaRPr lang="ko-KR" sz="1800" dirty="0"/>
          </a:p>
        </p:txBody>
      </p:sp>
      <p:sp>
        <p:nvSpPr>
          <p:cNvPr id="7" name="S15-label314"/>
          <p:cNvSpPr txBox="1"/>
          <p:nvPr/>
        </p:nvSpPr>
        <p:spPr>
          <a:xfrm>
            <a:off x="4167287" y="4827453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곳</a:t>
            </a:r>
            <a:endParaRPr lang="ko-KR" sz="1800" dirty="0"/>
          </a:p>
        </p:txBody>
      </p:sp>
      <p:sp>
        <p:nvSpPr>
          <p:cNvPr id="8" name="S15-label316"/>
          <p:cNvSpPr txBox="1"/>
          <p:nvPr/>
        </p:nvSpPr>
        <p:spPr>
          <a:xfrm>
            <a:off x="5564124" y="482745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1800" dirty="0"/>
          </a:p>
        </p:txBody>
      </p:sp>
      <p:sp>
        <p:nvSpPr>
          <p:cNvPr id="9" name="S15-label318"/>
          <p:cNvSpPr txBox="1"/>
          <p:nvPr/>
        </p:nvSpPr>
        <p:spPr>
          <a:xfrm>
            <a:off x="2754843" y="3264286"/>
            <a:ext cx="15910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2F6F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흐르는 쪽</a:t>
            </a:r>
            <a:endParaRPr lang="ko-KR" sz="1800" dirty="0"/>
          </a:p>
        </p:txBody>
      </p:sp>
      <p:sp>
        <p:nvSpPr>
          <p:cNvPr id="10" name="S15-card319"/>
          <p:cNvSpPr/>
          <p:nvPr/>
        </p:nvSpPr>
        <p:spPr>
          <a:xfrm>
            <a:off x="6813652" y="1531112"/>
            <a:ext cx="4826660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320"/>
          <p:cNvSpPr txBox="1"/>
          <p:nvPr/>
        </p:nvSpPr>
        <p:spPr>
          <a:xfrm>
            <a:off x="7087972" y="1668272"/>
            <a:ext cx="4278020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높은 곳에서 낮은 곳으로 흘러요.</a:t>
            </a:r>
            <a:endParaRPr lang="ko-KR" sz="2800" dirty="0"/>
          </a:p>
        </p:txBody>
      </p:sp>
      <p:sp>
        <p:nvSpPr>
          <p:cNvPr id="12" name="S15-card321"/>
          <p:cNvSpPr/>
          <p:nvPr/>
        </p:nvSpPr>
        <p:spPr>
          <a:xfrm>
            <a:off x="6813652" y="2956560"/>
            <a:ext cx="4826660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5-cardtext322"/>
          <p:cNvSpPr txBox="1"/>
          <p:nvPr/>
        </p:nvSpPr>
        <p:spPr>
          <a:xfrm>
            <a:off x="7087972" y="3093720"/>
            <a:ext cx="4278020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등고선 숫자가 클수록 높은 곳이에요.</a:t>
            </a:r>
            <a:endParaRPr lang="ko-KR" sz="2800" dirty="0"/>
          </a:p>
        </p:txBody>
      </p:sp>
      <p:sp>
        <p:nvSpPr>
          <p:cNvPr id="14" name="S15-card323"/>
          <p:cNvSpPr/>
          <p:nvPr/>
        </p:nvSpPr>
        <p:spPr>
          <a:xfrm>
            <a:off x="6813652" y="4382008"/>
            <a:ext cx="4826660" cy="1630680"/>
          </a:xfrm>
          <a:prstGeom prst="roundRect">
            <a:avLst>
              <a:gd name="adj" fmla="val 67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15-cardtext324"/>
          <p:cNvSpPr txBox="1"/>
          <p:nvPr/>
        </p:nvSpPr>
        <p:spPr>
          <a:xfrm>
            <a:off x="7087972" y="4519168"/>
            <a:ext cx="427802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높은 땅은 진한 갈색으로 나타낼 때가 많아요.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국토의 자연환경</dc:title>
  <dc:subject>KR22-G05-SOC-NATURE-L01</dc:subject>
  <dc:creator>education-ppt</dc:creator>
  <cp:lastModifiedBy>education-ppt</cp:lastModifiedBy>
  <cp:revision>1</cp:revision>
  <dcterms:created xsi:type="dcterms:W3CDTF">2026-10-26T13:08:37Z</dcterms:created>
  <dcterms:modified xsi:type="dcterms:W3CDTF">2026-10-26T13:08:37Z</dcterms:modified>
</cp:coreProperties>
</file>