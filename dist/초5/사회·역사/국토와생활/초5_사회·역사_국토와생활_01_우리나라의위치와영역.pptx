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d6eb36f-bd89-9525-8b5e-f4db36c9e771}">
          <p14:sldIdLst>
            <p14:sldId id="256"/>
            <p14:sldId id="257"/>
          </p14:sldIdLst>
        </p14:section>
        <p14:section name="개념" id="{a8600b0f-9600-2ac6-fad3-bb3065d2cdcb}">
          <p14:sldIdLst>
            <p14:sldId id="258"/>
            <p14:sldId id="259"/>
            <p14:sldId id="261"/>
            <p14:sldId id="262"/>
          </p14:sldIdLst>
        </p14:section>
        <p14:section name="연습" id="{b2c49715-7548-a383-52de-a19c9e144f0f}">
          <p14:sldIdLst>
            <p14:sldId id="260"/>
            <p14:sldId id="263"/>
            <p14:sldId id="264"/>
            <p14:sldId id="265"/>
          </p14:sldIdLst>
        </p14:section>
        <p14:section name="개념" id="{da71e4e5-492d-3bbb-5427-abb1d83789ed}">
          <p14:sldIdLst/>
        </p14:section>
        <p14:section name="연습" id="{47c601bf-7eff-26a1-cceb-935e30126e61}">
          <p14:sldIdLst/>
        </p14:section>
        <p14:section name="확인" id="{02ecdfce-d3fa-e612-1337-5a07ddf2e09f}">
          <p14:sldIdLst>
            <p14:sldId id="266"/>
            <p14:sldId id="267"/>
            <p14:sldId id="268"/>
          </p14:sldIdLst>
        </p14:section>
        <p14:section name="정리" id="{9b051606-e820-cdce-dc0a-94d6885b0870}">
          <p14:sldIdLst>
            <p14:sldId id="269"/>
          </p14:sldIdLst>
        </p14:section>
        <p14:section name="보충" id="{dcf91c9b-a38c-1a31-c19e-c5b76ba91bd6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우리나라가 어디에 있는지 떠올리게 합니다.
시간: 약 2분
이렇게 말해 보세요
- “외국에 사는 친구에게 우리나라가 어디에 있는지 알려 준다면 뭐라고 말할래?”
- “오늘은 우리나라의 위치를 대륙과 바다로 말하는 방법, 그리고 우리나라의 땅·바다·하늘이 어디까지인지 알아볼 거야.”
예상 답
- “아시아에 있어요.” “중국 옆이에요.” “일본 옆이에요.”
막히면
- 집에 지구본이나 세계 지도가 있으면 함께 펼쳐 놓고 “우리나라를 찾아볼까?”라고 합니다.
주의
- 오늘 화면의 그림은 위치 관계만 보여 주려고 네모 모양으로 간단히 그린 것입니다. 실제 모양은 S10에서 지구본·지도 앱·사회과 부도로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확인(방위)]
목적: 4학년 ‘지도 읽기’에서 배운 방위(동서남북)를 확인합니다. 오늘 우리나라의 위치를 말할 때 그대로 씁니다.
시간: 약 3분
이렇게 말해 보세요
- “방위표의 화살표가 가리키는 쪽이 어느 방위였지?”
- “산에서 보면 마을은 어느 쪽에 있어? ‘오른쪽’ 말고 방위로 말해 볼래?”
정답
- ① 동쪽
- ② 서쪽
- ③ 북쪽
막히면
- 화살표 끝(북)을 손가락으로 짚고 “북쪽을 보고 서면 오른쪽이 동쪽이었지?”라고 떠올리게 합니다.
- 그래도 어려우면 S15(보충)에서 방위표를 다시 보고 돌아옵니다.
주의
- ‘오른쪽, 왼쪽’이라고 하면 “지도에서 오른쪽은 어느 방위였지?”라고 되물어 방위로 바꾸어 말하게 합니다. 누리섬은 수업을 위해 지어낸 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아시아 대륙의 동쪽과 한반도]
목적: 우리나라가 아시아 대륙의 동쪽 끝, 태평양의 서쪽에 있고, 삼면이 바다로 둘러싸인 반도(한반도)와 그 둘레의 섬으로 이루어져 있음을 알려 줍니다(목표 A).
시간: 약 3분
이렇게 말해 보세요
- “연한 갈색이 아시아 대륙, 초록색이 한반도야. 한반도는 대륙의 어느 쪽에 붙어 있어?”
- “한반도의 동쪽, 서쪽, 남쪽에는 무엇이 있어? 북쪽은?”
- “이렇게 삼면이 바다이고 한 면이 대륙과 이어진 땅을 ‘반도’라고 해. 우리나라가 있는 반도라서 ‘한반도’라고 불러.”
예상 답
- “대륙의 동쪽에 붙어 있어요.” “세 쪽이 바다고 북쪽은 땅이에요.”
막히면
- 손가락으로 한반도의 동·서·남·북 가장자리를 차례로 짚으며 “여기는 땅이야, 바다야?”라고 묻습니다.
주의
- 그림은 위치 관계만 보여 주려고 네모 모양으로 간단히 그렸습니다. 크기와 모양은 실제와 다릅니다. 한반도 둘레의 작은 초록색은 제주도·울릉도·독도 같은 섬을 나타냅니다.
- 부모님 참고: 교과서에 따라 위도와 경도로 위치를 나타내기도 합니다(우리나라는 대략 북위 33°~43°, 동경 124°~132°). 오늘 수업에서는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세 바다와 이웃 나라]
목적: 한반도를 둘러싼 세 바다(동해·서해·남해)와 이웃 나라(중국·러시아·일본)를 방위와 함께 알려 줍니다(목표 A).
시간: 약 3분
이렇게 말해 보세요
- “한반도의 동쪽 바다는 동해, 서쪽 바다는 서해, 남쪽 바다는 남해야. 바다 이름에 방위가 들어 있지?”
- “한반도의 북쪽은 어느 나라와 맞닿아 있어? 동해 건너에는 어느 나라가 있어?”
예상 답
- “중국하고 러시아요.” “동해 건너에는 일본이 있어요.”
막히면
- 바다 이름의 첫 글자(동·서·남)가 방위라는 것을 먼저 짚어 주고, 방위표를 보며 하나씩 맞혀 보게 합니다.
주의
- 서해는 ‘황해’라고도 부릅니다. 한반도의 북쪽은 대부분 중국과 맞닿아 있고, 북동쪽 끝의 짧은 부분이 러시아와 맞닿아 있습니다. 일본과는 바다를 사이에 두고 있습니다.
- S05로 넘어가기 전에 그림을 손으로 가리고 세 바다의 이름을 한 번 말해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 바다와 위치 말하기]
목적: 그림에서 세 바다를 방위로 찾아 이름을 말하고, 한반도와 우리나라의 위치를 말하는 연습을 합니다(목표 A).
시간: 약 3분
이렇게 말해 보세요
- “가 바다는 한반도의 어느 쪽에 있어? 그럼 이름은?”
- “③은 ‘아시아 대륙의 ○쪽’으로 말해 볼래?”
정답
- ① 가 서해(황해), 나 동해, 다 남해
- ② 삼면(세 면)
- ③ 동쪽(동쪽 끝)
막히면
- ①은 먼저 방위표를 보고 가·나·다가 한반도의 어느 쪽인지 방위로 말하게 한 뒤, S04에서 배운 ‘방위 + 해’로 이름을 붙입니다.
주의
- ‘오른쪽 바다’처럼 말하면 방위로 바꾸어 말하게 합니다.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영역: 영토·영해·영공]
목적: 한 나라의 주권이 미치는 범위인 영역이 영토(땅)·영해(바다)·영공(하늘)으로 이루어진다는 것을 그림으로 알려 줍니다(목표 B).
시간: 약 4분
이렇게 말해 보세요
- “나라마다 그 나라가 다스리는 땅, 바다, 하늘이 있어. 이것을 ‘영역’이라고 해.”
- “영토는 땅, 영해는 영토 가까이의 바다, 영공은 영토와 영해 위의 하늘이야. 그림에서 하나씩 손가락으로 짚어 볼래?”
- “점선 밖의 바다도 우리 영해일까? 노란색 하늘은 어디까지야?”
예상 답
- “아니요. 점선까지만 영해예요.” “영공도 점선까지예요.”
막히면
- 낱말을 나누어 뜻을 짐작하게 합니다. 영토의 ‘토’는 흙(땅), 영해의 ‘해’는 바다, 영공의 ‘공’은 하늘(공중)을 뜻합니다.
주의
- 부모님 참고: 우리나라는 대부분 해안선(섬이 많은 곳은 가장 바깥쪽 섬들을 이은 선)에서 12해리(약 22 km)까지를 영해로 정하고 있습니다(대한 해협 등 일부는 다릅니다). 아이에게는 ‘영토 가까이의 정해진 범위의 바다’라고만 말해도 됩니다.
- ‘주권’은 나라의 일을 스스로 정할 수 있는 힘이라고 쉽게 풀어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섬과 독도의 영해·영공]
목적: 우리 영토는 한반도와 그 둘레의 섬들(제주도·울릉도·독도 등)이고, 섬 둘레에도 영해와 영공이 있다는 것을 알려 줍니다. 독도가 우리나라 동쪽 끝의 영토임을 차분히 알려 줍니다(목표 B).
시간: 약 3분
이렇게 말해 보세요
- “우리나라 땅은 한반도만일까? 제주도, 울릉도, 독도 같은 섬들도 모두 우리 영토야.”
- “독도는 우리나라의 가장 동쪽에 있는 섬이야. 울릉도의 동남쪽 바다에 있어.”
- “섬 둘레의 점선 안쪽 바다는 무엇일까? 그 위의 하늘은?”
예상 답
- “영해예요.” “영공이에요.”
막히면
- S06의 옆에서 본 그림을 다시 보여 주고 “섬도 땅이니까 영토지? 그럼 섬 가까운 바다는?”이라고 묻습니다.
주의
- 독도는 우리 영토이며 우리나라가 지키고 있다는 사실을 교과서처럼 차분하게 전합니다. 다른 나라 사람을 탓하는 말은 하지 않습니다.
- 그림의 섬 크기와 거리는 실제와 다릅니다. 실제 위치는 S10에서 지도 앱이나 지구본으로 함께 찾습니다. 우리나라의 가장 남쪽 끝 섬은 마라도입니다(활동지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그림에서 영역 찾기]
목적: 옆에서 본 그림에서 영토·영해·영공을 찾고, 영해의 끝(점선) 밖은 우리 영역이 아님을 확인합니다(목표 B, 오해 M2·M3).
시간: 약 3분
이렇게 말해 보세요
- “가는 땅이야, 바다야? 나는?”
- “영공은 어디 위의 하늘이었지? 다만 고르면 될까?”
- “마와 바는 점선의 어느 쪽에 있어?”
정답
- ① 영토 가, 영해 나
- ② 다, 라(땅 위의 하늘과 영해 위의 하늘)
- ③ 아니요. 마는 영해의 끝(점선) 밖의 바다이고, 바는 그 위의 하늘이라 우리 영해·영공이 아니에요.
막히면
- ②에서 다만 고르면 S06의 노란색이 어디까지였는지 다시 보여 줍니다.
주의
- 라를 빠뜨리는 것이 가장 흔한 실수입니다(오해 M2). 다음 장에서 한 번 더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비교(영해 위의 하늘)]
목적: 영공은 영토 위뿐 아니라 영해 위의 하늘도 포함한다는 것을 상황으로 확인합니다(목표 B, 오해 M2).
시간: 약 2분
이렇게 말해 보세요
- “영공은 어디 위의 하늘이었지? 영토 위만일까?”
- “그럼 이 비행기는 우리 영역에 들어온 걸까?”
정답
- 나. 영공은 영토와 영해 위의 하늘이에요. 다른 나라 비행기는 허락을 받아야 우리 영공을 지날 수 있어요.
막히면
- S08의 그림에서 라를 다시 짚어 줍니다.
주의
- 실제로 여객기는 나라끼리 정한 약속에 따라 허락을 받고 다닌다고 덧붙여 줍니다. 무섭게 느끼지 않도록 ‘나라끼리의 약속’에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실제 지도에서 찾기(부모와 함께)]
목적: 간단한 그림으로 배운 위치를 실제 지도에서 확인합니다(목표 A·B). 수업 시간에는 시작만 하고 나머지는 수업 뒤에 해도 됩니다.
시간: 약 3분
이렇게 말해 보세요
- “지도 앱에서 우리나라를 찾아볼까? 아까 본 네모 그림과 비교하면 실제 모양은 어때?”
- “독도는 어디쯤 있을까? 울릉도를 먼저 찾고 그 동남쪽을 살펴보자.”
예상 답
- “한반도가 길쭉해요.” “독도는 아주 작아요.”
정답
- 기준: 실제 지도에서 세 바다, 이웃 나라 세 곳(중국·러시아·일본), 섬 세 곳(제주도·울릉도·독도)을 손가락으로 짚으며 이름을 말하면 잘한 것입니다. 결과는 활동지 5에 기록합니다.
막히면
- 지도 앱에서 ‘울릉도’, ‘독도’를 검색하면 바로 찾을 수 있습니다. 화면을 조금씩 줄여 한반도 전체가 보이게 합니다.
주의
- 지도 앱에 따라 바다 이름이 다르게 쓰여 있거나 영어로 나올 수 있습니다. 우리 교과서에서 쓰는 이름(동해·서해·남해)으로 말하게 합니다.
- 지도 앱은 부모님이 함께 보며 쓰고, 광고나 다른 화면으로 넘어가지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보기(위치 말하기)]
목적: 도움 없이 이웃 나라를 찾고, 방위와 바다로 위치 관계를 말하며, 우리나라의 위치를 한 문장으로 말하는지 확인합니다(목표 A).
시간: 약 4분
이렇게 말해 보세요
- “이번에는 혼자 해 볼래? ③은 대륙과 바다를 넣어서 말해 줘.”
정답
- ① 가 중국, 나 러시아, 다 일본
- ② 동쪽(동남쪽), 동해 건너
- ③ 예: “우리나라는 아시아 대륙의 동쪽에 있고, 삼면이 바다인 한반도와 둘레의 섬들로 이루어져 있어요.” (대륙의 동쪽과 바다가 들어가면 맞음)
막히면
- ③이 어려우면 “어느 대륙의 어느 쪽? 둘레에는 무엇이 있어?” 두 가지로 나누어 묻습니다.
- 도움을 받아 풀었다면 기록표에 ‘도움’으로 표시합니다.
주의
- ②를 ‘오른쪽’이라고 하면 방위로 다시 말하게 합니다. 정답 확인은 다음 장(S12)에서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답과 왼쪽이 같아? 오른쪽 답은 무엇이 아쉬울까?”
예상 답
- “오른쪽이 아니라 동쪽이라고 해야 해요.” “섬도 우리 땅이에요.”
정답
- ① 가 중국, 나 러시아, 다 일본 ② 동쪽, 동해 건너 ③ 아시아 대륙의 동쪽, 삼면이 바다인 한반도와 둘레의 섬
막히면
- S03, S04를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확인(영역 구별하기)]
목적: 처음 보는 상황에서 영토·영해·영공을 구별하고, 섬 둘레의 바다가 영해인 까닭을 말하는지 확인합니다(목표 B, 오해 M1).
시간: 약 3분
이렇게 말해 보세요
- “하나씩 읽고 땅인지, 바다인지, 하늘인지 먼저 생각해 봐.”
- “④는 ‘독도가 무엇이기 때문에’로 말해 볼래?”
정답
- ① 영토
- ② 영해
- ③ 영공
- ④ 독도가 우리 영토이기 때문에 독도 가까운 바다도 우리 영해예요.
막히면
- “울릉도는 땅이야, 바다야?”처럼 먼저 땅·바다·하늘로 나누게 합니다. 그래도 어려우면 S06을 보여 주고 기록표에 ‘도움’으로 적습니다.
주의
- ④에서 섬도 영토이고, 영토 가까운 바다가 영해라는 두 가지를 이어 말하면 목표 B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“우리나라의 위치를 다시 한 문장으로 말해 볼래? 영역 세 가지는?”
예상 답
- “아시아 대륙의 동쪽에 있는 한반도와 섬들이에요. 영토, 영해, 영공이에요.”
정답
- ① 동해, 서해, 남해 ② 영토와 영해 위의 하늘 ③ 독도
막히면
- S04, S06, S07을 다시 보여 줍니다.
주의
- 활동지 5의 지도 찾기는 다음 수업 전까지 함께 해 오면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보충(방위표 다시 보기)]
목적: S02에서 방위를 헷갈리면 방위표를 다시 보고, 몸으로 방위를 익힙니다.
시간: 약 4분
이렇게 말해 보세요
- “북쪽을 보고 서 볼까? (휴대 전화 나침반 앱이나 해가 뜨는 쪽을 이용) 오른팔을 들어 봐. 그쪽이 동쪽이야.”
- “그럼 등 뒤는? 왼팔 쪽은?”
- “이제 S02의 누리섬 지도를 다시 보자. 마을은 산의 어느 쪽에 있어?”
예상 답
- “등 뒤는 남쪽, 왼쪽은 서쪽이에요.” “마을은 산의 동쪽이에요.”
막히면
- 종이에 큰 십자를 그리고 위에 ‘북’만 써 준 뒤, 아이가 나머지 방위를 채우게 합니다.
주의
- 이 차시는 계획상 바로 앞의 선수 차시가 없습니다. 방위와 지도 읽기가 많이 흔들리면 4학년 ‘지도 읽기’(KR22-G04-SOC-MAP-L01)를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국토와생활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우리나라의 위치와 영역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우리나라의 위치와 영역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우리나라의 위치와 영역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우리나라의 위치와 영역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지구의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있을까요?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우리나라의 위치를 대륙과 바다로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영토·영해·영공을 구별해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지도를 읽어 볼까요?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지어낸 섬 ‘누리섬’의 지도예요.</a:t>
            </a:r>
            <a:endParaRPr lang="ko-KR" sz="2800" dirty="0"/>
          </a:p>
        </p:txBody>
      </p:sp>
      <p:sp>
        <p:nvSpPr>
          <p:cNvPr id="4" name="S02-figure4" descr="지어낸 섬 누리섬의 지도: 섬 둘레는 바다, 섬의 왼쪽(서쪽)에 산, 같은 높이의 오른쪽(동쪽)에 마을, 오른쪽 위에 위쪽(북쪽)을 가리키는 방위표"/>
          <p:cNvSpPr/>
          <p:nvPr/>
        </p:nvSpPr>
        <p:spPr>
          <a:xfrm>
            <a:off x="6361176" y="2491264"/>
            <a:ext cx="5195316" cy="3247073"/>
          </a:xfrm>
          <a:custGeom>
            <a:avLst/>
            <a:gdLst/>
            <a:ahLst/>
            <a:cxnLst/>
            <a:rect l="l" t="t" r="r" b="b"/>
            <a:pathLst>
              <a:path w="5195316" h="3247073">
                <a:moveTo>
                  <a:pt x="0" y="3247073"/>
                </a:moveTo>
                <a:lnTo>
                  <a:pt x="5195316" y="3247073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5" name="S02-mark5"/>
          <p:cNvSpPr/>
          <p:nvPr/>
        </p:nvSpPr>
        <p:spPr>
          <a:xfrm>
            <a:off x="6794119" y="2967501"/>
            <a:ext cx="3636721" cy="2337892"/>
          </a:xfrm>
          <a:custGeom>
            <a:avLst/>
            <a:gdLst/>
            <a:ahLst/>
            <a:cxnLst/>
            <a:rect l="l" t="t" r="r" b="b"/>
            <a:pathLst>
              <a:path w="3636721" h="2337892">
                <a:moveTo>
                  <a:pt x="3636721" y="1168946"/>
                </a:moveTo>
                <a:lnTo>
                  <a:pt x="3609013" y="965896"/>
                </a:lnTo>
                <a:lnTo>
                  <a:pt x="3527187" y="769340"/>
                </a:lnTo>
                <a:lnTo>
                  <a:pt x="3392974" y="584473"/>
                </a:lnTo>
                <a:lnTo>
                  <a:pt x="3211138" y="417357"/>
                </a:lnTo>
                <a:lnTo>
                  <a:pt x="2987307" y="273620"/>
                </a:lnTo>
                <a:lnTo>
                  <a:pt x="2727541" y="156725"/>
                </a:lnTo>
                <a:lnTo>
                  <a:pt x="2440067" y="70570"/>
                </a:lnTo>
                <a:lnTo>
                  <a:pt x="2133976" y="17751"/>
                </a:lnTo>
                <a:lnTo>
                  <a:pt x="1818361" y="0"/>
                </a:lnTo>
                <a:lnTo>
                  <a:pt x="1502745" y="17751"/>
                </a:lnTo>
                <a:lnTo>
                  <a:pt x="1196654" y="70570"/>
                </a:lnTo>
                <a:lnTo>
                  <a:pt x="909180" y="156725"/>
                </a:lnTo>
                <a:lnTo>
                  <a:pt x="649415" y="273620"/>
                </a:lnTo>
                <a:lnTo>
                  <a:pt x="425583" y="417357"/>
                </a:lnTo>
                <a:lnTo>
                  <a:pt x="243747" y="584473"/>
                </a:lnTo>
                <a:lnTo>
                  <a:pt x="109535" y="769340"/>
                </a:lnTo>
                <a:lnTo>
                  <a:pt x="27708" y="965896"/>
                </a:lnTo>
                <a:lnTo>
                  <a:pt x="0" y="1168946"/>
                </a:lnTo>
                <a:lnTo>
                  <a:pt x="27708" y="1371996"/>
                </a:lnTo>
                <a:lnTo>
                  <a:pt x="109535" y="1568552"/>
                </a:lnTo>
                <a:lnTo>
                  <a:pt x="243747" y="1753419"/>
                </a:lnTo>
                <a:lnTo>
                  <a:pt x="425583" y="1920535"/>
                </a:lnTo>
                <a:lnTo>
                  <a:pt x="649415" y="2064272"/>
                </a:lnTo>
                <a:lnTo>
                  <a:pt x="909180" y="2181167"/>
                </a:lnTo>
                <a:lnTo>
                  <a:pt x="1196654" y="2267322"/>
                </a:lnTo>
                <a:lnTo>
                  <a:pt x="1502745" y="2320142"/>
                </a:lnTo>
                <a:lnTo>
                  <a:pt x="1818361" y="2337892"/>
                </a:lnTo>
                <a:lnTo>
                  <a:pt x="2133976" y="2320142"/>
                </a:lnTo>
                <a:lnTo>
                  <a:pt x="2440067" y="2267322"/>
                </a:lnTo>
                <a:lnTo>
                  <a:pt x="2727541" y="2181167"/>
                </a:lnTo>
                <a:lnTo>
                  <a:pt x="2987307" y="2064272"/>
                </a:lnTo>
                <a:lnTo>
                  <a:pt x="3211138" y="1920535"/>
                </a:lnTo>
                <a:lnTo>
                  <a:pt x="3392974" y="1753419"/>
                </a:lnTo>
                <a:lnTo>
                  <a:pt x="3527187" y="1568552"/>
                </a:lnTo>
                <a:lnTo>
                  <a:pt x="3609013" y="1371996"/>
                </a:lnTo>
                <a:close/>
              </a:path>
            </a:pathLst>
          </a:custGeom>
          <a:solidFill>
            <a:srgbClr val="D5ECC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mark6"/>
          <p:cNvSpPr/>
          <p:nvPr/>
        </p:nvSpPr>
        <p:spPr>
          <a:xfrm>
            <a:off x="7356945" y="3746798"/>
            <a:ext cx="519532" cy="519532"/>
          </a:xfrm>
          <a:custGeom>
            <a:avLst/>
            <a:gdLst/>
            <a:ahLst/>
            <a:cxnLst/>
            <a:rect l="l" t="t" r="r" b="b"/>
            <a:pathLst>
              <a:path w="519532" h="519532">
                <a:moveTo>
                  <a:pt x="0" y="519532"/>
                </a:moveTo>
                <a:lnTo>
                  <a:pt x="519532" y="519532"/>
                </a:lnTo>
                <a:lnTo>
                  <a:pt x="259766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2-mark7"/>
          <p:cNvSpPr/>
          <p:nvPr/>
        </p:nvSpPr>
        <p:spPr>
          <a:xfrm>
            <a:off x="9391777" y="3919976"/>
            <a:ext cx="346354" cy="346354"/>
          </a:xfrm>
          <a:custGeom>
            <a:avLst/>
            <a:gdLst/>
            <a:ahLst/>
            <a:cxnLst/>
            <a:rect l="l" t="t" r="r" b="b"/>
            <a:pathLst>
              <a:path w="346354" h="346354">
                <a:moveTo>
                  <a:pt x="0" y="346354"/>
                </a:moveTo>
                <a:lnTo>
                  <a:pt x="346354" y="346354"/>
                </a:lnTo>
                <a:lnTo>
                  <a:pt x="346354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2-mark8"/>
          <p:cNvSpPr/>
          <p:nvPr/>
        </p:nvSpPr>
        <p:spPr>
          <a:xfrm flipV="1">
            <a:off x="11080255" y="3227267"/>
            <a:ext cx="0" cy="5195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9" name="S02-mark9"/>
          <p:cNvSpPr/>
          <p:nvPr/>
        </p:nvSpPr>
        <p:spPr>
          <a:xfrm>
            <a:off x="10928725" y="3487033"/>
            <a:ext cx="30306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2-label11"/>
          <p:cNvSpPr txBox="1"/>
          <p:nvPr/>
        </p:nvSpPr>
        <p:spPr>
          <a:xfrm>
            <a:off x="7449833" y="4361574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1800" dirty="0"/>
          </a:p>
        </p:txBody>
      </p:sp>
      <p:sp>
        <p:nvSpPr>
          <p:cNvPr id="11" name="S02-label13"/>
          <p:cNvSpPr txBox="1"/>
          <p:nvPr/>
        </p:nvSpPr>
        <p:spPr>
          <a:xfrm>
            <a:off x="9286062" y="436157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ko-KR" sz="1800" dirty="0"/>
          </a:p>
        </p:txBody>
      </p:sp>
      <p:sp>
        <p:nvSpPr>
          <p:cNvPr id="12" name="S02-label15"/>
          <p:cNvSpPr txBox="1"/>
          <p:nvPr/>
        </p:nvSpPr>
        <p:spPr>
          <a:xfrm>
            <a:off x="10913377" y="2889568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13" name="S02-chip1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4" name="S02-text17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마을은 산의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쪽에 있나요?</a:t>
            </a:r>
            <a:endParaRPr lang="ko-KR" sz="2800" dirty="0"/>
          </a:p>
        </p:txBody>
      </p:sp>
      <p:sp>
        <p:nvSpPr>
          <p:cNvPr id="15" name="S02-chip1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6" name="S02-text19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산은 마을의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쪽에 있나요?</a:t>
            </a:r>
            <a:endParaRPr lang="ko-KR" sz="2800" dirty="0"/>
          </a:p>
        </p:txBody>
      </p:sp>
      <p:sp>
        <p:nvSpPr>
          <p:cNvPr id="17" name="S02-chip2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8" name="S02-text21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방위표가 없으면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지도의 위쪽은?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 대륙의 동쪽에 있어요</a:t>
            </a:r>
            <a:endParaRPr lang="ko-KR" sz="4000" dirty="0"/>
          </a:p>
        </p:txBody>
      </p:sp>
      <p:sp>
        <p:nvSpPr>
          <p:cNvPr id="3" name="S03-figure22" descr="간단히 나타낸 그림: 위쪽과 왼쪽에 아시아 대륙, 대륙의 동쪽 끝에 아래로 튀어나온 한반도(초록), 한반도 둘레의 작은 섬들, 오른쪽에 태평양, 오른쪽 아래에 북쪽을 가리키는 방위표"/>
          <p:cNvSpPr/>
          <p:nvPr/>
        </p:nvSpPr>
        <p:spPr>
          <a:xfrm>
            <a:off x="632460" y="1457427"/>
            <a:ext cx="6267907" cy="4178605"/>
          </a:xfrm>
          <a:custGeom>
            <a:avLst/>
            <a:gdLst/>
            <a:ahLst/>
            <a:cxnLst/>
            <a:rect l="l" t="t" r="r" b="b"/>
            <a:pathLst>
              <a:path w="6267907" h="4178605">
                <a:moveTo>
                  <a:pt x="0" y="4178605"/>
                </a:moveTo>
                <a:lnTo>
                  <a:pt x="6267907" y="4178605"/>
                </a:lnTo>
                <a:lnTo>
                  <a:pt x="6267907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03-mark23"/>
          <p:cNvSpPr/>
          <p:nvPr/>
        </p:nvSpPr>
        <p:spPr>
          <a:xfrm>
            <a:off x="632460" y="1457427"/>
            <a:ext cx="6267907" cy="3593600"/>
          </a:xfrm>
          <a:custGeom>
            <a:avLst/>
            <a:gdLst/>
            <a:ahLst/>
            <a:cxnLst/>
            <a:rect l="l" t="t" r="r" b="b"/>
            <a:pathLst>
              <a:path w="6267907" h="3593600">
                <a:moveTo>
                  <a:pt x="0" y="0"/>
                </a:moveTo>
                <a:lnTo>
                  <a:pt x="6267907" y="0"/>
                </a:lnTo>
                <a:lnTo>
                  <a:pt x="6267907" y="1002865"/>
                </a:lnTo>
                <a:lnTo>
                  <a:pt x="3760744" y="1002865"/>
                </a:lnTo>
                <a:lnTo>
                  <a:pt x="3510028" y="1253581"/>
                </a:lnTo>
                <a:lnTo>
                  <a:pt x="1337154" y="1253581"/>
                </a:lnTo>
                <a:lnTo>
                  <a:pt x="1337154" y="3593600"/>
                </a:lnTo>
                <a:lnTo>
                  <a:pt x="0" y="3593600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3-mark24"/>
          <p:cNvSpPr/>
          <p:nvPr/>
        </p:nvSpPr>
        <p:spPr>
          <a:xfrm>
            <a:off x="4811065" y="2669222"/>
            <a:ext cx="1253581" cy="2131088"/>
          </a:xfrm>
          <a:custGeom>
            <a:avLst/>
            <a:gdLst/>
            <a:ahLst/>
            <a:cxnLst/>
            <a:rect l="l" t="t" r="r" b="b"/>
            <a:pathLst>
              <a:path w="1253581" h="2131088">
                <a:moveTo>
                  <a:pt x="0" y="208930"/>
                </a:moveTo>
                <a:lnTo>
                  <a:pt x="668577" y="0"/>
                </a:lnTo>
                <a:lnTo>
                  <a:pt x="1253581" y="1880372"/>
                </a:lnTo>
                <a:lnTo>
                  <a:pt x="585005" y="2131088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3-mark25"/>
          <p:cNvSpPr/>
          <p:nvPr/>
        </p:nvSpPr>
        <p:spPr>
          <a:xfrm>
            <a:off x="4602135" y="4800310"/>
            <a:ext cx="585005" cy="585005"/>
          </a:xfrm>
          <a:custGeom>
            <a:avLst/>
            <a:gdLst/>
            <a:ahLst/>
            <a:cxnLst/>
            <a:rect l="l" t="t" r="r" b="b"/>
            <a:pathLst>
              <a:path w="585005" h="585005">
                <a:moveTo>
                  <a:pt x="0" y="125358"/>
                </a:moveTo>
                <a:lnTo>
                  <a:pt x="501433" y="0"/>
                </a:lnTo>
                <a:lnTo>
                  <a:pt x="585005" y="459647"/>
                </a:lnTo>
                <a:lnTo>
                  <a:pt x="125358" y="585005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3-mark26"/>
          <p:cNvSpPr/>
          <p:nvPr/>
        </p:nvSpPr>
        <p:spPr>
          <a:xfrm>
            <a:off x="2721762" y="2711008"/>
            <a:ext cx="1086437" cy="1922158"/>
          </a:xfrm>
          <a:custGeom>
            <a:avLst/>
            <a:gdLst/>
            <a:ahLst/>
            <a:cxnLst/>
            <a:rect l="l" t="t" r="r" b="b"/>
            <a:pathLst>
              <a:path w="1086437" h="1922158">
                <a:moveTo>
                  <a:pt x="0" y="0"/>
                </a:moveTo>
                <a:lnTo>
                  <a:pt x="1086437" y="0"/>
                </a:lnTo>
                <a:lnTo>
                  <a:pt x="961079" y="1796800"/>
                </a:lnTo>
                <a:lnTo>
                  <a:pt x="208930" y="1922158"/>
                </a:lnTo>
                <a:close/>
              </a:path>
            </a:pathLst>
          </a:custGeom>
          <a:solidFill>
            <a:srgbClr val="BFE0A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3-mark27"/>
          <p:cNvSpPr/>
          <p:nvPr/>
        </p:nvSpPr>
        <p:spPr>
          <a:xfrm>
            <a:off x="4038023" y="3233334"/>
            <a:ext cx="125358" cy="125358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mark28"/>
          <p:cNvSpPr/>
          <p:nvPr/>
        </p:nvSpPr>
        <p:spPr>
          <a:xfrm>
            <a:off x="4313811" y="3362870"/>
            <a:ext cx="75215" cy="75215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mark29"/>
          <p:cNvSpPr/>
          <p:nvPr/>
        </p:nvSpPr>
        <p:spPr>
          <a:xfrm>
            <a:off x="2951586" y="4938204"/>
            <a:ext cx="376074" cy="183859"/>
          </a:xfrm>
          <a:custGeom>
            <a:avLst/>
            <a:gdLst/>
            <a:ahLst/>
            <a:cxnLst/>
            <a:rect l="l" t="t" r="r" b="b"/>
            <a:pathLst>
              <a:path w="376074" h="183859">
                <a:moveTo>
                  <a:pt x="376074" y="91929"/>
                </a:moveTo>
                <a:lnTo>
                  <a:pt x="375359" y="83917"/>
                </a:lnTo>
                <a:lnTo>
                  <a:pt x="373218" y="75966"/>
                </a:lnTo>
                <a:lnTo>
                  <a:pt x="369667" y="68136"/>
                </a:lnTo>
                <a:lnTo>
                  <a:pt x="364734" y="60488"/>
                </a:lnTo>
                <a:lnTo>
                  <a:pt x="358457" y="53078"/>
                </a:lnTo>
                <a:lnTo>
                  <a:pt x="350882" y="45965"/>
                </a:lnTo>
                <a:lnTo>
                  <a:pt x="342068" y="39201"/>
                </a:lnTo>
                <a:lnTo>
                  <a:pt x="332082" y="32838"/>
                </a:lnTo>
                <a:lnTo>
                  <a:pt x="321000" y="26925"/>
                </a:lnTo>
                <a:lnTo>
                  <a:pt x="308905" y="21507"/>
                </a:lnTo>
                <a:lnTo>
                  <a:pt x="295891" y="16625"/>
                </a:lnTo>
                <a:lnTo>
                  <a:pt x="282056" y="12316"/>
                </a:lnTo>
                <a:lnTo>
                  <a:pt x="267505" y="8613"/>
                </a:lnTo>
                <a:lnTo>
                  <a:pt x="252350" y="5544"/>
                </a:lnTo>
                <a:lnTo>
                  <a:pt x="236705" y="3132"/>
                </a:lnTo>
                <a:lnTo>
                  <a:pt x="220690" y="1397"/>
                </a:lnTo>
                <a:lnTo>
                  <a:pt x="204426" y="350"/>
                </a:lnTo>
                <a:lnTo>
                  <a:pt x="188037" y="0"/>
                </a:lnTo>
                <a:lnTo>
                  <a:pt x="171649" y="350"/>
                </a:lnTo>
                <a:lnTo>
                  <a:pt x="155385" y="1397"/>
                </a:lnTo>
                <a:lnTo>
                  <a:pt x="139370" y="3132"/>
                </a:lnTo>
                <a:lnTo>
                  <a:pt x="123725" y="5544"/>
                </a:lnTo>
                <a:lnTo>
                  <a:pt x="108569" y="8613"/>
                </a:lnTo>
                <a:lnTo>
                  <a:pt x="94019" y="12316"/>
                </a:lnTo>
                <a:lnTo>
                  <a:pt x="80183" y="16625"/>
                </a:lnTo>
                <a:lnTo>
                  <a:pt x="67169" y="21507"/>
                </a:lnTo>
                <a:lnTo>
                  <a:pt x="55075" y="26925"/>
                </a:lnTo>
                <a:lnTo>
                  <a:pt x="43992" y="32838"/>
                </a:lnTo>
                <a:lnTo>
                  <a:pt x="34006" y="39201"/>
                </a:lnTo>
                <a:lnTo>
                  <a:pt x="25192" y="45965"/>
                </a:lnTo>
                <a:lnTo>
                  <a:pt x="17618" y="53078"/>
                </a:lnTo>
                <a:lnTo>
                  <a:pt x="11340" y="60488"/>
                </a:lnTo>
                <a:lnTo>
                  <a:pt x="6407" y="68136"/>
                </a:lnTo>
                <a:lnTo>
                  <a:pt x="2857" y="75966"/>
                </a:lnTo>
                <a:lnTo>
                  <a:pt x="716" y="83917"/>
                </a:lnTo>
                <a:lnTo>
                  <a:pt x="0" y="91929"/>
                </a:lnTo>
                <a:lnTo>
                  <a:pt x="716" y="99941"/>
                </a:lnTo>
                <a:lnTo>
                  <a:pt x="2857" y="107893"/>
                </a:lnTo>
                <a:lnTo>
                  <a:pt x="6407" y="115722"/>
                </a:lnTo>
                <a:lnTo>
                  <a:pt x="11340" y="123371"/>
                </a:lnTo>
                <a:lnTo>
                  <a:pt x="17618" y="130780"/>
                </a:lnTo>
                <a:lnTo>
                  <a:pt x="25192" y="137894"/>
                </a:lnTo>
                <a:lnTo>
                  <a:pt x="34006" y="144658"/>
                </a:lnTo>
                <a:lnTo>
                  <a:pt x="43992" y="151020"/>
                </a:lnTo>
                <a:lnTo>
                  <a:pt x="55075" y="156933"/>
                </a:lnTo>
                <a:lnTo>
                  <a:pt x="67169" y="162351"/>
                </a:lnTo>
                <a:lnTo>
                  <a:pt x="80183" y="167233"/>
                </a:lnTo>
                <a:lnTo>
                  <a:pt x="94019" y="171542"/>
                </a:lnTo>
                <a:lnTo>
                  <a:pt x="108569" y="175246"/>
                </a:lnTo>
                <a:lnTo>
                  <a:pt x="123725" y="178315"/>
                </a:lnTo>
                <a:lnTo>
                  <a:pt x="139370" y="180726"/>
                </a:lnTo>
                <a:lnTo>
                  <a:pt x="155385" y="182462"/>
                </a:lnTo>
                <a:lnTo>
                  <a:pt x="171649" y="183509"/>
                </a:lnTo>
                <a:lnTo>
                  <a:pt x="188037" y="183859"/>
                </a:lnTo>
                <a:lnTo>
                  <a:pt x="204426" y="183509"/>
                </a:lnTo>
                <a:lnTo>
                  <a:pt x="220690" y="182462"/>
                </a:lnTo>
                <a:lnTo>
                  <a:pt x="236705" y="180726"/>
                </a:lnTo>
                <a:lnTo>
                  <a:pt x="252350" y="178315"/>
                </a:lnTo>
                <a:lnTo>
                  <a:pt x="267505" y="175246"/>
                </a:lnTo>
                <a:lnTo>
                  <a:pt x="282056" y="171542"/>
                </a:lnTo>
                <a:lnTo>
                  <a:pt x="295891" y="167233"/>
                </a:lnTo>
                <a:lnTo>
                  <a:pt x="308905" y="162351"/>
                </a:lnTo>
                <a:lnTo>
                  <a:pt x="321000" y="156933"/>
                </a:lnTo>
                <a:lnTo>
                  <a:pt x="332082" y="151020"/>
                </a:lnTo>
                <a:lnTo>
                  <a:pt x="342068" y="144658"/>
                </a:lnTo>
                <a:lnTo>
                  <a:pt x="350882" y="137894"/>
                </a:lnTo>
                <a:lnTo>
                  <a:pt x="358457" y="130780"/>
                </a:lnTo>
                <a:lnTo>
                  <a:pt x="364734" y="123371"/>
                </a:lnTo>
                <a:lnTo>
                  <a:pt x="369667" y="115722"/>
                </a:lnTo>
                <a:lnTo>
                  <a:pt x="373218" y="107893"/>
                </a:lnTo>
                <a:lnTo>
                  <a:pt x="375359" y="99941"/>
                </a:lnTo>
                <a:close/>
              </a:path>
            </a:pathLst>
          </a:custGeom>
          <a:solidFill>
            <a:srgbClr val="BFE0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3-mark30"/>
          <p:cNvSpPr/>
          <p:nvPr/>
        </p:nvSpPr>
        <p:spPr>
          <a:xfrm flipV="1">
            <a:off x="3808200" y="1457427"/>
            <a:ext cx="292502" cy="1253581"/>
          </a:xfrm>
          <a:prstGeom prst="line">
            <a:avLst/>
          </a:prstGeom>
          <a:noFill/>
          <a:ln w="15875">
            <a:solidFill>
              <a:srgbClr val="8A7F6A"/>
            </a:solidFill>
            <a:prstDash val="dash"/>
          </a:ln>
        </p:spPr>
      </p:sp>
      <p:sp>
        <p:nvSpPr>
          <p:cNvPr id="12" name="S03-mark31"/>
          <p:cNvSpPr/>
          <p:nvPr/>
        </p:nvSpPr>
        <p:spPr>
          <a:xfrm flipV="1">
            <a:off x="6566079" y="4988348"/>
            <a:ext cx="0" cy="459647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3" name="S03-mark32"/>
          <p:cNvSpPr/>
          <p:nvPr/>
        </p:nvSpPr>
        <p:spPr>
          <a:xfrm>
            <a:off x="6419828" y="5218171"/>
            <a:ext cx="2925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3-label34"/>
          <p:cNvSpPr txBox="1"/>
          <p:nvPr/>
        </p:nvSpPr>
        <p:spPr>
          <a:xfrm>
            <a:off x="6399201" y="4657435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15" name="S03-label36"/>
          <p:cNvSpPr txBox="1"/>
          <p:nvPr/>
        </p:nvSpPr>
        <p:spPr>
          <a:xfrm>
            <a:off x="1153245" y="1857770"/>
            <a:ext cx="12984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 대륙</a:t>
            </a:r>
            <a:endParaRPr lang="ko-KR" sz="1800" dirty="0"/>
          </a:p>
        </p:txBody>
      </p:sp>
      <p:sp>
        <p:nvSpPr>
          <p:cNvPr id="16" name="S03-label38"/>
          <p:cNvSpPr txBox="1"/>
          <p:nvPr/>
        </p:nvSpPr>
        <p:spPr>
          <a:xfrm>
            <a:off x="2874075" y="3445640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1800" dirty="0"/>
          </a:p>
        </p:txBody>
      </p:sp>
      <p:sp>
        <p:nvSpPr>
          <p:cNvPr id="17" name="S03-label40"/>
          <p:cNvSpPr txBox="1"/>
          <p:nvPr/>
        </p:nvSpPr>
        <p:spPr>
          <a:xfrm>
            <a:off x="6049815" y="3487426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</a:t>
            </a:r>
            <a:endParaRPr lang="ko-KR" sz="1800" dirty="0"/>
          </a:p>
        </p:txBody>
      </p:sp>
      <p:sp>
        <p:nvSpPr>
          <p:cNvPr id="18" name="S03-label41"/>
          <p:cNvSpPr txBox="1"/>
          <p:nvPr/>
        </p:nvSpPr>
        <p:spPr>
          <a:xfrm>
            <a:off x="548640" y="5840730"/>
            <a:ext cx="6435547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모양과 달라요)</a:t>
            </a:r>
            <a:endParaRPr lang="ko-KR" sz="2200" dirty="0"/>
          </a:p>
        </p:txBody>
      </p:sp>
      <p:sp>
        <p:nvSpPr>
          <p:cNvPr id="19" name="S03-card42"/>
          <p:cNvSpPr/>
          <p:nvPr/>
        </p:nvSpPr>
        <p:spPr>
          <a:xfrm>
            <a:off x="7349947" y="2136648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3-cardtext43"/>
          <p:cNvSpPr txBox="1"/>
          <p:nvPr/>
        </p:nvSpPr>
        <p:spPr>
          <a:xfrm>
            <a:off x="7624267" y="2273808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 대륙의 동쪽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 대륙의 동쪽 끝,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태평양의 서쪽에 있어요.</a:t>
            </a:r>
            <a:endParaRPr lang="ko-KR" sz="2800" dirty="0"/>
          </a:p>
        </p:txBody>
      </p:sp>
      <p:sp>
        <p:nvSpPr>
          <p:cNvPr id="21" name="S03-card44"/>
          <p:cNvSpPr/>
          <p:nvPr/>
        </p:nvSpPr>
        <p:spPr>
          <a:xfrm>
            <a:off x="7349947" y="3886200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03-cardtext45"/>
          <p:cNvSpPr txBox="1"/>
          <p:nvPr/>
        </p:nvSpPr>
        <p:spPr>
          <a:xfrm>
            <a:off x="7624267" y="4023360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삼면이 바다이고 북쪽은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대륙과 이어진 땅이에요.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바다와 이웃 나라</a:t>
            </a:r>
            <a:endParaRPr lang="ko-KR" sz="4000" dirty="0"/>
          </a:p>
        </p:txBody>
      </p:sp>
      <p:sp>
        <p:nvSpPr>
          <p:cNvPr id="3" name="S04-figure46" descr="간단히 나타낸 그림: 한반도의 서쪽에 서해, 동쪽에 동해, 남쪽에 남해. 대륙 쪽 왼쪽과 위에 중국, 오른쪽 위에 러시아, 동해 건너 오른쪽에 일본, 더 동쪽에 태평양"/>
          <p:cNvSpPr/>
          <p:nvPr/>
        </p:nvSpPr>
        <p:spPr>
          <a:xfrm>
            <a:off x="632460" y="1457427"/>
            <a:ext cx="6267907" cy="4178605"/>
          </a:xfrm>
          <a:custGeom>
            <a:avLst/>
            <a:gdLst/>
            <a:ahLst/>
            <a:cxnLst/>
            <a:rect l="l" t="t" r="r" b="b"/>
            <a:pathLst>
              <a:path w="6267907" h="4178605">
                <a:moveTo>
                  <a:pt x="0" y="4178605"/>
                </a:moveTo>
                <a:lnTo>
                  <a:pt x="6267907" y="4178605"/>
                </a:lnTo>
                <a:lnTo>
                  <a:pt x="6267907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04-mark47"/>
          <p:cNvSpPr/>
          <p:nvPr/>
        </p:nvSpPr>
        <p:spPr>
          <a:xfrm>
            <a:off x="632460" y="1457427"/>
            <a:ext cx="6267907" cy="3593600"/>
          </a:xfrm>
          <a:custGeom>
            <a:avLst/>
            <a:gdLst/>
            <a:ahLst/>
            <a:cxnLst/>
            <a:rect l="l" t="t" r="r" b="b"/>
            <a:pathLst>
              <a:path w="6267907" h="3593600">
                <a:moveTo>
                  <a:pt x="0" y="0"/>
                </a:moveTo>
                <a:lnTo>
                  <a:pt x="6267907" y="0"/>
                </a:lnTo>
                <a:lnTo>
                  <a:pt x="6267907" y="1002865"/>
                </a:lnTo>
                <a:lnTo>
                  <a:pt x="3760744" y="1002865"/>
                </a:lnTo>
                <a:lnTo>
                  <a:pt x="3510028" y="1253581"/>
                </a:lnTo>
                <a:lnTo>
                  <a:pt x="1337154" y="1253581"/>
                </a:lnTo>
                <a:lnTo>
                  <a:pt x="1337154" y="3593600"/>
                </a:lnTo>
                <a:lnTo>
                  <a:pt x="0" y="3593600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4-mark48"/>
          <p:cNvSpPr/>
          <p:nvPr/>
        </p:nvSpPr>
        <p:spPr>
          <a:xfrm>
            <a:off x="4811065" y="2669222"/>
            <a:ext cx="1253581" cy="2131088"/>
          </a:xfrm>
          <a:custGeom>
            <a:avLst/>
            <a:gdLst/>
            <a:ahLst/>
            <a:cxnLst/>
            <a:rect l="l" t="t" r="r" b="b"/>
            <a:pathLst>
              <a:path w="1253581" h="2131088">
                <a:moveTo>
                  <a:pt x="0" y="208930"/>
                </a:moveTo>
                <a:lnTo>
                  <a:pt x="668577" y="0"/>
                </a:lnTo>
                <a:lnTo>
                  <a:pt x="1253581" y="1880372"/>
                </a:lnTo>
                <a:lnTo>
                  <a:pt x="585005" y="2131088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4-mark49"/>
          <p:cNvSpPr/>
          <p:nvPr/>
        </p:nvSpPr>
        <p:spPr>
          <a:xfrm>
            <a:off x="4602135" y="4800310"/>
            <a:ext cx="585005" cy="585005"/>
          </a:xfrm>
          <a:custGeom>
            <a:avLst/>
            <a:gdLst/>
            <a:ahLst/>
            <a:cxnLst/>
            <a:rect l="l" t="t" r="r" b="b"/>
            <a:pathLst>
              <a:path w="585005" h="585005">
                <a:moveTo>
                  <a:pt x="0" y="125358"/>
                </a:moveTo>
                <a:lnTo>
                  <a:pt x="501433" y="0"/>
                </a:lnTo>
                <a:lnTo>
                  <a:pt x="585005" y="459647"/>
                </a:lnTo>
                <a:lnTo>
                  <a:pt x="125358" y="585005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4-mark50"/>
          <p:cNvSpPr/>
          <p:nvPr/>
        </p:nvSpPr>
        <p:spPr>
          <a:xfrm>
            <a:off x="2721762" y="2711008"/>
            <a:ext cx="1086437" cy="1922158"/>
          </a:xfrm>
          <a:custGeom>
            <a:avLst/>
            <a:gdLst/>
            <a:ahLst/>
            <a:cxnLst/>
            <a:rect l="l" t="t" r="r" b="b"/>
            <a:pathLst>
              <a:path w="1086437" h="1922158">
                <a:moveTo>
                  <a:pt x="0" y="0"/>
                </a:moveTo>
                <a:lnTo>
                  <a:pt x="1086437" y="0"/>
                </a:lnTo>
                <a:lnTo>
                  <a:pt x="961079" y="1796800"/>
                </a:lnTo>
                <a:lnTo>
                  <a:pt x="208930" y="1922158"/>
                </a:lnTo>
                <a:close/>
              </a:path>
            </a:pathLst>
          </a:custGeom>
          <a:solidFill>
            <a:srgbClr val="BFE0A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4-mark51"/>
          <p:cNvSpPr/>
          <p:nvPr/>
        </p:nvSpPr>
        <p:spPr>
          <a:xfrm>
            <a:off x="4038023" y="3233334"/>
            <a:ext cx="125358" cy="125358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mark52"/>
          <p:cNvSpPr/>
          <p:nvPr/>
        </p:nvSpPr>
        <p:spPr>
          <a:xfrm>
            <a:off x="4313811" y="3362870"/>
            <a:ext cx="75215" cy="75215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mark53"/>
          <p:cNvSpPr/>
          <p:nvPr/>
        </p:nvSpPr>
        <p:spPr>
          <a:xfrm>
            <a:off x="2951586" y="4938204"/>
            <a:ext cx="376074" cy="183859"/>
          </a:xfrm>
          <a:custGeom>
            <a:avLst/>
            <a:gdLst/>
            <a:ahLst/>
            <a:cxnLst/>
            <a:rect l="l" t="t" r="r" b="b"/>
            <a:pathLst>
              <a:path w="376074" h="183859">
                <a:moveTo>
                  <a:pt x="376074" y="91929"/>
                </a:moveTo>
                <a:lnTo>
                  <a:pt x="375359" y="83917"/>
                </a:lnTo>
                <a:lnTo>
                  <a:pt x="373218" y="75966"/>
                </a:lnTo>
                <a:lnTo>
                  <a:pt x="369667" y="68136"/>
                </a:lnTo>
                <a:lnTo>
                  <a:pt x="364734" y="60488"/>
                </a:lnTo>
                <a:lnTo>
                  <a:pt x="358457" y="53078"/>
                </a:lnTo>
                <a:lnTo>
                  <a:pt x="350882" y="45965"/>
                </a:lnTo>
                <a:lnTo>
                  <a:pt x="342068" y="39201"/>
                </a:lnTo>
                <a:lnTo>
                  <a:pt x="332082" y="32838"/>
                </a:lnTo>
                <a:lnTo>
                  <a:pt x="321000" y="26925"/>
                </a:lnTo>
                <a:lnTo>
                  <a:pt x="308905" y="21507"/>
                </a:lnTo>
                <a:lnTo>
                  <a:pt x="295891" y="16625"/>
                </a:lnTo>
                <a:lnTo>
                  <a:pt x="282056" y="12316"/>
                </a:lnTo>
                <a:lnTo>
                  <a:pt x="267505" y="8613"/>
                </a:lnTo>
                <a:lnTo>
                  <a:pt x="252350" y="5544"/>
                </a:lnTo>
                <a:lnTo>
                  <a:pt x="236705" y="3132"/>
                </a:lnTo>
                <a:lnTo>
                  <a:pt x="220690" y="1397"/>
                </a:lnTo>
                <a:lnTo>
                  <a:pt x="204426" y="350"/>
                </a:lnTo>
                <a:lnTo>
                  <a:pt x="188037" y="0"/>
                </a:lnTo>
                <a:lnTo>
                  <a:pt x="171649" y="350"/>
                </a:lnTo>
                <a:lnTo>
                  <a:pt x="155385" y="1397"/>
                </a:lnTo>
                <a:lnTo>
                  <a:pt x="139370" y="3132"/>
                </a:lnTo>
                <a:lnTo>
                  <a:pt x="123725" y="5544"/>
                </a:lnTo>
                <a:lnTo>
                  <a:pt x="108569" y="8613"/>
                </a:lnTo>
                <a:lnTo>
                  <a:pt x="94019" y="12316"/>
                </a:lnTo>
                <a:lnTo>
                  <a:pt x="80183" y="16625"/>
                </a:lnTo>
                <a:lnTo>
                  <a:pt x="67169" y="21507"/>
                </a:lnTo>
                <a:lnTo>
                  <a:pt x="55075" y="26925"/>
                </a:lnTo>
                <a:lnTo>
                  <a:pt x="43992" y="32838"/>
                </a:lnTo>
                <a:lnTo>
                  <a:pt x="34006" y="39201"/>
                </a:lnTo>
                <a:lnTo>
                  <a:pt x="25192" y="45965"/>
                </a:lnTo>
                <a:lnTo>
                  <a:pt x="17618" y="53078"/>
                </a:lnTo>
                <a:lnTo>
                  <a:pt x="11340" y="60488"/>
                </a:lnTo>
                <a:lnTo>
                  <a:pt x="6407" y="68136"/>
                </a:lnTo>
                <a:lnTo>
                  <a:pt x="2857" y="75966"/>
                </a:lnTo>
                <a:lnTo>
                  <a:pt x="716" y="83917"/>
                </a:lnTo>
                <a:lnTo>
                  <a:pt x="0" y="91929"/>
                </a:lnTo>
                <a:lnTo>
                  <a:pt x="716" y="99941"/>
                </a:lnTo>
                <a:lnTo>
                  <a:pt x="2857" y="107893"/>
                </a:lnTo>
                <a:lnTo>
                  <a:pt x="6407" y="115722"/>
                </a:lnTo>
                <a:lnTo>
                  <a:pt x="11340" y="123371"/>
                </a:lnTo>
                <a:lnTo>
                  <a:pt x="17618" y="130780"/>
                </a:lnTo>
                <a:lnTo>
                  <a:pt x="25192" y="137894"/>
                </a:lnTo>
                <a:lnTo>
                  <a:pt x="34006" y="144658"/>
                </a:lnTo>
                <a:lnTo>
                  <a:pt x="43992" y="151020"/>
                </a:lnTo>
                <a:lnTo>
                  <a:pt x="55075" y="156933"/>
                </a:lnTo>
                <a:lnTo>
                  <a:pt x="67169" y="162351"/>
                </a:lnTo>
                <a:lnTo>
                  <a:pt x="80183" y="167233"/>
                </a:lnTo>
                <a:lnTo>
                  <a:pt x="94019" y="171542"/>
                </a:lnTo>
                <a:lnTo>
                  <a:pt x="108569" y="175246"/>
                </a:lnTo>
                <a:lnTo>
                  <a:pt x="123725" y="178315"/>
                </a:lnTo>
                <a:lnTo>
                  <a:pt x="139370" y="180726"/>
                </a:lnTo>
                <a:lnTo>
                  <a:pt x="155385" y="182462"/>
                </a:lnTo>
                <a:lnTo>
                  <a:pt x="171649" y="183509"/>
                </a:lnTo>
                <a:lnTo>
                  <a:pt x="188037" y="183859"/>
                </a:lnTo>
                <a:lnTo>
                  <a:pt x="204426" y="183509"/>
                </a:lnTo>
                <a:lnTo>
                  <a:pt x="220690" y="182462"/>
                </a:lnTo>
                <a:lnTo>
                  <a:pt x="236705" y="180726"/>
                </a:lnTo>
                <a:lnTo>
                  <a:pt x="252350" y="178315"/>
                </a:lnTo>
                <a:lnTo>
                  <a:pt x="267505" y="175246"/>
                </a:lnTo>
                <a:lnTo>
                  <a:pt x="282056" y="171542"/>
                </a:lnTo>
                <a:lnTo>
                  <a:pt x="295891" y="167233"/>
                </a:lnTo>
                <a:lnTo>
                  <a:pt x="308905" y="162351"/>
                </a:lnTo>
                <a:lnTo>
                  <a:pt x="321000" y="156933"/>
                </a:lnTo>
                <a:lnTo>
                  <a:pt x="332082" y="151020"/>
                </a:lnTo>
                <a:lnTo>
                  <a:pt x="342068" y="144658"/>
                </a:lnTo>
                <a:lnTo>
                  <a:pt x="350882" y="137894"/>
                </a:lnTo>
                <a:lnTo>
                  <a:pt x="358457" y="130780"/>
                </a:lnTo>
                <a:lnTo>
                  <a:pt x="364734" y="123371"/>
                </a:lnTo>
                <a:lnTo>
                  <a:pt x="369667" y="115722"/>
                </a:lnTo>
                <a:lnTo>
                  <a:pt x="373218" y="107893"/>
                </a:lnTo>
                <a:lnTo>
                  <a:pt x="375359" y="99941"/>
                </a:lnTo>
                <a:close/>
              </a:path>
            </a:pathLst>
          </a:custGeom>
          <a:solidFill>
            <a:srgbClr val="BFE0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4-mark54"/>
          <p:cNvSpPr/>
          <p:nvPr/>
        </p:nvSpPr>
        <p:spPr>
          <a:xfrm flipV="1">
            <a:off x="3808200" y="1457427"/>
            <a:ext cx="292502" cy="1253581"/>
          </a:xfrm>
          <a:prstGeom prst="line">
            <a:avLst/>
          </a:prstGeom>
          <a:noFill/>
          <a:ln w="15875">
            <a:solidFill>
              <a:srgbClr val="8A7F6A"/>
            </a:solidFill>
            <a:prstDash val="dash"/>
          </a:ln>
        </p:spPr>
      </p:sp>
      <p:sp>
        <p:nvSpPr>
          <p:cNvPr id="12" name="S04-mark55"/>
          <p:cNvSpPr/>
          <p:nvPr/>
        </p:nvSpPr>
        <p:spPr>
          <a:xfrm flipV="1">
            <a:off x="6566079" y="4988348"/>
            <a:ext cx="0" cy="459647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3" name="S04-mark56"/>
          <p:cNvSpPr/>
          <p:nvPr/>
        </p:nvSpPr>
        <p:spPr>
          <a:xfrm>
            <a:off x="6419828" y="5218171"/>
            <a:ext cx="2925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4-label58"/>
          <p:cNvSpPr txBox="1"/>
          <p:nvPr/>
        </p:nvSpPr>
        <p:spPr>
          <a:xfrm>
            <a:off x="6399201" y="4657435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15" name="S04-label60"/>
          <p:cNvSpPr txBox="1"/>
          <p:nvPr/>
        </p:nvSpPr>
        <p:spPr>
          <a:xfrm>
            <a:off x="2874075" y="3445640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1800" dirty="0"/>
          </a:p>
        </p:txBody>
      </p:sp>
      <p:sp>
        <p:nvSpPr>
          <p:cNvPr id="16" name="S04-label62"/>
          <p:cNvSpPr txBox="1"/>
          <p:nvPr/>
        </p:nvSpPr>
        <p:spPr>
          <a:xfrm>
            <a:off x="6049815" y="3487426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</a:t>
            </a:r>
            <a:endParaRPr lang="ko-KR" sz="1800" dirty="0"/>
          </a:p>
        </p:txBody>
      </p:sp>
      <p:sp>
        <p:nvSpPr>
          <p:cNvPr id="17" name="S04-label64"/>
          <p:cNvSpPr txBox="1"/>
          <p:nvPr/>
        </p:nvSpPr>
        <p:spPr>
          <a:xfrm>
            <a:off x="1022145" y="3654570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</a:t>
            </a:r>
            <a:endParaRPr lang="ko-KR" sz="1800" dirty="0"/>
          </a:p>
        </p:txBody>
      </p:sp>
      <p:sp>
        <p:nvSpPr>
          <p:cNvPr id="18" name="S04-label66"/>
          <p:cNvSpPr txBox="1"/>
          <p:nvPr/>
        </p:nvSpPr>
        <p:spPr>
          <a:xfrm>
            <a:off x="5339452" y="1815984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러시아</a:t>
            </a:r>
            <a:endParaRPr lang="ko-KR" sz="1800" dirty="0"/>
          </a:p>
        </p:txBody>
      </p:sp>
      <p:sp>
        <p:nvSpPr>
          <p:cNvPr id="19" name="S04-label68"/>
          <p:cNvSpPr txBox="1"/>
          <p:nvPr/>
        </p:nvSpPr>
        <p:spPr>
          <a:xfrm>
            <a:off x="5158964" y="3570998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</a:t>
            </a:r>
            <a:endParaRPr lang="ko-KR" sz="1800" dirty="0"/>
          </a:p>
        </p:txBody>
      </p:sp>
      <p:sp>
        <p:nvSpPr>
          <p:cNvPr id="20" name="S04-label70"/>
          <p:cNvSpPr txBox="1"/>
          <p:nvPr/>
        </p:nvSpPr>
        <p:spPr>
          <a:xfrm>
            <a:off x="2087689" y="3654570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서해</a:t>
            </a:r>
            <a:endParaRPr lang="ko-KR" sz="1800" dirty="0"/>
          </a:p>
        </p:txBody>
      </p:sp>
      <p:sp>
        <p:nvSpPr>
          <p:cNvPr id="21" name="S04-label72"/>
          <p:cNvSpPr txBox="1"/>
          <p:nvPr/>
        </p:nvSpPr>
        <p:spPr>
          <a:xfrm>
            <a:off x="4114312" y="3696356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동해</a:t>
            </a:r>
            <a:endParaRPr lang="ko-KR" sz="1800" dirty="0"/>
          </a:p>
        </p:txBody>
      </p:sp>
      <p:sp>
        <p:nvSpPr>
          <p:cNvPr id="22" name="S04-label74"/>
          <p:cNvSpPr txBox="1"/>
          <p:nvPr/>
        </p:nvSpPr>
        <p:spPr>
          <a:xfrm>
            <a:off x="3571094" y="4824580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남해</a:t>
            </a:r>
            <a:endParaRPr lang="ko-KR" sz="1800" dirty="0"/>
          </a:p>
        </p:txBody>
      </p:sp>
      <p:sp>
        <p:nvSpPr>
          <p:cNvPr id="23" name="S04-label75"/>
          <p:cNvSpPr txBox="1"/>
          <p:nvPr/>
        </p:nvSpPr>
        <p:spPr>
          <a:xfrm>
            <a:off x="548640" y="5840730"/>
            <a:ext cx="6435547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모양과 달라요)</a:t>
            </a:r>
            <a:endParaRPr lang="ko-KR" sz="2200" dirty="0"/>
          </a:p>
        </p:txBody>
      </p:sp>
      <p:sp>
        <p:nvSpPr>
          <p:cNvPr id="24" name="S04-card76"/>
          <p:cNvSpPr/>
          <p:nvPr/>
        </p:nvSpPr>
        <p:spPr>
          <a:xfrm>
            <a:off x="7349947" y="2136648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4-cardtext77"/>
          <p:cNvSpPr txBox="1"/>
          <p:nvPr/>
        </p:nvSpPr>
        <p:spPr>
          <a:xfrm>
            <a:off x="7624267" y="2273808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바다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동쪽은 동해, 서쪽은 서해,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남쪽은 남해예요.</a:t>
            </a:r>
            <a:endParaRPr lang="ko-KR" sz="2800" dirty="0"/>
          </a:p>
        </p:txBody>
      </p:sp>
      <p:sp>
        <p:nvSpPr>
          <p:cNvPr id="26" name="S04-card78"/>
          <p:cNvSpPr/>
          <p:nvPr/>
        </p:nvSpPr>
        <p:spPr>
          <a:xfrm>
            <a:off x="7349947" y="3886200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04-cardtext79"/>
          <p:cNvSpPr txBox="1"/>
          <p:nvPr/>
        </p:nvSpPr>
        <p:spPr>
          <a:xfrm>
            <a:off x="7624267" y="4023360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나라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중국, 러시아, 일본이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가까이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 이름을 찾아요</a:t>
            </a:r>
            <a:endParaRPr lang="ko-KR" sz="4000" dirty="0"/>
          </a:p>
        </p:txBody>
      </p:sp>
      <p:sp>
        <p:nvSpPr>
          <p:cNvPr id="3" name="S05-figure80" descr="간단히 나타낸 그림: 한반도의 서쪽 바다에 가, 동쪽 바다에 나, 남쪽 바다에 다. 중국·러시아·일본과 태평양의 이름이 적혀 있음"/>
          <p:cNvSpPr/>
          <p:nvPr/>
        </p:nvSpPr>
        <p:spPr>
          <a:xfrm>
            <a:off x="6361176" y="1814957"/>
            <a:ext cx="5195316" cy="3463544"/>
          </a:xfrm>
          <a:custGeom>
            <a:avLst/>
            <a:gdLst/>
            <a:ahLst/>
            <a:cxnLst/>
            <a:rect l="l" t="t" r="r" b="b"/>
            <a:pathLst>
              <a:path w="5195316" h="3463544">
                <a:moveTo>
                  <a:pt x="0" y="3463544"/>
                </a:moveTo>
                <a:lnTo>
                  <a:pt x="5195316" y="3463544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05-mark81"/>
          <p:cNvSpPr/>
          <p:nvPr/>
        </p:nvSpPr>
        <p:spPr>
          <a:xfrm>
            <a:off x="6361176" y="1814957"/>
            <a:ext cx="5195316" cy="2978648"/>
          </a:xfrm>
          <a:custGeom>
            <a:avLst/>
            <a:gdLst/>
            <a:ahLst/>
            <a:cxnLst/>
            <a:rect l="l" t="t" r="r" b="b"/>
            <a:pathLst>
              <a:path w="5195316" h="2978648">
                <a:moveTo>
                  <a:pt x="0" y="0"/>
                </a:moveTo>
                <a:lnTo>
                  <a:pt x="5195316" y="0"/>
                </a:lnTo>
                <a:lnTo>
                  <a:pt x="5195316" y="831251"/>
                </a:lnTo>
                <a:lnTo>
                  <a:pt x="3117190" y="831251"/>
                </a:lnTo>
                <a:lnTo>
                  <a:pt x="2909377" y="1039063"/>
                </a:lnTo>
                <a:lnTo>
                  <a:pt x="1108334" y="1039063"/>
                </a:lnTo>
                <a:lnTo>
                  <a:pt x="1108334" y="2978648"/>
                </a:lnTo>
                <a:lnTo>
                  <a:pt x="0" y="2978648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5-mark82"/>
          <p:cNvSpPr/>
          <p:nvPr/>
        </p:nvSpPr>
        <p:spPr>
          <a:xfrm>
            <a:off x="9824720" y="2819385"/>
            <a:ext cx="1039063" cy="1766407"/>
          </a:xfrm>
          <a:custGeom>
            <a:avLst/>
            <a:gdLst/>
            <a:ahLst/>
            <a:cxnLst/>
            <a:rect l="l" t="t" r="r" b="b"/>
            <a:pathLst>
              <a:path w="1039063" h="1766407">
                <a:moveTo>
                  <a:pt x="0" y="173177"/>
                </a:moveTo>
                <a:lnTo>
                  <a:pt x="554167" y="0"/>
                </a:lnTo>
                <a:lnTo>
                  <a:pt x="1039063" y="1558595"/>
                </a:lnTo>
                <a:lnTo>
                  <a:pt x="484896" y="1766407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5-mark83"/>
          <p:cNvSpPr/>
          <p:nvPr/>
        </p:nvSpPr>
        <p:spPr>
          <a:xfrm>
            <a:off x="9651543" y="4585792"/>
            <a:ext cx="484896" cy="484896"/>
          </a:xfrm>
          <a:custGeom>
            <a:avLst/>
            <a:gdLst/>
            <a:ahLst/>
            <a:cxnLst/>
            <a:rect l="l" t="t" r="r" b="b"/>
            <a:pathLst>
              <a:path w="484896" h="484896">
                <a:moveTo>
                  <a:pt x="0" y="103906"/>
                </a:moveTo>
                <a:lnTo>
                  <a:pt x="415625" y="0"/>
                </a:lnTo>
                <a:lnTo>
                  <a:pt x="484896" y="380990"/>
                </a:lnTo>
                <a:lnTo>
                  <a:pt x="103906" y="484896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5-mark84"/>
          <p:cNvSpPr/>
          <p:nvPr/>
        </p:nvSpPr>
        <p:spPr>
          <a:xfrm>
            <a:off x="8092948" y="2854020"/>
            <a:ext cx="900521" cy="1593230"/>
          </a:xfrm>
          <a:custGeom>
            <a:avLst/>
            <a:gdLst/>
            <a:ahLst/>
            <a:cxnLst/>
            <a:rect l="l" t="t" r="r" b="b"/>
            <a:pathLst>
              <a:path w="900521" h="1593230">
                <a:moveTo>
                  <a:pt x="0" y="0"/>
                </a:moveTo>
                <a:lnTo>
                  <a:pt x="900521" y="0"/>
                </a:lnTo>
                <a:lnTo>
                  <a:pt x="796615" y="1489324"/>
                </a:lnTo>
                <a:lnTo>
                  <a:pt x="173177" y="1593230"/>
                </a:lnTo>
                <a:close/>
              </a:path>
            </a:pathLst>
          </a:custGeom>
          <a:solidFill>
            <a:srgbClr val="BFE0A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5-mark85"/>
          <p:cNvSpPr/>
          <p:nvPr/>
        </p:nvSpPr>
        <p:spPr>
          <a:xfrm>
            <a:off x="9183964" y="3286963"/>
            <a:ext cx="103906" cy="103906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mark86"/>
          <p:cNvSpPr/>
          <p:nvPr/>
        </p:nvSpPr>
        <p:spPr>
          <a:xfrm>
            <a:off x="9412558" y="3394333"/>
            <a:ext cx="62344" cy="62344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mark87"/>
          <p:cNvSpPr/>
          <p:nvPr/>
        </p:nvSpPr>
        <p:spPr>
          <a:xfrm>
            <a:off x="8283443" y="4700089"/>
            <a:ext cx="311719" cy="152396"/>
          </a:xfrm>
          <a:custGeom>
            <a:avLst/>
            <a:gdLst/>
            <a:ahLst/>
            <a:cxnLst/>
            <a:rect l="l" t="t" r="r" b="b"/>
            <a:pathLst>
              <a:path w="311719" h="152396">
                <a:moveTo>
                  <a:pt x="311719" y="76198"/>
                </a:moveTo>
                <a:lnTo>
                  <a:pt x="311126" y="69557"/>
                </a:lnTo>
                <a:lnTo>
                  <a:pt x="309351" y="62966"/>
                </a:lnTo>
                <a:lnTo>
                  <a:pt x="306408" y="56476"/>
                </a:lnTo>
                <a:lnTo>
                  <a:pt x="302319" y="50137"/>
                </a:lnTo>
                <a:lnTo>
                  <a:pt x="297116" y="43995"/>
                </a:lnTo>
                <a:lnTo>
                  <a:pt x="290838" y="38099"/>
                </a:lnTo>
                <a:lnTo>
                  <a:pt x="283532" y="32493"/>
                </a:lnTo>
                <a:lnTo>
                  <a:pt x="275255" y="27219"/>
                </a:lnTo>
                <a:lnTo>
                  <a:pt x="266069" y="22318"/>
                </a:lnTo>
                <a:lnTo>
                  <a:pt x="256044" y="17827"/>
                </a:lnTo>
                <a:lnTo>
                  <a:pt x="245257" y="13780"/>
                </a:lnTo>
                <a:lnTo>
                  <a:pt x="233789" y="10209"/>
                </a:lnTo>
                <a:lnTo>
                  <a:pt x="221729" y="7139"/>
                </a:lnTo>
                <a:lnTo>
                  <a:pt x="209167" y="4595"/>
                </a:lnTo>
                <a:lnTo>
                  <a:pt x="196199" y="2596"/>
                </a:lnTo>
                <a:lnTo>
                  <a:pt x="182924" y="1158"/>
                </a:lnTo>
                <a:lnTo>
                  <a:pt x="169444" y="290"/>
                </a:lnTo>
                <a:lnTo>
                  <a:pt x="155859" y="0"/>
                </a:lnTo>
                <a:lnTo>
                  <a:pt x="142275" y="290"/>
                </a:lnTo>
                <a:lnTo>
                  <a:pt x="128795" y="1158"/>
                </a:lnTo>
                <a:lnTo>
                  <a:pt x="115520" y="2596"/>
                </a:lnTo>
                <a:lnTo>
                  <a:pt x="102552" y="4595"/>
                </a:lnTo>
                <a:lnTo>
                  <a:pt x="89990" y="7139"/>
                </a:lnTo>
                <a:lnTo>
                  <a:pt x="77930" y="10209"/>
                </a:lnTo>
                <a:lnTo>
                  <a:pt x="66462" y="13780"/>
                </a:lnTo>
                <a:lnTo>
                  <a:pt x="55675" y="17827"/>
                </a:lnTo>
                <a:lnTo>
                  <a:pt x="45650" y="22318"/>
                </a:lnTo>
                <a:lnTo>
                  <a:pt x="36464" y="27219"/>
                </a:lnTo>
                <a:lnTo>
                  <a:pt x="28187" y="32493"/>
                </a:lnTo>
                <a:lnTo>
                  <a:pt x="20881" y="38099"/>
                </a:lnTo>
                <a:lnTo>
                  <a:pt x="14603" y="43995"/>
                </a:lnTo>
                <a:lnTo>
                  <a:pt x="9399" y="50137"/>
                </a:lnTo>
                <a:lnTo>
                  <a:pt x="5311" y="56476"/>
                </a:lnTo>
                <a:lnTo>
                  <a:pt x="2368" y="62966"/>
                </a:lnTo>
                <a:lnTo>
                  <a:pt x="593" y="69557"/>
                </a:lnTo>
                <a:lnTo>
                  <a:pt x="0" y="76198"/>
                </a:lnTo>
                <a:lnTo>
                  <a:pt x="593" y="82839"/>
                </a:lnTo>
                <a:lnTo>
                  <a:pt x="2368" y="89430"/>
                </a:lnTo>
                <a:lnTo>
                  <a:pt x="5311" y="95919"/>
                </a:lnTo>
                <a:lnTo>
                  <a:pt x="9399" y="102259"/>
                </a:lnTo>
                <a:lnTo>
                  <a:pt x="14603" y="108401"/>
                </a:lnTo>
                <a:lnTo>
                  <a:pt x="20881" y="114297"/>
                </a:lnTo>
                <a:lnTo>
                  <a:pt x="28187" y="119903"/>
                </a:lnTo>
                <a:lnTo>
                  <a:pt x="36464" y="125177"/>
                </a:lnTo>
                <a:lnTo>
                  <a:pt x="45650" y="130078"/>
                </a:lnTo>
                <a:lnTo>
                  <a:pt x="55675" y="134569"/>
                </a:lnTo>
                <a:lnTo>
                  <a:pt x="66462" y="138616"/>
                </a:lnTo>
                <a:lnTo>
                  <a:pt x="77930" y="142187"/>
                </a:lnTo>
                <a:lnTo>
                  <a:pt x="89990" y="145257"/>
                </a:lnTo>
                <a:lnTo>
                  <a:pt x="102552" y="147801"/>
                </a:lnTo>
                <a:lnTo>
                  <a:pt x="115520" y="149800"/>
                </a:lnTo>
                <a:lnTo>
                  <a:pt x="128795" y="151238"/>
                </a:lnTo>
                <a:lnTo>
                  <a:pt x="142275" y="152106"/>
                </a:lnTo>
                <a:lnTo>
                  <a:pt x="155859" y="152396"/>
                </a:lnTo>
                <a:lnTo>
                  <a:pt x="169444" y="152106"/>
                </a:lnTo>
                <a:lnTo>
                  <a:pt x="182924" y="151238"/>
                </a:lnTo>
                <a:lnTo>
                  <a:pt x="196199" y="149800"/>
                </a:lnTo>
                <a:lnTo>
                  <a:pt x="209167" y="147801"/>
                </a:lnTo>
                <a:lnTo>
                  <a:pt x="221729" y="145257"/>
                </a:lnTo>
                <a:lnTo>
                  <a:pt x="233789" y="142187"/>
                </a:lnTo>
                <a:lnTo>
                  <a:pt x="245257" y="138616"/>
                </a:lnTo>
                <a:lnTo>
                  <a:pt x="256044" y="134569"/>
                </a:lnTo>
                <a:lnTo>
                  <a:pt x="266069" y="130078"/>
                </a:lnTo>
                <a:lnTo>
                  <a:pt x="275255" y="125177"/>
                </a:lnTo>
                <a:lnTo>
                  <a:pt x="283532" y="119903"/>
                </a:lnTo>
                <a:lnTo>
                  <a:pt x="290838" y="114297"/>
                </a:lnTo>
                <a:lnTo>
                  <a:pt x="297116" y="108401"/>
                </a:lnTo>
                <a:lnTo>
                  <a:pt x="302319" y="102259"/>
                </a:lnTo>
                <a:lnTo>
                  <a:pt x="306408" y="95919"/>
                </a:lnTo>
                <a:lnTo>
                  <a:pt x="309351" y="89430"/>
                </a:lnTo>
                <a:lnTo>
                  <a:pt x="311126" y="82839"/>
                </a:lnTo>
                <a:close/>
              </a:path>
            </a:pathLst>
          </a:custGeom>
          <a:solidFill>
            <a:srgbClr val="BFE0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5-mark88"/>
          <p:cNvSpPr/>
          <p:nvPr/>
        </p:nvSpPr>
        <p:spPr>
          <a:xfrm flipV="1">
            <a:off x="8993469" y="1814957"/>
            <a:ext cx="242448" cy="1039063"/>
          </a:xfrm>
          <a:prstGeom prst="line">
            <a:avLst/>
          </a:prstGeom>
          <a:noFill/>
          <a:ln w="15875">
            <a:solidFill>
              <a:srgbClr val="8A7F6A"/>
            </a:solidFill>
            <a:prstDash val="dash"/>
          </a:ln>
        </p:spPr>
      </p:sp>
      <p:sp>
        <p:nvSpPr>
          <p:cNvPr id="12" name="S05-mark89"/>
          <p:cNvSpPr/>
          <p:nvPr/>
        </p:nvSpPr>
        <p:spPr>
          <a:xfrm flipV="1">
            <a:off x="11279408" y="4741652"/>
            <a:ext cx="0" cy="38099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3" name="S05-mark90"/>
          <p:cNvSpPr/>
          <p:nvPr/>
        </p:nvSpPr>
        <p:spPr>
          <a:xfrm>
            <a:off x="11158184" y="4932147"/>
            <a:ext cx="2424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5-label92"/>
          <p:cNvSpPr txBox="1"/>
          <p:nvPr/>
        </p:nvSpPr>
        <p:spPr>
          <a:xfrm>
            <a:off x="11112530" y="4442917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15" name="S05-label94"/>
          <p:cNvSpPr txBox="1"/>
          <p:nvPr/>
        </p:nvSpPr>
        <p:spPr>
          <a:xfrm>
            <a:off x="8152303" y="3438489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1800" dirty="0"/>
          </a:p>
        </p:txBody>
      </p:sp>
      <p:sp>
        <p:nvSpPr>
          <p:cNvPr id="16" name="S05-label96"/>
          <p:cNvSpPr txBox="1"/>
          <p:nvPr/>
        </p:nvSpPr>
        <p:spPr>
          <a:xfrm>
            <a:off x="10784596" y="3473125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</a:t>
            </a:r>
            <a:endParaRPr lang="ko-KR" sz="1800" dirty="0"/>
          </a:p>
        </p:txBody>
      </p:sp>
      <p:sp>
        <p:nvSpPr>
          <p:cNvPr id="17" name="S05-label98"/>
          <p:cNvSpPr txBox="1"/>
          <p:nvPr/>
        </p:nvSpPr>
        <p:spPr>
          <a:xfrm>
            <a:off x="6636451" y="3611667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</a:t>
            </a:r>
            <a:endParaRPr lang="ko-KR" sz="1800" dirty="0"/>
          </a:p>
        </p:txBody>
      </p:sp>
      <p:sp>
        <p:nvSpPr>
          <p:cNvPr id="18" name="S05-label100"/>
          <p:cNvSpPr txBox="1"/>
          <p:nvPr/>
        </p:nvSpPr>
        <p:spPr>
          <a:xfrm>
            <a:off x="10195794" y="2087707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러시아</a:t>
            </a:r>
            <a:endParaRPr lang="ko-KR" sz="1800" dirty="0"/>
          </a:p>
        </p:txBody>
      </p:sp>
      <p:sp>
        <p:nvSpPr>
          <p:cNvPr id="19" name="S05-label102"/>
          <p:cNvSpPr txBox="1"/>
          <p:nvPr/>
        </p:nvSpPr>
        <p:spPr>
          <a:xfrm>
            <a:off x="10065360" y="3542396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</a:t>
            </a:r>
            <a:endParaRPr lang="ko-KR" sz="1800" dirty="0"/>
          </a:p>
        </p:txBody>
      </p:sp>
      <p:sp>
        <p:nvSpPr>
          <p:cNvPr id="20" name="S05-labelbg104"/>
          <p:cNvSpPr/>
          <p:nvPr/>
        </p:nvSpPr>
        <p:spPr>
          <a:xfrm>
            <a:off x="7652497" y="3614842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05-label105"/>
          <p:cNvSpPr txBox="1"/>
          <p:nvPr/>
        </p:nvSpPr>
        <p:spPr>
          <a:xfrm>
            <a:off x="7606777" y="357991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2" name="S05-labelbg107"/>
          <p:cNvSpPr/>
          <p:nvPr/>
        </p:nvSpPr>
        <p:spPr>
          <a:xfrm>
            <a:off x="9332316" y="3649477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05-label108"/>
          <p:cNvSpPr txBox="1"/>
          <p:nvPr/>
        </p:nvSpPr>
        <p:spPr>
          <a:xfrm>
            <a:off x="9286596" y="361455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4" name="S05-labelbg110"/>
          <p:cNvSpPr/>
          <p:nvPr/>
        </p:nvSpPr>
        <p:spPr>
          <a:xfrm>
            <a:off x="8882055" y="4584634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05-label111"/>
          <p:cNvSpPr txBox="1"/>
          <p:nvPr/>
        </p:nvSpPr>
        <p:spPr>
          <a:xfrm>
            <a:off x="8836335" y="454970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6" name="S05-label112"/>
          <p:cNvSpPr txBox="1"/>
          <p:nvPr/>
        </p:nvSpPr>
        <p:spPr>
          <a:xfrm>
            <a:off x="6277356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모양과 달라요)</a:t>
            </a:r>
            <a:endParaRPr lang="ko-KR" sz="2200" dirty="0"/>
          </a:p>
        </p:txBody>
      </p:sp>
      <p:sp>
        <p:nvSpPr>
          <p:cNvPr id="27" name="S05-chip11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8" name="S05-text11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 바다의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이름은?</a:t>
            </a:r>
            <a:endParaRPr lang="ko-KR" sz="2800" dirty="0"/>
          </a:p>
        </p:txBody>
      </p:sp>
      <p:sp>
        <p:nvSpPr>
          <p:cNvPr id="29" name="S05-chip11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0" name="S05-text116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한반도는 몇 면이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바다인가요?</a:t>
            </a:r>
            <a:endParaRPr lang="ko-KR" sz="2800" dirty="0"/>
          </a:p>
        </p:txBody>
      </p:sp>
      <p:sp>
        <p:nvSpPr>
          <p:cNvPr id="31" name="S05-chip11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2" name="S05-text118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아시아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대륙의 어느 쪽에?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영토·영해·영공</a:t>
            </a:r>
            <a:endParaRPr lang="ko-KR" sz="4000" dirty="0"/>
          </a:p>
        </p:txBody>
      </p:sp>
      <p:sp>
        <p:nvSpPr>
          <p:cNvPr id="3" name="S06-text1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영역: 한 나라의 힘(주권)이 미치는 범위예요.</a:t>
            </a:r>
            <a:endParaRPr lang="ko-KR" sz="2800" dirty="0"/>
          </a:p>
        </p:txBody>
      </p:sp>
      <p:sp>
        <p:nvSpPr>
          <p:cNvPr id="4" name="S06-figure120" descr="옆에서 본 간단한 그림: 왼쪽에 땅(영토), 땅에서 점선까지의 바다(영해), 땅과 영해 위의 하늘(영공, 노란색)은 점선까지이고, 점선 밖은 영해 밖의 바다"/>
          <p:cNvSpPr/>
          <p:nvPr/>
        </p:nvSpPr>
        <p:spPr>
          <a:xfrm>
            <a:off x="944188" y="2498675"/>
            <a:ext cx="4031751" cy="2257780"/>
          </a:xfrm>
          <a:custGeom>
            <a:avLst/>
            <a:gdLst/>
            <a:ahLst/>
            <a:cxnLst/>
            <a:rect l="l" t="t" r="r" b="b"/>
            <a:pathLst>
              <a:path w="4031751" h="2257780">
                <a:moveTo>
                  <a:pt x="0" y="2257780"/>
                </a:moveTo>
                <a:lnTo>
                  <a:pt x="4031751" y="2257780"/>
                </a:lnTo>
                <a:lnTo>
                  <a:pt x="403175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1BF"/>
          </a:solidFill>
          <a:ln/>
        </p:spPr>
      </p:sp>
      <p:sp>
        <p:nvSpPr>
          <p:cNvPr id="5" name="S06-mark121"/>
          <p:cNvSpPr/>
          <p:nvPr/>
        </p:nvSpPr>
        <p:spPr>
          <a:xfrm>
            <a:off x="3201969" y="4756455"/>
            <a:ext cx="3386670" cy="806350"/>
          </a:xfrm>
          <a:custGeom>
            <a:avLst/>
            <a:gdLst/>
            <a:ahLst/>
            <a:cxnLst/>
            <a:rect l="l" t="t" r="r" b="b"/>
            <a:pathLst>
              <a:path w="3386670" h="806350">
                <a:moveTo>
                  <a:pt x="0" y="806350"/>
                </a:moveTo>
                <a:lnTo>
                  <a:pt x="3386670" y="806350"/>
                </a:lnTo>
                <a:lnTo>
                  <a:pt x="338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9F2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06-mark122"/>
          <p:cNvSpPr/>
          <p:nvPr/>
        </p:nvSpPr>
        <p:spPr>
          <a:xfrm>
            <a:off x="944188" y="4111375"/>
            <a:ext cx="2257780" cy="1451430"/>
          </a:xfrm>
          <a:custGeom>
            <a:avLst/>
            <a:gdLst/>
            <a:ahLst/>
            <a:cxnLst/>
            <a:rect l="l" t="t" r="r" b="b"/>
            <a:pathLst>
              <a:path w="2257780" h="1451430">
                <a:moveTo>
                  <a:pt x="0" y="1451430"/>
                </a:moveTo>
                <a:lnTo>
                  <a:pt x="2257780" y="1451430"/>
                </a:lnTo>
                <a:lnTo>
                  <a:pt x="2257780" y="645080"/>
                </a:lnTo>
                <a:lnTo>
                  <a:pt x="1935240" y="282223"/>
                </a:lnTo>
                <a:lnTo>
                  <a:pt x="1370795" y="0"/>
                </a:lnTo>
                <a:lnTo>
                  <a:pt x="725715" y="80635"/>
                </a:lnTo>
                <a:lnTo>
                  <a:pt x="0" y="201588"/>
                </a:lnTo>
                <a:close/>
              </a:path>
            </a:pathLst>
          </a:custGeom>
          <a:solidFill>
            <a:srgbClr val="D9C49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mark123"/>
          <p:cNvSpPr/>
          <p:nvPr/>
        </p:nvSpPr>
        <p:spPr>
          <a:xfrm flipV="1">
            <a:off x="4975939" y="2498675"/>
            <a:ext cx="0" cy="3064130"/>
          </a:xfrm>
          <a:prstGeom prst="line">
            <a:avLst/>
          </a:prstGeom>
          <a:noFill/>
          <a:ln w="22225">
            <a:solidFill>
              <a:srgbClr val="4A5568"/>
            </a:solidFill>
            <a:prstDash val="dash"/>
          </a:ln>
        </p:spPr>
      </p:sp>
      <p:sp>
        <p:nvSpPr>
          <p:cNvPr id="8" name="S06-label125"/>
          <p:cNvSpPr txBox="1"/>
          <p:nvPr/>
        </p:nvSpPr>
        <p:spPr>
          <a:xfrm>
            <a:off x="4438729" y="2134054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영해의 끝</a:t>
            </a:r>
            <a:endParaRPr lang="ko-KR" sz="1800" dirty="0"/>
          </a:p>
        </p:txBody>
      </p:sp>
      <p:sp>
        <p:nvSpPr>
          <p:cNvPr id="9" name="S06-label127"/>
          <p:cNvSpPr txBox="1"/>
          <p:nvPr/>
        </p:nvSpPr>
        <p:spPr>
          <a:xfrm>
            <a:off x="1704085" y="478341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</a:t>
            </a:r>
            <a:endParaRPr lang="ko-KR" sz="2200" dirty="0"/>
          </a:p>
        </p:txBody>
      </p:sp>
      <p:sp>
        <p:nvSpPr>
          <p:cNvPr id="10" name="S06-label129"/>
          <p:cNvSpPr txBox="1"/>
          <p:nvPr/>
        </p:nvSpPr>
        <p:spPr>
          <a:xfrm>
            <a:off x="3760278" y="498500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</a:t>
            </a:r>
            <a:endParaRPr lang="ko-KR" sz="2200" dirty="0"/>
          </a:p>
        </p:txBody>
      </p:sp>
      <p:sp>
        <p:nvSpPr>
          <p:cNvPr id="11" name="S06-label131"/>
          <p:cNvSpPr txBox="1"/>
          <p:nvPr/>
        </p:nvSpPr>
        <p:spPr>
          <a:xfrm>
            <a:off x="4986761" y="5016755"/>
            <a:ext cx="15910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 밖의 바다</a:t>
            </a:r>
            <a:endParaRPr lang="ko-KR" sz="1800" dirty="0"/>
          </a:p>
        </p:txBody>
      </p:sp>
      <p:sp>
        <p:nvSpPr>
          <p:cNvPr id="12" name="S06-label133"/>
          <p:cNvSpPr txBox="1"/>
          <p:nvPr/>
        </p:nvSpPr>
        <p:spPr>
          <a:xfrm>
            <a:off x="2631387" y="321103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영공</a:t>
            </a:r>
            <a:endParaRPr lang="ko-KR" sz="2200" dirty="0"/>
          </a:p>
        </p:txBody>
      </p:sp>
      <p:sp>
        <p:nvSpPr>
          <p:cNvPr id="13" name="S06-label134"/>
          <p:cNvSpPr txBox="1"/>
          <p:nvPr/>
        </p:nvSpPr>
        <p:spPr>
          <a:xfrm>
            <a:off x="548640" y="5840730"/>
            <a:ext cx="6435547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본 모습(간단히 나타낸 그림)</a:t>
            </a:r>
            <a:endParaRPr lang="ko-KR" sz="2200" dirty="0"/>
          </a:p>
        </p:txBody>
      </p:sp>
      <p:sp>
        <p:nvSpPr>
          <p:cNvPr id="14" name="S06-card135"/>
          <p:cNvSpPr/>
          <p:nvPr/>
        </p:nvSpPr>
        <p:spPr>
          <a:xfrm>
            <a:off x="7349947" y="2116074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6-cardtext136"/>
          <p:cNvSpPr txBox="1"/>
          <p:nvPr/>
        </p:nvSpPr>
        <p:spPr>
          <a:xfrm>
            <a:off x="7624267" y="2253234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나라의 땅</a:t>
            </a:r>
            <a:endParaRPr lang="ko-KR" sz="2800" dirty="0"/>
          </a:p>
        </p:txBody>
      </p:sp>
      <p:sp>
        <p:nvSpPr>
          <p:cNvPr id="16" name="S06-card137"/>
          <p:cNvSpPr/>
          <p:nvPr/>
        </p:nvSpPr>
        <p:spPr>
          <a:xfrm>
            <a:off x="7349947" y="3524758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6-cardtext138"/>
          <p:cNvSpPr txBox="1"/>
          <p:nvPr/>
        </p:nvSpPr>
        <p:spPr>
          <a:xfrm>
            <a:off x="7624267" y="3661918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 가까이의 바다</a:t>
            </a:r>
            <a:endParaRPr lang="ko-KR" sz="2800" dirty="0"/>
          </a:p>
        </p:txBody>
      </p:sp>
      <p:sp>
        <p:nvSpPr>
          <p:cNvPr id="18" name="S06-card139"/>
          <p:cNvSpPr/>
          <p:nvPr/>
        </p:nvSpPr>
        <p:spPr>
          <a:xfrm>
            <a:off x="7349947" y="4933442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6-cardtext140"/>
          <p:cNvSpPr txBox="1"/>
          <p:nvPr/>
        </p:nvSpPr>
        <p:spPr>
          <a:xfrm>
            <a:off x="7624267" y="5070602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영토와 영해 위의 하늘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섬에도 영해와 영공이 있어요</a:t>
            </a:r>
            <a:endParaRPr lang="ko-KR" sz="4000" dirty="0"/>
          </a:p>
        </p:txBody>
      </p:sp>
      <p:sp>
        <p:nvSpPr>
          <p:cNvPr id="3" name="S07-figure141" descr="위에서 본 간단한 그림: 왼쪽에 한반도의 동쪽 해안, 해안 가까이 점선까지 영해. 동해에 울릉도와 그 동남쪽의 독도가 있고, 두 섬 둘레에도 점선 원으로 영해가 그려져 있음"/>
          <p:cNvSpPr/>
          <p:nvPr/>
        </p:nvSpPr>
        <p:spPr>
          <a:xfrm>
            <a:off x="632460" y="1876806"/>
            <a:ext cx="5195316" cy="3339846"/>
          </a:xfrm>
          <a:custGeom>
            <a:avLst/>
            <a:gdLst/>
            <a:ahLst/>
            <a:cxnLst/>
            <a:rect l="l" t="t" r="r" b="b"/>
            <a:pathLst>
              <a:path w="5195316" h="3339846">
                <a:moveTo>
                  <a:pt x="0" y="3339846"/>
                </a:moveTo>
                <a:lnTo>
                  <a:pt x="5195316" y="3339846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07-mark142"/>
          <p:cNvSpPr/>
          <p:nvPr/>
        </p:nvSpPr>
        <p:spPr>
          <a:xfrm>
            <a:off x="2302383" y="1876806"/>
            <a:ext cx="445313" cy="3339846"/>
          </a:xfrm>
          <a:custGeom>
            <a:avLst/>
            <a:gdLst/>
            <a:ahLst/>
            <a:cxnLst/>
            <a:rect l="l" t="t" r="r" b="b"/>
            <a:pathLst>
              <a:path w="445313" h="3339846">
                <a:moveTo>
                  <a:pt x="0" y="3339846"/>
                </a:moveTo>
                <a:lnTo>
                  <a:pt x="445313" y="3339846"/>
                </a:lnTo>
                <a:lnTo>
                  <a:pt x="4453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5D3EE"/>
          </a:solidFill>
          <a:ln/>
        </p:spPr>
      </p:sp>
      <p:sp>
        <p:nvSpPr>
          <p:cNvPr id="5" name="S07-mark143"/>
          <p:cNvSpPr/>
          <p:nvPr/>
        </p:nvSpPr>
        <p:spPr>
          <a:xfrm>
            <a:off x="632460" y="1876806"/>
            <a:ext cx="1669923" cy="3339846"/>
          </a:xfrm>
          <a:custGeom>
            <a:avLst/>
            <a:gdLst/>
            <a:ahLst/>
            <a:cxnLst/>
            <a:rect l="l" t="t" r="r" b="b"/>
            <a:pathLst>
              <a:path w="1669923" h="3339846">
                <a:moveTo>
                  <a:pt x="0" y="3339846"/>
                </a:moveTo>
                <a:lnTo>
                  <a:pt x="1669923" y="3339846"/>
                </a:lnTo>
                <a:lnTo>
                  <a:pt x="1669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7-mark144"/>
          <p:cNvSpPr/>
          <p:nvPr/>
        </p:nvSpPr>
        <p:spPr>
          <a:xfrm>
            <a:off x="2988907" y="2526221"/>
            <a:ext cx="1224610" cy="1224610"/>
          </a:xfrm>
          <a:prstGeom prst="ellipse">
            <a:avLst/>
          </a:prstGeom>
          <a:solidFill>
            <a:srgbClr val="B5D3EE"/>
          </a:solidFill>
          <a:ln w="19050">
            <a:solidFill>
              <a:srgbClr val="3D5A80"/>
            </a:solidFill>
            <a:prstDash val="dash"/>
          </a:ln>
        </p:spPr>
      </p:sp>
      <p:sp>
        <p:nvSpPr>
          <p:cNvPr id="7" name="S07-mark145"/>
          <p:cNvSpPr/>
          <p:nvPr/>
        </p:nvSpPr>
        <p:spPr>
          <a:xfrm>
            <a:off x="4473283" y="3045752"/>
            <a:ext cx="1076173" cy="1076173"/>
          </a:xfrm>
          <a:prstGeom prst="ellipse">
            <a:avLst/>
          </a:prstGeom>
          <a:solidFill>
            <a:srgbClr val="B5D3EE"/>
          </a:solidFill>
          <a:ln w="19050">
            <a:solidFill>
              <a:srgbClr val="3D5A80"/>
            </a:solidFill>
            <a:prstDash val="dash"/>
          </a:ln>
        </p:spPr>
      </p:sp>
      <p:sp>
        <p:nvSpPr>
          <p:cNvPr id="8" name="S07-mark146"/>
          <p:cNvSpPr/>
          <p:nvPr/>
        </p:nvSpPr>
        <p:spPr>
          <a:xfrm>
            <a:off x="3434220" y="2971533"/>
            <a:ext cx="333985" cy="333985"/>
          </a:xfrm>
          <a:prstGeom prst="ellipse">
            <a:avLst/>
          </a:prstGeom>
          <a:solidFill>
            <a:srgbClr val="BFE0A6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mark147"/>
          <p:cNvSpPr/>
          <p:nvPr/>
        </p:nvSpPr>
        <p:spPr>
          <a:xfrm>
            <a:off x="4918596" y="3491065"/>
            <a:ext cx="185547" cy="185547"/>
          </a:xfrm>
          <a:prstGeom prst="ellipse">
            <a:avLst/>
          </a:prstGeom>
          <a:solidFill>
            <a:srgbClr val="BFE0A6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mark148"/>
          <p:cNvSpPr/>
          <p:nvPr/>
        </p:nvSpPr>
        <p:spPr>
          <a:xfrm flipV="1">
            <a:off x="2747696" y="1876806"/>
            <a:ext cx="0" cy="3339846"/>
          </a:xfrm>
          <a:prstGeom prst="line">
            <a:avLst/>
          </a:prstGeom>
          <a:noFill/>
          <a:ln w="19050">
            <a:solidFill>
              <a:srgbClr val="3D5A80"/>
            </a:solidFill>
            <a:prstDash val="dash"/>
          </a:ln>
        </p:spPr>
      </p:sp>
      <p:sp>
        <p:nvSpPr>
          <p:cNvPr id="11" name="S07-mark149"/>
          <p:cNvSpPr/>
          <p:nvPr/>
        </p:nvSpPr>
        <p:spPr>
          <a:xfrm flipV="1">
            <a:off x="5530901" y="4641456"/>
            <a:ext cx="0" cy="408203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2" name="S07-mark150"/>
          <p:cNvSpPr/>
          <p:nvPr/>
        </p:nvSpPr>
        <p:spPr>
          <a:xfrm>
            <a:off x="5401018" y="4845558"/>
            <a:ext cx="25976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7-label152"/>
          <p:cNvSpPr txBox="1"/>
          <p:nvPr/>
        </p:nvSpPr>
        <p:spPr>
          <a:xfrm>
            <a:off x="1001840" y="3372104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2200" dirty="0"/>
          </a:p>
        </p:txBody>
      </p:sp>
      <p:sp>
        <p:nvSpPr>
          <p:cNvPr id="14" name="S07-label154"/>
          <p:cNvSpPr txBox="1"/>
          <p:nvPr/>
        </p:nvSpPr>
        <p:spPr>
          <a:xfrm>
            <a:off x="3210306" y="2197799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울릉도</a:t>
            </a:r>
            <a:endParaRPr lang="ko-KR" sz="1800" dirty="0"/>
          </a:p>
        </p:txBody>
      </p:sp>
      <p:sp>
        <p:nvSpPr>
          <p:cNvPr id="15" name="S07-label156"/>
          <p:cNvSpPr txBox="1"/>
          <p:nvPr/>
        </p:nvSpPr>
        <p:spPr>
          <a:xfrm>
            <a:off x="4732477" y="2717330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독도</a:t>
            </a:r>
            <a:endParaRPr lang="ko-KR" sz="1800" dirty="0"/>
          </a:p>
        </p:txBody>
      </p:sp>
      <p:sp>
        <p:nvSpPr>
          <p:cNvPr id="16" name="S07-labelbg158"/>
          <p:cNvSpPr/>
          <p:nvPr/>
        </p:nvSpPr>
        <p:spPr>
          <a:xfrm>
            <a:off x="2291867" y="4619930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07-label159"/>
          <p:cNvSpPr txBox="1"/>
          <p:nvPr/>
        </p:nvSpPr>
        <p:spPr>
          <a:xfrm>
            <a:off x="2246147" y="4591355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</a:t>
            </a:r>
            <a:endParaRPr lang="ko-KR" sz="1800" dirty="0"/>
          </a:p>
        </p:txBody>
      </p:sp>
      <p:sp>
        <p:nvSpPr>
          <p:cNvPr id="18" name="S07-labelbg161"/>
          <p:cNvSpPr/>
          <p:nvPr/>
        </p:nvSpPr>
        <p:spPr>
          <a:xfrm>
            <a:off x="3368040" y="3432429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07-label162"/>
          <p:cNvSpPr txBox="1"/>
          <p:nvPr/>
        </p:nvSpPr>
        <p:spPr>
          <a:xfrm>
            <a:off x="3322320" y="340385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</a:t>
            </a:r>
            <a:endParaRPr lang="ko-KR" sz="1800" dirty="0"/>
          </a:p>
        </p:txBody>
      </p:sp>
      <p:sp>
        <p:nvSpPr>
          <p:cNvPr id="20" name="S07-labelbg164"/>
          <p:cNvSpPr/>
          <p:nvPr/>
        </p:nvSpPr>
        <p:spPr>
          <a:xfrm>
            <a:off x="4778197" y="3803523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07-label165"/>
          <p:cNvSpPr txBox="1"/>
          <p:nvPr/>
        </p:nvSpPr>
        <p:spPr>
          <a:xfrm>
            <a:off x="4732477" y="3774948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</a:t>
            </a:r>
            <a:endParaRPr lang="ko-KR" sz="1800" dirty="0"/>
          </a:p>
        </p:txBody>
      </p:sp>
      <p:sp>
        <p:nvSpPr>
          <p:cNvPr id="22" name="S07-label167"/>
          <p:cNvSpPr txBox="1"/>
          <p:nvPr/>
        </p:nvSpPr>
        <p:spPr>
          <a:xfrm>
            <a:off x="5177790" y="1993697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동해</a:t>
            </a:r>
            <a:endParaRPr lang="ko-KR" sz="1800" dirty="0"/>
          </a:p>
        </p:txBody>
      </p:sp>
      <p:sp>
        <p:nvSpPr>
          <p:cNvPr id="23" name="S07-label169"/>
          <p:cNvSpPr txBox="1"/>
          <p:nvPr/>
        </p:nvSpPr>
        <p:spPr>
          <a:xfrm>
            <a:off x="5364023" y="4331589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24" name="S07-label170"/>
          <p:cNvSpPr txBox="1"/>
          <p:nvPr/>
        </p:nvSpPr>
        <p:spPr>
          <a:xfrm>
            <a:off x="548640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</a:t>
            </a:r>
            <a:endParaRPr lang="ko-KR" sz="2200" dirty="0"/>
          </a:p>
        </p:txBody>
      </p:sp>
      <p:sp>
        <p:nvSpPr>
          <p:cNvPr id="25" name="S07-card171"/>
          <p:cNvSpPr/>
          <p:nvPr/>
        </p:nvSpPr>
        <p:spPr>
          <a:xfrm>
            <a:off x="6277356" y="1432306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07-cardtext172"/>
          <p:cNvSpPr txBox="1"/>
          <p:nvPr/>
        </p:nvSpPr>
        <p:spPr>
          <a:xfrm>
            <a:off x="6551676" y="1569466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영토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한반도와 그 둘레의 섬들이에요.</a:t>
            </a:r>
            <a:endParaRPr lang="ko-KR" sz="2800" dirty="0"/>
          </a:p>
        </p:txBody>
      </p:sp>
      <p:sp>
        <p:nvSpPr>
          <p:cNvPr id="27" name="S07-card173"/>
          <p:cNvSpPr/>
          <p:nvPr/>
        </p:nvSpPr>
        <p:spPr>
          <a:xfrm>
            <a:off x="6277356" y="284099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07-cardtext174"/>
          <p:cNvSpPr txBox="1"/>
          <p:nvPr/>
        </p:nvSpPr>
        <p:spPr>
          <a:xfrm>
            <a:off x="6551676" y="297815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 동쪽 끝의 섬, 우리 영토예요.</a:t>
            </a:r>
            <a:endParaRPr lang="ko-KR" sz="2800" dirty="0"/>
          </a:p>
        </p:txBody>
      </p:sp>
      <p:sp>
        <p:nvSpPr>
          <p:cNvPr id="29" name="S07-card175"/>
          <p:cNvSpPr/>
          <p:nvPr/>
        </p:nvSpPr>
        <p:spPr>
          <a:xfrm>
            <a:off x="6277356" y="4590542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0" name="S07-cardtext176"/>
          <p:cNvSpPr txBox="1"/>
          <p:nvPr/>
        </p:nvSpPr>
        <p:spPr>
          <a:xfrm>
            <a:off x="6551676" y="4727702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섬의 둘레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둘레의 바다는 영해, 그 위 하늘은 영공이에요.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그림에서 찾아요</a:t>
            </a:r>
            <a:endParaRPr lang="ko-KR" sz="4000" dirty="0"/>
          </a:p>
        </p:txBody>
      </p:sp>
      <p:sp>
        <p:nvSpPr>
          <p:cNvPr id="3" name="S08-figure177" descr="옆에서 본 간단한 그림: 땅 가, 땅에서 점선(영해의 끝)까지의 바다 나, 땅 위 하늘 다, 나 위의 하늘 라, 점선 밖의 바다 마, 마 위의 하늘 바"/>
          <p:cNvSpPr/>
          <p:nvPr/>
        </p:nvSpPr>
        <p:spPr>
          <a:xfrm>
            <a:off x="8439302" y="4569752"/>
            <a:ext cx="3117190" cy="742188"/>
          </a:xfrm>
          <a:custGeom>
            <a:avLst/>
            <a:gdLst/>
            <a:ahLst/>
            <a:cxnLst/>
            <a:rect l="l" t="t" r="r" b="b"/>
            <a:pathLst>
              <a:path w="3117190" h="742188">
                <a:moveTo>
                  <a:pt x="0" y="742188"/>
                </a:moveTo>
                <a:lnTo>
                  <a:pt x="3117190" y="742188"/>
                </a:lnTo>
                <a:lnTo>
                  <a:pt x="3117190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9F2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08-mark178"/>
          <p:cNvSpPr/>
          <p:nvPr/>
        </p:nvSpPr>
        <p:spPr>
          <a:xfrm>
            <a:off x="6361176" y="3976002"/>
            <a:ext cx="2078126" cy="1335938"/>
          </a:xfrm>
          <a:custGeom>
            <a:avLst/>
            <a:gdLst/>
            <a:ahLst/>
            <a:cxnLst/>
            <a:rect l="l" t="t" r="r" b="b"/>
            <a:pathLst>
              <a:path w="2078126" h="1335938">
                <a:moveTo>
                  <a:pt x="0" y="1335938"/>
                </a:moveTo>
                <a:lnTo>
                  <a:pt x="2078126" y="1335938"/>
                </a:lnTo>
                <a:lnTo>
                  <a:pt x="2078126" y="593750"/>
                </a:lnTo>
                <a:lnTo>
                  <a:pt x="1781251" y="259766"/>
                </a:lnTo>
                <a:lnTo>
                  <a:pt x="1261720" y="0"/>
                </a:lnTo>
                <a:lnTo>
                  <a:pt x="667969" y="74219"/>
                </a:lnTo>
                <a:lnTo>
                  <a:pt x="0" y="185547"/>
                </a:lnTo>
                <a:close/>
              </a:path>
            </a:pathLst>
          </a:custGeom>
          <a:solidFill>
            <a:srgbClr val="D9C49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8-mark179"/>
          <p:cNvSpPr/>
          <p:nvPr/>
        </p:nvSpPr>
        <p:spPr>
          <a:xfrm flipV="1">
            <a:off x="10072116" y="2491626"/>
            <a:ext cx="0" cy="2820314"/>
          </a:xfrm>
          <a:prstGeom prst="line">
            <a:avLst/>
          </a:prstGeom>
          <a:noFill/>
          <a:ln w="22225">
            <a:solidFill>
              <a:srgbClr val="4A5568"/>
            </a:solidFill>
            <a:prstDash val="dash"/>
          </a:ln>
        </p:spPr>
      </p:sp>
      <p:sp>
        <p:nvSpPr>
          <p:cNvPr id="6" name="S08-label181"/>
          <p:cNvSpPr txBox="1"/>
          <p:nvPr/>
        </p:nvSpPr>
        <p:spPr>
          <a:xfrm>
            <a:off x="9534906" y="2144649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영해의 끝</a:t>
            </a:r>
            <a:endParaRPr lang="ko-KR" sz="1800" dirty="0"/>
          </a:p>
        </p:txBody>
      </p:sp>
      <p:sp>
        <p:nvSpPr>
          <p:cNvPr id="7" name="S08-labelbg183"/>
          <p:cNvSpPr/>
          <p:nvPr/>
        </p:nvSpPr>
        <p:spPr>
          <a:xfrm>
            <a:off x="7217080" y="4615599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08-label184"/>
          <p:cNvSpPr txBox="1"/>
          <p:nvPr/>
        </p:nvSpPr>
        <p:spPr>
          <a:xfrm>
            <a:off x="7171360" y="458067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9" name="S08-labelbg186"/>
          <p:cNvSpPr/>
          <p:nvPr/>
        </p:nvSpPr>
        <p:spPr>
          <a:xfrm>
            <a:off x="9109659" y="4801146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08-label187"/>
          <p:cNvSpPr txBox="1"/>
          <p:nvPr/>
        </p:nvSpPr>
        <p:spPr>
          <a:xfrm>
            <a:off x="9063939" y="476622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1" name="S08-labelbg189"/>
          <p:cNvSpPr/>
          <p:nvPr/>
        </p:nvSpPr>
        <p:spPr>
          <a:xfrm>
            <a:off x="7217080" y="3094114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08-label190"/>
          <p:cNvSpPr txBox="1"/>
          <p:nvPr/>
        </p:nvSpPr>
        <p:spPr>
          <a:xfrm>
            <a:off x="7171360" y="30591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13" name="S08-labelbg192"/>
          <p:cNvSpPr/>
          <p:nvPr/>
        </p:nvSpPr>
        <p:spPr>
          <a:xfrm>
            <a:off x="9109659" y="3094114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08-label193"/>
          <p:cNvSpPr txBox="1"/>
          <p:nvPr/>
        </p:nvSpPr>
        <p:spPr>
          <a:xfrm>
            <a:off x="9063939" y="30591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15" name="S08-labelbg195"/>
          <p:cNvSpPr/>
          <p:nvPr/>
        </p:nvSpPr>
        <p:spPr>
          <a:xfrm>
            <a:off x="10668254" y="4801146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08-label196"/>
          <p:cNvSpPr txBox="1"/>
          <p:nvPr/>
        </p:nvSpPr>
        <p:spPr>
          <a:xfrm>
            <a:off x="10622534" y="476622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17" name="S08-labelbg198"/>
          <p:cNvSpPr/>
          <p:nvPr/>
        </p:nvSpPr>
        <p:spPr>
          <a:xfrm>
            <a:off x="10668254" y="3094114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08-label199"/>
          <p:cNvSpPr txBox="1"/>
          <p:nvPr/>
        </p:nvSpPr>
        <p:spPr>
          <a:xfrm>
            <a:off x="10622534" y="30591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200" dirty="0"/>
          </a:p>
        </p:txBody>
      </p:sp>
      <p:sp>
        <p:nvSpPr>
          <p:cNvPr id="19" name="S08-chip20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0" name="S08-text20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영토와 영해는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어디인가요?</a:t>
            </a:r>
            <a:endParaRPr lang="ko-KR" sz="2800" dirty="0"/>
          </a:p>
        </p:txBody>
      </p:sp>
      <p:sp>
        <p:nvSpPr>
          <p:cNvPr id="21" name="S08-chip20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2" name="S08-text203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영공을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골라요.</a:t>
            </a:r>
            <a:endParaRPr lang="ko-KR" sz="2800" dirty="0"/>
          </a:p>
        </p:txBody>
      </p:sp>
      <p:sp>
        <p:nvSpPr>
          <p:cNvPr id="23" name="S08-chip20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4" name="S08-text205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마와 바도 우리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영역일까요? 왜요?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 위 하늘도 영공일까요?</a:t>
            </a:r>
            <a:endParaRPr lang="ko-KR" sz="4000" dirty="0"/>
          </a:p>
        </p:txBody>
      </p:sp>
      <p:sp>
        <p:nvSpPr>
          <p:cNvPr id="3" name="S09-card20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0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 비행기가 허락 없이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영해 위의 하늘로 들어왔어요.</a:t>
            </a:r>
            <a:endParaRPr lang="ko-KR" sz="2800" dirty="0"/>
          </a:p>
        </p:txBody>
      </p:sp>
      <p:sp>
        <p:nvSpPr>
          <p:cNvPr id="5" name="S09-card2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왜 그럴까요?</a:t>
            </a:r>
            <a:endParaRPr lang="ko-KR" sz="2800" dirty="0"/>
          </a:p>
        </p:txBody>
      </p:sp>
      <p:sp>
        <p:nvSpPr>
          <p:cNvPr id="7" name="S09-chip210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211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“땅 위가 아니니까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괜찮아요.”</a:t>
            </a:r>
            <a:endParaRPr lang="ko-KR" sz="2800" dirty="0"/>
          </a:p>
        </p:txBody>
      </p:sp>
      <p:sp>
        <p:nvSpPr>
          <p:cNvPr id="9" name="S09-chip212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213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“영해 위의 하늘도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영공이라 허락이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있어야 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지도에서 찾아봐요</a:t>
            </a:r>
            <a:endParaRPr lang="ko-KR" sz="4000" dirty="0"/>
          </a:p>
        </p:txBody>
      </p:sp>
      <p:sp>
        <p:nvSpPr>
          <p:cNvPr id="3" name="S10-text2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찾아요.</a:t>
            </a:r>
            <a:endParaRPr lang="ko-KR" sz="2800" dirty="0"/>
          </a:p>
        </p:txBody>
      </p:sp>
      <p:sp>
        <p:nvSpPr>
          <p:cNvPr id="4" name="S10-card215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216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바다 이름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이웃 나라 세 곳 찾기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섬 세 곳 찾기</a:t>
            </a:r>
            <a:endParaRPr lang="ko-KR" sz="2800" dirty="0"/>
          </a:p>
        </p:txBody>
      </p:sp>
      <p:sp>
        <p:nvSpPr>
          <p:cNvPr id="6" name="S10-stepno217"/>
          <p:cNvSpPr txBox="1"/>
          <p:nvPr/>
        </p:nvSpPr>
        <p:spPr>
          <a:xfrm>
            <a:off x="548640" y="2337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0-text218"/>
          <p:cNvSpPr txBox="1"/>
          <p:nvPr/>
        </p:nvSpPr>
        <p:spPr>
          <a:xfrm>
            <a:off x="1325880" y="22920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지구본, 지도 앱, 사회과 부도 중 하나를 준비해요.</a:t>
            </a:r>
            <a:endParaRPr lang="ko-KR" sz="2800" dirty="0"/>
          </a:p>
        </p:txBody>
      </p:sp>
      <p:sp>
        <p:nvSpPr>
          <p:cNvPr id="8" name="S10-stepno219"/>
          <p:cNvSpPr txBox="1"/>
          <p:nvPr/>
        </p:nvSpPr>
        <p:spPr>
          <a:xfrm>
            <a:off x="548640" y="3370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10-text220"/>
          <p:cNvSpPr txBox="1"/>
          <p:nvPr/>
        </p:nvSpPr>
        <p:spPr>
          <a:xfrm>
            <a:off x="1325880" y="33243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한반도와 세 바다를 찾아 짚어요.</a:t>
            </a:r>
            <a:endParaRPr lang="ko-KR" sz="2800" dirty="0"/>
          </a:p>
        </p:txBody>
      </p:sp>
      <p:sp>
        <p:nvSpPr>
          <p:cNvPr id="10" name="S10-stepno221"/>
          <p:cNvSpPr txBox="1"/>
          <p:nvPr/>
        </p:nvSpPr>
        <p:spPr>
          <a:xfrm>
            <a:off x="548640" y="4356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10-text222"/>
          <p:cNvSpPr txBox="1"/>
          <p:nvPr/>
        </p:nvSpPr>
        <p:spPr>
          <a:xfrm>
            <a:off x="1325880" y="43566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나라 세 곳을 찾아요.</a:t>
            </a:r>
            <a:endParaRPr lang="ko-KR" sz="2800" dirty="0"/>
          </a:p>
        </p:txBody>
      </p:sp>
      <p:sp>
        <p:nvSpPr>
          <p:cNvPr id="12" name="S10-stepno223"/>
          <p:cNvSpPr txBox="1"/>
          <p:nvPr/>
        </p:nvSpPr>
        <p:spPr>
          <a:xfrm>
            <a:off x="548640" y="5115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10-text224"/>
          <p:cNvSpPr txBox="1"/>
          <p:nvPr/>
        </p:nvSpPr>
        <p:spPr>
          <a:xfrm>
            <a:off x="1325880" y="50698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제주도, 울릉도, 독도를 찾아요.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figure225" descr="간단히 나타낸 그림: 한반도 둘레에 서해·동해·남해. 대륙 쪽 왼쪽과 위의 나라에 가, 오른쪽 위의 나라에 나, 동해 건너 섬나라에 다"/>
          <p:cNvSpPr/>
          <p:nvPr/>
        </p:nvSpPr>
        <p:spPr>
          <a:xfrm>
            <a:off x="6361176" y="1814957"/>
            <a:ext cx="5195316" cy="3463544"/>
          </a:xfrm>
          <a:custGeom>
            <a:avLst/>
            <a:gdLst/>
            <a:ahLst/>
            <a:cxnLst/>
            <a:rect l="l" t="t" r="r" b="b"/>
            <a:pathLst>
              <a:path w="5195316" h="3463544">
                <a:moveTo>
                  <a:pt x="0" y="3463544"/>
                </a:moveTo>
                <a:lnTo>
                  <a:pt x="5195316" y="3463544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11-mark226"/>
          <p:cNvSpPr/>
          <p:nvPr/>
        </p:nvSpPr>
        <p:spPr>
          <a:xfrm>
            <a:off x="6361176" y="1814957"/>
            <a:ext cx="5195316" cy="2978648"/>
          </a:xfrm>
          <a:custGeom>
            <a:avLst/>
            <a:gdLst/>
            <a:ahLst/>
            <a:cxnLst/>
            <a:rect l="l" t="t" r="r" b="b"/>
            <a:pathLst>
              <a:path w="5195316" h="2978648">
                <a:moveTo>
                  <a:pt x="0" y="0"/>
                </a:moveTo>
                <a:lnTo>
                  <a:pt x="5195316" y="0"/>
                </a:lnTo>
                <a:lnTo>
                  <a:pt x="5195316" y="831251"/>
                </a:lnTo>
                <a:lnTo>
                  <a:pt x="3117190" y="831251"/>
                </a:lnTo>
                <a:lnTo>
                  <a:pt x="2909377" y="1039063"/>
                </a:lnTo>
                <a:lnTo>
                  <a:pt x="1108334" y="1039063"/>
                </a:lnTo>
                <a:lnTo>
                  <a:pt x="1108334" y="2978648"/>
                </a:lnTo>
                <a:lnTo>
                  <a:pt x="0" y="2978648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11-mark227"/>
          <p:cNvSpPr/>
          <p:nvPr/>
        </p:nvSpPr>
        <p:spPr>
          <a:xfrm>
            <a:off x="9824720" y="2819385"/>
            <a:ext cx="1039063" cy="1766407"/>
          </a:xfrm>
          <a:custGeom>
            <a:avLst/>
            <a:gdLst/>
            <a:ahLst/>
            <a:cxnLst/>
            <a:rect l="l" t="t" r="r" b="b"/>
            <a:pathLst>
              <a:path w="1039063" h="1766407">
                <a:moveTo>
                  <a:pt x="0" y="173177"/>
                </a:moveTo>
                <a:lnTo>
                  <a:pt x="554167" y="0"/>
                </a:lnTo>
                <a:lnTo>
                  <a:pt x="1039063" y="1558595"/>
                </a:lnTo>
                <a:lnTo>
                  <a:pt x="484896" y="1766407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11-mark228"/>
          <p:cNvSpPr/>
          <p:nvPr/>
        </p:nvSpPr>
        <p:spPr>
          <a:xfrm>
            <a:off x="9651543" y="4585792"/>
            <a:ext cx="484896" cy="484896"/>
          </a:xfrm>
          <a:custGeom>
            <a:avLst/>
            <a:gdLst/>
            <a:ahLst/>
            <a:cxnLst/>
            <a:rect l="l" t="t" r="r" b="b"/>
            <a:pathLst>
              <a:path w="484896" h="484896">
                <a:moveTo>
                  <a:pt x="0" y="103906"/>
                </a:moveTo>
                <a:lnTo>
                  <a:pt x="415625" y="0"/>
                </a:lnTo>
                <a:lnTo>
                  <a:pt x="484896" y="380990"/>
                </a:lnTo>
                <a:lnTo>
                  <a:pt x="103906" y="484896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1-mark229"/>
          <p:cNvSpPr/>
          <p:nvPr/>
        </p:nvSpPr>
        <p:spPr>
          <a:xfrm>
            <a:off x="8092948" y="2854020"/>
            <a:ext cx="900521" cy="1593230"/>
          </a:xfrm>
          <a:custGeom>
            <a:avLst/>
            <a:gdLst/>
            <a:ahLst/>
            <a:cxnLst/>
            <a:rect l="l" t="t" r="r" b="b"/>
            <a:pathLst>
              <a:path w="900521" h="1593230">
                <a:moveTo>
                  <a:pt x="0" y="0"/>
                </a:moveTo>
                <a:lnTo>
                  <a:pt x="900521" y="0"/>
                </a:lnTo>
                <a:lnTo>
                  <a:pt x="796615" y="1489324"/>
                </a:lnTo>
                <a:lnTo>
                  <a:pt x="173177" y="1593230"/>
                </a:lnTo>
                <a:close/>
              </a:path>
            </a:pathLst>
          </a:custGeom>
          <a:solidFill>
            <a:srgbClr val="BFE0A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1-mark230"/>
          <p:cNvSpPr/>
          <p:nvPr/>
        </p:nvSpPr>
        <p:spPr>
          <a:xfrm>
            <a:off x="9183964" y="3286963"/>
            <a:ext cx="103906" cy="103906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1-mark231"/>
          <p:cNvSpPr/>
          <p:nvPr/>
        </p:nvSpPr>
        <p:spPr>
          <a:xfrm>
            <a:off x="9412558" y="3394333"/>
            <a:ext cx="62344" cy="62344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1-mark232"/>
          <p:cNvSpPr/>
          <p:nvPr/>
        </p:nvSpPr>
        <p:spPr>
          <a:xfrm>
            <a:off x="8283443" y="4700089"/>
            <a:ext cx="311719" cy="152396"/>
          </a:xfrm>
          <a:custGeom>
            <a:avLst/>
            <a:gdLst/>
            <a:ahLst/>
            <a:cxnLst/>
            <a:rect l="l" t="t" r="r" b="b"/>
            <a:pathLst>
              <a:path w="311719" h="152396">
                <a:moveTo>
                  <a:pt x="311719" y="76198"/>
                </a:moveTo>
                <a:lnTo>
                  <a:pt x="311126" y="69557"/>
                </a:lnTo>
                <a:lnTo>
                  <a:pt x="309351" y="62966"/>
                </a:lnTo>
                <a:lnTo>
                  <a:pt x="306408" y="56476"/>
                </a:lnTo>
                <a:lnTo>
                  <a:pt x="302319" y="50137"/>
                </a:lnTo>
                <a:lnTo>
                  <a:pt x="297116" y="43995"/>
                </a:lnTo>
                <a:lnTo>
                  <a:pt x="290838" y="38099"/>
                </a:lnTo>
                <a:lnTo>
                  <a:pt x="283532" y="32493"/>
                </a:lnTo>
                <a:lnTo>
                  <a:pt x="275255" y="27219"/>
                </a:lnTo>
                <a:lnTo>
                  <a:pt x="266069" y="22318"/>
                </a:lnTo>
                <a:lnTo>
                  <a:pt x="256044" y="17827"/>
                </a:lnTo>
                <a:lnTo>
                  <a:pt x="245257" y="13780"/>
                </a:lnTo>
                <a:lnTo>
                  <a:pt x="233789" y="10209"/>
                </a:lnTo>
                <a:lnTo>
                  <a:pt x="221729" y="7139"/>
                </a:lnTo>
                <a:lnTo>
                  <a:pt x="209167" y="4595"/>
                </a:lnTo>
                <a:lnTo>
                  <a:pt x="196199" y="2596"/>
                </a:lnTo>
                <a:lnTo>
                  <a:pt x="182924" y="1158"/>
                </a:lnTo>
                <a:lnTo>
                  <a:pt x="169444" y="290"/>
                </a:lnTo>
                <a:lnTo>
                  <a:pt x="155859" y="0"/>
                </a:lnTo>
                <a:lnTo>
                  <a:pt x="142275" y="290"/>
                </a:lnTo>
                <a:lnTo>
                  <a:pt x="128795" y="1158"/>
                </a:lnTo>
                <a:lnTo>
                  <a:pt x="115520" y="2596"/>
                </a:lnTo>
                <a:lnTo>
                  <a:pt x="102552" y="4595"/>
                </a:lnTo>
                <a:lnTo>
                  <a:pt x="89990" y="7139"/>
                </a:lnTo>
                <a:lnTo>
                  <a:pt x="77930" y="10209"/>
                </a:lnTo>
                <a:lnTo>
                  <a:pt x="66462" y="13780"/>
                </a:lnTo>
                <a:lnTo>
                  <a:pt x="55675" y="17827"/>
                </a:lnTo>
                <a:lnTo>
                  <a:pt x="45650" y="22318"/>
                </a:lnTo>
                <a:lnTo>
                  <a:pt x="36464" y="27219"/>
                </a:lnTo>
                <a:lnTo>
                  <a:pt x="28187" y="32493"/>
                </a:lnTo>
                <a:lnTo>
                  <a:pt x="20881" y="38099"/>
                </a:lnTo>
                <a:lnTo>
                  <a:pt x="14603" y="43995"/>
                </a:lnTo>
                <a:lnTo>
                  <a:pt x="9399" y="50137"/>
                </a:lnTo>
                <a:lnTo>
                  <a:pt x="5311" y="56476"/>
                </a:lnTo>
                <a:lnTo>
                  <a:pt x="2368" y="62966"/>
                </a:lnTo>
                <a:lnTo>
                  <a:pt x="593" y="69557"/>
                </a:lnTo>
                <a:lnTo>
                  <a:pt x="0" y="76198"/>
                </a:lnTo>
                <a:lnTo>
                  <a:pt x="593" y="82839"/>
                </a:lnTo>
                <a:lnTo>
                  <a:pt x="2368" y="89430"/>
                </a:lnTo>
                <a:lnTo>
                  <a:pt x="5311" y="95919"/>
                </a:lnTo>
                <a:lnTo>
                  <a:pt x="9399" y="102259"/>
                </a:lnTo>
                <a:lnTo>
                  <a:pt x="14603" y="108401"/>
                </a:lnTo>
                <a:lnTo>
                  <a:pt x="20881" y="114297"/>
                </a:lnTo>
                <a:lnTo>
                  <a:pt x="28187" y="119903"/>
                </a:lnTo>
                <a:lnTo>
                  <a:pt x="36464" y="125177"/>
                </a:lnTo>
                <a:lnTo>
                  <a:pt x="45650" y="130078"/>
                </a:lnTo>
                <a:lnTo>
                  <a:pt x="55675" y="134569"/>
                </a:lnTo>
                <a:lnTo>
                  <a:pt x="66462" y="138616"/>
                </a:lnTo>
                <a:lnTo>
                  <a:pt x="77930" y="142187"/>
                </a:lnTo>
                <a:lnTo>
                  <a:pt x="89990" y="145257"/>
                </a:lnTo>
                <a:lnTo>
                  <a:pt x="102552" y="147801"/>
                </a:lnTo>
                <a:lnTo>
                  <a:pt x="115520" y="149800"/>
                </a:lnTo>
                <a:lnTo>
                  <a:pt x="128795" y="151238"/>
                </a:lnTo>
                <a:lnTo>
                  <a:pt x="142275" y="152106"/>
                </a:lnTo>
                <a:lnTo>
                  <a:pt x="155859" y="152396"/>
                </a:lnTo>
                <a:lnTo>
                  <a:pt x="169444" y="152106"/>
                </a:lnTo>
                <a:lnTo>
                  <a:pt x="182924" y="151238"/>
                </a:lnTo>
                <a:lnTo>
                  <a:pt x="196199" y="149800"/>
                </a:lnTo>
                <a:lnTo>
                  <a:pt x="209167" y="147801"/>
                </a:lnTo>
                <a:lnTo>
                  <a:pt x="221729" y="145257"/>
                </a:lnTo>
                <a:lnTo>
                  <a:pt x="233789" y="142187"/>
                </a:lnTo>
                <a:lnTo>
                  <a:pt x="245257" y="138616"/>
                </a:lnTo>
                <a:lnTo>
                  <a:pt x="256044" y="134569"/>
                </a:lnTo>
                <a:lnTo>
                  <a:pt x="266069" y="130078"/>
                </a:lnTo>
                <a:lnTo>
                  <a:pt x="275255" y="125177"/>
                </a:lnTo>
                <a:lnTo>
                  <a:pt x="283532" y="119903"/>
                </a:lnTo>
                <a:lnTo>
                  <a:pt x="290838" y="114297"/>
                </a:lnTo>
                <a:lnTo>
                  <a:pt x="297116" y="108401"/>
                </a:lnTo>
                <a:lnTo>
                  <a:pt x="302319" y="102259"/>
                </a:lnTo>
                <a:lnTo>
                  <a:pt x="306408" y="95919"/>
                </a:lnTo>
                <a:lnTo>
                  <a:pt x="309351" y="89430"/>
                </a:lnTo>
                <a:lnTo>
                  <a:pt x="311126" y="82839"/>
                </a:lnTo>
                <a:close/>
              </a:path>
            </a:pathLst>
          </a:custGeom>
          <a:solidFill>
            <a:srgbClr val="BFE0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11-mark233"/>
          <p:cNvSpPr/>
          <p:nvPr/>
        </p:nvSpPr>
        <p:spPr>
          <a:xfrm flipV="1">
            <a:off x="8993469" y="1814957"/>
            <a:ext cx="242448" cy="1039063"/>
          </a:xfrm>
          <a:prstGeom prst="line">
            <a:avLst/>
          </a:prstGeom>
          <a:noFill/>
          <a:ln w="15875">
            <a:solidFill>
              <a:srgbClr val="8A7F6A"/>
            </a:solidFill>
            <a:prstDash val="dash"/>
          </a:ln>
        </p:spPr>
      </p:sp>
      <p:sp>
        <p:nvSpPr>
          <p:cNvPr id="12" name="S11-mark234"/>
          <p:cNvSpPr/>
          <p:nvPr/>
        </p:nvSpPr>
        <p:spPr>
          <a:xfrm flipV="1">
            <a:off x="11279408" y="4741652"/>
            <a:ext cx="0" cy="38099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3" name="S11-mark235"/>
          <p:cNvSpPr/>
          <p:nvPr/>
        </p:nvSpPr>
        <p:spPr>
          <a:xfrm>
            <a:off x="11158184" y="4932147"/>
            <a:ext cx="2424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11-label237"/>
          <p:cNvSpPr txBox="1"/>
          <p:nvPr/>
        </p:nvSpPr>
        <p:spPr>
          <a:xfrm>
            <a:off x="11112530" y="4442917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15" name="S11-label239"/>
          <p:cNvSpPr txBox="1"/>
          <p:nvPr/>
        </p:nvSpPr>
        <p:spPr>
          <a:xfrm>
            <a:off x="8152303" y="3438489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1800" dirty="0"/>
          </a:p>
        </p:txBody>
      </p:sp>
      <p:sp>
        <p:nvSpPr>
          <p:cNvPr id="16" name="S11-label241"/>
          <p:cNvSpPr txBox="1"/>
          <p:nvPr/>
        </p:nvSpPr>
        <p:spPr>
          <a:xfrm>
            <a:off x="10784596" y="3473125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</a:t>
            </a:r>
            <a:endParaRPr lang="ko-KR" sz="1800" dirty="0"/>
          </a:p>
        </p:txBody>
      </p:sp>
      <p:sp>
        <p:nvSpPr>
          <p:cNvPr id="17" name="S11-labelbg243"/>
          <p:cNvSpPr/>
          <p:nvPr/>
        </p:nvSpPr>
        <p:spPr>
          <a:xfrm>
            <a:off x="6769293" y="3614842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11-label244"/>
          <p:cNvSpPr txBox="1"/>
          <p:nvPr/>
        </p:nvSpPr>
        <p:spPr>
          <a:xfrm>
            <a:off x="6723573" y="357991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9" name="S11-labelbg246"/>
          <p:cNvSpPr/>
          <p:nvPr/>
        </p:nvSpPr>
        <p:spPr>
          <a:xfrm>
            <a:off x="10440650" y="2090882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11-label247"/>
          <p:cNvSpPr txBox="1"/>
          <p:nvPr/>
        </p:nvSpPr>
        <p:spPr>
          <a:xfrm>
            <a:off x="10394930" y="205595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1" name="S11-labelbg249"/>
          <p:cNvSpPr/>
          <p:nvPr/>
        </p:nvSpPr>
        <p:spPr>
          <a:xfrm>
            <a:off x="10198202" y="3545571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11-label250"/>
          <p:cNvSpPr txBox="1"/>
          <p:nvPr/>
        </p:nvSpPr>
        <p:spPr>
          <a:xfrm>
            <a:off x="10152482" y="351064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3" name="S11-label252"/>
          <p:cNvSpPr txBox="1"/>
          <p:nvPr/>
        </p:nvSpPr>
        <p:spPr>
          <a:xfrm>
            <a:off x="7519655" y="3611667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서해</a:t>
            </a:r>
            <a:endParaRPr lang="ko-KR" sz="1800" dirty="0"/>
          </a:p>
        </p:txBody>
      </p:sp>
      <p:sp>
        <p:nvSpPr>
          <p:cNvPr id="24" name="S11-label254"/>
          <p:cNvSpPr txBox="1"/>
          <p:nvPr/>
        </p:nvSpPr>
        <p:spPr>
          <a:xfrm>
            <a:off x="9199474" y="3646302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동해</a:t>
            </a:r>
            <a:endParaRPr lang="ko-KR" sz="1800" dirty="0"/>
          </a:p>
        </p:txBody>
      </p:sp>
      <p:sp>
        <p:nvSpPr>
          <p:cNvPr id="25" name="S11-label256"/>
          <p:cNvSpPr txBox="1"/>
          <p:nvPr/>
        </p:nvSpPr>
        <p:spPr>
          <a:xfrm>
            <a:off x="8749213" y="4581459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남해</a:t>
            </a:r>
            <a:endParaRPr lang="ko-KR" sz="1800" dirty="0"/>
          </a:p>
        </p:txBody>
      </p:sp>
      <p:sp>
        <p:nvSpPr>
          <p:cNvPr id="26" name="S11-label257"/>
          <p:cNvSpPr txBox="1"/>
          <p:nvPr/>
        </p:nvSpPr>
        <p:spPr>
          <a:xfrm>
            <a:off x="6277356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모양과 달라요)</a:t>
            </a:r>
            <a:endParaRPr lang="ko-KR" sz="2200" dirty="0"/>
          </a:p>
        </p:txBody>
      </p:sp>
      <p:sp>
        <p:nvSpPr>
          <p:cNvPr id="27" name="S11-chip25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8" name="S11-text25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 나라의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이름은?</a:t>
            </a:r>
            <a:endParaRPr lang="ko-KR" sz="2800" dirty="0"/>
          </a:p>
        </p:txBody>
      </p:sp>
      <p:sp>
        <p:nvSpPr>
          <p:cNvPr id="29" name="S11-chip26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0" name="S11-text261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나라는 우리나라의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쪽, 어느 바다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건너에 있나요?</a:t>
            </a:r>
            <a:endParaRPr lang="ko-KR" sz="2800" dirty="0"/>
          </a:p>
        </p:txBody>
      </p:sp>
      <p:sp>
        <p:nvSpPr>
          <p:cNvPr id="31" name="S11-chip26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2" name="S11-text263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우리나라의 위치를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2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위치는 대륙·바다·방위를 넣어 말해요.</a:t>
            </a:r>
            <a:endParaRPr lang="ko-KR" sz="2800" dirty="0"/>
          </a:p>
        </p:txBody>
      </p:sp>
      <p:sp>
        <p:nvSpPr>
          <p:cNvPr id="5" name="S12-chip26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267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 중국,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러시아, 다 일본</a:t>
            </a:r>
            <a:endParaRPr lang="ko-KR" sz="2800" dirty="0"/>
          </a:p>
        </p:txBody>
      </p:sp>
      <p:sp>
        <p:nvSpPr>
          <p:cNvPr id="7" name="S12-text268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동쪽</a:t>
            </a:r>
            <a:endParaRPr lang="ko-KR" sz="2800" dirty="0"/>
          </a:p>
        </p:txBody>
      </p:sp>
      <p:sp>
        <p:nvSpPr>
          <p:cNvPr id="8" name="S12-text269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동해 건너</a:t>
            </a:r>
            <a:endParaRPr lang="ko-KR" sz="2200" dirty="0"/>
          </a:p>
        </p:txBody>
      </p:sp>
      <p:sp>
        <p:nvSpPr>
          <p:cNvPr id="9" name="S12-text270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아시아 대륙의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동쪽, 삼면이 바다</a:t>
            </a:r>
            <a:endParaRPr lang="ko-KR" sz="2200" dirty="0"/>
          </a:p>
        </p:txBody>
      </p:sp>
      <p:sp>
        <p:nvSpPr>
          <p:cNvPr id="10" name="S12-text271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둘레의 섬</a:t>
            </a:r>
            <a:endParaRPr lang="ko-KR" sz="2200" dirty="0"/>
          </a:p>
        </p:txBody>
      </p:sp>
      <p:sp>
        <p:nvSpPr>
          <p:cNvPr id="11" name="S12-chip27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2" name="S12-text27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“일본은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오른쪽”</a:t>
            </a:r>
            <a:endParaRPr lang="ko-KR" sz="2800" dirty="0"/>
          </a:p>
        </p:txBody>
      </p:sp>
      <p:sp>
        <p:nvSpPr>
          <p:cNvPr id="13" name="S12-text27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말하지 않음</a:t>
            </a:r>
            <a:endParaRPr lang="ko-KR" sz="2200" dirty="0"/>
          </a:p>
        </p:txBody>
      </p:sp>
      <p:sp>
        <p:nvSpPr>
          <p:cNvPr id="14" name="S12-text27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“한반도만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땅”</a:t>
            </a:r>
            <a:endParaRPr lang="ko-KR" sz="2800" dirty="0"/>
          </a:p>
        </p:txBody>
      </p:sp>
      <p:sp>
        <p:nvSpPr>
          <p:cNvPr id="15" name="S12-text27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섬을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빠뜨림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영역일까요?</a:t>
            </a:r>
            <a:endParaRPr lang="ko-KR" sz="4000" dirty="0"/>
          </a:p>
        </p:txBody>
      </p:sp>
      <p:sp>
        <p:nvSpPr>
          <p:cNvPr id="3" name="S13-text2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영토, 영해, 영공 가운데 골라요.</a:t>
            </a:r>
            <a:endParaRPr lang="ko-KR" sz="2800" dirty="0"/>
          </a:p>
        </p:txBody>
      </p:sp>
      <p:sp>
        <p:nvSpPr>
          <p:cNvPr id="4" name="S13-chip27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3-text27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울릉도에 새 길을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만들어요.</a:t>
            </a:r>
            <a:endParaRPr lang="ko-KR" sz="2800" dirty="0"/>
          </a:p>
        </p:txBody>
      </p:sp>
      <p:sp>
        <p:nvSpPr>
          <p:cNvPr id="6" name="S13-chip28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3-text28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배가 독도 가까운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바다에서 고기를 잡아요.</a:t>
            </a:r>
            <a:endParaRPr lang="ko-KR" sz="2800" dirty="0"/>
          </a:p>
        </p:txBody>
      </p:sp>
      <p:sp>
        <p:nvSpPr>
          <p:cNvPr id="8" name="S13-chip28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3-text283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비행기가 제주도 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하늘을 날아요.</a:t>
            </a:r>
            <a:endParaRPr lang="ko-KR" sz="2800" dirty="0"/>
          </a:p>
        </p:txBody>
      </p:sp>
      <p:sp>
        <p:nvSpPr>
          <p:cNvPr id="10" name="S13-chip284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3-text285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독도 둘레의 바다가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영해인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86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87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아시아 대륙의 동쪽, 삼면이 바다인 한반도와 섬들로 이루어져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영역은 영토(땅)·영해(바다)·영공(하늘)이에요.</a:t>
            </a:r>
            <a:endParaRPr lang="ko-KR" sz="2800" dirty="0"/>
          </a:p>
        </p:txBody>
      </p:sp>
      <p:sp>
        <p:nvSpPr>
          <p:cNvPr id="5" name="S14-chip288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대륙·바다·방위로 위치 말하기</a:t>
            </a:r>
            <a:endParaRPr lang="ko-KR" sz="2200" dirty="0"/>
          </a:p>
        </p:txBody>
      </p:sp>
      <p:sp>
        <p:nvSpPr>
          <p:cNvPr id="6" name="S14-chip289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땅만 우리 영역이라고 생각하기</a:t>
            </a:r>
            <a:endParaRPr lang="ko-KR" sz="2200" dirty="0"/>
          </a:p>
        </p:txBody>
      </p:sp>
      <p:sp>
        <p:nvSpPr>
          <p:cNvPr id="7" name="S14-text290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291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한반도 둘레의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바다는?</a:t>
            </a:r>
            <a:endParaRPr lang="ko-KR" sz="2200" dirty="0"/>
          </a:p>
        </p:txBody>
      </p:sp>
      <p:sp>
        <p:nvSpPr>
          <p:cNvPr id="9" name="S14-text292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영공은 어디 위의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하늘인가요?</a:t>
            </a:r>
            <a:endParaRPr lang="ko-KR" sz="2200" dirty="0"/>
          </a:p>
        </p:txBody>
      </p:sp>
      <p:sp>
        <p:nvSpPr>
          <p:cNvPr id="10" name="S14-text293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우리나라 동쪽 끝의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섬은?</a:t>
            </a:r>
            <a:endParaRPr lang="ko-KR" sz="2200" dirty="0"/>
          </a:p>
        </p:txBody>
      </p:sp>
      <p:sp>
        <p:nvSpPr>
          <p:cNvPr id="11" name="S14-text29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국토의 자연환경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방위표 다시 보기</a:t>
            </a:r>
            <a:endParaRPr lang="ko-KR" sz="4000" dirty="0"/>
          </a:p>
        </p:txBody>
      </p:sp>
      <p:sp>
        <p:nvSpPr>
          <p:cNvPr id="3" name="S15-figure295" descr="방위표: 위쪽 화살표가 북, 아래 남, 오른쪽 동, 왼쪽 서"/>
          <p:cNvSpPr/>
          <p:nvPr/>
        </p:nvSpPr>
        <p:spPr>
          <a:xfrm flipV="1">
            <a:off x="2693822" y="2400300"/>
            <a:ext cx="0" cy="274320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4" name="S15-mark296"/>
          <p:cNvSpPr/>
          <p:nvPr/>
        </p:nvSpPr>
        <p:spPr>
          <a:xfrm>
            <a:off x="1733702" y="3771900"/>
            <a:ext cx="192024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15-label298"/>
          <p:cNvSpPr txBox="1"/>
          <p:nvPr/>
        </p:nvSpPr>
        <p:spPr>
          <a:xfrm>
            <a:off x="2502052" y="16770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2200" dirty="0"/>
          </a:p>
        </p:txBody>
      </p:sp>
      <p:sp>
        <p:nvSpPr>
          <p:cNvPr id="6" name="S15-label300"/>
          <p:cNvSpPr txBox="1"/>
          <p:nvPr/>
        </p:nvSpPr>
        <p:spPr>
          <a:xfrm>
            <a:off x="2502052" y="551751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ko-KR" sz="2200" dirty="0"/>
          </a:p>
        </p:txBody>
      </p:sp>
      <p:sp>
        <p:nvSpPr>
          <p:cNvPr id="7" name="S15-label302"/>
          <p:cNvSpPr txBox="1"/>
          <p:nvPr/>
        </p:nvSpPr>
        <p:spPr>
          <a:xfrm>
            <a:off x="4010812" y="35972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200" dirty="0"/>
          </a:p>
        </p:txBody>
      </p:sp>
      <p:sp>
        <p:nvSpPr>
          <p:cNvPr id="8" name="S15-label304"/>
          <p:cNvSpPr txBox="1"/>
          <p:nvPr/>
        </p:nvSpPr>
        <p:spPr>
          <a:xfrm>
            <a:off x="993292" y="35972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200" dirty="0"/>
          </a:p>
        </p:txBody>
      </p:sp>
      <p:sp>
        <p:nvSpPr>
          <p:cNvPr id="9" name="S15-card305"/>
          <p:cNvSpPr/>
          <p:nvPr/>
        </p:nvSpPr>
        <p:spPr>
          <a:xfrm>
            <a:off x="5204765" y="1912112"/>
            <a:ext cx="6435547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5-cardtext306"/>
          <p:cNvSpPr txBox="1"/>
          <p:nvPr/>
        </p:nvSpPr>
        <p:spPr>
          <a:xfrm>
            <a:off x="5479085" y="2049272"/>
            <a:ext cx="58869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화살표가 가리키는 쪽이 북쪽이에요.</a:t>
            </a:r>
            <a:endParaRPr lang="ko-KR" sz="2800" dirty="0"/>
          </a:p>
        </p:txBody>
      </p:sp>
      <p:sp>
        <p:nvSpPr>
          <p:cNvPr id="11" name="S15-card307"/>
          <p:cNvSpPr/>
          <p:nvPr/>
        </p:nvSpPr>
        <p:spPr>
          <a:xfrm>
            <a:off x="5204765" y="3009392"/>
            <a:ext cx="6435547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5-cardtext308"/>
          <p:cNvSpPr txBox="1"/>
          <p:nvPr/>
        </p:nvSpPr>
        <p:spPr>
          <a:xfrm>
            <a:off x="5479085" y="3146552"/>
            <a:ext cx="5886907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북쪽을 보고 서면 오른쪽이 동쪽, 왼쪽이 서쪽이에요.</a:t>
            </a:r>
            <a:endParaRPr lang="ko-KR" sz="2800" dirty="0"/>
          </a:p>
        </p:txBody>
      </p:sp>
      <p:sp>
        <p:nvSpPr>
          <p:cNvPr id="13" name="S15-card309"/>
          <p:cNvSpPr/>
          <p:nvPr/>
        </p:nvSpPr>
        <p:spPr>
          <a:xfrm>
            <a:off x="5204765" y="4434840"/>
            <a:ext cx="6435547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5-cardtext310"/>
          <p:cNvSpPr txBox="1"/>
          <p:nvPr/>
        </p:nvSpPr>
        <p:spPr>
          <a:xfrm>
            <a:off x="5479085" y="4572000"/>
            <a:ext cx="5886907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방위표가 없으면 지도의 위쪽이 북쪽이에요.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우리나라의 위치와 영역</dc:title>
  <dc:subject>KR22-G05-SOC-TERRITORY-L01</dc:subject>
  <dc:creator>education-ppt</dc:creator>
  <cp:lastModifiedBy>education-ppt</cp:lastModifiedBy>
  <cp:revision>1</cp:revision>
  <dcterms:created xsi:type="dcterms:W3CDTF">2026-10-26T13:03:45Z</dcterms:created>
  <dcterms:modified xsi:type="dcterms:W3CDTF">2026-10-26T13:03:45Z</dcterms:modified>
</cp:coreProperties>
</file>