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4968572-a1b3-cba4-3b47-ad6c89a3983e}">
          <p14:sldIdLst>
            <p14:sldId id="256"/>
            <p14:sldId id="257"/>
          </p14:sldIdLst>
        </p14:section>
        <p14:section name="개념" id="{3b3670dc-783d-10a0-48bc-1ebbabbe8bff}">
          <p14:sldIdLst>
            <p14:sldId id="258"/>
            <p14:sldId id="259"/>
            <p14:sldId id="261"/>
            <p14:sldId id="262"/>
          </p14:sldIdLst>
        </p14:section>
        <p14:section name="연습" id="{ca34642f-0511-8505-4a2a-ec3460dc771f}">
          <p14:sldIdLst>
            <p14:sldId id="260"/>
            <p14:sldId id="263"/>
            <p14:sldId id="264"/>
            <p14:sldId id="265"/>
          </p14:sldIdLst>
        </p14:section>
        <p14:section name="개념" id="{e16ebaf6-3251-9ec4-8f3f-6a4086e68c3a}">
          <p14:sldIdLst/>
        </p14:section>
        <p14:section name="연습" id="{e1305167-3f7a-e1c3-9671-2a7198820a70}">
          <p14:sldIdLst/>
        </p14:section>
        <p14:section name="확인" id="{7232870a-24c3-f1e7-d3e3-4d5339b34d27}">
          <p14:sldIdLst>
            <p14:sldId id="266"/>
            <p14:sldId id="267"/>
          </p14:sldIdLst>
        </p14:section>
        <p14:section name="정리" id="{03b815bf-266f-923d-c6bd-eff4342a9f4f}">
          <p14:sldIdLst>
            <p14:sldId id="268"/>
          </p14:sldIdLst>
        </p14:section>
        <p14:section name="보충" id="{f5a64f4b-4a54-f9f6-6d3e-2b5970d4c7a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우리나라의 위치와 영역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우리나라의 위치와 영역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우리나라의 위치와 영역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우리나라의 위치와 영역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지구의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있을까요?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우리나라의 위치를 대륙과 바다로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영토·영해·영공을 구별해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읽어 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섬 ‘누리섬’의 지도예요.</a:t>
            </a:r>
            <a:endParaRPr lang="ko-KR" sz="2800" dirty="0"/>
          </a:p>
        </p:txBody>
      </p:sp>
      <p:sp>
        <p:nvSpPr>
          <p:cNvPr id="4" name="S02-figure4" descr="지어낸 섬 누리섬의 지도: 섬 둘레는 바다, 섬의 왼쪽(서쪽)에 산, 같은 높이의 오른쪽(동쪽)에 마을, 오른쪽 위에 위쪽(북쪽)을 가리키는 방위표"/>
          <p:cNvSpPr/>
          <p:nvPr/>
        </p:nvSpPr>
        <p:spPr>
          <a:xfrm>
            <a:off x="6361176" y="2491264"/>
            <a:ext cx="5195316" cy="3247073"/>
          </a:xfrm>
          <a:custGeom>
            <a:avLst/>
            <a:gdLst/>
            <a:ahLst/>
            <a:cxnLst/>
            <a:rect l="l" t="t" r="r" b="b"/>
            <a:pathLst>
              <a:path w="5195316" h="3247073">
                <a:moveTo>
                  <a:pt x="0" y="3247073"/>
                </a:moveTo>
                <a:lnTo>
                  <a:pt x="5195316" y="3247073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794119" y="2967501"/>
            <a:ext cx="3636721" cy="2337892"/>
          </a:xfrm>
          <a:custGeom>
            <a:avLst/>
            <a:gdLst/>
            <a:ahLst/>
            <a:cxnLst/>
            <a:rect l="l" t="t" r="r" b="b"/>
            <a:pathLst>
              <a:path w="3636721" h="2337892">
                <a:moveTo>
                  <a:pt x="3636721" y="1168946"/>
                </a:moveTo>
                <a:lnTo>
                  <a:pt x="3609013" y="965896"/>
                </a:lnTo>
                <a:lnTo>
                  <a:pt x="3527187" y="769340"/>
                </a:lnTo>
                <a:lnTo>
                  <a:pt x="3392974" y="584473"/>
                </a:lnTo>
                <a:lnTo>
                  <a:pt x="3211138" y="417357"/>
                </a:lnTo>
                <a:lnTo>
                  <a:pt x="2987307" y="273620"/>
                </a:lnTo>
                <a:lnTo>
                  <a:pt x="2727541" y="156725"/>
                </a:lnTo>
                <a:lnTo>
                  <a:pt x="2440067" y="70570"/>
                </a:lnTo>
                <a:lnTo>
                  <a:pt x="2133976" y="17751"/>
                </a:lnTo>
                <a:lnTo>
                  <a:pt x="1818361" y="0"/>
                </a:lnTo>
                <a:lnTo>
                  <a:pt x="1502745" y="17751"/>
                </a:lnTo>
                <a:lnTo>
                  <a:pt x="1196654" y="70570"/>
                </a:lnTo>
                <a:lnTo>
                  <a:pt x="909180" y="156725"/>
                </a:lnTo>
                <a:lnTo>
                  <a:pt x="649415" y="273620"/>
                </a:lnTo>
                <a:lnTo>
                  <a:pt x="425583" y="417357"/>
                </a:lnTo>
                <a:lnTo>
                  <a:pt x="243747" y="584473"/>
                </a:lnTo>
                <a:lnTo>
                  <a:pt x="109535" y="769340"/>
                </a:lnTo>
                <a:lnTo>
                  <a:pt x="27708" y="965896"/>
                </a:lnTo>
                <a:lnTo>
                  <a:pt x="0" y="1168946"/>
                </a:lnTo>
                <a:lnTo>
                  <a:pt x="27708" y="1371996"/>
                </a:lnTo>
                <a:lnTo>
                  <a:pt x="109535" y="1568552"/>
                </a:lnTo>
                <a:lnTo>
                  <a:pt x="243747" y="1753419"/>
                </a:lnTo>
                <a:lnTo>
                  <a:pt x="425583" y="1920535"/>
                </a:lnTo>
                <a:lnTo>
                  <a:pt x="649415" y="2064272"/>
                </a:lnTo>
                <a:lnTo>
                  <a:pt x="909180" y="2181167"/>
                </a:lnTo>
                <a:lnTo>
                  <a:pt x="1196654" y="2267322"/>
                </a:lnTo>
                <a:lnTo>
                  <a:pt x="1502745" y="2320142"/>
                </a:lnTo>
                <a:lnTo>
                  <a:pt x="1818361" y="2337892"/>
                </a:lnTo>
                <a:lnTo>
                  <a:pt x="2133976" y="2320142"/>
                </a:lnTo>
                <a:lnTo>
                  <a:pt x="2440067" y="2267322"/>
                </a:lnTo>
                <a:lnTo>
                  <a:pt x="2727541" y="2181167"/>
                </a:lnTo>
                <a:lnTo>
                  <a:pt x="2987307" y="2064272"/>
                </a:lnTo>
                <a:lnTo>
                  <a:pt x="3211138" y="1920535"/>
                </a:lnTo>
                <a:lnTo>
                  <a:pt x="3392974" y="1753419"/>
                </a:lnTo>
                <a:lnTo>
                  <a:pt x="3527187" y="1568552"/>
                </a:lnTo>
                <a:lnTo>
                  <a:pt x="3609013" y="1371996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356945" y="3746798"/>
            <a:ext cx="519532" cy="519532"/>
          </a:xfrm>
          <a:custGeom>
            <a:avLst/>
            <a:gdLst/>
            <a:ahLst/>
            <a:cxnLst/>
            <a:rect l="l" t="t" r="r" b="b"/>
            <a:pathLst>
              <a:path w="519532" h="519532">
                <a:moveTo>
                  <a:pt x="0" y="519532"/>
                </a:moveTo>
                <a:lnTo>
                  <a:pt x="519532" y="519532"/>
                </a:lnTo>
                <a:lnTo>
                  <a:pt x="259766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9391777" y="3919976"/>
            <a:ext cx="346354" cy="346354"/>
          </a:xfrm>
          <a:custGeom>
            <a:avLst/>
            <a:gdLst/>
            <a:ahLst/>
            <a:cxnLst/>
            <a:rect l="l" t="t" r="r" b="b"/>
            <a:pathLst>
              <a:path w="346354" h="346354">
                <a:moveTo>
                  <a:pt x="0" y="346354"/>
                </a:moveTo>
                <a:lnTo>
                  <a:pt x="346354" y="346354"/>
                </a:lnTo>
                <a:lnTo>
                  <a:pt x="346354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 flipV="1">
            <a:off x="11080255" y="3227267"/>
            <a:ext cx="0" cy="5195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9" name="S02-mark9"/>
          <p:cNvSpPr/>
          <p:nvPr/>
        </p:nvSpPr>
        <p:spPr>
          <a:xfrm>
            <a:off x="10928725" y="3487033"/>
            <a:ext cx="30306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2-label11"/>
          <p:cNvSpPr txBox="1"/>
          <p:nvPr/>
        </p:nvSpPr>
        <p:spPr>
          <a:xfrm>
            <a:off x="7449833" y="4361574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1800" dirty="0"/>
          </a:p>
        </p:txBody>
      </p:sp>
      <p:sp>
        <p:nvSpPr>
          <p:cNvPr id="11" name="S02-label13"/>
          <p:cNvSpPr txBox="1"/>
          <p:nvPr/>
        </p:nvSpPr>
        <p:spPr>
          <a:xfrm>
            <a:off x="9286062" y="436157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</a:t>
            </a:r>
            <a:endParaRPr lang="ko-KR" sz="1800" dirty="0"/>
          </a:p>
        </p:txBody>
      </p:sp>
      <p:sp>
        <p:nvSpPr>
          <p:cNvPr id="12" name="S02-label15"/>
          <p:cNvSpPr txBox="1"/>
          <p:nvPr/>
        </p:nvSpPr>
        <p:spPr>
          <a:xfrm>
            <a:off x="10913377" y="2889568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3" name="S02-chip1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4" name="S02-text17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마을은 산의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있나요?</a:t>
            </a:r>
            <a:endParaRPr lang="ko-KR" sz="2800" dirty="0"/>
          </a:p>
        </p:txBody>
      </p:sp>
      <p:sp>
        <p:nvSpPr>
          <p:cNvPr id="15" name="S02-chip1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6" name="S02-text19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산은 마을의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있나요?</a:t>
            </a:r>
            <a:endParaRPr lang="ko-KR" sz="2800" dirty="0"/>
          </a:p>
        </p:txBody>
      </p:sp>
      <p:sp>
        <p:nvSpPr>
          <p:cNvPr id="17" name="S02-chip2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8" name="S02-text21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지도의 위쪽은?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대륙의 동쪽에 있어요</a:t>
            </a:r>
            <a:endParaRPr lang="ko-KR" sz="4000" dirty="0"/>
          </a:p>
        </p:txBody>
      </p:sp>
      <p:sp>
        <p:nvSpPr>
          <p:cNvPr id="3" name="S03-figure22" descr="간단히 나타낸 그림: 위쪽과 왼쪽에 아시아 대륙, 대륙의 동쪽 끝에 아래로 튀어나온 한반도(초록), 한반도 둘레의 작은 섬들, 오른쪽에 태평양, 오른쪽 아래에 북쪽을 가리키는 방위표"/>
          <p:cNvSpPr/>
          <p:nvPr/>
        </p:nvSpPr>
        <p:spPr>
          <a:xfrm>
            <a:off x="632460" y="1457427"/>
            <a:ext cx="6267907" cy="4178605"/>
          </a:xfrm>
          <a:custGeom>
            <a:avLst/>
            <a:gdLst/>
            <a:ahLst/>
            <a:cxnLst/>
            <a:rect l="l" t="t" r="r" b="b"/>
            <a:pathLst>
              <a:path w="6267907" h="4178605">
                <a:moveTo>
                  <a:pt x="0" y="4178605"/>
                </a:moveTo>
                <a:lnTo>
                  <a:pt x="6267907" y="4178605"/>
                </a:lnTo>
                <a:lnTo>
                  <a:pt x="626790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3-mark23"/>
          <p:cNvSpPr/>
          <p:nvPr/>
        </p:nvSpPr>
        <p:spPr>
          <a:xfrm>
            <a:off x="632460" y="1457427"/>
            <a:ext cx="6267907" cy="3593600"/>
          </a:xfrm>
          <a:custGeom>
            <a:avLst/>
            <a:gdLst/>
            <a:ahLst/>
            <a:cxnLst/>
            <a:rect l="l" t="t" r="r" b="b"/>
            <a:pathLst>
              <a:path w="6267907" h="3593600">
                <a:moveTo>
                  <a:pt x="0" y="0"/>
                </a:moveTo>
                <a:lnTo>
                  <a:pt x="6267907" y="0"/>
                </a:lnTo>
                <a:lnTo>
                  <a:pt x="6267907" y="1002865"/>
                </a:lnTo>
                <a:lnTo>
                  <a:pt x="3760744" y="1002865"/>
                </a:lnTo>
                <a:lnTo>
                  <a:pt x="3510028" y="1253581"/>
                </a:lnTo>
                <a:lnTo>
                  <a:pt x="1337154" y="1253581"/>
                </a:lnTo>
                <a:lnTo>
                  <a:pt x="1337154" y="3593600"/>
                </a:lnTo>
                <a:lnTo>
                  <a:pt x="0" y="3593600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3-mark24"/>
          <p:cNvSpPr/>
          <p:nvPr/>
        </p:nvSpPr>
        <p:spPr>
          <a:xfrm>
            <a:off x="4811065" y="2669222"/>
            <a:ext cx="1253581" cy="2131088"/>
          </a:xfrm>
          <a:custGeom>
            <a:avLst/>
            <a:gdLst/>
            <a:ahLst/>
            <a:cxnLst/>
            <a:rect l="l" t="t" r="r" b="b"/>
            <a:pathLst>
              <a:path w="1253581" h="2131088">
                <a:moveTo>
                  <a:pt x="0" y="208930"/>
                </a:moveTo>
                <a:lnTo>
                  <a:pt x="668577" y="0"/>
                </a:lnTo>
                <a:lnTo>
                  <a:pt x="1253581" y="1880372"/>
                </a:lnTo>
                <a:lnTo>
                  <a:pt x="585005" y="213108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3-mark25"/>
          <p:cNvSpPr/>
          <p:nvPr/>
        </p:nvSpPr>
        <p:spPr>
          <a:xfrm>
            <a:off x="4602135" y="4800310"/>
            <a:ext cx="585005" cy="585005"/>
          </a:xfrm>
          <a:custGeom>
            <a:avLst/>
            <a:gdLst/>
            <a:ahLst/>
            <a:cxnLst/>
            <a:rect l="l" t="t" r="r" b="b"/>
            <a:pathLst>
              <a:path w="585005" h="585005">
                <a:moveTo>
                  <a:pt x="0" y="125358"/>
                </a:moveTo>
                <a:lnTo>
                  <a:pt x="501433" y="0"/>
                </a:lnTo>
                <a:lnTo>
                  <a:pt x="585005" y="459647"/>
                </a:lnTo>
                <a:lnTo>
                  <a:pt x="125358" y="585005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2721762" y="2711008"/>
            <a:ext cx="1086437" cy="1922158"/>
          </a:xfrm>
          <a:custGeom>
            <a:avLst/>
            <a:gdLst/>
            <a:ahLst/>
            <a:cxnLst/>
            <a:rect l="l" t="t" r="r" b="b"/>
            <a:pathLst>
              <a:path w="1086437" h="1922158">
                <a:moveTo>
                  <a:pt x="0" y="0"/>
                </a:moveTo>
                <a:lnTo>
                  <a:pt x="1086437" y="0"/>
                </a:lnTo>
                <a:lnTo>
                  <a:pt x="961079" y="1796800"/>
                </a:lnTo>
                <a:lnTo>
                  <a:pt x="208930" y="1922158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>
            <a:off x="4038023" y="3233334"/>
            <a:ext cx="125358" cy="125358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>
            <a:off x="4313811" y="3362870"/>
            <a:ext cx="75215" cy="75215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2951586" y="4938204"/>
            <a:ext cx="376074" cy="183859"/>
          </a:xfrm>
          <a:custGeom>
            <a:avLst/>
            <a:gdLst/>
            <a:ahLst/>
            <a:cxnLst/>
            <a:rect l="l" t="t" r="r" b="b"/>
            <a:pathLst>
              <a:path w="376074" h="183859">
                <a:moveTo>
                  <a:pt x="376074" y="91929"/>
                </a:moveTo>
                <a:lnTo>
                  <a:pt x="375359" y="83917"/>
                </a:lnTo>
                <a:lnTo>
                  <a:pt x="373218" y="75966"/>
                </a:lnTo>
                <a:lnTo>
                  <a:pt x="369667" y="68136"/>
                </a:lnTo>
                <a:lnTo>
                  <a:pt x="364734" y="60488"/>
                </a:lnTo>
                <a:lnTo>
                  <a:pt x="358457" y="53078"/>
                </a:lnTo>
                <a:lnTo>
                  <a:pt x="350882" y="45965"/>
                </a:lnTo>
                <a:lnTo>
                  <a:pt x="342068" y="39201"/>
                </a:lnTo>
                <a:lnTo>
                  <a:pt x="332082" y="32838"/>
                </a:lnTo>
                <a:lnTo>
                  <a:pt x="321000" y="26925"/>
                </a:lnTo>
                <a:lnTo>
                  <a:pt x="308905" y="21507"/>
                </a:lnTo>
                <a:lnTo>
                  <a:pt x="295891" y="16625"/>
                </a:lnTo>
                <a:lnTo>
                  <a:pt x="282056" y="12316"/>
                </a:lnTo>
                <a:lnTo>
                  <a:pt x="267505" y="8613"/>
                </a:lnTo>
                <a:lnTo>
                  <a:pt x="252350" y="5544"/>
                </a:lnTo>
                <a:lnTo>
                  <a:pt x="236705" y="3132"/>
                </a:lnTo>
                <a:lnTo>
                  <a:pt x="220690" y="1397"/>
                </a:lnTo>
                <a:lnTo>
                  <a:pt x="204426" y="350"/>
                </a:lnTo>
                <a:lnTo>
                  <a:pt x="188037" y="0"/>
                </a:lnTo>
                <a:lnTo>
                  <a:pt x="171649" y="350"/>
                </a:lnTo>
                <a:lnTo>
                  <a:pt x="155385" y="1397"/>
                </a:lnTo>
                <a:lnTo>
                  <a:pt x="139370" y="3132"/>
                </a:lnTo>
                <a:lnTo>
                  <a:pt x="123725" y="5544"/>
                </a:lnTo>
                <a:lnTo>
                  <a:pt x="108569" y="8613"/>
                </a:lnTo>
                <a:lnTo>
                  <a:pt x="94019" y="12316"/>
                </a:lnTo>
                <a:lnTo>
                  <a:pt x="80183" y="16625"/>
                </a:lnTo>
                <a:lnTo>
                  <a:pt x="67169" y="21507"/>
                </a:lnTo>
                <a:lnTo>
                  <a:pt x="55075" y="26925"/>
                </a:lnTo>
                <a:lnTo>
                  <a:pt x="43992" y="32838"/>
                </a:lnTo>
                <a:lnTo>
                  <a:pt x="34006" y="39201"/>
                </a:lnTo>
                <a:lnTo>
                  <a:pt x="25192" y="45965"/>
                </a:lnTo>
                <a:lnTo>
                  <a:pt x="17618" y="53078"/>
                </a:lnTo>
                <a:lnTo>
                  <a:pt x="11340" y="60488"/>
                </a:lnTo>
                <a:lnTo>
                  <a:pt x="6407" y="68136"/>
                </a:lnTo>
                <a:lnTo>
                  <a:pt x="2857" y="75966"/>
                </a:lnTo>
                <a:lnTo>
                  <a:pt x="716" y="83917"/>
                </a:lnTo>
                <a:lnTo>
                  <a:pt x="0" y="91929"/>
                </a:lnTo>
                <a:lnTo>
                  <a:pt x="716" y="99941"/>
                </a:lnTo>
                <a:lnTo>
                  <a:pt x="2857" y="107893"/>
                </a:lnTo>
                <a:lnTo>
                  <a:pt x="6407" y="115722"/>
                </a:lnTo>
                <a:lnTo>
                  <a:pt x="11340" y="123371"/>
                </a:lnTo>
                <a:lnTo>
                  <a:pt x="17618" y="130780"/>
                </a:lnTo>
                <a:lnTo>
                  <a:pt x="25192" y="137894"/>
                </a:lnTo>
                <a:lnTo>
                  <a:pt x="34006" y="144658"/>
                </a:lnTo>
                <a:lnTo>
                  <a:pt x="43992" y="151020"/>
                </a:lnTo>
                <a:lnTo>
                  <a:pt x="55075" y="156933"/>
                </a:lnTo>
                <a:lnTo>
                  <a:pt x="67169" y="162351"/>
                </a:lnTo>
                <a:lnTo>
                  <a:pt x="80183" y="167233"/>
                </a:lnTo>
                <a:lnTo>
                  <a:pt x="94019" y="171542"/>
                </a:lnTo>
                <a:lnTo>
                  <a:pt x="108569" y="175246"/>
                </a:lnTo>
                <a:lnTo>
                  <a:pt x="123725" y="178315"/>
                </a:lnTo>
                <a:lnTo>
                  <a:pt x="139370" y="180726"/>
                </a:lnTo>
                <a:lnTo>
                  <a:pt x="155385" y="182462"/>
                </a:lnTo>
                <a:lnTo>
                  <a:pt x="171649" y="183509"/>
                </a:lnTo>
                <a:lnTo>
                  <a:pt x="188037" y="183859"/>
                </a:lnTo>
                <a:lnTo>
                  <a:pt x="204426" y="183509"/>
                </a:lnTo>
                <a:lnTo>
                  <a:pt x="220690" y="182462"/>
                </a:lnTo>
                <a:lnTo>
                  <a:pt x="236705" y="180726"/>
                </a:lnTo>
                <a:lnTo>
                  <a:pt x="252350" y="178315"/>
                </a:lnTo>
                <a:lnTo>
                  <a:pt x="267505" y="175246"/>
                </a:lnTo>
                <a:lnTo>
                  <a:pt x="282056" y="171542"/>
                </a:lnTo>
                <a:lnTo>
                  <a:pt x="295891" y="167233"/>
                </a:lnTo>
                <a:lnTo>
                  <a:pt x="308905" y="162351"/>
                </a:lnTo>
                <a:lnTo>
                  <a:pt x="321000" y="156933"/>
                </a:lnTo>
                <a:lnTo>
                  <a:pt x="332082" y="151020"/>
                </a:lnTo>
                <a:lnTo>
                  <a:pt x="342068" y="144658"/>
                </a:lnTo>
                <a:lnTo>
                  <a:pt x="350882" y="137894"/>
                </a:lnTo>
                <a:lnTo>
                  <a:pt x="358457" y="130780"/>
                </a:lnTo>
                <a:lnTo>
                  <a:pt x="364734" y="123371"/>
                </a:lnTo>
                <a:lnTo>
                  <a:pt x="369667" y="115722"/>
                </a:lnTo>
                <a:lnTo>
                  <a:pt x="373218" y="107893"/>
                </a:lnTo>
                <a:lnTo>
                  <a:pt x="375359" y="99941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 flipV="1">
            <a:off x="3808200" y="1457427"/>
            <a:ext cx="292502" cy="1253581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03-mark31"/>
          <p:cNvSpPr/>
          <p:nvPr/>
        </p:nvSpPr>
        <p:spPr>
          <a:xfrm flipV="1">
            <a:off x="6566079" y="4988348"/>
            <a:ext cx="0" cy="459647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3-mark32"/>
          <p:cNvSpPr/>
          <p:nvPr/>
        </p:nvSpPr>
        <p:spPr>
          <a:xfrm>
            <a:off x="6419828" y="5218171"/>
            <a:ext cx="292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3-label34"/>
          <p:cNvSpPr txBox="1"/>
          <p:nvPr/>
        </p:nvSpPr>
        <p:spPr>
          <a:xfrm>
            <a:off x="6399201" y="4657435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03-label36"/>
          <p:cNvSpPr txBox="1"/>
          <p:nvPr/>
        </p:nvSpPr>
        <p:spPr>
          <a:xfrm>
            <a:off x="1153245" y="1857770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</a:t>
            </a:r>
            <a:endParaRPr lang="ko-KR" sz="1800" dirty="0"/>
          </a:p>
        </p:txBody>
      </p:sp>
      <p:sp>
        <p:nvSpPr>
          <p:cNvPr id="16" name="S03-label38"/>
          <p:cNvSpPr txBox="1"/>
          <p:nvPr/>
        </p:nvSpPr>
        <p:spPr>
          <a:xfrm>
            <a:off x="2874075" y="344564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7" name="S03-label40"/>
          <p:cNvSpPr txBox="1"/>
          <p:nvPr/>
        </p:nvSpPr>
        <p:spPr>
          <a:xfrm>
            <a:off x="6049815" y="348742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8" name="S03-label41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19" name="S03-card42"/>
          <p:cNvSpPr/>
          <p:nvPr/>
        </p:nvSpPr>
        <p:spPr>
          <a:xfrm>
            <a:off x="7349947" y="2136648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3-cardtext43"/>
          <p:cNvSpPr txBox="1"/>
          <p:nvPr/>
        </p:nvSpPr>
        <p:spPr>
          <a:xfrm>
            <a:off x="7624267" y="2273808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대륙의 동쪽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대륙의 동쪽 끝,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태평양의 서쪽에 있어요.</a:t>
            </a:r>
            <a:endParaRPr lang="ko-KR" sz="2800" dirty="0"/>
          </a:p>
        </p:txBody>
      </p:sp>
      <p:sp>
        <p:nvSpPr>
          <p:cNvPr id="21" name="S03-card44"/>
          <p:cNvSpPr/>
          <p:nvPr/>
        </p:nvSpPr>
        <p:spPr>
          <a:xfrm>
            <a:off x="7349947" y="388620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3-cardtext45"/>
          <p:cNvSpPr txBox="1"/>
          <p:nvPr/>
        </p:nvSpPr>
        <p:spPr>
          <a:xfrm>
            <a:off x="7624267" y="402336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삼면이 바다이고 북쪽은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대륙과 이어진 땅이에요.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바다와 이웃 나라</a:t>
            </a:r>
            <a:endParaRPr lang="ko-KR" sz="4000" dirty="0"/>
          </a:p>
        </p:txBody>
      </p:sp>
      <p:sp>
        <p:nvSpPr>
          <p:cNvPr id="3" name="S04-figure46" descr="간단히 나타낸 그림: 한반도의 서쪽에 서해, 동쪽에 동해, 남쪽에 남해. 대륙 쪽 왼쪽과 위에 중국, 오른쪽 위에 러시아, 동해 건너 오른쪽에 일본, 더 동쪽에 태평양"/>
          <p:cNvSpPr/>
          <p:nvPr/>
        </p:nvSpPr>
        <p:spPr>
          <a:xfrm>
            <a:off x="632460" y="1457427"/>
            <a:ext cx="6267907" cy="4178605"/>
          </a:xfrm>
          <a:custGeom>
            <a:avLst/>
            <a:gdLst/>
            <a:ahLst/>
            <a:cxnLst/>
            <a:rect l="l" t="t" r="r" b="b"/>
            <a:pathLst>
              <a:path w="6267907" h="4178605">
                <a:moveTo>
                  <a:pt x="0" y="4178605"/>
                </a:moveTo>
                <a:lnTo>
                  <a:pt x="6267907" y="4178605"/>
                </a:lnTo>
                <a:lnTo>
                  <a:pt x="626790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4-mark47"/>
          <p:cNvSpPr/>
          <p:nvPr/>
        </p:nvSpPr>
        <p:spPr>
          <a:xfrm>
            <a:off x="632460" y="1457427"/>
            <a:ext cx="6267907" cy="3593600"/>
          </a:xfrm>
          <a:custGeom>
            <a:avLst/>
            <a:gdLst/>
            <a:ahLst/>
            <a:cxnLst/>
            <a:rect l="l" t="t" r="r" b="b"/>
            <a:pathLst>
              <a:path w="6267907" h="3593600">
                <a:moveTo>
                  <a:pt x="0" y="0"/>
                </a:moveTo>
                <a:lnTo>
                  <a:pt x="6267907" y="0"/>
                </a:lnTo>
                <a:lnTo>
                  <a:pt x="6267907" y="1002865"/>
                </a:lnTo>
                <a:lnTo>
                  <a:pt x="3760744" y="1002865"/>
                </a:lnTo>
                <a:lnTo>
                  <a:pt x="3510028" y="1253581"/>
                </a:lnTo>
                <a:lnTo>
                  <a:pt x="1337154" y="1253581"/>
                </a:lnTo>
                <a:lnTo>
                  <a:pt x="1337154" y="3593600"/>
                </a:lnTo>
                <a:lnTo>
                  <a:pt x="0" y="3593600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4-mark48"/>
          <p:cNvSpPr/>
          <p:nvPr/>
        </p:nvSpPr>
        <p:spPr>
          <a:xfrm>
            <a:off x="4811065" y="2669222"/>
            <a:ext cx="1253581" cy="2131088"/>
          </a:xfrm>
          <a:custGeom>
            <a:avLst/>
            <a:gdLst/>
            <a:ahLst/>
            <a:cxnLst/>
            <a:rect l="l" t="t" r="r" b="b"/>
            <a:pathLst>
              <a:path w="1253581" h="2131088">
                <a:moveTo>
                  <a:pt x="0" y="208930"/>
                </a:moveTo>
                <a:lnTo>
                  <a:pt x="668577" y="0"/>
                </a:lnTo>
                <a:lnTo>
                  <a:pt x="1253581" y="1880372"/>
                </a:lnTo>
                <a:lnTo>
                  <a:pt x="585005" y="213108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4-mark49"/>
          <p:cNvSpPr/>
          <p:nvPr/>
        </p:nvSpPr>
        <p:spPr>
          <a:xfrm>
            <a:off x="4602135" y="4800310"/>
            <a:ext cx="585005" cy="585005"/>
          </a:xfrm>
          <a:custGeom>
            <a:avLst/>
            <a:gdLst/>
            <a:ahLst/>
            <a:cxnLst/>
            <a:rect l="l" t="t" r="r" b="b"/>
            <a:pathLst>
              <a:path w="585005" h="585005">
                <a:moveTo>
                  <a:pt x="0" y="125358"/>
                </a:moveTo>
                <a:lnTo>
                  <a:pt x="501433" y="0"/>
                </a:lnTo>
                <a:lnTo>
                  <a:pt x="585005" y="459647"/>
                </a:lnTo>
                <a:lnTo>
                  <a:pt x="125358" y="585005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4-mark50"/>
          <p:cNvSpPr/>
          <p:nvPr/>
        </p:nvSpPr>
        <p:spPr>
          <a:xfrm>
            <a:off x="2721762" y="2711008"/>
            <a:ext cx="1086437" cy="1922158"/>
          </a:xfrm>
          <a:custGeom>
            <a:avLst/>
            <a:gdLst/>
            <a:ahLst/>
            <a:cxnLst/>
            <a:rect l="l" t="t" r="r" b="b"/>
            <a:pathLst>
              <a:path w="1086437" h="1922158">
                <a:moveTo>
                  <a:pt x="0" y="0"/>
                </a:moveTo>
                <a:lnTo>
                  <a:pt x="1086437" y="0"/>
                </a:lnTo>
                <a:lnTo>
                  <a:pt x="961079" y="1796800"/>
                </a:lnTo>
                <a:lnTo>
                  <a:pt x="208930" y="1922158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4-mark51"/>
          <p:cNvSpPr/>
          <p:nvPr/>
        </p:nvSpPr>
        <p:spPr>
          <a:xfrm>
            <a:off x="4038023" y="3233334"/>
            <a:ext cx="125358" cy="125358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2"/>
          <p:cNvSpPr/>
          <p:nvPr/>
        </p:nvSpPr>
        <p:spPr>
          <a:xfrm>
            <a:off x="4313811" y="3362870"/>
            <a:ext cx="75215" cy="75215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3"/>
          <p:cNvSpPr/>
          <p:nvPr/>
        </p:nvSpPr>
        <p:spPr>
          <a:xfrm>
            <a:off x="2951586" y="4938204"/>
            <a:ext cx="376074" cy="183859"/>
          </a:xfrm>
          <a:custGeom>
            <a:avLst/>
            <a:gdLst/>
            <a:ahLst/>
            <a:cxnLst/>
            <a:rect l="l" t="t" r="r" b="b"/>
            <a:pathLst>
              <a:path w="376074" h="183859">
                <a:moveTo>
                  <a:pt x="376074" y="91929"/>
                </a:moveTo>
                <a:lnTo>
                  <a:pt x="375359" y="83917"/>
                </a:lnTo>
                <a:lnTo>
                  <a:pt x="373218" y="75966"/>
                </a:lnTo>
                <a:lnTo>
                  <a:pt x="369667" y="68136"/>
                </a:lnTo>
                <a:lnTo>
                  <a:pt x="364734" y="60488"/>
                </a:lnTo>
                <a:lnTo>
                  <a:pt x="358457" y="53078"/>
                </a:lnTo>
                <a:lnTo>
                  <a:pt x="350882" y="45965"/>
                </a:lnTo>
                <a:lnTo>
                  <a:pt x="342068" y="39201"/>
                </a:lnTo>
                <a:lnTo>
                  <a:pt x="332082" y="32838"/>
                </a:lnTo>
                <a:lnTo>
                  <a:pt x="321000" y="26925"/>
                </a:lnTo>
                <a:lnTo>
                  <a:pt x="308905" y="21507"/>
                </a:lnTo>
                <a:lnTo>
                  <a:pt x="295891" y="16625"/>
                </a:lnTo>
                <a:lnTo>
                  <a:pt x="282056" y="12316"/>
                </a:lnTo>
                <a:lnTo>
                  <a:pt x="267505" y="8613"/>
                </a:lnTo>
                <a:lnTo>
                  <a:pt x="252350" y="5544"/>
                </a:lnTo>
                <a:lnTo>
                  <a:pt x="236705" y="3132"/>
                </a:lnTo>
                <a:lnTo>
                  <a:pt x="220690" y="1397"/>
                </a:lnTo>
                <a:lnTo>
                  <a:pt x="204426" y="350"/>
                </a:lnTo>
                <a:lnTo>
                  <a:pt x="188037" y="0"/>
                </a:lnTo>
                <a:lnTo>
                  <a:pt x="171649" y="350"/>
                </a:lnTo>
                <a:lnTo>
                  <a:pt x="155385" y="1397"/>
                </a:lnTo>
                <a:lnTo>
                  <a:pt x="139370" y="3132"/>
                </a:lnTo>
                <a:lnTo>
                  <a:pt x="123725" y="5544"/>
                </a:lnTo>
                <a:lnTo>
                  <a:pt x="108569" y="8613"/>
                </a:lnTo>
                <a:lnTo>
                  <a:pt x="94019" y="12316"/>
                </a:lnTo>
                <a:lnTo>
                  <a:pt x="80183" y="16625"/>
                </a:lnTo>
                <a:lnTo>
                  <a:pt x="67169" y="21507"/>
                </a:lnTo>
                <a:lnTo>
                  <a:pt x="55075" y="26925"/>
                </a:lnTo>
                <a:lnTo>
                  <a:pt x="43992" y="32838"/>
                </a:lnTo>
                <a:lnTo>
                  <a:pt x="34006" y="39201"/>
                </a:lnTo>
                <a:lnTo>
                  <a:pt x="25192" y="45965"/>
                </a:lnTo>
                <a:lnTo>
                  <a:pt x="17618" y="53078"/>
                </a:lnTo>
                <a:lnTo>
                  <a:pt x="11340" y="60488"/>
                </a:lnTo>
                <a:lnTo>
                  <a:pt x="6407" y="68136"/>
                </a:lnTo>
                <a:lnTo>
                  <a:pt x="2857" y="75966"/>
                </a:lnTo>
                <a:lnTo>
                  <a:pt x="716" y="83917"/>
                </a:lnTo>
                <a:lnTo>
                  <a:pt x="0" y="91929"/>
                </a:lnTo>
                <a:lnTo>
                  <a:pt x="716" y="99941"/>
                </a:lnTo>
                <a:lnTo>
                  <a:pt x="2857" y="107893"/>
                </a:lnTo>
                <a:lnTo>
                  <a:pt x="6407" y="115722"/>
                </a:lnTo>
                <a:lnTo>
                  <a:pt x="11340" y="123371"/>
                </a:lnTo>
                <a:lnTo>
                  <a:pt x="17618" y="130780"/>
                </a:lnTo>
                <a:lnTo>
                  <a:pt x="25192" y="137894"/>
                </a:lnTo>
                <a:lnTo>
                  <a:pt x="34006" y="144658"/>
                </a:lnTo>
                <a:lnTo>
                  <a:pt x="43992" y="151020"/>
                </a:lnTo>
                <a:lnTo>
                  <a:pt x="55075" y="156933"/>
                </a:lnTo>
                <a:lnTo>
                  <a:pt x="67169" y="162351"/>
                </a:lnTo>
                <a:lnTo>
                  <a:pt x="80183" y="167233"/>
                </a:lnTo>
                <a:lnTo>
                  <a:pt x="94019" y="171542"/>
                </a:lnTo>
                <a:lnTo>
                  <a:pt x="108569" y="175246"/>
                </a:lnTo>
                <a:lnTo>
                  <a:pt x="123725" y="178315"/>
                </a:lnTo>
                <a:lnTo>
                  <a:pt x="139370" y="180726"/>
                </a:lnTo>
                <a:lnTo>
                  <a:pt x="155385" y="182462"/>
                </a:lnTo>
                <a:lnTo>
                  <a:pt x="171649" y="183509"/>
                </a:lnTo>
                <a:lnTo>
                  <a:pt x="188037" y="183859"/>
                </a:lnTo>
                <a:lnTo>
                  <a:pt x="204426" y="183509"/>
                </a:lnTo>
                <a:lnTo>
                  <a:pt x="220690" y="182462"/>
                </a:lnTo>
                <a:lnTo>
                  <a:pt x="236705" y="180726"/>
                </a:lnTo>
                <a:lnTo>
                  <a:pt x="252350" y="178315"/>
                </a:lnTo>
                <a:lnTo>
                  <a:pt x="267505" y="175246"/>
                </a:lnTo>
                <a:lnTo>
                  <a:pt x="282056" y="171542"/>
                </a:lnTo>
                <a:lnTo>
                  <a:pt x="295891" y="167233"/>
                </a:lnTo>
                <a:lnTo>
                  <a:pt x="308905" y="162351"/>
                </a:lnTo>
                <a:lnTo>
                  <a:pt x="321000" y="156933"/>
                </a:lnTo>
                <a:lnTo>
                  <a:pt x="332082" y="151020"/>
                </a:lnTo>
                <a:lnTo>
                  <a:pt x="342068" y="144658"/>
                </a:lnTo>
                <a:lnTo>
                  <a:pt x="350882" y="137894"/>
                </a:lnTo>
                <a:lnTo>
                  <a:pt x="358457" y="130780"/>
                </a:lnTo>
                <a:lnTo>
                  <a:pt x="364734" y="123371"/>
                </a:lnTo>
                <a:lnTo>
                  <a:pt x="369667" y="115722"/>
                </a:lnTo>
                <a:lnTo>
                  <a:pt x="373218" y="107893"/>
                </a:lnTo>
                <a:lnTo>
                  <a:pt x="375359" y="99941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4-mark54"/>
          <p:cNvSpPr/>
          <p:nvPr/>
        </p:nvSpPr>
        <p:spPr>
          <a:xfrm flipV="1">
            <a:off x="3808200" y="1457427"/>
            <a:ext cx="292502" cy="1253581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04-mark55"/>
          <p:cNvSpPr/>
          <p:nvPr/>
        </p:nvSpPr>
        <p:spPr>
          <a:xfrm flipV="1">
            <a:off x="6566079" y="4988348"/>
            <a:ext cx="0" cy="459647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4-mark56"/>
          <p:cNvSpPr/>
          <p:nvPr/>
        </p:nvSpPr>
        <p:spPr>
          <a:xfrm>
            <a:off x="6419828" y="5218171"/>
            <a:ext cx="292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4-label58"/>
          <p:cNvSpPr txBox="1"/>
          <p:nvPr/>
        </p:nvSpPr>
        <p:spPr>
          <a:xfrm>
            <a:off x="6399201" y="4657435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04-label60"/>
          <p:cNvSpPr txBox="1"/>
          <p:nvPr/>
        </p:nvSpPr>
        <p:spPr>
          <a:xfrm>
            <a:off x="2874075" y="344564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6" name="S04-label62"/>
          <p:cNvSpPr txBox="1"/>
          <p:nvPr/>
        </p:nvSpPr>
        <p:spPr>
          <a:xfrm>
            <a:off x="6049815" y="348742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7" name="S04-label64"/>
          <p:cNvSpPr txBox="1"/>
          <p:nvPr/>
        </p:nvSpPr>
        <p:spPr>
          <a:xfrm>
            <a:off x="1022145" y="365457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</a:t>
            </a:r>
            <a:endParaRPr lang="ko-KR" sz="1800" dirty="0"/>
          </a:p>
        </p:txBody>
      </p:sp>
      <p:sp>
        <p:nvSpPr>
          <p:cNvPr id="18" name="S04-label66"/>
          <p:cNvSpPr txBox="1"/>
          <p:nvPr/>
        </p:nvSpPr>
        <p:spPr>
          <a:xfrm>
            <a:off x="5339452" y="1815984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러시아</a:t>
            </a:r>
            <a:endParaRPr lang="ko-KR" sz="1800" dirty="0"/>
          </a:p>
        </p:txBody>
      </p:sp>
      <p:sp>
        <p:nvSpPr>
          <p:cNvPr id="19" name="S04-label68"/>
          <p:cNvSpPr txBox="1"/>
          <p:nvPr/>
        </p:nvSpPr>
        <p:spPr>
          <a:xfrm>
            <a:off x="5158964" y="357099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1800" dirty="0"/>
          </a:p>
        </p:txBody>
      </p:sp>
      <p:sp>
        <p:nvSpPr>
          <p:cNvPr id="20" name="S04-label70"/>
          <p:cNvSpPr txBox="1"/>
          <p:nvPr/>
        </p:nvSpPr>
        <p:spPr>
          <a:xfrm>
            <a:off x="2087689" y="365457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21" name="S04-label72"/>
          <p:cNvSpPr txBox="1"/>
          <p:nvPr/>
        </p:nvSpPr>
        <p:spPr>
          <a:xfrm>
            <a:off x="4114312" y="369635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22" name="S04-label74"/>
          <p:cNvSpPr txBox="1"/>
          <p:nvPr/>
        </p:nvSpPr>
        <p:spPr>
          <a:xfrm>
            <a:off x="3571094" y="482458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남해</a:t>
            </a:r>
            <a:endParaRPr lang="ko-KR" sz="1800" dirty="0"/>
          </a:p>
        </p:txBody>
      </p:sp>
      <p:sp>
        <p:nvSpPr>
          <p:cNvPr id="23" name="S04-label75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24" name="S04-card76"/>
          <p:cNvSpPr/>
          <p:nvPr/>
        </p:nvSpPr>
        <p:spPr>
          <a:xfrm>
            <a:off x="7349947" y="2136648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77"/>
          <p:cNvSpPr txBox="1"/>
          <p:nvPr/>
        </p:nvSpPr>
        <p:spPr>
          <a:xfrm>
            <a:off x="7624267" y="2273808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바다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동쪽은 동해, 서쪽은 서해,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남쪽은 남해예요.</a:t>
            </a:r>
            <a:endParaRPr lang="ko-KR" sz="2800" dirty="0"/>
          </a:p>
        </p:txBody>
      </p:sp>
      <p:sp>
        <p:nvSpPr>
          <p:cNvPr id="26" name="S04-card78"/>
          <p:cNvSpPr/>
          <p:nvPr/>
        </p:nvSpPr>
        <p:spPr>
          <a:xfrm>
            <a:off x="7349947" y="388620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4-cardtext79"/>
          <p:cNvSpPr txBox="1"/>
          <p:nvPr/>
        </p:nvSpPr>
        <p:spPr>
          <a:xfrm>
            <a:off x="7624267" y="402336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나라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중국, 러시아, 일본이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 이름을 찾아요</a:t>
            </a:r>
            <a:endParaRPr lang="ko-KR" sz="4000" dirty="0"/>
          </a:p>
        </p:txBody>
      </p:sp>
      <p:sp>
        <p:nvSpPr>
          <p:cNvPr id="3" name="S05-figure80" descr="간단히 나타낸 그림: 한반도의 서쪽 바다에 가, 동쪽 바다에 나, 남쪽 바다에 다. 중국·러시아·일본과 태평양의 이름이 적혀 있음"/>
          <p:cNvSpPr/>
          <p:nvPr/>
        </p:nvSpPr>
        <p:spPr>
          <a:xfrm>
            <a:off x="6361176" y="1814957"/>
            <a:ext cx="5195316" cy="3463544"/>
          </a:xfrm>
          <a:custGeom>
            <a:avLst/>
            <a:gdLst/>
            <a:ahLst/>
            <a:cxnLst/>
            <a:rect l="l" t="t" r="r" b="b"/>
            <a:pathLst>
              <a:path w="5195316" h="3463544">
                <a:moveTo>
                  <a:pt x="0" y="3463544"/>
                </a:moveTo>
                <a:lnTo>
                  <a:pt x="5195316" y="3463544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5-mark81"/>
          <p:cNvSpPr/>
          <p:nvPr/>
        </p:nvSpPr>
        <p:spPr>
          <a:xfrm>
            <a:off x="6361176" y="1814957"/>
            <a:ext cx="5195316" cy="2978648"/>
          </a:xfrm>
          <a:custGeom>
            <a:avLst/>
            <a:gdLst/>
            <a:ahLst/>
            <a:cxnLst/>
            <a:rect l="l" t="t" r="r" b="b"/>
            <a:pathLst>
              <a:path w="5195316" h="2978648">
                <a:moveTo>
                  <a:pt x="0" y="0"/>
                </a:moveTo>
                <a:lnTo>
                  <a:pt x="5195316" y="0"/>
                </a:lnTo>
                <a:lnTo>
                  <a:pt x="5195316" y="831251"/>
                </a:lnTo>
                <a:lnTo>
                  <a:pt x="3117190" y="831251"/>
                </a:lnTo>
                <a:lnTo>
                  <a:pt x="2909377" y="1039063"/>
                </a:lnTo>
                <a:lnTo>
                  <a:pt x="1108334" y="1039063"/>
                </a:lnTo>
                <a:lnTo>
                  <a:pt x="1108334" y="2978648"/>
                </a:lnTo>
                <a:lnTo>
                  <a:pt x="0" y="297864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5-mark82"/>
          <p:cNvSpPr/>
          <p:nvPr/>
        </p:nvSpPr>
        <p:spPr>
          <a:xfrm>
            <a:off x="9824720" y="2819385"/>
            <a:ext cx="1039063" cy="1766407"/>
          </a:xfrm>
          <a:custGeom>
            <a:avLst/>
            <a:gdLst/>
            <a:ahLst/>
            <a:cxnLst/>
            <a:rect l="l" t="t" r="r" b="b"/>
            <a:pathLst>
              <a:path w="1039063" h="1766407">
                <a:moveTo>
                  <a:pt x="0" y="173177"/>
                </a:moveTo>
                <a:lnTo>
                  <a:pt x="554167" y="0"/>
                </a:lnTo>
                <a:lnTo>
                  <a:pt x="1039063" y="1558595"/>
                </a:lnTo>
                <a:lnTo>
                  <a:pt x="484896" y="1766407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5-mark83"/>
          <p:cNvSpPr/>
          <p:nvPr/>
        </p:nvSpPr>
        <p:spPr>
          <a:xfrm>
            <a:off x="9651543" y="4585792"/>
            <a:ext cx="484896" cy="484896"/>
          </a:xfrm>
          <a:custGeom>
            <a:avLst/>
            <a:gdLst/>
            <a:ahLst/>
            <a:cxnLst/>
            <a:rect l="l" t="t" r="r" b="b"/>
            <a:pathLst>
              <a:path w="484896" h="484896">
                <a:moveTo>
                  <a:pt x="0" y="103906"/>
                </a:moveTo>
                <a:lnTo>
                  <a:pt x="415625" y="0"/>
                </a:lnTo>
                <a:lnTo>
                  <a:pt x="484896" y="380990"/>
                </a:lnTo>
                <a:lnTo>
                  <a:pt x="103906" y="484896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5-mark84"/>
          <p:cNvSpPr/>
          <p:nvPr/>
        </p:nvSpPr>
        <p:spPr>
          <a:xfrm>
            <a:off x="8092948" y="2854020"/>
            <a:ext cx="900521" cy="1593230"/>
          </a:xfrm>
          <a:custGeom>
            <a:avLst/>
            <a:gdLst/>
            <a:ahLst/>
            <a:cxnLst/>
            <a:rect l="l" t="t" r="r" b="b"/>
            <a:pathLst>
              <a:path w="900521" h="1593230">
                <a:moveTo>
                  <a:pt x="0" y="0"/>
                </a:moveTo>
                <a:lnTo>
                  <a:pt x="900521" y="0"/>
                </a:lnTo>
                <a:lnTo>
                  <a:pt x="796615" y="1489324"/>
                </a:lnTo>
                <a:lnTo>
                  <a:pt x="173177" y="1593230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5-mark85"/>
          <p:cNvSpPr/>
          <p:nvPr/>
        </p:nvSpPr>
        <p:spPr>
          <a:xfrm>
            <a:off x="9183964" y="3286963"/>
            <a:ext cx="103906" cy="103906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mark86"/>
          <p:cNvSpPr/>
          <p:nvPr/>
        </p:nvSpPr>
        <p:spPr>
          <a:xfrm>
            <a:off x="9412558" y="3394333"/>
            <a:ext cx="62344" cy="62344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mark87"/>
          <p:cNvSpPr/>
          <p:nvPr/>
        </p:nvSpPr>
        <p:spPr>
          <a:xfrm>
            <a:off x="8283443" y="4700089"/>
            <a:ext cx="311719" cy="152396"/>
          </a:xfrm>
          <a:custGeom>
            <a:avLst/>
            <a:gdLst/>
            <a:ahLst/>
            <a:cxnLst/>
            <a:rect l="l" t="t" r="r" b="b"/>
            <a:pathLst>
              <a:path w="311719" h="152396">
                <a:moveTo>
                  <a:pt x="311719" y="76198"/>
                </a:moveTo>
                <a:lnTo>
                  <a:pt x="311126" y="69557"/>
                </a:lnTo>
                <a:lnTo>
                  <a:pt x="309351" y="62966"/>
                </a:lnTo>
                <a:lnTo>
                  <a:pt x="306408" y="56476"/>
                </a:lnTo>
                <a:lnTo>
                  <a:pt x="302319" y="50137"/>
                </a:lnTo>
                <a:lnTo>
                  <a:pt x="297116" y="43995"/>
                </a:lnTo>
                <a:lnTo>
                  <a:pt x="290838" y="38099"/>
                </a:lnTo>
                <a:lnTo>
                  <a:pt x="283532" y="32493"/>
                </a:lnTo>
                <a:lnTo>
                  <a:pt x="275255" y="27219"/>
                </a:lnTo>
                <a:lnTo>
                  <a:pt x="266069" y="22318"/>
                </a:lnTo>
                <a:lnTo>
                  <a:pt x="256044" y="17827"/>
                </a:lnTo>
                <a:lnTo>
                  <a:pt x="245257" y="13780"/>
                </a:lnTo>
                <a:lnTo>
                  <a:pt x="233789" y="10209"/>
                </a:lnTo>
                <a:lnTo>
                  <a:pt x="221729" y="7139"/>
                </a:lnTo>
                <a:lnTo>
                  <a:pt x="209167" y="4595"/>
                </a:lnTo>
                <a:lnTo>
                  <a:pt x="196199" y="2596"/>
                </a:lnTo>
                <a:lnTo>
                  <a:pt x="182924" y="1158"/>
                </a:lnTo>
                <a:lnTo>
                  <a:pt x="169444" y="290"/>
                </a:lnTo>
                <a:lnTo>
                  <a:pt x="155859" y="0"/>
                </a:lnTo>
                <a:lnTo>
                  <a:pt x="142275" y="290"/>
                </a:lnTo>
                <a:lnTo>
                  <a:pt x="128795" y="1158"/>
                </a:lnTo>
                <a:lnTo>
                  <a:pt x="115520" y="2596"/>
                </a:lnTo>
                <a:lnTo>
                  <a:pt x="102552" y="4595"/>
                </a:lnTo>
                <a:lnTo>
                  <a:pt x="89990" y="7139"/>
                </a:lnTo>
                <a:lnTo>
                  <a:pt x="77930" y="10209"/>
                </a:lnTo>
                <a:lnTo>
                  <a:pt x="66462" y="13780"/>
                </a:lnTo>
                <a:lnTo>
                  <a:pt x="55675" y="17827"/>
                </a:lnTo>
                <a:lnTo>
                  <a:pt x="45650" y="22318"/>
                </a:lnTo>
                <a:lnTo>
                  <a:pt x="36464" y="27219"/>
                </a:lnTo>
                <a:lnTo>
                  <a:pt x="28187" y="32493"/>
                </a:lnTo>
                <a:lnTo>
                  <a:pt x="20881" y="38099"/>
                </a:lnTo>
                <a:lnTo>
                  <a:pt x="14603" y="43995"/>
                </a:lnTo>
                <a:lnTo>
                  <a:pt x="9399" y="50137"/>
                </a:lnTo>
                <a:lnTo>
                  <a:pt x="5311" y="56476"/>
                </a:lnTo>
                <a:lnTo>
                  <a:pt x="2368" y="62966"/>
                </a:lnTo>
                <a:lnTo>
                  <a:pt x="593" y="69557"/>
                </a:lnTo>
                <a:lnTo>
                  <a:pt x="0" y="76198"/>
                </a:lnTo>
                <a:lnTo>
                  <a:pt x="593" y="82839"/>
                </a:lnTo>
                <a:lnTo>
                  <a:pt x="2368" y="89430"/>
                </a:lnTo>
                <a:lnTo>
                  <a:pt x="5311" y="95919"/>
                </a:lnTo>
                <a:lnTo>
                  <a:pt x="9399" y="102259"/>
                </a:lnTo>
                <a:lnTo>
                  <a:pt x="14603" y="108401"/>
                </a:lnTo>
                <a:lnTo>
                  <a:pt x="20881" y="114297"/>
                </a:lnTo>
                <a:lnTo>
                  <a:pt x="28187" y="119903"/>
                </a:lnTo>
                <a:lnTo>
                  <a:pt x="36464" y="125177"/>
                </a:lnTo>
                <a:lnTo>
                  <a:pt x="45650" y="130078"/>
                </a:lnTo>
                <a:lnTo>
                  <a:pt x="55675" y="134569"/>
                </a:lnTo>
                <a:lnTo>
                  <a:pt x="66462" y="138616"/>
                </a:lnTo>
                <a:lnTo>
                  <a:pt x="77930" y="142187"/>
                </a:lnTo>
                <a:lnTo>
                  <a:pt x="89990" y="145257"/>
                </a:lnTo>
                <a:lnTo>
                  <a:pt x="102552" y="147801"/>
                </a:lnTo>
                <a:lnTo>
                  <a:pt x="115520" y="149800"/>
                </a:lnTo>
                <a:lnTo>
                  <a:pt x="128795" y="151238"/>
                </a:lnTo>
                <a:lnTo>
                  <a:pt x="142275" y="152106"/>
                </a:lnTo>
                <a:lnTo>
                  <a:pt x="155859" y="152396"/>
                </a:lnTo>
                <a:lnTo>
                  <a:pt x="169444" y="152106"/>
                </a:lnTo>
                <a:lnTo>
                  <a:pt x="182924" y="151238"/>
                </a:lnTo>
                <a:lnTo>
                  <a:pt x="196199" y="149800"/>
                </a:lnTo>
                <a:lnTo>
                  <a:pt x="209167" y="147801"/>
                </a:lnTo>
                <a:lnTo>
                  <a:pt x="221729" y="145257"/>
                </a:lnTo>
                <a:lnTo>
                  <a:pt x="233789" y="142187"/>
                </a:lnTo>
                <a:lnTo>
                  <a:pt x="245257" y="138616"/>
                </a:lnTo>
                <a:lnTo>
                  <a:pt x="256044" y="134569"/>
                </a:lnTo>
                <a:lnTo>
                  <a:pt x="266069" y="130078"/>
                </a:lnTo>
                <a:lnTo>
                  <a:pt x="275255" y="125177"/>
                </a:lnTo>
                <a:lnTo>
                  <a:pt x="283532" y="119903"/>
                </a:lnTo>
                <a:lnTo>
                  <a:pt x="290838" y="114297"/>
                </a:lnTo>
                <a:lnTo>
                  <a:pt x="297116" y="108401"/>
                </a:lnTo>
                <a:lnTo>
                  <a:pt x="302319" y="102259"/>
                </a:lnTo>
                <a:lnTo>
                  <a:pt x="306408" y="95919"/>
                </a:lnTo>
                <a:lnTo>
                  <a:pt x="309351" y="89430"/>
                </a:lnTo>
                <a:lnTo>
                  <a:pt x="311126" y="82839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5-mark88"/>
          <p:cNvSpPr/>
          <p:nvPr/>
        </p:nvSpPr>
        <p:spPr>
          <a:xfrm flipV="1">
            <a:off x="8993469" y="1814957"/>
            <a:ext cx="242448" cy="1039063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05-mark89"/>
          <p:cNvSpPr/>
          <p:nvPr/>
        </p:nvSpPr>
        <p:spPr>
          <a:xfrm flipV="1">
            <a:off x="11279408" y="4741652"/>
            <a:ext cx="0" cy="38099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5-mark90"/>
          <p:cNvSpPr/>
          <p:nvPr/>
        </p:nvSpPr>
        <p:spPr>
          <a:xfrm>
            <a:off x="11158184" y="4932147"/>
            <a:ext cx="242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5-label92"/>
          <p:cNvSpPr txBox="1"/>
          <p:nvPr/>
        </p:nvSpPr>
        <p:spPr>
          <a:xfrm>
            <a:off x="11112530" y="4442917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05-label94"/>
          <p:cNvSpPr txBox="1"/>
          <p:nvPr/>
        </p:nvSpPr>
        <p:spPr>
          <a:xfrm>
            <a:off x="8152303" y="343848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6" name="S05-label96"/>
          <p:cNvSpPr txBox="1"/>
          <p:nvPr/>
        </p:nvSpPr>
        <p:spPr>
          <a:xfrm>
            <a:off x="10784596" y="347312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7" name="S05-label98"/>
          <p:cNvSpPr txBox="1"/>
          <p:nvPr/>
        </p:nvSpPr>
        <p:spPr>
          <a:xfrm>
            <a:off x="6636451" y="361166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</a:t>
            </a:r>
            <a:endParaRPr lang="ko-KR" sz="1800" dirty="0"/>
          </a:p>
        </p:txBody>
      </p:sp>
      <p:sp>
        <p:nvSpPr>
          <p:cNvPr id="18" name="S05-label100"/>
          <p:cNvSpPr txBox="1"/>
          <p:nvPr/>
        </p:nvSpPr>
        <p:spPr>
          <a:xfrm>
            <a:off x="10195794" y="2087707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러시아</a:t>
            </a:r>
            <a:endParaRPr lang="ko-KR" sz="1800" dirty="0"/>
          </a:p>
        </p:txBody>
      </p:sp>
      <p:sp>
        <p:nvSpPr>
          <p:cNvPr id="19" name="S05-label102"/>
          <p:cNvSpPr txBox="1"/>
          <p:nvPr/>
        </p:nvSpPr>
        <p:spPr>
          <a:xfrm>
            <a:off x="10065360" y="354239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1800" dirty="0"/>
          </a:p>
        </p:txBody>
      </p:sp>
      <p:sp>
        <p:nvSpPr>
          <p:cNvPr id="20" name="S05-labelbg104"/>
          <p:cNvSpPr/>
          <p:nvPr/>
        </p:nvSpPr>
        <p:spPr>
          <a:xfrm>
            <a:off x="7652497" y="361484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05-label105"/>
          <p:cNvSpPr txBox="1"/>
          <p:nvPr/>
        </p:nvSpPr>
        <p:spPr>
          <a:xfrm>
            <a:off x="7606777" y="3579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2" name="S05-labelbg107"/>
          <p:cNvSpPr/>
          <p:nvPr/>
        </p:nvSpPr>
        <p:spPr>
          <a:xfrm>
            <a:off x="9332316" y="3649477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05-label108"/>
          <p:cNvSpPr txBox="1"/>
          <p:nvPr/>
        </p:nvSpPr>
        <p:spPr>
          <a:xfrm>
            <a:off x="9286596" y="361455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4" name="S05-labelbg110"/>
          <p:cNvSpPr/>
          <p:nvPr/>
        </p:nvSpPr>
        <p:spPr>
          <a:xfrm>
            <a:off x="8882055" y="458463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05-label111"/>
          <p:cNvSpPr txBox="1"/>
          <p:nvPr/>
        </p:nvSpPr>
        <p:spPr>
          <a:xfrm>
            <a:off x="8836335" y="454970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6" name="S05-label112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27" name="S05-chip1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8" name="S05-text11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 바다의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이름은?</a:t>
            </a:r>
            <a:endParaRPr lang="ko-KR" sz="2800" dirty="0"/>
          </a:p>
        </p:txBody>
      </p:sp>
      <p:sp>
        <p:nvSpPr>
          <p:cNvPr id="29" name="S05-chip1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0" name="S05-text11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한반도는 몇 면이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바다인가요?</a:t>
            </a:r>
            <a:endParaRPr lang="ko-KR" sz="2800" dirty="0"/>
          </a:p>
        </p:txBody>
      </p:sp>
      <p:sp>
        <p:nvSpPr>
          <p:cNvPr id="31" name="S05-chip1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2" name="S05-text11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아시아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대륙의 어느 쪽에?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영토·영해·영공</a:t>
            </a:r>
            <a:endParaRPr lang="ko-KR" sz="4000" dirty="0"/>
          </a:p>
        </p:txBody>
      </p:sp>
      <p:sp>
        <p:nvSpPr>
          <p:cNvPr id="3" name="S06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영역: 한 나라의 힘(주권)이 미치는 범위예요.</a:t>
            </a:r>
            <a:endParaRPr lang="ko-KR" sz="2800" dirty="0"/>
          </a:p>
        </p:txBody>
      </p:sp>
      <p:sp>
        <p:nvSpPr>
          <p:cNvPr id="4" name="S06-figure120" descr="옆에서 본 간단한 그림: 왼쪽에 땅(영토), 땅에서 점선까지의 바다(영해), 땅과 영해 위의 하늘(영공, 노란색)은 점선까지이고, 점선 밖은 영해 밖의 바다"/>
          <p:cNvSpPr/>
          <p:nvPr/>
        </p:nvSpPr>
        <p:spPr>
          <a:xfrm>
            <a:off x="944188" y="2498675"/>
            <a:ext cx="4031751" cy="2257780"/>
          </a:xfrm>
          <a:custGeom>
            <a:avLst/>
            <a:gdLst/>
            <a:ahLst/>
            <a:cxnLst/>
            <a:rect l="l" t="t" r="r" b="b"/>
            <a:pathLst>
              <a:path w="4031751" h="2257780">
                <a:moveTo>
                  <a:pt x="0" y="2257780"/>
                </a:moveTo>
                <a:lnTo>
                  <a:pt x="4031751" y="2257780"/>
                </a:lnTo>
                <a:lnTo>
                  <a:pt x="403175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1BF"/>
          </a:solidFill>
          <a:ln/>
        </p:spPr>
      </p:sp>
      <p:sp>
        <p:nvSpPr>
          <p:cNvPr id="5" name="S06-mark121"/>
          <p:cNvSpPr/>
          <p:nvPr/>
        </p:nvSpPr>
        <p:spPr>
          <a:xfrm>
            <a:off x="3201969" y="4756455"/>
            <a:ext cx="3386670" cy="806350"/>
          </a:xfrm>
          <a:custGeom>
            <a:avLst/>
            <a:gdLst/>
            <a:ahLst/>
            <a:cxnLst/>
            <a:rect l="l" t="t" r="r" b="b"/>
            <a:pathLst>
              <a:path w="3386670" h="806350">
                <a:moveTo>
                  <a:pt x="0" y="806350"/>
                </a:moveTo>
                <a:lnTo>
                  <a:pt x="3386670" y="806350"/>
                </a:lnTo>
                <a:lnTo>
                  <a:pt x="3386670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6-mark122"/>
          <p:cNvSpPr/>
          <p:nvPr/>
        </p:nvSpPr>
        <p:spPr>
          <a:xfrm>
            <a:off x="944188" y="4111375"/>
            <a:ext cx="2257780" cy="1451430"/>
          </a:xfrm>
          <a:custGeom>
            <a:avLst/>
            <a:gdLst/>
            <a:ahLst/>
            <a:cxnLst/>
            <a:rect l="l" t="t" r="r" b="b"/>
            <a:pathLst>
              <a:path w="2257780" h="1451430">
                <a:moveTo>
                  <a:pt x="0" y="1451430"/>
                </a:moveTo>
                <a:lnTo>
                  <a:pt x="2257780" y="1451430"/>
                </a:lnTo>
                <a:lnTo>
                  <a:pt x="2257780" y="645080"/>
                </a:lnTo>
                <a:lnTo>
                  <a:pt x="1935240" y="282223"/>
                </a:lnTo>
                <a:lnTo>
                  <a:pt x="1370795" y="0"/>
                </a:lnTo>
                <a:lnTo>
                  <a:pt x="725715" y="80635"/>
                </a:lnTo>
                <a:lnTo>
                  <a:pt x="0" y="201588"/>
                </a:lnTo>
                <a:close/>
              </a:path>
            </a:pathLst>
          </a:custGeom>
          <a:solidFill>
            <a:srgbClr val="D9C49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123"/>
          <p:cNvSpPr/>
          <p:nvPr/>
        </p:nvSpPr>
        <p:spPr>
          <a:xfrm flipV="1">
            <a:off x="4975939" y="2498675"/>
            <a:ext cx="0" cy="3064130"/>
          </a:xfrm>
          <a:prstGeom prst="line">
            <a:avLst/>
          </a:prstGeom>
          <a:noFill/>
          <a:ln w="22225">
            <a:solidFill>
              <a:srgbClr val="4A5568"/>
            </a:solidFill>
            <a:prstDash val="dash"/>
          </a:ln>
        </p:spPr>
      </p:sp>
      <p:sp>
        <p:nvSpPr>
          <p:cNvPr id="8" name="S06-label125"/>
          <p:cNvSpPr txBox="1"/>
          <p:nvPr/>
        </p:nvSpPr>
        <p:spPr>
          <a:xfrm>
            <a:off x="4438729" y="2134054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영해의 끝</a:t>
            </a:r>
            <a:endParaRPr lang="ko-KR" sz="1800" dirty="0"/>
          </a:p>
        </p:txBody>
      </p:sp>
      <p:sp>
        <p:nvSpPr>
          <p:cNvPr id="9" name="S06-label127"/>
          <p:cNvSpPr txBox="1"/>
          <p:nvPr/>
        </p:nvSpPr>
        <p:spPr>
          <a:xfrm>
            <a:off x="1704085" y="478341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</a:t>
            </a:r>
            <a:endParaRPr lang="ko-KR" sz="2200" dirty="0"/>
          </a:p>
        </p:txBody>
      </p:sp>
      <p:sp>
        <p:nvSpPr>
          <p:cNvPr id="10" name="S06-label129"/>
          <p:cNvSpPr txBox="1"/>
          <p:nvPr/>
        </p:nvSpPr>
        <p:spPr>
          <a:xfrm>
            <a:off x="3760278" y="498500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2200" dirty="0"/>
          </a:p>
        </p:txBody>
      </p:sp>
      <p:sp>
        <p:nvSpPr>
          <p:cNvPr id="11" name="S06-label131"/>
          <p:cNvSpPr txBox="1"/>
          <p:nvPr/>
        </p:nvSpPr>
        <p:spPr>
          <a:xfrm>
            <a:off x="4986761" y="5016755"/>
            <a:ext cx="15910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 밖의 바다</a:t>
            </a:r>
            <a:endParaRPr lang="ko-KR" sz="1800" dirty="0"/>
          </a:p>
        </p:txBody>
      </p:sp>
      <p:sp>
        <p:nvSpPr>
          <p:cNvPr id="12" name="S06-label133"/>
          <p:cNvSpPr txBox="1"/>
          <p:nvPr/>
        </p:nvSpPr>
        <p:spPr>
          <a:xfrm>
            <a:off x="2631387" y="321103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</a:t>
            </a:r>
            <a:endParaRPr lang="ko-KR" sz="2200" dirty="0"/>
          </a:p>
        </p:txBody>
      </p:sp>
      <p:sp>
        <p:nvSpPr>
          <p:cNvPr id="13" name="S06-label134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모습(간단히 나타낸 그림)</a:t>
            </a:r>
            <a:endParaRPr lang="ko-KR" sz="2200" dirty="0"/>
          </a:p>
        </p:txBody>
      </p:sp>
      <p:sp>
        <p:nvSpPr>
          <p:cNvPr id="14" name="S06-card135"/>
          <p:cNvSpPr/>
          <p:nvPr/>
        </p:nvSpPr>
        <p:spPr>
          <a:xfrm>
            <a:off x="7349947" y="2116074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6-cardtext136"/>
          <p:cNvSpPr txBox="1"/>
          <p:nvPr/>
        </p:nvSpPr>
        <p:spPr>
          <a:xfrm>
            <a:off x="7624267" y="2253234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나라의 땅</a:t>
            </a:r>
            <a:endParaRPr lang="ko-KR" sz="2800" dirty="0"/>
          </a:p>
        </p:txBody>
      </p:sp>
      <p:sp>
        <p:nvSpPr>
          <p:cNvPr id="16" name="S06-card137"/>
          <p:cNvSpPr/>
          <p:nvPr/>
        </p:nvSpPr>
        <p:spPr>
          <a:xfrm>
            <a:off x="7349947" y="3524758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138"/>
          <p:cNvSpPr txBox="1"/>
          <p:nvPr/>
        </p:nvSpPr>
        <p:spPr>
          <a:xfrm>
            <a:off x="7624267" y="3661918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 가까이의 바다</a:t>
            </a:r>
            <a:endParaRPr lang="ko-KR" sz="2800" dirty="0"/>
          </a:p>
        </p:txBody>
      </p:sp>
      <p:sp>
        <p:nvSpPr>
          <p:cNvPr id="18" name="S06-card139"/>
          <p:cNvSpPr/>
          <p:nvPr/>
        </p:nvSpPr>
        <p:spPr>
          <a:xfrm>
            <a:off x="7349947" y="493344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6-cardtext140"/>
          <p:cNvSpPr txBox="1"/>
          <p:nvPr/>
        </p:nvSpPr>
        <p:spPr>
          <a:xfrm>
            <a:off x="7624267" y="507060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영토와 영해 위의 하늘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섬에도 영해와 영공이 있어요</a:t>
            </a:r>
            <a:endParaRPr lang="ko-KR" sz="4000" dirty="0"/>
          </a:p>
        </p:txBody>
      </p:sp>
      <p:sp>
        <p:nvSpPr>
          <p:cNvPr id="3" name="S07-figure141" descr="위에서 본 간단한 그림: 왼쪽에 한반도의 동쪽 해안, 해안 가까이 점선까지 영해. 동해에 울릉도와 그 동남쪽의 독도가 있고, 두 섬 둘레에도 점선 원으로 영해가 그려져 있음"/>
          <p:cNvSpPr/>
          <p:nvPr/>
        </p:nvSpPr>
        <p:spPr>
          <a:xfrm>
            <a:off x="632460" y="1876806"/>
            <a:ext cx="5195316" cy="3339846"/>
          </a:xfrm>
          <a:custGeom>
            <a:avLst/>
            <a:gdLst/>
            <a:ahLst/>
            <a:cxnLst/>
            <a:rect l="l" t="t" r="r" b="b"/>
            <a:pathLst>
              <a:path w="5195316" h="3339846">
                <a:moveTo>
                  <a:pt x="0" y="3339846"/>
                </a:moveTo>
                <a:lnTo>
                  <a:pt x="5195316" y="3339846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7-mark142"/>
          <p:cNvSpPr/>
          <p:nvPr/>
        </p:nvSpPr>
        <p:spPr>
          <a:xfrm>
            <a:off x="2302383" y="1876806"/>
            <a:ext cx="445313" cy="3339846"/>
          </a:xfrm>
          <a:custGeom>
            <a:avLst/>
            <a:gdLst/>
            <a:ahLst/>
            <a:cxnLst/>
            <a:rect l="l" t="t" r="r" b="b"/>
            <a:pathLst>
              <a:path w="445313" h="3339846">
                <a:moveTo>
                  <a:pt x="0" y="3339846"/>
                </a:moveTo>
                <a:lnTo>
                  <a:pt x="445313" y="3339846"/>
                </a:lnTo>
                <a:lnTo>
                  <a:pt x="4453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D3EE"/>
          </a:solidFill>
          <a:ln/>
        </p:spPr>
      </p:sp>
      <p:sp>
        <p:nvSpPr>
          <p:cNvPr id="5" name="S07-mark143"/>
          <p:cNvSpPr/>
          <p:nvPr/>
        </p:nvSpPr>
        <p:spPr>
          <a:xfrm>
            <a:off x="632460" y="1876806"/>
            <a:ext cx="1669923" cy="3339846"/>
          </a:xfrm>
          <a:custGeom>
            <a:avLst/>
            <a:gdLst/>
            <a:ahLst/>
            <a:cxnLst/>
            <a:rect l="l" t="t" r="r" b="b"/>
            <a:pathLst>
              <a:path w="1669923" h="3339846">
                <a:moveTo>
                  <a:pt x="0" y="3339846"/>
                </a:moveTo>
                <a:lnTo>
                  <a:pt x="1669923" y="3339846"/>
                </a:lnTo>
                <a:lnTo>
                  <a:pt x="166992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144"/>
          <p:cNvSpPr/>
          <p:nvPr/>
        </p:nvSpPr>
        <p:spPr>
          <a:xfrm>
            <a:off x="2988907" y="2526221"/>
            <a:ext cx="1224610" cy="1224610"/>
          </a:xfrm>
          <a:prstGeom prst="ellipse">
            <a:avLst/>
          </a:prstGeom>
          <a:solidFill>
            <a:srgbClr val="B5D3EE"/>
          </a:solidFill>
          <a:ln w="19050">
            <a:solidFill>
              <a:srgbClr val="3D5A80"/>
            </a:solidFill>
            <a:prstDash val="dash"/>
          </a:ln>
        </p:spPr>
      </p:sp>
      <p:sp>
        <p:nvSpPr>
          <p:cNvPr id="7" name="S07-mark145"/>
          <p:cNvSpPr/>
          <p:nvPr/>
        </p:nvSpPr>
        <p:spPr>
          <a:xfrm>
            <a:off x="4473283" y="3045752"/>
            <a:ext cx="1076173" cy="1076173"/>
          </a:xfrm>
          <a:prstGeom prst="ellipse">
            <a:avLst/>
          </a:prstGeom>
          <a:solidFill>
            <a:srgbClr val="B5D3EE"/>
          </a:solidFill>
          <a:ln w="19050">
            <a:solidFill>
              <a:srgbClr val="3D5A80"/>
            </a:solidFill>
            <a:prstDash val="dash"/>
          </a:ln>
        </p:spPr>
      </p:sp>
      <p:sp>
        <p:nvSpPr>
          <p:cNvPr id="8" name="S07-mark146"/>
          <p:cNvSpPr/>
          <p:nvPr/>
        </p:nvSpPr>
        <p:spPr>
          <a:xfrm>
            <a:off x="3434220" y="2971533"/>
            <a:ext cx="333985" cy="333985"/>
          </a:xfrm>
          <a:prstGeom prst="ellipse">
            <a:avLst/>
          </a:prstGeom>
          <a:solidFill>
            <a:srgbClr val="BFE0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mark147"/>
          <p:cNvSpPr/>
          <p:nvPr/>
        </p:nvSpPr>
        <p:spPr>
          <a:xfrm>
            <a:off x="4918596" y="3491065"/>
            <a:ext cx="185547" cy="185547"/>
          </a:xfrm>
          <a:prstGeom prst="ellipse">
            <a:avLst/>
          </a:prstGeom>
          <a:solidFill>
            <a:srgbClr val="BFE0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mark148"/>
          <p:cNvSpPr/>
          <p:nvPr/>
        </p:nvSpPr>
        <p:spPr>
          <a:xfrm flipV="1">
            <a:off x="2747696" y="1876806"/>
            <a:ext cx="0" cy="3339846"/>
          </a:xfrm>
          <a:prstGeom prst="line">
            <a:avLst/>
          </a:prstGeom>
          <a:noFill/>
          <a:ln w="19050">
            <a:solidFill>
              <a:srgbClr val="3D5A80"/>
            </a:solidFill>
            <a:prstDash val="dash"/>
          </a:ln>
        </p:spPr>
      </p:sp>
      <p:sp>
        <p:nvSpPr>
          <p:cNvPr id="11" name="S07-mark149"/>
          <p:cNvSpPr/>
          <p:nvPr/>
        </p:nvSpPr>
        <p:spPr>
          <a:xfrm flipV="1">
            <a:off x="5530901" y="4641456"/>
            <a:ext cx="0" cy="408203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07-mark150"/>
          <p:cNvSpPr/>
          <p:nvPr/>
        </p:nvSpPr>
        <p:spPr>
          <a:xfrm>
            <a:off x="5401018" y="4845558"/>
            <a:ext cx="25976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abel152"/>
          <p:cNvSpPr txBox="1"/>
          <p:nvPr/>
        </p:nvSpPr>
        <p:spPr>
          <a:xfrm>
            <a:off x="1001840" y="3372104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2200" dirty="0"/>
          </a:p>
        </p:txBody>
      </p:sp>
      <p:sp>
        <p:nvSpPr>
          <p:cNvPr id="14" name="S07-label154"/>
          <p:cNvSpPr txBox="1"/>
          <p:nvPr/>
        </p:nvSpPr>
        <p:spPr>
          <a:xfrm>
            <a:off x="3210306" y="219779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울릉도</a:t>
            </a:r>
            <a:endParaRPr lang="ko-KR" sz="1800" dirty="0"/>
          </a:p>
        </p:txBody>
      </p:sp>
      <p:sp>
        <p:nvSpPr>
          <p:cNvPr id="15" name="S07-label156"/>
          <p:cNvSpPr txBox="1"/>
          <p:nvPr/>
        </p:nvSpPr>
        <p:spPr>
          <a:xfrm>
            <a:off x="4732477" y="271733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독도</a:t>
            </a:r>
            <a:endParaRPr lang="ko-KR" sz="1800" dirty="0"/>
          </a:p>
        </p:txBody>
      </p:sp>
      <p:sp>
        <p:nvSpPr>
          <p:cNvPr id="16" name="S07-labelbg158"/>
          <p:cNvSpPr/>
          <p:nvPr/>
        </p:nvSpPr>
        <p:spPr>
          <a:xfrm>
            <a:off x="2291867" y="4619930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07-label159"/>
          <p:cNvSpPr txBox="1"/>
          <p:nvPr/>
        </p:nvSpPr>
        <p:spPr>
          <a:xfrm>
            <a:off x="2246147" y="459135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1800" dirty="0"/>
          </a:p>
        </p:txBody>
      </p:sp>
      <p:sp>
        <p:nvSpPr>
          <p:cNvPr id="18" name="S07-labelbg161"/>
          <p:cNvSpPr/>
          <p:nvPr/>
        </p:nvSpPr>
        <p:spPr>
          <a:xfrm>
            <a:off x="3368040" y="3432429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07-label162"/>
          <p:cNvSpPr txBox="1"/>
          <p:nvPr/>
        </p:nvSpPr>
        <p:spPr>
          <a:xfrm>
            <a:off x="3322320" y="34038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1800" dirty="0"/>
          </a:p>
        </p:txBody>
      </p:sp>
      <p:sp>
        <p:nvSpPr>
          <p:cNvPr id="20" name="S07-labelbg164"/>
          <p:cNvSpPr/>
          <p:nvPr/>
        </p:nvSpPr>
        <p:spPr>
          <a:xfrm>
            <a:off x="4778197" y="3803523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07-label165"/>
          <p:cNvSpPr txBox="1"/>
          <p:nvPr/>
        </p:nvSpPr>
        <p:spPr>
          <a:xfrm>
            <a:off x="4732477" y="377494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1800" dirty="0"/>
          </a:p>
        </p:txBody>
      </p:sp>
      <p:sp>
        <p:nvSpPr>
          <p:cNvPr id="22" name="S07-label167"/>
          <p:cNvSpPr txBox="1"/>
          <p:nvPr/>
        </p:nvSpPr>
        <p:spPr>
          <a:xfrm>
            <a:off x="5177790" y="199369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23" name="S07-label169"/>
          <p:cNvSpPr txBox="1"/>
          <p:nvPr/>
        </p:nvSpPr>
        <p:spPr>
          <a:xfrm>
            <a:off x="5364023" y="4331589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24" name="S07-label170"/>
          <p:cNvSpPr txBox="1"/>
          <p:nvPr/>
        </p:nvSpPr>
        <p:spPr>
          <a:xfrm>
            <a:off x="548640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</a:t>
            </a:r>
            <a:endParaRPr lang="ko-KR" sz="2200" dirty="0"/>
          </a:p>
        </p:txBody>
      </p:sp>
      <p:sp>
        <p:nvSpPr>
          <p:cNvPr id="25" name="S07-card171"/>
          <p:cNvSpPr/>
          <p:nvPr/>
        </p:nvSpPr>
        <p:spPr>
          <a:xfrm>
            <a:off x="6277356" y="1432306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07-cardtext172"/>
          <p:cNvSpPr txBox="1"/>
          <p:nvPr/>
        </p:nvSpPr>
        <p:spPr>
          <a:xfrm>
            <a:off x="6551676" y="1569466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한반도와 그 둘레의 섬들이에요.</a:t>
            </a:r>
            <a:endParaRPr lang="ko-KR" sz="2800" dirty="0"/>
          </a:p>
        </p:txBody>
      </p:sp>
      <p:sp>
        <p:nvSpPr>
          <p:cNvPr id="27" name="S07-card173"/>
          <p:cNvSpPr/>
          <p:nvPr/>
        </p:nvSpPr>
        <p:spPr>
          <a:xfrm>
            <a:off x="6277356" y="284099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7-cardtext174"/>
          <p:cNvSpPr txBox="1"/>
          <p:nvPr/>
        </p:nvSpPr>
        <p:spPr>
          <a:xfrm>
            <a:off x="6551676" y="297815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 동쪽 끝의 섬, 우리 영토예요.</a:t>
            </a:r>
            <a:endParaRPr lang="ko-KR" sz="2800" dirty="0"/>
          </a:p>
        </p:txBody>
      </p:sp>
      <p:sp>
        <p:nvSpPr>
          <p:cNvPr id="29" name="S07-card175"/>
          <p:cNvSpPr/>
          <p:nvPr/>
        </p:nvSpPr>
        <p:spPr>
          <a:xfrm>
            <a:off x="6277356" y="459054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7-cardtext176"/>
          <p:cNvSpPr txBox="1"/>
          <p:nvPr/>
        </p:nvSpPr>
        <p:spPr>
          <a:xfrm>
            <a:off x="6551676" y="472770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섬의 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바다는 영해, 그 위 하늘은 영공이에요.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그림에서 찾아요</a:t>
            </a:r>
            <a:endParaRPr lang="ko-KR" sz="4000" dirty="0"/>
          </a:p>
        </p:txBody>
      </p:sp>
      <p:sp>
        <p:nvSpPr>
          <p:cNvPr id="3" name="S08-figure177" descr="옆에서 본 간단한 그림: 땅 가, 땅에서 점선(영해의 끝)까지의 바다 나, 땅 위 하늘 다, 나 위의 하늘 라, 점선 밖의 바다 마, 마 위의 하늘 바"/>
          <p:cNvSpPr/>
          <p:nvPr/>
        </p:nvSpPr>
        <p:spPr>
          <a:xfrm>
            <a:off x="8439302" y="4569752"/>
            <a:ext cx="3117190" cy="742188"/>
          </a:xfrm>
          <a:custGeom>
            <a:avLst/>
            <a:gdLst/>
            <a:ahLst/>
            <a:cxnLst/>
            <a:rect l="l" t="t" r="r" b="b"/>
            <a:pathLst>
              <a:path w="3117190" h="742188">
                <a:moveTo>
                  <a:pt x="0" y="742188"/>
                </a:moveTo>
                <a:lnTo>
                  <a:pt x="3117190" y="742188"/>
                </a:lnTo>
                <a:lnTo>
                  <a:pt x="3117190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8-mark178"/>
          <p:cNvSpPr/>
          <p:nvPr/>
        </p:nvSpPr>
        <p:spPr>
          <a:xfrm>
            <a:off x="6361176" y="3976002"/>
            <a:ext cx="2078126" cy="1335938"/>
          </a:xfrm>
          <a:custGeom>
            <a:avLst/>
            <a:gdLst/>
            <a:ahLst/>
            <a:cxnLst/>
            <a:rect l="l" t="t" r="r" b="b"/>
            <a:pathLst>
              <a:path w="2078126" h="1335938">
                <a:moveTo>
                  <a:pt x="0" y="1335938"/>
                </a:moveTo>
                <a:lnTo>
                  <a:pt x="2078126" y="1335938"/>
                </a:lnTo>
                <a:lnTo>
                  <a:pt x="2078126" y="593750"/>
                </a:lnTo>
                <a:lnTo>
                  <a:pt x="1781251" y="259766"/>
                </a:lnTo>
                <a:lnTo>
                  <a:pt x="1261720" y="0"/>
                </a:lnTo>
                <a:lnTo>
                  <a:pt x="667969" y="74219"/>
                </a:lnTo>
                <a:lnTo>
                  <a:pt x="0" y="185547"/>
                </a:lnTo>
                <a:close/>
              </a:path>
            </a:pathLst>
          </a:custGeom>
          <a:solidFill>
            <a:srgbClr val="D9C49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mark179"/>
          <p:cNvSpPr/>
          <p:nvPr/>
        </p:nvSpPr>
        <p:spPr>
          <a:xfrm flipV="1">
            <a:off x="10072116" y="2491626"/>
            <a:ext cx="0" cy="2820314"/>
          </a:xfrm>
          <a:prstGeom prst="line">
            <a:avLst/>
          </a:prstGeom>
          <a:noFill/>
          <a:ln w="22225">
            <a:solidFill>
              <a:srgbClr val="4A5568"/>
            </a:solidFill>
            <a:prstDash val="dash"/>
          </a:ln>
        </p:spPr>
      </p:sp>
      <p:sp>
        <p:nvSpPr>
          <p:cNvPr id="6" name="S08-label181"/>
          <p:cNvSpPr txBox="1"/>
          <p:nvPr/>
        </p:nvSpPr>
        <p:spPr>
          <a:xfrm>
            <a:off x="9534906" y="2144649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영해의 끝</a:t>
            </a:r>
            <a:endParaRPr lang="ko-KR" sz="1800" dirty="0"/>
          </a:p>
        </p:txBody>
      </p:sp>
      <p:sp>
        <p:nvSpPr>
          <p:cNvPr id="7" name="S08-labelbg183"/>
          <p:cNvSpPr/>
          <p:nvPr/>
        </p:nvSpPr>
        <p:spPr>
          <a:xfrm>
            <a:off x="7217080" y="4615599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08-label184"/>
          <p:cNvSpPr txBox="1"/>
          <p:nvPr/>
        </p:nvSpPr>
        <p:spPr>
          <a:xfrm>
            <a:off x="7171360" y="458067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9" name="S08-labelbg186"/>
          <p:cNvSpPr/>
          <p:nvPr/>
        </p:nvSpPr>
        <p:spPr>
          <a:xfrm>
            <a:off x="9109659" y="480114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08-label187"/>
          <p:cNvSpPr txBox="1"/>
          <p:nvPr/>
        </p:nvSpPr>
        <p:spPr>
          <a:xfrm>
            <a:off x="9063939" y="47662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1" name="S08-labelbg189"/>
          <p:cNvSpPr/>
          <p:nvPr/>
        </p:nvSpPr>
        <p:spPr>
          <a:xfrm>
            <a:off x="7217080" y="30941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08-label190"/>
          <p:cNvSpPr txBox="1"/>
          <p:nvPr/>
        </p:nvSpPr>
        <p:spPr>
          <a:xfrm>
            <a:off x="7171360" y="30591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3" name="S08-labelbg192"/>
          <p:cNvSpPr/>
          <p:nvPr/>
        </p:nvSpPr>
        <p:spPr>
          <a:xfrm>
            <a:off x="9109659" y="30941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08-label193"/>
          <p:cNvSpPr txBox="1"/>
          <p:nvPr/>
        </p:nvSpPr>
        <p:spPr>
          <a:xfrm>
            <a:off x="9063939" y="30591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15" name="S08-labelbg195"/>
          <p:cNvSpPr/>
          <p:nvPr/>
        </p:nvSpPr>
        <p:spPr>
          <a:xfrm>
            <a:off x="10668254" y="480114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08-label196"/>
          <p:cNvSpPr txBox="1"/>
          <p:nvPr/>
        </p:nvSpPr>
        <p:spPr>
          <a:xfrm>
            <a:off x="10622534" y="47662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17" name="S08-labelbg198"/>
          <p:cNvSpPr/>
          <p:nvPr/>
        </p:nvSpPr>
        <p:spPr>
          <a:xfrm>
            <a:off x="10668254" y="30941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08-label199"/>
          <p:cNvSpPr txBox="1"/>
          <p:nvPr/>
        </p:nvSpPr>
        <p:spPr>
          <a:xfrm>
            <a:off x="10622534" y="30591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19" name="S08-chip20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0" name="S08-text20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영토와 영해는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어디인가요?</a:t>
            </a:r>
            <a:endParaRPr lang="ko-KR" sz="2800" dirty="0"/>
          </a:p>
        </p:txBody>
      </p:sp>
      <p:sp>
        <p:nvSpPr>
          <p:cNvPr id="21" name="S08-chip20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8-text20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골라요.</a:t>
            </a:r>
            <a:endParaRPr lang="ko-KR" sz="2800" dirty="0"/>
          </a:p>
        </p:txBody>
      </p:sp>
      <p:sp>
        <p:nvSpPr>
          <p:cNvPr id="23" name="S08-chip20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8-text20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마와 바도 우리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영역일까요? 왜요?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 위 하늘도 영공일까요?</a:t>
            </a:r>
            <a:endParaRPr lang="ko-KR" sz="4000" dirty="0"/>
          </a:p>
        </p:txBody>
      </p:sp>
      <p:sp>
        <p:nvSpPr>
          <p:cNvPr id="3" name="S09-card20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0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비행기가 허락 없이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영해 위의 하늘로 들어왔어요.</a:t>
            </a:r>
            <a:endParaRPr lang="ko-KR" sz="2800" dirty="0"/>
          </a:p>
        </p:txBody>
      </p:sp>
      <p:sp>
        <p:nvSpPr>
          <p:cNvPr id="5" name="S09-card2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2800" dirty="0"/>
          </a:p>
        </p:txBody>
      </p:sp>
      <p:sp>
        <p:nvSpPr>
          <p:cNvPr id="7" name="S09-chip210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211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“땅 위가 아니니까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괜찮아요.”</a:t>
            </a:r>
            <a:endParaRPr lang="ko-KR" sz="2800" dirty="0"/>
          </a:p>
        </p:txBody>
      </p:sp>
      <p:sp>
        <p:nvSpPr>
          <p:cNvPr id="9" name="S09-chip212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213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“영해 위의 하늘도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영공이라 허락이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있어야 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지도에서 찾아봐요</a:t>
            </a:r>
            <a:endParaRPr lang="ko-KR" sz="4000" dirty="0"/>
          </a:p>
        </p:txBody>
      </p:sp>
      <p:sp>
        <p:nvSpPr>
          <p:cNvPr id="3" name="S10-text2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10-card215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16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바다 이름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이웃 나라 세 곳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섬 세 곳 찾기</a:t>
            </a:r>
            <a:endParaRPr lang="ko-KR" sz="2800" dirty="0"/>
          </a:p>
        </p:txBody>
      </p:sp>
      <p:sp>
        <p:nvSpPr>
          <p:cNvPr id="6" name="S10-stepno217"/>
          <p:cNvSpPr txBox="1"/>
          <p:nvPr/>
        </p:nvSpPr>
        <p:spPr>
          <a:xfrm>
            <a:off x="548640" y="2337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0-text218"/>
          <p:cNvSpPr txBox="1"/>
          <p:nvPr/>
        </p:nvSpPr>
        <p:spPr>
          <a:xfrm>
            <a:off x="1325880" y="2292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지구본, 지도 앱, 사회과 부도 중 하나를 준비해요.</a:t>
            </a:r>
            <a:endParaRPr lang="ko-KR" sz="2800" dirty="0"/>
          </a:p>
        </p:txBody>
      </p:sp>
      <p:sp>
        <p:nvSpPr>
          <p:cNvPr id="8" name="S10-stepno219"/>
          <p:cNvSpPr txBox="1"/>
          <p:nvPr/>
        </p:nvSpPr>
        <p:spPr>
          <a:xfrm>
            <a:off x="548640" y="3370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0-text220"/>
          <p:cNvSpPr txBox="1"/>
          <p:nvPr/>
        </p:nvSpPr>
        <p:spPr>
          <a:xfrm>
            <a:off x="1325880" y="3324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한반도와 세 바다를 찾아 짚어요.</a:t>
            </a:r>
            <a:endParaRPr lang="ko-KR" sz="2800" dirty="0"/>
          </a:p>
        </p:txBody>
      </p:sp>
      <p:sp>
        <p:nvSpPr>
          <p:cNvPr id="10" name="S10-stepno221"/>
          <p:cNvSpPr txBox="1"/>
          <p:nvPr/>
        </p:nvSpPr>
        <p:spPr>
          <a:xfrm>
            <a:off x="548640" y="4356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0-text222"/>
          <p:cNvSpPr txBox="1"/>
          <p:nvPr/>
        </p:nvSpPr>
        <p:spPr>
          <a:xfrm>
            <a:off x="1325880" y="4356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나라 세 곳을 찾아요.</a:t>
            </a:r>
            <a:endParaRPr lang="ko-KR" sz="2800" dirty="0"/>
          </a:p>
        </p:txBody>
      </p:sp>
      <p:sp>
        <p:nvSpPr>
          <p:cNvPr id="12" name="S10-stepno223"/>
          <p:cNvSpPr txBox="1"/>
          <p:nvPr/>
        </p:nvSpPr>
        <p:spPr>
          <a:xfrm>
            <a:off x="548640" y="5115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0-text224"/>
          <p:cNvSpPr txBox="1"/>
          <p:nvPr/>
        </p:nvSpPr>
        <p:spPr>
          <a:xfrm>
            <a:off x="1325880" y="5069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제주도, 울릉도, 독도를 찾아요.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25" descr="간단히 나타낸 그림: 한반도 둘레에 서해·동해·남해. 대륙 쪽 왼쪽과 위의 나라에 가, 오른쪽 위의 나라에 나, 동해 건너 섬나라에 다"/>
          <p:cNvSpPr/>
          <p:nvPr/>
        </p:nvSpPr>
        <p:spPr>
          <a:xfrm>
            <a:off x="6361176" y="1814957"/>
            <a:ext cx="5195316" cy="3463544"/>
          </a:xfrm>
          <a:custGeom>
            <a:avLst/>
            <a:gdLst/>
            <a:ahLst/>
            <a:cxnLst/>
            <a:rect l="l" t="t" r="r" b="b"/>
            <a:pathLst>
              <a:path w="5195316" h="3463544">
                <a:moveTo>
                  <a:pt x="0" y="3463544"/>
                </a:moveTo>
                <a:lnTo>
                  <a:pt x="5195316" y="3463544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11-mark226"/>
          <p:cNvSpPr/>
          <p:nvPr/>
        </p:nvSpPr>
        <p:spPr>
          <a:xfrm>
            <a:off x="6361176" y="1814957"/>
            <a:ext cx="5195316" cy="2978648"/>
          </a:xfrm>
          <a:custGeom>
            <a:avLst/>
            <a:gdLst/>
            <a:ahLst/>
            <a:cxnLst/>
            <a:rect l="l" t="t" r="r" b="b"/>
            <a:pathLst>
              <a:path w="5195316" h="2978648">
                <a:moveTo>
                  <a:pt x="0" y="0"/>
                </a:moveTo>
                <a:lnTo>
                  <a:pt x="5195316" y="0"/>
                </a:lnTo>
                <a:lnTo>
                  <a:pt x="5195316" y="831251"/>
                </a:lnTo>
                <a:lnTo>
                  <a:pt x="3117190" y="831251"/>
                </a:lnTo>
                <a:lnTo>
                  <a:pt x="2909377" y="1039063"/>
                </a:lnTo>
                <a:lnTo>
                  <a:pt x="1108334" y="1039063"/>
                </a:lnTo>
                <a:lnTo>
                  <a:pt x="1108334" y="2978648"/>
                </a:lnTo>
                <a:lnTo>
                  <a:pt x="0" y="297864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1-mark227"/>
          <p:cNvSpPr/>
          <p:nvPr/>
        </p:nvSpPr>
        <p:spPr>
          <a:xfrm>
            <a:off x="9824720" y="2819385"/>
            <a:ext cx="1039063" cy="1766407"/>
          </a:xfrm>
          <a:custGeom>
            <a:avLst/>
            <a:gdLst/>
            <a:ahLst/>
            <a:cxnLst/>
            <a:rect l="l" t="t" r="r" b="b"/>
            <a:pathLst>
              <a:path w="1039063" h="1766407">
                <a:moveTo>
                  <a:pt x="0" y="173177"/>
                </a:moveTo>
                <a:lnTo>
                  <a:pt x="554167" y="0"/>
                </a:lnTo>
                <a:lnTo>
                  <a:pt x="1039063" y="1558595"/>
                </a:lnTo>
                <a:lnTo>
                  <a:pt x="484896" y="1766407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1-mark228"/>
          <p:cNvSpPr/>
          <p:nvPr/>
        </p:nvSpPr>
        <p:spPr>
          <a:xfrm>
            <a:off x="9651543" y="4585792"/>
            <a:ext cx="484896" cy="484896"/>
          </a:xfrm>
          <a:custGeom>
            <a:avLst/>
            <a:gdLst/>
            <a:ahLst/>
            <a:cxnLst/>
            <a:rect l="l" t="t" r="r" b="b"/>
            <a:pathLst>
              <a:path w="484896" h="484896">
                <a:moveTo>
                  <a:pt x="0" y="103906"/>
                </a:moveTo>
                <a:lnTo>
                  <a:pt x="415625" y="0"/>
                </a:lnTo>
                <a:lnTo>
                  <a:pt x="484896" y="380990"/>
                </a:lnTo>
                <a:lnTo>
                  <a:pt x="103906" y="484896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1-mark229"/>
          <p:cNvSpPr/>
          <p:nvPr/>
        </p:nvSpPr>
        <p:spPr>
          <a:xfrm>
            <a:off x="8092948" y="2854020"/>
            <a:ext cx="900521" cy="1593230"/>
          </a:xfrm>
          <a:custGeom>
            <a:avLst/>
            <a:gdLst/>
            <a:ahLst/>
            <a:cxnLst/>
            <a:rect l="l" t="t" r="r" b="b"/>
            <a:pathLst>
              <a:path w="900521" h="1593230">
                <a:moveTo>
                  <a:pt x="0" y="0"/>
                </a:moveTo>
                <a:lnTo>
                  <a:pt x="900521" y="0"/>
                </a:lnTo>
                <a:lnTo>
                  <a:pt x="796615" y="1489324"/>
                </a:lnTo>
                <a:lnTo>
                  <a:pt x="173177" y="1593230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1-mark230"/>
          <p:cNvSpPr/>
          <p:nvPr/>
        </p:nvSpPr>
        <p:spPr>
          <a:xfrm>
            <a:off x="9183964" y="3286963"/>
            <a:ext cx="103906" cy="103906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mark231"/>
          <p:cNvSpPr/>
          <p:nvPr/>
        </p:nvSpPr>
        <p:spPr>
          <a:xfrm>
            <a:off x="9412558" y="3394333"/>
            <a:ext cx="62344" cy="62344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mark232"/>
          <p:cNvSpPr/>
          <p:nvPr/>
        </p:nvSpPr>
        <p:spPr>
          <a:xfrm>
            <a:off x="8283443" y="4700089"/>
            <a:ext cx="311719" cy="152396"/>
          </a:xfrm>
          <a:custGeom>
            <a:avLst/>
            <a:gdLst/>
            <a:ahLst/>
            <a:cxnLst/>
            <a:rect l="l" t="t" r="r" b="b"/>
            <a:pathLst>
              <a:path w="311719" h="152396">
                <a:moveTo>
                  <a:pt x="311719" y="76198"/>
                </a:moveTo>
                <a:lnTo>
                  <a:pt x="311126" y="69557"/>
                </a:lnTo>
                <a:lnTo>
                  <a:pt x="309351" y="62966"/>
                </a:lnTo>
                <a:lnTo>
                  <a:pt x="306408" y="56476"/>
                </a:lnTo>
                <a:lnTo>
                  <a:pt x="302319" y="50137"/>
                </a:lnTo>
                <a:lnTo>
                  <a:pt x="297116" y="43995"/>
                </a:lnTo>
                <a:lnTo>
                  <a:pt x="290838" y="38099"/>
                </a:lnTo>
                <a:lnTo>
                  <a:pt x="283532" y="32493"/>
                </a:lnTo>
                <a:lnTo>
                  <a:pt x="275255" y="27219"/>
                </a:lnTo>
                <a:lnTo>
                  <a:pt x="266069" y="22318"/>
                </a:lnTo>
                <a:lnTo>
                  <a:pt x="256044" y="17827"/>
                </a:lnTo>
                <a:lnTo>
                  <a:pt x="245257" y="13780"/>
                </a:lnTo>
                <a:lnTo>
                  <a:pt x="233789" y="10209"/>
                </a:lnTo>
                <a:lnTo>
                  <a:pt x="221729" y="7139"/>
                </a:lnTo>
                <a:lnTo>
                  <a:pt x="209167" y="4595"/>
                </a:lnTo>
                <a:lnTo>
                  <a:pt x="196199" y="2596"/>
                </a:lnTo>
                <a:lnTo>
                  <a:pt x="182924" y="1158"/>
                </a:lnTo>
                <a:lnTo>
                  <a:pt x="169444" y="290"/>
                </a:lnTo>
                <a:lnTo>
                  <a:pt x="155859" y="0"/>
                </a:lnTo>
                <a:lnTo>
                  <a:pt x="142275" y="290"/>
                </a:lnTo>
                <a:lnTo>
                  <a:pt x="128795" y="1158"/>
                </a:lnTo>
                <a:lnTo>
                  <a:pt x="115520" y="2596"/>
                </a:lnTo>
                <a:lnTo>
                  <a:pt x="102552" y="4595"/>
                </a:lnTo>
                <a:lnTo>
                  <a:pt x="89990" y="7139"/>
                </a:lnTo>
                <a:lnTo>
                  <a:pt x="77930" y="10209"/>
                </a:lnTo>
                <a:lnTo>
                  <a:pt x="66462" y="13780"/>
                </a:lnTo>
                <a:lnTo>
                  <a:pt x="55675" y="17827"/>
                </a:lnTo>
                <a:lnTo>
                  <a:pt x="45650" y="22318"/>
                </a:lnTo>
                <a:lnTo>
                  <a:pt x="36464" y="27219"/>
                </a:lnTo>
                <a:lnTo>
                  <a:pt x="28187" y="32493"/>
                </a:lnTo>
                <a:lnTo>
                  <a:pt x="20881" y="38099"/>
                </a:lnTo>
                <a:lnTo>
                  <a:pt x="14603" y="43995"/>
                </a:lnTo>
                <a:lnTo>
                  <a:pt x="9399" y="50137"/>
                </a:lnTo>
                <a:lnTo>
                  <a:pt x="5311" y="56476"/>
                </a:lnTo>
                <a:lnTo>
                  <a:pt x="2368" y="62966"/>
                </a:lnTo>
                <a:lnTo>
                  <a:pt x="593" y="69557"/>
                </a:lnTo>
                <a:lnTo>
                  <a:pt x="0" y="76198"/>
                </a:lnTo>
                <a:lnTo>
                  <a:pt x="593" y="82839"/>
                </a:lnTo>
                <a:lnTo>
                  <a:pt x="2368" y="89430"/>
                </a:lnTo>
                <a:lnTo>
                  <a:pt x="5311" y="95919"/>
                </a:lnTo>
                <a:lnTo>
                  <a:pt x="9399" y="102259"/>
                </a:lnTo>
                <a:lnTo>
                  <a:pt x="14603" y="108401"/>
                </a:lnTo>
                <a:lnTo>
                  <a:pt x="20881" y="114297"/>
                </a:lnTo>
                <a:lnTo>
                  <a:pt x="28187" y="119903"/>
                </a:lnTo>
                <a:lnTo>
                  <a:pt x="36464" y="125177"/>
                </a:lnTo>
                <a:lnTo>
                  <a:pt x="45650" y="130078"/>
                </a:lnTo>
                <a:lnTo>
                  <a:pt x="55675" y="134569"/>
                </a:lnTo>
                <a:lnTo>
                  <a:pt x="66462" y="138616"/>
                </a:lnTo>
                <a:lnTo>
                  <a:pt x="77930" y="142187"/>
                </a:lnTo>
                <a:lnTo>
                  <a:pt x="89990" y="145257"/>
                </a:lnTo>
                <a:lnTo>
                  <a:pt x="102552" y="147801"/>
                </a:lnTo>
                <a:lnTo>
                  <a:pt x="115520" y="149800"/>
                </a:lnTo>
                <a:lnTo>
                  <a:pt x="128795" y="151238"/>
                </a:lnTo>
                <a:lnTo>
                  <a:pt x="142275" y="152106"/>
                </a:lnTo>
                <a:lnTo>
                  <a:pt x="155859" y="152396"/>
                </a:lnTo>
                <a:lnTo>
                  <a:pt x="169444" y="152106"/>
                </a:lnTo>
                <a:lnTo>
                  <a:pt x="182924" y="151238"/>
                </a:lnTo>
                <a:lnTo>
                  <a:pt x="196199" y="149800"/>
                </a:lnTo>
                <a:lnTo>
                  <a:pt x="209167" y="147801"/>
                </a:lnTo>
                <a:lnTo>
                  <a:pt x="221729" y="145257"/>
                </a:lnTo>
                <a:lnTo>
                  <a:pt x="233789" y="142187"/>
                </a:lnTo>
                <a:lnTo>
                  <a:pt x="245257" y="138616"/>
                </a:lnTo>
                <a:lnTo>
                  <a:pt x="256044" y="134569"/>
                </a:lnTo>
                <a:lnTo>
                  <a:pt x="266069" y="130078"/>
                </a:lnTo>
                <a:lnTo>
                  <a:pt x="275255" y="125177"/>
                </a:lnTo>
                <a:lnTo>
                  <a:pt x="283532" y="119903"/>
                </a:lnTo>
                <a:lnTo>
                  <a:pt x="290838" y="114297"/>
                </a:lnTo>
                <a:lnTo>
                  <a:pt x="297116" y="108401"/>
                </a:lnTo>
                <a:lnTo>
                  <a:pt x="302319" y="102259"/>
                </a:lnTo>
                <a:lnTo>
                  <a:pt x="306408" y="95919"/>
                </a:lnTo>
                <a:lnTo>
                  <a:pt x="309351" y="89430"/>
                </a:lnTo>
                <a:lnTo>
                  <a:pt x="311126" y="82839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11-mark233"/>
          <p:cNvSpPr/>
          <p:nvPr/>
        </p:nvSpPr>
        <p:spPr>
          <a:xfrm flipV="1">
            <a:off x="8993469" y="1814957"/>
            <a:ext cx="242448" cy="1039063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11-mark234"/>
          <p:cNvSpPr/>
          <p:nvPr/>
        </p:nvSpPr>
        <p:spPr>
          <a:xfrm flipV="1">
            <a:off x="11279408" y="4741652"/>
            <a:ext cx="0" cy="38099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11-mark235"/>
          <p:cNvSpPr/>
          <p:nvPr/>
        </p:nvSpPr>
        <p:spPr>
          <a:xfrm>
            <a:off x="11158184" y="4932147"/>
            <a:ext cx="242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1-label237"/>
          <p:cNvSpPr txBox="1"/>
          <p:nvPr/>
        </p:nvSpPr>
        <p:spPr>
          <a:xfrm>
            <a:off x="11112530" y="4442917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11-label239"/>
          <p:cNvSpPr txBox="1"/>
          <p:nvPr/>
        </p:nvSpPr>
        <p:spPr>
          <a:xfrm>
            <a:off x="8152303" y="343848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6" name="S11-label241"/>
          <p:cNvSpPr txBox="1"/>
          <p:nvPr/>
        </p:nvSpPr>
        <p:spPr>
          <a:xfrm>
            <a:off x="10784596" y="347312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7" name="S11-labelbg243"/>
          <p:cNvSpPr/>
          <p:nvPr/>
        </p:nvSpPr>
        <p:spPr>
          <a:xfrm>
            <a:off x="6769293" y="361484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11-label244"/>
          <p:cNvSpPr txBox="1"/>
          <p:nvPr/>
        </p:nvSpPr>
        <p:spPr>
          <a:xfrm>
            <a:off x="6723573" y="3579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9" name="S11-labelbg246"/>
          <p:cNvSpPr/>
          <p:nvPr/>
        </p:nvSpPr>
        <p:spPr>
          <a:xfrm>
            <a:off x="10440650" y="209088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11-label247"/>
          <p:cNvSpPr txBox="1"/>
          <p:nvPr/>
        </p:nvSpPr>
        <p:spPr>
          <a:xfrm>
            <a:off x="10394930" y="205595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1" name="S11-labelbg249"/>
          <p:cNvSpPr/>
          <p:nvPr/>
        </p:nvSpPr>
        <p:spPr>
          <a:xfrm>
            <a:off x="10198202" y="3545571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11-label250"/>
          <p:cNvSpPr txBox="1"/>
          <p:nvPr/>
        </p:nvSpPr>
        <p:spPr>
          <a:xfrm>
            <a:off x="10152482" y="35106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3" name="S11-label252"/>
          <p:cNvSpPr txBox="1"/>
          <p:nvPr/>
        </p:nvSpPr>
        <p:spPr>
          <a:xfrm>
            <a:off x="7519655" y="361166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24" name="S11-label254"/>
          <p:cNvSpPr txBox="1"/>
          <p:nvPr/>
        </p:nvSpPr>
        <p:spPr>
          <a:xfrm>
            <a:off x="9199474" y="3646302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25" name="S11-label256"/>
          <p:cNvSpPr txBox="1"/>
          <p:nvPr/>
        </p:nvSpPr>
        <p:spPr>
          <a:xfrm>
            <a:off x="8749213" y="458145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남해</a:t>
            </a:r>
            <a:endParaRPr lang="ko-KR" sz="1800" dirty="0"/>
          </a:p>
        </p:txBody>
      </p:sp>
      <p:sp>
        <p:nvSpPr>
          <p:cNvPr id="26" name="S11-label257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27" name="S11-chip25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8" name="S11-text25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 나라의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이름은?</a:t>
            </a:r>
            <a:endParaRPr lang="ko-KR" sz="2800" dirty="0"/>
          </a:p>
        </p:txBody>
      </p:sp>
      <p:sp>
        <p:nvSpPr>
          <p:cNvPr id="29" name="S11-chip26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0" name="S11-text26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나라는 우리나라의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쪽, 어느 바다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건너에 있나요?</a:t>
            </a:r>
            <a:endParaRPr lang="ko-KR" sz="2800" dirty="0"/>
          </a:p>
        </p:txBody>
      </p:sp>
      <p:sp>
        <p:nvSpPr>
          <p:cNvPr id="31" name="S11-chip26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2" name="S11-text26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우리나라의 위치를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영역일까요?</a:t>
            </a:r>
            <a:endParaRPr lang="ko-KR" sz="4000" dirty="0"/>
          </a:p>
        </p:txBody>
      </p:sp>
      <p:sp>
        <p:nvSpPr>
          <p:cNvPr id="3" name="S13-text2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영토, 영해, 영공 가운데 골라요.</a:t>
            </a:r>
            <a:endParaRPr lang="ko-KR" sz="2800" dirty="0"/>
          </a:p>
        </p:txBody>
      </p:sp>
      <p:sp>
        <p:nvSpPr>
          <p:cNvPr id="4" name="S13-chip2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2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울릉도에 새 길을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만들어요.</a:t>
            </a:r>
            <a:endParaRPr lang="ko-KR" sz="2800" dirty="0"/>
          </a:p>
        </p:txBody>
      </p:sp>
      <p:sp>
        <p:nvSpPr>
          <p:cNvPr id="6" name="S13-chip2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2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배가 독도 가까운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바다에서 고기를 잡아요.</a:t>
            </a:r>
            <a:endParaRPr lang="ko-KR" sz="2800" dirty="0"/>
          </a:p>
        </p:txBody>
      </p:sp>
      <p:sp>
        <p:nvSpPr>
          <p:cNvPr id="8" name="S13-chip26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3-text27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비행기가 제주도 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날아요.</a:t>
            </a:r>
            <a:endParaRPr lang="ko-KR" sz="2800" dirty="0"/>
          </a:p>
        </p:txBody>
      </p:sp>
      <p:sp>
        <p:nvSpPr>
          <p:cNvPr id="10" name="S13-chip27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3-text27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독도 둘레의 바다가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영해인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73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74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아시아 대륙의 동쪽, 삼면이 바다인 한반도와 섬들로 이루어져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영역은 영토(땅)·영해(바다)·영공(하늘)이에요.</a:t>
            </a:r>
            <a:endParaRPr lang="ko-KR" sz="2800" dirty="0"/>
          </a:p>
        </p:txBody>
      </p:sp>
      <p:sp>
        <p:nvSpPr>
          <p:cNvPr id="5" name="S14-chip275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대륙·바다·방위로 위치 말하기</a:t>
            </a:r>
            <a:endParaRPr lang="ko-KR" sz="2200" dirty="0"/>
          </a:p>
        </p:txBody>
      </p:sp>
      <p:sp>
        <p:nvSpPr>
          <p:cNvPr id="6" name="S14-chip276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땅만 우리 영역이라고 생각하기</a:t>
            </a:r>
            <a:endParaRPr lang="ko-KR" sz="2200" dirty="0"/>
          </a:p>
        </p:txBody>
      </p:sp>
      <p:sp>
        <p:nvSpPr>
          <p:cNvPr id="7" name="S14-text277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278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한반도 둘레의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바다는?</a:t>
            </a:r>
            <a:endParaRPr lang="ko-KR" sz="2200" dirty="0"/>
          </a:p>
        </p:txBody>
      </p:sp>
      <p:sp>
        <p:nvSpPr>
          <p:cNvPr id="9" name="S14-text279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영공은 어디 위의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하늘인가요?</a:t>
            </a:r>
            <a:endParaRPr lang="ko-KR" sz="2200" dirty="0"/>
          </a:p>
        </p:txBody>
      </p:sp>
      <p:sp>
        <p:nvSpPr>
          <p:cNvPr id="10" name="S14-text280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우리나라 동쪽 끝의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섬은?</a:t>
            </a:r>
            <a:endParaRPr lang="ko-KR" sz="2200" dirty="0"/>
          </a:p>
        </p:txBody>
      </p:sp>
      <p:sp>
        <p:nvSpPr>
          <p:cNvPr id="11" name="S14-text2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국토의 자연환경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방위표 다시 보기</a:t>
            </a:r>
            <a:endParaRPr lang="ko-KR" sz="4000" dirty="0"/>
          </a:p>
        </p:txBody>
      </p:sp>
      <p:sp>
        <p:nvSpPr>
          <p:cNvPr id="3" name="S15-figure282" descr="방위표: 위쪽 화살표가 북, 아래 남, 오른쪽 동, 왼쪽 서"/>
          <p:cNvSpPr/>
          <p:nvPr/>
        </p:nvSpPr>
        <p:spPr>
          <a:xfrm flipV="1">
            <a:off x="2693822" y="2400300"/>
            <a:ext cx="0" cy="274320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" name="S15-mark283"/>
          <p:cNvSpPr/>
          <p:nvPr/>
        </p:nvSpPr>
        <p:spPr>
          <a:xfrm>
            <a:off x="1733702" y="3771900"/>
            <a:ext cx="192024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5-label285"/>
          <p:cNvSpPr txBox="1"/>
          <p:nvPr/>
        </p:nvSpPr>
        <p:spPr>
          <a:xfrm>
            <a:off x="2502052" y="16770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200" dirty="0"/>
          </a:p>
        </p:txBody>
      </p:sp>
      <p:sp>
        <p:nvSpPr>
          <p:cNvPr id="6" name="S15-label287"/>
          <p:cNvSpPr txBox="1"/>
          <p:nvPr/>
        </p:nvSpPr>
        <p:spPr>
          <a:xfrm>
            <a:off x="2502052" y="55175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200" dirty="0"/>
          </a:p>
        </p:txBody>
      </p:sp>
      <p:sp>
        <p:nvSpPr>
          <p:cNvPr id="7" name="S15-label289"/>
          <p:cNvSpPr txBox="1"/>
          <p:nvPr/>
        </p:nvSpPr>
        <p:spPr>
          <a:xfrm>
            <a:off x="4010812" y="35972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8" name="S15-label291"/>
          <p:cNvSpPr txBox="1"/>
          <p:nvPr/>
        </p:nvSpPr>
        <p:spPr>
          <a:xfrm>
            <a:off x="993292" y="35972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9" name="S15-card292"/>
          <p:cNvSpPr/>
          <p:nvPr/>
        </p:nvSpPr>
        <p:spPr>
          <a:xfrm>
            <a:off x="5204765" y="1912112"/>
            <a:ext cx="6435547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5-cardtext293"/>
          <p:cNvSpPr txBox="1"/>
          <p:nvPr/>
        </p:nvSpPr>
        <p:spPr>
          <a:xfrm>
            <a:off x="5479085" y="2049272"/>
            <a:ext cx="58869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화살표가 가리키는 쪽이 북쪽이에요.</a:t>
            </a:r>
            <a:endParaRPr lang="ko-KR" sz="2800" dirty="0"/>
          </a:p>
        </p:txBody>
      </p:sp>
      <p:sp>
        <p:nvSpPr>
          <p:cNvPr id="11" name="S15-card294"/>
          <p:cNvSpPr/>
          <p:nvPr/>
        </p:nvSpPr>
        <p:spPr>
          <a:xfrm>
            <a:off x="5204765" y="3009392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5-cardtext295"/>
          <p:cNvSpPr txBox="1"/>
          <p:nvPr/>
        </p:nvSpPr>
        <p:spPr>
          <a:xfrm>
            <a:off x="5479085" y="3146552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북쪽을 보고 서면 오른쪽이 동쪽, 왼쪽이 서쪽이에요.</a:t>
            </a:r>
            <a:endParaRPr lang="ko-KR" sz="2800" dirty="0"/>
          </a:p>
        </p:txBody>
      </p:sp>
      <p:sp>
        <p:nvSpPr>
          <p:cNvPr id="13" name="S15-card296"/>
          <p:cNvSpPr/>
          <p:nvPr/>
        </p:nvSpPr>
        <p:spPr>
          <a:xfrm>
            <a:off x="5204765" y="4434840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297"/>
          <p:cNvSpPr txBox="1"/>
          <p:nvPr/>
        </p:nvSpPr>
        <p:spPr>
          <a:xfrm>
            <a:off x="5479085" y="4572000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 지도의 위쪽이 북쪽이에요.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우리나라의 위치와 영역</dc:title>
  <dc:subject>KR22-G05-SOC-TERRITORY-L01</dc:subject>
  <dc:creator>education-ppt</dc:creator>
  <cp:lastModifiedBy>education-ppt</cp:lastModifiedBy>
  <cp:revision>1</cp:revision>
  <dcterms:created xsi:type="dcterms:W3CDTF">2026-10-26T13:24:50Z</dcterms:created>
  <dcterms:modified xsi:type="dcterms:W3CDTF">2026-10-26T13:24:50Z</dcterms:modified>
</cp:coreProperties>
</file>