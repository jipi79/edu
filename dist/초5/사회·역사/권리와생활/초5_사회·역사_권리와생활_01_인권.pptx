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d1e67db-179b-ce14-c787-7763cdd09740}">
          <p14:sldIdLst>
            <p14:sldId id="256"/>
            <p14:sldId id="257"/>
          </p14:sldIdLst>
        </p14:section>
        <p14:section name="개념" id="{6abfa874-11b6-560c-121e-434fb9e976e3}">
          <p14:sldIdLst>
            <p14:sldId id="258"/>
            <p14:sldId id="259"/>
            <p14:sldId id="262"/>
          </p14:sldIdLst>
        </p14:section>
        <p14:section name="연습" id="{d6b28757-9041-bfc7-1c3e-f3a591191838}">
          <p14:sldIdLst>
            <p14:sldId id="260"/>
            <p14:sldId id="261"/>
            <p14:sldId id="263"/>
            <p14:sldId id="264"/>
          </p14:sldIdLst>
        </p14:section>
        <p14:section name="개념" id="{9e5748d3-8d3e-9962-0051-22ffe4cabfac}">
          <p14:sldIdLst/>
        </p14:section>
        <p14:section name="연습" id="{41726548-0c40-e597-7c8f-65837741fad7}">
          <p14:sldIdLst/>
        </p14:section>
        <p14:section name="확인" id="{b36c6128-69f6-e493-5670-243814dbd73a}">
          <p14:sldIdLst>
            <p14:sldId id="265"/>
            <p14:sldId id="266"/>
            <p14:sldId id="267"/>
          </p14:sldIdLst>
        </p14:section>
        <p14:section name="정리" id="{591e1160-6795-051b-ddc3-a5c9b3ea1461}">
          <p14:sldIdLst>
            <p14:sldId id="268"/>
          </p14:sldIdLst>
        </p14:section>
        <p14:section name="보충" id="{37b2d853-545d-839b-1f1c-b4c1966c54f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존중받았던 경험과 속상했던 경험을 떠올리게 합니다.
시간: 약 2분
이렇게 말해 보세요
- “누군가 네 말을 끝까지 들어 줘서 기분이 좋았던 적 있어? 반대로 무시당해서 속상했던 적은?”
- “오늘은 사람이라면 누구나 가지는 소중한 권리인 ‘인권’을 알아보고, 우리 둘레에서 인권을 지키는 모습을 찾아볼 거야.”
예상 답
- “친구가 제 이야기를 들어 줬을 때요.” “놀림받았을 때 속상했어요.”
막히면
- 부모님이 먼저 존중받았던 경험을 짧게 들려줍니다.
주의
- 아이가 실제로 겪은 속상한 일을 말하면 끝까지 들어 주고 “그때 많이 속상했겠다”라고 공감한 뒤 수업을 이어 갑니다. 심각한 일(괴롭힘 등)이 나오면 수업을 멈추고 따로 이야기하고, 필요하면 학교 담임 선생님과 상의합니다.
- 오늘 나오는 인물과 상황은 모두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확인(존중과 차이)]
목적: 3·4학년에서 다룬 ‘다른 사람을 존중하기’, ‘차이를 인정하기’를 확인합니다. 오늘 인권을 설명할 때 그대로 씁니다.
시간: 약 3분
이렇게 말해 보세요
- “존중한다는 말을 들어 봤지? 어떻게 하는 걸까?”
- “③은 정답이 없어. 네가 바라는 것을 말해 줘.”
예상 답
- ① 소중하게 여기고 함부로 대하지 않는 것
- ② 모두 똑같이 소중한 사람이니까요.
- ③ 예: 내 말을 끝까지 들어 주면 좋겠어요. 놀리지 않으면 좋겠어요.
막히면
- “네가 아끼는 물건을 친구가 소중히 다뤄 주면 어때? 사람을 그렇게 대하는 것이 존중이야.”처럼 쉬운 예로 바꾸어 줍니다.
- 많이 어려우면 S14(보충)에서 ‘권리’의 뜻을 먼저 다룹니다.
주의
- ③에서 나온 아이의 말은 S03에서 ‘인권’과 이어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인권의 뜻과 특징]
목적: 인권의 뜻(사람이라면 누구나 사람답게 살 수 있는 권리)과 특징(누구나, 태어날 때부터, 함부로 빼앗을 수 없음)을 알려 줍니다(목표 A).
시간: 약 3분
이렇게 말해 보세요
- “‘권리’는 마땅히 누릴 수 있는 자격이야. 인권은 사람이라서 가지는 권리지.”
- “S02에서 네가 바란 ‘끝까지 들어 주기’도 사람답게 대우받고 싶은 마음이야. 그건 너만 바라는 걸까?”
- “돈이 많거나 공부를 잘해야 인권이 있을까?”
예상 답
- “아니요, 누구나 있어요.” “친구들도, 어른들도 다 바라요.”
막히면
- 카드를 하나씩 읽고 “아기에게도 있을까? 할머니에게도? 다른 나라 사람에게도?”라고 물어 ‘누구나’를 확인합니다.
주의
- 부모님 참고: 1948년 국제 연합(UN)이 ‘세계 인권 선언’을 발표했습니다. 오늘은 연도와 문서 이름을 외우게 하지 않습니다.
- 인권은 ‘착하게 굴어야 받는 상’이 아니라는 점을 분명히 합니다. 잘못을 했을 때에도 사람으로서 존중받아야 하며, 잘못은 바르게 책임지게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생활 속 여러 인권]
목적: 생활 속에서 만나는 여러 가지 인권을 알려 줍니다(목표 A). S05·S10의 상황 판단에 씁니다.
시간: 약 4분
이렇게 말해 보세요
- “이 여섯 가지 가운데 오늘 아침부터 지금까지 네가 누린 권리는 무엇이 있을까?”
- “사생활을 지킬 권리는 무엇일까? 네 일기장을 누가 몰래 읽으면 어떨까?”
예상 답
- “학교에서 배웠어요(배울 권리).” “쉬는 시간에 놀았어요.” “일기장을 몰래 보면 싫어요.”
막히면
- 카드마다 “이 권리가 지켜지지 않으면 어떤 일이 생길까?”라고 반대로 물어봅니다.
주의
- 부모님 참고: 어린이의 권리를 정한 국제 약속(유엔 아동 권리 협약)은 어린이의 권리를 흔히 생존권·보호권·발달권·참여권 네 가지로 나누어 설명합니다. 아이에게는 카드의 쉬운 말로만 다룹니다.
- ‘사생활’은 다른 사람에게 알리고 싶지 않은 나만의 생활이라고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존중과 침해 구별하기]
목적: 생활 상황에서 인권이 존중되었는지 침해되었는지 구별하고, 관계있는 권리를 까닭으로 말하는 연습을 합니다(목표 A).
시간: 약 4분
이렇게 말해 보세요
- “‘침해’는 남의 권리를 해치는 거야. ①은 존중일까, 침해일까? 어떤 권리와 관계있어?”
- “③의 친구는 어떤 기분일까? 무엇이 문제야?”
정답
- ① 침해. 사생활을 지킬 권리를 해쳤어요.
- ② 존중. 모두가 안전하게 다니고 배울 수 있게 했어요(차별받지 않을 권리, 배울 권리).
- ③ 침해. 다르다는 까닭으로 차별했어요(차별받지 않을 권리, 놀 권리).
막히면
- S04의 카드 여섯 장을 다시 보여 주고 “이 가운데 어떤 권리와 가까워?”라고 고르게 합니다.
주의
- 권리 이름이 조금 달라도 까닭이 맞으면 인정합니다(예: ②를 ‘이동할 권리’라고 해도 맞음).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여러 입장 비교(다름과 존중)]
목적: 다름을 까닭으로 차별하지 않고 함께할 방법을 찾는 것이 인권 존중임을 두 입장을 비교하며 알게 합니다(목표 A, 오해 M2).
시간: 약 3분
이렇게 말해 보세요
- “가처럼 하면 전학 온 친구는 어떤 기분일까? 어떤 권리가 지켜지지 않을까?”
- “나처럼 하려면 우리가 실제로 무엇을 할 수 있을까?”
정답
- 나. 말이 서툴러도 누구나 똑같이 존중받아야 해요. 빼는 것은 차별받지 않을 권리와 배울 권리를 해쳐요.
- 나라면: 예) 천천히 말해 주기, 그림이나 몸짓으로 알려 주기, 쉬운 역할부터 함께하기(까닭과 함께 말하면 맞음)
막히면
- “네가 말이 통하지 않는 나라로 전학 갔다면 친구들이 어떻게 해 주면 좋겠어?”라고 입장을 바꾸어 묻습니다.
주의
- 가의 생각을 한 친구를 나쁜 사람으로 말하지 않습니다. ‘모둠 활동을 잘하고 싶은 마음’을 인정하고, 모두가 함께하는 방법을 찾게 합니다.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인권을 지키는 노력]
목적: 시설·제도·사람들의 노력으로 인권을 지키는 생활 속 사례를 알려 줍니다(목표 B).
시간: 약 4분
이렇게 말해 보세요
- “길에서 노란색 울퉁불퉁한 블록을 본 적 있어? 그게 점자 블록이야. 누구를 위한 걸까?”
- “텔레비전 뉴스 화면 구석에서 손으로 말하는 분을 본 적 있어? 수어 통역이라고 해. 누구에게 도움이 될까?”
- “초등학교와 중학교는 누구나 다닐 수 있어. 이것도 배울 권리를 지키는 제도야.”
예상 답
- “눈이 잘 안 보이는 사람이요.” “귀가 잘 안 들리는 사람이요.”
막히면
- 집 안에서 찾을 수 있는 것(엘리베이터 버튼의 점자, 텔레비전 자막)부터 함께 찾아봅니다.
주의
- 시설은 장애인만을 위한 것이 아니라 어르신, 유아차를 미는 사람, 다친 사람 등 많은 사람에게 도움이 된다는 것을 짚어 줍니다.
- 부모님 참고: 바닥이 낮은 버스는 ‘저상 버스’, 초등학교 6년과 중학교 3년은 ‘의무 교육’이라고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인권 보호 사례 분석]
목적: 인권 보호 시설·제도가 누구에게 도움이 되고 어떤 권리를 지키는지 분석하는 연습을 합니다(목표 B).
시간: 약 3분
이렇게 말해 보세요
- “①은 누구에게 도움이 될까? 그 사람의 어떤 권리를 지켜 줄까?”
정답
- ① 눈이 잘 보이지 않는 사람 – 안전하게 다닐 권리
- ② 휠체어를 탄 사람, 어르신, 유아차를 미는 사람 – 자유롭게 다닐(이동할) 권리
- ③ 귀가 잘 들리지 않는 사람 – 정보를 알 권리(차별받지 않을 권리)
- ④ 어린이 – 안전하게 살 권리
막히면
- “이것이 없으면 누가 불편할까?”라고 먼저 묻고, 그다음 S04의 권리 카드에서 고르게 합니다.
주의
- 권리의 이름은 여러 가지로 말할 수 있습니다. 도움받는 사람과 권리가 서로 이어지면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우리 동네 인권 지킴이 찾기(부모와 함께)]
목적: 우리 동네에서 인권을 지키는 시설을 직접 찾아 누구의 어떤 권리를 지키는지 말하게 합니다(목표 B). 실제 조사는 수업 뒤에 해도 됩니다.
시간: 약 3분
이렇게 말해 보세요
- “집에서 학교까지 가는 길에 경사로나 점자 블록이 있을까? 엘리베이터 버튼에 점자가 있는지도 볼까?”
- “찾으면 사진 대신 그림이나 글로 활동지에 적자. 누구에게 도움이 되는지도 함께 말해 줘.”
예상 답
- “아파트 입구에 경사로가 있어요.” “지하철역에 점자 블록이 있어요.” “버스에 노약자석이 있어요.”
정답
- 기준: 인권을 지키는 시설을 세 가지 찾고, 각각 누구에게 도움이 되며 어떤 권리를 지키는지 말하면 잘한 것입니다. 사는 곳에 따라 찾을 수 있는 것이 다릅니다.
막히면
- 밖에 나가기 어려우면 집과 아파트 안(엘리베이터 점자, 비상구 표시, 텔레비전 자막)에서 먼저 찾습니다.
주의
- 다른 사람의 얼굴이 나오게 사진을 찍지 않습니다(사생활 존중). 장애가 있는 분을 쳐다보거나 가리키지 않도록 미리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보기(뜻과 구별)]
목적: 도움 없이 인권의 뜻을 말하고, 처음 보는 상황에서 존중과 침해를 구별하며 관계있는 권리를 까닭으로 말하는지 확인합니다(목표 A).
시간: 약 4분
이렇게 말해 보세요
- “이번에는 혼자 해 볼래? ②~④는 존중인지 침해인지 말하고, 어떤 권리와 관계있는지도 말해 줘.”
정답
- ① 예: 사람이라면 누구나 태어날 때부터 가지는, 사람답게 살 수 있는 권리(‘누구나’가 들어가면 맞음)
- ② 침해. 의견을 말할 권리(존중받을 권리)를 해쳐요.
- ③ 침해. 생김새로 놀리는 것은 차별이에요(차별받지 않을 권리).
- ④ 존중. 안전하게 살 권리(건강하게 살 권리)를 지켜 줬어요.
막히면
- “그 사람은 어떤 기분일까? 그 사람이 바라는 대우는 무엇일까?”만 묻습니다. 도움을 받아 풀었다면 기록표에 ‘도움’으로 표시합니다.
주의
- ②에서 동생이라서 괜찮다고 하면 S03의 ‘누구나’를 다시 짚습니다. 정답 확인은 다음 장(S11)에서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흔히 나오는 생각과 비교합니다.
시간: 약 2분
이렇게 말해 보세요
- “네 답과 왼쪽이 같아? ‘장난이니까 괜찮다’는 생각은 왜 다시 생각해 봐야 할까?”
예상 답
- “듣는 사람은 장난으로 안 느낄 수 있어요.”
정답
- ① 사람이라면 누구나 가지는, 사람답게 살 권리 ② 침해 ③ 침해 ④ 존중
막히면
- S03, S05를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확인(실천 계획)]
목적: 처음 보는 상황에서 인권을 지키는 방법을 계획하고 까닭을 말하며, 생활 속 실천 약속을 세우는지 확인합니다(목표 B).
시간: 약 4분
이렇게 말해 보세요
- “그 친구 입장이 되어 생각해 볼래? 교실에서 무엇이 불편할까?”
- “우리 반이 할 수 있는 일을 두 가지 말하고, 왜 그렇게 하는지도 말해 줘.”
정답
- ① 예: 책상 사이가 좁아 다니기 어려워요. 높은 곳의 물건을 꺼내기 어려워요. 문턱이 있어요.
- ② 예: 책상 사이를 넓혀요(자유롭게 다닐 수 있게). 체육 시간에 함께할 수 있는 놀이 규칙을 정해요(차별받지 않고 놀 권리). 도움이 필요한지 먼저 물어봐요(친구의 뜻을 존중). — 일과 까닭이 이어지면 맞음
- ③ 예: 동생의 말을 끝까지 들어요. 가족의 물건이나 휴대 전화를 허락 없이 보지 않아요(구체적인 행동이면 맞음).
막히면
- “친구가 교실 문에서 자리까지 가는 길을 상상해 보자.”라고 장면을 함께 떠올립니다. 그래도 어려우면 S07을 보여 주고 기록표에 ‘도움’으로 적습니다.
주의
- ‘무조건 대신해 주기’보다 친구에게 도움이 필요한지 먼저 묻는 것이 존중이라는 점을 짚어 줍니다.
- ③의 약속은 활동지 5에 쓰고 일주일 동안 지켰는지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“인권이 무엇인지, 우리가 인권을 지키려면 무엇을 할 수 있는지 말해 볼래?”
예상 답
- “누구나 가지는 권리예요. 친구를 놀리지 않고 끝까지 들어 줘요.”
정답
- ① 사람이라면 누구나 태어날 때부터 가지는, 사람답게 살 권리 ② 예: 경사로, 점자 블록, 바닥이 낮은 버스, 수어 통역 가운데 두 가지 ③ 예: 일기장 몰래 보기, 생김새로 놀리기, 따돌리기
막히면
- S03, S07을 다시 보여 줍니다.
주의
- 활동지 4(동네 조사)와 5(실천 약속)는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보충(권리의 뜻)]
목적: S02가 흔들리면 ‘권리’와 ‘존중’의 뜻을 생활 예로 다시 익힙니다.
시간: 약 4분
이렇게 말해 보세요
- “네가 학교에 가서 배우는 것, 쉬는 시간에 쉬는 것은 누가 허락해 줘야만 할 수 있는 걸까, 원래 누릴 수 있는 걸까?”
- “그럼 동생(친구)도 쉬는 시간에 쉴 권리가 있을까?”
예상 답
- “원래 할 수 있는 거예요.” “네, 있어요.”
막히면
- 가족 각자가 집에서 누리는 권리(쉴 권리, 내 물건을 지킬 권리)를 하나씩 말해 봅니다.
주의
- 이 차시는 계획상 바로 앞의 선수 차시가 없습니다. 다른 사람을 존중하는 태도가 많이 흔들리면 3학년 ‘다양한 가족’(KR22-G03-SOC-FAMILIES-L01)과 4학년 도덕 ‘대화로 갈등 해결’(KR22-G04-ETH-CONFLICT-L01)을 함께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권리와생활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인권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존중받아야 하는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무엇일까요?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인권의 뜻을 알고 존중과 침해를 구별해요.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인권을 지키는 모습을 찾고 실천을 계획해요.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 볼까요?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‘존중한다’는 무슨 뜻일까요?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생김새나 생각이 달라도 똑같이 대해야 하는 까닭은?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나를 이렇게 대해 주면 좋겠다 하는 것 한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인권이란 무엇일까요?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인권: 사람이라면 누구나 사람답게 살 수 있는 권리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인권이 소중한 만큼 다른 사람의 인권도 소중해요.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나이, 성별, 장애,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피부색과 관계없어요.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태어날 때부터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사람이라면 처음부터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가지고 있어요.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빼앗을 수 없어요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누구도 함부로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빼앗을 수 없어요.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여러 가지 인권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살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다치거나 위협받지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2800" dirty="0"/>
          </a:p>
        </p:txBody>
      </p:sp>
      <p:sp>
        <p:nvSpPr>
          <p:cNvPr id="5" name="S04-card20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4596384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배울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배울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</a:t>
            </a:r>
            <a:endParaRPr lang="ko-KR" sz="2800" dirty="0"/>
          </a:p>
        </p:txBody>
      </p:sp>
      <p:sp>
        <p:nvSpPr>
          <p:cNvPr id="7" name="S04-card22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8369808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쉬고 놀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시간과 놀이가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필요해요.</a:t>
            </a:r>
            <a:endParaRPr lang="ko-KR" sz="2800" dirty="0"/>
          </a:p>
        </p:txBody>
      </p:sp>
      <p:sp>
        <p:nvSpPr>
          <p:cNvPr id="9" name="S04-card24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22960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차별받지 않을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다르다고 따돌리지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2800" dirty="0"/>
          </a:p>
        </p:txBody>
      </p:sp>
      <p:sp>
        <p:nvSpPr>
          <p:cNvPr id="11" name="S04-card26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7"/>
          <p:cNvSpPr txBox="1"/>
          <p:nvPr/>
        </p:nvSpPr>
        <p:spPr>
          <a:xfrm>
            <a:off x="4596384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사생활을 지킬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일기와 비밀을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지켜요.</a:t>
            </a:r>
            <a:endParaRPr lang="ko-KR" sz="2800" dirty="0"/>
          </a:p>
        </p:txBody>
      </p:sp>
      <p:sp>
        <p:nvSpPr>
          <p:cNvPr id="13" name="S04-card28"/>
          <p:cNvSpPr/>
          <p:nvPr/>
        </p:nvSpPr>
        <p:spPr>
          <a:xfrm>
            <a:off x="8095488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29"/>
          <p:cNvSpPr txBox="1"/>
          <p:nvPr/>
        </p:nvSpPr>
        <p:spPr>
          <a:xfrm>
            <a:off x="8369808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말할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말하고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존중일까요, 침해일까요?</a:t>
            </a:r>
            <a:endParaRPr lang="ko-KR" sz="40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지켰는지, 해쳤는지(침해) 말해요.</a:t>
            </a:r>
            <a:endParaRPr lang="ko-KR" sz="28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권리와 관계있는지도 함께 말해요.</a:t>
            </a:r>
            <a:endParaRPr lang="ko-KR" sz="2800" dirty="0"/>
          </a:p>
        </p:txBody>
      </p:sp>
      <p:sp>
        <p:nvSpPr>
          <p:cNvPr id="6" name="S05-chip3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일기장을 몰래 읽고 다른 친구에게 말했어요.</a:t>
            </a:r>
            <a:endParaRPr lang="ko-KR" sz="2800" dirty="0"/>
          </a:p>
        </p:txBody>
      </p:sp>
      <p:sp>
        <p:nvSpPr>
          <p:cNvPr id="8" name="S05-chip3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3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휠체어를 탄 친구도 들어오도록 학교 입구에 경사로를 만들었어요.</a:t>
            </a:r>
            <a:endParaRPr lang="ko-KR" sz="2800" dirty="0"/>
          </a:p>
        </p:txBody>
      </p:sp>
      <p:sp>
        <p:nvSpPr>
          <p:cNvPr id="10" name="S05-chip3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피부색이 다르다고 놀이에 끼워 주지 않았어요.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대해야 할까요?</a:t>
            </a:r>
            <a:endParaRPr lang="ko-KR" sz="40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전학 온 친구가 다른 나라에서 와서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우리말이 아직 서툴러요.</a:t>
            </a:r>
            <a:endParaRPr lang="ko-KR" sz="28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나라면 어떻게 할까요?</a:t>
            </a:r>
            <a:endParaRPr lang="ko-KR" sz="28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44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“말이 서투니까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 활동에서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빼도 돼요.”</a:t>
            </a:r>
            <a:endParaRPr lang="ko-KR" sz="2800" dirty="0"/>
          </a:p>
        </p:txBody>
      </p:sp>
      <p:sp>
        <p:nvSpPr>
          <p:cNvPr id="9" name="S06-chip45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46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“말이 서툴러도 똑같이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존중받아야 해요. 천천히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주면 함께할 수 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지키는 모습</a:t>
            </a:r>
            <a:endParaRPr lang="ko-KR" sz="4000" dirty="0"/>
          </a:p>
        </p:txBody>
      </p:sp>
      <p:sp>
        <p:nvSpPr>
          <p:cNvPr id="3" name="S07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지키려는 노력은 우리 둘레 곳곳에 있어요.</a:t>
            </a:r>
            <a:endParaRPr lang="ko-KR" sz="2800" dirty="0"/>
          </a:p>
        </p:txBody>
      </p:sp>
      <p:sp>
        <p:nvSpPr>
          <p:cNvPr id="5" name="S07-card4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경사로, 점자 블록,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바닥이 낮은 버스</a:t>
            </a:r>
            <a:endParaRPr lang="ko-KR" sz="2800" dirty="0"/>
          </a:p>
        </p:txBody>
      </p:sp>
      <p:sp>
        <p:nvSpPr>
          <p:cNvPr id="7" name="S07-card5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제도와 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보호 구역,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받는 교육</a:t>
            </a:r>
            <a:endParaRPr lang="ko-KR" sz="2800" dirty="0"/>
          </a:p>
        </p:txBody>
      </p:sp>
      <p:sp>
        <p:nvSpPr>
          <p:cNvPr id="9" name="S07-card5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5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사람들의 노력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수어 통역, 자막,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나라 말 안내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인권을 지킬까요?</a:t>
            </a:r>
            <a:endParaRPr lang="ko-KR" sz="4000" dirty="0"/>
          </a:p>
        </p:txBody>
      </p:sp>
      <p:sp>
        <p:nvSpPr>
          <p:cNvPr id="3" name="S08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도움이 되고, 어떤 권리를 지킬까요?</a:t>
            </a:r>
            <a:endParaRPr lang="ko-KR" sz="2800" dirty="0"/>
          </a:p>
        </p:txBody>
      </p:sp>
      <p:sp>
        <p:nvSpPr>
          <p:cNvPr id="4" name="S08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8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점자 블록</a:t>
            </a:r>
            <a:endParaRPr lang="ko-KR" sz="2800" dirty="0"/>
          </a:p>
        </p:txBody>
      </p:sp>
      <p:sp>
        <p:nvSpPr>
          <p:cNvPr id="6" name="S08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8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바닥이 낮은 버스</a:t>
            </a:r>
            <a:endParaRPr lang="ko-KR" sz="2800" dirty="0"/>
          </a:p>
        </p:txBody>
      </p:sp>
      <p:sp>
        <p:nvSpPr>
          <p:cNvPr id="8" name="S08-chip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8-text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뉴스의 수어 통역</a:t>
            </a:r>
            <a:endParaRPr lang="ko-KR" sz="2800" dirty="0"/>
          </a:p>
        </p:txBody>
      </p:sp>
      <p:sp>
        <p:nvSpPr>
          <p:cNvPr id="10" name="S08-chip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8-text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어린이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 구역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인권 지킴이 찾기</a:t>
            </a:r>
            <a:endParaRPr lang="ko-KR" sz="40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다니고 찻길을 조심해요.</a:t>
            </a:r>
            <a:endParaRPr lang="ko-KR" sz="2800" dirty="0"/>
          </a:p>
        </p:txBody>
      </p:sp>
      <p:sp>
        <p:nvSpPr>
          <p:cNvPr id="6" name="S09-card6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6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시설 세 가지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도움받는 사람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지키는 권리 말하기</a:t>
            </a:r>
            <a:endParaRPr lang="ko-KR" sz="2800" dirty="0"/>
          </a:p>
        </p:txBody>
      </p:sp>
      <p:sp>
        <p:nvSpPr>
          <p:cNvPr id="8" name="S09-stepno69"/>
          <p:cNvSpPr txBox="1"/>
          <p:nvPr/>
        </p:nvSpPr>
        <p:spPr>
          <a:xfrm>
            <a:off x="548640" y="2155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9-text70"/>
          <p:cNvSpPr txBox="1"/>
          <p:nvPr/>
        </p:nvSpPr>
        <p:spPr>
          <a:xfrm>
            <a:off x="1325880" y="21554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둘레나 학교 가는 길을 걸어요.</a:t>
            </a:r>
            <a:endParaRPr lang="ko-KR" sz="2200" dirty="0"/>
          </a:p>
        </p:txBody>
      </p:sp>
      <p:sp>
        <p:nvSpPr>
          <p:cNvPr id="10" name="S09-stepno71"/>
          <p:cNvSpPr txBox="1"/>
          <p:nvPr/>
        </p:nvSpPr>
        <p:spPr>
          <a:xfrm>
            <a:off x="548640" y="28686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9-text72"/>
          <p:cNvSpPr txBox="1"/>
          <p:nvPr/>
        </p:nvSpPr>
        <p:spPr>
          <a:xfrm>
            <a:off x="1325880" y="28686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지키는 시설을 찾아요.</a:t>
            </a:r>
            <a:endParaRPr lang="ko-KR" sz="2200" dirty="0"/>
          </a:p>
        </p:txBody>
      </p:sp>
      <p:sp>
        <p:nvSpPr>
          <p:cNvPr id="12" name="S09-stepno73"/>
          <p:cNvSpPr txBox="1"/>
          <p:nvPr/>
        </p:nvSpPr>
        <p:spPr>
          <a:xfrm>
            <a:off x="548640" y="36276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9-text74"/>
          <p:cNvSpPr txBox="1"/>
          <p:nvPr/>
        </p:nvSpPr>
        <p:spPr>
          <a:xfrm>
            <a:off x="1325880" y="358190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어떤 도움이 되는지 이야기해요.</a:t>
            </a:r>
            <a:endParaRPr lang="ko-KR" sz="2200" dirty="0"/>
          </a:p>
        </p:txBody>
      </p:sp>
      <p:sp>
        <p:nvSpPr>
          <p:cNvPr id="14" name="S09-stepno75"/>
          <p:cNvSpPr txBox="1"/>
          <p:nvPr/>
        </p:nvSpPr>
        <p:spPr>
          <a:xfrm>
            <a:off x="548640" y="44282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9-text76"/>
          <p:cNvSpPr txBox="1"/>
          <p:nvPr/>
        </p:nvSpPr>
        <p:spPr>
          <a:xfrm>
            <a:off x="1325880" y="44282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기록해요.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7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7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 무엇인지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말해요.</a:t>
            </a:r>
            <a:endParaRPr lang="ko-KR" sz="2800" dirty="0"/>
          </a:p>
        </p:txBody>
      </p:sp>
      <p:sp>
        <p:nvSpPr>
          <p:cNvPr id="5" name="S10-chip7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8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말할 때마다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무시하고 끊어요.</a:t>
            </a:r>
            <a:endParaRPr lang="ko-KR" sz="2800" dirty="0"/>
          </a:p>
        </p:txBody>
      </p:sp>
      <p:sp>
        <p:nvSpPr>
          <p:cNvPr id="7" name="S10-chip8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8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작다고 놀리는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별명을 불러요.</a:t>
            </a:r>
            <a:endParaRPr lang="ko-KR" sz="2800" dirty="0"/>
          </a:p>
        </p:txBody>
      </p:sp>
      <p:sp>
        <p:nvSpPr>
          <p:cNvPr id="9" name="S10-chip8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0-text8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다친 친구를 보건실에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데려다줬어요.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인권은 누구에게나 있고, 나와 다른 사람의 인권을 함께 지켜요.</a:t>
            </a:r>
            <a:endParaRPr lang="ko-KR" sz="2800" dirty="0"/>
          </a:p>
        </p:txBody>
      </p:sp>
      <p:sp>
        <p:nvSpPr>
          <p:cNvPr id="5" name="S11-chip8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200" dirty="0"/>
          </a:p>
        </p:txBody>
      </p:sp>
      <p:sp>
        <p:nvSpPr>
          <p:cNvPr id="6" name="S11-text88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누구나 가진 권리</a:t>
            </a:r>
            <a:endParaRPr lang="ko-KR" sz="2800" dirty="0"/>
          </a:p>
        </p:txBody>
      </p:sp>
      <p:sp>
        <p:nvSpPr>
          <p:cNvPr id="7" name="S11-text8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침해</a:t>
            </a:r>
            <a:endParaRPr lang="ko-KR" sz="2800" dirty="0"/>
          </a:p>
        </p:txBody>
      </p:sp>
      <p:sp>
        <p:nvSpPr>
          <p:cNvPr id="8" name="S11-text9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존중</a:t>
            </a:r>
            <a:endParaRPr lang="ko-KR" sz="2200" dirty="0"/>
          </a:p>
        </p:txBody>
      </p:sp>
      <p:sp>
        <p:nvSpPr>
          <p:cNvPr id="9" name="S11-text9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침해</a:t>
            </a:r>
            <a:endParaRPr lang="ko-KR" sz="2800" dirty="0"/>
          </a:p>
        </p:txBody>
      </p:sp>
      <p:sp>
        <p:nvSpPr>
          <p:cNvPr id="10" name="S11-text9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</a:t>
            </a:r>
            <a:endParaRPr lang="ko-KR" sz="2200" dirty="0"/>
          </a:p>
        </p:txBody>
      </p:sp>
      <p:sp>
        <p:nvSpPr>
          <p:cNvPr id="11" name="S11-text9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존중</a:t>
            </a:r>
            <a:endParaRPr lang="ko-KR" sz="2800" dirty="0"/>
          </a:p>
        </p:txBody>
      </p:sp>
      <p:sp>
        <p:nvSpPr>
          <p:cNvPr id="12" name="S11-text9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</a:t>
            </a:r>
            <a:endParaRPr lang="ko-KR" sz="2200" dirty="0"/>
          </a:p>
        </p:txBody>
      </p:sp>
      <p:sp>
        <p:nvSpPr>
          <p:cNvPr id="13" name="S11-chip9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 볼 답</a:t>
            </a:r>
            <a:endParaRPr lang="ko-KR" sz="2200" dirty="0"/>
          </a:p>
        </p:txBody>
      </p:sp>
      <p:sp>
        <p:nvSpPr>
          <p:cNvPr id="14" name="S11-text9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괜찮아요”</a:t>
            </a:r>
            <a:endParaRPr lang="ko-KR" sz="2800" dirty="0"/>
          </a:p>
        </p:txBody>
      </p:sp>
      <p:sp>
        <p:nvSpPr>
          <p:cNvPr id="15" name="S11-text9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 있음</a:t>
            </a:r>
            <a:endParaRPr lang="ko-KR" sz="2200" dirty="0"/>
          </a:p>
        </p:txBody>
      </p:sp>
      <p:sp>
        <p:nvSpPr>
          <p:cNvPr id="16" name="S11-text9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“장난이니까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괜찮아요”</a:t>
            </a:r>
            <a:endParaRPr lang="ko-KR" sz="2800" dirty="0"/>
          </a:p>
        </p:txBody>
      </p:sp>
      <p:sp>
        <p:nvSpPr>
          <p:cNvPr id="17" name="S11-text9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생각하기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반에 친구가 와요</a:t>
            </a:r>
            <a:endParaRPr lang="ko-KR" sz="4000" dirty="0"/>
          </a:p>
        </p:txBody>
      </p:sp>
      <p:sp>
        <p:nvSpPr>
          <p:cNvPr id="3" name="S12-text1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휠체어를 타는 친구가 우리 반에 전학 와요.</a:t>
            </a:r>
            <a:endParaRPr lang="ko-KR" sz="2800" dirty="0"/>
          </a:p>
        </p:txBody>
      </p:sp>
      <p:sp>
        <p:nvSpPr>
          <p:cNvPr id="4" name="S12-chip10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10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교실에서 친구가 불편할 수 있는 점 하나는?</a:t>
            </a:r>
            <a:endParaRPr lang="ko-KR" sz="2800" dirty="0"/>
          </a:p>
        </p:txBody>
      </p:sp>
      <p:sp>
        <p:nvSpPr>
          <p:cNvPr id="6" name="S12-chip10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10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반이 할 수 있는 일 두 가지와 그 까닭은?</a:t>
            </a:r>
            <a:endParaRPr lang="ko-KR" sz="2800" dirty="0"/>
          </a:p>
        </p:txBody>
      </p:sp>
      <p:sp>
        <p:nvSpPr>
          <p:cNvPr id="8" name="S12-chip10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10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내가 지킬 인권 존중 약속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7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8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인권은 사람이라면 누구나 태어날 때부터 가지는, 사람답게 살 권리예요.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시설·제도·우리의 행동으로 인권을 지켜요.</a:t>
            </a:r>
            <a:endParaRPr lang="ko-KR" sz="2800" dirty="0"/>
          </a:p>
        </p:txBody>
      </p:sp>
      <p:sp>
        <p:nvSpPr>
          <p:cNvPr id="5" name="S13-chip109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사람의 입장에서 생각하기</a:t>
            </a:r>
            <a:endParaRPr lang="ko-KR" sz="2200" dirty="0"/>
          </a:p>
        </p:txBody>
      </p:sp>
      <p:sp>
        <p:nvSpPr>
          <p:cNvPr id="6" name="S13-chip110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다르다는 까닭으로 차별하기</a:t>
            </a:r>
            <a:endParaRPr lang="ko-KR" sz="2200" dirty="0"/>
          </a:p>
        </p:txBody>
      </p:sp>
      <p:sp>
        <p:nvSpPr>
          <p:cNvPr id="7" name="S13-text111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12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인권의 뜻은?</a:t>
            </a:r>
            <a:endParaRPr lang="ko-KR" sz="2200" dirty="0"/>
          </a:p>
        </p:txBody>
      </p:sp>
      <p:sp>
        <p:nvSpPr>
          <p:cNvPr id="9" name="S13-text113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인권을 지키는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두 가지는?</a:t>
            </a:r>
            <a:endParaRPr lang="ko-KR" sz="2200" dirty="0"/>
          </a:p>
        </p:txBody>
      </p:sp>
      <p:sp>
        <p:nvSpPr>
          <p:cNvPr id="10" name="S13-text114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생활 속 인권 침해의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200" dirty="0"/>
          </a:p>
        </p:txBody>
      </p:sp>
      <p:sp>
        <p:nvSpPr>
          <p:cNvPr id="11" name="S13-text11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법과 규칙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권리란 무엇일까요?</a:t>
            </a:r>
            <a:endParaRPr lang="ko-KR" sz="4000" dirty="0"/>
          </a:p>
        </p:txBody>
      </p:sp>
      <p:sp>
        <p:nvSpPr>
          <p:cNvPr id="3" name="S14-card116"/>
          <p:cNvSpPr/>
          <p:nvPr/>
        </p:nvSpPr>
        <p:spPr>
          <a:xfrm>
            <a:off x="548640" y="1773174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17"/>
          <p:cNvSpPr txBox="1"/>
          <p:nvPr/>
        </p:nvSpPr>
        <p:spPr>
          <a:xfrm>
            <a:off x="822960" y="1910334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마땅히 누릴 수 있는 자격이에요.</a:t>
            </a:r>
            <a:endParaRPr lang="ko-KR" sz="2800" dirty="0"/>
          </a:p>
        </p:txBody>
      </p:sp>
      <p:sp>
        <p:nvSpPr>
          <p:cNvPr id="5" name="S14-card118"/>
          <p:cNvSpPr/>
          <p:nvPr/>
        </p:nvSpPr>
        <p:spPr>
          <a:xfrm>
            <a:off x="548640" y="3181858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19"/>
          <p:cNvSpPr txBox="1"/>
          <p:nvPr/>
        </p:nvSpPr>
        <p:spPr>
          <a:xfrm>
            <a:off x="822960" y="3319018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배울 권리, 쉬는 시간에 쉴 권리</a:t>
            </a:r>
            <a:endParaRPr lang="ko-KR" sz="2800" dirty="0"/>
          </a:p>
        </p:txBody>
      </p:sp>
      <p:sp>
        <p:nvSpPr>
          <p:cNvPr id="7" name="S14-card120"/>
          <p:cNvSpPr/>
          <p:nvPr/>
        </p:nvSpPr>
        <p:spPr>
          <a:xfrm>
            <a:off x="548640" y="4590542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21"/>
          <p:cNvSpPr txBox="1"/>
          <p:nvPr/>
        </p:nvSpPr>
        <p:spPr>
          <a:xfrm>
            <a:off x="822960" y="4727702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권리가 소중하면 다른 사람의 권리도 소중해요.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인권</dc:title>
  <dc:subject>KR22-G05-SOC-RIGHTS-L01</dc:subject>
  <dc:creator>education-ppt</dc:creator>
  <cp:lastModifiedBy>education-ppt</cp:lastModifiedBy>
  <cp:revision>1</cp:revision>
  <dcterms:created xsi:type="dcterms:W3CDTF">2026-10-26T13:16:57Z</dcterms:created>
  <dcterms:modified xsi:type="dcterms:W3CDTF">2026-10-26T13:16:57Z</dcterms:modified>
</cp:coreProperties>
</file>