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008752-23f8-c610-bcb3-2a599483788d}">
          <p14:sldIdLst>
            <p14:sldId id="256"/>
            <p14:sldId id="257"/>
          </p14:sldIdLst>
        </p14:section>
        <p14:section name="개념" id="{d8fb576b-fedf-1a7a-637b-b002df0cf074}">
          <p14:sldIdLst>
            <p14:sldId id="258"/>
            <p14:sldId id="259"/>
            <p14:sldId id="262"/>
          </p14:sldIdLst>
        </p14:section>
        <p14:section name="연습" id="{9f467471-b6ba-297b-cae4-93b5f9ea10d1}">
          <p14:sldIdLst>
            <p14:sldId id="260"/>
            <p14:sldId id="261"/>
            <p14:sldId id="263"/>
            <p14:sldId id="264"/>
          </p14:sldIdLst>
        </p14:section>
        <p14:section name="개념" id="{b6f9c139-af72-921c-8a79-46936811cbbb}">
          <p14:sldIdLst/>
        </p14:section>
        <p14:section name="연습" id="{4c6b0990-2c37-ae54-f077-720763d2b5cb}">
          <p14:sldIdLst/>
        </p14:section>
        <p14:section name="확인" id="{da2195c7-fcb8-4c34-1279-f04f701eb99e}">
          <p14:sldIdLst>
            <p14:sldId id="265"/>
            <p14:sldId id="266"/>
          </p14:sldIdLst>
        </p14:section>
        <p14:section name="정리" id="{7366dd52-98b6-eebe-aec4-0ebc4b159d38}">
          <p14:sldIdLst>
            <p14:sldId id="267"/>
          </p14:sldIdLst>
        </p14:section>
        <p14:section name="보충" id="{2520a50f-8c35-50f0-13d7-a832e547528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권리와생활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경제적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경제적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경제적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 선택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돈으로 더 만족스럽게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쓰려면 어떻게 할까요?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예산을 세우고 저축 계획을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기준표로 비교해 합리적으로 골라요.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공부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것은 많은데 돈이 부족하면 무엇을 해야 하나요?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5,000원에서 3,200원을 쓰면 남는 돈은?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1,500원씩 4주 동안 모으면 얼마일까요?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세워요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돈을 미리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계획한 것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나중을 위해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 두는 돈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필요한 곳에 쓰고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목표를 이뤄요.</a:t>
            </a:r>
            <a:endParaRPr lang="ko-KR" sz="2800" dirty="0"/>
          </a:p>
        </p:txBody>
      </p:sp>
      <p:sp>
        <p:nvSpPr>
          <p:cNvPr id="9" name="S03-figure15" descr="한 주 용돈 5,000원을 10칸 띠(한 칸 500원)로 나타낸 예산: 학용품 2,000원(4칸), 간식 1,000원(2칸), 저축 2,000원(4칸)"/>
          <p:cNvSpPr/>
          <p:nvPr/>
        </p:nvSpPr>
        <p:spPr>
          <a:xfrm>
            <a:off x="1419715" y="2259657"/>
            <a:ext cx="3399826" cy="1359931"/>
          </a:xfrm>
          <a:custGeom>
            <a:avLst/>
            <a:gdLst/>
            <a:ahLst/>
            <a:cxnLst/>
            <a:rect l="l" t="t" r="r" b="b"/>
            <a:pathLst>
              <a:path w="3399826" h="1359931">
                <a:moveTo>
                  <a:pt x="0" y="1359931"/>
                </a:moveTo>
                <a:lnTo>
                  <a:pt x="3399826" y="1359931"/>
                </a:lnTo>
                <a:lnTo>
                  <a:pt x="3399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>
            <a:off x="4819541" y="2259657"/>
            <a:ext cx="1699913" cy="1359931"/>
          </a:xfrm>
          <a:custGeom>
            <a:avLst/>
            <a:gdLst/>
            <a:ahLst/>
            <a:cxnLst/>
            <a:rect l="l" t="t" r="r" b="b"/>
            <a:pathLst>
              <a:path w="1699913" h="1359931">
                <a:moveTo>
                  <a:pt x="0" y="1359931"/>
                </a:moveTo>
                <a:lnTo>
                  <a:pt x="1699913" y="1359931"/>
                </a:lnTo>
                <a:lnTo>
                  <a:pt x="16999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17"/>
          <p:cNvSpPr/>
          <p:nvPr/>
        </p:nvSpPr>
        <p:spPr>
          <a:xfrm>
            <a:off x="6519454" y="2259657"/>
            <a:ext cx="3399826" cy="1359931"/>
          </a:xfrm>
          <a:custGeom>
            <a:avLst/>
            <a:gdLst/>
            <a:ahLst/>
            <a:cxnLst/>
            <a:rect l="l" t="t" r="r" b="b"/>
            <a:pathLst>
              <a:path w="3399826" h="1359931">
                <a:moveTo>
                  <a:pt x="0" y="1359931"/>
                </a:moveTo>
                <a:lnTo>
                  <a:pt x="3399826" y="1359931"/>
                </a:lnTo>
                <a:lnTo>
                  <a:pt x="3399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18"/>
          <p:cNvSpPr/>
          <p:nvPr/>
        </p:nvSpPr>
        <p:spPr>
          <a:xfrm flipV="1">
            <a:off x="2269671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3" name="S03-mark19"/>
          <p:cNvSpPr/>
          <p:nvPr/>
        </p:nvSpPr>
        <p:spPr>
          <a:xfrm flipV="1">
            <a:off x="3119628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4" name="S03-mark20"/>
          <p:cNvSpPr/>
          <p:nvPr/>
        </p:nvSpPr>
        <p:spPr>
          <a:xfrm flipV="1">
            <a:off x="3969585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5" name="S03-mark21"/>
          <p:cNvSpPr/>
          <p:nvPr/>
        </p:nvSpPr>
        <p:spPr>
          <a:xfrm flipV="1">
            <a:off x="5669498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6" name="S03-mark22"/>
          <p:cNvSpPr/>
          <p:nvPr/>
        </p:nvSpPr>
        <p:spPr>
          <a:xfrm flipV="1">
            <a:off x="7369411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7" name="S03-mark23"/>
          <p:cNvSpPr/>
          <p:nvPr/>
        </p:nvSpPr>
        <p:spPr>
          <a:xfrm flipV="1">
            <a:off x="8219367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8" name="S03-mark24"/>
          <p:cNvSpPr/>
          <p:nvPr/>
        </p:nvSpPr>
        <p:spPr>
          <a:xfrm flipV="1">
            <a:off x="9069324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9" name="S03-mark25"/>
          <p:cNvSpPr/>
          <p:nvPr/>
        </p:nvSpPr>
        <p:spPr>
          <a:xfrm>
            <a:off x="1419715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26"/>
          <p:cNvSpPr/>
          <p:nvPr/>
        </p:nvSpPr>
        <p:spPr>
          <a:xfrm>
            <a:off x="3119628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27"/>
          <p:cNvSpPr/>
          <p:nvPr/>
        </p:nvSpPr>
        <p:spPr>
          <a:xfrm>
            <a:off x="4819541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28"/>
          <p:cNvSpPr/>
          <p:nvPr/>
        </p:nvSpPr>
        <p:spPr>
          <a:xfrm>
            <a:off x="6519454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29"/>
          <p:cNvSpPr/>
          <p:nvPr/>
        </p:nvSpPr>
        <p:spPr>
          <a:xfrm>
            <a:off x="8219367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3-mark30"/>
          <p:cNvSpPr/>
          <p:nvPr/>
        </p:nvSpPr>
        <p:spPr>
          <a:xfrm>
            <a:off x="9919281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3-label32"/>
          <p:cNvSpPr txBox="1"/>
          <p:nvPr/>
        </p:nvSpPr>
        <p:spPr>
          <a:xfrm>
            <a:off x="2582418" y="2653872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학용품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</a:t>
            </a:r>
            <a:endParaRPr lang="ko-KR" sz="1800" dirty="0"/>
          </a:p>
        </p:txBody>
      </p:sp>
      <p:sp>
        <p:nvSpPr>
          <p:cNvPr id="26" name="S03-label34"/>
          <p:cNvSpPr txBox="1"/>
          <p:nvPr/>
        </p:nvSpPr>
        <p:spPr>
          <a:xfrm>
            <a:off x="5132288" y="2653872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간식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1,000원</a:t>
            </a:r>
            <a:endParaRPr lang="ko-KR" sz="1800" dirty="0"/>
          </a:p>
        </p:txBody>
      </p:sp>
      <p:sp>
        <p:nvSpPr>
          <p:cNvPr id="27" name="S03-label36"/>
          <p:cNvSpPr txBox="1"/>
          <p:nvPr/>
        </p:nvSpPr>
        <p:spPr>
          <a:xfrm>
            <a:off x="7682157" y="2653872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</a:t>
            </a:r>
            <a:endParaRPr lang="ko-KR" sz="1800" dirty="0"/>
          </a:p>
        </p:txBody>
      </p:sp>
      <p:sp>
        <p:nvSpPr>
          <p:cNvPr id="28" name="S03-label38"/>
          <p:cNvSpPr txBox="1"/>
          <p:nvPr/>
        </p:nvSpPr>
        <p:spPr>
          <a:xfrm>
            <a:off x="1289413" y="3986686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9" name="S03-label40"/>
          <p:cNvSpPr txBox="1"/>
          <p:nvPr/>
        </p:nvSpPr>
        <p:spPr>
          <a:xfrm>
            <a:off x="2694432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ko-KR" sz="1800" dirty="0"/>
          </a:p>
        </p:txBody>
      </p:sp>
      <p:sp>
        <p:nvSpPr>
          <p:cNvPr id="30" name="S03-label42"/>
          <p:cNvSpPr txBox="1"/>
          <p:nvPr/>
        </p:nvSpPr>
        <p:spPr>
          <a:xfrm>
            <a:off x="4394345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ko-KR" sz="1800" dirty="0"/>
          </a:p>
        </p:txBody>
      </p:sp>
      <p:sp>
        <p:nvSpPr>
          <p:cNvPr id="31" name="S03-label44"/>
          <p:cNvSpPr txBox="1"/>
          <p:nvPr/>
        </p:nvSpPr>
        <p:spPr>
          <a:xfrm>
            <a:off x="6094258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</a:t>
            </a:r>
            <a:endParaRPr lang="ko-KR" sz="1800" dirty="0"/>
          </a:p>
        </p:txBody>
      </p:sp>
      <p:sp>
        <p:nvSpPr>
          <p:cNvPr id="32" name="S03-label46"/>
          <p:cNvSpPr txBox="1"/>
          <p:nvPr/>
        </p:nvSpPr>
        <p:spPr>
          <a:xfrm>
            <a:off x="7794171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</a:t>
            </a:r>
            <a:endParaRPr lang="ko-KR" sz="1800" dirty="0"/>
          </a:p>
        </p:txBody>
      </p:sp>
      <p:sp>
        <p:nvSpPr>
          <p:cNvPr id="33" name="S03-label48"/>
          <p:cNvSpPr txBox="1"/>
          <p:nvPr/>
        </p:nvSpPr>
        <p:spPr>
          <a:xfrm>
            <a:off x="9494085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</a:t>
            </a:r>
            <a:endParaRPr lang="ko-KR" sz="1800" dirty="0"/>
          </a:p>
        </p:txBody>
      </p:sp>
      <p:sp>
        <p:nvSpPr>
          <p:cNvPr id="34" name="S03-label50"/>
          <p:cNvSpPr txBox="1"/>
          <p:nvPr/>
        </p:nvSpPr>
        <p:spPr>
          <a:xfrm>
            <a:off x="10380203" y="3986686"/>
            <a:ext cx="6080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(원)</a:t>
            </a:r>
            <a:endParaRPr lang="ko-KR" sz="1800" dirty="0"/>
          </a:p>
        </p:txBody>
      </p:sp>
      <p:sp>
        <p:nvSpPr>
          <p:cNvPr id="35" name="S03-label52"/>
          <p:cNvSpPr txBox="1"/>
          <p:nvPr/>
        </p:nvSpPr>
        <p:spPr>
          <a:xfrm>
            <a:off x="3849842" y="1521812"/>
            <a:ext cx="3639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 용돈 5,000원의 예산(예시)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 계획을 세워요</a:t>
            </a:r>
            <a:endParaRPr lang="ko-KR" sz="40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12,000원짜리 책을 사고 싶어요.</a:t>
            </a:r>
            <a:endParaRPr lang="ko-KR" sz="2800" dirty="0"/>
          </a:p>
        </p:txBody>
      </p:sp>
      <p:sp>
        <p:nvSpPr>
          <p:cNvPr id="4" name="S04-stepno54"/>
          <p:cNvSpPr txBox="1"/>
          <p:nvPr/>
        </p:nvSpPr>
        <p:spPr>
          <a:xfrm>
            <a:off x="548640" y="29138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4-text55"/>
          <p:cNvSpPr txBox="1"/>
          <p:nvPr/>
        </p:nvSpPr>
        <p:spPr>
          <a:xfrm>
            <a:off x="1325880" y="2868168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금액을 정해요.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12,000원</a:t>
            </a:r>
            <a:endParaRPr lang="ko-KR" sz="2200" dirty="0"/>
          </a:p>
        </p:txBody>
      </p:sp>
      <p:sp>
        <p:nvSpPr>
          <p:cNvPr id="6" name="S04-stepno56"/>
          <p:cNvSpPr txBox="1"/>
          <p:nvPr/>
        </p:nvSpPr>
        <p:spPr>
          <a:xfrm>
            <a:off x="548640" y="3760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4-text57"/>
          <p:cNvSpPr txBox="1"/>
          <p:nvPr/>
        </p:nvSpPr>
        <p:spPr>
          <a:xfrm>
            <a:off x="1325880" y="3714496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주에 모을 돈을 정해요.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2,000원</a:t>
            </a:r>
            <a:endParaRPr lang="ko-KR" sz="2200" dirty="0"/>
          </a:p>
        </p:txBody>
      </p:sp>
      <p:sp>
        <p:nvSpPr>
          <p:cNvPr id="8" name="S04-stepno58"/>
          <p:cNvSpPr txBox="1"/>
          <p:nvPr/>
        </p:nvSpPr>
        <p:spPr>
          <a:xfrm>
            <a:off x="548640" y="4606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4-text59"/>
          <p:cNvSpPr txBox="1"/>
          <p:nvPr/>
        </p:nvSpPr>
        <p:spPr>
          <a:xfrm>
            <a:off x="1325880" y="4560824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주 걸릴지 계산해요.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12,000 ÷ 2,000 = 6(주)</a:t>
            </a:r>
            <a:endParaRPr lang="ko-KR" sz="2200" dirty="0"/>
          </a:p>
        </p:txBody>
      </p:sp>
      <p:sp>
        <p:nvSpPr>
          <p:cNvPr id="10" name="S04-stepno60"/>
          <p:cNvSpPr txBox="1"/>
          <p:nvPr/>
        </p:nvSpPr>
        <p:spPr>
          <a:xfrm>
            <a:off x="548640" y="54071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4-text61"/>
          <p:cNvSpPr txBox="1"/>
          <p:nvPr/>
        </p:nvSpPr>
        <p:spPr>
          <a:xfrm>
            <a:off x="1325880" y="54071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기입장에 적으며 지켜요.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예산과 저축을 계산해요</a:t>
            </a:r>
            <a:endParaRPr lang="ko-KR" sz="4000" dirty="0"/>
          </a:p>
        </p:txBody>
      </p:sp>
      <p:sp>
        <p:nvSpPr>
          <p:cNvPr id="3" name="S05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모을 돈 ÷ 한 주에 저축하는 돈 = 걸리는 주</a:t>
            </a:r>
            <a:endParaRPr lang="ko-KR" sz="2800" dirty="0"/>
          </a:p>
        </p:txBody>
      </p:sp>
      <p:sp>
        <p:nvSpPr>
          <p:cNvPr id="5" name="S05-chip6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6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6,000원 가운데 2,500원을 저축하면 쓸 수 있는 돈은?</a:t>
            </a:r>
            <a:endParaRPr lang="ko-KR" sz="2800" dirty="0"/>
          </a:p>
        </p:txBody>
      </p:sp>
      <p:sp>
        <p:nvSpPr>
          <p:cNvPr id="7" name="S05-chip6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6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1,500원씩 저축하면 9,000원을 모으는 데 몇 주?</a:t>
            </a:r>
            <a:endParaRPr lang="ko-KR" sz="2800" dirty="0"/>
          </a:p>
        </p:txBody>
      </p:sp>
      <p:sp>
        <p:nvSpPr>
          <p:cNvPr id="9" name="S05-chip6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6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세우면 좋은 점은?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저축할까요?</a:t>
            </a:r>
            <a:endParaRPr lang="ko-KR" sz="4000" dirty="0"/>
          </a:p>
        </p:txBody>
      </p:sp>
      <p:sp>
        <p:nvSpPr>
          <p:cNvPr id="3" name="S06-card7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7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가람이와 나래는 한 달 뒤에 10,000원짜리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보드게임을 사려고 해요.</a:t>
            </a:r>
            <a:endParaRPr lang="ko-KR" sz="2800" dirty="0"/>
          </a:p>
        </p:txBody>
      </p:sp>
      <p:sp>
        <p:nvSpPr>
          <p:cNvPr id="5" name="S06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방법이 목표를 이루기 쉬울까요? 왜요?</a:t>
            </a:r>
            <a:endParaRPr lang="ko-KR" sz="2800" dirty="0"/>
          </a:p>
        </p:txBody>
      </p:sp>
      <p:sp>
        <p:nvSpPr>
          <p:cNvPr id="7" name="S06-chip74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</a:t>
            </a:r>
            <a:endParaRPr lang="ko-KR" sz="2200" dirty="0"/>
          </a:p>
        </p:txBody>
      </p:sp>
      <p:sp>
        <p:nvSpPr>
          <p:cNvPr id="8" name="S06-text75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“쓰고 남은 돈을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저축할래요.”</a:t>
            </a:r>
            <a:endParaRPr lang="ko-KR" sz="2800" dirty="0"/>
          </a:p>
        </p:txBody>
      </p:sp>
      <p:sp>
        <p:nvSpPr>
          <p:cNvPr id="9" name="S06-chip76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나래</a:t>
            </a:r>
            <a:endParaRPr lang="ko-KR" sz="2200" dirty="0"/>
          </a:p>
        </p:txBody>
      </p:sp>
      <p:sp>
        <p:nvSpPr>
          <p:cNvPr id="10" name="S06-text77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“용돈을 받으면 저축할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돈부터 떼어 놓을래요.”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기준표로 비교해요</a:t>
            </a:r>
            <a:endParaRPr lang="ko-KR" sz="4000" dirty="0"/>
          </a:p>
        </p:txBody>
      </p:sp>
      <p:sp>
        <p:nvSpPr>
          <p:cNvPr id="3" name="S07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나들이 물병 고르기, 예산 15,000원(예시)</a:t>
            </a:r>
            <a:endParaRPr lang="ko-KR" sz="2800" dirty="0"/>
          </a:p>
        </p:txBody>
      </p:sp>
      <p:sp>
        <p:nvSpPr>
          <p:cNvPr id="4" name="S07-card7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점수: 3 좋아요, 2 보통, 1 아쉬워요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안에서 합계가 가장 높은 가를 골라요.</a:t>
            </a:r>
            <a:endParaRPr lang="ko-KR" sz="2800" dirty="0"/>
          </a:p>
        </p:txBody>
      </p:sp>
      <p:graphicFrame>
        <p:nvGraphicFramePr>
          <p:cNvPr id="8" name="S07-table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85314"/>
          <a:ext cx="10515600" cy="914400"/>
        </p:xfrm>
        <a:graphic>
          <a:graphicData uri="http://schemas.openxmlformats.org/drawingml/2006/table">
            <a:tbl>
              <a:tblPr/>
              <a:tblGrid>
                <a:gridCol w="1156716"/>
                <a:gridCol w="1997964"/>
                <a:gridCol w="2628900"/>
                <a:gridCol w="1577340"/>
                <a:gridCol w="1367028"/>
                <a:gridCol w="17876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점수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넘어요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필통을 골라요</a:t>
            </a:r>
            <a:endParaRPr lang="ko-KR" sz="40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생일 선물 필통, 예산 10,000원(예시)</a:t>
            </a:r>
            <a:endParaRPr lang="ko-KR" sz="2800" dirty="0"/>
          </a:p>
        </p:txBody>
      </p:sp>
      <p:sp>
        <p:nvSpPr>
          <p:cNvPr id="4" name="S08-card8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합계를 구해요. ② 무엇을 고를까요? ③ 동생이 디자인을 가장 중요하게 여긴다면?</a:t>
            </a:r>
            <a:endParaRPr lang="ko-KR" sz="2800" dirty="0"/>
          </a:p>
        </p:txBody>
      </p:sp>
      <p:graphicFrame>
        <p:nvGraphicFramePr>
          <p:cNvPr id="9" name="S08-table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8116"/>
          <a:ext cx="10515600" cy="914400"/>
        </p:xfrm>
        <a:graphic>
          <a:graphicData uri="http://schemas.openxmlformats.org/drawingml/2006/table">
            <a:tbl>
              <a:tblPr/>
              <a:tblGrid>
                <a:gridCol w="1156716"/>
                <a:gridCol w="1997964"/>
                <a:gridCol w="2628900"/>
                <a:gridCol w="1577340"/>
                <a:gridCol w="1367028"/>
                <a:gridCol w="17876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점수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넘어요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장보기에서 비교해요</a:t>
            </a:r>
            <a:endParaRPr lang="ko-KR" sz="4000" dirty="0"/>
          </a:p>
        </p:txBody>
      </p:sp>
      <p:sp>
        <p:nvSpPr>
          <p:cNvPr id="3" name="S09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해요.</a:t>
            </a:r>
            <a:endParaRPr lang="ko-KR" sz="2800" dirty="0"/>
          </a:p>
        </p:txBody>
      </p:sp>
      <p:sp>
        <p:nvSpPr>
          <p:cNvPr id="4" name="S09-card8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8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예산 안에서 고르기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기준 두 가지 이상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까닭과 포기한 것</a:t>
            </a:r>
            <a:endParaRPr lang="ko-KR" sz="2800" dirty="0"/>
          </a:p>
        </p:txBody>
      </p:sp>
      <p:sp>
        <p:nvSpPr>
          <p:cNvPr id="6" name="S09-stepno89"/>
          <p:cNvSpPr txBox="1"/>
          <p:nvPr/>
        </p:nvSpPr>
        <p:spPr>
          <a:xfrm>
            <a:off x="548640" y="2451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9-text90"/>
          <p:cNvSpPr txBox="1"/>
          <p:nvPr/>
        </p:nvSpPr>
        <p:spPr>
          <a:xfrm>
            <a:off x="1325880" y="2451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물건과 예산을 정해요.</a:t>
            </a:r>
            <a:endParaRPr lang="ko-KR" sz="2800" dirty="0"/>
          </a:p>
        </p:txBody>
      </p:sp>
      <p:sp>
        <p:nvSpPr>
          <p:cNvPr id="8" name="S09-stepno91"/>
          <p:cNvSpPr txBox="1"/>
          <p:nvPr/>
        </p:nvSpPr>
        <p:spPr>
          <a:xfrm>
            <a:off x="548640" y="3210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9-text92"/>
          <p:cNvSpPr txBox="1"/>
          <p:nvPr/>
        </p:nvSpPr>
        <p:spPr>
          <a:xfrm>
            <a:off x="1325880" y="3164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종류의 물건 2~3개를 찾아요.</a:t>
            </a:r>
            <a:endParaRPr lang="ko-KR" sz="2800" dirty="0"/>
          </a:p>
        </p:txBody>
      </p:sp>
      <p:sp>
        <p:nvSpPr>
          <p:cNvPr id="10" name="S09-stepno9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9-text9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점수를 매겨요.</a:t>
            </a:r>
            <a:endParaRPr lang="ko-KR" sz="2800" dirty="0"/>
          </a:p>
        </p:txBody>
      </p:sp>
      <p:sp>
        <p:nvSpPr>
          <p:cNvPr id="12" name="S09-stepno95"/>
          <p:cNvSpPr txBox="1"/>
          <p:nvPr/>
        </p:nvSpPr>
        <p:spPr>
          <a:xfrm>
            <a:off x="548640" y="4956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09-text96"/>
          <p:cNvSpPr txBox="1"/>
          <p:nvPr/>
        </p:nvSpPr>
        <p:spPr>
          <a:xfrm>
            <a:off x="1325880" y="49103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것과 까닭을 활동지 5에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9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8,000원 가운데 3,000원을 저축하면 쓸 수 있는 돈은?</a:t>
            </a:r>
            <a:endParaRPr lang="ko-KR" sz="2800" dirty="0"/>
          </a:p>
        </p:txBody>
      </p:sp>
      <p:sp>
        <p:nvSpPr>
          <p:cNvPr id="5" name="S10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10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3,000원씩 저축하면 15,000원을 모으는 데 몇 주?</a:t>
            </a:r>
            <a:endParaRPr lang="ko-KR" sz="2800" dirty="0"/>
          </a:p>
        </p:txBody>
      </p:sp>
      <p:sp>
        <p:nvSpPr>
          <p:cNvPr id="7" name="S10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10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예산이란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골라요</a:t>
            </a:r>
            <a:endParaRPr lang="ko-KR" sz="4000" dirty="0"/>
          </a:p>
        </p:txBody>
      </p:sp>
      <p:sp>
        <p:nvSpPr>
          <p:cNvPr id="3" name="S12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사요. 예산 8,000원(예시)</a:t>
            </a:r>
            <a:endParaRPr lang="ko-KR" sz="2800" dirty="0"/>
          </a:p>
        </p:txBody>
      </p:sp>
      <p:sp>
        <p:nvSpPr>
          <p:cNvPr id="4" name="S12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합계를 구해 고르고, 고른 까닭과 포기한 것을 말해요.</a:t>
            </a:r>
            <a:endParaRPr lang="ko-KR" sz="2800" dirty="0"/>
          </a:p>
        </p:txBody>
      </p:sp>
      <p:graphicFrame>
        <p:nvGraphicFramePr>
          <p:cNvPr id="12" name="S12-table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1892808"/>
                <a:gridCol w="2523744"/>
                <a:gridCol w="1577340"/>
                <a:gridCol w="1682496"/>
                <a:gridCol w="15773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점수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 조절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넘어요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세우고 저축할 돈을 먼저 떼어 놓아요.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비교하면 만족이 큰 선택을 할 수 있어요.</a:t>
            </a:r>
            <a:endParaRPr lang="ko-KR" sz="2800" dirty="0"/>
          </a:p>
        </p:txBody>
      </p:sp>
      <p:sp>
        <p:nvSpPr>
          <p:cNvPr id="5" name="S13-chip10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예산 안에서 기준표로 비교하기</a:t>
            </a:r>
            <a:endParaRPr lang="ko-KR" sz="2200" dirty="0"/>
          </a:p>
        </p:txBody>
      </p:sp>
      <p:sp>
        <p:nvSpPr>
          <p:cNvPr id="6" name="S13-chip11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보이는 대로 바로 사기</a:t>
            </a:r>
            <a:endParaRPr lang="ko-KR" sz="2200" dirty="0"/>
          </a:p>
        </p:txBody>
      </p:sp>
      <p:sp>
        <p:nvSpPr>
          <p:cNvPr id="7" name="S13-text11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1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예산이란?</a:t>
            </a:r>
            <a:endParaRPr lang="ko-KR" sz="2200" dirty="0"/>
          </a:p>
        </p:txBody>
      </p:sp>
      <p:sp>
        <p:nvSpPr>
          <p:cNvPr id="9" name="S13-text11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매주 2,000원씩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10,000원 모으면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주?</a:t>
            </a:r>
            <a:endParaRPr lang="ko-KR" sz="2200" dirty="0"/>
          </a:p>
        </p:txBody>
      </p:sp>
      <p:sp>
        <p:nvSpPr>
          <p:cNvPr id="10" name="S13-text11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물건을 고르는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두 가지는?</a:t>
            </a:r>
            <a:endParaRPr lang="ko-KR" sz="2200" dirty="0"/>
          </a:p>
        </p:txBody>
      </p:sp>
      <p:sp>
        <p:nvSpPr>
          <p:cNvPr id="11" name="S13-text11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민주주의의 발전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돈 계산하기</a:t>
            </a:r>
            <a:endParaRPr lang="ko-KR" sz="4000" dirty="0"/>
          </a:p>
        </p:txBody>
      </p:sp>
      <p:sp>
        <p:nvSpPr>
          <p:cNvPr id="3" name="S14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원짜리 돈 카드로 세어 봐요.</a:t>
            </a:r>
            <a:endParaRPr lang="ko-KR" sz="2800" dirty="0"/>
          </a:p>
        </p:txBody>
      </p:sp>
      <p:sp>
        <p:nvSpPr>
          <p:cNvPr id="4" name="S14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2,500원은 천 원 2장과 오백 원 1개예요.</a:t>
            </a:r>
            <a:endParaRPr lang="ko-KR" sz="2800" dirty="0"/>
          </a:p>
        </p:txBody>
      </p:sp>
      <p:sp>
        <p:nvSpPr>
          <p:cNvPr id="6" name="S14-chip1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4-text12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 + 2,500원</a:t>
            </a:r>
            <a:endParaRPr lang="ko-KR" sz="2800" dirty="0"/>
          </a:p>
        </p:txBody>
      </p:sp>
      <p:sp>
        <p:nvSpPr>
          <p:cNvPr id="8" name="S14-chip12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4-text12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10,000원 − 4,500원</a:t>
            </a:r>
            <a:endParaRPr lang="ko-KR" sz="2800" dirty="0"/>
          </a:p>
        </p:txBody>
      </p:sp>
      <p:sp>
        <p:nvSpPr>
          <p:cNvPr id="10" name="S14-chip12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4-text12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2,000원씩 5주 모으면?</a:t>
            </a:r>
            <a:endParaRPr lang="ko-KR" sz="2800" dirty="0"/>
          </a:p>
        </p:txBody>
      </p:sp>
      <p:sp>
        <p:nvSpPr>
          <p:cNvPr id="12" name="S14-chip12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4-text12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8,000원은 2,000원의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배?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경제적 선택</dc:title>
  <dc:subject>KR22-G05-SOC-SPENDING-L01</dc:subject>
  <dc:creator>education-ppt</dc:creator>
  <cp:lastModifiedBy>education-ppt</cp:lastModifiedBy>
  <cp:revision>1</cp:revision>
  <dcterms:created xsi:type="dcterms:W3CDTF">2026-10-26T13:23:21Z</dcterms:created>
  <dcterms:modified xsi:type="dcterms:W3CDTF">2026-10-26T13:23:21Z</dcterms:modified>
</cp:coreProperties>
</file>