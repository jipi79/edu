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1a2f205-6779-5e6c-0843-87310c647bc9}">
          <p14:sldIdLst>
            <p14:sldId id="256"/>
            <p14:sldId id="257"/>
          </p14:sldIdLst>
        </p14:section>
        <p14:section name="개념" id="{5ef19fe4-6ade-70f7-b68e-805671f27699}">
          <p14:sldIdLst>
            <p14:sldId id="258"/>
            <p14:sldId id="261"/>
            <p14:sldId id="262"/>
          </p14:sldIdLst>
        </p14:section>
        <p14:section name="연습" id="{dcd9cbeb-cc8e-33fb-7e90-ebb03093887a}">
          <p14:sldIdLst>
            <p14:sldId id="259"/>
            <p14:sldId id="260"/>
            <p14:sldId id="263"/>
            <p14:sldId id="264"/>
          </p14:sldIdLst>
        </p14:section>
        <p14:section name="개념" id="{9892e98f-73e2-57ae-742b-947c31cc3836}">
          <p14:sldIdLst/>
        </p14:section>
        <p14:section name="연습" id="{6c7b9ade-6812-a8d4-f839-b94eb9a0a2a8}">
          <p14:sldIdLst/>
        </p14:section>
        <p14:section name="확인" id="{b8cdb76c-8b60-256b-d17e-a5eeb063aaf3}">
          <p14:sldIdLst>
            <p14:sldId id="265"/>
            <p14:sldId id="266"/>
          </p14:sldIdLst>
        </p14:section>
        <p14:section name="정리" id="{e29c3e18-0486-25fa-c37f-3f7f6719076e}">
          <p14:sldIdLst>
            <p14:sldId id="267"/>
          </p14:sldIdLst>
        </p14:section>
        <p14:section name="보충" id="{fec0c623-7ce0-af7d-ac22-a34429394e7f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권리와생활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법과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법과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사회·역사 · 법과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법과 규칙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규칙과 법은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다를까요?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규칙과 법의 같은 점과 다른 점을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법이 하는 일과 지켜야 하는 까닭을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인권이란 무엇인가요?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인권을 지키는 시설 한 가지는?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규칙 하나와 그 까닭은?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규칙과 법을 비교해요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점: 모두가 함께 잘 지내기 위한 약속이에요.</a:t>
            </a:r>
            <a:endParaRPr lang="ko-KR" sz="2800" dirty="0"/>
          </a:p>
        </p:txBody>
      </p:sp>
      <p:graphicFrame>
        <p:nvGraphicFramePr>
          <p:cNvPr id="4" name="S03-table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260092"/>
          <a:ext cx="10972800" cy="914400"/>
        </p:xfrm>
        <a:graphic>
          <a:graphicData uri="http://schemas.openxmlformats.org/drawingml/2006/table">
            <a:tbl>
              <a:tblPr/>
              <a:tblGrid>
                <a:gridCol w="2414016"/>
                <a:gridCol w="3730752"/>
                <a:gridCol w="482803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규칙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누가 만들까요?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가족, 학교, 모임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누가 지킬까요?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 모임의 사람들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우리나라의 모든 사람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어기면?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모임 안에서 꾸중이나 벌칙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나라가 정한 벌을 받을 수 있어요.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규칙일까요, 법일까요?</a:t>
            </a:r>
            <a:endParaRPr lang="ko-KR" sz="4000" dirty="0"/>
          </a:p>
        </p:txBody>
      </p:sp>
      <p:sp>
        <p:nvSpPr>
          <p:cNvPr id="3" name="S04-chip1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4-text1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집은 저녁 9시 뒤에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 전화를 쓰지 않아요.</a:t>
            </a:r>
            <a:endParaRPr lang="ko-KR" sz="2800" dirty="0"/>
          </a:p>
        </p:txBody>
      </p:sp>
      <p:sp>
        <p:nvSpPr>
          <p:cNvPr id="5" name="S04-chip14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4-text15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길을 건널 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빨간불에서는 멈춰요.</a:t>
            </a:r>
            <a:endParaRPr lang="ko-KR" sz="2800" dirty="0"/>
          </a:p>
        </p:txBody>
      </p:sp>
      <p:sp>
        <p:nvSpPr>
          <p:cNvPr id="7" name="S04-chip16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4-text17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반은 급식을 먹을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 줄을 서요.</a:t>
            </a:r>
            <a:endParaRPr lang="ko-KR" sz="2800" dirty="0"/>
          </a:p>
        </p:txBody>
      </p:sp>
      <p:sp>
        <p:nvSpPr>
          <p:cNvPr id="9" name="S04-chip18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04-text19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사람의 물건을 허락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없이 가져가면 안 돼요.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법이 아니면 안 지켜도 될까요?</a:t>
            </a:r>
            <a:endParaRPr lang="ko-KR" sz="4000" dirty="0"/>
          </a:p>
        </p:txBody>
      </p:sp>
      <p:sp>
        <p:nvSpPr>
          <p:cNvPr id="3" name="S05-card2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2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 규칙: 미끄럼틀은 위에서 아래로만 타요.</a:t>
            </a:r>
            <a:endParaRPr lang="ko-KR" sz="2800" dirty="0"/>
          </a:p>
        </p:txBody>
      </p:sp>
      <p:sp>
        <p:nvSpPr>
          <p:cNvPr id="5" name="S05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생각이 알맞을까요? 왜 그럴까요?</a:t>
            </a:r>
            <a:endParaRPr lang="ko-KR" sz="2800" dirty="0"/>
          </a:p>
        </p:txBody>
      </p:sp>
      <p:sp>
        <p:nvSpPr>
          <p:cNvPr id="7" name="S05-chip2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5-text2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“법이 아니니까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지켜도 돼요.”</a:t>
            </a:r>
            <a:endParaRPr lang="ko-KR" sz="2800" dirty="0"/>
          </a:p>
        </p:txBody>
      </p:sp>
      <p:sp>
        <p:nvSpPr>
          <p:cNvPr id="9" name="S05-chip2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5-text2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“법은 아니지만 모두의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안전을 위한 약속이라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지켜요.”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법은 어떤 일을 할까요?</a:t>
            </a:r>
            <a:endParaRPr lang="ko-KR" sz="4000" dirty="0"/>
          </a:p>
        </p:txBody>
      </p:sp>
      <p:sp>
        <p:nvSpPr>
          <p:cNvPr id="3" name="S06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법이 있어 모두가 안전하고 편하게 살 수 있어요.</a:t>
            </a:r>
            <a:endParaRPr lang="ko-KR" sz="2800" dirty="0"/>
          </a:p>
        </p:txBody>
      </p:sp>
      <p:sp>
        <p:nvSpPr>
          <p:cNvPr id="5" name="S06-card30"/>
          <p:cNvSpPr/>
          <p:nvPr/>
        </p:nvSpPr>
        <p:spPr>
          <a:xfrm>
            <a:off x="548640" y="2075434"/>
            <a:ext cx="3544824" cy="2295652"/>
          </a:xfrm>
          <a:prstGeom prst="roundRect">
            <a:avLst>
              <a:gd name="adj" fmla="val 478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31"/>
          <p:cNvSpPr txBox="1"/>
          <p:nvPr/>
        </p:nvSpPr>
        <p:spPr>
          <a:xfrm>
            <a:off x="822960" y="2212594"/>
            <a:ext cx="2996184" cy="202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권리를 지켜요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몸과 물건을 함부로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해치지 못하게 해요.</a:t>
            </a:r>
            <a:endParaRPr lang="ko-KR" sz="2800" dirty="0"/>
          </a:p>
        </p:txBody>
      </p:sp>
      <p:sp>
        <p:nvSpPr>
          <p:cNvPr id="7" name="S06-card32"/>
          <p:cNvSpPr/>
          <p:nvPr/>
        </p:nvSpPr>
        <p:spPr>
          <a:xfrm>
            <a:off x="4322064" y="2075434"/>
            <a:ext cx="3544824" cy="2295652"/>
          </a:xfrm>
          <a:prstGeom prst="roundRect">
            <a:avLst>
              <a:gd name="adj" fmla="val 478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33"/>
          <p:cNvSpPr txBox="1"/>
          <p:nvPr/>
        </p:nvSpPr>
        <p:spPr>
          <a:xfrm>
            <a:off x="4596384" y="2212594"/>
            <a:ext cx="2996184" cy="202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질서를 지켜요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신호등처럼 차례와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안전을 지키게 해요.</a:t>
            </a:r>
            <a:endParaRPr lang="ko-KR" sz="2800" dirty="0"/>
          </a:p>
        </p:txBody>
      </p:sp>
      <p:sp>
        <p:nvSpPr>
          <p:cNvPr id="9" name="S06-card34"/>
          <p:cNvSpPr/>
          <p:nvPr/>
        </p:nvSpPr>
        <p:spPr>
          <a:xfrm>
            <a:off x="8095488" y="2075434"/>
            <a:ext cx="3544824" cy="2295652"/>
          </a:xfrm>
          <a:prstGeom prst="roundRect">
            <a:avLst>
              <a:gd name="adj" fmla="val 478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6-cardtext35"/>
          <p:cNvSpPr txBox="1"/>
          <p:nvPr/>
        </p:nvSpPr>
        <p:spPr>
          <a:xfrm>
            <a:off x="8369808" y="2212594"/>
            <a:ext cx="2996184" cy="202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다툼을 해결해요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다툼이 생기면 무엇이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옳은지 정하는 기준이에요.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어린이를 지키는 법</a:t>
            </a:r>
            <a:endParaRPr lang="ko-KR" sz="4000" dirty="0"/>
          </a:p>
        </p:txBody>
      </p:sp>
      <p:sp>
        <p:nvSpPr>
          <p:cNvPr id="3" name="S07-card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법은 어린이의 안전과 배울 권리를 지켜요.</a:t>
            </a:r>
            <a:endParaRPr lang="ko-KR" sz="2800" dirty="0"/>
          </a:p>
        </p:txBody>
      </p:sp>
      <p:sp>
        <p:nvSpPr>
          <p:cNvPr id="5" name="S07-card38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39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어린이 보호 구역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앞에서는 차가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천천히 달려야 해요.</a:t>
            </a:r>
            <a:endParaRPr lang="ko-KR" sz="2800" dirty="0"/>
          </a:p>
        </p:txBody>
      </p:sp>
      <p:sp>
        <p:nvSpPr>
          <p:cNvPr id="7" name="S07-card40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41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 기구 안전 검사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 기구는 정해진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때마다 검사를 받아요.</a:t>
            </a:r>
            <a:endParaRPr lang="ko-KR" sz="2800" dirty="0"/>
          </a:p>
        </p:txBody>
      </p:sp>
      <p:sp>
        <p:nvSpPr>
          <p:cNvPr id="9" name="S07-card42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7-cardtext43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 받는 교육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초등학교와 중학교는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 다닐 수 있어요.</a:t>
            </a:r>
            <a:endParaRPr lang="ko-KR" sz="2800" dirty="0"/>
          </a:p>
        </p:txBody>
      </p:sp>
      <p:sp>
        <p:nvSpPr>
          <p:cNvPr id="11" name="S07-card44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7-cardtext45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어린이 제품 안전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장난감은 안전 검사를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받고 표시를 붙여요.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일을 하는 법일까요?</a:t>
            </a:r>
            <a:endParaRPr lang="ko-KR" sz="4000" dirty="0"/>
          </a:p>
        </p:txBody>
      </p:sp>
      <p:sp>
        <p:nvSpPr>
          <p:cNvPr id="3" name="S08-text4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권리 보호, 질서 유지, 다툼 해결 가운데 골라요.</a:t>
            </a:r>
            <a:endParaRPr lang="ko-KR" sz="2800" dirty="0"/>
          </a:p>
        </p:txBody>
      </p:sp>
      <p:sp>
        <p:nvSpPr>
          <p:cNvPr id="4" name="S08-chip4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8-text48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앞 어린이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 구역</a:t>
            </a:r>
            <a:endParaRPr lang="ko-KR" sz="2800" dirty="0"/>
          </a:p>
        </p:txBody>
      </p:sp>
      <p:sp>
        <p:nvSpPr>
          <p:cNvPr id="6" name="S08-chip49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8-text50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자동차는 길의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오른쪽으로 다녀요.</a:t>
            </a:r>
            <a:endParaRPr lang="ko-KR" sz="2800" dirty="0"/>
          </a:p>
        </p:txBody>
      </p:sp>
      <p:sp>
        <p:nvSpPr>
          <p:cNvPr id="8" name="S08-chip51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8-text52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난 물건 때문에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가게와 다퉜어요.</a:t>
            </a:r>
            <a:endParaRPr lang="ko-KR" sz="2800" dirty="0"/>
          </a:p>
        </p:txBody>
      </p:sp>
      <p:sp>
        <p:nvSpPr>
          <p:cNvPr id="10" name="S08-chip53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08-text54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남을 때리면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돼요.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둘레의 법 찾기</a:t>
            </a:r>
            <a:endParaRPr lang="ko-KR" sz="4000" dirty="0"/>
          </a:p>
        </p:txBody>
      </p:sp>
      <p:sp>
        <p:nvSpPr>
          <p:cNvPr id="3" name="S09-text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함께 찾아요.</a:t>
            </a:r>
            <a:endParaRPr lang="ko-KR" sz="2800" dirty="0"/>
          </a:p>
        </p:txBody>
      </p:sp>
      <p:sp>
        <p:nvSpPr>
          <p:cNvPr id="4" name="S09-card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밖에서는 꼭 어른과 함께 다니고 찻길을 조심해요.</a:t>
            </a:r>
            <a:endParaRPr lang="ko-KR" sz="2800" dirty="0"/>
          </a:p>
        </p:txBody>
      </p:sp>
      <p:sp>
        <p:nvSpPr>
          <p:cNvPr id="6" name="S09-card58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59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표시·표지판 세 가지 찾기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그 법이 지키는 것 말하기</a:t>
            </a:r>
            <a:endParaRPr lang="ko-KR" sz="2800" dirty="0"/>
          </a:p>
        </p:txBody>
      </p:sp>
      <p:sp>
        <p:nvSpPr>
          <p:cNvPr id="8" name="S09-stepno60"/>
          <p:cNvSpPr txBox="1"/>
          <p:nvPr/>
        </p:nvSpPr>
        <p:spPr>
          <a:xfrm>
            <a:off x="548640" y="21346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9" name="S09-text61"/>
          <p:cNvSpPr txBox="1"/>
          <p:nvPr/>
        </p:nvSpPr>
        <p:spPr>
          <a:xfrm>
            <a:off x="1325880" y="2088896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장난감·학용품의 KC 표시를 찾아요.</a:t>
            </a:r>
            <a:endParaRPr lang="ko-KR" sz="2200" dirty="0"/>
          </a:p>
        </p:txBody>
      </p:sp>
      <p:sp>
        <p:nvSpPr>
          <p:cNvPr id="10" name="S09-stepno62"/>
          <p:cNvSpPr txBox="1"/>
          <p:nvPr/>
        </p:nvSpPr>
        <p:spPr>
          <a:xfrm>
            <a:off x="548640" y="29809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1" name="S09-text63"/>
          <p:cNvSpPr txBox="1"/>
          <p:nvPr/>
        </p:nvSpPr>
        <p:spPr>
          <a:xfrm>
            <a:off x="1325880" y="2935224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동네에서 법과 관계있는 표지판을 찾아요.</a:t>
            </a:r>
            <a:endParaRPr lang="ko-KR" sz="2200" dirty="0"/>
          </a:p>
        </p:txBody>
      </p:sp>
      <p:sp>
        <p:nvSpPr>
          <p:cNvPr id="12" name="S09-stepno64"/>
          <p:cNvSpPr txBox="1"/>
          <p:nvPr/>
        </p:nvSpPr>
        <p:spPr>
          <a:xfrm>
            <a:off x="548640" y="37815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3" name="S09-text65"/>
          <p:cNvSpPr txBox="1"/>
          <p:nvPr/>
        </p:nvSpPr>
        <p:spPr>
          <a:xfrm>
            <a:off x="1325880" y="37815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법이 하는 일을 이야기해요.</a:t>
            </a:r>
            <a:endParaRPr lang="ko-KR" sz="2200" dirty="0"/>
          </a:p>
        </p:txBody>
      </p:sp>
      <p:sp>
        <p:nvSpPr>
          <p:cNvPr id="14" name="S09-stepno66"/>
          <p:cNvSpPr txBox="1"/>
          <p:nvPr/>
        </p:nvSpPr>
        <p:spPr>
          <a:xfrm>
            <a:off x="548640" y="44947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5" name="S09-text67"/>
          <p:cNvSpPr txBox="1"/>
          <p:nvPr/>
        </p:nvSpPr>
        <p:spPr>
          <a:xfrm>
            <a:off x="1325880" y="44947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4에 기록해요.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chip6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0-text69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모둠은 돌아가며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발표해요.</a:t>
            </a:r>
            <a:endParaRPr lang="ko-KR" sz="2800" dirty="0"/>
          </a:p>
        </p:txBody>
      </p:sp>
      <p:sp>
        <p:nvSpPr>
          <p:cNvPr id="5" name="S10-chip70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0-text71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자동차는 어린이 보호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구역에서 천천히 달려요.</a:t>
            </a:r>
            <a:endParaRPr lang="ko-KR" sz="2800" dirty="0"/>
          </a:p>
        </p:txBody>
      </p:sp>
      <p:sp>
        <p:nvSpPr>
          <p:cNvPr id="7" name="S10-chip72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0-text73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가족은 일요일마다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청소해요.</a:t>
            </a:r>
            <a:endParaRPr lang="ko-KR" sz="2800" dirty="0"/>
          </a:p>
        </p:txBody>
      </p:sp>
      <p:sp>
        <p:nvSpPr>
          <p:cNvPr id="9" name="S10-chip74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0-text75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규칙과 법의 다른 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법이 없다면?</a:t>
            </a:r>
            <a:endParaRPr lang="ko-KR" sz="4000" dirty="0"/>
          </a:p>
        </p:txBody>
      </p:sp>
      <p:sp>
        <p:nvSpPr>
          <p:cNvPr id="3" name="S12-text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만약 신호등을 지키라는 법이 없다면 어떻게 될까요?</a:t>
            </a:r>
            <a:endParaRPr lang="ko-KR" sz="2800" dirty="0"/>
          </a:p>
        </p:txBody>
      </p:sp>
      <p:sp>
        <p:nvSpPr>
          <p:cNvPr id="4" name="S12-chip77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2-text78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생길 수 있는 일 두 가지는?</a:t>
            </a:r>
            <a:endParaRPr lang="ko-KR" sz="2800" dirty="0"/>
          </a:p>
        </p:txBody>
      </p:sp>
      <p:sp>
        <p:nvSpPr>
          <p:cNvPr id="6" name="S12-chip79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2-text80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법은 어떤 일을 하나요?</a:t>
            </a:r>
            <a:endParaRPr lang="ko-KR" sz="2800" dirty="0"/>
          </a:p>
        </p:txBody>
      </p:sp>
      <p:sp>
        <p:nvSpPr>
          <p:cNvPr id="8" name="S12-chip81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2-text82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법을 지켜야 하는 까닭은?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83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84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규칙은 모임의 약속, 법은 나라가 만든 모든 사람의 약속이에요.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법은 권리를 지키고 질서를 유지하며 다툼을 해결해요.</a:t>
            </a:r>
            <a:endParaRPr lang="ko-KR" sz="2800" dirty="0"/>
          </a:p>
        </p:txBody>
      </p:sp>
      <p:sp>
        <p:nvSpPr>
          <p:cNvPr id="5" name="S13-chip85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나와 모두를 위해 법과 규칙 지키기</a:t>
            </a:r>
            <a:endParaRPr lang="ko-KR" sz="2200" dirty="0"/>
          </a:p>
        </p:txBody>
      </p:sp>
      <p:sp>
        <p:nvSpPr>
          <p:cNvPr id="6" name="S13-chip86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벌이 무서워서만 지키기</a:t>
            </a:r>
            <a:endParaRPr lang="ko-KR" sz="2200" dirty="0"/>
          </a:p>
        </p:txBody>
      </p:sp>
      <p:sp>
        <p:nvSpPr>
          <p:cNvPr id="7" name="S13-text87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88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법은 누가 만들고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지키나요?</a:t>
            </a:r>
            <a:endParaRPr lang="ko-KR" sz="2200" dirty="0"/>
          </a:p>
        </p:txBody>
      </p:sp>
      <p:sp>
        <p:nvSpPr>
          <p:cNvPr id="9" name="S13-text89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법이 하는 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가지는?</a:t>
            </a:r>
            <a:endParaRPr lang="ko-KR" sz="2200" dirty="0"/>
          </a:p>
        </p:txBody>
      </p:sp>
      <p:sp>
        <p:nvSpPr>
          <p:cNvPr id="10" name="S13-text90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어린이를 위한 법의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 하나는?</a:t>
            </a:r>
            <a:endParaRPr lang="ko-KR" sz="2200" dirty="0"/>
          </a:p>
        </p:txBody>
      </p:sp>
      <p:sp>
        <p:nvSpPr>
          <p:cNvPr id="11" name="S13-text9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경제적 선택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인권 다시 보기</a:t>
            </a:r>
            <a:endParaRPr lang="ko-KR" sz="4000" dirty="0"/>
          </a:p>
        </p:txBody>
      </p:sp>
      <p:sp>
        <p:nvSpPr>
          <p:cNvPr id="3" name="S14-card92"/>
          <p:cNvSpPr/>
          <p:nvPr/>
        </p:nvSpPr>
        <p:spPr>
          <a:xfrm>
            <a:off x="548640" y="1773174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93"/>
          <p:cNvSpPr txBox="1"/>
          <p:nvPr/>
        </p:nvSpPr>
        <p:spPr>
          <a:xfrm>
            <a:off x="822960" y="1910334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사람이라면 누구나 가지는, 사람답게 살 권리예요.</a:t>
            </a:r>
            <a:endParaRPr lang="ko-KR" sz="2800" dirty="0"/>
          </a:p>
        </p:txBody>
      </p:sp>
      <p:sp>
        <p:nvSpPr>
          <p:cNvPr id="5" name="S14-card94"/>
          <p:cNvSpPr/>
          <p:nvPr/>
        </p:nvSpPr>
        <p:spPr>
          <a:xfrm>
            <a:off x="548640" y="3181858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95"/>
          <p:cNvSpPr txBox="1"/>
          <p:nvPr/>
        </p:nvSpPr>
        <p:spPr>
          <a:xfrm>
            <a:off x="822960" y="3319018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권리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안전하게 살 권리, 배울 권리, 쉬고 놀 권리</a:t>
            </a:r>
            <a:endParaRPr lang="ko-KR" sz="2800" dirty="0"/>
          </a:p>
        </p:txBody>
      </p:sp>
      <p:sp>
        <p:nvSpPr>
          <p:cNvPr id="7" name="S14-card96"/>
          <p:cNvSpPr/>
          <p:nvPr/>
        </p:nvSpPr>
        <p:spPr>
          <a:xfrm>
            <a:off x="548640" y="4590542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4-cardtext97"/>
          <p:cNvSpPr txBox="1"/>
          <p:nvPr/>
        </p:nvSpPr>
        <p:spPr>
          <a:xfrm>
            <a:off x="822960" y="4727702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인권과 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법은 이런 권리를 지키려고 만든 약속이에요.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사회·역사 법과 규칙</dc:title>
  <dc:subject>KR22-G05-SOC-LAW-L01</dc:subject>
  <dc:creator>education-ppt</dc:creator>
  <cp:lastModifiedBy>education-ppt</cp:lastModifiedBy>
  <cp:revision>1</cp:revision>
  <dcterms:created xsi:type="dcterms:W3CDTF">2026-10-26T13:19:42Z</dcterms:created>
  <dcterms:modified xsi:type="dcterms:W3CDTF">2026-10-26T13:19:42Z</dcterms:modified>
</cp:coreProperties>
</file>