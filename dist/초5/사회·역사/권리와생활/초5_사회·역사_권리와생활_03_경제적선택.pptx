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896530b-0b42-620a-5806-5baea9026271}">
          <p14:sldIdLst>
            <p14:sldId id="256"/>
            <p14:sldId id="257"/>
          </p14:sldIdLst>
        </p14:section>
        <p14:section name="개념" id="{d797415a-94b9-4346-4cd7-9a3b39b71275}">
          <p14:sldIdLst>
            <p14:sldId id="258"/>
            <p14:sldId id="259"/>
            <p14:sldId id="262"/>
          </p14:sldIdLst>
        </p14:section>
        <p14:section name="연습" id="{c790cc9a-e630-82b8-9b66-04b0bf79f7a0}">
          <p14:sldIdLst>
            <p14:sldId id="260"/>
            <p14:sldId id="261"/>
            <p14:sldId id="263"/>
            <p14:sldId id="264"/>
          </p14:sldIdLst>
        </p14:section>
        <p14:section name="개념" id="{7fa015e9-f602-965c-84b8-01741c85e5ed}">
          <p14:sldIdLst/>
        </p14:section>
        <p14:section name="연습" id="{4b383727-29f6-3fee-4e72-8330a30445dd}">
          <p14:sldIdLst/>
        </p14:section>
        <p14:section name="확인" id="{0770df11-02d2-680e-d66b-053d2e7acc81}">
          <p14:sldIdLst>
            <p14:sldId id="265"/>
            <p14:sldId id="266"/>
            <p14:sldId id="267"/>
          </p14:sldIdLst>
        </p14:section>
        <p14:section name="정리" id="{ccf0340a-03ac-0e02-d623-9db9102e9673}">
          <p14:sldIdLst>
            <p14:sldId id="268"/>
          </p14:sldIdLst>
        </p14:section>
        <p14:section name="보충" id="{d16f297f-5070-9477-713e-b06953758ff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돈을 쓰고 나서 만족했던 경험과 후회했던 경험을 떠올리게 합니다.
시간: 약 2분
이렇게 말해 보세요
- “용돈이나 세뱃돈으로 산 물건 가운데 정말 잘 샀다 싶은 것과 후회한 것이 있어? 왜 그랬을까?”
- “오늘은 돈을 쓰기 전에 계획을 세우는 방법(예산, 저축)과, 기준을 정해 비교하며 고르는 방법을 배울 거야.”
예상 답
- “금방 망가져서 후회했어요.” “오래 쓸 수 있어서 좋았어요.”
막히면
- 부모님이 최근에 물건을 비교해서 산 경험을 먼저 들려줍니다.
주의
- 용돈을 받지 않는 아이도 있습니다. ‘만약 한 주에 5,000원이 있다면’처럼 가정해서 해도 됩니다. 오늘 나오는 물건값과 점수는 모두 수업을 위해 정한 예시입니다.
- 집의 실제 수입이나 돈 사정을 이야기할 필요는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확인(선택과 돈 계산)]
목적: 4학년 ‘필요와 선택’에서 배운 희소성과 선택, 그리고 오늘 쓸 돈 계산(덧셈·뺄셈·곱셈)을 확인합니다.
시간: 약 3분
이렇게 말해 보세요
- “4학년 때 원하는 것은 많은데 돈·시간이 부족한 것을 무엇이라고 했지? 그래서 우리는 무엇을 해야 했어?”
- “②, ③은 종이에 계산해도 돼.”
정답
- ① 무엇을 살지 골라야(선택해야) 해요(희소성 때문에).
- ② 1,800원 (5,000 − 3,200 = 1,800)
- ③ 6,000원 (1,500 × 4 = 6,000)
막히면
- ②·③이 어려우면 S14(보충)에서 돈 계산을 먼저 합니다.
주의
- 계산이 느려도 괜찮습니다. 오늘은 계산보다 ‘계획하고 비교해서 고르는 것’이 중심입니다.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예산과 저축의 뜻]
목적: 예산(쓸 돈을 미리 계획한 것)과 저축의 뜻을 알려 주고, 용돈을 꼭 쓸 곳·하고 싶은 것·저축으로 나누는 모습을 보여 줍니다(목표 A).
시간: 약 4분
이렇게 말해 보세요
- “이 띠는 한 주 용돈 5,000원이야. 한 칸은 얼마일까? 학용품, 간식, 저축에 각각 몇 칸씩 나누었어?”
- “세 가지를 더하면 얼마야? 용돈과 같지?”
- “이렇게 돈을 쓰기 전에 어디에 얼마를 쓸지 계획하는 것을 ‘예산’이라고 해.”
예상 답
- “한 칸은 500원이에요.” “2,000원, 1,000원, 2,000원이에요. 더하면 5,000원이에요.”
막히면
- 종이 띠를 10칸으로 접어 직접 색칠하며 나누어 봅니다.
주의
- 예산의 합계가 가진 돈과 같아야 한다는 것을 꼭 확인합니다(2,000 + 1,000 + 2,000 = 5,000).
- 부모님 참고: 어른들은 은행에 저축하면 이자를 받기도 합니다. 오늘은 이자를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저축 계획 시범]
목적: 목표 금액과 한 주에 모을 돈을 정하고 나눗셈으로 걸리는 기간을 구하는 저축 계획을 시범으로 보여 줍니다(목표 A).
시간: 약 3분
이렇게 말해 보세요
- “책값이 12,000원이야. 한 주에 2,000원씩 모으면 몇 주가 걸릴까? 2,000원씩 손가락을 접으며 세어 볼까?”
- “12,000 ÷ 2,000 = 6, 6주야. 한 주에 3,000원씩 모으면 얼마나 빨라질까?”
- “계획대로 모으고 있는지 용돈 기입장에 적으면 확인하기 쉬워.”
예상 답
- “6주요.” “3,000원씩이면 4주예요.”
막히면
- 2,000원, 4,000원, 6,000원… 하고 12,000원까지 뛰어 세며 주 수를 셉니다.
주의
- 12,000 ÷ 3,000 = 4(주)입니다. 한 주에 모으는 돈을 늘리면 쓸 돈은 줄어든다는 것(선택)도 함께 이야기합니다.
- ‘용돈 기입장’은 받은 돈, 쓴 돈, 남은 돈을 날짜별로 적는 공책이라고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예산과 저축 계산]
목적: 예산에서 쓸 돈을 구하고, 저축 계획의 기간을 계산하며, 예산의 좋은 점을 말하는 연습을 합니다(목표 A).
시간: 약 4분
이렇게 말해 보세요
- “①은 용돈에서 저축할 돈을 빼면 돼.”
- “②는 9,000원을 1,500원씩 나누면 몇 번일까?”
정답
- ① 3,500원 (6,000 − 2,500 = 3,500)
- ② 6주 (9,000 ÷ 1,500 = 6)
- ③ 예: 꼭 필요한 데 돈이 모자라지 않아요. 저축으로 목표를 이룰 수 있어요. 충동적으로 쓰는 것을 막아요.
막히면
- ②는 1,500원, 3,000원, 4,500원… 하고 뛰어 세게 합니다.
주의
- ③은 정답이 하나가 아닙니다. 계획의 좋은 점을 자기 말로 말하면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오해 비교(남는 돈 저축)]
목적: 저축은 쓰고 남은 돈으로 하는 것이 아니라 계획에 따라 먼저 떼어 두어야 목표를 이루기 쉽다는 것을 알게 합니다(목표 A, 오해 M1).
시간: 약 2분
이렇게 말해 보세요
- “가람이처럼 하면 저축할 돈이 남을까? 매주 같을까?”
- “나래처럼 먼저 떼어 놓으면 무엇이 좋을까?”
정답
- 나래. 쓰고 남은 돈은 매주 다르거나 없을 수 있어요. 용돈을 받으면 저축할 돈을 먼저 떼어 놓아야 계획대로 모을 수 있어요.
막히면
- “간식을 먼저 사 먹고 나면 돈이 남을까?”라고 장면으로 묻습니다.
주의
- 가람이와 나래는 지어낸 인물입니다. 가람이의 방법이 ‘나쁘다’기보다 목표를 이루기 어렵다는 점에 초점을 둡니다.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기준표로 비교하기 시범(집에서 장보기)]
목적: 집에서 물건을 살 때 기준(값, 튼튼함, 크기)을 정하고 점수를 매긴 기준표로 비교해 예산 안에서 고르는 과정을 부모가 소리 내어 시범을 보입니다(목표 B).
시간: 약 4분
이렇게 말해 보세요
- “나들이에 쓸 물병을 사려고 해. 예산은 15,000원이야. 먼저 예산을 넘는 것은 빼자. 다는 16,000원이라 15,000원보다 비싸지?”
- “가와 나를 세 가지 기준으로 비교해 볼게. 값은 나가 더 싸서 3점, 가는 2점. 튼튼함은 가가 3점, 나는 자주 새서 1점. 크기는 둘 다 2점.”
- “합계는 가가 2 + 3 + 2 = 7점, 나는 3 + 1 + 2 = 6점. 그래서 가를 고를 거야. 나를 고르면 4,000원이 덜 들지만, 튼튼함은 포기해야 해.”
예상 답
- “가가 7점이라 더 높아요.” “나는 싸지만 잘 망가질 것 같아요.”
막히면
- 합계 칸을 가리고 아이가 직접 더해 보게 합니다.
주의
- 물병과 값, 점수는 수업을 위해 정한 예시입니다. 실제 장보기에서는 기준과 점수를 가족이 함께 정합니다.
- 가를 사면 15,000 − 12,000 = 3,000원이 남습니다. 남은 돈을 저축할 수도 있다고 덧붙입니다.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기준표 완성하고 고르기]
목적: 기준표의 합계를 구해 예산 안에서 고르고, 중요하게 여기는 기준이 바뀌면 선택이 달라질 수 있음을 알게 합니다(목표 B).
시간: 약 4분
이렇게 말해 보세요
- “라는 예산 10,000원보다 비싸니까 먼저 빼자. 가, 나, 다의 합계를 구해 볼래?”
- “합계가 가장 높은 것은? 그걸 고르면 무엇을 포기하게 될까?”
- “그런데 동생이 예쁜 디자인을 가장 좋아한다면? 디자인 점수가 가장 높은 것은?”
정답
- ① 가 6점(1 + 3 + 2), 나 7점(3 + 2 + 2), 다 6점(2 + 1 + 3)
- ② 나(예산 안에서 합계가 가장 높음, 10,000 − 6,000 = 4,000원이 남음)
- ③ 다(디자인 3점). 가장 중요한 기준이 바뀌면 선택이 달라질 수 있어요(까닭을 말하면 맞음).
막히면
- 합계는 한 줄씩 손가락으로 짚으며 더합니다. 라를 빼는 까닭(예산)을 먼저 확인합니다.
주의
- ③은 정답이 하나가 아닙니다. ‘무엇을 중요하게 여기는지’에 따라 합리적인 선택이 다를 수 있다는 것이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실제 장보기에서 비교하기(부모와 함께)]
목적: 실제 장보기(마트나 온라인 쇼핑 화면)에서 같은 종류의 물건을 기준표로 비교해 고르는 경험을 하게 합니다(목표 B). 수업 뒤 실제 장보기 때 해도 됩니다.
시간: 약 3분
이렇게 말해 보세요
- “다음에 장 보러 갈 때 휴지(우유, 공책)를 함께 골라 볼까? 예산은 얼마로 할까?”
- “어떤 기준으로 비교하면 좋을까? 값 말고 또 무엇을 볼까?”
예상 답
- “양이 많은지, 튼튼한지 봐요.” “유통 기한도 봐요.”
정답
- 기준: 예산을 정하고, 같은 종류의 물건을 두 개 이상 기준 두 가지 이상으로 비교해 점수를 매기며, 예산 안에서 고른 까닭과 포기한 것을 말하면 잘한 것입니다. 물건과 값은 집마다 다릅니다.
막히면
- 처음에는 부모님이 기준을 하나 정해 주고, 아이가 하나를 더 정하게 합니다.
주의
- 온라인 쇼핑 화면을 볼 때는 부모님이 함께 보고, 아이가 결제하지 않도록 합니다. 광고 문구보다 기준으로 비교하게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 보기(예산과 저축 계획)]
목적: 도움 없이 예산에서 쓸 돈을 구하고, 저축 계획의 기간을 계산하며, 예산의 뜻을 말하는지 확인합니다(목표 A).
시간: 약 4분
이렇게 말해 보세요
- “이번에는 혼자 해 볼래? 계산은 종이에 해도 돼.”
정답
- ① 5,000원 (8,000 − 3,000 = 5,000)
- ② 5주 (15,000 ÷ 3,000 = 5)
- ③ 쓸 돈을 미리 계획한 것(어디에 얼마를 쓸지 미리 정한 것)
막히면
- ②는 3,000원씩 뛰어 세게 합니다. 도움을 받아 풀었다면 기록표에 ‘도움’으로 표시합니다.
주의
- 정답 확인은 다음 장(S11)에서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 답과 같아? ②에서 12주라고 했다면 어떤 계산을 한 걸까?”
예상 답
- “빼기를 했어요. 나누기를 해야 해요.”
정답
- ① 5,000원 ② 5주 ③ 쓸 돈을 미리 계획한 것
막히면
- S04를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확인(기준표로 고르기)]
목적: 처음 보는 기준표에서 예산을 넘는 것을 빼고 합계를 구해 고르며, 까닭과 포기한 것을 말하는지 확인합니다(목표 B).
시간: 약 3분
이렇게 말해 보세요
- “혼자 해 볼래? 먼저 예산을 넘는 것을 빼고, 합계를 구해서 골라 봐. 왜 골랐는지, 무엇을 포기했는지도 말해 줘.”
정답
- 다는 9,000원이라 예산 8,000원을 넘어서 빼요. 가 6점(3 + 2 + 1), 나 8점(2 + 3 + 3).
- 예: 나를 골라요. 예산 안이고 합계가 가장 높아요(튼튼하고 길이를 맞출 수 있어요). 포기한 것은 가를 샀다면 더 남았을 2,000원(7,000 − 5,000)이에요. 나를 사면 8,000 − 7,000 = 1,000원이 남아요.
- 기준: 예산을 넘는 다를 빼고, 합계를 바르게 구하며, 기준을 들어 고른 까닭과 포기한 것을 말하면 맞음. 값을 가장 중요하게 여겨 가를 고르고 그 까닭을 말해도 맞음.
막히면
- “예산이 얼마였지? 다는 살 수 있어?”부터 묻습니다. 그래도 어려우면 S07을 보여 주고 기록표에 ‘도움’으로 적습니다.
주의
- 선택에는 정답이 하나만 있는 것이 아닙니다. 기준과 계산이 맞고 까닭을 말하는지를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“돈을 쓰기 전에 무엇을 하면 좋을까? 물건을 고를 때는 어떻게 할까?”
예상 답
- “예산을 세워요. 기준을 정하고 비교해요.”
정답
- ① 쓸 돈을 미리 계획한 것 ② 5주 (10,000 ÷ 2,000 = 5) ③ 예: 값, 튼튼함(품질), 쓰임새, 디자인 가운데 두 가지
막히면
- S03, S04, S07을 다시 보여 줍니다.
주의
- 다음에 장을 보거나 용돈을 쓸 때 오늘 배운 기준표를 함께 써 보면 좋은 복습이 됩니다. 다음 차시는 6학년 사회의 첫 차시입니다.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보충(돈 계산)]
목적: S02의 돈 계산이 흔들리면 돈 카드(종이)나 실제 돈으로 덧셈·뺄셈·곱셈·나눗셈을 다시 연습합니다.
시간: 약 5분
이렇게 말해 보세요
- “종이에 ‘1,000원’ 카드 열 장과 ‘500원’ 카드 두 장을 만들어 볼까? 카드를 놓으며 세어 보자.”
- “③은 2,000원을 다섯 번 놓아 볼래? ④는 8,000원을 2,000원씩 묶으면 몇 묶음일까?”
정답
- ① 5,500원
- ② 5,500원
- ③ 10,000원 (2,000 × 5)
- ④ 4배 (8,000 ÷ 2,000 = 4)
막히면
- 천 원 카드만으로 ‘천, 이천, 삼천…’ 하고 세는 것부터 합니다.
주의
- 계획상 이 차시의 선수 차시는 ‘법과 규칙’(KR22-G05-SOC-LAW-L01)이지만, 오늘 내용과 직접 이어지는 것은 4학년 ‘필요와 선택’(KR22-G04-SOC-SCARCITY-L01)입니다. 희소성과 선택이 흔들리면 그 차시를 먼저 합니다.
- 돈 계산이 많이 어려우면 3학년 수학 ‘세 자리 수의 덧셈’(KR22-G03-MAT-ADD3D-L01)·‘세 자리 수의 뺄셈’(KR22-G03-MAT-SUB3D-L01)부터 다시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권리와생활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경제적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경제적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경제적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경제적 선택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돈으로 더 만족스럽게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쓰려면 어떻게 할까요?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예산을 세우고 저축 계획을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기준표로 비교해 합리적으로 골라요.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공부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것은 많은데 돈이 부족하면 무엇을 해야 하나요?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5,000원에서 3,200원을 쓰면 남는 돈은?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1,500원씩 4주 동안 모으면 얼마일까요?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예산을 세워요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돈을 미리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계획한 것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4322064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4596384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나중을 위해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모아 두는 돈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8095488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8369808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필요한 곳에 쓰고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목표를 이뤄요.</a:t>
            </a:r>
            <a:endParaRPr lang="ko-KR" sz="2800" dirty="0"/>
          </a:p>
        </p:txBody>
      </p:sp>
      <p:sp>
        <p:nvSpPr>
          <p:cNvPr id="9" name="S03-figure15" descr="한 주 용돈 5,000원을 10칸 띠(한 칸 500원)로 나타낸 예산: 학용품 2,000원(4칸), 간식 1,000원(2칸), 저축 2,000원(4칸)"/>
          <p:cNvSpPr/>
          <p:nvPr/>
        </p:nvSpPr>
        <p:spPr>
          <a:xfrm>
            <a:off x="1419715" y="2259657"/>
            <a:ext cx="3399826" cy="1359931"/>
          </a:xfrm>
          <a:custGeom>
            <a:avLst/>
            <a:gdLst/>
            <a:ahLst/>
            <a:cxnLst/>
            <a:rect l="l" t="t" r="r" b="b"/>
            <a:pathLst>
              <a:path w="3399826" h="1359931">
                <a:moveTo>
                  <a:pt x="0" y="1359931"/>
                </a:moveTo>
                <a:lnTo>
                  <a:pt x="3399826" y="1359931"/>
                </a:lnTo>
                <a:lnTo>
                  <a:pt x="3399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BE3D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mark16"/>
          <p:cNvSpPr/>
          <p:nvPr/>
        </p:nvSpPr>
        <p:spPr>
          <a:xfrm>
            <a:off x="4819541" y="2259657"/>
            <a:ext cx="1699913" cy="1359931"/>
          </a:xfrm>
          <a:custGeom>
            <a:avLst/>
            <a:gdLst/>
            <a:ahLst/>
            <a:cxnLst/>
            <a:rect l="l" t="t" r="r" b="b"/>
            <a:pathLst>
              <a:path w="1699913" h="1359931">
                <a:moveTo>
                  <a:pt x="0" y="1359931"/>
                </a:moveTo>
                <a:lnTo>
                  <a:pt x="1699913" y="1359931"/>
                </a:lnTo>
                <a:lnTo>
                  <a:pt x="169991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FC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mark17"/>
          <p:cNvSpPr/>
          <p:nvPr/>
        </p:nvSpPr>
        <p:spPr>
          <a:xfrm>
            <a:off x="6519454" y="2259657"/>
            <a:ext cx="3399826" cy="1359931"/>
          </a:xfrm>
          <a:custGeom>
            <a:avLst/>
            <a:gdLst/>
            <a:ahLst/>
            <a:cxnLst/>
            <a:rect l="l" t="t" r="r" b="b"/>
            <a:pathLst>
              <a:path w="3399826" h="1359931">
                <a:moveTo>
                  <a:pt x="0" y="1359931"/>
                </a:moveTo>
                <a:lnTo>
                  <a:pt x="3399826" y="1359931"/>
                </a:lnTo>
                <a:lnTo>
                  <a:pt x="3399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FE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mark18"/>
          <p:cNvSpPr/>
          <p:nvPr/>
        </p:nvSpPr>
        <p:spPr>
          <a:xfrm flipV="1">
            <a:off x="2269671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3" name="S03-mark19"/>
          <p:cNvSpPr/>
          <p:nvPr/>
        </p:nvSpPr>
        <p:spPr>
          <a:xfrm flipV="1">
            <a:off x="3119628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4" name="S03-mark20"/>
          <p:cNvSpPr/>
          <p:nvPr/>
        </p:nvSpPr>
        <p:spPr>
          <a:xfrm flipV="1">
            <a:off x="3969585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5" name="S03-mark21"/>
          <p:cNvSpPr/>
          <p:nvPr/>
        </p:nvSpPr>
        <p:spPr>
          <a:xfrm flipV="1">
            <a:off x="5669498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6" name="S03-mark22"/>
          <p:cNvSpPr/>
          <p:nvPr/>
        </p:nvSpPr>
        <p:spPr>
          <a:xfrm flipV="1">
            <a:off x="7369411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7" name="S03-mark23"/>
          <p:cNvSpPr/>
          <p:nvPr/>
        </p:nvSpPr>
        <p:spPr>
          <a:xfrm flipV="1">
            <a:off x="8219367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8" name="S03-mark24"/>
          <p:cNvSpPr/>
          <p:nvPr/>
        </p:nvSpPr>
        <p:spPr>
          <a:xfrm flipV="1">
            <a:off x="9069324" y="2259657"/>
            <a:ext cx="0" cy="1359931"/>
          </a:xfrm>
          <a:prstGeom prst="line">
            <a:avLst/>
          </a:prstGeom>
          <a:noFill/>
          <a:ln w="9525">
            <a:solidFill>
              <a:srgbClr val="B8C2CC"/>
            </a:solidFill>
            <a:prstDash val="dash"/>
          </a:ln>
        </p:spPr>
      </p:sp>
      <p:sp>
        <p:nvSpPr>
          <p:cNvPr id="19" name="S03-mark25"/>
          <p:cNvSpPr/>
          <p:nvPr/>
        </p:nvSpPr>
        <p:spPr>
          <a:xfrm>
            <a:off x="1419715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3-mark26"/>
          <p:cNvSpPr/>
          <p:nvPr/>
        </p:nvSpPr>
        <p:spPr>
          <a:xfrm>
            <a:off x="3119628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3-mark27"/>
          <p:cNvSpPr/>
          <p:nvPr/>
        </p:nvSpPr>
        <p:spPr>
          <a:xfrm>
            <a:off x="4819541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3-mark28"/>
          <p:cNvSpPr/>
          <p:nvPr/>
        </p:nvSpPr>
        <p:spPr>
          <a:xfrm>
            <a:off x="6519454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3" name="S03-mark29"/>
          <p:cNvSpPr/>
          <p:nvPr/>
        </p:nvSpPr>
        <p:spPr>
          <a:xfrm>
            <a:off x="8219367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3-mark30"/>
          <p:cNvSpPr/>
          <p:nvPr/>
        </p:nvSpPr>
        <p:spPr>
          <a:xfrm>
            <a:off x="9919281" y="3619587"/>
            <a:ext cx="0" cy="169991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3-label32"/>
          <p:cNvSpPr txBox="1"/>
          <p:nvPr/>
        </p:nvSpPr>
        <p:spPr>
          <a:xfrm>
            <a:off x="2582418" y="2653872"/>
            <a:ext cx="10744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학용품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</a:t>
            </a:r>
            <a:endParaRPr lang="ko-KR" sz="1800" dirty="0"/>
          </a:p>
        </p:txBody>
      </p:sp>
      <p:sp>
        <p:nvSpPr>
          <p:cNvPr id="26" name="S03-label34"/>
          <p:cNvSpPr txBox="1"/>
          <p:nvPr/>
        </p:nvSpPr>
        <p:spPr>
          <a:xfrm>
            <a:off x="5132288" y="2653872"/>
            <a:ext cx="10744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간식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1,000원</a:t>
            </a:r>
            <a:endParaRPr lang="ko-KR" sz="1800" dirty="0"/>
          </a:p>
        </p:txBody>
      </p:sp>
      <p:sp>
        <p:nvSpPr>
          <p:cNvPr id="27" name="S03-label36"/>
          <p:cNvSpPr txBox="1"/>
          <p:nvPr/>
        </p:nvSpPr>
        <p:spPr>
          <a:xfrm>
            <a:off x="7682157" y="2653872"/>
            <a:ext cx="10744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</a:t>
            </a:r>
            <a:endParaRPr lang="ko-KR" sz="1800" dirty="0"/>
          </a:p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</a:t>
            </a:r>
            <a:endParaRPr lang="ko-KR" sz="1800" dirty="0"/>
          </a:p>
        </p:txBody>
      </p:sp>
      <p:sp>
        <p:nvSpPr>
          <p:cNvPr id="28" name="S03-label38"/>
          <p:cNvSpPr txBox="1"/>
          <p:nvPr/>
        </p:nvSpPr>
        <p:spPr>
          <a:xfrm>
            <a:off x="1289413" y="3986686"/>
            <a:ext cx="2606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29" name="S03-label40"/>
          <p:cNvSpPr txBox="1"/>
          <p:nvPr/>
        </p:nvSpPr>
        <p:spPr>
          <a:xfrm>
            <a:off x="2694432" y="3986686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endParaRPr lang="ko-KR" sz="1800" dirty="0"/>
          </a:p>
        </p:txBody>
      </p:sp>
      <p:sp>
        <p:nvSpPr>
          <p:cNvPr id="30" name="S03-label42"/>
          <p:cNvSpPr txBox="1"/>
          <p:nvPr/>
        </p:nvSpPr>
        <p:spPr>
          <a:xfrm>
            <a:off x="4394345" y="3986686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</a:t>
            </a:r>
            <a:endParaRPr lang="ko-KR" sz="1800" dirty="0"/>
          </a:p>
        </p:txBody>
      </p:sp>
      <p:sp>
        <p:nvSpPr>
          <p:cNvPr id="31" name="S03-label44"/>
          <p:cNvSpPr txBox="1"/>
          <p:nvPr/>
        </p:nvSpPr>
        <p:spPr>
          <a:xfrm>
            <a:off x="6094258" y="3986686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</a:t>
            </a:r>
            <a:endParaRPr lang="ko-KR" sz="1800" dirty="0"/>
          </a:p>
        </p:txBody>
      </p:sp>
      <p:sp>
        <p:nvSpPr>
          <p:cNvPr id="32" name="S03-label46"/>
          <p:cNvSpPr txBox="1"/>
          <p:nvPr/>
        </p:nvSpPr>
        <p:spPr>
          <a:xfrm>
            <a:off x="7794171" y="3986686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</a:t>
            </a:r>
            <a:endParaRPr lang="ko-KR" sz="1800" dirty="0"/>
          </a:p>
        </p:txBody>
      </p:sp>
      <p:sp>
        <p:nvSpPr>
          <p:cNvPr id="33" name="S03-label48"/>
          <p:cNvSpPr txBox="1"/>
          <p:nvPr/>
        </p:nvSpPr>
        <p:spPr>
          <a:xfrm>
            <a:off x="9494085" y="3986686"/>
            <a:ext cx="8503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</a:t>
            </a:r>
            <a:endParaRPr lang="ko-KR" sz="1800" dirty="0"/>
          </a:p>
        </p:txBody>
      </p:sp>
      <p:sp>
        <p:nvSpPr>
          <p:cNvPr id="34" name="S03-label50"/>
          <p:cNvSpPr txBox="1"/>
          <p:nvPr/>
        </p:nvSpPr>
        <p:spPr>
          <a:xfrm>
            <a:off x="10380203" y="3986686"/>
            <a:ext cx="6080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(원)</a:t>
            </a:r>
            <a:endParaRPr lang="ko-KR" sz="1800" dirty="0"/>
          </a:p>
        </p:txBody>
      </p:sp>
      <p:sp>
        <p:nvSpPr>
          <p:cNvPr id="35" name="S03-label52"/>
          <p:cNvSpPr txBox="1"/>
          <p:nvPr/>
        </p:nvSpPr>
        <p:spPr>
          <a:xfrm>
            <a:off x="3849842" y="1521812"/>
            <a:ext cx="36393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주 용돈 5,000원의 예산(예시)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 계획을 세워요</a:t>
            </a:r>
            <a:endParaRPr lang="ko-KR" sz="4000" dirty="0"/>
          </a:p>
        </p:txBody>
      </p:sp>
      <p:sp>
        <p:nvSpPr>
          <p:cNvPr id="3" name="S04-text53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12,000원짜리 책을 사고 싶어요.</a:t>
            </a:r>
            <a:endParaRPr lang="ko-KR" sz="2800" dirty="0"/>
          </a:p>
        </p:txBody>
      </p:sp>
      <p:sp>
        <p:nvSpPr>
          <p:cNvPr id="4" name="S04-stepno54"/>
          <p:cNvSpPr txBox="1"/>
          <p:nvPr/>
        </p:nvSpPr>
        <p:spPr>
          <a:xfrm>
            <a:off x="548640" y="29138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4-text55"/>
          <p:cNvSpPr txBox="1"/>
          <p:nvPr/>
        </p:nvSpPr>
        <p:spPr>
          <a:xfrm>
            <a:off x="1325880" y="2868168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금액을 정해요.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12,000원</a:t>
            </a:r>
            <a:endParaRPr lang="ko-KR" sz="2200" dirty="0"/>
          </a:p>
        </p:txBody>
      </p:sp>
      <p:sp>
        <p:nvSpPr>
          <p:cNvPr id="6" name="S04-stepno56"/>
          <p:cNvSpPr txBox="1"/>
          <p:nvPr/>
        </p:nvSpPr>
        <p:spPr>
          <a:xfrm>
            <a:off x="548640" y="37602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4-text57"/>
          <p:cNvSpPr txBox="1"/>
          <p:nvPr/>
        </p:nvSpPr>
        <p:spPr>
          <a:xfrm>
            <a:off x="1325880" y="3714496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주에 모을 돈을 정해요.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2,000원</a:t>
            </a:r>
            <a:endParaRPr lang="ko-KR" sz="2200" dirty="0"/>
          </a:p>
        </p:txBody>
      </p:sp>
      <p:sp>
        <p:nvSpPr>
          <p:cNvPr id="8" name="S04-stepno58"/>
          <p:cNvSpPr txBox="1"/>
          <p:nvPr/>
        </p:nvSpPr>
        <p:spPr>
          <a:xfrm>
            <a:off x="548640" y="46065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4-text59"/>
          <p:cNvSpPr txBox="1"/>
          <p:nvPr/>
        </p:nvSpPr>
        <p:spPr>
          <a:xfrm>
            <a:off x="1325880" y="4560824"/>
            <a:ext cx="1031443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주 걸릴지 계산해요.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12,000 ÷ 2,000 = 6(주)</a:t>
            </a:r>
            <a:endParaRPr lang="ko-KR" sz="2200" dirty="0"/>
          </a:p>
        </p:txBody>
      </p:sp>
      <p:sp>
        <p:nvSpPr>
          <p:cNvPr id="10" name="S04-stepno60"/>
          <p:cNvSpPr txBox="1"/>
          <p:nvPr/>
        </p:nvSpPr>
        <p:spPr>
          <a:xfrm>
            <a:off x="548640" y="54071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4-text61"/>
          <p:cNvSpPr txBox="1"/>
          <p:nvPr/>
        </p:nvSpPr>
        <p:spPr>
          <a:xfrm>
            <a:off x="1325880" y="54071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기입장에 적으며 지켜요.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예산과 저축을 계산해요</a:t>
            </a:r>
            <a:endParaRPr lang="ko-KR" sz="4000" dirty="0"/>
          </a:p>
        </p:txBody>
      </p:sp>
      <p:sp>
        <p:nvSpPr>
          <p:cNvPr id="3" name="S05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모을 돈 ÷ 한 주에 저축하는 돈 = 걸리는 주</a:t>
            </a:r>
            <a:endParaRPr lang="ko-KR" sz="2800" dirty="0"/>
          </a:p>
        </p:txBody>
      </p:sp>
      <p:sp>
        <p:nvSpPr>
          <p:cNvPr id="5" name="S05-chip6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text65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6,000원 가운데 2,500원을 저축하면 쓸 수 있는 돈은?</a:t>
            </a:r>
            <a:endParaRPr lang="ko-KR" sz="2800" dirty="0"/>
          </a:p>
        </p:txBody>
      </p:sp>
      <p:sp>
        <p:nvSpPr>
          <p:cNvPr id="7" name="S05-chip6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text67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1,500원씩 저축하면 9,000원을 모으는 데 몇 주?</a:t>
            </a:r>
            <a:endParaRPr lang="ko-KR" sz="2800" dirty="0"/>
          </a:p>
        </p:txBody>
      </p:sp>
      <p:sp>
        <p:nvSpPr>
          <p:cNvPr id="9" name="S05-chip6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text69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예산을 세우면 좋은 점은?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저축할까요?</a:t>
            </a:r>
            <a:endParaRPr lang="ko-KR" sz="4000" dirty="0"/>
          </a:p>
        </p:txBody>
      </p:sp>
      <p:sp>
        <p:nvSpPr>
          <p:cNvPr id="3" name="S06-card7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7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가람이와 나래는 한 달 뒤에 10,000원짜리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보드게임을 사려고 해요.</a:t>
            </a:r>
            <a:endParaRPr lang="ko-KR" sz="2800" dirty="0"/>
          </a:p>
        </p:txBody>
      </p:sp>
      <p:sp>
        <p:nvSpPr>
          <p:cNvPr id="5" name="S06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방법이 목표를 이루기 쉬울까요? 왜요?</a:t>
            </a:r>
            <a:endParaRPr lang="ko-KR" sz="2800" dirty="0"/>
          </a:p>
        </p:txBody>
      </p:sp>
      <p:sp>
        <p:nvSpPr>
          <p:cNvPr id="7" name="S06-chip74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가람</a:t>
            </a:r>
            <a:endParaRPr lang="ko-KR" sz="2200" dirty="0"/>
          </a:p>
        </p:txBody>
      </p:sp>
      <p:sp>
        <p:nvSpPr>
          <p:cNvPr id="8" name="S06-text75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“쓰고 남은 돈을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저축할래요.”</a:t>
            </a:r>
            <a:endParaRPr lang="ko-KR" sz="2800" dirty="0"/>
          </a:p>
        </p:txBody>
      </p:sp>
      <p:sp>
        <p:nvSpPr>
          <p:cNvPr id="9" name="S06-chip76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나래</a:t>
            </a:r>
            <a:endParaRPr lang="ko-KR" sz="2200" dirty="0"/>
          </a:p>
        </p:txBody>
      </p:sp>
      <p:sp>
        <p:nvSpPr>
          <p:cNvPr id="10" name="S06-text77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“용돈을 받으면 저축할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돈부터 떼어 놓을래요.”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기준표로 비교해요</a:t>
            </a:r>
            <a:endParaRPr lang="ko-KR" sz="4000" dirty="0"/>
          </a:p>
        </p:txBody>
      </p:sp>
      <p:sp>
        <p:nvSpPr>
          <p:cNvPr id="3" name="S07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나들이 물병 고르기, 예산 15,000원(예시)</a:t>
            </a:r>
            <a:endParaRPr lang="ko-KR" sz="2800" dirty="0"/>
          </a:p>
        </p:txBody>
      </p:sp>
      <p:sp>
        <p:nvSpPr>
          <p:cNvPr id="4" name="S07-card7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8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점수: 3 좋아요, 2 보통, 1 아쉬워요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안에서 합계가 가장 높은 가를 골라요.</a:t>
            </a:r>
            <a:endParaRPr lang="ko-KR" sz="2800" dirty="0"/>
          </a:p>
        </p:txBody>
      </p:sp>
      <p:graphicFrame>
        <p:nvGraphicFramePr>
          <p:cNvPr id="8" name="S07-table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85314"/>
          <a:ext cx="10515600" cy="914400"/>
        </p:xfrm>
        <a:graphic>
          <a:graphicData uri="http://schemas.openxmlformats.org/drawingml/2006/table">
            <a:tbl>
              <a:tblPr/>
              <a:tblGrid>
                <a:gridCol w="1156716"/>
                <a:gridCol w="1997964"/>
                <a:gridCol w="2628900"/>
                <a:gridCol w="1577340"/>
                <a:gridCol w="1367028"/>
                <a:gridCol w="17876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 점수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튼튼함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예산을 넘어요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필통을 골라요</a:t>
            </a:r>
            <a:endParaRPr lang="ko-KR" sz="4000" dirty="0"/>
          </a:p>
        </p:txBody>
      </p:sp>
      <p:sp>
        <p:nvSpPr>
          <p:cNvPr id="3" name="S08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 생일 선물 필통, 예산 10,000원(예시)</a:t>
            </a:r>
            <a:endParaRPr lang="ko-KR" sz="2800" dirty="0"/>
          </a:p>
        </p:txBody>
      </p:sp>
      <p:sp>
        <p:nvSpPr>
          <p:cNvPr id="4" name="S08-card8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합계를 구해요. ② 무엇을 고를까요? ③ 동생이 디자인을 가장 중요하게 여긴다면?</a:t>
            </a:r>
            <a:endParaRPr lang="ko-KR" sz="2800" dirty="0"/>
          </a:p>
        </p:txBody>
      </p:sp>
      <p:graphicFrame>
        <p:nvGraphicFramePr>
          <p:cNvPr id="9" name="S08-table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98116"/>
          <a:ext cx="10515600" cy="914400"/>
        </p:xfrm>
        <a:graphic>
          <a:graphicData uri="http://schemas.openxmlformats.org/drawingml/2006/table">
            <a:tbl>
              <a:tblPr/>
              <a:tblGrid>
                <a:gridCol w="1156716"/>
                <a:gridCol w="1997964"/>
                <a:gridCol w="2628900"/>
                <a:gridCol w="1577340"/>
                <a:gridCol w="1367028"/>
                <a:gridCol w="17876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 점수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튼튼함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예산을 넘어요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장보기에서 비교해요</a:t>
            </a:r>
            <a:endParaRPr lang="ko-KR" sz="4000" dirty="0"/>
          </a:p>
        </p:txBody>
      </p:sp>
      <p:sp>
        <p:nvSpPr>
          <p:cNvPr id="3" name="S09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해요.</a:t>
            </a:r>
            <a:endParaRPr lang="ko-KR" sz="2800" dirty="0"/>
          </a:p>
        </p:txBody>
      </p:sp>
      <p:sp>
        <p:nvSpPr>
          <p:cNvPr id="4" name="S09-card87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88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예산 안에서 고르기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기준 두 가지 이상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고른 까닭과 포기한 것</a:t>
            </a:r>
            <a:endParaRPr lang="ko-KR" sz="2800" dirty="0"/>
          </a:p>
        </p:txBody>
      </p:sp>
      <p:sp>
        <p:nvSpPr>
          <p:cNvPr id="6" name="S09-stepno89"/>
          <p:cNvSpPr txBox="1"/>
          <p:nvPr/>
        </p:nvSpPr>
        <p:spPr>
          <a:xfrm>
            <a:off x="548640" y="2451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9-text90"/>
          <p:cNvSpPr txBox="1"/>
          <p:nvPr/>
        </p:nvSpPr>
        <p:spPr>
          <a:xfrm>
            <a:off x="1325880" y="24516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 물건과 예산을 정해요.</a:t>
            </a:r>
            <a:endParaRPr lang="ko-KR" sz="2800" dirty="0"/>
          </a:p>
        </p:txBody>
      </p:sp>
      <p:sp>
        <p:nvSpPr>
          <p:cNvPr id="8" name="S09-stepno91"/>
          <p:cNvSpPr txBox="1"/>
          <p:nvPr/>
        </p:nvSpPr>
        <p:spPr>
          <a:xfrm>
            <a:off x="548640" y="3210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9-text92"/>
          <p:cNvSpPr txBox="1"/>
          <p:nvPr/>
        </p:nvSpPr>
        <p:spPr>
          <a:xfrm>
            <a:off x="1325880" y="3164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종류의 물건 2~3개를 찾아요.</a:t>
            </a:r>
            <a:endParaRPr lang="ko-KR" sz="2800" dirty="0"/>
          </a:p>
        </p:txBody>
      </p:sp>
      <p:sp>
        <p:nvSpPr>
          <p:cNvPr id="10" name="S09-stepno93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9-text94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점수를 매겨요.</a:t>
            </a:r>
            <a:endParaRPr lang="ko-KR" sz="2800" dirty="0"/>
          </a:p>
        </p:txBody>
      </p:sp>
      <p:sp>
        <p:nvSpPr>
          <p:cNvPr id="12" name="S09-stepno95"/>
          <p:cNvSpPr txBox="1"/>
          <p:nvPr/>
        </p:nvSpPr>
        <p:spPr>
          <a:xfrm>
            <a:off x="548640" y="4956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09-text96"/>
          <p:cNvSpPr txBox="1"/>
          <p:nvPr/>
        </p:nvSpPr>
        <p:spPr>
          <a:xfrm>
            <a:off x="1325880" y="49103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것과 까닭을 활동지 5에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hip9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0-text9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8,000원 가운데 3,000원을 저축하면 쓸 수 있는 돈은?</a:t>
            </a:r>
            <a:endParaRPr lang="ko-KR" sz="2800" dirty="0"/>
          </a:p>
        </p:txBody>
      </p:sp>
      <p:sp>
        <p:nvSpPr>
          <p:cNvPr id="5" name="S10-chip9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0-text10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3,000원씩 저축하면 15,000원을 모으는 데 몇 주?</a:t>
            </a:r>
            <a:endParaRPr lang="ko-KR" sz="2800" dirty="0"/>
          </a:p>
        </p:txBody>
      </p:sp>
      <p:sp>
        <p:nvSpPr>
          <p:cNvPr id="7" name="S10-chip10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0-text10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예산이란 무엇인가요?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저축할 돈을 먼저 정하고, 나눗셈으로 기간을 구해요.</a:t>
            </a:r>
            <a:endParaRPr lang="ko-KR" sz="2800" dirty="0"/>
          </a:p>
        </p:txBody>
      </p:sp>
      <p:sp>
        <p:nvSpPr>
          <p:cNvPr id="5" name="S11-chip10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106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5,000원</a:t>
            </a:r>
            <a:endParaRPr lang="ko-KR" sz="2800" dirty="0"/>
          </a:p>
        </p:txBody>
      </p:sp>
      <p:sp>
        <p:nvSpPr>
          <p:cNvPr id="7" name="S11-text107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8,000 − 3,000</a:t>
            </a:r>
            <a:endParaRPr lang="ko-KR" sz="2200" dirty="0"/>
          </a:p>
        </p:txBody>
      </p:sp>
      <p:sp>
        <p:nvSpPr>
          <p:cNvPr id="8" name="S11-text108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5주</a:t>
            </a:r>
            <a:endParaRPr lang="ko-KR" sz="2800" dirty="0"/>
          </a:p>
        </p:txBody>
      </p:sp>
      <p:sp>
        <p:nvSpPr>
          <p:cNvPr id="9" name="S11-text109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15,000 ÷ 3,000</a:t>
            </a:r>
            <a:endParaRPr lang="ko-KR" sz="2200" dirty="0"/>
          </a:p>
        </p:txBody>
      </p:sp>
      <p:sp>
        <p:nvSpPr>
          <p:cNvPr id="10" name="S11-text110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쓸 돈의 계획</a:t>
            </a:r>
            <a:endParaRPr lang="ko-KR" sz="2800" dirty="0"/>
          </a:p>
        </p:txBody>
      </p:sp>
      <p:sp>
        <p:nvSpPr>
          <p:cNvPr id="11" name="S11-chip11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2" name="S11-text11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12주</a:t>
            </a:r>
            <a:endParaRPr lang="ko-KR" sz="2800" dirty="0"/>
          </a:p>
        </p:txBody>
      </p:sp>
      <p:sp>
        <p:nvSpPr>
          <p:cNvPr id="13" name="S11-text11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15,000 − 3,000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함</a:t>
            </a:r>
            <a:endParaRPr lang="ko-KR" sz="2200" dirty="0"/>
          </a:p>
        </p:txBody>
      </p:sp>
      <p:sp>
        <p:nvSpPr>
          <p:cNvPr id="14" name="S11-text11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“남는 돈이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저축”</a:t>
            </a:r>
            <a:endParaRPr lang="ko-KR" sz="2800" dirty="0"/>
          </a:p>
        </p:txBody>
      </p:sp>
      <p:sp>
        <p:nvSpPr>
          <p:cNvPr id="15" name="S11-text11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떼어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줄넘기를 골라요</a:t>
            </a:r>
            <a:endParaRPr lang="ko-KR" sz="4000" dirty="0"/>
          </a:p>
        </p:txBody>
      </p:sp>
      <p:sp>
        <p:nvSpPr>
          <p:cNvPr id="3" name="S12-text1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줄넘기를 사요. 예산 8,000원(예시)</a:t>
            </a:r>
            <a:endParaRPr lang="ko-KR" sz="2800" dirty="0"/>
          </a:p>
        </p:txBody>
      </p:sp>
      <p:sp>
        <p:nvSpPr>
          <p:cNvPr id="4" name="S12-card1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합계를 구해 고르고, 고른 까닭과 포기한 것을 말해요.</a:t>
            </a:r>
            <a:endParaRPr lang="ko-KR" sz="2800" dirty="0"/>
          </a:p>
        </p:txBody>
      </p:sp>
      <p:graphicFrame>
        <p:nvGraphicFramePr>
          <p:cNvPr id="13" name="S12-table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602992"/>
          <a:ext cx="10515600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1892808"/>
                <a:gridCol w="2523744"/>
                <a:gridCol w="1577340"/>
                <a:gridCol w="1682496"/>
                <a:gridCol w="157734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 점수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튼튼함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길이 조절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9,000원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예산을 넘어요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2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2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예산을 세우고 저축할 돈을 먼저 떼어 놓아요.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비교하면 만족이 큰 선택을 할 수 있어요.</a:t>
            </a:r>
            <a:endParaRPr lang="ko-KR" sz="2800" dirty="0"/>
          </a:p>
        </p:txBody>
      </p:sp>
      <p:sp>
        <p:nvSpPr>
          <p:cNvPr id="5" name="S13-chip12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예산 안에서 기준표로 비교하기</a:t>
            </a:r>
            <a:endParaRPr lang="ko-KR" sz="2200" dirty="0"/>
          </a:p>
        </p:txBody>
      </p:sp>
      <p:sp>
        <p:nvSpPr>
          <p:cNvPr id="6" name="S13-chip12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보이는 대로 바로 사기</a:t>
            </a:r>
            <a:endParaRPr lang="ko-KR" sz="2200" dirty="0"/>
          </a:p>
        </p:txBody>
      </p:sp>
      <p:sp>
        <p:nvSpPr>
          <p:cNvPr id="7" name="S13-text12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2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예산이란?</a:t>
            </a:r>
            <a:endParaRPr lang="ko-KR" sz="2200" dirty="0"/>
          </a:p>
        </p:txBody>
      </p:sp>
      <p:sp>
        <p:nvSpPr>
          <p:cNvPr id="9" name="S13-text12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매주 2,000원씩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10,000원 모으면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주?</a:t>
            </a:r>
            <a:endParaRPr lang="ko-KR" sz="2200" dirty="0"/>
          </a:p>
        </p:txBody>
      </p:sp>
      <p:sp>
        <p:nvSpPr>
          <p:cNvPr id="10" name="S13-text12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물건을 고르는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두 가지는?</a:t>
            </a:r>
            <a:endParaRPr lang="ko-KR" sz="2200" dirty="0"/>
          </a:p>
        </p:txBody>
      </p:sp>
      <p:sp>
        <p:nvSpPr>
          <p:cNvPr id="11" name="S13-text12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민주주의의 발전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돈 계산하기</a:t>
            </a:r>
            <a:endParaRPr lang="ko-KR" sz="4000" dirty="0"/>
          </a:p>
        </p:txBody>
      </p:sp>
      <p:sp>
        <p:nvSpPr>
          <p:cNvPr id="3" name="S14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원짜리 돈 카드로 세어 봐요.</a:t>
            </a:r>
            <a:endParaRPr lang="ko-KR" sz="2800" dirty="0"/>
          </a:p>
        </p:txBody>
      </p:sp>
      <p:sp>
        <p:nvSpPr>
          <p:cNvPr id="4" name="S14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4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2,500원은 천 원 2장과 오백 원 1개예요.</a:t>
            </a:r>
            <a:endParaRPr lang="ko-KR" sz="2800" dirty="0"/>
          </a:p>
        </p:txBody>
      </p:sp>
      <p:sp>
        <p:nvSpPr>
          <p:cNvPr id="6" name="S14-chip13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4-text13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 + 2,500원</a:t>
            </a:r>
            <a:endParaRPr lang="ko-KR" sz="2800" dirty="0"/>
          </a:p>
        </p:txBody>
      </p:sp>
      <p:sp>
        <p:nvSpPr>
          <p:cNvPr id="8" name="S14-chip13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4-text13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10,000원 − 4,500원</a:t>
            </a:r>
            <a:endParaRPr lang="ko-KR" sz="2800" dirty="0"/>
          </a:p>
        </p:txBody>
      </p:sp>
      <p:sp>
        <p:nvSpPr>
          <p:cNvPr id="10" name="S14-chip13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4-text13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2,000원씩 5주 모으면?</a:t>
            </a:r>
            <a:endParaRPr lang="ko-KR" sz="2800" dirty="0"/>
          </a:p>
        </p:txBody>
      </p:sp>
      <p:sp>
        <p:nvSpPr>
          <p:cNvPr id="12" name="S14-chip13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4-text13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8,000원은 2,000원의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배?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경제적 선택</dc:title>
  <dc:subject>KR22-G05-SOC-SPENDING-L01</dc:subject>
  <dc:creator>education-ppt</dc:creator>
  <cp:lastModifiedBy>education-ppt</cp:lastModifiedBy>
  <cp:revision>1</cp:revision>
  <dcterms:created xsi:type="dcterms:W3CDTF">2026-10-26T13:23:21Z</dcterms:created>
  <dcterms:modified xsi:type="dcterms:W3CDTF">2026-10-26T13:23:21Z</dcterms:modified>
</cp:coreProperties>
</file>