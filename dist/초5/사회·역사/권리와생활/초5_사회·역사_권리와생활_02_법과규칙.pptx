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24ebe91-9a65-3d79-38f7-7419e043d4a3}">
          <p14:sldIdLst>
            <p14:sldId id="256"/>
            <p14:sldId id="257"/>
          </p14:sldIdLst>
        </p14:section>
        <p14:section name="개념" id="{d2d3b3a7-ee9b-eebe-a7a9-6424a7eb9a29}">
          <p14:sldIdLst>
            <p14:sldId id="258"/>
            <p14:sldId id="261"/>
            <p14:sldId id="262"/>
          </p14:sldIdLst>
        </p14:section>
        <p14:section name="연습" id="{9815bd0d-73c2-a818-61e1-04e55926d3e1}">
          <p14:sldIdLst>
            <p14:sldId id="259"/>
            <p14:sldId id="260"/>
            <p14:sldId id="263"/>
            <p14:sldId id="264"/>
          </p14:sldIdLst>
        </p14:section>
        <p14:section name="개념" id="{1938c4f8-9cb2-7d85-360e-55dfc1a9d0aa}">
          <p14:sldIdLst/>
        </p14:section>
        <p14:section name="연습" id="{b78d3d74-66ff-b9ca-e95b-ea6e0295b1b5}">
          <p14:sldIdLst/>
        </p14:section>
        <p14:section name="확인" id="{30c3093a-0b11-a954-d8a8-55b019b569e3}">
          <p14:sldIdLst>
            <p14:sldId id="265"/>
            <p14:sldId id="266"/>
            <p14:sldId id="267"/>
          </p14:sldIdLst>
        </p14:section>
        <p14:section name="정리" id="{4ecf702e-f3b4-9fc1-2791-9e1dc2f56cba}">
          <p14:sldIdLst>
            <p14:sldId id="268"/>
          </p14:sldIdLst>
        </p14:section>
        <p14:section name="보충" id="{8b78774d-4932-471b-6059-6bf7ab76973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생활 속 약속(규칙)과 법을 떠올리게 합니다.
시간: 약 2분
이렇게 말해 보세요
- “우리 집에는 어떤 약속이 있지? 학교에는?”
- “길을 건널 때 신호등을 지키는 것도 약속일까? 오늘은 규칙과 법이 어떻게 같고 다른지, 법은 우리를 위해 무슨 일을 하는지 알아볼 거야.”
예상 답
- “밥 먹을 때 휴대 전화를 안 봐요.” “복도에서 뛰지 않아요.” “신호등은 법이에요.”
막히면
- 부모님이 집의 약속 하나를 먼저 말해 줍니다.
주의
- 법을 ‘무서운 것’, ‘벌주는 것’으로만 소개하지 않습니다. 모두를 지켜 주는 약속이라는 데 초점을 둡니다. 오늘 나오는 상황은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확인(인권, 생활 속 규칙)]
목적: 지난 차시 ‘인권’의 뜻과 생활 속 인권 보호, 그리고 생활 속 규칙을 확인합니다. 오늘 법이 권리를 지킨다는 것을 설명할 때 씁니다.
시간: 약 3분
이렇게 말해 보세요
- “지난 시간에 배운 인권의 뜻을 기억해? ‘누구나’를 넣어 말해 볼래?”
- “③은 우리 집 약속 가운데 하나를 고르고, 왜 그 약속이 있는지 말해 줘.”
정답
- ① 사람이라면 누구나 태어날 때부터 가지는, 사람답게 살 권리
- ② 예: 경사로, 점자 블록, 바닥이 낮은 버스, 수어 통역
- ③ 예: 밤 9시 뒤에는 게임을 하지 않아요 – 잠을 충분히 자려고요(약속과 까닭이 이어지면 맞음)
막히면
- ①·②가 어려우면 S14(보충)를 먼저 합니다.
주의
- ③에서 나온 집의 규칙은 S03에서 법과 비교할 때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규칙과 법의 같은 점과 다른 점]
목적: 규칙과 법이 모두 함께 살기 위한 약속이라는 같은 점과, 만드는 곳·지키는 사람·어겼을 때의 결과가 다르다는 것을 표로 비교합니다(목표 A).
시간: 약 4분
이렇게 말해 보세요
- “S02에서 말한 우리 집 규칙은 누가 만들었지? 옆집 사람도 지켜야 할까?”
- “신호등을 지키는 것은 우리 가족만 지키면 될까? 우리나라 모든 사람이 지켜야 할까?”
- “법은 나라에서 만들어. 그래서 모든 사람이 지켜야 하고, 어기면 나라가 정한 벌을 받을 수 있어.”
예상 답
- “엄마 아빠랑 같이 만들었어요. 옆집은 안 지켜도 돼요.” “모든 사람이 지켜야 해요.”
막히면
- 표의 한 줄씩 ‘우리 집 규칙’과 ‘신호등 법’을 넣어 읽어 봅니다.
주의
- 부모님 참고: 법(법률)은 국민의 대표인 국회에서 만듭니다. 오늘은 ‘나라가 만든다’까지만 다룹니다.
- ‘벌’만 강조하지 않습니다. 법도 규칙도 사람들이 함께 안전하고 편하게 지내기 위해 만든 약속이라는 같은 점을 먼저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규칙과 법 구별하기]
목적: 생활 속 약속을 규칙과 법으로 나누고, ‘누가 만들고 누가 지키는지’를 까닭으로 말하는 연습을 합니다(목표 A).
시간: 약 3분
이렇게 말해 보세요
- “①은 누가 만든 약속이야? 누가 지키면 될까?”
- “④는 우리 집에서만 지키면 될까?”
정답
- ① 규칙(우리 가족이 정함)
- ② 법(우리나라의 모든 사람이 지켜야 함)
- ③ 규칙(우리 반이 정함)
- ④ 법(남의 물건을 훔치는 것은 법으로 금지되어 있어요)
막히면
- S03의 표에서 ‘누가 만들까요?’ 줄을 손가락으로 짚고 하나씩 대어 봅니다.
주의
- ④처럼 집이나 학교에서도 가르치는 약속이 법으로도 정해져 있는 경우가 있습니다. ‘우리나라 모든 사람이 지켜야 하는가’로 판단하게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오해 비교(규칙은 안 지켜도 된다)]
목적: 규칙도 함께 지내기 위한 약속이므로 법이 아니어도 지켜야 한다는 것을 알게 합니다(목표 A, 오해 M1).
시간: 약 2분
이렇게 말해 보세요
- “미끄럼틀을 거꾸로 올라가면 어떤 일이 생길까?”
- “규칙은 벌이 약하니까 안 지켜도 될까?”
정답
- 나. 규칙은 법은 아니지만 그 모임 사람들의 안전과 질서를 위한 약속이라 지켜야 해요. 거꾸로 올라가면 내려오는 친구와 부딪쳐 다칠 수 있어요.
막히면
- “네가 미끄럼틀을 내려오는데 누가 거꾸로 올라오면 어떨까?”라고 입장을 바꾸어 묻습니다.
주의
- 규칙이 불편하거나 맞지 않으면 무시하는 것이 아니라 모임 사람들과 이야기해서 바꿀 수 있다고 덧붙여 줍니다.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법이 하는 일]
목적: 법이 하는 일(권리 보호, 질서 유지, 다툼 해결의 기준)을 생활 예로 알려 줍니다(목표 B).
시간: 약 4분
이렇게 말해 보세요
- “지난 시간에 배운 인권, 기억나지? 법은 그 권리를 지켜 줘. 누가 네 물건을 가져가면 법이 그걸 막아 주는 거야.”
- “신호등이 없고 아무도 지키지 않는다면 길은 어떻게 될까?”
- “물건을 샀는데 고장 나서 가게와 생각이 다르면, 무엇을 기준으로 해결할까?”
예상 답
- “차가 막 다녀서 위험해요.” “법에 정해진 대로요.”
막히면
- 카드마다 “이 법이 없다면?”이라고 반대로 물어봅니다.
주의
- ③은 어려울 수 있습니다. ‘놀이할 때 규칙이 있으면 다툼이 줄어드는 것처럼’이라고 놀이에 빗대어 설명해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어린이를 위한 법]
목적: 어린이의 안전과 배울 권리를 지키는 법의 예를 생활 속 모습으로 알려 줍니다(목표 B). 법의 이름은 외우게 하지 않습니다.
시간: 약 4분
이렇게 말해 보세요
- “학교 앞 길에 노란색이나 빨간색으로 칠한 곳, ‘어린이 보호 구역’ 표지판을 본 적 있어? 거기서 차는 어떻게 달려야 할까?”
- “장난감 상자에서 ‘KC’라는 표시를 찾아볼까? 안전 검사를 받았다는 뜻이야.”
예상 답
- “천천히 달려요.” “KC 표시가 있어요!”
막히면
- 집에 있는 장난감이나 학용품 포장에서 KC 표시를 함께 찾아봅니다.
주의
- 부모님 참고: 어린이 보호 구역에서는 보통 자동차 속도를 시속 30 km 이내로 제한합니다. 초등학교 6년과 중학교 3년은 의무 교육입니다. 이 밖에도 어린이를 학대에서 보호하는 법, 학교 둘레의 먹을거리 안전을 관리하는 법 등이 있습니다.
- 숫자나 법 이름보다 ‘어린이를 지키려고 만든 약속’이라는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법이 하는 일 찾기]
목적: 생활 속 법의 예가 권리 보호·질서 유지·다툼 해결 가운데 어떤 일을 하는지 구별하는 연습을 합니다(목표 B).
시간: 약 3분
이렇게 말해 보세요
- “①은 누구의 무엇을 지켜 줄까?”
- “②는 모든 차가 마음대로 다니면 어떻게 될까?”
정답
- ① 권리 보호(어린이의 안전하게 살 권리)
- ② 질서 유지
- ③ 다툼 해결의 기준
- ④ 권리 보호(몸을 다치지 않을 권리)
막히면
- S06의 카드 세 장을 다시 보여 주고 하나씩 대어 보게 합니다.
주의
- 한 법이 여러 일을 함께 할 수 있습니다. 예를 들어 ①은 질서 유지도 됩니다. 까닭이 맞으면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생활 속 법 찾기(부모와 함께)]
목적: 집과 동네에서 법과 관계있는 표시·표지판을 찾아 그 법이 하는 일을 말하게 합니다(목표 B). 동네 조사는 수업 뒤에 해도 됩니다.
시간: 약 3분
이렇게 말해 보세요
- “장난감이나 학용품 포장에서 KC 표시를 찾아볼까?”
- “동네에서 ‘어린이 보호 구역’, ‘금연 구역’, ‘쓰레기 버리지 마세요’ 같은 표지판을 찾아보자. 이 약속은 누구를 위한 걸까?”
예상 답
- “필통에 KC가 있어요.” “학교 앞에 어린이 보호 구역 표지판이 있어요.”
정답
- 기준: 법과 관계있는 표시나 표지판을 세 가지 찾고, 각각 누구의 무엇을 지키는지(권리 보호, 질서 유지 등) 말하면 잘한 것입니다. 찾을 수 있는 것은 사는 곳마다 다릅니다.
막히면
- 집 안에서 찾을 수 있는 것(제품의 KC 표시, 엘리베이터 안의 안전 검사 표시)부터 시작합니다.
주의
- 표지판을 보러 갈 때 찻길 가까이 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보기(규칙과 법 구별)]
목적: 도움 없이 처음 보는 약속을 규칙과 법으로 나누고, 둘의 다른 점을 말하는지 확인합니다(목표 A).
시간: 약 4분
이렇게 말해 보세요
- “이번에는 혼자 해 볼래? ①~③은 규칙인지 법인지 말하고, 어떻게 알았는지도 말해 줘.”
정답
- ① 규칙(모둠이 정함)
- ② 법(우리나라 모든 운전자가 지켜야 함)
- ③ 규칙(가족이 정함)
- ④ 예: 규칙은 가족·학교 같은 모임이 만들고 그 모임 사람이 지키지만, 법은 나라가 만들고 모든 사람이 지켜요. 법을 어기면 나라가 정한 벌을 받을 수 있어요(하나면 맞음).
막히면
- “누가 만들었어? 누가 지켜야 해?” 두 질문만 합니다. 도움을 받아 풀었다면 기록표에 ‘도움’으로 표시합니다.
주의
- 정답 확인은 다음 장(S11)에서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 답과 까닭이 왼쪽과 같아? ‘벌이 있으면 다 법’이라는 생각은 왜 틀렸을까?”
예상 답
- “게임에서도 벌칙이 있는데 그건 법이 아니에요.”
정답
- ① 규칙 ② 법 ③ 규칙 ④ 규칙은 모임이, 법은 나라가 만들고 모든 사람이 지킴
막히면
- S03의 표를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확인(법이 하는 일과 지키는 까닭)]
목적: 처음 보는 상황(법이 없는 경우)을 상상해 법이 하는 일을 설명하고, 법을 지켜야 하는 까닭을 말하는지 확인합니다(목표 B).
시간: 약 4분
이렇게 말해 보세요
- “신호등을 아무도 지키지 않는 길을 떠올려 봐. 무슨 일이 생길까?”
- “③은 ‘나’와 ‘다른 사람’을 함께 넣어 말해 볼래?”
정답
- ① 예: 차와 사람이 부딪쳐 다쳐요. 길이 엉켜 꼼짝 못 해요. 누가 먼저 갈지 다퉈요.
- ② 질서를 지키고, 사람들의 안전하게 살 권리를 지켜요(다툼도 줄여요).
- ③ 예: 법을 지키면 나와 다른 사람의 권리와 안전을 함께 지킬 수 있고, 모두가 편하게 살 수 있기 때문이에요(나와 다른 사람의 권리·안전이 들어가면 맞음).
막히면
- ①이 어려우면 “찻길을 건너려는데 차가 멈추지 않으면?”이라고 장면을 좁혀 줍니다. 그래도 어려우면 S06을 보여 주고 기록표에 ‘도움’으로 적습니다.
주의
- ‘벌을 받으니까’만 말하면 “벌이 없다면 안 지켜도 될까?”라고 한 번 더 물어 권리와 안전으로 이어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“규칙과 법은 무엇이 같고 무엇이 달라? 법은 우리를 위해 어떤 일을 해?”
예상 답
- “둘 다 약속이에요. 법은 나라가 만들고 모두 지켜요. 법은 우리 권리를 지켜 줘요.”
정답
- ① 나라가 만들고 우리나라의 모든 사람이 지켜요. ② 권리 보호, 질서 유지, 다툼 해결 가운데 두 가지 ③ 예: 어린이 보호 구역, 놀이 기구 안전 검사, 누구나 받는 교육, 어린이 제품 안전 표시
막히면
- S03, S06, S07을 다시 보여 줍니다.
주의
- 활동지 4의 표시·표지판 찾기는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보충(인권과 권리 다시 보기)]
목적: S02 ①·②가 흔들리면 지난 차시의 인권을 다시 확인하고, 오늘 배울 법과 이어 줍니다.
시간: 약 4분
이렇게 말해 보세요
- “사람이라면 누구나 가지는 권리를 뭐라고 했지?”
- “네가 학교에서 안전하게 지내고 배울 수 있는 것도 권리야. 이 권리를 누가, 어떻게 지켜 줄까?”
예상 답
- “인권이요.” “선생님이요. 법이요.”
막히면
- 지난 차시 S04의 권리 카드 여섯 장을 함께 다시 읽습니다.
주의
- 계획상 이 차시의 선수 차시는 ‘인권’(KR22-G05-SOC-RIGHTS-L01)입니다. 인권의 뜻이 많이 흔들리면 그 차시를 다시 하고, 함께 정하는 규칙이 낯설면 3학년 도덕 ‘함께 지킬 규칙’(KR22-G03-ETH-FAIRRULE-L01)을 함께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권리와생활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법과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법과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법과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법과 규칙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법은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규칙과 법의 같은 점과 다른 점을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법이 하는 일과 지켜야 하는 까닭을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인권이란 무엇인가요?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인권을 지키는 시설 한 가지는?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규칙 하나와 그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법을 비교해요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점: 모두가 함께 잘 지내기 위한 약속이에요.</a:t>
            </a:r>
            <a:endParaRPr lang="ko-KR" sz="2800" dirty="0"/>
          </a:p>
        </p:txBody>
      </p:sp>
      <p:graphicFrame>
        <p:nvGraphicFramePr>
          <p:cNvPr id="4" name="S03-table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60092"/>
          <a:ext cx="109728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3730752"/>
                <a:gridCol w="482803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만들까요?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가족, 학교, 모임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지킬까요?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모임의 사람들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우리나라의 모든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어기면?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모임 안에서 꾸중이나 벌칙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나라가 정한 벌을 받을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규칙일까요, 법일까요?</a:t>
            </a:r>
            <a:endParaRPr lang="ko-KR" sz="4000" dirty="0"/>
          </a:p>
        </p:txBody>
      </p:sp>
      <p:sp>
        <p:nvSpPr>
          <p:cNvPr id="3" name="S04-chip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4-text1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집은 저녁 9시 뒤에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전화를 쓰지 않아요.</a:t>
            </a:r>
            <a:endParaRPr lang="ko-KR" sz="2800" dirty="0"/>
          </a:p>
        </p:txBody>
      </p:sp>
      <p:sp>
        <p:nvSpPr>
          <p:cNvPr id="5" name="S04-chip1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4-text1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건널 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빨간불에서는 멈춰요.</a:t>
            </a:r>
            <a:endParaRPr lang="ko-KR" sz="2800" dirty="0"/>
          </a:p>
        </p:txBody>
      </p:sp>
      <p:sp>
        <p:nvSpPr>
          <p:cNvPr id="7" name="S04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4-text1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반은 급식을 먹을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 줄을 서요.</a:t>
            </a:r>
            <a:endParaRPr lang="ko-KR" sz="2800" dirty="0"/>
          </a:p>
        </p:txBody>
      </p:sp>
      <p:sp>
        <p:nvSpPr>
          <p:cNvPr id="9" name="S04-chip1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04-text1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물건을 허락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없이 가져가면 안 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아니면 안 지켜도 될까요?</a:t>
            </a:r>
            <a:endParaRPr lang="ko-KR" sz="4000" dirty="0"/>
          </a:p>
        </p:txBody>
      </p:sp>
      <p:sp>
        <p:nvSpPr>
          <p:cNvPr id="3" name="S05-card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규칙: 미끄럼틀은 위에서 아래로만 타요.</a:t>
            </a:r>
            <a:endParaRPr lang="ko-KR" sz="2800" dirty="0"/>
          </a:p>
        </p:txBody>
      </p:sp>
      <p:sp>
        <p:nvSpPr>
          <p:cNvPr id="5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2800" dirty="0"/>
          </a:p>
        </p:txBody>
      </p:sp>
      <p:sp>
        <p:nvSpPr>
          <p:cNvPr id="7" name="S05-chip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5-text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“법이 아니니까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지켜도 돼요.”</a:t>
            </a:r>
            <a:endParaRPr lang="ko-KR" sz="2800" dirty="0"/>
          </a:p>
        </p:txBody>
      </p:sp>
      <p:sp>
        <p:nvSpPr>
          <p:cNvPr id="9" name="S05-chip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5-text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“법은 아니지만 모두의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안전을 위한 약속이라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어떤 일을 할까요?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있어 모두가 안전하고 편하게 살 수 있어요.</a:t>
            </a:r>
            <a:endParaRPr lang="ko-KR" sz="2800" dirty="0"/>
          </a:p>
        </p:txBody>
      </p:sp>
      <p:sp>
        <p:nvSpPr>
          <p:cNvPr id="5" name="S06-card30"/>
          <p:cNvSpPr/>
          <p:nvPr/>
        </p:nvSpPr>
        <p:spPr>
          <a:xfrm>
            <a:off x="548640" y="20754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1"/>
          <p:cNvSpPr txBox="1"/>
          <p:nvPr/>
        </p:nvSpPr>
        <p:spPr>
          <a:xfrm>
            <a:off x="822960" y="22125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권리를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몸과 물건을 함부로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해치지 못하게 해요.</a:t>
            </a:r>
            <a:endParaRPr lang="ko-KR" sz="2800" dirty="0"/>
          </a:p>
        </p:txBody>
      </p:sp>
      <p:sp>
        <p:nvSpPr>
          <p:cNvPr id="7" name="S06-card32"/>
          <p:cNvSpPr/>
          <p:nvPr/>
        </p:nvSpPr>
        <p:spPr>
          <a:xfrm>
            <a:off x="4322064" y="20754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3"/>
          <p:cNvSpPr txBox="1"/>
          <p:nvPr/>
        </p:nvSpPr>
        <p:spPr>
          <a:xfrm>
            <a:off x="4596384" y="22125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질서를 지켜요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신호등처럼 차례와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안전을 지키게 해요.</a:t>
            </a:r>
            <a:endParaRPr lang="ko-KR" sz="2800" dirty="0"/>
          </a:p>
        </p:txBody>
      </p:sp>
      <p:sp>
        <p:nvSpPr>
          <p:cNvPr id="9" name="S06-card34"/>
          <p:cNvSpPr/>
          <p:nvPr/>
        </p:nvSpPr>
        <p:spPr>
          <a:xfrm>
            <a:off x="8095488" y="2075434"/>
            <a:ext cx="3544824" cy="2295652"/>
          </a:xfrm>
          <a:prstGeom prst="roundRect">
            <a:avLst>
              <a:gd name="adj" fmla="val 47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35"/>
          <p:cNvSpPr txBox="1"/>
          <p:nvPr/>
        </p:nvSpPr>
        <p:spPr>
          <a:xfrm>
            <a:off x="8369808" y="2212594"/>
            <a:ext cx="2996184" cy="202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다툼을 해결해요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다툼이 생기면 무엇이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옳은지 정하는 기준이에요.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어린이를 지키는 법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어린이의 안전과 배울 권리를 지켜요.</a:t>
            </a:r>
            <a:endParaRPr lang="ko-KR" sz="2800" dirty="0"/>
          </a:p>
        </p:txBody>
      </p:sp>
      <p:sp>
        <p:nvSpPr>
          <p:cNvPr id="5" name="S07-card3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보호 구역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앞에서는 차가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달려야 해요.</a:t>
            </a:r>
            <a:endParaRPr lang="ko-KR" sz="2800" dirty="0"/>
          </a:p>
        </p:txBody>
      </p:sp>
      <p:sp>
        <p:nvSpPr>
          <p:cNvPr id="7" name="S07-card4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기구 안전 검사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기구는 정해진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때마다 검사를 받아요.</a:t>
            </a:r>
            <a:endParaRPr lang="ko-KR" sz="2800" dirty="0"/>
          </a:p>
        </p:txBody>
      </p:sp>
      <p:sp>
        <p:nvSpPr>
          <p:cNvPr id="9" name="S07-card4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받는 교육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초등학교와 중학교는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다닐 수 있어요.</a:t>
            </a:r>
            <a:endParaRPr lang="ko-KR" sz="2800" dirty="0"/>
          </a:p>
        </p:txBody>
      </p:sp>
      <p:sp>
        <p:nvSpPr>
          <p:cNvPr id="11" name="S07-card4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제품 안전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장난감은 안전 검사를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받고 표시를 붙여요.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일을 하는 법일까요?</a:t>
            </a:r>
            <a:endParaRPr lang="ko-KR" sz="40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 보호, 질서 유지, 다툼 해결 가운데 골라요.</a:t>
            </a:r>
            <a:endParaRPr lang="ko-KR" sz="2800" dirty="0"/>
          </a:p>
        </p:txBody>
      </p:sp>
      <p:sp>
        <p:nvSpPr>
          <p:cNvPr id="4" name="S08-chip4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8-text4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어린이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 구역</a:t>
            </a:r>
            <a:endParaRPr lang="ko-KR" sz="2800" dirty="0"/>
          </a:p>
        </p:txBody>
      </p:sp>
      <p:sp>
        <p:nvSpPr>
          <p:cNvPr id="6" name="S08-chip4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8-text5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자동차는 길의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다녀요.</a:t>
            </a:r>
            <a:endParaRPr lang="ko-KR" sz="2800" dirty="0"/>
          </a:p>
        </p:txBody>
      </p:sp>
      <p:sp>
        <p:nvSpPr>
          <p:cNvPr id="8" name="S08-chip5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8-text5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난 물건 때문에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가게와 다퉜어요.</a:t>
            </a:r>
            <a:endParaRPr lang="ko-KR" sz="2800" dirty="0"/>
          </a:p>
        </p:txBody>
      </p:sp>
      <p:sp>
        <p:nvSpPr>
          <p:cNvPr id="10" name="S08-chip5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8-text5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남을 때리면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둘레의 법 찾기</a:t>
            </a:r>
            <a:endParaRPr lang="ko-KR" sz="4000" dirty="0"/>
          </a:p>
        </p:txBody>
      </p:sp>
      <p:sp>
        <p:nvSpPr>
          <p:cNvPr id="3" name="S09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09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다니고 찻길을 조심해요.</a:t>
            </a:r>
            <a:endParaRPr lang="ko-KR" sz="2800" dirty="0"/>
          </a:p>
        </p:txBody>
      </p:sp>
      <p:sp>
        <p:nvSpPr>
          <p:cNvPr id="6" name="S09-card5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표시·표지판 세 가지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 법이 지키는 것 말하기</a:t>
            </a:r>
            <a:endParaRPr lang="ko-KR" sz="2800" dirty="0"/>
          </a:p>
        </p:txBody>
      </p:sp>
      <p:sp>
        <p:nvSpPr>
          <p:cNvPr id="8" name="S09-stepno60"/>
          <p:cNvSpPr txBox="1"/>
          <p:nvPr/>
        </p:nvSpPr>
        <p:spPr>
          <a:xfrm>
            <a:off x="548640" y="21346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9-text61"/>
          <p:cNvSpPr txBox="1"/>
          <p:nvPr/>
        </p:nvSpPr>
        <p:spPr>
          <a:xfrm>
            <a:off x="1325880" y="208889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장난감·학용품의 KC 표시를 찾아요.</a:t>
            </a:r>
            <a:endParaRPr lang="ko-KR" sz="2200" dirty="0"/>
          </a:p>
        </p:txBody>
      </p:sp>
      <p:sp>
        <p:nvSpPr>
          <p:cNvPr id="10" name="S09-stepno62"/>
          <p:cNvSpPr txBox="1"/>
          <p:nvPr/>
        </p:nvSpPr>
        <p:spPr>
          <a:xfrm>
            <a:off x="548640" y="29809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9-text63"/>
          <p:cNvSpPr txBox="1"/>
          <p:nvPr/>
        </p:nvSpPr>
        <p:spPr>
          <a:xfrm>
            <a:off x="1325880" y="293522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동네에서 법과 관계있는 표지판을 찾아요.</a:t>
            </a:r>
            <a:endParaRPr lang="ko-KR" sz="2200" dirty="0"/>
          </a:p>
        </p:txBody>
      </p:sp>
      <p:sp>
        <p:nvSpPr>
          <p:cNvPr id="12" name="S09-stepno64"/>
          <p:cNvSpPr txBox="1"/>
          <p:nvPr/>
        </p:nvSpPr>
        <p:spPr>
          <a:xfrm>
            <a:off x="548640" y="37815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9-text65"/>
          <p:cNvSpPr txBox="1"/>
          <p:nvPr/>
        </p:nvSpPr>
        <p:spPr>
          <a:xfrm>
            <a:off x="1325880" y="37815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법이 하는 일을 이야기해요.</a:t>
            </a:r>
            <a:endParaRPr lang="ko-KR" sz="2200" dirty="0"/>
          </a:p>
        </p:txBody>
      </p:sp>
      <p:sp>
        <p:nvSpPr>
          <p:cNvPr id="14" name="S09-stepno66"/>
          <p:cNvSpPr txBox="1"/>
          <p:nvPr/>
        </p:nvSpPr>
        <p:spPr>
          <a:xfrm>
            <a:off x="548640" y="44947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9-text67"/>
          <p:cNvSpPr txBox="1"/>
          <p:nvPr/>
        </p:nvSpPr>
        <p:spPr>
          <a:xfrm>
            <a:off x="1325880" y="44947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기록해요.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6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6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모둠은 돌아가며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발표해요.</a:t>
            </a:r>
            <a:endParaRPr lang="ko-KR" sz="2800" dirty="0"/>
          </a:p>
        </p:txBody>
      </p:sp>
      <p:sp>
        <p:nvSpPr>
          <p:cNvPr id="5" name="S10-chip70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71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자동차는 어린이 보호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구역에서 천천히 달려요.</a:t>
            </a:r>
            <a:endParaRPr lang="ko-KR" sz="2800" dirty="0"/>
          </a:p>
        </p:txBody>
      </p:sp>
      <p:sp>
        <p:nvSpPr>
          <p:cNvPr id="7" name="S10-chip7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73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가족은 일요일마다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청소해요.</a:t>
            </a:r>
            <a:endParaRPr lang="ko-KR" sz="2800" dirty="0"/>
          </a:p>
        </p:txBody>
      </p:sp>
      <p:sp>
        <p:nvSpPr>
          <p:cNvPr id="9" name="S10-chip74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0-text75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법의 다른 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만들고 누가 지키는지 보고 나눠요.</a:t>
            </a:r>
            <a:endParaRPr lang="ko-KR" sz="2800" dirty="0"/>
          </a:p>
        </p:txBody>
      </p:sp>
      <p:sp>
        <p:nvSpPr>
          <p:cNvPr id="5" name="S11-chip7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79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규칙</a:t>
            </a:r>
            <a:endParaRPr lang="ko-KR" sz="2800" dirty="0"/>
          </a:p>
        </p:txBody>
      </p:sp>
      <p:sp>
        <p:nvSpPr>
          <p:cNvPr id="7" name="S11-text80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모둠이 정함</a:t>
            </a:r>
            <a:endParaRPr lang="ko-KR" sz="2200" dirty="0"/>
          </a:p>
        </p:txBody>
      </p:sp>
      <p:sp>
        <p:nvSpPr>
          <p:cNvPr id="8" name="S11-text81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법</a:t>
            </a:r>
            <a:endParaRPr lang="ko-KR" sz="2800" dirty="0"/>
          </a:p>
        </p:txBody>
      </p:sp>
      <p:sp>
        <p:nvSpPr>
          <p:cNvPr id="9" name="S11-text82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사람</a:t>
            </a:r>
            <a:endParaRPr lang="ko-KR" sz="2200" dirty="0"/>
          </a:p>
        </p:txBody>
      </p:sp>
      <p:sp>
        <p:nvSpPr>
          <p:cNvPr id="10" name="S11-text83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규칙</a:t>
            </a:r>
            <a:endParaRPr lang="ko-KR" sz="2800" dirty="0"/>
          </a:p>
        </p:txBody>
      </p:sp>
      <p:sp>
        <p:nvSpPr>
          <p:cNvPr id="11" name="S11-text84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정함</a:t>
            </a:r>
            <a:endParaRPr lang="ko-KR" sz="2200" dirty="0"/>
          </a:p>
        </p:txBody>
      </p:sp>
      <p:sp>
        <p:nvSpPr>
          <p:cNvPr id="12" name="S11-text85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만드는 곳</a:t>
            </a:r>
            <a:endParaRPr lang="ko-KR" sz="2800" dirty="0"/>
          </a:p>
        </p:txBody>
      </p:sp>
      <p:sp>
        <p:nvSpPr>
          <p:cNvPr id="13" name="S11-text86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모임 / 나라</a:t>
            </a:r>
            <a:endParaRPr lang="ko-KR" sz="2200" dirty="0"/>
          </a:p>
        </p:txBody>
      </p:sp>
      <p:sp>
        <p:nvSpPr>
          <p:cNvPr id="14" name="S11-chip8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1-text8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“벌이 있으면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법”</a:t>
            </a:r>
            <a:endParaRPr lang="ko-KR" sz="2800" dirty="0"/>
          </a:p>
        </p:txBody>
      </p:sp>
      <p:sp>
        <p:nvSpPr>
          <p:cNvPr id="16" name="S11-text8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규칙에도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벌칙이 있음</a:t>
            </a:r>
            <a:endParaRPr lang="ko-KR" sz="2200" dirty="0"/>
          </a:p>
        </p:txBody>
      </p:sp>
      <p:sp>
        <p:nvSpPr>
          <p:cNvPr id="17" name="S11-text9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“규칙은 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지켜도 돼요”</a:t>
            </a:r>
            <a:endParaRPr lang="ko-KR" sz="2800" dirty="0"/>
          </a:p>
        </p:txBody>
      </p:sp>
      <p:sp>
        <p:nvSpPr>
          <p:cNvPr id="18" name="S11-text9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함께한 약속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없다면?</a:t>
            </a:r>
            <a:endParaRPr lang="ko-KR" sz="4000" dirty="0"/>
          </a:p>
        </p:txBody>
      </p:sp>
      <p:sp>
        <p:nvSpPr>
          <p:cNvPr id="3" name="S12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만약 신호등을 지키라는 법이 없다면 어떻게 될까요?</a:t>
            </a:r>
            <a:endParaRPr lang="ko-KR" sz="2800" dirty="0"/>
          </a:p>
        </p:txBody>
      </p:sp>
      <p:sp>
        <p:nvSpPr>
          <p:cNvPr id="4" name="S12-chip9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9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생길 수 있는 일 두 가지는?</a:t>
            </a:r>
            <a:endParaRPr lang="ko-KR" sz="2800" dirty="0"/>
          </a:p>
        </p:txBody>
      </p:sp>
      <p:sp>
        <p:nvSpPr>
          <p:cNvPr id="6" name="S12-chip9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9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법은 어떤 일을 하나요?</a:t>
            </a:r>
            <a:endParaRPr lang="ko-KR" sz="2800" dirty="0"/>
          </a:p>
        </p:txBody>
      </p:sp>
      <p:sp>
        <p:nvSpPr>
          <p:cNvPr id="8" name="S12-chip9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9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법을 지켜야 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모임의 약속, 법은 나라가 만든 모든 사람의 약속이에요.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권리를 지키고 질서를 유지하며 다툼을 해결해요.</a:t>
            </a:r>
            <a:endParaRPr lang="ko-KR" sz="2800" dirty="0"/>
          </a:p>
        </p:txBody>
      </p:sp>
      <p:sp>
        <p:nvSpPr>
          <p:cNvPr id="5" name="S13-chip10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나와 모두를 위해 법과 규칙 지키기</a:t>
            </a:r>
            <a:endParaRPr lang="ko-KR" sz="2200" dirty="0"/>
          </a:p>
        </p:txBody>
      </p:sp>
      <p:sp>
        <p:nvSpPr>
          <p:cNvPr id="6" name="S13-chip10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벌이 무서워서만 지키기</a:t>
            </a:r>
            <a:endParaRPr lang="ko-KR" sz="2200" dirty="0"/>
          </a:p>
        </p:txBody>
      </p:sp>
      <p:sp>
        <p:nvSpPr>
          <p:cNvPr id="7" name="S13-text10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0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법은 누가 만들고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지키나요?</a:t>
            </a:r>
            <a:endParaRPr lang="ko-KR" sz="2200" dirty="0"/>
          </a:p>
        </p:txBody>
      </p:sp>
      <p:sp>
        <p:nvSpPr>
          <p:cNvPr id="9" name="S13-text10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법이 하는 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10" name="S13-text10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어린이를 위한 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200" dirty="0"/>
          </a:p>
        </p:txBody>
      </p:sp>
      <p:sp>
        <p:nvSpPr>
          <p:cNvPr id="11" name="S13-text1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경제적 선택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인권 다시 보기</a:t>
            </a:r>
            <a:endParaRPr lang="ko-KR" sz="4000" dirty="0"/>
          </a:p>
        </p:txBody>
      </p:sp>
      <p:sp>
        <p:nvSpPr>
          <p:cNvPr id="3" name="S14-card108"/>
          <p:cNvSpPr/>
          <p:nvPr/>
        </p:nvSpPr>
        <p:spPr>
          <a:xfrm>
            <a:off x="548640" y="1773174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09"/>
          <p:cNvSpPr txBox="1"/>
          <p:nvPr/>
        </p:nvSpPr>
        <p:spPr>
          <a:xfrm>
            <a:off x="822960" y="1910334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사람이라면 누구나 가지는, 사람답게 살 권리예요.</a:t>
            </a:r>
            <a:endParaRPr lang="ko-KR" sz="2800" dirty="0"/>
          </a:p>
        </p:txBody>
      </p:sp>
      <p:sp>
        <p:nvSpPr>
          <p:cNvPr id="5" name="S14-card110"/>
          <p:cNvSpPr/>
          <p:nvPr/>
        </p:nvSpPr>
        <p:spPr>
          <a:xfrm>
            <a:off x="548640" y="3181858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11"/>
          <p:cNvSpPr txBox="1"/>
          <p:nvPr/>
        </p:nvSpPr>
        <p:spPr>
          <a:xfrm>
            <a:off x="822960" y="3319018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권리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살 권리, 배울 권리, 쉬고 놀 권리</a:t>
            </a:r>
            <a:endParaRPr lang="ko-KR" sz="2800" dirty="0"/>
          </a:p>
        </p:txBody>
      </p:sp>
      <p:sp>
        <p:nvSpPr>
          <p:cNvPr id="7" name="S14-card112"/>
          <p:cNvSpPr/>
          <p:nvPr/>
        </p:nvSpPr>
        <p:spPr>
          <a:xfrm>
            <a:off x="548640" y="4590542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13"/>
          <p:cNvSpPr txBox="1"/>
          <p:nvPr/>
        </p:nvSpPr>
        <p:spPr>
          <a:xfrm>
            <a:off x="822960" y="4727702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인권과 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이런 권리를 지키려고 만든 약속이에요.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법과 규칙</dc:title>
  <dc:subject>KR22-G05-SOC-LAW-L01</dc:subject>
  <dc:creator>education-ppt</dc:creator>
  <cp:lastModifiedBy>education-ppt</cp:lastModifiedBy>
  <cp:revision>1</cp:revision>
  <dcterms:created xsi:type="dcterms:W3CDTF">2026-10-26T13:25:00Z</dcterms:created>
  <dcterms:modified xsi:type="dcterms:W3CDTF">2026-10-26T13:25:00Z</dcterms:modified>
</cp:coreProperties>
</file>