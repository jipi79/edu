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76deaed-05ae-a1b2-de05-54d413ec7bc0}">
          <p14:sldIdLst>
            <p14:sldId id="256"/>
            <p14:sldId id="257"/>
          </p14:sldIdLst>
        </p14:section>
        <p14:section name="개념" id="{bd408f01-3dc9-14c9-32f6-fccd8d4a71cc}">
          <p14:sldIdLst>
            <p14:sldId id="258"/>
            <p14:sldId id="261"/>
          </p14:sldIdLst>
        </p14:section>
        <p14:section name="연습" id="{59fec43a-bdc3-03b2-8a8c-85ad1ff378be}">
          <p14:sldIdLst>
            <p14:sldId id="259"/>
            <p14:sldId id="260"/>
            <p14:sldId id="262"/>
            <p14:sldId id="263"/>
          </p14:sldIdLst>
        </p14:section>
        <p14:section name="개념" id="{69cd9efb-e889-607f-1bfb-3ea77e134210}">
          <p14:sldIdLst/>
        </p14:section>
        <p14:section name="연습" id="{23381ce3-e041-01bb-65df-e5c6d37662d7}">
          <p14:sldIdLst/>
        </p14:section>
        <p14:section name="확인" id="{ed5ff920-7fd8-55fd-040c-a4099dd09cfb}">
          <p14:sldIdLst>
            <p14:sldId id="264"/>
            <p14:sldId id="265"/>
            <p14:sldId id="266"/>
          </p14:sldIdLst>
        </p14:section>
        <p14:section name="정리" id="{4181e2da-56e8-6e22-271c-f27594e88197}">
          <p14:sldIdLst>
            <p14:sldId id="267"/>
          </p14:sldIdLst>
        </p14:section>
        <p14:section name="보충" id="{9e4b13ca-7fa5-3b45-bef1-12701f0a4edf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‘꼭 일어나는 일’과 ‘일어날 수도 있는 일’이 다르다는 것을 궁금하게 합니다.
시간: 약 2분
이렇게 말해 보세요
- “반을 색칠한 회전판을 돌리면 화살이 색칠한 곳에 멈출까?”
- “꼭 멈춘다고 할 수 있어? 절대 안 멈춘다고 할 수 있어? 어떻게 말하면 좋을까?”
예상 답
- “멈출 수도 있고 안 멈출 수도 있어요.”
- “반반이에요.”
막히면
- 답을 확인하지 않고 넘어갑니다. S03에서 말로 나타내는 방법을 배웁니다.
주의
- 회전판이 없으면 동전 던지기로 같은 질문을 해도 됩니다(그림 면이 나올까?).
- 목표 두 가지를 소리 내어 읽어 주고, 아이에게 오늘 할 일을 한 번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확인(반 = 2분의 1)]
목적: 오늘은 ‘반반이다’를 2분의 1로 나타냅니다. 전체의 반이 2분의 1이라는 것을 알고 있는지 확인합니다.
시간: 약 3분
이렇게 말해 보세요
- “색칠한 부분이 전체의 반인 것을 모두 골라 볼래? 분수로 말하면 얼마야?”
정답
- 가, 나
- 가: 2분의 1, 나: 4분의 2(= 2분의 1)
- 다는 4분의 1, 라는 3분의 1이라서 반이 아닙니다.
막히면
- 색칠한 부분과 색칠하지 않은 부분의 크기가 같은지 손으로 가려 비교하게 합니다.
- 두 개 이상 틀리면 S13(보충)을 먼저 합니다. 보충으로도 어려우면 초3 ‘분수의 뜻’을 먼저 다시 합니다.
주의
- 계획상 바로 앞 차시는 ‘평균’이지만, 이 차시에 꼭 필요한 선수 학습은 ‘반 = 2분의 1’입니다.
- 나를 ‘4분의 2라서 반이 아니다’라고 하면 칸 수가 아니라 색칠한 양을 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가능성을 말로 나타내기(5단계)]
목적: 흰 돌의 수에 따라 흰 돌이 나올 가능성을 ‘불가능하다, ~아닐 것 같다, 반반이다, ~일 것 같다, 확실하다’로 나타낸다는 것을 압니다.
시간: 약 5분
이렇게 말해 보세요
- “상자 안을 보지 않고 1개를 꺼낼 거야. 첫째 상자에서 흰 돌이 나올까? 흰 돌이 하나도 없으면 ‘불가능하다’고 해.”
- “다섯째 상자는 모두 흰 돌이야. 꼭 흰 돌이 나오지? 이럴 때 ‘확실하다’고 해.”
- “셋째 상자는 흰 돌과 검은 돌이 2개씩이야. 어느 쪽이 나올 가능성이 더 클까? 똑같으면 ‘반반이다’라고 해.”
- “둘째, 넷째 상자는 어떻게 말할 수 있을까?”
예상 답
- “둘째는 검은 돌이 더 많아서 흰 돌이 안 나올 것 같아요.”
- “넷째는 흰 돌이 더 많아서 나올 것 같아요.”
막히면
- 실제로 해 봅니다: 컵이나 봉투에 흰 돌 3개, 검은 돌 1개를 넣고 보지 않고 꺼내기를 여러 번 합니다. 흰 돌이 자주 나오지만 검은 돌도 가끔 나오는 것을 봅니다.
주의
- 바둑돌이 없으면 같은 크기의 색이 다른 단추나 종이 조각을 씁니다. 손으로 만져 구별되지 않아야 합니다.
- ‘~일 것 같다’는 ‘확실하다’가 아닙니다. 일어날 가능성이 크지만 일어나지 않을 수도 있습니다(S05에서 다룹니다).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안내받는 연습(생활 속 일의 가능성을 말로)]
목적: 도움을 받으며 생활 속 일의 가능성을 다섯 가지 말 중 하나로 나타내고 까닭을 말합니다.
시간: 약 4분
이렇게 말해 보세요
- “동전에는 면이 몇 개야? 그중 그림 면은 몇 개야?”
- “주사위에는 어떤 수들이 있어? 7이 있어?”
- “주사위에서 6은 여섯 개 중 몇 개야? 1이 아닌 수는 몇 개야?”
정답
- ① 반반이다 (그림 면과 숫자 면, 두 면 중 하나)
- ② 불가능하다 (주사위에는 1부터 6까지만 있음)
- ③ ~아닐 것 같다 (6개의 수 중 1개뿐)
- ④ ~일 것 같다 (6개의 수 중 2, 3, 4, 5, 6의 5개)
막히면
- 주사위를 직접 보여 주고 여섯 면을 세어 보게 합니다. 동전도 직접 앞뒤를 확인합니다.
- ③·④가 어려우면 바둑돌로 바꿉니다: 6개 중 원하는 것이 1개면 ‘~아닐 것 같다’, 5개면 ‘~일 것 같다’.
주의
- 까닭을 들어 말하는 것이 중요합니다. ‘그냥요’라고 하면 “몇 개 중에 몇 개야?”라고 다시 묻습니다.
- 준비물: 동전 1개, 주사위 1개(없으면 종이에 1~6을 쓴 카드 6장).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오개념 비교(~일 것 같다와 확실하다)]
목적: 가능성이 크다(~일 것 같다)와 반드시 일어난다(확실하다)를 구별합니다(M1).
시간: 약 3분
이렇게 말해 보세요
- “토끼는 확실하다고 했고, 곰은 ~일 것 같다고 했어. 검은 돌이 나올 수는 없을까?”
- “실제로 꺼내 볼까? 다섯 번 꺼내서 나온 색을 적어 보자. 꺼낸 돌은 다시 넣어.”
예상 답
- “곰이 맞아요. 검은 돌도 1개 있어서 나올 수 있어요.”
정답
- 곰이 맞습니다. 흰 돌이 나올 가능성은 ‘~일 것 같다’입니다.
- ‘확실하다’는 흰 돌만 들어 있어서 다른 색이 나올 수 없을 때입니다.
막히면
- 컵에 흰 돌 3개, 검은 돌 1개를 넣고 여러 번 꺼내 봅니다. 검은 돌이 한 번이라도 나오면 ‘꼭 흰 돌’이 아니라는 것을 보여 줍니다.
주의
- 몇 번 꺼내서 흰 돌만 나와도 ‘확실하다’가 되는 것은 아닙니다. 가능성은 상자 안의 돌로 정해집니다.
- 지치면 여기서 쉬고, 다음 날 S06부터 이어서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가능성을 수(0, 1/2, 1)로 나타내기]
목적: 가능성을 수로 나타낼 때 불가능하다는 0, 반반이다는 2분의 1, 확실하다는 1로 나타낸다는 것을 압니다.
시간: 약 4분
이렇게 말해 보세요
- “가능성을 수로도 나타낼 수 있어. 절대 일어나지 않는 일은 0이야. 꼭 일어나는 일은 1이야.”
- “반반인 일은 0과 1의 한가운데 수야. 몇일까?”
- “S03의 첫째 상자, 셋째 상자, 다섯째 상자에서 흰 돌이 나올 가능성을 수로 말해 볼래?”
예상 답
- “반반은 2분의 1이에요.”
- “첫째는 0, 셋째는 2분의 1, 다섯째는 1이에요.”
막히면
- 종이 띠를 반으로 접어 0과 1의 한가운데를 찾게 합니다. S13(보충)의 띠 그림을 보여 줘도 됩니다.
주의
- 5학년에서는 가능성을 0, 2분의 1, 1로만 나타냅니다. ‘~아닐 것 같다’는 0과 2분의 1 사이, ‘~일 것 같다’는 2분의 1과 1 사이로 말로만 나타냅니다.
- 가능성은 0보다 작거나 1보다 클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연습(회전판의 가능성을 말과 수로)]
목적: 도움을 받으며 회전판의 가능성을 말과 수(0, 2분의 1, 1)로 함께 나타냅니다.
시간: 약 3분
이렇게 말해 보세요
- “가는 전체가 색칠되어 있어. 화살이 색칠한 곳에 멈추는 것은 어떤 가능성이야? 수로는?”
- “나는 반만 색칠했어. 다는 색칠한 곳이 있어?”
정답
- 가: 확실하다, 1
- 나: 반반이다, 2분의 1
- 다: 불가능하다, 0
막히면
- S06의 수직선을 다시 보여 주고 말과 수를 짝지어 읽게 합니다.
주의
- 다를 ‘4조각이니까 4분의 1’이라고 하면 색칠한 조각이 몇 개인지 다시 세게 합니다(색칠한 조각 0개).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비교(앞의 결과가 다음 가능성을 바꾼다)]
목적: 앞에서 나온 결과가 다음 결과의 가능성을 바꾼다고 생각하는 오개념(M2)을 바로잡습니다.
시간: 약 3분
이렇게 말해 보세요
- “동전이 앞에서 무엇이 나왔는지 기억할까? 다음에 던질 때 동전의 면은 몇 개이고, 그중 숫자 면은 몇 개야?”
- “직접 던져 볼까? 그림 면이 연달아 나온 뒤에도 그림 면이 또 나올 수 있는지 보자.”
예상 답
- “곰이 맞아요. 동전은 그대로라서 매번 반반이에요.”
정답
- 곰이 맞습니다. 숫자 면이 나올 가능성은 매번 반반이고 수로는 2분의 1입니다.
- 토끼는 앞의 결과가 다음 결과를 바꾼다고 생각했습니다. 동전은 앞의 결과를 기억하지 못합니다.
막히면
- 동전을 10번쯤 던져 결과를 적어 봅니다. 같은 면이 연달아 나오는 일이 흔하다는 것을 직접 봅니다.
주의
- 바둑돌을 꺼낸 뒤 다시 넣지 않으면 상자 안이 바뀌어 가능성도 바뀝니다. 오늘은 꺼낸 돌을 항상 다시 넣는다고 약속합니다.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해결]
목적: 도움 없이 가능성을 말과 수로 나타내고 까닭을 말하는지 확인합니다.
시간: 약 5분
이렇게 말해 보세요
- “이번에는 혼자 해 볼래? 답과 함께 까닭도 말해 줘.”
정답
- ① 반반이다, 2분의 1
- ② 불가능하다, 0 (주사위에는 0이 없음)
- ③ 확실하다, 1
- ④ ~아닐 것 같다 (흰 돌이 검은 돌보다 훨씬 적음)
막히면
- 바로 알려 주지 말고 “모두 몇 개 중에 몇 개야?”라고만 묻습니다.
- 도움을 받아 해결했다면 기록표에 ‘도움’으로 표시합니다.
주의
- ④를 수로 나타내려고 하면 “5학년에서는 0, 2분의 1, 1만 수로 나타내. ④는 0과 2분의 1 사이에 있어.”라고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정답과 피드백]
목적: 아이의 답을 함께 확인하고 흔한 실수를 바로잡습니다. 수업용에만 있는 장입니다.
시간: 약 2분
이렇게 말해 보세요
- “네 답과 같은지 볼까? 다르면 바둑돌로 직접 해 보자.”
정답
- ① 반반이다, 2분의 1 ② 불가능하다, 0 ③ 확실하다, 1 ④ ~아닐 것 같다
막히면
- ④를 ‘불가능하다’라고 했다면 흰 돌이 1개라도 있으면 나올 수 있다는 것을 꺼내 보며 확인합니다.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마무리 확인(가능성을 수직선에 나타내기)]
목적: 처음 보는 일에서 가능성을 판단해 수직선의 0, 2분의 1, 1 중 알맞은 곳을 고르고 까닭을 말하는지 확인합니다.
시간: 약 3분
이렇게 말해 보세요
- “①, ②, ③은 수직선의 가, 나, 다 중 어디일까? 말로는 어떻게 나타낼 수 있어?”
정답
- ① 나 (반반이다, 2분의 1)
- ② 가 (불가능하다, 0)
- ③ 다 (확실하다, 1)
막히면
- 먼저 말(불가능하다·반반이다·확실하다)로 말하게 한 뒤 수직선의 수와 짝짓게 합니다.
주의
- 기호와 까닭을 모두 말하면 확인 완료입니다. 기호만 맞히면 ‘이유 설명 필요’로 기록합니다.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정리와 다음 수업 복습]
목적: 핵심을 정리하고 다음 수업 첫 5분에 풀 복습 문제를 알려 줍니다.
시간: 약 2분
이렇게 말해 보세요
- “가능성을 말로 나타내는 다섯 가지 말을 순서대로 말해 볼래? 수로는 어떻게 나타냈지?”
- “다음 수업을 시작할 때 이 세 문제를 먼저 풀 거야.”
예상 답
- “불가능하다, ~아닐 것 같다, 반반이다, ~일 것 같다, 확실하다예요. 0, 2분의 1, 1이에요.”
정답
- ① 0
- ② 2분의 1
- ③ ~일 것 같다
막히면
- S06의 수직선을 다시 보여 줍니다.
주의
- 이 차시로 초5 수학 계획이 끝납니다. 다음 차시는 초6 ‘분수의 나눗셈 1’입니다.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선수 학습 보충(반 = 2분의 1)]
목적: S02에서 ‘반 = 2분의 1’이 흔들리면, 오늘 내용 전에 다시 익힙니다.
시간: 약 5분
이렇게 말해 보세요
- “띠를 똑같이 둘로 나누어 하나를 색칠하면 전체의 얼마야?”
- “아래 띠는 4칸 중 2칸이야. 색칠한 끝이 점선에서 만나지? 두 띠의 색칠한 양은 어때?”
정답
- 위 띠: 2분의 1, 아래 띠: 4분의 2. 둘 다 전체의 반입니다.
막히면
- 종이 띠를 반으로 접어 한쪽을 색칠하고, 다시 반으로 접어 4칸이 된 것을 세어 봅니다.
주의
- 이 차시의 계획상 선수 차시는 초5 ‘평균’이지만, 여기서 보충하는 것은 반(2분의 1)의 뜻입니다. 보충으로도 어려우면 초3 ‘분수의 뜻’을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자료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일이 일어날 가능성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일이 일어날 가능성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일이 일어날 가능성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일이 일어날 가능성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회전판을 돌리면 화살이 색칠한 곳에 멈출까?</a:t>
            </a:r>
            <a:endParaRPr lang="ko-KR" sz="2800" dirty="0"/>
          </a:p>
        </p:txBody>
      </p:sp>
      <p:sp>
        <p:nvSpPr>
          <p:cNvPr id="4" name="S01-sector1"/>
          <p:cNvSpPr/>
          <p:nvPr/>
        </p:nvSpPr>
        <p:spPr>
          <a:xfrm>
            <a:off x="8183880" y="640080"/>
            <a:ext cx="2926080" cy="292608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sector2"/>
          <p:cNvSpPr/>
          <p:nvPr/>
        </p:nvSpPr>
        <p:spPr>
          <a:xfrm>
            <a:off x="8183880" y="640080"/>
            <a:ext cx="2926080" cy="2926080"/>
          </a:xfrm>
          <a:prstGeom prst="pie">
            <a:avLst>
              <a:gd name="adj1" fmla="val 54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figure3" descr="반은 색칠하고 반은 색칠하지 않은 회전판"/>
          <p:cNvSpPr/>
          <p:nvPr/>
        </p:nvSpPr>
        <p:spPr>
          <a:xfrm>
            <a:off x="8183880" y="640080"/>
            <a:ext cx="2926080" cy="29260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1-card4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" name="S01-cardtext5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일이 일어날 가능성을 말로 나타내고 까닭을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가능성을 0, 2분의 1, 1로 나타내요.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반을 찾아요</a:t>
            </a:r>
            <a:endParaRPr lang="ko-KR" sz="4000" dirty="0"/>
          </a:p>
        </p:txBody>
      </p:sp>
      <p:sp>
        <p:nvSpPr>
          <p:cNvPr id="3" name="S02-card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2-cardtext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부분이 전체의 반인 것을 모두 골라요.</a:t>
            </a:r>
            <a:endParaRPr lang="ko-KR" sz="2800" dirty="0"/>
          </a:p>
        </p:txBody>
      </p:sp>
      <p:sp>
        <p:nvSpPr>
          <p:cNvPr id="5" name="S02-chip8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02-sector9"/>
          <p:cNvSpPr/>
          <p:nvPr/>
        </p:nvSpPr>
        <p:spPr>
          <a:xfrm>
            <a:off x="2747772" y="1325880"/>
            <a:ext cx="1760220" cy="176022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2-sector10"/>
          <p:cNvSpPr/>
          <p:nvPr/>
        </p:nvSpPr>
        <p:spPr>
          <a:xfrm>
            <a:off x="2747772" y="1325880"/>
            <a:ext cx="1760220" cy="1760220"/>
          </a:xfrm>
          <a:prstGeom prst="pie">
            <a:avLst>
              <a:gd name="adj1" fmla="val 54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2-figure11" descr="원을 똑같이 2조각으로 나누어 1조각 색칠"/>
          <p:cNvSpPr/>
          <p:nvPr/>
        </p:nvSpPr>
        <p:spPr>
          <a:xfrm>
            <a:off x="2747772" y="1325880"/>
            <a:ext cx="1760220" cy="176022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2-chip12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02-cell13"/>
          <p:cNvSpPr/>
          <p:nvPr/>
        </p:nvSpPr>
        <p:spPr>
          <a:xfrm>
            <a:off x="7072884" y="1794510"/>
            <a:ext cx="114185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2-cell14"/>
          <p:cNvSpPr/>
          <p:nvPr/>
        </p:nvSpPr>
        <p:spPr>
          <a:xfrm>
            <a:off x="8214741" y="1794510"/>
            <a:ext cx="114185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2-cell15"/>
          <p:cNvSpPr/>
          <p:nvPr/>
        </p:nvSpPr>
        <p:spPr>
          <a:xfrm>
            <a:off x="9356598" y="1794510"/>
            <a:ext cx="1141857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2-cell16"/>
          <p:cNvSpPr/>
          <p:nvPr/>
        </p:nvSpPr>
        <p:spPr>
          <a:xfrm>
            <a:off x="10498455" y="1794510"/>
            <a:ext cx="1141857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2-figure17" descr="똑같이 4칸으로 나눈 띠, 2칸 색칠"/>
          <p:cNvSpPr/>
          <p:nvPr/>
        </p:nvSpPr>
        <p:spPr>
          <a:xfrm>
            <a:off x="7072884" y="1794510"/>
            <a:ext cx="4567428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2-chip18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6" name="S02-sector19"/>
          <p:cNvSpPr/>
          <p:nvPr/>
        </p:nvSpPr>
        <p:spPr>
          <a:xfrm>
            <a:off x="2747772" y="3360420"/>
            <a:ext cx="1760220" cy="176022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2-sector20"/>
          <p:cNvSpPr/>
          <p:nvPr/>
        </p:nvSpPr>
        <p:spPr>
          <a:xfrm>
            <a:off x="2747772" y="3360420"/>
            <a:ext cx="1760220" cy="1760220"/>
          </a:xfrm>
          <a:prstGeom prst="pie">
            <a:avLst>
              <a:gd name="adj1" fmla="val 0"/>
              <a:gd name="adj2" fmla="val 54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2-sector21"/>
          <p:cNvSpPr/>
          <p:nvPr/>
        </p:nvSpPr>
        <p:spPr>
          <a:xfrm>
            <a:off x="2747772" y="3360420"/>
            <a:ext cx="1760220" cy="1760220"/>
          </a:xfrm>
          <a:prstGeom prst="pie">
            <a:avLst>
              <a:gd name="adj1" fmla="val 5400000"/>
              <a:gd name="adj2" fmla="val 108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2-sector22"/>
          <p:cNvSpPr/>
          <p:nvPr/>
        </p:nvSpPr>
        <p:spPr>
          <a:xfrm>
            <a:off x="2747772" y="3360420"/>
            <a:ext cx="1760220" cy="176022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2-figure23" descr="원을 똑같이 4조각으로 나누어 1조각 색칠"/>
          <p:cNvSpPr/>
          <p:nvPr/>
        </p:nvSpPr>
        <p:spPr>
          <a:xfrm>
            <a:off x="2747772" y="3360420"/>
            <a:ext cx="1760220" cy="176022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2-chip24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22" name="S02-cell25"/>
          <p:cNvSpPr/>
          <p:nvPr/>
        </p:nvSpPr>
        <p:spPr>
          <a:xfrm>
            <a:off x="7072884" y="3829050"/>
            <a:ext cx="152247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2-cell26"/>
          <p:cNvSpPr/>
          <p:nvPr/>
        </p:nvSpPr>
        <p:spPr>
          <a:xfrm>
            <a:off x="8595360" y="3829050"/>
            <a:ext cx="152247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2-cell27"/>
          <p:cNvSpPr/>
          <p:nvPr/>
        </p:nvSpPr>
        <p:spPr>
          <a:xfrm>
            <a:off x="10117836" y="3829050"/>
            <a:ext cx="152247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2-figure28" descr="똑같이 3칸으로 나눈 띠, 1칸 색칠"/>
          <p:cNvSpPr/>
          <p:nvPr/>
        </p:nvSpPr>
        <p:spPr>
          <a:xfrm>
            <a:off x="7072884" y="3829050"/>
            <a:ext cx="4567428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가능성을 말로 나타내요</a:t>
            </a:r>
            <a:endParaRPr lang="ko-KR" sz="4000" dirty="0"/>
          </a:p>
        </p:txBody>
      </p:sp>
      <p:sp>
        <p:nvSpPr>
          <p:cNvPr id="3" name="S03-text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상자에서 바둑돌 1개를 꺼낼 때 흰 돌이 나올 가능성</a:t>
            </a:r>
            <a:endParaRPr lang="ko-KR" sz="2800" dirty="0"/>
          </a:p>
        </p:txBody>
      </p:sp>
      <p:sp>
        <p:nvSpPr>
          <p:cNvPr id="4" name="S03-card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가능성: 어떤 일이 일어나기를 기대할 수 있는 정도</a:t>
            </a:r>
            <a:endParaRPr lang="ko-KR" sz="2800" dirty="0"/>
          </a:p>
        </p:txBody>
      </p:sp>
      <p:sp>
        <p:nvSpPr>
          <p:cNvPr id="6" name="S03-figure32" descr="바둑돌 4개씩 든 상자 5개: 흰 돌이 0개(불가능하다), 1개(~아닐 것 같다), 2개(반반이다), 3개(~일 것 같다), 4개(확실하다)"/>
          <p:cNvSpPr/>
          <p:nvPr/>
        </p:nvSpPr>
        <p:spPr>
          <a:xfrm>
            <a:off x="2102685" y="2200547"/>
            <a:ext cx="1260566" cy="1260566"/>
          </a:xfrm>
          <a:custGeom>
            <a:avLst/>
            <a:gdLst/>
            <a:ahLst/>
            <a:cxnLst/>
            <a:rect l="l" t="t" r="r" b="b"/>
            <a:pathLst>
              <a:path w="1260566" h="1260566">
                <a:moveTo>
                  <a:pt x="0" y="1260566"/>
                </a:moveTo>
                <a:lnTo>
                  <a:pt x="1260566" y="1260566"/>
                </a:lnTo>
                <a:lnTo>
                  <a:pt x="1260566" y="0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3-mark33"/>
          <p:cNvSpPr/>
          <p:nvPr/>
        </p:nvSpPr>
        <p:spPr>
          <a:xfrm>
            <a:off x="3783439" y="2200547"/>
            <a:ext cx="1260566" cy="1260566"/>
          </a:xfrm>
          <a:custGeom>
            <a:avLst/>
            <a:gdLst/>
            <a:ahLst/>
            <a:cxnLst/>
            <a:rect l="l" t="t" r="r" b="b"/>
            <a:pathLst>
              <a:path w="1260566" h="1260566">
                <a:moveTo>
                  <a:pt x="0" y="1260566"/>
                </a:moveTo>
                <a:lnTo>
                  <a:pt x="1260566" y="1260566"/>
                </a:lnTo>
                <a:lnTo>
                  <a:pt x="1260566" y="0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03-mark34"/>
          <p:cNvSpPr/>
          <p:nvPr/>
        </p:nvSpPr>
        <p:spPr>
          <a:xfrm>
            <a:off x="5464193" y="2200547"/>
            <a:ext cx="1260566" cy="1260566"/>
          </a:xfrm>
          <a:custGeom>
            <a:avLst/>
            <a:gdLst/>
            <a:ahLst/>
            <a:cxnLst/>
            <a:rect l="l" t="t" r="r" b="b"/>
            <a:pathLst>
              <a:path w="1260566" h="1260566">
                <a:moveTo>
                  <a:pt x="0" y="1260566"/>
                </a:moveTo>
                <a:lnTo>
                  <a:pt x="1260566" y="1260566"/>
                </a:lnTo>
                <a:lnTo>
                  <a:pt x="1260566" y="0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" name="S03-mark35"/>
          <p:cNvSpPr/>
          <p:nvPr/>
        </p:nvSpPr>
        <p:spPr>
          <a:xfrm>
            <a:off x="7144947" y="2200547"/>
            <a:ext cx="1260566" cy="1260566"/>
          </a:xfrm>
          <a:custGeom>
            <a:avLst/>
            <a:gdLst/>
            <a:ahLst/>
            <a:cxnLst/>
            <a:rect l="l" t="t" r="r" b="b"/>
            <a:pathLst>
              <a:path w="1260566" h="1260566">
                <a:moveTo>
                  <a:pt x="0" y="1260566"/>
                </a:moveTo>
                <a:lnTo>
                  <a:pt x="1260566" y="1260566"/>
                </a:lnTo>
                <a:lnTo>
                  <a:pt x="1260566" y="0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03-mark36"/>
          <p:cNvSpPr/>
          <p:nvPr/>
        </p:nvSpPr>
        <p:spPr>
          <a:xfrm>
            <a:off x="8825702" y="2200547"/>
            <a:ext cx="1260566" cy="1260566"/>
          </a:xfrm>
          <a:custGeom>
            <a:avLst/>
            <a:gdLst/>
            <a:ahLst/>
            <a:cxnLst/>
            <a:rect l="l" t="t" r="r" b="b"/>
            <a:pathLst>
              <a:path w="1260566" h="1260566">
                <a:moveTo>
                  <a:pt x="0" y="1260566"/>
                </a:moveTo>
                <a:lnTo>
                  <a:pt x="1260566" y="1260566"/>
                </a:lnTo>
                <a:lnTo>
                  <a:pt x="1260566" y="0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3-mark37"/>
          <p:cNvSpPr/>
          <p:nvPr/>
        </p:nvSpPr>
        <p:spPr>
          <a:xfrm>
            <a:off x="2270760" y="2368623"/>
            <a:ext cx="399179" cy="399179"/>
          </a:xfrm>
          <a:prstGeom prst="ellipse">
            <a:avLst/>
          </a:prstGeom>
          <a:solidFill>
            <a:srgbClr val="1F293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mark38"/>
          <p:cNvSpPr/>
          <p:nvPr/>
        </p:nvSpPr>
        <p:spPr>
          <a:xfrm>
            <a:off x="2795996" y="2368623"/>
            <a:ext cx="399179" cy="399179"/>
          </a:xfrm>
          <a:prstGeom prst="ellipse">
            <a:avLst/>
          </a:prstGeom>
          <a:solidFill>
            <a:srgbClr val="1F293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mark39"/>
          <p:cNvSpPr/>
          <p:nvPr/>
        </p:nvSpPr>
        <p:spPr>
          <a:xfrm>
            <a:off x="2270760" y="2893858"/>
            <a:ext cx="399179" cy="399179"/>
          </a:xfrm>
          <a:prstGeom prst="ellipse">
            <a:avLst/>
          </a:prstGeom>
          <a:solidFill>
            <a:srgbClr val="1F293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3-mark40"/>
          <p:cNvSpPr/>
          <p:nvPr/>
        </p:nvSpPr>
        <p:spPr>
          <a:xfrm>
            <a:off x="2795996" y="2893858"/>
            <a:ext cx="399179" cy="399179"/>
          </a:xfrm>
          <a:prstGeom prst="ellipse">
            <a:avLst/>
          </a:prstGeom>
          <a:solidFill>
            <a:srgbClr val="1F293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mark41"/>
          <p:cNvSpPr/>
          <p:nvPr/>
        </p:nvSpPr>
        <p:spPr>
          <a:xfrm>
            <a:off x="3951514" y="2368623"/>
            <a:ext cx="399179" cy="39917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mark42"/>
          <p:cNvSpPr/>
          <p:nvPr/>
        </p:nvSpPr>
        <p:spPr>
          <a:xfrm>
            <a:off x="4476750" y="2368623"/>
            <a:ext cx="399179" cy="399179"/>
          </a:xfrm>
          <a:prstGeom prst="ellipse">
            <a:avLst/>
          </a:prstGeom>
          <a:solidFill>
            <a:srgbClr val="1F293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mark43"/>
          <p:cNvSpPr/>
          <p:nvPr/>
        </p:nvSpPr>
        <p:spPr>
          <a:xfrm>
            <a:off x="3951514" y="2893858"/>
            <a:ext cx="399179" cy="399179"/>
          </a:xfrm>
          <a:prstGeom prst="ellipse">
            <a:avLst/>
          </a:prstGeom>
          <a:solidFill>
            <a:srgbClr val="1F293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3-mark44"/>
          <p:cNvSpPr/>
          <p:nvPr/>
        </p:nvSpPr>
        <p:spPr>
          <a:xfrm>
            <a:off x="4476750" y="2893858"/>
            <a:ext cx="399179" cy="399179"/>
          </a:xfrm>
          <a:prstGeom prst="ellipse">
            <a:avLst/>
          </a:prstGeom>
          <a:solidFill>
            <a:srgbClr val="1F293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3-mark45"/>
          <p:cNvSpPr/>
          <p:nvPr/>
        </p:nvSpPr>
        <p:spPr>
          <a:xfrm>
            <a:off x="5632269" y="2368623"/>
            <a:ext cx="399179" cy="39917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3-mark46"/>
          <p:cNvSpPr/>
          <p:nvPr/>
        </p:nvSpPr>
        <p:spPr>
          <a:xfrm>
            <a:off x="6157504" y="2368623"/>
            <a:ext cx="399179" cy="39917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3-mark47"/>
          <p:cNvSpPr/>
          <p:nvPr/>
        </p:nvSpPr>
        <p:spPr>
          <a:xfrm>
            <a:off x="5632269" y="2893858"/>
            <a:ext cx="399179" cy="399179"/>
          </a:xfrm>
          <a:prstGeom prst="ellipse">
            <a:avLst/>
          </a:prstGeom>
          <a:solidFill>
            <a:srgbClr val="1F293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3-mark48"/>
          <p:cNvSpPr/>
          <p:nvPr/>
        </p:nvSpPr>
        <p:spPr>
          <a:xfrm>
            <a:off x="6157504" y="2893858"/>
            <a:ext cx="399179" cy="399179"/>
          </a:xfrm>
          <a:prstGeom prst="ellipse">
            <a:avLst/>
          </a:prstGeom>
          <a:solidFill>
            <a:srgbClr val="1F293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3-mark49"/>
          <p:cNvSpPr/>
          <p:nvPr/>
        </p:nvSpPr>
        <p:spPr>
          <a:xfrm>
            <a:off x="7313023" y="2368623"/>
            <a:ext cx="399179" cy="39917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3-mark50"/>
          <p:cNvSpPr/>
          <p:nvPr/>
        </p:nvSpPr>
        <p:spPr>
          <a:xfrm>
            <a:off x="7838259" y="2368623"/>
            <a:ext cx="399179" cy="39917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3-mark51"/>
          <p:cNvSpPr/>
          <p:nvPr/>
        </p:nvSpPr>
        <p:spPr>
          <a:xfrm>
            <a:off x="7313023" y="2893858"/>
            <a:ext cx="399179" cy="39917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3-mark52"/>
          <p:cNvSpPr/>
          <p:nvPr/>
        </p:nvSpPr>
        <p:spPr>
          <a:xfrm>
            <a:off x="7838259" y="2893858"/>
            <a:ext cx="399179" cy="399179"/>
          </a:xfrm>
          <a:prstGeom prst="ellipse">
            <a:avLst/>
          </a:prstGeom>
          <a:solidFill>
            <a:srgbClr val="1F293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3-mark53"/>
          <p:cNvSpPr/>
          <p:nvPr/>
        </p:nvSpPr>
        <p:spPr>
          <a:xfrm>
            <a:off x="8993777" y="2368623"/>
            <a:ext cx="399179" cy="39917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3-mark54"/>
          <p:cNvSpPr/>
          <p:nvPr/>
        </p:nvSpPr>
        <p:spPr>
          <a:xfrm>
            <a:off x="9519013" y="2368623"/>
            <a:ext cx="399179" cy="39917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3-mark55"/>
          <p:cNvSpPr/>
          <p:nvPr/>
        </p:nvSpPr>
        <p:spPr>
          <a:xfrm>
            <a:off x="8993777" y="2893858"/>
            <a:ext cx="399179" cy="39917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3-mark56"/>
          <p:cNvSpPr/>
          <p:nvPr/>
        </p:nvSpPr>
        <p:spPr>
          <a:xfrm>
            <a:off x="9519013" y="2893858"/>
            <a:ext cx="399179" cy="39917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3-mark57"/>
          <p:cNvSpPr/>
          <p:nvPr/>
        </p:nvSpPr>
        <p:spPr>
          <a:xfrm>
            <a:off x="2102685" y="4564108"/>
            <a:ext cx="7983583" cy="0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32" name="S03-label59"/>
          <p:cNvSpPr txBox="1"/>
          <p:nvPr/>
        </p:nvSpPr>
        <p:spPr>
          <a:xfrm>
            <a:off x="2267385" y="3584575"/>
            <a:ext cx="931164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불가능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하다</a:t>
            </a:r>
            <a:endParaRPr lang="ko-KR" sz="2200" dirty="0"/>
          </a:p>
        </p:txBody>
      </p:sp>
      <p:sp>
        <p:nvSpPr>
          <p:cNvPr id="33" name="S03-label61"/>
          <p:cNvSpPr txBox="1"/>
          <p:nvPr/>
        </p:nvSpPr>
        <p:spPr>
          <a:xfrm>
            <a:off x="3847556" y="3584575"/>
            <a:ext cx="113233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~아닐 것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같다</a:t>
            </a:r>
            <a:endParaRPr lang="ko-KR" sz="2200" dirty="0"/>
          </a:p>
        </p:txBody>
      </p:sp>
      <p:sp>
        <p:nvSpPr>
          <p:cNvPr id="34" name="S03-label63"/>
          <p:cNvSpPr txBox="1"/>
          <p:nvPr/>
        </p:nvSpPr>
        <p:spPr>
          <a:xfrm>
            <a:off x="5765800" y="3584575"/>
            <a:ext cx="65735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반반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이다</a:t>
            </a:r>
            <a:endParaRPr lang="ko-KR" sz="2200" dirty="0"/>
          </a:p>
        </p:txBody>
      </p:sp>
      <p:sp>
        <p:nvSpPr>
          <p:cNvPr id="35" name="S03-label65"/>
          <p:cNvSpPr txBox="1"/>
          <p:nvPr/>
        </p:nvSpPr>
        <p:spPr>
          <a:xfrm>
            <a:off x="7345970" y="3584575"/>
            <a:ext cx="85852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~일 것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같다</a:t>
            </a:r>
            <a:endParaRPr lang="ko-KR" sz="2200" dirty="0"/>
          </a:p>
        </p:txBody>
      </p:sp>
      <p:sp>
        <p:nvSpPr>
          <p:cNvPr id="36" name="S03-label67"/>
          <p:cNvSpPr txBox="1"/>
          <p:nvPr/>
        </p:nvSpPr>
        <p:spPr>
          <a:xfrm>
            <a:off x="9127309" y="3584575"/>
            <a:ext cx="65735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확실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하다</a:t>
            </a:r>
            <a:endParaRPr lang="ko-KR" sz="2200" dirty="0"/>
          </a:p>
        </p:txBody>
      </p:sp>
      <p:sp>
        <p:nvSpPr>
          <p:cNvPr id="37" name="S03-label69"/>
          <p:cNvSpPr txBox="1"/>
          <p:nvPr/>
        </p:nvSpPr>
        <p:spPr>
          <a:xfrm>
            <a:off x="4229100" y="4678362"/>
            <a:ext cx="37307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돌이 나올 가능성이 커져요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말이 알맞을까요?</a:t>
            </a:r>
            <a:endParaRPr lang="ko-KR" sz="4000" dirty="0"/>
          </a:p>
        </p:txBody>
      </p:sp>
      <p:sp>
        <p:nvSpPr>
          <p:cNvPr id="3" name="S04-text7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가능성을 말로 나타내고 까닭을 말해요.</a:t>
            </a:r>
            <a:endParaRPr lang="ko-KR" sz="2800" dirty="0"/>
          </a:p>
        </p:txBody>
      </p:sp>
      <p:sp>
        <p:nvSpPr>
          <p:cNvPr id="4" name="S04-card71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72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불가능하다 · ~아닐 것 같다 · 반반이다 · ~일 것 같다 · 확실하다</a:t>
            </a:r>
            <a:endParaRPr lang="ko-KR" sz="2800" dirty="0"/>
          </a:p>
        </p:txBody>
      </p:sp>
      <p:sp>
        <p:nvSpPr>
          <p:cNvPr id="6" name="S04-chip73"/>
          <p:cNvSpPr txBox="1"/>
          <p:nvPr/>
        </p:nvSpPr>
        <p:spPr>
          <a:xfrm>
            <a:off x="548640" y="237769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4-text74"/>
          <p:cNvSpPr txBox="1"/>
          <p:nvPr/>
        </p:nvSpPr>
        <p:spPr>
          <a:xfrm>
            <a:off x="1344168" y="2011680"/>
            <a:ext cx="4567428" cy="1298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동전을 던지면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면이 나와요.</a:t>
            </a:r>
            <a:endParaRPr lang="ko-KR" sz="2800" dirty="0"/>
          </a:p>
        </p:txBody>
      </p:sp>
      <p:sp>
        <p:nvSpPr>
          <p:cNvPr id="8" name="S04-chip75"/>
          <p:cNvSpPr txBox="1"/>
          <p:nvPr/>
        </p:nvSpPr>
        <p:spPr>
          <a:xfrm>
            <a:off x="6277356" y="237769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4-text76"/>
          <p:cNvSpPr txBox="1"/>
          <p:nvPr/>
        </p:nvSpPr>
        <p:spPr>
          <a:xfrm>
            <a:off x="7072884" y="2011680"/>
            <a:ext cx="4567428" cy="1298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주사위를 굴리면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7이 나와요.</a:t>
            </a:r>
            <a:endParaRPr lang="ko-KR" sz="2800" dirty="0"/>
          </a:p>
        </p:txBody>
      </p:sp>
      <p:sp>
        <p:nvSpPr>
          <p:cNvPr id="10" name="S04-chip77"/>
          <p:cNvSpPr txBox="1"/>
          <p:nvPr/>
        </p:nvSpPr>
        <p:spPr>
          <a:xfrm>
            <a:off x="548640" y="385953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4-text78"/>
          <p:cNvSpPr txBox="1"/>
          <p:nvPr/>
        </p:nvSpPr>
        <p:spPr>
          <a:xfrm>
            <a:off x="1344168" y="3493516"/>
            <a:ext cx="4567428" cy="1298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주사위를 굴리면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6이 나와요.</a:t>
            </a:r>
            <a:endParaRPr lang="ko-KR" sz="2800" dirty="0"/>
          </a:p>
        </p:txBody>
      </p:sp>
      <p:sp>
        <p:nvSpPr>
          <p:cNvPr id="12" name="S04-chip79"/>
          <p:cNvSpPr txBox="1"/>
          <p:nvPr/>
        </p:nvSpPr>
        <p:spPr>
          <a:xfrm>
            <a:off x="6277356" y="385953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4-text80"/>
          <p:cNvSpPr txBox="1"/>
          <p:nvPr/>
        </p:nvSpPr>
        <p:spPr>
          <a:xfrm>
            <a:off x="7072884" y="3493516"/>
            <a:ext cx="4567428" cy="1298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주사위를 굴리면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1이 아닌 수가 나와요.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돌이 꼭 나올까요?</a:t>
            </a:r>
            <a:endParaRPr lang="ko-KR" sz="4000" dirty="0"/>
          </a:p>
        </p:txBody>
      </p:sp>
      <p:sp>
        <p:nvSpPr>
          <p:cNvPr id="3" name="S05-card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상자에서 1개를 꺼내요. 누구 말이 맞을까요?</a:t>
            </a:r>
            <a:endParaRPr lang="ko-KR" sz="2800" dirty="0"/>
          </a:p>
        </p:txBody>
      </p:sp>
      <p:sp>
        <p:nvSpPr>
          <p:cNvPr id="5" name="S05-figure83" descr="흰 돌 3개, 검은 돌 1개가 든 상자"/>
          <p:cNvSpPr/>
          <p:nvPr/>
        </p:nvSpPr>
        <p:spPr>
          <a:xfrm>
            <a:off x="1382024" y="2080260"/>
            <a:ext cx="2194560" cy="2194560"/>
          </a:xfrm>
          <a:custGeom>
            <a:avLst/>
            <a:gdLst/>
            <a:ahLst/>
            <a:cxnLst/>
            <a:rect l="l" t="t" r="r" b="b"/>
            <a:pathLst>
              <a:path w="2194560" h="2194560">
                <a:moveTo>
                  <a:pt x="0" y="2194560"/>
                </a:moveTo>
                <a:lnTo>
                  <a:pt x="2194560" y="2194560"/>
                </a:lnTo>
                <a:lnTo>
                  <a:pt x="2194560" y="0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5-mark84"/>
          <p:cNvSpPr/>
          <p:nvPr/>
        </p:nvSpPr>
        <p:spPr>
          <a:xfrm>
            <a:off x="1674632" y="2372868"/>
            <a:ext cx="694944" cy="694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5-mark85"/>
          <p:cNvSpPr/>
          <p:nvPr/>
        </p:nvSpPr>
        <p:spPr>
          <a:xfrm>
            <a:off x="2589032" y="2372868"/>
            <a:ext cx="694944" cy="694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5-mark86"/>
          <p:cNvSpPr/>
          <p:nvPr/>
        </p:nvSpPr>
        <p:spPr>
          <a:xfrm>
            <a:off x="1674632" y="3287268"/>
            <a:ext cx="694944" cy="694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5-mark87"/>
          <p:cNvSpPr/>
          <p:nvPr/>
        </p:nvSpPr>
        <p:spPr>
          <a:xfrm>
            <a:off x="2589032" y="3287268"/>
            <a:ext cx="694944" cy="694944"/>
          </a:xfrm>
          <a:prstGeom prst="ellipse">
            <a:avLst/>
          </a:prstGeom>
          <a:solidFill>
            <a:srgbClr val="1F293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5-card88"/>
          <p:cNvSpPr/>
          <p:nvPr/>
        </p:nvSpPr>
        <p:spPr>
          <a:xfrm>
            <a:off x="4775728" y="1588008"/>
            <a:ext cx="686458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5-cardtext89"/>
          <p:cNvSpPr txBox="1"/>
          <p:nvPr/>
        </p:nvSpPr>
        <p:spPr>
          <a:xfrm>
            <a:off x="5050048" y="1725168"/>
            <a:ext cx="631594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돌이 더 많으니까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 흰 돌이 나와요.</a:t>
            </a:r>
            <a:endParaRPr lang="ko-KR" sz="2800" dirty="0"/>
          </a:p>
        </p:txBody>
      </p:sp>
      <p:sp>
        <p:nvSpPr>
          <p:cNvPr id="12" name="S05-card90"/>
          <p:cNvSpPr/>
          <p:nvPr/>
        </p:nvSpPr>
        <p:spPr>
          <a:xfrm>
            <a:off x="4775728" y="3337560"/>
            <a:ext cx="686458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5-cardtext91"/>
          <p:cNvSpPr txBox="1"/>
          <p:nvPr/>
        </p:nvSpPr>
        <p:spPr>
          <a:xfrm>
            <a:off x="5050048" y="3474720"/>
            <a:ext cx="631594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돌이 나올 것 같지만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검은 돌도 나올 수 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가능성을 수로 나타내요</a:t>
            </a:r>
            <a:endParaRPr lang="ko-KR" sz="4000" dirty="0"/>
          </a:p>
        </p:txBody>
      </p:sp>
      <p:sp>
        <p:nvSpPr>
          <p:cNvPr id="3" name="S06-text9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불가능은 0, 반반은 2분의 1, 확실은 1로 나타내요.</a:t>
            </a:r>
            <a:endParaRPr lang="ko-KR" sz="2800" dirty="0"/>
          </a:p>
        </p:txBody>
      </p:sp>
      <p:sp>
        <p:nvSpPr>
          <p:cNvPr id="4" name="S06-card9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9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가능성이 클수록 1에 가깝고, 작을수록 0에 가까워요.</a:t>
            </a:r>
            <a:endParaRPr lang="ko-KR" sz="2800" dirty="0"/>
          </a:p>
        </p:txBody>
      </p:sp>
      <p:sp>
        <p:nvSpPr>
          <p:cNvPr id="6" name="S06-figure95" descr="가능성을 나타내는 수직선: 왼쪽 끝 0(불가능하다), 가운데 2분의 1(반반이다), 오른쪽 끝 1(확실하다). 0과 2분의 1 사이는 ~아닐 것 같다, 2분의 1과 1 사이는 ~일 것 같다"/>
          <p:cNvSpPr/>
          <p:nvPr/>
        </p:nvSpPr>
        <p:spPr>
          <a:xfrm>
            <a:off x="1412748" y="3440379"/>
            <a:ext cx="9363456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6-mark96"/>
          <p:cNvSpPr/>
          <p:nvPr/>
        </p:nvSpPr>
        <p:spPr>
          <a:xfrm flipV="1">
            <a:off x="1412748" y="3268716"/>
            <a:ext cx="0" cy="34332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06-mark97"/>
          <p:cNvSpPr/>
          <p:nvPr/>
        </p:nvSpPr>
        <p:spPr>
          <a:xfrm flipV="1">
            <a:off x="6094476" y="3268716"/>
            <a:ext cx="0" cy="34332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" name="S06-mark98"/>
          <p:cNvSpPr/>
          <p:nvPr/>
        </p:nvSpPr>
        <p:spPr>
          <a:xfrm flipV="1">
            <a:off x="10776204" y="3268716"/>
            <a:ext cx="0" cy="34332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06-mark99"/>
          <p:cNvSpPr/>
          <p:nvPr/>
        </p:nvSpPr>
        <p:spPr>
          <a:xfrm>
            <a:off x="5977128" y="4001364"/>
            <a:ext cx="23469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1" name="S06-label101"/>
          <p:cNvSpPr txBox="1"/>
          <p:nvPr/>
        </p:nvSpPr>
        <p:spPr>
          <a:xfrm>
            <a:off x="1265682" y="3826739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12" name="S06-label103"/>
          <p:cNvSpPr txBox="1"/>
          <p:nvPr/>
        </p:nvSpPr>
        <p:spPr>
          <a:xfrm>
            <a:off x="10629138" y="3826739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3" name="S06-label105"/>
          <p:cNvSpPr txBox="1"/>
          <p:nvPr/>
        </p:nvSpPr>
        <p:spPr>
          <a:xfrm>
            <a:off x="5947410" y="3653511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4" name="S06-label107"/>
          <p:cNvSpPr txBox="1"/>
          <p:nvPr/>
        </p:nvSpPr>
        <p:spPr>
          <a:xfrm>
            <a:off x="5947410" y="3999967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5" name="S06-label109"/>
          <p:cNvSpPr txBox="1"/>
          <p:nvPr/>
        </p:nvSpPr>
        <p:spPr>
          <a:xfrm>
            <a:off x="673354" y="2783103"/>
            <a:ext cx="147878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불가능하다</a:t>
            </a:r>
            <a:endParaRPr lang="ko-KR" sz="2200" dirty="0"/>
          </a:p>
        </p:txBody>
      </p:sp>
      <p:sp>
        <p:nvSpPr>
          <p:cNvPr id="16" name="S06-label111"/>
          <p:cNvSpPr txBox="1"/>
          <p:nvPr/>
        </p:nvSpPr>
        <p:spPr>
          <a:xfrm>
            <a:off x="5491988" y="2783103"/>
            <a:ext cx="12049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반반이다</a:t>
            </a:r>
            <a:endParaRPr lang="ko-KR" sz="2200" dirty="0"/>
          </a:p>
        </p:txBody>
      </p:sp>
      <p:sp>
        <p:nvSpPr>
          <p:cNvPr id="17" name="S06-label113"/>
          <p:cNvSpPr txBox="1"/>
          <p:nvPr/>
        </p:nvSpPr>
        <p:spPr>
          <a:xfrm>
            <a:off x="10173716" y="2783103"/>
            <a:ext cx="12049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확실하다</a:t>
            </a:r>
            <a:endParaRPr lang="ko-KR" sz="2200" dirty="0"/>
          </a:p>
        </p:txBody>
      </p:sp>
      <p:sp>
        <p:nvSpPr>
          <p:cNvPr id="18" name="S06-label115"/>
          <p:cNvSpPr txBox="1"/>
          <p:nvPr/>
        </p:nvSpPr>
        <p:spPr>
          <a:xfrm>
            <a:off x="2871724" y="2783103"/>
            <a:ext cx="17637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~아닐 것 같다</a:t>
            </a:r>
            <a:endParaRPr lang="ko-KR" sz="2200" dirty="0"/>
          </a:p>
        </p:txBody>
      </p:sp>
      <p:sp>
        <p:nvSpPr>
          <p:cNvPr id="19" name="S06-label117"/>
          <p:cNvSpPr txBox="1"/>
          <p:nvPr/>
        </p:nvSpPr>
        <p:spPr>
          <a:xfrm>
            <a:off x="7690358" y="2783103"/>
            <a:ext cx="14899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~일 것 같다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회전판의 가능성</a:t>
            </a:r>
            <a:endParaRPr lang="ko-KR" sz="4000" dirty="0"/>
          </a:p>
        </p:txBody>
      </p:sp>
      <p:sp>
        <p:nvSpPr>
          <p:cNvPr id="3" name="S07-card1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화살이 색칠한 곳에 멈출 가능성을 말과 수로 나타내요.</a:t>
            </a:r>
            <a:endParaRPr lang="ko-KR" sz="2800" dirty="0"/>
          </a:p>
        </p:txBody>
      </p:sp>
      <p:sp>
        <p:nvSpPr>
          <p:cNvPr id="5" name="S07-chip120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07-sector121"/>
          <p:cNvSpPr/>
          <p:nvPr/>
        </p:nvSpPr>
        <p:spPr>
          <a:xfrm>
            <a:off x="812292" y="2112264"/>
            <a:ext cx="2926080" cy="292608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7-sector122"/>
          <p:cNvSpPr/>
          <p:nvPr/>
        </p:nvSpPr>
        <p:spPr>
          <a:xfrm>
            <a:off x="812292" y="2112264"/>
            <a:ext cx="2926080" cy="2926080"/>
          </a:xfrm>
          <a:prstGeom prst="pie">
            <a:avLst>
              <a:gd name="adj1" fmla="val 5400000"/>
              <a:gd name="adj2" fmla="val 162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7-figure123" descr="회전판 가: 전체를 색칠"/>
          <p:cNvSpPr/>
          <p:nvPr/>
        </p:nvSpPr>
        <p:spPr>
          <a:xfrm>
            <a:off x="812292" y="2112264"/>
            <a:ext cx="2926080" cy="29260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7-chip124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07-sector125"/>
          <p:cNvSpPr/>
          <p:nvPr/>
        </p:nvSpPr>
        <p:spPr>
          <a:xfrm>
            <a:off x="4631436" y="2112264"/>
            <a:ext cx="2926080" cy="292608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7-sector126"/>
          <p:cNvSpPr/>
          <p:nvPr/>
        </p:nvSpPr>
        <p:spPr>
          <a:xfrm>
            <a:off x="4631436" y="2112264"/>
            <a:ext cx="2926080" cy="2926080"/>
          </a:xfrm>
          <a:prstGeom prst="pie">
            <a:avLst>
              <a:gd name="adj1" fmla="val 54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7-figure127" descr="회전판 나: 반을 색칠"/>
          <p:cNvSpPr/>
          <p:nvPr/>
        </p:nvSpPr>
        <p:spPr>
          <a:xfrm>
            <a:off x="4631436" y="2112264"/>
            <a:ext cx="2926080" cy="29260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7-chip128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4" name="S07-sector129"/>
          <p:cNvSpPr/>
          <p:nvPr/>
        </p:nvSpPr>
        <p:spPr>
          <a:xfrm>
            <a:off x="8450580" y="2112264"/>
            <a:ext cx="2926080" cy="292608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7-sector130"/>
          <p:cNvSpPr/>
          <p:nvPr/>
        </p:nvSpPr>
        <p:spPr>
          <a:xfrm>
            <a:off x="8450580" y="2112264"/>
            <a:ext cx="2926080" cy="2926080"/>
          </a:xfrm>
          <a:prstGeom prst="pie">
            <a:avLst>
              <a:gd name="adj1" fmla="val 0"/>
              <a:gd name="adj2" fmla="val 54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7-sector131"/>
          <p:cNvSpPr/>
          <p:nvPr/>
        </p:nvSpPr>
        <p:spPr>
          <a:xfrm>
            <a:off x="8450580" y="2112264"/>
            <a:ext cx="2926080" cy="2926080"/>
          </a:xfrm>
          <a:prstGeom prst="pie">
            <a:avLst>
              <a:gd name="adj1" fmla="val 5400000"/>
              <a:gd name="adj2" fmla="val 108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7-sector132"/>
          <p:cNvSpPr/>
          <p:nvPr/>
        </p:nvSpPr>
        <p:spPr>
          <a:xfrm>
            <a:off x="8450580" y="2112264"/>
            <a:ext cx="2926080" cy="292608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7-figure133" descr="회전판 다: 4조각 모두 색칠하지 않음"/>
          <p:cNvSpPr/>
          <p:nvPr/>
        </p:nvSpPr>
        <p:spPr>
          <a:xfrm>
            <a:off x="8450580" y="2112264"/>
            <a:ext cx="2926080" cy="29260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이번에는 숫자 면일까요?</a:t>
            </a:r>
            <a:endParaRPr lang="ko-KR" sz="4000" dirty="0"/>
          </a:p>
        </p:txBody>
      </p:sp>
      <p:sp>
        <p:nvSpPr>
          <p:cNvPr id="3" name="S08-card134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35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동전을 던졌더니 그림 면이 3번 연달아 나왔어요. 다음에 숫자 면이 나올 가능성은?</a:t>
            </a:r>
            <a:endParaRPr lang="ko-KR" sz="2800" dirty="0"/>
          </a:p>
        </p:txBody>
      </p:sp>
      <p:sp>
        <p:nvSpPr>
          <p:cNvPr id="5" name="S08-card1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까닭을 말해요.</a:t>
            </a:r>
            <a:endParaRPr lang="ko-KR" sz="2800" dirty="0"/>
          </a:p>
        </p:txBody>
      </p:sp>
      <p:sp>
        <p:nvSpPr>
          <p:cNvPr id="7" name="S08-chip138"/>
          <p:cNvSpPr txBox="1"/>
          <p:nvPr/>
        </p:nvSpPr>
        <p:spPr>
          <a:xfrm>
            <a:off x="548640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08-text139"/>
          <p:cNvSpPr txBox="1"/>
          <p:nvPr/>
        </p:nvSpPr>
        <p:spPr>
          <a:xfrm>
            <a:off x="548640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면이 많이 나왔으니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이번엔 숫자 면이 나올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것 같아요.</a:t>
            </a:r>
            <a:endParaRPr lang="ko-KR" sz="2800" dirty="0"/>
          </a:p>
        </p:txBody>
      </p:sp>
      <p:sp>
        <p:nvSpPr>
          <p:cNvPr id="9" name="S08-chip140"/>
          <p:cNvSpPr txBox="1"/>
          <p:nvPr/>
        </p:nvSpPr>
        <p:spPr>
          <a:xfrm>
            <a:off x="6277356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08-text141"/>
          <p:cNvSpPr txBox="1"/>
          <p:nvPr/>
        </p:nvSpPr>
        <p:spPr>
          <a:xfrm>
            <a:off x="6277356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동전은 던질 때마다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반반이에요. 가능성은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2분의 1이에요.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09-text14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①~③은 말과 수로, ④는 말로 나타내요.</a:t>
            </a:r>
            <a:endParaRPr lang="ko-KR" sz="2800" dirty="0"/>
          </a:p>
        </p:txBody>
      </p:sp>
      <p:sp>
        <p:nvSpPr>
          <p:cNvPr id="4" name="S09-chip14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9-text144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돌 2개, 검은 돌 2개 중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돌을 꺼낼 가능성</a:t>
            </a:r>
            <a:endParaRPr lang="ko-KR" sz="2800" dirty="0"/>
          </a:p>
        </p:txBody>
      </p:sp>
      <p:sp>
        <p:nvSpPr>
          <p:cNvPr id="6" name="S09-chip14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9-text146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주사위를 굴려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0이 나올 가능성</a:t>
            </a:r>
            <a:endParaRPr lang="ko-KR" sz="2800" dirty="0"/>
          </a:p>
        </p:txBody>
      </p:sp>
      <p:sp>
        <p:nvSpPr>
          <p:cNvPr id="8" name="S09-chip147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9-text148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검은 돌만 5개 중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검은 돌을 꺼낼 가능성</a:t>
            </a:r>
            <a:endParaRPr lang="ko-KR" sz="2800" dirty="0"/>
          </a:p>
        </p:txBody>
      </p:sp>
      <p:sp>
        <p:nvSpPr>
          <p:cNvPr id="10" name="S09-chip149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09-text150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돌 1개, 검은 돌 5개 중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돌을 꺼낼 가능성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0-card151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52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틀렸다면 바둑돌을 실제로 넣고 꺼내 보며 S03의 상자 그림과 비교하세요.</a:t>
            </a:r>
            <a:endParaRPr lang="ko-KR" sz="2800" dirty="0"/>
          </a:p>
        </p:txBody>
      </p:sp>
      <p:sp>
        <p:nvSpPr>
          <p:cNvPr id="5" name="S10-chip153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0-text154"/>
          <p:cNvSpPr txBox="1"/>
          <p:nvPr/>
        </p:nvSpPr>
        <p:spPr>
          <a:xfrm>
            <a:off x="548640" y="2057400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반반이다</a:t>
            </a:r>
            <a:endParaRPr lang="ko-KR" sz="2800" dirty="0"/>
          </a:p>
        </p:txBody>
      </p:sp>
      <p:sp>
        <p:nvSpPr>
          <p:cNvPr id="7" name="S10-text155"/>
          <p:cNvSpPr txBox="1"/>
          <p:nvPr/>
        </p:nvSpPr>
        <p:spPr>
          <a:xfrm>
            <a:off x="3367278" y="2057400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2분의 1</a:t>
            </a:r>
            <a:endParaRPr lang="ko-KR" sz="2200" dirty="0"/>
          </a:p>
        </p:txBody>
      </p:sp>
      <p:sp>
        <p:nvSpPr>
          <p:cNvPr id="8" name="S10-text156"/>
          <p:cNvSpPr txBox="1"/>
          <p:nvPr/>
        </p:nvSpPr>
        <p:spPr>
          <a:xfrm>
            <a:off x="548640" y="2775458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불가능하다</a:t>
            </a:r>
            <a:endParaRPr lang="ko-KR" sz="2800" dirty="0"/>
          </a:p>
        </p:txBody>
      </p:sp>
      <p:sp>
        <p:nvSpPr>
          <p:cNvPr id="9" name="S10-text157"/>
          <p:cNvSpPr txBox="1"/>
          <p:nvPr/>
        </p:nvSpPr>
        <p:spPr>
          <a:xfrm>
            <a:off x="3367278" y="2775458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10" name="S10-text158"/>
          <p:cNvSpPr txBox="1"/>
          <p:nvPr/>
        </p:nvSpPr>
        <p:spPr>
          <a:xfrm>
            <a:off x="548640" y="3493516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확실하다</a:t>
            </a:r>
            <a:endParaRPr lang="ko-KR" sz="2800" dirty="0"/>
          </a:p>
        </p:txBody>
      </p:sp>
      <p:sp>
        <p:nvSpPr>
          <p:cNvPr id="11" name="S10-text159"/>
          <p:cNvSpPr txBox="1"/>
          <p:nvPr/>
        </p:nvSpPr>
        <p:spPr>
          <a:xfrm>
            <a:off x="3367278" y="3493516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2" name="S10-text160"/>
          <p:cNvSpPr txBox="1"/>
          <p:nvPr/>
        </p:nvSpPr>
        <p:spPr>
          <a:xfrm>
            <a:off x="548640" y="4211574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~아닐 것 같다</a:t>
            </a:r>
            <a:endParaRPr lang="ko-KR" sz="2800" dirty="0"/>
          </a:p>
        </p:txBody>
      </p:sp>
      <p:sp>
        <p:nvSpPr>
          <p:cNvPr id="13" name="S10-text161"/>
          <p:cNvSpPr txBox="1"/>
          <p:nvPr/>
        </p:nvSpPr>
        <p:spPr>
          <a:xfrm>
            <a:off x="3367278" y="4211574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돌이 적음</a:t>
            </a:r>
            <a:endParaRPr lang="ko-KR" sz="2200" dirty="0"/>
          </a:p>
        </p:txBody>
      </p:sp>
      <p:sp>
        <p:nvSpPr>
          <p:cNvPr id="14" name="S10-chip16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5" name="S10-text163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~일 것 같다</a:t>
            </a:r>
            <a:endParaRPr lang="ko-KR" sz="2800" dirty="0"/>
          </a:p>
        </p:txBody>
      </p:sp>
      <p:sp>
        <p:nvSpPr>
          <p:cNvPr id="16" name="S10-text164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색이 없음</a:t>
            </a:r>
            <a:endParaRPr lang="ko-KR" sz="2200" dirty="0"/>
          </a:p>
        </p:txBody>
      </p:sp>
      <p:sp>
        <p:nvSpPr>
          <p:cNvPr id="17" name="S10-text165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불가능하다</a:t>
            </a:r>
            <a:endParaRPr lang="ko-KR" sz="2800" dirty="0"/>
          </a:p>
        </p:txBody>
      </p:sp>
      <p:sp>
        <p:nvSpPr>
          <p:cNvPr id="18" name="S10-text166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돌도 1개 있음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수직선의 어디일까요?</a:t>
            </a:r>
            <a:endParaRPr lang="ko-KR" sz="4000" dirty="0"/>
          </a:p>
        </p:txBody>
      </p:sp>
      <p:sp>
        <p:nvSpPr>
          <p:cNvPr id="3" name="S11-figure167" descr="0, 2분의 1, 1이 적힌 수직선에 가(0), 나(2분의 1), 다(1) 표시"/>
          <p:cNvSpPr/>
          <p:nvPr/>
        </p:nvSpPr>
        <p:spPr>
          <a:xfrm>
            <a:off x="6880708" y="3639600"/>
            <a:ext cx="4156253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4" name="S11-mark168"/>
          <p:cNvSpPr/>
          <p:nvPr/>
        </p:nvSpPr>
        <p:spPr>
          <a:xfrm flipV="1">
            <a:off x="6880708" y="3525303"/>
            <a:ext cx="0" cy="2285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" name="S11-mark169"/>
          <p:cNvSpPr/>
          <p:nvPr/>
        </p:nvSpPr>
        <p:spPr>
          <a:xfrm flipV="1">
            <a:off x="8958834" y="3525303"/>
            <a:ext cx="0" cy="2285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11-mark170"/>
          <p:cNvSpPr/>
          <p:nvPr/>
        </p:nvSpPr>
        <p:spPr>
          <a:xfrm flipV="1">
            <a:off x="11036960" y="3525303"/>
            <a:ext cx="0" cy="2285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11-mark171"/>
          <p:cNvSpPr/>
          <p:nvPr/>
        </p:nvSpPr>
        <p:spPr>
          <a:xfrm>
            <a:off x="8841486" y="4122358"/>
            <a:ext cx="23469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8" name="S11-mark172"/>
          <p:cNvSpPr/>
          <p:nvPr/>
        </p:nvSpPr>
        <p:spPr>
          <a:xfrm>
            <a:off x="6821272" y="35801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1-mark173"/>
          <p:cNvSpPr/>
          <p:nvPr/>
        </p:nvSpPr>
        <p:spPr>
          <a:xfrm>
            <a:off x="8899398" y="35801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1-mark174"/>
          <p:cNvSpPr/>
          <p:nvPr/>
        </p:nvSpPr>
        <p:spPr>
          <a:xfrm>
            <a:off x="10977524" y="35801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1-label176"/>
          <p:cNvSpPr txBox="1"/>
          <p:nvPr/>
        </p:nvSpPr>
        <p:spPr>
          <a:xfrm>
            <a:off x="6733642" y="3947733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12" name="S11-label178"/>
          <p:cNvSpPr txBox="1"/>
          <p:nvPr/>
        </p:nvSpPr>
        <p:spPr>
          <a:xfrm>
            <a:off x="10889894" y="3947733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3" name="S11-label180"/>
          <p:cNvSpPr txBox="1"/>
          <p:nvPr/>
        </p:nvSpPr>
        <p:spPr>
          <a:xfrm>
            <a:off x="8811768" y="377450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4" name="S11-label182"/>
          <p:cNvSpPr txBox="1"/>
          <p:nvPr/>
        </p:nvSpPr>
        <p:spPr>
          <a:xfrm>
            <a:off x="8811768" y="4120961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5" name="S11-label184"/>
          <p:cNvSpPr txBox="1"/>
          <p:nvPr/>
        </p:nvSpPr>
        <p:spPr>
          <a:xfrm>
            <a:off x="6688938" y="307358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16" name="S11-label186"/>
          <p:cNvSpPr txBox="1"/>
          <p:nvPr/>
        </p:nvSpPr>
        <p:spPr>
          <a:xfrm>
            <a:off x="8767064" y="307358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7" name="S11-label188"/>
          <p:cNvSpPr txBox="1"/>
          <p:nvPr/>
        </p:nvSpPr>
        <p:spPr>
          <a:xfrm>
            <a:off x="10845190" y="307358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18" name="S11-chip18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9" name="S11-text190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동전을 던져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면이 나올 가능성</a:t>
            </a:r>
            <a:endParaRPr lang="ko-KR" sz="2800" dirty="0"/>
          </a:p>
        </p:txBody>
      </p:sp>
      <p:sp>
        <p:nvSpPr>
          <p:cNvPr id="20" name="S11-chip191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1" name="S11-text192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돌만 든 상자에서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검은 돌을 꺼낼 가능성</a:t>
            </a:r>
            <a:endParaRPr lang="ko-KR" sz="2800" dirty="0"/>
          </a:p>
        </p:txBody>
      </p:sp>
      <p:sp>
        <p:nvSpPr>
          <p:cNvPr id="22" name="S11-chip19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3" name="S11-text194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오늘이 화요일일 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내일이 수요일일 가능성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2-card195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196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가능성은 불가능하다(0)부터 확실하다(1)까지 말과 수로 나타내요. 반반이면 2분의 1이에요.</a:t>
            </a:r>
            <a:endParaRPr lang="ko-KR" sz="2800" dirty="0"/>
          </a:p>
        </p:txBody>
      </p:sp>
      <p:sp>
        <p:nvSpPr>
          <p:cNvPr id="5" name="S12-chip197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몇 개 중 몇 개인지 보고 말하기</a:t>
            </a:r>
            <a:endParaRPr lang="ko-KR" sz="2200" dirty="0"/>
          </a:p>
        </p:txBody>
      </p:sp>
      <p:sp>
        <p:nvSpPr>
          <p:cNvPr id="6" name="S12-chip198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앞의 결과로 다음 결과 정하기</a:t>
            </a:r>
            <a:endParaRPr lang="ko-KR" sz="2200" dirty="0"/>
          </a:p>
        </p:txBody>
      </p:sp>
      <p:sp>
        <p:nvSpPr>
          <p:cNvPr id="7" name="S12-text199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2-text200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주사위를 굴려 7이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나올 가능성을 수로</a:t>
            </a:r>
            <a:endParaRPr lang="ko-KR" sz="2200" dirty="0"/>
          </a:p>
        </p:txBody>
      </p:sp>
      <p:sp>
        <p:nvSpPr>
          <p:cNvPr id="9" name="S12-text201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동전을 던져 그림 면이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나올 가능성을 수로</a:t>
            </a:r>
            <a:endParaRPr lang="ko-KR" sz="2200" dirty="0"/>
          </a:p>
        </p:txBody>
      </p:sp>
      <p:sp>
        <p:nvSpPr>
          <p:cNvPr id="10" name="S12-text202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흰 돌 4개, 검은 돌 1개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중에서 흰 돌이 나올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가능성을 말로</a:t>
            </a:r>
            <a:endParaRPr lang="ko-KR" sz="2200" dirty="0"/>
          </a:p>
        </p:txBody>
      </p:sp>
      <p:sp>
        <p:nvSpPr>
          <p:cNvPr id="11" name="S12-text20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분수의 나눗셈 1(초6)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반은 2분의 1</a:t>
            </a:r>
            <a:endParaRPr lang="ko-KR" sz="4000" dirty="0"/>
          </a:p>
        </p:txBody>
      </p:sp>
      <p:sp>
        <p:nvSpPr>
          <p:cNvPr id="3" name="S13-card204"/>
          <p:cNvSpPr/>
          <p:nvPr/>
        </p:nvSpPr>
        <p:spPr>
          <a:xfrm>
            <a:off x="548640" y="5021072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205"/>
          <p:cNvSpPr txBox="1"/>
          <p:nvPr/>
        </p:nvSpPr>
        <p:spPr>
          <a:xfrm>
            <a:off x="822960" y="5158232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둘로 나눈 것 중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하나: 2분의 1</a:t>
            </a:r>
            <a:endParaRPr lang="ko-KR" sz="2800" dirty="0"/>
          </a:p>
        </p:txBody>
      </p:sp>
      <p:sp>
        <p:nvSpPr>
          <p:cNvPr id="5" name="S13-card206"/>
          <p:cNvSpPr/>
          <p:nvPr/>
        </p:nvSpPr>
        <p:spPr>
          <a:xfrm>
            <a:off x="6208776" y="5021072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3-cardtext207"/>
          <p:cNvSpPr txBox="1"/>
          <p:nvPr/>
        </p:nvSpPr>
        <p:spPr>
          <a:xfrm>
            <a:off x="6483096" y="5158232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4칸 중 2칸도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전체의 반이에요.</a:t>
            </a:r>
            <a:endParaRPr lang="ko-KR" sz="2800" dirty="0"/>
          </a:p>
        </p:txBody>
      </p:sp>
      <p:sp>
        <p:nvSpPr>
          <p:cNvPr id="7" name="S13-num208"/>
          <p:cNvSpPr txBox="1"/>
          <p:nvPr/>
        </p:nvSpPr>
        <p:spPr>
          <a:xfrm>
            <a:off x="764286" y="20634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8" name="S13-fracbar209"/>
          <p:cNvSpPr/>
          <p:nvPr/>
        </p:nvSpPr>
        <p:spPr>
          <a:xfrm>
            <a:off x="800862" y="25196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13-num210"/>
          <p:cNvSpPr txBox="1"/>
          <p:nvPr/>
        </p:nvSpPr>
        <p:spPr>
          <a:xfrm>
            <a:off x="764286" y="2556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0" name="S13-cell211"/>
          <p:cNvSpPr/>
          <p:nvPr/>
        </p:nvSpPr>
        <p:spPr>
          <a:xfrm>
            <a:off x="1600200" y="2108200"/>
            <a:ext cx="502005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3-cell212"/>
          <p:cNvSpPr/>
          <p:nvPr/>
        </p:nvSpPr>
        <p:spPr>
          <a:xfrm>
            <a:off x="6620256" y="2108200"/>
            <a:ext cx="502005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3-figure213" descr="똑같이 2칸으로 나눈 띠, 1칸 색칠"/>
          <p:cNvSpPr/>
          <p:nvPr/>
        </p:nvSpPr>
        <p:spPr>
          <a:xfrm>
            <a:off x="1600200" y="2108200"/>
            <a:ext cx="10040112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13-num214"/>
          <p:cNvSpPr txBox="1"/>
          <p:nvPr/>
        </p:nvSpPr>
        <p:spPr>
          <a:xfrm>
            <a:off x="764286" y="314248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4" name="S13-fracbar215"/>
          <p:cNvSpPr/>
          <p:nvPr/>
        </p:nvSpPr>
        <p:spPr>
          <a:xfrm>
            <a:off x="800862" y="3598672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13-num216"/>
          <p:cNvSpPr txBox="1"/>
          <p:nvPr/>
        </p:nvSpPr>
        <p:spPr>
          <a:xfrm>
            <a:off x="764286" y="363524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6" name="S13-cell217"/>
          <p:cNvSpPr/>
          <p:nvPr/>
        </p:nvSpPr>
        <p:spPr>
          <a:xfrm>
            <a:off x="1600200" y="3187192"/>
            <a:ext cx="251002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3-cell218"/>
          <p:cNvSpPr/>
          <p:nvPr/>
        </p:nvSpPr>
        <p:spPr>
          <a:xfrm>
            <a:off x="4110228" y="3187192"/>
            <a:ext cx="251002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3-cell219"/>
          <p:cNvSpPr/>
          <p:nvPr/>
        </p:nvSpPr>
        <p:spPr>
          <a:xfrm>
            <a:off x="6620256" y="3187192"/>
            <a:ext cx="2510028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3-cell220"/>
          <p:cNvSpPr/>
          <p:nvPr/>
        </p:nvSpPr>
        <p:spPr>
          <a:xfrm>
            <a:off x="9130284" y="3187192"/>
            <a:ext cx="2510028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3-figure221" descr="똑같이 4칸으로 나눈 띠, 2칸 색칠"/>
          <p:cNvSpPr/>
          <p:nvPr/>
        </p:nvSpPr>
        <p:spPr>
          <a:xfrm>
            <a:off x="1600200" y="3187192"/>
            <a:ext cx="10040112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13-guide222"/>
          <p:cNvSpPr/>
          <p:nvPr/>
        </p:nvSpPr>
        <p:spPr>
          <a:xfrm>
            <a:off x="6620256" y="1971040"/>
            <a:ext cx="0" cy="2176272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일이 일어날 가능성</dc:title>
  <dc:subject>KR22-G05-MAT-CHANCE-L01</dc:subject>
  <dc:creator>education-ppt</dc:creator>
  <cp:lastModifiedBy>education-ppt</cp:lastModifiedBy>
  <cp:revision>1</cp:revision>
  <dcterms:created xsi:type="dcterms:W3CDTF">2026-10-26T08:51:08Z</dcterms:created>
  <dcterms:modified xsi:type="dcterms:W3CDTF">2026-10-26T08:51:08Z</dcterms:modified>
</cp:coreProperties>
</file>