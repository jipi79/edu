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9c1b110-3ad2-4743-820f-487accac1588}">
          <p14:sldIdLst>
            <p14:sldId id="256"/>
            <p14:sldId id="257"/>
          </p14:sldIdLst>
        </p14:section>
        <p14:section name="개념" id="{9eb7d9f8-0dd4-d6a6-457e-0f87d3e2fbf3}">
          <p14:sldIdLst>
            <p14:sldId id="258"/>
            <p14:sldId id="261"/>
          </p14:sldIdLst>
        </p14:section>
        <p14:section name="연습" id="{769bb6a9-caf3-aa38-c161-fe8e05148ef9}">
          <p14:sldIdLst>
            <p14:sldId id="259"/>
            <p14:sldId id="260"/>
            <p14:sldId id="262"/>
            <p14:sldId id="263"/>
          </p14:sldIdLst>
        </p14:section>
        <p14:section name="개념" id="{24fdac3e-72ba-66f3-34a1-a9b34fd35ca8}">
          <p14:sldIdLst/>
        </p14:section>
        <p14:section name="연습" id="{da4f397b-21a6-213c-8999-cb4ef60f611f}">
          <p14:sldIdLst/>
        </p14:section>
        <p14:section name="확인" id="{dceb969b-82b7-693c-3e69-667843fe1bcf}">
          <p14:sldIdLst>
            <p14:sldId id="264"/>
            <p14:sldId id="265"/>
          </p14:sldIdLst>
        </p14:section>
        <p14:section name="정리" id="{f7a6dc17-d9dd-e39c-86a0-2d97203db4f8}">
          <p14:sldIdLst>
            <p14:sldId id="266"/>
          </p14:sldIdLst>
        </p14:section>
        <p14:section name="보충" id="{33d315f6-6436-3fc7-de98-04965436317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자료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일이 일어날 가능성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일이 일어날 가능성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일이 일어날 가능성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일어날 가능성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회전판을 돌리면 화살이 색칠한 곳에 멈출까?</a:t>
            </a:r>
            <a:endParaRPr lang="ko-KR" sz="2800" dirty="0"/>
          </a:p>
        </p:txBody>
      </p:sp>
      <p:sp>
        <p:nvSpPr>
          <p:cNvPr id="4" name="S01-sector1"/>
          <p:cNvSpPr/>
          <p:nvPr/>
        </p:nvSpPr>
        <p:spPr>
          <a:xfrm>
            <a:off x="8183880" y="640080"/>
            <a:ext cx="2926080" cy="292608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sector2"/>
          <p:cNvSpPr/>
          <p:nvPr/>
        </p:nvSpPr>
        <p:spPr>
          <a:xfrm>
            <a:off x="8183880" y="640080"/>
            <a:ext cx="2926080" cy="2926080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figure3" descr="반은 색칠하고 반은 색칠하지 않은 회전판"/>
          <p:cNvSpPr/>
          <p:nvPr/>
        </p:nvSpPr>
        <p:spPr>
          <a:xfrm>
            <a:off x="8183880" y="640080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일이 일어날 가능성을 말로 나타내고 까닭을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가능성을 0, 2분의 1, 1로 나타내요.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반을 찾아요</a:t>
            </a:r>
            <a:endParaRPr lang="ko-KR" sz="4000" dirty="0"/>
          </a:p>
        </p:txBody>
      </p:sp>
      <p:sp>
        <p:nvSpPr>
          <p:cNvPr id="3" name="S02-card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2-cardtext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부분이 전체의 반인 것을 모두 골라요.</a:t>
            </a:r>
            <a:endParaRPr lang="ko-KR" sz="2800" dirty="0"/>
          </a:p>
        </p:txBody>
      </p:sp>
      <p:sp>
        <p:nvSpPr>
          <p:cNvPr id="5" name="S02-chip8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02-sector9"/>
          <p:cNvSpPr/>
          <p:nvPr/>
        </p:nvSpPr>
        <p:spPr>
          <a:xfrm>
            <a:off x="2747772" y="1325880"/>
            <a:ext cx="1760220" cy="176022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sector10"/>
          <p:cNvSpPr/>
          <p:nvPr/>
        </p:nvSpPr>
        <p:spPr>
          <a:xfrm>
            <a:off x="2747772" y="1325880"/>
            <a:ext cx="1760220" cy="1760220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figure11" descr="원을 똑같이 2조각으로 나누어 1조각 색칠"/>
          <p:cNvSpPr/>
          <p:nvPr/>
        </p:nvSpPr>
        <p:spPr>
          <a:xfrm>
            <a:off x="2747772" y="1325880"/>
            <a:ext cx="1760220" cy="17602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2-chip12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2-cell13"/>
          <p:cNvSpPr/>
          <p:nvPr/>
        </p:nvSpPr>
        <p:spPr>
          <a:xfrm>
            <a:off x="7072884" y="1794510"/>
            <a:ext cx="114185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2-cell14"/>
          <p:cNvSpPr/>
          <p:nvPr/>
        </p:nvSpPr>
        <p:spPr>
          <a:xfrm>
            <a:off x="8214741" y="1794510"/>
            <a:ext cx="114185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2-cell15"/>
          <p:cNvSpPr/>
          <p:nvPr/>
        </p:nvSpPr>
        <p:spPr>
          <a:xfrm>
            <a:off x="9356598" y="1794510"/>
            <a:ext cx="114185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cell16"/>
          <p:cNvSpPr/>
          <p:nvPr/>
        </p:nvSpPr>
        <p:spPr>
          <a:xfrm>
            <a:off x="10498455" y="1794510"/>
            <a:ext cx="114185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2-figure17" descr="똑같이 4칸으로 나눈 띠, 2칸 색칠"/>
          <p:cNvSpPr/>
          <p:nvPr/>
        </p:nvSpPr>
        <p:spPr>
          <a:xfrm>
            <a:off x="7072884" y="1794510"/>
            <a:ext cx="456742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2-chip18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6" name="S02-sector19"/>
          <p:cNvSpPr/>
          <p:nvPr/>
        </p:nvSpPr>
        <p:spPr>
          <a:xfrm>
            <a:off x="2747772" y="3360420"/>
            <a:ext cx="1760220" cy="176022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2-sector20"/>
          <p:cNvSpPr/>
          <p:nvPr/>
        </p:nvSpPr>
        <p:spPr>
          <a:xfrm>
            <a:off x="2747772" y="3360420"/>
            <a:ext cx="1760220" cy="176022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2-sector21"/>
          <p:cNvSpPr/>
          <p:nvPr/>
        </p:nvSpPr>
        <p:spPr>
          <a:xfrm>
            <a:off x="2747772" y="3360420"/>
            <a:ext cx="1760220" cy="176022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2-sector22"/>
          <p:cNvSpPr/>
          <p:nvPr/>
        </p:nvSpPr>
        <p:spPr>
          <a:xfrm>
            <a:off x="2747772" y="3360420"/>
            <a:ext cx="1760220" cy="176022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2-figure23" descr="원을 똑같이 4조각으로 나누어 1조각 색칠"/>
          <p:cNvSpPr/>
          <p:nvPr/>
        </p:nvSpPr>
        <p:spPr>
          <a:xfrm>
            <a:off x="2747772" y="3360420"/>
            <a:ext cx="1760220" cy="17602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2-chip24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22" name="S02-cell25"/>
          <p:cNvSpPr/>
          <p:nvPr/>
        </p:nvSpPr>
        <p:spPr>
          <a:xfrm>
            <a:off x="7072884" y="3829050"/>
            <a:ext cx="152247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2-cell26"/>
          <p:cNvSpPr/>
          <p:nvPr/>
        </p:nvSpPr>
        <p:spPr>
          <a:xfrm>
            <a:off x="8595360" y="3829050"/>
            <a:ext cx="15224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2-cell27"/>
          <p:cNvSpPr/>
          <p:nvPr/>
        </p:nvSpPr>
        <p:spPr>
          <a:xfrm>
            <a:off x="10117836" y="3829050"/>
            <a:ext cx="15224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2-figure28" descr="똑같이 3칸으로 나눈 띠, 1칸 색칠"/>
          <p:cNvSpPr/>
          <p:nvPr/>
        </p:nvSpPr>
        <p:spPr>
          <a:xfrm>
            <a:off x="7072884" y="3829050"/>
            <a:ext cx="456742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가능성을 말로 나타내요</a:t>
            </a:r>
            <a:endParaRPr lang="ko-KR" sz="4000" dirty="0"/>
          </a:p>
        </p:txBody>
      </p:sp>
      <p:sp>
        <p:nvSpPr>
          <p:cNvPr id="3" name="S03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상자에서 바둑돌 1개를 꺼낼 때 흰 돌이 나올 가능성</a:t>
            </a:r>
            <a:endParaRPr lang="ko-KR" sz="2800" dirty="0"/>
          </a:p>
        </p:txBody>
      </p:sp>
      <p:sp>
        <p:nvSpPr>
          <p:cNvPr id="4" name="S03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가능성: 어떤 일이 일어나기를 기대할 수 있는 정도</a:t>
            </a:r>
            <a:endParaRPr lang="ko-KR" sz="2800" dirty="0"/>
          </a:p>
        </p:txBody>
      </p:sp>
      <p:sp>
        <p:nvSpPr>
          <p:cNvPr id="6" name="S03-figure32" descr="바둑돌 4개씩 든 상자 5개: 흰 돌이 0개(불가능하다), 1개(~아닐 것 같다), 2개(반반이다), 3개(~일 것 같다), 4개(확실하다)"/>
          <p:cNvSpPr/>
          <p:nvPr/>
        </p:nvSpPr>
        <p:spPr>
          <a:xfrm>
            <a:off x="2102685" y="2200547"/>
            <a:ext cx="1260566" cy="1260566"/>
          </a:xfrm>
          <a:custGeom>
            <a:avLst/>
            <a:gdLst/>
            <a:ahLst/>
            <a:cxnLst/>
            <a:rect l="l" t="t" r="r" b="b"/>
            <a:pathLst>
              <a:path w="1260566" h="1260566">
                <a:moveTo>
                  <a:pt x="0" y="1260566"/>
                </a:moveTo>
                <a:lnTo>
                  <a:pt x="1260566" y="1260566"/>
                </a:lnTo>
                <a:lnTo>
                  <a:pt x="1260566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3-mark33"/>
          <p:cNvSpPr/>
          <p:nvPr/>
        </p:nvSpPr>
        <p:spPr>
          <a:xfrm>
            <a:off x="3783439" y="2200547"/>
            <a:ext cx="1260566" cy="1260566"/>
          </a:xfrm>
          <a:custGeom>
            <a:avLst/>
            <a:gdLst/>
            <a:ahLst/>
            <a:cxnLst/>
            <a:rect l="l" t="t" r="r" b="b"/>
            <a:pathLst>
              <a:path w="1260566" h="1260566">
                <a:moveTo>
                  <a:pt x="0" y="1260566"/>
                </a:moveTo>
                <a:lnTo>
                  <a:pt x="1260566" y="1260566"/>
                </a:lnTo>
                <a:lnTo>
                  <a:pt x="1260566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3-mark34"/>
          <p:cNvSpPr/>
          <p:nvPr/>
        </p:nvSpPr>
        <p:spPr>
          <a:xfrm>
            <a:off x="5464193" y="2200547"/>
            <a:ext cx="1260566" cy="1260566"/>
          </a:xfrm>
          <a:custGeom>
            <a:avLst/>
            <a:gdLst/>
            <a:ahLst/>
            <a:cxnLst/>
            <a:rect l="l" t="t" r="r" b="b"/>
            <a:pathLst>
              <a:path w="1260566" h="1260566">
                <a:moveTo>
                  <a:pt x="0" y="1260566"/>
                </a:moveTo>
                <a:lnTo>
                  <a:pt x="1260566" y="1260566"/>
                </a:lnTo>
                <a:lnTo>
                  <a:pt x="1260566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3-mark35"/>
          <p:cNvSpPr/>
          <p:nvPr/>
        </p:nvSpPr>
        <p:spPr>
          <a:xfrm>
            <a:off x="7144947" y="2200547"/>
            <a:ext cx="1260566" cy="1260566"/>
          </a:xfrm>
          <a:custGeom>
            <a:avLst/>
            <a:gdLst/>
            <a:ahLst/>
            <a:cxnLst/>
            <a:rect l="l" t="t" r="r" b="b"/>
            <a:pathLst>
              <a:path w="1260566" h="1260566">
                <a:moveTo>
                  <a:pt x="0" y="1260566"/>
                </a:moveTo>
                <a:lnTo>
                  <a:pt x="1260566" y="1260566"/>
                </a:lnTo>
                <a:lnTo>
                  <a:pt x="1260566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3-mark36"/>
          <p:cNvSpPr/>
          <p:nvPr/>
        </p:nvSpPr>
        <p:spPr>
          <a:xfrm>
            <a:off x="8825702" y="2200547"/>
            <a:ext cx="1260566" cy="1260566"/>
          </a:xfrm>
          <a:custGeom>
            <a:avLst/>
            <a:gdLst/>
            <a:ahLst/>
            <a:cxnLst/>
            <a:rect l="l" t="t" r="r" b="b"/>
            <a:pathLst>
              <a:path w="1260566" h="1260566">
                <a:moveTo>
                  <a:pt x="0" y="1260566"/>
                </a:moveTo>
                <a:lnTo>
                  <a:pt x="1260566" y="1260566"/>
                </a:lnTo>
                <a:lnTo>
                  <a:pt x="1260566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3-mark37"/>
          <p:cNvSpPr/>
          <p:nvPr/>
        </p:nvSpPr>
        <p:spPr>
          <a:xfrm>
            <a:off x="2270760" y="2368623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mark38"/>
          <p:cNvSpPr/>
          <p:nvPr/>
        </p:nvSpPr>
        <p:spPr>
          <a:xfrm>
            <a:off x="2795996" y="2368623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mark39"/>
          <p:cNvSpPr/>
          <p:nvPr/>
        </p:nvSpPr>
        <p:spPr>
          <a:xfrm>
            <a:off x="2270760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mark40"/>
          <p:cNvSpPr/>
          <p:nvPr/>
        </p:nvSpPr>
        <p:spPr>
          <a:xfrm>
            <a:off x="2795996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mark41"/>
          <p:cNvSpPr/>
          <p:nvPr/>
        </p:nvSpPr>
        <p:spPr>
          <a:xfrm>
            <a:off x="3951514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mark42"/>
          <p:cNvSpPr/>
          <p:nvPr/>
        </p:nvSpPr>
        <p:spPr>
          <a:xfrm>
            <a:off x="4476750" y="2368623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mark43"/>
          <p:cNvSpPr/>
          <p:nvPr/>
        </p:nvSpPr>
        <p:spPr>
          <a:xfrm>
            <a:off x="3951514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mark44"/>
          <p:cNvSpPr/>
          <p:nvPr/>
        </p:nvSpPr>
        <p:spPr>
          <a:xfrm>
            <a:off x="4476750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mark45"/>
          <p:cNvSpPr/>
          <p:nvPr/>
        </p:nvSpPr>
        <p:spPr>
          <a:xfrm>
            <a:off x="5632269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mark46"/>
          <p:cNvSpPr/>
          <p:nvPr/>
        </p:nvSpPr>
        <p:spPr>
          <a:xfrm>
            <a:off x="6157504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mark47"/>
          <p:cNvSpPr/>
          <p:nvPr/>
        </p:nvSpPr>
        <p:spPr>
          <a:xfrm>
            <a:off x="5632269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mark48"/>
          <p:cNvSpPr/>
          <p:nvPr/>
        </p:nvSpPr>
        <p:spPr>
          <a:xfrm>
            <a:off x="6157504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mark49"/>
          <p:cNvSpPr/>
          <p:nvPr/>
        </p:nvSpPr>
        <p:spPr>
          <a:xfrm>
            <a:off x="7313023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mark50"/>
          <p:cNvSpPr/>
          <p:nvPr/>
        </p:nvSpPr>
        <p:spPr>
          <a:xfrm>
            <a:off x="7838259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mark51"/>
          <p:cNvSpPr/>
          <p:nvPr/>
        </p:nvSpPr>
        <p:spPr>
          <a:xfrm>
            <a:off x="7313023" y="2893858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mark52"/>
          <p:cNvSpPr/>
          <p:nvPr/>
        </p:nvSpPr>
        <p:spPr>
          <a:xfrm>
            <a:off x="7838259" y="2893858"/>
            <a:ext cx="399179" cy="399179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mark53"/>
          <p:cNvSpPr/>
          <p:nvPr/>
        </p:nvSpPr>
        <p:spPr>
          <a:xfrm>
            <a:off x="8993777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mark54"/>
          <p:cNvSpPr/>
          <p:nvPr/>
        </p:nvSpPr>
        <p:spPr>
          <a:xfrm>
            <a:off x="9519013" y="2368623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mark55"/>
          <p:cNvSpPr/>
          <p:nvPr/>
        </p:nvSpPr>
        <p:spPr>
          <a:xfrm>
            <a:off x="8993777" y="2893858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mark56"/>
          <p:cNvSpPr/>
          <p:nvPr/>
        </p:nvSpPr>
        <p:spPr>
          <a:xfrm>
            <a:off x="9519013" y="2893858"/>
            <a:ext cx="399179" cy="3991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mark57"/>
          <p:cNvSpPr/>
          <p:nvPr/>
        </p:nvSpPr>
        <p:spPr>
          <a:xfrm>
            <a:off x="2102685" y="4564108"/>
            <a:ext cx="7983583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32" name="S03-label59"/>
          <p:cNvSpPr txBox="1"/>
          <p:nvPr/>
        </p:nvSpPr>
        <p:spPr>
          <a:xfrm>
            <a:off x="2267385" y="3584575"/>
            <a:ext cx="93116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불가능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하다</a:t>
            </a:r>
            <a:endParaRPr lang="ko-KR" sz="2200" dirty="0"/>
          </a:p>
        </p:txBody>
      </p:sp>
      <p:sp>
        <p:nvSpPr>
          <p:cNvPr id="33" name="S03-label61"/>
          <p:cNvSpPr txBox="1"/>
          <p:nvPr/>
        </p:nvSpPr>
        <p:spPr>
          <a:xfrm>
            <a:off x="3847556" y="3584575"/>
            <a:ext cx="113233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~아닐 것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같다</a:t>
            </a:r>
            <a:endParaRPr lang="ko-KR" sz="2200" dirty="0"/>
          </a:p>
        </p:txBody>
      </p:sp>
      <p:sp>
        <p:nvSpPr>
          <p:cNvPr id="34" name="S03-label63"/>
          <p:cNvSpPr txBox="1"/>
          <p:nvPr/>
        </p:nvSpPr>
        <p:spPr>
          <a:xfrm>
            <a:off x="5765800" y="3584575"/>
            <a:ext cx="65735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반반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</a:t>
            </a:r>
            <a:endParaRPr lang="ko-KR" sz="2200" dirty="0"/>
          </a:p>
        </p:txBody>
      </p:sp>
      <p:sp>
        <p:nvSpPr>
          <p:cNvPr id="35" name="S03-label65"/>
          <p:cNvSpPr txBox="1"/>
          <p:nvPr/>
        </p:nvSpPr>
        <p:spPr>
          <a:xfrm>
            <a:off x="7345970" y="3584575"/>
            <a:ext cx="85852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~일 것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같다</a:t>
            </a:r>
            <a:endParaRPr lang="ko-KR" sz="2200" dirty="0"/>
          </a:p>
        </p:txBody>
      </p:sp>
      <p:sp>
        <p:nvSpPr>
          <p:cNvPr id="36" name="S03-label67"/>
          <p:cNvSpPr txBox="1"/>
          <p:nvPr/>
        </p:nvSpPr>
        <p:spPr>
          <a:xfrm>
            <a:off x="9127309" y="3584575"/>
            <a:ext cx="65735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하다</a:t>
            </a:r>
            <a:endParaRPr lang="ko-KR" sz="2200" dirty="0"/>
          </a:p>
        </p:txBody>
      </p:sp>
      <p:sp>
        <p:nvSpPr>
          <p:cNvPr id="37" name="S03-label69"/>
          <p:cNvSpPr txBox="1"/>
          <p:nvPr/>
        </p:nvSpPr>
        <p:spPr>
          <a:xfrm>
            <a:off x="4229100" y="4678362"/>
            <a:ext cx="37307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돌이 나올 가능성이 커져요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말이 알맞을까요?</a:t>
            </a:r>
            <a:endParaRPr lang="ko-KR" sz="4000" dirty="0"/>
          </a:p>
        </p:txBody>
      </p:sp>
      <p:sp>
        <p:nvSpPr>
          <p:cNvPr id="3" name="S04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가능성을 말로 나타내고 까닭을 말해요.</a:t>
            </a:r>
            <a:endParaRPr lang="ko-KR" sz="2800" dirty="0"/>
          </a:p>
        </p:txBody>
      </p:sp>
      <p:sp>
        <p:nvSpPr>
          <p:cNvPr id="4" name="S04-card7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7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불가능하다 · ~아닐 것 같다 · 반반이다 · ~일 것 같다 · 확실하다</a:t>
            </a:r>
            <a:endParaRPr lang="ko-KR" sz="2800" dirty="0"/>
          </a:p>
        </p:txBody>
      </p:sp>
      <p:sp>
        <p:nvSpPr>
          <p:cNvPr id="6" name="S04-chip73"/>
          <p:cNvSpPr txBox="1"/>
          <p:nvPr/>
        </p:nvSpPr>
        <p:spPr>
          <a:xfrm>
            <a:off x="548640" y="23776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4-text74"/>
          <p:cNvSpPr txBox="1"/>
          <p:nvPr/>
        </p:nvSpPr>
        <p:spPr>
          <a:xfrm>
            <a:off x="1344168" y="2011680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동전을 던지면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면이 나와요.</a:t>
            </a:r>
            <a:endParaRPr lang="ko-KR" sz="2800" dirty="0"/>
          </a:p>
        </p:txBody>
      </p:sp>
      <p:sp>
        <p:nvSpPr>
          <p:cNvPr id="8" name="S04-chip75"/>
          <p:cNvSpPr txBox="1"/>
          <p:nvPr/>
        </p:nvSpPr>
        <p:spPr>
          <a:xfrm>
            <a:off x="6277356" y="23776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4-text76"/>
          <p:cNvSpPr txBox="1"/>
          <p:nvPr/>
        </p:nvSpPr>
        <p:spPr>
          <a:xfrm>
            <a:off x="7072884" y="2011680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주사위를 굴리면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7이 나와요.</a:t>
            </a:r>
            <a:endParaRPr lang="ko-KR" sz="2800" dirty="0"/>
          </a:p>
        </p:txBody>
      </p:sp>
      <p:sp>
        <p:nvSpPr>
          <p:cNvPr id="10" name="S04-chip77"/>
          <p:cNvSpPr txBox="1"/>
          <p:nvPr/>
        </p:nvSpPr>
        <p:spPr>
          <a:xfrm>
            <a:off x="548640" y="385953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4-text78"/>
          <p:cNvSpPr txBox="1"/>
          <p:nvPr/>
        </p:nvSpPr>
        <p:spPr>
          <a:xfrm>
            <a:off x="1344168" y="3493516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주사위를 굴리면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6이 나와요.</a:t>
            </a:r>
            <a:endParaRPr lang="ko-KR" sz="2800" dirty="0"/>
          </a:p>
        </p:txBody>
      </p:sp>
      <p:sp>
        <p:nvSpPr>
          <p:cNvPr id="12" name="S04-chip79"/>
          <p:cNvSpPr txBox="1"/>
          <p:nvPr/>
        </p:nvSpPr>
        <p:spPr>
          <a:xfrm>
            <a:off x="6277356" y="385953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4-text80"/>
          <p:cNvSpPr txBox="1"/>
          <p:nvPr/>
        </p:nvSpPr>
        <p:spPr>
          <a:xfrm>
            <a:off x="7072884" y="3493516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주사위를 굴리면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1이 아닌 수가 나와요.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돌이 꼭 나올까요?</a:t>
            </a:r>
            <a:endParaRPr lang="ko-KR" sz="4000" dirty="0"/>
          </a:p>
        </p:txBody>
      </p:sp>
      <p:sp>
        <p:nvSpPr>
          <p:cNvPr id="3" name="S05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상자에서 1개를 꺼내요. 누구 말이 맞을까요?</a:t>
            </a:r>
            <a:endParaRPr lang="ko-KR" sz="2800" dirty="0"/>
          </a:p>
        </p:txBody>
      </p:sp>
      <p:sp>
        <p:nvSpPr>
          <p:cNvPr id="5" name="S05-figure83" descr="흰 돌 3개, 검은 돌 1개가 든 상자"/>
          <p:cNvSpPr/>
          <p:nvPr/>
        </p:nvSpPr>
        <p:spPr>
          <a:xfrm>
            <a:off x="1382024" y="2080260"/>
            <a:ext cx="2194560" cy="2194560"/>
          </a:xfrm>
          <a:custGeom>
            <a:avLst/>
            <a:gdLst/>
            <a:ahLst/>
            <a:cxnLst/>
            <a:rect l="l" t="t" r="r" b="b"/>
            <a:pathLst>
              <a:path w="2194560" h="2194560">
                <a:moveTo>
                  <a:pt x="0" y="2194560"/>
                </a:moveTo>
                <a:lnTo>
                  <a:pt x="2194560" y="2194560"/>
                </a:lnTo>
                <a:lnTo>
                  <a:pt x="2194560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5-mark84"/>
          <p:cNvSpPr/>
          <p:nvPr/>
        </p:nvSpPr>
        <p:spPr>
          <a:xfrm>
            <a:off x="1674632" y="2372868"/>
            <a:ext cx="694944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mark85"/>
          <p:cNvSpPr/>
          <p:nvPr/>
        </p:nvSpPr>
        <p:spPr>
          <a:xfrm>
            <a:off x="2589032" y="2372868"/>
            <a:ext cx="694944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mark86"/>
          <p:cNvSpPr/>
          <p:nvPr/>
        </p:nvSpPr>
        <p:spPr>
          <a:xfrm>
            <a:off x="1674632" y="3287268"/>
            <a:ext cx="694944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mark87"/>
          <p:cNvSpPr/>
          <p:nvPr/>
        </p:nvSpPr>
        <p:spPr>
          <a:xfrm>
            <a:off x="2589032" y="3287268"/>
            <a:ext cx="694944" cy="694944"/>
          </a:xfrm>
          <a:prstGeom prst="ellipse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card88"/>
          <p:cNvSpPr/>
          <p:nvPr/>
        </p:nvSpPr>
        <p:spPr>
          <a:xfrm>
            <a:off x="4775728" y="1588008"/>
            <a:ext cx="686458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89"/>
          <p:cNvSpPr txBox="1"/>
          <p:nvPr/>
        </p:nvSpPr>
        <p:spPr>
          <a:xfrm>
            <a:off x="5050048" y="1725168"/>
            <a:ext cx="631594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돌이 더 많으니까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흰 돌이 나와요.</a:t>
            </a:r>
            <a:endParaRPr lang="ko-KR" sz="2800" dirty="0"/>
          </a:p>
        </p:txBody>
      </p:sp>
      <p:sp>
        <p:nvSpPr>
          <p:cNvPr id="12" name="S05-card90"/>
          <p:cNvSpPr/>
          <p:nvPr/>
        </p:nvSpPr>
        <p:spPr>
          <a:xfrm>
            <a:off x="4775728" y="3337560"/>
            <a:ext cx="686458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5-cardtext91"/>
          <p:cNvSpPr txBox="1"/>
          <p:nvPr/>
        </p:nvSpPr>
        <p:spPr>
          <a:xfrm>
            <a:off x="5050048" y="3474720"/>
            <a:ext cx="631594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돌이 나올 것 같지만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돌도 나올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가능성을 수로 나타내요</a:t>
            </a:r>
            <a:endParaRPr lang="ko-KR" sz="4000" dirty="0"/>
          </a:p>
        </p:txBody>
      </p:sp>
      <p:sp>
        <p:nvSpPr>
          <p:cNvPr id="3" name="S06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불가능은 0, 반반은 2분의 1, 확실은 1로 나타내요.</a:t>
            </a:r>
            <a:endParaRPr lang="ko-KR" sz="2800" dirty="0"/>
          </a:p>
        </p:txBody>
      </p:sp>
      <p:sp>
        <p:nvSpPr>
          <p:cNvPr id="4" name="S06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가능성이 클수록 1에 가깝고, 작을수록 0에 가까워요.</a:t>
            </a:r>
            <a:endParaRPr lang="ko-KR" sz="2800" dirty="0"/>
          </a:p>
        </p:txBody>
      </p:sp>
      <p:sp>
        <p:nvSpPr>
          <p:cNvPr id="6" name="S06-figure95" descr="가능성을 나타내는 수직선: 왼쪽 끝 0(불가능하다), 가운데 2분의 1(반반이다), 오른쪽 끝 1(확실하다). 0과 2분의 1 사이는 ~아닐 것 같다, 2분의 1과 1 사이는 ~일 것 같다"/>
          <p:cNvSpPr/>
          <p:nvPr/>
        </p:nvSpPr>
        <p:spPr>
          <a:xfrm>
            <a:off x="1412748" y="3440379"/>
            <a:ext cx="936345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6-mark96"/>
          <p:cNvSpPr/>
          <p:nvPr/>
        </p:nvSpPr>
        <p:spPr>
          <a:xfrm flipV="1">
            <a:off x="1412748" y="3268716"/>
            <a:ext cx="0" cy="3433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6-mark97"/>
          <p:cNvSpPr/>
          <p:nvPr/>
        </p:nvSpPr>
        <p:spPr>
          <a:xfrm flipV="1">
            <a:off x="6094476" y="3268716"/>
            <a:ext cx="0" cy="3433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6-mark98"/>
          <p:cNvSpPr/>
          <p:nvPr/>
        </p:nvSpPr>
        <p:spPr>
          <a:xfrm flipV="1">
            <a:off x="10776204" y="3268716"/>
            <a:ext cx="0" cy="3433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6-mark99"/>
          <p:cNvSpPr/>
          <p:nvPr/>
        </p:nvSpPr>
        <p:spPr>
          <a:xfrm>
            <a:off x="5977128" y="4001364"/>
            <a:ext cx="23469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06-label101"/>
          <p:cNvSpPr txBox="1"/>
          <p:nvPr/>
        </p:nvSpPr>
        <p:spPr>
          <a:xfrm>
            <a:off x="1265682" y="3826739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2" name="S06-label103"/>
          <p:cNvSpPr txBox="1"/>
          <p:nvPr/>
        </p:nvSpPr>
        <p:spPr>
          <a:xfrm>
            <a:off x="10629138" y="3826739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6-label105"/>
          <p:cNvSpPr txBox="1"/>
          <p:nvPr/>
        </p:nvSpPr>
        <p:spPr>
          <a:xfrm>
            <a:off x="5947410" y="365351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06-label107"/>
          <p:cNvSpPr txBox="1"/>
          <p:nvPr/>
        </p:nvSpPr>
        <p:spPr>
          <a:xfrm>
            <a:off x="5947410" y="399996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5" name="S06-label109"/>
          <p:cNvSpPr txBox="1"/>
          <p:nvPr/>
        </p:nvSpPr>
        <p:spPr>
          <a:xfrm>
            <a:off x="673354" y="2783103"/>
            <a:ext cx="147878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불가능하다</a:t>
            </a:r>
            <a:endParaRPr lang="ko-KR" sz="2200" dirty="0"/>
          </a:p>
        </p:txBody>
      </p:sp>
      <p:sp>
        <p:nvSpPr>
          <p:cNvPr id="16" name="S06-label111"/>
          <p:cNvSpPr txBox="1"/>
          <p:nvPr/>
        </p:nvSpPr>
        <p:spPr>
          <a:xfrm>
            <a:off x="5491988" y="2783103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반반이다</a:t>
            </a:r>
            <a:endParaRPr lang="ko-KR" sz="2200" dirty="0"/>
          </a:p>
        </p:txBody>
      </p:sp>
      <p:sp>
        <p:nvSpPr>
          <p:cNvPr id="17" name="S06-label113"/>
          <p:cNvSpPr txBox="1"/>
          <p:nvPr/>
        </p:nvSpPr>
        <p:spPr>
          <a:xfrm>
            <a:off x="10173716" y="2783103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확실하다</a:t>
            </a:r>
            <a:endParaRPr lang="ko-KR" sz="2200" dirty="0"/>
          </a:p>
        </p:txBody>
      </p:sp>
      <p:sp>
        <p:nvSpPr>
          <p:cNvPr id="18" name="S06-label115"/>
          <p:cNvSpPr txBox="1"/>
          <p:nvPr/>
        </p:nvSpPr>
        <p:spPr>
          <a:xfrm>
            <a:off x="2871724" y="2783103"/>
            <a:ext cx="17637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~아닐 것 같다</a:t>
            </a:r>
            <a:endParaRPr lang="ko-KR" sz="2200" dirty="0"/>
          </a:p>
        </p:txBody>
      </p:sp>
      <p:sp>
        <p:nvSpPr>
          <p:cNvPr id="19" name="S06-label117"/>
          <p:cNvSpPr txBox="1"/>
          <p:nvPr/>
        </p:nvSpPr>
        <p:spPr>
          <a:xfrm>
            <a:off x="7690358" y="2783103"/>
            <a:ext cx="14899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~일 것 같다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회전판의 가능성</a:t>
            </a:r>
            <a:endParaRPr lang="ko-KR" sz="4000" dirty="0"/>
          </a:p>
        </p:txBody>
      </p:sp>
      <p:sp>
        <p:nvSpPr>
          <p:cNvPr id="3" name="S07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화살이 색칠한 곳에 멈출 가능성을 말과 수로 나타내요.</a:t>
            </a:r>
            <a:endParaRPr lang="ko-KR" sz="2800" dirty="0"/>
          </a:p>
        </p:txBody>
      </p:sp>
      <p:sp>
        <p:nvSpPr>
          <p:cNvPr id="5" name="S07-chip120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07-sector121"/>
          <p:cNvSpPr/>
          <p:nvPr/>
        </p:nvSpPr>
        <p:spPr>
          <a:xfrm>
            <a:off x="812292" y="2112264"/>
            <a:ext cx="2926080" cy="292608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sector122"/>
          <p:cNvSpPr/>
          <p:nvPr/>
        </p:nvSpPr>
        <p:spPr>
          <a:xfrm>
            <a:off x="812292" y="2112264"/>
            <a:ext cx="2926080" cy="2926080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figure123" descr="회전판 가: 전체를 색칠"/>
          <p:cNvSpPr/>
          <p:nvPr/>
        </p:nvSpPr>
        <p:spPr>
          <a:xfrm>
            <a:off x="812292" y="2112264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7-chip124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7-sector125"/>
          <p:cNvSpPr/>
          <p:nvPr/>
        </p:nvSpPr>
        <p:spPr>
          <a:xfrm>
            <a:off x="4631436" y="2112264"/>
            <a:ext cx="2926080" cy="292608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7-sector126"/>
          <p:cNvSpPr/>
          <p:nvPr/>
        </p:nvSpPr>
        <p:spPr>
          <a:xfrm>
            <a:off x="4631436" y="2112264"/>
            <a:ext cx="2926080" cy="2926080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figure127" descr="회전판 나: 반을 색칠"/>
          <p:cNvSpPr/>
          <p:nvPr/>
        </p:nvSpPr>
        <p:spPr>
          <a:xfrm>
            <a:off x="4631436" y="2112264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7-chip128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4" name="S07-sector129"/>
          <p:cNvSpPr/>
          <p:nvPr/>
        </p:nvSpPr>
        <p:spPr>
          <a:xfrm>
            <a:off x="8450580" y="2112264"/>
            <a:ext cx="2926080" cy="292608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7-sector130"/>
          <p:cNvSpPr/>
          <p:nvPr/>
        </p:nvSpPr>
        <p:spPr>
          <a:xfrm>
            <a:off x="8450580" y="2112264"/>
            <a:ext cx="2926080" cy="292608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sector131"/>
          <p:cNvSpPr/>
          <p:nvPr/>
        </p:nvSpPr>
        <p:spPr>
          <a:xfrm>
            <a:off x="8450580" y="2112264"/>
            <a:ext cx="2926080" cy="292608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sector132"/>
          <p:cNvSpPr/>
          <p:nvPr/>
        </p:nvSpPr>
        <p:spPr>
          <a:xfrm>
            <a:off x="8450580" y="2112264"/>
            <a:ext cx="2926080" cy="292608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figure133" descr="회전판 다: 4조각 모두 색칠하지 않음"/>
          <p:cNvSpPr/>
          <p:nvPr/>
        </p:nvSpPr>
        <p:spPr>
          <a:xfrm>
            <a:off x="8450580" y="2112264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이번에는 숫자 면일까요?</a:t>
            </a:r>
            <a:endParaRPr lang="ko-KR" sz="4000" dirty="0"/>
          </a:p>
        </p:txBody>
      </p:sp>
      <p:sp>
        <p:nvSpPr>
          <p:cNvPr id="3" name="S08-card13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3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동전을 던졌더니 그림 면이 3번 연달아 나왔어요. 다음에 숫자 면이 나올 가능성은?</a:t>
            </a:r>
            <a:endParaRPr lang="ko-KR" sz="2800" dirty="0"/>
          </a:p>
        </p:txBody>
      </p:sp>
      <p:sp>
        <p:nvSpPr>
          <p:cNvPr id="5" name="S08-card1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까닭을 말해요.</a:t>
            </a:r>
            <a:endParaRPr lang="ko-KR" sz="2800" dirty="0"/>
          </a:p>
        </p:txBody>
      </p:sp>
      <p:sp>
        <p:nvSpPr>
          <p:cNvPr id="7" name="S08-chip138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8-text139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면이 많이 나왔으니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이번엔 숫자 면이 나올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 같아요.</a:t>
            </a:r>
            <a:endParaRPr lang="ko-KR" sz="2800" dirty="0"/>
          </a:p>
        </p:txBody>
      </p:sp>
      <p:sp>
        <p:nvSpPr>
          <p:cNvPr id="9" name="S08-chip140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8-text141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동전은 던질 때마다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반반이에요. 가능성은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 1이에요.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1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①~③은 말과 수로, ④는 말로 나타내요.</a:t>
            </a:r>
            <a:endParaRPr lang="ko-KR" sz="2800" dirty="0"/>
          </a:p>
        </p:txBody>
      </p:sp>
      <p:sp>
        <p:nvSpPr>
          <p:cNvPr id="4" name="S09-chip14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9-text14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 2개, 검은 돌 2개 중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돌을 꺼낼 가능성</a:t>
            </a:r>
            <a:endParaRPr lang="ko-KR" sz="2800" dirty="0"/>
          </a:p>
        </p:txBody>
      </p:sp>
      <p:sp>
        <p:nvSpPr>
          <p:cNvPr id="6" name="S09-chip14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9-text14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주사위를 굴려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나올 가능성</a:t>
            </a:r>
            <a:endParaRPr lang="ko-KR" sz="2800" dirty="0"/>
          </a:p>
        </p:txBody>
      </p:sp>
      <p:sp>
        <p:nvSpPr>
          <p:cNvPr id="8" name="S09-chip14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9-text14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돌만 5개 중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돌을 꺼낼 가능성</a:t>
            </a:r>
            <a:endParaRPr lang="ko-KR" sz="2800" dirty="0"/>
          </a:p>
        </p:txBody>
      </p:sp>
      <p:sp>
        <p:nvSpPr>
          <p:cNvPr id="10" name="S09-chip14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9-text15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 1개, 검은 돌 5개 중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돌을 꺼낼 가능성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수직선의 어디일까요?</a:t>
            </a:r>
            <a:endParaRPr lang="ko-KR" sz="4000" dirty="0"/>
          </a:p>
        </p:txBody>
      </p:sp>
      <p:sp>
        <p:nvSpPr>
          <p:cNvPr id="3" name="S11-figure151" descr="0, 2분의 1, 1이 적힌 수직선에 가(0), 나(2분의 1), 다(1) 표시"/>
          <p:cNvSpPr/>
          <p:nvPr/>
        </p:nvSpPr>
        <p:spPr>
          <a:xfrm>
            <a:off x="6880708" y="3639600"/>
            <a:ext cx="4156253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" name="S11-mark152"/>
          <p:cNvSpPr/>
          <p:nvPr/>
        </p:nvSpPr>
        <p:spPr>
          <a:xfrm flipV="1">
            <a:off x="6880708" y="3525303"/>
            <a:ext cx="0" cy="2285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11-mark153"/>
          <p:cNvSpPr/>
          <p:nvPr/>
        </p:nvSpPr>
        <p:spPr>
          <a:xfrm flipV="1">
            <a:off x="8958834" y="3525303"/>
            <a:ext cx="0" cy="2285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11-mark154"/>
          <p:cNvSpPr/>
          <p:nvPr/>
        </p:nvSpPr>
        <p:spPr>
          <a:xfrm flipV="1">
            <a:off x="11036960" y="3525303"/>
            <a:ext cx="0" cy="2285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mark155"/>
          <p:cNvSpPr/>
          <p:nvPr/>
        </p:nvSpPr>
        <p:spPr>
          <a:xfrm>
            <a:off x="8841486" y="4122358"/>
            <a:ext cx="23469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11-mark156"/>
          <p:cNvSpPr/>
          <p:nvPr/>
        </p:nvSpPr>
        <p:spPr>
          <a:xfrm>
            <a:off x="6821272" y="35801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1-mark157"/>
          <p:cNvSpPr/>
          <p:nvPr/>
        </p:nvSpPr>
        <p:spPr>
          <a:xfrm>
            <a:off x="8899398" y="35801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1-mark158"/>
          <p:cNvSpPr/>
          <p:nvPr/>
        </p:nvSpPr>
        <p:spPr>
          <a:xfrm>
            <a:off x="10977524" y="35801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1-label160"/>
          <p:cNvSpPr txBox="1"/>
          <p:nvPr/>
        </p:nvSpPr>
        <p:spPr>
          <a:xfrm>
            <a:off x="6733642" y="394773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2" name="S11-label162"/>
          <p:cNvSpPr txBox="1"/>
          <p:nvPr/>
        </p:nvSpPr>
        <p:spPr>
          <a:xfrm>
            <a:off x="10889894" y="394773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11-label164"/>
          <p:cNvSpPr txBox="1"/>
          <p:nvPr/>
        </p:nvSpPr>
        <p:spPr>
          <a:xfrm>
            <a:off x="8811768" y="377450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11-label166"/>
          <p:cNvSpPr txBox="1"/>
          <p:nvPr/>
        </p:nvSpPr>
        <p:spPr>
          <a:xfrm>
            <a:off x="8811768" y="412096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5" name="S11-label168"/>
          <p:cNvSpPr txBox="1"/>
          <p:nvPr/>
        </p:nvSpPr>
        <p:spPr>
          <a:xfrm>
            <a:off x="6688938" y="30735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6" name="S11-label170"/>
          <p:cNvSpPr txBox="1"/>
          <p:nvPr/>
        </p:nvSpPr>
        <p:spPr>
          <a:xfrm>
            <a:off x="8767064" y="30735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7" name="S11-label172"/>
          <p:cNvSpPr txBox="1"/>
          <p:nvPr/>
        </p:nvSpPr>
        <p:spPr>
          <a:xfrm>
            <a:off x="10845190" y="30735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8" name="S11-chip17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9" name="S11-text17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동전을 던져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면이 나올 가능성</a:t>
            </a:r>
            <a:endParaRPr lang="ko-KR" sz="2800" dirty="0"/>
          </a:p>
        </p:txBody>
      </p:sp>
      <p:sp>
        <p:nvSpPr>
          <p:cNvPr id="20" name="S11-chip17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1" name="S11-text176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돌만 든 상자에서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돌을 꺼낼 가능성</a:t>
            </a:r>
            <a:endParaRPr lang="ko-KR" sz="2800" dirty="0"/>
          </a:p>
        </p:txBody>
      </p:sp>
      <p:sp>
        <p:nvSpPr>
          <p:cNvPr id="22" name="S11-chip17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3" name="S11-text178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오늘이 화요일일 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내일이 수요일일 가능성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17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8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가능성은 불가능하다(0)부터 확실하다(1)까지 말과 수로 나타내요. 반반이면 2분의 1이에요.</a:t>
            </a:r>
            <a:endParaRPr lang="ko-KR" sz="2800" dirty="0"/>
          </a:p>
        </p:txBody>
      </p:sp>
      <p:sp>
        <p:nvSpPr>
          <p:cNvPr id="5" name="S12-chip18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몇 개 중 몇 개인지 보고 말하기</a:t>
            </a:r>
            <a:endParaRPr lang="ko-KR" sz="2200" dirty="0"/>
          </a:p>
        </p:txBody>
      </p:sp>
      <p:sp>
        <p:nvSpPr>
          <p:cNvPr id="6" name="S12-chip18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앞의 결과로 다음 결과 정하기</a:t>
            </a:r>
            <a:endParaRPr lang="ko-KR" sz="2200" dirty="0"/>
          </a:p>
        </p:txBody>
      </p:sp>
      <p:sp>
        <p:nvSpPr>
          <p:cNvPr id="7" name="S12-text18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2-text18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주사위를 굴려 7이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나올 가능성을 수로</a:t>
            </a:r>
            <a:endParaRPr lang="ko-KR" sz="2200" dirty="0"/>
          </a:p>
        </p:txBody>
      </p:sp>
      <p:sp>
        <p:nvSpPr>
          <p:cNvPr id="9" name="S12-text18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동전을 던져 그림 면이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나올 가능성을 수로</a:t>
            </a:r>
            <a:endParaRPr lang="ko-KR" sz="2200" dirty="0"/>
          </a:p>
        </p:txBody>
      </p:sp>
      <p:sp>
        <p:nvSpPr>
          <p:cNvPr id="10" name="S12-text18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흰 돌 4개, 검은 돌 1개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중에서 흰 돌이 나올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가능성을 말로</a:t>
            </a:r>
            <a:endParaRPr lang="ko-KR" sz="2200" dirty="0"/>
          </a:p>
        </p:txBody>
      </p:sp>
      <p:sp>
        <p:nvSpPr>
          <p:cNvPr id="11" name="S12-text18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분수의 나눗셈 1(초6)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반은 2분의 1</a:t>
            </a:r>
            <a:endParaRPr lang="ko-KR" sz="4000" dirty="0"/>
          </a:p>
        </p:txBody>
      </p:sp>
      <p:sp>
        <p:nvSpPr>
          <p:cNvPr id="3" name="S13-card188"/>
          <p:cNvSpPr/>
          <p:nvPr/>
        </p:nvSpPr>
        <p:spPr>
          <a:xfrm>
            <a:off x="548640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89"/>
          <p:cNvSpPr txBox="1"/>
          <p:nvPr/>
        </p:nvSpPr>
        <p:spPr>
          <a:xfrm>
            <a:off x="822960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둘로 나눈 것 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하나: 2분의 1</a:t>
            </a:r>
            <a:endParaRPr lang="ko-KR" sz="2800" dirty="0"/>
          </a:p>
        </p:txBody>
      </p:sp>
      <p:sp>
        <p:nvSpPr>
          <p:cNvPr id="5" name="S13-card190"/>
          <p:cNvSpPr/>
          <p:nvPr/>
        </p:nvSpPr>
        <p:spPr>
          <a:xfrm>
            <a:off x="6208776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191"/>
          <p:cNvSpPr txBox="1"/>
          <p:nvPr/>
        </p:nvSpPr>
        <p:spPr>
          <a:xfrm>
            <a:off x="6483096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4칸 중 2칸도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반이에요.</a:t>
            </a:r>
            <a:endParaRPr lang="ko-KR" sz="2800" dirty="0"/>
          </a:p>
        </p:txBody>
      </p:sp>
      <p:sp>
        <p:nvSpPr>
          <p:cNvPr id="7" name="S13-num192"/>
          <p:cNvSpPr txBox="1"/>
          <p:nvPr/>
        </p:nvSpPr>
        <p:spPr>
          <a:xfrm>
            <a:off x="764286" y="20634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8" name="S13-fracbar193"/>
          <p:cNvSpPr/>
          <p:nvPr/>
        </p:nvSpPr>
        <p:spPr>
          <a:xfrm>
            <a:off x="800862" y="25196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3-num194"/>
          <p:cNvSpPr txBox="1"/>
          <p:nvPr/>
        </p:nvSpPr>
        <p:spPr>
          <a:xfrm>
            <a:off x="764286" y="2556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0" name="S13-cell195"/>
          <p:cNvSpPr/>
          <p:nvPr/>
        </p:nvSpPr>
        <p:spPr>
          <a:xfrm>
            <a:off x="1600200" y="2108200"/>
            <a:ext cx="502005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cell196"/>
          <p:cNvSpPr/>
          <p:nvPr/>
        </p:nvSpPr>
        <p:spPr>
          <a:xfrm>
            <a:off x="6620256" y="2108200"/>
            <a:ext cx="502005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figure197" descr="똑같이 2칸으로 나눈 띠, 1칸 색칠"/>
          <p:cNvSpPr/>
          <p:nvPr/>
        </p:nvSpPr>
        <p:spPr>
          <a:xfrm>
            <a:off x="1600200" y="2108200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3-num198"/>
          <p:cNvSpPr txBox="1"/>
          <p:nvPr/>
        </p:nvSpPr>
        <p:spPr>
          <a:xfrm>
            <a:off x="764286" y="31424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4" name="S13-fracbar199"/>
          <p:cNvSpPr/>
          <p:nvPr/>
        </p:nvSpPr>
        <p:spPr>
          <a:xfrm>
            <a:off x="800862" y="3598672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3-num200"/>
          <p:cNvSpPr txBox="1"/>
          <p:nvPr/>
        </p:nvSpPr>
        <p:spPr>
          <a:xfrm>
            <a:off x="764286" y="363524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6" name="S13-cell201"/>
          <p:cNvSpPr/>
          <p:nvPr/>
        </p:nvSpPr>
        <p:spPr>
          <a:xfrm>
            <a:off x="1600200" y="3187192"/>
            <a:ext cx="251002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cell202"/>
          <p:cNvSpPr/>
          <p:nvPr/>
        </p:nvSpPr>
        <p:spPr>
          <a:xfrm>
            <a:off x="4110228" y="3187192"/>
            <a:ext cx="251002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cell203"/>
          <p:cNvSpPr/>
          <p:nvPr/>
        </p:nvSpPr>
        <p:spPr>
          <a:xfrm>
            <a:off x="6620256" y="3187192"/>
            <a:ext cx="251002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cell204"/>
          <p:cNvSpPr/>
          <p:nvPr/>
        </p:nvSpPr>
        <p:spPr>
          <a:xfrm>
            <a:off x="9130284" y="3187192"/>
            <a:ext cx="251002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3-figure205" descr="똑같이 4칸으로 나눈 띠, 2칸 색칠"/>
          <p:cNvSpPr/>
          <p:nvPr/>
        </p:nvSpPr>
        <p:spPr>
          <a:xfrm>
            <a:off x="1600200" y="3187192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3-guide206"/>
          <p:cNvSpPr/>
          <p:nvPr/>
        </p:nvSpPr>
        <p:spPr>
          <a:xfrm>
            <a:off x="6620256" y="1971040"/>
            <a:ext cx="0" cy="2176272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일이 일어날 가능성</dc:title>
  <dc:subject>KR22-G05-MAT-CHANCE-L01</dc:subject>
  <dc:creator>education-ppt</dc:creator>
  <cp:lastModifiedBy>education-ppt</cp:lastModifiedBy>
  <cp:revision>1</cp:revision>
  <dcterms:created xsi:type="dcterms:W3CDTF">2026-10-26T09:12:19Z</dcterms:created>
  <dcterms:modified xsi:type="dcterms:W3CDTF">2026-10-26T09:12:19Z</dcterms:modified>
</cp:coreProperties>
</file>