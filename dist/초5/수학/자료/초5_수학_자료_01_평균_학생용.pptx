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bf537a63-12d0-a064-b83a-02587eb67ce6}">
          <p14:sldIdLst>
            <p14:sldId id="256"/>
            <p14:sldId id="257"/>
          </p14:sldIdLst>
        </p14:section>
        <p14:section name="개념" id="{f54aef90-69c3-5e4d-bab2-3f70e3a8b3cb}">
          <p14:sldIdLst>
            <p14:sldId id="258"/>
            <p14:sldId id="259"/>
            <p14:sldId id="260"/>
            <p14:sldId id="264"/>
          </p14:sldIdLst>
        </p14:section>
        <p14:section name="연습" id="{cf105a5b-dd07-0bab-bfd7-746d21967173}">
          <p14:sldIdLst>
            <p14:sldId id="261"/>
            <p14:sldId id="262"/>
            <p14:sldId id="263"/>
            <p14:sldId id="265"/>
          </p14:sldIdLst>
        </p14:section>
        <p14:section name="개념" id="{b2e88c38-33cd-74e3-6af4-4878f26476a9}">
          <p14:sldIdLst/>
        </p14:section>
        <p14:section name="연습" id="{c0732826-ed4a-6a09-0772-cc1f1add520e}">
          <p14:sldIdLst/>
        </p14:section>
        <p14:section name="확인" id="{93809bdd-dfe4-41fe-28f6-fcb5cd9ede86}">
          <p14:sldIdLst>
            <p14:sldId id="266"/>
            <p14:sldId id="267"/>
          </p14:sldIdLst>
        </p14:section>
        <p14:section name="정리" id="{15562ea5-758a-f73b-e419-d045c8d69048}">
          <p14:sldIdLst>
            <p14:sldId id="268"/>
          </p14:sldIdLst>
        </p14:section>
        <p14:section name="보충" id="{2fa81316-739d-c1bb-432a-616dab371eda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자료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평균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평균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수학 · 평균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친구가 읽은 책 수를 수 하나로 나타내려면?</a:t>
            </a:r>
            <a:endParaRPr lang="ko-KR" sz="28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지난주에 읽은 책 수를 블록으로 쌓은 그림: 민지 5권, 준호 3권, 서연 6권, 도윤 2권"/>
          <p:cNvSpPr/>
          <p:nvPr/>
        </p:nvSpPr>
        <p:spPr>
          <a:xfrm>
            <a:off x="8469537" y="2775910"/>
            <a:ext cx="336395" cy="336395"/>
          </a:xfrm>
          <a:custGeom>
            <a:avLst/>
            <a:gdLst/>
            <a:ahLst/>
            <a:cxnLst/>
            <a:rect l="l" t="t" r="r" b="b"/>
            <a:pathLst>
              <a:path w="336395" h="336395">
                <a:moveTo>
                  <a:pt x="0" y="336395"/>
                </a:moveTo>
                <a:lnTo>
                  <a:pt x="336395" y="336395"/>
                </a:lnTo>
                <a:lnTo>
                  <a:pt x="336395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1-mark3"/>
          <p:cNvSpPr/>
          <p:nvPr/>
        </p:nvSpPr>
        <p:spPr>
          <a:xfrm>
            <a:off x="8469537" y="2439515"/>
            <a:ext cx="336395" cy="336395"/>
          </a:xfrm>
          <a:custGeom>
            <a:avLst/>
            <a:gdLst/>
            <a:ahLst/>
            <a:cxnLst/>
            <a:rect l="l" t="t" r="r" b="b"/>
            <a:pathLst>
              <a:path w="336395" h="336395">
                <a:moveTo>
                  <a:pt x="0" y="336395"/>
                </a:moveTo>
                <a:lnTo>
                  <a:pt x="336395" y="336395"/>
                </a:lnTo>
                <a:lnTo>
                  <a:pt x="336395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1-mark4"/>
          <p:cNvSpPr/>
          <p:nvPr/>
        </p:nvSpPr>
        <p:spPr>
          <a:xfrm>
            <a:off x="8469537" y="2103120"/>
            <a:ext cx="336395" cy="336395"/>
          </a:xfrm>
          <a:custGeom>
            <a:avLst/>
            <a:gdLst/>
            <a:ahLst/>
            <a:cxnLst/>
            <a:rect l="l" t="t" r="r" b="b"/>
            <a:pathLst>
              <a:path w="336395" h="336395">
                <a:moveTo>
                  <a:pt x="0" y="336395"/>
                </a:moveTo>
                <a:lnTo>
                  <a:pt x="336395" y="336395"/>
                </a:lnTo>
                <a:lnTo>
                  <a:pt x="336395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1-mark5"/>
          <p:cNvSpPr/>
          <p:nvPr/>
        </p:nvSpPr>
        <p:spPr>
          <a:xfrm>
            <a:off x="8469537" y="1766725"/>
            <a:ext cx="336395" cy="336395"/>
          </a:xfrm>
          <a:custGeom>
            <a:avLst/>
            <a:gdLst/>
            <a:ahLst/>
            <a:cxnLst/>
            <a:rect l="l" t="t" r="r" b="b"/>
            <a:pathLst>
              <a:path w="336395" h="336395">
                <a:moveTo>
                  <a:pt x="0" y="336395"/>
                </a:moveTo>
                <a:lnTo>
                  <a:pt x="336395" y="336395"/>
                </a:lnTo>
                <a:lnTo>
                  <a:pt x="336395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1-mark6"/>
          <p:cNvSpPr/>
          <p:nvPr/>
        </p:nvSpPr>
        <p:spPr>
          <a:xfrm>
            <a:off x="8469537" y="1430330"/>
            <a:ext cx="336395" cy="336395"/>
          </a:xfrm>
          <a:custGeom>
            <a:avLst/>
            <a:gdLst/>
            <a:ahLst/>
            <a:cxnLst/>
            <a:rect l="l" t="t" r="r" b="b"/>
            <a:pathLst>
              <a:path w="336395" h="336395">
                <a:moveTo>
                  <a:pt x="0" y="336395"/>
                </a:moveTo>
                <a:lnTo>
                  <a:pt x="336395" y="336395"/>
                </a:lnTo>
                <a:lnTo>
                  <a:pt x="336395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1-mark7"/>
          <p:cNvSpPr/>
          <p:nvPr/>
        </p:nvSpPr>
        <p:spPr>
          <a:xfrm>
            <a:off x="9142327" y="2775910"/>
            <a:ext cx="336395" cy="336395"/>
          </a:xfrm>
          <a:custGeom>
            <a:avLst/>
            <a:gdLst/>
            <a:ahLst/>
            <a:cxnLst/>
            <a:rect l="l" t="t" r="r" b="b"/>
            <a:pathLst>
              <a:path w="336395" h="336395">
                <a:moveTo>
                  <a:pt x="0" y="336395"/>
                </a:moveTo>
                <a:lnTo>
                  <a:pt x="336395" y="336395"/>
                </a:lnTo>
                <a:lnTo>
                  <a:pt x="336395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1-mark8"/>
          <p:cNvSpPr/>
          <p:nvPr/>
        </p:nvSpPr>
        <p:spPr>
          <a:xfrm>
            <a:off x="9142327" y="2439515"/>
            <a:ext cx="336395" cy="336395"/>
          </a:xfrm>
          <a:custGeom>
            <a:avLst/>
            <a:gdLst/>
            <a:ahLst/>
            <a:cxnLst/>
            <a:rect l="l" t="t" r="r" b="b"/>
            <a:pathLst>
              <a:path w="336395" h="336395">
                <a:moveTo>
                  <a:pt x="0" y="336395"/>
                </a:moveTo>
                <a:lnTo>
                  <a:pt x="336395" y="336395"/>
                </a:lnTo>
                <a:lnTo>
                  <a:pt x="336395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1-mark9"/>
          <p:cNvSpPr/>
          <p:nvPr/>
        </p:nvSpPr>
        <p:spPr>
          <a:xfrm>
            <a:off x="9142327" y="2103120"/>
            <a:ext cx="336395" cy="336395"/>
          </a:xfrm>
          <a:custGeom>
            <a:avLst/>
            <a:gdLst/>
            <a:ahLst/>
            <a:cxnLst/>
            <a:rect l="l" t="t" r="r" b="b"/>
            <a:pathLst>
              <a:path w="336395" h="336395">
                <a:moveTo>
                  <a:pt x="0" y="336395"/>
                </a:moveTo>
                <a:lnTo>
                  <a:pt x="336395" y="336395"/>
                </a:lnTo>
                <a:lnTo>
                  <a:pt x="336395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1-mark10"/>
          <p:cNvSpPr/>
          <p:nvPr/>
        </p:nvSpPr>
        <p:spPr>
          <a:xfrm>
            <a:off x="9815118" y="2775910"/>
            <a:ext cx="336395" cy="336395"/>
          </a:xfrm>
          <a:custGeom>
            <a:avLst/>
            <a:gdLst/>
            <a:ahLst/>
            <a:cxnLst/>
            <a:rect l="l" t="t" r="r" b="b"/>
            <a:pathLst>
              <a:path w="336395" h="336395">
                <a:moveTo>
                  <a:pt x="0" y="336395"/>
                </a:moveTo>
                <a:lnTo>
                  <a:pt x="336395" y="336395"/>
                </a:lnTo>
                <a:lnTo>
                  <a:pt x="336395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1-mark11"/>
          <p:cNvSpPr/>
          <p:nvPr/>
        </p:nvSpPr>
        <p:spPr>
          <a:xfrm>
            <a:off x="9815118" y="2439515"/>
            <a:ext cx="336395" cy="336395"/>
          </a:xfrm>
          <a:custGeom>
            <a:avLst/>
            <a:gdLst/>
            <a:ahLst/>
            <a:cxnLst/>
            <a:rect l="l" t="t" r="r" b="b"/>
            <a:pathLst>
              <a:path w="336395" h="336395">
                <a:moveTo>
                  <a:pt x="0" y="336395"/>
                </a:moveTo>
                <a:lnTo>
                  <a:pt x="336395" y="336395"/>
                </a:lnTo>
                <a:lnTo>
                  <a:pt x="336395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1-mark12"/>
          <p:cNvSpPr/>
          <p:nvPr/>
        </p:nvSpPr>
        <p:spPr>
          <a:xfrm>
            <a:off x="9815118" y="2103120"/>
            <a:ext cx="336395" cy="336395"/>
          </a:xfrm>
          <a:custGeom>
            <a:avLst/>
            <a:gdLst/>
            <a:ahLst/>
            <a:cxnLst/>
            <a:rect l="l" t="t" r="r" b="b"/>
            <a:pathLst>
              <a:path w="336395" h="336395">
                <a:moveTo>
                  <a:pt x="0" y="336395"/>
                </a:moveTo>
                <a:lnTo>
                  <a:pt x="336395" y="336395"/>
                </a:lnTo>
                <a:lnTo>
                  <a:pt x="336395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1-mark13"/>
          <p:cNvSpPr/>
          <p:nvPr/>
        </p:nvSpPr>
        <p:spPr>
          <a:xfrm>
            <a:off x="9815118" y="1766725"/>
            <a:ext cx="336395" cy="336395"/>
          </a:xfrm>
          <a:custGeom>
            <a:avLst/>
            <a:gdLst/>
            <a:ahLst/>
            <a:cxnLst/>
            <a:rect l="l" t="t" r="r" b="b"/>
            <a:pathLst>
              <a:path w="336395" h="336395">
                <a:moveTo>
                  <a:pt x="0" y="336395"/>
                </a:moveTo>
                <a:lnTo>
                  <a:pt x="336395" y="336395"/>
                </a:lnTo>
                <a:lnTo>
                  <a:pt x="336395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1-mark14"/>
          <p:cNvSpPr/>
          <p:nvPr/>
        </p:nvSpPr>
        <p:spPr>
          <a:xfrm>
            <a:off x="9815118" y="1430330"/>
            <a:ext cx="336395" cy="336395"/>
          </a:xfrm>
          <a:custGeom>
            <a:avLst/>
            <a:gdLst/>
            <a:ahLst/>
            <a:cxnLst/>
            <a:rect l="l" t="t" r="r" b="b"/>
            <a:pathLst>
              <a:path w="336395" h="336395">
                <a:moveTo>
                  <a:pt x="0" y="336395"/>
                </a:moveTo>
                <a:lnTo>
                  <a:pt x="336395" y="336395"/>
                </a:lnTo>
                <a:lnTo>
                  <a:pt x="336395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1-mark15"/>
          <p:cNvSpPr/>
          <p:nvPr/>
        </p:nvSpPr>
        <p:spPr>
          <a:xfrm>
            <a:off x="9815118" y="1093935"/>
            <a:ext cx="336395" cy="336395"/>
          </a:xfrm>
          <a:custGeom>
            <a:avLst/>
            <a:gdLst/>
            <a:ahLst/>
            <a:cxnLst/>
            <a:rect l="l" t="t" r="r" b="b"/>
            <a:pathLst>
              <a:path w="336395" h="336395">
                <a:moveTo>
                  <a:pt x="0" y="336395"/>
                </a:moveTo>
                <a:lnTo>
                  <a:pt x="336395" y="336395"/>
                </a:lnTo>
                <a:lnTo>
                  <a:pt x="336395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1-mark16"/>
          <p:cNvSpPr/>
          <p:nvPr/>
        </p:nvSpPr>
        <p:spPr>
          <a:xfrm>
            <a:off x="10487908" y="2775910"/>
            <a:ext cx="336395" cy="336395"/>
          </a:xfrm>
          <a:custGeom>
            <a:avLst/>
            <a:gdLst/>
            <a:ahLst/>
            <a:cxnLst/>
            <a:rect l="l" t="t" r="r" b="b"/>
            <a:pathLst>
              <a:path w="336395" h="336395">
                <a:moveTo>
                  <a:pt x="0" y="336395"/>
                </a:moveTo>
                <a:lnTo>
                  <a:pt x="336395" y="336395"/>
                </a:lnTo>
                <a:lnTo>
                  <a:pt x="336395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1-mark17"/>
          <p:cNvSpPr/>
          <p:nvPr/>
        </p:nvSpPr>
        <p:spPr>
          <a:xfrm>
            <a:off x="10487908" y="2439515"/>
            <a:ext cx="336395" cy="336395"/>
          </a:xfrm>
          <a:custGeom>
            <a:avLst/>
            <a:gdLst/>
            <a:ahLst/>
            <a:cxnLst/>
            <a:rect l="l" t="t" r="r" b="b"/>
            <a:pathLst>
              <a:path w="336395" h="336395">
                <a:moveTo>
                  <a:pt x="0" y="336395"/>
                </a:moveTo>
                <a:lnTo>
                  <a:pt x="336395" y="336395"/>
                </a:lnTo>
                <a:lnTo>
                  <a:pt x="336395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1-mark18"/>
          <p:cNvSpPr/>
          <p:nvPr/>
        </p:nvSpPr>
        <p:spPr>
          <a:xfrm>
            <a:off x="8301340" y="3112305"/>
            <a:ext cx="2691161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2" name="S01-label20"/>
          <p:cNvSpPr txBox="1"/>
          <p:nvPr/>
        </p:nvSpPr>
        <p:spPr>
          <a:xfrm>
            <a:off x="8309059" y="3156337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민지</a:t>
            </a:r>
            <a:endParaRPr lang="ko-KR" sz="2200" dirty="0"/>
          </a:p>
        </p:txBody>
      </p:sp>
      <p:sp>
        <p:nvSpPr>
          <p:cNvPr id="23" name="S01-label22"/>
          <p:cNvSpPr txBox="1"/>
          <p:nvPr/>
        </p:nvSpPr>
        <p:spPr>
          <a:xfrm>
            <a:off x="8353763" y="1053868"/>
            <a:ext cx="56794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5권</a:t>
            </a:r>
            <a:endParaRPr lang="ko-KR" sz="2200" dirty="0"/>
          </a:p>
        </p:txBody>
      </p:sp>
      <p:sp>
        <p:nvSpPr>
          <p:cNvPr id="24" name="S01-label24"/>
          <p:cNvSpPr txBox="1"/>
          <p:nvPr/>
        </p:nvSpPr>
        <p:spPr>
          <a:xfrm>
            <a:off x="8981849" y="3156337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준호</a:t>
            </a:r>
            <a:endParaRPr lang="ko-KR" sz="2200" dirty="0"/>
          </a:p>
        </p:txBody>
      </p:sp>
      <p:sp>
        <p:nvSpPr>
          <p:cNvPr id="25" name="S01-label26"/>
          <p:cNvSpPr txBox="1"/>
          <p:nvPr/>
        </p:nvSpPr>
        <p:spPr>
          <a:xfrm>
            <a:off x="9026553" y="1726658"/>
            <a:ext cx="56794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3권</a:t>
            </a:r>
            <a:endParaRPr lang="ko-KR" sz="2200" dirty="0"/>
          </a:p>
        </p:txBody>
      </p:sp>
      <p:sp>
        <p:nvSpPr>
          <p:cNvPr id="26" name="S01-label28"/>
          <p:cNvSpPr txBox="1"/>
          <p:nvPr/>
        </p:nvSpPr>
        <p:spPr>
          <a:xfrm>
            <a:off x="9654639" y="3156337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서연</a:t>
            </a:r>
            <a:endParaRPr lang="ko-KR" sz="2200" dirty="0"/>
          </a:p>
        </p:txBody>
      </p:sp>
      <p:sp>
        <p:nvSpPr>
          <p:cNvPr id="27" name="S01-label30"/>
          <p:cNvSpPr txBox="1"/>
          <p:nvPr/>
        </p:nvSpPr>
        <p:spPr>
          <a:xfrm>
            <a:off x="9699343" y="717473"/>
            <a:ext cx="56794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6권</a:t>
            </a:r>
            <a:endParaRPr lang="ko-KR" sz="2200" dirty="0"/>
          </a:p>
        </p:txBody>
      </p:sp>
      <p:sp>
        <p:nvSpPr>
          <p:cNvPr id="28" name="S01-label32"/>
          <p:cNvSpPr txBox="1"/>
          <p:nvPr/>
        </p:nvSpPr>
        <p:spPr>
          <a:xfrm>
            <a:off x="10327429" y="3156337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도윤</a:t>
            </a:r>
            <a:endParaRPr lang="ko-KR" sz="2200" dirty="0"/>
          </a:p>
        </p:txBody>
      </p:sp>
      <p:sp>
        <p:nvSpPr>
          <p:cNvPr id="29" name="S01-label34"/>
          <p:cNvSpPr txBox="1"/>
          <p:nvPr/>
        </p:nvSpPr>
        <p:spPr>
          <a:xfrm>
            <a:off x="10372133" y="2063053"/>
            <a:ext cx="56794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2권</a:t>
            </a:r>
            <a:endParaRPr lang="ko-KR" sz="2200" dirty="0"/>
          </a:p>
        </p:txBody>
      </p:sp>
      <p:sp>
        <p:nvSpPr>
          <p:cNvPr id="30" name="S01-card35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31" name="S01-cardtext36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막대를 고르게 하여 평균을 구하고 뜻을 말해요.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합 ÷ 수로 평균을 구해 두 모둠을 비교해요.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학년 기억하기</a:t>
            </a:r>
            <a:endParaRPr lang="ko-KR" sz="4000" dirty="0"/>
          </a:p>
        </p:txBody>
      </p:sp>
      <p:sp>
        <p:nvSpPr>
          <p:cNvPr id="3" name="S02-figure37" descr="막대그래프 ‘모둠별 모은 빈 병 수’(세로 눈금 한 칸 2개): 가 6, 나 10, 다 4, 라 8"/>
          <p:cNvSpPr/>
          <p:nvPr/>
        </p:nvSpPr>
        <p:spPr>
          <a:xfrm>
            <a:off x="7364563" y="4072916"/>
            <a:ext cx="535140" cy="1337850"/>
          </a:xfrm>
          <a:custGeom>
            <a:avLst/>
            <a:gdLst/>
            <a:ahLst/>
            <a:cxnLst/>
            <a:rect l="l" t="t" r="r" b="b"/>
            <a:pathLst>
              <a:path w="535140" h="1337850">
                <a:moveTo>
                  <a:pt x="0" y="1337850"/>
                </a:moveTo>
                <a:lnTo>
                  <a:pt x="535140" y="1337850"/>
                </a:lnTo>
                <a:lnTo>
                  <a:pt x="535140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" name="S02-mark38"/>
          <p:cNvSpPr/>
          <p:nvPr/>
        </p:nvSpPr>
        <p:spPr>
          <a:xfrm>
            <a:off x="8434843" y="3181016"/>
            <a:ext cx="535140" cy="2229749"/>
          </a:xfrm>
          <a:custGeom>
            <a:avLst/>
            <a:gdLst/>
            <a:ahLst/>
            <a:cxnLst/>
            <a:rect l="l" t="t" r="r" b="b"/>
            <a:pathLst>
              <a:path w="535140" h="2229749">
                <a:moveTo>
                  <a:pt x="0" y="2229749"/>
                </a:moveTo>
                <a:lnTo>
                  <a:pt x="535140" y="2229749"/>
                </a:lnTo>
                <a:lnTo>
                  <a:pt x="535140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02-mark39"/>
          <p:cNvSpPr/>
          <p:nvPr/>
        </p:nvSpPr>
        <p:spPr>
          <a:xfrm>
            <a:off x="9505123" y="4518866"/>
            <a:ext cx="535140" cy="891900"/>
          </a:xfrm>
          <a:custGeom>
            <a:avLst/>
            <a:gdLst/>
            <a:ahLst/>
            <a:cxnLst/>
            <a:rect l="l" t="t" r="r" b="b"/>
            <a:pathLst>
              <a:path w="535140" h="891900">
                <a:moveTo>
                  <a:pt x="0" y="891900"/>
                </a:moveTo>
                <a:lnTo>
                  <a:pt x="535140" y="891900"/>
                </a:lnTo>
                <a:lnTo>
                  <a:pt x="535140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2-mark40"/>
          <p:cNvSpPr/>
          <p:nvPr/>
        </p:nvSpPr>
        <p:spPr>
          <a:xfrm>
            <a:off x="10575402" y="3626966"/>
            <a:ext cx="535140" cy="1783799"/>
          </a:xfrm>
          <a:custGeom>
            <a:avLst/>
            <a:gdLst/>
            <a:ahLst/>
            <a:cxnLst/>
            <a:rect l="l" t="t" r="r" b="b"/>
            <a:pathLst>
              <a:path w="535140" h="1783799">
                <a:moveTo>
                  <a:pt x="0" y="1783799"/>
                </a:moveTo>
                <a:lnTo>
                  <a:pt x="535140" y="1783799"/>
                </a:lnTo>
                <a:lnTo>
                  <a:pt x="535140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2-mark41"/>
          <p:cNvSpPr/>
          <p:nvPr/>
        </p:nvSpPr>
        <p:spPr>
          <a:xfrm>
            <a:off x="6963208" y="4964816"/>
            <a:ext cx="4548689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02-mark42"/>
          <p:cNvSpPr/>
          <p:nvPr/>
        </p:nvSpPr>
        <p:spPr>
          <a:xfrm>
            <a:off x="6963208" y="4518866"/>
            <a:ext cx="4548689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02-mark43"/>
          <p:cNvSpPr/>
          <p:nvPr/>
        </p:nvSpPr>
        <p:spPr>
          <a:xfrm>
            <a:off x="6963208" y="4072916"/>
            <a:ext cx="4548689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2-mark44"/>
          <p:cNvSpPr/>
          <p:nvPr/>
        </p:nvSpPr>
        <p:spPr>
          <a:xfrm>
            <a:off x="6963208" y="3626966"/>
            <a:ext cx="4548689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2-mark45"/>
          <p:cNvSpPr/>
          <p:nvPr/>
        </p:nvSpPr>
        <p:spPr>
          <a:xfrm>
            <a:off x="6963208" y="3181016"/>
            <a:ext cx="4548689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2-mark46"/>
          <p:cNvSpPr/>
          <p:nvPr/>
        </p:nvSpPr>
        <p:spPr>
          <a:xfrm>
            <a:off x="6963208" y="2735067"/>
            <a:ext cx="4548689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2-mark47"/>
          <p:cNvSpPr/>
          <p:nvPr/>
        </p:nvSpPr>
        <p:spPr>
          <a:xfrm>
            <a:off x="6963208" y="5410766"/>
            <a:ext cx="4548689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4" name="S02-mark48"/>
          <p:cNvSpPr/>
          <p:nvPr/>
        </p:nvSpPr>
        <p:spPr>
          <a:xfrm flipV="1">
            <a:off x="6963208" y="2556687"/>
            <a:ext cx="0" cy="2854079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5" name="S02-label50"/>
          <p:cNvSpPr txBox="1"/>
          <p:nvPr/>
        </p:nvSpPr>
        <p:spPr>
          <a:xfrm>
            <a:off x="6481680" y="5236141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200" dirty="0"/>
          </a:p>
        </p:txBody>
      </p:sp>
      <p:sp>
        <p:nvSpPr>
          <p:cNvPr id="16" name="S02-label52"/>
          <p:cNvSpPr txBox="1"/>
          <p:nvPr/>
        </p:nvSpPr>
        <p:spPr>
          <a:xfrm>
            <a:off x="6481680" y="4790191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7" name="S02-label54"/>
          <p:cNvSpPr txBox="1"/>
          <p:nvPr/>
        </p:nvSpPr>
        <p:spPr>
          <a:xfrm>
            <a:off x="6481680" y="4344241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8" name="S02-label56"/>
          <p:cNvSpPr txBox="1"/>
          <p:nvPr/>
        </p:nvSpPr>
        <p:spPr>
          <a:xfrm>
            <a:off x="6481680" y="3898291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200" dirty="0"/>
          </a:p>
        </p:txBody>
      </p:sp>
      <p:sp>
        <p:nvSpPr>
          <p:cNvPr id="19" name="S02-label58"/>
          <p:cNvSpPr txBox="1"/>
          <p:nvPr/>
        </p:nvSpPr>
        <p:spPr>
          <a:xfrm>
            <a:off x="6481680" y="3452341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200" dirty="0"/>
          </a:p>
        </p:txBody>
      </p:sp>
      <p:sp>
        <p:nvSpPr>
          <p:cNvPr id="20" name="S02-label60"/>
          <p:cNvSpPr txBox="1"/>
          <p:nvPr/>
        </p:nvSpPr>
        <p:spPr>
          <a:xfrm>
            <a:off x="6389478" y="3006391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200" dirty="0"/>
          </a:p>
        </p:txBody>
      </p:sp>
      <p:sp>
        <p:nvSpPr>
          <p:cNvPr id="21" name="S02-label62"/>
          <p:cNvSpPr txBox="1"/>
          <p:nvPr/>
        </p:nvSpPr>
        <p:spPr>
          <a:xfrm>
            <a:off x="6389478" y="2560442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200" dirty="0"/>
          </a:p>
        </p:txBody>
      </p:sp>
      <p:sp>
        <p:nvSpPr>
          <p:cNvPr id="22" name="S02-label64"/>
          <p:cNvSpPr txBox="1"/>
          <p:nvPr/>
        </p:nvSpPr>
        <p:spPr>
          <a:xfrm>
            <a:off x="6269336" y="2114492"/>
            <a:ext cx="71882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(개)</a:t>
            </a:r>
            <a:endParaRPr lang="ko-KR" sz="2200" dirty="0"/>
          </a:p>
        </p:txBody>
      </p:sp>
      <p:sp>
        <p:nvSpPr>
          <p:cNvPr id="23" name="S02-label66"/>
          <p:cNvSpPr txBox="1"/>
          <p:nvPr/>
        </p:nvSpPr>
        <p:spPr>
          <a:xfrm>
            <a:off x="7440363" y="5526008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24" name="S02-label68"/>
          <p:cNvSpPr txBox="1"/>
          <p:nvPr/>
        </p:nvSpPr>
        <p:spPr>
          <a:xfrm>
            <a:off x="8510643" y="5526008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25" name="S02-label70"/>
          <p:cNvSpPr txBox="1"/>
          <p:nvPr/>
        </p:nvSpPr>
        <p:spPr>
          <a:xfrm>
            <a:off x="9580923" y="5526008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200" dirty="0"/>
          </a:p>
        </p:txBody>
      </p:sp>
      <p:sp>
        <p:nvSpPr>
          <p:cNvPr id="26" name="S02-label72"/>
          <p:cNvSpPr txBox="1"/>
          <p:nvPr/>
        </p:nvSpPr>
        <p:spPr>
          <a:xfrm>
            <a:off x="10651202" y="5526008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200" dirty="0"/>
          </a:p>
        </p:txBody>
      </p:sp>
      <p:sp>
        <p:nvSpPr>
          <p:cNvPr id="27" name="S02-label74"/>
          <p:cNvSpPr txBox="1"/>
          <p:nvPr/>
        </p:nvSpPr>
        <p:spPr>
          <a:xfrm>
            <a:off x="7919801" y="1668542"/>
            <a:ext cx="263550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모둠별 모은 빈 병 수</a:t>
            </a:r>
            <a:endParaRPr lang="ko-KR" sz="2200" dirty="0"/>
          </a:p>
        </p:txBody>
      </p:sp>
      <p:sp>
        <p:nvSpPr>
          <p:cNvPr id="28" name="S02-chip75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29" name="S02-text76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눈금 한 칸은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개일까요?</a:t>
            </a:r>
            <a:endParaRPr lang="ko-KR" sz="2800" dirty="0"/>
          </a:p>
        </p:txBody>
      </p:sp>
      <p:sp>
        <p:nvSpPr>
          <p:cNvPr id="30" name="S02-chip77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31" name="S02-text78"/>
          <p:cNvSpPr txBox="1"/>
          <p:nvPr/>
        </p:nvSpPr>
        <p:spPr>
          <a:xfrm>
            <a:off x="1344168" y="301752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 모둠은 몇 개를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모았나요?</a:t>
            </a:r>
            <a:endParaRPr lang="ko-KR" sz="2800" dirty="0"/>
          </a:p>
        </p:txBody>
      </p:sp>
      <p:sp>
        <p:nvSpPr>
          <p:cNvPr id="32" name="S02-chip79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33" name="S02-text80"/>
          <p:cNvSpPr txBox="1"/>
          <p:nvPr/>
        </p:nvSpPr>
        <p:spPr>
          <a:xfrm>
            <a:off x="1344168" y="470916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모둠이 모은 병은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몇 개일까요?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높이를 고르게 해요</a:t>
            </a:r>
            <a:endParaRPr lang="ko-KR" sz="4000" dirty="0"/>
          </a:p>
        </p:txBody>
      </p:sp>
      <p:sp>
        <p:nvSpPr>
          <p:cNvPr id="3" name="S03-text8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친구가 지난주에 읽은 책 수예요.</a:t>
            </a:r>
            <a:endParaRPr lang="ko-KR" sz="2800" dirty="0"/>
          </a:p>
        </p:txBody>
      </p:sp>
      <p:sp>
        <p:nvSpPr>
          <p:cNvPr id="4" name="S03-figure82" descr="지난주에 읽은 책 수를 블록으로 쌓은 그림: 민지 5권, 준호 3권, 서연 6권, 도윤 2권"/>
          <p:cNvSpPr/>
          <p:nvPr/>
        </p:nvSpPr>
        <p:spPr>
          <a:xfrm>
            <a:off x="1828103" y="5099824"/>
            <a:ext cx="492512" cy="492512"/>
          </a:xfrm>
          <a:custGeom>
            <a:avLst/>
            <a:gdLst/>
            <a:ahLst/>
            <a:cxnLst/>
            <a:rect l="l" t="t" r="r" b="b"/>
            <a:pathLst>
              <a:path w="492512" h="492512">
                <a:moveTo>
                  <a:pt x="0" y="492512"/>
                </a:moveTo>
                <a:lnTo>
                  <a:pt x="492512" y="492512"/>
                </a:lnTo>
                <a:lnTo>
                  <a:pt x="4925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03-mark83"/>
          <p:cNvSpPr/>
          <p:nvPr/>
        </p:nvSpPr>
        <p:spPr>
          <a:xfrm>
            <a:off x="1828103" y="4607312"/>
            <a:ext cx="492512" cy="492512"/>
          </a:xfrm>
          <a:custGeom>
            <a:avLst/>
            <a:gdLst/>
            <a:ahLst/>
            <a:cxnLst/>
            <a:rect l="l" t="t" r="r" b="b"/>
            <a:pathLst>
              <a:path w="492512" h="492512">
                <a:moveTo>
                  <a:pt x="0" y="492512"/>
                </a:moveTo>
                <a:lnTo>
                  <a:pt x="492512" y="492512"/>
                </a:lnTo>
                <a:lnTo>
                  <a:pt x="4925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3-mark84"/>
          <p:cNvSpPr/>
          <p:nvPr/>
        </p:nvSpPr>
        <p:spPr>
          <a:xfrm>
            <a:off x="1828103" y="4114800"/>
            <a:ext cx="492512" cy="492512"/>
          </a:xfrm>
          <a:custGeom>
            <a:avLst/>
            <a:gdLst/>
            <a:ahLst/>
            <a:cxnLst/>
            <a:rect l="l" t="t" r="r" b="b"/>
            <a:pathLst>
              <a:path w="492512" h="492512">
                <a:moveTo>
                  <a:pt x="0" y="492512"/>
                </a:moveTo>
                <a:lnTo>
                  <a:pt x="492512" y="492512"/>
                </a:lnTo>
                <a:lnTo>
                  <a:pt x="4925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3-mark85"/>
          <p:cNvSpPr/>
          <p:nvPr/>
        </p:nvSpPr>
        <p:spPr>
          <a:xfrm>
            <a:off x="1828103" y="3622288"/>
            <a:ext cx="492512" cy="492512"/>
          </a:xfrm>
          <a:custGeom>
            <a:avLst/>
            <a:gdLst/>
            <a:ahLst/>
            <a:cxnLst/>
            <a:rect l="l" t="t" r="r" b="b"/>
            <a:pathLst>
              <a:path w="492512" h="492512">
                <a:moveTo>
                  <a:pt x="0" y="492512"/>
                </a:moveTo>
                <a:lnTo>
                  <a:pt x="492512" y="492512"/>
                </a:lnTo>
                <a:lnTo>
                  <a:pt x="4925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3-mark86"/>
          <p:cNvSpPr/>
          <p:nvPr/>
        </p:nvSpPr>
        <p:spPr>
          <a:xfrm>
            <a:off x="1828103" y="3129776"/>
            <a:ext cx="492512" cy="492512"/>
          </a:xfrm>
          <a:custGeom>
            <a:avLst/>
            <a:gdLst/>
            <a:ahLst/>
            <a:cxnLst/>
            <a:rect l="l" t="t" r="r" b="b"/>
            <a:pathLst>
              <a:path w="492512" h="492512">
                <a:moveTo>
                  <a:pt x="0" y="492512"/>
                </a:moveTo>
                <a:lnTo>
                  <a:pt x="492512" y="492512"/>
                </a:lnTo>
                <a:lnTo>
                  <a:pt x="4925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3-mark87"/>
          <p:cNvSpPr/>
          <p:nvPr/>
        </p:nvSpPr>
        <p:spPr>
          <a:xfrm>
            <a:off x="2813127" y="5099824"/>
            <a:ext cx="492512" cy="492512"/>
          </a:xfrm>
          <a:custGeom>
            <a:avLst/>
            <a:gdLst/>
            <a:ahLst/>
            <a:cxnLst/>
            <a:rect l="l" t="t" r="r" b="b"/>
            <a:pathLst>
              <a:path w="492512" h="492512">
                <a:moveTo>
                  <a:pt x="0" y="492512"/>
                </a:moveTo>
                <a:lnTo>
                  <a:pt x="492512" y="492512"/>
                </a:lnTo>
                <a:lnTo>
                  <a:pt x="4925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3-mark88"/>
          <p:cNvSpPr/>
          <p:nvPr/>
        </p:nvSpPr>
        <p:spPr>
          <a:xfrm>
            <a:off x="2813127" y="4607312"/>
            <a:ext cx="492512" cy="492512"/>
          </a:xfrm>
          <a:custGeom>
            <a:avLst/>
            <a:gdLst/>
            <a:ahLst/>
            <a:cxnLst/>
            <a:rect l="l" t="t" r="r" b="b"/>
            <a:pathLst>
              <a:path w="492512" h="492512">
                <a:moveTo>
                  <a:pt x="0" y="492512"/>
                </a:moveTo>
                <a:lnTo>
                  <a:pt x="492512" y="492512"/>
                </a:lnTo>
                <a:lnTo>
                  <a:pt x="4925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3-mark89"/>
          <p:cNvSpPr/>
          <p:nvPr/>
        </p:nvSpPr>
        <p:spPr>
          <a:xfrm>
            <a:off x="2813127" y="4114800"/>
            <a:ext cx="492512" cy="492512"/>
          </a:xfrm>
          <a:custGeom>
            <a:avLst/>
            <a:gdLst/>
            <a:ahLst/>
            <a:cxnLst/>
            <a:rect l="l" t="t" r="r" b="b"/>
            <a:pathLst>
              <a:path w="492512" h="492512">
                <a:moveTo>
                  <a:pt x="0" y="492512"/>
                </a:moveTo>
                <a:lnTo>
                  <a:pt x="492512" y="492512"/>
                </a:lnTo>
                <a:lnTo>
                  <a:pt x="4925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3-mark90"/>
          <p:cNvSpPr/>
          <p:nvPr/>
        </p:nvSpPr>
        <p:spPr>
          <a:xfrm>
            <a:off x="3798151" y="5099824"/>
            <a:ext cx="492512" cy="492512"/>
          </a:xfrm>
          <a:custGeom>
            <a:avLst/>
            <a:gdLst/>
            <a:ahLst/>
            <a:cxnLst/>
            <a:rect l="l" t="t" r="r" b="b"/>
            <a:pathLst>
              <a:path w="492512" h="492512">
                <a:moveTo>
                  <a:pt x="0" y="492512"/>
                </a:moveTo>
                <a:lnTo>
                  <a:pt x="492512" y="492512"/>
                </a:lnTo>
                <a:lnTo>
                  <a:pt x="4925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3-mark91"/>
          <p:cNvSpPr/>
          <p:nvPr/>
        </p:nvSpPr>
        <p:spPr>
          <a:xfrm>
            <a:off x="3798151" y="4607312"/>
            <a:ext cx="492512" cy="492512"/>
          </a:xfrm>
          <a:custGeom>
            <a:avLst/>
            <a:gdLst/>
            <a:ahLst/>
            <a:cxnLst/>
            <a:rect l="l" t="t" r="r" b="b"/>
            <a:pathLst>
              <a:path w="492512" h="492512">
                <a:moveTo>
                  <a:pt x="0" y="492512"/>
                </a:moveTo>
                <a:lnTo>
                  <a:pt x="492512" y="492512"/>
                </a:lnTo>
                <a:lnTo>
                  <a:pt x="4925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3-mark92"/>
          <p:cNvSpPr/>
          <p:nvPr/>
        </p:nvSpPr>
        <p:spPr>
          <a:xfrm>
            <a:off x="3798151" y="4114800"/>
            <a:ext cx="492512" cy="492512"/>
          </a:xfrm>
          <a:custGeom>
            <a:avLst/>
            <a:gdLst/>
            <a:ahLst/>
            <a:cxnLst/>
            <a:rect l="l" t="t" r="r" b="b"/>
            <a:pathLst>
              <a:path w="492512" h="492512">
                <a:moveTo>
                  <a:pt x="0" y="492512"/>
                </a:moveTo>
                <a:lnTo>
                  <a:pt x="492512" y="492512"/>
                </a:lnTo>
                <a:lnTo>
                  <a:pt x="4925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3-mark93"/>
          <p:cNvSpPr/>
          <p:nvPr/>
        </p:nvSpPr>
        <p:spPr>
          <a:xfrm>
            <a:off x="3798151" y="3622288"/>
            <a:ext cx="492512" cy="492512"/>
          </a:xfrm>
          <a:custGeom>
            <a:avLst/>
            <a:gdLst/>
            <a:ahLst/>
            <a:cxnLst/>
            <a:rect l="l" t="t" r="r" b="b"/>
            <a:pathLst>
              <a:path w="492512" h="492512">
                <a:moveTo>
                  <a:pt x="0" y="492512"/>
                </a:moveTo>
                <a:lnTo>
                  <a:pt x="492512" y="492512"/>
                </a:lnTo>
                <a:lnTo>
                  <a:pt x="4925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3-mark94"/>
          <p:cNvSpPr/>
          <p:nvPr/>
        </p:nvSpPr>
        <p:spPr>
          <a:xfrm>
            <a:off x="3798151" y="3129776"/>
            <a:ext cx="492512" cy="492512"/>
          </a:xfrm>
          <a:custGeom>
            <a:avLst/>
            <a:gdLst/>
            <a:ahLst/>
            <a:cxnLst/>
            <a:rect l="l" t="t" r="r" b="b"/>
            <a:pathLst>
              <a:path w="492512" h="492512">
                <a:moveTo>
                  <a:pt x="0" y="492512"/>
                </a:moveTo>
                <a:lnTo>
                  <a:pt x="492512" y="492512"/>
                </a:lnTo>
                <a:lnTo>
                  <a:pt x="4925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3-mark95"/>
          <p:cNvSpPr/>
          <p:nvPr/>
        </p:nvSpPr>
        <p:spPr>
          <a:xfrm>
            <a:off x="3798151" y="2637263"/>
            <a:ext cx="492512" cy="492512"/>
          </a:xfrm>
          <a:custGeom>
            <a:avLst/>
            <a:gdLst/>
            <a:ahLst/>
            <a:cxnLst/>
            <a:rect l="l" t="t" r="r" b="b"/>
            <a:pathLst>
              <a:path w="492512" h="492512">
                <a:moveTo>
                  <a:pt x="0" y="492512"/>
                </a:moveTo>
                <a:lnTo>
                  <a:pt x="492512" y="492512"/>
                </a:lnTo>
                <a:lnTo>
                  <a:pt x="4925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3-mark96"/>
          <p:cNvSpPr/>
          <p:nvPr/>
        </p:nvSpPr>
        <p:spPr>
          <a:xfrm>
            <a:off x="4783176" y="5099824"/>
            <a:ext cx="492512" cy="492512"/>
          </a:xfrm>
          <a:custGeom>
            <a:avLst/>
            <a:gdLst/>
            <a:ahLst/>
            <a:cxnLst/>
            <a:rect l="l" t="t" r="r" b="b"/>
            <a:pathLst>
              <a:path w="492512" h="492512">
                <a:moveTo>
                  <a:pt x="0" y="492512"/>
                </a:moveTo>
                <a:lnTo>
                  <a:pt x="492512" y="492512"/>
                </a:lnTo>
                <a:lnTo>
                  <a:pt x="4925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3-mark97"/>
          <p:cNvSpPr/>
          <p:nvPr/>
        </p:nvSpPr>
        <p:spPr>
          <a:xfrm>
            <a:off x="4783176" y="4607312"/>
            <a:ext cx="492512" cy="492512"/>
          </a:xfrm>
          <a:custGeom>
            <a:avLst/>
            <a:gdLst/>
            <a:ahLst/>
            <a:cxnLst/>
            <a:rect l="l" t="t" r="r" b="b"/>
            <a:pathLst>
              <a:path w="492512" h="492512">
                <a:moveTo>
                  <a:pt x="0" y="492512"/>
                </a:moveTo>
                <a:lnTo>
                  <a:pt x="492512" y="492512"/>
                </a:lnTo>
                <a:lnTo>
                  <a:pt x="4925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3-mark98"/>
          <p:cNvSpPr/>
          <p:nvPr/>
        </p:nvSpPr>
        <p:spPr>
          <a:xfrm>
            <a:off x="1581847" y="5592337"/>
            <a:ext cx="3940098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1" name="S03-label100"/>
          <p:cNvSpPr txBox="1"/>
          <p:nvPr/>
        </p:nvSpPr>
        <p:spPr>
          <a:xfrm>
            <a:off x="1745683" y="5737845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민지</a:t>
            </a:r>
            <a:endParaRPr lang="ko-KR" sz="2200" dirty="0"/>
          </a:p>
        </p:txBody>
      </p:sp>
      <p:sp>
        <p:nvSpPr>
          <p:cNvPr id="22" name="S03-label102"/>
          <p:cNvSpPr txBox="1"/>
          <p:nvPr/>
        </p:nvSpPr>
        <p:spPr>
          <a:xfrm>
            <a:off x="1790387" y="2659643"/>
            <a:ext cx="56794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5권</a:t>
            </a:r>
            <a:endParaRPr lang="ko-KR" sz="2200" dirty="0"/>
          </a:p>
        </p:txBody>
      </p:sp>
      <p:sp>
        <p:nvSpPr>
          <p:cNvPr id="23" name="S03-label104"/>
          <p:cNvSpPr txBox="1"/>
          <p:nvPr/>
        </p:nvSpPr>
        <p:spPr>
          <a:xfrm>
            <a:off x="2730707" y="5737845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준호</a:t>
            </a:r>
            <a:endParaRPr lang="ko-KR" sz="2200" dirty="0"/>
          </a:p>
        </p:txBody>
      </p:sp>
      <p:sp>
        <p:nvSpPr>
          <p:cNvPr id="24" name="S03-label106"/>
          <p:cNvSpPr txBox="1"/>
          <p:nvPr/>
        </p:nvSpPr>
        <p:spPr>
          <a:xfrm>
            <a:off x="2775411" y="3644668"/>
            <a:ext cx="56794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3권</a:t>
            </a:r>
            <a:endParaRPr lang="ko-KR" sz="2200" dirty="0"/>
          </a:p>
        </p:txBody>
      </p:sp>
      <p:sp>
        <p:nvSpPr>
          <p:cNvPr id="25" name="S03-label108"/>
          <p:cNvSpPr txBox="1"/>
          <p:nvPr/>
        </p:nvSpPr>
        <p:spPr>
          <a:xfrm>
            <a:off x="3715732" y="5737845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서연</a:t>
            </a:r>
            <a:endParaRPr lang="ko-KR" sz="2200" dirty="0"/>
          </a:p>
        </p:txBody>
      </p:sp>
      <p:sp>
        <p:nvSpPr>
          <p:cNvPr id="26" name="S03-label110"/>
          <p:cNvSpPr txBox="1"/>
          <p:nvPr/>
        </p:nvSpPr>
        <p:spPr>
          <a:xfrm>
            <a:off x="3760436" y="2167131"/>
            <a:ext cx="56794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6권</a:t>
            </a:r>
            <a:endParaRPr lang="ko-KR" sz="2200" dirty="0"/>
          </a:p>
        </p:txBody>
      </p:sp>
      <p:sp>
        <p:nvSpPr>
          <p:cNvPr id="27" name="S03-label112"/>
          <p:cNvSpPr txBox="1"/>
          <p:nvPr/>
        </p:nvSpPr>
        <p:spPr>
          <a:xfrm>
            <a:off x="4700756" y="5737845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도윤</a:t>
            </a:r>
            <a:endParaRPr lang="ko-KR" sz="2200" dirty="0"/>
          </a:p>
        </p:txBody>
      </p:sp>
      <p:sp>
        <p:nvSpPr>
          <p:cNvPr id="28" name="S03-label114"/>
          <p:cNvSpPr txBox="1"/>
          <p:nvPr/>
        </p:nvSpPr>
        <p:spPr>
          <a:xfrm>
            <a:off x="4745460" y="4137180"/>
            <a:ext cx="56794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2권</a:t>
            </a:r>
            <a:endParaRPr lang="ko-KR" sz="2200" dirty="0"/>
          </a:p>
        </p:txBody>
      </p:sp>
      <p:sp>
        <p:nvSpPr>
          <p:cNvPr id="29" name="S03-card115"/>
          <p:cNvSpPr/>
          <p:nvPr/>
        </p:nvSpPr>
        <p:spPr>
          <a:xfrm>
            <a:off x="6920911" y="2479548"/>
            <a:ext cx="4719401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0" name="S03-cardtext116"/>
          <p:cNvSpPr txBox="1"/>
          <p:nvPr/>
        </p:nvSpPr>
        <p:spPr>
          <a:xfrm>
            <a:off x="7195231" y="2616708"/>
            <a:ext cx="4170761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고르게 하기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많은 쪽에서 적은 쪽으로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블록을 옮겨 높이를 같게 해요.</a:t>
            </a:r>
            <a:endParaRPr lang="ko-KR" sz="2800" dirty="0"/>
          </a:p>
        </p:txBody>
      </p:sp>
      <p:sp>
        <p:nvSpPr>
          <p:cNvPr id="31" name="S03-card117"/>
          <p:cNvSpPr/>
          <p:nvPr/>
        </p:nvSpPr>
        <p:spPr>
          <a:xfrm>
            <a:off x="6920911" y="4229100"/>
            <a:ext cx="4719401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2" name="S03-cardtext118"/>
          <p:cNvSpPr txBox="1"/>
          <p:nvPr/>
        </p:nvSpPr>
        <p:spPr>
          <a:xfrm>
            <a:off x="7195231" y="4366260"/>
            <a:ext cx="4170761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 봐요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바둑돌로 쌓아 옮겨 봐요.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몇 권씩이 될까요?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고르게 한 수가 평균</a:t>
            </a:r>
            <a:endParaRPr lang="ko-KR" sz="4000" dirty="0"/>
          </a:p>
        </p:txBody>
      </p:sp>
      <p:sp>
        <p:nvSpPr>
          <p:cNvPr id="3" name="S04-card11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2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평균: 자료의 값을 고르게 하여 나타낸 수</a:t>
            </a:r>
            <a:endParaRPr lang="ko-KR" sz="2800" dirty="0"/>
          </a:p>
        </p:txBody>
      </p:sp>
      <p:sp>
        <p:nvSpPr>
          <p:cNvPr id="5" name="S04-figure121" descr="블록을 옮겨 고르게 한 그림: 민지의 블록 1개를 준호에게, 서연의 블록 2개를 도윤에게 옮겨 모두 4권이 됨(옮긴 블록은 노란색, 원래 자리는 점선)"/>
          <p:cNvSpPr/>
          <p:nvPr/>
        </p:nvSpPr>
        <p:spPr>
          <a:xfrm>
            <a:off x="6927432" y="4107923"/>
            <a:ext cx="442332" cy="442332"/>
          </a:xfrm>
          <a:custGeom>
            <a:avLst/>
            <a:gdLst/>
            <a:ahLst/>
            <a:cxnLst/>
            <a:rect l="l" t="t" r="r" b="b"/>
            <a:pathLst>
              <a:path w="442332" h="442332">
                <a:moveTo>
                  <a:pt x="0" y="442332"/>
                </a:moveTo>
                <a:lnTo>
                  <a:pt x="442332" y="442332"/>
                </a:lnTo>
                <a:lnTo>
                  <a:pt x="442332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4-mark122"/>
          <p:cNvSpPr/>
          <p:nvPr/>
        </p:nvSpPr>
        <p:spPr>
          <a:xfrm>
            <a:off x="6927432" y="3665592"/>
            <a:ext cx="442332" cy="442332"/>
          </a:xfrm>
          <a:custGeom>
            <a:avLst/>
            <a:gdLst/>
            <a:ahLst/>
            <a:cxnLst/>
            <a:rect l="l" t="t" r="r" b="b"/>
            <a:pathLst>
              <a:path w="442332" h="442332">
                <a:moveTo>
                  <a:pt x="0" y="442332"/>
                </a:moveTo>
                <a:lnTo>
                  <a:pt x="442332" y="442332"/>
                </a:lnTo>
                <a:lnTo>
                  <a:pt x="442332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4-mark123"/>
          <p:cNvSpPr/>
          <p:nvPr/>
        </p:nvSpPr>
        <p:spPr>
          <a:xfrm>
            <a:off x="6927432" y="3223260"/>
            <a:ext cx="442332" cy="442332"/>
          </a:xfrm>
          <a:custGeom>
            <a:avLst/>
            <a:gdLst/>
            <a:ahLst/>
            <a:cxnLst/>
            <a:rect l="l" t="t" r="r" b="b"/>
            <a:pathLst>
              <a:path w="442332" h="442332">
                <a:moveTo>
                  <a:pt x="0" y="442332"/>
                </a:moveTo>
                <a:lnTo>
                  <a:pt x="442332" y="442332"/>
                </a:lnTo>
                <a:lnTo>
                  <a:pt x="442332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4-mark124"/>
          <p:cNvSpPr/>
          <p:nvPr/>
        </p:nvSpPr>
        <p:spPr>
          <a:xfrm>
            <a:off x="6927432" y="2780928"/>
            <a:ext cx="442332" cy="442332"/>
          </a:xfrm>
          <a:custGeom>
            <a:avLst/>
            <a:gdLst/>
            <a:ahLst/>
            <a:cxnLst/>
            <a:rect l="l" t="t" r="r" b="b"/>
            <a:pathLst>
              <a:path w="442332" h="442332">
                <a:moveTo>
                  <a:pt x="0" y="442332"/>
                </a:moveTo>
                <a:lnTo>
                  <a:pt x="442332" y="442332"/>
                </a:lnTo>
                <a:lnTo>
                  <a:pt x="442332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4-mark125"/>
          <p:cNvSpPr/>
          <p:nvPr/>
        </p:nvSpPr>
        <p:spPr>
          <a:xfrm>
            <a:off x="6927432" y="2338597"/>
            <a:ext cx="442332" cy="442332"/>
          </a:xfrm>
          <a:custGeom>
            <a:avLst/>
            <a:gdLst/>
            <a:ahLst/>
            <a:cxnLst/>
            <a:rect l="l" t="t" r="r" b="b"/>
            <a:pathLst>
              <a:path w="442332" h="442332">
                <a:moveTo>
                  <a:pt x="0" y="442332"/>
                </a:moveTo>
                <a:lnTo>
                  <a:pt x="442332" y="442332"/>
                </a:lnTo>
                <a:lnTo>
                  <a:pt x="442332" y="0"/>
                </a:lnTo>
                <a:lnTo>
                  <a:pt x="0" y="0"/>
                </a:lnTo>
                <a:close/>
              </a:path>
            </a:pathLst>
          </a:custGeom>
          <a:noFill/>
          <a:ln w="15875">
            <a:solidFill>
              <a:srgbClr val="1F2937"/>
            </a:solidFill>
            <a:prstDash val="dash"/>
          </a:ln>
        </p:spPr>
      </p:sp>
      <p:sp>
        <p:nvSpPr>
          <p:cNvPr id="10" name="S04-mark126"/>
          <p:cNvSpPr/>
          <p:nvPr/>
        </p:nvSpPr>
        <p:spPr>
          <a:xfrm>
            <a:off x="7812095" y="4107923"/>
            <a:ext cx="442332" cy="442332"/>
          </a:xfrm>
          <a:custGeom>
            <a:avLst/>
            <a:gdLst/>
            <a:ahLst/>
            <a:cxnLst/>
            <a:rect l="l" t="t" r="r" b="b"/>
            <a:pathLst>
              <a:path w="442332" h="442332">
                <a:moveTo>
                  <a:pt x="0" y="442332"/>
                </a:moveTo>
                <a:lnTo>
                  <a:pt x="442332" y="442332"/>
                </a:lnTo>
                <a:lnTo>
                  <a:pt x="442332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4-mark127"/>
          <p:cNvSpPr/>
          <p:nvPr/>
        </p:nvSpPr>
        <p:spPr>
          <a:xfrm>
            <a:off x="7812095" y="3665592"/>
            <a:ext cx="442332" cy="442332"/>
          </a:xfrm>
          <a:custGeom>
            <a:avLst/>
            <a:gdLst/>
            <a:ahLst/>
            <a:cxnLst/>
            <a:rect l="l" t="t" r="r" b="b"/>
            <a:pathLst>
              <a:path w="442332" h="442332">
                <a:moveTo>
                  <a:pt x="0" y="442332"/>
                </a:moveTo>
                <a:lnTo>
                  <a:pt x="442332" y="442332"/>
                </a:lnTo>
                <a:lnTo>
                  <a:pt x="442332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4-mark128"/>
          <p:cNvSpPr/>
          <p:nvPr/>
        </p:nvSpPr>
        <p:spPr>
          <a:xfrm>
            <a:off x="7812095" y="3223260"/>
            <a:ext cx="442332" cy="442332"/>
          </a:xfrm>
          <a:custGeom>
            <a:avLst/>
            <a:gdLst/>
            <a:ahLst/>
            <a:cxnLst/>
            <a:rect l="l" t="t" r="r" b="b"/>
            <a:pathLst>
              <a:path w="442332" h="442332">
                <a:moveTo>
                  <a:pt x="0" y="442332"/>
                </a:moveTo>
                <a:lnTo>
                  <a:pt x="442332" y="442332"/>
                </a:lnTo>
                <a:lnTo>
                  <a:pt x="442332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4-mark129"/>
          <p:cNvSpPr/>
          <p:nvPr/>
        </p:nvSpPr>
        <p:spPr>
          <a:xfrm>
            <a:off x="7812095" y="2780928"/>
            <a:ext cx="442332" cy="442332"/>
          </a:xfrm>
          <a:custGeom>
            <a:avLst/>
            <a:gdLst/>
            <a:ahLst/>
            <a:cxnLst/>
            <a:rect l="l" t="t" r="r" b="b"/>
            <a:pathLst>
              <a:path w="442332" h="442332">
                <a:moveTo>
                  <a:pt x="0" y="442332"/>
                </a:moveTo>
                <a:lnTo>
                  <a:pt x="442332" y="442332"/>
                </a:lnTo>
                <a:lnTo>
                  <a:pt x="442332" y="0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4-mark130"/>
          <p:cNvSpPr/>
          <p:nvPr/>
        </p:nvSpPr>
        <p:spPr>
          <a:xfrm>
            <a:off x="8696759" y="4107923"/>
            <a:ext cx="442332" cy="442332"/>
          </a:xfrm>
          <a:custGeom>
            <a:avLst/>
            <a:gdLst/>
            <a:ahLst/>
            <a:cxnLst/>
            <a:rect l="l" t="t" r="r" b="b"/>
            <a:pathLst>
              <a:path w="442332" h="442332">
                <a:moveTo>
                  <a:pt x="0" y="442332"/>
                </a:moveTo>
                <a:lnTo>
                  <a:pt x="442332" y="442332"/>
                </a:lnTo>
                <a:lnTo>
                  <a:pt x="442332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4-mark131"/>
          <p:cNvSpPr/>
          <p:nvPr/>
        </p:nvSpPr>
        <p:spPr>
          <a:xfrm>
            <a:off x="8696759" y="3665592"/>
            <a:ext cx="442332" cy="442332"/>
          </a:xfrm>
          <a:custGeom>
            <a:avLst/>
            <a:gdLst/>
            <a:ahLst/>
            <a:cxnLst/>
            <a:rect l="l" t="t" r="r" b="b"/>
            <a:pathLst>
              <a:path w="442332" h="442332">
                <a:moveTo>
                  <a:pt x="0" y="442332"/>
                </a:moveTo>
                <a:lnTo>
                  <a:pt x="442332" y="442332"/>
                </a:lnTo>
                <a:lnTo>
                  <a:pt x="442332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4-mark132"/>
          <p:cNvSpPr/>
          <p:nvPr/>
        </p:nvSpPr>
        <p:spPr>
          <a:xfrm>
            <a:off x="8696759" y="3223260"/>
            <a:ext cx="442332" cy="442332"/>
          </a:xfrm>
          <a:custGeom>
            <a:avLst/>
            <a:gdLst/>
            <a:ahLst/>
            <a:cxnLst/>
            <a:rect l="l" t="t" r="r" b="b"/>
            <a:pathLst>
              <a:path w="442332" h="442332">
                <a:moveTo>
                  <a:pt x="0" y="442332"/>
                </a:moveTo>
                <a:lnTo>
                  <a:pt x="442332" y="442332"/>
                </a:lnTo>
                <a:lnTo>
                  <a:pt x="442332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4-mark133"/>
          <p:cNvSpPr/>
          <p:nvPr/>
        </p:nvSpPr>
        <p:spPr>
          <a:xfrm>
            <a:off x="8696759" y="2780928"/>
            <a:ext cx="442332" cy="442332"/>
          </a:xfrm>
          <a:custGeom>
            <a:avLst/>
            <a:gdLst/>
            <a:ahLst/>
            <a:cxnLst/>
            <a:rect l="l" t="t" r="r" b="b"/>
            <a:pathLst>
              <a:path w="442332" h="442332">
                <a:moveTo>
                  <a:pt x="0" y="442332"/>
                </a:moveTo>
                <a:lnTo>
                  <a:pt x="442332" y="442332"/>
                </a:lnTo>
                <a:lnTo>
                  <a:pt x="442332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4-mark134"/>
          <p:cNvSpPr/>
          <p:nvPr/>
        </p:nvSpPr>
        <p:spPr>
          <a:xfrm>
            <a:off x="8696759" y="2338597"/>
            <a:ext cx="442332" cy="442332"/>
          </a:xfrm>
          <a:custGeom>
            <a:avLst/>
            <a:gdLst/>
            <a:ahLst/>
            <a:cxnLst/>
            <a:rect l="l" t="t" r="r" b="b"/>
            <a:pathLst>
              <a:path w="442332" h="442332">
                <a:moveTo>
                  <a:pt x="0" y="442332"/>
                </a:moveTo>
                <a:lnTo>
                  <a:pt x="442332" y="442332"/>
                </a:lnTo>
                <a:lnTo>
                  <a:pt x="442332" y="0"/>
                </a:lnTo>
                <a:lnTo>
                  <a:pt x="0" y="0"/>
                </a:lnTo>
                <a:close/>
              </a:path>
            </a:pathLst>
          </a:custGeom>
          <a:noFill/>
          <a:ln w="15875">
            <a:solidFill>
              <a:srgbClr val="1F2937"/>
            </a:solidFill>
            <a:prstDash val="dash"/>
          </a:ln>
        </p:spPr>
      </p:sp>
      <p:sp>
        <p:nvSpPr>
          <p:cNvPr id="19" name="S04-mark135"/>
          <p:cNvSpPr/>
          <p:nvPr/>
        </p:nvSpPr>
        <p:spPr>
          <a:xfrm>
            <a:off x="8696759" y="1896265"/>
            <a:ext cx="442332" cy="442332"/>
          </a:xfrm>
          <a:custGeom>
            <a:avLst/>
            <a:gdLst/>
            <a:ahLst/>
            <a:cxnLst/>
            <a:rect l="l" t="t" r="r" b="b"/>
            <a:pathLst>
              <a:path w="442332" h="442332">
                <a:moveTo>
                  <a:pt x="0" y="442332"/>
                </a:moveTo>
                <a:lnTo>
                  <a:pt x="442332" y="442332"/>
                </a:lnTo>
                <a:lnTo>
                  <a:pt x="442332" y="0"/>
                </a:lnTo>
                <a:lnTo>
                  <a:pt x="0" y="0"/>
                </a:lnTo>
                <a:close/>
              </a:path>
            </a:pathLst>
          </a:custGeom>
          <a:noFill/>
          <a:ln w="15875">
            <a:solidFill>
              <a:srgbClr val="1F2937"/>
            </a:solidFill>
            <a:prstDash val="dash"/>
          </a:ln>
        </p:spPr>
      </p:sp>
      <p:sp>
        <p:nvSpPr>
          <p:cNvPr id="20" name="S04-mark136"/>
          <p:cNvSpPr/>
          <p:nvPr/>
        </p:nvSpPr>
        <p:spPr>
          <a:xfrm>
            <a:off x="9581422" y="4107923"/>
            <a:ext cx="442332" cy="442332"/>
          </a:xfrm>
          <a:custGeom>
            <a:avLst/>
            <a:gdLst/>
            <a:ahLst/>
            <a:cxnLst/>
            <a:rect l="l" t="t" r="r" b="b"/>
            <a:pathLst>
              <a:path w="442332" h="442332">
                <a:moveTo>
                  <a:pt x="0" y="442332"/>
                </a:moveTo>
                <a:lnTo>
                  <a:pt x="442332" y="442332"/>
                </a:lnTo>
                <a:lnTo>
                  <a:pt x="442332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4-mark137"/>
          <p:cNvSpPr/>
          <p:nvPr/>
        </p:nvSpPr>
        <p:spPr>
          <a:xfrm>
            <a:off x="9581422" y="3665592"/>
            <a:ext cx="442332" cy="442332"/>
          </a:xfrm>
          <a:custGeom>
            <a:avLst/>
            <a:gdLst/>
            <a:ahLst/>
            <a:cxnLst/>
            <a:rect l="l" t="t" r="r" b="b"/>
            <a:pathLst>
              <a:path w="442332" h="442332">
                <a:moveTo>
                  <a:pt x="0" y="442332"/>
                </a:moveTo>
                <a:lnTo>
                  <a:pt x="442332" y="442332"/>
                </a:lnTo>
                <a:lnTo>
                  <a:pt x="442332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4-mark138"/>
          <p:cNvSpPr/>
          <p:nvPr/>
        </p:nvSpPr>
        <p:spPr>
          <a:xfrm>
            <a:off x="9581422" y="3223260"/>
            <a:ext cx="442332" cy="442332"/>
          </a:xfrm>
          <a:custGeom>
            <a:avLst/>
            <a:gdLst/>
            <a:ahLst/>
            <a:cxnLst/>
            <a:rect l="l" t="t" r="r" b="b"/>
            <a:pathLst>
              <a:path w="442332" h="442332">
                <a:moveTo>
                  <a:pt x="0" y="442332"/>
                </a:moveTo>
                <a:lnTo>
                  <a:pt x="442332" y="442332"/>
                </a:lnTo>
                <a:lnTo>
                  <a:pt x="442332" y="0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4-mark139"/>
          <p:cNvSpPr/>
          <p:nvPr/>
        </p:nvSpPr>
        <p:spPr>
          <a:xfrm>
            <a:off x="9581422" y="2780928"/>
            <a:ext cx="442332" cy="442332"/>
          </a:xfrm>
          <a:custGeom>
            <a:avLst/>
            <a:gdLst/>
            <a:ahLst/>
            <a:cxnLst/>
            <a:rect l="l" t="t" r="r" b="b"/>
            <a:pathLst>
              <a:path w="442332" h="442332">
                <a:moveTo>
                  <a:pt x="0" y="442332"/>
                </a:moveTo>
                <a:lnTo>
                  <a:pt x="442332" y="442332"/>
                </a:lnTo>
                <a:lnTo>
                  <a:pt x="442332" y="0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04-mark140"/>
          <p:cNvSpPr/>
          <p:nvPr/>
        </p:nvSpPr>
        <p:spPr>
          <a:xfrm>
            <a:off x="6706266" y="4550255"/>
            <a:ext cx="3538654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5" name="S04-mark141"/>
          <p:cNvSpPr/>
          <p:nvPr/>
        </p:nvSpPr>
        <p:spPr>
          <a:xfrm>
            <a:off x="7259181" y="2559762"/>
            <a:ext cx="663498" cy="442332"/>
          </a:xfrm>
          <a:prstGeom prst="line">
            <a:avLst/>
          </a:prstGeom>
          <a:noFill/>
          <a:ln w="25400">
            <a:solidFill>
              <a:srgbClr val="E9762B"/>
            </a:solidFill>
            <a:prstDash val="solid"/>
            <a:tailEnd type="triangle"/>
          </a:ln>
        </p:spPr>
      </p:sp>
      <p:sp>
        <p:nvSpPr>
          <p:cNvPr id="26" name="S04-mark142"/>
          <p:cNvSpPr/>
          <p:nvPr/>
        </p:nvSpPr>
        <p:spPr>
          <a:xfrm>
            <a:off x="9028508" y="2117431"/>
            <a:ext cx="663498" cy="884663"/>
          </a:xfrm>
          <a:prstGeom prst="line">
            <a:avLst/>
          </a:prstGeom>
          <a:noFill/>
          <a:ln w="25400">
            <a:solidFill>
              <a:srgbClr val="E9762B"/>
            </a:solidFill>
            <a:prstDash val="solid"/>
            <a:tailEnd type="triangle"/>
          </a:ln>
        </p:spPr>
      </p:sp>
      <p:sp>
        <p:nvSpPr>
          <p:cNvPr id="27" name="S04-mark143"/>
          <p:cNvSpPr/>
          <p:nvPr/>
        </p:nvSpPr>
        <p:spPr>
          <a:xfrm>
            <a:off x="9028508" y="2559762"/>
            <a:ext cx="663498" cy="884663"/>
          </a:xfrm>
          <a:prstGeom prst="line">
            <a:avLst/>
          </a:prstGeom>
          <a:noFill/>
          <a:ln w="25400">
            <a:solidFill>
              <a:srgbClr val="E9762B"/>
            </a:solidFill>
            <a:prstDash val="solid"/>
            <a:tailEnd type="triangle"/>
          </a:ln>
        </p:spPr>
      </p:sp>
      <p:sp>
        <p:nvSpPr>
          <p:cNvPr id="28" name="S04-mark144"/>
          <p:cNvSpPr/>
          <p:nvPr/>
        </p:nvSpPr>
        <p:spPr>
          <a:xfrm>
            <a:off x="6706266" y="2780928"/>
            <a:ext cx="3538654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dash"/>
          </a:ln>
        </p:spPr>
      </p:sp>
      <p:sp>
        <p:nvSpPr>
          <p:cNvPr id="29" name="S04-label146"/>
          <p:cNvSpPr txBox="1"/>
          <p:nvPr/>
        </p:nvSpPr>
        <p:spPr>
          <a:xfrm>
            <a:off x="6819922" y="4663146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민지</a:t>
            </a:r>
            <a:endParaRPr lang="ko-KR" sz="2200" dirty="0"/>
          </a:p>
        </p:txBody>
      </p:sp>
      <p:sp>
        <p:nvSpPr>
          <p:cNvPr id="30" name="S04-label148"/>
          <p:cNvSpPr txBox="1"/>
          <p:nvPr/>
        </p:nvSpPr>
        <p:spPr>
          <a:xfrm>
            <a:off x="7704585" y="4663146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준호</a:t>
            </a:r>
            <a:endParaRPr lang="ko-KR" sz="2200" dirty="0"/>
          </a:p>
        </p:txBody>
      </p:sp>
      <p:sp>
        <p:nvSpPr>
          <p:cNvPr id="31" name="S04-label150"/>
          <p:cNvSpPr txBox="1"/>
          <p:nvPr/>
        </p:nvSpPr>
        <p:spPr>
          <a:xfrm>
            <a:off x="8589249" y="4663146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서연</a:t>
            </a:r>
            <a:endParaRPr lang="ko-KR" sz="2200" dirty="0"/>
          </a:p>
        </p:txBody>
      </p:sp>
      <p:sp>
        <p:nvSpPr>
          <p:cNvPr id="32" name="S04-label152"/>
          <p:cNvSpPr txBox="1"/>
          <p:nvPr/>
        </p:nvSpPr>
        <p:spPr>
          <a:xfrm>
            <a:off x="9473912" y="4663146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도윤</a:t>
            </a:r>
            <a:endParaRPr lang="ko-KR" sz="2200" dirty="0"/>
          </a:p>
        </p:txBody>
      </p:sp>
      <p:sp>
        <p:nvSpPr>
          <p:cNvPr id="33" name="S04-label154"/>
          <p:cNvSpPr txBox="1"/>
          <p:nvPr/>
        </p:nvSpPr>
        <p:spPr>
          <a:xfrm>
            <a:off x="10317136" y="2606303"/>
            <a:ext cx="65176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 권</a:t>
            </a:r>
            <a:endParaRPr lang="ko-KR" sz="2200" dirty="0"/>
          </a:p>
        </p:txBody>
      </p:sp>
      <p:sp>
        <p:nvSpPr>
          <p:cNvPr id="34" name="S04-stepno155"/>
          <p:cNvSpPr txBox="1"/>
          <p:nvPr/>
        </p:nvSpPr>
        <p:spPr>
          <a:xfrm>
            <a:off x="548640" y="16586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35" name="S04-text156"/>
          <p:cNvSpPr txBox="1"/>
          <p:nvPr/>
        </p:nvSpPr>
        <p:spPr>
          <a:xfrm>
            <a:off x="1325880" y="1612900"/>
            <a:ext cx="4371198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민지의 1권을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준호에게 옮겨요.</a:t>
            </a:r>
            <a:endParaRPr lang="ko-KR" sz="2200" dirty="0"/>
          </a:p>
        </p:txBody>
      </p:sp>
      <p:sp>
        <p:nvSpPr>
          <p:cNvPr id="36" name="S04-stepno157"/>
          <p:cNvSpPr txBox="1"/>
          <p:nvPr/>
        </p:nvSpPr>
        <p:spPr>
          <a:xfrm>
            <a:off x="548640" y="25049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37" name="S04-text158"/>
          <p:cNvSpPr txBox="1"/>
          <p:nvPr/>
        </p:nvSpPr>
        <p:spPr>
          <a:xfrm>
            <a:off x="1325880" y="2459228"/>
            <a:ext cx="4371198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서연의 2권을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도윤에게 옮겨요.</a:t>
            </a:r>
            <a:endParaRPr lang="ko-KR" sz="2200" dirty="0"/>
          </a:p>
        </p:txBody>
      </p:sp>
      <p:sp>
        <p:nvSpPr>
          <p:cNvPr id="38" name="S04-stepno159"/>
          <p:cNvSpPr txBox="1"/>
          <p:nvPr/>
        </p:nvSpPr>
        <p:spPr>
          <a:xfrm>
            <a:off x="548640" y="335127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39" name="S04-text160"/>
          <p:cNvSpPr txBox="1"/>
          <p:nvPr/>
        </p:nvSpPr>
        <p:spPr>
          <a:xfrm>
            <a:off x="1325880" y="3305556"/>
            <a:ext cx="4371198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4 권으로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같아졌어요.</a:t>
            </a:r>
            <a:endParaRPr lang="ko-KR" sz="2200" dirty="0"/>
          </a:p>
        </p:txBody>
      </p:sp>
      <p:sp>
        <p:nvSpPr>
          <p:cNvPr id="40" name="S04-stepno161"/>
          <p:cNvSpPr txBox="1"/>
          <p:nvPr/>
        </p:nvSpPr>
        <p:spPr>
          <a:xfrm>
            <a:off x="548640" y="419760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41" name="S04-text162"/>
          <p:cNvSpPr txBox="1"/>
          <p:nvPr/>
        </p:nvSpPr>
        <p:spPr>
          <a:xfrm>
            <a:off x="1325880" y="4151884"/>
            <a:ext cx="4371198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 권이 네 친구가 읽은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 수의 평균이에요.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모아 똑같이 나누기</a:t>
            </a:r>
            <a:endParaRPr lang="ko-KR" sz="4000" dirty="0"/>
          </a:p>
        </p:txBody>
      </p:sp>
      <p:sp>
        <p:nvSpPr>
          <p:cNvPr id="3" name="S05-text16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 16권을 4명이 똑같이 나누면?</a:t>
            </a:r>
            <a:endParaRPr lang="ko-KR" sz="2800" dirty="0"/>
          </a:p>
        </p:txBody>
      </p:sp>
      <p:sp>
        <p:nvSpPr>
          <p:cNvPr id="4" name="S05-card16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16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= (자료의 합) ÷ (자료의 수)</a:t>
            </a:r>
            <a:endParaRPr lang="ko-KR" sz="2800" dirty="0"/>
          </a:p>
        </p:txBody>
      </p:sp>
      <p:sp>
        <p:nvSpPr>
          <p:cNvPr id="6" name="S05-dot166"/>
          <p:cNvSpPr/>
          <p:nvPr/>
        </p:nvSpPr>
        <p:spPr>
          <a:xfrm>
            <a:off x="1700784" y="257312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5-dot167"/>
          <p:cNvSpPr/>
          <p:nvPr/>
        </p:nvSpPr>
        <p:spPr>
          <a:xfrm>
            <a:off x="2249424" y="257312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5-dot168"/>
          <p:cNvSpPr/>
          <p:nvPr/>
        </p:nvSpPr>
        <p:spPr>
          <a:xfrm>
            <a:off x="2798064" y="257312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5-dot169"/>
          <p:cNvSpPr/>
          <p:nvPr/>
        </p:nvSpPr>
        <p:spPr>
          <a:xfrm>
            <a:off x="3346704" y="257312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5-dot170"/>
          <p:cNvSpPr/>
          <p:nvPr/>
        </p:nvSpPr>
        <p:spPr>
          <a:xfrm>
            <a:off x="1700784" y="312176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5-dot171"/>
          <p:cNvSpPr/>
          <p:nvPr/>
        </p:nvSpPr>
        <p:spPr>
          <a:xfrm>
            <a:off x="2249424" y="312176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5-dot172"/>
          <p:cNvSpPr/>
          <p:nvPr/>
        </p:nvSpPr>
        <p:spPr>
          <a:xfrm>
            <a:off x="2798064" y="312176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5-dot173"/>
          <p:cNvSpPr/>
          <p:nvPr/>
        </p:nvSpPr>
        <p:spPr>
          <a:xfrm>
            <a:off x="3346704" y="312176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5-dot174"/>
          <p:cNvSpPr/>
          <p:nvPr/>
        </p:nvSpPr>
        <p:spPr>
          <a:xfrm>
            <a:off x="1700784" y="367040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5-dot175"/>
          <p:cNvSpPr/>
          <p:nvPr/>
        </p:nvSpPr>
        <p:spPr>
          <a:xfrm>
            <a:off x="2249424" y="367040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5-dot176"/>
          <p:cNvSpPr/>
          <p:nvPr/>
        </p:nvSpPr>
        <p:spPr>
          <a:xfrm>
            <a:off x="2798064" y="367040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5-dot177"/>
          <p:cNvSpPr/>
          <p:nvPr/>
        </p:nvSpPr>
        <p:spPr>
          <a:xfrm>
            <a:off x="3346704" y="367040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5-dot178"/>
          <p:cNvSpPr/>
          <p:nvPr/>
        </p:nvSpPr>
        <p:spPr>
          <a:xfrm>
            <a:off x="1700784" y="421904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05-dot179"/>
          <p:cNvSpPr/>
          <p:nvPr/>
        </p:nvSpPr>
        <p:spPr>
          <a:xfrm>
            <a:off x="2249424" y="421904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5-dot180"/>
          <p:cNvSpPr/>
          <p:nvPr/>
        </p:nvSpPr>
        <p:spPr>
          <a:xfrm>
            <a:off x="2798064" y="421904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05-dot181"/>
          <p:cNvSpPr/>
          <p:nvPr/>
        </p:nvSpPr>
        <p:spPr>
          <a:xfrm>
            <a:off x="3346704" y="421904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05-group182"/>
          <p:cNvSpPr/>
          <p:nvPr/>
        </p:nvSpPr>
        <p:spPr>
          <a:xfrm>
            <a:off x="1623974" y="2505456"/>
            <a:ext cx="2139696" cy="475488"/>
          </a:xfrm>
          <a:prstGeom prst="roundRect">
            <a:avLst>
              <a:gd name="adj" fmla="val 23077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3" name="S05-group183"/>
          <p:cNvSpPr/>
          <p:nvPr/>
        </p:nvSpPr>
        <p:spPr>
          <a:xfrm>
            <a:off x="1623974" y="3054096"/>
            <a:ext cx="2139696" cy="475488"/>
          </a:xfrm>
          <a:prstGeom prst="roundRect">
            <a:avLst>
              <a:gd name="adj" fmla="val 23077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4" name="S05-group184"/>
          <p:cNvSpPr/>
          <p:nvPr/>
        </p:nvSpPr>
        <p:spPr>
          <a:xfrm>
            <a:off x="1623974" y="3602736"/>
            <a:ext cx="2139696" cy="475488"/>
          </a:xfrm>
          <a:prstGeom prst="roundRect">
            <a:avLst>
              <a:gd name="adj" fmla="val 23077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5" name="S05-group185"/>
          <p:cNvSpPr/>
          <p:nvPr/>
        </p:nvSpPr>
        <p:spPr>
          <a:xfrm>
            <a:off x="1623974" y="4151376"/>
            <a:ext cx="2139696" cy="475488"/>
          </a:xfrm>
          <a:prstGeom prst="roundRect">
            <a:avLst>
              <a:gd name="adj" fmla="val 23077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6" name="S05-figure186" descr="바둑돌 16개를 4줄에 4개씩 똑같이 나눈 배열"/>
          <p:cNvSpPr/>
          <p:nvPr/>
        </p:nvSpPr>
        <p:spPr>
          <a:xfrm>
            <a:off x="1596542" y="2468880"/>
            <a:ext cx="2194560" cy="21945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05-card187"/>
          <p:cNvSpPr/>
          <p:nvPr/>
        </p:nvSpPr>
        <p:spPr>
          <a:xfrm>
            <a:off x="5204765" y="2255012"/>
            <a:ext cx="6435547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8" name="S05-cardtext188"/>
          <p:cNvSpPr txBox="1"/>
          <p:nvPr/>
        </p:nvSpPr>
        <p:spPr>
          <a:xfrm>
            <a:off x="5479085" y="2392172"/>
            <a:ext cx="5886907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자료의 합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+ 3 + 6 + 2 = 16 (권)</a:t>
            </a:r>
            <a:endParaRPr lang="ko-KR" sz="2800" dirty="0"/>
          </a:p>
        </p:txBody>
      </p:sp>
      <p:sp>
        <p:nvSpPr>
          <p:cNvPr id="29" name="S05-card189"/>
          <p:cNvSpPr/>
          <p:nvPr/>
        </p:nvSpPr>
        <p:spPr>
          <a:xfrm>
            <a:off x="5204765" y="3680460"/>
            <a:ext cx="6435547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0" name="S05-cardtext190"/>
          <p:cNvSpPr txBox="1"/>
          <p:nvPr/>
        </p:nvSpPr>
        <p:spPr>
          <a:xfrm>
            <a:off x="5479085" y="3817620"/>
            <a:ext cx="5886907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자료의 수는 4명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 ÷ 4 = 4 (권)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고르게 해 봐요</a:t>
            </a:r>
            <a:endParaRPr lang="ko-KR" sz="4000" dirty="0"/>
          </a:p>
        </p:txBody>
      </p:sp>
      <p:sp>
        <p:nvSpPr>
          <p:cNvPr id="3" name="S06-text19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요일별로 접은 종이학 수예요.</a:t>
            </a:r>
            <a:endParaRPr lang="ko-KR" sz="2800" dirty="0"/>
          </a:p>
        </p:txBody>
      </p:sp>
      <p:sp>
        <p:nvSpPr>
          <p:cNvPr id="4" name="S06-figure192" descr="요일별 접은 종이학 수 블록: 월 7, 화 4, 수 5, 목 8"/>
          <p:cNvSpPr/>
          <p:nvPr/>
        </p:nvSpPr>
        <p:spPr>
          <a:xfrm>
            <a:off x="7573040" y="5302624"/>
            <a:ext cx="395941" cy="395941"/>
          </a:xfrm>
          <a:custGeom>
            <a:avLst/>
            <a:gdLst/>
            <a:ahLst/>
            <a:cxnLst/>
            <a:rect l="l" t="t" r="r" b="b"/>
            <a:pathLst>
              <a:path w="395941" h="395941">
                <a:moveTo>
                  <a:pt x="0" y="395941"/>
                </a:moveTo>
                <a:lnTo>
                  <a:pt x="395941" y="395941"/>
                </a:lnTo>
                <a:lnTo>
                  <a:pt x="395941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06-mark193"/>
          <p:cNvSpPr/>
          <p:nvPr/>
        </p:nvSpPr>
        <p:spPr>
          <a:xfrm>
            <a:off x="7573040" y="4906682"/>
            <a:ext cx="395941" cy="395941"/>
          </a:xfrm>
          <a:custGeom>
            <a:avLst/>
            <a:gdLst/>
            <a:ahLst/>
            <a:cxnLst/>
            <a:rect l="l" t="t" r="r" b="b"/>
            <a:pathLst>
              <a:path w="395941" h="395941">
                <a:moveTo>
                  <a:pt x="0" y="395941"/>
                </a:moveTo>
                <a:lnTo>
                  <a:pt x="395941" y="395941"/>
                </a:lnTo>
                <a:lnTo>
                  <a:pt x="395941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6-mark194"/>
          <p:cNvSpPr/>
          <p:nvPr/>
        </p:nvSpPr>
        <p:spPr>
          <a:xfrm>
            <a:off x="7573040" y="4510741"/>
            <a:ext cx="395941" cy="395941"/>
          </a:xfrm>
          <a:custGeom>
            <a:avLst/>
            <a:gdLst/>
            <a:ahLst/>
            <a:cxnLst/>
            <a:rect l="l" t="t" r="r" b="b"/>
            <a:pathLst>
              <a:path w="395941" h="395941">
                <a:moveTo>
                  <a:pt x="0" y="395941"/>
                </a:moveTo>
                <a:lnTo>
                  <a:pt x="395941" y="395941"/>
                </a:lnTo>
                <a:lnTo>
                  <a:pt x="395941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6-mark195"/>
          <p:cNvSpPr/>
          <p:nvPr/>
        </p:nvSpPr>
        <p:spPr>
          <a:xfrm>
            <a:off x="7573040" y="4114800"/>
            <a:ext cx="395941" cy="395941"/>
          </a:xfrm>
          <a:custGeom>
            <a:avLst/>
            <a:gdLst/>
            <a:ahLst/>
            <a:cxnLst/>
            <a:rect l="l" t="t" r="r" b="b"/>
            <a:pathLst>
              <a:path w="395941" h="395941">
                <a:moveTo>
                  <a:pt x="0" y="395941"/>
                </a:moveTo>
                <a:lnTo>
                  <a:pt x="395941" y="395941"/>
                </a:lnTo>
                <a:lnTo>
                  <a:pt x="395941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6-mark196"/>
          <p:cNvSpPr/>
          <p:nvPr/>
        </p:nvSpPr>
        <p:spPr>
          <a:xfrm>
            <a:off x="7573040" y="3718859"/>
            <a:ext cx="395941" cy="395941"/>
          </a:xfrm>
          <a:custGeom>
            <a:avLst/>
            <a:gdLst/>
            <a:ahLst/>
            <a:cxnLst/>
            <a:rect l="l" t="t" r="r" b="b"/>
            <a:pathLst>
              <a:path w="395941" h="395941">
                <a:moveTo>
                  <a:pt x="0" y="395941"/>
                </a:moveTo>
                <a:lnTo>
                  <a:pt x="395941" y="395941"/>
                </a:lnTo>
                <a:lnTo>
                  <a:pt x="395941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6-mark197"/>
          <p:cNvSpPr/>
          <p:nvPr/>
        </p:nvSpPr>
        <p:spPr>
          <a:xfrm>
            <a:off x="7573040" y="3322918"/>
            <a:ext cx="395941" cy="395941"/>
          </a:xfrm>
          <a:custGeom>
            <a:avLst/>
            <a:gdLst/>
            <a:ahLst/>
            <a:cxnLst/>
            <a:rect l="l" t="t" r="r" b="b"/>
            <a:pathLst>
              <a:path w="395941" h="395941">
                <a:moveTo>
                  <a:pt x="0" y="395941"/>
                </a:moveTo>
                <a:lnTo>
                  <a:pt x="395941" y="395941"/>
                </a:lnTo>
                <a:lnTo>
                  <a:pt x="395941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6-mark198"/>
          <p:cNvSpPr/>
          <p:nvPr/>
        </p:nvSpPr>
        <p:spPr>
          <a:xfrm>
            <a:off x="7573040" y="2926976"/>
            <a:ext cx="395941" cy="395941"/>
          </a:xfrm>
          <a:custGeom>
            <a:avLst/>
            <a:gdLst/>
            <a:ahLst/>
            <a:cxnLst/>
            <a:rect l="l" t="t" r="r" b="b"/>
            <a:pathLst>
              <a:path w="395941" h="395941">
                <a:moveTo>
                  <a:pt x="0" y="395941"/>
                </a:moveTo>
                <a:lnTo>
                  <a:pt x="395941" y="395941"/>
                </a:lnTo>
                <a:lnTo>
                  <a:pt x="395941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6-mark199"/>
          <p:cNvSpPr/>
          <p:nvPr/>
        </p:nvSpPr>
        <p:spPr>
          <a:xfrm>
            <a:off x="8364922" y="5302624"/>
            <a:ext cx="395941" cy="395941"/>
          </a:xfrm>
          <a:custGeom>
            <a:avLst/>
            <a:gdLst/>
            <a:ahLst/>
            <a:cxnLst/>
            <a:rect l="l" t="t" r="r" b="b"/>
            <a:pathLst>
              <a:path w="395941" h="395941">
                <a:moveTo>
                  <a:pt x="0" y="395941"/>
                </a:moveTo>
                <a:lnTo>
                  <a:pt x="395941" y="395941"/>
                </a:lnTo>
                <a:lnTo>
                  <a:pt x="395941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6-mark200"/>
          <p:cNvSpPr/>
          <p:nvPr/>
        </p:nvSpPr>
        <p:spPr>
          <a:xfrm>
            <a:off x="8364922" y="4906682"/>
            <a:ext cx="395941" cy="395941"/>
          </a:xfrm>
          <a:custGeom>
            <a:avLst/>
            <a:gdLst/>
            <a:ahLst/>
            <a:cxnLst/>
            <a:rect l="l" t="t" r="r" b="b"/>
            <a:pathLst>
              <a:path w="395941" h="395941">
                <a:moveTo>
                  <a:pt x="0" y="395941"/>
                </a:moveTo>
                <a:lnTo>
                  <a:pt x="395941" y="395941"/>
                </a:lnTo>
                <a:lnTo>
                  <a:pt x="395941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6-mark201"/>
          <p:cNvSpPr/>
          <p:nvPr/>
        </p:nvSpPr>
        <p:spPr>
          <a:xfrm>
            <a:off x="8364922" y="4510741"/>
            <a:ext cx="395941" cy="395941"/>
          </a:xfrm>
          <a:custGeom>
            <a:avLst/>
            <a:gdLst/>
            <a:ahLst/>
            <a:cxnLst/>
            <a:rect l="l" t="t" r="r" b="b"/>
            <a:pathLst>
              <a:path w="395941" h="395941">
                <a:moveTo>
                  <a:pt x="0" y="395941"/>
                </a:moveTo>
                <a:lnTo>
                  <a:pt x="395941" y="395941"/>
                </a:lnTo>
                <a:lnTo>
                  <a:pt x="395941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6-mark202"/>
          <p:cNvSpPr/>
          <p:nvPr/>
        </p:nvSpPr>
        <p:spPr>
          <a:xfrm>
            <a:off x="8364922" y="4114800"/>
            <a:ext cx="395941" cy="395941"/>
          </a:xfrm>
          <a:custGeom>
            <a:avLst/>
            <a:gdLst/>
            <a:ahLst/>
            <a:cxnLst/>
            <a:rect l="l" t="t" r="r" b="b"/>
            <a:pathLst>
              <a:path w="395941" h="395941">
                <a:moveTo>
                  <a:pt x="0" y="395941"/>
                </a:moveTo>
                <a:lnTo>
                  <a:pt x="395941" y="395941"/>
                </a:lnTo>
                <a:lnTo>
                  <a:pt x="395941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6-mark203"/>
          <p:cNvSpPr/>
          <p:nvPr/>
        </p:nvSpPr>
        <p:spPr>
          <a:xfrm>
            <a:off x="9156805" y="5302624"/>
            <a:ext cx="395941" cy="395941"/>
          </a:xfrm>
          <a:custGeom>
            <a:avLst/>
            <a:gdLst/>
            <a:ahLst/>
            <a:cxnLst/>
            <a:rect l="l" t="t" r="r" b="b"/>
            <a:pathLst>
              <a:path w="395941" h="395941">
                <a:moveTo>
                  <a:pt x="0" y="395941"/>
                </a:moveTo>
                <a:lnTo>
                  <a:pt x="395941" y="395941"/>
                </a:lnTo>
                <a:lnTo>
                  <a:pt x="395941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6-mark204"/>
          <p:cNvSpPr/>
          <p:nvPr/>
        </p:nvSpPr>
        <p:spPr>
          <a:xfrm>
            <a:off x="9156805" y="4906682"/>
            <a:ext cx="395941" cy="395941"/>
          </a:xfrm>
          <a:custGeom>
            <a:avLst/>
            <a:gdLst/>
            <a:ahLst/>
            <a:cxnLst/>
            <a:rect l="l" t="t" r="r" b="b"/>
            <a:pathLst>
              <a:path w="395941" h="395941">
                <a:moveTo>
                  <a:pt x="0" y="395941"/>
                </a:moveTo>
                <a:lnTo>
                  <a:pt x="395941" y="395941"/>
                </a:lnTo>
                <a:lnTo>
                  <a:pt x="395941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6-mark205"/>
          <p:cNvSpPr/>
          <p:nvPr/>
        </p:nvSpPr>
        <p:spPr>
          <a:xfrm>
            <a:off x="9156805" y="4510741"/>
            <a:ext cx="395941" cy="395941"/>
          </a:xfrm>
          <a:custGeom>
            <a:avLst/>
            <a:gdLst/>
            <a:ahLst/>
            <a:cxnLst/>
            <a:rect l="l" t="t" r="r" b="b"/>
            <a:pathLst>
              <a:path w="395941" h="395941">
                <a:moveTo>
                  <a:pt x="0" y="395941"/>
                </a:moveTo>
                <a:lnTo>
                  <a:pt x="395941" y="395941"/>
                </a:lnTo>
                <a:lnTo>
                  <a:pt x="395941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6-mark206"/>
          <p:cNvSpPr/>
          <p:nvPr/>
        </p:nvSpPr>
        <p:spPr>
          <a:xfrm>
            <a:off x="9156805" y="4114800"/>
            <a:ext cx="395941" cy="395941"/>
          </a:xfrm>
          <a:custGeom>
            <a:avLst/>
            <a:gdLst/>
            <a:ahLst/>
            <a:cxnLst/>
            <a:rect l="l" t="t" r="r" b="b"/>
            <a:pathLst>
              <a:path w="395941" h="395941">
                <a:moveTo>
                  <a:pt x="0" y="395941"/>
                </a:moveTo>
                <a:lnTo>
                  <a:pt x="395941" y="395941"/>
                </a:lnTo>
                <a:lnTo>
                  <a:pt x="395941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6-mark207"/>
          <p:cNvSpPr/>
          <p:nvPr/>
        </p:nvSpPr>
        <p:spPr>
          <a:xfrm>
            <a:off x="9156805" y="3718859"/>
            <a:ext cx="395941" cy="395941"/>
          </a:xfrm>
          <a:custGeom>
            <a:avLst/>
            <a:gdLst/>
            <a:ahLst/>
            <a:cxnLst/>
            <a:rect l="l" t="t" r="r" b="b"/>
            <a:pathLst>
              <a:path w="395941" h="395941">
                <a:moveTo>
                  <a:pt x="0" y="395941"/>
                </a:moveTo>
                <a:lnTo>
                  <a:pt x="395941" y="395941"/>
                </a:lnTo>
                <a:lnTo>
                  <a:pt x="395941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6-mark208"/>
          <p:cNvSpPr/>
          <p:nvPr/>
        </p:nvSpPr>
        <p:spPr>
          <a:xfrm>
            <a:off x="9948687" y="5302624"/>
            <a:ext cx="395941" cy="395941"/>
          </a:xfrm>
          <a:custGeom>
            <a:avLst/>
            <a:gdLst/>
            <a:ahLst/>
            <a:cxnLst/>
            <a:rect l="l" t="t" r="r" b="b"/>
            <a:pathLst>
              <a:path w="395941" h="395941">
                <a:moveTo>
                  <a:pt x="0" y="395941"/>
                </a:moveTo>
                <a:lnTo>
                  <a:pt x="395941" y="395941"/>
                </a:lnTo>
                <a:lnTo>
                  <a:pt x="395941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6-mark209"/>
          <p:cNvSpPr/>
          <p:nvPr/>
        </p:nvSpPr>
        <p:spPr>
          <a:xfrm>
            <a:off x="9948687" y="4906682"/>
            <a:ext cx="395941" cy="395941"/>
          </a:xfrm>
          <a:custGeom>
            <a:avLst/>
            <a:gdLst/>
            <a:ahLst/>
            <a:cxnLst/>
            <a:rect l="l" t="t" r="r" b="b"/>
            <a:pathLst>
              <a:path w="395941" h="395941">
                <a:moveTo>
                  <a:pt x="0" y="395941"/>
                </a:moveTo>
                <a:lnTo>
                  <a:pt x="395941" y="395941"/>
                </a:lnTo>
                <a:lnTo>
                  <a:pt x="395941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6-mark210"/>
          <p:cNvSpPr/>
          <p:nvPr/>
        </p:nvSpPr>
        <p:spPr>
          <a:xfrm>
            <a:off x="9948687" y="4510741"/>
            <a:ext cx="395941" cy="395941"/>
          </a:xfrm>
          <a:custGeom>
            <a:avLst/>
            <a:gdLst/>
            <a:ahLst/>
            <a:cxnLst/>
            <a:rect l="l" t="t" r="r" b="b"/>
            <a:pathLst>
              <a:path w="395941" h="395941">
                <a:moveTo>
                  <a:pt x="0" y="395941"/>
                </a:moveTo>
                <a:lnTo>
                  <a:pt x="395941" y="395941"/>
                </a:lnTo>
                <a:lnTo>
                  <a:pt x="395941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6-mark211"/>
          <p:cNvSpPr/>
          <p:nvPr/>
        </p:nvSpPr>
        <p:spPr>
          <a:xfrm>
            <a:off x="9948687" y="4114800"/>
            <a:ext cx="395941" cy="395941"/>
          </a:xfrm>
          <a:custGeom>
            <a:avLst/>
            <a:gdLst/>
            <a:ahLst/>
            <a:cxnLst/>
            <a:rect l="l" t="t" r="r" b="b"/>
            <a:pathLst>
              <a:path w="395941" h="395941">
                <a:moveTo>
                  <a:pt x="0" y="395941"/>
                </a:moveTo>
                <a:lnTo>
                  <a:pt x="395941" y="395941"/>
                </a:lnTo>
                <a:lnTo>
                  <a:pt x="395941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06-mark212"/>
          <p:cNvSpPr/>
          <p:nvPr/>
        </p:nvSpPr>
        <p:spPr>
          <a:xfrm>
            <a:off x="9948687" y="3718859"/>
            <a:ext cx="395941" cy="395941"/>
          </a:xfrm>
          <a:custGeom>
            <a:avLst/>
            <a:gdLst/>
            <a:ahLst/>
            <a:cxnLst/>
            <a:rect l="l" t="t" r="r" b="b"/>
            <a:pathLst>
              <a:path w="395941" h="395941">
                <a:moveTo>
                  <a:pt x="0" y="395941"/>
                </a:moveTo>
                <a:lnTo>
                  <a:pt x="395941" y="395941"/>
                </a:lnTo>
                <a:lnTo>
                  <a:pt x="395941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6-mark213"/>
          <p:cNvSpPr/>
          <p:nvPr/>
        </p:nvSpPr>
        <p:spPr>
          <a:xfrm>
            <a:off x="9948687" y="3322918"/>
            <a:ext cx="395941" cy="395941"/>
          </a:xfrm>
          <a:custGeom>
            <a:avLst/>
            <a:gdLst/>
            <a:ahLst/>
            <a:cxnLst/>
            <a:rect l="l" t="t" r="r" b="b"/>
            <a:pathLst>
              <a:path w="395941" h="395941">
                <a:moveTo>
                  <a:pt x="0" y="395941"/>
                </a:moveTo>
                <a:lnTo>
                  <a:pt x="395941" y="395941"/>
                </a:lnTo>
                <a:lnTo>
                  <a:pt x="395941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6-mark214"/>
          <p:cNvSpPr/>
          <p:nvPr/>
        </p:nvSpPr>
        <p:spPr>
          <a:xfrm>
            <a:off x="9948687" y="2926976"/>
            <a:ext cx="395941" cy="395941"/>
          </a:xfrm>
          <a:custGeom>
            <a:avLst/>
            <a:gdLst/>
            <a:ahLst/>
            <a:cxnLst/>
            <a:rect l="l" t="t" r="r" b="b"/>
            <a:pathLst>
              <a:path w="395941" h="395941">
                <a:moveTo>
                  <a:pt x="0" y="395941"/>
                </a:moveTo>
                <a:lnTo>
                  <a:pt x="395941" y="395941"/>
                </a:lnTo>
                <a:lnTo>
                  <a:pt x="395941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6-mark215"/>
          <p:cNvSpPr/>
          <p:nvPr/>
        </p:nvSpPr>
        <p:spPr>
          <a:xfrm>
            <a:off x="9948687" y="2531035"/>
            <a:ext cx="395941" cy="395941"/>
          </a:xfrm>
          <a:custGeom>
            <a:avLst/>
            <a:gdLst/>
            <a:ahLst/>
            <a:cxnLst/>
            <a:rect l="l" t="t" r="r" b="b"/>
            <a:pathLst>
              <a:path w="395941" h="395941">
                <a:moveTo>
                  <a:pt x="0" y="395941"/>
                </a:moveTo>
                <a:lnTo>
                  <a:pt x="395941" y="395941"/>
                </a:lnTo>
                <a:lnTo>
                  <a:pt x="395941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06-mark216"/>
          <p:cNvSpPr/>
          <p:nvPr/>
        </p:nvSpPr>
        <p:spPr>
          <a:xfrm>
            <a:off x="7375069" y="5698565"/>
            <a:ext cx="3167529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9" name="S06-label218"/>
          <p:cNvSpPr txBox="1"/>
          <p:nvPr/>
        </p:nvSpPr>
        <p:spPr>
          <a:xfrm>
            <a:off x="7579240" y="5781301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</a:t>
            </a:r>
            <a:endParaRPr lang="ko-KR" sz="2200" dirty="0"/>
          </a:p>
        </p:txBody>
      </p:sp>
      <p:sp>
        <p:nvSpPr>
          <p:cNvPr id="30" name="S06-label220"/>
          <p:cNvSpPr txBox="1"/>
          <p:nvPr/>
        </p:nvSpPr>
        <p:spPr>
          <a:xfrm>
            <a:off x="7350132" y="2514787"/>
            <a:ext cx="84175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7마리</a:t>
            </a:r>
            <a:endParaRPr lang="ko-KR" sz="2200" dirty="0"/>
          </a:p>
        </p:txBody>
      </p:sp>
      <p:sp>
        <p:nvSpPr>
          <p:cNvPr id="31" name="S06-label222"/>
          <p:cNvSpPr txBox="1"/>
          <p:nvPr/>
        </p:nvSpPr>
        <p:spPr>
          <a:xfrm>
            <a:off x="8371123" y="5781301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</a:t>
            </a:r>
            <a:endParaRPr lang="ko-KR" sz="2200" dirty="0"/>
          </a:p>
        </p:txBody>
      </p:sp>
      <p:sp>
        <p:nvSpPr>
          <p:cNvPr id="32" name="S06-label224"/>
          <p:cNvSpPr txBox="1"/>
          <p:nvPr/>
        </p:nvSpPr>
        <p:spPr>
          <a:xfrm>
            <a:off x="8142015" y="3702610"/>
            <a:ext cx="84175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4마리</a:t>
            </a:r>
            <a:endParaRPr lang="ko-KR" sz="2200" dirty="0"/>
          </a:p>
        </p:txBody>
      </p:sp>
      <p:sp>
        <p:nvSpPr>
          <p:cNvPr id="33" name="S06-label226"/>
          <p:cNvSpPr txBox="1"/>
          <p:nvPr/>
        </p:nvSpPr>
        <p:spPr>
          <a:xfrm>
            <a:off x="9163005" y="5781301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</a:t>
            </a:r>
            <a:endParaRPr lang="ko-KR" sz="2200" dirty="0"/>
          </a:p>
        </p:txBody>
      </p:sp>
      <p:sp>
        <p:nvSpPr>
          <p:cNvPr id="34" name="S06-label228"/>
          <p:cNvSpPr txBox="1"/>
          <p:nvPr/>
        </p:nvSpPr>
        <p:spPr>
          <a:xfrm>
            <a:off x="8933897" y="3306669"/>
            <a:ext cx="84175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5마리</a:t>
            </a:r>
            <a:endParaRPr lang="ko-KR" sz="2200" dirty="0"/>
          </a:p>
        </p:txBody>
      </p:sp>
      <p:sp>
        <p:nvSpPr>
          <p:cNvPr id="35" name="S06-label230"/>
          <p:cNvSpPr txBox="1"/>
          <p:nvPr/>
        </p:nvSpPr>
        <p:spPr>
          <a:xfrm>
            <a:off x="9954888" y="5781301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</a:t>
            </a:r>
            <a:endParaRPr lang="ko-KR" sz="2200" dirty="0"/>
          </a:p>
        </p:txBody>
      </p:sp>
      <p:sp>
        <p:nvSpPr>
          <p:cNvPr id="36" name="S06-label232"/>
          <p:cNvSpPr txBox="1"/>
          <p:nvPr/>
        </p:nvSpPr>
        <p:spPr>
          <a:xfrm>
            <a:off x="9725780" y="2118846"/>
            <a:ext cx="84175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8마리</a:t>
            </a:r>
            <a:endParaRPr lang="ko-KR" sz="2200" dirty="0"/>
          </a:p>
        </p:txBody>
      </p:sp>
      <p:sp>
        <p:nvSpPr>
          <p:cNvPr id="37" name="S06-chip233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38" name="S06-text234"/>
          <p:cNvSpPr txBox="1"/>
          <p:nvPr/>
        </p:nvSpPr>
        <p:spPr>
          <a:xfrm>
            <a:off x="1344168" y="201168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고르게 하면 하루에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마리일까요?</a:t>
            </a:r>
            <a:endParaRPr lang="ko-KR" sz="2800" dirty="0"/>
          </a:p>
        </p:txBody>
      </p:sp>
      <p:sp>
        <p:nvSpPr>
          <p:cNvPr id="39" name="S06-chip235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40" name="S06-text236"/>
          <p:cNvSpPr txBox="1"/>
          <p:nvPr/>
        </p:nvSpPr>
        <p:spPr>
          <a:xfrm>
            <a:off x="1344168" y="347472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어디에서 어디로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마리를 옮겼나요?</a:t>
            </a:r>
            <a:endParaRPr lang="ko-KR" sz="2800" dirty="0"/>
          </a:p>
        </p:txBody>
      </p:sp>
      <p:sp>
        <p:nvSpPr>
          <p:cNvPr id="41" name="S06-chip237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42" name="S06-text238"/>
          <p:cNvSpPr txBox="1"/>
          <p:nvPr/>
        </p:nvSpPr>
        <p:spPr>
          <a:xfrm>
            <a:off x="1344168" y="493776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 ÷ 수로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 ÷ 수로 구해요</a:t>
            </a:r>
            <a:endParaRPr lang="ko-KR" sz="4000" dirty="0"/>
          </a:p>
        </p:txBody>
      </p:sp>
      <p:sp>
        <p:nvSpPr>
          <p:cNvPr id="3" name="S07-text23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줄넘기를 5번 했어요.</a:t>
            </a:r>
            <a:endParaRPr lang="ko-KR" sz="2800" dirty="0"/>
          </a:p>
        </p:txBody>
      </p:sp>
      <p:graphicFrame>
        <p:nvGraphicFramePr>
          <p:cNvPr id="8" name="S07-table2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7074" y="3642360"/>
          <a:ext cx="5303520" cy="914400"/>
        </p:xfrm>
        <a:graphic>
          <a:graphicData uri="http://schemas.openxmlformats.org/drawingml/2006/table">
            <a:tbl>
              <a:tblPr/>
              <a:tblGrid>
                <a:gridCol w="1591056"/>
                <a:gridCol w="742493"/>
                <a:gridCol w="742493"/>
                <a:gridCol w="742493"/>
                <a:gridCol w="742493"/>
                <a:gridCol w="742493"/>
              </a:tblGrid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1회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2회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3회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4회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5회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기록(번)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28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35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07-chip241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6" name="S07-text242"/>
          <p:cNvSpPr txBox="1"/>
          <p:nvPr/>
        </p:nvSpPr>
        <p:spPr>
          <a:xfrm>
            <a:off x="1344168" y="201168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자료의 합은?</a:t>
            </a:r>
            <a:endParaRPr lang="ko-KR" sz="2800" dirty="0"/>
          </a:p>
        </p:txBody>
      </p:sp>
      <p:sp>
        <p:nvSpPr>
          <p:cNvPr id="7" name="S07-chip243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8" name="S07-text244"/>
          <p:cNvSpPr txBox="1"/>
          <p:nvPr/>
        </p:nvSpPr>
        <p:spPr>
          <a:xfrm>
            <a:off x="1344168" y="347472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자료의 수는?</a:t>
            </a:r>
            <a:endParaRPr lang="ko-KR" sz="2800" dirty="0"/>
          </a:p>
        </p:txBody>
      </p:sp>
      <p:sp>
        <p:nvSpPr>
          <p:cNvPr id="9" name="S07-chip245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0" name="S07-text246"/>
          <p:cNvSpPr txBox="1"/>
          <p:nvPr/>
        </p:nvSpPr>
        <p:spPr>
          <a:xfrm>
            <a:off x="1344168" y="493776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번에 평균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번 넘었나요?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0쪽인 날도 셀까요?</a:t>
            </a:r>
            <a:endParaRPr lang="ko-KR" sz="4000" dirty="0"/>
          </a:p>
        </p:txBody>
      </p:sp>
      <p:sp>
        <p:nvSpPr>
          <p:cNvPr id="3" name="S08-text24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4일 동안 읽은 쪽수의 평균을 구했어요.</a:t>
            </a:r>
            <a:endParaRPr lang="ko-KR" sz="2800" dirty="0"/>
          </a:p>
        </p:txBody>
      </p:sp>
      <p:sp>
        <p:nvSpPr>
          <p:cNvPr id="4" name="S08-card24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24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누구의 평균이 맞을까요? 까닭을 말해요.</a:t>
            </a:r>
            <a:endParaRPr lang="ko-KR" sz="2800" dirty="0"/>
          </a:p>
        </p:txBody>
      </p:sp>
      <p:sp>
        <p:nvSpPr>
          <p:cNvPr id="6" name="S08-card250"/>
          <p:cNvSpPr/>
          <p:nvPr/>
        </p:nvSpPr>
        <p:spPr>
          <a:xfrm>
            <a:off x="548640" y="359968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8-cardtext251"/>
          <p:cNvSpPr txBox="1"/>
          <p:nvPr/>
        </p:nvSpPr>
        <p:spPr>
          <a:xfrm>
            <a:off x="822960" y="373684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8 쪽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0쪽인 날은 빼요.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 ÷ 3 = 8</a:t>
            </a:r>
            <a:endParaRPr lang="ko-KR" sz="2800" dirty="0"/>
          </a:p>
        </p:txBody>
      </p:sp>
      <p:sp>
        <p:nvSpPr>
          <p:cNvPr id="8" name="S08-card252"/>
          <p:cNvSpPr/>
          <p:nvPr/>
        </p:nvSpPr>
        <p:spPr>
          <a:xfrm>
            <a:off x="6208776" y="359968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8-cardtext253"/>
          <p:cNvSpPr txBox="1"/>
          <p:nvPr/>
        </p:nvSpPr>
        <p:spPr>
          <a:xfrm>
            <a:off x="6483096" y="373684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6 쪽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4일 모두 세요.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 ÷ 4 = 6</a:t>
            </a:r>
            <a:endParaRPr lang="ko-KR" sz="2800" dirty="0"/>
          </a:p>
        </p:txBody>
      </p:sp>
      <p:graphicFrame>
        <p:nvGraphicFramePr>
          <p:cNvPr id="9" name="S08-table2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751076" y="2179574"/>
          <a:ext cx="8686800" cy="914400"/>
        </p:xfrm>
        <a:graphic>
          <a:graphicData uri="http://schemas.openxmlformats.org/drawingml/2006/table">
            <a:tbl>
              <a:tblPr/>
              <a:tblGrid>
                <a:gridCol w="2779776"/>
                <a:gridCol w="1476756"/>
                <a:gridCol w="1476756"/>
                <a:gridCol w="1476756"/>
                <a:gridCol w="1476756"/>
              </a:tblGrid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목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읽은 쪽수(쪽)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 수가 다른 두 모둠</a:t>
            </a:r>
            <a:endParaRPr lang="ko-KR" sz="4000" dirty="0"/>
          </a:p>
        </p:txBody>
      </p:sp>
      <p:sp>
        <p:nvSpPr>
          <p:cNvPr id="3" name="S09-text255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고리 던지기는 어느 모둠이 더 잘했을까요?</a:t>
            </a:r>
            <a:endParaRPr lang="ko-KR" sz="2800" dirty="0"/>
          </a:p>
        </p:txBody>
      </p:sp>
      <p:graphicFrame>
        <p:nvGraphicFramePr>
          <p:cNvPr id="10" name="S09-table2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99133" y="3703320"/>
          <a:ext cx="5041179" cy="914400"/>
        </p:xfrm>
        <a:graphic>
          <a:graphicData uri="http://schemas.openxmlformats.org/drawingml/2006/table">
            <a:tbl>
              <a:tblPr/>
              <a:tblGrid>
                <a:gridCol w="2117295"/>
                <a:gridCol w="2923884"/>
              </a:tblGrid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모둠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넣은 고리 수(개)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 모둠(4명)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9, 10, 8, 9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 모둠(5명)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8, 6, 10, 7, 9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09-stepno257"/>
          <p:cNvSpPr txBox="1"/>
          <p:nvPr/>
        </p:nvSpPr>
        <p:spPr>
          <a:xfrm>
            <a:off x="548640" y="286816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6" name="S09-text258"/>
          <p:cNvSpPr txBox="1"/>
          <p:nvPr/>
        </p:nvSpPr>
        <p:spPr>
          <a:xfrm>
            <a:off x="1325880" y="2868168"/>
            <a:ext cx="490749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합: 가 36개, 나 40개</a:t>
            </a:r>
            <a:endParaRPr lang="ko-KR" sz="2200" dirty="0"/>
          </a:p>
        </p:txBody>
      </p:sp>
      <p:sp>
        <p:nvSpPr>
          <p:cNvPr id="7" name="S09-stepno259"/>
          <p:cNvSpPr txBox="1"/>
          <p:nvPr/>
        </p:nvSpPr>
        <p:spPr>
          <a:xfrm>
            <a:off x="548640" y="36271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8" name="S09-text260"/>
          <p:cNvSpPr txBox="1"/>
          <p:nvPr/>
        </p:nvSpPr>
        <p:spPr>
          <a:xfrm>
            <a:off x="1325880" y="3581400"/>
            <a:ext cx="4907493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 수가 달라요.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4명, 나 5명</a:t>
            </a:r>
            <a:endParaRPr lang="ko-KR" sz="2200" dirty="0"/>
          </a:p>
        </p:txBody>
      </p:sp>
      <p:sp>
        <p:nvSpPr>
          <p:cNvPr id="9" name="S09-stepno261"/>
          <p:cNvSpPr txBox="1"/>
          <p:nvPr/>
        </p:nvSpPr>
        <p:spPr>
          <a:xfrm>
            <a:off x="548640" y="44734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0" name="S09-text262"/>
          <p:cNvSpPr txBox="1"/>
          <p:nvPr/>
        </p:nvSpPr>
        <p:spPr>
          <a:xfrm>
            <a:off x="1325880" y="4427728"/>
            <a:ext cx="4907493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평균: 가 36 ÷ 4 = 9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 40 ÷ 5 = 8</a:t>
            </a:r>
            <a:endParaRPr lang="ko-KR" sz="2200" dirty="0"/>
          </a:p>
        </p:txBody>
      </p:sp>
      <p:sp>
        <p:nvSpPr>
          <p:cNvPr id="11" name="S09-stepno263"/>
          <p:cNvSpPr txBox="1"/>
          <p:nvPr/>
        </p:nvSpPr>
        <p:spPr>
          <a:xfrm>
            <a:off x="548640" y="531977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2" name="S09-text264"/>
          <p:cNvSpPr txBox="1"/>
          <p:nvPr/>
        </p:nvSpPr>
        <p:spPr>
          <a:xfrm>
            <a:off x="1325880" y="5274056"/>
            <a:ext cx="4907493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평균이 큰 가 모둠이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잘했어요.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평균으로 비교해요</a:t>
            </a:r>
            <a:endParaRPr lang="ko-KR" sz="4000" dirty="0"/>
          </a:p>
        </p:txBody>
      </p:sp>
      <p:graphicFrame>
        <p:nvGraphicFramePr>
          <p:cNvPr id="11" name="S10-table26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77356" y="3004185"/>
          <a:ext cx="5362956" cy="914400"/>
        </p:xfrm>
        <a:graphic>
          <a:graphicData uri="http://schemas.openxmlformats.org/drawingml/2006/table">
            <a:tbl>
              <a:tblPr/>
              <a:tblGrid>
                <a:gridCol w="2252442"/>
                <a:gridCol w="3110514"/>
              </a:tblGrid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모둠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윗몸 일으키기(번)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 모둠(3명)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24, 21, 27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 모둠(4명)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20, 25, 18, 21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10-chip266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10-text267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모둠의 평균은?</a:t>
            </a:r>
            <a:endParaRPr lang="ko-KR" sz="2800" dirty="0"/>
          </a:p>
        </p:txBody>
      </p:sp>
      <p:sp>
        <p:nvSpPr>
          <p:cNvPr id="6" name="S10-chip268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10-text269"/>
          <p:cNvSpPr txBox="1"/>
          <p:nvPr/>
        </p:nvSpPr>
        <p:spPr>
          <a:xfrm>
            <a:off x="1344168" y="301752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 모둠의 평균은?</a:t>
            </a:r>
            <a:endParaRPr lang="ko-KR" sz="2800" dirty="0"/>
          </a:p>
        </p:txBody>
      </p:sp>
      <p:sp>
        <p:nvSpPr>
          <p:cNvPr id="8" name="S10-chip270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10-text271"/>
          <p:cNvSpPr txBox="1"/>
          <p:nvPr/>
        </p:nvSpPr>
        <p:spPr>
          <a:xfrm>
            <a:off x="1344168" y="470916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모둠이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잘했나요?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figure272" descr="블록 막대 네 개: 가 2개, 나 6개, 다 4개, 라 8개"/>
          <p:cNvSpPr/>
          <p:nvPr/>
        </p:nvSpPr>
        <p:spPr>
          <a:xfrm>
            <a:off x="7337716" y="5161429"/>
            <a:ext cx="463176" cy="463176"/>
          </a:xfrm>
          <a:custGeom>
            <a:avLst/>
            <a:gdLst/>
            <a:ahLst/>
            <a:cxnLst/>
            <a:rect l="l" t="t" r="r" b="b"/>
            <a:pathLst>
              <a:path w="463176" h="463176">
                <a:moveTo>
                  <a:pt x="0" y="463176"/>
                </a:moveTo>
                <a:lnTo>
                  <a:pt x="463176" y="463176"/>
                </a:lnTo>
                <a:lnTo>
                  <a:pt x="46317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" name="S11-mark273"/>
          <p:cNvSpPr/>
          <p:nvPr/>
        </p:nvSpPr>
        <p:spPr>
          <a:xfrm>
            <a:off x="7337716" y="4698253"/>
            <a:ext cx="463176" cy="463176"/>
          </a:xfrm>
          <a:custGeom>
            <a:avLst/>
            <a:gdLst/>
            <a:ahLst/>
            <a:cxnLst/>
            <a:rect l="l" t="t" r="r" b="b"/>
            <a:pathLst>
              <a:path w="463176" h="463176">
                <a:moveTo>
                  <a:pt x="0" y="463176"/>
                </a:moveTo>
                <a:lnTo>
                  <a:pt x="463176" y="463176"/>
                </a:lnTo>
                <a:lnTo>
                  <a:pt x="46317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11-mark274"/>
          <p:cNvSpPr/>
          <p:nvPr/>
        </p:nvSpPr>
        <p:spPr>
          <a:xfrm>
            <a:off x="8264069" y="5161429"/>
            <a:ext cx="463176" cy="463176"/>
          </a:xfrm>
          <a:custGeom>
            <a:avLst/>
            <a:gdLst/>
            <a:ahLst/>
            <a:cxnLst/>
            <a:rect l="l" t="t" r="r" b="b"/>
            <a:pathLst>
              <a:path w="463176" h="463176">
                <a:moveTo>
                  <a:pt x="0" y="463176"/>
                </a:moveTo>
                <a:lnTo>
                  <a:pt x="463176" y="463176"/>
                </a:lnTo>
                <a:lnTo>
                  <a:pt x="46317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11-mark275"/>
          <p:cNvSpPr/>
          <p:nvPr/>
        </p:nvSpPr>
        <p:spPr>
          <a:xfrm>
            <a:off x="8264069" y="4698253"/>
            <a:ext cx="463176" cy="463176"/>
          </a:xfrm>
          <a:custGeom>
            <a:avLst/>
            <a:gdLst/>
            <a:ahLst/>
            <a:cxnLst/>
            <a:rect l="l" t="t" r="r" b="b"/>
            <a:pathLst>
              <a:path w="463176" h="463176">
                <a:moveTo>
                  <a:pt x="0" y="463176"/>
                </a:moveTo>
                <a:lnTo>
                  <a:pt x="463176" y="463176"/>
                </a:lnTo>
                <a:lnTo>
                  <a:pt x="46317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11-mark276"/>
          <p:cNvSpPr/>
          <p:nvPr/>
        </p:nvSpPr>
        <p:spPr>
          <a:xfrm>
            <a:off x="8264069" y="4235076"/>
            <a:ext cx="463176" cy="463176"/>
          </a:xfrm>
          <a:custGeom>
            <a:avLst/>
            <a:gdLst/>
            <a:ahLst/>
            <a:cxnLst/>
            <a:rect l="l" t="t" r="r" b="b"/>
            <a:pathLst>
              <a:path w="463176" h="463176">
                <a:moveTo>
                  <a:pt x="0" y="463176"/>
                </a:moveTo>
                <a:lnTo>
                  <a:pt x="463176" y="463176"/>
                </a:lnTo>
                <a:lnTo>
                  <a:pt x="46317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11-mark277"/>
          <p:cNvSpPr/>
          <p:nvPr/>
        </p:nvSpPr>
        <p:spPr>
          <a:xfrm>
            <a:off x="8264069" y="3771900"/>
            <a:ext cx="463176" cy="463176"/>
          </a:xfrm>
          <a:custGeom>
            <a:avLst/>
            <a:gdLst/>
            <a:ahLst/>
            <a:cxnLst/>
            <a:rect l="l" t="t" r="r" b="b"/>
            <a:pathLst>
              <a:path w="463176" h="463176">
                <a:moveTo>
                  <a:pt x="0" y="463176"/>
                </a:moveTo>
                <a:lnTo>
                  <a:pt x="463176" y="463176"/>
                </a:lnTo>
                <a:lnTo>
                  <a:pt x="46317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11-mark278"/>
          <p:cNvSpPr/>
          <p:nvPr/>
        </p:nvSpPr>
        <p:spPr>
          <a:xfrm>
            <a:off x="8264069" y="3308724"/>
            <a:ext cx="463176" cy="463176"/>
          </a:xfrm>
          <a:custGeom>
            <a:avLst/>
            <a:gdLst/>
            <a:ahLst/>
            <a:cxnLst/>
            <a:rect l="l" t="t" r="r" b="b"/>
            <a:pathLst>
              <a:path w="463176" h="463176">
                <a:moveTo>
                  <a:pt x="0" y="463176"/>
                </a:moveTo>
                <a:lnTo>
                  <a:pt x="463176" y="463176"/>
                </a:lnTo>
                <a:lnTo>
                  <a:pt x="46317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11-mark279"/>
          <p:cNvSpPr/>
          <p:nvPr/>
        </p:nvSpPr>
        <p:spPr>
          <a:xfrm>
            <a:off x="8264069" y="2845547"/>
            <a:ext cx="463176" cy="463176"/>
          </a:xfrm>
          <a:custGeom>
            <a:avLst/>
            <a:gdLst/>
            <a:ahLst/>
            <a:cxnLst/>
            <a:rect l="l" t="t" r="r" b="b"/>
            <a:pathLst>
              <a:path w="463176" h="463176">
                <a:moveTo>
                  <a:pt x="0" y="463176"/>
                </a:moveTo>
                <a:lnTo>
                  <a:pt x="463176" y="463176"/>
                </a:lnTo>
                <a:lnTo>
                  <a:pt x="46317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11-mark280"/>
          <p:cNvSpPr/>
          <p:nvPr/>
        </p:nvSpPr>
        <p:spPr>
          <a:xfrm>
            <a:off x="9190422" y="5161429"/>
            <a:ext cx="463176" cy="463176"/>
          </a:xfrm>
          <a:custGeom>
            <a:avLst/>
            <a:gdLst/>
            <a:ahLst/>
            <a:cxnLst/>
            <a:rect l="l" t="t" r="r" b="b"/>
            <a:pathLst>
              <a:path w="463176" h="463176">
                <a:moveTo>
                  <a:pt x="0" y="463176"/>
                </a:moveTo>
                <a:lnTo>
                  <a:pt x="463176" y="463176"/>
                </a:lnTo>
                <a:lnTo>
                  <a:pt x="46317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11-mark281"/>
          <p:cNvSpPr/>
          <p:nvPr/>
        </p:nvSpPr>
        <p:spPr>
          <a:xfrm>
            <a:off x="9190422" y="4698253"/>
            <a:ext cx="463176" cy="463176"/>
          </a:xfrm>
          <a:custGeom>
            <a:avLst/>
            <a:gdLst/>
            <a:ahLst/>
            <a:cxnLst/>
            <a:rect l="l" t="t" r="r" b="b"/>
            <a:pathLst>
              <a:path w="463176" h="463176">
                <a:moveTo>
                  <a:pt x="0" y="463176"/>
                </a:moveTo>
                <a:lnTo>
                  <a:pt x="463176" y="463176"/>
                </a:lnTo>
                <a:lnTo>
                  <a:pt x="46317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11-mark282"/>
          <p:cNvSpPr/>
          <p:nvPr/>
        </p:nvSpPr>
        <p:spPr>
          <a:xfrm>
            <a:off x="9190422" y="4235076"/>
            <a:ext cx="463176" cy="463176"/>
          </a:xfrm>
          <a:custGeom>
            <a:avLst/>
            <a:gdLst/>
            <a:ahLst/>
            <a:cxnLst/>
            <a:rect l="l" t="t" r="r" b="b"/>
            <a:pathLst>
              <a:path w="463176" h="463176">
                <a:moveTo>
                  <a:pt x="0" y="463176"/>
                </a:moveTo>
                <a:lnTo>
                  <a:pt x="463176" y="463176"/>
                </a:lnTo>
                <a:lnTo>
                  <a:pt x="46317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11-mark283"/>
          <p:cNvSpPr/>
          <p:nvPr/>
        </p:nvSpPr>
        <p:spPr>
          <a:xfrm>
            <a:off x="9190422" y="3771900"/>
            <a:ext cx="463176" cy="463176"/>
          </a:xfrm>
          <a:custGeom>
            <a:avLst/>
            <a:gdLst/>
            <a:ahLst/>
            <a:cxnLst/>
            <a:rect l="l" t="t" r="r" b="b"/>
            <a:pathLst>
              <a:path w="463176" h="463176">
                <a:moveTo>
                  <a:pt x="0" y="463176"/>
                </a:moveTo>
                <a:lnTo>
                  <a:pt x="463176" y="463176"/>
                </a:lnTo>
                <a:lnTo>
                  <a:pt x="46317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11-mark284"/>
          <p:cNvSpPr/>
          <p:nvPr/>
        </p:nvSpPr>
        <p:spPr>
          <a:xfrm>
            <a:off x="10116775" y="5161429"/>
            <a:ext cx="463176" cy="463176"/>
          </a:xfrm>
          <a:custGeom>
            <a:avLst/>
            <a:gdLst/>
            <a:ahLst/>
            <a:cxnLst/>
            <a:rect l="l" t="t" r="r" b="b"/>
            <a:pathLst>
              <a:path w="463176" h="463176">
                <a:moveTo>
                  <a:pt x="0" y="463176"/>
                </a:moveTo>
                <a:lnTo>
                  <a:pt x="463176" y="463176"/>
                </a:lnTo>
                <a:lnTo>
                  <a:pt x="46317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11-mark285"/>
          <p:cNvSpPr/>
          <p:nvPr/>
        </p:nvSpPr>
        <p:spPr>
          <a:xfrm>
            <a:off x="10116775" y="4698253"/>
            <a:ext cx="463176" cy="463176"/>
          </a:xfrm>
          <a:custGeom>
            <a:avLst/>
            <a:gdLst/>
            <a:ahLst/>
            <a:cxnLst/>
            <a:rect l="l" t="t" r="r" b="b"/>
            <a:pathLst>
              <a:path w="463176" h="463176">
                <a:moveTo>
                  <a:pt x="0" y="463176"/>
                </a:moveTo>
                <a:lnTo>
                  <a:pt x="463176" y="463176"/>
                </a:lnTo>
                <a:lnTo>
                  <a:pt x="46317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11-mark286"/>
          <p:cNvSpPr/>
          <p:nvPr/>
        </p:nvSpPr>
        <p:spPr>
          <a:xfrm>
            <a:off x="10116775" y="4235076"/>
            <a:ext cx="463176" cy="463176"/>
          </a:xfrm>
          <a:custGeom>
            <a:avLst/>
            <a:gdLst/>
            <a:ahLst/>
            <a:cxnLst/>
            <a:rect l="l" t="t" r="r" b="b"/>
            <a:pathLst>
              <a:path w="463176" h="463176">
                <a:moveTo>
                  <a:pt x="0" y="463176"/>
                </a:moveTo>
                <a:lnTo>
                  <a:pt x="463176" y="463176"/>
                </a:lnTo>
                <a:lnTo>
                  <a:pt x="46317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11-mark287"/>
          <p:cNvSpPr/>
          <p:nvPr/>
        </p:nvSpPr>
        <p:spPr>
          <a:xfrm>
            <a:off x="10116775" y="3771900"/>
            <a:ext cx="463176" cy="463176"/>
          </a:xfrm>
          <a:custGeom>
            <a:avLst/>
            <a:gdLst/>
            <a:ahLst/>
            <a:cxnLst/>
            <a:rect l="l" t="t" r="r" b="b"/>
            <a:pathLst>
              <a:path w="463176" h="463176">
                <a:moveTo>
                  <a:pt x="0" y="463176"/>
                </a:moveTo>
                <a:lnTo>
                  <a:pt x="463176" y="463176"/>
                </a:lnTo>
                <a:lnTo>
                  <a:pt x="46317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11-mark288"/>
          <p:cNvSpPr/>
          <p:nvPr/>
        </p:nvSpPr>
        <p:spPr>
          <a:xfrm>
            <a:off x="10116775" y="3308724"/>
            <a:ext cx="463176" cy="463176"/>
          </a:xfrm>
          <a:custGeom>
            <a:avLst/>
            <a:gdLst/>
            <a:ahLst/>
            <a:cxnLst/>
            <a:rect l="l" t="t" r="r" b="b"/>
            <a:pathLst>
              <a:path w="463176" h="463176">
                <a:moveTo>
                  <a:pt x="0" y="463176"/>
                </a:moveTo>
                <a:lnTo>
                  <a:pt x="463176" y="463176"/>
                </a:lnTo>
                <a:lnTo>
                  <a:pt x="46317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11-mark289"/>
          <p:cNvSpPr/>
          <p:nvPr/>
        </p:nvSpPr>
        <p:spPr>
          <a:xfrm>
            <a:off x="10116775" y="2845547"/>
            <a:ext cx="463176" cy="463176"/>
          </a:xfrm>
          <a:custGeom>
            <a:avLst/>
            <a:gdLst/>
            <a:ahLst/>
            <a:cxnLst/>
            <a:rect l="l" t="t" r="r" b="b"/>
            <a:pathLst>
              <a:path w="463176" h="463176">
                <a:moveTo>
                  <a:pt x="0" y="463176"/>
                </a:moveTo>
                <a:lnTo>
                  <a:pt x="463176" y="463176"/>
                </a:lnTo>
                <a:lnTo>
                  <a:pt x="46317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11-mark290"/>
          <p:cNvSpPr/>
          <p:nvPr/>
        </p:nvSpPr>
        <p:spPr>
          <a:xfrm>
            <a:off x="10116775" y="2382371"/>
            <a:ext cx="463176" cy="463176"/>
          </a:xfrm>
          <a:custGeom>
            <a:avLst/>
            <a:gdLst/>
            <a:ahLst/>
            <a:cxnLst/>
            <a:rect l="l" t="t" r="r" b="b"/>
            <a:pathLst>
              <a:path w="463176" h="463176">
                <a:moveTo>
                  <a:pt x="0" y="463176"/>
                </a:moveTo>
                <a:lnTo>
                  <a:pt x="463176" y="463176"/>
                </a:lnTo>
                <a:lnTo>
                  <a:pt x="46317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11-mark291"/>
          <p:cNvSpPr/>
          <p:nvPr/>
        </p:nvSpPr>
        <p:spPr>
          <a:xfrm>
            <a:off x="10116775" y="1919194"/>
            <a:ext cx="463176" cy="463176"/>
          </a:xfrm>
          <a:custGeom>
            <a:avLst/>
            <a:gdLst/>
            <a:ahLst/>
            <a:cxnLst/>
            <a:rect l="l" t="t" r="r" b="b"/>
            <a:pathLst>
              <a:path w="463176" h="463176">
                <a:moveTo>
                  <a:pt x="0" y="463176"/>
                </a:moveTo>
                <a:lnTo>
                  <a:pt x="463176" y="463176"/>
                </a:lnTo>
                <a:lnTo>
                  <a:pt x="46317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11-mark292"/>
          <p:cNvSpPr/>
          <p:nvPr/>
        </p:nvSpPr>
        <p:spPr>
          <a:xfrm>
            <a:off x="7106128" y="5624606"/>
            <a:ext cx="3705412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4" name="S11-label294"/>
          <p:cNvSpPr txBox="1"/>
          <p:nvPr/>
        </p:nvSpPr>
        <p:spPr>
          <a:xfrm>
            <a:off x="7377535" y="5751046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25" name="S11-label296"/>
          <p:cNvSpPr txBox="1"/>
          <p:nvPr/>
        </p:nvSpPr>
        <p:spPr>
          <a:xfrm>
            <a:off x="8303888" y="5751046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26" name="S11-label298"/>
          <p:cNvSpPr txBox="1"/>
          <p:nvPr/>
        </p:nvSpPr>
        <p:spPr>
          <a:xfrm>
            <a:off x="9230240" y="5751046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200" dirty="0"/>
          </a:p>
        </p:txBody>
      </p:sp>
      <p:sp>
        <p:nvSpPr>
          <p:cNvPr id="27" name="S11-label300"/>
          <p:cNvSpPr txBox="1"/>
          <p:nvPr/>
        </p:nvSpPr>
        <p:spPr>
          <a:xfrm>
            <a:off x="10156593" y="5751046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200" dirty="0"/>
          </a:p>
        </p:txBody>
      </p:sp>
      <p:sp>
        <p:nvSpPr>
          <p:cNvPr id="28" name="S11-chip301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29" name="S11-text302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 막대를 고르게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하면 몇 칸일까요?</a:t>
            </a:r>
            <a:endParaRPr lang="ko-KR" sz="2800" dirty="0"/>
          </a:p>
        </p:txBody>
      </p:sp>
      <p:sp>
        <p:nvSpPr>
          <p:cNvPr id="30" name="S11-chip303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31" name="S11-text304"/>
          <p:cNvSpPr txBox="1"/>
          <p:nvPr/>
        </p:nvSpPr>
        <p:spPr>
          <a:xfrm>
            <a:off x="1344168" y="301752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4일 동안 12, 0, 9, 11쪽을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읽었어요. 하루 평균은?</a:t>
            </a:r>
            <a:endParaRPr lang="ko-KR" sz="2800" dirty="0"/>
          </a:p>
        </p:txBody>
      </p:sp>
      <p:sp>
        <p:nvSpPr>
          <p:cNvPr id="32" name="S11-chip305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33" name="S11-text306"/>
          <p:cNvSpPr txBox="1"/>
          <p:nvPr/>
        </p:nvSpPr>
        <p:spPr>
          <a:xfrm>
            <a:off x="1344168" y="470916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모둠 3명은 합이 45, 나 모둠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4명은 합이 56. 평균이 큰 모둠은?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평균을 바르게 말한 것은?</a:t>
            </a:r>
            <a:endParaRPr lang="ko-KR" sz="4000" dirty="0"/>
          </a:p>
        </p:txBody>
      </p:sp>
      <p:sp>
        <p:nvSpPr>
          <p:cNvPr id="3" name="S13-card30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3-cardtext30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바른 것을 모두 고르고, 틀린 것은 고쳐 말해요.</a:t>
            </a:r>
            <a:endParaRPr lang="ko-KR" sz="2800" dirty="0"/>
          </a:p>
        </p:txBody>
      </p:sp>
      <p:sp>
        <p:nvSpPr>
          <p:cNvPr id="5" name="S13-chip309"/>
          <p:cNvSpPr txBox="1"/>
          <p:nvPr/>
        </p:nvSpPr>
        <p:spPr>
          <a:xfrm>
            <a:off x="548640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6" name="S13-card310"/>
          <p:cNvSpPr/>
          <p:nvPr/>
        </p:nvSpPr>
        <p:spPr>
          <a:xfrm>
            <a:off x="1344168" y="132588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3-cardtext311"/>
          <p:cNvSpPr txBox="1"/>
          <p:nvPr/>
        </p:nvSpPr>
        <p:spPr>
          <a:xfrm>
            <a:off x="1618488" y="146304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평균은 자료를 고르게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했을 때의 값이에요.</a:t>
            </a:r>
            <a:endParaRPr lang="ko-KR" sz="2800" dirty="0"/>
          </a:p>
        </p:txBody>
      </p:sp>
      <p:sp>
        <p:nvSpPr>
          <p:cNvPr id="8" name="S13-chip312"/>
          <p:cNvSpPr txBox="1"/>
          <p:nvPr/>
        </p:nvSpPr>
        <p:spPr>
          <a:xfrm>
            <a:off x="6277356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9" name="S13-card313"/>
          <p:cNvSpPr/>
          <p:nvPr/>
        </p:nvSpPr>
        <p:spPr>
          <a:xfrm>
            <a:off x="7072884" y="132588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13-cardtext314"/>
          <p:cNvSpPr txBox="1"/>
          <p:nvPr/>
        </p:nvSpPr>
        <p:spPr>
          <a:xfrm>
            <a:off x="7347204" y="146304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평균은 언제나 자료 중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큰 수예요.</a:t>
            </a:r>
            <a:endParaRPr lang="ko-KR" sz="2800" dirty="0"/>
          </a:p>
        </p:txBody>
      </p:sp>
      <p:sp>
        <p:nvSpPr>
          <p:cNvPr id="11" name="S13-chip315"/>
          <p:cNvSpPr txBox="1"/>
          <p:nvPr/>
        </p:nvSpPr>
        <p:spPr>
          <a:xfrm>
            <a:off x="548640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12" name="S13-card316"/>
          <p:cNvSpPr/>
          <p:nvPr/>
        </p:nvSpPr>
        <p:spPr>
          <a:xfrm>
            <a:off x="1344168" y="336042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13-cardtext317"/>
          <p:cNvSpPr txBox="1"/>
          <p:nvPr/>
        </p:nvSpPr>
        <p:spPr>
          <a:xfrm>
            <a:off x="1618488" y="349758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0인 자료는 빼고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나누어요.</a:t>
            </a:r>
            <a:endParaRPr lang="ko-KR" sz="2800" dirty="0"/>
          </a:p>
        </p:txBody>
      </p:sp>
      <p:sp>
        <p:nvSpPr>
          <p:cNvPr id="14" name="S13-chip318"/>
          <p:cNvSpPr txBox="1"/>
          <p:nvPr/>
        </p:nvSpPr>
        <p:spPr>
          <a:xfrm>
            <a:off x="6277356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800" dirty="0"/>
          </a:p>
        </p:txBody>
      </p:sp>
      <p:sp>
        <p:nvSpPr>
          <p:cNvPr id="15" name="S13-card319"/>
          <p:cNvSpPr/>
          <p:nvPr/>
        </p:nvSpPr>
        <p:spPr>
          <a:xfrm>
            <a:off x="7072884" y="336042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6" name="S13-cardtext320"/>
          <p:cNvSpPr txBox="1"/>
          <p:nvPr/>
        </p:nvSpPr>
        <p:spPr>
          <a:xfrm>
            <a:off x="7347204" y="349758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 수가 다른 모둠은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평균으로 비교해요.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321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322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평균은 자료를 고르게 한 수예요.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= (자료의 합) ÷ (자료의 수)</a:t>
            </a:r>
            <a:endParaRPr lang="ko-KR" sz="2800" dirty="0"/>
          </a:p>
        </p:txBody>
      </p:sp>
      <p:sp>
        <p:nvSpPr>
          <p:cNvPr id="5" name="S14-chip323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0인 자료도 수에 넣기</a:t>
            </a:r>
            <a:endParaRPr lang="ko-KR" sz="2200" dirty="0"/>
          </a:p>
        </p:txBody>
      </p:sp>
      <p:sp>
        <p:nvSpPr>
          <p:cNvPr id="6" name="S14-chip324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사람 수가 다른데 합으로 비교하기</a:t>
            </a:r>
            <a:endParaRPr lang="ko-KR" sz="2200" dirty="0"/>
          </a:p>
        </p:txBody>
      </p:sp>
      <p:sp>
        <p:nvSpPr>
          <p:cNvPr id="7" name="S14-text325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text326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6, 9, 3의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평균은?</a:t>
            </a:r>
            <a:endParaRPr lang="ko-KR" sz="2200" dirty="0"/>
          </a:p>
        </p:txBody>
      </p:sp>
      <p:sp>
        <p:nvSpPr>
          <p:cNvPr id="9" name="S14-text327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4명의 줄넘기 합이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120번일 때 평균은?</a:t>
            </a:r>
            <a:endParaRPr lang="ko-KR" sz="2200" dirty="0"/>
          </a:p>
        </p:txBody>
      </p:sp>
      <p:sp>
        <p:nvSpPr>
          <p:cNvPr id="10" name="S14-text328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평균 4권은 어떤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뜻일까요?</a:t>
            </a:r>
            <a:endParaRPr lang="ko-KR" sz="2200" dirty="0"/>
          </a:p>
        </p:txBody>
      </p:sp>
      <p:sp>
        <p:nvSpPr>
          <p:cNvPr id="11" name="S14-text329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일이 일어날 가능성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막대그래프 읽기</a:t>
            </a:r>
            <a:endParaRPr lang="ko-KR" sz="4000" dirty="0"/>
          </a:p>
        </p:txBody>
      </p:sp>
      <p:sp>
        <p:nvSpPr>
          <p:cNvPr id="3" name="S15-figure330" descr="막대그래프 ‘좋아하는 과일별 학생 수’(세로 눈금 한 칸 1명): 사과 3, 배 5, 귤 2, 포도 6"/>
          <p:cNvSpPr/>
          <p:nvPr/>
        </p:nvSpPr>
        <p:spPr>
          <a:xfrm>
            <a:off x="1935653" y="4303112"/>
            <a:ext cx="542515" cy="1356287"/>
          </a:xfrm>
          <a:custGeom>
            <a:avLst/>
            <a:gdLst/>
            <a:ahLst/>
            <a:cxnLst/>
            <a:rect l="l" t="t" r="r" b="b"/>
            <a:pathLst>
              <a:path w="542515" h="1356287">
                <a:moveTo>
                  <a:pt x="0" y="1356287"/>
                </a:moveTo>
                <a:lnTo>
                  <a:pt x="542515" y="1356287"/>
                </a:lnTo>
                <a:lnTo>
                  <a:pt x="542515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" name="S15-mark331"/>
          <p:cNvSpPr/>
          <p:nvPr/>
        </p:nvSpPr>
        <p:spPr>
          <a:xfrm>
            <a:off x="3020683" y="3398921"/>
            <a:ext cx="542515" cy="2260478"/>
          </a:xfrm>
          <a:custGeom>
            <a:avLst/>
            <a:gdLst/>
            <a:ahLst/>
            <a:cxnLst/>
            <a:rect l="l" t="t" r="r" b="b"/>
            <a:pathLst>
              <a:path w="542515" h="2260478">
                <a:moveTo>
                  <a:pt x="0" y="2260478"/>
                </a:moveTo>
                <a:lnTo>
                  <a:pt x="542515" y="2260478"/>
                </a:lnTo>
                <a:lnTo>
                  <a:pt x="542515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15-mark332"/>
          <p:cNvSpPr/>
          <p:nvPr/>
        </p:nvSpPr>
        <p:spPr>
          <a:xfrm>
            <a:off x="4105713" y="4755208"/>
            <a:ext cx="542515" cy="904191"/>
          </a:xfrm>
          <a:custGeom>
            <a:avLst/>
            <a:gdLst/>
            <a:ahLst/>
            <a:cxnLst/>
            <a:rect l="l" t="t" r="r" b="b"/>
            <a:pathLst>
              <a:path w="542515" h="904191">
                <a:moveTo>
                  <a:pt x="0" y="904191"/>
                </a:moveTo>
                <a:lnTo>
                  <a:pt x="542515" y="904191"/>
                </a:lnTo>
                <a:lnTo>
                  <a:pt x="542515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15-mark333"/>
          <p:cNvSpPr/>
          <p:nvPr/>
        </p:nvSpPr>
        <p:spPr>
          <a:xfrm>
            <a:off x="5190742" y="2946825"/>
            <a:ext cx="542515" cy="2712574"/>
          </a:xfrm>
          <a:custGeom>
            <a:avLst/>
            <a:gdLst/>
            <a:ahLst/>
            <a:cxnLst/>
            <a:rect l="l" t="t" r="r" b="b"/>
            <a:pathLst>
              <a:path w="542515" h="2712574">
                <a:moveTo>
                  <a:pt x="0" y="2712574"/>
                </a:moveTo>
                <a:lnTo>
                  <a:pt x="542515" y="2712574"/>
                </a:lnTo>
                <a:lnTo>
                  <a:pt x="542515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15-mark334"/>
          <p:cNvSpPr/>
          <p:nvPr/>
        </p:nvSpPr>
        <p:spPr>
          <a:xfrm>
            <a:off x="1528767" y="5207304"/>
            <a:ext cx="46113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15-mark335"/>
          <p:cNvSpPr/>
          <p:nvPr/>
        </p:nvSpPr>
        <p:spPr>
          <a:xfrm>
            <a:off x="1528767" y="4755208"/>
            <a:ext cx="46113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15-mark336"/>
          <p:cNvSpPr/>
          <p:nvPr/>
        </p:nvSpPr>
        <p:spPr>
          <a:xfrm>
            <a:off x="1528767" y="4303112"/>
            <a:ext cx="46113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15-mark337"/>
          <p:cNvSpPr/>
          <p:nvPr/>
        </p:nvSpPr>
        <p:spPr>
          <a:xfrm>
            <a:off x="1528767" y="3851017"/>
            <a:ext cx="46113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15-mark338"/>
          <p:cNvSpPr/>
          <p:nvPr/>
        </p:nvSpPr>
        <p:spPr>
          <a:xfrm>
            <a:off x="1528767" y="3398921"/>
            <a:ext cx="46113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15-mark339"/>
          <p:cNvSpPr/>
          <p:nvPr/>
        </p:nvSpPr>
        <p:spPr>
          <a:xfrm>
            <a:off x="1528767" y="2946825"/>
            <a:ext cx="46113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15-mark340"/>
          <p:cNvSpPr/>
          <p:nvPr/>
        </p:nvSpPr>
        <p:spPr>
          <a:xfrm>
            <a:off x="1528767" y="2494730"/>
            <a:ext cx="46113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15-mark341"/>
          <p:cNvSpPr/>
          <p:nvPr/>
        </p:nvSpPr>
        <p:spPr>
          <a:xfrm>
            <a:off x="1528767" y="5659400"/>
            <a:ext cx="4611376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5" name="S15-mark342"/>
          <p:cNvSpPr/>
          <p:nvPr/>
        </p:nvSpPr>
        <p:spPr>
          <a:xfrm flipV="1">
            <a:off x="1528767" y="2313891"/>
            <a:ext cx="0" cy="3345508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6" name="S15-label344"/>
          <p:cNvSpPr txBox="1"/>
          <p:nvPr/>
        </p:nvSpPr>
        <p:spPr>
          <a:xfrm>
            <a:off x="1042629" y="5484775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200" dirty="0"/>
          </a:p>
        </p:txBody>
      </p:sp>
      <p:sp>
        <p:nvSpPr>
          <p:cNvPr id="17" name="S15-label346"/>
          <p:cNvSpPr txBox="1"/>
          <p:nvPr/>
        </p:nvSpPr>
        <p:spPr>
          <a:xfrm>
            <a:off x="1042629" y="5032679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8" name="S15-label348"/>
          <p:cNvSpPr txBox="1"/>
          <p:nvPr/>
        </p:nvSpPr>
        <p:spPr>
          <a:xfrm>
            <a:off x="1042629" y="4580583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9" name="S15-label350"/>
          <p:cNvSpPr txBox="1"/>
          <p:nvPr/>
        </p:nvSpPr>
        <p:spPr>
          <a:xfrm>
            <a:off x="1042629" y="4128487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20" name="S15-label352"/>
          <p:cNvSpPr txBox="1"/>
          <p:nvPr/>
        </p:nvSpPr>
        <p:spPr>
          <a:xfrm>
            <a:off x="1042629" y="3676392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21" name="S15-label354"/>
          <p:cNvSpPr txBox="1"/>
          <p:nvPr/>
        </p:nvSpPr>
        <p:spPr>
          <a:xfrm>
            <a:off x="1042629" y="3224296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200" dirty="0"/>
          </a:p>
        </p:txBody>
      </p:sp>
      <p:sp>
        <p:nvSpPr>
          <p:cNvPr id="22" name="S15-label356"/>
          <p:cNvSpPr txBox="1"/>
          <p:nvPr/>
        </p:nvSpPr>
        <p:spPr>
          <a:xfrm>
            <a:off x="1042629" y="2772200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200" dirty="0"/>
          </a:p>
        </p:txBody>
      </p:sp>
      <p:sp>
        <p:nvSpPr>
          <p:cNvPr id="23" name="S15-label358"/>
          <p:cNvSpPr txBox="1"/>
          <p:nvPr/>
        </p:nvSpPr>
        <p:spPr>
          <a:xfrm>
            <a:off x="1042629" y="2320105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200" dirty="0"/>
          </a:p>
        </p:txBody>
      </p:sp>
      <p:sp>
        <p:nvSpPr>
          <p:cNvPr id="24" name="S15-label360"/>
          <p:cNvSpPr txBox="1"/>
          <p:nvPr/>
        </p:nvSpPr>
        <p:spPr>
          <a:xfrm>
            <a:off x="830285" y="1868009"/>
            <a:ext cx="71882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(명)</a:t>
            </a:r>
            <a:endParaRPr lang="ko-KR" sz="2200" dirty="0"/>
          </a:p>
        </p:txBody>
      </p:sp>
      <p:sp>
        <p:nvSpPr>
          <p:cNvPr id="25" name="S15-label362"/>
          <p:cNvSpPr txBox="1"/>
          <p:nvPr/>
        </p:nvSpPr>
        <p:spPr>
          <a:xfrm>
            <a:off x="1878235" y="5778637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사과</a:t>
            </a:r>
            <a:endParaRPr lang="ko-KR" sz="2200" dirty="0"/>
          </a:p>
        </p:txBody>
      </p:sp>
      <p:sp>
        <p:nvSpPr>
          <p:cNvPr id="26" name="S15-label364"/>
          <p:cNvSpPr txBox="1"/>
          <p:nvPr/>
        </p:nvSpPr>
        <p:spPr>
          <a:xfrm>
            <a:off x="3100170" y="5778637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</a:t>
            </a:r>
            <a:endParaRPr lang="ko-KR" sz="2200" dirty="0"/>
          </a:p>
        </p:txBody>
      </p:sp>
      <p:sp>
        <p:nvSpPr>
          <p:cNvPr id="27" name="S15-label366"/>
          <p:cNvSpPr txBox="1"/>
          <p:nvPr/>
        </p:nvSpPr>
        <p:spPr>
          <a:xfrm>
            <a:off x="4185200" y="5778637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귤</a:t>
            </a:r>
            <a:endParaRPr lang="ko-KR" sz="2200" dirty="0"/>
          </a:p>
        </p:txBody>
      </p:sp>
      <p:sp>
        <p:nvSpPr>
          <p:cNvPr id="28" name="S15-label368"/>
          <p:cNvSpPr txBox="1"/>
          <p:nvPr/>
        </p:nvSpPr>
        <p:spPr>
          <a:xfrm>
            <a:off x="5133324" y="5778637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포도</a:t>
            </a:r>
            <a:endParaRPr lang="ko-KR" sz="2200" dirty="0"/>
          </a:p>
        </p:txBody>
      </p:sp>
      <p:sp>
        <p:nvSpPr>
          <p:cNvPr id="29" name="S15-label370"/>
          <p:cNvSpPr txBox="1"/>
          <p:nvPr/>
        </p:nvSpPr>
        <p:spPr>
          <a:xfrm>
            <a:off x="2284801" y="1415913"/>
            <a:ext cx="3099308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좋아하는 과일별 학생 수</a:t>
            </a:r>
            <a:endParaRPr lang="ko-KR" sz="2200" dirty="0"/>
          </a:p>
        </p:txBody>
      </p:sp>
      <p:sp>
        <p:nvSpPr>
          <p:cNvPr id="30" name="S15-card371"/>
          <p:cNvSpPr/>
          <p:nvPr/>
        </p:nvSpPr>
        <p:spPr>
          <a:xfrm>
            <a:off x="6920911" y="2307082"/>
            <a:ext cx="4719401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1" name="S15-cardtext372"/>
          <p:cNvSpPr txBox="1"/>
          <p:nvPr/>
        </p:nvSpPr>
        <p:spPr>
          <a:xfrm>
            <a:off x="7195231" y="2444242"/>
            <a:ext cx="4170761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눈금 한 칸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 눈금이 1씩 커져요.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칸은 1명</a:t>
            </a:r>
            <a:endParaRPr lang="ko-KR" sz="2800" dirty="0"/>
          </a:p>
        </p:txBody>
      </p:sp>
      <p:sp>
        <p:nvSpPr>
          <p:cNvPr id="32" name="S15-card373"/>
          <p:cNvSpPr/>
          <p:nvPr/>
        </p:nvSpPr>
        <p:spPr>
          <a:xfrm>
            <a:off x="6920911" y="4056634"/>
            <a:ext cx="4719401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3" name="S15-cardtext374"/>
          <p:cNvSpPr txBox="1"/>
          <p:nvPr/>
        </p:nvSpPr>
        <p:spPr>
          <a:xfrm>
            <a:off x="7195231" y="4193794"/>
            <a:ext cx="4170761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몇 명?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+ 5 + 2 + 6 = 16 (명)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수학 평균</dc:title>
  <dc:subject>KR22-G05-MAT-MEAN-L01</dc:subject>
  <dc:creator>education-ppt</dc:creator>
  <cp:lastModifiedBy>education-ppt</cp:lastModifiedBy>
  <cp:revision>1</cp:revision>
  <dcterms:created xsi:type="dcterms:W3CDTF">2026-10-26T08:45:13Z</dcterms:created>
  <dcterms:modified xsi:type="dcterms:W3CDTF">2026-10-26T08:45:13Z</dcterms:modified>
</cp:coreProperties>
</file>