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a6d4817-9976-d6e8-b56c-a89d927303b3}">
          <p14:sldIdLst>
            <p14:sldId id="256"/>
            <p14:sldId id="257"/>
          </p14:sldIdLst>
        </p14:section>
        <p14:section name="개념" id="{7d7a3a57-acab-4058-fe90-741908b8107e}">
          <p14:sldIdLst>
            <p14:sldId id="258"/>
            <p14:sldId id="259"/>
            <p14:sldId id="260"/>
            <p14:sldId id="264"/>
          </p14:sldIdLst>
        </p14:section>
        <p14:section name="연습" id="{35aa790a-9d99-0b84-5754-96de69eb7805}">
          <p14:sldIdLst>
            <p14:sldId id="261"/>
            <p14:sldId id="262"/>
            <p14:sldId id="263"/>
            <p14:sldId id="265"/>
          </p14:sldIdLst>
        </p14:section>
        <p14:section name="개념" id="{44ee9d08-946d-d30b-41f1-8125be89e63d}">
          <p14:sldIdLst/>
        </p14:section>
        <p14:section name="연습" id="{4355f7bc-9748-6dc9-7916-bceb68e58f78}">
          <p14:sldIdLst/>
        </p14:section>
        <p14:section name="확인" id="{a530340f-a70a-201e-6aac-3afd45cf1772}">
          <p14:sldIdLst>
            <p14:sldId id="266"/>
            <p14:sldId id="267"/>
          </p14:sldIdLst>
        </p14:section>
        <p14:section name="정리" id="{a5ca2e9d-85a3-3ea1-7af3-36828430f747}">
          <p14:sldIdLst>
            <p14:sldId id="268"/>
          </p14:sldIdLst>
        </p14:section>
        <p14:section name="보충" id="{858c5aa3-ca42-a201-b9bd-c61dcba25fd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자료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평균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친구가 읽은 책 수를 수 하나로 나타내려면?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지난주에 읽은 책 수를 블록으로 쌓은 그림: 민지 5권, 준호 3권, 서연 6권, 도윤 2권"/>
          <p:cNvSpPr/>
          <p:nvPr/>
        </p:nvSpPr>
        <p:spPr>
          <a:xfrm>
            <a:off x="8469537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469537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469537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469537" y="176672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469537" y="143033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9142327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9142327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9142327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9815118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9815118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9815118" y="210312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9815118" y="176672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9815118" y="143033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>
            <a:off x="9815118" y="109393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>
            <a:off x="10487908" y="2775910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>
            <a:off x="10487908" y="2439515"/>
            <a:ext cx="336395" cy="336395"/>
          </a:xfrm>
          <a:custGeom>
            <a:avLst/>
            <a:gdLst/>
            <a:ahLst/>
            <a:cxnLst/>
            <a:rect l="l" t="t" r="r" b="b"/>
            <a:pathLst>
              <a:path w="336395" h="336395">
                <a:moveTo>
                  <a:pt x="0" y="336395"/>
                </a:moveTo>
                <a:lnTo>
                  <a:pt x="336395" y="336395"/>
                </a:lnTo>
                <a:lnTo>
                  <a:pt x="33639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>
            <a:off x="8301340" y="3112305"/>
            <a:ext cx="269116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1-label20"/>
          <p:cNvSpPr txBox="1"/>
          <p:nvPr/>
        </p:nvSpPr>
        <p:spPr>
          <a:xfrm>
            <a:off x="830905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23" name="S01-label22"/>
          <p:cNvSpPr txBox="1"/>
          <p:nvPr/>
        </p:nvSpPr>
        <p:spPr>
          <a:xfrm>
            <a:off x="8353763" y="105386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5권</a:t>
            </a:r>
            <a:endParaRPr lang="ko-KR" sz="2200" dirty="0"/>
          </a:p>
        </p:txBody>
      </p:sp>
      <p:sp>
        <p:nvSpPr>
          <p:cNvPr id="24" name="S01-label24"/>
          <p:cNvSpPr txBox="1"/>
          <p:nvPr/>
        </p:nvSpPr>
        <p:spPr>
          <a:xfrm>
            <a:off x="898184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25" name="S01-label26"/>
          <p:cNvSpPr txBox="1"/>
          <p:nvPr/>
        </p:nvSpPr>
        <p:spPr>
          <a:xfrm>
            <a:off x="9026553" y="172665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3권</a:t>
            </a:r>
            <a:endParaRPr lang="ko-KR" sz="2200" dirty="0"/>
          </a:p>
        </p:txBody>
      </p:sp>
      <p:sp>
        <p:nvSpPr>
          <p:cNvPr id="26" name="S01-label28"/>
          <p:cNvSpPr txBox="1"/>
          <p:nvPr/>
        </p:nvSpPr>
        <p:spPr>
          <a:xfrm>
            <a:off x="965463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27" name="S01-label30"/>
          <p:cNvSpPr txBox="1"/>
          <p:nvPr/>
        </p:nvSpPr>
        <p:spPr>
          <a:xfrm>
            <a:off x="9699343" y="71747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6권</a:t>
            </a:r>
            <a:endParaRPr lang="ko-KR" sz="2200" dirty="0"/>
          </a:p>
        </p:txBody>
      </p:sp>
      <p:sp>
        <p:nvSpPr>
          <p:cNvPr id="28" name="S01-label32"/>
          <p:cNvSpPr txBox="1"/>
          <p:nvPr/>
        </p:nvSpPr>
        <p:spPr>
          <a:xfrm>
            <a:off x="10327429" y="31563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29" name="S01-label34"/>
          <p:cNvSpPr txBox="1"/>
          <p:nvPr/>
        </p:nvSpPr>
        <p:spPr>
          <a:xfrm>
            <a:off x="10372133" y="206305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2권</a:t>
            </a:r>
            <a:endParaRPr lang="ko-KR" sz="2200" dirty="0"/>
          </a:p>
        </p:txBody>
      </p:sp>
      <p:sp>
        <p:nvSpPr>
          <p:cNvPr id="30" name="S01-card35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1" name="S01-cardtext36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막대를 고르게 하여 평균을 구하고 뜻을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합 ÷ 수로 평균을 구해 두 모둠을 비교해요.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figure37" descr="막대그래프 ‘모둠별 모은 빈 병 수’(세로 눈금 한 칸 2개): 가 6, 나 10, 다 4, 라 8"/>
          <p:cNvSpPr/>
          <p:nvPr/>
        </p:nvSpPr>
        <p:spPr>
          <a:xfrm>
            <a:off x="7364563" y="4072916"/>
            <a:ext cx="535140" cy="1337850"/>
          </a:xfrm>
          <a:custGeom>
            <a:avLst/>
            <a:gdLst/>
            <a:ahLst/>
            <a:cxnLst/>
            <a:rect l="l" t="t" r="r" b="b"/>
            <a:pathLst>
              <a:path w="535140" h="1337850">
                <a:moveTo>
                  <a:pt x="0" y="1337850"/>
                </a:moveTo>
                <a:lnTo>
                  <a:pt x="535140" y="1337850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2-mark38"/>
          <p:cNvSpPr/>
          <p:nvPr/>
        </p:nvSpPr>
        <p:spPr>
          <a:xfrm>
            <a:off x="8434843" y="3181016"/>
            <a:ext cx="535140" cy="2229749"/>
          </a:xfrm>
          <a:custGeom>
            <a:avLst/>
            <a:gdLst/>
            <a:ahLst/>
            <a:cxnLst/>
            <a:rect l="l" t="t" r="r" b="b"/>
            <a:pathLst>
              <a:path w="535140" h="2229749">
                <a:moveTo>
                  <a:pt x="0" y="2229749"/>
                </a:moveTo>
                <a:lnTo>
                  <a:pt x="535140" y="2229749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39"/>
          <p:cNvSpPr/>
          <p:nvPr/>
        </p:nvSpPr>
        <p:spPr>
          <a:xfrm>
            <a:off x="9505123" y="4518866"/>
            <a:ext cx="535140" cy="891900"/>
          </a:xfrm>
          <a:custGeom>
            <a:avLst/>
            <a:gdLst/>
            <a:ahLst/>
            <a:cxnLst/>
            <a:rect l="l" t="t" r="r" b="b"/>
            <a:pathLst>
              <a:path w="535140" h="891900">
                <a:moveTo>
                  <a:pt x="0" y="891900"/>
                </a:moveTo>
                <a:lnTo>
                  <a:pt x="535140" y="891900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40"/>
          <p:cNvSpPr/>
          <p:nvPr/>
        </p:nvSpPr>
        <p:spPr>
          <a:xfrm>
            <a:off x="10575402" y="3626966"/>
            <a:ext cx="535140" cy="1783799"/>
          </a:xfrm>
          <a:custGeom>
            <a:avLst/>
            <a:gdLst/>
            <a:ahLst/>
            <a:cxnLst/>
            <a:rect l="l" t="t" r="r" b="b"/>
            <a:pathLst>
              <a:path w="535140" h="1783799">
                <a:moveTo>
                  <a:pt x="0" y="1783799"/>
                </a:moveTo>
                <a:lnTo>
                  <a:pt x="535140" y="1783799"/>
                </a:lnTo>
                <a:lnTo>
                  <a:pt x="53514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41"/>
          <p:cNvSpPr/>
          <p:nvPr/>
        </p:nvSpPr>
        <p:spPr>
          <a:xfrm>
            <a:off x="6963208" y="49648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2-mark42"/>
          <p:cNvSpPr/>
          <p:nvPr/>
        </p:nvSpPr>
        <p:spPr>
          <a:xfrm>
            <a:off x="6963208" y="451886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2-mark43"/>
          <p:cNvSpPr/>
          <p:nvPr/>
        </p:nvSpPr>
        <p:spPr>
          <a:xfrm>
            <a:off x="6963208" y="40729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2-mark44"/>
          <p:cNvSpPr/>
          <p:nvPr/>
        </p:nvSpPr>
        <p:spPr>
          <a:xfrm>
            <a:off x="6963208" y="362696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2-mark45"/>
          <p:cNvSpPr/>
          <p:nvPr/>
        </p:nvSpPr>
        <p:spPr>
          <a:xfrm>
            <a:off x="6963208" y="3181016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2-mark46"/>
          <p:cNvSpPr/>
          <p:nvPr/>
        </p:nvSpPr>
        <p:spPr>
          <a:xfrm>
            <a:off x="6963208" y="2735067"/>
            <a:ext cx="454868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2-mark47"/>
          <p:cNvSpPr/>
          <p:nvPr/>
        </p:nvSpPr>
        <p:spPr>
          <a:xfrm>
            <a:off x="6963208" y="5410766"/>
            <a:ext cx="454868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02-mark48"/>
          <p:cNvSpPr/>
          <p:nvPr/>
        </p:nvSpPr>
        <p:spPr>
          <a:xfrm flipV="1">
            <a:off x="6963208" y="2556687"/>
            <a:ext cx="0" cy="285407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2-label50"/>
          <p:cNvSpPr txBox="1"/>
          <p:nvPr/>
        </p:nvSpPr>
        <p:spPr>
          <a:xfrm>
            <a:off x="6481680" y="52361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6" name="S02-label52"/>
          <p:cNvSpPr txBox="1"/>
          <p:nvPr/>
        </p:nvSpPr>
        <p:spPr>
          <a:xfrm>
            <a:off x="6481680" y="479019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2-label54"/>
          <p:cNvSpPr txBox="1"/>
          <p:nvPr/>
        </p:nvSpPr>
        <p:spPr>
          <a:xfrm>
            <a:off x="6481680" y="43442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8" name="S02-label56"/>
          <p:cNvSpPr txBox="1"/>
          <p:nvPr/>
        </p:nvSpPr>
        <p:spPr>
          <a:xfrm>
            <a:off x="6481680" y="389829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2-label58"/>
          <p:cNvSpPr txBox="1"/>
          <p:nvPr/>
        </p:nvSpPr>
        <p:spPr>
          <a:xfrm>
            <a:off x="6481680" y="345234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0" name="S02-label60"/>
          <p:cNvSpPr txBox="1"/>
          <p:nvPr/>
        </p:nvSpPr>
        <p:spPr>
          <a:xfrm>
            <a:off x="6389478" y="3006391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21" name="S02-label62"/>
          <p:cNvSpPr txBox="1"/>
          <p:nvPr/>
        </p:nvSpPr>
        <p:spPr>
          <a:xfrm>
            <a:off x="6389478" y="2560442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22" name="S02-label64"/>
          <p:cNvSpPr txBox="1"/>
          <p:nvPr/>
        </p:nvSpPr>
        <p:spPr>
          <a:xfrm>
            <a:off x="6269336" y="2114492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(개)</a:t>
            </a:r>
            <a:endParaRPr lang="ko-KR" sz="2200" dirty="0"/>
          </a:p>
        </p:txBody>
      </p:sp>
      <p:sp>
        <p:nvSpPr>
          <p:cNvPr id="23" name="S02-label66"/>
          <p:cNvSpPr txBox="1"/>
          <p:nvPr/>
        </p:nvSpPr>
        <p:spPr>
          <a:xfrm>
            <a:off x="744036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4" name="S02-label68"/>
          <p:cNvSpPr txBox="1"/>
          <p:nvPr/>
        </p:nvSpPr>
        <p:spPr>
          <a:xfrm>
            <a:off x="851064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02-label70"/>
          <p:cNvSpPr txBox="1"/>
          <p:nvPr/>
        </p:nvSpPr>
        <p:spPr>
          <a:xfrm>
            <a:off x="9580923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6" name="S02-label72"/>
          <p:cNvSpPr txBox="1"/>
          <p:nvPr/>
        </p:nvSpPr>
        <p:spPr>
          <a:xfrm>
            <a:off x="10651202" y="5526008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7" name="S02-label74"/>
          <p:cNvSpPr txBox="1"/>
          <p:nvPr/>
        </p:nvSpPr>
        <p:spPr>
          <a:xfrm>
            <a:off x="7919801" y="1668542"/>
            <a:ext cx="263550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모둠별 모은 빈 병 수</a:t>
            </a:r>
            <a:endParaRPr lang="ko-KR" sz="2200" dirty="0"/>
          </a:p>
        </p:txBody>
      </p:sp>
      <p:sp>
        <p:nvSpPr>
          <p:cNvPr id="28" name="S02-chip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9" name="S02-text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2800" dirty="0"/>
          </a:p>
        </p:txBody>
      </p:sp>
      <p:sp>
        <p:nvSpPr>
          <p:cNvPr id="30" name="S02-chip7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1" name="S02-text7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모둠은 몇 개를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모았나요?</a:t>
            </a:r>
            <a:endParaRPr lang="ko-KR" sz="2800" dirty="0"/>
          </a:p>
        </p:txBody>
      </p:sp>
      <p:sp>
        <p:nvSpPr>
          <p:cNvPr id="32" name="S02-chip7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02-text8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모둠이 모은 병은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높이를 고르게 해요</a:t>
            </a:r>
            <a:endParaRPr lang="ko-KR" sz="4000" dirty="0"/>
          </a:p>
        </p:txBody>
      </p:sp>
      <p:sp>
        <p:nvSpPr>
          <p:cNvPr id="3" name="S03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친구가 지난주에 읽은 책 수예요.</a:t>
            </a:r>
            <a:endParaRPr lang="ko-KR" sz="2800" dirty="0"/>
          </a:p>
        </p:txBody>
      </p:sp>
      <p:sp>
        <p:nvSpPr>
          <p:cNvPr id="4" name="S03-figure82" descr="지난주에 읽은 책 수를 블록으로 쌓은 그림: 민지 5권, 준호 3권, 서연 6권, 도윤 2권"/>
          <p:cNvSpPr/>
          <p:nvPr/>
        </p:nvSpPr>
        <p:spPr>
          <a:xfrm>
            <a:off x="1828103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3-mark83"/>
          <p:cNvSpPr/>
          <p:nvPr/>
        </p:nvSpPr>
        <p:spPr>
          <a:xfrm>
            <a:off x="1828103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84"/>
          <p:cNvSpPr/>
          <p:nvPr/>
        </p:nvSpPr>
        <p:spPr>
          <a:xfrm>
            <a:off x="1828103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85"/>
          <p:cNvSpPr/>
          <p:nvPr/>
        </p:nvSpPr>
        <p:spPr>
          <a:xfrm>
            <a:off x="1828103" y="3622288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86"/>
          <p:cNvSpPr/>
          <p:nvPr/>
        </p:nvSpPr>
        <p:spPr>
          <a:xfrm>
            <a:off x="1828103" y="3129776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87"/>
          <p:cNvSpPr/>
          <p:nvPr/>
        </p:nvSpPr>
        <p:spPr>
          <a:xfrm>
            <a:off x="2813127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88"/>
          <p:cNvSpPr/>
          <p:nvPr/>
        </p:nvSpPr>
        <p:spPr>
          <a:xfrm>
            <a:off x="2813127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mark89"/>
          <p:cNvSpPr/>
          <p:nvPr/>
        </p:nvSpPr>
        <p:spPr>
          <a:xfrm>
            <a:off x="2813127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90"/>
          <p:cNvSpPr/>
          <p:nvPr/>
        </p:nvSpPr>
        <p:spPr>
          <a:xfrm>
            <a:off x="3798151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91"/>
          <p:cNvSpPr/>
          <p:nvPr/>
        </p:nvSpPr>
        <p:spPr>
          <a:xfrm>
            <a:off x="3798151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92"/>
          <p:cNvSpPr/>
          <p:nvPr/>
        </p:nvSpPr>
        <p:spPr>
          <a:xfrm>
            <a:off x="3798151" y="4114800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mark93"/>
          <p:cNvSpPr/>
          <p:nvPr/>
        </p:nvSpPr>
        <p:spPr>
          <a:xfrm>
            <a:off x="3798151" y="3622288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94"/>
          <p:cNvSpPr/>
          <p:nvPr/>
        </p:nvSpPr>
        <p:spPr>
          <a:xfrm>
            <a:off x="3798151" y="3129776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mark95"/>
          <p:cNvSpPr/>
          <p:nvPr/>
        </p:nvSpPr>
        <p:spPr>
          <a:xfrm>
            <a:off x="3798151" y="2637263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96"/>
          <p:cNvSpPr/>
          <p:nvPr/>
        </p:nvSpPr>
        <p:spPr>
          <a:xfrm>
            <a:off x="4783176" y="5099824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97"/>
          <p:cNvSpPr/>
          <p:nvPr/>
        </p:nvSpPr>
        <p:spPr>
          <a:xfrm>
            <a:off x="4783176" y="4607312"/>
            <a:ext cx="492512" cy="492512"/>
          </a:xfrm>
          <a:custGeom>
            <a:avLst/>
            <a:gdLst/>
            <a:ahLst/>
            <a:cxnLst/>
            <a:rect l="l" t="t" r="r" b="b"/>
            <a:pathLst>
              <a:path w="492512" h="492512">
                <a:moveTo>
                  <a:pt x="0" y="492512"/>
                </a:moveTo>
                <a:lnTo>
                  <a:pt x="492512" y="492512"/>
                </a:lnTo>
                <a:lnTo>
                  <a:pt x="49251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mark98"/>
          <p:cNvSpPr/>
          <p:nvPr/>
        </p:nvSpPr>
        <p:spPr>
          <a:xfrm>
            <a:off x="1581847" y="5592337"/>
            <a:ext cx="394009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label100"/>
          <p:cNvSpPr txBox="1"/>
          <p:nvPr/>
        </p:nvSpPr>
        <p:spPr>
          <a:xfrm>
            <a:off x="1745683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22" name="S03-label102"/>
          <p:cNvSpPr txBox="1"/>
          <p:nvPr/>
        </p:nvSpPr>
        <p:spPr>
          <a:xfrm>
            <a:off x="1790387" y="26596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5권</a:t>
            </a:r>
            <a:endParaRPr lang="ko-KR" sz="2200" dirty="0"/>
          </a:p>
        </p:txBody>
      </p:sp>
      <p:sp>
        <p:nvSpPr>
          <p:cNvPr id="23" name="S03-label104"/>
          <p:cNvSpPr txBox="1"/>
          <p:nvPr/>
        </p:nvSpPr>
        <p:spPr>
          <a:xfrm>
            <a:off x="2730707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24" name="S03-label106"/>
          <p:cNvSpPr txBox="1"/>
          <p:nvPr/>
        </p:nvSpPr>
        <p:spPr>
          <a:xfrm>
            <a:off x="2775411" y="3644668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3권</a:t>
            </a:r>
            <a:endParaRPr lang="ko-KR" sz="2200" dirty="0"/>
          </a:p>
        </p:txBody>
      </p:sp>
      <p:sp>
        <p:nvSpPr>
          <p:cNvPr id="25" name="S03-label108"/>
          <p:cNvSpPr txBox="1"/>
          <p:nvPr/>
        </p:nvSpPr>
        <p:spPr>
          <a:xfrm>
            <a:off x="3715732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26" name="S03-label110"/>
          <p:cNvSpPr txBox="1"/>
          <p:nvPr/>
        </p:nvSpPr>
        <p:spPr>
          <a:xfrm>
            <a:off x="3760436" y="2167131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6권</a:t>
            </a:r>
            <a:endParaRPr lang="ko-KR" sz="2200" dirty="0"/>
          </a:p>
        </p:txBody>
      </p:sp>
      <p:sp>
        <p:nvSpPr>
          <p:cNvPr id="27" name="S03-label112"/>
          <p:cNvSpPr txBox="1"/>
          <p:nvPr/>
        </p:nvSpPr>
        <p:spPr>
          <a:xfrm>
            <a:off x="4700756" y="573784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28" name="S03-label114"/>
          <p:cNvSpPr txBox="1"/>
          <p:nvPr/>
        </p:nvSpPr>
        <p:spPr>
          <a:xfrm>
            <a:off x="4745460" y="4137180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2권</a:t>
            </a:r>
            <a:endParaRPr lang="ko-KR" sz="2200" dirty="0"/>
          </a:p>
        </p:txBody>
      </p:sp>
      <p:sp>
        <p:nvSpPr>
          <p:cNvPr id="29" name="S03-card115"/>
          <p:cNvSpPr/>
          <p:nvPr/>
        </p:nvSpPr>
        <p:spPr>
          <a:xfrm>
            <a:off x="6920911" y="2479548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3-cardtext116"/>
          <p:cNvSpPr txBox="1"/>
          <p:nvPr/>
        </p:nvSpPr>
        <p:spPr>
          <a:xfrm>
            <a:off x="7195231" y="2616708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쪽에서 적은 쪽으로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블록을 옮겨 높이를 같게 해요.</a:t>
            </a:r>
            <a:endParaRPr lang="ko-KR" sz="2800" dirty="0"/>
          </a:p>
        </p:txBody>
      </p:sp>
      <p:sp>
        <p:nvSpPr>
          <p:cNvPr id="31" name="S03-card117"/>
          <p:cNvSpPr/>
          <p:nvPr/>
        </p:nvSpPr>
        <p:spPr>
          <a:xfrm>
            <a:off x="6920911" y="4229100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118"/>
          <p:cNvSpPr txBox="1"/>
          <p:nvPr/>
        </p:nvSpPr>
        <p:spPr>
          <a:xfrm>
            <a:off x="7195231" y="4366260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봐요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쌓아 옮겨 봐요.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권씩이 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한 수가 평균</a:t>
            </a:r>
            <a:endParaRPr lang="ko-KR" sz="4000" dirty="0"/>
          </a:p>
        </p:txBody>
      </p:sp>
      <p:sp>
        <p:nvSpPr>
          <p:cNvPr id="3" name="S04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평균: 자료의 값을 고르게 하여 나타낸 수</a:t>
            </a:r>
            <a:endParaRPr lang="ko-KR" sz="2800" dirty="0"/>
          </a:p>
        </p:txBody>
      </p:sp>
      <p:sp>
        <p:nvSpPr>
          <p:cNvPr id="5" name="S04-figure121" descr="블록을 옮겨 고르게 한 그림: 민지의 블록 1개를 준호에게, 서연의 블록 2개를 도윤에게 옮겨 모두 4권이 됨(옮긴 블록은 노란색, 원래 자리는 점선)"/>
          <p:cNvSpPr/>
          <p:nvPr/>
        </p:nvSpPr>
        <p:spPr>
          <a:xfrm>
            <a:off x="6927432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122"/>
          <p:cNvSpPr/>
          <p:nvPr/>
        </p:nvSpPr>
        <p:spPr>
          <a:xfrm>
            <a:off x="6927432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123"/>
          <p:cNvSpPr/>
          <p:nvPr/>
        </p:nvSpPr>
        <p:spPr>
          <a:xfrm>
            <a:off x="6927432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124"/>
          <p:cNvSpPr/>
          <p:nvPr/>
        </p:nvSpPr>
        <p:spPr>
          <a:xfrm>
            <a:off x="6927432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125"/>
          <p:cNvSpPr/>
          <p:nvPr/>
        </p:nvSpPr>
        <p:spPr>
          <a:xfrm>
            <a:off x="6927432" y="2338597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10" name="S04-mark126"/>
          <p:cNvSpPr/>
          <p:nvPr/>
        </p:nvSpPr>
        <p:spPr>
          <a:xfrm>
            <a:off x="7812095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mark127"/>
          <p:cNvSpPr/>
          <p:nvPr/>
        </p:nvSpPr>
        <p:spPr>
          <a:xfrm>
            <a:off x="7812095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mark128"/>
          <p:cNvSpPr/>
          <p:nvPr/>
        </p:nvSpPr>
        <p:spPr>
          <a:xfrm>
            <a:off x="7812095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129"/>
          <p:cNvSpPr/>
          <p:nvPr/>
        </p:nvSpPr>
        <p:spPr>
          <a:xfrm>
            <a:off x="7812095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mark130"/>
          <p:cNvSpPr/>
          <p:nvPr/>
        </p:nvSpPr>
        <p:spPr>
          <a:xfrm>
            <a:off x="8696759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mark131"/>
          <p:cNvSpPr/>
          <p:nvPr/>
        </p:nvSpPr>
        <p:spPr>
          <a:xfrm>
            <a:off x="8696759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mark132"/>
          <p:cNvSpPr/>
          <p:nvPr/>
        </p:nvSpPr>
        <p:spPr>
          <a:xfrm>
            <a:off x="8696759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mark133"/>
          <p:cNvSpPr/>
          <p:nvPr/>
        </p:nvSpPr>
        <p:spPr>
          <a:xfrm>
            <a:off x="8696759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134"/>
          <p:cNvSpPr/>
          <p:nvPr/>
        </p:nvSpPr>
        <p:spPr>
          <a:xfrm>
            <a:off x="8696759" y="2338597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19" name="S04-mark135"/>
          <p:cNvSpPr/>
          <p:nvPr/>
        </p:nvSpPr>
        <p:spPr>
          <a:xfrm>
            <a:off x="8696759" y="1896265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noFill/>
          <a:ln w="15875">
            <a:solidFill>
              <a:srgbClr val="1F2937"/>
            </a:solidFill>
            <a:prstDash val="dash"/>
          </a:ln>
        </p:spPr>
      </p:sp>
      <p:sp>
        <p:nvSpPr>
          <p:cNvPr id="20" name="S04-mark136"/>
          <p:cNvSpPr/>
          <p:nvPr/>
        </p:nvSpPr>
        <p:spPr>
          <a:xfrm>
            <a:off x="9581422" y="4107923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mark137"/>
          <p:cNvSpPr/>
          <p:nvPr/>
        </p:nvSpPr>
        <p:spPr>
          <a:xfrm>
            <a:off x="9581422" y="3665592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mark138"/>
          <p:cNvSpPr/>
          <p:nvPr/>
        </p:nvSpPr>
        <p:spPr>
          <a:xfrm>
            <a:off x="9581422" y="3223260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139"/>
          <p:cNvSpPr/>
          <p:nvPr/>
        </p:nvSpPr>
        <p:spPr>
          <a:xfrm>
            <a:off x="9581422" y="2780928"/>
            <a:ext cx="442332" cy="442332"/>
          </a:xfrm>
          <a:custGeom>
            <a:avLst/>
            <a:gdLst/>
            <a:ahLst/>
            <a:cxnLst/>
            <a:rect l="l" t="t" r="r" b="b"/>
            <a:pathLst>
              <a:path w="442332" h="442332">
                <a:moveTo>
                  <a:pt x="0" y="442332"/>
                </a:moveTo>
                <a:lnTo>
                  <a:pt x="442332" y="442332"/>
                </a:lnTo>
                <a:lnTo>
                  <a:pt x="442332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mark140"/>
          <p:cNvSpPr/>
          <p:nvPr/>
        </p:nvSpPr>
        <p:spPr>
          <a:xfrm>
            <a:off x="6706266" y="4550255"/>
            <a:ext cx="35386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4-mark141"/>
          <p:cNvSpPr/>
          <p:nvPr/>
        </p:nvSpPr>
        <p:spPr>
          <a:xfrm>
            <a:off x="7259181" y="2559762"/>
            <a:ext cx="663498" cy="442332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6" name="S04-mark142"/>
          <p:cNvSpPr/>
          <p:nvPr/>
        </p:nvSpPr>
        <p:spPr>
          <a:xfrm>
            <a:off x="9028508" y="2117431"/>
            <a:ext cx="663498" cy="884663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7" name="S04-mark143"/>
          <p:cNvSpPr/>
          <p:nvPr/>
        </p:nvSpPr>
        <p:spPr>
          <a:xfrm>
            <a:off x="9028508" y="2559762"/>
            <a:ext cx="663498" cy="884663"/>
          </a:xfrm>
          <a:prstGeom prst="line">
            <a:avLst/>
          </a:prstGeom>
          <a:noFill/>
          <a:ln w="254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mark144"/>
          <p:cNvSpPr/>
          <p:nvPr/>
        </p:nvSpPr>
        <p:spPr>
          <a:xfrm>
            <a:off x="6706266" y="2780928"/>
            <a:ext cx="353865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9" name="S04-label146"/>
          <p:cNvSpPr txBox="1"/>
          <p:nvPr/>
        </p:nvSpPr>
        <p:spPr>
          <a:xfrm>
            <a:off x="6819922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</a:t>
            </a:r>
            <a:endParaRPr lang="ko-KR" sz="2200" dirty="0"/>
          </a:p>
        </p:txBody>
      </p:sp>
      <p:sp>
        <p:nvSpPr>
          <p:cNvPr id="30" name="S04-label148"/>
          <p:cNvSpPr txBox="1"/>
          <p:nvPr/>
        </p:nvSpPr>
        <p:spPr>
          <a:xfrm>
            <a:off x="7704585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2200" dirty="0"/>
          </a:p>
        </p:txBody>
      </p:sp>
      <p:sp>
        <p:nvSpPr>
          <p:cNvPr id="31" name="S04-label150"/>
          <p:cNvSpPr txBox="1"/>
          <p:nvPr/>
        </p:nvSpPr>
        <p:spPr>
          <a:xfrm>
            <a:off x="8589249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</a:t>
            </a:r>
            <a:endParaRPr lang="ko-KR" sz="2200" dirty="0"/>
          </a:p>
        </p:txBody>
      </p:sp>
      <p:sp>
        <p:nvSpPr>
          <p:cNvPr id="32" name="S04-label152"/>
          <p:cNvSpPr txBox="1"/>
          <p:nvPr/>
        </p:nvSpPr>
        <p:spPr>
          <a:xfrm>
            <a:off x="9473912" y="466314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</a:t>
            </a:r>
            <a:endParaRPr lang="ko-KR" sz="2200" dirty="0"/>
          </a:p>
        </p:txBody>
      </p:sp>
      <p:sp>
        <p:nvSpPr>
          <p:cNvPr id="33" name="S04-label154"/>
          <p:cNvSpPr txBox="1"/>
          <p:nvPr/>
        </p:nvSpPr>
        <p:spPr>
          <a:xfrm>
            <a:off x="10317136" y="2606303"/>
            <a:ext cx="6517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권</a:t>
            </a:r>
            <a:endParaRPr lang="ko-KR" sz="2200" dirty="0"/>
          </a:p>
        </p:txBody>
      </p:sp>
      <p:sp>
        <p:nvSpPr>
          <p:cNvPr id="34" name="S04-stepno155"/>
          <p:cNvSpPr txBox="1"/>
          <p:nvPr/>
        </p:nvSpPr>
        <p:spPr>
          <a:xfrm>
            <a:off x="548640" y="16586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4-text156"/>
          <p:cNvSpPr txBox="1"/>
          <p:nvPr/>
        </p:nvSpPr>
        <p:spPr>
          <a:xfrm>
            <a:off x="1325880" y="1612900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1권을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준호에게 옮겨요.</a:t>
            </a:r>
            <a:endParaRPr lang="ko-KR" sz="2200" dirty="0"/>
          </a:p>
        </p:txBody>
      </p:sp>
      <p:sp>
        <p:nvSpPr>
          <p:cNvPr id="36" name="S04-stepno157"/>
          <p:cNvSpPr txBox="1"/>
          <p:nvPr/>
        </p:nvSpPr>
        <p:spPr>
          <a:xfrm>
            <a:off x="548640" y="25049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4-text158"/>
          <p:cNvSpPr txBox="1"/>
          <p:nvPr/>
        </p:nvSpPr>
        <p:spPr>
          <a:xfrm>
            <a:off x="1325880" y="2459228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서연의 2권을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도윤에게 옮겨요.</a:t>
            </a:r>
            <a:endParaRPr lang="ko-KR" sz="2200" dirty="0"/>
          </a:p>
        </p:txBody>
      </p:sp>
      <p:sp>
        <p:nvSpPr>
          <p:cNvPr id="38" name="S04-stepno159"/>
          <p:cNvSpPr txBox="1"/>
          <p:nvPr/>
        </p:nvSpPr>
        <p:spPr>
          <a:xfrm>
            <a:off x="548640" y="3351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4-text160"/>
          <p:cNvSpPr txBox="1"/>
          <p:nvPr/>
        </p:nvSpPr>
        <p:spPr>
          <a:xfrm>
            <a:off x="1325880" y="3305556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4 권으로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같아졌어요.</a:t>
            </a:r>
            <a:endParaRPr lang="ko-KR" sz="2200" dirty="0"/>
          </a:p>
        </p:txBody>
      </p:sp>
      <p:sp>
        <p:nvSpPr>
          <p:cNvPr id="40" name="S04-stepno161"/>
          <p:cNvSpPr txBox="1"/>
          <p:nvPr/>
        </p:nvSpPr>
        <p:spPr>
          <a:xfrm>
            <a:off x="548640" y="4197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1" name="S04-text162"/>
          <p:cNvSpPr txBox="1"/>
          <p:nvPr/>
        </p:nvSpPr>
        <p:spPr>
          <a:xfrm>
            <a:off x="1325880" y="4151884"/>
            <a:ext cx="4371198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권이 네 친구가 읽은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수의 평균이에요.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모아 똑같이 나누기</a:t>
            </a:r>
            <a:endParaRPr lang="ko-KR" sz="4000" dirty="0"/>
          </a:p>
        </p:txBody>
      </p:sp>
      <p:sp>
        <p:nvSpPr>
          <p:cNvPr id="3" name="S05-text1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16권을 4명이 똑같이 나누면?</a:t>
            </a:r>
            <a:endParaRPr lang="ko-KR" sz="2800" dirty="0"/>
          </a:p>
        </p:txBody>
      </p:sp>
      <p:sp>
        <p:nvSpPr>
          <p:cNvPr id="4" name="S05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= (자료의 합) ÷ (자료의 수)</a:t>
            </a:r>
            <a:endParaRPr lang="ko-KR" sz="2800" dirty="0"/>
          </a:p>
        </p:txBody>
      </p:sp>
      <p:sp>
        <p:nvSpPr>
          <p:cNvPr id="6" name="S05-dot166"/>
          <p:cNvSpPr/>
          <p:nvPr/>
        </p:nvSpPr>
        <p:spPr>
          <a:xfrm>
            <a:off x="170078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167"/>
          <p:cNvSpPr/>
          <p:nvPr/>
        </p:nvSpPr>
        <p:spPr>
          <a:xfrm>
            <a:off x="224942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68"/>
          <p:cNvSpPr/>
          <p:nvPr/>
        </p:nvSpPr>
        <p:spPr>
          <a:xfrm>
            <a:off x="279806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69"/>
          <p:cNvSpPr/>
          <p:nvPr/>
        </p:nvSpPr>
        <p:spPr>
          <a:xfrm>
            <a:off x="3346704" y="25731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70"/>
          <p:cNvSpPr/>
          <p:nvPr/>
        </p:nvSpPr>
        <p:spPr>
          <a:xfrm>
            <a:off x="170078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71"/>
          <p:cNvSpPr/>
          <p:nvPr/>
        </p:nvSpPr>
        <p:spPr>
          <a:xfrm>
            <a:off x="224942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dot172"/>
          <p:cNvSpPr/>
          <p:nvPr/>
        </p:nvSpPr>
        <p:spPr>
          <a:xfrm>
            <a:off x="279806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dot173"/>
          <p:cNvSpPr/>
          <p:nvPr/>
        </p:nvSpPr>
        <p:spPr>
          <a:xfrm>
            <a:off x="3346704" y="31217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dot174"/>
          <p:cNvSpPr/>
          <p:nvPr/>
        </p:nvSpPr>
        <p:spPr>
          <a:xfrm>
            <a:off x="170078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75"/>
          <p:cNvSpPr/>
          <p:nvPr/>
        </p:nvSpPr>
        <p:spPr>
          <a:xfrm>
            <a:off x="224942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76"/>
          <p:cNvSpPr/>
          <p:nvPr/>
        </p:nvSpPr>
        <p:spPr>
          <a:xfrm>
            <a:off x="279806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77"/>
          <p:cNvSpPr/>
          <p:nvPr/>
        </p:nvSpPr>
        <p:spPr>
          <a:xfrm>
            <a:off x="3346704" y="36704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dot178"/>
          <p:cNvSpPr/>
          <p:nvPr/>
        </p:nvSpPr>
        <p:spPr>
          <a:xfrm>
            <a:off x="170078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dot179"/>
          <p:cNvSpPr/>
          <p:nvPr/>
        </p:nvSpPr>
        <p:spPr>
          <a:xfrm>
            <a:off x="224942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5-dot180"/>
          <p:cNvSpPr/>
          <p:nvPr/>
        </p:nvSpPr>
        <p:spPr>
          <a:xfrm>
            <a:off x="279806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81"/>
          <p:cNvSpPr/>
          <p:nvPr/>
        </p:nvSpPr>
        <p:spPr>
          <a:xfrm>
            <a:off x="3346704" y="4219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group182"/>
          <p:cNvSpPr/>
          <p:nvPr/>
        </p:nvSpPr>
        <p:spPr>
          <a:xfrm>
            <a:off x="1623974" y="250545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5-group183"/>
          <p:cNvSpPr/>
          <p:nvPr/>
        </p:nvSpPr>
        <p:spPr>
          <a:xfrm>
            <a:off x="1623974" y="305409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05-group184"/>
          <p:cNvSpPr/>
          <p:nvPr/>
        </p:nvSpPr>
        <p:spPr>
          <a:xfrm>
            <a:off x="1623974" y="360273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5-group185"/>
          <p:cNvSpPr/>
          <p:nvPr/>
        </p:nvSpPr>
        <p:spPr>
          <a:xfrm>
            <a:off x="1623974" y="4151376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5-figure186" descr="바둑돌 16개를 4줄에 4개씩 똑같이 나눈 배열"/>
          <p:cNvSpPr/>
          <p:nvPr/>
        </p:nvSpPr>
        <p:spPr>
          <a:xfrm>
            <a:off x="1596542" y="246888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card187"/>
          <p:cNvSpPr/>
          <p:nvPr/>
        </p:nvSpPr>
        <p:spPr>
          <a:xfrm>
            <a:off x="5204765" y="2255012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05-cardtext188"/>
          <p:cNvSpPr txBox="1"/>
          <p:nvPr/>
        </p:nvSpPr>
        <p:spPr>
          <a:xfrm>
            <a:off x="5479085" y="2392172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+ 6 + 2 = 16 (권)</a:t>
            </a:r>
            <a:endParaRPr lang="ko-KR" sz="2800" dirty="0"/>
          </a:p>
        </p:txBody>
      </p:sp>
      <p:sp>
        <p:nvSpPr>
          <p:cNvPr id="29" name="S05-card189"/>
          <p:cNvSpPr/>
          <p:nvPr/>
        </p:nvSpPr>
        <p:spPr>
          <a:xfrm>
            <a:off x="5204765" y="3680460"/>
            <a:ext cx="64355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0" name="S05-cardtext190"/>
          <p:cNvSpPr txBox="1"/>
          <p:nvPr/>
        </p:nvSpPr>
        <p:spPr>
          <a:xfrm>
            <a:off x="5479085" y="3817620"/>
            <a:ext cx="58869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수는 4명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÷ 4 = 4 (권)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해 봐요</a:t>
            </a:r>
            <a:endParaRPr lang="ko-KR" sz="4000" dirty="0"/>
          </a:p>
        </p:txBody>
      </p:sp>
      <p:sp>
        <p:nvSpPr>
          <p:cNvPr id="3" name="S06-text1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요일별로 접은 종이학 수예요.</a:t>
            </a:r>
            <a:endParaRPr lang="ko-KR" sz="2800" dirty="0"/>
          </a:p>
        </p:txBody>
      </p:sp>
      <p:sp>
        <p:nvSpPr>
          <p:cNvPr id="4" name="S06-figure192" descr="요일별 접은 종이학 수 블록: 월 7, 화 4, 수 5, 목 8"/>
          <p:cNvSpPr/>
          <p:nvPr/>
        </p:nvSpPr>
        <p:spPr>
          <a:xfrm>
            <a:off x="7573040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6-mark193"/>
          <p:cNvSpPr/>
          <p:nvPr/>
        </p:nvSpPr>
        <p:spPr>
          <a:xfrm>
            <a:off x="7573040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194"/>
          <p:cNvSpPr/>
          <p:nvPr/>
        </p:nvSpPr>
        <p:spPr>
          <a:xfrm>
            <a:off x="7573040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95"/>
          <p:cNvSpPr/>
          <p:nvPr/>
        </p:nvSpPr>
        <p:spPr>
          <a:xfrm>
            <a:off x="7573040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196"/>
          <p:cNvSpPr/>
          <p:nvPr/>
        </p:nvSpPr>
        <p:spPr>
          <a:xfrm>
            <a:off x="7573040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197"/>
          <p:cNvSpPr/>
          <p:nvPr/>
        </p:nvSpPr>
        <p:spPr>
          <a:xfrm>
            <a:off x="7573040" y="3322918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198"/>
          <p:cNvSpPr/>
          <p:nvPr/>
        </p:nvSpPr>
        <p:spPr>
          <a:xfrm>
            <a:off x="7573040" y="2926976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199"/>
          <p:cNvSpPr/>
          <p:nvPr/>
        </p:nvSpPr>
        <p:spPr>
          <a:xfrm>
            <a:off x="8364922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0"/>
          <p:cNvSpPr/>
          <p:nvPr/>
        </p:nvSpPr>
        <p:spPr>
          <a:xfrm>
            <a:off x="8364922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1"/>
          <p:cNvSpPr/>
          <p:nvPr/>
        </p:nvSpPr>
        <p:spPr>
          <a:xfrm>
            <a:off x="8364922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mark202"/>
          <p:cNvSpPr/>
          <p:nvPr/>
        </p:nvSpPr>
        <p:spPr>
          <a:xfrm>
            <a:off x="8364922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mark203"/>
          <p:cNvSpPr/>
          <p:nvPr/>
        </p:nvSpPr>
        <p:spPr>
          <a:xfrm>
            <a:off x="9156805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204"/>
          <p:cNvSpPr/>
          <p:nvPr/>
        </p:nvSpPr>
        <p:spPr>
          <a:xfrm>
            <a:off x="9156805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mark205"/>
          <p:cNvSpPr/>
          <p:nvPr/>
        </p:nvSpPr>
        <p:spPr>
          <a:xfrm>
            <a:off x="9156805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mark206"/>
          <p:cNvSpPr/>
          <p:nvPr/>
        </p:nvSpPr>
        <p:spPr>
          <a:xfrm>
            <a:off x="9156805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mark207"/>
          <p:cNvSpPr/>
          <p:nvPr/>
        </p:nvSpPr>
        <p:spPr>
          <a:xfrm>
            <a:off x="9156805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mark208"/>
          <p:cNvSpPr/>
          <p:nvPr/>
        </p:nvSpPr>
        <p:spPr>
          <a:xfrm>
            <a:off x="9948687" y="5302624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mark209"/>
          <p:cNvSpPr/>
          <p:nvPr/>
        </p:nvSpPr>
        <p:spPr>
          <a:xfrm>
            <a:off x="9948687" y="4906682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mark210"/>
          <p:cNvSpPr/>
          <p:nvPr/>
        </p:nvSpPr>
        <p:spPr>
          <a:xfrm>
            <a:off x="9948687" y="4510741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mark211"/>
          <p:cNvSpPr/>
          <p:nvPr/>
        </p:nvSpPr>
        <p:spPr>
          <a:xfrm>
            <a:off x="9948687" y="4114800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mark212"/>
          <p:cNvSpPr/>
          <p:nvPr/>
        </p:nvSpPr>
        <p:spPr>
          <a:xfrm>
            <a:off x="9948687" y="3718859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mark213"/>
          <p:cNvSpPr/>
          <p:nvPr/>
        </p:nvSpPr>
        <p:spPr>
          <a:xfrm>
            <a:off x="9948687" y="3322918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mark214"/>
          <p:cNvSpPr/>
          <p:nvPr/>
        </p:nvSpPr>
        <p:spPr>
          <a:xfrm>
            <a:off x="9948687" y="2926976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mark215"/>
          <p:cNvSpPr/>
          <p:nvPr/>
        </p:nvSpPr>
        <p:spPr>
          <a:xfrm>
            <a:off x="9948687" y="2531035"/>
            <a:ext cx="395941" cy="395941"/>
          </a:xfrm>
          <a:custGeom>
            <a:avLst/>
            <a:gdLst/>
            <a:ahLst/>
            <a:cxnLst/>
            <a:rect l="l" t="t" r="r" b="b"/>
            <a:pathLst>
              <a:path w="395941" h="395941">
                <a:moveTo>
                  <a:pt x="0" y="395941"/>
                </a:moveTo>
                <a:lnTo>
                  <a:pt x="395941" y="395941"/>
                </a:lnTo>
                <a:lnTo>
                  <a:pt x="395941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mark216"/>
          <p:cNvSpPr/>
          <p:nvPr/>
        </p:nvSpPr>
        <p:spPr>
          <a:xfrm>
            <a:off x="7375069" y="5698565"/>
            <a:ext cx="316752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9" name="S06-label218"/>
          <p:cNvSpPr txBox="1"/>
          <p:nvPr/>
        </p:nvSpPr>
        <p:spPr>
          <a:xfrm>
            <a:off x="7579240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200" dirty="0"/>
          </a:p>
        </p:txBody>
      </p:sp>
      <p:sp>
        <p:nvSpPr>
          <p:cNvPr id="30" name="S06-label220"/>
          <p:cNvSpPr txBox="1"/>
          <p:nvPr/>
        </p:nvSpPr>
        <p:spPr>
          <a:xfrm>
            <a:off x="7350132" y="2514787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7마리</a:t>
            </a:r>
            <a:endParaRPr lang="ko-KR" sz="2200" dirty="0"/>
          </a:p>
        </p:txBody>
      </p:sp>
      <p:sp>
        <p:nvSpPr>
          <p:cNvPr id="31" name="S06-label222"/>
          <p:cNvSpPr txBox="1"/>
          <p:nvPr/>
        </p:nvSpPr>
        <p:spPr>
          <a:xfrm>
            <a:off x="8371123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200" dirty="0"/>
          </a:p>
        </p:txBody>
      </p:sp>
      <p:sp>
        <p:nvSpPr>
          <p:cNvPr id="32" name="S06-label224"/>
          <p:cNvSpPr txBox="1"/>
          <p:nvPr/>
        </p:nvSpPr>
        <p:spPr>
          <a:xfrm>
            <a:off x="8142015" y="3702610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4마리</a:t>
            </a:r>
            <a:endParaRPr lang="ko-KR" sz="2200" dirty="0"/>
          </a:p>
        </p:txBody>
      </p:sp>
      <p:sp>
        <p:nvSpPr>
          <p:cNvPr id="33" name="S06-label226"/>
          <p:cNvSpPr txBox="1"/>
          <p:nvPr/>
        </p:nvSpPr>
        <p:spPr>
          <a:xfrm>
            <a:off x="9163005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200" dirty="0"/>
          </a:p>
        </p:txBody>
      </p:sp>
      <p:sp>
        <p:nvSpPr>
          <p:cNvPr id="34" name="S06-label228"/>
          <p:cNvSpPr txBox="1"/>
          <p:nvPr/>
        </p:nvSpPr>
        <p:spPr>
          <a:xfrm>
            <a:off x="8933897" y="3306669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5마리</a:t>
            </a:r>
            <a:endParaRPr lang="ko-KR" sz="2200" dirty="0"/>
          </a:p>
        </p:txBody>
      </p:sp>
      <p:sp>
        <p:nvSpPr>
          <p:cNvPr id="35" name="S06-label230"/>
          <p:cNvSpPr txBox="1"/>
          <p:nvPr/>
        </p:nvSpPr>
        <p:spPr>
          <a:xfrm>
            <a:off x="9954888" y="578130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200" dirty="0"/>
          </a:p>
        </p:txBody>
      </p:sp>
      <p:sp>
        <p:nvSpPr>
          <p:cNvPr id="36" name="S06-label232"/>
          <p:cNvSpPr txBox="1"/>
          <p:nvPr/>
        </p:nvSpPr>
        <p:spPr>
          <a:xfrm>
            <a:off x="9725780" y="2118846"/>
            <a:ext cx="8417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8마리</a:t>
            </a:r>
            <a:endParaRPr lang="ko-KR" sz="2200" dirty="0"/>
          </a:p>
        </p:txBody>
      </p:sp>
      <p:sp>
        <p:nvSpPr>
          <p:cNvPr id="37" name="S06-chip2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8" name="S06-text2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고르게 하면 하루에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마리일까요?</a:t>
            </a:r>
            <a:endParaRPr lang="ko-KR" sz="2800" dirty="0"/>
          </a:p>
        </p:txBody>
      </p:sp>
      <p:sp>
        <p:nvSpPr>
          <p:cNvPr id="39" name="S06-chip2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0" name="S06-text2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어디로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마리를 옮겼나요?</a:t>
            </a:r>
            <a:endParaRPr lang="ko-KR" sz="2800" dirty="0"/>
          </a:p>
        </p:txBody>
      </p:sp>
      <p:sp>
        <p:nvSpPr>
          <p:cNvPr id="41" name="S06-chip2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2" name="S06-text2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 ÷ 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 ÷ 수로 구해요</a:t>
            </a:r>
            <a:endParaRPr lang="ko-KR" sz="4000" dirty="0"/>
          </a:p>
        </p:txBody>
      </p:sp>
      <p:sp>
        <p:nvSpPr>
          <p:cNvPr id="3" name="S07-text2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줄넘기를 5번 했어요.</a:t>
            </a:r>
            <a:endParaRPr lang="ko-KR" sz="2800" dirty="0"/>
          </a:p>
        </p:txBody>
      </p:sp>
      <p:graphicFrame>
        <p:nvGraphicFramePr>
          <p:cNvPr id="8" name="S07-table2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7074" y="3633216"/>
          <a:ext cx="5303520" cy="914400"/>
        </p:xfrm>
        <a:graphic>
          <a:graphicData uri="http://schemas.openxmlformats.org/drawingml/2006/table">
            <a:tbl>
              <a:tblPr/>
              <a:tblGrid>
                <a:gridCol w="1591056"/>
                <a:gridCol w="742493"/>
                <a:gridCol w="742493"/>
                <a:gridCol w="742493"/>
                <a:gridCol w="742493"/>
                <a:gridCol w="742493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기록(번)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7-chip24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242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합은?</a:t>
            </a:r>
            <a:endParaRPr lang="ko-KR" sz="2800" dirty="0"/>
          </a:p>
        </p:txBody>
      </p:sp>
      <p:sp>
        <p:nvSpPr>
          <p:cNvPr id="7" name="S07-chip24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24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자료의 수는?</a:t>
            </a:r>
            <a:endParaRPr lang="ko-KR" sz="2800" dirty="0"/>
          </a:p>
        </p:txBody>
      </p:sp>
      <p:sp>
        <p:nvSpPr>
          <p:cNvPr id="9" name="S07-chip24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246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평균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넘었나요?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0쪽인 날도 셀까요?</a:t>
            </a:r>
            <a:endParaRPr lang="ko-KR" sz="4000" dirty="0"/>
          </a:p>
        </p:txBody>
      </p:sp>
      <p:sp>
        <p:nvSpPr>
          <p:cNvPr id="3" name="S08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동안 읽은 쪽수의 평균을 구했어요.</a:t>
            </a:r>
            <a:endParaRPr lang="ko-KR" sz="2800" dirty="0"/>
          </a:p>
        </p:txBody>
      </p:sp>
      <p:sp>
        <p:nvSpPr>
          <p:cNvPr id="4" name="S08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평균이 맞을까요? 까닭을 말해요.</a:t>
            </a:r>
            <a:endParaRPr lang="ko-KR" sz="2800" dirty="0"/>
          </a:p>
        </p:txBody>
      </p:sp>
      <p:sp>
        <p:nvSpPr>
          <p:cNvPr id="6" name="S08-card250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251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 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0쪽인 날은 빼요.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3 = 8</a:t>
            </a:r>
            <a:endParaRPr lang="ko-KR" sz="2800" dirty="0"/>
          </a:p>
        </p:txBody>
      </p:sp>
      <p:sp>
        <p:nvSpPr>
          <p:cNvPr id="8" name="S08-card252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253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 쪽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모두 세요.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4 = 6</a:t>
            </a:r>
            <a:endParaRPr lang="ko-KR" sz="2800" dirty="0"/>
          </a:p>
        </p:txBody>
      </p:sp>
      <p:graphicFrame>
        <p:nvGraphicFramePr>
          <p:cNvPr id="9" name="S08-table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51076" y="2178812"/>
          <a:ext cx="8686800" cy="914400"/>
        </p:xfrm>
        <a:graphic>
          <a:graphicData uri="http://schemas.openxmlformats.org/drawingml/2006/table">
            <a:tbl>
              <a:tblPr/>
              <a:tblGrid>
                <a:gridCol w="2779776"/>
                <a:gridCol w="1476756"/>
                <a:gridCol w="1476756"/>
                <a:gridCol w="1476756"/>
                <a:gridCol w="1476756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요일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읽은 쪽수(쪽)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다른 두 모둠</a:t>
            </a:r>
            <a:endParaRPr lang="ko-KR" sz="4000" dirty="0"/>
          </a:p>
        </p:txBody>
      </p:sp>
      <p:sp>
        <p:nvSpPr>
          <p:cNvPr id="3" name="S09-text25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고리 던지기는 어느 모둠이 더 잘했을까요?</a:t>
            </a:r>
            <a:endParaRPr lang="ko-KR" sz="2800" dirty="0"/>
          </a:p>
        </p:txBody>
      </p:sp>
      <p:graphicFrame>
        <p:nvGraphicFramePr>
          <p:cNvPr id="10" name="S09-table2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99133" y="3689604"/>
          <a:ext cx="5041179" cy="914400"/>
        </p:xfrm>
        <a:graphic>
          <a:graphicData uri="http://schemas.openxmlformats.org/drawingml/2006/table">
            <a:tbl>
              <a:tblPr/>
              <a:tblGrid>
                <a:gridCol w="2117295"/>
                <a:gridCol w="292388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넣은 고리 수(개)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모둠(4명)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9, 10, 8, 9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모둠(5명)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8, 6, 10, 7, 9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stepno257"/>
          <p:cNvSpPr txBox="1"/>
          <p:nvPr/>
        </p:nvSpPr>
        <p:spPr>
          <a:xfrm>
            <a:off x="548640" y="28681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9-text258"/>
          <p:cNvSpPr txBox="1"/>
          <p:nvPr/>
        </p:nvSpPr>
        <p:spPr>
          <a:xfrm>
            <a:off x="1325880" y="2868168"/>
            <a:ext cx="490749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합: 가 36개, 나 40개</a:t>
            </a:r>
            <a:endParaRPr lang="ko-KR" sz="2200" dirty="0"/>
          </a:p>
        </p:txBody>
      </p:sp>
      <p:sp>
        <p:nvSpPr>
          <p:cNvPr id="7" name="S09-stepno259"/>
          <p:cNvSpPr txBox="1"/>
          <p:nvPr/>
        </p:nvSpPr>
        <p:spPr>
          <a:xfrm>
            <a:off x="548640" y="36271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9-text260"/>
          <p:cNvSpPr txBox="1"/>
          <p:nvPr/>
        </p:nvSpPr>
        <p:spPr>
          <a:xfrm>
            <a:off x="1325880" y="3581400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달라요.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4명, 나 5명</a:t>
            </a:r>
            <a:endParaRPr lang="ko-KR" sz="2200" dirty="0"/>
          </a:p>
        </p:txBody>
      </p:sp>
      <p:sp>
        <p:nvSpPr>
          <p:cNvPr id="9" name="S09-stepno261"/>
          <p:cNvSpPr txBox="1"/>
          <p:nvPr/>
        </p:nvSpPr>
        <p:spPr>
          <a:xfrm>
            <a:off x="548640" y="44734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9-text262"/>
          <p:cNvSpPr txBox="1"/>
          <p:nvPr/>
        </p:nvSpPr>
        <p:spPr>
          <a:xfrm>
            <a:off x="1325880" y="4427728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평균: 가 36 ÷ 4 = 9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40 ÷ 5 = 8</a:t>
            </a:r>
            <a:endParaRPr lang="ko-KR" sz="2200" dirty="0"/>
          </a:p>
        </p:txBody>
      </p:sp>
      <p:sp>
        <p:nvSpPr>
          <p:cNvPr id="11" name="S09-stepno263"/>
          <p:cNvSpPr txBox="1"/>
          <p:nvPr/>
        </p:nvSpPr>
        <p:spPr>
          <a:xfrm>
            <a:off x="548640" y="53197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9-text264"/>
          <p:cNvSpPr txBox="1"/>
          <p:nvPr/>
        </p:nvSpPr>
        <p:spPr>
          <a:xfrm>
            <a:off x="1325880" y="5274056"/>
            <a:ext cx="4907493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평균이 큰 가 모둠이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비교해요</a:t>
            </a:r>
            <a:endParaRPr lang="ko-KR" sz="4000" dirty="0"/>
          </a:p>
        </p:txBody>
      </p:sp>
      <p:graphicFrame>
        <p:nvGraphicFramePr>
          <p:cNvPr id="11" name="S10-table2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003042"/>
          <a:ext cx="5362956" cy="914400"/>
        </p:xfrm>
        <a:graphic>
          <a:graphicData uri="http://schemas.openxmlformats.org/drawingml/2006/table">
            <a:tbl>
              <a:tblPr/>
              <a:tblGrid>
                <a:gridCol w="2252442"/>
                <a:gridCol w="3110514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윗몸 일으키기(번)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 모둠(3명)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24, 21, 27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 모둠(4명)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20, 25, 18, 21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10-chip26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0-text26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모둠의 평균은?</a:t>
            </a:r>
            <a:endParaRPr lang="ko-KR" sz="2800" dirty="0"/>
          </a:p>
        </p:txBody>
      </p:sp>
      <p:sp>
        <p:nvSpPr>
          <p:cNvPr id="6" name="S10-chip26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0-text269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모둠의 평균은?</a:t>
            </a:r>
            <a:endParaRPr lang="ko-KR" sz="2800" dirty="0"/>
          </a:p>
        </p:txBody>
      </p:sp>
      <p:sp>
        <p:nvSpPr>
          <p:cNvPr id="8" name="S10-chip27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0-text271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모둠이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잘했나요?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figure272" descr="블록 막대 네 개: 가 2개, 나 6개, 다 4개, 라 8개"/>
          <p:cNvSpPr/>
          <p:nvPr/>
        </p:nvSpPr>
        <p:spPr>
          <a:xfrm>
            <a:off x="7337716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1-mark273"/>
          <p:cNvSpPr/>
          <p:nvPr/>
        </p:nvSpPr>
        <p:spPr>
          <a:xfrm>
            <a:off x="7337716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1-mark274"/>
          <p:cNvSpPr/>
          <p:nvPr/>
        </p:nvSpPr>
        <p:spPr>
          <a:xfrm>
            <a:off x="8264069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1-mark275"/>
          <p:cNvSpPr/>
          <p:nvPr/>
        </p:nvSpPr>
        <p:spPr>
          <a:xfrm>
            <a:off x="8264069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mark276"/>
          <p:cNvSpPr/>
          <p:nvPr/>
        </p:nvSpPr>
        <p:spPr>
          <a:xfrm>
            <a:off x="8264069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1-mark277"/>
          <p:cNvSpPr/>
          <p:nvPr/>
        </p:nvSpPr>
        <p:spPr>
          <a:xfrm>
            <a:off x="8264069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mark278"/>
          <p:cNvSpPr/>
          <p:nvPr/>
        </p:nvSpPr>
        <p:spPr>
          <a:xfrm>
            <a:off x="8264069" y="330872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1-mark279"/>
          <p:cNvSpPr/>
          <p:nvPr/>
        </p:nvSpPr>
        <p:spPr>
          <a:xfrm>
            <a:off x="8264069" y="2845547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mark280"/>
          <p:cNvSpPr/>
          <p:nvPr/>
        </p:nvSpPr>
        <p:spPr>
          <a:xfrm>
            <a:off x="9190422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1-mark281"/>
          <p:cNvSpPr/>
          <p:nvPr/>
        </p:nvSpPr>
        <p:spPr>
          <a:xfrm>
            <a:off x="9190422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mark282"/>
          <p:cNvSpPr/>
          <p:nvPr/>
        </p:nvSpPr>
        <p:spPr>
          <a:xfrm>
            <a:off x="9190422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mark283"/>
          <p:cNvSpPr/>
          <p:nvPr/>
        </p:nvSpPr>
        <p:spPr>
          <a:xfrm>
            <a:off x="9190422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mark284"/>
          <p:cNvSpPr/>
          <p:nvPr/>
        </p:nvSpPr>
        <p:spPr>
          <a:xfrm>
            <a:off x="10116775" y="5161429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mark285"/>
          <p:cNvSpPr/>
          <p:nvPr/>
        </p:nvSpPr>
        <p:spPr>
          <a:xfrm>
            <a:off x="10116775" y="4698253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mark286"/>
          <p:cNvSpPr/>
          <p:nvPr/>
        </p:nvSpPr>
        <p:spPr>
          <a:xfrm>
            <a:off x="10116775" y="4235076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1-mark287"/>
          <p:cNvSpPr/>
          <p:nvPr/>
        </p:nvSpPr>
        <p:spPr>
          <a:xfrm>
            <a:off x="10116775" y="3771900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mark288"/>
          <p:cNvSpPr/>
          <p:nvPr/>
        </p:nvSpPr>
        <p:spPr>
          <a:xfrm>
            <a:off x="10116775" y="330872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mark289"/>
          <p:cNvSpPr/>
          <p:nvPr/>
        </p:nvSpPr>
        <p:spPr>
          <a:xfrm>
            <a:off x="10116775" y="2845547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mark290"/>
          <p:cNvSpPr/>
          <p:nvPr/>
        </p:nvSpPr>
        <p:spPr>
          <a:xfrm>
            <a:off x="10116775" y="2382371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mark291"/>
          <p:cNvSpPr/>
          <p:nvPr/>
        </p:nvSpPr>
        <p:spPr>
          <a:xfrm>
            <a:off x="10116775" y="1919194"/>
            <a:ext cx="463176" cy="463176"/>
          </a:xfrm>
          <a:custGeom>
            <a:avLst/>
            <a:gdLst/>
            <a:ahLst/>
            <a:cxnLst/>
            <a:rect l="l" t="t" r="r" b="b"/>
            <a:pathLst>
              <a:path w="463176" h="463176">
                <a:moveTo>
                  <a:pt x="0" y="463176"/>
                </a:moveTo>
                <a:lnTo>
                  <a:pt x="463176" y="463176"/>
                </a:lnTo>
                <a:lnTo>
                  <a:pt x="4631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mark292"/>
          <p:cNvSpPr/>
          <p:nvPr/>
        </p:nvSpPr>
        <p:spPr>
          <a:xfrm>
            <a:off x="7106128" y="5624606"/>
            <a:ext cx="3705412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1-label294"/>
          <p:cNvSpPr txBox="1"/>
          <p:nvPr/>
        </p:nvSpPr>
        <p:spPr>
          <a:xfrm>
            <a:off x="7377535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25" name="S11-label296"/>
          <p:cNvSpPr txBox="1"/>
          <p:nvPr/>
        </p:nvSpPr>
        <p:spPr>
          <a:xfrm>
            <a:off x="8303888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6" name="S11-label298"/>
          <p:cNvSpPr txBox="1"/>
          <p:nvPr/>
        </p:nvSpPr>
        <p:spPr>
          <a:xfrm>
            <a:off x="9230240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27" name="S11-label300"/>
          <p:cNvSpPr txBox="1"/>
          <p:nvPr/>
        </p:nvSpPr>
        <p:spPr>
          <a:xfrm>
            <a:off x="10156593" y="575104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200" dirty="0"/>
          </a:p>
        </p:txBody>
      </p:sp>
      <p:sp>
        <p:nvSpPr>
          <p:cNvPr id="28" name="S11-chip30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29" name="S11-text30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막대를 고르게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하면 몇 칸일까요?</a:t>
            </a:r>
            <a:endParaRPr lang="ko-KR" sz="2800" dirty="0"/>
          </a:p>
        </p:txBody>
      </p:sp>
      <p:sp>
        <p:nvSpPr>
          <p:cNvPr id="30" name="S11-chip30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1" name="S11-text304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4일 동안 12, 0, 9, 11쪽을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읽었어요. 하루 평균은?</a:t>
            </a:r>
            <a:endParaRPr lang="ko-KR" sz="2800" dirty="0"/>
          </a:p>
        </p:txBody>
      </p:sp>
      <p:sp>
        <p:nvSpPr>
          <p:cNvPr id="32" name="S11-chip30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3" name="S11-text306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모둠 3명은 합이 45, 나 모둠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4명은 합이 56. 평균이 큰 모둠은?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평균을 바르게 말한 것은?</a:t>
            </a:r>
            <a:endParaRPr lang="ko-KR" sz="4000" dirty="0"/>
          </a:p>
        </p:txBody>
      </p:sp>
      <p:sp>
        <p:nvSpPr>
          <p:cNvPr id="3" name="S13-card3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것을 모두 고르고, 틀린 것은 고쳐 말해요.</a:t>
            </a:r>
            <a:endParaRPr lang="ko-KR" sz="2800" dirty="0"/>
          </a:p>
        </p:txBody>
      </p:sp>
      <p:sp>
        <p:nvSpPr>
          <p:cNvPr id="5" name="S13-chip30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3-card31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31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자료를 고르게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했을 때의 값이에요.</a:t>
            </a:r>
            <a:endParaRPr lang="ko-KR" sz="2800" dirty="0"/>
          </a:p>
        </p:txBody>
      </p:sp>
      <p:sp>
        <p:nvSpPr>
          <p:cNvPr id="8" name="S13-chip31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3-card31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3-cardtext31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언제나 자료 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큰 수예요.</a:t>
            </a:r>
            <a:endParaRPr lang="ko-KR" sz="2800" dirty="0"/>
          </a:p>
        </p:txBody>
      </p:sp>
      <p:sp>
        <p:nvSpPr>
          <p:cNvPr id="11" name="S13-chip31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3-card31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3-cardtext31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 자료는 빼고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나누어요.</a:t>
            </a:r>
            <a:endParaRPr lang="ko-KR" sz="2800" dirty="0"/>
          </a:p>
        </p:txBody>
      </p:sp>
      <p:sp>
        <p:nvSpPr>
          <p:cNvPr id="14" name="S13-chip31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3-card31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3-cardtext32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수가 다른 모둠은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평균으로 비교해요.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2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2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자료를 고르게 한 수예요.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= (자료의 합) ÷ (자료의 수)</a:t>
            </a:r>
            <a:endParaRPr lang="ko-KR" sz="2800" dirty="0"/>
          </a:p>
        </p:txBody>
      </p:sp>
      <p:sp>
        <p:nvSpPr>
          <p:cNvPr id="5" name="S14-chip32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0인 자료도 수에 넣기</a:t>
            </a:r>
            <a:endParaRPr lang="ko-KR" sz="2200" dirty="0"/>
          </a:p>
        </p:txBody>
      </p:sp>
      <p:sp>
        <p:nvSpPr>
          <p:cNvPr id="6" name="S14-chip32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사람 수가 다른데 합으로 비교하기</a:t>
            </a:r>
            <a:endParaRPr lang="ko-KR" sz="2200" dirty="0"/>
          </a:p>
        </p:txBody>
      </p:sp>
      <p:sp>
        <p:nvSpPr>
          <p:cNvPr id="7" name="S14-text32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32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6, 9, 3의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평균은?</a:t>
            </a:r>
            <a:endParaRPr lang="ko-KR" sz="2200" dirty="0"/>
          </a:p>
        </p:txBody>
      </p:sp>
      <p:sp>
        <p:nvSpPr>
          <p:cNvPr id="9" name="S14-text32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4명의 줄넘기 합이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120번일 때 평균은?</a:t>
            </a:r>
            <a:endParaRPr lang="ko-KR" sz="2200" dirty="0"/>
          </a:p>
        </p:txBody>
      </p:sp>
      <p:sp>
        <p:nvSpPr>
          <p:cNvPr id="10" name="S14-text32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평균 4권은 어떤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뜻일까요?</a:t>
            </a:r>
            <a:endParaRPr lang="ko-KR" sz="2200" dirty="0"/>
          </a:p>
        </p:txBody>
      </p:sp>
      <p:sp>
        <p:nvSpPr>
          <p:cNvPr id="11" name="S14-text32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일어날 가능성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막대그래프 읽기</a:t>
            </a:r>
            <a:endParaRPr lang="ko-KR" sz="4000" dirty="0"/>
          </a:p>
        </p:txBody>
      </p:sp>
      <p:sp>
        <p:nvSpPr>
          <p:cNvPr id="3" name="S15-figure330" descr="막대그래프 ‘좋아하는 과일별 학생 수’(세로 눈금 한 칸 1명): 사과 3, 배 5, 귤 2, 포도 6"/>
          <p:cNvSpPr/>
          <p:nvPr/>
        </p:nvSpPr>
        <p:spPr>
          <a:xfrm>
            <a:off x="1935653" y="4303112"/>
            <a:ext cx="542515" cy="1356287"/>
          </a:xfrm>
          <a:custGeom>
            <a:avLst/>
            <a:gdLst/>
            <a:ahLst/>
            <a:cxnLst/>
            <a:rect l="l" t="t" r="r" b="b"/>
            <a:pathLst>
              <a:path w="542515" h="1356287">
                <a:moveTo>
                  <a:pt x="0" y="1356287"/>
                </a:moveTo>
                <a:lnTo>
                  <a:pt x="542515" y="1356287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5-mark331"/>
          <p:cNvSpPr/>
          <p:nvPr/>
        </p:nvSpPr>
        <p:spPr>
          <a:xfrm>
            <a:off x="3020683" y="3398921"/>
            <a:ext cx="542515" cy="2260478"/>
          </a:xfrm>
          <a:custGeom>
            <a:avLst/>
            <a:gdLst/>
            <a:ahLst/>
            <a:cxnLst/>
            <a:rect l="l" t="t" r="r" b="b"/>
            <a:pathLst>
              <a:path w="542515" h="2260478">
                <a:moveTo>
                  <a:pt x="0" y="2260478"/>
                </a:moveTo>
                <a:lnTo>
                  <a:pt x="542515" y="2260478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5-mark332"/>
          <p:cNvSpPr/>
          <p:nvPr/>
        </p:nvSpPr>
        <p:spPr>
          <a:xfrm>
            <a:off x="4105713" y="4755208"/>
            <a:ext cx="542515" cy="904191"/>
          </a:xfrm>
          <a:custGeom>
            <a:avLst/>
            <a:gdLst/>
            <a:ahLst/>
            <a:cxnLst/>
            <a:rect l="l" t="t" r="r" b="b"/>
            <a:pathLst>
              <a:path w="542515" h="904191">
                <a:moveTo>
                  <a:pt x="0" y="904191"/>
                </a:moveTo>
                <a:lnTo>
                  <a:pt x="542515" y="904191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5-mark333"/>
          <p:cNvSpPr/>
          <p:nvPr/>
        </p:nvSpPr>
        <p:spPr>
          <a:xfrm>
            <a:off x="5190742" y="2946825"/>
            <a:ext cx="542515" cy="2712574"/>
          </a:xfrm>
          <a:custGeom>
            <a:avLst/>
            <a:gdLst/>
            <a:ahLst/>
            <a:cxnLst/>
            <a:rect l="l" t="t" r="r" b="b"/>
            <a:pathLst>
              <a:path w="542515" h="2712574">
                <a:moveTo>
                  <a:pt x="0" y="2712574"/>
                </a:moveTo>
                <a:lnTo>
                  <a:pt x="542515" y="2712574"/>
                </a:lnTo>
                <a:lnTo>
                  <a:pt x="542515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5-mark334"/>
          <p:cNvSpPr/>
          <p:nvPr/>
        </p:nvSpPr>
        <p:spPr>
          <a:xfrm>
            <a:off x="1528767" y="5207304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5-mark335"/>
          <p:cNvSpPr/>
          <p:nvPr/>
        </p:nvSpPr>
        <p:spPr>
          <a:xfrm>
            <a:off x="1528767" y="4755208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5-mark336"/>
          <p:cNvSpPr/>
          <p:nvPr/>
        </p:nvSpPr>
        <p:spPr>
          <a:xfrm>
            <a:off x="1528767" y="4303112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5-mark337"/>
          <p:cNvSpPr/>
          <p:nvPr/>
        </p:nvSpPr>
        <p:spPr>
          <a:xfrm>
            <a:off x="1528767" y="3851017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5-mark338"/>
          <p:cNvSpPr/>
          <p:nvPr/>
        </p:nvSpPr>
        <p:spPr>
          <a:xfrm>
            <a:off x="1528767" y="3398921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5-mark339"/>
          <p:cNvSpPr/>
          <p:nvPr/>
        </p:nvSpPr>
        <p:spPr>
          <a:xfrm>
            <a:off x="1528767" y="2946825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5-mark340"/>
          <p:cNvSpPr/>
          <p:nvPr/>
        </p:nvSpPr>
        <p:spPr>
          <a:xfrm>
            <a:off x="1528767" y="2494730"/>
            <a:ext cx="461137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5-mark341"/>
          <p:cNvSpPr/>
          <p:nvPr/>
        </p:nvSpPr>
        <p:spPr>
          <a:xfrm>
            <a:off x="1528767" y="5659400"/>
            <a:ext cx="46113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5-mark342"/>
          <p:cNvSpPr/>
          <p:nvPr/>
        </p:nvSpPr>
        <p:spPr>
          <a:xfrm flipV="1">
            <a:off x="1528767" y="2313891"/>
            <a:ext cx="0" cy="3345508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label344"/>
          <p:cNvSpPr txBox="1"/>
          <p:nvPr/>
        </p:nvSpPr>
        <p:spPr>
          <a:xfrm>
            <a:off x="1042629" y="54847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7" name="S15-label346"/>
          <p:cNvSpPr txBox="1"/>
          <p:nvPr/>
        </p:nvSpPr>
        <p:spPr>
          <a:xfrm>
            <a:off x="1042629" y="503267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15-label348"/>
          <p:cNvSpPr txBox="1"/>
          <p:nvPr/>
        </p:nvSpPr>
        <p:spPr>
          <a:xfrm>
            <a:off x="1042629" y="458058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9" name="S15-label350"/>
          <p:cNvSpPr txBox="1"/>
          <p:nvPr/>
        </p:nvSpPr>
        <p:spPr>
          <a:xfrm>
            <a:off x="1042629" y="412848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0" name="S15-label352"/>
          <p:cNvSpPr txBox="1"/>
          <p:nvPr/>
        </p:nvSpPr>
        <p:spPr>
          <a:xfrm>
            <a:off x="1042629" y="3676392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1" name="S15-label354"/>
          <p:cNvSpPr txBox="1"/>
          <p:nvPr/>
        </p:nvSpPr>
        <p:spPr>
          <a:xfrm>
            <a:off x="1042629" y="322429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15-label356"/>
          <p:cNvSpPr txBox="1"/>
          <p:nvPr/>
        </p:nvSpPr>
        <p:spPr>
          <a:xfrm>
            <a:off x="1042629" y="277220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3" name="S15-label358"/>
          <p:cNvSpPr txBox="1"/>
          <p:nvPr/>
        </p:nvSpPr>
        <p:spPr>
          <a:xfrm>
            <a:off x="1042629" y="232010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4" name="S15-label360"/>
          <p:cNvSpPr txBox="1"/>
          <p:nvPr/>
        </p:nvSpPr>
        <p:spPr>
          <a:xfrm>
            <a:off x="830285" y="1868009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25" name="S15-label362"/>
          <p:cNvSpPr txBox="1"/>
          <p:nvPr/>
        </p:nvSpPr>
        <p:spPr>
          <a:xfrm>
            <a:off x="1878235" y="57786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26" name="S15-label364"/>
          <p:cNvSpPr txBox="1"/>
          <p:nvPr/>
        </p:nvSpPr>
        <p:spPr>
          <a:xfrm>
            <a:off x="3100170" y="577863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27" name="S15-label366"/>
          <p:cNvSpPr txBox="1"/>
          <p:nvPr/>
        </p:nvSpPr>
        <p:spPr>
          <a:xfrm>
            <a:off x="4185200" y="5778637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28" name="S15-label368"/>
          <p:cNvSpPr txBox="1"/>
          <p:nvPr/>
        </p:nvSpPr>
        <p:spPr>
          <a:xfrm>
            <a:off x="5133324" y="577863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29" name="S15-label370"/>
          <p:cNvSpPr txBox="1"/>
          <p:nvPr/>
        </p:nvSpPr>
        <p:spPr>
          <a:xfrm>
            <a:off x="2284801" y="1415913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 학생 수</a:t>
            </a:r>
            <a:endParaRPr lang="ko-KR" sz="2200" dirty="0"/>
          </a:p>
        </p:txBody>
      </p:sp>
      <p:sp>
        <p:nvSpPr>
          <p:cNvPr id="30" name="S15-card371"/>
          <p:cNvSpPr/>
          <p:nvPr/>
        </p:nvSpPr>
        <p:spPr>
          <a:xfrm>
            <a:off x="6920911" y="2307082"/>
            <a:ext cx="4719401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372"/>
          <p:cNvSpPr txBox="1"/>
          <p:nvPr/>
        </p:nvSpPr>
        <p:spPr>
          <a:xfrm>
            <a:off x="7195231" y="2444242"/>
            <a:ext cx="4170761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눈금이 1씩 커져요.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1명</a:t>
            </a:r>
            <a:endParaRPr lang="ko-KR" sz="2800" dirty="0"/>
          </a:p>
        </p:txBody>
      </p:sp>
      <p:sp>
        <p:nvSpPr>
          <p:cNvPr id="32" name="S15-card373"/>
          <p:cNvSpPr/>
          <p:nvPr/>
        </p:nvSpPr>
        <p:spPr>
          <a:xfrm>
            <a:off x="6920911" y="4056634"/>
            <a:ext cx="4719401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374"/>
          <p:cNvSpPr txBox="1"/>
          <p:nvPr/>
        </p:nvSpPr>
        <p:spPr>
          <a:xfrm>
            <a:off x="7195231" y="4193794"/>
            <a:ext cx="4170761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명?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+ 5 + 2 + 6 = 16 (명)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평균</dc:title>
  <dc:subject>KR22-G05-MAT-MEAN-L01</dc:subject>
  <dc:creator>education-ppt</dc:creator>
  <cp:lastModifiedBy>education-ppt</cp:lastModifiedBy>
  <cp:revision>1</cp:revision>
  <dcterms:created xsi:type="dcterms:W3CDTF">2026-10-26T09:12:17Z</dcterms:created>
  <dcterms:modified xsi:type="dcterms:W3CDTF">2026-10-26T09:12:17Z</dcterms:modified>
</cp:coreProperties>
</file>