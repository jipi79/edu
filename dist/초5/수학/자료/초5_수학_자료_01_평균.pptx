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9a12841-dbf0-d1e7-2143-091ba26b0589}">
          <p14:sldIdLst>
            <p14:sldId id="256"/>
            <p14:sldId id="257"/>
          </p14:sldIdLst>
        </p14:section>
        <p14:section name="개념" id="{bcf03bcc-f6cb-fd53-86ae-139e494fc8f3}">
          <p14:sldIdLst>
            <p14:sldId id="258"/>
            <p14:sldId id="259"/>
            <p14:sldId id="260"/>
            <p14:sldId id="264"/>
          </p14:sldIdLst>
        </p14:section>
        <p14:section name="연습" id="{b560780b-8d51-d765-138e-f5616f95eaaf}">
          <p14:sldIdLst>
            <p14:sldId id="261"/>
            <p14:sldId id="262"/>
            <p14:sldId id="263"/>
            <p14:sldId id="265"/>
          </p14:sldIdLst>
        </p14:section>
        <p14:section name="개념" id="{b79a3301-2f57-2383-47cf-432238a58758}">
          <p14:sldIdLst/>
        </p14:section>
        <p14:section name="연습" id="{b459b851-a7ec-ec29-6cee-2a8e8760c5a0}">
          <p14:sldIdLst/>
        </p14:section>
        <p14:section name="확인" id="{350472e1-f266-bfa7-7258-eacd036de6e3}">
          <p14:sldIdLst>
            <p14:sldId id="266"/>
            <p14:sldId id="267"/>
            <p14:sldId id="268"/>
          </p14:sldIdLst>
        </p14:section>
        <p14:section name="정리" id="{19c01264-3591-adf3-869e-e7b9aaa2bdcf}">
          <p14:sldIdLst>
            <p14:sldId id="269"/>
          </p14:sldIdLst>
        </p14:section>
        <p14:section name="보충" id="{35dddfa7-f675-9f52-babc-3a95655470a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여러 수를 대표하는 수 하나가 무엇일지 궁금하게 합니다.
시간: 약 2분
이렇게 말해 보세요
- “네 친구가 지난주에 읽은 책 수야. 5권, 3권, 6권, 2권. 이 모둠은 한 사람이 보통 몇 권쯤 읽었다고 할 수 있을까?”
- “수 하나로 말해 보자. 예상만 해도 돼.”
예상 답
- “6권이요(가장 많이).” / “4권쯤이요.” / “모르겠어요.”
막히면
- 예상은 맞고 틀림을 말하지 않습니다. 종이에 적어 두고 S04에서 다시 봅니다.
주의
- 오늘의 핵심 낱말은 ‘평균’입니다. 처음에는 ‘고르게 했을 때 한 사람의 몫’이라고 쉽게 말해 줍니다.
- 목표 두 가지를 소리 내어 읽어 주고, 아이에게 오늘 할 일을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확인(막대그래프 읽기·합 구하기)]
목적: 오늘은 그래프나 표의 수를 읽어 모두 더한 뒤 나눕니다. 막대그래프의 눈금을 읽고 합을 구할 수 있는지 확인합니다.
시간: 약 3분
이렇게 말해 보세요
- “세로 눈금 숫자가 얼마씩 커져? 그러면 한 칸은 몇 개야?”
- “나 모둠 막대 끝에서 옆으로 따라가 볼까? 네 모둠을 모두 더하면?”
정답
- ① 2개
- ② 10개
- ③ 6 + 10 + 4 + 8 = 28, 28개
막히면
- 눈금을 칸 수로 읽으면(나 모둠 5개) 막대 끝에 자를 대고 세로 눈금 숫자를 읽게 합니다.
- 두 문제 이상 틀리면 S15(보충)를 먼저 합니다. 보충으로도 어려우면 초4 ‘막대그래프’를 먼저 다시 합니다.
주의
- 네 수를 더할 때 10을 만들며 더하면 쉽습니다(6 + 4 = 10, 10 + 8 = 18, 18 + 10 = 28).
- 합 28은 S06에서 쓰지 않습니다. 여기서는 읽기와 더하기만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고르게 하기 문제 제시(구체물)]
목적: 책 수를 블록(바둑돌)으로 나타내고, 많은 쪽에서 적은 쪽으로 옮겨 높이를 같게 만드는 활동을 시작합니다.
시간: 약 3분
이렇게 말해 보세요
- “바둑돌로 민지 5개, 준호 3개, 서연 6개, 도윤 2개를 세로로 쌓아 볼까?”
- “바둑돌 수는 그대로 두고 옮기기만 해서 네 줄의 높이를 똑같이 만들 수 있을까? 어디에서 어디로 옮기면 좋을까?”
예상 답
- “서연이 것을 도윤이에게 줘요.”
- “모두 4개씩이 돼요.”
막히면
- 가장 높은 줄(서연 6개)과 가장 낮은 줄(도윤 2개)부터 하나씩 옮겨 보게 합니다.
- 바둑돌이 없으면 단추나 동전, 지우개 조각을 씁니다.
주의
- 바둑돌을 새로 더하거나 빼지 않고 ‘옮기기만’ 한다는 규칙을 먼저 말해 줍니다. 그래야 전체 수(16권)가 그대로입니다.
- 준비물: 바둑돌(또는 단추) 30개 정도.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고르게 한 값이 평균임을 앎]
목적: 블록을 옮겨 고르게 한 값(4권)이 평균이라는 것을 알고, 평균이 네 친구의 책 수를 대표하는 수라는 것을 이해합니다.
시간: 약 4분
이렇게 말해 보세요
- “노란 블록은 옮겨 온 것이고, 점선은 원래 있던 자리야. 옮기고 나니 모두 몇 권이야?”
- “이렇게 고르게 한 수 4권을 ‘평균’이라고 해. 네 친구는 평균 4권을 읽었다고 말할 수 있어.”
- “평균 4권이라는 건 네 친구가 모두 4권씩 읽었다는 뜻일까?”
예상 답
- “모두 4권이에요.”
- “아니요. 실제로는 다르지만 고르게 하면 4권이라는 뜻이에요.”
막히면
- S03에서 바둑돌로 직접 옮긴 결과와 그림을 비교하게 합니다.
주의
- 평균은 자료 중 하나의 값이 아닐 수도 있습니다(이 자료에는 4권인 친구가 없습니다). 평균은 모둠 전체를 대표하는 수입니다.
- S01에서 적어 둔 아이의 예상과 비교해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자료의 합 ÷ 자료의 수로 평균 구하기]
목적: 블록을 옮기지 않고도, 모두 모은 뒤 사람 수로 똑같이 나누면 평균을 구할 수 있다는 것을 압니다.
시간: 약 3분
이렇게 말해 보세요
- “바둑돌을 한곳에 모두 모아 볼까? 몇 개야? 이것을 4명에게 똑같이 나누어 주면 한 사람에게 몇 개씩이야?”
- “모두 더한 수를 ‘자료의 합’, 사람 수를 ‘자료의 수’라고 해. 평균은 합을 수로 나누면 돼.”
예상 답
- “16개예요. 4개씩이에요.”
- “16 ÷ 4 = 4, 고르게 한 것과 같아요.”
막히면
- 바둑돌 16개를 접시 4개에 하나씩 돌아가며 나누어 담게 합니다(그림의 4줄).
주의
- 고르게 하기와 합 ÷ 수는 같은 생각입니다. 수가 크거나 많으면 블록을 옮기기 어려우므로 합 ÷ 수가 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연습(고르게 하기와 식으로 확인)]
목적: 도움을 받으며 블록을 옮겨 고르게 하고, 그 값을 합 ÷ 수로 확인합니다.
시간: 약 3분
이렇게 말해 보세요
- “바둑돌로 7, 4, 5, 8개를 쌓아 볼까? 높은 줄에서 낮은 줄로 옮겨 높이를 같게 만들어 봐.”
- “옮긴 결과가 맞는지 합 ÷ 수로 확인해 보자.”
정답
- ① 6마리
- ② 예: 월에서 1마리를 화로, 목에서 1마리를 화로, 목에서 1마리를 수로(옮기는 방법은 여러 가지이며 모두 6마리가 되면 맞습니다)
- ③ 7 + 4 + 5 + 8 = 24, 24 ÷ 4 = 6, 6마리
막히면
- 가장 높은 목(8)과 가장 낮은 화(4)부터 1개씩 옮기게 합니다.
주의
- 옮기는 방법은 달라도 평균은 같다는 것을 짚어 줍니다. 전체 수(24)는 변하지 않기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연습(합 ÷ 수)]
목적: 수가 커서 블록으로 옮기기 어려운 자료에서 합 ÷ 수로 평균을 구합니다.
시간: 약 3분
이렇게 말해 보세요
- “이 수들을 바둑돌로 쌓으려면 너무 많지? 그래서 합 ÷ 수로 구해 보자. 다섯 기록을 모두 더하면?”
- “몇 번 했는지가 자료의 수야. 그럼 평균은?”
정답
- ① 32 + 28 + 35 + 25 + 30 = 150 (번)
- ② 5회
- ③ 150 ÷ 5 = 30, 평균 30번
막히면
- 더하기가 어려우면 짝을 지어 더하게 합니다(32 + 28 = 60, 35 + 25 = 60, 60 + 60 + 30 = 150).
- 나눗셈이 어려우면 “5 × 30은?”처럼 곱셈으로 확인하게 합니다.
주의
- 다른 방법(고르게 하기를 수로): 평균을 30으로 예상하면 32는 2 많고 28은 2 적고, 35는 5 많고 25는 5 적어 서로 채워 줍니다. 그래서 평균은 30입니다. 아이가 먼저 이렇게 말하면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비교(0인 자료를 빼고 나누기)]
목적: 0인 자료를 자료의 수에서 빼는 실수(M2)를 바로잡습니다.
시간: 약 3분
이렇게 말해 보세요
- “토끼와 곰은 무엇이 달라? 4일 동안의 평균을 구하는 거야. 화요일도 4일 중 하루일까?”
- “바둑돌로 10, 0, 6, 8을 놓고 고르게 해 볼까? 화요일 자리도 비워 두고.”
예상 답
- “곰이 맞아요. 화요일도 하루니까 4일로 나눠야 해요.”
정답
- 곰이 맞습니다. 10 + 0 + 6 + 8 = 24, 24 ÷ 4 = 6, 6쪽
- 토끼는 읽지 않은 날(0쪽)을 빼서 3일로 나누었습니다. 4일 동안 하루 평균을 묻는 것이므로 0쪽인 날도 자료의 수에 넣습니다.
막히면
- 바둑돌 24개를 4일 자리에 고르게 놓으면 하루에 6개, 3일 자리에만 놓으면 8개가 됩니다. 화요일 자리가 비면 안 된다는 것을 보여 줍니다.
주의
- 0을 더해도 합은 그대로지만 자료의 수는 하나 늘어납니다. 그래서 평균이 작아집니다.
- 지치면 여기서 쉬고, 다음 날 S09부터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평균으로 두 모둠 비교하기]
목적: 사람 수가 다른 두 모둠은 합이 아니라 평균으로 비교해야 공정하다는 것을 압니다.
시간: 약 3분
이렇게 말해 보세요
- “합만 보면 나 모둠이 40개로 더 많아. 그러면 나 모둠이 더 잘한 걸까? 사람 수는 같아?”
- “한 사람이 평균 몇 개를 넣었는지 비교해 보자. 가 모둠은? 나 모둠은?”
예상 답
- “나 모둠은 사람이 한 명 더 많아서 합이 많은 거예요.”
- “가는 9개, 나는 8개라서 가 모둠이 더 잘했어요.”
막히면
- “한 명이 더 있으면 그 사람이 넣은 것만큼 합이 늘어나지?”라고 말해 줍니다. 바둑돌로 가 모둠 4줄, 나 모둠 5줄을 고르게 놓아 비교해도 됩니다.
주의
- 사람 수(자료의 수)가 같으면 합으로 비교해도 결과가 같습니다. 사람 수가 다를 때 평균이 꼭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연습(평균으로 비교)]
목적: 도움을 받으며 두 모둠의 평균을 구해 비교하고, 합으로 비교하면 왜 안 되는지 말합니다.
시간: 약 3분
이렇게 말해 보세요
- “가 모둠은 3명, 나 모둠은 4명이야. 먼저 각 모둠의 평균을 구해 보자.”
- “합으로 비교하면 어느 모둠이 커? 그래도 될까?”
정답
- ① (24 + 21 + 27) ÷ 3 = 72 ÷ 3 = 24, 24번
- ② (20 + 25 + 18 + 21) ÷ 4 = 84 ÷ 4 = 21, 21번
- ③ 가 모둠(평균 24번이 21번보다 큼)
막히면
- 72 ÷ 3이 어려우면 “3 × 20 = 60, 남은 12는 3 × 4”처럼 나누어 생각하게 합니다.
주의
- 합은 나 모둠이 84번으로 더 크지만 사람이 한 명 더 많기 때문입니다. ③에서 ‘나 모둠’이라고 하면 S09로 돌아갑니다(M3).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고르게 하기와 합 ÷ 수로 평균을 구하고, 평균으로 비교하는지 확인합니다.
시간: 약 4분
이렇게 말해 보세요
- “이번에는 혼자 해 볼래? 답과 함께 어떻게 구했는지 말해 줘.”
정답
- ① 5칸 (2 + 6 + 4 + 8 = 20, 20 ÷ 4 = 5. 라에서 3칸을 가로, 나에서 1칸을 다로 옮겨도 됨)
- ② (12 + 0 + 9 + 11) ÷ 4 = 32 ÷ 4 = 8, 8쪽
- ③ 가 모둠 45 ÷ 3 = 15, 나 모둠 56 ÷ 4 = 14 → 가 모둠
막히면
- 바로 알려 주지 말고 “모두 더하면? 몇으로 나눠야 해?”라고만 묻습니다.
- 도움을 받아 해결했다면 기록표에 ‘도움’으로 표시합니다.
주의
- ②에서 32 ÷ 3을 하려고 하면 0쪽인 날을 뺀 것입니다(M2). ③에서 합만 보고 나 모둠이라고 하면 M3입니다.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5칸 ② 8쪽 ③ 가 모둠(평균 15와 14)
막히면
- ②를 32 ÷ 3으로 했다면 S08, ③을 나 모둠이라고 했다면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확인(평균의 뜻)]
목적: 처음 보는 문장에서 평균의 뜻과 구하는 방법, 쓰임을 판단하는지 확인합니다.
시간: 약 2분
이렇게 말해 보세요
- “바르게 말한 것을 모두 골라 볼래? 틀린 것은 어떻게 고치면 맞는 말이 될까?”
정답
- 가, 라
- 나: 평균은 자료를 고르게 한 값이라 가장 큰 수보다 작거나 같습니다(모든 값이 같을 때만 같음).
- 다: 0인 자료도 자료의 수에 넣어 나눕니다.
막히면
- S04 그림과 S08을 다시 보여 주며 하나씩 따져 봅니다.
주의
- 고른 까닭이나 고친 문장까지 말하면 확인 완료입니다. 답만 고르면 ‘이유 설명 필요’로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“평균이 무엇인지, 어떻게 구하는지 말해 볼래?”
- “다음 수업을 시작할 때 이 세 문제를 먼저 풀 거야.”
예상 답
- “고르게 한 수예요. 모두 더해서 개수로 나눠요.”
정답
- ① (6 + 9 + 3) ÷ 3 = 6
- ② 120 ÷ 4 = 30, 30번
- ③ 기준: ‘책 수를 고르게 하면 한 사람이 4권씩’이라는 내용이면 맞습니다.
막히면
- 바둑돌을 다시 꺼내 고르게 하기를 한 번 더 합니다.
주의
- 다음 차시(일이 일어날 가능성)도 같은 ‘자료와 가능성’ 단원입니다.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보충(막대그래프 읽고 합 구하기)]
목적: S02에서 막대그래프 읽기나 합 구하기가 흔들리면 오늘 내용 전에 다시 익힙니다.
시간: 약 5분
이렇게 말해 보세요
- “막대 끝에서 옆으로 따라가 세로 눈금 숫자를 읽어 볼까? 사과는 몇 명이야?”
- “네 막대가 나타내는 수를 모두 더하면 조사한 학생은 모두 몇 명이야?”
정답
- 사과 3명, 배 5명, 귤 2명, 포도 6명
- 모두 16명
막히면
- 막대 끝에 자를 가로로 대고 세로 눈금까지 따라가게 합니다. 더하기는 바둑돌로 해도 됩니다.
주의
- 보충으로도 어려우면 초4 ‘막대그래프’를 먼저 다시 합니다. 나눗셈(16 ÷ 4 같은 계산)이 어려우면 초3·초4 나눗셈 차시를 먼저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평균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친구가 읽은 책 수를 수 하나로 나타내려면?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지난주에 읽은 책 수를 블록으로 쌓은 그림: 민지 5권, 준호 3권, 서연 6권, 도윤 2권"/>
          <p:cNvSpPr/>
          <p:nvPr/>
        </p:nvSpPr>
        <p:spPr>
          <a:xfrm>
            <a:off x="8469537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469537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469537" y="210312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469537" y="176672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469537" y="143033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142327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142327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142327" y="210312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815118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815118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815118" y="210312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815118" y="176672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815118" y="143033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815118" y="109393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0487908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487908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8301340" y="3112305"/>
            <a:ext cx="269116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1-label20"/>
          <p:cNvSpPr txBox="1"/>
          <p:nvPr/>
        </p:nvSpPr>
        <p:spPr>
          <a:xfrm>
            <a:off x="830905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</a:t>
            </a:r>
            <a:endParaRPr lang="ko-KR" sz="2200" dirty="0"/>
          </a:p>
        </p:txBody>
      </p:sp>
      <p:sp>
        <p:nvSpPr>
          <p:cNvPr id="23" name="S01-label22"/>
          <p:cNvSpPr txBox="1"/>
          <p:nvPr/>
        </p:nvSpPr>
        <p:spPr>
          <a:xfrm>
            <a:off x="8353763" y="105386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5권</a:t>
            </a:r>
            <a:endParaRPr lang="ko-KR" sz="2200" dirty="0"/>
          </a:p>
        </p:txBody>
      </p:sp>
      <p:sp>
        <p:nvSpPr>
          <p:cNvPr id="24" name="S01-label24"/>
          <p:cNvSpPr txBox="1"/>
          <p:nvPr/>
        </p:nvSpPr>
        <p:spPr>
          <a:xfrm>
            <a:off x="898184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2200" dirty="0"/>
          </a:p>
        </p:txBody>
      </p:sp>
      <p:sp>
        <p:nvSpPr>
          <p:cNvPr id="25" name="S01-label26"/>
          <p:cNvSpPr txBox="1"/>
          <p:nvPr/>
        </p:nvSpPr>
        <p:spPr>
          <a:xfrm>
            <a:off x="9026553" y="172665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3권</a:t>
            </a:r>
            <a:endParaRPr lang="ko-KR" sz="2200" dirty="0"/>
          </a:p>
        </p:txBody>
      </p:sp>
      <p:sp>
        <p:nvSpPr>
          <p:cNvPr id="26" name="S01-label28"/>
          <p:cNvSpPr txBox="1"/>
          <p:nvPr/>
        </p:nvSpPr>
        <p:spPr>
          <a:xfrm>
            <a:off x="965463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</a:t>
            </a:r>
            <a:endParaRPr lang="ko-KR" sz="2200" dirty="0"/>
          </a:p>
        </p:txBody>
      </p:sp>
      <p:sp>
        <p:nvSpPr>
          <p:cNvPr id="27" name="S01-label30"/>
          <p:cNvSpPr txBox="1"/>
          <p:nvPr/>
        </p:nvSpPr>
        <p:spPr>
          <a:xfrm>
            <a:off x="9699343" y="71747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6권</a:t>
            </a:r>
            <a:endParaRPr lang="ko-KR" sz="2200" dirty="0"/>
          </a:p>
        </p:txBody>
      </p:sp>
      <p:sp>
        <p:nvSpPr>
          <p:cNvPr id="28" name="S01-label32"/>
          <p:cNvSpPr txBox="1"/>
          <p:nvPr/>
        </p:nvSpPr>
        <p:spPr>
          <a:xfrm>
            <a:off x="1032742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</a:t>
            </a:r>
            <a:endParaRPr lang="ko-KR" sz="2200" dirty="0"/>
          </a:p>
        </p:txBody>
      </p:sp>
      <p:sp>
        <p:nvSpPr>
          <p:cNvPr id="29" name="S01-label34"/>
          <p:cNvSpPr txBox="1"/>
          <p:nvPr/>
        </p:nvSpPr>
        <p:spPr>
          <a:xfrm>
            <a:off x="10372133" y="206305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2권</a:t>
            </a:r>
            <a:endParaRPr lang="ko-KR" sz="2200" dirty="0"/>
          </a:p>
        </p:txBody>
      </p:sp>
      <p:sp>
        <p:nvSpPr>
          <p:cNvPr id="30" name="S01-card3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1" name="S01-cardtext3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막대를 고르게 하여 평균을 구하고 뜻을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합 ÷ 수로 평균을 구해 두 모둠을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figure37" descr="막대그래프 ‘모둠별 모은 빈 병 수’(세로 눈금 한 칸 2개): 가 6, 나 10, 다 4, 라 8"/>
          <p:cNvSpPr/>
          <p:nvPr/>
        </p:nvSpPr>
        <p:spPr>
          <a:xfrm>
            <a:off x="7364563" y="4072916"/>
            <a:ext cx="535140" cy="1337850"/>
          </a:xfrm>
          <a:custGeom>
            <a:avLst/>
            <a:gdLst/>
            <a:ahLst/>
            <a:cxnLst/>
            <a:rect l="l" t="t" r="r" b="b"/>
            <a:pathLst>
              <a:path w="535140" h="1337850">
                <a:moveTo>
                  <a:pt x="0" y="1337850"/>
                </a:moveTo>
                <a:lnTo>
                  <a:pt x="535140" y="1337850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38"/>
          <p:cNvSpPr/>
          <p:nvPr/>
        </p:nvSpPr>
        <p:spPr>
          <a:xfrm>
            <a:off x="8434843" y="3181016"/>
            <a:ext cx="535140" cy="2229749"/>
          </a:xfrm>
          <a:custGeom>
            <a:avLst/>
            <a:gdLst/>
            <a:ahLst/>
            <a:cxnLst/>
            <a:rect l="l" t="t" r="r" b="b"/>
            <a:pathLst>
              <a:path w="535140" h="2229749">
                <a:moveTo>
                  <a:pt x="0" y="2229749"/>
                </a:moveTo>
                <a:lnTo>
                  <a:pt x="535140" y="2229749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mark39"/>
          <p:cNvSpPr/>
          <p:nvPr/>
        </p:nvSpPr>
        <p:spPr>
          <a:xfrm>
            <a:off x="9505123" y="4518866"/>
            <a:ext cx="535140" cy="891900"/>
          </a:xfrm>
          <a:custGeom>
            <a:avLst/>
            <a:gdLst/>
            <a:ahLst/>
            <a:cxnLst/>
            <a:rect l="l" t="t" r="r" b="b"/>
            <a:pathLst>
              <a:path w="535140" h="891900">
                <a:moveTo>
                  <a:pt x="0" y="891900"/>
                </a:moveTo>
                <a:lnTo>
                  <a:pt x="535140" y="891900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40"/>
          <p:cNvSpPr/>
          <p:nvPr/>
        </p:nvSpPr>
        <p:spPr>
          <a:xfrm>
            <a:off x="10575402" y="3626966"/>
            <a:ext cx="535140" cy="1783799"/>
          </a:xfrm>
          <a:custGeom>
            <a:avLst/>
            <a:gdLst/>
            <a:ahLst/>
            <a:cxnLst/>
            <a:rect l="l" t="t" r="r" b="b"/>
            <a:pathLst>
              <a:path w="535140" h="1783799">
                <a:moveTo>
                  <a:pt x="0" y="1783799"/>
                </a:moveTo>
                <a:lnTo>
                  <a:pt x="535140" y="1783799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41"/>
          <p:cNvSpPr/>
          <p:nvPr/>
        </p:nvSpPr>
        <p:spPr>
          <a:xfrm>
            <a:off x="6963208" y="496481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42"/>
          <p:cNvSpPr/>
          <p:nvPr/>
        </p:nvSpPr>
        <p:spPr>
          <a:xfrm>
            <a:off x="6963208" y="451886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43"/>
          <p:cNvSpPr/>
          <p:nvPr/>
        </p:nvSpPr>
        <p:spPr>
          <a:xfrm>
            <a:off x="6963208" y="407291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44"/>
          <p:cNvSpPr/>
          <p:nvPr/>
        </p:nvSpPr>
        <p:spPr>
          <a:xfrm>
            <a:off x="6963208" y="362696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45"/>
          <p:cNvSpPr/>
          <p:nvPr/>
        </p:nvSpPr>
        <p:spPr>
          <a:xfrm>
            <a:off x="6963208" y="318101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46"/>
          <p:cNvSpPr/>
          <p:nvPr/>
        </p:nvSpPr>
        <p:spPr>
          <a:xfrm>
            <a:off x="6963208" y="2735067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47"/>
          <p:cNvSpPr/>
          <p:nvPr/>
        </p:nvSpPr>
        <p:spPr>
          <a:xfrm>
            <a:off x="6963208" y="5410766"/>
            <a:ext cx="454868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2-mark48"/>
          <p:cNvSpPr/>
          <p:nvPr/>
        </p:nvSpPr>
        <p:spPr>
          <a:xfrm flipV="1">
            <a:off x="6963208" y="2556687"/>
            <a:ext cx="0" cy="285407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2-label50"/>
          <p:cNvSpPr txBox="1"/>
          <p:nvPr/>
        </p:nvSpPr>
        <p:spPr>
          <a:xfrm>
            <a:off x="6481680" y="523614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6" name="S02-label52"/>
          <p:cNvSpPr txBox="1"/>
          <p:nvPr/>
        </p:nvSpPr>
        <p:spPr>
          <a:xfrm>
            <a:off x="6481680" y="479019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2-label54"/>
          <p:cNvSpPr txBox="1"/>
          <p:nvPr/>
        </p:nvSpPr>
        <p:spPr>
          <a:xfrm>
            <a:off x="6481680" y="434424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8" name="S02-label56"/>
          <p:cNvSpPr txBox="1"/>
          <p:nvPr/>
        </p:nvSpPr>
        <p:spPr>
          <a:xfrm>
            <a:off x="6481680" y="389829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9" name="S02-label58"/>
          <p:cNvSpPr txBox="1"/>
          <p:nvPr/>
        </p:nvSpPr>
        <p:spPr>
          <a:xfrm>
            <a:off x="6481680" y="345234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0" name="S02-label60"/>
          <p:cNvSpPr txBox="1"/>
          <p:nvPr/>
        </p:nvSpPr>
        <p:spPr>
          <a:xfrm>
            <a:off x="6389478" y="3006391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1" name="S02-label62"/>
          <p:cNvSpPr txBox="1"/>
          <p:nvPr/>
        </p:nvSpPr>
        <p:spPr>
          <a:xfrm>
            <a:off x="6389478" y="2560442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22" name="S02-label64"/>
          <p:cNvSpPr txBox="1"/>
          <p:nvPr/>
        </p:nvSpPr>
        <p:spPr>
          <a:xfrm>
            <a:off x="6269336" y="2114492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(개)</a:t>
            </a:r>
            <a:endParaRPr lang="ko-KR" sz="2200" dirty="0"/>
          </a:p>
        </p:txBody>
      </p:sp>
      <p:sp>
        <p:nvSpPr>
          <p:cNvPr id="23" name="S02-label66"/>
          <p:cNvSpPr txBox="1"/>
          <p:nvPr/>
        </p:nvSpPr>
        <p:spPr>
          <a:xfrm>
            <a:off x="7440363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4" name="S02-label68"/>
          <p:cNvSpPr txBox="1"/>
          <p:nvPr/>
        </p:nvSpPr>
        <p:spPr>
          <a:xfrm>
            <a:off x="8510643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02-label70"/>
          <p:cNvSpPr txBox="1"/>
          <p:nvPr/>
        </p:nvSpPr>
        <p:spPr>
          <a:xfrm>
            <a:off x="9580923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6" name="S02-label72"/>
          <p:cNvSpPr txBox="1"/>
          <p:nvPr/>
        </p:nvSpPr>
        <p:spPr>
          <a:xfrm>
            <a:off x="10651202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7" name="S02-label74"/>
          <p:cNvSpPr txBox="1"/>
          <p:nvPr/>
        </p:nvSpPr>
        <p:spPr>
          <a:xfrm>
            <a:off x="7919801" y="1668542"/>
            <a:ext cx="263550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모둠별 모은 빈 병 수</a:t>
            </a:r>
            <a:endParaRPr lang="ko-KR" sz="2200" dirty="0"/>
          </a:p>
        </p:txBody>
      </p:sp>
      <p:sp>
        <p:nvSpPr>
          <p:cNvPr id="28" name="S02-chip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9" name="S02-text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2800" dirty="0"/>
          </a:p>
        </p:txBody>
      </p:sp>
      <p:sp>
        <p:nvSpPr>
          <p:cNvPr id="30" name="S02-chip7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1" name="S02-text7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모둠은 몇 개를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모았나요?</a:t>
            </a:r>
            <a:endParaRPr lang="ko-KR" sz="2800" dirty="0"/>
          </a:p>
        </p:txBody>
      </p:sp>
      <p:sp>
        <p:nvSpPr>
          <p:cNvPr id="32" name="S02-chip7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3" name="S02-text8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모둠이 모은 병은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높이를 고르게 해요</a:t>
            </a:r>
            <a:endParaRPr lang="ko-KR" sz="4000" dirty="0"/>
          </a:p>
        </p:txBody>
      </p:sp>
      <p:sp>
        <p:nvSpPr>
          <p:cNvPr id="3" name="S03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친구가 지난주에 읽은 책 수예요.</a:t>
            </a:r>
            <a:endParaRPr lang="ko-KR" sz="2800" dirty="0"/>
          </a:p>
        </p:txBody>
      </p:sp>
      <p:sp>
        <p:nvSpPr>
          <p:cNvPr id="4" name="S03-figure82" descr="지난주에 읽은 책 수를 블록으로 쌓은 그림: 민지 5권, 준호 3권, 서연 6권, 도윤 2권"/>
          <p:cNvSpPr/>
          <p:nvPr/>
        </p:nvSpPr>
        <p:spPr>
          <a:xfrm>
            <a:off x="1828103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3-mark83"/>
          <p:cNvSpPr/>
          <p:nvPr/>
        </p:nvSpPr>
        <p:spPr>
          <a:xfrm>
            <a:off x="1828103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mark84"/>
          <p:cNvSpPr/>
          <p:nvPr/>
        </p:nvSpPr>
        <p:spPr>
          <a:xfrm>
            <a:off x="1828103" y="4114800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85"/>
          <p:cNvSpPr/>
          <p:nvPr/>
        </p:nvSpPr>
        <p:spPr>
          <a:xfrm>
            <a:off x="1828103" y="3622288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86"/>
          <p:cNvSpPr/>
          <p:nvPr/>
        </p:nvSpPr>
        <p:spPr>
          <a:xfrm>
            <a:off x="1828103" y="3129776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87"/>
          <p:cNvSpPr/>
          <p:nvPr/>
        </p:nvSpPr>
        <p:spPr>
          <a:xfrm>
            <a:off x="2813127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88"/>
          <p:cNvSpPr/>
          <p:nvPr/>
        </p:nvSpPr>
        <p:spPr>
          <a:xfrm>
            <a:off x="2813127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mark89"/>
          <p:cNvSpPr/>
          <p:nvPr/>
        </p:nvSpPr>
        <p:spPr>
          <a:xfrm>
            <a:off x="2813127" y="4114800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90"/>
          <p:cNvSpPr/>
          <p:nvPr/>
        </p:nvSpPr>
        <p:spPr>
          <a:xfrm>
            <a:off x="3798151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91"/>
          <p:cNvSpPr/>
          <p:nvPr/>
        </p:nvSpPr>
        <p:spPr>
          <a:xfrm>
            <a:off x="3798151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mark92"/>
          <p:cNvSpPr/>
          <p:nvPr/>
        </p:nvSpPr>
        <p:spPr>
          <a:xfrm>
            <a:off x="3798151" y="4114800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mark93"/>
          <p:cNvSpPr/>
          <p:nvPr/>
        </p:nvSpPr>
        <p:spPr>
          <a:xfrm>
            <a:off x="3798151" y="3622288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mark94"/>
          <p:cNvSpPr/>
          <p:nvPr/>
        </p:nvSpPr>
        <p:spPr>
          <a:xfrm>
            <a:off x="3798151" y="3129776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mark95"/>
          <p:cNvSpPr/>
          <p:nvPr/>
        </p:nvSpPr>
        <p:spPr>
          <a:xfrm>
            <a:off x="3798151" y="2637263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mark96"/>
          <p:cNvSpPr/>
          <p:nvPr/>
        </p:nvSpPr>
        <p:spPr>
          <a:xfrm>
            <a:off x="4783176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97"/>
          <p:cNvSpPr/>
          <p:nvPr/>
        </p:nvSpPr>
        <p:spPr>
          <a:xfrm>
            <a:off x="4783176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98"/>
          <p:cNvSpPr/>
          <p:nvPr/>
        </p:nvSpPr>
        <p:spPr>
          <a:xfrm>
            <a:off x="1581847" y="5592337"/>
            <a:ext cx="394009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label100"/>
          <p:cNvSpPr txBox="1"/>
          <p:nvPr/>
        </p:nvSpPr>
        <p:spPr>
          <a:xfrm>
            <a:off x="1745683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</a:t>
            </a:r>
            <a:endParaRPr lang="ko-KR" sz="2200" dirty="0"/>
          </a:p>
        </p:txBody>
      </p:sp>
      <p:sp>
        <p:nvSpPr>
          <p:cNvPr id="22" name="S03-label102"/>
          <p:cNvSpPr txBox="1"/>
          <p:nvPr/>
        </p:nvSpPr>
        <p:spPr>
          <a:xfrm>
            <a:off x="1790387" y="265964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5권</a:t>
            </a:r>
            <a:endParaRPr lang="ko-KR" sz="2200" dirty="0"/>
          </a:p>
        </p:txBody>
      </p:sp>
      <p:sp>
        <p:nvSpPr>
          <p:cNvPr id="23" name="S03-label104"/>
          <p:cNvSpPr txBox="1"/>
          <p:nvPr/>
        </p:nvSpPr>
        <p:spPr>
          <a:xfrm>
            <a:off x="2730707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2200" dirty="0"/>
          </a:p>
        </p:txBody>
      </p:sp>
      <p:sp>
        <p:nvSpPr>
          <p:cNvPr id="24" name="S03-label106"/>
          <p:cNvSpPr txBox="1"/>
          <p:nvPr/>
        </p:nvSpPr>
        <p:spPr>
          <a:xfrm>
            <a:off x="2775411" y="364466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3권</a:t>
            </a:r>
            <a:endParaRPr lang="ko-KR" sz="2200" dirty="0"/>
          </a:p>
        </p:txBody>
      </p:sp>
      <p:sp>
        <p:nvSpPr>
          <p:cNvPr id="25" name="S03-label108"/>
          <p:cNvSpPr txBox="1"/>
          <p:nvPr/>
        </p:nvSpPr>
        <p:spPr>
          <a:xfrm>
            <a:off x="3715732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</a:t>
            </a:r>
            <a:endParaRPr lang="ko-KR" sz="2200" dirty="0"/>
          </a:p>
        </p:txBody>
      </p:sp>
      <p:sp>
        <p:nvSpPr>
          <p:cNvPr id="26" name="S03-label110"/>
          <p:cNvSpPr txBox="1"/>
          <p:nvPr/>
        </p:nvSpPr>
        <p:spPr>
          <a:xfrm>
            <a:off x="3760436" y="2167131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6권</a:t>
            </a:r>
            <a:endParaRPr lang="ko-KR" sz="2200" dirty="0"/>
          </a:p>
        </p:txBody>
      </p:sp>
      <p:sp>
        <p:nvSpPr>
          <p:cNvPr id="27" name="S03-label112"/>
          <p:cNvSpPr txBox="1"/>
          <p:nvPr/>
        </p:nvSpPr>
        <p:spPr>
          <a:xfrm>
            <a:off x="4700756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</a:t>
            </a:r>
            <a:endParaRPr lang="ko-KR" sz="2200" dirty="0"/>
          </a:p>
        </p:txBody>
      </p:sp>
      <p:sp>
        <p:nvSpPr>
          <p:cNvPr id="28" name="S03-label114"/>
          <p:cNvSpPr txBox="1"/>
          <p:nvPr/>
        </p:nvSpPr>
        <p:spPr>
          <a:xfrm>
            <a:off x="4745460" y="4137180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2권</a:t>
            </a:r>
            <a:endParaRPr lang="ko-KR" sz="2200" dirty="0"/>
          </a:p>
        </p:txBody>
      </p:sp>
      <p:sp>
        <p:nvSpPr>
          <p:cNvPr id="29" name="S03-card115"/>
          <p:cNvSpPr/>
          <p:nvPr/>
        </p:nvSpPr>
        <p:spPr>
          <a:xfrm>
            <a:off x="6920911" y="2479548"/>
            <a:ext cx="4719401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3-cardtext116"/>
          <p:cNvSpPr txBox="1"/>
          <p:nvPr/>
        </p:nvSpPr>
        <p:spPr>
          <a:xfrm>
            <a:off x="7195231" y="2616708"/>
            <a:ext cx="4170761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쪽에서 적은 쪽으로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블록을 옮겨 높이를 같게 해요.</a:t>
            </a:r>
            <a:endParaRPr lang="ko-KR" sz="2800" dirty="0"/>
          </a:p>
        </p:txBody>
      </p:sp>
      <p:sp>
        <p:nvSpPr>
          <p:cNvPr id="31" name="S03-card117"/>
          <p:cNvSpPr/>
          <p:nvPr/>
        </p:nvSpPr>
        <p:spPr>
          <a:xfrm>
            <a:off x="6920911" y="4229100"/>
            <a:ext cx="4719401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3-cardtext118"/>
          <p:cNvSpPr txBox="1"/>
          <p:nvPr/>
        </p:nvSpPr>
        <p:spPr>
          <a:xfrm>
            <a:off x="7195231" y="4366260"/>
            <a:ext cx="4170761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쌓아 옮겨 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권씩이 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한 수가 평균</a:t>
            </a:r>
            <a:endParaRPr lang="ko-KR" sz="4000" dirty="0"/>
          </a:p>
        </p:txBody>
      </p:sp>
      <p:sp>
        <p:nvSpPr>
          <p:cNvPr id="3" name="S04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평균: 자료의 값을 고르게 하여 나타낸 수</a:t>
            </a:r>
            <a:endParaRPr lang="ko-KR" sz="2800" dirty="0"/>
          </a:p>
        </p:txBody>
      </p:sp>
      <p:sp>
        <p:nvSpPr>
          <p:cNvPr id="5" name="S04-figure121" descr="블록을 옮겨 고르게 한 그림: 민지의 블록 1개를 준호에게, 서연의 블록 2개를 도윤에게 옮겨 모두 4권이 됨(옮긴 블록은 노란색, 원래 자리는 점선)"/>
          <p:cNvSpPr/>
          <p:nvPr/>
        </p:nvSpPr>
        <p:spPr>
          <a:xfrm>
            <a:off x="6927432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122"/>
          <p:cNvSpPr/>
          <p:nvPr/>
        </p:nvSpPr>
        <p:spPr>
          <a:xfrm>
            <a:off x="6927432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23"/>
          <p:cNvSpPr/>
          <p:nvPr/>
        </p:nvSpPr>
        <p:spPr>
          <a:xfrm>
            <a:off x="6927432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24"/>
          <p:cNvSpPr/>
          <p:nvPr/>
        </p:nvSpPr>
        <p:spPr>
          <a:xfrm>
            <a:off x="6927432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125"/>
          <p:cNvSpPr/>
          <p:nvPr/>
        </p:nvSpPr>
        <p:spPr>
          <a:xfrm>
            <a:off x="6927432" y="2338597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10" name="S04-mark126"/>
          <p:cNvSpPr/>
          <p:nvPr/>
        </p:nvSpPr>
        <p:spPr>
          <a:xfrm>
            <a:off x="7812095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mark127"/>
          <p:cNvSpPr/>
          <p:nvPr/>
        </p:nvSpPr>
        <p:spPr>
          <a:xfrm>
            <a:off x="7812095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mark128"/>
          <p:cNvSpPr/>
          <p:nvPr/>
        </p:nvSpPr>
        <p:spPr>
          <a:xfrm>
            <a:off x="7812095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mark129"/>
          <p:cNvSpPr/>
          <p:nvPr/>
        </p:nvSpPr>
        <p:spPr>
          <a:xfrm>
            <a:off x="7812095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mark130"/>
          <p:cNvSpPr/>
          <p:nvPr/>
        </p:nvSpPr>
        <p:spPr>
          <a:xfrm>
            <a:off x="8696759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mark131"/>
          <p:cNvSpPr/>
          <p:nvPr/>
        </p:nvSpPr>
        <p:spPr>
          <a:xfrm>
            <a:off x="8696759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mark132"/>
          <p:cNvSpPr/>
          <p:nvPr/>
        </p:nvSpPr>
        <p:spPr>
          <a:xfrm>
            <a:off x="8696759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mark133"/>
          <p:cNvSpPr/>
          <p:nvPr/>
        </p:nvSpPr>
        <p:spPr>
          <a:xfrm>
            <a:off x="8696759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mark134"/>
          <p:cNvSpPr/>
          <p:nvPr/>
        </p:nvSpPr>
        <p:spPr>
          <a:xfrm>
            <a:off x="8696759" y="2338597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19" name="S04-mark135"/>
          <p:cNvSpPr/>
          <p:nvPr/>
        </p:nvSpPr>
        <p:spPr>
          <a:xfrm>
            <a:off x="8696759" y="1896265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20" name="S04-mark136"/>
          <p:cNvSpPr/>
          <p:nvPr/>
        </p:nvSpPr>
        <p:spPr>
          <a:xfrm>
            <a:off x="9581422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mark137"/>
          <p:cNvSpPr/>
          <p:nvPr/>
        </p:nvSpPr>
        <p:spPr>
          <a:xfrm>
            <a:off x="9581422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mark138"/>
          <p:cNvSpPr/>
          <p:nvPr/>
        </p:nvSpPr>
        <p:spPr>
          <a:xfrm>
            <a:off x="9581422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mark139"/>
          <p:cNvSpPr/>
          <p:nvPr/>
        </p:nvSpPr>
        <p:spPr>
          <a:xfrm>
            <a:off x="9581422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mark140"/>
          <p:cNvSpPr/>
          <p:nvPr/>
        </p:nvSpPr>
        <p:spPr>
          <a:xfrm>
            <a:off x="6706266" y="4550255"/>
            <a:ext cx="353865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4-mark141"/>
          <p:cNvSpPr/>
          <p:nvPr/>
        </p:nvSpPr>
        <p:spPr>
          <a:xfrm>
            <a:off x="7259181" y="2559762"/>
            <a:ext cx="663498" cy="442332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6" name="S04-mark142"/>
          <p:cNvSpPr/>
          <p:nvPr/>
        </p:nvSpPr>
        <p:spPr>
          <a:xfrm>
            <a:off x="9028508" y="2117431"/>
            <a:ext cx="663498" cy="884663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7" name="S04-mark143"/>
          <p:cNvSpPr/>
          <p:nvPr/>
        </p:nvSpPr>
        <p:spPr>
          <a:xfrm>
            <a:off x="9028508" y="2559762"/>
            <a:ext cx="663498" cy="884663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8" name="S04-mark144"/>
          <p:cNvSpPr/>
          <p:nvPr/>
        </p:nvSpPr>
        <p:spPr>
          <a:xfrm>
            <a:off x="6706266" y="2780928"/>
            <a:ext cx="353865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9" name="S04-label146"/>
          <p:cNvSpPr txBox="1"/>
          <p:nvPr/>
        </p:nvSpPr>
        <p:spPr>
          <a:xfrm>
            <a:off x="6819922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</a:t>
            </a:r>
            <a:endParaRPr lang="ko-KR" sz="2200" dirty="0"/>
          </a:p>
        </p:txBody>
      </p:sp>
      <p:sp>
        <p:nvSpPr>
          <p:cNvPr id="30" name="S04-label148"/>
          <p:cNvSpPr txBox="1"/>
          <p:nvPr/>
        </p:nvSpPr>
        <p:spPr>
          <a:xfrm>
            <a:off x="7704585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2200" dirty="0"/>
          </a:p>
        </p:txBody>
      </p:sp>
      <p:sp>
        <p:nvSpPr>
          <p:cNvPr id="31" name="S04-label150"/>
          <p:cNvSpPr txBox="1"/>
          <p:nvPr/>
        </p:nvSpPr>
        <p:spPr>
          <a:xfrm>
            <a:off x="8589249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</a:t>
            </a:r>
            <a:endParaRPr lang="ko-KR" sz="2200" dirty="0"/>
          </a:p>
        </p:txBody>
      </p:sp>
      <p:sp>
        <p:nvSpPr>
          <p:cNvPr id="32" name="S04-label152"/>
          <p:cNvSpPr txBox="1"/>
          <p:nvPr/>
        </p:nvSpPr>
        <p:spPr>
          <a:xfrm>
            <a:off x="9473912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</a:t>
            </a:r>
            <a:endParaRPr lang="ko-KR" sz="2200" dirty="0"/>
          </a:p>
        </p:txBody>
      </p:sp>
      <p:sp>
        <p:nvSpPr>
          <p:cNvPr id="33" name="S04-label154"/>
          <p:cNvSpPr txBox="1"/>
          <p:nvPr/>
        </p:nvSpPr>
        <p:spPr>
          <a:xfrm>
            <a:off x="10317136" y="2606303"/>
            <a:ext cx="6517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권</a:t>
            </a:r>
            <a:endParaRPr lang="ko-KR" sz="2200" dirty="0"/>
          </a:p>
        </p:txBody>
      </p:sp>
      <p:sp>
        <p:nvSpPr>
          <p:cNvPr id="34" name="S04-stepno155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5" name="S04-text156"/>
          <p:cNvSpPr txBox="1"/>
          <p:nvPr/>
        </p:nvSpPr>
        <p:spPr>
          <a:xfrm>
            <a:off x="1325880" y="1612900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민지의 1권을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준호에게 옮겨요.</a:t>
            </a:r>
            <a:endParaRPr lang="ko-KR" sz="2200" dirty="0"/>
          </a:p>
        </p:txBody>
      </p:sp>
      <p:sp>
        <p:nvSpPr>
          <p:cNvPr id="36" name="S04-stepno157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7" name="S04-text158"/>
          <p:cNvSpPr txBox="1"/>
          <p:nvPr/>
        </p:nvSpPr>
        <p:spPr>
          <a:xfrm>
            <a:off x="1325880" y="2459228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서연의 2권을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도윤에게 옮겨요.</a:t>
            </a:r>
            <a:endParaRPr lang="ko-KR" sz="2200" dirty="0"/>
          </a:p>
        </p:txBody>
      </p:sp>
      <p:sp>
        <p:nvSpPr>
          <p:cNvPr id="38" name="S04-stepno159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4-text160"/>
          <p:cNvSpPr txBox="1"/>
          <p:nvPr/>
        </p:nvSpPr>
        <p:spPr>
          <a:xfrm>
            <a:off x="1325880" y="3305556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4 권으로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같아졌어요.</a:t>
            </a:r>
            <a:endParaRPr lang="ko-KR" sz="2200" dirty="0"/>
          </a:p>
        </p:txBody>
      </p:sp>
      <p:sp>
        <p:nvSpPr>
          <p:cNvPr id="40" name="S04-stepno161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1" name="S04-text162"/>
          <p:cNvSpPr txBox="1"/>
          <p:nvPr/>
        </p:nvSpPr>
        <p:spPr>
          <a:xfrm>
            <a:off x="1325880" y="4151884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권이 네 친구가 읽은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수의 평균이에요.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모아 똑같이 나누기</a:t>
            </a:r>
            <a:endParaRPr lang="ko-KR" sz="4000" dirty="0"/>
          </a:p>
        </p:txBody>
      </p:sp>
      <p:sp>
        <p:nvSpPr>
          <p:cNvPr id="3" name="S05-text1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16권을 4명이 똑같이 나누면?</a:t>
            </a:r>
            <a:endParaRPr lang="ko-KR" sz="2800" dirty="0"/>
          </a:p>
        </p:txBody>
      </p:sp>
      <p:sp>
        <p:nvSpPr>
          <p:cNvPr id="4" name="S05-card1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= (자료의 합) ÷ (자료의 수)</a:t>
            </a:r>
            <a:endParaRPr lang="ko-KR" sz="2800" dirty="0"/>
          </a:p>
        </p:txBody>
      </p:sp>
      <p:sp>
        <p:nvSpPr>
          <p:cNvPr id="6" name="S05-dot166"/>
          <p:cNvSpPr/>
          <p:nvPr/>
        </p:nvSpPr>
        <p:spPr>
          <a:xfrm>
            <a:off x="170078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167"/>
          <p:cNvSpPr/>
          <p:nvPr/>
        </p:nvSpPr>
        <p:spPr>
          <a:xfrm>
            <a:off x="224942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168"/>
          <p:cNvSpPr/>
          <p:nvPr/>
        </p:nvSpPr>
        <p:spPr>
          <a:xfrm>
            <a:off x="279806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169"/>
          <p:cNvSpPr/>
          <p:nvPr/>
        </p:nvSpPr>
        <p:spPr>
          <a:xfrm>
            <a:off x="334670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170"/>
          <p:cNvSpPr/>
          <p:nvPr/>
        </p:nvSpPr>
        <p:spPr>
          <a:xfrm>
            <a:off x="170078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171"/>
          <p:cNvSpPr/>
          <p:nvPr/>
        </p:nvSpPr>
        <p:spPr>
          <a:xfrm>
            <a:off x="224942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172"/>
          <p:cNvSpPr/>
          <p:nvPr/>
        </p:nvSpPr>
        <p:spPr>
          <a:xfrm>
            <a:off x="279806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173"/>
          <p:cNvSpPr/>
          <p:nvPr/>
        </p:nvSpPr>
        <p:spPr>
          <a:xfrm>
            <a:off x="334670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174"/>
          <p:cNvSpPr/>
          <p:nvPr/>
        </p:nvSpPr>
        <p:spPr>
          <a:xfrm>
            <a:off x="170078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175"/>
          <p:cNvSpPr/>
          <p:nvPr/>
        </p:nvSpPr>
        <p:spPr>
          <a:xfrm>
            <a:off x="224942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176"/>
          <p:cNvSpPr/>
          <p:nvPr/>
        </p:nvSpPr>
        <p:spPr>
          <a:xfrm>
            <a:off x="279806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dot177"/>
          <p:cNvSpPr/>
          <p:nvPr/>
        </p:nvSpPr>
        <p:spPr>
          <a:xfrm>
            <a:off x="334670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dot178"/>
          <p:cNvSpPr/>
          <p:nvPr/>
        </p:nvSpPr>
        <p:spPr>
          <a:xfrm>
            <a:off x="170078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dot179"/>
          <p:cNvSpPr/>
          <p:nvPr/>
        </p:nvSpPr>
        <p:spPr>
          <a:xfrm>
            <a:off x="224942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dot180"/>
          <p:cNvSpPr/>
          <p:nvPr/>
        </p:nvSpPr>
        <p:spPr>
          <a:xfrm>
            <a:off x="279806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dot181"/>
          <p:cNvSpPr/>
          <p:nvPr/>
        </p:nvSpPr>
        <p:spPr>
          <a:xfrm>
            <a:off x="334670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group182"/>
          <p:cNvSpPr/>
          <p:nvPr/>
        </p:nvSpPr>
        <p:spPr>
          <a:xfrm>
            <a:off x="1623974" y="250545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5-group183"/>
          <p:cNvSpPr/>
          <p:nvPr/>
        </p:nvSpPr>
        <p:spPr>
          <a:xfrm>
            <a:off x="1623974" y="305409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05-group184"/>
          <p:cNvSpPr/>
          <p:nvPr/>
        </p:nvSpPr>
        <p:spPr>
          <a:xfrm>
            <a:off x="1623974" y="360273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5-group185"/>
          <p:cNvSpPr/>
          <p:nvPr/>
        </p:nvSpPr>
        <p:spPr>
          <a:xfrm>
            <a:off x="1623974" y="415137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5-figure186" descr="바둑돌 16개를 4줄에 4개씩 똑같이 나눈 배열"/>
          <p:cNvSpPr/>
          <p:nvPr/>
        </p:nvSpPr>
        <p:spPr>
          <a:xfrm>
            <a:off x="1596542" y="246888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5-card187"/>
          <p:cNvSpPr/>
          <p:nvPr/>
        </p:nvSpPr>
        <p:spPr>
          <a:xfrm>
            <a:off x="5204765" y="2255012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5-cardtext188"/>
          <p:cNvSpPr txBox="1"/>
          <p:nvPr/>
        </p:nvSpPr>
        <p:spPr>
          <a:xfrm>
            <a:off x="5479085" y="2392172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+ 3 + 6 + 2 = 16 (권)</a:t>
            </a:r>
            <a:endParaRPr lang="ko-KR" sz="2800" dirty="0"/>
          </a:p>
        </p:txBody>
      </p:sp>
      <p:sp>
        <p:nvSpPr>
          <p:cNvPr id="29" name="S05-card189"/>
          <p:cNvSpPr/>
          <p:nvPr/>
        </p:nvSpPr>
        <p:spPr>
          <a:xfrm>
            <a:off x="5204765" y="3680460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5-cardtext190"/>
          <p:cNvSpPr txBox="1"/>
          <p:nvPr/>
        </p:nvSpPr>
        <p:spPr>
          <a:xfrm>
            <a:off x="5479085" y="3817620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수는 4명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÷ 4 = 4 (권)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해 봐요</a:t>
            </a:r>
            <a:endParaRPr lang="ko-KR" sz="4000" dirty="0"/>
          </a:p>
        </p:txBody>
      </p:sp>
      <p:sp>
        <p:nvSpPr>
          <p:cNvPr id="3" name="S06-text1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요일별로 접은 종이학 수예요.</a:t>
            </a:r>
            <a:endParaRPr lang="ko-KR" sz="2800" dirty="0"/>
          </a:p>
        </p:txBody>
      </p:sp>
      <p:sp>
        <p:nvSpPr>
          <p:cNvPr id="4" name="S06-figure192" descr="요일별 접은 종이학 수 블록: 월 7, 화 4, 수 5, 목 8"/>
          <p:cNvSpPr/>
          <p:nvPr/>
        </p:nvSpPr>
        <p:spPr>
          <a:xfrm>
            <a:off x="7573040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mark193"/>
          <p:cNvSpPr/>
          <p:nvPr/>
        </p:nvSpPr>
        <p:spPr>
          <a:xfrm>
            <a:off x="7573040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194"/>
          <p:cNvSpPr/>
          <p:nvPr/>
        </p:nvSpPr>
        <p:spPr>
          <a:xfrm>
            <a:off x="7573040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195"/>
          <p:cNvSpPr/>
          <p:nvPr/>
        </p:nvSpPr>
        <p:spPr>
          <a:xfrm>
            <a:off x="7573040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196"/>
          <p:cNvSpPr/>
          <p:nvPr/>
        </p:nvSpPr>
        <p:spPr>
          <a:xfrm>
            <a:off x="7573040" y="3718859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197"/>
          <p:cNvSpPr/>
          <p:nvPr/>
        </p:nvSpPr>
        <p:spPr>
          <a:xfrm>
            <a:off x="7573040" y="3322918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mark198"/>
          <p:cNvSpPr/>
          <p:nvPr/>
        </p:nvSpPr>
        <p:spPr>
          <a:xfrm>
            <a:off x="7573040" y="2926976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199"/>
          <p:cNvSpPr/>
          <p:nvPr/>
        </p:nvSpPr>
        <p:spPr>
          <a:xfrm>
            <a:off x="8364922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200"/>
          <p:cNvSpPr/>
          <p:nvPr/>
        </p:nvSpPr>
        <p:spPr>
          <a:xfrm>
            <a:off x="8364922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201"/>
          <p:cNvSpPr/>
          <p:nvPr/>
        </p:nvSpPr>
        <p:spPr>
          <a:xfrm>
            <a:off x="8364922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mark202"/>
          <p:cNvSpPr/>
          <p:nvPr/>
        </p:nvSpPr>
        <p:spPr>
          <a:xfrm>
            <a:off x="8364922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mark203"/>
          <p:cNvSpPr/>
          <p:nvPr/>
        </p:nvSpPr>
        <p:spPr>
          <a:xfrm>
            <a:off x="9156805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204"/>
          <p:cNvSpPr/>
          <p:nvPr/>
        </p:nvSpPr>
        <p:spPr>
          <a:xfrm>
            <a:off x="9156805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205"/>
          <p:cNvSpPr/>
          <p:nvPr/>
        </p:nvSpPr>
        <p:spPr>
          <a:xfrm>
            <a:off x="9156805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206"/>
          <p:cNvSpPr/>
          <p:nvPr/>
        </p:nvSpPr>
        <p:spPr>
          <a:xfrm>
            <a:off x="9156805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207"/>
          <p:cNvSpPr/>
          <p:nvPr/>
        </p:nvSpPr>
        <p:spPr>
          <a:xfrm>
            <a:off x="9156805" y="3718859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208"/>
          <p:cNvSpPr/>
          <p:nvPr/>
        </p:nvSpPr>
        <p:spPr>
          <a:xfrm>
            <a:off x="9948687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mark209"/>
          <p:cNvSpPr/>
          <p:nvPr/>
        </p:nvSpPr>
        <p:spPr>
          <a:xfrm>
            <a:off x="9948687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mark210"/>
          <p:cNvSpPr/>
          <p:nvPr/>
        </p:nvSpPr>
        <p:spPr>
          <a:xfrm>
            <a:off x="9948687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mark211"/>
          <p:cNvSpPr/>
          <p:nvPr/>
        </p:nvSpPr>
        <p:spPr>
          <a:xfrm>
            <a:off x="9948687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mark212"/>
          <p:cNvSpPr/>
          <p:nvPr/>
        </p:nvSpPr>
        <p:spPr>
          <a:xfrm>
            <a:off x="9948687" y="3718859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mark213"/>
          <p:cNvSpPr/>
          <p:nvPr/>
        </p:nvSpPr>
        <p:spPr>
          <a:xfrm>
            <a:off x="9948687" y="3322918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mark214"/>
          <p:cNvSpPr/>
          <p:nvPr/>
        </p:nvSpPr>
        <p:spPr>
          <a:xfrm>
            <a:off x="9948687" y="2926976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mark215"/>
          <p:cNvSpPr/>
          <p:nvPr/>
        </p:nvSpPr>
        <p:spPr>
          <a:xfrm>
            <a:off x="9948687" y="2531035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mark216"/>
          <p:cNvSpPr/>
          <p:nvPr/>
        </p:nvSpPr>
        <p:spPr>
          <a:xfrm>
            <a:off x="7375069" y="5698565"/>
            <a:ext cx="316752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6-label218"/>
          <p:cNvSpPr txBox="1"/>
          <p:nvPr/>
        </p:nvSpPr>
        <p:spPr>
          <a:xfrm>
            <a:off x="7579240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200" dirty="0"/>
          </a:p>
        </p:txBody>
      </p:sp>
      <p:sp>
        <p:nvSpPr>
          <p:cNvPr id="30" name="S06-label220"/>
          <p:cNvSpPr txBox="1"/>
          <p:nvPr/>
        </p:nvSpPr>
        <p:spPr>
          <a:xfrm>
            <a:off x="7350132" y="2514787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7마리</a:t>
            </a:r>
            <a:endParaRPr lang="ko-KR" sz="2200" dirty="0"/>
          </a:p>
        </p:txBody>
      </p:sp>
      <p:sp>
        <p:nvSpPr>
          <p:cNvPr id="31" name="S06-label222"/>
          <p:cNvSpPr txBox="1"/>
          <p:nvPr/>
        </p:nvSpPr>
        <p:spPr>
          <a:xfrm>
            <a:off x="8371123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200" dirty="0"/>
          </a:p>
        </p:txBody>
      </p:sp>
      <p:sp>
        <p:nvSpPr>
          <p:cNvPr id="32" name="S06-label224"/>
          <p:cNvSpPr txBox="1"/>
          <p:nvPr/>
        </p:nvSpPr>
        <p:spPr>
          <a:xfrm>
            <a:off x="8142015" y="3702610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4마리</a:t>
            </a:r>
            <a:endParaRPr lang="ko-KR" sz="2200" dirty="0"/>
          </a:p>
        </p:txBody>
      </p:sp>
      <p:sp>
        <p:nvSpPr>
          <p:cNvPr id="33" name="S06-label226"/>
          <p:cNvSpPr txBox="1"/>
          <p:nvPr/>
        </p:nvSpPr>
        <p:spPr>
          <a:xfrm>
            <a:off x="9163005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200" dirty="0"/>
          </a:p>
        </p:txBody>
      </p:sp>
      <p:sp>
        <p:nvSpPr>
          <p:cNvPr id="34" name="S06-label228"/>
          <p:cNvSpPr txBox="1"/>
          <p:nvPr/>
        </p:nvSpPr>
        <p:spPr>
          <a:xfrm>
            <a:off x="8933897" y="3306669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5마리</a:t>
            </a:r>
            <a:endParaRPr lang="ko-KR" sz="2200" dirty="0"/>
          </a:p>
        </p:txBody>
      </p:sp>
      <p:sp>
        <p:nvSpPr>
          <p:cNvPr id="35" name="S06-label230"/>
          <p:cNvSpPr txBox="1"/>
          <p:nvPr/>
        </p:nvSpPr>
        <p:spPr>
          <a:xfrm>
            <a:off x="9954888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200" dirty="0"/>
          </a:p>
        </p:txBody>
      </p:sp>
      <p:sp>
        <p:nvSpPr>
          <p:cNvPr id="36" name="S06-label232"/>
          <p:cNvSpPr txBox="1"/>
          <p:nvPr/>
        </p:nvSpPr>
        <p:spPr>
          <a:xfrm>
            <a:off x="9725780" y="2118846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8마리</a:t>
            </a:r>
            <a:endParaRPr lang="ko-KR" sz="2200" dirty="0"/>
          </a:p>
        </p:txBody>
      </p:sp>
      <p:sp>
        <p:nvSpPr>
          <p:cNvPr id="37" name="S06-chip23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8" name="S06-text23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하면 하루에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마리일까요?</a:t>
            </a:r>
            <a:endParaRPr lang="ko-KR" sz="2800" dirty="0"/>
          </a:p>
        </p:txBody>
      </p:sp>
      <p:sp>
        <p:nvSpPr>
          <p:cNvPr id="39" name="S06-chip23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0" name="S06-text23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어디로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마리를 옮겼나요?</a:t>
            </a:r>
            <a:endParaRPr lang="ko-KR" sz="2800" dirty="0"/>
          </a:p>
        </p:txBody>
      </p:sp>
      <p:sp>
        <p:nvSpPr>
          <p:cNvPr id="41" name="S06-chip2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2" name="S06-text23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 ÷ 수로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 ÷ 수로 구해요</a:t>
            </a:r>
            <a:endParaRPr lang="ko-KR" sz="4000" dirty="0"/>
          </a:p>
        </p:txBody>
      </p:sp>
      <p:sp>
        <p:nvSpPr>
          <p:cNvPr id="3" name="S07-text2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5번 했어요.</a:t>
            </a:r>
            <a:endParaRPr lang="ko-KR" sz="2800" dirty="0"/>
          </a:p>
        </p:txBody>
      </p:sp>
      <p:graphicFrame>
        <p:nvGraphicFramePr>
          <p:cNvPr id="8" name="S07-table2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7074" y="3633216"/>
          <a:ext cx="5303520" cy="914400"/>
        </p:xfrm>
        <a:graphic>
          <a:graphicData uri="http://schemas.openxmlformats.org/drawingml/2006/table">
            <a:tbl>
              <a:tblPr/>
              <a:tblGrid>
                <a:gridCol w="1591056"/>
                <a:gridCol w="742493"/>
                <a:gridCol w="742493"/>
                <a:gridCol w="742493"/>
                <a:gridCol w="742493"/>
                <a:gridCol w="742493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기록(번)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7-chip24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7-text242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합은?</a:t>
            </a:r>
            <a:endParaRPr lang="ko-KR" sz="2800" dirty="0"/>
          </a:p>
        </p:txBody>
      </p:sp>
      <p:sp>
        <p:nvSpPr>
          <p:cNvPr id="7" name="S07-chip24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7-text244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수는?</a:t>
            </a:r>
            <a:endParaRPr lang="ko-KR" sz="2800" dirty="0"/>
          </a:p>
        </p:txBody>
      </p:sp>
      <p:sp>
        <p:nvSpPr>
          <p:cNvPr id="9" name="S07-chip24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7-text246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평균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넘었나요?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0쪽인 날도 셀까요?</a:t>
            </a:r>
            <a:endParaRPr lang="ko-KR" sz="4000" dirty="0"/>
          </a:p>
        </p:txBody>
      </p:sp>
      <p:sp>
        <p:nvSpPr>
          <p:cNvPr id="3" name="S08-text2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동안 읽은 쪽수의 평균을 구했어요.</a:t>
            </a:r>
            <a:endParaRPr lang="ko-KR" sz="2800" dirty="0"/>
          </a:p>
        </p:txBody>
      </p:sp>
      <p:sp>
        <p:nvSpPr>
          <p:cNvPr id="4" name="S08-card2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평균이 맞을까요? 까닭을 말해요.</a:t>
            </a:r>
            <a:endParaRPr lang="ko-KR" sz="2800" dirty="0"/>
          </a:p>
        </p:txBody>
      </p:sp>
      <p:sp>
        <p:nvSpPr>
          <p:cNvPr id="6" name="S08-card250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251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 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0쪽인 날은 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3 = 8</a:t>
            </a:r>
            <a:endParaRPr lang="ko-KR" sz="2800" dirty="0"/>
          </a:p>
        </p:txBody>
      </p:sp>
      <p:sp>
        <p:nvSpPr>
          <p:cNvPr id="8" name="S08-card252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253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 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모두 세요.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4 = 6</a:t>
            </a:r>
            <a:endParaRPr lang="ko-KR" sz="2800" dirty="0"/>
          </a:p>
        </p:txBody>
      </p:sp>
      <p:graphicFrame>
        <p:nvGraphicFramePr>
          <p:cNvPr id="9" name="S08-table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2178812"/>
          <a:ext cx="8686800" cy="914400"/>
        </p:xfrm>
        <a:graphic>
          <a:graphicData uri="http://schemas.openxmlformats.org/drawingml/2006/table">
            <a:tbl>
              <a:tblPr/>
              <a:tblGrid>
                <a:gridCol w="2779776"/>
                <a:gridCol w="1476756"/>
                <a:gridCol w="1476756"/>
                <a:gridCol w="1476756"/>
                <a:gridCol w="147675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읽은 쪽수(쪽)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수가 다른 두 모둠</a:t>
            </a:r>
            <a:endParaRPr lang="ko-KR" sz="4000" dirty="0"/>
          </a:p>
        </p:txBody>
      </p:sp>
      <p:sp>
        <p:nvSpPr>
          <p:cNvPr id="3" name="S09-text25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고리 던지기는 어느 모둠이 더 잘했을까요?</a:t>
            </a:r>
            <a:endParaRPr lang="ko-KR" sz="2800" dirty="0"/>
          </a:p>
        </p:txBody>
      </p:sp>
      <p:graphicFrame>
        <p:nvGraphicFramePr>
          <p:cNvPr id="10" name="S09-table2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99133" y="3689604"/>
          <a:ext cx="5041179" cy="914400"/>
        </p:xfrm>
        <a:graphic>
          <a:graphicData uri="http://schemas.openxmlformats.org/drawingml/2006/table">
            <a:tbl>
              <a:tblPr/>
              <a:tblGrid>
                <a:gridCol w="2117295"/>
                <a:gridCol w="292388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넣은 고리 수(개)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모둠(4명)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9, 10, 8, 9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모둠(5명)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8, 6, 10, 7, 9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stepno257"/>
          <p:cNvSpPr txBox="1"/>
          <p:nvPr/>
        </p:nvSpPr>
        <p:spPr>
          <a:xfrm>
            <a:off x="548640" y="28681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258"/>
          <p:cNvSpPr txBox="1"/>
          <p:nvPr/>
        </p:nvSpPr>
        <p:spPr>
          <a:xfrm>
            <a:off x="1325880" y="2868168"/>
            <a:ext cx="49074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합: 가 36개, 나 40개</a:t>
            </a:r>
            <a:endParaRPr lang="ko-KR" sz="2200" dirty="0"/>
          </a:p>
        </p:txBody>
      </p:sp>
      <p:sp>
        <p:nvSpPr>
          <p:cNvPr id="7" name="S09-stepno259"/>
          <p:cNvSpPr txBox="1"/>
          <p:nvPr/>
        </p:nvSpPr>
        <p:spPr>
          <a:xfrm>
            <a:off x="548640" y="362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260"/>
          <p:cNvSpPr txBox="1"/>
          <p:nvPr/>
        </p:nvSpPr>
        <p:spPr>
          <a:xfrm>
            <a:off x="1325880" y="3581400"/>
            <a:ext cx="4907493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수가 달라요.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4명, 나 5명</a:t>
            </a:r>
            <a:endParaRPr lang="ko-KR" sz="2200" dirty="0"/>
          </a:p>
        </p:txBody>
      </p:sp>
      <p:sp>
        <p:nvSpPr>
          <p:cNvPr id="9" name="S09-stepno261"/>
          <p:cNvSpPr txBox="1"/>
          <p:nvPr/>
        </p:nvSpPr>
        <p:spPr>
          <a:xfrm>
            <a:off x="548640" y="44734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262"/>
          <p:cNvSpPr txBox="1"/>
          <p:nvPr/>
        </p:nvSpPr>
        <p:spPr>
          <a:xfrm>
            <a:off x="1325880" y="4427728"/>
            <a:ext cx="4907493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평균: 가 36 ÷ 4 = 9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40 ÷ 5 = 8</a:t>
            </a:r>
            <a:endParaRPr lang="ko-KR" sz="2200" dirty="0"/>
          </a:p>
        </p:txBody>
      </p:sp>
      <p:sp>
        <p:nvSpPr>
          <p:cNvPr id="11" name="S09-stepno263"/>
          <p:cNvSpPr txBox="1"/>
          <p:nvPr/>
        </p:nvSpPr>
        <p:spPr>
          <a:xfrm>
            <a:off x="548640" y="5319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264"/>
          <p:cNvSpPr txBox="1"/>
          <p:nvPr/>
        </p:nvSpPr>
        <p:spPr>
          <a:xfrm>
            <a:off x="1325880" y="5274056"/>
            <a:ext cx="4907493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평균이 큰 가 모둠이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평균으로 비교해요</a:t>
            </a:r>
            <a:endParaRPr lang="ko-KR" sz="4000" dirty="0"/>
          </a:p>
        </p:txBody>
      </p:sp>
      <p:graphicFrame>
        <p:nvGraphicFramePr>
          <p:cNvPr id="11" name="S10-table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003042"/>
          <a:ext cx="5362956" cy="914400"/>
        </p:xfrm>
        <a:graphic>
          <a:graphicData uri="http://schemas.openxmlformats.org/drawingml/2006/table">
            <a:tbl>
              <a:tblPr/>
              <a:tblGrid>
                <a:gridCol w="2252442"/>
                <a:gridCol w="311051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윗몸 일으키기(번)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모둠(3명)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24, 21, 27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모둠(4명)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20, 25, 18, 21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0-chip2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26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모둠의 평균은?</a:t>
            </a:r>
            <a:endParaRPr lang="ko-KR" sz="2800" dirty="0"/>
          </a:p>
        </p:txBody>
      </p:sp>
      <p:sp>
        <p:nvSpPr>
          <p:cNvPr id="6" name="S10-chip26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269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모둠의 평균은?</a:t>
            </a:r>
            <a:endParaRPr lang="ko-KR" sz="2800" dirty="0"/>
          </a:p>
        </p:txBody>
      </p:sp>
      <p:sp>
        <p:nvSpPr>
          <p:cNvPr id="8" name="S10-chip27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271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모둠이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72" descr="블록 막대 네 개: 가 2개, 나 6개, 다 4개, 라 8개"/>
          <p:cNvSpPr/>
          <p:nvPr/>
        </p:nvSpPr>
        <p:spPr>
          <a:xfrm>
            <a:off x="7337716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1-mark273"/>
          <p:cNvSpPr/>
          <p:nvPr/>
        </p:nvSpPr>
        <p:spPr>
          <a:xfrm>
            <a:off x="7337716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1-mark274"/>
          <p:cNvSpPr/>
          <p:nvPr/>
        </p:nvSpPr>
        <p:spPr>
          <a:xfrm>
            <a:off x="8264069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1-mark275"/>
          <p:cNvSpPr/>
          <p:nvPr/>
        </p:nvSpPr>
        <p:spPr>
          <a:xfrm>
            <a:off x="8264069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1-mark276"/>
          <p:cNvSpPr/>
          <p:nvPr/>
        </p:nvSpPr>
        <p:spPr>
          <a:xfrm>
            <a:off x="8264069" y="4235076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1-mark277"/>
          <p:cNvSpPr/>
          <p:nvPr/>
        </p:nvSpPr>
        <p:spPr>
          <a:xfrm>
            <a:off x="8264069" y="3771900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1-mark278"/>
          <p:cNvSpPr/>
          <p:nvPr/>
        </p:nvSpPr>
        <p:spPr>
          <a:xfrm>
            <a:off x="8264069" y="3308724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1-mark279"/>
          <p:cNvSpPr/>
          <p:nvPr/>
        </p:nvSpPr>
        <p:spPr>
          <a:xfrm>
            <a:off x="8264069" y="2845547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mark280"/>
          <p:cNvSpPr/>
          <p:nvPr/>
        </p:nvSpPr>
        <p:spPr>
          <a:xfrm>
            <a:off x="9190422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1-mark281"/>
          <p:cNvSpPr/>
          <p:nvPr/>
        </p:nvSpPr>
        <p:spPr>
          <a:xfrm>
            <a:off x="9190422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mark282"/>
          <p:cNvSpPr/>
          <p:nvPr/>
        </p:nvSpPr>
        <p:spPr>
          <a:xfrm>
            <a:off x="9190422" y="4235076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mark283"/>
          <p:cNvSpPr/>
          <p:nvPr/>
        </p:nvSpPr>
        <p:spPr>
          <a:xfrm>
            <a:off x="9190422" y="3771900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mark284"/>
          <p:cNvSpPr/>
          <p:nvPr/>
        </p:nvSpPr>
        <p:spPr>
          <a:xfrm>
            <a:off x="10116775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mark285"/>
          <p:cNvSpPr/>
          <p:nvPr/>
        </p:nvSpPr>
        <p:spPr>
          <a:xfrm>
            <a:off x="10116775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mark286"/>
          <p:cNvSpPr/>
          <p:nvPr/>
        </p:nvSpPr>
        <p:spPr>
          <a:xfrm>
            <a:off x="10116775" y="4235076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1-mark287"/>
          <p:cNvSpPr/>
          <p:nvPr/>
        </p:nvSpPr>
        <p:spPr>
          <a:xfrm>
            <a:off x="10116775" y="3771900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mark288"/>
          <p:cNvSpPr/>
          <p:nvPr/>
        </p:nvSpPr>
        <p:spPr>
          <a:xfrm>
            <a:off x="10116775" y="3308724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mark289"/>
          <p:cNvSpPr/>
          <p:nvPr/>
        </p:nvSpPr>
        <p:spPr>
          <a:xfrm>
            <a:off x="10116775" y="2845547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mark290"/>
          <p:cNvSpPr/>
          <p:nvPr/>
        </p:nvSpPr>
        <p:spPr>
          <a:xfrm>
            <a:off x="10116775" y="2382371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mark291"/>
          <p:cNvSpPr/>
          <p:nvPr/>
        </p:nvSpPr>
        <p:spPr>
          <a:xfrm>
            <a:off x="10116775" y="1919194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1-mark292"/>
          <p:cNvSpPr/>
          <p:nvPr/>
        </p:nvSpPr>
        <p:spPr>
          <a:xfrm>
            <a:off x="7106128" y="5624606"/>
            <a:ext cx="3705412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11-label294"/>
          <p:cNvSpPr txBox="1"/>
          <p:nvPr/>
        </p:nvSpPr>
        <p:spPr>
          <a:xfrm>
            <a:off x="7377535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5" name="S11-label296"/>
          <p:cNvSpPr txBox="1"/>
          <p:nvPr/>
        </p:nvSpPr>
        <p:spPr>
          <a:xfrm>
            <a:off x="8303888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6" name="S11-label298"/>
          <p:cNvSpPr txBox="1"/>
          <p:nvPr/>
        </p:nvSpPr>
        <p:spPr>
          <a:xfrm>
            <a:off x="9230240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7" name="S11-label300"/>
          <p:cNvSpPr txBox="1"/>
          <p:nvPr/>
        </p:nvSpPr>
        <p:spPr>
          <a:xfrm>
            <a:off x="10156593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8" name="S11-chip30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9" name="S11-text30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막대를 고르게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몇 칸일까요?</a:t>
            </a:r>
            <a:endParaRPr lang="ko-KR" sz="2800" dirty="0"/>
          </a:p>
        </p:txBody>
      </p:sp>
      <p:sp>
        <p:nvSpPr>
          <p:cNvPr id="30" name="S11-chip30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1" name="S11-text30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동안 12, 0, 9, 11쪽을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읽었어요. 하루 평균은?</a:t>
            </a:r>
            <a:endParaRPr lang="ko-KR" sz="2800" dirty="0"/>
          </a:p>
        </p:txBody>
      </p:sp>
      <p:sp>
        <p:nvSpPr>
          <p:cNvPr id="32" name="S11-chip30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3" name="S11-text30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모둠 3명은 합이 45, 나 모둠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4명은 합이 56. 평균이 큰 모둠은?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틀렸다면 바둑돌로 고르게 놓아 보며 S08 또는 S09로 돌아가세요.</a:t>
            </a:r>
            <a:endParaRPr lang="ko-KR" sz="2800" dirty="0"/>
          </a:p>
        </p:txBody>
      </p:sp>
      <p:sp>
        <p:nvSpPr>
          <p:cNvPr id="5" name="S12-chip30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10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5칸</a:t>
            </a:r>
            <a:endParaRPr lang="ko-KR" sz="2800" dirty="0"/>
          </a:p>
        </p:txBody>
      </p:sp>
      <p:sp>
        <p:nvSpPr>
          <p:cNvPr id="7" name="S12-text311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÷ 4</a:t>
            </a:r>
            <a:endParaRPr lang="ko-KR" sz="2200" dirty="0"/>
          </a:p>
        </p:txBody>
      </p:sp>
      <p:sp>
        <p:nvSpPr>
          <p:cNvPr id="8" name="S12-text312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 쪽</a:t>
            </a:r>
            <a:endParaRPr lang="ko-KR" sz="2800" dirty="0"/>
          </a:p>
        </p:txBody>
      </p:sp>
      <p:sp>
        <p:nvSpPr>
          <p:cNvPr id="9" name="S12-text313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÷ 4</a:t>
            </a:r>
            <a:endParaRPr lang="ko-KR" sz="2200" dirty="0"/>
          </a:p>
        </p:txBody>
      </p:sp>
      <p:sp>
        <p:nvSpPr>
          <p:cNvPr id="10" name="S12-text314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 모둠</a:t>
            </a:r>
            <a:endParaRPr lang="ko-KR" sz="2800" dirty="0"/>
          </a:p>
        </p:txBody>
      </p:sp>
      <p:sp>
        <p:nvSpPr>
          <p:cNvPr id="11" name="S12-text315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&gt; 14</a:t>
            </a:r>
            <a:endParaRPr lang="ko-KR" sz="2200" dirty="0"/>
          </a:p>
        </p:txBody>
      </p:sp>
      <p:sp>
        <p:nvSpPr>
          <p:cNvPr id="12" name="S12-chip31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31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32 ÷ 3</a:t>
            </a:r>
            <a:endParaRPr lang="ko-KR" sz="2800" dirty="0"/>
          </a:p>
        </p:txBody>
      </p:sp>
      <p:sp>
        <p:nvSpPr>
          <p:cNvPr id="14" name="S12-text31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날을 뺌</a:t>
            </a:r>
            <a:endParaRPr lang="ko-KR" sz="2200" dirty="0"/>
          </a:p>
        </p:txBody>
      </p:sp>
      <p:sp>
        <p:nvSpPr>
          <p:cNvPr id="15" name="S12-text31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 모둠</a:t>
            </a:r>
            <a:endParaRPr lang="ko-KR" sz="2800" dirty="0"/>
          </a:p>
        </p:txBody>
      </p:sp>
      <p:sp>
        <p:nvSpPr>
          <p:cNvPr id="16" name="S12-text32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합만 비교함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평균을 바르게 말한 것은?</a:t>
            </a:r>
            <a:endParaRPr lang="ko-KR" sz="4000" dirty="0"/>
          </a:p>
        </p:txBody>
      </p:sp>
      <p:sp>
        <p:nvSpPr>
          <p:cNvPr id="3" name="S13-card3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3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것을 모두 고르고, 틀린 것은 고쳐 말해요.</a:t>
            </a:r>
            <a:endParaRPr lang="ko-KR" sz="2800" dirty="0"/>
          </a:p>
        </p:txBody>
      </p:sp>
      <p:sp>
        <p:nvSpPr>
          <p:cNvPr id="5" name="S13-chip32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324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25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자료를 고르게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했을 때의 값이에요.</a:t>
            </a:r>
            <a:endParaRPr lang="ko-KR" sz="2800" dirty="0"/>
          </a:p>
        </p:txBody>
      </p:sp>
      <p:sp>
        <p:nvSpPr>
          <p:cNvPr id="8" name="S13-chip32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327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328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언제나 자료 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수예요.</a:t>
            </a:r>
            <a:endParaRPr lang="ko-KR" sz="2800" dirty="0"/>
          </a:p>
        </p:txBody>
      </p:sp>
      <p:sp>
        <p:nvSpPr>
          <p:cNvPr id="11" name="S13-chip329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330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331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자료는 빼고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나누어요.</a:t>
            </a:r>
            <a:endParaRPr lang="ko-KR" sz="2800" dirty="0"/>
          </a:p>
        </p:txBody>
      </p:sp>
      <p:sp>
        <p:nvSpPr>
          <p:cNvPr id="14" name="S13-chip33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333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334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수가 다른 모둠은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평균으로 비교해요.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3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3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자료를 고르게 한 수예요.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= (자료의 합) ÷ (자료의 수)</a:t>
            </a:r>
            <a:endParaRPr lang="ko-KR" sz="2800" dirty="0"/>
          </a:p>
        </p:txBody>
      </p:sp>
      <p:sp>
        <p:nvSpPr>
          <p:cNvPr id="5" name="S14-chip33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자료도 수에 넣기</a:t>
            </a:r>
            <a:endParaRPr lang="ko-KR" sz="2200" dirty="0"/>
          </a:p>
        </p:txBody>
      </p:sp>
      <p:sp>
        <p:nvSpPr>
          <p:cNvPr id="6" name="S14-chip33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사람 수가 다른데 합으로 비교하기</a:t>
            </a:r>
            <a:endParaRPr lang="ko-KR" sz="2200" dirty="0"/>
          </a:p>
        </p:txBody>
      </p:sp>
      <p:sp>
        <p:nvSpPr>
          <p:cNvPr id="7" name="S14-text33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4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6, 9, 3의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평균은?</a:t>
            </a:r>
            <a:endParaRPr lang="ko-KR" sz="2200" dirty="0"/>
          </a:p>
        </p:txBody>
      </p:sp>
      <p:sp>
        <p:nvSpPr>
          <p:cNvPr id="9" name="S14-text34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4명의 줄넘기 합이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120번일 때 평균은?</a:t>
            </a:r>
            <a:endParaRPr lang="ko-KR" sz="2200" dirty="0"/>
          </a:p>
        </p:txBody>
      </p:sp>
      <p:sp>
        <p:nvSpPr>
          <p:cNvPr id="10" name="S14-text34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평균 4권은 어떤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뜻일까요?</a:t>
            </a:r>
            <a:endParaRPr lang="ko-KR" sz="2200" dirty="0"/>
          </a:p>
        </p:txBody>
      </p:sp>
      <p:sp>
        <p:nvSpPr>
          <p:cNvPr id="11" name="S14-text34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일이 일어날 가능성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막대그래프 읽기</a:t>
            </a:r>
            <a:endParaRPr lang="ko-KR" sz="4000" dirty="0"/>
          </a:p>
        </p:txBody>
      </p:sp>
      <p:sp>
        <p:nvSpPr>
          <p:cNvPr id="3" name="S15-figure344" descr="막대그래프 ‘좋아하는 과일별 학생 수’(세로 눈금 한 칸 1명): 사과 3, 배 5, 귤 2, 포도 6"/>
          <p:cNvSpPr/>
          <p:nvPr/>
        </p:nvSpPr>
        <p:spPr>
          <a:xfrm>
            <a:off x="1935653" y="4303112"/>
            <a:ext cx="542515" cy="1356287"/>
          </a:xfrm>
          <a:custGeom>
            <a:avLst/>
            <a:gdLst/>
            <a:ahLst/>
            <a:cxnLst/>
            <a:rect l="l" t="t" r="r" b="b"/>
            <a:pathLst>
              <a:path w="542515" h="1356287">
                <a:moveTo>
                  <a:pt x="0" y="1356287"/>
                </a:moveTo>
                <a:lnTo>
                  <a:pt x="542515" y="1356287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5-mark345"/>
          <p:cNvSpPr/>
          <p:nvPr/>
        </p:nvSpPr>
        <p:spPr>
          <a:xfrm>
            <a:off x="3020683" y="3398921"/>
            <a:ext cx="542515" cy="2260478"/>
          </a:xfrm>
          <a:custGeom>
            <a:avLst/>
            <a:gdLst/>
            <a:ahLst/>
            <a:cxnLst/>
            <a:rect l="l" t="t" r="r" b="b"/>
            <a:pathLst>
              <a:path w="542515" h="2260478">
                <a:moveTo>
                  <a:pt x="0" y="2260478"/>
                </a:moveTo>
                <a:lnTo>
                  <a:pt x="542515" y="2260478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5-mark346"/>
          <p:cNvSpPr/>
          <p:nvPr/>
        </p:nvSpPr>
        <p:spPr>
          <a:xfrm>
            <a:off x="4105713" y="4755208"/>
            <a:ext cx="542515" cy="904191"/>
          </a:xfrm>
          <a:custGeom>
            <a:avLst/>
            <a:gdLst/>
            <a:ahLst/>
            <a:cxnLst/>
            <a:rect l="l" t="t" r="r" b="b"/>
            <a:pathLst>
              <a:path w="542515" h="904191">
                <a:moveTo>
                  <a:pt x="0" y="904191"/>
                </a:moveTo>
                <a:lnTo>
                  <a:pt x="542515" y="904191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mark347"/>
          <p:cNvSpPr/>
          <p:nvPr/>
        </p:nvSpPr>
        <p:spPr>
          <a:xfrm>
            <a:off x="5190742" y="2946825"/>
            <a:ext cx="542515" cy="2712574"/>
          </a:xfrm>
          <a:custGeom>
            <a:avLst/>
            <a:gdLst/>
            <a:ahLst/>
            <a:cxnLst/>
            <a:rect l="l" t="t" r="r" b="b"/>
            <a:pathLst>
              <a:path w="542515" h="2712574">
                <a:moveTo>
                  <a:pt x="0" y="2712574"/>
                </a:moveTo>
                <a:lnTo>
                  <a:pt x="542515" y="2712574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348"/>
          <p:cNvSpPr/>
          <p:nvPr/>
        </p:nvSpPr>
        <p:spPr>
          <a:xfrm>
            <a:off x="1528767" y="5207304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349"/>
          <p:cNvSpPr/>
          <p:nvPr/>
        </p:nvSpPr>
        <p:spPr>
          <a:xfrm>
            <a:off x="1528767" y="4755208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350"/>
          <p:cNvSpPr/>
          <p:nvPr/>
        </p:nvSpPr>
        <p:spPr>
          <a:xfrm>
            <a:off x="1528767" y="4303112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351"/>
          <p:cNvSpPr/>
          <p:nvPr/>
        </p:nvSpPr>
        <p:spPr>
          <a:xfrm>
            <a:off x="1528767" y="3851017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352"/>
          <p:cNvSpPr/>
          <p:nvPr/>
        </p:nvSpPr>
        <p:spPr>
          <a:xfrm>
            <a:off x="1528767" y="3398921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353"/>
          <p:cNvSpPr/>
          <p:nvPr/>
        </p:nvSpPr>
        <p:spPr>
          <a:xfrm>
            <a:off x="1528767" y="2946825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354"/>
          <p:cNvSpPr/>
          <p:nvPr/>
        </p:nvSpPr>
        <p:spPr>
          <a:xfrm>
            <a:off x="1528767" y="2494730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355"/>
          <p:cNvSpPr/>
          <p:nvPr/>
        </p:nvSpPr>
        <p:spPr>
          <a:xfrm>
            <a:off x="1528767" y="5659400"/>
            <a:ext cx="46113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5-mark356"/>
          <p:cNvSpPr/>
          <p:nvPr/>
        </p:nvSpPr>
        <p:spPr>
          <a:xfrm flipV="1">
            <a:off x="1528767" y="2313891"/>
            <a:ext cx="0" cy="334550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5-label358"/>
          <p:cNvSpPr txBox="1"/>
          <p:nvPr/>
        </p:nvSpPr>
        <p:spPr>
          <a:xfrm>
            <a:off x="1042629" y="54847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7" name="S15-label360"/>
          <p:cNvSpPr txBox="1"/>
          <p:nvPr/>
        </p:nvSpPr>
        <p:spPr>
          <a:xfrm>
            <a:off x="1042629" y="503267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15-label362"/>
          <p:cNvSpPr txBox="1"/>
          <p:nvPr/>
        </p:nvSpPr>
        <p:spPr>
          <a:xfrm>
            <a:off x="1042629" y="458058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15-label364"/>
          <p:cNvSpPr txBox="1"/>
          <p:nvPr/>
        </p:nvSpPr>
        <p:spPr>
          <a:xfrm>
            <a:off x="1042629" y="412848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0" name="S15-label366"/>
          <p:cNvSpPr txBox="1"/>
          <p:nvPr/>
        </p:nvSpPr>
        <p:spPr>
          <a:xfrm>
            <a:off x="1042629" y="367639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15-label368"/>
          <p:cNvSpPr txBox="1"/>
          <p:nvPr/>
        </p:nvSpPr>
        <p:spPr>
          <a:xfrm>
            <a:off x="1042629" y="322429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" name="S15-label370"/>
          <p:cNvSpPr txBox="1"/>
          <p:nvPr/>
        </p:nvSpPr>
        <p:spPr>
          <a:xfrm>
            <a:off x="1042629" y="277220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3" name="S15-label372"/>
          <p:cNvSpPr txBox="1"/>
          <p:nvPr/>
        </p:nvSpPr>
        <p:spPr>
          <a:xfrm>
            <a:off x="1042629" y="232010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4" name="S15-label374"/>
          <p:cNvSpPr txBox="1"/>
          <p:nvPr/>
        </p:nvSpPr>
        <p:spPr>
          <a:xfrm>
            <a:off x="830285" y="1868009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25" name="S15-label376"/>
          <p:cNvSpPr txBox="1"/>
          <p:nvPr/>
        </p:nvSpPr>
        <p:spPr>
          <a:xfrm>
            <a:off x="1878235" y="57786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200" dirty="0"/>
          </a:p>
        </p:txBody>
      </p:sp>
      <p:sp>
        <p:nvSpPr>
          <p:cNvPr id="26" name="S15-label378"/>
          <p:cNvSpPr txBox="1"/>
          <p:nvPr/>
        </p:nvSpPr>
        <p:spPr>
          <a:xfrm>
            <a:off x="3100170" y="577863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200" dirty="0"/>
          </a:p>
        </p:txBody>
      </p:sp>
      <p:sp>
        <p:nvSpPr>
          <p:cNvPr id="27" name="S15-label380"/>
          <p:cNvSpPr txBox="1"/>
          <p:nvPr/>
        </p:nvSpPr>
        <p:spPr>
          <a:xfrm>
            <a:off x="4185200" y="577863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200" dirty="0"/>
          </a:p>
        </p:txBody>
      </p:sp>
      <p:sp>
        <p:nvSpPr>
          <p:cNvPr id="28" name="S15-label382"/>
          <p:cNvSpPr txBox="1"/>
          <p:nvPr/>
        </p:nvSpPr>
        <p:spPr>
          <a:xfrm>
            <a:off x="5133324" y="57786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200" dirty="0"/>
          </a:p>
        </p:txBody>
      </p:sp>
      <p:sp>
        <p:nvSpPr>
          <p:cNvPr id="29" name="S15-label384"/>
          <p:cNvSpPr txBox="1"/>
          <p:nvPr/>
        </p:nvSpPr>
        <p:spPr>
          <a:xfrm>
            <a:off x="2284801" y="1415913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과일별 학생 수</a:t>
            </a:r>
            <a:endParaRPr lang="ko-KR" sz="2200" dirty="0"/>
          </a:p>
        </p:txBody>
      </p:sp>
      <p:sp>
        <p:nvSpPr>
          <p:cNvPr id="30" name="S15-card385"/>
          <p:cNvSpPr/>
          <p:nvPr/>
        </p:nvSpPr>
        <p:spPr>
          <a:xfrm>
            <a:off x="6920911" y="2307082"/>
            <a:ext cx="4719401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15-cardtext386"/>
          <p:cNvSpPr txBox="1"/>
          <p:nvPr/>
        </p:nvSpPr>
        <p:spPr>
          <a:xfrm>
            <a:off x="7195231" y="2444242"/>
            <a:ext cx="4170761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눈금이 1씩 커져요.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1명</a:t>
            </a:r>
            <a:endParaRPr lang="ko-KR" sz="2800" dirty="0"/>
          </a:p>
        </p:txBody>
      </p:sp>
      <p:sp>
        <p:nvSpPr>
          <p:cNvPr id="32" name="S15-card387"/>
          <p:cNvSpPr/>
          <p:nvPr/>
        </p:nvSpPr>
        <p:spPr>
          <a:xfrm>
            <a:off x="6920911" y="4056634"/>
            <a:ext cx="4719401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15-cardtext388"/>
          <p:cNvSpPr txBox="1"/>
          <p:nvPr/>
        </p:nvSpPr>
        <p:spPr>
          <a:xfrm>
            <a:off x="7195231" y="4193794"/>
            <a:ext cx="4170761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명?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+ 5 + 2 + 6 = 16 (명)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평균</dc:title>
  <dc:subject>KR22-G05-MAT-MEAN-L01</dc:subject>
  <dc:creator>education-ppt</dc:creator>
  <cp:lastModifiedBy>education-ppt</cp:lastModifiedBy>
  <cp:revision>1</cp:revision>
  <dcterms:created xsi:type="dcterms:W3CDTF">2026-10-26T09:12:17Z</dcterms:created>
  <dcterms:modified xsi:type="dcterms:W3CDTF">2026-10-26T09:12:17Z</dcterms:modified>
</cp:coreProperties>
</file>