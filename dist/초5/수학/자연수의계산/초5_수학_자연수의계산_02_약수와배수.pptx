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81dcbe2-c8dc-d7ee-ddc3-a35bd2c9dfb2}">
          <p14:sldIdLst>
            <p14:sldId id="256"/>
            <p14:sldId id="257"/>
          </p14:sldIdLst>
        </p14:section>
        <p14:section name="개념" id="{e6ea6b1d-a8bb-f51a-974b-d45065b34c11}">
          <p14:sldIdLst>
            <p14:sldId id="258"/>
            <p14:sldId id="259"/>
            <p14:sldId id="260"/>
            <p14:sldId id="262"/>
            <p14:sldId id="264"/>
          </p14:sldIdLst>
        </p14:section>
        <p14:section name="연습" id="{88e53c8d-6f07-ffd2-b287-2ff8802fa570}">
          <p14:sldIdLst>
            <p14:sldId id="261"/>
            <p14:sldId id="263"/>
            <p14:sldId id="265"/>
          </p14:sldIdLst>
        </p14:section>
        <p14:section name="개념" id="{7d3c7958-eeaa-3dba-1e16-7e8aa3b28a97}">
          <p14:sldIdLst/>
        </p14:section>
        <p14:section name="연습" id="{1525e7ca-f961-1383-b3d9-c053a2389c33}">
          <p14:sldIdLst/>
        </p14:section>
        <p14:section name="개념" id="{d40bbe3f-09f5-6de8-3de4-138f16609a5a}">
          <p14:sldIdLst/>
        </p14:section>
        <p14:section name="연습" id="{235afba8-b3f2-ff8e-3d82-2c407c443f44}">
          <p14:sldIdLst/>
        </p14:section>
        <p14:section name="확인" id="{47b4cd15-84ad-f947-1fc0-46424537e793}">
          <p14:sldIdLst>
            <p14:sldId id="266"/>
            <p14:sldId id="267"/>
            <p14:sldId id="268"/>
          </p14:sldIdLst>
        </p14:section>
        <p14:section name="정리" id="{d064b170-2698-f9e2-511e-7f6533e44a66}">
          <p14:sldIdLst>
            <p14:sldId id="269"/>
          </p14:sldIdLst>
        </p14:section>
        <p14:section name="보충" id="{2e825d07-a67f-4dbf-9408-cd2ddf7f9d15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같은 수를 여러 가지 방법으로 남김없이 똑같이 나눌 수 있다는 것에서 약수에 대한 궁금증을 갖게 합니다.
시간: 약 2분
이렇게 말해 보세요
- “사탕 12개를 봉지에 똑같이 나누어 담으려고 해. 남는 사탕이 없으려면 한 봉지에 몇 개씩 담으면 될까?”
- “4개씩 담는 방법 말고 또 있을까? 오늘 모두 찾아보자.”
예상 답
- “3개씩이요.” “6개씩이요.” “5개씩은 안 돼요.” 어떤 답이든 괜찮습니다.
막히면
- 바둑돌 12개를 꺼내 직접 나누어 보게 합니다.
주의
- 답은 1, 2, 3, 4, 6, 12개씩입니다. 지금은 모두 말해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확인(나누어떨어지는 나눗셈과 나머지)]
목적: 나눗셈의 몫과 나머지를 구하고, 나머지가 0인 경우(나누어떨어짐)를 아는지 확인합니다.
시간: 약 3분
이렇게 말해 보세요
- “12 ÷ 3의 몫과 나머지는? 14 ÷ 4는?”
- “나머지가 0일 때를 무엇이라고 했지?”
- “6에 얼마를 곱하면 18이야?”
정답
- ① 몫 4, 나머지 0(나누어떨어짐)
- ② 몫 3, 나머지 2(3 × 4 + 2 = 14)
- ③ 3
막히면
- 나머지를 구하지 못하면 S15(보충)를 먼저 합니다. 보충으로도 어려우면 앞 학년 차시 ‘나머지가 있는 나눗셈’(3학년)를 다시 합니다.
주의
- ‘나누어떨어진다’는 나머지가 0이라는 뜻입니다. 오늘 약수의 뜻에 이 말이 그대로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약수의 뜻(나누어떨어지게 하는 수)]
목적: 12 ÷ 4처럼 나누어떨어지면 4는 12의 약수이고, 12 ÷ 5처럼 나머지가 있으면 5는 12의 약수가 아니라는 것을 압니다.
시간: 약 3분
이렇게 말해 보세요
- “왼쪽은 4개씩 묶었어. 몇 묶음이고 남는 것이 있어? 식으로 쓰면?”
- “오른쪽은 5개씩 묶었어. 몇 묶음이고 몇 개가 남아?”
- “나누어떨어지게 하는 수를 약수라고 해. 4는 12의 약수일까? 5는?”
예상 답
- “12 ÷ 4 = 3, 남는 것이 없어요.” “12 ÷ 5 = 2 … 2예요.” “4는 약수, 5는 약수가 아니에요.”
막히면
- 바둑돌 12개로 직접 4개씩, 5개씩 묶어 보게 합니다.
주의
- 오른쪽 그림의 마지막 줄 2개는 묶음에 들어가지 못한 나머지입니다.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1부터 나누어 약수 모두 구하기]
목적: 1부터 차례로 나누어 나머지가 0인 수를 모두 찾아 약수를 빠짐없이 구하는 방법을 보여 줍니다.
시간: 약 3분
이렇게 말해 보세요
- “12를 1로 나누면 나머지는? 2로 나누면? … 나머지가 0인 수에 ○를 했어.”
- “12의 약수를 모두 말해 볼래? 가장 작은 약수와 가장 큰 약수는?”
- “12보다 큰 수가 12의 약수일 수 있을까?”
예상 답
- “1, 2, 3, 4, 6, 12예요.” “가장 작은 것은 1, 가장 큰 것은 12예요.” “12보다 큰 수로는 나누어떨어지지 않아요.”
막히면
- 나머지가 헷갈리면 12 ÷ 5 = 2 … 2처럼 하나씩 함께 계산합니다.
주의
- 어떤 수의 약수는 그 수보다 클 수 없습니다. 1은 모든 수의 약수입니다.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직사각형 배열(곱셈 짝)로 약수 구하기]
목적: 곱해서 그 수가 되는 두 수(곱셈 짝)를 찾으면 약수를 짝지어 빠짐없이 구할 수 있다는 것을 압니다.
시간: 약 3분
이렇게 말해 보세요
- “바둑돌 12개로 직사각형을 만들어 볼래? 줄 수와 한 줄의 개수를 곱셈식으로 써 봐.”
- “4줄 3개씩도 만들 수 있지? 3줄 4개씩을 돌린 모양이라 같은 짝이야.”
- “곱셈식에 나온 수들은 모두 12의 약수일까? 12를 나누어 확인해 봐.”
예상 답
- “1 × 12, 2 × 6, 3 × 4예요.” “12 ÷ 6 = 2라서 6도 약수예요.”
막히면
- 바둑돌을 직접 놓아 직사각형을 만들게 합니다. 5줄은 만들 수 없다는 것도 확인합니다.
주의
- 짝을 1부터 차례로 찾다가 짝이 다시 나오면(4 × 3) 멈추면 됩니다. 세 그림의 점 크기는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연습(약수 모두 구하기)]
목적: 도움을 받으며 나눗셈이나 곱셈 짝으로 약수를 빠짐없이 구합니다.
시간: 약 4분
이렇게 말해 보세요
- “18은 1 × 18, 2 × 9 … 또 무엇이 있을까?”
- “20의 약수는? 짝을 지어 찾아볼래?”
- “7은 어때? 약수가 몇 개야?”
정답
- ① 1, 2, 3, 6, 9, 18
- ② 1, 2, 4, 5, 10, 20
- ③ 1, 7(약수가 2개뿐)
막히면
- 1부터 차례로 나누어 보는 표(S04)를 종이에 그려 함께 채웁니다.
주의
- 7처럼 약수가 1과 자기 자신뿐인 수도 있습니다(용어는 소개하지 않습니다).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배수의 뜻]
목적: 어떤 수를 1배, 2배, 3배 … 한 수가 그 수의 배수이고, 배수는 끝없이 많다는 것을 압니다.
시간: 약 3분
이렇게 말해 보세요
- “0에서 4씩 뛰어 볼까? 어디에 닿아?”
- “4를 1배 하면 4, 2배 하면 8 … 이런 수를 4의 배수라고 해.”
- “4의 배수는 몇 개나 있을까? 가장 작은 4의 배수는?”
예상 답
- “4, 8, 12, 16, 20, 24예요.” “끝없이 많아요.” “가장 작은 것은 4예요.”
막히면
- 4단 곱셈구구를 소리 내어 외우게 하고, 그 곱들이 4의 배수라고 연결합니다.
주의
- 어떤 수의 가장 작은 배수는 자기 자신(1배)입니다. 0은 다루지 않습니다.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연습(배수 구하기와 판별)]
목적: 도움을 받으며 배수를 구하고, 나누어떨어지는지로 어떤 수의 배수인지 판단합니다.
시간: 약 3분
이렇게 말해 보세요
- “6을 1배, 2배 … 해 볼까?”
- “7 × 7은? 7 × 8은? 50보다 작은 것은?”
- “25는 3으로 나누어떨어져?”
정답
- ① 6, 12, 18, 24, 30
- ② 49(7 × 7 = 49, 7 × 8 = 56은 50보다 큼)
- ③ 21, 30(25 ÷ 3 = 8 … 1)
막히면
- 곱셈구구표의 6단, 7단 줄을 종이에 써서 읽게 합니다.
주의
- ③에서 ‘나누어떨어지면 배수’라는 생각이 S09의 약수·배수 관계로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곱셈식으로 약수와 배수의 관계 알기]
목적: 곱셈식 하나로 약수와 배수를 함께 말할 수 있다는 관계를 압니다.
시간: 약 3분
이렇게 말해 보세요
- “12 = 3 × 4야. 12를 3으로 나누면 나누어떨어지지? 그러니까 3은 12의 무엇이야?”
- “12는 3을 4배 한 수야. 그러니까 12는 3의 무엇이야?”
- “20 = 4 × 5로도 말해 볼래?”
예상 답
- “3은 12의 약수예요.” “12는 3의 배수예요.” “4와 5는 20의 약수, 20은 4와 5의 배수예요.”
막히면
- 배열을 가리키며 “12개를 3줄로 나누면 남김없이 나뉘지(약수), 4개씩 3번 모으면 12개(배수)”라고 말해 줍니다.
주의
- 약수와 배수는 한 쌍의 관계입니다. ‘3은 12의 약수’와 ‘12는 3의 배수’는 같은 사실을 반대쪽에서 말한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비교(약수와 배수를 거꾸로 말하기)]
목적: 약수와 배수를 거꾸로 말하는 실수(M2)를 나눗셈으로 반박합니다.
시간: 약 3분
이렇게 말해 보세요
- “12 ÷ 3은 나누어떨어져? 그러면 3은 12의 무엇이야?”
- “3 ÷ 12는 나누어떨어질까? 그러면 12가 3의 약수일 수 있을까?”
예상 답
- “곰이요. 작은 수가 약수예요.”
정답
- 곰이 맞습니다. 12 ÷ 3 = 4로 나누어떨어지므로 3은 12의 약수이고, 12는 3을 4배 한 수이므로 3의 배수입니다.
- 토끼는 거꾸로 말했습니다. 약수는 그 수보다 클 수 없으므로 12는 3의 약수가 될 수 없습니다.
막히면
- “약수는 나누는 수, 배수는 곱해서 커진 수”라고 짧게 정리해 따라 말하게 합니다.
주의
- ‘작은 수가 약수’라는 말은 두 수가 약수·배수 관계일 때만 맞습니다. 5와 12처럼 관계가 없는 두 수도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약수를 모두 구하고(A), 배수를 구하며 곱셈식으로 관계를 말하는지(B) 확인합니다.
시간: 약 4분
이렇게 말해 보세요
- “이번에는 혼자 해 볼래? ③은 소리 내어 말해 줘.”
정답
- ① 1, 2, 4, 8, 16
- ② 9, 18, 27, 36
- ③ 4와 6은 24의 약수이고, 24는 4와 6의 배수입니다.
막히면
- 바로 알려 주지 말고 “16을 1부터 나누어 볼까?”라고만 묻습니다.
- 도움을 받아 해결했다면 기록표에 ‘도움’으로 표시합니다.
주의
- ①에서 8을 빠뜨리기 쉽습니다(2 × 8). 정답 확인은 다음 장(S12)에서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약수를 빠뜨리거나 약수·배수를 거꾸로 말하는 실수를 바로잡습니다. 수업용에만 있는 장입니다.
시간: 약 2분
이렇게 말해 보세요
- “네 답과 같은지 볼까? 빠뜨린 약수가 있으면 짝을 지어 다시 찾아보자.”
정답
- ① 1, 2, 4, 8, 16 ② 9, 18, 27, 36 ③ 4와 6은 24의 약수, 24는 4와 6의 배수
막히면
- ③을 거꾸로 말했다면 S10으로 돌아갑니다(M2).
- 1이나 자기 자신을 빠뜨렸다면 S04의 표를 다시 봅니다(M1).
주의
- 16은 4 × 4라서 4가 짝 없이 한 번만 나옵니다. 이 장은 학생용 파일에는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확인(약수와 배수 함께 쓰기)]
목적: 처음 보는 문제에서 약수를 빠짐없이 구하고, 배수와 약수의 조건을 함께 따지는지 확인합니다.
시간: 약 3분
이렇게 말해 보세요
- “①을 풀고 어떻게 빠짐없이 찾았는지 말해 줘.”
- “②는 30의 약수를 먼저 모두 쓰고, 그중 6의 배수를 골라 볼까?”
정답
- ① 1, 3, 5, 15, 4개
- ② 6, 30 (30의 약수 1, 2, 3, 5, 6, 10, 15, 30 중 6으로 나누어떨어지는 수)
막히면
- ②는 표를 두 줄로 그려 30의 약수를 쓰고, 6의 배수(6, 12, 18, 24, 30)와 겹치는 수에 ○를 하게 합니다.
주의
- 두 문제 모두 바르게 하고 방법을 말하면 목표 A·B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1분
이렇게 말해 보세요
- “약수와 배수를 한 문장씩 설명해 볼래?”
- “다음 수업을 시작할 때 이 세 문제를 먼저 풀 거야.”
예상 답
- “약수는 나누어떨어지게 하는 수예요.” “배수는 몇 배 한 수예요.”
정답
- ① 1, 2, 4, 5, 10, 20 ② 8, 16, 24 ③ 5와 7은 35의 약수, 35는 5와 7의 배수
막히면
- S09의 곱셈식 문장을 함께 읽습니다.
주의
- 복습 세 문제는 다음 수업을 시작할 때 활동지 마지막 쪽과 함께 풉니다.
- S11·S13 결과를 기록표에 적어 두면 다음 차시(최대공약수와 최소공배수)로 넘어갈지 판단할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보충(나머지가 있는 나눗셈)]
목적: S02에서 몫과 나머지가 흔들리면, 바둑돌을 묶어 몫과 나머지를 구하고 ‘나누어떨어진다’의 뜻을 다시 익힙니다.
시간: 약 5분
이렇게 말해 보세요
- “14개를 4개씩 묶으면 몇 묶음이야? 몇 개가 남아?”
- “16개를 4개씩 묶으면 어때? 남는 것이 있어?”
정답
- 14 ÷ 4 = 3 … 2
- 16 ÷ 4 = 4, 나누어떨어집니다.
막히면
- 바둑돌을 직접 4개씩 접시에 담게 합니다.
주의
- 보충으로도 어려우면 앞 학년 차시 ‘나머지가 있는 나눗셈’(3학년)를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자연수의계산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약수와 배수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약수와 배수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약수와 배수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약수와 배수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12개를 남김없이 똑같이 나누어 담으려면?</a:t>
            </a:r>
            <a:endParaRPr lang="ko-KR" sz="2800" dirty="0"/>
          </a:p>
        </p:txBody>
      </p:sp>
      <p:sp>
        <p:nvSpPr>
          <p:cNvPr id="4" name="S01-dot1"/>
          <p:cNvSpPr/>
          <p:nvPr/>
        </p:nvSpPr>
        <p:spPr>
          <a:xfrm>
            <a:off x="8653882" y="1384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9202522" y="1384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9751162" y="1384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10299802" y="1384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8653882" y="1933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9202522" y="1933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9751162" y="1933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10299802" y="1933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8653882" y="248168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9202522" y="248168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dot11"/>
          <p:cNvSpPr/>
          <p:nvPr/>
        </p:nvSpPr>
        <p:spPr>
          <a:xfrm>
            <a:off x="9751162" y="248168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10299802" y="248168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group13"/>
          <p:cNvSpPr/>
          <p:nvPr/>
        </p:nvSpPr>
        <p:spPr>
          <a:xfrm>
            <a:off x="8577072" y="131673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01-group14"/>
          <p:cNvSpPr/>
          <p:nvPr/>
        </p:nvSpPr>
        <p:spPr>
          <a:xfrm>
            <a:off x="8577072" y="186537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1-group15"/>
          <p:cNvSpPr/>
          <p:nvPr/>
        </p:nvSpPr>
        <p:spPr>
          <a:xfrm>
            <a:off x="8577072" y="241401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1-figure16" descr="바둑돌 12개를 4개씩 3줄로 묶은 배열"/>
          <p:cNvSpPr/>
          <p:nvPr/>
        </p:nvSpPr>
        <p:spPr>
          <a:xfrm>
            <a:off x="8549640" y="1280160"/>
            <a:ext cx="219456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01-card17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1" name="S01-cardtext18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어떤 수의 약수를 모두 구해요.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배수를 구하고 약수와 배수의 관계를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몫과 나머지를 구해요.</a:t>
            </a:r>
            <a:endParaRPr lang="ko-KR" sz="2800" dirty="0"/>
          </a:p>
        </p:txBody>
      </p:sp>
      <p:sp>
        <p:nvSpPr>
          <p:cNvPr id="4" name="S02-chip2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eqtext21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□ … □</a:t>
            </a:r>
            <a:endParaRPr lang="ko-KR" sz="3200" dirty="0"/>
          </a:p>
        </p:txBody>
      </p:sp>
      <p:sp>
        <p:nvSpPr>
          <p:cNvPr id="6" name="S02-chip2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eqtext23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÷ 4 = □ … □</a:t>
            </a:r>
            <a:endParaRPr lang="ko-KR" sz="3200" dirty="0"/>
          </a:p>
        </p:txBody>
      </p:sp>
      <p:sp>
        <p:nvSpPr>
          <p:cNvPr id="8" name="S02-chip2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eqtext25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□ = 18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약수의 뜻</a:t>
            </a:r>
            <a:endParaRPr lang="ko-KR" sz="4000" dirty="0"/>
          </a:p>
        </p:txBody>
      </p:sp>
      <p:sp>
        <p:nvSpPr>
          <p:cNvPr id="3" name="S03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12개를 몇 개씩 묶어 볼까요?</a:t>
            </a:r>
            <a:endParaRPr lang="ko-KR" sz="2800" dirty="0"/>
          </a:p>
        </p:txBody>
      </p:sp>
      <p:sp>
        <p:nvSpPr>
          <p:cNvPr id="4" name="S03-card27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8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수를 나누어떨어지게 하는 수를 그 수의 약수라고 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4는 12의 약수이고, 5는 12의 약수가 아니에요.</a:t>
            </a:r>
            <a:endParaRPr lang="ko-KR" sz="2800" dirty="0"/>
          </a:p>
        </p:txBody>
      </p:sp>
      <p:sp>
        <p:nvSpPr>
          <p:cNvPr id="6" name="S03-dot29"/>
          <p:cNvSpPr/>
          <p:nvPr/>
        </p:nvSpPr>
        <p:spPr>
          <a:xfrm>
            <a:off x="2414016" y="25863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30"/>
          <p:cNvSpPr/>
          <p:nvPr/>
        </p:nvSpPr>
        <p:spPr>
          <a:xfrm>
            <a:off x="2871216" y="25863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31"/>
          <p:cNvSpPr/>
          <p:nvPr/>
        </p:nvSpPr>
        <p:spPr>
          <a:xfrm>
            <a:off x="3328416" y="25863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32"/>
          <p:cNvSpPr/>
          <p:nvPr/>
        </p:nvSpPr>
        <p:spPr>
          <a:xfrm>
            <a:off x="3785616" y="25863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dot33"/>
          <p:cNvSpPr/>
          <p:nvPr/>
        </p:nvSpPr>
        <p:spPr>
          <a:xfrm>
            <a:off x="2414016" y="30435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34"/>
          <p:cNvSpPr/>
          <p:nvPr/>
        </p:nvSpPr>
        <p:spPr>
          <a:xfrm>
            <a:off x="2871216" y="30435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35"/>
          <p:cNvSpPr/>
          <p:nvPr/>
        </p:nvSpPr>
        <p:spPr>
          <a:xfrm>
            <a:off x="3328416" y="30435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36"/>
          <p:cNvSpPr/>
          <p:nvPr/>
        </p:nvSpPr>
        <p:spPr>
          <a:xfrm>
            <a:off x="3785616" y="30435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37"/>
          <p:cNvSpPr/>
          <p:nvPr/>
        </p:nvSpPr>
        <p:spPr>
          <a:xfrm>
            <a:off x="2414016" y="35007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dot38"/>
          <p:cNvSpPr/>
          <p:nvPr/>
        </p:nvSpPr>
        <p:spPr>
          <a:xfrm>
            <a:off x="2871216" y="35007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dot39"/>
          <p:cNvSpPr/>
          <p:nvPr/>
        </p:nvSpPr>
        <p:spPr>
          <a:xfrm>
            <a:off x="3328416" y="35007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dot40"/>
          <p:cNvSpPr/>
          <p:nvPr/>
        </p:nvSpPr>
        <p:spPr>
          <a:xfrm>
            <a:off x="3785616" y="35007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group41"/>
          <p:cNvSpPr/>
          <p:nvPr/>
        </p:nvSpPr>
        <p:spPr>
          <a:xfrm>
            <a:off x="2354580" y="2536063"/>
            <a:ext cx="17739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3-group42"/>
          <p:cNvSpPr/>
          <p:nvPr/>
        </p:nvSpPr>
        <p:spPr>
          <a:xfrm>
            <a:off x="2354580" y="2993263"/>
            <a:ext cx="17739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3-group43"/>
          <p:cNvSpPr/>
          <p:nvPr/>
        </p:nvSpPr>
        <p:spPr>
          <a:xfrm>
            <a:off x="2354580" y="3450463"/>
            <a:ext cx="17739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3-figure44" descr="바둑돌 12개를 4개씩 3묶음으로 묶은 배열(남는 것 없음)"/>
          <p:cNvSpPr/>
          <p:nvPr/>
        </p:nvSpPr>
        <p:spPr>
          <a:xfrm>
            <a:off x="2327148" y="2499487"/>
            <a:ext cx="18288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3-label45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4개씩 3묶음</a:t>
            </a:r>
            <a:endParaRPr lang="ko-KR" sz="2200" dirty="0"/>
          </a:p>
        </p:txBody>
      </p:sp>
      <p:sp>
        <p:nvSpPr>
          <p:cNvPr id="23" name="S03-dot46"/>
          <p:cNvSpPr/>
          <p:nvPr/>
        </p:nvSpPr>
        <p:spPr>
          <a:xfrm>
            <a:off x="7891272" y="25863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dot47"/>
          <p:cNvSpPr/>
          <p:nvPr/>
        </p:nvSpPr>
        <p:spPr>
          <a:xfrm>
            <a:off x="8348472" y="25863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dot48"/>
          <p:cNvSpPr/>
          <p:nvPr/>
        </p:nvSpPr>
        <p:spPr>
          <a:xfrm>
            <a:off x="8805672" y="25863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3-dot49"/>
          <p:cNvSpPr/>
          <p:nvPr/>
        </p:nvSpPr>
        <p:spPr>
          <a:xfrm>
            <a:off x="9262872" y="25863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3-dot50"/>
          <p:cNvSpPr/>
          <p:nvPr/>
        </p:nvSpPr>
        <p:spPr>
          <a:xfrm>
            <a:off x="9720072" y="25863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3-dot51"/>
          <p:cNvSpPr/>
          <p:nvPr/>
        </p:nvSpPr>
        <p:spPr>
          <a:xfrm>
            <a:off x="7891272" y="30435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3-dot52"/>
          <p:cNvSpPr/>
          <p:nvPr/>
        </p:nvSpPr>
        <p:spPr>
          <a:xfrm>
            <a:off x="8348472" y="30435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3-dot53"/>
          <p:cNvSpPr/>
          <p:nvPr/>
        </p:nvSpPr>
        <p:spPr>
          <a:xfrm>
            <a:off x="8805672" y="30435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3-dot54"/>
          <p:cNvSpPr/>
          <p:nvPr/>
        </p:nvSpPr>
        <p:spPr>
          <a:xfrm>
            <a:off x="9262872" y="30435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3-dot55"/>
          <p:cNvSpPr/>
          <p:nvPr/>
        </p:nvSpPr>
        <p:spPr>
          <a:xfrm>
            <a:off x="9720072" y="30435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3-dot56"/>
          <p:cNvSpPr/>
          <p:nvPr/>
        </p:nvSpPr>
        <p:spPr>
          <a:xfrm>
            <a:off x="7891272" y="35007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3-dot57"/>
          <p:cNvSpPr/>
          <p:nvPr/>
        </p:nvSpPr>
        <p:spPr>
          <a:xfrm>
            <a:off x="8348472" y="3500755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3-group58"/>
          <p:cNvSpPr/>
          <p:nvPr/>
        </p:nvSpPr>
        <p:spPr>
          <a:xfrm>
            <a:off x="7831836" y="2536063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6" name="S03-group59"/>
          <p:cNvSpPr/>
          <p:nvPr/>
        </p:nvSpPr>
        <p:spPr>
          <a:xfrm>
            <a:off x="7831836" y="2993263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7" name="S03-figure60" descr="바둑돌 12개를 5개씩 묶으면 2묶음이고 2개가 남는 배열"/>
          <p:cNvSpPr/>
          <p:nvPr/>
        </p:nvSpPr>
        <p:spPr>
          <a:xfrm>
            <a:off x="7804404" y="2499487"/>
            <a:ext cx="2286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03-label61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5개씩 2묶음, 2개 남음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약수를 모두 구해요</a:t>
            </a:r>
            <a:endParaRPr lang="ko-KR" sz="4000" dirty="0"/>
          </a:p>
        </p:txBody>
      </p:sp>
      <p:sp>
        <p:nvSpPr>
          <p:cNvPr id="3" name="S04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12를 1부터 12까지의 수로 나누어 나머지를 봐요.</a:t>
            </a:r>
            <a:endParaRPr lang="ko-KR" sz="2800" dirty="0"/>
          </a:p>
        </p:txBody>
      </p:sp>
      <p:sp>
        <p:nvSpPr>
          <p:cNvPr id="4" name="S04-card63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64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12의 약수: 1, 2, 3, 4, 6, 12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자기 자신(12)은 언제나 약수예요.</a:t>
            </a:r>
            <a:endParaRPr lang="ko-KR" sz="2800" dirty="0"/>
          </a:p>
        </p:txBody>
      </p:sp>
      <p:graphicFrame>
        <p:nvGraphicFramePr>
          <p:cNvPr id="5" name="S04-table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42743"/>
          <a:ext cx="11091672" cy="914400"/>
        </p:xfrm>
        <a:graphic>
          <a:graphicData uri="http://schemas.openxmlformats.org/drawingml/2006/table">
            <a:tbl>
              <a:tblPr/>
              <a:tblGrid>
                <a:gridCol w="1774668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나누는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직사각형으로 찾아요</a:t>
            </a:r>
            <a:endParaRPr lang="ko-KR" sz="4000" dirty="0"/>
          </a:p>
        </p:txBody>
      </p:sp>
      <p:sp>
        <p:nvSpPr>
          <p:cNvPr id="3" name="S05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12개로 만들 수 있는 직사각형이에요.</a:t>
            </a:r>
            <a:endParaRPr lang="ko-KR" sz="2800" dirty="0"/>
          </a:p>
        </p:txBody>
      </p:sp>
      <p:sp>
        <p:nvSpPr>
          <p:cNvPr id="4" name="S05-card67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68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곱해서 12가 되는 두 수가 모두 12의 약수예요.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12, 2와 6, 3과 4 → 1, 2, 3, 4, 6, 12</a:t>
            </a:r>
            <a:endParaRPr lang="ko-KR" sz="2800" dirty="0"/>
          </a:p>
        </p:txBody>
      </p:sp>
      <p:sp>
        <p:nvSpPr>
          <p:cNvPr id="6" name="S05-dot69"/>
          <p:cNvSpPr/>
          <p:nvPr/>
        </p:nvSpPr>
        <p:spPr>
          <a:xfrm>
            <a:off x="603801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5-dot70"/>
          <p:cNvSpPr/>
          <p:nvPr/>
        </p:nvSpPr>
        <p:spPr>
          <a:xfrm>
            <a:off x="894123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5-dot71"/>
          <p:cNvSpPr/>
          <p:nvPr/>
        </p:nvSpPr>
        <p:spPr>
          <a:xfrm>
            <a:off x="1184445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dot72"/>
          <p:cNvSpPr/>
          <p:nvPr/>
        </p:nvSpPr>
        <p:spPr>
          <a:xfrm>
            <a:off x="1474767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dot73"/>
          <p:cNvSpPr/>
          <p:nvPr/>
        </p:nvSpPr>
        <p:spPr>
          <a:xfrm>
            <a:off x="1765089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dot74"/>
          <p:cNvSpPr/>
          <p:nvPr/>
        </p:nvSpPr>
        <p:spPr>
          <a:xfrm>
            <a:off x="2055411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dot75"/>
          <p:cNvSpPr/>
          <p:nvPr/>
        </p:nvSpPr>
        <p:spPr>
          <a:xfrm>
            <a:off x="2345733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dot76"/>
          <p:cNvSpPr/>
          <p:nvPr/>
        </p:nvSpPr>
        <p:spPr>
          <a:xfrm>
            <a:off x="2636055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5-dot77"/>
          <p:cNvSpPr/>
          <p:nvPr/>
        </p:nvSpPr>
        <p:spPr>
          <a:xfrm>
            <a:off x="2926377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dot78"/>
          <p:cNvSpPr/>
          <p:nvPr/>
        </p:nvSpPr>
        <p:spPr>
          <a:xfrm>
            <a:off x="3216699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5-dot79"/>
          <p:cNvSpPr/>
          <p:nvPr/>
        </p:nvSpPr>
        <p:spPr>
          <a:xfrm>
            <a:off x="3507021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dot80"/>
          <p:cNvSpPr/>
          <p:nvPr/>
        </p:nvSpPr>
        <p:spPr>
          <a:xfrm>
            <a:off x="3797343" y="3095287"/>
            <a:ext cx="180000" cy="18000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5-figure81" descr="바둑돌 12개를 1줄에 12개 놓은 배열"/>
          <p:cNvSpPr/>
          <p:nvPr/>
        </p:nvSpPr>
        <p:spPr>
          <a:xfrm>
            <a:off x="548640" y="3040126"/>
            <a:ext cx="3483864" cy="29032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05-label82"/>
          <p:cNvSpPr txBox="1"/>
          <p:nvPr/>
        </p:nvSpPr>
        <p:spPr>
          <a:xfrm>
            <a:off x="548640" y="4432046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× 12</a:t>
            </a:r>
            <a:endParaRPr lang="ko-KR" sz="2200" dirty="0"/>
          </a:p>
        </p:txBody>
      </p:sp>
      <p:sp>
        <p:nvSpPr>
          <p:cNvPr id="20" name="S05-dot83"/>
          <p:cNvSpPr/>
          <p:nvPr/>
        </p:nvSpPr>
        <p:spPr>
          <a:xfrm>
            <a:off x="5169469" y="291864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5-dot84"/>
          <p:cNvSpPr/>
          <p:nvPr/>
        </p:nvSpPr>
        <p:spPr>
          <a:xfrm>
            <a:off x="5498653" y="291864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5-dot85"/>
          <p:cNvSpPr/>
          <p:nvPr/>
        </p:nvSpPr>
        <p:spPr>
          <a:xfrm>
            <a:off x="5827837" y="291864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5-dot86"/>
          <p:cNvSpPr/>
          <p:nvPr/>
        </p:nvSpPr>
        <p:spPr>
          <a:xfrm>
            <a:off x="6157021" y="291864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5-dot87"/>
          <p:cNvSpPr/>
          <p:nvPr/>
        </p:nvSpPr>
        <p:spPr>
          <a:xfrm>
            <a:off x="6486205" y="291864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5-dot88"/>
          <p:cNvSpPr/>
          <p:nvPr/>
        </p:nvSpPr>
        <p:spPr>
          <a:xfrm>
            <a:off x="6815389" y="291864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5-dot89"/>
          <p:cNvSpPr/>
          <p:nvPr/>
        </p:nvSpPr>
        <p:spPr>
          <a:xfrm>
            <a:off x="5169469" y="3247832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5-dot90"/>
          <p:cNvSpPr/>
          <p:nvPr/>
        </p:nvSpPr>
        <p:spPr>
          <a:xfrm>
            <a:off x="5498653" y="3247832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5-dot91"/>
          <p:cNvSpPr/>
          <p:nvPr/>
        </p:nvSpPr>
        <p:spPr>
          <a:xfrm>
            <a:off x="5827837" y="3247832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5-dot92"/>
          <p:cNvSpPr/>
          <p:nvPr/>
        </p:nvSpPr>
        <p:spPr>
          <a:xfrm>
            <a:off x="6157021" y="3247832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5-dot93"/>
          <p:cNvSpPr/>
          <p:nvPr/>
        </p:nvSpPr>
        <p:spPr>
          <a:xfrm>
            <a:off x="6486205" y="3247832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5-dot94"/>
          <p:cNvSpPr/>
          <p:nvPr/>
        </p:nvSpPr>
        <p:spPr>
          <a:xfrm>
            <a:off x="6815389" y="3247832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5-figure95" descr="바둑돌 12개를 2줄에 6개씩 놓은 배열"/>
          <p:cNvSpPr/>
          <p:nvPr/>
        </p:nvSpPr>
        <p:spPr>
          <a:xfrm>
            <a:off x="5106924" y="2856103"/>
            <a:ext cx="1975104" cy="65836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05-label96"/>
          <p:cNvSpPr txBox="1"/>
          <p:nvPr/>
        </p:nvSpPr>
        <p:spPr>
          <a:xfrm>
            <a:off x="4352544" y="4432046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6</a:t>
            </a:r>
            <a:endParaRPr lang="ko-KR" sz="2200" dirty="0"/>
          </a:p>
        </p:txBody>
      </p:sp>
      <p:sp>
        <p:nvSpPr>
          <p:cNvPr id="34" name="S05-dot97"/>
          <p:cNvSpPr/>
          <p:nvPr/>
        </p:nvSpPr>
        <p:spPr>
          <a:xfrm>
            <a:off x="9302557" y="2754056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5-dot98"/>
          <p:cNvSpPr/>
          <p:nvPr/>
        </p:nvSpPr>
        <p:spPr>
          <a:xfrm>
            <a:off x="9631741" y="2754056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5-dot99"/>
          <p:cNvSpPr/>
          <p:nvPr/>
        </p:nvSpPr>
        <p:spPr>
          <a:xfrm>
            <a:off x="9960925" y="2754056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5-dot100"/>
          <p:cNvSpPr/>
          <p:nvPr/>
        </p:nvSpPr>
        <p:spPr>
          <a:xfrm>
            <a:off x="10290109" y="2754056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5-dot101"/>
          <p:cNvSpPr/>
          <p:nvPr/>
        </p:nvSpPr>
        <p:spPr>
          <a:xfrm>
            <a:off x="9302557" y="308324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5-dot102"/>
          <p:cNvSpPr/>
          <p:nvPr/>
        </p:nvSpPr>
        <p:spPr>
          <a:xfrm>
            <a:off x="9631741" y="308324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5-dot103"/>
          <p:cNvSpPr/>
          <p:nvPr/>
        </p:nvSpPr>
        <p:spPr>
          <a:xfrm>
            <a:off x="9960925" y="308324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5-dot104"/>
          <p:cNvSpPr/>
          <p:nvPr/>
        </p:nvSpPr>
        <p:spPr>
          <a:xfrm>
            <a:off x="10290109" y="308324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5-dot105"/>
          <p:cNvSpPr/>
          <p:nvPr/>
        </p:nvSpPr>
        <p:spPr>
          <a:xfrm>
            <a:off x="9302557" y="341242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5-dot106"/>
          <p:cNvSpPr/>
          <p:nvPr/>
        </p:nvSpPr>
        <p:spPr>
          <a:xfrm>
            <a:off x="9631741" y="341242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5-dot107"/>
          <p:cNvSpPr/>
          <p:nvPr/>
        </p:nvSpPr>
        <p:spPr>
          <a:xfrm>
            <a:off x="9960925" y="341242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5-dot108"/>
          <p:cNvSpPr/>
          <p:nvPr/>
        </p:nvSpPr>
        <p:spPr>
          <a:xfrm>
            <a:off x="10290109" y="341242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5-figure109" descr="바둑돌 12개를 3줄에 4개씩 놓은 배열"/>
          <p:cNvSpPr/>
          <p:nvPr/>
        </p:nvSpPr>
        <p:spPr>
          <a:xfrm>
            <a:off x="9240012" y="2691511"/>
            <a:ext cx="1316736" cy="98755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05-label110"/>
          <p:cNvSpPr txBox="1"/>
          <p:nvPr/>
        </p:nvSpPr>
        <p:spPr>
          <a:xfrm>
            <a:off x="8156448" y="4432046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약수를 구해 봐요</a:t>
            </a:r>
            <a:endParaRPr lang="ko-KR" sz="4000" dirty="0"/>
          </a:p>
        </p:txBody>
      </p:sp>
      <p:sp>
        <p:nvSpPr>
          <p:cNvPr id="3" name="S06-text1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약수를 모두 써요.</a:t>
            </a:r>
            <a:endParaRPr lang="ko-KR" sz="2800" dirty="0"/>
          </a:p>
        </p:txBody>
      </p:sp>
      <p:sp>
        <p:nvSpPr>
          <p:cNvPr id="4" name="S06-card1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1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곱해서 그 수가 되는 두 수를 짝지어 찾아요.</a:t>
            </a:r>
            <a:endParaRPr lang="ko-KR" sz="2800" dirty="0"/>
          </a:p>
        </p:txBody>
      </p:sp>
      <p:sp>
        <p:nvSpPr>
          <p:cNvPr id="6" name="S06-chip11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text11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18의 약수</a:t>
            </a:r>
            <a:endParaRPr lang="ko-KR" sz="2800" dirty="0"/>
          </a:p>
        </p:txBody>
      </p:sp>
      <p:sp>
        <p:nvSpPr>
          <p:cNvPr id="8" name="S06-chip11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6-text11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20의 약수</a:t>
            </a:r>
            <a:endParaRPr lang="ko-KR" sz="2800" dirty="0"/>
          </a:p>
        </p:txBody>
      </p:sp>
      <p:sp>
        <p:nvSpPr>
          <p:cNvPr id="10" name="S06-chip11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6-text11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7의 약수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배수의 뜻</a:t>
            </a:r>
            <a:endParaRPr lang="ko-KR" sz="4000" dirty="0"/>
          </a:p>
        </p:txBody>
      </p:sp>
      <p:sp>
        <p:nvSpPr>
          <p:cNvPr id="3" name="S07-text1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4를 1배, 2배, 3배 … 한 수를 찾아요.</a:t>
            </a:r>
            <a:endParaRPr lang="ko-KR" sz="2800" dirty="0"/>
          </a:p>
        </p:txBody>
      </p:sp>
      <p:sp>
        <p:nvSpPr>
          <p:cNvPr id="4" name="S07-card1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수를 1배, 2배, 3배 … 한 수를 그 수의 배수라고 해요.</a:t>
            </a:r>
            <a:endParaRPr lang="ko-KR" sz="2800" dirty="0"/>
          </a:p>
        </p:txBody>
      </p:sp>
      <p:sp>
        <p:nvSpPr>
          <p:cNvPr id="6" name="S07-card123"/>
          <p:cNvSpPr/>
          <p:nvPr/>
        </p:nvSpPr>
        <p:spPr>
          <a:xfrm>
            <a:off x="548640" y="392379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124"/>
          <p:cNvSpPr txBox="1"/>
          <p:nvPr/>
        </p:nvSpPr>
        <p:spPr>
          <a:xfrm>
            <a:off x="822960" y="406095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1 = 4, 4 × 2 = 8,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12 …</a:t>
            </a:r>
            <a:endParaRPr lang="ko-KR" sz="2800" dirty="0"/>
          </a:p>
        </p:txBody>
      </p:sp>
      <p:sp>
        <p:nvSpPr>
          <p:cNvPr id="8" name="S07-card125"/>
          <p:cNvSpPr/>
          <p:nvPr/>
        </p:nvSpPr>
        <p:spPr>
          <a:xfrm>
            <a:off x="6208776" y="392379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7-cardtext126"/>
          <p:cNvSpPr txBox="1"/>
          <p:nvPr/>
        </p:nvSpPr>
        <p:spPr>
          <a:xfrm>
            <a:off x="6483096" y="406095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4의 배수: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 8, 12, 16, 20, 24 …</a:t>
            </a:r>
            <a:endParaRPr lang="ko-KR" sz="2800" dirty="0"/>
          </a:p>
        </p:txBody>
      </p:sp>
      <p:sp>
        <p:nvSpPr>
          <p:cNvPr id="10" name="S07-line127"/>
          <p:cNvSpPr/>
          <p:nvPr/>
        </p:nvSpPr>
        <p:spPr>
          <a:xfrm>
            <a:off x="685800" y="2999232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1" name="S07-line128"/>
          <p:cNvSpPr/>
          <p:nvPr/>
        </p:nvSpPr>
        <p:spPr>
          <a:xfrm>
            <a:off x="960120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7-label129"/>
          <p:cNvSpPr txBox="1"/>
          <p:nvPr/>
        </p:nvSpPr>
        <p:spPr>
          <a:xfrm>
            <a:off x="502920" y="3182112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000" dirty="0"/>
          </a:p>
        </p:txBody>
      </p:sp>
      <p:sp>
        <p:nvSpPr>
          <p:cNvPr id="13" name="S07-line130"/>
          <p:cNvSpPr/>
          <p:nvPr/>
        </p:nvSpPr>
        <p:spPr>
          <a:xfrm>
            <a:off x="1387983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ine131"/>
          <p:cNvSpPr/>
          <p:nvPr/>
        </p:nvSpPr>
        <p:spPr>
          <a:xfrm>
            <a:off x="1815846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7-line132"/>
          <p:cNvSpPr/>
          <p:nvPr/>
        </p:nvSpPr>
        <p:spPr>
          <a:xfrm>
            <a:off x="2243709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line133"/>
          <p:cNvSpPr/>
          <p:nvPr/>
        </p:nvSpPr>
        <p:spPr>
          <a:xfrm>
            <a:off x="2671572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7-label134"/>
          <p:cNvSpPr txBox="1"/>
          <p:nvPr/>
        </p:nvSpPr>
        <p:spPr>
          <a:xfrm>
            <a:off x="2214372" y="3182112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18" name="S07-line135"/>
          <p:cNvSpPr/>
          <p:nvPr/>
        </p:nvSpPr>
        <p:spPr>
          <a:xfrm>
            <a:off x="3099435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7-line136"/>
          <p:cNvSpPr/>
          <p:nvPr/>
        </p:nvSpPr>
        <p:spPr>
          <a:xfrm>
            <a:off x="3527298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7-line137"/>
          <p:cNvSpPr/>
          <p:nvPr/>
        </p:nvSpPr>
        <p:spPr>
          <a:xfrm>
            <a:off x="3955161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7-line138"/>
          <p:cNvSpPr/>
          <p:nvPr/>
        </p:nvSpPr>
        <p:spPr>
          <a:xfrm>
            <a:off x="4383024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7-label139"/>
          <p:cNvSpPr txBox="1"/>
          <p:nvPr/>
        </p:nvSpPr>
        <p:spPr>
          <a:xfrm>
            <a:off x="3925824" y="3182112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000" dirty="0"/>
          </a:p>
        </p:txBody>
      </p:sp>
      <p:sp>
        <p:nvSpPr>
          <p:cNvPr id="23" name="S07-line140"/>
          <p:cNvSpPr/>
          <p:nvPr/>
        </p:nvSpPr>
        <p:spPr>
          <a:xfrm>
            <a:off x="4810887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7-line141"/>
          <p:cNvSpPr/>
          <p:nvPr/>
        </p:nvSpPr>
        <p:spPr>
          <a:xfrm>
            <a:off x="5238750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7-line142"/>
          <p:cNvSpPr/>
          <p:nvPr/>
        </p:nvSpPr>
        <p:spPr>
          <a:xfrm>
            <a:off x="5666613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7-line143"/>
          <p:cNvSpPr/>
          <p:nvPr/>
        </p:nvSpPr>
        <p:spPr>
          <a:xfrm>
            <a:off x="6094476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7-label144"/>
          <p:cNvSpPr txBox="1"/>
          <p:nvPr/>
        </p:nvSpPr>
        <p:spPr>
          <a:xfrm>
            <a:off x="5637276" y="3182112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000" dirty="0"/>
          </a:p>
        </p:txBody>
      </p:sp>
      <p:sp>
        <p:nvSpPr>
          <p:cNvPr id="28" name="S07-line145"/>
          <p:cNvSpPr/>
          <p:nvPr/>
        </p:nvSpPr>
        <p:spPr>
          <a:xfrm>
            <a:off x="6522339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7-line146"/>
          <p:cNvSpPr/>
          <p:nvPr/>
        </p:nvSpPr>
        <p:spPr>
          <a:xfrm>
            <a:off x="6950202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7-line147"/>
          <p:cNvSpPr/>
          <p:nvPr/>
        </p:nvSpPr>
        <p:spPr>
          <a:xfrm>
            <a:off x="7378065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7-line148"/>
          <p:cNvSpPr/>
          <p:nvPr/>
        </p:nvSpPr>
        <p:spPr>
          <a:xfrm>
            <a:off x="7805928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7-label149"/>
          <p:cNvSpPr txBox="1"/>
          <p:nvPr/>
        </p:nvSpPr>
        <p:spPr>
          <a:xfrm>
            <a:off x="7348728" y="3182112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000" dirty="0"/>
          </a:p>
        </p:txBody>
      </p:sp>
      <p:sp>
        <p:nvSpPr>
          <p:cNvPr id="33" name="S07-line150"/>
          <p:cNvSpPr/>
          <p:nvPr/>
        </p:nvSpPr>
        <p:spPr>
          <a:xfrm>
            <a:off x="8233791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7-line151"/>
          <p:cNvSpPr/>
          <p:nvPr/>
        </p:nvSpPr>
        <p:spPr>
          <a:xfrm>
            <a:off x="8661654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7-line152"/>
          <p:cNvSpPr/>
          <p:nvPr/>
        </p:nvSpPr>
        <p:spPr>
          <a:xfrm>
            <a:off x="9089517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7-line153"/>
          <p:cNvSpPr/>
          <p:nvPr/>
        </p:nvSpPr>
        <p:spPr>
          <a:xfrm>
            <a:off x="9517380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7-label154"/>
          <p:cNvSpPr txBox="1"/>
          <p:nvPr/>
        </p:nvSpPr>
        <p:spPr>
          <a:xfrm>
            <a:off x="9060180" y="3182112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000" dirty="0"/>
          </a:p>
        </p:txBody>
      </p:sp>
      <p:sp>
        <p:nvSpPr>
          <p:cNvPr id="38" name="S07-line155"/>
          <p:cNvSpPr/>
          <p:nvPr/>
        </p:nvSpPr>
        <p:spPr>
          <a:xfrm>
            <a:off x="9945243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07-line156"/>
          <p:cNvSpPr/>
          <p:nvPr/>
        </p:nvSpPr>
        <p:spPr>
          <a:xfrm>
            <a:off x="10373106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7-line157"/>
          <p:cNvSpPr/>
          <p:nvPr/>
        </p:nvSpPr>
        <p:spPr>
          <a:xfrm>
            <a:off x="10800969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7-line158"/>
          <p:cNvSpPr/>
          <p:nvPr/>
        </p:nvSpPr>
        <p:spPr>
          <a:xfrm>
            <a:off x="11228832" y="285292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7-label159"/>
          <p:cNvSpPr txBox="1"/>
          <p:nvPr/>
        </p:nvSpPr>
        <p:spPr>
          <a:xfrm>
            <a:off x="10771632" y="3182112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000" dirty="0"/>
          </a:p>
        </p:txBody>
      </p:sp>
      <p:sp>
        <p:nvSpPr>
          <p:cNvPr id="43" name="S07-mark160"/>
          <p:cNvSpPr/>
          <p:nvPr/>
        </p:nvSpPr>
        <p:spPr>
          <a:xfrm>
            <a:off x="2580132" y="2907792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4" name="S07-mark161"/>
          <p:cNvSpPr/>
          <p:nvPr/>
        </p:nvSpPr>
        <p:spPr>
          <a:xfrm>
            <a:off x="4291584" y="2907792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5" name="S07-mark162"/>
          <p:cNvSpPr/>
          <p:nvPr/>
        </p:nvSpPr>
        <p:spPr>
          <a:xfrm>
            <a:off x="6003036" y="2907792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6" name="S07-mark163"/>
          <p:cNvSpPr/>
          <p:nvPr/>
        </p:nvSpPr>
        <p:spPr>
          <a:xfrm>
            <a:off x="7714488" y="2907792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7" name="S07-mark164"/>
          <p:cNvSpPr/>
          <p:nvPr/>
        </p:nvSpPr>
        <p:spPr>
          <a:xfrm>
            <a:off x="9425940" y="2907792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8" name="S07-mark165"/>
          <p:cNvSpPr/>
          <p:nvPr/>
        </p:nvSpPr>
        <p:spPr>
          <a:xfrm>
            <a:off x="11137392" y="2907792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9" name="S07-line166"/>
          <p:cNvSpPr/>
          <p:nvPr/>
        </p:nvSpPr>
        <p:spPr>
          <a:xfrm flipV="1">
            <a:off x="960120" y="2615184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0" name="S07-line167"/>
          <p:cNvSpPr/>
          <p:nvPr/>
        </p:nvSpPr>
        <p:spPr>
          <a:xfrm>
            <a:off x="960120" y="2615184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1" name="S07-line168"/>
          <p:cNvSpPr/>
          <p:nvPr/>
        </p:nvSpPr>
        <p:spPr>
          <a:xfrm flipV="1">
            <a:off x="2671572" y="2615184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2" name="S07-line169"/>
          <p:cNvSpPr/>
          <p:nvPr/>
        </p:nvSpPr>
        <p:spPr>
          <a:xfrm>
            <a:off x="2671572" y="2615184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3" name="S07-line170"/>
          <p:cNvSpPr/>
          <p:nvPr/>
        </p:nvSpPr>
        <p:spPr>
          <a:xfrm flipV="1">
            <a:off x="4383024" y="2615184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4" name="S07-line171"/>
          <p:cNvSpPr/>
          <p:nvPr/>
        </p:nvSpPr>
        <p:spPr>
          <a:xfrm>
            <a:off x="4383024" y="2615184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5" name="S07-line172"/>
          <p:cNvSpPr/>
          <p:nvPr/>
        </p:nvSpPr>
        <p:spPr>
          <a:xfrm flipV="1">
            <a:off x="6094476" y="2615184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6" name="S07-line173"/>
          <p:cNvSpPr/>
          <p:nvPr/>
        </p:nvSpPr>
        <p:spPr>
          <a:xfrm>
            <a:off x="6094476" y="2615184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7" name="S07-line174"/>
          <p:cNvSpPr/>
          <p:nvPr/>
        </p:nvSpPr>
        <p:spPr>
          <a:xfrm flipV="1">
            <a:off x="7805928" y="2615184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8" name="S07-line175"/>
          <p:cNvSpPr/>
          <p:nvPr/>
        </p:nvSpPr>
        <p:spPr>
          <a:xfrm>
            <a:off x="7805928" y="2615184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9" name="S07-line176"/>
          <p:cNvSpPr/>
          <p:nvPr/>
        </p:nvSpPr>
        <p:spPr>
          <a:xfrm flipV="1">
            <a:off x="9517380" y="2615184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0" name="S07-line177"/>
          <p:cNvSpPr/>
          <p:nvPr/>
        </p:nvSpPr>
        <p:spPr>
          <a:xfrm>
            <a:off x="9517380" y="2615184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1" name="S07-figure178" descr="0부터 24까지의 수직선에서 4씩 뛰어 4, 8, 12, 16, 20, 24에 점을 찍은 그림"/>
          <p:cNvSpPr/>
          <p:nvPr/>
        </p:nvSpPr>
        <p:spPr>
          <a:xfrm>
            <a:off x="685800" y="2816352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배수를 구해 봐요</a:t>
            </a:r>
            <a:endParaRPr lang="ko-KR" sz="4000" dirty="0"/>
          </a:p>
        </p:txBody>
      </p:sp>
      <p:sp>
        <p:nvSpPr>
          <p:cNvPr id="3" name="S08-card1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1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3의 배수는 3으로 나누어떨어지는 수예요.</a:t>
            </a:r>
            <a:endParaRPr lang="ko-KR" sz="2800" dirty="0"/>
          </a:p>
        </p:txBody>
      </p:sp>
      <p:sp>
        <p:nvSpPr>
          <p:cNvPr id="5" name="S08-chip181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8-text182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6의 배수를 작은 수부터 5개 써요.</a:t>
            </a:r>
            <a:endParaRPr lang="ko-KR" sz="2800" dirty="0"/>
          </a:p>
        </p:txBody>
      </p:sp>
      <p:sp>
        <p:nvSpPr>
          <p:cNvPr id="7" name="S08-chip183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8-text184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50보다 작은 7의 배수 중 가장 큰 수는?</a:t>
            </a:r>
            <a:endParaRPr lang="ko-KR" sz="2800" dirty="0"/>
          </a:p>
        </p:txBody>
      </p:sp>
      <p:sp>
        <p:nvSpPr>
          <p:cNvPr id="9" name="S08-chip185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8-text186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21, 25, 30 중 3의 배수를 모두 골라요.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약수와 배수의 관계</a:t>
            </a:r>
            <a:endParaRPr lang="ko-KR" sz="4000" dirty="0"/>
          </a:p>
        </p:txBody>
      </p:sp>
      <p:sp>
        <p:nvSpPr>
          <p:cNvPr id="3" name="S09-card1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= ▲ × ● 이면 ▲와 ●는 ■의 약수, ■는 ▲와 ●의 배수예요.</a:t>
            </a:r>
            <a:endParaRPr lang="ko-KR" sz="2800" dirty="0"/>
          </a:p>
        </p:txBody>
      </p:sp>
      <p:sp>
        <p:nvSpPr>
          <p:cNvPr id="5" name="S09-card189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190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4는 12의 약수예요.</a:t>
            </a:r>
            <a:endParaRPr lang="ko-KR" sz="2800" dirty="0"/>
          </a:p>
        </p:txBody>
      </p:sp>
      <p:sp>
        <p:nvSpPr>
          <p:cNvPr id="7" name="S09-card191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192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12는 3과 4의 배수예요.</a:t>
            </a:r>
            <a:endParaRPr lang="ko-KR" sz="2800" dirty="0"/>
          </a:p>
        </p:txBody>
      </p:sp>
      <p:sp>
        <p:nvSpPr>
          <p:cNvPr id="9" name="S09-dot193"/>
          <p:cNvSpPr/>
          <p:nvPr/>
        </p:nvSpPr>
        <p:spPr>
          <a:xfrm>
            <a:off x="2331263" y="201579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9-dot194"/>
          <p:cNvSpPr/>
          <p:nvPr/>
        </p:nvSpPr>
        <p:spPr>
          <a:xfrm>
            <a:off x="2834183" y="201579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dot195"/>
          <p:cNvSpPr/>
          <p:nvPr/>
        </p:nvSpPr>
        <p:spPr>
          <a:xfrm>
            <a:off x="3337103" y="201579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dot196"/>
          <p:cNvSpPr/>
          <p:nvPr/>
        </p:nvSpPr>
        <p:spPr>
          <a:xfrm>
            <a:off x="3840023" y="201579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9-dot197"/>
          <p:cNvSpPr/>
          <p:nvPr/>
        </p:nvSpPr>
        <p:spPr>
          <a:xfrm>
            <a:off x="2331263" y="251871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9-dot198"/>
          <p:cNvSpPr/>
          <p:nvPr/>
        </p:nvSpPr>
        <p:spPr>
          <a:xfrm>
            <a:off x="2834183" y="251871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9-dot199"/>
          <p:cNvSpPr/>
          <p:nvPr/>
        </p:nvSpPr>
        <p:spPr>
          <a:xfrm>
            <a:off x="3337103" y="251871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9-dot200"/>
          <p:cNvSpPr/>
          <p:nvPr/>
        </p:nvSpPr>
        <p:spPr>
          <a:xfrm>
            <a:off x="3840023" y="251871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9-dot201"/>
          <p:cNvSpPr/>
          <p:nvPr/>
        </p:nvSpPr>
        <p:spPr>
          <a:xfrm>
            <a:off x="2331263" y="302163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9-dot202"/>
          <p:cNvSpPr/>
          <p:nvPr/>
        </p:nvSpPr>
        <p:spPr>
          <a:xfrm>
            <a:off x="2834183" y="302163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9-dot203"/>
          <p:cNvSpPr/>
          <p:nvPr/>
        </p:nvSpPr>
        <p:spPr>
          <a:xfrm>
            <a:off x="3337103" y="302163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9-dot204"/>
          <p:cNvSpPr/>
          <p:nvPr/>
        </p:nvSpPr>
        <p:spPr>
          <a:xfrm>
            <a:off x="3840023" y="302163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9-figure205" descr="바둑돌 12개를 3줄에 4개씩 놓은 배열"/>
          <p:cNvSpPr/>
          <p:nvPr/>
        </p:nvSpPr>
        <p:spPr>
          <a:xfrm>
            <a:off x="2235708" y="1920240"/>
            <a:ext cx="201168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9-eqtext206"/>
          <p:cNvSpPr txBox="1"/>
          <p:nvPr/>
        </p:nvSpPr>
        <p:spPr>
          <a:xfrm>
            <a:off x="6254496" y="1325880"/>
            <a:ext cx="53858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= 3 × 4</a:t>
            </a:r>
            <a:endParaRPr lang="ko-KR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0-card20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0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= 3 × 4</a:t>
            </a:r>
            <a:endParaRPr lang="ko-KR" sz="2800" dirty="0"/>
          </a:p>
        </p:txBody>
      </p:sp>
      <p:sp>
        <p:nvSpPr>
          <p:cNvPr id="5" name="S10-card2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2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나눗셈으로 확인해요.</a:t>
            </a:r>
            <a:endParaRPr lang="ko-KR" sz="2800" dirty="0"/>
          </a:p>
        </p:txBody>
      </p:sp>
      <p:sp>
        <p:nvSpPr>
          <p:cNvPr id="7" name="S10-chip21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0-text21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3은 12의 배수예요.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12는 3의 약수예요.</a:t>
            </a:r>
            <a:endParaRPr lang="ko-KR" sz="2800" dirty="0"/>
          </a:p>
        </p:txBody>
      </p:sp>
      <p:sp>
        <p:nvSpPr>
          <p:cNvPr id="9" name="S10-chip21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0-text21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3은 12의 약수예요.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12는 3의 배수예요.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21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text21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16의 약수를 모두 써요.</a:t>
            </a:r>
            <a:endParaRPr lang="ko-KR" sz="2800" dirty="0"/>
          </a:p>
        </p:txBody>
      </p:sp>
      <p:sp>
        <p:nvSpPr>
          <p:cNvPr id="5" name="S11-chip21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text218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9의 배수를 작은 수부터 4개 써요.</a:t>
            </a:r>
            <a:endParaRPr lang="ko-KR" sz="2800" dirty="0"/>
          </a:p>
        </p:txBody>
      </p:sp>
      <p:sp>
        <p:nvSpPr>
          <p:cNvPr id="7" name="S11-chip21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text220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= 4 × 6을 보고 약수와 배수의 관계를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221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22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빠뜨린 약수는 곱셈 짝(1 × 16, 2 × 8, 4 × 4)으로 다시 찾게 하세요.</a:t>
            </a:r>
            <a:endParaRPr lang="ko-KR" sz="2800" dirty="0"/>
          </a:p>
        </p:txBody>
      </p:sp>
      <p:sp>
        <p:nvSpPr>
          <p:cNvPr id="5" name="S12-chip22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224"/>
          <p:cNvSpPr txBox="1"/>
          <p:nvPr/>
        </p:nvSpPr>
        <p:spPr>
          <a:xfrm>
            <a:off x="548640" y="2057400"/>
            <a:ext cx="5362956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1, 2, 4, 8, 16</a:t>
            </a:r>
            <a:endParaRPr lang="ko-KR" sz="2800" dirty="0"/>
          </a:p>
        </p:txBody>
      </p:sp>
      <p:sp>
        <p:nvSpPr>
          <p:cNvPr id="7" name="S12-text225"/>
          <p:cNvSpPr txBox="1"/>
          <p:nvPr/>
        </p:nvSpPr>
        <p:spPr>
          <a:xfrm>
            <a:off x="548640" y="3014811"/>
            <a:ext cx="5362956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9, 18, 27, 36</a:t>
            </a:r>
            <a:endParaRPr lang="ko-KR" sz="2800" dirty="0"/>
          </a:p>
        </p:txBody>
      </p:sp>
      <p:sp>
        <p:nvSpPr>
          <p:cNvPr id="8" name="S12-text226"/>
          <p:cNvSpPr txBox="1"/>
          <p:nvPr/>
        </p:nvSpPr>
        <p:spPr>
          <a:xfrm>
            <a:off x="548640" y="3972221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4, 6은 24의 약수</a:t>
            </a:r>
            <a:endParaRPr lang="ko-KR" sz="2200" dirty="0"/>
          </a:p>
        </p:txBody>
      </p:sp>
      <p:sp>
        <p:nvSpPr>
          <p:cNvPr id="9" name="S12-text227"/>
          <p:cNvSpPr txBox="1"/>
          <p:nvPr/>
        </p:nvSpPr>
        <p:spPr>
          <a:xfrm>
            <a:off x="3367278" y="3972221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24는 4, 6의 배수</a:t>
            </a:r>
            <a:endParaRPr lang="ko-KR" sz="2200" dirty="0"/>
          </a:p>
        </p:txBody>
      </p:sp>
      <p:sp>
        <p:nvSpPr>
          <p:cNvPr id="10" name="S12-chip22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2-text22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2, 4, 8</a:t>
            </a:r>
            <a:endParaRPr lang="ko-KR" sz="2800" dirty="0"/>
          </a:p>
        </p:txBody>
      </p:sp>
      <p:sp>
        <p:nvSpPr>
          <p:cNvPr id="12" name="S12-text23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16을 빠뜨림</a:t>
            </a:r>
            <a:endParaRPr lang="ko-KR" sz="2200" dirty="0"/>
          </a:p>
        </p:txBody>
      </p:sp>
      <p:sp>
        <p:nvSpPr>
          <p:cNvPr id="13" name="S12-text23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4는 24의 배수</a:t>
            </a:r>
            <a:endParaRPr lang="ko-KR" sz="2800" dirty="0"/>
          </a:p>
        </p:txBody>
      </p:sp>
      <p:sp>
        <p:nvSpPr>
          <p:cNvPr id="14" name="S12-text23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거꾸로 말함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확인</a:t>
            </a:r>
            <a:endParaRPr lang="ko-KR" sz="4000" dirty="0"/>
          </a:p>
        </p:txBody>
      </p:sp>
      <p:sp>
        <p:nvSpPr>
          <p:cNvPr id="3" name="S13-chip23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3-text23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15의 약수를 모두 쓰고, 몇 개인지 세어요.</a:t>
            </a:r>
            <a:endParaRPr lang="ko-KR" sz="2800" dirty="0"/>
          </a:p>
        </p:txBody>
      </p:sp>
      <p:sp>
        <p:nvSpPr>
          <p:cNvPr id="5" name="S13-chip235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3-text236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6의 배수이면서 30의 약수인 수를 모두 찾아요.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3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3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약수는 어떤 수를 나누어떨어지게 하는 수,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배수는 어떤 수를 1배, 2배, 3배 … 한 수예요.</a:t>
            </a:r>
            <a:endParaRPr lang="ko-KR" sz="2800" dirty="0"/>
          </a:p>
        </p:txBody>
      </p:sp>
      <p:sp>
        <p:nvSpPr>
          <p:cNvPr id="5" name="S14-chip23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곱셈 짝으로 약수 빠짐없이 찾기</a:t>
            </a:r>
            <a:endParaRPr lang="ko-KR" sz="2200" dirty="0"/>
          </a:p>
        </p:txBody>
      </p:sp>
      <p:sp>
        <p:nvSpPr>
          <p:cNvPr id="6" name="S14-chip24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약수와 배수를 거꾸로 말하기</a:t>
            </a:r>
            <a:endParaRPr lang="ko-KR" sz="2200" dirty="0"/>
          </a:p>
        </p:txBody>
      </p:sp>
      <p:sp>
        <p:nvSpPr>
          <p:cNvPr id="7" name="S14-text24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242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20의 약수를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써요.</a:t>
            </a:r>
            <a:endParaRPr lang="ko-KR" sz="2200" dirty="0"/>
          </a:p>
        </p:txBody>
      </p:sp>
      <p:sp>
        <p:nvSpPr>
          <p:cNvPr id="9" name="S14-text243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8의 배수를 작은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수부터 3개 써요.</a:t>
            </a:r>
            <a:endParaRPr lang="ko-KR" sz="2200" dirty="0"/>
          </a:p>
        </p:txBody>
      </p:sp>
      <p:sp>
        <p:nvSpPr>
          <p:cNvPr id="10" name="S14-text244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35 = 5 × 7에서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약수와 배수는?</a:t>
            </a:r>
            <a:endParaRPr lang="ko-KR" sz="2200" dirty="0"/>
          </a:p>
        </p:txBody>
      </p:sp>
      <p:sp>
        <p:nvSpPr>
          <p:cNvPr id="11" name="S14-text24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최대공약수와 최소공배수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나누어떨어질까요?</a:t>
            </a:r>
            <a:endParaRPr lang="ko-KR" sz="4000" dirty="0"/>
          </a:p>
        </p:txBody>
      </p:sp>
      <p:sp>
        <p:nvSpPr>
          <p:cNvPr id="3" name="S15-text2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14개를 4개씩 묶어요.</a:t>
            </a:r>
            <a:endParaRPr lang="ko-KR" sz="2800" dirty="0"/>
          </a:p>
        </p:txBody>
      </p:sp>
      <p:sp>
        <p:nvSpPr>
          <p:cNvPr id="4" name="S15-card2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2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것이 없으면 ‘나누어떨어진다’고 해요.</a:t>
            </a:r>
            <a:endParaRPr lang="ko-KR" sz="2800" dirty="0"/>
          </a:p>
        </p:txBody>
      </p:sp>
      <p:sp>
        <p:nvSpPr>
          <p:cNvPr id="6" name="S15-dot249"/>
          <p:cNvSpPr/>
          <p:nvPr/>
        </p:nvSpPr>
        <p:spPr>
          <a:xfrm>
            <a:off x="2237080" y="25731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5-dot250"/>
          <p:cNvSpPr/>
          <p:nvPr/>
        </p:nvSpPr>
        <p:spPr>
          <a:xfrm>
            <a:off x="2785720" y="25731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5-dot251"/>
          <p:cNvSpPr/>
          <p:nvPr/>
        </p:nvSpPr>
        <p:spPr>
          <a:xfrm>
            <a:off x="3334360" y="25731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5-dot252"/>
          <p:cNvSpPr/>
          <p:nvPr/>
        </p:nvSpPr>
        <p:spPr>
          <a:xfrm>
            <a:off x="3883000" y="257312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5-dot253"/>
          <p:cNvSpPr/>
          <p:nvPr/>
        </p:nvSpPr>
        <p:spPr>
          <a:xfrm>
            <a:off x="2237080" y="31217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5-dot254"/>
          <p:cNvSpPr/>
          <p:nvPr/>
        </p:nvSpPr>
        <p:spPr>
          <a:xfrm>
            <a:off x="2785720" y="31217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5-dot255"/>
          <p:cNvSpPr/>
          <p:nvPr/>
        </p:nvSpPr>
        <p:spPr>
          <a:xfrm>
            <a:off x="3334360" y="31217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5-dot256"/>
          <p:cNvSpPr/>
          <p:nvPr/>
        </p:nvSpPr>
        <p:spPr>
          <a:xfrm>
            <a:off x="3883000" y="312176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5-dot257"/>
          <p:cNvSpPr/>
          <p:nvPr/>
        </p:nvSpPr>
        <p:spPr>
          <a:xfrm>
            <a:off x="2237080" y="3670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5-dot258"/>
          <p:cNvSpPr/>
          <p:nvPr/>
        </p:nvSpPr>
        <p:spPr>
          <a:xfrm>
            <a:off x="2785720" y="3670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5-dot259"/>
          <p:cNvSpPr/>
          <p:nvPr/>
        </p:nvSpPr>
        <p:spPr>
          <a:xfrm>
            <a:off x="3334360" y="3670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5-dot260"/>
          <p:cNvSpPr/>
          <p:nvPr/>
        </p:nvSpPr>
        <p:spPr>
          <a:xfrm>
            <a:off x="3883000" y="367040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5-dot261"/>
          <p:cNvSpPr/>
          <p:nvPr/>
        </p:nvSpPr>
        <p:spPr>
          <a:xfrm>
            <a:off x="2237080" y="4219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5-dot262"/>
          <p:cNvSpPr/>
          <p:nvPr/>
        </p:nvSpPr>
        <p:spPr>
          <a:xfrm>
            <a:off x="2785720" y="4219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5-group263"/>
          <p:cNvSpPr/>
          <p:nvPr/>
        </p:nvSpPr>
        <p:spPr>
          <a:xfrm>
            <a:off x="2160270" y="250545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15-group264"/>
          <p:cNvSpPr/>
          <p:nvPr/>
        </p:nvSpPr>
        <p:spPr>
          <a:xfrm>
            <a:off x="2160270" y="305409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15-group265"/>
          <p:cNvSpPr/>
          <p:nvPr/>
        </p:nvSpPr>
        <p:spPr>
          <a:xfrm>
            <a:off x="2160270" y="3602736"/>
            <a:ext cx="2139696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3" name="S15-figure266" descr="바둑돌 14개를 4개씩 묶으면 3묶음이고 2개가 남는 배열"/>
          <p:cNvSpPr/>
          <p:nvPr/>
        </p:nvSpPr>
        <p:spPr>
          <a:xfrm>
            <a:off x="2132838" y="2468880"/>
            <a:ext cx="21945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15-card267"/>
          <p:cNvSpPr/>
          <p:nvPr/>
        </p:nvSpPr>
        <p:spPr>
          <a:xfrm>
            <a:off x="6277356" y="2419096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15-cardtext268"/>
          <p:cNvSpPr txBox="1"/>
          <p:nvPr/>
        </p:nvSpPr>
        <p:spPr>
          <a:xfrm>
            <a:off x="6551676" y="2556256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4개씩 3묶음,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2개가 남아요.</a:t>
            </a:r>
            <a:endParaRPr lang="ko-KR" sz="2800" dirty="0"/>
          </a:p>
        </p:txBody>
      </p:sp>
      <p:sp>
        <p:nvSpPr>
          <p:cNvPr id="26" name="S15-card269"/>
          <p:cNvSpPr/>
          <p:nvPr/>
        </p:nvSpPr>
        <p:spPr>
          <a:xfrm>
            <a:off x="6277356" y="3844544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15-cardtext270"/>
          <p:cNvSpPr txBox="1"/>
          <p:nvPr/>
        </p:nvSpPr>
        <p:spPr>
          <a:xfrm>
            <a:off x="6551676" y="3981704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÷ 4 = 3 … 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약수와 배수</dc:title>
  <dc:subject>KR22-G05-MAT-FACTOR-L01</dc:subject>
  <dc:creator>education-ppt</dc:creator>
  <cp:lastModifiedBy>education-ppt</cp:lastModifiedBy>
  <cp:revision>1</cp:revision>
  <dcterms:created xsi:type="dcterms:W3CDTF">2026-10-26T08:24:41Z</dcterms:created>
  <dcterms:modified xsi:type="dcterms:W3CDTF">2026-10-26T08:24:41Z</dcterms:modified>
</cp:coreProperties>
</file>