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faf34a9-651a-10cb-5d5a-480c12d9d4b4}">
          <p14:sldIdLst>
            <p14:sldId id="256"/>
            <p14:sldId id="257"/>
          </p14:sldIdLst>
        </p14:section>
        <p14:section name="개념" id="{e5006636-4e04-93ea-a223-68c93717dfb5}">
          <p14:sldIdLst>
            <p14:sldId id="258"/>
            <p14:sldId id="259"/>
            <p14:sldId id="261"/>
            <p14:sldId id="263"/>
          </p14:sldIdLst>
        </p14:section>
        <p14:section name="연습" id="{972e4bda-01c8-4c2f-5aba-73f4e0e2cda0}">
          <p14:sldIdLst>
            <p14:sldId id="260"/>
            <p14:sldId id="262"/>
            <p14:sldId id="264"/>
          </p14:sldIdLst>
        </p14:section>
        <p14:section name="개념" id="{654f9349-29bd-4244-e122-8533d996040a}">
          <p14:sldIdLst/>
        </p14:section>
        <p14:section name="연습" id="{69755be6-58f8-bde9-b534-492661424416}">
          <p14:sldIdLst/>
        </p14:section>
        <p14:section name="개념" id="{be96f35d-2b86-09fe-28c2-85d42fb444c5}">
          <p14:sldIdLst/>
        </p14:section>
        <p14:section name="연습" id="{89247cd0-e4a1-f190-ffc3-c34cd416a784}">
          <p14:sldIdLst/>
        </p14:section>
        <p14:section name="확인" id="{b79477b0-52a7-1f48-57bb-6e6724dee62e}">
          <p14:sldIdLst>
            <p14:sldId id="265"/>
            <p14:sldId id="266"/>
          </p14:sldIdLst>
        </p14:section>
        <p14:section name="정리" id="{ea55d08e-46f8-e0f1-91b7-44c7b83f9a27}">
          <p14:sldIdLst>
            <p14:sldId id="267"/>
          </p14:sldIdLst>
        </p14:section>
        <p14:section name="보충" id="{1b5b4a36-684c-c14b-ed8d-f16cbf8e59e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자연수의계산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자연수의 혼합 계산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자연수의 혼합 계산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자연수의 혼합 계산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혼합 계산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24 − 4 × 5는 얼마일까?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24 − 4 × 5 = ?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( )가 있는 식, 같은 종류끼리 섞인 식을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곱셈·나눗셈을 먼저 하는 계산 순서를 알아요.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계산해 보세요.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eq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 ÷ 12 = □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eq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× 16 = □</a:t>
            </a:r>
            <a:endParaRPr lang="ko-KR" sz="32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eq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352 − 178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덧셈과 뺄셈이 섞인 식</a:t>
            </a:r>
            <a:endParaRPr lang="ko-KR" sz="40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버스에 35명이 있었어요. 12명이 내리고 8명이 탔어요.</a:t>
            </a:r>
            <a:endParaRPr lang="ko-KR" sz="2800" dirty="0"/>
          </a:p>
        </p:txBody>
      </p:sp>
      <p:sp>
        <p:nvSpPr>
          <p:cNvPr id="4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덧셈과 뺄셈만 있으면 앞에서부터 차례로 계산해요.</a:t>
            </a:r>
            <a:endParaRPr lang="ko-KR" sz="2800" dirty="0"/>
          </a:p>
        </p:txBody>
      </p:sp>
      <p:sp>
        <p:nvSpPr>
          <p:cNvPr id="6" name="S03-eqtext14"/>
          <p:cNvSpPr txBox="1"/>
          <p:nvPr/>
        </p:nvSpPr>
        <p:spPr>
          <a:xfrm>
            <a:off x="548640" y="20116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35 − 12 + 8 = □</a:t>
            </a:r>
            <a:endParaRPr lang="ko-KR" sz="3200" dirty="0"/>
          </a:p>
        </p:txBody>
      </p:sp>
      <p:sp>
        <p:nvSpPr>
          <p:cNvPr id="7" name="S03-stepno15"/>
          <p:cNvSpPr txBox="1"/>
          <p:nvPr/>
        </p:nvSpPr>
        <p:spPr>
          <a:xfrm>
            <a:off x="548640" y="3575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3-text16"/>
          <p:cNvSpPr txBox="1"/>
          <p:nvPr/>
        </p:nvSpPr>
        <p:spPr>
          <a:xfrm>
            <a:off x="1325880" y="3575304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뺄셈</a:t>
            </a:r>
            <a:endParaRPr lang="ko-KR" sz="2800" dirty="0"/>
          </a:p>
        </p:txBody>
      </p:sp>
      <p:sp>
        <p:nvSpPr>
          <p:cNvPr id="9" name="S03-eqtext17"/>
          <p:cNvSpPr txBox="1"/>
          <p:nvPr/>
        </p:nvSpPr>
        <p:spPr>
          <a:xfrm>
            <a:off x="6981810" y="3575304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35 − 12 = 23</a:t>
            </a:r>
            <a:endParaRPr lang="ko-KR" sz="2800" dirty="0"/>
          </a:p>
        </p:txBody>
      </p:sp>
      <p:sp>
        <p:nvSpPr>
          <p:cNvPr id="10" name="S03-stepno18"/>
          <p:cNvSpPr txBox="1"/>
          <p:nvPr/>
        </p:nvSpPr>
        <p:spPr>
          <a:xfrm>
            <a:off x="548640" y="4288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3-text19"/>
          <p:cNvSpPr txBox="1"/>
          <p:nvPr/>
        </p:nvSpPr>
        <p:spPr>
          <a:xfrm>
            <a:off x="1325880" y="4288536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 덧셈</a:t>
            </a:r>
            <a:endParaRPr lang="ko-KR" sz="2800" dirty="0"/>
          </a:p>
        </p:txBody>
      </p:sp>
      <p:sp>
        <p:nvSpPr>
          <p:cNvPr id="12" name="S03-eqtext20"/>
          <p:cNvSpPr txBox="1"/>
          <p:nvPr/>
        </p:nvSpPr>
        <p:spPr>
          <a:xfrm>
            <a:off x="6981810" y="4288536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+ 8 = 31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)가 있으면 ( ) 안부터</a:t>
            </a:r>
            <a:endParaRPr lang="ko-KR" sz="4000" dirty="0"/>
          </a:p>
        </p:txBody>
      </p:sp>
      <p:sp>
        <p:nvSpPr>
          <p:cNvPr id="3" name="S04-card2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곱셈과 나눗셈만 섞인 식도 앞에서부터, ( )가 있으면 ( ) 안부터 계산해요.</a:t>
            </a:r>
            <a:endParaRPr lang="ko-KR" sz="2800" dirty="0"/>
          </a:p>
        </p:txBody>
      </p:sp>
      <p:sp>
        <p:nvSpPr>
          <p:cNvPr id="5" name="S04-chip23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</a:t>
            </a:r>
            <a:endParaRPr lang="ko-KR" sz="2200" dirty="0"/>
          </a:p>
        </p:txBody>
      </p:sp>
      <p:sp>
        <p:nvSpPr>
          <p:cNvPr id="6" name="S04-eqtext24"/>
          <p:cNvSpPr txBox="1"/>
          <p:nvPr/>
        </p:nvSpPr>
        <p:spPr>
          <a:xfrm>
            <a:off x="548640" y="2057400"/>
            <a:ext cx="5362956" cy="2302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35 − 12 + 8 = 31</a:t>
            </a:r>
            <a:endParaRPr lang="ko-KR" sz="3200" dirty="0"/>
          </a:p>
        </p:txBody>
      </p:sp>
      <p:sp>
        <p:nvSpPr>
          <p:cNvPr id="7" name="S04-text25"/>
          <p:cNvSpPr txBox="1"/>
          <p:nvPr/>
        </p:nvSpPr>
        <p:spPr>
          <a:xfrm>
            <a:off x="548640" y="4360164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12명이 내리고 8명이 탔어요.</a:t>
            </a:r>
            <a:endParaRPr lang="ko-KR" sz="2200" dirty="0"/>
          </a:p>
        </p:txBody>
      </p:sp>
      <p:sp>
        <p:nvSpPr>
          <p:cNvPr id="8" name="S04-chip26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) 안부터</a:t>
            </a:r>
            <a:endParaRPr lang="ko-KR" sz="2200" dirty="0"/>
          </a:p>
        </p:txBody>
      </p:sp>
      <p:sp>
        <p:nvSpPr>
          <p:cNvPr id="9" name="S04-eqtext27"/>
          <p:cNvSpPr txBox="1"/>
          <p:nvPr/>
        </p:nvSpPr>
        <p:spPr>
          <a:xfrm>
            <a:off x="6277356" y="2057400"/>
            <a:ext cx="5362956" cy="2302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(12 + 8) = 15</a:t>
            </a:r>
            <a:endParaRPr lang="ko-KR" sz="3200" dirty="0"/>
          </a:p>
        </p:txBody>
      </p:sp>
      <p:sp>
        <p:nvSpPr>
          <p:cNvPr id="10" name="S04-text28"/>
          <p:cNvSpPr txBox="1"/>
          <p:nvPr/>
        </p:nvSpPr>
        <p:spPr>
          <a:xfrm>
            <a:off x="6277356" y="4360164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12명과 8명이 함께 내렸어요.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생각하며 계산해요</a:t>
            </a:r>
            <a:endParaRPr lang="ko-KR" sz="4000" dirty="0"/>
          </a:p>
        </p:txBody>
      </p:sp>
      <p:sp>
        <p:nvSpPr>
          <p:cNvPr id="3" name="S05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)가 없으면 앞에서부터, ( )가 있으면 ( ) 안부터 계산해요.</a:t>
            </a:r>
            <a:endParaRPr lang="ko-KR" sz="2800" dirty="0"/>
          </a:p>
        </p:txBody>
      </p:sp>
      <p:sp>
        <p:nvSpPr>
          <p:cNvPr id="5" name="S05-chip3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eqtext3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52 − 17 + 25 = □</a:t>
            </a:r>
            <a:endParaRPr lang="ko-KR" sz="3200" dirty="0"/>
          </a:p>
        </p:txBody>
      </p:sp>
      <p:sp>
        <p:nvSpPr>
          <p:cNvPr id="7" name="S05-chip3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5-eqtext3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(17 + 25) = □</a:t>
            </a:r>
            <a:endParaRPr lang="ko-KR" sz="3200" dirty="0"/>
          </a:p>
        </p:txBody>
      </p:sp>
      <p:sp>
        <p:nvSpPr>
          <p:cNvPr id="9" name="S05-chip3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5-eqtext3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÷ 4 × 2 = □</a:t>
            </a:r>
            <a:endParaRPr lang="ko-KR" sz="3200" dirty="0"/>
          </a:p>
        </p:txBody>
      </p:sp>
      <p:sp>
        <p:nvSpPr>
          <p:cNvPr id="11" name="S05-chip3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5-eqtext3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÷ (4 × 2)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곱셈을 먼저 계산해요</a:t>
            </a:r>
            <a:endParaRPr lang="ko-KR" sz="4000" dirty="0"/>
          </a:p>
        </p:txBody>
      </p:sp>
      <p:sp>
        <p:nvSpPr>
          <p:cNvPr id="3" name="S06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24 − 4 × 5에서 무엇을 먼저 할까요?</a:t>
            </a:r>
            <a:endParaRPr lang="ko-KR" sz="2800" dirty="0"/>
          </a:p>
        </p:txBody>
      </p:sp>
      <p:sp>
        <p:nvSpPr>
          <p:cNvPr id="4" name="S06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곱셈·나눗셈은 덧셈·뺄셈보다 먼저 계산해요.</a:t>
            </a:r>
            <a:endParaRPr lang="ko-KR" sz="2800" dirty="0"/>
          </a:p>
        </p:txBody>
      </p:sp>
      <p:sp>
        <p:nvSpPr>
          <p:cNvPr id="6" name="S06-eqtext42"/>
          <p:cNvSpPr txBox="1"/>
          <p:nvPr/>
        </p:nvSpPr>
        <p:spPr>
          <a:xfrm>
            <a:off x="548640" y="20116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24 − 4 × 5 = □</a:t>
            </a:r>
            <a:endParaRPr lang="ko-KR" sz="3200" dirty="0"/>
          </a:p>
        </p:txBody>
      </p:sp>
      <p:sp>
        <p:nvSpPr>
          <p:cNvPr id="7" name="S06-stepno43"/>
          <p:cNvSpPr txBox="1"/>
          <p:nvPr/>
        </p:nvSpPr>
        <p:spPr>
          <a:xfrm>
            <a:off x="548640" y="3575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6-text44"/>
          <p:cNvSpPr txBox="1"/>
          <p:nvPr/>
        </p:nvSpPr>
        <p:spPr>
          <a:xfrm>
            <a:off x="1325880" y="3575304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 먼저</a:t>
            </a:r>
            <a:endParaRPr lang="ko-KR" sz="2800" dirty="0"/>
          </a:p>
        </p:txBody>
      </p:sp>
      <p:sp>
        <p:nvSpPr>
          <p:cNvPr id="9" name="S06-eqtext45"/>
          <p:cNvSpPr txBox="1"/>
          <p:nvPr/>
        </p:nvSpPr>
        <p:spPr>
          <a:xfrm>
            <a:off x="6981810" y="3575304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5 = 20</a:t>
            </a:r>
            <a:endParaRPr lang="ko-KR" sz="2800" dirty="0"/>
          </a:p>
        </p:txBody>
      </p:sp>
      <p:sp>
        <p:nvSpPr>
          <p:cNvPr id="10" name="S06-stepno46"/>
          <p:cNvSpPr txBox="1"/>
          <p:nvPr/>
        </p:nvSpPr>
        <p:spPr>
          <a:xfrm>
            <a:off x="548640" y="4288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6-text47"/>
          <p:cNvSpPr txBox="1"/>
          <p:nvPr/>
        </p:nvSpPr>
        <p:spPr>
          <a:xfrm>
            <a:off x="1325880" y="4288536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 뺄셈</a:t>
            </a:r>
            <a:endParaRPr lang="ko-KR" sz="2800" dirty="0"/>
          </a:p>
        </p:txBody>
      </p:sp>
      <p:sp>
        <p:nvSpPr>
          <p:cNvPr id="12" name="S06-eqtext48"/>
          <p:cNvSpPr txBox="1"/>
          <p:nvPr/>
        </p:nvSpPr>
        <p:spPr>
          <a:xfrm>
            <a:off x="6981810" y="4288536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24 − 20 = 4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계산했을까요?</a:t>
            </a:r>
            <a:endParaRPr lang="ko-KR" sz="4000" dirty="0"/>
          </a:p>
        </p:txBody>
      </p:sp>
      <p:sp>
        <p:nvSpPr>
          <p:cNvPr id="3" name="S07-card4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+ 20 × 3을 계산했어요.</a:t>
            </a:r>
            <a:endParaRPr lang="ko-KR" sz="2800" dirty="0"/>
          </a:p>
        </p:txBody>
      </p:sp>
      <p:sp>
        <p:nvSpPr>
          <p:cNvPr id="5" name="S07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바르게 계산했을까요? 까닭을 말해요.</a:t>
            </a:r>
            <a:endParaRPr lang="ko-KR" sz="2800" dirty="0"/>
          </a:p>
        </p:txBody>
      </p:sp>
      <p:sp>
        <p:nvSpPr>
          <p:cNvPr id="7" name="S07-chip5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90</a:t>
            </a:r>
            <a:endParaRPr lang="ko-KR" sz="2200" dirty="0"/>
          </a:p>
        </p:txBody>
      </p:sp>
      <p:sp>
        <p:nvSpPr>
          <p:cNvPr id="8" name="S07-text5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+ 20 = 30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× 3 = 90</a:t>
            </a:r>
            <a:endParaRPr lang="ko-KR" sz="2800" dirty="0"/>
          </a:p>
        </p:txBody>
      </p:sp>
      <p:sp>
        <p:nvSpPr>
          <p:cNvPr id="9" name="S07-chip5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70</a:t>
            </a:r>
            <a:endParaRPr lang="ko-KR" sz="2200" dirty="0"/>
          </a:p>
        </p:txBody>
      </p:sp>
      <p:sp>
        <p:nvSpPr>
          <p:cNvPr id="10" name="S07-text5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× 3 = 60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+ 60 = 70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섞인 식의 계산 순서</a:t>
            </a:r>
            <a:endParaRPr lang="ko-KR" sz="4000" dirty="0"/>
          </a:p>
        </p:txBody>
      </p:sp>
      <p:sp>
        <p:nvSpPr>
          <p:cNvPr id="3" name="S08-eqtext5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45 − 3 × (2 + 8) ÷ 6 = □</a:t>
            </a:r>
            <a:endParaRPr lang="ko-KR" sz="3200" dirty="0"/>
          </a:p>
        </p:txBody>
      </p:sp>
      <p:sp>
        <p:nvSpPr>
          <p:cNvPr id="4" name="S08-stepno58"/>
          <p:cNvSpPr txBox="1"/>
          <p:nvPr/>
        </p:nvSpPr>
        <p:spPr>
          <a:xfrm>
            <a:off x="548640" y="3067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" name="S08-text59"/>
          <p:cNvSpPr txBox="1"/>
          <p:nvPr/>
        </p:nvSpPr>
        <p:spPr>
          <a:xfrm>
            <a:off x="1325880" y="3067812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) 안</a:t>
            </a:r>
            <a:endParaRPr lang="ko-KR" sz="2800" dirty="0"/>
          </a:p>
        </p:txBody>
      </p:sp>
      <p:sp>
        <p:nvSpPr>
          <p:cNvPr id="6" name="S08-eqtext60"/>
          <p:cNvSpPr txBox="1"/>
          <p:nvPr/>
        </p:nvSpPr>
        <p:spPr>
          <a:xfrm>
            <a:off x="6981810" y="3067812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+ 8 = 10</a:t>
            </a:r>
            <a:endParaRPr lang="ko-KR" sz="2800" dirty="0"/>
          </a:p>
        </p:txBody>
      </p:sp>
      <p:sp>
        <p:nvSpPr>
          <p:cNvPr id="7" name="S08-stepno61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8-text62"/>
          <p:cNvSpPr txBox="1"/>
          <p:nvPr/>
        </p:nvSpPr>
        <p:spPr>
          <a:xfrm>
            <a:off x="1325880" y="3781044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곱셈(앞)</a:t>
            </a:r>
            <a:endParaRPr lang="ko-KR" sz="2800" dirty="0"/>
          </a:p>
        </p:txBody>
      </p:sp>
      <p:sp>
        <p:nvSpPr>
          <p:cNvPr id="9" name="S08-eqtext63"/>
          <p:cNvSpPr txBox="1"/>
          <p:nvPr/>
        </p:nvSpPr>
        <p:spPr>
          <a:xfrm>
            <a:off x="6981810" y="3781044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10 = 30</a:t>
            </a:r>
            <a:endParaRPr lang="ko-KR" sz="2800" dirty="0"/>
          </a:p>
        </p:txBody>
      </p:sp>
      <p:sp>
        <p:nvSpPr>
          <p:cNvPr id="10" name="S08-stepno64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08-text65"/>
          <p:cNvSpPr txBox="1"/>
          <p:nvPr/>
        </p:nvSpPr>
        <p:spPr>
          <a:xfrm>
            <a:off x="1325880" y="4494276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</a:t>
            </a:r>
            <a:endParaRPr lang="ko-KR" sz="2800" dirty="0"/>
          </a:p>
        </p:txBody>
      </p:sp>
      <p:sp>
        <p:nvSpPr>
          <p:cNvPr id="12" name="S08-eqtext66"/>
          <p:cNvSpPr txBox="1"/>
          <p:nvPr/>
        </p:nvSpPr>
        <p:spPr>
          <a:xfrm>
            <a:off x="6981810" y="4494276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÷ 6 = 5</a:t>
            </a:r>
            <a:endParaRPr lang="ko-KR" sz="2800" dirty="0"/>
          </a:p>
        </p:txBody>
      </p:sp>
      <p:sp>
        <p:nvSpPr>
          <p:cNvPr id="13" name="S08-stepno67"/>
          <p:cNvSpPr txBox="1"/>
          <p:nvPr/>
        </p:nvSpPr>
        <p:spPr>
          <a:xfrm>
            <a:off x="548640" y="52075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4" name="S08-text68"/>
          <p:cNvSpPr txBox="1"/>
          <p:nvPr/>
        </p:nvSpPr>
        <p:spPr>
          <a:xfrm>
            <a:off x="1325880" y="5207508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</a:t>
            </a:r>
            <a:endParaRPr lang="ko-KR" sz="2800" dirty="0"/>
          </a:p>
        </p:txBody>
      </p:sp>
      <p:sp>
        <p:nvSpPr>
          <p:cNvPr id="15" name="S08-eqtext69"/>
          <p:cNvSpPr txBox="1"/>
          <p:nvPr/>
        </p:nvSpPr>
        <p:spPr>
          <a:xfrm>
            <a:off x="6981810" y="5207508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45 − 5 = 40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순서를 써 보세요</a:t>
            </a:r>
            <a:endParaRPr lang="ko-KR" sz="4000" dirty="0"/>
          </a:p>
        </p:txBody>
      </p:sp>
      <p:sp>
        <p:nvSpPr>
          <p:cNvPr id="3" name="S09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계산할 순서를 식 위에 ①, ②, ③으로 먼저 써요.</a:t>
            </a:r>
            <a:endParaRPr lang="ko-KR" sz="2800" dirty="0"/>
          </a:p>
        </p:txBody>
      </p:sp>
      <p:sp>
        <p:nvSpPr>
          <p:cNvPr id="5" name="S09-chip7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eqtext7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+ 15 ÷ 3 = □</a:t>
            </a:r>
            <a:endParaRPr lang="ko-KR" sz="2800" dirty="0"/>
          </a:p>
        </p:txBody>
      </p:sp>
      <p:sp>
        <p:nvSpPr>
          <p:cNvPr id="7" name="S09-chip7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eqtext7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8 − 36 ÷ 4 = □</a:t>
            </a:r>
            <a:endParaRPr lang="ko-KR" sz="2800" dirty="0"/>
          </a:p>
        </p:txBody>
      </p:sp>
      <p:sp>
        <p:nvSpPr>
          <p:cNvPr id="9" name="S09-chip7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eqtext7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(30 + 15) ÷ 3 = □</a:t>
            </a:r>
            <a:endParaRPr lang="ko-KR" sz="2800" dirty="0"/>
          </a:p>
        </p:txBody>
      </p:sp>
      <p:sp>
        <p:nvSpPr>
          <p:cNvPr id="11" name="S09-chip7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9-eqtext7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64 − 4 × (5 + 7) ÷ 6 = □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 순서를 쓰고 계산해요.</a:t>
            </a:r>
            <a:endParaRPr lang="ko-KR" sz="2800" dirty="0"/>
          </a:p>
        </p:txBody>
      </p:sp>
      <p:sp>
        <p:nvSpPr>
          <p:cNvPr id="4" name="S10-chip8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eqtext8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72 − 25 + 13 = □</a:t>
            </a:r>
            <a:endParaRPr lang="ko-KR" sz="2400" dirty="0"/>
          </a:p>
        </p:txBody>
      </p:sp>
      <p:sp>
        <p:nvSpPr>
          <p:cNvPr id="6" name="S10-chip8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eqtext8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 ÷ (3 × 4) = □</a:t>
            </a:r>
            <a:endParaRPr lang="ko-KR" sz="2400" dirty="0"/>
          </a:p>
        </p:txBody>
      </p:sp>
      <p:sp>
        <p:nvSpPr>
          <p:cNvPr id="8" name="S10-chip8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eqtext8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50 − 8 × 4 + 6 = □</a:t>
            </a:r>
            <a:endParaRPr lang="ko-KR" sz="2400" dirty="0"/>
          </a:p>
        </p:txBody>
      </p:sp>
      <p:sp>
        <p:nvSpPr>
          <p:cNvPr id="10" name="S10-chip8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0-eqtext8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100 − (16 + 24) ÷ 8 × 3 = □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식으로 나타내 봐요</a:t>
            </a:r>
            <a:endParaRPr lang="ko-KR" sz="4000" dirty="0"/>
          </a:p>
        </p:txBody>
      </p:sp>
      <p:sp>
        <p:nvSpPr>
          <p:cNvPr id="3" name="S12-chip8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9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귤이 한 상자에 12개씩 5상자 있어요. 15개를 나누어 주면 몇 개 남을까요? 하나의 식으로 나타내 계산해요.</a:t>
            </a:r>
            <a:endParaRPr lang="ko-KR" sz="2800" dirty="0"/>
          </a:p>
        </p:txBody>
      </p:sp>
      <p:sp>
        <p:nvSpPr>
          <p:cNvPr id="5" name="S12-chip9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92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+ 6 × 2에 ( )를 넣어 계산 결과가 36이 되게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 ) 안 → 곱셈·나눗셈 → 덧셈·뺄셈. 같은 단계끼리는 앞에서부터 계산해요.</a:t>
            </a:r>
            <a:endParaRPr lang="ko-KR" sz="2800" dirty="0"/>
          </a:p>
        </p:txBody>
      </p:sp>
      <p:sp>
        <p:nvSpPr>
          <p:cNvPr id="5" name="S13-chip95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곱셈·나눗셈 먼저</a:t>
            </a:r>
            <a:endParaRPr lang="ko-KR" sz="2200" dirty="0"/>
          </a:p>
        </p:txBody>
      </p:sp>
      <p:sp>
        <p:nvSpPr>
          <p:cNvPr id="6" name="S13-chip96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무조건 앞에서부터 계산하기</a:t>
            </a:r>
            <a:endParaRPr lang="ko-KR" sz="2200" dirty="0"/>
          </a:p>
        </p:txBody>
      </p:sp>
      <p:sp>
        <p:nvSpPr>
          <p:cNvPr id="7" name="S13-text97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eqtext98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18 + 6 × 3</a:t>
            </a:r>
            <a:endParaRPr lang="ko-KR" sz="2600" dirty="0"/>
          </a:p>
        </p:txBody>
      </p:sp>
      <p:sp>
        <p:nvSpPr>
          <p:cNvPr id="9" name="S13-eqtext99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(18 + 6) × 3</a:t>
            </a:r>
            <a:endParaRPr lang="ko-KR" sz="2600" dirty="0"/>
          </a:p>
        </p:txBody>
      </p:sp>
      <p:sp>
        <p:nvSpPr>
          <p:cNvPr id="10" name="S13-eqtext100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40 − 24 ÷ 4 × 2</a:t>
            </a:r>
            <a:endParaRPr lang="ko-KR" sz="2600" dirty="0"/>
          </a:p>
        </p:txBody>
      </p:sp>
      <p:sp>
        <p:nvSpPr>
          <p:cNvPr id="11" name="S13-text10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약수와 배수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나눗셈은 곱셈으로</a:t>
            </a:r>
            <a:endParaRPr lang="ko-KR" sz="4000" dirty="0"/>
          </a:p>
        </p:txBody>
      </p:sp>
      <p:sp>
        <p:nvSpPr>
          <p:cNvPr id="3" name="S14-card1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나눗셈은 ‘나누는 수에 얼마를 곱하면 될까?’로 생각해요.</a:t>
            </a:r>
            <a:endParaRPr lang="ko-KR" sz="2800" dirty="0"/>
          </a:p>
        </p:txBody>
      </p:sp>
      <p:sp>
        <p:nvSpPr>
          <p:cNvPr id="5" name="S14-eqtext10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 ÷ 12 = □</a:t>
            </a:r>
            <a:endParaRPr lang="ko-KR" sz="3200" dirty="0"/>
          </a:p>
        </p:txBody>
      </p:sp>
      <p:sp>
        <p:nvSpPr>
          <p:cNvPr id="6" name="S14-stepno105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14-text106"/>
          <p:cNvSpPr txBox="1"/>
          <p:nvPr/>
        </p:nvSpPr>
        <p:spPr>
          <a:xfrm>
            <a:off x="1325880" y="2875788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어림해요.</a:t>
            </a:r>
            <a:endParaRPr lang="ko-KR" sz="2800" dirty="0"/>
          </a:p>
        </p:txBody>
      </p:sp>
      <p:sp>
        <p:nvSpPr>
          <p:cNvPr id="8" name="S14-eqtext107"/>
          <p:cNvSpPr txBox="1"/>
          <p:nvPr/>
        </p:nvSpPr>
        <p:spPr>
          <a:xfrm>
            <a:off x="6981810" y="2875788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10 = 120</a:t>
            </a:r>
            <a:endParaRPr lang="ko-KR" sz="2800" dirty="0"/>
          </a:p>
        </p:txBody>
      </p:sp>
      <p:sp>
        <p:nvSpPr>
          <p:cNvPr id="9" name="S14-stepno108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14-text109"/>
          <p:cNvSpPr txBox="1"/>
          <p:nvPr/>
        </p:nvSpPr>
        <p:spPr>
          <a:xfrm>
            <a:off x="1325880" y="3589020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더 곱해요.</a:t>
            </a:r>
            <a:endParaRPr lang="ko-KR" sz="2800" dirty="0"/>
          </a:p>
        </p:txBody>
      </p:sp>
      <p:sp>
        <p:nvSpPr>
          <p:cNvPr id="11" name="S14-eqtext110"/>
          <p:cNvSpPr txBox="1"/>
          <p:nvPr/>
        </p:nvSpPr>
        <p:spPr>
          <a:xfrm>
            <a:off x="6981810" y="3589020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12 = 144</a:t>
            </a:r>
            <a:endParaRPr lang="ko-KR" sz="2800" dirty="0"/>
          </a:p>
        </p:txBody>
      </p:sp>
      <p:sp>
        <p:nvSpPr>
          <p:cNvPr id="12" name="S14-stepno111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14-text112"/>
          <p:cNvSpPr txBox="1"/>
          <p:nvPr/>
        </p:nvSpPr>
        <p:spPr>
          <a:xfrm>
            <a:off x="1325880" y="4302252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몫은 12예요.</a:t>
            </a:r>
            <a:endParaRPr lang="ko-KR" sz="2800" dirty="0"/>
          </a:p>
        </p:txBody>
      </p:sp>
      <p:sp>
        <p:nvSpPr>
          <p:cNvPr id="14" name="S14-eqtext113"/>
          <p:cNvSpPr txBox="1"/>
          <p:nvPr/>
        </p:nvSpPr>
        <p:spPr>
          <a:xfrm>
            <a:off x="6981810" y="4302252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 ÷ 12 = 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자연수의 혼합 계산</dc:title>
  <dc:subject>KR22-G05-MAT-MIXCALC-L01</dc:subject>
  <dc:creator>education-ppt</dc:creator>
  <cp:lastModifiedBy>education-ppt</cp:lastModifiedBy>
  <cp:revision>1</cp:revision>
  <dcterms:created xsi:type="dcterms:W3CDTF">2026-10-26T08:24:46Z</dcterms:created>
  <dcterms:modified xsi:type="dcterms:W3CDTF">2026-10-26T08:24:46Z</dcterms:modified>
</cp:coreProperties>
</file>