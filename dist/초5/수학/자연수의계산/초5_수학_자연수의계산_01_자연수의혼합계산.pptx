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f3ba6b1-fe6b-bd81-7696-f0d7ac8c5105}">
          <p14:sldIdLst>
            <p14:sldId id="256"/>
            <p14:sldId id="257"/>
          </p14:sldIdLst>
        </p14:section>
        <p14:section name="개념" id="{817e1fe1-1472-dda3-b734-0503d47f26e9}">
          <p14:sldIdLst>
            <p14:sldId id="258"/>
            <p14:sldId id="259"/>
            <p14:sldId id="261"/>
            <p14:sldId id="263"/>
          </p14:sldIdLst>
        </p14:section>
        <p14:section name="연습" id="{845bf40b-224c-ca51-aa5d-7580a62de36d}">
          <p14:sldIdLst>
            <p14:sldId id="260"/>
            <p14:sldId id="262"/>
            <p14:sldId id="264"/>
          </p14:sldIdLst>
        </p14:section>
        <p14:section name="개념" id="{961e4dc4-e5cd-697e-9f5c-fda646dc75aa}">
          <p14:sldIdLst/>
        </p14:section>
        <p14:section name="연습" id="{1f684a54-6d79-ce8d-44fb-3e05dfee97ea}">
          <p14:sldIdLst/>
        </p14:section>
        <p14:section name="개념" id="{e54cf764-f862-c171-cff5-cb21e31a4f5b}">
          <p14:sldIdLst/>
        </p14:section>
        <p14:section name="연습" id="{3dfbe277-13f2-b432-02a1-4ba997ba1231}">
          <p14:sldIdLst/>
        </p14:section>
        <p14:section name="확인" id="{a3c07c18-7c09-1664-ae91-92ce4b9adb09}">
          <p14:sldIdLst>
            <p14:sldId id="265"/>
            <p14:sldId id="266"/>
            <p14:sldId id="267"/>
          </p14:sldIdLst>
        </p14:section>
        <p14:section name="정리" id="{f60d0926-408a-0545-a9d4-fd79d0cb7346}">
          <p14:sldIdLst>
            <p14:sldId id="268"/>
          </p14:sldIdLst>
        </p14:section>
        <p14:section name="보충" id="{1772e744-a647-a717-74e4-9085d880580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덧셈·뺄셈·곱셈·나눗셈이 섞인 식은 계산하는 순서에 따라 답이 달라질 수 있다는 것을 느끼게 합니다.
시간: 약 2분
이렇게 말해 보세요
- “24 − 4 × 5를 계산해 볼래? 답이 하나로 정해질까?”
- “어떤 사람은 100, 어떤 사람은 4라고 해. 왜 답이 다를까? 오늘은 모두가 같은 답을 얻도록 정한 ‘계산 순서’를 배울 거야.”
예상 답
- “100이요(20 × 5).” “4요.” 어떤 답이든 괜찮습니다.
막히면
- 답을 확인하지 않고 아이의 답을 종이에 적어 둡니다. S06에서 다시 봅니다.
주의
- 정답은 4입니다(곱셈 먼저: 4 × 5 = 20, 24 − 20 = 4).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확인(사칙 계산)]
목적: 혼합 계산에 필요한 (세 자리 수)÷(두 자리 수), 곱셈, 받아내림이 있는 뺄셈을 바르게 하는지 확인합니다.
시간: 약 3분
이렇게 말해 보세요
- “세 문제를 계산해 볼래? 나눗셈은 곱셈으로 확인해 봐.”
정답
- ① 12
- ② 400
- ③ 174
막히면
- 나눗셈이 흔들리면 S14(보충)를 먼저 합니다. 보충으로도 어려우면 앞 차시 ‘(세 자리 수)÷(두 자리 수)’(4학년)를 다시 합니다.
주의
- 오늘은 계산 순서가 중심이므로, 계산 실수가 많으면 수를 작게 바꾸어 진행해도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덧셈과 뺄셈이 섞인 식(앞에서부터)]
목적: 덧셈과 뺄셈이 섞인 식은 앞에서부터 차례로 계산한다는 것을 이야기 상황과 연결해 압니다.
시간: 약 3분
이렇게 말해 보세요
- “버스에 35명이 있었는데 12명이 내렸어. 몇 명이 남았지? 그다음 8명이 탔어. 지금은 몇 명이야?”
- “일어난 차례대로 계산했지? 식에서도 앞에서부터 차례로 계산해.”
예상 답
- “23명이 남았다가 31명이 돼요.”
막히면
- 바둑돌 35개 대신 작은 수(10명, 3명 내림, 2명 탐)로 먼저 해 봅니다.
주의
- 12 + 8을 먼저 더하면 35 − 20 = 15가 되어 상황과 맞지 않습니다. 다음 장에서 ( )로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 )가 있는 식]
목적: ( )가 있으면 ( ) 안을 먼저 계산하고, ( )의 위치에 따라 답이 달라진다는 것을 압니다. 곱셈과 나눗셈만 섞인 식도 앞에서부터 계산한다는 것을 덧붙입니다.
시간: 약 3분
이렇게 말해 보세요
- “왼쪽과 오른쪽은 수가 같은데 답이 달라. 무엇이 다르지?”
- “오른쪽은 어떤 상황일까? 12명과 8명이 한꺼번에 내렸다면 ( )를 써서 먼저 더해.”
- “48 ÷ 4 × 2와 48 ÷ (4 × 2)도 계산해 볼까?”
예상 답
- “( )가 있어요.” “오른쪽은 20명이 내린 거예요.”
정답
- 48 ÷ 4 × 2 = 24 (48 ÷ 4 = 12, 12 × 2 = 24)
- 48 ÷ (4 × 2) = 6 (4 × 2 = 8, 48 ÷ 8 = 6)
막히면
- ( ) 안을 연필로 동그라미 치고 먼저 계산해 위에 결과를 쓰게 합니다.
주의
- ( )는 ‘먼저 계산하라’는 표시입니다. 같은 수로 된 식도 ( )의 위치에 따라 뜻(상황)과 답이 달라진다는 것을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연습(앞에서부터, ( ) 먼저)]
목적: 도움을 받으며 같은 종류의 연산만 섞인 식과 ( )가 있는 식을 순서에 맞게 계산합니다.
시간: 약 4분
이렇게 말해 보세요
- “①과 ②는 수가 같아. 무엇이 달라? 어느 것부터 계산해야 할까?”
- “③과 ④도 비교해 볼래? 계산 순서를 식 위에 1, 2로 써 봐.”
정답
- ① 60 (52 − 17 = 35, 35 + 25 = 60)
- ② 10 (17 + 25 = 42, 52 − 42 = 10)
- ③ 24 (48 ÷ 4 = 12, 12 × 2 = 24)
- ④ 6 (4 × 2 = 8, 48 ÷ 8 = 6)
막히면
- 먼저 계산할 부분에 밑줄을 긋고 그 결과를 아래 줄에 써서 식을 한 줄씩 줄여 가게 합니다.
주의
- ③에서 4 × 2를 먼저 해 6이라고 하면, 곱셈과 나눗셈이 섞여도 앞에서부터라는 것을 다시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덧셈·뺄셈과 곱셈이 섞인 식(곱셈 먼저)]
목적: 덧셈·뺄셈과 곱셈·나눗셈이 섞인 식에서는 곱셈·나눗셈을 먼저 계산한다는 약속을 압니다.
시간: 약 3분
이렇게 말해 보세요
- “표지에서 본 24 − 4 × 5야. 덧셈·뺄셈과 곱셈·나눗셈이 섞이면 곱셈·나눗셈을 먼저 하기로 약속했어.”
- “4 × 5는 얼마야? 그다음 24에서 빼면?”
- “사탕 4개씩 5묶음을 친구에게 주고 남은 것을 생각해 봐. 24개에서 몇 개를 줬어?”
예상 답
- “4 × 5 = 20, 24 − 20 = 4예요.”
막히면
- 곱셈 부분 4 × 5에 ( )를 연필로 쳐 주면 먼저 할 곳이 잘 보입니다(24 − (4 × 5)).
주의
- S01에서 적어 둔 아이의 답(100 또는 4)을 다시 보여 주고 무엇이 맞는지 말하게 합니다.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비교(덧셈을 곱셈보다 먼저 하기)]
목적: 덧셈을 곱셈보다 먼저 계산하는 흔한 실수(M1)를 직접 반박합니다.
시간: 약 3분
이렇게 말해 보세요
- “토끼와 곰 중 누가 맞았어? 왜?”
- “토끼처럼 10 + 20을 먼저 하고 싶으면 식을 어떻게 써야 할까?”
- “이야기로 생각해 볼까? 10원과, 20원짜리 3개를 합하면 얼마야?”
예상 답
- “곰이요. 곱셈을 먼저 해야 해요.”
정답
- 곰이 맞습니다. 곱셈을 먼저 계산해야 하므로 20 × 3 = 60, 10 + 60 = 70입니다.
- 토끼처럼 계산하려면 (10 + 20) × 3 = 90으로 ( )를 써야 합니다.
막히면
- 10원짜리 동전 1개와 20원 묶음 3개를 그려 실제로 더하게 합니다.
주의
- ‘앞에서부터’는 같은 단계(덧셈·뺄셈끼리, 곱셈·나눗셈끼리)에서만 쓰는 약속이라는 것을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네 가지 연산과 ( )가 모두 섞인 식(시범)]
목적: 덧셈·뺄셈·곱셈·나눗셈과 ( )가 모두 섞인 식을 ( ) 안 → 곱셈·나눗셈 → 덧셈·뺄셈 순서로 한 단계씩 계산하는 방법을 보여 줍니다.
시간: 약 4분
이렇게 말해 보세요
- “가장 먼저 계산할 곳은 어디야? ( ) 안의 2 + 8은?”
- “이제 식은 45 − 3 × 10 ÷ 6이 됐어. 곱셈과 나눗셈이 둘 다 있으면 어느 것부터?”
- “3 × 10 = 30, 30 ÷ 6 = 5. 마지막으로 45 − 5는?”
- “식 위에 계산 순서를 ①, ②, ③, ④로 써 볼까?”
예상 답
- “2 + 8 = 10, 3 × 10 = 30, 30 ÷ 6 = 5, 45 − 5 = 40, 답은 40이에요.”
막히면
- 계산한 부분을 결과로 바꾼 식을 한 줄씩 아래에 다시 쓰게 합니다(45 − 3 × 10 ÷ 6 → 45 − 30 ÷ 6 → 45 − 5 → 40).
주의
- 3 × 10 ÷ 6에서 곱셈과 나눗셈은 같은 단계이므로 앞에서부터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연습(곱셈·나눗셈 먼저)]
목적: 도움을 받으며 계산 순서를 먼저 표시하고 한 단계씩 계산합니다.
시간: 약 4분
이렇게 말해 보세요
- “계산하기 전에 식 위에 순서를 써 볼까? ①과 ③은 무엇이 달라?”
- “②에는 곱셈과 나눗셈이 둘 다 있어. 둘 다 덧셈·뺄셈보다 먼저야.”
- “④는 ( )가 있어. 어디부터 할까?”
정답
- ① 35 (15 ÷ 3 = 5, 30 + 5 = 35)
- ② 47 (7 × 8 = 56, 36 ÷ 4 = 9, 56 − 9 = 47)
- ③ 15 (30 + 15 = 45, 45 ÷ 3 = 15)
- ④ 56 (5 + 7 = 12, 4 × 12 = 48, 48 ÷ 6 = 8, 64 − 8 = 56)
막히면
- 먼저 할 부분에 밑줄을 긋고 결과를 아래 줄에 써서 식을 한 줄씩 줄여 가게 합니다.
주의
- ①은 35, ③은 15로 ( ) 하나로 답이 달라지는 것을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계산 순서를 표시하고 혼합 계산을 하는지 확인합니다(①·②는 목표 A, ③·④는 목표 B).
시간: 약 4분
이렇게 말해 보세요
- “이번에는 혼자 해 볼래? 계산하기 전에 순서를 식 위에 써 줘.”
정답
- ① 60 (72 − 25 = 47, 47 + 13 = 60)
- ② 7 (3 × 4 = 12, 84 ÷ 12 = 7)
- ③ 24 (8 × 4 = 32, 50 − 32 = 18, 18 + 6 = 24)
- ④ 85 (16 + 24 = 40, 40 ÷ 8 = 5, 5 × 3 = 15, 100 − 15 = 85)
막히면
- 바로 알려 주지 말고 “가장 먼저 계산할 곳은 어디야?”라고만 묻습니다.
- 도움을 받아 해결했다면 기록표에 ‘도움’으로 표시합니다.
주의
- 정답 확인은 다음 장(S11)에서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확인하고, 계산 순서를 지키지 않은 실수를 바로잡습니다. 수업용에만 있는 장입니다.
시간: 약 2분
이렇게 말해 보세요
- “네 답과 같은지 볼까? 다르면 어느 단계에서 달라졌는지 찾아보자.”
정답
- ① 60 (72 − 25 = 47, 47 + 13 = 60)
- ② 7 (3 × 4 = 12, 84 ÷ 12 = 7)
- ③ 24 (8 × 4 = 32, 50 − 32 = 18, 18 + 6 = 24)
- ④ 85 (16 + 24 = 40, 40 ÷ 8 = 5, 5 × 3 = 15, 100 − 15 = 85)
막히면
- ③을 174라고 했다면 S07로 돌아가 토끼의 실수와 같은지 비교합니다(M1).
- ④에서 16 + 24 ÷ 8처럼 ( )를 빼고 계산했다면 ( )에 동그라미를 치고 다시 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확인(식 세우기, ( ) 넣기)]
목적: 처음 보는 문제를 하나의 식으로 나타내 계산 순서에 맞게 계산하고, ( )가 계산 순서를 바꾼다는 것을 쓰는지 확인합니다.
시간: 약 3분
이렇게 말해 보세요
- “①을 한 줄짜리 식으로 써 볼래? 무엇을 먼저 계산해야 해?”
- “②는 ( )를 어디에 넣어야 36이 될까? ( )가 없으면 얼마야?”
정답
- ① 12 × 5 − 15 = 45 (12 × 5 = 60, 60 − 15 = 45), 45개
- ② (12 + 6) × 2 = 36. ( )가 없으면 12 + 12 = 24입니다.
막히면
- ①은 먼저 두 식(12 × 5 = 60, 60 − 15 = 45)으로 풀고, 두 식을 하나로 합쳐 쓰게 합니다.
주의
- ①을 12 × (5 − 15)처럼 쓰면 상황과 맞지 않습니다. 식을 읽어 이야기와 같은지 확인하게 합니다.
- 식과 답을 모두 바르게 쓰면 목표 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“여러 연산이 섞인 식은 어떤 순서로 계산하지?”
- “다음 수업을 시작할 때 이 세 문제를 먼저 풀 거야.”
예상 답
- “( ) 안, 곱셈·나눗셈, 덧셈·뺄셈 순서요.”
정답
- ① 36 (6 × 3 = 18, 18 + 18 = 36)
- ② 72 (18 + 6 = 24, 24 × 3 = 72)
- ③ 28 (24 ÷ 4 = 6, 6 × 2 = 12, 40 − 12 = 28)
막히면
- S08의 계산 순서 문장을 함께 읽고 따라 말하게 합니다.
주의
- 복습 세 문제는 다음 수업을 시작할 때 활동지 마지막 쪽과 함께 풉니다.
- S10·S12 결과를 기록표에 적어 두면 다음 차시(약수와 배수)로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보충((세 자리 수)÷(두 자리 수))]
목적: S02에서 나눗셈이 흔들리면, 곱셈으로 몫을 어림하고 확인하는 방법을 다시 합니다.
시간: 약 5분
이렇게 말해 보세요
- “12에 10을 곱하면 120이야. 144가 되려면 12를 몇 번 더 곱해야 할까?”
- “168 ÷ 12도 같은 방법으로 해 볼까?”
정답
- 144 ÷ 12 = 12
- 168 ÷ 12 = 14(12 × 14 = 168)
막히면
- 12씩 뛰어 세기(12, 24, 36 …)를 종이에 쓰며 144까지 세게 합니다.
주의
- 보충으로도 어려우면 앞 학년 차시 ‘(세 자리 수)÷(두 자리 수)’(4학년)를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자연수의 혼합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혼합 계산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5는 얼마일까?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 )가 있는 식, 같은 종류끼리 섞인 식을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곱셈·나눗셈을 먼저 하는 계산 순서를 알아요.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보세요.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□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× 16 = □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eq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352 − 178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뺄셈이 섞인 식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버스에 35명이 있었어요. 12명이 내리고 8명이 탔어요.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뺄셈만 있으면 앞에서부터 차례로 계산해요.</a:t>
            </a:r>
            <a:endParaRPr lang="ko-KR" sz="2800" dirty="0"/>
          </a:p>
        </p:txBody>
      </p:sp>
      <p:sp>
        <p:nvSpPr>
          <p:cNvPr id="6" name="S03-eqtext14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+ 8 = □</a:t>
            </a:r>
            <a:endParaRPr lang="ko-KR" sz="3200" dirty="0"/>
          </a:p>
        </p:txBody>
      </p:sp>
      <p:sp>
        <p:nvSpPr>
          <p:cNvPr id="7" name="S03-stepno15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3-text16"/>
          <p:cNvSpPr txBox="1"/>
          <p:nvPr/>
        </p:nvSpPr>
        <p:spPr>
          <a:xfrm>
            <a:off x="1325880" y="357530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뺄셈</a:t>
            </a:r>
            <a:endParaRPr lang="ko-KR" sz="2800" dirty="0"/>
          </a:p>
        </p:txBody>
      </p:sp>
      <p:sp>
        <p:nvSpPr>
          <p:cNvPr id="9" name="S03-eqtext17"/>
          <p:cNvSpPr txBox="1"/>
          <p:nvPr/>
        </p:nvSpPr>
        <p:spPr>
          <a:xfrm>
            <a:off x="6981810" y="357530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= 23</a:t>
            </a:r>
            <a:endParaRPr lang="ko-KR" sz="2800" dirty="0"/>
          </a:p>
        </p:txBody>
      </p:sp>
      <p:sp>
        <p:nvSpPr>
          <p:cNvPr id="10" name="S03-stepno18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3-text19"/>
          <p:cNvSpPr txBox="1"/>
          <p:nvPr/>
        </p:nvSpPr>
        <p:spPr>
          <a:xfrm>
            <a:off x="1325880" y="428853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덧셈</a:t>
            </a:r>
            <a:endParaRPr lang="ko-KR" sz="2800" dirty="0"/>
          </a:p>
        </p:txBody>
      </p:sp>
      <p:sp>
        <p:nvSpPr>
          <p:cNvPr id="12" name="S03-eqtext20"/>
          <p:cNvSpPr txBox="1"/>
          <p:nvPr/>
        </p:nvSpPr>
        <p:spPr>
          <a:xfrm>
            <a:off x="6981810" y="428853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+ 8 = 31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)가 있으면 ( ) 안부터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곱셈과 나눗셈만 섞인 식도 앞에서부터, ( )가 있으면 ( ) 안부터 계산해요.</a:t>
            </a:r>
            <a:endParaRPr lang="ko-KR" sz="2800" dirty="0"/>
          </a:p>
        </p:txBody>
      </p:sp>
      <p:sp>
        <p:nvSpPr>
          <p:cNvPr id="5" name="S04-chip2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</a:t>
            </a:r>
            <a:endParaRPr lang="ko-KR" sz="2200" dirty="0"/>
          </a:p>
        </p:txBody>
      </p:sp>
      <p:sp>
        <p:nvSpPr>
          <p:cNvPr id="6" name="S04-eqtext24"/>
          <p:cNvSpPr txBox="1"/>
          <p:nvPr/>
        </p:nvSpPr>
        <p:spPr>
          <a:xfrm>
            <a:off x="548640" y="2057400"/>
            <a:ext cx="5362956" cy="230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+ 8 = 31</a:t>
            </a:r>
            <a:endParaRPr lang="ko-KR" sz="3200" dirty="0"/>
          </a:p>
        </p:txBody>
      </p:sp>
      <p:sp>
        <p:nvSpPr>
          <p:cNvPr id="7" name="S04-text25"/>
          <p:cNvSpPr txBox="1"/>
          <p:nvPr/>
        </p:nvSpPr>
        <p:spPr>
          <a:xfrm>
            <a:off x="548640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12명이 내리고 8명이 탔어요.</a:t>
            </a:r>
            <a:endParaRPr lang="ko-KR" sz="2200" dirty="0"/>
          </a:p>
        </p:txBody>
      </p:sp>
      <p:sp>
        <p:nvSpPr>
          <p:cNvPr id="8" name="S04-chip2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안부터</a:t>
            </a:r>
            <a:endParaRPr lang="ko-KR" sz="2200" dirty="0"/>
          </a:p>
        </p:txBody>
      </p:sp>
      <p:sp>
        <p:nvSpPr>
          <p:cNvPr id="9" name="S04-eqtext27"/>
          <p:cNvSpPr txBox="1"/>
          <p:nvPr/>
        </p:nvSpPr>
        <p:spPr>
          <a:xfrm>
            <a:off x="6277356" y="2057400"/>
            <a:ext cx="5362956" cy="230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(12 + 8) = 15</a:t>
            </a:r>
            <a:endParaRPr lang="ko-KR" sz="3200" dirty="0"/>
          </a:p>
        </p:txBody>
      </p:sp>
      <p:sp>
        <p:nvSpPr>
          <p:cNvPr id="10" name="S04-text28"/>
          <p:cNvSpPr txBox="1"/>
          <p:nvPr/>
        </p:nvSpPr>
        <p:spPr>
          <a:xfrm>
            <a:off x="6277356" y="4360164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12명과 8명이 함께 내렸어요.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생각하며 계산해요</a:t>
            </a:r>
            <a:endParaRPr lang="ko-KR" sz="4000" dirty="0"/>
          </a:p>
        </p:txBody>
      </p:sp>
      <p:sp>
        <p:nvSpPr>
          <p:cNvPr id="3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)가 없으면 앞에서부터, ( )가 있으면 ( ) 안부터 계산해요.</a:t>
            </a:r>
            <a:endParaRPr lang="ko-KR" sz="2800" dirty="0"/>
          </a:p>
        </p:txBody>
      </p:sp>
      <p:sp>
        <p:nvSpPr>
          <p:cNvPr id="5" name="S05-chip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eqtext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52 − 17 + 25 = □</a:t>
            </a:r>
            <a:endParaRPr lang="ko-KR" sz="3200" dirty="0"/>
          </a:p>
        </p:txBody>
      </p:sp>
      <p:sp>
        <p:nvSpPr>
          <p:cNvPr id="7" name="S05-chip3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eqtext3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(17 + 25) = □</a:t>
            </a:r>
            <a:endParaRPr lang="ko-KR" sz="3200" dirty="0"/>
          </a:p>
        </p:txBody>
      </p:sp>
      <p:sp>
        <p:nvSpPr>
          <p:cNvPr id="9" name="S05-chip3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eqtext3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4 × 2 = □</a:t>
            </a:r>
            <a:endParaRPr lang="ko-KR" sz="3200" dirty="0"/>
          </a:p>
        </p:txBody>
      </p:sp>
      <p:sp>
        <p:nvSpPr>
          <p:cNvPr id="11" name="S05-chip3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eqtext3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(4 × 2)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곱셈을 먼저 계산해요</a:t>
            </a:r>
            <a:endParaRPr lang="ko-KR" sz="40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5에서 무엇을 먼저 할까요?</a:t>
            </a:r>
            <a:endParaRPr lang="ko-KR" sz="2800" dirty="0"/>
          </a:p>
        </p:txBody>
      </p:sp>
      <p:sp>
        <p:nvSpPr>
          <p:cNvPr id="4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곱셈·나눗셈은 덧셈·뺄셈보다 먼저 계산해요.</a:t>
            </a:r>
            <a:endParaRPr lang="ko-KR" sz="2800" dirty="0"/>
          </a:p>
        </p:txBody>
      </p:sp>
      <p:sp>
        <p:nvSpPr>
          <p:cNvPr id="6" name="S06-eqtext42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24 − 4 × 5 = □</a:t>
            </a:r>
            <a:endParaRPr lang="ko-KR" sz="3200" dirty="0"/>
          </a:p>
        </p:txBody>
      </p:sp>
      <p:sp>
        <p:nvSpPr>
          <p:cNvPr id="7" name="S06-stepno43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44"/>
          <p:cNvSpPr txBox="1"/>
          <p:nvPr/>
        </p:nvSpPr>
        <p:spPr>
          <a:xfrm>
            <a:off x="1325880" y="357530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 먼저</a:t>
            </a:r>
            <a:endParaRPr lang="ko-KR" sz="2800" dirty="0"/>
          </a:p>
        </p:txBody>
      </p:sp>
      <p:sp>
        <p:nvSpPr>
          <p:cNvPr id="9" name="S06-eqtext45"/>
          <p:cNvSpPr txBox="1"/>
          <p:nvPr/>
        </p:nvSpPr>
        <p:spPr>
          <a:xfrm>
            <a:off x="6981810" y="357530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</a:t>
            </a:r>
            <a:endParaRPr lang="ko-KR" sz="2800" dirty="0"/>
          </a:p>
        </p:txBody>
      </p:sp>
      <p:sp>
        <p:nvSpPr>
          <p:cNvPr id="10" name="S06-stepno46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6-text47"/>
          <p:cNvSpPr txBox="1"/>
          <p:nvPr/>
        </p:nvSpPr>
        <p:spPr>
          <a:xfrm>
            <a:off x="1325880" y="428853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뺄셈</a:t>
            </a:r>
            <a:endParaRPr lang="ko-KR" sz="2800" dirty="0"/>
          </a:p>
        </p:txBody>
      </p:sp>
      <p:sp>
        <p:nvSpPr>
          <p:cNvPr id="12" name="S06-eqtext48"/>
          <p:cNvSpPr txBox="1"/>
          <p:nvPr/>
        </p:nvSpPr>
        <p:spPr>
          <a:xfrm>
            <a:off x="6981810" y="428853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24 − 20 = 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계산했을까요?</a:t>
            </a:r>
            <a:endParaRPr lang="ko-KR" sz="40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+ 20 × 3을 계산했어요.</a:t>
            </a:r>
            <a:endParaRPr lang="ko-KR" sz="2800" dirty="0"/>
          </a:p>
        </p:txBody>
      </p:sp>
      <p:sp>
        <p:nvSpPr>
          <p:cNvPr id="5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계산했을까요? 까닭을 말해요.</a:t>
            </a:r>
            <a:endParaRPr lang="ko-KR" sz="2800" dirty="0"/>
          </a:p>
        </p:txBody>
      </p:sp>
      <p:sp>
        <p:nvSpPr>
          <p:cNvPr id="7" name="S07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90</a:t>
            </a:r>
            <a:endParaRPr lang="ko-KR" sz="2200" dirty="0"/>
          </a:p>
        </p:txBody>
      </p:sp>
      <p:sp>
        <p:nvSpPr>
          <p:cNvPr id="8" name="S07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+ 20 = 30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3 = 90</a:t>
            </a:r>
            <a:endParaRPr lang="ko-KR" sz="2800" dirty="0"/>
          </a:p>
        </p:txBody>
      </p:sp>
      <p:sp>
        <p:nvSpPr>
          <p:cNvPr id="9" name="S07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70</a:t>
            </a:r>
            <a:endParaRPr lang="ko-KR" sz="2200" dirty="0"/>
          </a:p>
        </p:txBody>
      </p:sp>
      <p:sp>
        <p:nvSpPr>
          <p:cNvPr id="10" name="S07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+ 60 = 70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섞인 식의 계산 순서</a:t>
            </a:r>
            <a:endParaRPr lang="ko-KR" sz="4000" dirty="0"/>
          </a:p>
        </p:txBody>
      </p:sp>
      <p:sp>
        <p:nvSpPr>
          <p:cNvPr id="3" name="S08-eqtext5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45 − 3 × (2 + 8) ÷ 6 = □</a:t>
            </a:r>
            <a:endParaRPr lang="ko-KR" sz="3200" dirty="0"/>
          </a:p>
        </p:txBody>
      </p:sp>
      <p:sp>
        <p:nvSpPr>
          <p:cNvPr id="4" name="S08-stepno58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8-text59"/>
          <p:cNvSpPr txBox="1"/>
          <p:nvPr/>
        </p:nvSpPr>
        <p:spPr>
          <a:xfrm>
            <a:off x="1325880" y="306781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</a:t>
            </a:r>
            <a:endParaRPr lang="ko-KR" sz="2800" dirty="0"/>
          </a:p>
        </p:txBody>
      </p:sp>
      <p:sp>
        <p:nvSpPr>
          <p:cNvPr id="6" name="S08-eqtext60"/>
          <p:cNvSpPr txBox="1"/>
          <p:nvPr/>
        </p:nvSpPr>
        <p:spPr>
          <a:xfrm>
            <a:off x="6981810" y="306781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+ 8 = 10</a:t>
            </a:r>
            <a:endParaRPr lang="ko-KR" sz="2800" dirty="0"/>
          </a:p>
        </p:txBody>
      </p:sp>
      <p:sp>
        <p:nvSpPr>
          <p:cNvPr id="7" name="S08-stepno61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8-text62"/>
          <p:cNvSpPr txBox="1"/>
          <p:nvPr/>
        </p:nvSpPr>
        <p:spPr>
          <a:xfrm>
            <a:off x="1325880" y="3781044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곱셈(앞)</a:t>
            </a:r>
            <a:endParaRPr lang="ko-KR" sz="2800" dirty="0"/>
          </a:p>
        </p:txBody>
      </p:sp>
      <p:sp>
        <p:nvSpPr>
          <p:cNvPr id="9" name="S08-eqtext63"/>
          <p:cNvSpPr txBox="1"/>
          <p:nvPr/>
        </p:nvSpPr>
        <p:spPr>
          <a:xfrm>
            <a:off x="6981810" y="3781044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10 = 30</a:t>
            </a:r>
            <a:endParaRPr lang="ko-KR" sz="2800" dirty="0"/>
          </a:p>
        </p:txBody>
      </p:sp>
      <p:sp>
        <p:nvSpPr>
          <p:cNvPr id="10" name="S08-stepno64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8-text65"/>
          <p:cNvSpPr txBox="1"/>
          <p:nvPr/>
        </p:nvSpPr>
        <p:spPr>
          <a:xfrm>
            <a:off x="1325880" y="449427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</a:t>
            </a:r>
            <a:endParaRPr lang="ko-KR" sz="2800" dirty="0"/>
          </a:p>
        </p:txBody>
      </p:sp>
      <p:sp>
        <p:nvSpPr>
          <p:cNvPr id="12" name="S08-eqtext66"/>
          <p:cNvSpPr txBox="1"/>
          <p:nvPr/>
        </p:nvSpPr>
        <p:spPr>
          <a:xfrm>
            <a:off x="6981810" y="449427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6 = 5</a:t>
            </a:r>
            <a:endParaRPr lang="ko-KR" sz="2800" dirty="0"/>
          </a:p>
        </p:txBody>
      </p:sp>
      <p:sp>
        <p:nvSpPr>
          <p:cNvPr id="13" name="S08-stepno67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8-text68"/>
          <p:cNvSpPr txBox="1"/>
          <p:nvPr/>
        </p:nvSpPr>
        <p:spPr>
          <a:xfrm>
            <a:off x="1325880" y="520750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</a:t>
            </a:r>
            <a:endParaRPr lang="ko-KR" sz="2800" dirty="0"/>
          </a:p>
        </p:txBody>
      </p:sp>
      <p:sp>
        <p:nvSpPr>
          <p:cNvPr id="15" name="S08-eqtext69"/>
          <p:cNvSpPr txBox="1"/>
          <p:nvPr/>
        </p:nvSpPr>
        <p:spPr>
          <a:xfrm>
            <a:off x="6981810" y="520750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45 − 5 = 40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순서를 써 보세요</a:t>
            </a:r>
            <a:endParaRPr lang="ko-KR" sz="4000" dirty="0"/>
          </a:p>
        </p:txBody>
      </p:sp>
      <p:sp>
        <p:nvSpPr>
          <p:cNvPr id="3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계산할 순서를 식 위에 ①, ②, ③으로 먼저 써요.</a:t>
            </a:r>
            <a:endParaRPr lang="ko-KR" sz="2800" dirty="0"/>
          </a:p>
        </p:txBody>
      </p:sp>
      <p:sp>
        <p:nvSpPr>
          <p:cNvPr id="5" name="S09-chip7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eqtext7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+ 15 ÷ 3 = □</a:t>
            </a:r>
            <a:endParaRPr lang="ko-KR" sz="2800" dirty="0"/>
          </a:p>
        </p:txBody>
      </p:sp>
      <p:sp>
        <p:nvSpPr>
          <p:cNvPr id="7" name="S09-chip7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eqtext7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8 − 36 ÷ 4 = □</a:t>
            </a:r>
            <a:endParaRPr lang="ko-KR" sz="2800" dirty="0"/>
          </a:p>
        </p:txBody>
      </p:sp>
      <p:sp>
        <p:nvSpPr>
          <p:cNvPr id="9" name="S09-chip7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eqtext7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(30 + 15) ÷ 3 = □</a:t>
            </a:r>
            <a:endParaRPr lang="ko-KR" sz="2800" dirty="0"/>
          </a:p>
        </p:txBody>
      </p:sp>
      <p:sp>
        <p:nvSpPr>
          <p:cNvPr id="11" name="S09-chip7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eqtext7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64 − 4 × (5 + 7) ÷ 6 =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순서를 쓰고 계산해요.</a:t>
            </a:r>
            <a:endParaRPr lang="ko-KR" sz="2800" dirty="0"/>
          </a:p>
        </p:txBody>
      </p:sp>
      <p:sp>
        <p:nvSpPr>
          <p:cNvPr id="4" name="S10-chip8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eqtext8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72 − 25 + 13 = □</a:t>
            </a:r>
            <a:endParaRPr lang="ko-KR" sz="2400" dirty="0"/>
          </a:p>
        </p:txBody>
      </p:sp>
      <p:sp>
        <p:nvSpPr>
          <p:cNvPr id="6" name="S10-chip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eqtext8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÷ (3 × 4) = □</a:t>
            </a:r>
            <a:endParaRPr lang="ko-KR" sz="2400" dirty="0"/>
          </a:p>
        </p:txBody>
      </p:sp>
      <p:sp>
        <p:nvSpPr>
          <p:cNvPr id="8" name="S10-chip8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eqtext8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50 − 8 × 4 + 6 = □</a:t>
            </a:r>
            <a:endParaRPr lang="ko-KR" sz="2400" dirty="0"/>
          </a:p>
        </p:txBody>
      </p:sp>
      <p:sp>
        <p:nvSpPr>
          <p:cNvPr id="10" name="S10-chip8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eqtext8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(16 + 24) ÷ 8 × 3 = □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식을 한 줄씩 줄여 가며 다시 계산하게 하세요.</a:t>
            </a:r>
            <a:endParaRPr lang="ko-KR" sz="2800" dirty="0"/>
          </a:p>
        </p:txBody>
      </p:sp>
      <p:sp>
        <p:nvSpPr>
          <p:cNvPr id="5" name="S11-chip9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9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</a:t>
            </a:r>
            <a:endParaRPr lang="ko-KR" sz="2800" dirty="0"/>
          </a:p>
        </p:txBody>
      </p:sp>
      <p:sp>
        <p:nvSpPr>
          <p:cNvPr id="7" name="S11-text9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+ 13</a:t>
            </a:r>
            <a:endParaRPr lang="ko-KR" sz="2200" dirty="0"/>
          </a:p>
        </p:txBody>
      </p:sp>
      <p:sp>
        <p:nvSpPr>
          <p:cNvPr id="8" name="S11-text9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</a:t>
            </a:r>
            <a:endParaRPr lang="ko-KR" sz="2800" dirty="0"/>
          </a:p>
        </p:txBody>
      </p:sp>
      <p:sp>
        <p:nvSpPr>
          <p:cNvPr id="9" name="S11-text9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÷ 12</a:t>
            </a:r>
            <a:endParaRPr lang="ko-KR" sz="2200" dirty="0"/>
          </a:p>
        </p:txBody>
      </p:sp>
      <p:sp>
        <p:nvSpPr>
          <p:cNvPr id="10" name="S11-text9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</a:t>
            </a:r>
            <a:endParaRPr lang="ko-KR" sz="2800" dirty="0"/>
          </a:p>
        </p:txBody>
      </p:sp>
      <p:sp>
        <p:nvSpPr>
          <p:cNvPr id="11" name="S11-text9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50 − 32 + 6</a:t>
            </a:r>
            <a:endParaRPr lang="ko-KR" sz="2200" dirty="0"/>
          </a:p>
        </p:txBody>
      </p:sp>
      <p:sp>
        <p:nvSpPr>
          <p:cNvPr id="12" name="S11-text9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85</a:t>
            </a:r>
            <a:endParaRPr lang="ko-KR" sz="2800" dirty="0"/>
          </a:p>
        </p:txBody>
      </p:sp>
      <p:sp>
        <p:nvSpPr>
          <p:cNvPr id="13" name="S11-text9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100 − 15</a:t>
            </a:r>
            <a:endParaRPr lang="ko-KR" sz="2200" dirty="0"/>
          </a:p>
        </p:txBody>
      </p:sp>
      <p:sp>
        <p:nvSpPr>
          <p:cNvPr id="14" name="S11-chip10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1-text10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174</a:t>
            </a:r>
            <a:endParaRPr lang="ko-KR" sz="2800" dirty="0"/>
          </a:p>
        </p:txBody>
      </p:sp>
      <p:sp>
        <p:nvSpPr>
          <p:cNvPr id="16" name="S11-text10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먼저 함</a:t>
            </a:r>
            <a:endParaRPr lang="ko-KR" sz="2200" dirty="0"/>
          </a:p>
        </p:txBody>
      </p:sp>
      <p:sp>
        <p:nvSpPr>
          <p:cNvPr id="17" name="S11-text10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112</a:t>
            </a:r>
            <a:endParaRPr lang="ko-KR" sz="2800" dirty="0"/>
          </a:p>
        </p:txBody>
      </p:sp>
      <p:sp>
        <p:nvSpPr>
          <p:cNvPr id="18" name="S11-text10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)를 무시함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나타내 봐요</a:t>
            </a:r>
            <a:endParaRPr lang="ko-KR" sz="4000" dirty="0"/>
          </a:p>
        </p:txBody>
      </p:sp>
      <p:sp>
        <p:nvSpPr>
          <p:cNvPr id="3" name="S12-chip10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10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귤이 한 상자에 12개씩 5상자 있어요. 15개를 나누어 주면 몇 개 남을까요? 하나의 식으로 나타내 계산해요.</a:t>
            </a:r>
            <a:endParaRPr lang="ko-KR" sz="2800" dirty="0"/>
          </a:p>
        </p:txBody>
      </p:sp>
      <p:sp>
        <p:nvSpPr>
          <p:cNvPr id="5" name="S12-chip10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108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+ 6 × 2에 ( )를 넣어 계산 결과가 36이 되게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) 안 → 곱셈·나눗셈 → 덧셈·뺄셈. 같은 단계끼리는 앞에서부터 계산해요.</a:t>
            </a:r>
            <a:endParaRPr lang="ko-KR" sz="2800" dirty="0"/>
          </a:p>
        </p:txBody>
      </p:sp>
      <p:sp>
        <p:nvSpPr>
          <p:cNvPr id="5" name="S13-chip11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곱셈·나눗셈 먼저</a:t>
            </a:r>
            <a:endParaRPr lang="ko-KR" sz="2200" dirty="0"/>
          </a:p>
        </p:txBody>
      </p:sp>
      <p:sp>
        <p:nvSpPr>
          <p:cNvPr id="6" name="S13-chip11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무조건 앞에서부터 계산하기</a:t>
            </a:r>
            <a:endParaRPr lang="ko-KR" sz="2200" dirty="0"/>
          </a:p>
        </p:txBody>
      </p:sp>
      <p:sp>
        <p:nvSpPr>
          <p:cNvPr id="7" name="S13-text11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eqtext11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 + 6 × 3</a:t>
            </a:r>
            <a:endParaRPr lang="ko-KR" sz="2600" dirty="0"/>
          </a:p>
        </p:txBody>
      </p:sp>
      <p:sp>
        <p:nvSpPr>
          <p:cNvPr id="9" name="S13-eqtext11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(18 + 6) × 3</a:t>
            </a:r>
            <a:endParaRPr lang="ko-KR" sz="2600" dirty="0"/>
          </a:p>
        </p:txBody>
      </p:sp>
      <p:sp>
        <p:nvSpPr>
          <p:cNvPr id="10" name="S13-eqtext11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40 − 24 ÷ 4 × 2</a:t>
            </a:r>
            <a:endParaRPr lang="ko-KR" sz="2600" dirty="0"/>
          </a:p>
        </p:txBody>
      </p:sp>
      <p:sp>
        <p:nvSpPr>
          <p:cNvPr id="11" name="S13-text1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약수와 배수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나눗셈은 곱셈으로</a:t>
            </a:r>
            <a:endParaRPr lang="ko-KR" sz="4000" dirty="0"/>
          </a:p>
        </p:txBody>
      </p:sp>
      <p:sp>
        <p:nvSpPr>
          <p:cNvPr id="3" name="S14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나눗셈은 ‘나누는 수에 얼마를 곱하면 될까?’로 생각해요.</a:t>
            </a:r>
            <a:endParaRPr lang="ko-KR" sz="2800" dirty="0"/>
          </a:p>
        </p:txBody>
      </p:sp>
      <p:sp>
        <p:nvSpPr>
          <p:cNvPr id="5" name="S14-eqtext12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□</a:t>
            </a:r>
            <a:endParaRPr lang="ko-KR" sz="3200" dirty="0"/>
          </a:p>
        </p:txBody>
      </p:sp>
      <p:sp>
        <p:nvSpPr>
          <p:cNvPr id="6" name="S14-stepno121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4-text122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어림해요.</a:t>
            </a:r>
            <a:endParaRPr lang="ko-KR" sz="2800" dirty="0"/>
          </a:p>
        </p:txBody>
      </p:sp>
      <p:sp>
        <p:nvSpPr>
          <p:cNvPr id="8" name="S14-eqtext123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10 = 120</a:t>
            </a:r>
            <a:endParaRPr lang="ko-KR" sz="2800" dirty="0"/>
          </a:p>
        </p:txBody>
      </p:sp>
      <p:sp>
        <p:nvSpPr>
          <p:cNvPr id="9" name="S14-stepno124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4-text125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곱해요.</a:t>
            </a:r>
            <a:endParaRPr lang="ko-KR" sz="2800" dirty="0"/>
          </a:p>
        </p:txBody>
      </p:sp>
      <p:sp>
        <p:nvSpPr>
          <p:cNvPr id="11" name="S14-eqtext126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12 = 144</a:t>
            </a:r>
            <a:endParaRPr lang="ko-KR" sz="2800" dirty="0"/>
          </a:p>
        </p:txBody>
      </p:sp>
      <p:sp>
        <p:nvSpPr>
          <p:cNvPr id="12" name="S14-stepno12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4-text128"/>
          <p:cNvSpPr txBox="1"/>
          <p:nvPr/>
        </p:nvSpPr>
        <p:spPr>
          <a:xfrm>
            <a:off x="1325880" y="430225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12예요.</a:t>
            </a:r>
            <a:endParaRPr lang="ko-KR" sz="2800" dirty="0"/>
          </a:p>
        </p:txBody>
      </p:sp>
      <p:sp>
        <p:nvSpPr>
          <p:cNvPr id="14" name="S14-eqtext129"/>
          <p:cNvSpPr txBox="1"/>
          <p:nvPr/>
        </p:nvSpPr>
        <p:spPr>
          <a:xfrm>
            <a:off x="6981810" y="430225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÷ 12 = 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자연수의 혼합 계산</dc:title>
  <dc:subject>KR22-G05-MAT-MIXCALC-L01</dc:subject>
  <dc:creator>education-ppt</dc:creator>
  <cp:lastModifiedBy>education-ppt</cp:lastModifiedBy>
  <cp:revision>1</cp:revision>
  <dcterms:created xsi:type="dcterms:W3CDTF">2026-10-26T08:24:46Z</dcterms:created>
  <dcterms:modified xsi:type="dcterms:W3CDTF">2026-10-26T08:24:46Z</dcterms:modified>
</cp:coreProperties>
</file>