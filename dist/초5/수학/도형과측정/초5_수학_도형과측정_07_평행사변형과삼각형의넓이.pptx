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b4ff00-7d12-5713-2b95-a8c5c9aab391}">
          <p14:sldIdLst>
            <p14:sldId id="256"/>
            <p14:sldId id="257"/>
          </p14:sldIdLst>
        </p14:section>
        <p14:section name="개념" id="{cff9a6a2-c2cf-76af-8675-57bab91914c2}">
          <p14:sldIdLst>
            <p14:sldId id="258"/>
            <p14:sldId id="259"/>
            <p14:sldId id="263"/>
            <p14:sldId id="264"/>
          </p14:sldIdLst>
        </p14:section>
        <p14:section name="연습" id="{12aa938f-96f6-70f1-3799-e3c0e71b2dd5}">
          <p14:sldIdLst>
            <p14:sldId id="260"/>
            <p14:sldId id="261"/>
            <p14:sldId id="262"/>
            <p14:sldId id="265"/>
          </p14:sldIdLst>
        </p14:section>
        <p14:section name="개념" id="{81a6f643-58a5-64ad-b1c0-18e963178298}">
          <p14:sldIdLst/>
        </p14:section>
        <p14:section name="연습" id="{88d7e62a-aa84-6212-da18-ea645d4b8cea}">
          <p14:sldIdLst/>
        </p14:section>
        <p14:section name="확인" id="{8e8a4da0-9535-8302-1019-9361a5995c4b}">
          <p14:sldIdLst>
            <p14:sldId id="266"/>
            <p14:sldId id="267"/>
            <p14:sldId id="268"/>
          </p14:sldIdLst>
        </p14:section>
        <p14:section name="정리" id="{3a8793ae-95f9-e94c-6010-ae11dc0309dc}">
          <p14:sldIdLst>
            <p14:sldId id="269"/>
          </p14:sldIdLst>
        </p14:section>
        <p14:section name="보충" id="{250c3c11-a3b0-7eb6-12e5-4579c5fa8e7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직사각형이 아닌 도형의 넓이를 어떻게 구할지 궁금하게 합니다.
시간: 약 2분
이렇게 말해 보세요
- “직사각형의 넓이는 가로 × 세로였지? 오른쪽 평행사변형은 칸을 세기가 어려워. 어떻게 하면 좋을까?”
- “오늘은 가위로 잘라 옮겨서 아는 도형으로 바꿔 볼 거야.”
예상 답
- “잘라서 붙여요.” “모르겠어요.”
막히면
- 답을 확인하지 않고 넘어갑니다. S04에서 직접 잘라 봅니다.
주의
- 오늘은 모눈종이 2~3장, 가위, 풀(또는 테이프), 자, 삼각자(직각 대기용)를 씁니다. 가위는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확인(직사각형의 넓이, 평행, 수직)]
목적: 지난 차시(직사각형의 넓이)와 4학년의 평행사변형·평행선 사이의 거리를 기억하는지 확인합니다. 오늘 밑변과 높이에 바로 쓰입니다.
시간: 약 3분
이렇게 말해 보세요
- “①은 계산해 줘. ②, ③은 말로 답해 줘.”
정답
- ① 24 cm² (6 × 4)
- ② 서로 평행하고 길이가 같아요.
- ③ 두 평행선에 수직인 선분의 길이예요.
막히면
- ①이 흔들리면 S15(보충)를 먼저 합니다. 보충으로도 어려우면 계획의 앞 차시 ‘직사각형의 넓이’를 다시 합니다.
- ③을 모르면 공책 줄 두 개 사이에 자를 수직으로 대어 재는 것을 보여 줍니다(4학년 ‘수직과 평행’).
주의
- ③은 오늘 ‘높이’의 뜻과 같습니다. 꼭 짚고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평행사변형의 밑변과 높이]
목적: 평행사변형에서 평행한 두 변을 밑변, 두 밑변 사이의 거리를 높이라고 한다는 것을 압니다.
시간: 약 3분
이렇게 말해 보세요
- “변 ㄴㄷ과 변 ㄱㄹ은 서로 평행하지? 이 두 변을 밑변이라고 해.”
- “점 ㄱ에서 밑변에 직각으로 내린 선분 ㄱㅁ의 길이를 높이라고 해. 오른쪽 점선도 높이야. 두 점선의 길이는 어때?”
예상 답
- “길이가 같아요.” “평행선 사이의 거리랑 같아요.”
막히면
- 삼각자의 직각을 밑변에 대고 높이를 그어 보게 합니다.
주의
- 높이는 밑변에 수직이어야 합니다. 비스듬한 옆의 변(변 ㄱㄴ)은 높이가 아닙니다(M1).
- 높이는 두 밑변 사이 어디에 그어도 길이가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잘라 옮겨 직사각형 만들기(평행사변형의 넓이)]
목적: 평행사변형을 높이를 따라 잘라 옮기면 밑변이 가로, 높이가 세로인 직사각형이 되므로 (평행사변형의 넓이) = (밑변) × (높이)임을 설명합니다.
시간: 약 5분
이렇게 말해 보세요
- “모눈종이에 이 평행사변형을 그려 오려 볼까? 왼쪽 끝 점선(높이)을 따라 잘라서 오른쪽으로 옮겨 붙여 봐. 무슨 도형이 됐어?”
- “직사각형의 가로는 평행사변형의 어디와 같아? 세로는?”
- “그러면 평행사변형의 넓이는?”
예상 답
- “직사각형이 됐어요.” “가로는 밑변, 세로는 높이예요.” “6 × 4 = 24 cm²예요.”
막히면
- 부모가 먼저 하나를 잘라 보여 주고, 아이가 하나를 더 해 봅니다. 가위는 부모가 함께 다룹니다.
- 옮긴 뒤 모눈 칸을 세어 24칸인지 확인합니다.
주의
- 잘라서 옮기기만 했으므로 넓이는 그대로입니다. ‘넓이는 바뀌지 않는다’를 아이 입으로 말하게 합니다.
- 두 그림은 같은 축척입니다.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연습(밑변과 높이가 같은 평행사변형)]
목적: 도움을 받으며 밑변과 높이가 같으면 모양이 달라도 평행사변형의 넓이가 같다는 것을 확인합니다.
시간: 약 3분
이렇게 말해 보세요
- “가, 나, 다의 밑변은 몇 칸이야? 높이는?”
- “그러면 넓이는 각각 얼마야? 어떤 것이 가장 넓어?”
정답
- 가, 나, 다 모두 밑변 4 cm, 높이 3 cm이므로 넓이는 모두 12 cm²로 같습니다(4 × 3).
막히면
- 가를 잘라 옮겨 직사각형으로 만드는 것을 공책에 그려 봅니다.
주의
- 나와 다는 옆의 변이 더 길어 보여도 넓이는 같습니다. 넓이는 밑변과 높이로만 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비교(옆의 변을 높이로 씀)]
목적: 비스듬한 옆의 변을 높이로 쓰는 오개념(M1)을 바로잡습니다.
시간: 약 2분
이렇게 말해 보세요
- “토끼와 곰 중 누가 맞았을까? 높이는 밑변과 어떻게 만나야 했지?”
예상 답
- “곰이요. 5 cm는 비스듬해서 높이가 아니에요.”
정답
- 곰이 맞습니다. 높이는 밑변에 수직인 점선 4 cm이므로 6 × 4 = 24(cm²)입니다.
- 5 cm인 변은 밑변과 비스듬히 만나므로 높이가 아닙니다. 잘라 옮겨도 세로가 4 cm인 직사각형이 됩니다.
막히면
- 삼각자의 직각을 대어 어느 선이 밑변과 직각인지 확인합니다.
주의
- 그림의 길이(밑변 6 cm, 옆의 변 5 cm, 높이 4 cm)는 모양과 맞게 그렸습니다.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연습(평행사변형의 넓이)]
목적: 도움을 받으며 평행사변형의 넓이를 구하고, 넓이로 높이를 구합니다.
시간: 약 3분
이렇게 말해 보세요
- “①에서 밑변은 몇 cm야? 밑변에 수직인 높이는?”
- “③은 8 × □ = 48이야.”
정답
- ① 32 cm² (8 × 4)
- ② 36 cm² (9 × 4)
- ③ 6 cm (48 ÷ 8)
막히면
- ①을 40이라고 하면 5 cm를 높이로 쓴 것입니다. S06을 다시 봅니다.
주의
- ③의 답은 길이(cm)입니다.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삼각형의 밑변과 높이(둔각삼각형의 높이 포함)]
목적: 삼각형에서 한 변을 밑변으로 정하면, 맞은편 꼭짓점에서 밑변에 수직으로 그은 선분의 길이가 높이이며, 둔각삼각형은 밑변을 늘인 선 위로 높이가 삼각형 밖에 생길 수 있음을 압니다.
시간: 약 3분
이렇게 말해 보세요
- “왼쪽 삼각형에서 변 ㄴㄷ을 밑변으로 하면, 꼭짓점 ㄱ에서 밑변에 수직으로 내린 점선이 높이야.”
- “오른쪽 둔각삼각형은 꼭짓점 ㄱ에서 수직으로 내리면 밑변에 닿지 않지? 그래서 밑변을 늘여서 높이를 그려.”
예상 답
- “높이가 삼각형 밖에 있어요.”
막히면
- 삼각자의 직각을 밑변(늘인 선) 위에 대고 꼭짓점까지 미끄러뜨려 높이를 그어 봅니다.
주의
- 어느 변이든 밑변이 될 수 있고, 밑변이 바뀌면 높이도 바뀝니다.
- 둔각삼각형에서 높이를 비스듬한 옆의 변으로 착각하기 쉽습니다(M2).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삼각형 2개로 평행사변형(삼각형의 넓이)]
목적: 똑같은 삼각형 2개를 붙이면 밑변과 높이가 같은 평행사변형이 되므로 (삼각형의 넓이) = (밑변) × (높이) ÷ 2임을 설명합니다.
시간: 약 4분
이렇게 말해 보세요
- “모눈종이를 두 장 겹쳐서 똑같은 삼각형 2개를 오려 볼까? 하나를 돌려서 붙이면 무슨 도형이 돼?”
- “평행사변형의 넓이는 6 × 4 = 24야. 삼각형은 그 평행사변형의 얼마야?”
예상 답
- “평행사변형이 돼요.” “반이에요. 12 cm²예요.”
막히면
- 두 삼각형을 다시 떼어 겹쳐 보며 크기가 같음(합동)을 확인합니다.
주의
- 오른쪽 평행사변형은 S04의 평행사변형과 같습니다(밑변 6 cm, 높이 4 cm, 넓이 24 cm²).
- ÷ 2를 잊는 실수가 많습니다(M3). ‘삼각형은 평행사변형의 반’이라고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연습(삼각형의 넓이)]
목적: 도움을 받으며 높이가 삼각형 밖에 있는 경우를 포함해 삼각형의 넓이를 구하고, 넓이로 높이를 구합니다.
시간: 약 4분
이렇게 말해 보세요
- “①에서 밑변은 몇 cm야? 밑변을 늘인 점선에 수직인 높이는?”
- “③은 8 × □ ÷ 2 = 24야. 8 × □가 얼마여야 할까?”
정답
- ① 12 cm² (6 × 4 ÷ 2)
- ② 35 cm² (10 × 7 ÷ 2)
- ③ 6 cm (24 × 2 = 48, 48 ÷ 8 = 6)
막히면
- ①을 15라고 하면 5 cm를 높이로 쓴 것입니다. 높이는 점선 4 cm입니다.
- ③은 “평행사변형이라면 넓이가 얼마일까?”(48 cm²)라고 물어 거꾸로 생각하게 합니다.
주의
- ①에서 밑변을 늘인 점선의 길이(3 cm)는 밑변이 아닙니다. 밑변은 삼각형의 변 6 cm입니다.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옆의 변에 속지 않고 밑변과 높이를 찾아 평행사변형과 삼각형(높이가 밖에 있는 경우)의 넓이를 구하는지 확인합니다.
시간: 약 5분
이렇게 말해 보세요
- “이번에는 혼자 해 볼래? 어떤 길이를 밑변과 높이로 썼는지 말해 줘.”
정답
- ① 28 cm² (7 × 4)
- ② 14 cm² (7 × 4 ÷ 2)
- 기준: 밑변과 수직인 높이를 골랐다고 말하면 성공
막히면
- 바로 알려 주지 말고 “밑변과 직각으로 만나는 선은 어느 것이야?”라고만 묻습니다.
- 도움을 받아 해결했다면 기록표에 ‘도움’으로 표시합니다.
주의
- ①을 35, ②를 17.5 또는 35라고 하면 5 cm를 높이로 쓰거나 ÷ 2를 빠뜨린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어느 길이를 높이로 썼는지 다시 보자.”
정답
- ① 28 cm² ② 14 cm²
막히면
- ②가 틀리면 S09처럼 같은 삼각형을 하나 더 붙여 평행사변형을 만들어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확인(넓이가 다른 삼각형 찾기)]
목적: 처음 보는 그림에서 밑변과 높이를 모눈으로 세어 삼각형의 넓이를 비교하는지 확인합니다.
시간: 약 3분
이렇게 말해 보세요
- “가부터 라까지 밑변과 높이를 세어 볼까? 넓이는 각각 얼마야?”
정답
- 라 (8 cm²)
- 가, 나, 다는 밑변 4 cm, 높이 3 cm로 넓이가 4 × 3 ÷ 2 = 6(cm²), 라는 높이가 4 cm라서 4 × 4 ÷ 2 = 8(cm²)
막히면
- 나는 높이가 삼각형 밖에 있습니다. 꼭짓점에서 밑변을 늘인 선까지 수직으로 칸을 세게 합니다.
주의
- 까닭까지 말하면 목표 B를 이룬 것입니다. 모양이 달라도 밑변과 높이가 같으면 넓이가 같다는 것을 함께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“평행사변형의 넓이는 어떻게 직사각형으로 바꿨지? 삼각형은?”
예상 답
- “잘라서 옮기면 직사각형이 돼요.” “삼각형 2개를 붙이면 평행사변형이 돼요.”
정답
- ① 40 cm²
- ② 27 cm²
- ③ 8 cm (20 × 2 ÷ 5)
막히면
- S04와 S09를 다시 보여 줍니다.
주의
- 오늘 오린 도형을 공책에 붙이고 밑변과 높이를 표시해 두면 다음 시간(사다리꼴과 마름모의 넓이)에 다시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보충(직사각형의 넓이와 직각)]
목적: S02에서 직사각형의 넓이나 수직이 흔들리면, 평행사변형으로 넘어가기 전에 다시 확인합니다.
시간: 약 5분
이렇게 말해 보세요
- “모눈 칸이 한 줄에 몇 개, 몇 줄 있어? 그래서 넓이는?”
- “가로와 세로가 만나는 곳에 삼각자의 직각을 대어 볼까?”
정답
- 15 cm² (5 × 3)
- 가로와 세로는 직각으로 만나요.
막히면
- 모눈종이에 직사각형을 그리고 칸에 1부터 번호를 써 가며 셉니다.
주의
- 보충으로도 어려우면 계획의 앞 차시 ‘직사각형의 넓이’를 먼저 다시 합니다. 수직이 흔들리면 4학년 ‘수직과 평행’도 확인합니다.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삼각형의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넓이로 평행사변형과 삼각형의 넓이를 구할 수 있을까요?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평행사변형과 점선으로 그린 높이"/>
          <p:cNvSpPr/>
          <p:nvPr/>
        </p:nvSpPr>
        <p:spPr>
          <a:xfrm>
            <a:off x="7764780" y="1162050"/>
            <a:ext cx="3764280" cy="1882140"/>
          </a:xfrm>
          <a:custGeom>
            <a:avLst/>
            <a:gdLst/>
            <a:ahLst/>
            <a:cxnLst/>
            <a:rect l="l" t="t" r="r" b="b"/>
            <a:pathLst>
              <a:path w="3764280" h="1882140">
                <a:moveTo>
                  <a:pt x="0" y="1882140"/>
                </a:moveTo>
                <a:lnTo>
                  <a:pt x="2823210" y="1882140"/>
                </a:lnTo>
                <a:lnTo>
                  <a:pt x="3764280" y="0"/>
                </a:lnTo>
                <a:lnTo>
                  <a:pt x="9410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05850" y="283464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705850" y="1162050"/>
            <a:ext cx="0" cy="188214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평행사변형의 넓이를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삼각형의 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 cm, 세로 4 cm인 직사각형의 넓이는?</a:t>
            </a:r>
            <a:endParaRPr lang="ko-KR" sz="28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평행사변형에서 마주 보는 두 변은 어떤 관계인가요?</a:t>
            </a:r>
            <a:endParaRPr lang="ko-KR" sz="28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거리는 어떤 선분의 길이인가요?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밑변과 높이</a:t>
            </a:r>
            <a:endParaRPr lang="ko-KR" sz="4000" dirty="0"/>
          </a:p>
        </p:txBody>
      </p:sp>
      <p:sp>
        <p:nvSpPr>
          <p:cNvPr id="3" name="S03-figure13" descr="평행사변형 ㄱㄴㄷㄹ: 평행한 두 변 ㄴㄷ과 ㄱㄹ이 밑변, 점 ㄱ에서 밑변에 수직으로 내린 점선 ㄱㅁ이 높이. 다른 곳에 그은 점선 높이도 길이가 같음"/>
          <p:cNvSpPr/>
          <p:nvPr/>
        </p:nvSpPr>
        <p:spPr>
          <a:xfrm>
            <a:off x="1486586" y="2766060"/>
            <a:ext cx="4023360" cy="2011680"/>
          </a:xfrm>
          <a:custGeom>
            <a:avLst/>
            <a:gdLst/>
            <a:ahLst/>
            <a:cxnLst/>
            <a:rect l="l" t="t" r="r" b="b"/>
            <a:pathLst>
              <a:path w="4023360" h="2011680">
                <a:moveTo>
                  <a:pt x="0" y="2011680"/>
                </a:moveTo>
                <a:lnTo>
                  <a:pt x="3017520" y="2011680"/>
                </a:lnTo>
                <a:lnTo>
                  <a:pt x="4023360" y="0"/>
                </a:lnTo>
                <a:lnTo>
                  <a:pt x="100584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14"/>
          <p:cNvSpPr/>
          <p:nvPr/>
        </p:nvSpPr>
        <p:spPr>
          <a:xfrm>
            <a:off x="2492426" y="45681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3-mark15"/>
          <p:cNvSpPr/>
          <p:nvPr/>
        </p:nvSpPr>
        <p:spPr>
          <a:xfrm>
            <a:off x="4504106" y="4777740"/>
            <a:ext cx="9144" cy="9144"/>
          </a:xfrm>
          <a:custGeom>
            <a:avLst/>
            <a:gdLst/>
            <a:ahLst/>
            <a:cxnLst/>
            <a:rect l="l" t="t" r="r" b="b"/>
            <a:pathLst>
              <a:path w="9144" h="9144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3-mark16"/>
          <p:cNvSpPr/>
          <p:nvPr/>
        </p:nvSpPr>
        <p:spPr>
          <a:xfrm>
            <a:off x="2492426" y="2766060"/>
            <a:ext cx="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3-mark17"/>
          <p:cNvSpPr/>
          <p:nvPr/>
        </p:nvSpPr>
        <p:spPr>
          <a:xfrm>
            <a:off x="4504106" y="2766060"/>
            <a:ext cx="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label19"/>
          <p:cNvSpPr txBox="1"/>
          <p:nvPr/>
        </p:nvSpPr>
        <p:spPr>
          <a:xfrm>
            <a:off x="2666670" y="48545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9" name="S03-label21"/>
          <p:cNvSpPr txBox="1"/>
          <p:nvPr/>
        </p:nvSpPr>
        <p:spPr>
          <a:xfrm>
            <a:off x="3672510" y="23399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10" name="S03-label23"/>
          <p:cNvSpPr txBox="1"/>
          <p:nvPr/>
        </p:nvSpPr>
        <p:spPr>
          <a:xfrm>
            <a:off x="2521382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1" name="S03-label25"/>
          <p:cNvSpPr txBox="1"/>
          <p:nvPr/>
        </p:nvSpPr>
        <p:spPr>
          <a:xfrm>
            <a:off x="2169477" y="22489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2" name="S03-label27"/>
          <p:cNvSpPr txBox="1"/>
          <p:nvPr/>
        </p:nvSpPr>
        <p:spPr>
          <a:xfrm>
            <a:off x="997853" y="469238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3" name="S03-label29"/>
          <p:cNvSpPr txBox="1"/>
          <p:nvPr/>
        </p:nvSpPr>
        <p:spPr>
          <a:xfrm>
            <a:off x="4415317" y="478679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4" name="S03-label31"/>
          <p:cNvSpPr txBox="1"/>
          <p:nvPr/>
        </p:nvSpPr>
        <p:spPr>
          <a:xfrm>
            <a:off x="5515571" y="2375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15" name="S03-label33"/>
          <p:cNvSpPr txBox="1"/>
          <p:nvPr/>
        </p:nvSpPr>
        <p:spPr>
          <a:xfrm>
            <a:off x="2045404" y="474508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16" name="S03-card34"/>
          <p:cNvSpPr/>
          <p:nvPr/>
        </p:nvSpPr>
        <p:spPr>
          <a:xfrm>
            <a:off x="6813652" y="2307082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3-cardtext35"/>
          <p:cNvSpPr txBox="1"/>
          <p:nvPr/>
        </p:nvSpPr>
        <p:spPr>
          <a:xfrm>
            <a:off x="7087972" y="2444242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변</a:t>
            </a:r>
            <a:endParaRPr lang="ko-KR" sz="2800" dirty="0"/>
          </a:p>
        </p:txBody>
      </p:sp>
      <p:sp>
        <p:nvSpPr>
          <p:cNvPr id="18" name="S03-card36"/>
          <p:cNvSpPr/>
          <p:nvPr/>
        </p:nvSpPr>
        <p:spPr>
          <a:xfrm>
            <a:off x="6813652" y="3715766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3-cardtext37"/>
          <p:cNvSpPr txBox="1"/>
          <p:nvPr/>
        </p:nvSpPr>
        <p:spPr>
          <a:xfrm>
            <a:off x="7087972" y="3852926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밑변 사이의 거리(밑변에 수직인 선분의 길이)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잘라서 옮기면 직사각형</a:t>
            </a:r>
            <a:endParaRPr lang="ko-KR" sz="4000" dirty="0"/>
          </a:p>
        </p:txBody>
      </p:sp>
      <p:sp>
        <p:nvSpPr>
          <p:cNvPr id="3" name="S04-card3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(평행사변형의 넓이) = (밑변) × (높이)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24, 넓이는 24 cm²예요.</a:t>
            </a:r>
            <a:endParaRPr lang="ko-KR" sz="2800" dirty="0"/>
          </a:p>
        </p:txBody>
      </p:sp>
      <p:sp>
        <p:nvSpPr>
          <p:cNvPr id="5" name="S04-mark40"/>
          <p:cNvSpPr/>
          <p:nvPr/>
        </p:nvSpPr>
        <p:spPr>
          <a:xfrm>
            <a:off x="1412748" y="1927987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2743200" y="18288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4-mark41"/>
          <p:cNvSpPr/>
          <p:nvPr/>
        </p:nvSpPr>
        <p:spPr>
          <a:xfrm>
            <a:off x="1412748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4-mark42"/>
          <p:cNvSpPr/>
          <p:nvPr/>
        </p:nvSpPr>
        <p:spPr>
          <a:xfrm flipV="1">
            <a:off x="955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43"/>
          <p:cNvSpPr/>
          <p:nvPr/>
        </p:nvSpPr>
        <p:spPr>
          <a:xfrm flipV="1">
            <a:off x="1412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44"/>
          <p:cNvSpPr/>
          <p:nvPr/>
        </p:nvSpPr>
        <p:spPr>
          <a:xfrm flipV="1">
            <a:off x="1869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45"/>
          <p:cNvSpPr/>
          <p:nvPr/>
        </p:nvSpPr>
        <p:spPr>
          <a:xfrm flipV="1">
            <a:off x="2327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46"/>
          <p:cNvSpPr/>
          <p:nvPr/>
        </p:nvSpPr>
        <p:spPr>
          <a:xfrm flipV="1">
            <a:off x="2784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47"/>
          <p:cNvSpPr/>
          <p:nvPr/>
        </p:nvSpPr>
        <p:spPr>
          <a:xfrm flipV="1">
            <a:off x="3241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48"/>
          <p:cNvSpPr/>
          <p:nvPr/>
        </p:nvSpPr>
        <p:spPr>
          <a:xfrm flipV="1">
            <a:off x="3698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49"/>
          <p:cNvSpPr/>
          <p:nvPr/>
        </p:nvSpPr>
        <p:spPr>
          <a:xfrm flipV="1">
            <a:off x="4155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50"/>
          <p:cNvSpPr/>
          <p:nvPr/>
        </p:nvSpPr>
        <p:spPr>
          <a:xfrm flipV="1">
            <a:off x="4613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51"/>
          <p:cNvSpPr/>
          <p:nvPr/>
        </p:nvSpPr>
        <p:spPr>
          <a:xfrm flipV="1">
            <a:off x="5070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52"/>
          <p:cNvSpPr/>
          <p:nvPr/>
        </p:nvSpPr>
        <p:spPr>
          <a:xfrm flipV="1">
            <a:off x="5527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53"/>
          <p:cNvSpPr/>
          <p:nvPr/>
        </p:nvSpPr>
        <p:spPr>
          <a:xfrm>
            <a:off x="955548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54"/>
          <p:cNvSpPr/>
          <p:nvPr/>
        </p:nvSpPr>
        <p:spPr>
          <a:xfrm>
            <a:off x="955548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55"/>
          <p:cNvSpPr/>
          <p:nvPr/>
        </p:nvSpPr>
        <p:spPr>
          <a:xfrm>
            <a:off x="955548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56"/>
          <p:cNvSpPr/>
          <p:nvPr/>
        </p:nvSpPr>
        <p:spPr>
          <a:xfrm>
            <a:off x="955548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57"/>
          <p:cNvSpPr/>
          <p:nvPr/>
        </p:nvSpPr>
        <p:spPr>
          <a:xfrm>
            <a:off x="955548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58"/>
          <p:cNvSpPr/>
          <p:nvPr/>
        </p:nvSpPr>
        <p:spPr>
          <a:xfrm>
            <a:off x="955548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59"/>
          <p:cNvSpPr/>
          <p:nvPr/>
        </p:nvSpPr>
        <p:spPr>
          <a:xfrm>
            <a:off x="955548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figure60" descr="모눈 위의 밑변 6 cm, 높이 4 cm인 평행사변형. 왼쪽 끝의 삼각형(노랑)을 높이(점선)를 따라 자름"/>
          <p:cNvSpPr/>
          <p:nvPr/>
        </p:nvSpPr>
        <p:spPr>
          <a:xfrm>
            <a:off x="1412748" y="1927987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2743200" y="18288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61"/>
          <p:cNvSpPr/>
          <p:nvPr/>
        </p:nvSpPr>
        <p:spPr>
          <a:xfrm>
            <a:off x="1412748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27" name="S04-mark62"/>
          <p:cNvSpPr/>
          <p:nvPr/>
        </p:nvSpPr>
        <p:spPr>
          <a:xfrm>
            <a:off x="2327148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63"/>
          <p:cNvSpPr/>
          <p:nvPr/>
        </p:nvSpPr>
        <p:spPr>
          <a:xfrm>
            <a:off x="2327148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4-label64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6 cm, 높이 4 cm</a:t>
            </a:r>
            <a:endParaRPr lang="ko-KR" sz="2200" dirty="0"/>
          </a:p>
        </p:txBody>
      </p:sp>
      <p:sp>
        <p:nvSpPr>
          <p:cNvPr id="30" name="S04-mark65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18288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1" name="S04-mark66"/>
          <p:cNvSpPr/>
          <p:nvPr/>
        </p:nvSpPr>
        <p:spPr>
          <a:xfrm>
            <a:off x="9861804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2" name="S04-mark67"/>
          <p:cNvSpPr/>
          <p:nvPr/>
        </p:nvSpPr>
        <p:spPr>
          <a:xfrm flipV="1">
            <a:off x="6661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4-mark68"/>
          <p:cNvSpPr/>
          <p:nvPr/>
        </p:nvSpPr>
        <p:spPr>
          <a:xfrm flipV="1">
            <a:off x="7118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69"/>
          <p:cNvSpPr/>
          <p:nvPr/>
        </p:nvSpPr>
        <p:spPr>
          <a:xfrm flipV="1">
            <a:off x="7575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70"/>
          <p:cNvSpPr/>
          <p:nvPr/>
        </p:nvSpPr>
        <p:spPr>
          <a:xfrm flipV="1">
            <a:off x="8033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71"/>
          <p:cNvSpPr/>
          <p:nvPr/>
        </p:nvSpPr>
        <p:spPr>
          <a:xfrm flipV="1">
            <a:off x="8490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72"/>
          <p:cNvSpPr/>
          <p:nvPr/>
        </p:nvSpPr>
        <p:spPr>
          <a:xfrm flipV="1">
            <a:off x="8947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73"/>
          <p:cNvSpPr/>
          <p:nvPr/>
        </p:nvSpPr>
        <p:spPr>
          <a:xfrm flipV="1">
            <a:off x="9404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74"/>
          <p:cNvSpPr/>
          <p:nvPr/>
        </p:nvSpPr>
        <p:spPr>
          <a:xfrm flipV="1">
            <a:off x="9861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75"/>
          <p:cNvSpPr/>
          <p:nvPr/>
        </p:nvSpPr>
        <p:spPr>
          <a:xfrm flipV="1">
            <a:off x="10319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76"/>
          <p:cNvSpPr/>
          <p:nvPr/>
        </p:nvSpPr>
        <p:spPr>
          <a:xfrm flipV="1">
            <a:off x="10776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77"/>
          <p:cNvSpPr/>
          <p:nvPr/>
        </p:nvSpPr>
        <p:spPr>
          <a:xfrm flipV="1">
            <a:off x="11233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78"/>
          <p:cNvSpPr/>
          <p:nvPr/>
        </p:nvSpPr>
        <p:spPr>
          <a:xfrm>
            <a:off x="6661404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79"/>
          <p:cNvSpPr/>
          <p:nvPr/>
        </p:nvSpPr>
        <p:spPr>
          <a:xfrm>
            <a:off x="6661404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80"/>
          <p:cNvSpPr/>
          <p:nvPr/>
        </p:nvSpPr>
        <p:spPr>
          <a:xfrm>
            <a:off x="6661404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81"/>
          <p:cNvSpPr/>
          <p:nvPr/>
        </p:nvSpPr>
        <p:spPr>
          <a:xfrm>
            <a:off x="6661404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82"/>
          <p:cNvSpPr/>
          <p:nvPr/>
        </p:nvSpPr>
        <p:spPr>
          <a:xfrm>
            <a:off x="6661404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mark83"/>
          <p:cNvSpPr/>
          <p:nvPr/>
        </p:nvSpPr>
        <p:spPr>
          <a:xfrm>
            <a:off x="6661404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4-mark84"/>
          <p:cNvSpPr/>
          <p:nvPr/>
        </p:nvSpPr>
        <p:spPr>
          <a:xfrm>
            <a:off x="6661404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4-figure85" descr="자른 삼각형(노랑)을 오른쪽으로 6칸 옮겨 붙여 만든 가로 6 cm, 세로 4 cm인 직사각형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18288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solid"/>
          </a:ln>
        </p:spPr>
      </p:sp>
      <p:sp>
        <p:nvSpPr>
          <p:cNvPr id="51" name="S04-mark86"/>
          <p:cNvSpPr/>
          <p:nvPr/>
        </p:nvSpPr>
        <p:spPr>
          <a:xfrm>
            <a:off x="9861804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solid"/>
          </a:ln>
        </p:spPr>
      </p:sp>
      <p:sp>
        <p:nvSpPr>
          <p:cNvPr id="52" name="S04-mark87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04-mark88"/>
          <p:cNvSpPr/>
          <p:nvPr/>
        </p:nvSpPr>
        <p:spPr>
          <a:xfrm flipV="1">
            <a:off x="9861804" y="1927987"/>
            <a:ext cx="91440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4" name="S04-label89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 cm, 세로 4 cm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달라도 넓이는?</a:t>
            </a:r>
            <a:endParaRPr lang="ko-KR" sz="4000" dirty="0"/>
          </a:p>
        </p:txBody>
      </p:sp>
      <p:sp>
        <p:nvSpPr>
          <p:cNvPr id="3" name="S05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cm²예요.</a:t>
            </a:r>
            <a:endParaRPr lang="ko-KR" sz="2800" dirty="0"/>
          </a:p>
        </p:txBody>
      </p:sp>
      <p:sp>
        <p:nvSpPr>
          <p:cNvPr id="4" name="S05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다의 밑변과 높이를 세어 넓이를 비교해요.</a:t>
            </a:r>
            <a:endParaRPr lang="ko-KR" sz="2800" dirty="0"/>
          </a:p>
        </p:txBody>
      </p:sp>
      <p:sp>
        <p:nvSpPr>
          <p:cNvPr id="6" name="S05-mark93"/>
          <p:cNvSpPr/>
          <p:nvPr/>
        </p:nvSpPr>
        <p:spPr>
          <a:xfrm>
            <a:off x="1152652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0" y="1560576"/>
                </a:moveTo>
                <a:lnTo>
                  <a:pt x="2080768" y="1560576"/>
                </a:lnTo>
                <a:lnTo>
                  <a:pt x="2600960" y="0"/>
                </a:lnTo>
                <a:lnTo>
                  <a:pt x="520192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5-mark94"/>
          <p:cNvSpPr/>
          <p:nvPr/>
        </p:nvSpPr>
        <p:spPr>
          <a:xfrm>
            <a:off x="4793996" y="2785872"/>
            <a:ext cx="3121152" cy="1560576"/>
          </a:xfrm>
          <a:custGeom>
            <a:avLst/>
            <a:gdLst/>
            <a:ahLst/>
            <a:cxnLst/>
            <a:rect l="l" t="t" r="r" b="b"/>
            <a:pathLst>
              <a:path w="3121152" h="1560576">
                <a:moveTo>
                  <a:pt x="0" y="1560576"/>
                </a:moveTo>
                <a:lnTo>
                  <a:pt x="2080768" y="1560576"/>
                </a:lnTo>
                <a:lnTo>
                  <a:pt x="3121152" y="0"/>
                </a:lnTo>
                <a:lnTo>
                  <a:pt x="104038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5-mark95"/>
          <p:cNvSpPr/>
          <p:nvPr/>
        </p:nvSpPr>
        <p:spPr>
          <a:xfrm>
            <a:off x="8435340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520192" y="1560576"/>
                </a:moveTo>
                <a:lnTo>
                  <a:pt x="2600960" y="1560576"/>
                </a:lnTo>
                <a:lnTo>
                  <a:pt x="20807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5-mark96"/>
          <p:cNvSpPr/>
          <p:nvPr/>
        </p:nvSpPr>
        <p:spPr>
          <a:xfrm flipV="1">
            <a:off x="63246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97"/>
          <p:cNvSpPr/>
          <p:nvPr/>
        </p:nvSpPr>
        <p:spPr>
          <a:xfrm flipV="1">
            <a:off x="115265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98"/>
          <p:cNvSpPr/>
          <p:nvPr/>
        </p:nvSpPr>
        <p:spPr>
          <a:xfrm flipV="1">
            <a:off x="167284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99"/>
          <p:cNvSpPr/>
          <p:nvPr/>
        </p:nvSpPr>
        <p:spPr>
          <a:xfrm flipV="1">
            <a:off x="219303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00"/>
          <p:cNvSpPr/>
          <p:nvPr/>
        </p:nvSpPr>
        <p:spPr>
          <a:xfrm flipV="1">
            <a:off x="271322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01"/>
          <p:cNvSpPr/>
          <p:nvPr/>
        </p:nvSpPr>
        <p:spPr>
          <a:xfrm flipV="1">
            <a:off x="323342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02"/>
          <p:cNvSpPr/>
          <p:nvPr/>
        </p:nvSpPr>
        <p:spPr>
          <a:xfrm flipV="1">
            <a:off x="375361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03"/>
          <p:cNvSpPr/>
          <p:nvPr/>
        </p:nvSpPr>
        <p:spPr>
          <a:xfrm flipV="1">
            <a:off x="427380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04"/>
          <p:cNvSpPr/>
          <p:nvPr/>
        </p:nvSpPr>
        <p:spPr>
          <a:xfrm flipV="1">
            <a:off x="479399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05"/>
          <p:cNvSpPr/>
          <p:nvPr/>
        </p:nvSpPr>
        <p:spPr>
          <a:xfrm flipV="1">
            <a:off x="531418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06"/>
          <p:cNvSpPr/>
          <p:nvPr/>
        </p:nvSpPr>
        <p:spPr>
          <a:xfrm flipV="1">
            <a:off x="583438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07"/>
          <p:cNvSpPr/>
          <p:nvPr/>
        </p:nvSpPr>
        <p:spPr>
          <a:xfrm flipV="1">
            <a:off x="635457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08"/>
          <p:cNvSpPr/>
          <p:nvPr/>
        </p:nvSpPr>
        <p:spPr>
          <a:xfrm flipV="1">
            <a:off x="687476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09"/>
          <p:cNvSpPr/>
          <p:nvPr/>
        </p:nvSpPr>
        <p:spPr>
          <a:xfrm flipV="1">
            <a:off x="739495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10"/>
          <p:cNvSpPr/>
          <p:nvPr/>
        </p:nvSpPr>
        <p:spPr>
          <a:xfrm flipV="1">
            <a:off x="791514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11"/>
          <p:cNvSpPr/>
          <p:nvPr/>
        </p:nvSpPr>
        <p:spPr>
          <a:xfrm flipV="1">
            <a:off x="843534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12"/>
          <p:cNvSpPr/>
          <p:nvPr/>
        </p:nvSpPr>
        <p:spPr>
          <a:xfrm flipV="1">
            <a:off x="895553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13"/>
          <p:cNvSpPr/>
          <p:nvPr/>
        </p:nvSpPr>
        <p:spPr>
          <a:xfrm flipV="1">
            <a:off x="947572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14"/>
          <p:cNvSpPr/>
          <p:nvPr/>
        </p:nvSpPr>
        <p:spPr>
          <a:xfrm flipV="1">
            <a:off x="999591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15"/>
          <p:cNvSpPr/>
          <p:nvPr/>
        </p:nvSpPr>
        <p:spPr>
          <a:xfrm flipV="1">
            <a:off x="1051610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16"/>
          <p:cNvSpPr/>
          <p:nvPr/>
        </p:nvSpPr>
        <p:spPr>
          <a:xfrm flipV="1">
            <a:off x="1103630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17"/>
          <p:cNvSpPr/>
          <p:nvPr/>
        </p:nvSpPr>
        <p:spPr>
          <a:xfrm flipV="1">
            <a:off x="1155649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18"/>
          <p:cNvSpPr/>
          <p:nvPr/>
        </p:nvSpPr>
        <p:spPr>
          <a:xfrm>
            <a:off x="632460" y="486664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19"/>
          <p:cNvSpPr/>
          <p:nvPr/>
        </p:nvSpPr>
        <p:spPr>
          <a:xfrm>
            <a:off x="632460" y="434644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20"/>
          <p:cNvSpPr/>
          <p:nvPr/>
        </p:nvSpPr>
        <p:spPr>
          <a:xfrm>
            <a:off x="632460" y="3826256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21"/>
          <p:cNvSpPr/>
          <p:nvPr/>
        </p:nvSpPr>
        <p:spPr>
          <a:xfrm>
            <a:off x="632460" y="3306064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22"/>
          <p:cNvSpPr/>
          <p:nvPr/>
        </p:nvSpPr>
        <p:spPr>
          <a:xfrm>
            <a:off x="632460" y="278587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23"/>
          <p:cNvSpPr/>
          <p:nvPr/>
        </p:nvSpPr>
        <p:spPr>
          <a:xfrm>
            <a:off x="632460" y="226568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figure124" descr="모눈 위의 평행사변형 가, 나, 다: 모두 밑변 4칸, 높이 3칸이고 기울어진 정도가 다름"/>
          <p:cNvSpPr/>
          <p:nvPr/>
        </p:nvSpPr>
        <p:spPr>
          <a:xfrm>
            <a:off x="1152652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0" y="1560576"/>
                </a:moveTo>
                <a:lnTo>
                  <a:pt x="2080768" y="1560576"/>
                </a:lnTo>
                <a:lnTo>
                  <a:pt x="2600960" y="0"/>
                </a:lnTo>
                <a:lnTo>
                  <a:pt x="52019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25"/>
          <p:cNvSpPr/>
          <p:nvPr/>
        </p:nvSpPr>
        <p:spPr>
          <a:xfrm>
            <a:off x="4793996" y="2785872"/>
            <a:ext cx="3121152" cy="1560576"/>
          </a:xfrm>
          <a:custGeom>
            <a:avLst/>
            <a:gdLst/>
            <a:ahLst/>
            <a:cxnLst/>
            <a:rect l="l" t="t" r="r" b="b"/>
            <a:pathLst>
              <a:path w="3121152" h="1560576">
                <a:moveTo>
                  <a:pt x="0" y="1560576"/>
                </a:moveTo>
                <a:lnTo>
                  <a:pt x="2080768" y="1560576"/>
                </a:lnTo>
                <a:lnTo>
                  <a:pt x="3121152" y="0"/>
                </a:lnTo>
                <a:lnTo>
                  <a:pt x="104038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26"/>
          <p:cNvSpPr/>
          <p:nvPr/>
        </p:nvSpPr>
        <p:spPr>
          <a:xfrm>
            <a:off x="8435340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520192" y="1560576"/>
                </a:moveTo>
                <a:lnTo>
                  <a:pt x="2600960" y="1560576"/>
                </a:lnTo>
                <a:lnTo>
                  <a:pt x="208076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28"/>
          <p:cNvSpPr txBox="1"/>
          <p:nvPr/>
        </p:nvSpPr>
        <p:spPr>
          <a:xfrm>
            <a:off x="2261362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1" name="S05-label130"/>
          <p:cNvSpPr txBox="1"/>
          <p:nvPr/>
        </p:nvSpPr>
        <p:spPr>
          <a:xfrm>
            <a:off x="6162802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2" name="S05-label132"/>
          <p:cNvSpPr txBox="1"/>
          <p:nvPr/>
        </p:nvSpPr>
        <p:spPr>
          <a:xfrm>
            <a:off x="9544050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5" name="S06-figure135" descr="밑변 6 cm, 옆의 변 5 cm, 높이(점선) 4 cm인 평행사변형"/>
          <p:cNvSpPr/>
          <p:nvPr/>
        </p:nvSpPr>
        <p:spPr>
          <a:xfrm>
            <a:off x="1049325" y="2254019"/>
            <a:ext cx="4361586" cy="1938483"/>
          </a:xfrm>
          <a:custGeom>
            <a:avLst/>
            <a:gdLst/>
            <a:ahLst/>
            <a:cxnLst/>
            <a:rect l="l" t="t" r="r" b="b"/>
            <a:pathLst>
              <a:path w="4361586" h="1938483">
                <a:moveTo>
                  <a:pt x="0" y="1938483"/>
                </a:moveTo>
                <a:lnTo>
                  <a:pt x="2907724" y="1938483"/>
                </a:lnTo>
                <a:lnTo>
                  <a:pt x="4361586" y="0"/>
                </a:lnTo>
                <a:lnTo>
                  <a:pt x="145386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36"/>
          <p:cNvSpPr/>
          <p:nvPr/>
        </p:nvSpPr>
        <p:spPr>
          <a:xfrm>
            <a:off x="3472428" y="4022884"/>
            <a:ext cx="169617" cy="169617"/>
          </a:xfrm>
          <a:custGeom>
            <a:avLst/>
            <a:gdLst/>
            <a:ahLst/>
            <a:cxnLst/>
            <a:rect l="l" t="t" r="r" b="b"/>
            <a:pathLst>
              <a:path w="169617" h="169617">
                <a:moveTo>
                  <a:pt x="0" y="0"/>
                </a:moveTo>
                <a:lnTo>
                  <a:pt x="169617" y="0"/>
                </a:lnTo>
                <a:lnTo>
                  <a:pt x="169617" y="169617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6-mark137"/>
          <p:cNvSpPr/>
          <p:nvPr/>
        </p:nvSpPr>
        <p:spPr>
          <a:xfrm>
            <a:off x="3472428" y="2254019"/>
            <a:ext cx="0" cy="1938483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6-label139"/>
          <p:cNvSpPr txBox="1"/>
          <p:nvPr/>
        </p:nvSpPr>
        <p:spPr>
          <a:xfrm>
            <a:off x="2121425" y="426933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9" name="S06-label141"/>
          <p:cNvSpPr txBox="1"/>
          <p:nvPr/>
        </p:nvSpPr>
        <p:spPr>
          <a:xfrm>
            <a:off x="1025239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6-label143"/>
          <p:cNvSpPr txBox="1"/>
          <p:nvPr/>
        </p:nvSpPr>
        <p:spPr>
          <a:xfrm>
            <a:off x="266039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06-card144"/>
          <p:cNvSpPr/>
          <p:nvPr/>
        </p:nvSpPr>
        <p:spPr>
          <a:xfrm>
            <a:off x="6277356" y="15880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145"/>
          <p:cNvSpPr txBox="1"/>
          <p:nvPr/>
        </p:nvSpPr>
        <p:spPr>
          <a:xfrm>
            <a:off x="6551676" y="17251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 × 5 = 30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cm²예요.”</a:t>
            </a:r>
            <a:endParaRPr lang="ko-KR" sz="2800" dirty="0"/>
          </a:p>
        </p:txBody>
      </p:sp>
      <p:sp>
        <p:nvSpPr>
          <p:cNvPr id="13" name="S06-card146"/>
          <p:cNvSpPr/>
          <p:nvPr/>
        </p:nvSpPr>
        <p:spPr>
          <a:xfrm>
            <a:off x="6277356" y="333756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147"/>
          <p:cNvSpPr txBox="1"/>
          <p:nvPr/>
        </p:nvSpPr>
        <p:spPr>
          <a:xfrm>
            <a:off x="6551676" y="347472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 × 4 = 24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 cm²예요.”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 구하기</a:t>
            </a:r>
            <a:endParaRPr lang="ko-KR" sz="4000" dirty="0"/>
          </a:p>
        </p:txBody>
      </p:sp>
      <p:sp>
        <p:nvSpPr>
          <p:cNvPr id="3" name="S07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밑변에 수직인 높이를 찾아요.</a:t>
            </a:r>
            <a:endParaRPr lang="ko-KR" sz="2800" dirty="0"/>
          </a:p>
        </p:txBody>
      </p:sp>
      <p:sp>
        <p:nvSpPr>
          <p:cNvPr id="5" name="S07-figure150" descr="밑변 8 cm, 옆의 변 5 cm, 높이(점선) 4 cm인 평행사변형"/>
          <p:cNvSpPr/>
          <p:nvPr/>
        </p:nvSpPr>
        <p:spPr>
          <a:xfrm>
            <a:off x="6778041" y="2430244"/>
            <a:ext cx="4361586" cy="1586031"/>
          </a:xfrm>
          <a:custGeom>
            <a:avLst/>
            <a:gdLst/>
            <a:ahLst/>
            <a:cxnLst/>
            <a:rect l="l" t="t" r="r" b="b"/>
            <a:pathLst>
              <a:path w="4361586" h="1586031">
                <a:moveTo>
                  <a:pt x="0" y="1586031"/>
                </a:moveTo>
                <a:lnTo>
                  <a:pt x="3172063" y="1586031"/>
                </a:lnTo>
                <a:lnTo>
                  <a:pt x="4361586" y="0"/>
                </a:lnTo>
                <a:lnTo>
                  <a:pt x="118952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1"/>
          <p:cNvSpPr/>
          <p:nvPr/>
        </p:nvSpPr>
        <p:spPr>
          <a:xfrm>
            <a:off x="9157088" y="380672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7-mark152"/>
          <p:cNvSpPr/>
          <p:nvPr/>
        </p:nvSpPr>
        <p:spPr>
          <a:xfrm>
            <a:off x="9157088" y="2430244"/>
            <a:ext cx="0" cy="158603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7-label154"/>
          <p:cNvSpPr txBox="1"/>
          <p:nvPr/>
        </p:nvSpPr>
        <p:spPr>
          <a:xfrm>
            <a:off x="7982310" y="409311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9" name="S07-label156"/>
          <p:cNvSpPr txBox="1"/>
          <p:nvPr/>
        </p:nvSpPr>
        <p:spPr>
          <a:xfrm>
            <a:off x="6621786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7-label158"/>
          <p:cNvSpPr txBox="1"/>
          <p:nvPr/>
        </p:nvSpPr>
        <p:spPr>
          <a:xfrm>
            <a:off x="834505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07-chip1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2" name="S07-text16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평행사변형의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800" dirty="0"/>
          </a:p>
        </p:txBody>
      </p:sp>
      <p:sp>
        <p:nvSpPr>
          <p:cNvPr id="13" name="S07-chip1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07-text16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9 cm, 높이 4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넓이는?</a:t>
            </a:r>
            <a:endParaRPr lang="ko-KR" sz="2800" dirty="0"/>
          </a:p>
        </p:txBody>
      </p:sp>
      <p:sp>
        <p:nvSpPr>
          <p:cNvPr id="15" name="S07-chip1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" name="S07-text16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48 cm², 밑변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높이는?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밑변과 높이</a:t>
            </a:r>
            <a:endParaRPr lang="ko-KR" sz="4000" dirty="0"/>
          </a:p>
        </p:txBody>
      </p:sp>
      <p:sp>
        <p:nvSpPr>
          <p:cNvPr id="3" name="S08-card16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6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한 변</a:t>
            </a:r>
            <a:endParaRPr lang="ko-KR" sz="2800" dirty="0"/>
          </a:p>
        </p:txBody>
      </p:sp>
      <p:sp>
        <p:nvSpPr>
          <p:cNvPr id="5" name="S08-card16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6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맞은편 꼭짓점에서 밑변(또는 밑변을 늘인 선)에 수직으로 그은 선분의 길이</a:t>
            </a:r>
            <a:endParaRPr lang="ko-KR" sz="2800" dirty="0"/>
          </a:p>
        </p:txBody>
      </p:sp>
      <p:sp>
        <p:nvSpPr>
          <p:cNvPr id="7" name="S08-figure169" descr="예각삼각형 ㄱㄴㄷ: 변 ㄴㄷ이 밑변, 꼭짓점 ㄱ에서 밑변에 수직으로 내린 점선이 높이(삼각형 안)"/>
          <p:cNvSpPr/>
          <p:nvPr/>
        </p:nvSpPr>
        <p:spPr>
          <a:xfrm>
            <a:off x="2089404" y="1903857"/>
            <a:ext cx="2304288" cy="1536192"/>
          </a:xfrm>
          <a:custGeom>
            <a:avLst/>
            <a:gdLst/>
            <a:ahLst/>
            <a:cxnLst/>
            <a:rect l="l" t="t" r="r" b="b"/>
            <a:pathLst>
              <a:path w="2304288" h="1536192">
                <a:moveTo>
                  <a:pt x="768096" y="0"/>
                </a:moveTo>
                <a:lnTo>
                  <a:pt x="0" y="1536192"/>
                </a:lnTo>
                <a:lnTo>
                  <a:pt x="2304288" y="153619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170"/>
          <p:cNvSpPr/>
          <p:nvPr/>
        </p:nvSpPr>
        <p:spPr>
          <a:xfrm>
            <a:off x="2857500" y="323049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171"/>
          <p:cNvSpPr/>
          <p:nvPr/>
        </p:nvSpPr>
        <p:spPr>
          <a:xfrm>
            <a:off x="2857500" y="1903857"/>
            <a:ext cx="0" cy="153619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label173"/>
          <p:cNvSpPr txBox="1"/>
          <p:nvPr/>
        </p:nvSpPr>
        <p:spPr>
          <a:xfrm>
            <a:off x="2912872" y="351688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11" name="S08-label175"/>
          <p:cNvSpPr txBox="1"/>
          <p:nvPr/>
        </p:nvSpPr>
        <p:spPr>
          <a:xfrm>
            <a:off x="2886456" y="249732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2" name="S08-label177"/>
          <p:cNvSpPr txBox="1"/>
          <p:nvPr/>
        </p:nvSpPr>
        <p:spPr>
          <a:xfrm>
            <a:off x="2587061" y="137659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3" name="S08-label179"/>
          <p:cNvSpPr txBox="1"/>
          <p:nvPr/>
        </p:nvSpPr>
        <p:spPr>
          <a:xfrm>
            <a:off x="1600671" y="335468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4" name="S08-label181"/>
          <p:cNvSpPr txBox="1"/>
          <p:nvPr/>
        </p:nvSpPr>
        <p:spPr>
          <a:xfrm>
            <a:off x="4420595" y="33131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5" name="S08-label182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2200" dirty="0"/>
          </a:p>
        </p:txBody>
      </p:sp>
      <p:sp>
        <p:nvSpPr>
          <p:cNvPr id="16" name="S08-figure183" descr="둔각삼각형 ㄱㄴㄷ: 변 ㄴㄷ이 밑변, 밑변을 오른쪽으로 늘인 점선까지 꼭짓점 ㄱ에서 수직으로 내린 점선이 높이(삼각형 밖)"/>
          <p:cNvSpPr/>
          <p:nvPr/>
        </p:nvSpPr>
        <p:spPr>
          <a:xfrm>
            <a:off x="7603236" y="2095881"/>
            <a:ext cx="2688336" cy="1152144"/>
          </a:xfrm>
          <a:custGeom>
            <a:avLst/>
            <a:gdLst/>
            <a:ahLst/>
            <a:cxnLst/>
            <a:rect l="l" t="t" r="r" b="b"/>
            <a:pathLst>
              <a:path w="2688336" h="1152144">
                <a:moveTo>
                  <a:pt x="2688336" y="0"/>
                </a:moveTo>
                <a:lnTo>
                  <a:pt x="0" y="1152144"/>
                </a:lnTo>
                <a:lnTo>
                  <a:pt x="1536192" y="115214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8-mark184"/>
          <p:cNvSpPr/>
          <p:nvPr/>
        </p:nvSpPr>
        <p:spPr>
          <a:xfrm>
            <a:off x="10082022" y="303847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mark185"/>
          <p:cNvSpPr/>
          <p:nvPr/>
        </p:nvSpPr>
        <p:spPr>
          <a:xfrm>
            <a:off x="9139428" y="3248025"/>
            <a:ext cx="11521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08-mark186"/>
          <p:cNvSpPr/>
          <p:nvPr/>
        </p:nvSpPr>
        <p:spPr>
          <a:xfrm>
            <a:off x="10291572" y="2095881"/>
            <a:ext cx="0" cy="115214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0" name="S08-label188"/>
          <p:cNvSpPr txBox="1"/>
          <p:nvPr/>
        </p:nvSpPr>
        <p:spPr>
          <a:xfrm>
            <a:off x="8042656" y="33248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21" name="S08-label190"/>
          <p:cNvSpPr txBox="1"/>
          <p:nvPr/>
        </p:nvSpPr>
        <p:spPr>
          <a:xfrm>
            <a:off x="10320528" y="249732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22" name="S08-label192"/>
          <p:cNvSpPr txBox="1"/>
          <p:nvPr/>
        </p:nvSpPr>
        <p:spPr>
          <a:xfrm>
            <a:off x="10227877" y="16279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3" name="S08-label194"/>
          <p:cNvSpPr txBox="1"/>
          <p:nvPr/>
        </p:nvSpPr>
        <p:spPr>
          <a:xfrm>
            <a:off x="7077040" y="306832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4" name="S08-label196"/>
          <p:cNvSpPr txBox="1"/>
          <p:nvPr/>
        </p:nvSpPr>
        <p:spPr>
          <a:xfrm>
            <a:off x="8897874" y="330047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5" name="S08-label197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평행사변형</a:t>
            </a:r>
            <a:endParaRPr lang="ko-KR" sz="4000" dirty="0"/>
          </a:p>
        </p:txBody>
      </p:sp>
      <p:sp>
        <p:nvSpPr>
          <p:cNvPr id="3" name="S09-card19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9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(삼각형의 넓이) = (밑변) × (높이) ÷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÷ 2 = 12, 넓이는 12 cm²예요.</a:t>
            </a:r>
            <a:endParaRPr lang="ko-KR" sz="2800" dirty="0"/>
          </a:p>
        </p:txBody>
      </p:sp>
      <p:sp>
        <p:nvSpPr>
          <p:cNvPr id="5" name="S09-mark200"/>
          <p:cNvSpPr/>
          <p:nvPr/>
        </p:nvSpPr>
        <p:spPr>
          <a:xfrm>
            <a:off x="1869948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9-mark201"/>
          <p:cNvSpPr/>
          <p:nvPr/>
        </p:nvSpPr>
        <p:spPr>
          <a:xfrm flipV="1">
            <a:off x="1412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202"/>
          <p:cNvSpPr/>
          <p:nvPr/>
        </p:nvSpPr>
        <p:spPr>
          <a:xfrm flipV="1">
            <a:off x="1869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203"/>
          <p:cNvSpPr/>
          <p:nvPr/>
        </p:nvSpPr>
        <p:spPr>
          <a:xfrm flipV="1">
            <a:off x="2327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204"/>
          <p:cNvSpPr/>
          <p:nvPr/>
        </p:nvSpPr>
        <p:spPr>
          <a:xfrm flipV="1">
            <a:off x="2784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205"/>
          <p:cNvSpPr/>
          <p:nvPr/>
        </p:nvSpPr>
        <p:spPr>
          <a:xfrm flipV="1">
            <a:off x="3241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206"/>
          <p:cNvSpPr/>
          <p:nvPr/>
        </p:nvSpPr>
        <p:spPr>
          <a:xfrm flipV="1">
            <a:off x="3698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07"/>
          <p:cNvSpPr/>
          <p:nvPr/>
        </p:nvSpPr>
        <p:spPr>
          <a:xfrm flipV="1">
            <a:off x="4155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08"/>
          <p:cNvSpPr/>
          <p:nvPr/>
        </p:nvSpPr>
        <p:spPr>
          <a:xfrm flipV="1">
            <a:off x="4613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09"/>
          <p:cNvSpPr/>
          <p:nvPr/>
        </p:nvSpPr>
        <p:spPr>
          <a:xfrm flipV="1">
            <a:off x="5070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10"/>
          <p:cNvSpPr/>
          <p:nvPr/>
        </p:nvSpPr>
        <p:spPr>
          <a:xfrm>
            <a:off x="1412748" y="42139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11"/>
          <p:cNvSpPr/>
          <p:nvPr/>
        </p:nvSpPr>
        <p:spPr>
          <a:xfrm>
            <a:off x="1412748" y="37567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12"/>
          <p:cNvSpPr/>
          <p:nvPr/>
        </p:nvSpPr>
        <p:spPr>
          <a:xfrm>
            <a:off x="1412748" y="32995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13"/>
          <p:cNvSpPr/>
          <p:nvPr/>
        </p:nvSpPr>
        <p:spPr>
          <a:xfrm>
            <a:off x="1412748" y="28423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14"/>
          <p:cNvSpPr/>
          <p:nvPr/>
        </p:nvSpPr>
        <p:spPr>
          <a:xfrm>
            <a:off x="1412748" y="23851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15"/>
          <p:cNvSpPr/>
          <p:nvPr/>
        </p:nvSpPr>
        <p:spPr>
          <a:xfrm>
            <a:off x="1412748" y="19279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16"/>
          <p:cNvSpPr/>
          <p:nvPr/>
        </p:nvSpPr>
        <p:spPr>
          <a:xfrm>
            <a:off x="1412748" y="14707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figure217" descr="모눈 위의 밑변 6 cm, 높이 4 cm인 삼각형"/>
          <p:cNvSpPr/>
          <p:nvPr/>
        </p:nvSpPr>
        <p:spPr>
          <a:xfrm>
            <a:off x="1869948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9-mark218"/>
          <p:cNvSpPr/>
          <p:nvPr/>
        </p:nvSpPr>
        <p:spPr>
          <a:xfrm>
            <a:off x="2784348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mark219"/>
          <p:cNvSpPr/>
          <p:nvPr/>
        </p:nvSpPr>
        <p:spPr>
          <a:xfrm>
            <a:off x="2784348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9-label220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6 cm, 높이 4 cm</a:t>
            </a:r>
            <a:endParaRPr lang="ko-KR" sz="2200" dirty="0"/>
          </a:p>
        </p:txBody>
      </p:sp>
      <p:sp>
        <p:nvSpPr>
          <p:cNvPr id="26" name="S09-mark221"/>
          <p:cNvSpPr/>
          <p:nvPr/>
        </p:nvSpPr>
        <p:spPr>
          <a:xfrm>
            <a:off x="71186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7" name="S09-mark222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2743200" y="0"/>
                </a:moveTo>
                <a:lnTo>
                  <a:pt x="0" y="0"/>
                </a:lnTo>
                <a:lnTo>
                  <a:pt x="1828800" y="18288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9-mark223"/>
          <p:cNvSpPr/>
          <p:nvPr/>
        </p:nvSpPr>
        <p:spPr>
          <a:xfrm flipV="1">
            <a:off x="6661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224"/>
          <p:cNvSpPr/>
          <p:nvPr/>
        </p:nvSpPr>
        <p:spPr>
          <a:xfrm flipV="1">
            <a:off x="7118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225"/>
          <p:cNvSpPr/>
          <p:nvPr/>
        </p:nvSpPr>
        <p:spPr>
          <a:xfrm flipV="1">
            <a:off x="7575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mark226"/>
          <p:cNvSpPr/>
          <p:nvPr/>
        </p:nvSpPr>
        <p:spPr>
          <a:xfrm flipV="1">
            <a:off x="8033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9-mark227"/>
          <p:cNvSpPr/>
          <p:nvPr/>
        </p:nvSpPr>
        <p:spPr>
          <a:xfrm flipV="1">
            <a:off x="8490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9-mark228"/>
          <p:cNvSpPr/>
          <p:nvPr/>
        </p:nvSpPr>
        <p:spPr>
          <a:xfrm flipV="1">
            <a:off x="8947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9-mark229"/>
          <p:cNvSpPr/>
          <p:nvPr/>
        </p:nvSpPr>
        <p:spPr>
          <a:xfrm flipV="1">
            <a:off x="9404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9-mark230"/>
          <p:cNvSpPr/>
          <p:nvPr/>
        </p:nvSpPr>
        <p:spPr>
          <a:xfrm flipV="1">
            <a:off x="9861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9-mark231"/>
          <p:cNvSpPr/>
          <p:nvPr/>
        </p:nvSpPr>
        <p:spPr>
          <a:xfrm flipV="1">
            <a:off x="10319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9-mark232"/>
          <p:cNvSpPr/>
          <p:nvPr/>
        </p:nvSpPr>
        <p:spPr>
          <a:xfrm flipV="1">
            <a:off x="10776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9-mark233"/>
          <p:cNvSpPr/>
          <p:nvPr/>
        </p:nvSpPr>
        <p:spPr>
          <a:xfrm flipV="1">
            <a:off x="11233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9-mark234"/>
          <p:cNvSpPr/>
          <p:nvPr/>
        </p:nvSpPr>
        <p:spPr>
          <a:xfrm>
            <a:off x="6661404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9-mark235"/>
          <p:cNvSpPr/>
          <p:nvPr/>
        </p:nvSpPr>
        <p:spPr>
          <a:xfrm>
            <a:off x="6661404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9-mark236"/>
          <p:cNvSpPr/>
          <p:nvPr/>
        </p:nvSpPr>
        <p:spPr>
          <a:xfrm>
            <a:off x="6661404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9-mark237"/>
          <p:cNvSpPr/>
          <p:nvPr/>
        </p:nvSpPr>
        <p:spPr>
          <a:xfrm>
            <a:off x="6661404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9-mark238"/>
          <p:cNvSpPr/>
          <p:nvPr/>
        </p:nvSpPr>
        <p:spPr>
          <a:xfrm>
            <a:off x="6661404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9-mark239"/>
          <p:cNvSpPr/>
          <p:nvPr/>
        </p:nvSpPr>
        <p:spPr>
          <a:xfrm>
            <a:off x="6661404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9-mark240"/>
          <p:cNvSpPr/>
          <p:nvPr/>
        </p:nvSpPr>
        <p:spPr>
          <a:xfrm>
            <a:off x="6661404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9-figure241" descr="같은 삼각형을 하나 더(노랑) 180° 돌려 붙여 만든 밑변 6 cm, 높이 4 cm인 평행사변형"/>
          <p:cNvSpPr/>
          <p:nvPr/>
        </p:nvSpPr>
        <p:spPr>
          <a:xfrm>
            <a:off x="71186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09-mark242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2743200" y="0"/>
                </a:moveTo>
                <a:lnTo>
                  <a:pt x="0" y="0"/>
                </a:lnTo>
                <a:lnTo>
                  <a:pt x="1828800" y="182880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8" name="S09-mark243"/>
          <p:cNvSpPr/>
          <p:nvPr/>
        </p:nvSpPr>
        <p:spPr>
          <a:xfrm>
            <a:off x="8033004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9-mark244"/>
          <p:cNvSpPr/>
          <p:nvPr/>
        </p:nvSpPr>
        <p:spPr>
          <a:xfrm>
            <a:off x="8033004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0" name="S09-label24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삼각형 2개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 구하기</a:t>
            </a:r>
            <a:endParaRPr lang="ko-KR" sz="4000" dirty="0"/>
          </a:p>
        </p:txBody>
      </p:sp>
      <p:sp>
        <p:nvSpPr>
          <p:cNvPr id="3" name="S10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삼각형 밖에 있을 수도 있어요.</a:t>
            </a:r>
            <a:endParaRPr lang="ko-KR" sz="2800" dirty="0"/>
          </a:p>
        </p:txBody>
      </p:sp>
      <p:sp>
        <p:nvSpPr>
          <p:cNvPr id="5" name="S10-figure248" descr="밑변 6 cm인 둔각삼각형. 밑변을 늘인 점선까지 수직으로 내린 높이 4 cm(삼각형 밖), 옆의 변 5 cm"/>
          <p:cNvSpPr/>
          <p:nvPr/>
        </p:nvSpPr>
        <p:spPr>
          <a:xfrm>
            <a:off x="6901434" y="2308860"/>
            <a:ext cx="4114800" cy="1828800"/>
          </a:xfrm>
          <a:custGeom>
            <a:avLst/>
            <a:gdLst/>
            <a:ahLst/>
            <a:cxnLst/>
            <a:rect l="l" t="t" r="r" b="b"/>
            <a:pathLst>
              <a:path w="4114800" h="1828800">
                <a:moveTo>
                  <a:pt x="4114800" y="0"/>
                </a:moveTo>
                <a:lnTo>
                  <a:pt x="0" y="1828800"/>
                </a:lnTo>
                <a:lnTo>
                  <a:pt x="274320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0-mark249"/>
          <p:cNvSpPr/>
          <p:nvPr/>
        </p:nvSpPr>
        <p:spPr>
          <a:xfrm>
            <a:off x="10806684" y="392811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0-mark250"/>
          <p:cNvSpPr/>
          <p:nvPr/>
        </p:nvSpPr>
        <p:spPr>
          <a:xfrm>
            <a:off x="9644634" y="4137660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10-mark251"/>
          <p:cNvSpPr/>
          <p:nvPr/>
        </p:nvSpPr>
        <p:spPr>
          <a:xfrm>
            <a:off x="11016234" y="2308860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0-label253"/>
          <p:cNvSpPr txBox="1"/>
          <p:nvPr/>
        </p:nvSpPr>
        <p:spPr>
          <a:xfrm>
            <a:off x="7891272" y="42144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0" name="S10-label255"/>
          <p:cNvSpPr txBox="1"/>
          <p:nvPr/>
        </p:nvSpPr>
        <p:spPr>
          <a:xfrm>
            <a:off x="9579417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1" name="S10-label257"/>
          <p:cNvSpPr txBox="1"/>
          <p:nvPr/>
        </p:nvSpPr>
        <p:spPr>
          <a:xfrm>
            <a:off x="11064748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10-chip25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0-text259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800" dirty="0"/>
          </a:p>
        </p:txBody>
      </p:sp>
      <p:sp>
        <p:nvSpPr>
          <p:cNvPr id="14" name="S10-chip26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0-text261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10 cm, 높이 7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넓이는?</a:t>
            </a:r>
            <a:endParaRPr lang="ko-KR" sz="2800" dirty="0"/>
          </a:p>
        </p:txBody>
      </p:sp>
      <p:sp>
        <p:nvSpPr>
          <p:cNvPr id="16" name="S10-chip26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0-text263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24 cm², 밑변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높이는?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①, ②의 넓이를 구하고, 어떻게 구했는지 말해요.</a:t>
            </a:r>
            <a:endParaRPr lang="ko-KR" sz="2800" dirty="0"/>
          </a:p>
        </p:txBody>
      </p:sp>
      <p:sp>
        <p:nvSpPr>
          <p:cNvPr id="5" name="S11-figure266" descr="밑변 7 cm, 옆의 변 5 cm, 높이 4 cm인 평행사변형"/>
          <p:cNvSpPr/>
          <p:nvPr/>
        </p:nvSpPr>
        <p:spPr>
          <a:xfrm>
            <a:off x="1049325" y="2121200"/>
            <a:ext cx="4384446" cy="1753779"/>
          </a:xfrm>
          <a:custGeom>
            <a:avLst/>
            <a:gdLst/>
            <a:ahLst/>
            <a:cxnLst/>
            <a:rect l="l" t="t" r="r" b="b"/>
            <a:pathLst>
              <a:path w="4384446" h="1753779">
                <a:moveTo>
                  <a:pt x="0" y="1753779"/>
                </a:moveTo>
                <a:lnTo>
                  <a:pt x="3069112" y="1753779"/>
                </a:lnTo>
                <a:lnTo>
                  <a:pt x="4384446" y="0"/>
                </a:lnTo>
                <a:lnTo>
                  <a:pt x="131533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267"/>
          <p:cNvSpPr/>
          <p:nvPr/>
        </p:nvSpPr>
        <p:spPr>
          <a:xfrm>
            <a:off x="3241548" y="366542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268"/>
          <p:cNvSpPr/>
          <p:nvPr/>
        </p:nvSpPr>
        <p:spPr>
          <a:xfrm>
            <a:off x="3241548" y="2121200"/>
            <a:ext cx="0" cy="17537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11-label270"/>
          <p:cNvSpPr txBox="1"/>
          <p:nvPr/>
        </p:nvSpPr>
        <p:spPr>
          <a:xfrm>
            <a:off x="2202119" y="39518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9" name="S11-label272"/>
          <p:cNvSpPr txBox="1"/>
          <p:nvPr/>
        </p:nvSpPr>
        <p:spPr>
          <a:xfrm>
            <a:off x="955975" y="254652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1-label274"/>
          <p:cNvSpPr txBox="1"/>
          <p:nvPr/>
        </p:nvSpPr>
        <p:spPr>
          <a:xfrm>
            <a:off x="2429510" y="28234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11-label275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평행사변형</a:t>
            </a:r>
            <a:endParaRPr lang="ko-KR" sz="2200" dirty="0"/>
          </a:p>
        </p:txBody>
      </p:sp>
      <p:sp>
        <p:nvSpPr>
          <p:cNvPr id="12" name="S11-figure276" descr="밑변 7 cm, 옆의 변 5 cm인 둔각삼각형, 밑변을 왼쪽으로 늘인 점선까지 내린 높이 4 cm(삼각형 밖)"/>
          <p:cNvSpPr/>
          <p:nvPr/>
        </p:nvSpPr>
        <p:spPr>
          <a:xfrm>
            <a:off x="6755181" y="2121200"/>
            <a:ext cx="4384446" cy="1753779"/>
          </a:xfrm>
          <a:custGeom>
            <a:avLst/>
            <a:gdLst/>
            <a:ahLst/>
            <a:cxnLst/>
            <a:rect l="l" t="t" r="r" b="b"/>
            <a:pathLst>
              <a:path w="4384446" h="1753779">
                <a:moveTo>
                  <a:pt x="1315334" y="1753779"/>
                </a:moveTo>
                <a:lnTo>
                  <a:pt x="4384446" y="1753779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277"/>
          <p:cNvSpPr/>
          <p:nvPr/>
        </p:nvSpPr>
        <p:spPr>
          <a:xfrm>
            <a:off x="6755181" y="366542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mark278"/>
          <p:cNvSpPr/>
          <p:nvPr/>
        </p:nvSpPr>
        <p:spPr>
          <a:xfrm flipH="1">
            <a:off x="6755181" y="3874978"/>
            <a:ext cx="131533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11-mark279"/>
          <p:cNvSpPr/>
          <p:nvPr/>
        </p:nvSpPr>
        <p:spPr>
          <a:xfrm>
            <a:off x="6755181" y="2121200"/>
            <a:ext cx="0" cy="17537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11-label281"/>
          <p:cNvSpPr txBox="1"/>
          <p:nvPr/>
        </p:nvSpPr>
        <p:spPr>
          <a:xfrm>
            <a:off x="9223309" y="39518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7" name="S11-label283"/>
          <p:cNvSpPr txBox="1"/>
          <p:nvPr/>
        </p:nvSpPr>
        <p:spPr>
          <a:xfrm>
            <a:off x="7400341" y="254652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8" name="S11-label285"/>
          <p:cNvSpPr txBox="1"/>
          <p:nvPr/>
        </p:nvSpPr>
        <p:spPr>
          <a:xfrm>
            <a:off x="5943143" y="28234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9" name="S11-label286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8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8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삼각자의 직각을 밑변에 대어 높이를 다시 찾고, 삼각형은 평행사변형의 반이라는 것을 떠올리게 하세요.</a:t>
            </a:r>
            <a:endParaRPr lang="ko-KR" sz="2800" dirty="0"/>
          </a:p>
        </p:txBody>
      </p:sp>
      <p:sp>
        <p:nvSpPr>
          <p:cNvPr id="5" name="S12-chip28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90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 cm²</a:t>
            </a:r>
            <a:endParaRPr lang="ko-KR" sz="2800" dirty="0"/>
          </a:p>
        </p:txBody>
      </p:sp>
      <p:sp>
        <p:nvSpPr>
          <p:cNvPr id="7" name="S12-text291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</a:t>
            </a:r>
            <a:endParaRPr lang="ko-KR" sz="2200" dirty="0"/>
          </a:p>
        </p:txBody>
      </p:sp>
      <p:sp>
        <p:nvSpPr>
          <p:cNvPr id="8" name="S12-text292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 cm²</a:t>
            </a:r>
            <a:endParaRPr lang="ko-KR" sz="2800" dirty="0"/>
          </a:p>
        </p:txBody>
      </p:sp>
      <p:sp>
        <p:nvSpPr>
          <p:cNvPr id="9" name="S12-text293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÷ 2</a:t>
            </a:r>
            <a:endParaRPr lang="ko-KR" sz="2200" dirty="0"/>
          </a:p>
        </p:txBody>
      </p:sp>
      <p:sp>
        <p:nvSpPr>
          <p:cNvPr id="10" name="S12-chip29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29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35 cm²</a:t>
            </a:r>
            <a:endParaRPr lang="ko-KR" sz="2800" dirty="0"/>
          </a:p>
        </p:txBody>
      </p:sp>
      <p:sp>
        <p:nvSpPr>
          <p:cNvPr id="12" name="S12-text29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옆의 변을 높이로</a:t>
            </a:r>
            <a:endParaRPr lang="ko-KR" sz="2200" dirty="0"/>
          </a:p>
        </p:txBody>
      </p:sp>
      <p:sp>
        <p:nvSpPr>
          <p:cNvPr id="13" name="S12-text29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28 cm²</a:t>
            </a:r>
            <a:endParaRPr lang="ko-KR" sz="2800" dirty="0"/>
          </a:p>
        </p:txBody>
      </p:sp>
      <p:sp>
        <p:nvSpPr>
          <p:cNvPr id="14" name="S12-text29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2를 빠뜨림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삼각형은?</a:t>
            </a:r>
            <a:endParaRPr lang="ko-KR" sz="4000" dirty="0"/>
          </a:p>
        </p:txBody>
      </p:sp>
      <p:sp>
        <p:nvSpPr>
          <p:cNvPr id="3" name="S13-text2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cm²예요.</a:t>
            </a:r>
            <a:endParaRPr lang="ko-KR" sz="2800" dirty="0"/>
          </a:p>
        </p:txBody>
      </p:sp>
      <p:sp>
        <p:nvSpPr>
          <p:cNvPr id="4" name="S13-card3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3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하나를 찾고, 어떻게 알았는지 말해요.</a:t>
            </a:r>
            <a:endParaRPr lang="ko-KR" sz="2800" dirty="0"/>
          </a:p>
        </p:txBody>
      </p:sp>
      <p:sp>
        <p:nvSpPr>
          <p:cNvPr id="6" name="S13-mark302"/>
          <p:cNvSpPr/>
          <p:nvPr/>
        </p:nvSpPr>
        <p:spPr>
          <a:xfrm>
            <a:off x="1069421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873923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3-mark303"/>
          <p:cNvSpPr/>
          <p:nvPr/>
        </p:nvSpPr>
        <p:spPr>
          <a:xfrm>
            <a:off x="3254228" y="3129199"/>
            <a:ext cx="2621768" cy="1310884"/>
          </a:xfrm>
          <a:custGeom>
            <a:avLst/>
            <a:gdLst/>
            <a:ahLst/>
            <a:cxnLst/>
            <a:rect l="l" t="t" r="r" b="b"/>
            <a:pathLst>
              <a:path w="2621768" h="1310884">
                <a:moveTo>
                  <a:pt x="0" y="1310884"/>
                </a:moveTo>
                <a:lnTo>
                  <a:pt x="1747845" y="1310884"/>
                </a:lnTo>
                <a:lnTo>
                  <a:pt x="262176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13-mark304"/>
          <p:cNvSpPr/>
          <p:nvPr/>
        </p:nvSpPr>
        <p:spPr>
          <a:xfrm>
            <a:off x="6749918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13-mark305"/>
          <p:cNvSpPr/>
          <p:nvPr/>
        </p:nvSpPr>
        <p:spPr>
          <a:xfrm>
            <a:off x="9371686" y="2692237"/>
            <a:ext cx="1747845" cy="1747845"/>
          </a:xfrm>
          <a:custGeom>
            <a:avLst/>
            <a:gdLst/>
            <a:ahLst/>
            <a:cxnLst/>
            <a:rect l="l" t="t" r="r" b="b"/>
            <a:pathLst>
              <a:path w="1747845" h="1747845">
                <a:moveTo>
                  <a:pt x="0" y="1747845"/>
                </a:moveTo>
                <a:lnTo>
                  <a:pt x="1747845" y="1747845"/>
                </a:lnTo>
                <a:lnTo>
                  <a:pt x="43696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13-mark306"/>
          <p:cNvSpPr/>
          <p:nvPr/>
        </p:nvSpPr>
        <p:spPr>
          <a:xfrm flipV="1">
            <a:off x="63246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07"/>
          <p:cNvSpPr/>
          <p:nvPr/>
        </p:nvSpPr>
        <p:spPr>
          <a:xfrm flipV="1">
            <a:off x="1069421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08"/>
          <p:cNvSpPr/>
          <p:nvPr/>
        </p:nvSpPr>
        <p:spPr>
          <a:xfrm flipV="1">
            <a:off x="150638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09"/>
          <p:cNvSpPr/>
          <p:nvPr/>
        </p:nvSpPr>
        <p:spPr>
          <a:xfrm flipV="1">
            <a:off x="194334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10"/>
          <p:cNvSpPr/>
          <p:nvPr/>
        </p:nvSpPr>
        <p:spPr>
          <a:xfrm flipV="1">
            <a:off x="2380305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311"/>
          <p:cNvSpPr/>
          <p:nvPr/>
        </p:nvSpPr>
        <p:spPr>
          <a:xfrm flipV="1">
            <a:off x="2817266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12"/>
          <p:cNvSpPr/>
          <p:nvPr/>
        </p:nvSpPr>
        <p:spPr>
          <a:xfrm flipV="1">
            <a:off x="325422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13"/>
          <p:cNvSpPr/>
          <p:nvPr/>
        </p:nvSpPr>
        <p:spPr>
          <a:xfrm flipV="1">
            <a:off x="369118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14"/>
          <p:cNvSpPr/>
          <p:nvPr/>
        </p:nvSpPr>
        <p:spPr>
          <a:xfrm flipV="1">
            <a:off x="412815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15"/>
          <p:cNvSpPr/>
          <p:nvPr/>
        </p:nvSpPr>
        <p:spPr>
          <a:xfrm flipV="1">
            <a:off x="456511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16"/>
          <p:cNvSpPr/>
          <p:nvPr/>
        </p:nvSpPr>
        <p:spPr>
          <a:xfrm flipV="1">
            <a:off x="500207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17"/>
          <p:cNvSpPr/>
          <p:nvPr/>
        </p:nvSpPr>
        <p:spPr>
          <a:xfrm flipV="1">
            <a:off x="543903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mark318"/>
          <p:cNvSpPr/>
          <p:nvPr/>
        </p:nvSpPr>
        <p:spPr>
          <a:xfrm flipV="1">
            <a:off x="5875995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3-mark319"/>
          <p:cNvSpPr/>
          <p:nvPr/>
        </p:nvSpPr>
        <p:spPr>
          <a:xfrm flipV="1">
            <a:off x="6312957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3-mark320"/>
          <p:cNvSpPr/>
          <p:nvPr/>
        </p:nvSpPr>
        <p:spPr>
          <a:xfrm flipV="1">
            <a:off x="674991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3-mark321"/>
          <p:cNvSpPr/>
          <p:nvPr/>
        </p:nvSpPr>
        <p:spPr>
          <a:xfrm flipV="1">
            <a:off x="718687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3-mark322"/>
          <p:cNvSpPr/>
          <p:nvPr/>
        </p:nvSpPr>
        <p:spPr>
          <a:xfrm flipV="1">
            <a:off x="762384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3-mark323"/>
          <p:cNvSpPr/>
          <p:nvPr/>
        </p:nvSpPr>
        <p:spPr>
          <a:xfrm flipV="1">
            <a:off x="806080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3-mark324"/>
          <p:cNvSpPr/>
          <p:nvPr/>
        </p:nvSpPr>
        <p:spPr>
          <a:xfrm flipV="1">
            <a:off x="849776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3-mark325"/>
          <p:cNvSpPr/>
          <p:nvPr/>
        </p:nvSpPr>
        <p:spPr>
          <a:xfrm flipV="1">
            <a:off x="893472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26"/>
          <p:cNvSpPr/>
          <p:nvPr/>
        </p:nvSpPr>
        <p:spPr>
          <a:xfrm flipV="1">
            <a:off x="9371686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27"/>
          <p:cNvSpPr/>
          <p:nvPr/>
        </p:nvSpPr>
        <p:spPr>
          <a:xfrm flipV="1">
            <a:off x="9808647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28"/>
          <p:cNvSpPr/>
          <p:nvPr/>
        </p:nvSpPr>
        <p:spPr>
          <a:xfrm flipV="1">
            <a:off x="1024560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29"/>
          <p:cNvSpPr/>
          <p:nvPr/>
        </p:nvSpPr>
        <p:spPr>
          <a:xfrm flipV="1">
            <a:off x="1068256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30"/>
          <p:cNvSpPr/>
          <p:nvPr/>
        </p:nvSpPr>
        <p:spPr>
          <a:xfrm flipV="1">
            <a:off x="11119531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31"/>
          <p:cNvSpPr/>
          <p:nvPr/>
        </p:nvSpPr>
        <p:spPr>
          <a:xfrm flipV="1">
            <a:off x="1155649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32"/>
          <p:cNvSpPr/>
          <p:nvPr/>
        </p:nvSpPr>
        <p:spPr>
          <a:xfrm>
            <a:off x="632460" y="4877044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33"/>
          <p:cNvSpPr/>
          <p:nvPr/>
        </p:nvSpPr>
        <p:spPr>
          <a:xfrm>
            <a:off x="632460" y="4440083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34"/>
          <p:cNvSpPr/>
          <p:nvPr/>
        </p:nvSpPr>
        <p:spPr>
          <a:xfrm>
            <a:off x="632460" y="4003121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35"/>
          <p:cNvSpPr/>
          <p:nvPr/>
        </p:nvSpPr>
        <p:spPr>
          <a:xfrm>
            <a:off x="632460" y="356616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36"/>
          <p:cNvSpPr/>
          <p:nvPr/>
        </p:nvSpPr>
        <p:spPr>
          <a:xfrm>
            <a:off x="632460" y="3129199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337"/>
          <p:cNvSpPr/>
          <p:nvPr/>
        </p:nvSpPr>
        <p:spPr>
          <a:xfrm>
            <a:off x="632460" y="2692237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338"/>
          <p:cNvSpPr/>
          <p:nvPr/>
        </p:nvSpPr>
        <p:spPr>
          <a:xfrm>
            <a:off x="632460" y="2255276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figure339" descr="모눈 위의 삼각형 가(밑변 4칸, 높이 3칸), 나(밑변 4칸, 높이 3칸, 꼭짓점이 오른쪽 밖), 다(밑변 4칸, 높이 3칸, 직각삼각형), 라(밑변 4칸, 높이 4칸)"/>
          <p:cNvSpPr/>
          <p:nvPr/>
        </p:nvSpPr>
        <p:spPr>
          <a:xfrm>
            <a:off x="1069421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87392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13-mark340"/>
          <p:cNvSpPr/>
          <p:nvPr/>
        </p:nvSpPr>
        <p:spPr>
          <a:xfrm>
            <a:off x="3254228" y="3129199"/>
            <a:ext cx="2621768" cy="1310884"/>
          </a:xfrm>
          <a:custGeom>
            <a:avLst/>
            <a:gdLst/>
            <a:ahLst/>
            <a:cxnLst/>
            <a:rect l="l" t="t" r="r" b="b"/>
            <a:pathLst>
              <a:path w="2621768" h="1310884">
                <a:moveTo>
                  <a:pt x="0" y="1310884"/>
                </a:moveTo>
                <a:lnTo>
                  <a:pt x="1747845" y="1310884"/>
                </a:lnTo>
                <a:lnTo>
                  <a:pt x="262176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5" name="S13-mark341"/>
          <p:cNvSpPr/>
          <p:nvPr/>
        </p:nvSpPr>
        <p:spPr>
          <a:xfrm>
            <a:off x="6749918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6" name="S13-mark342"/>
          <p:cNvSpPr/>
          <p:nvPr/>
        </p:nvSpPr>
        <p:spPr>
          <a:xfrm>
            <a:off x="9371686" y="2692237"/>
            <a:ext cx="1747845" cy="1747845"/>
          </a:xfrm>
          <a:custGeom>
            <a:avLst/>
            <a:gdLst/>
            <a:ahLst/>
            <a:cxnLst/>
            <a:rect l="l" t="t" r="r" b="b"/>
            <a:pathLst>
              <a:path w="1747845" h="1747845">
                <a:moveTo>
                  <a:pt x="0" y="1747845"/>
                </a:moveTo>
                <a:lnTo>
                  <a:pt x="1747845" y="1747845"/>
                </a:lnTo>
                <a:lnTo>
                  <a:pt x="43696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13-label344"/>
          <p:cNvSpPr txBox="1"/>
          <p:nvPr/>
        </p:nvSpPr>
        <p:spPr>
          <a:xfrm>
            <a:off x="1751574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8" name="S13-label346"/>
          <p:cNvSpPr txBox="1"/>
          <p:nvPr/>
        </p:nvSpPr>
        <p:spPr>
          <a:xfrm>
            <a:off x="4373342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9" name="S13-label348"/>
          <p:cNvSpPr txBox="1"/>
          <p:nvPr/>
        </p:nvSpPr>
        <p:spPr>
          <a:xfrm>
            <a:off x="7432070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0" name="S13-label350"/>
          <p:cNvSpPr txBox="1"/>
          <p:nvPr/>
        </p:nvSpPr>
        <p:spPr>
          <a:xfrm>
            <a:off x="10053838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5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5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(평행사변형의 넓이) = (밑변) × (높이), (삼각형의 넓이) = (밑변) × (높이) ÷ 2</a:t>
            </a:r>
            <a:endParaRPr lang="ko-KR" sz="2800" dirty="0"/>
          </a:p>
        </p:txBody>
      </p:sp>
      <p:sp>
        <p:nvSpPr>
          <p:cNvPr id="5" name="S14-chip35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밑변에 수직인 높이 쓰기</a:t>
            </a:r>
            <a:endParaRPr lang="ko-KR" sz="2200" dirty="0"/>
          </a:p>
        </p:txBody>
      </p:sp>
      <p:sp>
        <p:nvSpPr>
          <p:cNvPr id="6" name="S14-chip35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비스듬한 변을 높이로 쓰기</a:t>
            </a:r>
            <a:endParaRPr lang="ko-KR" sz="2200" dirty="0"/>
          </a:p>
        </p:txBody>
      </p:sp>
      <p:sp>
        <p:nvSpPr>
          <p:cNvPr id="7" name="S14-text35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5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밑변 8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5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넓이는?</a:t>
            </a:r>
            <a:endParaRPr lang="ko-KR" sz="2200" dirty="0"/>
          </a:p>
        </p:txBody>
      </p:sp>
      <p:sp>
        <p:nvSpPr>
          <p:cNvPr id="9" name="S14-text35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밑변 6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9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넓이는?</a:t>
            </a:r>
            <a:endParaRPr lang="ko-KR" sz="2200" dirty="0"/>
          </a:p>
        </p:txBody>
      </p:sp>
      <p:sp>
        <p:nvSpPr>
          <p:cNvPr id="10" name="S14-text35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넓이 20 cm², 밑변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삼각형의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높이는?</a:t>
            </a:r>
            <a:endParaRPr lang="ko-KR" sz="2200" dirty="0"/>
          </a:p>
        </p:txBody>
      </p:sp>
      <p:sp>
        <p:nvSpPr>
          <p:cNvPr id="11" name="S14-text3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사다리꼴과 마름모의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직사각형의 넓이</a:t>
            </a:r>
            <a:endParaRPr lang="ko-KR" sz="4000" dirty="0"/>
          </a:p>
        </p:txBody>
      </p:sp>
      <p:sp>
        <p:nvSpPr>
          <p:cNvPr id="3" name="S15-mark360"/>
          <p:cNvSpPr/>
          <p:nvPr/>
        </p:nvSpPr>
        <p:spPr>
          <a:xfrm>
            <a:off x="1972818" y="3017520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5-mark361"/>
          <p:cNvSpPr/>
          <p:nvPr/>
        </p:nvSpPr>
        <p:spPr>
          <a:xfrm flipV="1">
            <a:off x="146989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362"/>
          <p:cNvSpPr/>
          <p:nvPr/>
        </p:nvSpPr>
        <p:spPr>
          <a:xfrm flipV="1">
            <a:off x="197281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363"/>
          <p:cNvSpPr/>
          <p:nvPr/>
        </p:nvSpPr>
        <p:spPr>
          <a:xfrm flipV="1">
            <a:off x="247573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364"/>
          <p:cNvSpPr/>
          <p:nvPr/>
        </p:nvSpPr>
        <p:spPr>
          <a:xfrm flipV="1">
            <a:off x="297865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365"/>
          <p:cNvSpPr/>
          <p:nvPr/>
        </p:nvSpPr>
        <p:spPr>
          <a:xfrm flipV="1">
            <a:off x="348157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366"/>
          <p:cNvSpPr/>
          <p:nvPr/>
        </p:nvSpPr>
        <p:spPr>
          <a:xfrm flipV="1">
            <a:off x="398449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367"/>
          <p:cNvSpPr/>
          <p:nvPr/>
        </p:nvSpPr>
        <p:spPr>
          <a:xfrm flipV="1">
            <a:off x="448741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368"/>
          <p:cNvSpPr/>
          <p:nvPr/>
        </p:nvSpPr>
        <p:spPr>
          <a:xfrm flipV="1">
            <a:off x="499033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369"/>
          <p:cNvSpPr/>
          <p:nvPr/>
        </p:nvSpPr>
        <p:spPr>
          <a:xfrm>
            <a:off x="1469898" y="502920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370"/>
          <p:cNvSpPr/>
          <p:nvPr/>
        </p:nvSpPr>
        <p:spPr>
          <a:xfrm>
            <a:off x="1469898" y="452628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371"/>
          <p:cNvSpPr/>
          <p:nvPr/>
        </p:nvSpPr>
        <p:spPr>
          <a:xfrm>
            <a:off x="1469898" y="402336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372"/>
          <p:cNvSpPr/>
          <p:nvPr/>
        </p:nvSpPr>
        <p:spPr>
          <a:xfrm>
            <a:off x="1469898" y="352044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373"/>
          <p:cNvSpPr/>
          <p:nvPr/>
        </p:nvSpPr>
        <p:spPr>
          <a:xfrm>
            <a:off x="1469898" y="301752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374"/>
          <p:cNvSpPr/>
          <p:nvPr/>
        </p:nvSpPr>
        <p:spPr>
          <a:xfrm>
            <a:off x="1469898" y="251460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figure375" descr="모눈 위의 가로 5 cm, 세로 3 cm인 직사각형, 왼쪽 아래에 직각 표시"/>
          <p:cNvSpPr/>
          <p:nvPr/>
        </p:nvSpPr>
        <p:spPr>
          <a:xfrm>
            <a:off x="1972818" y="3017520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15-mark376"/>
          <p:cNvSpPr/>
          <p:nvPr/>
        </p:nvSpPr>
        <p:spPr>
          <a:xfrm>
            <a:off x="1972818" y="431673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78"/>
          <p:cNvSpPr txBox="1"/>
          <p:nvPr/>
        </p:nvSpPr>
        <p:spPr>
          <a:xfrm>
            <a:off x="2848356" y="46031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1" name="S15-label380"/>
          <p:cNvSpPr txBox="1"/>
          <p:nvPr/>
        </p:nvSpPr>
        <p:spPr>
          <a:xfrm>
            <a:off x="1160780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2" name="S15-card381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5-cardtext382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(가로) × (세로)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(cm²)</a:t>
            </a:r>
            <a:endParaRPr lang="ko-KR" sz="2800" dirty="0"/>
          </a:p>
        </p:txBody>
      </p:sp>
      <p:sp>
        <p:nvSpPr>
          <p:cNvPr id="24" name="S15-card383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384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직각으로 만나요(서로 수직).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평행사변형과 삼각형의 넓이</dc:title>
  <dc:subject>KR22-G05-MAT-AREA2-L01</dc:subject>
  <dc:creator>education-ppt</dc:creator>
  <cp:lastModifiedBy>education-ppt</cp:lastModifiedBy>
  <cp:revision>1</cp:revision>
  <dcterms:created xsi:type="dcterms:W3CDTF">2026-10-26T09:12:11Z</dcterms:created>
  <dcterms:modified xsi:type="dcterms:W3CDTF">2026-10-26T09:12:11Z</dcterms:modified>
</cp:coreProperties>
</file>