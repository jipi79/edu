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89aa16-270b-9467-54a4-240acd24508f}">
          <p14:sldIdLst>
            <p14:sldId id="256"/>
            <p14:sldId id="257"/>
          </p14:sldIdLst>
        </p14:section>
        <p14:section name="개념" id="{69e5966f-d6bd-f412-3662-5b8bccd65fc5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451857ef-50bb-9727-cb23-e5a1ad64969b}">
          <p14:sldIdLst>
            <p14:sldId id="260"/>
            <p14:sldId id="262"/>
            <p14:sldId id="265"/>
          </p14:sldIdLst>
        </p14:section>
        <p14:section name="개념" id="{cd1ab9dd-e032-de51-df07-0e3878acd985}">
          <p14:sldIdLst/>
        </p14:section>
        <p14:section name="연습" id="{17ba2c43-30d6-0fe7-bad7-6a2900f2f890}">
          <p14:sldIdLst/>
        </p14:section>
        <p14:section name="개념" id="{7922034a-1db1-9858-b4ff-3240d8282380}">
          <p14:sldIdLst/>
        </p14:section>
        <p14:section name="연습" id="{4b7cb2a7-810e-bb12-4027-3b65c50efda4}">
          <p14:sldIdLst/>
        </p14:section>
        <p14:section name="확인" id="{8581118c-69cc-a58f-4ae4-fc76eb054188}">
          <p14:sldIdLst>
            <p14:sldId id="266"/>
            <p14:sldId id="267"/>
            <p14:sldId id="268"/>
          </p14:sldIdLst>
        </p14:section>
        <p14:section name="정리" id="{c468381a-2a54-5833-1d03-d8d5a6dc8dfc}">
          <p14:sldIdLst>
            <p14:sldId id="269"/>
          </p14:sldIdLst>
        </p14:section>
        <p14:section name="보충" id="{151d8b0b-fc8f-e261-3c0c-e540f8451e0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‘접어서 겹치기’와 ‘돌려서 겹치기’를 구별해 보게 합니다.
시간: 약 2분
이렇게 말해 보세요
- “왼쪽 화살표는 점선을 따라 접으면 어떻게 될까? 오른쪽 모양은 가운데 점을 누르고 반 바퀴 돌리면 어떻게 될까?”
- “지난 시간에는 두 도형이 겹치는 것을 봤지? 오늘은 도형 하나가 자기 자신과 겹치는 것을 볼 거야.”
예상 답
- “접으면 양쪽이 겹쳐요.” “돌리면 똑같은 모양이 돼요.”
막히면
- 답을 확인하지 않고 넘어갑니다. S03, S08에서 종이로 직접 해 봅니다.
주의
- 오늘은 색종이(또는 이면지) 2~3장, 가위, 얇은 종이, 자를 씁니다. 가위는 부모가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확인(합동·대응변, 180° 돌리기, 수직)]
목적: 지난 차시(합동인 도형)의 대응변, 4학년의 180° 돌리기와 수직을 기억하는지 확인합니다. 오늘 대칭의 성질에 모두 쓰입니다.
시간: 약 3분
이렇게 말해 보세요
- “①, ③은 말로 답해 줘. ②는 ㉮의 위쪽이 ㉯에서는 어디로 갔는지 봐.”
정답
- ① 서로 같아요.
- ② 180° (시계 방향이든 시계 반대 방향이든 180°)
- ③ 서로 수직이에요.
막히면
- ①이 흔들리면 S15(보충)를 먼저 합니다. 보충으로도 어려우면 계획의 앞 차시 ‘합동인 도형’을 다시 합니다.
- ②가 어려우면 종이에 ㉮를 그려 오린 뒤 점 ㅇ을 연필로 누르고 반 바퀴 돌려 봅니다.
주의
- ③은 4학년 ‘수직과 평행’ 내용입니다. 모르면 “직각으로 만나는 두 직선을 서로 수직이라고 해”라고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선대칭도형과 대칭축의 뜻]
목적: 한 직선을 따라 접었을 때 완전히 겹치는 도형을 선대칭도형, 그 직선을 대칭축이라고 한다는 것을 압니다.
시간: 약 3분
이렇게 말해 보세요
- “색종이를 반으로 접고, 접힌 쪽에서 모양을 오려 펼쳐 볼까? 접힌 선을 따라 다시 접으면 어떻게 돼?”
- “이렇게 한 직선을 따라 접었을 때 완전히 겹치는 도형을 선대칭도형이라고 하고, 그 직선을 대칭축이라고 해.”
예상 답
- “양쪽이 딱 겹쳐요.” “접힌 선이 대칭축이에요.”
막히면
- 부모가 먼저 하나를 오려 보여 주고, 아이가 다른 모양으로 하나 더 만듭니다. 가위는 부모가 함께 다룹니다.
주의
- 대칭축을 기준으로 나뉜 두 부분은 서로 합동입니다(지난 시간과 연결).
- 오린 작품은 S04와 활동지에서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선대칭도형의 성질]
목적: 선대칭도형에서 대응변의 길이와 대응각의 크기가 같고, 대응점을 이은 선분은 대칭축과 수직으로 만나며 대칭축이 그 선분을 둘로 똑같이 나눈다는 것을 압니다.
시간: 약 3분
이렇게 말해 보세요
- “대칭축을 따라 접으면 점 ㄴ은 어느 점과 겹칠까? 점 ㄷ은?”
- “점 ㄴ과 점 ㅁ을 이은 점선이 대칭축과 만나는 각은 몇 도야? 선분 ㄴㅅ과 선분 ㅅㅁ의 길이는?”
예상 답
- “점 ㄴ은 점 ㅁ과 겹쳐요.” “직각으로 만나요.” “둘 다 3 cm예요.”
막히면
- S03에서 오린 종이를 펼쳐 대응점 두 개를 연필로 이은 뒤, 접힌 선과 만나는 각을 접은 종이 직각(삼각자)으로 대어 봅니다.
주의
- 대응점: ㄴ–ㅁ, ㄷ–ㄹ, 점 ㄱ은 대칭축 위에 있어 자기 자신이 대응점입니다.
- 선분 ㄴㅁ = 3 cm + 3 cm = 6 cm입니다. 대칭축이 선분을 둘로 똑같이 나누므로 한쪽 길이의 2배입니다.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연습(대칭축 찾기)]
목적: 도움을 받으며 여러 도형의 대칭축을 찾아 개수를 셉니다. 대칭축이 없는 도형도 있음을 압니다.
시간: 약 3분
이렇게 말해 보세요
- “①부터 접어서 완전히 겹치는 직선을 모두 찾아볼까? 손가락으로 대칭축을 그어 봐.”
- “④ 평행사변형은 대각선을 따라 접으면 겹칠까?”
정답
- ① 정사각형 4개(가로, 세로, 대각선 2개)
- ② 직사각형 2개(가로, 세로 가운데)
- ③ 정삼각형 3개
- ④ 평행사변형 0개(선대칭도형이 아님)
막히면
- 공책에 네 도형을 그려 오린 뒤 직접 접어 봅니다. 평행사변형은 대각선으로 접으면 꼭짓점이 어긋납니다.
주의
- 직사각형의 대각선을 대칭축이라고 하면 직접 접어 보게 합니다. 대각선으로 접으면 겹치지 않습니다.
- ④는 S10에서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선대칭도형 완성하기 시범]
목적: 모눈 위에서 대응점이 대칭축에서 같은 거리에 있다는 성질로 선대칭도형의 나머지 반쪽을 그리는 방법을 시범으로 보여 줍니다.
시간: 약 3분
이렇게 말해 보세요
- “점 ㄷ은 대칭축에서 왼쪽으로 몇 칸이야? 그러면 대응점은 오른쪽으로 몇 칸에 찍어야 할까?”
- “위아래로는 움직이지 않아. 같은 줄에서 옆으로만 가는 거야. 나머지 점도 같이 찍어 볼까?”
예상 답
- “3칸이요. 오른쪽으로 3칸에 찍어요.”
막히면
- 공책 모눈에 같은 반쪽을 그리고, 점 하나씩 손가락으로 칸을 세며 찍게 합니다.
- 거울을 대칭축 위에 세워 비추면 나머지 반쪽이 보입니다(있으면).
주의
- 주황 선이 완성한 반쪽입니다. 꼭짓점을 모두 찍은 뒤에 이어야 모양이 틀어지지 않습니다.
- 대응점을 이은 선분(점선)은 대칭축과 수직입니다(S04).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비교(반쪽을 밀어서 그림)]
목적: 반쪽을 뒤집지 않고 그대로 옮겨 그리는 오개념(M2)을 그림으로 바로잡습니다.
시간: 약 2분
이렇게 말해 보세요
- “두 그림을 대칭축을 따라 접는다고 생각해 봐. 어느 그림이 완전히 겹칠까?”
- “토끼 그림에서 가장 왼쪽 점의 대응점은 대칭축에서 몇 칸 떨어져 있어야 해?”
예상 답
- “곰이요. 토끼 그림은 접으면 안 겹쳐요.”
정답
- 곰이 맞습니다. 대응점이 대칭축에서 같은 거리에 있어 접으면 완전히 겹칩니다.
- 토끼는 반쪽을 오른쪽으로 3칸 밀어 그렸습니다. 대칭축에서 3칸 떨어진 점의 대응점이 축 바로 옆에 와서 접으면 겹치지 않습니다.
막히면
- 얇은 종이를 토끼 그림 위에 대고 왼쪽 반쪽만 따라 그린 뒤 대칭축에서 접어 비교합니다.
주의
- ‘뒤집기’와 ‘밀기’의 차이입니다. 선대칭도형의 나머지 반쪽은 대칭축을 기준으로 뒤집은 모양입니다.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점대칭도형과 대칭의 중심의 뜻]
목적: 한 점을 중심으로 180° 돌렸을 때 처음 도형과 완전히 겹치는 도형을 점대칭도형, 그 점을 대칭의 중심이라고 한다는 것을 압니다.
시간: 약 3분
이렇게 말해 보세요
- “얇은 종이에 이 모양을 따라 그리고, 점 ㅇ을 연필 끝으로 누른 채 반 바퀴(180°) 돌려 볼까? 어떻게 돼?”
- “이렇게 한 점을 중심으로 180° 돌렸을 때 처음 도형과 완전히 겹치는 도형을 점대칭도형이라고 해. 점 ㅇ은 대칭의 중심이야.”
예상 답
- “돌리니까 처음 모양과 딱 겹쳐요.”
막히면
- 90°만 돌리면 겹치지 않고, 180°를 돌려야 겹친다는 것을 직접 비교하게 합니다.
주의
- 이 모양은 어느 직선으로 접어도 완전히 겹치지 않습니다. 점대칭도형이지만 선대칭도형은 아닙니다.
- 대칭의 중심은 점대칭도형에 하나뿐입니다.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점대칭도형의 성질과 완성하기]
목적: 점대칭도형에서 대응점을 이은 선분이 대칭의 중심을 지나고 대칭의 중심에서 대응점까지의 거리가 같다는 성질로 나머지 반쪽을 그리는 방법을 보여 줍니다.
시간: 약 3분
이렇게 말해 보세요
- “점 ㄱ에서 점 ㅇ까지 오른쪽으로 몇 칸, 아래로 몇 칸 갔어?”
- “ㅇ에서 또 오른쪽으로 3칸, 아래로 2칸 가면 어디야? 거기가 점 ㄱ의 대응점이야.”
예상 답
- “오른쪽으로 3칸, 아래로 2칸이요.” “맨 오른쪽 아래 점이에요.”
막히면
- 자를 점 ㄱ과 점 ㅇ에 대고 선을 그은 뒤, 같은 길이만큼 더 늘여 점을 찍게 합니다.
주의
- 주황 선이 완성한 반쪽입니다. 선분 ㄱㅇ과 ㅇ에서 대응점까지의 길이가 같다는 표시(짧은 선)를 함께 봅니다.
- 선대칭과 달리 위아래도 바뀝니다. ‘같은 방향으로 계속 간다’가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비교(평행사변형은 선대칭도형)]
목적: 평행사변형이 선대칭도형이 아니라 점대칭도형임을 접기와 돌리기로 확인합니다(M3).
시간: 약 2분
이렇게 말해 보세요
- “종이에 평행사변형을 그려 오려 볼까? 대각선을 따라 접으면 완전히 겹쳐?”
- “두 대각선이 만나는 점을 누르고 180° 돌리면?”
예상 답
- “곰이요. 접으면 삐져나와요.”
정답
- 곰이 맞습니다. 평행사변형은 두 대각선이 만나는 점을 중심으로 180° 돌리면 완전히 겹치는 점대칭도형입니다.
- 대각선을 따라 접으면 꼭짓점이 어긋나서 겹치지 않으므로 선대칭도형이 아닙니다(직사각형·마름모가 아닌 평행사변형).
막히면
- 대각선으로 접은 종이를 펼쳐 어긋난 부분을 손가락으로 가리키게 합니다.
주의
- 대각선으로 자르면 두 삼각형은 합동이지만, 접어서 겹치는 것과는 다릅니다. 한 삼각형을 돌려야 겹치기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해결(대응점 찾기)]
목적: 도움 없이 선대칭도형과 점대칭도형에서 대응점의 위치를 성질로 찾고, 방법을 설명하는지 확인합니다.
시간: 약 5분
이렇게 말해 보세요
- “이번에는 혼자 해 볼래? 칸을 세어 어떻게 찾았는지도 말해 줘.”
- “다 찾았으면 활동지 2, 3번에서 나머지 반쪽을 직접 그려 볼 거야.”
정답
- ① ㉡ (점 ㄱ은 대칭축에서 왼쪽으로 4칸이므로 같은 높이에서 오른쪽으로 4칸. ㉠은 1칸, ㉢은 높이가 다름)
- ② ㉤ (점 ㄴ에서 ㅇ까지 오른쪽 3칸·위 1칸이므로 ㅇ에서 다시 오른쪽 3칸·위 1칸)
- ③ 기준: ‘대칭축(대칭의 중심)까지의 거리와 같은 거리만큼 반대쪽(같은 방향)으로 갔다’는 내용이면 성공
막히면
- 바로 알려 주지 말고 “대칭축(점 ㅇ)까지 몇 칸이야?”라고만 묻습니다.
- 도움을 받아 해결했다면 기록표에 ‘도움’으로 표시합니다.
주의
- ①에서 ㉠을 고르면 반쪽을 밀어 그린 것과 같은 생각입니다(S07). ②에서 ㉣을 고르면 점대칭을 선대칭처럼 뒤집은 것입니다(M4).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칸 수를 다시 세어 보자.”
정답
- ① ㉡ ② ㉤ ③ 거리(칸 수)를 같게 했다는 설명
막히면
- ②가 어려우면 자로 점 ㄴ과 점 ㅇ을 이어 같은 길이만큼 늘여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확인(선대칭이면서 점대칭인 도형)]
목적: 처음 보는 도형에서 접기(대칭축)와 180° 돌리기(대칭의 중심)를 각각 따져 분류하는지 확인합니다.
시간: 약 3분
이렇게 말해 보세요
- “가부터 하나씩, 대칭축이 있는지, 180° 돌리면 겹치는지 말해 줄래?”
정답
- 가(마름모)와 다(정육각형)
- 가 마름모: 대칭축 2개, 두 대각선이 만나는 점이 대칭의 중심
- 나 이등변삼각형: 선대칭도형(대칭축 1개)이지만 점대칭도형은 아님
- 다 정육각형: 대칭축 6개, 가운데 점이 대칭의 중심
- 라 Z 모양: 점대칭도형이지만 선대칭도형은 아님
막히면
- 얇은 종이에 따라 그려 접어 보고 돌려 보게 합니다.
주의
- 두 가지를 모두 말하면 목표 A, B를 이룬 것입니다. 하나만 따지면 “다른 것도 확인해 볼까?”라고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“선대칭도형과 점대칭도형은 어떻게 다르지? 완성할 때 무엇을 같게 했어?”
예상 답
- “선대칭은 접어서, 점대칭은 180° 돌려서 겹쳐요.” “대칭축이나 중심까지 거리를 같게 했어요.”
정답
- ① 4개
- ② 수직으로 만나요(대칭축이 선분을 둘로 똑같이 나눔).
- ③ 8 cm (4 + 4)
막히면
- S04와 S09를 다시 보여 줍니다.
주의
- 오늘 오린 선대칭 작품을 공책에 붙이고 대칭축을 점선으로 그어 두면 좋습니다.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보충(합동과 대응점)]
목적: S02에서 합동과 대응변이 흔들리면, 뒤집어 놓인 합동인 두 삼각형으로 대응점과 대응변을 다시 확인합니다.
시간: 약 5분
이렇게 말해 보세요
- “오른쪽 삼각형은 왼쪽 삼각형을 뒤집은 거야. 같은 표시가 있는 변끼리, 같은 색의 각끼리 짝지어 볼까?”
- “얇은 종이에 왼쪽 삼각형을 따라 그려 뒤집어 대어 봐. 점 ㄱ은 어느 점과 겹쳐?”
정답
- 점 ㄱ–ㄹ, ㄴ–ㅁ, ㄷ–ㅂ이 대응점이고, 대응변의 길이와 대응각의 크기는 같습니다.
막히면
- 색종이 두 장을 겹쳐 삼각형을 오려 직접 포개어 봅니다.
주의
- 보충으로도 어려우면 계획의 앞 차시 ‘합동인 도형’을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선대칭과 점대칭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선대칭과 점대칭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선대칭과 점대칭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선대칭과 점대칭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접어서 겹치는 도형과 돌려서 겹치는 도형은 무엇이 다를까요?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점선을 따라 접으면 겹치는 화살표 모양과, 가운데 점을 중심으로 돌리면 겹치는 Z 모양"/>
          <p:cNvSpPr/>
          <p:nvPr/>
        </p:nvSpPr>
        <p:spPr>
          <a:xfrm>
            <a:off x="7764780" y="1350264"/>
            <a:ext cx="1505712" cy="1505712"/>
          </a:xfrm>
          <a:custGeom>
            <a:avLst/>
            <a:gdLst/>
            <a:ahLst/>
            <a:cxnLst/>
            <a:rect l="l" t="t" r="r" b="b"/>
            <a:pathLst>
              <a:path w="1505712" h="1505712">
                <a:moveTo>
                  <a:pt x="752856" y="0"/>
                </a:moveTo>
                <a:lnTo>
                  <a:pt x="1505712" y="752856"/>
                </a:lnTo>
                <a:lnTo>
                  <a:pt x="1129284" y="752856"/>
                </a:lnTo>
                <a:lnTo>
                  <a:pt x="1129284" y="1505712"/>
                </a:lnTo>
                <a:lnTo>
                  <a:pt x="376428" y="1505712"/>
                </a:lnTo>
                <a:lnTo>
                  <a:pt x="376428" y="752856"/>
                </a:lnTo>
                <a:lnTo>
                  <a:pt x="0" y="752856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023348" y="1601216"/>
            <a:ext cx="1505712" cy="1003808"/>
          </a:xfrm>
          <a:custGeom>
            <a:avLst/>
            <a:gdLst/>
            <a:ahLst/>
            <a:cxnLst/>
            <a:rect l="l" t="t" r="r" b="b"/>
            <a:pathLst>
              <a:path w="1505712" h="1003808">
                <a:moveTo>
                  <a:pt x="0" y="501904"/>
                </a:moveTo>
                <a:lnTo>
                  <a:pt x="0" y="0"/>
                </a:lnTo>
                <a:lnTo>
                  <a:pt x="1003808" y="0"/>
                </a:lnTo>
                <a:lnTo>
                  <a:pt x="1003808" y="501904"/>
                </a:lnTo>
                <a:lnTo>
                  <a:pt x="1505712" y="501904"/>
                </a:lnTo>
                <a:lnTo>
                  <a:pt x="1505712" y="1003808"/>
                </a:lnTo>
                <a:lnTo>
                  <a:pt x="501904" y="1003808"/>
                </a:lnTo>
                <a:lnTo>
                  <a:pt x="501904" y="501904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517636" y="1149502"/>
            <a:ext cx="0" cy="1907235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>
            <a:off x="10716768" y="20436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선대칭도형을 알고 완성해요.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점대칭도형을 알고 완성해요.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mark8"/>
          <p:cNvSpPr/>
          <p:nvPr/>
        </p:nvSpPr>
        <p:spPr>
          <a:xfrm>
            <a:off x="7081876" y="3302660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0" y="1407719"/>
                </a:moveTo>
                <a:lnTo>
                  <a:pt x="469240" y="1407719"/>
                </a:lnTo>
                <a:lnTo>
                  <a:pt x="469240" y="469240"/>
                </a:lnTo>
                <a:lnTo>
                  <a:pt x="1407719" y="469240"/>
                </a:lnTo>
                <a:lnTo>
                  <a:pt x="140771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2-mark9"/>
          <p:cNvSpPr/>
          <p:nvPr/>
        </p:nvSpPr>
        <p:spPr>
          <a:xfrm>
            <a:off x="9428074" y="2833421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1407719" y="0"/>
                </a:moveTo>
                <a:lnTo>
                  <a:pt x="938479" y="0"/>
                </a:lnTo>
                <a:lnTo>
                  <a:pt x="938479" y="938479"/>
                </a:lnTo>
                <a:lnTo>
                  <a:pt x="0" y="938479"/>
                </a:lnTo>
                <a:lnTo>
                  <a:pt x="0" y="1407719"/>
                </a:lnTo>
                <a:lnTo>
                  <a:pt x="1407719" y="1407719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2-mark10"/>
          <p:cNvSpPr/>
          <p:nvPr/>
        </p:nvSpPr>
        <p:spPr>
          <a:xfrm flipV="1">
            <a:off x="6612636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11"/>
          <p:cNvSpPr/>
          <p:nvPr/>
        </p:nvSpPr>
        <p:spPr>
          <a:xfrm flipV="1">
            <a:off x="7081876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12"/>
          <p:cNvSpPr/>
          <p:nvPr/>
        </p:nvSpPr>
        <p:spPr>
          <a:xfrm flipV="1">
            <a:off x="7551115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13"/>
          <p:cNvSpPr/>
          <p:nvPr/>
        </p:nvSpPr>
        <p:spPr>
          <a:xfrm flipV="1">
            <a:off x="8020355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14"/>
          <p:cNvSpPr/>
          <p:nvPr/>
        </p:nvSpPr>
        <p:spPr>
          <a:xfrm flipV="1">
            <a:off x="8489594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5"/>
          <p:cNvSpPr/>
          <p:nvPr/>
        </p:nvSpPr>
        <p:spPr>
          <a:xfrm flipV="1">
            <a:off x="8958834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6"/>
          <p:cNvSpPr/>
          <p:nvPr/>
        </p:nvSpPr>
        <p:spPr>
          <a:xfrm flipV="1">
            <a:off x="9428074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7"/>
          <p:cNvSpPr/>
          <p:nvPr/>
        </p:nvSpPr>
        <p:spPr>
          <a:xfrm flipV="1">
            <a:off x="9897313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8"/>
          <p:cNvSpPr/>
          <p:nvPr/>
        </p:nvSpPr>
        <p:spPr>
          <a:xfrm flipV="1">
            <a:off x="10366553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9"/>
          <p:cNvSpPr/>
          <p:nvPr/>
        </p:nvSpPr>
        <p:spPr>
          <a:xfrm flipV="1">
            <a:off x="10835792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20"/>
          <p:cNvSpPr/>
          <p:nvPr/>
        </p:nvSpPr>
        <p:spPr>
          <a:xfrm flipV="1">
            <a:off x="11305032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21"/>
          <p:cNvSpPr/>
          <p:nvPr/>
        </p:nvSpPr>
        <p:spPr>
          <a:xfrm>
            <a:off x="6612636" y="5179619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22"/>
          <p:cNvSpPr/>
          <p:nvPr/>
        </p:nvSpPr>
        <p:spPr>
          <a:xfrm>
            <a:off x="6612636" y="4710379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23"/>
          <p:cNvSpPr/>
          <p:nvPr/>
        </p:nvSpPr>
        <p:spPr>
          <a:xfrm>
            <a:off x="6612636" y="4241140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24"/>
          <p:cNvSpPr/>
          <p:nvPr/>
        </p:nvSpPr>
        <p:spPr>
          <a:xfrm>
            <a:off x="6612636" y="3771900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5"/>
          <p:cNvSpPr/>
          <p:nvPr/>
        </p:nvSpPr>
        <p:spPr>
          <a:xfrm>
            <a:off x="6612636" y="3302660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6"/>
          <p:cNvSpPr/>
          <p:nvPr/>
        </p:nvSpPr>
        <p:spPr>
          <a:xfrm>
            <a:off x="6612636" y="2833421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27"/>
          <p:cNvSpPr/>
          <p:nvPr/>
        </p:nvSpPr>
        <p:spPr>
          <a:xfrm>
            <a:off x="6612636" y="2364181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figure28" descr="모눈 위의 ㄱ자를 뒤집은 모양 ㉮와, 점 ㅇ을 중심으로 180° 돌린 모양 ㉯"/>
          <p:cNvSpPr/>
          <p:nvPr/>
        </p:nvSpPr>
        <p:spPr>
          <a:xfrm>
            <a:off x="7081876" y="3302660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0" y="1407719"/>
                </a:moveTo>
                <a:lnTo>
                  <a:pt x="469240" y="1407719"/>
                </a:lnTo>
                <a:lnTo>
                  <a:pt x="469240" y="469240"/>
                </a:lnTo>
                <a:lnTo>
                  <a:pt x="1407719" y="469240"/>
                </a:lnTo>
                <a:lnTo>
                  <a:pt x="140771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2-mark29"/>
          <p:cNvSpPr/>
          <p:nvPr/>
        </p:nvSpPr>
        <p:spPr>
          <a:xfrm>
            <a:off x="9428074" y="2833421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1407719" y="0"/>
                </a:moveTo>
                <a:lnTo>
                  <a:pt x="938479" y="0"/>
                </a:lnTo>
                <a:lnTo>
                  <a:pt x="938479" y="938479"/>
                </a:lnTo>
                <a:lnTo>
                  <a:pt x="0" y="938479"/>
                </a:lnTo>
                <a:lnTo>
                  <a:pt x="0" y="1407719"/>
                </a:lnTo>
                <a:lnTo>
                  <a:pt x="1407719" y="1407719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2-mark30"/>
          <p:cNvSpPr/>
          <p:nvPr/>
        </p:nvSpPr>
        <p:spPr>
          <a:xfrm>
            <a:off x="8899398" y="37124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label32"/>
          <p:cNvSpPr txBox="1"/>
          <p:nvPr/>
        </p:nvSpPr>
        <p:spPr>
          <a:xfrm>
            <a:off x="8717280" y="375729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27" name="S02-label34"/>
          <p:cNvSpPr txBox="1"/>
          <p:nvPr/>
        </p:nvSpPr>
        <p:spPr>
          <a:xfrm>
            <a:off x="7593965" y="279956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㉮</a:t>
            </a:r>
            <a:endParaRPr lang="ko-KR" sz="2200" dirty="0"/>
          </a:p>
        </p:txBody>
      </p:sp>
      <p:sp>
        <p:nvSpPr>
          <p:cNvPr id="28" name="S02-label36"/>
          <p:cNvSpPr txBox="1"/>
          <p:nvPr/>
        </p:nvSpPr>
        <p:spPr>
          <a:xfrm>
            <a:off x="9940163" y="233032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</a:t>
            </a:r>
            <a:endParaRPr lang="ko-KR" sz="2200" dirty="0"/>
          </a:p>
        </p:txBody>
      </p:sp>
      <p:sp>
        <p:nvSpPr>
          <p:cNvPr id="29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0" name="S02-text3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두 도형에서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대응변의 길이는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어떤가요?</a:t>
            </a:r>
            <a:endParaRPr lang="ko-KR" sz="2800" dirty="0"/>
          </a:p>
        </p:txBody>
      </p:sp>
      <p:sp>
        <p:nvSpPr>
          <p:cNvPr id="31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2" name="S02-text4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㉯는 ㉮를 점 ㅇ을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중심으로 몇 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모양인가요?</a:t>
            </a:r>
            <a:endParaRPr lang="ko-KR" sz="2800" dirty="0"/>
          </a:p>
        </p:txBody>
      </p:sp>
      <p:sp>
        <p:nvSpPr>
          <p:cNvPr id="33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4" name="S02-text4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직선이 직각으로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만나면 두 직선은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어떤 관계?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</a:t>
            </a:r>
            <a:endParaRPr lang="ko-KR" sz="4000" dirty="0"/>
          </a:p>
        </p:txBody>
      </p:sp>
      <p:sp>
        <p:nvSpPr>
          <p:cNvPr id="3" name="S03-figure43" descr="화살표 모양 선대칭도형과, 가운데를 세로로 지나는 점선 대칭축"/>
          <p:cNvSpPr/>
          <p:nvPr/>
        </p:nvSpPr>
        <p:spPr>
          <a:xfrm>
            <a:off x="1365223" y="1907005"/>
            <a:ext cx="3729789" cy="3729789"/>
          </a:xfrm>
          <a:custGeom>
            <a:avLst/>
            <a:gdLst/>
            <a:ahLst/>
            <a:cxnLst/>
            <a:rect l="l" t="t" r="r" b="b"/>
            <a:pathLst>
              <a:path w="3729789" h="3729789">
                <a:moveTo>
                  <a:pt x="1864895" y="0"/>
                </a:moveTo>
                <a:lnTo>
                  <a:pt x="3729789" y="1864895"/>
                </a:lnTo>
                <a:lnTo>
                  <a:pt x="2797342" y="1864895"/>
                </a:lnTo>
                <a:lnTo>
                  <a:pt x="2797342" y="3729789"/>
                </a:lnTo>
                <a:lnTo>
                  <a:pt x="932447" y="3729789"/>
                </a:lnTo>
                <a:lnTo>
                  <a:pt x="932447" y="1864895"/>
                </a:lnTo>
                <a:lnTo>
                  <a:pt x="0" y="1864895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44"/>
          <p:cNvSpPr/>
          <p:nvPr/>
        </p:nvSpPr>
        <p:spPr>
          <a:xfrm flipV="1">
            <a:off x="3230118" y="1409700"/>
            <a:ext cx="0" cy="47244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" name="S03-label46"/>
          <p:cNvSpPr txBox="1"/>
          <p:nvPr/>
        </p:nvSpPr>
        <p:spPr>
          <a:xfrm>
            <a:off x="3759147" y="1421564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</a:t>
            </a:r>
            <a:endParaRPr lang="ko-KR" sz="2200" dirty="0"/>
          </a:p>
        </p:txBody>
      </p:sp>
      <p:sp>
        <p:nvSpPr>
          <p:cNvPr id="6" name="S03-card47"/>
          <p:cNvSpPr/>
          <p:nvPr/>
        </p:nvSpPr>
        <p:spPr>
          <a:xfrm>
            <a:off x="6277356" y="230708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48"/>
          <p:cNvSpPr txBox="1"/>
          <p:nvPr/>
        </p:nvSpPr>
        <p:spPr>
          <a:xfrm>
            <a:off x="6551676" y="244424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직선을 따라 접었을 때 완전히 겹치는 도형</a:t>
            </a:r>
            <a:endParaRPr lang="ko-KR" sz="2800" dirty="0"/>
          </a:p>
        </p:txBody>
      </p:sp>
      <p:sp>
        <p:nvSpPr>
          <p:cNvPr id="8" name="S03-card49"/>
          <p:cNvSpPr/>
          <p:nvPr/>
        </p:nvSpPr>
        <p:spPr>
          <a:xfrm>
            <a:off x="6277356" y="405663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50"/>
          <p:cNvSpPr txBox="1"/>
          <p:nvPr/>
        </p:nvSpPr>
        <p:spPr>
          <a:xfrm>
            <a:off x="6551676" y="419379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직선이에요. 점선으로 그려요.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선대칭도형의 성질</a:t>
            </a:r>
            <a:endParaRPr lang="ko-KR" sz="4000" dirty="0"/>
          </a:p>
        </p:txBody>
      </p:sp>
      <p:sp>
        <p:nvSpPr>
          <p:cNvPr id="3" name="S04-figure51" descr="대칭축이 세로 점선인 오각형 ㄱㄴㄷㄹㅁ. 변 ㄱㄴ과 ㄱㅁ, 변 ㄴㄷ과 ㅁㄹ에 같은 길이 표시, 각 ㄷ과 각 ㄹ에 같은 색, 점 ㄴ과 점 ㅁ을 이은 점선이 대칭축과 점 ㅅ에서 직각으로 만나고 ㄴㅅ과 ㅅㅁ이 3 cm로 같음"/>
          <p:cNvSpPr/>
          <p:nvPr/>
        </p:nvSpPr>
        <p:spPr>
          <a:xfrm>
            <a:off x="1447038" y="2286000"/>
            <a:ext cx="3566160" cy="2971800"/>
          </a:xfrm>
          <a:custGeom>
            <a:avLst/>
            <a:gdLst/>
            <a:ahLst/>
            <a:cxnLst/>
            <a:rect l="l" t="t" r="r" b="b"/>
            <a:pathLst>
              <a:path w="3566160" h="2971800">
                <a:moveTo>
                  <a:pt x="1783080" y="0"/>
                </a:moveTo>
                <a:lnTo>
                  <a:pt x="0" y="1188720"/>
                </a:lnTo>
                <a:lnTo>
                  <a:pt x="594360" y="2971800"/>
                </a:lnTo>
                <a:lnTo>
                  <a:pt x="2971800" y="2971800"/>
                </a:lnTo>
                <a:lnTo>
                  <a:pt x="3566160" y="118872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4-mark52"/>
          <p:cNvSpPr/>
          <p:nvPr/>
        </p:nvSpPr>
        <p:spPr>
          <a:xfrm>
            <a:off x="1926538" y="4894587"/>
            <a:ext cx="478080" cy="363213"/>
          </a:xfrm>
          <a:custGeom>
            <a:avLst/>
            <a:gdLst/>
            <a:ahLst/>
            <a:cxnLst/>
            <a:rect l="l" t="t" r="r" b="b"/>
            <a:pathLst>
              <a:path w="478080" h="363213">
                <a:moveTo>
                  <a:pt x="114860" y="363213"/>
                </a:moveTo>
                <a:lnTo>
                  <a:pt x="478080" y="363213"/>
                </a:lnTo>
                <a:lnTo>
                  <a:pt x="476952" y="334600"/>
                </a:lnTo>
                <a:lnTo>
                  <a:pt x="473572" y="306166"/>
                </a:lnTo>
                <a:lnTo>
                  <a:pt x="467964" y="278086"/>
                </a:lnTo>
                <a:lnTo>
                  <a:pt x="460161" y="250535"/>
                </a:lnTo>
                <a:lnTo>
                  <a:pt x="450212" y="223684"/>
                </a:lnTo>
                <a:lnTo>
                  <a:pt x="438178" y="197700"/>
                </a:lnTo>
                <a:lnTo>
                  <a:pt x="424135" y="172746"/>
                </a:lnTo>
                <a:lnTo>
                  <a:pt x="408170" y="148974"/>
                </a:lnTo>
                <a:lnTo>
                  <a:pt x="390382" y="126535"/>
                </a:lnTo>
                <a:lnTo>
                  <a:pt x="370882" y="105566"/>
                </a:lnTo>
                <a:lnTo>
                  <a:pt x="349790" y="86199"/>
                </a:lnTo>
                <a:lnTo>
                  <a:pt x="327239" y="68553"/>
                </a:lnTo>
                <a:lnTo>
                  <a:pt x="303367" y="52739"/>
                </a:lnTo>
                <a:lnTo>
                  <a:pt x="278324" y="38854"/>
                </a:lnTo>
                <a:lnTo>
                  <a:pt x="252265" y="26986"/>
                </a:lnTo>
                <a:lnTo>
                  <a:pt x="225352" y="17206"/>
                </a:lnTo>
                <a:lnTo>
                  <a:pt x="197752" y="9578"/>
                </a:lnTo>
                <a:lnTo>
                  <a:pt x="169637" y="4147"/>
                </a:lnTo>
                <a:lnTo>
                  <a:pt x="141182" y="948"/>
                </a:lnTo>
                <a:lnTo>
                  <a:pt x="112563" y="0"/>
                </a:lnTo>
                <a:lnTo>
                  <a:pt x="83958" y="1310"/>
                </a:lnTo>
                <a:lnTo>
                  <a:pt x="55545" y="4869"/>
                </a:lnTo>
                <a:lnTo>
                  <a:pt x="27501" y="10655"/>
                </a:lnTo>
                <a:lnTo>
                  <a:pt x="0" y="1863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4-mark53"/>
          <p:cNvSpPr/>
          <p:nvPr/>
        </p:nvSpPr>
        <p:spPr>
          <a:xfrm>
            <a:off x="4055618" y="4894587"/>
            <a:ext cx="478080" cy="363213"/>
          </a:xfrm>
          <a:custGeom>
            <a:avLst/>
            <a:gdLst/>
            <a:ahLst/>
            <a:cxnLst/>
            <a:rect l="l" t="t" r="r" b="b"/>
            <a:pathLst>
              <a:path w="478080" h="363213">
                <a:moveTo>
                  <a:pt x="363220" y="363213"/>
                </a:moveTo>
                <a:lnTo>
                  <a:pt x="478080" y="18632"/>
                </a:lnTo>
                <a:lnTo>
                  <a:pt x="450579" y="10655"/>
                </a:lnTo>
                <a:lnTo>
                  <a:pt x="422535" y="4869"/>
                </a:lnTo>
                <a:lnTo>
                  <a:pt x="394122" y="1310"/>
                </a:lnTo>
                <a:lnTo>
                  <a:pt x="365518" y="0"/>
                </a:lnTo>
                <a:lnTo>
                  <a:pt x="336899" y="948"/>
                </a:lnTo>
                <a:lnTo>
                  <a:pt x="308443" y="4147"/>
                </a:lnTo>
                <a:lnTo>
                  <a:pt x="280328" y="9578"/>
                </a:lnTo>
                <a:lnTo>
                  <a:pt x="252729" y="17206"/>
                </a:lnTo>
                <a:lnTo>
                  <a:pt x="225815" y="26986"/>
                </a:lnTo>
                <a:lnTo>
                  <a:pt x="199756" y="38854"/>
                </a:lnTo>
                <a:lnTo>
                  <a:pt x="174713" y="52739"/>
                </a:lnTo>
                <a:lnTo>
                  <a:pt x="150842" y="68553"/>
                </a:lnTo>
                <a:lnTo>
                  <a:pt x="128290" y="86199"/>
                </a:lnTo>
                <a:lnTo>
                  <a:pt x="107198" y="105566"/>
                </a:lnTo>
                <a:lnTo>
                  <a:pt x="87698" y="126535"/>
                </a:lnTo>
                <a:lnTo>
                  <a:pt x="69910" y="148974"/>
                </a:lnTo>
                <a:lnTo>
                  <a:pt x="53945" y="172746"/>
                </a:lnTo>
                <a:lnTo>
                  <a:pt x="39902" y="197700"/>
                </a:lnTo>
                <a:lnTo>
                  <a:pt x="27869" y="223684"/>
                </a:lnTo>
                <a:lnTo>
                  <a:pt x="17920" y="250535"/>
                </a:lnTo>
                <a:lnTo>
                  <a:pt x="10116" y="278086"/>
                </a:lnTo>
                <a:lnTo>
                  <a:pt x="4508" y="306166"/>
                </a:lnTo>
                <a:lnTo>
                  <a:pt x="1129" y="334600"/>
                </a:lnTo>
                <a:lnTo>
                  <a:pt x="0" y="363213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04-mark54"/>
          <p:cNvSpPr/>
          <p:nvPr/>
        </p:nvSpPr>
        <p:spPr>
          <a:xfrm>
            <a:off x="3230118" y="326517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4-mark55"/>
          <p:cNvSpPr/>
          <p:nvPr/>
        </p:nvSpPr>
        <p:spPr>
          <a:xfrm flipV="1">
            <a:off x="3230118" y="1691640"/>
            <a:ext cx="0" cy="416052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4-mark56"/>
          <p:cNvSpPr/>
          <p:nvPr/>
        </p:nvSpPr>
        <p:spPr>
          <a:xfrm>
            <a:off x="1447038" y="3474720"/>
            <a:ext cx="1783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57"/>
          <p:cNvSpPr/>
          <p:nvPr/>
        </p:nvSpPr>
        <p:spPr>
          <a:xfrm>
            <a:off x="3230118" y="3474720"/>
            <a:ext cx="1783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58"/>
          <p:cNvSpPr/>
          <p:nvPr/>
        </p:nvSpPr>
        <p:spPr>
          <a:xfrm>
            <a:off x="2324630" y="2788920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mark59"/>
          <p:cNvSpPr/>
          <p:nvPr/>
        </p:nvSpPr>
        <p:spPr>
          <a:xfrm>
            <a:off x="2259537" y="2832315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mark60"/>
          <p:cNvSpPr/>
          <p:nvPr/>
        </p:nvSpPr>
        <p:spPr>
          <a:xfrm flipV="1">
            <a:off x="1664699" y="4339754"/>
            <a:ext cx="159037" cy="530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mark61"/>
          <p:cNvSpPr/>
          <p:nvPr/>
        </p:nvSpPr>
        <p:spPr>
          <a:xfrm flipH="1" flipV="1">
            <a:off x="4636499" y="4339754"/>
            <a:ext cx="159037" cy="530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mark62"/>
          <p:cNvSpPr/>
          <p:nvPr/>
        </p:nvSpPr>
        <p:spPr>
          <a:xfrm flipH="1">
            <a:off x="4107710" y="2832315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63"/>
          <p:cNvSpPr/>
          <p:nvPr/>
        </p:nvSpPr>
        <p:spPr>
          <a:xfrm flipH="1">
            <a:off x="4042617" y="2788920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5"/>
          <p:cNvSpPr txBox="1"/>
          <p:nvPr/>
        </p:nvSpPr>
        <p:spPr>
          <a:xfrm>
            <a:off x="1956816" y="35515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7" name="S04-label67"/>
          <p:cNvSpPr txBox="1"/>
          <p:nvPr/>
        </p:nvSpPr>
        <p:spPr>
          <a:xfrm>
            <a:off x="3739896" y="35515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8" name="S04-label69"/>
          <p:cNvSpPr txBox="1"/>
          <p:nvPr/>
        </p:nvSpPr>
        <p:spPr>
          <a:xfrm>
            <a:off x="3146617" y="1889822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9" name="S04-label71"/>
          <p:cNvSpPr txBox="1"/>
          <p:nvPr/>
        </p:nvSpPr>
        <p:spPr>
          <a:xfrm>
            <a:off x="985631" y="319627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20" name="S04-label73"/>
          <p:cNvSpPr txBox="1"/>
          <p:nvPr/>
        </p:nvSpPr>
        <p:spPr>
          <a:xfrm>
            <a:off x="1669150" y="520100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21" name="S04-label75"/>
          <p:cNvSpPr txBox="1"/>
          <p:nvPr/>
        </p:nvSpPr>
        <p:spPr>
          <a:xfrm>
            <a:off x="4307978" y="520100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2" name="S04-label77"/>
          <p:cNvSpPr txBox="1"/>
          <p:nvPr/>
        </p:nvSpPr>
        <p:spPr>
          <a:xfrm>
            <a:off x="4991497" y="319627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3" name="S04-label79"/>
          <p:cNvSpPr txBox="1"/>
          <p:nvPr/>
        </p:nvSpPr>
        <p:spPr>
          <a:xfrm>
            <a:off x="2830511" y="3078542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3000" dirty="0"/>
          </a:p>
        </p:txBody>
      </p:sp>
      <p:sp>
        <p:nvSpPr>
          <p:cNvPr id="24" name="S04-card80"/>
          <p:cNvSpPr/>
          <p:nvPr/>
        </p:nvSpPr>
        <p:spPr>
          <a:xfrm>
            <a:off x="6277356" y="23070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81"/>
          <p:cNvSpPr txBox="1"/>
          <p:nvPr/>
        </p:nvSpPr>
        <p:spPr>
          <a:xfrm>
            <a:off x="6551676" y="24442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대응변·대응각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크기가 각각 같아요.</a:t>
            </a:r>
            <a:endParaRPr lang="ko-KR" sz="2800" dirty="0"/>
          </a:p>
        </p:txBody>
      </p:sp>
      <p:sp>
        <p:nvSpPr>
          <p:cNvPr id="26" name="S04-card82"/>
          <p:cNvSpPr/>
          <p:nvPr/>
        </p:nvSpPr>
        <p:spPr>
          <a:xfrm>
            <a:off x="6277356" y="37157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83"/>
          <p:cNvSpPr txBox="1"/>
          <p:nvPr/>
        </p:nvSpPr>
        <p:spPr>
          <a:xfrm>
            <a:off x="6551676" y="38529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대응점을 이은 선분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대칭축과 수직으로 만나고, 둘로 똑같이 나뉘어요.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대칭축은 몇 개일까요?</a:t>
            </a:r>
            <a:endParaRPr lang="ko-KR" sz="4000" dirty="0"/>
          </a:p>
        </p:txBody>
      </p:sp>
      <p:sp>
        <p:nvSpPr>
          <p:cNvPr id="3" name="S0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종이로 오려 여러 방향으로 접어 보며 세어요.</a:t>
            </a:r>
            <a:endParaRPr lang="ko-KR" sz="2800" dirty="0"/>
          </a:p>
        </p:txBody>
      </p:sp>
      <p:sp>
        <p:nvSpPr>
          <p:cNvPr id="5" name="S05-figure86" descr="정사각형"/>
          <p:cNvSpPr/>
          <p:nvPr/>
        </p:nvSpPr>
        <p:spPr>
          <a:xfrm>
            <a:off x="1129284" y="2312289"/>
            <a:ext cx="1371600" cy="1371600"/>
          </a:xfrm>
          <a:custGeom>
            <a:avLst/>
            <a:gdLst/>
            <a:ahLst/>
            <a:cxnLst/>
            <a:rect l="l" t="t" r="r" b="b"/>
            <a:pathLst>
              <a:path w="1371600" h="1371600">
                <a:moveTo>
                  <a:pt x="0" y="1371600"/>
                </a:moveTo>
                <a:lnTo>
                  <a:pt x="1371600" y="1371600"/>
                </a:lnTo>
                <a:lnTo>
                  <a:pt x="137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label87"/>
          <p:cNvSpPr txBox="1"/>
          <p:nvPr/>
        </p:nvSpPr>
        <p:spPr>
          <a:xfrm>
            <a:off x="548640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정사각형</a:t>
            </a:r>
            <a:endParaRPr lang="ko-KR" sz="2200" dirty="0"/>
          </a:p>
        </p:txBody>
      </p:sp>
      <p:sp>
        <p:nvSpPr>
          <p:cNvPr id="7" name="S05-figure88" descr="정사각형이 아닌 직사각형"/>
          <p:cNvSpPr/>
          <p:nvPr/>
        </p:nvSpPr>
        <p:spPr>
          <a:xfrm>
            <a:off x="3639312" y="2426589"/>
            <a:ext cx="2057400" cy="1143000"/>
          </a:xfrm>
          <a:custGeom>
            <a:avLst/>
            <a:gdLst/>
            <a:ahLst/>
            <a:cxnLst/>
            <a:rect l="l" t="t" r="r" b="b"/>
            <a:pathLst>
              <a:path w="2057400" h="1143000">
                <a:moveTo>
                  <a:pt x="0" y="1143000"/>
                </a:moveTo>
                <a:lnTo>
                  <a:pt x="2057400" y="1143000"/>
                </a:lnTo>
                <a:lnTo>
                  <a:pt x="2057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label89"/>
          <p:cNvSpPr txBox="1"/>
          <p:nvPr/>
        </p:nvSpPr>
        <p:spPr>
          <a:xfrm>
            <a:off x="3401568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직사각형</a:t>
            </a:r>
            <a:endParaRPr lang="ko-KR" sz="2200" dirty="0"/>
          </a:p>
        </p:txBody>
      </p:sp>
      <p:sp>
        <p:nvSpPr>
          <p:cNvPr id="9" name="S05-figure90" descr="정삼각형"/>
          <p:cNvSpPr/>
          <p:nvPr/>
        </p:nvSpPr>
        <p:spPr>
          <a:xfrm>
            <a:off x="6720840" y="2305180"/>
            <a:ext cx="1600200" cy="1385819"/>
          </a:xfrm>
          <a:custGeom>
            <a:avLst/>
            <a:gdLst/>
            <a:ahLst/>
            <a:cxnLst/>
            <a:rect l="l" t="t" r="r" b="b"/>
            <a:pathLst>
              <a:path w="1600200" h="1385819">
                <a:moveTo>
                  <a:pt x="0" y="1385819"/>
                </a:moveTo>
                <a:lnTo>
                  <a:pt x="1600200" y="1385819"/>
                </a:lnTo>
                <a:lnTo>
                  <a:pt x="8001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label91"/>
          <p:cNvSpPr txBox="1"/>
          <p:nvPr/>
        </p:nvSpPr>
        <p:spPr>
          <a:xfrm>
            <a:off x="6254496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정삼각형</a:t>
            </a:r>
            <a:endParaRPr lang="ko-KR" sz="2200" dirty="0"/>
          </a:p>
        </p:txBody>
      </p:sp>
      <p:sp>
        <p:nvSpPr>
          <p:cNvPr id="11" name="S05-figure92" descr="직사각형도 마름모도 아닌 평행사변형"/>
          <p:cNvSpPr/>
          <p:nvPr/>
        </p:nvSpPr>
        <p:spPr>
          <a:xfrm>
            <a:off x="9345168" y="2540889"/>
            <a:ext cx="2057400" cy="914400"/>
          </a:xfrm>
          <a:custGeom>
            <a:avLst/>
            <a:gdLst/>
            <a:ahLst/>
            <a:cxnLst/>
            <a:rect l="l" t="t" r="r" b="b"/>
            <a:pathLst>
              <a:path w="2057400" h="914400">
                <a:moveTo>
                  <a:pt x="0" y="914400"/>
                </a:moveTo>
                <a:lnTo>
                  <a:pt x="1371600" y="914400"/>
                </a:lnTo>
                <a:lnTo>
                  <a:pt x="2057400" y="0"/>
                </a:lnTo>
                <a:lnTo>
                  <a:pt x="6858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5-label93"/>
          <p:cNvSpPr txBox="1"/>
          <p:nvPr/>
        </p:nvSpPr>
        <p:spPr>
          <a:xfrm>
            <a:off x="9107424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평행사변형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 완성하기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대응점은 대칭축에서 같은 거리에, 같은 높이에 있어요.</a:t>
            </a:r>
            <a:endParaRPr lang="ko-KR" sz="2800" dirty="0"/>
          </a:p>
        </p:txBody>
      </p:sp>
      <p:sp>
        <p:nvSpPr>
          <p:cNvPr id="5" name="S06-mark96"/>
          <p:cNvSpPr/>
          <p:nvPr/>
        </p:nvSpPr>
        <p:spPr>
          <a:xfrm flipV="1">
            <a:off x="7310445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6-mark97"/>
          <p:cNvSpPr/>
          <p:nvPr/>
        </p:nvSpPr>
        <p:spPr>
          <a:xfrm flipV="1">
            <a:off x="7749357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6-mark98"/>
          <p:cNvSpPr/>
          <p:nvPr/>
        </p:nvSpPr>
        <p:spPr>
          <a:xfrm flipV="1">
            <a:off x="8188269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99"/>
          <p:cNvSpPr/>
          <p:nvPr/>
        </p:nvSpPr>
        <p:spPr>
          <a:xfrm flipV="1">
            <a:off x="8627181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100"/>
          <p:cNvSpPr/>
          <p:nvPr/>
        </p:nvSpPr>
        <p:spPr>
          <a:xfrm flipV="1">
            <a:off x="9066093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01"/>
          <p:cNvSpPr/>
          <p:nvPr/>
        </p:nvSpPr>
        <p:spPr>
          <a:xfrm flipV="1">
            <a:off x="9505005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02"/>
          <p:cNvSpPr/>
          <p:nvPr/>
        </p:nvSpPr>
        <p:spPr>
          <a:xfrm flipV="1">
            <a:off x="9943917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03"/>
          <p:cNvSpPr/>
          <p:nvPr/>
        </p:nvSpPr>
        <p:spPr>
          <a:xfrm flipV="1">
            <a:off x="10382829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04"/>
          <p:cNvSpPr/>
          <p:nvPr/>
        </p:nvSpPr>
        <p:spPr>
          <a:xfrm flipV="1">
            <a:off x="10821741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05"/>
          <p:cNvSpPr/>
          <p:nvPr/>
        </p:nvSpPr>
        <p:spPr>
          <a:xfrm>
            <a:off x="7310445" y="4759452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06"/>
          <p:cNvSpPr/>
          <p:nvPr/>
        </p:nvSpPr>
        <p:spPr>
          <a:xfrm>
            <a:off x="7310445" y="4320540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107"/>
          <p:cNvSpPr/>
          <p:nvPr/>
        </p:nvSpPr>
        <p:spPr>
          <a:xfrm>
            <a:off x="7310445" y="3881628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108"/>
          <p:cNvSpPr/>
          <p:nvPr/>
        </p:nvSpPr>
        <p:spPr>
          <a:xfrm>
            <a:off x="7310445" y="3442716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109"/>
          <p:cNvSpPr/>
          <p:nvPr/>
        </p:nvSpPr>
        <p:spPr>
          <a:xfrm>
            <a:off x="7310445" y="3003804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110"/>
          <p:cNvSpPr/>
          <p:nvPr/>
        </p:nvSpPr>
        <p:spPr>
          <a:xfrm>
            <a:off x="7310445" y="2564892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mark111"/>
          <p:cNvSpPr/>
          <p:nvPr/>
        </p:nvSpPr>
        <p:spPr>
          <a:xfrm>
            <a:off x="7310445" y="2125980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6-mark112"/>
          <p:cNvSpPr/>
          <p:nvPr/>
        </p:nvSpPr>
        <p:spPr>
          <a:xfrm>
            <a:off x="7310445" y="1687068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figure113" descr="모눈 위 세로 점선 대칭축 왼쪽에 그린 반쪽(검은 선)과, 축 오른쪽에 거울처럼 그린 반쪽(주황 선). 점 ㄷ은 축에서 왼쪽으로 3칸, 대응점은 오른쪽으로 3칸"/>
          <p:cNvSpPr/>
          <p:nvPr/>
        </p:nvSpPr>
        <p:spPr>
          <a:xfrm>
            <a:off x="7749357" y="2125980"/>
            <a:ext cx="1316736" cy="2194560"/>
          </a:xfrm>
          <a:custGeom>
            <a:avLst/>
            <a:gdLst/>
            <a:ahLst/>
            <a:cxnLst/>
            <a:rect l="l" t="t" r="r" b="b"/>
            <a:pathLst>
              <a:path w="1316736" h="2194560">
                <a:moveTo>
                  <a:pt x="1316736" y="0"/>
                </a:moveTo>
                <a:lnTo>
                  <a:pt x="438912" y="0"/>
                </a:lnTo>
                <a:lnTo>
                  <a:pt x="877824" y="877824"/>
                </a:lnTo>
                <a:lnTo>
                  <a:pt x="0" y="1755648"/>
                </a:lnTo>
                <a:lnTo>
                  <a:pt x="877824" y="2194560"/>
                </a:lnTo>
                <a:lnTo>
                  <a:pt x="1316736" y="219456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114"/>
          <p:cNvSpPr/>
          <p:nvPr/>
        </p:nvSpPr>
        <p:spPr>
          <a:xfrm>
            <a:off x="9066093" y="2125980"/>
            <a:ext cx="1316736" cy="2194560"/>
          </a:xfrm>
          <a:custGeom>
            <a:avLst/>
            <a:gdLst/>
            <a:ahLst/>
            <a:cxnLst/>
            <a:rect l="l" t="t" r="r" b="b"/>
            <a:pathLst>
              <a:path w="1316736" h="2194560">
                <a:moveTo>
                  <a:pt x="0" y="0"/>
                </a:moveTo>
                <a:lnTo>
                  <a:pt x="877824" y="0"/>
                </a:lnTo>
                <a:lnTo>
                  <a:pt x="438912" y="877824"/>
                </a:lnTo>
                <a:lnTo>
                  <a:pt x="1316736" y="1755648"/>
                </a:lnTo>
                <a:lnTo>
                  <a:pt x="438912" y="2194560"/>
                </a:lnTo>
                <a:lnTo>
                  <a:pt x="0" y="2194560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24" name="S06-mark115"/>
          <p:cNvSpPr/>
          <p:nvPr/>
        </p:nvSpPr>
        <p:spPr>
          <a:xfrm flipV="1">
            <a:off x="9066093" y="1687068"/>
            <a:ext cx="0" cy="307238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06-mark116"/>
          <p:cNvSpPr/>
          <p:nvPr/>
        </p:nvSpPr>
        <p:spPr>
          <a:xfrm>
            <a:off x="7749357" y="3881628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6" name="S06-mark117"/>
          <p:cNvSpPr/>
          <p:nvPr/>
        </p:nvSpPr>
        <p:spPr>
          <a:xfrm>
            <a:off x="9066093" y="3881628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7" name="S06-label119"/>
          <p:cNvSpPr txBox="1"/>
          <p:nvPr/>
        </p:nvSpPr>
        <p:spPr>
          <a:xfrm>
            <a:off x="8123753" y="34555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200" dirty="0"/>
          </a:p>
        </p:txBody>
      </p:sp>
      <p:sp>
        <p:nvSpPr>
          <p:cNvPr id="28" name="S06-label121"/>
          <p:cNvSpPr txBox="1"/>
          <p:nvPr/>
        </p:nvSpPr>
        <p:spPr>
          <a:xfrm>
            <a:off x="9440489" y="34555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200" dirty="0"/>
          </a:p>
        </p:txBody>
      </p:sp>
      <p:sp>
        <p:nvSpPr>
          <p:cNvPr id="29" name="S06-mark122"/>
          <p:cNvSpPr/>
          <p:nvPr/>
        </p:nvSpPr>
        <p:spPr>
          <a:xfrm>
            <a:off x="7689921" y="38221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mark123"/>
          <p:cNvSpPr/>
          <p:nvPr/>
        </p:nvSpPr>
        <p:spPr>
          <a:xfrm>
            <a:off x="10323393" y="38221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label125"/>
          <p:cNvSpPr txBox="1"/>
          <p:nvPr/>
        </p:nvSpPr>
        <p:spPr>
          <a:xfrm>
            <a:off x="7284283" y="3643503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32" name="S06-stepno126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3" name="S06-text127"/>
          <p:cNvSpPr txBox="1"/>
          <p:nvPr/>
        </p:nvSpPr>
        <p:spPr>
          <a:xfrm>
            <a:off x="1325880" y="1757172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ㄷ에서 대칭축까지 칸 수를 세어요.</a:t>
            </a:r>
            <a:endParaRPr lang="ko-KR" sz="2800" dirty="0"/>
          </a:p>
        </p:txBody>
      </p:sp>
      <p:sp>
        <p:nvSpPr>
          <p:cNvPr id="34" name="S06-stepno128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5" name="S06-text129"/>
          <p:cNvSpPr txBox="1"/>
          <p:nvPr/>
        </p:nvSpPr>
        <p:spPr>
          <a:xfrm>
            <a:off x="1325880" y="2789428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반대쪽으로 같은 칸 수만큼 가서 대응점을 찍어요.</a:t>
            </a:r>
            <a:endParaRPr lang="ko-KR" sz="2800" dirty="0"/>
          </a:p>
        </p:txBody>
      </p:sp>
      <p:sp>
        <p:nvSpPr>
          <p:cNvPr id="36" name="S06-stepno130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7" name="S06-text131"/>
          <p:cNvSpPr txBox="1"/>
          <p:nvPr/>
        </p:nvSpPr>
        <p:spPr>
          <a:xfrm>
            <a:off x="1325880" y="3821684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점도 찍고 차례로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그렸을까요?</a:t>
            </a:r>
            <a:endParaRPr lang="ko-KR" sz="4000" dirty="0"/>
          </a:p>
        </p:txBody>
      </p:sp>
      <p:sp>
        <p:nvSpPr>
          <p:cNvPr id="3" name="S07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점선을 따라 접으면 어느 그림이 완전히 겹칠까요?</a:t>
            </a:r>
            <a:endParaRPr lang="ko-KR" sz="2800" dirty="0"/>
          </a:p>
        </p:txBody>
      </p:sp>
      <p:sp>
        <p:nvSpPr>
          <p:cNvPr id="5" name="S07-mark134"/>
          <p:cNvSpPr/>
          <p:nvPr/>
        </p:nvSpPr>
        <p:spPr>
          <a:xfrm flipV="1">
            <a:off x="1426246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7-mark135"/>
          <p:cNvSpPr/>
          <p:nvPr/>
        </p:nvSpPr>
        <p:spPr>
          <a:xfrm flipV="1">
            <a:off x="1880072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136"/>
          <p:cNvSpPr/>
          <p:nvPr/>
        </p:nvSpPr>
        <p:spPr>
          <a:xfrm flipV="1">
            <a:off x="2333897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137"/>
          <p:cNvSpPr/>
          <p:nvPr/>
        </p:nvSpPr>
        <p:spPr>
          <a:xfrm flipV="1">
            <a:off x="2787723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138"/>
          <p:cNvSpPr/>
          <p:nvPr/>
        </p:nvSpPr>
        <p:spPr>
          <a:xfrm flipV="1">
            <a:off x="3241548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139"/>
          <p:cNvSpPr/>
          <p:nvPr/>
        </p:nvSpPr>
        <p:spPr>
          <a:xfrm flipV="1">
            <a:off x="3695373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140"/>
          <p:cNvSpPr/>
          <p:nvPr/>
        </p:nvSpPr>
        <p:spPr>
          <a:xfrm flipV="1">
            <a:off x="4149199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141"/>
          <p:cNvSpPr/>
          <p:nvPr/>
        </p:nvSpPr>
        <p:spPr>
          <a:xfrm flipV="1">
            <a:off x="4603024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142"/>
          <p:cNvSpPr/>
          <p:nvPr/>
        </p:nvSpPr>
        <p:spPr>
          <a:xfrm flipV="1">
            <a:off x="5056850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143"/>
          <p:cNvSpPr/>
          <p:nvPr/>
        </p:nvSpPr>
        <p:spPr>
          <a:xfrm>
            <a:off x="1426246" y="4586478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144"/>
          <p:cNvSpPr/>
          <p:nvPr/>
        </p:nvSpPr>
        <p:spPr>
          <a:xfrm>
            <a:off x="1426246" y="4132653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145"/>
          <p:cNvSpPr/>
          <p:nvPr/>
        </p:nvSpPr>
        <p:spPr>
          <a:xfrm>
            <a:off x="1426246" y="3678827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146"/>
          <p:cNvSpPr/>
          <p:nvPr/>
        </p:nvSpPr>
        <p:spPr>
          <a:xfrm>
            <a:off x="1426246" y="3225002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147"/>
          <p:cNvSpPr/>
          <p:nvPr/>
        </p:nvSpPr>
        <p:spPr>
          <a:xfrm>
            <a:off x="1426246" y="2771176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148"/>
          <p:cNvSpPr/>
          <p:nvPr/>
        </p:nvSpPr>
        <p:spPr>
          <a:xfrm>
            <a:off x="1426246" y="2317351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149"/>
          <p:cNvSpPr/>
          <p:nvPr/>
        </p:nvSpPr>
        <p:spPr>
          <a:xfrm>
            <a:off x="1426246" y="1863525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150"/>
          <p:cNvSpPr/>
          <p:nvPr/>
        </p:nvSpPr>
        <p:spPr>
          <a:xfrm>
            <a:off x="1426246" y="1409700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figure151" descr="토끼의 그림: 왼쪽 반쪽을 뒤집지 않고 오른쪽으로 3칸 밀어 그림"/>
          <p:cNvSpPr/>
          <p:nvPr/>
        </p:nvSpPr>
        <p:spPr>
          <a:xfrm>
            <a:off x="1880072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1361476" y="0"/>
                </a:moveTo>
                <a:lnTo>
                  <a:pt x="453825" y="0"/>
                </a:lnTo>
                <a:lnTo>
                  <a:pt x="907651" y="907651"/>
                </a:lnTo>
                <a:lnTo>
                  <a:pt x="0" y="1815302"/>
                </a:lnTo>
                <a:lnTo>
                  <a:pt x="907651" y="2269127"/>
                </a:lnTo>
                <a:lnTo>
                  <a:pt x="1361476" y="2269127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152"/>
          <p:cNvSpPr/>
          <p:nvPr/>
        </p:nvSpPr>
        <p:spPr>
          <a:xfrm>
            <a:off x="3241548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1361476" y="0"/>
                </a:moveTo>
                <a:lnTo>
                  <a:pt x="453825" y="0"/>
                </a:lnTo>
                <a:lnTo>
                  <a:pt x="907651" y="907651"/>
                </a:lnTo>
                <a:lnTo>
                  <a:pt x="0" y="1815302"/>
                </a:lnTo>
                <a:lnTo>
                  <a:pt x="907651" y="2269127"/>
                </a:lnTo>
                <a:lnTo>
                  <a:pt x="1361476" y="2269127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24" name="S07-mark153"/>
          <p:cNvSpPr/>
          <p:nvPr/>
        </p:nvSpPr>
        <p:spPr>
          <a:xfrm flipV="1">
            <a:off x="3241548" y="1409700"/>
            <a:ext cx="0" cy="31767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07-label154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똑같이 옮겨 그렸어요</a:t>
            </a:r>
            <a:endParaRPr lang="ko-KR" sz="2200" dirty="0"/>
          </a:p>
        </p:txBody>
      </p:sp>
      <p:sp>
        <p:nvSpPr>
          <p:cNvPr id="26" name="S07-mark155"/>
          <p:cNvSpPr/>
          <p:nvPr/>
        </p:nvSpPr>
        <p:spPr>
          <a:xfrm flipV="1">
            <a:off x="7132102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7-mark156"/>
          <p:cNvSpPr/>
          <p:nvPr/>
        </p:nvSpPr>
        <p:spPr>
          <a:xfrm flipV="1">
            <a:off x="7585928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7-mark157"/>
          <p:cNvSpPr/>
          <p:nvPr/>
        </p:nvSpPr>
        <p:spPr>
          <a:xfrm flipV="1">
            <a:off x="8039753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7-mark158"/>
          <p:cNvSpPr/>
          <p:nvPr/>
        </p:nvSpPr>
        <p:spPr>
          <a:xfrm flipV="1">
            <a:off x="8493579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7-mark159"/>
          <p:cNvSpPr/>
          <p:nvPr/>
        </p:nvSpPr>
        <p:spPr>
          <a:xfrm flipV="1">
            <a:off x="8947404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7-mark160"/>
          <p:cNvSpPr/>
          <p:nvPr/>
        </p:nvSpPr>
        <p:spPr>
          <a:xfrm flipV="1">
            <a:off x="9401229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7-mark161"/>
          <p:cNvSpPr/>
          <p:nvPr/>
        </p:nvSpPr>
        <p:spPr>
          <a:xfrm flipV="1">
            <a:off x="9855055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7-mark162"/>
          <p:cNvSpPr/>
          <p:nvPr/>
        </p:nvSpPr>
        <p:spPr>
          <a:xfrm flipV="1">
            <a:off x="10308880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7-mark163"/>
          <p:cNvSpPr/>
          <p:nvPr/>
        </p:nvSpPr>
        <p:spPr>
          <a:xfrm flipV="1">
            <a:off x="10762706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7-mark164"/>
          <p:cNvSpPr/>
          <p:nvPr/>
        </p:nvSpPr>
        <p:spPr>
          <a:xfrm>
            <a:off x="7132102" y="4586478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7-mark165"/>
          <p:cNvSpPr/>
          <p:nvPr/>
        </p:nvSpPr>
        <p:spPr>
          <a:xfrm>
            <a:off x="7132102" y="4132653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7-mark166"/>
          <p:cNvSpPr/>
          <p:nvPr/>
        </p:nvSpPr>
        <p:spPr>
          <a:xfrm>
            <a:off x="7132102" y="3678827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7-mark167"/>
          <p:cNvSpPr/>
          <p:nvPr/>
        </p:nvSpPr>
        <p:spPr>
          <a:xfrm>
            <a:off x="7132102" y="3225002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7-mark168"/>
          <p:cNvSpPr/>
          <p:nvPr/>
        </p:nvSpPr>
        <p:spPr>
          <a:xfrm>
            <a:off x="7132102" y="2771176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7-mark169"/>
          <p:cNvSpPr/>
          <p:nvPr/>
        </p:nvSpPr>
        <p:spPr>
          <a:xfrm>
            <a:off x="7132102" y="2317351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7-mark170"/>
          <p:cNvSpPr/>
          <p:nvPr/>
        </p:nvSpPr>
        <p:spPr>
          <a:xfrm>
            <a:off x="7132102" y="1863525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7-mark171"/>
          <p:cNvSpPr/>
          <p:nvPr/>
        </p:nvSpPr>
        <p:spPr>
          <a:xfrm>
            <a:off x="7132102" y="1409700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7-figure172" descr="곰의 그림: 왼쪽 반쪽을 대칭축을 기준으로 뒤집어 그림"/>
          <p:cNvSpPr/>
          <p:nvPr/>
        </p:nvSpPr>
        <p:spPr>
          <a:xfrm>
            <a:off x="7585928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1361476" y="0"/>
                </a:moveTo>
                <a:lnTo>
                  <a:pt x="453825" y="0"/>
                </a:lnTo>
                <a:lnTo>
                  <a:pt x="907651" y="907651"/>
                </a:lnTo>
                <a:lnTo>
                  <a:pt x="0" y="1815302"/>
                </a:lnTo>
                <a:lnTo>
                  <a:pt x="907651" y="2269127"/>
                </a:lnTo>
                <a:lnTo>
                  <a:pt x="1361476" y="2269127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4" name="S07-mark173"/>
          <p:cNvSpPr/>
          <p:nvPr/>
        </p:nvSpPr>
        <p:spPr>
          <a:xfrm>
            <a:off x="8947404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0" y="0"/>
                </a:moveTo>
                <a:lnTo>
                  <a:pt x="907651" y="0"/>
                </a:lnTo>
                <a:lnTo>
                  <a:pt x="453825" y="907651"/>
                </a:lnTo>
                <a:lnTo>
                  <a:pt x="1361476" y="1815302"/>
                </a:lnTo>
                <a:lnTo>
                  <a:pt x="453825" y="2269127"/>
                </a:lnTo>
                <a:lnTo>
                  <a:pt x="0" y="2269127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45" name="S07-mark174"/>
          <p:cNvSpPr/>
          <p:nvPr/>
        </p:nvSpPr>
        <p:spPr>
          <a:xfrm flipV="1">
            <a:off x="8947404" y="1409700"/>
            <a:ext cx="0" cy="31767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6" name="S07-label175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거울처럼 뒤집어 그렸어요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점대칭도형</a:t>
            </a:r>
            <a:endParaRPr lang="ko-KR" sz="4000" dirty="0"/>
          </a:p>
        </p:txBody>
      </p:sp>
      <p:sp>
        <p:nvSpPr>
          <p:cNvPr id="3" name="S08-figure176" descr="Z 모양 점대칭도형과 가운데의 대칭의 중심 점 ㅇ"/>
          <p:cNvSpPr/>
          <p:nvPr/>
        </p:nvSpPr>
        <p:spPr>
          <a:xfrm>
            <a:off x="1584198" y="2674620"/>
            <a:ext cx="3291840" cy="2194560"/>
          </a:xfrm>
          <a:custGeom>
            <a:avLst/>
            <a:gdLst/>
            <a:ahLst/>
            <a:cxnLst/>
            <a:rect l="l" t="t" r="r" b="b"/>
            <a:pathLst>
              <a:path w="3291840" h="2194560">
                <a:moveTo>
                  <a:pt x="0" y="1097280"/>
                </a:moveTo>
                <a:lnTo>
                  <a:pt x="0" y="0"/>
                </a:lnTo>
                <a:lnTo>
                  <a:pt x="2194560" y="0"/>
                </a:lnTo>
                <a:lnTo>
                  <a:pt x="2194560" y="1097280"/>
                </a:lnTo>
                <a:lnTo>
                  <a:pt x="3291840" y="1097280"/>
                </a:lnTo>
                <a:lnTo>
                  <a:pt x="3291840" y="2194560"/>
                </a:lnTo>
                <a:lnTo>
                  <a:pt x="1097280" y="2194560"/>
                </a:lnTo>
                <a:lnTo>
                  <a:pt x="1097280" y="109728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8-mark177"/>
          <p:cNvSpPr/>
          <p:nvPr/>
        </p:nvSpPr>
        <p:spPr>
          <a:xfrm>
            <a:off x="3170682" y="37124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8-label179"/>
          <p:cNvSpPr txBox="1"/>
          <p:nvPr/>
        </p:nvSpPr>
        <p:spPr>
          <a:xfrm>
            <a:off x="3146617" y="369182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6" name="S08-card180"/>
          <p:cNvSpPr/>
          <p:nvPr/>
        </p:nvSpPr>
        <p:spPr>
          <a:xfrm>
            <a:off x="6277356" y="230708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181"/>
          <p:cNvSpPr txBox="1"/>
          <p:nvPr/>
        </p:nvSpPr>
        <p:spPr>
          <a:xfrm>
            <a:off x="6551676" y="244424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점대칭도형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점을 중심으로 180° 돌렸을 때 처음 도형과 완전히 겹치는 도형</a:t>
            </a:r>
            <a:endParaRPr lang="ko-KR" sz="2800" dirty="0"/>
          </a:p>
        </p:txBody>
      </p:sp>
      <p:sp>
        <p:nvSpPr>
          <p:cNvPr id="8" name="S08-card182"/>
          <p:cNvSpPr/>
          <p:nvPr/>
        </p:nvSpPr>
        <p:spPr>
          <a:xfrm>
            <a:off x="6277356" y="405663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183"/>
          <p:cNvSpPr txBox="1"/>
          <p:nvPr/>
        </p:nvSpPr>
        <p:spPr>
          <a:xfrm>
            <a:off x="6551676" y="419379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대칭의 중심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중심이 되는 점이에요.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점대칭도형 완성하기</a:t>
            </a:r>
            <a:endParaRPr lang="ko-KR" sz="4000" dirty="0"/>
          </a:p>
        </p:txBody>
      </p:sp>
      <p:sp>
        <p:nvSpPr>
          <p:cNvPr id="3" name="S09-card18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8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대응점을 이은 선분은 대칭의 중심을 지나고, 둘로 똑같이 나뉘어요.</a:t>
            </a:r>
            <a:endParaRPr lang="ko-KR" sz="2800" dirty="0"/>
          </a:p>
        </p:txBody>
      </p:sp>
      <p:sp>
        <p:nvSpPr>
          <p:cNvPr id="5" name="S09-mark186"/>
          <p:cNvSpPr/>
          <p:nvPr/>
        </p:nvSpPr>
        <p:spPr>
          <a:xfrm flipV="1">
            <a:off x="7202072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9-mark187"/>
          <p:cNvSpPr/>
          <p:nvPr/>
        </p:nvSpPr>
        <p:spPr>
          <a:xfrm flipV="1">
            <a:off x="7668077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9-mark188"/>
          <p:cNvSpPr/>
          <p:nvPr/>
        </p:nvSpPr>
        <p:spPr>
          <a:xfrm flipV="1">
            <a:off x="8134082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9-mark189"/>
          <p:cNvSpPr/>
          <p:nvPr/>
        </p:nvSpPr>
        <p:spPr>
          <a:xfrm flipV="1">
            <a:off x="8600088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9-mark190"/>
          <p:cNvSpPr/>
          <p:nvPr/>
        </p:nvSpPr>
        <p:spPr>
          <a:xfrm flipV="1">
            <a:off x="9066093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191"/>
          <p:cNvSpPr/>
          <p:nvPr/>
        </p:nvSpPr>
        <p:spPr>
          <a:xfrm flipV="1">
            <a:off x="9532098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192"/>
          <p:cNvSpPr/>
          <p:nvPr/>
        </p:nvSpPr>
        <p:spPr>
          <a:xfrm flipV="1">
            <a:off x="9998104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193"/>
          <p:cNvSpPr/>
          <p:nvPr/>
        </p:nvSpPr>
        <p:spPr>
          <a:xfrm flipV="1">
            <a:off x="10464109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194"/>
          <p:cNvSpPr/>
          <p:nvPr/>
        </p:nvSpPr>
        <p:spPr>
          <a:xfrm flipV="1">
            <a:off x="10930114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195"/>
          <p:cNvSpPr/>
          <p:nvPr/>
        </p:nvSpPr>
        <p:spPr>
          <a:xfrm>
            <a:off x="7202072" y="4457192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196"/>
          <p:cNvSpPr/>
          <p:nvPr/>
        </p:nvSpPr>
        <p:spPr>
          <a:xfrm>
            <a:off x="7202072" y="3991187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197"/>
          <p:cNvSpPr/>
          <p:nvPr/>
        </p:nvSpPr>
        <p:spPr>
          <a:xfrm>
            <a:off x="7202072" y="3525181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mark198"/>
          <p:cNvSpPr/>
          <p:nvPr/>
        </p:nvSpPr>
        <p:spPr>
          <a:xfrm>
            <a:off x="7202072" y="3059176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9-mark199"/>
          <p:cNvSpPr/>
          <p:nvPr/>
        </p:nvSpPr>
        <p:spPr>
          <a:xfrm>
            <a:off x="7202072" y="2593171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9-mark200"/>
          <p:cNvSpPr/>
          <p:nvPr/>
        </p:nvSpPr>
        <p:spPr>
          <a:xfrm>
            <a:off x="7202072" y="2127165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9-mark201"/>
          <p:cNvSpPr/>
          <p:nvPr/>
        </p:nvSpPr>
        <p:spPr>
          <a:xfrm>
            <a:off x="7202072" y="1661160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9-figure202" descr="모눈 위 점대칭도형의 반쪽(검은 선)과 대칭의 중심 ㅇ. 점 ㄱ에서 ㅇ을 지나 같은 길이만큼 간 곳이 대응점이고, 나머지 반쪽(주황 선)을 그렸음"/>
          <p:cNvSpPr/>
          <p:nvPr/>
        </p:nvSpPr>
        <p:spPr>
          <a:xfrm>
            <a:off x="7668077" y="2127165"/>
            <a:ext cx="1864021" cy="1864021"/>
          </a:xfrm>
          <a:custGeom>
            <a:avLst/>
            <a:gdLst/>
            <a:ahLst/>
            <a:cxnLst/>
            <a:rect l="l" t="t" r="r" b="b"/>
            <a:pathLst>
              <a:path w="1864021" h="1864021">
                <a:moveTo>
                  <a:pt x="1864021" y="0"/>
                </a:moveTo>
                <a:lnTo>
                  <a:pt x="0" y="0"/>
                </a:lnTo>
                <a:lnTo>
                  <a:pt x="0" y="932011"/>
                </a:lnTo>
                <a:lnTo>
                  <a:pt x="932011" y="932011"/>
                </a:lnTo>
                <a:lnTo>
                  <a:pt x="932011" y="1864021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9-mark203"/>
          <p:cNvSpPr/>
          <p:nvPr/>
        </p:nvSpPr>
        <p:spPr>
          <a:xfrm>
            <a:off x="8600088" y="2127165"/>
            <a:ext cx="1864021" cy="1864021"/>
          </a:xfrm>
          <a:custGeom>
            <a:avLst/>
            <a:gdLst/>
            <a:ahLst/>
            <a:cxnLst/>
            <a:rect l="l" t="t" r="r" b="b"/>
            <a:pathLst>
              <a:path w="1864021" h="1864021">
                <a:moveTo>
                  <a:pt x="0" y="1864021"/>
                </a:moveTo>
                <a:lnTo>
                  <a:pt x="1864021" y="1864021"/>
                </a:lnTo>
                <a:lnTo>
                  <a:pt x="1864021" y="932011"/>
                </a:lnTo>
                <a:lnTo>
                  <a:pt x="932011" y="932011"/>
                </a:lnTo>
                <a:lnTo>
                  <a:pt x="932011" y="0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23" name="S09-mark204"/>
          <p:cNvSpPr/>
          <p:nvPr/>
        </p:nvSpPr>
        <p:spPr>
          <a:xfrm>
            <a:off x="7668077" y="2127165"/>
            <a:ext cx="1398016" cy="932011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4" name="S09-mark205"/>
          <p:cNvSpPr/>
          <p:nvPr/>
        </p:nvSpPr>
        <p:spPr>
          <a:xfrm>
            <a:off x="9066093" y="3059176"/>
            <a:ext cx="1398016" cy="932011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09-mark206"/>
          <p:cNvSpPr/>
          <p:nvPr/>
        </p:nvSpPr>
        <p:spPr>
          <a:xfrm flipH="1">
            <a:off x="8320590" y="2523428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mark207"/>
          <p:cNvSpPr/>
          <p:nvPr/>
        </p:nvSpPr>
        <p:spPr>
          <a:xfrm flipH="1">
            <a:off x="9718606" y="3455439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9-mark208"/>
          <p:cNvSpPr/>
          <p:nvPr/>
        </p:nvSpPr>
        <p:spPr>
          <a:xfrm>
            <a:off x="7608641" y="206772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mark209"/>
          <p:cNvSpPr/>
          <p:nvPr/>
        </p:nvSpPr>
        <p:spPr>
          <a:xfrm>
            <a:off x="9006657" y="299974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9-mark210"/>
          <p:cNvSpPr/>
          <p:nvPr/>
        </p:nvSpPr>
        <p:spPr>
          <a:xfrm>
            <a:off x="10404673" y="393175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9-label212"/>
          <p:cNvSpPr txBox="1"/>
          <p:nvPr/>
        </p:nvSpPr>
        <p:spPr>
          <a:xfrm>
            <a:off x="7268471" y="173098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31" name="S09-label214"/>
          <p:cNvSpPr txBox="1"/>
          <p:nvPr/>
        </p:nvSpPr>
        <p:spPr>
          <a:xfrm>
            <a:off x="8982592" y="266299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32" name="S09-stepno215"/>
          <p:cNvSpPr txBox="1"/>
          <p:nvPr/>
        </p:nvSpPr>
        <p:spPr>
          <a:xfrm>
            <a:off x="548640" y="142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3" name="S09-text216"/>
          <p:cNvSpPr txBox="1"/>
          <p:nvPr/>
        </p:nvSpPr>
        <p:spPr>
          <a:xfrm>
            <a:off x="1325880" y="1376172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ㄱ에서 대칭의 중심 ㅇ까지 가는 칸 수를 세어요.</a:t>
            </a:r>
            <a:endParaRPr lang="ko-KR" sz="2800" dirty="0"/>
          </a:p>
        </p:txBody>
      </p:sp>
      <p:sp>
        <p:nvSpPr>
          <p:cNvPr id="34" name="S09-stepno217"/>
          <p:cNvSpPr txBox="1"/>
          <p:nvPr/>
        </p:nvSpPr>
        <p:spPr>
          <a:xfrm>
            <a:off x="548640" y="245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5" name="S09-text218"/>
          <p:cNvSpPr txBox="1"/>
          <p:nvPr/>
        </p:nvSpPr>
        <p:spPr>
          <a:xfrm>
            <a:off x="1325880" y="2408428"/>
            <a:ext cx="4800234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ㅇ에서 같은 방향으로 같은 칸 수만큼 더 가서 대응점을 찍어요.</a:t>
            </a:r>
            <a:endParaRPr lang="ko-KR" sz="2800" dirty="0"/>
          </a:p>
        </p:txBody>
      </p:sp>
      <p:sp>
        <p:nvSpPr>
          <p:cNvPr id="36" name="S09-stepno219"/>
          <p:cNvSpPr txBox="1"/>
          <p:nvPr/>
        </p:nvSpPr>
        <p:spPr>
          <a:xfrm>
            <a:off x="548640" y="39202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7" name="S09-text220"/>
          <p:cNvSpPr txBox="1"/>
          <p:nvPr/>
        </p:nvSpPr>
        <p:spPr>
          <a:xfrm>
            <a:off x="1325880" y="3874516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점도 찍고 차례로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평행사변형은 어떤 도형일까요?</a:t>
            </a:r>
            <a:endParaRPr lang="ko-KR" sz="4000" dirty="0"/>
          </a:p>
        </p:txBody>
      </p:sp>
      <p:sp>
        <p:nvSpPr>
          <p:cNvPr id="3" name="S10-card2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평행사변형은 선대칭도형일까요, 점대칭도형일까요?</a:t>
            </a:r>
            <a:endParaRPr lang="ko-KR" sz="2800" dirty="0"/>
          </a:p>
        </p:txBody>
      </p:sp>
      <p:sp>
        <p:nvSpPr>
          <p:cNvPr id="5" name="S10-card2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종이로 오려 확인해요.</a:t>
            </a:r>
            <a:endParaRPr lang="ko-KR" sz="2800" dirty="0"/>
          </a:p>
        </p:txBody>
      </p:sp>
      <p:sp>
        <p:nvSpPr>
          <p:cNvPr id="7" name="S10-chip2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선대칭도형</a:t>
            </a:r>
            <a:endParaRPr lang="ko-KR" sz="2200" dirty="0"/>
          </a:p>
        </p:txBody>
      </p:sp>
      <p:sp>
        <p:nvSpPr>
          <p:cNvPr id="8" name="S10-figure226" descr="평행사변형과 한 대각선(점선)"/>
          <p:cNvSpPr/>
          <p:nvPr/>
        </p:nvSpPr>
        <p:spPr>
          <a:xfrm>
            <a:off x="1847088" y="3292856"/>
            <a:ext cx="2766060" cy="1257300"/>
          </a:xfrm>
          <a:custGeom>
            <a:avLst/>
            <a:gdLst/>
            <a:ahLst/>
            <a:cxnLst/>
            <a:rect l="l" t="t" r="r" b="b"/>
            <a:pathLst>
              <a:path w="2766060" h="1257300">
                <a:moveTo>
                  <a:pt x="0" y="1257300"/>
                </a:moveTo>
                <a:lnTo>
                  <a:pt x="2011680" y="1257300"/>
                </a:lnTo>
                <a:lnTo>
                  <a:pt x="2766060" y="0"/>
                </a:lnTo>
                <a:lnTo>
                  <a:pt x="75438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0-mark227"/>
          <p:cNvSpPr/>
          <p:nvPr/>
        </p:nvSpPr>
        <p:spPr>
          <a:xfrm flipV="1">
            <a:off x="1847088" y="3292856"/>
            <a:ext cx="2766060" cy="12573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10-text228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“대각선을 따라 접으면 겹쳐요.”</a:t>
            </a:r>
            <a:endParaRPr lang="ko-KR" sz="2200" dirty="0"/>
          </a:p>
        </p:txBody>
      </p:sp>
      <p:sp>
        <p:nvSpPr>
          <p:cNvPr id="11" name="S10-chip22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점대칭도형</a:t>
            </a:r>
            <a:endParaRPr lang="ko-KR" sz="2200" dirty="0"/>
          </a:p>
        </p:txBody>
      </p:sp>
      <p:sp>
        <p:nvSpPr>
          <p:cNvPr id="12" name="S10-figure230" descr="평행사변형과 두 대각선이 만나는 가운데 점"/>
          <p:cNvSpPr/>
          <p:nvPr/>
        </p:nvSpPr>
        <p:spPr>
          <a:xfrm>
            <a:off x="7575804" y="3292856"/>
            <a:ext cx="2766060" cy="1257300"/>
          </a:xfrm>
          <a:custGeom>
            <a:avLst/>
            <a:gdLst/>
            <a:ahLst/>
            <a:cxnLst/>
            <a:rect l="l" t="t" r="r" b="b"/>
            <a:pathLst>
              <a:path w="2766060" h="1257300">
                <a:moveTo>
                  <a:pt x="0" y="1257300"/>
                </a:moveTo>
                <a:lnTo>
                  <a:pt x="2011680" y="1257300"/>
                </a:lnTo>
                <a:lnTo>
                  <a:pt x="2766060" y="0"/>
                </a:lnTo>
                <a:lnTo>
                  <a:pt x="75438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mark231"/>
          <p:cNvSpPr/>
          <p:nvPr/>
        </p:nvSpPr>
        <p:spPr>
          <a:xfrm>
            <a:off x="8899398" y="38620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text232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“가운데 점으로 180° 돌리면 겹쳐요.”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선대칭도형, 오른쪽은 점대칭도형의 반쪽이에요.</a:t>
            </a:r>
            <a:endParaRPr lang="ko-KR" sz="2800" dirty="0"/>
          </a:p>
        </p:txBody>
      </p:sp>
      <p:sp>
        <p:nvSpPr>
          <p:cNvPr id="4" name="S11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어떻게 찾았는지 칸 수로 말해요.</a:t>
            </a:r>
            <a:endParaRPr lang="ko-KR" sz="2800" dirty="0"/>
          </a:p>
        </p:txBody>
      </p:sp>
      <p:sp>
        <p:nvSpPr>
          <p:cNvPr id="6" name="S11-mark236"/>
          <p:cNvSpPr/>
          <p:nvPr/>
        </p:nvSpPr>
        <p:spPr>
          <a:xfrm flipV="1">
            <a:off x="158483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1-mark237"/>
          <p:cNvSpPr/>
          <p:nvPr/>
        </p:nvSpPr>
        <p:spPr>
          <a:xfrm flipV="1">
            <a:off x="1916176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1-mark238"/>
          <p:cNvSpPr/>
          <p:nvPr/>
        </p:nvSpPr>
        <p:spPr>
          <a:xfrm flipV="1">
            <a:off x="2247519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1-mark239"/>
          <p:cNvSpPr/>
          <p:nvPr/>
        </p:nvSpPr>
        <p:spPr>
          <a:xfrm flipV="1">
            <a:off x="2578862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240"/>
          <p:cNvSpPr/>
          <p:nvPr/>
        </p:nvSpPr>
        <p:spPr>
          <a:xfrm flipV="1">
            <a:off x="2910205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241"/>
          <p:cNvSpPr/>
          <p:nvPr/>
        </p:nvSpPr>
        <p:spPr>
          <a:xfrm flipV="1">
            <a:off x="3241548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242"/>
          <p:cNvSpPr/>
          <p:nvPr/>
        </p:nvSpPr>
        <p:spPr>
          <a:xfrm flipV="1">
            <a:off x="3572891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243"/>
          <p:cNvSpPr/>
          <p:nvPr/>
        </p:nvSpPr>
        <p:spPr>
          <a:xfrm flipV="1">
            <a:off x="3904234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244"/>
          <p:cNvSpPr/>
          <p:nvPr/>
        </p:nvSpPr>
        <p:spPr>
          <a:xfrm flipV="1">
            <a:off x="4235577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245"/>
          <p:cNvSpPr/>
          <p:nvPr/>
        </p:nvSpPr>
        <p:spPr>
          <a:xfrm flipV="1">
            <a:off x="4566920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246"/>
          <p:cNvSpPr/>
          <p:nvPr/>
        </p:nvSpPr>
        <p:spPr>
          <a:xfrm flipV="1">
            <a:off x="489826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247"/>
          <p:cNvSpPr/>
          <p:nvPr/>
        </p:nvSpPr>
        <p:spPr>
          <a:xfrm>
            <a:off x="1584833" y="4335018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248"/>
          <p:cNvSpPr/>
          <p:nvPr/>
        </p:nvSpPr>
        <p:spPr>
          <a:xfrm>
            <a:off x="1584833" y="4003675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249"/>
          <p:cNvSpPr/>
          <p:nvPr/>
        </p:nvSpPr>
        <p:spPr>
          <a:xfrm>
            <a:off x="1584833" y="3672332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250"/>
          <p:cNvSpPr/>
          <p:nvPr/>
        </p:nvSpPr>
        <p:spPr>
          <a:xfrm>
            <a:off x="1584833" y="3340989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251"/>
          <p:cNvSpPr/>
          <p:nvPr/>
        </p:nvSpPr>
        <p:spPr>
          <a:xfrm>
            <a:off x="1584833" y="3009646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252"/>
          <p:cNvSpPr/>
          <p:nvPr/>
        </p:nvSpPr>
        <p:spPr>
          <a:xfrm>
            <a:off x="1584833" y="2678303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253"/>
          <p:cNvSpPr/>
          <p:nvPr/>
        </p:nvSpPr>
        <p:spPr>
          <a:xfrm>
            <a:off x="1584833" y="2346960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figure254" descr="세로 점선 대칭축 왼쪽의 반쪽 도형과 점 ㄱ(축에서 왼쪽으로 4칸), 축 오른쪽의 점 ㉠(1칸), ㉡(4칸, ㄱ과 같은 높이), ㉢(3칸, 두 칸 위)"/>
          <p:cNvSpPr/>
          <p:nvPr/>
        </p:nvSpPr>
        <p:spPr>
          <a:xfrm>
            <a:off x="1916176" y="2678303"/>
            <a:ext cx="1325372" cy="1325372"/>
          </a:xfrm>
          <a:custGeom>
            <a:avLst/>
            <a:gdLst/>
            <a:ahLst/>
            <a:cxnLst/>
            <a:rect l="l" t="t" r="r" b="b"/>
            <a:pathLst>
              <a:path w="1325372" h="1325372">
                <a:moveTo>
                  <a:pt x="1325372" y="0"/>
                </a:moveTo>
                <a:lnTo>
                  <a:pt x="662686" y="0"/>
                </a:lnTo>
                <a:lnTo>
                  <a:pt x="662686" y="662686"/>
                </a:lnTo>
                <a:lnTo>
                  <a:pt x="0" y="994029"/>
                </a:lnTo>
                <a:lnTo>
                  <a:pt x="994029" y="1325372"/>
                </a:lnTo>
                <a:lnTo>
                  <a:pt x="1325372" y="1325372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11-mark255"/>
          <p:cNvSpPr/>
          <p:nvPr/>
        </p:nvSpPr>
        <p:spPr>
          <a:xfrm flipV="1">
            <a:off x="3241548" y="2346960"/>
            <a:ext cx="0" cy="198805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6" name="S11-mark256"/>
          <p:cNvSpPr/>
          <p:nvPr/>
        </p:nvSpPr>
        <p:spPr>
          <a:xfrm>
            <a:off x="1856740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1-mark257"/>
          <p:cNvSpPr/>
          <p:nvPr/>
        </p:nvSpPr>
        <p:spPr>
          <a:xfrm>
            <a:off x="3513455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mark258"/>
          <p:cNvSpPr/>
          <p:nvPr/>
        </p:nvSpPr>
        <p:spPr>
          <a:xfrm>
            <a:off x="4507484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1-mark259"/>
          <p:cNvSpPr/>
          <p:nvPr/>
        </p:nvSpPr>
        <p:spPr>
          <a:xfrm>
            <a:off x="4176141" y="295021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label261"/>
          <p:cNvSpPr txBox="1"/>
          <p:nvPr/>
        </p:nvSpPr>
        <p:spPr>
          <a:xfrm>
            <a:off x="1451102" y="343420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31" name="S11-label263"/>
          <p:cNvSpPr txBox="1"/>
          <p:nvPr/>
        </p:nvSpPr>
        <p:spPr>
          <a:xfrm>
            <a:off x="3381121" y="372122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㉠</a:t>
            </a:r>
            <a:endParaRPr lang="ko-KR" sz="2200" dirty="0"/>
          </a:p>
        </p:txBody>
      </p:sp>
      <p:sp>
        <p:nvSpPr>
          <p:cNvPr id="32" name="S11-label265"/>
          <p:cNvSpPr txBox="1"/>
          <p:nvPr/>
        </p:nvSpPr>
        <p:spPr>
          <a:xfrm>
            <a:off x="4598670" y="349770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㉡</a:t>
            </a:r>
            <a:endParaRPr lang="ko-KR" sz="2200" dirty="0"/>
          </a:p>
        </p:txBody>
      </p:sp>
      <p:sp>
        <p:nvSpPr>
          <p:cNvPr id="33" name="S11-label267"/>
          <p:cNvSpPr txBox="1"/>
          <p:nvPr/>
        </p:nvSpPr>
        <p:spPr>
          <a:xfrm>
            <a:off x="4267327" y="28350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㉢</a:t>
            </a:r>
            <a:endParaRPr lang="ko-KR" sz="2200" dirty="0"/>
          </a:p>
        </p:txBody>
      </p:sp>
      <p:sp>
        <p:nvSpPr>
          <p:cNvPr id="34" name="S11-label26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점 ㄱ의 대응점은?</a:t>
            </a:r>
            <a:endParaRPr lang="ko-KR" sz="2200" dirty="0"/>
          </a:p>
        </p:txBody>
      </p:sp>
      <p:sp>
        <p:nvSpPr>
          <p:cNvPr id="35" name="S11-mark269"/>
          <p:cNvSpPr/>
          <p:nvPr/>
        </p:nvSpPr>
        <p:spPr>
          <a:xfrm flipV="1">
            <a:off x="7456361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1-mark270"/>
          <p:cNvSpPr/>
          <p:nvPr/>
        </p:nvSpPr>
        <p:spPr>
          <a:xfrm flipV="1">
            <a:off x="7787704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1-mark271"/>
          <p:cNvSpPr/>
          <p:nvPr/>
        </p:nvSpPr>
        <p:spPr>
          <a:xfrm flipV="1">
            <a:off x="8119047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1-mark272"/>
          <p:cNvSpPr/>
          <p:nvPr/>
        </p:nvSpPr>
        <p:spPr>
          <a:xfrm flipV="1">
            <a:off x="8450390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1-mark273"/>
          <p:cNvSpPr/>
          <p:nvPr/>
        </p:nvSpPr>
        <p:spPr>
          <a:xfrm flipV="1">
            <a:off x="878173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1-mark274"/>
          <p:cNvSpPr/>
          <p:nvPr/>
        </p:nvSpPr>
        <p:spPr>
          <a:xfrm flipV="1">
            <a:off x="9113076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1-mark275"/>
          <p:cNvSpPr/>
          <p:nvPr/>
        </p:nvSpPr>
        <p:spPr>
          <a:xfrm flipV="1">
            <a:off x="9444419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1-mark276"/>
          <p:cNvSpPr/>
          <p:nvPr/>
        </p:nvSpPr>
        <p:spPr>
          <a:xfrm flipV="1">
            <a:off x="9775762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1-mark277"/>
          <p:cNvSpPr/>
          <p:nvPr/>
        </p:nvSpPr>
        <p:spPr>
          <a:xfrm flipV="1">
            <a:off x="10107105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1-mark278"/>
          <p:cNvSpPr/>
          <p:nvPr/>
        </p:nvSpPr>
        <p:spPr>
          <a:xfrm flipV="1">
            <a:off x="10438448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1-mark279"/>
          <p:cNvSpPr/>
          <p:nvPr/>
        </p:nvSpPr>
        <p:spPr>
          <a:xfrm>
            <a:off x="7456361" y="4335018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1-mark280"/>
          <p:cNvSpPr/>
          <p:nvPr/>
        </p:nvSpPr>
        <p:spPr>
          <a:xfrm>
            <a:off x="7456361" y="4003675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1-mark281"/>
          <p:cNvSpPr/>
          <p:nvPr/>
        </p:nvSpPr>
        <p:spPr>
          <a:xfrm>
            <a:off x="7456361" y="3672332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1-mark282"/>
          <p:cNvSpPr/>
          <p:nvPr/>
        </p:nvSpPr>
        <p:spPr>
          <a:xfrm>
            <a:off x="7456361" y="3340989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1-mark283"/>
          <p:cNvSpPr/>
          <p:nvPr/>
        </p:nvSpPr>
        <p:spPr>
          <a:xfrm>
            <a:off x="7456361" y="3009646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1-mark284"/>
          <p:cNvSpPr/>
          <p:nvPr/>
        </p:nvSpPr>
        <p:spPr>
          <a:xfrm>
            <a:off x="7456361" y="2678303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1-mark285"/>
          <p:cNvSpPr/>
          <p:nvPr/>
        </p:nvSpPr>
        <p:spPr>
          <a:xfrm>
            <a:off x="7456361" y="2346960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11-figure286" descr="점대칭도형의 반쪽과 대칭의 중심 ㅇ, 점 ㄴ(ㅇ에서 왼쪽 3칸·아래 1칸), 후보 점 ㉣(ㅇ에서 오른쪽 3칸·아래 1칸), ㉤(오른쪽 3칸·위 1칸), ㉥(오른쪽 2칸)"/>
          <p:cNvSpPr/>
          <p:nvPr/>
        </p:nvSpPr>
        <p:spPr>
          <a:xfrm>
            <a:off x="7787704" y="2678303"/>
            <a:ext cx="1325372" cy="1325372"/>
          </a:xfrm>
          <a:custGeom>
            <a:avLst/>
            <a:gdLst/>
            <a:ahLst/>
            <a:cxnLst/>
            <a:rect l="l" t="t" r="r" b="b"/>
            <a:pathLst>
              <a:path w="1325372" h="1325372">
                <a:moveTo>
                  <a:pt x="1325372" y="0"/>
                </a:moveTo>
                <a:lnTo>
                  <a:pt x="331343" y="0"/>
                </a:lnTo>
                <a:lnTo>
                  <a:pt x="331343" y="331343"/>
                </a:lnTo>
                <a:lnTo>
                  <a:pt x="0" y="994029"/>
                </a:lnTo>
                <a:lnTo>
                  <a:pt x="662686" y="662686"/>
                </a:lnTo>
                <a:lnTo>
                  <a:pt x="662686" y="1325372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3" name="S11-mark287"/>
          <p:cNvSpPr/>
          <p:nvPr/>
        </p:nvSpPr>
        <p:spPr>
          <a:xfrm>
            <a:off x="7728268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1-mark288"/>
          <p:cNvSpPr/>
          <p:nvPr/>
        </p:nvSpPr>
        <p:spPr>
          <a:xfrm>
            <a:off x="8722297" y="32815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1-mark289"/>
          <p:cNvSpPr/>
          <p:nvPr/>
        </p:nvSpPr>
        <p:spPr>
          <a:xfrm>
            <a:off x="9716326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1-mark290"/>
          <p:cNvSpPr/>
          <p:nvPr/>
        </p:nvSpPr>
        <p:spPr>
          <a:xfrm>
            <a:off x="9716326" y="295021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1-mark291"/>
          <p:cNvSpPr/>
          <p:nvPr/>
        </p:nvSpPr>
        <p:spPr>
          <a:xfrm>
            <a:off x="9384983" y="32815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1-label293"/>
          <p:cNvSpPr txBox="1"/>
          <p:nvPr/>
        </p:nvSpPr>
        <p:spPr>
          <a:xfrm>
            <a:off x="7322630" y="343420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59" name="S11-label295"/>
          <p:cNvSpPr txBox="1"/>
          <p:nvPr/>
        </p:nvSpPr>
        <p:spPr>
          <a:xfrm>
            <a:off x="8540179" y="33263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60" name="S11-label297"/>
          <p:cNvSpPr txBox="1"/>
          <p:nvPr/>
        </p:nvSpPr>
        <p:spPr>
          <a:xfrm>
            <a:off x="9807512" y="349770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㉣</a:t>
            </a:r>
            <a:endParaRPr lang="ko-KR" sz="2200" dirty="0"/>
          </a:p>
        </p:txBody>
      </p:sp>
      <p:sp>
        <p:nvSpPr>
          <p:cNvPr id="61" name="S11-label299"/>
          <p:cNvSpPr txBox="1"/>
          <p:nvPr/>
        </p:nvSpPr>
        <p:spPr>
          <a:xfrm>
            <a:off x="9807512" y="28350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㉤</a:t>
            </a:r>
            <a:endParaRPr lang="ko-KR" sz="2200" dirty="0"/>
          </a:p>
        </p:txBody>
      </p:sp>
      <p:sp>
        <p:nvSpPr>
          <p:cNvPr id="62" name="S11-label301"/>
          <p:cNvSpPr txBox="1"/>
          <p:nvPr/>
        </p:nvSpPr>
        <p:spPr>
          <a:xfrm>
            <a:off x="9476169" y="316636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㉥</a:t>
            </a:r>
            <a:endParaRPr lang="ko-KR" sz="2200" dirty="0"/>
          </a:p>
        </p:txBody>
      </p:sp>
      <p:sp>
        <p:nvSpPr>
          <p:cNvPr id="63" name="S11-label302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점 ㄴ의 대응점은?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0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0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S06, S09를 다시 보고 칸 수를 소리 내어 세며 찍게 하세요.</a:t>
            </a:r>
            <a:endParaRPr lang="ko-KR" sz="2800" dirty="0"/>
          </a:p>
        </p:txBody>
      </p:sp>
      <p:sp>
        <p:nvSpPr>
          <p:cNvPr id="5" name="S12-chip30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06"/>
          <p:cNvSpPr txBox="1"/>
          <p:nvPr/>
        </p:nvSpPr>
        <p:spPr>
          <a:xfrm>
            <a:off x="548640" y="2057400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㉡</a:t>
            </a:r>
            <a:endParaRPr lang="ko-KR" sz="2800" dirty="0"/>
          </a:p>
        </p:txBody>
      </p:sp>
      <p:sp>
        <p:nvSpPr>
          <p:cNvPr id="7" name="S12-text307"/>
          <p:cNvSpPr txBox="1"/>
          <p:nvPr/>
        </p:nvSpPr>
        <p:spPr>
          <a:xfrm>
            <a:off x="3367278" y="2057400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축에서 4칸씩</a:t>
            </a:r>
            <a:endParaRPr lang="ko-KR" sz="2200" dirty="0"/>
          </a:p>
        </p:txBody>
      </p:sp>
      <p:sp>
        <p:nvSpPr>
          <p:cNvPr id="8" name="S12-text308"/>
          <p:cNvSpPr txBox="1"/>
          <p:nvPr/>
        </p:nvSpPr>
        <p:spPr>
          <a:xfrm>
            <a:off x="548640" y="301481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㉤</a:t>
            </a:r>
            <a:endParaRPr lang="ko-KR" sz="2800" dirty="0"/>
          </a:p>
        </p:txBody>
      </p:sp>
      <p:sp>
        <p:nvSpPr>
          <p:cNvPr id="9" name="S12-text309"/>
          <p:cNvSpPr txBox="1"/>
          <p:nvPr/>
        </p:nvSpPr>
        <p:spPr>
          <a:xfrm>
            <a:off x="3367278" y="301481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ㅇ을 지나 같은 만큼</a:t>
            </a:r>
            <a:endParaRPr lang="ko-KR" sz="2200" dirty="0"/>
          </a:p>
        </p:txBody>
      </p:sp>
      <p:sp>
        <p:nvSpPr>
          <p:cNvPr id="10" name="S12-text310"/>
          <p:cNvSpPr txBox="1"/>
          <p:nvPr/>
        </p:nvSpPr>
        <p:spPr>
          <a:xfrm>
            <a:off x="548640" y="397222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거리 같게</a:t>
            </a:r>
            <a:endParaRPr lang="ko-KR" sz="2800" dirty="0"/>
          </a:p>
        </p:txBody>
      </p:sp>
      <p:sp>
        <p:nvSpPr>
          <p:cNvPr id="11" name="S12-text311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축·중심 기준</a:t>
            </a:r>
            <a:endParaRPr lang="ko-KR" sz="2200" dirty="0"/>
          </a:p>
        </p:txBody>
      </p:sp>
      <p:sp>
        <p:nvSpPr>
          <p:cNvPr id="12" name="S12-chip31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31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㉠</a:t>
            </a:r>
            <a:endParaRPr lang="ko-KR" sz="2800" dirty="0"/>
          </a:p>
        </p:txBody>
      </p:sp>
      <p:sp>
        <p:nvSpPr>
          <p:cNvPr id="14" name="S12-text31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세지 않음</a:t>
            </a:r>
            <a:endParaRPr lang="ko-KR" sz="2200" dirty="0"/>
          </a:p>
        </p:txBody>
      </p:sp>
      <p:sp>
        <p:nvSpPr>
          <p:cNvPr id="15" name="S12-text31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㉣</a:t>
            </a:r>
            <a:endParaRPr lang="ko-KR" sz="2800" dirty="0"/>
          </a:p>
        </p:txBody>
      </p:sp>
      <p:sp>
        <p:nvSpPr>
          <p:cNvPr id="16" name="S12-text31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선대칭처럼 뒤집음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다인 도형은?</a:t>
            </a:r>
            <a:endParaRPr lang="ko-KR" sz="4000" dirty="0"/>
          </a:p>
        </p:txBody>
      </p:sp>
      <p:sp>
        <p:nvSpPr>
          <p:cNvPr id="3" name="S13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선대칭도형이면서 점대칭도형인 것을 모두 골라요.</a:t>
            </a:r>
            <a:endParaRPr lang="ko-KR" sz="2800" dirty="0"/>
          </a:p>
        </p:txBody>
      </p:sp>
      <p:sp>
        <p:nvSpPr>
          <p:cNvPr id="4" name="S13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도형마다 선대칭인지, 점대칭인지 말해요.</a:t>
            </a:r>
            <a:endParaRPr lang="ko-KR" sz="2800" dirty="0"/>
          </a:p>
        </p:txBody>
      </p:sp>
      <p:sp>
        <p:nvSpPr>
          <p:cNvPr id="6" name="S13-chip32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figure321" descr="마름모"/>
          <p:cNvSpPr/>
          <p:nvPr/>
        </p:nvSpPr>
        <p:spPr>
          <a:xfrm>
            <a:off x="2794762" y="2095500"/>
            <a:ext cx="1666240" cy="1249680"/>
          </a:xfrm>
          <a:custGeom>
            <a:avLst/>
            <a:gdLst/>
            <a:ahLst/>
            <a:cxnLst/>
            <a:rect l="l" t="t" r="r" b="b"/>
            <a:pathLst>
              <a:path w="1666240" h="1249680">
                <a:moveTo>
                  <a:pt x="0" y="624840"/>
                </a:moveTo>
                <a:lnTo>
                  <a:pt x="833120" y="1249680"/>
                </a:lnTo>
                <a:lnTo>
                  <a:pt x="1666240" y="624840"/>
                </a:lnTo>
                <a:lnTo>
                  <a:pt x="83312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chip322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figure323" descr="이등변삼각형"/>
          <p:cNvSpPr/>
          <p:nvPr/>
        </p:nvSpPr>
        <p:spPr>
          <a:xfrm>
            <a:off x="8856726" y="2095500"/>
            <a:ext cx="999744" cy="1249680"/>
          </a:xfrm>
          <a:custGeom>
            <a:avLst/>
            <a:gdLst/>
            <a:ahLst/>
            <a:cxnLst/>
            <a:rect l="l" t="t" r="r" b="b"/>
            <a:pathLst>
              <a:path w="999744" h="1249680">
                <a:moveTo>
                  <a:pt x="0" y="1249680"/>
                </a:moveTo>
                <a:lnTo>
                  <a:pt x="999744" y="1249680"/>
                </a:lnTo>
                <a:lnTo>
                  <a:pt x="49987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3-chip32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1" name="S13-figure325" descr="정육각형"/>
          <p:cNvSpPr/>
          <p:nvPr/>
        </p:nvSpPr>
        <p:spPr>
          <a:xfrm>
            <a:off x="2906386" y="3787140"/>
            <a:ext cx="1442993" cy="1249680"/>
          </a:xfrm>
          <a:custGeom>
            <a:avLst/>
            <a:gdLst/>
            <a:ahLst/>
            <a:cxnLst/>
            <a:rect l="l" t="t" r="r" b="b"/>
            <a:pathLst>
              <a:path w="1442993" h="1249680">
                <a:moveTo>
                  <a:pt x="1442993" y="624840"/>
                </a:moveTo>
                <a:lnTo>
                  <a:pt x="1082245" y="0"/>
                </a:lnTo>
                <a:lnTo>
                  <a:pt x="360748" y="0"/>
                </a:lnTo>
                <a:lnTo>
                  <a:pt x="0" y="624840"/>
                </a:lnTo>
                <a:lnTo>
                  <a:pt x="360748" y="1249680"/>
                </a:lnTo>
                <a:lnTo>
                  <a:pt x="1082245" y="124968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3-chip326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3" name="S13-figure327" descr="Z 모양"/>
          <p:cNvSpPr/>
          <p:nvPr/>
        </p:nvSpPr>
        <p:spPr>
          <a:xfrm>
            <a:off x="8419338" y="3787140"/>
            <a:ext cx="1874520" cy="1249680"/>
          </a:xfrm>
          <a:custGeom>
            <a:avLst/>
            <a:gdLst/>
            <a:ahLst/>
            <a:cxnLst/>
            <a:rect l="l" t="t" r="r" b="b"/>
            <a:pathLst>
              <a:path w="1874520" h="1249680">
                <a:moveTo>
                  <a:pt x="0" y="624840"/>
                </a:moveTo>
                <a:lnTo>
                  <a:pt x="0" y="0"/>
                </a:lnTo>
                <a:lnTo>
                  <a:pt x="1249680" y="0"/>
                </a:lnTo>
                <a:lnTo>
                  <a:pt x="1249680" y="624840"/>
                </a:lnTo>
                <a:lnTo>
                  <a:pt x="1874520" y="624840"/>
                </a:lnTo>
                <a:lnTo>
                  <a:pt x="1874520" y="1249680"/>
                </a:lnTo>
                <a:lnTo>
                  <a:pt x="624840" y="1249680"/>
                </a:lnTo>
                <a:lnTo>
                  <a:pt x="624840" y="6248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2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2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선대칭도형은 대칭축을 따라 접으면, 점대칭도형은 대칭의 중심으로 180° 돌리면 완전히 겹쳐요.</a:t>
            </a:r>
            <a:endParaRPr lang="ko-KR" sz="2800" dirty="0"/>
          </a:p>
        </p:txBody>
      </p:sp>
      <p:sp>
        <p:nvSpPr>
          <p:cNvPr id="5" name="S14-chip33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대칭축·중심까지 거리 같게</a:t>
            </a:r>
            <a:endParaRPr lang="ko-KR" sz="2200" dirty="0"/>
          </a:p>
        </p:txBody>
      </p:sp>
      <p:sp>
        <p:nvSpPr>
          <p:cNvPr id="6" name="S14-chip33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반쪽을 그대로 밀어 그리기</a:t>
            </a:r>
            <a:endParaRPr lang="ko-KR" sz="2200" dirty="0"/>
          </a:p>
        </p:txBody>
      </p:sp>
      <p:sp>
        <p:nvSpPr>
          <p:cNvPr id="7" name="S14-text33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3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정사각형의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대칭축은 몇 개?</a:t>
            </a:r>
            <a:endParaRPr lang="ko-KR" sz="2200" dirty="0"/>
          </a:p>
        </p:txBody>
      </p:sp>
      <p:sp>
        <p:nvSpPr>
          <p:cNvPr id="9" name="S14-text33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대응점을 이은 선분과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대칭축은 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만나나요?</a:t>
            </a:r>
            <a:endParaRPr lang="ko-KR" sz="2200" dirty="0"/>
          </a:p>
        </p:txBody>
      </p:sp>
      <p:sp>
        <p:nvSpPr>
          <p:cNvPr id="10" name="S14-text33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대칭의 중심에서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대응점까지 4 cm이면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대응점 사이는?</a:t>
            </a:r>
            <a:endParaRPr lang="ko-KR" sz="2200" dirty="0"/>
          </a:p>
        </p:txBody>
      </p:sp>
      <p:sp>
        <p:nvSpPr>
          <p:cNvPr id="11" name="S14-text3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직육면체와 정육면체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합동과 대응점</a:t>
            </a:r>
            <a:endParaRPr lang="ko-KR" sz="4000" dirty="0"/>
          </a:p>
        </p:txBody>
      </p:sp>
      <p:sp>
        <p:nvSpPr>
          <p:cNvPr id="3" name="S15-card337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338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포개었을 때 겹치는 점: ㄱ과 ㄹ, ㄴ과 ㅁ, ㄷ과 ㅂ</a:t>
            </a:r>
            <a:endParaRPr lang="ko-KR" sz="2800" dirty="0"/>
          </a:p>
        </p:txBody>
      </p:sp>
      <p:sp>
        <p:nvSpPr>
          <p:cNvPr id="5" name="S15-card339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340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서로 같아요.</a:t>
            </a:r>
            <a:endParaRPr lang="ko-KR" sz="2800" dirty="0"/>
          </a:p>
        </p:txBody>
      </p:sp>
      <p:sp>
        <p:nvSpPr>
          <p:cNvPr id="7" name="S15-figure341" descr="삼각형 ㄱㄴㄷ"/>
          <p:cNvSpPr/>
          <p:nvPr/>
        </p:nvSpPr>
        <p:spPr>
          <a:xfrm>
            <a:off x="2098548" y="1982724"/>
            <a:ext cx="2286000" cy="1828800"/>
          </a:xfrm>
          <a:custGeom>
            <a:avLst/>
            <a:gdLst/>
            <a:ahLst/>
            <a:cxnLst/>
            <a:rect l="l" t="t" r="r" b="b"/>
            <a:pathLst>
              <a:path w="2286000" h="1828800">
                <a:moveTo>
                  <a:pt x="457200" y="0"/>
                </a:moveTo>
                <a:lnTo>
                  <a:pt x="0" y="1828800"/>
                </a:lnTo>
                <a:lnTo>
                  <a:pt x="2286000" y="18288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342"/>
          <p:cNvSpPr/>
          <p:nvPr/>
        </p:nvSpPr>
        <p:spPr>
          <a:xfrm>
            <a:off x="4021328" y="3554689"/>
            <a:ext cx="363220" cy="256835"/>
          </a:xfrm>
          <a:custGeom>
            <a:avLst/>
            <a:gdLst/>
            <a:ahLst/>
            <a:cxnLst/>
            <a:rect l="l" t="t" r="r" b="b"/>
            <a:pathLst>
              <a:path w="363220" h="256835">
                <a:moveTo>
                  <a:pt x="363220" y="256835"/>
                </a:moveTo>
                <a:lnTo>
                  <a:pt x="106385" y="0"/>
                </a:lnTo>
                <a:lnTo>
                  <a:pt x="98119" y="8541"/>
                </a:lnTo>
                <a:lnTo>
                  <a:pt x="90137" y="17348"/>
                </a:lnTo>
                <a:lnTo>
                  <a:pt x="82447" y="26411"/>
                </a:lnTo>
                <a:lnTo>
                  <a:pt x="75058" y="35721"/>
                </a:lnTo>
                <a:lnTo>
                  <a:pt x="67978" y="45268"/>
                </a:lnTo>
                <a:lnTo>
                  <a:pt x="61214" y="55041"/>
                </a:lnTo>
                <a:lnTo>
                  <a:pt x="54773" y="65031"/>
                </a:lnTo>
                <a:lnTo>
                  <a:pt x="48662" y="75225"/>
                </a:lnTo>
                <a:lnTo>
                  <a:pt x="42889" y="85615"/>
                </a:lnTo>
                <a:lnTo>
                  <a:pt x="37458" y="96187"/>
                </a:lnTo>
                <a:lnTo>
                  <a:pt x="32376" y="106932"/>
                </a:lnTo>
                <a:lnTo>
                  <a:pt x="27648" y="117837"/>
                </a:lnTo>
                <a:lnTo>
                  <a:pt x="23280" y="128891"/>
                </a:lnTo>
                <a:lnTo>
                  <a:pt x="19276" y="140082"/>
                </a:lnTo>
                <a:lnTo>
                  <a:pt x="15640" y="151398"/>
                </a:lnTo>
                <a:lnTo>
                  <a:pt x="12376" y="162827"/>
                </a:lnTo>
                <a:lnTo>
                  <a:pt x="9488" y="174357"/>
                </a:lnTo>
                <a:lnTo>
                  <a:pt x="6979" y="185975"/>
                </a:lnTo>
                <a:lnTo>
                  <a:pt x="4851" y="197668"/>
                </a:lnTo>
                <a:lnTo>
                  <a:pt x="3107" y="209426"/>
                </a:lnTo>
                <a:lnTo>
                  <a:pt x="1749" y="221234"/>
                </a:lnTo>
                <a:lnTo>
                  <a:pt x="778" y="233080"/>
                </a:lnTo>
                <a:lnTo>
                  <a:pt x="194" y="244951"/>
                </a:lnTo>
                <a:lnTo>
                  <a:pt x="0" y="25683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5-mark343"/>
          <p:cNvSpPr/>
          <p:nvPr/>
        </p:nvSpPr>
        <p:spPr>
          <a:xfrm>
            <a:off x="2245831" y="2876795"/>
            <a:ext cx="162635" cy="4065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344"/>
          <p:cNvSpPr/>
          <p:nvPr/>
        </p:nvSpPr>
        <p:spPr>
          <a:xfrm flipV="1">
            <a:off x="3202432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345"/>
          <p:cNvSpPr/>
          <p:nvPr/>
        </p:nvSpPr>
        <p:spPr>
          <a:xfrm flipV="1">
            <a:off x="3280664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47"/>
          <p:cNvSpPr txBox="1"/>
          <p:nvPr/>
        </p:nvSpPr>
        <p:spPr>
          <a:xfrm>
            <a:off x="2254529" y="152918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3" name="S15-label349"/>
          <p:cNvSpPr txBox="1"/>
          <p:nvPr/>
        </p:nvSpPr>
        <p:spPr>
          <a:xfrm>
            <a:off x="1680814" y="371095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14" name="S15-label351"/>
          <p:cNvSpPr txBox="1"/>
          <p:nvPr/>
        </p:nvSpPr>
        <p:spPr>
          <a:xfrm>
            <a:off x="4349500" y="365893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15" name="S15-figure352" descr="삼각형 ㄱㄴㄷ을 뒤집은 삼각형 ㄹㅁㅂ"/>
          <p:cNvSpPr/>
          <p:nvPr/>
        </p:nvSpPr>
        <p:spPr>
          <a:xfrm>
            <a:off x="7804404" y="1982724"/>
            <a:ext cx="2286000" cy="1828800"/>
          </a:xfrm>
          <a:custGeom>
            <a:avLst/>
            <a:gdLst/>
            <a:ahLst/>
            <a:cxnLst/>
            <a:rect l="l" t="t" r="r" b="b"/>
            <a:pathLst>
              <a:path w="2286000" h="1828800">
                <a:moveTo>
                  <a:pt x="1828800" y="0"/>
                </a:moveTo>
                <a:lnTo>
                  <a:pt x="2286000" y="1828800"/>
                </a:lnTo>
                <a:lnTo>
                  <a:pt x="0" y="18288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mark353"/>
          <p:cNvSpPr/>
          <p:nvPr/>
        </p:nvSpPr>
        <p:spPr>
          <a:xfrm>
            <a:off x="7804404" y="3554689"/>
            <a:ext cx="363220" cy="256835"/>
          </a:xfrm>
          <a:custGeom>
            <a:avLst/>
            <a:gdLst/>
            <a:ahLst/>
            <a:cxnLst/>
            <a:rect l="l" t="t" r="r" b="b"/>
            <a:pathLst>
              <a:path w="363220" h="256835">
                <a:moveTo>
                  <a:pt x="0" y="256835"/>
                </a:moveTo>
                <a:lnTo>
                  <a:pt x="363220" y="256835"/>
                </a:lnTo>
                <a:lnTo>
                  <a:pt x="363026" y="244951"/>
                </a:lnTo>
                <a:lnTo>
                  <a:pt x="362442" y="233080"/>
                </a:lnTo>
                <a:lnTo>
                  <a:pt x="361471" y="221234"/>
                </a:lnTo>
                <a:lnTo>
                  <a:pt x="360113" y="209426"/>
                </a:lnTo>
                <a:lnTo>
                  <a:pt x="358369" y="197668"/>
                </a:lnTo>
                <a:lnTo>
                  <a:pt x="356241" y="185975"/>
                </a:lnTo>
                <a:lnTo>
                  <a:pt x="353732" y="174357"/>
                </a:lnTo>
                <a:lnTo>
                  <a:pt x="350844" y="162827"/>
                </a:lnTo>
                <a:lnTo>
                  <a:pt x="347580" y="151398"/>
                </a:lnTo>
                <a:lnTo>
                  <a:pt x="343944" y="140082"/>
                </a:lnTo>
                <a:lnTo>
                  <a:pt x="339940" y="128891"/>
                </a:lnTo>
                <a:lnTo>
                  <a:pt x="335572" y="117837"/>
                </a:lnTo>
                <a:lnTo>
                  <a:pt x="330844" y="106932"/>
                </a:lnTo>
                <a:lnTo>
                  <a:pt x="325762" y="96187"/>
                </a:lnTo>
                <a:lnTo>
                  <a:pt x="320331" y="85615"/>
                </a:lnTo>
                <a:lnTo>
                  <a:pt x="314558" y="75225"/>
                </a:lnTo>
                <a:lnTo>
                  <a:pt x="308447" y="65031"/>
                </a:lnTo>
                <a:lnTo>
                  <a:pt x="302006" y="55041"/>
                </a:lnTo>
                <a:lnTo>
                  <a:pt x="295242" y="45268"/>
                </a:lnTo>
                <a:lnTo>
                  <a:pt x="288162" y="35721"/>
                </a:lnTo>
                <a:lnTo>
                  <a:pt x="280773" y="26411"/>
                </a:lnTo>
                <a:lnTo>
                  <a:pt x="273083" y="17348"/>
                </a:lnTo>
                <a:lnTo>
                  <a:pt x="265101" y="8541"/>
                </a:lnTo>
                <a:lnTo>
                  <a:pt x="256835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7" name="S15-mark354"/>
          <p:cNvSpPr/>
          <p:nvPr/>
        </p:nvSpPr>
        <p:spPr>
          <a:xfrm flipH="1">
            <a:off x="9780487" y="2876795"/>
            <a:ext cx="162635" cy="4065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mark355"/>
          <p:cNvSpPr/>
          <p:nvPr/>
        </p:nvSpPr>
        <p:spPr>
          <a:xfrm flipV="1">
            <a:off x="8986520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356"/>
          <p:cNvSpPr/>
          <p:nvPr/>
        </p:nvSpPr>
        <p:spPr>
          <a:xfrm flipV="1">
            <a:off x="8908288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58"/>
          <p:cNvSpPr txBox="1"/>
          <p:nvPr/>
        </p:nvSpPr>
        <p:spPr>
          <a:xfrm>
            <a:off x="9451315" y="152918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1" name="S15-label360"/>
          <p:cNvSpPr txBox="1"/>
          <p:nvPr/>
        </p:nvSpPr>
        <p:spPr>
          <a:xfrm>
            <a:off x="10025030" y="371095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2" name="S15-label362"/>
          <p:cNvSpPr txBox="1"/>
          <p:nvPr/>
        </p:nvSpPr>
        <p:spPr>
          <a:xfrm>
            <a:off x="7356344" y="365893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선대칭과 점대칭</dc:title>
  <dc:subject>KR22-G05-MAT-SYMMETRY-L01</dc:subject>
  <dc:creator>education-ppt</dc:creator>
  <cp:lastModifiedBy>education-ppt</cp:lastModifiedBy>
  <cp:revision>1</cp:revision>
  <dcterms:created xsi:type="dcterms:W3CDTF">2026-10-26T08:52:23Z</dcterms:created>
  <dcterms:modified xsi:type="dcterms:W3CDTF">2026-10-26T08:52:23Z</dcterms:modified>
</cp:coreProperties>
</file>