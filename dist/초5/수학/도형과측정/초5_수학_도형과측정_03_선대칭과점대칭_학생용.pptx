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1890cff-868e-433e-e8aa-22bf9a149048}">
          <p14:sldIdLst>
            <p14:sldId id="256"/>
            <p14:sldId id="257"/>
          </p14:sldIdLst>
        </p14:section>
        <p14:section name="개념" id="{e45de02e-dca4-0adf-9091-cbfdc6f1ec86}">
          <p14:sldIdLst>
            <p14:sldId id="258"/>
            <p14:sldId id="259"/>
            <p14:sldId id="261"/>
            <p14:sldId id="263"/>
            <p14:sldId id="264"/>
          </p14:sldIdLst>
        </p14:section>
        <p14:section name="연습" id="{ad86c148-f1e1-975e-384c-c28c6ecd3c9e}">
          <p14:sldIdLst>
            <p14:sldId id="260"/>
            <p14:sldId id="262"/>
            <p14:sldId id="265"/>
          </p14:sldIdLst>
        </p14:section>
        <p14:section name="개념" id="{b235ae1c-264d-cc3d-0155-a1df107999be}">
          <p14:sldIdLst/>
        </p14:section>
        <p14:section name="연습" id="{6f7da10c-bafc-bdb4-b400-0ac314496473}">
          <p14:sldIdLst/>
        </p14:section>
        <p14:section name="개념" id="{7e572c53-536e-e9ff-1735-6bd4a802631d}">
          <p14:sldIdLst/>
        </p14:section>
        <p14:section name="연습" id="{4142f4c5-ad2d-92ff-efad-813faf47f03e}">
          <p14:sldIdLst/>
        </p14:section>
        <p14:section name="확인" id="{4cb09ab6-e021-b7b8-27ac-a906d660efbe}">
          <p14:sldIdLst>
            <p14:sldId id="266"/>
            <p14:sldId id="267"/>
          </p14:sldIdLst>
        </p14:section>
        <p14:section name="정리" id="{f9bc85a2-2271-1729-5a3a-e23fbb92a3ee}">
          <p14:sldIdLst>
            <p14:sldId id="268"/>
          </p14:sldIdLst>
        </p14:section>
        <p14:section name="보충" id="{59007253-73ec-6d38-4ade-369c2d47262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도형과측정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선대칭과 점대칭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선대칭과 점대칭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선대칭과 점대칭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선대칭과 점대칭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접어서 겹치는 도형과 돌려서 겹치는 도형은 무엇이 다를까요?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점선을 따라 접으면 겹치는 화살표 모양과, 가운데 점을 중심으로 돌리면 겹치는 Z 모양"/>
          <p:cNvSpPr/>
          <p:nvPr/>
        </p:nvSpPr>
        <p:spPr>
          <a:xfrm>
            <a:off x="7764780" y="1350264"/>
            <a:ext cx="1505712" cy="1505712"/>
          </a:xfrm>
          <a:custGeom>
            <a:avLst/>
            <a:gdLst/>
            <a:ahLst/>
            <a:cxnLst/>
            <a:rect l="l" t="t" r="r" b="b"/>
            <a:pathLst>
              <a:path w="1505712" h="1505712">
                <a:moveTo>
                  <a:pt x="752856" y="0"/>
                </a:moveTo>
                <a:lnTo>
                  <a:pt x="1505712" y="752856"/>
                </a:lnTo>
                <a:lnTo>
                  <a:pt x="1129284" y="752856"/>
                </a:lnTo>
                <a:lnTo>
                  <a:pt x="1129284" y="1505712"/>
                </a:lnTo>
                <a:lnTo>
                  <a:pt x="376428" y="1505712"/>
                </a:lnTo>
                <a:lnTo>
                  <a:pt x="376428" y="752856"/>
                </a:lnTo>
                <a:lnTo>
                  <a:pt x="0" y="752856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023348" y="1601216"/>
            <a:ext cx="1505712" cy="1003808"/>
          </a:xfrm>
          <a:custGeom>
            <a:avLst/>
            <a:gdLst/>
            <a:ahLst/>
            <a:cxnLst/>
            <a:rect l="l" t="t" r="r" b="b"/>
            <a:pathLst>
              <a:path w="1505712" h="1003808">
                <a:moveTo>
                  <a:pt x="0" y="501904"/>
                </a:moveTo>
                <a:lnTo>
                  <a:pt x="0" y="0"/>
                </a:lnTo>
                <a:lnTo>
                  <a:pt x="1003808" y="0"/>
                </a:lnTo>
                <a:lnTo>
                  <a:pt x="1003808" y="501904"/>
                </a:lnTo>
                <a:lnTo>
                  <a:pt x="1505712" y="501904"/>
                </a:lnTo>
                <a:lnTo>
                  <a:pt x="1505712" y="1003808"/>
                </a:lnTo>
                <a:lnTo>
                  <a:pt x="501904" y="1003808"/>
                </a:lnTo>
                <a:lnTo>
                  <a:pt x="501904" y="501904"/>
                </a:lnTo>
                <a:close/>
              </a:path>
            </a:pathLst>
          </a:cu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 flipV="1">
            <a:off x="8517636" y="1149502"/>
            <a:ext cx="0" cy="1907235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1-mark5"/>
          <p:cNvSpPr/>
          <p:nvPr/>
        </p:nvSpPr>
        <p:spPr>
          <a:xfrm>
            <a:off x="10716768" y="204368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선대칭도형을 알고 완성해요.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점대칭도형을 알고 완성해요.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mark8"/>
          <p:cNvSpPr/>
          <p:nvPr/>
        </p:nvSpPr>
        <p:spPr>
          <a:xfrm>
            <a:off x="7081876" y="3302660"/>
            <a:ext cx="1407719" cy="1407719"/>
          </a:xfrm>
          <a:custGeom>
            <a:avLst/>
            <a:gdLst/>
            <a:ahLst/>
            <a:cxnLst/>
            <a:rect l="l" t="t" r="r" b="b"/>
            <a:pathLst>
              <a:path w="1407719" h="1407719">
                <a:moveTo>
                  <a:pt x="0" y="1407719"/>
                </a:moveTo>
                <a:lnTo>
                  <a:pt x="469240" y="1407719"/>
                </a:lnTo>
                <a:lnTo>
                  <a:pt x="469240" y="469240"/>
                </a:lnTo>
                <a:lnTo>
                  <a:pt x="1407719" y="469240"/>
                </a:lnTo>
                <a:lnTo>
                  <a:pt x="140771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02-mark9"/>
          <p:cNvSpPr/>
          <p:nvPr/>
        </p:nvSpPr>
        <p:spPr>
          <a:xfrm>
            <a:off x="9428074" y="2833421"/>
            <a:ext cx="1407719" cy="1407719"/>
          </a:xfrm>
          <a:custGeom>
            <a:avLst/>
            <a:gdLst/>
            <a:ahLst/>
            <a:cxnLst/>
            <a:rect l="l" t="t" r="r" b="b"/>
            <a:pathLst>
              <a:path w="1407719" h="1407719">
                <a:moveTo>
                  <a:pt x="1407719" y="0"/>
                </a:moveTo>
                <a:lnTo>
                  <a:pt x="938479" y="0"/>
                </a:lnTo>
                <a:lnTo>
                  <a:pt x="938479" y="938479"/>
                </a:lnTo>
                <a:lnTo>
                  <a:pt x="0" y="938479"/>
                </a:lnTo>
                <a:lnTo>
                  <a:pt x="0" y="1407719"/>
                </a:lnTo>
                <a:lnTo>
                  <a:pt x="1407719" y="1407719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5" name="S02-mark10"/>
          <p:cNvSpPr/>
          <p:nvPr/>
        </p:nvSpPr>
        <p:spPr>
          <a:xfrm flipV="1">
            <a:off x="6612636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2-mark11"/>
          <p:cNvSpPr/>
          <p:nvPr/>
        </p:nvSpPr>
        <p:spPr>
          <a:xfrm flipV="1">
            <a:off x="7081876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2-mark12"/>
          <p:cNvSpPr/>
          <p:nvPr/>
        </p:nvSpPr>
        <p:spPr>
          <a:xfrm flipV="1">
            <a:off x="7551115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13"/>
          <p:cNvSpPr/>
          <p:nvPr/>
        </p:nvSpPr>
        <p:spPr>
          <a:xfrm flipV="1">
            <a:off x="8020355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14"/>
          <p:cNvSpPr/>
          <p:nvPr/>
        </p:nvSpPr>
        <p:spPr>
          <a:xfrm flipV="1">
            <a:off x="8489594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15"/>
          <p:cNvSpPr/>
          <p:nvPr/>
        </p:nvSpPr>
        <p:spPr>
          <a:xfrm flipV="1">
            <a:off x="8958834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16"/>
          <p:cNvSpPr/>
          <p:nvPr/>
        </p:nvSpPr>
        <p:spPr>
          <a:xfrm flipV="1">
            <a:off x="9428074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17"/>
          <p:cNvSpPr/>
          <p:nvPr/>
        </p:nvSpPr>
        <p:spPr>
          <a:xfrm flipV="1">
            <a:off x="9897313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18"/>
          <p:cNvSpPr/>
          <p:nvPr/>
        </p:nvSpPr>
        <p:spPr>
          <a:xfrm flipV="1">
            <a:off x="10366553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19"/>
          <p:cNvSpPr/>
          <p:nvPr/>
        </p:nvSpPr>
        <p:spPr>
          <a:xfrm flipV="1">
            <a:off x="10835792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2-mark20"/>
          <p:cNvSpPr/>
          <p:nvPr/>
        </p:nvSpPr>
        <p:spPr>
          <a:xfrm flipV="1">
            <a:off x="11305032" y="2364181"/>
            <a:ext cx="0" cy="281543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2-mark21"/>
          <p:cNvSpPr/>
          <p:nvPr/>
        </p:nvSpPr>
        <p:spPr>
          <a:xfrm>
            <a:off x="6612636" y="5179619"/>
            <a:ext cx="46923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2-mark22"/>
          <p:cNvSpPr/>
          <p:nvPr/>
        </p:nvSpPr>
        <p:spPr>
          <a:xfrm>
            <a:off x="6612636" y="4710379"/>
            <a:ext cx="46923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2-mark23"/>
          <p:cNvSpPr/>
          <p:nvPr/>
        </p:nvSpPr>
        <p:spPr>
          <a:xfrm>
            <a:off x="6612636" y="4241140"/>
            <a:ext cx="46923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2-mark24"/>
          <p:cNvSpPr/>
          <p:nvPr/>
        </p:nvSpPr>
        <p:spPr>
          <a:xfrm>
            <a:off x="6612636" y="3771900"/>
            <a:ext cx="46923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2-mark25"/>
          <p:cNvSpPr/>
          <p:nvPr/>
        </p:nvSpPr>
        <p:spPr>
          <a:xfrm>
            <a:off x="6612636" y="3302660"/>
            <a:ext cx="46923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2-mark26"/>
          <p:cNvSpPr/>
          <p:nvPr/>
        </p:nvSpPr>
        <p:spPr>
          <a:xfrm>
            <a:off x="6612636" y="2833421"/>
            <a:ext cx="46923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2-mark27"/>
          <p:cNvSpPr/>
          <p:nvPr/>
        </p:nvSpPr>
        <p:spPr>
          <a:xfrm>
            <a:off x="6612636" y="2364181"/>
            <a:ext cx="46923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2-figure28" descr="모눈 위의 ㄱ자를 뒤집은 모양 ㉮와, 점 ㅇ을 중심으로 180° 돌린 모양 ㉯"/>
          <p:cNvSpPr/>
          <p:nvPr/>
        </p:nvSpPr>
        <p:spPr>
          <a:xfrm>
            <a:off x="7081876" y="3302660"/>
            <a:ext cx="1407719" cy="1407719"/>
          </a:xfrm>
          <a:custGeom>
            <a:avLst/>
            <a:gdLst/>
            <a:ahLst/>
            <a:cxnLst/>
            <a:rect l="l" t="t" r="r" b="b"/>
            <a:pathLst>
              <a:path w="1407719" h="1407719">
                <a:moveTo>
                  <a:pt x="0" y="1407719"/>
                </a:moveTo>
                <a:lnTo>
                  <a:pt x="469240" y="1407719"/>
                </a:lnTo>
                <a:lnTo>
                  <a:pt x="469240" y="469240"/>
                </a:lnTo>
                <a:lnTo>
                  <a:pt x="1407719" y="469240"/>
                </a:lnTo>
                <a:lnTo>
                  <a:pt x="140771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02-mark29"/>
          <p:cNvSpPr/>
          <p:nvPr/>
        </p:nvSpPr>
        <p:spPr>
          <a:xfrm>
            <a:off x="9428074" y="2833421"/>
            <a:ext cx="1407719" cy="1407719"/>
          </a:xfrm>
          <a:custGeom>
            <a:avLst/>
            <a:gdLst/>
            <a:ahLst/>
            <a:cxnLst/>
            <a:rect l="l" t="t" r="r" b="b"/>
            <a:pathLst>
              <a:path w="1407719" h="1407719">
                <a:moveTo>
                  <a:pt x="1407719" y="0"/>
                </a:moveTo>
                <a:lnTo>
                  <a:pt x="938479" y="0"/>
                </a:lnTo>
                <a:lnTo>
                  <a:pt x="938479" y="938479"/>
                </a:lnTo>
                <a:lnTo>
                  <a:pt x="0" y="938479"/>
                </a:lnTo>
                <a:lnTo>
                  <a:pt x="0" y="1407719"/>
                </a:lnTo>
                <a:lnTo>
                  <a:pt x="1407719" y="1407719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2-mark30"/>
          <p:cNvSpPr/>
          <p:nvPr/>
        </p:nvSpPr>
        <p:spPr>
          <a:xfrm>
            <a:off x="8899398" y="37124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2-label32"/>
          <p:cNvSpPr txBox="1"/>
          <p:nvPr/>
        </p:nvSpPr>
        <p:spPr>
          <a:xfrm>
            <a:off x="8717280" y="3757295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000" dirty="0"/>
          </a:p>
        </p:txBody>
      </p:sp>
      <p:sp>
        <p:nvSpPr>
          <p:cNvPr id="27" name="S02-label34"/>
          <p:cNvSpPr txBox="1"/>
          <p:nvPr/>
        </p:nvSpPr>
        <p:spPr>
          <a:xfrm>
            <a:off x="7593965" y="279956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㉮</a:t>
            </a:r>
            <a:endParaRPr lang="ko-KR" sz="2200" dirty="0"/>
          </a:p>
        </p:txBody>
      </p:sp>
      <p:sp>
        <p:nvSpPr>
          <p:cNvPr id="28" name="S02-label36"/>
          <p:cNvSpPr txBox="1"/>
          <p:nvPr/>
        </p:nvSpPr>
        <p:spPr>
          <a:xfrm>
            <a:off x="9940163" y="233032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㉯</a:t>
            </a:r>
            <a:endParaRPr lang="ko-KR" sz="2200" dirty="0"/>
          </a:p>
        </p:txBody>
      </p:sp>
      <p:sp>
        <p:nvSpPr>
          <p:cNvPr id="29" name="S02-chip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0" name="S02-text3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합동인 두 도형에서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대응변의 길이는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어떤가요?</a:t>
            </a:r>
            <a:endParaRPr lang="ko-KR" sz="2800" dirty="0"/>
          </a:p>
        </p:txBody>
      </p:sp>
      <p:sp>
        <p:nvSpPr>
          <p:cNvPr id="31" name="S02-chip3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2" name="S02-text40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㉯는 ㉮를 점 ㅇ을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중심으로 몇 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돌린 모양인가요?</a:t>
            </a:r>
            <a:endParaRPr lang="ko-KR" sz="2800" dirty="0"/>
          </a:p>
        </p:txBody>
      </p:sp>
      <p:sp>
        <p:nvSpPr>
          <p:cNvPr id="33" name="S02-chip4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4" name="S02-text42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직선이 직각으로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만나면 두 직선은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어떤 관계?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선대칭도형</a:t>
            </a:r>
            <a:endParaRPr lang="ko-KR" sz="4000" dirty="0"/>
          </a:p>
        </p:txBody>
      </p:sp>
      <p:sp>
        <p:nvSpPr>
          <p:cNvPr id="3" name="S03-figure43" descr="화살표 모양 선대칭도형과, 가운데를 세로로 지나는 점선 대칭축"/>
          <p:cNvSpPr/>
          <p:nvPr/>
        </p:nvSpPr>
        <p:spPr>
          <a:xfrm>
            <a:off x="1365223" y="1907005"/>
            <a:ext cx="3729789" cy="3729789"/>
          </a:xfrm>
          <a:custGeom>
            <a:avLst/>
            <a:gdLst/>
            <a:ahLst/>
            <a:cxnLst/>
            <a:rect l="l" t="t" r="r" b="b"/>
            <a:pathLst>
              <a:path w="3729789" h="3729789">
                <a:moveTo>
                  <a:pt x="1864895" y="0"/>
                </a:moveTo>
                <a:lnTo>
                  <a:pt x="3729789" y="1864895"/>
                </a:lnTo>
                <a:lnTo>
                  <a:pt x="2797342" y="1864895"/>
                </a:lnTo>
                <a:lnTo>
                  <a:pt x="2797342" y="3729789"/>
                </a:lnTo>
                <a:lnTo>
                  <a:pt x="932447" y="3729789"/>
                </a:lnTo>
                <a:lnTo>
                  <a:pt x="932447" y="1864895"/>
                </a:lnTo>
                <a:lnTo>
                  <a:pt x="0" y="1864895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3-mark44"/>
          <p:cNvSpPr/>
          <p:nvPr/>
        </p:nvSpPr>
        <p:spPr>
          <a:xfrm flipV="1">
            <a:off x="3230118" y="1409700"/>
            <a:ext cx="0" cy="472440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5" name="S03-label46"/>
          <p:cNvSpPr txBox="1"/>
          <p:nvPr/>
        </p:nvSpPr>
        <p:spPr>
          <a:xfrm>
            <a:off x="3759147" y="1421564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대칭축</a:t>
            </a:r>
            <a:endParaRPr lang="ko-KR" sz="2200" dirty="0"/>
          </a:p>
        </p:txBody>
      </p:sp>
      <p:sp>
        <p:nvSpPr>
          <p:cNvPr id="6" name="S03-card47"/>
          <p:cNvSpPr/>
          <p:nvPr/>
        </p:nvSpPr>
        <p:spPr>
          <a:xfrm>
            <a:off x="6277356" y="2307082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48"/>
          <p:cNvSpPr txBox="1"/>
          <p:nvPr/>
        </p:nvSpPr>
        <p:spPr>
          <a:xfrm>
            <a:off x="6551676" y="2444242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선대칭도형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직선을 따라 접었을 때 완전히 겹치는 도형</a:t>
            </a:r>
            <a:endParaRPr lang="ko-KR" sz="2800" dirty="0"/>
          </a:p>
        </p:txBody>
      </p:sp>
      <p:sp>
        <p:nvSpPr>
          <p:cNvPr id="8" name="S03-card49"/>
          <p:cNvSpPr/>
          <p:nvPr/>
        </p:nvSpPr>
        <p:spPr>
          <a:xfrm>
            <a:off x="6277356" y="4056634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50"/>
          <p:cNvSpPr txBox="1"/>
          <p:nvPr/>
        </p:nvSpPr>
        <p:spPr>
          <a:xfrm>
            <a:off x="6551676" y="4193794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대칭축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직선이에요. 점선으로 그려요.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선대칭도형의 성질</a:t>
            </a:r>
            <a:endParaRPr lang="ko-KR" sz="4000" dirty="0"/>
          </a:p>
        </p:txBody>
      </p:sp>
      <p:sp>
        <p:nvSpPr>
          <p:cNvPr id="3" name="S04-figure51" descr="대칭축이 세로 점선인 오각형 ㄱㄴㄷㄹㅁ. 변 ㄱㄴ과 ㄱㅁ, 변 ㄴㄷ과 ㅁㄹ에 같은 길이 표시, 각 ㄷ과 각 ㄹ에 같은 색, 점 ㄴ과 점 ㅁ을 이은 점선이 대칭축과 점 ㅅ에서 직각으로 만나고 ㄴㅅ과 ㅅㅁ이 3 cm로 같음"/>
          <p:cNvSpPr/>
          <p:nvPr/>
        </p:nvSpPr>
        <p:spPr>
          <a:xfrm>
            <a:off x="1447038" y="2286000"/>
            <a:ext cx="3566160" cy="2971800"/>
          </a:xfrm>
          <a:custGeom>
            <a:avLst/>
            <a:gdLst/>
            <a:ahLst/>
            <a:cxnLst/>
            <a:rect l="l" t="t" r="r" b="b"/>
            <a:pathLst>
              <a:path w="3566160" h="2971800">
                <a:moveTo>
                  <a:pt x="1783080" y="0"/>
                </a:moveTo>
                <a:lnTo>
                  <a:pt x="0" y="1188720"/>
                </a:lnTo>
                <a:lnTo>
                  <a:pt x="594360" y="2971800"/>
                </a:lnTo>
                <a:lnTo>
                  <a:pt x="2971800" y="2971800"/>
                </a:lnTo>
                <a:lnTo>
                  <a:pt x="3566160" y="118872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4-mark52"/>
          <p:cNvSpPr/>
          <p:nvPr/>
        </p:nvSpPr>
        <p:spPr>
          <a:xfrm>
            <a:off x="1926538" y="4894587"/>
            <a:ext cx="478080" cy="363213"/>
          </a:xfrm>
          <a:custGeom>
            <a:avLst/>
            <a:gdLst/>
            <a:ahLst/>
            <a:cxnLst/>
            <a:rect l="l" t="t" r="r" b="b"/>
            <a:pathLst>
              <a:path w="478080" h="363213">
                <a:moveTo>
                  <a:pt x="114860" y="363213"/>
                </a:moveTo>
                <a:lnTo>
                  <a:pt x="478080" y="363213"/>
                </a:lnTo>
                <a:lnTo>
                  <a:pt x="476952" y="334600"/>
                </a:lnTo>
                <a:lnTo>
                  <a:pt x="473572" y="306166"/>
                </a:lnTo>
                <a:lnTo>
                  <a:pt x="467964" y="278086"/>
                </a:lnTo>
                <a:lnTo>
                  <a:pt x="460161" y="250535"/>
                </a:lnTo>
                <a:lnTo>
                  <a:pt x="450212" y="223684"/>
                </a:lnTo>
                <a:lnTo>
                  <a:pt x="438178" y="197700"/>
                </a:lnTo>
                <a:lnTo>
                  <a:pt x="424135" y="172746"/>
                </a:lnTo>
                <a:lnTo>
                  <a:pt x="408170" y="148974"/>
                </a:lnTo>
                <a:lnTo>
                  <a:pt x="390382" y="126535"/>
                </a:lnTo>
                <a:lnTo>
                  <a:pt x="370882" y="105566"/>
                </a:lnTo>
                <a:lnTo>
                  <a:pt x="349790" y="86199"/>
                </a:lnTo>
                <a:lnTo>
                  <a:pt x="327239" y="68553"/>
                </a:lnTo>
                <a:lnTo>
                  <a:pt x="303367" y="52739"/>
                </a:lnTo>
                <a:lnTo>
                  <a:pt x="278324" y="38854"/>
                </a:lnTo>
                <a:lnTo>
                  <a:pt x="252265" y="26986"/>
                </a:lnTo>
                <a:lnTo>
                  <a:pt x="225352" y="17206"/>
                </a:lnTo>
                <a:lnTo>
                  <a:pt x="197752" y="9578"/>
                </a:lnTo>
                <a:lnTo>
                  <a:pt x="169637" y="4147"/>
                </a:lnTo>
                <a:lnTo>
                  <a:pt x="141182" y="948"/>
                </a:lnTo>
                <a:lnTo>
                  <a:pt x="112563" y="0"/>
                </a:lnTo>
                <a:lnTo>
                  <a:pt x="83958" y="1310"/>
                </a:lnTo>
                <a:lnTo>
                  <a:pt x="55545" y="4869"/>
                </a:lnTo>
                <a:lnTo>
                  <a:pt x="27501" y="10655"/>
                </a:lnTo>
                <a:lnTo>
                  <a:pt x="0" y="18632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5" name="S04-mark53"/>
          <p:cNvSpPr/>
          <p:nvPr/>
        </p:nvSpPr>
        <p:spPr>
          <a:xfrm>
            <a:off x="4055618" y="4894587"/>
            <a:ext cx="478080" cy="363213"/>
          </a:xfrm>
          <a:custGeom>
            <a:avLst/>
            <a:gdLst/>
            <a:ahLst/>
            <a:cxnLst/>
            <a:rect l="l" t="t" r="r" b="b"/>
            <a:pathLst>
              <a:path w="478080" h="363213">
                <a:moveTo>
                  <a:pt x="363220" y="363213"/>
                </a:moveTo>
                <a:lnTo>
                  <a:pt x="478080" y="18632"/>
                </a:lnTo>
                <a:lnTo>
                  <a:pt x="450579" y="10655"/>
                </a:lnTo>
                <a:lnTo>
                  <a:pt x="422535" y="4869"/>
                </a:lnTo>
                <a:lnTo>
                  <a:pt x="394122" y="1310"/>
                </a:lnTo>
                <a:lnTo>
                  <a:pt x="365518" y="0"/>
                </a:lnTo>
                <a:lnTo>
                  <a:pt x="336899" y="948"/>
                </a:lnTo>
                <a:lnTo>
                  <a:pt x="308443" y="4147"/>
                </a:lnTo>
                <a:lnTo>
                  <a:pt x="280328" y="9578"/>
                </a:lnTo>
                <a:lnTo>
                  <a:pt x="252729" y="17206"/>
                </a:lnTo>
                <a:lnTo>
                  <a:pt x="225815" y="26986"/>
                </a:lnTo>
                <a:lnTo>
                  <a:pt x="199756" y="38854"/>
                </a:lnTo>
                <a:lnTo>
                  <a:pt x="174713" y="52739"/>
                </a:lnTo>
                <a:lnTo>
                  <a:pt x="150842" y="68553"/>
                </a:lnTo>
                <a:lnTo>
                  <a:pt x="128290" y="86199"/>
                </a:lnTo>
                <a:lnTo>
                  <a:pt x="107198" y="105566"/>
                </a:lnTo>
                <a:lnTo>
                  <a:pt x="87698" y="126535"/>
                </a:lnTo>
                <a:lnTo>
                  <a:pt x="69910" y="148974"/>
                </a:lnTo>
                <a:lnTo>
                  <a:pt x="53945" y="172746"/>
                </a:lnTo>
                <a:lnTo>
                  <a:pt x="39902" y="197700"/>
                </a:lnTo>
                <a:lnTo>
                  <a:pt x="27869" y="223684"/>
                </a:lnTo>
                <a:lnTo>
                  <a:pt x="17920" y="250535"/>
                </a:lnTo>
                <a:lnTo>
                  <a:pt x="10116" y="278086"/>
                </a:lnTo>
                <a:lnTo>
                  <a:pt x="4508" y="306166"/>
                </a:lnTo>
                <a:lnTo>
                  <a:pt x="1129" y="334600"/>
                </a:lnTo>
                <a:lnTo>
                  <a:pt x="0" y="363213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6" name="S04-mark54"/>
          <p:cNvSpPr/>
          <p:nvPr/>
        </p:nvSpPr>
        <p:spPr>
          <a:xfrm>
            <a:off x="3230118" y="326517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04-mark55"/>
          <p:cNvSpPr/>
          <p:nvPr/>
        </p:nvSpPr>
        <p:spPr>
          <a:xfrm flipV="1">
            <a:off x="3230118" y="1691640"/>
            <a:ext cx="0" cy="416052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4-mark56"/>
          <p:cNvSpPr/>
          <p:nvPr/>
        </p:nvSpPr>
        <p:spPr>
          <a:xfrm>
            <a:off x="1447038" y="3474720"/>
            <a:ext cx="178308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4-mark57"/>
          <p:cNvSpPr/>
          <p:nvPr/>
        </p:nvSpPr>
        <p:spPr>
          <a:xfrm>
            <a:off x="3230118" y="3474720"/>
            <a:ext cx="178308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4-mark58"/>
          <p:cNvSpPr/>
          <p:nvPr/>
        </p:nvSpPr>
        <p:spPr>
          <a:xfrm>
            <a:off x="2324630" y="2788920"/>
            <a:ext cx="92990" cy="13948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mark59"/>
          <p:cNvSpPr/>
          <p:nvPr/>
        </p:nvSpPr>
        <p:spPr>
          <a:xfrm>
            <a:off x="2259537" y="2832315"/>
            <a:ext cx="92990" cy="13948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mark60"/>
          <p:cNvSpPr/>
          <p:nvPr/>
        </p:nvSpPr>
        <p:spPr>
          <a:xfrm flipV="1">
            <a:off x="1664699" y="4339754"/>
            <a:ext cx="159037" cy="5301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mark61"/>
          <p:cNvSpPr/>
          <p:nvPr/>
        </p:nvSpPr>
        <p:spPr>
          <a:xfrm flipH="1" flipV="1">
            <a:off x="4636499" y="4339754"/>
            <a:ext cx="159037" cy="5301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mark62"/>
          <p:cNvSpPr/>
          <p:nvPr/>
        </p:nvSpPr>
        <p:spPr>
          <a:xfrm flipH="1">
            <a:off x="4107710" y="2832315"/>
            <a:ext cx="92990" cy="13948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mark63"/>
          <p:cNvSpPr/>
          <p:nvPr/>
        </p:nvSpPr>
        <p:spPr>
          <a:xfrm flipH="1">
            <a:off x="4042617" y="2788920"/>
            <a:ext cx="92990" cy="13948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65"/>
          <p:cNvSpPr txBox="1"/>
          <p:nvPr/>
        </p:nvSpPr>
        <p:spPr>
          <a:xfrm>
            <a:off x="1956816" y="355155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17" name="S04-label67"/>
          <p:cNvSpPr txBox="1"/>
          <p:nvPr/>
        </p:nvSpPr>
        <p:spPr>
          <a:xfrm>
            <a:off x="3739896" y="355155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18" name="S04-label69"/>
          <p:cNvSpPr txBox="1"/>
          <p:nvPr/>
        </p:nvSpPr>
        <p:spPr>
          <a:xfrm>
            <a:off x="3146617" y="1889822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19" name="S04-label71"/>
          <p:cNvSpPr txBox="1"/>
          <p:nvPr/>
        </p:nvSpPr>
        <p:spPr>
          <a:xfrm>
            <a:off x="985631" y="3196275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20" name="S04-label73"/>
          <p:cNvSpPr txBox="1"/>
          <p:nvPr/>
        </p:nvSpPr>
        <p:spPr>
          <a:xfrm>
            <a:off x="1669150" y="520100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21" name="S04-label75"/>
          <p:cNvSpPr txBox="1"/>
          <p:nvPr/>
        </p:nvSpPr>
        <p:spPr>
          <a:xfrm>
            <a:off x="4307978" y="520100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000" dirty="0"/>
          </a:p>
        </p:txBody>
      </p:sp>
      <p:sp>
        <p:nvSpPr>
          <p:cNvPr id="22" name="S04-label77"/>
          <p:cNvSpPr txBox="1"/>
          <p:nvPr/>
        </p:nvSpPr>
        <p:spPr>
          <a:xfrm>
            <a:off x="4991497" y="3196275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000" dirty="0"/>
          </a:p>
        </p:txBody>
      </p:sp>
      <p:sp>
        <p:nvSpPr>
          <p:cNvPr id="23" name="S04-label79"/>
          <p:cNvSpPr txBox="1"/>
          <p:nvPr/>
        </p:nvSpPr>
        <p:spPr>
          <a:xfrm>
            <a:off x="2830511" y="3078542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3000" dirty="0"/>
          </a:p>
        </p:txBody>
      </p:sp>
      <p:sp>
        <p:nvSpPr>
          <p:cNvPr id="24" name="S04-card80"/>
          <p:cNvSpPr/>
          <p:nvPr/>
        </p:nvSpPr>
        <p:spPr>
          <a:xfrm>
            <a:off x="6277356" y="2307082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4-cardtext81"/>
          <p:cNvSpPr txBox="1"/>
          <p:nvPr/>
        </p:nvSpPr>
        <p:spPr>
          <a:xfrm>
            <a:off x="6551676" y="2444242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대응변·대응각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길이와 크기가 각각 같아요.</a:t>
            </a:r>
            <a:endParaRPr lang="ko-KR" sz="2800" dirty="0"/>
          </a:p>
        </p:txBody>
      </p:sp>
      <p:sp>
        <p:nvSpPr>
          <p:cNvPr id="26" name="S04-card82"/>
          <p:cNvSpPr/>
          <p:nvPr/>
        </p:nvSpPr>
        <p:spPr>
          <a:xfrm>
            <a:off x="6277356" y="3715766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04-cardtext83"/>
          <p:cNvSpPr txBox="1"/>
          <p:nvPr/>
        </p:nvSpPr>
        <p:spPr>
          <a:xfrm>
            <a:off x="6551676" y="3852926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대응점을 이은 선분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대칭축과 수직으로 만나고, 둘로 똑같이 나뉘어요.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대칭축은 몇 개일까요?</a:t>
            </a:r>
            <a:endParaRPr lang="ko-KR" sz="4000" dirty="0"/>
          </a:p>
        </p:txBody>
      </p:sp>
      <p:sp>
        <p:nvSpPr>
          <p:cNvPr id="3" name="S05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종이로 오려 여러 방향으로 접어 보며 세어요.</a:t>
            </a:r>
            <a:endParaRPr lang="ko-KR" sz="2800" dirty="0"/>
          </a:p>
        </p:txBody>
      </p:sp>
      <p:sp>
        <p:nvSpPr>
          <p:cNvPr id="5" name="S05-figure86" descr="정사각형"/>
          <p:cNvSpPr/>
          <p:nvPr/>
        </p:nvSpPr>
        <p:spPr>
          <a:xfrm>
            <a:off x="1129284" y="2312289"/>
            <a:ext cx="1371600" cy="1371600"/>
          </a:xfrm>
          <a:custGeom>
            <a:avLst/>
            <a:gdLst/>
            <a:ahLst/>
            <a:cxnLst/>
            <a:rect l="l" t="t" r="r" b="b"/>
            <a:pathLst>
              <a:path w="1371600" h="1371600">
                <a:moveTo>
                  <a:pt x="0" y="1371600"/>
                </a:moveTo>
                <a:lnTo>
                  <a:pt x="1371600" y="1371600"/>
                </a:lnTo>
                <a:lnTo>
                  <a:pt x="137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5-label87"/>
          <p:cNvSpPr txBox="1"/>
          <p:nvPr/>
        </p:nvSpPr>
        <p:spPr>
          <a:xfrm>
            <a:off x="548640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정사각형</a:t>
            </a:r>
            <a:endParaRPr lang="ko-KR" sz="2200" dirty="0"/>
          </a:p>
        </p:txBody>
      </p:sp>
      <p:sp>
        <p:nvSpPr>
          <p:cNvPr id="7" name="S05-figure88" descr="정사각형이 아닌 직사각형"/>
          <p:cNvSpPr/>
          <p:nvPr/>
        </p:nvSpPr>
        <p:spPr>
          <a:xfrm>
            <a:off x="3639312" y="2426589"/>
            <a:ext cx="2057400" cy="1143000"/>
          </a:xfrm>
          <a:custGeom>
            <a:avLst/>
            <a:gdLst/>
            <a:ahLst/>
            <a:cxnLst/>
            <a:rect l="l" t="t" r="r" b="b"/>
            <a:pathLst>
              <a:path w="2057400" h="1143000">
                <a:moveTo>
                  <a:pt x="0" y="1143000"/>
                </a:moveTo>
                <a:lnTo>
                  <a:pt x="2057400" y="1143000"/>
                </a:lnTo>
                <a:lnTo>
                  <a:pt x="2057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5-label89"/>
          <p:cNvSpPr txBox="1"/>
          <p:nvPr/>
        </p:nvSpPr>
        <p:spPr>
          <a:xfrm>
            <a:off x="3401568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직사각형</a:t>
            </a:r>
            <a:endParaRPr lang="ko-KR" sz="2200" dirty="0"/>
          </a:p>
        </p:txBody>
      </p:sp>
      <p:sp>
        <p:nvSpPr>
          <p:cNvPr id="9" name="S05-figure90" descr="정삼각형"/>
          <p:cNvSpPr/>
          <p:nvPr/>
        </p:nvSpPr>
        <p:spPr>
          <a:xfrm>
            <a:off x="6720840" y="2305180"/>
            <a:ext cx="1600200" cy="1385819"/>
          </a:xfrm>
          <a:custGeom>
            <a:avLst/>
            <a:gdLst/>
            <a:ahLst/>
            <a:cxnLst/>
            <a:rect l="l" t="t" r="r" b="b"/>
            <a:pathLst>
              <a:path w="1600200" h="1385819">
                <a:moveTo>
                  <a:pt x="0" y="1385819"/>
                </a:moveTo>
                <a:lnTo>
                  <a:pt x="1600200" y="1385819"/>
                </a:lnTo>
                <a:lnTo>
                  <a:pt x="80010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5-label91"/>
          <p:cNvSpPr txBox="1"/>
          <p:nvPr/>
        </p:nvSpPr>
        <p:spPr>
          <a:xfrm>
            <a:off x="6254496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정삼각형</a:t>
            </a:r>
            <a:endParaRPr lang="ko-KR" sz="2200" dirty="0"/>
          </a:p>
        </p:txBody>
      </p:sp>
      <p:sp>
        <p:nvSpPr>
          <p:cNvPr id="11" name="S05-figure92" descr="직사각형도 마름모도 아닌 평행사변형"/>
          <p:cNvSpPr/>
          <p:nvPr/>
        </p:nvSpPr>
        <p:spPr>
          <a:xfrm>
            <a:off x="9345168" y="2540889"/>
            <a:ext cx="2057400" cy="914400"/>
          </a:xfrm>
          <a:custGeom>
            <a:avLst/>
            <a:gdLst/>
            <a:ahLst/>
            <a:cxnLst/>
            <a:rect l="l" t="t" r="r" b="b"/>
            <a:pathLst>
              <a:path w="2057400" h="914400">
                <a:moveTo>
                  <a:pt x="0" y="914400"/>
                </a:moveTo>
                <a:lnTo>
                  <a:pt x="1371600" y="914400"/>
                </a:lnTo>
                <a:lnTo>
                  <a:pt x="2057400" y="0"/>
                </a:lnTo>
                <a:lnTo>
                  <a:pt x="68580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5-label93"/>
          <p:cNvSpPr txBox="1"/>
          <p:nvPr/>
        </p:nvSpPr>
        <p:spPr>
          <a:xfrm>
            <a:off x="9107424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평행사변형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선대칭도형 완성하기</a:t>
            </a:r>
            <a:endParaRPr lang="ko-KR" sz="4000" dirty="0"/>
          </a:p>
        </p:txBody>
      </p:sp>
      <p:sp>
        <p:nvSpPr>
          <p:cNvPr id="3" name="S06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대응점은 대칭축에서 같은 거리에, 같은 높이에 있어요.</a:t>
            </a:r>
            <a:endParaRPr lang="ko-KR" sz="2800" dirty="0"/>
          </a:p>
        </p:txBody>
      </p:sp>
      <p:sp>
        <p:nvSpPr>
          <p:cNvPr id="5" name="S06-mark96"/>
          <p:cNvSpPr/>
          <p:nvPr/>
        </p:nvSpPr>
        <p:spPr>
          <a:xfrm flipV="1">
            <a:off x="7310445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6-mark97"/>
          <p:cNvSpPr/>
          <p:nvPr/>
        </p:nvSpPr>
        <p:spPr>
          <a:xfrm flipV="1">
            <a:off x="7749357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6-mark98"/>
          <p:cNvSpPr/>
          <p:nvPr/>
        </p:nvSpPr>
        <p:spPr>
          <a:xfrm flipV="1">
            <a:off x="8188269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6-mark99"/>
          <p:cNvSpPr/>
          <p:nvPr/>
        </p:nvSpPr>
        <p:spPr>
          <a:xfrm flipV="1">
            <a:off x="8627181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6-mark100"/>
          <p:cNvSpPr/>
          <p:nvPr/>
        </p:nvSpPr>
        <p:spPr>
          <a:xfrm flipV="1">
            <a:off x="9066093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101"/>
          <p:cNvSpPr/>
          <p:nvPr/>
        </p:nvSpPr>
        <p:spPr>
          <a:xfrm flipV="1">
            <a:off x="9505005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102"/>
          <p:cNvSpPr/>
          <p:nvPr/>
        </p:nvSpPr>
        <p:spPr>
          <a:xfrm flipV="1">
            <a:off x="9943917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103"/>
          <p:cNvSpPr/>
          <p:nvPr/>
        </p:nvSpPr>
        <p:spPr>
          <a:xfrm flipV="1">
            <a:off x="10382829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104"/>
          <p:cNvSpPr/>
          <p:nvPr/>
        </p:nvSpPr>
        <p:spPr>
          <a:xfrm flipV="1">
            <a:off x="10821741" y="1687068"/>
            <a:ext cx="0" cy="30723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105"/>
          <p:cNvSpPr/>
          <p:nvPr/>
        </p:nvSpPr>
        <p:spPr>
          <a:xfrm>
            <a:off x="7310445" y="4759452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106"/>
          <p:cNvSpPr/>
          <p:nvPr/>
        </p:nvSpPr>
        <p:spPr>
          <a:xfrm>
            <a:off x="7310445" y="4320540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6-mark107"/>
          <p:cNvSpPr/>
          <p:nvPr/>
        </p:nvSpPr>
        <p:spPr>
          <a:xfrm>
            <a:off x="7310445" y="3881628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6-mark108"/>
          <p:cNvSpPr/>
          <p:nvPr/>
        </p:nvSpPr>
        <p:spPr>
          <a:xfrm>
            <a:off x="7310445" y="3442716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6-mark109"/>
          <p:cNvSpPr/>
          <p:nvPr/>
        </p:nvSpPr>
        <p:spPr>
          <a:xfrm>
            <a:off x="7310445" y="3003804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6-mark110"/>
          <p:cNvSpPr/>
          <p:nvPr/>
        </p:nvSpPr>
        <p:spPr>
          <a:xfrm>
            <a:off x="7310445" y="2564892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6-mark111"/>
          <p:cNvSpPr/>
          <p:nvPr/>
        </p:nvSpPr>
        <p:spPr>
          <a:xfrm>
            <a:off x="7310445" y="2125980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6-mark112"/>
          <p:cNvSpPr/>
          <p:nvPr/>
        </p:nvSpPr>
        <p:spPr>
          <a:xfrm>
            <a:off x="7310445" y="1687068"/>
            <a:ext cx="351129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6-figure113" descr="모눈 위 세로 점선 대칭축 왼쪽에 그린 반쪽(검은 선)과, 축 오른쪽에 거울처럼 그린 반쪽(주황 선). 점 ㄷ은 축에서 왼쪽으로 3칸, 대응점은 오른쪽으로 3칸"/>
          <p:cNvSpPr/>
          <p:nvPr/>
        </p:nvSpPr>
        <p:spPr>
          <a:xfrm>
            <a:off x="7749357" y="2125980"/>
            <a:ext cx="1316736" cy="2194560"/>
          </a:xfrm>
          <a:custGeom>
            <a:avLst/>
            <a:gdLst/>
            <a:ahLst/>
            <a:cxnLst/>
            <a:rect l="l" t="t" r="r" b="b"/>
            <a:pathLst>
              <a:path w="1316736" h="2194560">
                <a:moveTo>
                  <a:pt x="1316736" y="0"/>
                </a:moveTo>
                <a:lnTo>
                  <a:pt x="438912" y="0"/>
                </a:lnTo>
                <a:lnTo>
                  <a:pt x="877824" y="877824"/>
                </a:lnTo>
                <a:lnTo>
                  <a:pt x="0" y="1755648"/>
                </a:lnTo>
                <a:lnTo>
                  <a:pt x="877824" y="2194560"/>
                </a:lnTo>
                <a:lnTo>
                  <a:pt x="1316736" y="2194560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6-mark114"/>
          <p:cNvSpPr/>
          <p:nvPr/>
        </p:nvSpPr>
        <p:spPr>
          <a:xfrm>
            <a:off x="9066093" y="2125980"/>
            <a:ext cx="1316736" cy="2194560"/>
          </a:xfrm>
          <a:custGeom>
            <a:avLst/>
            <a:gdLst/>
            <a:ahLst/>
            <a:cxnLst/>
            <a:rect l="l" t="t" r="r" b="b"/>
            <a:pathLst>
              <a:path w="1316736" h="2194560">
                <a:moveTo>
                  <a:pt x="0" y="0"/>
                </a:moveTo>
                <a:lnTo>
                  <a:pt x="877824" y="0"/>
                </a:lnTo>
                <a:lnTo>
                  <a:pt x="438912" y="877824"/>
                </a:lnTo>
                <a:lnTo>
                  <a:pt x="1316736" y="1755648"/>
                </a:lnTo>
                <a:lnTo>
                  <a:pt x="438912" y="2194560"/>
                </a:lnTo>
                <a:lnTo>
                  <a:pt x="0" y="2194560"/>
                </a:lnTo>
              </a:path>
            </a:pathLst>
          </a:custGeom>
          <a:noFill/>
          <a:ln w="28575">
            <a:solidFill>
              <a:srgbClr val="E9762B"/>
            </a:solidFill>
            <a:prstDash val="solid"/>
          </a:ln>
        </p:spPr>
      </p:sp>
      <p:sp>
        <p:nvSpPr>
          <p:cNvPr id="24" name="S06-mark115"/>
          <p:cNvSpPr/>
          <p:nvPr/>
        </p:nvSpPr>
        <p:spPr>
          <a:xfrm flipV="1">
            <a:off x="9066093" y="1687068"/>
            <a:ext cx="0" cy="3072384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5" name="S06-mark116"/>
          <p:cNvSpPr/>
          <p:nvPr/>
        </p:nvSpPr>
        <p:spPr>
          <a:xfrm>
            <a:off x="7749357" y="3881628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6" name="S06-mark117"/>
          <p:cNvSpPr/>
          <p:nvPr/>
        </p:nvSpPr>
        <p:spPr>
          <a:xfrm>
            <a:off x="9066093" y="3881628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7" name="S06-label119"/>
          <p:cNvSpPr txBox="1"/>
          <p:nvPr/>
        </p:nvSpPr>
        <p:spPr>
          <a:xfrm>
            <a:off x="8123753" y="345554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</a:t>
            </a:r>
            <a:endParaRPr lang="ko-KR" sz="2200" dirty="0"/>
          </a:p>
        </p:txBody>
      </p:sp>
      <p:sp>
        <p:nvSpPr>
          <p:cNvPr id="28" name="S06-label121"/>
          <p:cNvSpPr txBox="1"/>
          <p:nvPr/>
        </p:nvSpPr>
        <p:spPr>
          <a:xfrm>
            <a:off x="9440489" y="345554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</a:t>
            </a:r>
            <a:endParaRPr lang="ko-KR" sz="2200" dirty="0"/>
          </a:p>
        </p:txBody>
      </p:sp>
      <p:sp>
        <p:nvSpPr>
          <p:cNvPr id="29" name="S06-mark122"/>
          <p:cNvSpPr/>
          <p:nvPr/>
        </p:nvSpPr>
        <p:spPr>
          <a:xfrm>
            <a:off x="7689921" y="382219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mark123"/>
          <p:cNvSpPr/>
          <p:nvPr/>
        </p:nvSpPr>
        <p:spPr>
          <a:xfrm>
            <a:off x="10323393" y="382219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label125"/>
          <p:cNvSpPr txBox="1"/>
          <p:nvPr/>
        </p:nvSpPr>
        <p:spPr>
          <a:xfrm>
            <a:off x="7284283" y="3643503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32" name="S06-stepno126"/>
          <p:cNvSpPr txBox="1"/>
          <p:nvPr/>
        </p:nvSpPr>
        <p:spPr>
          <a:xfrm>
            <a:off x="548640" y="1802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3" name="S06-text127"/>
          <p:cNvSpPr txBox="1"/>
          <p:nvPr/>
        </p:nvSpPr>
        <p:spPr>
          <a:xfrm>
            <a:off x="1325880" y="1757172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ㄷ에서 대칭축까지 칸 수를 세어요.</a:t>
            </a:r>
            <a:endParaRPr lang="ko-KR" sz="2800" dirty="0"/>
          </a:p>
        </p:txBody>
      </p:sp>
      <p:sp>
        <p:nvSpPr>
          <p:cNvPr id="34" name="S06-stepno128"/>
          <p:cNvSpPr txBox="1"/>
          <p:nvPr/>
        </p:nvSpPr>
        <p:spPr>
          <a:xfrm>
            <a:off x="548640" y="2835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5" name="S06-text129"/>
          <p:cNvSpPr txBox="1"/>
          <p:nvPr/>
        </p:nvSpPr>
        <p:spPr>
          <a:xfrm>
            <a:off x="1325880" y="2789428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반대쪽으로 같은 칸 수만큼 가서 대응점을 찍어요.</a:t>
            </a:r>
            <a:endParaRPr lang="ko-KR" sz="2800" dirty="0"/>
          </a:p>
        </p:txBody>
      </p:sp>
      <p:sp>
        <p:nvSpPr>
          <p:cNvPr id="36" name="S06-stepno130"/>
          <p:cNvSpPr txBox="1"/>
          <p:nvPr/>
        </p:nvSpPr>
        <p:spPr>
          <a:xfrm>
            <a:off x="548640" y="3867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7" name="S06-text131"/>
          <p:cNvSpPr txBox="1"/>
          <p:nvPr/>
        </p:nvSpPr>
        <p:spPr>
          <a:xfrm>
            <a:off x="1325880" y="3821684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점도 찍고 차례로 이어요.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그렸을까요?</a:t>
            </a:r>
            <a:endParaRPr lang="ko-KR" sz="4000" dirty="0"/>
          </a:p>
        </p:txBody>
      </p:sp>
      <p:sp>
        <p:nvSpPr>
          <p:cNvPr id="3" name="S07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점선을 따라 접으면 어느 그림이 완전히 겹칠까요?</a:t>
            </a:r>
            <a:endParaRPr lang="ko-KR" sz="2800" dirty="0"/>
          </a:p>
        </p:txBody>
      </p:sp>
      <p:sp>
        <p:nvSpPr>
          <p:cNvPr id="5" name="S07-mark134"/>
          <p:cNvSpPr/>
          <p:nvPr/>
        </p:nvSpPr>
        <p:spPr>
          <a:xfrm flipV="1">
            <a:off x="1426246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7-mark135"/>
          <p:cNvSpPr/>
          <p:nvPr/>
        </p:nvSpPr>
        <p:spPr>
          <a:xfrm flipV="1">
            <a:off x="1880072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7-mark136"/>
          <p:cNvSpPr/>
          <p:nvPr/>
        </p:nvSpPr>
        <p:spPr>
          <a:xfrm flipV="1">
            <a:off x="2333897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7-mark137"/>
          <p:cNvSpPr/>
          <p:nvPr/>
        </p:nvSpPr>
        <p:spPr>
          <a:xfrm flipV="1">
            <a:off x="2787723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7-mark138"/>
          <p:cNvSpPr/>
          <p:nvPr/>
        </p:nvSpPr>
        <p:spPr>
          <a:xfrm flipV="1">
            <a:off x="3241548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139"/>
          <p:cNvSpPr/>
          <p:nvPr/>
        </p:nvSpPr>
        <p:spPr>
          <a:xfrm flipV="1">
            <a:off x="3695373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140"/>
          <p:cNvSpPr/>
          <p:nvPr/>
        </p:nvSpPr>
        <p:spPr>
          <a:xfrm flipV="1">
            <a:off x="4149199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141"/>
          <p:cNvSpPr/>
          <p:nvPr/>
        </p:nvSpPr>
        <p:spPr>
          <a:xfrm flipV="1">
            <a:off x="4603024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142"/>
          <p:cNvSpPr/>
          <p:nvPr/>
        </p:nvSpPr>
        <p:spPr>
          <a:xfrm flipV="1">
            <a:off x="5056850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143"/>
          <p:cNvSpPr/>
          <p:nvPr/>
        </p:nvSpPr>
        <p:spPr>
          <a:xfrm>
            <a:off x="1426246" y="4586478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144"/>
          <p:cNvSpPr/>
          <p:nvPr/>
        </p:nvSpPr>
        <p:spPr>
          <a:xfrm>
            <a:off x="1426246" y="4132653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7-mark145"/>
          <p:cNvSpPr/>
          <p:nvPr/>
        </p:nvSpPr>
        <p:spPr>
          <a:xfrm>
            <a:off x="1426246" y="3678827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7-mark146"/>
          <p:cNvSpPr/>
          <p:nvPr/>
        </p:nvSpPr>
        <p:spPr>
          <a:xfrm>
            <a:off x="1426246" y="3225002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7-mark147"/>
          <p:cNvSpPr/>
          <p:nvPr/>
        </p:nvSpPr>
        <p:spPr>
          <a:xfrm>
            <a:off x="1426246" y="2771176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7-mark148"/>
          <p:cNvSpPr/>
          <p:nvPr/>
        </p:nvSpPr>
        <p:spPr>
          <a:xfrm>
            <a:off x="1426246" y="2317351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7-mark149"/>
          <p:cNvSpPr/>
          <p:nvPr/>
        </p:nvSpPr>
        <p:spPr>
          <a:xfrm>
            <a:off x="1426246" y="1863525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7-mark150"/>
          <p:cNvSpPr/>
          <p:nvPr/>
        </p:nvSpPr>
        <p:spPr>
          <a:xfrm>
            <a:off x="1426246" y="1409700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7-figure151" descr="토끼의 그림: 왼쪽 반쪽을 뒤집지 않고 오른쪽으로 3칸 밀어 그림"/>
          <p:cNvSpPr/>
          <p:nvPr/>
        </p:nvSpPr>
        <p:spPr>
          <a:xfrm>
            <a:off x="1880072" y="1863525"/>
            <a:ext cx="1361476" cy="2269127"/>
          </a:xfrm>
          <a:custGeom>
            <a:avLst/>
            <a:gdLst/>
            <a:ahLst/>
            <a:cxnLst/>
            <a:rect l="l" t="t" r="r" b="b"/>
            <a:pathLst>
              <a:path w="1361476" h="2269127">
                <a:moveTo>
                  <a:pt x="1361476" y="0"/>
                </a:moveTo>
                <a:lnTo>
                  <a:pt x="453825" y="0"/>
                </a:lnTo>
                <a:lnTo>
                  <a:pt x="907651" y="907651"/>
                </a:lnTo>
                <a:lnTo>
                  <a:pt x="0" y="1815302"/>
                </a:lnTo>
                <a:lnTo>
                  <a:pt x="907651" y="2269127"/>
                </a:lnTo>
                <a:lnTo>
                  <a:pt x="1361476" y="2269127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7-mark152"/>
          <p:cNvSpPr/>
          <p:nvPr/>
        </p:nvSpPr>
        <p:spPr>
          <a:xfrm>
            <a:off x="3241548" y="1863525"/>
            <a:ext cx="1361476" cy="2269127"/>
          </a:xfrm>
          <a:custGeom>
            <a:avLst/>
            <a:gdLst/>
            <a:ahLst/>
            <a:cxnLst/>
            <a:rect l="l" t="t" r="r" b="b"/>
            <a:pathLst>
              <a:path w="1361476" h="2269127">
                <a:moveTo>
                  <a:pt x="1361476" y="0"/>
                </a:moveTo>
                <a:lnTo>
                  <a:pt x="453825" y="0"/>
                </a:lnTo>
                <a:lnTo>
                  <a:pt x="907651" y="907651"/>
                </a:lnTo>
                <a:lnTo>
                  <a:pt x="0" y="1815302"/>
                </a:lnTo>
                <a:lnTo>
                  <a:pt x="907651" y="2269127"/>
                </a:lnTo>
                <a:lnTo>
                  <a:pt x="1361476" y="2269127"/>
                </a:lnTo>
              </a:path>
            </a:pathLst>
          </a:custGeom>
          <a:noFill/>
          <a:ln w="28575">
            <a:solidFill>
              <a:srgbClr val="E9762B"/>
            </a:solidFill>
            <a:prstDash val="solid"/>
          </a:ln>
        </p:spPr>
      </p:sp>
      <p:sp>
        <p:nvSpPr>
          <p:cNvPr id="24" name="S07-mark153"/>
          <p:cNvSpPr/>
          <p:nvPr/>
        </p:nvSpPr>
        <p:spPr>
          <a:xfrm flipV="1">
            <a:off x="3241548" y="1409700"/>
            <a:ext cx="0" cy="317677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5" name="S07-label154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똑같이 옮겨 그렸어요</a:t>
            </a:r>
            <a:endParaRPr lang="ko-KR" sz="2200" dirty="0"/>
          </a:p>
        </p:txBody>
      </p:sp>
      <p:sp>
        <p:nvSpPr>
          <p:cNvPr id="26" name="S07-mark155"/>
          <p:cNvSpPr/>
          <p:nvPr/>
        </p:nvSpPr>
        <p:spPr>
          <a:xfrm flipV="1">
            <a:off x="7132102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7-mark156"/>
          <p:cNvSpPr/>
          <p:nvPr/>
        </p:nvSpPr>
        <p:spPr>
          <a:xfrm flipV="1">
            <a:off x="7585928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7-mark157"/>
          <p:cNvSpPr/>
          <p:nvPr/>
        </p:nvSpPr>
        <p:spPr>
          <a:xfrm flipV="1">
            <a:off x="8039753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7-mark158"/>
          <p:cNvSpPr/>
          <p:nvPr/>
        </p:nvSpPr>
        <p:spPr>
          <a:xfrm flipV="1">
            <a:off x="8493579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7-mark159"/>
          <p:cNvSpPr/>
          <p:nvPr/>
        </p:nvSpPr>
        <p:spPr>
          <a:xfrm flipV="1">
            <a:off x="8947404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7-mark160"/>
          <p:cNvSpPr/>
          <p:nvPr/>
        </p:nvSpPr>
        <p:spPr>
          <a:xfrm flipV="1">
            <a:off x="9401229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7-mark161"/>
          <p:cNvSpPr/>
          <p:nvPr/>
        </p:nvSpPr>
        <p:spPr>
          <a:xfrm flipV="1">
            <a:off x="9855055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7-mark162"/>
          <p:cNvSpPr/>
          <p:nvPr/>
        </p:nvSpPr>
        <p:spPr>
          <a:xfrm flipV="1">
            <a:off x="10308880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7-mark163"/>
          <p:cNvSpPr/>
          <p:nvPr/>
        </p:nvSpPr>
        <p:spPr>
          <a:xfrm flipV="1">
            <a:off x="10762706" y="1409700"/>
            <a:ext cx="0" cy="317677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7-mark164"/>
          <p:cNvSpPr/>
          <p:nvPr/>
        </p:nvSpPr>
        <p:spPr>
          <a:xfrm>
            <a:off x="7132102" y="4586478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7-mark165"/>
          <p:cNvSpPr/>
          <p:nvPr/>
        </p:nvSpPr>
        <p:spPr>
          <a:xfrm>
            <a:off x="7132102" y="4132653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7-mark166"/>
          <p:cNvSpPr/>
          <p:nvPr/>
        </p:nvSpPr>
        <p:spPr>
          <a:xfrm>
            <a:off x="7132102" y="3678827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7-mark167"/>
          <p:cNvSpPr/>
          <p:nvPr/>
        </p:nvSpPr>
        <p:spPr>
          <a:xfrm>
            <a:off x="7132102" y="3225002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7-mark168"/>
          <p:cNvSpPr/>
          <p:nvPr/>
        </p:nvSpPr>
        <p:spPr>
          <a:xfrm>
            <a:off x="7132102" y="2771176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7-mark169"/>
          <p:cNvSpPr/>
          <p:nvPr/>
        </p:nvSpPr>
        <p:spPr>
          <a:xfrm>
            <a:off x="7132102" y="2317351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7-mark170"/>
          <p:cNvSpPr/>
          <p:nvPr/>
        </p:nvSpPr>
        <p:spPr>
          <a:xfrm>
            <a:off x="7132102" y="1863525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7-mark171"/>
          <p:cNvSpPr/>
          <p:nvPr/>
        </p:nvSpPr>
        <p:spPr>
          <a:xfrm>
            <a:off x="7132102" y="1409700"/>
            <a:ext cx="36306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7-figure172" descr="곰의 그림: 왼쪽 반쪽을 대칭축을 기준으로 뒤집어 그림"/>
          <p:cNvSpPr/>
          <p:nvPr/>
        </p:nvSpPr>
        <p:spPr>
          <a:xfrm>
            <a:off x="7585928" y="1863525"/>
            <a:ext cx="1361476" cy="2269127"/>
          </a:xfrm>
          <a:custGeom>
            <a:avLst/>
            <a:gdLst/>
            <a:ahLst/>
            <a:cxnLst/>
            <a:rect l="l" t="t" r="r" b="b"/>
            <a:pathLst>
              <a:path w="1361476" h="2269127">
                <a:moveTo>
                  <a:pt x="1361476" y="0"/>
                </a:moveTo>
                <a:lnTo>
                  <a:pt x="453825" y="0"/>
                </a:lnTo>
                <a:lnTo>
                  <a:pt x="907651" y="907651"/>
                </a:lnTo>
                <a:lnTo>
                  <a:pt x="0" y="1815302"/>
                </a:lnTo>
                <a:lnTo>
                  <a:pt x="907651" y="2269127"/>
                </a:lnTo>
                <a:lnTo>
                  <a:pt x="1361476" y="2269127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4" name="S07-mark173"/>
          <p:cNvSpPr/>
          <p:nvPr/>
        </p:nvSpPr>
        <p:spPr>
          <a:xfrm>
            <a:off x="8947404" y="1863525"/>
            <a:ext cx="1361476" cy="2269127"/>
          </a:xfrm>
          <a:custGeom>
            <a:avLst/>
            <a:gdLst/>
            <a:ahLst/>
            <a:cxnLst/>
            <a:rect l="l" t="t" r="r" b="b"/>
            <a:pathLst>
              <a:path w="1361476" h="2269127">
                <a:moveTo>
                  <a:pt x="0" y="0"/>
                </a:moveTo>
                <a:lnTo>
                  <a:pt x="907651" y="0"/>
                </a:lnTo>
                <a:lnTo>
                  <a:pt x="453825" y="907651"/>
                </a:lnTo>
                <a:lnTo>
                  <a:pt x="1361476" y="1815302"/>
                </a:lnTo>
                <a:lnTo>
                  <a:pt x="453825" y="2269127"/>
                </a:lnTo>
                <a:lnTo>
                  <a:pt x="0" y="2269127"/>
                </a:lnTo>
              </a:path>
            </a:pathLst>
          </a:custGeom>
          <a:noFill/>
          <a:ln w="28575">
            <a:solidFill>
              <a:srgbClr val="E9762B"/>
            </a:solidFill>
            <a:prstDash val="solid"/>
          </a:ln>
        </p:spPr>
      </p:sp>
      <p:sp>
        <p:nvSpPr>
          <p:cNvPr id="45" name="S07-mark174"/>
          <p:cNvSpPr/>
          <p:nvPr/>
        </p:nvSpPr>
        <p:spPr>
          <a:xfrm flipV="1">
            <a:off x="8947404" y="1409700"/>
            <a:ext cx="0" cy="317677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46" name="S07-label175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거울처럼 뒤집어 그렸어요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점대칭도형</a:t>
            </a:r>
            <a:endParaRPr lang="ko-KR" sz="4000" dirty="0"/>
          </a:p>
        </p:txBody>
      </p:sp>
      <p:sp>
        <p:nvSpPr>
          <p:cNvPr id="3" name="S08-figure176" descr="Z 모양 점대칭도형과 가운데의 대칭의 중심 점 ㅇ"/>
          <p:cNvSpPr/>
          <p:nvPr/>
        </p:nvSpPr>
        <p:spPr>
          <a:xfrm>
            <a:off x="1584198" y="2674620"/>
            <a:ext cx="3291840" cy="2194560"/>
          </a:xfrm>
          <a:custGeom>
            <a:avLst/>
            <a:gdLst/>
            <a:ahLst/>
            <a:cxnLst/>
            <a:rect l="l" t="t" r="r" b="b"/>
            <a:pathLst>
              <a:path w="3291840" h="2194560">
                <a:moveTo>
                  <a:pt x="0" y="1097280"/>
                </a:moveTo>
                <a:lnTo>
                  <a:pt x="0" y="0"/>
                </a:lnTo>
                <a:lnTo>
                  <a:pt x="2194560" y="0"/>
                </a:lnTo>
                <a:lnTo>
                  <a:pt x="2194560" y="1097280"/>
                </a:lnTo>
                <a:lnTo>
                  <a:pt x="3291840" y="1097280"/>
                </a:lnTo>
                <a:lnTo>
                  <a:pt x="3291840" y="2194560"/>
                </a:lnTo>
                <a:lnTo>
                  <a:pt x="1097280" y="2194560"/>
                </a:lnTo>
                <a:lnTo>
                  <a:pt x="1097280" y="109728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8-mark177"/>
          <p:cNvSpPr/>
          <p:nvPr/>
        </p:nvSpPr>
        <p:spPr>
          <a:xfrm>
            <a:off x="3170682" y="37124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8-label179"/>
          <p:cNvSpPr txBox="1"/>
          <p:nvPr/>
        </p:nvSpPr>
        <p:spPr>
          <a:xfrm>
            <a:off x="3146617" y="3691828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000" dirty="0"/>
          </a:p>
        </p:txBody>
      </p:sp>
      <p:sp>
        <p:nvSpPr>
          <p:cNvPr id="6" name="S08-card180"/>
          <p:cNvSpPr/>
          <p:nvPr/>
        </p:nvSpPr>
        <p:spPr>
          <a:xfrm>
            <a:off x="6277356" y="2307082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181"/>
          <p:cNvSpPr txBox="1"/>
          <p:nvPr/>
        </p:nvSpPr>
        <p:spPr>
          <a:xfrm>
            <a:off x="6551676" y="2444242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점대칭도형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점을 중심으로 180° 돌렸을 때 처음 도형과 완전히 겹치는 도형</a:t>
            </a:r>
            <a:endParaRPr lang="ko-KR" sz="2800" dirty="0"/>
          </a:p>
        </p:txBody>
      </p:sp>
      <p:sp>
        <p:nvSpPr>
          <p:cNvPr id="8" name="S08-card182"/>
          <p:cNvSpPr/>
          <p:nvPr/>
        </p:nvSpPr>
        <p:spPr>
          <a:xfrm>
            <a:off x="6277356" y="4056634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183"/>
          <p:cNvSpPr txBox="1"/>
          <p:nvPr/>
        </p:nvSpPr>
        <p:spPr>
          <a:xfrm>
            <a:off x="6551676" y="4193794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대칭의 중심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중심이 되는 점이에요.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점대칭도형 완성하기</a:t>
            </a:r>
            <a:endParaRPr lang="ko-KR" sz="4000" dirty="0"/>
          </a:p>
        </p:txBody>
      </p:sp>
      <p:sp>
        <p:nvSpPr>
          <p:cNvPr id="3" name="S09-card184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85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대응점을 이은 선분은 대칭의 중심을 지나고, 둘로 똑같이 나뉘어요.</a:t>
            </a:r>
            <a:endParaRPr lang="ko-KR" sz="2800" dirty="0"/>
          </a:p>
        </p:txBody>
      </p:sp>
      <p:sp>
        <p:nvSpPr>
          <p:cNvPr id="5" name="S09-mark186"/>
          <p:cNvSpPr/>
          <p:nvPr/>
        </p:nvSpPr>
        <p:spPr>
          <a:xfrm flipV="1">
            <a:off x="7202072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9-mark187"/>
          <p:cNvSpPr/>
          <p:nvPr/>
        </p:nvSpPr>
        <p:spPr>
          <a:xfrm flipV="1">
            <a:off x="7668077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9-mark188"/>
          <p:cNvSpPr/>
          <p:nvPr/>
        </p:nvSpPr>
        <p:spPr>
          <a:xfrm flipV="1">
            <a:off x="8134082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9-mark189"/>
          <p:cNvSpPr/>
          <p:nvPr/>
        </p:nvSpPr>
        <p:spPr>
          <a:xfrm flipV="1">
            <a:off x="8600088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9-mark190"/>
          <p:cNvSpPr/>
          <p:nvPr/>
        </p:nvSpPr>
        <p:spPr>
          <a:xfrm flipV="1">
            <a:off x="9066093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9-mark191"/>
          <p:cNvSpPr/>
          <p:nvPr/>
        </p:nvSpPr>
        <p:spPr>
          <a:xfrm flipV="1">
            <a:off x="9532098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9-mark192"/>
          <p:cNvSpPr/>
          <p:nvPr/>
        </p:nvSpPr>
        <p:spPr>
          <a:xfrm flipV="1">
            <a:off x="9998104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9-mark193"/>
          <p:cNvSpPr/>
          <p:nvPr/>
        </p:nvSpPr>
        <p:spPr>
          <a:xfrm flipV="1">
            <a:off x="10464109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9-mark194"/>
          <p:cNvSpPr/>
          <p:nvPr/>
        </p:nvSpPr>
        <p:spPr>
          <a:xfrm flipV="1">
            <a:off x="10930114" y="1661160"/>
            <a:ext cx="0" cy="2796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9-mark195"/>
          <p:cNvSpPr/>
          <p:nvPr/>
        </p:nvSpPr>
        <p:spPr>
          <a:xfrm>
            <a:off x="7202072" y="4457192"/>
            <a:ext cx="37280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9-mark196"/>
          <p:cNvSpPr/>
          <p:nvPr/>
        </p:nvSpPr>
        <p:spPr>
          <a:xfrm>
            <a:off x="7202072" y="3991187"/>
            <a:ext cx="37280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9-mark197"/>
          <p:cNvSpPr/>
          <p:nvPr/>
        </p:nvSpPr>
        <p:spPr>
          <a:xfrm>
            <a:off x="7202072" y="3525181"/>
            <a:ext cx="37280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9-mark198"/>
          <p:cNvSpPr/>
          <p:nvPr/>
        </p:nvSpPr>
        <p:spPr>
          <a:xfrm>
            <a:off x="7202072" y="3059176"/>
            <a:ext cx="37280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9-mark199"/>
          <p:cNvSpPr/>
          <p:nvPr/>
        </p:nvSpPr>
        <p:spPr>
          <a:xfrm>
            <a:off x="7202072" y="2593171"/>
            <a:ext cx="37280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9-mark200"/>
          <p:cNvSpPr/>
          <p:nvPr/>
        </p:nvSpPr>
        <p:spPr>
          <a:xfrm>
            <a:off x="7202072" y="2127165"/>
            <a:ext cx="37280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9-mark201"/>
          <p:cNvSpPr/>
          <p:nvPr/>
        </p:nvSpPr>
        <p:spPr>
          <a:xfrm>
            <a:off x="7202072" y="1661160"/>
            <a:ext cx="37280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9-figure202" descr="모눈 위 점대칭도형의 반쪽(검은 선)과 대칭의 중심 ㅇ. 점 ㄱ에서 ㅇ을 지나 같은 길이만큼 간 곳이 대응점이고, 나머지 반쪽(주황 선)을 그렸음"/>
          <p:cNvSpPr/>
          <p:nvPr/>
        </p:nvSpPr>
        <p:spPr>
          <a:xfrm>
            <a:off x="7668077" y="2127165"/>
            <a:ext cx="1864021" cy="1864021"/>
          </a:xfrm>
          <a:custGeom>
            <a:avLst/>
            <a:gdLst/>
            <a:ahLst/>
            <a:cxnLst/>
            <a:rect l="l" t="t" r="r" b="b"/>
            <a:pathLst>
              <a:path w="1864021" h="1864021">
                <a:moveTo>
                  <a:pt x="1864021" y="0"/>
                </a:moveTo>
                <a:lnTo>
                  <a:pt x="0" y="0"/>
                </a:lnTo>
                <a:lnTo>
                  <a:pt x="0" y="932011"/>
                </a:lnTo>
                <a:lnTo>
                  <a:pt x="932011" y="932011"/>
                </a:lnTo>
                <a:lnTo>
                  <a:pt x="932011" y="1864021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2" name="S09-mark203"/>
          <p:cNvSpPr/>
          <p:nvPr/>
        </p:nvSpPr>
        <p:spPr>
          <a:xfrm>
            <a:off x="8600088" y="2127165"/>
            <a:ext cx="1864021" cy="1864021"/>
          </a:xfrm>
          <a:custGeom>
            <a:avLst/>
            <a:gdLst/>
            <a:ahLst/>
            <a:cxnLst/>
            <a:rect l="l" t="t" r="r" b="b"/>
            <a:pathLst>
              <a:path w="1864021" h="1864021">
                <a:moveTo>
                  <a:pt x="0" y="1864021"/>
                </a:moveTo>
                <a:lnTo>
                  <a:pt x="1864021" y="1864021"/>
                </a:lnTo>
                <a:lnTo>
                  <a:pt x="1864021" y="932011"/>
                </a:lnTo>
                <a:lnTo>
                  <a:pt x="932011" y="932011"/>
                </a:lnTo>
                <a:lnTo>
                  <a:pt x="932011" y="0"/>
                </a:lnTo>
              </a:path>
            </a:pathLst>
          </a:custGeom>
          <a:noFill/>
          <a:ln w="28575">
            <a:solidFill>
              <a:srgbClr val="E9762B"/>
            </a:solidFill>
            <a:prstDash val="solid"/>
          </a:ln>
        </p:spPr>
      </p:sp>
      <p:sp>
        <p:nvSpPr>
          <p:cNvPr id="23" name="S09-mark204"/>
          <p:cNvSpPr/>
          <p:nvPr/>
        </p:nvSpPr>
        <p:spPr>
          <a:xfrm>
            <a:off x="7668077" y="2127165"/>
            <a:ext cx="1398016" cy="932011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4" name="S09-mark205"/>
          <p:cNvSpPr/>
          <p:nvPr/>
        </p:nvSpPr>
        <p:spPr>
          <a:xfrm>
            <a:off x="9066093" y="3059176"/>
            <a:ext cx="1398016" cy="932011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5" name="S09-mark206"/>
          <p:cNvSpPr/>
          <p:nvPr/>
        </p:nvSpPr>
        <p:spPr>
          <a:xfrm flipH="1">
            <a:off x="8320590" y="2523428"/>
            <a:ext cx="92990" cy="13948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mark207"/>
          <p:cNvSpPr/>
          <p:nvPr/>
        </p:nvSpPr>
        <p:spPr>
          <a:xfrm flipH="1">
            <a:off x="9718606" y="3455439"/>
            <a:ext cx="92990" cy="13948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9-mark208"/>
          <p:cNvSpPr/>
          <p:nvPr/>
        </p:nvSpPr>
        <p:spPr>
          <a:xfrm>
            <a:off x="7608641" y="206772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9-mark209"/>
          <p:cNvSpPr/>
          <p:nvPr/>
        </p:nvSpPr>
        <p:spPr>
          <a:xfrm>
            <a:off x="9006657" y="299974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9-mark210"/>
          <p:cNvSpPr/>
          <p:nvPr/>
        </p:nvSpPr>
        <p:spPr>
          <a:xfrm>
            <a:off x="10404673" y="393175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9-label212"/>
          <p:cNvSpPr txBox="1"/>
          <p:nvPr/>
        </p:nvSpPr>
        <p:spPr>
          <a:xfrm>
            <a:off x="7268471" y="1730988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31" name="S09-label214"/>
          <p:cNvSpPr txBox="1"/>
          <p:nvPr/>
        </p:nvSpPr>
        <p:spPr>
          <a:xfrm>
            <a:off x="8982592" y="2662998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000" dirty="0"/>
          </a:p>
        </p:txBody>
      </p:sp>
      <p:sp>
        <p:nvSpPr>
          <p:cNvPr id="32" name="S09-stepno215"/>
          <p:cNvSpPr txBox="1"/>
          <p:nvPr/>
        </p:nvSpPr>
        <p:spPr>
          <a:xfrm>
            <a:off x="548640" y="1421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3" name="S09-text216"/>
          <p:cNvSpPr txBox="1"/>
          <p:nvPr/>
        </p:nvSpPr>
        <p:spPr>
          <a:xfrm>
            <a:off x="1325880" y="1376172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ㄱ에서 대칭의 중심 ㅇ까지 가는 칸 수를 세어요.</a:t>
            </a:r>
            <a:endParaRPr lang="ko-KR" sz="2800" dirty="0"/>
          </a:p>
        </p:txBody>
      </p:sp>
      <p:sp>
        <p:nvSpPr>
          <p:cNvPr id="34" name="S09-stepno217"/>
          <p:cNvSpPr txBox="1"/>
          <p:nvPr/>
        </p:nvSpPr>
        <p:spPr>
          <a:xfrm>
            <a:off x="548640" y="2454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5" name="S09-text218"/>
          <p:cNvSpPr txBox="1"/>
          <p:nvPr/>
        </p:nvSpPr>
        <p:spPr>
          <a:xfrm>
            <a:off x="1325880" y="2408428"/>
            <a:ext cx="4800234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ㅇ에서 같은 방향으로 같은 칸 수만큼 더 가서 대응점을 찍어요.</a:t>
            </a:r>
            <a:endParaRPr lang="ko-KR" sz="2800" dirty="0"/>
          </a:p>
        </p:txBody>
      </p:sp>
      <p:sp>
        <p:nvSpPr>
          <p:cNvPr id="36" name="S09-stepno219"/>
          <p:cNvSpPr txBox="1"/>
          <p:nvPr/>
        </p:nvSpPr>
        <p:spPr>
          <a:xfrm>
            <a:off x="548640" y="39202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7" name="S09-text220"/>
          <p:cNvSpPr txBox="1"/>
          <p:nvPr/>
        </p:nvSpPr>
        <p:spPr>
          <a:xfrm>
            <a:off x="1325880" y="3874516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점도 찍고 차례로 이어요.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평행사변형은 어떤 도형일까요?</a:t>
            </a:r>
            <a:endParaRPr lang="ko-KR" sz="4000" dirty="0"/>
          </a:p>
        </p:txBody>
      </p:sp>
      <p:sp>
        <p:nvSpPr>
          <p:cNvPr id="3" name="S10-card22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2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평행사변형은 선대칭도형일까요, 점대칭도형일까요?</a:t>
            </a:r>
            <a:endParaRPr lang="ko-KR" sz="2800" dirty="0"/>
          </a:p>
        </p:txBody>
      </p:sp>
      <p:sp>
        <p:nvSpPr>
          <p:cNvPr id="5" name="S10-card2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종이로 오려 확인해요.</a:t>
            </a:r>
            <a:endParaRPr lang="ko-KR" sz="2800" dirty="0"/>
          </a:p>
        </p:txBody>
      </p:sp>
      <p:sp>
        <p:nvSpPr>
          <p:cNvPr id="7" name="S10-chip22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선대칭도형</a:t>
            </a:r>
            <a:endParaRPr lang="ko-KR" sz="2200" dirty="0"/>
          </a:p>
        </p:txBody>
      </p:sp>
      <p:sp>
        <p:nvSpPr>
          <p:cNvPr id="8" name="S10-figure226" descr="평행사변형과 한 대각선(점선)"/>
          <p:cNvSpPr/>
          <p:nvPr/>
        </p:nvSpPr>
        <p:spPr>
          <a:xfrm>
            <a:off x="1847088" y="3292856"/>
            <a:ext cx="2766060" cy="1257300"/>
          </a:xfrm>
          <a:custGeom>
            <a:avLst/>
            <a:gdLst/>
            <a:ahLst/>
            <a:cxnLst/>
            <a:rect l="l" t="t" r="r" b="b"/>
            <a:pathLst>
              <a:path w="2766060" h="1257300">
                <a:moveTo>
                  <a:pt x="0" y="1257300"/>
                </a:moveTo>
                <a:lnTo>
                  <a:pt x="2011680" y="1257300"/>
                </a:lnTo>
                <a:lnTo>
                  <a:pt x="2766060" y="0"/>
                </a:lnTo>
                <a:lnTo>
                  <a:pt x="75438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0-mark227"/>
          <p:cNvSpPr/>
          <p:nvPr/>
        </p:nvSpPr>
        <p:spPr>
          <a:xfrm flipV="1">
            <a:off x="1847088" y="3292856"/>
            <a:ext cx="2766060" cy="125730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10-text228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“대각선을 따라 접으면 겹쳐요.”</a:t>
            </a:r>
            <a:endParaRPr lang="ko-KR" sz="2200" dirty="0"/>
          </a:p>
        </p:txBody>
      </p:sp>
      <p:sp>
        <p:nvSpPr>
          <p:cNvPr id="11" name="S10-chip22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점대칭도형</a:t>
            </a:r>
            <a:endParaRPr lang="ko-KR" sz="2200" dirty="0"/>
          </a:p>
        </p:txBody>
      </p:sp>
      <p:sp>
        <p:nvSpPr>
          <p:cNvPr id="12" name="S10-figure230" descr="평행사변형과 두 대각선이 만나는 가운데 점"/>
          <p:cNvSpPr/>
          <p:nvPr/>
        </p:nvSpPr>
        <p:spPr>
          <a:xfrm>
            <a:off x="7575804" y="3292856"/>
            <a:ext cx="2766060" cy="1257300"/>
          </a:xfrm>
          <a:custGeom>
            <a:avLst/>
            <a:gdLst/>
            <a:ahLst/>
            <a:cxnLst/>
            <a:rect l="l" t="t" r="r" b="b"/>
            <a:pathLst>
              <a:path w="2766060" h="1257300">
                <a:moveTo>
                  <a:pt x="0" y="1257300"/>
                </a:moveTo>
                <a:lnTo>
                  <a:pt x="2011680" y="1257300"/>
                </a:lnTo>
                <a:lnTo>
                  <a:pt x="2766060" y="0"/>
                </a:lnTo>
                <a:lnTo>
                  <a:pt x="75438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0-mark231"/>
          <p:cNvSpPr/>
          <p:nvPr/>
        </p:nvSpPr>
        <p:spPr>
          <a:xfrm>
            <a:off x="8899398" y="386207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text232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“가운데 점으로 180° 돌리면 겹쳐요.”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선대칭도형, 오른쪽은 점대칭도형의 반쪽이에요.</a:t>
            </a:r>
            <a:endParaRPr lang="ko-KR" sz="2800" dirty="0"/>
          </a:p>
        </p:txBody>
      </p:sp>
      <p:sp>
        <p:nvSpPr>
          <p:cNvPr id="4" name="S11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어떻게 찾았는지 칸 수로 말해요.</a:t>
            </a:r>
            <a:endParaRPr lang="ko-KR" sz="2800" dirty="0"/>
          </a:p>
        </p:txBody>
      </p:sp>
      <p:sp>
        <p:nvSpPr>
          <p:cNvPr id="6" name="S11-mark236"/>
          <p:cNvSpPr/>
          <p:nvPr/>
        </p:nvSpPr>
        <p:spPr>
          <a:xfrm flipV="1">
            <a:off x="1584833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1-mark237"/>
          <p:cNvSpPr/>
          <p:nvPr/>
        </p:nvSpPr>
        <p:spPr>
          <a:xfrm flipV="1">
            <a:off x="1916176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1-mark238"/>
          <p:cNvSpPr/>
          <p:nvPr/>
        </p:nvSpPr>
        <p:spPr>
          <a:xfrm flipV="1">
            <a:off x="2247519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1-mark239"/>
          <p:cNvSpPr/>
          <p:nvPr/>
        </p:nvSpPr>
        <p:spPr>
          <a:xfrm flipV="1">
            <a:off x="2578862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1-mark240"/>
          <p:cNvSpPr/>
          <p:nvPr/>
        </p:nvSpPr>
        <p:spPr>
          <a:xfrm flipV="1">
            <a:off x="2910205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1-mark241"/>
          <p:cNvSpPr/>
          <p:nvPr/>
        </p:nvSpPr>
        <p:spPr>
          <a:xfrm flipV="1">
            <a:off x="3241548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1-mark242"/>
          <p:cNvSpPr/>
          <p:nvPr/>
        </p:nvSpPr>
        <p:spPr>
          <a:xfrm flipV="1">
            <a:off x="3572891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1-mark243"/>
          <p:cNvSpPr/>
          <p:nvPr/>
        </p:nvSpPr>
        <p:spPr>
          <a:xfrm flipV="1">
            <a:off x="3904234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1-mark244"/>
          <p:cNvSpPr/>
          <p:nvPr/>
        </p:nvSpPr>
        <p:spPr>
          <a:xfrm flipV="1">
            <a:off x="4235577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1-mark245"/>
          <p:cNvSpPr/>
          <p:nvPr/>
        </p:nvSpPr>
        <p:spPr>
          <a:xfrm flipV="1">
            <a:off x="4566920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1-mark246"/>
          <p:cNvSpPr/>
          <p:nvPr/>
        </p:nvSpPr>
        <p:spPr>
          <a:xfrm flipV="1">
            <a:off x="4898263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1-mark247"/>
          <p:cNvSpPr/>
          <p:nvPr/>
        </p:nvSpPr>
        <p:spPr>
          <a:xfrm>
            <a:off x="1584833" y="4335018"/>
            <a:ext cx="33134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1-mark248"/>
          <p:cNvSpPr/>
          <p:nvPr/>
        </p:nvSpPr>
        <p:spPr>
          <a:xfrm>
            <a:off x="1584833" y="4003675"/>
            <a:ext cx="33134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1-mark249"/>
          <p:cNvSpPr/>
          <p:nvPr/>
        </p:nvSpPr>
        <p:spPr>
          <a:xfrm>
            <a:off x="1584833" y="3672332"/>
            <a:ext cx="33134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1-mark250"/>
          <p:cNvSpPr/>
          <p:nvPr/>
        </p:nvSpPr>
        <p:spPr>
          <a:xfrm>
            <a:off x="1584833" y="3340989"/>
            <a:ext cx="33134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1-mark251"/>
          <p:cNvSpPr/>
          <p:nvPr/>
        </p:nvSpPr>
        <p:spPr>
          <a:xfrm>
            <a:off x="1584833" y="3009646"/>
            <a:ext cx="33134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1-mark252"/>
          <p:cNvSpPr/>
          <p:nvPr/>
        </p:nvSpPr>
        <p:spPr>
          <a:xfrm>
            <a:off x="1584833" y="2678303"/>
            <a:ext cx="33134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1-mark253"/>
          <p:cNvSpPr/>
          <p:nvPr/>
        </p:nvSpPr>
        <p:spPr>
          <a:xfrm>
            <a:off x="1584833" y="2346960"/>
            <a:ext cx="33134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1-figure254" descr="세로 점선 대칭축 왼쪽의 반쪽 도형과 점 ㄱ(축에서 왼쪽으로 4칸), 축 오른쪽의 점 ㉠(1칸), ㉡(4칸, ㄱ과 같은 높이), ㉢(3칸, 두 칸 위)"/>
          <p:cNvSpPr/>
          <p:nvPr/>
        </p:nvSpPr>
        <p:spPr>
          <a:xfrm>
            <a:off x="1916176" y="2678303"/>
            <a:ext cx="1325372" cy="1325372"/>
          </a:xfrm>
          <a:custGeom>
            <a:avLst/>
            <a:gdLst/>
            <a:ahLst/>
            <a:cxnLst/>
            <a:rect l="l" t="t" r="r" b="b"/>
            <a:pathLst>
              <a:path w="1325372" h="1325372">
                <a:moveTo>
                  <a:pt x="1325372" y="0"/>
                </a:moveTo>
                <a:lnTo>
                  <a:pt x="662686" y="0"/>
                </a:lnTo>
                <a:lnTo>
                  <a:pt x="662686" y="662686"/>
                </a:lnTo>
                <a:lnTo>
                  <a:pt x="0" y="994029"/>
                </a:lnTo>
                <a:lnTo>
                  <a:pt x="994029" y="1325372"/>
                </a:lnTo>
                <a:lnTo>
                  <a:pt x="1325372" y="1325372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11-mark255"/>
          <p:cNvSpPr/>
          <p:nvPr/>
        </p:nvSpPr>
        <p:spPr>
          <a:xfrm flipV="1">
            <a:off x="3241548" y="2346960"/>
            <a:ext cx="0" cy="198805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6" name="S11-mark256"/>
          <p:cNvSpPr/>
          <p:nvPr/>
        </p:nvSpPr>
        <p:spPr>
          <a:xfrm>
            <a:off x="1856740" y="361289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1-mark257"/>
          <p:cNvSpPr/>
          <p:nvPr/>
        </p:nvSpPr>
        <p:spPr>
          <a:xfrm>
            <a:off x="3513455" y="361289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1-mark258"/>
          <p:cNvSpPr/>
          <p:nvPr/>
        </p:nvSpPr>
        <p:spPr>
          <a:xfrm>
            <a:off x="4507484" y="361289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1-mark259"/>
          <p:cNvSpPr/>
          <p:nvPr/>
        </p:nvSpPr>
        <p:spPr>
          <a:xfrm>
            <a:off x="4176141" y="295021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1-label261"/>
          <p:cNvSpPr txBox="1"/>
          <p:nvPr/>
        </p:nvSpPr>
        <p:spPr>
          <a:xfrm>
            <a:off x="1451102" y="3434207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31" name="S11-label263"/>
          <p:cNvSpPr txBox="1"/>
          <p:nvPr/>
        </p:nvSpPr>
        <p:spPr>
          <a:xfrm>
            <a:off x="3381121" y="372122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㉠</a:t>
            </a:r>
            <a:endParaRPr lang="ko-KR" sz="2200" dirty="0"/>
          </a:p>
        </p:txBody>
      </p:sp>
      <p:sp>
        <p:nvSpPr>
          <p:cNvPr id="32" name="S11-label265"/>
          <p:cNvSpPr txBox="1"/>
          <p:nvPr/>
        </p:nvSpPr>
        <p:spPr>
          <a:xfrm>
            <a:off x="4598670" y="349770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㉡</a:t>
            </a:r>
            <a:endParaRPr lang="ko-KR" sz="2200" dirty="0"/>
          </a:p>
        </p:txBody>
      </p:sp>
      <p:sp>
        <p:nvSpPr>
          <p:cNvPr id="33" name="S11-label267"/>
          <p:cNvSpPr txBox="1"/>
          <p:nvPr/>
        </p:nvSpPr>
        <p:spPr>
          <a:xfrm>
            <a:off x="4267327" y="283502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㉢</a:t>
            </a:r>
            <a:endParaRPr lang="ko-KR" sz="2200" dirty="0"/>
          </a:p>
        </p:txBody>
      </p:sp>
      <p:sp>
        <p:nvSpPr>
          <p:cNvPr id="34" name="S11-label268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점 ㄱ의 대응점은?</a:t>
            </a:r>
            <a:endParaRPr lang="ko-KR" sz="2200" dirty="0"/>
          </a:p>
        </p:txBody>
      </p:sp>
      <p:sp>
        <p:nvSpPr>
          <p:cNvPr id="35" name="S11-mark269"/>
          <p:cNvSpPr/>
          <p:nvPr/>
        </p:nvSpPr>
        <p:spPr>
          <a:xfrm flipV="1">
            <a:off x="7456361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1-mark270"/>
          <p:cNvSpPr/>
          <p:nvPr/>
        </p:nvSpPr>
        <p:spPr>
          <a:xfrm flipV="1">
            <a:off x="7787704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1-mark271"/>
          <p:cNvSpPr/>
          <p:nvPr/>
        </p:nvSpPr>
        <p:spPr>
          <a:xfrm flipV="1">
            <a:off x="8119047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1-mark272"/>
          <p:cNvSpPr/>
          <p:nvPr/>
        </p:nvSpPr>
        <p:spPr>
          <a:xfrm flipV="1">
            <a:off x="8450390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1-mark273"/>
          <p:cNvSpPr/>
          <p:nvPr/>
        </p:nvSpPr>
        <p:spPr>
          <a:xfrm flipV="1">
            <a:off x="8781733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11-mark274"/>
          <p:cNvSpPr/>
          <p:nvPr/>
        </p:nvSpPr>
        <p:spPr>
          <a:xfrm flipV="1">
            <a:off x="9113076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11-mark275"/>
          <p:cNvSpPr/>
          <p:nvPr/>
        </p:nvSpPr>
        <p:spPr>
          <a:xfrm flipV="1">
            <a:off x="9444419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11-mark276"/>
          <p:cNvSpPr/>
          <p:nvPr/>
        </p:nvSpPr>
        <p:spPr>
          <a:xfrm flipV="1">
            <a:off x="9775762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11-mark277"/>
          <p:cNvSpPr/>
          <p:nvPr/>
        </p:nvSpPr>
        <p:spPr>
          <a:xfrm flipV="1">
            <a:off x="10107105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11-mark278"/>
          <p:cNvSpPr/>
          <p:nvPr/>
        </p:nvSpPr>
        <p:spPr>
          <a:xfrm flipV="1">
            <a:off x="10438448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11-mark279"/>
          <p:cNvSpPr/>
          <p:nvPr/>
        </p:nvSpPr>
        <p:spPr>
          <a:xfrm>
            <a:off x="7456361" y="4335018"/>
            <a:ext cx="298208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11-mark280"/>
          <p:cNvSpPr/>
          <p:nvPr/>
        </p:nvSpPr>
        <p:spPr>
          <a:xfrm>
            <a:off x="7456361" y="4003675"/>
            <a:ext cx="298208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11-mark281"/>
          <p:cNvSpPr/>
          <p:nvPr/>
        </p:nvSpPr>
        <p:spPr>
          <a:xfrm>
            <a:off x="7456361" y="3672332"/>
            <a:ext cx="298208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11-mark282"/>
          <p:cNvSpPr/>
          <p:nvPr/>
        </p:nvSpPr>
        <p:spPr>
          <a:xfrm>
            <a:off x="7456361" y="3340989"/>
            <a:ext cx="298208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11-mark283"/>
          <p:cNvSpPr/>
          <p:nvPr/>
        </p:nvSpPr>
        <p:spPr>
          <a:xfrm>
            <a:off x="7456361" y="3009646"/>
            <a:ext cx="298208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11-mark284"/>
          <p:cNvSpPr/>
          <p:nvPr/>
        </p:nvSpPr>
        <p:spPr>
          <a:xfrm>
            <a:off x="7456361" y="2678303"/>
            <a:ext cx="298208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11-mark285"/>
          <p:cNvSpPr/>
          <p:nvPr/>
        </p:nvSpPr>
        <p:spPr>
          <a:xfrm>
            <a:off x="7456361" y="2346960"/>
            <a:ext cx="298208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2" name="S11-figure286" descr="점대칭도형의 반쪽과 대칭의 중심 ㅇ, 점 ㄴ(ㅇ에서 왼쪽 3칸·아래 1칸), 후보 점 ㉣(ㅇ에서 오른쪽 3칸·아래 1칸), ㉤(오른쪽 3칸·위 1칸), ㉥(오른쪽 2칸)"/>
          <p:cNvSpPr/>
          <p:nvPr/>
        </p:nvSpPr>
        <p:spPr>
          <a:xfrm>
            <a:off x="7787704" y="2678303"/>
            <a:ext cx="1325372" cy="1325372"/>
          </a:xfrm>
          <a:custGeom>
            <a:avLst/>
            <a:gdLst/>
            <a:ahLst/>
            <a:cxnLst/>
            <a:rect l="l" t="t" r="r" b="b"/>
            <a:pathLst>
              <a:path w="1325372" h="1325372">
                <a:moveTo>
                  <a:pt x="1325372" y="0"/>
                </a:moveTo>
                <a:lnTo>
                  <a:pt x="331343" y="0"/>
                </a:lnTo>
                <a:lnTo>
                  <a:pt x="331343" y="331343"/>
                </a:lnTo>
                <a:lnTo>
                  <a:pt x="0" y="994029"/>
                </a:lnTo>
                <a:lnTo>
                  <a:pt x="662686" y="662686"/>
                </a:lnTo>
                <a:lnTo>
                  <a:pt x="662686" y="1325372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3" name="S11-mark287"/>
          <p:cNvSpPr/>
          <p:nvPr/>
        </p:nvSpPr>
        <p:spPr>
          <a:xfrm>
            <a:off x="7728268" y="361289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11-mark288"/>
          <p:cNvSpPr/>
          <p:nvPr/>
        </p:nvSpPr>
        <p:spPr>
          <a:xfrm>
            <a:off x="8722297" y="328155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11-mark289"/>
          <p:cNvSpPr/>
          <p:nvPr/>
        </p:nvSpPr>
        <p:spPr>
          <a:xfrm>
            <a:off x="9716326" y="361289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11-mark290"/>
          <p:cNvSpPr/>
          <p:nvPr/>
        </p:nvSpPr>
        <p:spPr>
          <a:xfrm>
            <a:off x="9716326" y="295021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11-mark291"/>
          <p:cNvSpPr/>
          <p:nvPr/>
        </p:nvSpPr>
        <p:spPr>
          <a:xfrm>
            <a:off x="9384983" y="328155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1-label293"/>
          <p:cNvSpPr txBox="1"/>
          <p:nvPr/>
        </p:nvSpPr>
        <p:spPr>
          <a:xfrm>
            <a:off x="7322630" y="3434207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59" name="S11-label295"/>
          <p:cNvSpPr txBox="1"/>
          <p:nvPr/>
        </p:nvSpPr>
        <p:spPr>
          <a:xfrm>
            <a:off x="8540179" y="332638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000" dirty="0"/>
          </a:p>
        </p:txBody>
      </p:sp>
      <p:sp>
        <p:nvSpPr>
          <p:cNvPr id="60" name="S11-label297"/>
          <p:cNvSpPr txBox="1"/>
          <p:nvPr/>
        </p:nvSpPr>
        <p:spPr>
          <a:xfrm>
            <a:off x="9807512" y="349770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㉣</a:t>
            </a:r>
            <a:endParaRPr lang="ko-KR" sz="2200" dirty="0"/>
          </a:p>
        </p:txBody>
      </p:sp>
      <p:sp>
        <p:nvSpPr>
          <p:cNvPr id="61" name="S11-label299"/>
          <p:cNvSpPr txBox="1"/>
          <p:nvPr/>
        </p:nvSpPr>
        <p:spPr>
          <a:xfrm>
            <a:off x="9807512" y="283502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㉤</a:t>
            </a:r>
            <a:endParaRPr lang="ko-KR" sz="2200" dirty="0"/>
          </a:p>
        </p:txBody>
      </p:sp>
      <p:sp>
        <p:nvSpPr>
          <p:cNvPr id="62" name="S11-label301"/>
          <p:cNvSpPr txBox="1"/>
          <p:nvPr/>
        </p:nvSpPr>
        <p:spPr>
          <a:xfrm>
            <a:off x="9476169" y="316636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㉥</a:t>
            </a:r>
            <a:endParaRPr lang="ko-KR" sz="2200" dirty="0"/>
          </a:p>
        </p:txBody>
      </p:sp>
      <p:sp>
        <p:nvSpPr>
          <p:cNvPr id="63" name="S11-label302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점 ㄴ의 대응점은?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다인 도형은?</a:t>
            </a:r>
            <a:endParaRPr lang="ko-KR" sz="4000" dirty="0"/>
          </a:p>
        </p:txBody>
      </p:sp>
      <p:sp>
        <p:nvSpPr>
          <p:cNvPr id="3" name="S13-text3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선대칭도형이면서 점대칭도형인 것을 모두 골라요.</a:t>
            </a:r>
            <a:endParaRPr lang="ko-KR" sz="2800" dirty="0"/>
          </a:p>
        </p:txBody>
      </p:sp>
      <p:sp>
        <p:nvSpPr>
          <p:cNvPr id="4" name="S13-card3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도형마다 선대칭인지, 점대칭인지 말해요.</a:t>
            </a:r>
            <a:endParaRPr lang="ko-KR" sz="2800" dirty="0"/>
          </a:p>
        </p:txBody>
      </p:sp>
      <p:sp>
        <p:nvSpPr>
          <p:cNvPr id="6" name="S13-chip30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figure307" descr="마름모"/>
          <p:cNvSpPr/>
          <p:nvPr/>
        </p:nvSpPr>
        <p:spPr>
          <a:xfrm>
            <a:off x="2794762" y="2095500"/>
            <a:ext cx="1666240" cy="1249680"/>
          </a:xfrm>
          <a:custGeom>
            <a:avLst/>
            <a:gdLst/>
            <a:ahLst/>
            <a:cxnLst/>
            <a:rect l="l" t="t" r="r" b="b"/>
            <a:pathLst>
              <a:path w="1666240" h="1249680">
                <a:moveTo>
                  <a:pt x="0" y="624840"/>
                </a:moveTo>
                <a:lnTo>
                  <a:pt x="833120" y="1249680"/>
                </a:lnTo>
                <a:lnTo>
                  <a:pt x="1666240" y="624840"/>
                </a:lnTo>
                <a:lnTo>
                  <a:pt x="83312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3-chip308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3-figure309" descr="이등변삼각형"/>
          <p:cNvSpPr/>
          <p:nvPr/>
        </p:nvSpPr>
        <p:spPr>
          <a:xfrm>
            <a:off x="8856726" y="2095500"/>
            <a:ext cx="999744" cy="1249680"/>
          </a:xfrm>
          <a:custGeom>
            <a:avLst/>
            <a:gdLst/>
            <a:ahLst/>
            <a:cxnLst/>
            <a:rect l="l" t="t" r="r" b="b"/>
            <a:pathLst>
              <a:path w="999744" h="1249680">
                <a:moveTo>
                  <a:pt x="0" y="1249680"/>
                </a:moveTo>
                <a:lnTo>
                  <a:pt x="999744" y="1249680"/>
                </a:lnTo>
                <a:lnTo>
                  <a:pt x="49987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3-chip310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1" name="S13-figure311" descr="정육각형"/>
          <p:cNvSpPr/>
          <p:nvPr/>
        </p:nvSpPr>
        <p:spPr>
          <a:xfrm>
            <a:off x="2906386" y="3787140"/>
            <a:ext cx="1442993" cy="1249680"/>
          </a:xfrm>
          <a:custGeom>
            <a:avLst/>
            <a:gdLst/>
            <a:ahLst/>
            <a:cxnLst/>
            <a:rect l="l" t="t" r="r" b="b"/>
            <a:pathLst>
              <a:path w="1442993" h="1249680">
                <a:moveTo>
                  <a:pt x="1442993" y="624840"/>
                </a:moveTo>
                <a:lnTo>
                  <a:pt x="1082245" y="0"/>
                </a:lnTo>
                <a:lnTo>
                  <a:pt x="360748" y="0"/>
                </a:lnTo>
                <a:lnTo>
                  <a:pt x="0" y="624840"/>
                </a:lnTo>
                <a:lnTo>
                  <a:pt x="360748" y="1249680"/>
                </a:lnTo>
                <a:lnTo>
                  <a:pt x="1082245" y="124968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3-chip312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3" name="S13-figure313" descr="Z 모양"/>
          <p:cNvSpPr/>
          <p:nvPr/>
        </p:nvSpPr>
        <p:spPr>
          <a:xfrm>
            <a:off x="8419338" y="3787140"/>
            <a:ext cx="1874520" cy="1249680"/>
          </a:xfrm>
          <a:custGeom>
            <a:avLst/>
            <a:gdLst/>
            <a:ahLst/>
            <a:cxnLst/>
            <a:rect l="l" t="t" r="r" b="b"/>
            <a:pathLst>
              <a:path w="1874520" h="1249680">
                <a:moveTo>
                  <a:pt x="0" y="624840"/>
                </a:moveTo>
                <a:lnTo>
                  <a:pt x="0" y="0"/>
                </a:lnTo>
                <a:lnTo>
                  <a:pt x="1249680" y="0"/>
                </a:lnTo>
                <a:lnTo>
                  <a:pt x="1249680" y="624840"/>
                </a:lnTo>
                <a:lnTo>
                  <a:pt x="1874520" y="624840"/>
                </a:lnTo>
                <a:lnTo>
                  <a:pt x="1874520" y="1249680"/>
                </a:lnTo>
                <a:lnTo>
                  <a:pt x="624840" y="1249680"/>
                </a:lnTo>
                <a:lnTo>
                  <a:pt x="624840" y="62484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14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15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선대칭도형은 대칭축을 따라 접으면, 점대칭도형은 대칭의 중심으로 180° 돌리면 완전히 겹쳐요.</a:t>
            </a:r>
            <a:endParaRPr lang="ko-KR" sz="2800" dirty="0"/>
          </a:p>
        </p:txBody>
      </p:sp>
      <p:sp>
        <p:nvSpPr>
          <p:cNvPr id="5" name="S14-chip316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대칭축·중심까지 거리 같게</a:t>
            </a:r>
            <a:endParaRPr lang="ko-KR" sz="2200" dirty="0"/>
          </a:p>
        </p:txBody>
      </p:sp>
      <p:sp>
        <p:nvSpPr>
          <p:cNvPr id="6" name="S14-chip317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반쪽을 그대로 밀어 그리기</a:t>
            </a:r>
            <a:endParaRPr lang="ko-KR" sz="2200" dirty="0"/>
          </a:p>
        </p:txBody>
      </p:sp>
      <p:sp>
        <p:nvSpPr>
          <p:cNvPr id="7" name="S14-text318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19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정사각형의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대칭축은 몇 개?</a:t>
            </a:r>
            <a:endParaRPr lang="ko-KR" sz="2200" dirty="0"/>
          </a:p>
        </p:txBody>
      </p:sp>
      <p:sp>
        <p:nvSpPr>
          <p:cNvPr id="9" name="S14-text320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대응점을 이은 선분과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대칭축은 어떻게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만나나요?</a:t>
            </a:r>
            <a:endParaRPr lang="ko-KR" sz="2200" dirty="0"/>
          </a:p>
        </p:txBody>
      </p:sp>
      <p:sp>
        <p:nvSpPr>
          <p:cNvPr id="10" name="S14-text321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대칭의 중심에서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대응점까지 4 cm이면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대응점 사이는?</a:t>
            </a:r>
            <a:endParaRPr lang="ko-KR" sz="2200" dirty="0"/>
          </a:p>
        </p:txBody>
      </p:sp>
      <p:sp>
        <p:nvSpPr>
          <p:cNvPr id="11" name="S14-text32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직육면체와 정육면체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합동과 대응점</a:t>
            </a:r>
            <a:endParaRPr lang="ko-KR" sz="4000" dirty="0"/>
          </a:p>
        </p:txBody>
      </p:sp>
      <p:sp>
        <p:nvSpPr>
          <p:cNvPr id="3" name="S15-card323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324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포개었을 때 겹치는 점: ㄱ과 ㄹ, ㄴ과 ㅁ, ㄷ과 ㅂ</a:t>
            </a:r>
            <a:endParaRPr lang="ko-KR" sz="2800" dirty="0"/>
          </a:p>
        </p:txBody>
      </p:sp>
      <p:sp>
        <p:nvSpPr>
          <p:cNvPr id="5" name="S15-card325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326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서로 같아요.</a:t>
            </a:r>
            <a:endParaRPr lang="ko-KR" sz="2800" dirty="0"/>
          </a:p>
        </p:txBody>
      </p:sp>
      <p:sp>
        <p:nvSpPr>
          <p:cNvPr id="7" name="S15-figure327" descr="삼각형 ㄱㄴㄷ"/>
          <p:cNvSpPr/>
          <p:nvPr/>
        </p:nvSpPr>
        <p:spPr>
          <a:xfrm>
            <a:off x="2098548" y="1982724"/>
            <a:ext cx="2286000" cy="1828800"/>
          </a:xfrm>
          <a:custGeom>
            <a:avLst/>
            <a:gdLst/>
            <a:ahLst/>
            <a:cxnLst/>
            <a:rect l="l" t="t" r="r" b="b"/>
            <a:pathLst>
              <a:path w="2286000" h="1828800">
                <a:moveTo>
                  <a:pt x="457200" y="0"/>
                </a:moveTo>
                <a:lnTo>
                  <a:pt x="0" y="1828800"/>
                </a:lnTo>
                <a:lnTo>
                  <a:pt x="2286000" y="182880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mark328"/>
          <p:cNvSpPr/>
          <p:nvPr/>
        </p:nvSpPr>
        <p:spPr>
          <a:xfrm>
            <a:off x="4021328" y="3554689"/>
            <a:ext cx="363220" cy="256835"/>
          </a:xfrm>
          <a:custGeom>
            <a:avLst/>
            <a:gdLst/>
            <a:ahLst/>
            <a:cxnLst/>
            <a:rect l="l" t="t" r="r" b="b"/>
            <a:pathLst>
              <a:path w="363220" h="256835">
                <a:moveTo>
                  <a:pt x="363220" y="256835"/>
                </a:moveTo>
                <a:lnTo>
                  <a:pt x="106385" y="0"/>
                </a:lnTo>
                <a:lnTo>
                  <a:pt x="98119" y="8541"/>
                </a:lnTo>
                <a:lnTo>
                  <a:pt x="90137" y="17348"/>
                </a:lnTo>
                <a:lnTo>
                  <a:pt x="82447" y="26411"/>
                </a:lnTo>
                <a:lnTo>
                  <a:pt x="75058" y="35721"/>
                </a:lnTo>
                <a:lnTo>
                  <a:pt x="67978" y="45268"/>
                </a:lnTo>
                <a:lnTo>
                  <a:pt x="61214" y="55041"/>
                </a:lnTo>
                <a:lnTo>
                  <a:pt x="54773" y="65031"/>
                </a:lnTo>
                <a:lnTo>
                  <a:pt x="48662" y="75225"/>
                </a:lnTo>
                <a:lnTo>
                  <a:pt x="42889" y="85615"/>
                </a:lnTo>
                <a:lnTo>
                  <a:pt x="37458" y="96187"/>
                </a:lnTo>
                <a:lnTo>
                  <a:pt x="32376" y="106932"/>
                </a:lnTo>
                <a:lnTo>
                  <a:pt x="27648" y="117837"/>
                </a:lnTo>
                <a:lnTo>
                  <a:pt x="23280" y="128891"/>
                </a:lnTo>
                <a:lnTo>
                  <a:pt x="19276" y="140082"/>
                </a:lnTo>
                <a:lnTo>
                  <a:pt x="15640" y="151398"/>
                </a:lnTo>
                <a:lnTo>
                  <a:pt x="12376" y="162827"/>
                </a:lnTo>
                <a:lnTo>
                  <a:pt x="9488" y="174357"/>
                </a:lnTo>
                <a:lnTo>
                  <a:pt x="6979" y="185975"/>
                </a:lnTo>
                <a:lnTo>
                  <a:pt x="4851" y="197668"/>
                </a:lnTo>
                <a:lnTo>
                  <a:pt x="3107" y="209426"/>
                </a:lnTo>
                <a:lnTo>
                  <a:pt x="1749" y="221234"/>
                </a:lnTo>
                <a:lnTo>
                  <a:pt x="778" y="233080"/>
                </a:lnTo>
                <a:lnTo>
                  <a:pt x="194" y="244951"/>
                </a:lnTo>
                <a:lnTo>
                  <a:pt x="0" y="25683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9" name="S15-mark329"/>
          <p:cNvSpPr/>
          <p:nvPr/>
        </p:nvSpPr>
        <p:spPr>
          <a:xfrm>
            <a:off x="2245831" y="2876795"/>
            <a:ext cx="162635" cy="4065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mark330"/>
          <p:cNvSpPr/>
          <p:nvPr/>
        </p:nvSpPr>
        <p:spPr>
          <a:xfrm flipV="1">
            <a:off x="3202432" y="3727704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5-mark331"/>
          <p:cNvSpPr/>
          <p:nvPr/>
        </p:nvSpPr>
        <p:spPr>
          <a:xfrm flipV="1">
            <a:off x="3280664" y="3727704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333"/>
          <p:cNvSpPr txBox="1"/>
          <p:nvPr/>
        </p:nvSpPr>
        <p:spPr>
          <a:xfrm>
            <a:off x="2254529" y="1529189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13" name="S15-label335"/>
          <p:cNvSpPr txBox="1"/>
          <p:nvPr/>
        </p:nvSpPr>
        <p:spPr>
          <a:xfrm>
            <a:off x="1680814" y="371095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14" name="S15-label337"/>
          <p:cNvSpPr txBox="1"/>
          <p:nvPr/>
        </p:nvSpPr>
        <p:spPr>
          <a:xfrm>
            <a:off x="4349500" y="365893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15" name="S15-figure338" descr="삼각형 ㄱㄴㄷ을 뒤집은 삼각형 ㄹㅁㅂ"/>
          <p:cNvSpPr/>
          <p:nvPr/>
        </p:nvSpPr>
        <p:spPr>
          <a:xfrm>
            <a:off x="7804404" y="1982724"/>
            <a:ext cx="2286000" cy="1828800"/>
          </a:xfrm>
          <a:custGeom>
            <a:avLst/>
            <a:gdLst/>
            <a:ahLst/>
            <a:cxnLst/>
            <a:rect l="l" t="t" r="r" b="b"/>
            <a:pathLst>
              <a:path w="2286000" h="1828800">
                <a:moveTo>
                  <a:pt x="1828800" y="0"/>
                </a:moveTo>
                <a:lnTo>
                  <a:pt x="2286000" y="1828800"/>
                </a:lnTo>
                <a:lnTo>
                  <a:pt x="0" y="182880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5-mark339"/>
          <p:cNvSpPr/>
          <p:nvPr/>
        </p:nvSpPr>
        <p:spPr>
          <a:xfrm>
            <a:off x="7804404" y="3554689"/>
            <a:ext cx="363220" cy="256835"/>
          </a:xfrm>
          <a:custGeom>
            <a:avLst/>
            <a:gdLst/>
            <a:ahLst/>
            <a:cxnLst/>
            <a:rect l="l" t="t" r="r" b="b"/>
            <a:pathLst>
              <a:path w="363220" h="256835">
                <a:moveTo>
                  <a:pt x="0" y="256835"/>
                </a:moveTo>
                <a:lnTo>
                  <a:pt x="363220" y="256835"/>
                </a:lnTo>
                <a:lnTo>
                  <a:pt x="363026" y="244951"/>
                </a:lnTo>
                <a:lnTo>
                  <a:pt x="362442" y="233080"/>
                </a:lnTo>
                <a:lnTo>
                  <a:pt x="361471" y="221234"/>
                </a:lnTo>
                <a:lnTo>
                  <a:pt x="360113" y="209426"/>
                </a:lnTo>
                <a:lnTo>
                  <a:pt x="358369" y="197668"/>
                </a:lnTo>
                <a:lnTo>
                  <a:pt x="356241" y="185975"/>
                </a:lnTo>
                <a:lnTo>
                  <a:pt x="353732" y="174357"/>
                </a:lnTo>
                <a:lnTo>
                  <a:pt x="350844" y="162827"/>
                </a:lnTo>
                <a:lnTo>
                  <a:pt x="347580" y="151398"/>
                </a:lnTo>
                <a:lnTo>
                  <a:pt x="343944" y="140082"/>
                </a:lnTo>
                <a:lnTo>
                  <a:pt x="339940" y="128891"/>
                </a:lnTo>
                <a:lnTo>
                  <a:pt x="335572" y="117837"/>
                </a:lnTo>
                <a:lnTo>
                  <a:pt x="330844" y="106932"/>
                </a:lnTo>
                <a:lnTo>
                  <a:pt x="325762" y="96187"/>
                </a:lnTo>
                <a:lnTo>
                  <a:pt x="320331" y="85615"/>
                </a:lnTo>
                <a:lnTo>
                  <a:pt x="314558" y="75225"/>
                </a:lnTo>
                <a:lnTo>
                  <a:pt x="308447" y="65031"/>
                </a:lnTo>
                <a:lnTo>
                  <a:pt x="302006" y="55041"/>
                </a:lnTo>
                <a:lnTo>
                  <a:pt x="295242" y="45268"/>
                </a:lnTo>
                <a:lnTo>
                  <a:pt x="288162" y="35721"/>
                </a:lnTo>
                <a:lnTo>
                  <a:pt x="280773" y="26411"/>
                </a:lnTo>
                <a:lnTo>
                  <a:pt x="273083" y="17348"/>
                </a:lnTo>
                <a:lnTo>
                  <a:pt x="265101" y="8541"/>
                </a:lnTo>
                <a:lnTo>
                  <a:pt x="256835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7" name="S15-mark340"/>
          <p:cNvSpPr/>
          <p:nvPr/>
        </p:nvSpPr>
        <p:spPr>
          <a:xfrm flipH="1">
            <a:off x="9780487" y="2876795"/>
            <a:ext cx="162635" cy="4065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mark341"/>
          <p:cNvSpPr/>
          <p:nvPr/>
        </p:nvSpPr>
        <p:spPr>
          <a:xfrm flipV="1">
            <a:off x="8986520" y="3727704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5-mark342"/>
          <p:cNvSpPr/>
          <p:nvPr/>
        </p:nvSpPr>
        <p:spPr>
          <a:xfrm flipV="1">
            <a:off x="8908288" y="3727704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344"/>
          <p:cNvSpPr txBox="1"/>
          <p:nvPr/>
        </p:nvSpPr>
        <p:spPr>
          <a:xfrm>
            <a:off x="9451315" y="1529189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000" dirty="0"/>
          </a:p>
        </p:txBody>
      </p:sp>
      <p:sp>
        <p:nvSpPr>
          <p:cNvPr id="21" name="S15-label346"/>
          <p:cNvSpPr txBox="1"/>
          <p:nvPr/>
        </p:nvSpPr>
        <p:spPr>
          <a:xfrm>
            <a:off x="10025030" y="371095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000" dirty="0"/>
          </a:p>
        </p:txBody>
      </p:sp>
      <p:sp>
        <p:nvSpPr>
          <p:cNvPr id="22" name="S15-label348"/>
          <p:cNvSpPr txBox="1"/>
          <p:nvPr/>
        </p:nvSpPr>
        <p:spPr>
          <a:xfrm>
            <a:off x="7356344" y="365893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선대칭과 점대칭</dc:title>
  <dc:subject>KR22-G05-MAT-SYMMETRY-L01</dc:subject>
  <dc:creator>education-ppt</dc:creator>
  <cp:lastModifiedBy>education-ppt</cp:lastModifiedBy>
  <cp:revision>1</cp:revision>
  <dcterms:created xsi:type="dcterms:W3CDTF">2026-10-26T08:52:23Z</dcterms:created>
  <dcterms:modified xsi:type="dcterms:W3CDTF">2026-10-26T08:52:23Z</dcterms:modified>
</cp:coreProperties>
</file>