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15e4147-bb58-8086-a5c2-cd872f3652c8}">
          <p14:sldIdLst>
            <p14:sldId id="256"/>
            <p14:sldId id="257"/>
          </p14:sldIdLst>
        </p14:section>
        <p14:section name="개념" id="{c45b6401-aa63-9913-9883-9727a232bc4a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bb9e9bcd-c60b-edef-144b-b242776a87d2}">
          <p14:sldIdLst>
            <p14:sldId id="260"/>
            <p14:sldId id="262"/>
            <p14:sldId id="265"/>
          </p14:sldIdLst>
        </p14:section>
        <p14:section name="개념" id="{d1688b54-52f8-f240-7879-6ace80ccc111}">
          <p14:sldIdLst/>
        </p14:section>
        <p14:section name="연습" id="{4df2e960-f9bb-5ac8-eff4-669a34f4c858}">
          <p14:sldIdLst/>
        </p14:section>
        <p14:section name="개념" id="{04709a44-5464-85fa-c542-6261342220c8}">
          <p14:sldIdLst/>
        </p14:section>
        <p14:section name="연습" id="{7a6e674e-e1af-cda3-5071-3678bbb0585c}">
          <p14:sldIdLst/>
        </p14:section>
        <p14:section name="확인" id="{9fb6fcc7-6ce4-8386-e9d1-135e5b2c78ed}">
          <p14:sldIdLst>
            <p14:sldId id="266"/>
            <p14:sldId id="267"/>
          </p14:sldIdLst>
        </p14:section>
        <p14:section name="정리" id="{e9d6ac7a-1afb-ad0b-a460-37ac6a4909af}">
          <p14:sldIdLst>
            <p14:sldId id="268"/>
          </p14:sldIdLst>
        </p14:section>
        <p14:section name="보충" id="{e0f7ecb1-f2a2-e613-c60e-a1b374d33d8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선대칭과 점대칭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선대칭과 점대칭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선대칭과 점대칭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선대칭과 점대칭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접어서 겹치는 도형과 돌려서 겹치는 도형은 무엇이 다를까요?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점선을 따라 접으면 겹치는 화살표 모양과, 가운데 점을 중심으로 돌리면 겹치는 Z 모양"/>
          <p:cNvSpPr/>
          <p:nvPr/>
        </p:nvSpPr>
        <p:spPr>
          <a:xfrm>
            <a:off x="7764780" y="1350264"/>
            <a:ext cx="1505712" cy="1505712"/>
          </a:xfrm>
          <a:custGeom>
            <a:avLst/>
            <a:gdLst/>
            <a:ahLst/>
            <a:cxnLst/>
            <a:rect l="l" t="t" r="r" b="b"/>
            <a:pathLst>
              <a:path w="1505712" h="1505712">
                <a:moveTo>
                  <a:pt x="752856" y="0"/>
                </a:moveTo>
                <a:lnTo>
                  <a:pt x="1505712" y="752856"/>
                </a:lnTo>
                <a:lnTo>
                  <a:pt x="1129284" y="752856"/>
                </a:lnTo>
                <a:lnTo>
                  <a:pt x="1129284" y="1505712"/>
                </a:lnTo>
                <a:lnTo>
                  <a:pt x="376428" y="1505712"/>
                </a:lnTo>
                <a:lnTo>
                  <a:pt x="376428" y="752856"/>
                </a:lnTo>
                <a:lnTo>
                  <a:pt x="0" y="75285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023348" y="1601216"/>
            <a:ext cx="1505712" cy="1003808"/>
          </a:xfrm>
          <a:custGeom>
            <a:avLst/>
            <a:gdLst/>
            <a:ahLst/>
            <a:cxnLst/>
            <a:rect l="l" t="t" r="r" b="b"/>
            <a:pathLst>
              <a:path w="1505712" h="1003808">
                <a:moveTo>
                  <a:pt x="0" y="501904"/>
                </a:moveTo>
                <a:lnTo>
                  <a:pt x="0" y="0"/>
                </a:lnTo>
                <a:lnTo>
                  <a:pt x="1003808" y="0"/>
                </a:lnTo>
                <a:lnTo>
                  <a:pt x="1003808" y="501904"/>
                </a:lnTo>
                <a:lnTo>
                  <a:pt x="1505712" y="501904"/>
                </a:lnTo>
                <a:lnTo>
                  <a:pt x="1505712" y="1003808"/>
                </a:lnTo>
                <a:lnTo>
                  <a:pt x="501904" y="1003808"/>
                </a:lnTo>
                <a:lnTo>
                  <a:pt x="501904" y="501904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517636" y="1149502"/>
            <a:ext cx="0" cy="1907235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>
            <a:off x="10716768" y="20436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선대칭도형을 알고 완성해요.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점대칭도형을 알고 완성해요.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mark8"/>
          <p:cNvSpPr/>
          <p:nvPr/>
        </p:nvSpPr>
        <p:spPr>
          <a:xfrm>
            <a:off x="7081876" y="3302660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0" y="1407719"/>
                </a:moveTo>
                <a:lnTo>
                  <a:pt x="469240" y="1407719"/>
                </a:lnTo>
                <a:lnTo>
                  <a:pt x="469240" y="469240"/>
                </a:lnTo>
                <a:lnTo>
                  <a:pt x="1407719" y="469240"/>
                </a:lnTo>
                <a:lnTo>
                  <a:pt x="14077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2-mark9"/>
          <p:cNvSpPr/>
          <p:nvPr/>
        </p:nvSpPr>
        <p:spPr>
          <a:xfrm>
            <a:off x="9428074" y="2833421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1407719" y="0"/>
                </a:moveTo>
                <a:lnTo>
                  <a:pt x="938479" y="0"/>
                </a:lnTo>
                <a:lnTo>
                  <a:pt x="938479" y="938479"/>
                </a:lnTo>
                <a:lnTo>
                  <a:pt x="0" y="938479"/>
                </a:lnTo>
                <a:lnTo>
                  <a:pt x="0" y="1407719"/>
                </a:lnTo>
                <a:lnTo>
                  <a:pt x="1407719" y="1407719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2-mark10"/>
          <p:cNvSpPr/>
          <p:nvPr/>
        </p:nvSpPr>
        <p:spPr>
          <a:xfrm flipV="1">
            <a:off x="6612636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11"/>
          <p:cNvSpPr/>
          <p:nvPr/>
        </p:nvSpPr>
        <p:spPr>
          <a:xfrm flipV="1">
            <a:off x="7081876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12"/>
          <p:cNvSpPr/>
          <p:nvPr/>
        </p:nvSpPr>
        <p:spPr>
          <a:xfrm flipV="1">
            <a:off x="7551115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13"/>
          <p:cNvSpPr/>
          <p:nvPr/>
        </p:nvSpPr>
        <p:spPr>
          <a:xfrm flipV="1">
            <a:off x="8020355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14"/>
          <p:cNvSpPr/>
          <p:nvPr/>
        </p:nvSpPr>
        <p:spPr>
          <a:xfrm flipV="1">
            <a:off x="8489594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5"/>
          <p:cNvSpPr/>
          <p:nvPr/>
        </p:nvSpPr>
        <p:spPr>
          <a:xfrm flipV="1">
            <a:off x="8958834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6"/>
          <p:cNvSpPr/>
          <p:nvPr/>
        </p:nvSpPr>
        <p:spPr>
          <a:xfrm flipV="1">
            <a:off x="9428074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7"/>
          <p:cNvSpPr/>
          <p:nvPr/>
        </p:nvSpPr>
        <p:spPr>
          <a:xfrm flipV="1">
            <a:off x="9897313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18"/>
          <p:cNvSpPr/>
          <p:nvPr/>
        </p:nvSpPr>
        <p:spPr>
          <a:xfrm flipV="1">
            <a:off x="10366553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19"/>
          <p:cNvSpPr/>
          <p:nvPr/>
        </p:nvSpPr>
        <p:spPr>
          <a:xfrm flipV="1">
            <a:off x="10835792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20"/>
          <p:cNvSpPr/>
          <p:nvPr/>
        </p:nvSpPr>
        <p:spPr>
          <a:xfrm flipV="1">
            <a:off x="11305032" y="2364181"/>
            <a:ext cx="0" cy="281543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21"/>
          <p:cNvSpPr/>
          <p:nvPr/>
        </p:nvSpPr>
        <p:spPr>
          <a:xfrm>
            <a:off x="6612636" y="517961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22"/>
          <p:cNvSpPr/>
          <p:nvPr/>
        </p:nvSpPr>
        <p:spPr>
          <a:xfrm>
            <a:off x="6612636" y="471037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23"/>
          <p:cNvSpPr/>
          <p:nvPr/>
        </p:nvSpPr>
        <p:spPr>
          <a:xfrm>
            <a:off x="6612636" y="424114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24"/>
          <p:cNvSpPr/>
          <p:nvPr/>
        </p:nvSpPr>
        <p:spPr>
          <a:xfrm>
            <a:off x="6612636" y="377190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25"/>
          <p:cNvSpPr/>
          <p:nvPr/>
        </p:nvSpPr>
        <p:spPr>
          <a:xfrm>
            <a:off x="6612636" y="330266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26"/>
          <p:cNvSpPr/>
          <p:nvPr/>
        </p:nvSpPr>
        <p:spPr>
          <a:xfrm>
            <a:off x="6612636" y="283342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27"/>
          <p:cNvSpPr/>
          <p:nvPr/>
        </p:nvSpPr>
        <p:spPr>
          <a:xfrm>
            <a:off x="6612636" y="236418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figure28" descr="모눈 위의 ㄱ자를 뒤집은 모양 ㉮와, 점 ㅇ을 중심으로 180° 돌린 모양 ㉯"/>
          <p:cNvSpPr/>
          <p:nvPr/>
        </p:nvSpPr>
        <p:spPr>
          <a:xfrm>
            <a:off x="7081876" y="3302660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0" y="1407719"/>
                </a:moveTo>
                <a:lnTo>
                  <a:pt x="469240" y="1407719"/>
                </a:lnTo>
                <a:lnTo>
                  <a:pt x="469240" y="469240"/>
                </a:lnTo>
                <a:lnTo>
                  <a:pt x="1407719" y="469240"/>
                </a:lnTo>
                <a:lnTo>
                  <a:pt x="140771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2-mark29"/>
          <p:cNvSpPr/>
          <p:nvPr/>
        </p:nvSpPr>
        <p:spPr>
          <a:xfrm>
            <a:off x="9428074" y="2833421"/>
            <a:ext cx="1407719" cy="1407719"/>
          </a:xfrm>
          <a:custGeom>
            <a:avLst/>
            <a:gdLst/>
            <a:ahLst/>
            <a:cxnLst/>
            <a:rect l="l" t="t" r="r" b="b"/>
            <a:pathLst>
              <a:path w="1407719" h="1407719">
                <a:moveTo>
                  <a:pt x="1407719" y="0"/>
                </a:moveTo>
                <a:lnTo>
                  <a:pt x="938479" y="0"/>
                </a:lnTo>
                <a:lnTo>
                  <a:pt x="938479" y="938479"/>
                </a:lnTo>
                <a:lnTo>
                  <a:pt x="0" y="938479"/>
                </a:lnTo>
                <a:lnTo>
                  <a:pt x="0" y="1407719"/>
                </a:lnTo>
                <a:lnTo>
                  <a:pt x="1407719" y="1407719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2-mark30"/>
          <p:cNvSpPr/>
          <p:nvPr/>
        </p:nvSpPr>
        <p:spPr>
          <a:xfrm>
            <a:off x="8899398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2-label32"/>
          <p:cNvSpPr txBox="1"/>
          <p:nvPr/>
        </p:nvSpPr>
        <p:spPr>
          <a:xfrm>
            <a:off x="8717280" y="3824351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27" name="S02-label34"/>
          <p:cNvSpPr txBox="1"/>
          <p:nvPr/>
        </p:nvSpPr>
        <p:spPr>
          <a:xfrm>
            <a:off x="7593965" y="279956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㉮</a:t>
            </a:r>
            <a:endParaRPr lang="ko-KR" sz="2200" dirty="0"/>
          </a:p>
        </p:txBody>
      </p:sp>
      <p:sp>
        <p:nvSpPr>
          <p:cNvPr id="28" name="S02-label36"/>
          <p:cNvSpPr txBox="1"/>
          <p:nvPr/>
        </p:nvSpPr>
        <p:spPr>
          <a:xfrm>
            <a:off x="9940163" y="233032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</a:t>
            </a:r>
            <a:endParaRPr lang="ko-KR" sz="2200" dirty="0"/>
          </a:p>
        </p:txBody>
      </p:sp>
      <p:sp>
        <p:nvSpPr>
          <p:cNvPr id="29" name="S02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0" name="S02-text3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두 도형에서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대응변의 길이는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어떤가요?</a:t>
            </a:r>
            <a:endParaRPr lang="ko-KR" sz="2800" dirty="0"/>
          </a:p>
        </p:txBody>
      </p:sp>
      <p:sp>
        <p:nvSpPr>
          <p:cNvPr id="31" name="S02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2" name="S02-text40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㉯는 ㉮를 점 ㅇ을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중심으로 몇 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돌린 모양인가요?</a:t>
            </a:r>
            <a:endParaRPr lang="ko-KR" sz="2800" dirty="0"/>
          </a:p>
        </p:txBody>
      </p:sp>
      <p:sp>
        <p:nvSpPr>
          <p:cNvPr id="33" name="S02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4" name="S02-text42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직선이 직각으로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만나면 두 직선은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어떤 관계?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</a:t>
            </a:r>
            <a:endParaRPr lang="ko-KR" sz="4000" dirty="0"/>
          </a:p>
        </p:txBody>
      </p:sp>
      <p:sp>
        <p:nvSpPr>
          <p:cNvPr id="3" name="S03-figure43" descr="화살표 모양 선대칭도형과, 가운데를 세로로 지나는 점선 대칭축"/>
          <p:cNvSpPr/>
          <p:nvPr/>
        </p:nvSpPr>
        <p:spPr>
          <a:xfrm>
            <a:off x="1365223" y="1907005"/>
            <a:ext cx="3729789" cy="3729789"/>
          </a:xfrm>
          <a:custGeom>
            <a:avLst/>
            <a:gdLst/>
            <a:ahLst/>
            <a:cxnLst/>
            <a:rect l="l" t="t" r="r" b="b"/>
            <a:pathLst>
              <a:path w="3729789" h="3729789">
                <a:moveTo>
                  <a:pt x="1864895" y="0"/>
                </a:moveTo>
                <a:lnTo>
                  <a:pt x="3729789" y="1864895"/>
                </a:lnTo>
                <a:lnTo>
                  <a:pt x="2797342" y="1864895"/>
                </a:lnTo>
                <a:lnTo>
                  <a:pt x="2797342" y="3729789"/>
                </a:lnTo>
                <a:lnTo>
                  <a:pt x="932447" y="3729789"/>
                </a:lnTo>
                <a:lnTo>
                  <a:pt x="932447" y="1864895"/>
                </a:lnTo>
                <a:lnTo>
                  <a:pt x="0" y="1864895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44"/>
          <p:cNvSpPr/>
          <p:nvPr/>
        </p:nvSpPr>
        <p:spPr>
          <a:xfrm flipV="1">
            <a:off x="3230118" y="1409700"/>
            <a:ext cx="0" cy="4724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" name="S03-label46"/>
          <p:cNvSpPr txBox="1"/>
          <p:nvPr/>
        </p:nvSpPr>
        <p:spPr>
          <a:xfrm>
            <a:off x="3759147" y="1421564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</a:t>
            </a:r>
            <a:endParaRPr lang="ko-KR" sz="2200" dirty="0"/>
          </a:p>
        </p:txBody>
      </p:sp>
      <p:sp>
        <p:nvSpPr>
          <p:cNvPr id="6" name="S03-card47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48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직선을 따라 접었을 때 완전히 겹치는 도형</a:t>
            </a:r>
            <a:endParaRPr lang="ko-KR" sz="2800" dirty="0"/>
          </a:p>
        </p:txBody>
      </p:sp>
      <p:sp>
        <p:nvSpPr>
          <p:cNvPr id="8" name="S03-card49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50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직선이에요. 점선으로 그려요.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선대칭도형의 성질</a:t>
            </a:r>
            <a:endParaRPr lang="ko-KR" sz="4000" dirty="0"/>
          </a:p>
        </p:txBody>
      </p:sp>
      <p:sp>
        <p:nvSpPr>
          <p:cNvPr id="3" name="S04-figure51" descr="대칭축이 세로 점선인 오각형 ㄱㄴㄷㄹㅁ. 변 ㄱㄴ과 ㄱㅁ, 변 ㄴㄷ과 ㅁㄹ에 같은 길이 표시, 각 ㄷ과 각 ㄹ에 같은 색, 점 ㄴ과 점 ㅁ을 이은 점선이 대칭축과 점 ㅅ에서 직각으로 만나고 ㄴㅅ과 ㅅㅁ이 3 cm로 같음"/>
          <p:cNvSpPr/>
          <p:nvPr/>
        </p:nvSpPr>
        <p:spPr>
          <a:xfrm>
            <a:off x="1562688" y="2382375"/>
            <a:ext cx="3334860" cy="2779050"/>
          </a:xfrm>
          <a:custGeom>
            <a:avLst/>
            <a:gdLst/>
            <a:ahLst/>
            <a:cxnLst/>
            <a:rect l="l" t="t" r="r" b="b"/>
            <a:pathLst>
              <a:path w="3334860" h="2779050">
                <a:moveTo>
                  <a:pt x="1667430" y="0"/>
                </a:moveTo>
                <a:lnTo>
                  <a:pt x="0" y="1111620"/>
                </a:lnTo>
                <a:lnTo>
                  <a:pt x="555810" y="2779050"/>
                </a:lnTo>
                <a:lnTo>
                  <a:pt x="2779050" y="2779050"/>
                </a:lnTo>
                <a:lnTo>
                  <a:pt x="3334860" y="111162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4-mark52"/>
          <p:cNvSpPr/>
          <p:nvPr/>
        </p:nvSpPr>
        <p:spPr>
          <a:xfrm>
            <a:off x="2003638" y="4798212"/>
            <a:ext cx="478080" cy="363213"/>
          </a:xfrm>
          <a:custGeom>
            <a:avLst/>
            <a:gdLst/>
            <a:ahLst/>
            <a:cxnLst/>
            <a:rect l="l" t="t" r="r" b="b"/>
            <a:pathLst>
              <a:path w="478080" h="363213">
                <a:moveTo>
                  <a:pt x="114860" y="363213"/>
                </a:moveTo>
                <a:lnTo>
                  <a:pt x="478080" y="363213"/>
                </a:lnTo>
                <a:lnTo>
                  <a:pt x="476952" y="334600"/>
                </a:lnTo>
                <a:lnTo>
                  <a:pt x="473572" y="306166"/>
                </a:lnTo>
                <a:lnTo>
                  <a:pt x="467964" y="278086"/>
                </a:lnTo>
                <a:lnTo>
                  <a:pt x="460161" y="250535"/>
                </a:lnTo>
                <a:lnTo>
                  <a:pt x="450212" y="223684"/>
                </a:lnTo>
                <a:lnTo>
                  <a:pt x="438178" y="197700"/>
                </a:lnTo>
                <a:lnTo>
                  <a:pt x="424135" y="172746"/>
                </a:lnTo>
                <a:lnTo>
                  <a:pt x="408170" y="148974"/>
                </a:lnTo>
                <a:lnTo>
                  <a:pt x="390382" y="126535"/>
                </a:lnTo>
                <a:lnTo>
                  <a:pt x="370882" y="105566"/>
                </a:lnTo>
                <a:lnTo>
                  <a:pt x="349790" y="86199"/>
                </a:lnTo>
                <a:lnTo>
                  <a:pt x="327239" y="68553"/>
                </a:lnTo>
                <a:lnTo>
                  <a:pt x="303367" y="52739"/>
                </a:lnTo>
                <a:lnTo>
                  <a:pt x="278324" y="38854"/>
                </a:lnTo>
                <a:lnTo>
                  <a:pt x="252265" y="26986"/>
                </a:lnTo>
                <a:lnTo>
                  <a:pt x="225352" y="17206"/>
                </a:lnTo>
                <a:lnTo>
                  <a:pt x="197752" y="9578"/>
                </a:lnTo>
                <a:lnTo>
                  <a:pt x="169637" y="4147"/>
                </a:lnTo>
                <a:lnTo>
                  <a:pt x="141182" y="948"/>
                </a:lnTo>
                <a:lnTo>
                  <a:pt x="112563" y="0"/>
                </a:lnTo>
                <a:lnTo>
                  <a:pt x="83958" y="1310"/>
                </a:lnTo>
                <a:lnTo>
                  <a:pt x="55545" y="4869"/>
                </a:lnTo>
                <a:lnTo>
                  <a:pt x="27501" y="10655"/>
                </a:lnTo>
                <a:lnTo>
                  <a:pt x="0" y="1863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4-mark53"/>
          <p:cNvSpPr/>
          <p:nvPr/>
        </p:nvSpPr>
        <p:spPr>
          <a:xfrm>
            <a:off x="3978518" y="4798212"/>
            <a:ext cx="478080" cy="363213"/>
          </a:xfrm>
          <a:custGeom>
            <a:avLst/>
            <a:gdLst/>
            <a:ahLst/>
            <a:cxnLst/>
            <a:rect l="l" t="t" r="r" b="b"/>
            <a:pathLst>
              <a:path w="478080" h="363213">
                <a:moveTo>
                  <a:pt x="363220" y="363213"/>
                </a:moveTo>
                <a:lnTo>
                  <a:pt x="478080" y="18632"/>
                </a:lnTo>
                <a:lnTo>
                  <a:pt x="450579" y="10655"/>
                </a:lnTo>
                <a:lnTo>
                  <a:pt x="422535" y="4869"/>
                </a:lnTo>
                <a:lnTo>
                  <a:pt x="394122" y="1310"/>
                </a:lnTo>
                <a:lnTo>
                  <a:pt x="365518" y="0"/>
                </a:lnTo>
                <a:lnTo>
                  <a:pt x="336899" y="948"/>
                </a:lnTo>
                <a:lnTo>
                  <a:pt x="308443" y="4147"/>
                </a:lnTo>
                <a:lnTo>
                  <a:pt x="280328" y="9578"/>
                </a:lnTo>
                <a:lnTo>
                  <a:pt x="252729" y="17206"/>
                </a:lnTo>
                <a:lnTo>
                  <a:pt x="225815" y="26986"/>
                </a:lnTo>
                <a:lnTo>
                  <a:pt x="199756" y="38854"/>
                </a:lnTo>
                <a:lnTo>
                  <a:pt x="174713" y="52739"/>
                </a:lnTo>
                <a:lnTo>
                  <a:pt x="150842" y="68553"/>
                </a:lnTo>
                <a:lnTo>
                  <a:pt x="128290" y="86199"/>
                </a:lnTo>
                <a:lnTo>
                  <a:pt x="107198" y="105566"/>
                </a:lnTo>
                <a:lnTo>
                  <a:pt x="87698" y="126535"/>
                </a:lnTo>
                <a:lnTo>
                  <a:pt x="69910" y="148974"/>
                </a:lnTo>
                <a:lnTo>
                  <a:pt x="53945" y="172746"/>
                </a:lnTo>
                <a:lnTo>
                  <a:pt x="39902" y="197700"/>
                </a:lnTo>
                <a:lnTo>
                  <a:pt x="27869" y="223684"/>
                </a:lnTo>
                <a:lnTo>
                  <a:pt x="17920" y="250535"/>
                </a:lnTo>
                <a:lnTo>
                  <a:pt x="10116" y="278086"/>
                </a:lnTo>
                <a:lnTo>
                  <a:pt x="4508" y="306166"/>
                </a:lnTo>
                <a:lnTo>
                  <a:pt x="1129" y="334600"/>
                </a:lnTo>
                <a:lnTo>
                  <a:pt x="0" y="36321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6" name="S04-mark54"/>
          <p:cNvSpPr/>
          <p:nvPr/>
        </p:nvSpPr>
        <p:spPr>
          <a:xfrm>
            <a:off x="3230118" y="328444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4-mark55"/>
          <p:cNvSpPr/>
          <p:nvPr/>
        </p:nvSpPr>
        <p:spPr>
          <a:xfrm flipV="1">
            <a:off x="3230118" y="1826565"/>
            <a:ext cx="0" cy="389067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4-mark56"/>
          <p:cNvSpPr/>
          <p:nvPr/>
        </p:nvSpPr>
        <p:spPr>
          <a:xfrm>
            <a:off x="1562688" y="3493995"/>
            <a:ext cx="16674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4-mark57"/>
          <p:cNvSpPr/>
          <p:nvPr/>
        </p:nvSpPr>
        <p:spPr>
          <a:xfrm>
            <a:off x="3230118" y="3493995"/>
            <a:ext cx="16674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4-mark58"/>
          <p:cNvSpPr/>
          <p:nvPr/>
        </p:nvSpPr>
        <p:spPr>
          <a:xfrm>
            <a:off x="2382454" y="2846745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59"/>
          <p:cNvSpPr/>
          <p:nvPr/>
        </p:nvSpPr>
        <p:spPr>
          <a:xfrm>
            <a:off x="2317361" y="2890140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mark60"/>
          <p:cNvSpPr/>
          <p:nvPr/>
        </p:nvSpPr>
        <p:spPr>
          <a:xfrm flipV="1">
            <a:off x="1761074" y="4301204"/>
            <a:ext cx="159037" cy="530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mark61"/>
          <p:cNvSpPr/>
          <p:nvPr/>
        </p:nvSpPr>
        <p:spPr>
          <a:xfrm flipH="1" flipV="1">
            <a:off x="4540125" y="4301204"/>
            <a:ext cx="159037" cy="530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62"/>
          <p:cNvSpPr/>
          <p:nvPr/>
        </p:nvSpPr>
        <p:spPr>
          <a:xfrm flipH="1">
            <a:off x="4049885" y="2890140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63"/>
          <p:cNvSpPr/>
          <p:nvPr/>
        </p:nvSpPr>
        <p:spPr>
          <a:xfrm flipH="1">
            <a:off x="3984792" y="2846745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65"/>
          <p:cNvSpPr txBox="1"/>
          <p:nvPr/>
        </p:nvSpPr>
        <p:spPr>
          <a:xfrm>
            <a:off x="2014641" y="357083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7" name="S04-label67"/>
          <p:cNvSpPr txBox="1"/>
          <p:nvPr/>
        </p:nvSpPr>
        <p:spPr>
          <a:xfrm>
            <a:off x="3682071" y="357083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8" name="S04-label69"/>
          <p:cNvSpPr txBox="1"/>
          <p:nvPr/>
        </p:nvSpPr>
        <p:spPr>
          <a:xfrm>
            <a:off x="3194032" y="193878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9" name="S04-label71"/>
          <p:cNvSpPr txBox="1"/>
          <p:nvPr/>
        </p:nvSpPr>
        <p:spPr>
          <a:xfrm>
            <a:off x="1035324" y="320345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0" name="S04-label73"/>
          <p:cNvSpPr txBox="1"/>
          <p:nvPr/>
        </p:nvSpPr>
        <p:spPr>
          <a:xfrm>
            <a:off x="1707041" y="515902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1" name="S04-label75"/>
          <p:cNvSpPr txBox="1"/>
          <p:nvPr/>
        </p:nvSpPr>
        <p:spPr>
          <a:xfrm>
            <a:off x="4270087" y="515902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2" name="S04-label77"/>
          <p:cNvSpPr txBox="1"/>
          <p:nvPr/>
        </p:nvSpPr>
        <p:spPr>
          <a:xfrm>
            <a:off x="4941804" y="320345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3" name="S04-label79"/>
          <p:cNvSpPr txBox="1"/>
          <p:nvPr/>
        </p:nvSpPr>
        <p:spPr>
          <a:xfrm>
            <a:off x="2783096" y="305040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3000" dirty="0"/>
          </a:p>
        </p:txBody>
      </p:sp>
      <p:sp>
        <p:nvSpPr>
          <p:cNvPr id="24" name="S04-card80"/>
          <p:cNvSpPr/>
          <p:nvPr/>
        </p:nvSpPr>
        <p:spPr>
          <a:xfrm>
            <a:off x="6277356" y="23070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81"/>
          <p:cNvSpPr txBox="1"/>
          <p:nvPr/>
        </p:nvSpPr>
        <p:spPr>
          <a:xfrm>
            <a:off x="6551676" y="24442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대응변·대응각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길이와 크기가 각각 같아요.</a:t>
            </a:r>
            <a:endParaRPr lang="ko-KR" sz="2800" dirty="0"/>
          </a:p>
        </p:txBody>
      </p:sp>
      <p:sp>
        <p:nvSpPr>
          <p:cNvPr id="26" name="S04-card82"/>
          <p:cNvSpPr/>
          <p:nvPr/>
        </p:nvSpPr>
        <p:spPr>
          <a:xfrm>
            <a:off x="6277356" y="37157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83"/>
          <p:cNvSpPr txBox="1"/>
          <p:nvPr/>
        </p:nvSpPr>
        <p:spPr>
          <a:xfrm>
            <a:off x="6551676" y="38529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대응점을 이은 선분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대칭축과 수직으로 만나고, 둘로 똑같이 나뉘어요.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대칭축은 몇 개일까요?</a:t>
            </a:r>
            <a:endParaRPr lang="ko-KR" sz="4000" dirty="0"/>
          </a:p>
        </p:txBody>
      </p:sp>
      <p:sp>
        <p:nvSpPr>
          <p:cNvPr id="3" name="S05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종이로 오려 여러 방향으로 접어 보며 세어요.</a:t>
            </a:r>
            <a:endParaRPr lang="ko-KR" sz="2800" dirty="0"/>
          </a:p>
        </p:txBody>
      </p:sp>
      <p:sp>
        <p:nvSpPr>
          <p:cNvPr id="5" name="S05-figure86" descr="정사각형"/>
          <p:cNvSpPr/>
          <p:nvPr/>
        </p:nvSpPr>
        <p:spPr>
          <a:xfrm>
            <a:off x="1129284" y="2312289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1371600"/>
                </a:moveTo>
                <a:lnTo>
                  <a:pt x="1371600" y="1371600"/>
                </a:lnTo>
                <a:lnTo>
                  <a:pt x="137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label87"/>
          <p:cNvSpPr txBox="1"/>
          <p:nvPr/>
        </p:nvSpPr>
        <p:spPr>
          <a:xfrm>
            <a:off x="548640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정사각형</a:t>
            </a:r>
            <a:endParaRPr lang="ko-KR" sz="2200" dirty="0"/>
          </a:p>
        </p:txBody>
      </p:sp>
      <p:sp>
        <p:nvSpPr>
          <p:cNvPr id="7" name="S05-figure88" descr="정사각형이 아닌 직사각형"/>
          <p:cNvSpPr/>
          <p:nvPr/>
        </p:nvSpPr>
        <p:spPr>
          <a:xfrm>
            <a:off x="3639312" y="2426589"/>
            <a:ext cx="2057400" cy="1143000"/>
          </a:xfrm>
          <a:custGeom>
            <a:avLst/>
            <a:gdLst/>
            <a:ahLst/>
            <a:cxnLst/>
            <a:rect l="l" t="t" r="r" b="b"/>
            <a:pathLst>
              <a:path w="2057400" h="1143000">
                <a:moveTo>
                  <a:pt x="0" y="1143000"/>
                </a:moveTo>
                <a:lnTo>
                  <a:pt x="2057400" y="114300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label89"/>
          <p:cNvSpPr txBox="1"/>
          <p:nvPr/>
        </p:nvSpPr>
        <p:spPr>
          <a:xfrm>
            <a:off x="3401568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직사각형</a:t>
            </a:r>
            <a:endParaRPr lang="ko-KR" sz="2200" dirty="0"/>
          </a:p>
        </p:txBody>
      </p:sp>
      <p:sp>
        <p:nvSpPr>
          <p:cNvPr id="9" name="S05-figure90" descr="정삼각형"/>
          <p:cNvSpPr/>
          <p:nvPr/>
        </p:nvSpPr>
        <p:spPr>
          <a:xfrm>
            <a:off x="6720840" y="2305180"/>
            <a:ext cx="1600200" cy="1385819"/>
          </a:xfrm>
          <a:custGeom>
            <a:avLst/>
            <a:gdLst/>
            <a:ahLst/>
            <a:cxnLst/>
            <a:rect l="l" t="t" r="r" b="b"/>
            <a:pathLst>
              <a:path w="1600200" h="1385819">
                <a:moveTo>
                  <a:pt x="0" y="1385819"/>
                </a:moveTo>
                <a:lnTo>
                  <a:pt x="1600200" y="1385819"/>
                </a:lnTo>
                <a:lnTo>
                  <a:pt x="8001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label91"/>
          <p:cNvSpPr txBox="1"/>
          <p:nvPr/>
        </p:nvSpPr>
        <p:spPr>
          <a:xfrm>
            <a:off x="6254496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정삼각형</a:t>
            </a:r>
            <a:endParaRPr lang="ko-KR" sz="2200" dirty="0"/>
          </a:p>
        </p:txBody>
      </p:sp>
      <p:sp>
        <p:nvSpPr>
          <p:cNvPr id="11" name="S05-figure92" descr="직사각형도 마름모도 아닌 평행사변형"/>
          <p:cNvSpPr/>
          <p:nvPr/>
        </p:nvSpPr>
        <p:spPr>
          <a:xfrm>
            <a:off x="9345168" y="254088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400"/>
                </a:moveTo>
                <a:lnTo>
                  <a:pt x="1371600" y="914400"/>
                </a:lnTo>
                <a:lnTo>
                  <a:pt x="2057400" y="0"/>
                </a:lnTo>
                <a:lnTo>
                  <a:pt x="6858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5-label93"/>
          <p:cNvSpPr txBox="1"/>
          <p:nvPr/>
        </p:nvSpPr>
        <p:spPr>
          <a:xfrm>
            <a:off x="9107424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평행사변형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 완성하기</a:t>
            </a:r>
            <a:endParaRPr lang="ko-KR" sz="4000" dirty="0"/>
          </a:p>
        </p:txBody>
      </p:sp>
      <p:sp>
        <p:nvSpPr>
          <p:cNvPr id="3" name="S06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대응점은 대칭축에서 같은 거리에, 같은 높이에 있어요.</a:t>
            </a:r>
            <a:endParaRPr lang="ko-KR" sz="2800" dirty="0"/>
          </a:p>
        </p:txBody>
      </p:sp>
      <p:sp>
        <p:nvSpPr>
          <p:cNvPr id="5" name="S06-mark96"/>
          <p:cNvSpPr/>
          <p:nvPr/>
        </p:nvSpPr>
        <p:spPr>
          <a:xfrm flipV="1">
            <a:off x="7357471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97"/>
          <p:cNvSpPr/>
          <p:nvPr/>
        </p:nvSpPr>
        <p:spPr>
          <a:xfrm flipV="1">
            <a:off x="7784627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98"/>
          <p:cNvSpPr/>
          <p:nvPr/>
        </p:nvSpPr>
        <p:spPr>
          <a:xfrm flipV="1">
            <a:off x="8211782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99"/>
          <p:cNvSpPr/>
          <p:nvPr/>
        </p:nvSpPr>
        <p:spPr>
          <a:xfrm flipV="1">
            <a:off x="8638938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100"/>
          <p:cNvSpPr/>
          <p:nvPr/>
        </p:nvSpPr>
        <p:spPr>
          <a:xfrm flipV="1">
            <a:off x="9066093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01"/>
          <p:cNvSpPr/>
          <p:nvPr/>
        </p:nvSpPr>
        <p:spPr>
          <a:xfrm flipV="1">
            <a:off x="9493249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02"/>
          <p:cNvSpPr/>
          <p:nvPr/>
        </p:nvSpPr>
        <p:spPr>
          <a:xfrm flipV="1">
            <a:off x="9920404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03"/>
          <p:cNvSpPr/>
          <p:nvPr/>
        </p:nvSpPr>
        <p:spPr>
          <a:xfrm flipV="1">
            <a:off x="10347559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04"/>
          <p:cNvSpPr/>
          <p:nvPr/>
        </p:nvSpPr>
        <p:spPr>
          <a:xfrm flipV="1">
            <a:off x="10774715" y="1728216"/>
            <a:ext cx="0" cy="299008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05"/>
          <p:cNvSpPr/>
          <p:nvPr/>
        </p:nvSpPr>
        <p:spPr>
          <a:xfrm>
            <a:off x="7357471" y="4718304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06"/>
          <p:cNvSpPr/>
          <p:nvPr/>
        </p:nvSpPr>
        <p:spPr>
          <a:xfrm>
            <a:off x="7357471" y="4291149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07"/>
          <p:cNvSpPr/>
          <p:nvPr/>
        </p:nvSpPr>
        <p:spPr>
          <a:xfrm>
            <a:off x="7357471" y="3863993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08"/>
          <p:cNvSpPr/>
          <p:nvPr/>
        </p:nvSpPr>
        <p:spPr>
          <a:xfrm>
            <a:off x="7357471" y="3436838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09"/>
          <p:cNvSpPr/>
          <p:nvPr/>
        </p:nvSpPr>
        <p:spPr>
          <a:xfrm>
            <a:off x="7357471" y="3009682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10"/>
          <p:cNvSpPr/>
          <p:nvPr/>
        </p:nvSpPr>
        <p:spPr>
          <a:xfrm>
            <a:off x="7357471" y="2582527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11"/>
          <p:cNvSpPr/>
          <p:nvPr/>
        </p:nvSpPr>
        <p:spPr>
          <a:xfrm>
            <a:off x="7357471" y="2155371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12"/>
          <p:cNvSpPr/>
          <p:nvPr/>
        </p:nvSpPr>
        <p:spPr>
          <a:xfrm>
            <a:off x="7357471" y="1728216"/>
            <a:ext cx="34172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figure113" descr="모눈 위 세로 점선 대칭축 왼쪽에 그린 반쪽(검은 선)과, 축 오른쪽에 거울처럼 그린 반쪽(주황 선). 점 ㄷ은 축에서 왼쪽으로 3칸, 대응점은 오른쪽으로 3칸"/>
          <p:cNvSpPr/>
          <p:nvPr/>
        </p:nvSpPr>
        <p:spPr>
          <a:xfrm>
            <a:off x="7784627" y="2155371"/>
            <a:ext cx="1281466" cy="2135777"/>
          </a:xfrm>
          <a:custGeom>
            <a:avLst/>
            <a:gdLst/>
            <a:ahLst/>
            <a:cxnLst/>
            <a:rect l="l" t="t" r="r" b="b"/>
            <a:pathLst>
              <a:path w="1281466" h="2135777">
                <a:moveTo>
                  <a:pt x="1281466" y="0"/>
                </a:moveTo>
                <a:lnTo>
                  <a:pt x="427155" y="0"/>
                </a:lnTo>
                <a:lnTo>
                  <a:pt x="854311" y="854311"/>
                </a:lnTo>
                <a:lnTo>
                  <a:pt x="0" y="1708622"/>
                </a:lnTo>
                <a:lnTo>
                  <a:pt x="854311" y="2135777"/>
                </a:lnTo>
                <a:lnTo>
                  <a:pt x="1281466" y="2135777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114"/>
          <p:cNvSpPr/>
          <p:nvPr/>
        </p:nvSpPr>
        <p:spPr>
          <a:xfrm>
            <a:off x="9066093" y="2155371"/>
            <a:ext cx="1281466" cy="2135777"/>
          </a:xfrm>
          <a:custGeom>
            <a:avLst/>
            <a:gdLst/>
            <a:ahLst/>
            <a:cxnLst/>
            <a:rect l="l" t="t" r="r" b="b"/>
            <a:pathLst>
              <a:path w="1281466" h="2135777">
                <a:moveTo>
                  <a:pt x="0" y="0"/>
                </a:moveTo>
                <a:lnTo>
                  <a:pt x="854311" y="0"/>
                </a:lnTo>
                <a:lnTo>
                  <a:pt x="427155" y="854311"/>
                </a:lnTo>
                <a:lnTo>
                  <a:pt x="1281466" y="1708622"/>
                </a:lnTo>
                <a:lnTo>
                  <a:pt x="427155" y="2135777"/>
                </a:lnTo>
                <a:lnTo>
                  <a:pt x="0" y="2135777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24" name="S06-mark115"/>
          <p:cNvSpPr/>
          <p:nvPr/>
        </p:nvSpPr>
        <p:spPr>
          <a:xfrm flipV="1">
            <a:off x="9066093" y="1728216"/>
            <a:ext cx="0" cy="299008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6-mark116"/>
          <p:cNvSpPr/>
          <p:nvPr/>
        </p:nvSpPr>
        <p:spPr>
          <a:xfrm>
            <a:off x="7784627" y="3863993"/>
            <a:ext cx="128146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6" name="S06-mark117"/>
          <p:cNvSpPr/>
          <p:nvPr/>
        </p:nvSpPr>
        <p:spPr>
          <a:xfrm>
            <a:off x="9066093" y="3863993"/>
            <a:ext cx="128146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7" name="S06-label119"/>
          <p:cNvSpPr txBox="1"/>
          <p:nvPr/>
        </p:nvSpPr>
        <p:spPr>
          <a:xfrm>
            <a:off x="8141388" y="343790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200" dirty="0"/>
          </a:p>
        </p:txBody>
      </p:sp>
      <p:sp>
        <p:nvSpPr>
          <p:cNvPr id="28" name="S06-label121"/>
          <p:cNvSpPr txBox="1"/>
          <p:nvPr/>
        </p:nvSpPr>
        <p:spPr>
          <a:xfrm>
            <a:off x="9422854" y="3437908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</a:t>
            </a:r>
            <a:endParaRPr lang="ko-KR" sz="2200" dirty="0"/>
          </a:p>
        </p:txBody>
      </p:sp>
      <p:sp>
        <p:nvSpPr>
          <p:cNvPr id="29" name="S06-mark122"/>
          <p:cNvSpPr/>
          <p:nvPr/>
        </p:nvSpPr>
        <p:spPr>
          <a:xfrm>
            <a:off x="7725191" y="38045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mark123"/>
          <p:cNvSpPr/>
          <p:nvPr/>
        </p:nvSpPr>
        <p:spPr>
          <a:xfrm>
            <a:off x="10288123" y="38045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label125"/>
          <p:cNvSpPr txBox="1"/>
          <p:nvPr/>
        </p:nvSpPr>
        <p:spPr>
          <a:xfrm>
            <a:off x="7252497" y="362586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32" name="S06-stepno126"/>
          <p:cNvSpPr txBox="1"/>
          <p:nvPr/>
        </p:nvSpPr>
        <p:spPr>
          <a:xfrm>
            <a:off x="548640" y="1802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3" name="S06-text127"/>
          <p:cNvSpPr txBox="1"/>
          <p:nvPr/>
        </p:nvSpPr>
        <p:spPr>
          <a:xfrm>
            <a:off x="1325880" y="1757172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ㄷ에서 대칭축까지 칸 수를 세어요.</a:t>
            </a:r>
            <a:endParaRPr lang="ko-KR" sz="2800" dirty="0"/>
          </a:p>
        </p:txBody>
      </p:sp>
      <p:sp>
        <p:nvSpPr>
          <p:cNvPr id="34" name="S06-stepno128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5" name="S06-text129"/>
          <p:cNvSpPr txBox="1"/>
          <p:nvPr/>
        </p:nvSpPr>
        <p:spPr>
          <a:xfrm>
            <a:off x="1325880" y="2789428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반대쪽으로 같은 칸 수만큼 가서 대응점을 찍어요.</a:t>
            </a:r>
            <a:endParaRPr lang="ko-KR" sz="2800" dirty="0"/>
          </a:p>
        </p:txBody>
      </p:sp>
      <p:sp>
        <p:nvSpPr>
          <p:cNvPr id="36" name="S06-stepno130"/>
          <p:cNvSpPr txBox="1"/>
          <p:nvPr/>
        </p:nvSpPr>
        <p:spPr>
          <a:xfrm>
            <a:off x="548640" y="3867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7" name="S06-text131"/>
          <p:cNvSpPr txBox="1"/>
          <p:nvPr/>
        </p:nvSpPr>
        <p:spPr>
          <a:xfrm>
            <a:off x="1325880" y="3821684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점도 찍고 차례로 이어요.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그렸을까요?</a:t>
            </a:r>
            <a:endParaRPr lang="ko-KR" sz="4000" dirty="0"/>
          </a:p>
        </p:txBody>
      </p:sp>
      <p:sp>
        <p:nvSpPr>
          <p:cNvPr id="3" name="S07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점선을 따라 접으면 어느 그림이 완전히 겹칠까요?</a:t>
            </a:r>
            <a:endParaRPr lang="ko-KR" sz="2800" dirty="0"/>
          </a:p>
        </p:txBody>
      </p:sp>
      <p:sp>
        <p:nvSpPr>
          <p:cNvPr id="5" name="S07-mark134"/>
          <p:cNvSpPr/>
          <p:nvPr/>
        </p:nvSpPr>
        <p:spPr>
          <a:xfrm flipV="1">
            <a:off x="1426246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7-mark135"/>
          <p:cNvSpPr/>
          <p:nvPr/>
        </p:nvSpPr>
        <p:spPr>
          <a:xfrm flipV="1">
            <a:off x="1880072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136"/>
          <p:cNvSpPr/>
          <p:nvPr/>
        </p:nvSpPr>
        <p:spPr>
          <a:xfrm flipV="1">
            <a:off x="2333897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37"/>
          <p:cNvSpPr/>
          <p:nvPr/>
        </p:nvSpPr>
        <p:spPr>
          <a:xfrm flipV="1">
            <a:off x="2787723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38"/>
          <p:cNvSpPr/>
          <p:nvPr/>
        </p:nvSpPr>
        <p:spPr>
          <a:xfrm flipV="1">
            <a:off x="3241548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39"/>
          <p:cNvSpPr/>
          <p:nvPr/>
        </p:nvSpPr>
        <p:spPr>
          <a:xfrm flipV="1">
            <a:off x="3695373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40"/>
          <p:cNvSpPr/>
          <p:nvPr/>
        </p:nvSpPr>
        <p:spPr>
          <a:xfrm flipV="1">
            <a:off x="4149199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41"/>
          <p:cNvSpPr/>
          <p:nvPr/>
        </p:nvSpPr>
        <p:spPr>
          <a:xfrm flipV="1">
            <a:off x="4603024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42"/>
          <p:cNvSpPr/>
          <p:nvPr/>
        </p:nvSpPr>
        <p:spPr>
          <a:xfrm flipV="1">
            <a:off x="5056850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43"/>
          <p:cNvSpPr/>
          <p:nvPr/>
        </p:nvSpPr>
        <p:spPr>
          <a:xfrm>
            <a:off x="1426246" y="4586478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44"/>
          <p:cNvSpPr/>
          <p:nvPr/>
        </p:nvSpPr>
        <p:spPr>
          <a:xfrm>
            <a:off x="1426246" y="4132653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45"/>
          <p:cNvSpPr/>
          <p:nvPr/>
        </p:nvSpPr>
        <p:spPr>
          <a:xfrm>
            <a:off x="1426246" y="3678827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46"/>
          <p:cNvSpPr/>
          <p:nvPr/>
        </p:nvSpPr>
        <p:spPr>
          <a:xfrm>
            <a:off x="1426246" y="3225002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47"/>
          <p:cNvSpPr/>
          <p:nvPr/>
        </p:nvSpPr>
        <p:spPr>
          <a:xfrm>
            <a:off x="1426246" y="2771176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148"/>
          <p:cNvSpPr/>
          <p:nvPr/>
        </p:nvSpPr>
        <p:spPr>
          <a:xfrm>
            <a:off x="1426246" y="2317351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mark149"/>
          <p:cNvSpPr/>
          <p:nvPr/>
        </p:nvSpPr>
        <p:spPr>
          <a:xfrm>
            <a:off x="1426246" y="1863525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7-mark150"/>
          <p:cNvSpPr/>
          <p:nvPr/>
        </p:nvSpPr>
        <p:spPr>
          <a:xfrm>
            <a:off x="1426246" y="1409700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7-figure151" descr="토끼의 그림: 왼쪽 반쪽을 뒤집지 않고 오른쪽으로 3칸 밀어 그림"/>
          <p:cNvSpPr/>
          <p:nvPr/>
        </p:nvSpPr>
        <p:spPr>
          <a:xfrm>
            <a:off x="1880072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1361476" y="0"/>
                </a:moveTo>
                <a:lnTo>
                  <a:pt x="453825" y="0"/>
                </a:lnTo>
                <a:lnTo>
                  <a:pt x="907651" y="907651"/>
                </a:lnTo>
                <a:lnTo>
                  <a:pt x="0" y="1815302"/>
                </a:lnTo>
                <a:lnTo>
                  <a:pt x="907651" y="2269127"/>
                </a:lnTo>
                <a:lnTo>
                  <a:pt x="1361476" y="2269127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152"/>
          <p:cNvSpPr/>
          <p:nvPr/>
        </p:nvSpPr>
        <p:spPr>
          <a:xfrm>
            <a:off x="3241548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1361476" y="0"/>
                </a:moveTo>
                <a:lnTo>
                  <a:pt x="453825" y="0"/>
                </a:lnTo>
                <a:lnTo>
                  <a:pt x="907651" y="907651"/>
                </a:lnTo>
                <a:lnTo>
                  <a:pt x="0" y="1815302"/>
                </a:lnTo>
                <a:lnTo>
                  <a:pt x="907651" y="2269127"/>
                </a:lnTo>
                <a:lnTo>
                  <a:pt x="1361476" y="2269127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24" name="S07-mark153"/>
          <p:cNvSpPr/>
          <p:nvPr/>
        </p:nvSpPr>
        <p:spPr>
          <a:xfrm flipV="1">
            <a:off x="3241548" y="1409700"/>
            <a:ext cx="0" cy="317677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7-label154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똑같이 옮겨 그렸어요</a:t>
            </a:r>
            <a:endParaRPr lang="ko-KR" sz="2200" dirty="0"/>
          </a:p>
        </p:txBody>
      </p:sp>
      <p:sp>
        <p:nvSpPr>
          <p:cNvPr id="26" name="S07-mark155"/>
          <p:cNvSpPr/>
          <p:nvPr/>
        </p:nvSpPr>
        <p:spPr>
          <a:xfrm flipV="1">
            <a:off x="7132102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7-mark156"/>
          <p:cNvSpPr/>
          <p:nvPr/>
        </p:nvSpPr>
        <p:spPr>
          <a:xfrm flipV="1">
            <a:off x="7585928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7-mark157"/>
          <p:cNvSpPr/>
          <p:nvPr/>
        </p:nvSpPr>
        <p:spPr>
          <a:xfrm flipV="1">
            <a:off x="8039753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7-mark158"/>
          <p:cNvSpPr/>
          <p:nvPr/>
        </p:nvSpPr>
        <p:spPr>
          <a:xfrm flipV="1">
            <a:off x="8493579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7-mark159"/>
          <p:cNvSpPr/>
          <p:nvPr/>
        </p:nvSpPr>
        <p:spPr>
          <a:xfrm flipV="1">
            <a:off x="8947404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7-mark160"/>
          <p:cNvSpPr/>
          <p:nvPr/>
        </p:nvSpPr>
        <p:spPr>
          <a:xfrm flipV="1">
            <a:off x="9401229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7-mark161"/>
          <p:cNvSpPr/>
          <p:nvPr/>
        </p:nvSpPr>
        <p:spPr>
          <a:xfrm flipV="1">
            <a:off x="9855055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7-mark162"/>
          <p:cNvSpPr/>
          <p:nvPr/>
        </p:nvSpPr>
        <p:spPr>
          <a:xfrm flipV="1">
            <a:off x="10308880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7-mark163"/>
          <p:cNvSpPr/>
          <p:nvPr/>
        </p:nvSpPr>
        <p:spPr>
          <a:xfrm flipV="1">
            <a:off x="10762706" y="1409700"/>
            <a:ext cx="0" cy="317677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7-mark164"/>
          <p:cNvSpPr/>
          <p:nvPr/>
        </p:nvSpPr>
        <p:spPr>
          <a:xfrm>
            <a:off x="7132102" y="4586478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7-mark165"/>
          <p:cNvSpPr/>
          <p:nvPr/>
        </p:nvSpPr>
        <p:spPr>
          <a:xfrm>
            <a:off x="7132102" y="4132653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7-mark166"/>
          <p:cNvSpPr/>
          <p:nvPr/>
        </p:nvSpPr>
        <p:spPr>
          <a:xfrm>
            <a:off x="7132102" y="3678827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7-mark167"/>
          <p:cNvSpPr/>
          <p:nvPr/>
        </p:nvSpPr>
        <p:spPr>
          <a:xfrm>
            <a:off x="7132102" y="3225002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7-mark168"/>
          <p:cNvSpPr/>
          <p:nvPr/>
        </p:nvSpPr>
        <p:spPr>
          <a:xfrm>
            <a:off x="7132102" y="2771176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7-mark169"/>
          <p:cNvSpPr/>
          <p:nvPr/>
        </p:nvSpPr>
        <p:spPr>
          <a:xfrm>
            <a:off x="7132102" y="2317351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7-mark170"/>
          <p:cNvSpPr/>
          <p:nvPr/>
        </p:nvSpPr>
        <p:spPr>
          <a:xfrm>
            <a:off x="7132102" y="1863525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7-mark171"/>
          <p:cNvSpPr/>
          <p:nvPr/>
        </p:nvSpPr>
        <p:spPr>
          <a:xfrm>
            <a:off x="7132102" y="1409700"/>
            <a:ext cx="36306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7-figure172" descr="곰의 그림: 왼쪽 반쪽을 대칭축을 기준으로 뒤집어 그림"/>
          <p:cNvSpPr/>
          <p:nvPr/>
        </p:nvSpPr>
        <p:spPr>
          <a:xfrm>
            <a:off x="7585928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1361476" y="0"/>
                </a:moveTo>
                <a:lnTo>
                  <a:pt x="453825" y="0"/>
                </a:lnTo>
                <a:lnTo>
                  <a:pt x="907651" y="907651"/>
                </a:lnTo>
                <a:lnTo>
                  <a:pt x="0" y="1815302"/>
                </a:lnTo>
                <a:lnTo>
                  <a:pt x="907651" y="2269127"/>
                </a:lnTo>
                <a:lnTo>
                  <a:pt x="1361476" y="2269127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4" name="S07-mark173"/>
          <p:cNvSpPr/>
          <p:nvPr/>
        </p:nvSpPr>
        <p:spPr>
          <a:xfrm>
            <a:off x="8947404" y="1863525"/>
            <a:ext cx="1361476" cy="2269127"/>
          </a:xfrm>
          <a:custGeom>
            <a:avLst/>
            <a:gdLst/>
            <a:ahLst/>
            <a:cxnLst/>
            <a:rect l="l" t="t" r="r" b="b"/>
            <a:pathLst>
              <a:path w="1361476" h="2269127">
                <a:moveTo>
                  <a:pt x="0" y="0"/>
                </a:moveTo>
                <a:lnTo>
                  <a:pt x="907651" y="0"/>
                </a:lnTo>
                <a:lnTo>
                  <a:pt x="453825" y="907651"/>
                </a:lnTo>
                <a:lnTo>
                  <a:pt x="1361476" y="1815302"/>
                </a:lnTo>
                <a:lnTo>
                  <a:pt x="453825" y="2269127"/>
                </a:lnTo>
                <a:lnTo>
                  <a:pt x="0" y="2269127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45" name="S07-mark174"/>
          <p:cNvSpPr/>
          <p:nvPr/>
        </p:nvSpPr>
        <p:spPr>
          <a:xfrm flipV="1">
            <a:off x="8947404" y="1409700"/>
            <a:ext cx="0" cy="317677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6" name="S07-label175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거울처럼 뒤집어 그렸어요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점대칭도형</a:t>
            </a:r>
            <a:endParaRPr lang="ko-KR" sz="4000" dirty="0"/>
          </a:p>
        </p:txBody>
      </p:sp>
      <p:sp>
        <p:nvSpPr>
          <p:cNvPr id="3" name="S08-figure176" descr="Z 모양 점대칭도형과 가운데의 대칭의 중심 점 ㅇ"/>
          <p:cNvSpPr/>
          <p:nvPr/>
        </p:nvSpPr>
        <p:spPr>
          <a:xfrm>
            <a:off x="1584198" y="2674620"/>
            <a:ext cx="3291840" cy="2194560"/>
          </a:xfrm>
          <a:custGeom>
            <a:avLst/>
            <a:gdLst/>
            <a:ahLst/>
            <a:cxnLst/>
            <a:rect l="l" t="t" r="r" b="b"/>
            <a:pathLst>
              <a:path w="3291840" h="2194560">
                <a:moveTo>
                  <a:pt x="0" y="1097280"/>
                </a:moveTo>
                <a:lnTo>
                  <a:pt x="0" y="0"/>
                </a:lnTo>
                <a:lnTo>
                  <a:pt x="2194560" y="0"/>
                </a:lnTo>
                <a:lnTo>
                  <a:pt x="2194560" y="1097280"/>
                </a:lnTo>
                <a:lnTo>
                  <a:pt x="3291840" y="1097280"/>
                </a:lnTo>
                <a:lnTo>
                  <a:pt x="3291840" y="2194560"/>
                </a:lnTo>
                <a:lnTo>
                  <a:pt x="1097280" y="2194560"/>
                </a:lnTo>
                <a:lnTo>
                  <a:pt x="1097280" y="109728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8-mark177"/>
          <p:cNvSpPr/>
          <p:nvPr/>
        </p:nvSpPr>
        <p:spPr>
          <a:xfrm>
            <a:off x="3170682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8-label179"/>
          <p:cNvSpPr txBox="1"/>
          <p:nvPr/>
        </p:nvSpPr>
        <p:spPr>
          <a:xfrm>
            <a:off x="3194032" y="373924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6" name="S08-card180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181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점대칭도형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점을 중심으로 180° 돌렸을 때 처음 도형과 완전히 겹치는 도형</a:t>
            </a:r>
            <a:endParaRPr lang="ko-KR" sz="2800" dirty="0"/>
          </a:p>
        </p:txBody>
      </p:sp>
      <p:sp>
        <p:nvSpPr>
          <p:cNvPr id="8" name="S08-card182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183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대칭의 중심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중심이 되는 점이에요.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점대칭도형 완성하기</a:t>
            </a:r>
            <a:endParaRPr lang="ko-KR" sz="4000" dirty="0"/>
          </a:p>
        </p:txBody>
      </p:sp>
      <p:sp>
        <p:nvSpPr>
          <p:cNvPr id="3" name="S09-card18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8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대응점을 이은 선분은 대칭의 중심을 지나고, 둘로 똑같이 나뉘어요.</a:t>
            </a:r>
            <a:endParaRPr lang="ko-KR" sz="2800" dirty="0"/>
          </a:p>
        </p:txBody>
      </p:sp>
      <p:sp>
        <p:nvSpPr>
          <p:cNvPr id="5" name="S09-mark186"/>
          <p:cNvSpPr/>
          <p:nvPr/>
        </p:nvSpPr>
        <p:spPr>
          <a:xfrm flipV="1">
            <a:off x="7202072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9-mark187"/>
          <p:cNvSpPr/>
          <p:nvPr/>
        </p:nvSpPr>
        <p:spPr>
          <a:xfrm flipV="1">
            <a:off x="7668077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188"/>
          <p:cNvSpPr/>
          <p:nvPr/>
        </p:nvSpPr>
        <p:spPr>
          <a:xfrm flipV="1">
            <a:off x="8134082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189"/>
          <p:cNvSpPr/>
          <p:nvPr/>
        </p:nvSpPr>
        <p:spPr>
          <a:xfrm flipV="1">
            <a:off x="8600088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190"/>
          <p:cNvSpPr/>
          <p:nvPr/>
        </p:nvSpPr>
        <p:spPr>
          <a:xfrm flipV="1">
            <a:off x="9066093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191"/>
          <p:cNvSpPr/>
          <p:nvPr/>
        </p:nvSpPr>
        <p:spPr>
          <a:xfrm flipV="1">
            <a:off x="9532098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192"/>
          <p:cNvSpPr/>
          <p:nvPr/>
        </p:nvSpPr>
        <p:spPr>
          <a:xfrm flipV="1">
            <a:off x="9998104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193"/>
          <p:cNvSpPr/>
          <p:nvPr/>
        </p:nvSpPr>
        <p:spPr>
          <a:xfrm flipV="1">
            <a:off x="10464109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194"/>
          <p:cNvSpPr/>
          <p:nvPr/>
        </p:nvSpPr>
        <p:spPr>
          <a:xfrm flipV="1">
            <a:off x="10930114" y="1661160"/>
            <a:ext cx="0" cy="2796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195"/>
          <p:cNvSpPr/>
          <p:nvPr/>
        </p:nvSpPr>
        <p:spPr>
          <a:xfrm>
            <a:off x="7202072" y="4457192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196"/>
          <p:cNvSpPr/>
          <p:nvPr/>
        </p:nvSpPr>
        <p:spPr>
          <a:xfrm>
            <a:off x="7202072" y="3991187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197"/>
          <p:cNvSpPr/>
          <p:nvPr/>
        </p:nvSpPr>
        <p:spPr>
          <a:xfrm>
            <a:off x="7202072" y="3525181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198"/>
          <p:cNvSpPr/>
          <p:nvPr/>
        </p:nvSpPr>
        <p:spPr>
          <a:xfrm>
            <a:off x="7202072" y="3059176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199"/>
          <p:cNvSpPr/>
          <p:nvPr/>
        </p:nvSpPr>
        <p:spPr>
          <a:xfrm>
            <a:off x="7202072" y="2593171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00"/>
          <p:cNvSpPr/>
          <p:nvPr/>
        </p:nvSpPr>
        <p:spPr>
          <a:xfrm>
            <a:off x="7202072" y="2127165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01"/>
          <p:cNvSpPr/>
          <p:nvPr/>
        </p:nvSpPr>
        <p:spPr>
          <a:xfrm>
            <a:off x="7202072" y="1661160"/>
            <a:ext cx="37280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figure202" descr="모눈 위 점대칭도형의 반쪽(검은 선)과 대칭의 중심 ㅇ. 점 ㄱ에서 ㅇ을 지나 같은 길이만큼 간 곳이 대응점이고, 나머지 반쪽(주황 선)을 그렸음"/>
          <p:cNvSpPr/>
          <p:nvPr/>
        </p:nvSpPr>
        <p:spPr>
          <a:xfrm>
            <a:off x="7668077" y="2127165"/>
            <a:ext cx="1864021" cy="1864021"/>
          </a:xfrm>
          <a:custGeom>
            <a:avLst/>
            <a:gdLst/>
            <a:ahLst/>
            <a:cxnLst/>
            <a:rect l="l" t="t" r="r" b="b"/>
            <a:pathLst>
              <a:path w="1864021" h="1864021">
                <a:moveTo>
                  <a:pt x="1864021" y="0"/>
                </a:moveTo>
                <a:lnTo>
                  <a:pt x="0" y="0"/>
                </a:lnTo>
                <a:lnTo>
                  <a:pt x="0" y="932011"/>
                </a:lnTo>
                <a:lnTo>
                  <a:pt x="932011" y="932011"/>
                </a:lnTo>
                <a:lnTo>
                  <a:pt x="932011" y="1864021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9-mark203"/>
          <p:cNvSpPr/>
          <p:nvPr/>
        </p:nvSpPr>
        <p:spPr>
          <a:xfrm>
            <a:off x="8600088" y="2127165"/>
            <a:ext cx="1864021" cy="1864021"/>
          </a:xfrm>
          <a:custGeom>
            <a:avLst/>
            <a:gdLst/>
            <a:ahLst/>
            <a:cxnLst/>
            <a:rect l="l" t="t" r="r" b="b"/>
            <a:pathLst>
              <a:path w="1864021" h="1864021">
                <a:moveTo>
                  <a:pt x="0" y="1864021"/>
                </a:moveTo>
                <a:lnTo>
                  <a:pt x="1864021" y="1864021"/>
                </a:lnTo>
                <a:lnTo>
                  <a:pt x="1864021" y="932011"/>
                </a:lnTo>
                <a:lnTo>
                  <a:pt x="932011" y="932011"/>
                </a:lnTo>
                <a:lnTo>
                  <a:pt x="932011" y="0"/>
                </a:lnTo>
              </a:path>
            </a:pathLst>
          </a:cu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23" name="S09-mark204"/>
          <p:cNvSpPr/>
          <p:nvPr/>
        </p:nvSpPr>
        <p:spPr>
          <a:xfrm>
            <a:off x="7668077" y="2127165"/>
            <a:ext cx="1398016" cy="932011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4" name="S09-mark205"/>
          <p:cNvSpPr/>
          <p:nvPr/>
        </p:nvSpPr>
        <p:spPr>
          <a:xfrm>
            <a:off x="9066093" y="3059176"/>
            <a:ext cx="1398016" cy="932011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9-mark206"/>
          <p:cNvSpPr/>
          <p:nvPr/>
        </p:nvSpPr>
        <p:spPr>
          <a:xfrm flipH="1">
            <a:off x="8320590" y="2523428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mark207"/>
          <p:cNvSpPr/>
          <p:nvPr/>
        </p:nvSpPr>
        <p:spPr>
          <a:xfrm flipH="1">
            <a:off x="9718606" y="3455439"/>
            <a:ext cx="92990" cy="13948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mark208"/>
          <p:cNvSpPr/>
          <p:nvPr/>
        </p:nvSpPr>
        <p:spPr>
          <a:xfrm>
            <a:off x="7608641" y="206772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9-mark209"/>
          <p:cNvSpPr/>
          <p:nvPr/>
        </p:nvSpPr>
        <p:spPr>
          <a:xfrm>
            <a:off x="9006657" y="299974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9-mark210"/>
          <p:cNvSpPr/>
          <p:nvPr/>
        </p:nvSpPr>
        <p:spPr>
          <a:xfrm>
            <a:off x="10404673" y="39317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9-label212"/>
          <p:cNvSpPr txBox="1"/>
          <p:nvPr/>
        </p:nvSpPr>
        <p:spPr>
          <a:xfrm>
            <a:off x="7221055" y="168357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31" name="S09-label214"/>
          <p:cNvSpPr txBox="1"/>
          <p:nvPr/>
        </p:nvSpPr>
        <p:spPr>
          <a:xfrm>
            <a:off x="9030007" y="261558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32" name="S09-stepno215"/>
          <p:cNvSpPr txBox="1"/>
          <p:nvPr/>
        </p:nvSpPr>
        <p:spPr>
          <a:xfrm>
            <a:off x="548640" y="1421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3" name="S09-text216"/>
          <p:cNvSpPr txBox="1"/>
          <p:nvPr/>
        </p:nvSpPr>
        <p:spPr>
          <a:xfrm>
            <a:off x="1325880" y="1376172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ㄱ에서 대칭의 중심 ㅇ까지 가는 칸 수를 세어요.</a:t>
            </a:r>
            <a:endParaRPr lang="ko-KR" sz="2800" dirty="0"/>
          </a:p>
        </p:txBody>
      </p:sp>
      <p:sp>
        <p:nvSpPr>
          <p:cNvPr id="34" name="S09-stepno217"/>
          <p:cNvSpPr txBox="1"/>
          <p:nvPr/>
        </p:nvSpPr>
        <p:spPr>
          <a:xfrm>
            <a:off x="548640" y="245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5" name="S09-text218"/>
          <p:cNvSpPr txBox="1"/>
          <p:nvPr/>
        </p:nvSpPr>
        <p:spPr>
          <a:xfrm>
            <a:off x="1325880" y="2408428"/>
            <a:ext cx="4800234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ㅇ에서 같은 방향으로 같은 칸 수만큼 더 가서 대응점을 찍어요.</a:t>
            </a:r>
            <a:endParaRPr lang="ko-KR" sz="2800" dirty="0"/>
          </a:p>
        </p:txBody>
      </p:sp>
      <p:sp>
        <p:nvSpPr>
          <p:cNvPr id="36" name="S09-stepno219"/>
          <p:cNvSpPr txBox="1"/>
          <p:nvPr/>
        </p:nvSpPr>
        <p:spPr>
          <a:xfrm>
            <a:off x="548640" y="39202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7" name="S09-text220"/>
          <p:cNvSpPr txBox="1"/>
          <p:nvPr/>
        </p:nvSpPr>
        <p:spPr>
          <a:xfrm>
            <a:off x="1325880" y="3874516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점도 찍고 차례로 이어요.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평행사변형은 어떤 도형일까요?</a:t>
            </a:r>
            <a:endParaRPr lang="ko-KR" sz="4000" dirty="0"/>
          </a:p>
        </p:txBody>
      </p:sp>
      <p:sp>
        <p:nvSpPr>
          <p:cNvPr id="3" name="S10-card2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평행사변형은 선대칭도형일까요, 점대칭도형일까요?</a:t>
            </a:r>
            <a:endParaRPr lang="ko-KR" sz="2800" dirty="0"/>
          </a:p>
        </p:txBody>
      </p:sp>
      <p:sp>
        <p:nvSpPr>
          <p:cNvPr id="5" name="S10-card2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종이로 오려 확인해요.</a:t>
            </a:r>
            <a:endParaRPr lang="ko-KR" sz="2800" dirty="0"/>
          </a:p>
        </p:txBody>
      </p:sp>
      <p:sp>
        <p:nvSpPr>
          <p:cNvPr id="7" name="S10-chip2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선대칭도형</a:t>
            </a:r>
            <a:endParaRPr lang="ko-KR" sz="2200" dirty="0"/>
          </a:p>
        </p:txBody>
      </p:sp>
      <p:sp>
        <p:nvSpPr>
          <p:cNvPr id="8" name="S10-figure226" descr="평행사변형과 한 대각선(점선)"/>
          <p:cNvSpPr/>
          <p:nvPr/>
        </p:nvSpPr>
        <p:spPr>
          <a:xfrm>
            <a:off x="1847088" y="3292856"/>
            <a:ext cx="2766060" cy="1257300"/>
          </a:xfrm>
          <a:custGeom>
            <a:avLst/>
            <a:gdLst/>
            <a:ahLst/>
            <a:cxnLst/>
            <a:rect l="l" t="t" r="r" b="b"/>
            <a:pathLst>
              <a:path w="2766060" h="1257300">
                <a:moveTo>
                  <a:pt x="0" y="1257300"/>
                </a:moveTo>
                <a:lnTo>
                  <a:pt x="2011680" y="1257300"/>
                </a:lnTo>
                <a:lnTo>
                  <a:pt x="2766060" y="0"/>
                </a:lnTo>
                <a:lnTo>
                  <a:pt x="7543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0-mark227"/>
          <p:cNvSpPr/>
          <p:nvPr/>
        </p:nvSpPr>
        <p:spPr>
          <a:xfrm flipV="1">
            <a:off x="1847088" y="3292856"/>
            <a:ext cx="2766060" cy="12573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10-text228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“대각선을 따라 접으면 겹쳐요.”</a:t>
            </a:r>
            <a:endParaRPr lang="ko-KR" sz="2200" dirty="0"/>
          </a:p>
        </p:txBody>
      </p:sp>
      <p:sp>
        <p:nvSpPr>
          <p:cNvPr id="11" name="S10-chip22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점대칭도형</a:t>
            </a:r>
            <a:endParaRPr lang="ko-KR" sz="2200" dirty="0"/>
          </a:p>
        </p:txBody>
      </p:sp>
      <p:sp>
        <p:nvSpPr>
          <p:cNvPr id="12" name="S10-figure230" descr="평행사변형과 두 대각선이 만나는 가운데 점"/>
          <p:cNvSpPr/>
          <p:nvPr/>
        </p:nvSpPr>
        <p:spPr>
          <a:xfrm>
            <a:off x="7575804" y="3292856"/>
            <a:ext cx="2766060" cy="1257300"/>
          </a:xfrm>
          <a:custGeom>
            <a:avLst/>
            <a:gdLst/>
            <a:ahLst/>
            <a:cxnLst/>
            <a:rect l="l" t="t" r="r" b="b"/>
            <a:pathLst>
              <a:path w="2766060" h="1257300">
                <a:moveTo>
                  <a:pt x="0" y="1257300"/>
                </a:moveTo>
                <a:lnTo>
                  <a:pt x="2011680" y="1257300"/>
                </a:lnTo>
                <a:lnTo>
                  <a:pt x="2766060" y="0"/>
                </a:lnTo>
                <a:lnTo>
                  <a:pt x="7543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mark231"/>
          <p:cNvSpPr/>
          <p:nvPr/>
        </p:nvSpPr>
        <p:spPr>
          <a:xfrm>
            <a:off x="8899398" y="38620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text232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“가운데 점으로 180° 돌리면 겹쳐요.”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선대칭도형, 오른쪽은 점대칭도형의 반쪽이에요.</a:t>
            </a:r>
            <a:endParaRPr lang="ko-KR" sz="2800" dirty="0"/>
          </a:p>
        </p:txBody>
      </p:sp>
      <p:sp>
        <p:nvSpPr>
          <p:cNvPr id="4" name="S11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어떻게 찾았는지 칸 수로 말해요.</a:t>
            </a:r>
            <a:endParaRPr lang="ko-KR" sz="2800" dirty="0"/>
          </a:p>
        </p:txBody>
      </p:sp>
      <p:sp>
        <p:nvSpPr>
          <p:cNvPr id="6" name="S11-mark236"/>
          <p:cNvSpPr/>
          <p:nvPr/>
        </p:nvSpPr>
        <p:spPr>
          <a:xfrm flipV="1">
            <a:off x="158483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1-mark237"/>
          <p:cNvSpPr/>
          <p:nvPr/>
        </p:nvSpPr>
        <p:spPr>
          <a:xfrm flipV="1">
            <a:off x="1916176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1-mark238"/>
          <p:cNvSpPr/>
          <p:nvPr/>
        </p:nvSpPr>
        <p:spPr>
          <a:xfrm flipV="1">
            <a:off x="2247519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1-mark239"/>
          <p:cNvSpPr/>
          <p:nvPr/>
        </p:nvSpPr>
        <p:spPr>
          <a:xfrm flipV="1">
            <a:off x="2578862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240"/>
          <p:cNvSpPr/>
          <p:nvPr/>
        </p:nvSpPr>
        <p:spPr>
          <a:xfrm flipV="1">
            <a:off x="2910205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241"/>
          <p:cNvSpPr/>
          <p:nvPr/>
        </p:nvSpPr>
        <p:spPr>
          <a:xfrm flipV="1">
            <a:off x="3241548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242"/>
          <p:cNvSpPr/>
          <p:nvPr/>
        </p:nvSpPr>
        <p:spPr>
          <a:xfrm flipV="1">
            <a:off x="3572891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243"/>
          <p:cNvSpPr/>
          <p:nvPr/>
        </p:nvSpPr>
        <p:spPr>
          <a:xfrm flipV="1">
            <a:off x="3904234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244"/>
          <p:cNvSpPr/>
          <p:nvPr/>
        </p:nvSpPr>
        <p:spPr>
          <a:xfrm flipV="1">
            <a:off x="4235577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245"/>
          <p:cNvSpPr/>
          <p:nvPr/>
        </p:nvSpPr>
        <p:spPr>
          <a:xfrm flipV="1">
            <a:off x="4566920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246"/>
          <p:cNvSpPr/>
          <p:nvPr/>
        </p:nvSpPr>
        <p:spPr>
          <a:xfrm flipV="1">
            <a:off x="489826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247"/>
          <p:cNvSpPr/>
          <p:nvPr/>
        </p:nvSpPr>
        <p:spPr>
          <a:xfrm>
            <a:off x="1584833" y="4335018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248"/>
          <p:cNvSpPr/>
          <p:nvPr/>
        </p:nvSpPr>
        <p:spPr>
          <a:xfrm>
            <a:off x="1584833" y="4003675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249"/>
          <p:cNvSpPr/>
          <p:nvPr/>
        </p:nvSpPr>
        <p:spPr>
          <a:xfrm>
            <a:off x="1584833" y="3672332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mark250"/>
          <p:cNvSpPr/>
          <p:nvPr/>
        </p:nvSpPr>
        <p:spPr>
          <a:xfrm>
            <a:off x="1584833" y="3340989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1-mark251"/>
          <p:cNvSpPr/>
          <p:nvPr/>
        </p:nvSpPr>
        <p:spPr>
          <a:xfrm>
            <a:off x="1584833" y="3009646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1-mark252"/>
          <p:cNvSpPr/>
          <p:nvPr/>
        </p:nvSpPr>
        <p:spPr>
          <a:xfrm>
            <a:off x="1584833" y="2678303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1-mark253"/>
          <p:cNvSpPr/>
          <p:nvPr/>
        </p:nvSpPr>
        <p:spPr>
          <a:xfrm>
            <a:off x="1584833" y="2346960"/>
            <a:ext cx="33134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1-figure254" descr="세로 점선 대칭축 왼쪽의 반쪽 도형과 점 ㄱ(축에서 왼쪽으로 4칸), 축 오른쪽의 점 ㉠(1칸), ㉡(4칸, ㄱ과 같은 높이), ㉢(3칸, 두 칸 위)"/>
          <p:cNvSpPr/>
          <p:nvPr/>
        </p:nvSpPr>
        <p:spPr>
          <a:xfrm>
            <a:off x="1916176" y="2678303"/>
            <a:ext cx="1325372" cy="1325372"/>
          </a:xfrm>
          <a:custGeom>
            <a:avLst/>
            <a:gdLst/>
            <a:ahLst/>
            <a:cxnLst/>
            <a:rect l="l" t="t" r="r" b="b"/>
            <a:pathLst>
              <a:path w="1325372" h="1325372">
                <a:moveTo>
                  <a:pt x="1325372" y="0"/>
                </a:moveTo>
                <a:lnTo>
                  <a:pt x="662686" y="0"/>
                </a:lnTo>
                <a:lnTo>
                  <a:pt x="662686" y="662686"/>
                </a:lnTo>
                <a:lnTo>
                  <a:pt x="0" y="994029"/>
                </a:lnTo>
                <a:lnTo>
                  <a:pt x="994029" y="1325372"/>
                </a:lnTo>
                <a:lnTo>
                  <a:pt x="1325372" y="1325372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11-mark255"/>
          <p:cNvSpPr/>
          <p:nvPr/>
        </p:nvSpPr>
        <p:spPr>
          <a:xfrm flipV="1">
            <a:off x="3241548" y="2346960"/>
            <a:ext cx="0" cy="198805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6" name="S11-mark256"/>
          <p:cNvSpPr/>
          <p:nvPr/>
        </p:nvSpPr>
        <p:spPr>
          <a:xfrm>
            <a:off x="1856740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1-mark257"/>
          <p:cNvSpPr/>
          <p:nvPr/>
        </p:nvSpPr>
        <p:spPr>
          <a:xfrm>
            <a:off x="3513455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1-mark258"/>
          <p:cNvSpPr/>
          <p:nvPr/>
        </p:nvSpPr>
        <p:spPr>
          <a:xfrm>
            <a:off x="4507484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1-mark259"/>
          <p:cNvSpPr/>
          <p:nvPr/>
        </p:nvSpPr>
        <p:spPr>
          <a:xfrm>
            <a:off x="4176141" y="295021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1-label261"/>
          <p:cNvSpPr txBox="1"/>
          <p:nvPr/>
        </p:nvSpPr>
        <p:spPr>
          <a:xfrm>
            <a:off x="1384046" y="343420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31" name="S11-label263"/>
          <p:cNvSpPr txBox="1"/>
          <p:nvPr/>
        </p:nvSpPr>
        <p:spPr>
          <a:xfrm>
            <a:off x="3381121" y="372122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㉠</a:t>
            </a:r>
            <a:endParaRPr lang="ko-KR" sz="2200" dirty="0"/>
          </a:p>
        </p:txBody>
      </p:sp>
      <p:sp>
        <p:nvSpPr>
          <p:cNvPr id="32" name="S11-label265"/>
          <p:cNvSpPr txBox="1"/>
          <p:nvPr/>
        </p:nvSpPr>
        <p:spPr>
          <a:xfrm>
            <a:off x="4598670" y="349770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㉡</a:t>
            </a:r>
            <a:endParaRPr lang="ko-KR" sz="2200" dirty="0"/>
          </a:p>
        </p:txBody>
      </p:sp>
      <p:sp>
        <p:nvSpPr>
          <p:cNvPr id="33" name="S11-label267"/>
          <p:cNvSpPr txBox="1"/>
          <p:nvPr/>
        </p:nvSpPr>
        <p:spPr>
          <a:xfrm>
            <a:off x="4267327" y="28350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㉢</a:t>
            </a:r>
            <a:endParaRPr lang="ko-KR" sz="2200" dirty="0"/>
          </a:p>
        </p:txBody>
      </p:sp>
      <p:sp>
        <p:nvSpPr>
          <p:cNvPr id="34" name="S11-label268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점 ㄱ의 대응점은?</a:t>
            </a:r>
            <a:endParaRPr lang="ko-KR" sz="2200" dirty="0"/>
          </a:p>
        </p:txBody>
      </p:sp>
      <p:sp>
        <p:nvSpPr>
          <p:cNvPr id="35" name="S11-mark269"/>
          <p:cNvSpPr/>
          <p:nvPr/>
        </p:nvSpPr>
        <p:spPr>
          <a:xfrm flipV="1">
            <a:off x="7456361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1-mark270"/>
          <p:cNvSpPr/>
          <p:nvPr/>
        </p:nvSpPr>
        <p:spPr>
          <a:xfrm flipV="1">
            <a:off x="7787704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1-mark271"/>
          <p:cNvSpPr/>
          <p:nvPr/>
        </p:nvSpPr>
        <p:spPr>
          <a:xfrm flipV="1">
            <a:off x="8119047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1-mark272"/>
          <p:cNvSpPr/>
          <p:nvPr/>
        </p:nvSpPr>
        <p:spPr>
          <a:xfrm flipV="1">
            <a:off x="8450390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1-mark273"/>
          <p:cNvSpPr/>
          <p:nvPr/>
        </p:nvSpPr>
        <p:spPr>
          <a:xfrm flipV="1">
            <a:off x="878173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1-mark274"/>
          <p:cNvSpPr/>
          <p:nvPr/>
        </p:nvSpPr>
        <p:spPr>
          <a:xfrm flipV="1">
            <a:off x="9113076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1-mark275"/>
          <p:cNvSpPr/>
          <p:nvPr/>
        </p:nvSpPr>
        <p:spPr>
          <a:xfrm flipV="1">
            <a:off x="9444419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1-mark276"/>
          <p:cNvSpPr/>
          <p:nvPr/>
        </p:nvSpPr>
        <p:spPr>
          <a:xfrm flipV="1">
            <a:off x="9775762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1-mark277"/>
          <p:cNvSpPr/>
          <p:nvPr/>
        </p:nvSpPr>
        <p:spPr>
          <a:xfrm flipV="1">
            <a:off x="10107105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1-mark278"/>
          <p:cNvSpPr/>
          <p:nvPr/>
        </p:nvSpPr>
        <p:spPr>
          <a:xfrm flipV="1">
            <a:off x="10438448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1-mark279"/>
          <p:cNvSpPr/>
          <p:nvPr/>
        </p:nvSpPr>
        <p:spPr>
          <a:xfrm>
            <a:off x="7456361" y="4335018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1-mark280"/>
          <p:cNvSpPr/>
          <p:nvPr/>
        </p:nvSpPr>
        <p:spPr>
          <a:xfrm>
            <a:off x="7456361" y="4003675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1-mark281"/>
          <p:cNvSpPr/>
          <p:nvPr/>
        </p:nvSpPr>
        <p:spPr>
          <a:xfrm>
            <a:off x="7456361" y="3672332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1-mark282"/>
          <p:cNvSpPr/>
          <p:nvPr/>
        </p:nvSpPr>
        <p:spPr>
          <a:xfrm>
            <a:off x="7456361" y="3340989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1-mark283"/>
          <p:cNvSpPr/>
          <p:nvPr/>
        </p:nvSpPr>
        <p:spPr>
          <a:xfrm>
            <a:off x="7456361" y="3009646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1-mark284"/>
          <p:cNvSpPr/>
          <p:nvPr/>
        </p:nvSpPr>
        <p:spPr>
          <a:xfrm>
            <a:off x="7456361" y="2678303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1-mark285"/>
          <p:cNvSpPr/>
          <p:nvPr/>
        </p:nvSpPr>
        <p:spPr>
          <a:xfrm>
            <a:off x="7456361" y="2346960"/>
            <a:ext cx="298208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11-figure286" descr="점대칭도형의 반쪽과 대칭의 중심 ㅇ, 점 ㄴ(ㅇ에서 왼쪽 3칸·아래 1칸), 후보 점 ㉣(ㅇ에서 오른쪽 3칸·아래 1칸), ㉤(오른쪽 3칸·위 1칸), ㉥(오른쪽 2칸)"/>
          <p:cNvSpPr/>
          <p:nvPr/>
        </p:nvSpPr>
        <p:spPr>
          <a:xfrm>
            <a:off x="7787704" y="2678303"/>
            <a:ext cx="1325372" cy="1325372"/>
          </a:xfrm>
          <a:custGeom>
            <a:avLst/>
            <a:gdLst/>
            <a:ahLst/>
            <a:cxnLst/>
            <a:rect l="l" t="t" r="r" b="b"/>
            <a:pathLst>
              <a:path w="1325372" h="1325372">
                <a:moveTo>
                  <a:pt x="1325372" y="0"/>
                </a:moveTo>
                <a:lnTo>
                  <a:pt x="331343" y="0"/>
                </a:lnTo>
                <a:lnTo>
                  <a:pt x="331343" y="331343"/>
                </a:lnTo>
                <a:lnTo>
                  <a:pt x="0" y="994029"/>
                </a:lnTo>
                <a:lnTo>
                  <a:pt x="662686" y="662686"/>
                </a:lnTo>
                <a:lnTo>
                  <a:pt x="662686" y="1325372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3" name="S11-mark287"/>
          <p:cNvSpPr/>
          <p:nvPr/>
        </p:nvSpPr>
        <p:spPr>
          <a:xfrm>
            <a:off x="7728268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11-mark288"/>
          <p:cNvSpPr/>
          <p:nvPr/>
        </p:nvSpPr>
        <p:spPr>
          <a:xfrm>
            <a:off x="8722297" y="32815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11-mark289"/>
          <p:cNvSpPr/>
          <p:nvPr/>
        </p:nvSpPr>
        <p:spPr>
          <a:xfrm>
            <a:off x="9716326" y="361289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11-mark290"/>
          <p:cNvSpPr/>
          <p:nvPr/>
        </p:nvSpPr>
        <p:spPr>
          <a:xfrm>
            <a:off x="9716326" y="295021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1-mark291"/>
          <p:cNvSpPr/>
          <p:nvPr/>
        </p:nvSpPr>
        <p:spPr>
          <a:xfrm>
            <a:off x="9384983" y="32815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1-label293"/>
          <p:cNvSpPr txBox="1"/>
          <p:nvPr/>
        </p:nvSpPr>
        <p:spPr>
          <a:xfrm>
            <a:off x="7255574" y="343420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59" name="S11-label295"/>
          <p:cNvSpPr txBox="1"/>
          <p:nvPr/>
        </p:nvSpPr>
        <p:spPr>
          <a:xfrm>
            <a:off x="8540179" y="339344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60" name="S11-label297"/>
          <p:cNvSpPr txBox="1"/>
          <p:nvPr/>
        </p:nvSpPr>
        <p:spPr>
          <a:xfrm>
            <a:off x="9807512" y="349770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㉣</a:t>
            </a:r>
            <a:endParaRPr lang="ko-KR" sz="2200" dirty="0"/>
          </a:p>
        </p:txBody>
      </p:sp>
      <p:sp>
        <p:nvSpPr>
          <p:cNvPr id="61" name="S11-label299"/>
          <p:cNvSpPr txBox="1"/>
          <p:nvPr/>
        </p:nvSpPr>
        <p:spPr>
          <a:xfrm>
            <a:off x="9807512" y="28350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㉤</a:t>
            </a:r>
            <a:endParaRPr lang="ko-KR" sz="2200" dirty="0"/>
          </a:p>
        </p:txBody>
      </p:sp>
      <p:sp>
        <p:nvSpPr>
          <p:cNvPr id="62" name="S11-label301"/>
          <p:cNvSpPr txBox="1"/>
          <p:nvPr/>
        </p:nvSpPr>
        <p:spPr>
          <a:xfrm>
            <a:off x="9476169" y="316636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㉥</a:t>
            </a:r>
            <a:endParaRPr lang="ko-KR" sz="2200" dirty="0"/>
          </a:p>
        </p:txBody>
      </p:sp>
      <p:sp>
        <p:nvSpPr>
          <p:cNvPr id="63" name="S11-label302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 ㄴ의 대응점은?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다인 도형은?</a:t>
            </a:r>
            <a:endParaRPr lang="ko-KR" sz="4000" dirty="0"/>
          </a:p>
        </p:txBody>
      </p:sp>
      <p:sp>
        <p:nvSpPr>
          <p:cNvPr id="3" name="S13-text3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선대칭도형이면서 점대칭도형인 것을 모두 골라요.</a:t>
            </a:r>
            <a:endParaRPr lang="ko-KR" sz="2800" dirty="0"/>
          </a:p>
        </p:txBody>
      </p:sp>
      <p:sp>
        <p:nvSpPr>
          <p:cNvPr id="4" name="S13-card3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도형마다 선대칭인지, 점대칭인지 말해요.</a:t>
            </a:r>
            <a:endParaRPr lang="ko-KR" sz="2800" dirty="0"/>
          </a:p>
        </p:txBody>
      </p:sp>
      <p:sp>
        <p:nvSpPr>
          <p:cNvPr id="6" name="S13-chip30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figure307" descr="마름모"/>
          <p:cNvSpPr/>
          <p:nvPr/>
        </p:nvSpPr>
        <p:spPr>
          <a:xfrm>
            <a:off x="2794762" y="2095500"/>
            <a:ext cx="1666240" cy="1249680"/>
          </a:xfrm>
          <a:custGeom>
            <a:avLst/>
            <a:gdLst/>
            <a:ahLst/>
            <a:cxnLst/>
            <a:rect l="l" t="t" r="r" b="b"/>
            <a:pathLst>
              <a:path w="1666240" h="1249680">
                <a:moveTo>
                  <a:pt x="0" y="624840"/>
                </a:moveTo>
                <a:lnTo>
                  <a:pt x="833120" y="1249680"/>
                </a:lnTo>
                <a:lnTo>
                  <a:pt x="1666240" y="624840"/>
                </a:lnTo>
                <a:lnTo>
                  <a:pt x="83312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chip308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figure309" descr="이등변삼각형"/>
          <p:cNvSpPr/>
          <p:nvPr/>
        </p:nvSpPr>
        <p:spPr>
          <a:xfrm>
            <a:off x="8856726" y="2095500"/>
            <a:ext cx="999744" cy="1249680"/>
          </a:xfrm>
          <a:custGeom>
            <a:avLst/>
            <a:gdLst/>
            <a:ahLst/>
            <a:cxnLst/>
            <a:rect l="l" t="t" r="r" b="b"/>
            <a:pathLst>
              <a:path w="999744" h="1249680">
                <a:moveTo>
                  <a:pt x="0" y="1249680"/>
                </a:moveTo>
                <a:lnTo>
                  <a:pt x="999744" y="1249680"/>
                </a:lnTo>
                <a:lnTo>
                  <a:pt x="49987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3-chip310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1" name="S13-figure311" descr="정육각형"/>
          <p:cNvSpPr/>
          <p:nvPr/>
        </p:nvSpPr>
        <p:spPr>
          <a:xfrm>
            <a:off x="2906386" y="3787140"/>
            <a:ext cx="1442993" cy="1249680"/>
          </a:xfrm>
          <a:custGeom>
            <a:avLst/>
            <a:gdLst/>
            <a:ahLst/>
            <a:cxnLst/>
            <a:rect l="l" t="t" r="r" b="b"/>
            <a:pathLst>
              <a:path w="1442993" h="1249680">
                <a:moveTo>
                  <a:pt x="1442993" y="624840"/>
                </a:moveTo>
                <a:lnTo>
                  <a:pt x="1082245" y="0"/>
                </a:lnTo>
                <a:lnTo>
                  <a:pt x="360748" y="0"/>
                </a:lnTo>
                <a:lnTo>
                  <a:pt x="0" y="624840"/>
                </a:lnTo>
                <a:lnTo>
                  <a:pt x="360748" y="1249680"/>
                </a:lnTo>
                <a:lnTo>
                  <a:pt x="1082245" y="124968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3-chip31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3" name="S13-figure313" descr="Z 모양"/>
          <p:cNvSpPr/>
          <p:nvPr/>
        </p:nvSpPr>
        <p:spPr>
          <a:xfrm>
            <a:off x="8419338" y="3787140"/>
            <a:ext cx="1874520" cy="1249680"/>
          </a:xfrm>
          <a:custGeom>
            <a:avLst/>
            <a:gdLst/>
            <a:ahLst/>
            <a:cxnLst/>
            <a:rect l="l" t="t" r="r" b="b"/>
            <a:pathLst>
              <a:path w="1874520" h="1249680">
                <a:moveTo>
                  <a:pt x="0" y="624840"/>
                </a:moveTo>
                <a:lnTo>
                  <a:pt x="0" y="0"/>
                </a:lnTo>
                <a:lnTo>
                  <a:pt x="1249680" y="0"/>
                </a:lnTo>
                <a:lnTo>
                  <a:pt x="1249680" y="624840"/>
                </a:lnTo>
                <a:lnTo>
                  <a:pt x="1874520" y="624840"/>
                </a:lnTo>
                <a:lnTo>
                  <a:pt x="1874520" y="1249680"/>
                </a:lnTo>
                <a:lnTo>
                  <a:pt x="624840" y="1249680"/>
                </a:lnTo>
                <a:lnTo>
                  <a:pt x="624840" y="6248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1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선대칭도형은 대칭축을 따라 접으면, 점대칭도형은 대칭의 중심으로 180° 돌리면 완전히 겹쳐요.</a:t>
            </a:r>
            <a:endParaRPr lang="ko-KR" sz="2800" dirty="0"/>
          </a:p>
        </p:txBody>
      </p:sp>
      <p:sp>
        <p:nvSpPr>
          <p:cNvPr id="5" name="S14-chip31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대칭축·중심까지 거리 같게</a:t>
            </a:r>
            <a:endParaRPr lang="ko-KR" sz="2200" dirty="0"/>
          </a:p>
        </p:txBody>
      </p:sp>
      <p:sp>
        <p:nvSpPr>
          <p:cNvPr id="6" name="S14-chip31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반쪽을 그대로 밀어 그리기</a:t>
            </a:r>
            <a:endParaRPr lang="ko-KR" sz="2200" dirty="0"/>
          </a:p>
        </p:txBody>
      </p:sp>
      <p:sp>
        <p:nvSpPr>
          <p:cNvPr id="7" name="S14-text31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1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정사각형의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대칭축은 몇 개?</a:t>
            </a:r>
            <a:endParaRPr lang="ko-KR" sz="2200" dirty="0"/>
          </a:p>
        </p:txBody>
      </p:sp>
      <p:sp>
        <p:nvSpPr>
          <p:cNvPr id="9" name="S14-text32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대응점을 이은 선분과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대칭축은 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만나나요?</a:t>
            </a:r>
            <a:endParaRPr lang="ko-KR" sz="2200" dirty="0"/>
          </a:p>
        </p:txBody>
      </p:sp>
      <p:sp>
        <p:nvSpPr>
          <p:cNvPr id="10" name="S14-text32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대칭의 중심에서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대응점까지 4 cm이면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대응점 사이는?</a:t>
            </a:r>
            <a:endParaRPr lang="ko-KR" sz="2200" dirty="0"/>
          </a:p>
        </p:txBody>
      </p:sp>
      <p:sp>
        <p:nvSpPr>
          <p:cNvPr id="11" name="S14-text32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직육면체와 정육면체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합동과 대응점</a:t>
            </a:r>
            <a:endParaRPr lang="ko-KR" sz="4000" dirty="0"/>
          </a:p>
        </p:txBody>
      </p:sp>
      <p:sp>
        <p:nvSpPr>
          <p:cNvPr id="3" name="S15-card323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324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포개었을 때 겹치는 점: ㄱ과 ㄹ, ㄴ과 ㅁ, ㄷ과 ㅂ</a:t>
            </a:r>
            <a:endParaRPr lang="ko-KR" sz="2800" dirty="0"/>
          </a:p>
        </p:txBody>
      </p:sp>
      <p:sp>
        <p:nvSpPr>
          <p:cNvPr id="5" name="S15-card325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326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서로 같아요.</a:t>
            </a:r>
            <a:endParaRPr lang="ko-KR" sz="2800" dirty="0"/>
          </a:p>
        </p:txBody>
      </p:sp>
      <p:sp>
        <p:nvSpPr>
          <p:cNvPr id="7" name="S15-figure327" descr="삼각형 ㄱㄴㄷ"/>
          <p:cNvSpPr/>
          <p:nvPr/>
        </p:nvSpPr>
        <p:spPr>
          <a:xfrm>
            <a:off x="2098548" y="1982724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457200" y="0"/>
                </a:moveTo>
                <a:lnTo>
                  <a:pt x="0" y="1828800"/>
                </a:lnTo>
                <a:lnTo>
                  <a:pt x="228600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328"/>
          <p:cNvSpPr/>
          <p:nvPr/>
        </p:nvSpPr>
        <p:spPr>
          <a:xfrm>
            <a:off x="4021328" y="3554689"/>
            <a:ext cx="363220" cy="256835"/>
          </a:xfrm>
          <a:custGeom>
            <a:avLst/>
            <a:gdLst/>
            <a:ahLst/>
            <a:cxnLst/>
            <a:rect l="l" t="t" r="r" b="b"/>
            <a:pathLst>
              <a:path w="363220" h="256835">
                <a:moveTo>
                  <a:pt x="363220" y="256835"/>
                </a:moveTo>
                <a:lnTo>
                  <a:pt x="106385" y="0"/>
                </a:lnTo>
                <a:lnTo>
                  <a:pt x="98119" y="8541"/>
                </a:lnTo>
                <a:lnTo>
                  <a:pt x="90137" y="17348"/>
                </a:lnTo>
                <a:lnTo>
                  <a:pt x="82447" y="26411"/>
                </a:lnTo>
                <a:lnTo>
                  <a:pt x="75058" y="35721"/>
                </a:lnTo>
                <a:lnTo>
                  <a:pt x="67978" y="45268"/>
                </a:lnTo>
                <a:lnTo>
                  <a:pt x="61214" y="55041"/>
                </a:lnTo>
                <a:lnTo>
                  <a:pt x="54773" y="65031"/>
                </a:lnTo>
                <a:lnTo>
                  <a:pt x="48662" y="75225"/>
                </a:lnTo>
                <a:lnTo>
                  <a:pt x="42889" y="85615"/>
                </a:lnTo>
                <a:lnTo>
                  <a:pt x="37458" y="96187"/>
                </a:lnTo>
                <a:lnTo>
                  <a:pt x="32376" y="106932"/>
                </a:lnTo>
                <a:lnTo>
                  <a:pt x="27648" y="117837"/>
                </a:lnTo>
                <a:lnTo>
                  <a:pt x="23280" y="128891"/>
                </a:lnTo>
                <a:lnTo>
                  <a:pt x="19276" y="140082"/>
                </a:lnTo>
                <a:lnTo>
                  <a:pt x="15640" y="151398"/>
                </a:lnTo>
                <a:lnTo>
                  <a:pt x="12376" y="162827"/>
                </a:lnTo>
                <a:lnTo>
                  <a:pt x="9488" y="174357"/>
                </a:lnTo>
                <a:lnTo>
                  <a:pt x="6979" y="185975"/>
                </a:lnTo>
                <a:lnTo>
                  <a:pt x="4851" y="197668"/>
                </a:lnTo>
                <a:lnTo>
                  <a:pt x="3107" y="209426"/>
                </a:lnTo>
                <a:lnTo>
                  <a:pt x="1749" y="221234"/>
                </a:lnTo>
                <a:lnTo>
                  <a:pt x="778" y="233080"/>
                </a:lnTo>
                <a:lnTo>
                  <a:pt x="194" y="244951"/>
                </a:lnTo>
                <a:lnTo>
                  <a:pt x="0" y="25683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15-mark329"/>
          <p:cNvSpPr/>
          <p:nvPr/>
        </p:nvSpPr>
        <p:spPr>
          <a:xfrm>
            <a:off x="2245831" y="2876795"/>
            <a:ext cx="162635" cy="4065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330"/>
          <p:cNvSpPr/>
          <p:nvPr/>
        </p:nvSpPr>
        <p:spPr>
          <a:xfrm flipV="1">
            <a:off x="3202432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331"/>
          <p:cNvSpPr/>
          <p:nvPr/>
        </p:nvSpPr>
        <p:spPr>
          <a:xfrm flipV="1">
            <a:off x="3280664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333"/>
          <p:cNvSpPr txBox="1"/>
          <p:nvPr/>
        </p:nvSpPr>
        <p:spPr>
          <a:xfrm>
            <a:off x="2236630" y="146456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3" name="S15-label335"/>
          <p:cNvSpPr txBox="1"/>
          <p:nvPr/>
        </p:nvSpPr>
        <p:spPr>
          <a:xfrm>
            <a:off x="1627960" y="375222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4" name="S15-label337"/>
          <p:cNvSpPr txBox="1"/>
          <p:nvPr/>
        </p:nvSpPr>
        <p:spPr>
          <a:xfrm>
            <a:off x="4411451" y="36845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5" name="S15-figure338" descr="삼각형 ㄱㄴㄷ을 뒤집은 삼각형 ㄹㅁㅂ"/>
          <p:cNvSpPr/>
          <p:nvPr/>
        </p:nvSpPr>
        <p:spPr>
          <a:xfrm>
            <a:off x="7804404" y="1982724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1828800" y="0"/>
                </a:moveTo>
                <a:lnTo>
                  <a:pt x="228600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mark339"/>
          <p:cNvSpPr/>
          <p:nvPr/>
        </p:nvSpPr>
        <p:spPr>
          <a:xfrm>
            <a:off x="7804404" y="3554689"/>
            <a:ext cx="363220" cy="256835"/>
          </a:xfrm>
          <a:custGeom>
            <a:avLst/>
            <a:gdLst/>
            <a:ahLst/>
            <a:cxnLst/>
            <a:rect l="l" t="t" r="r" b="b"/>
            <a:pathLst>
              <a:path w="363220" h="256835">
                <a:moveTo>
                  <a:pt x="0" y="256835"/>
                </a:moveTo>
                <a:lnTo>
                  <a:pt x="363220" y="256835"/>
                </a:lnTo>
                <a:lnTo>
                  <a:pt x="363026" y="244951"/>
                </a:lnTo>
                <a:lnTo>
                  <a:pt x="362442" y="233080"/>
                </a:lnTo>
                <a:lnTo>
                  <a:pt x="361471" y="221234"/>
                </a:lnTo>
                <a:lnTo>
                  <a:pt x="360113" y="209426"/>
                </a:lnTo>
                <a:lnTo>
                  <a:pt x="358369" y="197668"/>
                </a:lnTo>
                <a:lnTo>
                  <a:pt x="356241" y="185975"/>
                </a:lnTo>
                <a:lnTo>
                  <a:pt x="353732" y="174357"/>
                </a:lnTo>
                <a:lnTo>
                  <a:pt x="350844" y="162827"/>
                </a:lnTo>
                <a:lnTo>
                  <a:pt x="347580" y="151398"/>
                </a:lnTo>
                <a:lnTo>
                  <a:pt x="343944" y="140082"/>
                </a:lnTo>
                <a:lnTo>
                  <a:pt x="339940" y="128891"/>
                </a:lnTo>
                <a:lnTo>
                  <a:pt x="335572" y="117837"/>
                </a:lnTo>
                <a:lnTo>
                  <a:pt x="330844" y="106932"/>
                </a:lnTo>
                <a:lnTo>
                  <a:pt x="325762" y="96187"/>
                </a:lnTo>
                <a:lnTo>
                  <a:pt x="320331" y="85615"/>
                </a:lnTo>
                <a:lnTo>
                  <a:pt x="314558" y="75225"/>
                </a:lnTo>
                <a:lnTo>
                  <a:pt x="308447" y="65031"/>
                </a:lnTo>
                <a:lnTo>
                  <a:pt x="302006" y="55041"/>
                </a:lnTo>
                <a:lnTo>
                  <a:pt x="295242" y="45268"/>
                </a:lnTo>
                <a:lnTo>
                  <a:pt x="288162" y="35721"/>
                </a:lnTo>
                <a:lnTo>
                  <a:pt x="280773" y="26411"/>
                </a:lnTo>
                <a:lnTo>
                  <a:pt x="273083" y="17348"/>
                </a:lnTo>
                <a:lnTo>
                  <a:pt x="265101" y="8541"/>
                </a:lnTo>
                <a:lnTo>
                  <a:pt x="25683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7" name="S15-mark340"/>
          <p:cNvSpPr/>
          <p:nvPr/>
        </p:nvSpPr>
        <p:spPr>
          <a:xfrm flipH="1">
            <a:off x="9780487" y="2876795"/>
            <a:ext cx="162635" cy="4065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mark341"/>
          <p:cNvSpPr/>
          <p:nvPr/>
        </p:nvSpPr>
        <p:spPr>
          <a:xfrm flipV="1">
            <a:off x="8986520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5-mark342"/>
          <p:cNvSpPr/>
          <p:nvPr/>
        </p:nvSpPr>
        <p:spPr>
          <a:xfrm flipV="1">
            <a:off x="8908288" y="372770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44"/>
          <p:cNvSpPr txBox="1"/>
          <p:nvPr/>
        </p:nvSpPr>
        <p:spPr>
          <a:xfrm>
            <a:off x="9469214" y="1464567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1" name="S15-label346"/>
          <p:cNvSpPr txBox="1"/>
          <p:nvPr/>
        </p:nvSpPr>
        <p:spPr>
          <a:xfrm>
            <a:off x="10077884" y="375222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2" name="S15-label348"/>
          <p:cNvSpPr txBox="1"/>
          <p:nvPr/>
        </p:nvSpPr>
        <p:spPr>
          <a:xfrm>
            <a:off x="7294393" y="36845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선대칭과 점대칭</dc:title>
  <dc:subject>KR22-G05-MAT-SYMMETRY-L01</dc:subject>
  <dc:creator>education-ppt</dc:creator>
  <cp:lastModifiedBy>education-ppt</cp:lastModifiedBy>
  <cp:revision>1</cp:revision>
  <dcterms:created xsi:type="dcterms:W3CDTF">2026-10-26T09:12:02Z</dcterms:created>
  <dcterms:modified xsi:type="dcterms:W3CDTF">2026-10-26T09:12:02Z</dcterms:modified>
</cp:coreProperties>
</file>