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182ab8f-296d-493b-044f-00d4e5f9912b}">
          <p14:sldIdLst>
            <p14:sldId id="256"/>
            <p14:sldId id="257"/>
          </p14:sldIdLst>
        </p14:section>
        <p14:section name="개념" id="{aed94638-e484-a358-6960-9edcb8de6c78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156be630-b2b0-1efe-dcb6-7ddcb11775ce}">
          <p14:sldIdLst>
            <p14:sldId id="260"/>
            <p14:sldId id="262"/>
            <p14:sldId id="265"/>
          </p14:sldIdLst>
        </p14:section>
        <p14:section name="개념" id="{fc371feb-ad9d-b140-b4c7-2f8494fda469}">
          <p14:sldIdLst/>
        </p14:section>
        <p14:section name="연습" id="{3c887f11-02b1-5493-5d9b-3e8271ba6d60}">
          <p14:sldIdLst/>
        </p14:section>
        <p14:section name="개념" id="{784f8f57-f869-60cf-980b-905ef11722f0}">
          <p14:sldIdLst/>
        </p14:section>
        <p14:section name="연습" id="{c80da0e8-92d3-74c6-b0e1-ca9466af77b9}">
          <p14:sldIdLst/>
        </p14:section>
        <p14:section name="확인" id="{e28a59c3-0e50-a09f-bd64-1f7601b96987}">
          <p14:sldIdLst>
            <p14:sldId id="266"/>
            <p14:sldId id="267"/>
            <p14:sldId id="268"/>
          </p14:sldIdLst>
        </p14:section>
        <p14:section name="정리" id="{68cf6842-38f3-83f5-a41c-05e855d0ac80}">
          <p14:sldIdLst>
            <p14:sldId id="269"/>
          </p14:sldIdLst>
        </p14:section>
        <p14:section name="보충" id="{6303176d-c8d7-d860-4d0e-cb694774a57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집에 있는 상자를 보며 상자의 모양에 관심을 갖게 합니다.
시간: 약 2분
이렇게 말해 보세요
- “집에 있는 과자 상자나 휴지 상자를 하나 가져와 볼까? 이런 상자는 어떤 모양의 면으로 되어 있어?”
- “오늘은 상자 모양의 이름과, 상자를 그리는 방법, 상자를 펼친 모양을 알아볼 거야.”
예상 답
- “네모로 되어 있어요.” “직사각형이 여러 개 있어요.”
막히면
- 상자의 한 면을 손으로 쓸어 보며 “이 면은 무슨 모양이야?”라고 묻습니다.
주의
- 오늘은 빈 상자(과자·휴지 상자 등) 1개, 가위, 테이프, 모눈종이(또는 활동지)를 씁니다. 상자를 자를 때는 부모가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확인(직사각형·정사각형, 평행)]
목적: 오늘 필요한 직사각형·정사각형(3학년)과 평행(4학년)을 기억하는지 확인합니다.
시간: 약 3분
이렇게 말해 보세요
- “말로 답해 줘. 정사각형은 직사각형이라고 할 수 있을까?”
정답
- ① 직사각형
- ② 정사각형 (정사각형도 직사각형이라고 할 수 있음)
- ③ 아무리 늘여도 만나지 않아요.
막히면
- ①, ②가 흔들리면 S15(보충)를 먼저 합니다. 보충으로도 어려우면 3학년 ‘직각과 직사각형·정사각형’ 차시를 먼저 다시 합니다.
- ③을 모르면 공책의 줄처럼 ‘아무리 길게 그어도 만나지 않는 두 직선’이라고 알려 줍니다.
주의
- ②에서 정사각형이 직사각형이기도 하다는 것은 S07(정육면체는 직육면체)에서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직육면체와 정육면체의 뜻]
목적: 직사각형 6개로 둘러싸인 도형을 직육면체, 정사각형 6개로 둘러싸인 도형을 정육면체라고 한다는 것을 압니다.
시간: 약 3분
이렇게 말해 보세요
- “상자의 면을 하나씩 세어 볼까? 면이 몇 개야? 모두 무슨 모양이야?”
- “이렇게 직사각형 6개로 둘러싸인 도형을 직육면체라고 해. 주사위처럼 정사각형 6개로 둘러싸인 도형은 정육면체야.”
예상 답
- “6개요. 다 직사각형이에요.” “주사위는 정사각형만 있어요.”
막히면
- 상자의 면에 1부터 6까지 번호 붙임쪽지를 붙이며 셉니다.
주의
- 그림에서 점선은 보이지 않는 모서리입니다. 왜 점선으로 그리는지는 S06에서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면·모서리·꼭짓점의 뜻]
목적: 직육면체에서 면, 모서리, 꼭짓점이 무엇인지 압니다.
시간: 약 3분
이렇게 말해 보세요
- “상자의 평평한 부분을 만져 봐. 이걸 면이라고 해. 면과 면이 만나는 선을 손가락으로 따라가 볼까? 그게 모서리야.”
- “모서리 세 개가 모이는 뾰족한 곳은 꼭짓점이야.”
예상 답
- “모서리는 접힌 선 같아요.” “꼭짓점은 뾰족한 곳이에요.”
막히면
- 상자를 직접 만지며 면·모서리·꼭짓점을 하나씩 가리키게 합니다.
주의
- 꼭짓점마다 모서리가 3개씩 모입니다. 다음 장에서 개수를 셀 때 도움이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연습(면·모서리·꼭짓점 세기)]
목적: 도움을 받으며 직육면체의 면·모서리·꼭짓점의 수를 빠짐없이 셉니다.
시간: 약 3분
이렇게 말해 보세요
- “상자를 보면서 세어도 돼. 센 것에는 연필로 작게 표시해 볼까?”
- “모서리는 앞에 4개, 뒤에 4개, 앞과 뒤를 잇는 것이 4개야. 모두 몇 개야?”
정답
- ① 면 6개
- ② 모서리 12개 (4 + 4 + 4)
- ③ 꼭짓점 8개 (앞 4개 + 뒤 4개)
막히면
- 모서리를 셀 때 같은 방향끼리 4개씩 묶어 셉니다(가로 4개, 세로 4개, 깊이 4개).
주의
- 모서리를 9개라고 하면 점선(보이지 않는 모서리 3개)을 빠뜨린 것입니다(M1). 정육면체도 6, 12, 8로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겨냥도 그리는 방법]
목적: 직육면체의 모양을 잘 알 수 있게 보이는 모서리는 실선, 보이지 않는 모서리는 점선으로 그린 그림을 겨냥도라고 한다는 것을 압니다.
시간: 약 3분
이렇게 말해 보세요
- “왼쪽 그림은 어느 면이 앞쪽인지 알기 쉬워? 오른쪽은?”
- “오른쪽처럼 보이지 않는 모서리를 점선으로 그린 그림을 겨냥도라고 해. 보이는 모서리, 보이지 않는 모서리는 각각 몇 개야?”
예상 답
- “오른쪽이 더 상자 같아요.” “보이는 모서리 9개, 보이지 않는 모서리 3개예요.”
막히면
- 상자를 그림과 같은 방향으로 들고 보이는 면과 모서리를 손가락으로 짚어 봅니다.
주의
- 겨냥도에서 보이는 면은 3개, 보이지 않는 면은 3개입니다. 보이는 꼭짓점은 7개, 보이지 않는 꼭짓점은 1개입니다.
- 9 + 3 = 12(모서리), 7 + 1 = 8(꼭짓점)으로 S05의 수와 맞는지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비교(정육면체는 직육면체가 아니다)]
목적: 정사각형이 직사각형이므로 정육면체도 직육면체라고 할 수 있음을 압니다(M2).
시간: 약 2분
이렇게 말해 보세요
- “토끼와 곰 중 누가 맞았을까? 정사각형은 직사각형이라고 할 수 있었지?”
- “거꾸로, 직육면체는 모두 정육면체일까?”
예상 답
- “곰이요. 정사각형도 직사각형이에요.”
정답
- 곰이 맞습니다. 정사각형은 직사각형이므로 정사각형 6개로 둘러싸인 정육면체도 직육면체입니다.
- 거꾸로 직육면체가 모두 정육면체인 것은 아닙니다(면이 정사각형이 아닐 수 있음).
막히면
- S02 ②를 다시 묻습니다. “정사각형은 네 각이 직각이야? 그러면 직사각형이야?”
주의
- 정삼각형이 이등변삼각형이었던 것(4학년)과 같은 관계라고 말해 주면 좋습니다.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전개도의 뜻과 그리는 방법]
목적: 직육면체의 모서리를 잘라 펼친 그림을 전개도라고 하고, 잘린 모서리는 실선, 잘리지 않은(접는) 모서리는 점선으로 그린다는 것을 압니다.
시간: 약 3분
이렇게 말해 보세요
- “상자의 모서리를 몇 군데 잘라서 평평하게 펼쳐 볼까? 어떤 모양이 됐어?”
- “화면은 가로 4 cm, 세로 3 cm, 높이 2 cm인 상자를 펼친 그림이야. 면이 몇 개야? 점선을 따라 접으면 다시 상자가 될까?”
예상 답
- “면이 6개예요.” “접으면 상자가 돼요.”
막히면
- 부모가 상자의 모서리 7개를 잘라 펼쳐 보여 줍니다(가위·칼은 부모가 다룹니다). 펼친 뒤 다시 접어 봅니다.
주의
- 전개도는 자르는 모서리에 따라 여러 가지 모양이 나옵니다. 어느 것이든 접어서 직육면체가 되면 전개도입니다.
- 그림의 전개도는 접으면 가로 4 cm, 세로 3 cm, 높이 2 cm인 직육면체가 됩니다(접기를 계산으로 확인함).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마주 보는 면(평행한 면)과 전개도]
목적: 전개도에서 마주 보는(평행한) 면 3쌍을 찾고, 마주 보는 면은 합동이며 맞닿는 모서리의 길이가 같다는 것을 압니다.
시간: 약 3분
이렇게 말해 보세요
- “같은 색 면끼리는 접었을 때 서로 마주 봐. 마주 보는 면은 만날까?”
- “면 나와 면 라는 크기가 어때? 모눈 칸을 세어 볼까?”
예상 답
- “마주 보는 면은 만나지 않아요.” “나와 라는 둘 다 가로 4칸, 세로 3칸이에요.”
막히면
- 활동지 3의 전개도를 오려 접어 보며 마주 보는 면에 같은 색을 칠합니다.
주의
- 직육면체에서 마주 보는 두 면은 서로 평행합니다. 이 두 면을 밑면, 밑면과 수직인 4개의 면을 옆면이라고도 합니다(필요할 때만 소개).
- 색만으로 구별하지 않도록 오른쪽 카드에 짝을 글로도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연습(전개도 접기)]
목적: 도움을 받으며 전개도를 머릿속으로 접어, 수직인 면과 만나는 점, 맞닿는 선분을 찾습니다.
시간: 약 4분
이렇게 말해 보세요
- “면 마와 마주 보는 면은 바였지? 그러면 마와 수직인 면은 나머지 면이야. 어떤 면일까?”
- “면 가를 세우고 면 라까지 차례로 접으면 점 ㄱ은 어디와 만날까?”
정답
- ① 가, 나, 다, 라 (마주 보는 면 바를 뺀 4개)
- ② 점 ㄹ (이름이 없는 면 바의 왼쪽 위 꼭짓점도 같은 꼭짓점에서 만남: 한 꼭짓점에 면 3개가 모임)
- ③ 선분 ㄹㄷ (점 ㄱ은 ㄹ, 점 ㄴ은 ㄷ과 만남, 길이 3 cm로 같음)
막히면
- 활동지 3쪽 뒷면이나 모눈종이에 같은 전개도를 그려 오려서 접어 봅니다.
- ②, ③은 가·나·다·라가 한 줄로 이어져 있어 둥글게 말면 가와 라가 만난다는 것을 보여 줍니다.
주의
- 맞닿는 두 선분은 길이가 같아야 합니다. 길이가 다르면 바른 전개도가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해결(겨냥도 읽기와 마주 보는 면)]
목적: 도움 없이 겨냥도에서 보이지 않는 모서리와 같은 길이의 모서리를 세고, 마주 보는 면이 합동이라는 것을 쓰는지 확인합니다.
시간: 약 5분
이렇게 말해 보세요
- “이번에는 혼자 해 볼래? 어떻게 셌는지도 말해 줘.”
정답
- ① 3개 (점선)
- ② 4개 (가로 방향 모서리 4개가 모두 5 cm)
- ③ 2개 (앞면과 마주 보는 뒷면)
막히면
- 바로 알려 주지 말고 “5 cm인 모서리와 평행한 모서리를 찾아볼까?”라고만 묻습니다.
- 도움을 받아 해결했다면 기록표에 ‘도움’으로 표시합니다.
주의
- ②를 1개라고 하면 보이는 앞 모서리만 센 것입니다. 상자로 같은 방향의 모서리 4개를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상자를 들고 다시 세어 보자.”
정답
- ① 3개 ② 4개 ③ 2개
- 모든 모서리의 길이의 합: (5 + 3 + 2) × 4 = 40(cm) — 여유가 있으면 더 물어봅니다.
막히면
- ③이 어려우면 S09의 ‘마주 보는 면은 크기가 같다’를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확인(정육면체의 전개도 고르기)]
목적: 처음 보는 그림에서 접었을 때 겹치는 면이 없는지 따져 정육면체의 전개도를 고르는지 확인합니다.
시간: 약 3분
이렇게 말해 보세요
- “머릿속으로 접어 볼까? 겹치는 면이 생기는 것은 어느 것이야?”
정답
- 가, 나
- 다: 오른쪽 위 두 면이 같은 쪽에 붙어 있어 접으면 두 면이 겹치고 한 면이 비어요.
- 라: 2줄 3칸으로 붙어 있어 접으면 면이 겹쳐요.
막히면
- 모눈종이에 네 그림을 그려 오려 직접 접어 봅니다.
주의
- 까닭까지 말하면 목표 B를 이룬 것입니다. 정육면체의 전개도는 모두 11가지가 있습니다(외울 필요는 없음).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“직육면체와 정육면체는 어떻게 다르지? 겨냥도와 전개도에서 점선은 각각 무엇이었어?”
예상 답
- “직육면체는 직사각형 6개, 정육면체는 정사각형 6개예요.” “겨냥도의 점선은 안 보이는 모서리, 전개도의 점선은 접는 곳이에요.”
정답
- ① 12개
- ② 1개
- ③ 3쌍
막히면
- S05, S06, S09를 다시 보여 줍니다.
주의
- 오늘 펼친 상자는 버리지 말고 활동지와 함께 두면 다음 시간(둘레·넓이)에 다시 쓸 수 있습니다.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보충(직사각형과 정사각형)]
목적: S02에서 직사각형·정사각형이 흔들리면, 직육면체의 면을 알기 전에 두 사각형의 뜻을 다시 확인합니다.
시간: 약 5분
이렇게 말해 보세요
- “네모난 종이(색종이, 공책)의 네 모서리에 접은 종이 직각을 대어 볼까? 모두 꼭 맞아?”
- “색종이는 네 변의 길이도 같지? 그래서 정사각형이야. 정사각형도 네 각이 직각이니까 직사각형이라고 할 수 있어.”
정답
- 직사각형: 네 각이 모두 직각인 사각형
- 정사각형: 네 각이 모두 직각이고 네 변의 길이가 모두 같은 사각형
막히면
- 집 안에서 직사각형 모양(책, 문)과 정사각형 모양(색종이, 타일)을 찾아보게 합니다.
주의
- 계획의 바로 앞 차시는 ‘선대칭과 점대칭’이지만, 직육면체에 직접 필요한 것은 3학년 ‘직각과 직사각형·정사각형’입니다. 보충으로도 어려우면 그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직육면체와 정육면체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직육면체와 정육면체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직육면체와 정육면체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직육면체와 정육면체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펼치면 어떤 모양이 될까요?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직육면체의 겨냥도: 보이지 않는 모서리 3개는 점선"/>
          <p:cNvSpPr/>
          <p:nvPr/>
        </p:nvSpPr>
        <p:spPr>
          <a:xfrm>
            <a:off x="7764780" y="3364163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V="1">
            <a:off x="10870263" y="1500874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H="1">
            <a:off x="7764780" y="1500874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64780" y="1500874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7764780" y="842077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423577" y="842077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H="1">
            <a:off x="10870263" y="842077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10870263" y="2705366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1529060" y="842077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7764780" y="2705366"/>
            <a:ext cx="658797" cy="658797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01-mark12"/>
          <p:cNvSpPr/>
          <p:nvPr/>
        </p:nvSpPr>
        <p:spPr>
          <a:xfrm>
            <a:off x="8423577" y="2705366"/>
            <a:ext cx="310548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01-mark13"/>
          <p:cNvSpPr/>
          <p:nvPr/>
        </p:nvSpPr>
        <p:spPr>
          <a:xfrm flipV="1">
            <a:off x="8423577" y="842077"/>
            <a:ext cx="0" cy="186329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01-card1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8" name="S01-cardtext1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직육면체의 면·모서리·꼭짓점을 알아요.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겨냥도와 전개도를 그려요.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1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직각인 사각형을 무엇이라고 하나요?</a:t>
            </a:r>
            <a:endParaRPr lang="ko-KR" sz="2800" dirty="0"/>
          </a:p>
        </p:txBody>
      </p:sp>
      <p:sp>
        <p:nvSpPr>
          <p:cNvPr id="5" name="S02-chip1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직각이고 네 변의 길이가 같은 사각형은?</a:t>
            </a:r>
            <a:endParaRPr lang="ko-KR" sz="2800" dirty="0"/>
          </a:p>
        </p:txBody>
      </p:sp>
      <p:sp>
        <p:nvSpPr>
          <p:cNvPr id="7" name="S02-chip2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평행한 두 직선은 만날까요?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직육면체와 정육면체</a:t>
            </a:r>
            <a:endParaRPr lang="ko-KR" sz="4000" dirty="0"/>
          </a:p>
        </p:txBody>
      </p:sp>
      <p:sp>
        <p:nvSpPr>
          <p:cNvPr id="3" name="S03-card22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3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 6개로 둘러싸인 도형</a:t>
            </a:r>
            <a:endParaRPr lang="ko-KR" sz="2800" dirty="0"/>
          </a:p>
        </p:txBody>
      </p:sp>
      <p:sp>
        <p:nvSpPr>
          <p:cNvPr id="5" name="S03-card24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5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 6개로 둘러싸인 도형</a:t>
            </a:r>
            <a:endParaRPr lang="ko-KR" sz="2800" dirty="0"/>
          </a:p>
        </p:txBody>
      </p:sp>
      <p:sp>
        <p:nvSpPr>
          <p:cNvPr id="7" name="S03-figure26" descr="직육면체의 겨냥도(직사각형 6개로 둘러싸임)"/>
          <p:cNvSpPr/>
          <p:nvPr/>
        </p:nvSpPr>
        <p:spPr>
          <a:xfrm>
            <a:off x="1856072" y="3770663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 flipV="1">
            <a:off x="4142072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 flipH="1">
            <a:off x="1856072" y="2399063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>
            <a:off x="1856072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V="1">
            <a:off x="1856072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>
            <a:off x="2341024" y="1914111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 flipH="1">
            <a:off x="4142072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 flipV="1">
            <a:off x="4142072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34"/>
          <p:cNvSpPr/>
          <p:nvPr/>
        </p:nvSpPr>
        <p:spPr>
          <a:xfrm flipV="1">
            <a:off x="4627024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3-mark35"/>
          <p:cNvSpPr/>
          <p:nvPr/>
        </p:nvSpPr>
        <p:spPr>
          <a:xfrm flipV="1">
            <a:off x="1856072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03-mark36"/>
          <p:cNvSpPr/>
          <p:nvPr/>
        </p:nvSpPr>
        <p:spPr>
          <a:xfrm>
            <a:off x="2341024" y="3285711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8" name="S03-mark37"/>
          <p:cNvSpPr/>
          <p:nvPr/>
        </p:nvSpPr>
        <p:spPr>
          <a:xfrm flipV="1">
            <a:off x="2341024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9" name="S03-label38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</a:t>
            </a:r>
            <a:endParaRPr lang="ko-KR" sz="2200" dirty="0"/>
          </a:p>
        </p:txBody>
      </p:sp>
      <p:sp>
        <p:nvSpPr>
          <p:cNvPr id="20" name="S03-figure39" descr="정육면체의 겨냥도(정사각형 6개로 둘러싸임)"/>
          <p:cNvSpPr/>
          <p:nvPr/>
        </p:nvSpPr>
        <p:spPr>
          <a:xfrm>
            <a:off x="8019128" y="3770663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 flipV="1">
            <a:off x="9390728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3-mark41"/>
          <p:cNvSpPr/>
          <p:nvPr/>
        </p:nvSpPr>
        <p:spPr>
          <a:xfrm flipH="1">
            <a:off x="8019128" y="2399063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3-mark42"/>
          <p:cNvSpPr/>
          <p:nvPr/>
        </p:nvSpPr>
        <p:spPr>
          <a:xfrm>
            <a:off x="8019128" y="2399063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 flipV="1">
            <a:off x="8019128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8504080" y="1914111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 flipH="1">
            <a:off x="9390728" y="19141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 flipV="1">
            <a:off x="9390728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 flipV="1">
            <a:off x="9875680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9" name="S03-mark48"/>
          <p:cNvSpPr/>
          <p:nvPr/>
        </p:nvSpPr>
        <p:spPr>
          <a:xfrm flipV="1">
            <a:off x="8019128" y="3285711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0" name="S03-mark49"/>
          <p:cNvSpPr/>
          <p:nvPr/>
        </p:nvSpPr>
        <p:spPr>
          <a:xfrm>
            <a:off x="8504080" y="3285711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1" name="S03-mark50"/>
          <p:cNvSpPr/>
          <p:nvPr/>
        </p:nvSpPr>
        <p:spPr>
          <a:xfrm flipV="1">
            <a:off x="8504080" y="1914111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2" name="S03-label51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면, 모서리, 꼭짓점</a:t>
            </a:r>
            <a:endParaRPr lang="ko-KR" sz="4000" dirty="0"/>
          </a:p>
        </p:txBody>
      </p:sp>
      <p:sp>
        <p:nvSpPr>
          <p:cNvPr id="3" name="S04-figure52" descr="직육면체의 겨냥도. 앞의 한 면에 색칠하고 ‘면’, 오른쪽 위 모서리를 굵게 하고 ‘모서리’, 오른쪽 아래 앞 꼭짓점에 점을 찍고 ‘꼭짓점’"/>
          <p:cNvSpPr/>
          <p:nvPr/>
        </p:nvSpPr>
        <p:spPr>
          <a:xfrm>
            <a:off x="1512875" y="3280867"/>
            <a:ext cx="2743200" cy="1645920"/>
          </a:xfrm>
          <a:custGeom>
            <a:avLst/>
            <a:gdLst/>
            <a:ahLst/>
            <a:cxnLst/>
            <a:rect l="l" t="t" r="r" b="b"/>
            <a:pathLst>
              <a:path w="2743200" h="1645920">
                <a:moveTo>
                  <a:pt x="0" y="1645920"/>
                </a:moveTo>
                <a:lnTo>
                  <a:pt x="2743200" y="164592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4-mark53"/>
          <p:cNvSpPr/>
          <p:nvPr/>
        </p:nvSpPr>
        <p:spPr>
          <a:xfrm>
            <a:off x="1512875" y="4926787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04-mark54"/>
          <p:cNvSpPr/>
          <p:nvPr/>
        </p:nvSpPr>
        <p:spPr>
          <a:xfrm flipV="1">
            <a:off x="4256075" y="3280867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4-mark55"/>
          <p:cNvSpPr/>
          <p:nvPr/>
        </p:nvSpPr>
        <p:spPr>
          <a:xfrm flipH="1">
            <a:off x="1512875" y="3280867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56"/>
          <p:cNvSpPr/>
          <p:nvPr/>
        </p:nvSpPr>
        <p:spPr>
          <a:xfrm>
            <a:off x="1512875" y="3280867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57"/>
          <p:cNvSpPr/>
          <p:nvPr/>
        </p:nvSpPr>
        <p:spPr>
          <a:xfrm flipV="1">
            <a:off x="1512875" y="2698925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58"/>
          <p:cNvSpPr/>
          <p:nvPr/>
        </p:nvSpPr>
        <p:spPr>
          <a:xfrm>
            <a:off x="2094817" y="2698925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59"/>
          <p:cNvSpPr/>
          <p:nvPr/>
        </p:nvSpPr>
        <p:spPr>
          <a:xfrm flipH="1">
            <a:off x="4256075" y="2698925"/>
            <a:ext cx="581942" cy="581942"/>
          </a:xfrm>
          <a:prstGeom prst="line">
            <a:avLst/>
          </a:prstGeom>
          <a:noFill/>
          <a:ln w="63500">
            <a:solidFill>
              <a:srgbClr val="E9762B"/>
            </a:solidFill>
            <a:prstDash val="solid"/>
          </a:ln>
        </p:spPr>
      </p:sp>
      <p:sp>
        <p:nvSpPr>
          <p:cNvPr id="11" name="S04-mark60"/>
          <p:cNvSpPr/>
          <p:nvPr/>
        </p:nvSpPr>
        <p:spPr>
          <a:xfrm flipV="1">
            <a:off x="4256075" y="4344845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61"/>
          <p:cNvSpPr/>
          <p:nvPr/>
        </p:nvSpPr>
        <p:spPr>
          <a:xfrm flipV="1">
            <a:off x="4838017" y="2698925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62"/>
          <p:cNvSpPr/>
          <p:nvPr/>
        </p:nvSpPr>
        <p:spPr>
          <a:xfrm flipV="1">
            <a:off x="1512875" y="4344845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4" name="S04-mark63"/>
          <p:cNvSpPr/>
          <p:nvPr/>
        </p:nvSpPr>
        <p:spPr>
          <a:xfrm>
            <a:off x="2094817" y="4344845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04-mark64"/>
          <p:cNvSpPr/>
          <p:nvPr/>
        </p:nvSpPr>
        <p:spPr>
          <a:xfrm flipV="1">
            <a:off x="2094817" y="2698925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04-mark65"/>
          <p:cNvSpPr/>
          <p:nvPr/>
        </p:nvSpPr>
        <p:spPr>
          <a:xfrm>
            <a:off x="4196639" y="486735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label67"/>
          <p:cNvSpPr txBox="1"/>
          <p:nvPr/>
        </p:nvSpPr>
        <p:spPr>
          <a:xfrm>
            <a:off x="2967025" y="362745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</a:t>
            </a:r>
            <a:endParaRPr lang="ko-KR" sz="2200" dirty="0"/>
          </a:p>
        </p:txBody>
      </p:sp>
      <p:sp>
        <p:nvSpPr>
          <p:cNvPr id="18" name="S04-label69"/>
          <p:cNvSpPr txBox="1"/>
          <p:nvPr/>
        </p:nvSpPr>
        <p:spPr>
          <a:xfrm>
            <a:off x="4481779" y="2113204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200" dirty="0"/>
          </a:p>
        </p:txBody>
      </p:sp>
      <p:sp>
        <p:nvSpPr>
          <p:cNvPr id="19" name="S04-label71"/>
          <p:cNvSpPr txBox="1"/>
          <p:nvPr/>
        </p:nvSpPr>
        <p:spPr>
          <a:xfrm>
            <a:off x="4119677" y="5081346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200" dirty="0"/>
          </a:p>
        </p:txBody>
      </p:sp>
      <p:sp>
        <p:nvSpPr>
          <p:cNvPr id="20" name="S04-card72"/>
          <p:cNvSpPr/>
          <p:nvPr/>
        </p:nvSpPr>
        <p:spPr>
          <a:xfrm>
            <a:off x="6277356" y="177317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73"/>
          <p:cNvSpPr txBox="1"/>
          <p:nvPr/>
        </p:nvSpPr>
        <p:spPr>
          <a:xfrm>
            <a:off x="6551676" y="191033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선분으로 둘러싸인 부분</a:t>
            </a:r>
            <a:endParaRPr lang="ko-KR" sz="2800" dirty="0"/>
          </a:p>
        </p:txBody>
      </p:sp>
      <p:sp>
        <p:nvSpPr>
          <p:cNvPr id="22" name="S04-card74"/>
          <p:cNvSpPr/>
          <p:nvPr/>
        </p:nvSpPr>
        <p:spPr>
          <a:xfrm>
            <a:off x="6277356" y="3181858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4-cardtext75"/>
          <p:cNvSpPr txBox="1"/>
          <p:nvPr/>
        </p:nvSpPr>
        <p:spPr>
          <a:xfrm>
            <a:off x="6551676" y="3319018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면과 면이 만나는 선분</a:t>
            </a:r>
            <a:endParaRPr lang="ko-KR" sz="2800" dirty="0"/>
          </a:p>
        </p:txBody>
      </p:sp>
      <p:sp>
        <p:nvSpPr>
          <p:cNvPr id="24" name="S04-card76"/>
          <p:cNvSpPr/>
          <p:nvPr/>
        </p:nvSpPr>
        <p:spPr>
          <a:xfrm>
            <a:off x="6277356" y="459054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77"/>
          <p:cNvSpPr txBox="1"/>
          <p:nvPr/>
        </p:nvSpPr>
        <p:spPr>
          <a:xfrm>
            <a:off x="6551676" y="472770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모서리와 모서리가 만나는 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세어 봐요</a:t>
            </a:r>
            <a:endParaRPr lang="ko-KR" sz="4000" dirty="0"/>
          </a:p>
        </p:txBody>
      </p:sp>
      <p:sp>
        <p:nvSpPr>
          <p:cNvPr id="3" name="S05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점선도 빠뜨리지 말고 세어요.</a:t>
            </a:r>
            <a:endParaRPr lang="ko-KR" sz="2800" dirty="0"/>
          </a:p>
        </p:txBody>
      </p:sp>
      <p:sp>
        <p:nvSpPr>
          <p:cNvPr id="5" name="S05-figure80" descr="직육면체의 겨냥도: 보이는 모서리는 실선, 보이지 않는 모서리 3개는 점선"/>
          <p:cNvSpPr/>
          <p:nvPr/>
        </p:nvSpPr>
        <p:spPr>
          <a:xfrm>
            <a:off x="7296263" y="4337191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81"/>
          <p:cNvSpPr/>
          <p:nvPr/>
        </p:nvSpPr>
        <p:spPr>
          <a:xfrm flipV="1">
            <a:off x="10039463" y="2691271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82"/>
          <p:cNvSpPr/>
          <p:nvPr/>
        </p:nvSpPr>
        <p:spPr>
          <a:xfrm flipH="1">
            <a:off x="7296263" y="2691271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83"/>
          <p:cNvSpPr/>
          <p:nvPr/>
        </p:nvSpPr>
        <p:spPr>
          <a:xfrm>
            <a:off x="7296263" y="2691271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84"/>
          <p:cNvSpPr/>
          <p:nvPr/>
        </p:nvSpPr>
        <p:spPr>
          <a:xfrm flipV="1">
            <a:off x="7296263" y="210932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5-mark85"/>
          <p:cNvSpPr/>
          <p:nvPr/>
        </p:nvSpPr>
        <p:spPr>
          <a:xfrm>
            <a:off x="7878205" y="2109329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5-mark86"/>
          <p:cNvSpPr/>
          <p:nvPr/>
        </p:nvSpPr>
        <p:spPr>
          <a:xfrm flipH="1">
            <a:off x="10039463" y="210932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5-mark87"/>
          <p:cNvSpPr/>
          <p:nvPr/>
        </p:nvSpPr>
        <p:spPr>
          <a:xfrm flipV="1">
            <a:off x="10039463" y="375524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5-mark88"/>
          <p:cNvSpPr/>
          <p:nvPr/>
        </p:nvSpPr>
        <p:spPr>
          <a:xfrm flipV="1">
            <a:off x="10621405" y="2109329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89"/>
          <p:cNvSpPr/>
          <p:nvPr/>
        </p:nvSpPr>
        <p:spPr>
          <a:xfrm flipV="1">
            <a:off x="7296263" y="3755249"/>
            <a:ext cx="581942" cy="58194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05-mark90"/>
          <p:cNvSpPr/>
          <p:nvPr/>
        </p:nvSpPr>
        <p:spPr>
          <a:xfrm>
            <a:off x="7878205" y="3755249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05-mark91"/>
          <p:cNvSpPr/>
          <p:nvPr/>
        </p:nvSpPr>
        <p:spPr>
          <a:xfrm flipV="1">
            <a:off x="7878205" y="2109329"/>
            <a:ext cx="0" cy="164592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05-chip9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5-text93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면은 몇 개?</a:t>
            </a:r>
            <a:endParaRPr lang="ko-KR" sz="2800" dirty="0"/>
          </a:p>
        </p:txBody>
      </p:sp>
      <p:sp>
        <p:nvSpPr>
          <p:cNvPr id="19" name="S05-chip9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5-text95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모서리는 몇 개?</a:t>
            </a:r>
            <a:endParaRPr lang="ko-KR" sz="2800" dirty="0"/>
          </a:p>
        </p:txBody>
      </p:sp>
      <p:sp>
        <p:nvSpPr>
          <p:cNvPr id="21" name="S05-chip9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5-text97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 몇 개?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4000" dirty="0"/>
          </a:p>
        </p:txBody>
      </p:sp>
      <p:sp>
        <p:nvSpPr>
          <p:cNvPr id="3" name="S06-card98"/>
          <p:cNvSpPr/>
          <p:nvPr/>
        </p:nvSpPr>
        <p:spPr>
          <a:xfrm>
            <a:off x="548640" y="4696968"/>
            <a:ext cx="11091672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9"/>
          <p:cNvSpPr txBox="1"/>
          <p:nvPr/>
        </p:nvSpPr>
        <p:spPr>
          <a:xfrm>
            <a:off x="822960" y="4834128"/>
            <a:ext cx="1054303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모양을 잘 알 수 있게 보이는 모서리는 실선, 보이지 않는 모서리는 점선으로 그린 그림</a:t>
            </a:r>
            <a:endParaRPr lang="ko-KR" sz="2800" dirty="0"/>
          </a:p>
        </p:txBody>
      </p:sp>
      <p:sp>
        <p:nvSpPr>
          <p:cNvPr id="5" name="S06-figure100" descr="모든 모서리를 실선으로 그린 직육면체: 어느 면이 앞인지 알기 어려움"/>
          <p:cNvSpPr/>
          <p:nvPr/>
        </p:nvSpPr>
        <p:spPr>
          <a:xfrm>
            <a:off x="1856072" y="36002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101"/>
          <p:cNvSpPr/>
          <p:nvPr/>
        </p:nvSpPr>
        <p:spPr>
          <a:xfrm flipV="1">
            <a:off x="4142072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102"/>
          <p:cNvSpPr/>
          <p:nvPr/>
        </p:nvSpPr>
        <p:spPr>
          <a:xfrm flipH="1">
            <a:off x="1856072" y="22286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103"/>
          <p:cNvSpPr/>
          <p:nvPr/>
        </p:nvSpPr>
        <p:spPr>
          <a:xfrm>
            <a:off x="1856072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6-mark104"/>
          <p:cNvSpPr/>
          <p:nvPr/>
        </p:nvSpPr>
        <p:spPr>
          <a:xfrm flipV="1">
            <a:off x="1856072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105"/>
          <p:cNvSpPr/>
          <p:nvPr/>
        </p:nvSpPr>
        <p:spPr>
          <a:xfrm>
            <a:off x="2341024" y="17436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6-mark106"/>
          <p:cNvSpPr/>
          <p:nvPr/>
        </p:nvSpPr>
        <p:spPr>
          <a:xfrm flipH="1">
            <a:off x="4142072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6-mark107"/>
          <p:cNvSpPr/>
          <p:nvPr/>
        </p:nvSpPr>
        <p:spPr>
          <a:xfrm flipV="1">
            <a:off x="4142072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6-mark108"/>
          <p:cNvSpPr/>
          <p:nvPr/>
        </p:nvSpPr>
        <p:spPr>
          <a:xfrm flipV="1">
            <a:off x="4627024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109"/>
          <p:cNvSpPr/>
          <p:nvPr/>
        </p:nvSpPr>
        <p:spPr>
          <a:xfrm flipV="1">
            <a:off x="1856072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6-mark110"/>
          <p:cNvSpPr/>
          <p:nvPr/>
        </p:nvSpPr>
        <p:spPr>
          <a:xfrm>
            <a:off x="2341024" y="31152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6-mark111"/>
          <p:cNvSpPr/>
          <p:nvPr/>
        </p:nvSpPr>
        <p:spPr>
          <a:xfrm flipV="1">
            <a:off x="2341024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6-label112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실선으로 그리면</a:t>
            </a:r>
            <a:endParaRPr lang="ko-KR" sz="2200" dirty="0"/>
          </a:p>
        </p:txBody>
      </p:sp>
      <p:sp>
        <p:nvSpPr>
          <p:cNvPr id="18" name="S06-figure113" descr="보이지 않는 모서리 3개를 점선으로 그린 직육면체의 겨냥도"/>
          <p:cNvSpPr/>
          <p:nvPr/>
        </p:nvSpPr>
        <p:spPr>
          <a:xfrm>
            <a:off x="7561928" y="36002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6-mark114"/>
          <p:cNvSpPr/>
          <p:nvPr/>
        </p:nvSpPr>
        <p:spPr>
          <a:xfrm flipV="1">
            <a:off x="9847928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115"/>
          <p:cNvSpPr/>
          <p:nvPr/>
        </p:nvSpPr>
        <p:spPr>
          <a:xfrm flipH="1">
            <a:off x="7561928" y="2228629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6-mark116"/>
          <p:cNvSpPr/>
          <p:nvPr/>
        </p:nvSpPr>
        <p:spPr>
          <a:xfrm>
            <a:off x="7561928" y="2228629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2" name="S06-mark117"/>
          <p:cNvSpPr/>
          <p:nvPr/>
        </p:nvSpPr>
        <p:spPr>
          <a:xfrm flipV="1">
            <a:off x="7561928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118"/>
          <p:cNvSpPr/>
          <p:nvPr/>
        </p:nvSpPr>
        <p:spPr>
          <a:xfrm>
            <a:off x="8046880" y="17436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06-mark119"/>
          <p:cNvSpPr/>
          <p:nvPr/>
        </p:nvSpPr>
        <p:spPr>
          <a:xfrm flipH="1">
            <a:off x="9847928" y="17436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6-mark120"/>
          <p:cNvSpPr/>
          <p:nvPr/>
        </p:nvSpPr>
        <p:spPr>
          <a:xfrm flipV="1">
            <a:off x="9847928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6-mark121"/>
          <p:cNvSpPr/>
          <p:nvPr/>
        </p:nvSpPr>
        <p:spPr>
          <a:xfrm flipV="1">
            <a:off x="10332880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6-mark122"/>
          <p:cNvSpPr/>
          <p:nvPr/>
        </p:nvSpPr>
        <p:spPr>
          <a:xfrm flipV="1">
            <a:off x="7561928" y="3115277"/>
            <a:ext cx="484952" cy="4849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8" name="S06-mark123"/>
          <p:cNvSpPr/>
          <p:nvPr/>
        </p:nvSpPr>
        <p:spPr>
          <a:xfrm>
            <a:off x="8046880" y="3115277"/>
            <a:ext cx="22860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06-mark124"/>
          <p:cNvSpPr/>
          <p:nvPr/>
        </p:nvSpPr>
        <p:spPr>
          <a:xfrm flipV="1">
            <a:off x="8046880" y="1743677"/>
            <a:ext cx="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0" name="S06-label125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12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2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정육면체는 직육면체라고 할 수 있을까요?</a:t>
            </a:r>
            <a:endParaRPr lang="ko-KR" sz="2800" dirty="0"/>
          </a:p>
        </p:txBody>
      </p:sp>
      <p:sp>
        <p:nvSpPr>
          <p:cNvPr id="5" name="S07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7-chip13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아니에요</a:t>
            </a:r>
            <a:endParaRPr lang="ko-KR" sz="2200" dirty="0"/>
          </a:p>
        </p:txBody>
      </p:sp>
      <p:sp>
        <p:nvSpPr>
          <p:cNvPr id="8" name="S07-text13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“정사각형으로만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 있으니까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직육면체가 아니에요.”</a:t>
            </a:r>
            <a:endParaRPr lang="ko-KR" sz="2800" dirty="0"/>
          </a:p>
        </p:txBody>
      </p:sp>
      <p:sp>
        <p:nvSpPr>
          <p:cNvPr id="9" name="S07-chip13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맞아요</a:t>
            </a:r>
            <a:endParaRPr lang="ko-KR" sz="2200" dirty="0"/>
          </a:p>
        </p:txBody>
      </p:sp>
      <p:sp>
        <p:nvSpPr>
          <p:cNvPr id="10" name="S07-text13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“정사각형도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전개도</a:t>
            </a:r>
            <a:endParaRPr lang="ko-KR" sz="4000" dirty="0"/>
          </a:p>
        </p:txBody>
      </p:sp>
      <p:sp>
        <p:nvSpPr>
          <p:cNvPr id="3" name="S08-text1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cm예요.</a:t>
            </a:r>
            <a:endParaRPr lang="ko-KR" sz="2800" dirty="0"/>
          </a:p>
        </p:txBody>
      </p:sp>
      <p:sp>
        <p:nvSpPr>
          <p:cNvPr id="4" name="S08-mark135"/>
          <p:cNvSpPr/>
          <p:nvPr/>
        </p:nvSpPr>
        <p:spPr>
          <a:xfrm>
            <a:off x="1791310" y="296265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8-mark136"/>
          <p:cNvSpPr/>
          <p:nvPr/>
        </p:nvSpPr>
        <p:spPr>
          <a:xfrm flipV="1">
            <a:off x="1462126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8-mark137"/>
          <p:cNvSpPr/>
          <p:nvPr/>
        </p:nvSpPr>
        <p:spPr>
          <a:xfrm flipV="1">
            <a:off x="1791310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138"/>
          <p:cNvSpPr/>
          <p:nvPr/>
        </p:nvSpPr>
        <p:spPr>
          <a:xfrm flipV="1">
            <a:off x="2120494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139"/>
          <p:cNvSpPr/>
          <p:nvPr/>
        </p:nvSpPr>
        <p:spPr>
          <a:xfrm flipV="1">
            <a:off x="2449678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140"/>
          <p:cNvSpPr/>
          <p:nvPr/>
        </p:nvSpPr>
        <p:spPr>
          <a:xfrm flipV="1">
            <a:off x="2778862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141"/>
          <p:cNvSpPr/>
          <p:nvPr/>
        </p:nvSpPr>
        <p:spPr>
          <a:xfrm flipV="1">
            <a:off x="3108046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142"/>
          <p:cNvSpPr/>
          <p:nvPr/>
        </p:nvSpPr>
        <p:spPr>
          <a:xfrm flipV="1">
            <a:off x="3437230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143"/>
          <p:cNvSpPr/>
          <p:nvPr/>
        </p:nvSpPr>
        <p:spPr>
          <a:xfrm flipV="1">
            <a:off x="3766414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144"/>
          <p:cNvSpPr/>
          <p:nvPr/>
        </p:nvSpPr>
        <p:spPr>
          <a:xfrm flipV="1">
            <a:off x="4095598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145"/>
          <p:cNvSpPr/>
          <p:nvPr/>
        </p:nvSpPr>
        <p:spPr>
          <a:xfrm flipV="1">
            <a:off x="4424782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146"/>
          <p:cNvSpPr/>
          <p:nvPr/>
        </p:nvSpPr>
        <p:spPr>
          <a:xfrm flipV="1">
            <a:off x="4753966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147"/>
          <p:cNvSpPr/>
          <p:nvPr/>
        </p:nvSpPr>
        <p:spPr>
          <a:xfrm flipV="1">
            <a:off x="5083150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148"/>
          <p:cNvSpPr/>
          <p:nvPr/>
        </p:nvSpPr>
        <p:spPr>
          <a:xfrm flipV="1">
            <a:off x="5412334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149"/>
          <p:cNvSpPr/>
          <p:nvPr/>
        </p:nvSpPr>
        <p:spPr>
          <a:xfrm flipV="1">
            <a:off x="5741518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150"/>
          <p:cNvSpPr/>
          <p:nvPr/>
        </p:nvSpPr>
        <p:spPr>
          <a:xfrm flipV="1">
            <a:off x="6070702" y="263347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151"/>
          <p:cNvSpPr/>
          <p:nvPr/>
        </p:nvSpPr>
        <p:spPr>
          <a:xfrm>
            <a:off x="1462126" y="559612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152"/>
          <p:cNvSpPr/>
          <p:nvPr/>
        </p:nvSpPr>
        <p:spPr>
          <a:xfrm>
            <a:off x="1462126" y="526694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153"/>
          <p:cNvSpPr/>
          <p:nvPr/>
        </p:nvSpPr>
        <p:spPr>
          <a:xfrm>
            <a:off x="1462126" y="493776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154"/>
          <p:cNvSpPr/>
          <p:nvPr/>
        </p:nvSpPr>
        <p:spPr>
          <a:xfrm>
            <a:off x="1462126" y="460857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155"/>
          <p:cNvSpPr/>
          <p:nvPr/>
        </p:nvSpPr>
        <p:spPr>
          <a:xfrm>
            <a:off x="1462126" y="427939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156"/>
          <p:cNvSpPr/>
          <p:nvPr/>
        </p:nvSpPr>
        <p:spPr>
          <a:xfrm>
            <a:off x="1462126" y="395020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157"/>
          <p:cNvSpPr/>
          <p:nvPr/>
        </p:nvSpPr>
        <p:spPr>
          <a:xfrm>
            <a:off x="1462126" y="362102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mark158"/>
          <p:cNvSpPr/>
          <p:nvPr/>
        </p:nvSpPr>
        <p:spPr>
          <a:xfrm>
            <a:off x="1462126" y="329184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8-mark159"/>
          <p:cNvSpPr/>
          <p:nvPr/>
        </p:nvSpPr>
        <p:spPr>
          <a:xfrm>
            <a:off x="1462126" y="296265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8-mark160"/>
          <p:cNvSpPr/>
          <p:nvPr/>
        </p:nvSpPr>
        <p:spPr>
          <a:xfrm>
            <a:off x="1462126" y="263347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8-figure161" descr="모눈 위의 직육면체 전개도: 가운데 줄에 면 가(2×3), 나(4×3), 다(2×3), 라(4×3), 나의 아래에 마(4×2), 위에 바(4×2). 바깥 선은 실선, 접는 선은 점선. 모눈 한 칸은 1 cm"/>
          <p:cNvSpPr/>
          <p:nvPr/>
        </p:nvSpPr>
        <p:spPr>
          <a:xfrm>
            <a:off x="1791310" y="296265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1" name="S08-mark162"/>
          <p:cNvSpPr/>
          <p:nvPr/>
        </p:nvSpPr>
        <p:spPr>
          <a:xfrm>
            <a:off x="2449678" y="4608576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2" name="S08-mark163"/>
          <p:cNvSpPr/>
          <p:nvPr/>
        </p:nvSpPr>
        <p:spPr>
          <a:xfrm>
            <a:off x="2449678" y="362102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3" name="S08-mark164"/>
          <p:cNvSpPr/>
          <p:nvPr/>
        </p:nvSpPr>
        <p:spPr>
          <a:xfrm flipV="1">
            <a:off x="2449678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4" name="S08-mark165"/>
          <p:cNvSpPr/>
          <p:nvPr/>
        </p:nvSpPr>
        <p:spPr>
          <a:xfrm flipV="1">
            <a:off x="3766414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5" name="S08-mark166"/>
          <p:cNvSpPr/>
          <p:nvPr/>
        </p:nvSpPr>
        <p:spPr>
          <a:xfrm flipV="1">
            <a:off x="4424782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6" name="S08-mark167"/>
          <p:cNvSpPr/>
          <p:nvPr/>
        </p:nvSpPr>
        <p:spPr>
          <a:xfrm>
            <a:off x="2449678" y="526694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8-mark168"/>
          <p:cNvSpPr/>
          <p:nvPr/>
        </p:nvSpPr>
        <p:spPr>
          <a:xfrm flipV="1">
            <a:off x="2449678" y="4608576"/>
            <a:ext cx="0" cy="65836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8-mark169"/>
          <p:cNvSpPr/>
          <p:nvPr/>
        </p:nvSpPr>
        <p:spPr>
          <a:xfrm flipV="1">
            <a:off x="1791310" y="362102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8-label171"/>
          <p:cNvSpPr txBox="1"/>
          <p:nvPr/>
        </p:nvSpPr>
        <p:spPr>
          <a:xfrm>
            <a:off x="2726284" y="534377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40" name="S08-label173"/>
          <p:cNvSpPr txBox="1"/>
          <p:nvPr/>
        </p:nvSpPr>
        <p:spPr>
          <a:xfrm>
            <a:off x="1637640" y="47631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41" name="S08-label175"/>
          <p:cNvSpPr txBox="1"/>
          <p:nvPr/>
        </p:nvSpPr>
        <p:spPr>
          <a:xfrm>
            <a:off x="979272" y="39401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42" name="S08-label177"/>
          <p:cNvSpPr txBox="1"/>
          <p:nvPr/>
        </p:nvSpPr>
        <p:spPr>
          <a:xfrm>
            <a:off x="1928724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3" name="S08-label179"/>
          <p:cNvSpPr txBox="1"/>
          <p:nvPr/>
        </p:nvSpPr>
        <p:spPr>
          <a:xfrm>
            <a:off x="2916276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4" name="S08-label181"/>
          <p:cNvSpPr txBox="1"/>
          <p:nvPr/>
        </p:nvSpPr>
        <p:spPr>
          <a:xfrm>
            <a:off x="3903828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5" name="S08-label183"/>
          <p:cNvSpPr txBox="1"/>
          <p:nvPr/>
        </p:nvSpPr>
        <p:spPr>
          <a:xfrm>
            <a:off x="4891380" y="39401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46" name="S08-label185"/>
          <p:cNvSpPr txBox="1"/>
          <p:nvPr/>
        </p:nvSpPr>
        <p:spPr>
          <a:xfrm>
            <a:off x="2916276" y="47631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47" name="S08-label187"/>
          <p:cNvSpPr txBox="1"/>
          <p:nvPr/>
        </p:nvSpPr>
        <p:spPr>
          <a:xfrm>
            <a:off x="2916276" y="311721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48" name="S08-card188"/>
          <p:cNvSpPr/>
          <p:nvPr/>
        </p:nvSpPr>
        <p:spPr>
          <a:xfrm>
            <a:off x="7349947" y="2649982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9" name="S08-cardtext189"/>
          <p:cNvSpPr txBox="1"/>
          <p:nvPr/>
        </p:nvSpPr>
        <p:spPr>
          <a:xfrm>
            <a:off x="7624267" y="2787142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모서리를 잘라서 펼친 그림</a:t>
            </a:r>
            <a:endParaRPr lang="ko-KR" sz="2800" dirty="0"/>
          </a:p>
        </p:txBody>
      </p:sp>
      <p:sp>
        <p:nvSpPr>
          <p:cNvPr id="50" name="S08-card190"/>
          <p:cNvSpPr/>
          <p:nvPr/>
        </p:nvSpPr>
        <p:spPr>
          <a:xfrm>
            <a:off x="7349947" y="4058666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1" name="S08-cardtext191"/>
          <p:cNvSpPr txBox="1"/>
          <p:nvPr/>
        </p:nvSpPr>
        <p:spPr>
          <a:xfrm>
            <a:off x="7624267" y="4195826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잘린 모서리는 실선, 접는 곳은 점선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면</a:t>
            </a:r>
            <a:endParaRPr lang="ko-KR" sz="4000" dirty="0"/>
          </a:p>
        </p:txBody>
      </p:sp>
      <p:sp>
        <p:nvSpPr>
          <p:cNvPr id="3" name="S09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접었을 때 맞닿는 모서리의 길이도 같아요.</a:t>
            </a:r>
            <a:endParaRPr lang="ko-KR" sz="2800" dirty="0"/>
          </a:p>
        </p:txBody>
      </p:sp>
      <p:sp>
        <p:nvSpPr>
          <p:cNvPr id="5" name="S09-mark194"/>
          <p:cNvSpPr/>
          <p:nvPr/>
        </p:nvSpPr>
        <p:spPr>
          <a:xfrm>
            <a:off x="1791310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6" name="S09-mark195"/>
          <p:cNvSpPr/>
          <p:nvPr/>
        </p:nvSpPr>
        <p:spPr>
          <a:xfrm>
            <a:off x="2449678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CF4"/>
          </a:solidFill>
          <a:ln/>
        </p:spPr>
      </p:sp>
      <p:sp>
        <p:nvSpPr>
          <p:cNvPr id="7" name="S09-mark196"/>
          <p:cNvSpPr/>
          <p:nvPr/>
        </p:nvSpPr>
        <p:spPr>
          <a:xfrm>
            <a:off x="3766414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9-mark197"/>
          <p:cNvSpPr/>
          <p:nvPr/>
        </p:nvSpPr>
        <p:spPr>
          <a:xfrm>
            <a:off x="4424782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CF4"/>
          </a:solidFill>
          <a:ln/>
        </p:spPr>
      </p:sp>
      <p:sp>
        <p:nvSpPr>
          <p:cNvPr id="9" name="S09-mark198"/>
          <p:cNvSpPr/>
          <p:nvPr/>
        </p:nvSpPr>
        <p:spPr>
          <a:xfrm>
            <a:off x="2449678" y="371703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DE8"/>
          </a:solidFill>
          <a:ln/>
        </p:spPr>
      </p:sp>
      <p:sp>
        <p:nvSpPr>
          <p:cNvPr id="10" name="S09-mark199"/>
          <p:cNvSpPr/>
          <p:nvPr/>
        </p:nvSpPr>
        <p:spPr>
          <a:xfrm>
            <a:off x="2449678" y="207111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DE8"/>
          </a:solidFill>
          <a:ln/>
        </p:spPr>
      </p:sp>
      <p:sp>
        <p:nvSpPr>
          <p:cNvPr id="11" name="S09-mark200"/>
          <p:cNvSpPr/>
          <p:nvPr/>
        </p:nvSpPr>
        <p:spPr>
          <a:xfrm flipV="1">
            <a:off x="146212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201"/>
          <p:cNvSpPr/>
          <p:nvPr/>
        </p:nvSpPr>
        <p:spPr>
          <a:xfrm flipV="1">
            <a:off x="179131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202"/>
          <p:cNvSpPr/>
          <p:nvPr/>
        </p:nvSpPr>
        <p:spPr>
          <a:xfrm flipV="1">
            <a:off x="212049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203"/>
          <p:cNvSpPr/>
          <p:nvPr/>
        </p:nvSpPr>
        <p:spPr>
          <a:xfrm flipV="1">
            <a:off x="244967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204"/>
          <p:cNvSpPr/>
          <p:nvPr/>
        </p:nvSpPr>
        <p:spPr>
          <a:xfrm flipV="1">
            <a:off x="277886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205"/>
          <p:cNvSpPr/>
          <p:nvPr/>
        </p:nvSpPr>
        <p:spPr>
          <a:xfrm flipV="1">
            <a:off x="310804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206"/>
          <p:cNvSpPr/>
          <p:nvPr/>
        </p:nvSpPr>
        <p:spPr>
          <a:xfrm flipV="1">
            <a:off x="343723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207"/>
          <p:cNvSpPr/>
          <p:nvPr/>
        </p:nvSpPr>
        <p:spPr>
          <a:xfrm flipV="1">
            <a:off x="376641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08"/>
          <p:cNvSpPr/>
          <p:nvPr/>
        </p:nvSpPr>
        <p:spPr>
          <a:xfrm flipV="1">
            <a:off x="409559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09"/>
          <p:cNvSpPr/>
          <p:nvPr/>
        </p:nvSpPr>
        <p:spPr>
          <a:xfrm flipV="1">
            <a:off x="442478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mark210"/>
          <p:cNvSpPr/>
          <p:nvPr/>
        </p:nvSpPr>
        <p:spPr>
          <a:xfrm flipV="1">
            <a:off x="475396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mark211"/>
          <p:cNvSpPr/>
          <p:nvPr/>
        </p:nvSpPr>
        <p:spPr>
          <a:xfrm flipV="1">
            <a:off x="508315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212"/>
          <p:cNvSpPr/>
          <p:nvPr/>
        </p:nvSpPr>
        <p:spPr>
          <a:xfrm flipV="1">
            <a:off x="541233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213"/>
          <p:cNvSpPr/>
          <p:nvPr/>
        </p:nvSpPr>
        <p:spPr>
          <a:xfrm flipV="1">
            <a:off x="574151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214"/>
          <p:cNvSpPr/>
          <p:nvPr/>
        </p:nvSpPr>
        <p:spPr>
          <a:xfrm flipV="1">
            <a:off x="607070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mark215"/>
          <p:cNvSpPr/>
          <p:nvPr/>
        </p:nvSpPr>
        <p:spPr>
          <a:xfrm>
            <a:off x="1462126" y="470458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9-mark216"/>
          <p:cNvSpPr/>
          <p:nvPr/>
        </p:nvSpPr>
        <p:spPr>
          <a:xfrm>
            <a:off x="1462126" y="437540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9-mark217"/>
          <p:cNvSpPr/>
          <p:nvPr/>
        </p:nvSpPr>
        <p:spPr>
          <a:xfrm>
            <a:off x="1462126" y="404622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mark218"/>
          <p:cNvSpPr/>
          <p:nvPr/>
        </p:nvSpPr>
        <p:spPr>
          <a:xfrm>
            <a:off x="1462126" y="371703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9-mark219"/>
          <p:cNvSpPr/>
          <p:nvPr/>
        </p:nvSpPr>
        <p:spPr>
          <a:xfrm>
            <a:off x="1462126" y="338785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9-mark220"/>
          <p:cNvSpPr/>
          <p:nvPr/>
        </p:nvSpPr>
        <p:spPr>
          <a:xfrm>
            <a:off x="1462126" y="305866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9-mark221"/>
          <p:cNvSpPr/>
          <p:nvPr/>
        </p:nvSpPr>
        <p:spPr>
          <a:xfrm>
            <a:off x="1462126" y="272948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9-mark222"/>
          <p:cNvSpPr/>
          <p:nvPr/>
        </p:nvSpPr>
        <p:spPr>
          <a:xfrm>
            <a:off x="1462126" y="240030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9-mark223"/>
          <p:cNvSpPr/>
          <p:nvPr/>
        </p:nvSpPr>
        <p:spPr>
          <a:xfrm>
            <a:off x="1462126" y="207111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9-mark224"/>
          <p:cNvSpPr/>
          <p:nvPr/>
        </p:nvSpPr>
        <p:spPr>
          <a:xfrm>
            <a:off x="1462126" y="174193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9-figure225" descr="같은 전개도에서 마주 보는 면끼리 같은 색: 가와 다 노랑, 나와 라 파랑, 마와 바 초록"/>
          <p:cNvSpPr/>
          <p:nvPr/>
        </p:nvSpPr>
        <p:spPr>
          <a:xfrm>
            <a:off x="1791310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37" name="S09-mark226"/>
          <p:cNvSpPr/>
          <p:nvPr/>
        </p:nvSpPr>
        <p:spPr>
          <a:xfrm>
            <a:off x="2449678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38" name="S09-mark227"/>
          <p:cNvSpPr/>
          <p:nvPr/>
        </p:nvSpPr>
        <p:spPr>
          <a:xfrm>
            <a:off x="3766414" y="2729484"/>
            <a:ext cx="658368" cy="987552"/>
          </a:xfrm>
          <a:custGeom>
            <a:avLst/>
            <a:gdLst/>
            <a:ahLst/>
            <a:cxnLst/>
            <a:rect l="l" t="t" r="r" b="b"/>
            <a:pathLst>
              <a:path w="658368" h="987552">
                <a:moveTo>
                  <a:pt x="0" y="987552"/>
                </a:moveTo>
                <a:lnTo>
                  <a:pt x="658368" y="987552"/>
                </a:lnTo>
                <a:lnTo>
                  <a:pt x="658368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39" name="S09-mark228"/>
          <p:cNvSpPr/>
          <p:nvPr/>
        </p:nvSpPr>
        <p:spPr>
          <a:xfrm>
            <a:off x="4424782" y="2729484"/>
            <a:ext cx="1316736" cy="987552"/>
          </a:xfrm>
          <a:custGeom>
            <a:avLst/>
            <a:gdLst/>
            <a:ahLst/>
            <a:cxnLst/>
            <a:rect l="l" t="t" r="r" b="b"/>
            <a:pathLst>
              <a:path w="1316736" h="987552">
                <a:moveTo>
                  <a:pt x="0" y="987552"/>
                </a:moveTo>
                <a:lnTo>
                  <a:pt x="1316736" y="987552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40" name="S09-mark229"/>
          <p:cNvSpPr/>
          <p:nvPr/>
        </p:nvSpPr>
        <p:spPr>
          <a:xfrm>
            <a:off x="2449678" y="371703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41" name="S09-mark230"/>
          <p:cNvSpPr/>
          <p:nvPr/>
        </p:nvSpPr>
        <p:spPr>
          <a:xfrm>
            <a:off x="2449678" y="2071116"/>
            <a:ext cx="1316736" cy="658368"/>
          </a:xfrm>
          <a:custGeom>
            <a:avLst/>
            <a:gdLst/>
            <a:ahLst/>
            <a:cxnLst/>
            <a:rect l="l" t="t" r="r" b="b"/>
            <a:pathLst>
              <a:path w="1316736" h="658368">
                <a:moveTo>
                  <a:pt x="0" y="658368"/>
                </a:moveTo>
                <a:lnTo>
                  <a:pt x="1316736" y="658368"/>
                </a:lnTo>
                <a:lnTo>
                  <a:pt x="1316736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42" name="S09-mark231"/>
          <p:cNvSpPr/>
          <p:nvPr/>
        </p:nvSpPr>
        <p:spPr>
          <a:xfrm>
            <a:off x="1791310" y="207111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09-mark232"/>
          <p:cNvSpPr/>
          <p:nvPr/>
        </p:nvSpPr>
        <p:spPr>
          <a:xfrm>
            <a:off x="2449678" y="3717036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4" name="S09-mark233"/>
          <p:cNvSpPr/>
          <p:nvPr/>
        </p:nvSpPr>
        <p:spPr>
          <a:xfrm>
            <a:off x="2449678" y="272948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5" name="S09-mark234"/>
          <p:cNvSpPr/>
          <p:nvPr/>
        </p:nvSpPr>
        <p:spPr>
          <a:xfrm flipV="1">
            <a:off x="2449678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6" name="S09-mark235"/>
          <p:cNvSpPr/>
          <p:nvPr/>
        </p:nvSpPr>
        <p:spPr>
          <a:xfrm flipV="1">
            <a:off x="3766414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7" name="S09-mark236"/>
          <p:cNvSpPr/>
          <p:nvPr/>
        </p:nvSpPr>
        <p:spPr>
          <a:xfrm flipV="1">
            <a:off x="4424782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48" name="S09-label238"/>
          <p:cNvSpPr txBox="1"/>
          <p:nvPr/>
        </p:nvSpPr>
        <p:spPr>
          <a:xfrm>
            <a:off x="1928724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9" name="S09-label240"/>
          <p:cNvSpPr txBox="1"/>
          <p:nvPr/>
        </p:nvSpPr>
        <p:spPr>
          <a:xfrm>
            <a:off x="2916276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50" name="S09-label242"/>
          <p:cNvSpPr txBox="1"/>
          <p:nvPr/>
        </p:nvSpPr>
        <p:spPr>
          <a:xfrm>
            <a:off x="3903828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51" name="S09-label244"/>
          <p:cNvSpPr txBox="1"/>
          <p:nvPr/>
        </p:nvSpPr>
        <p:spPr>
          <a:xfrm>
            <a:off x="4891380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52" name="S09-label246"/>
          <p:cNvSpPr txBox="1"/>
          <p:nvPr/>
        </p:nvSpPr>
        <p:spPr>
          <a:xfrm>
            <a:off x="2916276" y="387159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53" name="S09-label248"/>
          <p:cNvSpPr txBox="1"/>
          <p:nvPr/>
        </p:nvSpPr>
        <p:spPr>
          <a:xfrm>
            <a:off x="2916276" y="22256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54" name="S09-card249"/>
          <p:cNvSpPr/>
          <p:nvPr/>
        </p:nvSpPr>
        <p:spPr>
          <a:xfrm>
            <a:off x="7349947" y="1588008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5" name="S09-cardtext250"/>
          <p:cNvSpPr txBox="1"/>
          <p:nvPr/>
        </p:nvSpPr>
        <p:spPr>
          <a:xfrm>
            <a:off x="7624267" y="1725168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면 3쌍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다, 나와 라, 마와 바 (서로 평행)</a:t>
            </a:r>
            <a:endParaRPr lang="ko-KR" sz="2800" dirty="0"/>
          </a:p>
        </p:txBody>
      </p:sp>
      <p:sp>
        <p:nvSpPr>
          <p:cNvPr id="56" name="S09-card251"/>
          <p:cNvSpPr/>
          <p:nvPr/>
        </p:nvSpPr>
        <p:spPr>
          <a:xfrm>
            <a:off x="7349947" y="333756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7" name="S09-cardtext252"/>
          <p:cNvSpPr txBox="1"/>
          <p:nvPr/>
        </p:nvSpPr>
        <p:spPr>
          <a:xfrm>
            <a:off x="7624267" y="347472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면은 모양과 크기가 같아요.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어떻게 될까요?</a:t>
            </a:r>
            <a:endParaRPr lang="ko-KR" sz="4000" dirty="0"/>
          </a:p>
        </p:txBody>
      </p:sp>
      <p:sp>
        <p:nvSpPr>
          <p:cNvPr id="3" name="S10-card2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2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그려 오려서 접어 봐도 돼요.</a:t>
            </a:r>
            <a:endParaRPr lang="ko-KR" sz="2800" dirty="0"/>
          </a:p>
        </p:txBody>
      </p:sp>
      <p:sp>
        <p:nvSpPr>
          <p:cNvPr id="5" name="S10-mark255"/>
          <p:cNvSpPr/>
          <p:nvPr/>
        </p:nvSpPr>
        <p:spPr>
          <a:xfrm>
            <a:off x="6983730" y="207111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0-mark256"/>
          <p:cNvSpPr/>
          <p:nvPr/>
        </p:nvSpPr>
        <p:spPr>
          <a:xfrm flipV="1">
            <a:off x="665454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0-mark257"/>
          <p:cNvSpPr/>
          <p:nvPr/>
        </p:nvSpPr>
        <p:spPr>
          <a:xfrm flipV="1">
            <a:off x="698373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0-mark258"/>
          <p:cNvSpPr/>
          <p:nvPr/>
        </p:nvSpPr>
        <p:spPr>
          <a:xfrm flipV="1">
            <a:off x="731291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259"/>
          <p:cNvSpPr/>
          <p:nvPr/>
        </p:nvSpPr>
        <p:spPr>
          <a:xfrm flipV="1">
            <a:off x="764209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260"/>
          <p:cNvSpPr/>
          <p:nvPr/>
        </p:nvSpPr>
        <p:spPr>
          <a:xfrm flipV="1">
            <a:off x="797128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261"/>
          <p:cNvSpPr/>
          <p:nvPr/>
        </p:nvSpPr>
        <p:spPr>
          <a:xfrm flipV="1">
            <a:off x="830046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262"/>
          <p:cNvSpPr/>
          <p:nvPr/>
        </p:nvSpPr>
        <p:spPr>
          <a:xfrm flipV="1">
            <a:off x="862965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263"/>
          <p:cNvSpPr/>
          <p:nvPr/>
        </p:nvSpPr>
        <p:spPr>
          <a:xfrm flipV="1">
            <a:off x="895883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264"/>
          <p:cNvSpPr/>
          <p:nvPr/>
        </p:nvSpPr>
        <p:spPr>
          <a:xfrm flipV="1">
            <a:off x="928801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265"/>
          <p:cNvSpPr/>
          <p:nvPr/>
        </p:nvSpPr>
        <p:spPr>
          <a:xfrm flipV="1">
            <a:off x="961720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266"/>
          <p:cNvSpPr/>
          <p:nvPr/>
        </p:nvSpPr>
        <p:spPr>
          <a:xfrm flipV="1">
            <a:off x="9946386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267"/>
          <p:cNvSpPr/>
          <p:nvPr/>
        </p:nvSpPr>
        <p:spPr>
          <a:xfrm flipV="1">
            <a:off x="10275570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268"/>
          <p:cNvSpPr/>
          <p:nvPr/>
        </p:nvSpPr>
        <p:spPr>
          <a:xfrm flipV="1">
            <a:off x="10604754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269"/>
          <p:cNvSpPr/>
          <p:nvPr/>
        </p:nvSpPr>
        <p:spPr>
          <a:xfrm flipV="1">
            <a:off x="10933938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270"/>
          <p:cNvSpPr/>
          <p:nvPr/>
        </p:nvSpPr>
        <p:spPr>
          <a:xfrm flipV="1">
            <a:off x="11263122" y="1741932"/>
            <a:ext cx="0" cy="296265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271"/>
          <p:cNvSpPr/>
          <p:nvPr/>
        </p:nvSpPr>
        <p:spPr>
          <a:xfrm>
            <a:off x="6654546" y="470458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272"/>
          <p:cNvSpPr/>
          <p:nvPr/>
        </p:nvSpPr>
        <p:spPr>
          <a:xfrm>
            <a:off x="6654546" y="437540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273"/>
          <p:cNvSpPr/>
          <p:nvPr/>
        </p:nvSpPr>
        <p:spPr>
          <a:xfrm>
            <a:off x="6654546" y="404622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274"/>
          <p:cNvSpPr/>
          <p:nvPr/>
        </p:nvSpPr>
        <p:spPr>
          <a:xfrm>
            <a:off x="6654546" y="371703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275"/>
          <p:cNvSpPr/>
          <p:nvPr/>
        </p:nvSpPr>
        <p:spPr>
          <a:xfrm>
            <a:off x="6654546" y="338785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276"/>
          <p:cNvSpPr/>
          <p:nvPr/>
        </p:nvSpPr>
        <p:spPr>
          <a:xfrm>
            <a:off x="6654546" y="3058668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277"/>
          <p:cNvSpPr/>
          <p:nvPr/>
        </p:nvSpPr>
        <p:spPr>
          <a:xfrm>
            <a:off x="6654546" y="2729484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78"/>
          <p:cNvSpPr/>
          <p:nvPr/>
        </p:nvSpPr>
        <p:spPr>
          <a:xfrm>
            <a:off x="6654546" y="2400300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79"/>
          <p:cNvSpPr/>
          <p:nvPr/>
        </p:nvSpPr>
        <p:spPr>
          <a:xfrm>
            <a:off x="6654546" y="2071116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280"/>
          <p:cNvSpPr/>
          <p:nvPr/>
        </p:nvSpPr>
        <p:spPr>
          <a:xfrm>
            <a:off x="6654546" y="1741932"/>
            <a:ext cx="46085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figure281" descr="직육면체 전개도에서 면 가의 왼쪽 변 양 끝에 점 ㄱ(위), ㄴ(아래), 면 라의 오른쪽 변 양 끝에 점 ㄹ(위), ㄷ(아래)"/>
          <p:cNvSpPr/>
          <p:nvPr/>
        </p:nvSpPr>
        <p:spPr>
          <a:xfrm>
            <a:off x="6983730" y="2071116"/>
            <a:ext cx="3950208" cy="2304288"/>
          </a:xfrm>
          <a:custGeom>
            <a:avLst/>
            <a:gdLst/>
            <a:ahLst/>
            <a:cxnLst/>
            <a:rect l="l" t="t" r="r" b="b"/>
            <a:pathLst>
              <a:path w="3950208" h="2304288">
                <a:moveTo>
                  <a:pt x="0" y="1645920"/>
                </a:moveTo>
                <a:lnTo>
                  <a:pt x="658368" y="1645920"/>
                </a:lnTo>
                <a:lnTo>
                  <a:pt x="658368" y="2304288"/>
                </a:lnTo>
                <a:lnTo>
                  <a:pt x="1975104" y="2304288"/>
                </a:lnTo>
                <a:lnTo>
                  <a:pt x="1975104" y="1645920"/>
                </a:lnTo>
                <a:lnTo>
                  <a:pt x="3950208" y="1645920"/>
                </a:lnTo>
                <a:lnTo>
                  <a:pt x="3950208" y="658368"/>
                </a:lnTo>
                <a:lnTo>
                  <a:pt x="1975104" y="658368"/>
                </a:lnTo>
                <a:lnTo>
                  <a:pt x="1975104" y="0"/>
                </a:lnTo>
                <a:lnTo>
                  <a:pt x="658368" y="0"/>
                </a:lnTo>
                <a:lnTo>
                  <a:pt x="658368" y="658368"/>
                </a:lnTo>
                <a:lnTo>
                  <a:pt x="0" y="65836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10-mark282"/>
          <p:cNvSpPr/>
          <p:nvPr/>
        </p:nvSpPr>
        <p:spPr>
          <a:xfrm>
            <a:off x="7642098" y="3717036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3" name="S10-mark283"/>
          <p:cNvSpPr/>
          <p:nvPr/>
        </p:nvSpPr>
        <p:spPr>
          <a:xfrm>
            <a:off x="7642098" y="2729484"/>
            <a:ext cx="13167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4" name="S10-mark284"/>
          <p:cNvSpPr/>
          <p:nvPr/>
        </p:nvSpPr>
        <p:spPr>
          <a:xfrm flipV="1">
            <a:off x="7642098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5" name="S10-mark285"/>
          <p:cNvSpPr/>
          <p:nvPr/>
        </p:nvSpPr>
        <p:spPr>
          <a:xfrm flipV="1">
            <a:off x="8958834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6" name="S10-mark286"/>
          <p:cNvSpPr/>
          <p:nvPr/>
        </p:nvSpPr>
        <p:spPr>
          <a:xfrm flipV="1">
            <a:off x="9617202" y="2729484"/>
            <a:ext cx="0" cy="98755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7" name="S10-mark287"/>
          <p:cNvSpPr/>
          <p:nvPr/>
        </p:nvSpPr>
        <p:spPr>
          <a:xfrm>
            <a:off x="6924294" y="267004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0-mark288"/>
          <p:cNvSpPr/>
          <p:nvPr/>
        </p:nvSpPr>
        <p:spPr>
          <a:xfrm>
            <a:off x="6924294" y="365760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0-mark289"/>
          <p:cNvSpPr/>
          <p:nvPr/>
        </p:nvSpPr>
        <p:spPr>
          <a:xfrm>
            <a:off x="10874502" y="365760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0-mark290"/>
          <p:cNvSpPr/>
          <p:nvPr/>
        </p:nvSpPr>
        <p:spPr>
          <a:xfrm>
            <a:off x="10874502" y="267004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10-label292"/>
          <p:cNvSpPr txBox="1"/>
          <p:nvPr/>
        </p:nvSpPr>
        <p:spPr>
          <a:xfrm>
            <a:off x="6536708" y="2285891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42" name="S10-label294"/>
          <p:cNvSpPr txBox="1"/>
          <p:nvPr/>
        </p:nvSpPr>
        <p:spPr>
          <a:xfrm>
            <a:off x="6536708" y="3684379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43" name="S10-label296"/>
          <p:cNvSpPr txBox="1"/>
          <p:nvPr/>
        </p:nvSpPr>
        <p:spPr>
          <a:xfrm>
            <a:off x="10897852" y="3684379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44" name="S10-label298"/>
          <p:cNvSpPr txBox="1"/>
          <p:nvPr/>
        </p:nvSpPr>
        <p:spPr>
          <a:xfrm>
            <a:off x="10897852" y="2285891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45" name="S10-label300"/>
          <p:cNvSpPr txBox="1"/>
          <p:nvPr/>
        </p:nvSpPr>
        <p:spPr>
          <a:xfrm>
            <a:off x="7121144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6" name="S10-label302"/>
          <p:cNvSpPr txBox="1"/>
          <p:nvPr/>
        </p:nvSpPr>
        <p:spPr>
          <a:xfrm>
            <a:off x="8108696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7" name="S10-label304"/>
          <p:cNvSpPr txBox="1"/>
          <p:nvPr/>
        </p:nvSpPr>
        <p:spPr>
          <a:xfrm>
            <a:off x="9096248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8" name="S10-label306"/>
          <p:cNvSpPr txBox="1"/>
          <p:nvPr/>
        </p:nvSpPr>
        <p:spPr>
          <a:xfrm>
            <a:off x="10083800" y="30486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49" name="S10-label308"/>
          <p:cNvSpPr txBox="1"/>
          <p:nvPr/>
        </p:nvSpPr>
        <p:spPr>
          <a:xfrm>
            <a:off x="8108696" y="387159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50" name="S10-label310"/>
          <p:cNvSpPr txBox="1"/>
          <p:nvPr/>
        </p:nvSpPr>
        <p:spPr>
          <a:xfrm>
            <a:off x="8108696" y="22256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51" name="S10-chip31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2" name="S10-text312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마와 수직인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면을 모두 써요.</a:t>
            </a:r>
            <a:endParaRPr lang="ko-KR" sz="2800" dirty="0"/>
          </a:p>
        </p:txBody>
      </p:sp>
      <p:sp>
        <p:nvSpPr>
          <p:cNvPr id="53" name="S10-chip31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54" name="S10-text314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ㄱ과 만나는 점은?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(ㄴ, ㄷ, ㄹ 중)</a:t>
            </a:r>
            <a:endParaRPr lang="ko-KR" sz="2800" dirty="0"/>
          </a:p>
        </p:txBody>
      </p:sp>
      <p:sp>
        <p:nvSpPr>
          <p:cNvPr id="55" name="S10-chip31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6" name="S10-text316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ㄱㄴ과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맞닿는 선분은?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317" descr="가로 5 cm, 높이 3 cm, 깊이 2 cm인 직육면체의 겨냥도"/>
          <p:cNvSpPr/>
          <p:nvPr/>
        </p:nvSpPr>
        <p:spPr>
          <a:xfrm>
            <a:off x="7140639" y="5023167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11-mark318"/>
          <p:cNvSpPr/>
          <p:nvPr/>
        </p:nvSpPr>
        <p:spPr>
          <a:xfrm flipV="1">
            <a:off x="9975279" y="332238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1-mark319"/>
          <p:cNvSpPr/>
          <p:nvPr/>
        </p:nvSpPr>
        <p:spPr>
          <a:xfrm flipH="1">
            <a:off x="7140639" y="3322383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320"/>
          <p:cNvSpPr/>
          <p:nvPr/>
        </p:nvSpPr>
        <p:spPr>
          <a:xfrm>
            <a:off x="7140639" y="332238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321"/>
          <p:cNvSpPr/>
          <p:nvPr/>
        </p:nvSpPr>
        <p:spPr>
          <a:xfrm flipV="1">
            <a:off x="7140639" y="2520633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322"/>
          <p:cNvSpPr/>
          <p:nvPr/>
        </p:nvSpPr>
        <p:spPr>
          <a:xfrm>
            <a:off x="7942389" y="2520633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1-mark323"/>
          <p:cNvSpPr/>
          <p:nvPr/>
        </p:nvSpPr>
        <p:spPr>
          <a:xfrm flipH="1">
            <a:off x="9975279" y="2520633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1-mark324"/>
          <p:cNvSpPr/>
          <p:nvPr/>
        </p:nvSpPr>
        <p:spPr>
          <a:xfrm flipV="1">
            <a:off x="9975279" y="4221417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1-mark325"/>
          <p:cNvSpPr/>
          <p:nvPr/>
        </p:nvSpPr>
        <p:spPr>
          <a:xfrm flipV="1">
            <a:off x="10777029" y="252063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1-mark326"/>
          <p:cNvSpPr/>
          <p:nvPr/>
        </p:nvSpPr>
        <p:spPr>
          <a:xfrm flipV="1">
            <a:off x="7140639" y="4221417"/>
            <a:ext cx="801750" cy="80175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3" name="S11-mark327"/>
          <p:cNvSpPr/>
          <p:nvPr/>
        </p:nvSpPr>
        <p:spPr>
          <a:xfrm>
            <a:off x="7942389" y="4221417"/>
            <a:ext cx="28346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4" name="S11-mark328"/>
          <p:cNvSpPr/>
          <p:nvPr/>
        </p:nvSpPr>
        <p:spPr>
          <a:xfrm flipV="1">
            <a:off x="7942389" y="2520633"/>
            <a:ext cx="0" cy="170078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11-label330"/>
          <p:cNvSpPr txBox="1"/>
          <p:nvPr/>
        </p:nvSpPr>
        <p:spPr>
          <a:xfrm>
            <a:off x="8176197" y="5100002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6" name="S11-label332"/>
          <p:cNvSpPr txBox="1"/>
          <p:nvPr/>
        </p:nvSpPr>
        <p:spPr>
          <a:xfrm>
            <a:off x="6328601" y="399815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17" name="S11-label334"/>
          <p:cNvSpPr txBox="1"/>
          <p:nvPr/>
        </p:nvSpPr>
        <p:spPr>
          <a:xfrm>
            <a:off x="10310710" y="476398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cm</a:t>
            </a:r>
            <a:endParaRPr lang="ko-KR" sz="2200" dirty="0"/>
          </a:p>
        </p:txBody>
      </p:sp>
      <p:sp>
        <p:nvSpPr>
          <p:cNvPr id="18" name="S11-chip3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9" name="S11-text33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모서리는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800" dirty="0"/>
          </a:p>
        </p:txBody>
      </p:sp>
      <p:sp>
        <p:nvSpPr>
          <p:cNvPr id="20" name="S11-chip33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11-text33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5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모서리는 모두 몇 개?</a:t>
            </a:r>
            <a:endParaRPr lang="ko-KR" sz="2800" dirty="0"/>
          </a:p>
        </p:txBody>
      </p:sp>
      <p:sp>
        <p:nvSpPr>
          <p:cNvPr id="22" name="S11-chip33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11-text34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 cm, 세로 3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면은 몇 개?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4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4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상자를 그림과 같은 방향으로 들고 같은 방향의 모서리를 하나씩 짚어 세게 하세요.</a:t>
            </a:r>
            <a:endParaRPr lang="ko-KR" sz="2800" dirty="0"/>
          </a:p>
        </p:txBody>
      </p:sp>
      <p:sp>
        <p:nvSpPr>
          <p:cNvPr id="5" name="S12-chip34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44"/>
          <p:cNvSpPr txBox="1"/>
          <p:nvPr/>
        </p:nvSpPr>
        <p:spPr>
          <a:xfrm>
            <a:off x="548640" y="2057400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3개</a:t>
            </a:r>
            <a:endParaRPr lang="ko-KR" sz="2800" dirty="0"/>
          </a:p>
        </p:txBody>
      </p:sp>
      <p:sp>
        <p:nvSpPr>
          <p:cNvPr id="7" name="S12-text345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모서리</a:t>
            </a:r>
            <a:endParaRPr lang="ko-KR" sz="2200" dirty="0"/>
          </a:p>
        </p:txBody>
      </p:sp>
      <p:sp>
        <p:nvSpPr>
          <p:cNvPr id="8" name="S12-text346"/>
          <p:cNvSpPr txBox="1"/>
          <p:nvPr/>
        </p:nvSpPr>
        <p:spPr>
          <a:xfrm>
            <a:off x="548640" y="301481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4개</a:t>
            </a:r>
            <a:endParaRPr lang="ko-KR" sz="2800" dirty="0"/>
          </a:p>
        </p:txBody>
      </p:sp>
      <p:sp>
        <p:nvSpPr>
          <p:cNvPr id="9" name="S12-text347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방향 모서리</a:t>
            </a:r>
            <a:endParaRPr lang="ko-KR" sz="2200" dirty="0"/>
          </a:p>
        </p:txBody>
      </p:sp>
      <p:sp>
        <p:nvSpPr>
          <p:cNvPr id="10" name="S12-text348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2개</a:t>
            </a:r>
            <a:endParaRPr lang="ko-KR" sz="2800" dirty="0"/>
          </a:p>
        </p:txBody>
      </p:sp>
      <p:sp>
        <p:nvSpPr>
          <p:cNvPr id="11" name="S12-text349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앞면과 뒷면</a:t>
            </a:r>
            <a:endParaRPr lang="ko-KR" sz="2200" dirty="0"/>
          </a:p>
        </p:txBody>
      </p:sp>
      <p:sp>
        <p:nvSpPr>
          <p:cNvPr id="12" name="S12-chip35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35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1개 또는 2개</a:t>
            </a:r>
            <a:endParaRPr lang="ko-KR" sz="2800" dirty="0"/>
          </a:p>
        </p:txBody>
      </p:sp>
      <p:sp>
        <p:nvSpPr>
          <p:cNvPr id="14" name="S12-text35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것만 셈</a:t>
            </a:r>
            <a:endParaRPr lang="ko-KR" sz="2200" dirty="0"/>
          </a:p>
        </p:txBody>
      </p:sp>
      <p:sp>
        <p:nvSpPr>
          <p:cNvPr id="15" name="S12-text35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1개</a:t>
            </a:r>
            <a:endParaRPr lang="ko-KR" sz="2800" dirty="0"/>
          </a:p>
        </p:txBody>
      </p:sp>
      <p:sp>
        <p:nvSpPr>
          <p:cNvPr id="16" name="S12-text35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뒷면을 빠뜨림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정육면체의 전개도는?</a:t>
            </a:r>
            <a:endParaRPr lang="ko-KR" sz="4000" dirty="0"/>
          </a:p>
        </p:txBody>
      </p:sp>
      <p:sp>
        <p:nvSpPr>
          <p:cNvPr id="3" name="S13-text3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접어서 정육면체가 되는 것을 모두 골라요.</a:t>
            </a:r>
            <a:endParaRPr lang="ko-KR" sz="2800" dirty="0"/>
          </a:p>
        </p:txBody>
      </p:sp>
      <p:sp>
        <p:nvSpPr>
          <p:cNvPr id="4" name="S13-card3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고르지 않은 것은 접으면 어떻게 되는지 말해요.</a:t>
            </a:r>
            <a:endParaRPr lang="ko-KR" sz="2800" dirty="0"/>
          </a:p>
        </p:txBody>
      </p:sp>
      <p:sp>
        <p:nvSpPr>
          <p:cNvPr id="6" name="S13-chip35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figure359" descr="정사각형 6개로 된 그림 가"/>
          <p:cNvSpPr/>
          <p:nvPr/>
        </p:nvSpPr>
        <p:spPr>
          <a:xfrm>
            <a:off x="2859786" y="2144268"/>
            <a:ext cx="1536192" cy="1152144"/>
          </a:xfrm>
          <a:custGeom>
            <a:avLst/>
            <a:gdLst/>
            <a:ahLst/>
            <a:cxnLst/>
            <a:rect l="l" t="t" r="r" b="b"/>
            <a:pathLst>
              <a:path w="1536192" h="1152144">
                <a:moveTo>
                  <a:pt x="0" y="768096"/>
                </a:moveTo>
                <a:lnTo>
                  <a:pt x="384048" y="768096"/>
                </a:lnTo>
                <a:lnTo>
                  <a:pt x="384048" y="1152144"/>
                </a:lnTo>
                <a:lnTo>
                  <a:pt x="768096" y="1152144"/>
                </a:lnTo>
                <a:lnTo>
                  <a:pt x="768096" y="768096"/>
                </a:lnTo>
                <a:lnTo>
                  <a:pt x="1536192" y="768096"/>
                </a:lnTo>
                <a:lnTo>
                  <a:pt x="1536192" y="384048"/>
                </a:lnTo>
                <a:lnTo>
                  <a:pt x="768096" y="384048"/>
                </a:lnTo>
                <a:lnTo>
                  <a:pt x="768096" y="0"/>
                </a:lnTo>
                <a:lnTo>
                  <a:pt x="384048" y="0"/>
                </a:lnTo>
                <a:lnTo>
                  <a:pt x="384048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3-mark360"/>
          <p:cNvSpPr/>
          <p:nvPr/>
        </p:nvSpPr>
        <p:spPr>
          <a:xfrm>
            <a:off x="3243834" y="2912364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13-mark361"/>
          <p:cNvSpPr/>
          <p:nvPr/>
        </p:nvSpPr>
        <p:spPr>
          <a:xfrm>
            <a:off x="3243834" y="2528316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13-mark362"/>
          <p:cNvSpPr/>
          <p:nvPr/>
        </p:nvSpPr>
        <p:spPr>
          <a:xfrm flipV="1">
            <a:off x="3243834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13-mark363"/>
          <p:cNvSpPr/>
          <p:nvPr/>
        </p:nvSpPr>
        <p:spPr>
          <a:xfrm flipV="1">
            <a:off x="3627882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2" name="S13-mark364"/>
          <p:cNvSpPr/>
          <p:nvPr/>
        </p:nvSpPr>
        <p:spPr>
          <a:xfrm flipV="1">
            <a:off x="4011930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3" name="S13-chip365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4" name="S13-figure366" descr="정사각형 6개로 된 그림 나"/>
          <p:cNvSpPr/>
          <p:nvPr/>
        </p:nvSpPr>
        <p:spPr>
          <a:xfrm>
            <a:off x="8588502" y="2144268"/>
            <a:ext cx="1536192" cy="1152144"/>
          </a:xfrm>
          <a:custGeom>
            <a:avLst/>
            <a:gdLst/>
            <a:ahLst/>
            <a:cxnLst/>
            <a:rect l="l" t="t" r="r" b="b"/>
            <a:pathLst>
              <a:path w="1536192" h="1152144">
                <a:moveTo>
                  <a:pt x="0" y="384048"/>
                </a:moveTo>
                <a:lnTo>
                  <a:pt x="384048" y="384048"/>
                </a:lnTo>
                <a:lnTo>
                  <a:pt x="384048" y="768096"/>
                </a:lnTo>
                <a:lnTo>
                  <a:pt x="768096" y="768096"/>
                </a:lnTo>
                <a:lnTo>
                  <a:pt x="768096" y="1152144"/>
                </a:lnTo>
                <a:lnTo>
                  <a:pt x="1536192" y="1152144"/>
                </a:lnTo>
                <a:lnTo>
                  <a:pt x="1536192" y="768096"/>
                </a:lnTo>
                <a:lnTo>
                  <a:pt x="1152144" y="768096"/>
                </a:lnTo>
                <a:lnTo>
                  <a:pt x="1152144" y="384048"/>
                </a:lnTo>
                <a:lnTo>
                  <a:pt x="768096" y="384048"/>
                </a:lnTo>
                <a:lnTo>
                  <a:pt x="768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3-mark367"/>
          <p:cNvSpPr/>
          <p:nvPr/>
        </p:nvSpPr>
        <p:spPr>
          <a:xfrm>
            <a:off x="8972550" y="2528316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13-mark368"/>
          <p:cNvSpPr/>
          <p:nvPr/>
        </p:nvSpPr>
        <p:spPr>
          <a:xfrm>
            <a:off x="9356598" y="2912364"/>
            <a:ext cx="38404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7" name="S13-mark369"/>
          <p:cNvSpPr/>
          <p:nvPr/>
        </p:nvSpPr>
        <p:spPr>
          <a:xfrm flipV="1">
            <a:off x="8972550" y="2144268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8" name="S13-mark370"/>
          <p:cNvSpPr/>
          <p:nvPr/>
        </p:nvSpPr>
        <p:spPr>
          <a:xfrm flipV="1">
            <a:off x="9356598" y="2528316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9" name="S13-mark371"/>
          <p:cNvSpPr/>
          <p:nvPr/>
        </p:nvSpPr>
        <p:spPr>
          <a:xfrm flipV="1">
            <a:off x="9740646" y="2912364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0" name="S13-chip37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21" name="S13-figure373" descr="정사각형 6개로 된 그림 다"/>
          <p:cNvSpPr/>
          <p:nvPr/>
        </p:nvSpPr>
        <p:spPr>
          <a:xfrm>
            <a:off x="2859786" y="4027932"/>
            <a:ext cx="1536192" cy="768096"/>
          </a:xfrm>
          <a:custGeom>
            <a:avLst/>
            <a:gdLst/>
            <a:ahLst/>
            <a:cxnLst/>
            <a:rect l="l" t="t" r="r" b="b"/>
            <a:pathLst>
              <a:path w="1536192" h="768096">
                <a:moveTo>
                  <a:pt x="0" y="768096"/>
                </a:moveTo>
                <a:lnTo>
                  <a:pt x="1536192" y="768096"/>
                </a:lnTo>
                <a:lnTo>
                  <a:pt x="1536192" y="384048"/>
                </a:lnTo>
                <a:lnTo>
                  <a:pt x="768096" y="384048"/>
                </a:lnTo>
                <a:lnTo>
                  <a:pt x="7680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3-mark374"/>
          <p:cNvSpPr/>
          <p:nvPr/>
        </p:nvSpPr>
        <p:spPr>
          <a:xfrm>
            <a:off x="2859786" y="4411980"/>
            <a:ext cx="7680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3" name="S13-mark375"/>
          <p:cNvSpPr/>
          <p:nvPr/>
        </p:nvSpPr>
        <p:spPr>
          <a:xfrm flipV="1">
            <a:off x="3243834" y="4027932"/>
            <a:ext cx="0" cy="76809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4" name="S13-mark376"/>
          <p:cNvSpPr/>
          <p:nvPr/>
        </p:nvSpPr>
        <p:spPr>
          <a:xfrm flipV="1">
            <a:off x="3627882" y="4411980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13-mark377"/>
          <p:cNvSpPr/>
          <p:nvPr/>
        </p:nvSpPr>
        <p:spPr>
          <a:xfrm flipV="1">
            <a:off x="4011930" y="4411980"/>
            <a:ext cx="0" cy="384048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6" name="S13-chip378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7" name="S13-figure379" descr="정사각형 6개로 된 그림 라"/>
          <p:cNvSpPr/>
          <p:nvPr/>
        </p:nvSpPr>
        <p:spPr>
          <a:xfrm>
            <a:off x="8780526" y="4027932"/>
            <a:ext cx="1152144" cy="768096"/>
          </a:xfrm>
          <a:custGeom>
            <a:avLst/>
            <a:gdLst/>
            <a:ahLst/>
            <a:cxnLst/>
            <a:rect l="l" t="t" r="r" b="b"/>
            <a:pathLst>
              <a:path w="1152144" h="768096">
                <a:moveTo>
                  <a:pt x="0" y="768096"/>
                </a:moveTo>
                <a:lnTo>
                  <a:pt x="1152144" y="768096"/>
                </a:lnTo>
                <a:lnTo>
                  <a:pt x="11521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13-mark380"/>
          <p:cNvSpPr/>
          <p:nvPr/>
        </p:nvSpPr>
        <p:spPr>
          <a:xfrm>
            <a:off x="8780526" y="4411980"/>
            <a:ext cx="115214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13-mark381"/>
          <p:cNvSpPr/>
          <p:nvPr/>
        </p:nvSpPr>
        <p:spPr>
          <a:xfrm flipV="1">
            <a:off x="9164574" y="4027932"/>
            <a:ext cx="0" cy="76809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0" name="S13-mark382"/>
          <p:cNvSpPr/>
          <p:nvPr/>
        </p:nvSpPr>
        <p:spPr>
          <a:xfrm flipV="1">
            <a:off x="9548622" y="4027932"/>
            <a:ext cx="0" cy="76809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83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84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직육면체는 면 6개, 모서리 12개, 꼭짓점 8개예요. 겨냥도는 보이지 않는 모서리를 점선으로, 전개도는 접는 곳을 점선으로 그려요.</a:t>
            </a:r>
            <a:endParaRPr lang="ko-KR" sz="2800" dirty="0"/>
          </a:p>
        </p:txBody>
      </p:sp>
      <p:sp>
        <p:nvSpPr>
          <p:cNvPr id="5" name="S14-chip385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점선 모서리까지 세기</a:t>
            </a:r>
            <a:endParaRPr lang="ko-KR" sz="2200" dirty="0"/>
          </a:p>
        </p:txBody>
      </p:sp>
      <p:sp>
        <p:nvSpPr>
          <p:cNvPr id="6" name="S14-chip386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정육면체는 직육면체가 아님</a:t>
            </a:r>
            <a:endParaRPr lang="ko-KR" sz="2200" dirty="0"/>
          </a:p>
        </p:txBody>
      </p:sp>
      <p:sp>
        <p:nvSpPr>
          <p:cNvPr id="7" name="S14-text387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88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직육면체의 모서리는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200" dirty="0"/>
          </a:p>
        </p:txBody>
      </p:sp>
      <p:sp>
        <p:nvSpPr>
          <p:cNvPr id="9" name="S14-text389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겨냥도에서 보이지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꼭짓점은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200" dirty="0"/>
          </a:p>
        </p:txBody>
      </p:sp>
      <p:sp>
        <p:nvSpPr>
          <p:cNvPr id="10" name="S14-text390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직육면체에서 마주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면은 몇 쌍?</a:t>
            </a:r>
            <a:endParaRPr lang="ko-KR" sz="2200" dirty="0"/>
          </a:p>
        </p:txBody>
      </p:sp>
      <p:sp>
        <p:nvSpPr>
          <p:cNvPr id="11" name="S14-text3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다각형의 둘레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직사각형과 정사각형</a:t>
            </a:r>
            <a:endParaRPr lang="ko-KR" sz="4000" dirty="0"/>
          </a:p>
        </p:txBody>
      </p:sp>
      <p:sp>
        <p:nvSpPr>
          <p:cNvPr id="3" name="S15-card392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393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</a:t>
            </a:r>
            <a:endParaRPr lang="ko-KR" sz="2800" dirty="0"/>
          </a:p>
        </p:txBody>
      </p:sp>
      <p:sp>
        <p:nvSpPr>
          <p:cNvPr id="5" name="S15-card394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395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모두 직각, 네 변의 길이가 같음</a:t>
            </a:r>
            <a:endParaRPr lang="ko-KR" sz="2800" dirty="0"/>
          </a:p>
        </p:txBody>
      </p:sp>
      <p:sp>
        <p:nvSpPr>
          <p:cNvPr id="7" name="S15-figure396" descr="네 각이 직각인 직사각형"/>
          <p:cNvSpPr/>
          <p:nvPr/>
        </p:nvSpPr>
        <p:spPr>
          <a:xfrm>
            <a:off x="1984248" y="2088007"/>
            <a:ext cx="2514600" cy="1508760"/>
          </a:xfrm>
          <a:custGeom>
            <a:avLst/>
            <a:gdLst/>
            <a:ahLst/>
            <a:cxnLst/>
            <a:rect l="l" t="t" r="r" b="b"/>
            <a:pathLst>
              <a:path w="2514600" h="1508760">
                <a:moveTo>
                  <a:pt x="0" y="1508760"/>
                </a:moveTo>
                <a:lnTo>
                  <a:pt x="2514600" y="150876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397"/>
          <p:cNvSpPr/>
          <p:nvPr/>
        </p:nvSpPr>
        <p:spPr>
          <a:xfrm>
            <a:off x="1984248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5-mark398"/>
          <p:cNvSpPr/>
          <p:nvPr/>
        </p:nvSpPr>
        <p:spPr>
          <a:xfrm>
            <a:off x="4289298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399"/>
          <p:cNvSpPr/>
          <p:nvPr/>
        </p:nvSpPr>
        <p:spPr>
          <a:xfrm>
            <a:off x="4289298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400"/>
          <p:cNvSpPr/>
          <p:nvPr/>
        </p:nvSpPr>
        <p:spPr>
          <a:xfrm>
            <a:off x="1984248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mark401"/>
          <p:cNvSpPr/>
          <p:nvPr/>
        </p:nvSpPr>
        <p:spPr>
          <a:xfrm flipV="1">
            <a:off x="3241548" y="351294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mark402"/>
          <p:cNvSpPr/>
          <p:nvPr/>
        </p:nvSpPr>
        <p:spPr>
          <a:xfrm flipH="1">
            <a:off x="4415028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mark403"/>
          <p:cNvSpPr/>
          <p:nvPr/>
        </p:nvSpPr>
        <p:spPr>
          <a:xfrm flipH="1">
            <a:off x="4415028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5-mark404"/>
          <p:cNvSpPr/>
          <p:nvPr/>
        </p:nvSpPr>
        <p:spPr>
          <a:xfrm>
            <a:off x="3241548" y="200418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mark405"/>
          <p:cNvSpPr/>
          <p:nvPr/>
        </p:nvSpPr>
        <p:spPr>
          <a:xfrm>
            <a:off x="1900428" y="2803271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5-mark406"/>
          <p:cNvSpPr/>
          <p:nvPr/>
        </p:nvSpPr>
        <p:spPr>
          <a:xfrm>
            <a:off x="1900428" y="2881503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407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200" dirty="0"/>
          </a:p>
        </p:txBody>
      </p:sp>
      <p:sp>
        <p:nvSpPr>
          <p:cNvPr id="19" name="S15-figure408" descr="네 각이 직각이고 네 변의 길이가 같은 정사각형"/>
          <p:cNvSpPr/>
          <p:nvPr/>
        </p:nvSpPr>
        <p:spPr>
          <a:xfrm>
            <a:off x="8193024" y="2088007"/>
            <a:ext cx="1508760" cy="1508760"/>
          </a:xfrm>
          <a:custGeom>
            <a:avLst/>
            <a:gdLst/>
            <a:ahLst/>
            <a:cxnLst/>
            <a:rect l="l" t="t" r="r" b="b"/>
            <a:pathLst>
              <a:path w="1508760" h="1508760">
                <a:moveTo>
                  <a:pt x="0" y="1508760"/>
                </a:moveTo>
                <a:lnTo>
                  <a:pt x="1508760" y="1508760"/>
                </a:lnTo>
                <a:lnTo>
                  <a:pt x="15087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5-mark409"/>
          <p:cNvSpPr/>
          <p:nvPr/>
        </p:nvSpPr>
        <p:spPr>
          <a:xfrm>
            <a:off x="8193024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5-mark410"/>
          <p:cNvSpPr/>
          <p:nvPr/>
        </p:nvSpPr>
        <p:spPr>
          <a:xfrm>
            <a:off x="9492234" y="338721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20955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mark411"/>
          <p:cNvSpPr/>
          <p:nvPr/>
        </p:nvSpPr>
        <p:spPr>
          <a:xfrm>
            <a:off x="9492234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0" y="20955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5-mark412"/>
          <p:cNvSpPr/>
          <p:nvPr/>
        </p:nvSpPr>
        <p:spPr>
          <a:xfrm>
            <a:off x="8193024" y="208800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209550" y="20955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mark413"/>
          <p:cNvSpPr/>
          <p:nvPr/>
        </p:nvSpPr>
        <p:spPr>
          <a:xfrm flipV="1">
            <a:off x="8947404" y="351294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5-mark414"/>
          <p:cNvSpPr/>
          <p:nvPr/>
        </p:nvSpPr>
        <p:spPr>
          <a:xfrm flipH="1">
            <a:off x="9617964" y="2842387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mark415"/>
          <p:cNvSpPr/>
          <p:nvPr/>
        </p:nvSpPr>
        <p:spPr>
          <a:xfrm>
            <a:off x="8947404" y="2004187"/>
            <a:ext cx="0" cy="16764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5-mark416"/>
          <p:cNvSpPr/>
          <p:nvPr/>
        </p:nvSpPr>
        <p:spPr>
          <a:xfrm>
            <a:off x="8109204" y="2842387"/>
            <a:ext cx="16764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417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직육면체와 정육면체</dc:title>
  <dc:subject>KR22-G05-MAT-CUBOID-L01</dc:subject>
  <dc:creator>education-ppt</dc:creator>
  <cp:lastModifiedBy>education-ppt</cp:lastModifiedBy>
  <cp:revision>1</cp:revision>
  <dcterms:created xsi:type="dcterms:W3CDTF">2026-10-26T09:12:04Z</dcterms:created>
  <dcterms:modified xsi:type="dcterms:W3CDTF">2026-10-26T09:12:04Z</dcterms:modified>
</cp:coreProperties>
</file>