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6b36390-39d7-d9bf-f44d-7c076f69319d}">
          <p14:sldIdLst>
            <p14:sldId id="256"/>
            <p14:sldId id="257"/>
          </p14:sldIdLst>
        </p14:section>
        <p14:section name="개념" id="{97ff3533-e6d8-cca8-b45c-4bb077ef9a73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b1f1c1c7-1364-9ae3-e354-a96ee445c8eb}">
          <p14:sldIdLst>
            <p14:sldId id="261"/>
            <p14:sldId id="262"/>
            <p14:sldId id="265"/>
          </p14:sldIdLst>
        </p14:section>
        <p14:section name="개념" id="{54ab42f5-1f52-80c3-4aae-cc6174a7c5f4}">
          <p14:sldIdLst/>
        </p14:section>
        <p14:section name="연습" id="{969c1689-db9f-57fa-67d4-27c3cc2798ab}">
          <p14:sldIdLst/>
        </p14:section>
        <p14:section name="확인" id="{b09665e9-6d7e-b08b-d195-fb4112c23754}">
          <p14:sldIdLst>
            <p14:sldId id="266"/>
            <p14:sldId id="267"/>
            <p14:sldId id="268"/>
          </p14:sldIdLst>
        </p14:section>
        <p14:section name="정리" id="{de3e7b38-06be-b4a5-e3c9-034c79b7b411}">
          <p14:sldIdLst>
            <p14:sldId id="269"/>
          </p14:sldIdLst>
        </p14:section>
        <p14:section name="보충" id="{f2ae4878-0ef6-a8b1-d90f-7357137b38b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지금까지 배운 넓이 구하는 방법으로 사다리꼴의 넓이를 구할 수 있을지 궁금하게 합니다.
시간: 약 2분
이렇게 말해 보세요
- “오른쪽 도형의 이름이 뭐지? 평행한 변이 한 쌍 있지?”
- “직사각형, 평행사변형, 삼각형의 넓이는 구할 수 있어. 그런데 사다리꼴의 넓이는 어떻게 구할까? 방법을 먼저 예상해 보자.”
예상 답
- “사다리꼴이에요.”
- “칸을 세어요.” / “삼각형으로 잘라요.” / “모르겠어요.”
막히면
- 예상이 맞는지는 아직 말하지 않습니다. 아이의 예상을 종이에 적어 두고 S05 뒤에 다시 봅니다.
주의
- 모눈 한 칸은 가로·세로가 1 cm인 정사각형이고 넓이는 1 cm²입니다. 오늘 모눈 그림은 모두 이 크기로 생각합니다.
- 목표 두 가지를 소리 내어 읽어 주고, 아이에게 오늘 할 일을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확인(평행사변형·삼각형의 넓이)]
목적: 오늘 쓰는 두 식, 평행사변형의 넓이(밑변 × 높이)와 삼각형의 넓이(밑변 × 높이 ÷ 2)를 기억하는지 확인합니다.
시간: 약 3분
이렇게 말해 보세요
- “가는 평행사변형이야. 넓이를 구하는 식은 뭐였지? 높이는 어느 선이야?”
- “나는 삼각형이야. 평행사변형과 무엇이 다르지?”
정답
- 가: 6 × 3 = 18, 18 cm²
- 나: 6 × 4 ÷ 2 = 12, 12 cm²
- 가는 점선이 높이, 나는 직각 표시가 있는 왼쪽 변이 높이입니다. 높이는 밑변과 직각으로 만납니다.
막히면
- 식을 잊었으면 모눈 칸을 세어 보게 한 뒤, S15(보충)에서 평행사변형을 잘라 직사각형으로, 평행사변형을 반으로 잘라 삼각형으로 만드는 것을 함께 봅니다.
- 두 문제 모두 틀리면 S15를 한 뒤 S03으로 갑니다. 보충으로도 어려우면 초5 ‘평행사변형과 삼각형의 넓이’를 먼저 다시 합니다.
주의
- 삼각형에서 ÷ 2를 왜 하는지(똑같은 삼각형 2개가 평행사변형이 되기 때문) 말할 수 있으면 오늘 수업이 훨씬 쉽습니다. 한 번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사다리꼴의 윗변·아랫변·높이]
목적: 사다리꼴에서 평행한 두 변(밑변)을 윗변·아랫변이라 하고, 두 밑변 사이의 거리를 높이라고 한다는 것을 압니다.
시간: 약 3분
이렇게 말해 보세요
- “사다리꼴에서 평행한 두 변을 찾아볼까? 위에 있는 것을 윗변, 아래에 있는 것을 아랫변이라고 해.”
- “점선은 윗변에서 아랫변까지 곧게 내린 선이야. 이 길이를 높이라고 해. 점선과 아랫변이 만나는 곳에 어떤 표시가 있어?”
예상 답
- “직각 표시가 있어요.”
- “높이는 기울어진 변이 아니에요.”
막히면
- 삼각자의 직각을 아랫변에 대고 윗변까지 그어 보게 합니다. 어디에 그어도 길이가 같다는 것을 자로 재어 봅니다.
주의
- 윗변·아랫변은 놓인 위치에 따른 이름입니다. 사다리꼴을 뒤집으면 윗변과 아랫변이 바뀌지만 넓이는 같습니다.
- 기울어진 변(옆변)은 높이가 아닙니다. 이 실수는 S07에서 다시 다룹니다(M1).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사다리꼴 2개로 평행사변형 만들기(넓이 이끌어 내기)]
목적: 똑같은 사다리꼴 2개를 돌려 붙이면 평행사변형이 되고, 사다리꼴의 넓이는 그 평행사변형 넓이의 절반이라는 것을 보여 줍니다.
시간: 약 4분
이렇게 말해 보세요
- “모눈종이에 그린 똑같은 사다리꼴 2개를 오려 볼까? 하나를 거꾸로 돌려서 옆에 붙여 봐. 어떤 도형이 됐어?”
- “새로 생긴 평행사변형의 밑변은 몇 cm야? 사다리꼴의 윗변과 아랫변으로 말해 볼래?”
- “평행사변형의 넓이는 밑변 × 높이였지? 사다리꼴 한 개의 넓이는 얼마일까? 왜 반으로 나눠?”
예상 답
- “평행사변형이 돼요.”
- “밑변은 3 + 5 = 8 cm예요.”
- “8 × 4 = 32, 사다리꼴은 2개 중 1개니까 32 ÷ 2 = 16 cm²예요.”
막히면
- 실제로 오린 사다리꼴 2개를 겹쳐 똑같은지 먼저 확인하고, 하나를 180° 돌려 붙이는 것을 부모가 보여 줍니다.
- 밑변이 헷갈리면 노란 사다리꼴의 윗변 3 cm가 평행사변형의 아래쪽으로 내려와 5 cm와 이어진 것을 손가락으로 따라가게 합니다.
주의
- 준비: 수업 전에 모눈종이에 윗변 3칸, 아랫변 5칸, 높이 4칸인 사다리꼴 2개를 그려 둡니다(그림과 같은 모양).
- ‘÷ 2’는 사다리꼴이 2개였기 때문이라는 까닭을 꼭 말하게 합니다. 까닭 없이 식만 외우면 ÷ 2를 자주 빠뜨립니다(M2).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삼각형 2개로 잘라 확인하고 식으로 정리]
목적: 다른 방법(삼각형 2개로 나누기)으로 구해도 넓이가 같다는 것을 확인하고, 사다리꼴의 넓이를 구하는 식으로 정리합니다.
시간: 약 3분
이렇게 말해 보세요
- “이번에는 사다리꼴 한 개를 대각선으로 잘라 볼게. 삼각형 2개가 생기지? 두 삼각형의 높이는 각각 얼마야?”
- “큰 삼각형과 작은 삼각형의 넓이를 더하면? S04에서 구한 답과 같아?”
- “두 방법 모두 윗변과 아랫변을 더하고, 높이를 곱하고, 2로 나눴어. 이걸 식으로 쓰면 아래 노란 줄과 같아.”
예상 답
- “둘 다 높이가 4 cm예요.”
- “10 + 6 = 16, 똑같아요.”
막히면
- 작은 삼각형의 밑변이 위쪽(윗변 3 cm)에 있어서 헷갈려 합니다. 그림을 거꾸로 돌려 보여 주면 3 cm가 밑변, 4 cm가 높이인 삼각형이 보입니다.
주의
- 5 × 4 ÷ 2 + 3 × 4 ÷ 2 = (5 + 3) × 4 ÷ 2 입니다. 두 삼각형의 높이가 같아서 밑변끼리 먼저 더해도 된다는 것을 보여 줍니다.
- S01에서 적어 둔 아이의 예상과 비교해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연습(식의 순서대로 구하기)]
목적: 도움을 받으며 식의 순서(더하고 → 높이를 곱하고 → 2로 나누기)대로 사다리꼴의 넓이를 구합니다.
시간: 약 3분
이렇게 말해 보세요
- “윗변과 아랫변은 몇 cm야? 높이는 어디야? 이 사다리꼴은 왼쪽 변에 직각 표시가 있지?”
- “①부터 차례로 해 보자. ②에서 구한 수는 무엇의 넓이일까?”
정답
- ① 4 + 7 = 11 (cm)
- ② 11 × 4 = 44 (cm²) — 사다리꼴 2개를 붙인 평행사변형의 넓이
- ③ 44 ÷ 2 = 22, 22 cm²
막히면
- 높이를 못 찾으면 직각 표시를 가리키며 “윗변과 아랫변 둘 다와 직각으로 만나는 변은?”이라고 묻습니다.
- 다른 방법으로 확인해도 됩니다. 왼쪽 정사각형 4 × 4 = 16과 오른쪽 삼각형 3 × 4 ÷ 2 = 6을 더하면 22입니다.
주의
- 이 사다리꼴처럼 한 변이 높이와 같은 사다리꼴(직각 사다리꼴)도 식은 똑같습니다.
- ②에서 멈추고 44 cm²라고 답하면 S04의 사다리꼴 2개 그림을 다시 보여 줍니다(M2).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비교(옆변을 높이로 쓰기)]
목적: 기울어진 옆변의 길이를 높이로 쓰는 실수(M1)를 그림으로 바로잡습니다.
시간: 약 3분
이렇게 말해 보세요
- “토끼와 곰이 같은 사다리꼴의 넓이를 구했는데 답이 달라. 무엇이 달라?”
- “5 cm인 변은 윗변, 아랫변과 직각으로 만나? 높이는 어느 선이야?”
예상 답
- “곰이 맞아요. 높이는 직각으로 그은 점선 4 cm예요. 5 cm는 기울어진 변이에요.”
정답
- 곰이 맞습니다. (3 + 9) × 4 ÷ 2 = 24, 24 cm²
- 토끼는 기울어진 옆변 5 cm를 높이로 썼습니다. 옆변은 밑변과 직각이 아니어서 높이보다 깁니다.
막히면
- 모눈에서 점선을 세면 4칸, 옆변은 비스듬히 가서 칸 수로 셀 수 없다는 것을 보여 줍니다. 자를 대고 높이(4 cm)와 옆변(5 cm)을 비교해도 좋습니다.
주의
- 삼각형·평행사변형에서도 같은 실수를 합니다. ‘높이는 직각 표시를 찾는다’를 한 번 더 말하게 합니다.
- 지치면 여기서 쉬고, 다음 날 S08부터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마름모를 직사각형의 절반으로 보기(넓이 이끌어 내기)]
목적: 마름모의 네 꼭짓점을 지나는 직사각형을 그리면 마름모가 그 직사각형의 절반이라는 것을 보여 줍니다.
시간: 약 3분
이렇게 말해 보세요
- “마름모의 두 대각선은 각각 몇 cm야? 모눈 칸을 세어 볼까?”
- “마름모의 꼭짓점을 지나게 직사각형을 그렸어. 직사각형의 가로와 세로는 마름모의 무엇과 길이가 같아?”
- “대각선이 마름모를 조각 4개로 나눴지? 노란 귀퉁이 조각과 비교하면 어때? 그러면 마름모는 직사각형의 얼마야?”
예상 답
- “가로는 6 cm 대각선, 세로는 4 cm 대각선과 같아요.”
- “조각이 똑같아서 마름모는 직사각형의 반이에요. 24 ÷ 2 = 12 cm²예요.”
막히면
- 모눈종이에 직사각형을 그리고 대각선을 그은 뒤, 노란 귀퉁이 한 조각을 오려 마름모 안 조각에 겹쳐 보게 합니다.
주의
- 마름모의 두 대각선은 서로 수직으로 만나고 서로를 반으로 나눕니다. 그래서 조각 8개가 모두 똑같습니다(설명이 길어지면 겹쳐 보기만 합니다).
- 마름모의 넓이를 한 변 × 한 변으로 구하는 실수가 많습니다. 정사각형이 아니면 틀린 방법입니다(M3, S10).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삼각형 2개로 확인하고 마름모의 넓이를 식으로 정리]
목적: 삼각형 2개로 잘라도 S08과 같은 넓이가 나오는 것을 확인하고, 마름모의 넓이를 구하는 식으로 정리합니다.
시간: 약 3분
이렇게 말해 보세요
- “가로 대각선을 따라 자르면 삼각형 2개가 생겨. 밑변은 몇 cm야? 높이는?”
- “두 삼각형의 높이 2 cm와 2 cm를 더하면 무엇의 길이와 같아?”
- “그래서 마름모의 넓이는 한 대각선 × 다른 대각선 ÷ 2야. 6 × 4 ÷ 2를 계산해 볼래?”
예상 답
- “밑변 6 cm, 높이 2 cm예요.”
- “2 + 2 = 4, 세로 대각선이에요.”
- “6 × 4 ÷ 2 = 12, S08과 같아요.”
막히면
- S08 그림으로 돌아가 ‘직사각형의 절반’이라는 말을 다시 하게 합니다. 두 방법 중 아이가 이해한 한 가지로 설명해도 됩니다.
주의
- 어느 대각선을 먼저 곱해도 답은 같습니다(6 × 4 = 4 × 6).
- 정사각형도 마름모이므로 이 식으로 넓이를 구할 수 있습니다. 아이가 궁금해하면만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연습(마름모의 넓이)]
목적: 도움을 받으며 대각선의 길이를 찾아 마름모의 넓이를 구합니다. 가에는 일부러 한 변의 길이도 적어 두었습니다.
시간: 약 3분
이렇게 말해 보세요
- “가의 두 대각선은 몇 cm야? 5 cm는 무엇의 길이일까?”
- “나는 모눈 칸을 세어 대각선의 길이를 알아내 보자.”
정답
- 가: 8 × 6 ÷ 2 = 24, 24 cm² (5 cm는 한 변의 길이라서 쓰지 않습니다.)
- 나: 대각선 8 cm, 4 cm → 8 × 4 ÷ 2 = 16, 16 cm²
막히면
- 가에서 5 × 5 = 25라고 하면 “그건 정사각형의 넓이 구하는 방법이야. 이 도형은 네 각이 직각이야?”라고 묻고 S08로 돌아갑니다(M3).
- 나에서 대각선을 못 세면 점선을 따라 손가락으로 한 칸씩 짚게 합니다.
주의
- 나는 둘러싼 직사각형(8 × 4 = 32)의 절반으로 생각해도 16 cm²입니다. S08과 같은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사다리꼴과 마름모의 넓이를 구하고, 식의 까닭을 말하는지 확인합니다.
시간: 약 4분
이렇게 말해 보세요
- “이번에는 혼자 해 볼래? ③은 모눈 한 칸이 1 cm야. 다 하면 ④의 까닭도 말해 줘.”
정답
- ① (5 + 9) × 4 ÷ 2 = 28, 28 cm²
- ② 12 × 5 ÷ 2 = 30, 30 cm²
- ③ 윗변 2 cm, 아랫변 6 cm, 높이 5 cm → (2 + 6) × 5 ÷ 2 = 20, 20 cm²
- ④ 기준: ‘똑같은 사다리꼴 2개를 붙이면 평행사변형이 되고, 사다리꼴은 그 절반이라서’라는 내용이면 맞습니다.
막히면
- 바로 알려 주지 말고 “윗변, 아랫변, 높이는 어디야?” 또는 “대각선은 어디야?”라고만 묻습니다.
- 도움을 받아 해결했다면 기록표에 ‘도움’으로 표시합니다.
주의
- ④를 ‘원래 그렇게 하니까’라고 답하면 목표 A는 아직 확인되지 않은 것입니다. S04 그림을 보여 주고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어느 단계에서 달라졌는지 찾아보자.”
정답
- ① 28 cm² ② 30 cm² ③ 20 cm² ④ 똑같은 사다리꼴 2개를 붙이면 평행사변형이 되고 사다리꼴은 그 절반이기 때문
막히면
- ③에서 칸 수를 잘못 세었으면 윗변·아랫변·높이를 색연필로 칠하며 다시 셉니다.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확인(넓이 비교)]
목적: 처음 보는 그림에서 윗변·아랫변·높이와 대각선을 스스로 찾아 넓이를 구하고 비교하는지 확인합니다.
시간: 약 2분
이렇게 말해 보세요
- “세 도형의 넓이를 구해 볼까? 넓이가 다른 하나는 무엇이고, 어떻게 알았어?”
정답
- 다
- 가: (2 + 4) × 4 ÷ 2 = 12 cm²
- 나: 6 × 4 ÷ 2 = 12 cm²
- 다: (2 + 6) × 4 ÷ 2 = 16 cm²
막히면
- 모눈에서 윗변·아랫변·높이(또는 두 대각선)를 손가락으로 짚으며 칸 수를 먼저 세게 합니다.
주의
- 모양이 달라도 넓이는 같을 수 있습니다. 가와 나는 모양이 다르지만 넓이가 같습니다.
- 식과 답을 모두 말하면 확인 완료입니다. 답만 고르면 ‘이유 설명 필요’로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“사다리꼴의 넓이와 마름모의 넓이를 구하는 식을 말해 볼래? 왜 2로 나누는지도.”
- “다음 수업을 시작할 때 이 세 문제를 먼저 풀 거야.”
예상 답
- “사다리꼴은 윗변과 아랫변을 더해서 높이를 곱하고 반으로 나눠요. 2개를 붙이면 평행사변형이 되니까요.”
정답
- ① (3 + 5) × 6 ÷ 2 = 24, 24 cm²
- ② 7 × 4 ÷ 2 = 14, 14 cm²
- ③ 똑같은 사다리꼴 2개를 붙이면 평행사변형이 되고, 사다리꼴은 그 절반이기 때문
막히면
- 식이 떠오르지 않으면 S04·S08 그림을 다시 보여 주고 그림으로 설명하게 합니다.
주의
- 다음 차시(평균)는 새 단원(자료)입니다. 복습 세 문제는 활동지 마지막 쪽과 함께 풉니다.
- S11·S13 결과를 활동지 기록표에 적어 두면 복습이 더 필요한지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보충(평행사변형과 삼각형의 넓이)]
목적: S02에서 평행사변형이나 삼각형의 넓이가 흔들리면, 오늘 내용 전에 두 식과 그 까닭을 다시 익힙니다.
시간: 약 5분
이렇게 말해 보세요
- “평행사변형의 왼쪽 삼각형 부분을 잘라 오른쪽에 붙이면 직사각형이 돼. 그래서 평행사변형의 넓이는 밑변 × 높이야.”
- “평행사변형을 대각선으로 자르면 똑같은 삼각형 2개가 생겨. 삼각형 하나의 넓이는 평행사변형의 얼마일까?”
정답
- 평행사변형: 6 × 3 = 18 cm²
- 삼각형 한 개: 6 × 3 ÷ 2 = 9 cm²
막히면
- 모눈종이에 같은 평행사변형을 그려 오린 뒤, 대각선으로 잘라 두 삼각형을 겹쳐 보게 합니다.
- 칸 세기로 확인해도 됩니다. 평행사변형은 18칸, 삼각형은 그 절반인 9칸입니다.
주의
- 보충으로도 어려우면 초5 ‘평행사변형과 삼각형의 넓이’를 먼저 다시 합니다. 넓이의 단위(cm²)가 낯설면 초5 ‘직사각형의 넓이’부터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사다리꼴과 마름모의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사다리꼴과 마름모의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사다리꼴과 마름모의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사다리꼴과 마름모의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넓이는 어떻게 구할까?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497570" y="1183640"/>
            <a:ext cx="2298700" cy="1838960"/>
          </a:xfrm>
          <a:custGeom>
            <a:avLst/>
            <a:gdLst/>
            <a:ahLst/>
            <a:cxnLst/>
            <a:rect l="l" t="t" r="r" b="b"/>
            <a:pathLst>
              <a:path w="2298700" h="1838960">
                <a:moveTo>
                  <a:pt x="0" y="1838960"/>
                </a:moveTo>
                <a:lnTo>
                  <a:pt x="2298700" y="1838960"/>
                </a:lnTo>
                <a:lnTo>
                  <a:pt x="1838960" y="0"/>
                </a:lnTo>
                <a:lnTo>
                  <a:pt x="45974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 flipV="1">
            <a:off x="803783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49757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95731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41705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987679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1033653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079627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125601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037830" y="348234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037830" y="302260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037830" y="256286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8037830" y="210312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8037830" y="164338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8037830" y="118364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8037830" y="72390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1-figure18" descr="모눈 위의 사다리꼴: 윗변 3칸, 아랫변 5칸, 높이 4칸"/>
          <p:cNvSpPr/>
          <p:nvPr/>
        </p:nvSpPr>
        <p:spPr>
          <a:xfrm>
            <a:off x="8497570" y="1183640"/>
            <a:ext cx="2298700" cy="1838960"/>
          </a:xfrm>
          <a:custGeom>
            <a:avLst/>
            <a:gdLst/>
            <a:ahLst/>
            <a:cxnLst/>
            <a:rect l="l" t="t" r="r" b="b"/>
            <a:pathLst>
              <a:path w="2298700" h="1838960">
                <a:moveTo>
                  <a:pt x="0" y="1838960"/>
                </a:moveTo>
                <a:lnTo>
                  <a:pt x="2298700" y="1838960"/>
                </a:lnTo>
                <a:lnTo>
                  <a:pt x="1838960" y="0"/>
                </a:lnTo>
                <a:lnTo>
                  <a:pt x="45974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사다리꼴 2개를 붙여 넓이 구하는 방법을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마름모의 넓이를 두 대각선으로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평행사변형과 삼각형의 넓이를 구해요.</a:t>
            </a:r>
            <a:endParaRPr lang="ko-KR" sz="2800" dirty="0"/>
          </a:p>
        </p:txBody>
      </p:sp>
      <p:sp>
        <p:nvSpPr>
          <p:cNvPr id="4" name="S02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나의 넓이를 식으로 말해요.</a:t>
            </a:r>
            <a:endParaRPr lang="ko-KR" sz="2800" dirty="0"/>
          </a:p>
        </p:txBody>
      </p:sp>
      <p:sp>
        <p:nvSpPr>
          <p:cNvPr id="6" name="S02-chip24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2-mark25"/>
          <p:cNvSpPr/>
          <p:nvPr/>
        </p:nvSpPr>
        <p:spPr>
          <a:xfrm>
            <a:off x="1842668" y="3397910"/>
            <a:ext cx="2774899" cy="1040587"/>
          </a:xfrm>
          <a:custGeom>
            <a:avLst/>
            <a:gdLst/>
            <a:ahLst/>
            <a:cxnLst/>
            <a:rect l="l" t="t" r="r" b="b"/>
            <a:pathLst>
              <a:path w="2774899" h="1040587">
                <a:moveTo>
                  <a:pt x="0" y="1040587"/>
                </a:moveTo>
                <a:lnTo>
                  <a:pt x="2081174" y="1040587"/>
                </a:lnTo>
                <a:lnTo>
                  <a:pt x="2774899" y="0"/>
                </a:lnTo>
                <a:lnTo>
                  <a:pt x="69372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2-mark26"/>
          <p:cNvSpPr/>
          <p:nvPr/>
        </p:nvSpPr>
        <p:spPr>
          <a:xfrm flipV="1">
            <a:off x="149580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27"/>
          <p:cNvSpPr/>
          <p:nvPr/>
        </p:nvSpPr>
        <p:spPr>
          <a:xfrm flipV="1">
            <a:off x="184266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28"/>
          <p:cNvSpPr/>
          <p:nvPr/>
        </p:nvSpPr>
        <p:spPr>
          <a:xfrm flipV="1">
            <a:off x="2189531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29"/>
          <p:cNvSpPr/>
          <p:nvPr/>
        </p:nvSpPr>
        <p:spPr>
          <a:xfrm flipV="1">
            <a:off x="2536393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30"/>
          <p:cNvSpPr/>
          <p:nvPr/>
        </p:nvSpPr>
        <p:spPr>
          <a:xfrm flipV="1">
            <a:off x="288325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31"/>
          <p:cNvSpPr/>
          <p:nvPr/>
        </p:nvSpPr>
        <p:spPr>
          <a:xfrm flipV="1">
            <a:off x="323011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32"/>
          <p:cNvSpPr/>
          <p:nvPr/>
        </p:nvSpPr>
        <p:spPr>
          <a:xfrm flipV="1">
            <a:off x="357698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33"/>
          <p:cNvSpPr/>
          <p:nvPr/>
        </p:nvSpPr>
        <p:spPr>
          <a:xfrm flipV="1">
            <a:off x="3923843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34"/>
          <p:cNvSpPr/>
          <p:nvPr/>
        </p:nvSpPr>
        <p:spPr>
          <a:xfrm flipV="1">
            <a:off x="4270705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35"/>
          <p:cNvSpPr/>
          <p:nvPr/>
        </p:nvSpPr>
        <p:spPr>
          <a:xfrm flipV="1">
            <a:off x="461756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36"/>
          <p:cNvSpPr/>
          <p:nvPr/>
        </p:nvSpPr>
        <p:spPr>
          <a:xfrm flipV="1">
            <a:off x="496443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37"/>
          <p:cNvSpPr/>
          <p:nvPr/>
        </p:nvSpPr>
        <p:spPr>
          <a:xfrm>
            <a:off x="1495806" y="4785360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38"/>
          <p:cNvSpPr/>
          <p:nvPr/>
        </p:nvSpPr>
        <p:spPr>
          <a:xfrm>
            <a:off x="1495806" y="4438498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39"/>
          <p:cNvSpPr/>
          <p:nvPr/>
        </p:nvSpPr>
        <p:spPr>
          <a:xfrm>
            <a:off x="1495806" y="4091635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40"/>
          <p:cNvSpPr/>
          <p:nvPr/>
        </p:nvSpPr>
        <p:spPr>
          <a:xfrm>
            <a:off x="1495806" y="3744773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mark41"/>
          <p:cNvSpPr/>
          <p:nvPr/>
        </p:nvSpPr>
        <p:spPr>
          <a:xfrm>
            <a:off x="1495806" y="3397910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2-mark42"/>
          <p:cNvSpPr/>
          <p:nvPr/>
        </p:nvSpPr>
        <p:spPr>
          <a:xfrm>
            <a:off x="1495806" y="3051048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2-figure43" descr="모눈 위의 평행사변형: 밑변 6 cm, 높이 3 cm(점선)"/>
          <p:cNvSpPr/>
          <p:nvPr/>
        </p:nvSpPr>
        <p:spPr>
          <a:xfrm>
            <a:off x="1842668" y="3397910"/>
            <a:ext cx="2774899" cy="1040587"/>
          </a:xfrm>
          <a:custGeom>
            <a:avLst/>
            <a:gdLst/>
            <a:ahLst/>
            <a:cxnLst/>
            <a:rect l="l" t="t" r="r" b="b"/>
            <a:pathLst>
              <a:path w="2774899" h="1040587">
                <a:moveTo>
                  <a:pt x="0" y="1040587"/>
                </a:moveTo>
                <a:lnTo>
                  <a:pt x="2081174" y="1040587"/>
                </a:lnTo>
                <a:lnTo>
                  <a:pt x="2774899" y="0"/>
                </a:lnTo>
                <a:lnTo>
                  <a:pt x="69372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2-mark44"/>
          <p:cNvSpPr/>
          <p:nvPr/>
        </p:nvSpPr>
        <p:spPr>
          <a:xfrm>
            <a:off x="2536393" y="422894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2-mark45"/>
          <p:cNvSpPr/>
          <p:nvPr/>
        </p:nvSpPr>
        <p:spPr>
          <a:xfrm>
            <a:off x="2536393" y="3397910"/>
            <a:ext cx="0" cy="104058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2-label47"/>
          <p:cNvSpPr txBox="1"/>
          <p:nvPr/>
        </p:nvSpPr>
        <p:spPr>
          <a:xfrm>
            <a:off x="2501494" y="451533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29" name="S02-label49"/>
          <p:cNvSpPr txBox="1"/>
          <p:nvPr/>
        </p:nvSpPr>
        <p:spPr>
          <a:xfrm>
            <a:off x="2584907" y="374357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0" name="S02-chip50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1" name="S02-mark51"/>
          <p:cNvSpPr/>
          <p:nvPr/>
        </p:nvSpPr>
        <p:spPr>
          <a:xfrm>
            <a:off x="8091678" y="3340100"/>
            <a:ext cx="1734312" cy="1156208"/>
          </a:xfrm>
          <a:custGeom>
            <a:avLst/>
            <a:gdLst/>
            <a:ahLst/>
            <a:cxnLst/>
            <a:rect l="l" t="t" r="r" b="b"/>
            <a:pathLst>
              <a:path w="1734312" h="1156208">
                <a:moveTo>
                  <a:pt x="0" y="1156208"/>
                </a:moveTo>
                <a:lnTo>
                  <a:pt x="1734312" y="1156208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2" name="S02-mark52"/>
          <p:cNvSpPr/>
          <p:nvPr/>
        </p:nvSpPr>
        <p:spPr>
          <a:xfrm flipV="1">
            <a:off x="780262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2-mark53"/>
          <p:cNvSpPr/>
          <p:nvPr/>
        </p:nvSpPr>
        <p:spPr>
          <a:xfrm flipV="1">
            <a:off x="809167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2-mark54"/>
          <p:cNvSpPr/>
          <p:nvPr/>
        </p:nvSpPr>
        <p:spPr>
          <a:xfrm flipV="1">
            <a:off x="838073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2-mark55"/>
          <p:cNvSpPr/>
          <p:nvPr/>
        </p:nvSpPr>
        <p:spPr>
          <a:xfrm flipV="1">
            <a:off x="8669782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2-mark56"/>
          <p:cNvSpPr/>
          <p:nvPr/>
        </p:nvSpPr>
        <p:spPr>
          <a:xfrm flipV="1">
            <a:off x="8958834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2-mark57"/>
          <p:cNvSpPr/>
          <p:nvPr/>
        </p:nvSpPr>
        <p:spPr>
          <a:xfrm flipV="1">
            <a:off x="924788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2-mark58"/>
          <p:cNvSpPr/>
          <p:nvPr/>
        </p:nvSpPr>
        <p:spPr>
          <a:xfrm flipV="1">
            <a:off x="953693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2-mark59"/>
          <p:cNvSpPr/>
          <p:nvPr/>
        </p:nvSpPr>
        <p:spPr>
          <a:xfrm flipV="1">
            <a:off x="982599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2-mark60"/>
          <p:cNvSpPr/>
          <p:nvPr/>
        </p:nvSpPr>
        <p:spPr>
          <a:xfrm flipV="1">
            <a:off x="10115042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2-mark61"/>
          <p:cNvSpPr/>
          <p:nvPr/>
        </p:nvSpPr>
        <p:spPr>
          <a:xfrm>
            <a:off x="7802626" y="4785360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2-mark62"/>
          <p:cNvSpPr/>
          <p:nvPr/>
        </p:nvSpPr>
        <p:spPr>
          <a:xfrm>
            <a:off x="7802626" y="4496308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2-mark63"/>
          <p:cNvSpPr/>
          <p:nvPr/>
        </p:nvSpPr>
        <p:spPr>
          <a:xfrm>
            <a:off x="7802626" y="4207256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2-mark64"/>
          <p:cNvSpPr/>
          <p:nvPr/>
        </p:nvSpPr>
        <p:spPr>
          <a:xfrm>
            <a:off x="7802626" y="3918204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2-mark65"/>
          <p:cNvSpPr/>
          <p:nvPr/>
        </p:nvSpPr>
        <p:spPr>
          <a:xfrm>
            <a:off x="7802626" y="3629152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2-mark66"/>
          <p:cNvSpPr/>
          <p:nvPr/>
        </p:nvSpPr>
        <p:spPr>
          <a:xfrm>
            <a:off x="7802626" y="3340100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2-mark67"/>
          <p:cNvSpPr/>
          <p:nvPr/>
        </p:nvSpPr>
        <p:spPr>
          <a:xfrm>
            <a:off x="7802626" y="3051048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2-figure68" descr="모눈 위의 직각삼각형: 밑변 6 cm, 높이 4 cm(직각 표시가 있는 왼쪽 변)"/>
          <p:cNvSpPr/>
          <p:nvPr/>
        </p:nvSpPr>
        <p:spPr>
          <a:xfrm>
            <a:off x="8091678" y="3340100"/>
            <a:ext cx="1734312" cy="1156208"/>
          </a:xfrm>
          <a:custGeom>
            <a:avLst/>
            <a:gdLst/>
            <a:ahLst/>
            <a:cxnLst/>
            <a:rect l="l" t="t" r="r" b="b"/>
            <a:pathLst>
              <a:path w="1734312" h="1156208">
                <a:moveTo>
                  <a:pt x="0" y="1156208"/>
                </a:moveTo>
                <a:lnTo>
                  <a:pt x="1734312" y="1156208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9" name="S02-mark69"/>
          <p:cNvSpPr/>
          <p:nvPr/>
        </p:nvSpPr>
        <p:spPr>
          <a:xfrm>
            <a:off x="8091678" y="428675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2-label71"/>
          <p:cNvSpPr txBox="1"/>
          <p:nvPr/>
        </p:nvSpPr>
        <p:spPr>
          <a:xfrm>
            <a:off x="8577072" y="457314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51" name="S02-label73"/>
          <p:cNvSpPr txBox="1"/>
          <p:nvPr/>
        </p:nvSpPr>
        <p:spPr>
          <a:xfrm>
            <a:off x="7279640" y="374357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윗변, 아랫변, 높이</a:t>
            </a:r>
            <a:endParaRPr lang="ko-KR" sz="4000" dirty="0"/>
          </a:p>
        </p:txBody>
      </p:sp>
      <p:sp>
        <p:nvSpPr>
          <p:cNvPr id="3" name="S03-figure74" descr="사다리꼴: 위의 평행한 변은 윗변, 아래의 평행한 변은 아랫변, 두 변 사이에 수직으로 그은 점선은 높이"/>
          <p:cNvSpPr/>
          <p:nvPr/>
        </p:nvSpPr>
        <p:spPr>
          <a:xfrm>
            <a:off x="944118" y="1943100"/>
            <a:ext cx="4572000" cy="3657600"/>
          </a:xfrm>
          <a:custGeom>
            <a:avLst/>
            <a:gdLst/>
            <a:ahLst/>
            <a:cxnLst/>
            <a:rect l="l" t="t" r="r" b="b"/>
            <a:pathLst>
              <a:path w="4572000" h="3657600">
                <a:moveTo>
                  <a:pt x="0" y="3657600"/>
                </a:moveTo>
                <a:lnTo>
                  <a:pt x="4572000" y="3657600"/>
                </a:lnTo>
                <a:lnTo>
                  <a:pt x="36576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75"/>
          <p:cNvSpPr/>
          <p:nvPr/>
        </p:nvSpPr>
        <p:spPr>
          <a:xfrm>
            <a:off x="2772918" y="53911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3-mark76"/>
          <p:cNvSpPr/>
          <p:nvPr/>
        </p:nvSpPr>
        <p:spPr>
          <a:xfrm>
            <a:off x="2772918" y="1943100"/>
            <a:ext cx="0" cy="365760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03-label78"/>
          <p:cNvSpPr txBox="1"/>
          <p:nvPr/>
        </p:nvSpPr>
        <p:spPr>
          <a:xfrm>
            <a:off x="2764536" y="567753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아랫변</a:t>
            </a:r>
            <a:endParaRPr lang="ko-KR" sz="2200" dirty="0"/>
          </a:p>
        </p:txBody>
      </p:sp>
      <p:sp>
        <p:nvSpPr>
          <p:cNvPr id="7" name="S03-label80"/>
          <p:cNvSpPr txBox="1"/>
          <p:nvPr/>
        </p:nvSpPr>
        <p:spPr>
          <a:xfrm>
            <a:off x="2901442" y="151701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</a:t>
            </a:r>
            <a:endParaRPr lang="ko-KR" sz="2200" dirty="0"/>
          </a:p>
        </p:txBody>
      </p:sp>
      <p:sp>
        <p:nvSpPr>
          <p:cNvPr id="8" name="S03-label82"/>
          <p:cNvSpPr txBox="1"/>
          <p:nvPr/>
        </p:nvSpPr>
        <p:spPr>
          <a:xfrm>
            <a:off x="2801874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9" name="S03-card83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84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윗변과 아랫변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두 변이에요.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윗변, 아래는 아랫변</a:t>
            </a:r>
            <a:endParaRPr lang="ko-KR" sz="2800" dirty="0"/>
          </a:p>
        </p:txBody>
      </p:sp>
      <p:sp>
        <p:nvSpPr>
          <p:cNvPr id="11" name="S03-card85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86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 사이의 거리예요.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변과 직각으로 만나요.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 2개를 붙이면</a:t>
            </a:r>
            <a:endParaRPr lang="ko-KR" sz="4000" dirty="0"/>
          </a:p>
        </p:txBody>
      </p:sp>
      <p:sp>
        <p:nvSpPr>
          <p:cNvPr id="3" name="S04-mark87"/>
          <p:cNvSpPr/>
          <p:nvPr/>
        </p:nvSpPr>
        <p:spPr>
          <a:xfrm>
            <a:off x="7039217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0" y="1706326"/>
                </a:moveTo>
                <a:lnTo>
                  <a:pt x="2132907" y="1706326"/>
                </a:lnTo>
                <a:lnTo>
                  <a:pt x="1706326" y="0"/>
                </a:lnTo>
                <a:lnTo>
                  <a:pt x="42658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4-mark88"/>
          <p:cNvSpPr/>
          <p:nvPr/>
        </p:nvSpPr>
        <p:spPr>
          <a:xfrm>
            <a:off x="8745543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426581" y="1706326"/>
                </a:moveTo>
                <a:lnTo>
                  <a:pt x="1706326" y="1706326"/>
                </a:lnTo>
                <a:lnTo>
                  <a:pt x="213290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4-mark89"/>
          <p:cNvSpPr/>
          <p:nvPr/>
        </p:nvSpPr>
        <p:spPr>
          <a:xfrm flipV="1">
            <a:off x="6612636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4-mark90"/>
          <p:cNvSpPr/>
          <p:nvPr/>
        </p:nvSpPr>
        <p:spPr>
          <a:xfrm flipV="1">
            <a:off x="7039217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4-mark91"/>
          <p:cNvSpPr/>
          <p:nvPr/>
        </p:nvSpPr>
        <p:spPr>
          <a:xfrm flipV="1">
            <a:off x="7465799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92"/>
          <p:cNvSpPr/>
          <p:nvPr/>
        </p:nvSpPr>
        <p:spPr>
          <a:xfrm flipV="1">
            <a:off x="7892380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93"/>
          <p:cNvSpPr/>
          <p:nvPr/>
        </p:nvSpPr>
        <p:spPr>
          <a:xfrm flipV="1">
            <a:off x="8318962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94"/>
          <p:cNvSpPr/>
          <p:nvPr/>
        </p:nvSpPr>
        <p:spPr>
          <a:xfrm flipV="1">
            <a:off x="8745543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95"/>
          <p:cNvSpPr/>
          <p:nvPr/>
        </p:nvSpPr>
        <p:spPr>
          <a:xfrm flipV="1">
            <a:off x="9172125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96"/>
          <p:cNvSpPr/>
          <p:nvPr/>
        </p:nvSpPr>
        <p:spPr>
          <a:xfrm flipV="1">
            <a:off x="9598706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97"/>
          <p:cNvSpPr/>
          <p:nvPr/>
        </p:nvSpPr>
        <p:spPr>
          <a:xfrm flipV="1">
            <a:off x="10025288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98"/>
          <p:cNvSpPr/>
          <p:nvPr/>
        </p:nvSpPr>
        <p:spPr>
          <a:xfrm flipV="1">
            <a:off x="10451869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99"/>
          <p:cNvSpPr/>
          <p:nvPr/>
        </p:nvSpPr>
        <p:spPr>
          <a:xfrm flipV="1">
            <a:off x="10878451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00"/>
          <p:cNvSpPr/>
          <p:nvPr/>
        </p:nvSpPr>
        <p:spPr>
          <a:xfrm flipV="1">
            <a:off x="11305032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101"/>
          <p:cNvSpPr/>
          <p:nvPr/>
        </p:nvSpPr>
        <p:spPr>
          <a:xfrm>
            <a:off x="6612636" y="5051644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102"/>
          <p:cNvSpPr/>
          <p:nvPr/>
        </p:nvSpPr>
        <p:spPr>
          <a:xfrm>
            <a:off x="6612636" y="4625063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103"/>
          <p:cNvSpPr/>
          <p:nvPr/>
        </p:nvSpPr>
        <p:spPr>
          <a:xfrm>
            <a:off x="6612636" y="419848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104"/>
          <p:cNvSpPr/>
          <p:nvPr/>
        </p:nvSpPr>
        <p:spPr>
          <a:xfrm>
            <a:off x="6612636" y="377190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105"/>
          <p:cNvSpPr/>
          <p:nvPr/>
        </p:nvSpPr>
        <p:spPr>
          <a:xfrm>
            <a:off x="6612636" y="334531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106"/>
          <p:cNvSpPr/>
          <p:nvPr/>
        </p:nvSpPr>
        <p:spPr>
          <a:xfrm>
            <a:off x="6612636" y="2918737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107"/>
          <p:cNvSpPr/>
          <p:nvPr/>
        </p:nvSpPr>
        <p:spPr>
          <a:xfrm>
            <a:off x="6612636" y="2492156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figure108" descr="모눈 위에 똑같은 사다리꼴 2개(주황 옅은 색, 노란색)를 돌려 붙인 평행사변형: 아랫변 5 cm와 3 cm, 윗변 3 cm와 5 cm, 높이 4 cm"/>
          <p:cNvSpPr/>
          <p:nvPr/>
        </p:nvSpPr>
        <p:spPr>
          <a:xfrm>
            <a:off x="7039217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0" y="1706326"/>
                </a:moveTo>
                <a:lnTo>
                  <a:pt x="2132907" y="1706326"/>
                </a:lnTo>
                <a:lnTo>
                  <a:pt x="1706326" y="0"/>
                </a:lnTo>
                <a:lnTo>
                  <a:pt x="42658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109"/>
          <p:cNvSpPr/>
          <p:nvPr/>
        </p:nvSpPr>
        <p:spPr>
          <a:xfrm>
            <a:off x="8745543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426581" y="1706326"/>
                </a:moveTo>
                <a:lnTo>
                  <a:pt x="1706326" y="1706326"/>
                </a:lnTo>
                <a:lnTo>
                  <a:pt x="213290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110"/>
          <p:cNvSpPr/>
          <p:nvPr/>
        </p:nvSpPr>
        <p:spPr>
          <a:xfrm>
            <a:off x="7892380" y="441551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mark111"/>
          <p:cNvSpPr/>
          <p:nvPr/>
        </p:nvSpPr>
        <p:spPr>
          <a:xfrm>
            <a:off x="7892380" y="2918737"/>
            <a:ext cx="0" cy="1706326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4-label113"/>
          <p:cNvSpPr txBox="1"/>
          <p:nvPr/>
        </p:nvSpPr>
        <p:spPr>
          <a:xfrm>
            <a:off x="7723909" y="47018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9" name="S04-label115"/>
          <p:cNvSpPr txBox="1"/>
          <p:nvPr/>
        </p:nvSpPr>
        <p:spPr>
          <a:xfrm>
            <a:off x="7723909" y="249265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0" name="S04-label117"/>
          <p:cNvSpPr txBox="1"/>
          <p:nvPr/>
        </p:nvSpPr>
        <p:spPr>
          <a:xfrm>
            <a:off x="9430235" y="47018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1" name="S04-label119"/>
          <p:cNvSpPr txBox="1"/>
          <p:nvPr/>
        </p:nvSpPr>
        <p:spPr>
          <a:xfrm>
            <a:off x="9430235" y="249265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32" name="S04-label121"/>
          <p:cNvSpPr txBox="1"/>
          <p:nvPr/>
        </p:nvSpPr>
        <p:spPr>
          <a:xfrm>
            <a:off x="7940894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33" name="S04-stepno122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4" name="S04-text123"/>
          <p:cNvSpPr txBox="1"/>
          <p:nvPr/>
        </p:nvSpPr>
        <p:spPr>
          <a:xfrm>
            <a:off x="1325880" y="1789684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사다리꼴 2개를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붙여요.</a:t>
            </a:r>
            <a:endParaRPr lang="ko-KR" sz="2800" dirty="0"/>
          </a:p>
        </p:txBody>
      </p:sp>
      <p:sp>
        <p:nvSpPr>
          <p:cNvPr id="35" name="S04-stepno124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4-text125"/>
          <p:cNvSpPr txBox="1"/>
          <p:nvPr/>
        </p:nvSpPr>
        <p:spPr>
          <a:xfrm>
            <a:off x="1325880" y="2821940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평행사변형이 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밑변: 3 + 5 = 8 (cm)</a:t>
            </a:r>
            <a:endParaRPr lang="ko-KR" sz="2800" dirty="0"/>
          </a:p>
        </p:txBody>
      </p:sp>
      <p:sp>
        <p:nvSpPr>
          <p:cNvPr id="37" name="S04-stepno126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4-text127"/>
          <p:cNvSpPr txBox="1"/>
          <p:nvPr/>
        </p:nvSpPr>
        <p:spPr>
          <a:xfrm>
            <a:off x="1325880" y="3854196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 = 32 (cm²)</a:t>
            </a:r>
            <a:endParaRPr lang="ko-KR" sz="2800" dirty="0"/>
          </a:p>
        </p:txBody>
      </p:sp>
      <p:sp>
        <p:nvSpPr>
          <p:cNvPr id="39" name="S04-stepno128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0" name="S04-text129"/>
          <p:cNvSpPr txBox="1"/>
          <p:nvPr/>
        </p:nvSpPr>
        <p:spPr>
          <a:xfrm>
            <a:off x="1325880" y="4886452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사다리꼴은 그 절반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÷ 2 = 16 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2개로 잘라도 같아요</a:t>
            </a:r>
            <a:endParaRPr lang="ko-KR" sz="4000" dirty="0"/>
          </a:p>
        </p:txBody>
      </p:sp>
      <p:sp>
        <p:nvSpPr>
          <p:cNvPr id="3" name="S05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 = (윗변 + 아랫변) × 높이 ÷ 2</a:t>
            </a:r>
            <a:endParaRPr lang="ko-KR" sz="2800" dirty="0"/>
          </a:p>
        </p:txBody>
      </p:sp>
      <p:sp>
        <p:nvSpPr>
          <p:cNvPr id="5" name="S05-figure132" descr="사다리꼴(윗변 3 cm, 아랫변 5 cm, 높이 4 cm)을 대각선으로 잘라 만든 삼각형 2개: 아래 큰 삼각형(밑변 5 cm)과 위 작은 삼각형(밑변 3 cm), 높이는 둘 다 4 cm"/>
          <p:cNvSpPr/>
          <p:nvPr/>
        </p:nvSpPr>
        <p:spPr>
          <a:xfrm>
            <a:off x="7470709" y="1689531"/>
            <a:ext cx="3834323" cy="3067458"/>
          </a:xfrm>
          <a:custGeom>
            <a:avLst/>
            <a:gdLst/>
            <a:ahLst/>
            <a:cxnLst/>
            <a:rect l="l" t="t" r="r" b="b"/>
            <a:pathLst>
              <a:path w="3834323" h="3067458">
                <a:moveTo>
                  <a:pt x="0" y="3067458"/>
                </a:moveTo>
                <a:lnTo>
                  <a:pt x="3834323" y="3067458"/>
                </a:lnTo>
                <a:lnTo>
                  <a:pt x="766865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133"/>
          <p:cNvSpPr/>
          <p:nvPr/>
        </p:nvSpPr>
        <p:spPr>
          <a:xfrm>
            <a:off x="8237574" y="1689531"/>
            <a:ext cx="3067458" cy="3067458"/>
          </a:xfrm>
          <a:custGeom>
            <a:avLst/>
            <a:gdLst/>
            <a:ahLst/>
            <a:cxnLst/>
            <a:rect l="l" t="t" r="r" b="b"/>
            <a:pathLst>
              <a:path w="3067458" h="3067458">
                <a:moveTo>
                  <a:pt x="0" y="0"/>
                </a:moveTo>
                <a:lnTo>
                  <a:pt x="3067458" y="3067458"/>
                </a:lnTo>
                <a:lnTo>
                  <a:pt x="230059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134"/>
          <p:cNvSpPr/>
          <p:nvPr/>
        </p:nvSpPr>
        <p:spPr>
          <a:xfrm>
            <a:off x="9004438" y="454743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mark135"/>
          <p:cNvSpPr/>
          <p:nvPr/>
        </p:nvSpPr>
        <p:spPr>
          <a:xfrm>
            <a:off x="9004438" y="1689531"/>
            <a:ext cx="0" cy="306745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5-label137"/>
          <p:cNvSpPr txBox="1"/>
          <p:nvPr/>
        </p:nvSpPr>
        <p:spPr>
          <a:xfrm>
            <a:off x="9006108" y="483382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05-label139"/>
          <p:cNvSpPr txBox="1"/>
          <p:nvPr/>
        </p:nvSpPr>
        <p:spPr>
          <a:xfrm>
            <a:off x="9006108" y="126344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1" name="S05-label141"/>
          <p:cNvSpPr txBox="1"/>
          <p:nvPr/>
        </p:nvSpPr>
        <p:spPr>
          <a:xfrm>
            <a:off x="8192400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2" name="S05-stepno142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5-text143"/>
          <p:cNvSpPr txBox="1"/>
          <p:nvPr/>
        </p:nvSpPr>
        <p:spPr>
          <a:xfrm>
            <a:off x="1325880" y="1612900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대각선으로 잘라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2개로 나눠요.</a:t>
            </a:r>
            <a:endParaRPr lang="ko-KR" sz="2200" dirty="0"/>
          </a:p>
        </p:txBody>
      </p:sp>
      <p:sp>
        <p:nvSpPr>
          <p:cNvPr id="14" name="S05-stepno144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05-text145"/>
          <p:cNvSpPr txBox="1"/>
          <p:nvPr/>
        </p:nvSpPr>
        <p:spPr>
          <a:xfrm>
            <a:off x="1325880" y="2459228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삼각형</a:t>
            </a:r>
            <a:endParaRPr lang="ko-KR" sz="2200" dirty="0"/>
          </a:p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÷ 2 = 10 (cm²)</a:t>
            </a:r>
            <a:endParaRPr lang="ko-KR" sz="2200" dirty="0"/>
          </a:p>
        </p:txBody>
      </p:sp>
      <p:sp>
        <p:nvSpPr>
          <p:cNvPr id="16" name="S05-stepno146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7" name="S05-text147"/>
          <p:cNvSpPr txBox="1"/>
          <p:nvPr/>
        </p:nvSpPr>
        <p:spPr>
          <a:xfrm>
            <a:off x="1325880" y="3305556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삼각형</a:t>
            </a:r>
            <a:endParaRPr lang="ko-KR" sz="2200" dirty="0"/>
          </a:p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÷ 2 = 6 (cm²)</a:t>
            </a:r>
            <a:endParaRPr lang="ko-KR" sz="2200" dirty="0"/>
          </a:p>
        </p:txBody>
      </p:sp>
      <p:sp>
        <p:nvSpPr>
          <p:cNvPr id="18" name="S05-stepno148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9" name="S05-text149"/>
          <p:cNvSpPr txBox="1"/>
          <p:nvPr/>
        </p:nvSpPr>
        <p:spPr>
          <a:xfrm>
            <a:off x="1325880" y="4151884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+ 6 = 16 (cm²)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방법과 같아요.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구해 봐요</a:t>
            </a:r>
            <a:endParaRPr lang="ko-KR" sz="4000" dirty="0"/>
          </a:p>
        </p:txBody>
      </p:sp>
      <p:sp>
        <p:nvSpPr>
          <p:cNvPr id="3" name="S06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넓이를 차례로 구해요.</a:t>
            </a:r>
            <a:endParaRPr lang="ko-KR" sz="2800" dirty="0"/>
          </a:p>
        </p:txBody>
      </p:sp>
      <p:sp>
        <p:nvSpPr>
          <p:cNvPr id="4" name="S06-mark151"/>
          <p:cNvSpPr/>
          <p:nvPr/>
        </p:nvSpPr>
        <p:spPr>
          <a:xfrm>
            <a:off x="7134013" y="3072045"/>
            <a:ext cx="3649641" cy="2085509"/>
          </a:xfrm>
          <a:custGeom>
            <a:avLst/>
            <a:gdLst/>
            <a:ahLst/>
            <a:cxnLst/>
            <a:rect l="l" t="t" r="r" b="b"/>
            <a:pathLst>
              <a:path w="3649641" h="2085509">
                <a:moveTo>
                  <a:pt x="0" y="2085509"/>
                </a:moveTo>
                <a:lnTo>
                  <a:pt x="3649641" y="2085509"/>
                </a:lnTo>
                <a:lnTo>
                  <a:pt x="20855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6-mark152"/>
          <p:cNvSpPr/>
          <p:nvPr/>
        </p:nvSpPr>
        <p:spPr>
          <a:xfrm flipV="1">
            <a:off x="6612636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153"/>
          <p:cNvSpPr/>
          <p:nvPr/>
        </p:nvSpPr>
        <p:spPr>
          <a:xfrm flipV="1">
            <a:off x="7134013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154"/>
          <p:cNvSpPr/>
          <p:nvPr/>
        </p:nvSpPr>
        <p:spPr>
          <a:xfrm flipV="1">
            <a:off x="7655391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155"/>
          <p:cNvSpPr/>
          <p:nvPr/>
        </p:nvSpPr>
        <p:spPr>
          <a:xfrm flipV="1">
            <a:off x="8176768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156"/>
          <p:cNvSpPr/>
          <p:nvPr/>
        </p:nvSpPr>
        <p:spPr>
          <a:xfrm flipV="1">
            <a:off x="8698145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57"/>
          <p:cNvSpPr/>
          <p:nvPr/>
        </p:nvSpPr>
        <p:spPr>
          <a:xfrm flipV="1">
            <a:off x="9219523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58"/>
          <p:cNvSpPr/>
          <p:nvPr/>
        </p:nvSpPr>
        <p:spPr>
          <a:xfrm flipV="1">
            <a:off x="9740900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59"/>
          <p:cNvSpPr/>
          <p:nvPr/>
        </p:nvSpPr>
        <p:spPr>
          <a:xfrm flipV="1">
            <a:off x="10262277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60"/>
          <p:cNvSpPr/>
          <p:nvPr/>
        </p:nvSpPr>
        <p:spPr>
          <a:xfrm flipV="1">
            <a:off x="10783655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61"/>
          <p:cNvSpPr/>
          <p:nvPr/>
        </p:nvSpPr>
        <p:spPr>
          <a:xfrm flipV="1">
            <a:off x="11305032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62"/>
          <p:cNvSpPr/>
          <p:nvPr/>
        </p:nvSpPr>
        <p:spPr>
          <a:xfrm>
            <a:off x="6612636" y="5678932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63"/>
          <p:cNvSpPr/>
          <p:nvPr/>
        </p:nvSpPr>
        <p:spPr>
          <a:xfrm>
            <a:off x="6612636" y="5157555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64"/>
          <p:cNvSpPr/>
          <p:nvPr/>
        </p:nvSpPr>
        <p:spPr>
          <a:xfrm>
            <a:off x="6612636" y="4636177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65"/>
          <p:cNvSpPr/>
          <p:nvPr/>
        </p:nvSpPr>
        <p:spPr>
          <a:xfrm>
            <a:off x="6612636" y="411480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66"/>
          <p:cNvSpPr/>
          <p:nvPr/>
        </p:nvSpPr>
        <p:spPr>
          <a:xfrm>
            <a:off x="6612636" y="3593423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67"/>
          <p:cNvSpPr/>
          <p:nvPr/>
        </p:nvSpPr>
        <p:spPr>
          <a:xfrm>
            <a:off x="6612636" y="3072045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68"/>
          <p:cNvSpPr/>
          <p:nvPr/>
        </p:nvSpPr>
        <p:spPr>
          <a:xfrm>
            <a:off x="6612636" y="2550668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figure169" descr="모눈 위의 직각 사다리꼴: 윗변 4 cm, 아랫변 7 cm, 왼쪽 변이 높이 4 cm(직각 표시)"/>
          <p:cNvSpPr/>
          <p:nvPr/>
        </p:nvSpPr>
        <p:spPr>
          <a:xfrm>
            <a:off x="7134013" y="3072045"/>
            <a:ext cx="3649641" cy="2085509"/>
          </a:xfrm>
          <a:custGeom>
            <a:avLst/>
            <a:gdLst/>
            <a:ahLst/>
            <a:cxnLst/>
            <a:rect l="l" t="t" r="r" b="b"/>
            <a:pathLst>
              <a:path w="3649641" h="2085509">
                <a:moveTo>
                  <a:pt x="0" y="2085509"/>
                </a:moveTo>
                <a:lnTo>
                  <a:pt x="3649641" y="2085509"/>
                </a:lnTo>
                <a:lnTo>
                  <a:pt x="208550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170"/>
          <p:cNvSpPr/>
          <p:nvPr/>
        </p:nvSpPr>
        <p:spPr>
          <a:xfrm>
            <a:off x="7134013" y="494800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172"/>
          <p:cNvSpPr txBox="1"/>
          <p:nvPr/>
        </p:nvSpPr>
        <p:spPr>
          <a:xfrm>
            <a:off x="8577072" y="523439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25" name="S06-label174"/>
          <p:cNvSpPr txBox="1"/>
          <p:nvPr/>
        </p:nvSpPr>
        <p:spPr>
          <a:xfrm>
            <a:off x="7795006" y="264596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6" name="S06-label176"/>
          <p:cNvSpPr txBox="1"/>
          <p:nvPr/>
        </p:nvSpPr>
        <p:spPr>
          <a:xfrm>
            <a:off x="6321975" y="39401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7" name="S06-chip17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8" name="S06-text178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 + 아랫변은?</a:t>
            </a:r>
            <a:endParaRPr lang="ko-KR" sz="2800" dirty="0"/>
          </a:p>
        </p:txBody>
      </p:sp>
      <p:sp>
        <p:nvSpPr>
          <p:cNvPr id="29" name="S06-chip17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0" name="S06-text180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(윗변 + 아랫변) × 높이는?</a:t>
            </a:r>
            <a:endParaRPr lang="ko-KR" sz="2800" dirty="0"/>
          </a:p>
        </p:txBody>
      </p:sp>
      <p:sp>
        <p:nvSpPr>
          <p:cNvPr id="31" name="S06-chip18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2" name="S06-text182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길이가 높이일까요?</a:t>
            </a:r>
            <a:endParaRPr lang="ko-KR" sz="4000" dirty="0"/>
          </a:p>
        </p:txBody>
      </p:sp>
      <p:sp>
        <p:nvSpPr>
          <p:cNvPr id="3" name="S07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계산이 맞을까요? 까닭을 말해요.</a:t>
            </a:r>
            <a:endParaRPr lang="ko-KR" sz="2800" dirty="0"/>
          </a:p>
        </p:txBody>
      </p:sp>
      <p:sp>
        <p:nvSpPr>
          <p:cNvPr id="5" name="S07-mark185"/>
          <p:cNvSpPr/>
          <p:nvPr/>
        </p:nvSpPr>
        <p:spPr>
          <a:xfrm>
            <a:off x="1359256" y="2272589"/>
            <a:ext cx="4278020" cy="1901342"/>
          </a:xfrm>
          <a:custGeom>
            <a:avLst/>
            <a:gdLst/>
            <a:ahLst/>
            <a:cxnLst/>
            <a:rect l="l" t="t" r="r" b="b"/>
            <a:pathLst>
              <a:path w="4278020" h="1901342">
                <a:moveTo>
                  <a:pt x="0" y="1901342"/>
                </a:moveTo>
                <a:lnTo>
                  <a:pt x="4278020" y="1901342"/>
                </a:lnTo>
                <a:lnTo>
                  <a:pt x="2852014" y="0"/>
                </a:lnTo>
                <a:lnTo>
                  <a:pt x="1426007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7-mark186"/>
          <p:cNvSpPr/>
          <p:nvPr/>
        </p:nvSpPr>
        <p:spPr>
          <a:xfrm flipV="1">
            <a:off x="883920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187"/>
          <p:cNvSpPr/>
          <p:nvPr/>
        </p:nvSpPr>
        <p:spPr>
          <a:xfrm flipV="1">
            <a:off x="1359256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88"/>
          <p:cNvSpPr/>
          <p:nvPr/>
        </p:nvSpPr>
        <p:spPr>
          <a:xfrm flipV="1">
            <a:off x="1834591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89"/>
          <p:cNvSpPr/>
          <p:nvPr/>
        </p:nvSpPr>
        <p:spPr>
          <a:xfrm flipV="1">
            <a:off x="2309927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90"/>
          <p:cNvSpPr/>
          <p:nvPr/>
        </p:nvSpPr>
        <p:spPr>
          <a:xfrm flipV="1">
            <a:off x="2785262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91"/>
          <p:cNvSpPr/>
          <p:nvPr/>
        </p:nvSpPr>
        <p:spPr>
          <a:xfrm flipV="1">
            <a:off x="3260598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92"/>
          <p:cNvSpPr/>
          <p:nvPr/>
        </p:nvSpPr>
        <p:spPr>
          <a:xfrm flipV="1">
            <a:off x="3735934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93"/>
          <p:cNvSpPr/>
          <p:nvPr/>
        </p:nvSpPr>
        <p:spPr>
          <a:xfrm flipV="1">
            <a:off x="4211269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94"/>
          <p:cNvSpPr/>
          <p:nvPr/>
        </p:nvSpPr>
        <p:spPr>
          <a:xfrm flipV="1">
            <a:off x="4686605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95"/>
          <p:cNvSpPr/>
          <p:nvPr/>
        </p:nvSpPr>
        <p:spPr>
          <a:xfrm flipV="1">
            <a:off x="5161940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96"/>
          <p:cNvSpPr/>
          <p:nvPr/>
        </p:nvSpPr>
        <p:spPr>
          <a:xfrm flipV="1">
            <a:off x="5637276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97"/>
          <p:cNvSpPr/>
          <p:nvPr/>
        </p:nvSpPr>
        <p:spPr>
          <a:xfrm flipV="1">
            <a:off x="6112612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98"/>
          <p:cNvSpPr/>
          <p:nvPr/>
        </p:nvSpPr>
        <p:spPr>
          <a:xfrm>
            <a:off x="883920" y="4649267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199"/>
          <p:cNvSpPr/>
          <p:nvPr/>
        </p:nvSpPr>
        <p:spPr>
          <a:xfrm>
            <a:off x="883920" y="4173931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mark200"/>
          <p:cNvSpPr/>
          <p:nvPr/>
        </p:nvSpPr>
        <p:spPr>
          <a:xfrm>
            <a:off x="883920" y="3698596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7-mark201"/>
          <p:cNvSpPr/>
          <p:nvPr/>
        </p:nvSpPr>
        <p:spPr>
          <a:xfrm>
            <a:off x="883920" y="322326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7-mark202"/>
          <p:cNvSpPr/>
          <p:nvPr/>
        </p:nvSpPr>
        <p:spPr>
          <a:xfrm>
            <a:off x="883920" y="2747924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7-mark203"/>
          <p:cNvSpPr/>
          <p:nvPr/>
        </p:nvSpPr>
        <p:spPr>
          <a:xfrm>
            <a:off x="883920" y="2272589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7-mark204"/>
          <p:cNvSpPr/>
          <p:nvPr/>
        </p:nvSpPr>
        <p:spPr>
          <a:xfrm>
            <a:off x="883920" y="1797253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7-figure205" descr="모눈 위의 사다리꼴: 윗변 3 cm, 아랫변 9 cm, 기울어진 옆변 5 cm, 점선으로 그은 높이 4 cm"/>
          <p:cNvSpPr/>
          <p:nvPr/>
        </p:nvSpPr>
        <p:spPr>
          <a:xfrm>
            <a:off x="1359256" y="2272589"/>
            <a:ext cx="4278020" cy="1901342"/>
          </a:xfrm>
          <a:custGeom>
            <a:avLst/>
            <a:gdLst/>
            <a:ahLst/>
            <a:cxnLst/>
            <a:rect l="l" t="t" r="r" b="b"/>
            <a:pathLst>
              <a:path w="4278020" h="1901342">
                <a:moveTo>
                  <a:pt x="0" y="1901342"/>
                </a:moveTo>
                <a:lnTo>
                  <a:pt x="4278020" y="1901342"/>
                </a:lnTo>
                <a:lnTo>
                  <a:pt x="2852014" y="0"/>
                </a:lnTo>
                <a:lnTo>
                  <a:pt x="1426007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7-mark206"/>
          <p:cNvSpPr/>
          <p:nvPr/>
        </p:nvSpPr>
        <p:spPr>
          <a:xfrm>
            <a:off x="2785262" y="396438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mark207"/>
          <p:cNvSpPr/>
          <p:nvPr/>
        </p:nvSpPr>
        <p:spPr>
          <a:xfrm>
            <a:off x="2785262" y="2272589"/>
            <a:ext cx="0" cy="190134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7-label209"/>
          <p:cNvSpPr txBox="1"/>
          <p:nvPr/>
        </p:nvSpPr>
        <p:spPr>
          <a:xfrm>
            <a:off x="3116504" y="425076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</a:t>
            </a:r>
            <a:endParaRPr lang="ko-KR" sz="2200" dirty="0"/>
          </a:p>
        </p:txBody>
      </p:sp>
      <p:sp>
        <p:nvSpPr>
          <p:cNvPr id="29" name="S07-label211"/>
          <p:cNvSpPr txBox="1"/>
          <p:nvPr/>
        </p:nvSpPr>
        <p:spPr>
          <a:xfrm>
            <a:off x="3116504" y="184650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0" name="S07-label213"/>
          <p:cNvSpPr txBox="1"/>
          <p:nvPr/>
        </p:nvSpPr>
        <p:spPr>
          <a:xfrm>
            <a:off x="1321242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31" name="S07-label215"/>
          <p:cNvSpPr txBox="1"/>
          <p:nvPr/>
        </p:nvSpPr>
        <p:spPr>
          <a:xfrm>
            <a:off x="2833776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32" name="S07-card216"/>
          <p:cNvSpPr/>
          <p:nvPr/>
        </p:nvSpPr>
        <p:spPr>
          <a:xfrm>
            <a:off x="6813652" y="1928876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7-cardtext217"/>
          <p:cNvSpPr txBox="1"/>
          <p:nvPr/>
        </p:nvSpPr>
        <p:spPr>
          <a:xfrm>
            <a:off x="7087972" y="2066036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30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 + 9) × 5 ÷ 2</a:t>
            </a:r>
            <a:endParaRPr lang="ko-KR" sz="2800" dirty="0"/>
          </a:p>
        </p:txBody>
      </p:sp>
      <p:sp>
        <p:nvSpPr>
          <p:cNvPr id="34" name="S07-card218"/>
          <p:cNvSpPr/>
          <p:nvPr/>
        </p:nvSpPr>
        <p:spPr>
          <a:xfrm>
            <a:off x="6813652" y="3337560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7-cardtext219"/>
          <p:cNvSpPr txBox="1"/>
          <p:nvPr/>
        </p:nvSpPr>
        <p:spPr>
          <a:xfrm>
            <a:off x="7087972" y="3474720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24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 + 9) × 4 ÷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마름모를 둘러싼 직사각형</a:t>
            </a:r>
            <a:endParaRPr lang="ko-KR" sz="4000" dirty="0"/>
          </a:p>
        </p:txBody>
      </p:sp>
      <p:sp>
        <p:nvSpPr>
          <p:cNvPr id="3" name="S08-mark220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2490399"/>
                </a:moveTo>
                <a:lnTo>
                  <a:pt x="3735598" y="2490399"/>
                </a:lnTo>
                <a:lnTo>
                  <a:pt x="37355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" name="S08-mark221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1245199"/>
                </a:moveTo>
                <a:lnTo>
                  <a:pt x="1867799" y="2490399"/>
                </a:lnTo>
                <a:lnTo>
                  <a:pt x="3735598" y="1245199"/>
                </a:lnTo>
                <a:lnTo>
                  <a:pt x="1867799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8-mark222"/>
          <p:cNvSpPr/>
          <p:nvPr/>
        </p:nvSpPr>
        <p:spPr>
          <a:xfrm flipV="1">
            <a:off x="6575694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223"/>
          <p:cNvSpPr/>
          <p:nvPr/>
        </p:nvSpPr>
        <p:spPr>
          <a:xfrm flipV="1">
            <a:off x="7198294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24"/>
          <p:cNvSpPr/>
          <p:nvPr/>
        </p:nvSpPr>
        <p:spPr>
          <a:xfrm flipV="1">
            <a:off x="7820894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25"/>
          <p:cNvSpPr/>
          <p:nvPr/>
        </p:nvSpPr>
        <p:spPr>
          <a:xfrm flipV="1">
            <a:off x="84434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26"/>
          <p:cNvSpPr/>
          <p:nvPr/>
        </p:nvSpPr>
        <p:spPr>
          <a:xfrm flipV="1">
            <a:off x="90660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27"/>
          <p:cNvSpPr/>
          <p:nvPr/>
        </p:nvSpPr>
        <p:spPr>
          <a:xfrm flipV="1">
            <a:off x="96886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28"/>
          <p:cNvSpPr/>
          <p:nvPr/>
        </p:nvSpPr>
        <p:spPr>
          <a:xfrm flipV="1">
            <a:off x="103112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29"/>
          <p:cNvSpPr/>
          <p:nvPr/>
        </p:nvSpPr>
        <p:spPr>
          <a:xfrm flipV="1">
            <a:off x="10933892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30"/>
          <p:cNvSpPr/>
          <p:nvPr/>
        </p:nvSpPr>
        <p:spPr>
          <a:xfrm flipV="1">
            <a:off x="11556492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31"/>
          <p:cNvSpPr/>
          <p:nvPr/>
        </p:nvSpPr>
        <p:spPr>
          <a:xfrm>
            <a:off x="6575694" y="5639699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32"/>
          <p:cNvSpPr/>
          <p:nvPr/>
        </p:nvSpPr>
        <p:spPr>
          <a:xfrm>
            <a:off x="6575694" y="5017099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33"/>
          <p:cNvSpPr/>
          <p:nvPr/>
        </p:nvSpPr>
        <p:spPr>
          <a:xfrm>
            <a:off x="6575694" y="4394500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34"/>
          <p:cNvSpPr/>
          <p:nvPr/>
        </p:nvSpPr>
        <p:spPr>
          <a:xfrm>
            <a:off x="6575694" y="3771900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35"/>
          <p:cNvSpPr/>
          <p:nvPr/>
        </p:nvSpPr>
        <p:spPr>
          <a:xfrm>
            <a:off x="6575694" y="3149300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36"/>
          <p:cNvSpPr/>
          <p:nvPr/>
        </p:nvSpPr>
        <p:spPr>
          <a:xfrm>
            <a:off x="6575694" y="2526701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37"/>
          <p:cNvSpPr/>
          <p:nvPr/>
        </p:nvSpPr>
        <p:spPr>
          <a:xfrm>
            <a:off x="6575694" y="1904101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figure238" descr="모눈 위의 마름모(대각선 6 cm, 4 cm)와 마름모의 네 꼭짓점을 지나는 직사각형(가로 6 cm, 세로 4 cm, 점선). 마름모 밖의 네 귀퉁이는 노란색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2490399"/>
                </a:moveTo>
                <a:lnTo>
                  <a:pt x="3735598" y="2490399"/>
                </a:lnTo>
                <a:lnTo>
                  <a:pt x="373559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2" name="S08-mark239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1245199"/>
                </a:moveTo>
                <a:lnTo>
                  <a:pt x="1867799" y="2490399"/>
                </a:lnTo>
                <a:lnTo>
                  <a:pt x="3735598" y="1245199"/>
                </a:lnTo>
                <a:lnTo>
                  <a:pt x="186779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8-mark240"/>
          <p:cNvSpPr/>
          <p:nvPr/>
        </p:nvSpPr>
        <p:spPr>
          <a:xfrm>
            <a:off x="7198294" y="3771900"/>
            <a:ext cx="3735598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4" name="S08-mark241"/>
          <p:cNvSpPr/>
          <p:nvPr/>
        </p:nvSpPr>
        <p:spPr>
          <a:xfrm flipV="1">
            <a:off x="9066093" y="2526701"/>
            <a:ext cx="0" cy="249039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5" name="S08-label243"/>
          <p:cNvSpPr txBox="1"/>
          <p:nvPr/>
        </p:nvSpPr>
        <p:spPr>
          <a:xfrm>
            <a:off x="8248511" y="40330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26" name="S08-label245"/>
          <p:cNvSpPr txBox="1"/>
          <p:nvPr/>
        </p:nvSpPr>
        <p:spPr>
          <a:xfrm>
            <a:off x="9120151" y="31614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7" name="S08-stepno246"/>
          <p:cNvSpPr txBox="1"/>
          <p:nvPr/>
        </p:nvSpPr>
        <p:spPr>
          <a:xfrm>
            <a:off x="548640" y="16184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8" name="S08-text247"/>
          <p:cNvSpPr txBox="1"/>
          <p:nvPr/>
        </p:nvSpPr>
        <p:spPr>
          <a:xfrm>
            <a:off x="1325880" y="1572768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대각선의 길이로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직사각형을 그려요.</a:t>
            </a:r>
            <a:endParaRPr lang="ko-KR" sz="2800" dirty="0"/>
          </a:p>
        </p:txBody>
      </p:sp>
      <p:sp>
        <p:nvSpPr>
          <p:cNvPr id="29" name="S08-stepno248"/>
          <p:cNvSpPr txBox="1"/>
          <p:nvPr/>
        </p:nvSpPr>
        <p:spPr>
          <a:xfrm>
            <a:off x="548640" y="26507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0" name="S08-text249"/>
          <p:cNvSpPr txBox="1"/>
          <p:nvPr/>
        </p:nvSpPr>
        <p:spPr>
          <a:xfrm>
            <a:off x="1325880" y="2605024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 (cm²)</a:t>
            </a:r>
            <a:endParaRPr lang="ko-KR" sz="2800" dirty="0"/>
          </a:p>
        </p:txBody>
      </p:sp>
      <p:sp>
        <p:nvSpPr>
          <p:cNvPr id="31" name="S08-stepno250"/>
          <p:cNvSpPr txBox="1"/>
          <p:nvPr/>
        </p:nvSpPr>
        <p:spPr>
          <a:xfrm>
            <a:off x="548640" y="36830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8-text251"/>
          <p:cNvSpPr txBox="1"/>
          <p:nvPr/>
        </p:nvSpPr>
        <p:spPr>
          <a:xfrm>
            <a:off x="1325880" y="3637280"/>
            <a:ext cx="4800234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 안 조각 4개와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밖의 노란 조각 4개가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똑같아요.</a:t>
            </a:r>
            <a:endParaRPr lang="ko-KR" sz="2800" dirty="0"/>
          </a:p>
        </p:txBody>
      </p:sp>
      <p:sp>
        <p:nvSpPr>
          <p:cNvPr id="33" name="S08-stepno252"/>
          <p:cNvSpPr txBox="1"/>
          <p:nvPr/>
        </p:nvSpPr>
        <p:spPr>
          <a:xfrm>
            <a:off x="548640" y="5149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4" name="S08-text253"/>
          <p:cNvSpPr txBox="1"/>
          <p:nvPr/>
        </p:nvSpPr>
        <p:spPr>
          <a:xfrm>
            <a:off x="1325880" y="5103368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 그 절반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2 = 12 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넓이 구하는 식</a:t>
            </a:r>
            <a:endParaRPr lang="ko-KR" sz="4000" dirty="0"/>
          </a:p>
        </p:txBody>
      </p:sp>
      <p:sp>
        <p:nvSpPr>
          <p:cNvPr id="3" name="S09-text2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대각선으로 잘라 삼각형 2개를 만들어요.</a:t>
            </a:r>
            <a:endParaRPr lang="ko-KR" sz="2800" dirty="0"/>
          </a:p>
        </p:txBody>
      </p:sp>
      <p:sp>
        <p:nvSpPr>
          <p:cNvPr id="4" name="S09-figure255" descr="마름모를 가로 대각선(6 cm)으로 잘라 만든 삼각형 2개: 위 삼각형과 아래 삼각형의 높이는 각각 2 cm(점선)"/>
          <p:cNvSpPr/>
          <p:nvPr/>
        </p:nvSpPr>
        <p:spPr>
          <a:xfrm>
            <a:off x="883920" y="2693680"/>
            <a:ext cx="4263360" cy="1421120"/>
          </a:xfrm>
          <a:custGeom>
            <a:avLst/>
            <a:gdLst/>
            <a:ahLst/>
            <a:cxnLst/>
            <a:rect l="l" t="t" r="r" b="b"/>
            <a:pathLst>
              <a:path w="4263360" h="1421120">
                <a:moveTo>
                  <a:pt x="0" y="1421120"/>
                </a:moveTo>
                <a:lnTo>
                  <a:pt x="4263360" y="1421120"/>
                </a:lnTo>
                <a:lnTo>
                  <a:pt x="21316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9-mark256"/>
          <p:cNvSpPr/>
          <p:nvPr/>
        </p:nvSpPr>
        <p:spPr>
          <a:xfrm>
            <a:off x="883920" y="4114800"/>
            <a:ext cx="4263360" cy="1421120"/>
          </a:xfrm>
          <a:custGeom>
            <a:avLst/>
            <a:gdLst/>
            <a:ahLst/>
            <a:cxnLst/>
            <a:rect l="l" t="t" r="r" b="b"/>
            <a:pathLst>
              <a:path w="4263360" h="1421120">
                <a:moveTo>
                  <a:pt x="0" y="0"/>
                </a:moveTo>
                <a:lnTo>
                  <a:pt x="2131680" y="1421120"/>
                </a:lnTo>
                <a:lnTo>
                  <a:pt x="426336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9-mark257"/>
          <p:cNvSpPr/>
          <p:nvPr/>
        </p:nvSpPr>
        <p:spPr>
          <a:xfrm>
            <a:off x="2806050" y="39052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9-mark258"/>
          <p:cNvSpPr/>
          <p:nvPr/>
        </p:nvSpPr>
        <p:spPr>
          <a:xfrm>
            <a:off x="3015600" y="2693680"/>
            <a:ext cx="0" cy="142112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9-mark259"/>
          <p:cNvSpPr/>
          <p:nvPr/>
        </p:nvSpPr>
        <p:spPr>
          <a:xfrm>
            <a:off x="3015600" y="4114800"/>
            <a:ext cx="0" cy="142112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9-label261"/>
          <p:cNvSpPr txBox="1"/>
          <p:nvPr/>
        </p:nvSpPr>
        <p:spPr>
          <a:xfrm>
            <a:off x="3064114" y="32296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10" name="S09-label263"/>
          <p:cNvSpPr txBox="1"/>
          <p:nvPr/>
        </p:nvSpPr>
        <p:spPr>
          <a:xfrm>
            <a:off x="3064114" y="46507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11" name="S09-label265"/>
          <p:cNvSpPr txBox="1"/>
          <p:nvPr/>
        </p:nvSpPr>
        <p:spPr>
          <a:xfrm>
            <a:off x="2136446" y="344278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2" name="S09-card266"/>
          <p:cNvSpPr/>
          <p:nvPr/>
        </p:nvSpPr>
        <p:spPr>
          <a:xfrm>
            <a:off x="5848320" y="2812034"/>
            <a:ext cx="579199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9-cardtext267"/>
          <p:cNvSpPr txBox="1"/>
          <p:nvPr/>
        </p:nvSpPr>
        <p:spPr>
          <a:xfrm>
            <a:off x="6122640" y="2949194"/>
            <a:ext cx="524335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한 개: 6 × 2 ÷ 2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개: 6 + 6 = 12 (cm²)</a:t>
            </a:r>
            <a:endParaRPr lang="ko-KR" sz="2800" dirty="0"/>
          </a:p>
        </p:txBody>
      </p:sp>
      <p:sp>
        <p:nvSpPr>
          <p:cNvPr id="14" name="S09-card268"/>
          <p:cNvSpPr/>
          <p:nvPr/>
        </p:nvSpPr>
        <p:spPr>
          <a:xfrm>
            <a:off x="5848320" y="4237482"/>
            <a:ext cx="579199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9-cardtext269"/>
          <p:cNvSpPr txBox="1"/>
          <p:nvPr/>
        </p:nvSpPr>
        <p:spPr>
          <a:xfrm>
            <a:off x="6122640" y="4374642"/>
            <a:ext cx="524335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대각선 × 다른 대각선 ÷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넓이를 구해요</a:t>
            </a:r>
            <a:endParaRPr lang="ko-KR" sz="4000" dirty="0"/>
          </a:p>
        </p:txBody>
      </p:sp>
      <p:sp>
        <p:nvSpPr>
          <p:cNvPr id="3" name="S10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나의 넓이를 식으로 구해요. 나의 모눈 한 칸은 1 cm예요.</a:t>
            </a:r>
            <a:endParaRPr lang="ko-KR" sz="2800" dirty="0"/>
          </a:p>
        </p:txBody>
      </p:sp>
      <p:sp>
        <p:nvSpPr>
          <p:cNvPr id="5" name="S10-chip272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0-figure273" descr="마름모: 대각선 8 cm(가로)와 6 cm(세로), 한 변 5 cm"/>
          <p:cNvSpPr/>
          <p:nvPr/>
        </p:nvSpPr>
        <p:spPr>
          <a:xfrm>
            <a:off x="1616710" y="2365248"/>
            <a:ext cx="3226816" cy="2420112"/>
          </a:xfrm>
          <a:custGeom>
            <a:avLst/>
            <a:gdLst/>
            <a:ahLst/>
            <a:cxnLst/>
            <a:rect l="l" t="t" r="r" b="b"/>
            <a:pathLst>
              <a:path w="3226816" h="2420112">
                <a:moveTo>
                  <a:pt x="0" y="1210056"/>
                </a:moveTo>
                <a:lnTo>
                  <a:pt x="1613408" y="2420112"/>
                </a:lnTo>
                <a:lnTo>
                  <a:pt x="3226816" y="1210056"/>
                </a:lnTo>
                <a:lnTo>
                  <a:pt x="1613408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274"/>
          <p:cNvSpPr/>
          <p:nvPr/>
        </p:nvSpPr>
        <p:spPr>
          <a:xfrm>
            <a:off x="1616710" y="3575304"/>
            <a:ext cx="322681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10-mark275"/>
          <p:cNvSpPr/>
          <p:nvPr/>
        </p:nvSpPr>
        <p:spPr>
          <a:xfrm flipV="1">
            <a:off x="3230118" y="2365248"/>
            <a:ext cx="0" cy="242011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10-label277"/>
          <p:cNvSpPr txBox="1"/>
          <p:nvPr/>
        </p:nvSpPr>
        <p:spPr>
          <a:xfrm>
            <a:off x="1786169" y="434635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10-label279"/>
          <p:cNvSpPr txBox="1"/>
          <p:nvPr/>
        </p:nvSpPr>
        <p:spPr>
          <a:xfrm>
            <a:off x="2445004" y="380403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11" name="S10-label281"/>
          <p:cNvSpPr txBox="1"/>
          <p:nvPr/>
        </p:nvSpPr>
        <p:spPr>
          <a:xfrm>
            <a:off x="3251708" y="2997327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2" name="S10-chip282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3" name="S10-mark283"/>
          <p:cNvSpPr/>
          <p:nvPr/>
        </p:nvSpPr>
        <p:spPr>
          <a:xfrm>
            <a:off x="7010146" y="2600960"/>
            <a:ext cx="3897376" cy="1948688"/>
          </a:xfrm>
          <a:custGeom>
            <a:avLst/>
            <a:gdLst/>
            <a:ahLst/>
            <a:cxnLst/>
            <a:rect l="l" t="t" r="r" b="b"/>
            <a:pathLst>
              <a:path w="3897376" h="1948688">
                <a:moveTo>
                  <a:pt x="0" y="974344"/>
                </a:moveTo>
                <a:lnTo>
                  <a:pt x="1948688" y="1948688"/>
                </a:lnTo>
                <a:lnTo>
                  <a:pt x="3897376" y="974344"/>
                </a:lnTo>
                <a:lnTo>
                  <a:pt x="1948688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4" name="S10-mark284"/>
          <p:cNvSpPr/>
          <p:nvPr/>
        </p:nvSpPr>
        <p:spPr>
          <a:xfrm flipV="1">
            <a:off x="6522974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285"/>
          <p:cNvSpPr/>
          <p:nvPr/>
        </p:nvSpPr>
        <p:spPr>
          <a:xfrm flipV="1">
            <a:off x="7010146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286"/>
          <p:cNvSpPr/>
          <p:nvPr/>
        </p:nvSpPr>
        <p:spPr>
          <a:xfrm flipV="1">
            <a:off x="7497318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287"/>
          <p:cNvSpPr/>
          <p:nvPr/>
        </p:nvSpPr>
        <p:spPr>
          <a:xfrm flipV="1">
            <a:off x="7984490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288"/>
          <p:cNvSpPr/>
          <p:nvPr/>
        </p:nvSpPr>
        <p:spPr>
          <a:xfrm flipV="1">
            <a:off x="8471662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289"/>
          <p:cNvSpPr/>
          <p:nvPr/>
        </p:nvSpPr>
        <p:spPr>
          <a:xfrm flipV="1">
            <a:off x="8958834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290"/>
          <p:cNvSpPr/>
          <p:nvPr/>
        </p:nvSpPr>
        <p:spPr>
          <a:xfrm flipV="1">
            <a:off x="9446006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291"/>
          <p:cNvSpPr/>
          <p:nvPr/>
        </p:nvSpPr>
        <p:spPr>
          <a:xfrm flipV="1">
            <a:off x="9933178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292"/>
          <p:cNvSpPr/>
          <p:nvPr/>
        </p:nvSpPr>
        <p:spPr>
          <a:xfrm flipV="1">
            <a:off x="10420350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293"/>
          <p:cNvSpPr/>
          <p:nvPr/>
        </p:nvSpPr>
        <p:spPr>
          <a:xfrm flipV="1">
            <a:off x="10907522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294"/>
          <p:cNvSpPr/>
          <p:nvPr/>
        </p:nvSpPr>
        <p:spPr>
          <a:xfrm flipV="1">
            <a:off x="11394694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295"/>
          <p:cNvSpPr/>
          <p:nvPr/>
        </p:nvSpPr>
        <p:spPr>
          <a:xfrm>
            <a:off x="6522974" y="5036820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296"/>
          <p:cNvSpPr/>
          <p:nvPr/>
        </p:nvSpPr>
        <p:spPr>
          <a:xfrm>
            <a:off x="6522974" y="4549648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297"/>
          <p:cNvSpPr/>
          <p:nvPr/>
        </p:nvSpPr>
        <p:spPr>
          <a:xfrm>
            <a:off x="6522974" y="4062476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98"/>
          <p:cNvSpPr/>
          <p:nvPr/>
        </p:nvSpPr>
        <p:spPr>
          <a:xfrm>
            <a:off x="6522974" y="3575304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99"/>
          <p:cNvSpPr/>
          <p:nvPr/>
        </p:nvSpPr>
        <p:spPr>
          <a:xfrm>
            <a:off x="6522974" y="3088132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300"/>
          <p:cNvSpPr/>
          <p:nvPr/>
        </p:nvSpPr>
        <p:spPr>
          <a:xfrm>
            <a:off x="6522974" y="2600960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mark301"/>
          <p:cNvSpPr/>
          <p:nvPr/>
        </p:nvSpPr>
        <p:spPr>
          <a:xfrm>
            <a:off x="6522974" y="2113788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figure302" descr="모눈 위의 마름모: 가로 대각선 8칸, 세로 대각선 4칸"/>
          <p:cNvSpPr/>
          <p:nvPr/>
        </p:nvSpPr>
        <p:spPr>
          <a:xfrm>
            <a:off x="7010146" y="2600960"/>
            <a:ext cx="3897376" cy="1948688"/>
          </a:xfrm>
          <a:custGeom>
            <a:avLst/>
            <a:gdLst/>
            <a:ahLst/>
            <a:cxnLst/>
            <a:rect l="l" t="t" r="r" b="b"/>
            <a:pathLst>
              <a:path w="3897376" h="1948688">
                <a:moveTo>
                  <a:pt x="0" y="974344"/>
                </a:moveTo>
                <a:lnTo>
                  <a:pt x="1948688" y="1948688"/>
                </a:lnTo>
                <a:lnTo>
                  <a:pt x="3897376" y="974344"/>
                </a:lnTo>
                <a:lnTo>
                  <a:pt x="194868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10-mark303"/>
          <p:cNvSpPr/>
          <p:nvPr/>
        </p:nvSpPr>
        <p:spPr>
          <a:xfrm>
            <a:off x="7010146" y="3575304"/>
            <a:ext cx="389737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34" name="S10-mark304"/>
          <p:cNvSpPr/>
          <p:nvPr/>
        </p:nvSpPr>
        <p:spPr>
          <a:xfrm flipV="1">
            <a:off x="8958834" y="2600960"/>
            <a:ext cx="0" cy="194868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넓이를 구하고, ④는 까닭을 말해요. ③의 모눈 한 칸은 1 cm예요.</a:t>
            </a:r>
            <a:endParaRPr lang="ko-KR" sz="2800" dirty="0"/>
          </a:p>
        </p:txBody>
      </p:sp>
      <p:sp>
        <p:nvSpPr>
          <p:cNvPr id="4" name="S11-chip30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307" descr="사다리꼴: 윗변 5 cm, 아랫변 9 cm, 높이 4 cm"/>
          <p:cNvSpPr/>
          <p:nvPr/>
        </p:nvSpPr>
        <p:spPr>
          <a:xfrm>
            <a:off x="2119122" y="2346960"/>
            <a:ext cx="3017520" cy="1341120"/>
          </a:xfrm>
          <a:custGeom>
            <a:avLst/>
            <a:gdLst/>
            <a:ahLst/>
            <a:cxnLst/>
            <a:rect l="l" t="t" r="r" b="b"/>
            <a:pathLst>
              <a:path w="3017520" h="1341120">
                <a:moveTo>
                  <a:pt x="0" y="1341120"/>
                </a:moveTo>
                <a:lnTo>
                  <a:pt x="3017520" y="1341120"/>
                </a:lnTo>
                <a:lnTo>
                  <a:pt x="2346960" y="0"/>
                </a:lnTo>
                <a:lnTo>
                  <a:pt x="6705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308"/>
          <p:cNvSpPr/>
          <p:nvPr/>
        </p:nvSpPr>
        <p:spPr>
          <a:xfrm>
            <a:off x="2789682" y="347853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1-mark309"/>
          <p:cNvSpPr/>
          <p:nvPr/>
        </p:nvSpPr>
        <p:spPr>
          <a:xfrm>
            <a:off x="2789682" y="2346960"/>
            <a:ext cx="0" cy="134112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11-label311"/>
          <p:cNvSpPr txBox="1"/>
          <p:nvPr/>
        </p:nvSpPr>
        <p:spPr>
          <a:xfrm>
            <a:off x="3246120" y="37649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</a:t>
            </a:r>
            <a:endParaRPr lang="ko-KR" sz="2200" dirty="0"/>
          </a:p>
        </p:txBody>
      </p:sp>
      <p:sp>
        <p:nvSpPr>
          <p:cNvPr id="9" name="S11-label313"/>
          <p:cNvSpPr txBox="1"/>
          <p:nvPr/>
        </p:nvSpPr>
        <p:spPr>
          <a:xfrm>
            <a:off x="3246120" y="19208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11-label315"/>
          <p:cNvSpPr txBox="1"/>
          <p:nvPr/>
        </p:nvSpPr>
        <p:spPr>
          <a:xfrm>
            <a:off x="2838196" y="28428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11-chip31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2" name="S11-text31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대각선이 12 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cm인 마름모의 넓이</a:t>
            </a:r>
            <a:endParaRPr lang="ko-KR" sz="2800" dirty="0"/>
          </a:p>
        </p:txBody>
      </p:sp>
      <p:sp>
        <p:nvSpPr>
          <p:cNvPr id="13" name="S11-chip318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11-mark319"/>
          <p:cNvSpPr/>
          <p:nvPr/>
        </p:nvSpPr>
        <p:spPr>
          <a:xfrm>
            <a:off x="2837579" y="4553494"/>
            <a:ext cx="1580606" cy="1317171"/>
          </a:xfrm>
          <a:custGeom>
            <a:avLst/>
            <a:gdLst/>
            <a:ahLst/>
            <a:cxnLst/>
            <a:rect l="l" t="t" r="r" b="b"/>
            <a:pathLst>
              <a:path w="1580606" h="1317171">
                <a:moveTo>
                  <a:pt x="0" y="1317171"/>
                </a:moveTo>
                <a:lnTo>
                  <a:pt x="1580606" y="1317171"/>
                </a:lnTo>
                <a:lnTo>
                  <a:pt x="526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5" name="S11-mark320"/>
          <p:cNvSpPr/>
          <p:nvPr/>
        </p:nvSpPr>
        <p:spPr>
          <a:xfrm flipV="1">
            <a:off x="2574145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321"/>
          <p:cNvSpPr/>
          <p:nvPr/>
        </p:nvSpPr>
        <p:spPr>
          <a:xfrm flipV="1">
            <a:off x="2837579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322"/>
          <p:cNvSpPr/>
          <p:nvPr/>
        </p:nvSpPr>
        <p:spPr>
          <a:xfrm flipV="1">
            <a:off x="3101013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323"/>
          <p:cNvSpPr/>
          <p:nvPr/>
        </p:nvSpPr>
        <p:spPr>
          <a:xfrm flipV="1">
            <a:off x="3364448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324"/>
          <p:cNvSpPr/>
          <p:nvPr/>
        </p:nvSpPr>
        <p:spPr>
          <a:xfrm flipV="1">
            <a:off x="3627882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mark325"/>
          <p:cNvSpPr/>
          <p:nvPr/>
        </p:nvSpPr>
        <p:spPr>
          <a:xfrm flipV="1">
            <a:off x="3891316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1-mark326"/>
          <p:cNvSpPr/>
          <p:nvPr/>
        </p:nvSpPr>
        <p:spPr>
          <a:xfrm flipV="1">
            <a:off x="4154751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1-mark327"/>
          <p:cNvSpPr/>
          <p:nvPr/>
        </p:nvSpPr>
        <p:spPr>
          <a:xfrm flipV="1">
            <a:off x="4418185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1-mark328"/>
          <p:cNvSpPr/>
          <p:nvPr/>
        </p:nvSpPr>
        <p:spPr>
          <a:xfrm flipV="1">
            <a:off x="4681619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1-mark329"/>
          <p:cNvSpPr/>
          <p:nvPr/>
        </p:nvSpPr>
        <p:spPr>
          <a:xfrm>
            <a:off x="2574145" y="6134100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1-mark330"/>
          <p:cNvSpPr/>
          <p:nvPr/>
        </p:nvSpPr>
        <p:spPr>
          <a:xfrm>
            <a:off x="2574145" y="5870666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1-mark331"/>
          <p:cNvSpPr/>
          <p:nvPr/>
        </p:nvSpPr>
        <p:spPr>
          <a:xfrm>
            <a:off x="2574145" y="5607231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1-mark332"/>
          <p:cNvSpPr/>
          <p:nvPr/>
        </p:nvSpPr>
        <p:spPr>
          <a:xfrm>
            <a:off x="2574145" y="5343797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1-mark333"/>
          <p:cNvSpPr/>
          <p:nvPr/>
        </p:nvSpPr>
        <p:spPr>
          <a:xfrm>
            <a:off x="2574145" y="5080363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1-mark334"/>
          <p:cNvSpPr/>
          <p:nvPr/>
        </p:nvSpPr>
        <p:spPr>
          <a:xfrm>
            <a:off x="2574145" y="4816929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1-mark335"/>
          <p:cNvSpPr/>
          <p:nvPr/>
        </p:nvSpPr>
        <p:spPr>
          <a:xfrm>
            <a:off x="2574145" y="4553494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1-mark336"/>
          <p:cNvSpPr/>
          <p:nvPr/>
        </p:nvSpPr>
        <p:spPr>
          <a:xfrm>
            <a:off x="2574145" y="4290060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1-figure337" descr="모눈 위의 직각 사다리꼴: 윗변 2칸, 아랫변 6칸, 왼쪽 변(높이) 5칸"/>
          <p:cNvSpPr/>
          <p:nvPr/>
        </p:nvSpPr>
        <p:spPr>
          <a:xfrm>
            <a:off x="2837579" y="4553494"/>
            <a:ext cx="1580606" cy="1317171"/>
          </a:xfrm>
          <a:custGeom>
            <a:avLst/>
            <a:gdLst/>
            <a:ahLst/>
            <a:cxnLst/>
            <a:rect l="l" t="t" r="r" b="b"/>
            <a:pathLst>
              <a:path w="1580606" h="1317171">
                <a:moveTo>
                  <a:pt x="0" y="1317171"/>
                </a:moveTo>
                <a:lnTo>
                  <a:pt x="1580606" y="1317171"/>
                </a:lnTo>
                <a:lnTo>
                  <a:pt x="52686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11-mark338"/>
          <p:cNvSpPr/>
          <p:nvPr/>
        </p:nvSpPr>
        <p:spPr>
          <a:xfrm>
            <a:off x="2837579" y="5661116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1-chip33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5" name="S11-text34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넓이를 구할 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÷ 2를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4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4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2를 빠뜨렸다면 사다리꼴 2개를 붙인 그림(S04)을 다시 보여 주세요.</a:t>
            </a:r>
            <a:endParaRPr lang="ko-KR" sz="2800" dirty="0"/>
          </a:p>
        </p:txBody>
      </p:sp>
      <p:sp>
        <p:nvSpPr>
          <p:cNvPr id="5" name="S12-chip34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44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28 cm²</a:t>
            </a:r>
            <a:endParaRPr lang="ko-KR" sz="2800" dirty="0"/>
          </a:p>
        </p:txBody>
      </p:sp>
      <p:sp>
        <p:nvSpPr>
          <p:cNvPr id="7" name="S12-text345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 + 9) × 4 ÷ 2</a:t>
            </a:r>
            <a:endParaRPr lang="ko-KR" sz="2200" dirty="0"/>
          </a:p>
        </p:txBody>
      </p:sp>
      <p:sp>
        <p:nvSpPr>
          <p:cNvPr id="8" name="S12-text346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 cm²</a:t>
            </a:r>
            <a:endParaRPr lang="ko-KR" sz="2800" dirty="0"/>
          </a:p>
        </p:txBody>
      </p:sp>
      <p:sp>
        <p:nvSpPr>
          <p:cNvPr id="9" name="S12-text347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5 ÷ 2</a:t>
            </a:r>
            <a:endParaRPr lang="ko-KR" sz="2200" dirty="0"/>
          </a:p>
        </p:txBody>
      </p:sp>
      <p:sp>
        <p:nvSpPr>
          <p:cNvPr id="10" name="S12-text348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20 cm²</a:t>
            </a:r>
            <a:endParaRPr lang="ko-KR" sz="2800" dirty="0"/>
          </a:p>
        </p:txBody>
      </p:sp>
      <p:sp>
        <p:nvSpPr>
          <p:cNvPr id="11" name="S12-text349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 + 6) × 5 ÷ 2</a:t>
            </a:r>
            <a:endParaRPr lang="ko-KR" sz="2200" dirty="0"/>
          </a:p>
        </p:txBody>
      </p:sp>
      <p:sp>
        <p:nvSpPr>
          <p:cNvPr id="12" name="S12-text350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2개 = 평행사변형</a:t>
            </a:r>
            <a:endParaRPr lang="ko-KR" sz="2200" dirty="0"/>
          </a:p>
        </p:txBody>
      </p:sp>
      <p:sp>
        <p:nvSpPr>
          <p:cNvPr id="13" name="S12-text351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절반</a:t>
            </a:r>
            <a:endParaRPr lang="ko-KR" sz="2200" dirty="0"/>
          </a:p>
        </p:txBody>
      </p:sp>
      <p:sp>
        <p:nvSpPr>
          <p:cNvPr id="14" name="S12-chip35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35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56 cm²</a:t>
            </a:r>
            <a:endParaRPr lang="ko-KR" sz="2800" dirty="0"/>
          </a:p>
        </p:txBody>
      </p:sp>
      <p:sp>
        <p:nvSpPr>
          <p:cNvPr id="16" name="S12-text35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2를 빠뜨림</a:t>
            </a:r>
            <a:endParaRPr lang="ko-KR" sz="2200" dirty="0"/>
          </a:p>
        </p:txBody>
      </p:sp>
      <p:sp>
        <p:nvSpPr>
          <p:cNvPr id="17" name="S12-text35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 cm²</a:t>
            </a:r>
            <a:endParaRPr lang="ko-KR" sz="2800" dirty="0"/>
          </a:p>
        </p:txBody>
      </p:sp>
      <p:sp>
        <p:nvSpPr>
          <p:cNvPr id="18" name="S12-text35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2를 빠뜨림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하나는?</a:t>
            </a:r>
            <a:endParaRPr lang="ko-KR" sz="4000" dirty="0"/>
          </a:p>
        </p:txBody>
      </p:sp>
      <p:sp>
        <p:nvSpPr>
          <p:cNvPr id="3" name="S13-text3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cm예요.</a:t>
            </a:r>
            <a:endParaRPr lang="ko-KR" sz="2800" dirty="0"/>
          </a:p>
        </p:txBody>
      </p:sp>
      <p:sp>
        <p:nvSpPr>
          <p:cNvPr id="4" name="S13-card3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하나를 고르고, 식으로 까닭을 말해요.</a:t>
            </a:r>
            <a:endParaRPr lang="ko-KR" sz="2800" dirty="0"/>
          </a:p>
        </p:txBody>
      </p:sp>
      <p:sp>
        <p:nvSpPr>
          <p:cNvPr id="6" name="S13-chip36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mark361"/>
          <p:cNvSpPr/>
          <p:nvPr/>
        </p:nvSpPr>
        <p:spPr>
          <a:xfrm>
            <a:off x="1529588" y="3172460"/>
            <a:ext cx="1491488" cy="1491488"/>
          </a:xfrm>
          <a:custGeom>
            <a:avLst/>
            <a:gdLst/>
            <a:ahLst/>
            <a:cxnLst/>
            <a:rect l="l" t="t" r="r" b="b"/>
            <a:pathLst>
              <a:path w="1491488" h="1491488">
                <a:moveTo>
                  <a:pt x="0" y="1491488"/>
                </a:moveTo>
                <a:lnTo>
                  <a:pt x="1491488" y="1491488"/>
                </a:lnTo>
                <a:lnTo>
                  <a:pt x="1118616" y="0"/>
                </a:lnTo>
                <a:lnTo>
                  <a:pt x="372872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13-mark362"/>
          <p:cNvSpPr/>
          <p:nvPr/>
        </p:nvSpPr>
        <p:spPr>
          <a:xfrm flipV="1">
            <a:off x="115671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363"/>
          <p:cNvSpPr/>
          <p:nvPr/>
        </p:nvSpPr>
        <p:spPr>
          <a:xfrm flipV="1">
            <a:off x="152958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364"/>
          <p:cNvSpPr/>
          <p:nvPr/>
        </p:nvSpPr>
        <p:spPr>
          <a:xfrm flipV="1">
            <a:off x="190246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65"/>
          <p:cNvSpPr/>
          <p:nvPr/>
        </p:nvSpPr>
        <p:spPr>
          <a:xfrm flipV="1">
            <a:off x="227533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66"/>
          <p:cNvSpPr/>
          <p:nvPr/>
        </p:nvSpPr>
        <p:spPr>
          <a:xfrm flipV="1">
            <a:off x="264820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67"/>
          <p:cNvSpPr/>
          <p:nvPr/>
        </p:nvSpPr>
        <p:spPr>
          <a:xfrm flipV="1">
            <a:off x="302107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68"/>
          <p:cNvSpPr/>
          <p:nvPr/>
        </p:nvSpPr>
        <p:spPr>
          <a:xfrm flipV="1">
            <a:off x="339394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369"/>
          <p:cNvSpPr/>
          <p:nvPr/>
        </p:nvSpPr>
        <p:spPr>
          <a:xfrm>
            <a:off x="1156716" y="5036820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370"/>
          <p:cNvSpPr/>
          <p:nvPr/>
        </p:nvSpPr>
        <p:spPr>
          <a:xfrm>
            <a:off x="1156716" y="4663948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371"/>
          <p:cNvSpPr/>
          <p:nvPr/>
        </p:nvSpPr>
        <p:spPr>
          <a:xfrm>
            <a:off x="1156716" y="4291076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372"/>
          <p:cNvSpPr/>
          <p:nvPr/>
        </p:nvSpPr>
        <p:spPr>
          <a:xfrm>
            <a:off x="1156716" y="3918204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mark373"/>
          <p:cNvSpPr/>
          <p:nvPr/>
        </p:nvSpPr>
        <p:spPr>
          <a:xfrm>
            <a:off x="1156716" y="3545332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3-mark374"/>
          <p:cNvSpPr/>
          <p:nvPr/>
        </p:nvSpPr>
        <p:spPr>
          <a:xfrm>
            <a:off x="1156716" y="3172460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3-mark375"/>
          <p:cNvSpPr/>
          <p:nvPr/>
        </p:nvSpPr>
        <p:spPr>
          <a:xfrm>
            <a:off x="1156716" y="2799588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3-figure376" descr="모눈 위의 사다리꼴 가: 윗변 2칸, 아랫변 4칸, 높이 4칸"/>
          <p:cNvSpPr/>
          <p:nvPr/>
        </p:nvSpPr>
        <p:spPr>
          <a:xfrm>
            <a:off x="1529588" y="3172460"/>
            <a:ext cx="1491488" cy="1491488"/>
          </a:xfrm>
          <a:custGeom>
            <a:avLst/>
            <a:gdLst/>
            <a:ahLst/>
            <a:cxnLst/>
            <a:rect l="l" t="t" r="r" b="b"/>
            <a:pathLst>
              <a:path w="1491488" h="1491488">
                <a:moveTo>
                  <a:pt x="0" y="1491488"/>
                </a:moveTo>
                <a:lnTo>
                  <a:pt x="1491488" y="1491488"/>
                </a:lnTo>
                <a:lnTo>
                  <a:pt x="1118616" y="0"/>
                </a:lnTo>
                <a:lnTo>
                  <a:pt x="37287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13-chip37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4" name="S13-mark378"/>
          <p:cNvSpPr/>
          <p:nvPr/>
        </p:nvSpPr>
        <p:spPr>
          <a:xfrm>
            <a:off x="4975860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745744"/>
                </a:moveTo>
                <a:lnTo>
                  <a:pt x="1118616" y="1491488"/>
                </a:lnTo>
                <a:lnTo>
                  <a:pt x="2237232" y="745744"/>
                </a:lnTo>
                <a:lnTo>
                  <a:pt x="1118616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5" name="S13-mark379"/>
          <p:cNvSpPr/>
          <p:nvPr/>
        </p:nvSpPr>
        <p:spPr>
          <a:xfrm flipV="1">
            <a:off x="460298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3-mark380"/>
          <p:cNvSpPr/>
          <p:nvPr/>
        </p:nvSpPr>
        <p:spPr>
          <a:xfrm flipV="1">
            <a:off x="497586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3-mark381"/>
          <p:cNvSpPr/>
          <p:nvPr/>
        </p:nvSpPr>
        <p:spPr>
          <a:xfrm flipV="1">
            <a:off x="534873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3-mark382"/>
          <p:cNvSpPr/>
          <p:nvPr/>
        </p:nvSpPr>
        <p:spPr>
          <a:xfrm flipV="1">
            <a:off x="572160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3-mark383"/>
          <p:cNvSpPr/>
          <p:nvPr/>
        </p:nvSpPr>
        <p:spPr>
          <a:xfrm flipV="1">
            <a:off x="609447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3-mark384"/>
          <p:cNvSpPr/>
          <p:nvPr/>
        </p:nvSpPr>
        <p:spPr>
          <a:xfrm flipV="1">
            <a:off x="646734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385"/>
          <p:cNvSpPr/>
          <p:nvPr/>
        </p:nvSpPr>
        <p:spPr>
          <a:xfrm flipV="1">
            <a:off x="684022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86"/>
          <p:cNvSpPr/>
          <p:nvPr/>
        </p:nvSpPr>
        <p:spPr>
          <a:xfrm flipV="1">
            <a:off x="721309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87"/>
          <p:cNvSpPr/>
          <p:nvPr/>
        </p:nvSpPr>
        <p:spPr>
          <a:xfrm flipV="1">
            <a:off x="758596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388"/>
          <p:cNvSpPr/>
          <p:nvPr/>
        </p:nvSpPr>
        <p:spPr>
          <a:xfrm>
            <a:off x="4602988" y="503682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389"/>
          <p:cNvSpPr/>
          <p:nvPr/>
        </p:nvSpPr>
        <p:spPr>
          <a:xfrm>
            <a:off x="4602988" y="466394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390"/>
          <p:cNvSpPr/>
          <p:nvPr/>
        </p:nvSpPr>
        <p:spPr>
          <a:xfrm>
            <a:off x="4602988" y="4291076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391"/>
          <p:cNvSpPr/>
          <p:nvPr/>
        </p:nvSpPr>
        <p:spPr>
          <a:xfrm>
            <a:off x="4602988" y="3918204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392"/>
          <p:cNvSpPr/>
          <p:nvPr/>
        </p:nvSpPr>
        <p:spPr>
          <a:xfrm>
            <a:off x="4602988" y="3545332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393"/>
          <p:cNvSpPr/>
          <p:nvPr/>
        </p:nvSpPr>
        <p:spPr>
          <a:xfrm>
            <a:off x="4602988" y="317246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394"/>
          <p:cNvSpPr/>
          <p:nvPr/>
        </p:nvSpPr>
        <p:spPr>
          <a:xfrm>
            <a:off x="4602988" y="279958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figure395" descr="모눈 위의 마름모 나: 가로 대각선 6칸, 세로 대각선 4칸"/>
          <p:cNvSpPr/>
          <p:nvPr/>
        </p:nvSpPr>
        <p:spPr>
          <a:xfrm>
            <a:off x="4975860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745744"/>
                </a:moveTo>
                <a:lnTo>
                  <a:pt x="1118616" y="1491488"/>
                </a:lnTo>
                <a:lnTo>
                  <a:pt x="2237232" y="745744"/>
                </a:lnTo>
                <a:lnTo>
                  <a:pt x="11186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13-mark396"/>
          <p:cNvSpPr/>
          <p:nvPr/>
        </p:nvSpPr>
        <p:spPr>
          <a:xfrm>
            <a:off x="4975860" y="3918204"/>
            <a:ext cx="2237232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3" name="S13-mark397"/>
          <p:cNvSpPr/>
          <p:nvPr/>
        </p:nvSpPr>
        <p:spPr>
          <a:xfrm flipV="1">
            <a:off x="6094476" y="3172460"/>
            <a:ext cx="0" cy="149148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4" name="S13-chip39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45" name="S13-mark399"/>
          <p:cNvSpPr/>
          <p:nvPr/>
        </p:nvSpPr>
        <p:spPr>
          <a:xfrm>
            <a:off x="8795004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1491488"/>
                </a:moveTo>
                <a:lnTo>
                  <a:pt x="2237232" y="1491488"/>
                </a:lnTo>
                <a:lnTo>
                  <a:pt x="1491488" y="0"/>
                </a:lnTo>
                <a:lnTo>
                  <a:pt x="745744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6" name="S13-mark400"/>
          <p:cNvSpPr/>
          <p:nvPr/>
        </p:nvSpPr>
        <p:spPr>
          <a:xfrm flipV="1">
            <a:off x="842213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3-mark401"/>
          <p:cNvSpPr/>
          <p:nvPr/>
        </p:nvSpPr>
        <p:spPr>
          <a:xfrm flipV="1">
            <a:off x="879500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3-mark402"/>
          <p:cNvSpPr/>
          <p:nvPr/>
        </p:nvSpPr>
        <p:spPr>
          <a:xfrm flipV="1">
            <a:off x="916787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3-mark403"/>
          <p:cNvSpPr/>
          <p:nvPr/>
        </p:nvSpPr>
        <p:spPr>
          <a:xfrm flipV="1">
            <a:off x="954074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3-mark404"/>
          <p:cNvSpPr/>
          <p:nvPr/>
        </p:nvSpPr>
        <p:spPr>
          <a:xfrm flipV="1">
            <a:off x="991362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3-mark405"/>
          <p:cNvSpPr/>
          <p:nvPr/>
        </p:nvSpPr>
        <p:spPr>
          <a:xfrm flipV="1">
            <a:off x="1028649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13-mark406"/>
          <p:cNvSpPr/>
          <p:nvPr/>
        </p:nvSpPr>
        <p:spPr>
          <a:xfrm flipV="1">
            <a:off x="1065936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13-mark407"/>
          <p:cNvSpPr/>
          <p:nvPr/>
        </p:nvSpPr>
        <p:spPr>
          <a:xfrm flipV="1">
            <a:off x="1103223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13-mark408"/>
          <p:cNvSpPr/>
          <p:nvPr/>
        </p:nvSpPr>
        <p:spPr>
          <a:xfrm flipV="1">
            <a:off x="1140510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13-mark409"/>
          <p:cNvSpPr/>
          <p:nvPr/>
        </p:nvSpPr>
        <p:spPr>
          <a:xfrm>
            <a:off x="8422132" y="503682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3-mark410"/>
          <p:cNvSpPr/>
          <p:nvPr/>
        </p:nvSpPr>
        <p:spPr>
          <a:xfrm>
            <a:off x="8422132" y="466394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3-mark411"/>
          <p:cNvSpPr/>
          <p:nvPr/>
        </p:nvSpPr>
        <p:spPr>
          <a:xfrm>
            <a:off x="8422132" y="4291076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3-mark412"/>
          <p:cNvSpPr/>
          <p:nvPr/>
        </p:nvSpPr>
        <p:spPr>
          <a:xfrm>
            <a:off x="8422132" y="3918204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3-mark413"/>
          <p:cNvSpPr/>
          <p:nvPr/>
        </p:nvSpPr>
        <p:spPr>
          <a:xfrm>
            <a:off x="8422132" y="3545332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3-mark414"/>
          <p:cNvSpPr/>
          <p:nvPr/>
        </p:nvSpPr>
        <p:spPr>
          <a:xfrm>
            <a:off x="8422132" y="317246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3-mark415"/>
          <p:cNvSpPr/>
          <p:nvPr/>
        </p:nvSpPr>
        <p:spPr>
          <a:xfrm>
            <a:off x="8422132" y="279958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3-figure416" descr="모눈 위의 사다리꼴 다: 윗변 2칸, 아랫변 6칸, 높이 4칸"/>
          <p:cNvSpPr/>
          <p:nvPr/>
        </p:nvSpPr>
        <p:spPr>
          <a:xfrm>
            <a:off x="8795004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1491488"/>
                </a:moveTo>
                <a:lnTo>
                  <a:pt x="2237232" y="1491488"/>
                </a:lnTo>
                <a:lnTo>
                  <a:pt x="1491488" y="0"/>
                </a:lnTo>
                <a:lnTo>
                  <a:pt x="74574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1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1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사다리꼴: (윗변 + 아랫변) × 높이 ÷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마름모: 한 대각선 × 다른 대각선 ÷ 2</a:t>
            </a:r>
            <a:endParaRPr lang="ko-KR" sz="2800" dirty="0"/>
          </a:p>
        </p:txBody>
      </p:sp>
      <p:sp>
        <p:nvSpPr>
          <p:cNvPr id="5" name="S14-chip41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직각으로 그은 높이 찾기</a:t>
            </a:r>
            <a:endParaRPr lang="ko-KR" sz="2200" dirty="0"/>
          </a:p>
        </p:txBody>
      </p:sp>
      <p:sp>
        <p:nvSpPr>
          <p:cNvPr id="6" name="S14-chip42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기울어진 변을 높이로 쓰기</a:t>
            </a:r>
            <a:endParaRPr lang="ko-KR" sz="2200" dirty="0"/>
          </a:p>
        </p:txBody>
      </p:sp>
      <p:sp>
        <p:nvSpPr>
          <p:cNvPr id="7" name="S14-text42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42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사다리꼴의 넓이는?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 3 cm, 높이 6 cm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아랫변 5 cm</a:t>
            </a:r>
            <a:endParaRPr lang="ko-KR" sz="2200" dirty="0"/>
          </a:p>
        </p:txBody>
      </p:sp>
      <p:sp>
        <p:nvSpPr>
          <p:cNvPr id="9" name="S14-text42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대각선이 7 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cm인 마름모의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</p:txBody>
      </p:sp>
      <p:sp>
        <p:nvSpPr>
          <p:cNvPr id="10" name="S14-text42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사다리꼴의 넓이에서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÷ 2를 할까요?</a:t>
            </a:r>
            <a:endParaRPr lang="ko-KR" sz="2200" dirty="0"/>
          </a:p>
        </p:txBody>
      </p:sp>
      <p:sp>
        <p:nvSpPr>
          <p:cNvPr id="11" name="S14-text42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평균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평행사변형과 삼각형</a:t>
            </a:r>
            <a:endParaRPr lang="ko-KR" sz="4000" dirty="0"/>
          </a:p>
        </p:txBody>
      </p:sp>
      <p:sp>
        <p:nvSpPr>
          <p:cNvPr id="3" name="S15-mark426"/>
          <p:cNvSpPr/>
          <p:nvPr/>
        </p:nvSpPr>
        <p:spPr>
          <a:xfrm>
            <a:off x="1353160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0" y="1407719"/>
                </a:moveTo>
                <a:lnTo>
                  <a:pt x="2815438" y="1407719"/>
                </a:lnTo>
                <a:lnTo>
                  <a:pt x="938479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15-mark427"/>
          <p:cNvSpPr/>
          <p:nvPr/>
        </p:nvSpPr>
        <p:spPr>
          <a:xfrm>
            <a:off x="2291639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1876958" y="1407719"/>
                </a:moveTo>
                <a:lnTo>
                  <a:pt x="28154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15-mark428"/>
          <p:cNvSpPr/>
          <p:nvPr/>
        </p:nvSpPr>
        <p:spPr>
          <a:xfrm flipV="1">
            <a:off x="883920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429"/>
          <p:cNvSpPr/>
          <p:nvPr/>
        </p:nvSpPr>
        <p:spPr>
          <a:xfrm flipV="1">
            <a:off x="1353160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430"/>
          <p:cNvSpPr/>
          <p:nvPr/>
        </p:nvSpPr>
        <p:spPr>
          <a:xfrm flipV="1">
            <a:off x="1822399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431"/>
          <p:cNvSpPr/>
          <p:nvPr/>
        </p:nvSpPr>
        <p:spPr>
          <a:xfrm flipV="1">
            <a:off x="2291639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432"/>
          <p:cNvSpPr/>
          <p:nvPr/>
        </p:nvSpPr>
        <p:spPr>
          <a:xfrm flipV="1">
            <a:off x="2760878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433"/>
          <p:cNvSpPr/>
          <p:nvPr/>
        </p:nvSpPr>
        <p:spPr>
          <a:xfrm flipV="1">
            <a:off x="3230118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434"/>
          <p:cNvSpPr/>
          <p:nvPr/>
        </p:nvSpPr>
        <p:spPr>
          <a:xfrm flipV="1">
            <a:off x="3699358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435"/>
          <p:cNvSpPr/>
          <p:nvPr/>
        </p:nvSpPr>
        <p:spPr>
          <a:xfrm flipV="1">
            <a:off x="4168597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436"/>
          <p:cNvSpPr/>
          <p:nvPr/>
        </p:nvSpPr>
        <p:spPr>
          <a:xfrm flipV="1">
            <a:off x="4637837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437"/>
          <p:cNvSpPr/>
          <p:nvPr/>
        </p:nvSpPr>
        <p:spPr>
          <a:xfrm flipV="1">
            <a:off x="5107076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438"/>
          <p:cNvSpPr/>
          <p:nvPr/>
        </p:nvSpPr>
        <p:spPr>
          <a:xfrm flipV="1">
            <a:off x="5576316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439"/>
          <p:cNvSpPr/>
          <p:nvPr/>
        </p:nvSpPr>
        <p:spPr>
          <a:xfrm>
            <a:off x="883920" y="494499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440"/>
          <p:cNvSpPr/>
          <p:nvPr/>
        </p:nvSpPr>
        <p:spPr>
          <a:xfrm>
            <a:off x="883920" y="447575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mark441"/>
          <p:cNvSpPr/>
          <p:nvPr/>
        </p:nvSpPr>
        <p:spPr>
          <a:xfrm>
            <a:off x="883920" y="400652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5-mark442"/>
          <p:cNvSpPr/>
          <p:nvPr/>
        </p:nvSpPr>
        <p:spPr>
          <a:xfrm>
            <a:off x="883920" y="353728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5-mark443"/>
          <p:cNvSpPr/>
          <p:nvPr/>
        </p:nvSpPr>
        <p:spPr>
          <a:xfrm>
            <a:off x="883920" y="306804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5-mark444"/>
          <p:cNvSpPr/>
          <p:nvPr/>
        </p:nvSpPr>
        <p:spPr>
          <a:xfrm>
            <a:off x="883920" y="259880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5-figure445" descr="모눈 위의 평행사변형(밑변 6 cm, 높이 3 cm)을 대각선으로 잘라 만든 똑같은 삼각형 2개"/>
          <p:cNvSpPr/>
          <p:nvPr/>
        </p:nvSpPr>
        <p:spPr>
          <a:xfrm>
            <a:off x="1353160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0" y="1407719"/>
                </a:moveTo>
                <a:lnTo>
                  <a:pt x="2815438" y="1407719"/>
                </a:lnTo>
                <a:lnTo>
                  <a:pt x="93847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15-mark446"/>
          <p:cNvSpPr/>
          <p:nvPr/>
        </p:nvSpPr>
        <p:spPr>
          <a:xfrm>
            <a:off x="2291639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1876958" y="1407719"/>
                </a:moveTo>
                <a:lnTo>
                  <a:pt x="281543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5-mark447"/>
          <p:cNvSpPr/>
          <p:nvPr/>
        </p:nvSpPr>
        <p:spPr>
          <a:xfrm>
            <a:off x="2291639" y="426620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5-mark448"/>
          <p:cNvSpPr/>
          <p:nvPr/>
        </p:nvSpPr>
        <p:spPr>
          <a:xfrm>
            <a:off x="2291639" y="3068041"/>
            <a:ext cx="0" cy="140771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6" name="S15-label450"/>
          <p:cNvSpPr txBox="1"/>
          <p:nvPr/>
        </p:nvSpPr>
        <p:spPr>
          <a:xfrm>
            <a:off x="2379116" y="45525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27" name="S15-label452"/>
          <p:cNvSpPr txBox="1"/>
          <p:nvPr/>
        </p:nvSpPr>
        <p:spPr>
          <a:xfrm>
            <a:off x="2340153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8" name="S15-card453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15-cardtext454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× 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 (cm²)</a:t>
            </a:r>
            <a:endParaRPr lang="ko-KR" sz="2800" dirty="0"/>
          </a:p>
        </p:txBody>
      </p:sp>
      <p:sp>
        <p:nvSpPr>
          <p:cNvPr id="30" name="S15-card455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15-cardtext456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절반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÷ 2 = 9 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사다리꼴과 마름모의 넓이</dc:title>
  <dc:subject>KR22-G05-MAT-AREA3-L01</dc:subject>
  <dc:creator>education-ppt</dc:creator>
  <cp:lastModifiedBy>education-ppt</cp:lastModifiedBy>
  <cp:revision>1</cp:revision>
  <dcterms:created xsi:type="dcterms:W3CDTF">2026-10-26T08:39:20Z</dcterms:created>
  <dcterms:modified xsi:type="dcterms:W3CDTF">2026-10-26T08:39:20Z</dcterms:modified>
</cp:coreProperties>
</file>