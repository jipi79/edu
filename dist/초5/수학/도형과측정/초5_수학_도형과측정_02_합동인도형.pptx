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9e80677-9f5c-1e10-e73a-ecec6c5f1275}">
          <p14:sldIdLst>
            <p14:sldId id="256"/>
            <p14:sldId id="257"/>
          </p14:sldIdLst>
        </p14:section>
        <p14:section name="개념" id="{cf70b4f9-d19a-0795-4548-44d22e87e4bd}">
          <p14:sldIdLst>
            <p14:sldId id="258"/>
            <p14:sldId id="261"/>
            <p14:sldId id="262"/>
          </p14:sldIdLst>
        </p14:section>
        <p14:section name="연습" id="{01dba392-8c53-fe5d-15d5-c263e358cce7}">
          <p14:sldIdLst>
            <p14:sldId id="259"/>
            <p14:sldId id="260"/>
            <p14:sldId id="263"/>
          </p14:sldIdLst>
        </p14:section>
        <p14:section name="개념" id="{bb728f62-cb34-d698-40c0-a1b04448c745}">
          <p14:sldIdLst/>
        </p14:section>
        <p14:section name="연습" id="{aef5d1da-6729-e024-375e-64238a1d426c}">
          <p14:sldIdLst/>
        </p14:section>
        <p14:section name="확인" id="{605f9911-c728-6c4e-ea1f-93e0b88c726a}">
          <p14:sldIdLst>
            <p14:sldId id="264"/>
            <p14:sldId id="265"/>
            <p14:sldId id="266"/>
          </p14:sldIdLst>
        </p14:section>
        <p14:section name="정리" id="{2aaeb7c2-342c-4bbe-0cf7-6127444a434e}">
          <p14:sldIdLst>
            <p14:sldId id="267"/>
          </p14:sldIdLst>
        </p14:section>
        <p14:section name="보충" id="{0a8aaf40-95dd-73cc-d64c-fa463cb622e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모양과 크기가 같은 두 도형에 관심을 갖게 합니다.
시간: 약 2분
이렇게 말해 보세요
- “오른쪽 두 삼각형을 봐. 하나를 오려서 다른 하나 위에 올리면 어떻게 될까?”
- “오늘은 이렇게 꼭 맞게 겹치는 두 도형과, 겹치는 부분끼리의 관계를 알아볼 거야.”
예상 답
- “돌려서 올리면 딱 맞을 것 같아요.” “크기가 같아 보여요.”
막히면
- 답을 확인하지 않고 넘어갑니다. S03에서 색종이로 직접 겹쳐 봅니다.
주의
- 오늘은 색종이(또는 이면지) 2장, 가위, 얇은 종이 한 장(따라 그리기용)을 씁니다. 가위는 부모가 함께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확인(평면도형의 이동, 삼각형 세 각의 합)]
목적: 도형 돌리기·뒤집기(4학년 평면도형의 이동)와 삼각형 세 각의 합(4학년)을 기억하는지 확인합니다. 오늘 합동과 대응각에 바로 쓰입니다.
시간: 약 3분
이렇게 말해 보세요
- “①은 ㉮를 어떻게 움직였는지 말해 볼래? 밀기, 뒤집기, 돌리기 중에서.”
- “②, ③은 말로 답해 줘.”
정답
- ① 시계 방향으로 90° 돌린 모양(돌리기)
- ② 바뀌지 않아요. 놓인 방향만 바뀌고 모양과 크기는 그대로예요.
- ③ 70° (180° − 50° − 60°)
막히면
- ①이 어려우면 종이에 ㉮를 따라 그려 오린 뒤 직접 돌려 보게 합니다.
- ①·②가 흔들리면 S13(보충)을 먼저 합니다. 보충으로도 어려우면 4학년 ‘평면도형의 이동’ 차시를 먼저 다시 합니다.
주의
- ③이 틀려도 오늘 수업은 할 수 있습니다. S09에서 나머지 각을 구할 때 180°를 다시 떠올리게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합동의 뜻(포개어 완전히 겹침)]
목적: 모양과 크기가 같아서 포개었을 때 완전히 겹치는 두 도형을 ‘서로 합동’이라고 한다는 것을 압니다.
시간: 약 4분
이렇게 말해 보세요
- “색종이 두 장을 겹쳐서 아무 삼각형이나 하나 오려 볼까? 삼각형이 두 개 생겼지?”
- “하나를 돌려서 내려놓아 봐. 이제 다시 포개면 어떻게 돼? 빈틈없이 꼭 맞지?”
- “이렇게 포개었을 때 완전히 겹치는 두 도형을 ‘서로 합동’이라고 해. 화면의 가와 나도 합동이야.”
예상 답
- “돌려서 올리면 딱 맞아요.” “모양도 크기도 같아요.”
막히면
- 부모가 먼저 한 쌍을 오려 겹쳐 보이고, 아이가 한 쌍을 더 만들게 합니다. 가위는 부모가 함께 다룹니다.
주의
- ‘합동’은 두 도형 사이의 관계입니다. “가와 나는 서로 합동이다”처럼 말하게 합니다.
- 뒤집어서 포개어도 겹치면 합동입니다. 오린 삼각형 하나를 뒤집어 포개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안내받는 연습(합동인 도형 찾기)]
목적: 도움을 받으며 돌리거나 뒤집은 도형도 포개어 겹치면 합동이라는 것을 판단합니다.
시간: 약 4분
이렇게 말해 보세요
- “★과 합동인 도형은 어느 것일까? 왜 그렇게 생각해?”
- “얇은 종이에 ★을 따라 그려서 돌리거나 뒤집어 대 봐도 돼.”
정답
- 가, 나, 라
- 가는 ★을 시계 반대 방향으로 90° 돌린 모양, 나는 뒤집은 모양, 라는 180° 돌린 모양이라 포개면 완전히 겹칩니다.
- 다는 짧은 변이 2칸이라(★은 1칸) 모양이 달라 합동이 아닙니다.
막히면
- 얇은 종이에 ★을 따라 그려 오려서 가~라 위에 직접 대어 보게 합니다.
- 가로·세로로 놓인 변의 칸 수를 함께 세어 비교합니다(★: 4칸, 1칸).
주의
- 나를 ‘방향이 반대라서 합동이 아니다’라고 하면, 종이를 뒤집어 대어 보게 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오개념 비교(모양이 같으면 합동)]
목적: 모양이 같아도 크기가 다르면 합동이 아니라는 것을 확인합니다(M1).
시간: 약 2분
이렇게 말해 보세요
- “토끼와 곰 중 누가 맞았을까? 두 정사각형을 포개면 어떻게 될까?”
- “합동이 되려면 무엇이 같아야 했지?”
예상 답
- “곰이요. 크기가 다르면 겹치지 않아요.”
정답
- 곰이 맞습니다. 한 변이 3 cm와 4 cm로 크기가 달라서 포개면 완전히 겹치지 않습니다.
- 합동이 되려면 모양과 크기가 모두 같아야 합니다.
막히면
- 공책에 한 변이 3칸, 4칸인 정사각형을 그려 오려서 포개어 보게 합니다.
주의
- “한 변이 4 cm인 정사각형 두 개는 합동일까?”라고 거꾸로도 물어봅니다. 답은 ‘합동이다’입니다.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대응점·대응변·대응각의 뜻]
목적: 합동인 두 도형을 포개었을 때 겹치는 꼭짓점·변·각을 대응점·대응변·대응각이라고 한다는 것을 압니다.
시간: 약 4분
이렇게 말해 보세요
- “오른쪽 삼각형은 왼쪽 삼각형을 180° 돌린 거야. 포개면 점 ㄱ은 어느 점과 겹칠까?”
- “겹치는 점을 대응점, 겹치는 변을 대응변, 겹치는 각을 대응각이라고 해.”
- “변에 그은 짧은 선의 개수와 각의 색이 같은 것끼리 짝이야. 점 ㄴ의 대응점은? 변 ㄴㄷ의 대응변은?”
예상 답
- “점 ㄴ의 대응점은 점 ㅁ이에요.” “변 ㄴㄷ의 대응변은 변 ㅁㅂ이에요.”
막히면
- 얇은 종이에 왼쪽 삼각형을 따라 그리고 꼭짓점에 ㄱ, ㄴ, ㄷ을 쓴 뒤, 180° 돌려 오른쪽 삼각형에 대어 봅니다.
주의
- 대응점은 위치(왼쪽 아래끼리)로 찾지 않습니다. 점 ㄴ은 왼쪽 아래에 있지만 대응점 ㅁ은 오른쪽 위에 있습니다(M3).
- 대응변은 대응점끼리 이은 변입니다. 변 ㄱㄴ의 대응변은 ㄱ→ㄹ, ㄴ→ㅁ이므로 변 ㄹㅁ입니다.
- 두 그림은 같은 크기로 그렸습니다.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대응변의 길이·대응각의 크기는 같다]
목적: 합동인 두 도형에서 대응변의 길이와 대응각의 크기가 각각 같다는 성질을 압니다.
시간: 약 3분
이렇게 말해 보세요
- “포개면 완전히 겹치니까 겹치는 변끼리 길이는 어떨까? 겹치는 각끼리 크기는?”
- “변 ㄹㅁ은 몇 cm야? 어느 변과 대응해서 그런지 말해 줘.”
예상 답
- “변 ㄹㅁ은 변 ㄱㄴ과 대응해서 5 cm예요.” “각 ㄹㅁㅂ은 각 ㄱㄴㄷ과 같아서 60°예요.”
막히면
- 자로 두 삼각형의 대응변을 하나씩 재어 비교하게 합니다(화면 위에서는 대략만 맞습니다).
주의
- 변 ㄱㄴ 5 cm, 변 ㄴㄷ 8 cm, 변 ㄷㄱ 7 cm, 각 ㄱㄴㄷ 60°는 그림의 모양과 맞게 그렸습니다.
- 합동인 두 도형은 둘레(변의 길이의 합)도 같습니다. 두 삼각형 모두 5 + 8 + 7 = 20(cm)입니다.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연습(대응변의 길이와 대응각의 크기 구하기)]
목적: 도움을 받으며 뒤집어 놓인 합동인 사각형에서 대응점을 짝짓고, 대응변의 길이와 대응각의 크기를 구합니다.
시간: 약 4분
이렇게 말해 보세요
- “직각 표시가 있는 꼭짓점은 어디야? 그러면 점 ㄴ의 대응점은? 점 ㄱ의 대응점은?”
- “①은 변 ㅇㅁ이야. 어느 변과 대응할까? ②는 각 ㅇ, ③은 변 ㅁㅂ이야.”
정답
- 대응점: ㄱ–ㅁ, ㄴ–ㅂ, ㄷ–ㅅ, ㄹ–ㅇ (오른쪽은 왼쪽을 아래쪽으로 뒤집은 모양)
- ① 4 cm (변 ㅇㅁ의 대응변은 변 ㄹㄱ)
- ② 120° (각 ㅁㅇㅅ의 대응각은 각 ㄱㄹㄷ)
- ③ 8 cm (변 ㅁㅂ의 대응변은 변 ㄱㄴ)
막히면
- 얇은 종이에 왼쪽 사각형을 따라 그려 아래쪽으로 뒤집어 대어 봅니다.
- “60°인 뾰족한 각은 오른쪽 그림에서 어디 있어?”처럼 각의 모양으로 짝을 찾게 합니다.
주의
- ①을 6 cm라고 하면 위치(윗변끼리)로 짝지은 것입니다. 대응점을 먼저 쓰게 합니다(M3).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해결(대응변·대응각 구하기)]
목적: 도움 없이 돌려 놓인 합동인 삼각형에서 대응변의 길이와 대응각의 크기를 구하고, 삼각형 세 각의 합으로 나머지 각을 구하는지 확인합니다.
시간: 약 5분
이렇게 말해 보세요
- “이번에는 혼자 해 볼래? 어느 변(각)과 대응하는지도 말해 줘.”
정답
- ① 6 cm (변 ㅁㅂ의 대응변은 변 ㄴㄷ)
- ② 40° (각 ㄹㅁㅂ의 대응각은 각 ㄱㄴㄷ)
- ③ 65° (대응각인 각 ㄴㄱㄷ = 180° − 40° − 75°)
막히면
- 바로 알려 주지 말고 “점 ㄴ의 대응점은 어디야?”라고만 묻습니다.
- 도움을 받아 해결했다면 기록표에 ‘도움’으로 표시합니다.
주의
- ③은 대응각인 각 ㄴㄱㄷ의 크기가 그림에 없어서 180°에서 두 각을 빼야 합니다. 삼각형 ㄹㅁㅂ에서 직접 180° − 40° − 75°로 구해도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대응점부터 다시 짝지어 보자.”
정답
- ① 6 cm ② 40° ③ 65°
막히면
- 대응점을 찾기 어려우면 얇은 종이에 삼각형 ㄱㄴㄷ을 따라 그려 시계 방향으로 90° 돌려 대어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확인(항상 합동인 경우 고르기)]
목적: 처음 보는 문제에서 ‘모양과 크기가 모두 같아 포개면 겹치는지’로 합동을 판단하는지 확인합니다.
시간: 약 3분
이렇게 말해 보세요
- “어느 것이 항상 합동일까? 고르지 않은 것은 왜 합동이 아닐 수도 있어?”
정답
- 나, 다
- 나: 한 변이 5 cm인 정사각형은 모양과 크기가 모두 같습니다. 다: 반지름이 같은 원은 포개면 겹칩니다.
- 가: 넓이가 같아도 모양이 다를 수 있습니다(예: 가로 4 cm·세로 1 cm와 가로 2 cm·세로 2 cm, 둘 다 넓이는 1 cm 정사각형 4개).
- 라: 정삼각형끼리는 모양이 같지만 한 변의 길이가 다르면 크기가 달라 합동이 아닙니다.
막히면
- 가는 모눈에 4칸짜리 직사각형 두 가지(4×1, 2×2)를 그려 보게 합니다. 넓이는 다음다음 차시에서 자세히 배웁니다.
주의
- 까닭까지 말하면 목표 A를 이룬 것입니다. 답만 맞히면 ‘까닭 설명 필요’로 기록합니다(M1,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“합동인 두 도형은 어떤 도형이었지? 대응변과 대응각은 어떤 성질이 있었어?”
예상 답
- “포개면 완전히 겹쳐요.” “대응변의 길이가 같고 대응각의 크기가 같아요.”
정답
- ① 합동(서로 합동인 도형)
- ② 7 cm
- ③ 12 cm (3 + 3 + 3 + 3 = 3 × 4)
막히면
- S03과 S07을 다시 보여 줍니다.
주의
- 오늘 오린 색종이 삼각형 두 개를 공책에 붙이고 대응점에 같은 색을 칠해 두면 좋습니다.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보충(밀기·뒤집기·돌리기)]
목적: S02에서 도형의 이동이 흔들리면, 밀기·뒤집기·돌리기를 해도 모양과 크기는 그대로라는 것을 다시 확인합니다.
시간: 약 5분
이렇게 말해 보세요
- “종이에 이 모양을 그려 오려 볼까? 오른쪽으로 밀어 봐. 모양이 바뀌었어?”
- “이번에는 점선을 따라 뒤집어 보고, 점 ㅇ을 누르고 시계 방향으로 90° 돌려 봐. 크기가 바뀌었어?”
정답
- 세 경우 모두 모양과 크기는 그대로이고, 위치나 방향만 바뀝니다.
막히면
- 오린 종이를 직접 움직이며 한 단계씩 따라 하게 합니다.
주의
- 계획의 바로 앞 차시는 ‘규칙과 대응’이지만, 합동에 직접 필요한 것은 4학년 ‘평면도형의 이동’입니다. 보충으로도 어려우면 그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합동인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합동인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합동인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도형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크기가 똑같은 두 도형을 무엇이라고 할까요?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모양과 크기가 같은 두 삼각형, 하나는 180° 돌려 놓임"/>
          <p:cNvSpPr/>
          <p:nvPr/>
        </p:nvSpPr>
        <p:spPr>
          <a:xfrm>
            <a:off x="7764780" y="1423965"/>
            <a:ext cx="2509520" cy="1358309"/>
          </a:xfrm>
          <a:custGeom>
            <a:avLst/>
            <a:gdLst/>
            <a:ahLst/>
            <a:cxnLst/>
            <a:rect l="l" t="t" r="r" b="b"/>
            <a:pathLst>
              <a:path w="2509520" h="1358309">
                <a:moveTo>
                  <a:pt x="784225" y="0"/>
                </a:moveTo>
                <a:lnTo>
                  <a:pt x="0" y="1358309"/>
                </a:lnTo>
                <a:lnTo>
                  <a:pt x="2509520" y="135830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019540" y="1423965"/>
            <a:ext cx="2509520" cy="1358309"/>
          </a:xfrm>
          <a:custGeom>
            <a:avLst/>
            <a:gdLst/>
            <a:ahLst/>
            <a:cxnLst/>
            <a:rect l="l" t="t" r="r" b="b"/>
            <a:pathLst>
              <a:path w="2509520" h="1358309">
                <a:moveTo>
                  <a:pt x="1725295" y="1358309"/>
                </a:moveTo>
                <a:lnTo>
                  <a:pt x="2509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합동인 도형을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대응변의 길이와 대응각의 크기를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mark6"/>
          <p:cNvSpPr/>
          <p:nvPr/>
        </p:nvSpPr>
        <p:spPr>
          <a:xfrm>
            <a:off x="6880708" y="2992603"/>
            <a:ext cx="1558595" cy="1558595"/>
          </a:xfrm>
          <a:custGeom>
            <a:avLst/>
            <a:gdLst/>
            <a:ahLst/>
            <a:cxnLst/>
            <a:rect l="l" t="t" r="r" b="b"/>
            <a:pathLst>
              <a:path w="1558595" h="1558595">
                <a:moveTo>
                  <a:pt x="0" y="1558595"/>
                </a:moveTo>
                <a:lnTo>
                  <a:pt x="519532" y="1558595"/>
                </a:lnTo>
                <a:lnTo>
                  <a:pt x="519532" y="519532"/>
                </a:lnTo>
                <a:lnTo>
                  <a:pt x="1558595" y="51953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2-mark7"/>
          <p:cNvSpPr/>
          <p:nvPr/>
        </p:nvSpPr>
        <p:spPr>
          <a:xfrm>
            <a:off x="9478366" y="2992603"/>
            <a:ext cx="1558595" cy="1558595"/>
          </a:xfrm>
          <a:custGeom>
            <a:avLst/>
            <a:gdLst/>
            <a:ahLst/>
            <a:cxnLst/>
            <a:rect l="l" t="t" r="r" b="b"/>
            <a:pathLst>
              <a:path w="1558595" h="1558595">
                <a:moveTo>
                  <a:pt x="0" y="0"/>
                </a:moveTo>
                <a:lnTo>
                  <a:pt x="0" y="519532"/>
                </a:lnTo>
                <a:lnTo>
                  <a:pt x="1039063" y="519532"/>
                </a:lnTo>
                <a:lnTo>
                  <a:pt x="1039063" y="1558595"/>
                </a:lnTo>
                <a:lnTo>
                  <a:pt x="1558595" y="1558595"/>
                </a:lnTo>
                <a:lnTo>
                  <a:pt x="1558595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" name="S02-mark8"/>
          <p:cNvSpPr/>
          <p:nvPr/>
        </p:nvSpPr>
        <p:spPr>
          <a:xfrm flipV="1">
            <a:off x="6361176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2-mark9"/>
          <p:cNvSpPr/>
          <p:nvPr/>
        </p:nvSpPr>
        <p:spPr>
          <a:xfrm flipV="1">
            <a:off x="6880708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2-mark10"/>
          <p:cNvSpPr/>
          <p:nvPr/>
        </p:nvSpPr>
        <p:spPr>
          <a:xfrm flipV="1">
            <a:off x="7400239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11"/>
          <p:cNvSpPr/>
          <p:nvPr/>
        </p:nvSpPr>
        <p:spPr>
          <a:xfrm flipV="1">
            <a:off x="7919771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12"/>
          <p:cNvSpPr/>
          <p:nvPr/>
        </p:nvSpPr>
        <p:spPr>
          <a:xfrm flipV="1">
            <a:off x="8439302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13"/>
          <p:cNvSpPr/>
          <p:nvPr/>
        </p:nvSpPr>
        <p:spPr>
          <a:xfrm flipV="1">
            <a:off x="8958834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14"/>
          <p:cNvSpPr/>
          <p:nvPr/>
        </p:nvSpPr>
        <p:spPr>
          <a:xfrm flipV="1">
            <a:off x="9478366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15"/>
          <p:cNvSpPr/>
          <p:nvPr/>
        </p:nvSpPr>
        <p:spPr>
          <a:xfrm flipV="1">
            <a:off x="9997897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16"/>
          <p:cNvSpPr/>
          <p:nvPr/>
        </p:nvSpPr>
        <p:spPr>
          <a:xfrm flipV="1">
            <a:off x="10517429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17"/>
          <p:cNvSpPr/>
          <p:nvPr/>
        </p:nvSpPr>
        <p:spPr>
          <a:xfrm flipV="1">
            <a:off x="11036960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18"/>
          <p:cNvSpPr/>
          <p:nvPr/>
        </p:nvSpPr>
        <p:spPr>
          <a:xfrm flipV="1">
            <a:off x="11556492" y="2473071"/>
            <a:ext cx="0" cy="25976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19"/>
          <p:cNvSpPr/>
          <p:nvPr/>
        </p:nvSpPr>
        <p:spPr>
          <a:xfrm>
            <a:off x="6361176" y="5070729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20"/>
          <p:cNvSpPr/>
          <p:nvPr/>
        </p:nvSpPr>
        <p:spPr>
          <a:xfrm>
            <a:off x="6361176" y="4551197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21"/>
          <p:cNvSpPr/>
          <p:nvPr/>
        </p:nvSpPr>
        <p:spPr>
          <a:xfrm>
            <a:off x="6361176" y="4031666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22"/>
          <p:cNvSpPr/>
          <p:nvPr/>
        </p:nvSpPr>
        <p:spPr>
          <a:xfrm>
            <a:off x="6361176" y="3512134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23"/>
          <p:cNvSpPr/>
          <p:nvPr/>
        </p:nvSpPr>
        <p:spPr>
          <a:xfrm>
            <a:off x="6361176" y="2992603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24"/>
          <p:cNvSpPr/>
          <p:nvPr/>
        </p:nvSpPr>
        <p:spPr>
          <a:xfrm>
            <a:off x="6361176" y="2473071"/>
            <a:ext cx="519531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figure25" descr="모눈 위의 ㄱ자를 뒤집은 모양 ㉮와, ㉮를 시계 방향으로 90° 돌린 ㄱ자 모양 ㉯"/>
          <p:cNvSpPr/>
          <p:nvPr/>
        </p:nvSpPr>
        <p:spPr>
          <a:xfrm>
            <a:off x="6880708" y="2992603"/>
            <a:ext cx="1558595" cy="1558595"/>
          </a:xfrm>
          <a:custGeom>
            <a:avLst/>
            <a:gdLst/>
            <a:ahLst/>
            <a:cxnLst/>
            <a:rect l="l" t="t" r="r" b="b"/>
            <a:pathLst>
              <a:path w="1558595" h="1558595">
                <a:moveTo>
                  <a:pt x="0" y="1558595"/>
                </a:moveTo>
                <a:lnTo>
                  <a:pt x="519532" y="1558595"/>
                </a:lnTo>
                <a:lnTo>
                  <a:pt x="519532" y="519532"/>
                </a:lnTo>
                <a:lnTo>
                  <a:pt x="1558595" y="519532"/>
                </a:lnTo>
                <a:lnTo>
                  <a:pt x="155859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2-mark26"/>
          <p:cNvSpPr/>
          <p:nvPr/>
        </p:nvSpPr>
        <p:spPr>
          <a:xfrm>
            <a:off x="9478366" y="2992603"/>
            <a:ext cx="1558595" cy="1558595"/>
          </a:xfrm>
          <a:custGeom>
            <a:avLst/>
            <a:gdLst/>
            <a:ahLst/>
            <a:cxnLst/>
            <a:rect l="l" t="t" r="r" b="b"/>
            <a:pathLst>
              <a:path w="1558595" h="1558595">
                <a:moveTo>
                  <a:pt x="0" y="0"/>
                </a:moveTo>
                <a:lnTo>
                  <a:pt x="0" y="519532"/>
                </a:lnTo>
                <a:lnTo>
                  <a:pt x="1039063" y="519532"/>
                </a:lnTo>
                <a:lnTo>
                  <a:pt x="1039063" y="1558595"/>
                </a:lnTo>
                <a:lnTo>
                  <a:pt x="1558595" y="1558595"/>
                </a:lnTo>
                <a:lnTo>
                  <a:pt x="155859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2-label28"/>
          <p:cNvSpPr txBox="1"/>
          <p:nvPr/>
        </p:nvSpPr>
        <p:spPr>
          <a:xfrm>
            <a:off x="7468235" y="245430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㉮</a:t>
            </a:r>
            <a:endParaRPr lang="ko-KR" sz="2200" dirty="0"/>
          </a:p>
        </p:txBody>
      </p:sp>
      <p:sp>
        <p:nvSpPr>
          <p:cNvPr id="25" name="S02-label30"/>
          <p:cNvSpPr txBox="1"/>
          <p:nvPr/>
        </p:nvSpPr>
        <p:spPr>
          <a:xfrm>
            <a:off x="10065893" y="245430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㉯</a:t>
            </a:r>
            <a:endParaRPr lang="ko-KR" sz="2200" dirty="0"/>
          </a:p>
        </p:txBody>
      </p:sp>
      <p:sp>
        <p:nvSpPr>
          <p:cNvPr id="26" name="S02-chip3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7" name="S02-text3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㉯는 ㉮를 어떻게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움직인 모양일까요?</a:t>
            </a:r>
            <a:endParaRPr lang="ko-KR" sz="2800" dirty="0"/>
          </a:p>
        </p:txBody>
      </p:sp>
      <p:sp>
        <p:nvSpPr>
          <p:cNvPr id="28" name="S02-chip3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9" name="S02-text34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도형을 돌리면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바뀌나요?</a:t>
            </a:r>
            <a:endParaRPr lang="ko-KR" sz="2800" dirty="0"/>
          </a:p>
        </p:txBody>
      </p:sp>
      <p:sp>
        <p:nvSpPr>
          <p:cNvPr id="30" name="S02-chip3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1" name="S02-text36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두 각이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50°, 60°이면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한 각은?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포개면 완전히 겹쳐요</a:t>
            </a:r>
            <a:endParaRPr lang="ko-KR" sz="4000" dirty="0"/>
          </a:p>
        </p:txBody>
      </p:sp>
      <p:sp>
        <p:nvSpPr>
          <p:cNvPr id="3" name="S03-figure37" descr="삼각형 가와, 가를 시계 반대 방향으로 90° 돌려 놓은 삼각형 나"/>
          <p:cNvSpPr/>
          <p:nvPr/>
        </p:nvSpPr>
        <p:spPr>
          <a:xfrm>
            <a:off x="632460" y="3657568"/>
            <a:ext cx="2770835" cy="1499749"/>
          </a:xfrm>
          <a:custGeom>
            <a:avLst/>
            <a:gdLst/>
            <a:ahLst/>
            <a:cxnLst/>
            <a:rect l="l" t="t" r="r" b="b"/>
            <a:pathLst>
              <a:path w="2770835" h="1499749">
                <a:moveTo>
                  <a:pt x="865886" y="0"/>
                </a:moveTo>
                <a:lnTo>
                  <a:pt x="0" y="1499749"/>
                </a:lnTo>
                <a:lnTo>
                  <a:pt x="2770835" y="149974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38"/>
          <p:cNvSpPr/>
          <p:nvPr/>
        </p:nvSpPr>
        <p:spPr>
          <a:xfrm>
            <a:off x="4328027" y="2386482"/>
            <a:ext cx="1499749" cy="2770835"/>
          </a:xfrm>
          <a:custGeom>
            <a:avLst/>
            <a:gdLst/>
            <a:ahLst/>
            <a:cxnLst/>
            <a:rect l="l" t="t" r="r" b="b"/>
            <a:pathLst>
              <a:path w="1499749" h="2770835">
                <a:moveTo>
                  <a:pt x="0" y="1904949"/>
                </a:moveTo>
                <a:lnTo>
                  <a:pt x="1499749" y="2770835"/>
                </a:lnTo>
                <a:lnTo>
                  <a:pt x="1499749" y="0"/>
                </a:lnTo>
                <a:close/>
              </a:path>
            </a:pathLst>
          </a:cu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3-label40"/>
          <p:cNvSpPr txBox="1"/>
          <p:nvPr/>
        </p:nvSpPr>
        <p:spPr>
          <a:xfrm>
            <a:off x="1652930" y="448276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6" name="S03-label42"/>
          <p:cNvSpPr txBox="1"/>
          <p:nvPr/>
        </p:nvSpPr>
        <p:spPr>
          <a:xfrm>
            <a:off x="5136078" y="377045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7" name="S03-card43"/>
          <p:cNvSpPr/>
          <p:nvPr/>
        </p:nvSpPr>
        <p:spPr>
          <a:xfrm>
            <a:off x="6277356" y="230708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44"/>
          <p:cNvSpPr txBox="1"/>
          <p:nvPr/>
        </p:nvSpPr>
        <p:spPr>
          <a:xfrm>
            <a:off x="6551676" y="244424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크기가 같아서 포개었을 때 완전히 겹치는 두 도형</a:t>
            </a:r>
            <a:endParaRPr lang="ko-KR" sz="2800" dirty="0"/>
          </a:p>
        </p:txBody>
      </p:sp>
      <p:sp>
        <p:nvSpPr>
          <p:cNvPr id="9" name="S03-card45"/>
          <p:cNvSpPr/>
          <p:nvPr/>
        </p:nvSpPr>
        <p:spPr>
          <a:xfrm>
            <a:off x="6277356" y="405663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46"/>
          <p:cNvSpPr txBox="1"/>
          <p:nvPr/>
        </p:nvSpPr>
        <p:spPr>
          <a:xfrm>
            <a:off x="6551676" y="419379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돌려도, 뒤집어도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포개어 완전히 겹치면 합동이에요.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도형 찾기</a:t>
            </a:r>
            <a:endParaRPr lang="ko-KR" sz="4000" dirty="0"/>
          </a:p>
        </p:txBody>
      </p:sp>
      <p:sp>
        <p:nvSpPr>
          <p:cNvPr id="3" name="S04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★과 합동인 도형을 모두 찾아요.</a:t>
            </a:r>
            <a:endParaRPr lang="ko-KR" sz="2800" dirty="0"/>
          </a:p>
        </p:txBody>
      </p:sp>
      <p:sp>
        <p:nvSpPr>
          <p:cNvPr id="4" name="S04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칸을 세어 변의 길이를 비교해요.</a:t>
            </a:r>
            <a:endParaRPr lang="ko-KR" sz="2800" dirty="0"/>
          </a:p>
        </p:txBody>
      </p:sp>
      <p:sp>
        <p:nvSpPr>
          <p:cNvPr id="6" name="S04-mark50"/>
          <p:cNvSpPr/>
          <p:nvPr/>
        </p:nvSpPr>
        <p:spPr>
          <a:xfrm>
            <a:off x="1009151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0" y="1130072"/>
                </a:moveTo>
                <a:lnTo>
                  <a:pt x="1506763" y="1130072"/>
                </a:lnTo>
                <a:lnTo>
                  <a:pt x="1506763" y="753382"/>
                </a:lnTo>
                <a:lnTo>
                  <a:pt x="376691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4-mark51"/>
          <p:cNvSpPr/>
          <p:nvPr/>
        </p:nvSpPr>
        <p:spPr>
          <a:xfrm>
            <a:off x="3269295" y="2812778"/>
            <a:ext cx="1130072" cy="1506763"/>
          </a:xfrm>
          <a:custGeom>
            <a:avLst/>
            <a:gdLst/>
            <a:ahLst/>
            <a:cxnLst/>
            <a:rect l="l" t="t" r="r" b="b"/>
            <a:pathLst>
              <a:path w="1130072" h="1506763">
                <a:moveTo>
                  <a:pt x="1130072" y="1506763"/>
                </a:moveTo>
                <a:lnTo>
                  <a:pt x="1130072" y="0"/>
                </a:lnTo>
                <a:lnTo>
                  <a:pt x="753382" y="0"/>
                </a:lnTo>
                <a:lnTo>
                  <a:pt x="0" y="113007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8" name="S04-mark52"/>
          <p:cNvSpPr/>
          <p:nvPr/>
        </p:nvSpPr>
        <p:spPr>
          <a:xfrm>
            <a:off x="5152749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1130072"/>
                </a:moveTo>
                <a:lnTo>
                  <a:pt x="0" y="1130072"/>
                </a:lnTo>
                <a:lnTo>
                  <a:pt x="0" y="753382"/>
                </a:lnTo>
                <a:lnTo>
                  <a:pt x="1130072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4-mark53"/>
          <p:cNvSpPr/>
          <p:nvPr/>
        </p:nvSpPr>
        <p:spPr>
          <a:xfrm>
            <a:off x="7412894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0"/>
                </a:moveTo>
                <a:lnTo>
                  <a:pt x="0" y="0"/>
                </a:lnTo>
                <a:lnTo>
                  <a:pt x="0" y="753382"/>
                </a:lnTo>
                <a:lnTo>
                  <a:pt x="1130072" y="113007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0" name="S04-mark54"/>
          <p:cNvSpPr/>
          <p:nvPr/>
        </p:nvSpPr>
        <p:spPr>
          <a:xfrm>
            <a:off x="9673038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0"/>
                </a:moveTo>
                <a:lnTo>
                  <a:pt x="0" y="0"/>
                </a:lnTo>
                <a:lnTo>
                  <a:pt x="0" y="376691"/>
                </a:lnTo>
                <a:lnTo>
                  <a:pt x="1130072" y="113007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1" name="S04-mark55"/>
          <p:cNvSpPr/>
          <p:nvPr/>
        </p:nvSpPr>
        <p:spPr>
          <a:xfrm flipV="1">
            <a:off x="632460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56"/>
          <p:cNvSpPr/>
          <p:nvPr/>
        </p:nvSpPr>
        <p:spPr>
          <a:xfrm flipV="1">
            <a:off x="1009151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57"/>
          <p:cNvSpPr/>
          <p:nvPr/>
        </p:nvSpPr>
        <p:spPr>
          <a:xfrm flipV="1">
            <a:off x="1385842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58"/>
          <p:cNvSpPr/>
          <p:nvPr/>
        </p:nvSpPr>
        <p:spPr>
          <a:xfrm flipV="1">
            <a:off x="1762532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59"/>
          <p:cNvSpPr/>
          <p:nvPr/>
        </p:nvSpPr>
        <p:spPr>
          <a:xfrm flipV="1">
            <a:off x="2139223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60"/>
          <p:cNvSpPr/>
          <p:nvPr/>
        </p:nvSpPr>
        <p:spPr>
          <a:xfrm flipV="1">
            <a:off x="2515914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61"/>
          <p:cNvSpPr/>
          <p:nvPr/>
        </p:nvSpPr>
        <p:spPr>
          <a:xfrm flipV="1">
            <a:off x="2892605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62"/>
          <p:cNvSpPr/>
          <p:nvPr/>
        </p:nvSpPr>
        <p:spPr>
          <a:xfrm flipV="1">
            <a:off x="3269295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63"/>
          <p:cNvSpPr/>
          <p:nvPr/>
        </p:nvSpPr>
        <p:spPr>
          <a:xfrm flipV="1">
            <a:off x="3645986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mark64"/>
          <p:cNvSpPr/>
          <p:nvPr/>
        </p:nvSpPr>
        <p:spPr>
          <a:xfrm flipV="1">
            <a:off x="4022677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4-mark65"/>
          <p:cNvSpPr/>
          <p:nvPr/>
        </p:nvSpPr>
        <p:spPr>
          <a:xfrm flipV="1">
            <a:off x="4399368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4-mark66"/>
          <p:cNvSpPr/>
          <p:nvPr/>
        </p:nvSpPr>
        <p:spPr>
          <a:xfrm flipV="1">
            <a:off x="4776058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4-mark67"/>
          <p:cNvSpPr/>
          <p:nvPr/>
        </p:nvSpPr>
        <p:spPr>
          <a:xfrm flipV="1">
            <a:off x="5152749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4-mark68"/>
          <p:cNvSpPr/>
          <p:nvPr/>
        </p:nvSpPr>
        <p:spPr>
          <a:xfrm flipV="1">
            <a:off x="5529440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4-mark69"/>
          <p:cNvSpPr/>
          <p:nvPr/>
        </p:nvSpPr>
        <p:spPr>
          <a:xfrm flipV="1">
            <a:off x="5906131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4-mark70"/>
          <p:cNvSpPr/>
          <p:nvPr/>
        </p:nvSpPr>
        <p:spPr>
          <a:xfrm flipV="1">
            <a:off x="6282821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4-mark71"/>
          <p:cNvSpPr/>
          <p:nvPr/>
        </p:nvSpPr>
        <p:spPr>
          <a:xfrm flipV="1">
            <a:off x="6659512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4-mark72"/>
          <p:cNvSpPr/>
          <p:nvPr/>
        </p:nvSpPr>
        <p:spPr>
          <a:xfrm flipV="1">
            <a:off x="7036203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4-mark73"/>
          <p:cNvSpPr/>
          <p:nvPr/>
        </p:nvSpPr>
        <p:spPr>
          <a:xfrm flipV="1">
            <a:off x="7412894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4-mark74"/>
          <p:cNvSpPr/>
          <p:nvPr/>
        </p:nvSpPr>
        <p:spPr>
          <a:xfrm flipV="1">
            <a:off x="7789584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4-mark75"/>
          <p:cNvSpPr/>
          <p:nvPr/>
        </p:nvSpPr>
        <p:spPr>
          <a:xfrm flipV="1">
            <a:off x="8166275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4-mark76"/>
          <p:cNvSpPr/>
          <p:nvPr/>
        </p:nvSpPr>
        <p:spPr>
          <a:xfrm flipV="1">
            <a:off x="8542966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4-mark77"/>
          <p:cNvSpPr/>
          <p:nvPr/>
        </p:nvSpPr>
        <p:spPr>
          <a:xfrm flipV="1">
            <a:off x="8919657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4-mark78"/>
          <p:cNvSpPr/>
          <p:nvPr/>
        </p:nvSpPr>
        <p:spPr>
          <a:xfrm flipV="1">
            <a:off x="9296347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4-mark79"/>
          <p:cNvSpPr/>
          <p:nvPr/>
        </p:nvSpPr>
        <p:spPr>
          <a:xfrm flipV="1">
            <a:off x="9673038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4-mark80"/>
          <p:cNvSpPr/>
          <p:nvPr/>
        </p:nvSpPr>
        <p:spPr>
          <a:xfrm flipV="1">
            <a:off x="10049729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4-mark81"/>
          <p:cNvSpPr/>
          <p:nvPr/>
        </p:nvSpPr>
        <p:spPr>
          <a:xfrm flipV="1">
            <a:off x="10426420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4-mark82"/>
          <p:cNvSpPr/>
          <p:nvPr/>
        </p:nvSpPr>
        <p:spPr>
          <a:xfrm flipV="1">
            <a:off x="10803110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4-mark83"/>
          <p:cNvSpPr/>
          <p:nvPr/>
        </p:nvSpPr>
        <p:spPr>
          <a:xfrm flipV="1">
            <a:off x="11179801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4-mark84"/>
          <p:cNvSpPr/>
          <p:nvPr/>
        </p:nvSpPr>
        <p:spPr>
          <a:xfrm flipV="1">
            <a:off x="11556492" y="2436088"/>
            <a:ext cx="0" cy="226014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4-mark85"/>
          <p:cNvSpPr/>
          <p:nvPr/>
        </p:nvSpPr>
        <p:spPr>
          <a:xfrm>
            <a:off x="632460" y="4696232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4-mark86"/>
          <p:cNvSpPr/>
          <p:nvPr/>
        </p:nvSpPr>
        <p:spPr>
          <a:xfrm>
            <a:off x="632460" y="4319542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4-mark87"/>
          <p:cNvSpPr/>
          <p:nvPr/>
        </p:nvSpPr>
        <p:spPr>
          <a:xfrm>
            <a:off x="632460" y="3942851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4-mark88"/>
          <p:cNvSpPr/>
          <p:nvPr/>
        </p:nvSpPr>
        <p:spPr>
          <a:xfrm>
            <a:off x="632460" y="3566160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4-mark89"/>
          <p:cNvSpPr/>
          <p:nvPr/>
        </p:nvSpPr>
        <p:spPr>
          <a:xfrm>
            <a:off x="632460" y="3189469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4-mark90"/>
          <p:cNvSpPr/>
          <p:nvPr/>
        </p:nvSpPr>
        <p:spPr>
          <a:xfrm>
            <a:off x="632460" y="2812778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4-mark91"/>
          <p:cNvSpPr/>
          <p:nvPr/>
        </p:nvSpPr>
        <p:spPr>
          <a:xfrm>
            <a:off x="632460" y="2436088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4-figure92" descr="모눈 위의 ★ 사각형과 가·나·다·라 네 사각형. 가는 ★을 돌린 모양, 나는 뒤집은 모양, 라는 180° 돌린 모양이고, 다는 오른쪽 변이 2칸이라 모양이 다름"/>
          <p:cNvSpPr/>
          <p:nvPr/>
        </p:nvSpPr>
        <p:spPr>
          <a:xfrm>
            <a:off x="1009151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0" y="1130072"/>
                </a:moveTo>
                <a:lnTo>
                  <a:pt x="1506763" y="1130072"/>
                </a:lnTo>
                <a:lnTo>
                  <a:pt x="1506763" y="753382"/>
                </a:lnTo>
                <a:lnTo>
                  <a:pt x="37669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9" name="S04-mark93"/>
          <p:cNvSpPr/>
          <p:nvPr/>
        </p:nvSpPr>
        <p:spPr>
          <a:xfrm>
            <a:off x="3269295" y="2812778"/>
            <a:ext cx="1130072" cy="1506763"/>
          </a:xfrm>
          <a:custGeom>
            <a:avLst/>
            <a:gdLst/>
            <a:ahLst/>
            <a:cxnLst/>
            <a:rect l="l" t="t" r="r" b="b"/>
            <a:pathLst>
              <a:path w="1130072" h="1506763">
                <a:moveTo>
                  <a:pt x="1130072" y="1506763"/>
                </a:moveTo>
                <a:lnTo>
                  <a:pt x="1130072" y="0"/>
                </a:lnTo>
                <a:lnTo>
                  <a:pt x="753382" y="0"/>
                </a:lnTo>
                <a:lnTo>
                  <a:pt x="0" y="113007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0" name="S04-mark94"/>
          <p:cNvSpPr/>
          <p:nvPr/>
        </p:nvSpPr>
        <p:spPr>
          <a:xfrm>
            <a:off x="5152749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1130072"/>
                </a:moveTo>
                <a:lnTo>
                  <a:pt x="0" y="1130072"/>
                </a:lnTo>
                <a:lnTo>
                  <a:pt x="0" y="753382"/>
                </a:lnTo>
                <a:lnTo>
                  <a:pt x="113007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1" name="S04-mark95"/>
          <p:cNvSpPr/>
          <p:nvPr/>
        </p:nvSpPr>
        <p:spPr>
          <a:xfrm>
            <a:off x="7412894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0"/>
                </a:moveTo>
                <a:lnTo>
                  <a:pt x="0" y="0"/>
                </a:lnTo>
                <a:lnTo>
                  <a:pt x="0" y="753382"/>
                </a:lnTo>
                <a:lnTo>
                  <a:pt x="1130072" y="113007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2" name="S04-mark96"/>
          <p:cNvSpPr/>
          <p:nvPr/>
        </p:nvSpPr>
        <p:spPr>
          <a:xfrm>
            <a:off x="9673038" y="3189469"/>
            <a:ext cx="1506763" cy="1130072"/>
          </a:xfrm>
          <a:custGeom>
            <a:avLst/>
            <a:gdLst/>
            <a:ahLst/>
            <a:cxnLst/>
            <a:rect l="l" t="t" r="r" b="b"/>
            <a:pathLst>
              <a:path w="1506763" h="1130072">
                <a:moveTo>
                  <a:pt x="1506763" y="0"/>
                </a:moveTo>
                <a:lnTo>
                  <a:pt x="0" y="0"/>
                </a:lnTo>
                <a:lnTo>
                  <a:pt x="0" y="376691"/>
                </a:lnTo>
                <a:lnTo>
                  <a:pt x="1130072" y="113007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3" name="S04-label98"/>
          <p:cNvSpPr txBox="1"/>
          <p:nvPr/>
        </p:nvSpPr>
        <p:spPr>
          <a:xfrm>
            <a:off x="1570762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2200" dirty="0"/>
          </a:p>
        </p:txBody>
      </p:sp>
      <p:sp>
        <p:nvSpPr>
          <p:cNvPr id="54" name="S04-label100"/>
          <p:cNvSpPr txBox="1"/>
          <p:nvPr/>
        </p:nvSpPr>
        <p:spPr>
          <a:xfrm>
            <a:off x="3642561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55" name="S04-label102"/>
          <p:cNvSpPr txBox="1"/>
          <p:nvPr/>
        </p:nvSpPr>
        <p:spPr>
          <a:xfrm>
            <a:off x="5714361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56" name="S04-label104"/>
          <p:cNvSpPr txBox="1"/>
          <p:nvPr/>
        </p:nvSpPr>
        <p:spPr>
          <a:xfrm>
            <a:off x="7974505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57" name="S04-label106"/>
          <p:cNvSpPr txBox="1"/>
          <p:nvPr/>
        </p:nvSpPr>
        <p:spPr>
          <a:xfrm>
            <a:off x="10234650" y="24121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5-card10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0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3 cm인 정사각형과 한 변이 4 cm인 정사각형은 합동일까요?</a:t>
            </a:r>
            <a:endParaRPr lang="ko-KR" sz="2800" dirty="0"/>
          </a:p>
        </p:txBody>
      </p:sp>
      <p:sp>
        <p:nvSpPr>
          <p:cNvPr id="5" name="S05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7" name="S05-chip111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합동이에요</a:t>
            </a:r>
            <a:endParaRPr lang="ko-KR" sz="2200" dirty="0"/>
          </a:p>
        </p:txBody>
      </p:sp>
      <p:sp>
        <p:nvSpPr>
          <p:cNvPr id="8" name="S05-text112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“둘 다 정사각형이라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같아요.”</a:t>
            </a:r>
            <a:endParaRPr lang="ko-KR" sz="2800" dirty="0"/>
          </a:p>
        </p:txBody>
      </p:sp>
      <p:sp>
        <p:nvSpPr>
          <p:cNvPr id="9" name="S05-chip113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합동이 아니에요</a:t>
            </a:r>
            <a:endParaRPr lang="ko-KR" sz="2200" dirty="0"/>
          </a:p>
        </p:txBody>
      </p:sp>
      <p:sp>
        <p:nvSpPr>
          <p:cNvPr id="10" name="S05-text114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“포개면 완전히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겹치지 않아요.”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대응점, 대응변, 대응각</a:t>
            </a:r>
            <a:endParaRPr lang="ko-KR" sz="4000" dirty="0"/>
          </a:p>
        </p:txBody>
      </p:sp>
      <p:sp>
        <p:nvSpPr>
          <p:cNvPr id="3" name="S06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삼각형은 서로 합동이에요.</a:t>
            </a:r>
            <a:endParaRPr lang="ko-KR" sz="2800" dirty="0"/>
          </a:p>
        </p:txBody>
      </p:sp>
      <p:sp>
        <p:nvSpPr>
          <p:cNvPr id="4" name="S06-card116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117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꼭짓점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ㄱ과 점 ㄹ</a:t>
            </a:r>
            <a:endParaRPr lang="ko-KR" sz="2800" dirty="0"/>
          </a:p>
        </p:txBody>
      </p:sp>
      <p:sp>
        <p:nvSpPr>
          <p:cNvPr id="6" name="S06-card118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19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ㄱㄴ과 변 ㄹㅁ</a:t>
            </a:r>
            <a:endParaRPr lang="ko-KR" sz="2800" dirty="0"/>
          </a:p>
        </p:txBody>
      </p:sp>
      <p:sp>
        <p:nvSpPr>
          <p:cNvPr id="8" name="S06-card120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121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ㄱㄴㄷ과 각 ㄹㅁㅂ</a:t>
            </a:r>
            <a:endParaRPr lang="ko-KR" sz="2800" dirty="0"/>
          </a:p>
        </p:txBody>
      </p:sp>
      <p:sp>
        <p:nvSpPr>
          <p:cNvPr id="10" name="S06-figure122" descr="삼각형 ㄱㄴㄷ. 같은 표시: 변 ㄱㄴ 한 줄, 변 ㄴㄷ 두 줄, 변 ㄷㄱ 세 줄, 각 ㄱ 노랑, 각 ㄴ 초록, 각 ㄷ 주황"/>
          <p:cNvSpPr/>
          <p:nvPr/>
        </p:nvSpPr>
        <p:spPr>
          <a:xfrm>
            <a:off x="1595628" y="2349149"/>
            <a:ext cx="3291840" cy="1781750"/>
          </a:xfrm>
          <a:custGeom>
            <a:avLst/>
            <a:gdLst/>
            <a:ahLst/>
            <a:cxnLst/>
            <a:rect l="l" t="t" r="r" b="b"/>
            <a:pathLst>
              <a:path w="3291840" h="1781750">
                <a:moveTo>
                  <a:pt x="1028700" y="0"/>
                </a:moveTo>
                <a:lnTo>
                  <a:pt x="0" y="1781750"/>
                </a:lnTo>
                <a:lnTo>
                  <a:pt x="3291840" y="178175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123"/>
          <p:cNvSpPr/>
          <p:nvPr/>
        </p:nvSpPr>
        <p:spPr>
          <a:xfrm>
            <a:off x="2442717" y="2349149"/>
            <a:ext cx="466999" cy="363195"/>
          </a:xfrm>
          <a:custGeom>
            <a:avLst/>
            <a:gdLst/>
            <a:ahLst/>
            <a:cxnLst/>
            <a:rect l="l" t="t" r="r" b="b"/>
            <a:pathLst>
              <a:path w="466999" h="363195">
                <a:moveTo>
                  <a:pt x="181611" y="0"/>
                </a:moveTo>
                <a:lnTo>
                  <a:pt x="0" y="314557"/>
                </a:lnTo>
                <a:lnTo>
                  <a:pt x="19019" y="324796"/>
                </a:lnTo>
                <a:lnTo>
                  <a:pt x="38613" y="333887"/>
                </a:lnTo>
                <a:lnTo>
                  <a:pt x="58713" y="341797"/>
                </a:lnTo>
                <a:lnTo>
                  <a:pt x="79248" y="348498"/>
                </a:lnTo>
                <a:lnTo>
                  <a:pt x="100144" y="353966"/>
                </a:lnTo>
                <a:lnTo>
                  <a:pt x="121329" y="358183"/>
                </a:lnTo>
                <a:lnTo>
                  <a:pt x="142726" y="361133"/>
                </a:lnTo>
                <a:lnTo>
                  <a:pt x="164262" y="362805"/>
                </a:lnTo>
                <a:lnTo>
                  <a:pt x="185858" y="363195"/>
                </a:lnTo>
                <a:lnTo>
                  <a:pt x="207440" y="362300"/>
                </a:lnTo>
                <a:lnTo>
                  <a:pt x="228930" y="360125"/>
                </a:lnTo>
                <a:lnTo>
                  <a:pt x="250253" y="356675"/>
                </a:lnTo>
                <a:lnTo>
                  <a:pt x="271333" y="351964"/>
                </a:lnTo>
                <a:lnTo>
                  <a:pt x="292096" y="346008"/>
                </a:lnTo>
                <a:lnTo>
                  <a:pt x="312468" y="338829"/>
                </a:lnTo>
                <a:lnTo>
                  <a:pt x="332378" y="330451"/>
                </a:lnTo>
                <a:lnTo>
                  <a:pt x="351754" y="320905"/>
                </a:lnTo>
                <a:lnTo>
                  <a:pt x="370528" y="310224"/>
                </a:lnTo>
                <a:lnTo>
                  <a:pt x="388635" y="298446"/>
                </a:lnTo>
                <a:lnTo>
                  <a:pt x="406009" y="285612"/>
                </a:lnTo>
                <a:lnTo>
                  <a:pt x="422589" y="271768"/>
                </a:lnTo>
                <a:lnTo>
                  <a:pt x="438318" y="256964"/>
                </a:lnTo>
                <a:lnTo>
                  <a:pt x="453138" y="241250"/>
                </a:lnTo>
                <a:lnTo>
                  <a:pt x="466999" y="22468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6-mark124"/>
          <p:cNvSpPr/>
          <p:nvPr/>
        </p:nvSpPr>
        <p:spPr>
          <a:xfrm>
            <a:off x="1595628" y="3816342"/>
            <a:ext cx="363220" cy="314557"/>
          </a:xfrm>
          <a:custGeom>
            <a:avLst/>
            <a:gdLst/>
            <a:ahLst/>
            <a:cxnLst/>
            <a:rect l="l" t="t" r="r" b="b"/>
            <a:pathLst>
              <a:path w="363220" h="314557">
                <a:moveTo>
                  <a:pt x="0" y="314557"/>
                </a:moveTo>
                <a:lnTo>
                  <a:pt x="363220" y="314557"/>
                </a:lnTo>
                <a:lnTo>
                  <a:pt x="362874" y="298714"/>
                </a:lnTo>
                <a:lnTo>
                  <a:pt x="361838" y="282901"/>
                </a:lnTo>
                <a:lnTo>
                  <a:pt x="360113" y="267148"/>
                </a:lnTo>
                <a:lnTo>
                  <a:pt x="357702" y="251485"/>
                </a:lnTo>
                <a:lnTo>
                  <a:pt x="354610" y="235942"/>
                </a:lnTo>
                <a:lnTo>
                  <a:pt x="350844" y="220549"/>
                </a:lnTo>
                <a:lnTo>
                  <a:pt x="346409" y="205335"/>
                </a:lnTo>
                <a:lnTo>
                  <a:pt x="341315" y="190329"/>
                </a:lnTo>
                <a:lnTo>
                  <a:pt x="335572" y="175559"/>
                </a:lnTo>
                <a:lnTo>
                  <a:pt x="329189" y="161054"/>
                </a:lnTo>
                <a:lnTo>
                  <a:pt x="322180" y="146841"/>
                </a:lnTo>
                <a:lnTo>
                  <a:pt x="314558" y="132948"/>
                </a:lnTo>
                <a:lnTo>
                  <a:pt x="306337" y="119400"/>
                </a:lnTo>
                <a:lnTo>
                  <a:pt x="297533" y="106223"/>
                </a:lnTo>
                <a:lnTo>
                  <a:pt x="288162" y="93443"/>
                </a:lnTo>
                <a:lnTo>
                  <a:pt x="278243" y="81084"/>
                </a:lnTo>
                <a:lnTo>
                  <a:pt x="267794" y="69170"/>
                </a:lnTo>
                <a:lnTo>
                  <a:pt x="256836" y="57722"/>
                </a:lnTo>
                <a:lnTo>
                  <a:pt x="245388" y="46764"/>
                </a:lnTo>
                <a:lnTo>
                  <a:pt x="233474" y="36315"/>
                </a:lnTo>
                <a:lnTo>
                  <a:pt x="221115" y="26396"/>
                </a:lnTo>
                <a:lnTo>
                  <a:pt x="208335" y="17025"/>
                </a:lnTo>
                <a:lnTo>
                  <a:pt x="195159" y="8221"/>
                </a:lnTo>
                <a:lnTo>
                  <a:pt x="181611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3" name="S06-mark125"/>
          <p:cNvSpPr/>
          <p:nvPr/>
        </p:nvSpPr>
        <p:spPr>
          <a:xfrm>
            <a:off x="4229100" y="3723641"/>
            <a:ext cx="658368" cy="407258"/>
          </a:xfrm>
          <a:custGeom>
            <a:avLst/>
            <a:gdLst/>
            <a:ahLst/>
            <a:cxnLst/>
            <a:rect l="l" t="t" r="r" b="b"/>
            <a:pathLst>
              <a:path w="658368" h="407258">
                <a:moveTo>
                  <a:pt x="658368" y="407258"/>
                </a:moveTo>
                <a:lnTo>
                  <a:pt x="141078" y="0"/>
                </a:lnTo>
                <a:lnTo>
                  <a:pt x="129961" y="14531"/>
                </a:lnTo>
                <a:lnTo>
                  <a:pt x="119253" y="29364"/>
                </a:lnTo>
                <a:lnTo>
                  <a:pt x="108961" y="44490"/>
                </a:lnTo>
                <a:lnTo>
                  <a:pt x="99094" y="59896"/>
                </a:lnTo>
                <a:lnTo>
                  <a:pt x="89658" y="75570"/>
                </a:lnTo>
                <a:lnTo>
                  <a:pt x="80661" y="91500"/>
                </a:lnTo>
                <a:lnTo>
                  <a:pt x="72111" y="107674"/>
                </a:lnTo>
                <a:lnTo>
                  <a:pt x="64013" y="124079"/>
                </a:lnTo>
                <a:lnTo>
                  <a:pt x="56374" y="140703"/>
                </a:lnTo>
                <a:lnTo>
                  <a:pt x="49200" y="157533"/>
                </a:lnTo>
                <a:lnTo>
                  <a:pt x="42496" y="174555"/>
                </a:lnTo>
                <a:lnTo>
                  <a:pt x="36268" y="191757"/>
                </a:lnTo>
                <a:lnTo>
                  <a:pt x="30521" y="209126"/>
                </a:lnTo>
                <a:lnTo>
                  <a:pt x="25258" y="226648"/>
                </a:lnTo>
                <a:lnTo>
                  <a:pt x="20484" y="244309"/>
                </a:lnTo>
                <a:lnTo>
                  <a:pt x="16203" y="262096"/>
                </a:lnTo>
                <a:lnTo>
                  <a:pt x="12417" y="279995"/>
                </a:lnTo>
                <a:lnTo>
                  <a:pt x="9130" y="297992"/>
                </a:lnTo>
                <a:lnTo>
                  <a:pt x="6345" y="316074"/>
                </a:lnTo>
                <a:lnTo>
                  <a:pt x="4063" y="334226"/>
                </a:lnTo>
                <a:lnTo>
                  <a:pt x="2287" y="352435"/>
                </a:lnTo>
                <a:lnTo>
                  <a:pt x="1017" y="370686"/>
                </a:lnTo>
                <a:lnTo>
                  <a:pt x="254" y="388965"/>
                </a:lnTo>
                <a:lnTo>
                  <a:pt x="0" y="40725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4" name="S06-mark126"/>
          <p:cNvSpPr/>
          <p:nvPr/>
        </p:nvSpPr>
        <p:spPr>
          <a:xfrm>
            <a:off x="2037388" y="3198114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6-mark127"/>
          <p:cNvSpPr/>
          <p:nvPr/>
        </p:nvSpPr>
        <p:spPr>
          <a:xfrm flipV="1">
            <a:off x="3202432" y="404707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mark128"/>
          <p:cNvSpPr/>
          <p:nvPr/>
        </p:nvSpPr>
        <p:spPr>
          <a:xfrm flipV="1">
            <a:off x="3280664" y="404707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mark129"/>
          <p:cNvSpPr/>
          <p:nvPr/>
        </p:nvSpPr>
        <p:spPr>
          <a:xfrm flipH="1">
            <a:off x="3765516" y="3222559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130"/>
          <p:cNvSpPr/>
          <p:nvPr/>
        </p:nvSpPr>
        <p:spPr>
          <a:xfrm flipH="1">
            <a:off x="3704048" y="3174165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6-mark131"/>
          <p:cNvSpPr/>
          <p:nvPr/>
        </p:nvSpPr>
        <p:spPr>
          <a:xfrm flipH="1">
            <a:off x="3642580" y="3125772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label133"/>
          <p:cNvSpPr txBox="1"/>
          <p:nvPr/>
        </p:nvSpPr>
        <p:spPr>
          <a:xfrm>
            <a:off x="1160500" y="400453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21" name="S06-label135"/>
          <p:cNvSpPr txBox="1"/>
          <p:nvPr/>
        </p:nvSpPr>
        <p:spPr>
          <a:xfrm>
            <a:off x="4857121" y="396593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22" name="S06-label137"/>
          <p:cNvSpPr txBox="1"/>
          <p:nvPr/>
        </p:nvSpPr>
        <p:spPr>
          <a:xfrm>
            <a:off x="2340533" y="189153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23" name="S06-figure138" descr="삼각형 ㄱㄴㄷ을 180° 돌린 삼각형 ㄹㅁㅂ. 변 ㄹㅁ 한 줄, 변 ㅁㅂ 두 줄, 변 ㅂㄹ 세 줄, 각 ㄹ 노랑, 각 ㅁ 초록, 각 ㅂ 주황"/>
          <p:cNvSpPr/>
          <p:nvPr/>
        </p:nvSpPr>
        <p:spPr>
          <a:xfrm>
            <a:off x="7301484" y="2349149"/>
            <a:ext cx="3291840" cy="1781750"/>
          </a:xfrm>
          <a:custGeom>
            <a:avLst/>
            <a:gdLst/>
            <a:ahLst/>
            <a:cxnLst/>
            <a:rect l="l" t="t" r="r" b="b"/>
            <a:pathLst>
              <a:path w="3291840" h="1781750">
                <a:moveTo>
                  <a:pt x="2263140" y="1781750"/>
                </a:moveTo>
                <a:lnTo>
                  <a:pt x="32918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6-mark139"/>
          <p:cNvSpPr/>
          <p:nvPr/>
        </p:nvSpPr>
        <p:spPr>
          <a:xfrm>
            <a:off x="9279236" y="3767704"/>
            <a:ext cx="466999" cy="363195"/>
          </a:xfrm>
          <a:custGeom>
            <a:avLst/>
            <a:gdLst/>
            <a:ahLst/>
            <a:cxnLst/>
            <a:rect l="l" t="t" r="r" b="b"/>
            <a:pathLst>
              <a:path w="466999" h="363195">
                <a:moveTo>
                  <a:pt x="285388" y="363195"/>
                </a:moveTo>
                <a:lnTo>
                  <a:pt x="466999" y="48638"/>
                </a:lnTo>
                <a:lnTo>
                  <a:pt x="447980" y="38399"/>
                </a:lnTo>
                <a:lnTo>
                  <a:pt x="428385" y="29308"/>
                </a:lnTo>
                <a:lnTo>
                  <a:pt x="408286" y="21399"/>
                </a:lnTo>
                <a:lnTo>
                  <a:pt x="387751" y="14698"/>
                </a:lnTo>
                <a:lnTo>
                  <a:pt x="366855" y="9229"/>
                </a:lnTo>
                <a:lnTo>
                  <a:pt x="345670" y="5013"/>
                </a:lnTo>
                <a:lnTo>
                  <a:pt x="324272" y="2063"/>
                </a:lnTo>
                <a:lnTo>
                  <a:pt x="302737" y="390"/>
                </a:lnTo>
                <a:lnTo>
                  <a:pt x="281140" y="0"/>
                </a:lnTo>
                <a:lnTo>
                  <a:pt x="259559" y="895"/>
                </a:lnTo>
                <a:lnTo>
                  <a:pt x="238069" y="3071"/>
                </a:lnTo>
                <a:lnTo>
                  <a:pt x="216746" y="6520"/>
                </a:lnTo>
                <a:lnTo>
                  <a:pt x="195665" y="11231"/>
                </a:lnTo>
                <a:lnTo>
                  <a:pt x="174903" y="17187"/>
                </a:lnTo>
                <a:lnTo>
                  <a:pt x="154530" y="24366"/>
                </a:lnTo>
                <a:lnTo>
                  <a:pt x="134621" y="32744"/>
                </a:lnTo>
                <a:lnTo>
                  <a:pt x="115245" y="42290"/>
                </a:lnTo>
                <a:lnTo>
                  <a:pt x="96470" y="52971"/>
                </a:lnTo>
                <a:lnTo>
                  <a:pt x="78364" y="64749"/>
                </a:lnTo>
                <a:lnTo>
                  <a:pt x="60990" y="77583"/>
                </a:lnTo>
                <a:lnTo>
                  <a:pt x="44409" y="91427"/>
                </a:lnTo>
                <a:lnTo>
                  <a:pt x="28681" y="106232"/>
                </a:lnTo>
                <a:lnTo>
                  <a:pt x="13860" y="121945"/>
                </a:lnTo>
                <a:lnTo>
                  <a:pt x="0" y="13851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5" name="S06-mark140"/>
          <p:cNvSpPr/>
          <p:nvPr/>
        </p:nvSpPr>
        <p:spPr>
          <a:xfrm>
            <a:off x="10230104" y="2349149"/>
            <a:ext cx="363220" cy="314557"/>
          </a:xfrm>
          <a:custGeom>
            <a:avLst/>
            <a:gdLst/>
            <a:ahLst/>
            <a:cxnLst/>
            <a:rect l="l" t="t" r="r" b="b"/>
            <a:pathLst>
              <a:path w="363220" h="314557">
                <a:moveTo>
                  <a:pt x="363220" y="0"/>
                </a:moveTo>
                <a:lnTo>
                  <a:pt x="0" y="0"/>
                </a:lnTo>
                <a:lnTo>
                  <a:pt x="346" y="15843"/>
                </a:lnTo>
                <a:lnTo>
                  <a:pt x="1382" y="31657"/>
                </a:lnTo>
                <a:lnTo>
                  <a:pt x="3107" y="47410"/>
                </a:lnTo>
                <a:lnTo>
                  <a:pt x="5518" y="63072"/>
                </a:lnTo>
                <a:lnTo>
                  <a:pt x="8610" y="78615"/>
                </a:lnTo>
                <a:lnTo>
                  <a:pt x="12376" y="94008"/>
                </a:lnTo>
                <a:lnTo>
                  <a:pt x="16811" y="109222"/>
                </a:lnTo>
                <a:lnTo>
                  <a:pt x="21905" y="124228"/>
                </a:lnTo>
                <a:lnTo>
                  <a:pt x="27648" y="138998"/>
                </a:lnTo>
                <a:lnTo>
                  <a:pt x="34031" y="153503"/>
                </a:lnTo>
                <a:lnTo>
                  <a:pt x="41040" y="167716"/>
                </a:lnTo>
                <a:lnTo>
                  <a:pt x="48662" y="181610"/>
                </a:lnTo>
                <a:lnTo>
                  <a:pt x="56883" y="195158"/>
                </a:lnTo>
                <a:lnTo>
                  <a:pt x="65687" y="208334"/>
                </a:lnTo>
                <a:lnTo>
                  <a:pt x="75058" y="221114"/>
                </a:lnTo>
                <a:lnTo>
                  <a:pt x="84977" y="233473"/>
                </a:lnTo>
                <a:lnTo>
                  <a:pt x="95426" y="245387"/>
                </a:lnTo>
                <a:lnTo>
                  <a:pt x="106384" y="256835"/>
                </a:lnTo>
                <a:lnTo>
                  <a:pt x="117832" y="267793"/>
                </a:lnTo>
                <a:lnTo>
                  <a:pt x="129746" y="278242"/>
                </a:lnTo>
                <a:lnTo>
                  <a:pt x="142105" y="288161"/>
                </a:lnTo>
                <a:lnTo>
                  <a:pt x="154885" y="297532"/>
                </a:lnTo>
                <a:lnTo>
                  <a:pt x="168061" y="306336"/>
                </a:lnTo>
                <a:lnTo>
                  <a:pt x="181609" y="314557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6" name="S06-mark141"/>
          <p:cNvSpPr/>
          <p:nvPr/>
        </p:nvSpPr>
        <p:spPr>
          <a:xfrm>
            <a:off x="7301484" y="2349149"/>
            <a:ext cx="658368" cy="407258"/>
          </a:xfrm>
          <a:custGeom>
            <a:avLst/>
            <a:gdLst/>
            <a:ahLst/>
            <a:cxnLst/>
            <a:rect l="l" t="t" r="r" b="b"/>
            <a:pathLst>
              <a:path w="658368" h="407258">
                <a:moveTo>
                  <a:pt x="0" y="0"/>
                </a:moveTo>
                <a:lnTo>
                  <a:pt x="517290" y="407258"/>
                </a:lnTo>
                <a:lnTo>
                  <a:pt x="528407" y="392727"/>
                </a:lnTo>
                <a:lnTo>
                  <a:pt x="539115" y="377894"/>
                </a:lnTo>
                <a:lnTo>
                  <a:pt x="549407" y="362768"/>
                </a:lnTo>
                <a:lnTo>
                  <a:pt x="559274" y="347362"/>
                </a:lnTo>
                <a:lnTo>
                  <a:pt x="568710" y="331688"/>
                </a:lnTo>
                <a:lnTo>
                  <a:pt x="577707" y="315758"/>
                </a:lnTo>
                <a:lnTo>
                  <a:pt x="586257" y="299584"/>
                </a:lnTo>
                <a:lnTo>
                  <a:pt x="594355" y="283179"/>
                </a:lnTo>
                <a:lnTo>
                  <a:pt x="601994" y="266555"/>
                </a:lnTo>
                <a:lnTo>
                  <a:pt x="609168" y="249725"/>
                </a:lnTo>
                <a:lnTo>
                  <a:pt x="615872" y="232703"/>
                </a:lnTo>
                <a:lnTo>
                  <a:pt x="622100" y="215501"/>
                </a:lnTo>
                <a:lnTo>
                  <a:pt x="627847" y="198132"/>
                </a:lnTo>
                <a:lnTo>
                  <a:pt x="633110" y="180610"/>
                </a:lnTo>
                <a:lnTo>
                  <a:pt x="637884" y="162949"/>
                </a:lnTo>
                <a:lnTo>
                  <a:pt x="642165" y="145162"/>
                </a:lnTo>
                <a:lnTo>
                  <a:pt x="645951" y="127263"/>
                </a:lnTo>
                <a:lnTo>
                  <a:pt x="649238" y="109266"/>
                </a:lnTo>
                <a:lnTo>
                  <a:pt x="652023" y="91184"/>
                </a:lnTo>
                <a:lnTo>
                  <a:pt x="654305" y="73032"/>
                </a:lnTo>
                <a:lnTo>
                  <a:pt x="656081" y="54823"/>
                </a:lnTo>
                <a:lnTo>
                  <a:pt x="657351" y="36572"/>
                </a:lnTo>
                <a:lnTo>
                  <a:pt x="658114" y="18293"/>
                </a:lnTo>
                <a:lnTo>
                  <a:pt x="658368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7" name="S06-mark142"/>
          <p:cNvSpPr/>
          <p:nvPr/>
        </p:nvSpPr>
        <p:spPr>
          <a:xfrm flipH="1" flipV="1">
            <a:off x="10006384" y="3198114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6-mark143"/>
          <p:cNvSpPr/>
          <p:nvPr/>
        </p:nvSpPr>
        <p:spPr>
          <a:xfrm>
            <a:off x="8986520" y="226532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6-mark144"/>
          <p:cNvSpPr/>
          <p:nvPr/>
        </p:nvSpPr>
        <p:spPr>
          <a:xfrm>
            <a:off x="8908288" y="2265329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6-mark145"/>
          <p:cNvSpPr/>
          <p:nvPr/>
        </p:nvSpPr>
        <p:spPr>
          <a:xfrm flipV="1">
            <a:off x="8319736" y="3125772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6-mark146"/>
          <p:cNvSpPr/>
          <p:nvPr/>
        </p:nvSpPr>
        <p:spPr>
          <a:xfrm flipV="1">
            <a:off x="8381204" y="3174165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6-mark147"/>
          <p:cNvSpPr/>
          <p:nvPr/>
        </p:nvSpPr>
        <p:spPr>
          <a:xfrm flipV="1">
            <a:off x="8442672" y="3222559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6-label149"/>
          <p:cNvSpPr txBox="1"/>
          <p:nvPr/>
        </p:nvSpPr>
        <p:spPr>
          <a:xfrm>
            <a:off x="9365311" y="4112266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34" name="S06-label151"/>
          <p:cNvSpPr txBox="1"/>
          <p:nvPr/>
        </p:nvSpPr>
        <p:spPr>
          <a:xfrm>
            <a:off x="10545344" y="199926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35" name="S06-label153"/>
          <p:cNvSpPr txBox="1"/>
          <p:nvPr/>
        </p:nvSpPr>
        <p:spPr>
          <a:xfrm>
            <a:off x="6848723" y="203786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대응변과 대응각의 성질</a:t>
            </a:r>
            <a:endParaRPr lang="ko-KR" sz="4000" dirty="0"/>
          </a:p>
        </p:txBody>
      </p:sp>
      <p:sp>
        <p:nvSpPr>
          <p:cNvPr id="3" name="S07-card154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55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서로 같아요.</a:t>
            </a:r>
            <a:endParaRPr lang="ko-KR" sz="2800" dirty="0"/>
          </a:p>
        </p:txBody>
      </p:sp>
      <p:sp>
        <p:nvSpPr>
          <p:cNvPr id="5" name="S07-card156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57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서로 같아요.</a:t>
            </a:r>
            <a:endParaRPr lang="ko-KR" sz="2800" dirty="0"/>
          </a:p>
        </p:txBody>
      </p:sp>
      <p:sp>
        <p:nvSpPr>
          <p:cNvPr id="7" name="S07-figure158" descr="삼각형 ㄱㄴㄷ: 변 ㄱㄴ 5 cm, 변 ㄴㄷ 8 cm, 변 ㄷㄱ 7 cm, 각 ㄱㄴㄷ 60°"/>
          <p:cNvSpPr/>
          <p:nvPr/>
        </p:nvSpPr>
        <p:spPr>
          <a:xfrm>
            <a:off x="1595628" y="2176683"/>
            <a:ext cx="3291840" cy="1781750"/>
          </a:xfrm>
          <a:custGeom>
            <a:avLst/>
            <a:gdLst/>
            <a:ahLst/>
            <a:cxnLst/>
            <a:rect l="l" t="t" r="r" b="b"/>
            <a:pathLst>
              <a:path w="3291840" h="1781750">
                <a:moveTo>
                  <a:pt x="1028700" y="0"/>
                </a:moveTo>
                <a:lnTo>
                  <a:pt x="0" y="1781750"/>
                </a:lnTo>
                <a:lnTo>
                  <a:pt x="3291840" y="178175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7-mark159"/>
          <p:cNvSpPr/>
          <p:nvPr/>
        </p:nvSpPr>
        <p:spPr>
          <a:xfrm>
            <a:off x="1595628" y="3643876"/>
            <a:ext cx="363220" cy="314557"/>
          </a:xfrm>
          <a:custGeom>
            <a:avLst/>
            <a:gdLst/>
            <a:ahLst/>
            <a:cxnLst/>
            <a:rect l="l" t="t" r="r" b="b"/>
            <a:pathLst>
              <a:path w="363220" h="314557">
                <a:moveTo>
                  <a:pt x="0" y="314557"/>
                </a:moveTo>
                <a:lnTo>
                  <a:pt x="363220" y="314557"/>
                </a:lnTo>
                <a:lnTo>
                  <a:pt x="362874" y="298714"/>
                </a:lnTo>
                <a:lnTo>
                  <a:pt x="361838" y="282901"/>
                </a:lnTo>
                <a:lnTo>
                  <a:pt x="360113" y="267148"/>
                </a:lnTo>
                <a:lnTo>
                  <a:pt x="357702" y="251485"/>
                </a:lnTo>
                <a:lnTo>
                  <a:pt x="354610" y="235942"/>
                </a:lnTo>
                <a:lnTo>
                  <a:pt x="350844" y="220549"/>
                </a:lnTo>
                <a:lnTo>
                  <a:pt x="346409" y="205335"/>
                </a:lnTo>
                <a:lnTo>
                  <a:pt x="341315" y="190329"/>
                </a:lnTo>
                <a:lnTo>
                  <a:pt x="335572" y="175559"/>
                </a:lnTo>
                <a:lnTo>
                  <a:pt x="329189" y="161054"/>
                </a:lnTo>
                <a:lnTo>
                  <a:pt x="322180" y="146841"/>
                </a:lnTo>
                <a:lnTo>
                  <a:pt x="314558" y="132948"/>
                </a:lnTo>
                <a:lnTo>
                  <a:pt x="306337" y="119400"/>
                </a:lnTo>
                <a:lnTo>
                  <a:pt x="297533" y="106223"/>
                </a:lnTo>
                <a:lnTo>
                  <a:pt x="288162" y="93443"/>
                </a:lnTo>
                <a:lnTo>
                  <a:pt x="278243" y="81084"/>
                </a:lnTo>
                <a:lnTo>
                  <a:pt x="267794" y="69170"/>
                </a:lnTo>
                <a:lnTo>
                  <a:pt x="256836" y="57722"/>
                </a:lnTo>
                <a:lnTo>
                  <a:pt x="245388" y="46764"/>
                </a:lnTo>
                <a:lnTo>
                  <a:pt x="233474" y="36315"/>
                </a:lnTo>
                <a:lnTo>
                  <a:pt x="221115" y="26396"/>
                </a:lnTo>
                <a:lnTo>
                  <a:pt x="208335" y="17025"/>
                </a:lnTo>
                <a:lnTo>
                  <a:pt x="195159" y="8221"/>
                </a:lnTo>
                <a:lnTo>
                  <a:pt x="181611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7-label161"/>
          <p:cNvSpPr txBox="1"/>
          <p:nvPr/>
        </p:nvSpPr>
        <p:spPr>
          <a:xfrm>
            <a:off x="1842113" y="3469484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200" dirty="0"/>
          </a:p>
        </p:txBody>
      </p:sp>
      <p:sp>
        <p:nvSpPr>
          <p:cNvPr id="10" name="S07-mark162"/>
          <p:cNvSpPr/>
          <p:nvPr/>
        </p:nvSpPr>
        <p:spPr>
          <a:xfrm>
            <a:off x="2037388" y="3025648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7-label164"/>
          <p:cNvSpPr txBox="1"/>
          <p:nvPr/>
        </p:nvSpPr>
        <p:spPr>
          <a:xfrm>
            <a:off x="1323194" y="265909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2" name="S07-mark165"/>
          <p:cNvSpPr/>
          <p:nvPr/>
        </p:nvSpPr>
        <p:spPr>
          <a:xfrm flipV="1">
            <a:off x="3202432" y="387461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7-mark166"/>
          <p:cNvSpPr/>
          <p:nvPr/>
        </p:nvSpPr>
        <p:spPr>
          <a:xfrm flipV="1">
            <a:off x="3280664" y="387461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168"/>
          <p:cNvSpPr txBox="1"/>
          <p:nvPr/>
        </p:nvSpPr>
        <p:spPr>
          <a:xfrm>
            <a:off x="2859786" y="403526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15" name="S07-mark169"/>
          <p:cNvSpPr/>
          <p:nvPr/>
        </p:nvSpPr>
        <p:spPr>
          <a:xfrm flipH="1">
            <a:off x="3765516" y="3050093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mark170"/>
          <p:cNvSpPr/>
          <p:nvPr/>
        </p:nvSpPr>
        <p:spPr>
          <a:xfrm flipH="1">
            <a:off x="3704048" y="3001699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mark171"/>
          <p:cNvSpPr/>
          <p:nvPr/>
        </p:nvSpPr>
        <p:spPr>
          <a:xfrm flipH="1">
            <a:off x="3642580" y="2953306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173"/>
          <p:cNvSpPr txBox="1"/>
          <p:nvPr/>
        </p:nvSpPr>
        <p:spPr>
          <a:xfrm>
            <a:off x="3640036" y="255519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19" name="S07-label175"/>
          <p:cNvSpPr txBox="1"/>
          <p:nvPr/>
        </p:nvSpPr>
        <p:spPr>
          <a:xfrm>
            <a:off x="1160500" y="383206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20" name="S07-label177"/>
          <p:cNvSpPr txBox="1"/>
          <p:nvPr/>
        </p:nvSpPr>
        <p:spPr>
          <a:xfrm>
            <a:off x="4857121" y="379347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21" name="S07-label179"/>
          <p:cNvSpPr txBox="1"/>
          <p:nvPr/>
        </p:nvSpPr>
        <p:spPr>
          <a:xfrm>
            <a:off x="2340533" y="1719066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22" name="S07-figure180" descr="180° 돌린 삼각형 ㄹㅁㅂ: 변 ㄹㅁ 5 cm, 변 ㅁㅂ 8 cm, 변 ㅂㄹ 7 cm, 각 ㄹㅁㅂ 60°"/>
          <p:cNvSpPr/>
          <p:nvPr/>
        </p:nvSpPr>
        <p:spPr>
          <a:xfrm>
            <a:off x="7301484" y="2176683"/>
            <a:ext cx="3291840" cy="1781750"/>
          </a:xfrm>
          <a:custGeom>
            <a:avLst/>
            <a:gdLst/>
            <a:ahLst/>
            <a:cxnLst/>
            <a:rect l="l" t="t" r="r" b="b"/>
            <a:pathLst>
              <a:path w="3291840" h="1781750">
                <a:moveTo>
                  <a:pt x="2263140" y="1781750"/>
                </a:moveTo>
                <a:lnTo>
                  <a:pt x="32918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7-mark181"/>
          <p:cNvSpPr/>
          <p:nvPr/>
        </p:nvSpPr>
        <p:spPr>
          <a:xfrm>
            <a:off x="10230104" y="2176683"/>
            <a:ext cx="363220" cy="314557"/>
          </a:xfrm>
          <a:custGeom>
            <a:avLst/>
            <a:gdLst/>
            <a:ahLst/>
            <a:cxnLst/>
            <a:rect l="l" t="t" r="r" b="b"/>
            <a:pathLst>
              <a:path w="363220" h="314557">
                <a:moveTo>
                  <a:pt x="363220" y="0"/>
                </a:moveTo>
                <a:lnTo>
                  <a:pt x="0" y="0"/>
                </a:lnTo>
                <a:lnTo>
                  <a:pt x="346" y="15843"/>
                </a:lnTo>
                <a:lnTo>
                  <a:pt x="1382" y="31657"/>
                </a:lnTo>
                <a:lnTo>
                  <a:pt x="3107" y="47410"/>
                </a:lnTo>
                <a:lnTo>
                  <a:pt x="5518" y="63072"/>
                </a:lnTo>
                <a:lnTo>
                  <a:pt x="8610" y="78615"/>
                </a:lnTo>
                <a:lnTo>
                  <a:pt x="12376" y="94008"/>
                </a:lnTo>
                <a:lnTo>
                  <a:pt x="16811" y="109222"/>
                </a:lnTo>
                <a:lnTo>
                  <a:pt x="21905" y="124228"/>
                </a:lnTo>
                <a:lnTo>
                  <a:pt x="27648" y="138998"/>
                </a:lnTo>
                <a:lnTo>
                  <a:pt x="34031" y="153503"/>
                </a:lnTo>
                <a:lnTo>
                  <a:pt x="41040" y="167716"/>
                </a:lnTo>
                <a:lnTo>
                  <a:pt x="48662" y="181610"/>
                </a:lnTo>
                <a:lnTo>
                  <a:pt x="56883" y="195158"/>
                </a:lnTo>
                <a:lnTo>
                  <a:pt x="65687" y="208334"/>
                </a:lnTo>
                <a:lnTo>
                  <a:pt x="75058" y="221114"/>
                </a:lnTo>
                <a:lnTo>
                  <a:pt x="84977" y="233473"/>
                </a:lnTo>
                <a:lnTo>
                  <a:pt x="95426" y="245387"/>
                </a:lnTo>
                <a:lnTo>
                  <a:pt x="106384" y="256835"/>
                </a:lnTo>
                <a:lnTo>
                  <a:pt x="117832" y="267793"/>
                </a:lnTo>
                <a:lnTo>
                  <a:pt x="129746" y="278242"/>
                </a:lnTo>
                <a:lnTo>
                  <a:pt x="142105" y="288161"/>
                </a:lnTo>
                <a:lnTo>
                  <a:pt x="154885" y="297532"/>
                </a:lnTo>
                <a:lnTo>
                  <a:pt x="168061" y="306336"/>
                </a:lnTo>
                <a:lnTo>
                  <a:pt x="181609" y="314557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4" name="S07-label183"/>
          <p:cNvSpPr txBox="1"/>
          <p:nvPr/>
        </p:nvSpPr>
        <p:spPr>
          <a:xfrm>
            <a:off x="9750955" y="2316382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200" dirty="0"/>
          </a:p>
        </p:txBody>
      </p:sp>
      <p:sp>
        <p:nvSpPr>
          <p:cNvPr id="25" name="S07-mark184"/>
          <p:cNvSpPr/>
          <p:nvPr/>
        </p:nvSpPr>
        <p:spPr>
          <a:xfrm flipH="1" flipV="1">
            <a:off x="10006384" y="3025648"/>
            <a:ext cx="145180" cy="8382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186"/>
          <p:cNvSpPr txBox="1"/>
          <p:nvPr/>
        </p:nvSpPr>
        <p:spPr>
          <a:xfrm>
            <a:off x="10102234" y="312677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7" name="S07-mark187"/>
          <p:cNvSpPr/>
          <p:nvPr/>
        </p:nvSpPr>
        <p:spPr>
          <a:xfrm>
            <a:off x="8986520" y="209286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7-mark188"/>
          <p:cNvSpPr/>
          <p:nvPr/>
        </p:nvSpPr>
        <p:spPr>
          <a:xfrm>
            <a:off x="8908288" y="2092863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abel190"/>
          <p:cNvSpPr txBox="1"/>
          <p:nvPr/>
        </p:nvSpPr>
        <p:spPr>
          <a:xfrm>
            <a:off x="8565642" y="175059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30" name="S07-mark191"/>
          <p:cNvSpPr/>
          <p:nvPr/>
        </p:nvSpPr>
        <p:spPr>
          <a:xfrm flipV="1">
            <a:off x="8319736" y="2953306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7-mark192"/>
          <p:cNvSpPr/>
          <p:nvPr/>
        </p:nvSpPr>
        <p:spPr>
          <a:xfrm flipV="1">
            <a:off x="8381204" y="3001699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7-mark193"/>
          <p:cNvSpPr/>
          <p:nvPr/>
        </p:nvSpPr>
        <p:spPr>
          <a:xfrm flipV="1">
            <a:off x="8442672" y="3050093"/>
            <a:ext cx="103700" cy="1317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7-label195"/>
          <p:cNvSpPr txBox="1"/>
          <p:nvPr/>
        </p:nvSpPr>
        <p:spPr>
          <a:xfrm>
            <a:off x="7785392" y="323067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34" name="S07-label197"/>
          <p:cNvSpPr txBox="1"/>
          <p:nvPr/>
        </p:nvSpPr>
        <p:spPr>
          <a:xfrm>
            <a:off x="9365311" y="393980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35" name="S07-label199"/>
          <p:cNvSpPr txBox="1"/>
          <p:nvPr/>
        </p:nvSpPr>
        <p:spPr>
          <a:xfrm>
            <a:off x="10545344" y="182679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36" name="S07-label201"/>
          <p:cNvSpPr txBox="1"/>
          <p:nvPr/>
        </p:nvSpPr>
        <p:spPr>
          <a:xfrm>
            <a:off x="6848723" y="186539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대응변과 대응각 찾기</a:t>
            </a:r>
            <a:endParaRPr lang="ko-KR" sz="4000" dirty="0"/>
          </a:p>
        </p:txBody>
      </p:sp>
      <p:sp>
        <p:nvSpPr>
          <p:cNvPr id="3" name="S08-text2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사각형은 서로 합동이에요. ①~③을 구해요.</a:t>
            </a:r>
            <a:endParaRPr lang="ko-KR" sz="2800" dirty="0"/>
          </a:p>
        </p:txBody>
      </p:sp>
      <p:sp>
        <p:nvSpPr>
          <p:cNvPr id="4" name="S08-card2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대응점을 먼저 짝지어요. 직각 표시가 도움이 돼요.</a:t>
            </a:r>
            <a:endParaRPr lang="ko-KR" sz="2800" dirty="0"/>
          </a:p>
        </p:txBody>
      </p:sp>
      <p:sp>
        <p:nvSpPr>
          <p:cNvPr id="6" name="S08-figure205" descr="사각형 ㄱㄴㄷㄹ: 변 ㄱㄴ 8 cm, 변 ㄷㄹ 6 cm, 변 ㄹㄱ 4 cm, 각 ㄱ 60°, 각 ㄴ과 각 ㄷ 직각, 각 ㄹ 120°"/>
          <p:cNvSpPr/>
          <p:nvPr/>
        </p:nvSpPr>
        <p:spPr>
          <a:xfrm>
            <a:off x="1229868" y="2695077"/>
            <a:ext cx="4023360" cy="1742165"/>
          </a:xfrm>
          <a:custGeom>
            <a:avLst/>
            <a:gdLst/>
            <a:ahLst/>
            <a:cxnLst/>
            <a:rect l="l" t="t" r="r" b="b"/>
            <a:pathLst>
              <a:path w="4023360" h="1742165">
                <a:moveTo>
                  <a:pt x="0" y="1742165"/>
                </a:moveTo>
                <a:lnTo>
                  <a:pt x="4023360" y="1742165"/>
                </a:lnTo>
                <a:lnTo>
                  <a:pt x="4023360" y="0"/>
                </a:lnTo>
                <a:lnTo>
                  <a:pt x="100584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8-mark206"/>
          <p:cNvSpPr/>
          <p:nvPr/>
        </p:nvSpPr>
        <p:spPr>
          <a:xfrm>
            <a:off x="1229868" y="4122685"/>
            <a:ext cx="363220" cy="314558"/>
          </a:xfrm>
          <a:custGeom>
            <a:avLst/>
            <a:gdLst/>
            <a:ahLst/>
            <a:cxnLst/>
            <a:rect l="l" t="t" r="r" b="b"/>
            <a:pathLst>
              <a:path w="363220" h="314558">
                <a:moveTo>
                  <a:pt x="0" y="314558"/>
                </a:moveTo>
                <a:lnTo>
                  <a:pt x="363220" y="314558"/>
                </a:lnTo>
                <a:lnTo>
                  <a:pt x="362874" y="298714"/>
                </a:lnTo>
                <a:lnTo>
                  <a:pt x="361838" y="282901"/>
                </a:lnTo>
                <a:lnTo>
                  <a:pt x="360113" y="267148"/>
                </a:lnTo>
                <a:lnTo>
                  <a:pt x="357702" y="251485"/>
                </a:lnTo>
                <a:lnTo>
                  <a:pt x="354610" y="235943"/>
                </a:lnTo>
                <a:lnTo>
                  <a:pt x="350844" y="220549"/>
                </a:lnTo>
                <a:lnTo>
                  <a:pt x="346409" y="205335"/>
                </a:lnTo>
                <a:lnTo>
                  <a:pt x="341315" y="190329"/>
                </a:lnTo>
                <a:lnTo>
                  <a:pt x="335572" y="175559"/>
                </a:lnTo>
                <a:lnTo>
                  <a:pt x="329189" y="161054"/>
                </a:lnTo>
                <a:lnTo>
                  <a:pt x="322180" y="146841"/>
                </a:lnTo>
                <a:lnTo>
                  <a:pt x="314558" y="132948"/>
                </a:lnTo>
                <a:lnTo>
                  <a:pt x="306337" y="119400"/>
                </a:lnTo>
                <a:lnTo>
                  <a:pt x="297532" y="106223"/>
                </a:lnTo>
                <a:lnTo>
                  <a:pt x="288162" y="93443"/>
                </a:lnTo>
                <a:lnTo>
                  <a:pt x="278243" y="81084"/>
                </a:lnTo>
                <a:lnTo>
                  <a:pt x="267794" y="69170"/>
                </a:lnTo>
                <a:lnTo>
                  <a:pt x="256835" y="57722"/>
                </a:lnTo>
                <a:lnTo>
                  <a:pt x="245388" y="46764"/>
                </a:lnTo>
                <a:lnTo>
                  <a:pt x="233473" y="36315"/>
                </a:lnTo>
                <a:lnTo>
                  <a:pt x="221114" y="26396"/>
                </a:lnTo>
                <a:lnTo>
                  <a:pt x="208334" y="17025"/>
                </a:lnTo>
                <a:lnTo>
                  <a:pt x="195158" y="8221"/>
                </a:lnTo>
                <a:lnTo>
                  <a:pt x="18161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8-label208"/>
          <p:cNvSpPr txBox="1"/>
          <p:nvPr/>
        </p:nvSpPr>
        <p:spPr>
          <a:xfrm>
            <a:off x="1476353" y="3948293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2200" dirty="0"/>
          </a:p>
        </p:txBody>
      </p:sp>
      <p:sp>
        <p:nvSpPr>
          <p:cNvPr id="9" name="S08-mark209"/>
          <p:cNvSpPr/>
          <p:nvPr/>
        </p:nvSpPr>
        <p:spPr>
          <a:xfrm>
            <a:off x="2054098" y="2695077"/>
            <a:ext cx="544830" cy="363220"/>
          </a:xfrm>
          <a:custGeom>
            <a:avLst/>
            <a:gdLst/>
            <a:ahLst/>
            <a:cxnLst/>
            <a:rect l="l" t="t" r="r" b="b"/>
            <a:pathLst>
              <a:path w="544830" h="363220">
                <a:moveTo>
                  <a:pt x="181610" y="0"/>
                </a:moveTo>
                <a:lnTo>
                  <a:pt x="0" y="314558"/>
                </a:lnTo>
                <a:lnTo>
                  <a:pt x="28107" y="329189"/>
                </a:lnTo>
                <a:lnTo>
                  <a:pt x="57381" y="341315"/>
                </a:lnTo>
                <a:lnTo>
                  <a:pt x="87602" y="350844"/>
                </a:lnTo>
                <a:lnTo>
                  <a:pt x="118538" y="357702"/>
                </a:lnTo>
                <a:lnTo>
                  <a:pt x="149953" y="361838"/>
                </a:lnTo>
                <a:lnTo>
                  <a:pt x="181610" y="363220"/>
                </a:lnTo>
                <a:lnTo>
                  <a:pt x="213267" y="361838"/>
                </a:lnTo>
                <a:lnTo>
                  <a:pt x="244683" y="357702"/>
                </a:lnTo>
                <a:lnTo>
                  <a:pt x="275618" y="350844"/>
                </a:lnTo>
                <a:lnTo>
                  <a:pt x="305839" y="341315"/>
                </a:lnTo>
                <a:lnTo>
                  <a:pt x="335113" y="329189"/>
                </a:lnTo>
                <a:lnTo>
                  <a:pt x="363220" y="314558"/>
                </a:lnTo>
                <a:lnTo>
                  <a:pt x="389944" y="297532"/>
                </a:lnTo>
                <a:lnTo>
                  <a:pt x="415083" y="278243"/>
                </a:lnTo>
                <a:lnTo>
                  <a:pt x="438445" y="256835"/>
                </a:lnTo>
                <a:lnTo>
                  <a:pt x="459853" y="233473"/>
                </a:lnTo>
                <a:lnTo>
                  <a:pt x="479142" y="208334"/>
                </a:lnTo>
                <a:lnTo>
                  <a:pt x="496168" y="181610"/>
                </a:lnTo>
                <a:lnTo>
                  <a:pt x="510799" y="153503"/>
                </a:lnTo>
                <a:lnTo>
                  <a:pt x="522925" y="124229"/>
                </a:lnTo>
                <a:lnTo>
                  <a:pt x="532454" y="94008"/>
                </a:lnTo>
                <a:lnTo>
                  <a:pt x="539312" y="63072"/>
                </a:lnTo>
                <a:lnTo>
                  <a:pt x="543448" y="31657"/>
                </a:lnTo>
                <a:lnTo>
                  <a:pt x="54483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8-label211"/>
          <p:cNvSpPr txBox="1"/>
          <p:nvPr/>
        </p:nvSpPr>
        <p:spPr>
          <a:xfrm>
            <a:off x="2159889" y="3064879"/>
            <a:ext cx="7802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120°</a:t>
            </a:r>
            <a:endParaRPr lang="ko-KR" sz="2200" dirty="0"/>
          </a:p>
        </p:txBody>
      </p:sp>
      <p:sp>
        <p:nvSpPr>
          <p:cNvPr id="11" name="S08-mark212"/>
          <p:cNvSpPr/>
          <p:nvPr/>
        </p:nvSpPr>
        <p:spPr>
          <a:xfrm>
            <a:off x="5043678" y="422769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mark213"/>
          <p:cNvSpPr/>
          <p:nvPr/>
        </p:nvSpPr>
        <p:spPr>
          <a:xfrm>
            <a:off x="5043678" y="269507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8-label215"/>
          <p:cNvSpPr txBox="1"/>
          <p:nvPr/>
        </p:nvSpPr>
        <p:spPr>
          <a:xfrm>
            <a:off x="2859786" y="451407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14" name="S08-label217"/>
          <p:cNvSpPr txBox="1"/>
          <p:nvPr/>
        </p:nvSpPr>
        <p:spPr>
          <a:xfrm>
            <a:off x="3362706" y="226899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5" name="S08-label219"/>
          <p:cNvSpPr txBox="1"/>
          <p:nvPr/>
        </p:nvSpPr>
        <p:spPr>
          <a:xfrm>
            <a:off x="946004" y="31576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6" name="S08-label221"/>
          <p:cNvSpPr txBox="1"/>
          <p:nvPr/>
        </p:nvSpPr>
        <p:spPr>
          <a:xfrm>
            <a:off x="794740" y="431087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7" name="S08-label223"/>
          <p:cNvSpPr txBox="1"/>
          <p:nvPr/>
        </p:nvSpPr>
        <p:spPr>
          <a:xfrm>
            <a:off x="5169727" y="435717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8" name="S08-label225"/>
          <p:cNvSpPr txBox="1"/>
          <p:nvPr/>
        </p:nvSpPr>
        <p:spPr>
          <a:xfrm>
            <a:off x="5169727" y="229890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9" name="S08-label227"/>
          <p:cNvSpPr txBox="1"/>
          <p:nvPr/>
        </p:nvSpPr>
        <p:spPr>
          <a:xfrm>
            <a:off x="1882394" y="226337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20" name="S08-figure228" descr="사각형 ㄱㄴㄷㄹ을 아래쪽으로 뒤집은 사각형 ㅁㅂㅅㅇ: 각 ㅂ과 각 ㅅ 직각, 변 ㅁㅂ에 ③, 변 ㅇㅁ에 ①, 각 ㅇ에 ②"/>
          <p:cNvSpPr/>
          <p:nvPr/>
        </p:nvSpPr>
        <p:spPr>
          <a:xfrm>
            <a:off x="6935724" y="2695077"/>
            <a:ext cx="4023360" cy="1742165"/>
          </a:xfrm>
          <a:custGeom>
            <a:avLst/>
            <a:gdLst/>
            <a:ahLst/>
            <a:cxnLst/>
            <a:rect l="l" t="t" r="r" b="b"/>
            <a:pathLst>
              <a:path w="4023360" h="1742165">
                <a:moveTo>
                  <a:pt x="0" y="0"/>
                </a:moveTo>
                <a:lnTo>
                  <a:pt x="4023360" y="0"/>
                </a:lnTo>
                <a:lnTo>
                  <a:pt x="4023360" y="1742165"/>
                </a:lnTo>
                <a:lnTo>
                  <a:pt x="1005840" y="1742165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8-mark229"/>
          <p:cNvSpPr/>
          <p:nvPr/>
        </p:nvSpPr>
        <p:spPr>
          <a:xfrm>
            <a:off x="7759954" y="4074023"/>
            <a:ext cx="544830" cy="363220"/>
          </a:xfrm>
          <a:custGeom>
            <a:avLst/>
            <a:gdLst/>
            <a:ahLst/>
            <a:cxnLst/>
            <a:rect l="l" t="t" r="r" b="b"/>
            <a:pathLst>
              <a:path w="544830" h="363220">
                <a:moveTo>
                  <a:pt x="181610" y="363220"/>
                </a:moveTo>
                <a:lnTo>
                  <a:pt x="544830" y="363220"/>
                </a:lnTo>
                <a:lnTo>
                  <a:pt x="543448" y="331563"/>
                </a:lnTo>
                <a:lnTo>
                  <a:pt x="539312" y="300148"/>
                </a:lnTo>
                <a:lnTo>
                  <a:pt x="532454" y="269212"/>
                </a:lnTo>
                <a:lnTo>
                  <a:pt x="522925" y="238991"/>
                </a:lnTo>
                <a:lnTo>
                  <a:pt x="510799" y="209717"/>
                </a:lnTo>
                <a:lnTo>
                  <a:pt x="496168" y="181610"/>
                </a:lnTo>
                <a:lnTo>
                  <a:pt x="479142" y="154886"/>
                </a:lnTo>
                <a:lnTo>
                  <a:pt x="459853" y="129747"/>
                </a:lnTo>
                <a:lnTo>
                  <a:pt x="438445" y="106385"/>
                </a:lnTo>
                <a:lnTo>
                  <a:pt x="415083" y="84977"/>
                </a:lnTo>
                <a:lnTo>
                  <a:pt x="389944" y="65688"/>
                </a:lnTo>
                <a:lnTo>
                  <a:pt x="363220" y="48662"/>
                </a:lnTo>
                <a:lnTo>
                  <a:pt x="335113" y="34031"/>
                </a:lnTo>
                <a:lnTo>
                  <a:pt x="305839" y="21905"/>
                </a:lnTo>
                <a:lnTo>
                  <a:pt x="275618" y="12376"/>
                </a:lnTo>
                <a:lnTo>
                  <a:pt x="244683" y="5518"/>
                </a:lnTo>
                <a:lnTo>
                  <a:pt x="213267" y="1382"/>
                </a:lnTo>
                <a:lnTo>
                  <a:pt x="181610" y="0"/>
                </a:lnTo>
                <a:lnTo>
                  <a:pt x="149953" y="1382"/>
                </a:lnTo>
                <a:lnTo>
                  <a:pt x="118538" y="5518"/>
                </a:lnTo>
                <a:lnTo>
                  <a:pt x="87602" y="12376"/>
                </a:lnTo>
                <a:lnTo>
                  <a:pt x="57381" y="21905"/>
                </a:lnTo>
                <a:lnTo>
                  <a:pt x="28107" y="34031"/>
                </a:lnTo>
                <a:lnTo>
                  <a:pt x="0" y="4866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2" name="S08-label231"/>
          <p:cNvSpPr txBox="1"/>
          <p:nvPr/>
        </p:nvSpPr>
        <p:spPr>
          <a:xfrm>
            <a:off x="8064119" y="371819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3" name="S08-mark232"/>
          <p:cNvSpPr/>
          <p:nvPr/>
        </p:nvSpPr>
        <p:spPr>
          <a:xfrm>
            <a:off x="10749534" y="269507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8-mark233"/>
          <p:cNvSpPr/>
          <p:nvPr/>
        </p:nvSpPr>
        <p:spPr>
          <a:xfrm>
            <a:off x="10749534" y="422769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8-label235"/>
          <p:cNvSpPr txBox="1"/>
          <p:nvPr/>
        </p:nvSpPr>
        <p:spPr>
          <a:xfrm>
            <a:off x="8755634" y="226899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6" name="S08-label237"/>
          <p:cNvSpPr txBox="1"/>
          <p:nvPr/>
        </p:nvSpPr>
        <p:spPr>
          <a:xfrm>
            <a:off x="7036733" y="351286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7" name="S08-label239"/>
          <p:cNvSpPr txBox="1"/>
          <p:nvPr/>
        </p:nvSpPr>
        <p:spPr>
          <a:xfrm>
            <a:off x="6500596" y="234519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28" name="S08-label241"/>
          <p:cNvSpPr txBox="1"/>
          <p:nvPr/>
        </p:nvSpPr>
        <p:spPr>
          <a:xfrm>
            <a:off x="10875583" y="229890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9" name="S08-label243"/>
          <p:cNvSpPr txBox="1"/>
          <p:nvPr/>
        </p:nvSpPr>
        <p:spPr>
          <a:xfrm>
            <a:off x="10875583" y="435717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3000" dirty="0"/>
          </a:p>
        </p:txBody>
      </p:sp>
      <p:sp>
        <p:nvSpPr>
          <p:cNvPr id="30" name="S08-label245"/>
          <p:cNvSpPr txBox="1"/>
          <p:nvPr/>
        </p:nvSpPr>
        <p:spPr>
          <a:xfrm>
            <a:off x="7588250" y="439269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2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삼각형은 서로 합동이에요.</a:t>
            </a:r>
            <a:endParaRPr lang="ko-KR" sz="2800" dirty="0"/>
          </a:p>
        </p:txBody>
      </p:sp>
      <p:sp>
        <p:nvSpPr>
          <p:cNvPr id="4" name="S09-card247"/>
          <p:cNvSpPr/>
          <p:nvPr/>
        </p:nvSpPr>
        <p:spPr>
          <a:xfrm>
            <a:off x="548640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248"/>
          <p:cNvSpPr txBox="1"/>
          <p:nvPr/>
        </p:nvSpPr>
        <p:spPr>
          <a:xfrm>
            <a:off x="822960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 ㅁㅂ은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cm?</a:t>
            </a:r>
            <a:endParaRPr lang="ko-KR" sz="2800" dirty="0"/>
          </a:p>
        </p:txBody>
      </p:sp>
      <p:sp>
        <p:nvSpPr>
          <p:cNvPr id="6" name="S09-card249"/>
          <p:cNvSpPr/>
          <p:nvPr/>
        </p:nvSpPr>
        <p:spPr>
          <a:xfrm>
            <a:off x="4322064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250"/>
          <p:cNvSpPr txBox="1"/>
          <p:nvPr/>
        </p:nvSpPr>
        <p:spPr>
          <a:xfrm>
            <a:off x="4596384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 ㄹㅁㅂ은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도?</a:t>
            </a:r>
            <a:endParaRPr lang="ko-KR" sz="2800" dirty="0"/>
          </a:p>
        </p:txBody>
      </p:sp>
      <p:sp>
        <p:nvSpPr>
          <p:cNvPr id="8" name="S09-card251"/>
          <p:cNvSpPr/>
          <p:nvPr/>
        </p:nvSpPr>
        <p:spPr>
          <a:xfrm>
            <a:off x="8095488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252"/>
          <p:cNvSpPr txBox="1"/>
          <p:nvPr/>
        </p:nvSpPr>
        <p:spPr>
          <a:xfrm>
            <a:off x="8369808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각 ㅁㄹㅂ은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도?</a:t>
            </a:r>
            <a:endParaRPr lang="ko-KR" sz="2800" dirty="0"/>
          </a:p>
        </p:txBody>
      </p:sp>
      <p:sp>
        <p:nvSpPr>
          <p:cNvPr id="10" name="S09-figure253" descr="삼각형 ㄱㄴㄷ: 변 ㄴㄷ 6 cm, 각 ㄱㄴㄷ 40°, 각 ㄱㄷㄴ 75°"/>
          <p:cNvSpPr/>
          <p:nvPr/>
        </p:nvSpPr>
        <p:spPr>
          <a:xfrm>
            <a:off x="2199132" y="2687952"/>
            <a:ext cx="2084832" cy="1428249"/>
          </a:xfrm>
          <a:custGeom>
            <a:avLst/>
            <a:gdLst/>
            <a:ahLst/>
            <a:cxnLst/>
            <a:rect l="l" t="t" r="r" b="b"/>
            <a:pathLst>
              <a:path w="2084832" h="1428249">
                <a:moveTo>
                  <a:pt x="1702126" y="0"/>
                </a:moveTo>
                <a:lnTo>
                  <a:pt x="0" y="1428249"/>
                </a:lnTo>
                <a:lnTo>
                  <a:pt x="2084832" y="1428249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9-mark254"/>
          <p:cNvSpPr/>
          <p:nvPr/>
        </p:nvSpPr>
        <p:spPr>
          <a:xfrm>
            <a:off x="2199132" y="3848180"/>
            <a:ext cx="416966" cy="268020"/>
          </a:xfrm>
          <a:custGeom>
            <a:avLst/>
            <a:gdLst/>
            <a:ahLst/>
            <a:cxnLst/>
            <a:rect l="l" t="t" r="r" b="b"/>
            <a:pathLst>
              <a:path w="416966" h="268020">
                <a:moveTo>
                  <a:pt x="0" y="268020"/>
                </a:moveTo>
                <a:lnTo>
                  <a:pt x="416966" y="268020"/>
                </a:lnTo>
                <a:lnTo>
                  <a:pt x="416790" y="255893"/>
                </a:lnTo>
                <a:lnTo>
                  <a:pt x="416261" y="243776"/>
                </a:lnTo>
                <a:lnTo>
                  <a:pt x="415380" y="231679"/>
                </a:lnTo>
                <a:lnTo>
                  <a:pt x="414147" y="219614"/>
                </a:lnTo>
                <a:lnTo>
                  <a:pt x="412564" y="207589"/>
                </a:lnTo>
                <a:lnTo>
                  <a:pt x="410632" y="195615"/>
                </a:lnTo>
                <a:lnTo>
                  <a:pt x="408352" y="183703"/>
                </a:lnTo>
                <a:lnTo>
                  <a:pt x="405727" y="171861"/>
                </a:lnTo>
                <a:lnTo>
                  <a:pt x="402759" y="160102"/>
                </a:lnTo>
                <a:lnTo>
                  <a:pt x="399450" y="148433"/>
                </a:lnTo>
                <a:lnTo>
                  <a:pt x="395802" y="136866"/>
                </a:lnTo>
                <a:lnTo>
                  <a:pt x="391820" y="125410"/>
                </a:lnTo>
                <a:lnTo>
                  <a:pt x="387507" y="114074"/>
                </a:lnTo>
                <a:lnTo>
                  <a:pt x="382865" y="102869"/>
                </a:lnTo>
                <a:lnTo>
                  <a:pt x="377900" y="91803"/>
                </a:lnTo>
                <a:lnTo>
                  <a:pt x="372615" y="80887"/>
                </a:lnTo>
                <a:lnTo>
                  <a:pt x="367015" y="70128"/>
                </a:lnTo>
                <a:lnTo>
                  <a:pt x="361104" y="59538"/>
                </a:lnTo>
                <a:lnTo>
                  <a:pt x="354887" y="49123"/>
                </a:lnTo>
                <a:lnTo>
                  <a:pt x="348371" y="38894"/>
                </a:lnTo>
                <a:lnTo>
                  <a:pt x="341559" y="28859"/>
                </a:lnTo>
                <a:lnTo>
                  <a:pt x="334459" y="19026"/>
                </a:lnTo>
                <a:lnTo>
                  <a:pt x="327075" y="9403"/>
                </a:lnTo>
                <a:lnTo>
                  <a:pt x="319415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9-label256"/>
          <p:cNvSpPr txBox="1"/>
          <p:nvPr/>
        </p:nvSpPr>
        <p:spPr>
          <a:xfrm>
            <a:off x="2592072" y="3690115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40°</a:t>
            </a:r>
            <a:endParaRPr lang="ko-KR" sz="2200" dirty="0"/>
          </a:p>
        </p:txBody>
      </p:sp>
      <p:sp>
        <p:nvSpPr>
          <p:cNvPr id="13" name="S09-mark257"/>
          <p:cNvSpPr/>
          <p:nvPr/>
        </p:nvSpPr>
        <p:spPr>
          <a:xfrm>
            <a:off x="3920744" y="3765357"/>
            <a:ext cx="363220" cy="350843"/>
          </a:xfrm>
          <a:custGeom>
            <a:avLst/>
            <a:gdLst/>
            <a:ahLst/>
            <a:cxnLst/>
            <a:rect l="l" t="t" r="r" b="b"/>
            <a:pathLst>
              <a:path w="363220" h="350843">
                <a:moveTo>
                  <a:pt x="363220" y="350843"/>
                </a:moveTo>
                <a:lnTo>
                  <a:pt x="269210" y="0"/>
                </a:lnTo>
                <a:lnTo>
                  <a:pt x="250224" y="5647"/>
                </a:lnTo>
                <a:lnTo>
                  <a:pt x="231574" y="12320"/>
                </a:lnTo>
                <a:lnTo>
                  <a:pt x="213315" y="20000"/>
                </a:lnTo>
                <a:lnTo>
                  <a:pt x="195502" y="28664"/>
                </a:lnTo>
                <a:lnTo>
                  <a:pt x="178188" y="38286"/>
                </a:lnTo>
                <a:lnTo>
                  <a:pt x="161425" y="48837"/>
                </a:lnTo>
                <a:lnTo>
                  <a:pt x="145261" y="60287"/>
                </a:lnTo>
                <a:lnTo>
                  <a:pt x="129746" y="72601"/>
                </a:lnTo>
                <a:lnTo>
                  <a:pt x="114925" y="85743"/>
                </a:lnTo>
                <a:lnTo>
                  <a:pt x="100842" y="99672"/>
                </a:lnTo>
                <a:lnTo>
                  <a:pt x="87540" y="114349"/>
                </a:lnTo>
                <a:lnTo>
                  <a:pt x="75058" y="129729"/>
                </a:lnTo>
                <a:lnTo>
                  <a:pt x="63432" y="145767"/>
                </a:lnTo>
                <a:lnTo>
                  <a:pt x="52699" y="162415"/>
                </a:lnTo>
                <a:lnTo>
                  <a:pt x="42888" y="179623"/>
                </a:lnTo>
                <a:lnTo>
                  <a:pt x="34031" y="197340"/>
                </a:lnTo>
                <a:lnTo>
                  <a:pt x="26152" y="215514"/>
                </a:lnTo>
                <a:lnTo>
                  <a:pt x="19276" y="234090"/>
                </a:lnTo>
                <a:lnTo>
                  <a:pt x="13423" y="253014"/>
                </a:lnTo>
                <a:lnTo>
                  <a:pt x="8610" y="272228"/>
                </a:lnTo>
                <a:lnTo>
                  <a:pt x="4851" y="291676"/>
                </a:lnTo>
                <a:lnTo>
                  <a:pt x="2159" y="311301"/>
                </a:lnTo>
                <a:lnTo>
                  <a:pt x="540" y="331042"/>
                </a:lnTo>
                <a:lnTo>
                  <a:pt x="0" y="35084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9-label259"/>
          <p:cNvSpPr txBox="1"/>
          <p:nvPr/>
        </p:nvSpPr>
        <p:spPr>
          <a:xfrm>
            <a:off x="3487279" y="3558879"/>
            <a:ext cx="5958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75°</a:t>
            </a:r>
            <a:endParaRPr lang="ko-KR" sz="2200" dirty="0"/>
          </a:p>
        </p:txBody>
      </p:sp>
      <p:sp>
        <p:nvSpPr>
          <p:cNvPr id="15" name="S09-label261"/>
          <p:cNvSpPr txBox="1"/>
          <p:nvPr/>
        </p:nvSpPr>
        <p:spPr>
          <a:xfrm>
            <a:off x="2859786" y="41930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6" name="S09-label263"/>
          <p:cNvSpPr txBox="1"/>
          <p:nvPr/>
        </p:nvSpPr>
        <p:spPr>
          <a:xfrm>
            <a:off x="1747538" y="395452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7" name="S09-label265"/>
          <p:cNvSpPr txBox="1"/>
          <p:nvPr/>
        </p:nvSpPr>
        <p:spPr>
          <a:xfrm>
            <a:off x="4219741" y="401414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8" name="S09-label267"/>
          <p:cNvSpPr txBox="1"/>
          <p:nvPr/>
        </p:nvSpPr>
        <p:spPr>
          <a:xfrm>
            <a:off x="3726918" y="223665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9" name="S09-figure268" descr="삼각형 ㄱㄴㄷ을 시계 방향으로 90° 돌린 삼각형 ㄹㅁㅂ: 변 ㅁㅂ에 ①, 각 ㅁ에 ②, 각 ㄹ에 ③"/>
          <p:cNvSpPr/>
          <p:nvPr/>
        </p:nvSpPr>
        <p:spPr>
          <a:xfrm>
            <a:off x="8233280" y="2359660"/>
            <a:ext cx="1428249" cy="2084832"/>
          </a:xfrm>
          <a:custGeom>
            <a:avLst/>
            <a:gdLst/>
            <a:ahLst/>
            <a:cxnLst/>
            <a:rect l="l" t="t" r="r" b="b"/>
            <a:pathLst>
              <a:path w="1428249" h="2084832">
                <a:moveTo>
                  <a:pt x="1428249" y="1702126"/>
                </a:moveTo>
                <a:lnTo>
                  <a:pt x="0" y="0"/>
                </a:lnTo>
                <a:lnTo>
                  <a:pt x="0" y="208483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9-mark269"/>
          <p:cNvSpPr/>
          <p:nvPr/>
        </p:nvSpPr>
        <p:spPr>
          <a:xfrm>
            <a:off x="8233280" y="2359660"/>
            <a:ext cx="268020" cy="416966"/>
          </a:xfrm>
          <a:custGeom>
            <a:avLst/>
            <a:gdLst/>
            <a:ahLst/>
            <a:cxnLst/>
            <a:rect l="l" t="t" r="r" b="b"/>
            <a:pathLst>
              <a:path w="268020" h="416966">
                <a:moveTo>
                  <a:pt x="0" y="0"/>
                </a:moveTo>
                <a:lnTo>
                  <a:pt x="0" y="416966"/>
                </a:lnTo>
                <a:lnTo>
                  <a:pt x="12127" y="416790"/>
                </a:lnTo>
                <a:lnTo>
                  <a:pt x="24244" y="416261"/>
                </a:lnTo>
                <a:lnTo>
                  <a:pt x="36341" y="415380"/>
                </a:lnTo>
                <a:lnTo>
                  <a:pt x="48407" y="414147"/>
                </a:lnTo>
                <a:lnTo>
                  <a:pt x="60432" y="412564"/>
                </a:lnTo>
                <a:lnTo>
                  <a:pt x="72405" y="410632"/>
                </a:lnTo>
                <a:lnTo>
                  <a:pt x="84318" y="408352"/>
                </a:lnTo>
                <a:lnTo>
                  <a:pt x="96159" y="405727"/>
                </a:lnTo>
                <a:lnTo>
                  <a:pt x="107919" y="402759"/>
                </a:lnTo>
                <a:lnTo>
                  <a:pt x="119587" y="399450"/>
                </a:lnTo>
                <a:lnTo>
                  <a:pt x="131154" y="395802"/>
                </a:lnTo>
                <a:lnTo>
                  <a:pt x="142611" y="391820"/>
                </a:lnTo>
                <a:lnTo>
                  <a:pt x="153946" y="387507"/>
                </a:lnTo>
                <a:lnTo>
                  <a:pt x="165152" y="382865"/>
                </a:lnTo>
                <a:lnTo>
                  <a:pt x="176217" y="377900"/>
                </a:lnTo>
                <a:lnTo>
                  <a:pt x="187134" y="372615"/>
                </a:lnTo>
                <a:lnTo>
                  <a:pt x="197892" y="367015"/>
                </a:lnTo>
                <a:lnTo>
                  <a:pt x="208483" y="361104"/>
                </a:lnTo>
                <a:lnTo>
                  <a:pt x="218897" y="354887"/>
                </a:lnTo>
                <a:lnTo>
                  <a:pt x="229126" y="348371"/>
                </a:lnTo>
                <a:lnTo>
                  <a:pt x="239162" y="341559"/>
                </a:lnTo>
                <a:lnTo>
                  <a:pt x="248995" y="334459"/>
                </a:lnTo>
                <a:lnTo>
                  <a:pt x="258617" y="327075"/>
                </a:lnTo>
                <a:lnTo>
                  <a:pt x="268020" y="31941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1" name="S09-label271"/>
          <p:cNvSpPr txBox="1"/>
          <p:nvPr/>
        </p:nvSpPr>
        <p:spPr>
          <a:xfrm>
            <a:off x="8292970" y="28759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09-mark272"/>
          <p:cNvSpPr/>
          <p:nvPr/>
        </p:nvSpPr>
        <p:spPr>
          <a:xfrm>
            <a:off x="9298395" y="3783543"/>
            <a:ext cx="363134" cy="372253"/>
          </a:xfrm>
          <a:custGeom>
            <a:avLst/>
            <a:gdLst/>
            <a:ahLst/>
            <a:cxnLst/>
            <a:rect l="l" t="t" r="r" b="b"/>
            <a:pathLst>
              <a:path w="363134" h="372253">
                <a:moveTo>
                  <a:pt x="363134" y="278243"/>
                </a:moveTo>
                <a:lnTo>
                  <a:pt x="129661" y="0"/>
                </a:lnTo>
                <a:lnTo>
                  <a:pt x="116774" y="11343"/>
                </a:lnTo>
                <a:lnTo>
                  <a:pt x="104438" y="23282"/>
                </a:lnTo>
                <a:lnTo>
                  <a:pt x="92679" y="35791"/>
                </a:lnTo>
                <a:lnTo>
                  <a:pt x="81525" y="48841"/>
                </a:lnTo>
                <a:lnTo>
                  <a:pt x="71000" y="62404"/>
                </a:lnTo>
                <a:lnTo>
                  <a:pt x="61127" y="76449"/>
                </a:lnTo>
                <a:lnTo>
                  <a:pt x="51929" y="90945"/>
                </a:lnTo>
                <a:lnTo>
                  <a:pt x="43427" y="105859"/>
                </a:lnTo>
                <a:lnTo>
                  <a:pt x="35638" y="121158"/>
                </a:lnTo>
                <a:lnTo>
                  <a:pt x="28582" y="136808"/>
                </a:lnTo>
                <a:lnTo>
                  <a:pt x="22272" y="152775"/>
                </a:lnTo>
                <a:lnTo>
                  <a:pt x="16724" y="169021"/>
                </a:lnTo>
                <a:lnTo>
                  <a:pt x="11950" y="185512"/>
                </a:lnTo>
                <a:lnTo>
                  <a:pt x="7961" y="202209"/>
                </a:lnTo>
                <a:lnTo>
                  <a:pt x="4765" y="219077"/>
                </a:lnTo>
                <a:lnTo>
                  <a:pt x="2369" y="236077"/>
                </a:lnTo>
                <a:lnTo>
                  <a:pt x="780" y="253171"/>
                </a:lnTo>
                <a:lnTo>
                  <a:pt x="0" y="270321"/>
                </a:lnTo>
                <a:lnTo>
                  <a:pt x="31" y="287488"/>
                </a:lnTo>
                <a:lnTo>
                  <a:pt x="874" y="304635"/>
                </a:lnTo>
                <a:lnTo>
                  <a:pt x="2525" y="321723"/>
                </a:lnTo>
                <a:lnTo>
                  <a:pt x="4983" y="338714"/>
                </a:lnTo>
                <a:lnTo>
                  <a:pt x="8240" y="355570"/>
                </a:lnTo>
                <a:lnTo>
                  <a:pt x="12290" y="3722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3" name="S09-label274"/>
          <p:cNvSpPr txBox="1"/>
          <p:nvPr/>
        </p:nvSpPr>
        <p:spPr>
          <a:xfrm>
            <a:off x="8870204" y="3698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4" name="S09-label276"/>
          <p:cNvSpPr txBox="1"/>
          <p:nvPr/>
        </p:nvSpPr>
        <p:spPr>
          <a:xfrm>
            <a:off x="7871076" y="322745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5" name="S09-label278"/>
          <p:cNvSpPr txBox="1"/>
          <p:nvPr/>
        </p:nvSpPr>
        <p:spPr>
          <a:xfrm>
            <a:off x="9633149" y="389087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26" name="S09-label280"/>
          <p:cNvSpPr txBox="1"/>
          <p:nvPr/>
        </p:nvSpPr>
        <p:spPr>
          <a:xfrm>
            <a:off x="7915277" y="191149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27" name="S09-label282"/>
          <p:cNvSpPr txBox="1"/>
          <p:nvPr/>
        </p:nvSpPr>
        <p:spPr>
          <a:xfrm>
            <a:off x="7855656" y="4383698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0-card28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8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대응점(ㄱ–ㄹ, ㄴ–ㅁ, ㄷ–ㅂ)을 먼저 쓰고 다시 짝짓게 하세요.</a:t>
            </a:r>
            <a:endParaRPr lang="ko-KR" sz="2800" dirty="0"/>
          </a:p>
        </p:txBody>
      </p:sp>
      <p:sp>
        <p:nvSpPr>
          <p:cNvPr id="5" name="S10-chip28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0-text286"/>
          <p:cNvSpPr txBox="1"/>
          <p:nvPr/>
        </p:nvSpPr>
        <p:spPr>
          <a:xfrm>
            <a:off x="548640" y="2057400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 cm</a:t>
            </a:r>
            <a:endParaRPr lang="ko-KR" sz="2800" dirty="0"/>
          </a:p>
        </p:txBody>
      </p:sp>
      <p:sp>
        <p:nvSpPr>
          <p:cNvPr id="7" name="S10-text287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ㄴㄷ과 대응</a:t>
            </a:r>
            <a:endParaRPr lang="ko-KR" sz="2200" dirty="0"/>
          </a:p>
        </p:txBody>
      </p:sp>
      <p:sp>
        <p:nvSpPr>
          <p:cNvPr id="8" name="S10-text288"/>
          <p:cNvSpPr txBox="1"/>
          <p:nvPr/>
        </p:nvSpPr>
        <p:spPr>
          <a:xfrm>
            <a:off x="548640" y="301481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40°</a:t>
            </a:r>
            <a:endParaRPr lang="ko-KR" sz="2800" dirty="0"/>
          </a:p>
        </p:txBody>
      </p:sp>
      <p:sp>
        <p:nvSpPr>
          <p:cNvPr id="9" name="S10-text289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ㄱㄴㄷ과 대응</a:t>
            </a:r>
            <a:endParaRPr lang="ko-KR" sz="2200" dirty="0"/>
          </a:p>
        </p:txBody>
      </p:sp>
      <p:sp>
        <p:nvSpPr>
          <p:cNvPr id="10" name="S10-text290"/>
          <p:cNvSpPr txBox="1"/>
          <p:nvPr/>
        </p:nvSpPr>
        <p:spPr>
          <a:xfrm>
            <a:off x="548640" y="397222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65°</a:t>
            </a:r>
            <a:endParaRPr lang="ko-KR" sz="2800" dirty="0"/>
          </a:p>
        </p:txBody>
      </p:sp>
      <p:sp>
        <p:nvSpPr>
          <p:cNvPr id="11" name="S10-text291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180 − 40 − 75</a:t>
            </a:r>
            <a:endParaRPr lang="ko-KR" sz="2200" dirty="0"/>
          </a:p>
        </p:txBody>
      </p:sp>
      <p:sp>
        <p:nvSpPr>
          <p:cNvPr id="12" name="S10-chip29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0-text29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75°</a:t>
            </a:r>
            <a:endParaRPr lang="ko-KR" sz="2800" dirty="0"/>
          </a:p>
        </p:txBody>
      </p:sp>
      <p:sp>
        <p:nvSpPr>
          <p:cNvPr id="14" name="S10-text29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위치로 짝지음</a:t>
            </a:r>
            <a:endParaRPr lang="ko-KR" sz="2200" dirty="0"/>
          </a:p>
        </p:txBody>
      </p:sp>
      <p:sp>
        <p:nvSpPr>
          <p:cNvPr id="15" name="S10-text29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40° 또는 75°</a:t>
            </a:r>
            <a:endParaRPr lang="ko-KR" sz="2800" dirty="0"/>
          </a:p>
        </p:txBody>
      </p:sp>
      <p:sp>
        <p:nvSpPr>
          <p:cNvPr id="16" name="S10-text29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각을 안 구함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합동일까요?</a:t>
            </a:r>
            <a:endParaRPr lang="ko-KR" sz="4000" dirty="0"/>
          </a:p>
        </p:txBody>
      </p:sp>
      <p:sp>
        <p:nvSpPr>
          <p:cNvPr id="3" name="S11-text2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도형이 항상 합동인 것을 모두 골라요.</a:t>
            </a:r>
            <a:endParaRPr lang="ko-KR" sz="2800" dirty="0"/>
          </a:p>
        </p:txBody>
      </p:sp>
      <p:sp>
        <p:nvSpPr>
          <p:cNvPr id="4" name="S11-card2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2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고르지 않은 까닭을 말해요.</a:t>
            </a:r>
            <a:endParaRPr lang="ko-KR" sz="2800" dirty="0"/>
          </a:p>
        </p:txBody>
      </p:sp>
      <p:sp>
        <p:nvSpPr>
          <p:cNvPr id="6" name="S11-chip30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1-card301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302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같은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직사각형</a:t>
            </a:r>
            <a:endParaRPr lang="ko-KR" sz="2800" dirty="0"/>
          </a:p>
        </p:txBody>
      </p:sp>
      <p:sp>
        <p:nvSpPr>
          <p:cNvPr id="9" name="S11-chip30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1-card304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305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5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정사각형</a:t>
            </a:r>
            <a:endParaRPr lang="ko-KR" sz="2800" dirty="0"/>
          </a:p>
        </p:txBody>
      </p:sp>
      <p:sp>
        <p:nvSpPr>
          <p:cNvPr id="12" name="S11-chip306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1-card307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308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3 cm인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원</a:t>
            </a:r>
            <a:endParaRPr lang="ko-KR" sz="2800" dirty="0"/>
          </a:p>
        </p:txBody>
      </p:sp>
      <p:sp>
        <p:nvSpPr>
          <p:cNvPr id="15" name="S11-chip309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1-card310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1-cardtext311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정삼각형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31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31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포개었을 때 완전히 겹치는 두 도형은 합동이에요. 대응변의 길이와 대응각의 크기는 서로 같아요.</a:t>
            </a:r>
            <a:endParaRPr lang="ko-KR" sz="2800" dirty="0"/>
          </a:p>
        </p:txBody>
      </p:sp>
      <p:sp>
        <p:nvSpPr>
          <p:cNvPr id="5" name="S12-chip31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대응점부터 짝짓기</a:t>
            </a:r>
            <a:endParaRPr lang="ko-KR" sz="2200" dirty="0"/>
          </a:p>
        </p:txBody>
      </p:sp>
      <p:sp>
        <p:nvSpPr>
          <p:cNvPr id="6" name="S12-chip31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모양만 같으면 합동</a:t>
            </a:r>
            <a:endParaRPr lang="ko-KR" sz="2200" dirty="0"/>
          </a:p>
        </p:txBody>
      </p:sp>
      <p:sp>
        <p:nvSpPr>
          <p:cNvPr id="7" name="S12-text31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2-text31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포개었을 때 완전히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두 도형을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해요?</a:t>
            </a:r>
            <a:endParaRPr lang="ko-KR" sz="2200" dirty="0"/>
          </a:p>
        </p:txBody>
      </p:sp>
      <p:sp>
        <p:nvSpPr>
          <p:cNvPr id="9" name="S12-text31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합동인 두 도형에서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7 cm이면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대응변은?</a:t>
            </a:r>
            <a:endParaRPr lang="ko-KR" sz="2200" dirty="0"/>
          </a:p>
        </p:txBody>
      </p:sp>
      <p:sp>
        <p:nvSpPr>
          <p:cNvPr id="10" name="S12-text31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한 변이 3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정사각형과 합동인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네 변의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길이의 합은?</a:t>
            </a:r>
            <a:endParaRPr lang="ko-KR" sz="2200" dirty="0"/>
          </a:p>
        </p:txBody>
      </p:sp>
      <p:sp>
        <p:nvSpPr>
          <p:cNvPr id="11" name="S12-text32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선대칭과 점대칭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밀기, 뒤집기, 돌리기</a:t>
            </a:r>
            <a:endParaRPr lang="ko-KR" sz="4000" dirty="0"/>
          </a:p>
        </p:txBody>
      </p:sp>
      <p:sp>
        <p:nvSpPr>
          <p:cNvPr id="3" name="S13-card32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32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크기는 그대로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밀거나 뒤집거나 돌려도 바뀌는 것은 위치와 방향뿐이에요.</a:t>
            </a:r>
            <a:endParaRPr lang="ko-KR" sz="2800" dirty="0"/>
          </a:p>
        </p:txBody>
      </p:sp>
      <p:sp>
        <p:nvSpPr>
          <p:cNvPr id="5" name="S13-mark323"/>
          <p:cNvSpPr/>
          <p:nvPr/>
        </p:nvSpPr>
        <p:spPr>
          <a:xfrm>
            <a:off x="1120140" y="2257171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3-mark324"/>
          <p:cNvSpPr/>
          <p:nvPr/>
        </p:nvSpPr>
        <p:spPr>
          <a:xfrm>
            <a:off x="2583180" y="2257171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7" name="S13-mark325"/>
          <p:cNvSpPr/>
          <p:nvPr/>
        </p:nvSpPr>
        <p:spPr>
          <a:xfrm flipV="1">
            <a:off x="827532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3-mark326"/>
          <p:cNvSpPr/>
          <p:nvPr/>
        </p:nvSpPr>
        <p:spPr>
          <a:xfrm flipV="1">
            <a:off x="1120140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327"/>
          <p:cNvSpPr/>
          <p:nvPr/>
        </p:nvSpPr>
        <p:spPr>
          <a:xfrm flipV="1">
            <a:off x="1412748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328"/>
          <p:cNvSpPr/>
          <p:nvPr/>
        </p:nvSpPr>
        <p:spPr>
          <a:xfrm flipV="1">
            <a:off x="1705356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329"/>
          <p:cNvSpPr/>
          <p:nvPr/>
        </p:nvSpPr>
        <p:spPr>
          <a:xfrm flipV="1">
            <a:off x="1997964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330"/>
          <p:cNvSpPr/>
          <p:nvPr/>
        </p:nvSpPr>
        <p:spPr>
          <a:xfrm flipV="1">
            <a:off x="2290572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331"/>
          <p:cNvSpPr/>
          <p:nvPr/>
        </p:nvSpPr>
        <p:spPr>
          <a:xfrm flipV="1">
            <a:off x="2583180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332"/>
          <p:cNvSpPr/>
          <p:nvPr/>
        </p:nvSpPr>
        <p:spPr>
          <a:xfrm flipV="1">
            <a:off x="2875788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333"/>
          <p:cNvSpPr/>
          <p:nvPr/>
        </p:nvSpPr>
        <p:spPr>
          <a:xfrm flipV="1">
            <a:off x="3168396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334"/>
          <p:cNvSpPr/>
          <p:nvPr/>
        </p:nvSpPr>
        <p:spPr>
          <a:xfrm flipV="1">
            <a:off x="3461004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335"/>
          <p:cNvSpPr/>
          <p:nvPr/>
        </p:nvSpPr>
        <p:spPr>
          <a:xfrm flipV="1">
            <a:off x="3753612" y="1964563"/>
            <a:ext cx="0" cy="17556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3-mark336"/>
          <p:cNvSpPr/>
          <p:nvPr/>
        </p:nvSpPr>
        <p:spPr>
          <a:xfrm>
            <a:off x="827532" y="3720211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3-mark337"/>
          <p:cNvSpPr/>
          <p:nvPr/>
        </p:nvSpPr>
        <p:spPr>
          <a:xfrm>
            <a:off x="827532" y="3427603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3-mark338"/>
          <p:cNvSpPr/>
          <p:nvPr/>
        </p:nvSpPr>
        <p:spPr>
          <a:xfrm>
            <a:off x="827532" y="3134995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3-mark339"/>
          <p:cNvSpPr/>
          <p:nvPr/>
        </p:nvSpPr>
        <p:spPr>
          <a:xfrm>
            <a:off x="827532" y="2842387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3-mark340"/>
          <p:cNvSpPr/>
          <p:nvPr/>
        </p:nvSpPr>
        <p:spPr>
          <a:xfrm>
            <a:off x="827532" y="2549779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3-mark341"/>
          <p:cNvSpPr/>
          <p:nvPr/>
        </p:nvSpPr>
        <p:spPr>
          <a:xfrm>
            <a:off x="827532" y="2257171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3-mark342"/>
          <p:cNvSpPr/>
          <p:nvPr/>
        </p:nvSpPr>
        <p:spPr>
          <a:xfrm>
            <a:off x="827532" y="1964563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3-figure343" descr="ㄱ자를 뒤집은 모양을 오른쪽으로 5칸 민 그림"/>
          <p:cNvSpPr/>
          <p:nvPr/>
        </p:nvSpPr>
        <p:spPr>
          <a:xfrm>
            <a:off x="1120140" y="2257171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13-mark344"/>
          <p:cNvSpPr/>
          <p:nvPr/>
        </p:nvSpPr>
        <p:spPr>
          <a:xfrm>
            <a:off x="2583180" y="2257171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13-mark345"/>
          <p:cNvSpPr/>
          <p:nvPr/>
        </p:nvSpPr>
        <p:spPr>
          <a:xfrm>
            <a:off x="1120140" y="3339821"/>
            <a:ext cx="14630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8" name="S13-label346"/>
          <p:cNvSpPr txBox="1"/>
          <p:nvPr/>
        </p:nvSpPr>
        <p:spPr>
          <a:xfrm>
            <a:off x="548640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</a:t>
            </a:r>
            <a:endParaRPr lang="ko-KR" sz="2200" dirty="0"/>
          </a:p>
        </p:txBody>
      </p:sp>
      <p:sp>
        <p:nvSpPr>
          <p:cNvPr id="29" name="S13-mark347"/>
          <p:cNvSpPr/>
          <p:nvPr/>
        </p:nvSpPr>
        <p:spPr>
          <a:xfrm>
            <a:off x="4924044" y="2403475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0" name="S13-mark348"/>
          <p:cNvSpPr/>
          <p:nvPr/>
        </p:nvSpPr>
        <p:spPr>
          <a:xfrm>
            <a:off x="6387084" y="2403475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877824" y="877824"/>
                </a:moveTo>
                <a:lnTo>
                  <a:pt x="585216" y="877824"/>
                </a:lnTo>
                <a:lnTo>
                  <a:pt x="585216" y="292608"/>
                </a:lnTo>
                <a:lnTo>
                  <a:pt x="0" y="292608"/>
                </a:lnTo>
                <a:lnTo>
                  <a:pt x="0" y="0"/>
                </a:lnTo>
                <a:lnTo>
                  <a:pt x="877824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1" name="S13-mark349"/>
          <p:cNvSpPr/>
          <p:nvPr/>
        </p:nvSpPr>
        <p:spPr>
          <a:xfrm flipV="1">
            <a:off x="4631436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350"/>
          <p:cNvSpPr/>
          <p:nvPr/>
        </p:nvSpPr>
        <p:spPr>
          <a:xfrm flipV="1">
            <a:off x="4924044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351"/>
          <p:cNvSpPr/>
          <p:nvPr/>
        </p:nvSpPr>
        <p:spPr>
          <a:xfrm flipV="1">
            <a:off x="5216652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352"/>
          <p:cNvSpPr/>
          <p:nvPr/>
        </p:nvSpPr>
        <p:spPr>
          <a:xfrm flipV="1">
            <a:off x="5509260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353"/>
          <p:cNvSpPr/>
          <p:nvPr/>
        </p:nvSpPr>
        <p:spPr>
          <a:xfrm flipV="1">
            <a:off x="5801868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354"/>
          <p:cNvSpPr/>
          <p:nvPr/>
        </p:nvSpPr>
        <p:spPr>
          <a:xfrm flipV="1">
            <a:off x="6094476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355"/>
          <p:cNvSpPr/>
          <p:nvPr/>
        </p:nvSpPr>
        <p:spPr>
          <a:xfrm flipV="1">
            <a:off x="6387084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356"/>
          <p:cNvSpPr/>
          <p:nvPr/>
        </p:nvSpPr>
        <p:spPr>
          <a:xfrm flipV="1">
            <a:off x="6679692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357"/>
          <p:cNvSpPr/>
          <p:nvPr/>
        </p:nvSpPr>
        <p:spPr>
          <a:xfrm flipV="1">
            <a:off x="6972300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358"/>
          <p:cNvSpPr/>
          <p:nvPr/>
        </p:nvSpPr>
        <p:spPr>
          <a:xfrm flipV="1">
            <a:off x="7264908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mark359"/>
          <p:cNvSpPr/>
          <p:nvPr/>
        </p:nvSpPr>
        <p:spPr>
          <a:xfrm flipV="1">
            <a:off x="7557516" y="1818259"/>
            <a:ext cx="0" cy="20482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3-mark360"/>
          <p:cNvSpPr/>
          <p:nvPr/>
        </p:nvSpPr>
        <p:spPr>
          <a:xfrm>
            <a:off x="4631436" y="3866515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3-mark361"/>
          <p:cNvSpPr/>
          <p:nvPr/>
        </p:nvSpPr>
        <p:spPr>
          <a:xfrm>
            <a:off x="4631436" y="3573907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3-mark362"/>
          <p:cNvSpPr/>
          <p:nvPr/>
        </p:nvSpPr>
        <p:spPr>
          <a:xfrm>
            <a:off x="4631436" y="3281299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3-mark363"/>
          <p:cNvSpPr/>
          <p:nvPr/>
        </p:nvSpPr>
        <p:spPr>
          <a:xfrm>
            <a:off x="4631436" y="2988691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3-mark364"/>
          <p:cNvSpPr/>
          <p:nvPr/>
        </p:nvSpPr>
        <p:spPr>
          <a:xfrm>
            <a:off x="4631436" y="2696083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3-mark365"/>
          <p:cNvSpPr/>
          <p:nvPr/>
        </p:nvSpPr>
        <p:spPr>
          <a:xfrm>
            <a:off x="4631436" y="2403475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3-mark366"/>
          <p:cNvSpPr/>
          <p:nvPr/>
        </p:nvSpPr>
        <p:spPr>
          <a:xfrm>
            <a:off x="4631436" y="2110867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3-mark367"/>
          <p:cNvSpPr/>
          <p:nvPr/>
        </p:nvSpPr>
        <p:spPr>
          <a:xfrm>
            <a:off x="4631436" y="1818259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3-figure368" descr="점선을 기준으로 오른쪽으로 뒤집은 그림"/>
          <p:cNvSpPr/>
          <p:nvPr/>
        </p:nvSpPr>
        <p:spPr>
          <a:xfrm>
            <a:off x="4924044" y="2403475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1" name="S13-mark369"/>
          <p:cNvSpPr/>
          <p:nvPr/>
        </p:nvSpPr>
        <p:spPr>
          <a:xfrm>
            <a:off x="6387084" y="2403475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877824" y="877824"/>
                </a:moveTo>
                <a:lnTo>
                  <a:pt x="585216" y="877824"/>
                </a:lnTo>
                <a:lnTo>
                  <a:pt x="585216" y="292608"/>
                </a:lnTo>
                <a:lnTo>
                  <a:pt x="0" y="292608"/>
                </a:lnTo>
                <a:lnTo>
                  <a:pt x="0" y="0"/>
                </a:lnTo>
                <a:lnTo>
                  <a:pt x="87782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2" name="S13-mark370"/>
          <p:cNvSpPr/>
          <p:nvPr/>
        </p:nvSpPr>
        <p:spPr>
          <a:xfrm flipV="1">
            <a:off x="6094476" y="2257171"/>
            <a:ext cx="0" cy="117043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3" name="S13-label371"/>
          <p:cNvSpPr txBox="1"/>
          <p:nvPr/>
        </p:nvSpPr>
        <p:spPr>
          <a:xfrm>
            <a:off x="4352544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뒤집기</a:t>
            </a:r>
            <a:endParaRPr lang="ko-KR" sz="2200" dirty="0"/>
          </a:p>
        </p:txBody>
      </p:sp>
      <p:sp>
        <p:nvSpPr>
          <p:cNvPr id="54" name="S13-mark372"/>
          <p:cNvSpPr/>
          <p:nvPr/>
        </p:nvSpPr>
        <p:spPr>
          <a:xfrm>
            <a:off x="9459468" y="1964563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5" name="S13-mark373"/>
          <p:cNvSpPr/>
          <p:nvPr/>
        </p:nvSpPr>
        <p:spPr>
          <a:xfrm>
            <a:off x="9459468" y="2842387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0"/>
                </a:moveTo>
                <a:lnTo>
                  <a:pt x="0" y="292608"/>
                </a:lnTo>
                <a:lnTo>
                  <a:pt x="585216" y="292608"/>
                </a:lnTo>
                <a:lnTo>
                  <a:pt x="585216" y="877824"/>
                </a:lnTo>
                <a:lnTo>
                  <a:pt x="877824" y="877824"/>
                </a:lnTo>
                <a:lnTo>
                  <a:pt x="877824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6" name="S13-mark374"/>
          <p:cNvSpPr/>
          <p:nvPr/>
        </p:nvSpPr>
        <p:spPr>
          <a:xfrm flipV="1">
            <a:off x="9166860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3-mark375"/>
          <p:cNvSpPr/>
          <p:nvPr/>
        </p:nvSpPr>
        <p:spPr>
          <a:xfrm flipV="1">
            <a:off x="9459468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3-mark376"/>
          <p:cNvSpPr/>
          <p:nvPr/>
        </p:nvSpPr>
        <p:spPr>
          <a:xfrm flipV="1">
            <a:off x="9752076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13-mark377"/>
          <p:cNvSpPr/>
          <p:nvPr/>
        </p:nvSpPr>
        <p:spPr>
          <a:xfrm flipV="1">
            <a:off x="10044684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13-mark378"/>
          <p:cNvSpPr/>
          <p:nvPr/>
        </p:nvSpPr>
        <p:spPr>
          <a:xfrm flipV="1">
            <a:off x="10337292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13-mark379"/>
          <p:cNvSpPr/>
          <p:nvPr/>
        </p:nvSpPr>
        <p:spPr>
          <a:xfrm flipV="1">
            <a:off x="10629900" y="1671955"/>
            <a:ext cx="0" cy="234086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13-mark380"/>
          <p:cNvSpPr/>
          <p:nvPr/>
        </p:nvSpPr>
        <p:spPr>
          <a:xfrm>
            <a:off x="9166860" y="4012819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13-mark381"/>
          <p:cNvSpPr/>
          <p:nvPr/>
        </p:nvSpPr>
        <p:spPr>
          <a:xfrm>
            <a:off x="9166860" y="3720211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13-mark382"/>
          <p:cNvSpPr/>
          <p:nvPr/>
        </p:nvSpPr>
        <p:spPr>
          <a:xfrm>
            <a:off x="9166860" y="3427603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13-mark383"/>
          <p:cNvSpPr/>
          <p:nvPr/>
        </p:nvSpPr>
        <p:spPr>
          <a:xfrm>
            <a:off x="9166860" y="3134995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13-mark384"/>
          <p:cNvSpPr/>
          <p:nvPr/>
        </p:nvSpPr>
        <p:spPr>
          <a:xfrm>
            <a:off x="9166860" y="2842387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7" name="S13-mark385"/>
          <p:cNvSpPr/>
          <p:nvPr/>
        </p:nvSpPr>
        <p:spPr>
          <a:xfrm>
            <a:off x="9166860" y="2549779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8" name="S13-mark386"/>
          <p:cNvSpPr/>
          <p:nvPr/>
        </p:nvSpPr>
        <p:spPr>
          <a:xfrm>
            <a:off x="9166860" y="2257171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9" name="S13-mark387"/>
          <p:cNvSpPr/>
          <p:nvPr/>
        </p:nvSpPr>
        <p:spPr>
          <a:xfrm>
            <a:off x="9166860" y="1964563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0" name="S13-mark388"/>
          <p:cNvSpPr/>
          <p:nvPr/>
        </p:nvSpPr>
        <p:spPr>
          <a:xfrm>
            <a:off x="9166860" y="1671955"/>
            <a:ext cx="1463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1" name="S13-figure389" descr="점 ㅇ을 중심으로 시계 방향으로 90° 돌린 그림"/>
          <p:cNvSpPr/>
          <p:nvPr/>
        </p:nvSpPr>
        <p:spPr>
          <a:xfrm>
            <a:off x="9459468" y="1964563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877824"/>
                </a:moveTo>
                <a:lnTo>
                  <a:pt x="292608" y="877824"/>
                </a:lnTo>
                <a:lnTo>
                  <a:pt x="292608" y="292608"/>
                </a:lnTo>
                <a:lnTo>
                  <a:pt x="877824" y="29260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2" name="S13-mark390"/>
          <p:cNvSpPr/>
          <p:nvPr/>
        </p:nvSpPr>
        <p:spPr>
          <a:xfrm>
            <a:off x="9459468" y="2842387"/>
            <a:ext cx="877824" cy="877824"/>
          </a:xfrm>
          <a:custGeom>
            <a:avLst/>
            <a:gdLst/>
            <a:ahLst/>
            <a:cxnLst/>
            <a:rect l="l" t="t" r="r" b="b"/>
            <a:pathLst>
              <a:path w="877824" h="877824">
                <a:moveTo>
                  <a:pt x="0" y="0"/>
                </a:moveTo>
                <a:lnTo>
                  <a:pt x="0" y="292608"/>
                </a:lnTo>
                <a:lnTo>
                  <a:pt x="585216" y="292608"/>
                </a:lnTo>
                <a:lnTo>
                  <a:pt x="585216" y="877824"/>
                </a:lnTo>
                <a:lnTo>
                  <a:pt x="877824" y="877824"/>
                </a:lnTo>
                <a:lnTo>
                  <a:pt x="87782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3" name="S13-mark391"/>
          <p:cNvSpPr/>
          <p:nvPr/>
        </p:nvSpPr>
        <p:spPr>
          <a:xfrm>
            <a:off x="9400032" y="278295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S13-label393"/>
          <p:cNvSpPr txBox="1"/>
          <p:nvPr/>
        </p:nvSpPr>
        <p:spPr>
          <a:xfrm>
            <a:off x="9059861" y="276231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000" dirty="0"/>
          </a:p>
        </p:txBody>
      </p:sp>
      <p:sp>
        <p:nvSpPr>
          <p:cNvPr id="75" name="S13-label394"/>
          <p:cNvSpPr txBox="1"/>
          <p:nvPr/>
        </p:nvSpPr>
        <p:spPr>
          <a:xfrm>
            <a:off x="8156448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돌리기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합동인 도형</dc:title>
  <dc:subject>KR22-G05-MAT-CONGRUENT-L01</dc:subject>
  <dc:creator>education-ppt</dc:creator>
  <cp:lastModifiedBy>education-ppt</cp:lastModifiedBy>
  <cp:revision>1</cp:revision>
  <dcterms:created xsi:type="dcterms:W3CDTF">2026-10-26T08:52:16Z</dcterms:created>
  <dcterms:modified xsi:type="dcterms:W3CDTF">2026-10-26T08:52:16Z</dcterms:modified>
</cp:coreProperties>
</file>