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ae486197-3afb-a689-bf85-b7b217361d84}">
          <p14:sldIdLst>
            <p14:sldId id="256"/>
            <p14:sldId id="257"/>
          </p14:sldIdLst>
        </p14:section>
        <p14:section name="개념" id="{f48c95e9-5726-f0b5-a8f4-de3639d3c1c7}">
          <p14:sldIdLst>
            <p14:sldId id="258"/>
            <p14:sldId id="259"/>
            <p14:sldId id="260"/>
            <p14:sldId id="263"/>
          </p14:sldIdLst>
        </p14:section>
        <p14:section name="연습" id="{93ab1cc5-8c08-c38d-42de-6f8da9d47071}">
          <p14:sldIdLst>
            <p14:sldId id="261"/>
            <p14:sldId id="262"/>
            <p14:sldId id="264"/>
            <p14:sldId id="265"/>
          </p14:sldIdLst>
        </p14:section>
        <p14:section name="개념" id="{195baaf1-8207-00ef-c96c-f2936db8351f}">
          <p14:sldIdLst/>
        </p14:section>
        <p14:section name="연습" id="{3d7a7287-f815-e8ac-cee2-dc7b1f2456ee}">
          <p14:sldIdLst/>
        </p14:section>
        <p14:section name="확인" id="{7b545054-57d8-0020-aa80-e39616c455e4}">
          <p14:sldIdLst>
            <p14:sldId id="266"/>
            <p14:sldId id="267"/>
            <p14:sldId id="268"/>
          </p14:sldIdLst>
        </p14:section>
        <p14:section name="정리" id="{e7bd783d-8ac2-0f34-aeff-bb9b83ed32c2}">
          <p14:sldIdLst>
            <p14:sldId id="269"/>
          </p14:sldIdLst>
        </p14:section>
        <p14:section name="보충" id="{0e21237b-1793-8120-3823-a975cb96d449}">
          <p14:sldIdLst>
            <p14:sldId id="27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오늘 할 일을 알려 주고, 둘레(길이)와 다른 ‘넓은 정도’를 재는 방법이 궁금하게 합니다.
시간: 약 2분
이렇게 말해 보세요
- “지난 시간에는 도형의 둘레, 즉 길이를 쟀지? 오늘은 도형이 얼마나 넓은지를 재 볼 거야.”
- “오른쪽 직사각형은 얼마나 넓을까? 무엇으로 재면 좋을까?”
예상 답
- “칸을 세면 돼요.” “12칸이에요.”
막히면
- 답을 확인하지 않고 넘어갑니다. S03에서 넓이의 단위를 배웁니다.
주의
- 오늘은 자, 모눈종이(또는 활동지), 신문지(1 m² 만들기, 있으면)를 씁니다.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학습 확인(둘레, 곱셈, 길이 단위)]
목적: 지난 차시(둘레), 곱셈구구, 길이 단위(3학년 1 m = 100 cm, 1 km = 1000 m)를 기억하는지 확인합니다. 넓이 단위를 바꿀 때 모두 쓰입니다.
시간: 약 3분
이렇게 말해 보세요
- “①은 둘레야. 어떻게 구했지? ②는 곱셈이야. ③, ④는 길이 단위야.”
정답
- ① 16 cm ((5 + 3) × 2)
- ② 48
- ③ 100 cm
- ④ 1000 m
막히면
- ③, ④가 흔들리면 S15(보충)를 먼저 합니다. ①이 흔들리면 계획의 앞 차시 ‘다각형의 둘레’를, 직사각형의 뜻이 흔들리면 3학년 ‘직각과 직사각형·정사각형’을 먼저 다시 합니다.
주의
- ①에서 5 × 3 = 15라고 하면 둘레와 넓이를 섞은 것입니다. 오늘 S07에서 둘의 차이를 다시 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넓이의 단위 1 cm²]
목적: 넓이를 나타낼 때 한 변이 1 cm인 정사각형의 넓이 1 cm²(1 제곱센티미터)를 단위로 쓴다는 것을 압니다.
시간: 약 3분
이렇게 말해 보세요
- “한 변이 1 cm인 정사각형의 넓이를 1 cm²라고 쓰고 ‘1 제곱센티미터’라고 읽어.”
- “오른쪽 직사각형에는 1 cm²가 몇 개 있어? 그러면 넓이는?”
예상 답
- “12개요. 12 cm²예요.”
막히면
- 모눈종이에서 한 칸(1 cm²)을 오려 직사각형 위에 몇 번 놓이는지 세어 봅니다.
주의
- cm²의 ²는 작게 위에 씁니다. 공책에 1 cm²를 세 번 따라 써 보게 합니다.
- 두 그림은 같은 축척입니다. 왼쪽 정사각형 한 개가 오른쪽 모눈 한 칸과 같습니다.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직사각형의 넓이 구하는 방법]
목적: 1 cm²의 개수를 곱셈으로 세어 직사각형의 넓이를 (가로) × (세로)로 구할 수 있음을 압니다.
시간: 약 3분
이렇게 말해 보세요
- “가로 5 cm에는 1 cm²가 몇 개 들어가? 세로 3 cm는 몇 줄이야?”
- “하나하나 세지 않고 곱셈으로 셀 수 있지? 그래서 가로 × 세로가 넓이야.”
예상 답
- “5개씩 3줄이에요. 5 × 3 = 15, 15 cm²예요.”
막히면
- 한 줄의 칸에 1~5를 쓰고, 줄마다 5씩 뛰어 세게 합니다(5, 10, 15).
주의
- 답의 단위가 cm가 아니라 cm²라는 것을 꼭 확인합니다(M2).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정사각형의 넓이]
목적: 정사각형은 가로와 세로가 같으므로 넓이를 (한 변) × (한 변)으로 구한다는 것을 압니다.
시간: 약 2분
이렇게 말해 보세요
- “정사각형도 직사각형이지? 가로와 세로가 모두 4 cm야. 넓이는?”
예상 답
- “4 × 4 = 16, 16 cm²예요.”
막히면
- 모눈 칸을 4개씩 4줄로 세어 확인합니다.
주의
- 4 × 4를 4 × 2나 4 + 4로 하는 실수가 있습니다. 모눈의 줄 수를 함께 셉니다.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안내받는 연습(직사각형·정사각형의 넓이)]
목적: 도움을 받으며 직사각형·정사각형의 넓이를 구하고, 넓이를 알 때 모르는 변의 길이를 구합니다.
시간: 약 3분
이렇게 말해 보세요
- “①은 어떤 식이야? ②는 정사각형이니까?”
- “③은 거꾸로야. 8 × □ = 40에서 □는?”
정답
- ① 28 cm² (7 × 4)
- ② 36 cm² (6 × 6)
- ③ 5 cm (40 ÷ 8)
막히면
- 모눈종이에 직접 그려 칸을 세어 봅니다.
- ③은 곱셈구구 8단을 외워 40이 나오는 곳을 찾게 합니다.
주의
- ③의 답은 길이이므로 cm입니다. 넓이(cm²)와 길이(cm)의 단위를 구별하게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오개념 비교(둘레가 같으면 넓이도 같다)]
목적: 둘레가 같아도 넓이는 다를 수 있음을 그림으로 확인합니다(M1).
시간: 약 2분
이렇게 말해 보세요
- “가와 나의 둘레가 모두 12 cm인지 확인해 볼까? 그러면 넓이도 같을까?”
예상 답
- “아니요. 가는 5칸, 나는 9칸이에요.”
정답
- 가 5 cm² (5 × 1), 나 9 cm² (3 × 3). 둘레는 같아도 넓이는 나가 더 넓습니다.
- 둘레: 가 (5 + 1) × 2 = 12(cm), 나 3 × 4 = 12(cm)
막히면
- 끈 12 cm로 두 도형을 만들어 보고, 안쪽 칸을 세어 비교합니다.
주의
- 둘레는 ‘가장자리의 길이’, 넓이는 ‘안쪽이 얼마나 넓은지’라고 정리해 줍니다. 두 그림은 같은 축척입니다.
- 지치면 여기서 쉬고, 다음에 S08부터 이어도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넓이의 단위 1 m²와 1 km²]
목적: 한 변이 1 m인 정사각형의 넓이 1 m²(1 제곱미터), 한 변이 1 km인 정사각형의 넓이 1 km²(1 제곱킬로미터)를 알고, 1 m² = 10000 cm², 1 km² = 1000000 m²임을 압니다.
시간: 약 4분
이렇게 말해 보세요
- “교실이나 운동장처럼 넓은 곳을 cm²로 나타내면 수가 너무 커져. 그래서 한 변이 1 m인 정사각형의 넓이 1 m²를 써. ‘1 제곱미터’라고 읽어.”
- “1 m는 100 cm지? 한 변이 1 m인 정사각형에는 1 cm²가 한 줄에 100개, 100줄 있어. 모두 몇 개야?”
- “도시처럼 아주 넓은 땅은 한 변이 1 km인 정사각형의 넓이 1 km²를 써. 1 km는 1000 m니까 1 km²는 몇 m²일까?”
예상 답
- “100 × 100 = 10000이에요.” “1000 × 1000 = 1000000이에요.”
막히면
- 신문지를 이어 붙여 한 변이 1 m인 정사각형을 만들어 바닥에 놓아 봅니다(있으면). 그 위에 공책 몇 권이 들어가는지 어림해 봅니다.
- 10000은 ‘만’, 1000000은 ‘백만’이라고 읽어 줍니다.
주의
- 두 그림은 크기를 줄여 그렸습니다(실제 크기가 아님). 1 km²는 1 m²보다 훨씬 넓습니다.
- 1 m² = 100 cm²라고 하는 실수가 가장 많습니다. 다음 장에서 바로 다룹니다(M3).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[S09 · 오개념 비교(1 m² = 100 cm²)]
목적: 길이의 관계(1 m = 100 cm)를 넓이에 그대로 쓰는 오개념(M3)을 바로잡습니다.
시간: 약 2분
이렇게 말해 보세요
- “토끼와 곰 중 누가 맞았을까? 한 변이 1 m인 정사각형에 1 cm²가 몇 개 들어갈까?”
예상 답
- “곰이요. 가로도 100개, 세로도 100줄이에요.”
정답
- 곰이 맞습니다. 가로 100 cm, 세로 100 cm인 정사각형이므로 100 × 100 = 10000(cm²)입니다.
- 100 cm²는 가로 100 cm, 세로 1 cm인 가는 띠의 넓이일 뿐입니다.
막히면
- 작은 예로 바꿉니다. “한 변이 1 cm인 정사각형은 1 mm²가 몇 개일까? 10 × 10 = 100개.” 같은 이치로 100 × 100을 보여 줍니다(mm²는 참고로만).
주의
- 같은 이유로 1 km²도 1000 m²가 아니라 1000 × 1000 = 1000000(m²)입니다.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[S10 · 안내받는 연습(m²·km²와 단위 바꾸기)]
목적: 도움을 받으며 넓은 곳의 넓이를 m², km²로 구하고, 넓이의 단위를 바꿉니다.
시간: 약 3분
이렇게 말해 보세요
- “①, ③은 가로 × 세로야. 답에 어떤 단위를 붙여야 할까?”
- “②는 1 m²가 10000 cm²니까 2 m²는?”
정답
- ① 40 m² (8 × 5)
- ② 20000 (10000 × 2)
- ③ 6 km² (3 × 2)
- ④ 4000000 (1000000 × 4)
막히면
- ②, ④는 1 m²(1 km²)가 몇 cm²(m²)인지 먼저 말하게 한 뒤 2배, 4배를 합니다.
- 0의 개수를 손가락으로 짚으며 셉니다.
주의
- ①을 40 m, ③을 6 km처럼 길이 단위로 쓰면 바로잡습니다(M2).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[S11 · 혼자 해결]
목적: 도움 없이 직사각형·정사각형의 넓이를 알맞은 단위로 구하고, 넓이의 단위를 바꾸며, 넓이로 변의 길이를 구하는지 확인합니다.
시간: 약 5분
이렇게 말해 보세요
- “이번에는 혼자 해 볼래? 답에 단위도 꼭 붙여 줘.”
정답
- ① 54 cm² (9 × 6)
- ② 49 m² (7 × 7)
- ③ 60000 (10000 × 6)
- ④ 9 cm (72 ÷ 8)
막히면
- 바로 알려 주지 말고 “1 m²는 몇 cm²였지?”, “가로 × 8 = 72에서 가로는?”처럼 한 단계만 묻습니다.
- 도움을 받아 해결했다면 기록표에 ‘도움’으로 표시합니다.
주의
- ③을 600이라고 하면 1 m² = 100 cm²로 생각한 것입니다(S09).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[S12 · 정답과 피드백]
목적: 아이의 답을 함께 확인하고 흔한 실수를 바로잡습니다. 수업용에만 있는 장입니다.
시간: 약 2분
이렇게 말해 보세요
- “네 답과 같은지 볼까? 단위까지 같은지도 보자.”
정답
- ① 54 cm² ② 49 m² ③ 60000 ④ 9 cm
막히면
- ②를 28 m로 답했다면 둘레를 구한 것입니다. S07을 다시 봅니다.
주의
- 이 장은 학생용 파일에는 없습니다. 아이와 함께 볼 때는 슬라이드 쇼로 보여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[S13 · 마무리 확인(단위를 바꾸어 넓이 구하기)]
목적: 처음 보는 문제에서 길이 단위를 바꾸어 넓이를 구하고, 넓이로 한 변을 구하며, 알맞은 단위를 고르는지 확인합니다.
시간: 약 3분
이렇게 말해 보세요
- “①은 먼저 cm를 m로 바꾸면 쉬워. 200 cm는 몇 m야? 어떻게 구했는지 말해 줘.”
정답
- ① 6 m² (2 m × 3 m → 2 × 3 = 6, 또는 200 × 300 = 60000(cm²) = 6 m²)
- ② 6 cm (6 × 6 = 36)
- ③ m²
막히면
- ①은 “200 cm = 2 m, 300 cm = 3 m”를 먼저 쓰게 합니다.
주의
- 방법까지 말하면 목표 A, B를 이룬 것입니다. ①을 60000 m²라고 하면 단위를 바꾸지 않은 것입니다.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[S14 · 정리와 다음 수업 복습]
목적: 핵심을 정리하고 다음 수업 첫 5분에 풀 복습 문제를 알려 줍니다.
시간: 약 2분
이렇게 말해 보세요
- “직사각형의 넓이는 어떻게 구했지? 1 m²는 몇 cm²였어?”
예상 답
- “가로 곱하기 세로요.” “10000 cm²요.”
정답
- ① 30 cm²
- ② 81 m²
- ③ 30000 cm²
막히면
- S04, S08, S09를 다시 보여 줍니다.
주의
- 다음 시간에는 오늘 배운 직사각형의 넓이로 평행사변형과 삼각형의 넓이를 구합니다. 복습 세 문제는 활동지 마지막 쪽과 함께 풉니다.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[S15 · 선수 학습 보충(길이 단위)]
목적: S02에서 길이 단위가 흔들리면, 넓이 단위를 바꾸기 전에 길이 단위의 관계를 다시 익힙니다.
시간: 약 5분
이렇게 말해 보세요
- “자의 1 cm 안에 작은 눈금이 몇 칸 있지? 줄자로 1 m를 펼쳐 볼까? 몇 cm까지야?”
- “1 km는 1000 m야. 학교까지 걸어가는 거리를 떠올려 볼까?”
정답
- 1 cm = 10 mm, 1 m = 100 cm, 1 km = 1000 m
막히면
- 줄자로 1 m를 직접 재어 바닥에 테이프로 표시합니다.
주의
- 보충으로도 어려우면 계획의 앞 차시 ‘다각형의 둘레’와 3학년 ‘직각과 직사각형·정사각형’을 먼저 다시 합니다. 길이 단위가 흔들리면 3학년 길이 단원(mm, km)도 확인합니다.
- ‘걸어서 15분쯤’은 어림입니다. 아이의 걸음에 따라 다를 수 있습니다.
- 보충이 오래 걸리면 오늘은 여기까지 하고 다음 날 S02부터 다시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28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초5 수학 · 도형과측정 · 6차시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초5 수학 · 직사각형의 넓이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초5 수학 · 직사각형의 넓이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초5 수학 · 직사각형의 넓이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직사각형의 넓이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넓이는 어떻게 재고 나타낼까요?</a:t>
            </a:r>
            <a:endParaRPr lang="ko-KR" sz="2800" dirty="0"/>
          </a:p>
        </p:txBody>
      </p:sp>
      <p:sp>
        <p:nvSpPr>
          <p:cNvPr id="4" name="S01-panel1"/>
          <p:cNvSpPr/>
          <p:nvPr/>
        </p:nvSpPr>
        <p:spPr>
          <a:xfrm>
            <a:off x="7543800" y="502920"/>
            <a:ext cx="4206240" cy="320040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S01-mark2"/>
          <p:cNvSpPr/>
          <p:nvPr/>
        </p:nvSpPr>
        <p:spPr>
          <a:xfrm>
            <a:off x="8543544" y="1275588"/>
            <a:ext cx="2206752" cy="1655064"/>
          </a:xfrm>
          <a:custGeom>
            <a:avLst/>
            <a:gdLst/>
            <a:ahLst/>
            <a:cxnLst/>
            <a:rect l="l" t="t" r="r" b="b"/>
            <a:pathLst>
              <a:path w="2206752" h="1655064">
                <a:moveTo>
                  <a:pt x="0" y="1655064"/>
                </a:moveTo>
                <a:lnTo>
                  <a:pt x="2206752" y="1655064"/>
                </a:lnTo>
                <a:lnTo>
                  <a:pt x="2206752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/>
        </p:spPr>
      </p:sp>
      <p:sp>
        <p:nvSpPr>
          <p:cNvPr id="6" name="S01-mark3"/>
          <p:cNvSpPr/>
          <p:nvPr/>
        </p:nvSpPr>
        <p:spPr>
          <a:xfrm flipV="1">
            <a:off x="7991856" y="723900"/>
            <a:ext cx="0" cy="275844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7" name="S01-mark4"/>
          <p:cNvSpPr/>
          <p:nvPr/>
        </p:nvSpPr>
        <p:spPr>
          <a:xfrm flipV="1">
            <a:off x="8543544" y="723900"/>
            <a:ext cx="0" cy="275844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8" name="S01-mark5"/>
          <p:cNvSpPr/>
          <p:nvPr/>
        </p:nvSpPr>
        <p:spPr>
          <a:xfrm flipV="1">
            <a:off x="9095232" y="723900"/>
            <a:ext cx="0" cy="275844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9" name="S01-mark6"/>
          <p:cNvSpPr/>
          <p:nvPr/>
        </p:nvSpPr>
        <p:spPr>
          <a:xfrm flipV="1">
            <a:off x="9646920" y="723900"/>
            <a:ext cx="0" cy="275844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0" name="S01-mark7"/>
          <p:cNvSpPr/>
          <p:nvPr/>
        </p:nvSpPr>
        <p:spPr>
          <a:xfrm flipV="1">
            <a:off x="10198608" y="723900"/>
            <a:ext cx="0" cy="275844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1" name="S01-mark8"/>
          <p:cNvSpPr/>
          <p:nvPr/>
        </p:nvSpPr>
        <p:spPr>
          <a:xfrm flipV="1">
            <a:off x="10750296" y="723900"/>
            <a:ext cx="0" cy="275844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2" name="S01-mark9"/>
          <p:cNvSpPr/>
          <p:nvPr/>
        </p:nvSpPr>
        <p:spPr>
          <a:xfrm flipV="1">
            <a:off x="11301984" y="723900"/>
            <a:ext cx="0" cy="275844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3" name="S01-mark10"/>
          <p:cNvSpPr/>
          <p:nvPr/>
        </p:nvSpPr>
        <p:spPr>
          <a:xfrm>
            <a:off x="7991856" y="3482340"/>
            <a:ext cx="3310128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4" name="S01-mark11"/>
          <p:cNvSpPr/>
          <p:nvPr/>
        </p:nvSpPr>
        <p:spPr>
          <a:xfrm>
            <a:off x="7991856" y="2930652"/>
            <a:ext cx="3310128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5" name="S01-mark12"/>
          <p:cNvSpPr/>
          <p:nvPr/>
        </p:nvSpPr>
        <p:spPr>
          <a:xfrm>
            <a:off x="7991856" y="2378964"/>
            <a:ext cx="3310128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6" name="S01-mark13"/>
          <p:cNvSpPr/>
          <p:nvPr/>
        </p:nvSpPr>
        <p:spPr>
          <a:xfrm>
            <a:off x="7991856" y="1827276"/>
            <a:ext cx="3310128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7" name="S01-mark14"/>
          <p:cNvSpPr/>
          <p:nvPr/>
        </p:nvSpPr>
        <p:spPr>
          <a:xfrm>
            <a:off x="7991856" y="1275588"/>
            <a:ext cx="3310128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8" name="S01-mark15"/>
          <p:cNvSpPr/>
          <p:nvPr/>
        </p:nvSpPr>
        <p:spPr>
          <a:xfrm>
            <a:off x="7991856" y="723900"/>
            <a:ext cx="3310128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9" name="S01-figure16" descr="모눈 위에 색칠한 가로 4칸, 세로 3칸 직사각형"/>
          <p:cNvSpPr/>
          <p:nvPr/>
        </p:nvSpPr>
        <p:spPr>
          <a:xfrm>
            <a:off x="8543544" y="1275588"/>
            <a:ext cx="2206752" cy="1655064"/>
          </a:xfrm>
          <a:custGeom>
            <a:avLst/>
            <a:gdLst/>
            <a:ahLst/>
            <a:cxnLst/>
            <a:rect l="l" t="t" r="r" b="b"/>
            <a:pathLst>
              <a:path w="2206752" h="1655064">
                <a:moveTo>
                  <a:pt x="0" y="1655064"/>
                </a:moveTo>
                <a:lnTo>
                  <a:pt x="2206752" y="1655064"/>
                </a:lnTo>
                <a:lnTo>
                  <a:pt x="2206752" y="0"/>
                </a:lnTo>
                <a:lnTo>
                  <a:pt x="0" y="0"/>
                </a:lnTo>
                <a:close/>
              </a:path>
            </a:pathLst>
          </a:cu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20" name="S01-card17"/>
          <p:cNvSpPr/>
          <p:nvPr/>
        </p:nvSpPr>
        <p:spPr>
          <a:xfrm>
            <a:off x="731520" y="4529328"/>
            <a:ext cx="10725912" cy="1597152"/>
          </a:xfrm>
          <a:prstGeom prst="roundRect">
            <a:avLst>
              <a:gd name="adj" fmla="val 6870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21" name="S01-cardtext18"/>
          <p:cNvSpPr txBox="1"/>
          <p:nvPr/>
        </p:nvSpPr>
        <p:spPr>
          <a:xfrm>
            <a:off x="1005840" y="4666488"/>
            <a:ext cx="10177272" cy="1322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cm²로 직사각형의 넓이를 구해요.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m²와 km²를 알고 단위를 바꿔요.</a:t>
            </a:r>
            <a:endParaRPr lang="ko-KR" sz="2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시간 기억하기</a:t>
            </a:r>
            <a:endParaRPr lang="ko-KR" sz="4000" dirty="0"/>
          </a:p>
        </p:txBody>
      </p:sp>
      <p:sp>
        <p:nvSpPr>
          <p:cNvPr id="3" name="S02-chip19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4" name="S02-text20"/>
          <p:cNvSpPr txBox="1"/>
          <p:nvPr/>
        </p:nvSpPr>
        <p:spPr>
          <a:xfrm>
            <a:off x="1344168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가로 5 cm, 세로 3 cm인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직사각형의 둘레는?</a:t>
            </a:r>
            <a:endParaRPr lang="ko-KR" sz="2800" dirty="0"/>
          </a:p>
        </p:txBody>
      </p:sp>
      <p:sp>
        <p:nvSpPr>
          <p:cNvPr id="5" name="S02-chip21"/>
          <p:cNvSpPr txBox="1"/>
          <p:nvPr/>
        </p:nvSpPr>
        <p:spPr>
          <a:xfrm>
            <a:off x="6277356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6" name="S02-eqtext22"/>
          <p:cNvSpPr txBox="1"/>
          <p:nvPr/>
        </p:nvSpPr>
        <p:spPr>
          <a:xfrm>
            <a:off x="7072884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 × 8 = □</a:t>
            </a:r>
            <a:endParaRPr lang="ko-KR" sz="3200" dirty="0"/>
          </a:p>
        </p:txBody>
      </p:sp>
      <p:sp>
        <p:nvSpPr>
          <p:cNvPr id="7" name="S02-chip23"/>
          <p:cNvSpPr txBox="1"/>
          <p:nvPr/>
        </p:nvSpPr>
        <p:spPr>
          <a:xfrm>
            <a:off x="548640" y="43113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8" name="S02-text24"/>
          <p:cNvSpPr txBox="1"/>
          <p:nvPr/>
        </p:nvSpPr>
        <p:spPr>
          <a:xfrm>
            <a:off x="1344168" y="38633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 m는 몇 cm?</a:t>
            </a:r>
            <a:endParaRPr lang="ko-KR" sz="2800" dirty="0"/>
          </a:p>
        </p:txBody>
      </p:sp>
      <p:sp>
        <p:nvSpPr>
          <p:cNvPr id="9" name="S02-chip25"/>
          <p:cNvSpPr txBox="1"/>
          <p:nvPr/>
        </p:nvSpPr>
        <p:spPr>
          <a:xfrm>
            <a:off x="6277356" y="43113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200" dirty="0"/>
          </a:p>
        </p:txBody>
      </p:sp>
      <p:sp>
        <p:nvSpPr>
          <p:cNvPr id="10" name="S02-text26"/>
          <p:cNvSpPr txBox="1"/>
          <p:nvPr/>
        </p:nvSpPr>
        <p:spPr>
          <a:xfrm>
            <a:off x="7072884" y="38633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 km는 몇 m?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넓이의 단위 1 cm²</a:t>
            </a:r>
            <a:endParaRPr lang="ko-KR" sz="4000" dirty="0"/>
          </a:p>
        </p:txBody>
      </p:sp>
      <p:sp>
        <p:nvSpPr>
          <p:cNvPr id="3" name="S03-card27"/>
          <p:cNvSpPr/>
          <p:nvPr/>
        </p:nvSpPr>
        <p:spPr>
          <a:xfrm>
            <a:off x="548640" y="4696968"/>
            <a:ext cx="5431536" cy="1520952"/>
          </a:xfrm>
          <a:prstGeom prst="roundRect">
            <a:avLst>
              <a:gd name="adj" fmla="val 721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3-cardtext28"/>
          <p:cNvSpPr txBox="1"/>
          <p:nvPr/>
        </p:nvSpPr>
        <p:spPr>
          <a:xfrm>
            <a:off x="822960" y="4834128"/>
            <a:ext cx="4882896" cy="1246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en-US" altLang="ko-KR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 cm²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변이 1 cm인 정사각형의 넓이, ‘1 제곱센티미터’라고 읽어요.</a:t>
            </a:r>
            <a:endParaRPr lang="ko-KR" sz="2800" dirty="0"/>
          </a:p>
        </p:txBody>
      </p:sp>
      <p:sp>
        <p:nvSpPr>
          <p:cNvPr id="5" name="S03-card29"/>
          <p:cNvSpPr/>
          <p:nvPr/>
        </p:nvSpPr>
        <p:spPr>
          <a:xfrm>
            <a:off x="6208776" y="4696968"/>
            <a:ext cx="5431536" cy="1520952"/>
          </a:xfrm>
          <a:prstGeom prst="roundRect">
            <a:avLst>
              <a:gd name="adj" fmla="val 721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3-cardtext30"/>
          <p:cNvSpPr txBox="1"/>
          <p:nvPr/>
        </p:nvSpPr>
        <p:spPr>
          <a:xfrm>
            <a:off x="6483096" y="4834128"/>
            <a:ext cx="4882896" cy="1246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넓이 나타내기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 cm²가 몇 개인지 세어요.</a:t>
            </a:r>
            <a:endParaRPr lang="ko-KR" sz="2800" dirty="0"/>
          </a:p>
        </p:txBody>
      </p:sp>
      <p:sp>
        <p:nvSpPr>
          <p:cNvPr id="7" name="S03-figure31" descr="한 변이 1 cm인 정사각형"/>
          <p:cNvSpPr/>
          <p:nvPr/>
        </p:nvSpPr>
        <p:spPr>
          <a:xfrm>
            <a:off x="2990088" y="2420493"/>
            <a:ext cx="502920" cy="502920"/>
          </a:xfrm>
          <a:custGeom>
            <a:avLst/>
            <a:gdLst/>
            <a:ahLst/>
            <a:cxnLst/>
            <a:rect l="l" t="t" r="r" b="b"/>
            <a:pathLst>
              <a:path w="502920" h="502920">
                <a:moveTo>
                  <a:pt x="0" y="502920"/>
                </a:moveTo>
                <a:lnTo>
                  <a:pt x="502920" y="502920"/>
                </a:lnTo>
                <a:lnTo>
                  <a:pt x="502920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8" name="S03-label33"/>
          <p:cNvSpPr txBox="1"/>
          <p:nvPr/>
        </p:nvSpPr>
        <p:spPr>
          <a:xfrm>
            <a:off x="2859786" y="3000248"/>
            <a:ext cx="763524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 cm</a:t>
            </a:r>
            <a:endParaRPr lang="ko-KR" sz="2200" dirty="0"/>
          </a:p>
        </p:txBody>
      </p:sp>
      <p:sp>
        <p:nvSpPr>
          <p:cNvPr id="9" name="S03-label35"/>
          <p:cNvSpPr txBox="1"/>
          <p:nvPr/>
        </p:nvSpPr>
        <p:spPr>
          <a:xfrm>
            <a:off x="2178050" y="2497328"/>
            <a:ext cx="763524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 cm</a:t>
            </a:r>
            <a:endParaRPr lang="ko-KR" sz="2200" dirty="0"/>
          </a:p>
        </p:txBody>
      </p:sp>
      <p:sp>
        <p:nvSpPr>
          <p:cNvPr id="10" name="S03-label36"/>
          <p:cNvSpPr txBox="1"/>
          <p:nvPr/>
        </p:nvSpPr>
        <p:spPr>
          <a:xfrm>
            <a:off x="548640" y="4091178"/>
            <a:ext cx="5385816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 cm²</a:t>
            </a:r>
            <a:endParaRPr lang="ko-KR" sz="2200" dirty="0"/>
          </a:p>
        </p:txBody>
      </p:sp>
      <p:sp>
        <p:nvSpPr>
          <p:cNvPr id="11" name="S03-mark37"/>
          <p:cNvSpPr/>
          <p:nvPr/>
        </p:nvSpPr>
        <p:spPr>
          <a:xfrm>
            <a:off x="7941564" y="1917573"/>
            <a:ext cx="2011680" cy="1508760"/>
          </a:xfrm>
          <a:custGeom>
            <a:avLst/>
            <a:gdLst/>
            <a:ahLst/>
            <a:cxnLst/>
            <a:rect l="l" t="t" r="r" b="b"/>
            <a:pathLst>
              <a:path w="2011680" h="1508760">
                <a:moveTo>
                  <a:pt x="0" y="1508760"/>
                </a:moveTo>
                <a:lnTo>
                  <a:pt x="2011680" y="1508760"/>
                </a:lnTo>
                <a:lnTo>
                  <a:pt x="2011680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/>
        </p:spPr>
      </p:sp>
      <p:sp>
        <p:nvSpPr>
          <p:cNvPr id="12" name="S03-mark38"/>
          <p:cNvSpPr/>
          <p:nvPr/>
        </p:nvSpPr>
        <p:spPr>
          <a:xfrm flipV="1">
            <a:off x="7438644" y="1414653"/>
            <a:ext cx="0" cy="251460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3" name="S03-mark39"/>
          <p:cNvSpPr/>
          <p:nvPr/>
        </p:nvSpPr>
        <p:spPr>
          <a:xfrm flipV="1">
            <a:off x="7941564" y="1414653"/>
            <a:ext cx="0" cy="251460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4" name="S03-mark40"/>
          <p:cNvSpPr/>
          <p:nvPr/>
        </p:nvSpPr>
        <p:spPr>
          <a:xfrm flipV="1">
            <a:off x="8444484" y="1414653"/>
            <a:ext cx="0" cy="251460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5" name="S03-mark41"/>
          <p:cNvSpPr/>
          <p:nvPr/>
        </p:nvSpPr>
        <p:spPr>
          <a:xfrm flipV="1">
            <a:off x="8947404" y="1414653"/>
            <a:ext cx="0" cy="251460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6" name="S03-mark42"/>
          <p:cNvSpPr/>
          <p:nvPr/>
        </p:nvSpPr>
        <p:spPr>
          <a:xfrm flipV="1">
            <a:off x="9450324" y="1414653"/>
            <a:ext cx="0" cy="251460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7" name="S03-mark43"/>
          <p:cNvSpPr/>
          <p:nvPr/>
        </p:nvSpPr>
        <p:spPr>
          <a:xfrm flipV="1">
            <a:off x="9953244" y="1414653"/>
            <a:ext cx="0" cy="251460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8" name="S03-mark44"/>
          <p:cNvSpPr/>
          <p:nvPr/>
        </p:nvSpPr>
        <p:spPr>
          <a:xfrm flipV="1">
            <a:off x="10456164" y="1414653"/>
            <a:ext cx="0" cy="251460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9" name="S03-mark45"/>
          <p:cNvSpPr/>
          <p:nvPr/>
        </p:nvSpPr>
        <p:spPr>
          <a:xfrm>
            <a:off x="7438644" y="3929253"/>
            <a:ext cx="3017520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0" name="S03-mark46"/>
          <p:cNvSpPr/>
          <p:nvPr/>
        </p:nvSpPr>
        <p:spPr>
          <a:xfrm>
            <a:off x="7438644" y="3426333"/>
            <a:ext cx="3017520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1" name="S03-mark47"/>
          <p:cNvSpPr/>
          <p:nvPr/>
        </p:nvSpPr>
        <p:spPr>
          <a:xfrm>
            <a:off x="7438644" y="2923413"/>
            <a:ext cx="3017520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2" name="S03-mark48"/>
          <p:cNvSpPr/>
          <p:nvPr/>
        </p:nvSpPr>
        <p:spPr>
          <a:xfrm>
            <a:off x="7438644" y="2420493"/>
            <a:ext cx="3017520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3" name="S03-mark49"/>
          <p:cNvSpPr/>
          <p:nvPr/>
        </p:nvSpPr>
        <p:spPr>
          <a:xfrm>
            <a:off x="7438644" y="1917573"/>
            <a:ext cx="3017520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4" name="S03-mark50"/>
          <p:cNvSpPr/>
          <p:nvPr/>
        </p:nvSpPr>
        <p:spPr>
          <a:xfrm>
            <a:off x="7438644" y="1414653"/>
            <a:ext cx="3017520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5" name="S03-figure51" descr="모눈 한 칸이 1 cm²인 모눈 위의 가로 4칸, 세로 3칸 직사각형(12칸)"/>
          <p:cNvSpPr/>
          <p:nvPr/>
        </p:nvSpPr>
        <p:spPr>
          <a:xfrm>
            <a:off x="7941564" y="1917573"/>
            <a:ext cx="2011680" cy="1508760"/>
          </a:xfrm>
          <a:custGeom>
            <a:avLst/>
            <a:gdLst/>
            <a:ahLst/>
            <a:cxnLst/>
            <a:rect l="l" t="t" r="r" b="b"/>
            <a:pathLst>
              <a:path w="2011680" h="1508760">
                <a:moveTo>
                  <a:pt x="0" y="1508760"/>
                </a:moveTo>
                <a:lnTo>
                  <a:pt x="2011680" y="1508760"/>
                </a:lnTo>
                <a:lnTo>
                  <a:pt x="2011680" y="0"/>
                </a:lnTo>
                <a:lnTo>
                  <a:pt x="0" y="0"/>
                </a:lnTo>
                <a:close/>
              </a:path>
            </a:pathLst>
          </a:cu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26" name="S03-label52"/>
          <p:cNvSpPr txBox="1"/>
          <p:nvPr/>
        </p:nvSpPr>
        <p:spPr>
          <a:xfrm>
            <a:off x="6254496" y="4091178"/>
            <a:ext cx="5385816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 cm²가 12개: 12 cm²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직사각형의 넓이</a:t>
            </a:r>
            <a:endParaRPr lang="ko-KR" sz="4000" dirty="0"/>
          </a:p>
        </p:txBody>
      </p:sp>
      <p:sp>
        <p:nvSpPr>
          <p:cNvPr id="3" name="S04-card5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4-cardtext5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(직사각형의 넓이) = (가로) × (세로)</a:t>
            </a:r>
            <a:endParaRPr lang="ko-KR" sz="2800" dirty="0"/>
          </a:p>
        </p:txBody>
      </p:sp>
      <p:sp>
        <p:nvSpPr>
          <p:cNvPr id="5" name="S04-mark55"/>
          <p:cNvSpPr/>
          <p:nvPr/>
        </p:nvSpPr>
        <p:spPr>
          <a:xfrm>
            <a:off x="7952743" y="2426539"/>
            <a:ext cx="2655737" cy="1593442"/>
          </a:xfrm>
          <a:custGeom>
            <a:avLst/>
            <a:gdLst/>
            <a:ahLst/>
            <a:cxnLst/>
            <a:rect l="l" t="t" r="r" b="b"/>
            <a:pathLst>
              <a:path w="2655737" h="1593442">
                <a:moveTo>
                  <a:pt x="0" y="1593442"/>
                </a:moveTo>
                <a:lnTo>
                  <a:pt x="2655737" y="1593442"/>
                </a:lnTo>
                <a:lnTo>
                  <a:pt x="2655737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/>
        </p:spPr>
      </p:sp>
      <p:sp>
        <p:nvSpPr>
          <p:cNvPr id="6" name="S04-mark56"/>
          <p:cNvSpPr/>
          <p:nvPr/>
        </p:nvSpPr>
        <p:spPr>
          <a:xfrm flipV="1">
            <a:off x="7421596" y="1895392"/>
            <a:ext cx="0" cy="2655737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7" name="S04-mark57"/>
          <p:cNvSpPr/>
          <p:nvPr/>
        </p:nvSpPr>
        <p:spPr>
          <a:xfrm flipV="1">
            <a:off x="7952743" y="1895392"/>
            <a:ext cx="0" cy="2655737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8" name="S04-mark58"/>
          <p:cNvSpPr/>
          <p:nvPr/>
        </p:nvSpPr>
        <p:spPr>
          <a:xfrm flipV="1">
            <a:off x="8483890" y="1895392"/>
            <a:ext cx="0" cy="2655737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9" name="S04-mark59"/>
          <p:cNvSpPr/>
          <p:nvPr/>
        </p:nvSpPr>
        <p:spPr>
          <a:xfrm flipV="1">
            <a:off x="9015038" y="1895392"/>
            <a:ext cx="0" cy="2655737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0" name="S04-mark60"/>
          <p:cNvSpPr/>
          <p:nvPr/>
        </p:nvSpPr>
        <p:spPr>
          <a:xfrm flipV="1">
            <a:off x="9546185" y="1895392"/>
            <a:ext cx="0" cy="2655737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1" name="S04-mark61"/>
          <p:cNvSpPr/>
          <p:nvPr/>
        </p:nvSpPr>
        <p:spPr>
          <a:xfrm flipV="1">
            <a:off x="10077332" y="1895392"/>
            <a:ext cx="0" cy="2655737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2" name="S04-mark62"/>
          <p:cNvSpPr/>
          <p:nvPr/>
        </p:nvSpPr>
        <p:spPr>
          <a:xfrm flipV="1">
            <a:off x="10608480" y="1895392"/>
            <a:ext cx="0" cy="2655737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3" name="S04-mark63"/>
          <p:cNvSpPr/>
          <p:nvPr/>
        </p:nvSpPr>
        <p:spPr>
          <a:xfrm flipV="1">
            <a:off x="11139627" y="1895392"/>
            <a:ext cx="0" cy="2655737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4" name="S04-mark64"/>
          <p:cNvSpPr/>
          <p:nvPr/>
        </p:nvSpPr>
        <p:spPr>
          <a:xfrm>
            <a:off x="7421596" y="4551128"/>
            <a:ext cx="3718032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5" name="S04-mark65"/>
          <p:cNvSpPr/>
          <p:nvPr/>
        </p:nvSpPr>
        <p:spPr>
          <a:xfrm>
            <a:off x="7421596" y="4019981"/>
            <a:ext cx="3718032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6" name="S04-mark66"/>
          <p:cNvSpPr/>
          <p:nvPr/>
        </p:nvSpPr>
        <p:spPr>
          <a:xfrm>
            <a:off x="7421596" y="3488834"/>
            <a:ext cx="3718032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7" name="S04-mark67"/>
          <p:cNvSpPr/>
          <p:nvPr/>
        </p:nvSpPr>
        <p:spPr>
          <a:xfrm>
            <a:off x="7421596" y="2957686"/>
            <a:ext cx="3718032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8" name="S04-mark68"/>
          <p:cNvSpPr/>
          <p:nvPr/>
        </p:nvSpPr>
        <p:spPr>
          <a:xfrm>
            <a:off x="7421596" y="2426539"/>
            <a:ext cx="3718032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9" name="S04-mark69"/>
          <p:cNvSpPr/>
          <p:nvPr/>
        </p:nvSpPr>
        <p:spPr>
          <a:xfrm>
            <a:off x="7421596" y="1895392"/>
            <a:ext cx="3718032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0" name="S04-figure70" descr="모눈 위의 가로 5 cm, 세로 3 cm 직사각형(1 cm² 15칸)"/>
          <p:cNvSpPr/>
          <p:nvPr/>
        </p:nvSpPr>
        <p:spPr>
          <a:xfrm>
            <a:off x="7952743" y="2426539"/>
            <a:ext cx="2655737" cy="1593442"/>
          </a:xfrm>
          <a:custGeom>
            <a:avLst/>
            <a:gdLst/>
            <a:ahLst/>
            <a:cxnLst/>
            <a:rect l="l" t="t" r="r" b="b"/>
            <a:pathLst>
              <a:path w="2655737" h="1593442">
                <a:moveTo>
                  <a:pt x="0" y="1593442"/>
                </a:moveTo>
                <a:lnTo>
                  <a:pt x="2655737" y="1593442"/>
                </a:lnTo>
                <a:lnTo>
                  <a:pt x="2655737" y="0"/>
                </a:lnTo>
                <a:lnTo>
                  <a:pt x="0" y="0"/>
                </a:lnTo>
                <a:close/>
              </a:path>
            </a:pathLst>
          </a:cu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21" name="S04-label72"/>
          <p:cNvSpPr txBox="1"/>
          <p:nvPr/>
        </p:nvSpPr>
        <p:spPr>
          <a:xfrm>
            <a:off x="8898849" y="4096816"/>
            <a:ext cx="763524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 cm</a:t>
            </a:r>
            <a:endParaRPr lang="ko-KR" sz="2200" dirty="0"/>
          </a:p>
        </p:txBody>
      </p:sp>
      <p:sp>
        <p:nvSpPr>
          <p:cNvPr id="22" name="S04-label74"/>
          <p:cNvSpPr txBox="1"/>
          <p:nvPr/>
        </p:nvSpPr>
        <p:spPr>
          <a:xfrm>
            <a:off x="7140705" y="3048635"/>
            <a:ext cx="763524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 cm</a:t>
            </a:r>
            <a:endParaRPr lang="ko-KR" sz="2200" dirty="0"/>
          </a:p>
        </p:txBody>
      </p:sp>
      <p:sp>
        <p:nvSpPr>
          <p:cNvPr id="23" name="S04-stepno75"/>
          <p:cNvSpPr txBox="1"/>
          <p:nvPr/>
        </p:nvSpPr>
        <p:spPr>
          <a:xfrm>
            <a:off x="548640" y="207619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200" dirty="0"/>
          </a:p>
        </p:txBody>
      </p:sp>
      <p:sp>
        <p:nvSpPr>
          <p:cNvPr id="24" name="S04-text76"/>
          <p:cNvSpPr txBox="1"/>
          <p:nvPr/>
        </p:nvSpPr>
        <p:spPr>
          <a:xfrm>
            <a:off x="1325880" y="2076196"/>
            <a:ext cx="522927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 cm²가 한 줄에 5개씩 있어요.</a:t>
            </a:r>
            <a:endParaRPr lang="ko-KR" sz="2800" dirty="0"/>
          </a:p>
        </p:txBody>
      </p:sp>
      <p:sp>
        <p:nvSpPr>
          <p:cNvPr id="25" name="S04-stepno77"/>
          <p:cNvSpPr txBox="1"/>
          <p:nvPr/>
        </p:nvSpPr>
        <p:spPr>
          <a:xfrm>
            <a:off x="548640" y="283514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200" dirty="0"/>
          </a:p>
        </p:txBody>
      </p:sp>
      <p:sp>
        <p:nvSpPr>
          <p:cNvPr id="26" name="S04-text78"/>
          <p:cNvSpPr txBox="1"/>
          <p:nvPr/>
        </p:nvSpPr>
        <p:spPr>
          <a:xfrm>
            <a:off x="1325880" y="2789428"/>
            <a:ext cx="5229271" cy="867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3줄이니까 5 × 3 = 15(개)예요.</a:t>
            </a:r>
            <a:endParaRPr lang="ko-KR" sz="2800" dirty="0"/>
          </a:p>
        </p:txBody>
      </p:sp>
      <p:sp>
        <p:nvSpPr>
          <p:cNvPr id="27" name="S04-stepno79"/>
          <p:cNvSpPr txBox="1"/>
          <p:nvPr/>
        </p:nvSpPr>
        <p:spPr>
          <a:xfrm>
            <a:off x="548640" y="382168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200" dirty="0"/>
          </a:p>
        </p:txBody>
      </p:sp>
      <p:sp>
        <p:nvSpPr>
          <p:cNvPr id="28" name="S04-text80"/>
          <p:cNvSpPr txBox="1"/>
          <p:nvPr/>
        </p:nvSpPr>
        <p:spPr>
          <a:xfrm>
            <a:off x="1325880" y="3821684"/>
            <a:ext cx="522927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넓이는 15 cm²예요.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정사각형의 넓이</a:t>
            </a:r>
            <a:endParaRPr lang="ko-KR" sz="4000" dirty="0"/>
          </a:p>
        </p:txBody>
      </p:sp>
      <p:sp>
        <p:nvSpPr>
          <p:cNvPr id="3" name="S05-mark81"/>
          <p:cNvSpPr/>
          <p:nvPr/>
        </p:nvSpPr>
        <p:spPr>
          <a:xfrm>
            <a:off x="2132838" y="2674620"/>
            <a:ext cx="2194560" cy="2194560"/>
          </a:xfrm>
          <a:custGeom>
            <a:avLst/>
            <a:gdLst/>
            <a:ahLst/>
            <a:cxnLst/>
            <a:rect l="l" t="t" r="r" b="b"/>
            <a:pathLst>
              <a:path w="2194560" h="2194560">
                <a:moveTo>
                  <a:pt x="0" y="2194560"/>
                </a:moveTo>
                <a:lnTo>
                  <a:pt x="2194560" y="2194560"/>
                </a:lnTo>
                <a:lnTo>
                  <a:pt x="2194560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/>
        </p:spPr>
      </p:sp>
      <p:sp>
        <p:nvSpPr>
          <p:cNvPr id="4" name="S05-mark82"/>
          <p:cNvSpPr/>
          <p:nvPr/>
        </p:nvSpPr>
        <p:spPr>
          <a:xfrm flipV="1">
            <a:off x="1584198" y="2125980"/>
            <a:ext cx="0" cy="329184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5" name="S05-mark83"/>
          <p:cNvSpPr/>
          <p:nvPr/>
        </p:nvSpPr>
        <p:spPr>
          <a:xfrm flipV="1">
            <a:off x="2132838" y="2125980"/>
            <a:ext cx="0" cy="329184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6" name="S05-mark84"/>
          <p:cNvSpPr/>
          <p:nvPr/>
        </p:nvSpPr>
        <p:spPr>
          <a:xfrm flipV="1">
            <a:off x="2681478" y="2125980"/>
            <a:ext cx="0" cy="329184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7" name="S05-mark85"/>
          <p:cNvSpPr/>
          <p:nvPr/>
        </p:nvSpPr>
        <p:spPr>
          <a:xfrm flipV="1">
            <a:off x="3230118" y="2125980"/>
            <a:ext cx="0" cy="329184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8" name="S05-mark86"/>
          <p:cNvSpPr/>
          <p:nvPr/>
        </p:nvSpPr>
        <p:spPr>
          <a:xfrm flipV="1">
            <a:off x="3778758" y="2125980"/>
            <a:ext cx="0" cy="329184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9" name="S05-mark87"/>
          <p:cNvSpPr/>
          <p:nvPr/>
        </p:nvSpPr>
        <p:spPr>
          <a:xfrm flipV="1">
            <a:off x="4327398" y="2125980"/>
            <a:ext cx="0" cy="329184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0" name="S05-mark88"/>
          <p:cNvSpPr/>
          <p:nvPr/>
        </p:nvSpPr>
        <p:spPr>
          <a:xfrm flipV="1">
            <a:off x="4876038" y="2125980"/>
            <a:ext cx="0" cy="329184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1" name="S05-mark89"/>
          <p:cNvSpPr/>
          <p:nvPr/>
        </p:nvSpPr>
        <p:spPr>
          <a:xfrm>
            <a:off x="1584198" y="5417820"/>
            <a:ext cx="3291840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2" name="S05-mark90"/>
          <p:cNvSpPr/>
          <p:nvPr/>
        </p:nvSpPr>
        <p:spPr>
          <a:xfrm>
            <a:off x="1584198" y="4869180"/>
            <a:ext cx="3291840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3" name="S05-mark91"/>
          <p:cNvSpPr/>
          <p:nvPr/>
        </p:nvSpPr>
        <p:spPr>
          <a:xfrm>
            <a:off x="1584198" y="4320540"/>
            <a:ext cx="3291840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4" name="S05-mark92"/>
          <p:cNvSpPr/>
          <p:nvPr/>
        </p:nvSpPr>
        <p:spPr>
          <a:xfrm>
            <a:off x="1584198" y="3771900"/>
            <a:ext cx="3291840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5" name="S05-mark93"/>
          <p:cNvSpPr/>
          <p:nvPr/>
        </p:nvSpPr>
        <p:spPr>
          <a:xfrm>
            <a:off x="1584198" y="3223260"/>
            <a:ext cx="3291840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6" name="S05-mark94"/>
          <p:cNvSpPr/>
          <p:nvPr/>
        </p:nvSpPr>
        <p:spPr>
          <a:xfrm>
            <a:off x="1584198" y="2674620"/>
            <a:ext cx="3291840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7" name="S05-mark95"/>
          <p:cNvSpPr/>
          <p:nvPr/>
        </p:nvSpPr>
        <p:spPr>
          <a:xfrm>
            <a:off x="1584198" y="2125980"/>
            <a:ext cx="3291840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8" name="S05-figure96" descr="모눈 위의 한 변이 4 cm인 정사각형(1 cm² 16칸)"/>
          <p:cNvSpPr/>
          <p:nvPr/>
        </p:nvSpPr>
        <p:spPr>
          <a:xfrm>
            <a:off x="2132838" y="2674620"/>
            <a:ext cx="2194560" cy="2194560"/>
          </a:xfrm>
          <a:custGeom>
            <a:avLst/>
            <a:gdLst/>
            <a:ahLst/>
            <a:cxnLst/>
            <a:rect l="l" t="t" r="r" b="b"/>
            <a:pathLst>
              <a:path w="2194560" h="2194560">
                <a:moveTo>
                  <a:pt x="0" y="2194560"/>
                </a:moveTo>
                <a:lnTo>
                  <a:pt x="2194560" y="2194560"/>
                </a:lnTo>
                <a:lnTo>
                  <a:pt x="2194560" y="0"/>
                </a:lnTo>
                <a:lnTo>
                  <a:pt x="0" y="0"/>
                </a:lnTo>
                <a:close/>
              </a:path>
            </a:pathLst>
          </a:cu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19" name="S05-label98"/>
          <p:cNvSpPr txBox="1"/>
          <p:nvPr/>
        </p:nvSpPr>
        <p:spPr>
          <a:xfrm>
            <a:off x="2848356" y="4946015"/>
            <a:ext cx="763524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 cm</a:t>
            </a:r>
            <a:endParaRPr lang="ko-KR" sz="2200" dirty="0"/>
          </a:p>
        </p:txBody>
      </p:sp>
      <p:sp>
        <p:nvSpPr>
          <p:cNvPr id="20" name="S05-label100"/>
          <p:cNvSpPr txBox="1"/>
          <p:nvPr/>
        </p:nvSpPr>
        <p:spPr>
          <a:xfrm>
            <a:off x="1320800" y="3597275"/>
            <a:ext cx="763524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 cm</a:t>
            </a:r>
            <a:endParaRPr lang="ko-KR" sz="2200" dirty="0"/>
          </a:p>
        </p:txBody>
      </p:sp>
      <p:sp>
        <p:nvSpPr>
          <p:cNvPr id="21" name="S05-card101"/>
          <p:cNvSpPr/>
          <p:nvPr/>
        </p:nvSpPr>
        <p:spPr>
          <a:xfrm>
            <a:off x="6277356" y="2477516"/>
            <a:ext cx="5362956" cy="1180084"/>
          </a:xfrm>
          <a:prstGeom prst="roundRect">
            <a:avLst>
              <a:gd name="adj" fmla="val 929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22" name="S05-cardtext102"/>
          <p:cNvSpPr txBox="1"/>
          <p:nvPr/>
        </p:nvSpPr>
        <p:spPr>
          <a:xfrm>
            <a:off x="6551676" y="2614676"/>
            <a:ext cx="4814316" cy="9057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정사각형의 넓이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(한 변) × (한 변)</a:t>
            </a:r>
            <a:endParaRPr lang="ko-KR" sz="2800" dirty="0"/>
          </a:p>
        </p:txBody>
      </p:sp>
      <p:sp>
        <p:nvSpPr>
          <p:cNvPr id="23" name="S05-card103"/>
          <p:cNvSpPr/>
          <p:nvPr/>
        </p:nvSpPr>
        <p:spPr>
          <a:xfrm>
            <a:off x="6277356" y="3886200"/>
            <a:ext cx="5362956" cy="1180084"/>
          </a:xfrm>
          <a:prstGeom prst="roundRect">
            <a:avLst>
              <a:gd name="adj" fmla="val 929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24" name="S05-cardtext104"/>
          <p:cNvSpPr txBox="1"/>
          <p:nvPr/>
        </p:nvSpPr>
        <p:spPr>
          <a:xfrm>
            <a:off x="6551676" y="4023360"/>
            <a:ext cx="4814316" cy="9057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× 4 = 16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넓이는 16 cm²예요.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넓이 구하기</a:t>
            </a:r>
            <a:endParaRPr lang="ko-KR" sz="4000" dirty="0"/>
          </a:p>
        </p:txBody>
      </p:sp>
      <p:sp>
        <p:nvSpPr>
          <p:cNvPr id="3" name="S06-card10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4" name="S06-cardtext10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답에 넓이의 단위 cm²를 붙여요.</a:t>
            </a:r>
            <a:endParaRPr lang="ko-KR" sz="2800" dirty="0"/>
          </a:p>
        </p:txBody>
      </p:sp>
      <p:sp>
        <p:nvSpPr>
          <p:cNvPr id="5" name="S06-chip107"/>
          <p:cNvSpPr txBox="1"/>
          <p:nvPr/>
        </p:nvSpPr>
        <p:spPr>
          <a:xfrm>
            <a:off x="548640" y="16139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6" name="S06-text108"/>
          <p:cNvSpPr txBox="1"/>
          <p:nvPr/>
        </p:nvSpPr>
        <p:spPr>
          <a:xfrm>
            <a:off x="1344168" y="1325880"/>
            <a:ext cx="1029614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가로 7 cm, 세로 4 cm인 직사각형의 넓이</a:t>
            </a:r>
            <a:endParaRPr lang="ko-KR" sz="2800" dirty="0"/>
          </a:p>
        </p:txBody>
      </p:sp>
      <p:sp>
        <p:nvSpPr>
          <p:cNvPr id="7" name="S06-chip109"/>
          <p:cNvSpPr txBox="1"/>
          <p:nvPr/>
        </p:nvSpPr>
        <p:spPr>
          <a:xfrm>
            <a:off x="548640" y="29397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8" name="S06-text110"/>
          <p:cNvSpPr txBox="1"/>
          <p:nvPr/>
        </p:nvSpPr>
        <p:spPr>
          <a:xfrm>
            <a:off x="1344168" y="2651760"/>
            <a:ext cx="1029614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변이 6 cm인 정사각형의 넓이</a:t>
            </a:r>
            <a:endParaRPr lang="ko-KR" sz="2800" dirty="0"/>
          </a:p>
        </p:txBody>
      </p:sp>
      <p:sp>
        <p:nvSpPr>
          <p:cNvPr id="9" name="S06-chip111"/>
          <p:cNvSpPr txBox="1"/>
          <p:nvPr/>
        </p:nvSpPr>
        <p:spPr>
          <a:xfrm>
            <a:off x="548640" y="42656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10" name="S06-text112"/>
          <p:cNvSpPr txBox="1"/>
          <p:nvPr/>
        </p:nvSpPr>
        <p:spPr>
          <a:xfrm>
            <a:off x="1344168" y="3977640"/>
            <a:ext cx="1029614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넓이가 40 cm²이고 가로가 8 cm인 직사각형의 세로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둘레가 같으면 넓이도 같을까요?</a:t>
            </a:r>
            <a:endParaRPr lang="ko-KR" sz="4000" dirty="0"/>
          </a:p>
        </p:txBody>
      </p:sp>
      <p:sp>
        <p:nvSpPr>
          <p:cNvPr id="3" name="S07-text11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도형의 둘레는 모두 12 cm예요.</a:t>
            </a:r>
            <a:endParaRPr lang="ko-KR" sz="2800" dirty="0"/>
          </a:p>
        </p:txBody>
      </p:sp>
      <p:sp>
        <p:nvSpPr>
          <p:cNvPr id="4" name="S07-card11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7-cardtext11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넓이도 같을까요? 1 cm²를 세어 비교해요.</a:t>
            </a:r>
            <a:endParaRPr lang="ko-KR" sz="2800" dirty="0"/>
          </a:p>
        </p:txBody>
      </p:sp>
      <p:sp>
        <p:nvSpPr>
          <p:cNvPr id="6" name="S07-mark116"/>
          <p:cNvSpPr/>
          <p:nvPr/>
        </p:nvSpPr>
        <p:spPr>
          <a:xfrm>
            <a:off x="2258568" y="3144393"/>
            <a:ext cx="1965960" cy="393192"/>
          </a:xfrm>
          <a:custGeom>
            <a:avLst/>
            <a:gdLst/>
            <a:ahLst/>
            <a:cxnLst/>
            <a:rect l="l" t="t" r="r" b="b"/>
            <a:pathLst>
              <a:path w="1965960" h="393192">
                <a:moveTo>
                  <a:pt x="0" y="393192"/>
                </a:moveTo>
                <a:lnTo>
                  <a:pt x="1965960" y="393192"/>
                </a:lnTo>
                <a:lnTo>
                  <a:pt x="1965960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/>
        </p:spPr>
      </p:sp>
      <p:sp>
        <p:nvSpPr>
          <p:cNvPr id="7" name="S07-mark117"/>
          <p:cNvSpPr/>
          <p:nvPr/>
        </p:nvSpPr>
        <p:spPr>
          <a:xfrm flipV="1">
            <a:off x="1865376" y="2751201"/>
            <a:ext cx="0" cy="1179576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8" name="S07-mark118"/>
          <p:cNvSpPr/>
          <p:nvPr/>
        </p:nvSpPr>
        <p:spPr>
          <a:xfrm flipV="1">
            <a:off x="2258568" y="2751201"/>
            <a:ext cx="0" cy="1179576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9" name="S07-mark119"/>
          <p:cNvSpPr/>
          <p:nvPr/>
        </p:nvSpPr>
        <p:spPr>
          <a:xfrm flipV="1">
            <a:off x="2651760" y="2751201"/>
            <a:ext cx="0" cy="1179576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0" name="S07-mark120"/>
          <p:cNvSpPr/>
          <p:nvPr/>
        </p:nvSpPr>
        <p:spPr>
          <a:xfrm flipV="1">
            <a:off x="3044952" y="2751201"/>
            <a:ext cx="0" cy="1179576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1" name="S07-mark121"/>
          <p:cNvSpPr/>
          <p:nvPr/>
        </p:nvSpPr>
        <p:spPr>
          <a:xfrm flipV="1">
            <a:off x="3438144" y="2751201"/>
            <a:ext cx="0" cy="1179576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2" name="S07-mark122"/>
          <p:cNvSpPr/>
          <p:nvPr/>
        </p:nvSpPr>
        <p:spPr>
          <a:xfrm flipV="1">
            <a:off x="3831336" y="2751201"/>
            <a:ext cx="0" cy="1179576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3" name="S07-mark123"/>
          <p:cNvSpPr/>
          <p:nvPr/>
        </p:nvSpPr>
        <p:spPr>
          <a:xfrm flipV="1">
            <a:off x="4224528" y="2751201"/>
            <a:ext cx="0" cy="1179576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4" name="S07-mark124"/>
          <p:cNvSpPr/>
          <p:nvPr/>
        </p:nvSpPr>
        <p:spPr>
          <a:xfrm flipV="1">
            <a:off x="4617720" y="2751201"/>
            <a:ext cx="0" cy="1179576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5" name="S07-mark125"/>
          <p:cNvSpPr/>
          <p:nvPr/>
        </p:nvSpPr>
        <p:spPr>
          <a:xfrm>
            <a:off x="1865376" y="3930777"/>
            <a:ext cx="2752344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6" name="S07-mark126"/>
          <p:cNvSpPr/>
          <p:nvPr/>
        </p:nvSpPr>
        <p:spPr>
          <a:xfrm>
            <a:off x="1865376" y="3537585"/>
            <a:ext cx="2752344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7" name="S07-mark127"/>
          <p:cNvSpPr/>
          <p:nvPr/>
        </p:nvSpPr>
        <p:spPr>
          <a:xfrm>
            <a:off x="1865376" y="3144393"/>
            <a:ext cx="2752344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8" name="S07-mark128"/>
          <p:cNvSpPr/>
          <p:nvPr/>
        </p:nvSpPr>
        <p:spPr>
          <a:xfrm>
            <a:off x="1865376" y="2751201"/>
            <a:ext cx="2752344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9" name="S07-figure129" descr="가로 5 cm, 세로 1 cm인 직사각형"/>
          <p:cNvSpPr/>
          <p:nvPr/>
        </p:nvSpPr>
        <p:spPr>
          <a:xfrm>
            <a:off x="2258568" y="3144393"/>
            <a:ext cx="1965960" cy="393192"/>
          </a:xfrm>
          <a:custGeom>
            <a:avLst/>
            <a:gdLst/>
            <a:ahLst/>
            <a:cxnLst/>
            <a:rect l="l" t="t" r="r" b="b"/>
            <a:pathLst>
              <a:path w="1965960" h="393192">
                <a:moveTo>
                  <a:pt x="0" y="393192"/>
                </a:moveTo>
                <a:lnTo>
                  <a:pt x="1965960" y="393192"/>
                </a:lnTo>
                <a:lnTo>
                  <a:pt x="1965960" y="0"/>
                </a:lnTo>
                <a:lnTo>
                  <a:pt x="0" y="0"/>
                </a:lnTo>
                <a:close/>
              </a:path>
            </a:pathLst>
          </a:cu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20" name="S07-label131"/>
          <p:cNvSpPr txBox="1"/>
          <p:nvPr/>
        </p:nvSpPr>
        <p:spPr>
          <a:xfrm>
            <a:off x="2859786" y="3614420"/>
            <a:ext cx="763524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 cm</a:t>
            </a:r>
            <a:endParaRPr lang="ko-KR" sz="2200" dirty="0"/>
          </a:p>
        </p:txBody>
      </p:sp>
      <p:sp>
        <p:nvSpPr>
          <p:cNvPr id="21" name="S07-label133"/>
          <p:cNvSpPr txBox="1"/>
          <p:nvPr/>
        </p:nvSpPr>
        <p:spPr>
          <a:xfrm>
            <a:off x="4273042" y="3166364"/>
            <a:ext cx="763524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 cm</a:t>
            </a:r>
            <a:endParaRPr lang="ko-KR" sz="2200" dirty="0"/>
          </a:p>
        </p:txBody>
      </p:sp>
      <p:sp>
        <p:nvSpPr>
          <p:cNvPr id="22" name="S07-label134"/>
          <p:cNvSpPr txBox="1"/>
          <p:nvPr/>
        </p:nvSpPr>
        <p:spPr>
          <a:xfrm>
            <a:off x="548640" y="4743450"/>
            <a:ext cx="5385816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200" dirty="0"/>
          </a:p>
        </p:txBody>
      </p:sp>
      <p:sp>
        <p:nvSpPr>
          <p:cNvPr id="23" name="S07-mark135"/>
          <p:cNvSpPr/>
          <p:nvPr/>
        </p:nvSpPr>
        <p:spPr>
          <a:xfrm>
            <a:off x="8450229" y="2843814"/>
            <a:ext cx="994349" cy="994349"/>
          </a:xfrm>
          <a:custGeom>
            <a:avLst/>
            <a:gdLst/>
            <a:ahLst/>
            <a:cxnLst/>
            <a:rect l="l" t="t" r="r" b="b"/>
            <a:pathLst>
              <a:path w="994349" h="994349">
                <a:moveTo>
                  <a:pt x="0" y="994349"/>
                </a:moveTo>
                <a:lnTo>
                  <a:pt x="994349" y="994349"/>
                </a:lnTo>
                <a:lnTo>
                  <a:pt x="994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/>
        </p:spPr>
      </p:sp>
      <p:sp>
        <p:nvSpPr>
          <p:cNvPr id="24" name="S07-mark136"/>
          <p:cNvSpPr/>
          <p:nvPr/>
        </p:nvSpPr>
        <p:spPr>
          <a:xfrm flipV="1">
            <a:off x="8118780" y="2512365"/>
            <a:ext cx="0" cy="1657248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5" name="S07-mark137"/>
          <p:cNvSpPr/>
          <p:nvPr/>
        </p:nvSpPr>
        <p:spPr>
          <a:xfrm flipV="1">
            <a:off x="8450229" y="2512365"/>
            <a:ext cx="0" cy="1657248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6" name="S07-mark138"/>
          <p:cNvSpPr/>
          <p:nvPr/>
        </p:nvSpPr>
        <p:spPr>
          <a:xfrm flipV="1">
            <a:off x="8781679" y="2512365"/>
            <a:ext cx="0" cy="1657248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7" name="S07-mark139"/>
          <p:cNvSpPr/>
          <p:nvPr/>
        </p:nvSpPr>
        <p:spPr>
          <a:xfrm flipV="1">
            <a:off x="9113129" y="2512365"/>
            <a:ext cx="0" cy="1657248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8" name="S07-mark140"/>
          <p:cNvSpPr/>
          <p:nvPr/>
        </p:nvSpPr>
        <p:spPr>
          <a:xfrm flipV="1">
            <a:off x="9444579" y="2512365"/>
            <a:ext cx="0" cy="1657248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9" name="S07-mark141"/>
          <p:cNvSpPr/>
          <p:nvPr/>
        </p:nvSpPr>
        <p:spPr>
          <a:xfrm flipV="1">
            <a:off x="9776028" y="2512365"/>
            <a:ext cx="0" cy="1657248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0" name="S07-mark142"/>
          <p:cNvSpPr/>
          <p:nvPr/>
        </p:nvSpPr>
        <p:spPr>
          <a:xfrm>
            <a:off x="8118780" y="4169613"/>
            <a:ext cx="1657248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1" name="S07-mark143"/>
          <p:cNvSpPr/>
          <p:nvPr/>
        </p:nvSpPr>
        <p:spPr>
          <a:xfrm>
            <a:off x="8118780" y="3838164"/>
            <a:ext cx="1657248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2" name="S07-mark144"/>
          <p:cNvSpPr/>
          <p:nvPr/>
        </p:nvSpPr>
        <p:spPr>
          <a:xfrm>
            <a:off x="8118780" y="3506714"/>
            <a:ext cx="1657248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3" name="S07-mark145"/>
          <p:cNvSpPr/>
          <p:nvPr/>
        </p:nvSpPr>
        <p:spPr>
          <a:xfrm>
            <a:off x="8118780" y="3175264"/>
            <a:ext cx="1657248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4" name="S07-mark146"/>
          <p:cNvSpPr/>
          <p:nvPr/>
        </p:nvSpPr>
        <p:spPr>
          <a:xfrm>
            <a:off x="8118780" y="2843814"/>
            <a:ext cx="1657248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5" name="S07-mark147"/>
          <p:cNvSpPr/>
          <p:nvPr/>
        </p:nvSpPr>
        <p:spPr>
          <a:xfrm>
            <a:off x="8118780" y="2512365"/>
            <a:ext cx="1657248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6" name="S07-figure148" descr="한 변이 3 cm인 정사각형"/>
          <p:cNvSpPr/>
          <p:nvPr/>
        </p:nvSpPr>
        <p:spPr>
          <a:xfrm>
            <a:off x="8450229" y="2843814"/>
            <a:ext cx="994349" cy="994349"/>
          </a:xfrm>
          <a:custGeom>
            <a:avLst/>
            <a:gdLst/>
            <a:ahLst/>
            <a:cxnLst/>
            <a:rect l="l" t="t" r="r" b="b"/>
            <a:pathLst>
              <a:path w="994349" h="994349">
                <a:moveTo>
                  <a:pt x="0" y="994349"/>
                </a:moveTo>
                <a:lnTo>
                  <a:pt x="994349" y="994349"/>
                </a:lnTo>
                <a:lnTo>
                  <a:pt x="994349" y="0"/>
                </a:lnTo>
                <a:lnTo>
                  <a:pt x="0" y="0"/>
                </a:lnTo>
                <a:close/>
              </a:path>
            </a:pathLst>
          </a:cu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37" name="S07-label150"/>
          <p:cNvSpPr txBox="1"/>
          <p:nvPr/>
        </p:nvSpPr>
        <p:spPr>
          <a:xfrm>
            <a:off x="8565642" y="3914999"/>
            <a:ext cx="763524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 cm</a:t>
            </a:r>
            <a:endParaRPr lang="ko-KR" sz="2200" dirty="0"/>
          </a:p>
        </p:txBody>
      </p:sp>
      <p:sp>
        <p:nvSpPr>
          <p:cNvPr id="38" name="S07-label152"/>
          <p:cNvSpPr txBox="1"/>
          <p:nvPr/>
        </p:nvSpPr>
        <p:spPr>
          <a:xfrm>
            <a:off x="9493093" y="3166364"/>
            <a:ext cx="763524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 cm</a:t>
            </a:r>
            <a:endParaRPr lang="ko-KR" sz="2200" dirty="0"/>
          </a:p>
        </p:txBody>
      </p:sp>
      <p:sp>
        <p:nvSpPr>
          <p:cNvPr id="39" name="S07-label153"/>
          <p:cNvSpPr txBox="1"/>
          <p:nvPr/>
        </p:nvSpPr>
        <p:spPr>
          <a:xfrm>
            <a:off x="6254496" y="4743450"/>
            <a:ext cx="5385816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 m²와 1 km²</a:t>
            </a:r>
            <a:endParaRPr lang="ko-KR" sz="4000" dirty="0"/>
          </a:p>
        </p:txBody>
      </p:sp>
      <p:sp>
        <p:nvSpPr>
          <p:cNvPr id="3" name="S08-card154"/>
          <p:cNvSpPr/>
          <p:nvPr/>
        </p:nvSpPr>
        <p:spPr>
          <a:xfrm>
            <a:off x="548640" y="4696968"/>
            <a:ext cx="5431536" cy="1520952"/>
          </a:xfrm>
          <a:prstGeom prst="roundRect">
            <a:avLst>
              <a:gd name="adj" fmla="val 721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8-cardtext155"/>
          <p:cNvSpPr txBox="1"/>
          <p:nvPr/>
        </p:nvSpPr>
        <p:spPr>
          <a:xfrm>
            <a:off x="822960" y="4834128"/>
            <a:ext cx="4882896" cy="1246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en-US" altLang="ko-KR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 m² = 10000 cm²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100 × 100 = 10000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en-US" altLang="ko-KR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(1 m = 100 cm)</a:t>
            </a:r>
            <a:endParaRPr lang="ko-KR" sz="2800" dirty="0"/>
          </a:p>
        </p:txBody>
      </p:sp>
      <p:sp>
        <p:nvSpPr>
          <p:cNvPr id="5" name="S08-card156"/>
          <p:cNvSpPr/>
          <p:nvPr/>
        </p:nvSpPr>
        <p:spPr>
          <a:xfrm>
            <a:off x="6208776" y="4696968"/>
            <a:ext cx="5431536" cy="1520952"/>
          </a:xfrm>
          <a:prstGeom prst="roundRect">
            <a:avLst>
              <a:gd name="adj" fmla="val 721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8-cardtext157"/>
          <p:cNvSpPr txBox="1"/>
          <p:nvPr/>
        </p:nvSpPr>
        <p:spPr>
          <a:xfrm>
            <a:off x="6483096" y="4834128"/>
            <a:ext cx="4882896" cy="1246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en-US" altLang="ko-KR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 km² = 1000000 m²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1000 × 1000 = 1000000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en-US" altLang="ko-KR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(1 km = 1000 m)</a:t>
            </a:r>
            <a:endParaRPr lang="ko-KR" sz="2800" dirty="0"/>
          </a:p>
        </p:txBody>
      </p:sp>
      <p:sp>
        <p:nvSpPr>
          <p:cNvPr id="7" name="S08-figure158" descr="한 변이 1 m인 정사각형(실제 크기 아님), 가운데에 1 m²"/>
          <p:cNvSpPr/>
          <p:nvPr/>
        </p:nvSpPr>
        <p:spPr>
          <a:xfrm>
            <a:off x="2418588" y="1848993"/>
            <a:ext cx="1645920" cy="1645920"/>
          </a:xfrm>
          <a:custGeom>
            <a:avLst/>
            <a:gdLst/>
            <a:ahLst/>
            <a:cxnLst/>
            <a:rect l="l" t="t" r="r" b="b"/>
            <a:pathLst>
              <a:path w="1645920" h="1645920">
                <a:moveTo>
                  <a:pt x="0" y="1645920"/>
                </a:moveTo>
                <a:lnTo>
                  <a:pt x="1645920" y="1645920"/>
                </a:lnTo>
                <a:lnTo>
                  <a:pt x="1645920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8" name="S08-label160"/>
          <p:cNvSpPr txBox="1"/>
          <p:nvPr/>
        </p:nvSpPr>
        <p:spPr>
          <a:xfrm>
            <a:off x="2938018" y="3571748"/>
            <a:ext cx="60706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 m</a:t>
            </a:r>
            <a:endParaRPr lang="ko-KR" sz="2200" dirty="0"/>
          </a:p>
        </p:txBody>
      </p:sp>
      <p:sp>
        <p:nvSpPr>
          <p:cNvPr id="9" name="S08-label162"/>
          <p:cNvSpPr txBox="1"/>
          <p:nvPr/>
        </p:nvSpPr>
        <p:spPr>
          <a:xfrm>
            <a:off x="1771396" y="2497328"/>
            <a:ext cx="60706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 m</a:t>
            </a:r>
            <a:endParaRPr lang="ko-KR" sz="2200" dirty="0"/>
          </a:p>
        </p:txBody>
      </p:sp>
      <p:sp>
        <p:nvSpPr>
          <p:cNvPr id="10" name="S08-label164"/>
          <p:cNvSpPr txBox="1"/>
          <p:nvPr/>
        </p:nvSpPr>
        <p:spPr>
          <a:xfrm>
            <a:off x="2879344" y="2497328"/>
            <a:ext cx="724408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 m²</a:t>
            </a:r>
            <a:endParaRPr lang="ko-KR" sz="2200" dirty="0"/>
          </a:p>
        </p:txBody>
      </p:sp>
      <p:sp>
        <p:nvSpPr>
          <p:cNvPr id="11" name="S08-label165"/>
          <p:cNvSpPr txBox="1"/>
          <p:nvPr/>
        </p:nvSpPr>
        <p:spPr>
          <a:xfrm>
            <a:off x="548640" y="4091178"/>
            <a:ext cx="5385816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변이 1 m</a:t>
            </a:r>
            <a:endParaRPr lang="ko-KR" sz="2200" dirty="0"/>
          </a:p>
        </p:txBody>
      </p:sp>
      <p:sp>
        <p:nvSpPr>
          <p:cNvPr id="12" name="S08-figure166" descr="한 변이 1 km인 정사각형(실제 크기 아님), 가운데에 1 km²"/>
          <p:cNvSpPr/>
          <p:nvPr/>
        </p:nvSpPr>
        <p:spPr>
          <a:xfrm>
            <a:off x="8124444" y="1848993"/>
            <a:ext cx="1645920" cy="1645920"/>
          </a:xfrm>
          <a:custGeom>
            <a:avLst/>
            <a:gdLst/>
            <a:ahLst/>
            <a:cxnLst/>
            <a:rect l="l" t="t" r="r" b="b"/>
            <a:pathLst>
              <a:path w="1645920" h="1645920">
                <a:moveTo>
                  <a:pt x="0" y="1645920"/>
                </a:moveTo>
                <a:lnTo>
                  <a:pt x="1645920" y="1645920"/>
                </a:lnTo>
                <a:lnTo>
                  <a:pt x="1645920" y="0"/>
                </a:lnTo>
                <a:lnTo>
                  <a:pt x="0" y="0"/>
                </a:lnTo>
                <a:close/>
              </a:path>
            </a:pathLst>
          </a:custGeom>
          <a:solidFill>
            <a:srgbClr val="E6ECF4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3" name="S08-label168"/>
          <p:cNvSpPr txBox="1"/>
          <p:nvPr/>
        </p:nvSpPr>
        <p:spPr>
          <a:xfrm>
            <a:off x="8565642" y="3571748"/>
            <a:ext cx="763524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 km</a:t>
            </a:r>
            <a:endParaRPr lang="ko-KR" sz="2200" dirty="0"/>
          </a:p>
        </p:txBody>
      </p:sp>
      <p:sp>
        <p:nvSpPr>
          <p:cNvPr id="14" name="S08-label170"/>
          <p:cNvSpPr txBox="1"/>
          <p:nvPr/>
        </p:nvSpPr>
        <p:spPr>
          <a:xfrm>
            <a:off x="7312406" y="2497328"/>
            <a:ext cx="763524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 km</a:t>
            </a:r>
            <a:endParaRPr lang="ko-KR" sz="2200" dirty="0"/>
          </a:p>
        </p:txBody>
      </p:sp>
      <p:sp>
        <p:nvSpPr>
          <p:cNvPr id="15" name="S08-label172"/>
          <p:cNvSpPr txBox="1"/>
          <p:nvPr/>
        </p:nvSpPr>
        <p:spPr>
          <a:xfrm>
            <a:off x="8506968" y="2497328"/>
            <a:ext cx="88087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 km²</a:t>
            </a:r>
            <a:endParaRPr lang="ko-KR" sz="2200" dirty="0"/>
          </a:p>
        </p:txBody>
      </p:sp>
      <p:sp>
        <p:nvSpPr>
          <p:cNvPr id="16" name="S08-label173"/>
          <p:cNvSpPr txBox="1"/>
          <p:nvPr/>
        </p:nvSpPr>
        <p:spPr>
          <a:xfrm>
            <a:off x="6254496" y="4091178"/>
            <a:ext cx="5385816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변이 1 km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</a:t>
            </a:r>
            <a:endParaRPr lang="ko-KR" sz="4000" dirty="0"/>
          </a:p>
        </p:txBody>
      </p:sp>
      <p:sp>
        <p:nvSpPr>
          <p:cNvPr id="3" name="S09-card174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9-cardtext175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 m²는 몇 cm²일까요?</a:t>
            </a:r>
            <a:endParaRPr lang="ko-KR" sz="2800" dirty="0"/>
          </a:p>
        </p:txBody>
      </p:sp>
      <p:sp>
        <p:nvSpPr>
          <p:cNvPr id="5" name="S09-card17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9-cardtext17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 왜 그럴까요?</a:t>
            </a:r>
            <a:endParaRPr lang="ko-KR" sz="2800" dirty="0"/>
          </a:p>
        </p:txBody>
      </p:sp>
      <p:sp>
        <p:nvSpPr>
          <p:cNvPr id="7" name="S09-chip178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토끼: 100 cm²</a:t>
            </a:r>
            <a:endParaRPr lang="ko-KR" sz="2200" dirty="0"/>
          </a:p>
        </p:txBody>
      </p:sp>
      <p:sp>
        <p:nvSpPr>
          <p:cNvPr id="8" name="S09-text179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“1 m가 100 cm니까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 m²는 100 cm²예요.”</a:t>
            </a:r>
            <a:endParaRPr lang="ko-KR" sz="2800" dirty="0"/>
          </a:p>
        </p:txBody>
      </p:sp>
      <p:sp>
        <p:nvSpPr>
          <p:cNvPr id="9" name="S09-chip180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곰: 10000 cm²</a:t>
            </a:r>
            <a:endParaRPr lang="ko-KR" sz="2200" dirty="0"/>
          </a:p>
        </p:txBody>
      </p:sp>
      <p:sp>
        <p:nvSpPr>
          <p:cNvPr id="10" name="S09-text181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“가로 100 cm, 세로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100 cm니까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100 × 100이에요.”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넓은 곳의 넓이</a:t>
            </a:r>
            <a:endParaRPr lang="ko-KR" sz="4000" dirty="0"/>
          </a:p>
        </p:txBody>
      </p:sp>
      <p:sp>
        <p:nvSpPr>
          <p:cNvPr id="3" name="S10-card18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4" name="S10-cardtext18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 m² = 10000 cm², 1 km² = 1000000 m²</a:t>
            </a:r>
            <a:endParaRPr lang="ko-KR" sz="2800" dirty="0"/>
          </a:p>
        </p:txBody>
      </p:sp>
      <p:sp>
        <p:nvSpPr>
          <p:cNvPr id="5" name="S10-chip184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6" name="S10-text185"/>
          <p:cNvSpPr txBox="1"/>
          <p:nvPr/>
        </p:nvSpPr>
        <p:spPr>
          <a:xfrm>
            <a:off x="1344168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가로 8 m, 세로 5 m인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방의 넓이</a:t>
            </a:r>
            <a:endParaRPr lang="ko-KR" sz="2800" dirty="0"/>
          </a:p>
        </p:txBody>
      </p:sp>
      <p:sp>
        <p:nvSpPr>
          <p:cNvPr id="7" name="S10-chip186"/>
          <p:cNvSpPr txBox="1"/>
          <p:nvPr/>
        </p:nvSpPr>
        <p:spPr>
          <a:xfrm>
            <a:off x="6277356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8" name="S10-text187"/>
          <p:cNvSpPr txBox="1"/>
          <p:nvPr/>
        </p:nvSpPr>
        <p:spPr>
          <a:xfrm>
            <a:off x="7072884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 m² = □ cm²</a:t>
            </a:r>
            <a:endParaRPr lang="ko-KR" sz="2800" dirty="0"/>
          </a:p>
        </p:txBody>
      </p:sp>
      <p:sp>
        <p:nvSpPr>
          <p:cNvPr id="9" name="S10-chip188"/>
          <p:cNvSpPr txBox="1"/>
          <p:nvPr/>
        </p:nvSpPr>
        <p:spPr>
          <a:xfrm>
            <a:off x="548640" y="37627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10" name="S10-text189"/>
          <p:cNvSpPr txBox="1"/>
          <p:nvPr/>
        </p:nvSpPr>
        <p:spPr>
          <a:xfrm>
            <a:off x="1344168" y="33147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가로 3 km, 세로 2 km인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땅의 넓이</a:t>
            </a:r>
            <a:endParaRPr lang="ko-KR" sz="2800" dirty="0"/>
          </a:p>
        </p:txBody>
      </p:sp>
      <p:sp>
        <p:nvSpPr>
          <p:cNvPr id="11" name="S10-chip190"/>
          <p:cNvSpPr txBox="1"/>
          <p:nvPr/>
        </p:nvSpPr>
        <p:spPr>
          <a:xfrm>
            <a:off x="6277356" y="37627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200" dirty="0"/>
          </a:p>
        </p:txBody>
      </p:sp>
      <p:sp>
        <p:nvSpPr>
          <p:cNvPr id="12" name="S10-text191"/>
          <p:cNvSpPr txBox="1"/>
          <p:nvPr/>
        </p:nvSpPr>
        <p:spPr>
          <a:xfrm>
            <a:off x="7072884" y="33147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 km² = □ m²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11-chip192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4" name="S11-text193"/>
          <p:cNvSpPr txBox="1"/>
          <p:nvPr/>
        </p:nvSpPr>
        <p:spPr>
          <a:xfrm>
            <a:off x="1344168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가로 9 cm, 세로 6 cm인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직사각형의 넓이</a:t>
            </a:r>
            <a:endParaRPr lang="ko-KR" sz="2800" dirty="0"/>
          </a:p>
        </p:txBody>
      </p:sp>
      <p:sp>
        <p:nvSpPr>
          <p:cNvPr id="5" name="S11-chip194"/>
          <p:cNvSpPr txBox="1"/>
          <p:nvPr/>
        </p:nvSpPr>
        <p:spPr>
          <a:xfrm>
            <a:off x="6277356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6" name="S11-text195"/>
          <p:cNvSpPr txBox="1"/>
          <p:nvPr/>
        </p:nvSpPr>
        <p:spPr>
          <a:xfrm>
            <a:off x="7072884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변이 7 m인 정사각형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모양 텃밭의 넓이</a:t>
            </a:r>
            <a:endParaRPr lang="ko-KR" sz="2800" dirty="0"/>
          </a:p>
        </p:txBody>
      </p:sp>
      <p:sp>
        <p:nvSpPr>
          <p:cNvPr id="7" name="S11-chip196"/>
          <p:cNvSpPr txBox="1"/>
          <p:nvPr/>
        </p:nvSpPr>
        <p:spPr>
          <a:xfrm>
            <a:off x="548640" y="43113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8" name="S11-text197"/>
          <p:cNvSpPr txBox="1"/>
          <p:nvPr/>
        </p:nvSpPr>
        <p:spPr>
          <a:xfrm>
            <a:off x="1344168" y="38633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 m² = □ cm²</a:t>
            </a:r>
            <a:endParaRPr lang="ko-KR" sz="2800" dirty="0"/>
          </a:p>
        </p:txBody>
      </p:sp>
      <p:sp>
        <p:nvSpPr>
          <p:cNvPr id="9" name="S11-chip198"/>
          <p:cNvSpPr txBox="1"/>
          <p:nvPr/>
        </p:nvSpPr>
        <p:spPr>
          <a:xfrm>
            <a:off x="6277356" y="43113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200" dirty="0"/>
          </a:p>
        </p:txBody>
      </p:sp>
      <p:sp>
        <p:nvSpPr>
          <p:cNvPr id="10" name="S11-text199"/>
          <p:cNvSpPr txBox="1"/>
          <p:nvPr/>
        </p:nvSpPr>
        <p:spPr>
          <a:xfrm>
            <a:off x="7072884" y="38633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넓이가 72 cm², 세로가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 cm인 직사각형의 가로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 정답</a:t>
            </a:r>
            <a:endParaRPr lang="ko-KR" sz="4000" dirty="0"/>
          </a:p>
        </p:txBody>
      </p:sp>
      <p:sp>
        <p:nvSpPr>
          <p:cNvPr id="3" name="S12-card200"/>
          <p:cNvSpPr/>
          <p:nvPr/>
        </p:nvSpPr>
        <p:spPr>
          <a:xfrm>
            <a:off x="548640" y="5021072"/>
            <a:ext cx="11091672" cy="1196848"/>
          </a:xfrm>
          <a:prstGeom prst="roundRect">
            <a:avLst>
              <a:gd name="adj" fmla="val 916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2-cardtext201"/>
          <p:cNvSpPr txBox="1"/>
          <p:nvPr/>
        </p:nvSpPr>
        <p:spPr>
          <a:xfrm>
            <a:off x="822960" y="5158232"/>
            <a:ext cx="10543032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틀리면 둘레(길이)와 넓이(칸 수)를 모눈에서 다시 구별하게 하세요.</a:t>
            </a:r>
            <a:endParaRPr lang="ko-KR" sz="2800" dirty="0"/>
          </a:p>
        </p:txBody>
      </p:sp>
      <p:sp>
        <p:nvSpPr>
          <p:cNvPr id="5" name="S12-chip202"/>
          <p:cNvSpPr txBox="1"/>
          <p:nvPr/>
        </p:nvSpPr>
        <p:spPr>
          <a:xfrm>
            <a:off x="548640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정답</a:t>
            </a:r>
            <a:endParaRPr lang="ko-KR" sz="2200" dirty="0"/>
          </a:p>
        </p:txBody>
      </p:sp>
      <p:sp>
        <p:nvSpPr>
          <p:cNvPr id="6" name="S12-text203"/>
          <p:cNvSpPr txBox="1"/>
          <p:nvPr/>
        </p:nvSpPr>
        <p:spPr>
          <a:xfrm>
            <a:off x="548640" y="2057400"/>
            <a:ext cx="2681478" cy="5808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54 cm²</a:t>
            </a:r>
            <a:endParaRPr lang="ko-KR" sz="2800" dirty="0"/>
          </a:p>
        </p:txBody>
      </p:sp>
      <p:sp>
        <p:nvSpPr>
          <p:cNvPr id="7" name="S12-text204"/>
          <p:cNvSpPr txBox="1"/>
          <p:nvPr/>
        </p:nvSpPr>
        <p:spPr>
          <a:xfrm>
            <a:off x="3367278" y="2057400"/>
            <a:ext cx="2544318" cy="5808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 × 6</a:t>
            </a:r>
            <a:endParaRPr lang="ko-KR" sz="2200" dirty="0"/>
          </a:p>
        </p:txBody>
      </p:sp>
      <p:sp>
        <p:nvSpPr>
          <p:cNvPr id="8" name="S12-text205"/>
          <p:cNvSpPr txBox="1"/>
          <p:nvPr/>
        </p:nvSpPr>
        <p:spPr>
          <a:xfrm>
            <a:off x="548640" y="2775458"/>
            <a:ext cx="2681478" cy="5808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49 m²</a:t>
            </a:r>
            <a:endParaRPr lang="ko-KR" sz="2800" dirty="0"/>
          </a:p>
        </p:txBody>
      </p:sp>
      <p:sp>
        <p:nvSpPr>
          <p:cNvPr id="9" name="S12-text206"/>
          <p:cNvSpPr txBox="1"/>
          <p:nvPr/>
        </p:nvSpPr>
        <p:spPr>
          <a:xfrm>
            <a:off x="3367278" y="2775458"/>
            <a:ext cx="2544318" cy="5808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 × 7</a:t>
            </a:r>
            <a:endParaRPr lang="ko-KR" sz="2200" dirty="0"/>
          </a:p>
        </p:txBody>
      </p:sp>
      <p:sp>
        <p:nvSpPr>
          <p:cNvPr id="10" name="S12-text207"/>
          <p:cNvSpPr txBox="1"/>
          <p:nvPr/>
        </p:nvSpPr>
        <p:spPr>
          <a:xfrm>
            <a:off x="548640" y="3493516"/>
            <a:ext cx="2681478" cy="5808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60000</a:t>
            </a:r>
            <a:endParaRPr lang="ko-KR" sz="2800" dirty="0"/>
          </a:p>
        </p:txBody>
      </p:sp>
      <p:sp>
        <p:nvSpPr>
          <p:cNvPr id="11" name="S12-text208"/>
          <p:cNvSpPr txBox="1"/>
          <p:nvPr/>
        </p:nvSpPr>
        <p:spPr>
          <a:xfrm>
            <a:off x="3367278" y="3493516"/>
            <a:ext cx="2544318" cy="5808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10000 × 6</a:t>
            </a:r>
            <a:endParaRPr lang="ko-KR" sz="2200" dirty="0"/>
          </a:p>
        </p:txBody>
      </p:sp>
      <p:sp>
        <p:nvSpPr>
          <p:cNvPr id="12" name="S12-text209"/>
          <p:cNvSpPr txBox="1"/>
          <p:nvPr/>
        </p:nvSpPr>
        <p:spPr>
          <a:xfrm>
            <a:off x="548640" y="4211574"/>
            <a:ext cx="2681478" cy="5808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9 cm</a:t>
            </a:r>
            <a:endParaRPr lang="ko-KR" sz="2800" dirty="0"/>
          </a:p>
        </p:txBody>
      </p:sp>
      <p:sp>
        <p:nvSpPr>
          <p:cNvPr id="13" name="S12-text210"/>
          <p:cNvSpPr txBox="1"/>
          <p:nvPr/>
        </p:nvSpPr>
        <p:spPr>
          <a:xfrm>
            <a:off x="3367278" y="4211574"/>
            <a:ext cx="2544318" cy="5808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72 ÷ 8</a:t>
            </a:r>
            <a:endParaRPr lang="ko-KR" sz="2200" dirty="0"/>
          </a:p>
        </p:txBody>
      </p:sp>
      <p:sp>
        <p:nvSpPr>
          <p:cNvPr id="14" name="S12-chip211"/>
          <p:cNvSpPr txBox="1"/>
          <p:nvPr/>
        </p:nvSpPr>
        <p:spPr>
          <a:xfrm>
            <a:off x="6277356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흔한 실수</a:t>
            </a:r>
            <a:endParaRPr lang="ko-KR" sz="2200" dirty="0"/>
          </a:p>
        </p:txBody>
      </p:sp>
      <p:sp>
        <p:nvSpPr>
          <p:cNvPr id="15" name="S12-text212"/>
          <p:cNvSpPr txBox="1"/>
          <p:nvPr/>
        </p:nvSpPr>
        <p:spPr>
          <a:xfrm>
            <a:off x="6277356" y="20574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28 m</a:t>
            </a:r>
            <a:endParaRPr lang="ko-KR" sz="2800" dirty="0"/>
          </a:p>
        </p:txBody>
      </p:sp>
      <p:sp>
        <p:nvSpPr>
          <p:cNvPr id="16" name="S12-text213"/>
          <p:cNvSpPr txBox="1"/>
          <p:nvPr/>
        </p:nvSpPr>
        <p:spPr>
          <a:xfrm>
            <a:off x="9095994" y="20574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둘레를 구함</a:t>
            </a:r>
            <a:endParaRPr lang="ko-KR" sz="2200" dirty="0"/>
          </a:p>
        </p:txBody>
      </p:sp>
      <p:sp>
        <p:nvSpPr>
          <p:cNvPr id="17" name="S12-text214"/>
          <p:cNvSpPr txBox="1"/>
          <p:nvPr/>
        </p:nvSpPr>
        <p:spPr>
          <a:xfrm>
            <a:off x="6277356" y="34290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600</a:t>
            </a:r>
            <a:endParaRPr lang="ko-KR" sz="2800" dirty="0"/>
          </a:p>
        </p:txBody>
      </p:sp>
      <p:sp>
        <p:nvSpPr>
          <p:cNvPr id="18" name="S12-text215"/>
          <p:cNvSpPr txBox="1"/>
          <p:nvPr/>
        </p:nvSpPr>
        <p:spPr>
          <a:xfrm>
            <a:off x="9095994" y="34290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 m²를 100 cm²로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마무리 확인</a:t>
            </a:r>
            <a:endParaRPr lang="ko-KR" sz="4000" dirty="0"/>
          </a:p>
        </p:txBody>
      </p:sp>
      <p:sp>
        <p:nvSpPr>
          <p:cNvPr id="3" name="S13-chip216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4" name="S13-text217"/>
          <p:cNvSpPr txBox="1"/>
          <p:nvPr/>
        </p:nvSpPr>
        <p:spPr>
          <a:xfrm>
            <a:off x="1344168" y="13258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가로 200 cm, 세로 300 cm인 돗자리의 넓이는 몇 m²?</a:t>
            </a:r>
            <a:endParaRPr lang="ko-KR" sz="2800" dirty="0"/>
          </a:p>
        </p:txBody>
      </p:sp>
      <p:sp>
        <p:nvSpPr>
          <p:cNvPr id="5" name="S13-chip218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6" name="S13-text219"/>
          <p:cNvSpPr txBox="1"/>
          <p:nvPr/>
        </p:nvSpPr>
        <p:spPr>
          <a:xfrm>
            <a:off x="1344168" y="301752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넓이가 36 cm²인 정사각형의 한 변은?</a:t>
            </a:r>
            <a:endParaRPr lang="ko-KR" sz="2800" dirty="0"/>
          </a:p>
        </p:txBody>
      </p:sp>
      <p:sp>
        <p:nvSpPr>
          <p:cNvPr id="7" name="S13-chip220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8" name="S13-text221"/>
          <p:cNvSpPr txBox="1"/>
          <p:nvPr/>
        </p:nvSpPr>
        <p:spPr>
          <a:xfrm>
            <a:off x="1344168" y="470916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운동장의 넓이에 알맞은 단위는? (cm², m², km²)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4-card222"/>
          <p:cNvSpPr/>
          <p:nvPr/>
        </p:nvSpPr>
        <p:spPr>
          <a:xfrm>
            <a:off x="548640" y="1325880"/>
            <a:ext cx="11091672" cy="1196848"/>
          </a:xfrm>
          <a:prstGeom prst="roundRect">
            <a:avLst>
              <a:gd name="adj" fmla="val 9168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4-cardtext223"/>
          <p:cNvSpPr txBox="1"/>
          <p:nvPr/>
        </p:nvSpPr>
        <p:spPr>
          <a:xfrm>
            <a:off x="822960" y="1463040"/>
            <a:ext cx="10543032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(직사각형의 넓이) = (가로) × (세로)예요. 1 m² = 10000 cm², 1 km² = 1000000 m²예요.</a:t>
            </a:r>
            <a:endParaRPr lang="ko-KR" sz="2800" dirty="0"/>
          </a:p>
        </p:txBody>
      </p:sp>
      <p:sp>
        <p:nvSpPr>
          <p:cNvPr id="5" name="S14-chip224"/>
          <p:cNvSpPr txBox="1"/>
          <p:nvPr/>
        </p:nvSpPr>
        <p:spPr>
          <a:xfrm>
            <a:off x="548640" y="2751328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넓이에는 cm², m², km²</a:t>
            </a:r>
            <a:endParaRPr lang="ko-KR" sz="2200" dirty="0"/>
          </a:p>
        </p:txBody>
      </p:sp>
      <p:sp>
        <p:nvSpPr>
          <p:cNvPr id="6" name="S14-chip225"/>
          <p:cNvSpPr txBox="1"/>
          <p:nvPr/>
        </p:nvSpPr>
        <p:spPr>
          <a:xfrm>
            <a:off x="6208776" y="2751328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en-US" altLang="ko-KR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1 m² = 100 cm²</a:t>
            </a:r>
            <a:endParaRPr lang="ko-KR" sz="2200" dirty="0"/>
          </a:p>
        </p:txBody>
      </p:sp>
      <p:sp>
        <p:nvSpPr>
          <p:cNvPr id="7" name="S14-text226"/>
          <p:cNvSpPr txBox="1"/>
          <p:nvPr/>
        </p:nvSpPr>
        <p:spPr>
          <a:xfrm>
            <a:off x="548640" y="3574288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200" dirty="0"/>
          </a:p>
        </p:txBody>
      </p:sp>
      <p:sp>
        <p:nvSpPr>
          <p:cNvPr id="8" name="S14-text227"/>
          <p:cNvSpPr txBox="1"/>
          <p:nvPr/>
        </p:nvSpPr>
        <p:spPr>
          <a:xfrm>
            <a:off x="548640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가로 6 cm, 세로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 cm인 직사각형의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넓이는?</a:t>
            </a:r>
            <a:endParaRPr lang="ko-KR" sz="2200" dirty="0"/>
          </a:p>
        </p:txBody>
      </p:sp>
      <p:sp>
        <p:nvSpPr>
          <p:cNvPr id="9" name="S14-text228"/>
          <p:cNvSpPr txBox="1"/>
          <p:nvPr/>
        </p:nvSpPr>
        <p:spPr>
          <a:xfrm>
            <a:off x="4322064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한 변이 9 m인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정사각형의 넓이는?</a:t>
            </a:r>
            <a:endParaRPr lang="ko-KR" sz="2200" dirty="0"/>
          </a:p>
        </p:txBody>
      </p:sp>
      <p:sp>
        <p:nvSpPr>
          <p:cNvPr id="10" name="S14-text229"/>
          <p:cNvSpPr txBox="1"/>
          <p:nvPr/>
        </p:nvSpPr>
        <p:spPr>
          <a:xfrm>
            <a:off x="8095488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3 m²는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cm²?</a:t>
            </a:r>
            <a:endParaRPr lang="ko-KR" sz="2200" dirty="0"/>
          </a:p>
        </p:txBody>
      </p:sp>
      <p:sp>
        <p:nvSpPr>
          <p:cNvPr id="11" name="S14-text230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평행사변형과 삼각형의 넓이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길이의 단위</a:t>
            </a:r>
            <a:endParaRPr lang="ko-KR" sz="4000" dirty="0"/>
          </a:p>
        </p:txBody>
      </p:sp>
      <p:sp>
        <p:nvSpPr>
          <p:cNvPr id="3" name="S15-card231"/>
          <p:cNvSpPr/>
          <p:nvPr/>
        </p:nvSpPr>
        <p:spPr>
          <a:xfrm>
            <a:off x="548640" y="5037836"/>
            <a:ext cx="11091672" cy="1180084"/>
          </a:xfrm>
          <a:prstGeom prst="roundRect">
            <a:avLst>
              <a:gd name="adj" fmla="val 9298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15-cardtext232"/>
          <p:cNvSpPr txBox="1"/>
          <p:nvPr/>
        </p:nvSpPr>
        <p:spPr>
          <a:xfrm>
            <a:off x="822960" y="5174996"/>
            <a:ext cx="10543032" cy="9057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넓이도 같은 방법으로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en-US" altLang="ko-KR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 m² = 100 × 100(cm²), 1 km² = 1000 × 1000(m²)</a:t>
            </a:r>
            <a:endParaRPr lang="ko-KR" sz="2800" dirty="0"/>
          </a:p>
        </p:txBody>
      </p:sp>
      <p:graphicFrame>
        <p:nvGraphicFramePr>
          <p:cNvPr id="16" name="S15-table23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293876" y="2042414"/>
          <a:ext cx="960120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2400300"/>
                <a:gridCol w="5280660"/>
              </a:tblGrid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길이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같은 길이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기억하기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 cm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 mm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자의 작은 눈금 10칸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 m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100 cm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양팔을 벌린 길이쯤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 km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1000 m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걸어서 15분쯤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초5 수학 직사각형의 넓이</dc:title>
  <dc:subject>KR22-G05-MAT-AREA-L01</dc:subject>
  <dc:creator>education-ppt</dc:creator>
  <cp:lastModifiedBy>education-ppt</cp:lastModifiedBy>
  <cp:revision>1</cp:revision>
  <dcterms:created xsi:type="dcterms:W3CDTF">2026-10-26T09:12:09Z</dcterms:created>
  <dcterms:modified xsi:type="dcterms:W3CDTF">2026-10-26T09:12:09Z</dcterms:modified>
</cp:coreProperties>
</file>