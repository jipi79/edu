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979407a-88e3-7b8c-4fa0-b87bd233dc81}">
          <p14:sldIdLst>
            <p14:sldId id="256"/>
            <p14:sldId id="257"/>
          </p14:sldIdLst>
        </p14:section>
        <p14:section name="개념" id="{0e20ae4c-d83c-5e31-4a6c-27469c497578}">
          <p14:sldIdLst>
            <p14:sldId id="258"/>
            <p14:sldId id="259"/>
            <p14:sldId id="260"/>
            <p14:sldId id="263"/>
          </p14:sldIdLst>
        </p14:section>
        <p14:section name="연습" id="{bb63c5e0-2875-eb43-64f2-8b2a5d125c71}">
          <p14:sldIdLst>
            <p14:sldId id="261"/>
            <p14:sldId id="262"/>
            <p14:sldId id="264"/>
            <p14:sldId id="265"/>
          </p14:sldIdLst>
        </p14:section>
        <p14:section name="개념" id="{d99d2d8d-a4c8-ee9e-2d28-7cbf8dd11105}">
          <p14:sldIdLst/>
        </p14:section>
        <p14:section name="연습" id="{02aedece-d7b3-39d8-b39d-769c91e7382a}">
          <p14:sldIdLst/>
        </p14:section>
        <p14:section name="확인" id="{57dc8019-7ced-c8b1-50e6-655b846b6c4f}">
          <p14:sldIdLst>
            <p14:sldId id="266"/>
            <p14:sldId id="267"/>
            <p14:sldId id="268"/>
          </p14:sldIdLst>
        </p14:section>
        <p14:section name="정리" id="{634fac5d-1c73-3b6b-2430-27a976d204a4}">
          <p14:sldIdLst>
            <p14:sldId id="269"/>
          </p14:sldIdLst>
        </p14:section>
        <p14:section name="보충" id="{c3b966f4-4d34-f76f-26dd-bc43efd6b14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둘레(길이)와 다른 ‘넓은 정도’를 재는 방법이 궁금하게 합니다.
시간: 약 2분
이렇게 말해 보세요
- “지난 시간에는 도형의 둘레, 즉 길이를 쟀지? 오늘은 도형이 얼마나 넓은지를 재 볼 거야.”
- “오른쪽 직사각형은 얼마나 넓을까? 무엇으로 재면 좋을까?”
예상 답
- “칸을 세면 돼요.” “12칸이에요.”
막히면
- 답을 확인하지 않고 넘어갑니다. S03에서 넓이의 단위를 배웁니다.
주의
- 오늘은 자, 모눈종이(또는 활동지), 신문지(1 m² 만들기, 있으면)를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확인(둘레, 곱셈, 길이 단위)]
목적: 지난 차시(둘레), 곱셈구구, 길이 단위(3학년 1 m = 100 cm, 1 km = 1000 m)를 기억하는지 확인합니다. 넓이 단위를 바꿀 때 모두 쓰입니다.
시간: 약 3분
이렇게 말해 보세요
- “①은 둘레야. 어떻게 구했지? ②는 곱셈이야. ③, ④는 길이 단위야.”
정답
- ① 16 cm ((5 + 3) × 2)
- ② 48
- ③ 100 cm
- ④ 1000 m
막히면
- ③, ④가 흔들리면 S15(보충)를 먼저 합니다. ①이 흔들리면 계획의 앞 차시 ‘다각형의 둘레’를, 직사각형의 뜻이 흔들리면 3학년 ‘직각과 직사각형·정사각형’을 먼저 다시 합니다.
주의
- ①에서 5 × 3 = 15라고 하면 둘레와 넓이를 섞은 것입니다. 오늘 S07에서 둘의 차이를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넓이의 단위 1 cm²]
목적: 넓이를 나타낼 때 한 변이 1 cm인 정사각형의 넓이 1 cm²(1 제곱센티미터)를 단위로 쓴다는 것을 압니다.
시간: 약 3분
이렇게 말해 보세요
- “한 변이 1 cm인 정사각형의 넓이를 1 cm²라고 쓰고 ‘1 제곱센티미터’라고 읽어.”
- “오른쪽 직사각형에는 1 cm²가 몇 개 있어? 그러면 넓이는?”
예상 답
- “12개요. 12 cm²예요.”
막히면
- 모눈종이에서 한 칸(1 cm²)을 오려 직사각형 위에 몇 번 놓이는지 세어 봅니다.
주의
- cm²의 ²는 작게 위에 씁니다. 공책에 1 cm²를 세 번 따라 써 보게 합니다.
- 두 그림은 같은 축척입니다. 왼쪽 정사각형 한 개가 오른쪽 모눈 한 칸과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직사각형의 넓이 구하는 방법]
목적: 1 cm²의 개수를 곱셈으로 세어 직사각형의 넓이를 (가로) × (세로)로 구할 수 있음을 압니다.
시간: 약 3분
이렇게 말해 보세요
- “가로 5 cm에는 1 cm²가 몇 개 들어가? 세로 3 cm는 몇 줄이야?”
- “하나하나 세지 않고 곱셈으로 셀 수 있지? 그래서 가로 × 세로가 넓이야.”
예상 답
- “5개씩 3줄이에요. 5 × 3 = 15, 15 cm²예요.”
막히면
- 한 줄의 칸에 1~5를 쓰고, 줄마다 5씩 뛰어 세게 합니다(5, 10, 15).
주의
- 답의 단위가 cm가 아니라 cm²라는 것을 꼭 확인합니다(M2).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정사각형의 넓이]
목적: 정사각형은 가로와 세로가 같으므로 넓이를 (한 변) × (한 변)으로 구한다는 것을 압니다.
시간: 약 2분
이렇게 말해 보세요
- “정사각형도 직사각형이지? 가로와 세로가 모두 4 cm야. 넓이는?”
예상 답
- “4 × 4 = 16, 16 cm²예요.”
막히면
- 모눈 칸을 4개씩 4줄로 세어 확인합니다.
주의
- 4 × 4를 4 × 2나 4 + 4로 하는 실수가 있습니다. 모눈의 줄 수를 함께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연습(직사각형·정사각형의 넓이)]
목적: 도움을 받으며 직사각형·정사각형의 넓이를 구하고, 넓이를 알 때 모르는 변의 길이를 구합니다.
시간: 약 3분
이렇게 말해 보세요
- “①은 어떤 식이야? ②는 정사각형이니까?”
- “③은 거꾸로야. 8 × □ = 40에서 □는?”
정답
- ① 28 cm² (7 × 4)
- ② 36 cm² (6 × 6)
- ③ 5 cm (40 ÷ 8)
막히면
- 모눈종이에 직접 그려 칸을 세어 봅니다.
- ③은 곱셈구구 8단을 외워 40이 나오는 곳을 찾게 합니다.
주의
- ③의 답은 길이이므로 cm입니다. 넓이(cm²)와 길이(cm)의 단위를 구별하게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비교(둘레가 같으면 넓이도 같다)]
목적: 둘레가 같아도 넓이는 다를 수 있음을 그림으로 확인합니다(M1).
시간: 약 2분
이렇게 말해 보세요
- “가와 나의 둘레가 모두 12 cm인지 확인해 볼까? 그러면 넓이도 같을까?”
예상 답
- “아니요. 가는 5칸, 나는 9칸이에요.”
정답
- 가 5 cm² (5 × 1), 나 9 cm² (3 × 3). 둘레는 같아도 넓이는 나가 더 넓습니다.
- 둘레: 가 (5 + 1) × 2 = 12(cm), 나 3 × 4 = 12(cm)
막히면
- 끈 12 cm로 두 도형을 만들어 보고, 안쪽 칸을 세어 비교합니다.
주의
- 둘레는 ‘가장자리의 길이’, 넓이는 ‘안쪽이 얼마나 넓은지’라고 정리해 줍니다. 두 그림은 같은 축척입니다.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넓이의 단위 1 m²와 1 km²]
목적: 한 변이 1 m인 정사각형의 넓이 1 m²(1 제곱미터), 한 변이 1 km인 정사각형의 넓이 1 km²(1 제곱킬로미터)를 알고, 1 m² = 10000 cm², 1 km² = 1000000 m²임을 압니다.
시간: 약 4분
이렇게 말해 보세요
- “교실이나 운동장처럼 넓은 곳을 cm²로 나타내면 수가 너무 커져. 그래서 한 변이 1 m인 정사각형의 넓이 1 m²를 써. ‘1 제곱미터’라고 읽어.”
- “1 m는 100 cm지? 한 변이 1 m인 정사각형에는 1 cm²가 한 줄에 100개, 100줄 있어. 모두 몇 개야?”
- “도시처럼 아주 넓은 땅은 한 변이 1 km인 정사각형의 넓이 1 km²를 써. 1 km는 1000 m니까 1 km²는 몇 m²일까?”
예상 답
- “100 × 100 = 10000이에요.” “1000 × 1000 = 1000000이에요.”
막히면
- 신문지를 이어 붙여 한 변이 1 m인 정사각형을 만들어 바닥에 놓아 봅니다(있으면). 그 위에 공책 몇 권이 들어가는지 어림해 봅니다.
- 10000은 ‘만’, 1000000은 ‘백만’이라고 읽어 줍니다.
주의
- 두 그림은 크기를 줄여 그렸습니다(실제 크기가 아님). 1 km²는 1 m²보다 훨씬 넓습니다.
- 1 m² = 100 cm²라고 하는 실수가 가장 많습니다. 다음 장에서 바로 다룹니다(M3).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비교(1 m² = 100 cm²)]
목적: 길이의 관계(1 m = 100 cm)를 넓이에 그대로 쓰는 오개념(M3)을 바로잡습니다.
시간: 약 2분
이렇게 말해 보세요
- “토끼와 곰 중 누가 맞았을까? 한 변이 1 m인 정사각형에 1 cm²가 몇 개 들어갈까?”
예상 답
- “곰이요. 가로도 100개, 세로도 100줄이에요.”
정답
- 곰이 맞습니다. 가로 100 cm, 세로 100 cm인 정사각형이므로 100 × 100 = 10000(cm²)입니다.
- 100 cm²는 가로 100 cm, 세로 1 cm인 가는 띠의 넓이일 뿐입니다.
막히면
- 작은 예로 바꿉니다. “한 변이 1 cm인 정사각형은 1 mm²가 몇 개일까? 10 × 10 = 100개.” 같은 이치로 100 × 100을 보여 줍니다(mm²는 참고로만).
주의
- 같은 이유로 1 km²도 1000 m²가 아니라 1000 × 1000 = 1000000(m²)입니다.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연습(m²·km²와 단위 바꾸기)]
목적: 도움을 받으며 넓은 곳의 넓이를 m², km²로 구하고, 넓이의 단위를 바꿉니다.
시간: 약 3분
이렇게 말해 보세요
- “①, ③은 가로 × 세로야. 답에 어떤 단위를 붙여야 할까?”
- “②는 1 m²가 10000 cm²니까 2 m²는?”
정답
- ① 40 m² (8 × 5)
- ② 20000 (10000 × 2)
- ③ 6 km² (3 × 2)
- ④ 4000000 (1000000 × 4)
막히면
- ②, ④는 1 m²(1 km²)가 몇 cm²(m²)인지 먼저 말하게 한 뒤 2배, 4배를 합니다.
- 0의 개수를 손가락으로 짚으며 셉니다.
주의
- ①을 40 m, ③을 6 km처럼 길이 단위로 쓰면 바로잡습니다(M2).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직사각형·정사각형의 넓이를 알맞은 단위로 구하고, 넓이의 단위를 바꾸며, 넓이로 변의 길이를 구하는지 확인합니다.
시간: 약 5분
이렇게 말해 보세요
- “이번에는 혼자 해 볼래? 답에 단위도 꼭 붙여 줘.”
정답
- ① 54 cm² (9 × 6)
- ② 49 m² (7 × 7)
- ③ 60000 (10000 × 6)
- ④ 9 cm (72 ÷ 8)
막히면
- 바로 알려 주지 말고 “1 m²는 몇 cm²였지?”, “가로 × 8 = 72에서 가로는?”처럼 한 단계만 묻습니다.
- 도움을 받아 해결했다면 기록표에 ‘도움’으로 표시합니다.
주의
- ③을 600이라고 하면 1 m² = 100 cm²로 생각한 것입니다(S09).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단위까지 같은지도 보자.”
정답
- ① 54 cm² ② 49 m² ③ 60000 ④ 9 cm
막히면
- ②를 28 m로 답했다면 둘레를 구한 것입니다. S07을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확인(단위를 바꾸어 넓이 구하기)]
목적: 처음 보는 문제에서 길이 단위를 바꾸어 넓이를 구하고, 넓이로 한 변을 구하며, 알맞은 단위를 고르는지 확인합니다.
시간: 약 3분
이렇게 말해 보세요
- “①은 먼저 cm를 m로 바꾸면 쉬워. 200 cm는 몇 m야? 어떻게 구했는지 말해 줘.”
정답
- ① 6 m² (2 m × 3 m → 2 × 3 = 6, 또는 200 × 300 = 60000(cm²) = 6 m²)
- ② 6 cm (6 × 6 = 36)
- ③ m²
막히면
- ①은 “200 cm = 2 m, 300 cm = 3 m”를 먼저 쓰게 합니다.
주의
- 방법까지 말하면 목표 A, B를 이룬 것입니다. ①을 60000 m²라고 하면 단위를 바꾸지 않은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“직사각형의 넓이는 어떻게 구했지? 1 m²는 몇 cm²였어?”
예상 답
- “가로 곱하기 세로요.” “10000 cm²요.”
정답
- ① 30 cm²
- ② 81 m²
- ③ 30000 cm²
막히면
- S04, S08, S09를 다시 보여 줍니다.
주의
- 다음 시간에는 오늘 배운 직사각형의 넓이로 평행사변형과 삼각형의 넓이를 구합니다.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보충(길이 단위)]
목적: S02에서 길이 단위가 흔들리면, 넓이 단위를 바꾸기 전에 길이 단위의 관계를 다시 익힙니다.
시간: 약 5분
이렇게 말해 보세요
- “자의 1 cm 안에 작은 눈금이 몇 칸 있지? 줄자로 1 m를 펼쳐 볼까? 몇 cm까지야?”
- “1 km는 1000 m야. 학교까지 걸어가는 거리를 떠올려 볼까?”
정답
- 1 cm = 10 mm, 1 m = 100 cm, 1 km = 1000 m
막히면
- 줄자로 1 m를 직접 재어 바닥에 테이프로 표시합니다.
주의
- 보충으로도 어려우면 계획의 앞 차시 ‘다각형의 둘레’와 3학년 ‘직각과 직사각형·정사각형’을 먼저 다시 합니다. 길이 단위가 흔들리면 3학년 길이 단원(mm, km)도 확인합니다.
- ‘걸어서 15분쯤’은 어림입니다. 아이의 걸음에 따라 다를 수 있습니다.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직사각형의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직사각형의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직사각형의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어떻게 재고 나타낼까요?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543544" y="1275588"/>
            <a:ext cx="2206752" cy="1655064"/>
          </a:xfrm>
          <a:custGeom>
            <a:avLst/>
            <a:gdLst/>
            <a:ahLst/>
            <a:cxnLst/>
            <a:rect l="l" t="t" r="r" b="b"/>
            <a:pathLst>
              <a:path w="2206752" h="1655064">
                <a:moveTo>
                  <a:pt x="0" y="1655064"/>
                </a:moveTo>
                <a:lnTo>
                  <a:pt x="2206752" y="1655064"/>
                </a:lnTo>
                <a:lnTo>
                  <a:pt x="2206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1-mark3"/>
          <p:cNvSpPr/>
          <p:nvPr/>
        </p:nvSpPr>
        <p:spPr>
          <a:xfrm flipV="1">
            <a:off x="7991856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V="1">
            <a:off x="8543544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9095232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964692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10198608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10750296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11301984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7991856" y="3482340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7991856" y="2930652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7991856" y="2378964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7991856" y="1827276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7991856" y="1275588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7991856" y="723900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1-figure16" descr="모눈 위에 색칠한 가로 4칸, 세로 3칸 직사각형"/>
          <p:cNvSpPr/>
          <p:nvPr/>
        </p:nvSpPr>
        <p:spPr>
          <a:xfrm>
            <a:off x="8543544" y="1275588"/>
            <a:ext cx="2206752" cy="1655064"/>
          </a:xfrm>
          <a:custGeom>
            <a:avLst/>
            <a:gdLst/>
            <a:ahLst/>
            <a:cxnLst/>
            <a:rect l="l" t="t" r="r" b="b"/>
            <a:pathLst>
              <a:path w="2206752" h="1655064">
                <a:moveTo>
                  <a:pt x="0" y="1655064"/>
                </a:moveTo>
                <a:lnTo>
                  <a:pt x="2206752" y="1655064"/>
                </a:lnTo>
                <a:lnTo>
                  <a:pt x="2206752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1-card1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1" name="S01-cardtext1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cm²로 직사각형의 넓이를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m²와 km²를 알고 단위를 바꿔요.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5 cm, 세로 3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둘레는?</a:t>
            </a:r>
            <a:endParaRPr lang="ko-KR" sz="2800" dirty="0"/>
          </a:p>
        </p:txBody>
      </p:sp>
      <p:sp>
        <p:nvSpPr>
          <p:cNvPr id="5" name="S02-chip2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2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8 = □</a:t>
            </a:r>
            <a:endParaRPr lang="ko-KR" sz="3200" dirty="0"/>
          </a:p>
        </p:txBody>
      </p:sp>
      <p:sp>
        <p:nvSpPr>
          <p:cNvPr id="7" name="S02-chip2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m는 몇 cm?</a:t>
            </a:r>
            <a:endParaRPr lang="ko-KR" sz="2800" dirty="0"/>
          </a:p>
        </p:txBody>
      </p:sp>
      <p:sp>
        <p:nvSpPr>
          <p:cNvPr id="9" name="S02-chip2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02-text2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km는 몇 m?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넓이의 단위 1 cm²</a:t>
            </a:r>
            <a:endParaRPr lang="ko-KR" sz="4000" dirty="0"/>
          </a:p>
        </p:txBody>
      </p:sp>
      <p:sp>
        <p:nvSpPr>
          <p:cNvPr id="3" name="S03-card27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28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1 cm인 정사각형의 넓이, ‘1 제곱센티미터’라고 읽어요.</a:t>
            </a:r>
            <a:endParaRPr lang="ko-KR" sz="2800" dirty="0"/>
          </a:p>
        </p:txBody>
      </p:sp>
      <p:sp>
        <p:nvSpPr>
          <p:cNvPr id="5" name="S03-card29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30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나타내기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cm²가 몇 개인지 세어요.</a:t>
            </a:r>
            <a:endParaRPr lang="ko-KR" sz="2800" dirty="0"/>
          </a:p>
        </p:txBody>
      </p:sp>
      <p:sp>
        <p:nvSpPr>
          <p:cNvPr id="7" name="S03-figure31" descr="한 변이 1 cm인 정사각형"/>
          <p:cNvSpPr/>
          <p:nvPr/>
        </p:nvSpPr>
        <p:spPr>
          <a:xfrm>
            <a:off x="3012948" y="24433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457200"/>
                </a:moveTo>
                <a:lnTo>
                  <a:pt x="457200" y="457200"/>
                </a:lnTo>
                <a:lnTo>
                  <a:pt x="457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label33"/>
          <p:cNvSpPr txBox="1"/>
          <p:nvPr/>
        </p:nvSpPr>
        <p:spPr>
          <a:xfrm>
            <a:off x="2859786" y="247446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</a:t>
            </a:r>
            <a:endParaRPr lang="ko-KR" sz="2200" dirty="0"/>
          </a:p>
        </p:txBody>
      </p:sp>
      <p:sp>
        <p:nvSpPr>
          <p:cNvPr id="9" name="S03-label35"/>
          <p:cNvSpPr txBox="1"/>
          <p:nvPr/>
        </p:nvSpPr>
        <p:spPr>
          <a:xfrm>
            <a:off x="3061462" y="249732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</a:t>
            </a:r>
            <a:endParaRPr lang="ko-KR" sz="2200" dirty="0"/>
          </a:p>
        </p:txBody>
      </p:sp>
      <p:sp>
        <p:nvSpPr>
          <p:cNvPr id="10" name="S03-label36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</a:t>
            </a:r>
            <a:endParaRPr lang="ko-KR" sz="2200" dirty="0"/>
          </a:p>
        </p:txBody>
      </p:sp>
      <p:sp>
        <p:nvSpPr>
          <p:cNvPr id="11" name="S03-mark37"/>
          <p:cNvSpPr/>
          <p:nvPr/>
        </p:nvSpPr>
        <p:spPr>
          <a:xfrm>
            <a:off x="8033004" y="1986153"/>
            <a:ext cx="1828800" cy="1371600"/>
          </a:xfrm>
          <a:custGeom>
            <a:avLst/>
            <a:gdLst/>
            <a:ahLst/>
            <a:cxnLst/>
            <a:rect l="l" t="t" r="r" b="b"/>
            <a:pathLst>
              <a:path w="1828800" h="1371600">
                <a:moveTo>
                  <a:pt x="0" y="1371600"/>
                </a:moveTo>
                <a:lnTo>
                  <a:pt x="1828800" y="13716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2" name="S03-mark38"/>
          <p:cNvSpPr/>
          <p:nvPr/>
        </p:nvSpPr>
        <p:spPr>
          <a:xfrm flipV="1">
            <a:off x="7575804" y="1528953"/>
            <a:ext cx="0" cy="22860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39"/>
          <p:cNvSpPr/>
          <p:nvPr/>
        </p:nvSpPr>
        <p:spPr>
          <a:xfrm flipV="1">
            <a:off x="8033004" y="1528953"/>
            <a:ext cx="0" cy="22860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40"/>
          <p:cNvSpPr/>
          <p:nvPr/>
        </p:nvSpPr>
        <p:spPr>
          <a:xfrm flipV="1">
            <a:off x="8490204" y="1528953"/>
            <a:ext cx="0" cy="22860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41"/>
          <p:cNvSpPr/>
          <p:nvPr/>
        </p:nvSpPr>
        <p:spPr>
          <a:xfrm flipV="1">
            <a:off x="8947404" y="1528953"/>
            <a:ext cx="0" cy="22860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42"/>
          <p:cNvSpPr/>
          <p:nvPr/>
        </p:nvSpPr>
        <p:spPr>
          <a:xfrm flipV="1">
            <a:off x="9404604" y="1528953"/>
            <a:ext cx="0" cy="22860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43"/>
          <p:cNvSpPr/>
          <p:nvPr/>
        </p:nvSpPr>
        <p:spPr>
          <a:xfrm flipV="1">
            <a:off x="9861804" y="1528953"/>
            <a:ext cx="0" cy="22860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44"/>
          <p:cNvSpPr/>
          <p:nvPr/>
        </p:nvSpPr>
        <p:spPr>
          <a:xfrm flipV="1">
            <a:off x="10319004" y="1528953"/>
            <a:ext cx="0" cy="22860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45"/>
          <p:cNvSpPr/>
          <p:nvPr/>
        </p:nvSpPr>
        <p:spPr>
          <a:xfrm>
            <a:off x="7575804" y="3814953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46"/>
          <p:cNvSpPr/>
          <p:nvPr/>
        </p:nvSpPr>
        <p:spPr>
          <a:xfrm>
            <a:off x="7575804" y="3357753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3-mark47"/>
          <p:cNvSpPr/>
          <p:nvPr/>
        </p:nvSpPr>
        <p:spPr>
          <a:xfrm>
            <a:off x="7575804" y="2900553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3-mark48"/>
          <p:cNvSpPr/>
          <p:nvPr/>
        </p:nvSpPr>
        <p:spPr>
          <a:xfrm>
            <a:off x="7575804" y="2443353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3-mark49"/>
          <p:cNvSpPr/>
          <p:nvPr/>
        </p:nvSpPr>
        <p:spPr>
          <a:xfrm>
            <a:off x="7575804" y="1986153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3-mark50"/>
          <p:cNvSpPr/>
          <p:nvPr/>
        </p:nvSpPr>
        <p:spPr>
          <a:xfrm>
            <a:off x="7575804" y="1528953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3-figure51" descr="모눈 한 칸이 1 cm²인 모눈 위의 가로 4칸, 세로 3칸 직사각형(12칸)"/>
          <p:cNvSpPr/>
          <p:nvPr/>
        </p:nvSpPr>
        <p:spPr>
          <a:xfrm>
            <a:off x="8033004" y="1986153"/>
            <a:ext cx="1828800" cy="1371600"/>
          </a:xfrm>
          <a:custGeom>
            <a:avLst/>
            <a:gdLst/>
            <a:ahLst/>
            <a:cxnLst/>
            <a:rect l="l" t="t" r="r" b="b"/>
            <a:pathLst>
              <a:path w="1828800" h="1371600">
                <a:moveTo>
                  <a:pt x="0" y="1371600"/>
                </a:moveTo>
                <a:lnTo>
                  <a:pt x="1828800" y="13716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3-label52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cm²가 12개: 12 cm²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4000" dirty="0"/>
          </a:p>
        </p:txBody>
      </p:sp>
      <p:sp>
        <p:nvSpPr>
          <p:cNvPr id="3" name="S04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(직사각형의 넓이) = (가로) × (세로)</a:t>
            </a:r>
            <a:endParaRPr lang="ko-KR" sz="2800" dirty="0"/>
          </a:p>
        </p:txBody>
      </p:sp>
      <p:sp>
        <p:nvSpPr>
          <p:cNvPr id="5" name="S04-mark55"/>
          <p:cNvSpPr/>
          <p:nvPr/>
        </p:nvSpPr>
        <p:spPr>
          <a:xfrm>
            <a:off x="7909011" y="2400300"/>
            <a:ext cx="2743200" cy="1645920"/>
          </a:xfrm>
          <a:custGeom>
            <a:avLst/>
            <a:gdLst/>
            <a:ahLst/>
            <a:cxnLst/>
            <a:rect l="l" t="t" r="r" b="b"/>
            <a:pathLst>
              <a:path w="2743200" h="1645920">
                <a:moveTo>
                  <a:pt x="0" y="1645920"/>
                </a:moveTo>
                <a:lnTo>
                  <a:pt x="2743200" y="164592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4-mark56"/>
          <p:cNvSpPr/>
          <p:nvPr/>
        </p:nvSpPr>
        <p:spPr>
          <a:xfrm flipV="1">
            <a:off x="7360371" y="185166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4-mark57"/>
          <p:cNvSpPr/>
          <p:nvPr/>
        </p:nvSpPr>
        <p:spPr>
          <a:xfrm flipV="1">
            <a:off x="7909011" y="185166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4-mark58"/>
          <p:cNvSpPr/>
          <p:nvPr/>
        </p:nvSpPr>
        <p:spPr>
          <a:xfrm flipV="1">
            <a:off x="8457651" y="185166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59"/>
          <p:cNvSpPr/>
          <p:nvPr/>
        </p:nvSpPr>
        <p:spPr>
          <a:xfrm flipV="1">
            <a:off x="9006291" y="185166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60"/>
          <p:cNvSpPr/>
          <p:nvPr/>
        </p:nvSpPr>
        <p:spPr>
          <a:xfrm flipV="1">
            <a:off x="9554931" y="185166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61"/>
          <p:cNvSpPr/>
          <p:nvPr/>
        </p:nvSpPr>
        <p:spPr>
          <a:xfrm flipV="1">
            <a:off x="10103571" y="185166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62"/>
          <p:cNvSpPr/>
          <p:nvPr/>
        </p:nvSpPr>
        <p:spPr>
          <a:xfrm flipV="1">
            <a:off x="10652211" y="185166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63"/>
          <p:cNvSpPr/>
          <p:nvPr/>
        </p:nvSpPr>
        <p:spPr>
          <a:xfrm flipV="1">
            <a:off x="11200851" y="185166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64"/>
          <p:cNvSpPr/>
          <p:nvPr/>
        </p:nvSpPr>
        <p:spPr>
          <a:xfrm>
            <a:off x="7360371" y="4594860"/>
            <a:ext cx="38404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65"/>
          <p:cNvSpPr/>
          <p:nvPr/>
        </p:nvSpPr>
        <p:spPr>
          <a:xfrm>
            <a:off x="7360371" y="4046220"/>
            <a:ext cx="38404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66"/>
          <p:cNvSpPr/>
          <p:nvPr/>
        </p:nvSpPr>
        <p:spPr>
          <a:xfrm>
            <a:off x="7360371" y="3497580"/>
            <a:ext cx="38404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67"/>
          <p:cNvSpPr/>
          <p:nvPr/>
        </p:nvSpPr>
        <p:spPr>
          <a:xfrm>
            <a:off x="7360371" y="2948940"/>
            <a:ext cx="38404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68"/>
          <p:cNvSpPr/>
          <p:nvPr/>
        </p:nvSpPr>
        <p:spPr>
          <a:xfrm>
            <a:off x="7360371" y="2400300"/>
            <a:ext cx="38404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69"/>
          <p:cNvSpPr/>
          <p:nvPr/>
        </p:nvSpPr>
        <p:spPr>
          <a:xfrm>
            <a:off x="7360371" y="1851660"/>
            <a:ext cx="38404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figure70" descr="모눈 위의 가로 5 cm, 세로 3 cm 직사각형(1 cm² 15칸)"/>
          <p:cNvSpPr/>
          <p:nvPr/>
        </p:nvSpPr>
        <p:spPr>
          <a:xfrm>
            <a:off x="7909011" y="2400300"/>
            <a:ext cx="2743200" cy="1645920"/>
          </a:xfrm>
          <a:custGeom>
            <a:avLst/>
            <a:gdLst/>
            <a:ahLst/>
            <a:cxnLst/>
            <a:rect l="l" t="t" r="r" b="b"/>
            <a:pathLst>
              <a:path w="2743200" h="1645920">
                <a:moveTo>
                  <a:pt x="0" y="1645920"/>
                </a:moveTo>
                <a:lnTo>
                  <a:pt x="2743200" y="164592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4-label72"/>
          <p:cNvSpPr txBox="1"/>
          <p:nvPr/>
        </p:nvSpPr>
        <p:spPr>
          <a:xfrm>
            <a:off x="8898849" y="412305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2" name="S04-label74"/>
          <p:cNvSpPr txBox="1"/>
          <p:nvPr/>
        </p:nvSpPr>
        <p:spPr>
          <a:xfrm>
            <a:off x="7096973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23" name="S04-stepno75"/>
          <p:cNvSpPr txBox="1"/>
          <p:nvPr/>
        </p:nvSpPr>
        <p:spPr>
          <a:xfrm>
            <a:off x="548640" y="2076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4" name="S04-text76"/>
          <p:cNvSpPr txBox="1"/>
          <p:nvPr/>
        </p:nvSpPr>
        <p:spPr>
          <a:xfrm>
            <a:off x="1325880" y="20761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cm²가 한 줄에 5개씩 있어요.</a:t>
            </a:r>
            <a:endParaRPr lang="ko-KR" sz="2800" dirty="0"/>
          </a:p>
        </p:txBody>
      </p:sp>
      <p:sp>
        <p:nvSpPr>
          <p:cNvPr id="25" name="S04-stepno77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6" name="S04-text78"/>
          <p:cNvSpPr txBox="1"/>
          <p:nvPr/>
        </p:nvSpPr>
        <p:spPr>
          <a:xfrm>
            <a:off x="1325880" y="2789428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3줄이니까 5 × 3 = 15(개)예요.</a:t>
            </a:r>
            <a:endParaRPr lang="ko-KR" sz="2800" dirty="0"/>
          </a:p>
        </p:txBody>
      </p:sp>
      <p:sp>
        <p:nvSpPr>
          <p:cNvPr id="27" name="S04-stepno79"/>
          <p:cNvSpPr txBox="1"/>
          <p:nvPr/>
        </p:nvSpPr>
        <p:spPr>
          <a:xfrm>
            <a:off x="548640" y="3821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8" name="S04-text80"/>
          <p:cNvSpPr txBox="1"/>
          <p:nvPr/>
        </p:nvSpPr>
        <p:spPr>
          <a:xfrm>
            <a:off x="1325880" y="38216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15 cm²예요.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넓이</a:t>
            </a:r>
            <a:endParaRPr lang="ko-KR" sz="4000" dirty="0"/>
          </a:p>
        </p:txBody>
      </p:sp>
      <p:sp>
        <p:nvSpPr>
          <p:cNvPr id="3" name="S05-mark81"/>
          <p:cNvSpPr/>
          <p:nvPr/>
        </p:nvSpPr>
        <p:spPr>
          <a:xfrm>
            <a:off x="2132838" y="2674620"/>
            <a:ext cx="2194560" cy="2194560"/>
          </a:xfrm>
          <a:custGeom>
            <a:avLst/>
            <a:gdLst/>
            <a:ahLst/>
            <a:cxnLst/>
            <a:rect l="l" t="t" r="r" b="b"/>
            <a:pathLst>
              <a:path w="2194560" h="2194560">
                <a:moveTo>
                  <a:pt x="0" y="2194560"/>
                </a:moveTo>
                <a:lnTo>
                  <a:pt x="2194560" y="2194560"/>
                </a:lnTo>
                <a:lnTo>
                  <a:pt x="2194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5-mark82"/>
          <p:cNvSpPr/>
          <p:nvPr/>
        </p:nvSpPr>
        <p:spPr>
          <a:xfrm flipV="1">
            <a:off x="158419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5-mark83"/>
          <p:cNvSpPr/>
          <p:nvPr/>
        </p:nvSpPr>
        <p:spPr>
          <a:xfrm flipV="1">
            <a:off x="213283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5-mark84"/>
          <p:cNvSpPr/>
          <p:nvPr/>
        </p:nvSpPr>
        <p:spPr>
          <a:xfrm flipV="1">
            <a:off x="268147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85"/>
          <p:cNvSpPr/>
          <p:nvPr/>
        </p:nvSpPr>
        <p:spPr>
          <a:xfrm flipV="1">
            <a:off x="323011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86"/>
          <p:cNvSpPr/>
          <p:nvPr/>
        </p:nvSpPr>
        <p:spPr>
          <a:xfrm flipV="1">
            <a:off x="377875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87"/>
          <p:cNvSpPr/>
          <p:nvPr/>
        </p:nvSpPr>
        <p:spPr>
          <a:xfrm flipV="1">
            <a:off x="432739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88"/>
          <p:cNvSpPr/>
          <p:nvPr/>
        </p:nvSpPr>
        <p:spPr>
          <a:xfrm flipV="1">
            <a:off x="487603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89"/>
          <p:cNvSpPr/>
          <p:nvPr/>
        </p:nvSpPr>
        <p:spPr>
          <a:xfrm>
            <a:off x="1584198" y="541782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90"/>
          <p:cNvSpPr/>
          <p:nvPr/>
        </p:nvSpPr>
        <p:spPr>
          <a:xfrm>
            <a:off x="1584198" y="486918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91"/>
          <p:cNvSpPr/>
          <p:nvPr/>
        </p:nvSpPr>
        <p:spPr>
          <a:xfrm>
            <a:off x="1584198" y="432054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92"/>
          <p:cNvSpPr/>
          <p:nvPr/>
        </p:nvSpPr>
        <p:spPr>
          <a:xfrm>
            <a:off x="1584198" y="377190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93"/>
          <p:cNvSpPr/>
          <p:nvPr/>
        </p:nvSpPr>
        <p:spPr>
          <a:xfrm>
            <a:off x="1584198" y="322326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94"/>
          <p:cNvSpPr/>
          <p:nvPr/>
        </p:nvSpPr>
        <p:spPr>
          <a:xfrm>
            <a:off x="1584198" y="267462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95"/>
          <p:cNvSpPr/>
          <p:nvPr/>
        </p:nvSpPr>
        <p:spPr>
          <a:xfrm>
            <a:off x="1584198" y="212598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figure96" descr="모눈 위의 한 변이 4 cm인 정사각형(1 cm² 16칸)"/>
          <p:cNvSpPr/>
          <p:nvPr/>
        </p:nvSpPr>
        <p:spPr>
          <a:xfrm>
            <a:off x="2132838" y="2674620"/>
            <a:ext cx="2194560" cy="2194560"/>
          </a:xfrm>
          <a:custGeom>
            <a:avLst/>
            <a:gdLst/>
            <a:ahLst/>
            <a:cxnLst/>
            <a:rect l="l" t="t" r="r" b="b"/>
            <a:pathLst>
              <a:path w="2194560" h="2194560">
                <a:moveTo>
                  <a:pt x="0" y="2194560"/>
                </a:moveTo>
                <a:lnTo>
                  <a:pt x="2194560" y="2194560"/>
                </a:lnTo>
                <a:lnTo>
                  <a:pt x="219456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5-label98"/>
          <p:cNvSpPr txBox="1"/>
          <p:nvPr/>
        </p:nvSpPr>
        <p:spPr>
          <a:xfrm>
            <a:off x="2848356" y="49460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0" name="S05-label100"/>
          <p:cNvSpPr txBox="1"/>
          <p:nvPr/>
        </p:nvSpPr>
        <p:spPr>
          <a:xfrm>
            <a:off x="1320800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1" name="S05-card101"/>
          <p:cNvSpPr/>
          <p:nvPr/>
        </p:nvSpPr>
        <p:spPr>
          <a:xfrm>
            <a:off x="6277356" y="2477516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05-cardtext102"/>
          <p:cNvSpPr txBox="1"/>
          <p:nvPr/>
        </p:nvSpPr>
        <p:spPr>
          <a:xfrm>
            <a:off x="6551676" y="2614676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(한 변) × (한 변)</a:t>
            </a:r>
            <a:endParaRPr lang="ko-KR" sz="2800" dirty="0"/>
          </a:p>
        </p:txBody>
      </p:sp>
      <p:sp>
        <p:nvSpPr>
          <p:cNvPr id="23" name="S05-card103"/>
          <p:cNvSpPr/>
          <p:nvPr/>
        </p:nvSpPr>
        <p:spPr>
          <a:xfrm>
            <a:off x="6277356" y="388620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05-cardtext104"/>
          <p:cNvSpPr txBox="1"/>
          <p:nvPr/>
        </p:nvSpPr>
        <p:spPr>
          <a:xfrm>
            <a:off x="6551676" y="402336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4 = 16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16 cm²예요.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구하기</a:t>
            </a:r>
            <a:endParaRPr lang="ko-KR" sz="4000" dirty="0"/>
          </a:p>
        </p:txBody>
      </p:sp>
      <p:sp>
        <p:nvSpPr>
          <p:cNvPr id="3" name="S06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답에 넓이의 단위 cm²를 붙여요.</a:t>
            </a:r>
            <a:endParaRPr lang="ko-KR" sz="2800" dirty="0"/>
          </a:p>
        </p:txBody>
      </p:sp>
      <p:sp>
        <p:nvSpPr>
          <p:cNvPr id="5" name="S06-chip10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6-text108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7 cm, 세로 4 cm인 직사각형의 넓이</a:t>
            </a:r>
            <a:endParaRPr lang="ko-KR" sz="2800" dirty="0"/>
          </a:p>
        </p:txBody>
      </p:sp>
      <p:sp>
        <p:nvSpPr>
          <p:cNvPr id="7" name="S06-chip10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6-text110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6 cm인 정사각형의 넓이</a:t>
            </a:r>
            <a:endParaRPr lang="ko-KR" sz="2800" dirty="0"/>
          </a:p>
        </p:txBody>
      </p:sp>
      <p:sp>
        <p:nvSpPr>
          <p:cNvPr id="9" name="S06-chip11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6-text112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40 cm²이고 가로가 8 cm인 직사각형의 세로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같으면 넓이도 같을까요?</a:t>
            </a:r>
            <a:endParaRPr lang="ko-KR" sz="4000" dirty="0"/>
          </a:p>
        </p:txBody>
      </p:sp>
      <p:sp>
        <p:nvSpPr>
          <p:cNvPr id="3" name="S07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도형의 둘레는 모두 12 cm예요.</a:t>
            </a:r>
            <a:endParaRPr lang="ko-KR" sz="2800" dirty="0"/>
          </a:p>
        </p:txBody>
      </p:sp>
      <p:sp>
        <p:nvSpPr>
          <p:cNvPr id="4" name="S07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넓이도 같을까요? 1 cm²를 세어 비교해요.</a:t>
            </a:r>
            <a:endParaRPr lang="ko-KR" sz="2800" dirty="0"/>
          </a:p>
        </p:txBody>
      </p:sp>
      <p:sp>
        <p:nvSpPr>
          <p:cNvPr id="6" name="S07-mark116"/>
          <p:cNvSpPr/>
          <p:nvPr/>
        </p:nvSpPr>
        <p:spPr>
          <a:xfrm>
            <a:off x="1984248" y="3089529"/>
            <a:ext cx="2514600" cy="502920"/>
          </a:xfrm>
          <a:custGeom>
            <a:avLst/>
            <a:gdLst/>
            <a:ahLst/>
            <a:cxnLst/>
            <a:rect l="l" t="t" r="r" b="b"/>
            <a:pathLst>
              <a:path w="2514600" h="502920">
                <a:moveTo>
                  <a:pt x="0" y="502920"/>
                </a:moveTo>
                <a:lnTo>
                  <a:pt x="2514600" y="50292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7-mark117"/>
          <p:cNvSpPr/>
          <p:nvPr/>
        </p:nvSpPr>
        <p:spPr>
          <a:xfrm flipV="1">
            <a:off x="1481328" y="2586609"/>
            <a:ext cx="0" cy="150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118"/>
          <p:cNvSpPr/>
          <p:nvPr/>
        </p:nvSpPr>
        <p:spPr>
          <a:xfrm flipV="1">
            <a:off x="1984248" y="2586609"/>
            <a:ext cx="0" cy="150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119"/>
          <p:cNvSpPr/>
          <p:nvPr/>
        </p:nvSpPr>
        <p:spPr>
          <a:xfrm flipV="1">
            <a:off x="2487168" y="2586609"/>
            <a:ext cx="0" cy="150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120"/>
          <p:cNvSpPr/>
          <p:nvPr/>
        </p:nvSpPr>
        <p:spPr>
          <a:xfrm flipV="1">
            <a:off x="2990088" y="2586609"/>
            <a:ext cx="0" cy="150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121"/>
          <p:cNvSpPr/>
          <p:nvPr/>
        </p:nvSpPr>
        <p:spPr>
          <a:xfrm flipV="1">
            <a:off x="3493008" y="2586609"/>
            <a:ext cx="0" cy="150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122"/>
          <p:cNvSpPr/>
          <p:nvPr/>
        </p:nvSpPr>
        <p:spPr>
          <a:xfrm flipV="1">
            <a:off x="3995928" y="2586609"/>
            <a:ext cx="0" cy="150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123"/>
          <p:cNvSpPr/>
          <p:nvPr/>
        </p:nvSpPr>
        <p:spPr>
          <a:xfrm flipV="1">
            <a:off x="4498848" y="2586609"/>
            <a:ext cx="0" cy="150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124"/>
          <p:cNvSpPr/>
          <p:nvPr/>
        </p:nvSpPr>
        <p:spPr>
          <a:xfrm flipV="1">
            <a:off x="5001768" y="2586609"/>
            <a:ext cx="0" cy="15087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125"/>
          <p:cNvSpPr/>
          <p:nvPr/>
        </p:nvSpPr>
        <p:spPr>
          <a:xfrm>
            <a:off x="1481328" y="4095369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126"/>
          <p:cNvSpPr/>
          <p:nvPr/>
        </p:nvSpPr>
        <p:spPr>
          <a:xfrm>
            <a:off x="1481328" y="3592449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127"/>
          <p:cNvSpPr/>
          <p:nvPr/>
        </p:nvSpPr>
        <p:spPr>
          <a:xfrm>
            <a:off x="1481328" y="3089529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128"/>
          <p:cNvSpPr/>
          <p:nvPr/>
        </p:nvSpPr>
        <p:spPr>
          <a:xfrm>
            <a:off x="1481328" y="2586609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figure129" descr="가로 5 cm, 세로 1 cm인 직사각형"/>
          <p:cNvSpPr/>
          <p:nvPr/>
        </p:nvSpPr>
        <p:spPr>
          <a:xfrm>
            <a:off x="1984248" y="3089529"/>
            <a:ext cx="2514600" cy="502920"/>
          </a:xfrm>
          <a:custGeom>
            <a:avLst/>
            <a:gdLst/>
            <a:ahLst/>
            <a:cxnLst/>
            <a:rect l="l" t="t" r="r" b="b"/>
            <a:pathLst>
              <a:path w="2514600" h="502920">
                <a:moveTo>
                  <a:pt x="0" y="502920"/>
                </a:moveTo>
                <a:lnTo>
                  <a:pt x="2514600" y="50292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7-label131"/>
          <p:cNvSpPr txBox="1"/>
          <p:nvPr/>
        </p:nvSpPr>
        <p:spPr>
          <a:xfrm>
            <a:off x="2859786" y="31663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1" name="S07-label133"/>
          <p:cNvSpPr txBox="1"/>
          <p:nvPr/>
        </p:nvSpPr>
        <p:spPr>
          <a:xfrm>
            <a:off x="4547362" y="31663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</a:t>
            </a:r>
            <a:endParaRPr lang="ko-KR" sz="2200" dirty="0"/>
          </a:p>
        </p:txBody>
      </p:sp>
      <p:sp>
        <p:nvSpPr>
          <p:cNvPr id="22" name="S07-label134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3" name="S07-mark135"/>
          <p:cNvSpPr/>
          <p:nvPr/>
        </p:nvSpPr>
        <p:spPr>
          <a:xfrm>
            <a:off x="8350987" y="2744572"/>
            <a:ext cx="1192835" cy="1192835"/>
          </a:xfrm>
          <a:custGeom>
            <a:avLst/>
            <a:gdLst/>
            <a:ahLst/>
            <a:cxnLst/>
            <a:rect l="l" t="t" r="r" b="b"/>
            <a:pathLst>
              <a:path w="1192835" h="1192835">
                <a:moveTo>
                  <a:pt x="0" y="1192835"/>
                </a:moveTo>
                <a:lnTo>
                  <a:pt x="1192835" y="1192835"/>
                </a:lnTo>
                <a:lnTo>
                  <a:pt x="119283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4" name="S07-mark136"/>
          <p:cNvSpPr/>
          <p:nvPr/>
        </p:nvSpPr>
        <p:spPr>
          <a:xfrm flipV="1">
            <a:off x="7953375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7-mark137"/>
          <p:cNvSpPr/>
          <p:nvPr/>
        </p:nvSpPr>
        <p:spPr>
          <a:xfrm flipV="1">
            <a:off x="8350987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7-mark138"/>
          <p:cNvSpPr/>
          <p:nvPr/>
        </p:nvSpPr>
        <p:spPr>
          <a:xfrm flipV="1">
            <a:off x="8748598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7-mark139"/>
          <p:cNvSpPr/>
          <p:nvPr/>
        </p:nvSpPr>
        <p:spPr>
          <a:xfrm flipV="1">
            <a:off x="9146210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7-mark140"/>
          <p:cNvSpPr/>
          <p:nvPr/>
        </p:nvSpPr>
        <p:spPr>
          <a:xfrm flipV="1">
            <a:off x="9543821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7-mark141"/>
          <p:cNvSpPr/>
          <p:nvPr/>
        </p:nvSpPr>
        <p:spPr>
          <a:xfrm flipV="1">
            <a:off x="9941433" y="2346960"/>
            <a:ext cx="0" cy="198805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7-mark142"/>
          <p:cNvSpPr/>
          <p:nvPr/>
        </p:nvSpPr>
        <p:spPr>
          <a:xfrm>
            <a:off x="7953375" y="4335018"/>
            <a:ext cx="198805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7-mark143"/>
          <p:cNvSpPr/>
          <p:nvPr/>
        </p:nvSpPr>
        <p:spPr>
          <a:xfrm>
            <a:off x="7953375" y="3937406"/>
            <a:ext cx="198805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7-mark144"/>
          <p:cNvSpPr/>
          <p:nvPr/>
        </p:nvSpPr>
        <p:spPr>
          <a:xfrm>
            <a:off x="7953375" y="3539795"/>
            <a:ext cx="198805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7-mark145"/>
          <p:cNvSpPr/>
          <p:nvPr/>
        </p:nvSpPr>
        <p:spPr>
          <a:xfrm>
            <a:off x="7953375" y="3142183"/>
            <a:ext cx="198805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7-mark146"/>
          <p:cNvSpPr/>
          <p:nvPr/>
        </p:nvSpPr>
        <p:spPr>
          <a:xfrm>
            <a:off x="7953375" y="2744572"/>
            <a:ext cx="198805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7-mark147"/>
          <p:cNvSpPr/>
          <p:nvPr/>
        </p:nvSpPr>
        <p:spPr>
          <a:xfrm>
            <a:off x="7953375" y="2346960"/>
            <a:ext cx="198805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7-figure148" descr="한 변이 3 cm인 정사각형"/>
          <p:cNvSpPr/>
          <p:nvPr/>
        </p:nvSpPr>
        <p:spPr>
          <a:xfrm>
            <a:off x="8350987" y="2744572"/>
            <a:ext cx="1192835" cy="1192835"/>
          </a:xfrm>
          <a:custGeom>
            <a:avLst/>
            <a:gdLst/>
            <a:ahLst/>
            <a:cxnLst/>
            <a:rect l="l" t="t" r="r" b="b"/>
            <a:pathLst>
              <a:path w="1192835" h="1192835">
                <a:moveTo>
                  <a:pt x="0" y="1192835"/>
                </a:moveTo>
                <a:lnTo>
                  <a:pt x="1192835" y="1192835"/>
                </a:lnTo>
                <a:lnTo>
                  <a:pt x="119283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7-label150"/>
          <p:cNvSpPr txBox="1"/>
          <p:nvPr/>
        </p:nvSpPr>
        <p:spPr>
          <a:xfrm>
            <a:off x="8565642" y="401424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8" name="S07-label152"/>
          <p:cNvSpPr txBox="1"/>
          <p:nvPr/>
        </p:nvSpPr>
        <p:spPr>
          <a:xfrm>
            <a:off x="9592335" y="31663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9" name="S07-label153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m²와 1 km²</a:t>
            </a:r>
            <a:endParaRPr lang="ko-KR" sz="4000" dirty="0"/>
          </a:p>
        </p:txBody>
      </p:sp>
      <p:sp>
        <p:nvSpPr>
          <p:cNvPr id="3" name="S08-card154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55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 = 10000 cm²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 = 10000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 m = 100 cm)</a:t>
            </a:r>
            <a:endParaRPr lang="ko-KR" sz="2800" dirty="0"/>
          </a:p>
        </p:txBody>
      </p:sp>
      <p:sp>
        <p:nvSpPr>
          <p:cNvPr id="5" name="S08-card156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157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km² = 1000000 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× 1000 = 1000000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 km = 1000 m)</a:t>
            </a:r>
            <a:endParaRPr lang="ko-KR" sz="2800" dirty="0"/>
          </a:p>
        </p:txBody>
      </p:sp>
      <p:sp>
        <p:nvSpPr>
          <p:cNvPr id="7" name="S08-figure158" descr="한 변이 1 m인 정사각형(실제 크기 아님), 가운데에 1 m²"/>
          <p:cNvSpPr/>
          <p:nvPr/>
        </p:nvSpPr>
        <p:spPr>
          <a:xfrm>
            <a:off x="2418588" y="1848993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645920" y="1645920"/>
                </a:lnTo>
                <a:lnTo>
                  <a:pt x="1645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8-label160"/>
          <p:cNvSpPr txBox="1"/>
          <p:nvPr/>
        </p:nvSpPr>
        <p:spPr>
          <a:xfrm>
            <a:off x="2938018" y="3571748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</a:t>
            </a:r>
            <a:endParaRPr lang="ko-KR" sz="2200" dirty="0"/>
          </a:p>
        </p:txBody>
      </p:sp>
      <p:sp>
        <p:nvSpPr>
          <p:cNvPr id="9" name="S08-label162"/>
          <p:cNvSpPr txBox="1"/>
          <p:nvPr/>
        </p:nvSpPr>
        <p:spPr>
          <a:xfrm>
            <a:off x="1771396" y="2497328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</a:t>
            </a:r>
            <a:endParaRPr lang="ko-KR" sz="2200" dirty="0"/>
          </a:p>
        </p:txBody>
      </p:sp>
      <p:sp>
        <p:nvSpPr>
          <p:cNvPr id="10" name="S08-label164"/>
          <p:cNvSpPr txBox="1"/>
          <p:nvPr/>
        </p:nvSpPr>
        <p:spPr>
          <a:xfrm>
            <a:off x="2879344" y="2497328"/>
            <a:ext cx="724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</a:t>
            </a:r>
            <a:endParaRPr lang="ko-KR" sz="2200" dirty="0"/>
          </a:p>
        </p:txBody>
      </p:sp>
      <p:sp>
        <p:nvSpPr>
          <p:cNvPr id="11" name="S08-label165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1 m</a:t>
            </a:r>
            <a:endParaRPr lang="ko-KR" sz="2200" dirty="0"/>
          </a:p>
        </p:txBody>
      </p:sp>
      <p:sp>
        <p:nvSpPr>
          <p:cNvPr id="12" name="S08-figure166" descr="한 변이 1 km인 정사각형(실제 크기 아님), 가운데에 1 km²"/>
          <p:cNvSpPr/>
          <p:nvPr/>
        </p:nvSpPr>
        <p:spPr>
          <a:xfrm>
            <a:off x="8124444" y="1848993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645920" y="1645920"/>
                </a:lnTo>
                <a:lnTo>
                  <a:pt x="1645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CF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8-label168"/>
          <p:cNvSpPr txBox="1"/>
          <p:nvPr/>
        </p:nvSpPr>
        <p:spPr>
          <a:xfrm>
            <a:off x="8565642" y="357174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200" dirty="0"/>
          </a:p>
        </p:txBody>
      </p:sp>
      <p:sp>
        <p:nvSpPr>
          <p:cNvPr id="14" name="S08-label170"/>
          <p:cNvSpPr txBox="1"/>
          <p:nvPr/>
        </p:nvSpPr>
        <p:spPr>
          <a:xfrm>
            <a:off x="7312406" y="249732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200" dirty="0"/>
          </a:p>
        </p:txBody>
      </p:sp>
      <p:sp>
        <p:nvSpPr>
          <p:cNvPr id="15" name="S08-label172"/>
          <p:cNvSpPr txBox="1"/>
          <p:nvPr/>
        </p:nvSpPr>
        <p:spPr>
          <a:xfrm>
            <a:off x="8506968" y="2497328"/>
            <a:ext cx="88087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km²</a:t>
            </a:r>
            <a:endParaRPr lang="ko-KR" sz="2200" dirty="0"/>
          </a:p>
        </p:txBody>
      </p:sp>
      <p:sp>
        <p:nvSpPr>
          <p:cNvPr id="16" name="S08-label173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1 km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1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m²는 몇 cm²일까요?</a:t>
            </a:r>
            <a:endParaRPr lang="ko-KR" sz="2800" dirty="0"/>
          </a:p>
        </p:txBody>
      </p:sp>
      <p:sp>
        <p:nvSpPr>
          <p:cNvPr id="5" name="S09-card1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7" name="S09-chip17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100 cm²</a:t>
            </a:r>
            <a:endParaRPr lang="ko-KR" sz="2200" dirty="0"/>
          </a:p>
        </p:txBody>
      </p:sp>
      <p:sp>
        <p:nvSpPr>
          <p:cNvPr id="8" name="S09-text17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 m가 100 cm니까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m²는 100 cm²예요.”</a:t>
            </a:r>
            <a:endParaRPr lang="ko-KR" sz="2800" dirty="0"/>
          </a:p>
        </p:txBody>
      </p:sp>
      <p:sp>
        <p:nvSpPr>
          <p:cNvPr id="9" name="S09-chip18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10000 cm²</a:t>
            </a:r>
            <a:endParaRPr lang="ko-KR" sz="2200" dirty="0"/>
          </a:p>
        </p:txBody>
      </p:sp>
      <p:sp>
        <p:nvSpPr>
          <p:cNvPr id="10" name="S09-text18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“가로 100 cm, 세로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 cm니까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100이에요.”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곳의 넓이</a:t>
            </a:r>
            <a:endParaRPr lang="ko-KR" sz="4000" dirty="0"/>
          </a:p>
        </p:txBody>
      </p:sp>
      <p:sp>
        <p:nvSpPr>
          <p:cNvPr id="3" name="S10-card1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 = 10000 cm², 1 km² = 1000000 m²</a:t>
            </a:r>
            <a:endParaRPr lang="ko-KR" sz="2800" dirty="0"/>
          </a:p>
        </p:txBody>
      </p:sp>
      <p:sp>
        <p:nvSpPr>
          <p:cNvPr id="5" name="S10-chip18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18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8 m, 세로 5 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방의 넓이</a:t>
            </a:r>
            <a:endParaRPr lang="ko-KR" sz="2800" dirty="0"/>
          </a:p>
        </p:txBody>
      </p:sp>
      <p:sp>
        <p:nvSpPr>
          <p:cNvPr id="7" name="S10-chip18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18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m² = □ cm²</a:t>
            </a:r>
            <a:endParaRPr lang="ko-KR" sz="2800" dirty="0"/>
          </a:p>
        </p:txBody>
      </p:sp>
      <p:sp>
        <p:nvSpPr>
          <p:cNvPr id="9" name="S10-chip18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0-text18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3 km, 세로 2 km인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땅의 넓이</a:t>
            </a:r>
            <a:endParaRPr lang="ko-KR" sz="2800" dirty="0"/>
          </a:p>
        </p:txBody>
      </p:sp>
      <p:sp>
        <p:nvSpPr>
          <p:cNvPr id="11" name="S10-chip19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10-text19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km² = □ m²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9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9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9 cm, 세로 6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2800" dirty="0"/>
          </a:p>
        </p:txBody>
      </p:sp>
      <p:sp>
        <p:nvSpPr>
          <p:cNvPr id="5" name="S11-chip19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9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7 m인 정사각형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텃밭의 넓이</a:t>
            </a:r>
            <a:endParaRPr lang="ko-KR" sz="2800" dirty="0"/>
          </a:p>
        </p:txBody>
      </p:sp>
      <p:sp>
        <p:nvSpPr>
          <p:cNvPr id="7" name="S11-chip19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97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m² = □ cm²</a:t>
            </a:r>
            <a:endParaRPr lang="ko-KR" sz="2800" dirty="0"/>
          </a:p>
        </p:txBody>
      </p:sp>
      <p:sp>
        <p:nvSpPr>
          <p:cNvPr id="9" name="S11-chip198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99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72 cm², 세로가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cm인 직사각형의 가로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0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0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둘레(길이)와 넓이(칸 수)를 모눈에서 다시 구별하게 하세요.</a:t>
            </a:r>
            <a:endParaRPr lang="ko-KR" sz="2800" dirty="0"/>
          </a:p>
        </p:txBody>
      </p:sp>
      <p:sp>
        <p:nvSpPr>
          <p:cNvPr id="5" name="S12-chip20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203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54 cm²</a:t>
            </a:r>
            <a:endParaRPr lang="ko-KR" sz="2800" dirty="0"/>
          </a:p>
        </p:txBody>
      </p:sp>
      <p:sp>
        <p:nvSpPr>
          <p:cNvPr id="7" name="S12-text204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6</a:t>
            </a:r>
            <a:endParaRPr lang="ko-KR" sz="2200" dirty="0"/>
          </a:p>
        </p:txBody>
      </p:sp>
      <p:sp>
        <p:nvSpPr>
          <p:cNvPr id="8" name="S12-text205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49 m²</a:t>
            </a:r>
            <a:endParaRPr lang="ko-KR" sz="2800" dirty="0"/>
          </a:p>
        </p:txBody>
      </p:sp>
      <p:sp>
        <p:nvSpPr>
          <p:cNvPr id="9" name="S12-text206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7</a:t>
            </a:r>
            <a:endParaRPr lang="ko-KR" sz="2200" dirty="0"/>
          </a:p>
        </p:txBody>
      </p:sp>
      <p:sp>
        <p:nvSpPr>
          <p:cNvPr id="10" name="S12-text207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60000</a:t>
            </a:r>
            <a:endParaRPr lang="ko-KR" sz="2800" dirty="0"/>
          </a:p>
        </p:txBody>
      </p:sp>
      <p:sp>
        <p:nvSpPr>
          <p:cNvPr id="11" name="S12-text208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 × 6</a:t>
            </a:r>
            <a:endParaRPr lang="ko-KR" sz="2200" dirty="0"/>
          </a:p>
        </p:txBody>
      </p:sp>
      <p:sp>
        <p:nvSpPr>
          <p:cNvPr id="12" name="S12-text209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9 cm</a:t>
            </a:r>
            <a:endParaRPr lang="ko-KR" sz="2800" dirty="0"/>
          </a:p>
        </p:txBody>
      </p:sp>
      <p:sp>
        <p:nvSpPr>
          <p:cNvPr id="13" name="S12-text210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÷ 8</a:t>
            </a:r>
            <a:endParaRPr lang="ko-KR" sz="2200" dirty="0"/>
          </a:p>
        </p:txBody>
      </p:sp>
      <p:sp>
        <p:nvSpPr>
          <p:cNvPr id="14" name="S12-chip21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2-text21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28 m</a:t>
            </a:r>
            <a:endParaRPr lang="ko-KR" sz="2800" dirty="0"/>
          </a:p>
        </p:txBody>
      </p:sp>
      <p:sp>
        <p:nvSpPr>
          <p:cNvPr id="16" name="S12-text21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둘레를 구함</a:t>
            </a:r>
            <a:endParaRPr lang="ko-KR" sz="2200" dirty="0"/>
          </a:p>
        </p:txBody>
      </p:sp>
      <p:sp>
        <p:nvSpPr>
          <p:cNvPr id="17" name="S12-text21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600</a:t>
            </a:r>
            <a:endParaRPr lang="ko-KR" sz="2800" dirty="0"/>
          </a:p>
        </p:txBody>
      </p:sp>
      <p:sp>
        <p:nvSpPr>
          <p:cNvPr id="18" name="S12-text21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 = 100 cm²로 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chip2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21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200 cm, 세로 300 cm인 돗자리의 넓이는 몇 m²?</a:t>
            </a:r>
            <a:endParaRPr lang="ko-KR" sz="2800" dirty="0"/>
          </a:p>
        </p:txBody>
      </p:sp>
      <p:sp>
        <p:nvSpPr>
          <p:cNvPr id="5" name="S13-chip2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21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36 cm²인 정사각형의 한 변은?</a:t>
            </a:r>
            <a:endParaRPr lang="ko-KR" sz="2800" dirty="0"/>
          </a:p>
        </p:txBody>
      </p:sp>
      <p:sp>
        <p:nvSpPr>
          <p:cNvPr id="7" name="S13-chip2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3-text22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운동장의 넓이에 알맞은 단위는? (cm², m², km²)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2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2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(직사각형의 넓이) = (가로) × (세로)예요. 1 m² = 10000 cm², 1 km² = 1000000 m²예요.</a:t>
            </a:r>
            <a:endParaRPr lang="ko-KR" sz="2800" dirty="0"/>
          </a:p>
        </p:txBody>
      </p:sp>
      <p:sp>
        <p:nvSpPr>
          <p:cNvPr id="5" name="S14-chip22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넓이에는 cm², m², km²</a:t>
            </a:r>
            <a:endParaRPr lang="ko-KR" sz="2200" dirty="0"/>
          </a:p>
        </p:txBody>
      </p:sp>
      <p:sp>
        <p:nvSpPr>
          <p:cNvPr id="6" name="S14-chip22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 m² = 100 cm²</a:t>
            </a:r>
            <a:endParaRPr lang="ko-KR" sz="2200" dirty="0"/>
          </a:p>
        </p:txBody>
      </p:sp>
      <p:sp>
        <p:nvSpPr>
          <p:cNvPr id="7" name="S14-text22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22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가로 6 cm, 세로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cm인 직사각형의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200" dirty="0"/>
          </a:p>
        </p:txBody>
      </p:sp>
      <p:sp>
        <p:nvSpPr>
          <p:cNvPr id="9" name="S14-text22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변이 9 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넓이는?</a:t>
            </a:r>
            <a:endParaRPr lang="ko-KR" sz="2200" dirty="0"/>
          </a:p>
        </p:txBody>
      </p:sp>
      <p:sp>
        <p:nvSpPr>
          <p:cNvPr id="10" name="S14-text22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 m²는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cm²?</a:t>
            </a:r>
            <a:endParaRPr lang="ko-KR" sz="2200" dirty="0"/>
          </a:p>
        </p:txBody>
      </p:sp>
      <p:sp>
        <p:nvSpPr>
          <p:cNvPr id="11" name="S14-text23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평행사변형과 삼각형의 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길이의 단위</a:t>
            </a:r>
            <a:endParaRPr lang="ko-KR" sz="4000" dirty="0"/>
          </a:p>
        </p:txBody>
      </p:sp>
      <p:sp>
        <p:nvSpPr>
          <p:cNvPr id="3" name="S15-card23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23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넓이도 같은 방법으로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 = 100 × 100(cm²), 1 km² = 1000 × 1000(m²)</a:t>
            </a:r>
            <a:endParaRPr lang="ko-KR" sz="2800" dirty="0"/>
          </a:p>
        </p:txBody>
      </p:sp>
      <p:graphicFrame>
        <p:nvGraphicFramePr>
          <p:cNvPr id="16" name="S15-table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25596" y="1995932"/>
          <a:ext cx="4937760" cy="914400"/>
        </p:xfrm>
        <a:graphic>
          <a:graphicData uri="http://schemas.openxmlformats.org/drawingml/2006/table">
            <a:tbl>
              <a:tblPr/>
              <a:tblGrid>
                <a:gridCol w="1086307"/>
                <a:gridCol w="1382573"/>
                <a:gridCol w="246888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길이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기억하기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 cm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 mm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자의 작은 눈금 10칸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 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 cm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양팔을 벌린 길이쯤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 km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 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걸어서 15분쯤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직사각형의 넓이</dc:title>
  <dc:subject>KR22-G05-MAT-AREA-L01</dc:subject>
  <dc:creator>education-ppt</dc:creator>
  <cp:lastModifiedBy>education-ppt</cp:lastModifiedBy>
  <cp:revision>1</cp:revision>
  <dcterms:created xsi:type="dcterms:W3CDTF">2026-10-26T08:59:26Z</dcterms:created>
  <dcterms:modified xsi:type="dcterms:W3CDTF">2026-10-26T08:59:26Z</dcterms:modified>
</cp:coreProperties>
</file>