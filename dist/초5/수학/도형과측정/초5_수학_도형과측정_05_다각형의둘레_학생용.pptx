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3dd8497-1de2-0f9e-6cc7-268890ed0a99}">
          <p14:sldIdLst>
            <p14:sldId id="256"/>
            <p14:sldId id="257"/>
          </p14:sldIdLst>
        </p14:section>
        <p14:section name="개념" id="{a4efb3f1-f69c-bf51-d8f6-182ad49f4c3f}">
          <p14:sldIdLst>
            <p14:sldId id="258"/>
            <p14:sldId id="259"/>
            <p14:sldId id="261"/>
            <p14:sldId id="262"/>
          </p14:sldIdLst>
        </p14:section>
        <p14:section name="연습" id="{15e00ca7-176a-0cea-820c-83a636f48d95}">
          <p14:sldIdLst>
            <p14:sldId id="260"/>
            <p14:sldId id="263"/>
            <p14:sldId id="264"/>
          </p14:sldIdLst>
        </p14:section>
        <p14:section name="개념" id="{bff5e3f0-d9aa-2ff6-3067-808b1af353e2}">
          <p14:sldIdLst/>
        </p14:section>
        <p14:section name="연습" id="{f097b86d-d288-90f0-44f1-5ed9ab3f9373}">
          <p14:sldIdLst/>
        </p14:section>
        <p14:section name="확인" id="{5b6cd5b9-3482-43b9-ab65-c59c820eaab1}">
          <p14:sldIdLst>
            <p14:sldId id="265"/>
            <p14:sldId id="266"/>
          </p14:sldIdLst>
        </p14:section>
        <p14:section name="정리" id="{940e78cc-311e-d3a3-0b73-9ff5e90a852e}">
          <p14:sldIdLst>
            <p14:sldId id="267"/>
          </p14:sldIdLst>
        </p14:section>
        <p14:section name="보충" id="{ab54c35a-20cb-b012-962d-f1113259253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다각형의 둘레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다각형의 둘레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다각형의 둘레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다각형의 둘레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둘레를 쉽게 구하는 방법은 무엇일까요?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여섯 변의 길이가 같은 정육각형"/>
          <p:cNvSpPr/>
          <p:nvPr/>
        </p:nvSpPr>
        <p:spPr>
          <a:xfrm>
            <a:off x="8054349" y="723900"/>
            <a:ext cx="3185143" cy="2758440"/>
          </a:xfrm>
          <a:custGeom>
            <a:avLst/>
            <a:gdLst/>
            <a:ahLst/>
            <a:cxnLst/>
            <a:rect l="l" t="t" r="r" b="b"/>
            <a:pathLst>
              <a:path w="3185143" h="2758440">
                <a:moveTo>
                  <a:pt x="796286" y="2758440"/>
                </a:moveTo>
                <a:lnTo>
                  <a:pt x="2388857" y="2758440"/>
                </a:lnTo>
                <a:lnTo>
                  <a:pt x="3185143" y="1379220"/>
                </a:lnTo>
                <a:lnTo>
                  <a:pt x="2388857" y="0"/>
                </a:lnTo>
                <a:lnTo>
                  <a:pt x="796286" y="0"/>
                </a:lnTo>
                <a:lnTo>
                  <a:pt x="0" y="137922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 flipV="1">
            <a:off x="9646920" y="3398520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H="1" flipV="1">
            <a:off x="10768758" y="275082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H="1">
            <a:off x="10768758" y="137160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646920" y="640080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379901" y="137160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8379901" y="275082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card9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3" name="S01-cardtext10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정다각형의 둘레를 구해요.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직사각형·평행사변형·마름모의 둘레를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1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2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길이가 모두 같고 각의 크기가 모두 같은 다각형은?</a:t>
            </a:r>
            <a:endParaRPr lang="ko-KR" sz="2800" dirty="0"/>
          </a:p>
        </p:txBody>
      </p:sp>
      <p:sp>
        <p:nvSpPr>
          <p:cNvPr id="5" name="S02-chip1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4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평행사변형에서 마주 보는 두 변의 길이는 어떤가요?</a:t>
            </a:r>
            <a:endParaRPr lang="ko-KR" sz="2800" dirty="0"/>
          </a:p>
        </p:txBody>
      </p:sp>
      <p:sp>
        <p:nvSpPr>
          <p:cNvPr id="7" name="S02-chip1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6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 모두 같은 사각형은?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</a:t>
            </a:r>
            <a:endParaRPr lang="ko-KR" sz="4000" dirty="0"/>
          </a:p>
        </p:txBody>
      </p:sp>
      <p:sp>
        <p:nvSpPr>
          <p:cNvPr id="3" name="S03-figure17" descr="변의 길이가 6 cm, 3 cm, 5 cm, 5 cm, 3 cm인 오각형(집 모양)"/>
          <p:cNvSpPr/>
          <p:nvPr/>
        </p:nvSpPr>
        <p:spPr>
          <a:xfrm>
            <a:off x="1858518" y="2171700"/>
            <a:ext cx="2743200" cy="3200400"/>
          </a:xfrm>
          <a:custGeom>
            <a:avLst/>
            <a:gdLst/>
            <a:ahLst/>
            <a:cxnLst/>
            <a:rect l="l" t="t" r="r" b="b"/>
            <a:pathLst>
              <a:path w="2743200" h="3200400">
                <a:moveTo>
                  <a:pt x="0" y="3200400"/>
                </a:moveTo>
                <a:lnTo>
                  <a:pt x="2743200" y="3200400"/>
                </a:lnTo>
                <a:lnTo>
                  <a:pt x="2743200" y="1828800"/>
                </a:lnTo>
                <a:lnTo>
                  <a:pt x="1371600" y="0"/>
                </a:lnTo>
                <a:lnTo>
                  <a:pt x="0" y="182880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3-label19"/>
          <p:cNvSpPr txBox="1"/>
          <p:nvPr/>
        </p:nvSpPr>
        <p:spPr>
          <a:xfrm>
            <a:off x="2848356" y="54489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5" name="S03-label21"/>
          <p:cNvSpPr txBox="1"/>
          <p:nvPr/>
        </p:nvSpPr>
        <p:spPr>
          <a:xfrm>
            <a:off x="4650232" y="45116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6" name="S03-label23"/>
          <p:cNvSpPr txBox="1"/>
          <p:nvPr/>
        </p:nvSpPr>
        <p:spPr>
          <a:xfrm>
            <a:off x="3903411" y="263453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7" name="S03-label25"/>
          <p:cNvSpPr txBox="1"/>
          <p:nvPr/>
        </p:nvSpPr>
        <p:spPr>
          <a:xfrm>
            <a:off x="1793301" y="263453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8" name="S03-label27"/>
          <p:cNvSpPr txBox="1"/>
          <p:nvPr/>
        </p:nvSpPr>
        <p:spPr>
          <a:xfrm>
            <a:off x="1046480" y="45116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9" name="S03-card28"/>
          <p:cNvSpPr/>
          <p:nvPr/>
        </p:nvSpPr>
        <p:spPr>
          <a:xfrm>
            <a:off x="6277356" y="230708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29"/>
          <p:cNvSpPr txBox="1"/>
          <p:nvPr/>
        </p:nvSpPr>
        <p:spPr>
          <a:xfrm>
            <a:off x="6551676" y="244424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가장자리를 한 바퀴 돈 길이</a:t>
            </a:r>
            <a:endParaRPr lang="ko-KR" sz="2800" dirty="0"/>
          </a:p>
        </p:txBody>
      </p:sp>
      <p:sp>
        <p:nvSpPr>
          <p:cNvPr id="11" name="S03-card30"/>
          <p:cNvSpPr/>
          <p:nvPr/>
        </p:nvSpPr>
        <p:spPr>
          <a:xfrm>
            <a:off x="6277356" y="371576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31"/>
          <p:cNvSpPr txBox="1"/>
          <p:nvPr/>
        </p:nvSpPr>
        <p:spPr>
          <a:xfrm>
            <a:off x="6551676" y="385292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변의 길이의 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+ 3 + 5 + 5 + 3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22 (cm)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정다각형의 둘레</a:t>
            </a:r>
            <a:endParaRPr lang="ko-KR" sz="4000" dirty="0"/>
          </a:p>
        </p:txBody>
      </p:sp>
      <p:sp>
        <p:nvSpPr>
          <p:cNvPr id="3" name="S04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(정다각형의 둘레) = (한 변의 길이) × (변의 수)</a:t>
            </a:r>
            <a:endParaRPr lang="ko-KR" sz="2800" dirty="0"/>
          </a:p>
        </p:txBody>
      </p:sp>
      <p:sp>
        <p:nvSpPr>
          <p:cNvPr id="5" name="S04-card34"/>
          <p:cNvSpPr/>
          <p:nvPr/>
        </p:nvSpPr>
        <p:spPr>
          <a:xfrm>
            <a:off x="548640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5"/>
          <p:cNvSpPr txBox="1"/>
          <p:nvPr/>
        </p:nvSpPr>
        <p:spPr>
          <a:xfrm>
            <a:off x="822960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 = 15 (cm)</a:t>
            </a:r>
            <a:endParaRPr lang="ko-KR" sz="2800" dirty="0"/>
          </a:p>
        </p:txBody>
      </p:sp>
      <p:sp>
        <p:nvSpPr>
          <p:cNvPr id="7" name="S04-card36"/>
          <p:cNvSpPr/>
          <p:nvPr/>
        </p:nvSpPr>
        <p:spPr>
          <a:xfrm>
            <a:off x="4322064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7"/>
          <p:cNvSpPr txBox="1"/>
          <p:nvPr/>
        </p:nvSpPr>
        <p:spPr>
          <a:xfrm>
            <a:off x="4596384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4 = 16 (cm)</a:t>
            </a:r>
            <a:endParaRPr lang="ko-KR" sz="2800" dirty="0"/>
          </a:p>
        </p:txBody>
      </p:sp>
      <p:sp>
        <p:nvSpPr>
          <p:cNvPr id="9" name="S04-card38"/>
          <p:cNvSpPr/>
          <p:nvPr/>
        </p:nvSpPr>
        <p:spPr>
          <a:xfrm>
            <a:off x="8095488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9"/>
          <p:cNvSpPr txBox="1"/>
          <p:nvPr/>
        </p:nvSpPr>
        <p:spPr>
          <a:xfrm>
            <a:off x="8369808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18 (cm)</a:t>
            </a:r>
            <a:endParaRPr lang="ko-KR" sz="2800" dirty="0"/>
          </a:p>
        </p:txBody>
      </p:sp>
      <p:sp>
        <p:nvSpPr>
          <p:cNvPr id="11" name="S04-figure40" descr="한 변이 5 cm인 정삼각형, 세 변에 같은 길이 표시"/>
          <p:cNvSpPr/>
          <p:nvPr/>
        </p:nvSpPr>
        <p:spPr>
          <a:xfrm>
            <a:off x="1536192" y="1796126"/>
            <a:ext cx="1508760" cy="1306647"/>
          </a:xfrm>
          <a:custGeom>
            <a:avLst/>
            <a:gdLst/>
            <a:ahLst/>
            <a:cxnLst/>
            <a:rect l="l" t="t" r="r" b="b"/>
            <a:pathLst>
              <a:path w="1508760" h="1306647">
                <a:moveTo>
                  <a:pt x="0" y="1306647"/>
                </a:moveTo>
                <a:lnTo>
                  <a:pt x="1508760" y="1306647"/>
                </a:lnTo>
                <a:lnTo>
                  <a:pt x="75438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mark41"/>
          <p:cNvSpPr/>
          <p:nvPr/>
        </p:nvSpPr>
        <p:spPr>
          <a:xfrm flipV="1">
            <a:off x="2290572" y="3018952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label43"/>
          <p:cNvSpPr txBox="1"/>
          <p:nvPr/>
        </p:nvSpPr>
        <p:spPr>
          <a:xfrm>
            <a:off x="1908810" y="3179607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4" name="S04-mark44"/>
          <p:cNvSpPr/>
          <p:nvPr/>
        </p:nvSpPr>
        <p:spPr>
          <a:xfrm flipH="1">
            <a:off x="2595171" y="240754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mark45"/>
          <p:cNvSpPr/>
          <p:nvPr/>
        </p:nvSpPr>
        <p:spPr>
          <a:xfrm>
            <a:off x="1840791" y="240754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46"/>
          <p:cNvSpPr txBox="1"/>
          <p:nvPr/>
        </p:nvSpPr>
        <p:spPr>
          <a:xfrm>
            <a:off x="548640" y="364617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정삼각형</a:t>
            </a:r>
            <a:endParaRPr lang="ko-KR" sz="2200" dirty="0"/>
          </a:p>
        </p:txBody>
      </p:sp>
      <p:sp>
        <p:nvSpPr>
          <p:cNvPr id="17" name="S04-figure47" descr="한 변이 4 cm인 정사각형, 네 변에 같은 길이 표시"/>
          <p:cNvSpPr/>
          <p:nvPr/>
        </p:nvSpPr>
        <p:spPr>
          <a:xfrm>
            <a:off x="5490972" y="1845945"/>
            <a:ext cx="1207008" cy="1207008"/>
          </a:xfrm>
          <a:custGeom>
            <a:avLst/>
            <a:gdLst/>
            <a:ahLst/>
            <a:cxnLst/>
            <a:rect l="l" t="t" r="r" b="b"/>
            <a:pathLst>
              <a:path w="1207008" h="1207008">
                <a:moveTo>
                  <a:pt x="0" y="1207008"/>
                </a:moveTo>
                <a:lnTo>
                  <a:pt x="1207008" y="1207008"/>
                </a:lnTo>
                <a:lnTo>
                  <a:pt x="120700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48"/>
          <p:cNvSpPr/>
          <p:nvPr/>
        </p:nvSpPr>
        <p:spPr>
          <a:xfrm flipV="1">
            <a:off x="6094476" y="296913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label50"/>
          <p:cNvSpPr txBox="1"/>
          <p:nvPr/>
        </p:nvSpPr>
        <p:spPr>
          <a:xfrm>
            <a:off x="5712714" y="312978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0" name="S04-mark51"/>
          <p:cNvSpPr/>
          <p:nvPr/>
        </p:nvSpPr>
        <p:spPr>
          <a:xfrm flipH="1">
            <a:off x="6614160" y="2449449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mark52"/>
          <p:cNvSpPr/>
          <p:nvPr/>
        </p:nvSpPr>
        <p:spPr>
          <a:xfrm>
            <a:off x="6094476" y="1762125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mark53"/>
          <p:cNvSpPr/>
          <p:nvPr/>
        </p:nvSpPr>
        <p:spPr>
          <a:xfrm>
            <a:off x="5407152" y="2449449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abel54"/>
          <p:cNvSpPr txBox="1"/>
          <p:nvPr/>
        </p:nvSpPr>
        <p:spPr>
          <a:xfrm>
            <a:off x="4352544" y="364617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200" dirty="0"/>
          </a:p>
        </p:txBody>
      </p:sp>
      <p:sp>
        <p:nvSpPr>
          <p:cNvPr id="24" name="S04-figure55" descr="한 변이 3 cm인 정육각형, 여섯 변에 같은 길이 표시"/>
          <p:cNvSpPr/>
          <p:nvPr/>
        </p:nvSpPr>
        <p:spPr>
          <a:xfrm>
            <a:off x="8993124" y="1665467"/>
            <a:ext cx="1810512" cy="1567964"/>
          </a:xfrm>
          <a:custGeom>
            <a:avLst/>
            <a:gdLst/>
            <a:ahLst/>
            <a:cxnLst/>
            <a:rect l="l" t="t" r="r" b="b"/>
            <a:pathLst>
              <a:path w="1810512" h="1567964">
                <a:moveTo>
                  <a:pt x="452628" y="1567964"/>
                </a:moveTo>
                <a:lnTo>
                  <a:pt x="1357884" y="1567964"/>
                </a:lnTo>
                <a:lnTo>
                  <a:pt x="1810512" y="783982"/>
                </a:lnTo>
                <a:lnTo>
                  <a:pt x="1357884" y="0"/>
                </a:lnTo>
                <a:lnTo>
                  <a:pt x="452628" y="0"/>
                </a:lnTo>
                <a:lnTo>
                  <a:pt x="0" y="783982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4-mark56"/>
          <p:cNvSpPr/>
          <p:nvPr/>
        </p:nvSpPr>
        <p:spPr>
          <a:xfrm flipV="1">
            <a:off x="9898380" y="3149611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abel58"/>
          <p:cNvSpPr txBox="1"/>
          <p:nvPr/>
        </p:nvSpPr>
        <p:spPr>
          <a:xfrm>
            <a:off x="9516618" y="331026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27" name="S04-mark59"/>
          <p:cNvSpPr/>
          <p:nvPr/>
        </p:nvSpPr>
        <p:spPr>
          <a:xfrm flipH="1" flipV="1">
            <a:off x="10504732" y="279953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mark60"/>
          <p:cNvSpPr/>
          <p:nvPr/>
        </p:nvSpPr>
        <p:spPr>
          <a:xfrm flipH="1">
            <a:off x="10504732" y="2015548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4-mark61"/>
          <p:cNvSpPr/>
          <p:nvPr/>
        </p:nvSpPr>
        <p:spPr>
          <a:xfrm>
            <a:off x="9898380" y="1581647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mark62"/>
          <p:cNvSpPr/>
          <p:nvPr/>
        </p:nvSpPr>
        <p:spPr>
          <a:xfrm>
            <a:off x="9146848" y="2015548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4-mark63"/>
          <p:cNvSpPr/>
          <p:nvPr/>
        </p:nvSpPr>
        <p:spPr>
          <a:xfrm flipV="1">
            <a:off x="9146848" y="279953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abel64"/>
          <p:cNvSpPr txBox="1"/>
          <p:nvPr/>
        </p:nvSpPr>
        <p:spPr>
          <a:xfrm>
            <a:off x="8156448" y="364617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정육각형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정다각형의 둘레 구하기</a:t>
            </a:r>
            <a:endParaRPr lang="ko-KR" sz="4000" dirty="0"/>
          </a:p>
        </p:txBody>
      </p:sp>
      <p:sp>
        <p:nvSpPr>
          <p:cNvPr id="3" name="S05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수부터 세어요. 정오각형은 변이 5개예요.</a:t>
            </a:r>
            <a:endParaRPr lang="ko-KR" sz="2800" dirty="0"/>
          </a:p>
        </p:txBody>
      </p:sp>
      <p:sp>
        <p:nvSpPr>
          <p:cNvPr id="5" name="S05-chip67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text68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6 cm인 정오각형의 둘레는?</a:t>
            </a:r>
            <a:endParaRPr lang="ko-KR" sz="2800" dirty="0"/>
          </a:p>
        </p:txBody>
      </p:sp>
      <p:sp>
        <p:nvSpPr>
          <p:cNvPr id="7" name="S05-chip69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text70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7 cm인 정팔각형의 둘레는?</a:t>
            </a:r>
            <a:endParaRPr lang="ko-KR" sz="2800" dirty="0"/>
          </a:p>
        </p:txBody>
      </p:sp>
      <p:sp>
        <p:nvSpPr>
          <p:cNvPr id="9" name="S05-chip71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text72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36 cm인 정육각형의 한 변은?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둘레</a:t>
            </a:r>
            <a:endParaRPr lang="ko-KR" sz="4000" dirty="0"/>
          </a:p>
        </p:txBody>
      </p:sp>
      <p:sp>
        <p:nvSpPr>
          <p:cNvPr id="3" name="S06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(직사각형의 둘레) = ((가로) + (세로)) × 2</a:t>
            </a:r>
            <a:endParaRPr lang="ko-KR" sz="2800" dirty="0"/>
          </a:p>
        </p:txBody>
      </p:sp>
      <p:sp>
        <p:nvSpPr>
          <p:cNvPr id="5" name="S06-figure75" descr="가로 6 cm, 세로 4 cm인 직사각형, 네 변에 길이"/>
          <p:cNvSpPr/>
          <p:nvPr/>
        </p:nvSpPr>
        <p:spPr>
          <a:xfrm>
            <a:off x="7634691" y="2125980"/>
            <a:ext cx="3291840" cy="2194560"/>
          </a:xfrm>
          <a:custGeom>
            <a:avLst/>
            <a:gdLst/>
            <a:ahLst/>
            <a:cxnLst/>
            <a:rect l="l" t="t" r="r" b="b"/>
            <a:pathLst>
              <a:path w="3291840" h="2194560">
                <a:moveTo>
                  <a:pt x="0" y="2194560"/>
                </a:moveTo>
                <a:lnTo>
                  <a:pt x="3291840" y="2194560"/>
                </a:lnTo>
                <a:lnTo>
                  <a:pt x="32918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76"/>
          <p:cNvSpPr/>
          <p:nvPr/>
        </p:nvSpPr>
        <p:spPr>
          <a:xfrm>
            <a:off x="7634691" y="411099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20955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06-mark77"/>
          <p:cNvSpPr/>
          <p:nvPr/>
        </p:nvSpPr>
        <p:spPr>
          <a:xfrm>
            <a:off x="10716981" y="411099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209550"/>
                </a:moveTo>
                <a:lnTo>
                  <a:pt x="0" y="0"/>
                </a:lnTo>
                <a:lnTo>
                  <a:pt x="20955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mark78"/>
          <p:cNvSpPr/>
          <p:nvPr/>
        </p:nvSpPr>
        <p:spPr>
          <a:xfrm>
            <a:off x="10716981" y="212598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0" y="20955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6-mark79"/>
          <p:cNvSpPr/>
          <p:nvPr/>
        </p:nvSpPr>
        <p:spPr>
          <a:xfrm>
            <a:off x="7634691" y="212598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209550" y="20955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81"/>
          <p:cNvSpPr txBox="1"/>
          <p:nvPr/>
        </p:nvSpPr>
        <p:spPr>
          <a:xfrm>
            <a:off x="8898849" y="43973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1" name="S06-label83"/>
          <p:cNvSpPr txBox="1"/>
          <p:nvPr/>
        </p:nvSpPr>
        <p:spPr>
          <a:xfrm>
            <a:off x="10975045" y="30486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2" name="S06-label85"/>
          <p:cNvSpPr txBox="1"/>
          <p:nvPr/>
        </p:nvSpPr>
        <p:spPr>
          <a:xfrm>
            <a:off x="8898849" y="169989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3" name="S06-label87"/>
          <p:cNvSpPr txBox="1"/>
          <p:nvPr/>
        </p:nvSpPr>
        <p:spPr>
          <a:xfrm>
            <a:off x="6822653" y="30486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4" name="S06-stepno88"/>
          <p:cNvSpPr txBox="1"/>
          <p:nvPr/>
        </p:nvSpPr>
        <p:spPr>
          <a:xfrm>
            <a:off x="548640" y="2121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6-text89"/>
          <p:cNvSpPr txBox="1"/>
          <p:nvPr/>
        </p:nvSpPr>
        <p:spPr>
          <a:xfrm>
            <a:off x="1325880" y="2076196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변을 모두 더해요.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+ 6 + 4 = 20</a:t>
            </a:r>
            <a:endParaRPr lang="ko-KR" sz="2800" dirty="0"/>
          </a:p>
        </p:txBody>
      </p:sp>
      <p:sp>
        <p:nvSpPr>
          <p:cNvPr id="16" name="S06-stepno90"/>
          <p:cNvSpPr txBox="1"/>
          <p:nvPr/>
        </p:nvSpPr>
        <p:spPr>
          <a:xfrm>
            <a:off x="548640" y="3108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7" name="S06-text91"/>
          <p:cNvSpPr txBox="1"/>
          <p:nvPr/>
        </p:nvSpPr>
        <p:spPr>
          <a:xfrm>
            <a:off x="1325880" y="310845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가로와 세로가 2번씩 있어요.</a:t>
            </a:r>
            <a:endParaRPr lang="ko-KR" sz="2800" dirty="0"/>
          </a:p>
        </p:txBody>
      </p:sp>
      <p:sp>
        <p:nvSpPr>
          <p:cNvPr id="18" name="S06-stepno92"/>
          <p:cNvSpPr txBox="1"/>
          <p:nvPr/>
        </p:nvSpPr>
        <p:spPr>
          <a:xfrm>
            <a:off x="548640" y="3821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9" name="S06-text93"/>
          <p:cNvSpPr txBox="1"/>
          <p:nvPr/>
        </p:nvSpPr>
        <p:spPr>
          <a:xfrm>
            <a:off x="1325880" y="38216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(6 + 4) × 2 = 20 (cm)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평행사변형과 마름모의 둘레</a:t>
            </a:r>
            <a:endParaRPr lang="ko-KR" sz="4000" dirty="0"/>
          </a:p>
        </p:txBody>
      </p:sp>
      <p:sp>
        <p:nvSpPr>
          <p:cNvPr id="3" name="S07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표시가 있는 변은 길이가 같아요.</a:t>
            </a:r>
            <a:endParaRPr lang="ko-KR" sz="2800" dirty="0"/>
          </a:p>
        </p:txBody>
      </p:sp>
      <p:sp>
        <p:nvSpPr>
          <p:cNvPr id="5" name="S07-card96"/>
          <p:cNvSpPr/>
          <p:nvPr/>
        </p:nvSpPr>
        <p:spPr>
          <a:xfrm>
            <a:off x="548640" y="394055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97"/>
          <p:cNvSpPr txBox="1"/>
          <p:nvPr/>
        </p:nvSpPr>
        <p:spPr>
          <a:xfrm>
            <a:off x="822960" y="407771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(7 + 4) × 2 = 22 (cm)</a:t>
            </a:r>
            <a:endParaRPr lang="ko-KR" sz="2800" dirty="0"/>
          </a:p>
        </p:txBody>
      </p:sp>
      <p:sp>
        <p:nvSpPr>
          <p:cNvPr id="7" name="S07-card98"/>
          <p:cNvSpPr/>
          <p:nvPr/>
        </p:nvSpPr>
        <p:spPr>
          <a:xfrm>
            <a:off x="6208776" y="394055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99"/>
          <p:cNvSpPr txBox="1"/>
          <p:nvPr/>
        </p:nvSpPr>
        <p:spPr>
          <a:xfrm>
            <a:off x="6483096" y="407771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 (cm)</a:t>
            </a:r>
            <a:endParaRPr lang="ko-KR" sz="2800" dirty="0"/>
          </a:p>
        </p:txBody>
      </p:sp>
      <p:sp>
        <p:nvSpPr>
          <p:cNvPr id="9" name="S07-figure100" descr="이웃한 두 변이 7 cm, 4 cm인 평행사변형, 마주 보는 변에 같은 길이 표시"/>
          <p:cNvSpPr/>
          <p:nvPr/>
        </p:nvSpPr>
        <p:spPr>
          <a:xfrm>
            <a:off x="1842516" y="1755260"/>
            <a:ext cx="2798064" cy="1076975"/>
          </a:xfrm>
          <a:custGeom>
            <a:avLst/>
            <a:gdLst/>
            <a:ahLst/>
            <a:cxnLst/>
            <a:rect l="l" t="t" r="r" b="b"/>
            <a:pathLst>
              <a:path w="2798064" h="1076975">
                <a:moveTo>
                  <a:pt x="0" y="1076975"/>
                </a:moveTo>
                <a:lnTo>
                  <a:pt x="2176272" y="1076975"/>
                </a:lnTo>
                <a:lnTo>
                  <a:pt x="2798064" y="0"/>
                </a:lnTo>
                <a:lnTo>
                  <a:pt x="62179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mark101"/>
          <p:cNvSpPr/>
          <p:nvPr/>
        </p:nvSpPr>
        <p:spPr>
          <a:xfrm flipV="1">
            <a:off x="2930652" y="2748414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7-label103"/>
          <p:cNvSpPr txBox="1"/>
          <p:nvPr/>
        </p:nvSpPr>
        <p:spPr>
          <a:xfrm>
            <a:off x="2548890" y="290906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cm</a:t>
            </a:r>
            <a:endParaRPr lang="ko-KR" sz="2200" dirty="0"/>
          </a:p>
        </p:txBody>
      </p:sp>
      <p:sp>
        <p:nvSpPr>
          <p:cNvPr id="12" name="S07-mark104"/>
          <p:cNvSpPr/>
          <p:nvPr/>
        </p:nvSpPr>
        <p:spPr>
          <a:xfrm flipH="1" flipV="1">
            <a:off x="4237536" y="228571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7-mark105"/>
          <p:cNvSpPr/>
          <p:nvPr/>
        </p:nvSpPr>
        <p:spPr>
          <a:xfrm flipH="1" flipV="1">
            <a:off x="4276652" y="221796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107"/>
          <p:cNvSpPr txBox="1"/>
          <p:nvPr/>
        </p:nvSpPr>
        <p:spPr>
          <a:xfrm>
            <a:off x="4352944" y="235296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5" name="S07-mark108"/>
          <p:cNvSpPr/>
          <p:nvPr/>
        </p:nvSpPr>
        <p:spPr>
          <a:xfrm>
            <a:off x="3552444" y="1671440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mark109"/>
          <p:cNvSpPr/>
          <p:nvPr/>
        </p:nvSpPr>
        <p:spPr>
          <a:xfrm>
            <a:off x="2100380" y="221796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mark110"/>
          <p:cNvSpPr/>
          <p:nvPr/>
        </p:nvSpPr>
        <p:spPr>
          <a:xfrm>
            <a:off x="2061264" y="228571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111"/>
          <p:cNvSpPr txBox="1"/>
          <p:nvPr/>
        </p:nvSpPr>
        <p:spPr>
          <a:xfrm>
            <a:off x="548640" y="333476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</a:t>
            </a:r>
            <a:endParaRPr lang="ko-KR" sz="2200" dirty="0"/>
          </a:p>
        </p:txBody>
      </p:sp>
      <p:sp>
        <p:nvSpPr>
          <p:cNvPr id="19" name="S07-figure112" descr="한 변이 5 cm인 마름모, 네 변에 같은 길이 표시"/>
          <p:cNvSpPr/>
          <p:nvPr/>
        </p:nvSpPr>
        <p:spPr>
          <a:xfrm>
            <a:off x="7703820" y="1671955"/>
            <a:ext cx="2487168" cy="1243584"/>
          </a:xfrm>
          <a:custGeom>
            <a:avLst/>
            <a:gdLst/>
            <a:ahLst/>
            <a:cxnLst/>
            <a:rect l="l" t="t" r="r" b="b"/>
            <a:pathLst>
              <a:path w="2487168" h="1243584">
                <a:moveTo>
                  <a:pt x="0" y="1243584"/>
                </a:moveTo>
                <a:lnTo>
                  <a:pt x="1554480" y="1243584"/>
                </a:lnTo>
                <a:lnTo>
                  <a:pt x="2487168" y="0"/>
                </a:lnTo>
                <a:lnTo>
                  <a:pt x="932688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mark113"/>
          <p:cNvSpPr/>
          <p:nvPr/>
        </p:nvSpPr>
        <p:spPr>
          <a:xfrm flipV="1">
            <a:off x="8481060" y="2831719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7-label115"/>
          <p:cNvSpPr txBox="1"/>
          <p:nvPr/>
        </p:nvSpPr>
        <p:spPr>
          <a:xfrm>
            <a:off x="8099298" y="299237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22" name="S07-mark116"/>
          <p:cNvSpPr/>
          <p:nvPr/>
        </p:nvSpPr>
        <p:spPr>
          <a:xfrm flipH="1" flipV="1">
            <a:off x="9657588" y="2243455"/>
            <a:ext cx="134112" cy="10058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7-mark117"/>
          <p:cNvSpPr/>
          <p:nvPr/>
        </p:nvSpPr>
        <p:spPr>
          <a:xfrm>
            <a:off x="9413748" y="1588135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mark118"/>
          <p:cNvSpPr/>
          <p:nvPr/>
        </p:nvSpPr>
        <p:spPr>
          <a:xfrm>
            <a:off x="8103108" y="2243455"/>
            <a:ext cx="134112" cy="10058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7-label119"/>
          <p:cNvSpPr txBox="1"/>
          <p:nvPr/>
        </p:nvSpPr>
        <p:spPr>
          <a:xfrm>
            <a:off x="6254496" y="333476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두 변이 8 cm, 5 cm인 평행사변형의 둘레는?</a:t>
            </a:r>
            <a:endParaRPr lang="ko-KR" sz="2800" dirty="0"/>
          </a:p>
        </p:txBody>
      </p:sp>
      <p:sp>
        <p:nvSpPr>
          <p:cNvPr id="5" name="S08-card1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2800" dirty="0"/>
          </a:p>
        </p:txBody>
      </p:sp>
      <p:sp>
        <p:nvSpPr>
          <p:cNvPr id="7" name="S08-chip12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08-text12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“8 + 5 = 13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 cm예요.”</a:t>
            </a:r>
            <a:endParaRPr lang="ko-KR" sz="2800" dirty="0"/>
          </a:p>
        </p:txBody>
      </p:sp>
      <p:sp>
        <p:nvSpPr>
          <p:cNvPr id="9" name="S08-chip12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08-text12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“(8 + 5) × 2 = 26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 cm예요.”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사각형의 둘레 구하기</a:t>
            </a:r>
            <a:endParaRPr lang="ko-KR" sz="4000" dirty="0"/>
          </a:p>
        </p:txBody>
      </p:sp>
      <p:sp>
        <p:nvSpPr>
          <p:cNvPr id="3" name="S09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변의 길이가 같아요.</a:t>
            </a:r>
            <a:endParaRPr lang="ko-KR" sz="2800" dirty="0"/>
          </a:p>
        </p:txBody>
      </p:sp>
      <p:sp>
        <p:nvSpPr>
          <p:cNvPr id="5" name="S09-chip13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13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9 cm, 세로 5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둘레</a:t>
            </a:r>
            <a:endParaRPr lang="ko-KR" sz="2800" dirty="0"/>
          </a:p>
        </p:txBody>
      </p:sp>
      <p:sp>
        <p:nvSpPr>
          <p:cNvPr id="7" name="S09-chip13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13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6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둘레</a:t>
            </a:r>
            <a:endParaRPr lang="ko-KR" sz="2800" dirty="0"/>
          </a:p>
        </p:txBody>
      </p:sp>
      <p:sp>
        <p:nvSpPr>
          <p:cNvPr id="9" name="S09-chip13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13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변이 10 cm, 7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평행사변형의 둘레</a:t>
            </a:r>
            <a:endParaRPr lang="ko-KR" sz="2800" dirty="0"/>
          </a:p>
        </p:txBody>
      </p:sp>
      <p:sp>
        <p:nvSpPr>
          <p:cNvPr id="11" name="S09-chip13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9-text13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30 cm, 가로가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 cm인 직사각형의 세로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figure138" descr="이웃한 두 변이 9 cm, 6 cm인 평행사변형"/>
          <p:cNvSpPr/>
          <p:nvPr/>
        </p:nvSpPr>
        <p:spPr>
          <a:xfrm>
            <a:off x="6654546" y="2774105"/>
            <a:ext cx="4608576" cy="1995590"/>
          </a:xfrm>
          <a:custGeom>
            <a:avLst/>
            <a:gdLst/>
            <a:ahLst/>
            <a:cxnLst/>
            <a:rect l="l" t="t" r="r" b="b"/>
            <a:pathLst>
              <a:path w="4608576" h="1995590">
                <a:moveTo>
                  <a:pt x="0" y="1995590"/>
                </a:moveTo>
                <a:lnTo>
                  <a:pt x="3456432" y="1995590"/>
                </a:lnTo>
                <a:lnTo>
                  <a:pt x="4608576" y="0"/>
                </a:lnTo>
                <a:lnTo>
                  <a:pt x="1152144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10-mark139"/>
          <p:cNvSpPr/>
          <p:nvPr/>
        </p:nvSpPr>
        <p:spPr>
          <a:xfrm flipV="1">
            <a:off x="8382762" y="4685875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10-label141"/>
          <p:cNvSpPr txBox="1"/>
          <p:nvPr/>
        </p:nvSpPr>
        <p:spPr>
          <a:xfrm>
            <a:off x="8001000" y="484653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 cm</a:t>
            </a:r>
            <a:endParaRPr lang="ko-KR" sz="2200" dirty="0"/>
          </a:p>
        </p:txBody>
      </p:sp>
      <p:sp>
        <p:nvSpPr>
          <p:cNvPr id="6" name="S10-mark142"/>
          <p:cNvSpPr/>
          <p:nvPr/>
        </p:nvSpPr>
        <p:spPr>
          <a:xfrm flipH="1" flipV="1">
            <a:off x="10594902" y="3763866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10-mark143"/>
          <p:cNvSpPr/>
          <p:nvPr/>
        </p:nvSpPr>
        <p:spPr>
          <a:xfrm flipH="1" flipV="1">
            <a:off x="10634017" y="3696115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0-label145"/>
          <p:cNvSpPr txBox="1"/>
          <p:nvPr/>
        </p:nvSpPr>
        <p:spPr>
          <a:xfrm>
            <a:off x="10710312" y="383111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9" name="S10-mark146"/>
          <p:cNvSpPr/>
          <p:nvPr/>
        </p:nvSpPr>
        <p:spPr>
          <a:xfrm>
            <a:off x="9534906" y="2690285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0-mark147"/>
          <p:cNvSpPr/>
          <p:nvPr/>
        </p:nvSpPr>
        <p:spPr>
          <a:xfrm>
            <a:off x="7177585" y="3696115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0-mark148"/>
          <p:cNvSpPr/>
          <p:nvPr/>
        </p:nvSpPr>
        <p:spPr>
          <a:xfrm>
            <a:off x="7138470" y="3763866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0-chip14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3" name="S10-text15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평행사변형의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둘레는?</a:t>
            </a:r>
            <a:endParaRPr lang="ko-KR" sz="2800" dirty="0"/>
          </a:p>
        </p:txBody>
      </p:sp>
      <p:sp>
        <p:nvSpPr>
          <p:cNvPr id="14" name="S10-chip15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10-text152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8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정육각형의 둘레는?</a:t>
            </a:r>
            <a:endParaRPr lang="ko-KR" sz="2800" dirty="0"/>
          </a:p>
        </p:txBody>
      </p:sp>
      <p:sp>
        <p:nvSpPr>
          <p:cNvPr id="16" name="S10-chip15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7" name="S10-text154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32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한 변은?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가장 긴 것은?</a:t>
            </a:r>
            <a:endParaRPr lang="ko-KR" sz="4000" dirty="0"/>
          </a:p>
        </p:txBody>
      </p:sp>
      <p:sp>
        <p:nvSpPr>
          <p:cNvPr id="3" name="S12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가장 긴 도형을 골라요.</a:t>
            </a:r>
            <a:endParaRPr lang="ko-KR" sz="2800" dirty="0"/>
          </a:p>
        </p:txBody>
      </p:sp>
      <p:sp>
        <p:nvSpPr>
          <p:cNvPr id="4" name="S12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둘레를 구한 식을 말해요.</a:t>
            </a:r>
            <a:endParaRPr lang="ko-KR" sz="2800" dirty="0"/>
          </a:p>
        </p:txBody>
      </p:sp>
      <p:sp>
        <p:nvSpPr>
          <p:cNvPr id="6" name="S12-chip158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2-card159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60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6 cm인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800" dirty="0"/>
          </a:p>
        </p:txBody>
      </p:sp>
      <p:sp>
        <p:nvSpPr>
          <p:cNvPr id="9" name="S12-chip16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2-card162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63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8 cm,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5 cm인 직사각형</a:t>
            </a:r>
            <a:endParaRPr lang="ko-KR" sz="2800" dirty="0"/>
          </a:p>
        </p:txBody>
      </p:sp>
      <p:sp>
        <p:nvSpPr>
          <p:cNvPr id="12" name="S12-chip16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2-card165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66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9 cm인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정삼각형</a:t>
            </a:r>
            <a:endParaRPr lang="ko-KR" sz="2800" dirty="0"/>
          </a:p>
        </p:txBody>
      </p:sp>
      <p:sp>
        <p:nvSpPr>
          <p:cNvPr id="15" name="S12-chip167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2-card168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2-cardtext169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7 cm인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7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7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둘레는 모든 변의 길이의 합이에요. 길이가 같은 변이 몇 개인지 보고 곱셈으로 쉽게 구해요.</a:t>
            </a:r>
            <a:endParaRPr lang="ko-KR" sz="2800" dirty="0"/>
          </a:p>
        </p:txBody>
      </p:sp>
      <p:sp>
        <p:nvSpPr>
          <p:cNvPr id="5" name="S13-chip17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길이의 변 개수 세기</a:t>
            </a:r>
            <a:endParaRPr lang="ko-KR" sz="2200" dirty="0"/>
          </a:p>
        </p:txBody>
      </p:sp>
      <p:sp>
        <p:nvSpPr>
          <p:cNvPr id="6" name="S13-chip17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보이는 두 변만 더하기</a:t>
            </a:r>
            <a:endParaRPr lang="ko-KR" sz="2200" dirty="0"/>
          </a:p>
        </p:txBody>
      </p:sp>
      <p:sp>
        <p:nvSpPr>
          <p:cNvPr id="7" name="S13-text17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7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변이 4 cm인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정오각형의 둘레는?</a:t>
            </a:r>
            <a:endParaRPr lang="ko-KR" sz="2200" dirty="0"/>
          </a:p>
        </p:txBody>
      </p:sp>
      <p:sp>
        <p:nvSpPr>
          <p:cNvPr id="9" name="S13-text17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가로 7 cm, 세로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cm인 직사각형의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둘레는?</a:t>
            </a:r>
            <a:endParaRPr lang="ko-KR" sz="2200" dirty="0"/>
          </a:p>
        </p:txBody>
      </p:sp>
      <p:sp>
        <p:nvSpPr>
          <p:cNvPr id="10" name="S13-text17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둘레가 28 cm인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한 변은?</a:t>
            </a:r>
            <a:endParaRPr lang="ko-KR" sz="2200" dirty="0"/>
          </a:p>
        </p:txBody>
      </p:sp>
      <p:sp>
        <p:nvSpPr>
          <p:cNvPr id="11" name="S13-text17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직사각형의 넓이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여러 가지 사각형</a:t>
            </a:r>
            <a:endParaRPr lang="ko-KR" sz="4000" dirty="0"/>
          </a:p>
        </p:txBody>
      </p:sp>
      <p:sp>
        <p:nvSpPr>
          <p:cNvPr id="3" name="S14-card17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8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표시는 같은 길이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평행사변형·직사각형은 마주 보는 두 변, 마름모는 네 변의 길이가 같아요.</a:t>
            </a:r>
            <a:endParaRPr lang="ko-KR" sz="2800" dirty="0"/>
          </a:p>
        </p:txBody>
      </p:sp>
      <p:sp>
        <p:nvSpPr>
          <p:cNvPr id="5" name="S14-figure181" descr="평행사변형: 마주 보는 두 변에 같은 길이 표시"/>
          <p:cNvSpPr/>
          <p:nvPr/>
        </p:nvSpPr>
        <p:spPr>
          <a:xfrm>
            <a:off x="973836" y="2335575"/>
            <a:ext cx="2633472" cy="1013623"/>
          </a:xfrm>
          <a:custGeom>
            <a:avLst/>
            <a:gdLst/>
            <a:ahLst/>
            <a:cxnLst/>
            <a:rect l="l" t="t" r="r" b="b"/>
            <a:pathLst>
              <a:path w="2633472" h="1013623">
                <a:moveTo>
                  <a:pt x="0" y="1013623"/>
                </a:moveTo>
                <a:lnTo>
                  <a:pt x="2048256" y="1013623"/>
                </a:lnTo>
                <a:lnTo>
                  <a:pt x="2633472" y="0"/>
                </a:lnTo>
                <a:lnTo>
                  <a:pt x="58521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4-mark182"/>
          <p:cNvSpPr/>
          <p:nvPr/>
        </p:nvSpPr>
        <p:spPr>
          <a:xfrm flipV="1">
            <a:off x="1997964" y="3265379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14-mark183"/>
          <p:cNvSpPr/>
          <p:nvPr/>
        </p:nvSpPr>
        <p:spPr>
          <a:xfrm flipH="1" flipV="1">
            <a:off x="3222552" y="283435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4-mark184"/>
          <p:cNvSpPr/>
          <p:nvPr/>
        </p:nvSpPr>
        <p:spPr>
          <a:xfrm flipH="1" flipV="1">
            <a:off x="3261668" y="276660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4-mark185"/>
          <p:cNvSpPr/>
          <p:nvPr/>
        </p:nvSpPr>
        <p:spPr>
          <a:xfrm>
            <a:off x="2583180" y="2251755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4-mark186"/>
          <p:cNvSpPr/>
          <p:nvPr/>
        </p:nvSpPr>
        <p:spPr>
          <a:xfrm>
            <a:off x="1213412" y="276660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4-mark187"/>
          <p:cNvSpPr/>
          <p:nvPr/>
        </p:nvSpPr>
        <p:spPr>
          <a:xfrm>
            <a:off x="1174296" y="283435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4-label188"/>
          <p:cNvSpPr txBox="1"/>
          <p:nvPr/>
        </p:nvSpPr>
        <p:spPr>
          <a:xfrm>
            <a:off x="548640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</a:t>
            </a:r>
            <a:endParaRPr lang="ko-KR" sz="2200" dirty="0"/>
          </a:p>
        </p:txBody>
      </p:sp>
      <p:sp>
        <p:nvSpPr>
          <p:cNvPr id="13" name="S14-figure189" descr="마름모: 네 변에 같은 길이 표시"/>
          <p:cNvSpPr/>
          <p:nvPr/>
        </p:nvSpPr>
        <p:spPr>
          <a:xfrm>
            <a:off x="4924044" y="2257171"/>
            <a:ext cx="2340864" cy="1170432"/>
          </a:xfrm>
          <a:custGeom>
            <a:avLst/>
            <a:gdLst/>
            <a:ahLst/>
            <a:cxnLst/>
            <a:rect l="l" t="t" r="r" b="b"/>
            <a:pathLst>
              <a:path w="2340864" h="1170432">
                <a:moveTo>
                  <a:pt x="0" y="1170432"/>
                </a:moveTo>
                <a:lnTo>
                  <a:pt x="1463040" y="1170432"/>
                </a:lnTo>
                <a:lnTo>
                  <a:pt x="2340864" y="0"/>
                </a:lnTo>
                <a:lnTo>
                  <a:pt x="877824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4-mark190"/>
          <p:cNvSpPr/>
          <p:nvPr/>
        </p:nvSpPr>
        <p:spPr>
          <a:xfrm flipV="1">
            <a:off x="5655564" y="334378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4-mark191"/>
          <p:cNvSpPr/>
          <p:nvPr/>
        </p:nvSpPr>
        <p:spPr>
          <a:xfrm flipH="1" flipV="1">
            <a:off x="6758940" y="2792095"/>
            <a:ext cx="134112" cy="10058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4-mark192"/>
          <p:cNvSpPr/>
          <p:nvPr/>
        </p:nvSpPr>
        <p:spPr>
          <a:xfrm>
            <a:off x="6533388" y="2173351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4-mark193"/>
          <p:cNvSpPr/>
          <p:nvPr/>
        </p:nvSpPr>
        <p:spPr>
          <a:xfrm>
            <a:off x="5295900" y="2792095"/>
            <a:ext cx="134112" cy="10058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4-label194"/>
          <p:cNvSpPr txBox="1"/>
          <p:nvPr/>
        </p:nvSpPr>
        <p:spPr>
          <a:xfrm>
            <a:off x="4352544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2200" dirty="0"/>
          </a:p>
        </p:txBody>
      </p:sp>
      <p:sp>
        <p:nvSpPr>
          <p:cNvPr id="19" name="S14-figure195" descr="직사각형: 네 각이 직각, 마주 보는 두 변에 같은 길이 표시"/>
          <p:cNvSpPr/>
          <p:nvPr/>
        </p:nvSpPr>
        <p:spPr>
          <a:xfrm>
            <a:off x="8874252" y="2257171"/>
            <a:ext cx="2048256" cy="1170432"/>
          </a:xfrm>
          <a:custGeom>
            <a:avLst/>
            <a:gdLst/>
            <a:ahLst/>
            <a:cxnLst/>
            <a:rect l="l" t="t" r="r" b="b"/>
            <a:pathLst>
              <a:path w="2048256" h="1170432">
                <a:moveTo>
                  <a:pt x="0" y="1170432"/>
                </a:moveTo>
                <a:lnTo>
                  <a:pt x="2048256" y="1170432"/>
                </a:lnTo>
                <a:lnTo>
                  <a:pt x="20482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4-mark196"/>
          <p:cNvSpPr/>
          <p:nvPr/>
        </p:nvSpPr>
        <p:spPr>
          <a:xfrm>
            <a:off x="8874252" y="321805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20955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4-mark197"/>
          <p:cNvSpPr/>
          <p:nvPr/>
        </p:nvSpPr>
        <p:spPr>
          <a:xfrm>
            <a:off x="10712958" y="321805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209550"/>
                </a:moveTo>
                <a:lnTo>
                  <a:pt x="0" y="0"/>
                </a:lnTo>
                <a:lnTo>
                  <a:pt x="20955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4-mark198"/>
          <p:cNvSpPr/>
          <p:nvPr/>
        </p:nvSpPr>
        <p:spPr>
          <a:xfrm>
            <a:off x="10712958" y="2257171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0" y="20955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4-mark199"/>
          <p:cNvSpPr/>
          <p:nvPr/>
        </p:nvSpPr>
        <p:spPr>
          <a:xfrm>
            <a:off x="8874252" y="2257171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209550" y="20955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4-mark200"/>
          <p:cNvSpPr/>
          <p:nvPr/>
        </p:nvSpPr>
        <p:spPr>
          <a:xfrm flipV="1">
            <a:off x="9898380" y="334378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4-mark201"/>
          <p:cNvSpPr/>
          <p:nvPr/>
        </p:nvSpPr>
        <p:spPr>
          <a:xfrm flipH="1">
            <a:off x="10838688" y="2881503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4-mark202"/>
          <p:cNvSpPr/>
          <p:nvPr/>
        </p:nvSpPr>
        <p:spPr>
          <a:xfrm flipH="1">
            <a:off x="10838688" y="2803271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4-mark203"/>
          <p:cNvSpPr/>
          <p:nvPr/>
        </p:nvSpPr>
        <p:spPr>
          <a:xfrm>
            <a:off x="9898380" y="2173351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4-mark204"/>
          <p:cNvSpPr/>
          <p:nvPr/>
        </p:nvSpPr>
        <p:spPr>
          <a:xfrm>
            <a:off x="8790432" y="2803271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14-mark205"/>
          <p:cNvSpPr/>
          <p:nvPr/>
        </p:nvSpPr>
        <p:spPr>
          <a:xfrm>
            <a:off x="8790432" y="2881503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4-label206"/>
          <p:cNvSpPr txBox="1"/>
          <p:nvPr/>
        </p:nvSpPr>
        <p:spPr>
          <a:xfrm>
            <a:off x="8156448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다각형의 둘레</dc:title>
  <dc:subject>KR22-G05-MAT-PERIMETER-L01</dc:subject>
  <dc:creator>education-ppt</dc:creator>
  <cp:lastModifiedBy>education-ppt</cp:lastModifiedBy>
  <cp:revision>1</cp:revision>
  <dcterms:created xsi:type="dcterms:W3CDTF">2026-10-26T08:56:33Z</dcterms:created>
  <dcterms:modified xsi:type="dcterms:W3CDTF">2026-10-26T08:56:33Z</dcterms:modified>
</cp:coreProperties>
</file>