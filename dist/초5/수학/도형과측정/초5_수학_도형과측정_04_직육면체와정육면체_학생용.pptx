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9010983-858c-2e8e-46a4-fc01e37ebb91}">
          <p14:sldIdLst>
            <p14:sldId id="256"/>
            <p14:sldId id="257"/>
          </p14:sldIdLst>
        </p14:section>
        <p14:section name="개념" id="{a0e12744-3bf8-1fb1-022f-ca9f5c976f89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f3ae039d-8b74-ecca-7966-7be1112fed8b}">
          <p14:sldIdLst>
            <p14:sldId id="260"/>
            <p14:sldId id="262"/>
            <p14:sldId id="265"/>
          </p14:sldIdLst>
        </p14:section>
        <p14:section name="개념" id="{a9ecc3e7-809b-5e61-4e55-77ec1ad4f750}">
          <p14:sldIdLst/>
        </p14:section>
        <p14:section name="연습" id="{14308af0-e0cd-c8af-3509-9df74b0870ae}">
          <p14:sldIdLst/>
        </p14:section>
        <p14:section name="개념" id="{d1e3e694-730c-6a2a-a594-e8f8b9506795}">
          <p14:sldIdLst/>
        </p14:section>
        <p14:section name="연습" id="{74409b05-932a-854d-784f-aed9f8dd3fc3}">
          <p14:sldIdLst/>
        </p14:section>
        <p14:section name="확인" id="{14253290-bf5c-bb71-79ed-1fd8569e92b8}">
          <p14:sldIdLst>
            <p14:sldId id="266"/>
            <p14:sldId id="267"/>
          </p14:sldIdLst>
        </p14:section>
        <p14:section name="정리" id="{c1812e68-45f3-a7ad-3b43-8328d4c2ae09}">
          <p14:sldIdLst>
            <p14:sldId id="268"/>
          </p14:sldIdLst>
        </p14:section>
        <p14:section name="보충" id="{ee750c91-4e70-250a-63b5-08cbf60f299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직육면체와 정육면체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직육면체와 정육면체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직육면체와 정육면체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직육면체와 정육면체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펼치면 어떤 모양이 될까요?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직육면체의 겨냥도: 보이지 않는 모서리 3개는 점선"/>
          <p:cNvSpPr/>
          <p:nvPr/>
        </p:nvSpPr>
        <p:spPr>
          <a:xfrm>
            <a:off x="7764780" y="3364163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V="1">
            <a:off x="10870263" y="1500874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H="1">
            <a:off x="7764780" y="1500874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64780" y="1500874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7764780" y="842077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423577" y="842077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H="1">
            <a:off x="10870263" y="842077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0870263" y="2705366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1529060" y="842077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7764780" y="2705366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01-mark12"/>
          <p:cNvSpPr/>
          <p:nvPr/>
        </p:nvSpPr>
        <p:spPr>
          <a:xfrm>
            <a:off x="8423577" y="2705366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01-mark13"/>
          <p:cNvSpPr/>
          <p:nvPr/>
        </p:nvSpPr>
        <p:spPr>
          <a:xfrm flipV="1">
            <a:off x="8423577" y="842077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01-card1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8" name="S01-cardtext1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직육면체의 면·모서리·꼭짓점을 알아요.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겨냥도와 전개도를 그려요.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직각인 사각형을 무엇이라고 하나요?</a:t>
            </a:r>
            <a:endParaRPr lang="ko-KR" sz="2800" dirty="0"/>
          </a:p>
        </p:txBody>
      </p:sp>
      <p:sp>
        <p:nvSpPr>
          <p:cNvPr id="5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직각이고 네 변의 길이가 같은 사각형은?</a:t>
            </a:r>
            <a:endParaRPr lang="ko-KR" sz="2800" dirty="0"/>
          </a:p>
        </p:txBody>
      </p:sp>
      <p:sp>
        <p:nvSpPr>
          <p:cNvPr id="7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평행한 두 직선은 만날까요?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직육면체와 정육면체</a:t>
            </a:r>
            <a:endParaRPr lang="ko-KR" sz="4000" dirty="0"/>
          </a:p>
        </p:txBody>
      </p:sp>
      <p:sp>
        <p:nvSpPr>
          <p:cNvPr id="3" name="S03-card22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3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 6개로 둘러싸인 도형</a:t>
            </a:r>
            <a:endParaRPr lang="ko-KR" sz="2800" dirty="0"/>
          </a:p>
        </p:txBody>
      </p:sp>
      <p:sp>
        <p:nvSpPr>
          <p:cNvPr id="5" name="S03-card24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5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6개로 둘러싸인 도형</a:t>
            </a:r>
            <a:endParaRPr lang="ko-KR" sz="2800" dirty="0"/>
          </a:p>
        </p:txBody>
      </p:sp>
      <p:sp>
        <p:nvSpPr>
          <p:cNvPr id="7" name="S03-figure26" descr="직육면체의 겨냥도(직사각형 6개로 둘러싸임)"/>
          <p:cNvSpPr/>
          <p:nvPr/>
        </p:nvSpPr>
        <p:spPr>
          <a:xfrm>
            <a:off x="1856072" y="3770663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 flipV="1">
            <a:off x="4142072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 flipH="1">
            <a:off x="1856072" y="2399063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1856072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V="1">
            <a:off x="1856072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>
            <a:off x="2341024" y="1914111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 flipH="1">
            <a:off x="4142072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 flipV="1">
            <a:off x="4142072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34"/>
          <p:cNvSpPr/>
          <p:nvPr/>
        </p:nvSpPr>
        <p:spPr>
          <a:xfrm flipV="1">
            <a:off x="4627024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35"/>
          <p:cNvSpPr/>
          <p:nvPr/>
        </p:nvSpPr>
        <p:spPr>
          <a:xfrm flipV="1">
            <a:off x="1856072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03-mark36"/>
          <p:cNvSpPr/>
          <p:nvPr/>
        </p:nvSpPr>
        <p:spPr>
          <a:xfrm>
            <a:off x="2341024" y="3285711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8" name="S03-mark37"/>
          <p:cNvSpPr/>
          <p:nvPr/>
        </p:nvSpPr>
        <p:spPr>
          <a:xfrm flipV="1">
            <a:off x="2341024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9" name="S03-label38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</a:t>
            </a:r>
            <a:endParaRPr lang="ko-KR" sz="2200" dirty="0"/>
          </a:p>
        </p:txBody>
      </p:sp>
      <p:sp>
        <p:nvSpPr>
          <p:cNvPr id="20" name="S03-figure39" descr="정육면체의 겨냥도(정사각형 6개로 둘러싸임)"/>
          <p:cNvSpPr/>
          <p:nvPr/>
        </p:nvSpPr>
        <p:spPr>
          <a:xfrm>
            <a:off x="8019128" y="3770663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 flipV="1">
            <a:off x="9390728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3-mark41"/>
          <p:cNvSpPr/>
          <p:nvPr/>
        </p:nvSpPr>
        <p:spPr>
          <a:xfrm flipH="1">
            <a:off x="8019128" y="2399063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3-mark42"/>
          <p:cNvSpPr/>
          <p:nvPr/>
        </p:nvSpPr>
        <p:spPr>
          <a:xfrm>
            <a:off x="8019128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 flipV="1">
            <a:off x="8019128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8504080" y="1914111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 flipH="1">
            <a:off x="9390728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 flipV="1">
            <a:off x="9390728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 flipV="1">
            <a:off x="9875680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9" name="S03-mark48"/>
          <p:cNvSpPr/>
          <p:nvPr/>
        </p:nvSpPr>
        <p:spPr>
          <a:xfrm flipV="1">
            <a:off x="8019128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0" name="S03-mark49"/>
          <p:cNvSpPr/>
          <p:nvPr/>
        </p:nvSpPr>
        <p:spPr>
          <a:xfrm>
            <a:off x="8504080" y="3285711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1" name="S03-mark50"/>
          <p:cNvSpPr/>
          <p:nvPr/>
        </p:nvSpPr>
        <p:spPr>
          <a:xfrm flipV="1">
            <a:off x="8504080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2" name="S03-label51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면, 모서리, 꼭짓점</a:t>
            </a:r>
            <a:endParaRPr lang="ko-KR" sz="4000" dirty="0"/>
          </a:p>
        </p:txBody>
      </p:sp>
      <p:sp>
        <p:nvSpPr>
          <p:cNvPr id="3" name="S04-figure52" descr="직육면체의 겨냥도. 앞의 한 면에 색칠하고 ‘면’, 오른쪽 위 모서리를 굵게 하고 ‘모서리’, 오른쪽 아래 앞 꼭짓점에 점을 찍고 ‘꼭짓점’"/>
          <p:cNvSpPr/>
          <p:nvPr/>
        </p:nvSpPr>
        <p:spPr>
          <a:xfrm>
            <a:off x="1512875" y="3280867"/>
            <a:ext cx="2743200" cy="1645920"/>
          </a:xfrm>
          <a:custGeom>
            <a:avLst/>
            <a:gdLst/>
            <a:ahLst/>
            <a:cxnLst/>
            <a:rect l="l" t="t" r="r" b="b"/>
            <a:pathLst>
              <a:path w="2743200" h="1645920">
                <a:moveTo>
                  <a:pt x="0" y="1645920"/>
                </a:moveTo>
                <a:lnTo>
                  <a:pt x="2743200" y="164592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4-mark53"/>
          <p:cNvSpPr/>
          <p:nvPr/>
        </p:nvSpPr>
        <p:spPr>
          <a:xfrm>
            <a:off x="1512875" y="4926787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54"/>
          <p:cNvSpPr/>
          <p:nvPr/>
        </p:nvSpPr>
        <p:spPr>
          <a:xfrm flipV="1">
            <a:off x="4256075" y="3280867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55"/>
          <p:cNvSpPr/>
          <p:nvPr/>
        </p:nvSpPr>
        <p:spPr>
          <a:xfrm flipH="1">
            <a:off x="1512875" y="3280867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56"/>
          <p:cNvSpPr/>
          <p:nvPr/>
        </p:nvSpPr>
        <p:spPr>
          <a:xfrm>
            <a:off x="1512875" y="3280867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57"/>
          <p:cNvSpPr/>
          <p:nvPr/>
        </p:nvSpPr>
        <p:spPr>
          <a:xfrm flipV="1">
            <a:off x="1512875" y="2698925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58"/>
          <p:cNvSpPr/>
          <p:nvPr/>
        </p:nvSpPr>
        <p:spPr>
          <a:xfrm>
            <a:off x="2094817" y="2698925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59"/>
          <p:cNvSpPr/>
          <p:nvPr/>
        </p:nvSpPr>
        <p:spPr>
          <a:xfrm flipH="1">
            <a:off x="4256075" y="2698925"/>
            <a:ext cx="581942" cy="581942"/>
          </a:xfrm>
          <a:prstGeom prst="line">
            <a:avLst/>
          </a:prstGeom>
          <a:noFill/>
          <a:ln w="63500">
            <a:solidFill>
              <a:srgbClr val="E9762B"/>
            </a:solidFill>
            <a:prstDash val="solid"/>
          </a:ln>
        </p:spPr>
      </p:sp>
      <p:sp>
        <p:nvSpPr>
          <p:cNvPr id="11" name="S04-mark60"/>
          <p:cNvSpPr/>
          <p:nvPr/>
        </p:nvSpPr>
        <p:spPr>
          <a:xfrm flipV="1">
            <a:off x="4256075" y="4344845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61"/>
          <p:cNvSpPr/>
          <p:nvPr/>
        </p:nvSpPr>
        <p:spPr>
          <a:xfrm flipV="1">
            <a:off x="4838017" y="2698925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62"/>
          <p:cNvSpPr/>
          <p:nvPr/>
        </p:nvSpPr>
        <p:spPr>
          <a:xfrm flipV="1">
            <a:off x="1512875" y="4344845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4" name="S04-mark63"/>
          <p:cNvSpPr/>
          <p:nvPr/>
        </p:nvSpPr>
        <p:spPr>
          <a:xfrm>
            <a:off x="2094817" y="4344845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04-mark64"/>
          <p:cNvSpPr/>
          <p:nvPr/>
        </p:nvSpPr>
        <p:spPr>
          <a:xfrm flipV="1">
            <a:off x="2094817" y="2698925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04-mark65"/>
          <p:cNvSpPr/>
          <p:nvPr/>
        </p:nvSpPr>
        <p:spPr>
          <a:xfrm>
            <a:off x="4196639" y="48673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label67"/>
          <p:cNvSpPr txBox="1"/>
          <p:nvPr/>
        </p:nvSpPr>
        <p:spPr>
          <a:xfrm>
            <a:off x="2967025" y="362745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</a:t>
            </a:r>
            <a:endParaRPr lang="ko-KR" sz="2200" dirty="0"/>
          </a:p>
        </p:txBody>
      </p:sp>
      <p:sp>
        <p:nvSpPr>
          <p:cNvPr id="18" name="S04-label69"/>
          <p:cNvSpPr txBox="1"/>
          <p:nvPr/>
        </p:nvSpPr>
        <p:spPr>
          <a:xfrm>
            <a:off x="4481779" y="2113204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200" dirty="0"/>
          </a:p>
        </p:txBody>
      </p:sp>
      <p:sp>
        <p:nvSpPr>
          <p:cNvPr id="19" name="S04-label71"/>
          <p:cNvSpPr txBox="1"/>
          <p:nvPr/>
        </p:nvSpPr>
        <p:spPr>
          <a:xfrm>
            <a:off x="4119677" y="5081346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200" dirty="0"/>
          </a:p>
        </p:txBody>
      </p:sp>
      <p:sp>
        <p:nvSpPr>
          <p:cNvPr id="20" name="S04-card72"/>
          <p:cNvSpPr/>
          <p:nvPr/>
        </p:nvSpPr>
        <p:spPr>
          <a:xfrm>
            <a:off x="6277356" y="177317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73"/>
          <p:cNvSpPr txBox="1"/>
          <p:nvPr/>
        </p:nvSpPr>
        <p:spPr>
          <a:xfrm>
            <a:off x="6551676" y="191033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선분으로 둘러싸인 부분</a:t>
            </a:r>
            <a:endParaRPr lang="ko-KR" sz="2800" dirty="0"/>
          </a:p>
        </p:txBody>
      </p:sp>
      <p:sp>
        <p:nvSpPr>
          <p:cNvPr id="22" name="S04-card74"/>
          <p:cNvSpPr/>
          <p:nvPr/>
        </p:nvSpPr>
        <p:spPr>
          <a:xfrm>
            <a:off x="6277356" y="31818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4-cardtext75"/>
          <p:cNvSpPr txBox="1"/>
          <p:nvPr/>
        </p:nvSpPr>
        <p:spPr>
          <a:xfrm>
            <a:off x="6551676" y="33190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면과 면이 만나는 선분</a:t>
            </a:r>
            <a:endParaRPr lang="ko-KR" sz="2800" dirty="0"/>
          </a:p>
        </p:txBody>
      </p:sp>
      <p:sp>
        <p:nvSpPr>
          <p:cNvPr id="24" name="S04-card76"/>
          <p:cNvSpPr/>
          <p:nvPr/>
        </p:nvSpPr>
        <p:spPr>
          <a:xfrm>
            <a:off x="6277356" y="459054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77"/>
          <p:cNvSpPr txBox="1"/>
          <p:nvPr/>
        </p:nvSpPr>
        <p:spPr>
          <a:xfrm>
            <a:off x="6551676" y="472770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모서리와 모서리가 만나는 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세어 봐요</a:t>
            </a:r>
            <a:endParaRPr lang="ko-KR" sz="4000" dirty="0"/>
          </a:p>
        </p:txBody>
      </p:sp>
      <p:sp>
        <p:nvSpPr>
          <p:cNvPr id="3" name="S05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점선도 빠뜨리지 말고 세어요.</a:t>
            </a:r>
            <a:endParaRPr lang="ko-KR" sz="2800" dirty="0"/>
          </a:p>
        </p:txBody>
      </p:sp>
      <p:sp>
        <p:nvSpPr>
          <p:cNvPr id="5" name="S05-figure80" descr="직육면체의 겨냥도: 보이는 모서리는 실선, 보이지 않는 모서리 3개는 점선"/>
          <p:cNvSpPr/>
          <p:nvPr/>
        </p:nvSpPr>
        <p:spPr>
          <a:xfrm>
            <a:off x="7296263" y="4337191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81"/>
          <p:cNvSpPr/>
          <p:nvPr/>
        </p:nvSpPr>
        <p:spPr>
          <a:xfrm flipV="1">
            <a:off x="10039463" y="2691271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82"/>
          <p:cNvSpPr/>
          <p:nvPr/>
        </p:nvSpPr>
        <p:spPr>
          <a:xfrm flipH="1">
            <a:off x="7296263" y="2691271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83"/>
          <p:cNvSpPr/>
          <p:nvPr/>
        </p:nvSpPr>
        <p:spPr>
          <a:xfrm>
            <a:off x="7296263" y="2691271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84"/>
          <p:cNvSpPr/>
          <p:nvPr/>
        </p:nvSpPr>
        <p:spPr>
          <a:xfrm flipV="1">
            <a:off x="7296263" y="210932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85"/>
          <p:cNvSpPr/>
          <p:nvPr/>
        </p:nvSpPr>
        <p:spPr>
          <a:xfrm>
            <a:off x="7878205" y="2109329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5-mark86"/>
          <p:cNvSpPr/>
          <p:nvPr/>
        </p:nvSpPr>
        <p:spPr>
          <a:xfrm flipH="1">
            <a:off x="10039463" y="210932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5-mark87"/>
          <p:cNvSpPr/>
          <p:nvPr/>
        </p:nvSpPr>
        <p:spPr>
          <a:xfrm flipV="1">
            <a:off x="10039463" y="375524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88"/>
          <p:cNvSpPr/>
          <p:nvPr/>
        </p:nvSpPr>
        <p:spPr>
          <a:xfrm flipV="1">
            <a:off x="10621405" y="2109329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89"/>
          <p:cNvSpPr/>
          <p:nvPr/>
        </p:nvSpPr>
        <p:spPr>
          <a:xfrm flipV="1">
            <a:off x="7296263" y="375524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05-mark90"/>
          <p:cNvSpPr/>
          <p:nvPr/>
        </p:nvSpPr>
        <p:spPr>
          <a:xfrm>
            <a:off x="7878205" y="3755249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05-mark91"/>
          <p:cNvSpPr/>
          <p:nvPr/>
        </p:nvSpPr>
        <p:spPr>
          <a:xfrm flipV="1">
            <a:off x="7878205" y="2109329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05-chip9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5-text93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면은 몇 개?</a:t>
            </a:r>
            <a:endParaRPr lang="ko-KR" sz="2800" dirty="0"/>
          </a:p>
        </p:txBody>
      </p:sp>
      <p:sp>
        <p:nvSpPr>
          <p:cNvPr id="19" name="S05-chip9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5-text95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모서리는 몇 개?</a:t>
            </a:r>
            <a:endParaRPr lang="ko-KR" sz="2800" dirty="0"/>
          </a:p>
        </p:txBody>
      </p:sp>
      <p:sp>
        <p:nvSpPr>
          <p:cNvPr id="21" name="S05-chip9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5-text97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 몇 개?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4000" dirty="0"/>
          </a:p>
        </p:txBody>
      </p:sp>
      <p:sp>
        <p:nvSpPr>
          <p:cNvPr id="3" name="S06-card98"/>
          <p:cNvSpPr/>
          <p:nvPr/>
        </p:nvSpPr>
        <p:spPr>
          <a:xfrm>
            <a:off x="548640" y="4696968"/>
            <a:ext cx="11091672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9"/>
          <p:cNvSpPr txBox="1"/>
          <p:nvPr/>
        </p:nvSpPr>
        <p:spPr>
          <a:xfrm>
            <a:off x="822960" y="4834128"/>
            <a:ext cx="1054303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모양을 잘 알 수 있게 보이는 모서리는 실선, 보이지 않는 모서리는 점선으로 그린 그림</a:t>
            </a:r>
            <a:endParaRPr lang="ko-KR" sz="2800" dirty="0"/>
          </a:p>
        </p:txBody>
      </p:sp>
      <p:sp>
        <p:nvSpPr>
          <p:cNvPr id="5" name="S06-figure100" descr="모든 모서리를 실선으로 그린 직육면체: 어느 면이 앞인지 알기 어려움"/>
          <p:cNvSpPr/>
          <p:nvPr/>
        </p:nvSpPr>
        <p:spPr>
          <a:xfrm>
            <a:off x="1856072" y="36002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01"/>
          <p:cNvSpPr/>
          <p:nvPr/>
        </p:nvSpPr>
        <p:spPr>
          <a:xfrm flipV="1">
            <a:off x="4142072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102"/>
          <p:cNvSpPr/>
          <p:nvPr/>
        </p:nvSpPr>
        <p:spPr>
          <a:xfrm flipH="1">
            <a:off x="1856072" y="22286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103"/>
          <p:cNvSpPr/>
          <p:nvPr/>
        </p:nvSpPr>
        <p:spPr>
          <a:xfrm>
            <a:off x="1856072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104"/>
          <p:cNvSpPr/>
          <p:nvPr/>
        </p:nvSpPr>
        <p:spPr>
          <a:xfrm flipV="1">
            <a:off x="1856072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105"/>
          <p:cNvSpPr/>
          <p:nvPr/>
        </p:nvSpPr>
        <p:spPr>
          <a:xfrm>
            <a:off x="2341024" y="17436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106"/>
          <p:cNvSpPr/>
          <p:nvPr/>
        </p:nvSpPr>
        <p:spPr>
          <a:xfrm flipH="1">
            <a:off x="4142072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6-mark107"/>
          <p:cNvSpPr/>
          <p:nvPr/>
        </p:nvSpPr>
        <p:spPr>
          <a:xfrm flipV="1">
            <a:off x="4142072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108"/>
          <p:cNvSpPr/>
          <p:nvPr/>
        </p:nvSpPr>
        <p:spPr>
          <a:xfrm flipV="1">
            <a:off x="4627024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109"/>
          <p:cNvSpPr/>
          <p:nvPr/>
        </p:nvSpPr>
        <p:spPr>
          <a:xfrm flipV="1">
            <a:off x="1856072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6-mark110"/>
          <p:cNvSpPr/>
          <p:nvPr/>
        </p:nvSpPr>
        <p:spPr>
          <a:xfrm>
            <a:off x="2341024" y="31152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6-mark111"/>
          <p:cNvSpPr/>
          <p:nvPr/>
        </p:nvSpPr>
        <p:spPr>
          <a:xfrm flipV="1">
            <a:off x="2341024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6-label112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실선으로 그리면</a:t>
            </a:r>
            <a:endParaRPr lang="ko-KR" sz="2200" dirty="0"/>
          </a:p>
        </p:txBody>
      </p:sp>
      <p:sp>
        <p:nvSpPr>
          <p:cNvPr id="18" name="S06-figure113" descr="보이지 않는 모서리 3개를 점선으로 그린 직육면체의 겨냥도"/>
          <p:cNvSpPr/>
          <p:nvPr/>
        </p:nvSpPr>
        <p:spPr>
          <a:xfrm>
            <a:off x="7561928" y="36002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6-mark114"/>
          <p:cNvSpPr/>
          <p:nvPr/>
        </p:nvSpPr>
        <p:spPr>
          <a:xfrm flipV="1">
            <a:off x="9847928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115"/>
          <p:cNvSpPr/>
          <p:nvPr/>
        </p:nvSpPr>
        <p:spPr>
          <a:xfrm flipH="1">
            <a:off x="7561928" y="22286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6-mark116"/>
          <p:cNvSpPr/>
          <p:nvPr/>
        </p:nvSpPr>
        <p:spPr>
          <a:xfrm>
            <a:off x="7561928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6-mark117"/>
          <p:cNvSpPr/>
          <p:nvPr/>
        </p:nvSpPr>
        <p:spPr>
          <a:xfrm flipV="1">
            <a:off x="7561928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118"/>
          <p:cNvSpPr/>
          <p:nvPr/>
        </p:nvSpPr>
        <p:spPr>
          <a:xfrm>
            <a:off x="8046880" y="17436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6-mark119"/>
          <p:cNvSpPr/>
          <p:nvPr/>
        </p:nvSpPr>
        <p:spPr>
          <a:xfrm flipH="1">
            <a:off x="9847928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6-mark120"/>
          <p:cNvSpPr/>
          <p:nvPr/>
        </p:nvSpPr>
        <p:spPr>
          <a:xfrm flipV="1">
            <a:off x="9847928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6-mark121"/>
          <p:cNvSpPr/>
          <p:nvPr/>
        </p:nvSpPr>
        <p:spPr>
          <a:xfrm flipV="1">
            <a:off x="10332880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6-mark122"/>
          <p:cNvSpPr/>
          <p:nvPr/>
        </p:nvSpPr>
        <p:spPr>
          <a:xfrm flipV="1">
            <a:off x="7561928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8" name="S06-mark123"/>
          <p:cNvSpPr/>
          <p:nvPr/>
        </p:nvSpPr>
        <p:spPr>
          <a:xfrm>
            <a:off x="8046880" y="31152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06-mark124"/>
          <p:cNvSpPr/>
          <p:nvPr/>
        </p:nvSpPr>
        <p:spPr>
          <a:xfrm flipV="1">
            <a:off x="8046880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0" name="S06-label125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1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정육면체는 직육면체라고 할 수 있을까요?</a:t>
            </a:r>
            <a:endParaRPr lang="ko-KR" sz="2800" dirty="0"/>
          </a:p>
        </p:txBody>
      </p:sp>
      <p:sp>
        <p:nvSpPr>
          <p:cNvPr id="5" name="S07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7-chip13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아니에요</a:t>
            </a:r>
            <a:endParaRPr lang="ko-KR" sz="2200" dirty="0"/>
          </a:p>
        </p:txBody>
      </p:sp>
      <p:sp>
        <p:nvSpPr>
          <p:cNvPr id="8" name="S07-text13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“정사각형으로만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 있으니까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직육면체가 아니에요.”</a:t>
            </a:r>
            <a:endParaRPr lang="ko-KR" sz="2800" dirty="0"/>
          </a:p>
        </p:txBody>
      </p:sp>
      <p:sp>
        <p:nvSpPr>
          <p:cNvPr id="9" name="S07-chip13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맞아요</a:t>
            </a:r>
            <a:endParaRPr lang="ko-KR" sz="2200" dirty="0"/>
          </a:p>
        </p:txBody>
      </p:sp>
      <p:sp>
        <p:nvSpPr>
          <p:cNvPr id="10" name="S07-text13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“정사각형도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전개도</a:t>
            </a:r>
            <a:endParaRPr lang="ko-KR" sz="4000" dirty="0"/>
          </a:p>
        </p:txBody>
      </p:sp>
      <p:sp>
        <p:nvSpPr>
          <p:cNvPr id="3" name="S08-text1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cm예요.</a:t>
            </a:r>
            <a:endParaRPr lang="ko-KR" sz="2800" dirty="0"/>
          </a:p>
        </p:txBody>
      </p:sp>
      <p:sp>
        <p:nvSpPr>
          <p:cNvPr id="4" name="S08-mark135"/>
          <p:cNvSpPr/>
          <p:nvPr/>
        </p:nvSpPr>
        <p:spPr>
          <a:xfrm>
            <a:off x="1791310" y="296265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8-mark136"/>
          <p:cNvSpPr/>
          <p:nvPr/>
        </p:nvSpPr>
        <p:spPr>
          <a:xfrm flipV="1">
            <a:off x="1462126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137"/>
          <p:cNvSpPr/>
          <p:nvPr/>
        </p:nvSpPr>
        <p:spPr>
          <a:xfrm flipV="1">
            <a:off x="1791310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138"/>
          <p:cNvSpPr/>
          <p:nvPr/>
        </p:nvSpPr>
        <p:spPr>
          <a:xfrm flipV="1">
            <a:off x="2120494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139"/>
          <p:cNvSpPr/>
          <p:nvPr/>
        </p:nvSpPr>
        <p:spPr>
          <a:xfrm flipV="1">
            <a:off x="2449678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140"/>
          <p:cNvSpPr/>
          <p:nvPr/>
        </p:nvSpPr>
        <p:spPr>
          <a:xfrm flipV="1">
            <a:off x="2778862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141"/>
          <p:cNvSpPr/>
          <p:nvPr/>
        </p:nvSpPr>
        <p:spPr>
          <a:xfrm flipV="1">
            <a:off x="3108046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142"/>
          <p:cNvSpPr/>
          <p:nvPr/>
        </p:nvSpPr>
        <p:spPr>
          <a:xfrm flipV="1">
            <a:off x="3437230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143"/>
          <p:cNvSpPr/>
          <p:nvPr/>
        </p:nvSpPr>
        <p:spPr>
          <a:xfrm flipV="1">
            <a:off x="3766414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144"/>
          <p:cNvSpPr/>
          <p:nvPr/>
        </p:nvSpPr>
        <p:spPr>
          <a:xfrm flipV="1">
            <a:off x="4095598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145"/>
          <p:cNvSpPr/>
          <p:nvPr/>
        </p:nvSpPr>
        <p:spPr>
          <a:xfrm flipV="1">
            <a:off x="4424782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146"/>
          <p:cNvSpPr/>
          <p:nvPr/>
        </p:nvSpPr>
        <p:spPr>
          <a:xfrm flipV="1">
            <a:off x="4753966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147"/>
          <p:cNvSpPr/>
          <p:nvPr/>
        </p:nvSpPr>
        <p:spPr>
          <a:xfrm flipV="1">
            <a:off x="5083150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148"/>
          <p:cNvSpPr/>
          <p:nvPr/>
        </p:nvSpPr>
        <p:spPr>
          <a:xfrm flipV="1">
            <a:off x="5412334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149"/>
          <p:cNvSpPr/>
          <p:nvPr/>
        </p:nvSpPr>
        <p:spPr>
          <a:xfrm flipV="1">
            <a:off x="5741518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150"/>
          <p:cNvSpPr/>
          <p:nvPr/>
        </p:nvSpPr>
        <p:spPr>
          <a:xfrm flipV="1">
            <a:off x="6070702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151"/>
          <p:cNvSpPr/>
          <p:nvPr/>
        </p:nvSpPr>
        <p:spPr>
          <a:xfrm>
            <a:off x="1462126" y="559612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152"/>
          <p:cNvSpPr/>
          <p:nvPr/>
        </p:nvSpPr>
        <p:spPr>
          <a:xfrm>
            <a:off x="1462126" y="526694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153"/>
          <p:cNvSpPr/>
          <p:nvPr/>
        </p:nvSpPr>
        <p:spPr>
          <a:xfrm>
            <a:off x="1462126" y="493776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154"/>
          <p:cNvSpPr/>
          <p:nvPr/>
        </p:nvSpPr>
        <p:spPr>
          <a:xfrm>
            <a:off x="1462126" y="460857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155"/>
          <p:cNvSpPr/>
          <p:nvPr/>
        </p:nvSpPr>
        <p:spPr>
          <a:xfrm>
            <a:off x="1462126" y="427939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156"/>
          <p:cNvSpPr/>
          <p:nvPr/>
        </p:nvSpPr>
        <p:spPr>
          <a:xfrm>
            <a:off x="1462126" y="395020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157"/>
          <p:cNvSpPr/>
          <p:nvPr/>
        </p:nvSpPr>
        <p:spPr>
          <a:xfrm>
            <a:off x="1462126" y="362102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mark158"/>
          <p:cNvSpPr/>
          <p:nvPr/>
        </p:nvSpPr>
        <p:spPr>
          <a:xfrm>
            <a:off x="1462126" y="329184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8-mark159"/>
          <p:cNvSpPr/>
          <p:nvPr/>
        </p:nvSpPr>
        <p:spPr>
          <a:xfrm>
            <a:off x="1462126" y="296265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8-mark160"/>
          <p:cNvSpPr/>
          <p:nvPr/>
        </p:nvSpPr>
        <p:spPr>
          <a:xfrm>
            <a:off x="1462126" y="263347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8-figure161" descr="모눈 위의 직육면체 전개도: 가운데 줄에 면 가(2×3), 나(4×3), 다(2×3), 라(4×3), 나의 아래에 마(4×2), 위에 바(4×2). 바깥 선은 실선, 접는 선은 점선. 모눈 한 칸은 1 cm"/>
          <p:cNvSpPr/>
          <p:nvPr/>
        </p:nvSpPr>
        <p:spPr>
          <a:xfrm>
            <a:off x="1791310" y="296265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8-mark162"/>
          <p:cNvSpPr/>
          <p:nvPr/>
        </p:nvSpPr>
        <p:spPr>
          <a:xfrm>
            <a:off x="2449678" y="4608576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2" name="S08-mark163"/>
          <p:cNvSpPr/>
          <p:nvPr/>
        </p:nvSpPr>
        <p:spPr>
          <a:xfrm>
            <a:off x="2449678" y="362102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3" name="S08-mark164"/>
          <p:cNvSpPr/>
          <p:nvPr/>
        </p:nvSpPr>
        <p:spPr>
          <a:xfrm flipV="1">
            <a:off x="2449678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4" name="S08-mark165"/>
          <p:cNvSpPr/>
          <p:nvPr/>
        </p:nvSpPr>
        <p:spPr>
          <a:xfrm flipV="1">
            <a:off x="3766414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5" name="S08-mark166"/>
          <p:cNvSpPr/>
          <p:nvPr/>
        </p:nvSpPr>
        <p:spPr>
          <a:xfrm flipV="1">
            <a:off x="4424782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6" name="S08-mark167"/>
          <p:cNvSpPr/>
          <p:nvPr/>
        </p:nvSpPr>
        <p:spPr>
          <a:xfrm>
            <a:off x="2449678" y="526694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8-mark168"/>
          <p:cNvSpPr/>
          <p:nvPr/>
        </p:nvSpPr>
        <p:spPr>
          <a:xfrm flipV="1">
            <a:off x="2449678" y="4608576"/>
            <a:ext cx="0" cy="65836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8-mark169"/>
          <p:cNvSpPr/>
          <p:nvPr/>
        </p:nvSpPr>
        <p:spPr>
          <a:xfrm flipV="1">
            <a:off x="1791310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8-label171"/>
          <p:cNvSpPr txBox="1"/>
          <p:nvPr/>
        </p:nvSpPr>
        <p:spPr>
          <a:xfrm>
            <a:off x="2726284" y="534377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40" name="S08-label173"/>
          <p:cNvSpPr txBox="1"/>
          <p:nvPr/>
        </p:nvSpPr>
        <p:spPr>
          <a:xfrm>
            <a:off x="1637640" y="47631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41" name="S08-label175"/>
          <p:cNvSpPr txBox="1"/>
          <p:nvPr/>
        </p:nvSpPr>
        <p:spPr>
          <a:xfrm>
            <a:off x="979272" y="39401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42" name="S08-label177"/>
          <p:cNvSpPr txBox="1"/>
          <p:nvPr/>
        </p:nvSpPr>
        <p:spPr>
          <a:xfrm>
            <a:off x="1928724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3" name="S08-label179"/>
          <p:cNvSpPr txBox="1"/>
          <p:nvPr/>
        </p:nvSpPr>
        <p:spPr>
          <a:xfrm>
            <a:off x="2916276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4" name="S08-label181"/>
          <p:cNvSpPr txBox="1"/>
          <p:nvPr/>
        </p:nvSpPr>
        <p:spPr>
          <a:xfrm>
            <a:off x="3903828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5" name="S08-label183"/>
          <p:cNvSpPr txBox="1"/>
          <p:nvPr/>
        </p:nvSpPr>
        <p:spPr>
          <a:xfrm>
            <a:off x="4891380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46" name="S08-label185"/>
          <p:cNvSpPr txBox="1"/>
          <p:nvPr/>
        </p:nvSpPr>
        <p:spPr>
          <a:xfrm>
            <a:off x="2916276" y="47631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47" name="S08-label187"/>
          <p:cNvSpPr txBox="1"/>
          <p:nvPr/>
        </p:nvSpPr>
        <p:spPr>
          <a:xfrm>
            <a:off x="2916276" y="311721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48" name="S08-card188"/>
          <p:cNvSpPr/>
          <p:nvPr/>
        </p:nvSpPr>
        <p:spPr>
          <a:xfrm>
            <a:off x="7349947" y="2649982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9" name="S08-cardtext189"/>
          <p:cNvSpPr txBox="1"/>
          <p:nvPr/>
        </p:nvSpPr>
        <p:spPr>
          <a:xfrm>
            <a:off x="7624267" y="2787142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모서리를 잘라서 펼친 그림</a:t>
            </a:r>
            <a:endParaRPr lang="ko-KR" sz="2800" dirty="0"/>
          </a:p>
        </p:txBody>
      </p:sp>
      <p:sp>
        <p:nvSpPr>
          <p:cNvPr id="50" name="S08-card190"/>
          <p:cNvSpPr/>
          <p:nvPr/>
        </p:nvSpPr>
        <p:spPr>
          <a:xfrm>
            <a:off x="7349947" y="4058666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1" name="S08-cardtext191"/>
          <p:cNvSpPr txBox="1"/>
          <p:nvPr/>
        </p:nvSpPr>
        <p:spPr>
          <a:xfrm>
            <a:off x="7624267" y="4195826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잘린 모서리는 실선, 접는 곳은 점선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면</a:t>
            </a:r>
            <a:endParaRPr lang="ko-KR" sz="4000" dirty="0"/>
          </a:p>
        </p:txBody>
      </p:sp>
      <p:sp>
        <p:nvSpPr>
          <p:cNvPr id="3" name="S09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접었을 때 맞닿는 모서리의 길이도 같아요.</a:t>
            </a:r>
            <a:endParaRPr lang="ko-KR" sz="2800" dirty="0"/>
          </a:p>
        </p:txBody>
      </p:sp>
      <p:sp>
        <p:nvSpPr>
          <p:cNvPr id="5" name="S09-mark194"/>
          <p:cNvSpPr/>
          <p:nvPr/>
        </p:nvSpPr>
        <p:spPr>
          <a:xfrm>
            <a:off x="1791310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9-mark195"/>
          <p:cNvSpPr/>
          <p:nvPr/>
        </p:nvSpPr>
        <p:spPr>
          <a:xfrm>
            <a:off x="2449678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CF4"/>
          </a:solidFill>
          <a:ln/>
        </p:spPr>
      </p:sp>
      <p:sp>
        <p:nvSpPr>
          <p:cNvPr id="7" name="S09-mark196"/>
          <p:cNvSpPr/>
          <p:nvPr/>
        </p:nvSpPr>
        <p:spPr>
          <a:xfrm>
            <a:off x="3766414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9-mark197"/>
          <p:cNvSpPr/>
          <p:nvPr/>
        </p:nvSpPr>
        <p:spPr>
          <a:xfrm>
            <a:off x="4424782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CF4"/>
          </a:solidFill>
          <a:ln/>
        </p:spPr>
      </p:sp>
      <p:sp>
        <p:nvSpPr>
          <p:cNvPr id="9" name="S09-mark198"/>
          <p:cNvSpPr/>
          <p:nvPr/>
        </p:nvSpPr>
        <p:spPr>
          <a:xfrm>
            <a:off x="2449678" y="371703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DE8"/>
          </a:solidFill>
          <a:ln/>
        </p:spPr>
      </p:sp>
      <p:sp>
        <p:nvSpPr>
          <p:cNvPr id="10" name="S09-mark199"/>
          <p:cNvSpPr/>
          <p:nvPr/>
        </p:nvSpPr>
        <p:spPr>
          <a:xfrm>
            <a:off x="2449678" y="207111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DE8"/>
          </a:solidFill>
          <a:ln/>
        </p:spPr>
      </p:sp>
      <p:sp>
        <p:nvSpPr>
          <p:cNvPr id="11" name="S09-mark200"/>
          <p:cNvSpPr/>
          <p:nvPr/>
        </p:nvSpPr>
        <p:spPr>
          <a:xfrm flipV="1">
            <a:off x="146212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201"/>
          <p:cNvSpPr/>
          <p:nvPr/>
        </p:nvSpPr>
        <p:spPr>
          <a:xfrm flipV="1">
            <a:off x="179131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202"/>
          <p:cNvSpPr/>
          <p:nvPr/>
        </p:nvSpPr>
        <p:spPr>
          <a:xfrm flipV="1">
            <a:off x="212049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203"/>
          <p:cNvSpPr/>
          <p:nvPr/>
        </p:nvSpPr>
        <p:spPr>
          <a:xfrm flipV="1">
            <a:off x="244967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204"/>
          <p:cNvSpPr/>
          <p:nvPr/>
        </p:nvSpPr>
        <p:spPr>
          <a:xfrm flipV="1">
            <a:off x="277886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205"/>
          <p:cNvSpPr/>
          <p:nvPr/>
        </p:nvSpPr>
        <p:spPr>
          <a:xfrm flipV="1">
            <a:off x="310804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206"/>
          <p:cNvSpPr/>
          <p:nvPr/>
        </p:nvSpPr>
        <p:spPr>
          <a:xfrm flipV="1">
            <a:off x="343723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207"/>
          <p:cNvSpPr/>
          <p:nvPr/>
        </p:nvSpPr>
        <p:spPr>
          <a:xfrm flipV="1">
            <a:off x="376641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08"/>
          <p:cNvSpPr/>
          <p:nvPr/>
        </p:nvSpPr>
        <p:spPr>
          <a:xfrm flipV="1">
            <a:off x="409559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09"/>
          <p:cNvSpPr/>
          <p:nvPr/>
        </p:nvSpPr>
        <p:spPr>
          <a:xfrm flipV="1">
            <a:off x="442478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mark210"/>
          <p:cNvSpPr/>
          <p:nvPr/>
        </p:nvSpPr>
        <p:spPr>
          <a:xfrm flipV="1">
            <a:off x="475396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mark211"/>
          <p:cNvSpPr/>
          <p:nvPr/>
        </p:nvSpPr>
        <p:spPr>
          <a:xfrm flipV="1">
            <a:off x="508315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212"/>
          <p:cNvSpPr/>
          <p:nvPr/>
        </p:nvSpPr>
        <p:spPr>
          <a:xfrm flipV="1">
            <a:off x="541233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213"/>
          <p:cNvSpPr/>
          <p:nvPr/>
        </p:nvSpPr>
        <p:spPr>
          <a:xfrm flipV="1">
            <a:off x="574151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214"/>
          <p:cNvSpPr/>
          <p:nvPr/>
        </p:nvSpPr>
        <p:spPr>
          <a:xfrm flipV="1">
            <a:off x="607070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mark215"/>
          <p:cNvSpPr/>
          <p:nvPr/>
        </p:nvSpPr>
        <p:spPr>
          <a:xfrm>
            <a:off x="1462126" y="470458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9-mark216"/>
          <p:cNvSpPr/>
          <p:nvPr/>
        </p:nvSpPr>
        <p:spPr>
          <a:xfrm>
            <a:off x="1462126" y="437540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9-mark217"/>
          <p:cNvSpPr/>
          <p:nvPr/>
        </p:nvSpPr>
        <p:spPr>
          <a:xfrm>
            <a:off x="1462126" y="404622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mark218"/>
          <p:cNvSpPr/>
          <p:nvPr/>
        </p:nvSpPr>
        <p:spPr>
          <a:xfrm>
            <a:off x="1462126" y="371703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9-mark219"/>
          <p:cNvSpPr/>
          <p:nvPr/>
        </p:nvSpPr>
        <p:spPr>
          <a:xfrm>
            <a:off x="1462126" y="338785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9-mark220"/>
          <p:cNvSpPr/>
          <p:nvPr/>
        </p:nvSpPr>
        <p:spPr>
          <a:xfrm>
            <a:off x="1462126" y="305866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9-mark221"/>
          <p:cNvSpPr/>
          <p:nvPr/>
        </p:nvSpPr>
        <p:spPr>
          <a:xfrm>
            <a:off x="1462126" y="272948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9-mark222"/>
          <p:cNvSpPr/>
          <p:nvPr/>
        </p:nvSpPr>
        <p:spPr>
          <a:xfrm>
            <a:off x="1462126" y="240030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9-mark223"/>
          <p:cNvSpPr/>
          <p:nvPr/>
        </p:nvSpPr>
        <p:spPr>
          <a:xfrm>
            <a:off x="1462126" y="207111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9-mark224"/>
          <p:cNvSpPr/>
          <p:nvPr/>
        </p:nvSpPr>
        <p:spPr>
          <a:xfrm>
            <a:off x="1462126" y="174193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9-figure225" descr="같은 전개도에서 마주 보는 면끼리 같은 색: 가와 다 노랑, 나와 라 파랑, 마와 바 초록"/>
          <p:cNvSpPr/>
          <p:nvPr/>
        </p:nvSpPr>
        <p:spPr>
          <a:xfrm>
            <a:off x="1791310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37" name="S09-mark226"/>
          <p:cNvSpPr/>
          <p:nvPr/>
        </p:nvSpPr>
        <p:spPr>
          <a:xfrm>
            <a:off x="2449678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38" name="S09-mark227"/>
          <p:cNvSpPr/>
          <p:nvPr/>
        </p:nvSpPr>
        <p:spPr>
          <a:xfrm>
            <a:off x="3766414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39" name="S09-mark228"/>
          <p:cNvSpPr/>
          <p:nvPr/>
        </p:nvSpPr>
        <p:spPr>
          <a:xfrm>
            <a:off x="4424782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40" name="S09-mark229"/>
          <p:cNvSpPr/>
          <p:nvPr/>
        </p:nvSpPr>
        <p:spPr>
          <a:xfrm>
            <a:off x="2449678" y="371703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41" name="S09-mark230"/>
          <p:cNvSpPr/>
          <p:nvPr/>
        </p:nvSpPr>
        <p:spPr>
          <a:xfrm>
            <a:off x="2449678" y="207111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42" name="S09-mark231"/>
          <p:cNvSpPr/>
          <p:nvPr/>
        </p:nvSpPr>
        <p:spPr>
          <a:xfrm>
            <a:off x="1791310" y="207111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9-mark232"/>
          <p:cNvSpPr/>
          <p:nvPr/>
        </p:nvSpPr>
        <p:spPr>
          <a:xfrm>
            <a:off x="2449678" y="3717036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4" name="S09-mark233"/>
          <p:cNvSpPr/>
          <p:nvPr/>
        </p:nvSpPr>
        <p:spPr>
          <a:xfrm>
            <a:off x="2449678" y="272948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5" name="S09-mark234"/>
          <p:cNvSpPr/>
          <p:nvPr/>
        </p:nvSpPr>
        <p:spPr>
          <a:xfrm flipV="1">
            <a:off x="2449678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6" name="S09-mark235"/>
          <p:cNvSpPr/>
          <p:nvPr/>
        </p:nvSpPr>
        <p:spPr>
          <a:xfrm flipV="1">
            <a:off x="3766414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7" name="S09-mark236"/>
          <p:cNvSpPr/>
          <p:nvPr/>
        </p:nvSpPr>
        <p:spPr>
          <a:xfrm flipV="1">
            <a:off x="4424782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8" name="S09-label238"/>
          <p:cNvSpPr txBox="1"/>
          <p:nvPr/>
        </p:nvSpPr>
        <p:spPr>
          <a:xfrm>
            <a:off x="1928724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9" name="S09-label240"/>
          <p:cNvSpPr txBox="1"/>
          <p:nvPr/>
        </p:nvSpPr>
        <p:spPr>
          <a:xfrm>
            <a:off x="2916276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50" name="S09-label242"/>
          <p:cNvSpPr txBox="1"/>
          <p:nvPr/>
        </p:nvSpPr>
        <p:spPr>
          <a:xfrm>
            <a:off x="3903828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51" name="S09-label244"/>
          <p:cNvSpPr txBox="1"/>
          <p:nvPr/>
        </p:nvSpPr>
        <p:spPr>
          <a:xfrm>
            <a:off x="4891380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52" name="S09-label246"/>
          <p:cNvSpPr txBox="1"/>
          <p:nvPr/>
        </p:nvSpPr>
        <p:spPr>
          <a:xfrm>
            <a:off x="2916276" y="387159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53" name="S09-label248"/>
          <p:cNvSpPr txBox="1"/>
          <p:nvPr/>
        </p:nvSpPr>
        <p:spPr>
          <a:xfrm>
            <a:off x="2916276" y="22256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54" name="S09-card249"/>
          <p:cNvSpPr/>
          <p:nvPr/>
        </p:nvSpPr>
        <p:spPr>
          <a:xfrm>
            <a:off x="7349947" y="1588008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5" name="S09-cardtext250"/>
          <p:cNvSpPr txBox="1"/>
          <p:nvPr/>
        </p:nvSpPr>
        <p:spPr>
          <a:xfrm>
            <a:off x="7624267" y="1725168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면 3쌍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다, 나와 라, 마와 바 (서로 평행)</a:t>
            </a:r>
            <a:endParaRPr lang="ko-KR" sz="2800" dirty="0"/>
          </a:p>
        </p:txBody>
      </p:sp>
      <p:sp>
        <p:nvSpPr>
          <p:cNvPr id="56" name="S09-card251"/>
          <p:cNvSpPr/>
          <p:nvPr/>
        </p:nvSpPr>
        <p:spPr>
          <a:xfrm>
            <a:off x="7349947" y="333756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7" name="S09-cardtext252"/>
          <p:cNvSpPr txBox="1"/>
          <p:nvPr/>
        </p:nvSpPr>
        <p:spPr>
          <a:xfrm>
            <a:off x="7624267" y="347472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면은 모양과 크기가 같아요.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어떻게 될까요?</a:t>
            </a:r>
            <a:endParaRPr lang="ko-KR" sz="4000" dirty="0"/>
          </a:p>
        </p:txBody>
      </p:sp>
      <p:sp>
        <p:nvSpPr>
          <p:cNvPr id="3" name="S10-card2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2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그려 오려서 접어 봐도 돼요.</a:t>
            </a:r>
            <a:endParaRPr lang="ko-KR" sz="2800" dirty="0"/>
          </a:p>
        </p:txBody>
      </p:sp>
      <p:sp>
        <p:nvSpPr>
          <p:cNvPr id="5" name="S10-mark255"/>
          <p:cNvSpPr/>
          <p:nvPr/>
        </p:nvSpPr>
        <p:spPr>
          <a:xfrm>
            <a:off x="6983730" y="207111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0-mark256"/>
          <p:cNvSpPr/>
          <p:nvPr/>
        </p:nvSpPr>
        <p:spPr>
          <a:xfrm flipV="1">
            <a:off x="665454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0-mark257"/>
          <p:cNvSpPr/>
          <p:nvPr/>
        </p:nvSpPr>
        <p:spPr>
          <a:xfrm flipV="1">
            <a:off x="698373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258"/>
          <p:cNvSpPr/>
          <p:nvPr/>
        </p:nvSpPr>
        <p:spPr>
          <a:xfrm flipV="1">
            <a:off x="731291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259"/>
          <p:cNvSpPr/>
          <p:nvPr/>
        </p:nvSpPr>
        <p:spPr>
          <a:xfrm flipV="1">
            <a:off x="764209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260"/>
          <p:cNvSpPr/>
          <p:nvPr/>
        </p:nvSpPr>
        <p:spPr>
          <a:xfrm flipV="1">
            <a:off x="797128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261"/>
          <p:cNvSpPr/>
          <p:nvPr/>
        </p:nvSpPr>
        <p:spPr>
          <a:xfrm flipV="1">
            <a:off x="830046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262"/>
          <p:cNvSpPr/>
          <p:nvPr/>
        </p:nvSpPr>
        <p:spPr>
          <a:xfrm flipV="1">
            <a:off x="862965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263"/>
          <p:cNvSpPr/>
          <p:nvPr/>
        </p:nvSpPr>
        <p:spPr>
          <a:xfrm flipV="1">
            <a:off x="895883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264"/>
          <p:cNvSpPr/>
          <p:nvPr/>
        </p:nvSpPr>
        <p:spPr>
          <a:xfrm flipV="1">
            <a:off x="928801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265"/>
          <p:cNvSpPr/>
          <p:nvPr/>
        </p:nvSpPr>
        <p:spPr>
          <a:xfrm flipV="1">
            <a:off x="961720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266"/>
          <p:cNvSpPr/>
          <p:nvPr/>
        </p:nvSpPr>
        <p:spPr>
          <a:xfrm flipV="1">
            <a:off x="994638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267"/>
          <p:cNvSpPr/>
          <p:nvPr/>
        </p:nvSpPr>
        <p:spPr>
          <a:xfrm flipV="1">
            <a:off x="1027557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268"/>
          <p:cNvSpPr/>
          <p:nvPr/>
        </p:nvSpPr>
        <p:spPr>
          <a:xfrm flipV="1">
            <a:off x="1060475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269"/>
          <p:cNvSpPr/>
          <p:nvPr/>
        </p:nvSpPr>
        <p:spPr>
          <a:xfrm flipV="1">
            <a:off x="1093393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270"/>
          <p:cNvSpPr/>
          <p:nvPr/>
        </p:nvSpPr>
        <p:spPr>
          <a:xfrm flipV="1">
            <a:off x="1126312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271"/>
          <p:cNvSpPr/>
          <p:nvPr/>
        </p:nvSpPr>
        <p:spPr>
          <a:xfrm>
            <a:off x="6654546" y="470458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272"/>
          <p:cNvSpPr/>
          <p:nvPr/>
        </p:nvSpPr>
        <p:spPr>
          <a:xfrm>
            <a:off x="6654546" y="437540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273"/>
          <p:cNvSpPr/>
          <p:nvPr/>
        </p:nvSpPr>
        <p:spPr>
          <a:xfrm>
            <a:off x="6654546" y="404622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274"/>
          <p:cNvSpPr/>
          <p:nvPr/>
        </p:nvSpPr>
        <p:spPr>
          <a:xfrm>
            <a:off x="6654546" y="371703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275"/>
          <p:cNvSpPr/>
          <p:nvPr/>
        </p:nvSpPr>
        <p:spPr>
          <a:xfrm>
            <a:off x="6654546" y="338785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276"/>
          <p:cNvSpPr/>
          <p:nvPr/>
        </p:nvSpPr>
        <p:spPr>
          <a:xfrm>
            <a:off x="6654546" y="305866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277"/>
          <p:cNvSpPr/>
          <p:nvPr/>
        </p:nvSpPr>
        <p:spPr>
          <a:xfrm>
            <a:off x="6654546" y="272948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78"/>
          <p:cNvSpPr/>
          <p:nvPr/>
        </p:nvSpPr>
        <p:spPr>
          <a:xfrm>
            <a:off x="6654546" y="240030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79"/>
          <p:cNvSpPr/>
          <p:nvPr/>
        </p:nvSpPr>
        <p:spPr>
          <a:xfrm>
            <a:off x="6654546" y="207111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280"/>
          <p:cNvSpPr/>
          <p:nvPr/>
        </p:nvSpPr>
        <p:spPr>
          <a:xfrm>
            <a:off x="6654546" y="174193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figure281" descr="직육면체 전개도에서 면 가의 왼쪽 변 양 끝에 점 ㄱ(위), ㄴ(아래), 면 라의 오른쪽 변 양 끝에 점 ㄹ(위), ㄷ(아래)"/>
          <p:cNvSpPr/>
          <p:nvPr/>
        </p:nvSpPr>
        <p:spPr>
          <a:xfrm>
            <a:off x="6983730" y="207111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10-mark282"/>
          <p:cNvSpPr/>
          <p:nvPr/>
        </p:nvSpPr>
        <p:spPr>
          <a:xfrm>
            <a:off x="7642098" y="3717036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3" name="S10-mark283"/>
          <p:cNvSpPr/>
          <p:nvPr/>
        </p:nvSpPr>
        <p:spPr>
          <a:xfrm>
            <a:off x="7642098" y="272948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4" name="S10-mark284"/>
          <p:cNvSpPr/>
          <p:nvPr/>
        </p:nvSpPr>
        <p:spPr>
          <a:xfrm flipV="1">
            <a:off x="7642098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5" name="S10-mark285"/>
          <p:cNvSpPr/>
          <p:nvPr/>
        </p:nvSpPr>
        <p:spPr>
          <a:xfrm flipV="1">
            <a:off x="8958834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6" name="S10-mark286"/>
          <p:cNvSpPr/>
          <p:nvPr/>
        </p:nvSpPr>
        <p:spPr>
          <a:xfrm flipV="1">
            <a:off x="9617202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7" name="S10-mark287"/>
          <p:cNvSpPr/>
          <p:nvPr/>
        </p:nvSpPr>
        <p:spPr>
          <a:xfrm>
            <a:off x="6924294" y="267004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0-mark288"/>
          <p:cNvSpPr/>
          <p:nvPr/>
        </p:nvSpPr>
        <p:spPr>
          <a:xfrm>
            <a:off x="6924294" y="365760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0-mark289"/>
          <p:cNvSpPr/>
          <p:nvPr/>
        </p:nvSpPr>
        <p:spPr>
          <a:xfrm>
            <a:off x="10874502" y="365760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0-mark290"/>
          <p:cNvSpPr/>
          <p:nvPr/>
        </p:nvSpPr>
        <p:spPr>
          <a:xfrm>
            <a:off x="10874502" y="267004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0-label292"/>
          <p:cNvSpPr txBox="1"/>
          <p:nvPr/>
        </p:nvSpPr>
        <p:spPr>
          <a:xfrm>
            <a:off x="6536708" y="2285891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42" name="S10-label294"/>
          <p:cNvSpPr txBox="1"/>
          <p:nvPr/>
        </p:nvSpPr>
        <p:spPr>
          <a:xfrm>
            <a:off x="6536708" y="3684379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43" name="S10-label296"/>
          <p:cNvSpPr txBox="1"/>
          <p:nvPr/>
        </p:nvSpPr>
        <p:spPr>
          <a:xfrm>
            <a:off x="10897852" y="3684379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44" name="S10-label298"/>
          <p:cNvSpPr txBox="1"/>
          <p:nvPr/>
        </p:nvSpPr>
        <p:spPr>
          <a:xfrm>
            <a:off x="10897852" y="2285891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45" name="S10-label300"/>
          <p:cNvSpPr txBox="1"/>
          <p:nvPr/>
        </p:nvSpPr>
        <p:spPr>
          <a:xfrm>
            <a:off x="7121144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6" name="S10-label302"/>
          <p:cNvSpPr txBox="1"/>
          <p:nvPr/>
        </p:nvSpPr>
        <p:spPr>
          <a:xfrm>
            <a:off x="8108696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7" name="S10-label304"/>
          <p:cNvSpPr txBox="1"/>
          <p:nvPr/>
        </p:nvSpPr>
        <p:spPr>
          <a:xfrm>
            <a:off x="9096248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8" name="S10-label306"/>
          <p:cNvSpPr txBox="1"/>
          <p:nvPr/>
        </p:nvSpPr>
        <p:spPr>
          <a:xfrm>
            <a:off x="10083800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49" name="S10-label308"/>
          <p:cNvSpPr txBox="1"/>
          <p:nvPr/>
        </p:nvSpPr>
        <p:spPr>
          <a:xfrm>
            <a:off x="8108696" y="387159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50" name="S10-label310"/>
          <p:cNvSpPr txBox="1"/>
          <p:nvPr/>
        </p:nvSpPr>
        <p:spPr>
          <a:xfrm>
            <a:off x="8108696" y="22256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51" name="S10-chip31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2" name="S10-text312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마와 수직인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면을 모두 써요.</a:t>
            </a:r>
            <a:endParaRPr lang="ko-KR" sz="2800" dirty="0"/>
          </a:p>
        </p:txBody>
      </p:sp>
      <p:sp>
        <p:nvSpPr>
          <p:cNvPr id="53" name="S10-chip31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54" name="S10-text314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ㄱ과 만나는 점은?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(ㄴ, ㄷ, ㄹ 중)</a:t>
            </a:r>
            <a:endParaRPr lang="ko-KR" sz="2800" dirty="0"/>
          </a:p>
        </p:txBody>
      </p:sp>
      <p:sp>
        <p:nvSpPr>
          <p:cNvPr id="55" name="S10-chip31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6" name="S10-text316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ㄱㄴ과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맞닿는 선분은?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317" descr="가로 5 cm, 높이 3 cm, 깊이 2 cm인 직육면체의 겨냥도"/>
          <p:cNvSpPr/>
          <p:nvPr/>
        </p:nvSpPr>
        <p:spPr>
          <a:xfrm>
            <a:off x="7140639" y="5023167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11-mark318"/>
          <p:cNvSpPr/>
          <p:nvPr/>
        </p:nvSpPr>
        <p:spPr>
          <a:xfrm flipV="1">
            <a:off x="9975279" y="332238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1-mark319"/>
          <p:cNvSpPr/>
          <p:nvPr/>
        </p:nvSpPr>
        <p:spPr>
          <a:xfrm flipH="1">
            <a:off x="7140639" y="3322383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320"/>
          <p:cNvSpPr/>
          <p:nvPr/>
        </p:nvSpPr>
        <p:spPr>
          <a:xfrm>
            <a:off x="7140639" y="332238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321"/>
          <p:cNvSpPr/>
          <p:nvPr/>
        </p:nvSpPr>
        <p:spPr>
          <a:xfrm flipV="1">
            <a:off x="7140639" y="2520633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322"/>
          <p:cNvSpPr/>
          <p:nvPr/>
        </p:nvSpPr>
        <p:spPr>
          <a:xfrm>
            <a:off x="7942389" y="2520633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1-mark323"/>
          <p:cNvSpPr/>
          <p:nvPr/>
        </p:nvSpPr>
        <p:spPr>
          <a:xfrm flipH="1">
            <a:off x="9975279" y="2520633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1-mark324"/>
          <p:cNvSpPr/>
          <p:nvPr/>
        </p:nvSpPr>
        <p:spPr>
          <a:xfrm flipV="1">
            <a:off x="9975279" y="4221417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1-mark325"/>
          <p:cNvSpPr/>
          <p:nvPr/>
        </p:nvSpPr>
        <p:spPr>
          <a:xfrm flipV="1">
            <a:off x="10777029" y="252063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1-mark326"/>
          <p:cNvSpPr/>
          <p:nvPr/>
        </p:nvSpPr>
        <p:spPr>
          <a:xfrm flipV="1">
            <a:off x="7140639" y="4221417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3" name="S11-mark327"/>
          <p:cNvSpPr/>
          <p:nvPr/>
        </p:nvSpPr>
        <p:spPr>
          <a:xfrm>
            <a:off x="7942389" y="4221417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4" name="S11-mark328"/>
          <p:cNvSpPr/>
          <p:nvPr/>
        </p:nvSpPr>
        <p:spPr>
          <a:xfrm flipV="1">
            <a:off x="7942389" y="252063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11-label330"/>
          <p:cNvSpPr txBox="1"/>
          <p:nvPr/>
        </p:nvSpPr>
        <p:spPr>
          <a:xfrm>
            <a:off x="8176197" y="510000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6" name="S11-label332"/>
          <p:cNvSpPr txBox="1"/>
          <p:nvPr/>
        </p:nvSpPr>
        <p:spPr>
          <a:xfrm>
            <a:off x="6328601" y="399815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7" name="S11-label334"/>
          <p:cNvSpPr txBox="1"/>
          <p:nvPr/>
        </p:nvSpPr>
        <p:spPr>
          <a:xfrm>
            <a:off x="10310710" y="476398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18" name="S11-chip3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9" name="S11-text33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모서리는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800" dirty="0"/>
          </a:p>
        </p:txBody>
      </p:sp>
      <p:sp>
        <p:nvSpPr>
          <p:cNvPr id="20" name="S11-chip33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11-text33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5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모서리는 모두 몇 개?</a:t>
            </a:r>
            <a:endParaRPr lang="ko-KR" sz="2800" dirty="0"/>
          </a:p>
        </p:txBody>
      </p:sp>
      <p:sp>
        <p:nvSpPr>
          <p:cNvPr id="22" name="S11-chip33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11-text34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 cm, 세로 3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면은 몇 개?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전개도는?</a:t>
            </a:r>
            <a:endParaRPr lang="ko-KR" sz="4000" dirty="0"/>
          </a:p>
        </p:txBody>
      </p:sp>
      <p:sp>
        <p:nvSpPr>
          <p:cNvPr id="3" name="S13-text3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접어서 정육면체가 되는 것을 모두 골라요.</a:t>
            </a:r>
            <a:endParaRPr lang="ko-KR" sz="2800" dirty="0"/>
          </a:p>
        </p:txBody>
      </p:sp>
      <p:sp>
        <p:nvSpPr>
          <p:cNvPr id="4" name="S13-card3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고르지 않은 것은 접으면 어떻게 되는지 말해요.</a:t>
            </a:r>
            <a:endParaRPr lang="ko-KR" sz="2800" dirty="0"/>
          </a:p>
        </p:txBody>
      </p:sp>
      <p:sp>
        <p:nvSpPr>
          <p:cNvPr id="6" name="S13-chip344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figure345" descr="정사각형 6개로 된 그림 가"/>
          <p:cNvSpPr/>
          <p:nvPr/>
        </p:nvSpPr>
        <p:spPr>
          <a:xfrm>
            <a:off x="2859786" y="2144268"/>
            <a:ext cx="1536192" cy="1152144"/>
          </a:xfrm>
          <a:custGeom>
            <a:avLst/>
            <a:gdLst/>
            <a:ahLst/>
            <a:cxnLst/>
            <a:rect l="l" t="t" r="r" b="b"/>
            <a:pathLst>
              <a:path w="1536192" h="1152144">
                <a:moveTo>
                  <a:pt x="0" y="768096"/>
                </a:moveTo>
                <a:lnTo>
                  <a:pt x="384048" y="768096"/>
                </a:lnTo>
                <a:lnTo>
                  <a:pt x="384048" y="1152144"/>
                </a:lnTo>
                <a:lnTo>
                  <a:pt x="768096" y="1152144"/>
                </a:lnTo>
                <a:lnTo>
                  <a:pt x="768096" y="768096"/>
                </a:lnTo>
                <a:lnTo>
                  <a:pt x="1536192" y="768096"/>
                </a:lnTo>
                <a:lnTo>
                  <a:pt x="1536192" y="384048"/>
                </a:lnTo>
                <a:lnTo>
                  <a:pt x="768096" y="384048"/>
                </a:lnTo>
                <a:lnTo>
                  <a:pt x="768096" y="0"/>
                </a:lnTo>
                <a:lnTo>
                  <a:pt x="384048" y="0"/>
                </a:lnTo>
                <a:lnTo>
                  <a:pt x="384048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mark346"/>
          <p:cNvSpPr/>
          <p:nvPr/>
        </p:nvSpPr>
        <p:spPr>
          <a:xfrm>
            <a:off x="3243834" y="2912364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13-mark347"/>
          <p:cNvSpPr/>
          <p:nvPr/>
        </p:nvSpPr>
        <p:spPr>
          <a:xfrm>
            <a:off x="3243834" y="2528316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13-mark348"/>
          <p:cNvSpPr/>
          <p:nvPr/>
        </p:nvSpPr>
        <p:spPr>
          <a:xfrm flipV="1">
            <a:off x="3243834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13-mark349"/>
          <p:cNvSpPr/>
          <p:nvPr/>
        </p:nvSpPr>
        <p:spPr>
          <a:xfrm flipV="1">
            <a:off x="3627882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2" name="S13-mark350"/>
          <p:cNvSpPr/>
          <p:nvPr/>
        </p:nvSpPr>
        <p:spPr>
          <a:xfrm flipV="1">
            <a:off x="4011930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3" name="S13-chip35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4" name="S13-figure352" descr="정사각형 6개로 된 그림 나"/>
          <p:cNvSpPr/>
          <p:nvPr/>
        </p:nvSpPr>
        <p:spPr>
          <a:xfrm>
            <a:off x="8588502" y="2144268"/>
            <a:ext cx="1536192" cy="1152144"/>
          </a:xfrm>
          <a:custGeom>
            <a:avLst/>
            <a:gdLst/>
            <a:ahLst/>
            <a:cxnLst/>
            <a:rect l="l" t="t" r="r" b="b"/>
            <a:pathLst>
              <a:path w="1536192" h="1152144">
                <a:moveTo>
                  <a:pt x="0" y="384048"/>
                </a:moveTo>
                <a:lnTo>
                  <a:pt x="384048" y="384048"/>
                </a:lnTo>
                <a:lnTo>
                  <a:pt x="384048" y="768096"/>
                </a:lnTo>
                <a:lnTo>
                  <a:pt x="768096" y="768096"/>
                </a:lnTo>
                <a:lnTo>
                  <a:pt x="768096" y="1152144"/>
                </a:lnTo>
                <a:lnTo>
                  <a:pt x="1536192" y="1152144"/>
                </a:lnTo>
                <a:lnTo>
                  <a:pt x="1536192" y="768096"/>
                </a:lnTo>
                <a:lnTo>
                  <a:pt x="1152144" y="768096"/>
                </a:lnTo>
                <a:lnTo>
                  <a:pt x="1152144" y="384048"/>
                </a:lnTo>
                <a:lnTo>
                  <a:pt x="768096" y="384048"/>
                </a:lnTo>
                <a:lnTo>
                  <a:pt x="768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3-mark353"/>
          <p:cNvSpPr/>
          <p:nvPr/>
        </p:nvSpPr>
        <p:spPr>
          <a:xfrm>
            <a:off x="8972550" y="2528316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13-mark354"/>
          <p:cNvSpPr/>
          <p:nvPr/>
        </p:nvSpPr>
        <p:spPr>
          <a:xfrm>
            <a:off x="9356598" y="2912364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13-mark355"/>
          <p:cNvSpPr/>
          <p:nvPr/>
        </p:nvSpPr>
        <p:spPr>
          <a:xfrm flipV="1">
            <a:off x="8972550" y="2144268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8" name="S13-mark356"/>
          <p:cNvSpPr/>
          <p:nvPr/>
        </p:nvSpPr>
        <p:spPr>
          <a:xfrm flipV="1">
            <a:off x="9356598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9" name="S13-mark357"/>
          <p:cNvSpPr/>
          <p:nvPr/>
        </p:nvSpPr>
        <p:spPr>
          <a:xfrm flipV="1">
            <a:off x="9740646" y="2912364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0" name="S13-chip35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21" name="S13-figure359" descr="정사각형 6개로 된 그림 다"/>
          <p:cNvSpPr/>
          <p:nvPr/>
        </p:nvSpPr>
        <p:spPr>
          <a:xfrm>
            <a:off x="2859786" y="4027932"/>
            <a:ext cx="1536192" cy="768096"/>
          </a:xfrm>
          <a:custGeom>
            <a:avLst/>
            <a:gdLst/>
            <a:ahLst/>
            <a:cxnLst/>
            <a:rect l="l" t="t" r="r" b="b"/>
            <a:pathLst>
              <a:path w="1536192" h="768096">
                <a:moveTo>
                  <a:pt x="0" y="768096"/>
                </a:moveTo>
                <a:lnTo>
                  <a:pt x="1536192" y="768096"/>
                </a:lnTo>
                <a:lnTo>
                  <a:pt x="1536192" y="384048"/>
                </a:lnTo>
                <a:lnTo>
                  <a:pt x="768096" y="384048"/>
                </a:lnTo>
                <a:lnTo>
                  <a:pt x="768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3-mark360"/>
          <p:cNvSpPr/>
          <p:nvPr/>
        </p:nvSpPr>
        <p:spPr>
          <a:xfrm>
            <a:off x="2859786" y="4411980"/>
            <a:ext cx="7680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3" name="S13-mark361"/>
          <p:cNvSpPr/>
          <p:nvPr/>
        </p:nvSpPr>
        <p:spPr>
          <a:xfrm flipV="1">
            <a:off x="3243834" y="4027932"/>
            <a:ext cx="0" cy="7680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4" name="S13-mark362"/>
          <p:cNvSpPr/>
          <p:nvPr/>
        </p:nvSpPr>
        <p:spPr>
          <a:xfrm flipV="1">
            <a:off x="3627882" y="4411980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13-mark363"/>
          <p:cNvSpPr/>
          <p:nvPr/>
        </p:nvSpPr>
        <p:spPr>
          <a:xfrm flipV="1">
            <a:off x="4011930" y="4411980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6" name="S13-chip364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7" name="S13-figure365" descr="정사각형 6개로 된 그림 라"/>
          <p:cNvSpPr/>
          <p:nvPr/>
        </p:nvSpPr>
        <p:spPr>
          <a:xfrm>
            <a:off x="8780526" y="4027932"/>
            <a:ext cx="1152144" cy="768096"/>
          </a:xfrm>
          <a:custGeom>
            <a:avLst/>
            <a:gdLst/>
            <a:ahLst/>
            <a:cxnLst/>
            <a:rect l="l" t="t" r="r" b="b"/>
            <a:pathLst>
              <a:path w="1152144" h="768096">
                <a:moveTo>
                  <a:pt x="0" y="768096"/>
                </a:moveTo>
                <a:lnTo>
                  <a:pt x="1152144" y="768096"/>
                </a:lnTo>
                <a:lnTo>
                  <a:pt x="11521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3-mark366"/>
          <p:cNvSpPr/>
          <p:nvPr/>
        </p:nvSpPr>
        <p:spPr>
          <a:xfrm>
            <a:off x="8780526" y="4411980"/>
            <a:ext cx="115214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13-mark367"/>
          <p:cNvSpPr/>
          <p:nvPr/>
        </p:nvSpPr>
        <p:spPr>
          <a:xfrm flipV="1">
            <a:off x="9164574" y="4027932"/>
            <a:ext cx="0" cy="7680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0" name="S13-mark368"/>
          <p:cNvSpPr/>
          <p:nvPr/>
        </p:nvSpPr>
        <p:spPr>
          <a:xfrm flipV="1">
            <a:off x="9548622" y="4027932"/>
            <a:ext cx="0" cy="7680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69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70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직육면체는 면 6개, 모서리 12개, 꼭짓점 8개예요. 겨냥도는 보이지 않는 모서리를 점선으로, 전개도는 접는 곳을 점선으로 그려요.</a:t>
            </a:r>
            <a:endParaRPr lang="ko-KR" sz="2800" dirty="0"/>
          </a:p>
        </p:txBody>
      </p:sp>
      <p:sp>
        <p:nvSpPr>
          <p:cNvPr id="5" name="S14-chip371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점선 모서리까지 세기</a:t>
            </a:r>
            <a:endParaRPr lang="ko-KR" sz="2200" dirty="0"/>
          </a:p>
        </p:txBody>
      </p:sp>
      <p:sp>
        <p:nvSpPr>
          <p:cNvPr id="6" name="S14-chip372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정육면체는 직육면체가 아님</a:t>
            </a:r>
            <a:endParaRPr lang="ko-KR" sz="2200" dirty="0"/>
          </a:p>
        </p:txBody>
      </p:sp>
      <p:sp>
        <p:nvSpPr>
          <p:cNvPr id="7" name="S14-text373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74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직육면체의 모서리는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200" dirty="0"/>
          </a:p>
        </p:txBody>
      </p:sp>
      <p:sp>
        <p:nvSpPr>
          <p:cNvPr id="9" name="S14-text375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겨냥도에서 보이지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꼭짓점은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200" dirty="0"/>
          </a:p>
        </p:txBody>
      </p:sp>
      <p:sp>
        <p:nvSpPr>
          <p:cNvPr id="10" name="S14-text376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직육면체에서 마주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면은 몇 쌍?</a:t>
            </a:r>
            <a:endParaRPr lang="ko-KR" sz="2200" dirty="0"/>
          </a:p>
        </p:txBody>
      </p:sp>
      <p:sp>
        <p:nvSpPr>
          <p:cNvPr id="11" name="S14-text3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다각형의 둘레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직사각형과 정사각형</a:t>
            </a:r>
            <a:endParaRPr lang="ko-KR" sz="4000" dirty="0"/>
          </a:p>
        </p:txBody>
      </p:sp>
      <p:sp>
        <p:nvSpPr>
          <p:cNvPr id="3" name="S15-card378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379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</a:t>
            </a:r>
            <a:endParaRPr lang="ko-KR" sz="2800" dirty="0"/>
          </a:p>
        </p:txBody>
      </p:sp>
      <p:sp>
        <p:nvSpPr>
          <p:cNvPr id="5" name="S15-card380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381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직각, 네 변의 길이가 같음</a:t>
            </a:r>
            <a:endParaRPr lang="ko-KR" sz="2800" dirty="0"/>
          </a:p>
        </p:txBody>
      </p:sp>
      <p:sp>
        <p:nvSpPr>
          <p:cNvPr id="7" name="S15-figure382" descr="네 각이 직각인 직사각형"/>
          <p:cNvSpPr/>
          <p:nvPr/>
        </p:nvSpPr>
        <p:spPr>
          <a:xfrm>
            <a:off x="1984248" y="2088007"/>
            <a:ext cx="2514600" cy="1508760"/>
          </a:xfrm>
          <a:custGeom>
            <a:avLst/>
            <a:gdLst/>
            <a:ahLst/>
            <a:cxnLst/>
            <a:rect l="l" t="t" r="r" b="b"/>
            <a:pathLst>
              <a:path w="2514600" h="1508760">
                <a:moveTo>
                  <a:pt x="0" y="1508760"/>
                </a:moveTo>
                <a:lnTo>
                  <a:pt x="2514600" y="150876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383"/>
          <p:cNvSpPr/>
          <p:nvPr/>
        </p:nvSpPr>
        <p:spPr>
          <a:xfrm>
            <a:off x="1984248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5-mark384"/>
          <p:cNvSpPr/>
          <p:nvPr/>
        </p:nvSpPr>
        <p:spPr>
          <a:xfrm>
            <a:off x="4289298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385"/>
          <p:cNvSpPr/>
          <p:nvPr/>
        </p:nvSpPr>
        <p:spPr>
          <a:xfrm>
            <a:off x="4289298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386"/>
          <p:cNvSpPr/>
          <p:nvPr/>
        </p:nvSpPr>
        <p:spPr>
          <a:xfrm>
            <a:off x="1984248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mark387"/>
          <p:cNvSpPr/>
          <p:nvPr/>
        </p:nvSpPr>
        <p:spPr>
          <a:xfrm flipV="1">
            <a:off x="3241548" y="351294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mark388"/>
          <p:cNvSpPr/>
          <p:nvPr/>
        </p:nvSpPr>
        <p:spPr>
          <a:xfrm flipH="1">
            <a:off x="4415028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mark389"/>
          <p:cNvSpPr/>
          <p:nvPr/>
        </p:nvSpPr>
        <p:spPr>
          <a:xfrm flipH="1">
            <a:off x="4415028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5-mark390"/>
          <p:cNvSpPr/>
          <p:nvPr/>
        </p:nvSpPr>
        <p:spPr>
          <a:xfrm>
            <a:off x="3241548" y="200418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mark391"/>
          <p:cNvSpPr/>
          <p:nvPr/>
        </p:nvSpPr>
        <p:spPr>
          <a:xfrm>
            <a:off x="1900428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5-mark392"/>
          <p:cNvSpPr/>
          <p:nvPr/>
        </p:nvSpPr>
        <p:spPr>
          <a:xfrm>
            <a:off x="1900428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393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200" dirty="0"/>
          </a:p>
        </p:txBody>
      </p:sp>
      <p:sp>
        <p:nvSpPr>
          <p:cNvPr id="19" name="S15-figure394" descr="네 각이 직각이고 네 변의 길이가 같은 정사각형"/>
          <p:cNvSpPr/>
          <p:nvPr/>
        </p:nvSpPr>
        <p:spPr>
          <a:xfrm>
            <a:off x="8193024" y="2088007"/>
            <a:ext cx="1508760" cy="1508760"/>
          </a:xfrm>
          <a:custGeom>
            <a:avLst/>
            <a:gdLst/>
            <a:ahLst/>
            <a:cxnLst/>
            <a:rect l="l" t="t" r="r" b="b"/>
            <a:pathLst>
              <a:path w="1508760" h="1508760">
                <a:moveTo>
                  <a:pt x="0" y="1508760"/>
                </a:moveTo>
                <a:lnTo>
                  <a:pt x="1508760" y="1508760"/>
                </a:lnTo>
                <a:lnTo>
                  <a:pt x="15087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5-mark395"/>
          <p:cNvSpPr/>
          <p:nvPr/>
        </p:nvSpPr>
        <p:spPr>
          <a:xfrm>
            <a:off x="8193024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5-mark396"/>
          <p:cNvSpPr/>
          <p:nvPr/>
        </p:nvSpPr>
        <p:spPr>
          <a:xfrm>
            <a:off x="9492234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mark397"/>
          <p:cNvSpPr/>
          <p:nvPr/>
        </p:nvSpPr>
        <p:spPr>
          <a:xfrm>
            <a:off x="9492234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5-mark398"/>
          <p:cNvSpPr/>
          <p:nvPr/>
        </p:nvSpPr>
        <p:spPr>
          <a:xfrm>
            <a:off x="8193024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mark399"/>
          <p:cNvSpPr/>
          <p:nvPr/>
        </p:nvSpPr>
        <p:spPr>
          <a:xfrm flipV="1">
            <a:off x="8947404" y="351294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5-mark400"/>
          <p:cNvSpPr/>
          <p:nvPr/>
        </p:nvSpPr>
        <p:spPr>
          <a:xfrm flipH="1">
            <a:off x="9617964" y="2842387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mark401"/>
          <p:cNvSpPr/>
          <p:nvPr/>
        </p:nvSpPr>
        <p:spPr>
          <a:xfrm>
            <a:off x="8947404" y="200418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5-mark402"/>
          <p:cNvSpPr/>
          <p:nvPr/>
        </p:nvSpPr>
        <p:spPr>
          <a:xfrm>
            <a:off x="8109204" y="2842387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403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직육면체와 정육면체</dc:title>
  <dc:subject>KR22-G05-MAT-CUBOID-L01</dc:subject>
  <dc:creator>education-ppt</dc:creator>
  <cp:lastModifiedBy>education-ppt</cp:lastModifiedBy>
  <cp:revision>1</cp:revision>
  <dcterms:created xsi:type="dcterms:W3CDTF">2026-10-26T09:12:04Z</dcterms:created>
  <dcterms:modified xsi:type="dcterms:W3CDTF">2026-10-26T09:12:04Z</dcterms:modified>
</cp:coreProperties>
</file>