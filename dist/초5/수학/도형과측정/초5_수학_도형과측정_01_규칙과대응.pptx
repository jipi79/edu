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ec2c356-a1a9-4367-85ec-514313a378b7}">
          <p14:sldIdLst>
            <p14:sldId id="256"/>
            <p14:sldId id="257"/>
          </p14:sldIdLst>
        </p14:section>
        <p14:section name="개념" id="{314c4311-43db-3b7f-c7dd-a9a742a07c45}">
          <p14:sldIdLst>
            <p14:sldId id="258"/>
            <p14:sldId id="259"/>
            <p14:sldId id="260"/>
            <p14:sldId id="262"/>
          </p14:sldIdLst>
        </p14:section>
        <p14:section name="연습" id="{408261f1-bd7a-1109-c28b-5b6cffb477a6}">
          <p14:sldIdLst>
            <p14:sldId id="261"/>
            <p14:sldId id="263"/>
            <p14:sldId id="264"/>
          </p14:sldIdLst>
        </p14:section>
        <p14:section name="개념" id="{4d7d961c-4b3b-97c4-38ed-c5e0b5c6da01}">
          <p14:sldIdLst/>
        </p14:section>
        <p14:section name="연습" id="{99336c0c-829c-56a9-0a57-3150af1ab117}">
          <p14:sldIdLst/>
        </p14:section>
        <p14:section name="확인" id="{570291ec-1d3f-1202-971c-1de220fd08f6}">
          <p14:sldIdLst>
            <p14:sldId id="265"/>
            <p14:sldId id="266"/>
            <p14:sldId id="267"/>
          </p14:sldIdLst>
        </p14:section>
        <p14:section name="정리" id="{e30eaed9-8bf9-6932-5a22-1e316facd4f5}">
          <p14:sldIdLst>
            <p14:sldId id="268"/>
          </p14:sldIdLst>
        </p14:section>
        <p14:section name="보충" id="{a76f8951-780c-e57e-7b6c-f6fac426c08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함께 변하는 두 양이 생활에 있다는 것을 보여 주고, 규칙을 찾으면 세지 않고도 알 수 있다는 기대를 갖게 합니다.
시간: 약 2분
이렇게 말해 보세요
- “의자 하나에 다리가 4개야. 의자가 3개면 다리는 몇 개야? 10개면?”
- “10개를 하나하나 그려서 세지 않고 알 방법이 있을까?”
예상 답
- “12개요.” “40개요. 4씩 10번이니까요.” / “세어 봐야 해요.”
막히면
- 집에 있는 의자(또는 식탁 다리)를 함께 세어 봅니다.
주의
- 답은 S05에서 식으로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확인(수 배열과 계산식의 규칙)]
목적: 수 배열과 계산식에서 규칙을 찾을 수 있는지 확인합니다.
시간: 약 3분
이렇게 말해 보세요
- “①은 수가 얼마씩 커져?”
- “②는 더하는 걸까, 곱하는 걸까?”
- “③ 다음에 올 식은?”
정답
- ① 19 (4씩 커짐)
- ② 32 (2배씩 커짐)
- ③ 5 × 4 = 20
막히면
- 두 수 사이에 화살표를 그리고 얼마나 커졌는지 적게 합니다. 그래도 어려우면 S14(보충)를 합니다.
- 보충으로도 어려우면 초4 자료와규칙 3차시 ‘계산식의 규칙’(KR22-G04-MAT-RULE-L01)과 초2 ‘무늬와 수의 규칙’(KR22-G02-MAT-PATTERN-L01)을 먼저 합니다.
주의
- 오늘은 수 하나의 규칙이 아니라 ‘두 양이 함께 변하는 규칙’을 찾습니다. 차이를 S03에서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함께 변하는 두 양]
목적: 의자 수와 다리 수처럼 한 양이 변하면 다른 양도 따라 변하는 관계가 있음을 그림으로 봅니다.
시간: 약 3분
이렇게 말해 보세요
- “한 줄은 의자 하나의 다리야. 의자가 3개면 다리는 몇 개야?”
- “의자가 하나 더 생기면 다리는 몇 개 늘어?”
예상 답
- “12개요.” “4개 늘어요.”
막히면
- 바둑돌을 4개씩 한 줄로 놓으며 의자를 하나씩 늘려 봅니다.
주의
- 이 그림은 다리를 점으로 나타낸 것입니다. 실제 물건(식탁, 의자)으로 해 보면 더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대응 관계를 표로]
목적: 두 양을 표로 정리하고, 위아래로 짝지어진 수 사이의 관계(4배)를 찾아 말로 나타냅니다.
시간: 약 4분
이렇게 말해 보세요
- “표에서 의자 수가 1씩 커지면 다리 수는 어떻게 변해?”
- “위아래 짝을 봐. 의자 2개와 다리 8개, 의자 5개와 다리 20개. 다리 수는 의자 수의 몇 배야?”
- “이 관계를 한 문장으로 말해 볼래?”
예상 답
- “4씩 커져요.”
- “4배예요.”
- “다리 수는 의자 수에 4를 곱한 수예요.”
막히면
- 표의 한 칸을 손가락으로 가리고 위아래 수를 같이 읽게 합니다(“의자 2개 – 다리 8개”).
주의
- 옆으로 ‘4씩 커진다’만 보면 식을 세우기 어렵습니다. 위아래 짝의 관계(4배)를 꼭 말하게 합니다(M1).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대응 관계를 □, △를 쓴 식으로]
목적: 말로 찾은 대응 관계를 □와 △를 쓴 식으로 나타내고, 식으로 값을 구할 수 있음을 압니다.
시간: 약 4분
이렇게 말해 보세요
- “의자 수를 □, 다리 수를 △라고 하자. ‘다리 수 = 의자 수 × 4’를 기호로 쓰면?”
- “다리 수를 알 때 의자 수를 구하는 식도 쓸 수 있을까?”
- “의자가 10개면 다리는?”
예상 답
- “△ = □ × 4요.”
- “□ = △ ÷ 4요.”
- “40개요.”
막히면
- 표의 한 짝(의자 3, 다리 12)을 □와 △에 넣어 “12 = 3 × 4 맞지?”라고 확인합니다.
주의
- S01의 답: 의자 10개의 다리는 40개입니다.
- □와 △에는 어떤 기호를 써도 됩니다(○, ☆ 등). 무엇을 나타내는지 먼저 정하는 것이 중요합니다.
- 아이가 지쳐 보이면 이 장 다음에 쉬고, 다음 날 S05를 짧게 다시 본 뒤 S06부터 이어서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표 채우기와 식 쓰기 안내 연습]
목적: 도움을 받으며 새 상황의 대응 관계를 표로 완성하고 말과 식으로 나타냅니다.
시간: 약 4분
이렇게 말해 보세요
- “자전거가 3대면 바퀴는 몇 개야? 4대면? 5대면?”
- “바퀴 수는 자전거 수의 몇 배야? □와 △로 식을 써 볼래?”
정답
- 빈칸: 9, 12, 15
- 말: 바퀴 수는 자전거 수의 3배입니다.
- 식: △ = □ × 3 (또는 □ = △ ÷ 3)
막히면
- S05의 단계(규칙을 말로 → 기호로)를 다시 보며 따라 하게 합니다.
주의
- △ = □ + 3이라고 쓰면 S08에서 함께 확인합니다. 지금은 □에 2를 넣어 보게만 합니다(2 + 3 = 5인데 바퀴는 6개).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더하기·빼기로 나타나는 대응 관계]
목적: 곱셈이 아니라 덧셈·뺄셈으로 나타나는 대응 관계도 있음을 봅니다.
시간: 약 3분
이렇게 말해 보세요
- “내가 11살이면 동생은 8살. 내 나이와 동생 나이는 얼마 차이야? 해가 지나도 그대로야?”
- “내 나이를 □, 동생 나이를 △라고 하면 식은?”
예상 답
- “늘 3살 차이예요.”
- “△ = □ − 3이요.”
막히면
- “내가 20살이 되면 동생은?”처럼 큰 수로 물어 규칙을 확인합니다.
주의
- 두 양 사이의 관계가 곱셈인지 덧셈·뺄셈인지는 위아래 짝을 여러 개 확인해야 알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비교(옆으로 늘어나는 수로 식 세우기)]
목적: 표에서 옆으로 늘어나는 수(4씩)를 보고 △ = □ + 4로 쓰는 흔한 실수(M1)를 수를 넣어 확인하며 바로잡습니다.
시간: 약 3분
이렇게 말해 보세요
- “의자가 3개이면 하늘이 식으로는 다리가 몇 개야? 바다 식으로는?”
- “실제로 의자 3개의 다리는 몇 개였어?”
예상 답
- “하늘이 식은 7개, 바다 식은 12개요. 12개가 맞아요.”
정답
- 바다가 맞습니다(△ = □ × 4). 의자 3개의 다리는 12개입니다.
- 하늘이는 표에서 옆으로 4씩 커지는 것을 보고 더하기로 썼습니다. 식은 위아래 짝(의자 수와 다리 수) 사이의 관계로 써야 합니다.
막히면
- 표의 짝 두세 개를 하늘이 식에 넣어 보게 합니다. 하나라도 맞지 않으면 그 식은 틀린 식입니다.
주의
- 식을 세운 뒤에는 표의 짝 두 개 이상을 넣어 확인하는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식으로 값 구하기 안내 연습]
목적: 도움을 받으며 대응 관계의 식에 수를 넣어 다른 양을 구합니다.
시간: 약 3분
이렇게 말해 보세요
- “①은 □ 자리에 9를 넣으면?”
- “②는 어떤 수에 4를 곱하면 48이 될까? 48 ÷ 4로 구할 수도 있어.”
- “③은 내 나이가 20살일 때 동생 나이야.”
정답
- ① 36
- ② 12
- ③ 17
막히면
- ②가 어려우면 □ = △ ÷ 4 식(S05)을 다시 보여 줍니다.
주의
- 식에 수를 넣는 것은 다음 학년의 문자와 식으로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표를 완성하고(목표 A), 대응 관계를 식으로 나타내 값을 구하는지(목표 B) 확인합니다.
시간: 약 5분
이렇게 말해 보세요
- “이번에는 혼자 해 보자. ②는 식을 쓰고 표의 짝 두 개로 확인해 줘.”
정답
- ① 12, 24
- ② △ = □ × 6 (또는 □ = △ ÷ 6)
- ③ 60개
막히면
- 바로 알려 주지 말고 “봉지가 하나 늘면 사탕은 몇 개 늘어? 위아래 짝은 몇 배야?”라고만 묻습니다.
- 도움을 받아 해결했다면 기록표에 ‘도움’으로 표시합니다.
주의
- 정답 확인은 다음 장(S11)에서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식이 다르면 표의 짝을 넣어 확인해 보자.”
정답
- ① 12, 24 ② △ = □ × 6 ③ 60개
막히면
- 식이 틀렸으면 S08로 돌아가 수를 넣어 확인하는 방법을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확인(표에 맞는 식 고르기와 까닭)]
목적: 처음 보는 표에서 대응 관계를 찾고, 식에 수를 넣어 맞는 식을 고르는지 확인합니다.
시간: 약 2분
이렇게 말해 보세요
- “세 식 모두 □가 1일 때 △가 5야. 그러면 무엇으로 맞는 식을 가려낼까?”
- “□에 2를 넣어 볼래?”
정답
- 나(△ = □ + 4). □가 2, 3, 4일 때도 6, 7, 8이 됩니다.
- 가는 □ = 2일 때 10, 다는 □ = 2일 때 9가 되어 표와 맞지 않습니다.
막히면
- “□가 1 커지면 △는 얼마 커져?”라고 묻고 위아래 짝의 차이(늘 4)를 보게 합니다.
주의
- 짝 하나만 넣어 보면 세 식이 모두 맞아 보입니다. 짝을 두 개 이상 넣어 확인하는 것이 이 문제의 핵심입니다.
- 까닭까지 말하면 목표 확인 완료입니다. 답만 맞히면 ‘까닭 설명 필요’로 기록하고 다음 수업 시작 때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“표에서 식을 세울 때 무엇을 봐야 했어?”
- “다음 수업을 시작할 때 이 세 문제를 먼저 풀 거야.”
예상 답
- “위아래 짝을 봐요. 그리고 수를 넣어 확인해요.”
정답
- ① 35
- ② △ = □ × 2 (오리 한 마리의 다리는 2개)
- ③ 15
막히면
- S04의 표와 S05의 단계를 다시 보여 줍니다.
주의
- 다음 차시 ‘합동인 도형’에서도 ‘대응’이라는 말(대응점·대응변·대응각)을 씁니다.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보충(뛰어 세기와 곱셈구구의 규칙)]
목적: S02에서 규칙 찾기가 흔들린 경우에만 사용합니다. 뛰어 세기와 곱셈구구를 연결합니다.
시간: 약 5분
이렇게 말해 보세요
- “0에서 4씩 뛰면 어떤 수에 닿아? 세 번 뛰면?”
- “뛴 횟수가 5번이면 어디에 닿을까?”
정답
- 4, 8, 12, 16 … 세 번 뛰면 12
- 5번이면 20 (4 × 5)
막히면
- 바둑돌을 4개씩 한 줄씩 늘려 놓으며 모두 몇 개인지 셉니다.
주의
- 이 차시의 계획상 선수 차시는 초4 ‘계산식의 규칙’(KR22-G04-MAT-RULE-L01)입니다. 보충으로도 어려우면 그 차시와 초2 ‘무늬와 수의 규칙’(KR22-G02-MAT-PATTERN-L01)을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규칙과 대응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규칙과 대응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규칙과 대응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대응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의자가 10개이면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다리는 몇 개일까?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하나하나 세지 않고 알 수 있을까?</a:t>
            </a:r>
            <a:endParaRPr lang="ko-KR" sz="28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630680"/>
          <a:ext cx="3840480" cy="914400"/>
        </p:xfrm>
        <a:graphic>
          <a:graphicData uri="http://schemas.openxmlformats.org/drawingml/2006/table">
            <a:tbl>
              <a:tblPr/>
              <a:tblGrid>
                <a:gridCol w="1305763"/>
                <a:gridCol w="844906"/>
                <a:gridCol w="844906"/>
                <a:gridCol w="844906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함께 변하는 두 양의 관계를 표로 나타내요.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대응 관계를 □와 △를 쓴 식으로 나타내요.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찾기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 □에 알맞은 수나 식을 써요.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  7,  11,  15,  □</a:t>
            </a:r>
            <a:endParaRPr lang="ko-KR" sz="28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  4,  8,  16,  □</a:t>
            </a:r>
            <a:endParaRPr lang="ko-KR" sz="28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1 = 5,  5 × 2 = 10,  5 × 3 = 15,  □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수와 다리 수</a:t>
            </a:r>
            <a:endParaRPr lang="ko-KR" sz="40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한 개에 다리가 4개 있어요.</a:t>
            </a:r>
            <a:endParaRPr lang="ko-KR" sz="2800" dirty="0"/>
          </a:p>
        </p:txBody>
      </p:sp>
      <p:sp>
        <p:nvSpPr>
          <p:cNvPr id="4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수가 변하면 다리 수도 함께 변해요.</a:t>
            </a:r>
            <a:endParaRPr lang="ko-KR" sz="2800" dirty="0"/>
          </a:p>
        </p:txBody>
      </p:sp>
      <p:sp>
        <p:nvSpPr>
          <p:cNvPr id="6" name="S03-dot14"/>
          <p:cNvSpPr/>
          <p:nvPr/>
        </p:nvSpPr>
        <p:spPr>
          <a:xfrm>
            <a:off x="1988820" y="2667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15"/>
          <p:cNvSpPr/>
          <p:nvPr/>
        </p:nvSpPr>
        <p:spPr>
          <a:xfrm>
            <a:off x="2674620" y="2667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16"/>
          <p:cNvSpPr/>
          <p:nvPr/>
        </p:nvSpPr>
        <p:spPr>
          <a:xfrm>
            <a:off x="3360420" y="2667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17"/>
          <p:cNvSpPr/>
          <p:nvPr/>
        </p:nvSpPr>
        <p:spPr>
          <a:xfrm>
            <a:off x="4046220" y="2667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18"/>
          <p:cNvSpPr/>
          <p:nvPr/>
        </p:nvSpPr>
        <p:spPr>
          <a:xfrm>
            <a:off x="198882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19"/>
          <p:cNvSpPr/>
          <p:nvPr/>
        </p:nvSpPr>
        <p:spPr>
          <a:xfrm>
            <a:off x="267462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20"/>
          <p:cNvSpPr/>
          <p:nvPr/>
        </p:nvSpPr>
        <p:spPr>
          <a:xfrm>
            <a:off x="336042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21"/>
          <p:cNvSpPr/>
          <p:nvPr/>
        </p:nvSpPr>
        <p:spPr>
          <a:xfrm>
            <a:off x="404622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22"/>
          <p:cNvSpPr/>
          <p:nvPr/>
        </p:nvSpPr>
        <p:spPr>
          <a:xfrm>
            <a:off x="1988820" y="40393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23"/>
          <p:cNvSpPr/>
          <p:nvPr/>
        </p:nvSpPr>
        <p:spPr>
          <a:xfrm>
            <a:off x="2674620" y="40393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24"/>
          <p:cNvSpPr/>
          <p:nvPr/>
        </p:nvSpPr>
        <p:spPr>
          <a:xfrm>
            <a:off x="3360420" y="40393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25"/>
          <p:cNvSpPr/>
          <p:nvPr/>
        </p:nvSpPr>
        <p:spPr>
          <a:xfrm>
            <a:off x="4046220" y="40393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26"/>
          <p:cNvSpPr/>
          <p:nvPr/>
        </p:nvSpPr>
        <p:spPr>
          <a:xfrm>
            <a:off x="1885950" y="257403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27"/>
          <p:cNvSpPr/>
          <p:nvPr/>
        </p:nvSpPr>
        <p:spPr>
          <a:xfrm>
            <a:off x="1885950" y="325983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group28"/>
          <p:cNvSpPr/>
          <p:nvPr/>
        </p:nvSpPr>
        <p:spPr>
          <a:xfrm>
            <a:off x="1885950" y="394563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figure29" descr="점 12개를 4개씩 3줄로 묶음: 의자 3개(한 줄이 의자 1개의 다리 4개)"/>
          <p:cNvSpPr/>
          <p:nvPr/>
        </p:nvSpPr>
        <p:spPr>
          <a:xfrm>
            <a:off x="1858518" y="2537460"/>
            <a:ext cx="27432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card30"/>
          <p:cNvSpPr/>
          <p:nvPr/>
        </p:nvSpPr>
        <p:spPr>
          <a:xfrm>
            <a:off x="6277356" y="2271776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3-cardtext31"/>
          <p:cNvSpPr txBox="1"/>
          <p:nvPr/>
        </p:nvSpPr>
        <p:spPr>
          <a:xfrm>
            <a:off x="6551676" y="2408936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1개 → 다리 4개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줄이 의자 1개예요.</a:t>
            </a:r>
            <a:endParaRPr lang="ko-KR" sz="2800" dirty="0"/>
          </a:p>
        </p:txBody>
      </p:sp>
      <p:sp>
        <p:nvSpPr>
          <p:cNvPr id="24" name="S03-card32"/>
          <p:cNvSpPr/>
          <p:nvPr/>
        </p:nvSpPr>
        <p:spPr>
          <a:xfrm>
            <a:off x="6277356" y="3680460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3-cardtext33"/>
          <p:cNvSpPr txBox="1"/>
          <p:nvPr/>
        </p:nvSpPr>
        <p:spPr>
          <a:xfrm>
            <a:off x="6551676" y="3817620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3개 → 다리 12개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+ 4 + 4 = 4 × 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나타내요</a:t>
            </a:r>
            <a:endParaRPr lang="ko-KR" sz="4000" dirty="0"/>
          </a:p>
        </p:txBody>
      </p:sp>
      <p:sp>
        <p:nvSpPr>
          <p:cNvPr id="3" name="S04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수와 다리 수를 짝지어 표로 써요.</a:t>
            </a:r>
            <a:endParaRPr lang="ko-KR" sz="2800" dirty="0"/>
          </a:p>
        </p:txBody>
      </p:sp>
      <p:sp>
        <p:nvSpPr>
          <p:cNvPr id="4" name="S04-card3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수는 의자 수의 4배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 하나에 다리 수 하나가 짝지어져요. 이런 관계를 대응 관계라고 해요.</a:t>
            </a:r>
            <a:endParaRPr lang="ko-KR" sz="2800" dirty="0"/>
          </a:p>
        </p:txBody>
      </p:sp>
      <p:graphicFrame>
        <p:nvGraphicFramePr>
          <p:cNvPr id="5" name="S04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2396" y="2859278"/>
          <a:ext cx="10424160" cy="914400"/>
        </p:xfrm>
        <a:graphic>
          <a:graphicData uri="http://schemas.openxmlformats.org/drawingml/2006/table">
            <a:tbl>
              <a:tblPr/>
              <a:tblGrid>
                <a:gridCol w="3127248"/>
                <a:gridCol w="1459382"/>
                <a:gridCol w="1459382"/>
                <a:gridCol w="1459382"/>
                <a:gridCol w="1459382"/>
                <a:gridCol w="145938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의자 수(개)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 수(개)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기호로 식을 써요</a:t>
            </a:r>
            <a:endParaRPr lang="ko-KR" sz="4000" dirty="0"/>
          </a:p>
        </p:txBody>
      </p:sp>
      <p:sp>
        <p:nvSpPr>
          <p:cNvPr id="3" name="S05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수를 □, 다리 수를 △라고 해요.</a:t>
            </a:r>
            <a:endParaRPr lang="ko-KR" sz="2800" dirty="0"/>
          </a:p>
        </p:txBody>
      </p:sp>
      <p:sp>
        <p:nvSpPr>
          <p:cNvPr id="4" name="S05-card3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10이면 △ = 10 × 4 = 40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식이 있으면 세지 않고도 알 수 있어요.</a:t>
            </a:r>
            <a:endParaRPr lang="ko-KR" sz="2800" dirty="0"/>
          </a:p>
        </p:txBody>
      </p:sp>
      <p:sp>
        <p:nvSpPr>
          <p:cNvPr id="6" name="S05-stepno41"/>
          <p:cNvSpPr txBox="1"/>
          <p:nvPr/>
        </p:nvSpPr>
        <p:spPr>
          <a:xfrm>
            <a:off x="548640" y="230911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5-text42"/>
          <p:cNvSpPr txBox="1"/>
          <p:nvPr/>
        </p:nvSpPr>
        <p:spPr>
          <a:xfrm>
            <a:off x="1325880" y="2263394"/>
            <a:ext cx="1031443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표에서 규칙을 찾아요: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수 = 의자 수 × 4</a:t>
            </a:r>
            <a:endParaRPr lang="ko-KR" sz="2800" dirty="0"/>
          </a:p>
        </p:txBody>
      </p:sp>
      <p:sp>
        <p:nvSpPr>
          <p:cNvPr id="8" name="S05-stepno43"/>
          <p:cNvSpPr txBox="1"/>
          <p:nvPr/>
        </p:nvSpPr>
        <p:spPr>
          <a:xfrm>
            <a:off x="548640" y="329565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5-text44"/>
          <p:cNvSpPr txBox="1"/>
          <p:nvPr/>
        </p:nvSpPr>
        <p:spPr>
          <a:xfrm>
            <a:off x="1325880" y="3295650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기호로 써요.</a:t>
            </a:r>
            <a:endParaRPr lang="ko-KR" sz="2800" dirty="0"/>
          </a:p>
        </p:txBody>
      </p:sp>
      <p:sp>
        <p:nvSpPr>
          <p:cNvPr id="10" name="S05-eqtext45"/>
          <p:cNvSpPr txBox="1"/>
          <p:nvPr/>
        </p:nvSpPr>
        <p:spPr>
          <a:xfrm>
            <a:off x="6981810" y="3295650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4</a:t>
            </a:r>
            <a:endParaRPr lang="ko-KR" sz="2800" dirty="0"/>
          </a:p>
        </p:txBody>
      </p:sp>
      <p:sp>
        <p:nvSpPr>
          <p:cNvPr id="11" name="S05-stepno46"/>
          <p:cNvSpPr txBox="1"/>
          <p:nvPr/>
        </p:nvSpPr>
        <p:spPr>
          <a:xfrm>
            <a:off x="548640" y="400888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5-text47"/>
          <p:cNvSpPr txBox="1"/>
          <p:nvPr/>
        </p:nvSpPr>
        <p:spPr>
          <a:xfrm>
            <a:off x="1325880" y="4008882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거꾸로도 쓸 수 있어요.</a:t>
            </a:r>
            <a:endParaRPr lang="ko-KR" sz="2800" dirty="0"/>
          </a:p>
        </p:txBody>
      </p:sp>
      <p:sp>
        <p:nvSpPr>
          <p:cNvPr id="13" name="S05-eqtext48"/>
          <p:cNvSpPr txBox="1"/>
          <p:nvPr/>
        </p:nvSpPr>
        <p:spPr>
          <a:xfrm>
            <a:off x="6981810" y="4008882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= △ ÷ 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세발자전거와 바퀴</a:t>
            </a:r>
            <a:endParaRPr lang="ko-KR" sz="4000" dirty="0"/>
          </a:p>
        </p:txBody>
      </p:sp>
      <p:sp>
        <p:nvSpPr>
          <p:cNvPr id="3" name="S06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세발자전거 한 대에 바퀴가 3개예요. 빈칸을 채워요.</a:t>
            </a:r>
            <a:endParaRPr lang="ko-KR" sz="2800" dirty="0"/>
          </a:p>
        </p:txBody>
      </p:sp>
      <p:sp>
        <p:nvSpPr>
          <p:cNvPr id="4" name="S06-card5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5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 수를 □, 바퀴 수를 △라고 하면?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양의 대응 관계를 말과 식으로 나타내 보세요.</a:t>
            </a:r>
            <a:endParaRPr lang="ko-KR" sz="2800" dirty="0"/>
          </a:p>
        </p:txBody>
      </p:sp>
      <p:graphicFrame>
        <p:nvGraphicFramePr>
          <p:cNvPr id="7" name="S06-table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2396" y="2859278"/>
          <a:ext cx="10424160" cy="914400"/>
        </p:xfrm>
        <a:graphic>
          <a:graphicData uri="http://schemas.openxmlformats.org/drawingml/2006/table">
            <a:tbl>
              <a:tblPr/>
              <a:tblGrid>
                <a:gridCol w="3127248"/>
                <a:gridCol w="1459382"/>
                <a:gridCol w="1459382"/>
                <a:gridCol w="1459382"/>
                <a:gridCol w="1459382"/>
                <a:gridCol w="145938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자전거 수(대)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바퀴 수(개)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빼는 관계도 있어요</a:t>
            </a:r>
            <a:endParaRPr lang="ko-KR" sz="4000" dirty="0"/>
          </a:p>
        </p:txBody>
      </p:sp>
      <p:sp>
        <p:nvSpPr>
          <p:cNvPr id="3" name="S07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 동생은 3살 차이예요.</a:t>
            </a:r>
            <a:endParaRPr lang="ko-KR" sz="2800" dirty="0"/>
          </a:p>
        </p:txBody>
      </p:sp>
      <p:sp>
        <p:nvSpPr>
          <p:cNvPr id="4" name="S07-card54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5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나이 □, 동생 나이 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− 3 또는 □ = △ + 3</a:t>
            </a:r>
            <a:endParaRPr lang="ko-KR" sz="2800" dirty="0"/>
          </a:p>
        </p:txBody>
      </p:sp>
      <p:graphicFrame>
        <p:nvGraphicFramePr>
          <p:cNvPr id="8" name="S07-table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9596" y="2859278"/>
          <a:ext cx="9509760" cy="914400"/>
        </p:xfrm>
        <a:graphic>
          <a:graphicData uri="http://schemas.openxmlformats.org/drawingml/2006/table">
            <a:tbl>
              <a:tblPr/>
              <a:tblGrid>
                <a:gridCol w="3043123"/>
                <a:gridCol w="1616659"/>
                <a:gridCol w="1616659"/>
                <a:gridCol w="1616659"/>
                <a:gridCol w="1616659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나이(살)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동생 나이(살)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식이 맞을까요?</a:t>
            </a:r>
            <a:endParaRPr lang="ko-KR" sz="4000" dirty="0"/>
          </a:p>
        </p:txBody>
      </p:sp>
      <p:sp>
        <p:nvSpPr>
          <p:cNvPr id="3" name="S08-card5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 □와 다리 수 △의 대응 관계를 식으로 썼어요.</a:t>
            </a:r>
            <a:endParaRPr lang="ko-KR" sz="2800" dirty="0"/>
          </a:p>
        </p:txBody>
      </p:sp>
      <p:sp>
        <p:nvSpPr>
          <p:cNvPr id="5" name="S08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3을 넣어 확인해 봐요. 누가 맞았을까요?</a:t>
            </a:r>
            <a:endParaRPr lang="ko-KR" sz="2800" dirty="0"/>
          </a:p>
        </p:txBody>
      </p:sp>
      <p:sp>
        <p:nvSpPr>
          <p:cNvPr id="7" name="S08-chip6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</a:t>
            </a:r>
            <a:endParaRPr lang="ko-KR" sz="2200" dirty="0"/>
          </a:p>
        </p:txBody>
      </p:sp>
      <p:sp>
        <p:nvSpPr>
          <p:cNvPr id="8" name="S08-eqtext62"/>
          <p:cNvSpPr txBox="1"/>
          <p:nvPr/>
        </p:nvSpPr>
        <p:spPr>
          <a:xfrm>
            <a:off x="548640" y="3154680"/>
            <a:ext cx="5362956" cy="1192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+ 4</a:t>
            </a:r>
            <a:endParaRPr lang="ko-KR" sz="4000" dirty="0"/>
          </a:p>
        </p:txBody>
      </p:sp>
      <p:sp>
        <p:nvSpPr>
          <p:cNvPr id="9" name="S08-text63"/>
          <p:cNvSpPr txBox="1"/>
          <p:nvPr/>
        </p:nvSpPr>
        <p:spPr>
          <a:xfrm>
            <a:off x="548640" y="4347464"/>
            <a:ext cx="5362956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수가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커지니까요.</a:t>
            </a:r>
            <a:endParaRPr lang="ko-KR" sz="2200" dirty="0"/>
          </a:p>
        </p:txBody>
      </p:sp>
      <p:sp>
        <p:nvSpPr>
          <p:cNvPr id="10" name="S08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200" dirty="0"/>
          </a:p>
        </p:txBody>
      </p:sp>
      <p:sp>
        <p:nvSpPr>
          <p:cNvPr id="11" name="S08-eqtext65"/>
          <p:cNvSpPr txBox="1"/>
          <p:nvPr/>
        </p:nvSpPr>
        <p:spPr>
          <a:xfrm>
            <a:off x="6277356" y="3154680"/>
            <a:ext cx="5362956" cy="1192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4</a:t>
            </a:r>
            <a:endParaRPr lang="ko-KR" sz="4000" dirty="0"/>
          </a:p>
        </p:txBody>
      </p:sp>
      <p:sp>
        <p:nvSpPr>
          <p:cNvPr id="12" name="S08-text66"/>
          <p:cNvSpPr txBox="1"/>
          <p:nvPr/>
        </p:nvSpPr>
        <p:spPr>
          <a:xfrm>
            <a:off x="6277356" y="4347464"/>
            <a:ext cx="5362956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1개에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 4개니까요.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값을 구해요</a:t>
            </a:r>
            <a:endParaRPr lang="ko-KR" sz="4000" dirty="0"/>
          </a:p>
        </p:txBody>
      </p:sp>
      <p:sp>
        <p:nvSpPr>
          <p:cNvPr id="3" name="S09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식에 수를 넣어 계산해요.</a:t>
            </a:r>
            <a:endParaRPr lang="ko-KR" sz="2800" dirty="0"/>
          </a:p>
        </p:txBody>
      </p:sp>
      <p:sp>
        <p:nvSpPr>
          <p:cNvPr id="4" name="S09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쪽을 구할 때는 거꾸로 생각해요.</a:t>
            </a:r>
            <a:endParaRPr lang="ko-KR" sz="2800" dirty="0"/>
          </a:p>
        </p:txBody>
      </p:sp>
      <p:sp>
        <p:nvSpPr>
          <p:cNvPr id="6" name="S09-chip7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7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4에서 □가 9이면 △는?</a:t>
            </a:r>
            <a:endParaRPr lang="ko-KR" sz="2800" dirty="0"/>
          </a:p>
        </p:txBody>
      </p:sp>
      <p:sp>
        <p:nvSpPr>
          <p:cNvPr id="8" name="S09-chip7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7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4에서 △가 48이면 □는?</a:t>
            </a:r>
            <a:endParaRPr lang="ko-KR" sz="2800" dirty="0"/>
          </a:p>
        </p:txBody>
      </p:sp>
      <p:sp>
        <p:nvSpPr>
          <p:cNvPr id="10" name="S09-chip7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7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− 3에서 □가 20이면 △는?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76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한 봉지에 6개씩 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봉지 수는 □, 사탕 수는 △로 나타내요.</a:t>
            </a:r>
            <a:endParaRPr lang="ko-KR" sz="2800" dirty="0"/>
          </a:p>
        </p:txBody>
      </p:sp>
      <p:graphicFrame>
        <p:nvGraphicFramePr>
          <p:cNvPr id="11" name="S10-table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3824732"/>
          <a:ext cx="5362956" cy="914400"/>
        </p:xfrm>
        <a:graphic>
          <a:graphicData uri="http://schemas.openxmlformats.org/drawingml/2006/table">
            <a:tbl>
              <a:tblPr/>
              <a:tblGrid>
                <a:gridCol w="1716146"/>
                <a:gridCol w="911703"/>
                <a:gridCol w="911703"/>
                <a:gridCol w="911703"/>
                <a:gridCol w="911703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봉지 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사탕 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0-chip78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79"/>
          <p:cNvSpPr txBox="1"/>
          <p:nvPr/>
        </p:nvSpPr>
        <p:spPr>
          <a:xfrm>
            <a:off x="1344168" y="2376424"/>
            <a:ext cx="4567428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빈칸을 채워요.</a:t>
            </a:r>
            <a:endParaRPr lang="ko-KR" sz="2800" dirty="0"/>
          </a:p>
        </p:txBody>
      </p:sp>
      <p:sp>
        <p:nvSpPr>
          <p:cNvPr id="7" name="S10-chip80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81"/>
          <p:cNvSpPr txBox="1"/>
          <p:nvPr/>
        </p:nvSpPr>
        <p:spPr>
          <a:xfrm>
            <a:off x="1344168" y="3717883"/>
            <a:ext cx="4567428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관계를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써요.</a:t>
            </a:r>
            <a:endParaRPr lang="ko-KR" sz="2800" dirty="0"/>
          </a:p>
        </p:txBody>
      </p:sp>
      <p:sp>
        <p:nvSpPr>
          <p:cNvPr id="9" name="S10-chip82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10-text83"/>
          <p:cNvSpPr txBox="1"/>
          <p:nvPr/>
        </p:nvSpPr>
        <p:spPr>
          <a:xfrm>
            <a:off x="1344168" y="5059341"/>
            <a:ext cx="4567428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봉지가 10개이면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사탕은 몇 개일까요?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쓴 뒤 표의 짝을 넣어 맞는지 확인하게 하세요.</a:t>
            </a:r>
            <a:endParaRPr lang="ko-KR" sz="2800" dirty="0"/>
          </a:p>
        </p:txBody>
      </p:sp>
      <p:sp>
        <p:nvSpPr>
          <p:cNvPr id="5" name="S11-chip8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87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12, 24</a:t>
            </a:r>
            <a:endParaRPr lang="ko-KR" sz="2800" dirty="0"/>
          </a:p>
        </p:txBody>
      </p:sp>
      <p:sp>
        <p:nvSpPr>
          <p:cNvPr id="7" name="S11-text88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△ = □ × 6</a:t>
            </a:r>
            <a:endParaRPr lang="ko-KR" sz="2800" dirty="0"/>
          </a:p>
        </p:txBody>
      </p:sp>
      <p:sp>
        <p:nvSpPr>
          <p:cNvPr id="8" name="S11-text89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60개</a:t>
            </a:r>
            <a:endParaRPr lang="ko-KR" sz="2800" dirty="0"/>
          </a:p>
        </p:txBody>
      </p:sp>
      <p:sp>
        <p:nvSpPr>
          <p:cNvPr id="9" name="S11-chip9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0" name="S11-text91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△ = □ + 6: 옆으로 늘어나는 수만 봄</a:t>
            </a:r>
            <a:endParaRPr lang="ko-KR" sz="2800" dirty="0"/>
          </a:p>
        </p:txBody>
      </p:sp>
      <p:sp>
        <p:nvSpPr>
          <p:cNvPr id="11" name="S11-text92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16개: 10 + 6으로 계산함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식은?</a:t>
            </a:r>
            <a:endParaRPr lang="ko-KR" sz="4000" dirty="0"/>
          </a:p>
        </p:txBody>
      </p:sp>
      <p:sp>
        <p:nvSpPr>
          <p:cNvPr id="3" name="S12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보고 알맞은 식을 골라요.</a:t>
            </a:r>
            <a:endParaRPr lang="ko-KR" sz="2800" dirty="0"/>
          </a:p>
        </p:txBody>
      </p:sp>
      <p:sp>
        <p:nvSpPr>
          <p:cNvPr id="4" name="S12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□에 수를 넣어 말해요.</a:t>
            </a:r>
            <a:endParaRPr lang="ko-KR" sz="2800" dirty="0"/>
          </a:p>
        </p:txBody>
      </p:sp>
      <p:graphicFrame>
        <p:nvGraphicFramePr>
          <p:cNvPr id="13" name="S12-table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3014980"/>
          <a:ext cx="5362956" cy="914400"/>
        </p:xfrm>
        <a:graphic>
          <a:graphicData uri="http://schemas.openxmlformats.org/drawingml/2006/table">
            <a:tbl>
              <a:tblPr/>
              <a:tblGrid>
                <a:gridCol w="1072591"/>
                <a:gridCol w="1072591"/>
                <a:gridCol w="1072591"/>
                <a:gridCol w="1072591"/>
                <a:gridCol w="1072591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2-chip9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2-eqtext98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5</a:t>
            </a:r>
            <a:endParaRPr lang="ko-KR" sz="3200" dirty="0"/>
          </a:p>
        </p:txBody>
      </p:sp>
      <p:sp>
        <p:nvSpPr>
          <p:cNvPr id="9" name="S12-chip9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2-eqtext10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+ 4</a:t>
            </a:r>
            <a:endParaRPr lang="ko-KR" sz="3200" dirty="0"/>
          </a:p>
        </p:txBody>
      </p:sp>
      <p:sp>
        <p:nvSpPr>
          <p:cNvPr id="11" name="S12-chip10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2" name="S12-eqtext102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4 + 1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양의 대응 관계를 표로 정리하고, □와 △로 식을 써요.</a:t>
            </a:r>
            <a:endParaRPr lang="ko-KR" sz="2800" dirty="0"/>
          </a:p>
        </p:txBody>
      </p:sp>
      <p:sp>
        <p:nvSpPr>
          <p:cNvPr id="5" name="S13-chip10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위아래 짝을 보고 식 세우기</a:t>
            </a:r>
            <a:endParaRPr lang="ko-KR" sz="2200" dirty="0"/>
          </a:p>
        </p:txBody>
      </p:sp>
      <p:sp>
        <p:nvSpPr>
          <p:cNvPr id="6" name="S13-chip10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옆으로 늘어나는 수만 보기</a:t>
            </a:r>
            <a:endParaRPr lang="ko-KR" sz="2200" dirty="0"/>
          </a:p>
        </p:txBody>
      </p:sp>
      <p:sp>
        <p:nvSpPr>
          <p:cNvPr id="7" name="S13-text10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0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△ = □ × 7에서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5이면 △는?</a:t>
            </a:r>
            <a:endParaRPr lang="ko-KR" sz="2200" dirty="0"/>
          </a:p>
        </p:txBody>
      </p:sp>
      <p:sp>
        <p:nvSpPr>
          <p:cNvPr id="9" name="S13-text10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오리 수 □와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수 △의 식은?</a:t>
            </a:r>
            <a:endParaRPr lang="ko-KR" sz="2200" dirty="0"/>
          </a:p>
        </p:txBody>
      </p:sp>
      <p:sp>
        <p:nvSpPr>
          <p:cNvPr id="10" name="S13-text11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△ = □ + 10에서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△가 25이면 □는?</a:t>
            </a:r>
            <a:endParaRPr lang="ko-KR" sz="2200" dirty="0"/>
          </a:p>
        </p:txBody>
      </p:sp>
      <p:sp>
        <p:nvSpPr>
          <p:cNvPr id="11" name="S13-text11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합동인 도형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4씩 커지는 수</a:t>
            </a:r>
            <a:endParaRPr lang="ko-KR" sz="4000" dirty="0"/>
          </a:p>
        </p:txBody>
      </p:sp>
      <p:sp>
        <p:nvSpPr>
          <p:cNvPr id="3" name="S14-text1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뛰어 세면 4단 곱셈구구가 돼요.</a:t>
            </a:r>
            <a:endParaRPr lang="ko-KR" sz="2800" dirty="0"/>
          </a:p>
        </p:txBody>
      </p:sp>
      <p:sp>
        <p:nvSpPr>
          <p:cNvPr id="4" name="S14-card113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14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1 = 4,  4 × 2 = 8,  4 × 3 = 12,  4 × 4 = 16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 뛰었는지와 닿은 수가 짝지어져요.</a:t>
            </a:r>
            <a:endParaRPr lang="ko-KR" sz="2800" dirty="0"/>
          </a:p>
        </p:txBody>
      </p:sp>
      <p:sp>
        <p:nvSpPr>
          <p:cNvPr id="6" name="S14-figure115" descr="0부터 20까지 수직선: 0에서 4씩 네 번 뛰어 16에 닿음"/>
          <p:cNvSpPr/>
          <p:nvPr/>
        </p:nvSpPr>
        <p:spPr>
          <a:xfrm>
            <a:off x="632460" y="3507447"/>
            <a:ext cx="1092403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4-mark116"/>
          <p:cNvSpPr/>
          <p:nvPr/>
        </p:nvSpPr>
        <p:spPr>
          <a:xfrm>
            <a:off x="989788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4-mark117"/>
          <p:cNvSpPr/>
          <p:nvPr/>
        </p:nvSpPr>
        <p:spPr>
          <a:xfrm>
            <a:off x="1500257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4-mark118"/>
          <p:cNvSpPr/>
          <p:nvPr/>
        </p:nvSpPr>
        <p:spPr>
          <a:xfrm>
            <a:off x="2010726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4-mark119"/>
          <p:cNvSpPr/>
          <p:nvPr/>
        </p:nvSpPr>
        <p:spPr>
          <a:xfrm>
            <a:off x="2521195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4-mark120"/>
          <p:cNvSpPr/>
          <p:nvPr/>
        </p:nvSpPr>
        <p:spPr>
          <a:xfrm>
            <a:off x="3031663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4-mark121"/>
          <p:cNvSpPr/>
          <p:nvPr/>
        </p:nvSpPr>
        <p:spPr>
          <a:xfrm>
            <a:off x="3542132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4-mark122"/>
          <p:cNvSpPr/>
          <p:nvPr/>
        </p:nvSpPr>
        <p:spPr>
          <a:xfrm>
            <a:off x="4052601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4-mark123"/>
          <p:cNvSpPr/>
          <p:nvPr/>
        </p:nvSpPr>
        <p:spPr>
          <a:xfrm>
            <a:off x="4563070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4-mark124"/>
          <p:cNvSpPr/>
          <p:nvPr/>
        </p:nvSpPr>
        <p:spPr>
          <a:xfrm>
            <a:off x="5073538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4-mark125"/>
          <p:cNvSpPr/>
          <p:nvPr/>
        </p:nvSpPr>
        <p:spPr>
          <a:xfrm>
            <a:off x="5584007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4-mark126"/>
          <p:cNvSpPr/>
          <p:nvPr/>
        </p:nvSpPr>
        <p:spPr>
          <a:xfrm>
            <a:off x="6094476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4-mark127"/>
          <p:cNvSpPr/>
          <p:nvPr/>
        </p:nvSpPr>
        <p:spPr>
          <a:xfrm>
            <a:off x="6604945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4-mark128"/>
          <p:cNvSpPr/>
          <p:nvPr/>
        </p:nvSpPr>
        <p:spPr>
          <a:xfrm>
            <a:off x="7115414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4-mark129"/>
          <p:cNvSpPr/>
          <p:nvPr/>
        </p:nvSpPr>
        <p:spPr>
          <a:xfrm>
            <a:off x="7625882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4-mark130"/>
          <p:cNvSpPr/>
          <p:nvPr/>
        </p:nvSpPr>
        <p:spPr>
          <a:xfrm>
            <a:off x="8136351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4-mark131"/>
          <p:cNvSpPr/>
          <p:nvPr/>
        </p:nvSpPr>
        <p:spPr>
          <a:xfrm>
            <a:off x="8646820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4-mark132"/>
          <p:cNvSpPr/>
          <p:nvPr/>
        </p:nvSpPr>
        <p:spPr>
          <a:xfrm>
            <a:off x="9157289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4-mark133"/>
          <p:cNvSpPr/>
          <p:nvPr/>
        </p:nvSpPr>
        <p:spPr>
          <a:xfrm>
            <a:off x="9667757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4-mark134"/>
          <p:cNvSpPr/>
          <p:nvPr/>
        </p:nvSpPr>
        <p:spPr>
          <a:xfrm>
            <a:off x="10178226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4-mark135"/>
          <p:cNvSpPr/>
          <p:nvPr/>
        </p:nvSpPr>
        <p:spPr>
          <a:xfrm>
            <a:off x="10688695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4-mark136"/>
          <p:cNvSpPr/>
          <p:nvPr/>
        </p:nvSpPr>
        <p:spPr>
          <a:xfrm>
            <a:off x="11199164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4-mark137"/>
          <p:cNvSpPr/>
          <p:nvPr/>
        </p:nvSpPr>
        <p:spPr>
          <a:xfrm flipV="1">
            <a:off x="989788" y="3190956"/>
            <a:ext cx="0" cy="188873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9" name="S14-mark138"/>
          <p:cNvSpPr/>
          <p:nvPr/>
        </p:nvSpPr>
        <p:spPr>
          <a:xfrm>
            <a:off x="989788" y="3190956"/>
            <a:ext cx="204187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14-mark139"/>
          <p:cNvSpPr/>
          <p:nvPr/>
        </p:nvSpPr>
        <p:spPr>
          <a:xfrm flipV="1">
            <a:off x="3031663" y="3190956"/>
            <a:ext cx="0" cy="188873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1" name="S14-mark140"/>
          <p:cNvSpPr/>
          <p:nvPr/>
        </p:nvSpPr>
        <p:spPr>
          <a:xfrm>
            <a:off x="3031663" y="3190956"/>
            <a:ext cx="204187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2" name="S14-mark141"/>
          <p:cNvSpPr/>
          <p:nvPr/>
        </p:nvSpPr>
        <p:spPr>
          <a:xfrm flipV="1">
            <a:off x="5073538" y="3190956"/>
            <a:ext cx="0" cy="188873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3" name="S14-mark142"/>
          <p:cNvSpPr/>
          <p:nvPr/>
        </p:nvSpPr>
        <p:spPr>
          <a:xfrm>
            <a:off x="5073538" y="3190956"/>
            <a:ext cx="204187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14-mark143"/>
          <p:cNvSpPr/>
          <p:nvPr/>
        </p:nvSpPr>
        <p:spPr>
          <a:xfrm flipV="1">
            <a:off x="7115414" y="3190956"/>
            <a:ext cx="0" cy="188873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5" name="S14-mark144"/>
          <p:cNvSpPr/>
          <p:nvPr/>
        </p:nvSpPr>
        <p:spPr>
          <a:xfrm>
            <a:off x="7115414" y="3190956"/>
            <a:ext cx="204187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14-label146"/>
          <p:cNvSpPr txBox="1"/>
          <p:nvPr/>
        </p:nvSpPr>
        <p:spPr>
          <a:xfrm>
            <a:off x="842722" y="370036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37" name="S14-label148"/>
          <p:cNvSpPr txBox="1"/>
          <p:nvPr/>
        </p:nvSpPr>
        <p:spPr>
          <a:xfrm>
            <a:off x="2884597" y="370036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38" name="S14-label150"/>
          <p:cNvSpPr txBox="1"/>
          <p:nvPr/>
        </p:nvSpPr>
        <p:spPr>
          <a:xfrm>
            <a:off x="4926472" y="370036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39" name="S14-label152"/>
          <p:cNvSpPr txBox="1"/>
          <p:nvPr/>
        </p:nvSpPr>
        <p:spPr>
          <a:xfrm>
            <a:off x="6876146" y="370036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40" name="S14-label154"/>
          <p:cNvSpPr txBox="1"/>
          <p:nvPr/>
        </p:nvSpPr>
        <p:spPr>
          <a:xfrm>
            <a:off x="8918021" y="370036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200" dirty="0"/>
          </a:p>
        </p:txBody>
      </p:sp>
      <p:sp>
        <p:nvSpPr>
          <p:cNvPr id="41" name="S14-label156"/>
          <p:cNvSpPr txBox="1"/>
          <p:nvPr/>
        </p:nvSpPr>
        <p:spPr>
          <a:xfrm>
            <a:off x="10959896" y="370036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42" name="S14-label158"/>
          <p:cNvSpPr txBox="1"/>
          <p:nvPr/>
        </p:nvSpPr>
        <p:spPr>
          <a:xfrm>
            <a:off x="1804986" y="2771306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</a:t>
            </a:r>
            <a:endParaRPr lang="ko-KR" sz="2200" dirty="0"/>
          </a:p>
        </p:txBody>
      </p:sp>
      <p:sp>
        <p:nvSpPr>
          <p:cNvPr id="43" name="S14-label160"/>
          <p:cNvSpPr txBox="1"/>
          <p:nvPr/>
        </p:nvSpPr>
        <p:spPr>
          <a:xfrm>
            <a:off x="3846861" y="2771306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</a:t>
            </a:r>
            <a:endParaRPr lang="ko-KR" sz="2200" dirty="0"/>
          </a:p>
        </p:txBody>
      </p:sp>
      <p:sp>
        <p:nvSpPr>
          <p:cNvPr id="44" name="S14-label162"/>
          <p:cNvSpPr txBox="1"/>
          <p:nvPr/>
        </p:nvSpPr>
        <p:spPr>
          <a:xfrm>
            <a:off x="5888736" y="2771306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</a:t>
            </a:r>
            <a:endParaRPr lang="ko-KR" sz="2200" dirty="0"/>
          </a:p>
        </p:txBody>
      </p:sp>
      <p:sp>
        <p:nvSpPr>
          <p:cNvPr id="45" name="S14-label164"/>
          <p:cNvSpPr txBox="1"/>
          <p:nvPr/>
        </p:nvSpPr>
        <p:spPr>
          <a:xfrm>
            <a:off x="7930611" y="2771306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규칙과 대응</dc:title>
  <dc:subject>KR22-G05-MAT-CORRESP-L01</dc:subject>
  <dc:creator>education-ppt</dc:creator>
  <cp:lastModifiedBy>education-ppt</cp:lastModifiedBy>
  <cp:revision>1</cp:revision>
  <dcterms:created xsi:type="dcterms:W3CDTF">2026-10-26T08:32:27Z</dcterms:created>
  <dcterms:modified xsi:type="dcterms:W3CDTF">2026-10-26T08:32:27Z</dcterms:modified>
</cp:coreProperties>
</file>