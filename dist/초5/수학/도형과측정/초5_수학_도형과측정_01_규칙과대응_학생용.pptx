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f8ace9ce-dc43-5fa4-6fdf-eee4a9e51e8a}">
          <p14:sldIdLst>
            <p14:sldId id="256"/>
            <p14:sldId id="257"/>
          </p14:sldIdLst>
        </p14:section>
        <p14:section name="개념" id="{dfbbe6bc-1391-3f66-0547-5b9d1c9dd518}">
          <p14:sldIdLst>
            <p14:sldId id="258"/>
            <p14:sldId id="259"/>
            <p14:sldId id="260"/>
            <p14:sldId id="262"/>
          </p14:sldIdLst>
        </p14:section>
        <p14:section name="연습" id="{35101ae8-8f91-c13f-590c-72bc8ab5d53b}">
          <p14:sldIdLst>
            <p14:sldId id="261"/>
            <p14:sldId id="263"/>
            <p14:sldId id="264"/>
          </p14:sldIdLst>
        </p14:section>
        <p14:section name="개념" id="{2514a549-3e97-4d9b-ecf8-44e8097327d0}">
          <p14:sldIdLst/>
        </p14:section>
        <p14:section name="연습" id="{c79718d1-1922-7703-0021-5901bed76a51}">
          <p14:sldIdLst/>
        </p14:section>
        <p14:section name="확인" id="{b6c96acc-b9eb-bb6d-f468-4f7b94c11682}">
          <p14:sldIdLst>
            <p14:sldId id="265"/>
            <p14:sldId id="266"/>
          </p14:sldIdLst>
        </p14:section>
        <p14:section name="정리" id="{e78a9af7-fec0-41ac-320b-46a218f24436}">
          <p14:sldIdLst>
            <p14:sldId id="267"/>
          </p14:sldIdLst>
        </p14:section>
        <p14:section name="보충" id="{2c9b2329-7f2e-1838-5b47-9f92e207b588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도형과측정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규칙과 대응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규칙과 대응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수학 · 규칙과 대응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규칙과 대응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의자가 10개이면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다리는 몇 개일까?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하나하나 세지 않고 알 수 있을까?</a:t>
            </a:r>
            <a:endParaRPr lang="ko-KR" sz="2800" dirty="0"/>
          </a:p>
        </p:txBody>
      </p:sp>
      <p:graphicFrame>
        <p:nvGraphicFramePr>
          <p:cNvPr id="2" name="S01-table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26680" y="1630680"/>
          <a:ext cx="3840480" cy="914400"/>
        </p:xfrm>
        <a:graphic>
          <a:graphicData uri="http://schemas.openxmlformats.org/drawingml/2006/table">
            <a:tbl>
              <a:tblPr/>
              <a:tblGrid>
                <a:gridCol w="1305763"/>
                <a:gridCol w="844906"/>
                <a:gridCol w="844906"/>
                <a:gridCol w="844906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다리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1-card2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함께 변하는 두 양의 관계를 표로 나타내요.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대응 관계를 □와 △를 쓴 식으로 나타내요.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 찾기 기억하기</a:t>
            </a:r>
            <a:endParaRPr lang="ko-KR" sz="4000" dirty="0"/>
          </a:p>
        </p:txBody>
      </p:sp>
      <p:sp>
        <p:nvSpPr>
          <p:cNvPr id="3" name="S02-text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규칙을 찾아 □에 알맞은 수나 식을 써요.</a:t>
            </a:r>
            <a:endParaRPr lang="ko-KR" sz="2800" dirty="0"/>
          </a:p>
        </p:txBody>
      </p:sp>
      <p:sp>
        <p:nvSpPr>
          <p:cNvPr id="4" name="S02-chip5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text6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  7,  11,  15,  □</a:t>
            </a:r>
            <a:endParaRPr lang="ko-KR" sz="2800" dirty="0"/>
          </a:p>
        </p:txBody>
      </p:sp>
      <p:sp>
        <p:nvSpPr>
          <p:cNvPr id="6" name="S02-chip7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2-text8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  4,  8,  16,  □</a:t>
            </a:r>
            <a:endParaRPr lang="ko-KR" sz="2800" dirty="0"/>
          </a:p>
        </p:txBody>
      </p:sp>
      <p:sp>
        <p:nvSpPr>
          <p:cNvPr id="8" name="S02-chip9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2-text10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1 = 5,  5 × 2 = 10,  5 × 3 = 15,  □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의자 수와 다리 수</a:t>
            </a:r>
            <a:endParaRPr lang="ko-KR" sz="4000" dirty="0"/>
          </a:p>
        </p:txBody>
      </p:sp>
      <p:sp>
        <p:nvSpPr>
          <p:cNvPr id="3" name="S03-text1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의자 한 개에 다리가 4개 있어요.</a:t>
            </a:r>
            <a:endParaRPr lang="ko-KR" sz="2800" dirty="0"/>
          </a:p>
        </p:txBody>
      </p:sp>
      <p:sp>
        <p:nvSpPr>
          <p:cNvPr id="4" name="S03-card1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의자 수가 변하면 다리 수도 함께 변해요.</a:t>
            </a:r>
            <a:endParaRPr lang="ko-KR" sz="2800" dirty="0"/>
          </a:p>
        </p:txBody>
      </p:sp>
      <p:sp>
        <p:nvSpPr>
          <p:cNvPr id="6" name="S03-dot14"/>
          <p:cNvSpPr/>
          <p:nvPr/>
        </p:nvSpPr>
        <p:spPr>
          <a:xfrm>
            <a:off x="1988820" y="266776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3-dot15"/>
          <p:cNvSpPr/>
          <p:nvPr/>
        </p:nvSpPr>
        <p:spPr>
          <a:xfrm>
            <a:off x="2674620" y="266776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3-dot16"/>
          <p:cNvSpPr/>
          <p:nvPr/>
        </p:nvSpPr>
        <p:spPr>
          <a:xfrm>
            <a:off x="3360420" y="266776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3-dot17"/>
          <p:cNvSpPr/>
          <p:nvPr/>
        </p:nvSpPr>
        <p:spPr>
          <a:xfrm>
            <a:off x="4046220" y="266776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3-dot18"/>
          <p:cNvSpPr/>
          <p:nvPr/>
        </p:nvSpPr>
        <p:spPr>
          <a:xfrm>
            <a:off x="1988820" y="335356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3-dot19"/>
          <p:cNvSpPr/>
          <p:nvPr/>
        </p:nvSpPr>
        <p:spPr>
          <a:xfrm>
            <a:off x="2674620" y="335356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3-dot20"/>
          <p:cNvSpPr/>
          <p:nvPr/>
        </p:nvSpPr>
        <p:spPr>
          <a:xfrm>
            <a:off x="3360420" y="335356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3-dot21"/>
          <p:cNvSpPr/>
          <p:nvPr/>
        </p:nvSpPr>
        <p:spPr>
          <a:xfrm>
            <a:off x="4046220" y="335356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3-dot22"/>
          <p:cNvSpPr/>
          <p:nvPr/>
        </p:nvSpPr>
        <p:spPr>
          <a:xfrm>
            <a:off x="1988820" y="403936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3-dot23"/>
          <p:cNvSpPr/>
          <p:nvPr/>
        </p:nvSpPr>
        <p:spPr>
          <a:xfrm>
            <a:off x="2674620" y="403936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3-dot24"/>
          <p:cNvSpPr/>
          <p:nvPr/>
        </p:nvSpPr>
        <p:spPr>
          <a:xfrm>
            <a:off x="3360420" y="403936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3-dot25"/>
          <p:cNvSpPr/>
          <p:nvPr/>
        </p:nvSpPr>
        <p:spPr>
          <a:xfrm>
            <a:off x="4046220" y="403936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3-group26"/>
          <p:cNvSpPr/>
          <p:nvPr/>
        </p:nvSpPr>
        <p:spPr>
          <a:xfrm>
            <a:off x="1885950" y="2574036"/>
            <a:ext cx="2688336" cy="612648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9" name="S03-group27"/>
          <p:cNvSpPr/>
          <p:nvPr/>
        </p:nvSpPr>
        <p:spPr>
          <a:xfrm>
            <a:off x="1885950" y="3259836"/>
            <a:ext cx="2688336" cy="612648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0" name="S03-group28"/>
          <p:cNvSpPr/>
          <p:nvPr/>
        </p:nvSpPr>
        <p:spPr>
          <a:xfrm>
            <a:off x="1885950" y="3945636"/>
            <a:ext cx="2688336" cy="612648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1" name="S03-figure29" descr="점 12개를 4개씩 3줄로 묶음: 의자 3개(한 줄이 의자 1개의 다리 4개)"/>
          <p:cNvSpPr/>
          <p:nvPr/>
        </p:nvSpPr>
        <p:spPr>
          <a:xfrm>
            <a:off x="1858518" y="2537460"/>
            <a:ext cx="2743200" cy="2057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03-card30"/>
          <p:cNvSpPr/>
          <p:nvPr/>
        </p:nvSpPr>
        <p:spPr>
          <a:xfrm>
            <a:off x="6277356" y="2271776"/>
            <a:ext cx="536295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3" name="S03-cardtext31"/>
          <p:cNvSpPr txBox="1"/>
          <p:nvPr/>
        </p:nvSpPr>
        <p:spPr>
          <a:xfrm>
            <a:off x="6551676" y="2408936"/>
            <a:ext cx="481431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의자 1개 → 다리 4개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줄이 의자 1개예요.</a:t>
            </a:r>
            <a:endParaRPr lang="ko-KR" sz="2800" dirty="0"/>
          </a:p>
        </p:txBody>
      </p:sp>
      <p:sp>
        <p:nvSpPr>
          <p:cNvPr id="24" name="S03-card32"/>
          <p:cNvSpPr/>
          <p:nvPr/>
        </p:nvSpPr>
        <p:spPr>
          <a:xfrm>
            <a:off x="6277356" y="3680460"/>
            <a:ext cx="536295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5" name="S03-cardtext33"/>
          <p:cNvSpPr txBox="1"/>
          <p:nvPr/>
        </p:nvSpPr>
        <p:spPr>
          <a:xfrm>
            <a:off x="6551676" y="3817620"/>
            <a:ext cx="481431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의자 3개 → 다리 12개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+ 4 + 4 = 4 × 3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표로 나타내요</a:t>
            </a:r>
            <a:endParaRPr lang="ko-KR" sz="4000" dirty="0"/>
          </a:p>
        </p:txBody>
      </p:sp>
      <p:sp>
        <p:nvSpPr>
          <p:cNvPr id="3" name="S04-text3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의자 수와 다리 수를 짝지어 표로 써요.</a:t>
            </a:r>
            <a:endParaRPr lang="ko-KR" sz="2800" dirty="0"/>
          </a:p>
        </p:txBody>
      </p:sp>
      <p:sp>
        <p:nvSpPr>
          <p:cNvPr id="4" name="S04-card35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36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다리 수는 의자 수의 4배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의자 수 하나에 다리 수 하나가 짝지어져요. 이런 관계를 대응 관계라고 해요.</a:t>
            </a:r>
            <a:endParaRPr lang="ko-KR" sz="2800" dirty="0"/>
          </a:p>
        </p:txBody>
      </p:sp>
      <p:graphicFrame>
        <p:nvGraphicFramePr>
          <p:cNvPr id="5" name="S04-table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82396" y="2859278"/>
          <a:ext cx="10424160" cy="914400"/>
        </p:xfrm>
        <a:graphic>
          <a:graphicData uri="http://schemas.openxmlformats.org/drawingml/2006/table">
            <a:tbl>
              <a:tblPr/>
              <a:tblGrid>
                <a:gridCol w="3127248"/>
                <a:gridCol w="1459382"/>
                <a:gridCol w="1459382"/>
                <a:gridCol w="1459382"/>
                <a:gridCol w="1459382"/>
                <a:gridCol w="1459382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의자 수(개)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다리 수(개)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기호로 식을 써요</a:t>
            </a:r>
            <a:endParaRPr lang="ko-KR" sz="4000" dirty="0"/>
          </a:p>
        </p:txBody>
      </p:sp>
      <p:sp>
        <p:nvSpPr>
          <p:cNvPr id="3" name="S05-text3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의자 수를 □, 다리 수를 △라고 해요.</a:t>
            </a:r>
            <a:endParaRPr lang="ko-KR" sz="2800" dirty="0"/>
          </a:p>
        </p:txBody>
      </p:sp>
      <p:sp>
        <p:nvSpPr>
          <p:cNvPr id="4" name="S05-card39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40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□가 10이면 △ = 10 × 4 = 40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식이 있으면 세지 않고도 알 수 있어요.</a:t>
            </a:r>
            <a:endParaRPr lang="ko-KR" sz="2800" dirty="0"/>
          </a:p>
        </p:txBody>
      </p:sp>
      <p:sp>
        <p:nvSpPr>
          <p:cNvPr id="6" name="S05-stepno41"/>
          <p:cNvSpPr txBox="1"/>
          <p:nvPr/>
        </p:nvSpPr>
        <p:spPr>
          <a:xfrm>
            <a:off x="548640" y="230911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7" name="S05-text42"/>
          <p:cNvSpPr txBox="1"/>
          <p:nvPr/>
        </p:nvSpPr>
        <p:spPr>
          <a:xfrm>
            <a:off x="1325880" y="2263394"/>
            <a:ext cx="1031443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표에서 규칙을 찾아요: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다리 수 = 의자 수 × 4</a:t>
            </a:r>
            <a:endParaRPr lang="ko-KR" sz="2800" dirty="0"/>
          </a:p>
        </p:txBody>
      </p:sp>
      <p:sp>
        <p:nvSpPr>
          <p:cNvPr id="8" name="S05-stepno43"/>
          <p:cNvSpPr txBox="1"/>
          <p:nvPr/>
        </p:nvSpPr>
        <p:spPr>
          <a:xfrm>
            <a:off x="548640" y="329565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9" name="S05-text44"/>
          <p:cNvSpPr txBox="1"/>
          <p:nvPr/>
        </p:nvSpPr>
        <p:spPr>
          <a:xfrm>
            <a:off x="1325880" y="3295650"/>
            <a:ext cx="5655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기호로 써요.</a:t>
            </a:r>
            <a:endParaRPr lang="ko-KR" sz="2800" dirty="0"/>
          </a:p>
        </p:txBody>
      </p:sp>
      <p:sp>
        <p:nvSpPr>
          <p:cNvPr id="10" name="S05-eqtext45"/>
          <p:cNvSpPr txBox="1"/>
          <p:nvPr/>
        </p:nvSpPr>
        <p:spPr>
          <a:xfrm>
            <a:off x="6981810" y="3295650"/>
            <a:ext cx="46585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△ = □ × 4</a:t>
            </a:r>
            <a:endParaRPr lang="ko-KR" sz="2800" dirty="0"/>
          </a:p>
        </p:txBody>
      </p:sp>
      <p:sp>
        <p:nvSpPr>
          <p:cNvPr id="11" name="S05-stepno46"/>
          <p:cNvSpPr txBox="1"/>
          <p:nvPr/>
        </p:nvSpPr>
        <p:spPr>
          <a:xfrm>
            <a:off x="548640" y="400888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2" name="S05-text47"/>
          <p:cNvSpPr txBox="1"/>
          <p:nvPr/>
        </p:nvSpPr>
        <p:spPr>
          <a:xfrm>
            <a:off x="1325880" y="4008882"/>
            <a:ext cx="5655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거꾸로도 쓸 수 있어요.</a:t>
            </a:r>
            <a:endParaRPr lang="ko-KR" sz="2800" dirty="0"/>
          </a:p>
        </p:txBody>
      </p:sp>
      <p:sp>
        <p:nvSpPr>
          <p:cNvPr id="13" name="S05-eqtext48"/>
          <p:cNvSpPr txBox="1"/>
          <p:nvPr/>
        </p:nvSpPr>
        <p:spPr>
          <a:xfrm>
            <a:off x="6981810" y="4008882"/>
            <a:ext cx="46585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= △ ÷ 4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세발자전거와 바퀴</a:t>
            </a:r>
            <a:endParaRPr lang="ko-KR" sz="4000" dirty="0"/>
          </a:p>
        </p:txBody>
      </p:sp>
      <p:sp>
        <p:nvSpPr>
          <p:cNvPr id="3" name="S06-text4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세발자전거 한 대에 바퀴가 3개예요. 빈칸을 채워요.</a:t>
            </a:r>
            <a:endParaRPr lang="ko-KR" sz="2800" dirty="0"/>
          </a:p>
        </p:txBody>
      </p:sp>
      <p:sp>
        <p:nvSpPr>
          <p:cNvPr id="4" name="S06-card50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51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자전거 수를 □, 바퀴 수를 △라고 하면?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양의 대응 관계를 말과 식으로 나타내 보세요.</a:t>
            </a:r>
            <a:endParaRPr lang="ko-KR" sz="2800" dirty="0"/>
          </a:p>
        </p:txBody>
      </p:sp>
      <p:graphicFrame>
        <p:nvGraphicFramePr>
          <p:cNvPr id="7" name="S06-table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82396" y="2859278"/>
          <a:ext cx="10424160" cy="914400"/>
        </p:xfrm>
        <a:graphic>
          <a:graphicData uri="http://schemas.openxmlformats.org/drawingml/2006/table">
            <a:tbl>
              <a:tblPr/>
              <a:tblGrid>
                <a:gridCol w="3127248"/>
                <a:gridCol w="1459382"/>
                <a:gridCol w="1459382"/>
                <a:gridCol w="1459382"/>
                <a:gridCol w="1459382"/>
                <a:gridCol w="1459382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자전거 수(대)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바퀴 수(개)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빼는 관계도 있어요</a:t>
            </a:r>
            <a:endParaRPr lang="ko-KR" sz="4000" dirty="0"/>
          </a:p>
        </p:txBody>
      </p:sp>
      <p:sp>
        <p:nvSpPr>
          <p:cNvPr id="3" name="S07-text5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나와 동생은 3살 차이예요.</a:t>
            </a:r>
            <a:endParaRPr lang="ko-KR" sz="2800" dirty="0"/>
          </a:p>
        </p:txBody>
      </p:sp>
      <p:sp>
        <p:nvSpPr>
          <p:cNvPr id="4" name="S07-card54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55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나이 □, 동생 나이 △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△ = □ − 3 또는 □ = △ + 3</a:t>
            </a:r>
            <a:endParaRPr lang="ko-KR" sz="2800" dirty="0"/>
          </a:p>
        </p:txBody>
      </p:sp>
      <p:graphicFrame>
        <p:nvGraphicFramePr>
          <p:cNvPr id="8" name="S07-table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39596" y="2859278"/>
          <a:ext cx="9509760" cy="914400"/>
        </p:xfrm>
        <a:graphic>
          <a:graphicData uri="http://schemas.openxmlformats.org/drawingml/2006/table">
            <a:tbl>
              <a:tblPr/>
              <a:tblGrid>
                <a:gridCol w="3043123"/>
                <a:gridCol w="1616659"/>
                <a:gridCol w="1616659"/>
                <a:gridCol w="1616659"/>
                <a:gridCol w="1616659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나이(살)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동생 나이(살)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식이 맞을까요?</a:t>
            </a:r>
            <a:endParaRPr lang="ko-KR" sz="4000" dirty="0"/>
          </a:p>
        </p:txBody>
      </p:sp>
      <p:sp>
        <p:nvSpPr>
          <p:cNvPr id="3" name="S08-card5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5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의자 수 □와 다리 수 △의 대응 관계를 식으로 썼어요.</a:t>
            </a:r>
            <a:endParaRPr lang="ko-KR" sz="2800" dirty="0"/>
          </a:p>
        </p:txBody>
      </p:sp>
      <p:sp>
        <p:nvSpPr>
          <p:cNvPr id="5" name="S08-card5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6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□에 3을 넣어 확인해 봐요. 누가 맞았을까요?</a:t>
            </a:r>
            <a:endParaRPr lang="ko-KR" sz="2800" dirty="0"/>
          </a:p>
        </p:txBody>
      </p:sp>
      <p:sp>
        <p:nvSpPr>
          <p:cNvPr id="7" name="S08-chip61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하늘</a:t>
            </a:r>
            <a:endParaRPr lang="ko-KR" sz="2200" dirty="0"/>
          </a:p>
        </p:txBody>
      </p:sp>
      <p:sp>
        <p:nvSpPr>
          <p:cNvPr id="8" name="S08-eqtext62"/>
          <p:cNvSpPr txBox="1"/>
          <p:nvPr/>
        </p:nvSpPr>
        <p:spPr>
          <a:xfrm>
            <a:off x="548640" y="3154680"/>
            <a:ext cx="5362956" cy="1192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△ = □ + 4</a:t>
            </a:r>
            <a:endParaRPr lang="ko-KR" sz="4000" dirty="0"/>
          </a:p>
        </p:txBody>
      </p:sp>
      <p:sp>
        <p:nvSpPr>
          <p:cNvPr id="9" name="S08-text63"/>
          <p:cNvSpPr txBox="1"/>
          <p:nvPr/>
        </p:nvSpPr>
        <p:spPr>
          <a:xfrm>
            <a:off x="548640" y="4347464"/>
            <a:ext cx="5362956" cy="773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다리 수가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4씩 커지니까요.</a:t>
            </a:r>
            <a:endParaRPr lang="ko-KR" sz="2200" dirty="0"/>
          </a:p>
        </p:txBody>
      </p:sp>
      <p:sp>
        <p:nvSpPr>
          <p:cNvPr id="10" name="S08-chip6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</a:t>
            </a:r>
            <a:endParaRPr lang="ko-KR" sz="2200" dirty="0"/>
          </a:p>
        </p:txBody>
      </p:sp>
      <p:sp>
        <p:nvSpPr>
          <p:cNvPr id="11" name="S08-eqtext65"/>
          <p:cNvSpPr txBox="1"/>
          <p:nvPr/>
        </p:nvSpPr>
        <p:spPr>
          <a:xfrm>
            <a:off x="6277356" y="3154680"/>
            <a:ext cx="5362956" cy="1192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△ = □ × 4</a:t>
            </a:r>
            <a:endParaRPr lang="ko-KR" sz="4000" dirty="0"/>
          </a:p>
        </p:txBody>
      </p:sp>
      <p:sp>
        <p:nvSpPr>
          <p:cNvPr id="12" name="S08-text66"/>
          <p:cNvSpPr txBox="1"/>
          <p:nvPr/>
        </p:nvSpPr>
        <p:spPr>
          <a:xfrm>
            <a:off x="6277356" y="4347464"/>
            <a:ext cx="5362956" cy="773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의자 1개에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다리가 4개니까요.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식으로 값을 구해요</a:t>
            </a:r>
            <a:endParaRPr lang="ko-KR" sz="4000" dirty="0"/>
          </a:p>
        </p:txBody>
      </p:sp>
      <p:sp>
        <p:nvSpPr>
          <p:cNvPr id="3" name="S09-text6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식에 수를 넣어 계산해요.</a:t>
            </a:r>
            <a:endParaRPr lang="ko-KR" sz="2800" dirty="0"/>
          </a:p>
        </p:txBody>
      </p:sp>
      <p:sp>
        <p:nvSpPr>
          <p:cNvPr id="4" name="S09-card6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6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모르는 쪽을 구할 때는 거꾸로 생각해요.</a:t>
            </a:r>
            <a:endParaRPr lang="ko-KR" sz="2800" dirty="0"/>
          </a:p>
        </p:txBody>
      </p:sp>
      <p:sp>
        <p:nvSpPr>
          <p:cNvPr id="6" name="S09-chip70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9-text71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△ = □ × 4에서 □가 9이면 △는?</a:t>
            </a:r>
            <a:endParaRPr lang="ko-KR" sz="2800" dirty="0"/>
          </a:p>
        </p:txBody>
      </p:sp>
      <p:sp>
        <p:nvSpPr>
          <p:cNvPr id="8" name="S09-chip72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9-text73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△ = □ × 4에서 △가 48이면 □는?</a:t>
            </a:r>
            <a:endParaRPr lang="ko-KR" sz="2800" dirty="0"/>
          </a:p>
        </p:txBody>
      </p:sp>
      <p:sp>
        <p:nvSpPr>
          <p:cNvPr id="10" name="S09-chip74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9-text75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△ = □ − 3에서 □가 20이면 △는?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76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사탕이 한 봉지에 6개씩 있어요.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봉지 수는 □, 사탕 수는 △로 나타내요.</a:t>
            </a:r>
            <a:endParaRPr lang="ko-KR" sz="2800" dirty="0"/>
          </a:p>
        </p:txBody>
      </p:sp>
      <p:graphicFrame>
        <p:nvGraphicFramePr>
          <p:cNvPr id="11" name="S10-table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7356" y="3824732"/>
          <a:ext cx="5362956" cy="914400"/>
        </p:xfrm>
        <a:graphic>
          <a:graphicData uri="http://schemas.openxmlformats.org/drawingml/2006/table">
            <a:tbl>
              <a:tblPr/>
              <a:tblGrid>
                <a:gridCol w="1716146"/>
                <a:gridCol w="911703"/>
                <a:gridCol w="911703"/>
                <a:gridCol w="911703"/>
                <a:gridCol w="911703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봉지 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사탕 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10-chip78"/>
          <p:cNvSpPr txBox="1"/>
          <p:nvPr/>
        </p:nvSpPr>
        <p:spPr>
          <a:xfrm>
            <a:off x="548640" y="2672249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10-text79"/>
          <p:cNvSpPr txBox="1"/>
          <p:nvPr/>
        </p:nvSpPr>
        <p:spPr>
          <a:xfrm>
            <a:off x="1344168" y="2376424"/>
            <a:ext cx="4567428" cy="115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표의 빈칸을 채워요.</a:t>
            </a:r>
            <a:endParaRPr lang="ko-KR" sz="2800" dirty="0"/>
          </a:p>
        </p:txBody>
      </p:sp>
      <p:sp>
        <p:nvSpPr>
          <p:cNvPr id="7" name="S10-chip80"/>
          <p:cNvSpPr txBox="1"/>
          <p:nvPr/>
        </p:nvSpPr>
        <p:spPr>
          <a:xfrm>
            <a:off x="548640" y="401370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10-text81"/>
          <p:cNvSpPr txBox="1"/>
          <p:nvPr/>
        </p:nvSpPr>
        <p:spPr>
          <a:xfrm>
            <a:off x="1344168" y="3717883"/>
            <a:ext cx="4567428" cy="115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 관계를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식으로 써요.</a:t>
            </a:r>
            <a:endParaRPr lang="ko-KR" sz="2800" dirty="0"/>
          </a:p>
        </p:txBody>
      </p:sp>
      <p:sp>
        <p:nvSpPr>
          <p:cNvPr id="9" name="S10-chip82"/>
          <p:cNvSpPr txBox="1"/>
          <p:nvPr/>
        </p:nvSpPr>
        <p:spPr>
          <a:xfrm>
            <a:off x="548640" y="5355167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10-text83"/>
          <p:cNvSpPr txBox="1"/>
          <p:nvPr/>
        </p:nvSpPr>
        <p:spPr>
          <a:xfrm>
            <a:off x="1344168" y="5059341"/>
            <a:ext cx="4567428" cy="115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봉지가 10개이면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사탕은 몇 개일까요?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표에 맞는 식은?</a:t>
            </a:r>
            <a:endParaRPr lang="ko-KR" sz="4000" dirty="0"/>
          </a:p>
        </p:txBody>
      </p:sp>
      <p:sp>
        <p:nvSpPr>
          <p:cNvPr id="3" name="S12-text8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표를 보고 알맞은 식을 골라요.</a:t>
            </a:r>
            <a:endParaRPr lang="ko-KR" sz="2800" dirty="0"/>
          </a:p>
        </p:txBody>
      </p:sp>
      <p:sp>
        <p:nvSpPr>
          <p:cNvPr id="4" name="S12-card8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2-cardtext8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까닭을 □에 수를 넣어 말해요.</a:t>
            </a:r>
            <a:endParaRPr lang="ko-KR" sz="2800" dirty="0"/>
          </a:p>
        </p:txBody>
      </p:sp>
      <p:graphicFrame>
        <p:nvGraphicFramePr>
          <p:cNvPr id="12" name="S12-table8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7356" y="3014980"/>
          <a:ext cx="5362956" cy="914400"/>
        </p:xfrm>
        <a:graphic>
          <a:graphicData uri="http://schemas.openxmlformats.org/drawingml/2006/table">
            <a:tbl>
              <a:tblPr/>
              <a:tblGrid>
                <a:gridCol w="1072591"/>
                <a:gridCol w="1072591"/>
                <a:gridCol w="1072591"/>
                <a:gridCol w="1072591"/>
                <a:gridCol w="1072591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△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12-chip88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12-eqtext89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△ = □ × 5</a:t>
            </a:r>
            <a:endParaRPr lang="ko-KR" sz="3200" dirty="0"/>
          </a:p>
        </p:txBody>
      </p:sp>
      <p:sp>
        <p:nvSpPr>
          <p:cNvPr id="9" name="S12-chip90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12-eqtext91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△ = □ + 4</a:t>
            </a:r>
            <a:endParaRPr lang="ko-KR" sz="3200" dirty="0"/>
          </a:p>
        </p:txBody>
      </p:sp>
      <p:sp>
        <p:nvSpPr>
          <p:cNvPr id="11" name="S12-chip92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200" dirty="0"/>
          </a:p>
        </p:txBody>
      </p:sp>
      <p:sp>
        <p:nvSpPr>
          <p:cNvPr id="12" name="S12-eqtext93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△ = □ × 4 + 1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9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9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양의 대응 관계를 표로 정리하고, □와 △로 식을 써요.</a:t>
            </a:r>
            <a:endParaRPr lang="ko-KR" sz="2800" dirty="0"/>
          </a:p>
        </p:txBody>
      </p:sp>
      <p:sp>
        <p:nvSpPr>
          <p:cNvPr id="5" name="S13-chip96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위아래 짝을 보고 식 세우기</a:t>
            </a:r>
            <a:endParaRPr lang="ko-KR" sz="2200" dirty="0"/>
          </a:p>
        </p:txBody>
      </p:sp>
      <p:sp>
        <p:nvSpPr>
          <p:cNvPr id="6" name="S13-chip97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옆으로 늘어나는 수만 보기</a:t>
            </a:r>
            <a:endParaRPr lang="ko-KR" sz="2200" dirty="0"/>
          </a:p>
        </p:txBody>
      </p:sp>
      <p:sp>
        <p:nvSpPr>
          <p:cNvPr id="7" name="S13-text98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text99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△ = □ × 7에서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□가 5이면 △는?</a:t>
            </a:r>
            <a:endParaRPr lang="ko-KR" sz="2200" dirty="0"/>
          </a:p>
        </p:txBody>
      </p:sp>
      <p:sp>
        <p:nvSpPr>
          <p:cNvPr id="9" name="S13-text100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오리 수 □와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다리 수 △의 식은?</a:t>
            </a:r>
            <a:endParaRPr lang="ko-KR" sz="2200" dirty="0"/>
          </a:p>
        </p:txBody>
      </p:sp>
      <p:sp>
        <p:nvSpPr>
          <p:cNvPr id="10" name="S13-text101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△ = □ + 10에서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△가 25이면 □는?</a:t>
            </a:r>
            <a:endParaRPr lang="ko-KR" sz="2200" dirty="0"/>
          </a:p>
        </p:txBody>
      </p:sp>
      <p:sp>
        <p:nvSpPr>
          <p:cNvPr id="11" name="S13-text10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합동인 도형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4씩 커지는 수</a:t>
            </a:r>
            <a:endParaRPr lang="ko-KR" sz="4000" dirty="0"/>
          </a:p>
        </p:txBody>
      </p:sp>
      <p:sp>
        <p:nvSpPr>
          <p:cNvPr id="3" name="S14-text10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4씩 뛰어 세면 4단 곱셈구구가 돼요.</a:t>
            </a:r>
            <a:endParaRPr lang="ko-KR" sz="2800" dirty="0"/>
          </a:p>
        </p:txBody>
      </p:sp>
      <p:sp>
        <p:nvSpPr>
          <p:cNvPr id="4" name="S14-card104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105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1 = 4,  4 × 2 = 8,  4 × 3 = 12,  4 × 4 = 16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번 뛰었는지와 닿은 수가 짝지어져요.</a:t>
            </a:r>
            <a:endParaRPr lang="ko-KR" sz="2800" dirty="0"/>
          </a:p>
        </p:txBody>
      </p:sp>
      <p:sp>
        <p:nvSpPr>
          <p:cNvPr id="6" name="S14-figure106" descr="0부터 20까지 수직선: 0에서 4씩 네 번 뛰어 16에 닿음"/>
          <p:cNvSpPr/>
          <p:nvPr/>
        </p:nvSpPr>
        <p:spPr>
          <a:xfrm>
            <a:off x="632460" y="3507447"/>
            <a:ext cx="1092403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7" name="S14-mark107"/>
          <p:cNvSpPr/>
          <p:nvPr/>
        </p:nvSpPr>
        <p:spPr>
          <a:xfrm>
            <a:off x="989788" y="3425772"/>
            <a:ext cx="0" cy="1633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14-mark108"/>
          <p:cNvSpPr/>
          <p:nvPr/>
        </p:nvSpPr>
        <p:spPr>
          <a:xfrm>
            <a:off x="1500257" y="3425772"/>
            <a:ext cx="0" cy="1633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14-mark109"/>
          <p:cNvSpPr/>
          <p:nvPr/>
        </p:nvSpPr>
        <p:spPr>
          <a:xfrm>
            <a:off x="2010726" y="3425772"/>
            <a:ext cx="0" cy="1633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14-mark110"/>
          <p:cNvSpPr/>
          <p:nvPr/>
        </p:nvSpPr>
        <p:spPr>
          <a:xfrm>
            <a:off x="2521195" y="3425772"/>
            <a:ext cx="0" cy="1633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14-mark111"/>
          <p:cNvSpPr/>
          <p:nvPr/>
        </p:nvSpPr>
        <p:spPr>
          <a:xfrm>
            <a:off x="3031663" y="3425772"/>
            <a:ext cx="0" cy="1633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14-mark112"/>
          <p:cNvSpPr/>
          <p:nvPr/>
        </p:nvSpPr>
        <p:spPr>
          <a:xfrm>
            <a:off x="3542132" y="3425772"/>
            <a:ext cx="0" cy="1633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14-mark113"/>
          <p:cNvSpPr/>
          <p:nvPr/>
        </p:nvSpPr>
        <p:spPr>
          <a:xfrm>
            <a:off x="4052601" y="3425772"/>
            <a:ext cx="0" cy="1633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14-mark114"/>
          <p:cNvSpPr/>
          <p:nvPr/>
        </p:nvSpPr>
        <p:spPr>
          <a:xfrm>
            <a:off x="4563070" y="3425772"/>
            <a:ext cx="0" cy="1633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14-mark115"/>
          <p:cNvSpPr/>
          <p:nvPr/>
        </p:nvSpPr>
        <p:spPr>
          <a:xfrm>
            <a:off x="5073538" y="3425772"/>
            <a:ext cx="0" cy="1633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14-mark116"/>
          <p:cNvSpPr/>
          <p:nvPr/>
        </p:nvSpPr>
        <p:spPr>
          <a:xfrm>
            <a:off x="5584007" y="3425772"/>
            <a:ext cx="0" cy="1633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14-mark117"/>
          <p:cNvSpPr/>
          <p:nvPr/>
        </p:nvSpPr>
        <p:spPr>
          <a:xfrm>
            <a:off x="6094476" y="3425772"/>
            <a:ext cx="0" cy="1633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14-mark118"/>
          <p:cNvSpPr/>
          <p:nvPr/>
        </p:nvSpPr>
        <p:spPr>
          <a:xfrm>
            <a:off x="6604945" y="3425772"/>
            <a:ext cx="0" cy="1633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14-mark119"/>
          <p:cNvSpPr/>
          <p:nvPr/>
        </p:nvSpPr>
        <p:spPr>
          <a:xfrm>
            <a:off x="7115414" y="3425772"/>
            <a:ext cx="0" cy="1633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14-mark120"/>
          <p:cNvSpPr/>
          <p:nvPr/>
        </p:nvSpPr>
        <p:spPr>
          <a:xfrm>
            <a:off x="7625882" y="3425772"/>
            <a:ext cx="0" cy="1633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14-mark121"/>
          <p:cNvSpPr/>
          <p:nvPr/>
        </p:nvSpPr>
        <p:spPr>
          <a:xfrm>
            <a:off x="8136351" y="3425772"/>
            <a:ext cx="0" cy="1633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14-mark122"/>
          <p:cNvSpPr/>
          <p:nvPr/>
        </p:nvSpPr>
        <p:spPr>
          <a:xfrm>
            <a:off x="8646820" y="3425772"/>
            <a:ext cx="0" cy="1633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14-mark123"/>
          <p:cNvSpPr/>
          <p:nvPr/>
        </p:nvSpPr>
        <p:spPr>
          <a:xfrm>
            <a:off x="9157289" y="3425772"/>
            <a:ext cx="0" cy="1633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14-mark124"/>
          <p:cNvSpPr/>
          <p:nvPr/>
        </p:nvSpPr>
        <p:spPr>
          <a:xfrm>
            <a:off x="9667757" y="3425772"/>
            <a:ext cx="0" cy="1633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14-mark125"/>
          <p:cNvSpPr/>
          <p:nvPr/>
        </p:nvSpPr>
        <p:spPr>
          <a:xfrm>
            <a:off x="10178226" y="3425772"/>
            <a:ext cx="0" cy="1633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14-mark126"/>
          <p:cNvSpPr/>
          <p:nvPr/>
        </p:nvSpPr>
        <p:spPr>
          <a:xfrm>
            <a:off x="10688695" y="3425772"/>
            <a:ext cx="0" cy="1633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14-mark127"/>
          <p:cNvSpPr/>
          <p:nvPr/>
        </p:nvSpPr>
        <p:spPr>
          <a:xfrm>
            <a:off x="11199164" y="3425772"/>
            <a:ext cx="0" cy="16335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14-mark128"/>
          <p:cNvSpPr/>
          <p:nvPr/>
        </p:nvSpPr>
        <p:spPr>
          <a:xfrm flipV="1">
            <a:off x="989788" y="3190956"/>
            <a:ext cx="0" cy="188873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29" name="S14-mark129"/>
          <p:cNvSpPr/>
          <p:nvPr/>
        </p:nvSpPr>
        <p:spPr>
          <a:xfrm>
            <a:off x="989788" y="3190956"/>
            <a:ext cx="2041875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0" name="S14-mark130"/>
          <p:cNvSpPr/>
          <p:nvPr/>
        </p:nvSpPr>
        <p:spPr>
          <a:xfrm flipV="1">
            <a:off x="3031663" y="3190956"/>
            <a:ext cx="0" cy="188873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31" name="S14-mark131"/>
          <p:cNvSpPr/>
          <p:nvPr/>
        </p:nvSpPr>
        <p:spPr>
          <a:xfrm>
            <a:off x="3031663" y="3190956"/>
            <a:ext cx="2041875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2" name="S14-mark132"/>
          <p:cNvSpPr/>
          <p:nvPr/>
        </p:nvSpPr>
        <p:spPr>
          <a:xfrm flipV="1">
            <a:off x="5073538" y="3190956"/>
            <a:ext cx="0" cy="188873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33" name="S14-mark133"/>
          <p:cNvSpPr/>
          <p:nvPr/>
        </p:nvSpPr>
        <p:spPr>
          <a:xfrm>
            <a:off x="5073538" y="3190956"/>
            <a:ext cx="2041875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4" name="S14-mark134"/>
          <p:cNvSpPr/>
          <p:nvPr/>
        </p:nvSpPr>
        <p:spPr>
          <a:xfrm flipV="1">
            <a:off x="7115414" y="3190956"/>
            <a:ext cx="0" cy="188873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35" name="S14-mark135"/>
          <p:cNvSpPr/>
          <p:nvPr/>
        </p:nvSpPr>
        <p:spPr>
          <a:xfrm>
            <a:off x="7115414" y="3190956"/>
            <a:ext cx="2041875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6" name="S14-label137"/>
          <p:cNvSpPr txBox="1"/>
          <p:nvPr/>
        </p:nvSpPr>
        <p:spPr>
          <a:xfrm>
            <a:off x="842722" y="3700360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37" name="S14-label139"/>
          <p:cNvSpPr txBox="1"/>
          <p:nvPr/>
        </p:nvSpPr>
        <p:spPr>
          <a:xfrm>
            <a:off x="2884597" y="3700360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38" name="S14-label141"/>
          <p:cNvSpPr txBox="1"/>
          <p:nvPr/>
        </p:nvSpPr>
        <p:spPr>
          <a:xfrm>
            <a:off x="4926472" y="3700360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200" dirty="0"/>
          </a:p>
        </p:txBody>
      </p:sp>
      <p:sp>
        <p:nvSpPr>
          <p:cNvPr id="39" name="S14-label143"/>
          <p:cNvSpPr txBox="1"/>
          <p:nvPr/>
        </p:nvSpPr>
        <p:spPr>
          <a:xfrm>
            <a:off x="6876146" y="3700360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200" dirty="0"/>
          </a:p>
        </p:txBody>
      </p:sp>
      <p:sp>
        <p:nvSpPr>
          <p:cNvPr id="40" name="S14-label145"/>
          <p:cNvSpPr txBox="1"/>
          <p:nvPr/>
        </p:nvSpPr>
        <p:spPr>
          <a:xfrm>
            <a:off x="8918021" y="3700360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ko-KR" sz="2200" dirty="0"/>
          </a:p>
        </p:txBody>
      </p:sp>
      <p:sp>
        <p:nvSpPr>
          <p:cNvPr id="41" name="S14-label147"/>
          <p:cNvSpPr txBox="1"/>
          <p:nvPr/>
        </p:nvSpPr>
        <p:spPr>
          <a:xfrm>
            <a:off x="10959896" y="3700360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200" dirty="0"/>
          </a:p>
        </p:txBody>
      </p:sp>
      <p:sp>
        <p:nvSpPr>
          <p:cNvPr id="42" name="S14-label149"/>
          <p:cNvSpPr txBox="1"/>
          <p:nvPr/>
        </p:nvSpPr>
        <p:spPr>
          <a:xfrm>
            <a:off x="1804986" y="2771306"/>
            <a:ext cx="41148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+4</a:t>
            </a:r>
            <a:endParaRPr lang="ko-KR" sz="2200" dirty="0"/>
          </a:p>
        </p:txBody>
      </p:sp>
      <p:sp>
        <p:nvSpPr>
          <p:cNvPr id="43" name="S14-label151"/>
          <p:cNvSpPr txBox="1"/>
          <p:nvPr/>
        </p:nvSpPr>
        <p:spPr>
          <a:xfrm>
            <a:off x="3846861" y="2771306"/>
            <a:ext cx="41148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+4</a:t>
            </a:r>
            <a:endParaRPr lang="ko-KR" sz="2200" dirty="0"/>
          </a:p>
        </p:txBody>
      </p:sp>
      <p:sp>
        <p:nvSpPr>
          <p:cNvPr id="44" name="S14-label153"/>
          <p:cNvSpPr txBox="1"/>
          <p:nvPr/>
        </p:nvSpPr>
        <p:spPr>
          <a:xfrm>
            <a:off x="5888736" y="2771306"/>
            <a:ext cx="41148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+4</a:t>
            </a:r>
            <a:endParaRPr lang="ko-KR" sz="2200" dirty="0"/>
          </a:p>
        </p:txBody>
      </p:sp>
      <p:sp>
        <p:nvSpPr>
          <p:cNvPr id="45" name="S14-label155"/>
          <p:cNvSpPr txBox="1"/>
          <p:nvPr/>
        </p:nvSpPr>
        <p:spPr>
          <a:xfrm>
            <a:off x="7930611" y="2771306"/>
            <a:ext cx="41148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+4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수학 규칙과 대응</dc:title>
  <dc:subject>KR22-G05-MAT-CORRESP-L01</dc:subject>
  <dc:creator>education-ppt</dc:creator>
  <cp:lastModifiedBy>education-ppt</cp:lastModifiedBy>
  <cp:revision>1</cp:revision>
  <dcterms:created xsi:type="dcterms:W3CDTF">2026-10-26T08:29:09Z</dcterms:created>
  <dcterms:modified xsi:type="dcterms:W3CDTF">2026-10-26T08:29:09Z</dcterms:modified>
</cp:coreProperties>
</file>