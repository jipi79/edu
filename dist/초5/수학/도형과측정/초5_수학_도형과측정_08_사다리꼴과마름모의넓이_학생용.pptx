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eda9fe8-d148-b2e5-bfb7-fa028c551d02}">
          <p14:sldIdLst>
            <p14:sldId id="256"/>
            <p14:sldId id="257"/>
          </p14:sldIdLst>
        </p14:section>
        <p14:section name="개념" id="{7230bba2-1d59-c8b8-efcc-70c413e9d5bc}">
          <p14:sldIdLst>
            <p14:sldId id="258"/>
            <p14:sldId id="259"/>
            <p14:sldId id="260"/>
            <p14:sldId id="263"/>
            <p14:sldId id="264"/>
          </p14:sldIdLst>
        </p14:section>
        <p14:section name="연습" id="{36e674b6-6a37-87db-f08d-130b06997254}">
          <p14:sldIdLst>
            <p14:sldId id="261"/>
            <p14:sldId id="262"/>
            <p14:sldId id="265"/>
          </p14:sldIdLst>
        </p14:section>
        <p14:section name="개념" id="{95c2e62d-a891-b03d-3303-92831da8a7f7}">
          <p14:sldIdLst/>
        </p14:section>
        <p14:section name="연습" id="{158d0128-f00a-cd77-36d1-5b14b845c8b3}">
          <p14:sldIdLst/>
        </p14:section>
        <p14:section name="확인" id="{47ece0e3-a8e6-cf73-5dab-aec260caee37}">
          <p14:sldIdLst>
            <p14:sldId id="266"/>
            <p14:sldId id="267"/>
          </p14:sldIdLst>
        </p14:section>
        <p14:section name="정리" id="{495d78e4-a8f4-9bfe-42a5-0a50e99b64cb}">
          <p14:sldIdLst>
            <p14:sldId id="268"/>
          </p14:sldIdLst>
        </p14:section>
        <p14:section name="보충" id="{dbd458d6-dde1-b1d1-7fcb-13ca8a07557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도형과측정 · 8차시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사다리꼴과 마름모의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사다리꼴과 마름모의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사다리꼴과 마름모의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사다리꼴과 마름모의 넓이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사다리꼴의 넓이는 어떻게 구할까?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mark2"/>
          <p:cNvSpPr/>
          <p:nvPr/>
        </p:nvSpPr>
        <p:spPr>
          <a:xfrm>
            <a:off x="8497570" y="1183640"/>
            <a:ext cx="2298700" cy="1838960"/>
          </a:xfrm>
          <a:custGeom>
            <a:avLst/>
            <a:gdLst/>
            <a:ahLst/>
            <a:cxnLst/>
            <a:rect l="l" t="t" r="r" b="b"/>
            <a:pathLst>
              <a:path w="2298700" h="1838960">
                <a:moveTo>
                  <a:pt x="0" y="1838960"/>
                </a:moveTo>
                <a:lnTo>
                  <a:pt x="2298700" y="1838960"/>
                </a:lnTo>
                <a:lnTo>
                  <a:pt x="1838960" y="0"/>
                </a:lnTo>
                <a:lnTo>
                  <a:pt x="45974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1-mark3"/>
          <p:cNvSpPr/>
          <p:nvPr/>
        </p:nvSpPr>
        <p:spPr>
          <a:xfrm flipV="1">
            <a:off x="8037830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 flipV="1">
            <a:off x="8497570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V="1">
            <a:off x="8957310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9417050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 flipV="1">
            <a:off x="9876790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V="1">
            <a:off x="10336530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V="1">
            <a:off x="10796270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 flipV="1">
            <a:off x="11256010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8037830" y="3482340"/>
            <a:ext cx="32181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8037830" y="3022600"/>
            <a:ext cx="32181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8037830" y="2562860"/>
            <a:ext cx="32181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8037830" y="2103120"/>
            <a:ext cx="32181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8037830" y="1643380"/>
            <a:ext cx="32181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8037830" y="1183640"/>
            <a:ext cx="32181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8037830" y="723900"/>
            <a:ext cx="32181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1-figure18" descr="모눈 위의 사다리꼴: 윗변 3칸, 아랫변 5칸, 높이 4칸"/>
          <p:cNvSpPr/>
          <p:nvPr/>
        </p:nvSpPr>
        <p:spPr>
          <a:xfrm>
            <a:off x="8497570" y="1183640"/>
            <a:ext cx="2298700" cy="1838960"/>
          </a:xfrm>
          <a:custGeom>
            <a:avLst/>
            <a:gdLst/>
            <a:ahLst/>
            <a:cxnLst/>
            <a:rect l="l" t="t" r="r" b="b"/>
            <a:pathLst>
              <a:path w="2298700" h="1838960">
                <a:moveTo>
                  <a:pt x="0" y="1838960"/>
                </a:moveTo>
                <a:lnTo>
                  <a:pt x="2298700" y="1838960"/>
                </a:lnTo>
                <a:lnTo>
                  <a:pt x="1838960" y="0"/>
                </a:lnTo>
                <a:lnTo>
                  <a:pt x="45974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01-card19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3" name="S01-cardtext20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사다리꼴 2개를 붙여 넓이 구하는 방법을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마름모의 넓이를 두 대각선으로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평행사변형과 삼각형의 넓이를 구해요.</a:t>
            </a:r>
            <a:endParaRPr lang="ko-KR" sz="2800" dirty="0"/>
          </a:p>
        </p:txBody>
      </p:sp>
      <p:sp>
        <p:nvSpPr>
          <p:cNvPr id="4" name="S02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2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가와 나의 넓이를 식으로 말해요.</a:t>
            </a:r>
            <a:endParaRPr lang="ko-KR" sz="2800" dirty="0"/>
          </a:p>
        </p:txBody>
      </p:sp>
      <p:sp>
        <p:nvSpPr>
          <p:cNvPr id="6" name="S02-chip24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02-mark25"/>
          <p:cNvSpPr/>
          <p:nvPr/>
        </p:nvSpPr>
        <p:spPr>
          <a:xfrm>
            <a:off x="1842668" y="3397910"/>
            <a:ext cx="2774899" cy="1040587"/>
          </a:xfrm>
          <a:custGeom>
            <a:avLst/>
            <a:gdLst/>
            <a:ahLst/>
            <a:cxnLst/>
            <a:rect l="l" t="t" r="r" b="b"/>
            <a:pathLst>
              <a:path w="2774899" h="1040587">
                <a:moveTo>
                  <a:pt x="0" y="1040587"/>
                </a:moveTo>
                <a:lnTo>
                  <a:pt x="2081174" y="1040587"/>
                </a:lnTo>
                <a:lnTo>
                  <a:pt x="2774899" y="0"/>
                </a:lnTo>
                <a:lnTo>
                  <a:pt x="693725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02-mark26"/>
          <p:cNvSpPr/>
          <p:nvPr/>
        </p:nvSpPr>
        <p:spPr>
          <a:xfrm flipV="1">
            <a:off x="1495806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2-mark27"/>
          <p:cNvSpPr/>
          <p:nvPr/>
        </p:nvSpPr>
        <p:spPr>
          <a:xfrm flipV="1">
            <a:off x="1842668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2-mark28"/>
          <p:cNvSpPr/>
          <p:nvPr/>
        </p:nvSpPr>
        <p:spPr>
          <a:xfrm flipV="1">
            <a:off x="2189531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2-mark29"/>
          <p:cNvSpPr/>
          <p:nvPr/>
        </p:nvSpPr>
        <p:spPr>
          <a:xfrm flipV="1">
            <a:off x="2536393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2-mark30"/>
          <p:cNvSpPr/>
          <p:nvPr/>
        </p:nvSpPr>
        <p:spPr>
          <a:xfrm flipV="1">
            <a:off x="2883256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2-mark31"/>
          <p:cNvSpPr/>
          <p:nvPr/>
        </p:nvSpPr>
        <p:spPr>
          <a:xfrm flipV="1">
            <a:off x="3230118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2-mark32"/>
          <p:cNvSpPr/>
          <p:nvPr/>
        </p:nvSpPr>
        <p:spPr>
          <a:xfrm flipV="1">
            <a:off x="3576980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2-mark33"/>
          <p:cNvSpPr/>
          <p:nvPr/>
        </p:nvSpPr>
        <p:spPr>
          <a:xfrm flipV="1">
            <a:off x="3923843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2-mark34"/>
          <p:cNvSpPr/>
          <p:nvPr/>
        </p:nvSpPr>
        <p:spPr>
          <a:xfrm flipV="1">
            <a:off x="4270705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2-mark35"/>
          <p:cNvSpPr/>
          <p:nvPr/>
        </p:nvSpPr>
        <p:spPr>
          <a:xfrm flipV="1">
            <a:off x="4617568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2-mark36"/>
          <p:cNvSpPr/>
          <p:nvPr/>
        </p:nvSpPr>
        <p:spPr>
          <a:xfrm flipV="1">
            <a:off x="4964430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2-mark37"/>
          <p:cNvSpPr/>
          <p:nvPr/>
        </p:nvSpPr>
        <p:spPr>
          <a:xfrm>
            <a:off x="1495806" y="4785360"/>
            <a:ext cx="346862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2-mark38"/>
          <p:cNvSpPr/>
          <p:nvPr/>
        </p:nvSpPr>
        <p:spPr>
          <a:xfrm>
            <a:off x="1495806" y="4438498"/>
            <a:ext cx="346862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2-mark39"/>
          <p:cNvSpPr/>
          <p:nvPr/>
        </p:nvSpPr>
        <p:spPr>
          <a:xfrm>
            <a:off x="1495806" y="4091635"/>
            <a:ext cx="346862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2-mark40"/>
          <p:cNvSpPr/>
          <p:nvPr/>
        </p:nvSpPr>
        <p:spPr>
          <a:xfrm>
            <a:off x="1495806" y="3744773"/>
            <a:ext cx="346862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2-mark41"/>
          <p:cNvSpPr/>
          <p:nvPr/>
        </p:nvSpPr>
        <p:spPr>
          <a:xfrm>
            <a:off x="1495806" y="3397910"/>
            <a:ext cx="346862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2-mark42"/>
          <p:cNvSpPr/>
          <p:nvPr/>
        </p:nvSpPr>
        <p:spPr>
          <a:xfrm>
            <a:off x="1495806" y="3051048"/>
            <a:ext cx="346862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2-figure43" descr="모눈 위의 평행사변형: 밑변 6 cm, 높이 3 cm(점선)"/>
          <p:cNvSpPr/>
          <p:nvPr/>
        </p:nvSpPr>
        <p:spPr>
          <a:xfrm>
            <a:off x="1842668" y="3397910"/>
            <a:ext cx="2774899" cy="1040587"/>
          </a:xfrm>
          <a:custGeom>
            <a:avLst/>
            <a:gdLst/>
            <a:ahLst/>
            <a:cxnLst/>
            <a:rect l="l" t="t" r="r" b="b"/>
            <a:pathLst>
              <a:path w="2774899" h="1040587">
                <a:moveTo>
                  <a:pt x="0" y="1040587"/>
                </a:moveTo>
                <a:lnTo>
                  <a:pt x="2081174" y="1040587"/>
                </a:lnTo>
                <a:lnTo>
                  <a:pt x="2774899" y="0"/>
                </a:lnTo>
                <a:lnTo>
                  <a:pt x="693725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2-mark44"/>
          <p:cNvSpPr/>
          <p:nvPr/>
        </p:nvSpPr>
        <p:spPr>
          <a:xfrm>
            <a:off x="2536393" y="4228948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2-mark45"/>
          <p:cNvSpPr/>
          <p:nvPr/>
        </p:nvSpPr>
        <p:spPr>
          <a:xfrm>
            <a:off x="2536393" y="3397910"/>
            <a:ext cx="0" cy="1040587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8" name="S02-label47"/>
          <p:cNvSpPr txBox="1"/>
          <p:nvPr/>
        </p:nvSpPr>
        <p:spPr>
          <a:xfrm>
            <a:off x="2501494" y="451533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29" name="S02-label49"/>
          <p:cNvSpPr txBox="1"/>
          <p:nvPr/>
        </p:nvSpPr>
        <p:spPr>
          <a:xfrm>
            <a:off x="2584907" y="3743579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30" name="S02-chip50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31" name="S02-mark51"/>
          <p:cNvSpPr/>
          <p:nvPr/>
        </p:nvSpPr>
        <p:spPr>
          <a:xfrm>
            <a:off x="8091678" y="3340100"/>
            <a:ext cx="1734312" cy="1156208"/>
          </a:xfrm>
          <a:custGeom>
            <a:avLst/>
            <a:gdLst/>
            <a:ahLst/>
            <a:cxnLst/>
            <a:rect l="l" t="t" r="r" b="b"/>
            <a:pathLst>
              <a:path w="1734312" h="1156208">
                <a:moveTo>
                  <a:pt x="0" y="1156208"/>
                </a:moveTo>
                <a:lnTo>
                  <a:pt x="1734312" y="1156208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32" name="S02-mark52"/>
          <p:cNvSpPr/>
          <p:nvPr/>
        </p:nvSpPr>
        <p:spPr>
          <a:xfrm flipV="1">
            <a:off x="7802626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2-mark53"/>
          <p:cNvSpPr/>
          <p:nvPr/>
        </p:nvSpPr>
        <p:spPr>
          <a:xfrm flipV="1">
            <a:off x="8091678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2-mark54"/>
          <p:cNvSpPr/>
          <p:nvPr/>
        </p:nvSpPr>
        <p:spPr>
          <a:xfrm flipV="1">
            <a:off x="8380730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2-mark55"/>
          <p:cNvSpPr/>
          <p:nvPr/>
        </p:nvSpPr>
        <p:spPr>
          <a:xfrm flipV="1">
            <a:off x="8669782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2-mark56"/>
          <p:cNvSpPr/>
          <p:nvPr/>
        </p:nvSpPr>
        <p:spPr>
          <a:xfrm flipV="1">
            <a:off x="8958834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2-mark57"/>
          <p:cNvSpPr/>
          <p:nvPr/>
        </p:nvSpPr>
        <p:spPr>
          <a:xfrm flipV="1">
            <a:off x="9247886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2-mark58"/>
          <p:cNvSpPr/>
          <p:nvPr/>
        </p:nvSpPr>
        <p:spPr>
          <a:xfrm flipV="1">
            <a:off x="9536938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2-mark59"/>
          <p:cNvSpPr/>
          <p:nvPr/>
        </p:nvSpPr>
        <p:spPr>
          <a:xfrm flipV="1">
            <a:off x="9825990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2-mark60"/>
          <p:cNvSpPr/>
          <p:nvPr/>
        </p:nvSpPr>
        <p:spPr>
          <a:xfrm flipV="1">
            <a:off x="10115042" y="3051048"/>
            <a:ext cx="0" cy="173431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2-mark61"/>
          <p:cNvSpPr/>
          <p:nvPr/>
        </p:nvSpPr>
        <p:spPr>
          <a:xfrm>
            <a:off x="7802626" y="4785360"/>
            <a:ext cx="23124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2-mark62"/>
          <p:cNvSpPr/>
          <p:nvPr/>
        </p:nvSpPr>
        <p:spPr>
          <a:xfrm>
            <a:off x="7802626" y="4496308"/>
            <a:ext cx="23124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2-mark63"/>
          <p:cNvSpPr/>
          <p:nvPr/>
        </p:nvSpPr>
        <p:spPr>
          <a:xfrm>
            <a:off x="7802626" y="4207256"/>
            <a:ext cx="23124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2-mark64"/>
          <p:cNvSpPr/>
          <p:nvPr/>
        </p:nvSpPr>
        <p:spPr>
          <a:xfrm>
            <a:off x="7802626" y="3918204"/>
            <a:ext cx="23124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2-mark65"/>
          <p:cNvSpPr/>
          <p:nvPr/>
        </p:nvSpPr>
        <p:spPr>
          <a:xfrm>
            <a:off x="7802626" y="3629152"/>
            <a:ext cx="23124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2-mark66"/>
          <p:cNvSpPr/>
          <p:nvPr/>
        </p:nvSpPr>
        <p:spPr>
          <a:xfrm>
            <a:off x="7802626" y="3340100"/>
            <a:ext cx="23124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2-mark67"/>
          <p:cNvSpPr/>
          <p:nvPr/>
        </p:nvSpPr>
        <p:spPr>
          <a:xfrm>
            <a:off x="7802626" y="3051048"/>
            <a:ext cx="23124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02-figure68" descr="모눈 위의 직각삼각형: 밑변 6 cm, 높이 4 cm(직각 표시가 있는 왼쪽 변)"/>
          <p:cNvSpPr/>
          <p:nvPr/>
        </p:nvSpPr>
        <p:spPr>
          <a:xfrm>
            <a:off x="8091678" y="3340100"/>
            <a:ext cx="1734312" cy="1156208"/>
          </a:xfrm>
          <a:custGeom>
            <a:avLst/>
            <a:gdLst/>
            <a:ahLst/>
            <a:cxnLst/>
            <a:rect l="l" t="t" r="r" b="b"/>
            <a:pathLst>
              <a:path w="1734312" h="1156208">
                <a:moveTo>
                  <a:pt x="0" y="1156208"/>
                </a:moveTo>
                <a:lnTo>
                  <a:pt x="1734312" y="1156208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9" name="S02-mark69"/>
          <p:cNvSpPr/>
          <p:nvPr/>
        </p:nvSpPr>
        <p:spPr>
          <a:xfrm>
            <a:off x="8091678" y="4286758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02-label71"/>
          <p:cNvSpPr txBox="1"/>
          <p:nvPr/>
        </p:nvSpPr>
        <p:spPr>
          <a:xfrm>
            <a:off x="8577072" y="457314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51" name="S02-label73"/>
          <p:cNvSpPr txBox="1"/>
          <p:nvPr/>
        </p:nvSpPr>
        <p:spPr>
          <a:xfrm>
            <a:off x="7279640" y="3743579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사다리꼴의 윗변, 아랫변, 높이</a:t>
            </a:r>
            <a:endParaRPr lang="ko-KR" sz="4000" dirty="0"/>
          </a:p>
        </p:txBody>
      </p:sp>
      <p:sp>
        <p:nvSpPr>
          <p:cNvPr id="3" name="S03-figure74" descr="사다리꼴: 위의 평행한 변은 윗변, 아래의 평행한 변은 아랫변, 두 변 사이에 수직으로 그은 점선은 높이"/>
          <p:cNvSpPr/>
          <p:nvPr/>
        </p:nvSpPr>
        <p:spPr>
          <a:xfrm>
            <a:off x="944118" y="1943100"/>
            <a:ext cx="4572000" cy="3657600"/>
          </a:xfrm>
          <a:custGeom>
            <a:avLst/>
            <a:gdLst/>
            <a:ahLst/>
            <a:cxnLst/>
            <a:rect l="l" t="t" r="r" b="b"/>
            <a:pathLst>
              <a:path w="4572000" h="3657600">
                <a:moveTo>
                  <a:pt x="0" y="3657600"/>
                </a:moveTo>
                <a:lnTo>
                  <a:pt x="4572000" y="3657600"/>
                </a:lnTo>
                <a:lnTo>
                  <a:pt x="3657600" y="0"/>
                </a:lnTo>
                <a:lnTo>
                  <a:pt x="91440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3-mark75"/>
          <p:cNvSpPr/>
          <p:nvPr/>
        </p:nvSpPr>
        <p:spPr>
          <a:xfrm>
            <a:off x="2772918" y="539115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" name="S03-mark76"/>
          <p:cNvSpPr/>
          <p:nvPr/>
        </p:nvSpPr>
        <p:spPr>
          <a:xfrm>
            <a:off x="2772918" y="1943100"/>
            <a:ext cx="0" cy="365760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6" name="S03-label78"/>
          <p:cNvSpPr txBox="1"/>
          <p:nvPr/>
        </p:nvSpPr>
        <p:spPr>
          <a:xfrm>
            <a:off x="2764536" y="5677535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아랫변</a:t>
            </a:r>
            <a:endParaRPr lang="ko-KR" sz="2200" dirty="0"/>
          </a:p>
        </p:txBody>
      </p:sp>
      <p:sp>
        <p:nvSpPr>
          <p:cNvPr id="7" name="S03-label80"/>
          <p:cNvSpPr txBox="1"/>
          <p:nvPr/>
        </p:nvSpPr>
        <p:spPr>
          <a:xfrm>
            <a:off x="2901442" y="151701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윗변</a:t>
            </a:r>
            <a:endParaRPr lang="ko-KR" sz="2200" dirty="0"/>
          </a:p>
        </p:txBody>
      </p:sp>
      <p:sp>
        <p:nvSpPr>
          <p:cNvPr id="8" name="S03-label82"/>
          <p:cNvSpPr txBox="1"/>
          <p:nvPr/>
        </p:nvSpPr>
        <p:spPr>
          <a:xfrm>
            <a:off x="2801874" y="35972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200" dirty="0"/>
          </a:p>
        </p:txBody>
      </p:sp>
      <p:sp>
        <p:nvSpPr>
          <p:cNvPr id="9" name="S03-card83"/>
          <p:cNvSpPr/>
          <p:nvPr/>
        </p:nvSpPr>
        <p:spPr>
          <a:xfrm>
            <a:off x="6277356" y="2136648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84"/>
          <p:cNvSpPr txBox="1"/>
          <p:nvPr/>
        </p:nvSpPr>
        <p:spPr>
          <a:xfrm>
            <a:off x="6551676" y="2273808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윗변과 아랫변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두 변이에요.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위는 윗변, 아래는 아랫변</a:t>
            </a:r>
            <a:endParaRPr lang="ko-KR" sz="2800" dirty="0"/>
          </a:p>
        </p:txBody>
      </p:sp>
      <p:sp>
        <p:nvSpPr>
          <p:cNvPr id="11" name="S03-card85"/>
          <p:cNvSpPr/>
          <p:nvPr/>
        </p:nvSpPr>
        <p:spPr>
          <a:xfrm>
            <a:off x="6277356" y="3886200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86"/>
          <p:cNvSpPr txBox="1"/>
          <p:nvPr/>
        </p:nvSpPr>
        <p:spPr>
          <a:xfrm>
            <a:off x="6551676" y="4023360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 사이의 거리예요.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변과 직각으로 만나요.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 2개를 붙이면</a:t>
            </a:r>
            <a:endParaRPr lang="ko-KR" sz="4000" dirty="0"/>
          </a:p>
        </p:txBody>
      </p:sp>
      <p:sp>
        <p:nvSpPr>
          <p:cNvPr id="3" name="S04-mark87"/>
          <p:cNvSpPr/>
          <p:nvPr/>
        </p:nvSpPr>
        <p:spPr>
          <a:xfrm>
            <a:off x="7039217" y="2918737"/>
            <a:ext cx="2132907" cy="1706326"/>
          </a:xfrm>
          <a:custGeom>
            <a:avLst/>
            <a:gdLst/>
            <a:ahLst/>
            <a:cxnLst/>
            <a:rect l="l" t="t" r="r" b="b"/>
            <a:pathLst>
              <a:path w="2132907" h="1706326">
                <a:moveTo>
                  <a:pt x="0" y="1706326"/>
                </a:moveTo>
                <a:lnTo>
                  <a:pt x="2132907" y="1706326"/>
                </a:lnTo>
                <a:lnTo>
                  <a:pt x="1706326" y="0"/>
                </a:lnTo>
                <a:lnTo>
                  <a:pt x="426581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" name="S04-mark88"/>
          <p:cNvSpPr/>
          <p:nvPr/>
        </p:nvSpPr>
        <p:spPr>
          <a:xfrm>
            <a:off x="8745543" y="2918737"/>
            <a:ext cx="2132907" cy="1706326"/>
          </a:xfrm>
          <a:custGeom>
            <a:avLst/>
            <a:gdLst/>
            <a:ahLst/>
            <a:cxnLst/>
            <a:rect l="l" t="t" r="r" b="b"/>
            <a:pathLst>
              <a:path w="2132907" h="1706326">
                <a:moveTo>
                  <a:pt x="426581" y="1706326"/>
                </a:moveTo>
                <a:lnTo>
                  <a:pt x="1706326" y="1706326"/>
                </a:lnTo>
                <a:lnTo>
                  <a:pt x="2132907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5" name="S04-mark89"/>
          <p:cNvSpPr/>
          <p:nvPr/>
        </p:nvSpPr>
        <p:spPr>
          <a:xfrm flipV="1">
            <a:off x="6612636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4-mark90"/>
          <p:cNvSpPr/>
          <p:nvPr/>
        </p:nvSpPr>
        <p:spPr>
          <a:xfrm flipV="1">
            <a:off x="7039217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4-mark91"/>
          <p:cNvSpPr/>
          <p:nvPr/>
        </p:nvSpPr>
        <p:spPr>
          <a:xfrm flipV="1">
            <a:off x="7465799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4-mark92"/>
          <p:cNvSpPr/>
          <p:nvPr/>
        </p:nvSpPr>
        <p:spPr>
          <a:xfrm flipV="1">
            <a:off x="7892380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4-mark93"/>
          <p:cNvSpPr/>
          <p:nvPr/>
        </p:nvSpPr>
        <p:spPr>
          <a:xfrm flipV="1">
            <a:off x="8318962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4-mark94"/>
          <p:cNvSpPr/>
          <p:nvPr/>
        </p:nvSpPr>
        <p:spPr>
          <a:xfrm flipV="1">
            <a:off x="8745543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4-mark95"/>
          <p:cNvSpPr/>
          <p:nvPr/>
        </p:nvSpPr>
        <p:spPr>
          <a:xfrm flipV="1">
            <a:off x="9172125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4-mark96"/>
          <p:cNvSpPr/>
          <p:nvPr/>
        </p:nvSpPr>
        <p:spPr>
          <a:xfrm flipV="1">
            <a:off x="9598706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4-mark97"/>
          <p:cNvSpPr/>
          <p:nvPr/>
        </p:nvSpPr>
        <p:spPr>
          <a:xfrm flipV="1">
            <a:off x="10025288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4-mark98"/>
          <p:cNvSpPr/>
          <p:nvPr/>
        </p:nvSpPr>
        <p:spPr>
          <a:xfrm flipV="1">
            <a:off x="10451869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4-mark99"/>
          <p:cNvSpPr/>
          <p:nvPr/>
        </p:nvSpPr>
        <p:spPr>
          <a:xfrm flipV="1">
            <a:off x="10878451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4-mark100"/>
          <p:cNvSpPr/>
          <p:nvPr/>
        </p:nvSpPr>
        <p:spPr>
          <a:xfrm flipV="1">
            <a:off x="11305032" y="2492156"/>
            <a:ext cx="0" cy="255948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4-mark101"/>
          <p:cNvSpPr/>
          <p:nvPr/>
        </p:nvSpPr>
        <p:spPr>
          <a:xfrm>
            <a:off x="6612636" y="5051644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4-mark102"/>
          <p:cNvSpPr/>
          <p:nvPr/>
        </p:nvSpPr>
        <p:spPr>
          <a:xfrm>
            <a:off x="6612636" y="4625063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4-mark103"/>
          <p:cNvSpPr/>
          <p:nvPr/>
        </p:nvSpPr>
        <p:spPr>
          <a:xfrm>
            <a:off x="6612636" y="4198481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4-mark104"/>
          <p:cNvSpPr/>
          <p:nvPr/>
        </p:nvSpPr>
        <p:spPr>
          <a:xfrm>
            <a:off x="6612636" y="3771900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4-mark105"/>
          <p:cNvSpPr/>
          <p:nvPr/>
        </p:nvSpPr>
        <p:spPr>
          <a:xfrm>
            <a:off x="6612636" y="3345319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4-mark106"/>
          <p:cNvSpPr/>
          <p:nvPr/>
        </p:nvSpPr>
        <p:spPr>
          <a:xfrm>
            <a:off x="6612636" y="2918737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4-mark107"/>
          <p:cNvSpPr/>
          <p:nvPr/>
        </p:nvSpPr>
        <p:spPr>
          <a:xfrm>
            <a:off x="6612636" y="2492156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4-figure108" descr="모눈 위에 똑같은 사다리꼴 2개(주황 옅은 색, 노란색)를 돌려 붙인 평행사변형: 아랫변 5 cm와 3 cm, 윗변 3 cm와 5 cm, 높이 4 cm"/>
          <p:cNvSpPr/>
          <p:nvPr/>
        </p:nvSpPr>
        <p:spPr>
          <a:xfrm>
            <a:off x="7039217" y="2918737"/>
            <a:ext cx="2132907" cy="1706326"/>
          </a:xfrm>
          <a:custGeom>
            <a:avLst/>
            <a:gdLst/>
            <a:ahLst/>
            <a:cxnLst/>
            <a:rect l="l" t="t" r="r" b="b"/>
            <a:pathLst>
              <a:path w="2132907" h="1706326">
                <a:moveTo>
                  <a:pt x="0" y="1706326"/>
                </a:moveTo>
                <a:lnTo>
                  <a:pt x="2132907" y="1706326"/>
                </a:lnTo>
                <a:lnTo>
                  <a:pt x="1706326" y="0"/>
                </a:lnTo>
                <a:lnTo>
                  <a:pt x="426581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04-mark109"/>
          <p:cNvSpPr/>
          <p:nvPr/>
        </p:nvSpPr>
        <p:spPr>
          <a:xfrm>
            <a:off x="8745543" y="2918737"/>
            <a:ext cx="2132907" cy="1706326"/>
          </a:xfrm>
          <a:custGeom>
            <a:avLst/>
            <a:gdLst/>
            <a:ahLst/>
            <a:cxnLst/>
            <a:rect l="l" t="t" r="r" b="b"/>
            <a:pathLst>
              <a:path w="2132907" h="1706326">
                <a:moveTo>
                  <a:pt x="426581" y="1706326"/>
                </a:moveTo>
                <a:lnTo>
                  <a:pt x="1706326" y="1706326"/>
                </a:lnTo>
                <a:lnTo>
                  <a:pt x="2132907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4-mark110"/>
          <p:cNvSpPr/>
          <p:nvPr/>
        </p:nvSpPr>
        <p:spPr>
          <a:xfrm>
            <a:off x="7892380" y="441551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4-mark111"/>
          <p:cNvSpPr/>
          <p:nvPr/>
        </p:nvSpPr>
        <p:spPr>
          <a:xfrm>
            <a:off x="7892380" y="2918737"/>
            <a:ext cx="0" cy="1706326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8" name="S04-label113"/>
          <p:cNvSpPr txBox="1"/>
          <p:nvPr/>
        </p:nvSpPr>
        <p:spPr>
          <a:xfrm>
            <a:off x="7723909" y="470189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29" name="S04-label115"/>
          <p:cNvSpPr txBox="1"/>
          <p:nvPr/>
        </p:nvSpPr>
        <p:spPr>
          <a:xfrm>
            <a:off x="7723909" y="249265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30" name="S04-label117"/>
          <p:cNvSpPr txBox="1"/>
          <p:nvPr/>
        </p:nvSpPr>
        <p:spPr>
          <a:xfrm>
            <a:off x="9430235" y="470189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31" name="S04-label119"/>
          <p:cNvSpPr txBox="1"/>
          <p:nvPr/>
        </p:nvSpPr>
        <p:spPr>
          <a:xfrm>
            <a:off x="9430235" y="249265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32" name="S04-label121"/>
          <p:cNvSpPr txBox="1"/>
          <p:nvPr/>
        </p:nvSpPr>
        <p:spPr>
          <a:xfrm>
            <a:off x="7940894" y="35972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33" name="S04-stepno122"/>
          <p:cNvSpPr txBox="1"/>
          <p:nvPr/>
        </p:nvSpPr>
        <p:spPr>
          <a:xfrm>
            <a:off x="548640" y="1835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4" name="S04-text123"/>
          <p:cNvSpPr txBox="1"/>
          <p:nvPr/>
        </p:nvSpPr>
        <p:spPr>
          <a:xfrm>
            <a:off x="1325880" y="1789684"/>
            <a:ext cx="4585716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똑같은 사다리꼴 2개를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 붙여요.</a:t>
            </a:r>
            <a:endParaRPr lang="ko-KR" sz="2800" dirty="0"/>
          </a:p>
        </p:txBody>
      </p:sp>
      <p:sp>
        <p:nvSpPr>
          <p:cNvPr id="35" name="S04-stepno124"/>
          <p:cNvSpPr txBox="1"/>
          <p:nvPr/>
        </p:nvSpPr>
        <p:spPr>
          <a:xfrm>
            <a:off x="548640" y="286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6" name="S04-text125"/>
          <p:cNvSpPr txBox="1"/>
          <p:nvPr/>
        </p:nvSpPr>
        <p:spPr>
          <a:xfrm>
            <a:off x="1325880" y="2821940"/>
            <a:ext cx="4585716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평행사변형이 돼요.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밑변: 3 + 5 = 8 (cm)</a:t>
            </a:r>
            <a:endParaRPr lang="ko-KR" sz="2800" dirty="0"/>
          </a:p>
        </p:txBody>
      </p:sp>
      <p:sp>
        <p:nvSpPr>
          <p:cNvPr id="37" name="S04-stepno126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8" name="S04-text127"/>
          <p:cNvSpPr txBox="1"/>
          <p:nvPr/>
        </p:nvSpPr>
        <p:spPr>
          <a:xfrm>
            <a:off x="1325880" y="3854196"/>
            <a:ext cx="4585716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평행사변형의 넓이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4 = 32 (cm²)</a:t>
            </a:r>
            <a:endParaRPr lang="ko-KR" sz="2800" dirty="0"/>
          </a:p>
        </p:txBody>
      </p:sp>
      <p:sp>
        <p:nvSpPr>
          <p:cNvPr id="39" name="S04-stepno128"/>
          <p:cNvSpPr txBox="1"/>
          <p:nvPr/>
        </p:nvSpPr>
        <p:spPr>
          <a:xfrm>
            <a:off x="548640" y="493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40" name="S04-text129"/>
          <p:cNvSpPr txBox="1"/>
          <p:nvPr/>
        </p:nvSpPr>
        <p:spPr>
          <a:xfrm>
            <a:off x="1325880" y="4886452"/>
            <a:ext cx="4585716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사다리꼴은 그 절반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÷ 2 = 16 (cm²)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2개로 잘라도 같아요</a:t>
            </a:r>
            <a:endParaRPr lang="ko-KR" sz="4000" dirty="0"/>
          </a:p>
        </p:txBody>
      </p:sp>
      <p:sp>
        <p:nvSpPr>
          <p:cNvPr id="3" name="S05-card1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사다리꼴의 넓이 = (윗변 + 아랫변) × 높이 ÷ 2</a:t>
            </a:r>
            <a:endParaRPr lang="ko-KR" sz="2800" dirty="0"/>
          </a:p>
        </p:txBody>
      </p:sp>
      <p:sp>
        <p:nvSpPr>
          <p:cNvPr id="5" name="S05-figure132" descr="사다리꼴(윗변 3 cm, 아랫변 5 cm, 높이 4 cm)을 대각선으로 잘라 만든 삼각형 2개: 아래 큰 삼각형(밑변 5 cm)과 위 작은 삼각형(밑변 3 cm), 높이는 둘 다 4 cm"/>
          <p:cNvSpPr/>
          <p:nvPr/>
        </p:nvSpPr>
        <p:spPr>
          <a:xfrm>
            <a:off x="7470709" y="1689531"/>
            <a:ext cx="3834323" cy="3067458"/>
          </a:xfrm>
          <a:custGeom>
            <a:avLst/>
            <a:gdLst/>
            <a:ahLst/>
            <a:cxnLst/>
            <a:rect l="l" t="t" r="r" b="b"/>
            <a:pathLst>
              <a:path w="3834323" h="3067458">
                <a:moveTo>
                  <a:pt x="0" y="3067458"/>
                </a:moveTo>
                <a:lnTo>
                  <a:pt x="3834323" y="3067458"/>
                </a:lnTo>
                <a:lnTo>
                  <a:pt x="766865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5-mark133"/>
          <p:cNvSpPr/>
          <p:nvPr/>
        </p:nvSpPr>
        <p:spPr>
          <a:xfrm>
            <a:off x="8237574" y="1689531"/>
            <a:ext cx="3067458" cy="3067458"/>
          </a:xfrm>
          <a:custGeom>
            <a:avLst/>
            <a:gdLst/>
            <a:ahLst/>
            <a:cxnLst/>
            <a:rect l="l" t="t" r="r" b="b"/>
            <a:pathLst>
              <a:path w="3067458" h="3067458">
                <a:moveTo>
                  <a:pt x="0" y="0"/>
                </a:moveTo>
                <a:lnTo>
                  <a:pt x="3067458" y="3067458"/>
                </a:lnTo>
                <a:lnTo>
                  <a:pt x="2300594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5-mark134"/>
          <p:cNvSpPr/>
          <p:nvPr/>
        </p:nvSpPr>
        <p:spPr>
          <a:xfrm>
            <a:off x="9004438" y="4547439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5-mark135"/>
          <p:cNvSpPr/>
          <p:nvPr/>
        </p:nvSpPr>
        <p:spPr>
          <a:xfrm>
            <a:off x="9004438" y="1689531"/>
            <a:ext cx="0" cy="3067458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9" name="S05-label137"/>
          <p:cNvSpPr txBox="1"/>
          <p:nvPr/>
        </p:nvSpPr>
        <p:spPr>
          <a:xfrm>
            <a:off x="9006108" y="483382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0" name="S05-label139"/>
          <p:cNvSpPr txBox="1"/>
          <p:nvPr/>
        </p:nvSpPr>
        <p:spPr>
          <a:xfrm>
            <a:off x="9006108" y="126344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11" name="S05-label141"/>
          <p:cNvSpPr txBox="1"/>
          <p:nvPr/>
        </p:nvSpPr>
        <p:spPr>
          <a:xfrm>
            <a:off x="8192400" y="30486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2" name="S05-stepno142"/>
          <p:cNvSpPr txBox="1"/>
          <p:nvPr/>
        </p:nvSpPr>
        <p:spPr>
          <a:xfrm>
            <a:off x="548640" y="16586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3" name="S05-text143"/>
          <p:cNvSpPr txBox="1"/>
          <p:nvPr/>
        </p:nvSpPr>
        <p:spPr>
          <a:xfrm>
            <a:off x="1325880" y="1612900"/>
            <a:ext cx="5443789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대각선으로 잘라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2개로 나눠요.</a:t>
            </a:r>
            <a:endParaRPr lang="ko-KR" sz="2200" dirty="0"/>
          </a:p>
        </p:txBody>
      </p:sp>
      <p:sp>
        <p:nvSpPr>
          <p:cNvPr id="14" name="S05-stepno144"/>
          <p:cNvSpPr txBox="1"/>
          <p:nvPr/>
        </p:nvSpPr>
        <p:spPr>
          <a:xfrm>
            <a:off x="548640" y="25049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5" name="S05-text145"/>
          <p:cNvSpPr txBox="1"/>
          <p:nvPr/>
        </p:nvSpPr>
        <p:spPr>
          <a:xfrm>
            <a:off x="1325880" y="2459228"/>
            <a:ext cx="5443789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삼각형</a:t>
            </a:r>
            <a:endParaRPr lang="ko-KR" sz="2200" dirty="0"/>
          </a:p>
          <a:p>
            <a:pPr eaLnBrk="0" algn="l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 ÷ 2 = 10 (cm²)</a:t>
            </a:r>
            <a:endParaRPr lang="ko-KR" sz="2200" dirty="0"/>
          </a:p>
        </p:txBody>
      </p:sp>
      <p:sp>
        <p:nvSpPr>
          <p:cNvPr id="16" name="S05-stepno146"/>
          <p:cNvSpPr txBox="1"/>
          <p:nvPr/>
        </p:nvSpPr>
        <p:spPr>
          <a:xfrm>
            <a:off x="548640" y="3351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7" name="S05-text147"/>
          <p:cNvSpPr txBox="1"/>
          <p:nvPr/>
        </p:nvSpPr>
        <p:spPr>
          <a:xfrm>
            <a:off x="1325880" y="3305556"/>
            <a:ext cx="5443789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삼각형</a:t>
            </a:r>
            <a:endParaRPr lang="ko-KR" sz="2200" dirty="0"/>
          </a:p>
          <a:p>
            <a:pPr eaLnBrk="0" algn="l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÷ 2 = 6 (cm²)</a:t>
            </a:r>
            <a:endParaRPr lang="ko-KR" sz="2200" dirty="0"/>
          </a:p>
        </p:txBody>
      </p:sp>
      <p:sp>
        <p:nvSpPr>
          <p:cNvPr id="18" name="S05-stepno148"/>
          <p:cNvSpPr txBox="1"/>
          <p:nvPr/>
        </p:nvSpPr>
        <p:spPr>
          <a:xfrm>
            <a:off x="548640" y="4197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9" name="S05-text149"/>
          <p:cNvSpPr txBox="1"/>
          <p:nvPr/>
        </p:nvSpPr>
        <p:spPr>
          <a:xfrm>
            <a:off x="1325880" y="4151884"/>
            <a:ext cx="5443789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+ 6 = 16 (cm²)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방법과 같아요.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차례로 구해 봐요</a:t>
            </a:r>
            <a:endParaRPr lang="ko-KR" sz="4000" dirty="0"/>
          </a:p>
        </p:txBody>
      </p:sp>
      <p:sp>
        <p:nvSpPr>
          <p:cNvPr id="3" name="S06-text1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사다리꼴의 넓이를 차례로 구해요.</a:t>
            </a:r>
            <a:endParaRPr lang="ko-KR" sz="2800" dirty="0"/>
          </a:p>
        </p:txBody>
      </p:sp>
      <p:sp>
        <p:nvSpPr>
          <p:cNvPr id="4" name="S06-mark151"/>
          <p:cNvSpPr/>
          <p:nvPr/>
        </p:nvSpPr>
        <p:spPr>
          <a:xfrm>
            <a:off x="7134013" y="3072045"/>
            <a:ext cx="3649641" cy="2085509"/>
          </a:xfrm>
          <a:custGeom>
            <a:avLst/>
            <a:gdLst/>
            <a:ahLst/>
            <a:cxnLst/>
            <a:rect l="l" t="t" r="r" b="b"/>
            <a:pathLst>
              <a:path w="3649641" h="2085509">
                <a:moveTo>
                  <a:pt x="0" y="2085509"/>
                </a:moveTo>
                <a:lnTo>
                  <a:pt x="3649641" y="2085509"/>
                </a:lnTo>
                <a:lnTo>
                  <a:pt x="208550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06-mark152"/>
          <p:cNvSpPr/>
          <p:nvPr/>
        </p:nvSpPr>
        <p:spPr>
          <a:xfrm flipV="1">
            <a:off x="6612636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6-mark153"/>
          <p:cNvSpPr/>
          <p:nvPr/>
        </p:nvSpPr>
        <p:spPr>
          <a:xfrm flipV="1">
            <a:off x="7134013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6-mark154"/>
          <p:cNvSpPr/>
          <p:nvPr/>
        </p:nvSpPr>
        <p:spPr>
          <a:xfrm flipV="1">
            <a:off x="7655391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6-mark155"/>
          <p:cNvSpPr/>
          <p:nvPr/>
        </p:nvSpPr>
        <p:spPr>
          <a:xfrm flipV="1">
            <a:off x="8176768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6-mark156"/>
          <p:cNvSpPr/>
          <p:nvPr/>
        </p:nvSpPr>
        <p:spPr>
          <a:xfrm flipV="1">
            <a:off x="8698145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6-mark157"/>
          <p:cNvSpPr/>
          <p:nvPr/>
        </p:nvSpPr>
        <p:spPr>
          <a:xfrm flipV="1">
            <a:off x="9219523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6-mark158"/>
          <p:cNvSpPr/>
          <p:nvPr/>
        </p:nvSpPr>
        <p:spPr>
          <a:xfrm flipV="1">
            <a:off x="9740900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6-mark159"/>
          <p:cNvSpPr/>
          <p:nvPr/>
        </p:nvSpPr>
        <p:spPr>
          <a:xfrm flipV="1">
            <a:off x="10262277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6-mark160"/>
          <p:cNvSpPr/>
          <p:nvPr/>
        </p:nvSpPr>
        <p:spPr>
          <a:xfrm flipV="1">
            <a:off x="10783655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6-mark161"/>
          <p:cNvSpPr/>
          <p:nvPr/>
        </p:nvSpPr>
        <p:spPr>
          <a:xfrm flipV="1">
            <a:off x="11305032" y="2550668"/>
            <a:ext cx="0" cy="31282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6-mark162"/>
          <p:cNvSpPr/>
          <p:nvPr/>
        </p:nvSpPr>
        <p:spPr>
          <a:xfrm>
            <a:off x="6612636" y="5678932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6-mark163"/>
          <p:cNvSpPr/>
          <p:nvPr/>
        </p:nvSpPr>
        <p:spPr>
          <a:xfrm>
            <a:off x="6612636" y="5157555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6-mark164"/>
          <p:cNvSpPr/>
          <p:nvPr/>
        </p:nvSpPr>
        <p:spPr>
          <a:xfrm>
            <a:off x="6612636" y="4636177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6-mark165"/>
          <p:cNvSpPr/>
          <p:nvPr/>
        </p:nvSpPr>
        <p:spPr>
          <a:xfrm>
            <a:off x="6612636" y="4114800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6-mark166"/>
          <p:cNvSpPr/>
          <p:nvPr/>
        </p:nvSpPr>
        <p:spPr>
          <a:xfrm>
            <a:off x="6612636" y="3593423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6-mark167"/>
          <p:cNvSpPr/>
          <p:nvPr/>
        </p:nvSpPr>
        <p:spPr>
          <a:xfrm>
            <a:off x="6612636" y="3072045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6-mark168"/>
          <p:cNvSpPr/>
          <p:nvPr/>
        </p:nvSpPr>
        <p:spPr>
          <a:xfrm>
            <a:off x="6612636" y="2550668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6-figure169" descr="모눈 위의 직각 사다리꼴: 윗변 4 cm, 아랫변 7 cm, 왼쪽 변이 높이 4 cm(직각 표시)"/>
          <p:cNvSpPr/>
          <p:nvPr/>
        </p:nvSpPr>
        <p:spPr>
          <a:xfrm>
            <a:off x="7134013" y="3072045"/>
            <a:ext cx="3649641" cy="2085509"/>
          </a:xfrm>
          <a:custGeom>
            <a:avLst/>
            <a:gdLst/>
            <a:ahLst/>
            <a:cxnLst/>
            <a:rect l="l" t="t" r="r" b="b"/>
            <a:pathLst>
              <a:path w="3649641" h="2085509">
                <a:moveTo>
                  <a:pt x="0" y="2085509"/>
                </a:moveTo>
                <a:lnTo>
                  <a:pt x="3649641" y="2085509"/>
                </a:lnTo>
                <a:lnTo>
                  <a:pt x="2085509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6-mark170"/>
          <p:cNvSpPr/>
          <p:nvPr/>
        </p:nvSpPr>
        <p:spPr>
          <a:xfrm>
            <a:off x="7134013" y="494800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6-label172"/>
          <p:cNvSpPr txBox="1"/>
          <p:nvPr/>
        </p:nvSpPr>
        <p:spPr>
          <a:xfrm>
            <a:off x="8577072" y="5234390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cm</a:t>
            </a:r>
            <a:endParaRPr lang="ko-KR" sz="2200" dirty="0"/>
          </a:p>
        </p:txBody>
      </p:sp>
      <p:sp>
        <p:nvSpPr>
          <p:cNvPr id="25" name="S06-label174"/>
          <p:cNvSpPr txBox="1"/>
          <p:nvPr/>
        </p:nvSpPr>
        <p:spPr>
          <a:xfrm>
            <a:off x="7795006" y="2645960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26" name="S06-label176"/>
          <p:cNvSpPr txBox="1"/>
          <p:nvPr/>
        </p:nvSpPr>
        <p:spPr>
          <a:xfrm>
            <a:off x="6321975" y="39401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27" name="S06-chip17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8" name="S06-text178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윗변 + 아랫변은?</a:t>
            </a:r>
            <a:endParaRPr lang="ko-KR" sz="2800" dirty="0"/>
          </a:p>
        </p:txBody>
      </p:sp>
      <p:sp>
        <p:nvSpPr>
          <p:cNvPr id="29" name="S06-chip17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0" name="S06-text180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(윗변 + 아랫변) × 높이는?</a:t>
            </a:r>
            <a:endParaRPr lang="ko-KR" sz="2800" dirty="0"/>
          </a:p>
        </p:txBody>
      </p:sp>
      <p:sp>
        <p:nvSpPr>
          <p:cNvPr id="31" name="S06-chip18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2" name="S06-text182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사다리꼴의 넓이는?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길이가 높이일까요?</a:t>
            </a:r>
            <a:endParaRPr lang="ko-KR" sz="4000" dirty="0"/>
          </a:p>
        </p:txBody>
      </p:sp>
      <p:sp>
        <p:nvSpPr>
          <p:cNvPr id="3" name="S07-card1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1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계산이 맞을까요? 까닭을 말해요.</a:t>
            </a:r>
            <a:endParaRPr lang="ko-KR" sz="2800" dirty="0"/>
          </a:p>
        </p:txBody>
      </p:sp>
      <p:sp>
        <p:nvSpPr>
          <p:cNvPr id="5" name="S07-mark185"/>
          <p:cNvSpPr/>
          <p:nvPr/>
        </p:nvSpPr>
        <p:spPr>
          <a:xfrm>
            <a:off x="1359256" y="2272589"/>
            <a:ext cx="4278020" cy="1901342"/>
          </a:xfrm>
          <a:custGeom>
            <a:avLst/>
            <a:gdLst/>
            <a:ahLst/>
            <a:cxnLst/>
            <a:rect l="l" t="t" r="r" b="b"/>
            <a:pathLst>
              <a:path w="4278020" h="1901342">
                <a:moveTo>
                  <a:pt x="0" y="1901342"/>
                </a:moveTo>
                <a:lnTo>
                  <a:pt x="4278020" y="1901342"/>
                </a:lnTo>
                <a:lnTo>
                  <a:pt x="2852014" y="0"/>
                </a:lnTo>
                <a:lnTo>
                  <a:pt x="1426007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7-mark186"/>
          <p:cNvSpPr/>
          <p:nvPr/>
        </p:nvSpPr>
        <p:spPr>
          <a:xfrm flipV="1">
            <a:off x="883920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7-mark187"/>
          <p:cNvSpPr/>
          <p:nvPr/>
        </p:nvSpPr>
        <p:spPr>
          <a:xfrm flipV="1">
            <a:off x="1359256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7-mark188"/>
          <p:cNvSpPr/>
          <p:nvPr/>
        </p:nvSpPr>
        <p:spPr>
          <a:xfrm flipV="1">
            <a:off x="1834591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7-mark189"/>
          <p:cNvSpPr/>
          <p:nvPr/>
        </p:nvSpPr>
        <p:spPr>
          <a:xfrm flipV="1">
            <a:off x="2309927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7-mark190"/>
          <p:cNvSpPr/>
          <p:nvPr/>
        </p:nvSpPr>
        <p:spPr>
          <a:xfrm flipV="1">
            <a:off x="2785262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7-mark191"/>
          <p:cNvSpPr/>
          <p:nvPr/>
        </p:nvSpPr>
        <p:spPr>
          <a:xfrm flipV="1">
            <a:off x="3260598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7-mark192"/>
          <p:cNvSpPr/>
          <p:nvPr/>
        </p:nvSpPr>
        <p:spPr>
          <a:xfrm flipV="1">
            <a:off x="3735934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7-mark193"/>
          <p:cNvSpPr/>
          <p:nvPr/>
        </p:nvSpPr>
        <p:spPr>
          <a:xfrm flipV="1">
            <a:off x="4211269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7-mark194"/>
          <p:cNvSpPr/>
          <p:nvPr/>
        </p:nvSpPr>
        <p:spPr>
          <a:xfrm flipV="1">
            <a:off x="4686605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7-mark195"/>
          <p:cNvSpPr/>
          <p:nvPr/>
        </p:nvSpPr>
        <p:spPr>
          <a:xfrm flipV="1">
            <a:off x="5161940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7-mark196"/>
          <p:cNvSpPr/>
          <p:nvPr/>
        </p:nvSpPr>
        <p:spPr>
          <a:xfrm flipV="1">
            <a:off x="5637276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7-mark197"/>
          <p:cNvSpPr/>
          <p:nvPr/>
        </p:nvSpPr>
        <p:spPr>
          <a:xfrm flipV="1">
            <a:off x="6112612" y="1797253"/>
            <a:ext cx="0" cy="285201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7-mark198"/>
          <p:cNvSpPr/>
          <p:nvPr/>
        </p:nvSpPr>
        <p:spPr>
          <a:xfrm>
            <a:off x="883920" y="4649267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7-mark199"/>
          <p:cNvSpPr/>
          <p:nvPr/>
        </p:nvSpPr>
        <p:spPr>
          <a:xfrm>
            <a:off x="883920" y="4173931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7-mark200"/>
          <p:cNvSpPr/>
          <p:nvPr/>
        </p:nvSpPr>
        <p:spPr>
          <a:xfrm>
            <a:off x="883920" y="3698596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7-mark201"/>
          <p:cNvSpPr/>
          <p:nvPr/>
        </p:nvSpPr>
        <p:spPr>
          <a:xfrm>
            <a:off x="883920" y="3223260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7-mark202"/>
          <p:cNvSpPr/>
          <p:nvPr/>
        </p:nvSpPr>
        <p:spPr>
          <a:xfrm>
            <a:off x="883920" y="2747924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7-mark203"/>
          <p:cNvSpPr/>
          <p:nvPr/>
        </p:nvSpPr>
        <p:spPr>
          <a:xfrm>
            <a:off x="883920" y="2272589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7-mark204"/>
          <p:cNvSpPr/>
          <p:nvPr/>
        </p:nvSpPr>
        <p:spPr>
          <a:xfrm>
            <a:off x="883920" y="1797253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7-figure205" descr="모눈 위의 사다리꼴: 윗변 3 cm, 아랫변 9 cm, 기울어진 옆변 5 cm, 점선으로 그은 높이 4 cm"/>
          <p:cNvSpPr/>
          <p:nvPr/>
        </p:nvSpPr>
        <p:spPr>
          <a:xfrm>
            <a:off x="1359256" y="2272589"/>
            <a:ext cx="4278020" cy="1901342"/>
          </a:xfrm>
          <a:custGeom>
            <a:avLst/>
            <a:gdLst/>
            <a:ahLst/>
            <a:cxnLst/>
            <a:rect l="l" t="t" r="r" b="b"/>
            <a:pathLst>
              <a:path w="4278020" h="1901342">
                <a:moveTo>
                  <a:pt x="0" y="1901342"/>
                </a:moveTo>
                <a:lnTo>
                  <a:pt x="4278020" y="1901342"/>
                </a:lnTo>
                <a:lnTo>
                  <a:pt x="2852014" y="0"/>
                </a:lnTo>
                <a:lnTo>
                  <a:pt x="1426007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7-mark206"/>
          <p:cNvSpPr/>
          <p:nvPr/>
        </p:nvSpPr>
        <p:spPr>
          <a:xfrm>
            <a:off x="2785262" y="3964381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7-mark207"/>
          <p:cNvSpPr/>
          <p:nvPr/>
        </p:nvSpPr>
        <p:spPr>
          <a:xfrm>
            <a:off x="2785262" y="2272589"/>
            <a:ext cx="0" cy="1901342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8" name="S07-label209"/>
          <p:cNvSpPr txBox="1"/>
          <p:nvPr/>
        </p:nvSpPr>
        <p:spPr>
          <a:xfrm>
            <a:off x="3116504" y="425076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 cm</a:t>
            </a:r>
            <a:endParaRPr lang="ko-KR" sz="2200" dirty="0"/>
          </a:p>
        </p:txBody>
      </p:sp>
      <p:sp>
        <p:nvSpPr>
          <p:cNvPr id="29" name="S07-label211"/>
          <p:cNvSpPr txBox="1"/>
          <p:nvPr/>
        </p:nvSpPr>
        <p:spPr>
          <a:xfrm>
            <a:off x="3116504" y="184650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30" name="S07-label213"/>
          <p:cNvSpPr txBox="1"/>
          <p:nvPr/>
        </p:nvSpPr>
        <p:spPr>
          <a:xfrm>
            <a:off x="1321242" y="277169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31" name="S07-label215"/>
          <p:cNvSpPr txBox="1"/>
          <p:nvPr/>
        </p:nvSpPr>
        <p:spPr>
          <a:xfrm>
            <a:off x="2833776" y="30486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32" name="S07-card216"/>
          <p:cNvSpPr/>
          <p:nvPr/>
        </p:nvSpPr>
        <p:spPr>
          <a:xfrm>
            <a:off x="6813652" y="1928876"/>
            <a:ext cx="4826660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3" name="S07-cardtext217"/>
          <p:cNvSpPr txBox="1"/>
          <p:nvPr/>
        </p:nvSpPr>
        <p:spPr>
          <a:xfrm>
            <a:off x="7087972" y="2066036"/>
            <a:ext cx="4278020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30 cm²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 + 9) × 5 ÷ 2</a:t>
            </a:r>
            <a:endParaRPr lang="ko-KR" sz="2800" dirty="0"/>
          </a:p>
        </p:txBody>
      </p:sp>
      <p:sp>
        <p:nvSpPr>
          <p:cNvPr id="34" name="S07-card218"/>
          <p:cNvSpPr/>
          <p:nvPr/>
        </p:nvSpPr>
        <p:spPr>
          <a:xfrm>
            <a:off x="6813652" y="3337560"/>
            <a:ext cx="4826660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5" name="S07-cardtext219"/>
          <p:cNvSpPr txBox="1"/>
          <p:nvPr/>
        </p:nvSpPr>
        <p:spPr>
          <a:xfrm>
            <a:off x="7087972" y="3474720"/>
            <a:ext cx="4278020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24 cm²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 + 9) × 4 ÷ 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마름모를 둘러싼 직사각형</a:t>
            </a:r>
            <a:endParaRPr lang="ko-KR" sz="4000" dirty="0"/>
          </a:p>
        </p:txBody>
      </p:sp>
      <p:sp>
        <p:nvSpPr>
          <p:cNvPr id="3" name="S08-mark220"/>
          <p:cNvSpPr/>
          <p:nvPr/>
        </p:nvSpPr>
        <p:spPr>
          <a:xfrm>
            <a:off x="7198294" y="2526701"/>
            <a:ext cx="3735598" cy="2490399"/>
          </a:xfrm>
          <a:custGeom>
            <a:avLst/>
            <a:gdLst/>
            <a:ahLst/>
            <a:cxnLst/>
            <a:rect l="l" t="t" r="r" b="b"/>
            <a:pathLst>
              <a:path w="3735598" h="2490399">
                <a:moveTo>
                  <a:pt x="0" y="2490399"/>
                </a:moveTo>
                <a:lnTo>
                  <a:pt x="3735598" y="2490399"/>
                </a:lnTo>
                <a:lnTo>
                  <a:pt x="3735598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4" name="S08-mark221"/>
          <p:cNvSpPr/>
          <p:nvPr/>
        </p:nvSpPr>
        <p:spPr>
          <a:xfrm>
            <a:off x="7198294" y="2526701"/>
            <a:ext cx="3735598" cy="2490399"/>
          </a:xfrm>
          <a:custGeom>
            <a:avLst/>
            <a:gdLst/>
            <a:ahLst/>
            <a:cxnLst/>
            <a:rect l="l" t="t" r="r" b="b"/>
            <a:pathLst>
              <a:path w="3735598" h="2490399">
                <a:moveTo>
                  <a:pt x="0" y="1245199"/>
                </a:moveTo>
                <a:lnTo>
                  <a:pt x="1867799" y="2490399"/>
                </a:lnTo>
                <a:lnTo>
                  <a:pt x="3735598" y="1245199"/>
                </a:lnTo>
                <a:lnTo>
                  <a:pt x="1867799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08-mark222"/>
          <p:cNvSpPr/>
          <p:nvPr/>
        </p:nvSpPr>
        <p:spPr>
          <a:xfrm flipV="1">
            <a:off x="6575694" y="1904101"/>
            <a:ext cx="0" cy="37355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8-mark223"/>
          <p:cNvSpPr/>
          <p:nvPr/>
        </p:nvSpPr>
        <p:spPr>
          <a:xfrm flipV="1">
            <a:off x="7198294" y="1904101"/>
            <a:ext cx="0" cy="37355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8-mark224"/>
          <p:cNvSpPr/>
          <p:nvPr/>
        </p:nvSpPr>
        <p:spPr>
          <a:xfrm flipV="1">
            <a:off x="7820894" y="1904101"/>
            <a:ext cx="0" cy="37355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8-mark225"/>
          <p:cNvSpPr/>
          <p:nvPr/>
        </p:nvSpPr>
        <p:spPr>
          <a:xfrm flipV="1">
            <a:off x="8443493" y="1904101"/>
            <a:ext cx="0" cy="37355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8-mark226"/>
          <p:cNvSpPr/>
          <p:nvPr/>
        </p:nvSpPr>
        <p:spPr>
          <a:xfrm flipV="1">
            <a:off x="9066093" y="1904101"/>
            <a:ext cx="0" cy="37355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8-mark227"/>
          <p:cNvSpPr/>
          <p:nvPr/>
        </p:nvSpPr>
        <p:spPr>
          <a:xfrm flipV="1">
            <a:off x="9688693" y="1904101"/>
            <a:ext cx="0" cy="37355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8-mark228"/>
          <p:cNvSpPr/>
          <p:nvPr/>
        </p:nvSpPr>
        <p:spPr>
          <a:xfrm flipV="1">
            <a:off x="10311293" y="1904101"/>
            <a:ext cx="0" cy="37355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8-mark229"/>
          <p:cNvSpPr/>
          <p:nvPr/>
        </p:nvSpPr>
        <p:spPr>
          <a:xfrm flipV="1">
            <a:off x="10933892" y="1904101"/>
            <a:ext cx="0" cy="37355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8-mark230"/>
          <p:cNvSpPr/>
          <p:nvPr/>
        </p:nvSpPr>
        <p:spPr>
          <a:xfrm flipV="1">
            <a:off x="11556492" y="1904101"/>
            <a:ext cx="0" cy="37355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8-mark231"/>
          <p:cNvSpPr/>
          <p:nvPr/>
        </p:nvSpPr>
        <p:spPr>
          <a:xfrm>
            <a:off x="6575694" y="5639699"/>
            <a:ext cx="498079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8-mark232"/>
          <p:cNvSpPr/>
          <p:nvPr/>
        </p:nvSpPr>
        <p:spPr>
          <a:xfrm>
            <a:off x="6575694" y="5017099"/>
            <a:ext cx="498079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8-mark233"/>
          <p:cNvSpPr/>
          <p:nvPr/>
        </p:nvSpPr>
        <p:spPr>
          <a:xfrm>
            <a:off x="6575694" y="4394500"/>
            <a:ext cx="498079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8-mark234"/>
          <p:cNvSpPr/>
          <p:nvPr/>
        </p:nvSpPr>
        <p:spPr>
          <a:xfrm>
            <a:off x="6575694" y="3771900"/>
            <a:ext cx="498079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8-mark235"/>
          <p:cNvSpPr/>
          <p:nvPr/>
        </p:nvSpPr>
        <p:spPr>
          <a:xfrm>
            <a:off x="6575694" y="3149300"/>
            <a:ext cx="498079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8-mark236"/>
          <p:cNvSpPr/>
          <p:nvPr/>
        </p:nvSpPr>
        <p:spPr>
          <a:xfrm>
            <a:off x="6575694" y="2526701"/>
            <a:ext cx="498079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8-mark237"/>
          <p:cNvSpPr/>
          <p:nvPr/>
        </p:nvSpPr>
        <p:spPr>
          <a:xfrm>
            <a:off x="6575694" y="1904101"/>
            <a:ext cx="498079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8-figure238" descr="모눈 위의 마름모(대각선 6 cm, 4 cm)와 마름모의 네 꼭짓점을 지나는 직사각형(가로 6 cm, 세로 4 cm, 점선). 마름모 밖의 네 귀퉁이는 노란색"/>
          <p:cNvSpPr/>
          <p:nvPr/>
        </p:nvSpPr>
        <p:spPr>
          <a:xfrm>
            <a:off x="7198294" y="2526701"/>
            <a:ext cx="3735598" cy="2490399"/>
          </a:xfrm>
          <a:custGeom>
            <a:avLst/>
            <a:gdLst/>
            <a:ahLst/>
            <a:cxnLst/>
            <a:rect l="l" t="t" r="r" b="b"/>
            <a:pathLst>
              <a:path w="3735598" h="2490399">
                <a:moveTo>
                  <a:pt x="0" y="2490399"/>
                </a:moveTo>
                <a:lnTo>
                  <a:pt x="3735598" y="2490399"/>
                </a:lnTo>
                <a:lnTo>
                  <a:pt x="3735598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2" name="S08-mark239"/>
          <p:cNvSpPr/>
          <p:nvPr/>
        </p:nvSpPr>
        <p:spPr>
          <a:xfrm>
            <a:off x="7198294" y="2526701"/>
            <a:ext cx="3735598" cy="2490399"/>
          </a:xfrm>
          <a:custGeom>
            <a:avLst/>
            <a:gdLst/>
            <a:ahLst/>
            <a:cxnLst/>
            <a:rect l="l" t="t" r="r" b="b"/>
            <a:pathLst>
              <a:path w="3735598" h="2490399">
                <a:moveTo>
                  <a:pt x="0" y="1245199"/>
                </a:moveTo>
                <a:lnTo>
                  <a:pt x="1867799" y="2490399"/>
                </a:lnTo>
                <a:lnTo>
                  <a:pt x="3735598" y="1245199"/>
                </a:lnTo>
                <a:lnTo>
                  <a:pt x="1867799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8-mark240"/>
          <p:cNvSpPr/>
          <p:nvPr/>
        </p:nvSpPr>
        <p:spPr>
          <a:xfrm>
            <a:off x="7198294" y="3771900"/>
            <a:ext cx="3735598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4" name="S08-mark241"/>
          <p:cNvSpPr/>
          <p:nvPr/>
        </p:nvSpPr>
        <p:spPr>
          <a:xfrm flipV="1">
            <a:off x="9066093" y="2526701"/>
            <a:ext cx="0" cy="2490399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5" name="S08-label243"/>
          <p:cNvSpPr txBox="1"/>
          <p:nvPr/>
        </p:nvSpPr>
        <p:spPr>
          <a:xfrm>
            <a:off x="8248511" y="403309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26" name="S08-label245"/>
          <p:cNvSpPr txBox="1"/>
          <p:nvPr/>
        </p:nvSpPr>
        <p:spPr>
          <a:xfrm>
            <a:off x="9120151" y="316145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27" name="S08-stepno246"/>
          <p:cNvSpPr txBox="1"/>
          <p:nvPr/>
        </p:nvSpPr>
        <p:spPr>
          <a:xfrm>
            <a:off x="548640" y="16184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8" name="S08-text247"/>
          <p:cNvSpPr txBox="1"/>
          <p:nvPr/>
        </p:nvSpPr>
        <p:spPr>
          <a:xfrm>
            <a:off x="1325880" y="1572768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대각선의 길이로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직사각형을 그려요.</a:t>
            </a:r>
            <a:endParaRPr lang="ko-KR" sz="2800" dirty="0"/>
          </a:p>
        </p:txBody>
      </p:sp>
      <p:sp>
        <p:nvSpPr>
          <p:cNvPr id="29" name="S08-stepno248"/>
          <p:cNvSpPr txBox="1"/>
          <p:nvPr/>
        </p:nvSpPr>
        <p:spPr>
          <a:xfrm>
            <a:off x="548640" y="26507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0" name="S08-text249"/>
          <p:cNvSpPr txBox="1"/>
          <p:nvPr/>
        </p:nvSpPr>
        <p:spPr>
          <a:xfrm>
            <a:off x="1325880" y="2605024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넓이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4 = 24 (cm²)</a:t>
            </a:r>
            <a:endParaRPr lang="ko-KR" sz="2800" dirty="0"/>
          </a:p>
        </p:txBody>
      </p:sp>
      <p:sp>
        <p:nvSpPr>
          <p:cNvPr id="31" name="S08-stepno250"/>
          <p:cNvSpPr txBox="1"/>
          <p:nvPr/>
        </p:nvSpPr>
        <p:spPr>
          <a:xfrm>
            <a:off x="548640" y="36830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2" name="S08-text251"/>
          <p:cNvSpPr txBox="1"/>
          <p:nvPr/>
        </p:nvSpPr>
        <p:spPr>
          <a:xfrm>
            <a:off x="1325880" y="3637280"/>
            <a:ext cx="4800234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 안 조각 4개와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밖의 노란 조각 4개가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똑같아요.</a:t>
            </a:r>
            <a:endParaRPr lang="ko-KR" sz="2800" dirty="0"/>
          </a:p>
        </p:txBody>
      </p:sp>
      <p:sp>
        <p:nvSpPr>
          <p:cNvPr id="33" name="S08-stepno252"/>
          <p:cNvSpPr txBox="1"/>
          <p:nvPr/>
        </p:nvSpPr>
        <p:spPr>
          <a:xfrm>
            <a:off x="548640" y="51490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34" name="S08-text253"/>
          <p:cNvSpPr txBox="1"/>
          <p:nvPr/>
        </p:nvSpPr>
        <p:spPr>
          <a:xfrm>
            <a:off x="1325880" y="5103368"/>
            <a:ext cx="480023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마름모는 그 절반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÷ 2 = 12 (cm²)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마름모의 넓이 구하는 식</a:t>
            </a:r>
            <a:endParaRPr lang="ko-KR" sz="4000" dirty="0"/>
          </a:p>
        </p:txBody>
      </p:sp>
      <p:sp>
        <p:nvSpPr>
          <p:cNvPr id="3" name="S09-text2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대각선으로 잘라 삼각형 2개를 만들어요.</a:t>
            </a:r>
            <a:endParaRPr lang="ko-KR" sz="2800" dirty="0"/>
          </a:p>
        </p:txBody>
      </p:sp>
      <p:sp>
        <p:nvSpPr>
          <p:cNvPr id="4" name="S09-figure255" descr="마름모를 가로 대각선(6 cm)으로 잘라 만든 삼각형 2개: 위 삼각형과 아래 삼각형의 높이는 각각 2 cm(점선)"/>
          <p:cNvSpPr/>
          <p:nvPr/>
        </p:nvSpPr>
        <p:spPr>
          <a:xfrm>
            <a:off x="883920" y="2693680"/>
            <a:ext cx="4263360" cy="1421120"/>
          </a:xfrm>
          <a:custGeom>
            <a:avLst/>
            <a:gdLst/>
            <a:ahLst/>
            <a:cxnLst/>
            <a:rect l="l" t="t" r="r" b="b"/>
            <a:pathLst>
              <a:path w="4263360" h="1421120">
                <a:moveTo>
                  <a:pt x="0" y="1421120"/>
                </a:moveTo>
                <a:lnTo>
                  <a:pt x="4263360" y="1421120"/>
                </a:lnTo>
                <a:lnTo>
                  <a:pt x="213168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9-mark256"/>
          <p:cNvSpPr/>
          <p:nvPr/>
        </p:nvSpPr>
        <p:spPr>
          <a:xfrm>
            <a:off x="883920" y="4114800"/>
            <a:ext cx="4263360" cy="1421120"/>
          </a:xfrm>
          <a:custGeom>
            <a:avLst/>
            <a:gdLst/>
            <a:ahLst/>
            <a:cxnLst/>
            <a:rect l="l" t="t" r="r" b="b"/>
            <a:pathLst>
              <a:path w="4263360" h="1421120">
                <a:moveTo>
                  <a:pt x="0" y="0"/>
                </a:moveTo>
                <a:lnTo>
                  <a:pt x="2131680" y="1421120"/>
                </a:lnTo>
                <a:lnTo>
                  <a:pt x="426336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9-mark257"/>
          <p:cNvSpPr/>
          <p:nvPr/>
        </p:nvSpPr>
        <p:spPr>
          <a:xfrm>
            <a:off x="2806050" y="390525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0"/>
                </a:moveTo>
                <a:lnTo>
                  <a:pt x="0" y="0"/>
                </a:lnTo>
                <a:lnTo>
                  <a:pt x="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9-mark258"/>
          <p:cNvSpPr/>
          <p:nvPr/>
        </p:nvSpPr>
        <p:spPr>
          <a:xfrm>
            <a:off x="3015600" y="2693680"/>
            <a:ext cx="0" cy="142112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8" name="S09-mark259"/>
          <p:cNvSpPr/>
          <p:nvPr/>
        </p:nvSpPr>
        <p:spPr>
          <a:xfrm>
            <a:off x="3015600" y="4114800"/>
            <a:ext cx="0" cy="142112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9" name="S09-label261"/>
          <p:cNvSpPr txBox="1"/>
          <p:nvPr/>
        </p:nvSpPr>
        <p:spPr>
          <a:xfrm>
            <a:off x="3064114" y="322961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cm</a:t>
            </a:r>
            <a:endParaRPr lang="ko-KR" sz="2200" dirty="0"/>
          </a:p>
        </p:txBody>
      </p:sp>
      <p:sp>
        <p:nvSpPr>
          <p:cNvPr id="10" name="S09-label263"/>
          <p:cNvSpPr txBox="1"/>
          <p:nvPr/>
        </p:nvSpPr>
        <p:spPr>
          <a:xfrm>
            <a:off x="3064114" y="46507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cm</a:t>
            </a:r>
            <a:endParaRPr lang="ko-KR" sz="2200" dirty="0"/>
          </a:p>
        </p:txBody>
      </p:sp>
      <p:sp>
        <p:nvSpPr>
          <p:cNvPr id="11" name="S09-label265"/>
          <p:cNvSpPr txBox="1"/>
          <p:nvPr/>
        </p:nvSpPr>
        <p:spPr>
          <a:xfrm>
            <a:off x="2136446" y="344278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12" name="S09-card266"/>
          <p:cNvSpPr/>
          <p:nvPr/>
        </p:nvSpPr>
        <p:spPr>
          <a:xfrm>
            <a:off x="5848320" y="2812034"/>
            <a:ext cx="579199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9-cardtext267"/>
          <p:cNvSpPr txBox="1"/>
          <p:nvPr/>
        </p:nvSpPr>
        <p:spPr>
          <a:xfrm>
            <a:off x="6122640" y="2949194"/>
            <a:ext cx="524335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한 개: 6 × 2 ÷ 2 = 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개: 6 + 6 = 12 (cm²)</a:t>
            </a:r>
            <a:endParaRPr lang="ko-KR" sz="2800" dirty="0"/>
          </a:p>
        </p:txBody>
      </p:sp>
      <p:sp>
        <p:nvSpPr>
          <p:cNvPr id="14" name="S09-card268"/>
          <p:cNvSpPr/>
          <p:nvPr/>
        </p:nvSpPr>
        <p:spPr>
          <a:xfrm>
            <a:off x="5848320" y="4237482"/>
            <a:ext cx="579199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9-cardtext269"/>
          <p:cNvSpPr txBox="1"/>
          <p:nvPr/>
        </p:nvSpPr>
        <p:spPr>
          <a:xfrm>
            <a:off x="6122640" y="4374642"/>
            <a:ext cx="524335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마름모의 넓이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대각선 × 다른 대각선 ÷ 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마름모의 넓이를 구해요</a:t>
            </a:r>
            <a:endParaRPr lang="ko-KR" sz="4000" dirty="0"/>
          </a:p>
        </p:txBody>
      </p:sp>
      <p:sp>
        <p:nvSpPr>
          <p:cNvPr id="3" name="S10-card2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가와 나의 넓이를 식으로 구해요. 나의 모눈 한 칸은 1 cm예요.</a:t>
            </a:r>
            <a:endParaRPr lang="ko-KR" sz="2800" dirty="0"/>
          </a:p>
        </p:txBody>
      </p:sp>
      <p:sp>
        <p:nvSpPr>
          <p:cNvPr id="5" name="S10-chip272"/>
          <p:cNvSpPr txBox="1"/>
          <p:nvPr/>
        </p:nvSpPr>
        <p:spPr>
          <a:xfrm>
            <a:off x="2946654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0-figure273" descr="마름모: 대각선 8 cm(가로)와 6 cm(세로), 한 변 5 cm"/>
          <p:cNvSpPr/>
          <p:nvPr/>
        </p:nvSpPr>
        <p:spPr>
          <a:xfrm>
            <a:off x="1616710" y="2365248"/>
            <a:ext cx="3226816" cy="2420112"/>
          </a:xfrm>
          <a:custGeom>
            <a:avLst/>
            <a:gdLst/>
            <a:ahLst/>
            <a:cxnLst/>
            <a:rect l="l" t="t" r="r" b="b"/>
            <a:pathLst>
              <a:path w="3226816" h="2420112">
                <a:moveTo>
                  <a:pt x="0" y="1210056"/>
                </a:moveTo>
                <a:lnTo>
                  <a:pt x="1613408" y="2420112"/>
                </a:lnTo>
                <a:lnTo>
                  <a:pt x="3226816" y="1210056"/>
                </a:lnTo>
                <a:lnTo>
                  <a:pt x="1613408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0-mark274"/>
          <p:cNvSpPr/>
          <p:nvPr/>
        </p:nvSpPr>
        <p:spPr>
          <a:xfrm>
            <a:off x="1616710" y="3575304"/>
            <a:ext cx="322681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8" name="S10-mark275"/>
          <p:cNvSpPr/>
          <p:nvPr/>
        </p:nvSpPr>
        <p:spPr>
          <a:xfrm flipV="1">
            <a:off x="3230118" y="2365248"/>
            <a:ext cx="0" cy="2420112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9" name="S10-label277"/>
          <p:cNvSpPr txBox="1"/>
          <p:nvPr/>
        </p:nvSpPr>
        <p:spPr>
          <a:xfrm>
            <a:off x="1786169" y="4346351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0" name="S10-label279"/>
          <p:cNvSpPr txBox="1"/>
          <p:nvPr/>
        </p:nvSpPr>
        <p:spPr>
          <a:xfrm>
            <a:off x="2445004" y="3804031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 cm</a:t>
            </a:r>
            <a:endParaRPr lang="ko-KR" sz="2200" dirty="0"/>
          </a:p>
        </p:txBody>
      </p:sp>
      <p:sp>
        <p:nvSpPr>
          <p:cNvPr id="11" name="S10-label281"/>
          <p:cNvSpPr txBox="1"/>
          <p:nvPr/>
        </p:nvSpPr>
        <p:spPr>
          <a:xfrm>
            <a:off x="3251708" y="2997327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12" name="S10-chip282"/>
          <p:cNvSpPr txBox="1"/>
          <p:nvPr/>
        </p:nvSpPr>
        <p:spPr>
          <a:xfrm>
            <a:off x="8675370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3" name="S10-mark283"/>
          <p:cNvSpPr/>
          <p:nvPr/>
        </p:nvSpPr>
        <p:spPr>
          <a:xfrm>
            <a:off x="7010146" y="2600960"/>
            <a:ext cx="3897376" cy="1948688"/>
          </a:xfrm>
          <a:custGeom>
            <a:avLst/>
            <a:gdLst/>
            <a:ahLst/>
            <a:cxnLst/>
            <a:rect l="l" t="t" r="r" b="b"/>
            <a:pathLst>
              <a:path w="3897376" h="1948688">
                <a:moveTo>
                  <a:pt x="0" y="974344"/>
                </a:moveTo>
                <a:lnTo>
                  <a:pt x="1948688" y="1948688"/>
                </a:lnTo>
                <a:lnTo>
                  <a:pt x="3897376" y="974344"/>
                </a:lnTo>
                <a:lnTo>
                  <a:pt x="1948688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4" name="S10-mark284"/>
          <p:cNvSpPr/>
          <p:nvPr/>
        </p:nvSpPr>
        <p:spPr>
          <a:xfrm flipV="1">
            <a:off x="6522974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0-mark285"/>
          <p:cNvSpPr/>
          <p:nvPr/>
        </p:nvSpPr>
        <p:spPr>
          <a:xfrm flipV="1">
            <a:off x="7010146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0-mark286"/>
          <p:cNvSpPr/>
          <p:nvPr/>
        </p:nvSpPr>
        <p:spPr>
          <a:xfrm flipV="1">
            <a:off x="7497318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0-mark287"/>
          <p:cNvSpPr/>
          <p:nvPr/>
        </p:nvSpPr>
        <p:spPr>
          <a:xfrm flipV="1">
            <a:off x="7984490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0-mark288"/>
          <p:cNvSpPr/>
          <p:nvPr/>
        </p:nvSpPr>
        <p:spPr>
          <a:xfrm flipV="1">
            <a:off x="8471662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0-mark289"/>
          <p:cNvSpPr/>
          <p:nvPr/>
        </p:nvSpPr>
        <p:spPr>
          <a:xfrm flipV="1">
            <a:off x="8958834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0-mark290"/>
          <p:cNvSpPr/>
          <p:nvPr/>
        </p:nvSpPr>
        <p:spPr>
          <a:xfrm flipV="1">
            <a:off x="9446006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0-mark291"/>
          <p:cNvSpPr/>
          <p:nvPr/>
        </p:nvSpPr>
        <p:spPr>
          <a:xfrm flipV="1">
            <a:off x="9933178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0-mark292"/>
          <p:cNvSpPr/>
          <p:nvPr/>
        </p:nvSpPr>
        <p:spPr>
          <a:xfrm flipV="1">
            <a:off x="10420350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0-mark293"/>
          <p:cNvSpPr/>
          <p:nvPr/>
        </p:nvSpPr>
        <p:spPr>
          <a:xfrm flipV="1">
            <a:off x="10907522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0-mark294"/>
          <p:cNvSpPr/>
          <p:nvPr/>
        </p:nvSpPr>
        <p:spPr>
          <a:xfrm flipV="1">
            <a:off x="11394694" y="2113788"/>
            <a:ext cx="0" cy="29230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0-mark295"/>
          <p:cNvSpPr/>
          <p:nvPr/>
        </p:nvSpPr>
        <p:spPr>
          <a:xfrm>
            <a:off x="6522974" y="5036820"/>
            <a:ext cx="48717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0-mark296"/>
          <p:cNvSpPr/>
          <p:nvPr/>
        </p:nvSpPr>
        <p:spPr>
          <a:xfrm>
            <a:off x="6522974" y="4549648"/>
            <a:ext cx="48717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0-mark297"/>
          <p:cNvSpPr/>
          <p:nvPr/>
        </p:nvSpPr>
        <p:spPr>
          <a:xfrm>
            <a:off x="6522974" y="4062476"/>
            <a:ext cx="48717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0-mark298"/>
          <p:cNvSpPr/>
          <p:nvPr/>
        </p:nvSpPr>
        <p:spPr>
          <a:xfrm>
            <a:off x="6522974" y="3575304"/>
            <a:ext cx="48717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0-mark299"/>
          <p:cNvSpPr/>
          <p:nvPr/>
        </p:nvSpPr>
        <p:spPr>
          <a:xfrm>
            <a:off x="6522974" y="3088132"/>
            <a:ext cx="48717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0-mark300"/>
          <p:cNvSpPr/>
          <p:nvPr/>
        </p:nvSpPr>
        <p:spPr>
          <a:xfrm>
            <a:off x="6522974" y="2600960"/>
            <a:ext cx="48717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0-mark301"/>
          <p:cNvSpPr/>
          <p:nvPr/>
        </p:nvSpPr>
        <p:spPr>
          <a:xfrm>
            <a:off x="6522974" y="2113788"/>
            <a:ext cx="48717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0-figure302" descr="모눈 위의 마름모: 가로 대각선 8칸, 세로 대각선 4칸"/>
          <p:cNvSpPr/>
          <p:nvPr/>
        </p:nvSpPr>
        <p:spPr>
          <a:xfrm>
            <a:off x="7010146" y="2600960"/>
            <a:ext cx="3897376" cy="1948688"/>
          </a:xfrm>
          <a:custGeom>
            <a:avLst/>
            <a:gdLst/>
            <a:ahLst/>
            <a:cxnLst/>
            <a:rect l="l" t="t" r="r" b="b"/>
            <a:pathLst>
              <a:path w="3897376" h="1948688">
                <a:moveTo>
                  <a:pt x="0" y="974344"/>
                </a:moveTo>
                <a:lnTo>
                  <a:pt x="1948688" y="1948688"/>
                </a:lnTo>
                <a:lnTo>
                  <a:pt x="3897376" y="974344"/>
                </a:lnTo>
                <a:lnTo>
                  <a:pt x="1948688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3" name="S10-mark303"/>
          <p:cNvSpPr/>
          <p:nvPr/>
        </p:nvSpPr>
        <p:spPr>
          <a:xfrm>
            <a:off x="7010146" y="3575304"/>
            <a:ext cx="389737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34" name="S10-mark304"/>
          <p:cNvSpPr/>
          <p:nvPr/>
        </p:nvSpPr>
        <p:spPr>
          <a:xfrm flipV="1">
            <a:off x="8958834" y="2600960"/>
            <a:ext cx="0" cy="1948688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3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넓이를 구하고, ④는 까닭을 말해요. ③의 모눈 한 칸은 1 cm예요.</a:t>
            </a:r>
            <a:endParaRPr lang="ko-KR" sz="2800" dirty="0"/>
          </a:p>
        </p:txBody>
      </p:sp>
      <p:sp>
        <p:nvSpPr>
          <p:cNvPr id="4" name="S11-chip306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figure307" descr="사다리꼴: 윗변 5 cm, 아랫변 9 cm, 높이 4 cm"/>
          <p:cNvSpPr/>
          <p:nvPr/>
        </p:nvSpPr>
        <p:spPr>
          <a:xfrm>
            <a:off x="2119122" y="2346960"/>
            <a:ext cx="3017520" cy="1341120"/>
          </a:xfrm>
          <a:custGeom>
            <a:avLst/>
            <a:gdLst/>
            <a:ahLst/>
            <a:cxnLst/>
            <a:rect l="l" t="t" r="r" b="b"/>
            <a:pathLst>
              <a:path w="3017520" h="1341120">
                <a:moveTo>
                  <a:pt x="0" y="1341120"/>
                </a:moveTo>
                <a:lnTo>
                  <a:pt x="3017520" y="1341120"/>
                </a:lnTo>
                <a:lnTo>
                  <a:pt x="2346960" y="0"/>
                </a:lnTo>
                <a:lnTo>
                  <a:pt x="67056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1-mark308"/>
          <p:cNvSpPr/>
          <p:nvPr/>
        </p:nvSpPr>
        <p:spPr>
          <a:xfrm>
            <a:off x="2789682" y="347853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11-mark309"/>
          <p:cNvSpPr/>
          <p:nvPr/>
        </p:nvSpPr>
        <p:spPr>
          <a:xfrm>
            <a:off x="2789682" y="2346960"/>
            <a:ext cx="0" cy="134112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8" name="S11-label311"/>
          <p:cNvSpPr txBox="1"/>
          <p:nvPr/>
        </p:nvSpPr>
        <p:spPr>
          <a:xfrm>
            <a:off x="3246120" y="376491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 cm</a:t>
            </a:r>
            <a:endParaRPr lang="ko-KR" sz="2200" dirty="0"/>
          </a:p>
        </p:txBody>
      </p:sp>
      <p:sp>
        <p:nvSpPr>
          <p:cNvPr id="9" name="S11-label313"/>
          <p:cNvSpPr txBox="1"/>
          <p:nvPr/>
        </p:nvSpPr>
        <p:spPr>
          <a:xfrm>
            <a:off x="3246120" y="19208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0" name="S11-label315"/>
          <p:cNvSpPr txBox="1"/>
          <p:nvPr/>
        </p:nvSpPr>
        <p:spPr>
          <a:xfrm>
            <a:off x="2838196" y="284289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1" name="S11-chip31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2" name="S11-text31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대각선이 12 cm,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cm인 마름모의 넓이</a:t>
            </a:r>
            <a:endParaRPr lang="ko-KR" sz="2800" dirty="0"/>
          </a:p>
        </p:txBody>
      </p:sp>
      <p:sp>
        <p:nvSpPr>
          <p:cNvPr id="13" name="S11-chip318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4" name="S11-mark319"/>
          <p:cNvSpPr/>
          <p:nvPr/>
        </p:nvSpPr>
        <p:spPr>
          <a:xfrm>
            <a:off x="2837579" y="4553494"/>
            <a:ext cx="1580606" cy="1317171"/>
          </a:xfrm>
          <a:custGeom>
            <a:avLst/>
            <a:gdLst/>
            <a:ahLst/>
            <a:cxnLst/>
            <a:rect l="l" t="t" r="r" b="b"/>
            <a:pathLst>
              <a:path w="1580606" h="1317171">
                <a:moveTo>
                  <a:pt x="0" y="1317171"/>
                </a:moveTo>
                <a:lnTo>
                  <a:pt x="1580606" y="1317171"/>
                </a:lnTo>
                <a:lnTo>
                  <a:pt x="52686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5" name="S11-mark320"/>
          <p:cNvSpPr/>
          <p:nvPr/>
        </p:nvSpPr>
        <p:spPr>
          <a:xfrm flipV="1">
            <a:off x="2574145" y="4290060"/>
            <a:ext cx="0" cy="18440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1-mark321"/>
          <p:cNvSpPr/>
          <p:nvPr/>
        </p:nvSpPr>
        <p:spPr>
          <a:xfrm flipV="1">
            <a:off x="2837579" y="4290060"/>
            <a:ext cx="0" cy="18440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1-mark322"/>
          <p:cNvSpPr/>
          <p:nvPr/>
        </p:nvSpPr>
        <p:spPr>
          <a:xfrm flipV="1">
            <a:off x="3101013" y="4290060"/>
            <a:ext cx="0" cy="18440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1-mark323"/>
          <p:cNvSpPr/>
          <p:nvPr/>
        </p:nvSpPr>
        <p:spPr>
          <a:xfrm flipV="1">
            <a:off x="3364448" y="4290060"/>
            <a:ext cx="0" cy="18440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1-mark324"/>
          <p:cNvSpPr/>
          <p:nvPr/>
        </p:nvSpPr>
        <p:spPr>
          <a:xfrm flipV="1">
            <a:off x="3627882" y="4290060"/>
            <a:ext cx="0" cy="18440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1-mark325"/>
          <p:cNvSpPr/>
          <p:nvPr/>
        </p:nvSpPr>
        <p:spPr>
          <a:xfrm flipV="1">
            <a:off x="3891316" y="4290060"/>
            <a:ext cx="0" cy="18440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1-mark326"/>
          <p:cNvSpPr/>
          <p:nvPr/>
        </p:nvSpPr>
        <p:spPr>
          <a:xfrm flipV="1">
            <a:off x="4154751" y="4290060"/>
            <a:ext cx="0" cy="18440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1-mark327"/>
          <p:cNvSpPr/>
          <p:nvPr/>
        </p:nvSpPr>
        <p:spPr>
          <a:xfrm flipV="1">
            <a:off x="4418185" y="4290060"/>
            <a:ext cx="0" cy="18440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1-mark328"/>
          <p:cNvSpPr/>
          <p:nvPr/>
        </p:nvSpPr>
        <p:spPr>
          <a:xfrm flipV="1">
            <a:off x="4681619" y="4290060"/>
            <a:ext cx="0" cy="18440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1-mark329"/>
          <p:cNvSpPr/>
          <p:nvPr/>
        </p:nvSpPr>
        <p:spPr>
          <a:xfrm>
            <a:off x="2574145" y="6134100"/>
            <a:ext cx="21074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1-mark330"/>
          <p:cNvSpPr/>
          <p:nvPr/>
        </p:nvSpPr>
        <p:spPr>
          <a:xfrm>
            <a:off x="2574145" y="5870666"/>
            <a:ext cx="21074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1-mark331"/>
          <p:cNvSpPr/>
          <p:nvPr/>
        </p:nvSpPr>
        <p:spPr>
          <a:xfrm>
            <a:off x="2574145" y="5607231"/>
            <a:ext cx="21074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1-mark332"/>
          <p:cNvSpPr/>
          <p:nvPr/>
        </p:nvSpPr>
        <p:spPr>
          <a:xfrm>
            <a:off x="2574145" y="5343797"/>
            <a:ext cx="21074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1-mark333"/>
          <p:cNvSpPr/>
          <p:nvPr/>
        </p:nvSpPr>
        <p:spPr>
          <a:xfrm>
            <a:off x="2574145" y="5080363"/>
            <a:ext cx="21074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1-mark334"/>
          <p:cNvSpPr/>
          <p:nvPr/>
        </p:nvSpPr>
        <p:spPr>
          <a:xfrm>
            <a:off x="2574145" y="4816929"/>
            <a:ext cx="21074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1-mark335"/>
          <p:cNvSpPr/>
          <p:nvPr/>
        </p:nvSpPr>
        <p:spPr>
          <a:xfrm>
            <a:off x="2574145" y="4553494"/>
            <a:ext cx="21074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1-mark336"/>
          <p:cNvSpPr/>
          <p:nvPr/>
        </p:nvSpPr>
        <p:spPr>
          <a:xfrm>
            <a:off x="2574145" y="4290060"/>
            <a:ext cx="21074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1-figure337" descr="모눈 위의 직각 사다리꼴: 윗변 2칸, 아랫변 6칸, 왼쪽 변(높이) 5칸"/>
          <p:cNvSpPr/>
          <p:nvPr/>
        </p:nvSpPr>
        <p:spPr>
          <a:xfrm>
            <a:off x="2837579" y="4553494"/>
            <a:ext cx="1580606" cy="1317171"/>
          </a:xfrm>
          <a:custGeom>
            <a:avLst/>
            <a:gdLst/>
            <a:ahLst/>
            <a:cxnLst/>
            <a:rect l="l" t="t" r="r" b="b"/>
            <a:pathLst>
              <a:path w="1580606" h="1317171">
                <a:moveTo>
                  <a:pt x="0" y="1317171"/>
                </a:moveTo>
                <a:lnTo>
                  <a:pt x="1580606" y="1317171"/>
                </a:lnTo>
                <a:lnTo>
                  <a:pt x="526869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3" name="S11-mark338"/>
          <p:cNvSpPr/>
          <p:nvPr/>
        </p:nvSpPr>
        <p:spPr>
          <a:xfrm>
            <a:off x="2837579" y="5661116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11-chip339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5" name="S11-text340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사다리꼴의 넓이를 구할 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÷ 2를 할까요?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다른 하나는?</a:t>
            </a:r>
            <a:endParaRPr lang="ko-KR" sz="4000" dirty="0"/>
          </a:p>
        </p:txBody>
      </p:sp>
      <p:sp>
        <p:nvSpPr>
          <p:cNvPr id="3" name="S13-text3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한 칸은 1 cm예요.</a:t>
            </a:r>
            <a:endParaRPr lang="ko-KR" sz="2800" dirty="0"/>
          </a:p>
        </p:txBody>
      </p:sp>
      <p:sp>
        <p:nvSpPr>
          <p:cNvPr id="4" name="S13-card3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다른 하나를 고르고, 식으로 까닭을 말해요.</a:t>
            </a:r>
            <a:endParaRPr lang="ko-KR" sz="2800" dirty="0"/>
          </a:p>
        </p:txBody>
      </p:sp>
      <p:sp>
        <p:nvSpPr>
          <p:cNvPr id="6" name="S13-chip34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mark345"/>
          <p:cNvSpPr/>
          <p:nvPr/>
        </p:nvSpPr>
        <p:spPr>
          <a:xfrm>
            <a:off x="1529588" y="3172460"/>
            <a:ext cx="1491488" cy="1491488"/>
          </a:xfrm>
          <a:custGeom>
            <a:avLst/>
            <a:gdLst/>
            <a:ahLst/>
            <a:cxnLst/>
            <a:rect l="l" t="t" r="r" b="b"/>
            <a:pathLst>
              <a:path w="1491488" h="1491488">
                <a:moveTo>
                  <a:pt x="0" y="1491488"/>
                </a:moveTo>
                <a:lnTo>
                  <a:pt x="1491488" y="1491488"/>
                </a:lnTo>
                <a:lnTo>
                  <a:pt x="1118616" y="0"/>
                </a:lnTo>
                <a:lnTo>
                  <a:pt x="372872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13-mark346"/>
          <p:cNvSpPr/>
          <p:nvPr/>
        </p:nvSpPr>
        <p:spPr>
          <a:xfrm flipV="1">
            <a:off x="1156716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3-mark347"/>
          <p:cNvSpPr/>
          <p:nvPr/>
        </p:nvSpPr>
        <p:spPr>
          <a:xfrm flipV="1">
            <a:off x="1529588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3-mark348"/>
          <p:cNvSpPr/>
          <p:nvPr/>
        </p:nvSpPr>
        <p:spPr>
          <a:xfrm flipV="1">
            <a:off x="1902460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3-mark349"/>
          <p:cNvSpPr/>
          <p:nvPr/>
        </p:nvSpPr>
        <p:spPr>
          <a:xfrm flipV="1">
            <a:off x="2275332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3-mark350"/>
          <p:cNvSpPr/>
          <p:nvPr/>
        </p:nvSpPr>
        <p:spPr>
          <a:xfrm flipV="1">
            <a:off x="2648204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3-mark351"/>
          <p:cNvSpPr/>
          <p:nvPr/>
        </p:nvSpPr>
        <p:spPr>
          <a:xfrm flipV="1">
            <a:off x="3021076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3-mark352"/>
          <p:cNvSpPr/>
          <p:nvPr/>
        </p:nvSpPr>
        <p:spPr>
          <a:xfrm flipV="1">
            <a:off x="3393948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3-mark353"/>
          <p:cNvSpPr/>
          <p:nvPr/>
        </p:nvSpPr>
        <p:spPr>
          <a:xfrm>
            <a:off x="1156716" y="5036820"/>
            <a:ext cx="22372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3-mark354"/>
          <p:cNvSpPr/>
          <p:nvPr/>
        </p:nvSpPr>
        <p:spPr>
          <a:xfrm>
            <a:off x="1156716" y="4663948"/>
            <a:ext cx="22372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3-mark355"/>
          <p:cNvSpPr/>
          <p:nvPr/>
        </p:nvSpPr>
        <p:spPr>
          <a:xfrm>
            <a:off x="1156716" y="4291076"/>
            <a:ext cx="22372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3-mark356"/>
          <p:cNvSpPr/>
          <p:nvPr/>
        </p:nvSpPr>
        <p:spPr>
          <a:xfrm>
            <a:off x="1156716" y="3918204"/>
            <a:ext cx="22372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3-mark357"/>
          <p:cNvSpPr/>
          <p:nvPr/>
        </p:nvSpPr>
        <p:spPr>
          <a:xfrm>
            <a:off x="1156716" y="3545332"/>
            <a:ext cx="22372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3-mark358"/>
          <p:cNvSpPr/>
          <p:nvPr/>
        </p:nvSpPr>
        <p:spPr>
          <a:xfrm>
            <a:off x="1156716" y="3172460"/>
            <a:ext cx="22372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3-mark359"/>
          <p:cNvSpPr/>
          <p:nvPr/>
        </p:nvSpPr>
        <p:spPr>
          <a:xfrm>
            <a:off x="1156716" y="2799588"/>
            <a:ext cx="22372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3-figure360" descr="모눈 위의 사다리꼴 가: 윗변 2칸, 아랫변 4칸, 높이 4칸"/>
          <p:cNvSpPr/>
          <p:nvPr/>
        </p:nvSpPr>
        <p:spPr>
          <a:xfrm>
            <a:off x="1529588" y="3172460"/>
            <a:ext cx="1491488" cy="1491488"/>
          </a:xfrm>
          <a:custGeom>
            <a:avLst/>
            <a:gdLst/>
            <a:ahLst/>
            <a:cxnLst/>
            <a:rect l="l" t="t" r="r" b="b"/>
            <a:pathLst>
              <a:path w="1491488" h="1491488">
                <a:moveTo>
                  <a:pt x="0" y="1491488"/>
                </a:moveTo>
                <a:lnTo>
                  <a:pt x="1491488" y="1491488"/>
                </a:lnTo>
                <a:lnTo>
                  <a:pt x="1118616" y="0"/>
                </a:lnTo>
                <a:lnTo>
                  <a:pt x="372872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13-chip36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24" name="S13-mark362"/>
          <p:cNvSpPr/>
          <p:nvPr/>
        </p:nvSpPr>
        <p:spPr>
          <a:xfrm>
            <a:off x="4975860" y="3172460"/>
            <a:ext cx="2237232" cy="1491488"/>
          </a:xfrm>
          <a:custGeom>
            <a:avLst/>
            <a:gdLst/>
            <a:ahLst/>
            <a:cxnLst/>
            <a:rect l="l" t="t" r="r" b="b"/>
            <a:pathLst>
              <a:path w="2237232" h="1491488">
                <a:moveTo>
                  <a:pt x="0" y="745744"/>
                </a:moveTo>
                <a:lnTo>
                  <a:pt x="1118616" y="1491488"/>
                </a:lnTo>
                <a:lnTo>
                  <a:pt x="2237232" y="745744"/>
                </a:lnTo>
                <a:lnTo>
                  <a:pt x="1118616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25" name="S13-mark363"/>
          <p:cNvSpPr/>
          <p:nvPr/>
        </p:nvSpPr>
        <p:spPr>
          <a:xfrm flipV="1">
            <a:off x="4602988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3-mark364"/>
          <p:cNvSpPr/>
          <p:nvPr/>
        </p:nvSpPr>
        <p:spPr>
          <a:xfrm flipV="1">
            <a:off x="4975860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3-mark365"/>
          <p:cNvSpPr/>
          <p:nvPr/>
        </p:nvSpPr>
        <p:spPr>
          <a:xfrm flipV="1">
            <a:off x="5348732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3-mark366"/>
          <p:cNvSpPr/>
          <p:nvPr/>
        </p:nvSpPr>
        <p:spPr>
          <a:xfrm flipV="1">
            <a:off x="5721604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3-mark367"/>
          <p:cNvSpPr/>
          <p:nvPr/>
        </p:nvSpPr>
        <p:spPr>
          <a:xfrm flipV="1">
            <a:off x="6094476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3-mark368"/>
          <p:cNvSpPr/>
          <p:nvPr/>
        </p:nvSpPr>
        <p:spPr>
          <a:xfrm flipV="1">
            <a:off x="6467348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3-mark369"/>
          <p:cNvSpPr/>
          <p:nvPr/>
        </p:nvSpPr>
        <p:spPr>
          <a:xfrm flipV="1">
            <a:off x="6840220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3-mark370"/>
          <p:cNvSpPr/>
          <p:nvPr/>
        </p:nvSpPr>
        <p:spPr>
          <a:xfrm flipV="1">
            <a:off x="7213092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3-mark371"/>
          <p:cNvSpPr/>
          <p:nvPr/>
        </p:nvSpPr>
        <p:spPr>
          <a:xfrm flipV="1">
            <a:off x="7585964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3-mark372"/>
          <p:cNvSpPr/>
          <p:nvPr/>
        </p:nvSpPr>
        <p:spPr>
          <a:xfrm>
            <a:off x="4602988" y="5036820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3-mark373"/>
          <p:cNvSpPr/>
          <p:nvPr/>
        </p:nvSpPr>
        <p:spPr>
          <a:xfrm>
            <a:off x="4602988" y="4663948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3-mark374"/>
          <p:cNvSpPr/>
          <p:nvPr/>
        </p:nvSpPr>
        <p:spPr>
          <a:xfrm>
            <a:off x="4602988" y="4291076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3-mark375"/>
          <p:cNvSpPr/>
          <p:nvPr/>
        </p:nvSpPr>
        <p:spPr>
          <a:xfrm>
            <a:off x="4602988" y="3918204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3-mark376"/>
          <p:cNvSpPr/>
          <p:nvPr/>
        </p:nvSpPr>
        <p:spPr>
          <a:xfrm>
            <a:off x="4602988" y="3545332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3-mark377"/>
          <p:cNvSpPr/>
          <p:nvPr/>
        </p:nvSpPr>
        <p:spPr>
          <a:xfrm>
            <a:off x="4602988" y="3172460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13-mark378"/>
          <p:cNvSpPr/>
          <p:nvPr/>
        </p:nvSpPr>
        <p:spPr>
          <a:xfrm>
            <a:off x="4602988" y="2799588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13-figure379" descr="모눈 위의 마름모 나: 가로 대각선 6칸, 세로 대각선 4칸"/>
          <p:cNvSpPr/>
          <p:nvPr/>
        </p:nvSpPr>
        <p:spPr>
          <a:xfrm>
            <a:off x="4975860" y="3172460"/>
            <a:ext cx="2237232" cy="1491488"/>
          </a:xfrm>
          <a:custGeom>
            <a:avLst/>
            <a:gdLst/>
            <a:ahLst/>
            <a:cxnLst/>
            <a:rect l="l" t="t" r="r" b="b"/>
            <a:pathLst>
              <a:path w="2237232" h="1491488">
                <a:moveTo>
                  <a:pt x="0" y="745744"/>
                </a:moveTo>
                <a:lnTo>
                  <a:pt x="1118616" y="1491488"/>
                </a:lnTo>
                <a:lnTo>
                  <a:pt x="2237232" y="745744"/>
                </a:lnTo>
                <a:lnTo>
                  <a:pt x="1118616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2" name="S13-mark380"/>
          <p:cNvSpPr/>
          <p:nvPr/>
        </p:nvSpPr>
        <p:spPr>
          <a:xfrm>
            <a:off x="4975860" y="3918204"/>
            <a:ext cx="2237232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43" name="S13-mark381"/>
          <p:cNvSpPr/>
          <p:nvPr/>
        </p:nvSpPr>
        <p:spPr>
          <a:xfrm flipV="1">
            <a:off x="6094476" y="3172460"/>
            <a:ext cx="0" cy="1491488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44" name="S13-chip38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45" name="S13-mark383"/>
          <p:cNvSpPr/>
          <p:nvPr/>
        </p:nvSpPr>
        <p:spPr>
          <a:xfrm>
            <a:off x="8795004" y="3172460"/>
            <a:ext cx="2237232" cy="1491488"/>
          </a:xfrm>
          <a:custGeom>
            <a:avLst/>
            <a:gdLst/>
            <a:ahLst/>
            <a:cxnLst/>
            <a:rect l="l" t="t" r="r" b="b"/>
            <a:pathLst>
              <a:path w="2237232" h="1491488">
                <a:moveTo>
                  <a:pt x="0" y="1491488"/>
                </a:moveTo>
                <a:lnTo>
                  <a:pt x="2237232" y="1491488"/>
                </a:lnTo>
                <a:lnTo>
                  <a:pt x="1491488" y="0"/>
                </a:lnTo>
                <a:lnTo>
                  <a:pt x="745744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6" name="S13-mark384"/>
          <p:cNvSpPr/>
          <p:nvPr/>
        </p:nvSpPr>
        <p:spPr>
          <a:xfrm flipV="1">
            <a:off x="8422132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13-mark385"/>
          <p:cNvSpPr/>
          <p:nvPr/>
        </p:nvSpPr>
        <p:spPr>
          <a:xfrm flipV="1">
            <a:off x="8795004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13-mark386"/>
          <p:cNvSpPr/>
          <p:nvPr/>
        </p:nvSpPr>
        <p:spPr>
          <a:xfrm flipV="1">
            <a:off x="9167876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13-mark387"/>
          <p:cNvSpPr/>
          <p:nvPr/>
        </p:nvSpPr>
        <p:spPr>
          <a:xfrm flipV="1">
            <a:off x="9540748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13-mark388"/>
          <p:cNvSpPr/>
          <p:nvPr/>
        </p:nvSpPr>
        <p:spPr>
          <a:xfrm flipV="1">
            <a:off x="9913620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13-mark389"/>
          <p:cNvSpPr/>
          <p:nvPr/>
        </p:nvSpPr>
        <p:spPr>
          <a:xfrm flipV="1">
            <a:off x="10286492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2" name="S13-mark390"/>
          <p:cNvSpPr/>
          <p:nvPr/>
        </p:nvSpPr>
        <p:spPr>
          <a:xfrm flipV="1">
            <a:off x="10659364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3" name="S13-mark391"/>
          <p:cNvSpPr/>
          <p:nvPr/>
        </p:nvSpPr>
        <p:spPr>
          <a:xfrm flipV="1">
            <a:off x="11032236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4" name="S13-mark392"/>
          <p:cNvSpPr/>
          <p:nvPr/>
        </p:nvSpPr>
        <p:spPr>
          <a:xfrm flipV="1">
            <a:off x="11405108" y="2799588"/>
            <a:ext cx="0" cy="223723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5" name="S13-mark393"/>
          <p:cNvSpPr/>
          <p:nvPr/>
        </p:nvSpPr>
        <p:spPr>
          <a:xfrm>
            <a:off x="8422132" y="5036820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6" name="S13-mark394"/>
          <p:cNvSpPr/>
          <p:nvPr/>
        </p:nvSpPr>
        <p:spPr>
          <a:xfrm>
            <a:off x="8422132" y="4663948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7" name="S13-mark395"/>
          <p:cNvSpPr/>
          <p:nvPr/>
        </p:nvSpPr>
        <p:spPr>
          <a:xfrm>
            <a:off x="8422132" y="4291076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8" name="S13-mark396"/>
          <p:cNvSpPr/>
          <p:nvPr/>
        </p:nvSpPr>
        <p:spPr>
          <a:xfrm>
            <a:off x="8422132" y="3918204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9" name="S13-mark397"/>
          <p:cNvSpPr/>
          <p:nvPr/>
        </p:nvSpPr>
        <p:spPr>
          <a:xfrm>
            <a:off x="8422132" y="3545332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0" name="S13-mark398"/>
          <p:cNvSpPr/>
          <p:nvPr/>
        </p:nvSpPr>
        <p:spPr>
          <a:xfrm>
            <a:off x="8422132" y="3172460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1" name="S13-mark399"/>
          <p:cNvSpPr/>
          <p:nvPr/>
        </p:nvSpPr>
        <p:spPr>
          <a:xfrm>
            <a:off x="8422132" y="2799588"/>
            <a:ext cx="29829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2" name="S13-figure400" descr="모눈 위의 사다리꼴 다: 윗변 2칸, 아랫변 6칸, 높이 4칸"/>
          <p:cNvSpPr/>
          <p:nvPr/>
        </p:nvSpPr>
        <p:spPr>
          <a:xfrm>
            <a:off x="8795004" y="3172460"/>
            <a:ext cx="2237232" cy="1491488"/>
          </a:xfrm>
          <a:custGeom>
            <a:avLst/>
            <a:gdLst/>
            <a:ahLst/>
            <a:cxnLst/>
            <a:rect l="l" t="t" r="r" b="b"/>
            <a:pathLst>
              <a:path w="2237232" h="1491488">
                <a:moveTo>
                  <a:pt x="0" y="1491488"/>
                </a:moveTo>
                <a:lnTo>
                  <a:pt x="2237232" y="1491488"/>
                </a:lnTo>
                <a:lnTo>
                  <a:pt x="1491488" y="0"/>
                </a:lnTo>
                <a:lnTo>
                  <a:pt x="745744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40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40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사다리꼴: (윗변 + 아랫변) × 높이 ÷ 2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마름모: 한 대각선 × 다른 대각선 ÷ 2</a:t>
            </a:r>
            <a:endParaRPr lang="ko-KR" sz="2800" dirty="0"/>
          </a:p>
        </p:txBody>
      </p:sp>
      <p:sp>
        <p:nvSpPr>
          <p:cNvPr id="5" name="S14-chip40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직각으로 그은 높이 찾기</a:t>
            </a:r>
            <a:endParaRPr lang="ko-KR" sz="2200" dirty="0"/>
          </a:p>
        </p:txBody>
      </p:sp>
      <p:sp>
        <p:nvSpPr>
          <p:cNvPr id="6" name="S14-chip40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기울어진 변을 높이로 쓰기</a:t>
            </a:r>
            <a:endParaRPr lang="ko-KR" sz="2200" dirty="0"/>
          </a:p>
        </p:txBody>
      </p:sp>
      <p:sp>
        <p:nvSpPr>
          <p:cNvPr id="7" name="S14-text40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40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사다리꼴의 넓이는?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윗변 3 cm, 높이 6 cm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아랫변 5 cm</a:t>
            </a:r>
            <a:endParaRPr lang="ko-KR" sz="2200" dirty="0"/>
          </a:p>
        </p:txBody>
      </p:sp>
      <p:sp>
        <p:nvSpPr>
          <p:cNvPr id="9" name="S14-text40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두 대각선이 7 cm,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cm인 마름모의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넓이는?</a:t>
            </a:r>
            <a:endParaRPr lang="ko-KR" sz="2200" dirty="0"/>
          </a:p>
        </p:txBody>
      </p:sp>
      <p:sp>
        <p:nvSpPr>
          <p:cNvPr id="10" name="S14-text40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사다리꼴의 넓이에서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÷ 2를 할까요?</a:t>
            </a:r>
            <a:endParaRPr lang="ko-KR" sz="2200" dirty="0"/>
          </a:p>
        </p:txBody>
      </p:sp>
      <p:sp>
        <p:nvSpPr>
          <p:cNvPr id="11" name="S14-text40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평균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평행사변형과 삼각형</a:t>
            </a:r>
            <a:endParaRPr lang="ko-KR" sz="4000" dirty="0"/>
          </a:p>
        </p:txBody>
      </p:sp>
      <p:sp>
        <p:nvSpPr>
          <p:cNvPr id="3" name="S15-mark410"/>
          <p:cNvSpPr/>
          <p:nvPr/>
        </p:nvSpPr>
        <p:spPr>
          <a:xfrm>
            <a:off x="1353160" y="3068041"/>
            <a:ext cx="2815438" cy="1407719"/>
          </a:xfrm>
          <a:custGeom>
            <a:avLst/>
            <a:gdLst/>
            <a:ahLst/>
            <a:cxnLst/>
            <a:rect l="l" t="t" r="r" b="b"/>
            <a:pathLst>
              <a:path w="2815438" h="1407719">
                <a:moveTo>
                  <a:pt x="0" y="1407719"/>
                </a:moveTo>
                <a:lnTo>
                  <a:pt x="2815438" y="1407719"/>
                </a:lnTo>
                <a:lnTo>
                  <a:pt x="938479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" name="S15-mark411"/>
          <p:cNvSpPr/>
          <p:nvPr/>
        </p:nvSpPr>
        <p:spPr>
          <a:xfrm>
            <a:off x="2291639" y="3068041"/>
            <a:ext cx="2815438" cy="1407719"/>
          </a:xfrm>
          <a:custGeom>
            <a:avLst/>
            <a:gdLst/>
            <a:ahLst/>
            <a:cxnLst/>
            <a:rect l="l" t="t" r="r" b="b"/>
            <a:pathLst>
              <a:path w="2815438" h="1407719">
                <a:moveTo>
                  <a:pt x="1876958" y="1407719"/>
                </a:moveTo>
                <a:lnTo>
                  <a:pt x="28154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5" name="S15-mark412"/>
          <p:cNvSpPr/>
          <p:nvPr/>
        </p:nvSpPr>
        <p:spPr>
          <a:xfrm flipV="1">
            <a:off x="883920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15-mark413"/>
          <p:cNvSpPr/>
          <p:nvPr/>
        </p:nvSpPr>
        <p:spPr>
          <a:xfrm flipV="1">
            <a:off x="1353160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15-mark414"/>
          <p:cNvSpPr/>
          <p:nvPr/>
        </p:nvSpPr>
        <p:spPr>
          <a:xfrm flipV="1">
            <a:off x="1822399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5-mark415"/>
          <p:cNvSpPr/>
          <p:nvPr/>
        </p:nvSpPr>
        <p:spPr>
          <a:xfrm flipV="1">
            <a:off x="2291639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5-mark416"/>
          <p:cNvSpPr/>
          <p:nvPr/>
        </p:nvSpPr>
        <p:spPr>
          <a:xfrm flipV="1">
            <a:off x="2760878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5-mark417"/>
          <p:cNvSpPr/>
          <p:nvPr/>
        </p:nvSpPr>
        <p:spPr>
          <a:xfrm flipV="1">
            <a:off x="3230118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5-mark418"/>
          <p:cNvSpPr/>
          <p:nvPr/>
        </p:nvSpPr>
        <p:spPr>
          <a:xfrm flipV="1">
            <a:off x="3699358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5-mark419"/>
          <p:cNvSpPr/>
          <p:nvPr/>
        </p:nvSpPr>
        <p:spPr>
          <a:xfrm flipV="1">
            <a:off x="4168597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5-mark420"/>
          <p:cNvSpPr/>
          <p:nvPr/>
        </p:nvSpPr>
        <p:spPr>
          <a:xfrm flipV="1">
            <a:off x="4637837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5-mark421"/>
          <p:cNvSpPr/>
          <p:nvPr/>
        </p:nvSpPr>
        <p:spPr>
          <a:xfrm flipV="1">
            <a:off x="5107076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5-mark422"/>
          <p:cNvSpPr/>
          <p:nvPr/>
        </p:nvSpPr>
        <p:spPr>
          <a:xfrm flipV="1">
            <a:off x="5576316" y="2598801"/>
            <a:ext cx="0" cy="234619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5-mark423"/>
          <p:cNvSpPr/>
          <p:nvPr/>
        </p:nvSpPr>
        <p:spPr>
          <a:xfrm>
            <a:off x="883920" y="4944999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5-mark424"/>
          <p:cNvSpPr/>
          <p:nvPr/>
        </p:nvSpPr>
        <p:spPr>
          <a:xfrm>
            <a:off x="883920" y="4475759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5-mark425"/>
          <p:cNvSpPr/>
          <p:nvPr/>
        </p:nvSpPr>
        <p:spPr>
          <a:xfrm>
            <a:off x="883920" y="4006520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5-mark426"/>
          <p:cNvSpPr/>
          <p:nvPr/>
        </p:nvSpPr>
        <p:spPr>
          <a:xfrm>
            <a:off x="883920" y="3537280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5-mark427"/>
          <p:cNvSpPr/>
          <p:nvPr/>
        </p:nvSpPr>
        <p:spPr>
          <a:xfrm>
            <a:off x="883920" y="3068041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5-mark428"/>
          <p:cNvSpPr/>
          <p:nvPr/>
        </p:nvSpPr>
        <p:spPr>
          <a:xfrm>
            <a:off x="883920" y="2598801"/>
            <a:ext cx="469239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5-figure429" descr="모눈 위의 평행사변형(밑변 6 cm, 높이 3 cm)을 대각선으로 잘라 만든 똑같은 삼각형 2개"/>
          <p:cNvSpPr/>
          <p:nvPr/>
        </p:nvSpPr>
        <p:spPr>
          <a:xfrm>
            <a:off x="1353160" y="3068041"/>
            <a:ext cx="2815438" cy="1407719"/>
          </a:xfrm>
          <a:custGeom>
            <a:avLst/>
            <a:gdLst/>
            <a:ahLst/>
            <a:cxnLst/>
            <a:rect l="l" t="t" r="r" b="b"/>
            <a:pathLst>
              <a:path w="2815438" h="1407719">
                <a:moveTo>
                  <a:pt x="0" y="1407719"/>
                </a:moveTo>
                <a:lnTo>
                  <a:pt x="2815438" y="1407719"/>
                </a:lnTo>
                <a:lnTo>
                  <a:pt x="938479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15-mark430"/>
          <p:cNvSpPr/>
          <p:nvPr/>
        </p:nvSpPr>
        <p:spPr>
          <a:xfrm>
            <a:off x="2291639" y="3068041"/>
            <a:ext cx="2815438" cy="1407719"/>
          </a:xfrm>
          <a:custGeom>
            <a:avLst/>
            <a:gdLst/>
            <a:ahLst/>
            <a:cxnLst/>
            <a:rect l="l" t="t" r="r" b="b"/>
            <a:pathLst>
              <a:path w="2815438" h="1407719">
                <a:moveTo>
                  <a:pt x="1876958" y="1407719"/>
                </a:moveTo>
                <a:lnTo>
                  <a:pt x="2815438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15-mark431"/>
          <p:cNvSpPr/>
          <p:nvPr/>
        </p:nvSpPr>
        <p:spPr>
          <a:xfrm>
            <a:off x="2291639" y="4266209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15-mark432"/>
          <p:cNvSpPr/>
          <p:nvPr/>
        </p:nvSpPr>
        <p:spPr>
          <a:xfrm>
            <a:off x="2291639" y="3068041"/>
            <a:ext cx="0" cy="1407719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6" name="S15-label434"/>
          <p:cNvSpPr txBox="1"/>
          <p:nvPr/>
        </p:nvSpPr>
        <p:spPr>
          <a:xfrm>
            <a:off x="2379116" y="455259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27" name="S15-label436"/>
          <p:cNvSpPr txBox="1"/>
          <p:nvPr/>
        </p:nvSpPr>
        <p:spPr>
          <a:xfrm>
            <a:off x="2340153" y="35972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28" name="S15-card437"/>
          <p:cNvSpPr/>
          <p:nvPr/>
        </p:nvSpPr>
        <p:spPr>
          <a:xfrm>
            <a:off x="6277356" y="2136648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9" name="S15-cardtext438"/>
          <p:cNvSpPr txBox="1"/>
          <p:nvPr/>
        </p:nvSpPr>
        <p:spPr>
          <a:xfrm>
            <a:off x="6551676" y="2273808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평행사변형의 넓이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 × 높이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3 = 18 (cm²)</a:t>
            </a:r>
            <a:endParaRPr lang="ko-KR" sz="2800" dirty="0"/>
          </a:p>
        </p:txBody>
      </p:sp>
      <p:sp>
        <p:nvSpPr>
          <p:cNvPr id="30" name="S15-card439"/>
          <p:cNvSpPr/>
          <p:nvPr/>
        </p:nvSpPr>
        <p:spPr>
          <a:xfrm>
            <a:off x="6277356" y="3886200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1" name="S15-cardtext440"/>
          <p:cNvSpPr txBox="1"/>
          <p:nvPr/>
        </p:nvSpPr>
        <p:spPr>
          <a:xfrm>
            <a:off x="6551676" y="4023360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넓이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평행사변형의 절반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3 ÷ 2 = 9 (cm²)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사다리꼴과 마름모의 넓이</dc:title>
  <dc:subject>KR22-G05-MAT-AREA3-L01</dc:subject>
  <dc:creator>education-ppt</dc:creator>
  <cp:lastModifiedBy>education-ppt</cp:lastModifiedBy>
  <cp:revision>1</cp:revision>
  <dcterms:created xsi:type="dcterms:W3CDTF">2026-10-26T08:39:20Z</dcterms:created>
  <dcterms:modified xsi:type="dcterms:W3CDTF">2026-10-26T08:39:20Z</dcterms:modified>
</cp:coreProperties>
</file>