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dd3ea81-8873-3224-0bf4-5cd0c43b2d8e}">
          <p14:sldIdLst>
            <p14:sldId id="256"/>
            <p14:sldId id="257"/>
          </p14:sldIdLst>
        </p14:section>
        <p14:section name="개념" id="{a84a4008-f143-20a8-6e92-19d35d325dba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0a32c063-950d-b26c-b71f-e60f3f4be275}">
          <p14:sldIdLst>
            <p14:sldId id="261"/>
            <p14:sldId id="262"/>
            <p14:sldId id="265"/>
          </p14:sldIdLst>
        </p14:section>
        <p14:section name="개념" id="{a84e2122-31c5-523d-de86-b9411647db38}">
          <p14:sldIdLst/>
        </p14:section>
        <p14:section name="연습" id="{cf7e2f25-e682-7a8d-eb93-a0b7b2018280}">
          <p14:sldIdLst/>
        </p14:section>
        <p14:section name="확인" id="{d5ed58f6-068e-8dbc-92ac-2fb418eda9e8}">
          <p14:sldIdLst>
            <p14:sldId id="266"/>
            <p14:sldId id="267"/>
          </p14:sldIdLst>
        </p14:section>
        <p14:section name="정리" id="{cc512aaf-c9da-63dc-e01c-2d9dc7e96ade}">
          <p14:sldIdLst>
            <p14:sldId id="268"/>
          </p14:sldIdLst>
        </p14:section>
        <p14:section name="보충" id="{36460459-09bb-b938-0356-219f5fbd94a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도형과측정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사다리꼴과 마름모의 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사다리꼴과 마름모의 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사다리꼴과 마름모의 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사다리꼴과 마름모의 넓이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사다리꼴의 넓이는 어떻게 구할까?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mark2"/>
          <p:cNvSpPr/>
          <p:nvPr/>
        </p:nvSpPr>
        <p:spPr>
          <a:xfrm>
            <a:off x="8497570" y="1183640"/>
            <a:ext cx="2298700" cy="1838960"/>
          </a:xfrm>
          <a:custGeom>
            <a:avLst/>
            <a:gdLst/>
            <a:ahLst/>
            <a:cxnLst/>
            <a:rect l="l" t="t" r="r" b="b"/>
            <a:pathLst>
              <a:path w="2298700" h="1838960">
                <a:moveTo>
                  <a:pt x="0" y="1838960"/>
                </a:moveTo>
                <a:lnTo>
                  <a:pt x="2298700" y="1838960"/>
                </a:lnTo>
                <a:lnTo>
                  <a:pt x="1838960" y="0"/>
                </a:lnTo>
                <a:lnTo>
                  <a:pt x="45974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1-mark3"/>
          <p:cNvSpPr/>
          <p:nvPr/>
        </p:nvSpPr>
        <p:spPr>
          <a:xfrm flipV="1">
            <a:off x="8037830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 flipV="1">
            <a:off x="8497570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V="1">
            <a:off x="8957310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V="1">
            <a:off x="9417050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 flipV="1">
            <a:off x="9876790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V="1">
            <a:off x="10336530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V="1">
            <a:off x="10796270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V="1">
            <a:off x="11256010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8037830" y="3482340"/>
            <a:ext cx="32181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8037830" y="3022600"/>
            <a:ext cx="32181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8037830" y="2562860"/>
            <a:ext cx="32181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8037830" y="2103120"/>
            <a:ext cx="32181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8037830" y="1643380"/>
            <a:ext cx="32181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8037830" y="1183640"/>
            <a:ext cx="32181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>
            <a:off x="8037830" y="723900"/>
            <a:ext cx="32181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1-figure18" descr="모눈 위의 사다리꼴: 윗변 3칸, 아랫변 5칸, 높이 4칸"/>
          <p:cNvSpPr/>
          <p:nvPr/>
        </p:nvSpPr>
        <p:spPr>
          <a:xfrm>
            <a:off x="8497570" y="1183640"/>
            <a:ext cx="2298700" cy="1838960"/>
          </a:xfrm>
          <a:custGeom>
            <a:avLst/>
            <a:gdLst/>
            <a:ahLst/>
            <a:cxnLst/>
            <a:rect l="l" t="t" r="r" b="b"/>
            <a:pathLst>
              <a:path w="2298700" h="1838960">
                <a:moveTo>
                  <a:pt x="0" y="1838960"/>
                </a:moveTo>
                <a:lnTo>
                  <a:pt x="2298700" y="1838960"/>
                </a:lnTo>
                <a:lnTo>
                  <a:pt x="1838960" y="0"/>
                </a:lnTo>
                <a:lnTo>
                  <a:pt x="45974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사다리꼴 2개를 붙여 넓이 구하는 방법을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마름모의 넓이를 두 대각선으로 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평행사변형과 삼각형의 넓이를 구해요.</a:t>
            </a:r>
            <a:endParaRPr lang="ko-KR" sz="2800" dirty="0"/>
          </a:p>
        </p:txBody>
      </p:sp>
      <p:sp>
        <p:nvSpPr>
          <p:cNvPr id="4" name="S02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가와 나의 넓이를 식으로 말해요.</a:t>
            </a:r>
            <a:endParaRPr lang="ko-KR" sz="2800" dirty="0"/>
          </a:p>
        </p:txBody>
      </p:sp>
      <p:sp>
        <p:nvSpPr>
          <p:cNvPr id="6" name="S02-chip24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02-mark25"/>
          <p:cNvSpPr/>
          <p:nvPr/>
        </p:nvSpPr>
        <p:spPr>
          <a:xfrm>
            <a:off x="2107316" y="3497153"/>
            <a:ext cx="2245604" cy="842101"/>
          </a:xfrm>
          <a:custGeom>
            <a:avLst/>
            <a:gdLst/>
            <a:ahLst/>
            <a:cxnLst/>
            <a:rect l="l" t="t" r="r" b="b"/>
            <a:pathLst>
              <a:path w="2245604" h="842101">
                <a:moveTo>
                  <a:pt x="0" y="842101"/>
                </a:moveTo>
                <a:lnTo>
                  <a:pt x="1684203" y="842101"/>
                </a:lnTo>
                <a:lnTo>
                  <a:pt x="2245604" y="0"/>
                </a:lnTo>
                <a:lnTo>
                  <a:pt x="561401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02-mark26"/>
          <p:cNvSpPr/>
          <p:nvPr/>
        </p:nvSpPr>
        <p:spPr>
          <a:xfrm flipV="1">
            <a:off x="1826616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27"/>
          <p:cNvSpPr/>
          <p:nvPr/>
        </p:nvSpPr>
        <p:spPr>
          <a:xfrm flipV="1">
            <a:off x="2107316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28"/>
          <p:cNvSpPr/>
          <p:nvPr/>
        </p:nvSpPr>
        <p:spPr>
          <a:xfrm flipV="1">
            <a:off x="2388017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29"/>
          <p:cNvSpPr/>
          <p:nvPr/>
        </p:nvSpPr>
        <p:spPr>
          <a:xfrm flipV="1">
            <a:off x="2668717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30"/>
          <p:cNvSpPr/>
          <p:nvPr/>
        </p:nvSpPr>
        <p:spPr>
          <a:xfrm flipV="1">
            <a:off x="2949418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2-mark31"/>
          <p:cNvSpPr/>
          <p:nvPr/>
        </p:nvSpPr>
        <p:spPr>
          <a:xfrm flipV="1">
            <a:off x="3230118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2-mark32"/>
          <p:cNvSpPr/>
          <p:nvPr/>
        </p:nvSpPr>
        <p:spPr>
          <a:xfrm flipV="1">
            <a:off x="3510818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2-mark33"/>
          <p:cNvSpPr/>
          <p:nvPr/>
        </p:nvSpPr>
        <p:spPr>
          <a:xfrm flipV="1">
            <a:off x="3791519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2-mark34"/>
          <p:cNvSpPr/>
          <p:nvPr/>
        </p:nvSpPr>
        <p:spPr>
          <a:xfrm flipV="1">
            <a:off x="4072219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2-mark35"/>
          <p:cNvSpPr/>
          <p:nvPr/>
        </p:nvSpPr>
        <p:spPr>
          <a:xfrm flipV="1">
            <a:off x="4352920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2-mark36"/>
          <p:cNvSpPr/>
          <p:nvPr/>
        </p:nvSpPr>
        <p:spPr>
          <a:xfrm flipV="1">
            <a:off x="4633620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2-mark37"/>
          <p:cNvSpPr/>
          <p:nvPr/>
        </p:nvSpPr>
        <p:spPr>
          <a:xfrm>
            <a:off x="1826616" y="4619955"/>
            <a:ext cx="280700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2-mark38"/>
          <p:cNvSpPr/>
          <p:nvPr/>
        </p:nvSpPr>
        <p:spPr>
          <a:xfrm>
            <a:off x="1826616" y="4339255"/>
            <a:ext cx="280700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2-mark39"/>
          <p:cNvSpPr/>
          <p:nvPr/>
        </p:nvSpPr>
        <p:spPr>
          <a:xfrm>
            <a:off x="1826616" y="4058554"/>
            <a:ext cx="280700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2-mark40"/>
          <p:cNvSpPr/>
          <p:nvPr/>
        </p:nvSpPr>
        <p:spPr>
          <a:xfrm>
            <a:off x="1826616" y="3777854"/>
            <a:ext cx="280700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2-mark41"/>
          <p:cNvSpPr/>
          <p:nvPr/>
        </p:nvSpPr>
        <p:spPr>
          <a:xfrm>
            <a:off x="1826616" y="3497153"/>
            <a:ext cx="280700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2-mark42"/>
          <p:cNvSpPr/>
          <p:nvPr/>
        </p:nvSpPr>
        <p:spPr>
          <a:xfrm>
            <a:off x="1826616" y="3216453"/>
            <a:ext cx="280700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2-figure43" descr="모눈 위의 평행사변형: 밑변 6 cm, 높이 3 cm(점선)"/>
          <p:cNvSpPr/>
          <p:nvPr/>
        </p:nvSpPr>
        <p:spPr>
          <a:xfrm>
            <a:off x="2107316" y="3497153"/>
            <a:ext cx="2245604" cy="842101"/>
          </a:xfrm>
          <a:custGeom>
            <a:avLst/>
            <a:gdLst/>
            <a:ahLst/>
            <a:cxnLst/>
            <a:rect l="l" t="t" r="r" b="b"/>
            <a:pathLst>
              <a:path w="2245604" h="842101">
                <a:moveTo>
                  <a:pt x="0" y="842101"/>
                </a:moveTo>
                <a:lnTo>
                  <a:pt x="1684203" y="842101"/>
                </a:lnTo>
                <a:lnTo>
                  <a:pt x="2245604" y="0"/>
                </a:lnTo>
                <a:lnTo>
                  <a:pt x="561401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2-mark44"/>
          <p:cNvSpPr/>
          <p:nvPr/>
        </p:nvSpPr>
        <p:spPr>
          <a:xfrm>
            <a:off x="2668717" y="4129705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2-mark45"/>
          <p:cNvSpPr/>
          <p:nvPr/>
        </p:nvSpPr>
        <p:spPr>
          <a:xfrm>
            <a:off x="2668717" y="3497153"/>
            <a:ext cx="0" cy="842101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28" name="S02-label47"/>
          <p:cNvSpPr txBox="1"/>
          <p:nvPr/>
        </p:nvSpPr>
        <p:spPr>
          <a:xfrm>
            <a:off x="2567656" y="441609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29" name="S02-label49"/>
          <p:cNvSpPr txBox="1"/>
          <p:nvPr/>
        </p:nvSpPr>
        <p:spPr>
          <a:xfrm>
            <a:off x="2717231" y="374357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30" name="S02-chip50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31" name="S02-mark51"/>
          <p:cNvSpPr/>
          <p:nvPr/>
        </p:nvSpPr>
        <p:spPr>
          <a:xfrm>
            <a:off x="8257083" y="3450370"/>
            <a:ext cx="1403502" cy="935668"/>
          </a:xfrm>
          <a:custGeom>
            <a:avLst/>
            <a:gdLst/>
            <a:ahLst/>
            <a:cxnLst/>
            <a:rect l="l" t="t" r="r" b="b"/>
            <a:pathLst>
              <a:path w="1403502" h="935668">
                <a:moveTo>
                  <a:pt x="0" y="935668"/>
                </a:moveTo>
                <a:lnTo>
                  <a:pt x="1403502" y="935668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32" name="S02-mark52"/>
          <p:cNvSpPr/>
          <p:nvPr/>
        </p:nvSpPr>
        <p:spPr>
          <a:xfrm flipV="1">
            <a:off x="8023166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2-mark53"/>
          <p:cNvSpPr/>
          <p:nvPr/>
        </p:nvSpPr>
        <p:spPr>
          <a:xfrm flipV="1">
            <a:off x="8257083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2-mark54"/>
          <p:cNvSpPr/>
          <p:nvPr/>
        </p:nvSpPr>
        <p:spPr>
          <a:xfrm flipV="1">
            <a:off x="8491000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2-mark55"/>
          <p:cNvSpPr/>
          <p:nvPr/>
        </p:nvSpPr>
        <p:spPr>
          <a:xfrm flipV="1">
            <a:off x="8724917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2-mark56"/>
          <p:cNvSpPr/>
          <p:nvPr/>
        </p:nvSpPr>
        <p:spPr>
          <a:xfrm flipV="1">
            <a:off x="8958834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2-mark57"/>
          <p:cNvSpPr/>
          <p:nvPr/>
        </p:nvSpPr>
        <p:spPr>
          <a:xfrm flipV="1">
            <a:off x="9192751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2-mark58"/>
          <p:cNvSpPr/>
          <p:nvPr/>
        </p:nvSpPr>
        <p:spPr>
          <a:xfrm flipV="1">
            <a:off x="9426668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2-mark59"/>
          <p:cNvSpPr/>
          <p:nvPr/>
        </p:nvSpPr>
        <p:spPr>
          <a:xfrm flipV="1">
            <a:off x="9660585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2-mark60"/>
          <p:cNvSpPr/>
          <p:nvPr/>
        </p:nvSpPr>
        <p:spPr>
          <a:xfrm flipV="1">
            <a:off x="9894502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2-mark61"/>
          <p:cNvSpPr/>
          <p:nvPr/>
        </p:nvSpPr>
        <p:spPr>
          <a:xfrm>
            <a:off x="8023166" y="4619955"/>
            <a:ext cx="18713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2-mark62"/>
          <p:cNvSpPr/>
          <p:nvPr/>
        </p:nvSpPr>
        <p:spPr>
          <a:xfrm>
            <a:off x="8023166" y="4386038"/>
            <a:ext cx="18713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2-mark63"/>
          <p:cNvSpPr/>
          <p:nvPr/>
        </p:nvSpPr>
        <p:spPr>
          <a:xfrm>
            <a:off x="8023166" y="4152121"/>
            <a:ext cx="18713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2-mark64"/>
          <p:cNvSpPr/>
          <p:nvPr/>
        </p:nvSpPr>
        <p:spPr>
          <a:xfrm>
            <a:off x="8023166" y="3918204"/>
            <a:ext cx="18713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2-mark65"/>
          <p:cNvSpPr/>
          <p:nvPr/>
        </p:nvSpPr>
        <p:spPr>
          <a:xfrm>
            <a:off x="8023166" y="3684287"/>
            <a:ext cx="18713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2-mark66"/>
          <p:cNvSpPr/>
          <p:nvPr/>
        </p:nvSpPr>
        <p:spPr>
          <a:xfrm>
            <a:off x="8023166" y="3450370"/>
            <a:ext cx="18713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2-mark67"/>
          <p:cNvSpPr/>
          <p:nvPr/>
        </p:nvSpPr>
        <p:spPr>
          <a:xfrm>
            <a:off x="8023166" y="3216453"/>
            <a:ext cx="18713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2-figure68" descr="모눈 위의 직각삼각형: 밑변 6 cm, 높이 4 cm(직각 표시가 있는 왼쪽 변)"/>
          <p:cNvSpPr/>
          <p:nvPr/>
        </p:nvSpPr>
        <p:spPr>
          <a:xfrm>
            <a:off x="8257083" y="3450370"/>
            <a:ext cx="1403502" cy="935668"/>
          </a:xfrm>
          <a:custGeom>
            <a:avLst/>
            <a:gdLst/>
            <a:ahLst/>
            <a:cxnLst/>
            <a:rect l="l" t="t" r="r" b="b"/>
            <a:pathLst>
              <a:path w="1403502" h="935668">
                <a:moveTo>
                  <a:pt x="0" y="935668"/>
                </a:moveTo>
                <a:lnTo>
                  <a:pt x="1403502" y="935668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9" name="S02-mark69"/>
          <p:cNvSpPr/>
          <p:nvPr/>
        </p:nvSpPr>
        <p:spPr>
          <a:xfrm>
            <a:off x="8257083" y="4176488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2-label71"/>
          <p:cNvSpPr txBox="1"/>
          <p:nvPr/>
        </p:nvSpPr>
        <p:spPr>
          <a:xfrm>
            <a:off x="8577072" y="4462873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51" name="S02-label73"/>
          <p:cNvSpPr txBox="1"/>
          <p:nvPr/>
        </p:nvSpPr>
        <p:spPr>
          <a:xfrm>
            <a:off x="7445045" y="374357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사다리꼴의 윗변, 아랫변, 높이</a:t>
            </a:r>
            <a:endParaRPr lang="ko-KR" sz="4000" dirty="0"/>
          </a:p>
        </p:txBody>
      </p:sp>
      <p:sp>
        <p:nvSpPr>
          <p:cNvPr id="3" name="S03-figure74" descr="사다리꼴: 위의 평행한 변은 윗변, 아래의 평행한 변은 아랫변, 두 변 사이에 수직으로 그은 점선은 높이"/>
          <p:cNvSpPr/>
          <p:nvPr/>
        </p:nvSpPr>
        <p:spPr>
          <a:xfrm>
            <a:off x="1100734" y="2068393"/>
            <a:ext cx="4258767" cy="3407014"/>
          </a:xfrm>
          <a:custGeom>
            <a:avLst/>
            <a:gdLst/>
            <a:ahLst/>
            <a:cxnLst/>
            <a:rect l="l" t="t" r="r" b="b"/>
            <a:pathLst>
              <a:path w="4258767" h="3407014">
                <a:moveTo>
                  <a:pt x="0" y="3407014"/>
                </a:moveTo>
                <a:lnTo>
                  <a:pt x="4258767" y="3407014"/>
                </a:lnTo>
                <a:lnTo>
                  <a:pt x="3407014" y="0"/>
                </a:lnTo>
                <a:lnTo>
                  <a:pt x="85175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3-mark75"/>
          <p:cNvSpPr/>
          <p:nvPr/>
        </p:nvSpPr>
        <p:spPr>
          <a:xfrm>
            <a:off x="2804241" y="526585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" name="S03-mark76"/>
          <p:cNvSpPr/>
          <p:nvPr/>
        </p:nvSpPr>
        <p:spPr>
          <a:xfrm>
            <a:off x="2804241" y="2068393"/>
            <a:ext cx="0" cy="3407014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6" name="S03-label78"/>
          <p:cNvSpPr txBox="1"/>
          <p:nvPr/>
        </p:nvSpPr>
        <p:spPr>
          <a:xfrm>
            <a:off x="2764536" y="5552242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아랫변</a:t>
            </a:r>
            <a:endParaRPr lang="ko-KR" sz="2200" dirty="0"/>
          </a:p>
        </p:txBody>
      </p:sp>
      <p:sp>
        <p:nvSpPr>
          <p:cNvPr id="7" name="S03-label80"/>
          <p:cNvSpPr txBox="1"/>
          <p:nvPr/>
        </p:nvSpPr>
        <p:spPr>
          <a:xfrm>
            <a:off x="2901442" y="1642308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윗변</a:t>
            </a:r>
            <a:endParaRPr lang="ko-KR" sz="2200" dirty="0"/>
          </a:p>
        </p:txBody>
      </p:sp>
      <p:sp>
        <p:nvSpPr>
          <p:cNvPr id="8" name="S03-label82"/>
          <p:cNvSpPr txBox="1"/>
          <p:nvPr/>
        </p:nvSpPr>
        <p:spPr>
          <a:xfrm>
            <a:off x="2833197" y="359727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</a:t>
            </a:r>
            <a:endParaRPr lang="ko-KR" sz="2200" dirty="0"/>
          </a:p>
        </p:txBody>
      </p:sp>
      <p:sp>
        <p:nvSpPr>
          <p:cNvPr id="9" name="S03-card83"/>
          <p:cNvSpPr/>
          <p:nvPr/>
        </p:nvSpPr>
        <p:spPr>
          <a:xfrm>
            <a:off x="6277356" y="2136648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84"/>
          <p:cNvSpPr txBox="1"/>
          <p:nvPr/>
        </p:nvSpPr>
        <p:spPr>
          <a:xfrm>
            <a:off x="6551676" y="2273808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윗변과 아랫변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평행한 두 변이에요.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윗변, 아래는 아랫변</a:t>
            </a:r>
            <a:endParaRPr lang="ko-KR" sz="2800" dirty="0"/>
          </a:p>
        </p:txBody>
      </p:sp>
      <p:sp>
        <p:nvSpPr>
          <p:cNvPr id="11" name="S03-card85"/>
          <p:cNvSpPr/>
          <p:nvPr/>
        </p:nvSpPr>
        <p:spPr>
          <a:xfrm>
            <a:off x="6277356" y="3886200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86"/>
          <p:cNvSpPr txBox="1"/>
          <p:nvPr/>
        </p:nvSpPr>
        <p:spPr>
          <a:xfrm>
            <a:off x="6551676" y="4023360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변 사이의 거리예요.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변과 직각으로 만나요.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 2개를 붙이면</a:t>
            </a:r>
            <a:endParaRPr lang="ko-KR" sz="4000" dirty="0"/>
          </a:p>
        </p:txBody>
      </p:sp>
      <p:sp>
        <p:nvSpPr>
          <p:cNvPr id="3" name="S04-mark87"/>
          <p:cNvSpPr/>
          <p:nvPr/>
        </p:nvSpPr>
        <p:spPr>
          <a:xfrm>
            <a:off x="7174549" y="2978884"/>
            <a:ext cx="1982539" cy="1586031"/>
          </a:xfrm>
          <a:custGeom>
            <a:avLst/>
            <a:gdLst/>
            <a:ahLst/>
            <a:cxnLst/>
            <a:rect l="l" t="t" r="r" b="b"/>
            <a:pathLst>
              <a:path w="1982539" h="1586031">
                <a:moveTo>
                  <a:pt x="0" y="1586031"/>
                </a:moveTo>
                <a:lnTo>
                  <a:pt x="1982539" y="1586031"/>
                </a:lnTo>
                <a:lnTo>
                  <a:pt x="1586031" y="0"/>
                </a:lnTo>
                <a:lnTo>
                  <a:pt x="396508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" name="S04-mark88"/>
          <p:cNvSpPr/>
          <p:nvPr/>
        </p:nvSpPr>
        <p:spPr>
          <a:xfrm>
            <a:off x="8760580" y="2978884"/>
            <a:ext cx="1982539" cy="1586031"/>
          </a:xfrm>
          <a:custGeom>
            <a:avLst/>
            <a:gdLst/>
            <a:ahLst/>
            <a:cxnLst/>
            <a:rect l="l" t="t" r="r" b="b"/>
            <a:pathLst>
              <a:path w="1982539" h="1586031">
                <a:moveTo>
                  <a:pt x="396508" y="1586031"/>
                </a:moveTo>
                <a:lnTo>
                  <a:pt x="1586031" y="1586031"/>
                </a:lnTo>
                <a:lnTo>
                  <a:pt x="1982539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5" name="S04-mark89"/>
          <p:cNvSpPr/>
          <p:nvPr/>
        </p:nvSpPr>
        <p:spPr>
          <a:xfrm flipV="1">
            <a:off x="6778041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4-mark90"/>
          <p:cNvSpPr/>
          <p:nvPr/>
        </p:nvSpPr>
        <p:spPr>
          <a:xfrm flipV="1">
            <a:off x="7174549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4-mark91"/>
          <p:cNvSpPr/>
          <p:nvPr/>
        </p:nvSpPr>
        <p:spPr>
          <a:xfrm flipV="1">
            <a:off x="7571057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4-mark92"/>
          <p:cNvSpPr/>
          <p:nvPr/>
        </p:nvSpPr>
        <p:spPr>
          <a:xfrm flipV="1">
            <a:off x="7967564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4-mark93"/>
          <p:cNvSpPr/>
          <p:nvPr/>
        </p:nvSpPr>
        <p:spPr>
          <a:xfrm flipV="1">
            <a:off x="8364072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4-mark94"/>
          <p:cNvSpPr/>
          <p:nvPr/>
        </p:nvSpPr>
        <p:spPr>
          <a:xfrm flipV="1">
            <a:off x="8760580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4-mark95"/>
          <p:cNvSpPr/>
          <p:nvPr/>
        </p:nvSpPr>
        <p:spPr>
          <a:xfrm flipV="1">
            <a:off x="9157088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4-mark96"/>
          <p:cNvSpPr/>
          <p:nvPr/>
        </p:nvSpPr>
        <p:spPr>
          <a:xfrm flipV="1">
            <a:off x="9553596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4-mark97"/>
          <p:cNvSpPr/>
          <p:nvPr/>
        </p:nvSpPr>
        <p:spPr>
          <a:xfrm flipV="1">
            <a:off x="9950104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4-mark98"/>
          <p:cNvSpPr/>
          <p:nvPr/>
        </p:nvSpPr>
        <p:spPr>
          <a:xfrm flipV="1">
            <a:off x="10346611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4-mark99"/>
          <p:cNvSpPr/>
          <p:nvPr/>
        </p:nvSpPr>
        <p:spPr>
          <a:xfrm flipV="1">
            <a:off x="10743119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4-mark100"/>
          <p:cNvSpPr/>
          <p:nvPr/>
        </p:nvSpPr>
        <p:spPr>
          <a:xfrm flipV="1">
            <a:off x="11139627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4-mark101"/>
          <p:cNvSpPr/>
          <p:nvPr/>
        </p:nvSpPr>
        <p:spPr>
          <a:xfrm>
            <a:off x="6778041" y="4961424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4-mark102"/>
          <p:cNvSpPr/>
          <p:nvPr/>
        </p:nvSpPr>
        <p:spPr>
          <a:xfrm>
            <a:off x="6778041" y="4564916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4-mark103"/>
          <p:cNvSpPr/>
          <p:nvPr/>
        </p:nvSpPr>
        <p:spPr>
          <a:xfrm>
            <a:off x="6778041" y="4168408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4-mark104"/>
          <p:cNvSpPr/>
          <p:nvPr/>
        </p:nvSpPr>
        <p:spPr>
          <a:xfrm>
            <a:off x="6778041" y="3771900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4-mark105"/>
          <p:cNvSpPr/>
          <p:nvPr/>
        </p:nvSpPr>
        <p:spPr>
          <a:xfrm>
            <a:off x="6778041" y="3375392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4-mark106"/>
          <p:cNvSpPr/>
          <p:nvPr/>
        </p:nvSpPr>
        <p:spPr>
          <a:xfrm>
            <a:off x="6778041" y="2978884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4-mark107"/>
          <p:cNvSpPr/>
          <p:nvPr/>
        </p:nvSpPr>
        <p:spPr>
          <a:xfrm>
            <a:off x="6778041" y="2582376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4-figure108" descr="모눈 위에 똑같은 사다리꼴 2개(주황 옅은 색, 노란색)를 돌려 붙인 평행사변형: 아랫변 5 cm와 3 cm, 윗변 3 cm와 5 cm, 높이 4 cm"/>
          <p:cNvSpPr/>
          <p:nvPr/>
        </p:nvSpPr>
        <p:spPr>
          <a:xfrm>
            <a:off x="7174549" y="2978884"/>
            <a:ext cx="1982539" cy="1586031"/>
          </a:xfrm>
          <a:custGeom>
            <a:avLst/>
            <a:gdLst/>
            <a:ahLst/>
            <a:cxnLst/>
            <a:rect l="l" t="t" r="r" b="b"/>
            <a:pathLst>
              <a:path w="1982539" h="1586031">
                <a:moveTo>
                  <a:pt x="0" y="1586031"/>
                </a:moveTo>
                <a:lnTo>
                  <a:pt x="1982539" y="1586031"/>
                </a:lnTo>
                <a:lnTo>
                  <a:pt x="1586031" y="0"/>
                </a:lnTo>
                <a:lnTo>
                  <a:pt x="396508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4-mark109"/>
          <p:cNvSpPr/>
          <p:nvPr/>
        </p:nvSpPr>
        <p:spPr>
          <a:xfrm>
            <a:off x="8760580" y="2978884"/>
            <a:ext cx="1982539" cy="1586031"/>
          </a:xfrm>
          <a:custGeom>
            <a:avLst/>
            <a:gdLst/>
            <a:ahLst/>
            <a:cxnLst/>
            <a:rect l="l" t="t" r="r" b="b"/>
            <a:pathLst>
              <a:path w="1982539" h="1586031">
                <a:moveTo>
                  <a:pt x="396508" y="1586031"/>
                </a:moveTo>
                <a:lnTo>
                  <a:pt x="1586031" y="1586031"/>
                </a:lnTo>
                <a:lnTo>
                  <a:pt x="198253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4-mark110"/>
          <p:cNvSpPr/>
          <p:nvPr/>
        </p:nvSpPr>
        <p:spPr>
          <a:xfrm>
            <a:off x="7967564" y="4355366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4-mark111"/>
          <p:cNvSpPr/>
          <p:nvPr/>
        </p:nvSpPr>
        <p:spPr>
          <a:xfrm>
            <a:off x="7967564" y="2978884"/>
            <a:ext cx="0" cy="1586031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28" name="S04-label113"/>
          <p:cNvSpPr txBox="1"/>
          <p:nvPr/>
        </p:nvSpPr>
        <p:spPr>
          <a:xfrm>
            <a:off x="7784056" y="4641751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29" name="S04-label115"/>
          <p:cNvSpPr txBox="1"/>
          <p:nvPr/>
        </p:nvSpPr>
        <p:spPr>
          <a:xfrm>
            <a:off x="7784056" y="255279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30" name="S04-label117"/>
          <p:cNvSpPr txBox="1"/>
          <p:nvPr/>
        </p:nvSpPr>
        <p:spPr>
          <a:xfrm>
            <a:off x="9370088" y="4641751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31" name="S04-label119"/>
          <p:cNvSpPr txBox="1"/>
          <p:nvPr/>
        </p:nvSpPr>
        <p:spPr>
          <a:xfrm>
            <a:off x="9370088" y="255279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32" name="S04-label121"/>
          <p:cNvSpPr txBox="1"/>
          <p:nvPr/>
        </p:nvSpPr>
        <p:spPr>
          <a:xfrm>
            <a:off x="8016078" y="35972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33" name="S04-stepno122"/>
          <p:cNvSpPr txBox="1"/>
          <p:nvPr/>
        </p:nvSpPr>
        <p:spPr>
          <a:xfrm>
            <a:off x="548640" y="1835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4" name="S04-text123"/>
          <p:cNvSpPr txBox="1"/>
          <p:nvPr/>
        </p:nvSpPr>
        <p:spPr>
          <a:xfrm>
            <a:off x="1325880" y="1789684"/>
            <a:ext cx="4585716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사다리꼴 2개를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붙여요.</a:t>
            </a:r>
            <a:endParaRPr lang="ko-KR" sz="2800" dirty="0"/>
          </a:p>
        </p:txBody>
      </p:sp>
      <p:sp>
        <p:nvSpPr>
          <p:cNvPr id="35" name="S04-stepno124"/>
          <p:cNvSpPr txBox="1"/>
          <p:nvPr/>
        </p:nvSpPr>
        <p:spPr>
          <a:xfrm>
            <a:off x="548640" y="286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6" name="S04-text125"/>
          <p:cNvSpPr txBox="1"/>
          <p:nvPr/>
        </p:nvSpPr>
        <p:spPr>
          <a:xfrm>
            <a:off x="1325880" y="2821940"/>
            <a:ext cx="4585716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평행사변형이 돼요.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밑변: 3 + 5 = 8 (cm)</a:t>
            </a:r>
            <a:endParaRPr lang="ko-KR" sz="2800" dirty="0"/>
          </a:p>
        </p:txBody>
      </p:sp>
      <p:sp>
        <p:nvSpPr>
          <p:cNvPr id="37" name="S04-stepno126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8" name="S04-text127"/>
          <p:cNvSpPr txBox="1"/>
          <p:nvPr/>
        </p:nvSpPr>
        <p:spPr>
          <a:xfrm>
            <a:off x="1325880" y="3854196"/>
            <a:ext cx="4585716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평행사변형의 넓이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4 = 32 (cm²)</a:t>
            </a:r>
            <a:endParaRPr lang="ko-KR" sz="2800" dirty="0"/>
          </a:p>
        </p:txBody>
      </p:sp>
      <p:sp>
        <p:nvSpPr>
          <p:cNvPr id="39" name="S04-stepno128"/>
          <p:cNvSpPr txBox="1"/>
          <p:nvPr/>
        </p:nvSpPr>
        <p:spPr>
          <a:xfrm>
            <a:off x="548640" y="493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40" name="S04-text129"/>
          <p:cNvSpPr txBox="1"/>
          <p:nvPr/>
        </p:nvSpPr>
        <p:spPr>
          <a:xfrm>
            <a:off x="1325880" y="4886452"/>
            <a:ext cx="4585716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사다리꼴은 그 절반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÷ 2 = 16 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 2개로 잘라도 같아요</a:t>
            </a:r>
            <a:endParaRPr lang="ko-KR" sz="4000" dirty="0"/>
          </a:p>
        </p:txBody>
      </p:sp>
      <p:sp>
        <p:nvSpPr>
          <p:cNvPr id="3" name="S05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사다리꼴의 넓이 = (윗변 + 아랫변) × 높이 ÷ 2</a:t>
            </a:r>
            <a:endParaRPr lang="ko-KR" sz="2800" dirty="0"/>
          </a:p>
        </p:txBody>
      </p:sp>
      <p:sp>
        <p:nvSpPr>
          <p:cNvPr id="5" name="S05-figure132" descr="사다리꼴(윗변 3 cm, 아랫변 5 cm, 높이 4 cm)을 대각선으로 잘라 만든 삼각형 2개: 아래 큰 삼각형(밑변 5 cm)과 위 작은 삼각형(밑변 3 cm), 높이는 둘 다 4 cm"/>
          <p:cNvSpPr/>
          <p:nvPr/>
        </p:nvSpPr>
        <p:spPr>
          <a:xfrm>
            <a:off x="7642001" y="1826565"/>
            <a:ext cx="3491738" cy="2793390"/>
          </a:xfrm>
          <a:custGeom>
            <a:avLst/>
            <a:gdLst/>
            <a:ahLst/>
            <a:cxnLst/>
            <a:rect l="l" t="t" r="r" b="b"/>
            <a:pathLst>
              <a:path w="3491738" h="2793390">
                <a:moveTo>
                  <a:pt x="0" y="2793390"/>
                </a:moveTo>
                <a:lnTo>
                  <a:pt x="3491738" y="2793390"/>
                </a:lnTo>
                <a:lnTo>
                  <a:pt x="698348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5-mark133"/>
          <p:cNvSpPr/>
          <p:nvPr/>
        </p:nvSpPr>
        <p:spPr>
          <a:xfrm>
            <a:off x="8340349" y="1826565"/>
            <a:ext cx="2793390" cy="2793390"/>
          </a:xfrm>
          <a:custGeom>
            <a:avLst/>
            <a:gdLst/>
            <a:ahLst/>
            <a:cxnLst/>
            <a:rect l="l" t="t" r="r" b="b"/>
            <a:pathLst>
              <a:path w="2793390" h="2793390">
                <a:moveTo>
                  <a:pt x="0" y="0"/>
                </a:moveTo>
                <a:lnTo>
                  <a:pt x="2793390" y="2793390"/>
                </a:lnTo>
                <a:lnTo>
                  <a:pt x="2095043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5-mark134"/>
          <p:cNvSpPr/>
          <p:nvPr/>
        </p:nvSpPr>
        <p:spPr>
          <a:xfrm>
            <a:off x="9038697" y="4410405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5-mark135"/>
          <p:cNvSpPr/>
          <p:nvPr/>
        </p:nvSpPr>
        <p:spPr>
          <a:xfrm>
            <a:off x="9038697" y="1826565"/>
            <a:ext cx="0" cy="279339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9" name="S05-label137"/>
          <p:cNvSpPr txBox="1"/>
          <p:nvPr/>
        </p:nvSpPr>
        <p:spPr>
          <a:xfrm>
            <a:off x="9006108" y="469679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10" name="S05-label139"/>
          <p:cNvSpPr txBox="1"/>
          <p:nvPr/>
        </p:nvSpPr>
        <p:spPr>
          <a:xfrm>
            <a:off x="9006108" y="140048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11" name="S05-label141"/>
          <p:cNvSpPr txBox="1"/>
          <p:nvPr/>
        </p:nvSpPr>
        <p:spPr>
          <a:xfrm>
            <a:off x="8226659" y="30486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12" name="S05-stepno142"/>
          <p:cNvSpPr txBox="1"/>
          <p:nvPr/>
        </p:nvSpPr>
        <p:spPr>
          <a:xfrm>
            <a:off x="548640" y="16586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3" name="S05-text143"/>
          <p:cNvSpPr txBox="1"/>
          <p:nvPr/>
        </p:nvSpPr>
        <p:spPr>
          <a:xfrm>
            <a:off x="1325880" y="1612900"/>
            <a:ext cx="5443789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대각선으로 잘라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 2개로 나눠요.</a:t>
            </a:r>
            <a:endParaRPr lang="ko-KR" sz="2200" dirty="0"/>
          </a:p>
        </p:txBody>
      </p:sp>
      <p:sp>
        <p:nvSpPr>
          <p:cNvPr id="14" name="S05-stepno144"/>
          <p:cNvSpPr txBox="1"/>
          <p:nvPr/>
        </p:nvSpPr>
        <p:spPr>
          <a:xfrm>
            <a:off x="548640" y="25049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5" name="S05-text145"/>
          <p:cNvSpPr txBox="1"/>
          <p:nvPr/>
        </p:nvSpPr>
        <p:spPr>
          <a:xfrm>
            <a:off x="1325880" y="2459228"/>
            <a:ext cx="5443789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삼각형</a:t>
            </a:r>
            <a:endParaRPr lang="ko-KR" sz="2200" dirty="0"/>
          </a:p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÷ 2 = 10 (cm²)</a:t>
            </a:r>
            <a:endParaRPr lang="ko-KR" sz="2200" dirty="0"/>
          </a:p>
        </p:txBody>
      </p:sp>
      <p:sp>
        <p:nvSpPr>
          <p:cNvPr id="16" name="S05-stepno146"/>
          <p:cNvSpPr txBox="1"/>
          <p:nvPr/>
        </p:nvSpPr>
        <p:spPr>
          <a:xfrm>
            <a:off x="548640" y="3351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7" name="S05-text147"/>
          <p:cNvSpPr txBox="1"/>
          <p:nvPr/>
        </p:nvSpPr>
        <p:spPr>
          <a:xfrm>
            <a:off x="1325880" y="3305556"/>
            <a:ext cx="5443789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삼각형</a:t>
            </a:r>
            <a:endParaRPr lang="ko-KR" sz="2200" dirty="0"/>
          </a:p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÷ 2 = 6 (cm²)</a:t>
            </a:r>
            <a:endParaRPr lang="ko-KR" sz="2200" dirty="0"/>
          </a:p>
        </p:txBody>
      </p:sp>
      <p:sp>
        <p:nvSpPr>
          <p:cNvPr id="18" name="S05-stepno148"/>
          <p:cNvSpPr txBox="1"/>
          <p:nvPr/>
        </p:nvSpPr>
        <p:spPr>
          <a:xfrm>
            <a:off x="548640" y="4197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9" name="S05-text149"/>
          <p:cNvSpPr txBox="1"/>
          <p:nvPr/>
        </p:nvSpPr>
        <p:spPr>
          <a:xfrm>
            <a:off x="1325880" y="4151884"/>
            <a:ext cx="5443789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+ 6 = 16 (cm²)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방법과 같아요.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차례로 구해 봐요</a:t>
            </a:r>
            <a:endParaRPr lang="ko-KR" sz="4000" dirty="0"/>
          </a:p>
        </p:txBody>
      </p:sp>
      <p:sp>
        <p:nvSpPr>
          <p:cNvPr id="3" name="S06-text1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사다리꼴의 넓이를 차례로 구해요.</a:t>
            </a:r>
            <a:endParaRPr lang="ko-KR" sz="2800" dirty="0"/>
          </a:p>
        </p:txBody>
      </p:sp>
      <p:sp>
        <p:nvSpPr>
          <p:cNvPr id="4" name="S06-mark151"/>
          <p:cNvSpPr/>
          <p:nvPr/>
        </p:nvSpPr>
        <p:spPr>
          <a:xfrm>
            <a:off x="7262662" y="3145559"/>
            <a:ext cx="3392345" cy="1938483"/>
          </a:xfrm>
          <a:custGeom>
            <a:avLst/>
            <a:gdLst/>
            <a:ahLst/>
            <a:cxnLst/>
            <a:rect l="l" t="t" r="r" b="b"/>
            <a:pathLst>
              <a:path w="3392345" h="1938483">
                <a:moveTo>
                  <a:pt x="0" y="1938483"/>
                </a:moveTo>
                <a:lnTo>
                  <a:pt x="3392345" y="1938483"/>
                </a:lnTo>
                <a:lnTo>
                  <a:pt x="193848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6-mark152"/>
          <p:cNvSpPr/>
          <p:nvPr/>
        </p:nvSpPr>
        <p:spPr>
          <a:xfrm flipV="1">
            <a:off x="6778041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6-mark153"/>
          <p:cNvSpPr/>
          <p:nvPr/>
        </p:nvSpPr>
        <p:spPr>
          <a:xfrm flipV="1">
            <a:off x="7262662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6-mark154"/>
          <p:cNvSpPr/>
          <p:nvPr/>
        </p:nvSpPr>
        <p:spPr>
          <a:xfrm flipV="1">
            <a:off x="7747282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6-mark155"/>
          <p:cNvSpPr/>
          <p:nvPr/>
        </p:nvSpPr>
        <p:spPr>
          <a:xfrm flipV="1">
            <a:off x="8231903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6-mark156"/>
          <p:cNvSpPr/>
          <p:nvPr/>
        </p:nvSpPr>
        <p:spPr>
          <a:xfrm flipV="1">
            <a:off x="8716524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6-mark157"/>
          <p:cNvSpPr/>
          <p:nvPr/>
        </p:nvSpPr>
        <p:spPr>
          <a:xfrm flipV="1">
            <a:off x="9201144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6-mark158"/>
          <p:cNvSpPr/>
          <p:nvPr/>
        </p:nvSpPr>
        <p:spPr>
          <a:xfrm flipV="1">
            <a:off x="9685765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6-mark159"/>
          <p:cNvSpPr/>
          <p:nvPr/>
        </p:nvSpPr>
        <p:spPr>
          <a:xfrm flipV="1">
            <a:off x="10170386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6-mark160"/>
          <p:cNvSpPr/>
          <p:nvPr/>
        </p:nvSpPr>
        <p:spPr>
          <a:xfrm flipV="1">
            <a:off x="10655006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6-mark161"/>
          <p:cNvSpPr/>
          <p:nvPr/>
        </p:nvSpPr>
        <p:spPr>
          <a:xfrm flipV="1">
            <a:off x="11139627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6-mark162"/>
          <p:cNvSpPr/>
          <p:nvPr/>
        </p:nvSpPr>
        <p:spPr>
          <a:xfrm>
            <a:off x="6778041" y="5568662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6-mark163"/>
          <p:cNvSpPr/>
          <p:nvPr/>
        </p:nvSpPr>
        <p:spPr>
          <a:xfrm>
            <a:off x="6778041" y="5084041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6-mark164"/>
          <p:cNvSpPr/>
          <p:nvPr/>
        </p:nvSpPr>
        <p:spPr>
          <a:xfrm>
            <a:off x="6778041" y="4599421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6-mark165"/>
          <p:cNvSpPr/>
          <p:nvPr/>
        </p:nvSpPr>
        <p:spPr>
          <a:xfrm>
            <a:off x="6778041" y="4114800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6-mark166"/>
          <p:cNvSpPr/>
          <p:nvPr/>
        </p:nvSpPr>
        <p:spPr>
          <a:xfrm>
            <a:off x="6778041" y="3630179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6-mark167"/>
          <p:cNvSpPr/>
          <p:nvPr/>
        </p:nvSpPr>
        <p:spPr>
          <a:xfrm>
            <a:off x="6778041" y="3145559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6-mark168"/>
          <p:cNvSpPr/>
          <p:nvPr/>
        </p:nvSpPr>
        <p:spPr>
          <a:xfrm>
            <a:off x="6778041" y="2660938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6-figure169" descr="모눈 위의 직각 사다리꼴: 윗변 4 cm, 아랫변 7 cm, 왼쪽 변이 높이 4 cm(직각 표시)"/>
          <p:cNvSpPr/>
          <p:nvPr/>
        </p:nvSpPr>
        <p:spPr>
          <a:xfrm>
            <a:off x="7262662" y="3145559"/>
            <a:ext cx="3392345" cy="1938483"/>
          </a:xfrm>
          <a:custGeom>
            <a:avLst/>
            <a:gdLst/>
            <a:ahLst/>
            <a:cxnLst/>
            <a:rect l="l" t="t" r="r" b="b"/>
            <a:pathLst>
              <a:path w="3392345" h="1938483">
                <a:moveTo>
                  <a:pt x="0" y="1938483"/>
                </a:moveTo>
                <a:lnTo>
                  <a:pt x="3392345" y="1938483"/>
                </a:lnTo>
                <a:lnTo>
                  <a:pt x="1938483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6-mark170"/>
          <p:cNvSpPr/>
          <p:nvPr/>
        </p:nvSpPr>
        <p:spPr>
          <a:xfrm>
            <a:off x="7262662" y="4874491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label172"/>
          <p:cNvSpPr txBox="1"/>
          <p:nvPr/>
        </p:nvSpPr>
        <p:spPr>
          <a:xfrm>
            <a:off x="8577072" y="5160876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 cm</a:t>
            </a:r>
            <a:endParaRPr lang="ko-KR" sz="2200" dirty="0"/>
          </a:p>
        </p:txBody>
      </p:sp>
      <p:sp>
        <p:nvSpPr>
          <p:cNvPr id="25" name="S06-label174"/>
          <p:cNvSpPr txBox="1"/>
          <p:nvPr/>
        </p:nvSpPr>
        <p:spPr>
          <a:xfrm>
            <a:off x="7850141" y="271947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26" name="S06-label176"/>
          <p:cNvSpPr txBox="1"/>
          <p:nvPr/>
        </p:nvSpPr>
        <p:spPr>
          <a:xfrm>
            <a:off x="6450624" y="39401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27" name="S06-chip17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8" name="S06-text178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윗변 + 아랫변은?</a:t>
            </a:r>
            <a:endParaRPr lang="ko-KR" sz="2800" dirty="0"/>
          </a:p>
        </p:txBody>
      </p:sp>
      <p:sp>
        <p:nvSpPr>
          <p:cNvPr id="29" name="S06-chip17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0" name="S06-text180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(윗변 + 아랫변) × 높이는?</a:t>
            </a:r>
            <a:endParaRPr lang="ko-KR" sz="2800" dirty="0"/>
          </a:p>
        </p:txBody>
      </p:sp>
      <p:sp>
        <p:nvSpPr>
          <p:cNvPr id="31" name="S06-chip18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2" name="S06-text182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사다리꼴의 넓이는?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길이가 높이일까요?</a:t>
            </a:r>
            <a:endParaRPr lang="ko-KR" sz="4000" dirty="0"/>
          </a:p>
        </p:txBody>
      </p:sp>
      <p:sp>
        <p:nvSpPr>
          <p:cNvPr id="3" name="S07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계산이 맞을까요? 까닭을 말해요.</a:t>
            </a:r>
            <a:endParaRPr lang="ko-KR" sz="2800" dirty="0"/>
          </a:p>
        </p:txBody>
      </p:sp>
      <p:sp>
        <p:nvSpPr>
          <p:cNvPr id="5" name="S07-mark185"/>
          <p:cNvSpPr/>
          <p:nvPr/>
        </p:nvSpPr>
        <p:spPr>
          <a:xfrm>
            <a:off x="1494587" y="2332736"/>
            <a:ext cx="4007358" cy="1781048"/>
          </a:xfrm>
          <a:custGeom>
            <a:avLst/>
            <a:gdLst/>
            <a:ahLst/>
            <a:cxnLst/>
            <a:rect l="l" t="t" r="r" b="b"/>
            <a:pathLst>
              <a:path w="4007358" h="1781048">
                <a:moveTo>
                  <a:pt x="0" y="1781048"/>
                </a:moveTo>
                <a:lnTo>
                  <a:pt x="4007358" y="1781048"/>
                </a:lnTo>
                <a:lnTo>
                  <a:pt x="2671572" y="0"/>
                </a:lnTo>
                <a:lnTo>
                  <a:pt x="1335786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7-mark186"/>
          <p:cNvSpPr/>
          <p:nvPr/>
        </p:nvSpPr>
        <p:spPr>
          <a:xfrm flipV="1">
            <a:off x="1049325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7-mark187"/>
          <p:cNvSpPr/>
          <p:nvPr/>
        </p:nvSpPr>
        <p:spPr>
          <a:xfrm flipV="1">
            <a:off x="1494587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7-mark188"/>
          <p:cNvSpPr/>
          <p:nvPr/>
        </p:nvSpPr>
        <p:spPr>
          <a:xfrm flipV="1">
            <a:off x="1939849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7-mark189"/>
          <p:cNvSpPr/>
          <p:nvPr/>
        </p:nvSpPr>
        <p:spPr>
          <a:xfrm flipV="1">
            <a:off x="2385111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7-mark190"/>
          <p:cNvSpPr/>
          <p:nvPr/>
        </p:nvSpPr>
        <p:spPr>
          <a:xfrm flipV="1">
            <a:off x="2830373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7-mark191"/>
          <p:cNvSpPr/>
          <p:nvPr/>
        </p:nvSpPr>
        <p:spPr>
          <a:xfrm flipV="1">
            <a:off x="3275635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7-mark192"/>
          <p:cNvSpPr/>
          <p:nvPr/>
        </p:nvSpPr>
        <p:spPr>
          <a:xfrm flipV="1">
            <a:off x="3720897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7-mark193"/>
          <p:cNvSpPr/>
          <p:nvPr/>
        </p:nvSpPr>
        <p:spPr>
          <a:xfrm flipV="1">
            <a:off x="4166159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7-mark194"/>
          <p:cNvSpPr/>
          <p:nvPr/>
        </p:nvSpPr>
        <p:spPr>
          <a:xfrm flipV="1">
            <a:off x="4611421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7-mark195"/>
          <p:cNvSpPr/>
          <p:nvPr/>
        </p:nvSpPr>
        <p:spPr>
          <a:xfrm flipV="1">
            <a:off x="5056683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7-mark196"/>
          <p:cNvSpPr/>
          <p:nvPr/>
        </p:nvSpPr>
        <p:spPr>
          <a:xfrm flipV="1">
            <a:off x="5501945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7-mark197"/>
          <p:cNvSpPr/>
          <p:nvPr/>
        </p:nvSpPr>
        <p:spPr>
          <a:xfrm flipV="1">
            <a:off x="5947207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7-mark198"/>
          <p:cNvSpPr/>
          <p:nvPr/>
        </p:nvSpPr>
        <p:spPr>
          <a:xfrm>
            <a:off x="1049325" y="4559046"/>
            <a:ext cx="489788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7-mark199"/>
          <p:cNvSpPr/>
          <p:nvPr/>
        </p:nvSpPr>
        <p:spPr>
          <a:xfrm>
            <a:off x="1049325" y="4113784"/>
            <a:ext cx="489788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7-mark200"/>
          <p:cNvSpPr/>
          <p:nvPr/>
        </p:nvSpPr>
        <p:spPr>
          <a:xfrm>
            <a:off x="1049325" y="3668522"/>
            <a:ext cx="489788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7-mark201"/>
          <p:cNvSpPr/>
          <p:nvPr/>
        </p:nvSpPr>
        <p:spPr>
          <a:xfrm>
            <a:off x="1049325" y="3223260"/>
            <a:ext cx="489788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7-mark202"/>
          <p:cNvSpPr/>
          <p:nvPr/>
        </p:nvSpPr>
        <p:spPr>
          <a:xfrm>
            <a:off x="1049325" y="2777998"/>
            <a:ext cx="489788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7-mark203"/>
          <p:cNvSpPr/>
          <p:nvPr/>
        </p:nvSpPr>
        <p:spPr>
          <a:xfrm>
            <a:off x="1049325" y="2332736"/>
            <a:ext cx="489788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7-mark204"/>
          <p:cNvSpPr/>
          <p:nvPr/>
        </p:nvSpPr>
        <p:spPr>
          <a:xfrm>
            <a:off x="1049325" y="1887474"/>
            <a:ext cx="489788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7-figure205" descr="모눈 위의 사다리꼴: 윗변 3 cm, 아랫변 9 cm, 기울어진 옆변 5 cm, 점선으로 그은 높이 4 cm"/>
          <p:cNvSpPr/>
          <p:nvPr/>
        </p:nvSpPr>
        <p:spPr>
          <a:xfrm>
            <a:off x="1494587" y="2332736"/>
            <a:ext cx="4007358" cy="1781048"/>
          </a:xfrm>
          <a:custGeom>
            <a:avLst/>
            <a:gdLst/>
            <a:ahLst/>
            <a:cxnLst/>
            <a:rect l="l" t="t" r="r" b="b"/>
            <a:pathLst>
              <a:path w="4007358" h="1781048">
                <a:moveTo>
                  <a:pt x="0" y="1781048"/>
                </a:moveTo>
                <a:lnTo>
                  <a:pt x="4007358" y="1781048"/>
                </a:lnTo>
                <a:lnTo>
                  <a:pt x="2671572" y="0"/>
                </a:lnTo>
                <a:lnTo>
                  <a:pt x="1335786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7-mark206"/>
          <p:cNvSpPr/>
          <p:nvPr/>
        </p:nvSpPr>
        <p:spPr>
          <a:xfrm>
            <a:off x="2830373" y="3904234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7-mark207"/>
          <p:cNvSpPr/>
          <p:nvPr/>
        </p:nvSpPr>
        <p:spPr>
          <a:xfrm>
            <a:off x="2830373" y="2332736"/>
            <a:ext cx="0" cy="1781048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28" name="S07-label209"/>
          <p:cNvSpPr txBox="1"/>
          <p:nvPr/>
        </p:nvSpPr>
        <p:spPr>
          <a:xfrm>
            <a:off x="3116504" y="419061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 cm</a:t>
            </a:r>
            <a:endParaRPr lang="ko-KR" sz="2200" dirty="0"/>
          </a:p>
        </p:txBody>
      </p:sp>
      <p:sp>
        <p:nvSpPr>
          <p:cNvPr id="29" name="S07-label211"/>
          <p:cNvSpPr txBox="1"/>
          <p:nvPr/>
        </p:nvSpPr>
        <p:spPr>
          <a:xfrm>
            <a:off x="3116504" y="1906651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30" name="S07-label213"/>
          <p:cNvSpPr txBox="1"/>
          <p:nvPr/>
        </p:nvSpPr>
        <p:spPr>
          <a:xfrm>
            <a:off x="1411463" y="277169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31" name="S07-label215"/>
          <p:cNvSpPr txBox="1"/>
          <p:nvPr/>
        </p:nvSpPr>
        <p:spPr>
          <a:xfrm>
            <a:off x="2878887" y="30486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32" name="S07-card216"/>
          <p:cNvSpPr/>
          <p:nvPr/>
        </p:nvSpPr>
        <p:spPr>
          <a:xfrm>
            <a:off x="6813652" y="1928876"/>
            <a:ext cx="4826660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07-cardtext217"/>
          <p:cNvSpPr txBox="1"/>
          <p:nvPr/>
        </p:nvSpPr>
        <p:spPr>
          <a:xfrm>
            <a:off x="7087972" y="2066036"/>
            <a:ext cx="4278020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30 cm²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 + 9) × 5 ÷ 2</a:t>
            </a:r>
            <a:endParaRPr lang="ko-KR" sz="2800" dirty="0"/>
          </a:p>
        </p:txBody>
      </p:sp>
      <p:sp>
        <p:nvSpPr>
          <p:cNvPr id="34" name="S07-card218"/>
          <p:cNvSpPr/>
          <p:nvPr/>
        </p:nvSpPr>
        <p:spPr>
          <a:xfrm>
            <a:off x="6813652" y="3337560"/>
            <a:ext cx="4826660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5" name="S07-cardtext219"/>
          <p:cNvSpPr txBox="1"/>
          <p:nvPr/>
        </p:nvSpPr>
        <p:spPr>
          <a:xfrm>
            <a:off x="7087972" y="3474720"/>
            <a:ext cx="4278020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24 cm²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 + 9) × 4 ÷ 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마름모를 둘러싼 직사각형</a:t>
            </a:r>
            <a:endParaRPr lang="ko-KR" sz="4000" dirty="0"/>
          </a:p>
        </p:txBody>
      </p:sp>
      <p:sp>
        <p:nvSpPr>
          <p:cNvPr id="3" name="S08-mark220"/>
          <p:cNvSpPr/>
          <p:nvPr/>
        </p:nvSpPr>
        <p:spPr>
          <a:xfrm>
            <a:off x="7198294" y="2526701"/>
            <a:ext cx="3735598" cy="2490399"/>
          </a:xfrm>
          <a:custGeom>
            <a:avLst/>
            <a:gdLst/>
            <a:ahLst/>
            <a:cxnLst/>
            <a:rect l="l" t="t" r="r" b="b"/>
            <a:pathLst>
              <a:path w="3735598" h="2490399">
                <a:moveTo>
                  <a:pt x="0" y="2490399"/>
                </a:moveTo>
                <a:lnTo>
                  <a:pt x="3735598" y="2490399"/>
                </a:lnTo>
                <a:lnTo>
                  <a:pt x="3735598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4" name="S08-mark221"/>
          <p:cNvSpPr/>
          <p:nvPr/>
        </p:nvSpPr>
        <p:spPr>
          <a:xfrm>
            <a:off x="7198294" y="2526701"/>
            <a:ext cx="3735598" cy="2490399"/>
          </a:xfrm>
          <a:custGeom>
            <a:avLst/>
            <a:gdLst/>
            <a:ahLst/>
            <a:cxnLst/>
            <a:rect l="l" t="t" r="r" b="b"/>
            <a:pathLst>
              <a:path w="3735598" h="2490399">
                <a:moveTo>
                  <a:pt x="0" y="1245199"/>
                </a:moveTo>
                <a:lnTo>
                  <a:pt x="1867799" y="2490399"/>
                </a:lnTo>
                <a:lnTo>
                  <a:pt x="3735598" y="1245199"/>
                </a:lnTo>
                <a:lnTo>
                  <a:pt x="1867799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8-mark222"/>
          <p:cNvSpPr/>
          <p:nvPr/>
        </p:nvSpPr>
        <p:spPr>
          <a:xfrm flipV="1">
            <a:off x="6575694" y="1904101"/>
            <a:ext cx="0" cy="373559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8-mark223"/>
          <p:cNvSpPr/>
          <p:nvPr/>
        </p:nvSpPr>
        <p:spPr>
          <a:xfrm flipV="1">
            <a:off x="7198294" y="1904101"/>
            <a:ext cx="0" cy="373559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8-mark224"/>
          <p:cNvSpPr/>
          <p:nvPr/>
        </p:nvSpPr>
        <p:spPr>
          <a:xfrm flipV="1">
            <a:off x="7820894" y="1904101"/>
            <a:ext cx="0" cy="373559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8-mark225"/>
          <p:cNvSpPr/>
          <p:nvPr/>
        </p:nvSpPr>
        <p:spPr>
          <a:xfrm flipV="1">
            <a:off x="8443493" y="1904101"/>
            <a:ext cx="0" cy="373559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8-mark226"/>
          <p:cNvSpPr/>
          <p:nvPr/>
        </p:nvSpPr>
        <p:spPr>
          <a:xfrm flipV="1">
            <a:off x="9066093" y="1904101"/>
            <a:ext cx="0" cy="373559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8-mark227"/>
          <p:cNvSpPr/>
          <p:nvPr/>
        </p:nvSpPr>
        <p:spPr>
          <a:xfrm flipV="1">
            <a:off x="9688693" y="1904101"/>
            <a:ext cx="0" cy="373559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228"/>
          <p:cNvSpPr/>
          <p:nvPr/>
        </p:nvSpPr>
        <p:spPr>
          <a:xfrm flipV="1">
            <a:off x="10311293" y="1904101"/>
            <a:ext cx="0" cy="373559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229"/>
          <p:cNvSpPr/>
          <p:nvPr/>
        </p:nvSpPr>
        <p:spPr>
          <a:xfrm flipV="1">
            <a:off x="10933892" y="1904101"/>
            <a:ext cx="0" cy="373559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230"/>
          <p:cNvSpPr/>
          <p:nvPr/>
        </p:nvSpPr>
        <p:spPr>
          <a:xfrm flipV="1">
            <a:off x="11556492" y="1904101"/>
            <a:ext cx="0" cy="373559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231"/>
          <p:cNvSpPr/>
          <p:nvPr/>
        </p:nvSpPr>
        <p:spPr>
          <a:xfrm>
            <a:off x="6575694" y="5639699"/>
            <a:ext cx="498079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8-mark232"/>
          <p:cNvSpPr/>
          <p:nvPr/>
        </p:nvSpPr>
        <p:spPr>
          <a:xfrm>
            <a:off x="6575694" y="5017099"/>
            <a:ext cx="498079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8-mark233"/>
          <p:cNvSpPr/>
          <p:nvPr/>
        </p:nvSpPr>
        <p:spPr>
          <a:xfrm>
            <a:off x="6575694" y="4394500"/>
            <a:ext cx="498079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8-mark234"/>
          <p:cNvSpPr/>
          <p:nvPr/>
        </p:nvSpPr>
        <p:spPr>
          <a:xfrm>
            <a:off x="6575694" y="3771900"/>
            <a:ext cx="498079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8-mark235"/>
          <p:cNvSpPr/>
          <p:nvPr/>
        </p:nvSpPr>
        <p:spPr>
          <a:xfrm>
            <a:off x="6575694" y="3149300"/>
            <a:ext cx="498079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8-mark236"/>
          <p:cNvSpPr/>
          <p:nvPr/>
        </p:nvSpPr>
        <p:spPr>
          <a:xfrm>
            <a:off x="6575694" y="2526701"/>
            <a:ext cx="498079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8-mark237"/>
          <p:cNvSpPr/>
          <p:nvPr/>
        </p:nvSpPr>
        <p:spPr>
          <a:xfrm>
            <a:off x="6575694" y="1904101"/>
            <a:ext cx="498079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8-figure238" descr="모눈 위의 마름모(대각선 6 cm, 4 cm)와 마름모의 네 꼭짓점을 지나는 직사각형(가로 6 cm, 세로 4 cm, 점선). 마름모 밖의 네 귀퉁이는 노란색"/>
          <p:cNvSpPr/>
          <p:nvPr/>
        </p:nvSpPr>
        <p:spPr>
          <a:xfrm>
            <a:off x="7198294" y="2526701"/>
            <a:ext cx="3735598" cy="2490399"/>
          </a:xfrm>
          <a:custGeom>
            <a:avLst/>
            <a:gdLst/>
            <a:ahLst/>
            <a:cxnLst/>
            <a:rect l="l" t="t" r="r" b="b"/>
            <a:pathLst>
              <a:path w="3735598" h="2490399">
                <a:moveTo>
                  <a:pt x="0" y="2490399"/>
                </a:moveTo>
                <a:lnTo>
                  <a:pt x="3735598" y="2490399"/>
                </a:lnTo>
                <a:lnTo>
                  <a:pt x="3735598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2" name="S08-mark239"/>
          <p:cNvSpPr/>
          <p:nvPr/>
        </p:nvSpPr>
        <p:spPr>
          <a:xfrm>
            <a:off x="7198294" y="2526701"/>
            <a:ext cx="3735598" cy="2490399"/>
          </a:xfrm>
          <a:custGeom>
            <a:avLst/>
            <a:gdLst/>
            <a:ahLst/>
            <a:cxnLst/>
            <a:rect l="l" t="t" r="r" b="b"/>
            <a:pathLst>
              <a:path w="3735598" h="2490399">
                <a:moveTo>
                  <a:pt x="0" y="1245199"/>
                </a:moveTo>
                <a:lnTo>
                  <a:pt x="1867799" y="2490399"/>
                </a:lnTo>
                <a:lnTo>
                  <a:pt x="3735598" y="1245199"/>
                </a:lnTo>
                <a:lnTo>
                  <a:pt x="1867799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8-mark240"/>
          <p:cNvSpPr/>
          <p:nvPr/>
        </p:nvSpPr>
        <p:spPr>
          <a:xfrm>
            <a:off x="7198294" y="3771900"/>
            <a:ext cx="3735598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24" name="S08-mark241"/>
          <p:cNvSpPr/>
          <p:nvPr/>
        </p:nvSpPr>
        <p:spPr>
          <a:xfrm flipV="1">
            <a:off x="9066093" y="2526701"/>
            <a:ext cx="0" cy="2490399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25" name="S08-label243"/>
          <p:cNvSpPr txBox="1"/>
          <p:nvPr/>
        </p:nvSpPr>
        <p:spPr>
          <a:xfrm>
            <a:off x="8248511" y="403309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26" name="S08-label245"/>
          <p:cNvSpPr txBox="1"/>
          <p:nvPr/>
        </p:nvSpPr>
        <p:spPr>
          <a:xfrm>
            <a:off x="9120151" y="316145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27" name="S08-stepno246"/>
          <p:cNvSpPr txBox="1"/>
          <p:nvPr/>
        </p:nvSpPr>
        <p:spPr>
          <a:xfrm>
            <a:off x="548640" y="16184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8" name="S08-text247"/>
          <p:cNvSpPr txBox="1"/>
          <p:nvPr/>
        </p:nvSpPr>
        <p:spPr>
          <a:xfrm>
            <a:off x="1325880" y="1572768"/>
            <a:ext cx="480023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대각선의 길이로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직사각형을 그려요.</a:t>
            </a:r>
            <a:endParaRPr lang="ko-KR" sz="2800" dirty="0"/>
          </a:p>
        </p:txBody>
      </p:sp>
      <p:sp>
        <p:nvSpPr>
          <p:cNvPr id="29" name="S08-stepno248"/>
          <p:cNvSpPr txBox="1"/>
          <p:nvPr/>
        </p:nvSpPr>
        <p:spPr>
          <a:xfrm>
            <a:off x="548640" y="26507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0" name="S08-text249"/>
          <p:cNvSpPr txBox="1"/>
          <p:nvPr/>
        </p:nvSpPr>
        <p:spPr>
          <a:xfrm>
            <a:off x="1325880" y="2605024"/>
            <a:ext cx="480023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넓이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 = 24 (cm²)</a:t>
            </a:r>
            <a:endParaRPr lang="ko-KR" sz="2800" dirty="0"/>
          </a:p>
        </p:txBody>
      </p:sp>
      <p:sp>
        <p:nvSpPr>
          <p:cNvPr id="31" name="S08-stepno250"/>
          <p:cNvSpPr txBox="1"/>
          <p:nvPr/>
        </p:nvSpPr>
        <p:spPr>
          <a:xfrm>
            <a:off x="548640" y="36830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2" name="S08-text251"/>
          <p:cNvSpPr txBox="1"/>
          <p:nvPr/>
        </p:nvSpPr>
        <p:spPr>
          <a:xfrm>
            <a:off x="1325880" y="3637280"/>
            <a:ext cx="4800234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 안 조각 4개와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밖의 노란 조각 4개가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똑같아요.</a:t>
            </a:r>
            <a:endParaRPr lang="ko-KR" sz="2800" dirty="0"/>
          </a:p>
        </p:txBody>
      </p:sp>
      <p:sp>
        <p:nvSpPr>
          <p:cNvPr id="33" name="S08-stepno252"/>
          <p:cNvSpPr txBox="1"/>
          <p:nvPr/>
        </p:nvSpPr>
        <p:spPr>
          <a:xfrm>
            <a:off x="548640" y="51490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34" name="S08-text253"/>
          <p:cNvSpPr txBox="1"/>
          <p:nvPr/>
        </p:nvSpPr>
        <p:spPr>
          <a:xfrm>
            <a:off x="1325880" y="5103368"/>
            <a:ext cx="480023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마름모는 그 절반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2 = 12 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마름모의 넓이 구하는 식</a:t>
            </a:r>
            <a:endParaRPr lang="ko-KR" sz="4000" dirty="0"/>
          </a:p>
        </p:txBody>
      </p:sp>
      <p:sp>
        <p:nvSpPr>
          <p:cNvPr id="3" name="S09-text2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대각선으로 잘라 삼각형 2개를 만들어요.</a:t>
            </a:r>
            <a:endParaRPr lang="ko-KR" sz="2800" dirty="0"/>
          </a:p>
        </p:txBody>
      </p:sp>
      <p:sp>
        <p:nvSpPr>
          <p:cNvPr id="4" name="S09-figure255" descr="마름모를 가로 대각선(6 cm)으로 잘라 만든 삼각형 2개: 위 삼각형과 아래 삼각형의 높이는 각각 2 cm(점선)"/>
          <p:cNvSpPr/>
          <p:nvPr/>
        </p:nvSpPr>
        <p:spPr>
          <a:xfrm>
            <a:off x="1049325" y="2803950"/>
            <a:ext cx="3932550" cy="1310850"/>
          </a:xfrm>
          <a:custGeom>
            <a:avLst/>
            <a:gdLst/>
            <a:ahLst/>
            <a:cxnLst/>
            <a:rect l="l" t="t" r="r" b="b"/>
            <a:pathLst>
              <a:path w="3932550" h="1310850">
                <a:moveTo>
                  <a:pt x="0" y="1310850"/>
                </a:moveTo>
                <a:lnTo>
                  <a:pt x="3932550" y="1310850"/>
                </a:lnTo>
                <a:lnTo>
                  <a:pt x="196627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9-mark256"/>
          <p:cNvSpPr/>
          <p:nvPr/>
        </p:nvSpPr>
        <p:spPr>
          <a:xfrm>
            <a:off x="1049325" y="4114800"/>
            <a:ext cx="3932550" cy="1310850"/>
          </a:xfrm>
          <a:custGeom>
            <a:avLst/>
            <a:gdLst/>
            <a:ahLst/>
            <a:cxnLst/>
            <a:rect l="l" t="t" r="r" b="b"/>
            <a:pathLst>
              <a:path w="3932550" h="1310850">
                <a:moveTo>
                  <a:pt x="0" y="0"/>
                </a:moveTo>
                <a:lnTo>
                  <a:pt x="1966275" y="1310850"/>
                </a:lnTo>
                <a:lnTo>
                  <a:pt x="393255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9-mark257"/>
          <p:cNvSpPr/>
          <p:nvPr/>
        </p:nvSpPr>
        <p:spPr>
          <a:xfrm>
            <a:off x="2806050" y="390525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0"/>
                </a:moveTo>
                <a:lnTo>
                  <a:pt x="0" y="0"/>
                </a:lnTo>
                <a:lnTo>
                  <a:pt x="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" name="S09-mark258"/>
          <p:cNvSpPr/>
          <p:nvPr/>
        </p:nvSpPr>
        <p:spPr>
          <a:xfrm>
            <a:off x="3015600" y="2803950"/>
            <a:ext cx="0" cy="131085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8" name="S09-mark259"/>
          <p:cNvSpPr/>
          <p:nvPr/>
        </p:nvSpPr>
        <p:spPr>
          <a:xfrm>
            <a:off x="3015600" y="4114800"/>
            <a:ext cx="0" cy="131085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9" name="S09-label261"/>
          <p:cNvSpPr txBox="1"/>
          <p:nvPr/>
        </p:nvSpPr>
        <p:spPr>
          <a:xfrm>
            <a:off x="3064114" y="328475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cm</a:t>
            </a:r>
            <a:endParaRPr lang="ko-KR" sz="2200" dirty="0"/>
          </a:p>
        </p:txBody>
      </p:sp>
      <p:sp>
        <p:nvSpPr>
          <p:cNvPr id="10" name="S09-label263"/>
          <p:cNvSpPr txBox="1"/>
          <p:nvPr/>
        </p:nvSpPr>
        <p:spPr>
          <a:xfrm>
            <a:off x="3064114" y="459560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cm</a:t>
            </a:r>
            <a:endParaRPr lang="ko-KR" sz="2200" dirty="0"/>
          </a:p>
        </p:txBody>
      </p:sp>
      <p:sp>
        <p:nvSpPr>
          <p:cNvPr id="11" name="S09-label265"/>
          <p:cNvSpPr txBox="1"/>
          <p:nvPr/>
        </p:nvSpPr>
        <p:spPr>
          <a:xfrm>
            <a:off x="2175040" y="348137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12" name="S09-card266"/>
          <p:cNvSpPr/>
          <p:nvPr/>
        </p:nvSpPr>
        <p:spPr>
          <a:xfrm>
            <a:off x="5848320" y="2812034"/>
            <a:ext cx="579199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9-cardtext267"/>
          <p:cNvSpPr txBox="1"/>
          <p:nvPr/>
        </p:nvSpPr>
        <p:spPr>
          <a:xfrm>
            <a:off x="6122640" y="2949194"/>
            <a:ext cx="524335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 한 개: 6 × 2 ÷ 2 = 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개: 6 + 6 = 12 (cm²)</a:t>
            </a:r>
            <a:endParaRPr lang="ko-KR" sz="2800" dirty="0"/>
          </a:p>
        </p:txBody>
      </p:sp>
      <p:sp>
        <p:nvSpPr>
          <p:cNvPr id="14" name="S09-card268"/>
          <p:cNvSpPr/>
          <p:nvPr/>
        </p:nvSpPr>
        <p:spPr>
          <a:xfrm>
            <a:off x="5848320" y="4237482"/>
            <a:ext cx="579199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09-cardtext269"/>
          <p:cNvSpPr txBox="1"/>
          <p:nvPr/>
        </p:nvSpPr>
        <p:spPr>
          <a:xfrm>
            <a:off x="6122640" y="4374642"/>
            <a:ext cx="524335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마름모의 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대각선 × 다른 대각선 ÷ 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마름모의 넓이를 구해요</a:t>
            </a:r>
            <a:endParaRPr lang="ko-KR" sz="4000" dirty="0"/>
          </a:p>
        </p:txBody>
      </p:sp>
      <p:sp>
        <p:nvSpPr>
          <p:cNvPr id="3" name="S10-card2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가와 나의 넓이를 식으로 구해요. 나의 모눈 한 칸은 1 cm예요.</a:t>
            </a:r>
            <a:endParaRPr lang="ko-KR" sz="2800" dirty="0"/>
          </a:p>
        </p:txBody>
      </p:sp>
      <p:sp>
        <p:nvSpPr>
          <p:cNvPr id="5" name="S10-chip272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0-figure273" descr="마름모: 대각선 8 cm(가로)와 6 cm(세로), 한 변 5 cm"/>
          <p:cNvSpPr/>
          <p:nvPr/>
        </p:nvSpPr>
        <p:spPr>
          <a:xfrm>
            <a:off x="1837250" y="2530653"/>
            <a:ext cx="2785737" cy="2089302"/>
          </a:xfrm>
          <a:custGeom>
            <a:avLst/>
            <a:gdLst/>
            <a:ahLst/>
            <a:cxnLst/>
            <a:rect l="l" t="t" r="r" b="b"/>
            <a:pathLst>
              <a:path w="2785737" h="2089302">
                <a:moveTo>
                  <a:pt x="0" y="1044651"/>
                </a:moveTo>
                <a:lnTo>
                  <a:pt x="1392868" y="2089302"/>
                </a:lnTo>
                <a:lnTo>
                  <a:pt x="2785737" y="1044651"/>
                </a:lnTo>
                <a:lnTo>
                  <a:pt x="1392868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0-mark274"/>
          <p:cNvSpPr/>
          <p:nvPr/>
        </p:nvSpPr>
        <p:spPr>
          <a:xfrm>
            <a:off x="1837250" y="3575304"/>
            <a:ext cx="2785737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8" name="S10-mark275"/>
          <p:cNvSpPr/>
          <p:nvPr/>
        </p:nvSpPr>
        <p:spPr>
          <a:xfrm flipV="1">
            <a:off x="3230118" y="2530653"/>
            <a:ext cx="0" cy="2089302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9" name="S10-label277"/>
          <p:cNvSpPr txBox="1"/>
          <p:nvPr/>
        </p:nvSpPr>
        <p:spPr>
          <a:xfrm>
            <a:off x="1896439" y="426364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10" name="S10-label279"/>
          <p:cNvSpPr txBox="1"/>
          <p:nvPr/>
        </p:nvSpPr>
        <p:spPr>
          <a:xfrm>
            <a:off x="2500139" y="3748896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 cm</a:t>
            </a:r>
            <a:endParaRPr lang="ko-KR" sz="2200" dirty="0"/>
          </a:p>
        </p:txBody>
      </p:sp>
      <p:sp>
        <p:nvSpPr>
          <p:cNvPr id="11" name="S10-label281"/>
          <p:cNvSpPr txBox="1"/>
          <p:nvPr/>
        </p:nvSpPr>
        <p:spPr>
          <a:xfrm>
            <a:off x="3196573" y="305246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12" name="S10-chip282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3" name="S10-mark283"/>
          <p:cNvSpPr/>
          <p:nvPr/>
        </p:nvSpPr>
        <p:spPr>
          <a:xfrm>
            <a:off x="7010146" y="2600960"/>
            <a:ext cx="3897376" cy="1948688"/>
          </a:xfrm>
          <a:custGeom>
            <a:avLst/>
            <a:gdLst/>
            <a:ahLst/>
            <a:cxnLst/>
            <a:rect l="l" t="t" r="r" b="b"/>
            <a:pathLst>
              <a:path w="3897376" h="1948688">
                <a:moveTo>
                  <a:pt x="0" y="974344"/>
                </a:moveTo>
                <a:lnTo>
                  <a:pt x="1948688" y="1948688"/>
                </a:lnTo>
                <a:lnTo>
                  <a:pt x="3897376" y="974344"/>
                </a:lnTo>
                <a:lnTo>
                  <a:pt x="1948688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4" name="S10-mark284"/>
          <p:cNvSpPr/>
          <p:nvPr/>
        </p:nvSpPr>
        <p:spPr>
          <a:xfrm flipV="1">
            <a:off x="6522974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0-mark285"/>
          <p:cNvSpPr/>
          <p:nvPr/>
        </p:nvSpPr>
        <p:spPr>
          <a:xfrm flipV="1">
            <a:off x="7010146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0-mark286"/>
          <p:cNvSpPr/>
          <p:nvPr/>
        </p:nvSpPr>
        <p:spPr>
          <a:xfrm flipV="1">
            <a:off x="7497318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0-mark287"/>
          <p:cNvSpPr/>
          <p:nvPr/>
        </p:nvSpPr>
        <p:spPr>
          <a:xfrm flipV="1">
            <a:off x="7984490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0-mark288"/>
          <p:cNvSpPr/>
          <p:nvPr/>
        </p:nvSpPr>
        <p:spPr>
          <a:xfrm flipV="1">
            <a:off x="8471662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0-mark289"/>
          <p:cNvSpPr/>
          <p:nvPr/>
        </p:nvSpPr>
        <p:spPr>
          <a:xfrm flipV="1">
            <a:off x="8958834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0-mark290"/>
          <p:cNvSpPr/>
          <p:nvPr/>
        </p:nvSpPr>
        <p:spPr>
          <a:xfrm flipV="1">
            <a:off x="9446006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0-mark291"/>
          <p:cNvSpPr/>
          <p:nvPr/>
        </p:nvSpPr>
        <p:spPr>
          <a:xfrm flipV="1">
            <a:off x="9933178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0-mark292"/>
          <p:cNvSpPr/>
          <p:nvPr/>
        </p:nvSpPr>
        <p:spPr>
          <a:xfrm flipV="1">
            <a:off x="10420350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0-mark293"/>
          <p:cNvSpPr/>
          <p:nvPr/>
        </p:nvSpPr>
        <p:spPr>
          <a:xfrm flipV="1">
            <a:off x="10907522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0-mark294"/>
          <p:cNvSpPr/>
          <p:nvPr/>
        </p:nvSpPr>
        <p:spPr>
          <a:xfrm flipV="1">
            <a:off x="11394694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0-mark295"/>
          <p:cNvSpPr/>
          <p:nvPr/>
        </p:nvSpPr>
        <p:spPr>
          <a:xfrm>
            <a:off x="6522974" y="5036820"/>
            <a:ext cx="48717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0-mark296"/>
          <p:cNvSpPr/>
          <p:nvPr/>
        </p:nvSpPr>
        <p:spPr>
          <a:xfrm>
            <a:off x="6522974" y="4549648"/>
            <a:ext cx="48717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0-mark297"/>
          <p:cNvSpPr/>
          <p:nvPr/>
        </p:nvSpPr>
        <p:spPr>
          <a:xfrm>
            <a:off x="6522974" y="4062476"/>
            <a:ext cx="48717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0-mark298"/>
          <p:cNvSpPr/>
          <p:nvPr/>
        </p:nvSpPr>
        <p:spPr>
          <a:xfrm>
            <a:off x="6522974" y="3575304"/>
            <a:ext cx="48717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0-mark299"/>
          <p:cNvSpPr/>
          <p:nvPr/>
        </p:nvSpPr>
        <p:spPr>
          <a:xfrm>
            <a:off x="6522974" y="3088132"/>
            <a:ext cx="48717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0-mark300"/>
          <p:cNvSpPr/>
          <p:nvPr/>
        </p:nvSpPr>
        <p:spPr>
          <a:xfrm>
            <a:off x="6522974" y="2600960"/>
            <a:ext cx="48717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0-mark301"/>
          <p:cNvSpPr/>
          <p:nvPr/>
        </p:nvSpPr>
        <p:spPr>
          <a:xfrm>
            <a:off x="6522974" y="2113788"/>
            <a:ext cx="48717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0-figure302" descr="모눈 위의 마름모: 가로 대각선 8칸, 세로 대각선 4칸"/>
          <p:cNvSpPr/>
          <p:nvPr/>
        </p:nvSpPr>
        <p:spPr>
          <a:xfrm>
            <a:off x="7010146" y="2600960"/>
            <a:ext cx="3897376" cy="1948688"/>
          </a:xfrm>
          <a:custGeom>
            <a:avLst/>
            <a:gdLst/>
            <a:ahLst/>
            <a:cxnLst/>
            <a:rect l="l" t="t" r="r" b="b"/>
            <a:pathLst>
              <a:path w="3897376" h="1948688">
                <a:moveTo>
                  <a:pt x="0" y="974344"/>
                </a:moveTo>
                <a:lnTo>
                  <a:pt x="1948688" y="1948688"/>
                </a:lnTo>
                <a:lnTo>
                  <a:pt x="3897376" y="974344"/>
                </a:lnTo>
                <a:lnTo>
                  <a:pt x="1948688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3" name="S10-mark303"/>
          <p:cNvSpPr/>
          <p:nvPr/>
        </p:nvSpPr>
        <p:spPr>
          <a:xfrm>
            <a:off x="7010146" y="3575304"/>
            <a:ext cx="389737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34" name="S10-mark304"/>
          <p:cNvSpPr/>
          <p:nvPr/>
        </p:nvSpPr>
        <p:spPr>
          <a:xfrm flipV="1">
            <a:off x="8958834" y="2600960"/>
            <a:ext cx="0" cy="1948688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3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넓이를 구하고, ④는 까닭을 말해요. ③의 모눈 한 칸은 1 cm예요.</a:t>
            </a:r>
            <a:endParaRPr lang="ko-KR" sz="2800" dirty="0"/>
          </a:p>
        </p:txBody>
      </p:sp>
      <p:sp>
        <p:nvSpPr>
          <p:cNvPr id="4" name="S11-chip306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figure307" descr="사다리꼴: 윗변 5 cm, 아랫변 9 cm, 높이 4 cm"/>
          <p:cNvSpPr/>
          <p:nvPr/>
        </p:nvSpPr>
        <p:spPr>
          <a:xfrm>
            <a:off x="2360524" y="2454250"/>
            <a:ext cx="2534717" cy="1126541"/>
          </a:xfrm>
          <a:custGeom>
            <a:avLst/>
            <a:gdLst/>
            <a:ahLst/>
            <a:cxnLst/>
            <a:rect l="l" t="t" r="r" b="b"/>
            <a:pathLst>
              <a:path w="2534717" h="1126541">
                <a:moveTo>
                  <a:pt x="0" y="1126541"/>
                </a:moveTo>
                <a:lnTo>
                  <a:pt x="2534717" y="1126541"/>
                </a:lnTo>
                <a:lnTo>
                  <a:pt x="1971446" y="0"/>
                </a:lnTo>
                <a:lnTo>
                  <a:pt x="56327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1-mark308"/>
          <p:cNvSpPr/>
          <p:nvPr/>
        </p:nvSpPr>
        <p:spPr>
          <a:xfrm>
            <a:off x="2923794" y="337124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" name="S11-mark309"/>
          <p:cNvSpPr/>
          <p:nvPr/>
        </p:nvSpPr>
        <p:spPr>
          <a:xfrm>
            <a:off x="2923794" y="2454250"/>
            <a:ext cx="0" cy="1126541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8" name="S11-label311"/>
          <p:cNvSpPr txBox="1"/>
          <p:nvPr/>
        </p:nvSpPr>
        <p:spPr>
          <a:xfrm>
            <a:off x="3246120" y="365762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 cm</a:t>
            </a:r>
            <a:endParaRPr lang="ko-KR" sz="2200" dirty="0"/>
          </a:p>
        </p:txBody>
      </p:sp>
      <p:sp>
        <p:nvSpPr>
          <p:cNvPr id="9" name="S11-label313"/>
          <p:cNvSpPr txBox="1"/>
          <p:nvPr/>
        </p:nvSpPr>
        <p:spPr>
          <a:xfrm>
            <a:off x="3246120" y="202816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10" name="S11-label315"/>
          <p:cNvSpPr txBox="1"/>
          <p:nvPr/>
        </p:nvSpPr>
        <p:spPr>
          <a:xfrm>
            <a:off x="2972308" y="284289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11" name="S11-chip31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2" name="S11-text31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대각선이 12 cm,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cm인 마름모의 넓이</a:t>
            </a:r>
            <a:endParaRPr lang="ko-KR" sz="2800" dirty="0"/>
          </a:p>
        </p:txBody>
      </p:sp>
      <p:sp>
        <p:nvSpPr>
          <p:cNvPr id="13" name="S11-chip318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4" name="S11-mark319"/>
          <p:cNvSpPr/>
          <p:nvPr/>
        </p:nvSpPr>
        <p:spPr>
          <a:xfrm>
            <a:off x="2837579" y="4553494"/>
            <a:ext cx="1580606" cy="1317171"/>
          </a:xfrm>
          <a:custGeom>
            <a:avLst/>
            <a:gdLst/>
            <a:ahLst/>
            <a:cxnLst/>
            <a:rect l="l" t="t" r="r" b="b"/>
            <a:pathLst>
              <a:path w="1580606" h="1317171">
                <a:moveTo>
                  <a:pt x="0" y="1317171"/>
                </a:moveTo>
                <a:lnTo>
                  <a:pt x="1580606" y="1317171"/>
                </a:lnTo>
                <a:lnTo>
                  <a:pt x="52686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5" name="S11-mark320"/>
          <p:cNvSpPr/>
          <p:nvPr/>
        </p:nvSpPr>
        <p:spPr>
          <a:xfrm flipV="1">
            <a:off x="2574145" y="4290060"/>
            <a:ext cx="0" cy="18440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1-mark321"/>
          <p:cNvSpPr/>
          <p:nvPr/>
        </p:nvSpPr>
        <p:spPr>
          <a:xfrm flipV="1">
            <a:off x="2837579" y="4290060"/>
            <a:ext cx="0" cy="18440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1-mark322"/>
          <p:cNvSpPr/>
          <p:nvPr/>
        </p:nvSpPr>
        <p:spPr>
          <a:xfrm flipV="1">
            <a:off x="3101013" y="4290060"/>
            <a:ext cx="0" cy="18440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1-mark323"/>
          <p:cNvSpPr/>
          <p:nvPr/>
        </p:nvSpPr>
        <p:spPr>
          <a:xfrm flipV="1">
            <a:off x="3364448" y="4290060"/>
            <a:ext cx="0" cy="18440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1-mark324"/>
          <p:cNvSpPr/>
          <p:nvPr/>
        </p:nvSpPr>
        <p:spPr>
          <a:xfrm flipV="1">
            <a:off x="3627882" y="4290060"/>
            <a:ext cx="0" cy="18440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1-mark325"/>
          <p:cNvSpPr/>
          <p:nvPr/>
        </p:nvSpPr>
        <p:spPr>
          <a:xfrm flipV="1">
            <a:off x="3891316" y="4290060"/>
            <a:ext cx="0" cy="18440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1-mark326"/>
          <p:cNvSpPr/>
          <p:nvPr/>
        </p:nvSpPr>
        <p:spPr>
          <a:xfrm flipV="1">
            <a:off x="4154751" y="4290060"/>
            <a:ext cx="0" cy="18440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1-mark327"/>
          <p:cNvSpPr/>
          <p:nvPr/>
        </p:nvSpPr>
        <p:spPr>
          <a:xfrm flipV="1">
            <a:off x="4418185" y="4290060"/>
            <a:ext cx="0" cy="18440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1-mark328"/>
          <p:cNvSpPr/>
          <p:nvPr/>
        </p:nvSpPr>
        <p:spPr>
          <a:xfrm flipV="1">
            <a:off x="4681619" y="4290060"/>
            <a:ext cx="0" cy="18440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1-mark329"/>
          <p:cNvSpPr/>
          <p:nvPr/>
        </p:nvSpPr>
        <p:spPr>
          <a:xfrm>
            <a:off x="2574145" y="6134100"/>
            <a:ext cx="210747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1-mark330"/>
          <p:cNvSpPr/>
          <p:nvPr/>
        </p:nvSpPr>
        <p:spPr>
          <a:xfrm>
            <a:off x="2574145" y="5870666"/>
            <a:ext cx="210747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1-mark331"/>
          <p:cNvSpPr/>
          <p:nvPr/>
        </p:nvSpPr>
        <p:spPr>
          <a:xfrm>
            <a:off x="2574145" y="5607231"/>
            <a:ext cx="210747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1-mark332"/>
          <p:cNvSpPr/>
          <p:nvPr/>
        </p:nvSpPr>
        <p:spPr>
          <a:xfrm>
            <a:off x="2574145" y="5343797"/>
            <a:ext cx="210747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1-mark333"/>
          <p:cNvSpPr/>
          <p:nvPr/>
        </p:nvSpPr>
        <p:spPr>
          <a:xfrm>
            <a:off x="2574145" y="5080363"/>
            <a:ext cx="210747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1-mark334"/>
          <p:cNvSpPr/>
          <p:nvPr/>
        </p:nvSpPr>
        <p:spPr>
          <a:xfrm>
            <a:off x="2574145" y="4816929"/>
            <a:ext cx="210747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1-mark335"/>
          <p:cNvSpPr/>
          <p:nvPr/>
        </p:nvSpPr>
        <p:spPr>
          <a:xfrm>
            <a:off x="2574145" y="4553494"/>
            <a:ext cx="210747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1-mark336"/>
          <p:cNvSpPr/>
          <p:nvPr/>
        </p:nvSpPr>
        <p:spPr>
          <a:xfrm>
            <a:off x="2574145" y="4290060"/>
            <a:ext cx="210747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1-figure337" descr="모눈 위의 직각 사다리꼴: 윗변 2칸, 아랫변 6칸, 왼쪽 변(높이) 5칸"/>
          <p:cNvSpPr/>
          <p:nvPr/>
        </p:nvSpPr>
        <p:spPr>
          <a:xfrm>
            <a:off x="2837579" y="4553494"/>
            <a:ext cx="1580606" cy="1317171"/>
          </a:xfrm>
          <a:custGeom>
            <a:avLst/>
            <a:gdLst/>
            <a:ahLst/>
            <a:cxnLst/>
            <a:rect l="l" t="t" r="r" b="b"/>
            <a:pathLst>
              <a:path w="1580606" h="1317171">
                <a:moveTo>
                  <a:pt x="0" y="1317171"/>
                </a:moveTo>
                <a:lnTo>
                  <a:pt x="1580606" y="1317171"/>
                </a:lnTo>
                <a:lnTo>
                  <a:pt x="52686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3" name="S11-mark338"/>
          <p:cNvSpPr/>
          <p:nvPr/>
        </p:nvSpPr>
        <p:spPr>
          <a:xfrm>
            <a:off x="2837579" y="5661116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11-chip33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5" name="S11-text34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사다리꼴의 넓이를 구할 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÷ 2를 할까요?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넓이가 다른 하나는?</a:t>
            </a:r>
            <a:endParaRPr lang="ko-KR" sz="4000" dirty="0"/>
          </a:p>
        </p:txBody>
      </p:sp>
      <p:sp>
        <p:nvSpPr>
          <p:cNvPr id="3" name="S13-text3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모눈 한 칸은 1 cm예요.</a:t>
            </a:r>
            <a:endParaRPr lang="ko-KR" sz="2800" dirty="0"/>
          </a:p>
        </p:txBody>
      </p:sp>
      <p:sp>
        <p:nvSpPr>
          <p:cNvPr id="4" name="S13-card3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넓이가 다른 하나를 고르고, 식으로 까닭을 말해요.</a:t>
            </a:r>
            <a:endParaRPr lang="ko-KR" sz="2800" dirty="0"/>
          </a:p>
        </p:txBody>
      </p:sp>
      <p:sp>
        <p:nvSpPr>
          <p:cNvPr id="6" name="S13-chip34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mark345"/>
          <p:cNvSpPr/>
          <p:nvPr/>
        </p:nvSpPr>
        <p:spPr>
          <a:xfrm>
            <a:off x="1529588" y="3172460"/>
            <a:ext cx="1491488" cy="1491488"/>
          </a:xfrm>
          <a:custGeom>
            <a:avLst/>
            <a:gdLst/>
            <a:ahLst/>
            <a:cxnLst/>
            <a:rect l="l" t="t" r="r" b="b"/>
            <a:pathLst>
              <a:path w="1491488" h="1491488">
                <a:moveTo>
                  <a:pt x="0" y="1491488"/>
                </a:moveTo>
                <a:lnTo>
                  <a:pt x="1491488" y="1491488"/>
                </a:lnTo>
                <a:lnTo>
                  <a:pt x="1118616" y="0"/>
                </a:lnTo>
                <a:lnTo>
                  <a:pt x="372872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13-mark346"/>
          <p:cNvSpPr/>
          <p:nvPr/>
        </p:nvSpPr>
        <p:spPr>
          <a:xfrm flipV="1">
            <a:off x="1156716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3-mark347"/>
          <p:cNvSpPr/>
          <p:nvPr/>
        </p:nvSpPr>
        <p:spPr>
          <a:xfrm flipV="1">
            <a:off x="1529588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3-mark348"/>
          <p:cNvSpPr/>
          <p:nvPr/>
        </p:nvSpPr>
        <p:spPr>
          <a:xfrm flipV="1">
            <a:off x="1902460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3-mark349"/>
          <p:cNvSpPr/>
          <p:nvPr/>
        </p:nvSpPr>
        <p:spPr>
          <a:xfrm flipV="1">
            <a:off x="2275332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3-mark350"/>
          <p:cNvSpPr/>
          <p:nvPr/>
        </p:nvSpPr>
        <p:spPr>
          <a:xfrm flipV="1">
            <a:off x="2648204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3-mark351"/>
          <p:cNvSpPr/>
          <p:nvPr/>
        </p:nvSpPr>
        <p:spPr>
          <a:xfrm flipV="1">
            <a:off x="3021076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3-mark352"/>
          <p:cNvSpPr/>
          <p:nvPr/>
        </p:nvSpPr>
        <p:spPr>
          <a:xfrm flipV="1">
            <a:off x="3393948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3-mark353"/>
          <p:cNvSpPr/>
          <p:nvPr/>
        </p:nvSpPr>
        <p:spPr>
          <a:xfrm>
            <a:off x="1156716" y="5036820"/>
            <a:ext cx="22372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3-mark354"/>
          <p:cNvSpPr/>
          <p:nvPr/>
        </p:nvSpPr>
        <p:spPr>
          <a:xfrm>
            <a:off x="1156716" y="4663948"/>
            <a:ext cx="22372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3-mark355"/>
          <p:cNvSpPr/>
          <p:nvPr/>
        </p:nvSpPr>
        <p:spPr>
          <a:xfrm>
            <a:off x="1156716" y="4291076"/>
            <a:ext cx="22372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3-mark356"/>
          <p:cNvSpPr/>
          <p:nvPr/>
        </p:nvSpPr>
        <p:spPr>
          <a:xfrm>
            <a:off x="1156716" y="3918204"/>
            <a:ext cx="22372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3-mark357"/>
          <p:cNvSpPr/>
          <p:nvPr/>
        </p:nvSpPr>
        <p:spPr>
          <a:xfrm>
            <a:off x="1156716" y="3545332"/>
            <a:ext cx="22372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3-mark358"/>
          <p:cNvSpPr/>
          <p:nvPr/>
        </p:nvSpPr>
        <p:spPr>
          <a:xfrm>
            <a:off x="1156716" y="3172460"/>
            <a:ext cx="22372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3-mark359"/>
          <p:cNvSpPr/>
          <p:nvPr/>
        </p:nvSpPr>
        <p:spPr>
          <a:xfrm>
            <a:off x="1156716" y="2799588"/>
            <a:ext cx="22372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3-figure360" descr="모눈 위의 사다리꼴 가: 윗변 2칸, 아랫변 4칸, 높이 4칸"/>
          <p:cNvSpPr/>
          <p:nvPr/>
        </p:nvSpPr>
        <p:spPr>
          <a:xfrm>
            <a:off x="1529588" y="3172460"/>
            <a:ext cx="1491488" cy="1491488"/>
          </a:xfrm>
          <a:custGeom>
            <a:avLst/>
            <a:gdLst/>
            <a:ahLst/>
            <a:cxnLst/>
            <a:rect l="l" t="t" r="r" b="b"/>
            <a:pathLst>
              <a:path w="1491488" h="1491488">
                <a:moveTo>
                  <a:pt x="0" y="1491488"/>
                </a:moveTo>
                <a:lnTo>
                  <a:pt x="1491488" y="1491488"/>
                </a:lnTo>
                <a:lnTo>
                  <a:pt x="1118616" y="0"/>
                </a:lnTo>
                <a:lnTo>
                  <a:pt x="372872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13-chip36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24" name="S13-mark362"/>
          <p:cNvSpPr/>
          <p:nvPr/>
        </p:nvSpPr>
        <p:spPr>
          <a:xfrm>
            <a:off x="4975860" y="3172460"/>
            <a:ext cx="2237232" cy="1491488"/>
          </a:xfrm>
          <a:custGeom>
            <a:avLst/>
            <a:gdLst/>
            <a:ahLst/>
            <a:cxnLst/>
            <a:rect l="l" t="t" r="r" b="b"/>
            <a:pathLst>
              <a:path w="2237232" h="1491488">
                <a:moveTo>
                  <a:pt x="0" y="745744"/>
                </a:moveTo>
                <a:lnTo>
                  <a:pt x="1118616" y="1491488"/>
                </a:lnTo>
                <a:lnTo>
                  <a:pt x="2237232" y="745744"/>
                </a:lnTo>
                <a:lnTo>
                  <a:pt x="1118616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25" name="S13-mark363"/>
          <p:cNvSpPr/>
          <p:nvPr/>
        </p:nvSpPr>
        <p:spPr>
          <a:xfrm flipV="1">
            <a:off x="4602988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3-mark364"/>
          <p:cNvSpPr/>
          <p:nvPr/>
        </p:nvSpPr>
        <p:spPr>
          <a:xfrm flipV="1">
            <a:off x="4975860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3-mark365"/>
          <p:cNvSpPr/>
          <p:nvPr/>
        </p:nvSpPr>
        <p:spPr>
          <a:xfrm flipV="1">
            <a:off x="5348732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3-mark366"/>
          <p:cNvSpPr/>
          <p:nvPr/>
        </p:nvSpPr>
        <p:spPr>
          <a:xfrm flipV="1">
            <a:off x="5721604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3-mark367"/>
          <p:cNvSpPr/>
          <p:nvPr/>
        </p:nvSpPr>
        <p:spPr>
          <a:xfrm flipV="1">
            <a:off x="6094476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3-mark368"/>
          <p:cNvSpPr/>
          <p:nvPr/>
        </p:nvSpPr>
        <p:spPr>
          <a:xfrm flipV="1">
            <a:off x="6467348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3-mark369"/>
          <p:cNvSpPr/>
          <p:nvPr/>
        </p:nvSpPr>
        <p:spPr>
          <a:xfrm flipV="1">
            <a:off x="6840220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3-mark370"/>
          <p:cNvSpPr/>
          <p:nvPr/>
        </p:nvSpPr>
        <p:spPr>
          <a:xfrm flipV="1">
            <a:off x="7213092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3-mark371"/>
          <p:cNvSpPr/>
          <p:nvPr/>
        </p:nvSpPr>
        <p:spPr>
          <a:xfrm flipV="1">
            <a:off x="7585964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3-mark372"/>
          <p:cNvSpPr/>
          <p:nvPr/>
        </p:nvSpPr>
        <p:spPr>
          <a:xfrm>
            <a:off x="4602988" y="5036820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3-mark373"/>
          <p:cNvSpPr/>
          <p:nvPr/>
        </p:nvSpPr>
        <p:spPr>
          <a:xfrm>
            <a:off x="4602988" y="4663948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3-mark374"/>
          <p:cNvSpPr/>
          <p:nvPr/>
        </p:nvSpPr>
        <p:spPr>
          <a:xfrm>
            <a:off x="4602988" y="4291076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3-mark375"/>
          <p:cNvSpPr/>
          <p:nvPr/>
        </p:nvSpPr>
        <p:spPr>
          <a:xfrm>
            <a:off x="4602988" y="3918204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3-mark376"/>
          <p:cNvSpPr/>
          <p:nvPr/>
        </p:nvSpPr>
        <p:spPr>
          <a:xfrm>
            <a:off x="4602988" y="3545332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3-mark377"/>
          <p:cNvSpPr/>
          <p:nvPr/>
        </p:nvSpPr>
        <p:spPr>
          <a:xfrm>
            <a:off x="4602988" y="3172460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13-mark378"/>
          <p:cNvSpPr/>
          <p:nvPr/>
        </p:nvSpPr>
        <p:spPr>
          <a:xfrm>
            <a:off x="4602988" y="2799588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13-figure379" descr="모눈 위의 마름모 나: 가로 대각선 6칸, 세로 대각선 4칸"/>
          <p:cNvSpPr/>
          <p:nvPr/>
        </p:nvSpPr>
        <p:spPr>
          <a:xfrm>
            <a:off x="4975860" y="3172460"/>
            <a:ext cx="2237232" cy="1491488"/>
          </a:xfrm>
          <a:custGeom>
            <a:avLst/>
            <a:gdLst/>
            <a:ahLst/>
            <a:cxnLst/>
            <a:rect l="l" t="t" r="r" b="b"/>
            <a:pathLst>
              <a:path w="2237232" h="1491488">
                <a:moveTo>
                  <a:pt x="0" y="745744"/>
                </a:moveTo>
                <a:lnTo>
                  <a:pt x="1118616" y="1491488"/>
                </a:lnTo>
                <a:lnTo>
                  <a:pt x="2237232" y="745744"/>
                </a:lnTo>
                <a:lnTo>
                  <a:pt x="1118616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2" name="S13-mark380"/>
          <p:cNvSpPr/>
          <p:nvPr/>
        </p:nvSpPr>
        <p:spPr>
          <a:xfrm>
            <a:off x="4975860" y="3918204"/>
            <a:ext cx="2237232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43" name="S13-mark381"/>
          <p:cNvSpPr/>
          <p:nvPr/>
        </p:nvSpPr>
        <p:spPr>
          <a:xfrm flipV="1">
            <a:off x="6094476" y="3172460"/>
            <a:ext cx="0" cy="1491488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44" name="S13-chip38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45" name="S13-mark383"/>
          <p:cNvSpPr/>
          <p:nvPr/>
        </p:nvSpPr>
        <p:spPr>
          <a:xfrm>
            <a:off x="8795004" y="3172460"/>
            <a:ext cx="2237232" cy="1491488"/>
          </a:xfrm>
          <a:custGeom>
            <a:avLst/>
            <a:gdLst/>
            <a:ahLst/>
            <a:cxnLst/>
            <a:rect l="l" t="t" r="r" b="b"/>
            <a:pathLst>
              <a:path w="2237232" h="1491488">
                <a:moveTo>
                  <a:pt x="0" y="1491488"/>
                </a:moveTo>
                <a:lnTo>
                  <a:pt x="2237232" y="1491488"/>
                </a:lnTo>
                <a:lnTo>
                  <a:pt x="1491488" y="0"/>
                </a:lnTo>
                <a:lnTo>
                  <a:pt x="745744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6" name="S13-mark384"/>
          <p:cNvSpPr/>
          <p:nvPr/>
        </p:nvSpPr>
        <p:spPr>
          <a:xfrm flipV="1">
            <a:off x="8422132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13-mark385"/>
          <p:cNvSpPr/>
          <p:nvPr/>
        </p:nvSpPr>
        <p:spPr>
          <a:xfrm flipV="1">
            <a:off x="8795004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13-mark386"/>
          <p:cNvSpPr/>
          <p:nvPr/>
        </p:nvSpPr>
        <p:spPr>
          <a:xfrm flipV="1">
            <a:off x="9167876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13-mark387"/>
          <p:cNvSpPr/>
          <p:nvPr/>
        </p:nvSpPr>
        <p:spPr>
          <a:xfrm flipV="1">
            <a:off x="9540748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13-mark388"/>
          <p:cNvSpPr/>
          <p:nvPr/>
        </p:nvSpPr>
        <p:spPr>
          <a:xfrm flipV="1">
            <a:off x="9913620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13-mark389"/>
          <p:cNvSpPr/>
          <p:nvPr/>
        </p:nvSpPr>
        <p:spPr>
          <a:xfrm flipV="1">
            <a:off x="10286492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2" name="S13-mark390"/>
          <p:cNvSpPr/>
          <p:nvPr/>
        </p:nvSpPr>
        <p:spPr>
          <a:xfrm flipV="1">
            <a:off x="10659364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3" name="S13-mark391"/>
          <p:cNvSpPr/>
          <p:nvPr/>
        </p:nvSpPr>
        <p:spPr>
          <a:xfrm flipV="1">
            <a:off x="11032236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4" name="S13-mark392"/>
          <p:cNvSpPr/>
          <p:nvPr/>
        </p:nvSpPr>
        <p:spPr>
          <a:xfrm flipV="1">
            <a:off x="11405108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5" name="S13-mark393"/>
          <p:cNvSpPr/>
          <p:nvPr/>
        </p:nvSpPr>
        <p:spPr>
          <a:xfrm>
            <a:off x="8422132" y="5036820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6" name="S13-mark394"/>
          <p:cNvSpPr/>
          <p:nvPr/>
        </p:nvSpPr>
        <p:spPr>
          <a:xfrm>
            <a:off x="8422132" y="4663948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7" name="S13-mark395"/>
          <p:cNvSpPr/>
          <p:nvPr/>
        </p:nvSpPr>
        <p:spPr>
          <a:xfrm>
            <a:off x="8422132" y="4291076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8" name="S13-mark396"/>
          <p:cNvSpPr/>
          <p:nvPr/>
        </p:nvSpPr>
        <p:spPr>
          <a:xfrm>
            <a:off x="8422132" y="3918204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9" name="S13-mark397"/>
          <p:cNvSpPr/>
          <p:nvPr/>
        </p:nvSpPr>
        <p:spPr>
          <a:xfrm>
            <a:off x="8422132" y="3545332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0" name="S13-mark398"/>
          <p:cNvSpPr/>
          <p:nvPr/>
        </p:nvSpPr>
        <p:spPr>
          <a:xfrm>
            <a:off x="8422132" y="3172460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1" name="S13-mark399"/>
          <p:cNvSpPr/>
          <p:nvPr/>
        </p:nvSpPr>
        <p:spPr>
          <a:xfrm>
            <a:off x="8422132" y="2799588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2" name="S13-figure400" descr="모눈 위의 사다리꼴 다: 윗변 2칸, 아랫변 6칸, 높이 4칸"/>
          <p:cNvSpPr/>
          <p:nvPr/>
        </p:nvSpPr>
        <p:spPr>
          <a:xfrm>
            <a:off x="8795004" y="3172460"/>
            <a:ext cx="2237232" cy="1491488"/>
          </a:xfrm>
          <a:custGeom>
            <a:avLst/>
            <a:gdLst/>
            <a:ahLst/>
            <a:cxnLst/>
            <a:rect l="l" t="t" r="r" b="b"/>
            <a:pathLst>
              <a:path w="2237232" h="1491488">
                <a:moveTo>
                  <a:pt x="0" y="1491488"/>
                </a:moveTo>
                <a:lnTo>
                  <a:pt x="2237232" y="1491488"/>
                </a:lnTo>
                <a:lnTo>
                  <a:pt x="1491488" y="0"/>
                </a:lnTo>
                <a:lnTo>
                  <a:pt x="745744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40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40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사다리꼴: (윗변 + 아랫변) × 높이 ÷ 2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마름모: 한 대각선 × 다른 대각선 ÷ 2</a:t>
            </a:r>
            <a:endParaRPr lang="ko-KR" sz="2800" dirty="0"/>
          </a:p>
        </p:txBody>
      </p:sp>
      <p:sp>
        <p:nvSpPr>
          <p:cNvPr id="5" name="S14-chip40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직각으로 그은 높이 찾기</a:t>
            </a:r>
            <a:endParaRPr lang="ko-KR" sz="2200" dirty="0"/>
          </a:p>
        </p:txBody>
      </p:sp>
      <p:sp>
        <p:nvSpPr>
          <p:cNvPr id="6" name="S14-chip40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기울어진 변을 높이로 쓰기</a:t>
            </a:r>
            <a:endParaRPr lang="ko-KR" sz="2200" dirty="0"/>
          </a:p>
        </p:txBody>
      </p:sp>
      <p:sp>
        <p:nvSpPr>
          <p:cNvPr id="7" name="S14-text40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40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사다리꼴의 넓이는?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윗변 3 cm, 높이 6 cm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아랫변 5 cm</a:t>
            </a:r>
            <a:endParaRPr lang="ko-KR" sz="2200" dirty="0"/>
          </a:p>
        </p:txBody>
      </p:sp>
      <p:sp>
        <p:nvSpPr>
          <p:cNvPr id="9" name="S14-text40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대각선이 7 cm,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cm인 마름모의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넓이는?</a:t>
            </a:r>
            <a:endParaRPr lang="ko-KR" sz="2200" dirty="0"/>
          </a:p>
        </p:txBody>
      </p:sp>
      <p:sp>
        <p:nvSpPr>
          <p:cNvPr id="10" name="S14-text40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사다리꼴의 넓이에서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÷ 2를 할까요?</a:t>
            </a:r>
            <a:endParaRPr lang="ko-KR" sz="2200" dirty="0"/>
          </a:p>
        </p:txBody>
      </p:sp>
      <p:sp>
        <p:nvSpPr>
          <p:cNvPr id="11" name="S14-text40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평균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평행사변형과 삼각형</a:t>
            </a:r>
            <a:endParaRPr lang="ko-KR" sz="4000" dirty="0"/>
          </a:p>
        </p:txBody>
      </p:sp>
      <p:sp>
        <p:nvSpPr>
          <p:cNvPr id="3" name="S15-mark410"/>
          <p:cNvSpPr/>
          <p:nvPr/>
        </p:nvSpPr>
        <p:spPr>
          <a:xfrm>
            <a:off x="1485483" y="3117662"/>
            <a:ext cx="2616952" cy="1308476"/>
          </a:xfrm>
          <a:custGeom>
            <a:avLst/>
            <a:gdLst/>
            <a:ahLst/>
            <a:cxnLst/>
            <a:rect l="l" t="t" r="r" b="b"/>
            <a:pathLst>
              <a:path w="2616952" h="1308476">
                <a:moveTo>
                  <a:pt x="0" y="1308476"/>
                </a:moveTo>
                <a:lnTo>
                  <a:pt x="2616952" y="1308476"/>
                </a:lnTo>
                <a:lnTo>
                  <a:pt x="872317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" name="S15-mark411"/>
          <p:cNvSpPr/>
          <p:nvPr/>
        </p:nvSpPr>
        <p:spPr>
          <a:xfrm>
            <a:off x="2357801" y="3117662"/>
            <a:ext cx="2616952" cy="1308476"/>
          </a:xfrm>
          <a:custGeom>
            <a:avLst/>
            <a:gdLst/>
            <a:ahLst/>
            <a:cxnLst/>
            <a:rect l="l" t="t" r="r" b="b"/>
            <a:pathLst>
              <a:path w="2616952" h="1308476">
                <a:moveTo>
                  <a:pt x="1744635" y="1308476"/>
                </a:moveTo>
                <a:lnTo>
                  <a:pt x="261695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5" name="S15-mark412"/>
          <p:cNvSpPr/>
          <p:nvPr/>
        </p:nvSpPr>
        <p:spPr>
          <a:xfrm flipV="1">
            <a:off x="1049325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15-mark413"/>
          <p:cNvSpPr/>
          <p:nvPr/>
        </p:nvSpPr>
        <p:spPr>
          <a:xfrm flipV="1">
            <a:off x="1485483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15-mark414"/>
          <p:cNvSpPr/>
          <p:nvPr/>
        </p:nvSpPr>
        <p:spPr>
          <a:xfrm flipV="1">
            <a:off x="1921642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5-mark415"/>
          <p:cNvSpPr/>
          <p:nvPr/>
        </p:nvSpPr>
        <p:spPr>
          <a:xfrm flipV="1">
            <a:off x="2357801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5-mark416"/>
          <p:cNvSpPr/>
          <p:nvPr/>
        </p:nvSpPr>
        <p:spPr>
          <a:xfrm flipV="1">
            <a:off x="2793959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5-mark417"/>
          <p:cNvSpPr/>
          <p:nvPr/>
        </p:nvSpPr>
        <p:spPr>
          <a:xfrm flipV="1">
            <a:off x="3230118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5-mark418"/>
          <p:cNvSpPr/>
          <p:nvPr/>
        </p:nvSpPr>
        <p:spPr>
          <a:xfrm flipV="1">
            <a:off x="3666277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5-mark419"/>
          <p:cNvSpPr/>
          <p:nvPr/>
        </p:nvSpPr>
        <p:spPr>
          <a:xfrm flipV="1">
            <a:off x="4102435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5-mark420"/>
          <p:cNvSpPr/>
          <p:nvPr/>
        </p:nvSpPr>
        <p:spPr>
          <a:xfrm flipV="1">
            <a:off x="4538594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5-mark421"/>
          <p:cNvSpPr/>
          <p:nvPr/>
        </p:nvSpPr>
        <p:spPr>
          <a:xfrm flipV="1">
            <a:off x="4974753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5-mark422"/>
          <p:cNvSpPr/>
          <p:nvPr/>
        </p:nvSpPr>
        <p:spPr>
          <a:xfrm flipV="1">
            <a:off x="5410911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5-mark423"/>
          <p:cNvSpPr/>
          <p:nvPr/>
        </p:nvSpPr>
        <p:spPr>
          <a:xfrm>
            <a:off x="1049325" y="4862297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5-mark424"/>
          <p:cNvSpPr/>
          <p:nvPr/>
        </p:nvSpPr>
        <p:spPr>
          <a:xfrm>
            <a:off x="1049325" y="4426138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5-mark425"/>
          <p:cNvSpPr/>
          <p:nvPr/>
        </p:nvSpPr>
        <p:spPr>
          <a:xfrm>
            <a:off x="1049325" y="3989979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5-mark426"/>
          <p:cNvSpPr/>
          <p:nvPr/>
        </p:nvSpPr>
        <p:spPr>
          <a:xfrm>
            <a:off x="1049325" y="3553821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5-mark427"/>
          <p:cNvSpPr/>
          <p:nvPr/>
        </p:nvSpPr>
        <p:spPr>
          <a:xfrm>
            <a:off x="1049325" y="3117662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5-mark428"/>
          <p:cNvSpPr/>
          <p:nvPr/>
        </p:nvSpPr>
        <p:spPr>
          <a:xfrm>
            <a:off x="1049325" y="2681503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5-figure429" descr="모눈 위의 평행사변형(밑변 6 cm, 높이 3 cm)을 대각선으로 잘라 만든 똑같은 삼각형 2개"/>
          <p:cNvSpPr/>
          <p:nvPr/>
        </p:nvSpPr>
        <p:spPr>
          <a:xfrm>
            <a:off x="1485483" y="3117662"/>
            <a:ext cx="2616952" cy="1308476"/>
          </a:xfrm>
          <a:custGeom>
            <a:avLst/>
            <a:gdLst/>
            <a:ahLst/>
            <a:cxnLst/>
            <a:rect l="l" t="t" r="r" b="b"/>
            <a:pathLst>
              <a:path w="2616952" h="1308476">
                <a:moveTo>
                  <a:pt x="0" y="1308476"/>
                </a:moveTo>
                <a:lnTo>
                  <a:pt x="2616952" y="1308476"/>
                </a:lnTo>
                <a:lnTo>
                  <a:pt x="872317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15-mark430"/>
          <p:cNvSpPr/>
          <p:nvPr/>
        </p:nvSpPr>
        <p:spPr>
          <a:xfrm>
            <a:off x="2357801" y="3117662"/>
            <a:ext cx="2616952" cy="1308476"/>
          </a:xfrm>
          <a:custGeom>
            <a:avLst/>
            <a:gdLst/>
            <a:ahLst/>
            <a:cxnLst/>
            <a:rect l="l" t="t" r="r" b="b"/>
            <a:pathLst>
              <a:path w="2616952" h="1308476">
                <a:moveTo>
                  <a:pt x="1744635" y="1308476"/>
                </a:moveTo>
                <a:lnTo>
                  <a:pt x="2616952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15-mark431"/>
          <p:cNvSpPr/>
          <p:nvPr/>
        </p:nvSpPr>
        <p:spPr>
          <a:xfrm>
            <a:off x="2357801" y="4216588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15-mark432"/>
          <p:cNvSpPr/>
          <p:nvPr/>
        </p:nvSpPr>
        <p:spPr>
          <a:xfrm>
            <a:off x="2357801" y="3117662"/>
            <a:ext cx="0" cy="1308476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26" name="S15-label434"/>
          <p:cNvSpPr txBox="1"/>
          <p:nvPr/>
        </p:nvSpPr>
        <p:spPr>
          <a:xfrm>
            <a:off x="2412197" y="4502973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27" name="S15-label436"/>
          <p:cNvSpPr txBox="1"/>
          <p:nvPr/>
        </p:nvSpPr>
        <p:spPr>
          <a:xfrm>
            <a:off x="2406315" y="35972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28" name="S15-card437"/>
          <p:cNvSpPr/>
          <p:nvPr/>
        </p:nvSpPr>
        <p:spPr>
          <a:xfrm>
            <a:off x="6277356" y="2136648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9" name="S15-cardtext438"/>
          <p:cNvSpPr txBox="1"/>
          <p:nvPr/>
        </p:nvSpPr>
        <p:spPr>
          <a:xfrm>
            <a:off x="6551676" y="2273808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평행사변형의 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밑변 × 높이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 = 18 (cm²)</a:t>
            </a:r>
            <a:endParaRPr lang="ko-KR" sz="2800" dirty="0"/>
          </a:p>
        </p:txBody>
      </p:sp>
      <p:sp>
        <p:nvSpPr>
          <p:cNvPr id="30" name="S15-card439"/>
          <p:cNvSpPr/>
          <p:nvPr/>
        </p:nvSpPr>
        <p:spPr>
          <a:xfrm>
            <a:off x="6277356" y="3886200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1" name="S15-cardtext440"/>
          <p:cNvSpPr txBox="1"/>
          <p:nvPr/>
        </p:nvSpPr>
        <p:spPr>
          <a:xfrm>
            <a:off x="6551676" y="4023360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삼각형의 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평행사변형의 절반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 ÷ 2 = 9 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사다리꼴과 마름모의 넓이</dc:title>
  <dc:subject>KR22-G05-MAT-AREA3-L01</dc:subject>
  <dc:creator>education-ppt</dc:creator>
  <cp:lastModifiedBy>education-ppt</cp:lastModifiedBy>
  <cp:revision>1</cp:revision>
  <dcterms:created xsi:type="dcterms:W3CDTF">2026-10-26T09:12:14Z</dcterms:created>
  <dcterms:modified xsi:type="dcterms:W3CDTF">2026-10-26T09:12:14Z</dcterms:modified>
</cp:coreProperties>
</file>