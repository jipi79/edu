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557a460-b2d2-ed67-19d5-9e07964615dc}">
          <p14:sldIdLst>
            <p14:sldId id="256"/>
            <p14:sldId id="257"/>
          </p14:sldIdLst>
        </p14:section>
        <p14:section name="개념" id="{048ba693-6959-7f16-b711-81257d7824b9}">
          <p14:sldIdLst>
            <p14:sldId id="258"/>
            <p14:sldId id="259"/>
            <p14:sldId id="263"/>
            <p14:sldId id="264"/>
          </p14:sldIdLst>
        </p14:section>
        <p14:section name="연습" id="{5f4a590f-4ea1-5c67-4a94-c52ec6bfddb7}">
          <p14:sldIdLst>
            <p14:sldId id="260"/>
            <p14:sldId id="261"/>
            <p14:sldId id="262"/>
            <p14:sldId id="265"/>
          </p14:sldIdLst>
        </p14:section>
        <p14:section name="개념" id="{d9f70351-9885-823a-cdef-b4d76256665a}">
          <p14:sldIdLst/>
        </p14:section>
        <p14:section name="연습" id="{bbc93a6e-18d3-b274-f967-022686702cf9}">
          <p14:sldIdLst/>
        </p14:section>
        <p14:section name="확인" id="{2aa82e89-061c-5e1d-f041-41f968c8a380}">
          <p14:sldIdLst>
            <p14:sldId id="266"/>
            <p14:sldId id="267"/>
          </p14:sldIdLst>
        </p14:section>
        <p14:section name="정리" id="{dd8ad3c6-3c24-a5f2-9c03-cc664bfa0e5e}">
          <p14:sldIdLst>
            <p14:sldId id="268"/>
          </p14:sldIdLst>
        </p14:section>
        <p14:section name="보충" id="{8b38e784-6522-4589-9041-a32c20e2d3d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도형과측정 · 7차시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평행사변형과 삼각형의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평행사변형과 삼각형의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평행사변형과 삼각형의 넓이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평행사변형과 삼각형의 넓이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넓이로 평행사변형과 삼각형의 넓이를 구할 수 있을까요?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평행사변형과 점선으로 그린 높이"/>
          <p:cNvSpPr/>
          <p:nvPr/>
        </p:nvSpPr>
        <p:spPr>
          <a:xfrm>
            <a:off x="7764780" y="1162050"/>
            <a:ext cx="3764280" cy="1882140"/>
          </a:xfrm>
          <a:custGeom>
            <a:avLst/>
            <a:gdLst/>
            <a:ahLst/>
            <a:cxnLst/>
            <a:rect l="l" t="t" r="r" b="b"/>
            <a:pathLst>
              <a:path w="3764280" h="1882140">
                <a:moveTo>
                  <a:pt x="0" y="1882140"/>
                </a:moveTo>
                <a:lnTo>
                  <a:pt x="2823210" y="1882140"/>
                </a:lnTo>
                <a:lnTo>
                  <a:pt x="3764280" y="0"/>
                </a:lnTo>
                <a:lnTo>
                  <a:pt x="94107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705850" y="283464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705850" y="1162050"/>
            <a:ext cx="0" cy="188214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1-card5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평행사변형의 넓이를 구해요.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삼각형의 넓이를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6 cm, 세로 4 cm인 직사각형의 넓이는?</a:t>
            </a:r>
            <a:endParaRPr lang="ko-KR" sz="2800" dirty="0"/>
          </a:p>
        </p:txBody>
      </p:sp>
      <p:sp>
        <p:nvSpPr>
          <p:cNvPr id="5" name="S02-chip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평행사변형에서 마주 보는 두 변은 어떤 관계인가요?</a:t>
            </a:r>
            <a:endParaRPr lang="ko-KR" sz="2800" dirty="0"/>
          </a:p>
        </p:txBody>
      </p:sp>
      <p:sp>
        <p:nvSpPr>
          <p:cNvPr id="7" name="S02-chip1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1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평행선 사이의 거리는 어떤 선분의 길이인가요?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평행사변형의 밑변과 높이</a:t>
            </a:r>
            <a:endParaRPr lang="ko-KR" sz="4000" dirty="0"/>
          </a:p>
        </p:txBody>
      </p:sp>
      <p:sp>
        <p:nvSpPr>
          <p:cNvPr id="3" name="S03-figure13" descr="평행사변형 ㄱㄴㄷㄹ: 평행한 두 변 ㄴㄷ과 ㄱㄹ이 밑변, 점 ㄱ에서 밑변에 수직으로 내린 점선 ㄱㅁ이 높이. 다른 곳에 그은 점선 높이도 길이가 같음"/>
          <p:cNvSpPr/>
          <p:nvPr/>
        </p:nvSpPr>
        <p:spPr>
          <a:xfrm>
            <a:off x="1486586" y="2766060"/>
            <a:ext cx="4023360" cy="2011680"/>
          </a:xfrm>
          <a:custGeom>
            <a:avLst/>
            <a:gdLst/>
            <a:ahLst/>
            <a:cxnLst/>
            <a:rect l="l" t="t" r="r" b="b"/>
            <a:pathLst>
              <a:path w="4023360" h="2011680">
                <a:moveTo>
                  <a:pt x="0" y="2011680"/>
                </a:moveTo>
                <a:lnTo>
                  <a:pt x="3017520" y="2011680"/>
                </a:lnTo>
                <a:lnTo>
                  <a:pt x="4023360" y="0"/>
                </a:lnTo>
                <a:lnTo>
                  <a:pt x="100584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" name="S03-mark14"/>
          <p:cNvSpPr/>
          <p:nvPr/>
        </p:nvSpPr>
        <p:spPr>
          <a:xfrm>
            <a:off x="2492426" y="456819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" name="S03-mark15"/>
          <p:cNvSpPr/>
          <p:nvPr/>
        </p:nvSpPr>
        <p:spPr>
          <a:xfrm>
            <a:off x="4504106" y="4777740"/>
            <a:ext cx="9144" cy="9144"/>
          </a:xfrm>
          <a:custGeom>
            <a:avLst/>
            <a:gdLst/>
            <a:ahLst/>
            <a:cxnLst/>
            <a:rect l="l" t="t" r="r" b="b"/>
            <a:pathLst>
              <a:path w="9144" h="9144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3-mark16"/>
          <p:cNvSpPr/>
          <p:nvPr/>
        </p:nvSpPr>
        <p:spPr>
          <a:xfrm>
            <a:off x="2492426" y="2766060"/>
            <a:ext cx="0" cy="201168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7" name="S03-mark17"/>
          <p:cNvSpPr/>
          <p:nvPr/>
        </p:nvSpPr>
        <p:spPr>
          <a:xfrm>
            <a:off x="4504106" y="2766060"/>
            <a:ext cx="0" cy="201168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3-label19"/>
          <p:cNvSpPr txBox="1"/>
          <p:nvPr/>
        </p:nvSpPr>
        <p:spPr>
          <a:xfrm>
            <a:off x="2666670" y="48545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</a:t>
            </a:r>
            <a:endParaRPr lang="ko-KR" sz="2200" dirty="0"/>
          </a:p>
        </p:txBody>
      </p:sp>
      <p:sp>
        <p:nvSpPr>
          <p:cNvPr id="9" name="S03-label21"/>
          <p:cNvSpPr txBox="1"/>
          <p:nvPr/>
        </p:nvSpPr>
        <p:spPr>
          <a:xfrm>
            <a:off x="3672510" y="23399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</a:t>
            </a:r>
            <a:endParaRPr lang="ko-KR" sz="2200" dirty="0"/>
          </a:p>
        </p:txBody>
      </p:sp>
      <p:sp>
        <p:nvSpPr>
          <p:cNvPr id="10" name="S03-label23"/>
          <p:cNvSpPr txBox="1"/>
          <p:nvPr/>
        </p:nvSpPr>
        <p:spPr>
          <a:xfrm>
            <a:off x="2521382" y="35972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200" dirty="0"/>
          </a:p>
        </p:txBody>
      </p:sp>
      <p:sp>
        <p:nvSpPr>
          <p:cNvPr id="11" name="S03-label25"/>
          <p:cNvSpPr txBox="1"/>
          <p:nvPr/>
        </p:nvSpPr>
        <p:spPr>
          <a:xfrm>
            <a:off x="2169477" y="224899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12" name="S03-label27"/>
          <p:cNvSpPr txBox="1"/>
          <p:nvPr/>
        </p:nvSpPr>
        <p:spPr>
          <a:xfrm>
            <a:off x="997853" y="4692380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13" name="S03-label29"/>
          <p:cNvSpPr txBox="1"/>
          <p:nvPr/>
        </p:nvSpPr>
        <p:spPr>
          <a:xfrm>
            <a:off x="4415317" y="4786794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14" name="S03-label31"/>
          <p:cNvSpPr txBox="1"/>
          <p:nvPr/>
        </p:nvSpPr>
        <p:spPr>
          <a:xfrm>
            <a:off x="5515571" y="2375170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000" dirty="0"/>
          </a:p>
        </p:txBody>
      </p:sp>
      <p:sp>
        <p:nvSpPr>
          <p:cNvPr id="15" name="S03-label33"/>
          <p:cNvSpPr txBox="1"/>
          <p:nvPr/>
        </p:nvSpPr>
        <p:spPr>
          <a:xfrm>
            <a:off x="2045404" y="4745083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000" dirty="0"/>
          </a:p>
        </p:txBody>
      </p:sp>
      <p:sp>
        <p:nvSpPr>
          <p:cNvPr id="16" name="S03-card34"/>
          <p:cNvSpPr/>
          <p:nvPr/>
        </p:nvSpPr>
        <p:spPr>
          <a:xfrm>
            <a:off x="6813652" y="2307082"/>
            <a:ext cx="4826660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3-cardtext35"/>
          <p:cNvSpPr txBox="1"/>
          <p:nvPr/>
        </p:nvSpPr>
        <p:spPr>
          <a:xfrm>
            <a:off x="7087972" y="2444242"/>
            <a:ext cx="4278020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두 변</a:t>
            </a:r>
            <a:endParaRPr lang="ko-KR" sz="2800" dirty="0"/>
          </a:p>
        </p:txBody>
      </p:sp>
      <p:sp>
        <p:nvSpPr>
          <p:cNvPr id="18" name="S03-card36"/>
          <p:cNvSpPr/>
          <p:nvPr/>
        </p:nvSpPr>
        <p:spPr>
          <a:xfrm>
            <a:off x="6813652" y="3715766"/>
            <a:ext cx="482666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03-cardtext37"/>
          <p:cNvSpPr txBox="1"/>
          <p:nvPr/>
        </p:nvSpPr>
        <p:spPr>
          <a:xfrm>
            <a:off x="7087972" y="3852926"/>
            <a:ext cx="42780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밑변 사이의 거리(밑변에 수직인 선분의 길이)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잘라서 옮기면 직사각형</a:t>
            </a:r>
            <a:endParaRPr lang="ko-KR" sz="4000" dirty="0"/>
          </a:p>
        </p:txBody>
      </p:sp>
      <p:sp>
        <p:nvSpPr>
          <p:cNvPr id="3" name="S04-card38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9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(평행사변형의 넓이) = (밑변) × (높이)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4 = 24, 넓이는 24 cm²예요.</a:t>
            </a:r>
            <a:endParaRPr lang="ko-KR" sz="2800" dirty="0"/>
          </a:p>
        </p:txBody>
      </p:sp>
      <p:sp>
        <p:nvSpPr>
          <p:cNvPr id="5" name="S04-mark40"/>
          <p:cNvSpPr/>
          <p:nvPr/>
        </p:nvSpPr>
        <p:spPr>
          <a:xfrm>
            <a:off x="1412748" y="1927987"/>
            <a:ext cx="3657600" cy="1828800"/>
          </a:xfrm>
          <a:custGeom>
            <a:avLst/>
            <a:gdLst/>
            <a:ahLst/>
            <a:cxnLst/>
            <a:rect l="l" t="t" r="r" b="b"/>
            <a:pathLst>
              <a:path w="3657600" h="1828800">
                <a:moveTo>
                  <a:pt x="0" y="1828800"/>
                </a:moveTo>
                <a:lnTo>
                  <a:pt x="2743200" y="1828800"/>
                </a:lnTo>
                <a:lnTo>
                  <a:pt x="3657600" y="0"/>
                </a:lnTo>
                <a:lnTo>
                  <a:pt x="91440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4-mark41"/>
          <p:cNvSpPr/>
          <p:nvPr/>
        </p:nvSpPr>
        <p:spPr>
          <a:xfrm>
            <a:off x="1412748" y="1927987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914400" h="1828800">
                <a:moveTo>
                  <a:pt x="0" y="1828800"/>
                </a:moveTo>
                <a:lnTo>
                  <a:pt x="914400" y="1828800"/>
                </a:lnTo>
                <a:lnTo>
                  <a:pt x="91440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7" name="S04-mark42"/>
          <p:cNvSpPr/>
          <p:nvPr/>
        </p:nvSpPr>
        <p:spPr>
          <a:xfrm flipV="1">
            <a:off x="9555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4-mark43"/>
          <p:cNvSpPr/>
          <p:nvPr/>
        </p:nvSpPr>
        <p:spPr>
          <a:xfrm flipV="1">
            <a:off x="14127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4-mark44"/>
          <p:cNvSpPr/>
          <p:nvPr/>
        </p:nvSpPr>
        <p:spPr>
          <a:xfrm flipV="1">
            <a:off x="18699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4-mark45"/>
          <p:cNvSpPr/>
          <p:nvPr/>
        </p:nvSpPr>
        <p:spPr>
          <a:xfrm flipV="1">
            <a:off x="23271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4-mark46"/>
          <p:cNvSpPr/>
          <p:nvPr/>
        </p:nvSpPr>
        <p:spPr>
          <a:xfrm flipV="1">
            <a:off x="27843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4-mark47"/>
          <p:cNvSpPr/>
          <p:nvPr/>
        </p:nvSpPr>
        <p:spPr>
          <a:xfrm flipV="1">
            <a:off x="32415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4-mark48"/>
          <p:cNvSpPr/>
          <p:nvPr/>
        </p:nvSpPr>
        <p:spPr>
          <a:xfrm flipV="1">
            <a:off x="36987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4-mark49"/>
          <p:cNvSpPr/>
          <p:nvPr/>
        </p:nvSpPr>
        <p:spPr>
          <a:xfrm flipV="1">
            <a:off x="41559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4-mark50"/>
          <p:cNvSpPr/>
          <p:nvPr/>
        </p:nvSpPr>
        <p:spPr>
          <a:xfrm flipV="1">
            <a:off x="46131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4-mark51"/>
          <p:cNvSpPr/>
          <p:nvPr/>
        </p:nvSpPr>
        <p:spPr>
          <a:xfrm flipV="1">
            <a:off x="50703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4-mark52"/>
          <p:cNvSpPr/>
          <p:nvPr/>
        </p:nvSpPr>
        <p:spPr>
          <a:xfrm flipV="1">
            <a:off x="55275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4-mark53"/>
          <p:cNvSpPr/>
          <p:nvPr/>
        </p:nvSpPr>
        <p:spPr>
          <a:xfrm>
            <a:off x="955548" y="42139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4-mark54"/>
          <p:cNvSpPr/>
          <p:nvPr/>
        </p:nvSpPr>
        <p:spPr>
          <a:xfrm>
            <a:off x="955548" y="37567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4-mark55"/>
          <p:cNvSpPr/>
          <p:nvPr/>
        </p:nvSpPr>
        <p:spPr>
          <a:xfrm>
            <a:off x="955548" y="32995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4-mark56"/>
          <p:cNvSpPr/>
          <p:nvPr/>
        </p:nvSpPr>
        <p:spPr>
          <a:xfrm>
            <a:off x="955548" y="28423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4-mark57"/>
          <p:cNvSpPr/>
          <p:nvPr/>
        </p:nvSpPr>
        <p:spPr>
          <a:xfrm>
            <a:off x="955548" y="23851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4-mark58"/>
          <p:cNvSpPr/>
          <p:nvPr/>
        </p:nvSpPr>
        <p:spPr>
          <a:xfrm>
            <a:off x="955548" y="19279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4-mark59"/>
          <p:cNvSpPr/>
          <p:nvPr/>
        </p:nvSpPr>
        <p:spPr>
          <a:xfrm>
            <a:off x="955548" y="14707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4-figure60" descr="모눈 위의 밑변 6 cm, 높이 4 cm인 평행사변형. 왼쪽 끝의 삼각형(노랑)을 높이(점선)를 따라 자름"/>
          <p:cNvSpPr/>
          <p:nvPr/>
        </p:nvSpPr>
        <p:spPr>
          <a:xfrm>
            <a:off x="1412748" y="1927987"/>
            <a:ext cx="3657600" cy="1828800"/>
          </a:xfrm>
          <a:custGeom>
            <a:avLst/>
            <a:gdLst/>
            <a:ahLst/>
            <a:cxnLst/>
            <a:rect l="l" t="t" r="r" b="b"/>
            <a:pathLst>
              <a:path w="3657600" h="1828800">
                <a:moveTo>
                  <a:pt x="0" y="1828800"/>
                </a:moveTo>
                <a:lnTo>
                  <a:pt x="2743200" y="1828800"/>
                </a:lnTo>
                <a:lnTo>
                  <a:pt x="3657600" y="0"/>
                </a:lnTo>
                <a:lnTo>
                  <a:pt x="91440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4-mark61"/>
          <p:cNvSpPr/>
          <p:nvPr/>
        </p:nvSpPr>
        <p:spPr>
          <a:xfrm>
            <a:off x="1412748" y="1927987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914400" h="1828800">
                <a:moveTo>
                  <a:pt x="0" y="1828800"/>
                </a:moveTo>
                <a:lnTo>
                  <a:pt x="914400" y="1828800"/>
                </a:lnTo>
                <a:lnTo>
                  <a:pt x="914400" y="0"/>
                </a:lnTo>
                <a:close/>
              </a:path>
            </a:pathLst>
          </a:custGeom>
          <a:noFill/>
          <a:ln w="127">
            <a:solidFill>
              <a:srgbClr val="B8C2CC"/>
            </a:solidFill>
            <a:prstDash val="dash"/>
          </a:ln>
        </p:spPr>
      </p:sp>
      <p:sp>
        <p:nvSpPr>
          <p:cNvPr id="27" name="S04-mark62"/>
          <p:cNvSpPr/>
          <p:nvPr/>
        </p:nvSpPr>
        <p:spPr>
          <a:xfrm>
            <a:off x="2327148" y="354723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4-mark63"/>
          <p:cNvSpPr/>
          <p:nvPr/>
        </p:nvSpPr>
        <p:spPr>
          <a:xfrm>
            <a:off x="2327148" y="1927987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9" name="S04-label64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 6 cm, 높이 4 cm</a:t>
            </a:r>
            <a:endParaRPr lang="ko-KR" sz="2200" dirty="0"/>
          </a:p>
        </p:txBody>
      </p:sp>
      <p:sp>
        <p:nvSpPr>
          <p:cNvPr id="30" name="S04-mark65"/>
          <p:cNvSpPr/>
          <p:nvPr/>
        </p:nvSpPr>
        <p:spPr>
          <a:xfrm>
            <a:off x="8033004" y="19279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1828800" y="18288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31" name="S04-mark66"/>
          <p:cNvSpPr/>
          <p:nvPr/>
        </p:nvSpPr>
        <p:spPr>
          <a:xfrm>
            <a:off x="9861804" y="1927987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914400" h="1828800">
                <a:moveTo>
                  <a:pt x="0" y="1828800"/>
                </a:moveTo>
                <a:lnTo>
                  <a:pt x="914400" y="1828800"/>
                </a:lnTo>
                <a:lnTo>
                  <a:pt x="91440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2" name="S04-mark67"/>
          <p:cNvSpPr/>
          <p:nvPr/>
        </p:nvSpPr>
        <p:spPr>
          <a:xfrm flipV="1">
            <a:off x="66614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4-mark68"/>
          <p:cNvSpPr/>
          <p:nvPr/>
        </p:nvSpPr>
        <p:spPr>
          <a:xfrm flipV="1">
            <a:off x="71186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4-mark69"/>
          <p:cNvSpPr/>
          <p:nvPr/>
        </p:nvSpPr>
        <p:spPr>
          <a:xfrm flipV="1">
            <a:off x="75758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4-mark70"/>
          <p:cNvSpPr/>
          <p:nvPr/>
        </p:nvSpPr>
        <p:spPr>
          <a:xfrm flipV="1">
            <a:off x="80330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4-mark71"/>
          <p:cNvSpPr/>
          <p:nvPr/>
        </p:nvSpPr>
        <p:spPr>
          <a:xfrm flipV="1">
            <a:off x="84902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4-mark72"/>
          <p:cNvSpPr/>
          <p:nvPr/>
        </p:nvSpPr>
        <p:spPr>
          <a:xfrm flipV="1">
            <a:off x="89474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4-mark73"/>
          <p:cNvSpPr/>
          <p:nvPr/>
        </p:nvSpPr>
        <p:spPr>
          <a:xfrm flipV="1">
            <a:off x="94046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4-mark74"/>
          <p:cNvSpPr/>
          <p:nvPr/>
        </p:nvSpPr>
        <p:spPr>
          <a:xfrm flipV="1">
            <a:off x="98618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4-mark75"/>
          <p:cNvSpPr/>
          <p:nvPr/>
        </p:nvSpPr>
        <p:spPr>
          <a:xfrm flipV="1">
            <a:off x="103190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4-mark76"/>
          <p:cNvSpPr/>
          <p:nvPr/>
        </p:nvSpPr>
        <p:spPr>
          <a:xfrm flipV="1">
            <a:off x="107762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4-mark77"/>
          <p:cNvSpPr/>
          <p:nvPr/>
        </p:nvSpPr>
        <p:spPr>
          <a:xfrm flipV="1">
            <a:off x="112334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4-mark78"/>
          <p:cNvSpPr/>
          <p:nvPr/>
        </p:nvSpPr>
        <p:spPr>
          <a:xfrm>
            <a:off x="6661404" y="42139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4-mark79"/>
          <p:cNvSpPr/>
          <p:nvPr/>
        </p:nvSpPr>
        <p:spPr>
          <a:xfrm>
            <a:off x="6661404" y="37567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4-mark80"/>
          <p:cNvSpPr/>
          <p:nvPr/>
        </p:nvSpPr>
        <p:spPr>
          <a:xfrm>
            <a:off x="6661404" y="32995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4-mark81"/>
          <p:cNvSpPr/>
          <p:nvPr/>
        </p:nvSpPr>
        <p:spPr>
          <a:xfrm>
            <a:off x="6661404" y="28423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4-mark82"/>
          <p:cNvSpPr/>
          <p:nvPr/>
        </p:nvSpPr>
        <p:spPr>
          <a:xfrm>
            <a:off x="6661404" y="23851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04-mark83"/>
          <p:cNvSpPr/>
          <p:nvPr/>
        </p:nvSpPr>
        <p:spPr>
          <a:xfrm>
            <a:off x="6661404" y="19279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04-mark84"/>
          <p:cNvSpPr/>
          <p:nvPr/>
        </p:nvSpPr>
        <p:spPr>
          <a:xfrm>
            <a:off x="6661404" y="14707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04-figure85" descr="자른 삼각형(노랑)을 오른쪽으로 6칸 옮겨 붙여 만든 가로 6 cm, 세로 4 cm인 직사각형"/>
          <p:cNvSpPr/>
          <p:nvPr/>
        </p:nvSpPr>
        <p:spPr>
          <a:xfrm>
            <a:off x="8033004" y="19279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1828800" y="18288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noFill/>
          <a:ln w="127">
            <a:solidFill>
              <a:srgbClr val="B8C2CC"/>
            </a:solidFill>
            <a:prstDash val="solid"/>
          </a:ln>
        </p:spPr>
      </p:sp>
      <p:sp>
        <p:nvSpPr>
          <p:cNvPr id="51" name="S04-mark86"/>
          <p:cNvSpPr/>
          <p:nvPr/>
        </p:nvSpPr>
        <p:spPr>
          <a:xfrm>
            <a:off x="9861804" y="1927987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914400" h="1828800">
                <a:moveTo>
                  <a:pt x="0" y="1828800"/>
                </a:moveTo>
                <a:lnTo>
                  <a:pt x="914400" y="1828800"/>
                </a:lnTo>
                <a:lnTo>
                  <a:pt x="914400" y="0"/>
                </a:lnTo>
                <a:close/>
              </a:path>
            </a:pathLst>
          </a:custGeom>
          <a:noFill/>
          <a:ln w="127">
            <a:solidFill>
              <a:srgbClr val="B8C2CC"/>
            </a:solidFill>
            <a:prstDash val="solid"/>
          </a:ln>
        </p:spPr>
      </p:sp>
      <p:sp>
        <p:nvSpPr>
          <p:cNvPr id="52" name="S04-mark87"/>
          <p:cNvSpPr/>
          <p:nvPr/>
        </p:nvSpPr>
        <p:spPr>
          <a:xfrm>
            <a:off x="8033004" y="19279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3" name="S04-mark88"/>
          <p:cNvSpPr/>
          <p:nvPr/>
        </p:nvSpPr>
        <p:spPr>
          <a:xfrm flipV="1">
            <a:off x="9861804" y="1927987"/>
            <a:ext cx="91440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54" name="S04-label89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6 cm, 세로 4 cm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달라도 넓이는?</a:t>
            </a:r>
            <a:endParaRPr lang="ko-KR" sz="4000" dirty="0"/>
          </a:p>
        </p:txBody>
      </p:sp>
      <p:sp>
        <p:nvSpPr>
          <p:cNvPr id="3" name="S05-text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한 칸은 1 cm²예요.</a:t>
            </a:r>
            <a:endParaRPr lang="ko-KR" sz="2800" dirty="0"/>
          </a:p>
        </p:txBody>
      </p:sp>
      <p:sp>
        <p:nvSpPr>
          <p:cNvPr id="4" name="S05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나, 다의 밑변과 높이를 세어 넓이를 비교해요.</a:t>
            </a:r>
            <a:endParaRPr lang="ko-KR" sz="2800" dirty="0"/>
          </a:p>
        </p:txBody>
      </p:sp>
      <p:sp>
        <p:nvSpPr>
          <p:cNvPr id="6" name="S05-mark93"/>
          <p:cNvSpPr/>
          <p:nvPr/>
        </p:nvSpPr>
        <p:spPr>
          <a:xfrm>
            <a:off x="1152652" y="2785872"/>
            <a:ext cx="2600960" cy="1560576"/>
          </a:xfrm>
          <a:custGeom>
            <a:avLst/>
            <a:gdLst/>
            <a:ahLst/>
            <a:cxnLst/>
            <a:rect l="l" t="t" r="r" b="b"/>
            <a:pathLst>
              <a:path w="2600960" h="1560576">
                <a:moveTo>
                  <a:pt x="0" y="1560576"/>
                </a:moveTo>
                <a:lnTo>
                  <a:pt x="2080768" y="1560576"/>
                </a:lnTo>
                <a:lnTo>
                  <a:pt x="2600960" y="0"/>
                </a:lnTo>
                <a:lnTo>
                  <a:pt x="520192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05-mark94"/>
          <p:cNvSpPr/>
          <p:nvPr/>
        </p:nvSpPr>
        <p:spPr>
          <a:xfrm>
            <a:off x="4793996" y="2785872"/>
            <a:ext cx="3121152" cy="1560576"/>
          </a:xfrm>
          <a:custGeom>
            <a:avLst/>
            <a:gdLst/>
            <a:ahLst/>
            <a:cxnLst/>
            <a:rect l="l" t="t" r="r" b="b"/>
            <a:pathLst>
              <a:path w="3121152" h="1560576">
                <a:moveTo>
                  <a:pt x="0" y="1560576"/>
                </a:moveTo>
                <a:lnTo>
                  <a:pt x="2080768" y="1560576"/>
                </a:lnTo>
                <a:lnTo>
                  <a:pt x="3121152" y="0"/>
                </a:lnTo>
                <a:lnTo>
                  <a:pt x="1040384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05-mark95"/>
          <p:cNvSpPr/>
          <p:nvPr/>
        </p:nvSpPr>
        <p:spPr>
          <a:xfrm>
            <a:off x="8435340" y="2785872"/>
            <a:ext cx="2600960" cy="1560576"/>
          </a:xfrm>
          <a:custGeom>
            <a:avLst/>
            <a:gdLst/>
            <a:ahLst/>
            <a:cxnLst/>
            <a:rect l="l" t="t" r="r" b="b"/>
            <a:pathLst>
              <a:path w="2600960" h="1560576">
                <a:moveTo>
                  <a:pt x="520192" y="1560576"/>
                </a:moveTo>
                <a:lnTo>
                  <a:pt x="2600960" y="1560576"/>
                </a:lnTo>
                <a:lnTo>
                  <a:pt x="20807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05-mark96"/>
          <p:cNvSpPr/>
          <p:nvPr/>
        </p:nvSpPr>
        <p:spPr>
          <a:xfrm flipV="1">
            <a:off x="632460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5-mark97"/>
          <p:cNvSpPr/>
          <p:nvPr/>
        </p:nvSpPr>
        <p:spPr>
          <a:xfrm flipV="1">
            <a:off x="1152652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5-mark98"/>
          <p:cNvSpPr/>
          <p:nvPr/>
        </p:nvSpPr>
        <p:spPr>
          <a:xfrm flipV="1">
            <a:off x="1672844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5-mark99"/>
          <p:cNvSpPr/>
          <p:nvPr/>
        </p:nvSpPr>
        <p:spPr>
          <a:xfrm flipV="1">
            <a:off x="2193036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5-mark100"/>
          <p:cNvSpPr/>
          <p:nvPr/>
        </p:nvSpPr>
        <p:spPr>
          <a:xfrm flipV="1">
            <a:off x="2713228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5-mark101"/>
          <p:cNvSpPr/>
          <p:nvPr/>
        </p:nvSpPr>
        <p:spPr>
          <a:xfrm flipV="1">
            <a:off x="3233420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5-mark102"/>
          <p:cNvSpPr/>
          <p:nvPr/>
        </p:nvSpPr>
        <p:spPr>
          <a:xfrm flipV="1">
            <a:off x="3753612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5-mark103"/>
          <p:cNvSpPr/>
          <p:nvPr/>
        </p:nvSpPr>
        <p:spPr>
          <a:xfrm flipV="1">
            <a:off x="4273804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5-mark104"/>
          <p:cNvSpPr/>
          <p:nvPr/>
        </p:nvSpPr>
        <p:spPr>
          <a:xfrm flipV="1">
            <a:off x="4793996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5-mark105"/>
          <p:cNvSpPr/>
          <p:nvPr/>
        </p:nvSpPr>
        <p:spPr>
          <a:xfrm flipV="1">
            <a:off x="5314188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5-mark106"/>
          <p:cNvSpPr/>
          <p:nvPr/>
        </p:nvSpPr>
        <p:spPr>
          <a:xfrm flipV="1">
            <a:off x="5834380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5-mark107"/>
          <p:cNvSpPr/>
          <p:nvPr/>
        </p:nvSpPr>
        <p:spPr>
          <a:xfrm flipV="1">
            <a:off x="6354572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5-mark108"/>
          <p:cNvSpPr/>
          <p:nvPr/>
        </p:nvSpPr>
        <p:spPr>
          <a:xfrm flipV="1">
            <a:off x="6874764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5-mark109"/>
          <p:cNvSpPr/>
          <p:nvPr/>
        </p:nvSpPr>
        <p:spPr>
          <a:xfrm flipV="1">
            <a:off x="7394956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5-mark110"/>
          <p:cNvSpPr/>
          <p:nvPr/>
        </p:nvSpPr>
        <p:spPr>
          <a:xfrm flipV="1">
            <a:off x="7915148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5-mark111"/>
          <p:cNvSpPr/>
          <p:nvPr/>
        </p:nvSpPr>
        <p:spPr>
          <a:xfrm flipV="1">
            <a:off x="8435340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5-mark112"/>
          <p:cNvSpPr/>
          <p:nvPr/>
        </p:nvSpPr>
        <p:spPr>
          <a:xfrm flipV="1">
            <a:off x="8955532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5-mark113"/>
          <p:cNvSpPr/>
          <p:nvPr/>
        </p:nvSpPr>
        <p:spPr>
          <a:xfrm flipV="1">
            <a:off x="9475724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5-mark114"/>
          <p:cNvSpPr/>
          <p:nvPr/>
        </p:nvSpPr>
        <p:spPr>
          <a:xfrm flipV="1">
            <a:off x="9995916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5-mark115"/>
          <p:cNvSpPr/>
          <p:nvPr/>
        </p:nvSpPr>
        <p:spPr>
          <a:xfrm flipV="1">
            <a:off x="10516108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5-mark116"/>
          <p:cNvSpPr/>
          <p:nvPr/>
        </p:nvSpPr>
        <p:spPr>
          <a:xfrm flipV="1">
            <a:off x="11036300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5-mark117"/>
          <p:cNvSpPr/>
          <p:nvPr/>
        </p:nvSpPr>
        <p:spPr>
          <a:xfrm flipV="1">
            <a:off x="11556492" y="2265680"/>
            <a:ext cx="0" cy="26009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5-mark118"/>
          <p:cNvSpPr/>
          <p:nvPr/>
        </p:nvSpPr>
        <p:spPr>
          <a:xfrm>
            <a:off x="632460" y="4866640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5-mark119"/>
          <p:cNvSpPr/>
          <p:nvPr/>
        </p:nvSpPr>
        <p:spPr>
          <a:xfrm>
            <a:off x="632460" y="4346448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5-mark120"/>
          <p:cNvSpPr/>
          <p:nvPr/>
        </p:nvSpPr>
        <p:spPr>
          <a:xfrm>
            <a:off x="632460" y="3826256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5-mark121"/>
          <p:cNvSpPr/>
          <p:nvPr/>
        </p:nvSpPr>
        <p:spPr>
          <a:xfrm>
            <a:off x="632460" y="3306064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5-mark122"/>
          <p:cNvSpPr/>
          <p:nvPr/>
        </p:nvSpPr>
        <p:spPr>
          <a:xfrm>
            <a:off x="632460" y="2785872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5-mark123"/>
          <p:cNvSpPr/>
          <p:nvPr/>
        </p:nvSpPr>
        <p:spPr>
          <a:xfrm>
            <a:off x="632460" y="2265680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5-figure124" descr="모눈 위의 평행사변형 가, 나, 다: 모두 밑변 4칸, 높이 3칸이고 기울어진 정도가 다름"/>
          <p:cNvSpPr/>
          <p:nvPr/>
        </p:nvSpPr>
        <p:spPr>
          <a:xfrm>
            <a:off x="1152652" y="2785872"/>
            <a:ext cx="2600960" cy="1560576"/>
          </a:xfrm>
          <a:custGeom>
            <a:avLst/>
            <a:gdLst/>
            <a:ahLst/>
            <a:cxnLst/>
            <a:rect l="l" t="t" r="r" b="b"/>
            <a:pathLst>
              <a:path w="2600960" h="1560576">
                <a:moveTo>
                  <a:pt x="0" y="1560576"/>
                </a:moveTo>
                <a:lnTo>
                  <a:pt x="2080768" y="1560576"/>
                </a:lnTo>
                <a:lnTo>
                  <a:pt x="2600960" y="0"/>
                </a:lnTo>
                <a:lnTo>
                  <a:pt x="520192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05-mark125"/>
          <p:cNvSpPr/>
          <p:nvPr/>
        </p:nvSpPr>
        <p:spPr>
          <a:xfrm>
            <a:off x="4793996" y="2785872"/>
            <a:ext cx="3121152" cy="1560576"/>
          </a:xfrm>
          <a:custGeom>
            <a:avLst/>
            <a:gdLst/>
            <a:ahLst/>
            <a:cxnLst/>
            <a:rect l="l" t="t" r="r" b="b"/>
            <a:pathLst>
              <a:path w="3121152" h="1560576">
                <a:moveTo>
                  <a:pt x="0" y="1560576"/>
                </a:moveTo>
                <a:lnTo>
                  <a:pt x="2080768" y="1560576"/>
                </a:lnTo>
                <a:lnTo>
                  <a:pt x="3121152" y="0"/>
                </a:lnTo>
                <a:lnTo>
                  <a:pt x="1040384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05-mark126"/>
          <p:cNvSpPr/>
          <p:nvPr/>
        </p:nvSpPr>
        <p:spPr>
          <a:xfrm>
            <a:off x="8435340" y="2785872"/>
            <a:ext cx="2600960" cy="1560576"/>
          </a:xfrm>
          <a:custGeom>
            <a:avLst/>
            <a:gdLst/>
            <a:ahLst/>
            <a:cxnLst/>
            <a:rect l="l" t="t" r="r" b="b"/>
            <a:pathLst>
              <a:path w="2600960" h="1560576">
                <a:moveTo>
                  <a:pt x="520192" y="1560576"/>
                </a:moveTo>
                <a:lnTo>
                  <a:pt x="2600960" y="1560576"/>
                </a:lnTo>
                <a:lnTo>
                  <a:pt x="2080768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05-label128"/>
          <p:cNvSpPr txBox="1"/>
          <p:nvPr/>
        </p:nvSpPr>
        <p:spPr>
          <a:xfrm>
            <a:off x="2261362" y="224711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41" name="S05-label130"/>
          <p:cNvSpPr txBox="1"/>
          <p:nvPr/>
        </p:nvSpPr>
        <p:spPr>
          <a:xfrm>
            <a:off x="6162802" y="224711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42" name="S05-label132"/>
          <p:cNvSpPr txBox="1"/>
          <p:nvPr/>
        </p:nvSpPr>
        <p:spPr>
          <a:xfrm>
            <a:off x="9544050" y="2247113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6-card1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1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2800" dirty="0"/>
          </a:p>
        </p:txBody>
      </p:sp>
      <p:sp>
        <p:nvSpPr>
          <p:cNvPr id="5" name="S06-figure135" descr="밑변 6 cm, 옆의 변 5 cm, 높이(점선) 4 cm인 평행사변형"/>
          <p:cNvSpPr/>
          <p:nvPr/>
        </p:nvSpPr>
        <p:spPr>
          <a:xfrm>
            <a:off x="1049325" y="2254019"/>
            <a:ext cx="4361586" cy="1938483"/>
          </a:xfrm>
          <a:custGeom>
            <a:avLst/>
            <a:gdLst/>
            <a:ahLst/>
            <a:cxnLst/>
            <a:rect l="l" t="t" r="r" b="b"/>
            <a:pathLst>
              <a:path w="4361586" h="1938483">
                <a:moveTo>
                  <a:pt x="0" y="1938483"/>
                </a:moveTo>
                <a:lnTo>
                  <a:pt x="2907724" y="1938483"/>
                </a:lnTo>
                <a:lnTo>
                  <a:pt x="4361586" y="0"/>
                </a:lnTo>
                <a:lnTo>
                  <a:pt x="1453862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6-mark136"/>
          <p:cNvSpPr/>
          <p:nvPr/>
        </p:nvSpPr>
        <p:spPr>
          <a:xfrm>
            <a:off x="3472428" y="4022884"/>
            <a:ext cx="169617" cy="169617"/>
          </a:xfrm>
          <a:custGeom>
            <a:avLst/>
            <a:gdLst/>
            <a:ahLst/>
            <a:cxnLst/>
            <a:rect l="l" t="t" r="r" b="b"/>
            <a:pathLst>
              <a:path w="169617" h="169617">
                <a:moveTo>
                  <a:pt x="0" y="0"/>
                </a:moveTo>
                <a:lnTo>
                  <a:pt x="169617" y="0"/>
                </a:lnTo>
                <a:lnTo>
                  <a:pt x="169617" y="169617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6-mark137"/>
          <p:cNvSpPr/>
          <p:nvPr/>
        </p:nvSpPr>
        <p:spPr>
          <a:xfrm>
            <a:off x="3472428" y="2254019"/>
            <a:ext cx="0" cy="1938483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6-label139"/>
          <p:cNvSpPr txBox="1"/>
          <p:nvPr/>
        </p:nvSpPr>
        <p:spPr>
          <a:xfrm>
            <a:off x="2121425" y="4269336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9" name="S06-label141"/>
          <p:cNvSpPr txBox="1"/>
          <p:nvPr/>
        </p:nvSpPr>
        <p:spPr>
          <a:xfrm>
            <a:off x="1025239" y="277169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0" name="S06-label143"/>
          <p:cNvSpPr txBox="1"/>
          <p:nvPr/>
        </p:nvSpPr>
        <p:spPr>
          <a:xfrm>
            <a:off x="2660390" y="30486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1" name="S06-card144"/>
          <p:cNvSpPr/>
          <p:nvPr/>
        </p:nvSpPr>
        <p:spPr>
          <a:xfrm>
            <a:off x="6277356" y="1588008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6-cardtext145"/>
          <p:cNvSpPr txBox="1"/>
          <p:nvPr/>
        </p:nvSpPr>
        <p:spPr>
          <a:xfrm>
            <a:off x="6551676" y="1725168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“6 × 5 = 30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 cm²예요.”</a:t>
            </a:r>
            <a:endParaRPr lang="ko-KR" sz="2800" dirty="0"/>
          </a:p>
        </p:txBody>
      </p:sp>
      <p:sp>
        <p:nvSpPr>
          <p:cNvPr id="13" name="S06-card146"/>
          <p:cNvSpPr/>
          <p:nvPr/>
        </p:nvSpPr>
        <p:spPr>
          <a:xfrm>
            <a:off x="6277356" y="3337560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6-cardtext147"/>
          <p:cNvSpPr txBox="1"/>
          <p:nvPr/>
        </p:nvSpPr>
        <p:spPr>
          <a:xfrm>
            <a:off x="6551676" y="3474720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“6 × 4 = 24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 cm²예요.”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평행사변형의 넓이 구하기</a:t>
            </a:r>
            <a:endParaRPr lang="ko-KR" sz="4000" dirty="0"/>
          </a:p>
        </p:txBody>
      </p:sp>
      <p:sp>
        <p:nvSpPr>
          <p:cNvPr id="3" name="S07-card1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1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밑변에 수직인 높이를 찾아요.</a:t>
            </a:r>
            <a:endParaRPr lang="ko-KR" sz="2800" dirty="0"/>
          </a:p>
        </p:txBody>
      </p:sp>
      <p:sp>
        <p:nvSpPr>
          <p:cNvPr id="5" name="S07-figure150" descr="밑변 8 cm, 옆의 변 5 cm, 높이(점선) 4 cm인 평행사변형"/>
          <p:cNvSpPr/>
          <p:nvPr/>
        </p:nvSpPr>
        <p:spPr>
          <a:xfrm>
            <a:off x="6778041" y="2430244"/>
            <a:ext cx="4361586" cy="1586031"/>
          </a:xfrm>
          <a:custGeom>
            <a:avLst/>
            <a:gdLst/>
            <a:ahLst/>
            <a:cxnLst/>
            <a:rect l="l" t="t" r="r" b="b"/>
            <a:pathLst>
              <a:path w="4361586" h="1586031">
                <a:moveTo>
                  <a:pt x="0" y="1586031"/>
                </a:moveTo>
                <a:lnTo>
                  <a:pt x="3172063" y="1586031"/>
                </a:lnTo>
                <a:lnTo>
                  <a:pt x="4361586" y="0"/>
                </a:lnTo>
                <a:lnTo>
                  <a:pt x="1189524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7-mark151"/>
          <p:cNvSpPr/>
          <p:nvPr/>
        </p:nvSpPr>
        <p:spPr>
          <a:xfrm>
            <a:off x="9157088" y="3806726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07-mark152"/>
          <p:cNvSpPr/>
          <p:nvPr/>
        </p:nvSpPr>
        <p:spPr>
          <a:xfrm>
            <a:off x="9157088" y="2430244"/>
            <a:ext cx="0" cy="1586031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7-label154"/>
          <p:cNvSpPr txBox="1"/>
          <p:nvPr/>
        </p:nvSpPr>
        <p:spPr>
          <a:xfrm>
            <a:off x="7982310" y="4093111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 cm</a:t>
            </a:r>
            <a:endParaRPr lang="ko-KR" sz="2200" dirty="0"/>
          </a:p>
        </p:txBody>
      </p:sp>
      <p:sp>
        <p:nvSpPr>
          <p:cNvPr id="9" name="S07-label156"/>
          <p:cNvSpPr txBox="1"/>
          <p:nvPr/>
        </p:nvSpPr>
        <p:spPr>
          <a:xfrm>
            <a:off x="6621786" y="277169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0" name="S07-label158"/>
          <p:cNvSpPr txBox="1"/>
          <p:nvPr/>
        </p:nvSpPr>
        <p:spPr>
          <a:xfrm>
            <a:off x="8345050" y="30486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1" name="S07-chip159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2" name="S07-text160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평행사변형의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넓이는?</a:t>
            </a:r>
            <a:endParaRPr lang="ko-KR" sz="2800" dirty="0"/>
          </a:p>
        </p:txBody>
      </p:sp>
      <p:sp>
        <p:nvSpPr>
          <p:cNvPr id="13" name="S07-chip161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4" name="S07-text162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 9 cm, 높이 4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평행사변형의 넓이는?</a:t>
            </a:r>
            <a:endParaRPr lang="ko-KR" sz="2800" dirty="0"/>
          </a:p>
        </p:txBody>
      </p:sp>
      <p:sp>
        <p:nvSpPr>
          <p:cNvPr id="15" name="S07-chip163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6" name="S07-text164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 48 cm², 밑변 8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평행사변형의 높이는?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밑변과 높이</a:t>
            </a:r>
            <a:endParaRPr lang="ko-KR" sz="4000" dirty="0"/>
          </a:p>
        </p:txBody>
      </p:sp>
      <p:sp>
        <p:nvSpPr>
          <p:cNvPr id="3" name="S08-card165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66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한 변</a:t>
            </a:r>
            <a:endParaRPr lang="ko-KR" sz="2800" dirty="0"/>
          </a:p>
        </p:txBody>
      </p:sp>
      <p:sp>
        <p:nvSpPr>
          <p:cNvPr id="5" name="S08-card167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168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맞은편 꼭짓점에서 밑변(또는 밑변을 늘인 선)에 수직으로 그은 선분의 길이</a:t>
            </a:r>
            <a:endParaRPr lang="ko-KR" sz="2800" dirty="0"/>
          </a:p>
        </p:txBody>
      </p:sp>
      <p:sp>
        <p:nvSpPr>
          <p:cNvPr id="7" name="S08-figure169" descr="예각삼각형 ㄱㄴㄷ: 변 ㄴㄷ이 밑변, 꼭짓점 ㄱ에서 밑변에 수직으로 내린 점선이 높이(삼각형 안)"/>
          <p:cNvSpPr/>
          <p:nvPr/>
        </p:nvSpPr>
        <p:spPr>
          <a:xfrm>
            <a:off x="2089404" y="1903857"/>
            <a:ext cx="2304288" cy="1536192"/>
          </a:xfrm>
          <a:custGeom>
            <a:avLst/>
            <a:gdLst/>
            <a:ahLst/>
            <a:cxnLst/>
            <a:rect l="l" t="t" r="r" b="b"/>
            <a:pathLst>
              <a:path w="2304288" h="1536192">
                <a:moveTo>
                  <a:pt x="768096" y="0"/>
                </a:moveTo>
                <a:lnTo>
                  <a:pt x="0" y="1536192"/>
                </a:lnTo>
                <a:lnTo>
                  <a:pt x="2304288" y="153619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8-mark170"/>
          <p:cNvSpPr/>
          <p:nvPr/>
        </p:nvSpPr>
        <p:spPr>
          <a:xfrm>
            <a:off x="2857500" y="3230499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8-mark171"/>
          <p:cNvSpPr/>
          <p:nvPr/>
        </p:nvSpPr>
        <p:spPr>
          <a:xfrm>
            <a:off x="2857500" y="1903857"/>
            <a:ext cx="0" cy="1536192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8-label173"/>
          <p:cNvSpPr txBox="1"/>
          <p:nvPr/>
        </p:nvSpPr>
        <p:spPr>
          <a:xfrm>
            <a:off x="2912872" y="3516884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</a:t>
            </a:r>
            <a:endParaRPr lang="ko-KR" sz="2200" dirty="0"/>
          </a:p>
        </p:txBody>
      </p:sp>
      <p:sp>
        <p:nvSpPr>
          <p:cNvPr id="11" name="S08-label175"/>
          <p:cNvSpPr txBox="1"/>
          <p:nvPr/>
        </p:nvSpPr>
        <p:spPr>
          <a:xfrm>
            <a:off x="2886456" y="2497328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200" dirty="0"/>
          </a:p>
        </p:txBody>
      </p:sp>
      <p:sp>
        <p:nvSpPr>
          <p:cNvPr id="12" name="S08-label177"/>
          <p:cNvSpPr txBox="1"/>
          <p:nvPr/>
        </p:nvSpPr>
        <p:spPr>
          <a:xfrm>
            <a:off x="2587061" y="1376595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13" name="S08-label179"/>
          <p:cNvSpPr txBox="1"/>
          <p:nvPr/>
        </p:nvSpPr>
        <p:spPr>
          <a:xfrm>
            <a:off x="1600671" y="3354689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14" name="S08-label181"/>
          <p:cNvSpPr txBox="1"/>
          <p:nvPr/>
        </p:nvSpPr>
        <p:spPr>
          <a:xfrm>
            <a:off x="4420595" y="3313123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15" name="S08-label182"/>
          <p:cNvSpPr txBox="1"/>
          <p:nvPr/>
        </p:nvSpPr>
        <p:spPr>
          <a:xfrm>
            <a:off x="548640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예각삼각형</a:t>
            </a:r>
            <a:endParaRPr lang="ko-KR" sz="2200" dirty="0"/>
          </a:p>
        </p:txBody>
      </p:sp>
      <p:sp>
        <p:nvSpPr>
          <p:cNvPr id="16" name="S08-figure183" descr="둔각삼각형 ㄱㄴㄷ: 변 ㄴㄷ이 밑변, 밑변을 오른쪽으로 늘인 점선까지 꼭짓점 ㄱ에서 수직으로 내린 점선이 높이(삼각형 밖)"/>
          <p:cNvSpPr/>
          <p:nvPr/>
        </p:nvSpPr>
        <p:spPr>
          <a:xfrm>
            <a:off x="7603236" y="2095881"/>
            <a:ext cx="2688336" cy="1152144"/>
          </a:xfrm>
          <a:custGeom>
            <a:avLst/>
            <a:gdLst/>
            <a:ahLst/>
            <a:cxnLst/>
            <a:rect l="l" t="t" r="r" b="b"/>
            <a:pathLst>
              <a:path w="2688336" h="1152144">
                <a:moveTo>
                  <a:pt x="2688336" y="0"/>
                </a:moveTo>
                <a:lnTo>
                  <a:pt x="0" y="1152144"/>
                </a:lnTo>
                <a:lnTo>
                  <a:pt x="1536192" y="115214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8-mark184"/>
          <p:cNvSpPr/>
          <p:nvPr/>
        </p:nvSpPr>
        <p:spPr>
          <a:xfrm>
            <a:off x="10082022" y="303847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0"/>
                </a:moveTo>
                <a:lnTo>
                  <a:pt x="0" y="0"/>
                </a:lnTo>
                <a:lnTo>
                  <a:pt x="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8-mark185"/>
          <p:cNvSpPr/>
          <p:nvPr/>
        </p:nvSpPr>
        <p:spPr>
          <a:xfrm>
            <a:off x="9139428" y="3248025"/>
            <a:ext cx="115214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9" name="S08-mark186"/>
          <p:cNvSpPr/>
          <p:nvPr/>
        </p:nvSpPr>
        <p:spPr>
          <a:xfrm>
            <a:off x="10291572" y="2095881"/>
            <a:ext cx="0" cy="1152144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0" name="S08-label188"/>
          <p:cNvSpPr txBox="1"/>
          <p:nvPr/>
        </p:nvSpPr>
        <p:spPr>
          <a:xfrm>
            <a:off x="8042656" y="332486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</a:t>
            </a:r>
            <a:endParaRPr lang="ko-KR" sz="2200" dirty="0"/>
          </a:p>
        </p:txBody>
      </p:sp>
      <p:sp>
        <p:nvSpPr>
          <p:cNvPr id="21" name="S08-label190"/>
          <p:cNvSpPr txBox="1"/>
          <p:nvPr/>
        </p:nvSpPr>
        <p:spPr>
          <a:xfrm>
            <a:off x="10320528" y="2497328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</a:t>
            </a:r>
            <a:endParaRPr lang="ko-KR" sz="2200" dirty="0"/>
          </a:p>
        </p:txBody>
      </p:sp>
      <p:sp>
        <p:nvSpPr>
          <p:cNvPr id="22" name="S08-label192"/>
          <p:cNvSpPr txBox="1"/>
          <p:nvPr/>
        </p:nvSpPr>
        <p:spPr>
          <a:xfrm>
            <a:off x="10227877" y="1627972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000" dirty="0"/>
          </a:p>
        </p:txBody>
      </p:sp>
      <p:sp>
        <p:nvSpPr>
          <p:cNvPr id="23" name="S08-label194"/>
          <p:cNvSpPr txBox="1"/>
          <p:nvPr/>
        </p:nvSpPr>
        <p:spPr>
          <a:xfrm>
            <a:off x="7077040" y="3068325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000" dirty="0"/>
          </a:p>
        </p:txBody>
      </p:sp>
      <p:sp>
        <p:nvSpPr>
          <p:cNvPr id="24" name="S08-label196"/>
          <p:cNvSpPr txBox="1"/>
          <p:nvPr/>
        </p:nvSpPr>
        <p:spPr>
          <a:xfrm>
            <a:off x="8897874" y="3300476"/>
            <a:ext cx="48310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000" dirty="0"/>
          </a:p>
        </p:txBody>
      </p:sp>
      <p:sp>
        <p:nvSpPr>
          <p:cNvPr id="25" name="S08-label197"/>
          <p:cNvSpPr txBox="1"/>
          <p:nvPr/>
        </p:nvSpPr>
        <p:spPr>
          <a:xfrm>
            <a:off x="6254496" y="4091178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둔각삼각형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 2개로 평행사변형</a:t>
            </a:r>
            <a:endParaRPr lang="ko-KR" sz="4000" dirty="0"/>
          </a:p>
        </p:txBody>
      </p:sp>
      <p:sp>
        <p:nvSpPr>
          <p:cNvPr id="3" name="S09-card198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99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(삼각형의 넓이) = (밑변) × (높이) ÷ 2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4 ÷ 2 = 12, 넓이는 12 cm²예요.</a:t>
            </a:r>
            <a:endParaRPr lang="ko-KR" sz="2800" dirty="0"/>
          </a:p>
        </p:txBody>
      </p:sp>
      <p:sp>
        <p:nvSpPr>
          <p:cNvPr id="5" name="S09-mark200"/>
          <p:cNvSpPr/>
          <p:nvPr/>
        </p:nvSpPr>
        <p:spPr>
          <a:xfrm>
            <a:off x="1869948" y="19279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91440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9-mark201"/>
          <p:cNvSpPr/>
          <p:nvPr/>
        </p:nvSpPr>
        <p:spPr>
          <a:xfrm flipV="1">
            <a:off x="14127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9-mark202"/>
          <p:cNvSpPr/>
          <p:nvPr/>
        </p:nvSpPr>
        <p:spPr>
          <a:xfrm flipV="1">
            <a:off x="18699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9-mark203"/>
          <p:cNvSpPr/>
          <p:nvPr/>
        </p:nvSpPr>
        <p:spPr>
          <a:xfrm flipV="1">
            <a:off x="23271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9-mark204"/>
          <p:cNvSpPr/>
          <p:nvPr/>
        </p:nvSpPr>
        <p:spPr>
          <a:xfrm flipV="1">
            <a:off x="27843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9-mark205"/>
          <p:cNvSpPr/>
          <p:nvPr/>
        </p:nvSpPr>
        <p:spPr>
          <a:xfrm flipV="1">
            <a:off x="32415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9-mark206"/>
          <p:cNvSpPr/>
          <p:nvPr/>
        </p:nvSpPr>
        <p:spPr>
          <a:xfrm flipV="1">
            <a:off x="36987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9-mark207"/>
          <p:cNvSpPr/>
          <p:nvPr/>
        </p:nvSpPr>
        <p:spPr>
          <a:xfrm flipV="1">
            <a:off x="41559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9-mark208"/>
          <p:cNvSpPr/>
          <p:nvPr/>
        </p:nvSpPr>
        <p:spPr>
          <a:xfrm flipV="1">
            <a:off x="46131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9-mark209"/>
          <p:cNvSpPr/>
          <p:nvPr/>
        </p:nvSpPr>
        <p:spPr>
          <a:xfrm flipV="1">
            <a:off x="5070348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9-mark210"/>
          <p:cNvSpPr/>
          <p:nvPr/>
        </p:nvSpPr>
        <p:spPr>
          <a:xfrm>
            <a:off x="1412748" y="4213987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9-mark211"/>
          <p:cNvSpPr/>
          <p:nvPr/>
        </p:nvSpPr>
        <p:spPr>
          <a:xfrm>
            <a:off x="1412748" y="3756787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9-mark212"/>
          <p:cNvSpPr/>
          <p:nvPr/>
        </p:nvSpPr>
        <p:spPr>
          <a:xfrm>
            <a:off x="1412748" y="3299587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9-mark213"/>
          <p:cNvSpPr/>
          <p:nvPr/>
        </p:nvSpPr>
        <p:spPr>
          <a:xfrm>
            <a:off x="1412748" y="2842387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9-mark214"/>
          <p:cNvSpPr/>
          <p:nvPr/>
        </p:nvSpPr>
        <p:spPr>
          <a:xfrm>
            <a:off x="1412748" y="2385187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9-mark215"/>
          <p:cNvSpPr/>
          <p:nvPr/>
        </p:nvSpPr>
        <p:spPr>
          <a:xfrm>
            <a:off x="1412748" y="1927987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9-mark216"/>
          <p:cNvSpPr/>
          <p:nvPr/>
        </p:nvSpPr>
        <p:spPr>
          <a:xfrm>
            <a:off x="1412748" y="1470787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9-figure217" descr="모눈 위의 밑변 6 cm, 높이 4 cm인 삼각형"/>
          <p:cNvSpPr/>
          <p:nvPr/>
        </p:nvSpPr>
        <p:spPr>
          <a:xfrm>
            <a:off x="1869948" y="19279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91440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9-mark218"/>
          <p:cNvSpPr/>
          <p:nvPr/>
        </p:nvSpPr>
        <p:spPr>
          <a:xfrm>
            <a:off x="2784348" y="354723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9-mark219"/>
          <p:cNvSpPr/>
          <p:nvPr/>
        </p:nvSpPr>
        <p:spPr>
          <a:xfrm>
            <a:off x="2784348" y="1927987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5" name="S09-label220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 6 cm, 높이 4 cm</a:t>
            </a:r>
            <a:endParaRPr lang="ko-KR" sz="2200" dirty="0"/>
          </a:p>
        </p:txBody>
      </p:sp>
      <p:sp>
        <p:nvSpPr>
          <p:cNvPr id="26" name="S09-mark221"/>
          <p:cNvSpPr/>
          <p:nvPr/>
        </p:nvSpPr>
        <p:spPr>
          <a:xfrm>
            <a:off x="7118604" y="19279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91440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27" name="S09-mark222"/>
          <p:cNvSpPr/>
          <p:nvPr/>
        </p:nvSpPr>
        <p:spPr>
          <a:xfrm>
            <a:off x="8033004" y="19279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2743200" y="0"/>
                </a:moveTo>
                <a:lnTo>
                  <a:pt x="0" y="0"/>
                </a:lnTo>
                <a:lnTo>
                  <a:pt x="1828800" y="182880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8" name="S09-mark223"/>
          <p:cNvSpPr/>
          <p:nvPr/>
        </p:nvSpPr>
        <p:spPr>
          <a:xfrm flipV="1">
            <a:off x="66614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9-mark224"/>
          <p:cNvSpPr/>
          <p:nvPr/>
        </p:nvSpPr>
        <p:spPr>
          <a:xfrm flipV="1">
            <a:off x="71186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9-mark225"/>
          <p:cNvSpPr/>
          <p:nvPr/>
        </p:nvSpPr>
        <p:spPr>
          <a:xfrm flipV="1">
            <a:off x="75758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9-mark226"/>
          <p:cNvSpPr/>
          <p:nvPr/>
        </p:nvSpPr>
        <p:spPr>
          <a:xfrm flipV="1">
            <a:off x="80330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9-mark227"/>
          <p:cNvSpPr/>
          <p:nvPr/>
        </p:nvSpPr>
        <p:spPr>
          <a:xfrm flipV="1">
            <a:off x="84902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9-mark228"/>
          <p:cNvSpPr/>
          <p:nvPr/>
        </p:nvSpPr>
        <p:spPr>
          <a:xfrm flipV="1">
            <a:off x="89474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9-mark229"/>
          <p:cNvSpPr/>
          <p:nvPr/>
        </p:nvSpPr>
        <p:spPr>
          <a:xfrm flipV="1">
            <a:off x="94046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9-mark230"/>
          <p:cNvSpPr/>
          <p:nvPr/>
        </p:nvSpPr>
        <p:spPr>
          <a:xfrm flipV="1">
            <a:off x="98618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9-mark231"/>
          <p:cNvSpPr/>
          <p:nvPr/>
        </p:nvSpPr>
        <p:spPr>
          <a:xfrm flipV="1">
            <a:off x="103190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9-mark232"/>
          <p:cNvSpPr/>
          <p:nvPr/>
        </p:nvSpPr>
        <p:spPr>
          <a:xfrm flipV="1">
            <a:off x="107762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9-mark233"/>
          <p:cNvSpPr/>
          <p:nvPr/>
        </p:nvSpPr>
        <p:spPr>
          <a:xfrm flipV="1">
            <a:off x="11233404" y="1470787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9-mark234"/>
          <p:cNvSpPr/>
          <p:nvPr/>
        </p:nvSpPr>
        <p:spPr>
          <a:xfrm>
            <a:off x="6661404" y="42139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9-mark235"/>
          <p:cNvSpPr/>
          <p:nvPr/>
        </p:nvSpPr>
        <p:spPr>
          <a:xfrm>
            <a:off x="6661404" y="37567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9-mark236"/>
          <p:cNvSpPr/>
          <p:nvPr/>
        </p:nvSpPr>
        <p:spPr>
          <a:xfrm>
            <a:off x="6661404" y="32995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9-mark237"/>
          <p:cNvSpPr/>
          <p:nvPr/>
        </p:nvSpPr>
        <p:spPr>
          <a:xfrm>
            <a:off x="6661404" y="28423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9-mark238"/>
          <p:cNvSpPr/>
          <p:nvPr/>
        </p:nvSpPr>
        <p:spPr>
          <a:xfrm>
            <a:off x="6661404" y="23851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9-mark239"/>
          <p:cNvSpPr/>
          <p:nvPr/>
        </p:nvSpPr>
        <p:spPr>
          <a:xfrm>
            <a:off x="6661404" y="19279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9-mark240"/>
          <p:cNvSpPr/>
          <p:nvPr/>
        </p:nvSpPr>
        <p:spPr>
          <a:xfrm>
            <a:off x="6661404" y="1470787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9-figure241" descr="같은 삼각형을 하나 더(노랑) 180° 돌려 붙여 만든 밑변 6 cm, 높이 4 cm인 평행사변형"/>
          <p:cNvSpPr/>
          <p:nvPr/>
        </p:nvSpPr>
        <p:spPr>
          <a:xfrm>
            <a:off x="7118604" y="19279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91440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7" name="S09-mark242"/>
          <p:cNvSpPr/>
          <p:nvPr/>
        </p:nvSpPr>
        <p:spPr>
          <a:xfrm>
            <a:off x="8033004" y="19279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2743200" y="0"/>
                </a:moveTo>
                <a:lnTo>
                  <a:pt x="0" y="0"/>
                </a:lnTo>
                <a:lnTo>
                  <a:pt x="1828800" y="182880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8" name="S09-mark243"/>
          <p:cNvSpPr/>
          <p:nvPr/>
        </p:nvSpPr>
        <p:spPr>
          <a:xfrm>
            <a:off x="8033004" y="354723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09-mark244"/>
          <p:cNvSpPr/>
          <p:nvPr/>
        </p:nvSpPr>
        <p:spPr>
          <a:xfrm>
            <a:off x="8033004" y="1927987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50" name="S09-label245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똑같은 삼각형 2개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넓이 구하기</a:t>
            </a:r>
            <a:endParaRPr lang="ko-KR" sz="4000" dirty="0"/>
          </a:p>
        </p:txBody>
      </p:sp>
      <p:sp>
        <p:nvSpPr>
          <p:cNvPr id="3" name="S10-card2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2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높이가 삼각형 밖에 있을 수도 있어요.</a:t>
            </a:r>
            <a:endParaRPr lang="ko-KR" sz="2800" dirty="0"/>
          </a:p>
        </p:txBody>
      </p:sp>
      <p:sp>
        <p:nvSpPr>
          <p:cNvPr id="5" name="S10-figure248" descr="밑변 6 cm인 둔각삼각형. 밑변을 늘인 점선까지 수직으로 내린 높이 4 cm(삼각형 밖), 옆의 변 5 cm"/>
          <p:cNvSpPr/>
          <p:nvPr/>
        </p:nvSpPr>
        <p:spPr>
          <a:xfrm>
            <a:off x="6901434" y="2308860"/>
            <a:ext cx="4114800" cy="1828800"/>
          </a:xfrm>
          <a:custGeom>
            <a:avLst/>
            <a:gdLst/>
            <a:ahLst/>
            <a:cxnLst/>
            <a:rect l="l" t="t" r="r" b="b"/>
            <a:pathLst>
              <a:path w="4114800" h="1828800">
                <a:moveTo>
                  <a:pt x="4114800" y="0"/>
                </a:moveTo>
                <a:lnTo>
                  <a:pt x="0" y="1828800"/>
                </a:lnTo>
                <a:lnTo>
                  <a:pt x="2743200" y="182880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0-mark249"/>
          <p:cNvSpPr/>
          <p:nvPr/>
        </p:nvSpPr>
        <p:spPr>
          <a:xfrm>
            <a:off x="10806684" y="392811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0"/>
                </a:moveTo>
                <a:lnTo>
                  <a:pt x="0" y="0"/>
                </a:lnTo>
                <a:lnTo>
                  <a:pt x="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10-mark250"/>
          <p:cNvSpPr/>
          <p:nvPr/>
        </p:nvSpPr>
        <p:spPr>
          <a:xfrm>
            <a:off x="9644634" y="4137660"/>
            <a:ext cx="13716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10-mark251"/>
          <p:cNvSpPr/>
          <p:nvPr/>
        </p:nvSpPr>
        <p:spPr>
          <a:xfrm>
            <a:off x="11016234" y="2308860"/>
            <a:ext cx="0" cy="18288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10-label253"/>
          <p:cNvSpPr txBox="1"/>
          <p:nvPr/>
        </p:nvSpPr>
        <p:spPr>
          <a:xfrm>
            <a:off x="7891272" y="421449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cm</a:t>
            </a:r>
            <a:endParaRPr lang="ko-KR" sz="2200" dirty="0"/>
          </a:p>
        </p:txBody>
      </p:sp>
      <p:sp>
        <p:nvSpPr>
          <p:cNvPr id="10" name="S10-label255"/>
          <p:cNvSpPr txBox="1"/>
          <p:nvPr/>
        </p:nvSpPr>
        <p:spPr>
          <a:xfrm>
            <a:off x="9579417" y="277169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1" name="S10-label257"/>
          <p:cNvSpPr txBox="1"/>
          <p:nvPr/>
        </p:nvSpPr>
        <p:spPr>
          <a:xfrm>
            <a:off x="11064748" y="304863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2" name="S10-chip258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3" name="S10-text259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삼각형의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넓이는?</a:t>
            </a:r>
            <a:endParaRPr lang="ko-KR" sz="2800" dirty="0"/>
          </a:p>
        </p:txBody>
      </p:sp>
      <p:sp>
        <p:nvSpPr>
          <p:cNvPr id="14" name="S10-chip260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10-text261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밑변 10 cm, 높이 7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넓이는?</a:t>
            </a:r>
            <a:endParaRPr lang="ko-KR" sz="2800" dirty="0"/>
          </a:p>
        </p:txBody>
      </p:sp>
      <p:sp>
        <p:nvSpPr>
          <p:cNvPr id="16" name="S10-chip262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7" name="S10-text263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 24 cm², 밑변 8 cm인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높이는?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2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2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①, ②의 넓이를 구하고, 어떻게 구했는지 말해요.</a:t>
            </a:r>
            <a:endParaRPr lang="ko-KR" sz="2800" dirty="0"/>
          </a:p>
        </p:txBody>
      </p:sp>
      <p:sp>
        <p:nvSpPr>
          <p:cNvPr id="5" name="S11-figure266" descr="밑변 7 cm, 옆의 변 5 cm, 높이 4 cm인 평행사변형"/>
          <p:cNvSpPr/>
          <p:nvPr/>
        </p:nvSpPr>
        <p:spPr>
          <a:xfrm>
            <a:off x="1049325" y="2121200"/>
            <a:ext cx="4384446" cy="1753779"/>
          </a:xfrm>
          <a:custGeom>
            <a:avLst/>
            <a:gdLst/>
            <a:ahLst/>
            <a:cxnLst/>
            <a:rect l="l" t="t" r="r" b="b"/>
            <a:pathLst>
              <a:path w="4384446" h="1753779">
                <a:moveTo>
                  <a:pt x="0" y="1753779"/>
                </a:moveTo>
                <a:lnTo>
                  <a:pt x="3069112" y="1753779"/>
                </a:lnTo>
                <a:lnTo>
                  <a:pt x="4384446" y="0"/>
                </a:lnTo>
                <a:lnTo>
                  <a:pt x="1315334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11-mark267"/>
          <p:cNvSpPr/>
          <p:nvPr/>
        </p:nvSpPr>
        <p:spPr>
          <a:xfrm>
            <a:off x="3241548" y="3665428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" name="S11-mark268"/>
          <p:cNvSpPr/>
          <p:nvPr/>
        </p:nvSpPr>
        <p:spPr>
          <a:xfrm>
            <a:off x="3241548" y="2121200"/>
            <a:ext cx="0" cy="175377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11-label270"/>
          <p:cNvSpPr txBox="1"/>
          <p:nvPr/>
        </p:nvSpPr>
        <p:spPr>
          <a:xfrm>
            <a:off x="2202119" y="395181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cm</a:t>
            </a:r>
            <a:endParaRPr lang="ko-KR" sz="2200" dirty="0"/>
          </a:p>
        </p:txBody>
      </p:sp>
      <p:sp>
        <p:nvSpPr>
          <p:cNvPr id="9" name="S11-label272"/>
          <p:cNvSpPr txBox="1"/>
          <p:nvPr/>
        </p:nvSpPr>
        <p:spPr>
          <a:xfrm>
            <a:off x="955975" y="254652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0" name="S11-label274"/>
          <p:cNvSpPr txBox="1"/>
          <p:nvPr/>
        </p:nvSpPr>
        <p:spPr>
          <a:xfrm>
            <a:off x="2429510" y="282346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1" name="S11-label275"/>
          <p:cNvSpPr txBox="1"/>
          <p:nvPr/>
        </p:nvSpPr>
        <p:spPr>
          <a:xfrm>
            <a:off x="548640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평행사변형</a:t>
            </a:r>
            <a:endParaRPr lang="ko-KR" sz="2200" dirty="0"/>
          </a:p>
        </p:txBody>
      </p:sp>
      <p:sp>
        <p:nvSpPr>
          <p:cNvPr id="12" name="S11-figure276" descr="밑변 7 cm, 옆의 변 5 cm인 둔각삼각형, 밑변을 왼쪽으로 늘인 점선까지 내린 높이 4 cm(삼각형 밖)"/>
          <p:cNvSpPr/>
          <p:nvPr/>
        </p:nvSpPr>
        <p:spPr>
          <a:xfrm>
            <a:off x="6755181" y="2121200"/>
            <a:ext cx="4384446" cy="1753779"/>
          </a:xfrm>
          <a:custGeom>
            <a:avLst/>
            <a:gdLst/>
            <a:ahLst/>
            <a:cxnLst/>
            <a:rect l="l" t="t" r="r" b="b"/>
            <a:pathLst>
              <a:path w="4384446" h="1753779">
                <a:moveTo>
                  <a:pt x="1315334" y="1753779"/>
                </a:moveTo>
                <a:lnTo>
                  <a:pt x="4384446" y="1753779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1-mark277"/>
          <p:cNvSpPr/>
          <p:nvPr/>
        </p:nvSpPr>
        <p:spPr>
          <a:xfrm>
            <a:off x="6755181" y="3665428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1-mark278"/>
          <p:cNvSpPr/>
          <p:nvPr/>
        </p:nvSpPr>
        <p:spPr>
          <a:xfrm flipH="1">
            <a:off x="6755181" y="3874978"/>
            <a:ext cx="131533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5" name="S11-mark279"/>
          <p:cNvSpPr/>
          <p:nvPr/>
        </p:nvSpPr>
        <p:spPr>
          <a:xfrm>
            <a:off x="6755181" y="2121200"/>
            <a:ext cx="0" cy="175377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6" name="S11-label281"/>
          <p:cNvSpPr txBox="1"/>
          <p:nvPr/>
        </p:nvSpPr>
        <p:spPr>
          <a:xfrm>
            <a:off x="9223309" y="395181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 cm</a:t>
            </a:r>
            <a:endParaRPr lang="ko-KR" sz="2200" dirty="0"/>
          </a:p>
        </p:txBody>
      </p:sp>
      <p:sp>
        <p:nvSpPr>
          <p:cNvPr id="17" name="S11-label283"/>
          <p:cNvSpPr txBox="1"/>
          <p:nvPr/>
        </p:nvSpPr>
        <p:spPr>
          <a:xfrm>
            <a:off x="7400341" y="2546523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18" name="S11-label285"/>
          <p:cNvSpPr txBox="1"/>
          <p:nvPr/>
        </p:nvSpPr>
        <p:spPr>
          <a:xfrm>
            <a:off x="5943143" y="2823464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cm</a:t>
            </a:r>
            <a:endParaRPr lang="ko-KR" sz="2200" dirty="0"/>
          </a:p>
        </p:txBody>
      </p:sp>
      <p:sp>
        <p:nvSpPr>
          <p:cNvPr id="19" name="S11-label286"/>
          <p:cNvSpPr txBox="1"/>
          <p:nvPr/>
        </p:nvSpPr>
        <p:spPr>
          <a:xfrm>
            <a:off x="6254496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삼각형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다른 삼각형은?</a:t>
            </a:r>
            <a:endParaRPr lang="ko-KR" sz="4000" dirty="0"/>
          </a:p>
        </p:txBody>
      </p:sp>
      <p:sp>
        <p:nvSpPr>
          <p:cNvPr id="3" name="S13-text2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모눈 한 칸은 1 cm²예요.</a:t>
            </a:r>
            <a:endParaRPr lang="ko-KR" sz="2800" dirty="0"/>
          </a:p>
        </p:txBody>
      </p:sp>
      <p:sp>
        <p:nvSpPr>
          <p:cNvPr id="4" name="S13-card2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2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넓이가 다른 하나를 찾고, 어떻게 알았는지 말해요.</a:t>
            </a:r>
            <a:endParaRPr lang="ko-KR" sz="2800" dirty="0"/>
          </a:p>
        </p:txBody>
      </p:sp>
      <p:sp>
        <p:nvSpPr>
          <p:cNvPr id="6" name="S13-mark290"/>
          <p:cNvSpPr/>
          <p:nvPr/>
        </p:nvSpPr>
        <p:spPr>
          <a:xfrm>
            <a:off x="1069421" y="3129199"/>
            <a:ext cx="1747845" cy="1310884"/>
          </a:xfrm>
          <a:custGeom>
            <a:avLst/>
            <a:gdLst/>
            <a:ahLst/>
            <a:cxnLst/>
            <a:rect l="l" t="t" r="r" b="b"/>
            <a:pathLst>
              <a:path w="1747845" h="1310884">
                <a:moveTo>
                  <a:pt x="0" y="1310884"/>
                </a:moveTo>
                <a:lnTo>
                  <a:pt x="1747845" y="1310884"/>
                </a:lnTo>
                <a:lnTo>
                  <a:pt x="873923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13-mark291"/>
          <p:cNvSpPr/>
          <p:nvPr/>
        </p:nvSpPr>
        <p:spPr>
          <a:xfrm>
            <a:off x="3254228" y="3129199"/>
            <a:ext cx="2621768" cy="1310884"/>
          </a:xfrm>
          <a:custGeom>
            <a:avLst/>
            <a:gdLst/>
            <a:ahLst/>
            <a:cxnLst/>
            <a:rect l="l" t="t" r="r" b="b"/>
            <a:pathLst>
              <a:path w="2621768" h="1310884">
                <a:moveTo>
                  <a:pt x="0" y="1310884"/>
                </a:moveTo>
                <a:lnTo>
                  <a:pt x="1747845" y="1310884"/>
                </a:lnTo>
                <a:lnTo>
                  <a:pt x="2621768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13-mark292"/>
          <p:cNvSpPr/>
          <p:nvPr/>
        </p:nvSpPr>
        <p:spPr>
          <a:xfrm>
            <a:off x="6749918" y="3129199"/>
            <a:ext cx="1747845" cy="1310884"/>
          </a:xfrm>
          <a:custGeom>
            <a:avLst/>
            <a:gdLst/>
            <a:ahLst/>
            <a:cxnLst/>
            <a:rect l="l" t="t" r="r" b="b"/>
            <a:pathLst>
              <a:path w="1747845" h="1310884">
                <a:moveTo>
                  <a:pt x="0" y="1310884"/>
                </a:moveTo>
                <a:lnTo>
                  <a:pt x="1747845" y="1310884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9" name="S13-mark293"/>
          <p:cNvSpPr/>
          <p:nvPr/>
        </p:nvSpPr>
        <p:spPr>
          <a:xfrm>
            <a:off x="9371686" y="2692237"/>
            <a:ext cx="1747845" cy="1747845"/>
          </a:xfrm>
          <a:custGeom>
            <a:avLst/>
            <a:gdLst/>
            <a:ahLst/>
            <a:cxnLst/>
            <a:rect l="l" t="t" r="r" b="b"/>
            <a:pathLst>
              <a:path w="1747845" h="1747845">
                <a:moveTo>
                  <a:pt x="0" y="1747845"/>
                </a:moveTo>
                <a:lnTo>
                  <a:pt x="1747845" y="1747845"/>
                </a:lnTo>
                <a:lnTo>
                  <a:pt x="436961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10" name="S13-mark294"/>
          <p:cNvSpPr/>
          <p:nvPr/>
        </p:nvSpPr>
        <p:spPr>
          <a:xfrm flipV="1">
            <a:off x="632460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3-mark295"/>
          <p:cNvSpPr/>
          <p:nvPr/>
        </p:nvSpPr>
        <p:spPr>
          <a:xfrm flipV="1">
            <a:off x="1069421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3-mark296"/>
          <p:cNvSpPr/>
          <p:nvPr/>
        </p:nvSpPr>
        <p:spPr>
          <a:xfrm flipV="1">
            <a:off x="1506383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3-mark297"/>
          <p:cNvSpPr/>
          <p:nvPr/>
        </p:nvSpPr>
        <p:spPr>
          <a:xfrm flipV="1">
            <a:off x="1943344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3-mark298"/>
          <p:cNvSpPr/>
          <p:nvPr/>
        </p:nvSpPr>
        <p:spPr>
          <a:xfrm flipV="1">
            <a:off x="2380305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3-mark299"/>
          <p:cNvSpPr/>
          <p:nvPr/>
        </p:nvSpPr>
        <p:spPr>
          <a:xfrm flipV="1">
            <a:off x="2817266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3-mark300"/>
          <p:cNvSpPr/>
          <p:nvPr/>
        </p:nvSpPr>
        <p:spPr>
          <a:xfrm flipV="1">
            <a:off x="3254228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3-mark301"/>
          <p:cNvSpPr/>
          <p:nvPr/>
        </p:nvSpPr>
        <p:spPr>
          <a:xfrm flipV="1">
            <a:off x="3691189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3-mark302"/>
          <p:cNvSpPr/>
          <p:nvPr/>
        </p:nvSpPr>
        <p:spPr>
          <a:xfrm flipV="1">
            <a:off x="4128150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3-mark303"/>
          <p:cNvSpPr/>
          <p:nvPr/>
        </p:nvSpPr>
        <p:spPr>
          <a:xfrm flipV="1">
            <a:off x="4565112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3-mark304"/>
          <p:cNvSpPr/>
          <p:nvPr/>
        </p:nvSpPr>
        <p:spPr>
          <a:xfrm flipV="1">
            <a:off x="5002073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3-mark305"/>
          <p:cNvSpPr/>
          <p:nvPr/>
        </p:nvSpPr>
        <p:spPr>
          <a:xfrm flipV="1">
            <a:off x="5439034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3-mark306"/>
          <p:cNvSpPr/>
          <p:nvPr/>
        </p:nvSpPr>
        <p:spPr>
          <a:xfrm flipV="1">
            <a:off x="5875995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3-mark307"/>
          <p:cNvSpPr/>
          <p:nvPr/>
        </p:nvSpPr>
        <p:spPr>
          <a:xfrm flipV="1">
            <a:off x="6312957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3-mark308"/>
          <p:cNvSpPr/>
          <p:nvPr/>
        </p:nvSpPr>
        <p:spPr>
          <a:xfrm flipV="1">
            <a:off x="6749918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3-mark309"/>
          <p:cNvSpPr/>
          <p:nvPr/>
        </p:nvSpPr>
        <p:spPr>
          <a:xfrm flipV="1">
            <a:off x="7186879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3-mark310"/>
          <p:cNvSpPr/>
          <p:nvPr/>
        </p:nvSpPr>
        <p:spPr>
          <a:xfrm flipV="1">
            <a:off x="7623840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3-mark311"/>
          <p:cNvSpPr/>
          <p:nvPr/>
        </p:nvSpPr>
        <p:spPr>
          <a:xfrm flipV="1">
            <a:off x="8060802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3-mark312"/>
          <p:cNvSpPr/>
          <p:nvPr/>
        </p:nvSpPr>
        <p:spPr>
          <a:xfrm flipV="1">
            <a:off x="8497763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3-mark313"/>
          <p:cNvSpPr/>
          <p:nvPr/>
        </p:nvSpPr>
        <p:spPr>
          <a:xfrm flipV="1">
            <a:off x="8934724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3-mark314"/>
          <p:cNvSpPr/>
          <p:nvPr/>
        </p:nvSpPr>
        <p:spPr>
          <a:xfrm flipV="1">
            <a:off x="9371686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3-mark315"/>
          <p:cNvSpPr/>
          <p:nvPr/>
        </p:nvSpPr>
        <p:spPr>
          <a:xfrm flipV="1">
            <a:off x="9808647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3-mark316"/>
          <p:cNvSpPr/>
          <p:nvPr/>
        </p:nvSpPr>
        <p:spPr>
          <a:xfrm flipV="1">
            <a:off x="10245608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3-mark317"/>
          <p:cNvSpPr/>
          <p:nvPr/>
        </p:nvSpPr>
        <p:spPr>
          <a:xfrm flipV="1">
            <a:off x="10682569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3-mark318"/>
          <p:cNvSpPr/>
          <p:nvPr/>
        </p:nvSpPr>
        <p:spPr>
          <a:xfrm flipV="1">
            <a:off x="11119531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3-mark319"/>
          <p:cNvSpPr/>
          <p:nvPr/>
        </p:nvSpPr>
        <p:spPr>
          <a:xfrm flipV="1">
            <a:off x="11556492" y="2255276"/>
            <a:ext cx="0" cy="262176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3-mark320"/>
          <p:cNvSpPr/>
          <p:nvPr/>
        </p:nvSpPr>
        <p:spPr>
          <a:xfrm>
            <a:off x="632460" y="4877044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3-mark321"/>
          <p:cNvSpPr/>
          <p:nvPr/>
        </p:nvSpPr>
        <p:spPr>
          <a:xfrm>
            <a:off x="632460" y="4440083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3-mark322"/>
          <p:cNvSpPr/>
          <p:nvPr/>
        </p:nvSpPr>
        <p:spPr>
          <a:xfrm>
            <a:off x="632460" y="4003121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3-mark323"/>
          <p:cNvSpPr/>
          <p:nvPr/>
        </p:nvSpPr>
        <p:spPr>
          <a:xfrm>
            <a:off x="632460" y="3566160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13-mark324"/>
          <p:cNvSpPr/>
          <p:nvPr/>
        </p:nvSpPr>
        <p:spPr>
          <a:xfrm>
            <a:off x="632460" y="3129199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13-mark325"/>
          <p:cNvSpPr/>
          <p:nvPr/>
        </p:nvSpPr>
        <p:spPr>
          <a:xfrm>
            <a:off x="632460" y="2692237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13-mark326"/>
          <p:cNvSpPr/>
          <p:nvPr/>
        </p:nvSpPr>
        <p:spPr>
          <a:xfrm>
            <a:off x="632460" y="2255276"/>
            <a:ext cx="109240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13-figure327" descr="모눈 위의 삼각형 가(밑변 4칸, 높이 3칸), 나(밑변 4칸, 높이 3칸, 꼭짓점이 오른쪽 밖), 다(밑변 4칸, 높이 3칸, 직각삼각형), 라(밑변 4칸, 높이 4칸)"/>
          <p:cNvSpPr/>
          <p:nvPr/>
        </p:nvSpPr>
        <p:spPr>
          <a:xfrm>
            <a:off x="1069421" y="3129199"/>
            <a:ext cx="1747845" cy="1310884"/>
          </a:xfrm>
          <a:custGeom>
            <a:avLst/>
            <a:gdLst/>
            <a:ahLst/>
            <a:cxnLst/>
            <a:rect l="l" t="t" r="r" b="b"/>
            <a:pathLst>
              <a:path w="1747845" h="1310884">
                <a:moveTo>
                  <a:pt x="0" y="1310884"/>
                </a:moveTo>
                <a:lnTo>
                  <a:pt x="1747845" y="1310884"/>
                </a:lnTo>
                <a:lnTo>
                  <a:pt x="873923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4" name="S13-mark328"/>
          <p:cNvSpPr/>
          <p:nvPr/>
        </p:nvSpPr>
        <p:spPr>
          <a:xfrm>
            <a:off x="3254228" y="3129199"/>
            <a:ext cx="2621768" cy="1310884"/>
          </a:xfrm>
          <a:custGeom>
            <a:avLst/>
            <a:gdLst/>
            <a:ahLst/>
            <a:cxnLst/>
            <a:rect l="l" t="t" r="r" b="b"/>
            <a:pathLst>
              <a:path w="2621768" h="1310884">
                <a:moveTo>
                  <a:pt x="0" y="1310884"/>
                </a:moveTo>
                <a:lnTo>
                  <a:pt x="1747845" y="1310884"/>
                </a:lnTo>
                <a:lnTo>
                  <a:pt x="2621768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5" name="S13-mark329"/>
          <p:cNvSpPr/>
          <p:nvPr/>
        </p:nvSpPr>
        <p:spPr>
          <a:xfrm>
            <a:off x="6749918" y="3129199"/>
            <a:ext cx="1747845" cy="1310884"/>
          </a:xfrm>
          <a:custGeom>
            <a:avLst/>
            <a:gdLst/>
            <a:ahLst/>
            <a:cxnLst/>
            <a:rect l="l" t="t" r="r" b="b"/>
            <a:pathLst>
              <a:path w="1747845" h="1310884">
                <a:moveTo>
                  <a:pt x="0" y="1310884"/>
                </a:moveTo>
                <a:lnTo>
                  <a:pt x="1747845" y="1310884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6" name="S13-mark330"/>
          <p:cNvSpPr/>
          <p:nvPr/>
        </p:nvSpPr>
        <p:spPr>
          <a:xfrm>
            <a:off x="9371686" y="2692237"/>
            <a:ext cx="1747845" cy="1747845"/>
          </a:xfrm>
          <a:custGeom>
            <a:avLst/>
            <a:gdLst/>
            <a:ahLst/>
            <a:cxnLst/>
            <a:rect l="l" t="t" r="r" b="b"/>
            <a:pathLst>
              <a:path w="1747845" h="1747845">
                <a:moveTo>
                  <a:pt x="0" y="1747845"/>
                </a:moveTo>
                <a:lnTo>
                  <a:pt x="1747845" y="1747845"/>
                </a:lnTo>
                <a:lnTo>
                  <a:pt x="436961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7" name="S13-label332"/>
          <p:cNvSpPr txBox="1"/>
          <p:nvPr/>
        </p:nvSpPr>
        <p:spPr>
          <a:xfrm>
            <a:off x="1751574" y="225543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48" name="S13-label334"/>
          <p:cNvSpPr txBox="1"/>
          <p:nvPr/>
        </p:nvSpPr>
        <p:spPr>
          <a:xfrm>
            <a:off x="4373342" y="225543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49" name="S13-label336"/>
          <p:cNvSpPr txBox="1"/>
          <p:nvPr/>
        </p:nvSpPr>
        <p:spPr>
          <a:xfrm>
            <a:off x="7432070" y="225543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50" name="S13-label338"/>
          <p:cNvSpPr txBox="1"/>
          <p:nvPr/>
        </p:nvSpPr>
        <p:spPr>
          <a:xfrm>
            <a:off x="10053838" y="225543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3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4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(평행사변형의 넓이) = (밑변) × (높이), (삼각형의 넓이) = (밑변) × (높이) ÷ 2</a:t>
            </a:r>
            <a:endParaRPr lang="ko-KR" sz="2800" dirty="0"/>
          </a:p>
        </p:txBody>
      </p:sp>
      <p:sp>
        <p:nvSpPr>
          <p:cNvPr id="5" name="S14-chip34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밑변에 수직인 높이 쓰기</a:t>
            </a:r>
            <a:endParaRPr lang="ko-KR" sz="2200" dirty="0"/>
          </a:p>
        </p:txBody>
      </p:sp>
      <p:sp>
        <p:nvSpPr>
          <p:cNvPr id="6" name="S14-chip34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비스듬한 변을 높이로 쓰기</a:t>
            </a:r>
            <a:endParaRPr lang="ko-KR" sz="2200" dirty="0"/>
          </a:p>
        </p:txBody>
      </p:sp>
      <p:sp>
        <p:nvSpPr>
          <p:cNvPr id="7" name="S14-text34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44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밑변 8 cm,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5 cm인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평행사변형의 넓이는?</a:t>
            </a:r>
            <a:endParaRPr lang="ko-KR" sz="2200" dirty="0"/>
          </a:p>
        </p:txBody>
      </p:sp>
      <p:sp>
        <p:nvSpPr>
          <p:cNvPr id="9" name="S14-text34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밑변 6 cm,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9 cm인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삼각형의 넓이는?</a:t>
            </a:r>
            <a:endParaRPr lang="ko-KR" sz="2200" dirty="0"/>
          </a:p>
        </p:txBody>
      </p:sp>
      <p:sp>
        <p:nvSpPr>
          <p:cNvPr id="10" name="S14-text34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넓이 20 cm², 밑변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cm인 삼각형의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높이는?</a:t>
            </a:r>
            <a:endParaRPr lang="ko-KR" sz="2200" dirty="0"/>
          </a:p>
        </p:txBody>
      </p:sp>
      <p:sp>
        <p:nvSpPr>
          <p:cNvPr id="11" name="S14-text34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사다리꼴과 마름모의 넓이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직사각형의 넓이</a:t>
            </a:r>
            <a:endParaRPr lang="ko-KR" sz="4000" dirty="0"/>
          </a:p>
        </p:txBody>
      </p:sp>
      <p:sp>
        <p:nvSpPr>
          <p:cNvPr id="3" name="S15-mark348"/>
          <p:cNvSpPr/>
          <p:nvPr/>
        </p:nvSpPr>
        <p:spPr>
          <a:xfrm>
            <a:off x="1972818" y="3017520"/>
            <a:ext cx="2514600" cy="1508760"/>
          </a:xfrm>
          <a:custGeom>
            <a:avLst/>
            <a:gdLst/>
            <a:ahLst/>
            <a:cxnLst/>
            <a:rect l="l" t="t" r="r" b="b"/>
            <a:pathLst>
              <a:path w="2514600" h="1508760">
                <a:moveTo>
                  <a:pt x="0" y="1508760"/>
                </a:moveTo>
                <a:lnTo>
                  <a:pt x="2514600" y="1508760"/>
                </a:lnTo>
                <a:lnTo>
                  <a:pt x="2514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" name="S15-mark349"/>
          <p:cNvSpPr/>
          <p:nvPr/>
        </p:nvSpPr>
        <p:spPr>
          <a:xfrm flipV="1">
            <a:off x="1469898" y="2514600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15-mark350"/>
          <p:cNvSpPr/>
          <p:nvPr/>
        </p:nvSpPr>
        <p:spPr>
          <a:xfrm flipV="1">
            <a:off x="1972818" y="2514600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15-mark351"/>
          <p:cNvSpPr/>
          <p:nvPr/>
        </p:nvSpPr>
        <p:spPr>
          <a:xfrm flipV="1">
            <a:off x="2475738" y="2514600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15-mark352"/>
          <p:cNvSpPr/>
          <p:nvPr/>
        </p:nvSpPr>
        <p:spPr>
          <a:xfrm flipV="1">
            <a:off x="2978658" y="2514600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5-mark353"/>
          <p:cNvSpPr/>
          <p:nvPr/>
        </p:nvSpPr>
        <p:spPr>
          <a:xfrm flipV="1">
            <a:off x="3481578" y="2514600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5-mark354"/>
          <p:cNvSpPr/>
          <p:nvPr/>
        </p:nvSpPr>
        <p:spPr>
          <a:xfrm flipV="1">
            <a:off x="3984498" y="2514600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5-mark355"/>
          <p:cNvSpPr/>
          <p:nvPr/>
        </p:nvSpPr>
        <p:spPr>
          <a:xfrm flipV="1">
            <a:off x="4487418" y="2514600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5-mark356"/>
          <p:cNvSpPr/>
          <p:nvPr/>
        </p:nvSpPr>
        <p:spPr>
          <a:xfrm flipV="1">
            <a:off x="4990338" y="2514600"/>
            <a:ext cx="0" cy="2514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5-mark357"/>
          <p:cNvSpPr/>
          <p:nvPr/>
        </p:nvSpPr>
        <p:spPr>
          <a:xfrm>
            <a:off x="1469898" y="5029200"/>
            <a:ext cx="35204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5-mark358"/>
          <p:cNvSpPr/>
          <p:nvPr/>
        </p:nvSpPr>
        <p:spPr>
          <a:xfrm>
            <a:off x="1469898" y="4526280"/>
            <a:ext cx="35204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5-mark359"/>
          <p:cNvSpPr/>
          <p:nvPr/>
        </p:nvSpPr>
        <p:spPr>
          <a:xfrm>
            <a:off x="1469898" y="4023360"/>
            <a:ext cx="35204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5-mark360"/>
          <p:cNvSpPr/>
          <p:nvPr/>
        </p:nvSpPr>
        <p:spPr>
          <a:xfrm>
            <a:off x="1469898" y="3520440"/>
            <a:ext cx="35204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5-mark361"/>
          <p:cNvSpPr/>
          <p:nvPr/>
        </p:nvSpPr>
        <p:spPr>
          <a:xfrm>
            <a:off x="1469898" y="3017520"/>
            <a:ext cx="35204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5-mark362"/>
          <p:cNvSpPr/>
          <p:nvPr/>
        </p:nvSpPr>
        <p:spPr>
          <a:xfrm>
            <a:off x="1469898" y="2514600"/>
            <a:ext cx="35204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5-figure363" descr="모눈 위의 가로 5 cm, 세로 3 cm인 직사각형, 왼쪽 아래에 직각 표시"/>
          <p:cNvSpPr/>
          <p:nvPr/>
        </p:nvSpPr>
        <p:spPr>
          <a:xfrm>
            <a:off x="1972818" y="3017520"/>
            <a:ext cx="2514600" cy="1508760"/>
          </a:xfrm>
          <a:custGeom>
            <a:avLst/>
            <a:gdLst/>
            <a:ahLst/>
            <a:cxnLst/>
            <a:rect l="l" t="t" r="r" b="b"/>
            <a:pathLst>
              <a:path w="2514600" h="1508760">
                <a:moveTo>
                  <a:pt x="0" y="1508760"/>
                </a:moveTo>
                <a:lnTo>
                  <a:pt x="2514600" y="1508760"/>
                </a:lnTo>
                <a:lnTo>
                  <a:pt x="251460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15-mark364"/>
          <p:cNvSpPr/>
          <p:nvPr/>
        </p:nvSpPr>
        <p:spPr>
          <a:xfrm>
            <a:off x="1972818" y="4316730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209550" y="209550"/>
                </a:moveTo>
                <a:lnTo>
                  <a:pt x="209550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5-label366"/>
          <p:cNvSpPr txBox="1"/>
          <p:nvPr/>
        </p:nvSpPr>
        <p:spPr>
          <a:xfrm>
            <a:off x="2848356" y="460311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cm</a:t>
            </a:r>
            <a:endParaRPr lang="ko-KR" sz="2200" dirty="0"/>
          </a:p>
        </p:txBody>
      </p:sp>
      <p:sp>
        <p:nvSpPr>
          <p:cNvPr id="21" name="S15-label368"/>
          <p:cNvSpPr txBox="1"/>
          <p:nvPr/>
        </p:nvSpPr>
        <p:spPr>
          <a:xfrm>
            <a:off x="1160780" y="3597275"/>
            <a:ext cx="76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cm</a:t>
            </a:r>
            <a:endParaRPr lang="ko-KR" sz="2200" dirty="0"/>
          </a:p>
        </p:txBody>
      </p:sp>
      <p:sp>
        <p:nvSpPr>
          <p:cNvPr id="22" name="S15-card369"/>
          <p:cNvSpPr/>
          <p:nvPr/>
        </p:nvSpPr>
        <p:spPr>
          <a:xfrm>
            <a:off x="6277356" y="2307082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15-cardtext370"/>
          <p:cNvSpPr txBox="1"/>
          <p:nvPr/>
        </p:nvSpPr>
        <p:spPr>
          <a:xfrm>
            <a:off x="6551676" y="2444242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(가로) × (세로)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3 = 15 (cm²)</a:t>
            </a:r>
            <a:endParaRPr lang="ko-KR" sz="2800" dirty="0"/>
          </a:p>
        </p:txBody>
      </p:sp>
      <p:sp>
        <p:nvSpPr>
          <p:cNvPr id="24" name="S15-card371"/>
          <p:cNvSpPr/>
          <p:nvPr/>
        </p:nvSpPr>
        <p:spPr>
          <a:xfrm>
            <a:off x="6277356" y="4056634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15-cardtext372"/>
          <p:cNvSpPr txBox="1"/>
          <p:nvPr/>
        </p:nvSpPr>
        <p:spPr>
          <a:xfrm>
            <a:off x="6551676" y="4193794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가로와 세로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직각으로 만나요(서로 수직).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평행사변형과 삼각형의 넓이</dc:title>
  <dc:subject>KR22-G05-MAT-AREA2-L01</dc:subject>
  <dc:creator>education-ppt</dc:creator>
  <cp:lastModifiedBy>education-ppt</cp:lastModifiedBy>
  <cp:revision>1</cp:revision>
  <dcterms:created xsi:type="dcterms:W3CDTF">2026-10-26T09:12:11Z</dcterms:created>
  <dcterms:modified xsi:type="dcterms:W3CDTF">2026-10-26T09:12:11Z</dcterms:modified>
</cp:coreProperties>
</file>