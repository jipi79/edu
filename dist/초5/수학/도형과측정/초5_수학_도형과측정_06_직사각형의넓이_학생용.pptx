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1322aef-107a-5439-9581-158089d36513}">
          <p14:sldIdLst>
            <p14:sldId id="256"/>
            <p14:sldId id="257"/>
          </p14:sldIdLst>
        </p14:section>
        <p14:section name="개념" id="{c5c8c2c5-2047-32ce-cbf1-20de2c61bbd4}">
          <p14:sldIdLst>
            <p14:sldId id="258"/>
            <p14:sldId id="259"/>
            <p14:sldId id="260"/>
            <p14:sldId id="263"/>
          </p14:sldIdLst>
        </p14:section>
        <p14:section name="연습" id="{2ee1d6f2-2242-94fd-9565-04529f7e0a6a}">
          <p14:sldIdLst>
            <p14:sldId id="261"/>
            <p14:sldId id="262"/>
            <p14:sldId id="264"/>
            <p14:sldId id="265"/>
          </p14:sldIdLst>
        </p14:section>
        <p14:section name="개념" id="{259a1cb0-027c-9fa4-de55-c10e5692aad1}">
          <p14:sldIdLst/>
        </p14:section>
        <p14:section name="연습" id="{90b9197b-36a5-0638-d5d7-f2c54b1e6f0c}">
          <p14:sldIdLst/>
        </p14:section>
        <p14:section name="확인" id="{a1d8e35e-4952-cff9-d32c-518031c5aa0e}">
          <p14:sldIdLst>
            <p14:sldId id="266"/>
            <p14:sldId id="267"/>
          </p14:sldIdLst>
        </p14:section>
        <p14:section name="정리" id="{5922623d-6576-7720-2912-38c1d12e8bb2}">
          <p14:sldIdLst>
            <p14:sldId id="268"/>
          </p14:sldIdLst>
        </p14:section>
        <p14:section name="보충" id="{cd9d182f-4c97-6d5e-1d28-983768eec45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직사각형의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직사각형의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직사각형의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 어떻게 재고 나타낼까요?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mark2"/>
          <p:cNvSpPr/>
          <p:nvPr/>
        </p:nvSpPr>
        <p:spPr>
          <a:xfrm>
            <a:off x="8543544" y="1275588"/>
            <a:ext cx="2206752" cy="1655064"/>
          </a:xfrm>
          <a:custGeom>
            <a:avLst/>
            <a:gdLst/>
            <a:ahLst/>
            <a:cxnLst/>
            <a:rect l="l" t="t" r="r" b="b"/>
            <a:pathLst>
              <a:path w="2206752" h="1655064">
                <a:moveTo>
                  <a:pt x="0" y="1655064"/>
                </a:moveTo>
                <a:lnTo>
                  <a:pt x="2206752" y="1655064"/>
                </a:lnTo>
                <a:lnTo>
                  <a:pt x="2206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1-mark3"/>
          <p:cNvSpPr/>
          <p:nvPr/>
        </p:nvSpPr>
        <p:spPr>
          <a:xfrm flipV="1">
            <a:off x="7991856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 flipV="1">
            <a:off x="8543544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9095232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9646920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V="1">
            <a:off x="10198608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V="1">
            <a:off x="10750296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11301984" y="723900"/>
            <a:ext cx="0" cy="27584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7991856" y="3482340"/>
            <a:ext cx="331012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7991856" y="2930652"/>
            <a:ext cx="331012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7991856" y="2378964"/>
            <a:ext cx="331012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7991856" y="1827276"/>
            <a:ext cx="331012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7991856" y="1275588"/>
            <a:ext cx="331012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7991856" y="723900"/>
            <a:ext cx="331012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1-figure16" descr="모눈 위에 색칠한 가로 4칸, 세로 3칸 직사각형"/>
          <p:cNvSpPr/>
          <p:nvPr/>
        </p:nvSpPr>
        <p:spPr>
          <a:xfrm>
            <a:off x="8543544" y="1275588"/>
            <a:ext cx="2206752" cy="1655064"/>
          </a:xfrm>
          <a:custGeom>
            <a:avLst/>
            <a:gdLst/>
            <a:ahLst/>
            <a:cxnLst/>
            <a:rect l="l" t="t" r="r" b="b"/>
            <a:pathLst>
              <a:path w="2206752" h="1655064">
                <a:moveTo>
                  <a:pt x="0" y="1655064"/>
                </a:moveTo>
                <a:lnTo>
                  <a:pt x="2206752" y="1655064"/>
                </a:lnTo>
                <a:lnTo>
                  <a:pt x="2206752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1-card17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1" name="S01-cardtext18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cm²로 직사각형의 넓이를 구해요.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m²와 km²를 알고 단위를 바꿔요.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2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5 cm, 세로 3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둘레는?</a:t>
            </a:r>
            <a:endParaRPr lang="ko-KR" sz="2800" dirty="0"/>
          </a:p>
        </p:txBody>
      </p:sp>
      <p:sp>
        <p:nvSpPr>
          <p:cNvPr id="5" name="S02-chip2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eqtext22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8 = □</a:t>
            </a:r>
            <a:endParaRPr lang="ko-KR" sz="3200" dirty="0"/>
          </a:p>
        </p:txBody>
      </p:sp>
      <p:sp>
        <p:nvSpPr>
          <p:cNvPr id="7" name="S02-chip2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24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m는 몇 cm?</a:t>
            </a:r>
            <a:endParaRPr lang="ko-KR" sz="2800" dirty="0"/>
          </a:p>
        </p:txBody>
      </p:sp>
      <p:sp>
        <p:nvSpPr>
          <p:cNvPr id="9" name="S02-chip25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02-text26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km는 몇 m?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넓이의 단위 1 cm²</a:t>
            </a:r>
            <a:endParaRPr lang="ko-KR" sz="4000" dirty="0"/>
          </a:p>
        </p:txBody>
      </p:sp>
      <p:sp>
        <p:nvSpPr>
          <p:cNvPr id="3" name="S03-card27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28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cm²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1 cm인 정사각형의 넓이, ‘1 제곱센티미터’라고 읽어요.</a:t>
            </a:r>
            <a:endParaRPr lang="ko-KR" sz="2800" dirty="0"/>
          </a:p>
        </p:txBody>
      </p:sp>
      <p:sp>
        <p:nvSpPr>
          <p:cNvPr id="5" name="S03-card29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30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 나타내기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cm²가 몇 개인지 세어요.</a:t>
            </a:r>
            <a:endParaRPr lang="ko-KR" sz="2800" dirty="0"/>
          </a:p>
        </p:txBody>
      </p:sp>
      <p:sp>
        <p:nvSpPr>
          <p:cNvPr id="7" name="S03-figure31" descr="한 변이 1 cm인 정사각형"/>
          <p:cNvSpPr/>
          <p:nvPr/>
        </p:nvSpPr>
        <p:spPr>
          <a:xfrm>
            <a:off x="2990088" y="2420493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502920"/>
                </a:moveTo>
                <a:lnTo>
                  <a:pt x="502920" y="502920"/>
                </a:lnTo>
                <a:lnTo>
                  <a:pt x="502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3-label33"/>
          <p:cNvSpPr txBox="1"/>
          <p:nvPr/>
        </p:nvSpPr>
        <p:spPr>
          <a:xfrm>
            <a:off x="2859786" y="300024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</a:t>
            </a:r>
            <a:endParaRPr lang="ko-KR" sz="2200" dirty="0"/>
          </a:p>
        </p:txBody>
      </p:sp>
      <p:sp>
        <p:nvSpPr>
          <p:cNvPr id="9" name="S03-label35"/>
          <p:cNvSpPr txBox="1"/>
          <p:nvPr/>
        </p:nvSpPr>
        <p:spPr>
          <a:xfrm>
            <a:off x="2178050" y="249732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</a:t>
            </a:r>
            <a:endParaRPr lang="ko-KR" sz="2200" dirty="0"/>
          </a:p>
        </p:txBody>
      </p:sp>
      <p:sp>
        <p:nvSpPr>
          <p:cNvPr id="10" name="S03-label36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cm²</a:t>
            </a:r>
            <a:endParaRPr lang="ko-KR" sz="2200" dirty="0"/>
          </a:p>
        </p:txBody>
      </p:sp>
      <p:sp>
        <p:nvSpPr>
          <p:cNvPr id="11" name="S03-mark37"/>
          <p:cNvSpPr/>
          <p:nvPr/>
        </p:nvSpPr>
        <p:spPr>
          <a:xfrm>
            <a:off x="7941564" y="1917573"/>
            <a:ext cx="2011680" cy="1508760"/>
          </a:xfrm>
          <a:custGeom>
            <a:avLst/>
            <a:gdLst/>
            <a:ahLst/>
            <a:cxnLst/>
            <a:rect l="l" t="t" r="r" b="b"/>
            <a:pathLst>
              <a:path w="2011680" h="1508760">
                <a:moveTo>
                  <a:pt x="0" y="1508760"/>
                </a:moveTo>
                <a:lnTo>
                  <a:pt x="2011680" y="1508760"/>
                </a:lnTo>
                <a:lnTo>
                  <a:pt x="201168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2" name="S03-mark38"/>
          <p:cNvSpPr/>
          <p:nvPr/>
        </p:nvSpPr>
        <p:spPr>
          <a:xfrm flipV="1">
            <a:off x="7438644" y="1414653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3-mark39"/>
          <p:cNvSpPr/>
          <p:nvPr/>
        </p:nvSpPr>
        <p:spPr>
          <a:xfrm flipV="1">
            <a:off x="7941564" y="1414653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3-mark40"/>
          <p:cNvSpPr/>
          <p:nvPr/>
        </p:nvSpPr>
        <p:spPr>
          <a:xfrm flipV="1">
            <a:off x="8444484" y="1414653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3-mark41"/>
          <p:cNvSpPr/>
          <p:nvPr/>
        </p:nvSpPr>
        <p:spPr>
          <a:xfrm flipV="1">
            <a:off x="8947404" y="1414653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3-mark42"/>
          <p:cNvSpPr/>
          <p:nvPr/>
        </p:nvSpPr>
        <p:spPr>
          <a:xfrm flipV="1">
            <a:off x="9450324" y="1414653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3-mark43"/>
          <p:cNvSpPr/>
          <p:nvPr/>
        </p:nvSpPr>
        <p:spPr>
          <a:xfrm flipV="1">
            <a:off x="9953244" y="1414653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3-mark44"/>
          <p:cNvSpPr/>
          <p:nvPr/>
        </p:nvSpPr>
        <p:spPr>
          <a:xfrm flipV="1">
            <a:off x="10456164" y="1414653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3-mark45"/>
          <p:cNvSpPr/>
          <p:nvPr/>
        </p:nvSpPr>
        <p:spPr>
          <a:xfrm>
            <a:off x="7438644" y="3929253"/>
            <a:ext cx="30175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3-mark46"/>
          <p:cNvSpPr/>
          <p:nvPr/>
        </p:nvSpPr>
        <p:spPr>
          <a:xfrm>
            <a:off x="7438644" y="3426333"/>
            <a:ext cx="30175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3-mark47"/>
          <p:cNvSpPr/>
          <p:nvPr/>
        </p:nvSpPr>
        <p:spPr>
          <a:xfrm>
            <a:off x="7438644" y="2923413"/>
            <a:ext cx="30175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3-mark48"/>
          <p:cNvSpPr/>
          <p:nvPr/>
        </p:nvSpPr>
        <p:spPr>
          <a:xfrm>
            <a:off x="7438644" y="2420493"/>
            <a:ext cx="30175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3-mark49"/>
          <p:cNvSpPr/>
          <p:nvPr/>
        </p:nvSpPr>
        <p:spPr>
          <a:xfrm>
            <a:off x="7438644" y="1917573"/>
            <a:ext cx="30175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3-mark50"/>
          <p:cNvSpPr/>
          <p:nvPr/>
        </p:nvSpPr>
        <p:spPr>
          <a:xfrm>
            <a:off x="7438644" y="1414653"/>
            <a:ext cx="301752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3-figure51" descr="모눈 한 칸이 1 cm²인 모눈 위의 가로 4칸, 세로 3칸 직사각형(12칸)"/>
          <p:cNvSpPr/>
          <p:nvPr/>
        </p:nvSpPr>
        <p:spPr>
          <a:xfrm>
            <a:off x="7941564" y="1917573"/>
            <a:ext cx="2011680" cy="1508760"/>
          </a:xfrm>
          <a:custGeom>
            <a:avLst/>
            <a:gdLst/>
            <a:ahLst/>
            <a:cxnLst/>
            <a:rect l="l" t="t" r="r" b="b"/>
            <a:pathLst>
              <a:path w="2011680" h="1508760">
                <a:moveTo>
                  <a:pt x="0" y="1508760"/>
                </a:moveTo>
                <a:lnTo>
                  <a:pt x="2011680" y="1508760"/>
                </a:lnTo>
                <a:lnTo>
                  <a:pt x="20116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3-label52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cm²가 12개: 12 cm²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</a:t>
            </a:r>
            <a:endParaRPr lang="ko-KR" sz="4000" dirty="0"/>
          </a:p>
        </p:txBody>
      </p:sp>
      <p:sp>
        <p:nvSpPr>
          <p:cNvPr id="3" name="S04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(직사각형의 넓이) = (가로) × (세로)</a:t>
            </a:r>
            <a:endParaRPr lang="ko-KR" sz="2800" dirty="0"/>
          </a:p>
        </p:txBody>
      </p:sp>
      <p:sp>
        <p:nvSpPr>
          <p:cNvPr id="5" name="S04-mark55"/>
          <p:cNvSpPr/>
          <p:nvPr/>
        </p:nvSpPr>
        <p:spPr>
          <a:xfrm>
            <a:off x="7952743" y="2426539"/>
            <a:ext cx="2655737" cy="1593442"/>
          </a:xfrm>
          <a:custGeom>
            <a:avLst/>
            <a:gdLst/>
            <a:ahLst/>
            <a:cxnLst/>
            <a:rect l="l" t="t" r="r" b="b"/>
            <a:pathLst>
              <a:path w="2655737" h="1593442">
                <a:moveTo>
                  <a:pt x="0" y="1593442"/>
                </a:moveTo>
                <a:lnTo>
                  <a:pt x="2655737" y="1593442"/>
                </a:lnTo>
                <a:lnTo>
                  <a:pt x="2655737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4-mark56"/>
          <p:cNvSpPr/>
          <p:nvPr/>
        </p:nvSpPr>
        <p:spPr>
          <a:xfrm flipV="1">
            <a:off x="7421596" y="1895392"/>
            <a:ext cx="0" cy="265573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4-mark57"/>
          <p:cNvSpPr/>
          <p:nvPr/>
        </p:nvSpPr>
        <p:spPr>
          <a:xfrm flipV="1">
            <a:off x="7952743" y="1895392"/>
            <a:ext cx="0" cy="265573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4-mark58"/>
          <p:cNvSpPr/>
          <p:nvPr/>
        </p:nvSpPr>
        <p:spPr>
          <a:xfrm flipV="1">
            <a:off x="8483890" y="1895392"/>
            <a:ext cx="0" cy="265573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4-mark59"/>
          <p:cNvSpPr/>
          <p:nvPr/>
        </p:nvSpPr>
        <p:spPr>
          <a:xfrm flipV="1">
            <a:off x="9015038" y="1895392"/>
            <a:ext cx="0" cy="265573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4-mark60"/>
          <p:cNvSpPr/>
          <p:nvPr/>
        </p:nvSpPr>
        <p:spPr>
          <a:xfrm flipV="1">
            <a:off x="9546185" y="1895392"/>
            <a:ext cx="0" cy="265573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4-mark61"/>
          <p:cNvSpPr/>
          <p:nvPr/>
        </p:nvSpPr>
        <p:spPr>
          <a:xfrm flipV="1">
            <a:off x="10077332" y="1895392"/>
            <a:ext cx="0" cy="265573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4-mark62"/>
          <p:cNvSpPr/>
          <p:nvPr/>
        </p:nvSpPr>
        <p:spPr>
          <a:xfrm flipV="1">
            <a:off x="10608480" y="1895392"/>
            <a:ext cx="0" cy="265573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4-mark63"/>
          <p:cNvSpPr/>
          <p:nvPr/>
        </p:nvSpPr>
        <p:spPr>
          <a:xfrm flipV="1">
            <a:off x="11139627" y="1895392"/>
            <a:ext cx="0" cy="265573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4-mark64"/>
          <p:cNvSpPr/>
          <p:nvPr/>
        </p:nvSpPr>
        <p:spPr>
          <a:xfrm>
            <a:off x="7421596" y="4551128"/>
            <a:ext cx="3718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4-mark65"/>
          <p:cNvSpPr/>
          <p:nvPr/>
        </p:nvSpPr>
        <p:spPr>
          <a:xfrm>
            <a:off x="7421596" y="4019981"/>
            <a:ext cx="3718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4-mark66"/>
          <p:cNvSpPr/>
          <p:nvPr/>
        </p:nvSpPr>
        <p:spPr>
          <a:xfrm>
            <a:off x="7421596" y="3488834"/>
            <a:ext cx="3718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4-mark67"/>
          <p:cNvSpPr/>
          <p:nvPr/>
        </p:nvSpPr>
        <p:spPr>
          <a:xfrm>
            <a:off x="7421596" y="2957686"/>
            <a:ext cx="3718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4-mark68"/>
          <p:cNvSpPr/>
          <p:nvPr/>
        </p:nvSpPr>
        <p:spPr>
          <a:xfrm>
            <a:off x="7421596" y="2426539"/>
            <a:ext cx="3718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4-mark69"/>
          <p:cNvSpPr/>
          <p:nvPr/>
        </p:nvSpPr>
        <p:spPr>
          <a:xfrm>
            <a:off x="7421596" y="1895392"/>
            <a:ext cx="3718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4-figure70" descr="모눈 위의 가로 5 cm, 세로 3 cm 직사각형(1 cm² 15칸)"/>
          <p:cNvSpPr/>
          <p:nvPr/>
        </p:nvSpPr>
        <p:spPr>
          <a:xfrm>
            <a:off x="7952743" y="2426539"/>
            <a:ext cx="2655737" cy="1593442"/>
          </a:xfrm>
          <a:custGeom>
            <a:avLst/>
            <a:gdLst/>
            <a:ahLst/>
            <a:cxnLst/>
            <a:rect l="l" t="t" r="r" b="b"/>
            <a:pathLst>
              <a:path w="2655737" h="1593442">
                <a:moveTo>
                  <a:pt x="0" y="1593442"/>
                </a:moveTo>
                <a:lnTo>
                  <a:pt x="2655737" y="1593442"/>
                </a:lnTo>
                <a:lnTo>
                  <a:pt x="2655737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4-label72"/>
          <p:cNvSpPr txBox="1"/>
          <p:nvPr/>
        </p:nvSpPr>
        <p:spPr>
          <a:xfrm>
            <a:off x="8898849" y="409681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22" name="S04-label74"/>
          <p:cNvSpPr txBox="1"/>
          <p:nvPr/>
        </p:nvSpPr>
        <p:spPr>
          <a:xfrm>
            <a:off x="7140705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23" name="S04-stepno75"/>
          <p:cNvSpPr txBox="1"/>
          <p:nvPr/>
        </p:nvSpPr>
        <p:spPr>
          <a:xfrm>
            <a:off x="548640" y="2076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4" name="S04-text76"/>
          <p:cNvSpPr txBox="1"/>
          <p:nvPr/>
        </p:nvSpPr>
        <p:spPr>
          <a:xfrm>
            <a:off x="1325880" y="207619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cm²가 한 줄에 5개씩 있어요.</a:t>
            </a:r>
            <a:endParaRPr lang="ko-KR" sz="2800" dirty="0"/>
          </a:p>
        </p:txBody>
      </p:sp>
      <p:sp>
        <p:nvSpPr>
          <p:cNvPr id="25" name="S04-stepno77"/>
          <p:cNvSpPr txBox="1"/>
          <p:nvPr/>
        </p:nvSpPr>
        <p:spPr>
          <a:xfrm>
            <a:off x="548640" y="2835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6" name="S04-text78"/>
          <p:cNvSpPr txBox="1"/>
          <p:nvPr/>
        </p:nvSpPr>
        <p:spPr>
          <a:xfrm>
            <a:off x="1325880" y="2789428"/>
            <a:ext cx="5229271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3줄이니까 5 × 3 = 15(개)예요.</a:t>
            </a:r>
            <a:endParaRPr lang="ko-KR" sz="2800" dirty="0"/>
          </a:p>
        </p:txBody>
      </p:sp>
      <p:sp>
        <p:nvSpPr>
          <p:cNvPr id="27" name="S04-stepno79"/>
          <p:cNvSpPr txBox="1"/>
          <p:nvPr/>
        </p:nvSpPr>
        <p:spPr>
          <a:xfrm>
            <a:off x="548640" y="3821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8" name="S04-text80"/>
          <p:cNvSpPr txBox="1"/>
          <p:nvPr/>
        </p:nvSpPr>
        <p:spPr>
          <a:xfrm>
            <a:off x="1325880" y="382168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 15 cm²예요.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넓이</a:t>
            </a:r>
            <a:endParaRPr lang="ko-KR" sz="4000" dirty="0"/>
          </a:p>
        </p:txBody>
      </p:sp>
      <p:sp>
        <p:nvSpPr>
          <p:cNvPr id="3" name="S05-mark81"/>
          <p:cNvSpPr/>
          <p:nvPr/>
        </p:nvSpPr>
        <p:spPr>
          <a:xfrm>
            <a:off x="2132838" y="2674620"/>
            <a:ext cx="2194560" cy="2194560"/>
          </a:xfrm>
          <a:custGeom>
            <a:avLst/>
            <a:gdLst/>
            <a:ahLst/>
            <a:cxnLst/>
            <a:rect l="l" t="t" r="r" b="b"/>
            <a:pathLst>
              <a:path w="2194560" h="2194560">
                <a:moveTo>
                  <a:pt x="0" y="2194560"/>
                </a:moveTo>
                <a:lnTo>
                  <a:pt x="2194560" y="2194560"/>
                </a:lnTo>
                <a:lnTo>
                  <a:pt x="21945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05-mark82"/>
          <p:cNvSpPr/>
          <p:nvPr/>
        </p:nvSpPr>
        <p:spPr>
          <a:xfrm flipV="1">
            <a:off x="1584198" y="2125980"/>
            <a:ext cx="0" cy="32918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05-mark83"/>
          <p:cNvSpPr/>
          <p:nvPr/>
        </p:nvSpPr>
        <p:spPr>
          <a:xfrm flipV="1">
            <a:off x="2132838" y="2125980"/>
            <a:ext cx="0" cy="32918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5-mark84"/>
          <p:cNvSpPr/>
          <p:nvPr/>
        </p:nvSpPr>
        <p:spPr>
          <a:xfrm flipV="1">
            <a:off x="2681478" y="2125980"/>
            <a:ext cx="0" cy="32918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5-mark85"/>
          <p:cNvSpPr/>
          <p:nvPr/>
        </p:nvSpPr>
        <p:spPr>
          <a:xfrm flipV="1">
            <a:off x="3230118" y="2125980"/>
            <a:ext cx="0" cy="32918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5-mark86"/>
          <p:cNvSpPr/>
          <p:nvPr/>
        </p:nvSpPr>
        <p:spPr>
          <a:xfrm flipV="1">
            <a:off x="3778758" y="2125980"/>
            <a:ext cx="0" cy="32918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5-mark87"/>
          <p:cNvSpPr/>
          <p:nvPr/>
        </p:nvSpPr>
        <p:spPr>
          <a:xfrm flipV="1">
            <a:off x="4327398" y="2125980"/>
            <a:ext cx="0" cy="32918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88"/>
          <p:cNvSpPr/>
          <p:nvPr/>
        </p:nvSpPr>
        <p:spPr>
          <a:xfrm flipV="1">
            <a:off x="4876038" y="2125980"/>
            <a:ext cx="0" cy="32918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89"/>
          <p:cNvSpPr/>
          <p:nvPr/>
        </p:nvSpPr>
        <p:spPr>
          <a:xfrm>
            <a:off x="1584198" y="5417820"/>
            <a:ext cx="32918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90"/>
          <p:cNvSpPr/>
          <p:nvPr/>
        </p:nvSpPr>
        <p:spPr>
          <a:xfrm>
            <a:off x="1584198" y="4869180"/>
            <a:ext cx="32918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91"/>
          <p:cNvSpPr/>
          <p:nvPr/>
        </p:nvSpPr>
        <p:spPr>
          <a:xfrm>
            <a:off x="1584198" y="4320540"/>
            <a:ext cx="32918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92"/>
          <p:cNvSpPr/>
          <p:nvPr/>
        </p:nvSpPr>
        <p:spPr>
          <a:xfrm>
            <a:off x="1584198" y="3771900"/>
            <a:ext cx="32918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mark93"/>
          <p:cNvSpPr/>
          <p:nvPr/>
        </p:nvSpPr>
        <p:spPr>
          <a:xfrm>
            <a:off x="1584198" y="3223260"/>
            <a:ext cx="32918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5-mark94"/>
          <p:cNvSpPr/>
          <p:nvPr/>
        </p:nvSpPr>
        <p:spPr>
          <a:xfrm>
            <a:off x="1584198" y="2674620"/>
            <a:ext cx="32918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5-mark95"/>
          <p:cNvSpPr/>
          <p:nvPr/>
        </p:nvSpPr>
        <p:spPr>
          <a:xfrm>
            <a:off x="1584198" y="2125980"/>
            <a:ext cx="32918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5-figure96" descr="모눈 위의 한 변이 4 cm인 정사각형(1 cm² 16칸)"/>
          <p:cNvSpPr/>
          <p:nvPr/>
        </p:nvSpPr>
        <p:spPr>
          <a:xfrm>
            <a:off x="2132838" y="2674620"/>
            <a:ext cx="2194560" cy="2194560"/>
          </a:xfrm>
          <a:custGeom>
            <a:avLst/>
            <a:gdLst/>
            <a:ahLst/>
            <a:cxnLst/>
            <a:rect l="l" t="t" r="r" b="b"/>
            <a:pathLst>
              <a:path w="2194560" h="2194560">
                <a:moveTo>
                  <a:pt x="0" y="2194560"/>
                </a:moveTo>
                <a:lnTo>
                  <a:pt x="2194560" y="2194560"/>
                </a:lnTo>
                <a:lnTo>
                  <a:pt x="219456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5-label98"/>
          <p:cNvSpPr txBox="1"/>
          <p:nvPr/>
        </p:nvSpPr>
        <p:spPr>
          <a:xfrm>
            <a:off x="2848356" y="494601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20" name="S05-label100"/>
          <p:cNvSpPr txBox="1"/>
          <p:nvPr/>
        </p:nvSpPr>
        <p:spPr>
          <a:xfrm>
            <a:off x="1320800" y="35972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21" name="S05-card101"/>
          <p:cNvSpPr/>
          <p:nvPr/>
        </p:nvSpPr>
        <p:spPr>
          <a:xfrm>
            <a:off x="6277356" y="2477516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05-cardtext102"/>
          <p:cNvSpPr txBox="1"/>
          <p:nvPr/>
        </p:nvSpPr>
        <p:spPr>
          <a:xfrm>
            <a:off x="6551676" y="2614676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(한 변) × (한 변)</a:t>
            </a:r>
            <a:endParaRPr lang="ko-KR" sz="2800" dirty="0"/>
          </a:p>
        </p:txBody>
      </p:sp>
      <p:sp>
        <p:nvSpPr>
          <p:cNvPr id="23" name="S05-card103"/>
          <p:cNvSpPr/>
          <p:nvPr/>
        </p:nvSpPr>
        <p:spPr>
          <a:xfrm>
            <a:off x="6277356" y="3886200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05-cardtext104"/>
          <p:cNvSpPr txBox="1"/>
          <p:nvPr/>
        </p:nvSpPr>
        <p:spPr>
          <a:xfrm>
            <a:off x="6551676" y="4023360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4 = 16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 16 cm²예요.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 구하기</a:t>
            </a:r>
            <a:endParaRPr lang="ko-KR" sz="4000" dirty="0"/>
          </a:p>
        </p:txBody>
      </p:sp>
      <p:sp>
        <p:nvSpPr>
          <p:cNvPr id="3" name="S06-card1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1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답에 넓이의 단위 cm²를 붙여요.</a:t>
            </a:r>
            <a:endParaRPr lang="ko-KR" sz="2800" dirty="0"/>
          </a:p>
        </p:txBody>
      </p:sp>
      <p:sp>
        <p:nvSpPr>
          <p:cNvPr id="5" name="S06-chip107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6-text108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7 cm, 세로 4 cm인 직사각형의 넓이</a:t>
            </a:r>
            <a:endParaRPr lang="ko-KR" sz="2800" dirty="0"/>
          </a:p>
        </p:txBody>
      </p:sp>
      <p:sp>
        <p:nvSpPr>
          <p:cNvPr id="7" name="S06-chip109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6-text110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6 cm인 정사각형의 넓이</a:t>
            </a:r>
            <a:endParaRPr lang="ko-KR" sz="2800" dirty="0"/>
          </a:p>
        </p:txBody>
      </p:sp>
      <p:sp>
        <p:nvSpPr>
          <p:cNvPr id="9" name="S06-chip111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6-text112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40 cm²이고 가로가 8 cm인 직사각형의 세로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같으면 넓이도 같을까요?</a:t>
            </a:r>
            <a:endParaRPr lang="ko-KR" sz="4000" dirty="0"/>
          </a:p>
        </p:txBody>
      </p:sp>
      <p:sp>
        <p:nvSpPr>
          <p:cNvPr id="3" name="S07-text1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도형의 둘레는 모두 12 cm예요.</a:t>
            </a:r>
            <a:endParaRPr lang="ko-KR" sz="2800" dirty="0"/>
          </a:p>
        </p:txBody>
      </p:sp>
      <p:sp>
        <p:nvSpPr>
          <p:cNvPr id="4" name="S07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넓이도 같을까요? 1 cm²를 세어 비교해요.</a:t>
            </a:r>
            <a:endParaRPr lang="ko-KR" sz="2800" dirty="0"/>
          </a:p>
        </p:txBody>
      </p:sp>
      <p:sp>
        <p:nvSpPr>
          <p:cNvPr id="6" name="S07-mark116"/>
          <p:cNvSpPr/>
          <p:nvPr/>
        </p:nvSpPr>
        <p:spPr>
          <a:xfrm>
            <a:off x="2258568" y="3144393"/>
            <a:ext cx="1965960" cy="393192"/>
          </a:xfrm>
          <a:custGeom>
            <a:avLst/>
            <a:gdLst/>
            <a:ahLst/>
            <a:cxnLst/>
            <a:rect l="l" t="t" r="r" b="b"/>
            <a:pathLst>
              <a:path w="1965960" h="393192">
                <a:moveTo>
                  <a:pt x="0" y="393192"/>
                </a:moveTo>
                <a:lnTo>
                  <a:pt x="1965960" y="393192"/>
                </a:lnTo>
                <a:lnTo>
                  <a:pt x="19659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07-mark117"/>
          <p:cNvSpPr/>
          <p:nvPr/>
        </p:nvSpPr>
        <p:spPr>
          <a:xfrm flipV="1">
            <a:off x="1865376" y="2751201"/>
            <a:ext cx="0" cy="117957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7-mark118"/>
          <p:cNvSpPr/>
          <p:nvPr/>
        </p:nvSpPr>
        <p:spPr>
          <a:xfrm flipV="1">
            <a:off x="2258568" y="2751201"/>
            <a:ext cx="0" cy="117957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7-mark119"/>
          <p:cNvSpPr/>
          <p:nvPr/>
        </p:nvSpPr>
        <p:spPr>
          <a:xfrm flipV="1">
            <a:off x="2651760" y="2751201"/>
            <a:ext cx="0" cy="117957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7-mark120"/>
          <p:cNvSpPr/>
          <p:nvPr/>
        </p:nvSpPr>
        <p:spPr>
          <a:xfrm flipV="1">
            <a:off x="3044952" y="2751201"/>
            <a:ext cx="0" cy="117957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7-mark121"/>
          <p:cNvSpPr/>
          <p:nvPr/>
        </p:nvSpPr>
        <p:spPr>
          <a:xfrm flipV="1">
            <a:off x="3438144" y="2751201"/>
            <a:ext cx="0" cy="117957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7-mark122"/>
          <p:cNvSpPr/>
          <p:nvPr/>
        </p:nvSpPr>
        <p:spPr>
          <a:xfrm flipV="1">
            <a:off x="3831336" y="2751201"/>
            <a:ext cx="0" cy="117957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7-mark123"/>
          <p:cNvSpPr/>
          <p:nvPr/>
        </p:nvSpPr>
        <p:spPr>
          <a:xfrm flipV="1">
            <a:off x="4224528" y="2751201"/>
            <a:ext cx="0" cy="117957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7-mark124"/>
          <p:cNvSpPr/>
          <p:nvPr/>
        </p:nvSpPr>
        <p:spPr>
          <a:xfrm flipV="1">
            <a:off x="4617720" y="2751201"/>
            <a:ext cx="0" cy="1179576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7-mark125"/>
          <p:cNvSpPr/>
          <p:nvPr/>
        </p:nvSpPr>
        <p:spPr>
          <a:xfrm>
            <a:off x="1865376" y="3930777"/>
            <a:ext cx="27523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7-mark126"/>
          <p:cNvSpPr/>
          <p:nvPr/>
        </p:nvSpPr>
        <p:spPr>
          <a:xfrm>
            <a:off x="1865376" y="3537585"/>
            <a:ext cx="27523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7-mark127"/>
          <p:cNvSpPr/>
          <p:nvPr/>
        </p:nvSpPr>
        <p:spPr>
          <a:xfrm>
            <a:off x="1865376" y="3144393"/>
            <a:ext cx="27523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7-mark128"/>
          <p:cNvSpPr/>
          <p:nvPr/>
        </p:nvSpPr>
        <p:spPr>
          <a:xfrm>
            <a:off x="1865376" y="2751201"/>
            <a:ext cx="27523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7-figure129" descr="가로 5 cm, 세로 1 cm인 직사각형"/>
          <p:cNvSpPr/>
          <p:nvPr/>
        </p:nvSpPr>
        <p:spPr>
          <a:xfrm>
            <a:off x="2258568" y="3144393"/>
            <a:ext cx="1965960" cy="393192"/>
          </a:xfrm>
          <a:custGeom>
            <a:avLst/>
            <a:gdLst/>
            <a:ahLst/>
            <a:cxnLst/>
            <a:rect l="l" t="t" r="r" b="b"/>
            <a:pathLst>
              <a:path w="1965960" h="393192">
                <a:moveTo>
                  <a:pt x="0" y="393192"/>
                </a:moveTo>
                <a:lnTo>
                  <a:pt x="1965960" y="393192"/>
                </a:lnTo>
                <a:lnTo>
                  <a:pt x="196596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7-label131"/>
          <p:cNvSpPr txBox="1"/>
          <p:nvPr/>
        </p:nvSpPr>
        <p:spPr>
          <a:xfrm>
            <a:off x="2859786" y="3614420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21" name="S07-label133"/>
          <p:cNvSpPr txBox="1"/>
          <p:nvPr/>
        </p:nvSpPr>
        <p:spPr>
          <a:xfrm>
            <a:off x="4273042" y="316636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</a:t>
            </a:r>
            <a:endParaRPr lang="ko-KR" sz="2200" dirty="0"/>
          </a:p>
        </p:txBody>
      </p:sp>
      <p:sp>
        <p:nvSpPr>
          <p:cNvPr id="22" name="S07-label134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23" name="S07-mark135"/>
          <p:cNvSpPr/>
          <p:nvPr/>
        </p:nvSpPr>
        <p:spPr>
          <a:xfrm>
            <a:off x="8450229" y="2843814"/>
            <a:ext cx="994349" cy="994349"/>
          </a:xfrm>
          <a:custGeom>
            <a:avLst/>
            <a:gdLst/>
            <a:ahLst/>
            <a:cxnLst/>
            <a:rect l="l" t="t" r="r" b="b"/>
            <a:pathLst>
              <a:path w="994349" h="994349">
                <a:moveTo>
                  <a:pt x="0" y="994349"/>
                </a:moveTo>
                <a:lnTo>
                  <a:pt x="994349" y="994349"/>
                </a:lnTo>
                <a:lnTo>
                  <a:pt x="99434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4" name="S07-mark136"/>
          <p:cNvSpPr/>
          <p:nvPr/>
        </p:nvSpPr>
        <p:spPr>
          <a:xfrm flipV="1">
            <a:off x="8118780" y="2512365"/>
            <a:ext cx="0" cy="16572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7-mark137"/>
          <p:cNvSpPr/>
          <p:nvPr/>
        </p:nvSpPr>
        <p:spPr>
          <a:xfrm flipV="1">
            <a:off x="8450229" y="2512365"/>
            <a:ext cx="0" cy="16572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7-mark138"/>
          <p:cNvSpPr/>
          <p:nvPr/>
        </p:nvSpPr>
        <p:spPr>
          <a:xfrm flipV="1">
            <a:off x="8781679" y="2512365"/>
            <a:ext cx="0" cy="16572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7-mark139"/>
          <p:cNvSpPr/>
          <p:nvPr/>
        </p:nvSpPr>
        <p:spPr>
          <a:xfrm flipV="1">
            <a:off x="9113129" y="2512365"/>
            <a:ext cx="0" cy="16572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7-mark140"/>
          <p:cNvSpPr/>
          <p:nvPr/>
        </p:nvSpPr>
        <p:spPr>
          <a:xfrm flipV="1">
            <a:off x="9444579" y="2512365"/>
            <a:ext cx="0" cy="16572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7-mark141"/>
          <p:cNvSpPr/>
          <p:nvPr/>
        </p:nvSpPr>
        <p:spPr>
          <a:xfrm flipV="1">
            <a:off x="9776028" y="2512365"/>
            <a:ext cx="0" cy="165724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7-mark142"/>
          <p:cNvSpPr/>
          <p:nvPr/>
        </p:nvSpPr>
        <p:spPr>
          <a:xfrm>
            <a:off x="8118780" y="4169613"/>
            <a:ext cx="16572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7-mark143"/>
          <p:cNvSpPr/>
          <p:nvPr/>
        </p:nvSpPr>
        <p:spPr>
          <a:xfrm>
            <a:off x="8118780" y="3838164"/>
            <a:ext cx="16572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7-mark144"/>
          <p:cNvSpPr/>
          <p:nvPr/>
        </p:nvSpPr>
        <p:spPr>
          <a:xfrm>
            <a:off x="8118780" y="3506714"/>
            <a:ext cx="16572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7-mark145"/>
          <p:cNvSpPr/>
          <p:nvPr/>
        </p:nvSpPr>
        <p:spPr>
          <a:xfrm>
            <a:off x="8118780" y="3175264"/>
            <a:ext cx="16572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7-mark146"/>
          <p:cNvSpPr/>
          <p:nvPr/>
        </p:nvSpPr>
        <p:spPr>
          <a:xfrm>
            <a:off x="8118780" y="2843814"/>
            <a:ext cx="16572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7-mark147"/>
          <p:cNvSpPr/>
          <p:nvPr/>
        </p:nvSpPr>
        <p:spPr>
          <a:xfrm>
            <a:off x="8118780" y="2512365"/>
            <a:ext cx="16572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7-figure148" descr="한 변이 3 cm인 정사각형"/>
          <p:cNvSpPr/>
          <p:nvPr/>
        </p:nvSpPr>
        <p:spPr>
          <a:xfrm>
            <a:off x="8450229" y="2843814"/>
            <a:ext cx="994349" cy="994349"/>
          </a:xfrm>
          <a:custGeom>
            <a:avLst/>
            <a:gdLst/>
            <a:ahLst/>
            <a:cxnLst/>
            <a:rect l="l" t="t" r="r" b="b"/>
            <a:pathLst>
              <a:path w="994349" h="994349">
                <a:moveTo>
                  <a:pt x="0" y="994349"/>
                </a:moveTo>
                <a:lnTo>
                  <a:pt x="994349" y="994349"/>
                </a:lnTo>
                <a:lnTo>
                  <a:pt x="994349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7" name="S07-label150"/>
          <p:cNvSpPr txBox="1"/>
          <p:nvPr/>
        </p:nvSpPr>
        <p:spPr>
          <a:xfrm>
            <a:off x="8565642" y="3914999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38" name="S07-label152"/>
          <p:cNvSpPr txBox="1"/>
          <p:nvPr/>
        </p:nvSpPr>
        <p:spPr>
          <a:xfrm>
            <a:off x="9493093" y="316636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39" name="S07-label153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m²와 1 km²</a:t>
            </a:r>
            <a:endParaRPr lang="ko-KR" sz="4000" dirty="0"/>
          </a:p>
        </p:txBody>
      </p:sp>
      <p:sp>
        <p:nvSpPr>
          <p:cNvPr id="3" name="S08-card154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55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m² = 10000 cm²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× 100 = 10000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 m = 100 cm)</a:t>
            </a:r>
            <a:endParaRPr lang="ko-KR" sz="2800" dirty="0"/>
          </a:p>
        </p:txBody>
      </p:sp>
      <p:sp>
        <p:nvSpPr>
          <p:cNvPr id="5" name="S08-card156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157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km² = 1000000 m²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× 1000 = 1000000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 km = 1000 m)</a:t>
            </a:r>
            <a:endParaRPr lang="ko-KR" sz="2800" dirty="0"/>
          </a:p>
        </p:txBody>
      </p:sp>
      <p:sp>
        <p:nvSpPr>
          <p:cNvPr id="7" name="S08-figure158" descr="한 변이 1 m인 정사각형(실제 크기 아님), 가운데에 1 m²"/>
          <p:cNvSpPr/>
          <p:nvPr/>
        </p:nvSpPr>
        <p:spPr>
          <a:xfrm>
            <a:off x="2418588" y="1848993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0" y="1645920"/>
                </a:moveTo>
                <a:lnTo>
                  <a:pt x="1645920" y="1645920"/>
                </a:lnTo>
                <a:lnTo>
                  <a:pt x="1645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8-label160"/>
          <p:cNvSpPr txBox="1"/>
          <p:nvPr/>
        </p:nvSpPr>
        <p:spPr>
          <a:xfrm>
            <a:off x="2938018" y="3571748"/>
            <a:ext cx="6070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</a:t>
            </a:r>
            <a:endParaRPr lang="ko-KR" sz="2200" dirty="0"/>
          </a:p>
        </p:txBody>
      </p:sp>
      <p:sp>
        <p:nvSpPr>
          <p:cNvPr id="9" name="S08-label162"/>
          <p:cNvSpPr txBox="1"/>
          <p:nvPr/>
        </p:nvSpPr>
        <p:spPr>
          <a:xfrm>
            <a:off x="1771396" y="2497328"/>
            <a:ext cx="6070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</a:t>
            </a:r>
            <a:endParaRPr lang="ko-KR" sz="2200" dirty="0"/>
          </a:p>
        </p:txBody>
      </p:sp>
      <p:sp>
        <p:nvSpPr>
          <p:cNvPr id="10" name="S08-label164"/>
          <p:cNvSpPr txBox="1"/>
          <p:nvPr/>
        </p:nvSpPr>
        <p:spPr>
          <a:xfrm>
            <a:off x="2879344" y="2497328"/>
            <a:ext cx="7244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m²</a:t>
            </a:r>
            <a:endParaRPr lang="ko-KR" sz="2200" dirty="0"/>
          </a:p>
        </p:txBody>
      </p:sp>
      <p:sp>
        <p:nvSpPr>
          <p:cNvPr id="11" name="S08-label165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1 m</a:t>
            </a:r>
            <a:endParaRPr lang="ko-KR" sz="2200" dirty="0"/>
          </a:p>
        </p:txBody>
      </p:sp>
      <p:sp>
        <p:nvSpPr>
          <p:cNvPr id="12" name="S08-figure166" descr="한 변이 1 km인 정사각형(실제 크기 아님), 가운데에 1 km²"/>
          <p:cNvSpPr/>
          <p:nvPr/>
        </p:nvSpPr>
        <p:spPr>
          <a:xfrm>
            <a:off x="8124444" y="1848993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0" y="1645920"/>
                </a:moveTo>
                <a:lnTo>
                  <a:pt x="1645920" y="1645920"/>
                </a:lnTo>
                <a:lnTo>
                  <a:pt x="1645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E6ECF4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8-label168"/>
          <p:cNvSpPr txBox="1"/>
          <p:nvPr/>
        </p:nvSpPr>
        <p:spPr>
          <a:xfrm>
            <a:off x="8565642" y="357174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</a:t>
            </a:r>
            <a:endParaRPr lang="ko-KR" sz="2200" dirty="0"/>
          </a:p>
        </p:txBody>
      </p:sp>
      <p:sp>
        <p:nvSpPr>
          <p:cNvPr id="14" name="S08-label170"/>
          <p:cNvSpPr txBox="1"/>
          <p:nvPr/>
        </p:nvSpPr>
        <p:spPr>
          <a:xfrm>
            <a:off x="7312406" y="2497328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</a:t>
            </a:r>
            <a:endParaRPr lang="ko-KR" sz="2200" dirty="0"/>
          </a:p>
        </p:txBody>
      </p:sp>
      <p:sp>
        <p:nvSpPr>
          <p:cNvPr id="15" name="S08-label172"/>
          <p:cNvSpPr txBox="1"/>
          <p:nvPr/>
        </p:nvSpPr>
        <p:spPr>
          <a:xfrm>
            <a:off x="8506968" y="2497328"/>
            <a:ext cx="88087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km²</a:t>
            </a:r>
            <a:endParaRPr lang="ko-KR" sz="2200" dirty="0"/>
          </a:p>
        </p:txBody>
      </p:sp>
      <p:sp>
        <p:nvSpPr>
          <p:cNvPr id="16" name="S08-label173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1 km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17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7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m²는 몇 cm²일까요?</a:t>
            </a:r>
            <a:endParaRPr lang="ko-KR" sz="2800" dirty="0"/>
          </a:p>
        </p:txBody>
      </p:sp>
      <p:sp>
        <p:nvSpPr>
          <p:cNvPr id="5" name="S09-card1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2800" dirty="0"/>
          </a:p>
        </p:txBody>
      </p:sp>
      <p:sp>
        <p:nvSpPr>
          <p:cNvPr id="7" name="S09-chip17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100 cm²</a:t>
            </a:r>
            <a:endParaRPr lang="ko-KR" sz="2200" dirty="0"/>
          </a:p>
        </p:txBody>
      </p:sp>
      <p:sp>
        <p:nvSpPr>
          <p:cNvPr id="8" name="S09-text17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 m가 100 cm니까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m²는 100 cm²예요.”</a:t>
            </a:r>
            <a:endParaRPr lang="ko-KR" sz="2800" dirty="0"/>
          </a:p>
        </p:txBody>
      </p:sp>
      <p:sp>
        <p:nvSpPr>
          <p:cNvPr id="9" name="S09-chip18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10000 cm²</a:t>
            </a:r>
            <a:endParaRPr lang="ko-KR" sz="2200" dirty="0"/>
          </a:p>
        </p:txBody>
      </p:sp>
      <p:sp>
        <p:nvSpPr>
          <p:cNvPr id="10" name="S09-text18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“가로 100 cm, 세로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 cm니까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× 100이에요.”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곳의 넓이</a:t>
            </a:r>
            <a:endParaRPr lang="ko-KR" sz="4000" dirty="0"/>
          </a:p>
        </p:txBody>
      </p:sp>
      <p:sp>
        <p:nvSpPr>
          <p:cNvPr id="3" name="S10-card1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1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m² = 10000 cm², 1 km² = 1000000 m²</a:t>
            </a:r>
            <a:endParaRPr lang="ko-KR" sz="2800" dirty="0"/>
          </a:p>
        </p:txBody>
      </p:sp>
      <p:sp>
        <p:nvSpPr>
          <p:cNvPr id="5" name="S10-chip18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10-text18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8 m, 세로 5 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방의 넓이</a:t>
            </a:r>
            <a:endParaRPr lang="ko-KR" sz="2800" dirty="0"/>
          </a:p>
        </p:txBody>
      </p:sp>
      <p:sp>
        <p:nvSpPr>
          <p:cNvPr id="7" name="S10-chip18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10-text18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m² = □ cm²</a:t>
            </a:r>
            <a:endParaRPr lang="ko-KR" sz="2800" dirty="0"/>
          </a:p>
        </p:txBody>
      </p:sp>
      <p:sp>
        <p:nvSpPr>
          <p:cNvPr id="9" name="S10-chip188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10-text189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3 km, 세로 2 km인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땅의 넓이</a:t>
            </a:r>
            <a:endParaRPr lang="ko-KR" sz="2800" dirty="0"/>
          </a:p>
        </p:txBody>
      </p:sp>
      <p:sp>
        <p:nvSpPr>
          <p:cNvPr id="11" name="S10-chip190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10-text191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km² = □ m²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9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19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9 cm, 세로 6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</a:t>
            </a:r>
            <a:endParaRPr lang="ko-KR" sz="2800" dirty="0"/>
          </a:p>
        </p:txBody>
      </p:sp>
      <p:sp>
        <p:nvSpPr>
          <p:cNvPr id="5" name="S11-chip19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19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변이 7 m인 정사각형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 텃밭의 넓이</a:t>
            </a:r>
            <a:endParaRPr lang="ko-KR" sz="2800" dirty="0"/>
          </a:p>
        </p:txBody>
      </p:sp>
      <p:sp>
        <p:nvSpPr>
          <p:cNvPr id="7" name="S11-chip196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197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m² = □ cm²</a:t>
            </a:r>
            <a:endParaRPr lang="ko-KR" sz="2800" dirty="0"/>
          </a:p>
        </p:txBody>
      </p:sp>
      <p:sp>
        <p:nvSpPr>
          <p:cNvPr id="9" name="S11-chip198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text199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72 cm², 세로가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cm인 직사각형의 가로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확인</a:t>
            </a:r>
            <a:endParaRPr lang="ko-KR" sz="4000" dirty="0"/>
          </a:p>
        </p:txBody>
      </p:sp>
      <p:sp>
        <p:nvSpPr>
          <p:cNvPr id="3" name="S13-chip20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20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200 cm, 세로 300 cm인 돗자리의 넓이는 몇 m²?</a:t>
            </a:r>
            <a:endParaRPr lang="ko-KR" sz="2800" dirty="0"/>
          </a:p>
        </p:txBody>
      </p:sp>
      <p:sp>
        <p:nvSpPr>
          <p:cNvPr id="5" name="S13-chip20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20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36 cm²인 정사각형의 한 변은?</a:t>
            </a:r>
            <a:endParaRPr lang="ko-KR" sz="2800" dirty="0"/>
          </a:p>
        </p:txBody>
      </p:sp>
      <p:sp>
        <p:nvSpPr>
          <p:cNvPr id="7" name="S13-chip20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3-text20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운동장의 넓이에 알맞은 단위는? (cm², m², km²)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06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07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(직사각형의 넓이) = (가로) × (세로)예요. 1 m² = 10000 cm², 1 km² = 1000000 m²예요.</a:t>
            </a:r>
            <a:endParaRPr lang="ko-KR" sz="2800" dirty="0"/>
          </a:p>
        </p:txBody>
      </p:sp>
      <p:sp>
        <p:nvSpPr>
          <p:cNvPr id="5" name="S14-chip208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넓이에는 cm², m², km²</a:t>
            </a:r>
            <a:endParaRPr lang="ko-KR" sz="2200" dirty="0"/>
          </a:p>
        </p:txBody>
      </p:sp>
      <p:sp>
        <p:nvSpPr>
          <p:cNvPr id="6" name="S14-chip209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 m² = 100 cm²</a:t>
            </a:r>
            <a:endParaRPr lang="ko-KR" sz="2200" dirty="0"/>
          </a:p>
        </p:txBody>
      </p:sp>
      <p:sp>
        <p:nvSpPr>
          <p:cNvPr id="7" name="S14-text210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211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가로 6 cm, 세로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cm인 직사각형의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넓이는?</a:t>
            </a:r>
            <a:endParaRPr lang="ko-KR" sz="2200" dirty="0"/>
          </a:p>
        </p:txBody>
      </p:sp>
      <p:sp>
        <p:nvSpPr>
          <p:cNvPr id="9" name="S14-text212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한 변이 9 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넓이는?</a:t>
            </a:r>
            <a:endParaRPr lang="ko-KR" sz="2200" dirty="0"/>
          </a:p>
        </p:txBody>
      </p:sp>
      <p:sp>
        <p:nvSpPr>
          <p:cNvPr id="10" name="S14-text213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 m²는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cm²?</a:t>
            </a:r>
            <a:endParaRPr lang="ko-KR" sz="2200" dirty="0"/>
          </a:p>
        </p:txBody>
      </p:sp>
      <p:sp>
        <p:nvSpPr>
          <p:cNvPr id="11" name="S14-text21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평행사변형과 삼각형의 넓이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길이의 단위</a:t>
            </a:r>
            <a:endParaRPr lang="ko-KR" sz="4000" dirty="0"/>
          </a:p>
        </p:txBody>
      </p:sp>
      <p:sp>
        <p:nvSpPr>
          <p:cNvPr id="3" name="S15-card215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216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넓이도 같은 방법으로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m² = 100 × 100(cm²), 1 km² = 1000 × 1000(m²)</a:t>
            </a:r>
            <a:endParaRPr lang="ko-KR" sz="2800" dirty="0"/>
          </a:p>
        </p:txBody>
      </p:sp>
      <p:graphicFrame>
        <p:nvGraphicFramePr>
          <p:cNvPr id="15" name="S15-table2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042414"/>
          <a:ext cx="9601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400300"/>
                <a:gridCol w="52806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길이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길이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기억하기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 cm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 mm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자의 작은 눈금 10칸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 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 cm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양팔을 벌린 길이쯤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 km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 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걸어서 15분쯤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직사각형의 넓이</dc:title>
  <dc:subject>KR22-G05-MAT-AREA-L01</dc:subject>
  <dc:creator>education-ppt</dc:creator>
  <cp:lastModifiedBy>education-ppt</cp:lastModifiedBy>
  <cp:revision>1</cp:revision>
  <dcterms:created xsi:type="dcterms:W3CDTF">2026-10-26T09:12:09Z</dcterms:created>
  <dcterms:modified xsi:type="dcterms:W3CDTF">2026-10-26T09:12:09Z</dcterms:modified>
</cp:coreProperties>
</file>