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0a386b-8dd2-c375-2140-9e383ffc19d9}">
          <p14:sldIdLst>
            <p14:sldId id="256"/>
            <p14:sldId id="257"/>
          </p14:sldIdLst>
        </p14:section>
        <p14:section name="개념" id="{a17a46ae-ed61-c47b-89ae-d653ed7bb6f8}">
          <p14:sldIdLst>
            <p14:sldId id="258"/>
            <p14:sldId id="259"/>
            <p14:sldId id="260"/>
            <p14:sldId id="263"/>
          </p14:sldIdLst>
        </p14:section>
        <p14:section name="연습" id="{4734ccf2-72a2-a7b1-96cb-fba51a3c893e}">
          <p14:sldIdLst>
            <p14:sldId id="261"/>
            <p14:sldId id="262"/>
            <p14:sldId id="264"/>
            <p14:sldId id="265"/>
          </p14:sldIdLst>
        </p14:section>
        <p14:section name="개념" id="{76b5ec56-e8f5-eec6-3d2a-cf2ca03538e0}">
          <p14:sldIdLst/>
        </p14:section>
        <p14:section name="연습" id="{73af4c64-b529-faa8-9111-80fc49fffbb6}">
          <p14:sldIdLst/>
        </p14:section>
        <p14:section name="확인" id="{5a355f4c-6c38-71df-2962-059d9688579a}">
          <p14:sldIdLst>
            <p14:sldId id="266"/>
            <p14:sldId id="267"/>
          </p14:sldIdLst>
        </p14:section>
        <p14:section name="정리" id="{4500f05a-6b62-700a-704b-ed857dcb0a43}">
          <p14:sldIdLst>
            <p14:sldId id="268"/>
          </p14:sldIdLst>
        </p14:section>
        <p14:section name="보충" id="{487d593a-07a2-ede8-85dd-3eba2f235b0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직사각형의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직사각형의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직사각형의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어떻게 재고 나타낼까요?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543544" y="1275588"/>
            <a:ext cx="2206752" cy="1655064"/>
          </a:xfrm>
          <a:custGeom>
            <a:avLst/>
            <a:gdLst/>
            <a:ahLst/>
            <a:cxnLst/>
            <a:rect l="l" t="t" r="r" b="b"/>
            <a:pathLst>
              <a:path w="2206752" h="1655064">
                <a:moveTo>
                  <a:pt x="0" y="1655064"/>
                </a:moveTo>
                <a:lnTo>
                  <a:pt x="2206752" y="1655064"/>
                </a:lnTo>
                <a:lnTo>
                  <a:pt x="220675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 flipV="1">
            <a:off x="7991856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543544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095232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964692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10198608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10750296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1301984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7991856" y="3482340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7991856" y="2930652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7991856" y="2378964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7991856" y="1827276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7991856" y="1275588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7991856" y="723900"/>
            <a:ext cx="331012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figure16" descr="모눈 위에 색칠한 가로 4칸, 세로 3칸 직사각형"/>
          <p:cNvSpPr/>
          <p:nvPr/>
        </p:nvSpPr>
        <p:spPr>
          <a:xfrm>
            <a:off x="8543544" y="1275588"/>
            <a:ext cx="2206752" cy="1655064"/>
          </a:xfrm>
          <a:custGeom>
            <a:avLst/>
            <a:gdLst/>
            <a:ahLst/>
            <a:cxnLst/>
            <a:rect l="l" t="t" r="r" b="b"/>
            <a:pathLst>
              <a:path w="2206752" h="1655064">
                <a:moveTo>
                  <a:pt x="0" y="1655064"/>
                </a:moveTo>
                <a:lnTo>
                  <a:pt x="2206752" y="1655064"/>
                </a:lnTo>
                <a:lnTo>
                  <a:pt x="220675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cm²로 직사각형의 넓이를 구해요.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m²와 km²를 알고 단위를 바꿔요.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2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 cm, 세로 3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둘레는?</a:t>
            </a:r>
            <a:endParaRPr lang="ko-KR" sz="2800" dirty="0"/>
          </a:p>
        </p:txBody>
      </p:sp>
      <p:sp>
        <p:nvSpPr>
          <p:cNvPr id="5" name="S02-chip2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eqtext2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□</a:t>
            </a:r>
            <a:endParaRPr lang="ko-KR" sz="3200" dirty="0"/>
          </a:p>
        </p:txBody>
      </p:sp>
      <p:sp>
        <p:nvSpPr>
          <p:cNvPr id="7" name="S02-chip2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m는 몇 cm?</a:t>
            </a:r>
            <a:endParaRPr lang="ko-KR" sz="2800" dirty="0"/>
          </a:p>
        </p:txBody>
      </p:sp>
      <p:sp>
        <p:nvSpPr>
          <p:cNvPr id="9" name="S02-chip2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02-text2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km는 몇 m?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넓이의 단위 1 cm²</a:t>
            </a:r>
            <a:endParaRPr lang="ko-KR" sz="4000" dirty="0"/>
          </a:p>
        </p:txBody>
      </p:sp>
      <p:sp>
        <p:nvSpPr>
          <p:cNvPr id="3" name="S03-card27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8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1 cm인 정사각형의 넓이, ‘1 제곱센티미터’라고 읽어요.</a:t>
            </a:r>
            <a:endParaRPr lang="ko-KR" sz="2800" dirty="0"/>
          </a:p>
        </p:txBody>
      </p:sp>
      <p:sp>
        <p:nvSpPr>
          <p:cNvPr id="5" name="S03-card29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30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 나타내기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cm²가 몇 개인지 세어요.</a:t>
            </a:r>
            <a:endParaRPr lang="ko-KR" sz="2800" dirty="0"/>
          </a:p>
        </p:txBody>
      </p:sp>
      <p:sp>
        <p:nvSpPr>
          <p:cNvPr id="7" name="S03-figure31" descr="한 변이 1 cm인 정사각형"/>
          <p:cNvSpPr/>
          <p:nvPr/>
        </p:nvSpPr>
        <p:spPr>
          <a:xfrm>
            <a:off x="3012948" y="244335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457200"/>
                </a:moveTo>
                <a:lnTo>
                  <a:pt x="457200" y="457200"/>
                </a:lnTo>
                <a:lnTo>
                  <a:pt x="457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label33"/>
          <p:cNvSpPr txBox="1"/>
          <p:nvPr/>
        </p:nvSpPr>
        <p:spPr>
          <a:xfrm>
            <a:off x="2859786" y="247446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</a:t>
            </a:r>
            <a:endParaRPr lang="ko-KR" sz="2200" dirty="0"/>
          </a:p>
        </p:txBody>
      </p:sp>
      <p:sp>
        <p:nvSpPr>
          <p:cNvPr id="9" name="S03-label35"/>
          <p:cNvSpPr txBox="1"/>
          <p:nvPr/>
        </p:nvSpPr>
        <p:spPr>
          <a:xfrm>
            <a:off x="3061462" y="249732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</a:t>
            </a:r>
            <a:endParaRPr lang="ko-KR" sz="2200" dirty="0"/>
          </a:p>
        </p:txBody>
      </p:sp>
      <p:sp>
        <p:nvSpPr>
          <p:cNvPr id="10" name="S03-label36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</a:t>
            </a:r>
            <a:endParaRPr lang="ko-KR" sz="2200" dirty="0"/>
          </a:p>
        </p:txBody>
      </p:sp>
      <p:sp>
        <p:nvSpPr>
          <p:cNvPr id="11" name="S03-mark37"/>
          <p:cNvSpPr/>
          <p:nvPr/>
        </p:nvSpPr>
        <p:spPr>
          <a:xfrm>
            <a:off x="8033004" y="1986153"/>
            <a:ext cx="1828800" cy="1371600"/>
          </a:xfrm>
          <a:custGeom>
            <a:avLst/>
            <a:gdLst/>
            <a:ahLst/>
            <a:cxnLst/>
            <a:rect l="l" t="t" r="r" b="b"/>
            <a:pathLst>
              <a:path w="1828800" h="1371600">
                <a:moveTo>
                  <a:pt x="0" y="1371600"/>
                </a:moveTo>
                <a:lnTo>
                  <a:pt x="1828800" y="13716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2" name="S03-mark38"/>
          <p:cNvSpPr/>
          <p:nvPr/>
        </p:nvSpPr>
        <p:spPr>
          <a:xfrm flipV="1">
            <a:off x="75758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39"/>
          <p:cNvSpPr/>
          <p:nvPr/>
        </p:nvSpPr>
        <p:spPr>
          <a:xfrm flipV="1">
            <a:off x="80330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40"/>
          <p:cNvSpPr/>
          <p:nvPr/>
        </p:nvSpPr>
        <p:spPr>
          <a:xfrm flipV="1">
            <a:off x="84902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41"/>
          <p:cNvSpPr/>
          <p:nvPr/>
        </p:nvSpPr>
        <p:spPr>
          <a:xfrm flipV="1">
            <a:off x="89474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42"/>
          <p:cNvSpPr/>
          <p:nvPr/>
        </p:nvSpPr>
        <p:spPr>
          <a:xfrm flipV="1">
            <a:off x="94046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43"/>
          <p:cNvSpPr/>
          <p:nvPr/>
        </p:nvSpPr>
        <p:spPr>
          <a:xfrm flipV="1">
            <a:off x="98618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44"/>
          <p:cNvSpPr/>
          <p:nvPr/>
        </p:nvSpPr>
        <p:spPr>
          <a:xfrm flipV="1">
            <a:off x="10319004" y="1528953"/>
            <a:ext cx="0" cy="22860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45"/>
          <p:cNvSpPr/>
          <p:nvPr/>
        </p:nvSpPr>
        <p:spPr>
          <a:xfrm>
            <a:off x="7575804" y="3814953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46"/>
          <p:cNvSpPr/>
          <p:nvPr/>
        </p:nvSpPr>
        <p:spPr>
          <a:xfrm>
            <a:off x="7575804" y="3357753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47"/>
          <p:cNvSpPr/>
          <p:nvPr/>
        </p:nvSpPr>
        <p:spPr>
          <a:xfrm>
            <a:off x="7575804" y="2900553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48"/>
          <p:cNvSpPr/>
          <p:nvPr/>
        </p:nvSpPr>
        <p:spPr>
          <a:xfrm>
            <a:off x="7575804" y="2443353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49"/>
          <p:cNvSpPr/>
          <p:nvPr/>
        </p:nvSpPr>
        <p:spPr>
          <a:xfrm>
            <a:off x="7575804" y="1986153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mark50"/>
          <p:cNvSpPr/>
          <p:nvPr/>
        </p:nvSpPr>
        <p:spPr>
          <a:xfrm>
            <a:off x="7575804" y="1528953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3-figure51" descr="모눈 한 칸이 1 cm²인 모눈 위의 가로 4칸, 세로 3칸 직사각형(12칸)"/>
          <p:cNvSpPr/>
          <p:nvPr/>
        </p:nvSpPr>
        <p:spPr>
          <a:xfrm>
            <a:off x="8033004" y="1986153"/>
            <a:ext cx="1828800" cy="1371600"/>
          </a:xfrm>
          <a:custGeom>
            <a:avLst/>
            <a:gdLst/>
            <a:ahLst/>
            <a:cxnLst/>
            <a:rect l="l" t="t" r="r" b="b"/>
            <a:pathLst>
              <a:path w="1828800" h="1371600">
                <a:moveTo>
                  <a:pt x="0" y="1371600"/>
                </a:moveTo>
                <a:lnTo>
                  <a:pt x="1828800" y="13716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52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cm²가 12개: 12 cm²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4000" dirty="0"/>
          </a:p>
        </p:txBody>
      </p:sp>
      <p:sp>
        <p:nvSpPr>
          <p:cNvPr id="3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(직사각형의 넓이) = (가로) × (세로)</a:t>
            </a:r>
            <a:endParaRPr lang="ko-KR" sz="2800" dirty="0"/>
          </a:p>
        </p:txBody>
      </p:sp>
      <p:sp>
        <p:nvSpPr>
          <p:cNvPr id="5" name="S04-mark55"/>
          <p:cNvSpPr/>
          <p:nvPr/>
        </p:nvSpPr>
        <p:spPr>
          <a:xfrm>
            <a:off x="7909011" y="2400300"/>
            <a:ext cx="2743200" cy="1645920"/>
          </a:xfrm>
          <a:custGeom>
            <a:avLst/>
            <a:gdLst/>
            <a:ahLst/>
            <a:cxnLst/>
            <a:rect l="l" t="t" r="r" b="b"/>
            <a:pathLst>
              <a:path w="2743200" h="1645920">
                <a:moveTo>
                  <a:pt x="0" y="1645920"/>
                </a:moveTo>
                <a:lnTo>
                  <a:pt x="2743200" y="164592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4-mark56"/>
          <p:cNvSpPr/>
          <p:nvPr/>
        </p:nvSpPr>
        <p:spPr>
          <a:xfrm flipV="1">
            <a:off x="736037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4-mark57"/>
          <p:cNvSpPr/>
          <p:nvPr/>
        </p:nvSpPr>
        <p:spPr>
          <a:xfrm flipV="1">
            <a:off x="790901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4-mark58"/>
          <p:cNvSpPr/>
          <p:nvPr/>
        </p:nvSpPr>
        <p:spPr>
          <a:xfrm flipV="1">
            <a:off x="845765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59"/>
          <p:cNvSpPr/>
          <p:nvPr/>
        </p:nvSpPr>
        <p:spPr>
          <a:xfrm flipV="1">
            <a:off x="900629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60"/>
          <p:cNvSpPr/>
          <p:nvPr/>
        </p:nvSpPr>
        <p:spPr>
          <a:xfrm flipV="1">
            <a:off x="955493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61"/>
          <p:cNvSpPr/>
          <p:nvPr/>
        </p:nvSpPr>
        <p:spPr>
          <a:xfrm flipV="1">
            <a:off x="1010357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62"/>
          <p:cNvSpPr/>
          <p:nvPr/>
        </p:nvSpPr>
        <p:spPr>
          <a:xfrm flipV="1">
            <a:off x="1065221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63"/>
          <p:cNvSpPr/>
          <p:nvPr/>
        </p:nvSpPr>
        <p:spPr>
          <a:xfrm flipV="1">
            <a:off x="11200851" y="185166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64"/>
          <p:cNvSpPr/>
          <p:nvPr/>
        </p:nvSpPr>
        <p:spPr>
          <a:xfrm>
            <a:off x="7360371" y="4594860"/>
            <a:ext cx="38404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65"/>
          <p:cNvSpPr/>
          <p:nvPr/>
        </p:nvSpPr>
        <p:spPr>
          <a:xfrm>
            <a:off x="7360371" y="4046220"/>
            <a:ext cx="38404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66"/>
          <p:cNvSpPr/>
          <p:nvPr/>
        </p:nvSpPr>
        <p:spPr>
          <a:xfrm>
            <a:off x="7360371" y="3497580"/>
            <a:ext cx="38404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67"/>
          <p:cNvSpPr/>
          <p:nvPr/>
        </p:nvSpPr>
        <p:spPr>
          <a:xfrm>
            <a:off x="7360371" y="2948940"/>
            <a:ext cx="38404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68"/>
          <p:cNvSpPr/>
          <p:nvPr/>
        </p:nvSpPr>
        <p:spPr>
          <a:xfrm>
            <a:off x="7360371" y="2400300"/>
            <a:ext cx="38404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69"/>
          <p:cNvSpPr/>
          <p:nvPr/>
        </p:nvSpPr>
        <p:spPr>
          <a:xfrm>
            <a:off x="7360371" y="1851660"/>
            <a:ext cx="38404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figure70" descr="모눈 위의 가로 5 cm, 세로 3 cm 직사각형(1 cm² 15칸)"/>
          <p:cNvSpPr/>
          <p:nvPr/>
        </p:nvSpPr>
        <p:spPr>
          <a:xfrm>
            <a:off x="7909011" y="2400300"/>
            <a:ext cx="2743200" cy="1645920"/>
          </a:xfrm>
          <a:custGeom>
            <a:avLst/>
            <a:gdLst/>
            <a:ahLst/>
            <a:cxnLst/>
            <a:rect l="l" t="t" r="r" b="b"/>
            <a:pathLst>
              <a:path w="2743200" h="1645920">
                <a:moveTo>
                  <a:pt x="0" y="1645920"/>
                </a:moveTo>
                <a:lnTo>
                  <a:pt x="2743200" y="164592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72"/>
          <p:cNvSpPr txBox="1"/>
          <p:nvPr/>
        </p:nvSpPr>
        <p:spPr>
          <a:xfrm>
            <a:off x="8898849" y="41230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2" name="S04-label74"/>
          <p:cNvSpPr txBox="1"/>
          <p:nvPr/>
        </p:nvSpPr>
        <p:spPr>
          <a:xfrm>
            <a:off x="7096973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23" name="S04-stepno75"/>
          <p:cNvSpPr txBox="1"/>
          <p:nvPr/>
        </p:nvSpPr>
        <p:spPr>
          <a:xfrm>
            <a:off x="548640" y="2076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4" name="S04-text76"/>
          <p:cNvSpPr txBox="1"/>
          <p:nvPr/>
        </p:nvSpPr>
        <p:spPr>
          <a:xfrm>
            <a:off x="1325880" y="2076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cm²가 한 줄에 5개씩 있어요.</a:t>
            </a:r>
            <a:endParaRPr lang="ko-KR" sz="2800" dirty="0"/>
          </a:p>
        </p:txBody>
      </p:sp>
      <p:sp>
        <p:nvSpPr>
          <p:cNvPr id="25" name="S04-stepno77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6" name="S04-text78"/>
          <p:cNvSpPr txBox="1"/>
          <p:nvPr/>
        </p:nvSpPr>
        <p:spPr>
          <a:xfrm>
            <a:off x="1325880" y="2789428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3줄이니까 5 × 3 = 15(개)예요.</a:t>
            </a:r>
            <a:endParaRPr lang="ko-KR" sz="2800" dirty="0"/>
          </a:p>
        </p:txBody>
      </p:sp>
      <p:sp>
        <p:nvSpPr>
          <p:cNvPr id="27" name="S04-stepno79"/>
          <p:cNvSpPr txBox="1"/>
          <p:nvPr/>
        </p:nvSpPr>
        <p:spPr>
          <a:xfrm>
            <a:off x="548640" y="3821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8" name="S04-text80"/>
          <p:cNvSpPr txBox="1"/>
          <p:nvPr/>
        </p:nvSpPr>
        <p:spPr>
          <a:xfrm>
            <a:off x="1325880" y="38216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15 cm²예요.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</a:t>
            </a:r>
            <a:endParaRPr lang="ko-KR" sz="4000" dirty="0"/>
          </a:p>
        </p:txBody>
      </p:sp>
      <p:sp>
        <p:nvSpPr>
          <p:cNvPr id="3" name="S05-mark81"/>
          <p:cNvSpPr/>
          <p:nvPr/>
        </p:nvSpPr>
        <p:spPr>
          <a:xfrm>
            <a:off x="2132838" y="2674620"/>
            <a:ext cx="2194560" cy="2194560"/>
          </a:xfrm>
          <a:custGeom>
            <a:avLst/>
            <a:gdLst/>
            <a:ahLst/>
            <a:cxnLst/>
            <a:rect l="l" t="t" r="r" b="b"/>
            <a:pathLst>
              <a:path w="2194560" h="2194560">
                <a:moveTo>
                  <a:pt x="0" y="2194560"/>
                </a:moveTo>
                <a:lnTo>
                  <a:pt x="2194560" y="2194560"/>
                </a:lnTo>
                <a:lnTo>
                  <a:pt x="21945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5-mark82"/>
          <p:cNvSpPr/>
          <p:nvPr/>
        </p:nvSpPr>
        <p:spPr>
          <a:xfrm flipV="1">
            <a:off x="158419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5-mark83"/>
          <p:cNvSpPr/>
          <p:nvPr/>
        </p:nvSpPr>
        <p:spPr>
          <a:xfrm flipV="1">
            <a:off x="213283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84"/>
          <p:cNvSpPr/>
          <p:nvPr/>
        </p:nvSpPr>
        <p:spPr>
          <a:xfrm flipV="1">
            <a:off x="268147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85"/>
          <p:cNvSpPr/>
          <p:nvPr/>
        </p:nvSpPr>
        <p:spPr>
          <a:xfrm flipV="1">
            <a:off x="323011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86"/>
          <p:cNvSpPr/>
          <p:nvPr/>
        </p:nvSpPr>
        <p:spPr>
          <a:xfrm flipV="1">
            <a:off x="377875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87"/>
          <p:cNvSpPr/>
          <p:nvPr/>
        </p:nvSpPr>
        <p:spPr>
          <a:xfrm flipV="1">
            <a:off x="432739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88"/>
          <p:cNvSpPr/>
          <p:nvPr/>
        </p:nvSpPr>
        <p:spPr>
          <a:xfrm flipV="1">
            <a:off x="4876038" y="2125980"/>
            <a:ext cx="0" cy="32918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89"/>
          <p:cNvSpPr/>
          <p:nvPr/>
        </p:nvSpPr>
        <p:spPr>
          <a:xfrm>
            <a:off x="1584198" y="541782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90"/>
          <p:cNvSpPr/>
          <p:nvPr/>
        </p:nvSpPr>
        <p:spPr>
          <a:xfrm>
            <a:off x="1584198" y="486918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91"/>
          <p:cNvSpPr/>
          <p:nvPr/>
        </p:nvSpPr>
        <p:spPr>
          <a:xfrm>
            <a:off x="1584198" y="432054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92"/>
          <p:cNvSpPr/>
          <p:nvPr/>
        </p:nvSpPr>
        <p:spPr>
          <a:xfrm>
            <a:off x="1584198" y="377190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93"/>
          <p:cNvSpPr/>
          <p:nvPr/>
        </p:nvSpPr>
        <p:spPr>
          <a:xfrm>
            <a:off x="1584198" y="322326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94"/>
          <p:cNvSpPr/>
          <p:nvPr/>
        </p:nvSpPr>
        <p:spPr>
          <a:xfrm>
            <a:off x="1584198" y="267462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95"/>
          <p:cNvSpPr/>
          <p:nvPr/>
        </p:nvSpPr>
        <p:spPr>
          <a:xfrm>
            <a:off x="1584198" y="2125980"/>
            <a:ext cx="32918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figure96" descr="모눈 위의 한 변이 4 cm인 정사각형(1 cm² 16칸)"/>
          <p:cNvSpPr/>
          <p:nvPr/>
        </p:nvSpPr>
        <p:spPr>
          <a:xfrm>
            <a:off x="2132838" y="2674620"/>
            <a:ext cx="2194560" cy="2194560"/>
          </a:xfrm>
          <a:custGeom>
            <a:avLst/>
            <a:gdLst/>
            <a:ahLst/>
            <a:cxnLst/>
            <a:rect l="l" t="t" r="r" b="b"/>
            <a:pathLst>
              <a:path w="2194560" h="2194560">
                <a:moveTo>
                  <a:pt x="0" y="2194560"/>
                </a:moveTo>
                <a:lnTo>
                  <a:pt x="2194560" y="2194560"/>
                </a:lnTo>
                <a:lnTo>
                  <a:pt x="219456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5-label98"/>
          <p:cNvSpPr txBox="1"/>
          <p:nvPr/>
        </p:nvSpPr>
        <p:spPr>
          <a:xfrm>
            <a:off x="2848356" y="494601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0" name="S05-label100"/>
          <p:cNvSpPr txBox="1"/>
          <p:nvPr/>
        </p:nvSpPr>
        <p:spPr>
          <a:xfrm>
            <a:off x="1320800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1" name="S05-card101"/>
          <p:cNvSpPr/>
          <p:nvPr/>
        </p:nvSpPr>
        <p:spPr>
          <a:xfrm>
            <a:off x="6277356" y="2477516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5-cardtext102"/>
          <p:cNvSpPr txBox="1"/>
          <p:nvPr/>
        </p:nvSpPr>
        <p:spPr>
          <a:xfrm>
            <a:off x="6551676" y="2614676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(한 변) × (한 변)</a:t>
            </a:r>
            <a:endParaRPr lang="ko-KR" sz="2800" dirty="0"/>
          </a:p>
        </p:txBody>
      </p:sp>
      <p:sp>
        <p:nvSpPr>
          <p:cNvPr id="23" name="S05-card103"/>
          <p:cNvSpPr/>
          <p:nvPr/>
        </p:nvSpPr>
        <p:spPr>
          <a:xfrm>
            <a:off x="6277356" y="388620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5-cardtext104"/>
          <p:cNvSpPr txBox="1"/>
          <p:nvPr/>
        </p:nvSpPr>
        <p:spPr>
          <a:xfrm>
            <a:off x="6551676" y="402336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 = 16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16 cm²예요.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 구하기</a:t>
            </a:r>
            <a:endParaRPr lang="ko-KR" sz="4000" dirty="0"/>
          </a:p>
        </p:txBody>
      </p:sp>
      <p:sp>
        <p:nvSpPr>
          <p:cNvPr id="3" name="S06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답에 넓이의 단위 cm²를 붙여요.</a:t>
            </a:r>
            <a:endParaRPr lang="ko-KR" sz="2800" dirty="0"/>
          </a:p>
        </p:txBody>
      </p:sp>
      <p:sp>
        <p:nvSpPr>
          <p:cNvPr id="5" name="S06-chip10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6-text108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7 cm, 세로 4 cm인 직사각형의 넓이</a:t>
            </a:r>
            <a:endParaRPr lang="ko-KR" sz="2800" dirty="0"/>
          </a:p>
        </p:txBody>
      </p:sp>
      <p:sp>
        <p:nvSpPr>
          <p:cNvPr id="7" name="S06-chip10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6-text110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 정사각형의 넓이</a:t>
            </a:r>
            <a:endParaRPr lang="ko-KR" sz="2800" dirty="0"/>
          </a:p>
        </p:txBody>
      </p:sp>
      <p:sp>
        <p:nvSpPr>
          <p:cNvPr id="9" name="S06-chip11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6-text112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40 cm²이고 가로가 8 cm인 직사각형의 세로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같으면 넓이도 같을까요?</a:t>
            </a:r>
            <a:endParaRPr lang="ko-KR" sz="4000" dirty="0"/>
          </a:p>
        </p:txBody>
      </p:sp>
      <p:sp>
        <p:nvSpPr>
          <p:cNvPr id="3" name="S07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도형의 둘레는 모두 12 cm예요.</a:t>
            </a:r>
            <a:endParaRPr lang="ko-KR" sz="2800" dirty="0"/>
          </a:p>
        </p:txBody>
      </p:sp>
      <p:sp>
        <p:nvSpPr>
          <p:cNvPr id="4" name="S07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넓이도 같을까요? 1 cm²를 세어 비교해요.</a:t>
            </a:r>
            <a:endParaRPr lang="ko-KR" sz="2800" dirty="0"/>
          </a:p>
        </p:txBody>
      </p:sp>
      <p:sp>
        <p:nvSpPr>
          <p:cNvPr id="6" name="S07-mark116"/>
          <p:cNvSpPr/>
          <p:nvPr/>
        </p:nvSpPr>
        <p:spPr>
          <a:xfrm>
            <a:off x="1984248" y="3089529"/>
            <a:ext cx="2514600" cy="502920"/>
          </a:xfrm>
          <a:custGeom>
            <a:avLst/>
            <a:gdLst/>
            <a:ahLst/>
            <a:cxnLst/>
            <a:rect l="l" t="t" r="r" b="b"/>
            <a:pathLst>
              <a:path w="2514600" h="502920">
                <a:moveTo>
                  <a:pt x="0" y="502920"/>
                </a:moveTo>
                <a:lnTo>
                  <a:pt x="2514600" y="502920"/>
                </a:lnTo>
                <a:lnTo>
                  <a:pt x="2514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7-mark117"/>
          <p:cNvSpPr/>
          <p:nvPr/>
        </p:nvSpPr>
        <p:spPr>
          <a:xfrm flipV="1">
            <a:off x="148132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118"/>
          <p:cNvSpPr/>
          <p:nvPr/>
        </p:nvSpPr>
        <p:spPr>
          <a:xfrm flipV="1">
            <a:off x="198424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119"/>
          <p:cNvSpPr/>
          <p:nvPr/>
        </p:nvSpPr>
        <p:spPr>
          <a:xfrm flipV="1">
            <a:off x="248716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120"/>
          <p:cNvSpPr/>
          <p:nvPr/>
        </p:nvSpPr>
        <p:spPr>
          <a:xfrm flipV="1">
            <a:off x="299008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121"/>
          <p:cNvSpPr/>
          <p:nvPr/>
        </p:nvSpPr>
        <p:spPr>
          <a:xfrm flipV="1">
            <a:off x="349300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122"/>
          <p:cNvSpPr/>
          <p:nvPr/>
        </p:nvSpPr>
        <p:spPr>
          <a:xfrm flipV="1">
            <a:off x="399592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123"/>
          <p:cNvSpPr/>
          <p:nvPr/>
        </p:nvSpPr>
        <p:spPr>
          <a:xfrm flipV="1">
            <a:off x="449884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124"/>
          <p:cNvSpPr/>
          <p:nvPr/>
        </p:nvSpPr>
        <p:spPr>
          <a:xfrm flipV="1">
            <a:off x="5001768" y="2586609"/>
            <a:ext cx="0" cy="150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125"/>
          <p:cNvSpPr/>
          <p:nvPr/>
        </p:nvSpPr>
        <p:spPr>
          <a:xfrm>
            <a:off x="1481328" y="4095369"/>
            <a:ext cx="35204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126"/>
          <p:cNvSpPr/>
          <p:nvPr/>
        </p:nvSpPr>
        <p:spPr>
          <a:xfrm>
            <a:off x="1481328" y="3592449"/>
            <a:ext cx="35204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127"/>
          <p:cNvSpPr/>
          <p:nvPr/>
        </p:nvSpPr>
        <p:spPr>
          <a:xfrm>
            <a:off x="1481328" y="3089529"/>
            <a:ext cx="35204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128"/>
          <p:cNvSpPr/>
          <p:nvPr/>
        </p:nvSpPr>
        <p:spPr>
          <a:xfrm>
            <a:off x="1481328" y="2586609"/>
            <a:ext cx="35204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figure129" descr="가로 5 cm, 세로 1 cm인 직사각형"/>
          <p:cNvSpPr/>
          <p:nvPr/>
        </p:nvSpPr>
        <p:spPr>
          <a:xfrm>
            <a:off x="1984248" y="3089529"/>
            <a:ext cx="2514600" cy="502920"/>
          </a:xfrm>
          <a:custGeom>
            <a:avLst/>
            <a:gdLst/>
            <a:ahLst/>
            <a:cxnLst/>
            <a:rect l="l" t="t" r="r" b="b"/>
            <a:pathLst>
              <a:path w="2514600" h="502920">
                <a:moveTo>
                  <a:pt x="0" y="502920"/>
                </a:moveTo>
                <a:lnTo>
                  <a:pt x="2514600" y="502920"/>
                </a:lnTo>
                <a:lnTo>
                  <a:pt x="251460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7-label131"/>
          <p:cNvSpPr txBox="1"/>
          <p:nvPr/>
        </p:nvSpPr>
        <p:spPr>
          <a:xfrm>
            <a:off x="2859786" y="316636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1" name="S07-label133"/>
          <p:cNvSpPr txBox="1"/>
          <p:nvPr/>
        </p:nvSpPr>
        <p:spPr>
          <a:xfrm>
            <a:off x="4547362" y="316636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</a:t>
            </a:r>
            <a:endParaRPr lang="ko-KR" sz="2200" dirty="0"/>
          </a:p>
        </p:txBody>
      </p:sp>
      <p:sp>
        <p:nvSpPr>
          <p:cNvPr id="22" name="S07-label134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3" name="S07-mark135"/>
          <p:cNvSpPr/>
          <p:nvPr/>
        </p:nvSpPr>
        <p:spPr>
          <a:xfrm>
            <a:off x="8350987" y="2744572"/>
            <a:ext cx="1192835" cy="1192835"/>
          </a:xfrm>
          <a:custGeom>
            <a:avLst/>
            <a:gdLst/>
            <a:ahLst/>
            <a:cxnLst/>
            <a:rect l="l" t="t" r="r" b="b"/>
            <a:pathLst>
              <a:path w="1192835" h="1192835">
                <a:moveTo>
                  <a:pt x="0" y="1192835"/>
                </a:moveTo>
                <a:lnTo>
                  <a:pt x="1192835" y="1192835"/>
                </a:lnTo>
                <a:lnTo>
                  <a:pt x="119283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4" name="S07-mark136"/>
          <p:cNvSpPr/>
          <p:nvPr/>
        </p:nvSpPr>
        <p:spPr>
          <a:xfrm flipV="1">
            <a:off x="7953375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7-mark137"/>
          <p:cNvSpPr/>
          <p:nvPr/>
        </p:nvSpPr>
        <p:spPr>
          <a:xfrm flipV="1">
            <a:off x="8350987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7-mark138"/>
          <p:cNvSpPr/>
          <p:nvPr/>
        </p:nvSpPr>
        <p:spPr>
          <a:xfrm flipV="1">
            <a:off x="8748598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7-mark139"/>
          <p:cNvSpPr/>
          <p:nvPr/>
        </p:nvSpPr>
        <p:spPr>
          <a:xfrm flipV="1">
            <a:off x="9146210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7-mark140"/>
          <p:cNvSpPr/>
          <p:nvPr/>
        </p:nvSpPr>
        <p:spPr>
          <a:xfrm flipV="1">
            <a:off x="9543821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7-mark141"/>
          <p:cNvSpPr/>
          <p:nvPr/>
        </p:nvSpPr>
        <p:spPr>
          <a:xfrm flipV="1">
            <a:off x="9941433" y="2346960"/>
            <a:ext cx="0" cy="19880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7-mark142"/>
          <p:cNvSpPr/>
          <p:nvPr/>
        </p:nvSpPr>
        <p:spPr>
          <a:xfrm>
            <a:off x="7953375" y="4335018"/>
            <a:ext cx="198805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7-mark143"/>
          <p:cNvSpPr/>
          <p:nvPr/>
        </p:nvSpPr>
        <p:spPr>
          <a:xfrm>
            <a:off x="7953375" y="3937406"/>
            <a:ext cx="198805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7-mark144"/>
          <p:cNvSpPr/>
          <p:nvPr/>
        </p:nvSpPr>
        <p:spPr>
          <a:xfrm>
            <a:off x="7953375" y="3539795"/>
            <a:ext cx="198805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7-mark145"/>
          <p:cNvSpPr/>
          <p:nvPr/>
        </p:nvSpPr>
        <p:spPr>
          <a:xfrm>
            <a:off x="7953375" y="3142183"/>
            <a:ext cx="198805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7-mark146"/>
          <p:cNvSpPr/>
          <p:nvPr/>
        </p:nvSpPr>
        <p:spPr>
          <a:xfrm>
            <a:off x="7953375" y="2744572"/>
            <a:ext cx="198805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7-mark147"/>
          <p:cNvSpPr/>
          <p:nvPr/>
        </p:nvSpPr>
        <p:spPr>
          <a:xfrm>
            <a:off x="7953375" y="2346960"/>
            <a:ext cx="198805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7-figure148" descr="한 변이 3 cm인 정사각형"/>
          <p:cNvSpPr/>
          <p:nvPr/>
        </p:nvSpPr>
        <p:spPr>
          <a:xfrm>
            <a:off x="8350987" y="2744572"/>
            <a:ext cx="1192835" cy="1192835"/>
          </a:xfrm>
          <a:custGeom>
            <a:avLst/>
            <a:gdLst/>
            <a:ahLst/>
            <a:cxnLst/>
            <a:rect l="l" t="t" r="r" b="b"/>
            <a:pathLst>
              <a:path w="1192835" h="1192835">
                <a:moveTo>
                  <a:pt x="0" y="1192835"/>
                </a:moveTo>
                <a:lnTo>
                  <a:pt x="1192835" y="1192835"/>
                </a:lnTo>
                <a:lnTo>
                  <a:pt x="119283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07-label150"/>
          <p:cNvSpPr txBox="1"/>
          <p:nvPr/>
        </p:nvSpPr>
        <p:spPr>
          <a:xfrm>
            <a:off x="8565642" y="401424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8" name="S07-label152"/>
          <p:cNvSpPr txBox="1"/>
          <p:nvPr/>
        </p:nvSpPr>
        <p:spPr>
          <a:xfrm>
            <a:off x="9592335" y="316636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9" name="S07-label153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m²와 1 km²</a:t>
            </a:r>
            <a:endParaRPr lang="ko-KR" sz="4000" dirty="0"/>
          </a:p>
        </p:txBody>
      </p:sp>
      <p:sp>
        <p:nvSpPr>
          <p:cNvPr id="3" name="S08-card154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55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 = 10000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× 100 = 10000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 m = 100 cm)</a:t>
            </a:r>
            <a:endParaRPr lang="ko-KR" sz="2800" dirty="0"/>
          </a:p>
        </p:txBody>
      </p:sp>
      <p:sp>
        <p:nvSpPr>
          <p:cNvPr id="5" name="S08-card156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157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km² = 1000000 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× 1000 = 1000000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 km = 1000 m)</a:t>
            </a:r>
            <a:endParaRPr lang="ko-KR" sz="2800" dirty="0"/>
          </a:p>
        </p:txBody>
      </p:sp>
      <p:sp>
        <p:nvSpPr>
          <p:cNvPr id="7" name="S08-figure158" descr="한 변이 1 m인 정사각형(실제 크기 아님), 가운데에 1 m²"/>
          <p:cNvSpPr/>
          <p:nvPr/>
        </p:nvSpPr>
        <p:spPr>
          <a:xfrm>
            <a:off x="2418588" y="1848993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label160"/>
          <p:cNvSpPr txBox="1"/>
          <p:nvPr/>
        </p:nvSpPr>
        <p:spPr>
          <a:xfrm>
            <a:off x="2938018" y="3571748"/>
            <a:ext cx="6070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</a:t>
            </a:r>
            <a:endParaRPr lang="ko-KR" sz="2200" dirty="0"/>
          </a:p>
        </p:txBody>
      </p:sp>
      <p:sp>
        <p:nvSpPr>
          <p:cNvPr id="9" name="S08-label162"/>
          <p:cNvSpPr txBox="1"/>
          <p:nvPr/>
        </p:nvSpPr>
        <p:spPr>
          <a:xfrm>
            <a:off x="1771396" y="2497328"/>
            <a:ext cx="60706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</a:t>
            </a:r>
            <a:endParaRPr lang="ko-KR" sz="2200" dirty="0"/>
          </a:p>
        </p:txBody>
      </p:sp>
      <p:sp>
        <p:nvSpPr>
          <p:cNvPr id="10" name="S08-label164"/>
          <p:cNvSpPr txBox="1"/>
          <p:nvPr/>
        </p:nvSpPr>
        <p:spPr>
          <a:xfrm>
            <a:off x="2879344" y="2497328"/>
            <a:ext cx="7244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</a:t>
            </a:r>
            <a:endParaRPr lang="ko-KR" sz="2200" dirty="0"/>
          </a:p>
        </p:txBody>
      </p:sp>
      <p:sp>
        <p:nvSpPr>
          <p:cNvPr id="11" name="S08-label165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1 m</a:t>
            </a:r>
            <a:endParaRPr lang="ko-KR" sz="2200" dirty="0"/>
          </a:p>
        </p:txBody>
      </p:sp>
      <p:sp>
        <p:nvSpPr>
          <p:cNvPr id="12" name="S08-figure166" descr="한 변이 1 km인 정사각형(실제 크기 아님), 가운데에 1 km²"/>
          <p:cNvSpPr/>
          <p:nvPr/>
        </p:nvSpPr>
        <p:spPr>
          <a:xfrm>
            <a:off x="8124444" y="1848993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CF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label168"/>
          <p:cNvSpPr txBox="1"/>
          <p:nvPr/>
        </p:nvSpPr>
        <p:spPr>
          <a:xfrm>
            <a:off x="8565642" y="357174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200" dirty="0"/>
          </a:p>
        </p:txBody>
      </p:sp>
      <p:sp>
        <p:nvSpPr>
          <p:cNvPr id="14" name="S08-label170"/>
          <p:cNvSpPr txBox="1"/>
          <p:nvPr/>
        </p:nvSpPr>
        <p:spPr>
          <a:xfrm>
            <a:off x="7312406" y="249732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</a:t>
            </a:r>
            <a:endParaRPr lang="ko-KR" sz="2200" dirty="0"/>
          </a:p>
        </p:txBody>
      </p:sp>
      <p:sp>
        <p:nvSpPr>
          <p:cNvPr id="15" name="S08-label172"/>
          <p:cNvSpPr txBox="1"/>
          <p:nvPr/>
        </p:nvSpPr>
        <p:spPr>
          <a:xfrm>
            <a:off x="8506968" y="2497328"/>
            <a:ext cx="8808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km²</a:t>
            </a:r>
            <a:endParaRPr lang="ko-KR" sz="2200" dirty="0"/>
          </a:p>
        </p:txBody>
      </p:sp>
      <p:sp>
        <p:nvSpPr>
          <p:cNvPr id="16" name="S08-label173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1 km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m²는 몇 cm²일까요?</a:t>
            </a:r>
            <a:endParaRPr lang="ko-KR" sz="2800" dirty="0"/>
          </a:p>
        </p:txBody>
      </p:sp>
      <p:sp>
        <p:nvSpPr>
          <p:cNvPr id="5" name="S09-card1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9-chip1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100 cm²</a:t>
            </a:r>
            <a:endParaRPr lang="ko-KR" sz="2200" dirty="0"/>
          </a:p>
        </p:txBody>
      </p:sp>
      <p:sp>
        <p:nvSpPr>
          <p:cNvPr id="8" name="S09-text1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 m가 100 cm니까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m²는 100 cm²예요.”</a:t>
            </a:r>
            <a:endParaRPr lang="ko-KR" sz="2800" dirty="0"/>
          </a:p>
        </p:txBody>
      </p:sp>
      <p:sp>
        <p:nvSpPr>
          <p:cNvPr id="9" name="S09-chip1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10000 cm²</a:t>
            </a:r>
            <a:endParaRPr lang="ko-KR" sz="2200" dirty="0"/>
          </a:p>
        </p:txBody>
      </p:sp>
      <p:sp>
        <p:nvSpPr>
          <p:cNvPr id="10" name="S09-text1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“가로 100 cm, 세로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 cm니까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× 100이에요.”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곳의 넓이</a:t>
            </a:r>
            <a:endParaRPr lang="ko-KR" sz="4000" dirty="0"/>
          </a:p>
        </p:txBody>
      </p:sp>
      <p:sp>
        <p:nvSpPr>
          <p:cNvPr id="3" name="S10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 = 10000 cm², 1 km² = 1000000 m²</a:t>
            </a:r>
            <a:endParaRPr lang="ko-KR" sz="2800" dirty="0"/>
          </a:p>
        </p:txBody>
      </p:sp>
      <p:sp>
        <p:nvSpPr>
          <p:cNvPr id="5" name="S10-chip18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18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 m, 세로 5 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방의 넓이</a:t>
            </a:r>
            <a:endParaRPr lang="ko-KR" sz="2800" dirty="0"/>
          </a:p>
        </p:txBody>
      </p:sp>
      <p:sp>
        <p:nvSpPr>
          <p:cNvPr id="7" name="S10-chip18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18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m² = □ cm²</a:t>
            </a:r>
            <a:endParaRPr lang="ko-KR" sz="2800" dirty="0"/>
          </a:p>
        </p:txBody>
      </p:sp>
      <p:sp>
        <p:nvSpPr>
          <p:cNvPr id="9" name="S10-chip18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18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3 km, 세로 2 km인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넓이</a:t>
            </a:r>
            <a:endParaRPr lang="ko-KR" sz="2800" dirty="0"/>
          </a:p>
        </p:txBody>
      </p:sp>
      <p:sp>
        <p:nvSpPr>
          <p:cNvPr id="11" name="S10-chip19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10-text19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km² = □ m²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9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9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9 cm, 세로 6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</p:txBody>
      </p:sp>
      <p:sp>
        <p:nvSpPr>
          <p:cNvPr id="5" name="S11-chip19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9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m인 정사각형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 텃밭의 넓이</a:t>
            </a:r>
            <a:endParaRPr lang="ko-KR" sz="2800" dirty="0"/>
          </a:p>
        </p:txBody>
      </p:sp>
      <p:sp>
        <p:nvSpPr>
          <p:cNvPr id="7" name="S11-chip19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9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m² = □ cm²</a:t>
            </a:r>
            <a:endParaRPr lang="ko-KR" sz="2800" dirty="0"/>
          </a:p>
        </p:txBody>
      </p:sp>
      <p:sp>
        <p:nvSpPr>
          <p:cNvPr id="9" name="S11-chip19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9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72 cm², 세로가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cm인 직사각형의 가로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chip20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20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200 cm, 세로 300 cm인 돗자리의 넓이는 몇 m²?</a:t>
            </a:r>
            <a:endParaRPr lang="ko-KR" sz="2800" dirty="0"/>
          </a:p>
        </p:txBody>
      </p:sp>
      <p:sp>
        <p:nvSpPr>
          <p:cNvPr id="5" name="S13-chip20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20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36 cm²인 정사각형의 한 변은?</a:t>
            </a:r>
            <a:endParaRPr lang="ko-KR" sz="2800" dirty="0"/>
          </a:p>
        </p:txBody>
      </p:sp>
      <p:sp>
        <p:nvSpPr>
          <p:cNvPr id="7" name="S13-chip20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3-text20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운동장의 넓이에 알맞은 단위는? (cm², m², km²)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0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0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(직사각형의 넓이) = (가로) × (세로)예요. 1 m² = 10000 cm², 1 km² = 1000000 m²예요.</a:t>
            </a:r>
            <a:endParaRPr lang="ko-KR" sz="2800" dirty="0"/>
          </a:p>
        </p:txBody>
      </p:sp>
      <p:sp>
        <p:nvSpPr>
          <p:cNvPr id="5" name="S14-chip20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넓이에는 cm², m², km²</a:t>
            </a:r>
            <a:endParaRPr lang="ko-KR" sz="2200" dirty="0"/>
          </a:p>
        </p:txBody>
      </p:sp>
      <p:sp>
        <p:nvSpPr>
          <p:cNvPr id="6" name="S14-chip20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 m² = 100 cm²</a:t>
            </a:r>
            <a:endParaRPr lang="ko-KR" sz="2200" dirty="0"/>
          </a:p>
        </p:txBody>
      </p:sp>
      <p:sp>
        <p:nvSpPr>
          <p:cNvPr id="7" name="S14-text21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21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가로 6 cm, 세로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cm인 직사각형의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넓이는?</a:t>
            </a:r>
            <a:endParaRPr lang="ko-KR" sz="2200" dirty="0"/>
          </a:p>
        </p:txBody>
      </p:sp>
      <p:sp>
        <p:nvSpPr>
          <p:cNvPr id="9" name="S14-text21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변이 9 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넓이는?</a:t>
            </a:r>
            <a:endParaRPr lang="ko-KR" sz="2200" dirty="0"/>
          </a:p>
        </p:txBody>
      </p:sp>
      <p:sp>
        <p:nvSpPr>
          <p:cNvPr id="10" name="S14-text21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m²는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cm²?</a:t>
            </a:r>
            <a:endParaRPr lang="ko-KR" sz="2200" dirty="0"/>
          </a:p>
        </p:txBody>
      </p:sp>
      <p:sp>
        <p:nvSpPr>
          <p:cNvPr id="11" name="S14-text2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평행사변형과 삼각형의 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길이의 단위</a:t>
            </a:r>
            <a:endParaRPr lang="ko-KR" sz="4000" dirty="0"/>
          </a:p>
        </p:txBody>
      </p:sp>
      <p:sp>
        <p:nvSpPr>
          <p:cNvPr id="3" name="S15-card21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21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넓이도 같은 방법으로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m² = 100 × 100(cm²), 1 km² = 1000 × 1000(m²)</a:t>
            </a:r>
            <a:endParaRPr lang="ko-KR" sz="2800" dirty="0"/>
          </a:p>
        </p:txBody>
      </p:sp>
      <p:graphicFrame>
        <p:nvGraphicFramePr>
          <p:cNvPr id="15" name="S15-table2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25596" y="1995932"/>
          <a:ext cx="4937760" cy="914400"/>
        </p:xfrm>
        <a:graphic>
          <a:graphicData uri="http://schemas.openxmlformats.org/drawingml/2006/table">
            <a:tbl>
              <a:tblPr/>
              <a:tblGrid>
                <a:gridCol w="1086307"/>
                <a:gridCol w="1382573"/>
                <a:gridCol w="2468880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길이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기억하기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mm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자의 작은 눈금 10칸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 cm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양팔을 벌린 길이쯤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 km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 m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걸어서 15분쯤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직사각형의 넓이</dc:title>
  <dc:subject>KR22-G05-MAT-AREA-L01</dc:subject>
  <dc:creator>education-ppt</dc:creator>
  <cp:lastModifiedBy>education-ppt</cp:lastModifiedBy>
  <cp:revision>1</cp:revision>
  <dcterms:created xsi:type="dcterms:W3CDTF">2026-10-26T08:59:26Z</dcterms:created>
  <dcterms:modified xsi:type="dcterms:W3CDTF">2026-10-26T08:59:26Z</dcterms:modified>
</cp:coreProperties>
</file>