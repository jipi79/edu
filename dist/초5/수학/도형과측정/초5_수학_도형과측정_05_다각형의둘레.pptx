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cc256bc-b76f-1872-f01a-37359d173452}">
          <p14:sldIdLst>
            <p14:sldId id="256"/>
            <p14:sldId id="257"/>
          </p14:sldIdLst>
        </p14:section>
        <p14:section name="개념" id="{151cba2a-dfc2-e36c-5a63-582514931c12}">
          <p14:sldIdLst>
            <p14:sldId id="258"/>
            <p14:sldId id="259"/>
            <p14:sldId id="261"/>
            <p14:sldId id="262"/>
          </p14:sldIdLst>
        </p14:section>
        <p14:section name="연습" id="{74e005e9-d2b0-8a10-62fa-f3ebc230e0f2}">
          <p14:sldIdLst>
            <p14:sldId id="260"/>
            <p14:sldId id="263"/>
            <p14:sldId id="264"/>
          </p14:sldIdLst>
        </p14:section>
        <p14:section name="개념" id="{2c3c2cb3-1b86-a738-cb18-e8dbb0d38b2d}">
          <p14:sldIdLst/>
        </p14:section>
        <p14:section name="연습" id="{465398d3-d350-b9fb-5f4f-302313f2c413}">
          <p14:sldIdLst/>
        </p14:section>
        <p14:section name="확인" id="{a5e9f207-3bf6-2cf9-78ae-01da434569a4}">
          <p14:sldIdLst>
            <p14:sldId id="265"/>
            <p14:sldId id="266"/>
            <p14:sldId id="267"/>
          </p14:sldIdLst>
        </p14:section>
        <p14:section name="정리" id="{ed29a60d-efd5-c779-db25-645c5f02bc4f}">
          <p14:sldIdLst>
            <p14:sldId id="268"/>
          </p14:sldIdLst>
        </p14:section>
        <p14:section name="보충" id="{fab35c3c-1b5f-39a0-1ddd-b9cebdd19ed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둘레를 덧셈보다 쉽게 구하는 방법이 있을지 궁금하게 합니다.
시간: 약 2분
이렇게 말해 보세요
- “오른쪽 도형의 변에 그은 짧은 선은 무슨 뜻이었지? 이 도형을 한 바퀴 도는 길이를 어떻게 구할까?”
- “오늘은 같은 길이의 변을 찾아서 둘레를 쉽게 구하는 방법을 알아볼 거야.”
예상 답
- “변의 길이가 모두 같다는 뜻이에요.” “변을 다 더해요.”
막히면
- 답을 확인하지 않고 넘어갑니다. S03에서 둘레의 뜻부터 봅니다.
주의
- 오늘은 끈(또는 실) 한 줄, 자, 공책을 씁니다. 공책이나 책의 둘레를 끈으로 재어 보는 활동이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확인(정다각형, 평행사변형·마름모의 변)]
목적: 둘레를 구할 때 필요한 정다각형의 뜻과 평행사변형·마름모의 변의 성질(4학년)을 기억하는지 확인합니다.
시간: 약 3분
이렇게 말해 보세요
- “말로 답해 줘. 생각나는 도형을 공책에 그려 보면서 말해도 돼.”
정답
- ① 정다각형 (정삼각형, 정사각형, 정오각형 …)
- ② 서로 같아요.
- ③ 마름모 (정사각형도 네 변의 길이가 같음)
막히면
- ②, ③이 흔들리면 S14(보충)를 먼저 합니다. 보충으로도 어려우면 4학년 ‘여러 가지 사각형’, ‘다각형과 대각선’ 차시를 먼저 다시 합니다.
주의
- ③에서 ‘정사각형’이라고만 해도 맞습니다. “정사각형 말고 각이 직각이 아니어도 되는 것은?”이라고 물어 마름모를 끌어냅니다.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둘레의 뜻]
목적: 도형의 둘레는 가장자리를 한 바퀴 돈 길이이며, 다각형의 둘레는 모든 변의 길이의 합이라는 것을 압니다.
시간: 약 3분
이렇게 말해 보세요
- “끈으로 공책의 가장자리를 한 바퀴 둘러 볼까? 끈을 펴서 자로 재면 그게 공책의 둘레야.”
- “화면의 집 모양 도형의 둘레는 어떻게 구할까? 변을 빠짐없이 더해 보자.”
예상 답
- “변을 모두 더하면 22 cm예요.”
막히면
- 손가락으로 한 변씩 짚으며 길이를 소리 내어 말하고, 짚은 변에 표시하게 합니다.
주의
- 변을 하나 빠뜨리거나 두 번 더하는 실수가 많습니다. 출발한 꼭짓점으로 돌아올 때까지 차례로 짚게 합니다.
- 그림의 변의 길이(6, 3, 5, 5, 3 cm)는 그림의 모양과 맞게 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정다각형의 둘레]
목적: 정다각형은 변의 길이가 모두 같으므로 둘레를 (한 변의 길이) × (변의 수)로 구할 수 있음을 압니다.
시간: 약 3분
이렇게 말해 보세요
- “정삼각형의 둘레를 덧셈으로 하면 5 + 5 + 5지? 곱셈으로 바꾸면?”
- “정육각형은 3 cm인 변이 몇 개야? 그러면 둘레는?”
예상 답
- “5 × 3 = 15, 15 cm예요.” “변이 6개니까 3 × 6 = 18 cm예요.”
막히면
- 덧셈식(5 + 5 + 5)을 먼저 쓰고, 같은 수를 여러 번 더하는 것은 곱셈으로 쓸 수 있다고 말해 줍니다.
주의
- 세 그림은 같은 축척으로 그렸습니다(1 cm가 같은 길이).
- 변의 수를 셀 때 정다각형 이름의 숫자(삼, 사, 육)와 같다는 것을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연습(정다각형의 둘레)]
목적: 도움을 받으며 정다각형의 둘레를 곱셈으로 구하고, 둘레를 알 때 한 변의 길이를 나눗셈으로 구합니다.
시간: 약 4분
이렇게 말해 보세요
- “정팔각형은 변이 몇 개야? 그러면 몇 × 몇을 하면 될까?”
- “③은 거꾸로야. 같은 길이의 변 6개를 더해서 36 cm가 됐어. 한 변은?”
정답
- ① 30 cm (6 × 5)
- ② 56 cm (7 × 8)
- ③ 6 cm (36 ÷ 6)
막히면
- 공책에 정오각형을 대충 그리고 변마다 6을 써서 더하게 합니다.
- ③은 □ × 6 = 36으로 바꾸어 곱셈구구로 생각하게 합니다.
주의
- 답에 단위 cm를 붙이게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직사각형의 둘레]
목적: 직사각형은 마주 보는 두 변의 길이가 같으므로 둘레를 ((가로) + (세로)) × 2로 구할 수 있음을 압니다.
시간: 약 3분
이렇게 말해 보세요
- “네 변을 더하면 6 + 4 + 6 + 4야. 6과 4가 각각 몇 번씩 나와?”
- “그래서 6 + 4를 먼저 하고 2배를 해도 돼. 6 × 2 + 4 × 2로 해도 같을까?”
예상 답
- “2번씩이요.” “10 × 2 = 20이에요.” “12 + 8 = 20으로 같아요.”
막히면
- 끈으로 가로와 세로를 하나씩 재어 이은 뒤, 그 끈 두 개로 한 바퀴가 된다는 것을 보여 줍니다.
주의
- 정사각형은 직사각형이므로 같은 방법을 써도 되고, 네 변이 같으니 (한 변) × 4로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평행사변형과 마름모의 둘레]
목적: 평행사변형은 마주 보는 두 변의 길이가 같아 ((한 변) + (다른 한 변)) × 2, 마름모는 네 변의 길이가 같아 (한 변) × 4로 둘레를 구합니다.
시간: 약 3분
이렇게 말해 보세요
- “평행사변형에서 7 cm인 변과 길이가 같은 변은 어디야? 4 cm인 변과 같은 변은?”
- “마름모는 네 변이 모두 5 cm야. 둘레는?”
예상 답
- “마주 보는 변이요. (7 + 4) × 2 = 22 cm예요.” “5 × 4 = 20 cm예요.”
막히면
- 변마다 길이를 써 넣고(7, 4, 7, 4) 모두 더해 본 뒤 곱셈식과 비교합니다.
주의
- 평행사변형의 둘레는 직사각형과 같은 방법입니다. 두 도형 모두 마주 보는 두 변의 길이가 같기 때문입니다.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비교(두 변만 더하기)]
목적: 보이는 두 변만 더하는 오개념(M2)을 바로잡습니다.
시간: 약 2분
이렇게 말해 보세요
- “토끼와 곰 중 누가 맞았을까? 평행사변형에는 변이 몇 개 있지?”
예상 답
- “곰이요. 변이 4개라서 두 번 더해야 해요.”
정답
- 곰이 맞습니다. 평행사변형은 변이 4개이고, 8 cm인 변과 5 cm인 변이 2개씩 있으므로 (8 + 5) × 2 = 26(cm)입니다.
- 토끼는 이웃한 두 변만 더해 둘레의 반만 구했습니다.
막히면
- 공책에 평행사변형을 그리고 네 변에 길이를 모두 써 넣게 합니다.
주의
- 8 × 5 = 40처럼 곱하는 아이도 있습니다. 곱셈은 넓이를 구할 때 쓰는 방법이고(다음 시간), 둘레는 변의 길이를 모두 더한 것이라고 구별해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연습(사각형의 둘레)]
목적: 도움을 받으며 직사각형·마름모·평행사변형의 둘레를 구하고, 둘레를 알 때 모르는 변의 길이를 구합니다.
시간: 약 4분
이렇게 말해 보세요
- “①은 어떤 식으로 구할까? ②는 마름모니까?”
- “④는 거꾸로야. 가로와 세로를 더한 것의 2배가 30 cm야. 가로와 세로의 합은?”
정답
- ① 28 cm ((9 + 5) × 2)
- ② 24 cm (6 × 4)
- ③ 34 cm ((10 + 7) × 2)
- ④ 6 cm (30 ÷ 2 = 15, 15 − 9 = 6)
막히면
- ④는 공책에 직사각형을 그리고 가로에 9를 두 번 쓴 뒤, 30에서 18을 빼고 남은 12를 두 세로가 나눠 가진다고 생각해도 됩니다.
주의
- ④에서 30 − 9 = 21이라고 하면 가로가 2개라는 것을 놓친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평행사변형·정다각형의 둘레와, 둘레를 알 때 마름모의 한 변의 길이를 구하는지 확인합니다.
시간: 약 5분
이렇게 말해 보세요
- “이번에는 혼자 해 볼래? 어떤 식을 썼는지도 말해 줘.”
정답
- ① 30 cm ((9 + 6) × 2)
- ② 48 cm (8 × 6)
- ③ 8 cm (32 ÷ 4)
막히면
- 바로 알려 주지 말고 “길이가 같은 변이 몇 개씩 있어?”라고만 묻습니다.
- 도움을 받아 해결했다면 기록표에 ‘도움’으로 표시합니다.
주의
- ①을 15 cm라고 하면 두 변만 더한 것입니다(S08).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변의 수를 다시 세어 보자.”
정답
- ① 30 cm ② 48 cm ③ 8 cm
막히면
- ③을 16 cm라고 하면 마름모를 평행사변형처럼 2로 나눈 것입니다. 마름모는 네 변이 모두 같다는 것을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확인(둘레 비교)]
목적: 처음 보는 여러 도형의 둘레를 알맞은 식으로 구해 비교하는지 확인합니다.
시간: 약 3분
이렇게 말해 보세요
- “가부터 라까지 둘레를 하나씩 구해 볼까? 어떤 식을 썼어?”
정답
- 라 (28 cm)
- 가 6 × 4 = 24(cm), 나 (8 + 5) × 2 = 26(cm), 다 9 × 3 = 27(cm), 라 7 × 4 = 28(cm)
막히면
- 보기마다 도형을 대충 그리고 변에 길이를 써 넣게 합니다.
주의
- 식과 답을 모두 말하면 목표 A, B를 이룬 것입니다. 한 변이 가장 긴 다(9 cm)를 고르면 변의 수를 생각하지 않은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“정다각형의 둘레는 어떻게 구했지? 직사각형과 평행사변형은? 마름모는?”
예상 답
- “한 변 × 변의 수예요.” “두 변을 더해서 2배 해요.” “한 변 × 4예요.”
정답
- ① 20 cm (4 × 5)
- ② 20 cm ((7 + 3) × 2)
- ③ 7 cm (28 ÷ 4)
막히면
- S04, S06, S07을 다시 보여 줍니다.
주의
- 다음 시간에는 둘레와 다른 ‘넓이’를 배웁니다. 둘레는 길이(cm), 넓이는 넓은 정도라는 것을 미리 말해 두면 좋습니다.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보충(여러 가지 사각형의 변)]
목적: S02에서 사각형의 변의 성질이 흔들리면, 둘레를 구하기 전에 같은 길이의 변을 다시 확인합니다.
시간: 약 5분
이렇게 말해 보세요
- “같은 표시(짧은 선)가 있는 변끼리는 길이가 같아. 평행사변형에서 길이가 같은 변은 어디야? 마름모는?”
- “자로 공책에 그린 평행사변형의 마주 보는 두 변을 재어 볼까?”
정답
- 평행사변형·직사각형: 마주 보는 두 변의 길이가 같음
- 마름모: 네 변의 길이가 모두 같음
막히면
- 색종이를 잘라 평행사변형을 만들고, 마주 보는 변을 겹쳐 길이를 비교합니다.
주의
- 계획의 바로 앞 차시는 ‘직육면체와 정육면체’이지만, 둘레에 직접 필요한 것은 4학년 ‘여러 가지 사각형’과 ‘다각형과 대각선’(정다각형)입니다.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다각형의 둘레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다각형의 둘레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둘레를 쉽게 구하는 방법은 무엇일까요?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여섯 변의 길이가 같은 정육각형"/>
          <p:cNvSpPr/>
          <p:nvPr/>
        </p:nvSpPr>
        <p:spPr>
          <a:xfrm>
            <a:off x="8054349" y="723900"/>
            <a:ext cx="3185143" cy="2758440"/>
          </a:xfrm>
          <a:custGeom>
            <a:avLst/>
            <a:gdLst/>
            <a:ahLst/>
            <a:cxnLst/>
            <a:rect l="l" t="t" r="r" b="b"/>
            <a:pathLst>
              <a:path w="3185143" h="2758440">
                <a:moveTo>
                  <a:pt x="796286" y="2758440"/>
                </a:moveTo>
                <a:lnTo>
                  <a:pt x="2388857" y="2758440"/>
                </a:lnTo>
                <a:lnTo>
                  <a:pt x="3185143" y="1379220"/>
                </a:lnTo>
                <a:lnTo>
                  <a:pt x="2388857" y="0"/>
                </a:lnTo>
                <a:lnTo>
                  <a:pt x="796286" y="0"/>
                </a:lnTo>
                <a:lnTo>
                  <a:pt x="0" y="137922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9646920" y="339852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 flipV="1">
            <a:off x="10768758" y="275082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>
            <a:off x="10768758" y="137160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646920" y="64008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379901" y="137160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8379901" y="275082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card9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3" name="S01-cardtext10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정다각형의 둘레를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직사각형·평행사변형·마름모의 둘레를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길이가 모두 같고 각의 크기가 모두 같은 다각형은?</a:t>
            </a:r>
            <a:endParaRPr lang="ko-KR" sz="2800" dirty="0"/>
          </a:p>
        </p:txBody>
      </p:sp>
      <p:sp>
        <p:nvSpPr>
          <p:cNvPr id="5" name="S02-chip1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평행사변형에서 마주 보는 두 변의 길이는 어떤가요?</a:t>
            </a:r>
            <a:endParaRPr lang="ko-KR" sz="2800" dirty="0"/>
          </a:p>
        </p:txBody>
      </p:sp>
      <p:sp>
        <p:nvSpPr>
          <p:cNvPr id="7" name="S02-chip1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6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 같은 사각형은?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</a:t>
            </a:r>
            <a:endParaRPr lang="ko-KR" sz="4000" dirty="0"/>
          </a:p>
        </p:txBody>
      </p:sp>
      <p:sp>
        <p:nvSpPr>
          <p:cNvPr id="3" name="S03-figure17" descr="변의 길이가 6 cm, 3 cm, 5 cm, 5 cm, 3 cm인 오각형(집 모양)"/>
          <p:cNvSpPr/>
          <p:nvPr/>
        </p:nvSpPr>
        <p:spPr>
          <a:xfrm>
            <a:off x="1858518" y="2171700"/>
            <a:ext cx="2743200" cy="3200400"/>
          </a:xfrm>
          <a:custGeom>
            <a:avLst/>
            <a:gdLst/>
            <a:ahLst/>
            <a:cxnLst/>
            <a:rect l="l" t="t" r="r" b="b"/>
            <a:pathLst>
              <a:path w="2743200" h="3200400">
                <a:moveTo>
                  <a:pt x="0" y="3200400"/>
                </a:moveTo>
                <a:lnTo>
                  <a:pt x="2743200" y="3200400"/>
                </a:lnTo>
                <a:lnTo>
                  <a:pt x="2743200" y="1828800"/>
                </a:lnTo>
                <a:lnTo>
                  <a:pt x="137160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label19"/>
          <p:cNvSpPr txBox="1"/>
          <p:nvPr/>
        </p:nvSpPr>
        <p:spPr>
          <a:xfrm>
            <a:off x="2848356" y="54489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5" name="S03-label21"/>
          <p:cNvSpPr txBox="1"/>
          <p:nvPr/>
        </p:nvSpPr>
        <p:spPr>
          <a:xfrm>
            <a:off x="4650232" y="45116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6" name="S03-label23"/>
          <p:cNvSpPr txBox="1"/>
          <p:nvPr/>
        </p:nvSpPr>
        <p:spPr>
          <a:xfrm>
            <a:off x="3903411" y="263453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7" name="S03-label25"/>
          <p:cNvSpPr txBox="1"/>
          <p:nvPr/>
        </p:nvSpPr>
        <p:spPr>
          <a:xfrm>
            <a:off x="1793301" y="263453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8" name="S03-label27"/>
          <p:cNvSpPr txBox="1"/>
          <p:nvPr/>
        </p:nvSpPr>
        <p:spPr>
          <a:xfrm>
            <a:off x="1046480" y="45116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9" name="S03-card28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29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가장자리를 한 바퀴 돈 길이</a:t>
            </a:r>
            <a:endParaRPr lang="ko-KR" sz="2800" dirty="0"/>
          </a:p>
        </p:txBody>
      </p:sp>
      <p:sp>
        <p:nvSpPr>
          <p:cNvPr id="11" name="S03-card30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31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변의 길이의 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+ 3 + 5 + 5 + 3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22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정다각형의 둘레</a:t>
            </a:r>
            <a:endParaRPr lang="ko-KR" sz="4000" dirty="0"/>
          </a:p>
        </p:txBody>
      </p:sp>
      <p:sp>
        <p:nvSpPr>
          <p:cNvPr id="3" name="S04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(정다각형의 둘레) = (한 변의 길이) × (변의 수)</a:t>
            </a:r>
            <a:endParaRPr lang="ko-KR" sz="2800" dirty="0"/>
          </a:p>
        </p:txBody>
      </p:sp>
      <p:sp>
        <p:nvSpPr>
          <p:cNvPr id="5" name="S04-card34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5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(cm)</a:t>
            </a:r>
            <a:endParaRPr lang="ko-KR" sz="2800" dirty="0"/>
          </a:p>
        </p:txBody>
      </p:sp>
      <p:sp>
        <p:nvSpPr>
          <p:cNvPr id="7" name="S04-card36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7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 = 16 (cm)</a:t>
            </a:r>
            <a:endParaRPr lang="ko-KR" sz="2800" dirty="0"/>
          </a:p>
        </p:txBody>
      </p:sp>
      <p:sp>
        <p:nvSpPr>
          <p:cNvPr id="9" name="S04-card38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9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 (cm)</a:t>
            </a:r>
            <a:endParaRPr lang="ko-KR" sz="2800" dirty="0"/>
          </a:p>
        </p:txBody>
      </p:sp>
      <p:sp>
        <p:nvSpPr>
          <p:cNvPr id="11" name="S04-figure40" descr="한 변이 5 cm인 정삼각형, 세 변에 같은 길이 표시"/>
          <p:cNvSpPr/>
          <p:nvPr/>
        </p:nvSpPr>
        <p:spPr>
          <a:xfrm>
            <a:off x="1536192" y="1796126"/>
            <a:ext cx="1508760" cy="1306647"/>
          </a:xfrm>
          <a:custGeom>
            <a:avLst/>
            <a:gdLst/>
            <a:ahLst/>
            <a:cxnLst/>
            <a:rect l="l" t="t" r="r" b="b"/>
            <a:pathLst>
              <a:path w="1508760" h="1306647">
                <a:moveTo>
                  <a:pt x="0" y="1306647"/>
                </a:moveTo>
                <a:lnTo>
                  <a:pt x="1508760" y="1306647"/>
                </a:lnTo>
                <a:lnTo>
                  <a:pt x="7543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41"/>
          <p:cNvSpPr/>
          <p:nvPr/>
        </p:nvSpPr>
        <p:spPr>
          <a:xfrm flipV="1">
            <a:off x="2290572" y="3018952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abel43"/>
          <p:cNvSpPr txBox="1"/>
          <p:nvPr/>
        </p:nvSpPr>
        <p:spPr>
          <a:xfrm>
            <a:off x="1908810" y="3179607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4" name="S04-mark44"/>
          <p:cNvSpPr/>
          <p:nvPr/>
        </p:nvSpPr>
        <p:spPr>
          <a:xfrm flipH="1">
            <a:off x="2595171" y="24075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45"/>
          <p:cNvSpPr/>
          <p:nvPr/>
        </p:nvSpPr>
        <p:spPr>
          <a:xfrm>
            <a:off x="1840791" y="240754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46"/>
          <p:cNvSpPr txBox="1"/>
          <p:nvPr/>
        </p:nvSpPr>
        <p:spPr>
          <a:xfrm>
            <a:off x="548640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200" dirty="0"/>
          </a:p>
        </p:txBody>
      </p:sp>
      <p:sp>
        <p:nvSpPr>
          <p:cNvPr id="17" name="S04-figure47" descr="한 변이 4 cm인 정사각형, 네 변에 같은 길이 표시"/>
          <p:cNvSpPr/>
          <p:nvPr/>
        </p:nvSpPr>
        <p:spPr>
          <a:xfrm>
            <a:off x="5490972" y="1845945"/>
            <a:ext cx="1207008" cy="1207008"/>
          </a:xfrm>
          <a:custGeom>
            <a:avLst/>
            <a:gdLst/>
            <a:ahLst/>
            <a:cxnLst/>
            <a:rect l="l" t="t" r="r" b="b"/>
            <a:pathLst>
              <a:path w="1207008" h="1207008">
                <a:moveTo>
                  <a:pt x="0" y="1207008"/>
                </a:moveTo>
                <a:lnTo>
                  <a:pt x="1207008" y="1207008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48"/>
          <p:cNvSpPr/>
          <p:nvPr/>
        </p:nvSpPr>
        <p:spPr>
          <a:xfrm flipV="1">
            <a:off x="6094476" y="296913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abel50"/>
          <p:cNvSpPr txBox="1"/>
          <p:nvPr/>
        </p:nvSpPr>
        <p:spPr>
          <a:xfrm>
            <a:off x="5712714" y="312978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0" name="S04-mark51"/>
          <p:cNvSpPr/>
          <p:nvPr/>
        </p:nvSpPr>
        <p:spPr>
          <a:xfrm flipH="1">
            <a:off x="6614160" y="2449449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mark52"/>
          <p:cNvSpPr/>
          <p:nvPr/>
        </p:nvSpPr>
        <p:spPr>
          <a:xfrm>
            <a:off x="6094476" y="176212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mark53"/>
          <p:cNvSpPr/>
          <p:nvPr/>
        </p:nvSpPr>
        <p:spPr>
          <a:xfrm>
            <a:off x="5407152" y="2449449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abel54"/>
          <p:cNvSpPr txBox="1"/>
          <p:nvPr/>
        </p:nvSpPr>
        <p:spPr>
          <a:xfrm>
            <a:off x="4352544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200" dirty="0"/>
          </a:p>
        </p:txBody>
      </p:sp>
      <p:sp>
        <p:nvSpPr>
          <p:cNvPr id="24" name="S04-figure55" descr="한 변이 3 cm인 정육각형, 여섯 변에 같은 길이 표시"/>
          <p:cNvSpPr/>
          <p:nvPr/>
        </p:nvSpPr>
        <p:spPr>
          <a:xfrm>
            <a:off x="8993124" y="1665467"/>
            <a:ext cx="1810512" cy="1567964"/>
          </a:xfrm>
          <a:custGeom>
            <a:avLst/>
            <a:gdLst/>
            <a:ahLst/>
            <a:cxnLst/>
            <a:rect l="l" t="t" r="r" b="b"/>
            <a:pathLst>
              <a:path w="1810512" h="1567964">
                <a:moveTo>
                  <a:pt x="452628" y="1567964"/>
                </a:moveTo>
                <a:lnTo>
                  <a:pt x="1357884" y="1567964"/>
                </a:lnTo>
                <a:lnTo>
                  <a:pt x="1810512" y="783982"/>
                </a:lnTo>
                <a:lnTo>
                  <a:pt x="1357884" y="0"/>
                </a:lnTo>
                <a:lnTo>
                  <a:pt x="452628" y="0"/>
                </a:lnTo>
                <a:lnTo>
                  <a:pt x="0" y="78398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56"/>
          <p:cNvSpPr/>
          <p:nvPr/>
        </p:nvSpPr>
        <p:spPr>
          <a:xfrm flipV="1">
            <a:off x="9898380" y="314961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58"/>
          <p:cNvSpPr txBox="1"/>
          <p:nvPr/>
        </p:nvSpPr>
        <p:spPr>
          <a:xfrm>
            <a:off x="9516618" y="33102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7" name="S04-mark59"/>
          <p:cNvSpPr/>
          <p:nvPr/>
        </p:nvSpPr>
        <p:spPr>
          <a:xfrm flipH="1" flipV="1">
            <a:off x="10504732" y="279953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60"/>
          <p:cNvSpPr/>
          <p:nvPr/>
        </p:nvSpPr>
        <p:spPr>
          <a:xfrm flipH="1">
            <a:off x="10504732" y="2015548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61"/>
          <p:cNvSpPr/>
          <p:nvPr/>
        </p:nvSpPr>
        <p:spPr>
          <a:xfrm>
            <a:off x="9898380" y="158164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mark62"/>
          <p:cNvSpPr/>
          <p:nvPr/>
        </p:nvSpPr>
        <p:spPr>
          <a:xfrm>
            <a:off x="9146848" y="2015548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mark63"/>
          <p:cNvSpPr/>
          <p:nvPr/>
        </p:nvSpPr>
        <p:spPr>
          <a:xfrm flipV="1">
            <a:off x="9146848" y="2799530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64"/>
          <p:cNvSpPr txBox="1"/>
          <p:nvPr/>
        </p:nvSpPr>
        <p:spPr>
          <a:xfrm>
            <a:off x="8156448" y="364617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정다각형의 둘레 구하기</a:t>
            </a:r>
            <a:endParaRPr lang="ko-KR" sz="4000" dirty="0"/>
          </a:p>
        </p:txBody>
      </p:sp>
      <p:sp>
        <p:nvSpPr>
          <p:cNvPr id="3" name="S05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수부터 세어요. 정오각형은 변이 5개예요.</a:t>
            </a:r>
            <a:endParaRPr lang="ko-KR" sz="2800" dirty="0"/>
          </a:p>
        </p:txBody>
      </p:sp>
      <p:sp>
        <p:nvSpPr>
          <p:cNvPr id="5" name="S05-chip6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68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 정오각형의 둘레는?</a:t>
            </a:r>
            <a:endParaRPr lang="ko-KR" sz="2800" dirty="0"/>
          </a:p>
        </p:txBody>
      </p:sp>
      <p:sp>
        <p:nvSpPr>
          <p:cNvPr id="7" name="S05-chip6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70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cm인 정팔각형의 둘레는?</a:t>
            </a:r>
            <a:endParaRPr lang="ko-KR" sz="2800" dirty="0"/>
          </a:p>
        </p:txBody>
      </p:sp>
      <p:sp>
        <p:nvSpPr>
          <p:cNvPr id="9" name="S05-chip7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72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36 cm인 정육각형의 한 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</a:t>
            </a:r>
            <a:endParaRPr lang="ko-KR" sz="4000" dirty="0"/>
          </a:p>
        </p:txBody>
      </p:sp>
      <p:sp>
        <p:nvSpPr>
          <p:cNvPr id="3" name="S06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둘레) = ((가로) + (세로)) × 2</a:t>
            </a:r>
            <a:endParaRPr lang="ko-KR" sz="2800" dirty="0"/>
          </a:p>
        </p:txBody>
      </p:sp>
      <p:sp>
        <p:nvSpPr>
          <p:cNvPr id="5" name="S06-figure75" descr="가로 6 cm, 세로 4 cm인 직사각형, 네 변에 길이"/>
          <p:cNvSpPr/>
          <p:nvPr/>
        </p:nvSpPr>
        <p:spPr>
          <a:xfrm>
            <a:off x="7634691" y="2125980"/>
            <a:ext cx="3291840" cy="2194560"/>
          </a:xfrm>
          <a:custGeom>
            <a:avLst/>
            <a:gdLst/>
            <a:ahLst/>
            <a:cxnLst/>
            <a:rect l="l" t="t" r="r" b="b"/>
            <a:pathLst>
              <a:path w="3291840" h="2194560">
                <a:moveTo>
                  <a:pt x="0" y="2194560"/>
                </a:moveTo>
                <a:lnTo>
                  <a:pt x="3291840" y="2194560"/>
                </a:ln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76"/>
          <p:cNvSpPr/>
          <p:nvPr/>
        </p:nvSpPr>
        <p:spPr>
          <a:xfrm>
            <a:off x="7634691" y="41109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6-mark77"/>
          <p:cNvSpPr/>
          <p:nvPr/>
        </p:nvSpPr>
        <p:spPr>
          <a:xfrm>
            <a:off x="10716981" y="41109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mark78"/>
          <p:cNvSpPr/>
          <p:nvPr/>
        </p:nvSpPr>
        <p:spPr>
          <a:xfrm>
            <a:off x="10716981" y="212598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mark79"/>
          <p:cNvSpPr/>
          <p:nvPr/>
        </p:nvSpPr>
        <p:spPr>
          <a:xfrm>
            <a:off x="7634691" y="212598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81"/>
          <p:cNvSpPr txBox="1"/>
          <p:nvPr/>
        </p:nvSpPr>
        <p:spPr>
          <a:xfrm>
            <a:off x="8898849" y="43973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1" name="S06-label83"/>
          <p:cNvSpPr txBox="1"/>
          <p:nvPr/>
        </p:nvSpPr>
        <p:spPr>
          <a:xfrm>
            <a:off x="10975045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06-label85"/>
          <p:cNvSpPr txBox="1"/>
          <p:nvPr/>
        </p:nvSpPr>
        <p:spPr>
          <a:xfrm>
            <a:off x="8898849" y="16998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3" name="S06-label87"/>
          <p:cNvSpPr txBox="1"/>
          <p:nvPr/>
        </p:nvSpPr>
        <p:spPr>
          <a:xfrm>
            <a:off x="6822653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4" name="S06-stepno88"/>
          <p:cNvSpPr txBox="1"/>
          <p:nvPr/>
        </p:nvSpPr>
        <p:spPr>
          <a:xfrm>
            <a:off x="548640" y="2121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6-text89"/>
          <p:cNvSpPr txBox="1"/>
          <p:nvPr/>
        </p:nvSpPr>
        <p:spPr>
          <a:xfrm>
            <a:off x="1325880" y="2076196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변을 모두 더해요.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+ 6 + 4 = 20</a:t>
            </a:r>
            <a:endParaRPr lang="ko-KR" sz="2800" dirty="0"/>
          </a:p>
        </p:txBody>
      </p:sp>
      <p:sp>
        <p:nvSpPr>
          <p:cNvPr id="16" name="S06-stepno90"/>
          <p:cNvSpPr txBox="1"/>
          <p:nvPr/>
        </p:nvSpPr>
        <p:spPr>
          <a:xfrm>
            <a:off x="548640" y="3108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6-text91"/>
          <p:cNvSpPr txBox="1"/>
          <p:nvPr/>
        </p:nvSpPr>
        <p:spPr>
          <a:xfrm>
            <a:off x="1325880" y="31084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세로가 2번씩 있어요.</a:t>
            </a:r>
            <a:endParaRPr lang="ko-KR" sz="2800" dirty="0"/>
          </a:p>
        </p:txBody>
      </p:sp>
      <p:sp>
        <p:nvSpPr>
          <p:cNvPr id="18" name="S06-stepno92"/>
          <p:cNvSpPr txBox="1"/>
          <p:nvPr/>
        </p:nvSpPr>
        <p:spPr>
          <a:xfrm>
            <a:off x="548640" y="3821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6-text93"/>
          <p:cNvSpPr txBox="1"/>
          <p:nvPr/>
        </p:nvSpPr>
        <p:spPr>
          <a:xfrm>
            <a:off x="1325880" y="3821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 + 4) × 2 = 20 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마름모의 둘레</a:t>
            </a:r>
            <a:endParaRPr lang="ko-KR" sz="4000" dirty="0"/>
          </a:p>
        </p:txBody>
      </p:sp>
      <p:sp>
        <p:nvSpPr>
          <p:cNvPr id="3" name="S07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표시가 있는 변은 길이가 같아요.</a:t>
            </a:r>
            <a:endParaRPr lang="ko-KR" sz="2800" dirty="0"/>
          </a:p>
        </p:txBody>
      </p:sp>
      <p:sp>
        <p:nvSpPr>
          <p:cNvPr id="5" name="S07-card96"/>
          <p:cNvSpPr/>
          <p:nvPr/>
        </p:nvSpPr>
        <p:spPr>
          <a:xfrm>
            <a:off x="548640" y="394055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97"/>
          <p:cNvSpPr txBox="1"/>
          <p:nvPr/>
        </p:nvSpPr>
        <p:spPr>
          <a:xfrm>
            <a:off x="822960" y="407771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 + 4) × 2 = 22 (cm)</a:t>
            </a:r>
            <a:endParaRPr lang="ko-KR" sz="2800" dirty="0"/>
          </a:p>
        </p:txBody>
      </p:sp>
      <p:sp>
        <p:nvSpPr>
          <p:cNvPr id="7" name="S07-card98"/>
          <p:cNvSpPr/>
          <p:nvPr/>
        </p:nvSpPr>
        <p:spPr>
          <a:xfrm>
            <a:off x="6208776" y="394055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99"/>
          <p:cNvSpPr txBox="1"/>
          <p:nvPr/>
        </p:nvSpPr>
        <p:spPr>
          <a:xfrm>
            <a:off x="6483096" y="407771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 (cm)</a:t>
            </a:r>
            <a:endParaRPr lang="ko-KR" sz="2800" dirty="0"/>
          </a:p>
        </p:txBody>
      </p:sp>
      <p:sp>
        <p:nvSpPr>
          <p:cNvPr id="9" name="S07-figure100" descr="이웃한 두 변이 7 cm, 4 cm인 평행사변형, 마주 보는 변에 같은 길이 표시"/>
          <p:cNvSpPr/>
          <p:nvPr/>
        </p:nvSpPr>
        <p:spPr>
          <a:xfrm>
            <a:off x="1842516" y="1755260"/>
            <a:ext cx="2798064" cy="1076975"/>
          </a:xfrm>
          <a:custGeom>
            <a:avLst/>
            <a:gdLst/>
            <a:ahLst/>
            <a:cxnLst/>
            <a:rect l="l" t="t" r="r" b="b"/>
            <a:pathLst>
              <a:path w="2798064" h="1076975">
                <a:moveTo>
                  <a:pt x="0" y="1076975"/>
                </a:moveTo>
                <a:lnTo>
                  <a:pt x="2176272" y="1076975"/>
                </a:lnTo>
                <a:lnTo>
                  <a:pt x="2798064" y="0"/>
                </a:lnTo>
                <a:lnTo>
                  <a:pt x="62179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101"/>
          <p:cNvSpPr/>
          <p:nvPr/>
        </p:nvSpPr>
        <p:spPr>
          <a:xfrm flipV="1">
            <a:off x="2930652" y="2748414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7-label103"/>
          <p:cNvSpPr txBox="1"/>
          <p:nvPr/>
        </p:nvSpPr>
        <p:spPr>
          <a:xfrm>
            <a:off x="2548890" y="290906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2" name="S07-mark104"/>
          <p:cNvSpPr/>
          <p:nvPr/>
        </p:nvSpPr>
        <p:spPr>
          <a:xfrm flipH="1" flipV="1">
            <a:off x="4237536" y="228571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mark105"/>
          <p:cNvSpPr/>
          <p:nvPr/>
        </p:nvSpPr>
        <p:spPr>
          <a:xfrm flipH="1" flipV="1">
            <a:off x="4276652" y="221796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07"/>
          <p:cNvSpPr txBox="1"/>
          <p:nvPr/>
        </p:nvSpPr>
        <p:spPr>
          <a:xfrm>
            <a:off x="4352944" y="235296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5" name="S07-mark108"/>
          <p:cNvSpPr/>
          <p:nvPr/>
        </p:nvSpPr>
        <p:spPr>
          <a:xfrm>
            <a:off x="3552444" y="1671440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109"/>
          <p:cNvSpPr/>
          <p:nvPr/>
        </p:nvSpPr>
        <p:spPr>
          <a:xfrm>
            <a:off x="2100380" y="221796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110"/>
          <p:cNvSpPr/>
          <p:nvPr/>
        </p:nvSpPr>
        <p:spPr>
          <a:xfrm>
            <a:off x="2061264" y="228571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11"/>
          <p:cNvSpPr txBox="1"/>
          <p:nvPr/>
        </p:nvSpPr>
        <p:spPr>
          <a:xfrm>
            <a:off x="548640" y="333476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200" dirty="0"/>
          </a:p>
        </p:txBody>
      </p:sp>
      <p:sp>
        <p:nvSpPr>
          <p:cNvPr id="19" name="S07-figure112" descr="한 변이 5 cm인 마름모, 네 변에 같은 길이 표시"/>
          <p:cNvSpPr/>
          <p:nvPr/>
        </p:nvSpPr>
        <p:spPr>
          <a:xfrm>
            <a:off x="7703820" y="1671955"/>
            <a:ext cx="2487168" cy="1243584"/>
          </a:xfrm>
          <a:custGeom>
            <a:avLst/>
            <a:gdLst/>
            <a:ahLst/>
            <a:cxnLst/>
            <a:rect l="l" t="t" r="r" b="b"/>
            <a:pathLst>
              <a:path w="2487168" h="1243584">
                <a:moveTo>
                  <a:pt x="0" y="1243584"/>
                </a:moveTo>
                <a:lnTo>
                  <a:pt x="1554480" y="1243584"/>
                </a:lnTo>
                <a:lnTo>
                  <a:pt x="2487168" y="0"/>
                </a:lnTo>
                <a:lnTo>
                  <a:pt x="93268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113"/>
          <p:cNvSpPr/>
          <p:nvPr/>
        </p:nvSpPr>
        <p:spPr>
          <a:xfrm flipV="1">
            <a:off x="8481060" y="283171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abel115"/>
          <p:cNvSpPr txBox="1"/>
          <p:nvPr/>
        </p:nvSpPr>
        <p:spPr>
          <a:xfrm>
            <a:off x="8099298" y="29923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2" name="S07-mark116"/>
          <p:cNvSpPr/>
          <p:nvPr/>
        </p:nvSpPr>
        <p:spPr>
          <a:xfrm flipH="1" flipV="1">
            <a:off x="9657588" y="224345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7-mark117"/>
          <p:cNvSpPr/>
          <p:nvPr/>
        </p:nvSpPr>
        <p:spPr>
          <a:xfrm>
            <a:off x="9413748" y="158813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mark118"/>
          <p:cNvSpPr/>
          <p:nvPr/>
        </p:nvSpPr>
        <p:spPr>
          <a:xfrm>
            <a:off x="8103108" y="224345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label119"/>
          <p:cNvSpPr txBox="1"/>
          <p:nvPr/>
        </p:nvSpPr>
        <p:spPr>
          <a:xfrm>
            <a:off x="6254496" y="333476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변이 8 cm, 5 cm인 평행사변형의 둘레는?</a:t>
            </a:r>
            <a:endParaRPr lang="ko-KR" sz="2800" dirty="0"/>
          </a:p>
        </p:txBody>
      </p:sp>
      <p:sp>
        <p:nvSpPr>
          <p:cNvPr id="5" name="S08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8-chip1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1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 + 5 = 13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cm예요.”</a:t>
            </a:r>
            <a:endParaRPr lang="ko-KR" sz="2800" dirty="0"/>
          </a:p>
        </p:txBody>
      </p:sp>
      <p:sp>
        <p:nvSpPr>
          <p:cNvPr id="9" name="S08-chip1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1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“(8 + 5) × 2 = 26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 cm예요.”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둘레 구하기</a:t>
            </a:r>
            <a:endParaRPr lang="ko-KR" sz="4000" dirty="0"/>
          </a:p>
        </p:txBody>
      </p:sp>
      <p:sp>
        <p:nvSpPr>
          <p:cNvPr id="3" name="S09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변의 길이가 같아요.</a:t>
            </a:r>
            <a:endParaRPr lang="ko-KR" sz="2800" dirty="0"/>
          </a:p>
        </p:txBody>
      </p:sp>
      <p:sp>
        <p:nvSpPr>
          <p:cNvPr id="5" name="S09-chip13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3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9 cm, 세로 5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</a:t>
            </a:r>
            <a:endParaRPr lang="ko-KR" sz="2800" dirty="0"/>
          </a:p>
        </p:txBody>
      </p:sp>
      <p:sp>
        <p:nvSpPr>
          <p:cNvPr id="7" name="S09-chip13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3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둘레</a:t>
            </a:r>
            <a:endParaRPr lang="ko-KR" sz="2800" dirty="0"/>
          </a:p>
        </p:txBody>
      </p:sp>
      <p:sp>
        <p:nvSpPr>
          <p:cNvPr id="9" name="S09-chip13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3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변이 10 cm, 7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둘레</a:t>
            </a:r>
            <a:endParaRPr lang="ko-KR" sz="2800" dirty="0"/>
          </a:p>
        </p:txBody>
      </p:sp>
      <p:sp>
        <p:nvSpPr>
          <p:cNvPr id="11" name="S09-chip13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13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30 cm, 가로가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cm인 직사각형의 세로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figure138" descr="이웃한 두 변이 9 cm, 6 cm인 평행사변형"/>
          <p:cNvSpPr/>
          <p:nvPr/>
        </p:nvSpPr>
        <p:spPr>
          <a:xfrm>
            <a:off x="6654546" y="2774105"/>
            <a:ext cx="4608576" cy="1995590"/>
          </a:xfrm>
          <a:custGeom>
            <a:avLst/>
            <a:gdLst/>
            <a:ahLst/>
            <a:cxnLst/>
            <a:rect l="l" t="t" r="r" b="b"/>
            <a:pathLst>
              <a:path w="4608576" h="1995590">
                <a:moveTo>
                  <a:pt x="0" y="1995590"/>
                </a:moveTo>
                <a:lnTo>
                  <a:pt x="3456432" y="1995590"/>
                </a:lnTo>
                <a:lnTo>
                  <a:pt x="4608576" y="0"/>
                </a:lnTo>
                <a:lnTo>
                  <a:pt x="115214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0-mark139"/>
          <p:cNvSpPr/>
          <p:nvPr/>
        </p:nvSpPr>
        <p:spPr>
          <a:xfrm flipV="1">
            <a:off x="8382762" y="468587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10-label141"/>
          <p:cNvSpPr txBox="1"/>
          <p:nvPr/>
        </p:nvSpPr>
        <p:spPr>
          <a:xfrm>
            <a:off x="8001000" y="484653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6" name="S10-mark142"/>
          <p:cNvSpPr/>
          <p:nvPr/>
        </p:nvSpPr>
        <p:spPr>
          <a:xfrm flipH="1" flipV="1">
            <a:off x="10594902" y="3763866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0-mark143"/>
          <p:cNvSpPr/>
          <p:nvPr/>
        </p:nvSpPr>
        <p:spPr>
          <a:xfrm flipH="1" flipV="1">
            <a:off x="10634017" y="3696115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0-label145"/>
          <p:cNvSpPr txBox="1"/>
          <p:nvPr/>
        </p:nvSpPr>
        <p:spPr>
          <a:xfrm>
            <a:off x="10710312" y="38311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9" name="S10-mark146"/>
          <p:cNvSpPr/>
          <p:nvPr/>
        </p:nvSpPr>
        <p:spPr>
          <a:xfrm>
            <a:off x="9534906" y="269028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mark147"/>
          <p:cNvSpPr/>
          <p:nvPr/>
        </p:nvSpPr>
        <p:spPr>
          <a:xfrm>
            <a:off x="7177585" y="3696115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148"/>
          <p:cNvSpPr/>
          <p:nvPr/>
        </p:nvSpPr>
        <p:spPr>
          <a:xfrm>
            <a:off x="7138470" y="3763866"/>
            <a:ext cx="145181" cy="8381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0-text1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평행사변형의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둘레는?</a:t>
            </a:r>
            <a:endParaRPr lang="ko-KR" sz="2800" dirty="0"/>
          </a:p>
        </p:txBody>
      </p:sp>
      <p:sp>
        <p:nvSpPr>
          <p:cNvPr id="14" name="S10-chip1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0-text15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둘레는?</a:t>
            </a:r>
            <a:endParaRPr lang="ko-KR" sz="2800" dirty="0"/>
          </a:p>
        </p:txBody>
      </p:sp>
      <p:sp>
        <p:nvSpPr>
          <p:cNvPr id="16" name="S10-chip1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0-text15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32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한 변은?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5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5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공책에 도형을 그리고 모든 변에 길이를 써 넣은 뒤 다시 구하게 하세요.</a:t>
            </a:r>
            <a:endParaRPr lang="ko-KR" sz="2800" dirty="0"/>
          </a:p>
        </p:txBody>
      </p:sp>
      <p:sp>
        <p:nvSpPr>
          <p:cNvPr id="5" name="S11-chip15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158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 cm</a:t>
            </a:r>
            <a:endParaRPr lang="ko-KR" sz="2800" dirty="0"/>
          </a:p>
        </p:txBody>
      </p:sp>
      <p:sp>
        <p:nvSpPr>
          <p:cNvPr id="7" name="S11-text159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(9 + 6) × 2</a:t>
            </a:r>
            <a:endParaRPr lang="ko-KR" sz="2200" dirty="0"/>
          </a:p>
        </p:txBody>
      </p:sp>
      <p:sp>
        <p:nvSpPr>
          <p:cNvPr id="8" name="S11-text160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48 cm</a:t>
            </a:r>
            <a:endParaRPr lang="ko-KR" sz="2800" dirty="0"/>
          </a:p>
        </p:txBody>
      </p:sp>
      <p:sp>
        <p:nvSpPr>
          <p:cNvPr id="9" name="S11-text161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6</a:t>
            </a:r>
            <a:endParaRPr lang="ko-KR" sz="2200" dirty="0"/>
          </a:p>
        </p:txBody>
      </p:sp>
      <p:sp>
        <p:nvSpPr>
          <p:cNvPr id="10" name="S11-text162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 cm</a:t>
            </a:r>
            <a:endParaRPr lang="ko-KR" sz="2800" dirty="0"/>
          </a:p>
        </p:txBody>
      </p:sp>
      <p:sp>
        <p:nvSpPr>
          <p:cNvPr id="11" name="S11-text163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4</a:t>
            </a:r>
            <a:endParaRPr lang="ko-KR" sz="2200" dirty="0"/>
          </a:p>
        </p:txBody>
      </p:sp>
      <p:sp>
        <p:nvSpPr>
          <p:cNvPr id="12" name="S11-chip16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16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15 cm</a:t>
            </a:r>
            <a:endParaRPr lang="ko-KR" sz="2800" dirty="0"/>
          </a:p>
        </p:txBody>
      </p:sp>
      <p:sp>
        <p:nvSpPr>
          <p:cNvPr id="14" name="S11-text16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변만 더함</a:t>
            </a:r>
            <a:endParaRPr lang="ko-KR" sz="2200" dirty="0"/>
          </a:p>
        </p:txBody>
      </p:sp>
      <p:sp>
        <p:nvSpPr>
          <p:cNvPr id="15" name="S11-text16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16 cm</a:t>
            </a:r>
            <a:endParaRPr lang="ko-KR" sz="2800" dirty="0"/>
          </a:p>
        </p:txBody>
      </p:sp>
      <p:sp>
        <p:nvSpPr>
          <p:cNvPr id="16" name="S11-text16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2로 나눔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가장 긴 것은?</a:t>
            </a:r>
            <a:endParaRPr lang="ko-KR" sz="4000" dirty="0"/>
          </a:p>
        </p:txBody>
      </p:sp>
      <p:sp>
        <p:nvSpPr>
          <p:cNvPr id="3" name="S12-text1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가장 긴 도형을 골라요.</a:t>
            </a:r>
            <a:endParaRPr lang="ko-KR" sz="2800" dirty="0"/>
          </a:p>
        </p:txBody>
      </p:sp>
      <p:sp>
        <p:nvSpPr>
          <p:cNvPr id="4" name="S12-card1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둘레를 구한 식을 말해요.</a:t>
            </a:r>
            <a:endParaRPr lang="ko-KR" sz="2800" dirty="0"/>
          </a:p>
        </p:txBody>
      </p:sp>
      <p:sp>
        <p:nvSpPr>
          <p:cNvPr id="6" name="S12-chip172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173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74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</p:txBody>
      </p:sp>
      <p:sp>
        <p:nvSpPr>
          <p:cNvPr id="9" name="S12-chip175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176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77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 cm,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5 cm인 직사각형</a:t>
            </a:r>
            <a:endParaRPr lang="ko-KR" sz="2800" dirty="0"/>
          </a:p>
        </p:txBody>
      </p:sp>
      <p:sp>
        <p:nvSpPr>
          <p:cNvPr id="12" name="S12-chip17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179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80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9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800" dirty="0"/>
          </a:p>
        </p:txBody>
      </p:sp>
      <p:sp>
        <p:nvSpPr>
          <p:cNvPr id="15" name="S12-chip181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182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183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8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8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 모든 변의 길이의 합이에요. 길이가 같은 변이 몇 개인지 보고 곱셈으로 쉽게 구해요.</a:t>
            </a:r>
            <a:endParaRPr lang="ko-KR" sz="2800" dirty="0"/>
          </a:p>
        </p:txBody>
      </p:sp>
      <p:sp>
        <p:nvSpPr>
          <p:cNvPr id="5" name="S13-chip18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길이의 변 개수 세기</a:t>
            </a:r>
            <a:endParaRPr lang="ko-KR" sz="2200" dirty="0"/>
          </a:p>
        </p:txBody>
      </p:sp>
      <p:sp>
        <p:nvSpPr>
          <p:cNvPr id="6" name="S13-chip18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두 변만 더하기</a:t>
            </a:r>
            <a:endParaRPr lang="ko-KR" sz="2200" dirty="0"/>
          </a:p>
        </p:txBody>
      </p:sp>
      <p:sp>
        <p:nvSpPr>
          <p:cNvPr id="7" name="S13-text18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8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변이 4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정오각형의 둘레는?</a:t>
            </a:r>
            <a:endParaRPr lang="ko-KR" sz="2200" dirty="0"/>
          </a:p>
        </p:txBody>
      </p:sp>
      <p:sp>
        <p:nvSpPr>
          <p:cNvPr id="9" name="S13-text19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가로 7 cm, 세로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cm인 직사각형의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둘레는?</a:t>
            </a:r>
            <a:endParaRPr lang="ko-KR" sz="2200" dirty="0"/>
          </a:p>
        </p:txBody>
      </p:sp>
      <p:sp>
        <p:nvSpPr>
          <p:cNvPr id="10" name="S13-text19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둘레가 28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한 변은?</a:t>
            </a:r>
            <a:endParaRPr lang="ko-KR" sz="2200" dirty="0"/>
          </a:p>
        </p:txBody>
      </p:sp>
      <p:sp>
        <p:nvSpPr>
          <p:cNvPr id="11" name="S13-text1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직사각형의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여러 가지 사각형</a:t>
            </a:r>
            <a:endParaRPr lang="ko-KR" sz="4000" dirty="0"/>
          </a:p>
        </p:txBody>
      </p:sp>
      <p:sp>
        <p:nvSpPr>
          <p:cNvPr id="3" name="S14-card19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9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표시는 같은 길이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평행사변형·직사각형은 마주 보는 두 변, 마름모는 네 변의 길이가 같아요.</a:t>
            </a:r>
            <a:endParaRPr lang="ko-KR" sz="2800" dirty="0"/>
          </a:p>
        </p:txBody>
      </p:sp>
      <p:sp>
        <p:nvSpPr>
          <p:cNvPr id="5" name="S14-figure195" descr="평행사변형: 마주 보는 두 변에 같은 길이 표시"/>
          <p:cNvSpPr/>
          <p:nvPr/>
        </p:nvSpPr>
        <p:spPr>
          <a:xfrm>
            <a:off x="973836" y="2335575"/>
            <a:ext cx="2633472" cy="1013623"/>
          </a:xfrm>
          <a:custGeom>
            <a:avLst/>
            <a:gdLst/>
            <a:ahLst/>
            <a:cxnLst/>
            <a:rect l="l" t="t" r="r" b="b"/>
            <a:pathLst>
              <a:path w="2633472" h="1013623">
                <a:moveTo>
                  <a:pt x="0" y="1013623"/>
                </a:moveTo>
                <a:lnTo>
                  <a:pt x="2048256" y="1013623"/>
                </a:lnTo>
                <a:lnTo>
                  <a:pt x="2633472" y="0"/>
                </a:lnTo>
                <a:lnTo>
                  <a:pt x="58521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4-mark196"/>
          <p:cNvSpPr/>
          <p:nvPr/>
        </p:nvSpPr>
        <p:spPr>
          <a:xfrm flipV="1">
            <a:off x="1997964" y="32653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4-mark197"/>
          <p:cNvSpPr/>
          <p:nvPr/>
        </p:nvSpPr>
        <p:spPr>
          <a:xfrm flipH="1" flipV="1">
            <a:off x="3222552" y="283435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mark198"/>
          <p:cNvSpPr/>
          <p:nvPr/>
        </p:nvSpPr>
        <p:spPr>
          <a:xfrm flipH="1" flipV="1">
            <a:off x="3261668" y="276660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mark199"/>
          <p:cNvSpPr/>
          <p:nvPr/>
        </p:nvSpPr>
        <p:spPr>
          <a:xfrm>
            <a:off x="2583180" y="2251755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mark200"/>
          <p:cNvSpPr/>
          <p:nvPr/>
        </p:nvSpPr>
        <p:spPr>
          <a:xfrm>
            <a:off x="1213412" y="276660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mark201"/>
          <p:cNvSpPr/>
          <p:nvPr/>
        </p:nvSpPr>
        <p:spPr>
          <a:xfrm>
            <a:off x="1174296" y="2834352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abel202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2200" dirty="0"/>
          </a:p>
        </p:txBody>
      </p:sp>
      <p:sp>
        <p:nvSpPr>
          <p:cNvPr id="13" name="S14-figure203" descr="마름모: 네 변에 같은 길이 표시"/>
          <p:cNvSpPr/>
          <p:nvPr/>
        </p:nvSpPr>
        <p:spPr>
          <a:xfrm>
            <a:off x="4924044" y="2257171"/>
            <a:ext cx="2340864" cy="1170432"/>
          </a:xfrm>
          <a:custGeom>
            <a:avLst/>
            <a:gdLst/>
            <a:ahLst/>
            <a:cxnLst/>
            <a:rect l="l" t="t" r="r" b="b"/>
            <a:pathLst>
              <a:path w="2340864" h="1170432">
                <a:moveTo>
                  <a:pt x="0" y="1170432"/>
                </a:moveTo>
                <a:lnTo>
                  <a:pt x="1463040" y="1170432"/>
                </a:lnTo>
                <a:lnTo>
                  <a:pt x="2340864" y="0"/>
                </a:lnTo>
                <a:lnTo>
                  <a:pt x="87782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4-mark204"/>
          <p:cNvSpPr/>
          <p:nvPr/>
        </p:nvSpPr>
        <p:spPr>
          <a:xfrm flipV="1">
            <a:off x="5655564" y="334378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mark205"/>
          <p:cNvSpPr/>
          <p:nvPr/>
        </p:nvSpPr>
        <p:spPr>
          <a:xfrm flipH="1" flipV="1">
            <a:off x="6758940" y="279209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mark206"/>
          <p:cNvSpPr/>
          <p:nvPr/>
        </p:nvSpPr>
        <p:spPr>
          <a:xfrm>
            <a:off x="6533388" y="217335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mark207"/>
          <p:cNvSpPr/>
          <p:nvPr/>
        </p:nvSpPr>
        <p:spPr>
          <a:xfrm>
            <a:off x="5295900" y="2792095"/>
            <a:ext cx="134112" cy="10058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abel208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200" dirty="0"/>
          </a:p>
        </p:txBody>
      </p:sp>
      <p:sp>
        <p:nvSpPr>
          <p:cNvPr id="19" name="S14-figure209" descr="직사각형: 네 각이 직각, 마주 보는 두 변에 같은 길이 표시"/>
          <p:cNvSpPr/>
          <p:nvPr/>
        </p:nvSpPr>
        <p:spPr>
          <a:xfrm>
            <a:off x="8874252" y="2257171"/>
            <a:ext cx="2048256" cy="1170432"/>
          </a:xfrm>
          <a:custGeom>
            <a:avLst/>
            <a:gdLst/>
            <a:ahLst/>
            <a:cxnLst/>
            <a:rect l="l" t="t" r="r" b="b"/>
            <a:pathLst>
              <a:path w="2048256" h="1170432">
                <a:moveTo>
                  <a:pt x="0" y="1170432"/>
                </a:moveTo>
                <a:lnTo>
                  <a:pt x="2048256" y="1170432"/>
                </a:lnTo>
                <a:lnTo>
                  <a:pt x="2048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210"/>
          <p:cNvSpPr/>
          <p:nvPr/>
        </p:nvSpPr>
        <p:spPr>
          <a:xfrm>
            <a:off x="8874252" y="321805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mark211"/>
          <p:cNvSpPr/>
          <p:nvPr/>
        </p:nvSpPr>
        <p:spPr>
          <a:xfrm>
            <a:off x="10712958" y="321805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mark212"/>
          <p:cNvSpPr/>
          <p:nvPr/>
        </p:nvSpPr>
        <p:spPr>
          <a:xfrm>
            <a:off x="10712958" y="225717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mark213"/>
          <p:cNvSpPr/>
          <p:nvPr/>
        </p:nvSpPr>
        <p:spPr>
          <a:xfrm>
            <a:off x="8874252" y="225717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mark214"/>
          <p:cNvSpPr/>
          <p:nvPr/>
        </p:nvSpPr>
        <p:spPr>
          <a:xfrm flipV="1">
            <a:off x="9898380" y="334378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mark215"/>
          <p:cNvSpPr/>
          <p:nvPr/>
        </p:nvSpPr>
        <p:spPr>
          <a:xfrm flipH="1">
            <a:off x="1083868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mark216"/>
          <p:cNvSpPr/>
          <p:nvPr/>
        </p:nvSpPr>
        <p:spPr>
          <a:xfrm flipH="1">
            <a:off x="1083868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mark217"/>
          <p:cNvSpPr/>
          <p:nvPr/>
        </p:nvSpPr>
        <p:spPr>
          <a:xfrm>
            <a:off x="9898380" y="2173351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mark218"/>
          <p:cNvSpPr/>
          <p:nvPr/>
        </p:nvSpPr>
        <p:spPr>
          <a:xfrm>
            <a:off x="8790432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4-mark219"/>
          <p:cNvSpPr/>
          <p:nvPr/>
        </p:nvSpPr>
        <p:spPr>
          <a:xfrm>
            <a:off x="8790432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4-label220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다각형의 둘레</dc:title>
  <dc:subject>KR22-G05-MAT-PERIMETER-L01</dc:subject>
  <dc:creator>education-ppt</dc:creator>
  <cp:lastModifiedBy>education-ppt</cp:lastModifiedBy>
  <cp:revision>1</cp:revision>
  <dcterms:created xsi:type="dcterms:W3CDTF">2026-10-26T08:56:33Z</dcterms:created>
  <dcterms:modified xsi:type="dcterms:W3CDTF">2026-10-26T08:56:33Z</dcterms:modified>
</cp:coreProperties>
</file>