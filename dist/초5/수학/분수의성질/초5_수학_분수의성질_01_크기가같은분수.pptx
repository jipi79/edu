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17f72f6-e104-a518-3ce9-0c0b9f029515}">
          <p14:sldIdLst>
            <p14:sldId id="256"/>
            <p14:sldId id="257"/>
          </p14:sldIdLst>
        </p14:section>
        <p14:section name="개념" id="{d5523ec6-f678-0b47-083c-e0097547420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51af747d-3933-b0d6-dd7b-58b91903801a}">
          <p14:sldIdLst>
            <p14:sldId id="264"/>
            <p14:sldId id="265"/>
          </p14:sldIdLst>
        </p14:section>
        <p14:section name="확인" id="{457ce177-66a8-8a01-a9c8-5760d8c4fc54}">
          <p14:sldIdLst>
            <p14:sldId id="266"/>
            <p14:sldId id="267"/>
            <p14:sldId id="268"/>
          </p14:sldIdLst>
        </p14:section>
        <p14:section name="정리" id="{2f8e0dfe-febe-6172-6474-2df26ae8389b}">
          <p14:sldIdLst>
            <p14:sldId id="269"/>
          </p14:sldIdLst>
        </p14:section>
        <p14:section name="보충" id="{b739a3af-7e0b-d4a0-9b15-d0fcc8f1f79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풀 질문을 보여 주고 아이가 먼저 예상하게 합니다.
시간: 약 2분
이렇게 말해 보세요
- “2분의 1과 4분의 2, 숫자는 다른데 양은 같을까, 다를까? 먼저 예상만 해 보자.”
- “틀려도 괜찮아. 오늘 끝날 때 다시 물어볼 거야.”
예상 답
- “달라요. 4분의 2가 숫자가 더 크니까 더 커요.”
- “같아요.” / “모르겠어요.”
막히면
- 예상이 맞는지는 아직 말해 주지 않습니다. 아이가 고른 예상을 종이에 적어 두고 S13 뒤에 다시 봅니다.
주의
- 목표 두 가지를 소리 내어 읽어 주고, 아이에게 ‘오늘 할 일’이 무엇인지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확인]
목적: 오늘 수업에 꼭 필요한 ‘똑같이 나누기’와 ‘분수의 뜻’을 알고 있는지 확인합니다.
시간: 약 3분
이렇게 말해 보세요
- “어느 띠가 똑같이 나누어져 있어? 칸의 크기를 손가락으로 재 봐도 돼.”
- “가는 색칠한 부분이 전체의 얼마야? 라는?”
예상 답
- 가, 라를 고릅니다.
- 가는 4분의 1, 라는 3분의 2입니다.
정답
- 똑같이 나누어진 띠: 가, 라
- 가 = 4분의 1, 라 = 3분의 2
- 나와 다는 칸의 크기가 달라서 분수로 나타낼 수 없습니다.
막히면
- 나를 ‘4분의 1’이라고 하면: 칸 크기를 직접 비교하게 하고 “분수는 똑같이 나눌 때만 쓸 수 있어”라고 정리합니다.
- 분자와 분모를 바꾸어 말하거나 두 가지를 다 틀리면 S15(보충)로 가서 5분 정도 연습한 뒤 S03으로 돌아옵니다.
주의
- 여기서 막히는 것은 실패가 아닙니다. 선수 학습을 먼저 채우는 것이 이 수업의 첫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생활 상황 제시]
목적: 직접 해 보기 전에 결과를 예상하게 합니다. 예상이 있어야 확인하는 재미와 의미가 생깁니다.
시간: 약 2분
이렇게 말해 보세요
- “두 띠의 길이가 같다는 게 중요해. 가는 1칸, 나는 2칸을 색칠하면 어느 쪽이 더 길까?”
- “① 가가 더 길다 ② 나가 더 길다 ③ 같다 중에서 골라 볼래?”
예상 답
- “나가 더 길어요. 2칸이니까요.”
- “같아요.”
막히면
- 아이가 칸 수만 보고 판단하면 “칸의 크기는 어때?”라고 되묻습니다. 정답은 아직 말하지 않습니다.
주의
- M1 오개념 예방: ‘전체(띠)의 길이가 같다’는 조건을 아이 입으로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직접 만들어 보기]
목적: 종이 띠를 직접 접고 겹쳐 보면서 2분의 1과 4분의 2가 같은 양임을 눈으로 확인합니다.
시간: 약 7분
이렇게 말해 보세요
- “같이 접어 보자. 반으로 접으면 몇 칸이 생겨?”
- “다른 띠는 반으로 접고, 접은 채로 또 반으로 접어 봐. 펴면 몇 칸이야?”
- “두 띠를 위아래로 맞춰 놓아 봐. 무엇이 보여?”
예상 답
- “색칠한 끝이 딱 맞아요.”
- “나는 칸이 많은데 길이는 똑같아요.”
막히면
- 접는 것이 어려우면 부모가 접고 아이가 색칠만 해도 됩니다.
- 띠 끝이 맞지 않으면 두 띠의 왼쪽 끝을 먼저 맞추게 합니다.
주의
- 접기 전에 두 띠의 길이가 같은지 겹쳐서 확인합니다. 활동이 끝난 띠는 S05~S07에서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그림으로 설명]
목적: 종이 띠 활동의 결과를 그림으로 정리합니다. 무엇이 바뀌고 무엇이 그대로인지 구별하게 합니다.
시간: 약 4분
이렇게 말해 보세요
- “점선을 따라가 봐. 색칠한 끝이 어디서 만나?”
- “위 띠에서 아래 띠로 가면서 무엇이 바뀌었어? 무엇이 그대로야?”
- “이제 엄마(아빠)에게 왜 같은지 설명해 줄래?”
예상 답
- “칸이 2개에서 4개로 늘었어요. 한 칸이 작아졌어요. 색칠한 길이는 같아요.”
막히면
- S04의 종이 띠를 다시 겹쳐 보게 합니다.
- “한 칸을 반으로 자르면 조각은 몇 개가 될까?”처럼 한 칸만 보게 합니다.
주의
- 목표 A의 핵심 장면입니다. 아이가 자기 말로 ‘전체가 같고, 색칠한 양이 같다’를 말하면 활동지에 그 말을 그대로 적어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기호로 연결]
목적: 그림으로 확인한 사실을 등호(=)로 나타냅니다.
시간: 약 3분
이렇게 말해 보세요
- “세 띠 모두 색칠한 끝이 점선에서 만나지? 그러면 세 분수는 같은 양이야.”
- “같은 양이니까 등호(=)로 이을 수 있어.”
- “8칸으로 나누면 몇 칸을 색칠해야 같은 양이 될까?”
예상 답
- “8칸 중 4칸이요.” → 8분의 4
막히면
- 6칸 띠를 손가락으로 세면서 색칠한 칸이 3칸인지 확인하게 합니다.
주의
- ‘크기가 같은 분수’라는 이름보다 ‘같은 양을 나타낸다’는 뜻이 더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변환 시범(곱하기)]
목적: 그림의 변화(한 칸을 똑같이 나누기)를 식의 변화(분자·분모에 같은 수 곱하기)와 연결합니다.
시간: 약 5분
이렇게 말해 보세요
- “한 칸을 둘로 나누면 전체 칸 수는 몇 배가 돼? 색칠한 칸 수는?”
- “그래서 분모에도 2를 곱하고, 분자에도 2를 곱하는 거야.”
- “한 칸을 셋으로 나누면 어떻게 될까?” → 6분의 3
예상 답
- “둘 다 2배가 돼요.”
- “셋으로 나누면 6칸 중 3칸이요.”
막히면
- 종이 띠의 한 칸에 연필로 선을 하나 더 그어 보게 합니다.
주의
- 0을 곱하면 분모가 0이 되어 분수가 될 수 없습니다. 아이가 물으면 “0칸으로 나눌 수는 없지?”라고 설명합니다.
- 규칙만 외우지 않도록 ‘왜 둘 다 곱해야 하는지’를 그림으로 한 번 더 말하게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나누는 경우]
목적: 나누기로도 크기가 같은 분수를 만들 수 있고, 둘 다 나누어떨어질 때만 가능함을 압니다.
시간: 약 4분
이렇게 말해 보세요
- “8칸 띠를 2칸씩 묶으면 묶음이 몇 개야? 색칠한 묶음은?”
- “그래서 분모 8도 2로 나누고, 분자 6도 2로 나누는 거야.”
- “3으로 나누면 어떻게 될까? 8은 3으로 나누어떨어져?”
예상 답
- “묶음은 4개, 색칠한 묶음은 3개예요.”
- “8 ÷ 3은 안 돼요.”
막히면
- 8칸 띠에 2칸씩 동그라미를 그려 묶게 합니다.
주의
- 이 수업에서는 ‘가장 간단한 분수로 만들기(약분)’까지 가지 않습니다. 다음 차시 내용입니다.
- 아이가 지쳐 보이면 이 장 다음에 쉬거나 다음 날 S09부터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연습]
목적: 도움을 받으며 빈칸 문제를 풀고, 그림과 식 중 편한 방법으로 확인합니다.
시간: 약 5분
이렇게 말해 보세요
- “①은 분모가 3에서 6이 됐어. 몇 배야? 그러면 분자는?”
- “②는 분자가 1에서 3이 됐어. 분모는 어떻게 해야 할까?”
- “③은 곱하기일까, 나누기일까?”
정답
- ① 4 (분자와 분모에 2를 곱함: 3분의 2 = 6분의 4)
- ② 12 (분자와 분모에 3을 곱함)
- ③ 3 (분자와 분모를 2로 나눔)
막히면
- ①은 오른쪽 6칸 띠에 직접 색칠하게 합니다. 4칸을 색칠하면 위 띠와 끝이 맞습니다.
- ②가 어려우면 “1에 무엇을 곱하면 3이 돼?”처럼 곱셈구구로 바꾸어 묻습니다.
주의
- 정답을 말한 뒤에는 꼭 “어떻게 알았어?”라고 묻고 방법을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비교]
목적: 흔한 오개념(M2)을 그림으로 직접 반박하게 합니다.
시간: 약 4분
이렇게 말해 보세요
- “이 친구 말이 맞는지 그림으로 확인해 보자. 색칠한 끝이 점선에서 만나?”
- “그러면 분자와 분모에 1을 더해도 될까? 왜?”
예상 답
- “아니요. 3분의 2가 더 길어요.”
- “더하면 안 되고 곱해야 해요.”
정답
- 주장은 틀렸습니다. 2분의 1과 3분의 2는 크기가 다릅니다(3분의 2가 더 큼).
- 한 칸을 똑같이 나누는 것은 곱셈과 같습니다. 더하기는 칸을 새로 끼워 넣는 것이라 양이 변합니다.
막히면
- 종이 띠 하나를 3칸으로 접어 2칸을 색칠하고 S04의 2분의 1 띠와 겹쳐 보게 합니다.
주의
- 아이가 ‘2분의 2 → 3분의 3’처럼 1을 더해도 같은 예를 찾으면 칭찬합니다. 분자와 분모가 같은 분수(크기가 1)일 때만 그렇고, 그래서 ‘항상’ 맞는 방법은 아닙니다.
- 심화(선택): 3분의 2와 4분의 3도 같지 않습니다. 둘 다 12칸으로 나누면 12분의 8과 12분의 9입니다. 12칸 나누기가 어렵다면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목표 B를 수행하는지 확인합니다.
시간: 약 5분
이렇게 말해 보세요
- “이번에는 혼자 해 보자. 다 하면 방법도 설명해 줘.”
- “어려우면 오른쪽 띠를 써도 돼.”
예상 답
- 8분의 6, 12분의 9, 16분의 12 등
정답
- 분자와 분모에 같은 수를 곱한 분수는 모두 정답입니다: 8분의 6(×2), 12분의 9(×3), 16분의 12(×4), 20분의 15(×5) …
막히면
- 바로 답을 알려 주지 말고 “S07에서 무엇을 곱했지?”라고 되묻습니다.
- 그래도 어려우면 첫 번째 분수는 함께 만들고 두 번째만 혼자 하게 합니다. 이 경우 ‘도움을 받아 성공’으로 기록합니다.
주의
- 답을 확인하기 전에 아이가 방법을 먼저 말하게 합니다. 정답 확인은 다음 장(S12)에서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정답 예와 흔한 실수에 비교하고 스스로 고치게 합니다.
시간: 약 3분
이렇게 말해 보세요
- “네 답은 왼쪽에 있어, 오른쪽에 있어? 왼쪽에 없어도 분자와 분모에 같은 수를 곱했으면 정답이야.”
- “오른쪽 실수는 왜 틀렸을까?”
예상 답
- “1을 더하면 안 돼요.” “분자만 바꾸면 안 돼요.”
정답
- 정답: 분자와 분모에 같은 수를 곱한 분수(8분의 6, 12분의 9, 16분의 12 …)
- 4분의 3 ≠ 5분의 4, 4분의 3 ≠ 4분의 6, 4분의 3 ≠ 8분의 3
막히면
- 틀린 답은 지우지 말고 옆에 고친 답을 쓰게 합니다. 무엇을 고쳤는지 말하게 합니다.
주의
- 이 장은 학생용 배포본에서 빠집니다(정답 장).
- S11에서 두 개 모두 맞히고 방법을 설명했으면 목표 B는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확인]
목적: 처음 보는 그림에서 목표 A(같은 양인 이유 설명)를 확인합니다.
시간: 약 3분
이렇게 말해 보세요
- “세 그림 모두 기준 그림과 크기가 같아. 어느 것이 3분의 1과 같은 양이야? 왜?”
예상 답
- “가요. 6칸 중 2칸이라 6분의 2인데, 3분의 1의 칸을 둘로 나눈 거예요.”
정답
- 가 (6분의 2 = 3분의 1)
- 나는 6분의 3 = 2분의 1이라서 더 큽니다.
- 다는 4분의 1이라서 더 작습니다.
막히면
- 가 그림의 색칠한 두 칸을 손으로 가리고 기준 그림의 색칠한 칸과 비교하게 합니다.
주의
- 이유까지 말하면 목표 A 확인 완료입니다. 답만 맞히면 ‘이유 설명 필요’로 기록하고 다음 수업 시작 때 다시 묻습니다.
- S01에서 적어 둔 아이의 예상을 다시 보여 주고 “이제 답을 알겠어?”라고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한 문장으로 정리하고 다음 수업의 복습 문제를 알려 줍니다.
시간: 약 2분
이렇게 말해 보세요
- “오늘 배운 것을 한 문장으로 말해 볼래?”
- “다음 수업을 시작할 때 이 세 문제를 먼저 풀 거야.”
예상 답
- “분자랑 분모에 같은 수를 곱하면 크기가 같아요.”
정답
- ① 3 ② 3 ③ 10분의 4, 15분의 6 등 (분자와 분모에 같은 수를 곱한 분수)
막히면
- 한 문장 정리가 어려우면 화면의 문장을 함께 읽고 “곱하기·나누기는 ○, 더하기·빼기는 ×”만 따라 말하게 합니다.
주의
- 복습 날짜는 실제 공부 일정에 맞춰 정합니다. 다음 수업 첫 5분에 이 세 문제를 먼저 풀게 하세요.
- S11·S13 결과를 활동지에 기록해 두면 다음 차시(약분)로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보충(필요할 때만)]
목적: S02에서 ‘똑같이 나누기’나 ‘분자·분모의 뜻’이 흔들린 경우에만 사용합니다.
시간: 약 5분
이렇게 말해 보세요
- “분모는 전체를 똑같이 몇 칸으로 나눴는지, 분자는 그중 몇 칸인지야.”
- “아래 두 띠를 분수로 써 볼래?”
정답
- 왼쪽: 3분의 2, 오른쪽: 5분의 2
막히면
- 종이 띠를 3칸으로 접어 2칸을 색칠하는 활동으로 바꿉니다.
주의
- 이 장이 오래 걸리면 오늘은 여기까지만 하고, ‘크기가 같은 분수’는 다음 날 S02부터 다시 시작합니다. 선수 학습이 더 많이 비어 있으면 초3 분수 차시가 먼저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분수의성질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크기가 같은 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크기가 같은 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크기가 같은 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분수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두 분수가 같은 양일 수 있을까?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589520" y="1371600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6000" dirty="0"/>
          </a:p>
        </p:txBody>
      </p:sp>
      <p:sp>
        <p:nvSpPr>
          <p:cNvPr id="5" name="S01-fracbar2"/>
          <p:cNvSpPr/>
          <p:nvPr/>
        </p:nvSpPr>
        <p:spPr>
          <a:xfrm>
            <a:off x="7626096" y="2307336"/>
            <a:ext cx="836676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7589520" y="2343912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6000" dirty="0"/>
          </a:p>
        </p:txBody>
      </p:sp>
      <p:sp>
        <p:nvSpPr>
          <p:cNvPr id="7" name="S01-op4"/>
          <p:cNvSpPr txBox="1"/>
          <p:nvPr/>
        </p:nvSpPr>
        <p:spPr>
          <a:xfrm>
            <a:off x="8609076" y="1371600"/>
            <a:ext cx="1033272" cy="1871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=?</a:t>
            </a:r>
            <a:endParaRPr lang="ko-KR" sz="6000" dirty="0"/>
          </a:p>
        </p:txBody>
      </p:sp>
      <p:sp>
        <p:nvSpPr>
          <p:cNvPr id="8" name="S01-num5"/>
          <p:cNvSpPr txBox="1"/>
          <p:nvPr/>
        </p:nvSpPr>
        <p:spPr>
          <a:xfrm>
            <a:off x="9752076" y="1371600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6000" dirty="0"/>
          </a:p>
        </p:txBody>
      </p:sp>
      <p:sp>
        <p:nvSpPr>
          <p:cNvPr id="9" name="S01-fracbar6"/>
          <p:cNvSpPr/>
          <p:nvPr/>
        </p:nvSpPr>
        <p:spPr>
          <a:xfrm>
            <a:off x="9788652" y="2307336"/>
            <a:ext cx="836676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752076" y="2343912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6000" dirty="0"/>
          </a:p>
        </p:txBody>
      </p:sp>
      <p:sp>
        <p:nvSpPr>
          <p:cNvPr id="11" name="S01-card8"/>
          <p:cNvSpPr/>
          <p:nvPr/>
        </p:nvSpPr>
        <p:spPr>
          <a:xfrm>
            <a:off x="731520" y="3931920"/>
            <a:ext cx="10698480" cy="2103120"/>
          </a:xfrm>
          <a:prstGeom prst="roundRect">
            <a:avLst>
              <a:gd name="adj" fmla="val 52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06908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그림을 보고 2분의 1과 4분의 2가 왜 같은 양인지 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크기가 같은 분수를 직접 만들고 방법을 설명할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나누어진 띠는 어느 것일까요?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나누어진 띠를 모두 고르세요.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2402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5" name="S02-cell12"/>
          <p:cNvSpPr/>
          <p:nvPr/>
        </p:nvSpPr>
        <p:spPr>
          <a:xfrm>
            <a:off x="1417320" y="2194560"/>
            <a:ext cx="110871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3"/>
          <p:cNvSpPr/>
          <p:nvPr/>
        </p:nvSpPr>
        <p:spPr>
          <a:xfrm>
            <a:off x="2526030" y="2194560"/>
            <a:ext cx="110871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4"/>
          <p:cNvSpPr/>
          <p:nvPr/>
        </p:nvSpPr>
        <p:spPr>
          <a:xfrm>
            <a:off x="3634740" y="2194560"/>
            <a:ext cx="110871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5"/>
          <p:cNvSpPr/>
          <p:nvPr/>
        </p:nvSpPr>
        <p:spPr>
          <a:xfrm>
            <a:off x="4743450" y="2194560"/>
            <a:ext cx="110871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figure16" descr="띠 가: 똑같이 4칸, 1칸 색칠"/>
          <p:cNvSpPr/>
          <p:nvPr/>
        </p:nvSpPr>
        <p:spPr>
          <a:xfrm>
            <a:off x="1417320" y="219456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2-chip17"/>
          <p:cNvSpPr txBox="1"/>
          <p:nvPr/>
        </p:nvSpPr>
        <p:spPr>
          <a:xfrm>
            <a:off x="6309360" y="22402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02-cell18"/>
          <p:cNvSpPr/>
          <p:nvPr/>
        </p:nvSpPr>
        <p:spPr>
          <a:xfrm>
            <a:off x="7178040" y="2194560"/>
            <a:ext cx="1773936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19"/>
          <p:cNvSpPr/>
          <p:nvPr/>
        </p:nvSpPr>
        <p:spPr>
          <a:xfrm>
            <a:off x="8951976" y="219456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20"/>
          <p:cNvSpPr/>
          <p:nvPr/>
        </p:nvSpPr>
        <p:spPr>
          <a:xfrm>
            <a:off x="9838944" y="219456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cell21"/>
          <p:cNvSpPr/>
          <p:nvPr/>
        </p:nvSpPr>
        <p:spPr>
          <a:xfrm>
            <a:off x="10725912" y="219456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figure22" descr="띠 나: 크기가 다른 4칸, 가장 큰 칸 색칠"/>
          <p:cNvSpPr/>
          <p:nvPr/>
        </p:nvSpPr>
        <p:spPr>
          <a:xfrm>
            <a:off x="7178040" y="219456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2-chip23"/>
          <p:cNvSpPr txBox="1"/>
          <p:nvPr/>
        </p:nvSpPr>
        <p:spPr>
          <a:xfrm>
            <a:off x="548640" y="352044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7" name="S02-cell24"/>
          <p:cNvSpPr/>
          <p:nvPr/>
        </p:nvSpPr>
        <p:spPr>
          <a:xfrm>
            <a:off x="1417320" y="3474720"/>
            <a:ext cx="221742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cell25"/>
          <p:cNvSpPr/>
          <p:nvPr/>
        </p:nvSpPr>
        <p:spPr>
          <a:xfrm>
            <a:off x="3634740" y="3474720"/>
            <a:ext cx="13304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cell26"/>
          <p:cNvSpPr/>
          <p:nvPr/>
        </p:nvSpPr>
        <p:spPr>
          <a:xfrm>
            <a:off x="4965192" y="347472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2-figure27" descr="띠 다: 크기가 다른 3칸, 2칸 색칠"/>
          <p:cNvSpPr/>
          <p:nvPr/>
        </p:nvSpPr>
        <p:spPr>
          <a:xfrm>
            <a:off x="1417320" y="347472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2-chip28"/>
          <p:cNvSpPr txBox="1"/>
          <p:nvPr/>
        </p:nvSpPr>
        <p:spPr>
          <a:xfrm>
            <a:off x="6309360" y="352044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2" name="S02-cell29"/>
          <p:cNvSpPr/>
          <p:nvPr/>
        </p:nvSpPr>
        <p:spPr>
          <a:xfrm>
            <a:off x="7178040" y="3474720"/>
            <a:ext cx="147828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cell30"/>
          <p:cNvSpPr/>
          <p:nvPr/>
        </p:nvSpPr>
        <p:spPr>
          <a:xfrm>
            <a:off x="8656320" y="3474720"/>
            <a:ext cx="147828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2-cell31"/>
          <p:cNvSpPr/>
          <p:nvPr/>
        </p:nvSpPr>
        <p:spPr>
          <a:xfrm>
            <a:off x="10134600" y="3474720"/>
            <a:ext cx="14782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2-figure32" descr="띠 라: 똑같이 3칸, 2칸 색칠"/>
          <p:cNvSpPr/>
          <p:nvPr/>
        </p:nvSpPr>
        <p:spPr>
          <a:xfrm>
            <a:off x="7178040" y="347472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2-card33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2-cardtext34"/>
          <p:cNvSpPr txBox="1"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띠에서 색칠한 부분은 전체의 얼마인지 분수로 말해 보세요.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길이의 종이 띠 두 장</a:t>
            </a:r>
            <a:endParaRPr lang="ko-KR" sz="4000" dirty="0"/>
          </a:p>
        </p:txBody>
      </p:sp>
      <p:sp>
        <p:nvSpPr>
          <p:cNvPr id="3" name="S03-text35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똑같은 종이 띠 두 장을 각각 똑같이 나누었어요.</a:t>
            </a:r>
            <a:endParaRPr lang="ko-KR" sz="2800" dirty="0"/>
          </a:p>
        </p:txBody>
      </p:sp>
      <p:sp>
        <p:nvSpPr>
          <p:cNvPr id="4" name="S03-chip36"/>
          <p:cNvSpPr txBox="1"/>
          <p:nvPr/>
        </p:nvSpPr>
        <p:spPr>
          <a:xfrm>
            <a:off x="548640" y="214884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5" name="S03-cell37"/>
          <p:cNvSpPr/>
          <p:nvPr/>
        </p:nvSpPr>
        <p:spPr>
          <a:xfrm>
            <a:off x="1463040" y="2103120"/>
            <a:ext cx="5074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cell38"/>
          <p:cNvSpPr/>
          <p:nvPr/>
        </p:nvSpPr>
        <p:spPr>
          <a:xfrm>
            <a:off x="6537960" y="2103120"/>
            <a:ext cx="5074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figure39" descr="띠 가: 똑같이 2칸, 색칠 없음"/>
          <p:cNvSpPr/>
          <p:nvPr/>
        </p:nvSpPr>
        <p:spPr>
          <a:xfrm>
            <a:off x="1463040" y="2103120"/>
            <a:ext cx="10149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text40"/>
          <p:cNvSpPr txBox="1"/>
          <p:nvPr/>
        </p:nvSpPr>
        <p:spPr>
          <a:xfrm>
            <a:off x="1463040" y="29260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2칸으로 나눈 띠</a:t>
            </a:r>
            <a:endParaRPr lang="ko-KR" sz="2200" dirty="0"/>
          </a:p>
        </p:txBody>
      </p:sp>
      <p:sp>
        <p:nvSpPr>
          <p:cNvPr id="9" name="S03-chip41"/>
          <p:cNvSpPr txBox="1"/>
          <p:nvPr/>
        </p:nvSpPr>
        <p:spPr>
          <a:xfrm>
            <a:off x="548640" y="356616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3-cell42"/>
          <p:cNvSpPr/>
          <p:nvPr/>
        </p:nvSpPr>
        <p:spPr>
          <a:xfrm>
            <a:off x="146304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3"/>
          <p:cNvSpPr/>
          <p:nvPr/>
        </p:nvSpPr>
        <p:spPr>
          <a:xfrm>
            <a:off x="400050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44"/>
          <p:cNvSpPr/>
          <p:nvPr/>
        </p:nvSpPr>
        <p:spPr>
          <a:xfrm>
            <a:off x="653796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5"/>
          <p:cNvSpPr/>
          <p:nvPr/>
        </p:nvSpPr>
        <p:spPr>
          <a:xfrm>
            <a:off x="907542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figure46" descr="띠 나: 똑같이 4칸, 색칠 없음"/>
          <p:cNvSpPr/>
          <p:nvPr/>
        </p:nvSpPr>
        <p:spPr>
          <a:xfrm>
            <a:off x="1463040" y="3520440"/>
            <a:ext cx="10149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text47"/>
          <p:cNvSpPr txBox="1"/>
          <p:nvPr/>
        </p:nvSpPr>
        <p:spPr>
          <a:xfrm>
            <a:off x="1463040" y="43434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4칸으로 나눈 띠</a:t>
            </a:r>
            <a:endParaRPr lang="ko-KR" sz="2200" dirty="0"/>
          </a:p>
        </p:txBody>
      </p:sp>
      <p:sp>
        <p:nvSpPr>
          <p:cNvPr id="16" name="S03-card48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7" name="S03-cardtext49"/>
          <p:cNvSpPr txBox="1"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1칸, 나는 2칸을 색칠하면 색칠한 길이는 어떻게 될까요? 먼저 예상해 보세요.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만들어 보기</a:t>
            </a:r>
            <a:endParaRPr lang="ko-KR" sz="4000" dirty="0"/>
          </a:p>
        </p:txBody>
      </p:sp>
      <p:sp>
        <p:nvSpPr>
          <p:cNvPr id="3" name="S04-stepno50"/>
          <p:cNvSpPr txBox="1"/>
          <p:nvPr/>
        </p:nvSpPr>
        <p:spPr>
          <a:xfrm>
            <a:off x="548640" y="1408176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" name="S04-steptext51"/>
          <p:cNvSpPr txBox="1"/>
          <p:nvPr/>
        </p:nvSpPr>
        <p:spPr>
          <a:xfrm>
            <a:off x="1344168" y="1371600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한 장을 반으로 접었다 펴고,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색칠해요.</a:t>
            </a:r>
            <a:endParaRPr lang="ko-KR" sz="2800" dirty="0"/>
          </a:p>
        </p:txBody>
      </p:sp>
      <p:sp>
        <p:nvSpPr>
          <p:cNvPr id="5" name="S04-stepno52"/>
          <p:cNvSpPr txBox="1"/>
          <p:nvPr/>
        </p:nvSpPr>
        <p:spPr>
          <a:xfrm>
            <a:off x="548640" y="2487168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" name="S04-steptext53"/>
          <p:cNvSpPr txBox="1"/>
          <p:nvPr/>
        </p:nvSpPr>
        <p:spPr>
          <a:xfrm>
            <a:off x="1344168" y="2450592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띠는 반으로 두 번 접었다 펴요.</a:t>
            </a:r>
            <a:endParaRPr lang="ko-KR" sz="2800" dirty="0"/>
          </a:p>
        </p:txBody>
      </p:sp>
      <p:sp>
        <p:nvSpPr>
          <p:cNvPr id="7" name="S04-stepno54"/>
          <p:cNvSpPr txBox="1"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8" name="S04-steptext55"/>
          <p:cNvSpPr txBox="1"/>
          <p:nvPr/>
        </p:nvSpPr>
        <p:spPr>
          <a:xfrm>
            <a:off x="1344168" y="3529584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 중에서 2칸을 색칠해요.</a:t>
            </a:r>
            <a:endParaRPr lang="ko-KR" sz="2800" dirty="0"/>
          </a:p>
        </p:txBody>
      </p:sp>
      <p:sp>
        <p:nvSpPr>
          <p:cNvPr id="9" name="S04-stepno56"/>
          <p:cNvSpPr txBox="1"/>
          <p:nvPr/>
        </p:nvSpPr>
        <p:spPr>
          <a:xfrm>
            <a:off x="548640" y="4645152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0" name="S04-steptext57"/>
          <p:cNvSpPr txBox="1"/>
          <p:nvPr/>
        </p:nvSpPr>
        <p:spPr>
          <a:xfrm>
            <a:off x="1344168" y="4608576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띠를 나란히 놓고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끝을 비교해요.</a:t>
            </a:r>
            <a:endParaRPr lang="ko-KR" sz="2800" dirty="0"/>
          </a:p>
        </p:txBody>
      </p:sp>
      <p:sp>
        <p:nvSpPr>
          <p:cNvPr id="11" name="S04-cell58"/>
          <p:cNvSpPr/>
          <p:nvPr/>
        </p:nvSpPr>
        <p:spPr>
          <a:xfrm>
            <a:off x="7315200" y="1481328"/>
            <a:ext cx="21488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59"/>
          <p:cNvSpPr/>
          <p:nvPr/>
        </p:nvSpPr>
        <p:spPr>
          <a:xfrm>
            <a:off x="9464040" y="1481328"/>
            <a:ext cx="21488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figure60" descr="2칸 중 1칸 색칠한 띠"/>
          <p:cNvSpPr/>
          <p:nvPr/>
        </p:nvSpPr>
        <p:spPr>
          <a:xfrm>
            <a:off x="7315200" y="1481328"/>
            <a:ext cx="42976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cell61"/>
          <p:cNvSpPr/>
          <p:nvPr/>
        </p:nvSpPr>
        <p:spPr>
          <a:xfrm>
            <a:off x="731520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62"/>
          <p:cNvSpPr/>
          <p:nvPr/>
        </p:nvSpPr>
        <p:spPr>
          <a:xfrm>
            <a:off x="838962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63"/>
          <p:cNvSpPr/>
          <p:nvPr/>
        </p:nvSpPr>
        <p:spPr>
          <a:xfrm>
            <a:off x="946404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64"/>
          <p:cNvSpPr/>
          <p:nvPr/>
        </p:nvSpPr>
        <p:spPr>
          <a:xfrm>
            <a:off x="1053846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figure65" descr="4칸으로 접은 띠"/>
          <p:cNvSpPr/>
          <p:nvPr/>
        </p:nvSpPr>
        <p:spPr>
          <a:xfrm>
            <a:off x="7315200" y="2560320"/>
            <a:ext cx="42976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cell66"/>
          <p:cNvSpPr/>
          <p:nvPr/>
        </p:nvSpPr>
        <p:spPr>
          <a:xfrm>
            <a:off x="7315200" y="3639312"/>
            <a:ext cx="107442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67"/>
          <p:cNvSpPr/>
          <p:nvPr/>
        </p:nvSpPr>
        <p:spPr>
          <a:xfrm>
            <a:off x="8389620" y="3639312"/>
            <a:ext cx="107442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68"/>
          <p:cNvSpPr/>
          <p:nvPr/>
        </p:nvSpPr>
        <p:spPr>
          <a:xfrm>
            <a:off x="9464040" y="3639312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69"/>
          <p:cNvSpPr/>
          <p:nvPr/>
        </p:nvSpPr>
        <p:spPr>
          <a:xfrm>
            <a:off x="10538460" y="3639312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figure70" descr="4칸 중 2칸 색칠한 띠"/>
          <p:cNvSpPr/>
          <p:nvPr/>
        </p:nvSpPr>
        <p:spPr>
          <a:xfrm>
            <a:off x="7315200" y="3639312"/>
            <a:ext cx="42976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chip71"/>
          <p:cNvSpPr txBox="1"/>
          <p:nvPr/>
        </p:nvSpPr>
        <p:spPr>
          <a:xfrm>
            <a:off x="7315200" y="4690872"/>
            <a:ext cx="4297680" cy="685800"/>
          </a:xfrm>
          <a:prstGeom prst="roundRect">
            <a:avLst>
              <a:gd name="adj" fmla="val 21333"/>
            </a:avLst>
          </a:prstGeom>
          <a:solidFill>
            <a:srgbClr val="FDEBDD"/>
          </a:solidFill>
          <a:ln>
            <a:solidFill>
              <a:srgbClr val="FDEBDD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끝이 맞을까요?</a:t>
            </a:r>
            <a:endParaRPr lang="ko-KR" sz="2200" dirty="0"/>
          </a:p>
        </p:txBody>
      </p:sp>
      <p:sp>
        <p:nvSpPr>
          <p:cNvPr id="25" name="S04-text72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준비물: 길이가 같은 종이 띠 2장, 색연필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더 그어도 색칠한 양은 그대로</a:t>
            </a:r>
            <a:endParaRPr lang="ko-KR" sz="4000" dirty="0"/>
          </a:p>
        </p:txBody>
      </p:sp>
      <p:sp>
        <p:nvSpPr>
          <p:cNvPr id="3" name="S05-num73"/>
          <p:cNvSpPr txBox="1"/>
          <p:nvPr/>
        </p:nvSpPr>
        <p:spPr>
          <a:xfrm>
            <a:off x="685800" y="14630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" name="S05-fracbar74"/>
          <p:cNvSpPr/>
          <p:nvPr/>
        </p:nvSpPr>
        <p:spPr>
          <a:xfrm>
            <a:off x="722376" y="191922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5-num75"/>
          <p:cNvSpPr txBox="1"/>
          <p:nvPr/>
        </p:nvSpPr>
        <p:spPr>
          <a:xfrm>
            <a:off x="685800" y="195580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6" name="S05-cell76"/>
          <p:cNvSpPr/>
          <p:nvPr/>
        </p:nvSpPr>
        <p:spPr>
          <a:xfrm>
            <a:off x="1920240" y="1508760"/>
            <a:ext cx="484632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77"/>
          <p:cNvSpPr/>
          <p:nvPr/>
        </p:nvSpPr>
        <p:spPr>
          <a:xfrm>
            <a:off x="6766560" y="1508760"/>
            <a:ext cx="4846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figure78" descr="2칸 중 1칸 색칠: 2분의 1"/>
          <p:cNvSpPr/>
          <p:nvPr/>
        </p:nvSpPr>
        <p:spPr>
          <a:xfrm>
            <a:off x="1920240" y="1508760"/>
            <a:ext cx="969264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num79"/>
          <p:cNvSpPr txBox="1"/>
          <p:nvPr/>
        </p:nvSpPr>
        <p:spPr>
          <a:xfrm>
            <a:off x="685800" y="26974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0" name="S05-fracbar80"/>
          <p:cNvSpPr/>
          <p:nvPr/>
        </p:nvSpPr>
        <p:spPr>
          <a:xfrm>
            <a:off x="722376" y="315366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num81"/>
          <p:cNvSpPr txBox="1"/>
          <p:nvPr/>
        </p:nvSpPr>
        <p:spPr>
          <a:xfrm>
            <a:off x="685800" y="31902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2" name="S05-cell82"/>
          <p:cNvSpPr/>
          <p:nvPr/>
        </p:nvSpPr>
        <p:spPr>
          <a:xfrm>
            <a:off x="1920240" y="2743200"/>
            <a:ext cx="242316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83"/>
          <p:cNvSpPr/>
          <p:nvPr/>
        </p:nvSpPr>
        <p:spPr>
          <a:xfrm>
            <a:off x="4343400" y="2743200"/>
            <a:ext cx="242316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84"/>
          <p:cNvSpPr/>
          <p:nvPr/>
        </p:nvSpPr>
        <p:spPr>
          <a:xfrm>
            <a:off x="6766560" y="2743200"/>
            <a:ext cx="24231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85"/>
          <p:cNvSpPr/>
          <p:nvPr/>
        </p:nvSpPr>
        <p:spPr>
          <a:xfrm>
            <a:off x="9189720" y="2743200"/>
            <a:ext cx="24231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figure86" descr="4칸 중 2칸 색칠: 4분의 2"/>
          <p:cNvSpPr/>
          <p:nvPr/>
        </p:nvSpPr>
        <p:spPr>
          <a:xfrm>
            <a:off x="1920240" y="2743200"/>
            <a:ext cx="969264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guide87"/>
          <p:cNvSpPr/>
          <p:nvPr/>
        </p:nvSpPr>
        <p:spPr>
          <a:xfrm>
            <a:off x="6766560" y="1325880"/>
            <a:ext cx="0" cy="246888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8" name="S05-card88"/>
          <p:cNvSpPr/>
          <p:nvPr/>
        </p:nvSpPr>
        <p:spPr>
          <a:xfrm>
            <a:off x="548640" y="416052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5-cardtext89"/>
          <p:cNvSpPr txBox="1"/>
          <p:nvPr/>
        </p:nvSpPr>
        <p:spPr>
          <a:xfrm>
            <a:off x="822960" y="4297680"/>
            <a:ext cx="2953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수는 2배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2칸 → 4칸</a:t>
            </a:r>
            <a:endParaRPr lang="ko-KR" sz="2800" dirty="0"/>
          </a:p>
        </p:txBody>
      </p:sp>
      <p:sp>
        <p:nvSpPr>
          <p:cNvPr id="20" name="S05-card90"/>
          <p:cNvSpPr/>
          <p:nvPr/>
        </p:nvSpPr>
        <p:spPr>
          <a:xfrm>
            <a:off x="4325112" y="416052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5-cardtext91"/>
          <p:cNvSpPr txBox="1"/>
          <p:nvPr/>
        </p:nvSpPr>
        <p:spPr>
          <a:xfrm>
            <a:off x="4599432" y="4297680"/>
            <a:ext cx="2953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절반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잘게 나뉘어요</a:t>
            </a:r>
            <a:endParaRPr lang="ko-KR" sz="2800" dirty="0"/>
          </a:p>
        </p:txBody>
      </p:sp>
      <p:sp>
        <p:nvSpPr>
          <p:cNvPr id="22" name="S05-card92"/>
          <p:cNvSpPr/>
          <p:nvPr/>
        </p:nvSpPr>
        <p:spPr>
          <a:xfrm>
            <a:off x="8101584" y="416052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3" name="S05-cardtext93"/>
          <p:cNvSpPr txBox="1"/>
          <p:nvPr/>
        </p:nvSpPr>
        <p:spPr>
          <a:xfrm>
            <a:off x="8375904" y="4297680"/>
            <a:ext cx="29626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양은 그대로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크기가 같아요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분수</a:t>
            </a:r>
            <a:endParaRPr lang="ko-KR" sz="4000" dirty="0"/>
          </a:p>
        </p:txBody>
      </p:sp>
      <p:sp>
        <p:nvSpPr>
          <p:cNvPr id="3" name="S06-num94"/>
          <p:cNvSpPr txBox="1"/>
          <p:nvPr/>
        </p:nvSpPr>
        <p:spPr>
          <a:xfrm>
            <a:off x="685800" y="132588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4" name="S06-fracbar95"/>
          <p:cNvSpPr/>
          <p:nvPr/>
        </p:nvSpPr>
        <p:spPr>
          <a:xfrm>
            <a:off x="722376" y="175209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" name="S06-num96"/>
          <p:cNvSpPr txBox="1"/>
          <p:nvPr/>
        </p:nvSpPr>
        <p:spPr>
          <a:xfrm>
            <a:off x="685800" y="178866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" name="S06-cell97"/>
          <p:cNvSpPr/>
          <p:nvPr/>
        </p:nvSpPr>
        <p:spPr>
          <a:xfrm>
            <a:off x="1920240" y="1371600"/>
            <a:ext cx="484632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98"/>
          <p:cNvSpPr/>
          <p:nvPr/>
        </p:nvSpPr>
        <p:spPr>
          <a:xfrm>
            <a:off x="6766560" y="1371600"/>
            <a:ext cx="48463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figure99" descr="2분의 1"/>
          <p:cNvSpPr/>
          <p:nvPr/>
        </p:nvSpPr>
        <p:spPr>
          <a:xfrm>
            <a:off x="1920240" y="1371600"/>
            <a:ext cx="96926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num100"/>
          <p:cNvSpPr txBox="1"/>
          <p:nvPr/>
        </p:nvSpPr>
        <p:spPr>
          <a:xfrm>
            <a:off x="685800" y="23774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6-fracbar101"/>
          <p:cNvSpPr/>
          <p:nvPr/>
        </p:nvSpPr>
        <p:spPr>
          <a:xfrm>
            <a:off x="722376" y="280365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1" name="S06-num102"/>
          <p:cNvSpPr txBox="1"/>
          <p:nvPr/>
        </p:nvSpPr>
        <p:spPr>
          <a:xfrm>
            <a:off x="685800" y="2840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2" name="S06-cell103"/>
          <p:cNvSpPr/>
          <p:nvPr/>
        </p:nvSpPr>
        <p:spPr>
          <a:xfrm>
            <a:off x="1920240" y="2423160"/>
            <a:ext cx="242316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04"/>
          <p:cNvSpPr/>
          <p:nvPr/>
        </p:nvSpPr>
        <p:spPr>
          <a:xfrm>
            <a:off x="4343400" y="2423160"/>
            <a:ext cx="242316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05"/>
          <p:cNvSpPr/>
          <p:nvPr/>
        </p:nvSpPr>
        <p:spPr>
          <a:xfrm>
            <a:off x="6766560" y="2423160"/>
            <a:ext cx="24231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06"/>
          <p:cNvSpPr/>
          <p:nvPr/>
        </p:nvSpPr>
        <p:spPr>
          <a:xfrm>
            <a:off x="9189720" y="2423160"/>
            <a:ext cx="24231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figure107" descr="4분의 2"/>
          <p:cNvSpPr/>
          <p:nvPr/>
        </p:nvSpPr>
        <p:spPr>
          <a:xfrm>
            <a:off x="1920240" y="2423160"/>
            <a:ext cx="96926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6-num108"/>
          <p:cNvSpPr txBox="1"/>
          <p:nvPr/>
        </p:nvSpPr>
        <p:spPr>
          <a:xfrm>
            <a:off x="685800" y="34290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8" name="S06-fracbar109"/>
          <p:cNvSpPr/>
          <p:nvPr/>
        </p:nvSpPr>
        <p:spPr>
          <a:xfrm>
            <a:off x="722376" y="385521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9" name="S06-num110"/>
          <p:cNvSpPr txBox="1"/>
          <p:nvPr/>
        </p:nvSpPr>
        <p:spPr>
          <a:xfrm>
            <a:off x="685800" y="389178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0" name="S06-cell111"/>
          <p:cNvSpPr/>
          <p:nvPr/>
        </p:nvSpPr>
        <p:spPr>
          <a:xfrm>
            <a:off x="1920240" y="3474720"/>
            <a:ext cx="161544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12"/>
          <p:cNvSpPr/>
          <p:nvPr/>
        </p:nvSpPr>
        <p:spPr>
          <a:xfrm>
            <a:off x="3535680" y="3474720"/>
            <a:ext cx="161544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13"/>
          <p:cNvSpPr/>
          <p:nvPr/>
        </p:nvSpPr>
        <p:spPr>
          <a:xfrm>
            <a:off x="5151120" y="3474720"/>
            <a:ext cx="161544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14"/>
          <p:cNvSpPr/>
          <p:nvPr/>
        </p:nvSpPr>
        <p:spPr>
          <a:xfrm>
            <a:off x="6766560" y="3474720"/>
            <a:ext cx="161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15"/>
          <p:cNvSpPr/>
          <p:nvPr/>
        </p:nvSpPr>
        <p:spPr>
          <a:xfrm>
            <a:off x="8382000" y="3474720"/>
            <a:ext cx="161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16"/>
          <p:cNvSpPr/>
          <p:nvPr/>
        </p:nvSpPr>
        <p:spPr>
          <a:xfrm>
            <a:off x="9997440" y="3474720"/>
            <a:ext cx="161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figure117" descr="6분의 3"/>
          <p:cNvSpPr/>
          <p:nvPr/>
        </p:nvSpPr>
        <p:spPr>
          <a:xfrm>
            <a:off x="1920240" y="3474720"/>
            <a:ext cx="96926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guide118"/>
          <p:cNvSpPr/>
          <p:nvPr/>
        </p:nvSpPr>
        <p:spPr>
          <a:xfrm>
            <a:off x="6766560" y="1234440"/>
            <a:ext cx="0" cy="315468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8" name="S06-num119"/>
          <p:cNvSpPr txBox="1"/>
          <p:nvPr/>
        </p:nvSpPr>
        <p:spPr>
          <a:xfrm>
            <a:off x="822960" y="46634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29" name="S06-fracbar120"/>
          <p:cNvSpPr/>
          <p:nvPr/>
        </p:nvSpPr>
        <p:spPr>
          <a:xfrm>
            <a:off x="859536" y="52095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0" name="S06-num121"/>
          <p:cNvSpPr txBox="1"/>
          <p:nvPr/>
        </p:nvSpPr>
        <p:spPr>
          <a:xfrm>
            <a:off x="822960" y="52461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31" name="S06-op122"/>
          <p:cNvSpPr txBox="1"/>
          <p:nvPr/>
        </p:nvSpPr>
        <p:spPr>
          <a:xfrm>
            <a:off x="1495806" y="46634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2" name="S06-num123"/>
          <p:cNvSpPr txBox="1"/>
          <p:nvPr/>
        </p:nvSpPr>
        <p:spPr>
          <a:xfrm>
            <a:off x="2042922" y="46634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33" name="S06-fracbar124"/>
          <p:cNvSpPr/>
          <p:nvPr/>
        </p:nvSpPr>
        <p:spPr>
          <a:xfrm>
            <a:off x="2079498" y="52095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4" name="S06-num125"/>
          <p:cNvSpPr txBox="1"/>
          <p:nvPr/>
        </p:nvSpPr>
        <p:spPr>
          <a:xfrm>
            <a:off x="2042922" y="52461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35" name="S06-op126"/>
          <p:cNvSpPr txBox="1"/>
          <p:nvPr/>
        </p:nvSpPr>
        <p:spPr>
          <a:xfrm>
            <a:off x="2715768" y="46634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6" name="S06-num127"/>
          <p:cNvSpPr txBox="1"/>
          <p:nvPr/>
        </p:nvSpPr>
        <p:spPr>
          <a:xfrm>
            <a:off x="3262884" y="46634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7" name="S06-fracbar128"/>
          <p:cNvSpPr/>
          <p:nvPr/>
        </p:nvSpPr>
        <p:spPr>
          <a:xfrm>
            <a:off x="3299460" y="52095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8" name="S06-num129"/>
          <p:cNvSpPr txBox="1"/>
          <p:nvPr/>
        </p:nvSpPr>
        <p:spPr>
          <a:xfrm>
            <a:off x="3262884" y="52461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39" name="S06-card130"/>
          <p:cNvSpPr/>
          <p:nvPr/>
        </p:nvSpPr>
        <p:spPr>
          <a:xfrm>
            <a:off x="5486400" y="4663440"/>
            <a:ext cx="6126480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0" name="S06-cardtext131"/>
          <p:cNvSpPr txBox="1"/>
          <p:nvPr/>
        </p:nvSpPr>
        <p:spPr>
          <a:xfrm>
            <a:off x="5760720" y="48006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양이 같은 분수를 ‘크기가 같은 분수’라고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같은 수를 곱하면</a:t>
            </a:r>
            <a:endParaRPr lang="ko-KR" sz="4000" dirty="0"/>
          </a:p>
        </p:txBody>
      </p:sp>
      <p:sp>
        <p:nvSpPr>
          <p:cNvPr id="3" name="S07-cell132"/>
          <p:cNvSpPr/>
          <p:nvPr/>
        </p:nvSpPr>
        <p:spPr>
          <a:xfrm>
            <a:off x="548640" y="1508760"/>
            <a:ext cx="265176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7-cell133"/>
          <p:cNvSpPr/>
          <p:nvPr/>
        </p:nvSpPr>
        <p:spPr>
          <a:xfrm>
            <a:off x="3200400" y="1508760"/>
            <a:ext cx="26517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7-figure134" descr="2분의 1"/>
          <p:cNvSpPr/>
          <p:nvPr/>
        </p:nvSpPr>
        <p:spPr>
          <a:xfrm>
            <a:off x="548640" y="150876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text135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한 칸을 똑같이 둘로 나누면</a:t>
            </a:r>
            <a:endParaRPr lang="ko-KR" sz="2200" dirty="0"/>
          </a:p>
        </p:txBody>
      </p:sp>
      <p:sp>
        <p:nvSpPr>
          <p:cNvPr id="7" name="S07-cell136"/>
          <p:cNvSpPr/>
          <p:nvPr/>
        </p:nvSpPr>
        <p:spPr>
          <a:xfrm>
            <a:off x="54864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cell137"/>
          <p:cNvSpPr/>
          <p:nvPr/>
        </p:nvSpPr>
        <p:spPr>
          <a:xfrm>
            <a:off x="187452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138"/>
          <p:cNvSpPr/>
          <p:nvPr/>
        </p:nvSpPr>
        <p:spPr>
          <a:xfrm>
            <a:off x="3200400" y="2971800"/>
            <a:ext cx="13258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139"/>
          <p:cNvSpPr/>
          <p:nvPr/>
        </p:nvSpPr>
        <p:spPr>
          <a:xfrm>
            <a:off x="4526280" y="2971800"/>
            <a:ext cx="13258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figure140" descr="4분의 2"/>
          <p:cNvSpPr/>
          <p:nvPr/>
        </p:nvSpPr>
        <p:spPr>
          <a:xfrm>
            <a:off x="548640" y="297180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7-num141"/>
          <p:cNvSpPr txBox="1"/>
          <p:nvPr/>
        </p:nvSpPr>
        <p:spPr>
          <a:xfrm>
            <a:off x="6629400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3" name="S07-fracbar142"/>
          <p:cNvSpPr/>
          <p:nvPr/>
        </p:nvSpPr>
        <p:spPr>
          <a:xfrm>
            <a:off x="6665976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7-num143"/>
          <p:cNvSpPr txBox="1"/>
          <p:nvPr/>
        </p:nvSpPr>
        <p:spPr>
          <a:xfrm>
            <a:off x="6629400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5" name="S07-op144"/>
          <p:cNvSpPr txBox="1"/>
          <p:nvPr/>
        </p:nvSpPr>
        <p:spPr>
          <a:xfrm>
            <a:off x="7275576" y="182880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7-num145"/>
          <p:cNvSpPr txBox="1"/>
          <p:nvPr/>
        </p:nvSpPr>
        <p:spPr>
          <a:xfrm>
            <a:off x="7812024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7" name="S07-fracbar146"/>
          <p:cNvSpPr/>
          <p:nvPr/>
        </p:nvSpPr>
        <p:spPr>
          <a:xfrm>
            <a:off x="7848600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num147"/>
          <p:cNvSpPr txBox="1"/>
          <p:nvPr/>
        </p:nvSpPr>
        <p:spPr>
          <a:xfrm>
            <a:off x="7812024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9" name="S07-arrow148"/>
          <p:cNvSpPr/>
          <p:nvPr/>
        </p:nvSpPr>
        <p:spPr>
          <a:xfrm>
            <a:off x="6897624" y="1682496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7-oplabel149"/>
          <p:cNvSpPr txBox="1"/>
          <p:nvPr/>
        </p:nvSpPr>
        <p:spPr>
          <a:xfrm>
            <a:off x="6897624" y="131495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×2</a:t>
            </a:r>
            <a:endParaRPr lang="ko-KR" sz="2200" dirty="0"/>
          </a:p>
        </p:txBody>
      </p:sp>
      <p:sp>
        <p:nvSpPr>
          <p:cNvPr id="21" name="S07-arrow150"/>
          <p:cNvSpPr/>
          <p:nvPr/>
        </p:nvSpPr>
        <p:spPr>
          <a:xfrm>
            <a:off x="6897624" y="3007360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7-oplabel151"/>
          <p:cNvSpPr txBox="1"/>
          <p:nvPr/>
        </p:nvSpPr>
        <p:spPr>
          <a:xfrm>
            <a:off x="6897624" y="302564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×2</a:t>
            </a:r>
            <a:endParaRPr lang="ko-KR" sz="2200" dirty="0"/>
          </a:p>
        </p:txBody>
      </p:sp>
      <p:sp>
        <p:nvSpPr>
          <p:cNvPr id="23" name="S07-num152"/>
          <p:cNvSpPr txBox="1"/>
          <p:nvPr/>
        </p:nvSpPr>
        <p:spPr>
          <a:xfrm>
            <a:off x="9326880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4" name="S07-fracbar153"/>
          <p:cNvSpPr/>
          <p:nvPr/>
        </p:nvSpPr>
        <p:spPr>
          <a:xfrm>
            <a:off x="9363456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7-num154"/>
          <p:cNvSpPr txBox="1"/>
          <p:nvPr/>
        </p:nvSpPr>
        <p:spPr>
          <a:xfrm>
            <a:off x="9326880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07-op155"/>
          <p:cNvSpPr txBox="1"/>
          <p:nvPr/>
        </p:nvSpPr>
        <p:spPr>
          <a:xfrm>
            <a:off x="9973056" y="182880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7" name="S07-num156"/>
          <p:cNvSpPr txBox="1"/>
          <p:nvPr/>
        </p:nvSpPr>
        <p:spPr>
          <a:xfrm>
            <a:off x="10509504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07-fracbar157"/>
          <p:cNvSpPr/>
          <p:nvPr/>
        </p:nvSpPr>
        <p:spPr>
          <a:xfrm>
            <a:off x="10546080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7-num158"/>
          <p:cNvSpPr txBox="1"/>
          <p:nvPr/>
        </p:nvSpPr>
        <p:spPr>
          <a:xfrm>
            <a:off x="10509504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0" name="S07-arrow159"/>
          <p:cNvSpPr/>
          <p:nvPr/>
        </p:nvSpPr>
        <p:spPr>
          <a:xfrm>
            <a:off x="9595104" y="1682496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7-oplabel160"/>
          <p:cNvSpPr txBox="1"/>
          <p:nvPr/>
        </p:nvSpPr>
        <p:spPr>
          <a:xfrm>
            <a:off x="9595104" y="131495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×3</a:t>
            </a:r>
            <a:endParaRPr lang="ko-KR" sz="2200" dirty="0"/>
          </a:p>
        </p:txBody>
      </p:sp>
      <p:sp>
        <p:nvSpPr>
          <p:cNvPr id="32" name="S07-arrow161"/>
          <p:cNvSpPr/>
          <p:nvPr/>
        </p:nvSpPr>
        <p:spPr>
          <a:xfrm>
            <a:off x="9595104" y="3007360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oplabel162"/>
          <p:cNvSpPr txBox="1"/>
          <p:nvPr/>
        </p:nvSpPr>
        <p:spPr>
          <a:xfrm>
            <a:off x="9595104" y="302564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×3</a:t>
            </a:r>
            <a:endParaRPr lang="ko-KR" sz="2200" dirty="0"/>
          </a:p>
        </p:txBody>
      </p:sp>
      <p:sp>
        <p:nvSpPr>
          <p:cNvPr id="34" name="S07-card163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5" name="S07-cardtext164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0이 아닌 같은 수를 곱하면 크기가 같은 분수가 돼요.</a:t>
            </a:r>
            <a:endParaRPr lang="ko-KR" sz="2200" dirty="0"/>
          </a:p>
        </p:txBody>
      </p:sp>
      <p:sp>
        <p:nvSpPr>
          <p:cNvPr id="36" name="S07-text165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수(분모)도 2배, 색칠한 칸 수(분자)도 2배 → 양은 그대로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분모를 같은 수로 나누면</a:t>
            </a:r>
            <a:endParaRPr lang="ko-KR" sz="4000" dirty="0"/>
          </a:p>
        </p:txBody>
      </p:sp>
      <p:sp>
        <p:nvSpPr>
          <p:cNvPr id="3" name="S08-cell166"/>
          <p:cNvSpPr/>
          <p:nvPr/>
        </p:nvSpPr>
        <p:spPr>
          <a:xfrm>
            <a:off x="54864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8-cell167"/>
          <p:cNvSpPr/>
          <p:nvPr/>
        </p:nvSpPr>
        <p:spPr>
          <a:xfrm>
            <a:off x="121158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8-cell168"/>
          <p:cNvSpPr/>
          <p:nvPr/>
        </p:nvSpPr>
        <p:spPr>
          <a:xfrm>
            <a:off x="187452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8-cell169"/>
          <p:cNvSpPr/>
          <p:nvPr/>
        </p:nvSpPr>
        <p:spPr>
          <a:xfrm>
            <a:off x="253746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cell170"/>
          <p:cNvSpPr/>
          <p:nvPr/>
        </p:nvSpPr>
        <p:spPr>
          <a:xfrm>
            <a:off x="320040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171"/>
          <p:cNvSpPr/>
          <p:nvPr/>
        </p:nvSpPr>
        <p:spPr>
          <a:xfrm>
            <a:off x="386334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172"/>
          <p:cNvSpPr/>
          <p:nvPr/>
        </p:nvSpPr>
        <p:spPr>
          <a:xfrm>
            <a:off x="4526280" y="1508760"/>
            <a:ext cx="6629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73"/>
          <p:cNvSpPr/>
          <p:nvPr/>
        </p:nvSpPr>
        <p:spPr>
          <a:xfrm>
            <a:off x="5189220" y="1508760"/>
            <a:ext cx="6629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figure174" descr="8분의 6"/>
          <p:cNvSpPr/>
          <p:nvPr/>
        </p:nvSpPr>
        <p:spPr>
          <a:xfrm>
            <a:off x="548640" y="150876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8-text175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2칸씩 묶으면</a:t>
            </a:r>
            <a:endParaRPr lang="ko-KR" sz="2200" dirty="0"/>
          </a:p>
        </p:txBody>
      </p:sp>
      <p:sp>
        <p:nvSpPr>
          <p:cNvPr id="13" name="S08-cell176"/>
          <p:cNvSpPr/>
          <p:nvPr/>
        </p:nvSpPr>
        <p:spPr>
          <a:xfrm>
            <a:off x="54864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77"/>
          <p:cNvSpPr/>
          <p:nvPr/>
        </p:nvSpPr>
        <p:spPr>
          <a:xfrm>
            <a:off x="187452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178"/>
          <p:cNvSpPr/>
          <p:nvPr/>
        </p:nvSpPr>
        <p:spPr>
          <a:xfrm>
            <a:off x="320040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179"/>
          <p:cNvSpPr/>
          <p:nvPr/>
        </p:nvSpPr>
        <p:spPr>
          <a:xfrm>
            <a:off x="4526280" y="2971800"/>
            <a:ext cx="13258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figure180" descr="4분의 3"/>
          <p:cNvSpPr/>
          <p:nvPr/>
        </p:nvSpPr>
        <p:spPr>
          <a:xfrm>
            <a:off x="548640" y="297180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8-num181"/>
          <p:cNvSpPr txBox="1"/>
          <p:nvPr/>
        </p:nvSpPr>
        <p:spPr>
          <a:xfrm>
            <a:off x="7680960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9" name="S08-fracbar182"/>
          <p:cNvSpPr/>
          <p:nvPr/>
        </p:nvSpPr>
        <p:spPr>
          <a:xfrm>
            <a:off x="7717536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8-num183"/>
          <p:cNvSpPr txBox="1"/>
          <p:nvPr/>
        </p:nvSpPr>
        <p:spPr>
          <a:xfrm>
            <a:off x="7680960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1" name="S08-op184"/>
          <p:cNvSpPr txBox="1"/>
          <p:nvPr/>
        </p:nvSpPr>
        <p:spPr>
          <a:xfrm>
            <a:off x="8327136" y="182880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8-num185"/>
          <p:cNvSpPr txBox="1"/>
          <p:nvPr/>
        </p:nvSpPr>
        <p:spPr>
          <a:xfrm>
            <a:off x="8863584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3" name="S08-fracbar186"/>
          <p:cNvSpPr/>
          <p:nvPr/>
        </p:nvSpPr>
        <p:spPr>
          <a:xfrm>
            <a:off x="8900160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8-num187"/>
          <p:cNvSpPr txBox="1"/>
          <p:nvPr/>
        </p:nvSpPr>
        <p:spPr>
          <a:xfrm>
            <a:off x="8863584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5" name="S08-arrow188"/>
          <p:cNvSpPr/>
          <p:nvPr/>
        </p:nvSpPr>
        <p:spPr>
          <a:xfrm>
            <a:off x="7949184" y="1682496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08-oplabel189"/>
          <p:cNvSpPr txBox="1"/>
          <p:nvPr/>
        </p:nvSpPr>
        <p:spPr>
          <a:xfrm>
            <a:off x="7949184" y="131495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27" name="S08-arrow190"/>
          <p:cNvSpPr/>
          <p:nvPr/>
        </p:nvSpPr>
        <p:spPr>
          <a:xfrm>
            <a:off x="7949184" y="3007360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8-oplabel191"/>
          <p:cNvSpPr txBox="1"/>
          <p:nvPr/>
        </p:nvSpPr>
        <p:spPr>
          <a:xfrm>
            <a:off x="7949184" y="302564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29" name="S08-card192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0" name="S08-cardtext193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분모를 둘 다 나누어떨어지게 하는 같은 수로 나누어요.</a:t>
            </a:r>
            <a:endParaRPr lang="ko-KR" sz="2800" dirty="0"/>
          </a:p>
        </p:txBody>
      </p:sp>
      <p:sp>
        <p:nvSpPr>
          <p:cNvPr id="31" name="S08-chip194"/>
          <p:cNvSpPr txBox="1"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2285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8분의 6은 3으로 나눌 수 없어요. 8 ÷ 3이 나누어떨어지지 않아요.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풀어 봐요</a:t>
            </a:r>
            <a:endParaRPr lang="ko-KR" sz="4000" dirty="0"/>
          </a:p>
        </p:txBody>
      </p:sp>
      <p:sp>
        <p:nvSpPr>
          <p:cNvPr id="3" name="S09-chip195"/>
          <p:cNvSpPr txBox="1"/>
          <p:nvPr/>
        </p:nvSpPr>
        <p:spPr>
          <a:xfrm>
            <a:off x="548640" y="16002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4" name="S09-num196"/>
          <p:cNvSpPr txBox="1"/>
          <p:nvPr/>
        </p:nvSpPr>
        <p:spPr>
          <a:xfrm>
            <a:off x="1463040" y="137160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5" name="S09-fracbar197"/>
          <p:cNvSpPr/>
          <p:nvPr/>
        </p:nvSpPr>
        <p:spPr>
          <a:xfrm>
            <a:off x="1499616" y="185775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6" name="S09-num198"/>
          <p:cNvSpPr txBox="1"/>
          <p:nvPr/>
        </p:nvSpPr>
        <p:spPr>
          <a:xfrm>
            <a:off x="1463040" y="189433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7" name="S09-op199"/>
          <p:cNvSpPr txBox="1"/>
          <p:nvPr/>
        </p:nvSpPr>
        <p:spPr>
          <a:xfrm>
            <a:off x="2082546" y="1371600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8" name="S09-blank200"/>
          <p:cNvSpPr/>
          <p:nvPr/>
        </p:nvSpPr>
        <p:spPr>
          <a:xfrm>
            <a:off x="2696870" y="1430045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9-fracbar201"/>
          <p:cNvSpPr/>
          <p:nvPr/>
        </p:nvSpPr>
        <p:spPr>
          <a:xfrm>
            <a:off x="2644902" y="185775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0" name="S09-num202"/>
          <p:cNvSpPr txBox="1"/>
          <p:nvPr/>
        </p:nvSpPr>
        <p:spPr>
          <a:xfrm>
            <a:off x="2608326" y="189433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11" name="S09-chip203"/>
          <p:cNvSpPr txBox="1"/>
          <p:nvPr/>
        </p:nvSpPr>
        <p:spPr>
          <a:xfrm>
            <a:off x="548640" y="3017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2" name="S09-num204"/>
          <p:cNvSpPr txBox="1"/>
          <p:nvPr/>
        </p:nvSpPr>
        <p:spPr>
          <a:xfrm>
            <a:off x="1463040" y="27889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13" name="S09-fracbar205"/>
          <p:cNvSpPr/>
          <p:nvPr/>
        </p:nvSpPr>
        <p:spPr>
          <a:xfrm>
            <a:off x="1499616" y="327507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4" name="S09-num206"/>
          <p:cNvSpPr txBox="1"/>
          <p:nvPr/>
        </p:nvSpPr>
        <p:spPr>
          <a:xfrm>
            <a:off x="1463040" y="331165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5" name="S09-op207"/>
          <p:cNvSpPr txBox="1"/>
          <p:nvPr/>
        </p:nvSpPr>
        <p:spPr>
          <a:xfrm>
            <a:off x="2082546" y="2788920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16" name="S09-num208"/>
          <p:cNvSpPr txBox="1"/>
          <p:nvPr/>
        </p:nvSpPr>
        <p:spPr>
          <a:xfrm>
            <a:off x="2608326" y="27889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7" name="S09-fracbar209"/>
          <p:cNvSpPr/>
          <p:nvPr/>
        </p:nvSpPr>
        <p:spPr>
          <a:xfrm>
            <a:off x="2644902" y="327507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8" name="S09-blank210"/>
          <p:cNvSpPr/>
          <p:nvPr/>
        </p:nvSpPr>
        <p:spPr>
          <a:xfrm>
            <a:off x="2696870" y="3370097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chip211"/>
          <p:cNvSpPr txBox="1"/>
          <p:nvPr/>
        </p:nvSpPr>
        <p:spPr>
          <a:xfrm>
            <a:off x="548640" y="44348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20" name="S09-num212"/>
          <p:cNvSpPr txBox="1"/>
          <p:nvPr/>
        </p:nvSpPr>
        <p:spPr>
          <a:xfrm>
            <a:off x="1463040" y="420624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21" name="S09-fracbar213"/>
          <p:cNvSpPr/>
          <p:nvPr/>
        </p:nvSpPr>
        <p:spPr>
          <a:xfrm>
            <a:off x="1499616" y="469239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2" name="S09-num214"/>
          <p:cNvSpPr txBox="1"/>
          <p:nvPr/>
        </p:nvSpPr>
        <p:spPr>
          <a:xfrm>
            <a:off x="1463040" y="472897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3" name="S09-op215"/>
          <p:cNvSpPr txBox="1"/>
          <p:nvPr/>
        </p:nvSpPr>
        <p:spPr>
          <a:xfrm>
            <a:off x="2082546" y="4206240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4" name="S09-num216"/>
          <p:cNvSpPr txBox="1"/>
          <p:nvPr/>
        </p:nvSpPr>
        <p:spPr>
          <a:xfrm>
            <a:off x="2608326" y="420624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5" name="S09-fracbar217"/>
          <p:cNvSpPr/>
          <p:nvPr/>
        </p:nvSpPr>
        <p:spPr>
          <a:xfrm>
            <a:off x="2644902" y="469239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6" name="S09-blank218"/>
          <p:cNvSpPr/>
          <p:nvPr/>
        </p:nvSpPr>
        <p:spPr>
          <a:xfrm>
            <a:off x="2696870" y="4787417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9-card219"/>
          <p:cNvSpPr/>
          <p:nvPr/>
        </p:nvSpPr>
        <p:spPr>
          <a:xfrm>
            <a:off x="5486400" y="1371600"/>
            <a:ext cx="6126480" cy="3246120"/>
          </a:xfrm>
          <a:prstGeom prst="roundRect">
            <a:avLst>
              <a:gd name="adj" fmla="val 33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9-cardtext220"/>
          <p:cNvSpPr txBox="1"/>
          <p:nvPr/>
        </p:nvSpPr>
        <p:spPr>
          <a:xfrm>
            <a:off x="5760720" y="1508760"/>
            <a:ext cx="5577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그림으로 확인하기</a:t>
            </a:r>
            <a:endParaRPr lang="ko-KR" sz="2800" dirty="0"/>
          </a:p>
        </p:txBody>
      </p:sp>
      <p:sp>
        <p:nvSpPr>
          <p:cNvPr id="29" name="S09-cell221"/>
          <p:cNvSpPr/>
          <p:nvPr/>
        </p:nvSpPr>
        <p:spPr>
          <a:xfrm>
            <a:off x="5852160" y="2194560"/>
            <a:ext cx="179832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9-cell222"/>
          <p:cNvSpPr/>
          <p:nvPr/>
        </p:nvSpPr>
        <p:spPr>
          <a:xfrm>
            <a:off x="7650480" y="2194560"/>
            <a:ext cx="179832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9-cell223"/>
          <p:cNvSpPr/>
          <p:nvPr/>
        </p:nvSpPr>
        <p:spPr>
          <a:xfrm>
            <a:off x="9448800" y="2194560"/>
            <a:ext cx="17983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figure224" descr="3분의 2"/>
          <p:cNvSpPr/>
          <p:nvPr/>
        </p:nvSpPr>
        <p:spPr>
          <a:xfrm>
            <a:off x="5852160" y="2194560"/>
            <a:ext cx="53949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9-cell225"/>
          <p:cNvSpPr/>
          <p:nvPr/>
        </p:nvSpPr>
        <p:spPr>
          <a:xfrm>
            <a:off x="585216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226"/>
          <p:cNvSpPr/>
          <p:nvPr/>
        </p:nvSpPr>
        <p:spPr>
          <a:xfrm>
            <a:off x="675132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227"/>
          <p:cNvSpPr/>
          <p:nvPr/>
        </p:nvSpPr>
        <p:spPr>
          <a:xfrm>
            <a:off x="765048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228"/>
          <p:cNvSpPr/>
          <p:nvPr/>
        </p:nvSpPr>
        <p:spPr>
          <a:xfrm>
            <a:off x="854964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cell229"/>
          <p:cNvSpPr/>
          <p:nvPr/>
        </p:nvSpPr>
        <p:spPr>
          <a:xfrm>
            <a:off x="944880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9-cell230"/>
          <p:cNvSpPr/>
          <p:nvPr/>
        </p:nvSpPr>
        <p:spPr>
          <a:xfrm>
            <a:off x="1034796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9-figure231" descr="6칸 띠, 색칠 없음"/>
          <p:cNvSpPr/>
          <p:nvPr/>
        </p:nvSpPr>
        <p:spPr>
          <a:xfrm>
            <a:off x="5852160" y="3154680"/>
            <a:ext cx="53949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9-text232"/>
          <p:cNvSpPr txBox="1"/>
          <p:nvPr/>
        </p:nvSpPr>
        <p:spPr>
          <a:xfrm>
            <a:off x="5852160" y="3931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띠에 같은 양을 색칠해 보세요.</a:t>
            </a:r>
            <a:endParaRPr lang="ko-KR" sz="2200" dirty="0"/>
          </a:p>
        </p:txBody>
      </p:sp>
      <p:sp>
        <p:nvSpPr>
          <p:cNvPr id="41" name="S09-chip233"/>
          <p:cNvSpPr txBox="1"/>
          <p:nvPr/>
        </p:nvSpPr>
        <p:spPr>
          <a:xfrm>
            <a:off x="5486400" y="4892040"/>
            <a:ext cx="6126480" cy="1051560"/>
          </a:xfrm>
          <a:prstGeom prst="roundRect">
            <a:avLst>
              <a:gd name="adj" fmla="val 13913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도움말: 분모가 몇 배가 되었나요? 분자도 똑같이 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1씩 더해도 될까?</a:t>
            </a:r>
            <a:endParaRPr lang="ko-KR" sz="4000" dirty="0"/>
          </a:p>
        </p:txBody>
      </p:sp>
      <p:sp>
        <p:nvSpPr>
          <p:cNvPr id="3" name="S10-card234"/>
          <p:cNvSpPr/>
          <p:nvPr/>
        </p:nvSpPr>
        <p:spPr>
          <a:xfrm>
            <a:off x="548640" y="13258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35"/>
          <p:cNvSpPr txBox="1"/>
          <p:nvPr/>
        </p:nvSpPr>
        <p:spPr>
          <a:xfrm>
            <a:off x="822960" y="1463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친구의 주장: “분자와 분모에 똑같이 1을 더해도 크기가 같은 분수가 돼요.”</a:t>
            </a:r>
            <a:endParaRPr lang="ko-KR" sz="2200" dirty="0"/>
          </a:p>
        </p:txBody>
      </p:sp>
      <p:sp>
        <p:nvSpPr>
          <p:cNvPr id="5" name="S10-num236"/>
          <p:cNvSpPr txBox="1"/>
          <p:nvPr/>
        </p:nvSpPr>
        <p:spPr>
          <a:xfrm>
            <a:off x="822960" y="301752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10-fracbar237"/>
          <p:cNvSpPr/>
          <p:nvPr/>
        </p:nvSpPr>
        <p:spPr>
          <a:xfrm>
            <a:off x="859536" y="353364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0-num238"/>
          <p:cNvSpPr txBox="1"/>
          <p:nvPr/>
        </p:nvSpPr>
        <p:spPr>
          <a:xfrm>
            <a:off x="822960" y="357022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10-op239"/>
          <p:cNvSpPr txBox="1"/>
          <p:nvPr/>
        </p:nvSpPr>
        <p:spPr>
          <a:xfrm>
            <a:off x="1469136" y="3017520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9" name="S10-num240"/>
          <p:cNvSpPr txBox="1"/>
          <p:nvPr/>
        </p:nvSpPr>
        <p:spPr>
          <a:xfrm>
            <a:off x="2233168" y="301752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10-fracbar241"/>
          <p:cNvSpPr/>
          <p:nvPr/>
        </p:nvSpPr>
        <p:spPr>
          <a:xfrm>
            <a:off x="2269744" y="353364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0-num242"/>
          <p:cNvSpPr txBox="1"/>
          <p:nvPr/>
        </p:nvSpPr>
        <p:spPr>
          <a:xfrm>
            <a:off x="2233168" y="357022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0-arrow243"/>
          <p:cNvSpPr/>
          <p:nvPr/>
        </p:nvSpPr>
        <p:spPr>
          <a:xfrm>
            <a:off x="1091184" y="2871216"/>
            <a:ext cx="14102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10-oplabel244"/>
          <p:cNvSpPr txBox="1"/>
          <p:nvPr/>
        </p:nvSpPr>
        <p:spPr>
          <a:xfrm>
            <a:off x="1091184" y="2503678"/>
            <a:ext cx="14102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</a:t>
            </a:r>
            <a:endParaRPr lang="ko-KR" sz="2200" dirty="0"/>
          </a:p>
        </p:txBody>
      </p:sp>
      <p:sp>
        <p:nvSpPr>
          <p:cNvPr id="14" name="S10-arrow245"/>
          <p:cNvSpPr/>
          <p:nvPr/>
        </p:nvSpPr>
        <p:spPr>
          <a:xfrm>
            <a:off x="1091184" y="4196080"/>
            <a:ext cx="14102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10-oplabel246"/>
          <p:cNvSpPr txBox="1"/>
          <p:nvPr/>
        </p:nvSpPr>
        <p:spPr>
          <a:xfrm>
            <a:off x="1091184" y="4214368"/>
            <a:ext cx="14102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</a:t>
            </a:r>
            <a:endParaRPr lang="ko-KR" sz="2200" dirty="0"/>
          </a:p>
        </p:txBody>
      </p:sp>
      <p:sp>
        <p:nvSpPr>
          <p:cNvPr id="16" name="S10-num247"/>
          <p:cNvSpPr txBox="1"/>
          <p:nvPr/>
        </p:nvSpPr>
        <p:spPr>
          <a:xfrm>
            <a:off x="3886200" y="269748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10-fracbar248"/>
          <p:cNvSpPr/>
          <p:nvPr/>
        </p:nvSpPr>
        <p:spPr>
          <a:xfrm>
            <a:off x="3922776" y="309372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10-num249"/>
          <p:cNvSpPr txBox="1"/>
          <p:nvPr/>
        </p:nvSpPr>
        <p:spPr>
          <a:xfrm>
            <a:off x="3886200" y="313029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10-cell250"/>
          <p:cNvSpPr/>
          <p:nvPr/>
        </p:nvSpPr>
        <p:spPr>
          <a:xfrm>
            <a:off x="4846320" y="2743200"/>
            <a:ext cx="33832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251"/>
          <p:cNvSpPr/>
          <p:nvPr/>
        </p:nvSpPr>
        <p:spPr>
          <a:xfrm>
            <a:off x="8229600" y="2743200"/>
            <a:ext cx="33832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figure252" descr="2분의 1"/>
          <p:cNvSpPr/>
          <p:nvPr/>
        </p:nvSpPr>
        <p:spPr>
          <a:xfrm>
            <a:off x="4846320" y="2743200"/>
            <a:ext cx="6766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0-num253"/>
          <p:cNvSpPr txBox="1"/>
          <p:nvPr/>
        </p:nvSpPr>
        <p:spPr>
          <a:xfrm>
            <a:off x="3886200" y="370332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3" name="S10-fracbar254"/>
          <p:cNvSpPr/>
          <p:nvPr/>
        </p:nvSpPr>
        <p:spPr>
          <a:xfrm>
            <a:off x="3922776" y="409956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10-num255"/>
          <p:cNvSpPr txBox="1"/>
          <p:nvPr/>
        </p:nvSpPr>
        <p:spPr>
          <a:xfrm>
            <a:off x="3886200" y="413613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5" name="S10-cell256"/>
          <p:cNvSpPr/>
          <p:nvPr/>
        </p:nvSpPr>
        <p:spPr>
          <a:xfrm>
            <a:off x="4846320" y="3749040"/>
            <a:ext cx="2255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257"/>
          <p:cNvSpPr/>
          <p:nvPr/>
        </p:nvSpPr>
        <p:spPr>
          <a:xfrm>
            <a:off x="7101840" y="3749040"/>
            <a:ext cx="2255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258"/>
          <p:cNvSpPr/>
          <p:nvPr/>
        </p:nvSpPr>
        <p:spPr>
          <a:xfrm>
            <a:off x="9357360" y="3749040"/>
            <a:ext cx="2255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figure259" descr="3분의 2"/>
          <p:cNvSpPr/>
          <p:nvPr/>
        </p:nvSpPr>
        <p:spPr>
          <a:xfrm>
            <a:off x="4846320" y="3749040"/>
            <a:ext cx="6766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10-guide260"/>
          <p:cNvSpPr/>
          <p:nvPr/>
        </p:nvSpPr>
        <p:spPr>
          <a:xfrm>
            <a:off x="8229600" y="2606040"/>
            <a:ext cx="0" cy="201168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30" name="S10-card261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1" name="S10-cardtext262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띠의 색칠한 길이가 같나요? 이 주장은 항상 맞을까요?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6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3과 크기가 같은 분수를 두 개 만들어 보세요.</a:t>
            </a:r>
            <a:endParaRPr lang="ko-KR" sz="2800" dirty="0"/>
          </a:p>
        </p:txBody>
      </p:sp>
      <p:sp>
        <p:nvSpPr>
          <p:cNvPr id="4" name="S11-num264"/>
          <p:cNvSpPr txBox="1"/>
          <p:nvPr/>
        </p:nvSpPr>
        <p:spPr>
          <a:xfrm>
            <a:off x="822960" y="224028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5" name="S11-fracbar265"/>
          <p:cNvSpPr/>
          <p:nvPr/>
        </p:nvSpPr>
        <p:spPr>
          <a:xfrm>
            <a:off x="859536" y="287629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11-num266"/>
          <p:cNvSpPr txBox="1"/>
          <p:nvPr/>
        </p:nvSpPr>
        <p:spPr>
          <a:xfrm>
            <a:off x="822960" y="2912872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7" name="S11-op267"/>
          <p:cNvSpPr txBox="1"/>
          <p:nvPr/>
        </p:nvSpPr>
        <p:spPr>
          <a:xfrm>
            <a:off x="1575816" y="2240280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8" name="S11-blank268"/>
          <p:cNvSpPr/>
          <p:nvPr/>
        </p:nvSpPr>
        <p:spPr>
          <a:xfrm>
            <a:off x="2254707" y="2318207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1-fracbar269"/>
          <p:cNvSpPr/>
          <p:nvPr/>
        </p:nvSpPr>
        <p:spPr>
          <a:xfrm>
            <a:off x="2191512" y="287629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1-blank270"/>
          <p:cNvSpPr/>
          <p:nvPr/>
        </p:nvSpPr>
        <p:spPr>
          <a:xfrm>
            <a:off x="2254707" y="2990799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1-op271"/>
          <p:cNvSpPr txBox="1"/>
          <p:nvPr/>
        </p:nvSpPr>
        <p:spPr>
          <a:xfrm>
            <a:off x="2907792" y="2240280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11-blank272"/>
          <p:cNvSpPr/>
          <p:nvPr/>
        </p:nvSpPr>
        <p:spPr>
          <a:xfrm>
            <a:off x="3586683" y="2318207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11-fracbar273"/>
          <p:cNvSpPr/>
          <p:nvPr/>
        </p:nvSpPr>
        <p:spPr>
          <a:xfrm>
            <a:off x="3523488" y="287629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1-blank274"/>
          <p:cNvSpPr/>
          <p:nvPr/>
        </p:nvSpPr>
        <p:spPr>
          <a:xfrm>
            <a:off x="3586683" y="2990799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11-cell275"/>
          <p:cNvSpPr/>
          <p:nvPr/>
        </p:nvSpPr>
        <p:spPr>
          <a:xfrm>
            <a:off x="6766560" y="2560320"/>
            <a:ext cx="12115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cell276"/>
          <p:cNvSpPr/>
          <p:nvPr/>
        </p:nvSpPr>
        <p:spPr>
          <a:xfrm>
            <a:off x="7978140" y="2560320"/>
            <a:ext cx="12115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cell277"/>
          <p:cNvSpPr/>
          <p:nvPr/>
        </p:nvSpPr>
        <p:spPr>
          <a:xfrm>
            <a:off x="9189720" y="2560320"/>
            <a:ext cx="12115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1-cell278"/>
          <p:cNvSpPr/>
          <p:nvPr/>
        </p:nvSpPr>
        <p:spPr>
          <a:xfrm>
            <a:off x="10401300" y="2560320"/>
            <a:ext cx="12115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figure279" descr="4분의 3"/>
          <p:cNvSpPr/>
          <p:nvPr/>
        </p:nvSpPr>
        <p:spPr>
          <a:xfrm>
            <a:off x="6766560" y="2560320"/>
            <a:ext cx="48463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1-card280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1" name="S11-cardtext281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만들었는지 한 가지 방법을 말하거나 써 보세요.</a:t>
            </a:r>
            <a:endParaRPr lang="ko-KR" sz="2800" dirty="0"/>
          </a:p>
        </p:txBody>
      </p:sp>
      <p:sp>
        <p:nvSpPr>
          <p:cNvPr id="22" name="S11-chip282"/>
          <p:cNvSpPr txBox="1"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22857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점검: 분자와 분모에 같은 수를 곱했나요?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정답과 흔한 실수</a:t>
            </a:r>
            <a:endParaRPr lang="ko-KR" sz="4000" dirty="0"/>
          </a:p>
        </p:txBody>
      </p:sp>
      <p:sp>
        <p:nvSpPr>
          <p:cNvPr id="3" name="S12-chip283"/>
          <p:cNvSpPr txBox="1"/>
          <p:nvPr/>
        </p:nvSpPr>
        <p:spPr>
          <a:xfrm>
            <a:off x="548640" y="1325880"/>
            <a:ext cx="5394960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 예 (모두 맞아요)</a:t>
            </a:r>
            <a:endParaRPr lang="ko-KR" sz="2200" dirty="0"/>
          </a:p>
        </p:txBody>
      </p:sp>
      <p:sp>
        <p:nvSpPr>
          <p:cNvPr id="4" name="S12-num284"/>
          <p:cNvSpPr txBox="1"/>
          <p:nvPr/>
        </p:nvSpPr>
        <p:spPr>
          <a:xfrm>
            <a:off x="685800" y="210312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5" name="S12-fracbar285"/>
          <p:cNvSpPr/>
          <p:nvPr/>
        </p:nvSpPr>
        <p:spPr>
          <a:xfrm>
            <a:off x="722376" y="255930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12-num286"/>
          <p:cNvSpPr txBox="1"/>
          <p:nvPr/>
        </p:nvSpPr>
        <p:spPr>
          <a:xfrm>
            <a:off x="685800" y="25958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7" name="S12-op287"/>
          <p:cNvSpPr txBox="1"/>
          <p:nvPr/>
        </p:nvSpPr>
        <p:spPr>
          <a:xfrm>
            <a:off x="1278636" y="210312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8" name="S12-num288"/>
          <p:cNvSpPr txBox="1"/>
          <p:nvPr/>
        </p:nvSpPr>
        <p:spPr>
          <a:xfrm>
            <a:off x="1793748" y="210312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9" name="S12-fracbar289"/>
          <p:cNvSpPr/>
          <p:nvPr/>
        </p:nvSpPr>
        <p:spPr>
          <a:xfrm>
            <a:off x="1830324" y="255930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2-num290"/>
          <p:cNvSpPr txBox="1"/>
          <p:nvPr/>
        </p:nvSpPr>
        <p:spPr>
          <a:xfrm>
            <a:off x="1793748" y="25958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1" name="S12-op291"/>
          <p:cNvSpPr txBox="1"/>
          <p:nvPr/>
        </p:nvSpPr>
        <p:spPr>
          <a:xfrm>
            <a:off x="2386584" y="210312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2" name="S12-num292"/>
          <p:cNvSpPr txBox="1"/>
          <p:nvPr/>
        </p:nvSpPr>
        <p:spPr>
          <a:xfrm>
            <a:off x="2901696" y="21031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3" name="S12-fracbar293"/>
          <p:cNvSpPr/>
          <p:nvPr/>
        </p:nvSpPr>
        <p:spPr>
          <a:xfrm>
            <a:off x="2938272" y="255930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2-num294"/>
          <p:cNvSpPr txBox="1"/>
          <p:nvPr/>
        </p:nvSpPr>
        <p:spPr>
          <a:xfrm>
            <a:off x="2901696" y="259588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5" name="S12-op295"/>
          <p:cNvSpPr txBox="1"/>
          <p:nvPr/>
        </p:nvSpPr>
        <p:spPr>
          <a:xfrm>
            <a:off x="3588512" y="210312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6" name="S12-num296"/>
          <p:cNvSpPr txBox="1"/>
          <p:nvPr/>
        </p:nvSpPr>
        <p:spPr>
          <a:xfrm>
            <a:off x="4103624" y="21031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7" name="S12-fracbar297"/>
          <p:cNvSpPr/>
          <p:nvPr/>
        </p:nvSpPr>
        <p:spPr>
          <a:xfrm>
            <a:off x="4140200" y="255930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2-num298"/>
          <p:cNvSpPr txBox="1"/>
          <p:nvPr/>
        </p:nvSpPr>
        <p:spPr>
          <a:xfrm>
            <a:off x="4103624" y="259588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800" dirty="0"/>
          </a:p>
        </p:txBody>
      </p:sp>
      <p:sp>
        <p:nvSpPr>
          <p:cNvPr id="19" name="S12-cell299"/>
          <p:cNvSpPr/>
          <p:nvPr/>
        </p:nvSpPr>
        <p:spPr>
          <a:xfrm>
            <a:off x="548640" y="3246120"/>
            <a:ext cx="134874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2-cell300"/>
          <p:cNvSpPr/>
          <p:nvPr/>
        </p:nvSpPr>
        <p:spPr>
          <a:xfrm>
            <a:off x="1897380" y="3246120"/>
            <a:ext cx="134874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2-cell301"/>
          <p:cNvSpPr/>
          <p:nvPr/>
        </p:nvSpPr>
        <p:spPr>
          <a:xfrm>
            <a:off x="3246120" y="3246120"/>
            <a:ext cx="134874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2-cell302"/>
          <p:cNvSpPr/>
          <p:nvPr/>
        </p:nvSpPr>
        <p:spPr>
          <a:xfrm>
            <a:off x="4594860" y="3246120"/>
            <a:ext cx="13487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2-figure303" descr="4분의 3"/>
          <p:cNvSpPr/>
          <p:nvPr/>
        </p:nvSpPr>
        <p:spPr>
          <a:xfrm>
            <a:off x="548640" y="3246120"/>
            <a:ext cx="5394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2-cell304"/>
          <p:cNvSpPr/>
          <p:nvPr/>
        </p:nvSpPr>
        <p:spPr>
          <a:xfrm>
            <a:off x="548640" y="3931920"/>
            <a:ext cx="67437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2-cell305"/>
          <p:cNvSpPr/>
          <p:nvPr/>
        </p:nvSpPr>
        <p:spPr>
          <a:xfrm>
            <a:off x="1223010" y="3931920"/>
            <a:ext cx="67437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2-cell306"/>
          <p:cNvSpPr/>
          <p:nvPr/>
        </p:nvSpPr>
        <p:spPr>
          <a:xfrm>
            <a:off x="1897380" y="3931920"/>
            <a:ext cx="67437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cell307"/>
          <p:cNvSpPr/>
          <p:nvPr/>
        </p:nvSpPr>
        <p:spPr>
          <a:xfrm>
            <a:off x="2571750" y="3931920"/>
            <a:ext cx="67437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cell308"/>
          <p:cNvSpPr/>
          <p:nvPr/>
        </p:nvSpPr>
        <p:spPr>
          <a:xfrm>
            <a:off x="3246120" y="3931920"/>
            <a:ext cx="67437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2-cell309"/>
          <p:cNvSpPr/>
          <p:nvPr/>
        </p:nvSpPr>
        <p:spPr>
          <a:xfrm>
            <a:off x="3920490" y="3931920"/>
            <a:ext cx="67437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2-cell310"/>
          <p:cNvSpPr/>
          <p:nvPr/>
        </p:nvSpPr>
        <p:spPr>
          <a:xfrm>
            <a:off x="4594860" y="3931920"/>
            <a:ext cx="67437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2-cell311"/>
          <p:cNvSpPr/>
          <p:nvPr/>
        </p:nvSpPr>
        <p:spPr>
          <a:xfrm>
            <a:off x="5269230" y="3931920"/>
            <a:ext cx="67437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2-figure312" descr="8분의 6"/>
          <p:cNvSpPr/>
          <p:nvPr/>
        </p:nvSpPr>
        <p:spPr>
          <a:xfrm>
            <a:off x="548640" y="3931920"/>
            <a:ext cx="5394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12-text313"/>
          <p:cNvSpPr txBox="1"/>
          <p:nvPr/>
        </p:nvSpPr>
        <p:spPr>
          <a:xfrm>
            <a:off x="548640" y="46634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예: 분자와 분모에 똑같이 2를 곱했어요. 한 칸을 둘로 나누면 칸 수도 색칠한 칸 수도 2배가 돼요.</a:t>
            </a:r>
            <a:endParaRPr lang="ko-KR" sz="2200" dirty="0"/>
          </a:p>
        </p:txBody>
      </p:sp>
      <p:sp>
        <p:nvSpPr>
          <p:cNvPr id="34" name="S12-chip314"/>
          <p:cNvSpPr txBox="1"/>
          <p:nvPr/>
        </p:nvSpPr>
        <p:spPr>
          <a:xfrm>
            <a:off x="6400800" y="1325880"/>
            <a:ext cx="5212080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35" name="S12-num315"/>
          <p:cNvSpPr txBox="1"/>
          <p:nvPr/>
        </p:nvSpPr>
        <p:spPr>
          <a:xfrm>
            <a:off x="6537960" y="210312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6" name="S12-fracbar316"/>
          <p:cNvSpPr/>
          <p:nvPr/>
        </p:nvSpPr>
        <p:spPr>
          <a:xfrm>
            <a:off x="6574536" y="249936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7" name="S12-num317"/>
          <p:cNvSpPr txBox="1"/>
          <p:nvPr/>
        </p:nvSpPr>
        <p:spPr>
          <a:xfrm>
            <a:off x="6537960" y="253593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8" name="S12-op318"/>
          <p:cNvSpPr txBox="1"/>
          <p:nvPr/>
        </p:nvSpPr>
        <p:spPr>
          <a:xfrm>
            <a:off x="7077456" y="2103120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≠</a:t>
            </a:r>
            <a:endParaRPr lang="ko-KR" sz="2400" dirty="0"/>
          </a:p>
        </p:txBody>
      </p:sp>
      <p:sp>
        <p:nvSpPr>
          <p:cNvPr id="39" name="S12-num319"/>
          <p:cNvSpPr txBox="1"/>
          <p:nvPr/>
        </p:nvSpPr>
        <p:spPr>
          <a:xfrm>
            <a:off x="7741920" y="210312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40" name="S12-fracbar320"/>
          <p:cNvSpPr/>
          <p:nvPr/>
        </p:nvSpPr>
        <p:spPr>
          <a:xfrm>
            <a:off x="7778496" y="249936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1" name="S12-num321"/>
          <p:cNvSpPr txBox="1"/>
          <p:nvPr/>
        </p:nvSpPr>
        <p:spPr>
          <a:xfrm>
            <a:off x="7741920" y="253593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42" name="S12-text322"/>
          <p:cNvSpPr txBox="1"/>
          <p:nvPr/>
        </p:nvSpPr>
        <p:spPr>
          <a:xfrm>
            <a:off x="868680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1을 더함</a:t>
            </a:r>
            <a:endParaRPr lang="ko-KR" sz="2200" dirty="0"/>
          </a:p>
        </p:txBody>
      </p:sp>
      <p:sp>
        <p:nvSpPr>
          <p:cNvPr id="43" name="S12-num323"/>
          <p:cNvSpPr txBox="1"/>
          <p:nvPr/>
        </p:nvSpPr>
        <p:spPr>
          <a:xfrm>
            <a:off x="6537960" y="329184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4" name="S12-fracbar324"/>
          <p:cNvSpPr/>
          <p:nvPr/>
        </p:nvSpPr>
        <p:spPr>
          <a:xfrm>
            <a:off x="6574536" y="368808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12-num325"/>
          <p:cNvSpPr txBox="1"/>
          <p:nvPr/>
        </p:nvSpPr>
        <p:spPr>
          <a:xfrm>
            <a:off x="6537960" y="372465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46" name="S12-op326"/>
          <p:cNvSpPr txBox="1"/>
          <p:nvPr/>
        </p:nvSpPr>
        <p:spPr>
          <a:xfrm>
            <a:off x="7077456" y="3291840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≠</a:t>
            </a:r>
            <a:endParaRPr lang="ko-KR" sz="2400" dirty="0"/>
          </a:p>
        </p:txBody>
      </p:sp>
      <p:sp>
        <p:nvSpPr>
          <p:cNvPr id="47" name="S12-num327"/>
          <p:cNvSpPr txBox="1"/>
          <p:nvPr/>
        </p:nvSpPr>
        <p:spPr>
          <a:xfrm>
            <a:off x="7741920" y="329184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48" name="S12-fracbar328"/>
          <p:cNvSpPr/>
          <p:nvPr/>
        </p:nvSpPr>
        <p:spPr>
          <a:xfrm>
            <a:off x="7778496" y="368808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12-num329"/>
          <p:cNvSpPr txBox="1"/>
          <p:nvPr/>
        </p:nvSpPr>
        <p:spPr>
          <a:xfrm>
            <a:off x="7741920" y="372465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0" name="S12-text330"/>
          <p:cNvSpPr txBox="1"/>
          <p:nvPr/>
        </p:nvSpPr>
        <p:spPr>
          <a:xfrm>
            <a:off x="868680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분자에만 2를 곱함</a:t>
            </a:r>
            <a:endParaRPr lang="ko-KR" sz="2200" dirty="0"/>
          </a:p>
        </p:txBody>
      </p:sp>
      <p:sp>
        <p:nvSpPr>
          <p:cNvPr id="51" name="S12-num331"/>
          <p:cNvSpPr txBox="1"/>
          <p:nvPr/>
        </p:nvSpPr>
        <p:spPr>
          <a:xfrm>
            <a:off x="6537960" y="448056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2" name="S12-fracbar332"/>
          <p:cNvSpPr/>
          <p:nvPr/>
        </p:nvSpPr>
        <p:spPr>
          <a:xfrm>
            <a:off x="6574536" y="487680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3" name="S12-num333"/>
          <p:cNvSpPr txBox="1"/>
          <p:nvPr/>
        </p:nvSpPr>
        <p:spPr>
          <a:xfrm>
            <a:off x="6537960" y="491337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4" name="S12-op334"/>
          <p:cNvSpPr txBox="1"/>
          <p:nvPr/>
        </p:nvSpPr>
        <p:spPr>
          <a:xfrm>
            <a:off x="7077456" y="4480560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≠</a:t>
            </a:r>
            <a:endParaRPr lang="ko-KR" sz="2400" dirty="0"/>
          </a:p>
        </p:txBody>
      </p:sp>
      <p:sp>
        <p:nvSpPr>
          <p:cNvPr id="55" name="S12-num335"/>
          <p:cNvSpPr txBox="1"/>
          <p:nvPr/>
        </p:nvSpPr>
        <p:spPr>
          <a:xfrm>
            <a:off x="7741920" y="448056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6" name="S12-fracbar336"/>
          <p:cNvSpPr/>
          <p:nvPr/>
        </p:nvSpPr>
        <p:spPr>
          <a:xfrm>
            <a:off x="7778496" y="487680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7" name="S12-num337"/>
          <p:cNvSpPr txBox="1"/>
          <p:nvPr/>
        </p:nvSpPr>
        <p:spPr>
          <a:xfrm>
            <a:off x="7741920" y="491337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58" name="S12-text338"/>
          <p:cNvSpPr txBox="1"/>
          <p:nvPr/>
        </p:nvSpPr>
        <p:spPr>
          <a:xfrm>
            <a:off x="8686800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분모에만 2를 곱함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text339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1과 같은 양을 나타내는 그림을 고르고, 이유를 말해 보세요.</a:t>
            </a:r>
            <a:endParaRPr lang="ko-KR" sz="2800" dirty="0"/>
          </a:p>
        </p:txBody>
      </p:sp>
      <p:sp>
        <p:nvSpPr>
          <p:cNvPr id="4" name="S13-num340"/>
          <p:cNvSpPr txBox="1"/>
          <p:nvPr/>
        </p:nvSpPr>
        <p:spPr>
          <a:xfrm>
            <a:off x="3063240" y="210312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5" name="S13-fracbar341"/>
          <p:cNvSpPr/>
          <p:nvPr/>
        </p:nvSpPr>
        <p:spPr>
          <a:xfrm>
            <a:off x="3099816" y="252933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6" name="S13-num342"/>
          <p:cNvSpPr txBox="1"/>
          <p:nvPr/>
        </p:nvSpPr>
        <p:spPr>
          <a:xfrm>
            <a:off x="3063240" y="256590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7" name="S13-cell343"/>
          <p:cNvSpPr/>
          <p:nvPr/>
        </p:nvSpPr>
        <p:spPr>
          <a:xfrm>
            <a:off x="4206240" y="2148840"/>
            <a:ext cx="137160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344"/>
          <p:cNvSpPr/>
          <p:nvPr/>
        </p:nvSpPr>
        <p:spPr>
          <a:xfrm>
            <a:off x="5577840" y="2148840"/>
            <a:ext cx="1371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345"/>
          <p:cNvSpPr/>
          <p:nvPr/>
        </p:nvSpPr>
        <p:spPr>
          <a:xfrm>
            <a:off x="6949440" y="2148840"/>
            <a:ext cx="1371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figure346" descr="기준: 3칸 중 1칸 색칠, 3분의 1"/>
          <p:cNvSpPr/>
          <p:nvPr/>
        </p:nvSpPr>
        <p:spPr>
          <a:xfrm>
            <a:off x="4206240" y="2148840"/>
            <a:ext cx="411480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chip347"/>
          <p:cNvSpPr txBox="1"/>
          <p:nvPr/>
        </p:nvSpPr>
        <p:spPr>
          <a:xfrm>
            <a:off x="685800" y="35204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12" name="S13-cell348"/>
          <p:cNvSpPr/>
          <p:nvPr/>
        </p:nvSpPr>
        <p:spPr>
          <a:xfrm>
            <a:off x="685800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349"/>
          <p:cNvSpPr/>
          <p:nvPr/>
        </p:nvSpPr>
        <p:spPr>
          <a:xfrm>
            <a:off x="1752600" y="42976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350"/>
          <p:cNvSpPr/>
          <p:nvPr/>
        </p:nvSpPr>
        <p:spPr>
          <a:xfrm>
            <a:off x="2819400" y="42976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351"/>
          <p:cNvSpPr/>
          <p:nvPr/>
        </p:nvSpPr>
        <p:spPr>
          <a:xfrm>
            <a:off x="685800" y="50977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352"/>
          <p:cNvSpPr/>
          <p:nvPr/>
        </p:nvSpPr>
        <p:spPr>
          <a:xfrm>
            <a:off x="1752600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353"/>
          <p:cNvSpPr/>
          <p:nvPr/>
        </p:nvSpPr>
        <p:spPr>
          <a:xfrm>
            <a:off x="2819400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figure354" descr="가: 6칸 중 왼쪽 열 2칸 색칠"/>
          <p:cNvSpPr/>
          <p:nvPr/>
        </p:nvSpPr>
        <p:spPr>
          <a:xfrm>
            <a:off x="685800" y="4297680"/>
            <a:ext cx="320040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3-chip355"/>
          <p:cNvSpPr txBox="1"/>
          <p:nvPr/>
        </p:nvSpPr>
        <p:spPr>
          <a:xfrm>
            <a:off x="4498848" y="35204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0" name="S13-cell356"/>
          <p:cNvSpPr/>
          <p:nvPr/>
        </p:nvSpPr>
        <p:spPr>
          <a:xfrm>
            <a:off x="4498848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cell357"/>
          <p:cNvSpPr/>
          <p:nvPr/>
        </p:nvSpPr>
        <p:spPr>
          <a:xfrm>
            <a:off x="5565648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cell358"/>
          <p:cNvSpPr/>
          <p:nvPr/>
        </p:nvSpPr>
        <p:spPr>
          <a:xfrm>
            <a:off x="6632448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359"/>
          <p:cNvSpPr/>
          <p:nvPr/>
        </p:nvSpPr>
        <p:spPr>
          <a:xfrm>
            <a:off x="4498848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360"/>
          <p:cNvSpPr/>
          <p:nvPr/>
        </p:nvSpPr>
        <p:spPr>
          <a:xfrm>
            <a:off x="5565648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361"/>
          <p:cNvSpPr/>
          <p:nvPr/>
        </p:nvSpPr>
        <p:spPr>
          <a:xfrm>
            <a:off x="6632448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figure362" descr="나: 6칸 중 윗줄 3칸 색칠"/>
          <p:cNvSpPr/>
          <p:nvPr/>
        </p:nvSpPr>
        <p:spPr>
          <a:xfrm>
            <a:off x="4498848" y="4297680"/>
            <a:ext cx="320040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13-chip363"/>
          <p:cNvSpPr txBox="1"/>
          <p:nvPr/>
        </p:nvSpPr>
        <p:spPr>
          <a:xfrm>
            <a:off x="8321040" y="35204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28" name="S13-cell364"/>
          <p:cNvSpPr/>
          <p:nvPr/>
        </p:nvSpPr>
        <p:spPr>
          <a:xfrm>
            <a:off x="8321040" y="4297680"/>
            <a:ext cx="800100" cy="1600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365"/>
          <p:cNvSpPr/>
          <p:nvPr/>
        </p:nvSpPr>
        <p:spPr>
          <a:xfrm>
            <a:off x="9121140" y="4297680"/>
            <a:ext cx="8001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cell366"/>
          <p:cNvSpPr/>
          <p:nvPr/>
        </p:nvSpPr>
        <p:spPr>
          <a:xfrm>
            <a:off x="9921240" y="4297680"/>
            <a:ext cx="8001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3-cell367"/>
          <p:cNvSpPr/>
          <p:nvPr/>
        </p:nvSpPr>
        <p:spPr>
          <a:xfrm>
            <a:off x="10721340" y="4297680"/>
            <a:ext cx="8001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3-figure368" descr="다: 4칸 중 1칸 색칠"/>
          <p:cNvSpPr/>
          <p:nvPr/>
        </p:nvSpPr>
        <p:spPr>
          <a:xfrm>
            <a:off x="8321040" y="4297680"/>
            <a:ext cx="320040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69"/>
          <p:cNvSpPr/>
          <p:nvPr/>
        </p:nvSpPr>
        <p:spPr>
          <a:xfrm>
            <a:off x="731520" y="141732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70"/>
          <p:cNvSpPr txBox="1"/>
          <p:nvPr/>
        </p:nvSpPr>
        <p:spPr>
          <a:xfrm>
            <a:off x="1005840" y="15544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0이 아닌 같은 수를 곱하거나 나누어도 분수의 크기는 같아요.</a:t>
            </a:r>
            <a:endParaRPr lang="ko-KR" sz="2800" dirty="0"/>
          </a:p>
        </p:txBody>
      </p:sp>
      <p:sp>
        <p:nvSpPr>
          <p:cNvPr id="5" name="S14-chip371"/>
          <p:cNvSpPr txBox="1"/>
          <p:nvPr/>
        </p:nvSpPr>
        <p:spPr>
          <a:xfrm>
            <a:off x="731520" y="2834640"/>
            <a:ext cx="5212080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수로 곱하기·나누기</a:t>
            </a:r>
            <a:endParaRPr lang="ko-KR" sz="2200" dirty="0"/>
          </a:p>
        </p:txBody>
      </p:sp>
      <p:sp>
        <p:nvSpPr>
          <p:cNvPr id="6" name="S14-chip372"/>
          <p:cNvSpPr txBox="1"/>
          <p:nvPr/>
        </p:nvSpPr>
        <p:spPr>
          <a:xfrm>
            <a:off x="6217920" y="2834640"/>
            <a:ext cx="5212080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더하기·빼기</a:t>
            </a:r>
            <a:endParaRPr lang="ko-KR" sz="2200" dirty="0"/>
          </a:p>
        </p:txBody>
      </p:sp>
      <p:sp>
        <p:nvSpPr>
          <p:cNvPr id="7" name="S14-text373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374"/>
          <p:cNvSpPr txBox="1"/>
          <p:nvPr/>
        </p:nvSpPr>
        <p:spPr>
          <a:xfrm>
            <a:off x="822960" y="420624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375"/>
          <p:cNvSpPr txBox="1"/>
          <p:nvPr/>
        </p:nvSpPr>
        <p:spPr>
          <a:xfrm>
            <a:off x="1512316" y="42062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0" name="S14-fracbar376"/>
          <p:cNvSpPr/>
          <p:nvPr/>
        </p:nvSpPr>
        <p:spPr>
          <a:xfrm>
            <a:off x="1548892" y="4632452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377"/>
          <p:cNvSpPr txBox="1"/>
          <p:nvPr/>
        </p:nvSpPr>
        <p:spPr>
          <a:xfrm>
            <a:off x="1512316" y="46690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2" name="S14-op378"/>
          <p:cNvSpPr txBox="1"/>
          <p:nvPr/>
        </p:nvSpPr>
        <p:spPr>
          <a:xfrm>
            <a:off x="2078482" y="4206240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13" name="S14-blank379"/>
          <p:cNvSpPr/>
          <p:nvPr/>
        </p:nvSpPr>
        <p:spPr>
          <a:xfrm>
            <a:off x="2666980" y="4256893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4" name="S14-fracbar380"/>
          <p:cNvSpPr/>
          <p:nvPr/>
        </p:nvSpPr>
        <p:spPr>
          <a:xfrm>
            <a:off x="2619502" y="4632452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381"/>
          <p:cNvSpPr txBox="1"/>
          <p:nvPr/>
        </p:nvSpPr>
        <p:spPr>
          <a:xfrm>
            <a:off x="2582926" y="46690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6" name="S14-op382"/>
          <p:cNvSpPr txBox="1"/>
          <p:nvPr/>
        </p:nvSpPr>
        <p:spPr>
          <a:xfrm>
            <a:off x="4206240" y="420624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383"/>
          <p:cNvSpPr txBox="1"/>
          <p:nvPr/>
        </p:nvSpPr>
        <p:spPr>
          <a:xfrm>
            <a:off x="4895596" y="4206240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8" name="S14-fracbar384"/>
          <p:cNvSpPr/>
          <p:nvPr/>
        </p:nvSpPr>
        <p:spPr>
          <a:xfrm>
            <a:off x="4932172" y="4632452"/>
            <a:ext cx="474472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385"/>
          <p:cNvSpPr txBox="1"/>
          <p:nvPr/>
        </p:nvSpPr>
        <p:spPr>
          <a:xfrm>
            <a:off x="4895596" y="466902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20" name="S14-op386"/>
          <p:cNvSpPr txBox="1"/>
          <p:nvPr/>
        </p:nvSpPr>
        <p:spPr>
          <a:xfrm>
            <a:off x="5552948" y="4206240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1" name="S14-num387"/>
          <p:cNvSpPr txBox="1"/>
          <p:nvPr/>
        </p:nvSpPr>
        <p:spPr>
          <a:xfrm>
            <a:off x="6057392" y="42062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" name="S14-fracbar388"/>
          <p:cNvSpPr/>
          <p:nvPr/>
        </p:nvSpPr>
        <p:spPr>
          <a:xfrm>
            <a:off x="6093968" y="4632452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blank389"/>
          <p:cNvSpPr/>
          <p:nvPr/>
        </p:nvSpPr>
        <p:spPr>
          <a:xfrm>
            <a:off x="6141446" y="471968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4" name="S14-text390"/>
          <p:cNvSpPr txBox="1"/>
          <p:nvPr/>
        </p:nvSpPr>
        <p:spPr>
          <a:xfrm>
            <a:off x="7680960" y="4343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5분의 2와 크기가 같은 분수 하나</a:t>
            </a:r>
            <a:endParaRPr lang="ko-KR" sz="2200" dirty="0"/>
          </a:p>
        </p:txBody>
      </p:sp>
      <p:sp>
        <p:nvSpPr>
          <p:cNvPr id="25" name="S14-text391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약분 — 크기가 같은 분수 중에서 가장 간단한 분수 찾기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똑같이 나누기와 분수</a:t>
            </a:r>
            <a:endParaRPr lang="ko-KR" sz="4000" dirty="0"/>
          </a:p>
        </p:txBody>
      </p:sp>
      <p:sp>
        <p:nvSpPr>
          <p:cNvPr id="3" name="S15-cell392"/>
          <p:cNvSpPr/>
          <p:nvPr/>
        </p:nvSpPr>
        <p:spPr>
          <a:xfrm>
            <a:off x="548640" y="1554480"/>
            <a:ext cx="141732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5-cell393"/>
          <p:cNvSpPr/>
          <p:nvPr/>
        </p:nvSpPr>
        <p:spPr>
          <a:xfrm>
            <a:off x="1965960" y="1554480"/>
            <a:ext cx="1417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5-cell394"/>
          <p:cNvSpPr/>
          <p:nvPr/>
        </p:nvSpPr>
        <p:spPr>
          <a:xfrm>
            <a:off x="3383280" y="1554480"/>
            <a:ext cx="1417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cell395"/>
          <p:cNvSpPr/>
          <p:nvPr/>
        </p:nvSpPr>
        <p:spPr>
          <a:xfrm>
            <a:off x="4800600" y="1554480"/>
            <a:ext cx="1417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figure396" descr="똑같이 4칸, 1칸 색칠"/>
          <p:cNvSpPr/>
          <p:nvPr/>
        </p:nvSpPr>
        <p:spPr>
          <a:xfrm>
            <a:off x="548640" y="1554480"/>
            <a:ext cx="5669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text397"/>
          <p:cNvSpPr txBox="1"/>
          <p:nvPr/>
        </p:nvSpPr>
        <p:spPr>
          <a:xfrm>
            <a:off x="548640" y="2560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4로 나눈 것 중의 1</a:t>
            </a:r>
            <a:endParaRPr lang="ko-KR" sz="2800" dirty="0"/>
          </a:p>
        </p:txBody>
      </p:sp>
      <p:sp>
        <p:nvSpPr>
          <p:cNvPr id="9" name="S15-num398"/>
          <p:cNvSpPr txBox="1"/>
          <p:nvPr/>
        </p:nvSpPr>
        <p:spPr>
          <a:xfrm>
            <a:off x="6629400" y="146304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10" name="S15-fracbar399"/>
          <p:cNvSpPr/>
          <p:nvPr/>
        </p:nvSpPr>
        <p:spPr>
          <a:xfrm>
            <a:off x="6665976" y="209905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15-num400"/>
          <p:cNvSpPr txBox="1"/>
          <p:nvPr/>
        </p:nvSpPr>
        <p:spPr>
          <a:xfrm>
            <a:off x="6629400" y="2135632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2" name="S15-text401"/>
          <p:cNvSpPr txBox="1"/>
          <p:nvPr/>
        </p:nvSpPr>
        <p:spPr>
          <a:xfrm>
            <a:off x="7589520" y="1554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분자: 색칠한 칸 수</a:t>
            </a:r>
            <a:endParaRPr lang="ko-KR" sz="2200" dirty="0"/>
          </a:p>
        </p:txBody>
      </p:sp>
      <p:sp>
        <p:nvSpPr>
          <p:cNvPr id="13" name="S15-text402"/>
          <p:cNvSpPr txBox="1"/>
          <p:nvPr/>
        </p:nvSpPr>
        <p:spPr>
          <a:xfrm>
            <a:off x="7589520" y="2331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분모: 똑같이 나눈 칸 수</a:t>
            </a:r>
            <a:endParaRPr lang="ko-KR" sz="2200" dirty="0"/>
          </a:p>
        </p:txBody>
      </p:sp>
      <p:sp>
        <p:nvSpPr>
          <p:cNvPr id="14" name="S15-chip403"/>
          <p:cNvSpPr txBox="1"/>
          <p:nvPr/>
        </p:nvSpPr>
        <p:spPr>
          <a:xfrm>
            <a:off x="548640" y="3703320"/>
            <a:ext cx="2926080" cy="548640"/>
          </a:xfrm>
          <a:prstGeom prst="roundRect">
            <a:avLst>
              <a:gd name="adj" fmla="val 26667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해 보기</a:t>
            </a:r>
            <a:endParaRPr lang="ko-KR" sz="2200" dirty="0"/>
          </a:p>
        </p:txBody>
      </p:sp>
      <p:sp>
        <p:nvSpPr>
          <p:cNvPr id="15" name="S15-cell404"/>
          <p:cNvSpPr/>
          <p:nvPr/>
        </p:nvSpPr>
        <p:spPr>
          <a:xfrm>
            <a:off x="548640" y="4526280"/>
            <a:ext cx="128016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cell405"/>
          <p:cNvSpPr/>
          <p:nvPr/>
        </p:nvSpPr>
        <p:spPr>
          <a:xfrm>
            <a:off x="1828800" y="4526280"/>
            <a:ext cx="128016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cell406"/>
          <p:cNvSpPr/>
          <p:nvPr/>
        </p:nvSpPr>
        <p:spPr>
          <a:xfrm>
            <a:off x="3108960" y="4526280"/>
            <a:ext cx="1280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figure407" descr="똑같이 3칸, 2칸 색칠"/>
          <p:cNvSpPr/>
          <p:nvPr/>
        </p:nvSpPr>
        <p:spPr>
          <a:xfrm>
            <a:off x="548640" y="4526280"/>
            <a:ext cx="3840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5-op408"/>
          <p:cNvSpPr txBox="1"/>
          <p:nvPr/>
        </p:nvSpPr>
        <p:spPr>
          <a:xfrm>
            <a:off x="4572000" y="434340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20" name="S15-blank409"/>
          <p:cNvSpPr/>
          <p:nvPr/>
        </p:nvSpPr>
        <p:spPr>
          <a:xfrm>
            <a:off x="5345410" y="4394053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15-fracbar410"/>
          <p:cNvSpPr/>
          <p:nvPr/>
        </p:nvSpPr>
        <p:spPr>
          <a:xfrm>
            <a:off x="5297932" y="476961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2" name="S15-blank411"/>
          <p:cNvSpPr/>
          <p:nvPr/>
        </p:nvSpPr>
        <p:spPr>
          <a:xfrm>
            <a:off x="5345410" y="485684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15-cell412"/>
          <p:cNvSpPr/>
          <p:nvPr/>
        </p:nvSpPr>
        <p:spPr>
          <a:xfrm>
            <a:off x="6400800" y="4526280"/>
            <a:ext cx="768096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413"/>
          <p:cNvSpPr/>
          <p:nvPr/>
        </p:nvSpPr>
        <p:spPr>
          <a:xfrm>
            <a:off x="7168896" y="4526280"/>
            <a:ext cx="768096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414"/>
          <p:cNvSpPr/>
          <p:nvPr/>
        </p:nvSpPr>
        <p:spPr>
          <a:xfrm>
            <a:off x="7936992" y="4526280"/>
            <a:ext cx="76809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415"/>
          <p:cNvSpPr/>
          <p:nvPr/>
        </p:nvSpPr>
        <p:spPr>
          <a:xfrm>
            <a:off x="8705088" y="4526280"/>
            <a:ext cx="76809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cell416"/>
          <p:cNvSpPr/>
          <p:nvPr/>
        </p:nvSpPr>
        <p:spPr>
          <a:xfrm>
            <a:off x="9473184" y="4526280"/>
            <a:ext cx="76809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figure417" descr="똑같이 5칸, 2칸 색칠"/>
          <p:cNvSpPr/>
          <p:nvPr/>
        </p:nvSpPr>
        <p:spPr>
          <a:xfrm>
            <a:off x="6400800" y="4526280"/>
            <a:ext cx="3840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15-op418"/>
          <p:cNvSpPr txBox="1"/>
          <p:nvPr/>
        </p:nvSpPr>
        <p:spPr>
          <a:xfrm>
            <a:off x="10424160" y="434340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30" name="S15-blank419"/>
          <p:cNvSpPr/>
          <p:nvPr/>
        </p:nvSpPr>
        <p:spPr>
          <a:xfrm>
            <a:off x="11197570" y="4394053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15-fracbar420"/>
          <p:cNvSpPr/>
          <p:nvPr/>
        </p:nvSpPr>
        <p:spPr>
          <a:xfrm>
            <a:off x="11150092" y="476961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2" name="S15-blank421"/>
          <p:cNvSpPr/>
          <p:nvPr/>
        </p:nvSpPr>
        <p:spPr>
          <a:xfrm>
            <a:off x="11197570" y="485684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크기가 같은 분수</dc:title>
  <dc:subject>KR22-G05-MAT-FRAC-EQUIV-L01</dc:subject>
  <dc:creator>education-ppt</dc:creator>
  <cp:lastModifiedBy>education-ppt</cp:lastModifiedBy>
  <cp:revision>1</cp:revision>
  <dcterms:created xsi:type="dcterms:W3CDTF">2026-10-26T07:48:08Z</dcterms:created>
  <dcterms:modified xsi:type="dcterms:W3CDTF">2026-10-26T07:48:08Z</dcterms:modified>
</cp:coreProperties>
</file>