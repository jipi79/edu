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59fa85c-99e6-a94e-fc0e-ec2b30eae6b4}">
          <p14:sldIdLst>
            <p14:sldId id="256"/>
            <p14:sldId id="257"/>
          </p14:sldIdLst>
        </p14:section>
        <p14:section name="개념" id="{dc915966-6f39-f7dc-4327-c0d702f4f04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a8972c97-b3a5-fda1-c7c5-d9bab8e91322}">
          <p14:sldIdLst>
            <p14:sldId id="264"/>
            <p14:sldId id="265"/>
          </p14:sldIdLst>
        </p14:section>
        <p14:section name="확인" id="{308e7c74-ae3f-425f-d797-2ab4ffe2fed1}">
          <p14:sldIdLst>
            <p14:sldId id="266"/>
            <p14:sldId id="267"/>
            <p14:sldId id="268"/>
          </p14:sldIdLst>
        </p14:section>
        <p14:section name="정리" id="{74edaaec-b353-ff61-f699-f714b29df0d6}">
          <p14:sldIdLst>
            <p14:sldId id="269"/>
          </p14:sldIdLst>
        </p14:section>
        <p14:section name="보충" id="{ddf2b40e-2ed8-1479-9872-6ee8d6a9f49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풀 질문을 보여 주고 아이가 먼저 예상하게 합니다.
시간: 약 2분
이렇게 말해 보세요
- “2분의 1과 4분의 2, 숫자는 다른데 양은 같을까, 다를까? 먼저 예상만 해 보자.”
- “틀려도 괜찮아. 오늘 끝날 때 다시 물어볼 거야.”
예상 답
- “달라요. 4분의 2가 숫자가 더 크니까 더 커요.”
- “같아요.” / “모르겠어요.”
막히면
- 예상이 맞는지는 아직 말해 주지 않습니다. 아이가 고른 예상을 종이에 적어 두고 S13 뒤에 다시 봅니다.
주의
- 목표 두 가지를 소리 내어 읽어 주고, 아이에게 ‘오늘 할 일’이 무엇인지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오늘 수업에 꼭 필요한 ‘똑같이 나누기’와 ‘분수의 뜻’을 알고 있는지 확인합니다.
시간: 약 3분
이렇게 말해 보세요
- “어느 띠가 똑같이 나누어져 있어? 칸의 크기를 손가락으로 재 봐도 돼.”
- “가는 색칠한 부분이 전체의 얼마야? 라는?”
예상 답
- 가, 라를 고릅니다.
- 가는 4분의 1, 라는 3분의 2입니다.
정답
- 똑같이 나누어진 띠: 가, 라
- 가 = 4분의 1, 라 = 3분의 2
- 나와 다는 칸의 크기가 달라서 분수로 나타낼 수 없습니다.
막히면
- 나를 ‘4분의 1’이라고 하면: 칸 크기를 직접 비교하게 하고 “분수는 똑같이 나눌 때만 쓸 수 있어”라고 정리합니다.
- 분자와 분모를 바꾸어 말하거나 두 가지를 다 틀리면 S15(보충)로 가서 5분 정도 연습한 뒤 S03으로 돌아옵니다.
주의
- 여기서 막히는 것은 실패가 아닙니다. 선수 학습을 먼저 채우는 것이 이 수업의 첫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생활 상황 제시]
목적: 직접 해 보기 전에 결과를 예상하게 합니다. 예상이 있어야 확인하는 재미와 의미가 생깁니다.
시간: 약 2분
이렇게 말해 보세요
- “두 띠의 길이가 같다는 게 중요해. 가는 1칸, 나는 2칸을 색칠하면 어느 쪽이 더 길까?”
- “① 가가 더 길다 ② 나가 더 길다 ③ 같다 중에서 골라 볼래?”
예상 답
- “나가 더 길어요. 2칸이니까요.”
- “같아요.”
막히면
- 아이가 칸 수만 보고 판단하면 “칸의 크기는 어때?”라고 되묻습니다. 정답은 아직 말하지 않습니다.
주의
- M1 오개념 예방: ‘전체(띠)의 길이가 같다’는 조건을 아이 입으로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직접 만들어 보기]
목적: 종이 띠를 직접 접고 겹쳐 보면서 2분의 1과 4분의 2가 같은 양임을 눈으로 확인합니다.
시간: 약 7분
이렇게 말해 보세요
- “같이 접어 보자. 반으로 접으면 몇 칸이 생겨?”
- “다른 띠는 반으로 접고, 접은 채로 또 반으로 접어 봐. 펴면 몇 칸이야?”
- “두 띠를 위아래로 맞춰 놓아 봐. 무엇이 보여?”
예상 답
- “색칠한 끝이 딱 맞아요.”
- “나는 칸이 많은데 길이는 똑같아요.”
막히면
- 접는 것이 어려우면 부모가 접고 아이가 색칠만 해도 됩니다.
- 띠 끝이 맞지 않으면 두 띠의 왼쪽 끝을 먼저 맞추게 합니다.
주의
- 접기 전에 두 띠의 길이가 같은지 겹쳐서 확인합니다. 활동이 끝난 띠는 S05~S07에서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그림으로 설명]
목적: 종이 띠 활동의 결과를 그림으로 정리합니다. 무엇이 바뀌고 무엇이 그대로인지 구별하게 합니다.
시간: 약 4분
이렇게 말해 보세요
- “점선을 따라가 봐. 색칠한 끝이 어디서 만나?”
- “위 띠에서 아래 띠로 가면서 무엇이 바뀌었어? 무엇이 그대로야?”
- “이제 엄마(아빠)에게 왜 같은지 설명해 줄래?”
예상 답
- “칸이 2개에서 4개로 늘었어요. 한 칸이 작아졌어요. 색칠한 길이는 같아요.”
막히면
- S04의 종이 띠를 다시 겹쳐 보게 합니다.
- “한 칸을 반으로 자르면 조각은 몇 개가 될까?”처럼 한 칸만 보게 합니다.
주의
- 목표 A의 핵심 장면입니다. 아이가 자기 말로 ‘전체가 같고, 색칠한 양이 같다’를 말하면 활동지에 그 말을 그대로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기호로 연결]
목적: 그림으로 확인한 사실을 등호(=)로 나타냅니다.
시간: 약 3분
이렇게 말해 보세요
- “세 띠 모두 색칠한 끝이 점선에서 만나지? 그러면 세 분수는 같은 양이야.”
- “같은 양이니까 등호(=)로 이을 수 있어.”
- “8칸으로 나누면 몇 칸을 색칠해야 같은 양이 될까?”
예상 답
- “8칸 중 4칸이요.” → 8분의 4
막히면
- 6칸 띠를 손가락으로 세면서 색칠한 칸이 3칸인지 확인하게 합니다.
주의
- ‘크기가 같은 분수’라는 이름보다 ‘같은 양을 나타낸다’는 뜻이 더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변환 시범(곱하기)]
목적: 그림의 변화(한 칸을 똑같이 나누기)를 식의 변화(분자·분모에 같은 수 곱하기)와 연결합니다.
시간: 약 5분
이렇게 말해 보세요
- “한 칸을 둘로 나누면 전체 칸 수는 몇 배가 돼? 색칠한 칸 수는?”
- “그래서 분모에도 2를 곱하고, 분자에도 2를 곱하는 거야.”
- “한 칸을 셋으로 나누면 어떻게 될까?” → 6분의 3
예상 답
- “둘 다 2배가 돼요.”
- “셋으로 나누면 6칸 중 3칸이요.”
막히면
- 종이 띠의 한 칸에 연필로 선을 하나 더 그어 보게 합니다.
주의
- 0을 곱하면 분모가 0이 되어 분수가 될 수 없습니다. 아이가 물으면 “0칸으로 나눌 수는 없지?”라고 설명합니다.
- 규칙만 외우지 않도록 ‘왜 둘 다 곱해야 하는지’를 그림으로 한 번 더 말하게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나누는 경우]
목적: 나누기로도 크기가 같은 분수를 만들 수 있고, 둘 다 나누어떨어질 때만 가능함을 압니다.
시간: 약 4분
이렇게 말해 보세요
- “8칸 띠를 2칸씩 묶으면 묶음이 몇 개야? 색칠한 묶음은?”
- “그래서 분모 8도 2로 나누고, 분자 6도 2로 나누는 거야.”
- “3으로 나누면 어떻게 될까? 8은 3으로 나누어떨어져?”
예상 답
- “묶음은 4개, 색칠한 묶음은 3개예요.”
- “8 ÷ 3은 안 돼요.”
막히면
- 8칸 띠에 2칸씩 동그라미를 그려 묶게 합니다.
주의
- 이 수업에서는 ‘가장 간단한 분수로 만들기(약분)’까지 가지 않습니다. 다음 차시 내용입니다.
- 아이가 지쳐 보이면 이 장 다음에 쉬거나 다음 날 S09부터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연습]
목적: 도움을 받으며 빈칸 문제를 풀고, 그림과 식 중 편한 방법으로 확인합니다.
시간: 약 5분
이렇게 말해 보세요
- “①은 분모가 3에서 6이 됐어. 몇 배야? 그러면 분자는?”
- “②는 분자가 1에서 3이 됐어. 분모는 어떻게 해야 할까?”
- “③은 곱하기일까, 나누기일까?”
정답
- ① 4 (분자와 분모에 2를 곱함: 3분의 2 = 6분의 4)
- ② 12 (분자와 분모에 3을 곱함)
- ③ 3 (분자와 분모를 2로 나눔)
막히면
- ①은 오른쪽 6칸 띠에 직접 색칠하게 합니다. 4칸을 색칠하면 위 띠와 끝이 맞습니다.
- ②가 어려우면 “1에 무엇을 곱하면 3이 돼?”처럼 곱셈구구로 바꾸어 묻습니다.
주의
- 정답을 말한 뒤에는 꼭 “어떻게 알았어?”라고 묻고 방법을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비교]
목적: 흔한 오개념(M2)을 그림으로 직접 반박하게 합니다.
시간: 약 4분
이렇게 말해 보세요
- “이 친구 말이 맞는지 그림으로 확인해 보자. 색칠한 끝이 점선에서 만나?”
- “그러면 분자와 분모에 1을 더해도 될까? 왜?”
예상 답
- “아니요. 3분의 2가 더 길어요.”
- “더하면 안 되고 곱해야 해요.”
정답
- 주장은 틀렸습니다. 2분의 1과 3분의 2는 크기가 다릅니다(3분의 2가 더 큼).
- 한 칸을 똑같이 나누는 것은 곱셈과 같습니다. 더하기는 칸을 새로 끼워 넣는 것이라 양이 변합니다.
막히면
- 종이 띠 하나를 3칸으로 접어 2칸을 색칠하고 S04의 2분의 1 띠와 겹쳐 보게 합니다.
주의
- 아이가 ‘2분의 2 → 3분의 3’처럼 1을 더해도 같은 예를 찾으면 칭찬합니다. 분자와 분모가 같은 분수(크기가 1)일 때만 그렇고, 그래서 ‘항상’ 맞는 방법은 아닙니다.
- 심화(선택): 3분의 2와 4분의 3도 같지 않습니다. 둘 다 12칸으로 나누면 12분의 8과 12분의 9입니다. 12칸 나누기가 어렵다면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목표 B를 수행하는지 확인합니다.
시간: 약 5분
이렇게 말해 보세요
- “이번에는 혼자 해 보자. 다 하면 방법도 설명해 줘.”
- “어려우면 오른쪽 띠를 써도 돼.”
예상 답
- 8분의 6, 12분의 9, 16분의 12 등
정답
- 분자와 분모에 같은 수를 곱한 분수는 모두 정답입니다: 8분의 6(×2), 12분의 9(×3), 16분의 12(×4), 20분의 15(×5) …
막히면
- 바로 답을 알려 주지 말고 “S07에서 무엇을 곱했지?”라고 되묻습니다.
- 그래도 어려우면 첫 번째 분수는 함께 만들고 두 번째만 혼자 하게 합니다. 이 경우 ‘도움을 받아 성공’으로 기록합니다.
주의
- 답을 확인하기 전에 아이가 방법을 먼저 말하게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정답 예와 흔한 실수에 비교하고 스스로 고치게 합니다.
시간: 약 3분
이렇게 말해 보세요
- “네 답은 왼쪽에 있어, 오른쪽에 있어? 왼쪽에 없어도 분자와 분모에 같은 수를 곱했으면 정답이야.”
- “오른쪽 실수는 왜 틀렸을까?”
예상 답
- “1을 더하면 안 돼요.” “분자만 바꾸면 안 돼요.”
정답
- 정답: 분자와 분모에 같은 수를 곱한 분수(8분의 6, 12분의 9, 16분의 12 …)
- 4분의 3 ≠ 5분의 4, 4분의 3 ≠ 4분의 6, 4분의 3 ≠ 8분의 3
막히면
- 틀린 답은 지우지 말고 옆에 고친 답을 쓰게 합니다. 무엇을 고쳤는지 말하게 합니다.
주의
- 이 장은 학생용 배포본에서 빠집니다(정답 장).
- S11에서 두 개 모두 맞히고 방법을 설명했으면 목표 B는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그림에서 목표 A(같은 양인 이유 설명)를 확인합니다.
시간: 약 3분
이렇게 말해 보세요
- “세 그림 모두 기준 그림과 크기가 같아. 어느 것이 3분의 1과 같은 양이야? 왜?”
예상 답
- “가요. 6칸 중 2칸이라 6분의 2인데, 3분의 1의 칸을 둘로 나눈 거예요.”
정답
- 가 (6분의 2 = 3분의 1)
- 나는 6분의 3 = 2분의 1이라서 더 큽니다.
- 다는 4분의 1이라서 더 작습니다.
막히면
- 가 그림의 색칠한 두 칸을 손으로 가리고 기준 그림의 색칠한 칸과 비교하게 합니다.
주의
- 이유까지 말하면 목표 A 확인 완료입니다. 답만 맞히면 ‘이유 설명 필요’로 기록하고 다음 수업 시작 때 다시 묻습니다.
- S01에서 적어 둔 아이의 예상을 다시 보여 주고 “이제 답을 알겠어?”라고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한 문장으로 정리하고 다음 수업의 복습 문제를 알려 줍니다.
시간: 약 2분
이렇게 말해 보세요
- “오늘 배운 것을 한 문장으로 말해 볼래?”
- “다음 수업을 시작할 때 이 세 문제를 먼저 풀 거야.”
예상 답
- “분자랑 분모에 같은 수를 곱하면 크기가 같아요.”
정답
- ① 3 ② 3 ③ 10분의 4, 15분의 6 등 (분자와 분모에 같은 수를 곱한 분수)
막히면
- 한 문장 정리가 어려우면 화면의 문장을 함께 읽고 “곱하기·나누기는 ○, 더하기·빼기는 ×”만 따라 말하게 합니다.
주의
- 복습 날짜는 실제 공부 일정에 맞춰 정합니다. 다음 수업 첫 5분에 이 세 문제를 먼저 풀게 하세요.
- S11·S13 결과를 활동지에 기록해 두면 다음 차시(약분)로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보충(필요할 때만)]
목적: S02에서 ‘똑같이 나누기’나 ‘분자·분모의 뜻’이 흔들린 경우에만 사용합니다.
시간: 약 5분
이렇게 말해 보세요
- “분모는 전체를 똑같이 몇 칸으로 나눴는지, 분자는 그중 몇 칸인지야.”
- “아래 두 띠를 분수로 써 볼래?”
정답
- 왼쪽: 3분의 2, 오른쪽: 5분의 2
막히면
- 종이 띠를 3칸으로 접어 2칸을 색칠하는 활동으로 바꿉니다.
주의
- 이 장이 오래 걸리면 오늘은 여기까지만 하고, ‘크기가 같은 분수’는 다음 날 S02부터 다시 시작합니다. 선수 학습이 더 많이 비어 있으면 초3 분수 차시가 먼저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89611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61491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65149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61491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6908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97680"/>
            <a:ext cx="296265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04292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07949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04292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715768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26288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29946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26288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8006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1202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84860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1202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095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5460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095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8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8635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001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8635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6968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6449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083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083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6449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6968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083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6449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6968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08760"/>
            <a:ext cx="5577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2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233168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269744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233168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2547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1915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2547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2907792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5866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5234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5866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흔한 실수</a:t>
            </a:r>
            <a:endParaRPr lang="ko-KR" sz="4000" dirty="0"/>
          </a:p>
        </p:txBody>
      </p:sp>
      <p:sp>
        <p:nvSpPr>
          <p:cNvPr id="3" name="S12-chip283"/>
          <p:cNvSpPr txBox="1"/>
          <p:nvPr/>
        </p:nvSpPr>
        <p:spPr>
          <a:xfrm>
            <a:off x="548640" y="1325880"/>
            <a:ext cx="5394960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 예 (모두 맞아요)</a:t>
            </a:r>
            <a:endParaRPr lang="ko-KR" sz="2200" dirty="0"/>
          </a:p>
        </p:txBody>
      </p:sp>
      <p:sp>
        <p:nvSpPr>
          <p:cNvPr id="4" name="S12-num284"/>
          <p:cNvSpPr txBox="1"/>
          <p:nvPr/>
        </p:nvSpPr>
        <p:spPr>
          <a:xfrm>
            <a:off x="685800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" name="S12-fracbar285"/>
          <p:cNvSpPr/>
          <p:nvPr/>
        </p:nvSpPr>
        <p:spPr>
          <a:xfrm>
            <a:off x="722376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num286"/>
          <p:cNvSpPr txBox="1"/>
          <p:nvPr/>
        </p:nvSpPr>
        <p:spPr>
          <a:xfrm>
            <a:off x="685800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7" name="S12-op287"/>
          <p:cNvSpPr txBox="1"/>
          <p:nvPr/>
        </p:nvSpPr>
        <p:spPr>
          <a:xfrm>
            <a:off x="1278636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8" name="S12-num288"/>
          <p:cNvSpPr txBox="1"/>
          <p:nvPr/>
        </p:nvSpPr>
        <p:spPr>
          <a:xfrm>
            <a:off x="1793748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9" name="S12-fracbar289"/>
          <p:cNvSpPr/>
          <p:nvPr/>
        </p:nvSpPr>
        <p:spPr>
          <a:xfrm>
            <a:off x="1830324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num290"/>
          <p:cNvSpPr txBox="1"/>
          <p:nvPr/>
        </p:nvSpPr>
        <p:spPr>
          <a:xfrm>
            <a:off x="1793748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1" name="S12-op291"/>
          <p:cNvSpPr txBox="1"/>
          <p:nvPr/>
        </p:nvSpPr>
        <p:spPr>
          <a:xfrm>
            <a:off x="2386584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2" name="S12-num292"/>
          <p:cNvSpPr txBox="1"/>
          <p:nvPr/>
        </p:nvSpPr>
        <p:spPr>
          <a:xfrm>
            <a:off x="2901696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3" name="S12-fracbar293"/>
          <p:cNvSpPr/>
          <p:nvPr/>
        </p:nvSpPr>
        <p:spPr>
          <a:xfrm>
            <a:off x="2938272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num294"/>
          <p:cNvSpPr txBox="1"/>
          <p:nvPr/>
        </p:nvSpPr>
        <p:spPr>
          <a:xfrm>
            <a:off x="2901696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5" name="S12-op295"/>
          <p:cNvSpPr txBox="1"/>
          <p:nvPr/>
        </p:nvSpPr>
        <p:spPr>
          <a:xfrm>
            <a:off x="3588512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6" name="S12-num296"/>
          <p:cNvSpPr txBox="1"/>
          <p:nvPr/>
        </p:nvSpPr>
        <p:spPr>
          <a:xfrm>
            <a:off x="4103624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7" name="S12-fracbar297"/>
          <p:cNvSpPr/>
          <p:nvPr/>
        </p:nvSpPr>
        <p:spPr>
          <a:xfrm>
            <a:off x="4140200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num298"/>
          <p:cNvSpPr txBox="1"/>
          <p:nvPr/>
        </p:nvSpPr>
        <p:spPr>
          <a:xfrm>
            <a:off x="4103624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800" dirty="0"/>
          </a:p>
        </p:txBody>
      </p:sp>
      <p:sp>
        <p:nvSpPr>
          <p:cNvPr id="19" name="S12-cell299"/>
          <p:cNvSpPr/>
          <p:nvPr/>
        </p:nvSpPr>
        <p:spPr>
          <a:xfrm>
            <a:off x="54864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300"/>
          <p:cNvSpPr/>
          <p:nvPr/>
        </p:nvSpPr>
        <p:spPr>
          <a:xfrm>
            <a:off x="189738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cell301"/>
          <p:cNvSpPr/>
          <p:nvPr/>
        </p:nvSpPr>
        <p:spPr>
          <a:xfrm>
            <a:off x="324612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2-cell302"/>
          <p:cNvSpPr/>
          <p:nvPr/>
        </p:nvSpPr>
        <p:spPr>
          <a:xfrm>
            <a:off x="4594860" y="3246120"/>
            <a:ext cx="13487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figure303" descr="4분의 3"/>
          <p:cNvSpPr/>
          <p:nvPr/>
        </p:nvSpPr>
        <p:spPr>
          <a:xfrm>
            <a:off x="548640" y="32461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2-cell304"/>
          <p:cNvSpPr/>
          <p:nvPr/>
        </p:nvSpPr>
        <p:spPr>
          <a:xfrm>
            <a:off x="54864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305"/>
          <p:cNvSpPr/>
          <p:nvPr/>
        </p:nvSpPr>
        <p:spPr>
          <a:xfrm>
            <a:off x="122301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306"/>
          <p:cNvSpPr/>
          <p:nvPr/>
        </p:nvSpPr>
        <p:spPr>
          <a:xfrm>
            <a:off x="189738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307"/>
          <p:cNvSpPr/>
          <p:nvPr/>
        </p:nvSpPr>
        <p:spPr>
          <a:xfrm>
            <a:off x="257175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308"/>
          <p:cNvSpPr/>
          <p:nvPr/>
        </p:nvSpPr>
        <p:spPr>
          <a:xfrm>
            <a:off x="324612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cell309"/>
          <p:cNvSpPr/>
          <p:nvPr/>
        </p:nvSpPr>
        <p:spPr>
          <a:xfrm>
            <a:off x="392049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2-cell310"/>
          <p:cNvSpPr/>
          <p:nvPr/>
        </p:nvSpPr>
        <p:spPr>
          <a:xfrm>
            <a:off x="459486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cell311"/>
          <p:cNvSpPr/>
          <p:nvPr/>
        </p:nvSpPr>
        <p:spPr>
          <a:xfrm>
            <a:off x="526923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2-figure312" descr="8분의 6"/>
          <p:cNvSpPr/>
          <p:nvPr/>
        </p:nvSpPr>
        <p:spPr>
          <a:xfrm>
            <a:off x="548640" y="39319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2-text313"/>
          <p:cNvSpPr txBox="1"/>
          <p:nvPr/>
        </p:nvSpPr>
        <p:spPr>
          <a:xfrm>
            <a:off x="548640" y="46634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예: 분자와 분모에 똑같이 2를 곱했어요. 한 칸을 둘로 나누면 칸 수도 색칠한 칸 수도 2배가 돼요.</a:t>
            </a:r>
            <a:endParaRPr lang="ko-KR" sz="2200" dirty="0"/>
          </a:p>
        </p:txBody>
      </p:sp>
      <p:sp>
        <p:nvSpPr>
          <p:cNvPr id="34" name="S12-chip314"/>
          <p:cNvSpPr txBox="1"/>
          <p:nvPr/>
        </p:nvSpPr>
        <p:spPr>
          <a:xfrm>
            <a:off x="6400800" y="1325880"/>
            <a:ext cx="5212080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35" name="S12-num315"/>
          <p:cNvSpPr txBox="1"/>
          <p:nvPr/>
        </p:nvSpPr>
        <p:spPr>
          <a:xfrm>
            <a:off x="6537960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12-fracbar316"/>
          <p:cNvSpPr/>
          <p:nvPr/>
        </p:nvSpPr>
        <p:spPr>
          <a:xfrm>
            <a:off x="6574536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2-num317"/>
          <p:cNvSpPr txBox="1"/>
          <p:nvPr/>
        </p:nvSpPr>
        <p:spPr>
          <a:xfrm>
            <a:off x="6537960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8" name="S12-op318"/>
          <p:cNvSpPr txBox="1"/>
          <p:nvPr/>
        </p:nvSpPr>
        <p:spPr>
          <a:xfrm>
            <a:off x="7077456" y="210312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39" name="S12-num319"/>
          <p:cNvSpPr txBox="1"/>
          <p:nvPr/>
        </p:nvSpPr>
        <p:spPr>
          <a:xfrm>
            <a:off x="7741920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0" name="S12-fracbar320"/>
          <p:cNvSpPr/>
          <p:nvPr/>
        </p:nvSpPr>
        <p:spPr>
          <a:xfrm>
            <a:off x="7778496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2-num321"/>
          <p:cNvSpPr txBox="1"/>
          <p:nvPr/>
        </p:nvSpPr>
        <p:spPr>
          <a:xfrm>
            <a:off x="7741920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42" name="S12-text322"/>
          <p:cNvSpPr txBox="1"/>
          <p:nvPr/>
        </p:nvSpPr>
        <p:spPr>
          <a:xfrm>
            <a:off x="8686800" y="2194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1을 더함</a:t>
            </a:r>
            <a:endParaRPr lang="ko-KR" sz="2200" dirty="0"/>
          </a:p>
        </p:txBody>
      </p:sp>
      <p:sp>
        <p:nvSpPr>
          <p:cNvPr id="43" name="S12-num323"/>
          <p:cNvSpPr txBox="1"/>
          <p:nvPr/>
        </p:nvSpPr>
        <p:spPr>
          <a:xfrm>
            <a:off x="6537960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12-fracbar324"/>
          <p:cNvSpPr/>
          <p:nvPr/>
        </p:nvSpPr>
        <p:spPr>
          <a:xfrm>
            <a:off x="6574536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2-num325"/>
          <p:cNvSpPr txBox="1"/>
          <p:nvPr/>
        </p:nvSpPr>
        <p:spPr>
          <a:xfrm>
            <a:off x="6537960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6" name="S12-op326"/>
          <p:cNvSpPr txBox="1"/>
          <p:nvPr/>
        </p:nvSpPr>
        <p:spPr>
          <a:xfrm>
            <a:off x="7077456" y="329184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47" name="S12-num327"/>
          <p:cNvSpPr txBox="1"/>
          <p:nvPr/>
        </p:nvSpPr>
        <p:spPr>
          <a:xfrm>
            <a:off x="7741920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8" name="S12-fracbar328"/>
          <p:cNvSpPr/>
          <p:nvPr/>
        </p:nvSpPr>
        <p:spPr>
          <a:xfrm>
            <a:off x="7778496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12-num329"/>
          <p:cNvSpPr txBox="1"/>
          <p:nvPr/>
        </p:nvSpPr>
        <p:spPr>
          <a:xfrm>
            <a:off x="7741920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0" name="S12-text330"/>
          <p:cNvSpPr txBox="1"/>
          <p:nvPr/>
        </p:nvSpPr>
        <p:spPr>
          <a:xfrm>
            <a:off x="8686800" y="3383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분자에만 2를 곱함</a:t>
            </a:r>
            <a:endParaRPr lang="ko-KR" sz="2200" dirty="0"/>
          </a:p>
        </p:txBody>
      </p:sp>
      <p:sp>
        <p:nvSpPr>
          <p:cNvPr id="51" name="S12-num331"/>
          <p:cNvSpPr txBox="1"/>
          <p:nvPr/>
        </p:nvSpPr>
        <p:spPr>
          <a:xfrm>
            <a:off x="6537960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2" name="S12-fracbar332"/>
          <p:cNvSpPr/>
          <p:nvPr/>
        </p:nvSpPr>
        <p:spPr>
          <a:xfrm>
            <a:off x="6574536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12-num333"/>
          <p:cNvSpPr txBox="1"/>
          <p:nvPr/>
        </p:nvSpPr>
        <p:spPr>
          <a:xfrm>
            <a:off x="6537960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12-op334"/>
          <p:cNvSpPr txBox="1"/>
          <p:nvPr/>
        </p:nvSpPr>
        <p:spPr>
          <a:xfrm>
            <a:off x="7077456" y="448056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55" name="S12-num335"/>
          <p:cNvSpPr txBox="1"/>
          <p:nvPr/>
        </p:nvSpPr>
        <p:spPr>
          <a:xfrm>
            <a:off x="7741920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6" name="S12-fracbar336"/>
          <p:cNvSpPr/>
          <p:nvPr/>
        </p:nvSpPr>
        <p:spPr>
          <a:xfrm>
            <a:off x="7778496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12-num337"/>
          <p:cNvSpPr txBox="1"/>
          <p:nvPr/>
        </p:nvSpPr>
        <p:spPr>
          <a:xfrm>
            <a:off x="7741920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58" name="S12-text338"/>
          <p:cNvSpPr txBox="1"/>
          <p:nvPr/>
        </p:nvSpPr>
        <p:spPr>
          <a:xfrm>
            <a:off x="8686800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분모에만 2를 곱함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339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340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341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342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343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44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45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346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347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348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49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50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51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52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53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354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355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56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57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58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59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60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61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62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63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64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65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66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67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68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9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0"/>
          <p:cNvSpPr txBox="1"/>
          <p:nvPr/>
        </p:nvSpPr>
        <p:spPr>
          <a:xfrm>
            <a:off x="1005840" y="1554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71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72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73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74"/>
          <p:cNvSpPr txBox="1"/>
          <p:nvPr/>
        </p:nvSpPr>
        <p:spPr>
          <a:xfrm>
            <a:off x="82296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75"/>
          <p:cNvSpPr txBox="1"/>
          <p:nvPr/>
        </p:nvSpPr>
        <p:spPr>
          <a:xfrm>
            <a:off x="1512316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76"/>
          <p:cNvSpPr/>
          <p:nvPr/>
        </p:nvSpPr>
        <p:spPr>
          <a:xfrm>
            <a:off x="154889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77"/>
          <p:cNvSpPr txBox="1"/>
          <p:nvPr/>
        </p:nvSpPr>
        <p:spPr>
          <a:xfrm>
            <a:off x="151231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78"/>
          <p:cNvSpPr txBox="1"/>
          <p:nvPr/>
        </p:nvSpPr>
        <p:spPr>
          <a:xfrm>
            <a:off x="2078482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79"/>
          <p:cNvSpPr/>
          <p:nvPr/>
        </p:nvSpPr>
        <p:spPr>
          <a:xfrm>
            <a:off x="2666980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80"/>
          <p:cNvSpPr/>
          <p:nvPr/>
        </p:nvSpPr>
        <p:spPr>
          <a:xfrm>
            <a:off x="261950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81"/>
          <p:cNvSpPr txBox="1"/>
          <p:nvPr/>
        </p:nvSpPr>
        <p:spPr>
          <a:xfrm>
            <a:off x="258292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82"/>
          <p:cNvSpPr txBox="1"/>
          <p:nvPr/>
        </p:nvSpPr>
        <p:spPr>
          <a:xfrm>
            <a:off x="420624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83"/>
          <p:cNvSpPr txBox="1"/>
          <p:nvPr/>
        </p:nvSpPr>
        <p:spPr>
          <a:xfrm>
            <a:off x="4895596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84"/>
          <p:cNvSpPr/>
          <p:nvPr/>
        </p:nvSpPr>
        <p:spPr>
          <a:xfrm>
            <a:off x="4932172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85"/>
          <p:cNvSpPr txBox="1"/>
          <p:nvPr/>
        </p:nvSpPr>
        <p:spPr>
          <a:xfrm>
            <a:off x="4895596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86"/>
          <p:cNvSpPr txBox="1"/>
          <p:nvPr/>
        </p:nvSpPr>
        <p:spPr>
          <a:xfrm>
            <a:off x="5552948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87"/>
          <p:cNvSpPr txBox="1"/>
          <p:nvPr/>
        </p:nvSpPr>
        <p:spPr>
          <a:xfrm>
            <a:off x="6057392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88"/>
          <p:cNvSpPr/>
          <p:nvPr/>
        </p:nvSpPr>
        <p:spPr>
          <a:xfrm>
            <a:off x="6093968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89"/>
          <p:cNvSpPr/>
          <p:nvPr/>
        </p:nvSpPr>
        <p:spPr>
          <a:xfrm>
            <a:off x="6141446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90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91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92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93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94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95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96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97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98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99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400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401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402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403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404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405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406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407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408"/>
          <p:cNvSpPr txBox="1"/>
          <p:nvPr/>
        </p:nvSpPr>
        <p:spPr>
          <a:xfrm>
            <a:off x="457200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409"/>
          <p:cNvSpPr/>
          <p:nvPr/>
        </p:nvSpPr>
        <p:spPr>
          <a:xfrm>
            <a:off x="534541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410"/>
          <p:cNvSpPr/>
          <p:nvPr/>
        </p:nvSpPr>
        <p:spPr>
          <a:xfrm>
            <a:off x="529793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411"/>
          <p:cNvSpPr/>
          <p:nvPr/>
        </p:nvSpPr>
        <p:spPr>
          <a:xfrm>
            <a:off x="534541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412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13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14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15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416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417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418"/>
          <p:cNvSpPr txBox="1"/>
          <p:nvPr/>
        </p:nvSpPr>
        <p:spPr>
          <a:xfrm>
            <a:off x="1042416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419"/>
          <p:cNvSpPr/>
          <p:nvPr/>
        </p:nvSpPr>
        <p:spPr>
          <a:xfrm>
            <a:off x="1119757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420"/>
          <p:cNvSpPr/>
          <p:nvPr/>
        </p:nvSpPr>
        <p:spPr>
          <a:xfrm>
            <a:off x="1115009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421"/>
          <p:cNvSpPr/>
          <p:nvPr/>
        </p:nvSpPr>
        <p:spPr>
          <a:xfrm>
            <a:off x="1119757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2026-10-26T06:37:59Z</dcterms:created>
  <dcterms:modified xsi:type="dcterms:W3CDTF">2026-10-26T06:37:59Z</dcterms:modified>
</cp:coreProperties>
</file>