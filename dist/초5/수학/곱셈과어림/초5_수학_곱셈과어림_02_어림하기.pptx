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fc8162f-4a7a-9502-97b1-4c2dfebcfa42}">
          <p14:sldIdLst>
            <p14:sldId id="256"/>
            <p14:sldId id="257"/>
          </p14:sldIdLst>
        </p14:section>
        <p14:section name="개념" id="{54b55403-daa1-6a15-5922-d5090fa78d8c}">
          <p14:sldIdLst>
            <p14:sldId id="258"/>
            <p14:sldId id="259"/>
            <p14:sldId id="260"/>
            <p14:sldId id="263"/>
          </p14:sldIdLst>
        </p14:section>
        <p14:section name="연습" id="{e888f377-07e8-b63a-1906-c4e1a3ec6dd9}">
          <p14:sldIdLst>
            <p14:sldId id="261"/>
            <p14:sldId id="262"/>
            <p14:sldId id="264"/>
          </p14:sldIdLst>
        </p14:section>
        <p14:section name="개념" id="{1494e51b-30c8-cd69-0029-ac9745166fb1}">
          <p14:sldIdLst/>
        </p14:section>
        <p14:section name="연습" id="{af83a388-439d-a754-058a-0d8e288deb2d}">
          <p14:sldIdLst/>
        </p14:section>
        <p14:section name="확인" id="{d1f0f73d-ea27-a097-e2db-43a27697473d}">
          <p14:sldIdLst>
            <p14:sldId id="265"/>
            <p14:sldId id="266"/>
            <p14:sldId id="267"/>
          </p14:sldIdLst>
        </p14:section>
        <p14:section name="정리" id="{48e98265-898a-a04c-9fce-f7af2f064812}">
          <p14:sldIdLst>
            <p14:sldId id="268"/>
          </p14:sldIdLst>
        </p14:section>
        <p14:section name="보충" id="{e8c7f25c-39c2-69d4-fce3-4dcbc5953ed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남는 물건이 있는 상황을 보여 주고, 어림하는 방법이 상황에 따라 다르다는 것을 궁금하게 합니다.
시간: 약 2분
이렇게 말해 보세요
- “사과 243개를 10개씩 상자에 담으려고 해. 상자 24개면 될까, 25개가 필요할까?”
- “예상만 해 보자. 오늘 끝날 때 다시 볼 거야.”
예상 답
- “24개요.” / “25개요. 3개가 남으니까요.”
막히면
- 단추 23개를 종이컵에 10개씩 담아 보게 하면 컵이 3개 필요하다는 것을 직접 볼 수 있습니다.
주의
- 지금은 답을 확인하지 않습니다. S08에서 다시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확인(자릿값, 가까운 몇십, 수의 범위)]
목적: 자릿값, 가까운 몇십 찾기, 지난 시간의 이상·미만을 알고 있는지 확인합니다.
시간: 약 3분
이렇게 말해 보세요
- “①에서 백의 자리는 오른쪽에서 몇째 자리야?”
- “②는 수직선을 떠올려 봐. 37에서 30까지, 40까지 몇 칸이야?”
- “③에서 20도 쓸까?”
정답
- ① 3
- ② 40 (40까지 3, 30까지 7)
- ③ 15, 16, 17, 18, 19
막히면
- ①②가 흔들리면 S14(보충)를 먼저 합니다.
- ③이 흔들리면 지난 차시 ‘수의 범위’(KR22-G05-MAT-RANGE-L01)의 S07 정리 표를 다시 봅니다. 자릿값이 많이 어려우면 초2 ‘네 자리 수’(KR22-G02-MAT-NUM4D-L01)를 먼저 합니다.
주의
- ③에서 20을 함께 쓰면 ‘미만’의 뜻을 다시 짚어 줍니다. 반올림의 ‘5 이상’에서 오늘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올림의 뜻]
목적: 구하려는 자리 아래 수를 올려서 나타내는 ‘올림’을 수직선으로 봅니다.
시간: 약 3분
이렇게 말해 보세요
- “243을 몇십으로 나타내려고 해. 243보다 크면서 가장 가까운 몇십은?”
- “일의 자리 3을 10으로 올렸어. 그래서 250이야. 이렇게 하는 것을 ‘올림’이라고 해.”
- “241, 249를 올림하여 십의 자리까지 나타내면?”
예상 답
- “250이요.”
- “둘 다 250이요.”
막히면
- 단추 243개 대신 23개로 바꾸어 “10개씩 담으면 컵이 몇 개 필요해?”라고 묻고 30(컵 3개)과 연결합니다.
주의
- 아래 자리가 모두 0이면(240) 올림해도 그대로 240입니다(M2). 올릴 것이 없기 때문입니다.
- ‘241 이상 250 이하’인 자연수는 올림하여 십의 자리까지 나타내면 모두 250입니다. 지난 시간의 수의 범위와 연결할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버림의 뜻]
목적: 구하려는 자리 아래 수를 버려서 나타내는 ‘버림’을 봅니다. 올림과 화살표 방향이 반대입니다.
시간: 약 2분
이렇게 말해 보세요
- “이번에는 일의 자리 3을 버려서 0으로 만들어. 그러면 얼마야?”
- “249를 버림하여 십의 자리까지 나타내면? 9가 커도 버릴까?”
예상 답
- “240이요.”
- “240이요. 버림은 무조건 버려요.”
막히면
- “10개씩 묶음으로만 팔면 243개 중 몇 개를 팔 수 있어?”처럼 묶음으로 바꾸어 묻습니다.
주의
- 버림을 할 때 아래 자리를 지우지 않고 0으로 바꾼다는 것을 꼭 짚습니다(4736 → 4700이지 47이 아님, 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반올림의 뜻(바로 아래 숫자가 5 이상이면 올림)]
목적: 구하려는 자리 바로 아래 숫자가 0~4이면 버리고, 5~9(5 이상)이면 올리는 ‘반올림’을 수직선의 가까운 쪽과 연결합니다.
시간: 약 4분
이렇게 말해 보세요
- “243은 240과 250 중 어디에 더 가까워? 247은?”
- “가까운 쪽으로 나타내는 것을 반올림이라고 해. 바로 아래 숫자가 5 이상이면 올리고, 그보다 작으면 버려.”
- “245는 딱 한가운데야. 어떻게 할까?”
예상 답
- “243은 240, 247은 250에 가까워요.”
- “5 이상이니까 올려서 250이요.”
막히면
- 수직선의 눈금을 손가락으로 세며 240까지, 250까지 몇 칸인지 비교하게 합니다.
주의
- 반올림은 ‘구하려는 자리 바로 아래 숫자 하나’만 봅니다. 다른 자리는 보지 않습니다(S07, M1).
- 245가 한가운데라 올리는 것은 약속입니다. “5 이상이면 올린다”를 지난 시간의 ‘이상’과 연결해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올림·버림·반올림 표 채우기]
목적: 도움을 받으며 같은 수를 세 가지 방법, 두 자리로 어림하고 결과를 비교합니다.
시간: 약 4분
이렇게 말해 보세요
- “십의 자리까지 나타내려면 어느 자리를 봐야 해?”
- “반올림할 때 일의 자리 6은 5 이상이야? 백의 자리까지는 무엇을 봐?”
- “표에서 같은 수가 나온 칸이 있어? 왜 같을까?”
정답
- 올림: 4740, 4800
- 버림: 4730, 4700
- 반올림: 4740(일의 자리 6 → 올림), 4700(십의 자리 3 → 버림)
막히면
- 자리마다 손가락으로 가리게 하고 “어느 자리까지?” “그 바로 아래 숫자는?”을 차례로 묻습니다.
- 필요하면 4736 아래에 4700, 4800을 써 두고 어느 쪽에 가까운지 비교하게 합니다.
주의
- 반올림 십의 자리 = 올림 십의 자리, 반올림 백의 자리 = 버림 백의 자리가 된 까닭을 말하게 하면 반올림의 뜻이 굳어집니다.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비교(반올림을 이어서 하기)]
목적: 반올림을 여러 번 이어서 하는 실수(M1)를 찾고, 바로 아래 자리 하나만 본다는 것을 확인합니다.
시간: 약 3분
이렇게 말해 보세요
- “하늘이와 바다의 답이 달라. 2449는 2400에서 얼마나 떨어져 있어? 2500에서는?”
- “백의 자리까지 반올림할 때 봐야 하는 숫자는 몇의 자리 숫자야?”
예상 답
- “2400까지 49, 2500까지 51이에요. 2400에 더 가까워요.”
- “십의 자리요. 4니까 버려요.”
정답
- 바다가 맞습니다. 2449를 반올림하여 백의 자리까지 나타내면 2400입니다.
- 하늘이는 일의 자리에서 한 번, 십의 자리에서 또 한 번 반올림했습니다. 반올림은 구하려는 자리 바로 아래 숫자 하나만 봅니다.
막히면
- 2400과 2500 사이 수직선을 대강 그리고 한가운데(2450)를 표시한 뒤 2449가 어느 쪽에 있는지 보게 합니다.
주의
- 하늘이의 방법이 그럴듯해 보이는 까닭(9를 보고 올리고 싶어짐)을 공감해 준 뒤 바로잡습니다.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상황에 알맞은 어림 방법]
목적: 같은 어림이라도 상황에 따라 올림·버림·반올림 중 알맞은 방법이 다르다는 것을 까닭과 함께 봅니다.
시간: 약 4분
이렇게 말해 보세요
- “사과 3개가 남았어. 버리면 될까? 그래서 어떤 방법을 써?”
- “동전 780원은 1000원짜리 지폐로 바꿀 수 있어? 그래서 어떤 방법이야?”
- “키는 딱 맞는 수가 아니라 대강 말할 때가 많아. 그럴 때는 가까운 쪽, 반올림을 써.”
예상 답
- “남은 3개도 담아야 하니까 올림이요.”
- “780원은 지폐로 못 바꾸니까 버림이요.”
막히면
- 단추 23개를 종이컵에 10개씩 담아 봅니다. 컵 3개가 필요합니다(올림). 같은 단추를 ‘10개씩 한 봉지’로 판다면 2봉지까지만 팔 수 있습니다(버림).
주의
- S01의 질문(사과 243개)을 여기서 확인합니다. 답은 25상자입니다.
- 아이가 지쳐 보이면 이 장 다음에 쉬고, 다음 날 S08을 짧게 다시 본 뒤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생활 문제에서 어림 방법 고르기]
목적: 도움을 받으며 상황에 맞는 어림 방법을 고르고 답을 구합니다.
시간: 약 4분
이렇게 말해 보세요
- “①에서 8명이 남으면 어떻게 해? 그 8명도 타야 하지?”
- “②에서 남은 사탕 5개도 한 봉지로 팔 수 있어?”
- “③에서 3 m만 사면 끈이 모자라지 않을까?”
정답
- ① 올림: 128 → 130, 차 13대
- ② 버림: 365 → 360, 36봉지
- ③ 올림하여 일의 자리까지: 3.6 → 4, 4 m
막히면
- ①은 “10명씩 12대에 타면 몇 명이 남아?”라고 묻습니다(8명).
- 그림으로 10명씩 묶음을 그려 남은 것을 표시하게 합니다.
주의
- 답에 단위(대, 봉지, m)를 붙여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올림·버림·반올림(목표 A)과 상황에 맞는 방법 고르기(목표 B)를 하는지 확인합니다.
시간: 약 4분
이렇게 말해 보세요
- “이번에는 혼자 해 보자. ④는 어떤 방법을 썼는지, 왜 그런지도 말해 줘.”
정답
- ① 5300 (십의 자리 7 → 올림)
- ② 5000
- ③ 7100 (아래 자리 30이 0이 아니므로 올림)
- ④ 올림: 437 → 500, 5묶음 (남은 37장도 있어야 하므로)
막히면
- 바로 알려 주지 말고 “어느 자리까지야? 그 아래 숫자는?”이라고만 묻습니다.
- 도움을 받아 해결했다면 기록표에 ‘도움’으로 표시합니다.
주의
- ③에서 백의 자리 숫자가 0이라 7000이라고 답하는 실수가 많습니다. 아래 자리(30)를 보아야 합니다.
- 정답 확인은 다음 장(S11)에서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5300 ② 5000 ③ 7100 ④ 올림, 5묶음
막히면
- 자리를 헷갈렸으면 S06 표로, 상황을 헷갈렸으면 S08로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확인(같은 수, 다른 어림)]
목적: 같은 수(254)라도 상황에 따라 어림 방법과 답이 달라진다는 것을 설명하는지 확인합니다(목표 B).
시간: 약 3분
이렇게 말해 보세요
- “세 문제 모두 254야. 그런데 답이 다 같을까?”
- “①에서 남은 구슬 4개로 목걸이를 만들 수 있어? ②에서 남은 4명은?”
정답
- ① 버림: 25개 (구슬 4개로는 목걸이를 만들 수 없음)
- ② 올림: 26번 (남은 4명도 타야 함)
- ③ 반올림: 250 kg (일의 자리 4 → 버림)
막히면
- “남은 것은 어떻게 돼?”를 문제마다 묻습니다.
주의
- 방법과 까닭까지 말하면 목표 B 확인 완료입니다. 답만 맞히면 ‘까닭 설명 필요’로 기록하고 다음 수업 시작 때 다시 묻습니다.
- S01의 예상(사과 243개, 상자 25개)을 다시 이야기해도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“올림, 버림, 반올림을 한 문장씩 설명해 볼래?”
- “다음 수업을 시작할 때 이 세 문제를 먼저 풀 거야.”
예상 답
- “올림은 아래 수를 올리고, 버림은 버리고, 반올림은 5 이상이면 올려요.”
정답
- ① 3500
- ② 3480 (일의 자리 1 → 버림)
- ③ 6묶음 (올림: 52 → 60)
막히면
- S05의 세 카드를 다시 보여 줍니다.
주의
-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보충(가까운 몇십)]
목적: S02에서 자릿값이나 가까운 몇십 찾기가 흔들린 경우에만 사용합니다.
시간: 약 5분
이렇게 말해 보세요
- “37에서 40까지 몇 칸이야? 30까지는?”
- “32는 어느 쪽에 더 가까워? 35는?”
정답
- 40까지 3칸, 30까지 7칸이라 40에 더 가깝습니다.
- 32는 30, 35는 한가운데입니다.
막히면
- 0부터 10까지 수직선으로 바꾸어 7이 10에 가까운지 0에 가까운지부터 봅니다.
주의
- 이 차시의 선수 차시는 ‘수의 범위’(KR22-G05-MAT-RANGE-L01)입니다. 이상·미만이 흔들리면 그 차시의 S07을 다시 보고, 자릿값이 흔들리면 초2 ‘네 자리 수’(KR22-G02-MAT-NUM4D-L01)를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곱셈과어림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어림하기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어림하기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어림하기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243개를 한 상자에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담으려면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상자가 몇 개 필요할까?</a:t>
            </a:r>
            <a:endParaRPr lang="ko-KR" sz="2800" dirty="0"/>
          </a:p>
        </p:txBody>
      </p:sp>
      <p:sp>
        <p:nvSpPr>
          <p:cNvPr id="4" name="S01-big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 · 버림</a:t>
            </a:r>
            <a:endParaRPr lang="ko-KR" sz="4000" dirty="0"/>
          </a:p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올림·버림·반올림을 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상황에 맞는 어림 방법을 골라요.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답해요.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4385에서 백의 자리 숫자는?</a:t>
            </a:r>
            <a:endParaRPr lang="ko-KR" sz="28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37은 30과 40 중 어느 쪽에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가까울까요?</a:t>
            </a:r>
            <a:endParaRPr lang="ko-KR" sz="28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이상 20 미만인 자연수를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올림: 올려서 나타내요</a:t>
            </a:r>
            <a:endParaRPr lang="ko-KR" sz="40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243을 올림하여 십의 자리까지 나타내요.</a:t>
            </a:r>
            <a:endParaRPr lang="ko-KR" sz="2800" dirty="0"/>
          </a:p>
        </p:txBody>
      </p:sp>
      <p:sp>
        <p:nvSpPr>
          <p:cNvPr id="4" name="S03-card1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올림: 243 → 250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아래 수 3을 10으로 올려 250으로 나타내요.</a:t>
            </a:r>
            <a:endParaRPr lang="ko-KR" sz="2800" dirty="0"/>
          </a:p>
        </p:txBody>
      </p:sp>
      <p:sp>
        <p:nvSpPr>
          <p:cNvPr id="6" name="S03-figure14" descr="240부터 250까지 수직선: 243에서 250으로 가는 화살표(올림)"/>
          <p:cNvSpPr/>
          <p:nvPr/>
        </p:nvSpPr>
        <p:spPr>
          <a:xfrm>
            <a:off x="4101084" y="3419602"/>
            <a:ext cx="329184" cy="32918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7" name="S03-mark15"/>
          <p:cNvSpPr/>
          <p:nvPr/>
        </p:nvSpPr>
        <p:spPr>
          <a:xfrm>
            <a:off x="882396" y="358419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03-mark16"/>
          <p:cNvSpPr/>
          <p:nvPr/>
        </p:nvSpPr>
        <p:spPr>
          <a:xfrm>
            <a:off x="1522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3-mark17"/>
          <p:cNvSpPr/>
          <p:nvPr/>
        </p:nvSpPr>
        <p:spPr>
          <a:xfrm>
            <a:off x="2436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mark18"/>
          <p:cNvSpPr/>
          <p:nvPr/>
        </p:nvSpPr>
        <p:spPr>
          <a:xfrm>
            <a:off x="3351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3-mark19"/>
          <p:cNvSpPr/>
          <p:nvPr/>
        </p:nvSpPr>
        <p:spPr>
          <a:xfrm>
            <a:off x="4265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mark20"/>
          <p:cNvSpPr/>
          <p:nvPr/>
        </p:nvSpPr>
        <p:spPr>
          <a:xfrm>
            <a:off x="5180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3-mark21"/>
          <p:cNvSpPr/>
          <p:nvPr/>
        </p:nvSpPr>
        <p:spPr>
          <a:xfrm>
            <a:off x="6094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mark22"/>
          <p:cNvSpPr/>
          <p:nvPr/>
        </p:nvSpPr>
        <p:spPr>
          <a:xfrm>
            <a:off x="7008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3-mark23"/>
          <p:cNvSpPr/>
          <p:nvPr/>
        </p:nvSpPr>
        <p:spPr>
          <a:xfrm>
            <a:off x="7923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mark24"/>
          <p:cNvSpPr/>
          <p:nvPr/>
        </p:nvSpPr>
        <p:spPr>
          <a:xfrm>
            <a:off x="8837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3-mark25"/>
          <p:cNvSpPr/>
          <p:nvPr/>
        </p:nvSpPr>
        <p:spPr>
          <a:xfrm>
            <a:off x="9752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mark26"/>
          <p:cNvSpPr/>
          <p:nvPr/>
        </p:nvSpPr>
        <p:spPr>
          <a:xfrm>
            <a:off x="10666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3-mark27"/>
          <p:cNvSpPr/>
          <p:nvPr/>
        </p:nvSpPr>
        <p:spPr>
          <a:xfrm flipV="1">
            <a:off x="42656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0" name="S03-mark28"/>
          <p:cNvSpPr/>
          <p:nvPr/>
        </p:nvSpPr>
        <p:spPr>
          <a:xfrm>
            <a:off x="4265676" y="3017266"/>
            <a:ext cx="64008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03-label30"/>
          <p:cNvSpPr txBox="1"/>
          <p:nvPr/>
        </p:nvSpPr>
        <p:spPr>
          <a:xfrm>
            <a:off x="1191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</a:t>
            </a:r>
            <a:endParaRPr lang="ko-KR" sz="2200" dirty="0"/>
          </a:p>
        </p:txBody>
      </p:sp>
      <p:sp>
        <p:nvSpPr>
          <p:cNvPr id="22" name="S03-label32"/>
          <p:cNvSpPr txBox="1"/>
          <p:nvPr/>
        </p:nvSpPr>
        <p:spPr>
          <a:xfrm>
            <a:off x="5763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</a:t>
            </a:r>
            <a:endParaRPr lang="ko-KR" sz="2200" dirty="0"/>
          </a:p>
        </p:txBody>
      </p:sp>
      <p:sp>
        <p:nvSpPr>
          <p:cNvPr id="23" name="S03-label34"/>
          <p:cNvSpPr txBox="1"/>
          <p:nvPr/>
        </p:nvSpPr>
        <p:spPr>
          <a:xfrm>
            <a:off x="10335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ko-KR" sz="2200" dirty="0"/>
          </a:p>
        </p:txBody>
      </p:sp>
      <p:sp>
        <p:nvSpPr>
          <p:cNvPr id="24" name="S03-label36"/>
          <p:cNvSpPr txBox="1"/>
          <p:nvPr/>
        </p:nvSpPr>
        <p:spPr>
          <a:xfrm>
            <a:off x="39342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</a:t>
            </a:r>
            <a:endParaRPr lang="ko-KR" sz="2200" dirty="0"/>
          </a:p>
        </p:txBody>
      </p:sp>
      <p:sp>
        <p:nvSpPr>
          <p:cNvPr id="25" name="S03-label38"/>
          <p:cNvSpPr txBox="1"/>
          <p:nvPr/>
        </p:nvSpPr>
        <p:spPr>
          <a:xfrm>
            <a:off x="7137400" y="240372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버림: 버려서 나타내요</a:t>
            </a:r>
            <a:endParaRPr lang="ko-KR" sz="4000" dirty="0"/>
          </a:p>
        </p:txBody>
      </p:sp>
      <p:sp>
        <p:nvSpPr>
          <p:cNvPr id="3" name="S04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243을 버림하여 십의 자리까지 나타내요.</a:t>
            </a:r>
            <a:endParaRPr lang="ko-KR" sz="2800" dirty="0"/>
          </a:p>
        </p:txBody>
      </p:sp>
      <p:sp>
        <p:nvSpPr>
          <p:cNvPr id="4" name="S04-card4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4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버림: 243 → 240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아래 수 3을 0으로 버려 240으로 나타내요.</a:t>
            </a:r>
            <a:endParaRPr lang="ko-KR" sz="2800" dirty="0"/>
          </a:p>
        </p:txBody>
      </p:sp>
      <p:sp>
        <p:nvSpPr>
          <p:cNvPr id="6" name="S04-figure42" descr="240부터 250까지 수직선: 243에서 240으로 가는 화살표(버림)"/>
          <p:cNvSpPr/>
          <p:nvPr/>
        </p:nvSpPr>
        <p:spPr>
          <a:xfrm>
            <a:off x="4101084" y="3419602"/>
            <a:ext cx="329184" cy="32918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7" name="S04-mark43"/>
          <p:cNvSpPr/>
          <p:nvPr/>
        </p:nvSpPr>
        <p:spPr>
          <a:xfrm>
            <a:off x="882396" y="358419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04-mark44"/>
          <p:cNvSpPr/>
          <p:nvPr/>
        </p:nvSpPr>
        <p:spPr>
          <a:xfrm>
            <a:off x="1522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4-mark45"/>
          <p:cNvSpPr/>
          <p:nvPr/>
        </p:nvSpPr>
        <p:spPr>
          <a:xfrm>
            <a:off x="2436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mark46"/>
          <p:cNvSpPr/>
          <p:nvPr/>
        </p:nvSpPr>
        <p:spPr>
          <a:xfrm>
            <a:off x="3351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mark47"/>
          <p:cNvSpPr/>
          <p:nvPr/>
        </p:nvSpPr>
        <p:spPr>
          <a:xfrm>
            <a:off x="4265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mark48"/>
          <p:cNvSpPr/>
          <p:nvPr/>
        </p:nvSpPr>
        <p:spPr>
          <a:xfrm>
            <a:off x="5180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mark49"/>
          <p:cNvSpPr/>
          <p:nvPr/>
        </p:nvSpPr>
        <p:spPr>
          <a:xfrm>
            <a:off x="6094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mark50"/>
          <p:cNvSpPr/>
          <p:nvPr/>
        </p:nvSpPr>
        <p:spPr>
          <a:xfrm>
            <a:off x="7008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mark51"/>
          <p:cNvSpPr/>
          <p:nvPr/>
        </p:nvSpPr>
        <p:spPr>
          <a:xfrm>
            <a:off x="7923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mark52"/>
          <p:cNvSpPr/>
          <p:nvPr/>
        </p:nvSpPr>
        <p:spPr>
          <a:xfrm>
            <a:off x="8837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mark53"/>
          <p:cNvSpPr/>
          <p:nvPr/>
        </p:nvSpPr>
        <p:spPr>
          <a:xfrm>
            <a:off x="9752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mark54"/>
          <p:cNvSpPr/>
          <p:nvPr/>
        </p:nvSpPr>
        <p:spPr>
          <a:xfrm>
            <a:off x="10666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4-mark55"/>
          <p:cNvSpPr/>
          <p:nvPr/>
        </p:nvSpPr>
        <p:spPr>
          <a:xfrm flipV="1">
            <a:off x="42656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0" name="S04-mark56"/>
          <p:cNvSpPr/>
          <p:nvPr/>
        </p:nvSpPr>
        <p:spPr>
          <a:xfrm flipH="1">
            <a:off x="1522476" y="3017266"/>
            <a:ext cx="27432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04-label58"/>
          <p:cNvSpPr txBox="1"/>
          <p:nvPr/>
        </p:nvSpPr>
        <p:spPr>
          <a:xfrm>
            <a:off x="1191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</a:t>
            </a:r>
            <a:endParaRPr lang="ko-KR" sz="2200" dirty="0"/>
          </a:p>
        </p:txBody>
      </p:sp>
      <p:sp>
        <p:nvSpPr>
          <p:cNvPr id="22" name="S04-label60"/>
          <p:cNvSpPr txBox="1"/>
          <p:nvPr/>
        </p:nvSpPr>
        <p:spPr>
          <a:xfrm>
            <a:off x="5763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</a:t>
            </a:r>
            <a:endParaRPr lang="ko-KR" sz="2200" dirty="0"/>
          </a:p>
        </p:txBody>
      </p:sp>
      <p:sp>
        <p:nvSpPr>
          <p:cNvPr id="23" name="S04-label62"/>
          <p:cNvSpPr txBox="1"/>
          <p:nvPr/>
        </p:nvSpPr>
        <p:spPr>
          <a:xfrm>
            <a:off x="10335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ko-KR" sz="2200" dirty="0"/>
          </a:p>
        </p:txBody>
      </p:sp>
      <p:sp>
        <p:nvSpPr>
          <p:cNvPr id="24" name="S04-label64"/>
          <p:cNvSpPr txBox="1"/>
          <p:nvPr/>
        </p:nvSpPr>
        <p:spPr>
          <a:xfrm>
            <a:off x="39342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</a:t>
            </a:r>
            <a:endParaRPr lang="ko-KR" sz="2200" dirty="0"/>
          </a:p>
        </p:txBody>
      </p:sp>
      <p:sp>
        <p:nvSpPr>
          <p:cNvPr id="25" name="S04-label66"/>
          <p:cNvSpPr txBox="1"/>
          <p:nvPr/>
        </p:nvSpPr>
        <p:spPr>
          <a:xfrm>
            <a:off x="2565400" y="240372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반올림: 가까운 쪽으로</a:t>
            </a:r>
            <a:endParaRPr lang="ko-KR" sz="4000" dirty="0"/>
          </a:p>
        </p:txBody>
      </p:sp>
      <p:sp>
        <p:nvSpPr>
          <p:cNvPr id="3" name="S05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아래 자리 숫자를 보고 정해요.</a:t>
            </a:r>
            <a:endParaRPr lang="ko-KR" sz="2800" dirty="0"/>
          </a:p>
        </p:txBody>
      </p:sp>
      <p:sp>
        <p:nvSpPr>
          <p:cNvPr id="4" name="S05-card68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69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0, 1, 2, 3, 4 → 버려요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→ 240</a:t>
            </a:r>
            <a:endParaRPr lang="ko-KR" sz="2800" dirty="0"/>
          </a:p>
        </p:txBody>
      </p:sp>
      <p:sp>
        <p:nvSpPr>
          <p:cNvPr id="6" name="S05-card70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71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 6, 7, 8, 9 → 올려요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 → 250, 245 → 250</a:t>
            </a:r>
            <a:endParaRPr lang="ko-KR" sz="2800" dirty="0"/>
          </a:p>
        </p:txBody>
      </p:sp>
      <p:sp>
        <p:nvSpPr>
          <p:cNvPr id="8" name="S05-figure72" descr="240부터 250까지 수직선: 243은 240으로(버림), 247은 250으로(올림) 가는 화살표"/>
          <p:cNvSpPr/>
          <p:nvPr/>
        </p:nvSpPr>
        <p:spPr>
          <a:xfrm>
            <a:off x="4101084" y="3419602"/>
            <a:ext cx="329184" cy="32918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9" name="S05-mark73"/>
          <p:cNvSpPr/>
          <p:nvPr/>
        </p:nvSpPr>
        <p:spPr>
          <a:xfrm>
            <a:off x="7758684" y="3419602"/>
            <a:ext cx="329184" cy="32918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10" name="S05-mark74"/>
          <p:cNvSpPr/>
          <p:nvPr/>
        </p:nvSpPr>
        <p:spPr>
          <a:xfrm>
            <a:off x="882396" y="358419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5-mark75"/>
          <p:cNvSpPr/>
          <p:nvPr/>
        </p:nvSpPr>
        <p:spPr>
          <a:xfrm>
            <a:off x="1522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mark76"/>
          <p:cNvSpPr/>
          <p:nvPr/>
        </p:nvSpPr>
        <p:spPr>
          <a:xfrm>
            <a:off x="2436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mark77"/>
          <p:cNvSpPr/>
          <p:nvPr/>
        </p:nvSpPr>
        <p:spPr>
          <a:xfrm>
            <a:off x="3351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mark78"/>
          <p:cNvSpPr/>
          <p:nvPr/>
        </p:nvSpPr>
        <p:spPr>
          <a:xfrm>
            <a:off x="4265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mark79"/>
          <p:cNvSpPr/>
          <p:nvPr/>
        </p:nvSpPr>
        <p:spPr>
          <a:xfrm>
            <a:off x="5180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mark80"/>
          <p:cNvSpPr/>
          <p:nvPr/>
        </p:nvSpPr>
        <p:spPr>
          <a:xfrm>
            <a:off x="6094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mark81"/>
          <p:cNvSpPr/>
          <p:nvPr/>
        </p:nvSpPr>
        <p:spPr>
          <a:xfrm>
            <a:off x="7008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mark82"/>
          <p:cNvSpPr/>
          <p:nvPr/>
        </p:nvSpPr>
        <p:spPr>
          <a:xfrm>
            <a:off x="7923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5-mark83"/>
          <p:cNvSpPr/>
          <p:nvPr/>
        </p:nvSpPr>
        <p:spPr>
          <a:xfrm>
            <a:off x="8837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mark84"/>
          <p:cNvSpPr/>
          <p:nvPr/>
        </p:nvSpPr>
        <p:spPr>
          <a:xfrm>
            <a:off x="9752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mark85"/>
          <p:cNvSpPr/>
          <p:nvPr/>
        </p:nvSpPr>
        <p:spPr>
          <a:xfrm>
            <a:off x="10666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mark86"/>
          <p:cNvSpPr/>
          <p:nvPr/>
        </p:nvSpPr>
        <p:spPr>
          <a:xfrm flipV="1">
            <a:off x="42656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3" name="S05-mark87"/>
          <p:cNvSpPr/>
          <p:nvPr/>
        </p:nvSpPr>
        <p:spPr>
          <a:xfrm flipH="1">
            <a:off x="1522476" y="3017266"/>
            <a:ext cx="27432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4" name="S05-mark88"/>
          <p:cNvSpPr/>
          <p:nvPr/>
        </p:nvSpPr>
        <p:spPr>
          <a:xfrm flipV="1">
            <a:off x="79232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5" name="S05-mark89"/>
          <p:cNvSpPr/>
          <p:nvPr/>
        </p:nvSpPr>
        <p:spPr>
          <a:xfrm>
            <a:off x="7923276" y="3017266"/>
            <a:ext cx="27432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6" name="S05-label91"/>
          <p:cNvSpPr txBox="1"/>
          <p:nvPr/>
        </p:nvSpPr>
        <p:spPr>
          <a:xfrm>
            <a:off x="1191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</a:t>
            </a:r>
            <a:endParaRPr lang="ko-KR" sz="2200" dirty="0"/>
          </a:p>
        </p:txBody>
      </p:sp>
      <p:sp>
        <p:nvSpPr>
          <p:cNvPr id="27" name="S05-label93"/>
          <p:cNvSpPr txBox="1"/>
          <p:nvPr/>
        </p:nvSpPr>
        <p:spPr>
          <a:xfrm>
            <a:off x="5763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</a:t>
            </a:r>
            <a:endParaRPr lang="ko-KR" sz="2200" dirty="0"/>
          </a:p>
        </p:txBody>
      </p:sp>
      <p:sp>
        <p:nvSpPr>
          <p:cNvPr id="28" name="S05-label95"/>
          <p:cNvSpPr txBox="1"/>
          <p:nvPr/>
        </p:nvSpPr>
        <p:spPr>
          <a:xfrm>
            <a:off x="103350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ko-KR" sz="2200" dirty="0"/>
          </a:p>
        </p:txBody>
      </p:sp>
      <p:sp>
        <p:nvSpPr>
          <p:cNvPr id="29" name="S05-label97"/>
          <p:cNvSpPr txBox="1"/>
          <p:nvPr/>
        </p:nvSpPr>
        <p:spPr>
          <a:xfrm>
            <a:off x="39342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</a:t>
            </a:r>
            <a:endParaRPr lang="ko-KR" sz="2200" dirty="0"/>
          </a:p>
        </p:txBody>
      </p:sp>
      <p:sp>
        <p:nvSpPr>
          <p:cNvPr id="30" name="S05-label99"/>
          <p:cNvSpPr txBox="1"/>
          <p:nvPr/>
        </p:nvSpPr>
        <p:spPr>
          <a:xfrm>
            <a:off x="7591806" y="40679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</a:t>
            </a:r>
            <a:endParaRPr lang="ko-KR" sz="2200" dirty="0"/>
          </a:p>
        </p:txBody>
      </p:sp>
      <p:sp>
        <p:nvSpPr>
          <p:cNvPr id="31" name="S05-label101"/>
          <p:cNvSpPr txBox="1"/>
          <p:nvPr/>
        </p:nvSpPr>
        <p:spPr>
          <a:xfrm>
            <a:off x="2565400" y="240372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버림</a:t>
            </a:r>
            <a:endParaRPr lang="ko-KR" sz="2200" dirty="0"/>
          </a:p>
        </p:txBody>
      </p:sp>
      <p:sp>
        <p:nvSpPr>
          <p:cNvPr id="32" name="S05-label103"/>
          <p:cNvSpPr txBox="1"/>
          <p:nvPr/>
        </p:nvSpPr>
        <p:spPr>
          <a:xfrm>
            <a:off x="8966200" y="240372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채워 봐요</a:t>
            </a:r>
            <a:endParaRPr lang="ko-KR" sz="4000" dirty="0"/>
          </a:p>
        </p:txBody>
      </p:sp>
      <p:sp>
        <p:nvSpPr>
          <p:cNvPr id="3" name="S06-text1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4736을 어림한 수를 써요.</a:t>
            </a:r>
            <a:endParaRPr lang="ko-KR" sz="2800" dirty="0"/>
          </a:p>
        </p:txBody>
      </p:sp>
      <p:sp>
        <p:nvSpPr>
          <p:cNvPr id="4" name="S06-card10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0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자리까지 → 일의 자리를, 백의 자리까지 → 십의 자리를 봐요.</a:t>
            </a:r>
            <a:endParaRPr lang="ko-KR" sz="2800" dirty="0"/>
          </a:p>
        </p:txBody>
      </p:sp>
      <p:graphicFrame>
        <p:nvGraphicFramePr>
          <p:cNvPr id="7" name="S06-table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05356" y="2308098"/>
          <a:ext cx="8778240" cy="914400"/>
        </p:xfrm>
        <a:graphic>
          <a:graphicData uri="http://schemas.openxmlformats.org/drawingml/2006/table">
            <a:tbl>
              <a:tblPr/>
              <a:tblGrid>
                <a:gridCol w="2457907"/>
                <a:gridCol w="3160166"/>
                <a:gridCol w="3160166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자리까지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자리까지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반올림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반올림을 두 번 해도 될까?</a:t>
            </a:r>
            <a:endParaRPr lang="ko-KR" sz="4000" dirty="0"/>
          </a:p>
        </p:txBody>
      </p:sp>
      <p:sp>
        <p:nvSpPr>
          <p:cNvPr id="3" name="S07-card10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0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2449를 반올림하여 백의 자리까지 나타냈어요.</a:t>
            </a:r>
            <a:endParaRPr lang="ko-KR" sz="2800" dirty="0"/>
          </a:p>
        </p:txBody>
      </p:sp>
      <p:sp>
        <p:nvSpPr>
          <p:cNvPr id="5" name="S07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2449는 2400과 2500 중 어디에 가까울까요?</a:t>
            </a:r>
            <a:endParaRPr lang="ko-KR" sz="2800" dirty="0"/>
          </a:p>
        </p:txBody>
      </p:sp>
      <p:sp>
        <p:nvSpPr>
          <p:cNvPr id="7" name="S07-chip11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하늘: 2500</a:t>
            </a:r>
            <a:endParaRPr lang="ko-KR" sz="2200" dirty="0"/>
          </a:p>
        </p:txBody>
      </p:sp>
      <p:sp>
        <p:nvSpPr>
          <p:cNvPr id="8" name="S07-text11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2449 → 2450 → 2500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자리부터 차례로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올렸어요.</a:t>
            </a:r>
            <a:endParaRPr lang="ko-KR" sz="2800" dirty="0"/>
          </a:p>
        </p:txBody>
      </p:sp>
      <p:sp>
        <p:nvSpPr>
          <p:cNvPr id="9" name="S07-chip11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바다: 2400</a:t>
            </a:r>
            <a:endParaRPr lang="ko-KR" sz="2200" dirty="0"/>
          </a:p>
        </p:txBody>
      </p:sp>
      <p:sp>
        <p:nvSpPr>
          <p:cNvPr id="10" name="S07-text11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바로 아래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4만 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버렸어요.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어림이 알맞을까요?</a:t>
            </a:r>
            <a:endParaRPr lang="ko-KR" sz="4000" dirty="0"/>
          </a:p>
        </p:txBody>
      </p:sp>
      <p:sp>
        <p:nvSpPr>
          <p:cNvPr id="3" name="S08-text1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상황에 따라 알맞은 방법이 달라요.</a:t>
            </a:r>
            <a:endParaRPr lang="ko-KR" sz="2800" dirty="0"/>
          </a:p>
        </p:txBody>
      </p:sp>
      <p:sp>
        <p:nvSpPr>
          <p:cNvPr id="4" name="S08-card1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것도 해결해야 하면 올림, 모자라서 못 하면 버림이에요.</a:t>
            </a:r>
            <a:endParaRPr lang="ko-KR" sz="2800" dirty="0"/>
          </a:p>
        </p:txBody>
      </p:sp>
      <p:sp>
        <p:nvSpPr>
          <p:cNvPr id="6" name="S08-card119"/>
          <p:cNvSpPr/>
          <p:nvPr/>
        </p:nvSpPr>
        <p:spPr>
          <a:xfrm>
            <a:off x="548640" y="24183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120"/>
          <p:cNvSpPr txBox="1"/>
          <p:nvPr/>
        </p:nvSpPr>
        <p:spPr>
          <a:xfrm>
            <a:off x="822960" y="25554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올림: 상자에 담기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243개를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담으면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상자 25개</a:t>
            </a:r>
            <a:endParaRPr lang="ko-KR" sz="2800" dirty="0"/>
          </a:p>
        </p:txBody>
      </p:sp>
      <p:sp>
        <p:nvSpPr>
          <p:cNvPr id="8" name="S08-card121"/>
          <p:cNvSpPr/>
          <p:nvPr/>
        </p:nvSpPr>
        <p:spPr>
          <a:xfrm>
            <a:off x="4322064" y="24183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122"/>
          <p:cNvSpPr txBox="1"/>
          <p:nvPr/>
        </p:nvSpPr>
        <p:spPr>
          <a:xfrm>
            <a:off x="4596384" y="25554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버림: 지폐로만 바꾸기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 3780원을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1000원짜리로 바꾸면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3장, 3000원</a:t>
            </a:r>
            <a:endParaRPr lang="ko-KR" sz="2800" dirty="0"/>
          </a:p>
        </p:txBody>
      </p:sp>
      <p:sp>
        <p:nvSpPr>
          <p:cNvPr id="10" name="S08-card123"/>
          <p:cNvSpPr/>
          <p:nvPr/>
        </p:nvSpPr>
        <p:spPr>
          <a:xfrm>
            <a:off x="8095488" y="24183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124"/>
          <p:cNvSpPr txBox="1"/>
          <p:nvPr/>
        </p:nvSpPr>
        <p:spPr>
          <a:xfrm>
            <a:off x="8369808" y="25554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반올림: 대강의 크기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137.6 cm를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자리까지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약 138 cm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상황에 맞게 어림해요</a:t>
            </a:r>
            <a:endParaRPr lang="ko-KR" sz="4000" dirty="0"/>
          </a:p>
        </p:txBody>
      </p:sp>
      <p:sp>
        <p:nvSpPr>
          <p:cNvPr id="3" name="S09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방법을 고르고 답을 구해요.</a:t>
            </a:r>
            <a:endParaRPr lang="ko-KR" sz="2800" dirty="0"/>
          </a:p>
        </p:txBody>
      </p:sp>
      <p:sp>
        <p:nvSpPr>
          <p:cNvPr id="4" name="S09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것도 해결해야 하나요, 모자라서 못 하나요?</a:t>
            </a:r>
            <a:endParaRPr lang="ko-KR" sz="2800" dirty="0"/>
          </a:p>
        </p:txBody>
      </p:sp>
      <p:sp>
        <p:nvSpPr>
          <p:cNvPr id="6" name="S09-chip12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12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128명이 10인승 차에 모두 타려면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차는 적어도 몇 대가 필요할까요?</a:t>
            </a:r>
            <a:endParaRPr lang="ko-KR" sz="2800" dirty="0"/>
          </a:p>
        </p:txBody>
      </p:sp>
      <p:sp>
        <p:nvSpPr>
          <p:cNvPr id="8" name="S09-chip13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13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365개를 10개씩 봉지에 담아 팔면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봉지까지 팔 수 있을까요?</a:t>
            </a:r>
            <a:endParaRPr lang="ko-KR" sz="2800" dirty="0"/>
          </a:p>
        </p:txBody>
      </p:sp>
      <p:sp>
        <p:nvSpPr>
          <p:cNvPr id="10" name="S09-chip13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13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끈이 3.6 m 필요한데 1 m 단위로만 팔아요.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m를 사야 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④는 까닭도 말해요.</a:t>
            </a:r>
            <a:endParaRPr lang="ko-KR" sz="2800" dirty="0"/>
          </a:p>
        </p:txBody>
      </p:sp>
      <p:sp>
        <p:nvSpPr>
          <p:cNvPr id="4" name="S10-chip13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13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5276을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자리까지</a:t>
            </a:r>
            <a:endParaRPr lang="ko-KR" sz="2800" dirty="0"/>
          </a:p>
        </p:txBody>
      </p:sp>
      <p:sp>
        <p:nvSpPr>
          <p:cNvPr id="6" name="S10-chip13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13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5276을 버림하여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천의 자리까지</a:t>
            </a:r>
            <a:endParaRPr lang="ko-KR" sz="2800" dirty="0"/>
          </a:p>
        </p:txBody>
      </p:sp>
      <p:sp>
        <p:nvSpPr>
          <p:cNvPr id="8" name="S10-chip13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14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7030을 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자리까지</a:t>
            </a:r>
            <a:endParaRPr lang="ko-KR" sz="2800" dirty="0"/>
          </a:p>
        </p:txBody>
      </p:sp>
      <p:sp>
        <p:nvSpPr>
          <p:cNvPr id="10" name="S10-chip14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text14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437장이 필요해요.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100장씩 묶음으로만 팔면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묶음을 사야 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14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4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어느 자리까지인지, 그 아래 숫자가 무엇인지 다시 짚어 주세요.</a:t>
            </a:r>
            <a:endParaRPr lang="ko-KR" sz="2800" dirty="0"/>
          </a:p>
        </p:txBody>
      </p:sp>
      <p:sp>
        <p:nvSpPr>
          <p:cNvPr id="5" name="S11-chip14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146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5300</a:t>
            </a:r>
            <a:endParaRPr lang="ko-KR" sz="2800" dirty="0"/>
          </a:p>
        </p:txBody>
      </p:sp>
      <p:sp>
        <p:nvSpPr>
          <p:cNvPr id="7" name="S11-text147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5000</a:t>
            </a:r>
            <a:endParaRPr lang="ko-KR" sz="2800" dirty="0"/>
          </a:p>
        </p:txBody>
      </p:sp>
      <p:sp>
        <p:nvSpPr>
          <p:cNvPr id="8" name="S11-text148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7100</a:t>
            </a:r>
            <a:endParaRPr lang="ko-KR" sz="2800" dirty="0"/>
          </a:p>
        </p:txBody>
      </p:sp>
      <p:sp>
        <p:nvSpPr>
          <p:cNvPr id="9" name="S11-text149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올림, 5묶음</a:t>
            </a:r>
            <a:endParaRPr lang="ko-KR" sz="2800" dirty="0"/>
          </a:p>
        </p:txBody>
      </p:sp>
      <p:sp>
        <p:nvSpPr>
          <p:cNvPr id="10" name="S11-chip15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1-text151"/>
          <p:cNvSpPr txBox="1"/>
          <p:nvPr/>
        </p:nvSpPr>
        <p:spPr>
          <a:xfrm>
            <a:off x="6277356" y="2057400"/>
            <a:ext cx="5362956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5280: 십의 자리까지 함</a:t>
            </a:r>
            <a:endParaRPr lang="ko-KR" sz="2800" dirty="0"/>
          </a:p>
        </p:txBody>
      </p:sp>
      <p:sp>
        <p:nvSpPr>
          <p:cNvPr id="12" name="S11-text152"/>
          <p:cNvSpPr txBox="1"/>
          <p:nvPr/>
        </p:nvSpPr>
        <p:spPr>
          <a:xfrm>
            <a:off x="6277356" y="3014811"/>
            <a:ext cx="5362956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7000: 백의 자리 0만 봄</a:t>
            </a:r>
            <a:endParaRPr lang="ko-KR" sz="2800" dirty="0"/>
          </a:p>
        </p:txBody>
      </p:sp>
      <p:sp>
        <p:nvSpPr>
          <p:cNvPr id="13" name="S11-text153"/>
          <p:cNvSpPr txBox="1"/>
          <p:nvPr/>
        </p:nvSpPr>
        <p:spPr>
          <a:xfrm>
            <a:off x="6277356" y="3972221"/>
            <a:ext cx="5362956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4묶음: 버림을 씀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254, 다른 답</a:t>
            </a:r>
            <a:endParaRPr lang="ko-KR" sz="4000" dirty="0"/>
          </a:p>
        </p:txBody>
      </p:sp>
      <p:sp>
        <p:nvSpPr>
          <p:cNvPr id="3" name="S12-text1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어림 방법과 답을 말해요.</a:t>
            </a:r>
            <a:endParaRPr lang="ko-KR" sz="2800" dirty="0"/>
          </a:p>
        </p:txBody>
      </p:sp>
      <p:sp>
        <p:nvSpPr>
          <p:cNvPr id="4" name="S12-chip15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15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 254개를 10개씩 꿰어 목걸이를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만들면 몇 개까지 만들 수 있을까요?</a:t>
            </a:r>
            <a:endParaRPr lang="ko-KR" sz="2800" dirty="0"/>
          </a:p>
        </p:txBody>
      </p:sp>
      <p:sp>
        <p:nvSpPr>
          <p:cNvPr id="6" name="S12-chip15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15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254명이 10명씩 케이블카를 타요.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적어도 몇 번 운행해야 할까요?</a:t>
            </a:r>
            <a:endParaRPr lang="ko-KR" sz="2800" dirty="0"/>
          </a:p>
        </p:txBody>
      </p:sp>
      <p:sp>
        <p:nvSpPr>
          <p:cNvPr id="8" name="S12-chip15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16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 254 kg을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자리까지 나타내면?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6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6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반올림은 바로 아래 숫자가 5 이상이면 올리고, 4 이하이면 버려요.</a:t>
            </a:r>
            <a:endParaRPr lang="ko-KR" sz="2800" dirty="0"/>
          </a:p>
        </p:txBody>
      </p:sp>
      <p:sp>
        <p:nvSpPr>
          <p:cNvPr id="5" name="S13-chip16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남은 것도 해결해야 하면 올림</a:t>
            </a:r>
            <a:endParaRPr lang="ko-KR" sz="2200" dirty="0"/>
          </a:p>
        </p:txBody>
      </p:sp>
      <p:sp>
        <p:nvSpPr>
          <p:cNvPr id="6" name="S13-chip16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반올림을 여러 번 하기</a:t>
            </a:r>
            <a:endParaRPr lang="ko-KR" sz="2200" dirty="0"/>
          </a:p>
        </p:txBody>
      </p:sp>
      <p:sp>
        <p:nvSpPr>
          <p:cNvPr id="7" name="S13-text16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6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3481을 올림하여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자리까지</a:t>
            </a:r>
            <a:endParaRPr lang="ko-KR" sz="2200" dirty="0"/>
          </a:p>
        </p:txBody>
      </p:sp>
      <p:sp>
        <p:nvSpPr>
          <p:cNvPr id="9" name="S13-text16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3481을 반올림하여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자리까지</a:t>
            </a:r>
            <a:endParaRPr lang="ko-KR" sz="2200" dirty="0"/>
          </a:p>
        </p:txBody>
      </p:sp>
      <p:sp>
        <p:nvSpPr>
          <p:cNvPr id="10" name="S13-text16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공책 52권 사기: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10권 묶음으로 몇 묶음?</a:t>
            </a:r>
            <a:endParaRPr lang="ko-KR" sz="2200" dirty="0"/>
          </a:p>
        </p:txBody>
      </p:sp>
      <p:sp>
        <p:nvSpPr>
          <p:cNvPr id="11" name="S13-text16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분수와 자연수의 곱셈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더 가까운 몇십</a:t>
            </a:r>
            <a:endParaRPr lang="ko-KR" sz="4000" dirty="0"/>
          </a:p>
        </p:txBody>
      </p:sp>
      <p:sp>
        <p:nvSpPr>
          <p:cNvPr id="3" name="S14-text1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37은 30과 40 중 어디에 더 가까울까요?</a:t>
            </a:r>
            <a:endParaRPr lang="ko-KR" sz="2800" dirty="0"/>
          </a:p>
        </p:txBody>
      </p:sp>
      <p:sp>
        <p:nvSpPr>
          <p:cNvPr id="4" name="S14-card171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72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37은 40에 더 가까워요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40까지 3칸, 30까지 7칸이에요.</a:t>
            </a:r>
            <a:endParaRPr lang="ko-KR" sz="2800" dirty="0"/>
          </a:p>
        </p:txBody>
      </p:sp>
      <p:sp>
        <p:nvSpPr>
          <p:cNvPr id="6" name="S14-line173"/>
          <p:cNvSpPr/>
          <p:nvPr/>
        </p:nvSpPr>
        <p:spPr>
          <a:xfrm>
            <a:off x="685800" y="374616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4-line174"/>
          <p:cNvSpPr/>
          <p:nvPr/>
        </p:nvSpPr>
        <p:spPr>
          <a:xfrm>
            <a:off x="960120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4-label175"/>
          <p:cNvSpPr txBox="1"/>
          <p:nvPr/>
        </p:nvSpPr>
        <p:spPr>
          <a:xfrm>
            <a:off x="502920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9" name="S14-line176"/>
          <p:cNvSpPr/>
          <p:nvPr/>
        </p:nvSpPr>
        <p:spPr>
          <a:xfrm>
            <a:off x="1986991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4-label177"/>
          <p:cNvSpPr txBox="1"/>
          <p:nvPr/>
        </p:nvSpPr>
        <p:spPr>
          <a:xfrm>
            <a:off x="1529791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ko-KR" sz="2200" dirty="0"/>
          </a:p>
        </p:txBody>
      </p:sp>
      <p:sp>
        <p:nvSpPr>
          <p:cNvPr id="11" name="S14-line178"/>
          <p:cNvSpPr/>
          <p:nvPr/>
        </p:nvSpPr>
        <p:spPr>
          <a:xfrm>
            <a:off x="3013862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4-label179"/>
          <p:cNvSpPr txBox="1"/>
          <p:nvPr/>
        </p:nvSpPr>
        <p:spPr>
          <a:xfrm>
            <a:off x="2556662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2200" dirty="0"/>
          </a:p>
        </p:txBody>
      </p:sp>
      <p:sp>
        <p:nvSpPr>
          <p:cNvPr id="13" name="S14-line180"/>
          <p:cNvSpPr/>
          <p:nvPr/>
        </p:nvSpPr>
        <p:spPr>
          <a:xfrm>
            <a:off x="4040734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4-label181"/>
          <p:cNvSpPr txBox="1"/>
          <p:nvPr/>
        </p:nvSpPr>
        <p:spPr>
          <a:xfrm>
            <a:off x="3583534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ko-KR" sz="2200" dirty="0"/>
          </a:p>
        </p:txBody>
      </p:sp>
      <p:sp>
        <p:nvSpPr>
          <p:cNvPr id="15" name="S14-line182"/>
          <p:cNvSpPr/>
          <p:nvPr/>
        </p:nvSpPr>
        <p:spPr>
          <a:xfrm>
            <a:off x="5067605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4-label183"/>
          <p:cNvSpPr txBox="1"/>
          <p:nvPr/>
        </p:nvSpPr>
        <p:spPr>
          <a:xfrm>
            <a:off x="4610405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2200" dirty="0"/>
          </a:p>
        </p:txBody>
      </p:sp>
      <p:sp>
        <p:nvSpPr>
          <p:cNvPr id="17" name="S14-line184"/>
          <p:cNvSpPr/>
          <p:nvPr/>
        </p:nvSpPr>
        <p:spPr>
          <a:xfrm>
            <a:off x="6094476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4-label185"/>
          <p:cNvSpPr txBox="1"/>
          <p:nvPr/>
        </p:nvSpPr>
        <p:spPr>
          <a:xfrm>
            <a:off x="5637276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200" dirty="0"/>
          </a:p>
        </p:txBody>
      </p:sp>
      <p:sp>
        <p:nvSpPr>
          <p:cNvPr id="19" name="S14-line186"/>
          <p:cNvSpPr/>
          <p:nvPr/>
        </p:nvSpPr>
        <p:spPr>
          <a:xfrm>
            <a:off x="7121347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4-label187"/>
          <p:cNvSpPr txBox="1"/>
          <p:nvPr/>
        </p:nvSpPr>
        <p:spPr>
          <a:xfrm>
            <a:off x="6664147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2200" dirty="0"/>
          </a:p>
        </p:txBody>
      </p:sp>
      <p:sp>
        <p:nvSpPr>
          <p:cNvPr id="21" name="S14-line188"/>
          <p:cNvSpPr/>
          <p:nvPr/>
        </p:nvSpPr>
        <p:spPr>
          <a:xfrm>
            <a:off x="8148218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4-label189"/>
          <p:cNvSpPr txBox="1"/>
          <p:nvPr/>
        </p:nvSpPr>
        <p:spPr>
          <a:xfrm>
            <a:off x="7691018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ko-KR" sz="2200" dirty="0"/>
          </a:p>
        </p:txBody>
      </p:sp>
      <p:sp>
        <p:nvSpPr>
          <p:cNvPr id="23" name="S14-line190"/>
          <p:cNvSpPr/>
          <p:nvPr/>
        </p:nvSpPr>
        <p:spPr>
          <a:xfrm>
            <a:off x="9175090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4-label191"/>
          <p:cNvSpPr txBox="1"/>
          <p:nvPr/>
        </p:nvSpPr>
        <p:spPr>
          <a:xfrm>
            <a:off x="8717890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ko-KR" sz="2200" dirty="0"/>
          </a:p>
        </p:txBody>
      </p:sp>
      <p:sp>
        <p:nvSpPr>
          <p:cNvPr id="25" name="S14-line192"/>
          <p:cNvSpPr/>
          <p:nvPr/>
        </p:nvSpPr>
        <p:spPr>
          <a:xfrm>
            <a:off x="10201961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4-label193"/>
          <p:cNvSpPr txBox="1"/>
          <p:nvPr/>
        </p:nvSpPr>
        <p:spPr>
          <a:xfrm>
            <a:off x="9744761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ko-KR" sz="2200" dirty="0"/>
          </a:p>
        </p:txBody>
      </p:sp>
      <p:sp>
        <p:nvSpPr>
          <p:cNvPr id="27" name="S14-line194"/>
          <p:cNvSpPr/>
          <p:nvPr/>
        </p:nvSpPr>
        <p:spPr>
          <a:xfrm>
            <a:off x="11228832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4-label195"/>
          <p:cNvSpPr txBox="1"/>
          <p:nvPr/>
        </p:nvSpPr>
        <p:spPr>
          <a:xfrm>
            <a:off x="10771632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29" name="S14-mark196"/>
          <p:cNvSpPr/>
          <p:nvPr/>
        </p:nvSpPr>
        <p:spPr>
          <a:xfrm>
            <a:off x="8056778" y="365472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14-label197"/>
          <p:cNvSpPr txBox="1"/>
          <p:nvPr/>
        </p:nvSpPr>
        <p:spPr>
          <a:xfrm>
            <a:off x="7599578" y="3154345"/>
            <a:ext cx="109728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ko-KR" sz="2200" dirty="0"/>
          </a:p>
        </p:txBody>
      </p:sp>
      <p:sp>
        <p:nvSpPr>
          <p:cNvPr id="31" name="S14-figure198" descr="30부터 40까지 1씩 눈금 수직선에 37 표시"/>
          <p:cNvSpPr/>
          <p:nvPr/>
        </p:nvSpPr>
        <p:spPr>
          <a:xfrm>
            <a:off x="685800" y="356328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어림하기</dc:title>
  <dc:subject>KR22-G05-MAT-ROUND-L01</dc:subject>
  <dc:creator>education-ppt</dc:creator>
  <cp:lastModifiedBy>education-ppt</cp:lastModifiedBy>
  <cp:revision>1</cp:revision>
  <dcterms:created xsi:type="dcterms:W3CDTF">2026-10-26T08:32:25Z</dcterms:created>
  <dcterms:modified xsi:type="dcterms:W3CDTF">2026-10-26T08:32:25Z</dcterms:modified>
</cp:coreProperties>
</file>