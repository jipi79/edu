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a27d6be-2be1-f58a-d412-a3a3aa342b70}">
          <p14:sldIdLst>
            <p14:sldId id="256"/>
            <p14:sldId id="257"/>
          </p14:sldIdLst>
        </p14:section>
        <p14:section name="개념" id="{9c570479-1079-371b-7203-8434c0992c07}">
          <p14:sldIdLst>
            <p14:sldId id="258"/>
            <p14:sldId id="259"/>
            <p14:sldId id="260"/>
            <p14:sldId id="263"/>
          </p14:sldIdLst>
        </p14:section>
        <p14:section name="연습" id="{73df1fe6-aaba-568b-4247-14bd99a371d4}">
          <p14:sldIdLst>
            <p14:sldId id="261"/>
            <p14:sldId id="262"/>
            <p14:sldId id="264"/>
          </p14:sldIdLst>
        </p14:section>
        <p14:section name="개념" id="{fbccecdc-8968-4521-79a9-669427da88f0}">
          <p14:sldIdLst/>
        </p14:section>
        <p14:section name="연습" id="{f822d6e1-1b35-0dda-3787-269a15981525}">
          <p14:sldIdLst/>
        </p14:section>
        <p14:section name="확인" id="{7e07e875-6ec3-c49f-fe1e-95343bf671f3}">
          <p14:sldIdLst>
            <p14:sldId id="265"/>
            <p14:sldId id="266"/>
          </p14:sldIdLst>
        </p14:section>
        <p14:section name="정리" id="{2680aed5-b337-b628-cc43-87d4336e312b}">
          <p14:sldIdLst>
            <p14:sldId id="267"/>
          </p14:sldIdLst>
        </p14:section>
        <p14:section name="보충" id="{4584ba3e-1259-a274-4c40-62a17e86452c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곱셈과어림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어림하기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어림하기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수학 · 어림하기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어림하기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 243개를 한 상자에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담으려면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상자가 몇 개 필요할까?</a:t>
            </a:r>
            <a:endParaRPr lang="ko-KR" sz="2800" dirty="0"/>
          </a:p>
        </p:txBody>
      </p:sp>
      <p:sp>
        <p:nvSpPr>
          <p:cNvPr id="4" name="S01-bigtext1"/>
          <p:cNvSpPr txBox="1"/>
          <p:nvPr/>
        </p:nvSpPr>
        <p:spPr>
          <a:xfrm>
            <a:off x="7680960" y="64008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올림 · 버림</a:t>
            </a:r>
            <a:endParaRPr lang="ko-KR" sz="4000" dirty="0"/>
          </a:p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반올림</a:t>
            </a:r>
            <a:endParaRPr lang="ko-KR" sz="4000" dirty="0"/>
          </a:p>
        </p:txBody>
      </p:sp>
      <p:sp>
        <p:nvSpPr>
          <p:cNvPr id="5" name="S01-card2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올림·버림·반올림을 할 수 있어요.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상황에 맞는 어림 방법을 골라요.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text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물음에 답해요.</a:t>
            </a:r>
            <a:endParaRPr lang="ko-KR" sz="2800" dirty="0"/>
          </a:p>
        </p:txBody>
      </p:sp>
      <p:sp>
        <p:nvSpPr>
          <p:cNvPr id="4" name="S02-chip5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6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4385에서 백의 자리 숫자는?</a:t>
            </a:r>
            <a:endParaRPr lang="ko-KR" sz="2800" dirty="0"/>
          </a:p>
        </p:txBody>
      </p:sp>
      <p:sp>
        <p:nvSpPr>
          <p:cNvPr id="6" name="S02-chip7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8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37은 30과 40 중 어느 쪽에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가까울까요?</a:t>
            </a:r>
            <a:endParaRPr lang="ko-KR" sz="2800" dirty="0"/>
          </a:p>
        </p:txBody>
      </p:sp>
      <p:sp>
        <p:nvSpPr>
          <p:cNvPr id="8" name="S02-chip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2-text10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이상 20 미만인 자연수를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써요.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올림: 올려서 나타내요</a:t>
            </a:r>
            <a:endParaRPr lang="ko-KR" sz="4000" dirty="0"/>
          </a:p>
        </p:txBody>
      </p:sp>
      <p:sp>
        <p:nvSpPr>
          <p:cNvPr id="3" name="S03-text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243을 올림하여 십의 자리까지 나타내요.</a:t>
            </a:r>
            <a:endParaRPr lang="ko-KR" sz="2800" dirty="0"/>
          </a:p>
        </p:txBody>
      </p:sp>
      <p:sp>
        <p:nvSpPr>
          <p:cNvPr id="4" name="S03-card12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3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올림: 243 → 250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 아래 수 3을 10으로 올려 250으로 나타내요.</a:t>
            </a:r>
            <a:endParaRPr lang="ko-KR" sz="2800" dirty="0"/>
          </a:p>
        </p:txBody>
      </p:sp>
      <p:sp>
        <p:nvSpPr>
          <p:cNvPr id="6" name="S03-figure14" descr="240부터 250까지 수직선: 243에서 250으로 가는 화살표(올림)"/>
          <p:cNvSpPr/>
          <p:nvPr/>
        </p:nvSpPr>
        <p:spPr>
          <a:xfrm>
            <a:off x="4101084" y="3419602"/>
            <a:ext cx="329184" cy="32918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E9762B"/>
            </a:solidFill>
            <a:prstDash val="solid"/>
          </a:ln>
        </p:spPr>
      </p:sp>
      <p:sp>
        <p:nvSpPr>
          <p:cNvPr id="7" name="S03-mark15"/>
          <p:cNvSpPr/>
          <p:nvPr/>
        </p:nvSpPr>
        <p:spPr>
          <a:xfrm>
            <a:off x="882396" y="3584194"/>
            <a:ext cx="1042416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8" name="S03-mark16"/>
          <p:cNvSpPr/>
          <p:nvPr/>
        </p:nvSpPr>
        <p:spPr>
          <a:xfrm>
            <a:off x="15224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03-mark17"/>
          <p:cNvSpPr/>
          <p:nvPr/>
        </p:nvSpPr>
        <p:spPr>
          <a:xfrm>
            <a:off x="24368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3-mark18"/>
          <p:cNvSpPr/>
          <p:nvPr/>
        </p:nvSpPr>
        <p:spPr>
          <a:xfrm>
            <a:off x="33512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3-mark19"/>
          <p:cNvSpPr/>
          <p:nvPr/>
        </p:nvSpPr>
        <p:spPr>
          <a:xfrm>
            <a:off x="42656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3-mark20"/>
          <p:cNvSpPr/>
          <p:nvPr/>
        </p:nvSpPr>
        <p:spPr>
          <a:xfrm>
            <a:off x="51800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3-mark21"/>
          <p:cNvSpPr/>
          <p:nvPr/>
        </p:nvSpPr>
        <p:spPr>
          <a:xfrm>
            <a:off x="60944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3-mark22"/>
          <p:cNvSpPr/>
          <p:nvPr/>
        </p:nvSpPr>
        <p:spPr>
          <a:xfrm>
            <a:off x="70088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3-mark23"/>
          <p:cNvSpPr/>
          <p:nvPr/>
        </p:nvSpPr>
        <p:spPr>
          <a:xfrm>
            <a:off x="79232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3-mark24"/>
          <p:cNvSpPr/>
          <p:nvPr/>
        </p:nvSpPr>
        <p:spPr>
          <a:xfrm>
            <a:off x="88376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3-mark25"/>
          <p:cNvSpPr/>
          <p:nvPr/>
        </p:nvSpPr>
        <p:spPr>
          <a:xfrm>
            <a:off x="97520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3-mark26"/>
          <p:cNvSpPr/>
          <p:nvPr/>
        </p:nvSpPr>
        <p:spPr>
          <a:xfrm>
            <a:off x="106664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3-mark27"/>
          <p:cNvSpPr/>
          <p:nvPr/>
        </p:nvSpPr>
        <p:spPr>
          <a:xfrm flipV="1">
            <a:off x="4265676" y="3017266"/>
            <a:ext cx="0" cy="338328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</a:ln>
        </p:spPr>
      </p:sp>
      <p:sp>
        <p:nvSpPr>
          <p:cNvPr id="20" name="S03-mark28"/>
          <p:cNvSpPr/>
          <p:nvPr/>
        </p:nvSpPr>
        <p:spPr>
          <a:xfrm>
            <a:off x="4265676" y="3017266"/>
            <a:ext cx="6400800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1" name="S03-label30"/>
          <p:cNvSpPr txBox="1"/>
          <p:nvPr/>
        </p:nvSpPr>
        <p:spPr>
          <a:xfrm>
            <a:off x="1191006" y="4067937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240</a:t>
            </a:r>
            <a:endParaRPr lang="ko-KR" sz="2200" dirty="0"/>
          </a:p>
        </p:txBody>
      </p:sp>
      <p:sp>
        <p:nvSpPr>
          <p:cNvPr id="22" name="S03-label32"/>
          <p:cNvSpPr txBox="1"/>
          <p:nvPr/>
        </p:nvSpPr>
        <p:spPr>
          <a:xfrm>
            <a:off x="5763006" y="4067937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245</a:t>
            </a:r>
            <a:endParaRPr lang="ko-KR" sz="2200" dirty="0"/>
          </a:p>
        </p:txBody>
      </p:sp>
      <p:sp>
        <p:nvSpPr>
          <p:cNvPr id="23" name="S03-label34"/>
          <p:cNvSpPr txBox="1"/>
          <p:nvPr/>
        </p:nvSpPr>
        <p:spPr>
          <a:xfrm>
            <a:off x="10335006" y="4067937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</a:t>
            </a:r>
            <a:endParaRPr lang="ko-KR" sz="2200" dirty="0"/>
          </a:p>
        </p:txBody>
      </p:sp>
      <p:sp>
        <p:nvSpPr>
          <p:cNvPr id="24" name="S03-label36"/>
          <p:cNvSpPr txBox="1"/>
          <p:nvPr/>
        </p:nvSpPr>
        <p:spPr>
          <a:xfrm>
            <a:off x="3934206" y="4067937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243</a:t>
            </a:r>
            <a:endParaRPr lang="ko-KR" sz="2200" dirty="0"/>
          </a:p>
        </p:txBody>
      </p:sp>
      <p:sp>
        <p:nvSpPr>
          <p:cNvPr id="25" name="S03-label38"/>
          <p:cNvSpPr txBox="1"/>
          <p:nvPr/>
        </p:nvSpPr>
        <p:spPr>
          <a:xfrm>
            <a:off x="7137400" y="2403729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올림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버림: 버려서 나타내요</a:t>
            </a:r>
            <a:endParaRPr lang="ko-KR" sz="4000" dirty="0"/>
          </a:p>
        </p:txBody>
      </p:sp>
      <p:sp>
        <p:nvSpPr>
          <p:cNvPr id="3" name="S04-text3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243을 버림하여 십의 자리까지 나타내요.</a:t>
            </a:r>
            <a:endParaRPr lang="ko-KR" sz="2800" dirty="0"/>
          </a:p>
        </p:txBody>
      </p:sp>
      <p:sp>
        <p:nvSpPr>
          <p:cNvPr id="4" name="S04-card40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41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버림: 243 → 240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 아래 수 3을 0으로 버려 240으로 나타내요.</a:t>
            </a:r>
            <a:endParaRPr lang="ko-KR" sz="2800" dirty="0"/>
          </a:p>
        </p:txBody>
      </p:sp>
      <p:sp>
        <p:nvSpPr>
          <p:cNvPr id="6" name="S04-figure42" descr="240부터 250까지 수직선: 243에서 240으로 가는 화살표(버림)"/>
          <p:cNvSpPr/>
          <p:nvPr/>
        </p:nvSpPr>
        <p:spPr>
          <a:xfrm>
            <a:off x="4101084" y="3419602"/>
            <a:ext cx="329184" cy="32918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E9762B"/>
            </a:solidFill>
            <a:prstDash val="solid"/>
          </a:ln>
        </p:spPr>
      </p:sp>
      <p:sp>
        <p:nvSpPr>
          <p:cNvPr id="7" name="S04-mark43"/>
          <p:cNvSpPr/>
          <p:nvPr/>
        </p:nvSpPr>
        <p:spPr>
          <a:xfrm>
            <a:off x="882396" y="3584194"/>
            <a:ext cx="1042416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8" name="S04-mark44"/>
          <p:cNvSpPr/>
          <p:nvPr/>
        </p:nvSpPr>
        <p:spPr>
          <a:xfrm>
            <a:off x="15224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04-mark45"/>
          <p:cNvSpPr/>
          <p:nvPr/>
        </p:nvSpPr>
        <p:spPr>
          <a:xfrm>
            <a:off x="24368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4-mark46"/>
          <p:cNvSpPr/>
          <p:nvPr/>
        </p:nvSpPr>
        <p:spPr>
          <a:xfrm>
            <a:off x="33512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4-mark47"/>
          <p:cNvSpPr/>
          <p:nvPr/>
        </p:nvSpPr>
        <p:spPr>
          <a:xfrm>
            <a:off x="42656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4-mark48"/>
          <p:cNvSpPr/>
          <p:nvPr/>
        </p:nvSpPr>
        <p:spPr>
          <a:xfrm>
            <a:off x="51800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4-mark49"/>
          <p:cNvSpPr/>
          <p:nvPr/>
        </p:nvSpPr>
        <p:spPr>
          <a:xfrm>
            <a:off x="60944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4-mark50"/>
          <p:cNvSpPr/>
          <p:nvPr/>
        </p:nvSpPr>
        <p:spPr>
          <a:xfrm>
            <a:off x="70088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4-mark51"/>
          <p:cNvSpPr/>
          <p:nvPr/>
        </p:nvSpPr>
        <p:spPr>
          <a:xfrm>
            <a:off x="79232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4-mark52"/>
          <p:cNvSpPr/>
          <p:nvPr/>
        </p:nvSpPr>
        <p:spPr>
          <a:xfrm>
            <a:off x="88376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4-mark53"/>
          <p:cNvSpPr/>
          <p:nvPr/>
        </p:nvSpPr>
        <p:spPr>
          <a:xfrm>
            <a:off x="97520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4-mark54"/>
          <p:cNvSpPr/>
          <p:nvPr/>
        </p:nvSpPr>
        <p:spPr>
          <a:xfrm>
            <a:off x="106664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4-mark55"/>
          <p:cNvSpPr/>
          <p:nvPr/>
        </p:nvSpPr>
        <p:spPr>
          <a:xfrm flipV="1">
            <a:off x="4265676" y="3017266"/>
            <a:ext cx="0" cy="338328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</a:ln>
        </p:spPr>
      </p:sp>
      <p:sp>
        <p:nvSpPr>
          <p:cNvPr id="20" name="S04-mark56"/>
          <p:cNvSpPr/>
          <p:nvPr/>
        </p:nvSpPr>
        <p:spPr>
          <a:xfrm flipH="1">
            <a:off x="1522476" y="3017266"/>
            <a:ext cx="2743200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1" name="S04-label58"/>
          <p:cNvSpPr txBox="1"/>
          <p:nvPr/>
        </p:nvSpPr>
        <p:spPr>
          <a:xfrm>
            <a:off x="1191006" y="4067937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240</a:t>
            </a:r>
            <a:endParaRPr lang="ko-KR" sz="2200" dirty="0"/>
          </a:p>
        </p:txBody>
      </p:sp>
      <p:sp>
        <p:nvSpPr>
          <p:cNvPr id="22" name="S04-label60"/>
          <p:cNvSpPr txBox="1"/>
          <p:nvPr/>
        </p:nvSpPr>
        <p:spPr>
          <a:xfrm>
            <a:off x="5763006" y="4067937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245</a:t>
            </a:r>
            <a:endParaRPr lang="ko-KR" sz="2200" dirty="0"/>
          </a:p>
        </p:txBody>
      </p:sp>
      <p:sp>
        <p:nvSpPr>
          <p:cNvPr id="23" name="S04-label62"/>
          <p:cNvSpPr txBox="1"/>
          <p:nvPr/>
        </p:nvSpPr>
        <p:spPr>
          <a:xfrm>
            <a:off x="10335006" y="4067937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</a:t>
            </a:r>
            <a:endParaRPr lang="ko-KR" sz="2200" dirty="0"/>
          </a:p>
        </p:txBody>
      </p:sp>
      <p:sp>
        <p:nvSpPr>
          <p:cNvPr id="24" name="S04-label64"/>
          <p:cNvSpPr txBox="1"/>
          <p:nvPr/>
        </p:nvSpPr>
        <p:spPr>
          <a:xfrm>
            <a:off x="3934206" y="4067937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243</a:t>
            </a:r>
            <a:endParaRPr lang="ko-KR" sz="2200" dirty="0"/>
          </a:p>
        </p:txBody>
      </p:sp>
      <p:sp>
        <p:nvSpPr>
          <p:cNvPr id="25" name="S04-label66"/>
          <p:cNvSpPr txBox="1"/>
          <p:nvPr/>
        </p:nvSpPr>
        <p:spPr>
          <a:xfrm>
            <a:off x="2565400" y="2403729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버림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반올림: 가까운 쪽으로</a:t>
            </a:r>
            <a:endParaRPr lang="ko-KR" sz="4000" dirty="0"/>
          </a:p>
        </p:txBody>
      </p:sp>
      <p:sp>
        <p:nvSpPr>
          <p:cNvPr id="3" name="S05-text6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아래 자리 숫자를 보고 정해요.</a:t>
            </a:r>
            <a:endParaRPr lang="ko-KR" sz="2800" dirty="0"/>
          </a:p>
        </p:txBody>
      </p:sp>
      <p:sp>
        <p:nvSpPr>
          <p:cNvPr id="4" name="S05-figure68" descr="240부터 250까지 수직선: 243은 240으로(버림), 247은 250으로(올림) 가는 화살표"/>
          <p:cNvSpPr/>
          <p:nvPr/>
        </p:nvSpPr>
        <p:spPr>
          <a:xfrm>
            <a:off x="2567814" y="4120298"/>
            <a:ext cx="197934" cy="19793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E9762B"/>
            </a:solidFill>
            <a:prstDash val="solid"/>
          </a:ln>
        </p:spPr>
      </p:sp>
      <p:sp>
        <p:nvSpPr>
          <p:cNvPr id="5" name="S05-mark69"/>
          <p:cNvSpPr/>
          <p:nvPr/>
        </p:nvSpPr>
        <p:spPr>
          <a:xfrm>
            <a:off x="4767079" y="4120298"/>
            <a:ext cx="197934" cy="19793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E9762B"/>
            </a:solidFill>
            <a:prstDash val="solid"/>
          </a:ln>
        </p:spPr>
      </p:sp>
      <p:sp>
        <p:nvSpPr>
          <p:cNvPr id="6" name="S05-mark70"/>
          <p:cNvSpPr/>
          <p:nvPr/>
        </p:nvSpPr>
        <p:spPr>
          <a:xfrm>
            <a:off x="632460" y="4219265"/>
            <a:ext cx="6267907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5-mark71"/>
          <p:cNvSpPr/>
          <p:nvPr/>
        </p:nvSpPr>
        <p:spPr>
          <a:xfrm>
            <a:off x="1017331" y="4131294"/>
            <a:ext cx="0" cy="17594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5-mark72"/>
          <p:cNvSpPr/>
          <p:nvPr/>
        </p:nvSpPr>
        <p:spPr>
          <a:xfrm>
            <a:off x="1567148" y="4131294"/>
            <a:ext cx="0" cy="17594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05-mark73"/>
          <p:cNvSpPr/>
          <p:nvPr/>
        </p:nvSpPr>
        <p:spPr>
          <a:xfrm>
            <a:off x="2116964" y="4131294"/>
            <a:ext cx="0" cy="17594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5-mark74"/>
          <p:cNvSpPr/>
          <p:nvPr/>
        </p:nvSpPr>
        <p:spPr>
          <a:xfrm>
            <a:off x="2666781" y="4131294"/>
            <a:ext cx="0" cy="17594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5-mark75"/>
          <p:cNvSpPr/>
          <p:nvPr/>
        </p:nvSpPr>
        <p:spPr>
          <a:xfrm>
            <a:off x="3216597" y="4131294"/>
            <a:ext cx="0" cy="17594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5-mark76"/>
          <p:cNvSpPr/>
          <p:nvPr/>
        </p:nvSpPr>
        <p:spPr>
          <a:xfrm>
            <a:off x="3766414" y="4131294"/>
            <a:ext cx="0" cy="17594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5-mark77"/>
          <p:cNvSpPr/>
          <p:nvPr/>
        </p:nvSpPr>
        <p:spPr>
          <a:xfrm>
            <a:off x="4316230" y="4131294"/>
            <a:ext cx="0" cy="17594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5-mark78"/>
          <p:cNvSpPr/>
          <p:nvPr/>
        </p:nvSpPr>
        <p:spPr>
          <a:xfrm>
            <a:off x="4866046" y="4131294"/>
            <a:ext cx="0" cy="17594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5-mark79"/>
          <p:cNvSpPr/>
          <p:nvPr/>
        </p:nvSpPr>
        <p:spPr>
          <a:xfrm>
            <a:off x="5415863" y="4131294"/>
            <a:ext cx="0" cy="17594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5-mark80"/>
          <p:cNvSpPr/>
          <p:nvPr/>
        </p:nvSpPr>
        <p:spPr>
          <a:xfrm>
            <a:off x="5965679" y="4131294"/>
            <a:ext cx="0" cy="17594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5-mark81"/>
          <p:cNvSpPr/>
          <p:nvPr/>
        </p:nvSpPr>
        <p:spPr>
          <a:xfrm>
            <a:off x="6515496" y="4131294"/>
            <a:ext cx="0" cy="175941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5-mark82"/>
          <p:cNvSpPr/>
          <p:nvPr/>
        </p:nvSpPr>
        <p:spPr>
          <a:xfrm flipV="1">
            <a:off x="2666781" y="3878379"/>
            <a:ext cx="0" cy="203432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</a:ln>
        </p:spPr>
      </p:sp>
      <p:sp>
        <p:nvSpPr>
          <p:cNvPr id="19" name="S05-mark83"/>
          <p:cNvSpPr/>
          <p:nvPr/>
        </p:nvSpPr>
        <p:spPr>
          <a:xfrm flipH="1">
            <a:off x="1017331" y="3878379"/>
            <a:ext cx="1649449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0" name="S05-mark84"/>
          <p:cNvSpPr/>
          <p:nvPr/>
        </p:nvSpPr>
        <p:spPr>
          <a:xfrm flipV="1">
            <a:off x="4866046" y="3878379"/>
            <a:ext cx="0" cy="203432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</a:ln>
        </p:spPr>
      </p:sp>
      <p:sp>
        <p:nvSpPr>
          <p:cNvPr id="21" name="S05-mark85"/>
          <p:cNvSpPr/>
          <p:nvPr/>
        </p:nvSpPr>
        <p:spPr>
          <a:xfrm>
            <a:off x="4866046" y="3878379"/>
            <a:ext cx="1649449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2" name="S05-label87"/>
          <p:cNvSpPr txBox="1"/>
          <p:nvPr/>
        </p:nvSpPr>
        <p:spPr>
          <a:xfrm>
            <a:off x="685861" y="4440508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240</a:t>
            </a:r>
            <a:endParaRPr lang="ko-KR" sz="2200" dirty="0"/>
          </a:p>
        </p:txBody>
      </p:sp>
      <p:sp>
        <p:nvSpPr>
          <p:cNvPr id="23" name="S05-label89"/>
          <p:cNvSpPr txBox="1"/>
          <p:nvPr/>
        </p:nvSpPr>
        <p:spPr>
          <a:xfrm>
            <a:off x="3434944" y="4440508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245</a:t>
            </a:r>
            <a:endParaRPr lang="ko-KR" sz="2200" dirty="0"/>
          </a:p>
        </p:txBody>
      </p:sp>
      <p:sp>
        <p:nvSpPr>
          <p:cNvPr id="24" name="S05-label91"/>
          <p:cNvSpPr txBox="1"/>
          <p:nvPr/>
        </p:nvSpPr>
        <p:spPr>
          <a:xfrm>
            <a:off x="6184026" y="4440508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</a:t>
            </a:r>
            <a:endParaRPr lang="ko-KR" sz="2200" dirty="0"/>
          </a:p>
        </p:txBody>
      </p:sp>
      <p:sp>
        <p:nvSpPr>
          <p:cNvPr id="25" name="S05-label93"/>
          <p:cNvSpPr txBox="1"/>
          <p:nvPr/>
        </p:nvSpPr>
        <p:spPr>
          <a:xfrm>
            <a:off x="2335311" y="4440508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243</a:t>
            </a:r>
            <a:endParaRPr lang="ko-KR" sz="2200" dirty="0"/>
          </a:p>
        </p:txBody>
      </p:sp>
      <p:sp>
        <p:nvSpPr>
          <p:cNvPr id="26" name="S05-label95"/>
          <p:cNvSpPr txBox="1"/>
          <p:nvPr/>
        </p:nvSpPr>
        <p:spPr>
          <a:xfrm>
            <a:off x="4534576" y="4440508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247</a:t>
            </a:r>
            <a:endParaRPr lang="ko-KR" sz="2200" dirty="0"/>
          </a:p>
        </p:txBody>
      </p:sp>
      <p:sp>
        <p:nvSpPr>
          <p:cNvPr id="27" name="S05-label97"/>
          <p:cNvSpPr txBox="1"/>
          <p:nvPr/>
        </p:nvSpPr>
        <p:spPr>
          <a:xfrm>
            <a:off x="1513380" y="3439842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버림</a:t>
            </a:r>
            <a:endParaRPr lang="ko-KR" sz="2200" dirty="0"/>
          </a:p>
        </p:txBody>
      </p:sp>
      <p:sp>
        <p:nvSpPr>
          <p:cNvPr id="28" name="S05-label99"/>
          <p:cNvSpPr txBox="1"/>
          <p:nvPr/>
        </p:nvSpPr>
        <p:spPr>
          <a:xfrm>
            <a:off x="5362095" y="3439842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올림</a:t>
            </a:r>
            <a:endParaRPr lang="ko-KR" sz="2200" dirty="0"/>
          </a:p>
        </p:txBody>
      </p:sp>
      <p:sp>
        <p:nvSpPr>
          <p:cNvPr id="29" name="S05-card100"/>
          <p:cNvSpPr/>
          <p:nvPr/>
        </p:nvSpPr>
        <p:spPr>
          <a:xfrm>
            <a:off x="7349947" y="2386584"/>
            <a:ext cx="4290365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0" name="S05-cardtext101"/>
          <p:cNvSpPr txBox="1"/>
          <p:nvPr/>
        </p:nvSpPr>
        <p:spPr>
          <a:xfrm>
            <a:off x="7624267" y="2523744"/>
            <a:ext cx="3741725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0, 1, 2, 3, 4 → 버려요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243 → 240</a:t>
            </a:r>
            <a:endParaRPr lang="ko-KR" sz="2800" dirty="0"/>
          </a:p>
        </p:txBody>
      </p:sp>
      <p:sp>
        <p:nvSpPr>
          <p:cNvPr id="31" name="S05-card102"/>
          <p:cNvSpPr/>
          <p:nvPr/>
        </p:nvSpPr>
        <p:spPr>
          <a:xfrm>
            <a:off x="7349947" y="4229100"/>
            <a:ext cx="4290365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2" name="S05-cardtext103"/>
          <p:cNvSpPr txBox="1"/>
          <p:nvPr/>
        </p:nvSpPr>
        <p:spPr>
          <a:xfrm>
            <a:off x="7624267" y="4366260"/>
            <a:ext cx="3741725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 6, 7, 8, 9 → 올려요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247 → 250, 245 → 250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표를 채워 봐요</a:t>
            </a:r>
            <a:endParaRPr lang="ko-KR" sz="4000" dirty="0"/>
          </a:p>
        </p:txBody>
      </p:sp>
      <p:sp>
        <p:nvSpPr>
          <p:cNvPr id="3" name="S06-text10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4736을 어림한 수를 써요.</a:t>
            </a:r>
            <a:endParaRPr lang="ko-KR" sz="2800" dirty="0"/>
          </a:p>
        </p:txBody>
      </p:sp>
      <p:sp>
        <p:nvSpPr>
          <p:cNvPr id="4" name="S06-card105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06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도움말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자리까지 → 일의 자리를, 백의 자리까지 → 십의 자리를 봐요.</a:t>
            </a:r>
            <a:endParaRPr lang="ko-KR" sz="2800" dirty="0"/>
          </a:p>
        </p:txBody>
      </p:sp>
      <p:graphicFrame>
        <p:nvGraphicFramePr>
          <p:cNvPr id="7" name="S06-table10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705356" y="2308098"/>
          <a:ext cx="8778240" cy="914400"/>
        </p:xfrm>
        <a:graphic>
          <a:graphicData uri="http://schemas.openxmlformats.org/drawingml/2006/table">
            <a:tbl>
              <a:tblPr/>
              <a:tblGrid>
                <a:gridCol w="2457907"/>
                <a:gridCol w="3160166"/>
                <a:gridCol w="3160166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십의 자리까지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백의 자리까지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올림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반올림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반올림을 두 번 해도 될까?</a:t>
            </a:r>
            <a:endParaRPr lang="ko-KR" sz="4000" dirty="0"/>
          </a:p>
        </p:txBody>
      </p:sp>
      <p:sp>
        <p:nvSpPr>
          <p:cNvPr id="3" name="S07-card10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10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2449를 반올림하여 백의 자리까지 나타냈어요.</a:t>
            </a:r>
            <a:endParaRPr lang="ko-KR" sz="2800" dirty="0"/>
          </a:p>
        </p:txBody>
      </p:sp>
      <p:sp>
        <p:nvSpPr>
          <p:cNvPr id="5" name="S07-card1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1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2449는 2400과 2500 중 어디에 가까울까요?</a:t>
            </a:r>
            <a:endParaRPr lang="ko-KR" sz="2800" dirty="0"/>
          </a:p>
        </p:txBody>
      </p:sp>
      <p:sp>
        <p:nvSpPr>
          <p:cNvPr id="7" name="S07-chip11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하늘: 2500</a:t>
            </a:r>
            <a:endParaRPr lang="ko-KR" sz="2200" dirty="0"/>
          </a:p>
        </p:txBody>
      </p:sp>
      <p:sp>
        <p:nvSpPr>
          <p:cNvPr id="8" name="S07-text113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2449 → 2450 → 2500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자리부터 차례로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올렸어요.</a:t>
            </a:r>
            <a:endParaRPr lang="ko-KR" sz="2800" dirty="0"/>
          </a:p>
        </p:txBody>
      </p:sp>
      <p:sp>
        <p:nvSpPr>
          <p:cNvPr id="9" name="S07-chip11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바다: 2400</a:t>
            </a:r>
            <a:endParaRPr lang="ko-KR" sz="2200" dirty="0"/>
          </a:p>
        </p:txBody>
      </p:sp>
      <p:sp>
        <p:nvSpPr>
          <p:cNvPr id="10" name="S07-text115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백의 자리 바로 아래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4만 보고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버렸어요.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어림이 알맞을까요?</a:t>
            </a:r>
            <a:endParaRPr lang="ko-KR" sz="4000" dirty="0"/>
          </a:p>
        </p:txBody>
      </p:sp>
      <p:sp>
        <p:nvSpPr>
          <p:cNvPr id="3" name="S08-text1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상황에 따라 알맞은 방법이 달라요.</a:t>
            </a:r>
            <a:endParaRPr lang="ko-KR" sz="2800" dirty="0"/>
          </a:p>
        </p:txBody>
      </p:sp>
      <p:sp>
        <p:nvSpPr>
          <p:cNvPr id="4" name="S08-card1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1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것도 해결해야 하면 올림, 모자라서 못 하면 버림이에요.</a:t>
            </a:r>
            <a:endParaRPr lang="ko-KR" sz="2800" dirty="0"/>
          </a:p>
        </p:txBody>
      </p:sp>
      <p:sp>
        <p:nvSpPr>
          <p:cNvPr id="6" name="S08-card119"/>
          <p:cNvSpPr/>
          <p:nvPr/>
        </p:nvSpPr>
        <p:spPr>
          <a:xfrm>
            <a:off x="548640" y="2418334"/>
            <a:ext cx="3544824" cy="2295652"/>
          </a:xfrm>
          <a:prstGeom prst="roundRect">
            <a:avLst>
              <a:gd name="adj" fmla="val 478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8-cardtext120"/>
          <p:cNvSpPr txBox="1"/>
          <p:nvPr/>
        </p:nvSpPr>
        <p:spPr>
          <a:xfrm>
            <a:off x="822960" y="2555494"/>
            <a:ext cx="2996184" cy="202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올림: 상자에 담기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 243개를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담으면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상자 25개</a:t>
            </a:r>
            <a:endParaRPr lang="ko-KR" sz="2800" dirty="0"/>
          </a:p>
        </p:txBody>
      </p:sp>
      <p:sp>
        <p:nvSpPr>
          <p:cNvPr id="8" name="S08-card121"/>
          <p:cNvSpPr/>
          <p:nvPr/>
        </p:nvSpPr>
        <p:spPr>
          <a:xfrm>
            <a:off x="4322064" y="2418334"/>
            <a:ext cx="3544824" cy="2295652"/>
          </a:xfrm>
          <a:prstGeom prst="roundRect">
            <a:avLst>
              <a:gd name="adj" fmla="val 478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8-cardtext122"/>
          <p:cNvSpPr txBox="1"/>
          <p:nvPr/>
        </p:nvSpPr>
        <p:spPr>
          <a:xfrm>
            <a:off x="4596384" y="2555494"/>
            <a:ext cx="2996184" cy="202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버림: 지폐로만 바꾸기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동전 3780원을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1000원짜리로 바꾸면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3장, 3000원</a:t>
            </a:r>
            <a:endParaRPr lang="ko-KR" sz="2800" dirty="0"/>
          </a:p>
        </p:txBody>
      </p:sp>
      <p:sp>
        <p:nvSpPr>
          <p:cNvPr id="10" name="S08-card123"/>
          <p:cNvSpPr/>
          <p:nvPr/>
        </p:nvSpPr>
        <p:spPr>
          <a:xfrm>
            <a:off x="8095488" y="2418334"/>
            <a:ext cx="3544824" cy="2295652"/>
          </a:xfrm>
          <a:prstGeom prst="roundRect">
            <a:avLst>
              <a:gd name="adj" fmla="val 478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8-cardtext124"/>
          <p:cNvSpPr txBox="1"/>
          <p:nvPr/>
        </p:nvSpPr>
        <p:spPr>
          <a:xfrm>
            <a:off x="8369808" y="2555494"/>
            <a:ext cx="2996184" cy="202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반올림: 대강의 크기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 137.6 cm를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자리까지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약 138 cm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상황에 맞게 어림해요</a:t>
            </a:r>
            <a:endParaRPr lang="ko-KR" sz="4000" dirty="0"/>
          </a:p>
        </p:txBody>
      </p:sp>
      <p:sp>
        <p:nvSpPr>
          <p:cNvPr id="3" name="S09-text1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방법을 고르고 답을 구해요.</a:t>
            </a:r>
            <a:endParaRPr lang="ko-KR" sz="2800" dirty="0"/>
          </a:p>
        </p:txBody>
      </p:sp>
      <p:sp>
        <p:nvSpPr>
          <p:cNvPr id="4" name="S09-card1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1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것도 해결해야 하나요, 모자라서 못 하나요?</a:t>
            </a:r>
            <a:endParaRPr lang="ko-KR" sz="2800" dirty="0"/>
          </a:p>
        </p:txBody>
      </p:sp>
      <p:sp>
        <p:nvSpPr>
          <p:cNvPr id="6" name="S09-chip128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9-text129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128명이 10인승 차에 모두 타려면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차는 적어도 몇 대가 필요할까요?</a:t>
            </a:r>
            <a:endParaRPr lang="ko-KR" sz="2800" dirty="0"/>
          </a:p>
        </p:txBody>
      </p:sp>
      <p:sp>
        <p:nvSpPr>
          <p:cNvPr id="8" name="S09-chip13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9-text131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365개를 10개씩 봉지에 담아 팔면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봉지까지 팔 수 있을까요?</a:t>
            </a:r>
            <a:endParaRPr lang="ko-KR" sz="2800" dirty="0"/>
          </a:p>
        </p:txBody>
      </p:sp>
      <p:sp>
        <p:nvSpPr>
          <p:cNvPr id="10" name="S09-chip132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9-text133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끈이 3.6 m 필요한데 1 m 단위로만 팔아요.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m를 사야 할까요?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13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④는 까닭도 말해요.</a:t>
            </a:r>
            <a:endParaRPr lang="ko-KR" sz="2800" dirty="0"/>
          </a:p>
        </p:txBody>
      </p:sp>
      <p:sp>
        <p:nvSpPr>
          <p:cNvPr id="4" name="S10-chip13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0-text136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5276을 반올림하여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백의 자리까지</a:t>
            </a:r>
            <a:endParaRPr lang="ko-KR" sz="2800" dirty="0"/>
          </a:p>
        </p:txBody>
      </p:sp>
      <p:sp>
        <p:nvSpPr>
          <p:cNvPr id="6" name="S10-chip137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0-text138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5276을 버림하여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천의 자리까지</a:t>
            </a:r>
            <a:endParaRPr lang="ko-KR" sz="2800" dirty="0"/>
          </a:p>
        </p:txBody>
      </p:sp>
      <p:sp>
        <p:nvSpPr>
          <p:cNvPr id="8" name="S10-chip139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0-text140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7030을 올림하여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백의 자리까지</a:t>
            </a:r>
            <a:endParaRPr lang="ko-KR" sz="2800" dirty="0"/>
          </a:p>
        </p:txBody>
      </p:sp>
      <p:sp>
        <p:nvSpPr>
          <p:cNvPr id="10" name="S10-chip141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1" name="S10-text142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437장이 필요해요.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100장씩 묶음으로만 팔면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묶음을 사야 할까요?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254, 다른 답</a:t>
            </a:r>
            <a:endParaRPr lang="ko-KR" sz="4000" dirty="0"/>
          </a:p>
        </p:txBody>
      </p:sp>
      <p:sp>
        <p:nvSpPr>
          <p:cNvPr id="3" name="S12-text1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어림 방법과 답을 말해요.</a:t>
            </a:r>
            <a:endParaRPr lang="ko-KR" sz="2800" dirty="0"/>
          </a:p>
        </p:txBody>
      </p:sp>
      <p:sp>
        <p:nvSpPr>
          <p:cNvPr id="4" name="S12-chip14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2-text14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구슬 254개를 10개씩 꿰어 목걸이를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만들면 몇 개까지 만들 수 있을까요?</a:t>
            </a:r>
            <a:endParaRPr lang="ko-KR" sz="2800" dirty="0"/>
          </a:p>
        </p:txBody>
      </p:sp>
      <p:sp>
        <p:nvSpPr>
          <p:cNvPr id="6" name="S12-chip14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2-text14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254명이 10명씩 케이블카를 타요.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적어도 몇 번 운행해야 할까요?</a:t>
            </a:r>
            <a:endParaRPr lang="ko-KR" sz="2800" dirty="0"/>
          </a:p>
        </p:txBody>
      </p:sp>
      <p:sp>
        <p:nvSpPr>
          <p:cNvPr id="8" name="S12-chip14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2-text14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짐 254 kg을 반올림하여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자리까지 나타내면?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50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51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반올림은 바로 아래 숫자가 5 이상이면 올리고, 4 이하이면 버려요.</a:t>
            </a:r>
            <a:endParaRPr lang="ko-KR" sz="2800" dirty="0"/>
          </a:p>
        </p:txBody>
      </p:sp>
      <p:sp>
        <p:nvSpPr>
          <p:cNvPr id="5" name="S13-chip152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남은 것도 해결해야 하면 올림</a:t>
            </a:r>
            <a:endParaRPr lang="ko-KR" sz="2200" dirty="0"/>
          </a:p>
        </p:txBody>
      </p:sp>
      <p:sp>
        <p:nvSpPr>
          <p:cNvPr id="6" name="S13-chip153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반올림을 여러 번 하기</a:t>
            </a:r>
            <a:endParaRPr lang="ko-KR" sz="2200" dirty="0"/>
          </a:p>
        </p:txBody>
      </p:sp>
      <p:sp>
        <p:nvSpPr>
          <p:cNvPr id="7" name="S13-text154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155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3481을 올림하여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백의 자리까지</a:t>
            </a:r>
            <a:endParaRPr lang="ko-KR" sz="2200" dirty="0"/>
          </a:p>
        </p:txBody>
      </p:sp>
      <p:sp>
        <p:nvSpPr>
          <p:cNvPr id="9" name="S13-text156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3481을 반올림하여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자리까지</a:t>
            </a:r>
            <a:endParaRPr lang="ko-KR" sz="2200" dirty="0"/>
          </a:p>
        </p:txBody>
      </p:sp>
      <p:sp>
        <p:nvSpPr>
          <p:cNvPr id="10" name="S13-text157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공책 52권 사기: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10권 묶음으로 몇 묶음?</a:t>
            </a:r>
            <a:endParaRPr lang="ko-KR" sz="2200" dirty="0"/>
          </a:p>
        </p:txBody>
      </p:sp>
      <p:sp>
        <p:nvSpPr>
          <p:cNvPr id="11" name="S13-text15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분수와 자연수의 곱셈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더 가까운 몇십</a:t>
            </a:r>
            <a:endParaRPr lang="ko-KR" sz="4000" dirty="0"/>
          </a:p>
        </p:txBody>
      </p:sp>
      <p:sp>
        <p:nvSpPr>
          <p:cNvPr id="3" name="S14-text1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37은 30과 40 중 어디에 더 가까울까요?</a:t>
            </a:r>
            <a:endParaRPr lang="ko-KR" sz="2800" dirty="0"/>
          </a:p>
        </p:txBody>
      </p:sp>
      <p:sp>
        <p:nvSpPr>
          <p:cNvPr id="4" name="S14-card160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61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37은 40에 더 가까워요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40까지 3칸, 30까지 7칸이에요.</a:t>
            </a:r>
            <a:endParaRPr lang="ko-KR" sz="2800" dirty="0"/>
          </a:p>
        </p:txBody>
      </p:sp>
      <p:sp>
        <p:nvSpPr>
          <p:cNvPr id="6" name="S14-line162"/>
          <p:cNvSpPr/>
          <p:nvPr/>
        </p:nvSpPr>
        <p:spPr>
          <a:xfrm>
            <a:off x="685800" y="3746165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14-line163"/>
          <p:cNvSpPr/>
          <p:nvPr/>
        </p:nvSpPr>
        <p:spPr>
          <a:xfrm>
            <a:off x="960120" y="359986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14-label164"/>
          <p:cNvSpPr txBox="1"/>
          <p:nvPr/>
        </p:nvSpPr>
        <p:spPr>
          <a:xfrm>
            <a:off x="502920" y="3929045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2200" dirty="0"/>
          </a:p>
        </p:txBody>
      </p:sp>
      <p:sp>
        <p:nvSpPr>
          <p:cNvPr id="9" name="S14-line165"/>
          <p:cNvSpPr/>
          <p:nvPr/>
        </p:nvSpPr>
        <p:spPr>
          <a:xfrm>
            <a:off x="1986991" y="359986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4-label166"/>
          <p:cNvSpPr txBox="1"/>
          <p:nvPr/>
        </p:nvSpPr>
        <p:spPr>
          <a:xfrm>
            <a:off x="1529791" y="3929045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ko-KR" sz="2200" dirty="0"/>
          </a:p>
        </p:txBody>
      </p:sp>
      <p:sp>
        <p:nvSpPr>
          <p:cNvPr id="11" name="S14-line167"/>
          <p:cNvSpPr/>
          <p:nvPr/>
        </p:nvSpPr>
        <p:spPr>
          <a:xfrm>
            <a:off x="3013862" y="359986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4-label168"/>
          <p:cNvSpPr txBox="1"/>
          <p:nvPr/>
        </p:nvSpPr>
        <p:spPr>
          <a:xfrm>
            <a:off x="2556662" y="3929045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ko-KR" sz="2200" dirty="0"/>
          </a:p>
        </p:txBody>
      </p:sp>
      <p:sp>
        <p:nvSpPr>
          <p:cNvPr id="13" name="S14-line169"/>
          <p:cNvSpPr/>
          <p:nvPr/>
        </p:nvSpPr>
        <p:spPr>
          <a:xfrm>
            <a:off x="4040734" y="359986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4-label170"/>
          <p:cNvSpPr txBox="1"/>
          <p:nvPr/>
        </p:nvSpPr>
        <p:spPr>
          <a:xfrm>
            <a:off x="3583534" y="3929045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ko-KR" sz="2200" dirty="0"/>
          </a:p>
        </p:txBody>
      </p:sp>
      <p:sp>
        <p:nvSpPr>
          <p:cNvPr id="15" name="S14-line171"/>
          <p:cNvSpPr/>
          <p:nvPr/>
        </p:nvSpPr>
        <p:spPr>
          <a:xfrm>
            <a:off x="5067605" y="359986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4-label172"/>
          <p:cNvSpPr txBox="1"/>
          <p:nvPr/>
        </p:nvSpPr>
        <p:spPr>
          <a:xfrm>
            <a:off x="4610405" y="3929045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ko-KR" sz="2200" dirty="0"/>
          </a:p>
        </p:txBody>
      </p:sp>
      <p:sp>
        <p:nvSpPr>
          <p:cNvPr id="17" name="S14-line173"/>
          <p:cNvSpPr/>
          <p:nvPr/>
        </p:nvSpPr>
        <p:spPr>
          <a:xfrm>
            <a:off x="6094476" y="359986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4-label174"/>
          <p:cNvSpPr txBox="1"/>
          <p:nvPr/>
        </p:nvSpPr>
        <p:spPr>
          <a:xfrm>
            <a:off x="5637276" y="3929045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ko-KR" sz="2200" dirty="0"/>
          </a:p>
        </p:txBody>
      </p:sp>
      <p:sp>
        <p:nvSpPr>
          <p:cNvPr id="19" name="S14-line175"/>
          <p:cNvSpPr/>
          <p:nvPr/>
        </p:nvSpPr>
        <p:spPr>
          <a:xfrm>
            <a:off x="7121347" y="359986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4-label176"/>
          <p:cNvSpPr txBox="1"/>
          <p:nvPr/>
        </p:nvSpPr>
        <p:spPr>
          <a:xfrm>
            <a:off x="6664147" y="3929045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ko-KR" sz="2200" dirty="0"/>
          </a:p>
        </p:txBody>
      </p:sp>
      <p:sp>
        <p:nvSpPr>
          <p:cNvPr id="21" name="S14-line177"/>
          <p:cNvSpPr/>
          <p:nvPr/>
        </p:nvSpPr>
        <p:spPr>
          <a:xfrm>
            <a:off x="8148218" y="359986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14-label178"/>
          <p:cNvSpPr txBox="1"/>
          <p:nvPr/>
        </p:nvSpPr>
        <p:spPr>
          <a:xfrm>
            <a:off x="7691018" y="3929045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ko-KR" sz="2200" dirty="0"/>
          </a:p>
        </p:txBody>
      </p:sp>
      <p:sp>
        <p:nvSpPr>
          <p:cNvPr id="23" name="S14-line179"/>
          <p:cNvSpPr/>
          <p:nvPr/>
        </p:nvSpPr>
        <p:spPr>
          <a:xfrm>
            <a:off x="9175090" y="359986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14-label180"/>
          <p:cNvSpPr txBox="1"/>
          <p:nvPr/>
        </p:nvSpPr>
        <p:spPr>
          <a:xfrm>
            <a:off x="8717890" y="3929045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ko-KR" sz="2200" dirty="0"/>
          </a:p>
        </p:txBody>
      </p:sp>
      <p:sp>
        <p:nvSpPr>
          <p:cNvPr id="25" name="S14-line181"/>
          <p:cNvSpPr/>
          <p:nvPr/>
        </p:nvSpPr>
        <p:spPr>
          <a:xfrm>
            <a:off x="10201961" y="359986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4-label182"/>
          <p:cNvSpPr txBox="1"/>
          <p:nvPr/>
        </p:nvSpPr>
        <p:spPr>
          <a:xfrm>
            <a:off x="9744761" y="3929045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</a:t>
            </a:r>
            <a:endParaRPr lang="ko-KR" sz="2200" dirty="0"/>
          </a:p>
        </p:txBody>
      </p:sp>
      <p:sp>
        <p:nvSpPr>
          <p:cNvPr id="27" name="S14-line183"/>
          <p:cNvSpPr/>
          <p:nvPr/>
        </p:nvSpPr>
        <p:spPr>
          <a:xfrm>
            <a:off x="11228832" y="359986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14-label184"/>
          <p:cNvSpPr txBox="1"/>
          <p:nvPr/>
        </p:nvSpPr>
        <p:spPr>
          <a:xfrm>
            <a:off x="10771632" y="3929045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2200" dirty="0"/>
          </a:p>
        </p:txBody>
      </p:sp>
      <p:sp>
        <p:nvSpPr>
          <p:cNvPr id="29" name="S14-mark185"/>
          <p:cNvSpPr/>
          <p:nvPr/>
        </p:nvSpPr>
        <p:spPr>
          <a:xfrm>
            <a:off x="8056778" y="365472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0" name="S14-label186"/>
          <p:cNvSpPr txBox="1"/>
          <p:nvPr/>
        </p:nvSpPr>
        <p:spPr>
          <a:xfrm>
            <a:off x="7599578" y="3154345"/>
            <a:ext cx="109728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ko-KR" sz="2200" dirty="0"/>
          </a:p>
        </p:txBody>
      </p:sp>
      <p:sp>
        <p:nvSpPr>
          <p:cNvPr id="31" name="S14-figure187" descr="30부터 40까지 1씩 눈금 수직선에 37 표시"/>
          <p:cNvSpPr/>
          <p:nvPr/>
        </p:nvSpPr>
        <p:spPr>
          <a:xfrm>
            <a:off x="685800" y="3563285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수학 어림하기</dc:title>
  <dc:subject>KR22-G05-MAT-ROUND-L01</dc:subject>
  <dc:creator>education-ppt</dc:creator>
  <cp:lastModifiedBy>education-ppt</cp:lastModifiedBy>
  <cp:revision>1</cp:revision>
  <dcterms:created xsi:type="dcterms:W3CDTF">2026-10-26T08:13:53Z</dcterms:created>
  <dcterms:modified xsi:type="dcterms:W3CDTF">2026-10-26T08:13:53Z</dcterms:modified>
</cp:coreProperties>
</file>