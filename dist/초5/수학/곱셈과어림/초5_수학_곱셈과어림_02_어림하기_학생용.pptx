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df28dd5-677e-a7b7-72ed-9a6fb5d5ae6a}">
          <p14:sldIdLst>
            <p14:sldId id="256"/>
            <p14:sldId id="257"/>
          </p14:sldIdLst>
        </p14:section>
        <p14:section name="개념" id="{a242d3df-31f9-e61f-0e0f-11bb87141231}">
          <p14:sldIdLst>
            <p14:sldId id="258"/>
            <p14:sldId id="259"/>
            <p14:sldId id="260"/>
            <p14:sldId id="263"/>
          </p14:sldIdLst>
        </p14:section>
        <p14:section name="연습" id="{ab8a6cb1-3c3b-c970-f7db-a51b974e032e}">
          <p14:sldIdLst>
            <p14:sldId id="261"/>
            <p14:sldId id="262"/>
            <p14:sldId id="264"/>
          </p14:sldIdLst>
        </p14:section>
        <p14:section name="개념" id="{d7a13f7e-84fe-4a47-5210-5cf0032cdafa}">
          <p14:sldIdLst/>
        </p14:section>
        <p14:section name="연습" id="{962a0f8f-a8f3-468c-4d81-ef1f9e634d72}">
          <p14:sldIdLst/>
        </p14:section>
        <p14:section name="확인" id="{9b7f662e-4ae0-fd42-c7cb-130aaf7e1497}">
          <p14:sldIdLst>
            <p14:sldId id="265"/>
            <p14:sldId id="266"/>
          </p14:sldIdLst>
        </p14:section>
        <p14:section name="정리" id="{8368b936-a099-2c59-cb14-82c88eb7b031}">
          <p14:sldIdLst>
            <p14:sldId id="267"/>
          </p14:sldIdLst>
        </p14:section>
        <p14:section name="보충" id="{ed7a472f-9f91-60ad-a1a4-c895189fdcc8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곱셈과어림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어림하기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어림하기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어림하기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243개를 한 상자에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담으려면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상자가 몇 개 필요할까?</a:t>
            </a:r>
            <a:endParaRPr lang="ko-KR" sz="2800" dirty="0"/>
          </a:p>
        </p:txBody>
      </p:sp>
      <p:sp>
        <p:nvSpPr>
          <p:cNvPr id="4" name="S01-big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 · 버림</a:t>
            </a:r>
            <a:endParaRPr lang="ko-KR" sz="4000" dirty="0"/>
          </a:p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올림·버림·반올림을 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상황에 맞는 어림 방법을 골라요.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물음에 답해요.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4385에서 백의 자리 숫자는?</a:t>
            </a:r>
            <a:endParaRPr lang="ko-KR" sz="28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37은 30과 40 중 어느 쪽에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가까울까요?</a:t>
            </a:r>
            <a:endParaRPr lang="ko-KR" sz="28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이상 20 미만인 자연수를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올림: 올려서 나타내요</a:t>
            </a:r>
            <a:endParaRPr lang="ko-KR" sz="40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243을 올림하여 십의 자리까지 나타내요.</a:t>
            </a:r>
            <a:endParaRPr lang="ko-KR" sz="2800" dirty="0"/>
          </a:p>
        </p:txBody>
      </p:sp>
      <p:sp>
        <p:nvSpPr>
          <p:cNvPr id="4" name="S03-card1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올림: 243 → 250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아래 수 3을 10으로 올려 250으로 나타내요.</a:t>
            </a:r>
            <a:endParaRPr lang="ko-KR" sz="2800" dirty="0"/>
          </a:p>
        </p:txBody>
      </p:sp>
      <p:sp>
        <p:nvSpPr>
          <p:cNvPr id="6" name="S03-figure14" descr="240부터 250까지 수직선: 243에서 250으로 가는 화살표(올림)"/>
          <p:cNvSpPr/>
          <p:nvPr/>
        </p:nvSpPr>
        <p:spPr>
          <a:xfrm>
            <a:off x="4101084" y="3419602"/>
            <a:ext cx="329184" cy="32918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E9762B"/>
            </a:solidFill>
            <a:prstDash val="solid"/>
          </a:ln>
        </p:spPr>
      </p:sp>
      <p:sp>
        <p:nvSpPr>
          <p:cNvPr id="7" name="S03-mark15"/>
          <p:cNvSpPr/>
          <p:nvPr/>
        </p:nvSpPr>
        <p:spPr>
          <a:xfrm>
            <a:off x="882396" y="3584194"/>
            <a:ext cx="104241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" name="S03-mark16"/>
          <p:cNvSpPr/>
          <p:nvPr/>
        </p:nvSpPr>
        <p:spPr>
          <a:xfrm>
            <a:off x="1522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3-mark17"/>
          <p:cNvSpPr/>
          <p:nvPr/>
        </p:nvSpPr>
        <p:spPr>
          <a:xfrm>
            <a:off x="2436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mark18"/>
          <p:cNvSpPr/>
          <p:nvPr/>
        </p:nvSpPr>
        <p:spPr>
          <a:xfrm>
            <a:off x="3351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3-mark19"/>
          <p:cNvSpPr/>
          <p:nvPr/>
        </p:nvSpPr>
        <p:spPr>
          <a:xfrm>
            <a:off x="4265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mark20"/>
          <p:cNvSpPr/>
          <p:nvPr/>
        </p:nvSpPr>
        <p:spPr>
          <a:xfrm>
            <a:off x="5180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3-mark21"/>
          <p:cNvSpPr/>
          <p:nvPr/>
        </p:nvSpPr>
        <p:spPr>
          <a:xfrm>
            <a:off x="6094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mark22"/>
          <p:cNvSpPr/>
          <p:nvPr/>
        </p:nvSpPr>
        <p:spPr>
          <a:xfrm>
            <a:off x="7008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3-mark23"/>
          <p:cNvSpPr/>
          <p:nvPr/>
        </p:nvSpPr>
        <p:spPr>
          <a:xfrm>
            <a:off x="7923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3-mark24"/>
          <p:cNvSpPr/>
          <p:nvPr/>
        </p:nvSpPr>
        <p:spPr>
          <a:xfrm>
            <a:off x="8837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3-mark25"/>
          <p:cNvSpPr/>
          <p:nvPr/>
        </p:nvSpPr>
        <p:spPr>
          <a:xfrm>
            <a:off x="9752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mark26"/>
          <p:cNvSpPr/>
          <p:nvPr/>
        </p:nvSpPr>
        <p:spPr>
          <a:xfrm>
            <a:off x="10666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3-mark27"/>
          <p:cNvSpPr/>
          <p:nvPr/>
        </p:nvSpPr>
        <p:spPr>
          <a:xfrm flipV="1">
            <a:off x="4265676" y="3017266"/>
            <a:ext cx="0" cy="338328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0" name="S03-mark28"/>
          <p:cNvSpPr/>
          <p:nvPr/>
        </p:nvSpPr>
        <p:spPr>
          <a:xfrm>
            <a:off x="4265676" y="3017266"/>
            <a:ext cx="640080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1" name="S03-label30"/>
          <p:cNvSpPr txBox="1"/>
          <p:nvPr/>
        </p:nvSpPr>
        <p:spPr>
          <a:xfrm>
            <a:off x="1191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</a:t>
            </a:r>
            <a:endParaRPr lang="ko-KR" sz="2200" dirty="0"/>
          </a:p>
        </p:txBody>
      </p:sp>
      <p:sp>
        <p:nvSpPr>
          <p:cNvPr id="22" name="S03-label32"/>
          <p:cNvSpPr txBox="1"/>
          <p:nvPr/>
        </p:nvSpPr>
        <p:spPr>
          <a:xfrm>
            <a:off x="5763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245</a:t>
            </a:r>
            <a:endParaRPr lang="ko-KR" sz="2200" dirty="0"/>
          </a:p>
        </p:txBody>
      </p:sp>
      <p:sp>
        <p:nvSpPr>
          <p:cNvPr id="23" name="S03-label34"/>
          <p:cNvSpPr txBox="1"/>
          <p:nvPr/>
        </p:nvSpPr>
        <p:spPr>
          <a:xfrm>
            <a:off x="10335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</a:t>
            </a:r>
            <a:endParaRPr lang="ko-KR" sz="2200" dirty="0"/>
          </a:p>
        </p:txBody>
      </p:sp>
      <p:sp>
        <p:nvSpPr>
          <p:cNvPr id="24" name="S03-label36"/>
          <p:cNvSpPr txBox="1"/>
          <p:nvPr/>
        </p:nvSpPr>
        <p:spPr>
          <a:xfrm>
            <a:off x="39342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</a:t>
            </a:r>
            <a:endParaRPr lang="ko-KR" sz="2200" dirty="0"/>
          </a:p>
        </p:txBody>
      </p:sp>
      <p:sp>
        <p:nvSpPr>
          <p:cNvPr id="25" name="S03-label38"/>
          <p:cNvSpPr txBox="1"/>
          <p:nvPr/>
        </p:nvSpPr>
        <p:spPr>
          <a:xfrm>
            <a:off x="7137400" y="240372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버림: 버려서 나타내요</a:t>
            </a:r>
            <a:endParaRPr lang="ko-KR" sz="4000" dirty="0"/>
          </a:p>
        </p:txBody>
      </p:sp>
      <p:sp>
        <p:nvSpPr>
          <p:cNvPr id="3" name="S04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243을 버림하여 십의 자리까지 나타내요.</a:t>
            </a:r>
            <a:endParaRPr lang="ko-KR" sz="2800" dirty="0"/>
          </a:p>
        </p:txBody>
      </p:sp>
      <p:sp>
        <p:nvSpPr>
          <p:cNvPr id="4" name="S04-card40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41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버림: 243 → 240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아래 수 3을 0으로 버려 240으로 나타내요.</a:t>
            </a:r>
            <a:endParaRPr lang="ko-KR" sz="2800" dirty="0"/>
          </a:p>
        </p:txBody>
      </p:sp>
      <p:sp>
        <p:nvSpPr>
          <p:cNvPr id="6" name="S04-figure42" descr="240부터 250까지 수직선: 243에서 240으로 가는 화살표(버림)"/>
          <p:cNvSpPr/>
          <p:nvPr/>
        </p:nvSpPr>
        <p:spPr>
          <a:xfrm>
            <a:off x="4101084" y="3419602"/>
            <a:ext cx="329184" cy="32918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E9762B"/>
            </a:solidFill>
            <a:prstDash val="solid"/>
          </a:ln>
        </p:spPr>
      </p:sp>
      <p:sp>
        <p:nvSpPr>
          <p:cNvPr id="7" name="S04-mark43"/>
          <p:cNvSpPr/>
          <p:nvPr/>
        </p:nvSpPr>
        <p:spPr>
          <a:xfrm>
            <a:off x="882396" y="3584194"/>
            <a:ext cx="104241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" name="S04-mark44"/>
          <p:cNvSpPr/>
          <p:nvPr/>
        </p:nvSpPr>
        <p:spPr>
          <a:xfrm>
            <a:off x="1522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4-mark45"/>
          <p:cNvSpPr/>
          <p:nvPr/>
        </p:nvSpPr>
        <p:spPr>
          <a:xfrm>
            <a:off x="2436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mark46"/>
          <p:cNvSpPr/>
          <p:nvPr/>
        </p:nvSpPr>
        <p:spPr>
          <a:xfrm>
            <a:off x="3351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4-mark47"/>
          <p:cNvSpPr/>
          <p:nvPr/>
        </p:nvSpPr>
        <p:spPr>
          <a:xfrm>
            <a:off x="4265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mark48"/>
          <p:cNvSpPr/>
          <p:nvPr/>
        </p:nvSpPr>
        <p:spPr>
          <a:xfrm>
            <a:off x="5180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4-mark49"/>
          <p:cNvSpPr/>
          <p:nvPr/>
        </p:nvSpPr>
        <p:spPr>
          <a:xfrm>
            <a:off x="6094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mark50"/>
          <p:cNvSpPr/>
          <p:nvPr/>
        </p:nvSpPr>
        <p:spPr>
          <a:xfrm>
            <a:off x="7008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4-mark51"/>
          <p:cNvSpPr/>
          <p:nvPr/>
        </p:nvSpPr>
        <p:spPr>
          <a:xfrm>
            <a:off x="7923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mark52"/>
          <p:cNvSpPr/>
          <p:nvPr/>
        </p:nvSpPr>
        <p:spPr>
          <a:xfrm>
            <a:off x="8837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4-mark53"/>
          <p:cNvSpPr/>
          <p:nvPr/>
        </p:nvSpPr>
        <p:spPr>
          <a:xfrm>
            <a:off x="9752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mark54"/>
          <p:cNvSpPr/>
          <p:nvPr/>
        </p:nvSpPr>
        <p:spPr>
          <a:xfrm>
            <a:off x="10666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4-mark55"/>
          <p:cNvSpPr/>
          <p:nvPr/>
        </p:nvSpPr>
        <p:spPr>
          <a:xfrm flipV="1">
            <a:off x="4265676" y="3017266"/>
            <a:ext cx="0" cy="338328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0" name="S04-mark56"/>
          <p:cNvSpPr/>
          <p:nvPr/>
        </p:nvSpPr>
        <p:spPr>
          <a:xfrm flipH="1">
            <a:off x="1522476" y="3017266"/>
            <a:ext cx="274320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1" name="S04-label58"/>
          <p:cNvSpPr txBox="1"/>
          <p:nvPr/>
        </p:nvSpPr>
        <p:spPr>
          <a:xfrm>
            <a:off x="1191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</a:t>
            </a:r>
            <a:endParaRPr lang="ko-KR" sz="2200" dirty="0"/>
          </a:p>
        </p:txBody>
      </p:sp>
      <p:sp>
        <p:nvSpPr>
          <p:cNvPr id="22" name="S04-label60"/>
          <p:cNvSpPr txBox="1"/>
          <p:nvPr/>
        </p:nvSpPr>
        <p:spPr>
          <a:xfrm>
            <a:off x="5763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245</a:t>
            </a:r>
            <a:endParaRPr lang="ko-KR" sz="2200" dirty="0"/>
          </a:p>
        </p:txBody>
      </p:sp>
      <p:sp>
        <p:nvSpPr>
          <p:cNvPr id="23" name="S04-label62"/>
          <p:cNvSpPr txBox="1"/>
          <p:nvPr/>
        </p:nvSpPr>
        <p:spPr>
          <a:xfrm>
            <a:off x="10335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</a:t>
            </a:r>
            <a:endParaRPr lang="ko-KR" sz="2200" dirty="0"/>
          </a:p>
        </p:txBody>
      </p:sp>
      <p:sp>
        <p:nvSpPr>
          <p:cNvPr id="24" name="S04-label64"/>
          <p:cNvSpPr txBox="1"/>
          <p:nvPr/>
        </p:nvSpPr>
        <p:spPr>
          <a:xfrm>
            <a:off x="39342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</a:t>
            </a:r>
            <a:endParaRPr lang="ko-KR" sz="2200" dirty="0"/>
          </a:p>
        </p:txBody>
      </p:sp>
      <p:sp>
        <p:nvSpPr>
          <p:cNvPr id="25" name="S04-label66"/>
          <p:cNvSpPr txBox="1"/>
          <p:nvPr/>
        </p:nvSpPr>
        <p:spPr>
          <a:xfrm>
            <a:off x="2565400" y="240372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반올림: 가까운 쪽으로</a:t>
            </a:r>
            <a:endParaRPr lang="ko-KR" sz="4000" dirty="0"/>
          </a:p>
        </p:txBody>
      </p:sp>
      <p:sp>
        <p:nvSpPr>
          <p:cNvPr id="3" name="S05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아래 자리 숫자를 보고 정해요.</a:t>
            </a:r>
            <a:endParaRPr lang="ko-KR" sz="2800" dirty="0"/>
          </a:p>
        </p:txBody>
      </p:sp>
      <p:sp>
        <p:nvSpPr>
          <p:cNvPr id="4" name="S05-card68"/>
          <p:cNvSpPr/>
          <p:nvPr/>
        </p:nvSpPr>
        <p:spPr>
          <a:xfrm>
            <a:off x="548640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69"/>
          <p:cNvSpPr txBox="1"/>
          <p:nvPr/>
        </p:nvSpPr>
        <p:spPr>
          <a:xfrm>
            <a:off x="822960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0, 1, 2, 3, 4 → 버려요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→ 240</a:t>
            </a:r>
            <a:endParaRPr lang="ko-KR" sz="2800" dirty="0"/>
          </a:p>
        </p:txBody>
      </p:sp>
      <p:sp>
        <p:nvSpPr>
          <p:cNvPr id="6" name="S05-card70"/>
          <p:cNvSpPr/>
          <p:nvPr/>
        </p:nvSpPr>
        <p:spPr>
          <a:xfrm>
            <a:off x="6208776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71"/>
          <p:cNvSpPr txBox="1"/>
          <p:nvPr/>
        </p:nvSpPr>
        <p:spPr>
          <a:xfrm>
            <a:off x="6483096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 6, 7, 8, 9 → 올려요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 → 250, 245 → 250</a:t>
            </a:r>
            <a:endParaRPr lang="ko-KR" sz="2800" dirty="0"/>
          </a:p>
        </p:txBody>
      </p:sp>
      <p:sp>
        <p:nvSpPr>
          <p:cNvPr id="8" name="S05-figure72" descr="240부터 250까지 수직선: 243은 240으로(버림), 247은 250으로(올림) 가는 화살표"/>
          <p:cNvSpPr/>
          <p:nvPr/>
        </p:nvSpPr>
        <p:spPr>
          <a:xfrm>
            <a:off x="4101084" y="3419602"/>
            <a:ext cx="329184" cy="32918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E9762B"/>
            </a:solidFill>
            <a:prstDash val="solid"/>
          </a:ln>
        </p:spPr>
      </p:sp>
      <p:sp>
        <p:nvSpPr>
          <p:cNvPr id="9" name="S05-mark73"/>
          <p:cNvSpPr/>
          <p:nvPr/>
        </p:nvSpPr>
        <p:spPr>
          <a:xfrm>
            <a:off x="7758684" y="3419602"/>
            <a:ext cx="329184" cy="32918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E9762B"/>
            </a:solidFill>
            <a:prstDash val="solid"/>
          </a:ln>
        </p:spPr>
      </p:sp>
      <p:sp>
        <p:nvSpPr>
          <p:cNvPr id="10" name="S05-mark74"/>
          <p:cNvSpPr/>
          <p:nvPr/>
        </p:nvSpPr>
        <p:spPr>
          <a:xfrm>
            <a:off x="882396" y="3584194"/>
            <a:ext cx="104241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5-mark75"/>
          <p:cNvSpPr/>
          <p:nvPr/>
        </p:nvSpPr>
        <p:spPr>
          <a:xfrm>
            <a:off x="1522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mark76"/>
          <p:cNvSpPr/>
          <p:nvPr/>
        </p:nvSpPr>
        <p:spPr>
          <a:xfrm>
            <a:off x="2436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mark77"/>
          <p:cNvSpPr/>
          <p:nvPr/>
        </p:nvSpPr>
        <p:spPr>
          <a:xfrm>
            <a:off x="3351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5-mark78"/>
          <p:cNvSpPr/>
          <p:nvPr/>
        </p:nvSpPr>
        <p:spPr>
          <a:xfrm>
            <a:off x="4265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5-mark79"/>
          <p:cNvSpPr/>
          <p:nvPr/>
        </p:nvSpPr>
        <p:spPr>
          <a:xfrm>
            <a:off x="5180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mark80"/>
          <p:cNvSpPr/>
          <p:nvPr/>
        </p:nvSpPr>
        <p:spPr>
          <a:xfrm>
            <a:off x="6094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mark81"/>
          <p:cNvSpPr/>
          <p:nvPr/>
        </p:nvSpPr>
        <p:spPr>
          <a:xfrm>
            <a:off x="7008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5-mark82"/>
          <p:cNvSpPr/>
          <p:nvPr/>
        </p:nvSpPr>
        <p:spPr>
          <a:xfrm>
            <a:off x="7923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5-mark83"/>
          <p:cNvSpPr/>
          <p:nvPr/>
        </p:nvSpPr>
        <p:spPr>
          <a:xfrm>
            <a:off x="8837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mark84"/>
          <p:cNvSpPr/>
          <p:nvPr/>
        </p:nvSpPr>
        <p:spPr>
          <a:xfrm>
            <a:off x="9752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mark85"/>
          <p:cNvSpPr/>
          <p:nvPr/>
        </p:nvSpPr>
        <p:spPr>
          <a:xfrm>
            <a:off x="10666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5-mark86"/>
          <p:cNvSpPr/>
          <p:nvPr/>
        </p:nvSpPr>
        <p:spPr>
          <a:xfrm flipV="1">
            <a:off x="4265676" y="3017266"/>
            <a:ext cx="0" cy="338328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3" name="S05-mark87"/>
          <p:cNvSpPr/>
          <p:nvPr/>
        </p:nvSpPr>
        <p:spPr>
          <a:xfrm flipH="1">
            <a:off x="1522476" y="3017266"/>
            <a:ext cx="274320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4" name="S05-mark88"/>
          <p:cNvSpPr/>
          <p:nvPr/>
        </p:nvSpPr>
        <p:spPr>
          <a:xfrm flipV="1">
            <a:off x="7923276" y="3017266"/>
            <a:ext cx="0" cy="338328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5" name="S05-mark89"/>
          <p:cNvSpPr/>
          <p:nvPr/>
        </p:nvSpPr>
        <p:spPr>
          <a:xfrm>
            <a:off x="7923276" y="3017266"/>
            <a:ext cx="274320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6" name="S05-label91"/>
          <p:cNvSpPr txBox="1"/>
          <p:nvPr/>
        </p:nvSpPr>
        <p:spPr>
          <a:xfrm>
            <a:off x="1191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</a:t>
            </a:r>
            <a:endParaRPr lang="ko-KR" sz="2200" dirty="0"/>
          </a:p>
        </p:txBody>
      </p:sp>
      <p:sp>
        <p:nvSpPr>
          <p:cNvPr id="27" name="S05-label93"/>
          <p:cNvSpPr txBox="1"/>
          <p:nvPr/>
        </p:nvSpPr>
        <p:spPr>
          <a:xfrm>
            <a:off x="5763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245</a:t>
            </a:r>
            <a:endParaRPr lang="ko-KR" sz="2200" dirty="0"/>
          </a:p>
        </p:txBody>
      </p:sp>
      <p:sp>
        <p:nvSpPr>
          <p:cNvPr id="28" name="S05-label95"/>
          <p:cNvSpPr txBox="1"/>
          <p:nvPr/>
        </p:nvSpPr>
        <p:spPr>
          <a:xfrm>
            <a:off x="10335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</a:t>
            </a:r>
            <a:endParaRPr lang="ko-KR" sz="2200" dirty="0"/>
          </a:p>
        </p:txBody>
      </p:sp>
      <p:sp>
        <p:nvSpPr>
          <p:cNvPr id="29" name="S05-label97"/>
          <p:cNvSpPr txBox="1"/>
          <p:nvPr/>
        </p:nvSpPr>
        <p:spPr>
          <a:xfrm>
            <a:off x="39342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</a:t>
            </a:r>
            <a:endParaRPr lang="ko-KR" sz="2200" dirty="0"/>
          </a:p>
        </p:txBody>
      </p:sp>
      <p:sp>
        <p:nvSpPr>
          <p:cNvPr id="30" name="S05-label99"/>
          <p:cNvSpPr txBox="1"/>
          <p:nvPr/>
        </p:nvSpPr>
        <p:spPr>
          <a:xfrm>
            <a:off x="75918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</a:t>
            </a:r>
            <a:endParaRPr lang="ko-KR" sz="2200" dirty="0"/>
          </a:p>
        </p:txBody>
      </p:sp>
      <p:sp>
        <p:nvSpPr>
          <p:cNvPr id="31" name="S05-label101"/>
          <p:cNvSpPr txBox="1"/>
          <p:nvPr/>
        </p:nvSpPr>
        <p:spPr>
          <a:xfrm>
            <a:off x="2565400" y="240372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버림</a:t>
            </a:r>
            <a:endParaRPr lang="ko-KR" sz="2200" dirty="0"/>
          </a:p>
        </p:txBody>
      </p:sp>
      <p:sp>
        <p:nvSpPr>
          <p:cNvPr id="32" name="S05-label103"/>
          <p:cNvSpPr txBox="1"/>
          <p:nvPr/>
        </p:nvSpPr>
        <p:spPr>
          <a:xfrm>
            <a:off x="8966200" y="240372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표를 채워 봐요</a:t>
            </a:r>
            <a:endParaRPr lang="ko-KR" sz="4000" dirty="0"/>
          </a:p>
        </p:txBody>
      </p:sp>
      <p:sp>
        <p:nvSpPr>
          <p:cNvPr id="3" name="S06-text1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4736을 어림한 수를 써요.</a:t>
            </a:r>
            <a:endParaRPr lang="ko-KR" sz="2800" dirty="0"/>
          </a:p>
        </p:txBody>
      </p:sp>
      <p:sp>
        <p:nvSpPr>
          <p:cNvPr id="4" name="S06-card105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06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자리까지 → 일의 자리를, 백의 자리까지 → 십의 자리를 봐요.</a:t>
            </a:r>
            <a:endParaRPr lang="ko-KR" sz="2800" dirty="0"/>
          </a:p>
        </p:txBody>
      </p:sp>
      <p:graphicFrame>
        <p:nvGraphicFramePr>
          <p:cNvPr id="7" name="S06-table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05356" y="2308098"/>
          <a:ext cx="8778240" cy="914400"/>
        </p:xfrm>
        <a:graphic>
          <a:graphicData uri="http://schemas.openxmlformats.org/drawingml/2006/table">
            <a:tbl>
              <a:tblPr/>
              <a:tblGrid>
                <a:gridCol w="2457907"/>
                <a:gridCol w="3160166"/>
                <a:gridCol w="3160166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십의 자리까지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자리까지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반올림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반올림을 두 번 해도 될까?</a:t>
            </a:r>
            <a:endParaRPr lang="ko-KR" sz="4000" dirty="0"/>
          </a:p>
        </p:txBody>
      </p:sp>
      <p:sp>
        <p:nvSpPr>
          <p:cNvPr id="3" name="S07-card10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0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2449를 반올림하여 백의 자리까지 나타냈어요.</a:t>
            </a:r>
            <a:endParaRPr lang="ko-KR" sz="2800" dirty="0"/>
          </a:p>
        </p:txBody>
      </p:sp>
      <p:sp>
        <p:nvSpPr>
          <p:cNvPr id="5" name="S07-card1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2449는 2400과 2500 중 어디에 가까울까요?</a:t>
            </a:r>
            <a:endParaRPr lang="ko-KR" sz="2800" dirty="0"/>
          </a:p>
        </p:txBody>
      </p:sp>
      <p:sp>
        <p:nvSpPr>
          <p:cNvPr id="7" name="S07-chip11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하늘: 2500</a:t>
            </a:r>
            <a:endParaRPr lang="ko-KR" sz="2200" dirty="0"/>
          </a:p>
        </p:txBody>
      </p:sp>
      <p:sp>
        <p:nvSpPr>
          <p:cNvPr id="8" name="S07-text11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2449 → 2450 → 2500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자리부터 차례로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올렸어요.</a:t>
            </a:r>
            <a:endParaRPr lang="ko-KR" sz="2800" dirty="0"/>
          </a:p>
        </p:txBody>
      </p:sp>
      <p:sp>
        <p:nvSpPr>
          <p:cNvPr id="9" name="S07-chip11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바다: 2400</a:t>
            </a:r>
            <a:endParaRPr lang="ko-KR" sz="2200" dirty="0"/>
          </a:p>
        </p:txBody>
      </p:sp>
      <p:sp>
        <p:nvSpPr>
          <p:cNvPr id="10" name="S07-text11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 바로 아래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4만 보고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버렸어요.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어림이 알맞을까요?</a:t>
            </a:r>
            <a:endParaRPr lang="ko-KR" sz="4000" dirty="0"/>
          </a:p>
        </p:txBody>
      </p:sp>
      <p:sp>
        <p:nvSpPr>
          <p:cNvPr id="3" name="S08-text1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상황에 따라 알맞은 방법이 달라요.</a:t>
            </a:r>
            <a:endParaRPr lang="ko-KR" sz="2800" dirty="0"/>
          </a:p>
        </p:txBody>
      </p:sp>
      <p:sp>
        <p:nvSpPr>
          <p:cNvPr id="4" name="S08-card1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것도 해결해야 하면 올림, 모자라서 못 하면 버림이에요.</a:t>
            </a:r>
            <a:endParaRPr lang="ko-KR" sz="2800" dirty="0"/>
          </a:p>
        </p:txBody>
      </p:sp>
      <p:sp>
        <p:nvSpPr>
          <p:cNvPr id="6" name="S08-card119"/>
          <p:cNvSpPr/>
          <p:nvPr/>
        </p:nvSpPr>
        <p:spPr>
          <a:xfrm>
            <a:off x="548640" y="2418334"/>
            <a:ext cx="3544824" cy="2295652"/>
          </a:xfrm>
          <a:prstGeom prst="roundRect">
            <a:avLst>
              <a:gd name="adj" fmla="val 478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120"/>
          <p:cNvSpPr txBox="1"/>
          <p:nvPr/>
        </p:nvSpPr>
        <p:spPr>
          <a:xfrm>
            <a:off x="822960" y="2555494"/>
            <a:ext cx="2996184" cy="202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올림: 상자에 담기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243개를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담으면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상자 25개</a:t>
            </a:r>
            <a:endParaRPr lang="ko-KR" sz="2800" dirty="0"/>
          </a:p>
        </p:txBody>
      </p:sp>
      <p:sp>
        <p:nvSpPr>
          <p:cNvPr id="8" name="S08-card121"/>
          <p:cNvSpPr/>
          <p:nvPr/>
        </p:nvSpPr>
        <p:spPr>
          <a:xfrm>
            <a:off x="4322064" y="2418334"/>
            <a:ext cx="3544824" cy="2295652"/>
          </a:xfrm>
          <a:prstGeom prst="roundRect">
            <a:avLst>
              <a:gd name="adj" fmla="val 478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122"/>
          <p:cNvSpPr txBox="1"/>
          <p:nvPr/>
        </p:nvSpPr>
        <p:spPr>
          <a:xfrm>
            <a:off x="4596384" y="2555494"/>
            <a:ext cx="2996184" cy="202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버림: 지폐로만 바꾸기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 3780원을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1000원짜리로 바꾸면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3장, 3000원</a:t>
            </a:r>
            <a:endParaRPr lang="ko-KR" sz="2800" dirty="0"/>
          </a:p>
        </p:txBody>
      </p:sp>
      <p:sp>
        <p:nvSpPr>
          <p:cNvPr id="10" name="S08-card123"/>
          <p:cNvSpPr/>
          <p:nvPr/>
        </p:nvSpPr>
        <p:spPr>
          <a:xfrm>
            <a:off x="8095488" y="2418334"/>
            <a:ext cx="3544824" cy="2295652"/>
          </a:xfrm>
          <a:prstGeom prst="roundRect">
            <a:avLst>
              <a:gd name="adj" fmla="val 478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124"/>
          <p:cNvSpPr txBox="1"/>
          <p:nvPr/>
        </p:nvSpPr>
        <p:spPr>
          <a:xfrm>
            <a:off x="8369808" y="2555494"/>
            <a:ext cx="2996184" cy="202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반올림: 대강의 크기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137.6 cm를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자리까지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약 138 cm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상황에 맞게 어림해요</a:t>
            </a:r>
            <a:endParaRPr lang="ko-KR" sz="4000" dirty="0"/>
          </a:p>
        </p:txBody>
      </p:sp>
      <p:sp>
        <p:nvSpPr>
          <p:cNvPr id="3" name="S09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방법을 고르고 답을 구해요.</a:t>
            </a:r>
            <a:endParaRPr lang="ko-KR" sz="2800" dirty="0"/>
          </a:p>
        </p:txBody>
      </p:sp>
      <p:sp>
        <p:nvSpPr>
          <p:cNvPr id="4" name="S09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것도 해결해야 하나요, 모자라서 못 하나요?</a:t>
            </a:r>
            <a:endParaRPr lang="ko-KR" sz="2800" dirty="0"/>
          </a:p>
        </p:txBody>
      </p:sp>
      <p:sp>
        <p:nvSpPr>
          <p:cNvPr id="6" name="S09-chip12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12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128명이 10인승 차에 모두 타려면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차는 적어도 몇 대가 필요할까요?</a:t>
            </a:r>
            <a:endParaRPr lang="ko-KR" sz="2800" dirty="0"/>
          </a:p>
        </p:txBody>
      </p:sp>
      <p:sp>
        <p:nvSpPr>
          <p:cNvPr id="8" name="S09-chip13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13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365개를 10개씩 봉지에 담아 팔면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봉지까지 팔 수 있을까요?</a:t>
            </a:r>
            <a:endParaRPr lang="ko-KR" sz="2800" dirty="0"/>
          </a:p>
        </p:txBody>
      </p:sp>
      <p:sp>
        <p:nvSpPr>
          <p:cNvPr id="10" name="S09-chip13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13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끈이 3.6 m 필요한데 1 m 단위로만 팔아요.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m를 사야 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④는 까닭도 말해요.</a:t>
            </a:r>
            <a:endParaRPr lang="ko-KR" sz="2800" dirty="0"/>
          </a:p>
        </p:txBody>
      </p:sp>
      <p:sp>
        <p:nvSpPr>
          <p:cNvPr id="4" name="S10-chip13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text13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5276을 반올림하여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자리까지</a:t>
            </a:r>
            <a:endParaRPr lang="ko-KR" sz="2800" dirty="0"/>
          </a:p>
        </p:txBody>
      </p:sp>
      <p:sp>
        <p:nvSpPr>
          <p:cNvPr id="6" name="S10-chip13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text13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5276을 버림하여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천의 자리까지</a:t>
            </a:r>
            <a:endParaRPr lang="ko-KR" sz="2800" dirty="0"/>
          </a:p>
        </p:txBody>
      </p:sp>
      <p:sp>
        <p:nvSpPr>
          <p:cNvPr id="8" name="S10-chip13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text14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7030을 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자리까지</a:t>
            </a:r>
            <a:endParaRPr lang="ko-KR" sz="2800" dirty="0"/>
          </a:p>
        </p:txBody>
      </p:sp>
      <p:sp>
        <p:nvSpPr>
          <p:cNvPr id="10" name="S10-chip14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0-text14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437장이 필요해요.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100장씩 묶음으로만 팔면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묶음을 사야 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254, 다른 답</a:t>
            </a:r>
            <a:endParaRPr lang="ko-KR" sz="4000" dirty="0"/>
          </a:p>
        </p:txBody>
      </p:sp>
      <p:sp>
        <p:nvSpPr>
          <p:cNvPr id="3" name="S12-text1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어림 방법과 답을 말해요.</a:t>
            </a:r>
            <a:endParaRPr lang="ko-KR" sz="2800" dirty="0"/>
          </a:p>
        </p:txBody>
      </p:sp>
      <p:sp>
        <p:nvSpPr>
          <p:cNvPr id="4" name="S12-chip14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14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 254개를 10개씩 꿰어 목걸이를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만들면 몇 개까지 만들 수 있을까요?</a:t>
            </a:r>
            <a:endParaRPr lang="ko-KR" sz="2800" dirty="0"/>
          </a:p>
        </p:txBody>
      </p:sp>
      <p:sp>
        <p:nvSpPr>
          <p:cNvPr id="6" name="S12-chip14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14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254명이 10명씩 케이블카를 타요.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적어도 몇 번 운행해야 할까요?</a:t>
            </a:r>
            <a:endParaRPr lang="ko-KR" sz="2800" dirty="0"/>
          </a:p>
        </p:txBody>
      </p:sp>
      <p:sp>
        <p:nvSpPr>
          <p:cNvPr id="8" name="S12-chip14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2-text14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짐 254 kg을 반올림하여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자리까지 나타내면?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5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5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반올림은 바로 아래 숫자가 5 이상이면 올리고, 4 이하이면 버려요.</a:t>
            </a:r>
            <a:endParaRPr lang="ko-KR" sz="2800" dirty="0"/>
          </a:p>
        </p:txBody>
      </p:sp>
      <p:sp>
        <p:nvSpPr>
          <p:cNvPr id="5" name="S13-chip15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남은 것도 해결해야 하면 올림</a:t>
            </a:r>
            <a:endParaRPr lang="ko-KR" sz="2200" dirty="0"/>
          </a:p>
        </p:txBody>
      </p:sp>
      <p:sp>
        <p:nvSpPr>
          <p:cNvPr id="6" name="S13-chip15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반올림을 여러 번 하기</a:t>
            </a:r>
            <a:endParaRPr lang="ko-KR" sz="2200" dirty="0"/>
          </a:p>
        </p:txBody>
      </p:sp>
      <p:sp>
        <p:nvSpPr>
          <p:cNvPr id="7" name="S13-text15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5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3481을 올림하여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자리까지</a:t>
            </a:r>
            <a:endParaRPr lang="ko-KR" sz="2200" dirty="0"/>
          </a:p>
        </p:txBody>
      </p:sp>
      <p:sp>
        <p:nvSpPr>
          <p:cNvPr id="9" name="S13-text15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3481을 반올림하여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자리까지</a:t>
            </a:r>
            <a:endParaRPr lang="ko-KR" sz="2200" dirty="0"/>
          </a:p>
        </p:txBody>
      </p:sp>
      <p:sp>
        <p:nvSpPr>
          <p:cNvPr id="10" name="S13-text15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공책 52권 사기: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10권 묶음으로 몇 묶음?</a:t>
            </a:r>
            <a:endParaRPr lang="ko-KR" sz="2200" dirty="0"/>
          </a:p>
        </p:txBody>
      </p:sp>
      <p:sp>
        <p:nvSpPr>
          <p:cNvPr id="11" name="S13-text15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분수와 자연수의 곱셈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더 가까운 몇십</a:t>
            </a:r>
            <a:endParaRPr lang="ko-KR" sz="4000" dirty="0"/>
          </a:p>
        </p:txBody>
      </p:sp>
      <p:sp>
        <p:nvSpPr>
          <p:cNvPr id="3" name="S14-text1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37은 30과 40 중 어디에 더 가까울까요?</a:t>
            </a:r>
            <a:endParaRPr lang="ko-KR" sz="2800" dirty="0"/>
          </a:p>
        </p:txBody>
      </p:sp>
      <p:sp>
        <p:nvSpPr>
          <p:cNvPr id="4" name="S14-card160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61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37은 40에 더 가까워요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40까지 3칸, 30까지 7칸이에요.</a:t>
            </a:r>
            <a:endParaRPr lang="ko-KR" sz="2800" dirty="0"/>
          </a:p>
        </p:txBody>
      </p:sp>
      <p:sp>
        <p:nvSpPr>
          <p:cNvPr id="6" name="S14-line162"/>
          <p:cNvSpPr/>
          <p:nvPr/>
        </p:nvSpPr>
        <p:spPr>
          <a:xfrm>
            <a:off x="685800" y="3746165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4-line163"/>
          <p:cNvSpPr/>
          <p:nvPr/>
        </p:nvSpPr>
        <p:spPr>
          <a:xfrm>
            <a:off x="960120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4-label164"/>
          <p:cNvSpPr txBox="1"/>
          <p:nvPr/>
        </p:nvSpPr>
        <p:spPr>
          <a:xfrm>
            <a:off x="502920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9" name="S14-line165"/>
          <p:cNvSpPr/>
          <p:nvPr/>
        </p:nvSpPr>
        <p:spPr>
          <a:xfrm>
            <a:off x="1986991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4-label166"/>
          <p:cNvSpPr txBox="1"/>
          <p:nvPr/>
        </p:nvSpPr>
        <p:spPr>
          <a:xfrm>
            <a:off x="1529791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ko-KR" sz="2200" dirty="0"/>
          </a:p>
        </p:txBody>
      </p:sp>
      <p:sp>
        <p:nvSpPr>
          <p:cNvPr id="11" name="S14-line167"/>
          <p:cNvSpPr/>
          <p:nvPr/>
        </p:nvSpPr>
        <p:spPr>
          <a:xfrm>
            <a:off x="3013862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4-label168"/>
          <p:cNvSpPr txBox="1"/>
          <p:nvPr/>
        </p:nvSpPr>
        <p:spPr>
          <a:xfrm>
            <a:off x="2556662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ko-KR" sz="2200" dirty="0"/>
          </a:p>
        </p:txBody>
      </p:sp>
      <p:sp>
        <p:nvSpPr>
          <p:cNvPr id="13" name="S14-line169"/>
          <p:cNvSpPr/>
          <p:nvPr/>
        </p:nvSpPr>
        <p:spPr>
          <a:xfrm>
            <a:off x="4040734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4-label170"/>
          <p:cNvSpPr txBox="1"/>
          <p:nvPr/>
        </p:nvSpPr>
        <p:spPr>
          <a:xfrm>
            <a:off x="3583534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ko-KR" sz="2200" dirty="0"/>
          </a:p>
        </p:txBody>
      </p:sp>
      <p:sp>
        <p:nvSpPr>
          <p:cNvPr id="15" name="S14-line171"/>
          <p:cNvSpPr/>
          <p:nvPr/>
        </p:nvSpPr>
        <p:spPr>
          <a:xfrm>
            <a:off x="5067605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4-label172"/>
          <p:cNvSpPr txBox="1"/>
          <p:nvPr/>
        </p:nvSpPr>
        <p:spPr>
          <a:xfrm>
            <a:off x="4610405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ko-KR" sz="2200" dirty="0"/>
          </a:p>
        </p:txBody>
      </p:sp>
      <p:sp>
        <p:nvSpPr>
          <p:cNvPr id="17" name="S14-line173"/>
          <p:cNvSpPr/>
          <p:nvPr/>
        </p:nvSpPr>
        <p:spPr>
          <a:xfrm>
            <a:off x="6094476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4-label174"/>
          <p:cNvSpPr txBox="1"/>
          <p:nvPr/>
        </p:nvSpPr>
        <p:spPr>
          <a:xfrm>
            <a:off x="5637276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2200" dirty="0"/>
          </a:p>
        </p:txBody>
      </p:sp>
      <p:sp>
        <p:nvSpPr>
          <p:cNvPr id="19" name="S14-line175"/>
          <p:cNvSpPr/>
          <p:nvPr/>
        </p:nvSpPr>
        <p:spPr>
          <a:xfrm>
            <a:off x="7121347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4-label176"/>
          <p:cNvSpPr txBox="1"/>
          <p:nvPr/>
        </p:nvSpPr>
        <p:spPr>
          <a:xfrm>
            <a:off x="6664147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2200" dirty="0"/>
          </a:p>
        </p:txBody>
      </p:sp>
      <p:sp>
        <p:nvSpPr>
          <p:cNvPr id="21" name="S14-line177"/>
          <p:cNvSpPr/>
          <p:nvPr/>
        </p:nvSpPr>
        <p:spPr>
          <a:xfrm>
            <a:off x="8148218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4-label178"/>
          <p:cNvSpPr txBox="1"/>
          <p:nvPr/>
        </p:nvSpPr>
        <p:spPr>
          <a:xfrm>
            <a:off x="7691018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ko-KR" sz="2200" dirty="0"/>
          </a:p>
        </p:txBody>
      </p:sp>
      <p:sp>
        <p:nvSpPr>
          <p:cNvPr id="23" name="S14-line179"/>
          <p:cNvSpPr/>
          <p:nvPr/>
        </p:nvSpPr>
        <p:spPr>
          <a:xfrm>
            <a:off x="9175090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4-label180"/>
          <p:cNvSpPr txBox="1"/>
          <p:nvPr/>
        </p:nvSpPr>
        <p:spPr>
          <a:xfrm>
            <a:off x="8717890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ko-KR" sz="2200" dirty="0"/>
          </a:p>
        </p:txBody>
      </p:sp>
      <p:sp>
        <p:nvSpPr>
          <p:cNvPr id="25" name="S14-line181"/>
          <p:cNvSpPr/>
          <p:nvPr/>
        </p:nvSpPr>
        <p:spPr>
          <a:xfrm>
            <a:off x="10201961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4-label182"/>
          <p:cNvSpPr txBox="1"/>
          <p:nvPr/>
        </p:nvSpPr>
        <p:spPr>
          <a:xfrm>
            <a:off x="9744761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ko-KR" sz="2200" dirty="0"/>
          </a:p>
        </p:txBody>
      </p:sp>
      <p:sp>
        <p:nvSpPr>
          <p:cNvPr id="27" name="S14-line183"/>
          <p:cNvSpPr/>
          <p:nvPr/>
        </p:nvSpPr>
        <p:spPr>
          <a:xfrm>
            <a:off x="11228832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4-label184"/>
          <p:cNvSpPr txBox="1"/>
          <p:nvPr/>
        </p:nvSpPr>
        <p:spPr>
          <a:xfrm>
            <a:off x="10771632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29" name="S14-mark185"/>
          <p:cNvSpPr/>
          <p:nvPr/>
        </p:nvSpPr>
        <p:spPr>
          <a:xfrm>
            <a:off x="8056778" y="365472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0" name="S14-label186"/>
          <p:cNvSpPr txBox="1"/>
          <p:nvPr/>
        </p:nvSpPr>
        <p:spPr>
          <a:xfrm>
            <a:off x="7599578" y="3154345"/>
            <a:ext cx="109728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ko-KR" sz="2200" dirty="0"/>
          </a:p>
        </p:txBody>
      </p:sp>
      <p:sp>
        <p:nvSpPr>
          <p:cNvPr id="31" name="S14-figure187" descr="30부터 40까지 1씩 눈금 수직선에 37 표시"/>
          <p:cNvSpPr/>
          <p:nvPr/>
        </p:nvSpPr>
        <p:spPr>
          <a:xfrm>
            <a:off x="685800" y="3563285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어림하기</dc:title>
  <dc:subject>KR22-G05-MAT-ROUND-L01</dc:subject>
  <dc:creator>education-ppt</dc:creator>
  <cp:lastModifiedBy>education-ppt</cp:lastModifiedBy>
  <cp:revision>1</cp:revision>
  <dcterms:created xsi:type="dcterms:W3CDTF">2026-10-26T08:32:25Z</dcterms:created>
  <dcterms:modified xsi:type="dcterms:W3CDTF">2026-10-26T08:32:25Z</dcterms:modified>
</cp:coreProperties>
</file>