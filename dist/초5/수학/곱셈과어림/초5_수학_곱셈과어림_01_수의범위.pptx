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0078e2-cb68-da0c-a266-b29589e8721c}">
          <p14:sldIdLst>
            <p14:sldId id="256"/>
            <p14:sldId id="257"/>
          </p14:sldIdLst>
        </p14:section>
        <p14:section name="개념" id="{6dbe9204-1c26-56e4-c4da-6109977549d7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5d3b391f-d3c6-82f3-12d4-d406306cf64e}">
          <p14:sldIdLst>
            <p14:sldId id="260"/>
            <p14:sldId id="264"/>
            <p14:sldId id="265"/>
          </p14:sldIdLst>
        </p14:section>
        <p14:section name="개념" id="{773728be-6496-f5e2-9f0d-3077eacc12fe}">
          <p14:sldIdLst/>
        </p14:section>
        <p14:section name="연습" id="{b9cfb984-62ff-eca2-135d-8de97cd772e7}">
          <p14:sldIdLst/>
        </p14:section>
        <p14:section name="확인" id="{865a4c07-7e60-1249-e9d0-ce72c798138b}">
          <p14:sldIdLst>
            <p14:sldId id="266"/>
            <p14:sldId id="267"/>
            <p14:sldId id="268"/>
          </p14:sldIdLst>
        </p14:section>
        <p14:section name="정리" id="{4bfff528-a683-8672-acf4-d9b510049e63}">
          <p14:sldIdLst>
            <p14:sldId id="269"/>
          </p14:sldIdLst>
        </p14:section>
        <p14:section name="보충" id="{2ca65cb2-4954-9b42-8bfe-254d8521f08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말(이상·이하·초과·미만)이 생활에서 쓰인다는 것을 보여 주고 먼저 예상하게 합니다.
시간: 약 2분
이렇게 말해 보세요
- “놀이공원에서 ‘키 130 cm 이상’이라고 쓴 안내판을 본 적 있어? 키가 딱 130 cm인 사람은 탈 수 있을까?”
- “예상만 해 보자. 틀려도 괜찮아. 조금 뒤에 같이 확인할 거야.”
예상 답
- “탈 수 있어요.” / “못 타요. 130보다 커야 해요.” / “모르겠어요.”
막히면
- 답을 바로 알려 주지 않습니다. 아이의 예상을 종이에 적어 두고 S03에서 확인합니다.
주의
- 수업에 나오는 안내판·요금표의 기준(130 cm, 7세 등)은 수업을 위해 지어낸 예입니다. 실제 기준은 곳마다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확인(수의 크기 비교)]
목적: 오늘 수업에 꼭 필요한 수의 크기 비교(자연수·소수)를 할 수 있는지 확인합니다.
시간: 약 3분
이렇게 말해 보세요
- “①은 어느 쪽이 더 커? 벌어진 쪽이 큰 수를 향하게 써.”
- “②는 소수야. 4.5와 4.2 중 어느 것이 커?”
- “③에서 35보다 큰 수는 무엇무엇이야? 35도 골라야 할까?”
정답
- ① 27 &lt; 31
- ② 4.5 &gt; 4.2
- ③ 38, 41 (35는 35보다 크지 않으므로 고르지 않습니다)
막히면
- ①②가 흔들리면 S15(보충)에서 수직선으로 크기를 비교한 뒤 S03으로 돌아옵니다.
- 계획에는 이 차시의 선수 차시가 따로 없습니다. 보충으로도 어려우면 초2 수와계산 1차시 ‘세 자리 수’(KR22-G02-MAT-NUM1000-L01)의 크기 비교, 소수가 어려우면 초3 분수와소수 3차시 ‘소수의 뜻’(KR22-G03-MAT-DECIMAL-L01)을 먼저 합니다.
주의
- ③에서 35를 함께 고르면 틀렸다고 하지 말고 “35는 35보다 커?”라고만 묻습니다. 오늘 배울 ‘이상’과 ‘초과’의 차이로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이상의 뜻(기준 수 포함, ●)]
목적: ‘이상’은 기준 수와 같거나 큰 수이고 기준 수가 들어간다는 것을 수직선의 ●로 봅니다.
시간: 약 3분
이렇게 말해 보세요
- “130 cm 이상이면 130 cm인 사람은 탈 수 있을까? 131 cm는? 129 cm는?”
- “이상은 ‘같거나 크다’는 뜻이야. 그래서 130에 꽉 찬 동그라미(●)를 그리고 오른쪽으로 굵게 칠해.”
- “130.5 cm처럼 눈금 사이에 있는 키도 들어갈까?”
예상 답
- “130 cm도 탈 수 있어요. 131 cm도요. 129 cm는 못 타요.”
- “130.5도 130보다 크니까 들어가요.”
막히면
- 줄자로 아이의 키를 재어 보고 “너는 이 놀이기구를 탈 수 있을까?”라고 묻습니다.
- ‘같거나 크다’를 ‘130이랑 같아도 되고, 130보다 커도 된다’로 풀어 말합니다.
주의
- S01에서 적어 둔 아이의 예상을 여기서 함께 확인합니다.
- 굵은 선은 그 범위의 모든 수를 나타냅니다. 눈금 사이의 소수(130.5 등)도 들어갑니다(M3).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이하의 뜻(기준 수 포함, ●)]
목적: ‘이하’는 기준 수와 같거나 작은 수이고 기준 수가 들어간다는 것을 봅니다. ‘이상’과 칠하는 방향이 반대입니다.
시간: 약 3분
이렇게 말해 보세요
- “120 cm 이하만 탈 수 있대. 120 cm인 어린이는 탈 수 있을까? 118 cm는? 121 cm는?”
- “이하는 ‘같거나 작다’는 뜻이야. 120에 ●를 그리고 이번에는 어느 쪽으로 칠할까?”
예상 답
- “120 cm도 탈 수 있어요. 121 cm는 못 타요.”
- “왼쪽이요. 작은 수가 왼쪽에 있으니까요.”
막히면
- “수직선에서 작은 수는 어느 쪽에 있지?”라고 물어 방향을 먼저 찾게 합니다.
- S03 그림과 나란히 놓고 “무엇이 같고 무엇이 달라?”라고 묻습니다(●는 같고, 칠하는 방향이 달라요).
주의
- 이상과 이하의 방향을 바꾸어 기억하는 경우가 많습니다(M2). ‘이상 → 위(큰 쪽)’, ‘이하 → 아래(작은 쪽)’로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이상·이하인 수 고르기와 수직선 읽기]
목적: 도움을 받으며 이상·이하인 수를 고르고, 수직선이 나타내는 범위를 말합니다.
시간: 약 4분
이렇게 말해 보세요
- “①에서 30도 고를까? 29.5는?”
- “②에서 15는 들어가? 15.2는 15보다 커, 작아?”
- “③은 22에 무엇이 그려져 있어? 어느 쪽으로 칠했어?”
정답
- ① 30, 31, 45 (28과 29.5는 30보다 작아서 빠집니다)
- ② 9, 14, 15 (15.2와 16은 15보다 커서 빠집니다)
- ③ 22 이하
막히면
- 수를 하나씩 기준 수와 비교하게 합니다. “29.5는 30과 같아? 30보다 커?”
- ③은 S04 그림을 다시 보여 주고 ●와 칠한 방향을 비교하게 합니다.
주의
- 29.5, 15.2처럼 소수를 빠뜨리지 않는지 봅니다(M3). 소수도 기준 수와 크기를 비교하면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초과·미만의 뜻(기준 수 제외, ○)]
목적: ‘초과’는 기준 수보다 큰 수, ‘미만’은 기준 수보다 작은 수이며 둘 다 기준 수가 빠진다는 것을 ○로 봅니다.
시간: 약 3분
이렇게 말해 보세요
- “택배 상자가 5 kg 초과이면 요금이 더 붙는대. 딱 5 kg이면 요금이 더 붙을까?”
- “초과는 ‘보다 크다’, 미만은 ‘보다 작다’야. 5는 들어가지 않으니까 속이 빈 동그라미(○)로 그려.”
- “5 미만인 자연수를 말해 볼래?”
예상 답
- “5 kg이면 안 붙어요. 5보다 커야 하니까요.”
- “1, 2, 3, 4요.”
막히면
- 단추 5개와 6개를 놓고 “6개는 5개 초과야? 5개는?”처럼 물건으로 비교합니다.
주의
- 택배 요금 예는 수업을 위해 지어낸 것입니다.
- 5 미만인 수에는 4.9, 0.5 같은 소수도 들어갑니다. ‘자연수’라고 말할 때만 1, 2, 3, 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네 가지 말 정리(포함 여부와 방향)]
목적: 네 가지 말을 ‘기준 수가 들어가는가’와 ‘큰 쪽인가 작은 쪽인가’ 두 가지로 정리합니다.
시간: 약 2분
이렇게 말해 보세요
- “이상과 초과는 무엇이 같고 무엇이 달라?”
- “이하와 미만은?”
- “10 초과와 10 이상에서 다른 수는 딱 하나야. 무엇일까?”
예상 답
- “둘 다 큰 쪽인데, 이상은 10이 들어가고 초과는 안 들어가요.”
- “10이요.”
막히면
- S03(이상)과 S06(초과) 그림을 나란히 보여 주고 기준 수의 동그라미만 비교하게 합니다.
주의
- 외우기보다 ‘기준 수가 들어가?’를 먼저 묻는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두 조건이 함께 있는 범위 나타내기]
목적: ‘○ 이상 △ 미만’처럼 두 조건이 함께 있는 범위를 수직선에 나타냅니다.
시간: 약 4분
이렇게 말해 보세요
- “130 cm 이상이면서 140 cm 미만이래. 130에는 무엇을 그릴까? 140에는?”
- “135 cm는 이 칸에 탈 수 있을까? 140 cm는? 129.9 cm는?”
예상 답
- “130에는 ●, 140에는 ○요.”
- “135는 돼요. 140은 미만이라 안 돼요. 129.9는 130보다 작아서 안 돼요.”
막히면
- 두 조건을 하나씩 따로 그리게 합니다: 먼저 130 이상(●, 오른쪽), 다음에 140 미만(○, 왼쪽). 두 번 칠해진 곳이 답입니다.
주의
- 놀이기구 기준은 지어낸 예입니다.
- 아이가 지쳐 보이면 이 장 다음에 쉬고, 다음 날 S07을 짧게 본 뒤 S09부터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문제(요금표 읽기)]
목적: 요금표의 이상·이하·초과·미만을 읽고, 경계에 있는 나이의 요금을 바르게 찾습니다.
시간: 약 4분
이렇게 말해 보세요
- “7세는 어느 줄에 들어가? ‘7세 이하’에 7세가 들어갈까?”
- “13세는 둘째 줄일까, 셋째 줄일까? 13세 초과에 13세가 들어가?”
- “14세는? 65세는?”
정답
- ① 7세: 무료
- ② 13세: 3000원 (13세 이하에 들어가고, 13세 초과에는 들어가지 않습니다)
- ③ 14세: 5000원
- ④ 65세: 2000원 (65세 미만에는 들어가지 않습니다)
막히면
- 경계의 나이(13세, 65세)는 두 줄을 모두 읽고 “어느 쪽에 13이 들어가?”라고 묻습니다.
- 필요하면 줄마다 수직선을 그려 ●, ○를 표시해 봅니다.
주의
- 요금표는 수업을 위해 지어낸 것입니다.
- 나이가 자연수일 때 이 요금표에는 빠지거나 겹치는 나이가 없습니다. 아이가 물으면 함께 확인해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비교(미만에 기준 수 넣기)]
목적: 미만(초과)에 기준 수를 넣는 흔한 실수(M1)를 두 그림을 비교하며 바로잡습니다.
시간: 약 3분
이렇게 말해 보세요
- “하늘이와 바다의 그림에서 다른 곳은 어디야?”
- “20 미만에 20이 들어갈까? 19.5는?”
- “하늘이 그림은 무엇을 나타낸 걸까?”
예상 답
- “바다가 맞아요. 미만은 20보다 작은 수라서 20은 빠져요.”
- “하늘이는 20 이하를 그렸어요.”
정답
- 바다가 맞습니다. 20 미만은 20보다 작은 수이므로 20은 들어가지 않아 ○로 그립니다.
- 하늘이의 그림은 ‘20 이하’입니다. 19.5는 두 그림 모두에 들어갑니다.
막히면
- S07의 정리 표를 다시 보고 ‘미만’이 어느 칸에 있는지 찾게 합니다.
주의
- ‘누가 틀렸나’보다 ‘하늘이 그림은 무엇을 나타낼까?’를 말하게 하면 이하와 미만을 함께 정리할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범위에 드는 수 고르기(목표 A), 수직선 읽기와 생활 문제(목표 B)를 하는지 확인합니다.
시간: 약 4분
이렇게 말해 보세요
- “이번에는 혼자 해 보자. 다 하면 ③의 까닭을 말해 줘.”
정답
- ① 25, 27.5
- ② 40 초과 45 이하
- ③ 탈 수 없습니다. 150은 ‘150 미만’에 들어가지 않습니다.
막히면
- 바로 알려 주지 말고 “기준 수가 들어가?”라고만 묻습니다.
- 도움을 받아 해결했다면 기록표에 ‘도움’으로 표시합니다.
주의
- ①은 목표 A와 B를 함께, ②③은 목표 B를 확인합니다.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25, 27.5 ② 40 초과 45 이하 ③ 탈 수 없다(150은 150 미만에 들어가지 않음)
막히면
- ●와 ○를 헷갈렸으면 S07로, 미만에 기준 수를 넣었으면 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확인(수직선 고르기와 까닭)]
목적: 처음 보는 문제에서 ●와 ○를 바르게 고르고 까닭을 말하는지 확인합니다(목표 B).
시간: 약 2분
이렇게 말해 보세요
- “50 이상 60 미만을 나타낸 수직선은 어느 것이야? 왜 그렇게 생각해?”
- “나머지 수직선은 각각 무엇을 나타낼까?”
정답
- 다: 50 이상이라 50에 ●, 60 미만이라 60에 ○입니다.
- 가는 50 이상 60 이하, 나는 50 초과 60 미만, 라는 50 초과 60 이하입니다.
막히면
- 두 조건을 나누어 묻습니다. “50 이상이면 50에 무엇을 그려? 60 미만이면 60에는?”
주의
- 까닭까지 말하면 목표 B 확인 완료입니다. 답만 맞히면 ‘까닭 설명 필요’로 기록하고 다음 수업 시작 때 다시 묻습니다.
- S01에서 적어 둔 예상을 다시 보여 주고 “이제 답을 알겠어?”라고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한 문장으로 정리하고 다음 수업 첫 5분에 풀 복습 문제를 알려 줍니다.
시간: 약 2분
이렇게 말해 보세요
- “오늘 배운 네 가지 말 중에서 기준 수가 들어가는 것은 무엇이었어?”
- “다음 수업을 시작할 때 이 세 문제를 먼저 풀 거야.”
예상 답
- “이상이랑 이하요. 초과랑 미만은 안 들어가요.”
정답
- ① 11, 12, 13, 14, 15
- ② 5개(45, 46, 47, 48, 49)
- ③ 20 이하에는 20이 들어가고, 20 미만에는 20이 들어가지 않습니다.
막히면
- 화면의 문장을 함께 읽고 “이상·이하는 ●, 초과·미만은 ○”만 따라 말하게 합니다.
주의
- 다음 차시 ‘어림하기’의 반올림에서 ‘5 이상이면 올린다’처럼 오늘 배운 말을 다시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보충(수직선에서 크기 비교)]
목적: S02에서 수의 크기 비교가 흔들린 경우에만 사용합니다. 수직선의 왼쪽·오른쪽과 크기를 연결합니다.
시간: 약 5분
이렇게 말해 보세요
- “3과 7 중에서 오른쪽에 있는 수는? 어느 수가 더 커?”
- “3보다 크고 7보다 작은 자연수를 모두 말해 볼래?”
- “2.5는 수직선에서 어디쯤 있을까?”
정답
- 7이 더 큽니다(7 &gt; 3).
- 4, 5, 6
- 2.5는 2와 3의 한가운데에 있습니다.
막히면
- 종이 띠에 0부터 10까지 눈금을 그리고 단추를 놓으며 비교합니다.
주의
- 계획에는 이 차시의 선수 차시가 따로 없습니다. 보충으로도 어려우면 초2 수와계산 1차시 ‘세 자리 수’(KR22-G02-MAT-NUM1000-L01)와 초3 분수와소수 3차시 ‘소수의 뜻’(KR22-G03-MAT-DECIMAL-L01)을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범위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130 cm이면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‘130 cm 이상’ 놀이기구를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 수 있을까?</a:t>
            </a:r>
            <a:endParaRPr lang="ko-KR" sz="28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· 이하</a:t>
            </a:r>
            <a:endParaRPr lang="ko-KR" sz="4000" dirty="0"/>
          </a:p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· 미만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이상·이하를 수직선과 말로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초과·미만을 구별하고 생활 문제에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크기 비교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○ 안에 &gt; 또는 &lt;를 쓰고, ③은 골라요.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○ 31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 ○ 4.2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35보다 큰 수를 모두 골라요.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30,  35,  38,  41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이상: 같거나 큰 수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놀이기구 안내판: 키 130 cm 이상만 탈 수 있어요.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이상: 130과 같거나 큰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130도 들어가요. 수직선에 ●로 나타내요.</a:t>
            </a:r>
            <a:endParaRPr lang="ko-KR" sz="2800" dirty="0"/>
          </a:p>
        </p:txBody>
      </p:sp>
      <p:sp>
        <p:nvSpPr>
          <p:cNvPr id="6" name="S03-figure14" descr="125부터 135까지 수직선: 130에 색칠한 동그라미(●), 130부터 오른쪽으로 굵은 선"/>
          <p:cNvSpPr/>
          <p:nvPr/>
        </p:nvSpPr>
        <p:spPr>
          <a:xfrm>
            <a:off x="5911596" y="3241294"/>
            <a:ext cx="365760" cy="36576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3-mark15"/>
          <p:cNvSpPr/>
          <p:nvPr/>
        </p:nvSpPr>
        <p:spPr>
          <a:xfrm>
            <a:off x="882396" y="342417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16"/>
          <p:cNvSpPr/>
          <p:nvPr/>
        </p:nvSpPr>
        <p:spPr>
          <a:xfrm>
            <a:off x="1522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17"/>
          <p:cNvSpPr/>
          <p:nvPr/>
        </p:nvSpPr>
        <p:spPr>
          <a:xfrm>
            <a:off x="2436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18"/>
          <p:cNvSpPr/>
          <p:nvPr/>
        </p:nvSpPr>
        <p:spPr>
          <a:xfrm>
            <a:off x="3351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19"/>
          <p:cNvSpPr/>
          <p:nvPr/>
        </p:nvSpPr>
        <p:spPr>
          <a:xfrm>
            <a:off x="4265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0"/>
          <p:cNvSpPr/>
          <p:nvPr/>
        </p:nvSpPr>
        <p:spPr>
          <a:xfrm>
            <a:off x="5180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1"/>
          <p:cNvSpPr/>
          <p:nvPr/>
        </p:nvSpPr>
        <p:spPr>
          <a:xfrm>
            <a:off x="7008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2"/>
          <p:cNvSpPr/>
          <p:nvPr/>
        </p:nvSpPr>
        <p:spPr>
          <a:xfrm>
            <a:off x="7923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3"/>
          <p:cNvSpPr/>
          <p:nvPr/>
        </p:nvSpPr>
        <p:spPr>
          <a:xfrm>
            <a:off x="8837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4"/>
          <p:cNvSpPr/>
          <p:nvPr/>
        </p:nvSpPr>
        <p:spPr>
          <a:xfrm>
            <a:off x="9752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5"/>
          <p:cNvSpPr/>
          <p:nvPr/>
        </p:nvSpPr>
        <p:spPr>
          <a:xfrm>
            <a:off x="10666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26"/>
          <p:cNvSpPr/>
          <p:nvPr/>
        </p:nvSpPr>
        <p:spPr>
          <a:xfrm>
            <a:off x="6094476" y="3424174"/>
            <a:ext cx="5074920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9" name="S03-label28"/>
          <p:cNvSpPr txBox="1"/>
          <p:nvPr/>
        </p:nvSpPr>
        <p:spPr>
          <a:xfrm>
            <a:off x="1191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</a:t>
            </a:r>
            <a:endParaRPr lang="ko-KR" sz="2200" dirty="0"/>
          </a:p>
        </p:txBody>
      </p:sp>
      <p:sp>
        <p:nvSpPr>
          <p:cNvPr id="20" name="S03-label30"/>
          <p:cNvSpPr txBox="1"/>
          <p:nvPr/>
        </p:nvSpPr>
        <p:spPr>
          <a:xfrm>
            <a:off x="5763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2200" dirty="0"/>
          </a:p>
        </p:txBody>
      </p:sp>
      <p:sp>
        <p:nvSpPr>
          <p:cNvPr id="21" name="S03-label32"/>
          <p:cNvSpPr txBox="1"/>
          <p:nvPr/>
        </p:nvSpPr>
        <p:spPr>
          <a:xfrm>
            <a:off x="10335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</a:t>
            </a:r>
            <a:endParaRPr lang="ko-KR" sz="2200" dirty="0"/>
          </a:p>
        </p:txBody>
      </p:sp>
      <p:sp>
        <p:nvSpPr>
          <p:cNvPr id="22" name="S03-label34"/>
          <p:cNvSpPr txBox="1"/>
          <p:nvPr/>
        </p:nvSpPr>
        <p:spPr>
          <a:xfrm>
            <a:off x="5447284" y="2563749"/>
            <a:ext cx="12943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이하: 같거나 작은 수</a:t>
            </a:r>
            <a:endParaRPr lang="ko-KR" sz="4000" dirty="0"/>
          </a:p>
        </p:txBody>
      </p:sp>
      <p:sp>
        <p:nvSpPr>
          <p:cNvPr id="3" name="S04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놀이기구: 키 120 cm 이하만 탈 수 있어요.</a:t>
            </a:r>
            <a:endParaRPr lang="ko-KR" sz="2800" dirty="0"/>
          </a:p>
        </p:txBody>
      </p:sp>
      <p:sp>
        <p:nvSpPr>
          <p:cNvPr id="4" name="S04-card3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이하: 120과 같거나 작은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120도 들어가요. 수직선에 ●로 나타내요.</a:t>
            </a:r>
            <a:endParaRPr lang="ko-KR" sz="2800" dirty="0"/>
          </a:p>
        </p:txBody>
      </p:sp>
      <p:sp>
        <p:nvSpPr>
          <p:cNvPr id="6" name="S04-figure38" descr="115부터 125까지 수직선: 120에 색칠한 동그라미(●), 120부터 왼쪽으로 굵은 선"/>
          <p:cNvSpPr/>
          <p:nvPr/>
        </p:nvSpPr>
        <p:spPr>
          <a:xfrm>
            <a:off x="5911596" y="3241294"/>
            <a:ext cx="365760" cy="36576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4-mark39"/>
          <p:cNvSpPr/>
          <p:nvPr/>
        </p:nvSpPr>
        <p:spPr>
          <a:xfrm>
            <a:off x="882396" y="342417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4-mark40"/>
          <p:cNvSpPr/>
          <p:nvPr/>
        </p:nvSpPr>
        <p:spPr>
          <a:xfrm>
            <a:off x="1522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4-mark41"/>
          <p:cNvSpPr/>
          <p:nvPr/>
        </p:nvSpPr>
        <p:spPr>
          <a:xfrm>
            <a:off x="2436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42"/>
          <p:cNvSpPr/>
          <p:nvPr/>
        </p:nvSpPr>
        <p:spPr>
          <a:xfrm>
            <a:off x="3351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43"/>
          <p:cNvSpPr/>
          <p:nvPr/>
        </p:nvSpPr>
        <p:spPr>
          <a:xfrm>
            <a:off x="4265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44"/>
          <p:cNvSpPr/>
          <p:nvPr/>
        </p:nvSpPr>
        <p:spPr>
          <a:xfrm>
            <a:off x="5180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45"/>
          <p:cNvSpPr/>
          <p:nvPr/>
        </p:nvSpPr>
        <p:spPr>
          <a:xfrm>
            <a:off x="7008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46"/>
          <p:cNvSpPr/>
          <p:nvPr/>
        </p:nvSpPr>
        <p:spPr>
          <a:xfrm>
            <a:off x="7923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47"/>
          <p:cNvSpPr/>
          <p:nvPr/>
        </p:nvSpPr>
        <p:spPr>
          <a:xfrm>
            <a:off x="8837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48"/>
          <p:cNvSpPr/>
          <p:nvPr/>
        </p:nvSpPr>
        <p:spPr>
          <a:xfrm>
            <a:off x="9752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49"/>
          <p:cNvSpPr/>
          <p:nvPr/>
        </p:nvSpPr>
        <p:spPr>
          <a:xfrm>
            <a:off x="10666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50"/>
          <p:cNvSpPr/>
          <p:nvPr/>
        </p:nvSpPr>
        <p:spPr>
          <a:xfrm>
            <a:off x="1019556" y="3424174"/>
            <a:ext cx="5074920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9" name="S04-label52"/>
          <p:cNvSpPr txBox="1"/>
          <p:nvPr/>
        </p:nvSpPr>
        <p:spPr>
          <a:xfrm>
            <a:off x="1191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</a:t>
            </a:r>
            <a:endParaRPr lang="ko-KR" sz="2200" dirty="0"/>
          </a:p>
        </p:txBody>
      </p:sp>
      <p:sp>
        <p:nvSpPr>
          <p:cNvPr id="20" name="S04-label54"/>
          <p:cNvSpPr txBox="1"/>
          <p:nvPr/>
        </p:nvSpPr>
        <p:spPr>
          <a:xfrm>
            <a:off x="5763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2200" dirty="0"/>
          </a:p>
        </p:txBody>
      </p:sp>
      <p:sp>
        <p:nvSpPr>
          <p:cNvPr id="21" name="S04-label56"/>
          <p:cNvSpPr txBox="1"/>
          <p:nvPr/>
        </p:nvSpPr>
        <p:spPr>
          <a:xfrm>
            <a:off x="10335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</a:t>
            </a:r>
            <a:endParaRPr lang="ko-KR" sz="2200" dirty="0"/>
          </a:p>
        </p:txBody>
      </p:sp>
      <p:sp>
        <p:nvSpPr>
          <p:cNvPr id="22" name="S04-label58"/>
          <p:cNvSpPr txBox="1"/>
          <p:nvPr/>
        </p:nvSpPr>
        <p:spPr>
          <a:xfrm>
            <a:off x="5447284" y="2563749"/>
            <a:ext cx="12943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이상·이하인 수 찾기</a:t>
            </a:r>
            <a:endParaRPr lang="ko-KR" sz="4000" dirty="0"/>
          </a:p>
        </p:txBody>
      </p:sp>
      <p:sp>
        <p:nvSpPr>
          <p:cNvPr id="3" name="S05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범위에 드는 수를 모두 골라요.</a:t>
            </a:r>
            <a:endParaRPr lang="ko-KR" sz="2800" dirty="0"/>
          </a:p>
        </p:txBody>
      </p:sp>
      <p:sp>
        <p:nvSpPr>
          <p:cNvPr id="4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수직선이 나타내는 범위를 ‘22 ○○’처럼 말해요.</a:t>
            </a:r>
            <a:endParaRPr lang="ko-KR" sz="2800" dirty="0"/>
          </a:p>
        </p:txBody>
      </p:sp>
      <p:sp>
        <p:nvSpPr>
          <p:cNvPr id="6" name="S05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6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이상인 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28,  29.5,  30,  31,  45</a:t>
            </a:r>
            <a:endParaRPr lang="ko-KR" sz="2800" dirty="0"/>
          </a:p>
        </p:txBody>
      </p:sp>
      <p:sp>
        <p:nvSpPr>
          <p:cNvPr id="8" name="S05-chip6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6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이하인 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9,  14,  15,  15.2,  16</a:t>
            </a:r>
            <a:endParaRPr lang="ko-KR" sz="2800" dirty="0"/>
          </a:p>
        </p:txBody>
      </p:sp>
      <p:sp>
        <p:nvSpPr>
          <p:cNvPr id="10" name="S05-chip6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figure67" descr="18부터 26까지 수직선: 22에 ●, 22부터 왼쪽으로 굵은 선"/>
          <p:cNvSpPr/>
          <p:nvPr/>
        </p:nvSpPr>
        <p:spPr>
          <a:xfrm>
            <a:off x="3945912" y="4389015"/>
            <a:ext cx="282913" cy="282913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2" name="S05-mark68"/>
          <p:cNvSpPr/>
          <p:nvPr/>
        </p:nvSpPr>
        <p:spPr>
          <a:xfrm>
            <a:off x="1427988" y="4530471"/>
            <a:ext cx="53187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3" name="S05-mark69"/>
          <p:cNvSpPr/>
          <p:nvPr/>
        </p:nvSpPr>
        <p:spPr>
          <a:xfrm>
            <a:off x="1824066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mark70"/>
          <p:cNvSpPr/>
          <p:nvPr/>
        </p:nvSpPr>
        <p:spPr>
          <a:xfrm>
            <a:off x="2389891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71"/>
          <p:cNvSpPr/>
          <p:nvPr/>
        </p:nvSpPr>
        <p:spPr>
          <a:xfrm>
            <a:off x="2955717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72"/>
          <p:cNvSpPr/>
          <p:nvPr/>
        </p:nvSpPr>
        <p:spPr>
          <a:xfrm>
            <a:off x="3521542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73"/>
          <p:cNvSpPr/>
          <p:nvPr/>
        </p:nvSpPr>
        <p:spPr>
          <a:xfrm>
            <a:off x="4653194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74"/>
          <p:cNvSpPr/>
          <p:nvPr/>
        </p:nvSpPr>
        <p:spPr>
          <a:xfrm>
            <a:off x="5219019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75"/>
          <p:cNvSpPr/>
          <p:nvPr/>
        </p:nvSpPr>
        <p:spPr>
          <a:xfrm>
            <a:off x="5784845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76"/>
          <p:cNvSpPr/>
          <p:nvPr/>
        </p:nvSpPr>
        <p:spPr>
          <a:xfrm>
            <a:off x="6350670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77"/>
          <p:cNvSpPr/>
          <p:nvPr/>
        </p:nvSpPr>
        <p:spPr>
          <a:xfrm>
            <a:off x="1512862" y="4530471"/>
            <a:ext cx="2574506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2" name="S05-label79"/>
          <p:cNvSpPr txBox="1"/>
          <p:nvPr/>
        </p:nvSpPr>
        <p:spPr>
          <a:xfrm>
            <a:off x="1584798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200" dirty="0"/>
          </a:p>
        </p:txBody>
      </p:sp>
      <p:sp>
        <p:nvSpPr>
          <p:cNvPr id="23" name="S05-label81"/>
          <p:cNvSpPr txBox="1"/>
          <p:nvPr/>
        </p:nvSpPr>
        <p:spPr>
          <a:xfrm>
            <a:off x="2716449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24" name="S05-label83"/>
          <p:cNvSpPr txBox="1"/>
          <p:nvPr/>
        </p:nvSpPr>
        <p:spPr>
          <a:xfrm>
            <a:off x="3848100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200" dirty="0"/>
          </a:p>
        </p:txBody>
      </p:sp>
      <p:sp>
        <p:nvSpPr>
          <p:cNvPr id="25" name="S05-label85"/>
          <p:cNvSpPr txBox="1"/>
          <p:nvPr/>
        </p:nvSpPr>
        <p:spPr>
          <a:xfrm>
            <a:off x="4979751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200" dirty="0"/>
          </a:p>
        </p:txBody>
      </p:sp>
      <p:sp>
        <p:nvSpPr>
          <p:cNvPr id="26" name="S05-label87"/>
          <p:cNvSpPr txBox="1"/>
          <p:nvPr/>
        </p:nvSpPr>
        <p:spPr>
          <a:xfrm>
            <a:off x="6111402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초과·미만: 기준 수는 빠져요</a:t>
            </a:r>
            <a:endParaRPr lang="ko-KR" sz="4000" dirty="0"/>
          </a:p>
        </p:txBody>
      </p:sp>
      <p:sp>
        <p:nvSpPr>
          <p:cNvPr id="3" name="S06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 들어가지 않으면 빈 동그라미(○)로 그려요.</a:t>
            </a:r>
            <a:endParaRPr lang="ko-KR" sz="2800" dirty="0"/>
          </a:p>
        </p:txBody>
      </p:sp>
      <p:sp>
        <p:nvSpPr>
          <p:cNvPr id="4" name="S06-card8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초과·미만에는 기준 수가 들어가지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초과에도, 5 미만에도 5는 없어요.</a:t>
            </a:r>
            <a:endParaRPr lang="ko-KR" sz="2800" dirty="0"/>
          </a:p>
        </p:txBody>
      </p:sp>
      <p:sp>
        <p:nvSpPr>
          <p:cNvPr id="6" name="S06-figure91" descr="0부터 10까지 수직선: 5에 빈 동그라미(○), 5부터 오른쪽으로 굵은 선"/>
          <p:cNvSpPr/>
          <p:nvPr/>
        </p:nvSpPr>
        <p:spPr>
          <a:xfrm>
            <a:off x="3127114" y="2963286"/>
            <a:ext cx="228867" cy="228867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6-mark92"/>
          <p:cNvSpPr/>
          <p:nvPr/>
        </p:nvSpPr>
        <p:spPr>
          <a:xfrm>
            <a:off x="632460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8" name="S06-mark93"/>
          <p:cNvSpPr/>
          <p:nvPr/>
        </p:nvSpPr>
        <p:spPr>
          <a:xfrm>
            <a:off x="3355982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" name="S06-mark94"/>
          <p:cNvSpPr/>
          <p:nvPr/>
        </p:nvSpPr>
        <p:spPr>
          <a:xfrm>
            <a:off x="952874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mark95"/>
          <p:cNvSpPr/>
          <p:nvPr/>
        </p:nvSpPr>
        <p:spPr>
          <a:xfrm>
            <a:off x="141060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6-mark96"/>
          <p:cNvSpPr/>
          <p:nvPr/>
        </p:nvSpPr>
        <p:spPr>
          <a:xfrm>
            <a:off x="1868344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97"/>
          <p:cNvSpPr/>
          <p:nvPr/>
        </p:nvSpPr>
        <p:spPr>
          <a:xfrm>
            <a:off x="232607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mark98"/>
          <p:cNvSpPr/>
          <p:nvPr/>
        </p:nvSpPr>
        <p:spPr>
          <a:xfrm>
            <a:off x="278381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mark99"/>
          <p:cNvSpPr/>
          <p:nvPr/>
        </p:nvSpPr>
        <p:spPr>
          <a:xfrm>
            <a:off x="369928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100"/>
          <p:cNvSpPr/>
          <p:nvPr/>
        </p:nvSpPr>
        <p:spPr>
          <a:xfrm>
            <a:off x="4157017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101"/>
          <p:cNvSpPr/>
          <p:nvPr/>
        </p:nvSpPr>
        <p:spPr>
          <a:xfrm>
            <a:off x="4614752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102"/>
          <p:cNvSpPr/>
          <p:nvPr/>
        </p:nvSpPr>
        <p:spPr>
          <a:xfrm>
            <a:off x="5072487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03"/>
          <p:cNvSpPr/>
          <p:nvPr/>
        </p:nvSpPr>
        <p:spPr>
          <a:xfrm>
            <a:off x="5530222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04"/>
          <p:cNvSpPr/>
          <p:nvPr/>
        </p:nvSpPr>
        <p:spPr>
          <a:xfrm>
            <a:off x="3355982" y="3077719"/>
            <a:ext cx="2425994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0" name="S06-label106"/>
          <p:cNvSpPr txBox="1"/>
          <p:nvPr/>
        </p:nvSpPr>
        <p:spPr>
          <a:xfrm>
            <a:off x="805808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1" name="S06-label108"/>
          <p:cNvSpPr txBox="1"/>
          <p:nvPr/>
        </p:nvSpPr>
        <p:spPr>
          <a:xfrm>
            <a:off x="3094482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06-label110"/>
          <p:cNvSpPr txBox="1"/>
          <p:nvPr/>
        </p:nvSpPr>
        <p:spPr>
          <a:xfrm>
            <a:off x="5290954" y="323266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3" name="S06-label111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초과: 5보다 큰 수</a:t>
            </a:r>
            <a:endParaRPr lang="ko-KR" sz="2200" dirty="0"/>
          </a:p>
        </p:txBody>
      </p:sp>
      <p:sp>
        <p:nvSpPr>
          <p:cNvPr id="24" name="S06-figure112" descr="0부터 10까지 수직선: 5에 빈 동그라미(○), 5부터 왼쪽으로 굵은 선"/>
          <p:cNvSpPr/>
          <p:nvPr/>
        </p:nvSpPr>
        <p:spPr>
          <a:xfrm>
            <a:off x="8832970" y="2963286"/>
            <a:ext cx="228867" cy="228867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5" name="S06-mark113"/>
          <p:cNvSpPr/>
          <p:nvPr/>
        </p:nvSpPr>
        <p:spPr>
          <a:xfrm>
            <a:off x="6338316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6" name="S06-mark114"/>
          <p:cNvSpPr/>
          <p:nvPr/>
        </p:nvSpPr>
        <p:spPr>
          <a:xfrm>
            <a:off x="9061838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7" name="S06-mark115"/>
          <p:cNvSpPr/>
          <p:nvPr/>
        </p:nvSpPr>
        <p:spPr>
          <a:xfrm>
            <a:off x="6658730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116"/>
          <p:cNvSpPr/>
          <p:nvPr/>
        </p:nvSpPr>
        <p:spPr>
          <a:xfrm>
            <a:off x="7116465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17"/>
          <p:cNvSpPr/>
          <p:nvPr/>
        </p:nvSpPr>
        <p:spPr>
          <a:xfrm>
            <a:off x="7574200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118"/>
          <p:cNvSpPr/>
          <p:nvPr/>
        </p:nvSpPr>
        <p:spPr>
          <a:xfrm>
            <a:off x="8031935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119"/>
          <p:cNvSpPr/>
          <p:nvPr/>
        </p:nvSpPr>
        <p:spPr>
          <a:xfrm>
            <a:off x="848966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120"/>
          <p:cNvSpPr/>
          <p:nvPr/>
        </p:nvSpPr>
        <p:spPr>
          <a:xfrm>
            <a:off x="940513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6-mark121"/>
          <p:cNvSpPr/>
          <p:nvPr/>
        </p:nvSpPr>
        <p:spPr>
          <a:xfrm>
            <a:off x="986287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6-mark122"/>
          <p:cNvSpPr/>
          <p:nvPr/>
        </p:nvSpPr>
        <p:spPr>
          <a:xfrm>
            <a:off x="10320608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6-mark123"/>
          <p:cNvSpPr/>
          <p:nvPr/>
        </p:nvSpPr>
        <p:spPr>
          <a:xfrm>
            <a:off x="1077834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6-mark124"/>
          <p:cNvSpPr/>
          <p:nvPr/>
        </p:nvSpPr>
        <p:spPr>
          <a:xfrm>
            <a:off x="11236078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mark125"/>
          <p:cNvSpPr/>
          <p:nvPr/>
        </p:nvSpPr>
        <p:spPr>
          <a:xfrm>
            <a:off x="6406976" y="3077719"/>
            <a:ext cx="2425994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38" name="S06-label127"/>
          <p:cNvSpPr txBox="1"/>
          <p:nvPr/>
        </p:nvSpPr>
        <p:spPr>
          <a:xfrm>
            <a:off x="6511664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9" name="S06-label129"/>
          <p:cNvSpPr txBox="1"/>
          <p:nvPr/>
        </p:nvSpPr>
        <p:spPr>
          <a:xfrm>
            <a:off x="8800338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0" name="S06-label131"/>
          <p:cNvSpPr txBox="1"/>
          <p:nvPr/>
        </p:nvSpPr>
        <p:spPr>
          <a:xfrm>
            <a:off x="10996810" y="323266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1" name="S06-label13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미만: 5보다 작은 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말 정리하기</a:t>
            </a:r>
            <a:endParaRPr lang="ko-KR" sz="4000" dirty="0"/>
          </a:p>
        </p:txBody>
      </p:sp>
      <p:sp>
        <p:nvSpPr>
          <p:cNvPr id="3" name="S07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수가 들어가는지, 어느 쪽인지 봐요.</a:t>
            </a:r>
            <a:endParaRPr lang="ko-KR" sz="2800" dirty="0"/>
          </a:p>
        </p:txBody>
      </p:sp>
      <p:sp>
        <p:nvSpPr>
          <p:cNvPr id="4" name="S07-card13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3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이상·이하는 ●, 초과·미만은 ○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이상·초과는 오른쪽, 이하·미만은 왼쪽으로 칠해요.</a:t>
            </a:r>
            <a:endParaRPr lang="ko-KR" sz="2800" dirty="0"/>
          </a:p>
        </p:txBody>
      </p:sp>
      <p:graphicFrame>
        <p:nvGraphicFramePr>
          <p:cNvPr id="8" name="S07-table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5356" y="2583688"/>
          <a:ext cx="8778240" cy="914400"/>
        </p:xfrm>
        <a:graphic>
          <a:graphicData uri="http://schemas.openxmlformats.org/drawingml/2006/table">
            <a:tbl>
              <a:tblPr/>
              <a:tblGrid>
                <a:gridCol w="2106778"/>
                <a:gridCol w="3335731"/>
                <a:gridCol w="333573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기준 수 넣기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기준 수 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조건을 함께 써요</a:t>
            </a:r>
            <a:endParaRPr lang="ko-KR" sz="4000" dirty="0"/>
          </a:p>
        </p:txBody>
      </p:sp>
      <p:sp>
        <p:nvSpPr>
          <p:cNvPr id="3" name="S08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130은 들어가고 140은 빠져요.</a:t>
            </a:r>
            <a:endParaRPr lang="ko-KR" sz="2800" dirty="0"/>
          </a:p>
        </p:txBody>
      </p:sp>
      <p:sp>
        <p:nvSpPr>
          <p:cNvPr id="5" name="S08-text13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범퍼카 어린이 칸: 키 130 cm 이상 140 cm 미만</a:t>
            </a:r>
            <a:endParaRPr lang="ko-KR" sz="2800" dirty="0"/>
          </a:p>
        </p:txBody>
      </p:sp>
      <p:sp>
        <p:nvSpPr>
          <p:cNvPr id="6" name="S08-figure140" descr="128부터 142까지 수직선: 130에 ●, 140에 ○, 그 사이를 굵은 선으로 칠함"/>
          <p:cNvSpPr/>
          <p:nvPr/>
        </p:nvSpPr>
        <p:spPr>
          <a:xfrm>
            <a:off x="7239432" y="3554095"/>
            <a:ext cx="346354" cy="346354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8-mark141"/>
          <p:cNvSpPr/>
          <p:nvPr/>
        </p:nvSpPr>
        <p:spPr>
          <a:xfrm>
            <a:off x="10331882" y="3554095"/>
            <a:ext cx="346354" cy="346354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8" name="S08-mark142"/>
          <p:cNvSpPr/>
          <p:nvPr/>
        </p:nvSpPr>
        <p:spPr>
          <a:xfrm>
            <a:off x="6361176" y="3727272"/>
            <a:ext cx="397070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9" name="S08-mark143"/>
          <p:cNvSpPr/>
          <p:nvPr/>
        </p:nvSpPr>
        <p:spPr>
          <a:xfrm>
            <a:off x="10678236" y="3727272"/>
            <a:ext cx="87825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" name="S08-mark144"/>
          <p:cNvSpPr/>
          <p:nvPr/>
        </p:nvSpPr>
        <p:spPr>
          <a:xfrm>
            <a:off x="679411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145"/>
          <p:cNvSpPr/>
          <p:nvPr/>
        </p:nvSpPr>
        <p:spPr>
          <a:xfrm>
            <a:off x="803109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146"/>
          <p:cNvSpPr/>
          <p:nvPr/>
        </p:nvSpPr>
        <p:spPr>
          <a:xfrm>
            <a:off x="864958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mark147"/>
          <p:cNvSpPr/>
          <p:nvPr/>
        </p:nvSpPr>
        <p:spPr>
          <a:xfrm>
            <a:off x="926807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148"/>
          <p:cNvSpPr/>
          <p:nvPr/>
        </p:nvSpPr>
        <p:spPr>
          <a:xfrm>
            <a:off x="988656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mark149"/>
          <p:cNvSpPr/>
          <p:nvPr/>
        </p:nvSpPr>
        <p:spPr>
          <a:xfrm>
            <a:off x="1112354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mark150"/>
          <p:cNvSpPr/>
          <p:nvPr/>
        </p:nvSpPr>
        <p:spPr>
          <a:xfrm>
            <a:off x="7412609" y="3727272"/>
            <a:ext cx="2919273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7" name="S08-label152"/>
          <p:cNvSpPr txBox="1"/>
          <p:nvPr/>
        </p:nvSpPr>
        <p:spPr>
          <a:xfrm>
            <a:off x="7081139" y="3997960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2200" dirty="0"/>
          </a:p>
        </p:txBody>
      </p:sp>
      <p:sp>
        <p:nvSpPr>
          <p:cNvPr id="18" name="S08-label154"/>
          <p:cNvSpPr txBox="1"/>
          <p:nvPr/>
        </p:nvSpPr>
        <p:spPr>
          <a:xfrm>
            <a:off x="10173589" y="3997960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2200" dirty="0"/>
          </a:p>
        </p:txBody>
      </p:sp>
      <p:sp>
        <p:nvSpPr>
          <p:cNvPr id="19" name="S08-stepno155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0" name="S08-text156"/>
          <p:cNvSpPr txBox="1"/>
          <p:nvPr/>
        </p:nvSpPr>
        <p:spPr>
          <a:xfrm>
            <a:off x="1325880" y="267614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130에 ●를 그려요.</a:t>
            </a:r>
            <a:endParaRPr lang="ko-KR" sz="2200" dirty="0"/>
          </a:p>
        </p:txBody>
      </p:sp>
      <p:sp>
        <p:nvSpPr>
          <p:cNvPr id="21" name="S08-stepno157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" name="S08-text158"/>
          <p:cNvSpPr txBox="1"/>
          <p:nvPr/>
        </p:nvSpPr>
        <p:spPr>
          <a:xfrm>
            <a:off x="1325880" y="3522472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 미만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140에 ○를 그려요.</a:t>
            </a:r>
            <a:endParaRPr lang="ko-KR" sz="2200" dirty="0"/>
          </a:p>
        </p:txBody>
      </p:sp>
      <p:sp>
        <p:nvSpPr>
          <p:cNvPr id="23" name="S08-stepno159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8-text160"/>
          <p:cNvSpPr txBox="1"/>
          <p:nvPr/>
        </p:nvSpPr>
        <p:spPr>
          <a:xfrm>
            <a:off x="1325880" y="4368800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 사이를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굵게 칠해요.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요금표 읽기</a:t>
            </a:r>
            <a:endParaRPr lang="ko-KR" sz="4000" dirty="0"/>
          </a:p>
        </p:txBody>
      </p:sp>
      <p:sp>
        <p:nvSpPr>
          <p:cNvPr id="3" name="S09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요금표를 보고 요금을 말해요.</a:t>
            </a:r>
            <a:endParaRPr lang="ko-KR" sz="2800" dirty="0"/>
          </a:p>
        </p:txBody>
      </p:sp>
      <p:graphicFrame>
        <p:nvGraphicFramePr>
          <p:cNvPr id="10" name="S09-table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7074" y="3032125"/>
          <a:ext cx="5303520" cy="914400"/>
        </p:xfrm>
        <a:graphic>
          <a:graphicData uri="http://schemas.openxmlformats.org/drawingml/2006/table">
            <a:tbl>
              <a:tblPr/>
              <a:tblGrid>
                <a:gridCol w="3394253"/>
                <a:gridCol w="190926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7세 이하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8세 이상 13세 이하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13세 초과 65세 미만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65세 이상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chip1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6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7세</a:t>
            </a:r>
            <a:endParaRPr lang="ko-KR" sz="2800" dirty="0"/>
          </a:p>
        </p:txBody>
      </p:sp>
      <p:sp>
        <p:nvSpPr>
          <p:cNvPr id="7" name="S09-chip1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6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13세</a:t>
            </a:r>
            <a:endParaRPr lang="ko-KR" sz="2800" dirty="0"/>
          </a:p>
        </p:txBody>
      </p:sp>
      <p:sp>
        <p:nvSpPr>
          <p:cNvPr id="9" name="S09-chip1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14세</a:t>
            </a:r>
            <a:endParaRPr lang="ko-KR" sz="2800" dirty="0"/>
          </a:p>
        </p:txBody>
      </p:sp>
      <p:sp>
        <p:nvSpPr>
          <p:cNvPr id="11" name="S09-chip169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170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그렸을까요?</a:t>
            </a:r>
            <a:endParaRPr lang="ko-KR" sz="4000" dirty="0"/>
          </a:p>
        </p:txBody>
      </p:sp>
      <p:sp>
        <p:nvSpPr>
          <p:cNvPr id="3" name="S10-card1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‘20 미만’을 수직선에 나타냈어요.</a:t>
            </a:r>
            <a:endParaRPr lang="ko-KR" sz="2800" dirty="0"/>
          </a:p>
        </p:txBody>
      </p:sp>
      <p:sp>
        <p:nvSpPr>
          <p:cNvPr id="5" name="S10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20은 ‘20 미만’에 들어갈까요?</a:t>
            </a:r>
            <a:endParaRPr lang="ko-KR" sz="2800" dirty="0"/>
          </a:p>
        </p:txBody>
      </p:sp>
      <p:sp>
        <p:nvSpPr>
          <p:cNvPr id="7" name="S10-chip1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10-figure176" descr="하늘의 수직선: 20에 ●, 왼쪽으로 굵은 선"/>
          <p:cNvSpPr/>
          <p:nvPr/>
        </p:nvSpPr>
        <p:spPr>
          <a:xfrm>
            <a:off x="3116186" y="3700477"/>
            <a:ext cx="227865" cy="227865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9" name="S10-mark177"/>
          <p:cNvSpPr/>
          <p:nvPr/>
        </p:nvSpPr>
        <p:spPr>
          <a:xfrm>
            <a:off x="632460" y="3814410"/>
            <a:ext cx="519531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0-mark178"/>
          <p:cNvSpPr/>
          <p:nvPr/>
        </p:nvSpPr>
        <p:spPr>
          <a:xfrm>
            <a:off x="951471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179"/>
          <p:cNvSpPr/>
          <p:nvPr/>
        </p:nvSpPr>
        <p:spPr>
          <a:xfrm>
            <a:off x="1407200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mark180"/>
          <p:cNvSpPr/>
          <p:nvPr/>
        </p:nvSpPr>
        <p:spPr>
          <a:xfrm>
            <a:off x="1862930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0-mark181"/>
          <p:cNvSpPr/>
          <p:nvPr/>
        </p:nvSpPr>
        <p:spPr>
          <a:xfrm>
            <a:off x="2318659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0-mark182"/>
          <p:cNvSpPr/>
          <p:nvPr/>
        </p:nvSpPr>
        <p:spPr>
          <a:xfrm>
            <a:off x="2774389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0-mark183"/>
          <p:cNvSpPr/>
          <p:nvPr/>
        </p:nvSpPr>
        <p:spPr>
          <a:xfrm>
            <a:off x="368584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0-mark184"/>
          <p:cNvSpPr/>
          <p:nvPr/>
        </p:nvSpPr>
        <p:spPr>
          <a:xfrm>
            <a:off x="414157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0-mark185"/>
          <p:cNvSpPr/>
          <p:nvPr/>
        </p:nvSpPr>
        <p:spPr>
          <a:xfrm>
            <a:off x="459730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0-mark186"/>
          <p:cNvSpPr/>
          <p:nvPr/>
        </p:nvSpPr>
        <p:spPr>
          <a:xfrm>
            <a:off x="505303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0-mark187"/>
          <p:cNvSpPr/>
          <p:nvPr/>
        </p:nvSpPr>
        <p:spPr>
          <a:xfrm>
            <a:off x="550876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0-mark188"/>
          <p:cNvSpPr/>
          <p:nvPr/>
        </p:nvSpPr>
        <p:spPr>
          <a:xfrm>
            <a:off x="700819" y="3814410"/>
            <a:ext cx="2529299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1" name="S10-label190"/>
          <p:cNvSpPr txBox="1"/>
          <p:nvPr/>
        </p:nvSpPr>
        <p:spPr>
          <a:xfrm>
            <a:off x="712203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200" dirty="0"/>
          </a:p>
        </p:txBody>
      </p:sp>
      <p:sp>
        <p:nvSpPr>
          <p:cNvPr id="22" name="S10-label192"/>
          <p:cNvSpPr txBox="1"/>
          <p:nvPr/>
        </p:nvSpPr>
        <p:spPr>
          <a:xfrm>
            <a:off x="2990850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23" name="S10-label194"/>
          <p:cNvSpPr txBox="1"/>
          <p:nvPr/>
        </p:nvSpPr>
        <p:spPr>
          <a:xfrm>
            <a:off x="5269497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200" dirty="0"/>
          </a:p>
        </p:txBody>
      </p:sp>
      <p:sp>
        <p:nvSpPr>
          <p:cNvPr id="24" name="S10-text195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20에 ●를 그렸어요.</a:t>
            </a:r>
            <a:endParaRPr lang="ko-KR" sz="2200" dirty="0"/>
          </a:p>
        </p:txBody>
      </p:sp>
      <p:sp>
        <p:nvSpPr>
          <p:cNvPr id="25" name="S10-chip19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6" name="S10-figure197" descr="바다의 수직선: 20에 ○, 왼쪽으로 굵은 선"/>
          <p:cNvSpPr/>
          <p:nvPr/>
        </p:nvSpPr>
        <p:spPr>
          <a:xfrm>
            <a:off x="8844902" y="3700477"/>
            <a:ext cx="227865" cy="227865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7" name="S10-mark198"/>
          <p:cNvSpPr/>
          <p:nvPr/>
        </p:nvSpPr>
        <p:spPr>
          <a:xfrm>
            <a:off x="6361176" y="3814410"/>
            <a:ext cx="24837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8" name="S10-mark199"/>
          <p:cNvSpPr/>
          <p:nvPr/>
        </p:nvSpPr>
        <p:spPr>
          <a:xfrm>
            <a:off x="9072766" y="3814410"/>
            <a:ext cx="24837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9" name="S10-mark200"/>
          <p:cNvSpPr/>
          <p:nvPr/>
        </p:nvSpPr>
        <p:spPr>
          <a:xfrm>
            <a:off x="668018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mark201"/>
          <p:cNvSpPr/>
          <p:nvPr/>
        </p:nvSpPr>
        <p:spPr>
          <a:xfrm>
            <a:off x="713591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10-mark202"/>
          <p:cNvSpPr/>
          <p:nvPr/>
        </p:nvSpPr>
        <p:spPr>
          <a:xfrm>
            <a:off x="759164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0-mark203"/>
          <p:cNvSpPr/>
          <p:nvPr/>
        </p:nvSpPr>
        <p:spPr>
          <a:xfrm>
            <a:off x="804737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10-mark204"/>
          <p:cNvSpPr/>
          <p:nvPr/>
        </p:nvSpPr>
        <p:spPr>
          <a:xfrm>
            <a:off x="850310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0-mark205"/>
          <p:cNvSpPr/>
          <p:nvPr/>
        </p:nvSpPr>
        <p:spPr>
          <a:xfrm>
            <a:off x="9414563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mark206"/>
          <p:cNvSpPr/>
          <p:nvPr/>
        </p:nvSpPr>
        <p:spPr>
          <a:xfrm>
            <a:off x="9870293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0-mark207"/>
          <p:cNvSpPr/>
          <p:nvPr/>
        </p:nvSpPr>
        <p:spPr>
          <a:xfrm>
            <a:off x="10326022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10-mark208"/>
          <p:cNvSpPr/>
          <p:nvPr/>
        </p:nvSpPr>
        <p:spPr>
          <a:xfrm>
            <a:off x="10781752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0-mark209"/>
          <p:cNvSpPr/>
          <p:nvPr/>
        </p:nvSpPr>
        <p:spPr>
          <a:xfrm>
            <a:off x="11237481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10-mark210"/>
          <p:cNvSpPr/>
          <p:nvPr/>
        </p:nvSpPr>
        <p:spPr>
          <a:xfrm>
            <a:off x="6429535" y="3814410"/>
            <a:ext cx="2415366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40" name="S10-label212"/>
          <p:cNvSpPr txBox="1"/>
          <p:nvPr/>
        </p:nvSpPr>
        <p:spPr>
          <a:xfrm>
            <a:off x="6440919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200" dirty="0"/>
          </a:p>
        </p:txBody>
      </p:sp>
      <p:sp>
        <p:nvSpPr>
          <p:cNvPr id="41" name="S10-label214"/>
          <p:cNvSpPr txBox="1"/>
          <p:nvPr/>
        </p:nvSpPr>
        <p:spPr>
          <a:xfrm>
            <a:off x="8719566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10-label216"/>
          <p:cNvSpPr txBox="1"/>
          <p:nvPr/>
        </p:nvSpPr>
        <p:spPr>
          <a:xfrm>
            <a:off x="10998213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200" dirty="0"/>
          </a:p>
        </p:txBody>
      </p:sp>
      <p:sp>
        <p:nvSpPr>
          <p:cNvPr id="43" name="S10-text217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20에 ○를 그렸어요.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까닭도 말해요.</a:t>
            </a:r>
            <a:endParaRPr lang="ko-KR" sz="2800" dirty="0"/>
          </a:p>
        </p:txBody>
      </p:sp>
      <p:sp>
        <p:nvSpPr>
          <p:cNvPr id="4" name="S11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수직선이 나타내는 범위를 두 가지 말로 써요.</a:t>
            </a:r>
            <a:endParaRPr lang="ko-KR" sz="2800" dirty="0"/>
          </a:p>
        </p:txBody>
      </p:sp>
      <p:sp>
        <p:nvSpPr>
          <p:cNvPr id="6" name="S11-chip22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22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이상 30 미만인 수를 모두 골라요.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24,  25,  27.5,  30,  31</a:t>
            </a:r>
            <a:endParaRPr lang="ko-KR" sz="2800" dirty="0"/>
          </a:p>
        </p:txBody>
      </p:sp>
      <p:sp>
        <p:nvSpPr>
          <p:cNvPr id="8" name="S11-chip2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figure224" descr="38부터 47까지 수직선: 40에 ○, 45에 ●, 그 사이를 굵은 선으로 칠함"/>
          <p:cNvSpPr/>
          <p:nvPr/>
        </p:nvSpPr>
        <p:spPr>
          <a:xfrm>
            <a:off x="2680965" y="3318122"/>
            <a:ext cx="255710" cy="25571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0" name="S11-mark225"/>
          <p:cNvSpPr/>
          <p:nvPr/>
        </p:nvSpPr>
        <p:spPr>
          <a:xfrm>
            <a:off x="5238061" y="3318122"/>
            <a:ext cx="255710" cy="25571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1" name="S11-mark226"/>
          <p:cNvSpPr/>
          <p:nvPr/>
        </p:nvSpPr>
        <p:spPr>
          <a:xfrm>
            <a:off x="1427988" y="3445976"/>
            <a:ext cx="1252977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12" name="S11-mark227"/>
          <p:cNvSpPr/>
          <p:nvPr/>
        </p:nvSpPr>
        <p:spPr>
          <a:xfrm>
            <a:off x="2936675" y="3445976"/>
            <a:ext cx="381007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11-mark228"/>
          <p:cNvSpPr/>
          <p:nvPr/>
        </p:nvSpPr>
        <p:spPr>
          <a:xfrm>
            <a:off x="1785981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mark229"/>
          <p:cNvSpPr/>
          <p:nvPr/>
        </p:nvSpPr>
        <p:spPr>
          <a:xfrm>
            <a:off x="2297401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1-mark230"/>
          <p:cNvSpPr/>
          <p:nvPr/>
        </p:nvSpPr>
        <p:spPr>
          <a:xfrm>
            <a:off x="3320239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1-mark231"/>
          <p:cNvSpPr/>
          <p:nvPr/>
        </p:nvSpPr>
        <p:spPr>
          <a:xfrm>
            <a:off x="3831658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1-mark232"/>
          <p:cNvSpPr/>
          <p:nvPr/>
        </p:nvSpPr>
        <p:spPr>
          <a:xfrm>
            <a:off x="4343078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1-mark233"/>
          <p:cNvSpPr/>
          <p:nvPr/>
        </p:nvSpPr>
        <p:spPr>
          <a:xfrm>
            <a:off x="4854497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1-mark234"/>
          <p:cNvSpPr/>
          <p:nvPr/>
        </p:nvSpPr>
        <p:spPr>
          <a:xfrm>
            <a:off x="5877335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1-mark235"/>
          <p:cNvSpPr/>
          <p:nvPr/>
        </p:nvSpPr>
        <p:spPr>
          <a:xfrm>
            <a:off x="6388755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1-mark236"/>
          <p:cNvSpPr/>
          <p:nvPr/>
        </p:nvSpPr>
        <p:spPr>
          <a:xfrm>
            <a:off x="2936675" y="3445976"/>
            <a:ext cx="2429241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2" name="S11-label238"/>
          <p:cNvSpPr txBox="1"/>
          <p:nvPr/>
        </p:nvSpPr>
        <p:spPr>
          <a:xfrm>
            <a:off x="1546713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2200" dirty="0"/>
          </a:p>
        </p:txBody>
      </p:sp>
      <p:sp>
        <p:nvSpPr>
          <p:cNvPr id="23" name="S11-label240"/>
          <p:cNvSpPr txBox="1"/>
          <p:nvPr/>
        </p:nvSpPr>
        <p:spPr>
          <a:xfrm>
            <a:off x="2569552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24" name="S11-label242"/>
          <p:cNvSpPr txBox="1"/>
          <p:nvPr/>
        </p:nvSpPr>
        <p:spPr>
          <a:xfrm>
            <a:off x="5126648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200" dirty="0"/>
          </a:p>
        </p:txBody>
      </p:sp>
      <p:sp>
        <p:nvSpPr>
          <p:cNvPr id="25" name="S11-chip2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11-text24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120 cm 이상 150 cm 미만만 탈 수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150 cm인 하늘이는 탈 수 있을까요?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수직선에 ●, ○를 다시 그려 보게 하세요.</a:t>
            </a:r>
            <a:endParaRPr lang="ko-KR" sz="2800" dirty="0"/>
          </a:p>
        </p:txBody>
      </p:sp>
      <p:sp>
        <p:nvSpPr>
          <p:cNvPr id="5" name="S12-chip24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48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25, 27.5</a:t>
            </a:r>
            <a:endParaRPr lang="ko-KR" sz="2800" dirty="0"/>
          </a:p>
        </p:txBody>
      </p:sp>
      <p:sp>
        <p:nvSpPr>
          <p:cNvPr id="7" name="S12-text249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40 초과 45 이하</a:t>
            </a:r>
            <a:endParaRPr lang="ko-KR" sz="2800" dirty="0"/>
          </a:p>
        </p:txBody>
      </p:sp>
      <p:sp>
        <p:nvSpPr>
          <p:cNvPr id="8" name="S12-text250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못 타요. 150은 150 미만이 아니에요.</a:t>
            </a:r>
            <a:endParaRPr lang="ko-KR" sz="2800" dirty="0"/>
          </a:p>
        </p:txBody>
      </p:sp>
      <p:sp>
        <p:nvSpPr>
          <p:cNvPr id="9" name="S12-chip25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2-text252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30도 고름: 미만에 기준 수를 넣음</a:t>
            </a:r>
            <a:endParaRPr lang="ko-KR" sz="2800" dirty="0"/>
          </a:p>
        </p:txBody>
      </p:sp>
      <p:sp>
        <p:nvSpPr>
          <p:cNvPr id="11" name="S12-text253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40 이상: ○와 ●를 구별하지 않음</a:t>
            </a:r>
            <a:endParaRPr lang="ko-KR" sz="2800" dirty="0"/>
          </a:p>
        </p:txBody>
      </p:sp>
      <p:sp>
        <p:nvSpPr>
          <p:cNvPr id="12" name="S12-text254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탈 수 있다: 미만을 이하로 읽음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나타낸 수직선은?</a:t>
            </a:r>
            <a:endParaRPr lang="ko-KR" sz="4000" dirty="0"/>
          </a:p>
        </p:txBody>
      </p:sp>
      <p:sp>
        <p:nvSpPr>
          <p:cNvPr id="3" name="S13-text2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‘50 이상 60 미만’을 나타낸 수직선을 골라요.</a:t>
            </a:r>
            <a:endParaRPr lang="ko-KR" sz="2800" dirty="0"/>
          </a:p>
        </p:txBody>
      </p:sp>
      <p:sp>
        <p:nvSpPr>
          <p:cNvPr id="4" name="S13-card2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●와 ○로 말해요.</a:t>
            </a:r>
            <a:endParaRPr lang="ko-KR" sz="2800" dirty="0"/>
          </a:p>
        </p:txBody>
      </p:sp>
      <p:sp>
        <p:nvSpPr>
          <p:cNvPr id="6" name="S13-chip25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259" descr="가: 50에 ●, 60에 ●"/>
          <p:cNvSpPr/>
          <p:nvPr/>
        </p:nvSpPr>
        <p:spPr>
          <a:xfrm>
            <a:off x="2171762" y="245844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8" name="S13-mark260"/>
          <p:cNvSpPr/>
          <p:nvPr/>
        </p:nvSpPr>
        <p:spPr>
          <a:xfrm>
            <a:off x="4790683" y="245844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9" name="S13-mark261"/>
          <p:cNvSpPr/>
          <p:nvPr/>
        </p:nvSpPr>
        <p:spPr>
          <a:xfrm>
            <a:off x="1427988" y="2605107"/>
            <a:ext cx="43997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3-mark262"/>
          <p:cNvSpPr/>
          <p:nvPr/>
        </p:nvSpPr>
        <p:spPr>
          <a:xfrm>
            <a:off x="1794637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3-mark263"/>
          <p:cNvSpPr/>
          <p:nvPr/>
        </p:nvSpPr>
        <p:spPr>
          <a:xfrm>
            <a:off x="2842206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3-mark264"/>
          <p:cNvSpPr/>
          <p:nvPr/>
        </p:nvSpPr>
        <p:spPr>
          <a:xfrm>
            <a:off x="3365990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3-mark265"/>
          <p:cNvSpPr/>
          <p:nvPr/>
        </p:nvSpPr>
        <p:spPr>
          <a:xfrm>
            <a:off x="3889774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mark266"/>
          <p:cNvSpPr/>
          <p:nvPr/>
        </p:nvSpPr>
        <p:spPr>
          <a:xfrm>
            <a:off x="4413558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mark267"/>
          <p:cNvSpPr/>
          <p:nvPr/>
        </p:nvSpPr>
        <p:spPr>
          <a:xfrm>
            <a:off x="5461127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mark268"/>
          <p:cNvSpPr/>
          <p:nvPr/>
        </p:nvSpPr>
        <p:spPr>
          <a:xfrm>
            <a:off x="2318421" y="2605107"/>
            <a:ext cx="2618921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7" name="S13-label270"/>
          <p:cNvSpPr txBox="1"/>
          <p:nvPr/>
        </p:nvSpPr>
        <p:spPr>
          <a:xfrm>
            <a:off x="2079153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18" name="S13-label272"/>
          <p:cNvSpPr txBox="1"/>
          <p:nvPr/>
        </p:nvSpPr>
        <p:spPr>
          <a:xfrm>
            <a:off x="4698075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19" name="S13-chip27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0" name="S13-figure274" descr="나: 50에 ○, 60에 ○"/>
          <p:cNvSpPr/>
          <p:nvPr/>
        </p:nvSpPr>
        <p:spPr>
          <a:xfrm>
            <a:off x="7900478" y="245844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1" name="S13-mark275"/>
          <p:cNvSpPr/>
          <p:nvPr/>
        </p:nvSpPr>
        <p:spPr>
          <a:xfrm>
            <a:off x="10519399" y="245844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2" name="S13-mark276"/>
          <p:cNvSpPr/>
          <p:nvPr/>
        </p:nvSpPr>
        <p:spPr>
          <a:xfrm>
            <a:off x="7156704" y="260510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3" name="S13-mark277"/>
          <p:cNvSpPr/>
          <p:nvPr/>
        </p:nvSpPr>
        <p:spPr>
          <a:xfrm>
            <a:off x="8193797" y="2605107"/>
            <a:ext cx="232560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3-mark278"/>
          <p:cNvSpPr/>
          <p:nvPr/>
        </p:nvSpPr>
        <p:spPr>
          <a:xfrm>
            <a:off x="10812718" y="260510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5" name="S13-mark279"/>
          <p:cNvSpPr/>
          <p:nvPr/>
        </p:nvSpPr>
        <p:spPr>
          <a:xfrm>
            <a:off x="7523353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mark280"/>
          <p:cNvSpPr/>
          <p:nvPr/>
        </p:nvSpPr>
        <p:spPr>
          <a:xfrm>
            <a:off x="8570922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3-mark281"/>
          <p:cNvSpPr/>
          <p:nvPr/>
        </p:nvSpPr>
        <p:spPr>
          <a:xfrm>
            <a:off x="9094706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mark282"/>
          <p:cNvSpPr/>
          <p:nvPr/>
        </p:nvSpPr>
        <p:spPr>
          <a:xfrm>
            <a:off x="9618490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3-mark283"/>
          <p:cNvSpPr/>
          <p:nvPr/>
        </p:nvSpPr>
        <p:spPr>
          <a:xfrm>
            <a:off x="10142274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3-mark284"/>
          <p:cNvSpPr/>
          <p:nvPr/>
        </p:nvSpPr>
        <p:spPr>
          <a:xfrm>
            <a:off x="11189843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13-mark285"/>
          <p:cNvSpPr/>
          <p:nvPr/>
        </p:nvSpPr>
        <p:spPr>
          <a:xfrm>
            <a:off x="8193797" y="2605107"/>
            <a:ext cx="232560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32" name="S13-label287"/>
          <p:cNvSpPr txBox="1"/>
          <p:nvPr/>
        </p:nvSpPr>
        <p:spPr>
          <a:xfrm>
            <a:off x="7807869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33" name="S13-label289"/>
          <p:cNvSpPr txBox="1"/>
          <p:nvPr/>
        </p:nvSpPr>
        <p:spPr>
          <a:xfrm>
            <a:off x="10426791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34" name="S13-chip290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5" name="S13-figure291" descr="다: 50에 ●, 60에 ○"/>
          <p:cNvSpPr/>
          <p:nvPr/>
        </p:nvSpPr>
        <p:spPr>
          <a:xfrm>
            <a:off x="2171762" y="415008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36" name="S13-mark292"/>
          <p:cNvSpPr/>
          <p:nvPr/>
        </p:nvSpPr>
        <p:spPr>
          <a:xfrm>
            <a:off x="4790683" y="415008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37" name="S13-mark293"/>
          <p:cNvSpPr/>
          <p:nvPr/>
        </p:nvSpPr>
        <p:spPr>
          <a:xfrm>
            <a:off x="1427988" y="4296747"/>
            <a:ext cx="33626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38" name="S13-mark294"/>
          <p:cNvSpPr/>
          <p:nvPr/>
        </p:nvSpPr>
        <p:spPr>
          <a:xfrm>
            <a:off x="5084002" y="429674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9" name="S13-mark295"/>
          <p:cNvSpPr/>
          <p:nvPr/>
        </p:nvSpPr>
        <p:spPr>
          <a:xfrm>
            <a:off x="1794637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3-mark296"/>
          <p:cNvSpPr/>
          <p:nvPr/>
        </p:nvSpPr>
        <p:spPr>
          <a:xfrm>
            <a:off x="2842206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13-mark297"/>
          <p:cNvSpPr/>
          <p:nvPr/>
        </p:nvSpPr>
        <p:spPr>
          <a:xfrm>
            <a:off x="3365990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3-mark298"/>
          <p:cNvSpPr/>
          <p:nvPr/>
        </p:nvSpPr>
        <p:spPr>
          <a:xfrm>
            <a:off x="3889774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13-mark299"/>
          <p:cNvSpPr/>
          <p:nvPr/>
        </p:nvSpPr>
        <p:spPr>
          <a:xfrm>
            <a:off x="4413558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3-mark300"/>
          <p:cNvSpPr/>
          <p:nvPr/>
        </p:nvSpPr>
        <p:spPr>
          <a:xfrm>
            <a:off x="5461127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3-mark301"/>
          <p:cNvSpPr/>
          <p:nvPr/>
        </p:nvSpPr>
        <p:spPr>
          <a:xfrm>
            <a:off x="2318421" y="4296747"/>
            <a:ext cx="247226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46" name="S13-label303"/>
          <p:cNvSpPr txBox="1"/>
          <p:nvPr/>
        </p:nvSpPr>
        <p:spPr>
          <a:xfrm>
            <a:off x="2079153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7" name="S13-label305"/>
          <p:cNvSpPr txBox="1"/>
          <p:nvPr/>
        </p:nvSpPr>
        <p:spPr>
          <a:xfrm>
            <a:off x="4698075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8" name="S13-chip30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49" name="S13-figure307" descr="라: 50에 ○, 60에 ●"/>
          <p:cNvSpPr/>
          <p:nvPr/>
        </p:nvSpPr>
        <p:spPr>
          <a:xfrm>
            <a:off x="7900478" y="415008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50" name="S13-mark308"/>
          <p:cNvSpPr/>
          <p:nvPr/>
        </p:nvSpPr>
        <p:spPr>
          <a:xfrm>
            <a:off x="10519399" y="415008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51" name="S13-mark309"/>
          <p:cNvSpPr/>
          <p:nvPr/>
        </p:nvSpPr>
        <p:spPr>
          <a:xfrm>
            <a:off x="7156704" y="429674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52" name="S13-mark310"/>
          <p:cNvSpPr/>
          <p:nvPr/>
        </p:nvSpPr>
        <p:spPr>
          <a:xfrm>
            <a:off x="8193797" y="4296747"/>
            <a:ext cx="33626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53" name="S13-mark311"/>
          <p:cNvSpPr/>
          <p:nvPr/>
        </p:nvSpPr>
        <p:spPr>
          <a:xfrm>
            <a:off x="7523353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3-mark312"/>
          <p:cNvSpPr/>
          <p:nvPr/>
        </p:nvSpPr>
        <p:spPr>
          <a:xfrm>
            <a:off x="8570922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13-mark313"/>
          <p:cNvSpPr/>
          <p:nvPr/>
        </p:nvSpPr>
        <p:spPr>
          <a:xfrm>
            <a:off x="9094706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3-mark314"/>
          <p:cNvSpPr/>
          <p:nvPr/>
        </p:nvSpPr>
        <p:spPr>
          <a:xfrm>
            <a:off x="9618490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13-mark315"/>
          <p:cNvSpPr/>
          <p:nvPr/>
        </p:nvSpPr>
        <p:spPr>
          <a:xfrm>
            <a:off x="10142274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3-mark316"/>
          <p:cNvSpPr/>
          <p:nvPr/>
        </p:nvSpPr>
        <p:spPr>
          <a:xfrm>
            <a:off x="11189843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13-mark317"/>
          <p:cNvSpPr/>
          <p:nvPr/>
        </p:nvSpPr>
        <p:spPr>
          <a:xfrm>
            <a:off x="8193797" y="4296747"/>
            <a:ext cx="247226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60" name="S13-label319"/>
          <p:cNvSpPr txBox="1"/>
          <p:nvPr/>
        </p:nvSpPr>
        <p:spPr>
          <a:xfrm>
            <a:off x="7807869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61" name="S13-label321"/>
          <p:cNvSpPr txBox="1"/>
          <p:nvPr/>
        </p:nvSpPr>
        <p:spPr>
          <a:xfrm>
            <a:off x="10426791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이상·이하는 기준 수를 넣고(●), 초과·미만은 빼요(○).</a:t>
            </a:r>
            <a:endParaRPr lang="ko-KR" sz="2800" dirty="0"/>
          </a:p>
        </p:txBody>
      </p:sp>
      <p:sp>
        <p:nvSpPr>
          <p:cNvPr id="5" name="S14-chip32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 수가 들어가는지 먼저 보기</a:t>
            </a:r>
            <a:endParaRPr lang="ko-KR" sz="2200" dirty="0"/>
          </a:p>
        </p:txBody>
      </p:sp>
      <p:sp>
        <p:nvSpPr>
          <p:cNvPr id="6" name="S14-chip32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미만·초과에 기준 수 넣기</a:t>
            </a:r>
            <a:endParaRPr lang="ko-KR" sz="2200" dirty="0"/>
          </a:p>
        </p:txBody>
      </p:sp>
      <p:sp>
        <p:nvSpPr>
          <p:cNvPr id="7" name="S14-text32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2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 초과 15 이하인 자연수를 모두 써요.</a:t>
            </a:r>
            <a:endParaRPr lang="ko-KR" sz="2200" dirty="0"/>
          </a:p>
        </p:txBody>
      </p:sp>
      <p:sp>
        <p:nvSpPr>
          <p:cNvPr id="9" name="S14-text32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45 이상 50 미만인 자연수는 몇 개?</a:t>
            </a:r>
            <a:endParaRPr lang="ko-KR" sz="2200" dirty="0"/>
          </a:p>
        </p:txBody>
      </p:sp>
      <p:sp>
        <p:nvSpPr>
          <p:cNvPr id="10" name="S14-text32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‘20 이하’와 ‘20 미만’은 무엇이 달라요?</a:t>
            </a:r>
            <a:endParaRPr lang="ko-KR" sz="2200" dirty="0"/>
          </a:p>
        </p:txBody>
      </p:sp>
      <p:sp>
        <p:nvSpPr>
          <p:cNvPr id="11" name="S14-text33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어림하기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수직선에서 크기 비교</a:t>
            </a:r>
            <a:endParaRPr lang="ko-KR" sz="4000" dirty="0"/>
          </a:p>
        </p:txBody>
      </p:sp>
      <p:sp>
        <p:nvSpPr>
          <p:cNvPr id="3" name="S15-text3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수직선에서는 오른쪽에 있을수록 큰 수예요.</a:t>
            </a:r>
            <a:endParaRPr lang="ko-KR" sz="2800" dirty="0"/>
          </a:p>
        </p:txBody>
      </p:sp>
      <p:sp>
        <p:nvSpPr>
          <p:cNvPr id="4" name="S15-card33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3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7은 3보다 오른쪽: 7 &gt;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‘3보다 큰 수’는 3의 오른쪽에 있어요.</a:t>
            </a:r>
            <a:endParaRPr lang="ko-KR" sz="2800" dirty="0"/>
          </a:p>
        </p:txBody>
      </p:sp>
      <p:sp>
        <p:nvSpPr>
          <p:cNvPr id="6" name="S15-line334"/>
          <p:cNvSpPr/>
          <p:nvPr/>
        </p:nvSpPr>
        <p:spPr>
          <a:xfrm>
            <a:off x="685800" y="374616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5-line335"/>
          <p:cNvSpPr/>
          <p:nvPr/>
        </p:nvSpPr>
        <p:spPr>
          <a:xfrm>
            <a:off x="96012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5-label336"/>
          <p:cNvSpPr txBox="1"/>
          <p:nvPr/>
        </p:nvSpPr>
        <p:spPr>
          <a:xfrm>
            <a:off x="50292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9" name="S15-line337"/>
          <p:cNvSpPr/>
          <p:nvPr/>
        </p:nvSpPr>
        <p:spPr>
          <a:xfrm>
            <a:off x="198699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338"/>
          <p:cNvSpPr txBox="1"/>
          <p:nvPr/>
        </p:nvSpPr>
        <p:spPr>
          <a:xfrm>
            <a:off x="152979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15-line339"/>
          <p:cNvSpPr/>
          <p:nvPr/>
        </p:nvSpPr>
        <p:spPr>
          <a:xfrm>
            <a:off x="301386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40"/>
          <p:cNvSpPr txBox="1"/>
          <p:nvPr/>
        </p:nvSpPr>
        <p:spPr>
          <a:xfrm>
            <a:off x="255666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3" name="S15-line341"/>
          <p:cNvSpPr/>
          <p:nvPr/>
        </p:nvSpPr>
        <p:spPr>
          <a:xfrm>
            <a:off x="4040734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342"/>
          <p:cNvSpPr txBox="1"/>
          <p:nvPr/>
        </p:nvSpPr>
        <p:spPr>
          <a:xfrm>
            <a:off x="3583534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5" name="S15-line343"/>
          <p:cNvSpPr/>
          <p:nvPr/>
        </p:nvSpPr>
        <p:spPr>
          <a:xfrm>
            <a:off x="5067605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344"/>
          <p:cNvSpPr txBox="1"/>
          <p:nvPr/>
        </p:nvSpPr>
        <p:spPr>
          <a:xfrm>
            <a:off x="4610405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7" name="S15-line345"/>
          <p:cNvSpPr/>
          <p:nvPr/>
        </p:nvSpPr>
        <p:spPr>
          <a:xfrm>
            <a:off x="6094476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346"/>
          <p:cNvSpPr txBox="1"/>
          <p:nvPr/>
        </p:nvSpPr>
        <p:spPr>
          <a:xfrm>
            <a:off x="5637276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9" name="S15-line347"/>
          <p:cNvSpPr/>
          <p:nvPr/>
        </p:nvSpPr>
        <p:spPr>
          <a:xfrm>
            <a:off x="7121347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48"/>
          <p:cNvSpPr txBox="1"/>
          <p:nvPr/>
        </p:nvSpPr>
        <p:spPr>
          <a:xfrm>
            <a:off x="6664147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1" name="S15-line349"/>
          <p:cNvSpPr/>
          <p:nvPr/>
        </p:nvSpPr>
        <p:spPr>
          <a:xfrm>
            <a:off x="8148218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350"/>
          <p:cNvSpPr txBox="1"/>
          <p:nvPr/>
        </p:nvSpPr>
        <p:spPr>
          <a:xfrm>
            <a:off x="7691018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3" name="S15-line351"/>
          <p:cNvSpPr/>
          <p:nvPr/>
        </p:nvSpPr>
        <p:spPr>
          <a:xfrm>
            <a:off x="917509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352"/>
          <p:cNvSpPr txBox="1"/>
          <p:nvPr/>
        </p:nvSpPr>
        <p:spPr>
          <a:xfrm>
            <a:off x="871789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15-line353"/>
          <p:cNvSpPr/>
          <p:nvPr/>
        </p:nvSpPr>
        <p:spPr>
          <a:xfrm>
            <a:off x="1020196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354"/>
          <p:cNvSpPr txBox="1"/>
          <p:nvPr/>
        </p:nvSpPr>
        <p:spPr>
          <a:xfrm>
            <a:off x="974476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7" name="S15-line355"/>
          <p:cNvSpPr/>
          <p:nvPr/>
        </p:nvSpPr>
        <p:spPr>
          <a:xfrm>
            <a:off x="1122883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356"/>
          <p:cNvSpPr txBox="1"/>
          <p:nvPr/>
        </p:nvSpPr>
        <p:spPr>
          <a:xfrm>
            <a:off x="1077163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9" name="S15-mark357"/>
          <p:cNvSpPr/>
          <p:nvPr/>
        </p:nvSpPr>
        <p:spPr>
          <a:xfrm>
            <a:off x="3949294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label358"/>
          <p:cNvSpPr txBox="1"/>
          <p:nvPr/>
        </p:nvSpPr>
        <p:spPr>
          <a:xfrm>
            <a:off x="3492094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1" name="S15-mark359"/>
          <p:cNvSpPr/>
          <p:nvPr/>
        </p:nvSpPr>
        <p:spPr>
          <a:xfrm>
            <a:off x="8056778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5-label360"/>
          <p:cNvSpPr txBox="1"/>
          <p:nvPr/>
        </p:nvSpPr>
        <p:spPr>
          <a:xfrm>
            <a:off x="7599578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33" name="S15-figure361" descr="0부터 10까지 1씩 눈금 수직선에 3과 7 표시"/>
          <p:cNvSpPr/>
          <p:nvPr/>
        </p:nvSpPr>
        <p:spPr>
          <a:xfrm>
            <a:off x="685800" y="356328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수의 범위</dc:title>
  <dc:subject>KR22-G05-MAT-RANGE-L01</dc:subject>
  <dc:creator>education-ppt</dc:creator>
  <cp:lastModifiedBy>education-ppt</cp:lastModifiedBy>
  <cp:revision>1</cp:revision>
  <dcterms:created xsi:type="dcterms:W3CDTF">2026-10-26T08:32:22Z</dcterms:created>
  <dcterms:modified xsi:type="dcterms:W3CDTF">2026-10-26T08:32:22Z</dcterms:modified>
</cp:coreProperties>
</file>