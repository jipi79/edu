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4278b2f-2731-b3d8-ef13-9f4302e2e8f7}">
          <p14:sldIdLst>
            <p14:sldId id="256"/>
            <p14:sldId id="257"/>
          </p14:sldIdLst>
        </p14:section>
        <p14:section name="개념" id="{a7a4befb-281f-587e-16f2-c91bec8cbd8b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e8492624-6a70-74b6-6d46-d372e23dee48}">
          <p14:sldIdLst>
            <p14:sldId id="260"/>
            <p14:sldId id="264"/>
            <p14:sldId id="265"/>
          </p14:sldIdLst>
        </p14:section>
        <p14:section name="개념" id="{318d173e-94ee-d22d-8030-41b97aaf81c1}">
          <p14:sldIdLst/>
        </p14:section>
        <p14:section name="연습" id="{2b675988-36e9-ac33-8341-48cdd087908c}">
          <p14:sldIdLst/>
        </p14:section>
        <p14:section name="확인" id="{56281f72-851d-d433-4a31-3cf78e3d5041}">
          <p14:sldIdLst>
            <p14:sldId id="266"/>
            <p14:sldId id="267"/>
            <p14:sldId id="268"/>
          </p14:sldIdLst>
        </p14:section>
        <p14:section name="정리" id="{f6640f2f-66b5-08e5-b706-925c8dc58da4}">
          <p14:sldIdLst>
            <p14:sldId id="269"/>
          </p14:sldIdLst>
        </p14:section>
        <p14:section name="보충" id="{a6db6e5d-83cf-a1ae-1216-ec37b62292b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소수의 곱셈에서 소수점을 어디에 찍을지가 오늘의 핵심 질문임을 보여 줍니다.
시간: 약 2분
이렇게 말해 보세요
- “12 × 5는 60이야. 그러면 1.2 × 0.5는 얼마일까? 세 가지 중에서 골라 볼래?”
- “왜 그렇게 생각했어?”
예상 답
- “6이요. 12 × 5 = 60이니까요.” / “0.6이요.” / “모르겠어요.”
막히면
- 답을 알려 주지 않습니다. 아이의 예상을 적어 두고 S06과 S10에서 확인합니다.
주의
- ‘곱하면 커진다’고 생각해 6을 고르는 아이가 많습니다. S10에서 어림으로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확인(소수의 덧셈, 0.1의 개수, 소수와 분수)]
목적: 소수의 덧셈, 0.1의 개수로 소수 읽기, 소수를 분수로 바꾸기를 할 수 있는지 확인합니다.
시간: 약 3분
이렇게 말해 보세요
- “①은 소수점을 맞추어 더해 볼까?”
- “②는 0.1이 10개면 1이지? 23개면?”
- “③에서 0.35는 0.01이 몇 개야?”
정답
- ① 1.2
- ② 2.3
- ③ 100분의 35
막히면
- S15(보충)에서 수직선으로 0.1의 개수를 셉니다.
- 보충으로도 어려우면 초4 수와연산 8차시 ‘소수의 덧셈과 뺄셈’(KR22-G04-MAT-DECADD-L01)과 7차시 ‘소수 두 자리 수와 세 자리 수’(KR22-G04-MAT-DEC2-L01)를 먼저 합니다.
주의
- ③의 ‘소수를 분수로’는 S04·S06에서 곱셈의 까닭을 설명할 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(소수)×(자연수)를 0.1의 개수로]
목적: (소수)×(자연수)는 같은 소수를 여러 번 더한 것이고, 0.1의 개수에 자연수를 곱하면 된다는 것을 수직선으로 봅니다.
시간: 약 3분
이렇게 말해 보세요
- “0.3은 0.1이 몇 개야? 0.3을 4번 뛰면 0.1이 모두 몇 개야?”
- “0.1이 12개면 얼마지?”
예상 답
- “3개요.” “12개요.” “1.2요.”
막히면
- 수직선의 작은 눈금을 손가락으로 하나씩 세게 합니다.
- 0.3 + 0.3 + 0.3 + 0.3을 세로셈으로 더해 확인합니다.
주의
- 자연수 곱셈 3 × 4 = 12를 먼저 하고, 0.1이 12개라서 1.2라고 말하는 흐름을 잡아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(소수)×(자연수)를 분수로]
목적: 소수를 분수로 바꾸면 지난 시간에 배운 분수의 곱셈으로 계산할 수 있다는 것을 압니다. (자연수)×(소수)도 같은 방법입니다.
시간: 약 3분
이렇게 말해 보세요
- “0.3을 분수로 바꾸면?”
- “10분의 3 × 4는 분자와 4를 곱하면 되지? 10분의 12를 소수로 바꾸면?”
- “4 × 0.3은 얼마일까?”
예상 답
- “10분의 3이요.” “10분의 12, 1.2요.” “똑같이 1.2요.”
막히면
- 10분의 12가 어려우면 “0.1이 12개”라고 바꾸어 말해 줍니다.
주의
- 곱셈은 순서를 바꾸어도 곱이 같습니다(교환법칙이라는 말은 쓰지 않아도 됩니다).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(소수)×(자연수), (자연수)×(소수) 안내 연습]
목적: 도움을 받으며 (소수)×(자연수), (자연수)×(소수)를 계산합니다.
시간: 약 3분
이렇게 말해 보세요
- “①은 6 × 3 = 18이니까 0.1이 몇 개야?”
- “②는 14 × 5 = 70, 0.1이 70개면?”
- “③, ④는 순서만 바뀌었어. 어떻게 할까?”
정답
- ① 1.8
- ② 7 (7.0의 끝자리 0은 쓰지 않아요)
- ③ 5.6
- ④ 7.2
막히면
- 0.1이 10개면 1이라는 것을 떠올리게 하고, 18개, 70개를 소수로 바꾸게 합니다.
주의
- ②에서 7.0이라고 써도 값은 맞습니다. “소수점 아래 끝의 0은 지워서 7이라고 써”라고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(소수)×(소수)를 분수로, 곱의 크기 어림]
목적: (소수)×(소수)를 분수의 곱셈으로 계산하고, 자연수의 곱셈 결과와 비교해 곱이 10분의 1씩 작아지는 것을 봅니다.
시간: 약 3분
이렇게 말해 보세요
- “1.2와 0.5를 분수로 바꾸면?”
- “분자끼리 12 × 5 = 60, 분모끼리 10 × 10 = 100. 100분의 60은 소수로?”
- “표에서 곱하는 수가 5에서 0.5로 10분의 1이 되면 곱은 어떻게 돼?”
예상 답
- “10분의 12, 10분의 5요.” “0.6이요.” “곱도 10분의 1이 돼요.”
막히면
- 100분의 60이 어려우면 0.01이 60개라고 말해 주고 0.60 = 0.6을 확인합니다.
주의
- S01의 답: 1.2 × 0.5 = 0.6입니다.
- 표의 6.0과 0.60은 소수점의 움직임을 보이려고 0을 남겨 쓴 것입니다. 답은 6, 0.6으로 씁니다.
- 아이가 지쳐 보이면 이 장 다음에 쉬고, 다음 날 S06을 짧게 다시 본 뒤 S07부터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곱의 소수점 위치 규칙]
목적: 곱의 소수점 아래 자릿수가 두 수의 소수점 아래 자릿수의 합과 같다는 규칙을 표에서 찾습니다.
시간: 약 3분
이렇게 말해 보세요
- “세 식의 숫자 부분은 모두 235와 14야. 곱의 숫자 3290은 같은데 무엇이 달라?”
- “소수점 아래 자릿수를 더한 수와 곱의 소수점 아래 자릿수를 비교해 볼래?”
예상 답
- “소수점 위치가 달라요.”
- “더한 수만큼 곱의 소수점 아래 자리가 있어요.”
막히면
- 2.35는 100분의 235, 1.4는 10분의 14이므로 곱은 1000분의 3290이라는 것을 노트로 보여 줍니다(분모 100 × 10 = 1000).
주의
- 규칙의 까닭은 분수의 곱셈(분모끼리 곱하면 10 × 100 = 1000)입니다. 규칙만 외우지 않게 S06과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세로셈과 어림으로 확인]
목적: 소수의 곱셈을 세로셈으로 하고, 곱의 소수점 위치를 규칙과 어림으로 확인합니다.
시간: 약 3분
이렇게 말해 보세요
- “소수점은 잠깐 잊고 235 × 14를 해 보자. 235 × 4는? 235 × 10은?”
- “두 수의 소수점 아래 자릿수를 더하면? 그러면 3290에서 어디에 소수점을 찍어?”
- “2.35는 약 2, 1.4는 약 1.5야. 곱은 약 얼마일까?”
예상 답
- “940, 2350이요. 더하면 3290이요.”
- “세 자리니까 3.290이요.”
- “약 3이요. 3.29가 맞아요.”
막히면
- 세로셈이 어려우면 235 × 14를 가로로 235 × 10 + 235 × 4로 나누어 계산합니다.
주의
- 세로셈에서는 덧셈처럼 소수점을 맞추어 쓰지 않고 오른쪽 끝을 맞추어 씁니다.
- 3.290의 끝자리 0은 지워서 3.29로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(소수)×(소수) 안내 연습]
목적: 도움을 받으며 (소수)×(소수)를 계산하고 곱의 소수점 위치를 정합니다.
시간: 약 4분
이렇게 말해 보세요
- “①은 7 × 4 = 28. 소수점 아래 자릿수는 1 + 1 = 2. 그러면?”
- “③은 25 × 3 = 75. 소수점 아래 자릿수는 2 + 1 = 3인데 75는 두 자리야. 어떻게 할까?”
- “④는 어림하면 약 4 × 2.5 = 10이야. 답이 10쯤이야?”
정답
- ① 0.28
- ② 5.40 = 5.4
- ③ 0.075 (75 앞에 0을 채워 세 자리)
- ④ 10.200 = 10.2
막히면
- ③에서 자리가 모자라면 0을 앞에 채워 0.075로 쓴다는 것을 0.001이 75개라고 바꾸어 설명합니다.
주의
- 답이 나오면 매번 어림으로 소수점 위치를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비교(곱하면 커진다, 소수점 맞추기)]
목적: 곱셈에서도 덧셈처럼 소수점을 맞추거나 ‘곱하면 커진다’고 생각하는 실수(M1, M2)를 어림으로 바로잡습니다.
시간: 약 3분
이렇게 말해 보세요
- “1.2의 반은 얼마쯤이야? 6일 수 있을까?”
- “하늘이는 덧셈처럼 소수점을 맞췄어. 곱셈에서도 그렇게 해도 될까?”
예상 답
- “0.6이요. 1.2의 반이니까 1보다 작아요.”
- “곱셈은 자릿수를 더해야 해요.”
정답
- 바다가 맞습니다. 1.2 × 0.5 = 0.6입니다. 1보다 작은 수(0.5)를 곱하면 1.2보다 작아집니다.
- 하늘이의 6.0은 1.2보다 커서 어림과 맞지 않습니다. 곱셈에서는 소수점 아래 자릿수를 더한 만큼 소수점을 찍습니다.
막히면
- 1.2 L의 반을 컵으로 나눈다고 생각하게 합니다.
주의
- S01에서 적어 둔 예상을 여기서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(소수)×(자연수)(목표 A), (소수)×(소수)와 소수점 위치(목표 B)를 하는지 확인합니다.
시간: 약 4분
이렇게 말해 보세요
- “이번에는 혼자 해 보자. ④는 어림해서 소수점을 어디에 찍을지 설명해 줘.”
정답
- ① 4.8
- ② 0.72
- ③ 2.852
- ④ 14.26 (4.6은 약 5, 3.1은 약 3이라 곱은 약 15)
막히면
- 바로 알려 주지 말고 “소수점 아래 자릿수를 더하면?” “어림하면 얼마쯤이야?”라고만 묻습니다.
- 도움을 받아 해결했다면 기록표에 ‘도움’으로 표시합니다.
주의
- ④는 자릿수 규칙(1 + 1 = 2)으로 풀어도 맞습니다. 어림으로도 설명하게 합니다. 정답 확인은 다음 장(S12)에서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4.8 ② 0.72 ③ 2.852 ④ 14.26
막히면
- 소수점 위치가 틀렸으면 S07 표로, 곱셈 자체가 틀렸으면 S08 세로셈으로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확인(어림으로 소수점 위치 정하기)]
목적: 처음 보는 문제에서 어림으로 곱의 소수점 위치를 정하고 설명하는지 확인합니다(목표 B).
시간: 약 2분
이렇게 말해 보세요
- “5.2에 1보다 조금 작은 0.9를 곱해. 곱은 5.2보다 클까, 작을까? 얼마쯤일까?”
정답
- 나(4.68): 5.2에 1보다 조금 작은 수를 곱했으니 5.2보다 조금 작은 5쯤입니다.
- 자릿수 규칙으로도 1 + 1 = 2자리라서 4.68입니다(52 × 9 = 468).
막히면
- “5.2 × 1이면 얼마야? 0.9는 1보다 커, 작아?”라고 나누어 묻습니다.
주의
- 어림한 까닭까지 말하면 목표 B 확인 완료입니다. 답만 맞히면 ‘까닭 설명 필요’로 기록하고 다음 수업 시작 때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“소수의 곱셈에서 소수점은 어떻게 찍었어? 맞는지는 어떻게 확인했어?”
- “다음 수업을 시작할 때 이 세 문제를 먼저 풀 거야.”
예상 답
- “소수점 아래 자릿수를 더한 만큼이요. 어림해서 확인해요.”
정답
- ① 6.3
- ② 2.1 (2.10)
- ③ 2.76 (2.760)
막히면
- S07의 표를 다시 보여 줍니다.
주의
- 다음 차시는 ‘규칙과 대응’입니다.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보충(0.1의 개수로 소수 더하기)]
목적: S02에서 소수의 덧셈이나 0.1의 개수가 흔들린 경우에만 사용합니다.
시간: 약 5분
이렇게 말해 보세요
- “0.4는 작은 눈금 몇 칸이야? 두 번 뛰면 몇 칸이야?”
- “0.1이 10개면 얼마야? 0.1이 13개면?”
정답
- 0.1이 8개라서 0.8입니다.
- 0.1이 10개면 1, 13개면 1.3입니다.
막히면
- 종이 띠를 10칸으로 접어 한 칸을 0.1로 정하고 칸을 셉니다.
주의
- 이 차시의 계획상 선수 차시는 ‘분수끼리의 곱셈’(KR22-G05-MAT-FRACMUL2-L01)과 초4 ‘소수의 덧셈과 뺄셈’(KR22-G04-MAT-DECADD-L01)입니다. 소수가 많이 흔들리면 ‘소수의 덧셈과 뺄셈’과 ‘소수 두 자리 수와 세 자리 수’(KR22-G04-MAT-DEC2-L01)를 먼저 하고, 분수로 바꾸는 설명(S04, S06)이 어려우면 ‘분수끼리의 곱셈’을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소수의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소수의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소수의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곱셈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0.6일까, 6일까,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0.06일까?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(소수)×(자연수)를 0.1의 개수로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소수끼리 곱하고 소수점 위치를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안에 알맞은 수를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+ 0.4 + 0.4 = □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23개인 수는 □예요.</a:t>
            </a:r>
            <a:endParaRPr lang="ko-KR" sz="28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op10"/>
          <p:cNvSpPr txBox="1"/>
          <p:nvPr/>
        </p:nvSpPr>
        <p:spPr>
          <a:xfrm>
            <a:off x="1344168" y="5061712"/>
            <a:ext cx="130454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0.35</a:t>
            </a:r>
            <a:endParaRPr lang="ko-KR" sz="3200" dirty="0"/>
          </a:p>
        </p:txBody>
      </p:sp>
      <p:sp>
        <p:nvSpPr>
          <p:cNvPr id="10" name="S02-op11"/>
          <p:cNvSpPr txBox="1"/>
          <p:nvPr/>
        </p:nvSpPr>
        <p:spPr>
          <a:xfrm>
            <a:off x="2758440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12"/>
          <p:cNvSpPr/>
          <p:nvPr/>
        </p:nvSpPr>
        <p:spPr>
          <a:xfrm>
            <a:off x="3553318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13"/>
          <p:cNvSpPr/>
          <p:nvPr/>
        </p:nvSpPr>
        <p:spPr>
          <a:xfrm>
            <a:off x="3331464" y="5577840"/>
            <a:ext cx="7985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num14"/>
          <p:cNvSpPr txBox="1"/>
          <p:nvPr/>
        </p:nvSpPr>
        <p:spPr>
          <a:xfrm>
            <a:off x="3294888" y="5614416"/>
            <a:ext cx="87172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× 4는 0.1이 몇 개?</a:t>
            </a:r>
            <a:endParaRPr lang="ko-KR" sz="40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0.3을 4번 더해요.</a:t>
            </a:r>
            <a:endParaRPr lang="ko-KR" sz="2800" dirty="0"/>
          </a:p>
        </p:txBody>
      </p:sp>
      <p:sp>
        <p:nvSpPr>
          <p:cNvPr id="4" name="S03-card1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3 × 4 = 12개 → 1.2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× 4 = 1.2</a:t>
            </a:r>
            <a:endParaRPr lang="ko-KR" sz="2800" dirty="0"/>
          </a:p>
        </p:txBody>
      </p:sp>
      <p:sp>
        <p:nvSpPr>
          <p:cNvPr id="6" name="S03-figure18" descr="0부터 1.5까지 0.1씩 눈금 수직선: 0에서 0.3씩 네 번 뛰어 1.2에 닿음"/>
          <p:cNvSpPr/>
          <p:nvPr/>
        </p:nvSpPr>
        <p:spPr>
          <a:xfrm>
            <a:off x="8972026" y="3417119"/>
            <a:ext cx="239796" cy="239796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03-mark19"/>
          <p:cNvSpPr/>
          <p:nvPr/>
        </p:nvSpPr>
        <p:spPr>
          <a:xfrm>
            <a:off x="632460" y="3537017"/>
            <a:ext cx="1092403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3-mark20"/>
          <p:cNvSpPr/>
          <p:nvPr/>
        </p:nvSpPr>
        <p:spPr>
          <a:xfrm>
            <a:off x="1098730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3-mark21"/>
          <p:cNvSpPr/>
          <p:nvPr/>
        </p:nvSpPr>
        <p:spPr>
          <a:xfrm>
            <a:off x="1764829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mark22"/>
          <p:cNvSpPr/>
          <p:nvPr/>
        </p:nvSpPr>
        <p:spPr>
          <a:xfrm>
            <a:off x="2430929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23"/>
          <p:cNvSpPr/>
          <p:nvPr/>
        </p:nvSpPr>
        <p:spPr>
          <a:xfrm>
            <a:off x="3097028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24"/>
          <p:cNvSpPr/>
          <p:nvPr/>
        </p:nvSpPr>
        <p:spPr>
          <a:xfrm>
            <a:off x="3763128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mark25"/>
          <p:cNvSpPr/>
          <p:nvPr/>
        </p:nvSpPr>
        <p:spPr>
          <a:xfrm>
            <a:off x="4429227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mark26"/>
          <p:cNvSpPr/>
          <p:nvPr/>
        </p:nvSpPr>
        <p:spPr>
          <a:xfrm>
            <a:off x="5095327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27"/>
          <p:cNvSpPr/>
          <p:nvPr/>
        </p:nvSpPr>
        <p:spPr>
          <a:xfrm>
            <a:off x="5761426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28"/>
          <p:cNvSpPr/>
          <p:nvPr/>
        </p:nvSpPr>
        <p:spPr>
          <a:xfrm>
            <a:off x="6427526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29"/>
          <p:cNvSpPr/>
          <p:nvPr/>
        </p:nvSpPr>
        <p:spPr>
          <a:xfrm>
            <a:off x="7093625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30"/>
          <p:cNvSpPr/>
          <p:nvPr/>
        </p:nvSpPr>
        <p:spPr>
          <a:xfrm>
            <a:off x="7759725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mark31"/>
          <p:cNvSpPr/>
          <p:nvPr/>
        </p:nvSpPr>
        <p:spPr>
          <a:xfrm>
            <a:off x="8425824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mark32"/>
          <p:cNvSpPr/>
          <p:nvPr/>
        </p:nvSpPr>
        <p:spPr>
          <a:xfrm>
            <a:off x="9091924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3-mark33"/>
          <p:cNvSpPr/>
          <p:nvPr/>
        </p:nvSpPr>
        <p:spPr>
          <a:xfrm>
            <a:off x="9758023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mark34"/>
          <p:cNvSpPr/>
          <p:nvPr/>
        </p:nvSpPr>
        <p:spPr>
          <a:xfrm>
            <a:off x="10424123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3-mark35"/>
          <p:cNvSpPr/>
          <p:nvPr/>
        </p:nvSpPr>
        <p:spPr>
          <a:xfrm>
            <a:off x="11090222" y="3430441"/>
            <a:ext cx="0" cy="2131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mark36"/>
          <p:cNvSpPr/>
          <p:nvPr/>
        </p:nvSpPr>
        <p:spPr>
          <a:xfrm flipV="1">
            <a:off x="1098730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5" name="S03-mark37"/>
          <p:cNvSpPr/>
          <p:nvPr/>
        </p:nvSpPr>
        <p:spPr>
          <a:xfrm>
            <a:off x="1098730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03-mark38"/>
          <p:cNvSpPr/>
          <p:nvPr/>
        </p:nvSpPr>
        <p:spPr>
          <a:xfrm flipV="1">
            <a:off x="3097028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7" name="S03-mark39"/>
          <p:cNvSpPr/>
          <p:nvPr/>
        </p:nvSpPr>
        <p:spPr>
          <a:xfrm>
            <a:off x="3097028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3-mark40"/>
          <p:cNvSpPr/>
          <p:nvPr/>
        </p:nvSpPr>
        <p:spPr>
          <a:xfrm flipV="1">
            <a:off x="5095327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03-mark41"/>
          <p:cNvSpPr/>
          <p:nvPr/>
        </p:nvSpPr>
        <p:spPr>
          <a:xfrm>
            <a:off x="5095327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3-mark42"/>
          <p:cNvSpPr/>
          <p:nvPr/>
        </p:nvSpPr>
        <p:spPr>
          <a:xfrm flipV="1">
            <a:off x="7093625" y="3124035"/>
            <a:ext cx="0" cy="246457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1" name="S03-mark43"/>
          <p:cNvSpPr/>
          <p:nvPr/>
        </p:nvSpPr>
        <p:spPr>
          <a:xfrm>
            <a:off x="7093625" y="3124035"/>
            <a:ext cx="1998299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2" name="S03-label45"/>
          <p:cNvSpPr txBox="1"/>
          <p:nvPr/>
        </p:nvSpPr>
        <p:spPr>
          <a:xfrm>
            <a:off x="951664" y="384198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3" name="S03-label47"/>
          <p:cNvSpPr txBox="1"/>
          <p:nvPr/>
        </p:nvSpPr>
        <p:spPr>
          <a:xfrm>
            <a:off x="4106139" y="3841984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2200" dirty="0"/>
          </a:p>
        </p:txBody>
      </p:sp>
      <p:sp>
        <p:nvSpPr>
          <p:cNvPr id="34" name="S03-label49"/>
          <p:cNvSpPr txBox="1"/>
          <p:nvPr/>
        </p:nvSpPr>
        <p:spPr>
          <a:xfrm>
            <a:off x="7612659" y="3841984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5" name="S03-label51"/>
          <p:cNvSpPr txBox="1"/>
          <p:nvPr/>
        </p:nvSpPr>
        <p:spPr>
          <a:xfrm>
            <a:off x="10767134" y="3841984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ko-KR" sz="2200" dirty="0"/>
          </a:p>
        </p:txBody>
      </p:sp>
      <p:sp>
        <p:nvSpPr>
          <p:cNvPr id="36" name="S03-label53"/>
          <p:cNvSpPr txBox="1"/>
          <p:nvPr/>
        </p:nvSpPr>
        <p:spPr>
          <a:xfrm>
            <a:off x="8768836" y="3841984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2200" dirty="0"/>
          </a:p>
        </p:txBody>
      </p:sp>
      <p:sp>
        <p:nvSpPr>
          <p:cNvPr id="37" name="S03-label55"/>
          <p:cNvSpPr txBox="1"/>
          <p:nvPr/>
        </p:nvSpPr>
        <p:spPr>
          <a:xfrm>
            <a:off x="1774791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38" name="S03-label57"/>
          <p:cNvSpPr txBox="1"/>
          <p:nvPr/>
        </p:nvSpPr>
        <p:spPr>
          <a:xfrm>
            <a:off x="3773089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39" name="S03-label59"/>
          <p:cNvSpPr txBox="1"/>
          <p:nvPr/>
        </p:nvSpPr>
        <p:spPr>
          <a:xfrm>
            <a:off x="5771388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0" name="S03-label61"/>
          <p:cNvSpPr txBox="1"/>
          <p:nvPr/>
        </p:nvSpPr>
        <p:spPr>
          <a:xfrm>
            <a:off x="7769687" y="2629682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바꿔서 곱해요</a:t>
            </a:r>
            <a:endParaRPr lang="ko-KR" sz="4000" dirty="0"/>
          </a:p>
        </p:txBody>
      </p:sp>
      <p:sp>
        <p:nvSpPr>
          <p:cNvPr id="3" name="S04-card6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바꿔도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0.3 = 4 × 10분의 3 = 1.2</a:t>
            </a:r>
            <a:endParaRPr lang="ko-KR" sz="2800" dirty="0"/>
          </a:p>
        </p:txBody>
      </p:sp>
      <p:sp>
        <p:nvSpPr>
          <p:cNvPr id="5" name="S04-eqtext6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× 4</a:t>
            </a:r>
            <a:endParaRPr lang="ko-KR" sz="3200" dirty="0"/>
          </a:p>
        </p:txBody>
      </p:sp>
      <p:sp>
        <p:nvSpPr>
          <p:cNvPr id="6" name="S04-stepno65"/>
          <p:cNvSpPr txBox="1"/>
          <p:nvPr/>
        </p:nvSpPr>
        <p:spPr>
          <a:xfrm>
            <a:off x="548640" y="27586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66"/>
          <p:cNvSpPr txBox="1"/>
          <p:nvPr/>
        </p:nvSpPr>
        <p:spPr>
          <a:xfrm>
            <a:off x="1325880" y="271297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소수를 분수로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바꿔요.</a:t>
            </a:r>
            <a:endParaRPr lang="ko-KR" sz="2800" dirty="0"/>
          </a:p>
        </p:txBody>
      </p:sp>
      <p:sp>
        <p:nvSpPr>
          <p:cNvPr id="8" name="S04-num67"/>
          <p:cNvSpPr txBox="1"/>
          <p:nvPr/>
        </p:nvSpPr>
        <p:spPr>
          <a:xfrm>
            <a:off x="6981810" y="271297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04-fracbar68"/>
          <p:cNvSpPr/>
          <p:nvPr/>
        </p:nvSpPr>
        <p:spPr>
          <a:xfrm>
            <a:off x="7018386" y="316915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num69"/>
          <p:cNvSpPr txBox="1"/>
          <p:nvPr/>
        </p:nvSpPr>
        <p:spPr>
          <a:xfrm>
            <a:off x="6981810" y="32057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1" name="S04-op70"/>
          <p:cNvSpPr txBox="1"/>
          <p:nvPr/>
        </p:nvSpPr>
        <p:spPr>
          <a:xfrm>
            <a:off x="7668626" y="2712974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2" name="S04-op71"/>
          <p:cNvSpPr txBox="1"/>
          <p:nvPr/>
        </p:nvSpPr>
        <p:spPr>
          <a:xfrm>
            <a:off x="8382874" y="2712974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3" name="S04-stepno72"/>
          <p:cNvSpPr txBox="1"/>
          <p:nvPr/>
        </p:nvSpPr>
        <p:spPr>
          <a:xfrm>
            <a:off x="548640" y="383565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4-text73"/>
          <p:cNvSpPr txBox="1"/>
          <p:nvPr/>
        </p:nvSpPr>
        <p:spPr>
          <a:xfrm>
            <a:off x="1325880" y="378993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자연수를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15" name="S04-num74"/>
          <p:cNvSpPr txBox="1"/>
          <p:nvPr/>
        </p:nvSpPr>
        <p:spPr>
          <a:xfrm>
            <a:off x="6981810" y="37899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6" name="S04-fracbar75"/>
          <p:cNvSpPr/>
          <p:nvPr/>
        </p:nvSpPr>
        <p:spPr>
          <a:xfrm>
            <a:off x="7018386" y="424611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num76"/>
          <p:cNvSpPr txBox="1"/>
          <p:nvPr/>
        </p:nvSpPr>
        <p:spPr>
          <a:xfrm>
            <a:off x="6981810" y="428269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8" name="S04-op77"/>
          <p:cNvSpPr txBox="1"/>
          <p:nvPr/>
        </p:nvSpPr>
        <p:spPr>
          <a:xfrm>
            <a:off x="7668626" y="378993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9" name="S04-op78"/>
          <p:cNvSpPr txBox="1"/>
          <p:nvPr/>
        </p:nvSpPr>
        <p:spPr>
          <a:xfrm>
            <a:off x="8183738" y="3789934"/>
            <a:ext cx="9387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소수와 자연수의 곱셈</a:t>
            </a:r>
            <a:endParaRPr lang="ko-KR" sz="4000" dirty="0"/>
          </a:p>
        </p:txBody>
      </p:sp>
      <p:sp>
        <p:nvSpPr>
          <p:cNvPr id="3" name="S05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생각하며 계산해요.</a:t>
            </a:r>
            <a:endParaRPr lang="ko-KR" sz="2800" dirty="0"/>
          </a:p>
        </p:txBody>
      </p:sp>
      <p:sp>
        <p:nvSpPr>
          <p:cNvPr id="4" name="S05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곱하고, 0.1이 몇 개인지 생각해요.</a:t>
            </a:r>
            <a:endParaRPr lang="ko-KR" sz="2800" dirty="0"/>
          </a:p>
        </p:txBody>
      </p:sp>
      <p:sp>
        <p:nvSpPr>
          <p:cNvPr id="6" name="S05-chip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8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× 3 = □</a:t>
            </a:r>
            <a:endParaRPr lang="ko-KR" sz="3200" dirty="0"/>
          </a:p>
        </p:txBody>
      </p:sp>
      <p:sp>
        <p:nvSpPr>
          <p:cNvPr id="8" name="S05-chip8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8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× 5 = □</a:t>
            </a:r>
            <a:endParaRPr lang="ko-KR" sz="3200" dirty="0"/>
          </a:p>
        </p:txBody>
      </p:sp>
      <p:sp>
        <p:nvSpPr>
          <p:cNvPr id="10" name="S05-chip8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eqtext8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0.8 = □</a:t>
            </a:r>
            <a:endParaRPr lang="ko-KR" sz="3200" dirty="0"/>
          </a:p>
        </p:txBody>
      </p:sp>
      <p:sp>
        <p:nvSpPr>
          <p:cNvPr id="12" name="S05-chip8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eqtext8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2.4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× 소수</a:t>
            </a:r>
            <a:endParaRPr lang="ko-KR" sz="4000" dirty="0"/>
          </a:p>
        </p:txBody>
      </p:sp>
      <p:sp>
        <p:nvSpPr>
          <p:cNvPr id="3" name="S06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1.2의 반(0.5배)은 0.6쯤이에요.</a:t>
            </a:r>
            <a:endParaRPr lang="ko-KR" sz="2800" dirty="0"/>
          </a:p>
        </p:txBody>
      </p:sp>
      <p:sp>
        <p:nvSpPr>
          <p:cNvPr id="5" name="S06-eqtext9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</a:t>
            </a:r>
            <a:endParaRPr lang="ko-KR" sz="3200" dirty="0"/>
          </a:p>
        </p:txBody>
      </p:sp>
      <p:graphicFrame>
        <p:nvGraphicFramePr>
          <p:cNvPr id="7" name="S06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84750" y="2614549"/>
          <a:ext cx="4206240" cy="914400"/>
        </p:xfrm>
        <a:graphic>
          <a:graphicData uri="http://schemas.openxmlformats.org/drawingml/2006/table">
            <a:tbl>
              <a:tblPr/>
              <a:tblGrid>
                <a:gridCol w="2439619"/>
                <a:gridCol w="1766621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 × 0.5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94"/>
          <p:cNvSpPr txBox="1"/>
          <p:nvPr/>
        </p:nvSpPr>
        <p:spPr>
          <a:xfrm>
            <a:off x="7135429" y="4743450"/>
            <a:ext cx="4504883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1씩 작아져요</a:t>
            </a:r>
            <a:endParaRPr lang="ko-KR" sz="2200" dirty="0"/>
          </a:p>
        </p:txBody>
      </p:sp>
      <p:sp>
        <p:nvSpPr>
          <p:cNvPr id="8" name="S06-stepno95"/>
          <p:cNvSpPr txBox="1"/>
          <p:nvPr/>
        </p:nvSpPr>
        <p:spPr>
          <a:xfrm>
            <a:off x="548640" y="27198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6-text96"/>
          <p:cNvSpPr txBox="1"/>
          <p:nvPr/>
        </p:nvSpPr>
        <p:spPr>
          <a:xfrm>
            <a:off x="1325880" y="2674112"/>
            <a:ext cx="283095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바꿔요.</a:t>
            </a:r>
            <a:endParaRPr lang="ko-KR" sz="2800" dirty="0"/>
          </a:p>
        </p:txBody>
      </p:sp>
      <p:sp>
        <p:nvSpPr>
          <p:cNvPr id="10" name="S06-num97"/>
          <p:cNvSpPr txBox="1"/>
          <p:nvPr/>
        </p:nvSpPr>
        <p:spPr>
          <a:xfrm>
            <a:off x="4156837" y="267411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1" name="S06-fracbar98"/>
          <p:cNvSpPr/>
          <p:nvPr/>
        </p:nvSpPr>
        <p:spPr>
          <a:xfrm>
            <a:off x="4193413" y="313029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num99"/>
          <p:cNvSpPr txBox="1"/>
          <p:nvPr/>
        </p:nvSpPr>
        <p:spPr>
          <a:xfrm>
            <a:off x="4156837" y="316687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3" name="S06-op100"/>
          <p:cNvSpPr txBox="1"/>
          <p:nvPr/>
        </p:nvSpPr>
        <p:spPr>
          <a:xfrm>
            <a:off x="4843653" y="2674112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4" name="S06-num101"/>
          <p:cNvSpPr txBox="1"/>
          <p:nvPr/>
        </p:nvSpPr>
        <p:spPr>
          <a:xfrm>
            <a:off x="5557901" y="267411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5" name="S06-fracbar102"/>
          <p:cNvSpPr/>
          <p:nvPr/>
        </p:nvSpPr>
        <p:spPr>
          <a:xfrm>
            <a:off x="5594477" y="313029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num103"/>
          <p:cNvSpPr txBox="1"/>
          <p:nvPr/>
        </p:nvSpPr>
        <p:spPr>
          <a:xfrm>
            <a:off x="5557901" y="316687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7" name="S06-stepno104"/>
          <p:cNvSpPr txBox="1"/>
          <p:nvPr/>
        </p:nvSpPr>
        <p:spPr>
          <a:xfrm>
            <a:off x="548640" y="3796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6-text105"/>
          <p:cNvSpPr txBox="1"/>
          <p:nvPr/>
        </p:nvSpPr>
        <p:spPr>
          <a:xfrm>
            <a:off x="1325880" y="3751072"/>
            <a:ext cx="2830957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19" name="S06-num106"/>
          <p:cNvSpPr txBox="1"/>
          <p:nvPr/>
        </p:nvSpPr>
        <p:spPr>
          <a:xfrm>
            <a:off x="4156837" y="3945636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800" dirty="0"/>
          </a:p>
        </p:txBody>
      </p:sp>
      <p:sp>
        <p:nvSpPr>
          <p:cNvPr id="20" name="S06-fracbar107"/>
          <p:cNvSpPr/>
          <p:nvPr/>
        </p:nvSpPr>
        <p:spPr>
          <a:xfrm>
            <a:off x="4193413" y="4401820"/>
            <a:ext cx="710184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6-num108"/>
          <p:cNvSpPr txBox="1"/>
          <p:nvPr/>
        </p:nvSpPr>
        <p:spPr>
          <a:xfrm>
            <a:off x="4156837" y="4438396"/>
            <a:ext cx="783336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800" dirty="0"/>
          </a:p>
        </p:txBody>
      </p:sp>
      <p:sp>
        <p:nvSpPr>
          <p:cNvPr id="22" name="S06-op109"/>
          <p:cNvSpPr txBox="1"/>
          <p:nvPr/>
        </p:nvSpPr>
        <p:spPr>
          <a:xfrm>
            <a:off x="5049901" y="39456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6-op110"/>
          <p:cNvSpPr txBox="1"/>
          <p:nvPr/>
        </p:nvSpPr>
        <p:spPr>
          <a:xfrm>
            <a:off x="5565013" y="3945636"/>
            <a:ext cx="9387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곱의 소수점 위치</a:t>
            </a:r>
            <a:endParaRPr lang="ko-KR" sz="4000" dirty="0"/>
          </a:p>
        </p:txBody>
      </p:sp>
      <p:sp>
        <p:nvSpPr>
          <p:cNvPr id="3" name="S07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곱셈과 비교해요.</a:t>
            </a:r>
            <a:endParaRPr lang="ko-KR" sz="2800" dirty="0"/>
          </a:p>
        </p:txBody>
      </p:sp>
      <p:sp>
        <p:nvSpPr>
          <p:cNvPr id="4" name="S07-card1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곱의 소수점 아래 자릿수 = 두 수의 자릿수를 더한 만큼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2.35 × 1.4 = 3.290 = 3.29</a:t>
            </a:r>
            <a:endParaRPr lang="ko-KR" sz="2800" dirty="0"/>
          </a:p>
        </p:txBody>
      </p:sp>
      <p:graphicFrame>
        <p:nvGraphicFramePr>
          <p:cNvPr id="8" name="S07-table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308098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25603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소수점 아래 자릿수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235 × 14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+ 0 = 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3290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2.35 × 14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+ 0 = 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32.90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2.35 × 1.4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+ 1 = 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3.290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곱해요</a:t>
            </a:r>
            <a:endParaRPr lang="ko-KR" sz="4000" dirty="0"/>
          </a:p>
        </p:txBody>
      </p:sp>
      <p:sp>
        <p:nvSpPr>
          <p:cNvPr id="3" name="S08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2.35 × 1.4를 세로셈으로 해요.</a:t>
            </a:r>
            <a:endParaRPr lang="ko-KR" sz="2800" dirty="0"/>
          </a:p>
        </p:txBody>
      </p:sp>
      <p:sp>
        <p:nvSpPr>
          <p:cNvPr id="4" name="S08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2 × 1.5 = 3이니 3.29가 알맞아요.</a:t>
            </a:r>
            <a:endParaRPr lang="ko-KR" sz="2800" dirty="0"/>
          </a:p>
        </p:txBody>
      </p:sp>
      <p:graphicFrame>
        <p:nvGraphicFramePr>
          <p:cNvPr id="9" name="S08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3589" y="218821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119"/>
          <p:cNvSpPr txBox="1"/>
          <p:nvPr/>
        </p:nvSpPr>
        <p:spPr>
          <a:xfrm>
            <a:off x="548640" y="2145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ext120"/>
          <p:cNvSpPr txBox="1"/>
          <p:nvPr/>
        </p:nvSpPr>
        <p:spPr>
          <a:xfrm>
            <a:off x="1325880" y="2100072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곱해요: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235 × 14 = 3290</a:t>
            </a:r>
            <a:endParaRPr lang="ko-KR" sz="2800" dirty="0"/>
          </a:p>
        </p:txBody>
      </p:sp>
      <p:sp>
        <p:nvSpPr>
          <p:cNvPr id="9" name="S08-stepno121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ext122"/>
          <p:cNvSpPr txBox="1"/>
          <p:nvPr/>
        </p:nvSpPr>
        <p:spPr>
          <a:xfrm>
            <a:off x="1325880" y="3132328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아래 자릿수: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+ 1 = 3</a:t>
            </a:r>
            <a:endParaRPr lang="ko-KR" sz="2800" dirty="0"/>
          </a:p>
        </p:txBody>
      </p:sp>
      <p:sp>
        <p:nvSpPr>
          <p:cNvPr id="11" name="S08-stepno123"/>
          <p:cNvSpPr txBox="1"/>
          <p:nvPr/>
        </p:nvSpPr>
        <p:spPr>
          <a:xfrm>
            <a:off x="548640" y="4210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ext124"/>
          <p:cNvSpPr txBox="1"/>
          <p:nvPr/>
        </p:nvSpPr>
        <p:spPr>
          <a:xfrm>
            <a:off x="1325880" y="4164584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3290에서 왼쪽으로 세 자리: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3.290 → 3.29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소수끼리 곱해 봐요</a:t>
            </a:r>
            <a:endParaRPr lang="ko-KR" sz="4000" dirty="0"/>
          </a:p>
        </p:txBody>
      </p:sp>
      <p:sp>
        <p:nvSpPr>
          <p:cNvPr id="3" name="S09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곱한 뒤 소수점을 찍어요.</a:t>
            </a:r>
            <a:endParaRPr lang="ko-KR" sz="2800" dirty="0"/>
          </a:p>
        </p:txBody>
      </p:sp>
      <p:sp>
        <p:nvSpPr>
          <p:cNvPr id="4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소수점 아래 자릿수를 더한 만큼 소수점을 찍어요.</a:t>
            </a:r>
            <a:endParaRPr lang="ko-KR" sz="2800" dirty="0"/>
          </a:p>
        </p:txBody>
      </p:sp>
      <p:sp>
        <p:nvSpPr>
          <p:cNvPr id="6" name="S09-chip12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eqtext12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 × 0.4 = □</a:t>
            </a:r>
            <a:endParaRPr lang="ko-KR" sz="3200" dirty="0"/>
          </a:p>
        </p:txBody>
      </p:sp>
      <p:sp>
        <p:nvSpPr>
          <p:cNvPr id="8" name="S09-chip13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eqtext13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× 1.5 = □</a:t>
            </a:r>
            <a:endParaRPr lang="ko-KR" sz="3200" dirty="0"/>
          </a:p>
        </p:txBody>
      </p:sp>
      <p:sp>
        <p:nvSpPr>
          <p:cNvPr id="10" name="S09-chip13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eqtext13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0.25 × 0.3 = □</a:t>
            </a:r>
            <a:endParaRPr lang="ko-KR" sz="3200" dirty="0"/>
          </a:p>
        </p:txBody>
      </p:sp>
      <p:sp>
        <p:nvSpPr>
          <p:cNvPr id="12" name="S09-chip13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eqtext13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4.08 × 2.5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소수점은 어디에?</a:t>
            </a:r>
            <a:endParaRPr lang="ko-KR" sz="4000" dirty="0"/>
          </a:p>
        </p:txBody>
      </p:sp>
      <p:sp>
        <p:nvSpPr>
          <p:cNvPr id="3" name="S10-card1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× 0.5를 계산했어요.</a:t>
            </a:r>
            <a:endParaRPr lang="ko-KR" sz="2800" dirty="0"/>
          </a:p>
        </p:txBody>
      </p:sp>
      <p:sp>
        <p:nvSpPr>
          <p:cNvPr id="5" name="S10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1.2의 반(0.5배)은 6과 0.6 중 어디에 가까울까요?</a:t>
            </a:r>
            <a:endParaRPr lang="ko-KR" sz="2800" dirty="0"/>
          </a:p>
        </p:txBody>
      </p:sp>
      <p:sp>
        <p:nvSpPr>
          <p:cNvPr id="7" name="S10-chip1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하늘: 6.0</a:t>
            </a:r>
            <a:endParaRPr lang="ko-KR" sz="2200" dirty="0"/>
          </a:p>
        </p:txBody>
      </p:sp>
      <p:sp>
        <p:nvSpPr>
          <p:cNvPr id="8" name="S10-text1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5 = 60이고,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덧셈처럼 소수점을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맞춰서 찍었어요.</a:t>
            </a:r>
            <a:endParaRPr lang="ko-KR" sz="2800" dirty="0"/>
          </a:p>
        </p:txBody>
      </p:sp>
      <p:sp>
        <p:nvSpPr>
          <p:cNvPr id="9" name="S10-chip1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바다: 0.6</a:t>
            </a:r>
            <a:endParaRPr lang="ko-KR" sz="2200" dirty="0"/>
          </a:p>
        </p:txBody>
      </p:sp>
      <p:sp>
        <p:nvSpPr>
          <p:cNvPr id="10" name="S10-text1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아래 자릿수가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+ 1 = 2라서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0.60 = 0.6이에요.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④는 어림한 방법을 말해요.</a:t>
            </a:r>
            <a:endParaRPr lang="ko-KR" sz="2800" dirty="0"/>
          </a:p>
        </p:txBody>
      </p:sp>
      <p:sp>
        <p:nvSpPr>
          <p:cNvPr id="4" name="S11-chip14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eqtext14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 × 6 = □</a:t>
            </a:r>
            <a:endParaRPr lang="ko-KR" sz="3200" dirty="0"/>
          </a:p>
        </p:txBody>
      </p:sp>
      <p:sp>
        <p:nvSpPr>
          <p:cNvPr id="6" name="S11-chip14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eqtext14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× 0.3 = □</a:t>
            </a:r>
            <a:endParaRPr lang="ko-KR" sz="3200" dirty="0"/>
          </a:p>
        </p:txBody>
      </p:sp>
      <p:sp>
        <p:nvSpPr>
          <p:cNvPr id="8" name="S11-chip14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eqtext15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1.24 × 2.3 = □</a:t>
            </a:r>
            <a:endParaRPr lang="ko-KR" sz="3200" dirty="0"/>
          </a:p>
        </p:txBody>
      </p:sp>
      <p:sp>
        <p:nvSpPr>
          <p:cNvPr id="10" name="S11-chip15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15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 × 3.1의 곱은 1426에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찍은 수예요.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어림하여 소수점을 찍어요.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5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5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어림한 값과 비교해 소수점 위치를 다시 정하게 하세요.</a:t>
            </a:r>
            <a:endParaRPr lang="ko-KR" sz="2800" dirty="0"/>
          </a:p>
        </p:txBody>
      </p:sp>
      <p:sp>
        <p:nvSpPr>
          <p:cNvPr id="5" name="S12-chip15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56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4.8</a:t>
            </a:r>
            <a:endParaRPr lang="ko-KR" sz="2800" dirty="0"/>
          </a:p>
        </p:txBody>
      </p:sp>
      <p:sp>
        <p:nvSpPr>
          <p:cNvPr id="7" name="S12-text157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0.72</a:t>
            </a:r>
            <a:endParaRPr lang="ko-KR" sz="2800" dirty="0"/>
          </a:p>
        </p:txBody>
      </p:sp>
      <p:sp>
        <p:nvSpPr>
          <p:cNvPr id="8" name="S12-text158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2.852</a:t>
            </a:r>
            <a:endParaRPr lang="ko-KR" sz="2800" dirty="0"/>
          </a:p>
        </p:txBody>
      </p:sp>
      <p:sp>
        <p:nvSpPr>
          <p:cNvPr id="9" name="S12-text159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14.26 (어림 5 × 3 = 15)</a:t>
            </a:r>
            <a:endParaRPr lang="ko-KR" sz="2800" dirty="0"/>
          </a:p>
        </p:txBody>
      </p:sp>
      <p:sp>
        <p:nvSpPr>
          <p:cNvPr id="10" name="S12-chip16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61"/>
          <p:cNvSpPr txBox="1"/>
          <p:nvPr/>
        </p:nvSpPr>
        <p:spPr>
          <a:xfrm>
            <a:off x="6277356" y="2057400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7.2: 소수점 아래 자릿수를 1로 셈</a:t>
            </a:r>
            <a:endParaRPr lang="ko-KR" sz="2200" dirty="0"/>
          </a:p>
        </p:txBody>
      </p:sp>
      <p:sp>
        <p:nvSpPr>
          <p:cNvPr id="12" name="S12-text162"/>
          <p:cNvSpPr txBox="1"/>
          <p:nvPr/>
        </p:nvSpPr>
        <p:spPr>
          <a:xfrm>
            <a:off x="6277356" y="301481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28.52: 소수점 위치를 덧셈처럼 정함</a:t>
            </a:r>
            <a:endParaRPr lang="ko-KR" sz="2200" dirty="0"/>
          </a:p>
        </p:txBody>
      </p:sp>
      <p:sp>
        <p:nvSpPr>
          <p:cNvPr id="13" name="S12-text163"/>
          <p:cNvSpPr txBox="1"/>
          <p:nvPr/>
        </p:nvSpPr>
        <p:spPr>
          <a:xfrm>
            <a:off x="6277356" y="397222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1.426: 어림하지 않음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× 0.9의 곱은?</a:t>
            </a:r>
            <a:endParaRPr lang="ko-KR" sz="4000" dirty="0"/>
          </a:p>
        </p:txBody>
      </p:sp>
      <p:sp>
        <p:nvSpPr>
          <p:cNvPr id="3" name="S13-text1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계산하지 말고 어림해서 골라요.</a:t>
            </a:r>
            <a:endParaRPr lang="ko-KR" sz="2800" dirty="0"/>
          </a:p>
        </p:txBody>
      </p:sp>
      <p:sp>
        <p:nvSpPr>
          <p:cNvPr id="4" name="S13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어림했는지 말해요.</a:t>
            </a:r>
            <a:endParaRPr lang="ko-KR" sz="2800" dirty="0"/>
          </a:p>
        </p:txBody>
      </p:sp>
      <p:sp>
        <p:nvSpPr>
          <p:cNvPr id="6" name="S13-chip16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eqtext168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46.8</a:t>
            </a:r>
            <a:endParaRPr lang="ko-KR" sz="4800" dirty="0"/>
          </a:p>
        </p:txBody>
      </p:sp>
      <p:sp>
        <p:nvSpPr>
          <p:cNvPr id="8" name="S13-chip16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eqtext170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4.68</a:t>
            </a:r>
            <a:endParaRPr lang="ko-KR" sz="4800" dirty="0"/>
          </a:p>
        </p:txBody>
      </p:sp>
      <p:sp>
        <p:nvSpPr>
          <p:cNvPr id="10" name="S13-chip17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1" name="S13-eqtext172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0.468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7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7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곱하고, 소수점 아래 자릿수를 더한 만큼 소수점을 찍어요.</a:t>
            </a:r>
            <a:endParaRPr lang="ko-KR" sz="2800" dirty="0"/>
          </a:p>
        </p:txBody>
      </p:sp>
      <p:sp>
        <p:nvSpPr>
          <p:cNvPr id="5" name="S14-chip17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어림으로 소수점 위치 확인</a:t>
            </a:r>
            <a:endParaRPr lang="ko-KR" sz="2200" dirty="0"/>
          </a:p>
        </p:txBody>
      </p:sp>
      <p:sp>
        <p:nvSpPr>
          <p:cNvPr id="6" name="S14-chip17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덧셈처럼 소수점 맞추기</a:t>
            </a:r>
            <a:endParaRPr lang="ko-KR" sz="2200" dirty="0"/>
          </a:p>
        </p:txBody>
      </p:sp>
      <p:sp>
        <p:nvSpPr>
          <p:cNvPr id="7" name="S14-text17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17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0.9 × 7</a:t>
            </a:r>
            <a:endParaRPr lang="ko-KR" sz="2600" dirty="0"/>
          </a:p>
        </p:txBody>
      </p:sp>
      <p:sp>
        <p:nvSpPr>
          <p:cNvPr id="9" name="S14-eqtext17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3.5 × 0.6</a:t>
            </a:r>
            <a:endParaRPr lang="ko-KR" sz="2600" dirty="0"/>
          </a:p>
        </p:txBody>
      </p:sp>
      <p:sp>
        <p:nvSpPr>
          <p:cNvPr id="10" name="S14-eqtext18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1.15 × 2.4</a:t>
            </a:r>
            <a:endParaRPr lang="ko-KR" sz="2600" dirty="0"/>
          </a:p>
        </p:txBody>
      </p:sp>
      <p:sp>
        <p:nvSpPr>
          <p:cNvPr id="11" name="S14-text1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규칙과 대응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0.1이 몇 개?</a:t>
            </a:r>
            <a:endParaRPr lang="ko-KR" sz="4000" dirty="0"/>
          </a:p>
        </p:txBody>
      </p:sp>
      <p:sp>
        <p:nvSpPr>
          <p:cNvPr id="3" name="S15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+ 0.4를 수직선으로 해요.</a:t>
            </a:r>
            <a:endParaRPr lang="ko-KR" sz="2800" dirty="0"/>
          </a:p>
        </p:txBody>
      </p:sp>
      <p:sp>
        <p:nvSpPr>
          <p:cNvPr id="4" name="S15-card18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8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+ 0.4 = 0.8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4개 + 4개 = 8개예요.</a:t>
            </a:r>
            <a:endParaRPr lang="ko-KR" sz="2800" dirty="0"/>
          </a:p>
        </p:txBody>
      </p:sp>
      <p:sp>
        <p:nvSpPr>
          <p:cNvPr id="6" name="S15-figure185" descr="0부터 1까지 0.1씩 눈금 수직선: 0에서 0.4씩 두 번 뛰어 0.8에 닿음"/>
          <p:cNvSpPr/>
          <p:nvPr/>
        </p:nvSpPr>
        <p:spPr>
          <a:xfrm>
            <a:off x="8673084" y="3419602"/>
            <a:ext cx="329184" cy="32918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E9762B"/>
            </a:solidFill>
            <a:prstDash val="solid"/>
          </a:ln>
        </p:spPr>
      </p:sp>
      <p:sp>
        <p:nvSpPr>
          <p:cNvPr id="7" name="S15-mark186"/>
          <p:cNvSpPr/>
          <p:nvPr/>
        </p:nvSpPr>
        <p:spPr>
          <a:xfrm>
            <a:off x="882396" y="358419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15-mark187"/>
          <p:cNvSpPr/>
          <p:nvPr/>
        </p:nvSpPr>
        <p:spPr>
          <a:xfrm>
            <a:off x="1522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5-mark188"/>
          <p:cNvSpPr/>
          <p:nvPr/>
        </p:nvSpPr>
        <p:spPr>
          <a:xfrm>
            <a:off x="2436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189"/>
          <p:cNvSpPr/>
          <p:nvPr/>
        </p:nvSpPr>
        <p:spPr>
          <a:xfrm>
            <a:off x="3351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190"/>
          <p:cNvSpPr/>
          <p:nvPr/>
        </p:nvSpPr>
        <p:spPr>
          <a:xfrm>
            <a:off x="4265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mark191"/>
          <p:cNvSpPr/>
          <p:nvPr/>
        </p:nvSpPr>
        <p:spPr>
          <a:xfrm>
            <a:off x="5180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mark192"/>
          <p:cNvSpPr/>
          <p:nvPr/>
        </p:nvSpPr>
        <p:spPr>
          <a:xfrm>
            <a:off x="6094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mark193"/>
          <p:cNvSpPr/>
          <p:nvPr/>
        </p:nvSpPr>
        <p:spPr>
          <a:xfrm>
            <a:off x="70088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5-mark194"/>
          <p:cNvSpPr/>
          <p:nvPr/>
        </p:nvSpPr>
        <p:spPr>
          <a:xfrm>
            <a:off x="79232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mark195"/>
          <p:cNvSpPr/>
          <p:nvPr/>
        </p:nvSpPr>
        <p:spPr>
          <a:xfrm>
            <a:off x="88376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5-mark196"/>
          <p:cNvSpPr/>
          <p:nvPr/>
        </p:nvSpPr>
        <p:spPr>
          <a:xfrm>
            <a:off x="97520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mark197"/>
          <p:cNvSpPr/>
          <p:nvPr/>
        </p:nvSpPr>
        <p:spPr>
          <a:xfrm>
            <a:off x="10666476" y="343789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5-mark198"/>
          <p:cNvSpPr/>
          <p:nvPr/>
        </p:nvSpPr>
        <p:spPr>
          <a:xfrm flipV="1">
            <a:off x="15224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0" name="S15-mark199"/>
          <p:cNvSpPr/>
          <p:nvPr/>
        </p:nvSpPr>
        <p:spPr>
          <a:xfrm>
            <a:off x="1522476" y="3017266"/>
            <a:ext cx="36576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15-mark200"/>
          <p:cNvSpPr/>
          <p:nvPr/>
        </p:nvSpPr>
        <p:spPr>
          <a:xfrm flipV="1">
            <a:off x="5180076" y="3017266"/>
            <a:ext cx="0" cy="338328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2" name="S15-mark201"/>
          <p:cNvSpPr/>
          <p:nvPr/>
        </p:nvSpPr>
        <p:spPr>
          <a:xfrm>
            <a:off x="5180076" y="3017266"/>
            <a:ext cx="365760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3" name="S15-label203"/>
          <p:cNvSpPr txBox="1"/>
          <p:nvPr/>
        </p:nvSpPr>
        <p:spPr>
          <a:xfrm>
            <a:off x="1375410" y="40679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4" name="S15-label205"/>
          <p:cNvSpPr txBox="1"/>
          <p:nvPr/>
        </p:nvSpPr>
        <p:spPr>
          <a:xfrm>
            <a:off x="5771388" y="4067937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2200" dirty="0"/>
          </a:p>
        </p:txBody>
      </p:sp>
      <p:sp>
        <p:nvSpPr>
          <p:cNvPr id="25" name="S15-label207"/>
          <p:cNvSpPr txBox="1"/>
          <p:nvPr/>
        </p:nvSpPr>
        <p:spPr>
          <a:xfrm>
            <a:off x="10519410" y="4067937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15-label209"/>
          <p:cNvSpPr txBox="1"/>
          <p:nvPr/>
        </p:nvSpPr>
        <p:spPr>
          <a:xfrm>
            <a:off x="8514588" y="4067937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</a:t>
            </a:r>
            <a:endParaRPr lang="ko-KR" sz="2200" dirty="0"/>
          </a:p>
        </p:txBody>
      </p:sp>
      <p:sp>
        <p:nvSpPr>
          <p:cNvPr id="27" name="S15-label211"/>
          <p:cNvSpPr txBox="1"/>
          <p:nvPr/>
        </p:nvSpPr>
        <p:spPr>
          <a:xfrm>
            <a:off x="3028188" y="2403729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200" dirty="0"/>
          </a:p>
        </p:txBody>
      </p:sp>
      <p:sp>
        <p:nvSpPr>
          <p:cNvPr id="28" name="S15-label213"/>
          <p:cNvSpPr txBox="1"/>
          <p:nvPr/>
        </p:nvSpPr>
        <p:spPr>
          <a:xfrm>
            <a:off x="6685788" y="2403729"/>
            <a:ext cx="6461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소수의 곱셈</dc:title>
  <dc:subject>KR22-G05-MAT-DECMUL-L01</dc:subject>
  <dc:creator>education-ppt</dc:creator>
  <cp:lastModifiedBy>education-ppt</cp:lastModifiedBy>
  <cp:revision>1</cp:revision>
  <dcterms:created xsi:type="dcterms:W3CDTF">2026-10-26T08:26:11Z</dcterms:created>
  <dcterms:modified xsi:type="dcterms:W3CDTF">2026-10-26T08:26:11Z</dcterms:modified>
</cp:coreProperties>
</file>