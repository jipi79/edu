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54baccb-6dd6-c9e3-0a58-2df67cc8226f}">
          <p14:sldIdLst>
            <p14:sldId id="256"/>
            <p14:sldId id="257"/>
          </p14:sldIdLst>
        </p14:section>
        <p14:section name="개념" id="{57294dfb-9b13-c1cf-e6fe-d89ede54b558}">
          <p14:sldIdLst>
            <p14:sldId id="258"/>
            <p14:sldId id="259"/>
            <p14:sldId id="261"/>
            <p14:sldId id="262"/>
            <p14:sldId id="263"/>
          </p14:sldIdLst>
        </p14:section>
        <p14:section name="연습" id="{ff1a4bed-8b9f-921b-c056-4a6c79185709}">
          <p14:sldIdLst>
            <p14:sldId id="260"/>
            <p14:sldId id="264"/>
            <p14:sldId id="265"/>
          </p14:sldIdLst>
        </p14:section>
        <p14:section name="개념" id="{b06f9eb3-2c0d-a9b7-6bdb-1527e7bf990e}">
          <p14:sldIdLst/>
        </p14:section>
        <p14:section name="연습" id="{237daf4c-586a-f3d6-1841-b049959559ad}">
          <p14:sldIdLst/>
        </p14:section>
        <p14:section name="확인" id="{d410497f-17e6-4aad-a0bd-d80a6df8fe19}">
          <p14:sldIdLst>
            <p14:sldId id="266"/>
            <p14:sldId id="267"/>
          </p14:sldIdLst>
        </p14:section>
        <p14:section name="정리" id="{f8b7b6b8-52c6-0fc3-6482-2b5ab858e803}">
          <p14:sldIdLst>
            <p14:sldId id="268"/>
          </p14:sldIdLst>
        </p14:section>
        <p14:section name="보충" id="{2835f1bc-bcb7-d733-7c81-9364f2cb8216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수의 범위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수의 범위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수의 범위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범위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130 cm이면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‘130 cm 이상’ 놀이기구를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 수 있을까?</a:t>
            </a:r>
            <a:endParaRPr lang="ko-KR" sz="2800" dirty="0"/>
          </a:p>
        </p:txBody>
      </p:sp>
      <p:sp>
        <p:nvSpPr>
          <p:cNvPr id="4" name="S01-big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· 이하</a:t>
            </a:r>
            <a:endParaRPr lang="ko-KR" sz="4000" dirty="0"/>
          </a:p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 · 미만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이상·이하를 수직선과 말로 나타내요.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초과·미만을 구별하고 생활 문제에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수의 크기 비교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○ 안에 &gt; 또는 &lt;를 쓰고, ③은 골라요.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eq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○ 31</a:t>
            </a:r>
            <a:endParaRPr lang="ko-KR" sz="32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eq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4.5 ○ 4.2</a:t>
            </a:r>
            <a:endParaRPr lang="ko-KR" sz="32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35보다 큰 수를 모두 골라요.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30,  35,  38,  41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이상: 같거나 큰 수</a:t>
            </a:r>
            <a:endParaRPr lang="ko-KR" sz="4000" dirty="0"/>
          </a:p>
        </p:txBody>
      </p:sp>
      <p:sp>
        <p:nvSpPr>
          <p:cNvPr id="3" name="S03-text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놀이기구 안내판: 키 130 cm 이상만 탈 수 있어요.</a:t>
            </a:r>
            <a:endParaRPr lang="ko-KR" sz="2800" dirty="0"/>
          </a:p>
        </p:txBody>
      </p:sp>
      <p:sp>
        <p:nvSpPr>
          <p:cNvPr id="4" name="S03-card1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이상: 130과 같거나 큰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130도 들어가요. 수직선에 ●로 나타내요.</a:t>
            </a:r>
            <a:endParaRPr lang="ko-KR" sz="2800" dirty="0"/>
          </a:p>
        </p:txBody>
      </p:sp>
      <p:sp>
        <p:nvSpPr>
          <p:cNvPr id="6" name="S03-figure14" descr="125부터 135까지 수직선: 130에 색칠한 동그라미(●), 130부터 오른쪽으로 굵은 선"/>
          <p:cNvSpPr/>
          <p:nvPr/>
        </p:nvSpPr>
        <p:spPr>
          <a:xfrm>
            <a:off x="5911596" y="3241294"/>
            <a:ext cx="365760" cy="365760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7" name="S03-mark15"/>
          <p:cNvSpPr/>
          <p:nvPr/>
        </p:nvSpPr>
        <p:spPr>
          <a:xfrm>
            <a:off x="882396" y="342417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3-mark16"/>
          <p:cNvSpPr/>
          <p:nvPr/>
        </p:nvSpPr>
        <p:spPr>
          <a:xfrm>
            <a:off x="15224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3-mark17"/>
          <p:cNvSpPr/>
          <p:nvPr/>
        </p:nvSpPr>
        <p:spPr>
          <a:xfrm>
            <a:off x="24368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3-mark18"/>
          <p:cNvSpPr/>
          <p:nvPr/>
        </p:nvSpPr>
        <p:spPr>
          <a:xfrm>
            <a:off x="33512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3-mark19"/>
          <p:cNvSpPr/>
          <p:nvPr/>
        </p:nvSpPr>
        <p:spPr>
          <a:xfrm>
            <a:off x="42656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mark20"/>
          <p:cNvSpPr/>
          <p:nvPr/>
        </p:nvSpPr>
        <p:spPr>
          <a:xfrm>
            <a:off x="51800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3-mark21"/>
          <p:cNvSpPr/>
          <p:nvPr/>
        </p:nvSpPr>
        <p:spPr>
          <a:xfrm>
            <a:off x="70088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mark22"/>
          <p:cNvSpPr/>
          <p:nvPr/>
        </p:nvSpPr>
        <p:spPr>
          <a:xfrm>
            <a:off x="79232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mark23"/>
          <p:cNvSpPr/>
          <p:nvPr/>
        </p:nvSpPr>
        <p:spPr>
          <a:xfrm>
            <a:off x="88376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mark24"/>
          <p:cNvSpPr/>
          <p:nvPr/>
        </p:nvSpPr>
        <p:spPr>
          <a:xfrm>
            <a:off x="97520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3-mark25"/>
          <p:cNvSpPr/>
          <p:nvPr/>
        </p:nvSpPr>
        <p:spPr>
          <a:xfrm>
            <a:off x="106664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mark26"/>
          <p:cNvSpPr/>
          <p:nvPr/>
        </p:nvSpPr>
        <p:spPr>
          <a:xfrm>
            <a:off x="6094476" y="3424174"/>
            <a:ext cx="5074920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19" name="S03-label28"/>
          <p:cNvSpPr txBox="1"/>
          <p:nvPr/>
        </p:nvSpPr>
        <p:spPr>
          <a:xfrm>
            <a:off x="1191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</a:t>
            </a:r>
            <a:endParaRPr lang="ko-KR" sz="2200" dirty="0"/>
          </a:p>
        </p:txBody>
      </p:sp>
      <p:sp>
        <p:nvSpPr>
          <p:cNvPr id="20" name="S03-label30"/>
          <p:cNvSpPr txBox="1"/>
          <p:nvPr/>
        </p:nvSpPr>
        <p:spPr>
          <a:xfrm>
            <a:off x="5763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2200" dirty="0"/>
          </a:p>
        </p:txBody>
      </p:sp>
      <p:sp>
        <p:nvSpPr>
          <p:cNvPr id="21" name="S03-label32"/>
          <p:cNvSpPr txBox="1"/>
          <p:nvPr/>
        </p:nvSpPr>
        <p:spPr>
          <a:xfrm>
            <a:off x="10335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135</a:t>
            </a:r>
            <a:endParaRPr lang="ko-KR" sz="2200" dirty="0"/>
          </a:p>
        </p:txBody>
      </p:sp>
      <p:sp>
        <p:nvSpPr>
          <p:cNvPr id="22" name="S03-label34"/>
          <p:cNvSpPr txBox="1"/>
          <p:nvPr/>
        </p:nvSpPr>
        <p:spPr>
          <a:xfrm>
            <a:off x="5447284" y="2563749"/>
            <a:ext cx="12943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이상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이하: 같거나 작은 수</a:t>
            </a:r>
            <a:endParaRPr lang="ko-KR" sz="4000" dirty="0"/>
          </a:p>
        </p:txBody>
      </p:sp>
      <p:sp>
        <p:nvSpPr>
          <p:cNvPr id="3" name="S04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어린이 놀이기구: 키 120 cm 이하만 탈 수 있어요.</a:t>
            </a:r>
            <a:endParaRPr lang="ko-KR" sz="2800" dirty="0"/>
          </a:p>
        </p:txBody>
      </p:sp>
      <p:sp>
        <p:nvSpPr>
          <p:cNvPr id="4" name="S04-card36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7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이하: 120과 같거나 작은 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120도 들어가요. 수직선에 ●로 나타내요.</a:t>
            </a:r>
            <a:endParaRPr lang="ko-KR" sz="2800" dirty="0"/>
          </a:p>
        </p:txBody>
      </p:sp>
      <p:sp>
        <p:nvSpPr>
          <p:cNvPr id="6" name="S04-figure38" descr="115부터 125까지 수직선: 120에 색칠한 동그라미(●), 120부터 왼쪽으로 굵은 선"/>
          <p:cNvSpPr/>
          <p:nvPr/>
        </p:nvSpPr>
        <p:spPr>
          <a:xfrm>
            <a:off x="5911596" y="3241294"/>
            <a:ext cx="365760" cy="365760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7" name="S04-mark39"/>
          <p:cNvSpPr/>
          <p:nvPr/>
        </p:nvSpPr>
        <p:spPr>
          <a:xfrm>
            <a:off x="882396" y="3424174"/>
            <a:ext cx="104241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8" name="S04-mark40"/>
          <p:cNvSpPr/>
          <p:nvPr/>
        </p:nvSpPr>
        <p:spPr>
          <a:xfrm>
            <a:off x="15224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4-mark41"/>
          <p:cNvSpPr/>
          <p:nvPr/>
        </p:nvSpPr>
        <p:spPr>
          <a:xfrm>
            <a:off x="24368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mark42"/>
          <p:cNvSpPr/>
          <p:nvPr/>
        </p:nvSpPr>
        <p:spPr>
          <a:xfrm>
            <a:off x="33512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mark43"/>
          <p:cNvSpPr/>
          <p:nvPr/>
        </p:nvSpPr>
        <p:spPr>
          <a:xfrm>
            <a:off x="42656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mark44"/>
          <p:cNvSpPr/>
          <p:nvPr/>
        </p:nvSpPr>
        <p:spPr>
          <a:xfrm>
            <a:off x="51800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4-mark45"/>
          <p:cNvSpPr/>
          <p:nvPr/>
        </p:nvSpPr>
        <p:spPr>
          <a:xfrm>
            <a:off x="70088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mark46"/>
          <p:cNvSpPr/>
          <p:nvPr/>
        </p:nvSpPr>
        <p:spPr>
          <a:xfrm>
            <a:off x="79232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mark47"/>
          <p:cNvSpPr/>
          <p:nvPr/>
        </p:nvSpPr>
        <p:spPr>
          <a:xfrm>
            <a:off x="88376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mark48"/>
          <p:cNvSpPr/>
          <p:nvPr/>
        </p:nvSpPr>
        <p:spPr>
          <a:xfrm>
            <a:off x="97520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4-mark49"/>
          <p:cNvSpPr/>
          <p:nvPr/>
        </p:nvSpPr>
        <p:spPr>
          <a:xfrm>
            <a:off x="10666476" y="327787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mark50"/>
          <p:cNvSpPr/>
          <p:nvPr/>
        </p:nvSpPr>
        <p:spPr>
          <a:xfrm>
            <a:off x="1019556" y="3424174"/>
            <a:ext cx="5074920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19" name="S04-label52"/>
          <p:cNvSpPr txBox="1"/>
          <p:nvPr/>
        </p:nvSpPr>
        <p:spPr>
          <a:xfrm>
            <a:off x="1191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</a:t>
            </a:r>
            <a:endParaRPr lang="ko-KR" sz="2200" dirty="0"/>
          </a:p>
        </p:txBody>
      </p:sp>
      <p:sp>
        <p:nvSpPr>
          <p:cNvPr id="20" name="S04-label54"/>
          <p:cNvSpPr txBox="1"/>
          <p:nvPr/>
        </p:nvSpPr>
        <p:spPr>
          <a:xfrm>
            <a:off x="5763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2200" dirty="0"/>
          </a:p>
        </p:txBody>
      </p:sp>
      <p:sp>
        <p:nvSpPr>
          <p:cNvPr id="21" name="S04-label56"/>
          <p:cNvSpPr txBox="1"/>
          <p:nvPr/>
        </p:nvSpPr>
        <p:spPr>
          <a:xfrm>
            <a:off x="10335006" y="3907917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125</a:t>
            </a:r>
            <a:endParaRPr lang="ko-KR" sz="2200" dirty="0"/>
          </a:p>
        </p:txBody>
      </p:sp>
      <p:sp>
        <p:nvSpPr>
          <p:cNvPr id="22" name="S04-label58"/>
          <p:cNvSpPr txBox="1"/>
          <p:nvPr/>
        </p:nvSpPr>
        <p:spPr>
          <a:xfrm>
            <a:off x="5447284" y="2563749"/>
            <a:ext cx="129438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이하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이상·이하인 수 찾기</a:t>
            </a:r>
            <a:endParaRPr lang="ko-KR" sz="4000" dirty="0"/>
          </a:p>
        </p:txBody>
      </p:sp>
      <p:sp>
        <p:nvSpPr>
          <p:cNvPr id="3" name="S05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범위에 드는 수를 모두 골라요.</a:t>
            </a:r>
            <a:endParaRPr lang="ko-KR" sz="2800" dirty="0"/>
          </a:p>
        </p:txBody>
      </p:sp>
      <p:sp>
        <p:nvSpPr>
          <p:cNvPr id="4" name="S05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수직선이 나타내는 범위를 ‘22 ○○’처럼 말해요.</a:t>
            </a:r>
            <a:endParaRPr lang="ko-KR" sz="2800" dirty="0"/>
          </a:p>
        </p:txBody>
      </p:sp>
      <p:sp>
        <p:nvSpPr>
          <p:cNvPr id="6" name="S05-chip6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63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이상인 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28,  29.5,  30,  31,  45</a:t>
            </a:r>
            <a:endParaRPr lang="ko-KR" sz="2800" dirty="0"/>
          </a:p>
        </p:txBody>
      </p:sp>
      <p:sp>
        <p:nvSpPr>
          <p:cNvPr id="8" name="S05-chip6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65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이하인 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9,  14,  15,  15.2,  16</a:t>
            </a:r>
            <a:endParaRPr lang="ko-KR" sz="2800" dirty="0"/>
          </a:p>
        </p:txBody>
      </p:sp>
      <p:sp>
        <p:nvSpPr>
          <p:cNvPr id="10" name="S05-chip66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figure67" descr="18부터 26까지 수직선: 22에 ●, 22부터 왼쪽으로 굵은 선"/>
          <p:cNvSpPr/>
          <p:nvPr/>
        </p:nvSpPr>
        <p:spPr>
          <a:xfrm>
            <a:off x="3945912" y="4389015"/>
            <a:ext cx="282913" cy="282913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12" name="S05-mark68"/>
          <p:cNvSpPr/>
          <p:nvPr/>
        </p:nvSpPr>
        <p:spPr>
          <a:xfrm>
            <a:off x="1427988" y="4530471"/>
            <a:ext cx="5318760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3" name="S05-mark69"/>
          <p:cNvSpPr/>
          <p:nvPr/>
        </p:nvSpPr>
        <p:spPr>
          <a:xfrm>
            <a:off x="1824066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mark70"/>
          <p:cNvSpPr/>
          <p:nvPr/>
        </p:nvSpPr>
        <p:spPr>
          <a:xfrm>
            <a:off x="2389891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5-mark71"/>
          <p:cNvSpPr/>
          <p:nvPr/>
        </p:nvSpPr>
        <p:spPr>
          <a:xfrm>
            <a:off x="2955717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mark72"/>
          <p:cNvSpPr/>
          <p:nvPr/>
        </p:nvSpPr>
        <p:spPr>
          <a:xfrm>
            <a:off x="3521542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5-mark73"/>
          <p:cNvSpPr/>
          <p:nvPr/>
        </p:nvSpPr>
        <p:spPr>
          <a:xfrm>
            <a:off x="4653194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mark74"/>
          <p:cNvSpPr/>
          <p:nvPr/>
        </p:nvSpPr>
        <p:spPr>
          <a:xfrm>
            <a:off x="5219019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5-mark75"/>
          <p:cNvSpPr/>
          <p:nvPr/>
        </p:nvSpPr>
        <p:spPr>
          <a:xfrm>
            <a:off x="5784845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mark76"/>
          <p:cNvSpPr/>
          <p:nvPr/>
        </p:nvSpPr>
        <p:spPr>
          <a:xfrm>
            <a:off x="6350670" y="4439939"/>
            <a:ext cx="0" cy="18106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5-mark77"/>
          <p:cNvSpPr/>
          <p:nvPr/>
        </p:nvSpPr>
        <p:spPr>
          <a:xfrm>
            <a:off x="1512862" y="4530471"/>
            <a:ext cx="2574506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22" name="S05-label79"/>
          <p:cNvSpPr txBox="1"/>
          <p:nvPr/>
        </p:nvSpPr>
        <p:spPr>
          <a:xfrm>
            <a:off x="1584798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200" dirty="0"/>
          </a:p>
        </p:txBody>
      </p:sp>
      <p:sp>
        <p:nvSpPr>
          <p:cNvPr id="23" name="S05-label81"/>
          <p:cNvSpPr txBox="1"/>
          <p:nvPr/>
        </p:nvSpPr>
        <p:spPr>
          <a:xfrm>
            <a:off x="2716449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24" name="S05-label83"/>
          <p:cNvSpPr txBox="1"/>
          <p:nvPr/>
        </p:nvSpPr>
        <p:spPr>
          <a:xfrm>
            <a:off x="3848100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ko-KR" sz="2200" dirty="0"/>
          </a:p>
        </p:txBody>
      </p:sp>
      <p:sp>
        <p:nvSpPr>
          <p:cNvPr id="25" name="S05-label85"/>
          <p:cNvSpPr txBox="1"/>
          <p:nvPr/>
        </p:nvSpPr>
        <p:spPr>
          <a:xfrm>
            <a:off x="4979751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200" dirty="0"/>
          </a:p>
        </p:txBody>
      </p:sp>
      <p:sp>
        <p:nvSpPr>
          <p:cNvPr id="26" name="S05-label87"/>
          <p:cNvSpPr txBox="1"/>
          <p:nvPr/>
        </p:nvSpPr>
        <p:spPr>
          <a:xfrm>
            <a:off x="6111402" y="476324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초과·미만: 기준 수는 빠져요</a:t>
            </a:r>
            <a:endParaRPr lang="ko-KR" sz="4000" dirty="0"/>
          </a:p>
        </p:txBody>
      </p:sp>
      <p:sp>
        <p:nvSpPr>
          <p:cNvPr id="3" name="S06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5가 들어가지 않으면 빈 동그라미(○)로 그려요.</a:t>
            </a:r>
            <a:endParaRPr lang="ko-KR" sz="2800" dirty="0"/>
          </a:p>
        </p:txBody>
      </p:sp>
      <p:sp>
        <p:nvSpPr>
          <p:cNvPr id="4" name="S06-card8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9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초과·미만에는 기준 수가 들어가지 않아요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초과에도, 5 미만에도 5는 없어요.</a:t>
            </a:r>
            <a:endParaRPr lang="ko-KR" sz="2800" dirty="0"/>
          </a:p>
        </p:txBody>
      </p:sp>
      <p:sp>
        <p:nvSpPr>
          <p:cNvPr id="6" name="S06-figure91" descr="0부터 10까지 수직선: 5에 빈 동그라미(○), 5부터 오른쪽으로 굵은 선"/>
          <p:cNvSpPr/>
          <p:nvPr/>
        </p:nvSpPr>
        <p:spPr>
          <a:xfrm>
            <a:off x="3127114" y="2963286"/>
            <a:ext cx="228867" cy="228867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7" name="S06-mark92"/>
          <p:cNvSpPr/>
          <p:nvPr/>
        </p:nvSpPr>
        <p:spPr>
          <a:xfrm>
            <a:off x="632460" y="3077719"/>
            <a:ext cx="249465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8" name="S06-mark93"/>
          <p:cNvSpPr/>
          <p:nvPr/>
        </p:nvSpPr>
        <p:spPr>
          <a:xfrm>
            <a:off x="3355982" y="3077719"/>
            <a:ext cx="249465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9" name="S06-mark94"/>
          <p:cNvSpPr/>
          <p:nvPr/>
        </p:nvSpPr>
        <p:spPr>
          <a:xfrm>
            <a:off x="952874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6-mark95"/>
          <p:cNvSpPr/>
          <p:nvPr/>
        </p:nvSpPr>
        <p:spPr>
          <a:xfrm>
            <a:off x="1410609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6-mark96"/>
          <p:cNvSpPr/>
          <p:nvPr/>
        </p:nvSpPr>
        <p:spPr>
          <a:xfrm>
            <a:off x="1868344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6-mark97"/>
          <p:cNvSpPr/>
          <p:nvPr/>
        </p:nvSpPr>
        <p:spPr>
          <a:xfrm>
            <a:off x="2326079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6-mark98"/>
          <p:cNvSpPr/>
          <p:nvPr/>
        </p:nvSpPr>
        <p:spPr>
          <a:xfrm>
            <a:off x="2783813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6-mark99"/>
          <p:cNvSpPr/>
          <p:nvPr/>
        </p:nvSpPr>
        <p:spPr>
          <a:xfrm>
            <a:off x="3699283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6-mark100"/>
          <p:cNvSpPr/>
          <p:nvPr/>
        </p:nvSpPr>
        <p:spPr>
          <a:xfrm>
            <a:off x="4157017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6-mark101"/>
          <p:cNvSpPr/>
          <p:nvPr/>
        </p:nvSpPr>
        <p:spPr>
          <a:xfrm>
            <a:off x="4614752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mark102"/>
          <p:cNvSpPr/>
          <p:nvPr/>
        </p:nvSpPr>
        <p:spPr>
          <a:xfrm>
            <a:off x="5072487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6-mark103"/>
          <p:cNvSpPr/>
          <p:nvPr/>
        </p:nvSpPr>
        <p:spPr>
          <a:xfrm>
            <a:off x="5530222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6-mark104"/>
          <p:cNvSpPr/>
          <p:nvPr/>
        </p:nvSpPr>
        <p:spPr>
          <a:xfrm>
            <a:off x="3355982" y="3077719"/>
            <a:ext cx="2425994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20" name="S06-label106"/>
          <p:cNvSpPr txBox="1"/>
          <p:nvPr/>
        </p:nvSpPr>
        <p:spPr>
          <a:xfrm>
            <a:off x="805808" y="323266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21" name="S06-label108"/>
          <p:cNvSpPr txBox="1"/>
          <p:nvPr/>
        </p:nvSpPr>
        <p:spPr>
          <a:xfrm>
            <a:off x="3094482" y="323266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" name="S06-label110"/>
          <p:cNvSpPr txBox="1"/>
          <p:nvPr/>
        </p:nvSpPr>
        <p:spPr>
          <a:xfrm>
            <a:off x="5290954" y="323266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3" name="S06-label111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초과: 5보다 큰 수</a:t>
            </a:r>
            <a:endParaRPr lang="ko-KR" sz="2200" dirty="0"/>
          </a:p>
        </p:txBody>
      </p:sp>
      <p:sp>
        <p:nvSpPr>
          <p:cNvPr id="24" name="S06-figure112" descr="0부터 10까지 수직선: 5에 빈 동그라미(○), 5부터 왼쪽으로 굵은 선"/>
          <p:cNvSpPr/>
          <p:nvPr/>
        </p:nvSpPr>
        <p:spPr>
          <a:xfrm>
            <a:off x="8832970" y="2963286"/>
            <a:ext cx="228867" cy="228867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25" name="S06-mark113"/>
          <p:cNvSpPr/>
          <p:nvPr/>
        </p:nvSpPr>
        <p:spPr>
          <a:xfrm>
            <a:off x="6338316" y="3077719"/>
            <a:ext cx="249465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26" name="S06-mark114"/>
          <p:cNvSpPr/>
          <p:nvPr/>
        </p:nvSpPr>
        <p:spPr>
          <a:xfrm>
            <a:off x="9061838" y="3077719"/>
            <a:ext cx="249465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7" name="S06-mark115"/>
          <p:cNvSpPr/>
          <p:nvPr/>
        </p:nvSpPr>
        <p:spPr>
          <a:xfrm>
            <a:off x="6658730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6-mark116"/>
          <p:cNvSpPr/>
          <p:nvPr/>
        </p:nvSpPr>
        <p:spPr>
          <a:xfrm>
            <a:off x="7116465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6-mark117"/>
          <p:cNvSpPr/>
          <p:nvPr/>
        </p:nvSpPr>
        <p:spPr>
          <a:xfrm>
            <a:off x="7574200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6-mark118"/>
          <p:cNvSpPr/>
          <p:nvPr/>
        </p:nvSpPr>
        <p:spPr>
          <a:xfrm>
            <a:off x="8031935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6-mark119"/>
          <p:cNvSpPr/>
          <p:nvPr/>
        </p:nvSpPr>
        <p:spPr>
          <a:xfrm>
            <a:off x="8489669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6-mark120"/>
          <p:cNvSpPr/>
          <p:nvPr/>
        </p:nvSpPr>
        <p:spPr>
          <a:xfrm>
            <a:off x="9405139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6-mark121"/>
          <p:cNvSpPr/>
          <p:nvPr/>
        </p:nvSpPr>
        <p:spPr>
          <a:xfrm>
            <a:off x="9862873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6-mark122"/>
          <p:cNvSpPr/>
          <p:nvPr/>
        </p:nvSpPr>
        <p:spPr>
          <a:xfrm>
            <a:off x="10320608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6-mark123"/>
          <p:cNvSpPr/>
          <p:nvPr/>
        </p:nvSpPr>
        <p:spPr>
          <a:xfrm>
            <a:off x="10778343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6-mark124"/>
          <p:cNvSpPr/>
          <p:nvPr/>
        </p:nvSpPr>
        <p:spPr>
          <a:xfrm>
            <a:off x="11236078" y="3004482"/>
            <a:ext cx="0" cy="146475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6-mark125"/>
          <p:cNvSpPr/>
          <p:nvPr/>
        </p:nvSpPr>
        <p:spPr>
          <a:xfrm>
            <a:off x="6406976" y="3077719"/>
            <a:ext cx="2425994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38" name="S06-label127"/>
          <p:cNvSpPr txBox="1"/>
          <p:nvPr/>
        </p:nvSpPr>
        <p:spPr>
          <a:xfrm>
            <a:off x="6511664" y="323266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39" name="S06-label129"/>
          <p:cNvSpPr txBox="1"/>
          <p:nvPr/>
        </p:nvSpPr>
        <p:spPr>
          <a:xfrm>
            <a:off x="8800338" y="3232663"/>
            <a:ext cx="29413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40" name="S06-label131"/>
          <p:cNvSpPr txBox="1"/>
          <p:nvPr/>
        </p:nvSpPr>
        <p:spPr>
          <a:xfrm>
            <a:off x="10996810" y="323266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41" name="S06-label132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미만: 5보다 작은 수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말 정리하기</a:t>
            </a:r>
            <a:endParaRPr lang="ko-KR" sz="4000" dirty="0"/>
          </a:p>
        </p:txBody>
      </p:sp>
      <p:sp>
        <p:nvSpPr>
          <p:cNvPr id="3" name="S07-text13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수가 들어가는지, 어느 쪽인지 봐요.</a:t>
            </a:r>
            <a:endParaRPr lang="ko-KR" sz="2800" dirty="0"/>
          </a:p>
        </p:txBody>
      </p:sp>
      <p:sp>
        <p:nvSpPr>
          <p:cNvPr id="4" name="S07-card134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35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이상·이하는 ●, 초과·미만은 ○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이상·초과는 오른쪽, 이하·미만은 왼쪽으로 칠해요.</a:t>
            </a:r>
            <a:endParaRPr lang="ko-KR" sz="2800" dirty="0"/>
          </a:p>
        </p:txBody>
      </p:sp>
      <p:graphicFrame>
        <p:nvGraphicFramePr>
          <p:cNvPr id="8" name="S07-table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05356" y="2583688"/>
          <a:ext cx="8778240" cy="914400"/>
        </p:xfrm>
        <a:graphic>
          <a:graphicData uri="http://schemas.openxmlformats.org/drawingml/2006/table">
            <a:tbl>
              <a:tblPr/>
              <a:tblGrid>
                <a:gridCol w="2106778"/>
                <a:gridCol w="3335731"/>
                <a:gridCol w="3335731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기준 수 넣기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기준 수 빼기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큰 쪽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이상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쪽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조건을 함께 써요</a:t>
            </a:r>
            <a:endParaRPr lang="ko-KR" sz="4000" dirty="0"/>
          </a:p>
        </p:txBody>
      </p:sp>
      <p:sp>
        <p:nvSpPr>
          <p:cNvPr id="3" name="S08-card1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130은 들어가고 140은 빠져요.</a:t>
            </a:r>
            <a:endParaRPr lang="ko-KR" sz="2800" dirty="0"/>
          </a:p>
        </p:txBody>
      </p:sp>
      <p:sp>
        <p:nvSpPr>
          <p:cNvPr id="5" name="S08-text139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범퍼카 어린이 칸: 키 130 cm 이상 140 cm 미만</a:t>
            </a:r>
            <a:endParaRPr lang="ko-KR" sz="2800" dirty="0"/>
          </a:p>
        </p:txBody>
      </p:sp>
      <p:sp>
        <p:nvSpPr>
          <p:cNvPr id="6" name="S08-figure140" descr="128부터 142까지 수직선: 130에 ●, 140에 ○, 그 사이를 굵은 선으로 칠함"/>
          <p:cNvSpPr/>
          <p:nvPr/>
        </p:nvSpPr>
        <p:spPr>
          <a:xfrm>
            <a:off x="7239432" y="3554095"/>
            <a:ext cx="346354" cy="346354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7" name="S08-mark141"/>
          <p:cNvSpPr/>
          <p:nvPr/>
        </p:nvSpPr>
        <p:spPr>
          <a:xfrm>
            <a:off x="10331882" y="3554095"/>
            <a:ext cx="346354" cy="346354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8" name="S08-mark142"/>
          <p:cNvSpPr/>
          <p:nvPr/>
        </p:nvSpPr>
        <p:spPr>
          <a:xfrm>
            <a:off x="6361176" y="3727272"/>
            <a:ext cx="397070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9" name="S08-mark143"/>
          <p:cNvSpPr/>
          <p:nvPr/>
        </p:nvSpPr>
        <p:spPr>
          <a:xfrm>
            <a:off x="10678236" y="3727272"/>
            <a:ext cx="87825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0" name="S08-mark144"/>
          <p:cNvSpPr/>
          <p:nvPr/>
        </p:nvSpPr>
        <p:spPr>
          <a:xfrm>
            <a:off x="679411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8-mark145"/>
          <p:cNvSpPr/>
          <p:nvPr/>
        </p:nvSpPr>
        <p:spPr>
          <a:xfrm>
            <a:off x="803109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mark146"/>
          <p:cNvSpPr/>
          <p:nvPr/>
        </p:nvSpPr>
        <p:spPr>
          <a:xfrm>
            <a:off x="864958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8-mark147"/>
          <p:cNvSpPr/>
          <p:nvPr/>
        </p:nvSpPr>
        <p:spPr>
          <a:xfrm>
            <a:off x="926807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8-mark148"/>
          <p:cNvSpPr/>
          <p:nvPr/>
        </p:nvSpPr>
        <p:spPr>
          <a:xfrm>
            <a:off x="988656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8-mark149"/>
          <p:cNvSpPr/>
          <p:nvPr/>
        </p:nvSpPr>
        <p:spPr>
          <a:xfrm>
            <a:off x="11123549" y="3628314"/>
            <a:ext cx="0" cy="197917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8-mark150"/>
          <p:cNvSpPr/>
          <p:nvPr/>
        </p:nvSpPr>
        <p:spPr>
          <a:xfrm>
            <a:off x="7412609" y="3727272"/>
            <a:ext cx="2919273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17" name="S08-label152"/>
          <p:cNvSpPr txBox="1"/>
          <p:nvPr/>
        </p:nvSpPr>
        <p:spPr>
          <a:xfrm>
            <a:off x="7081139" y="3997960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</a:t>
            </a:r>
            <a:endParaRPr lang="ko-KR" sz="2200" dirty="0"/>
          </a:p>
        </p:txBody>
      </p:sp>
      <p:sp>
        <p:nvSpPr>
          <p:cNvPr id="18" name="S08-label154"/>
          <p:cNvSpPr txBox="1"/>
          <p:nvPr/>
        </p:nvSpPr>
        <p:spPr>
          <a:xfrm>
            <a:off x="10173589" y="3997960"/>
            <a:ext cx="6629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</a:t>
            </a:r>
            <a:endParaRPr lang="ko-KR" sz="2200" dirty="0"/>
          </a:p>
        </p:txBody>
      </p:sp>
      <p:sp>
        <p:nvSpPr>
          <p:cNvPr id="19" name="S08-stepno155"/>
          <p:cNvSpPr txBox="1"/>
          <p:nvPr/>
        </p:nvSpPr>
        <p:spPr>
          <a:xfrm>
            <a:off x="548640" y="2721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20" name="S08-text156"/>
          <p:cNvSpPr txBox="1"/>
          <p:nvPr/>
        </p:nvSpPr>
        <p:spPr>
          <a:xfrm>
            <a:off x="1325880" y="2676144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130 이상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130에 ●를 그려요.</a:t>
            </a:r>
            <a:endParaRPr lang="ko-KR" sz="2200" dirty="0"/>
          </a:p>
        </p:txBody>
      </p:sp>
      <p:sp>
        <p:nvSpPr>
          <p:cNvPr id="21" name="S08-stepno157"/>
          <p:cNvSpPr txBox="1"/>
          <p:nvPr/>
        </p:nvSpPr>
        <p:spPr>
          <a:xfrm>
            <a:off x="548640" y="35681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2" name="S08-text158"/>
          <p:cNvSpPr txBox="1"/>
          <p:nvPr/>
        </p:nvSpPr>
        <p:spPr>
          <a:xfrm>
            <a:off x="1325880" y="3522472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140 미만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140에 ○를 그려요.</a:t>
            </a:r>
            <a:endParaRPr lang="ko-KR" sz="2200" dirty="0"/>
          </a:p>
        </p:txBody>
      </p:sp>
      <p:sp>
        <p:nvSpPr>
          <p:cNvPr id="23" name="S08-stepno159"/>
          <p:cNvSpPr txBox="1"/>
          <p:nvPr/>
        </p:nvSpPr>
        <p:spPr>
          <a:xfrm>
            <a:off x="548640" y="44145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4" name="S08-text160"/>
          <p:cNvSpPr txBox="1"/>
          <p:nvPr/>
        </p:nvSpPr>
        <p:spPr>
          <a:xfrm>
            <a:off x="1325880" y="4368800"/>
            <a:ext cx="4585716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점 사이를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굵게 칠해요.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요금표 읽기</a:t>
            </a:r>
            <a:endParaRPr lang="ko-KR" sz="4000" dirty="0"/>
          </a:p>
        </p:txBody>
      </p:sp>
      <p:sp>
        <p:nvSpPr>
          <p:cNvPr id="3" name="S09-text1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수영장 요금표를 보고 요금을 말해요.</a:t>
            </a:r>
            <a:endParaRPr lang="ko-KR" sz="2800" dirty="0"/>
          </a:p>
        </p:txBody>
      </p:sp>
      <p:graphicFrame>
        <p:nvGraphicFramePr>
          <p:cNvPr id="10" name="S09-table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7074" y="3032125"/>
          <a:ext cx="5303520" cy="914400"/>
        </p:xfrm>
        <a:graphic>
          <a:graphicData uri="http://schemas.openxmlformats.org/drawingml/2006/table">
            <a:tbl>
              <a:tblPr/>
              <a:tblGrid>
                <a:gridCol w="3394253"/>
                <a:gridCol w="1909267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나이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7세 이하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8세 이상 13세 이하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13세 초과 65세 미만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65세 이상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2000원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9-chip16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164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7세</a:t>
            </a:r>
            <a:endParaRPr lang="ko-KR" sz="2800" dirty="0"/>
          </a:p>
        </p:txBody>
      </p:sp>
      <p:sp>
        <p:nvSpPr>
          <p:cNvPr id="7" name="S09-chip16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166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13세</a:t>
            </a:r>
            <a:endParaRPr lang="ko-KR" sz="2800" dirty="0"/>
          </a:p>
        </p:txBody>
      </p:sp>
      <p:sp>
        <p:nvSpPr>
          <p:cNvPr id="9" name="S09-chip1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16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14세</a:t>
            </a:r>
            <a:endParaRPr lang="ko-KR" sz="2800" dirty="0"/>
          </a:p>
        </p:txBody>
      </p:sp>
      <p:sp>
        <p:nvSpPr>
          <p:cNvPr id="11" name="S09-chip169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2" name="S09-text170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65세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맞게 그렸을까요?</a:t>
            </a:r>
            <a:endParaRPr lang="ko-KR" sz="4000" dirty="0"/>
          </a:p>
        </p:txBody>
      </p:sp>
      <p:sp>
        <p:nvSpPr>
          <p:cNvPr id="3" name="S10-card17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7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‘20 미만’을 수직선에 나타냈어요.</a:t>
            </a:r>
            <a:endParaRPr lang="ko-KR" sz="2800" dirty="0"/>
          </a:p>
        </p:txBody>
      </p:sp>
      <p:sp>
        <p:nvSpPr>
          <p:cNvPr id="5" name="S10-card1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20은 ‘20 미만’에 들어갈까요?</a:t>
            </a:r>
            <a:endParaRPr lang="ko-KR" sz="2800" dirty="0"/>
          </a:p>
        </p:txBody>
      </p:sp>
      <p:sp>
        <p:nvSpPr>
          <p:cNvPr id="7" name="S10-chip17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2200" dirty="0"/>
          </a:p>
        </p:txBody>
      </p:sp>
      <p:sp>
        <p:nvSpPr>
          <p:cNvPr id="8" name="S10-figure176" descr="하늘의 수직선: 20에 ●, 왼쪽으로 굵은 선"/>
          <p:cNvSpPr/>
          <p:nvPr/>
        </p:nvSpPr>
        <p:spPr>
          <a:xfrm>
            <a:off x="3116186" y="3700477"/>
            <a:ext cx="227865" cy="227865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9" name="S10-mark177"/>
          <p:cNvSpPr/>
          <p:nvPr/>
        </p:nvSpPr>
        <p:spPr>
          <a:xfrm>
            <a:off x="632460" y="3814410"/>
            <a:ext cx="519531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S10-mark178"/>
          <p:cNvSpPr/>
          <p:nvPr/>
        </p:nvSpPr>
        <p:spPr>
          <a:xfrm>
            <a:off x="951471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0-mark179"/>
          <p:cNvSpPr/>
          <p:nvPr/>
        </p:nvSpPr>
        <p:spPr>
          <a:xfrm>
            <a:off x="1407200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0-mark180"/>
          <p:cNvSpPr/>
          <p:nvPr/>
        </p:nvSpPr>
        <p:spPr>
          <a:xfrm>
            <a:off x="1862930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0-mark181"/>
          <p:cNvSpPr/>
          <p:nvPr/>
        </p:nvSpPr>
        <p:spPr>
          <a:xfrm>
            <a:off x="2318659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0-mark182"/>
          <p:cNvSpPr/>
          <p:nvPr/>
        </p:nvSpPr>
        <p:spPr>
          <a:xfrm>
            <a:off x="2774389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0-mark183"/>
          <p:cNvSpPr/>
          <p:nvPr/>
        </p:nvSpPr>
        <p:spPr>
          <a:xfrm>
            <a:off x="3685847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0-mark184"/>
          <p:cNvSpPr/>
          <p:nvPr/>
        </p:nvSpPr>
        <p:spPr>
          <a:xfrm>
            <a:off x="4141577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0-mark185"/>
          <p:cNvSpPr/>
          <p:nvPr/>
        </p:nvSpPr>
        <p:spPr>
          <a:xfrm>
            <a:off x="4597306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0-mark186"/>
          <p:cNvSpPr/>
          <p:nvPr/>
        </p:nvSpPr>
        <p:spPr>
          <a:xfrm>
            <a:off x="5053036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0-mark187"/>
          <p:cNvSpPr/>
          <p:nvPr/>
        </p:nvSpPr>
        <p:spPr>
          <a:xfrm>
            <a:off x="5508765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0-mark188"/>
          <p:cNvSpPr/>
          <p:nvPr/>
        </p:nvSpPr>
        <p:spPr>
          <a:xfrm>
            <a:off x="700819" y="3814410"/>
            <a:ext cx="2529299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21" name="S10-label190"/>
          <p:cNvSpPr txBox="1"/>
          <p:nvPr/>
        </p:nvSpPr>
        <p:spPr>
          <a:xfrm>
            <a:off x="712203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200" dirty="0"/>
          </a:p>
        </p:txBody>
      </p:sp>
      <p:sp>
        <p:nvSpPr>
          <p:cNvPr id="22" name="S10-label192"/>
          <p:cNvSpPr txBox="1"/>
          <p:nvPr/>
        </p:nvSpPr>
        <p:spPr>
          <a:xfrm>
            <a:off x="2990850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23" name="S10-label194"/>
          <p:cNvSpPr txBox="1"/>
          <p:nvPr/>
        </p:nvSpPr>
        <p:spPr>
          <a:xfrm>
            <a:off x="5269497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200" dirty="0"/>
          </a:p>
        </p:txBody>
      </p:sp>
      <p:sp>
        <p:nvSpPr>
          <p:cNvPr id="24" name="S10-text195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20에 ●를 그렸어요.</a:t>
            </a:r>
            <a:endParaRPr lang="ko-KR" sz="2200" dirty="0"/>
          </a:p>
        </p:txBody>
      </p:sp>
      <p:sp>
        <p:nvSpPr>
          <p:cNvPr id="25" name="S10-chip19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26" name="S10-figure197" descr="바다의 수직선: 20에 ○, 왼쪽으로 굵은 선"/>
          <p:cNvSpPr/>
          <p:nvPr/>
        </p:nvSpPr>
        <p:spPr>
          <a:xfrm>
            <a:off x="8844902" y="3700477"/>
            <a:ext cx="227865" cy="227865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27" name="S10-mark198"/>
          <p:cNvSpPr/>
          <p:nvPr/>
        </p:nvSpPr>
        <p:spPr>
          <a:xfrm>
            <a:off x="6361176" y="3814410"/>
            <a:ext cx="24837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28" name="S10-mark199"/>
          <p:cNvSpPr/>
          <p:nvPr/>
        </p:nvSpPr>
        <p:spPr>
          <a:xfrm>
            <a:off x="9072766" y="3814410"/>
            <a:ext cx="248372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9" name="S10-mark200"/>
          <p:cNvSpPr/>
          <p:nvPr/>
        </p:nvSpPr>
        <p:spPr>
          <a:xfrm>
            <a:off x="6680187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0-mark201"/>
          <p:cNvSpPr/>
          <p:nvPr/>
        </p:nvSpPr>
        <p:spPr>
          <a:xfrm>
            <a:off x="7135916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10-mark202"/>
          <p:cNvSpPr/>
          <p:nvPr/>
        </p:nvSpPr>
        <p:spPr>
          <a:xfrm>
            <a:off x="7591646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10-mark203"/>
          <p:cNvSpPr/>
          <p:nvPr/>
        </p:nvSpPr>
        <p:spPr>
          <a:xfrm>
            <a:off x="8047375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10-mark204"/>
          <p:cNvSpPr/>
          <p:nvPr/>
        </p:nvSpPr>
        <p:spPr>
          <a:xfrm>
            <a:off x="8503105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0-mark205"/>
          <p:cNvSpPr/>
          <p:nvPr/>
        </p:nvSpPr>
        <p:spPr>
          <a:xfrm>
            <a:off x="9414563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10-mark206"/>
          <p:cNvSpPr/>
          <p:nvPr/>
        </p:nvSpPr>
        <p:spPr>
          <a:xfrm>
            <a:off x="9870293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0-mark207"/>
          <p:cNvSpPr/>
          <p:nvPr/>
        </p:nvSpPr>
        <p:spPr>
          <a:xfrm>
            <a:off x="10326022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10-mark208"/>
          <p:cNvSpPr/>
          <p:nvPr/>
        </p:nvSpPr>
        <p:spPr>
          <a:xfrm>
            <a:off x="10781752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0-mark209"/>
          <p:cNvSpPr/>
          <p:nvPr/>
        </p:nvSpPr>
        <p:spPr>
          <a:xfrm>
            <a:off x="11237481" y="3741493"/>
            <a:ext cx="0" cy="145833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10-mark210"/>
          <p:cNvSpPr/>
          <p:nvPr/>
        </p:nvSpPr>
        <p:spPr>
          <a:xfrm>
            <a:off x="6429535" y="3814410"/>
            <a:ext cx="2415366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40" name="S10-label212"/>
          <p:cNvSpPr txBox="1"/>
          <p:nvPr/>
        </p:nvSpPr>
        <p:spPr>
          <a:xfrm>
            <a:off x="6440919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200" dirty="0"/>
          </a:p>
        </p:txBody>
      </p:sp>
      <p:sp>
        <p:nvSpPr>
          <p:cNvPr id="41" name="S10-label214"/>
          <p:cNvSpPr txBox="1"/>
          <p:nvPr/>
        </p:nvSpPr>
        <p:spPr>
          <a:xfrm>
            <a:off x="8719566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200" dirty="0"/>
          </a:p>
        </p:txBody>
      </p:sp>
      <p:sp>
        <p:nvSpPr>
          <p:cNvPr id="42" name="S10-label216"/>
          <p:cNvSpPr txBox="1"/>
          <p:nvPr/>
        </p:nvSpPr>
        <p:spPr>
          <a:xfrm>
            <a:off x="10998213" y="3967910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200" dirty="0"/>
          </a:p>
        </p:txBody>
      </p:sp>
      <p:sp>
        <p:nvSpPr>
          <p:cNvPr id="43" name="S10-text217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20에 ○를 그렸어요.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까닭도 말해요.</a:t>
            </a:r>
            <a:endParaRPr lang="ko-KR" sz="2800" dirty="0"/>
          </a:p>
        </p:txBody>
      </p:sp>
      <p:sp>
        <p:nvSpPr>
          <p:cNvPr id="4" name="S11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1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수직선이 나타내는 범위를 두 가지 말로 써요.</a:t>
            </a:r>
            <a:endParaRPr lang="ko-KR" sz="2800" dirty="0"/>
          </a:p>
        </p:txBody>
      </p:sp>
      <p:sp>
        <p:nvSpPr>
          <p:cNvPr id="6" name="S11-chip22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1-text22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이상 30 미만인 수를 모두 골라요.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24,  25,  27.5,  30,  31</a:t>
            </a:r>
            <a:endParaRPr lang="ko-KR" sz="2800" dirty="0"/>
          </a:p>
        </p:txBody>
      </p:sp>
      <p:sp>
        <p:nvSpPr>
          <p:cNvPr id="8" name="S11-chip22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1-figure224" descr="38부터 47까지 수직선: 40에 ○, 45에 ●, 그 사이를 굵은 선으로 칠함"/>
          <p:cNvSpPr/>
          <p:nvPr/>
        </p:nvSpPr>
        <p:spPr>
          <a:xfrm>
            <a:off x="2680965" y="3318122"/>
            <a:ext cx="255710" cy="255710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10" name="S11-mark225"/>
          <p:cNvSpPr/>
          <p:nvPr/>
        </p:nvSpPr>
        <p:spPr>
          <a:xfrm>
            <a:off x="5238061" y="3318122"/>
            <a:ext cx="255710" cy="255710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11" name="S11-mark226"/>
          <p:cNvSpPr/>
          <p:nvPr/>
        </p:nvSpPr>
        <p:spPr>
          <a:xfrm>
            <a:off x="1427988" y="3445976"/>
            <a:ext cx="1252977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12" name="S11-mark227"/>
          <p:cNvSpPr/>
          <p:nvPr/>
        </p:nvSpPr>
        <p:spPr>
          <a:xfrm>
            <a:off x="2936675" y="3445976"/>
            <a:ext cx="3810073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13" name="S11-mark228"/>
          <p:cNvSpPr/>
          <p:nvPr/>
        </p:nvSpPr>
        <p:spPr>
          <a:xfrm>
            <a:off x="1785981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1-mark229"/>
          <p:cNvSpPr/>
          <p:nvPr/>
        </p:nvSpPr>
        <p:spPr>
          <a:xfrm>
            <a:off x="2297401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1-mark230"/>
          <p:cNvSpPr/>
          <p:nvPr/>
        </p:nvSpPr>
        <p:spPr>
          <a:xfrm>
            <a:off x="3320239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1-mark231"/>
          <p:cNvSpPr/>
          <p:nvPr/>
        </p:nvSpPr>
        <p:spPr>
          <a:xfrm>
            <a:off x="3831658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11-mark232"/>
          <p:cNvSpPr/>
          <p:nvPr/>
        </p:nvSpPr>
        <p:spPr>
          <a:xfrm>
            <a:off x="4343078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1-mark233"/>
          <p:cNvSpPr/>
          <p:nvPr/>
        </p:nvSpPr>
        <p:spPr>
          <a:xfrm>
            <a:off x="4854497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1-mark234"/>
          <p:cNvSpPr/>
          <p:nvPr/>
        </p:nvSpPr>
        <p:spPr>
          <a:xfrm>
            <a:off x="5877335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1-mark235"/>
          <p:cNvSpPr/>
          <p:nvPr/>
        </p:nvSpPr>
        <p:spPr>
          <a:xfrm>
            <a:off x="6388755" y="3364149"/>
            <a:ext cx="0" cy="16365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1-mark236"/>
          <p:cNvSpPr/>
          <p:nvPr/>
        </p:nvSpPr>
        <p:spPr>
          <a:xfrm>
            <a:off x="2936675" y="3445976"/>
            <a:ext cx="2429241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22" name="S11-label238"/>
          <p:cNvSpPr txBox="1"/>
          <p:nvPr/>
        </p:nvSpPr>
        <p:spPr>
          <a:xfrm>
            <a:off x="1546713" y="363957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ko-KR" sz="2200" dirty="0"/>
          </a:p>
        </p:txBody>
      </p:sp>
      <p:sp>
        <p:nvSpPr>
          <p:cNvPr id="23" name="S11-label240"/>
          <p:cNvSpPr txBox="1"/>
          <p:nvPr/>
        </p:nvSpPr>
        <p:spPr>
          <a:xfrm>
            <a:off x="2569552" y="363957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ko-KR" sz="2200" dirty="0"/>
          </a:p>
        </p:txBody>
      </p:sp>
      <p:sp>
        <p:nvSpPr>
          <p:cNvPr id="24" name="S11-label242"/>
          <p:cNvSpPr txBox="1"/>
          <p:nvPr/>
        </p:nvSpPr>
        <p:spPr>
          <a:xfrm>
            <a:off x="5126648" y="3639573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2200" dirty="0"/>
          </a:p>
        </p:txBody>
      </p:sp>
      <p:sp>
        <p:nvSpPr>
          <p:cNvPr id="25" name="S11-chip24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6" name="S11-text24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 120 cm 이상 150 cm 미만만 탈 수 있어요.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150 cm인 하늘이는 탈 수 있을까요?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나타낸 수직선은?</a:t>
            </a:r>
            <a:endParaRPr lang="ko-KR" sz="4000" dirty="0"/>
          </a:p>
        </p:txBody>
      </p:sp>
      <p:sp>
        <p:nvSpPr>
          <p:cNvPr id="3" name="S13-text2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‘50 이상 60 미만’을 나타낸 수직선을 골라요.</a:t>
            </a:r>
            <a:endParaRPr lang="ko-KR" sz="2800" dirty="0"/>
          </a:p>
        </p:txBody>
      </p:sp>
      <p:sp>
        <p:nvSpPr>
          <p:cNvPr id="4" name="S13-card2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●와 ○로 말해요.</a:t>
            </a:r>
            <a:endParaRPr lang="ko-KR" sz="2800" dirty="0"/>
          </a:p>
        </p:txBody>
      </p:sp>
      <p:sp>
        <p:nvSpPr>
          <p:cNvPr id="6" name="S13-chip24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figure249" descr="가: 50에 ●, 60에 ●"/>
          <p:cNvSpPr/>
          <p:nvPr/>
        </p:nvSpPr>
        <p:spPr>
          <a:xfrm>
            <a:off x="2171762" y="2458448"/>
            <a:ext cx="293319" cy="293319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8" name="S13-mark250"/>
          <p:cNvSpPr/>
          <p:nvPr/>
        </p:nvSpPr>
        <p:spPr>
          <a:xfrm>
            <a:off x="4790683" y="2458448"/>
            <a:ext cx="293319" cy="293319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9" name="S13-mark251"/>
          <p:cNvSpPr/>
          <p:nvPr/>
        </p:nvSpPr>
        <p:spPr>
          <a:xfrm>
            <a:off x="1427988" y="2605107"/>
            <a:ext cx="4399788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0" name="S13-mark252"/>
          <p:cNvSpPr/>
          <p:nvPr/>
        </p:nvSpPr>
        <p:spPr>
          <a:xfrm>
            <a:off x="1794637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13-mark253"/>
          <p:cNvSpPr/>
          <p:nvPr/>
        </p:nvSpPr>
        <p:spPr>
          <a:xfrm>
            <a:off x="2842206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3-mark254"/>
          <p:cNvSpPr/>
          <p:nvPr/>
        </p:nvSpPr>
        <p:spPr>
          <a:xfrm>
            <a:off x="3365990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3-mark255"/>
          <p:cNvSpPr/>
          <p:nvPr/>
        </p:nvSpPr>
        <p:spPr>
          <a:xfrm>
            <a:off x="3889774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3-mark256"/>
          <p:cNvSpPr/>
          <p:nvPr/>
        </p:nvSpPr>
        <p:spPr>
          <a:xfrm>
            <a:off x="4413558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3-mark257"/>
          <p:cNvSpPr/>
          <p:nvPr/>
        </p:nvSpPr>
        <p:spPr>
          <a:xfrm>
            <a:off x="5461127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3-mark258"/>
          <p:cNvSpPr/>
          <p:nvPr/>
        </p:nvSpPr>
        <p:spPr>
          <a:xfrm>
            <a:off x="2318421" y="2605107"/>
            <a:ext cx="2618921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17" name="S13-label260"/>
          <p:cNvSpPr txBox="1"/>
          <p:nvPr/>
        </p:nvSpPr>
        <p:spPr>
          <a:xfrm>
            <a:off x="2079153" y="280760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18" name="S13-label262"/>
          <p:cNvSpPr txBox="1"/>
          <p:nvPr/>
        </p:nvSpPr>
        <p:spPr>
          <a:xfrm>
            <a:off x="4698075" y="280760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19" name="S13-chip26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0" name="S13-figure264" descr="나: 50에 ○, 60에 ○"/>
          <p:cNvSpPr/>
          <p:nvPr/>
        </p:nvSpPr>
        <p:spPr>
          <a:xfrm>
            <a:off x="7900478" y="2458448"/>
            <a:ext cx="293319" cy="293319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21" name="S13-mark265"/>
          <p:cNvSpPr/>
          <p:nvPr/>
        </p:nvSpPr>
        <p:spPr>
          <a:xfrm>
            <a:off x="10519399" y="2458448"/>
            <a:ext cx="293319" cy="293319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22" name="S13-mark266"/>
          <p:cNvSpPr/>
          <p:nvPr/>
        </p:nvSpPr>
        <p:spPr>
          <a:xfrm>
            <a:off x="7156704" y="2605107"/>
            <a:ext cx="7437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23" name="S13-mark267"/>
          <p:cNvSpPr/>
          <p:nvPr/>
        </p:nvSpPr>
        <p:spPr>
          <a:xfrm>
            <a:off x="8193797" y="2605107"/>
            <a:ext cx="232560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13-mark268"/>
          <p:cNvSpPr/>
          <p:nvPr/>
        </p:nvSpPr>
        <p:spPr>
          <a:xfrm>
            <a:off x="10812718" y="2605107"/>
            <a:ext cx="7437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5" name="S13-mark269"/>
          <p:cNvSpPr/>
          <p:nvPr/>
        </p:nvSpPr>
        <p:spPr>
          <a:xfrm>
            <a:off x="7523353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3-mark270"/>
          <p:cNvSpPr/>
          <p:nvPr/>
        </p:nvSpPr>
        <p:spPr>
          <a:xfrm>
            <a:off x="8570922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3-mark271"/>
          <p:cNvSpPr/>
          <p:nvPr/>
        </p:nvSpPr>
        <p:spPr>
          <a:xfrm>
            <a:off x="9094706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3-mark272"/>
          <p:cNvSpPr/>
          <p:nvPr/>
        </p:nvSpPr>
        <p:spPr>
          <a:xfrm>
            <a:off x="9618490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13-mark273"/>
          <p:cNvSpPr/>
          <p:nvPr/>
        </p:nvSpPr>
        <p:spPr>
          <a:xfrm>
            <a:off x="10142274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3-mark274"/>
          <p:cNvSpPr/>
          <p:nvPr/>
        </p:nvSpPr>
        <p:spPr>
          <a:xfrm>
            <a:off x="11189843" y="252130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13-mark275"/>
          <p:cNvSpPr/>
          <p:nvPr/>
        </p:nvSpPr>
        <p:spPr>
          <a:xfrm>
            <a:off x="8193797" y="2605107"/>
            <a:ext cx="2325602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32" name="S13-label277"/>
          <p:cNvSpPr txBox="1"/>
          <p:nvPr/>
        </p:nvSpPr>
        <p:spPr>
          <a:xfrm>
            <a:off x="7807869" y="280760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33" name="S13-label279"/>
          <p:cNvSpPr txBox="1"/>
          <p:nvPr/>
        </p:nvSpPr>
        <p:spPr>
          <a:xfrm>
            <a:off x="10426791" y="280760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34" name="S13-chip280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35" name="S13-figure281" descr="다: 50에 ●, 60에 ○"/>
          <p:cNvSpPr/>
          <p:nvPr/>
        </p:nvSpPr>
        <p:spPr>
          <a:xfrm>
            <a:off x="2171762" y="4150088"/>
            <a:ext cx="293319" cy="293319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36" name="S13-mark282"/>
          <p:cNvSpPr/>
          <p:nvPr/>
        </p:nvSpPr>
        <p:spPr>
          <a:xfrm>
            <a:off x="4790683" y="4150088"/>
            <a:ext cx="293319" cy="293319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37" name="S13-mark283"/>
          <p:cNvSpPr/>
          <p:nvPr/>
        </p:nvSpPr>
        <p:spPr>
          <a:xfrm>
            <a:off x="1427988" y="4296747"/>
            <a:ext cx="33626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38" name="S13-mark284"/>
          <p:cNvSpPr/>
          <p:nvPr/>
        </p:nvSpPr>
        <p:spPr>
          <a:xfrm>
            <a:off x="5084002" y="4296747"/>
            <a:ext cx="7437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39" name="S13-mark285"/>
          <p:cNvSpPr/>
          <p:nvPr/>
        </p:nvSpPr>
        <p:spPr>
          <a:xfrm>
            <a:off x="1794637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3-mark286"/>
          <p:cNvSpPr/>
          <p:nvPr/>
        </p:nvSpPr>
        <p:spPr>
          <a:xfrm>
            <a:off x="2842206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13-mark287"/>
          <p:cNvSpPr/>
          <p:nvPr/>
        </p:nvSpPr>
        <p:spPr>
          <a:xfrm>
            <a:off x="3365990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3-mark288"/>
          <p:cNvSpPr/>
          <p:nvPr/>
        </p:nvSpPr>
        <p:spPr>
          <a:xfrm>
            <a:off x="3889774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13-mark289"/>
          <p:cNvSpPr/>
          <p:nvPr/>
        </p:nvSpPr>
        <p:spPr>
          <a:xfrm>
            <a:off x="4413558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3-mark290"/>
          <p:cNvSpPr/>
          <p:nvPr/>
        </p:nvSpPr>
        <p:spPr>
          <a:xfrm>
            <a:off x="5461127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13-mark291"/>
          <p:cNvSpPr/>
          <p:nvPr/>
        </p:nvSpPr>
        <p:spPr>
          <a:xfrm>
            <a:off x="2318421" y="4296747"/>
            <a:ext cx="2472262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46" name="S13-label293"/>
          <p:cNvSpPr txBox="1"/>
          <p:nvPr/>
        </p:nvSpPr>
        <p:spPr>
          <a:xfrm>
            <a:off x="2079153" y="449924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47" name="S13-label295"/>
          <p:cNvSpPr txBox="1"/>
          <p:nvPr/>
        </p:nvSpPr>
        <p:spPr>
          <a:xfrm>
            <a:off x="4698075" y="449924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48" name="S13-chip296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49" name="S13-figure297" descr="라: 50에 ○, 60에 ●"/>
          <p:cNvSpPr/>
          <p:nvPr/>
        </p:nvSpPr>
        <p:spPr>
          <a:xfrm>
            <a:off x="7900478" y="4150088"/>
            <a:ext cx="293319" cy="293319"/>
          </a:xfrm>
          <a:prstGeom prst="ellipse">
            <a:avLst/>
          </a:prstGeom>
          <a:solidFill>
            <a:srgbClr val="FFFFFF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50" name="S13-mark298"/>
          <p:cNvSpPr/>
          <p:nvPr/>
        </p:nvSpPr>
        <p:spPr>
          <a:xfrm>
            <a:off x="10519399" y="4150088"/>
            <a:ext cx="293319" cy="293319"/>
          </a:xfrm>
          <a:prstGeom prst="ellipse">
            <a:avLst/>
          </a:prstGeom>
          <a:solidFill>
            <a:srgbClr val="E9762B"/>
          </a:solidFill>
          <a:ln w="34925">
            <a:solidFill>
              <a:srgbClr val="E9762B"/>
            </a:solidFill>
            <a:prstDash val="solid"/>
          </a:ln>
        </p:spPr>
      </p:sp>
      <p:sp>
        <p:nvSpPr>
          <p:cNvPr id="51" name="S13-mark299"/>
          <p:cNvSpPr/>
          <p:nvPr/>
        </p:nvSpPr>
        <p:spPr>
          <a:xfrm>
            <a:off x="7156704" y="4296747"/>
            <a:ext cx="743774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</a:ln>
        </p:spPr>
      </p:sp>
      <p:sp>
        <p:nvSpPr>
          <p:cNvPr id="52" name="S13-mark300"/>
          <p:cNvSpPr/>
          <p:nvPr/>
        </p:nvSpPr>
        <p:spPr>
          <a:xfrm>
            <a:off x="8193797" y="4296747"/>
            <a:ext cx="33626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53" name="S13-mark301"/>
          <p:cNvSpPr/>
          <p:nvPr/>
        </p:nvSpPr>
        <p:spPr>
          <a:xfrm>
            <a:off x="7523353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13-mark302"/>
          <p:cNvSpPr/>
          <p:nvPr/>
        </p:nvSpPr>
        <p:spPr>
          <a:xfrm>
            <a:off x="8570922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5" name="S13-mark303"/>
          <p:cNvSpPr/>
          <p:nvPr/>
        </p:nvSpPr>
        <p:spPr>
          <a:xfrm>
            <a:off x="9094706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6" name="S13-mark304"/>
          <p:cNvSpPr/>
          <p:nvPr/>
        </p:nvSpPr>
        <p:spPr>
          <a:xfrm>
            <a:off x="9618490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13-mark305"/>
          <p:cNvSpPr/>
          <p:nvPr/>
        </p:nvSpPr>
        <p:spPr>
          <a:xfrm>
            <a:off x="10142274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13-mark306"/>
          <p:cNvSpPr/>
          <p:nvPr/>
        </p:nvSpPr>
        <p:spPr>
          <a:xfrm>
            <a:off x="11189843" y="4212942"/>
            <a:ext cx="0" cy="167611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9" name="S13-mark307"/>
          <p:cNvSpPr/>
          <p:nvPr/>
        </p:nvSpPr>
        <p:spPr>
          <a:xfrm>
            <a:off x="8193797" y="4296747"/>
            <a:ext cx="2472262" cy="0"/>
          </a:xfrm>
          <a:prstGeom prst="line">
            <a:avLst/>
          </a:prstGeom>
          <a:noFill/>
          <a:ln w="88900">
            <a:solidFill>
              <a:srgbClr val="E9762B"/>
            </a:solidFill>
            <a:prstDash val="solid"/>
          </a:ln>
        </p:spPr>
      </p:sp>
      <p:sp>
        <p:nvSpPr>
          <p:cNvPr id="60" name="S13-label309"/>
          <p:cNvSpPr txBox="1"/>
          <p:nvPr/>
        </p:nvSpPr>
        <p:spPr>
          <a:xfrm>
            <a:off x="7807869" y="449924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200" dirty="0"/>
          </a:p>
        </p:txBody>
      </p:sp>
      <p:sp>
        <p:nvSpPr>
          <p:cNvPr id="61" name="S13-label311"/>
          <p:cNvSpPr txBox="1"/>
          <p:nvPr/>
        </p:nvSpPr>
        <p:spPr>
          <a:xfrm>
            <a:off x="10426791" y="4499247"/>
            <a:ext cx="47853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1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1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이상·이하는 기준 수를 넣고(●), 초과·미만은 빼요(○).</a:t>
            </a:r>
            <a:endParaRPr lang="ko-KR" sz="2800" dirty="0"/>
          </a:p>
        </p:txBody>
      </p:sp>
      <p:sp>
        <p:nvSpPr>
          <p:cNvPr id="5" name="S14-chip31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기준 수가 들어가는지 먼저 보기</a:t>
            </a:r>
            <a:endParaRPr lang="ko-KR" sz="2200" dirty="0"/>
          </a:p>
        </p:txBody>
      </p:sp>
      <p:sp>
        <p:nvSpPr>
          <p:cNvPr id="6" name="S14-chip31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미만·초과에 기준 수 넣기</a:t>
            </a:r>
            <a:endParaRPr lang="ko-KR" sz="2200" dirty="0"/>
          </a:p>
        </p:txBody>
      </p:sp>
      <p:sp>
        <p:nvSpPr>
          <p:cNvPr id="7" name="S14-text31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1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 초과 15 이하인 자연수를 모두 써요.</a:t>
            </a:r>
            <a:endParaRPr lang="ko-KR" sz="2200" dirty="0"/>
          </a:p>
        </p:txBody>
      </p:sp>
      <p:sp>
        <p:nvSpPr>
          <p:cNvPr id="9" name="S14-text31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45 이상 50 미만인 자연수는 몇 개?</a:t>
            </a:r>
            <a:endParaRPr lang="ko-KR" sz="2200" dirty="0"/>
          </a:p>
        </p:txBody>
      </p:sp>
      <p:sp>
        <p:nvSpPr>
          <p:cNvPr id="10" name="S14-text31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‘20 이하’와 ‘20 미만’은 무엇이 달라요?</a:t>
            </a:r>
            <a:endParaRPr lang="ko-KR" sz="2200" dirty="0"/>
          </a:p>
        </p:txBody>
      </p:sp>
      <p:sp>
        <p:nvSpPr>
          <p:cNvPr id="11" name="S14-text32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어림하기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수직선에서 크기 비교</a:t>
            </a:r>
            <a:endParaRPr lang="ko-KR" sz="4000" dirty="0"/>
          </a:p>
        </p:txBody>
      </p:sp>
      <p:sp>
        <p:nvSpPr>
          <p:cNvPr id="3" name="S15-text3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수직선에서는 오른쪽에 있을수록 큰 수예요.</a:t>
            </a:r>
            <a:endParaRPr lang="ko-KR" sz="2800" dirty="0"/>
          </a:p>
        </p:txBody>
      </p:sp>
      <p:sp>
        <p:nvSpPr>
          <p:cNvPr id="4" name="S15-card32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32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7은 3보다 오른쪽: 7 &gt;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‘3보다 큰 수’는 3의 오른쪽에 있어요.</a:t>
            </a:r>
            <a:endParaRPr lang="ko-KR" sz="2800" dirty="0"/>
          </a:p>
        </p:txBody>
      </p:sp>
      <p:sp>
        <p:nvSpPr>
          <p:cNvPr id="6" name="S15-line324"/>
          <p:cNvSpPr/>
          <p:nvPr/>
        </p:nvSpPr>
        <p:spPr>
          <a:xfrm>
            <a:off x="685800" y="374616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5-line325"/>
          <p:cNvSpPr/>
          <p:nvPr/>
        </p:nvSpPr>
        <p:spPr>
          <a:xfrm>
            <a:off x="960120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5-label326"/>
          <p:cNvSpPr txBox="1"/>
          <p:nvPr/>
        </p:nvSpPr>
        <p:spPr>
          <a:xfrm>
            <a:off x="502920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9" name="S15-line327"/>
          <p:cNvSpPr/>
          <p:nvPr/>
        </p:nvSpPr>
        <p:spPr>
          <a:xfrm>
            <a:off x="1986991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328"/>
          <p:cNvSpPr txBox="1"/>
          <p:nvPr/>
        </p:nvSpPr>
        <p:spPr>
          <a:xfrm>
            <a:off x="1529791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1" name="S15-line329"/>
          <p:cNvSpPr/>
          <p:nvPr/>
        </p:nvSpPr>
        <p:spPr>
          <a:xfrm>
            <a:off x="3013862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330"/>
          <p:cNvSpPr txBox="1"/>
          <p:nvPr/>
        </p:nvSpPr>
        <p:spPr>
          <a:xfrm>
            <a:off x="2556662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3" name="S15-line331"/>
          <p:cNvSpPr/>
          <p:nvPr/>
        </p:nvSpPr>
        <p:spPr>
          <a:xfrm>
            <a:off x="4040734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332"/>
          <p:cNvSpPr txBox="1"/>
          <p:nvPr/>
        </p:nvSpPr>
        <p:spPr>
          <a:xfrm>
            <a:off x="3583534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5" name="S15-line333"/>
          <p:cNvSpPr/>
          <p:nvPr/>
        </p:nvSpPr>
        <p:spPr>
          <a:xfrm>
            <a:off x="5067605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334"/>
          <p:cNvSpPr txBox="1"/>
          <p:nvPr/>
        </p:nvSpPr>
        <p:spPr>
          <a:xfrm>
            <a:off x="4610405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7" name="S15-line335"/>
          <p:cNvSpPr/>
          <p:nvPr/>
        </p:nvSpPr>
        <p:spPr>
          <a:xfrm>
            <a:off x="6094476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336"/>
          <p:cNvSpPr txBox="1"/>
          <p:nvPr/>
        </p:nvSpPr>
        <p:spPr>
          <a:xfrm>
            <a:off x="5637276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9" name="S15-line337"/>
          <p:cNvSpPr/>
          <p:nvPr/>
        </p:nvSpPr>
        <p:spPr>
          <a:xfrm>
            <a:off x="7121347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338"/>
          <p:cNvSpPr txBox="1"/>
          <p:nvPr/>
        </p:nvSpPr>
        <p:spPr>
          <a:xfrm>
            <a:off x="6664147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21" name="S15-line339"/>
          <p:cNvSpPr/>
          <p:nvPr/>
        </p:nvSpPr>
        <p:spPr>
          <a:xfrm>
            <a:off x="8148218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340"/>
          <p:cNvSpPr txBox="1"/>
          <p:nvPr/>
        </p:nvSpPr>
        <p:spPr>
          <a:xfrm>
            <a:off x="7691018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23" name="S15-line341"/>
          <p:cNvSpPr/>
          <p:nvPr/>
        </p:nvSpPr>
        <p:spPr>
          <a:xfrm>
            <a:off x="9175090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342"/>
          <p:cNvSpPr txBox="1"/>
          <p:nvPr/>
        </p:nvSpPr>
        <p:spPr>
          <a:xfrm>
            <a:off x="8717890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200" dirty="0"/>
          </a:p>
        </p:txBody>
      </p:sp>
      <p:sp>
        <p:nvSpPr>
          <p:cNvPr id="25" name="S15-line343"/>
          <p:cNvSpPr/>
          <p:nvPr/>
        </p:nvSpPr>
        <p:spPr>
          <a:xfrm>
            <a:off x="10201961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344"/>
          <p:cNvSpPr txBox="1"/>
          <p:nvPr/>
        </p:nvSpPr>
        <p:spPr>
          <a:xfrm>
            <a:off x="9744761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200" dirty="0"/>
          </a:p>
        </p:txBody>
      </p:sp>
      <p:sp>
        <p:nvSpPr>
          <p:cNvPr id="27" name="S15-line345"/>
          <p:cNvSpPr/>
          <p:nvPr/>
        </p:nvSpPr>
        <p:spPr>
          <a:xfrm>
            <a:off x="11228832" y="359986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346"/>
          <p:cNvSpPr txBox="1"/>
          <p:nvPr/>
        </p:nvSpPr>
        <p:spPr>
          <a:xfrm>
            <a:off x="10771632" y="3929045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200" dirty="0"/>
          </a:p>
        </p:txBody>
      </p:sp>
      <p:sp>
        <p:nvSpPr>
          <p:cNvPr id="29" name="S15-mark347"/>
          <p:cNvSpPr/>
          <p:nvPr/>
        </p:nvSpPr>
        <p:spPr>
          <a:xfrm>
            <a:off x="3949294" y="365472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0" name="S15-label348"/>
          <p:cNvSpPr txBox="1"/>
          <p:nvPr/>
        </p:nvSpPr>
        <p:spPr>
          <a:xfrm>
            <a:off x="3492094" y="3154345"/>
            <a:ext cx="109728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31" name="S15-mark349"/>
          <p:cNvSpPr/>
          <p:nvPr/>
        </p:nvSpPr>
        <p:spPr>
          <a:xfrm>
            <a:off x="8056778" y="365472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2" name="S15-label350"/>
          <p:cNvSpPr txBox="1"/>
          <p:nvPr/>
        </p:nvSpPr>
        <p:spPr>
          <a:xfrm>
            <a:off x="7599578" y="3154345"/>
            <a:ext cx="109728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200" dirty="0"/>
          </a:p>
        </p:txBody>
      </p:sp>
      <p:sp>
        <p:nvSpPr>
          <p:cNvPr id="33" name="S15-figure351" descr="0부터 10까지 1씩 눈금 수직선에 3과 7 표시"/>
          <p:cNvSpPr/>
          <p:nvPr/>
        </p:nvSpPr>
        <p:spPr>
          <a:xfrm>
            <a:off x="685800" y="356328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수의 범위</dc:title>
  <dc:subject>KR22-G05-MAT-RANGE-L01</dc:subject>
  <dc:creator>education-ppt</dc:creator>
  <cp:lastModifiedBy>education-ppt</cp:lastModifiedBy>
  <cp:revision>1</cp:revision>
  <dcterms:created xsi:type="dcterms:W3CDTF">2026-10-26T08:32:23Z</dcterms:created>
  <dcterms:modified xsi:type="dcterms:W3CDTF">2026-10-26T08:32:23Z</dcterms:modified>
</cp:coreProperties>
</file>