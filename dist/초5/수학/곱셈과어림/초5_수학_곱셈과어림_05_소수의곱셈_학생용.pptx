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0475184-6d8c-e516-1c59-2b95c05108e1}">
          <p14:sldIdLst>
            <p14:sldId id="256"/>
            <p14:sldId id="257"/>
          </p14:sldIdLst>
        </p14:section>
        <p14:section name="개념" id="{7513b054-1421-f585-7ad2-1ac5202db95d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476afdf5-5e04-7075-3222-71aac48ac12a}">
          <p14:sldIdLst>
            <p14:sldId id="260"/>
            <p14:sldId id="264"/>
            <p14:sldId id="265"/>
          </p14:sldIdLst>
        </p14:section>
        <p14:section name="개념" id="{e3819590-3c68-7f9e-94d1-aaaa3ced92ac}">
          <p14:sldIdLst/>
        </p14:section>
        <p14:section name="연습" id="{9d17406a-177a-0999-8c0e-448ca432a54e}">
          <p14:sldIdLst/>
        </p14:section>
        <p14:section name="확인" id="{f8a4acb4-1bbe-2915-7e1a-89c0f52110b9}">
          <p14:sldIdLst>
            <p14:sldId id="266"/>
            <p14:sldId id="267"/>
          </p14:sldIdLst>
        </p14:section>
        <p14:section name="정리" id="{ff226afd-5322-345d-6719-801a2e01bd1e}">
          <p14:sldIdLst>
            <p14:sldId id="268"/>
          </p14:sldIdLst>
        </p14:section>
        <p14:section name="보충" id="{bbd19463-2ee1-7caf-c262-7b65c2aca90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소수의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소수의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소수의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곱셈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× 0.5는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0.6일까, 6일까,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0.06일까?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× 0.5 = ?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(소수)×(자연수)를 0.1의 개수로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소수끼리 곱하고 소수점 위치를 설명해요.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학습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안에 알맞은 수를 써요.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eq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+ 0.4 + 0.4 = □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23개인 수는 □예요.</a:t>
            </a:r>
            <a:endParaRPr lang="ko-KR" sz="28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op10"/>
          <p:cNvSpPr txBox="1"/>
          <p:nvPr/>
        </p:nvSpPr>
        <p:spPr>
          <a:xfrm>
            <a:off x="1344168" y="5061712"/>
            <a:ext cx="130454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</a:t>
            </a:r>
            <a:endParaRPr lang="ko-KR" sz="3200" dirty="0"/>
          </a:p>
        </p:txBody>
      </p:sp>
      <p:sp>
        <p:nvSpPr>
          <p:cNvPr id="10" name="S02-op11"/>
          <p:cNvSpPr txBox="1"/>
          <p:nvPr/>
        </p:nvSpPr>
        <p:spPr>
          <a:xfrm>
            <a:off x="2758440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2-blank12"/>
          <p:cNvSpPr/>
          <p:nvPr/>
        </p:nvSpPr>
        <p:spPr>
          <a:xfrm>
            <a:off x="3553318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fracbar13"/>
          <p:cNvSpPr/>
          <p:nvPr/>
        </p:nvSpPr>
        <p:spPr>
          <a:xfrm>
            <a:off x="3331464" y="5577840"/>
            <a:ext cx="79857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2-num14"/>
          <p:cNvSpPr txBox="1"/>
          <p:nvPr/>
        </p:nvSpPr>
        <p:spPr>
          <a:xfrm>
            <a:off x="3294888" y="5614416"/>
            <a:ext cx="87172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 × 4는 0.1이 몇 개?</a:t>
            </a:r>
            <a:endParaRPr lang="ko-KR" sz="4000" dirty="0"/>
          </a:p>
        </p:txBody>
      </p:sp>
      <p:sp>
        <p:nvSpPr>
          <p:cNvPr id="3" name="S03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0.3을 4번 더해요.</a:t>
            </a:r>
            <a:endParaRPr lang="ko-KR" sz="2800" dirty="0"/>
          </a:p>
        </p:txBody>
      </p:sp>
      <p:sp>
        <p:nvSpPr>
          <p:cNvPr id="4" name="S03-card16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7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3 × 4 = 12개 → 1.2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 × 4 = 1.2</a:t>
            </a:r>
            <a:endParaRPr lang="ko-KR" sz="2800" dirty="0"/>
          </a:p>
        </p:txBody>
      </p:sp>
      <p:sp>
        <p:nvSpPr>
          <p:cNvPr id="6" name="S03-figure18" descr="0부터 1.5까지 0.1씩 눈금 수직선: 0에서 0.3씩 네 번 뛰어 1.2에 닿음"/>
          <p:cNvSpPr/>
          <p:nvPr/>
        </p:nvSpPr>
        <p:spPr>
          <a:xfrm>
            <a:off x="8972026" y="3417119"/>
            <a:ext cx="239796" cy="239796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7" name="S03-mark19"/>
          <p:cNvSpPr/>
          <p:nvPr/>
        </p:nvSpPr>
        <p:spPr>
          <a:xfrm>
            <a:off x="632460" y="3537017"/>
            <a:ext cx="1092403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3-mark20"/>
          <p:cNvSpPr/>
          <p:nvPr/>
        </p:nvSpPr>
        <p:spPr>
          <a:xfrm>
            <a:off x="1098730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3-mark21"/>
          <p:cNvSpPr/>
          <p:nvPr/>
        </p:nvSpPr>
        <p:spPr>
          <a:xfrm>
            <a:off x="1764829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mark22"/>
          <p:cNvSpPr/>
          <p:nvPr/>
        </p:nvSpPr>
        <p:spPr>
          <a:xfrm>
            <a:off x="2430929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3-mark23"/>
          <p:cNvSpPr/>
          <p:nvPr/>
        </p:nvSpPr>
        <p:spPr>
          <a:xfrm>
            <a:off x="3097028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mark24"/>
          <p:cNvSpPr/>
          <p:nvPr/>
        </p:nvSpPr>
        <p:spPr>
          <a:xfrm>
            <a:off x="3763128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3-mark25"/>
          <p:cNvSpPr/>
          <p:nvPr/>
        </p:nvSpPr>
        <p:spPr>
          <a:xfrm>
            <a:off x="4429227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mark26"/>
          <p:cNvSpPr/>
          <p:nvPr/>
        </p:nvSpPr>
        <p:spPr>
          <a:xfrm>
            <a:off x="5095327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mark27"/>
          <p:cNvSpPr/>
          <p:nvPr/>
        </p:nvSpPr>
        <p:spPr>
          <a:xfrm>
            <a:off x="5761426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mark28"/>
          <p:cNvSpPr/>
          <p:nvPr/>
        </p:nvSpPr>
        <p:spPr>
          <a:xfrm>
            <a:off x="6427526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mark29"/>
          <p:cNvSpPr/>
          <p:nvPr/>
        </p:nvSpPr>
        <p:spPr>
          <a:xfrm>
            <a:off x="7093625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mark30"/>
          <p:cNvSpPr/>
          <p:nvPr/>
        </p:nvSpPr>
        <p:spPr>
          <a:xfrm>
            <a:off x="7759725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mark31"/>
          <p:cNvSpPr/>
          <p:nvPr/>
        </p:nvSpPr>
        <p:spPr>
          <a:xfrm>
            <a:off x="8425824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mark32"/>
          <p:cNvSpPr/>
          <p:nvPr/>
        </p:nvSpPr>
        <p:spPr>
          <a:xfrm>
            <a:off x="9091924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3-mark33"/>
          <p:cNvSpPr/>
          <p:nvPr/>
        </p:nvSpPr>
        <p:spPr>
          <a:xfrm>
            <a:off x="9758023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mark34"/>
          <p:cNvSpPr/>
          <p:nvPr/>
        </p:nvSpPr>
        <p:spPr>
          <a:xfrm>
            <a:off x="10424123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3-mark35"/>
          <p:cNvSpPr/>
          <p:nvPr/>
        </p:nvSpPr>
        <p:spPr>
          <a:xfrm>
            <a:off x="11090222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mark36"/>
          <p:cNvSpPr/>
          <p:nvPr/>
        </p:nvSpPr>
        <p:spPr>
          <a:xfrm flipV="1">
            <a:off x="1098730" y="3124035"/>
            <a:ext cx="0" cy="246457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5" name="S03-mark37"/>
          <p:cNvSpPr/>
          <p:nvPr/>
        </p:nvSpPr>
        <p:spPr>
          <a:xfrm>
            <a:off x="1098730" y="3124035"/>
            <a:ext cx="1998299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6" name="S03-mark38"/>
          <p:cNvSpPr/>
          <p:nvPr/>
        </p:nvSpPr>
        <p:spPr>
          <a:xfrm flipV="1">
            <a:off x="3097028" y="3124035"/>
            <a:ext cx="0" cy="246457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7" name="S03-mark39"/>
          <p:cNvSpPr/>
          <p:nvPr/>
        </p:nvSpPr>
        <p:spPr>
          <a:xfrm>
            <a:off x="3097028" y="3124035"/>
            <a:ext cx="1998299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3-mark40"/>
          <p:cNvSpPr/>
          <p:nvPr/>
        </p:nvSpPr>
        <p:spPr>
          <a:xfrm flipV="1">
            <a:off x="5095327" y="3124035"/>
            <a:ext cx="0" cy="246457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9" name="S03-mark41"/>
          <p:cNvSpPr/>
          <p:nvPr/>
        </p:nvSpPr>
        <p:spPr>
          <a:xfrm>
            <a:off x="5095327" y="3124035"/>
            <a:ext cx="1998299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3-mark42"/>
          <p:cNvSpPr/>
          <p:nvPr/>
        </p:nvSpPr>
        <p:spPr>
          <a:xfrm flipV="1">
            <a:off x="7093625" y="3124035"/>
            <a:ext cx="0" cy="246457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1" name="S03-mark43"/>
          <p:cNvSpPr/>
          <p:nvPr/>
        </p:nvSpPr>
        <p:spPr>
          <a:xfrm>
            <a:off x="7093625" y="3124035"/>
            <a:ext cx="1998299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2" name="S03-label45"/>
          <p:cNvSpPr txBox="1"/>
          <p:nvPr/>
        </p:nvSpPr>
        <p:spPr>
          <a:xfrm>
            <a:off x="951664" y="384198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33" name="S03-label47"/>
          <p:cNvSpPr txBox="1"/>
          <p:nvPr/>
        </p:nvSpPr>
        <p:spPr>
          <a:xfrm>
            <a:off x="4106139" y="3841984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2200" dirty="0"/>
          </a:p>
        </p:txBody>
      </p:sp>
      <p:sp>
        <p:nvSpPr>
          <p:cNvPr id="34" name="S03-label49"/>
          <p:cNvSpPr txBox="1"/>
          <p:nvPr/>
        </p:nvSpPr>
        <p:spPr>
          <a:xfrm>
            <a:off x="7612659" y="384198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5" name="S03-label51"/>
          <p:cNvSpPr txBox="1"/>
          <p:nvPr/>
        </p:nvSpPr>
        <p:spPr>
          <a:xfrm>
            <a:off x="10767134" y="3841984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ko-KR" sz="2200" dirty="0"/>
          </a:p>
        </p:txBody>
      </p:sp>
      <p:sp>
        <p:nvSpPr>
          <p:cNvPr id="36" name="S03-label53"/>
          <p:cNvSpPr txBox="1"/>
          <p:nvPr/>
        </p:nvSpPr>
        <p:spPr>
          <a:xfrm>
            <a:off x="8768836" y="3841984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</a:t>
            </a:r>
            <a:endParaRPr lang="ko-KR" sz="2200" dirty="0"/>
          </a:p>
        </p:txBody>
      </p:sp>
      <p:sp>
        <p:nvSpPr>
          <p:cNvPr id="37" name="S03-label55"/>
          <p:cNvSpPr txBox="1"/>
          <p:nvPr/>
        </p:nvSpPr>
        <p:spPr>
          <a:xfrm>
            <a:off x="1774791" y="2629682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38" name="S03-label57"/>
          <p:cNvSpPr txBox="1"/>
          <p:nvPr/>
        </p:nvSpPr>
        <p:spPr>
          <a:xfrm>
            <a:off x="3773089" y="2629682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39" name="S03-label59"/>
          <p:cNvSpPr txBox="1"/>
          <p:nvPr/>
        </p:nvSpPr>
        <p:spPr>
          <a:xfrm>
            <a:off x="5771388" y="2629682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0" name="S03-label61"/>
          <p:cNvSpPr txBox="1"/>
          <p:nvPr/>
        </p:nvSpPr>
        <p:spPr>
          <a:xfrm>
            <a:off x="7769687" y="2629682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바꿔서 곱해요</a:t>
            </a:r>
            <a:endParaRPr lang="ko-KR" sz="4000" dirty="0"/>
          </a:p>
        </p:txBody>
      </p:sp>
      <p:sp>
        <p:nvSpPr>
          <p:cNvPr id="3" name="S04-card6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6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바꿔도 같아요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0.3 = 4 × 10분의 3 = 1.2</a:t>
            </a:r>
            <a:endParaRPr lang="ko-KR" sz="2800" dirty="0"/>
          </a:p>
        </p:txBody>
      </p:sp>
      <p:sp>
        <p:nvSpPr>
          <p:cNvPr id="5" name="S04-eqtext6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 × 4</a:t>
            </a:r>
            <a:endParaRPr lang="ko-KR" sz="3200" dirty="0"/>
          </a:p>
        </p:txBody>
      </p:sp>
      <p:sp>
        <p:nvSpPr>
          <p:cNvPr id="6" name="S04-stepno65"/>
          <p:cNvSpPr txBox="1"/>
          <p:nvPr/>
        </p:nvSpPr>
        <p:spPr>
          <a:xfrm>
            <a:off x="548640" y="27586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66"/>
          <p:cNvSpPr txBox="1"/>
          <p:nvPr/>
        </p:nvSpPr>
        <p:spPr>
          <a:xfrm>
            <a:off x="1325880" y="2712974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소수를 분수로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바꿔요.</a:t>
            </a:r>
            <a:endParaRPr lang="ko-KR" sz="2800" dirty="0"/>
          </a:p>
        </p:txBody>
      </p:sp>
      <p:sp>
        <p:nvSpPr>
          <p:cNvPr id="8" name="S04-num67"/>
          <p:cNvSpPr txBox="1"/>
          <p:nvPr/>
        </p:nvSpPr>
        <p:spPr>
          <a:xfrm>
            <a:off x="6981810" y="271297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04-fracbar68"/>
          <p:cNvSpPr/>
          <p:nvPr/>
        </p:nvSpPr>
        <p:spPr>
          <a:xfrm>
            <a:off x="7018386" y="316915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num69"/>
          <p:cNvSpPr txBox="1"/>
          <p:nvPr/>
        </p:nvSpPr>
        <p:spPr>
          <a:xfrm>
            <a:off x="6981810" y="32057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1" name="S04-op70"/>
          <p:cNvSpPr txBox="1"/>
          <p:nvPr/>
        </p:nvSpPr>
        <p:spPr>
          <a:xfrm>
            <a:off x="7668626" y="2712974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2" name="S04-op71"/>
          <p:cNvSpPr txBox="1"/>
          <p:nvPr/>
        </p:nvSpPr>
        <p:spPr>
          <a:xfrm>
            <a:off x="8382874" y="2712974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3" name="S04-stepno72"/>
          <p:cNvSpPr txBox="1"/>
          <p:nvPr/>
        </p:nvSpPr>
        <p:spPr>
          <a:xfrm>
            <a:off x="548640" y="383565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4-text73"/>
          <p:cNvSpPr txBox="1"/>
          <p:nvPr/>
        </p:nvSpPr>
        <p:spPr>
          <a:xfrm>
            <a:off x="1325880" y="3789934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자연수를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800" dirty="0"/>
          </a:p>
        </p:txBody>
      </p:sp>
      <p:sp>
        <p:nvSpPr>
          <p:cNvPr id="15" name="S04-num74"/>
          <p:cNvSpPr txBox="1"/>
          <p:nvPr/>
        </p:nvSpPr>
        <p:spPr>
          <a:xfrm>
            <a:off x="6981810" y="37899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6" name="S04-fracbar75"/>
          <p:cNvSpPr/>
          <p:nvPr/>
        </p:nvSpPr>
        <p:spPr>
          <a:xfrm>
            <a:off x="7018386" y="424611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num76"/>
          <p:cNvSpPr txBox="1"/>
          <p:nvPr/>
        </p:nvSpPr>
        <p:spPr>
          <a:xfrm>
            <a:off x="6981810" y="428269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8" name="S04-op77"/>
          <p:cNvSpPr txBox="1"/>
          <p:nvPr/>
        </p:nvSpPr>
        <p:spPr>
          <a:xfrm>
            <a:off x="7668626" y="378993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9" name="S04-op78"/>
          <p:cNvSpPr txBox="1"/>
          <p:nvPr/>
        </p:nvSpPr>
        <p:spPr>
          <a:xfrm>
            <a:off x="8183738" y="3789934"/>
            <a:ext cx="9387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소수와 자연수의 곱셈</a:t>
            </a:r>
            <a:endParaRPr lang="ko-KR" sz="4000" dirty="0"/>
          </a:p>
        </p:txBody>
      </p:sp>
      <p:sp>
        <p:nvSpPr>
          <p:cNvPr id="3" name="S05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생각하며 계산해요.</a:t>
            </a:r>
            <a:endParaRPr lang="ko-KR" sz="2800" dirty="0"/>
          </a:p>
        </p:txBody>
      </p:sp>
      <p:sp>
        <p:nvSpPr>
          <p:cNvPr id="4" name="S05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곱하고, 0.1이 몇 개인지 생각해요.</a:t>
            </a:r>
            <a:endParaRPr lang="ko-KR" sz="2800" dirty="0"/>
          </a:p>
        </p:txBody>
      </p:sp>
      <p:sp>
        <p:nvSpPr>
          <p:cNvPr id="6" name="S05-chip8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eqtext8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× 3 = □</a:t>
            </a:r>
            <a:endParaRPr lang="ko-KR" sz="3200" dirty="0"/>
          </a:p>
        </p:txBody>
      </p:sp>
      <p:sp>
        <p:nvSpPr>
          <p:cNvPr id="8" name="S05-chip8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eqtext8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1.4 × 5 = □</a:t>
            </a:r>
            <a:endParaRPr lang="ko-KR" sz="3200" dirty="0"/>
          </a:p>
        </p:txBody>
      </p:sp>
      <p:sp>
        <p:nvSpPr>
          <p:cNvPr id="10" name="S05-chip8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eqtext8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0.8 = □</a:t>
            </a:r>
            <a:endParaRPr lang="ko-KR" sz="3200" dirty="0"/>
          </a:p>
        </p:txBody>
      </p:sp>
      <p:sp>
        <p:nvSpPr>
          <p:cNvPr id="12" name="S05-chip8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eqtext8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2.4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× 소수</a:t>
            </a:r>
            <a:endParaRPr lang="ko-KR" sz="4000" dirty="0"/>
          </a:p>
        </p:txBody>
      </p:sp>
      <p:sp>
        <p:nvSpPr>
          <p:cNvPr id="3" name="S06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어림: 1.2의 반(0.5배)은 0.6쯤이에요.</a:t>
            </a:r>
            <a:endParaRPr lang="ko-KR" sz="2800" dirty="0"/>
          </a:p>
        </p:txBody>
      </p:sp>
      <p:sp>
        <p:nvSpPr>
          <p:cNvPr id="5" name="S06-eqtext9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× 0.5</a:t>
            </a:r>
            <a:endParaRPr lang="ko-KR" sz="3200" dirty="0"/>
          </a:p>
        </p:txBody>
      </p:sp>
      <p:graphicFrame>
        <p:nvGraphicFramePr>
          <p:cNvPr id="7" name="S06-table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614549"/>
          <a:ext cx="4206240" cy="914400"/>
        </p:xfrm>
        <a:graphic>
          <a:graphicData uri="http://schemas.openxmlformats.org/drawingml/2006/table">
            <a:tbl>
              <a:tblPr/>
              <a:tblGrid>
                <a:gridCol w="2439619"/>
                <a:gridCol w="1766621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곱셈식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 × 0.5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label94"/>
          <p:cNvSpPr txBox="1"/>
          <p:nvPr/>
        </p:nvSpPr>
        <p:spPr>
          <a:xfrm>
            <a:off x="7135429" y="4743450"/>
            <a:ext cx="4504883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1씩 작아져요</a:t>
            </a:r>
            <a:endParaRPr lang="ko-KR" sz="2200" dirty="0"/>
          </a:p>
        </p:txBody>
      </p:sp>
      <p:sp>
        <p:nvSpPr>
          <p:cNvPr id="8" name="S06-stepno95"/>
          <p:cNvSpPr txBox="1"/>
          <p:nvPr/>
        </p:nvSpPr>
        <p:spPr>
          <a:xfrm>
            <a:off x="548640" y="27198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6-text96"/>
          <p:cNvSpPr txBox="1"/>
          <p:nvPr/>
        </p:nvSpPr>
        <p:spPr>
          <a:xfrm>
            <a:off x="1325880" y="2674112"/>
            <a:ext cx="2830957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바꿔요.</a:t>
            </a:r>
            <a:endParaRPr lang="ko-KR" sz="2800" dirty="0"/>
          </a:p>
        </p:txBody>
      </p:sp>
      <p:sp>
        <p:nvSpPr>
          <p:cNvPr id="10" name="S06-num97"/>
          <p:cNvSpPr txBox="1"/>
          <p:nvPr/>
        </p:nvSpPr>
        <p:spPr>
          <a:xfrm>
            <a:off x="4156837" y="267411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1" name="S06-fracbar98"/>
          <p:cNvSpPr/>
          <p:nvPr/>
        </p:nvSpPr>
        <p:spPr>
          <a:xfrm>
            <a:off x="4193413" y="313029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num99"/>
          <p:cNvSpPr txBox="1"/>
          <p:nvPr/>
        </p:nvSpPr>
        <p:spPr>
          <a:xfrm>
            <a:off x="4156837" y="316687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3" name="S06-op100"/>
          <p:cNvSpPr txBox="1"/>
          <p:nvPr/>
        </p:nvSpPr>
        <p:spPr>
          <a:xfrm>
            <a:off x="4843653" y="2674112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4" name="S06-num101"/>
          <p:cNvSpPr txBox="1"/>
          <p:nvPr/>
        </p:nvSpPr>
        <p:spPr>
          <a:xfrm>
            <a:off x="5557901" y="267411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5" name="S06-fracbar102"/>
          <p:cNvSpPr/>
          <p:nvPr/>
        </p:nvSpPr>
        <p:spPr>
          <a:xfrm>
            <a:off x="5594477" y="313029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num103"/>
          <p:cNvSpPr txBox="1"/>
          <p:nvPr/>
        </p:nvSpPr>
        <p:spPr>
          <a:xfrm>
            <a:off x="5557901" y="316687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7" name="S06-stepno104"/>
          <p:cNvSpPr txBox="1"/>
          <p:nvPr/>
        </p:nvSpPr>
        <p:spPr>
          <a:xfrm>
            <a:off x="548640" y="3796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8" name="S06-text105"/>
          <p:cNvSpPr txBox="1"/>
          <p:nvPr/>
        </p:nvSpPr>
        <p:spPr>
          <a:xfrm>
            <a:off x="1325880" y="3751072"/>
            <a:ext cx="2830957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800" dirty="0"/>
          </a:p>
        </p:txBody>
      </p:sp>
      <p:sp>
        <p:nvSpPr>
          <p:cNvPr id="19" name="S06-num106"/>
          <p:cNvSpPr txBox="1"/>
          <p:nvPr/>
        </p:nvSpPr>
        <p:spPr>
          <a:xfrm>
            <a:off x="4156837" y="3945636"/>
            <a:ext cx="783336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800" dirty="0"/>
          </a:p>
        </p:txBody>
      </p:sp>
      <p:sp>
        <p:nvSpPr>
          <p:cNvPr id="20" name="S06-fracbar107"/>
          <p:cNvSpPr/>
          <p:nvPr/>
        </p:nvSpPr>
        <p:spPr>
          <a:xfrm>
            <a:off x="4193413" y="4401820"/>
            <a:ext cx="710184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6-num108"/>
          <p:cNvSpPr txBox="1"/>
          <p:nvPr/>
        </p:nvSpPr>
        <p:spPr>
          <a:xfrm>
            <a:off x="4156837" y="4438396"/>
            <a:ext cx="783336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800" dirty="0"/>
          </a:p>
        </p:txBody>
      </p:sp>
      <p:sp>
        <p:nvSpPr>
          <p:cNvPr id="22" name="S06-op109"/>
          <p:cNvSpPr txBox="1"/>
          <p:nvPr/>
        </p:nvSpPr>
        <p:spPr>
          <a:xfrm>
            <a:off x="5049901" y="39456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6-op110"/>
          <p:cNvSpPr txBox="1"/>
          <p:nvPr/>
        </p:nvSpPr>
        <p:spPr>
          <a:xfrm>
            <a:off x="5565013" y="3945636"/>
            <a:ext cx="9387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곱의 소수점 위치</a:t>
            </a:r>
            <a:endParaRPr lang="ko-KR" sz="4000" dirty="0"/>
          </a:p>
        </p:txBody>
      </p:sp>
      <p:sp>
        <p:nvSpPr>
          <p:cNvPr id="3" name="S07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곱셈과 비교해요.</a:t>
            </a:r>
            <a:endParaRPr lang="ko-KR" sz="2800" dirty="0"/>
          </a:p>
        </p:txBody>
      </p:sp>
      <p:sp>
        <p:nvSpPr>
          <p:cNvPr id="4" name="S07-card11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1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곱의 소수점 아래 자릿수 = 두 수의 자릿수를 더한 만큼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2.35 × 1.4 = 3.290 = 3.29</a:t>
            </a:r>
            <a:endParaRPr lang="ko-KR" sz="2800" dirty="0"/>
          </a:p>
        </p:txBody>
      </p:sp>
      <p:graphicFrame>
        <p:nvGraphicFramePr>
          <p:cNvPr id="8" name="S07-table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308098"/>
          <a:ext cx="9144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25603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곱셈식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소수점 아래 자릿수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235 × 14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+ 0 = 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3290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2.35 × 14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+ 0 = 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32.90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2.35 × 1.4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+ 1 = 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3.290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곱해요</a:t>
            </a:r>
            <a:endParaRPr lang="ko-KR" sz="4000" dirty="0"/>
          </a:p>
        </p:txBody>
      </p:sp>
      <p:sp>
        <p:nvSpPr>
          <p:cNvPr id="3" name="S08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2.35 × 1.4를 세로셈으로 해요.</a:t>
            </a:r>
            <a:endParaRPr lang="ko-KR" sz="2800" dirty="0"/>
          </a:p>
        </p:txBody>
      </p:sp>
      <p:sp>
        <p:nvSpPr>
          <p:cNvPr id="4" name="S08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어림: 2 × 1.5 = 3이니 3.29가 알맞아요.</a:t>
            </a:r>
            <a:endParaRPr lang="ko-KR" sz="2800" dirty="0"/>
          </a:p>
        </p:txBody>
      </p:sp>
      <p:graphicFrame>
        <p:nvGraphicFramePr>
          <p:cNvPr id="9" name="S08-table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3589" y="218821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119"/>
          <p:cNvSpPr txBox="1"/>
          <p:nvPr/>
        </p:nvSpPr>
        <p:spPr>
          <a:xfrm>
            <a:off x="548640" y="2145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ext120"/>
          <p:cNvSpPr txBox="1"/>
          <p:nvPr/>
        </p:nvSpPr>
        <p:spPr>
          <a:xfrm>
            <a:off x="1325880" y="2100072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곱해요: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235 × 14 = 3290</a:t>
            </a:r>
            <a:endParaRPr lang="ko-KR" sz="2800" dirty="0"/>
          </a:p>
        </p:txBody>
      </p:sp>
      <p:sp>
        <p:nvSpPr>
          <p:cNvPr id="9" name="S08-stepno121"/>
          <p:cNvSpPr txBox="1"/>
          <p:nvPr/>
        </p:nvSpPr>
        <p:spPr>
          <a:xfrm>
            <a:off x="548640" y="3178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ext122"/>
          <p:cNvSpPr txBox="1"/>
          <p:nvPr/>
        </p:nvSpPr>
        <p:spPr>
          <a:xfrm>
            <a:off x="1325880" y="3132328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아래 자릿수: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+ 1 = 3</a:t>
            </a:r>
            <a:endParaRPr lang="ko-KR" sz="2800" dirty="0"/>
          </a:p>
        </p:txBody>
      </p:sp>
      <p:sp>
        <p:nvSpPr>
          <p:cNvPr id="11" name="S08-stepno123"/>
          <p:cNvSpPr txBox="1"/>
          <p:nvPr/>
        </p:nvSpPr>
        <p:spPr>
          <a:xfrm>
            <a:off x="548640" y="4210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8-text124"/>
          <p:cNvSpPr txBox="1"/>
          <p:nvPr/>
        </p:nvSpPr>
        <p:spPr>
          <a:xfrm>
            <a:off x="1325880" y="4164584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3290에서 왼쪽으로 세 자리: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3.290 → 3.29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소수끼리 곱해 봐요</a:t>
            </a:r>
            <a:endParaRPr lang="ko-KR" sz="4000" dirty="0"/>
          </a:p>
        </p:txBody>
      </p:sp>
      <p:sp>
        <p:nvSpPr>
          <p:cNvPr id="3" name="S09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곱한 뒤 소수점을 찍어요.</a:t>
            </a:r>
            <a:endParaRPr lang="ko-KR" sz="2800" dirty="0"/>
          </a:p>
        </p:txBody>
      </p:sp>
      <p:sp>
        <p:nvSpPr>
          <p:cNvPr id="4" name="S09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소수점 아래 자릿수를 더한 만큼 소수점을 찍어요.</a:t>
            </a:r>
            <a:endParaRPr lang="ko-KR" sz="2800" dirty="0"/>
          </a:p>
        </p:txBody>
      </p:sp>
      <p:sp>
        <p:nvSpPr>
          <p:cNvPr id="6" name="S09-chip12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eqtext12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 × 0.4 = □</a:t>
            </a:r>
            <a:endParaRPr lang="ko-KR" sz="3200" dirty="0"/>
          </a:p>
        </p:txBody>
      </p:sp>
      <p:sp>
        <p:nvSpPr>
          <p:cNvPr id="8" name="S09-chip13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eqtext13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× 1.5 = □</a:t>
            </a:r>
            <a:endParaRPr lang="ko-KR" sz="3200" dirty="0"/>
          </a:p>
        </p:txBody>
      </p:sp>
      <p:sp>
        <p:nvSpPr>
          <p:cNvPr id="10" name="S09-chip13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eqtext13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0.25 × 0.3 = □</a:t>
            </a:r>
            <a:endParaRPr lang="ko-KR" sz="3200" dirty="0"/>
          </a:p>
        </p:txBody>
      </p:sp>
      <p:sp>
        <p:nvSpPr>
          <p:cNvPr id="12" name="S09-chip13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eqtext13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4.08 × 2.5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소수점은 어디에?</a:t>
            </a:r>
            <a:endParaRPr lang="ko-KR" sz="4000" dirty="0"/>
          </a:p>
        </p:txBody>
      </p:sp>
      <p:sp>
        <p:nvSpPr>
          <p:cNvPr id="3" name="S10-card1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× 0.5를 계산했어요.</a:t>
            </a:r>
            <a:endParaRPr lang="ko-KR" sz="2800" dirty="0"/>
          </a:p>
        </p:txBody>
      </p:sp>
      <p:sp>
        <p:nvSpPr>
          <p:cNvPr id="5" name="S10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1.2의 반(0.5배)은 6과 0.6 중 어디에 가까울까요?</a:t>
            </a:r>
            <a:endParaRPr lang="ko-KR" sz="2800" dirty="0"/>
          </a:p>
        </p:txBody>
      </p:sp>
      <p:sp>
        <p:nvSpPr>
          <p:cNvPr id="7" name="S10-chip1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하늘: 6.0</a:t>
            </a:r>
            <a:endParaRPr lang="ko-KR" sz="2200" dirty="0"/>
          </a:p>
        </p:txBody>
      </p:sp>
      <p:sp>
        <p:nvSpPr>
          <p:cNvPr id="8" name="S10-text1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5 = 60이고,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덧셈처럼 소수점을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맞춰서 찍었어요.</a:t>
            </a:r>
            <a:endParaRPr lang="ko-KR" sz="2800" dirty="0"/>
          </a:p>
        </p:txBody>
      </p:sp>
      <p:sp>
        <p:nvSpPr>
          <p:cNvPr id="9" name="S10-chip1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바다: 0.6</a:t>
            </a:r>
            <a:endParaRPr lang="ko-KR" sz="2200" dirty="0"/>
          </a:p>
        </p:txBody>
      </p:sp>
      <p:sp>
        <p:nvSpPr>
          <p:cNvPr id="10" name="S10-text1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아래 자릿수가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+ 1 = 2라서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0.60 = 0.6이에요.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④는 어림한 방법을 말해요.</a:t>
            </a:r>
            <a:endParaRPr lang="ko-KR" sz="2800" dirty="0"/>
          </a:p>
        </p:txBody>
      </p:sp>
      <p:sp>
        <p:nvSpPr>
          <p:cNvPr id="4" name="S11-chip14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eqtext14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 × 6 = □</a:t>
            </a:r>
            <a:endParaRPr lang="ko-KR" sz="3200" dirty="0"/>
          </a:p>
        </p:txBody>
      </p:sp>
      <p:sp>
        <p:nvSpPr>
          <p:cNvPr id="6" name="S11-chip14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eqtext14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× 0.3 = □</a:t>
            </a:r>
            <a:endParaRPr lang="ko-KR" sz="3200" dirty="0"/>
          </a:p>
        </p:txBody>
      </p:sp>
      <p:sp>
        <p:nvSpPr>
          <p:cNvPr id="8" name="S11-chip14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eqtext15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1.24 × 2.3 = □</a:t>
            </a:r>
            <a:endParaRPr lang="ko-KR" sz="3200" dirty="0"/>
          </a:p>
        </p:txBody>
      </p:sp>
      <p:sp>
        <p:nvSpPr>
          <p:cNvPr id="10" name="S11-chip15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15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4.6 × 3.1의 곱은 1426에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찍은 수예요.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어림하여 소수점을 찍어요.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× 0.9의 곱은?</a:t>
            </a:r>
            <a:endParaRPr lang="ko-KR" sz="4000" dirty="0"/>
          </a:p>
        </p:txBody>
      </p:sp>
      <p:sp>
        <p:nvSpPr>
          <p:cNvPr id="3" name="S13-text1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계산하지 말고 어림해서 골라요.</a:t>
            </a:r>
            <a:endParaRPr lang="ko-KR" sz="2800" dirty="0"/>
          </a:p>
        </p:txBody>
      </p:sp>
      <p:sp>
        <p:nvSpPr>
          <p:cNvPr id="4" name="S13-card1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어림했는지 말해요.</a:t>
            </a:r>
            <a:endParaRPr lang="ko-KR" sz="2800" dirty="0"/>
          </a:p>
        </p:txBody>
      </p:sp>
      <p:sp>
        <p:nvSpPr>
          <p:cNvPr id="6" name="S13-chip15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eqtext157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46.8</a:t>
            </a:r>
            <a:endParaRPr lang="ko-KR" sz="4800" dirty="0"/>
          </a:p>
        </p:txBody>
      </p:sp>
      <p:sp>
        <p:nvSpPr>
          <p:cNvPr id="8" name="S13-chip15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eqtext159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4.68</a:t>
            </a:r>
            <a:endParaRPr lang="ko-KR" sz="4800" dirty="0"/>
          </a:p>
        </p:txBody>
      </p:sp>
      <p:sp>
        <p:nvSpPr>
          <p:cNvPr id="10" name="S13-chip16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1" name="S13-eqtext161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0.468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6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6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곱하고, 소수점 아래 자릿수를 더한 만큼 소수점을 찍어요.</a:t>
            </a:r>
            <a:endParaRPr lang="ko-KR" sz="2800" dirty="0"/>
          </a:p>
        </p:txBody>
      </p:sp>
      <p:sp>
        <p:nvSpPr>
          <p:cNvPr id="5" name="S14-chip16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어림으로 소수점 위치 확인</a:t>
            </a:r>
            <a:endParaRPr lang="ko-KR" sz="2200" dirty="0"/>
          </a:p>
        </p:txBody>
      </p:sp>
      <p:sp>
        <p:nvSpPr>
          <p:cNvPr id="6" name="S14-chip16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덧셈처럼 소수점 맞추기</a:t>
            </a:r>
            <a:endParaRPr lang="ko-KR" sz="2200" dirty="0"/>
          </a:p>
        </p:txBody>
      </p:sp>
      <p:sp>
        <p:nvSpPr>
          <p:cNvPr id="7" name="S14-text16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eqtext16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0.9 × 7</a:t>
            </a:r>
            <a:endParaRPr lang="ko-KR" sz="2600" dirty="0"/>
          </a:p>
        </p:txBody>
      </p:sp>
      <p:sp>
        <p:nvSpPr>
          <p:cNvPr id="9" name="S14-eqtext16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3.5 × 0.6</a:t>
            </a:r>
            <a:endParaRPr lang="ko-KR" sz="2600" dirty="0"/>
          </a:p>
        </p:txBody>
      </p:sp>
      <p:sp>
        <p:nvSpPr>
          <p:cNvPr id="10" name="S14-eqtext16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1.15 × 2.4</a:t>
            </a:r>
            <a:endParaRPr lang="ko-KR" sz="2600" dirty="0"/>
          </a:p>
        </p:txBody>
      </p:sp>
      <p:sp>
        <p:nvSpPr>
          <p:cNvPr id="11" name="S14-text17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규칙과 대응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0.1이 몇 개?</a:t>
            </a:r>
            <a:endParaRPr lang="ko-KR" sz="4000" dirty="0"/>
          </a:p>
        </p:txBody>
      </p:sp>
      <p:sp>
        <p:nvSpPr>
          <p:cNvPr id="3" name="S15-text1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+ 0.4를 수직선으로 해요.</a:t>
            </a:r>
            <a:endParaRPr lang="ko-KR" sz="2800" dirty="0"/>
          </a:p>
        </p:txBody>
      </p:sp>
      <p:sp>
        <p:nvSpPr>
          <p:cNvPr id="4" name="S15-card17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7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+ 0.4 = 0.8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4개 + 4개 = 8개예요.</a:t>
            </a:r>
            <a:endParaRPr lang="ko-KR" sz="2800" dirty="0"/>
          </a:p>
        </p:txBody>
      </p:sp>
      <p:sp>
        <p:nvSpPr>
          <p:cNvPr id="6" name="S15-figure174" descr="0부터 1까지 0.1씩 눈금 수직선: 0에서 0.4씩 두 번 뛰어 0.8에 닿음"/>
          <p:cNvSpPr/>
          <p:nvPr/>
        </p:nvSpPr>
        <p:spPr>
          <a:xfrm>
            <a:off x="86730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7" name="S15-mark175"/>
          <p:cNvSpPr/>
          <p:nvPr/>
        </p:nvSpPr>
        <p:spPr>
          <a:xfrm>
            <a:off x="882396" y="358419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15-mark176"/>
          <p:cNvSpPr/>
          <p:nvPr/>
        </p:nvSpPr>
        <p:spPr>
          <a:xfrm>
            <a:off x="1522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5-mark177"/>
          <p:cNvSpPr/>
          <p:nvPr/>
        </p:nvSpPr>
        <p:spPr>
          <a:xfrm>
            <a:off x="2436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mark178"/>
          <p:cNvSpPr/>
          <p:nvPr/>
        </p:nvSpPr>
        <p:spPr>
          <a:xfrm>
            <a:off x="3351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5-mark179"/>
          <p:cNvSpPr/>
          <p:nvPr/>
        </p:nvSpPr>
        <p:spPr>
          <a:xfrm>
            <a:off x="4265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mark180"/>
          <p:cNvSpPr/>
          <p:nvPr/>
        </p:nvSpPr>
        <p:spPr>
          <a:xfrm>
            <a:off x="5180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5-mark181"/>
          <p:cNvSpPr/>
          <p:nvPr/>
        </p:nvSpPr>
        <p:spPr>
          <a:xfrm>
            <a:off x="6094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mark182"/>
          <p:cNvSpPr/>
          <p:nvPr/>
        </p:nvSpPr>
        <p:spPr>
          <a:xfrm>
            <a:off x="7008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5-mark183"/>
          <p:cNvSpPr/>
          <p:nvPr/>
        </p:nvSpPr>
        <p:spPr>
          <a:xfrm>
            <a:off x="7923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mark184"/>
          <p:cNvSpPr/>
          <p:nvPr/>
        </p:nvSpPr>
        <p:spPr>
          <a:xfrm>
            <a:off x="8837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5-mark185"/>
          <p:cNvSpPr/>
          <p:nvPr/>
        </p:nvSpPr>
        <p:spPr>
          <a:xfrm>
            <a:off x="9752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mark186"/>
          <p:cNvSpPr/>
          <p:nvPr/>
        </p:nvSpPr>
        <p:spPr>
          <a:xfrm>
            <a:off x="10666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5-mark187"/>
          <p:cNvSpPr/>
          <p:nvPr/>
        </p:nvSpPr>
        <p:spPr>
          <a:xfrm flipV="1">
            <a:off x="15224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0" name="S15-mark188"/>
          <p:cNvSpPr/>
          <p:nvPr/>
        </p:nvSpPr>
        <p:spPr>
          <a:xfrm>
            <a:off x="1522476" y="3017266"/>
            <a:ext cx="36576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15-mark189"/>
          <p:cNvSpPr/>
          <p:nvPr/>
        </p:nvSpPr>
        <p:spPr>
          <a:xfrm flipV="1">
            <a:off x="51800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2" name="S15-mark190"/>
          <p:cNvSpPr/>
          <p:nvPr/>
        </p:nvSpPr>
        <p:spPr>
          <a:xfrm>
            <a:off x="5180076" y="3017266"/>
            <a:ext cx="36576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3" name="S15-label192"/>
          <p:cNvSpPr txBox="1"/>
          <p:nvPr/>
        </p:nvSpPr>
        <p:spPr>
          <a:xfrm>
            <a:off x="1375410" y="406793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4" name="S15-label194"/>
          <p:cNvSpPr txBox="1"/>
          <p:nvPr/>
        </p:nvSpPr>
        <p:spPr>
          <a:xfrm>
            <a:off x="5771388" y="4067937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2200" dirty="0"/>
          </a:p>
        </p:txBody>
      </p:sp>
      <p:sp>
        <p:nvSpPr>
          <p:cNvPr id="25" name="S15-label196"/>
          <p:cNvSpPr txBox="1"/>
          <p:nvPr/>
        </p:nvSpPr>
        <p:spPr>
          <a:xfrm>
            <a:off x="10519410" y="406793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6" name="S15-label198"/>
          <p:cNvSpPr txBox="1"/>
          <p:nvPr/>
        </p:nvSpPr>
        <p:spPr>
          <a:xfrm>
            <a:off x="8514588" y="4067937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</a:t>
            </a:r>
            <a:endParaRPr lang="ko-KR" sz="2200" dirty="0"/>
          </a:p>
        </p:txBody>
      </p:sp>
      <p:sp>
        <p:nvSpPr>
          <p:cNvPr id="27" name="S15-label200"/>
          <p:cNvSpPr txBox="1"/>
          <p:nvPr/>
        </p:nvSpPr>
        <p:spPr>
          <a:xfrm>
            <a:off x="3028188" y="2403729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200" dirty="0"/>
          </a:p>
        </p:txBody>
      </p:sp>
      <p:sp>
        <p:nvSpPr>
          <p:cNvPr id="28" name="S15-label202"/>
          <p:cNvSpPr txBox="1"/>
          <p:nvPr/>
        </p:nvSpPr>
        <p:spPr>
          <a:xfrm>
            <a:off x="6685788" y="2403729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소수의 곱셈</dc:title>
  <dc:subject>KR22-G05-MAT-DECMUL-L01</dc:subject>
  <dc:creator>education-ppt</dc:creator>
  <cp:lastModifiedBy>education-ppt</cp:lastModifiedBy>
  <cp:revision>1</cp:revision>
  <dcterms:created xsi:type="dcterms:W3CDTF">2026-10-26T08:32:15Z</dcterms:created>
  <dcterms:modified xsi:type="dcterms:W3CDTF">2026-10-26T08:32:15Z</dcterms:modified>
</cp:coreProperties>
</file>