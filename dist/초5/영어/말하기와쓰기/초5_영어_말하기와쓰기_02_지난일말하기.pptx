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3b8a80-07dd-1b83-89cc-f861f1697dc4}">
          <p14:sldIdLst>
            <p14:sldId id="256"/>
            <p14:sldId id="257"/>
          </p14:sldIdLst>
        </p14:section>
        <p14:section name="개념" id="{c52735aa-4b00-c39c-64a6-9c1e26e9d59d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00d8eb4a-ff3a-3cc6-4c9d-85adcf49edb6}">
          <p14:sldIdLst>
            <p14:sldId id="262"/>
            <p14:sldId id="263"/>
            <p14:sldId id="265"/>
            <p14:sldId id="266"/>
          </p14:sldIdLst>
        </p14:section>
        <p14:section name="개념" id="{4d9893b6-1b24-698c-e169-0bf378c32890}">
          <p14:sldIdLst/>
        </p14:section>
        <p14:section name="연습" id="{b4998598-e635-5e25-215e-c3e7e36ebf7c}">
          <p14:sldIdLst/>
        </p14:section>
        <p14:section name="확인" id="{cca22bd8-8707-2841-699b-fd48d7b87a33}">
          <p14:sldIdLst>
            <p14:sldId id="267"/>
            <p14:sldId id="268"/>
            <p14:sldId id="269"/>
          </p14:sldIdLst>
        </p14:section>
        <p14:section name="정리" id="{c50051ca-1ef6-5c63-9489-ef06c338c887}">
          <p14:sldIdLst>
            <p14:sldId id="270"/>
          </p14:sldIdLst>
        </p14:section>
        <p14:section name="보충" id="{cb3ec80c-7a56-70f0-9ee9-f7965c4a3cc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어제나 지난 주말에 한 일을 떠올리고, 지난 일은 영어로 다르게 말한다는 것에 관심을 갖게 합니다.
시간: 약 2분
이렇게 말해 보세요
- “어제 뭐 했어? 지난 주말에는?”
- “지난 시간에는 매일 하는 일을 말했지? 오늘은 이미 지나간 일을 영어로 말하는 방법을 배울 거야. 오른쪽 문장은 ‘나는 어제 축구를 했어요.’라는 뜻이야.”
예상 답
- “할머니 댁에 갔어요.” “축구를 했어요.”
주의
- 수업 전에 교과서 디지털 자료나 사전 앱의 발음 듣기로 오늘 낱말(played, visited, watched, went, ate, saw, had, yesterday, last Sunday, last weekend)을 미리 들어 두세요. 부모님 발음이 완벽하지 않아도 괜찮습니다.
- -ed는 낱말에 따라 소리가 조금씩 다르게 납니다. 소리를 글자로 적어 설명하지 말고, 소리 자료를 듣고 따라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확인(하루 일과 말하기)]
목적: 앞 차시 ‘하루 일과 말하기’의 I ~ at ~. 문장을 말할 수 있는지 확인합니다. 오늘은 이 ‘매일 하는 일’과 견주어 ‘지난 일’을 배웁니다.
시간: 약 3분
이렇게 말해 보세요
- “①, 시계를 보고 문장으로 말해 볼래?”
- “②도 말해 봐.”
정답
- ① I get up at seven.
- ② I go to school at eight thirty.
막히면
- “일어나다는 영어로? 7시에는?”처럼 나누어 묻고 이어 말하게 합니다.
- 두 문장 가운데 하나라도 말하지 못하면 S16(보충)을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매일 하는 일과 어제 한 일 비교(play → played)]
목적: 매일 하는 일(play)과 이미 한 일(played)을 비교해, 지난 일은 동사의 모양이 바뀐다는 것을 압니다(M2).
시간: 약 3분
이렇게 말해 보세요
- “위 문장은 매일 하는 일, 아래 문장은 어제 한 일이야. 두 문장에서 무엇이 달라?”
- “play가 played로 바뀌었지? 끝에 -ed가 붙었어. 그리고 every day 대신 yesterday, ‘어제’가 왔어.”
- “소리를 듣고 따라 해 보자. I played soccer yesterday.”
예상 답
- “play에 ed가 붙었어요.” “yesterday가 있어요.”
막히면
- 두 문장을 한 낱말씩 손가락으로 짚으며 같은 것과 다른 것을 찾게 합니다.
주의
- every day는 ‘매일’이라는 뜻입니다. 오늘은 듣고 이해만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-ed를 붙이는 동사(visit, watch)]
목적: -ed를 붙여 과거형을 만드는 동사 visit, watch를 익히고, 원래 낱말 끝에 ed 두 글자를 붙인다는 것을 압니다(M3).
시간: 약 3분
이렇게 말해 보세요
- “visit은 ‘방문하다, 찾아가다’야. 지난 일이면 끝에 ed를 붙여서 visited. I visited my grandma. ‘나는 할머니 댁에 갔어요(방문했어요).’”
- “watch는 ‘보다’야. TV나 영화를 볼 때 써. 지난 일이면? watched. I watched TV.”
- “소리를 듣고 따라 해 보자.” (소리 자료로 visited, watched를 들려줍니다.)
예상 답
- “visited.” “watched.”
막히면
- 원래 낱말을 먼저 말하고 잠깐 쉰 뒤 ed를 붙여 말하게 합니다. visit … visited.
주의
- 철자: 원래 낱말 끝에 e, d를 그대로 붙입니다. visitted나 watchd로 쓰지 않습니다(M3).
- visited와 watched는 끝소리가 서로 다르게 들립니다. 소리 자료로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모양이 바뀌는 동사(go, eat)]
목적: -ed를 붙이지 않고 모양이 바뀌는 동사 go → went, eat → ate를 익힙니다(M1).
시간: 약 2분
이렇게 말해 보세요
- “어떤 동사는 -ed를 붙이지 않고 모양이 완전히 바뀌어. go는 went, eat은 ate야. 소리를 듣고 따라 해 보자.”
- “I went to the park. ‘나는 공원에 갔어요.’ I ate pizza. ‘나는 피자를 먹었어요.’”
- “엄마(아빠)가 go라고 하면 너는 went, eat이라고 하면 ate라고 말해 줘.” (몇 번 빠르게 주고받습니다.)
예상 답
- “went.” “ate.”
막히면
- 낱말 짝을 손뼉 치기 놀이처럼 리듬에 맞춰 말합니다. go, went! eat, ate!
주의
- goed, eated라는 낱말은 없습니다. 아이가 이렇게 말하면 S08에서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모양이 바뀌는 동사(see, have)]
목적: 모양이 바뀌는 동사 see → saw, have → had를 익힙니다(M1).
시간: 약 2분
이렇게 말해 보세요
- “see는 ‘보다’, 지난 일이면 saw야. I saw a rainbow. ‘나는 무지개를 보았어요.’”
- “have는 ‘가지다’, 지난 일이면 had야. I had a party. ‘나는 파티를 했어요.’”
- “이번에는 섞어서 해 보자. go? eat? see? have?”
예상 답
- “went, ate, saw, had.”
막히면
- S05와 이 장의 네 짝을 종이에 써서 보며 말하게 합니다. 오늘은 외우지 못해도 보고 고를 수 있으면 됩니다.
주의
- watch와 see는 둘 다 ‘보다’입니다. watch는 TV나 경기처럼 한동안 지켜볼 때, see는 눈에 보일 때 많이 씁니다. 아이에게 자세히 설명하지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과거형으로 바꾸어 말하기]
목적: 부모와 함께 동사를 과거형으로 바꾸어 문장을 말합니다.
시간: 약 3분
이렇게 말해 보세요
- “①, play는 -ed를 붙이는 동사야, 모양이 바뀌는 동사야? 문장으로 말해 볼래?”
- “②, ③, ④도 같은 방법으로 해 보자.”
정답
- ① I played badminton yesterday.
- ② I went to the library yesterday.
- ③ I watched a movie yesterday.
- ④ I ate noodles yesterday.
막히면
- S04~S06을 다시 보여 주고, 동사가 어느 장에 있었는지 찾게 합니다.
주의
- 뜻: badminton 배드민턴, library 도서관, movie 영화, noodles 국수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비교(goed와 went)]
목적: 모양이 바뀌는 동사에 -ed를 붙이는 실수를 비교로 바로잡습니다(M1).
시간: 약 3분
이렇게 말해 보세요
- “두 문장에서 무엇이 달라?”
- “바른 문장은 어느 쪽이야? 왜 그렇게 생각해?”
- “그럼 eat의 지난 일은? eated일까?”
정답
- 나(I went to the park yesterday.). go는 -ed를 붙이지 않고 went로 모양이 바뀝니다.
- 가의 goed라는 낱말은 없습니다. eat도 eated가 아니라 ate입니다.
막히면
- S05를 다시 보여 주고 “go는 어느 쪽 동사였지?”라고 묻습니다.
주의
- 여기까지가 과거형을 배우는 부분입니다. 아이가 지치면 여기서 나누어 다음 날 S09부터 해도 됩니다. 다음 날 시작할 때 S04~S06의 짝을 한 번 더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때를 나타내는 말(yesterday, last ~)]
목적: 지난 때를 나타내는 yesterday와 last ~를 익히고, 문장 끝에 넣어 말합니다(M2).
시간: 약 2분
이렇게 말해 보세요
- “yesterday는 ‘어제’야. last는 ‘지난’이라는 뜻이라서 last Sunday는 ‘지난 일요일’, last weekend는 ‘지난 주말’이야. 소리를 듣고 따라 해 보자.”
- “아래 문장처럼 때를 나타내는 말은 문장 끝에 붙여. I visited my grandma last Sunday.”
- “이런 말이 있으면 동사는 어떤 모양이어야 할까?”
예상 답
- “지난 일이니까 -ed를 붙이거나 모양을 바꿔요.”
막히면
- 달력이 있으면 오늘, 어제, 지난 일요일, 지난 주말을 손가락으로 짚어 봅니다.
주의
- 요일 이름(Sunday, Saturday)은 언제나 대문자로 시작합니다. last Saturday처럼 다른 요일로 바꾸어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지난 주말 글에서 과거형 찾기]
목적: 지난 일을 쓴 짧은 글을 읽으며 과거형 동사와 때를 나타내는 말이 어떻게 쓰이는지 봅니다.
시간: 약 3분
이렇게 말해 보세요
- “Mina가 지난 주말에 한 일을 썼어. 한 문장씩 같이 읽어 볼까?”
- “과거형 동사를 찾아 손가락으로 짚어 볼래? 원래 모양은 뭐야?”
- “언제 한 일인지 알려 주는 말도 찾아볼까?”
정답
- 과거형 동사: ① visited(visit) ② ate(eat) ③ played(play) ④ had(have)
- 때를 나타내는 말: last Saturday(①), last Sunday(③)
막히면
- 문장마다 “Mina가 무엇을 했어?”라고 묻고, 그 일을 나타내는 낱말을 찾게 합니다.
주의
- together는 ‘함께’, great은 ‘아주 좋은’이라는 뜻입니다. ④의 had a great weekend는 ‘주말을 아주 즐겁게 보냈다’는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때를 넣어 지난 일 말하기]
목적: 동사를 과거형으로 바꾸고 때를 나타내는 말을 문장 끝에 넣어 지난 일을 말합니다.
시간: 약 3분
이렇게 말해 보세요
- “①, 낱말을 이어서 지난 일을 말해 볼래? 동사를 바꾸는 것 잊지 마.”
- “②도 해 봐.”
- “③, 너는 지난 주말에 뭐 했어? 영어로 한 문장 말해 볼래?” (부모가 먼저 “I went to the market last weekend.”처럼 예를 보여 주어도 됩니다.)
정답
- ① I visited my grandma last Sunday.
- ② I watched TV yesterday.
- ③ 예: I played soccer last weekend. / I went to the park last weekend. / I ate pizza last weekend.
- 기준: ③은 오늘 배운 과거형 동사 하나와 때를 나타내는 말을 넣어 말하면 맞습니다.
막히면
- ①에서 visit을 그대로 말하면 “last Sunday는 지난 때지? 그럼 visit은?”이라고 묻습니다(M2).
- ③에서 할 말을 못 찾으면 “공원에 갔어? 무엇을 먹었어?”라고 우리말로 먼저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과거형으로 말하기]
목적: 도움 없이 동사를 과거형으로 바꾸어 말하고, 자기가 한 일을 때를 나타내는 말과 함께 말하고 쓰는지 확인합니다.
시간: 약 4분
이렇게 말해 보세요
- “이번에는 혼자 해 볼래? ①②③은 괄호 안의 동사를 바꾸어 문장으로 말해 줘.”
- “④, 어제 한 일 한 가지를 영어로 말하고 활동지 5의 빈 줄에 써 봐.”
정답
- ① I played soccer last Saturday.
- ② I saw a rainbow yesterday.
- ③ I had a party last Sunday.
- ④ 예: I watched TV yesterday. / I ate noodles yesterday.
- 기준: ①②③ 가운데 두 개 이상 맞고, ④를 과거형 동사와 yesterday를 넣어 대문자 I, 철자, 마침표까지 바르게 쓰면 통과입니다. seed, haved처럼 말하면 M1로 기록합니다.
막히면
- 바로 알려 주지 말고 “-ed를 붙이는 동사야, 모양이 바뀌는 동사야?”라고만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확인하고 흔한 실수와 비교합니다.
시간: 약 2분
이렇게 말해 보세요
- “네 답과 왼쪽 정답을 비교해 보자.”
- “오른쪽처럼 말하면 왜 틀릴까?”
예상 답
- “see는 saw로 바뀌어요.” “yesterday니까 과거형으로 말해야 해요.”
주의
- 이 장은 학생용 파일에서 빠집니다. ④는 went, ate, saw, had처럼 모양이 바뀌는 동사를 써도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확인(바른 과거형 문장 고르기)]
목적: 처음 보는 형식(여러 틀린 형태 가운데 고르기)에서 과거형을 바르게 알아보는지 확인합니다.
시간: 약 2분
이렇게 말해 보세요
- “네 문장을 같이 읽어 보자. 바른 문장은 어느 것일까? 어떻게 알았어?”
- “이번에는 엄마(아빠)가 말하는 문장을 바르게 고쳐 줘. I visit my grandma last Sunday.”
정답
- 나(I ate pizza yesterday.)
- 가와 라는 없는 낱말(eated, ated), 다는 yesterday인데 지금 모양(eat)을 썼습니다.
- 고쳐 말하기: I visited my grandma last Sunday.
막히면
- S05를 다시 보여 주고 “eat의 지난 일은?”이라고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다음 학습과 복습]
목적: 핵심을 정리하고 다음 수업 첫 5분에 풀 복습을 알려 줍니다.
시간: 약 2분
이렇게 말해 보세요
- “지난 일은 어떻게 말한다고 했지? 두 가지 방법이 있었지?”
- “모양이 바뀌는 동사 네 개를 말해 볼래?”
예상 답
- “-ed를 붙이거나 모양이 바뀌어요.” “went, ate, saw, had요.”
정답
- ① went, ate, saw, had ② I watched TV yesterday. ③ 예: I played soccer yesterday.
주의
- 저녁마다 “오늘 뭐 했어?”를 영어 한 문장으로 말해 보는 놀이를 해 보세요(예: I went to school. I ate noodles.).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보충(하루 일과 말하기)]
목적: S02에서 매일 하는 일을 말하지 못하면, 지난 일을 배우기 전에 먼저 다시 익힙니다. 지금 모양의 문장을 말할 수 있어야 과거형과 비교할 수 있습니다.
시간: 약 5분
이렇게 말해 보세요
- “소리를 듣고 따라 말해 보자.” (교과서 디지털 자료나 사전 앱의 소리를 함께 듣습니다.)
- “너는 몇 시에 일어나? 영어로 말해 볼래? 집에는 몇 시에 와?”
정답
- I get up at (아이의 시각). / I go home at (아이의 시각). (at과 시각을 넣어 말하면 맞음)
막히면
- 부모가 먼저 말하고 아이가 따라 말하는 것부터 다시 합니다.
주의
- 보충 뒤에도 일과 문장을 말하지 못하면 앞 차시 ‘하루 일과 말하기’(KR22-G05-ENG-ROUTINE-L01)를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1234440"/>
            <a:ext cx="393192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일을 과거형 동사로 바르게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yesterday, last Sunday를 넣어 지난 일을 말하고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 떠올리기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시계를 보고 문장으로 말해요.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word6"/>
          <p:cNvSpPr txBox="1"/>
          <p:nvPr/>
        </p:nvSpPr>
        <p:spPr>
          <a:xfrm>
            <a:off x="1344168" y="2148840"/>
            <a:ext cx="258318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02-figure7" descr="시계: 7시"/>
          <p:cNvSpPr/>
          <p:nvPr/>
        </p:nvSpPr>
        <p:spPr>
          <a:xfrm>
            <a:off x="4533138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>
            <a:off x="5538978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5635037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5730043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582295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5912758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5968289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607913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6153890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6221907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6282442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6282566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637850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6412972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6437868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>
            <a:off x="6452916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>
            <a:off x="6397600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6452916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6437868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6412972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637850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6282566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6282442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6221907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6153890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607913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5968289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5912758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582295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H="1" flipV="1">
            <a:off x="5730043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H="1" flipV="1">
            <a:off x="5635037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5538978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5437662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5337457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5239459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5144743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505434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4969259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4890414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481867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4754827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4699571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465351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461715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 flipV="1">
            <a:off x="459089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 flipV="1">
            <a:off x="4575024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4569714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4575024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459089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461715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465351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4699571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4754827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481867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4890414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4969259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505434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5144743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5239459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66"/>
          <p:cNvSpPr/>
          <p:nvPr/>
        </p:nvSpPr>
        <p:spPr>
          <a:xfrm>
            <a:off x="5337457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ine67"/>
          <p:cNvSpPr/>
          <p:nvPr/>
        </p:nvSpPr>
        <p:spPr>
          <a:xfrm>
            <a:off x="5437662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label68"/>
          <p:cNvSpPr txBox="1"/>
          <p:nvPr/>
        </p:nvSpPr>
        <p:spPr>
          <a:xfrm>
            <a:off x="5661965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02-label69"/>
          <p:cNvSpPr txBox="1"/>
          <p:nvPr/>
        </p:nvSpPr>
        <p:spPr>
          <a:xfrm>
            <a:off x="5952814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02-label70"/>
          <p:cNvSpPr txBox="1"/>
          <p:nvPr/>
        </p:nvSpPr>
        <p:spPr>
          <a:xfrm>
            <a:off x="605927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02-label71"/>
          <p:cNvSpPr txBox="1"/>
          <p:nvPr/>
        </p:nvSpPr>
        <p:spPr>
          <a:xfrm>
            <a:off x="5952814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02-label72"/>
          <p:cNvSpPr txBox="1"/>
          <p:nvPr/>
        </p:nvSpPr>
        <p:spPr>
          <a:xfrm>
            <a:off x="5661965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02-label73"/>
          <p:cNvSpPr txBox="1"/>
          <p:nvPr/>
        </p:nvSpPr>
        <p:spPr>
          <a:xfrm>
            <a:off x="5264658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02-label74"/>
          <p:cNvSpPr txBox="1"/>
          <p:nvPr/>
        </p:nvSpPr>
        <p:spPr>
          <a:xfrm>
            <a:off x="4867351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02-label75"/>
          <p:cNvSpPr txBox="1"/>
          <p:nvPr/>
        </p:nvSpPr>
        <p:spPr>
          <a:xfrm>
            <a:off x="4576502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02-label76"/>
          <p:cNvSpPr txBox="1"/>
          <p:nvPr/>
        </p:nvSpPr>
        <p:spPr>
          <a:xfrm>
            <a:off x="447004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02-label77"/>
          <p:cNvSpPr txBox="1"/>
          <p:nvPr/>
        </p:nvSpPr>
        <p:spPr>
          <a:xfrm>
            <a:off x="4576502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02-label78"/>
          <p:cNvSpPr txBox="1"/>
          <p:nvPr/>
        </p:nvSpPr>
        <p:spPr>
          <a:xfrm>
            <a:off x="4867351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02-label79"/>
          <p:cNvSpPr txBox="1"/>
          <p:nvPr/>
        </p:nvSpPr>
        <p:spPr>
          <a:xfrm>
            <a:off x="5264658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02-line80"/>
          <p:cNvSpPr/>
          <p:nvPr/>
        </p:nvSpPr>
        <p:spPr>
          <a:xfrm flipH="1">
            <a:off x="5317693" y="3017520"/>
            <a:ext cx="221285" cy="38327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2-line81"/>
          <p:cNvSpPr/>
          <p:nvPr/>
        </p:nvSpPr>
        <p:spPr>
          <a:xfrm flipV="1">
            <a:off x="5538978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2-pin82"/>
          <p:cNvSpPr/>
          <p:nvPr/>
        </p:nvSpPr>
        <p:spPr>
          <a:xfrm>
            <a:off x="5484114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2-chip8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02-word84"/>
          <p:cNvSpPr txBox="1"/>
          <p:nvPr/>
        </p:nvSpPr>
        <p:spPr>
          <a:xfrm>
            <a:off x="1344168" y="4343400"/>
            <a:ext cx="258318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school</a:t>
            </a:r>
            <a:endParaRPr lang="ko-KR" sz="3200" dirty="0"/>
          </a:p>
        </p:txBody>
      </p:sp>
      <p:sp>
        <p:nvSpPr>
          <p:cNvPr id="84" name="S02-figure85" descr="시계: 8시 30분"/>
          <p:cNvSpPr/>
          <p:nvPr/>
        </p:nvSpPr>
        <p:spPr>
          <a:xfrm>
            <a:off x="453313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2-line86"/>
          <p:cNvSpPr/>
          <p:nvPr/>
        </p:nvSpPr>
        <p:spPr>
          <a:xfrm>
            <a:off x="553897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2-line87"/>
          <p:cNvSpPr/>
          <p:nvPr/>
        </p:nvSpPr>
        <p:spPr>
          <a:xfrm flipH="1">
            <a:off x="563503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88"/>
          <p:cNvSpPr/>
          <p:nvPr/>
        </p:nvSpPr>
        <p:spPr>
          <a:xfrm flipH="1">
            <a:off x="573004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2-line89"/>
          <p:cNvSpPr/>
          <p:nvPr/>
        </p:nvSpPr>
        <p:spPr>
          <a:xfrm flipH="1">
            <a:off x="582295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0"/>
          <p:cNvSpPr/>
          <p:nvPr/>
        </p:nvSpPr>
        <p:spPr>
          <a:xfrm flipH="1">
            <a:off x="591275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1"/>
          <p:cNvSpPr/>
          <p:nvPr/>
        </p:nvSpPr>
        <p:spPr>
          <a:xfrm flipH="1">
            <a:off x="596828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2-line92"/>
          <p:cNvSpPr/>
          <p:nvPr/>
        </p:nvSpPr>
        <p:spPr>
          <a:xfrm flipH="1">
            <a:off x="607913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93"/>
          <p:cNvSpPr/>
          <p:nvPr/>
        </p:nvSpPr>
        <p:spPr>
          <a:xfrm flipH="1">
            <a:off x="615389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2-line94"/>
          <p:cNvSpPr/>
          <p:nvPr/>
        </p:nvSpPr>
        <p:spPr>
          <a:xfrm flipH="1">
            <a:off x="622190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95"/>
          <p:cNvSpPr/>
          <p:nvPr/>
        </p:nvSpPr>
        <p:spPr>
          <a:xfrm flipH="1">
            <a:off x="628244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96"/>
          <p:cNvSpPr/>
          <p:nvPr/>
        </p:nvSpPr>
        <p:spPr>
          <a:xfrm flipH="1">
            <a:off x="628256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2-line97"/>
          <p:cNvSpPr/>
          <p:nvPr/>
        </p:nvSpPr>
        <p:spPr>
          <a:xfrm flipH="1">
            <a:off x="63785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98"/>
          <p:cNvSpPr/>
          <p:nvPr/>
        </p:nvSpPr>
        <p:spPr>
          <a:xfrm flipH="1">
            <a:off x="641297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2-line99"/>
          <p:cNvSpPr/>
          <p:nvPr/>
        </p:nvSpPr>
        <p:spPr>
          <a:xfrm flipH="1">
            <a:off x="643786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00"/>
          <p:cNvSpPr/>
          <p:nvPr/>
        </p:nvSpPr>
        <p:spPr>
          <a:xfrm flipH="1">
            <a:off x="645291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01"/>
          <p:cNvSpPr/>
          <p:nvPr/>
        </p:nvSpPr>
        <p:spPr>
          <a:xfrm flipH="1">
            <a:off x="639760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2-line102"/>
          <p:cNvSpPr/>
          <p:nvPr/>
        </p:nvSpPr>
        <p:spPr>
          <a:xfrm flipH="1" flipV="1">
            <a:off x="645291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03"/>
          <p:cNvSpPr/>
          <p:nvPr/>
        </p:nvSpPr>
        <p:spPr>
          <a:xfrm flipH="1" flipV="1">
            <a:off x="643786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2-line104"/>
          <p:cNvSpPr/>
          <p:nvPr/>
        </p:nvSpPr>
        <p:spPr>
          <a:xfrm flipH="1" flipV="1">
            <a:off x="641297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05"/>
          <p:cNvSpPr/>
          <p:nvPr/>
        </p:nvSpPr>
        <p:spPr>
          <a:xfrm flipH="1" flipV="1">
            <a:off x="63785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06"/>
          <p:cNvSpPr/>
          <p:nvPr/>
        </p:nvSpPr>
        <p:spPr>
          <a:xfrm flipH="1" flipV="1">
            <a:off x="628256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2-line107"/>
          <p:cNvSpPr/>
          <p:nvPr/>
        </p:nvSpPr>
        <p:spPr>
          <a:xfrm flipH="1" flipV="1">
            <a:off x="628244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08"/>
          <p:cNvSpPr/>
          <p:nvPr/>
        </p:nvSpPr>
        <p:spPr>
          <a:xfrm flipH="1" flipV="1">
            <a:off x="622190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2-line109"/>
          <p:cNvSpPr/>
          <p:nvPr/>
        </p:nvSpPr>
        <p:spPr>
          <a:xfrm flipH="1" flipV="1">
            <a:off x="615389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10"/>
          <p:cNvSpPr/>
          <p:nvPr/>
        </p:nvSpPr>
        <p:spPr>
          <a:xfrm flipH="1" flipV="1">
            <a:off x="607913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11"/>
          <p:cNvSpPr/>
          <p:nvPr/>
        </p:nvSpPr>
        <p:spPr>
          <a:xfrm flipH="1" flipV="1">
            <a:off x="596828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2-line112"/>
          <p:cNvSpPr/>
          <p:nvPr/>
        </p:nvSpPr>
        <p:spPr>
          <a:xfrm flipH="1" flipV="1">
            <a:off x="591275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13"/>
          <p:cNvSpPr/>
          <p:nvPr/>
        </p:nvSpPr>
        <p:spPr>
          <a:xfrm flipH="1" flipV="1">
            <a:off x="582295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2-line114"/>
          <p:cNvSpPr/>
          <p:nvPr/>
        </p:nvSpPr>
        <p:spPr>
          <a:xfrm flipH="1" flipV="1">
            <a:off x="573004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15"/>
          <p:cNvSpPr/>
          <p:nvPr/>
        </p:nvSpPr>
        <p:spPr>
          <a:xfrm flipH="1" flipV="1">
            <a:off x="563503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16"/>
          <p:cNvSpPr/>
          <p:nvPr/>
        </p:nvSpPr>
        <p:spPr>
          <a:xfrm flipV="1">
            <a:off x="553897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2-line117"/>
          <p:cNvSpPr/>
          <p:nvPr/>
        </p:nvSpPr>
        <p:spPr>
          <a:xfrm flipV="1">
            <a:off x="543766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18"/>
          <p:cNvSpPr/>
          <p:nvPr/>
        </p:nvSpPr>
        <p:spPr>
          <a:xfrm flipV="1">
            <a:off x="533745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2-line119"/>
          <p:cNvSpPr/>
          <p:nvPr/>
        </p:nvSpPr>
        <p:spPr>
          <a:xfrm flipV="1">
            <a:off x="523945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20"/>
          <p:cNvSpPr/>
          <p:nvPr/>
        </p:nvSpPr>
        <p:spPr>
          <a:xfrm flipV="1">
            <a:off x="514474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21"/>
          <p:cNvSpPr/>
          <p:nvPr/>
        </p:nvSpPr>
        <p:spPr>
          <a:xfrm flipV="1">
            <a:off x="505434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2-line122"/>
          <p:cNvSpPr/>
          <p:nvPr/>
        </p:nvSpPr>
        <p:spPr>
          <a:xfrm flipV="1">
            <a:off x="496925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23"/>
          <p:cNvSpPr/>
          <p:nvPr/>
        </p:nvSpPr>
        <p:spPr>
          <a:xfrm flipV="1">
            <a:off x="489041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2-line124"/>
          <p:cNvSpPr/>
          <p:nvPr/>
        </p:nvSpPr>
        <p:spPr>
          <a:xfrm flipV="1">
            <a:off x="481867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125"/>
          <p:cNvSpPr/>
          <p:nvPr/>
        </p:nvSpPr>
        <p:spPr>
          <a:xfrm flipV="1">
            <a:off x="475482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126"/>
          <p:cNvSpPr/>
          <p:nvPr/>
        </p:nvSpPr>
        <p:spPr>
          <a:xfrm flipV="1">
            <a:off x="469957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2-line127"/>
          <p:cNvSpPr/>
          <p:nvPr/>
        </p:nvSpPr>
        <p:spPr>
          <a:xfrm flipV="1">
            <a:off x="465351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128"/>
          <p:cNvSpPr/>
          <p:nvPr/>
        </p:nvSpPr>
        <p:spPr>
          <a:xfrm flipV="1">
            <a:off x="461715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2-line129"/>
          <p:cNvSpPr/>
          <p:nvPr/>
        </p:nvSpPr>
        <p:spPr>
          <a:xfrm flipV="1">
            <a:off x="459089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130"/>
          <p:cNvSpPr/>
          <p:nvPr/>
        </p:nvSpPr>
        <p:spPr>
          <a:xfrm flipV="1">
            <a:off x="457502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131"/>
          <p:cNvSpPr/>
          <p:nvPr/>
        </p:nvSpPr>
        <p:spPr>
          <a:xfrm>
            <a:off x="456971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2-line132"/>
          <p:cNvSpPr/>
          <p:nvPr/>
        </p:nvSpPr>
        <p:spPr>
          <a:xfrm>
            <a:off x="457502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133"/>
          <p:cNvSpPr/>
          <p:nvPr/>
        </p:nvSpPr>
        <p:spPr>
          <a:xfrm>
            <a:off x="459089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2-line134"/>
          <p:cNvSpPr/>
          <p:nvPr/>
        </p:nvSpPr>
        <p:spPr>
          <a:xfrm>
            <a:off x="461715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135"/>
          <p:cNvSpPr/>
          <p:nvPr/>
        </p:nvSpPr>
        <p:spPr>
          <a:xfrm>
            <a:off x="465351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136"/>
          <p:cNvSpPr/>
          <p:nvPr/>
        </p:nvSpPr>
        <p:spPr>
          <a:xfrm>
            <a:off x="469957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2-line137"/>
          <p:cNvSpPr/>
          <p:nvPr/>
        </p:nvSpPr>
        <p:spPr>
          <a:xfrm>
            <a:off x="475482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138"/>
          <p:cNvSpPr/>
          <p:nvPr/>
        </p:nvSpPr>
        <p:spPr>
          <a:xfrm>
            <a:off x="481867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2-line139"/>
          <p:cNvSpPr/>
          <p:nvPr/>
        </p:nvSpPr>
        <p:spPr>
          <a:xfrm>
            <a:off x="489041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140"/>
          <p:cNvSpPr/>
          <p:nvPr/>
        </p:nvSpPr>
        <p:spPr>
          <a:xfrm>
            <a:off x="496925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141"/>
          <p:cNvSpPr/>
          <p:nvPr/>
        </p:nvSpPr>
        <p:spPr>
          <a:xfrm>
            <a:off x="505434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2-line142"/>
          <p:cNvSpPr/>
          <p:nvPr/>
        </p:nvSpPr>
        <p:spPr>
          <a:xfrm>
            <a:off x="514474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ine143"/>
          <p:cNvSpPr/>
          <p:nvPr/>
        </p:nvSpPr>
        <p:spPr>
          <a:xfrm>
            <a:off x="523945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2-line144"/>
          <p:cNvSpPr/>
          <p:nvPr/>
        </p:nvSpPr>
        <p:spPr>
          <a:xfrm>
            <a:off x="533745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2-line145"/>
          <p:cNvSpPr/>
          <p:nvPr/>
        </p:nvSpPr>
        <p:spPr>
          <a:xfrm>
            <a:off x="543766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2-label146"/>
          <p:cNvSpPr txBox="1"/>
          <p:nvPr/>
        </p:nvSpPr>
        <p:spPr>
          <a:xfrm>
            <a:off x="566196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02-label147"/>
          <p:cNvSpPr txBox="1"/>
          <p:nvPr/>
        </p:nvSpPr>
        <p:spPr>
          <a:xfrm>
            <a:off x="595281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02-label148"/>
          <p:cNvSpPr txBox="1"/>
          <p:nvPr/>
        </p:nvSpPr>
        <p:spPr>
          <a:xfrm>
            <a:off x="605927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02-label149"/>
          <p:cNvSpPr txBox="1"/>
          <p:nvPr/>
        </p:nvSpPr>
        <p:spPr>
          <a:xfrm>
            <a:off x="595281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02-label150"/>
          <p:cNvSpPr txBox="1"/>
          <p:nvPr/>
        </p:nvSpPr>
        <p:spPr>
          <a:xfrm>
            <a:off x="566196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02-label151"/>
          <p:cNvSpPr txBox="1"/>
          <p:nvPr/>
        </p:nvSpPr>
        <p:spPr>
          <a:xfrm>
            <a:off x="526465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02-label152"/>
          <p:cNvSpPr txBox="1"/>
          <p:nvPr/>
        </p:nvSpPr>
        <p:spPr>
          <a:xfrm>
            <a:off x="486735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02-label153"/>
          <p:cNvSpPr txBox="1"/>
          <p:nvPr/>
        </p:nvSpPr>
        <p:spPr>
          <a:xfrm>
            <a:off x="457650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02-label154"/>
          <p:cNvSpPr txBox="1"/>
          <p:nvPr/>
        </p:nvSpPr>
        <p:spPr>
          <a:xfrm>
            <a:off x="447004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02-label155"/>
          <p:cNvSpPr txBox="1"/>
          <p:nvPr/>
        </p:nvSpPr>
        <p:spPr>
          <a:xfrm>
            <a:off x="457650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02-label156"/>
          <p:cNvSpPr txBox="1"/>
          <p:nvPr/>
        </p:nvSpPr>
        <p:spPr>
          <a:xfrm>
            <a:off x="486735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02-label157"/>
          <p:cNvSpPr txBox="1"/>
          <p:nvPr/>
        </p:nvSpPr>
        <p:spPr>
          <a:xfrm>
            <a:off x="526465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02-line158"/>
          <p:cNvSpPr/>
          <p:nvPr/>
        </p:nvSpPr>
        <p:spPr>
          <a:xfrm flipH="1">
            <a:off x="5111489" y="5212080"/>
            <a:ext cx="427489" cy="11454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2-line159"/>
          <p:cNvSpPr/>
          <p:nvPr/>
        </p:nvSpPr>
        <p:spPr>
          <a:xfrm>
            <a:off x="5538978" y="521208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2-pin160"/>
          <p:cNvSpPr/>
          <p:nvPr/>
        </p:nvSpPr>
        <p:spPr>
          <a:xfrm>
            <a:off x="548411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일, 어제 한 일</a:t>
            </a:r>
            <a:endParaRPr lang="ko-KR" sz="4000" dirty="0"/>
          </a:p>
        </p:txBody>
      </p:sp>
      <p:sp>
        <p:nvSpPr>
          <p:cNvPr id="3" name="S03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동사 끝에 -ed를 붙여 말해요.</a:t>
            </a:r>
            <a:endParaRPr lang="ko-KR" sz="2800" dirty="0"/>
          </a:p>
        </p:txBody>
      </p:sp>
      <p:sp>
        <p:nvSpPr>
          <p:cNvPr id="5" name="S03-word163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 soccer every day.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매일 축구를 해요.</a:t>
            </a:r>
            <a:endParaRPr lang="ko-KR" sz="3200" dirty="0"/>
          </a:p>
        </p:txBody>
      </p:sp>
      <p:sp>
        <p:nvSpPr>
          <p:cNvPr id="6" name="S03-word164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어제 축구를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-ed를 붙여요</a:t>
            </a:r>
            <a:endParaRPr lang="ko-KR" sz="4000" dirty="0"/>
          </a:p>
        </p:txBody>
      </p:sp>
      <p:sp>
        <p:nvSpPr>
          <p:cNvPr id="3" name="S04-card16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my grandma.</a:t>
            </a:r>
            <a:endParaRPr lang="ko-KR" sz="2800" dirty="0"/>
          </a:p>
        </p:txBody>
      </p:sp>
      <p:sp>
        <p:nvSpPr>
          <p:cNvPr id="5" name="S04-card16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6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watched TV.</a:t>
            </a:r>
            <a:endParaRPr lang="ko-KR" sz="2800" dirty="0"/>
          </a:p>
        </p:txBody>
      </p:sp>
      <p:sp>
        <p:nvSpPr>
          <p:cNvPr id="7" name="S04-word16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→ visited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방문하다 → 방문했다</a:t>
            </a:r>
            <a:endParaRPr lang="ko-KR" sz="3200" dirty="0"/>
          </a:p>
        </p:txBody>
      </p:sp>
      <p:sp>
        <p:nvSpPr>
          <p:cNvPr id="8" name="S04-word17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→ watched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보다 → 보았다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동사 ①</a:t>
            </a:r>
            <a:endParaRPr lang="ko-KR" sz="4000" dirty="0"/>
          </a:p>
        </p:txBody>
      </p:sp>
      <p:sp>
        <p:nvSpPr>
          <p:cNvPr id="3" name="S05-card17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7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went to the park.</a:t>
            </a:r>
            <a:endParaRPr lang="ko-KR" sz="2800" dirty="0"/>
          </a:p>
        </p:txBody>
      </p:sp>
      <p:sp>
        <p:nvSpPr>
          <p:cNvPr id="5" name="S05-card17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7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 pizza.</a:t>
            </a:r>
            <a:endParaRPr lang="ko-KR" sz="2800" dirty="0"/>
          </a:p>
        </p:txBody>
      </p:sp>
      <p:sp>
        <p:nvSpPr>
          <p:cNvPr id="7" name="S05-word175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→ went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가다 → 갔다</a:t>
            </a:r>
            <a:endParaRPr lang="ko-KR" sz="3200" dirty="0"/>
          </a:p>
        </p:txBody>
      </p:sp>
      <p:sp>
        <p:nvSpPr>
          <p:cNvPr id="8" name="S05-word176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→ ate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 → 먹었다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동사 ②</a:t>
            </a:r>
            <a:endParaRPr lang="ko-KR" sz="4000" dirty="0"/>
          </a:p>
        </p:txBody>
      </p:sp>
      <p:sp>
        <p:nvSpPr>
          <p:cNvPr id="3" name="S06-card17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7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saw a rainbow.</a:t>
            </a:r>
            <a:endParaRPr lang="ko-KR" sz="2800" dirty="0"/>
          </a:p>
        </p:txBody>
      </p:sp>
      <p:sp>
        <p:nvSpPr>
          <p:cNvPr id="5" name="S06-card17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8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had a party.</a:t>
            </a:r>
            <a:endParaRPr lang="ko-KR" sz="2800" dirty="0"/>
          </a:p>
        </p:txBody>
      </p:sp>
      <p:sp>
        <p:nvSpPr>
          <p:cNvPr id="7" name="S06-word181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 → saw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보다 → 보았다</a:t>
            </a:r>
            <a:endParaRPr lang="ko-KR" sz="3200" dirty="0"/>
          </a:p>
        </p:txBody>
      </p:sp>
      <p:sp>
        <p:nvSpPr>
          <p:cNvPr id="8" name="S06-word182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have → had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가지다 → 가졌다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일로 바꾸어요</a:t>
            </a:r>
            <a:endParaRPr lang="ko-KR" sz="4000" dirty="0"/>
          </a:p>
        </p:txBody>
      </p:sp>
      <p:sp>
        <p:nvSpPr>
          <p:cNvPr id="3" name="S07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괄호 안의 동사를 알맞게 바꾸어 말해요.</a:t>
            </a:r>
            <a:endParaRPr lang="ko-KR" sz="2800" dirty="0"/>
          </a:p>
        </p:txBody>
      </p:sp>
      <p:sp>
        <p:nvSpPr>
          <p:cNvPr id="4" name="S07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-ed를 붙일까요, 모양이 바뀔까요?</a:t>
            </a:r>
            <a:endParaRPr lang="ko-KR" sz="2800" dirty="0"/>
          </a:p>
        </p:txBody>
      </p:sp>
      <p:sp>
        <p:nvSpPr>
          <p:cNvPr id="6" name="S07-chip18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18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(play)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badminton yesterday.</a:t>
            </a:r>
            <a:endParaRPr lang="ko-KR" sz="2800" dirty="0"/>
          </a:p>
        </p:txBody>
      </p:sp>
      <p:sp>
        <p:nvSpPr>
          <p:cNvPr id="8" name="S07-chip18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18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(go)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to the library yesterday.</a:t>
            </a:r>
            <a:endParaRPr lang="ko-KR" sz="2800" dirty="0"/>
          </a:p>
        </p:txBody>
      </p:sp>
      <p:sp>
        <p:nvSpPr>
          <p:cNvPr id="10" name="S07-chip19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19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(watch)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movie yesterday.</a:t>
            </a:r>
            <a:endParaRPr lang="ko-KR" sz="2800" dirty="0"/>
          </a:p>
        </p:txBody>
      </p:sp>
      <p:sp>
        <p:nvSpPr>
          <p:cNvPr id="12" name="S07-chip19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19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(eat)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noodles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8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공원에 간 일을 두 친구가 말했어요.</a:t>
            </a:r>
            <a:endParaRPr lang="ko-KR" sz="2800" dirty="0"/>
          </a:p>
        </p:txBody>
      </p:sp>
      <p:sp>
        <p:nvSpPr>
          <p:cNvPr id="5" name="S08-card1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왜 그렇게 생각해요?</a:t>
            </a:r>
            <a:endParaRPr lang="ko-KR" sz="2800" dirty="0"/>
          </a:p>
        </p:txBody>
      </p:sp>
      <p:sp>
        <p:nvSpPr>
          <p:cNvPr id="7" name="S08-chip19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199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goed to the park yesterday.</a:t>
            </a:r>
            <a:endParaRPr lang="ko-KR" sz="3200" dirty="0"/>
          </a:p>
        </p:txBody>
      </p:sp>
      <p:sp>
        <p:nvSpPr>
          <p:cNvPr id="9" name="S08-chip20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201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went to the park yesterday.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한 일인지 말해요</a:t>
            </a:r>
            <a:endParaRPr lang="ko-KR" sz="4000" dirty="0"/>
          </a:p>
        </p:txBody>
      </p:sp>
      <p:sp>
        <p:nvSpPr>
          <p:cNvPr id="3" name="S09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my grandma last Sunday.</a:t>
            </a:r>
            <a:endParaRPr lang="ko-KR" sz="2800" dirty="0"/>
          </a:p>
        </p:txBody>
      </p:sp>
      <p:sp>
        <p:nvSpPr>
          <p:cNvPr id="5" name="S09-word204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</a:t>
            </a:r>
            <a:endParaRPr lang="ko-KR" sz="3200" dirty="0"/>
          </a:p>
        </p:txBody>
      </p:sp>
      <p:sp>
        <p:nvSpPr>
          <p:cNvPr id="6" name="S09-word205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last Sunday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일요일</a:t>
            </a:r>
            <a:endParaRPr lang="ko-KR" sz="3200" dirty="0"/>
          </a:p>
        </p:txBody>
      </p:sp>
      <p:sp>
        <p:nvSpPr>
          <p:cNvPr id="7" name="S09-word206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last weekend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주말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Mina의 지난 주말</a:t>
            </a:r>
            <a:endParaRPr lang="ko-KR" sz="4000" dirty="0"/>
          </a:p>
        </p:txBody>
      </p:sp>
      <p:sp>
        <p:nvSpPr>
          <p:cNvPr id="3" name="S10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과거형 동사를 찾고, 원래 모양을 말해요.</a:t>
            </a:r>
            <a:endParaRPr lang="ko-KR" sz="2800" dirty="0"/>
          </a:p>
        </p:txBody>
      </p:sp>
      <p:sp>
        <p:nvSpPr>
          <p:cNvPr id="5" name="S10-passagebox20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21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Weekend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visited my grandma last Saturday.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We ate noodles together.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played badminton with my dad last Sunday.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had a great weekend.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일을 말해요</a:t>
            </a:r>
            <a:endParaRPr lang="ko-KR" sz="4000" dirty="0"/>
          </a:p>
        </p:txBody>
      </p:sp>
      <p:sp>
        <p:nvSpPr>
          <p:cNvPr id="3" name="S11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이어 지난 일을 한 문장으로 말해요.</a:t>
            </a:r>
            <a:endParaRPr lang="ko-KR" sz="2800" dirty="0"/>
          </a:p>
        </p:txBody>
      </p:sp>
      <p:sp>
        <p:nvSpPr>
          <p:cNvPr id="4" name="S11-chip21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21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my grandma · last Sunday</a:t>
            </a:r>
            <a:endParaRPr lang="ko-KR" sz="2800" dirty="0"/>
          </a:p>
        </p:txBody>
      </p:sp>
      <p:sp>
        <p:nvSpPr>
          <p:cNvPr id="6" name="S11-chip21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21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TV · yesterday</a:t>
            </a:r>
            <a:endParaRPr lang="ko-KR" sz="2800" dirty="0"/>
          </a:p>
        </p:txBody>
      </p:sp>
      <p:sp>
        <p:nvSpPr>
          <p:cNvPr id="8" name="S11-chip21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21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지난 주말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동사를 바꾸어 말하고, ④는 말하고 써요.</a:t>
            </a:r>
            <a:endParaRPr lang="ko-KR" sz="2800" dirty="0"/>
          </a:p>
        </p:txBody>
      </p:sp>
      <p:sp>
        <p:nvSpPr>
          <p:cNvPr id="4" name="S12-chip2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2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(play)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soccer last Saturday.</a:t>
            </a:r>
            <a:endParaRPr lang="ko-KR" sz="2800" dirty="0"/>
          </a:p>
        </p:txBody>
      </p:sp>
      <p:sp>
        <p:nvSpPr>
          <p:cNvPr id="6" name="S12-chip22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22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(see)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rainbow yesterday.</a:t>
            </a:r>
            <a:endParaRPr lang="ko-KR" sz="2800" dirty="0"/>
          </a:p>
        </p:txBody>
      </p:sp>
      <p:sp>
        <p:nvSpPr>
          <p:cNvPr id="8" name="S12-chip22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22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(have)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party last Sunday.</a:t>
            </a:r>
            <a:endParaRPr lang="ko-KR" sz="2800" dirty="0"/>
          </a:p>
        </p:txBody>
      </p:sp>
      <p:sp>
        <p:nvSpPr>
          <p:cNvPr id="10" name="S12-chip22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2-text22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 한 가지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2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과거형! -ed를 붙이거나 모양이 바뀌어요.</a:t>
            </a:r>
            <a:endParaRPr lang="ko-KR" sz="2800" dirty="0"/>
          </a:p>
        </p:txBody>
      </p:sp>
      <p:sp>
        <p:nvSpPr>
          <p:cNvPr id="5" name="S13-chip22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230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played</a:t>
            </a:r>
            <a:endParaRPr lang="ko-KR" sz="2800" dirty="0"/>
          </a:p>
        </p:txBody>
      </p:sp>
      <p:sp>
        <p:nvSpPr>
          <p:cNvPr id="7" name="S13-text231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saw</a:t>
            </a:r>
            <a:endParaRPr lang="ko-KR" sz="2800" dirty="0"/>
          </a:p>
        </p:txBody>
      </p:sp>
      <p:sp>
        <p:nvSpPr>
          <p:cNvPr id="8" name="S13-text232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had</a:t>
            </a:r>
            <a:endParaRPr lang="ko-KR" sz="2800" dirty="0"/>
          </a:p>
        </p:txBody>
      </p:sp>
      <p:sp>
        <p:nvSpPr>
          <p:cNvPr id="9" name="S13-text233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예: I watched TV yesterday.</a:t>
            </a:r>
            <a:endParaRPr lang="ko-KR" sz="2200" dirty="0"/>
          </a:p>
        </p:txBody>
      </p:sp>
      <p:sp>
        <p:nvSpPr>
          <p:cNvPr id="10" name="S13-chip23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235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seed, haved</a:t>
            </a:r>
            <a:endParaRPr lang="ko-KR" sz="2800" dirty="0"/>
          </a:p>
        </p:txBody>
      </p:sp>
      <p:sp>
        <p:nvSpPr>
          <p:cNvPr id="12" name="S13-text236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yesterday인데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see ~.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문장을 골라요</a:t>
            </a:r>
            <a:endParaRPr lang="ko-KR" sz="4000" dirty="0"/>
          </a:p>
        </p:txBody>
      </p:sp>
      <p:sp>
        <p:nvSpPr>
          <p:cNvPr id="3" name="S14-card2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것일까요? 어떻게 알았나요?</a:t>
            </a:r>
            <a:endParaRPr lang="ko-KR" sz="2800" dirty="0"/>
          </a:p>
        </p:txBody>
      </p:sp>
      <p:sp>
        <p:nvSpPr>
          <p:cNvPr id="5" name="S14-chip23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24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4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eated pizza yesterday.</a:t>
            </a:r>
            <a:endParaRPr lang="ko-KR" sz="2800" dirty="0"/>
          </a:p>
        </p:txBody>
      </p:sp>
      <p:sp>
        <p:nvSpPr>
          <p:cNvPr id="8" name="S14-chip24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24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4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 pizza yesterday.</a:t>
            </a:r>
            <a:endParaRPr lang="ko-KR" sz="2800" dirty="0"/>
          </a:p>
        </p:txBody>
      </p:sp>
      <p:sp>
        <p:nvSpPr>
          <p:cNvPr id="11" name="S14-chip24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24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4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eat pizza yesterday.</a:t>
            </a:r>
            <a:endParaRPr lang="ko-KR" sz="2800" dirty="0"/>
          </a:p>
        </p:txBody>
      </p:sp>
      <p:sp>
        <p:nvSpPr>
          <p:cNvPr id="14" name="S14-chip24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4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5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ated pizza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5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5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과거형으로 말해요. play → played, go → went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yesterday, last Sunday 같은 말을 문장 끝에 붙여요.</a:t>
            </a:r>
            <a:endParaRPr lang="ko-KR" sz="2800" dirty="0"/>
          </a:p>
        </p:txBody>
      </p:sp>
      <p:sp>
        <p:nvSpPr>
          <p:cNvPr id="5" name="S15-chip25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 went ~ yesterday.</a:t>
            </a:r>
            <a:endParaRPr lang="ko-KR" sz="2200" dirty="0"/>
          </a:p>
        </p:txBody>
      </p:sp>
      <p:sp>
        <p:nvSpPr>
          <p:cNvPr id="6" name="S15-chip25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goed ~. / I eated ~.</a:t>
            </a:r>
            <a:endParaRPr lang="ko-KR" sz="2200" dirty="0"/>
          </a:p>
        </p:txBody>
      </p:sp>
      <p:sp>
        <p:nvSpPr>
          <p:cNvPr id="7" name="S15-text25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25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go, eat, see, have의 과거형은?</a:t>
            </a:r>
            <a:endParaRPr lang="ko-KR" sz="2200" dirty="0"/>
          </a:p>
        </p:txBody>
      </p:sp>
      <p:sp>
        <p:nvSpPr>
          <p:cNvPr id="9" name="S15-text25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(watch) TV yesterday. 바르게</a:t>
            </a:r>
            <a:endParaRPr lang="ko-KR" sz="2200" dirty="0"/>
          </a:p>
        </p:txBody>
      </p:sp>
      <p:sp>
        <p:nvSpPr>
          <p:cNvPr id="10" name="S15-text25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 한 문장 말하기</a:t>
            </a:r>
            <a:endParaRPr lang="ko-KR" sz="2200" dirty="0"/>
          </a:p>
        </p:txBody>
      </p:sp>
      <p:sp>
        <p:nvSpPr>
          <p:cNvPr id="11" name="S15-text2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좋아하는 것과 이유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하루 일과 다시 말하기</a:t>
            </a:r>
            <a:endParaRPr lang="ko-KR" sz="4000" dirty="0"/>
          </a:p>
        </p:txBody>
      </p:sp>
      <p:sp>
        <p:nvSpPr>
          <p:cNvPr id="3" name="S16-card2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2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일은 I ~ at ~.으로 말해요.</a:t>
            </a:r>
            <a:endParaRPr lang="ko-KR" sz="2800" dirty="0"/>
          </a:p>
        </p:txBody>
      </p:sp>
      <p:sp>
        <p:nvSpPr>
          <p:cNvPr id="5" name="S16-word26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7시에 일어나요.</a:t>
            </a:r>
            <a:endParaRPr lang="ko-KR" sz="3200" dirty="0"/>
          </a:p>
        </p:txBody>
      </p:sp>
      <p:sp>
        <p:nvSpPr>
          <p:cNvPr id="6" name="S16-word26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 thirty.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8시 30분에 학교에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지난 일 말하기</dc:title>
  <dc:subject>KR22-G05-ENG-PAST-L01</dc:subject>
  <dc:creator>education-ppt</dc:creator>
  <cp:lastModifiedBy>education-ppt</cp:lastModifiedBy>
  <cp:revision>1</cp:revision>
  <dcterms:created xsi:type="dcterms:W3CDTF">2026-10-26T09:07:58Z</dcterms:created>
  <dcterms:modified xsi:type="dcterms:W3CDTF">2026-10-26T09:07:58Z</dcterms:modified>
</cp:coreProperties>
</file>