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3ba202-59d2-3447-4c86-072d66a334dc}">
          <p14:sldIdLst>
            <p14:sldId id="256"/>
            <p14:sldId id="257"/>
          </p14:sldIdLst>
        </p14:section>
        <p14:section name="개념" id="{c62f5a80-3fe4-3dc0-5b33-7b283e169ba7}">
          <p14:sldIdLst>
            <p14:sldId id="258"/>
            <p14:sldId id="259"/>
            <p14:sldId id="262"/>
          </p14:sldIdLst>
        </p14:section>
        <p14:section name="연습" id="{5fd4cb48-68fe-5db6-f93f-a92b1eba9c43}">
          <p14:sldIdLst>
            <p14:sldId id="260"/>
            <p14:sldId id="261"/>
            <p14:sldId id="263"/>
          </p14:sldIdLst>
        </p14:section>
        <p14:section name="개념" id="{d2755494-b122-eb2b-f3f0-f801a33f49e0}">
          <p14:sldIdLst/>
        </p14:section>
        <p14:section name="연습" id="{525fc19c-4f28-2f7c-5c13-e77a77041753}">
          <p14:sldIdLst/>
        </p14:section>
        <p14:section name="확인" id="{41f5d99e-e341-7d07-b4cf-8a021148cb96}">
          <p14:sldIdLst>
            <p14:sldId id="264"/>
            <p14:sldId id="265"/>
            <p14:sldId id="266"/>
            <p14:sldId id="267"/>
          </p14:sldIdLst>
        </p14:section>
        <p14:section name="정리" id="{0f45614e-08f4-2518-6a52-e3bdd7fa0d35}">
          <p14:sldIdLst>
            <p14:sldId id="268"/>
          </p14:sldIdLst>
        </p14:section>
        <p14:section name="보충" id="{18d2f574-4830-4340-f2b8-b3553ba38d4e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지난 시간의 중심 내용 찾기에서 한 걸음 더 나아가, 대화와 글의 자세한 정보를 찾는다는 것을 알립니다.
시간: 약 2분
이렇게 말해 보세요
- “지난 시간에는 무엇에 관한 대화인지, 중심 내용을 찾았지? 오늘은 그 안의 자세한 정보, 누가, 무엇을, 언제, 어디서를 찾아볼 거야.”
- “친구가 ‘토요일 2시에 공원에서 배드민턴 치자.’라고 했어. 언제? 어디서? 무엇을 해?”
예상 답
- “토요일 2시요.” “공원이요.” “배드민턴이요.”
주의
- 오늘 듣기 대본은 화면에 없고 이 노트와 부모용 안내에만 있습니다. 부모님이 대본을 천천히 두 번 읽어 주세요. 이때 말하는 사람의 이름(Tom:, Mina:)도 함께 읽어 줍니다.
- 수업 전에 교과서 디지털 자료나 사전 앱의 발음 듣기로 Who, What, When, Where와 낯선 낱말(badminton, library, zoo)을 미리 들어 두세요. 부모님 발음이 완벽하지 않아도 괜찮습니다.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확인(중심 내용 찾기)]
목적: 앞 차시 ‘중심 내용 찾기’에서 배운 대로 대화를 끝까지 듣고 중심 내용을 고르는지 확인합니다. 세부 정보를 찾으려면 먼저 무엇에 관한 대화인지 알아야 합니다.
시간: 약 3분
이렇게 말해 보세요
- “보기를 먼저 읽고, 엄마(아빠)가 두 번 읽어 주면 골라 봐.”
- 들려줄 대화(화면에 없음): Mina: I have a new bike. / Tom: Wow! It's cool. / Mina: I ride my bike every day. / Tom: Can I ride it, too? / Mina: Sure!
- “무엇에 관한 대화야? 어떻게 알았어?”
정답
- 가(Mina의 새 자전거). bike가 두 번 나오고, 처음부터 끝까지 Mina의 새 자전거 이야기입니다.
막히면
- “여러 번 들린 낱말이 뭐야?”라고 묻고 대화를 한 번 더 읽어 줍니다.
- 다시 들어도 고르지 못하면 S14(보충)를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물음 낱말과 찾을 정보]
목적: 네 물음 낱말마다 찾아야 할 정보의 종류(사람, 물건·하는 일, 때, 곳)와 그런 정보가 들어 있는 영어 표현을 알려 줍니다(M2).
시간: 약 3분
이렇게 말해 보세요
- “Who는 ‘누가’라는 뜻이야. Who로 물으면 사람을 찾으면 돼. 이름이나 my dad 같은 말이야.”
- “What은 ‘무엇’, When은 ‘언제’, Where는 ‘어디’야. 한 줄씩 같이 읽어 보자.” (소리 자료로 네 낱말을 듣고 따라 말합니다.)
- “at two와 at the park는 둘 다 at으로 시작하지? 그런데 하나는 때, 하나는 곳이야. at 뒤를 봐야 해.”
예상 답
- “Who는 사람, When은 때, Where는 곳이에요.”
막히면
- 부모가 물음 낱말을 말하면 아이가 ‘사람!’, ‘때!’, ‘곳!’처럼 찾을 것을 외치는 놀이를 몇 번 합니다.
주의
- What은 물건(a cake)뿐 아니라 하는 일(soccer, 배드민턴 치기)을 물을 때도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세부 정보를 찾는 순서(시범)]
목적: 물음을 먼저 읽고 찾을 것을 정한 뒤 듣는 순서를, 짧은 대본으로 부모가 직접 보여 줍니다(M2).
시간: 약 3분
이렇게 말해 보세요
- “엄마(아빠)가 먼저 해 볼게. 1번, 물음을 먼저 읽어. Where? 어디에 가나요? 2번, Where니까 곳을 찾으면 돼.”
- “3번, 이제 들으면서 곳을 찾을 거야.” 들려줄 대본(화면에 없음): Dad: Let's go to the zoo on Sunday. / Mina: Great! I want to see the pandas.
- “4번, 곳은 the zoo, 동물원이야. 그럼 이번엔 네 차례야. When? 언제 가나요?” (대본을 한 번 더 읽어 줍니다.)
예상 답
- “on Sunday, 일요일이요.”
정답
- Where? → the zoo(동물원) / When? → on Sunday(일요일)
막히면
- “When은 무엇을 찾는 거였지? 사람이야, 때야?”라고 묻고 대본을 다시 읽어 줍니다.
주의
- the pandas는 Mina가 보고 싶은 것입니다. What 물음의 답이 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듣기 연습(대화 1: 배드민턴 약속)]
목적: 부모와 함께 대화를 듣고 네 물음의 세부 정보를 찾습니다. 말하는 사람과 부르는 이름을 구별합니다(M3).
시간: 약 4분
이렇게 말해 보세요
- “네 물음을 먼저 읽어 보자. 각각 무엇을 찾아야 해? 사람, 하는 일, 때, 곳이지?”
- 들려줄 대화 1(화면에 없음, 두 번 읽기): Tom: Mina, let's play badminton. / Mina: Sounds good! When? / Tom: On Saturday, at two. / Mina: Where? / Tom: At the park near my house. / Mina: OK. See you then!
- “①부터 답해 볼래? 우리말로 답해도 되고 들은 영어로 답해도 돼.”
정답
- ① Tom (Tom이 Mina에게 놀자고 했습니다.)
- ② 배드민턴(badminton)
- ③ 토요일 2시(on Saturday, at two)
- ④ Tom의 집 근처 공원(at the park)
막히면
- ①에서 Mina라고 하면 “첫 줄은 누가 말했지? Tom이 Mina를 부르면서 말했어.”라고 짚어 줍니다(M3).
- 한 물음씩 대본을 다시 읽어 주며 찾을 것이 나오면 손을 들게 합니다.
주의
- ③은 토요일과 2시 가운데 하나만 말해도 맞은 것으로 보되, 둘 다 들었는지 물어봅니다. near my house는 ‘우리 집 근처’라는 뜻입니다.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비교(When과 Where 바꾸어 답하기)]
목적: When에는 때, Where에는 곳을 답한다는 것을 비교하고, at이 두 곳에 모두 쓰여도 뒤의 말을 보고 구별하게 합니다(M1).
시간: 약 3분
이렇게 말해 보세요
- “When은 무엇을 묻는 말이었지?”
- “가와 나 가운데 알맞은 답은? 왜 그렇게 생각해?”
- “그럼 가의 At the park.는 어떤 물음의 답일까?”
정답
- 나(On Saturday, at two.). When은 때를 묻습니다.
- 가(At the park.)는 곳이므로 Where?의 답입니다. at two의 at과 at the park의 at은 같은 낱말이지만, 뒤에 시각이 오면 때, 장소가 오면 곳입니다.
막히면
- S03의 표를 다시 보여 주고 When 줄과 Where 줄을 손으로 짚게 합니다.
주의
- 여기까지가 듣기 부분입니다. 아이가 지치면 여기서 나누어 다음 날 S07부터 해도 됩니다. 다음 날 시작할 때 S03의 표를 한 번 더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시범 읽기(물음의 답에 밑줄 긋기)]
목적: 부모가 생각을 소리 내어 말하며, 물음 낱말로 찾을 것을 정하고 글에서 답이 있는 부분을 찾아 영어 그대로 답하는 방법을 보여 줍니다.
시간: 약 4분
이렇게 말해 보세요
- “먼저 한 문장씩 같이 읽어 보자.” (library는 ‘도서관’, sandwiches는 ‘샌드위치’라고 알려 줍니다.)
- “엄마(아빠)가 Who를 해 볼게. Who니까 사람을 찾아. 도서관에 가는 문장은 ②번이야. with 다음에 Yuri가 있어. 그래서 답은 Yuri야. 이 부분에 밑줄을 긋는 거야.”
- “Where도 해 볼게. 곳을 찾아. 샌드위치를 먹는 문장은 ④번, in the park야.”
- “What과 When은 네가 찾아볼래? 몇 번 문장에 있어?”
예상 답
- “What은 ③번 books요.” “When은 ②번 On Saturday요.”
정답
- Who? → Yuri(②) / What? → books(③) / When? → on Saturday(②) / Where? → in the park(④)
막히면
- 물음마다 S03의 표에서 찾을 것을 먼저 말하게 한 뒤 문장을 하나씩 짚으며 찾습니다.
주의
- 화면에 밑줄을 그을 수 없으니 손가락으로 짚게 하고, 밑줄 긋기는 활동지 2에서 합니다. 답은 글에 있는 영어를 그대로 말하거나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읽기 연습(Sam의 생일)]
목적: 부모와 함께 글을 읽고 네 물음의 답을 찾아 글에 있는 영어로 답합니다.
시간: 약 3분
이렇게 말해 보세요
- “한 문장씩 같이 읽어 볼까? party는 ‘파티’, o'clock은 ‘~시’야.”
- “When은 무엇을 찾아? 몇 번 문장에 있어? 영어로 그대로 말해 볼래?”
- “Where, Who, What도 차례로 찾아보자.”
정답
- When? → at four o'clock(②)
- Where? → his house, Sam's house(③)
- Who? → his friends, Sam's friends(③)
- What? → a big chocolate cake(④)
막히면
- “Where는 곳이야. 친구들이 come to 다음에 어디라고 했어?”처럼 물음 낱말과 문장의 단서를 이어 줍니다.
주의
- his는 ‘그의’라는 뜻으로 Sam을 가리킵니다. his house를 ‘Sam의 집’이라고 답해도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혼자 듣고 세부 정보 찾기(대화 2)]
목적: 도움 없이 처음 듣는 대화에서 네 물음의 세부 정보를 찾는지 확인합니다.
시간: 약 4분
이렇게 말해 보세요
- “이번에는 혼자 해 볼래? 물음을 먼저 읽고 무엇을 찾을지 정해. 엄마(아빠)가 두 번 읽어 줄게.”
- 들려줄 대화 2(화면에 없음): Mom: Tom, where are you going? / Tom: I'm going to the library, Mom. / Mom: Who are you going with? / Tom: With Jisu. We have homework. / Mom: OK. Come home at five. / Tom: OK. Bye, Mom!
- “①부터 답해 볼래?”
정답
- ① 도서관(the library)
- ② 지수(Jisu)
- ③ 숙제(homework)
- ④ 5시(at five)
- 기준: 네 물음 가운데 세 개 이상 맞히면 통과입니다. 우리말로 답해도 맞습니다. ④에 도서관처럼 곳을 답하면 S06을 다시 봅니다.
막히면
- 바로 알려 주지 말고 “이 물음은 무엇을 찾는 거였지?”라고만 묻고 대화를 한 번 더 읽어 줍니다.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읽고 세부 정보 찾기(동물원 가는 날)]
목적: 도움 없이 처음 보는 글에서 네 물음의 답이 있는 부분을 찾아 영어 그대로 답하는지 확인합니다.
시간: 약 3분
이렇게 말해 보세요
- “이번에는 혼자 읽고 답을 찾아볼래? 답은 글에 있는 영어 그대로 말하고, 몇 번 문장인지도 말해 줘.”
정답
- When? → on Friday(①)
- Where? → the zoo(①)
- Who? → Mr. Park, our teacher(③)
- What? → the lions(④)
- 기준: 네 물음 가운데 세 개 이상을 글의 영어로 찾으면 통과입니다. by bus(②)는 ‘어떻게’ 가는지에 대한 정보라 네 물음의 답이 아닙니다.
막히면
- 바로 알려 주지 말고 “이 물음은 사람, 물건, 때, 곳 가운데 무엇을 찾아?”라고만 묻습니다.
- zoo, lions의 뜻을 물으면 ‘동물원’, ‘사자들’이라고 알려 주어도 됩니다.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확인하고 흔한 실수와 비교합니다.
시간: 약 2분
이렇게 말해 보세요
- “네 답과 왼쪽 정답을 비교해 보자.”
- “오른쪽처럼 답하면 왜 틀릴까?”
예상 답
- “When은 때를 물으니까 곳을 답하면 안 돼요.” “누가 말했는지 잘 들어야 해요.”
주의
- 이 장은 학생용 파일에서 빠집니다. 틀린 물음은 대본이나 글을 다시 보며 찾을 것을 함께 정해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확인(한 문장에서 물음에 맞는 답 고르기)]
목적: 처음 보는 형식(한 문장 안의 여러 정보)에서 물음 낱말에 맞는 정보를 고르는지 확인합니다.
시간: 약 2분
이렇게 말해 보세요
- “위 문장을 같이 읽어 보자. 가, 나, 다, 라는 모두 이 문장에 있는 말이야.”
- “When?에 알맞은 답은 어느 것일까? 어떻게 알았어?”
- “그럼 Where?는? Who?는? What?은?”
정답
- When? → 다(on Sunday)
- Where? → 나(at the park), Who?(누구와) → 가(with Mina), What? → 라(soccer)
막히면
- S03의 표를 다시 보여 주고 “When은 때였지? 때를 나타내는 말은?”이라고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복습을 알려 줍니다.
시간: 약 2분
이렇게 말해 보세요
- “Who, What, When, Where는 각각 무엇을 찾는 물음이었지?”
- “듣기 전에 먼저 무엇을 하기로 했지?”
예상 답
- “사람, 물건, 때, 곳이요.” “물음을 먼저 읽어요.”
정답
- ① When은 때, Where는 곳 ② Where? the library, When? at three(대본은 활동지 5의 부모용 답에 있습니다) ③ an apple
주의
- 다음 차시 ‘하루 일과 말하기’에서는 at seven처럼 때를 넣어 내 하루를 말합니다. 오늘 배운 When의 답(at two, on Saturday)과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보충(중심 내용 찾기)]
목적: S02에서 중심 내용을 고르지 못하면, 세부 정보를 찾기 전에 중심 내용을 찾는 방법을 다시 익힙니다.
시간: 약 5분
이렇게 말해 보세요
- “세 가지 방법을 같이 읽어 보자.”
- “엄마(아빠)가 짧은 대화를 읽어 줄게. 여러 번 나오는 낱말이 들리면 손을 들어.” 들려줄 대본(화면에 없음): A: Do you like pizza? / B: Yes, I do. I eat pizza every Sunday. / A: Me, too. I love pizza!
- “무엇에 관한 대화야?”
정답
- 피자(pizza가 세 번 나오고, 두 사람이 피자를 좋아한다고 말합니다).
막히면
- 대본을 한 번 더 읽어 주며 pizza가 나올 때마다 손가락을 하나씩 펴게 합니다.
주의
- 보충 뒤에도 중심 내용을 찾지 못하면 앞 차시 ‘중심 내용 찾기’(KR22-G05-ENG-GIST-L01)를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이해와읽기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세부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세부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세부 정보 찾기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세부 정보 찾기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누가, 무엇을, 언제, 어디서?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자세한 정보를 어떻게 찾을까요?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9784080" y="6400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3200" dirty="0"/>
          </a:p>
        </p:txBody>
      </p:sp>
      <p:sp>
        <p:nvSpPr>
          <p:cNvPr id="6" name="S01-word3"/>
          <p:cNvSpPr txBox="1"/>
          <p:nvPr/>
        </p:nvSpPr>
        <p:spPr>
          <a:xfrm>
            <a:off x="7680960" y="22402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3200" dirty="0"/>
          </a:p>
        </p:txBody>
      </p:sp>
      <p:sp>
        <p:nvSpPr>
          <p:cNvPr id="7" name="S01-word4"/>
          <p:cNvSpPr txBox="1"/>
          <p:nvPr/>
        </p:nvSpPr>
        <p:spPr>
          <a:xfrm>
            <a:off x="9784080" y="2240280"/>
            <a:ext cx="182880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3200" dirty="0"/>
          </a:p>
        </p:txBody>
      </p:sp>
      <p:sp>
        <p:nvSpPr>
          <p:cNvPr id="8" name="S01-card5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대화를 듣고 누가·무엇을·언제·어디서를 찾아 답해요.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글을 읽고 물음의 답을 찾아 그대로 옮겨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대화일까요?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읽어 주는 대화를 끝까지 들어요.</a:t>
            </a:r>
            <a:endParaRPr lang="ko-KR" sz="2800" dirty="0"/>
          </a:p>
        </p:txBody>
      </p:sp>
      <p:sp>
        <p:nvSpPr>
          <p:cNvPr id="4" name="S02-card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대화인가요? 어떻게 알았나요?</a:t>
            </a:r>
            <a:endParaRPr lang="ko-KR" sz="2800" dirty="0"/>
          </a:p>
        </p:txBody>
      </p:sp>
      <p:sp>
        <p:nvSpPr>
          <p:cNvPr id="6" name="S02-chip10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02-card11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2-cardtext12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Mina의 새 자전거</a:t>
            </a:r>
            <a:endParaRPr lang="ko-KR" sz="2800" dirty="0"/>
          </a:p>
        </p:txBody>
      </p:sp>
      <p:sp>
        <p:nvSpPr>
          <p:cNvPr id="9" name="S02-chip13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02-card14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2-cardtext15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숙제</a:t>
            </a:r>
            <a:endParaRPr lang="ko-KR" sz="2800" dirty="0"/>
          </a:p>
        </p:txBody>
      </p:sp>
      <p:sp>
        <p:nvSpPr>
          <p:cNvPr id="12" name="S02-chip1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02-card17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2-cardtext18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Tom의 강아지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 낱말을 보면 찾을 것이 보여요</a:t>
            </a:r>
            <a:endParaRPr lang="ko-KR" sz="4000" dirty="0"/>
          </a:p>
        </p:txBody>
      </p:sp>
      <p:sp>
        <p:nvSpPr>
          <p:cNvPr id="3" name="S03-card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two는 때, at the park는 곳이에요.</a:t>
            </a:r>
            <a:endParaRPr lang="ko-KR" sz="2800" dirty="0"/>
          </a:p>
        </p:txBody>
      </p:sp>
      <p:graphicFrame>
        <p:nvGraphicFramePr>
          <p:cNvPr id="4" name="S03-table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956" y="1845310"/>
          <a:ext cx="10607040" cy="914400"/>
        </p:xfrm>
        <a:graphic>
          <a:graphicData uri="http://schemas.openxmlformats.org/drawingml/2006/table">
            <a:tbl>
              <a:tblPr/>
              <a:tblGrid>
                <a:gridCol w="2863901"/>
                <a:gridCol w="2439619"/>
                <a:gridCol w="53035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찾을 것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이런 말을 찾아요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Who? 누가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Mina, my dad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What? 무엇을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물건, 하는 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 cake, soccer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When? 언제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on Saturday, at two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Where? 어디서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곳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at the park, in the library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 들어요</a:t>
            </a:r>
            <a:endParaRPr lang="ko-KR" sz="40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 어디에 가나요?</a:t>
            </a:r>
            <a:endParaRPr lang="ko-KR" sz="2800" dirty="0"/>
          </a:p>
        </p:txBody>
      </p:sp>
      <p:sp>
        <p:nvSpPr>
          <p:cNvPr id="4" name="S04-stepno23"/>
          <p:cNvSpPr txBox="1"/>
          <p:nvPr/>
        </p:nvSpPr>
        <p:spPr>
          <a:xfrm>
            <a:off x="548640" y="3067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4-text24"/>
          <p:cNvSpPr txBox="1"/>
          <p:nvPr/>
        </p:nvSpPr>
        <p:spPr>
          <a:xfrm>
            <a:off x="1325880" y="306781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읽어요.</a:t>
            </a:r>
            <a:endParaRPr lang="ko-KR" sz="2800" dirty="0"/>
          </a:p>
        </p:txBody>
      </p:sp>
      <p:sp>
        <p:nvSpPr>
          <p:cNvPr id="6" name="S04-stepno25"/>
          <p:cNvSpPr txBox="1"/>
          <p:nvPr/>
        </p:nvSpPr>
        <p:spPr>
          <a:xfrm>
            <a:off x="548640" y="37810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4-text26"/>
          <p:cNvSpPr txBox="1"/>
          <p:nvPr/>
        </p:nvSpPr>
        <p:spPr>
          <a:xfrm>
            <a:off x="1325880" y="378104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 낱말로 찾을 것을 정해요.</a:t>
            </a:r>
            <a:endParaRPr lang="ko-KR" sz="2800" dirty="0"/>
          </a:p>
        </p:txBody>
      </p:sp>
      <p:sp>
        <p:nvSpPr>
          <p:cNvPr id="8" name="S04-stepno27"/>
          <p:cNvSpPr txBox="1"/>
          <p:nvPr/>
        </p:nvSpPr>
        <p:spPr>
          <a:xfrm>
            <a:off x="548640" y="4494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4-text28"/>
          <p:cNvSpPr txBox="1"/>
          <p:nvPr/>
        </p:nvSpPr>
        <p:spPr>
          <a:xfrm>
            <a:off x="1325880" y="449427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듣거나 읽으며 그 말을 찾아요.</a:t>
            </a:r>
            <a:endParaRPr lang="ko-KR" sz="2800" dirty="0"/>
          </a:p>
        </p:txBody>
      </p:sp>
      <p:sp>
        <p:nvSpPr>
          <p:cNvPr id="10" name="S04-stepno29"/>
          <p:cNvSpPr txBox="1"/>
          <p:nvPr/>
        </p:nvSpPr>
        <p:spPr>
          <a:xfrm>
            <a:off x="548640" y="52075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4-text30"/>
          <p:cNvSpPr txBox="1"/>
          <p:nvPr/>
        </p:nvSpPr>
        <p:spPr>
          <a:xfrm>
            <a:off x="1325880" y="52075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찾은 말로 답해요.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듣고 답해요</a:t>
            </a:r>
            <a:endParaRPr lang="ko-KR" sz="4000" dirty="0"/>
          </a:p>
        </p:txBody>
      </p:sp>
      <p:sp>
        <p:nvSpPr>
          <p:cNvPr id="3" name="S05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읽고, 대화를 들으며 답을 찾아요.</a:t>
            </a:r>
            <a:endParaRPr lang="ko-KR" sz="2800" dirty="0"/>
          </a:p>
        </p:txBody>
      </p:sp>
      <p:sp>
        <p:nvSpPr>
          <p:cNvPr id="4" name="S05-chip3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5-text3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놀자고 했나요?</a:t>
            </a:r>
            <a:endParaRPr lang="ko-KR" sz="2800" dirty="0"/>
          </a:p>
        </p:txBody>
      </p:sp>
      <p:sp>
        <p:nvSpPr>
          <p:cNvPr id="6" name="S05-chip3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5-text3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하며 노나요?</a:t>
            </a:r>
            <a:endParaRPr lang="ko-KR" sz="2800" dirty="0"/>
          </a:p>
        </p:txBody>
      </p:sp>
      <p:sp>
        <p:nvSpPr>
          <p:cNvPr id="8" name="S05-chip36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5-text37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만나나요?</a:t>
            </a:r>
            <a:endParaRPr lang="ko-KR" sz="2800" dirty="0"/>
          </a:p>
        </p:txBody>
      </p:sp>
      <p:sp>
        <p:nvSpPr>
          <p:cNvPr id="10" name="S05-chip38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5-text39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만나나요?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When에 알맞은 답은?</a:t>
            </a:r>
            <a:endParaRPr lang="ko-KR" sz="4000" dirty="0"/>
          </a:p>
        </p:txBody>
      </p:sp>
      <p:sp>
        <p:nvSpPr>
          <p:cNvPr id="3" name="S06-card4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4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 do they meet?(언제 만나나요?)에 두 친구가 답했어요.</a:t>
            </a:r>
            <a:endParaRPr lang="ko-KR" sz="2800" dirty="0"/>
          </a:p>
        </p:txBody>
      </p:sp>
      <p:sp>
        <p:nvSpPr>
          <p:cNvPr id="5" name="S06-card4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4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왜 그렇게 생각해요?</a:t>
            </a:r>
            <a:endParaRPr lang="ko-KR" sz="2800" dirty="0"/>
          </a:p>
        </p:txBody>
      </p:sp>
      <p:sp>
        <p:nvSpPr>
          <p:cNvPr id="7" name="S06-chip4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6-word45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the park.</a:t>
            </a:r>
            <a:endParaRPr lang="ko-KR" sz="3200" dirty="0"/>
          </a:p>
        </p:txBody>
      </p:sp>
      <p:sp>
        <p:nvSpPr>
          <p:cNvPr id="9" name="S06-chip4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6-word47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Saturday, at two.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답이 있는 곳에 밑줄을 그어요</a:t>
            </a:r>
            <a:endParaRPr lang="ko-KR" sz="4000" dirty="0"/>
          </a:p>
        </p:txBody>
      </p:sp>
      <p:sp>
        <p:nvSpPr>
          <p:cNvPr id="3" name="S07-word48"/>
          <p:cNvSpPr txBox="1"/>
          <p:nvPr/>
        </p:nvSpPr>
        <p:spPr>
          <a:xfrm>
            <a:off x="7564465" y="132588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누구와 가나요?</a:t>
            </a:r>
            <a:endParaRPr lang="ko-KR" sz="2800" dirty="0"/>
          </a:p>
        </p:txBody>
      </p:sp>
      <p:sp>
        <p:nvSpPr>
          <p:cNvPr id="4" name="S07-word49"/>
          <p:cNvSpPr txBox="1"/>
          <p:nvPr/>
        </p:nvSpPr>
        <p:spPr>
          <a:xfrm>
            <a:off x="7564465" y="261747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읽나요?</a:t>
            </a:r>
            <a:endParaRPr lang="ko-KR" sz="2800" dirty="0"/>
          </a:p>
        </p:txBody>
      </p:sp>
      <p:sp>
        <p:nvSpPr>
          <p:cNvPr id="5" name="S07-word50"/>
          <p:cNvSpPr txBox="1"/>
          <p:nvPr/>
        </p:nvSpPr>
        <p:spPr>
          <a:xfrm>
            <a:off x="7564465" y="390906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가나요?</a:t>
            </a:r>
            <a:endParaRPr lang="ko-KR" sz="2800" dirty="0"/>
          </a:p>
        </p:txBody>
      </p:sp>
      <p:sp>
        <p:nvSpPr>
          <p:cNvPr id="6" name="S07-word51"/>
          <p:cNvSpPr txBox="1"/>
          <p:nvPr/>
        </p:nvSpPr>
        <p:spPr>
          <a:xfrm>
            <a:off x="7564465" y="520065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어디에서 먹나요?</a:t>
            </a:r>
            <a:endParaRPr lang="ko-KR" sz="2800" dirty="0"/>
          </a:p>
        </p:txBody>
      </p:sp>
      <p:sp>
        <p:nvSpPr>
          <p:cNvPr id="7" name="S07-passagebox52"/>
          <p:cNvSpPr/>
          <p:nvPr/>
        </p:nvSpPr>
        <p:spPr>
          <a:xfrm>
            <a:off x="548640" y="1325880"/>
            <a:ext cx="6650065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7-passage53"/>
          <p:cNvSpPr txBox="1"/>
          <p:nvPr/>
        </p:nvSpPr>
        <p:spPr>
          <a:xfrm>
            <a:off x="822960" y="1508760"/>
            <a:ext cx="610142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Jina's Saturday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My name is Jina.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On Saturday, I go to the library with Yuri.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We read books there.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After that, we eat sandwiches in the park.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읽고 답을 찾아요</a:t>
            </a:r>
            <a:endParaRPr lang="ko-KR" sz="4000" dirty="0"/>
          </a:p>
        </p:txBody>
      </p:sp>
      <p:sp>
        <p:nvSpPr>
          <p:cNvPr id="3" name="S08-word54"/>
          <p:cNvSpPr txBox="1"/>
          <p:nvPr/>
        </p:nvSpPr>
        <p:spPr>
          <a:xfrm>
            <a:off x="7564465" y="132588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파티는 언제인가요?</a:t>
            </a:r>
            <a:endParaRPr lang="ko-KR" sz="2800" dirty="0"/>
          </a:p>
        </p:txBody>
      </p:sp>
      <p:sp>
        <p:nvSpPr>
          <p:cNvPr id="4" name="S08-word55"/>
          <p:cNvSpPr txBox="1"/>
          <p:nvPr/>
        </p:nvSpPr>
        <p:spPr>
          <a:xfrm>
            <a:off x="7564465" y="261747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400" dirty="0"/>
          </a:p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친구들은 어디에 오나요?</a:t>
            </a:r>
            <a:endParaRPr lang="ko-KR" sz="2400" dirty="0"/>
          </a:p>
        </p:txBody>
      </p:sp>
      <p:sp>
        <p:nvSpPr>
          <p:cNvPr id="5" name="S08-word56"/>
          <p:cNvSpPr txBox="1"/>
          <p:nvPr/>
        </p:nvSpPr>
        <p:spPr>
          <a:xfrm>
            <a:off x="7564465" y="390906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오나요?</a:t>
            </a:r>
            <a:endParaRPr lang="ko-KR" sz="2800" dirty="0"/>
          </a:p>
        </p:txBody>
      </p:sp>
      <p:sp>
        <p:nvSpPr>
          <p:cNvPr id="6" name="S08-word57"/>
          <p:cNvSpPr txBox="1"/>
          <p:nvPr/>
        </p:nvSpPr>
        <p:spPr>
          <a:xfrm>
            <a:off x="7564465" y="520065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먹나요?</a:t>
            </a:r>
            <a:endParaRPr lang="ko-KR" sz="2800" dirty="0"/>
          </a:p>
        </p:txBody>
      </p:sp>
      <p:sp>
        <p:nvSpPr>
          <p:cNvPr id="7" name="S08-passagebox58"/>
          <p:cNvSpPr/>
          <p:nvPr/>
        </p:nvSpPr>
        <p:spPr>
          <a:xfrm>
            <a:off x="548640" y="1325880"/>
            <a:ext cx="6650065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08-passage59"/>
          <p:cNvSpPr txBox="1"/>
          <p:nvPr/>
        </p:nvSpPr>
        <p:spPr>
          <a:xfrm>
            <a:off x="822960" y="1508760"/>
            <a:ext cx="610142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Sam's Birthday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Today is Sam's birthday.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His party is at four o'clock.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His friends come to his house.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They eat a big chocolate cake.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듣고 답해요</a:t>
            </a:r>
            <a:endParaRPr lang="ko-KR" sz="4000" dirty="0"/>
          </a:p>
        </p:txBody>
      </p:sp>
      <p:sp>
        <p:nvSpPr>
          <p:cNvPr id="3" name="S09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읽고, 혼자 들으며 답을 찾아요.</a:t>
            </a:r>
            <a:endParaRPr lang="ko-KR" sz="2800" dirty="0"/>
          </a:p>
        </p:txBody>
      </p:sp>
      <p:sp>
        <p:nvSpPr>
          <p:cNvPr id="4" name="S09-chip6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9-text6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Tom은 어디에 가나요?</a:t>
            </a:r>
            <a:endParaRPr lang="ko-KR" sz="2800" dirty="0"/>
          </a:p>
        </p:txBody>
      </p:sp>
      <p:sp>
        <p:nvSpPr>
          <p:cNvPr id="6" name="S09-chip6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9-text6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Tom은 누구와 가나요?</a:t>
            </a:r>
            <a:endParaRPr lang="ko-KR" sz="2800" dirty="0"/>
          </a:p>
        </p:txBody>
      </p:sp>
      <p:sp>
        <p:nvSpPr>
          <p:cNvPr id="8" name="S09-chip6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9-text6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하러 가나요?</a:t>
            </a:r>
            <a:endParaRPr lang="ko-KR" sz="2800" dirty="0"/>
          </a:p>
        </p:txBody>
      </p:sp>
      <p:sp>
        <p:nvSpPr>
          <p:cNvPr id="10" name="S09-chip6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09-text6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시에 집에 와야 하나요?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읽고 답을 찾아요</a:t>
            </a:r>
            <a:endParaRPr lang="ko-KR" sz="4000" dirty="0"/>
          </a:p>
        </p:txBody>
      </p:sp>
      <p:sp>
        <p:nvSpPr>
          <p:cNvPr id="3" name="S10-word69"/>
          <p:cNvSpPr txBox="1"/>
          <p:nvPr/>
        </p:nvSpPr>
        <p:spPr>
          <a:xfrm>
            <a:off x="7564465" y="132588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가나요?</a:t>
            </a:r>
            <a:endParaRPr lang="ko-KR" sz="2800" dirty="0"/>
          </a:p>
        </p:txBody>
      </p:sp>
      <p:sp>
        <p:nvSpPr>
          <p:cNvPr id="4" name="S10-word70"/>
          <p:cNvSpPr txBox="1"/>
          <p:nvPr/>
        </p:nvSpPr>
        <p:spPr>
          <a:xfrm>
            <a:off x="7564465" y="261747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Where?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가나요?</a:t>
            </a:r>
            <a:endParaRPr lang="ko-KR" sz="2800" dirty="0"/>
          </a:p>
        </p:txBody>
      </p:sp>
      <p:sp>
        <p:nvSpPr>
          <p:cNvPr id="5" name="S10-word71"/>
          <p:cNvSpPr txBox="1"/>
          <p:nvPr/>
        </p:nvSpPr>
        <p:spPr>
          <a:xfrm>
            <a:off x="7564465" y="390906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함께 가나요?</a:t>
            </a:r>
            <a:endParaRPr lang="ko-KR" sz="2800" dirty="0"/>
          </a:p>
        </p:txBody>
      </p:sp>
      <p:sp>
        <p:nvSpPr>
          <p:cNvPr id="6" name="S10-word72"/>
          <p:cNvSpPr txBox="1"/>
          <p:nvPr/>
        </p:nvSpPr>
        <p:spPr>
          <a:xfrm>
            <a:off x="7564465" y="5200650"/>
            <a:ext cx="4075847" cy="1017270"/>
          </a:xfrm>
          <a:prstGeom prst="roundRect">
            <a:avLst>
              <a:gd name="adj" fmla="val 12584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What?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보고 싶나요?</a:t>
            </a:r>
            <a:endParaRPr lang="ko-KR" sz="2800" dirty="0"/>
          </a:p>
        </p:txBody>
      </p:sp>
      <p:sp>
        <p:nvSpPr>
          <p:cNvPr id="7" name="S10-passagebox73"/>
          <p:cNvSpPr/>
          <p:nvPr/>
        </p:nvSpPr>
        <p:spPr>
          <a:xfrm>
            <a:off x="548640" y="1325880"/>
            <a:ext cx="6650065" cy="4892040"/>
          </a:xfrm>
          <a:prstGeom prst="roundRect">
            <a:avLst>
              <a:gd name="adj" fmla="val 1869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8" name="S10-passage74"/>
          <p:cNvSpPr txBox="1"/>
          <p:nvPr/>
        </p:nvSpPr>
        <p:spPr>
          <a:xfrm>
            <a:off x="822960" y="1508760"/>
            <a:ext cx="6101425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Zoo 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Our class goes to the zoo on Friday.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We go there by bus.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Mr. Park, our teacher, goes with us.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want to see the lions.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75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6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 낱말을 먼저 보고 사람·물건·때·곳 가운데 찾을 것을 정해요.</a:t>
            </a:r>
            <a:endParaRPr lang="ko-KR" sz="2800" dirty="0"/>
          </a:p>
        </p:txBody>
      </p:sp>
      <p:sp>
        <p:nvSpPr>
          <p:cNvPr id="5" name="S11-chip7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1-text78"/>
          <p:cNvSpPr txBox="1"/>
          <p:nvPr/>
        </p:nvSpPr>
        <p:spPr>
          <a:xfrm>
            <a:off x="548640" y="2057400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S09 ① the library ② Jisu</a:t>
            </a:r>
            <a:endParaRPr lang="ko-KR" sz="2800" dirty="0"/>
          </a:p>
        </p:txBody>
      </p:sp>
      <p:sp>
        <p:nvSpPr>
          <p:cNvPr id="7" name="S11-text79"/>
          <p:cNvSpPr txBox="1"/>
          <p:nvPr/>
        </p:nvSpPr>
        <p:spPr>
          <a:xfrm>
            <a:off x="548640" y="2775458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S09 ③ homework ④ at five</a:t>
            </a:r>
            <a:endParaRPr lang="ko-KR" sz="2800" dirty="0"/>
          </a:p>
        </p:txBody>
      </p:sp>
      <p:sp>
        <p:nvSpPr>
          <p:cNvPr id="8" name="S11-text80"/>
          <p:cNvSpPr txBox="1"/>
          <p:nvPr/>
        </p:nvSpPr>
        <p:spPr>
          <a:xfrm>
            <a:off x="548640" y="3493516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S10 on Friday, the zoo</a:t>
            </a:r>
            <a:endParaRPr lang="ko-KR" sz="2800" dirty="0"/>
          </a:p>
        </p:txBody>
      </p:sp>
      <p:sp>
        <p:nvSpPr>
          <p:cNvPr id="9" name="S11-text81"/>
          <p:cNvSpPr txBox="1"/>
          <p:nvPr/>
        </p:nvSpPr>
        <p:spPr>
          <a:xfrm>
            <a:off x="548640" y="4211574"/>
            <a:ext cx="5362956" cy="580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S10 Mr. Park, the lions</a:t>
            </a:r>
            <a:endParaRPr lang="ko-KR" sz="2800" dirty="0"/>
          </a:p>
        </p:txBody>
      </p:sp>
      <p:sp>
        <p:nvSpPr>
          <p:cNvPr id="10" name="S11-chip8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1-text83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곳을 답하기</a:t>
            </a:r>
            <a:endParaRPr lang="ko-KR" sz="2800" dirty="0"/>
          </a:p>
        </p:txBody>
      </p:sp>
      <p:sp>
        <p:nvSpPr>
          <p:cNvPr id="12" name="S11-text84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Who?에 처음 들린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답하기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물음에 맞는 답을 골라요</a:t>
            </a:r>
            <a:endParaRPr lang="ko-KR" sz="4000" dirty="0"/>
          </a:p>
        </p:txBody>
      </p:sp>
      <p:sp>
        <p:nvSpPr>
          <p:cNvPr id="3" name="S12-text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Tom plays soccer with Mina at the park on Sunday.</a:t>
            </a:r>
            <a:endParaRPr lang="ko-KR" sz="2800" dirty="0"/>
          </a:p>
        </p:txBody>
      </p:sp>
      <p:sp>
        <p:nvSpPr>
          <p:cNvPr id="4" name="S12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When?에 알맞은 답은? 어떻게 알았나요?</a:t>
            </a:r>
            <a:endParaRPr lang="ko-KR" sz="2800" dirty="0"/>
          </a:p>
        </p:txBody>
      </p:sp>
      <p:sp>
        <p:nvSpPr>
          <p:cNvPr id="6" name="S12-chip88"/>
          <p:cNvSpPr txBox="1"/>
          <p:nvPr/>
        </p:nvSpPr>
        <p:spPr>
          <a:xfrm>
            <a:off x="548640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2-card89"/>
          <p:cNvSpPr/>
          <p:nvPr/>
        </p:nvSpPr>
        <p:spPr>
          <a:xfrm>
            <a:off x="1344168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90"/>
          <p:cNvSpPr txBox="1"/>
          <p:nvPr/>
        </p:nvSpPr>
        <p:spPr>
          <a:xfrm>
            <a:off x="1618488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with Mina</a:t>
            </a:r>
            <a:endParaRPr lang="ko-KR" sz="2800" dirty="0"/>
          </a:p>
        </p:txBody>
      </p:sp>
      <p:sp>
        <p:nvSpPr>
          <p:cNvPr id="9" name="S12-chip91"/>
          <p:cNvSpPr txBox="1"/>
          <p:nvPr/>
        </p:nvSpPr>
        <p:spPr>
          <a:xfrm>
            <a:off x="6277356" y="24368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0" name="S12-card92"/>
          <p:cNvSpPr/>
          <p:nvPr/>
        </p:nvSpPr>
        <p:spPr>
          <a:xfrm>
            <a:off x="7072884" y="201168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93"/>
          <p:cNvSpPr txBox="1"/>
          <p:nvPr/>
        </p:nvSpPr>
        <p:spPr>
          <a:xfrm>
            <a:off x="7347204" y="214884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the park</a:t>
            </a:r>
            <a:endParaRPr lang="ko-KR" sz="2800" dirty="0"/>
          </a:p>
        </p:txBody>
      </p:sp>
      <p:sp>
        <p:nvSpPr>
          <p:cNvPr id="12" name="S12-chip94"/>
          <p:cNvSpPr txBox="1"/>
          <p:nvPr/>
        </p:nvSpPr>
        <p:spPr>
          <a:xfrm>
            <a:off x="548640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3" name="S12-card95"/>
          <p:cNvSpPr/>
          <p:nvPr/>
        </p:nvSpPr>
        <p:spPr>
          <a:xfrm>
            <a:off x="1344168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96"/>
          <p:cNvSpPr txBox="1"/>
          <p:nvPr/>
        </p:nvSpPr>
        <p:spPr>
          <a:xfrm>
            <a:off x="1618488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Sunday</a:t>
            </a:r>
            <a:endParaRPr lang="ko-KR" sz="2800" dirty="0"/>
          </a:p>
        </p:txBody>
      </p:sp>
      <p:sp>
        <p:nvSpPr>
          <p:cNvPr id="15" name="S12-chip97"/>
          <p:cNvSpPr txBox="1"/>
          <p:nvPr/>
        </p:nvSpPr>
        <p:spPr>
          <a:xfrm>
            <a:off x="6277356" y="41285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6" name="S12-card98"/>
          <p:cNvSpPr/>
          <p:nvPr/>
        </p:nvSpPr>
        <p:spPr>
          <a:xfrm>
            <a:off x="7072884" y="3703320"/>
            <a:ext cx="4567428" cy="1417320"/>
          </a:xfrm>
          <a:prstGeom prst="roundRect">
            <a:avLst>
              <a:gd name="adj" fmla="val 774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7" name="S12-cardtext99"/>
          <p:cNvSpPr txBox="1"/>
          <p:nvPr/>
        </p:nvSpPr>
        <p:spPr>
          <a:xfrm>
            <a:off x="7347204" y="3840480"/>
            <a:ext cx="401878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soccer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0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Who는 사람, What은 물건·하는 일, When은 때, Where는 곳!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물음을 먼저 읽고 찾을 것을 정해요.</a:t>
            </a:r>
            <a:endParaRPr lang="ko-KR" sz="2800" dirty="0"/>
          </a:p>
        </p:txBody>
      </p:sp>
      <p:sp>
        <p:nvSpPr>
          <p:cNvPr id="5" name="S13-chip10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물음 먼저 읽기</a:t>
            </a:r>
            <a:endParaRPr lang="ko-KR" sz="2200" dirty="0"/>
          </a:p>
        </p:txBody>
      </p:sp>
      <p:sp>
        <p:nvSpPr>
          <p:cNvPr id="6" name="S13-chip10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When에 곳을 답하기</a:t>
            </a:r>
            <a:endParaRPr lang="ko-KR" sz="2200" dirty="0"/>
          </a:p>
        </p:txBody>
      </p:sp>
      <p:sp>
        <p:nvSpPr>
          <p:cNvPr id="7" name="S13-text10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10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When과 Where에는 각각 무엇을 답할까요?</a:t>
            </a:r>
            <a:endParaRPr lang="ko-KR" sz="2200" dirty="0"/>
          </a:p>
        </p:txBody>
      </p:sp>
      <p:sp>
        <p:nvSpPr>
          <p:cNvPr id="9" name="S13-text10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듣고 When과 Where에 답하기</a:t>
            </a:r>
            <a:endParaRPr lang="ko-KR" sz="2200" dirty="0"/>
          </a:p>
        </p:txBody>
      </p:sp>
      <p:sp>
        <p:nvSpPr>
          <p:cNvPr id="10" name="S13-text10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글에서 What의 답 찾기</a:t>
            </a:r>
            <a:endParaRPr lang="ko-KR" sz="2200" dirty="0"/>
          </a:p>
        </p:txBody>
      </p:sp>
      <p:sp>
        <p:nvSpPr>
          <p:cNvPr id="11" name="S13-text10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하루 일과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중심 내용 다시 찾기</a:t>
            </a:r>
            <a:endParaRPr lang="ko-KR" sz="4000" dirty="0"/>
          </a:p>
        </p:txBody>
      </p:sp>
      <p:sp>
        <p:nvSpPr>
          <p:cNvPr id="3" name="S14-card10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무엇에 관한 대화인지 알면 자세한 정보도 찾기 쉬워요.</a:t>
            </a:r>
            <a:endParaRPr lang="ko-KR" sz="2800" dirty="0"/>
          </a:p>
        </p:txBody>
      </p:sp>
      <p:sp>
        <p:nvSpPr>
          <p:cNvPr id="5" name="S14-card111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4-cardtext112"/>
          <p:cNvSpPr txBox="1"/>
          <p:nvPr/>
        </p:nvSpPr>
        <p:spPr>
          <a:xfrm>
            <a:off x="822960" y="18288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끝까지 들어요.</a:t>
            </a:r>
            <a:endParaRPr lang="ko-KR" sz="2800" dirty="0"/>
          </a:p>
        </p:txBody>
      </p:sp>
      <p:sp>
        <p:nvSpPr>
          <p:cNvPr id="7" name="S14-card113"/>
          <p:cNvSpPr/>
          <p:nvPr/>
        </p:nvSpPr>
        <p:spPr>
          <a:xfrm>
            <a:off x="548640" y="278892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14"/>
          <p:cNvSpPr txBox="1"/>
          <p:nvPr/>
        </p:nvSpPr>
        <p:spPr>
          <a:xfrm>
            <a:off x="822960" y="292608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번 나오는 낱말을 찾아요.</a:t>
            </a:r>
            <a:endParaRPr lang="ko-KR" sz="2800" dirty="0"/>
          </a:p>
        </p:txBody>
      </p:sp>
      <p:sp>
        <p:nvSpPr>
          <p:cNvPr id="9" name="S14-card115"/>
          <p:cNvSpPr/>
          <p:nvPr/>
        </p:nvSpPr>
        <p:spPr>
          <a:xfrm>
            <a:off x="548640" y="388620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16"/>
          <p:cNvSpPr txBox="1"/>
          <p:nvPr/>
        </p:nvSpPr>
        <p:spPr>
          <a:xfrm>
            <a:off x="822960" y="402336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문장을 아우르는 말을 골라요.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세부 정보 찾기</dc:title>
  <dc:subject>KR22-G05-ENG-DETAILS-L01</dc:subject>
  <dc:creator>education-ppt</dc:creator>
  <cp:lastModifiedBy>education-ppt</cp:lastModifiedBy>
  <cp:revision>1</cp:revision>
  <dcterms:created xsi:type="dcterms:W3CDTF">2026-10-26T08:52:04Z</dcterms:created>
  <dcterms:modified xsi:type="dcterms:W3CDTF">2026-10-26T08:52:04Z</dcterms:modified>
</cp:coreProperties>
</file>