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0e8640fe-4805-513e-99b2-29500299ad21}">
          <p14:sldIdLst>
            <p14:sldId id="256"/>
            <p14:sldId id="257"/>
          </p14:sldIdLst>
        </p14:section>
        <p14:section name="개념" id="{b0c48204-469d-1414-6840-5ae6a83a0aa3}">
          <p14:sldIdLst>
            <p14:sldId id="258"/>
            <p14:sldId id="259"/>
            <p14:sldId id="260"/>
            <p14:sldId id="262"/>
          </p14:sldIdLst>
        </p14:section>
        <p14:section name="연습" id="{60b603bd-b8e3-505f-aa52-8bbb33af8a22}">
          <p14:sldIdLst>
            <p14:sldId id="261"/>
            <p14:sldId id="263"/>
            <p14:sldId id="264"/>
          </p14:sldIdLst>
        </p14:section>
        <p14:section name="개념" id="{e54b81ce-6672-af26-0500-db6bfb07f9bf}">
          <p14:sldIdLst/>
        </p14:section>
        <p14:section name="연습" id="{1dd604eb-e969-767b-38d8-ef42ee14aebf}">
          <p14:sldIdLst/>
        </p14:section>
        <p14:section name="확인" id="{4515af57-9dc8-5dc8-c4a1-373d26c677b8}">
          <p14:sldIdLst>
            <p14:sldId id="265"/>
            <p14:sldId id="266"/>
          </p14:sldIdLst>
        </p14:section>
        <p14:section name="정리" id="{9b2bf3d0-5e44-ca03-980d-d999a5cbcd33}">
          <p14:sldIdLst>
            <p14:sldId id="267"/>
          </p14:sldIdLst>
        </p14:section>
        <p14:section name="보충" id="{26c09fd5-8cb4-b777-314b-ab31d11f543e}">
          <p14:sldIdLst>
            <p14:sldId id="268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상호작용과문화 · 3차시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명절과 문화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영어 · 명절과 문화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영어 · 명절과 문화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명절과 문화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나라 사람들은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어떤 명절을 보낼까요?</a:t>
            </a:r>
            <a:endParaRPr lang="ko-KR" sz="2800" dirty="0"/>
          </a:p>
        </p:txBody>
      </p:sp>
      <p:sp>
        <p:nvSpPr>
          <p:cNvPr id="4" name="S01-word1"/>
          <p:cNvSpPr txBox="1"/>
          <p:nvPr/>
        </p:nvSpPr>
        <p:spPr>
          <a:xfrm>
            <a:off x="7680960" y="6400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Seollal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설날</a:t>
            </a:r>
            <a:endParaRPr lang="ko-KR" sz="3200" dirty="0"/>
          </a:p>
        </p:txBody>
      </p:sp>
      <p:sp>
        <p:nvSpPr>
          <p:cNvPr id="5" name="S01-word2"/>
          <p:cNvSpPr txBox="1"/>
          <p:nvPr/>
        </p:nvSpPr>
        <p:spPr>
          <a:xfrm>
            <a:off x="7680960" y="2240280"/>
            <a:ext cx="3931920" cy="1325880"/>
          </a:xfrm>
          <a:prstGeom prst="roundRect">
            <a:avLst>
              <a:gd name="adj" fmla="val 9655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Thanksgiving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추수감사절</a:t>
            </a:r>
            <a:endParaRPr lang="ko-KR" sz="3200" dirty="0"/>
          </a:p>
        </p:txBody>
      </p:sp>
      <p:sp>
        <p:nvSpPr>
          <p:cNvPr id="6" name="S01-card3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7" name="S01-cardtext4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여러 나라의 명절을 읽고 같은 점과 다른 점을 말해요.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What do you do on ~?에 우리 명절을 소개해요.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지난 시간 떠올리기</a:t>
            </a:r>
            <a:endParaRPr lang="ko-KR" sz="4000" dirty="0"/>
          </a:p>
        </p:txBody>
      </p:sp>
      <p:sp>
        <p:nvSpPr>
          <p:cNvPr id="3" name="S02-text5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①②는 영어로 말하고, ③은 읽고 뜻을 말해요.</a:t>
            </a:r>
            <a:endParaRPr lang="ko-KR" sz="2800" dirty="0"/>
          </a:p>
        </p:txBody>
      </p:sp>
      <p:sp>
        <p:nvSpPr>
          <p:cNvPr id="4" name="S02-chip6"/>
          <p:cNvSpPr txBox="1"/>
          <p:nvPr/>
        </p:nvSpPr>
        <p:spPr>
          <a:xfrm>
            <a:off x="548640" y="2368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02-text7"/>
          <p:cNvSpPr txBox="1"/>
          <p:nvPr/>
        </p:nvSpPr>
        <p:spPr>
          <a:xfrm>
            <a:off x="1344168" y="201168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물건값을 영어로 물어요.</a:t>
            </a:r>
            <a:endParaRPr lang="ko-KR" sz="2800" dirty="0"/>
          </a:p>
        </p:txBody>
      </p:sp>
      <p:sp>
        <p:nvSpPr>
          <p:cNvPr id="6" name="S02-chip8"/>
          <p:cNvSpPr txBox="1"/>
          <p:nvPr/>
        </p:nvSpPr>
        <p:spPr>
          <a:xfrm>
            <a:off x="548640" y="38313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02-text9"/>
          <p:cNvSpPr txBox="1"/>
          <p:nvPr/>
        </p:nvSpPr>
        <p:spPr>
          <a:xfrm>
            <a:off x="1344168" y="347472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3,000원을 영어로 말해요.</a:t>
            </a:r>
            <a:endParaRPr lang="ko-KR" sz="2800" dirty="0"/>
          </a:p>
        </p:txBody>
      </p:sp>
      <p:sp>
        <p:nvSpPr>
          <p:cNvPr id="8" name="S02-chip10"/>
          <p:cNvSpPr txBox="1"/>
          <p:nvPr/>
        </p:nvSpPr>
        <p:spPr>
          <a:xfrm>
            <a:off x="548640" y="52943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02-text11"/>
          <p:cNvSpPr txBox="1"/>
          <p:nvPr/>
        </p:nvSpPr>
        <p:spPr>
          <a:xfrm>
            <a:off x="1344168" y="4937760"/>
            <a:ext cx="10296144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family　　eat　　many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우리나라의 명절</a:t>
            </a:r>
            <a:endParaRPr lang="ko-KR" sz="4000" dirty="0"/>
          </a:p>
        </p:txBody>
      </p:sp>
      <p:sp>
        <p:nvSpPr>
          <p:cNvPr id="3" name="S03-text12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January 1월　·　February 2월　·　September 9월　·　October 10월</a:t>
            </a:r>
            <a:endParaRPr lang="ko-KR" sz="2800" dirty="0"/>
          </a:p>
        </p:txBody>
      </p:sp>
      <p:sp>
        <p:nvSpPr>
          <p:cNvPr id="4" name="S03-card1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설날과 추석은 음력으로 정해서 날짜가 해마다 달라요.</a:t>
            </a:r>
            <a:endParaRPr lang="ko-KR" sz="2800" dirty="0"/>
          </a:p>
        </p:txBody>
      </p:sp>
      <p:sp>
        <p:nvSpPr>
          <p:cNvPr id="6" name="S03-passagebox15"/>
          <p:cNvSpPr/>
          <p:nvPr/>
        </p:nvSpPr>
        <p:spPr>
          <a:xfrm>
            <a:off x="548640" y="2376424"/>
            <a:ext cx="11091672" cy="2744216"/>
          </a:xfrm>
          <a:prstGeom prst="roundRect">
            <a:avLst>
              <a:gd name="adj" fmla="val 3332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7" name="S03-passage16"/>
          <p:cNvSpPr txBox="1"/>
          <p:nvPr/>
        </p:nvSpPr>
        <p:spPr>
          <a:xfrm>
            <a:off x="822960" y="2559304"/>
            <a:ext cx="10543032" cy="2378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Seollal and Chuseok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Seollal is in January or February. Many families eat tteokguk.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6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Chuseok is in September or October. Many families eat songpyeon.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나라의 명절</a:t>
            </a:r>
            <a:endParaRPr lang="ko-KR" sz="4000" dirty="0"/>
          </a:p>
        </p:txBody>
      </p:sp>
      <p:sp>
        <p:nvSpPr>
          <p:cNvPr id="3" name="S04-text17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November 11월　·　turkey 칠면조　·　country 나라　·　celebrate 축하하다</a:t>
            </a:r>
            <a:endParaRPr lang="ko-KR" sz="2800" dirty="0"/>
          </a:p>
        </p:txBody>
      </p:sp>
      <p:sp>
        <p:nvSpPr>
          <p:cNvPr id="4" name="S04-card1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4-cardtext1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중국, 베트남 등에서도 많은 사람이 음력 새해(설)를 보내요.</a:t>
            </a:r>
            <a:endParaRPr lang="ko-KR" sz="2800" dirty="0"/>
          </a:p>
        </p:txBody>
      </p:sp>
      <p:sp>
        <p:nvSpPr>
          <p:cNvPr id="6" name="S04-passagebox20"/>
          <p:cNvSpPr/>
          <p:nvPr/>
        </p:nvSpPr>
        <p:spPr>
          <a:xfrm>
            <a:off x="548640" y="2376424"/>
            <a:ext cx="11091672" cy="2744216"/>
          </a:xfrm>
          <a:prstGeom prst="roundRect">
            <a:avLst>
              <a:gd name="adj" fmla="val 3332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7" name="S04-passage21"/>
          <p:cNvSpPr txBox="1"/>
          <p:nvPr/>
        </p:nvSpPr>
        <p:spPr>
          <a:xfrm>
            <a:off x="822960" y="2559304"/>
            <a:ext cx="10543032" cy="2378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3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Thanksgiving and New Year's Day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 the U.S., Thanksgiving is in November. Many families eat turkey.</a:t>
            </a:r>
            <a:endParaRPr lang="ko-KR" sz="30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Many countries celebrate New Year's Day on January 1.</a:t>
            </a:r>
            <a:endParaRPr lang="ko-KR" sz="3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do you do on Chuseok?</a:t>
            </a:r>
            <a:endParaRPr lang="ko-KR" sz="4000" dirty="0"/>
          </a:p>
        </p:txBody>
      </p:sp>
      <p:sp>
        <p:nvSpPr>
          <p:cNvPr id="3" name="S05-text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엄마(아빠)와 역할을 나누어 말해요.</a:t>
            </a:r>
            <a:endParaRPr lang="ko-KR" sz="2800" dirty="0"/>
          </a:p>
        </p:txBody>
      </p:sp>
      <p:sp>
        <p:nvSpPr>
          <p:cNvPr id="4" name="S05-card23"/>
          <p:cNvSpPr/>
          <p:nvPr/>
        </p:nvSpPr>
        <p:spPr>
          <a:xfrm>
            <a:off x="548640" y="5021072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24"/>
          <p:cNvSpPr txBox="1"/>
          <p:nvPr/>
        </p:nvSpPr>
        <p:spPr>
          <a:xfrm>
            <a:off x="822960" y="5158232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 do you do on ~?은 ‘~에 너희는 무엇을 하니?’라는 뜻이에요.</a:t>
            </a:r>
            <a:endParaRPr lang="ko-KR" sz="2800" dirty="0"/>
          </a:p>
        </p:txBody>
      </p:sp>
      <p:sp>
        <p:nvSpPr>
          <p:cNvPr id="6" name="S05-passagebox25"/>
          <p:cNvSpPr/>
          <p:nvPr/>
        </p:nvSpPr>
        <p:spPr>
          <a:xfrm>
            <a:off x="548640" y="2011680"/>
            <a:ext cx="11091672" cy="2780792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9050">
            <a:solidFill>
              <a:srgbClr val="264653"/>
            </a:solidFill>
            <a:prstDash val="solid"/>
          </a:ln>
        </p:spPr>
      </p:sp>
      <p:sp>
        <p:nvSpPr>
          <p:cNvPr id="7" name="S05-passage26"/>
          <p:cNvSpPr txBox="1"/>
          <p:nvPr/>
        </p:nvSpPr>
        <p:spPr>
          <a:xfrm>
            <a:off x="822960" y="2194560"/>
            <a:ext cx="10543032" cy="2415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When is Chuseok?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It's in September or October.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A: What do you do on Chuseok?</a:t>
            </a:r>
            <a:endParaRPr lang="ko-KR" sz="2800" dirty="0"/>
          </a:p>
          <a:p>
            <a:pPr eaLnBrk="0" algn="l" indent="0" marL="0">
              <a:lnSpc>
                <a:spcPct val="105000"/>
              </a:lnSpc>
              <a:spcAft>
                <a:spcPts val="8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B: We eat songpyeon.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명절 표 완성하기</a:t>
            </a:r>
            <a:endParaRPr lang="ko-KR" sz="4000" dirty="0"/>
          </a:p>
        </p:txBody>
      </p:sp>
      <p:sp>
        <p:nvSpPr>
          <p:cNvPr id="3" name="S06-text2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물음표(?)에 들어갈 말을 찾아 말해요.</a:t>
            </a:r>
            <a:endParaRPr lang="ko-KR" sz="2800" dirty="0"/>
          </a:p>
        </p:txBody>
      </p:sp>
      <p:graphicFrame>
        <p:nvGraphicFramePr>
          <p:cNvPr id="7" name="S06-table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910840"/>
          <a:ext cx="10058400" cy="914400"/>
        </p:xfrm>
        <a:graphic>
          <a:graphicData uri="http://schemas.openxmlformats.org/drawingml/2006/table">
            <a:tbl>
              <a:tblPr/>
              <a:tblGrid>
                <a:gridCol w="3419856"/>
                <a:gridCol w="3822192"/>
                <a:gridCol w="281635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Holiday (명절)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When? (언제)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Food (음식)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Seollal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January or February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① 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Chuseok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② 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songpyeon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Thanksgiving (U.S.)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③ ?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turkey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New Year's Day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January 1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추석과 추수감사절 비교</a:t>
            </a:r>
            <a:endParaRPr lang="ko-KR" sz="4000" dirty="0"/>
          </a:p>
        </p:txBody>
      </p:sp>
      <p:sp>
        <p:nvSpPr>
          <p:cNvPr id="3" name="S07-card2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7-cardtext3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기준으로 보면 같은 점과 다른 점이 잘 보여요.</a:t>
            </a:r>
            <a:endParaRPr lang="ko-KR" sz="2800" dirty="0"/>
          </a:p>
        </p:txBody>
      </p:sp>
      <p:graphicFrame>
        <p:nvGraphicFramePr>
          <p:cNvPr id="8" name="S07-table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65276" y="2260092"/>
          <a:ext cx="10058400" cy="914400"/>
        </p:xfrm>
        <a:graphic>
          <a:graphicData uri="http://schemas.openxmlformats.org/drawingml/2006/table">
            <a:tbl>
              <a:tblPr/>
              <a:tblGrid>
                <a:gridCol w="2414016"/>
                <a:gridCol w="3822192"/>
                <a:gridCol w="3822192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기준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Chuseok (추석)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Thanksgiving (미국)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언제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9월이나 10월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11월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누가 모이나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많은 가족이 모여요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많은 가족이 모여요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무엇을 먹나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송편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칠면조 요리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점과 다른 점</a:t>
            </a:r>
            <a:endParaRPr lang="ko-KR" sz="4000" dirty="0"/>
          </a:p>
        </p:txBody>
      </p:sp>
      <p:sp>
        <p:nvSpPr>
          <p:cNvPr id="3" name="S08-text3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명절의 같은 점과 다른 점을 하나씩 말해요.</a:t>
            </a:r>
            <a:endParaRPr lang="ko-KR" sz="2800" dirty="0"/>
          </a:p>
        </p:txBody>
      </p:sp>
      <p:sp>
        <p:nvSpPr>
          <p:cNvPr id="4" name="S08-card3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8-cardtext3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기준: 언제? · 누가 모이나? · 무엇을 먹나?</a:t>
            </a:r>
            <a:endParaRPr lang="ko-KR" sz="2800" dirty="0"/>
          </a:p>
        </p:txBody>
      </p:sp>
      <p:sp>
        <p:nvSpPr>
          <p:cNvPr id="6" name="S08-chip35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8-text36"/>
          <p:cNvSpPr txBox="1"/>
          <p:nvPr/>
        </p:nvSpPr>
        <p:spPr>
          <a:xfrm>
            <a:off x="1344168" y="20116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Seollal　·　New Year's Day</a:t>
            </a:r>
            <a:endParaRPr lang="ko-KR" sz="2800" dirty="0"/>
          </a:p>
        </p:txBody>
      </p:sp>
      <p:sp>
        <p:nvSpPr>
          <p:cNvPr id="8" name="S08-chip37"/>
          <p:cNvSpPr txBox="1"/>
          <p:nvPr/>
        </p:nvSpPr>
        <p:spPr>
          <a:xfrm>
            <a:off x="548640" y="410565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8-text38"/>
          <p:cNvSpPr txBox="1"/>
          <p:nvPr/>
        </p:nvSpPr>
        <p:spPr>
          <a:xfrm>
            <a:off x="1344168" y="365760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Seollal　·　Chuseok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어떻게 말하면 좋을까요?</a:t>
            </a:r>
            <a:endParaRPr lang="ko-KR" sz="4000" dirty="0"/>
          </a:p>
        </p:txBody>
      </p:sp>
      <p:sp>
        <p:nvSpPr>
          <p:cNvPr id="3" name="S09-card39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9-cardtext40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친구가 ‘미국 사람은 모두 칠면조를 먹어. 송편을 안 먹다니 이상해.’라고 했어요.</a:t>
            </a:r>
            <a:endParaRPr lang="ko-KR" sz="2800" dirty="0"/>
          </a:p>
        </p:txBody>
      </p:sp>
      <p:sp>
        <p:nvSpPr>
          <p:cNvPr id="5" name="S09-card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9-cardtext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어느 말이 더 알맞을까요? 왜 그렇게 생각해요?</a:t>
            </a:r>
            <a:endParaRPr lang="ko-KR" sz="2800" dirty="0"/>
          </a:p>
        </p:txBody>
      </p:sp>
      <p:sp>
        <p:nvSpPr>
          <p:cNvPr id="7" name="S09-chip43"/>
          <p:cNvSpPr txBox="1"/>
          <p:nvPr/>
        </p:nvSpPr>
        <p:spPr>
          <a:xfrm>
            <a:off x="548640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200" dirty="0"/>
          </a:p>
        </p:txBody>
      </p:sp>
      <p:sp>
        <p:nvSpPr>
          <p:cNvPr id="8" name="S09-text44"/>
          <p:cNvSpPr txBox="1"/>
          <p:nvPr/>
        </p:nvSpPr>
        <p:spPr>
          <a:xfrm>
            <a:off x="548640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 사람은 모두 칠면조를 먹어요. 송편을 안 먹다니 이상해요.</a:t>
            </a:r>
            <a:endParaRPr lang="ko-KR" sz="2800" dirty="0"/>
          </a:p>
        </p:txBody>
      </p:sp>
      <p:sp>
        <p:nvSpPr>
          <p:cNvPr id="9" name="S09-chip45"/>
          <p:cNvSpPr txBox="1"/>
          <p:nvPr/>
        </p:nvSpPr>
        <p:spPr>
          <a:xfrm>
            <a:off x="6277356" y="2751328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200" dirty="0"/>
          </a:p>
        </p:txBody>
      </p:sp>
      <p:sp>
        <p:nvSpPr>
          <p:cNvPr id="10" name="S09-text46"/>
          <p:cNvSpPr txBox="1"/>
          <p:nvPr/>
        </p:nvSpPr>
        <p:spPr>
          <a:xfrm>
            <a:off x="6277356" y="3482848"/>
            <a:ext cx="5362956" cy="1637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미국에서 많은 가족이 추수감사절에 칠면조 요리를 먹어요. 우리와 음식이 달라요.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0-text4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①③은 영어로, ②④는 우리말로 답해요.</a:t>
            </a:r>
            <a:endParaRPr lang="ko-KR" sz="2800" dirty="0"/>
          </a:p>
        </p:txBody>
      </p:sp>
      <p:sp>
        <p:nvSpPr>
          <p:cNvPr id="4" name="S10-chip48"/>
          <p:cNvSpPr txBox="1"/>
          <p:nvPr/>
        </p:nvSpPr>
        <p:spPr>
          <a:xfrm>
            <a:off x="548640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5" name="S10-text49"/>
          <p:cNvSpPr txBox="1"/>
          <p:nvPr/>
        </p:nvSpPr>
        <p:spPr>
          <a:xfrm>
            <a:off x="1344168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 is Thanksgiving in the U.S.?</a:t>
            </a:r>
            <a:endParaRPr lang="ko-KR" sz="2800" dirty="0"/>
          </a:p>
        </p:txBody>
      </p:sp>
      <p:sp>
        <p:nvSpPr>
          <p:cNvPr id="6" name="S10-chip50"/>
          <p:cNvSpPr txBox="1"/>
          <p:nvPr/>
        </p:nvSpPr>
        <p:spPr>
          <a:xfrm>
            <a:off x="6277356" y="24597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7" name="S10-text51"/>
          <p:cNvSpPr txBox="1"/>
          <p:nvPr/>
        </p:nvSpPr>
        <p:spPr>
          <a:xfrm>
            <a:off x="7072884" y="20116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추석과 추수감사절의 같은 점은?</a:t>
            </a:r>
            <a:endParaRPr lang="ko-KR" sz="2800" dirty="0"/>
          </a:p>
        </p:txBody>
      </p:sp>
      <p:sp>
        <p:nvSpPr>
          <p:cNvPr id="8" name="S10-chip52"/>
          <p:cNvSpPr txBox="1"/>
          <p:nvPr/>
        </p:nvSpPr>
        <p:spPr>
          <a:xfrm>
            <a:off x="548640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9" name="S10-text53"/>
          <p:cNvSpPr txBox="1"/>
          <p:nvPr/>
        </p:nvSpPr>
        <p:spPr>
          <a:xfrm>
            <a:off x="1344168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What do you do on Seollal?</a:t>
            </a:r>
            <a:endParaRPr lang="ko-KR" sz="2800" dirty="0"/>
          </a:p>
        </p:txBody>
      </p:sp>
      <p:sp>
        <p:nvSpPr>
          <p:cNvPr id="10" name="S10-chip54"/>
          <p:cNvSpPr txBox="1"/>
          <p:nvPr/>
        </p:nvSpPr>
        <p:spPr>
          <a:xfrm>
            <a:off x="6277356" y="46542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1" name="S10-text55"/>
          <p:cNvSpPr txBox="1"/>
          <p:nvPr/>
        </p:nvSpPr>
        <p:spPr>
          <a:xfrm>
            <a:off x="7072884" y="42062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‘모두’ 대신 쓰면 좋은 말은?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말한 것은?</a:t>
            </a:r>
            <a:endParaRPr lang="ko-KR" sz="4000" dirty="0"/>
          </a:p>
        </p:txBody>
      </p:sp>
      <p:sp>
        <p:nvSpPr>
          <p:cNvPr id="3" name="S12-card56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2-cardtext57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바르게 말한 것은 어느 것일까요? 왜 그렇게 생각해요?</a:t>
            </a:r>
            <a:endParaRPr lang="ko-KR" sz="2800" dirty="0"/>
          </a:p>
        </p:txBody>
      </p:sp>
      <p:sp>
        <p:nvSpPr>
          <p:cNvPr id="5" name="S12-chip58"/>
          <p:cNvSpPr txBox="1"/>
          <p:nvPr/>
        </p:nvSpPr>
        <p:spPr>
          <a:xfrm>
            <a:off x="548640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2-card59"/>
          <p:cNvSpPr/>
          <p:nvPr/>
        </p:nvSpPr>
        <p:spPr>
          <a:xfrm>
            <a:off x="1344168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2-cardtext60"/>
          <p:cNvSpPr txBox="1"/>
          <p:nvPr/>
        </p:nvSpPr>
        <p:spPr>
          <a:xfrm>
            <a:off x="1618488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한국 사람은 모두 추석에 송편을 만들어요.</a:t>
            </a:r>
            <a:endParaRPr lang="ko-KR" sz="2800" dirty="0"/>
          </a:p>
        </p:txBody>
      </p:sp>
      <p:sp>
        <p:nvSpPr>
          <p:cNvPr id="8" name="S12-chip61"/>
          <p:cNvSpPr txBox="1"/>
          <p:nvPr/>
        </p:nvSpPr>
        <p:spPr>
          <a:xfrm>
            <a:off x="6277356" y="192252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2-card62"/>
          <p:cNvSpPr/>
          <p:nvPr/>
        </p:nvSpPr>
        <p:spPr>
          <a:xfrm>
            <a:off x="7072884" y="132588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2-cardtext63"/>
          <p:cNvSpPr txBox="1"/>
          <p:nvPr/>
        </p:nvSpPr>
        <p:spPr>
          <a:xfrm>
            <a:off x="7347204" y="146304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추수감사절은 우리 명절과 달라서 이상해요.</a:t>
            </a:r>
            <a:endParaRPr lang="ko-KR" sz="2800" dirty="0"/>
          </a:p>
        </p:txBody>
      </p:sp>
      <p:sp>
        <p:nvSpPr>
          <p:cNvPr id="11" name="S12-chip64"/>
          <p:cNvSpPr txBox="1"/>
          <p:nvPr/>
        </p:nvSpPr>
        <p:spPr>
          <a:xfrm>
            <a:off x="548640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2-card65"/>
          <p:cNvSpPr/>
          <p:nvPr/>
        </p:nvSpPr>
        <p:spPr>
          <a:xfrm>
            <a:off x="1344168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2-cardtext66"/>
          <p:cNvSpPr txBox="1"/>
          <p:nvPr/>
        </p:nvSpPr>
        <p:spPr>
          <a:xfrm>
            <a:off x="1618488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1월 1일에 새해 첫날을 축하하는 나라가 많아요.</a:t>
            </a:r>
            <a:endParaRPr lang="ko-KR" sz="2800" dirty="0"/>
          </a:p>
        </p:txBody>
      </p:sp>
      <p:sp>
        <p:nvSpPr>
          <p:cNvPr id="14" name="S12-chip67"/>
          <p:cNvSpPr txBox="1"/>
          <p:nvPr/>
        </p:nvSpPr>
        <p:spPr>
          <a:xfrm>
            <a:off x="6277356" y="395706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</a:t>
            </a:r>
            <a:endParaRPr lang="ko-KR" sz="2800" dirty="0"/>
          </a:p>
        </p:txBody>
      </p:sp>
      <p:sp>
        <p:nvSpPr>
          <p:cNvPr id="15" name="S12-card68"/>
          <p:cNvSpPr/>
          <p:nvPr/>
        </p:nvSpPr>
        <p:spPr>
          <a:xfrm>
            <a:off x="7072884" y="3360420"/>
            <a:ext cx="4567428" cy="1760220"/>
          </a:xfrm>
          <a:prstGeom prst="roundRect">
            <a:avLst>
              <a:gd name="adj" fmla="val 6234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2-cardtext69"/>
          <p:cNvSpPr txBox="1"/>
          <p:nvPr/>
        </p:nvSpPr>
        <p:spPr>
          <a:xfrm>
            <a:off x="7347204" y="3497580"/>
            <a:ext cx="4018788" cy="14859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1월 1일은 해마다 설날이에요.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3-card70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3-cardtext71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When is ~? → It's in ~.　What do you do on ~? → We ~.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명절은 나라와 집마다 달라요. ‘많은 가족이’처럼 말해요.</a:t>
            </a:r>
            <a:endParaRPr lang="ko-KR" sz="2800" dirty="0"/>
          </a:p>
        </p:txBody>
      </p:sp>
      <p:sp>
        <p:nvSpPr>
          <p:cNvPr id="5" name="S13-chip72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‘많은 가족이’처럼 말하기</a:t>
            </a:r>
            <a:endParaRPr lang="ko-KR" sz="2200" dirty="0"/>
          </a:p>
        </p:txBody>
      </p:sp>
      <p:sp>
        <p:nvSpPr>
          <p:cNvPr id="6" name="S13-chip73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‘모두’, ‘이상해’라고 말하기</a:t>
            </a:r>
            <a:endParaRPr lang="ko-KR" sz="2200" dirty="0"/>
          </a:p>
        </p:txBody>
      </p:sp>
      <p:sp>
        <p:nvSpPr>
          <p:cNvPr id="7" name="S13-text74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3-text75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When is Chuseok?</a:t>
            </a:r>
            <a:endParaRPr lang="ko-KR" sz="2200" dirty="0"/>
          </a:p>
        </p:txBody>
      </p:sp>
      <p:sp>
        <p:nvSpPr>
          <p:cNvPr id="9" name="S13-text76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추석과 추수감사절의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같은 점 하나</a:t>
            </a:r>
            <a:endParaRPr lang="ko-KR" sz="2200" dirty="0"/>
          </a:p>
        </p:txBody>
      </p:sp>
      <p:sp>
        <p:nvSpPr>
          <p:cNvPr id="10" name="S13-text77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en-US" altLang="ko-KR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What do you do</a:t>
            </a:r>
            <a:endParaRPr lang="ko-KR" sz="2200" dirty="0"/>
          </a:p>
          <a:p>
            <a:pPr eaLnBrk="0" algn="l" indent="0" marL="0">
              <a:buNone/>
            </a:pPr>
            <a:r>
              <a:rPr lang="en-US" altLang="ko-KR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 Seollal?</a:t>
            </a:r>
            <a:endParaRPr lang="ko-KR" sz="2200" dirty="0"/>
          </a:p>
        </p:txBody>
      </p:sp>
      <p:sp>
        <p:nvSpPr>
          <p:cNvPr id="11" name="S13-text78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핵심 정보 파악(6학년)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낱말과 묻는 말</a:t>
            </a:r>
            <a:endParaRPr lang="ko-KR" sz="4000" dirty="0"/>
          </a:p>
        </p:txBody>
      </p:sp>
      <p:sp>
        <p:nvSpPr>
          <p:cNvPr id="3" name="S14-card79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4-cardtext80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en-US" altLang="ko-KR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How much is it? → It's three thousand won.</a:t>
            </a:r>
            <a:endParaRPr lang="ko-KR" sz="2800" dirty="0"/>
          </a:p>
        </p:txBody>
      </p:sp>
      <p:sp>
        <p:nvSpPr>
          <p:cNvPr id="5" name="S14-word81"/>
          <p:cNvSpPr txBox="1"/>
          <p:nvPr/>
        </p:nvSpPr>
        <p:spPr>
          <a:xfrm>
            <a:off x="548640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family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가족</a:t>
            </a:r>
            <a:endParaRPr lang="ko-KR" sz="3200" dirty="0"/>
          </a:p>
        </p:txBody>
      </p:sp>
      <p:sp>
        <p:nvSpPr>
          <p:cNvPr id="6" name="S14-word82"/>
          <p:cNvSpPr txBox="1"/>
          <p:nvPr/>
        </p:nvSpPr>
        <p:spPr>
          <a:xfrm>
            <a:off x="6231636" y="134874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many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많은</a:t>
            </a:r>
            <a:endParaRPr lang="ko-KR" sz="3200" dirty="0"/>
          </a:p>
        </p:txBody>
      </p:sp>
      <p:sp>
        <p:nvSpPr>
          <p:cNvPr id="7" name="S14-word83"/>
          <p:cNvSpPr txBox="1"/>
          <p:nvPr/>
        </p:nvSpPr>
        <p:spPr>
          <a:xfrm>
            <a:off x="548640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eat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먹다</a:t>
            </a:r>
            <a:endParaRPr lang="ko-KR" sz="3200" dirty="0"/>
          </a:p>
        </p:txBody>
      </p:sp>
      <p:sp>
        <p:nvSpPr>
          <p:cNvPr id="8" name="S14-word84"/>
          <p:cNvSpPr txBox="1"/>
          <p:nvPr/>
        </p:nvSpPr>
        <p:spPr>
          <a:xfrm>
            <a:off x="6231636" y="3360420"/>
            <a:ext cx="5408676" cy="1737360"/>
          </a:xfrm>
          <a:prstGeom prst="roundRect">
            <a:avLst>
              <a:gd name="adj" fmla="val 7368"/>
            </a:avLst>
          </a:prstGeom>
          <a:solidFill>
            <a:srgbClr val="EAF3F1"/>
          </a:solidFill>
          <a:ln>
            <a:solidFill>
              <a:srgbClr val="EAF3F1"/>
            </a:solidFill>
          </a:ln>
        </p:spPr>
        <p:txBody>
          <a:bodyPr wrap="square" lIns="76200" tIns="50800" rIns="76200" bIns="50800" rtlCol="0" anchor="ctr"/>
          <a:lstStyle/>
          <a:p>
            <a:pPr eaLnBrk="0" algn="ctr" indent="0" marL="0">
              <a:buNone/>
            </a:pPr>
            <a:r>
              <a:rPr lang="en-US" altLang="ko-KR" sz="3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We eat rice.</a:t>
            </a:r>
            <a:endParaRPr lang="ko-KR" sz="3200" dirty="0"/>
          </a:p>
          <a:p>
            <a:pPr eaLnBrk="0" algn="ctr" indent="0" marL="0">
              <a:buNone/>
            </a:pPr>
            <a:r>
              <a:rPr lang="ko-KR" altLang="en-US" sz="20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우리는 밥을 먹어요.</a:t>
            </a:r>
            <a:endParaRPr lang="ko-KR" sz="3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영어 명절과 문화</dc:title>
  <dc:subject>KR22-G05-ENG-HOLIDAYS-L01</dc:subject>
  <dc:creator>education-ppt</dc:creator>
  <cp:lastModifiedBy>education-ppt</cp:lastModifiedBy>
  <cp:revision>1</cp:revision>
  <dcterms:created xsi:type="dcterms:W3CDTF">2026-10-26T09:33:35Z</dcterms:created>
  <dcterms:modified xsi:type="dcterms:W3CDTF">2026-10-26T09:33:35Z</dcterms:modified>
</cp:coreProperties>
</file>