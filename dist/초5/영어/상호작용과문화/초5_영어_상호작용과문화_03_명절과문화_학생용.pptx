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e9d5f19-5da3-9fc9-4b12-ddcdcc6035d1}">
          <p14:sldIdLst>
            <p14:sldId id="256"/>
            <p14:sldId id="257"/>
          </p14:sldIdLst>
        </p14:section>
        <p14:section name="개념" id="{006532f2-f033-ab91-3dea-390726e55bb6}">
          <p14:sldIdLst>
            <p14:sldId id="258"/>
            <p14:sldId id="259"/>
            <p14:sldId id="260"/>
            <p14:sldId id="262"/>
          </p14:sldIdLst>
        </p14:section>
        <p14:section name="연습" id="{681ddc4c-e124-edf8-69e4-7b6551216fe0}">
          <p14:sldIdLst>
            <p14:sldId id="261"/>
            <p14:sldId id="263"/>
            <p14:sldId id="264"/>
          </p14:sldIdLst>
        </p14:section>
        <p14:section name="개념" id="{e6dae9d9-3191-0235-b7b7-1a39155b9b75}">
          <p14:sldIdLst/>
        </p14:section>
        <p14:section name="연습" id="{2f447d2c-3ad1-697f-2b59-9e7d31962f43}">
          <p14:sldIdLst/>
        </p14:section>
        <p14:section name="확인" id="{20dfb86d-ff53-4288-cb9d-d98c8f691b77}">
          <p14:sldIdLst>
            <p14:sldId id="265"/>
            <p14:sldId id="266"/>
          </p14:sldIdLst>
        </p14:section>
        <p14:section name="정리" id="{32937ae4-9577-f9f7-3980-4e0a1ff462a5}">
          <p14:sldIdLst>
            <p14:sldId id="267"/>
          </p14:sldIdLst>
        </p14:section>
        <p14:section name="보충" id="{0dd13990-7af1-27f3-7a82-f88636570b3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상호작용과문화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명절과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명절과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명절과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명절과 문화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사람들은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명절을 보낼까요?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Seollal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설날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Thanksgiving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추수감사절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나라의 명절을 읽고 같은 점과 다른 점을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What do you do on ~?에 우리 명절을 소개해요.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영어로 말하고, ③은 읽고 뜻을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물건값을 영어로 물어요.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3,000원을 영어로 말해요.</a:t>
            </a:r>
            <a:endParaRPr lang="ko-KR" sz="28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family　　eat　　many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우리나라의 명절</a:t>
            </a:r>
            <a:endParaRPr lang="ko-KR" sz="4000" dirty="0"/>
          </a:p>
        </p:txBody>
      </p:sp>
      <p:sp>
        <p:nvSpPr>
          <p:cNvPr id="3" name="S03-text1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January 1월　·　February 2월　·　September 9월　·　October 10월</a:t>
            </a:r>
            <a:endParaRPr lang="ko-KR" sz="2800" dirty="0"/>
          </a:p>
        </p:txBody>
      </p:sp>
      <p:sp>
        <p:nvSpPr>
          <p:cNvPr id="4" name="S03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설날과 추석은 음력으로 정해서 날짜가 해마다 달라요.</a:t>
            </a:r>
            <a:endParaRPr lang="ko-KR" sz="2800" dirty="0"/>
          </a:p>
        </p:txBody>
      </p:sp>
      <p:sp>
        <p:nvSpPr>
          <p:cNvPr id="6" name="S03-passagebox15"/>
          <p:cNvSpPr/>
          <p:nvPr/>
        </p:nvSpPr>
        <p:spPr>
          <a:xfrm>
            <a:off x="548640" y="2376424"/>
            <a:ext cx="11091672" cy="2744216"/>
          </a:xfrm>
          <a:prstGeom prst="roundRect">
            <a:avLst>
              <a:gd name="adj" fmla="val 3332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3-passage16"/>
          <p:cNvSpPr txBox="1"/>
          <p:nvPr/>
        </p:nvSpPr>
        <p:spPr>
          <a:xfrm>
            <a:off x="822960" y="2559304"/>
            <a:ext cx="10543032" cy="2378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Seollal and Chuseok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Seollal is in January or February. Many families eat tteokguk.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Chuseok is in September or October. Many families eat songpyeon.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나라의 명절</a:t>
            </a:r>
            <a:endParaRPr lang="ko-KR" sz="4000" dirty="0"/>
          </a:p>
        </p:txBody>
      </p:sp>
      <p:sp>
        <p:nvSpPr>
          <p:cNvPr id="3" name="S04-text17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November 11월　·　turkey 칠면조　·　country 나라　·　celebrate 축하하다</a:t>
            </a:r>
            <a:endParaRPr lang="ko-KR" sz="2800" dirty="0"/>
          </a:p>
        </p:txBody>
      </p:sp>
      <p:sp>
        <p:nvSpPr>
          <p:cNvPr id="4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중국, 베트남 등에서도 많은 사람이 음력 새해(설)를 보내요.</a:t>
            </a:r>
            <a:endParaRPr lang="ko-KR" sz="2800" dirty="0"/>
          </a:p>
        </p:txBody>
      </p:sp>
      <p:sp>
        <p:nvSpPr>
          <p:cNvPr id="6" name="S04-passagebox20"/>
          <p:cNvSpPr/>
          <p:nvPr/>
        </p:nvSpPr>
        <p:spPr>
          <a:xfrm>
            <a:off x="548640" y="2376424"/>
            <a:ext cx="11091672" cy="2744216"/>
          </a:xfrm>
          <a:prstGeom prst="roundRect">
            <a:avLst>
              <a:gd name="adj" fmla="val 3332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4-passage21"/>
          <p:cNvSpPr txBox="1"/>
          <p:nvPr/>
        </p:nvSpPr>
        <p:spPr>
          <a:xfrm>
            <a:off x="822960" y="2559304"/>
            <a:ext cx="10543032" cy="2378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Thanksgiving and New Year's 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 the U.S., Thanksgiving is in November. Many families eat turkey.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Many countries celebrate New Year's Day on January 1.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 you do on Chuseok?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5-card2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do you do on ~?은 ‘~에 너희는 무엇을 하니?’라는 뜻이에요.</a:t>
            </a:r>
            <a:endParaRPr lang="ko-KR" sz="2800" dirty="0"/>
          </a:p>
        </p:txBody>
      </p:sp>
      <p:sp>
        <p:nvSpPr>
          <p:cNvPr id="6" name="S05-passagebox25"/>
          <p:cNvSpPr/>
          <p:nvPr/>
        </p:nvSpPr>
        <p:spPr>
          <a:xfrm>
            <a:off x="548640" y="2011680"/>
            <a:ext cx="11091672" cy="2780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6"/>
          <p:cNvSpPr txBox="1"/>
          <p:nvPr/>
        </p:nvSpPr>
        <p:spPr>
          <a:xfrm>
            <a:off x="822960" y="2194560"/>
            <a:ext cx="10543032" cy="241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When is Chuseok?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It's in September or October.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do you do on Chuseok?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We eat songpyeon.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 표 완성하기</a:t>
            </a:r>
            <a:endParaRPr lang="ko-KR" sz="40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물음표(?)에 들어갈 말을 찾아 말해요.</a:t>
            </a:r>
            <a:endParaRPr lang="ko-KR" sz="2800" dirty="0"/>
          </a:p>
        </p:txBody>
      </p:sp>
      <p:graphicFrame>
        <p:nvGraphicFramePr>
          <p:cNvPr id="7" name="S06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910840"/>
          <a:ext cx="10058400" cy="914400"/>
        </p:xfrm>
        <a:graphic>
          <a:graphicData uri="http://schemas.openxmlformats.org/drawingml/2006/table">
            <a:tbl>
              <a:tblPr/>
              <a:tblGrid>
                <a:gridCol w="3419856"/>
                <a:gridCol w="3822192"/>
                <a:gridCol w="28163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Holiday (명절)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When? (언제)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Food (음식)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Seollal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January or February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Chuseok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songpyeon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Thanksgiving (U.S.)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turkey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New Year's Day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January 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추석과 추수감사절 비교</a:t>
            </a:r>
            <a:endParaRPr lang="ko-KR" sz="4000" dirty="0"/>
          </a:p>
        </p:txBody>
      </p:sp>
      <p:sp>
        <p:nvSpPr>
          <p:cNvPr id="3" name="S07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기준으로 보면 같은 점과 다른 점이 잘 보여요.</a:t>
            </a:r>
            <a:endParaRPr lang="ko-KR" sz="2800" dirty="0"/>
          </a:p>
        </p:txBody>
      </p:sp>
      <p:graphicFrame>
        <p:nvGraphicFramePr>
          <p:cNvPr id="8" name="S07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60092"/>
          <a:ext cx="10058400" cy="914400"/>
        </p:xfrm>
        <a:graphic>
          <a:graphicData uri="http://schemas.openxmlformats.org/drawingml/2006/table">
            <a:tbl>
              <a:tblPr/>
              <a:tblGrid>
                <a:gridCol w="2414016"/>
                <a:gridCol w="3822192"/>
                <a:gridCol w="382219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Chuseok (추석)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Thanksgiving (미국)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9월이나 10월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모이나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가족이 모여요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가족이 모여요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먹나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칠면조 요리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4000" dirty="0"/>
          </a:p>
        </p:txBody>
      </p:sp>
      <p:sp>
        <p:nvSpPr>
          <p:cNvPr id="3" name="S08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명절의 같은 점과 다른 점을 하나씩 말해요.</a:t>
            </a:r>
            <a:endParaRPr lang="ko-KR" sz="2800" dirty="0"/>
          </a:p>
        </p:txBody>
      </p:sp>
      <p:sp>
        <p:nvSpPr>
          <p:cNvPr id="4" name="S08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언제? · 누가 모이나? · 무엇을 먹나?</a:t>
            </a:r>
            <a:endParaRPr lang="ko-KR" sz="2800" dirty="0"/>
          </a:p>
        </p:txBody>
      </p:sp>
      <p:sp>
        <p:nvSpPr>
          <p:cNvPr id="6" name="S08-chip3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3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Seollal　·　New Year's Day</a:t>
            </a:r>
            <a:endParaRPr lang="ko-KR" sz="2800" dirty="0"/>
          </a:p>
        </p:txBody>
      </p:sp>
      <p:sp>
        <p:nvSpPr>
          <p:cNvPr id="8" name="S08-chip3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3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Seollal　·　Chuseok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좋을까요?</a:t>
            </a:r>
            <a:endParaRPr lang="ko-KR" sz="4000" dirty="0"/>
          </a:p>
        </p:txBody>
      </p:sp>
      <p:sp>
        <p:nvSpPr>
          <p:cNvPr id="3" name="S09-card3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‘미국 사람은 모두 칠면조를 먹어. 송편을 안 먹다니 이상해.’라고 했어요.</a:t>
            </a:r>
            <a:endParaRPr lang="ko-KR" sz="2800" dirty="0"/>
          </a:p>
        </p:txBody>
      </p:sp>
      <p:sp>
        <p:nvSpPr>
          <p:cNvPr id="5" name="S09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말이 더 알맞을까요? 왜 그렇게 생각해요?</a:t>
            </a:r>
            <a:endParaRPr lang="ko-KR" sz="2800" dirty="0"/>
          </a:p>
        </p:txBody>
      </p:sp>
      <p:sp>
        <p:nvSpPr>
          <p:cNvPr id="7" name="S09-chip43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44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사람은 모두 칠면조를 먹어요. 송편을 안 먹다니 이상해요.</a:t>
            </a:r>
            <a:endParaRPr lang="ko-KR" sz="2800" dirty="0"/>
          </a:p>
        </p:txBody>
      </p:sp>
      <p:sp>
        <p:nvSpPr>
          <p:cNvPr id="9" name="S09-chip45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46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미국에서 많은 가족이 추수감사절에 칠면조 요리를 먹어요. 우리와 음식이 달라요.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①③은 영어로, ②④는 우리말로 답해요.</a:t>
            </a:r>
            <a:endParaRPr lang="ko-KR" sz="2800" dirty="0"/>
          </a:p>
        </p:txBody>
      </p:sp>
      <p:sp>
        <p:nvSpPr>
          <p:cNvPr id="4" name="S10-chip4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4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 is Thanksgiving in the U.S.?</a:t>
            </a:r>
            <a:endParaRPr lang="ko-KR" sz="2800" dirty="0"/>
          </a:p>
        </p:txBody>
      </p:sp>
      <p:sp>
        <p:nvSpPr>
          <p:cNvPr id="6" name="S10-chip5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5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추석과 추수감사절의 같은 점은?</a:t>
            </a:r>
            <a:endParaRPr lang="ko-KR" sz="2800" dirty="0"/>
          </a:p>
        </p:txBody>
      </p:sp>
      <p:sp>
        <p:nvSpPr>
          <p:cNvPr id="8" name="S10-chip5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5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do you do on Seollal?</a:t>
            </a:r>
            <a:endParaRPr lang="ko-KR" sz="2800" dirty="0"/>
          </a:p>
        </p:txBody>
      </p:sp>
      <p:sp>
        <p:nvSpPr>
          <p:cNvPr id="10" name="S10-chip5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5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‘모두’ 대신 쓰면 좋은 말은?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것은?</a:t>
            </a:r>
            <a:endParaRPr lang="ko-KR" sz="4000" dirty="0"/>
          </a:p>
        </p:txBody>
      </p:sp>
      <p:sp>
        <p:nvSpPr>
          <p:cNvPr id="3" name="S12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것일까요? 왜 그렇게 생각해요?</a:t>
            </a:r>
            <a:endParaRPr lang="ko-KR" sz="2800" dirty="0"/>
          </a:p>
        </p:txBody>
      </p:sp>
      <p:sp>
        <p:nvSpPr>
          <p:cNvPr id="5" name="S12-chip5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5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6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사람은 모두 추석에 송편을 만들어요.</a:t>
            </a:r>
            <a:endParaRPr lang="ko-KR" sz="2800" dirty="0"/>
          </a:p>
        </p:txBody>
      </p:sp>
      <p:sp>
        <p:nvSpPr>
          <p:cNvPr id="8" name="S12-chip6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6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6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추수감사절은 우리 명절과 달라서 이상해요.</a:t>
            </a:r>
            <a:endParaRPr lang="ko-KR" sz="2800" dirty="0"/>
          </a:p>
        </p:txBody>
      </p:sp>
      <p:sp>
        <p:nvSpPr>
          <p:cNvPr id="11" name="S12-chip6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6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6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 1일에 새해 첫날을 축하하는 나라가 많아요.</a:t>
            </a:r>
            <a:endParaRPr lang="ko-KR" sz="2800" dirty="0"/>
          </a:p>
        </p:txBody>
      </p:sp>
      <p:sp>
        <p:nvSpPr>
          <p:cNvPr id="14" name="S12-chip6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6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6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 1일은 해마다 설날이에요.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 is ~? → It's in ~.　What do you do on ~? → We ~.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명절은 나라와 집마다 달라요. ‘많은 가족이’처럼 말해요.</a:t>
            </a:r>
            <a:endParaRPr lang="ko-KR" sz="2800" dirty="0"/>
          </a:p>
        </p:txBody>
      </p:sp>
      <p:sp>
        <p:nvSpPr>
          <p:cNvPr id="5" name="S13-chip7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‘많은 가족이’처럼 말하기</a:t>
            </a:r>
            <a:endParaRPr lang="ko-KR" sz="2200" dirty="0"/>
          </a:p>
        </p:txBody>
      </p:sp>
      <p:sp>
        <p:nvSpPr>
          <p:cNvPr id="6" name="S13-chip7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‘모두’, ‘이상해’라고 말하기</a:t>
            </a:r>
            <a:endParaRPr lang="ko-KR" sz="2200" dirty="0"/>
          </a:p>
        </p:txBody>
      </p:sp>
      <p:sp>
        <p:nvSpPr>
          <p:cNvPr id="7" name="S13-text7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7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When is Chuseok?</a:t>
            </a:r>
            <a:endParaRPr lang="ko-KR" sz="2200" dirty="0"/>
          </a:p>
        </p:txBody>
      </p:sp>
      <p:sp>
        <p:nvSpPr>
          <p:cNvPr id="9" name="S13-text7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추석과 추수감사절의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 하나</a:t>
            </a:r>
            <a:endParaRPr lang="ko-KR" sz="2200" dirty="0"/>
          </a:p>
        </p:txBody>
      </p:sp>
      <p:sp>
        <p:nvSpPr>
          <p:cNvPr id="10" name="S13-text7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What do you do</a:t>
            </a:r>
            <a:endParaRPr lang="ko-KR" sz="2200" dirty="0"/>
          </a:p>
          <a:p>
            <a:pPr eaLnBrk="0" algn="l" indent="0" marL="0">
              <a:buNone/>
            </a:pPr>
            <a:r>
              <a:rPr lang="en-US" altLang="ko-KR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Seollal?</a:t>
            </a:r>
            <a:endParaRPr lang="ko-KR" sz="2200" dirty="0"/>
          </a:p>
        </p:txBody>
      </p:sp>
      <p:sp>
        <p:nvSpPr>
          <p:cNvPr id="11" name="S13-text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핵심 정보 파악(6학년)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낱말과 묻는 말</a:t>
            </a:r>
            <a:endParaRPr lang="ko-KR" sz="4000" dirty="0"/>
          </a:p>
        </p:txBody>
      </p:sp>
      <p:sp>
        <p:nvSpPr>
          <p:cNvPr id="3" name="S14-card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 much is it? → It's three thousand won.</a:t>
            </a:r>
            <a:endParaRPr lang="ko-KR" sz="2800" dirty="0"/>
          </a:p>
        </p:txBody>
      </p:sp>
      <p:sp>
        <p:nvSpPr>
          <p:cNvPr id="5" name="S14-word81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family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ko-KR" sz="3200" dirty="0"/>
          </a:p>
        </p:txBody>
      </p:sp>
      <p:sp>
        <p:nvSpPr>
          <p:cNvPr id="6" name="S14-word82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</a:t>
            </a:r>
            <a:endParaRPr lang="ko-KR" sz="3200" dirty="0"/>
          </a:p>
        </p:txBody>
      </p:sp>
      <p:sp>
        <p:nvSpPr>
          <p:cNvPr id="7" name="S14-word83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</a:t>
            </a:r>
            <a:endParaRPr lang="ko-KR" sz="3200" dirty="0"/>
          </a:p>
        </p:txBody>
      </p:sp>
      <p:sp>
        <p:nvSpPr>
          <p:cNvPr id="8" name="S14-word84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 eat rice.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밥을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명절과 문화</dc:title>
  <dc:subject>KR22-G05-ENG-HOLIDAYS-L01</dc:subject>
  <dc:creator>education-ppt</dc:creator>
  <cp:lastModifiedBy>education-ppt</cp:lastModifiedBy>
  <cp:revision>1</cp:revision>
  <dcterms:created xsi:type="dcterms:W3CDTF">2026-10-26T09:21:37Z</dcterms:created>
  <dcterms:modified xsi:type="dcterms:W3CDTF">2026-10-26T09:21:37Z</dcterms:modified>
</cp:coreProperties>
</file>