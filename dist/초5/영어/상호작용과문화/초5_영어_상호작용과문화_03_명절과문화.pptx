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f52433b4-d478-8121-1c9c-1ae7e6d5789b}">
          <p14:sldIdLst>
            <p14:sldId id="256"/>
            <p14:sldId id="257"/>
          </p14:sldIdLst>
        </p14:section>
        <p14:section name="개념" id="{ca5fcb14-208d-a164-c53b-ccaced78ede1}">
          <p14:sldIdLst>
            <p14:sldId id="258"/>
            <p14:sldId id="259"/>
            <p14:sldId id="260"/>
            <p14:sldId id="262"/>
          </p14:sldIdLst>
        </p14:section>
        <p14:section name="연습" id="{717b66b9-c9db-141b-63a7-bb0b4502d53c}">
          <p14:sldIdLst>
            <p14:sldId id="261"/>
            <p14:sldId id="263"/>
            <p14:sldId id="264"/>
          </p14:sldIdLst>
        </p14:section>
        <p14:section name="개념" id="{e0b16bf4-2c84-1771-18af-4fd2684ffec2}">
          <p14:sldIdLst/>
        </p14:section>
        <p14:section name="연습" id="{2404a17f-ad27-1cf0-68fb-0481631305bf}">
          <p14:sldIdLst/>
        </p14:section>
        <p14:section name="확인" id="{b8008460-5520-e9e5-943a-7fec9a8a599a}">
          <p14:sldIdLst>
            <p14:sldId id="265"/>
            <p14:sldId id="266"/>
            <p14:sldId id="267"/>
          </p14:sldIdLst>
        </p14:section>
        <p14:section name="정리" id="{c0f89396-b2ae-063c-9a4a-c68f2fe41fb2}">
          <p14:sldIdLst>
            <p14:sldId id="268"/>
          </p14:sldIdLst>
        </p14:section>
        <p14:section name="보충" id="{e19a6364-d414-617f-5679-75a4e87e751a}">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우리 명절을 떠올리고, 다른 나라에도 명절이 있다는 것에 관심을 갖게 합니다.
시간: 약 2분
이렇게 말해 보세요
- “설날이나 추석에 우리 가족은 무엇을 해?”
- “다른 나라에도 명절이 있을까? 오늘은 여러 나라의 명절을 영어로 읽고, 같은 점과 다른 점을 찾아볼 거야.”
예상 답
- “떡국을 먹어요.” “할머니 댁에 가요.” “윷놀이를 해요.”
주의
- 수업 전에 교과서 디지털 자료나 사전 앱의 발음 듣기로 오늘 낱말과 문장(Seollal, Chuseok, Thanksgiving, New Year's Day, January, February, September, October, November, When is Chuseok? What do you do on Chuseok? We eat songpyeon.)을 미리 들어 두세요. 부모님 발음이 완벽하지 않아도 괜찮습니다.
- 소리 자료 없이 진행하면 바른 소리를 확인하기 어렵습니다. 헷갈리는 표현은 기록해 두었다가 소리 자료로 나중에 확인합니다.
- 명절을 보내는 모습은 집집마다 다릅니다. 명절에 가족이 모이지 않거나 따로 챙기지 않는 집도 있으니, 아이가 실제로 하는 일을 그대로 말하게 하고 비교하거나 평가하지 않습니다.
- 이 차시에서는 ‘많은 가족이’, ‘어떤 사람들은’처럼 말합니다. 한 나라 사람이 모두 같은 방법으로 명절을 보내는 것은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확인(값 묻고 답하기, 낱말 읽기)]
목적: 앞 차시(물건 사기)의 묻고 답하는 말을 기억하는지, 오늘 글에 나오는 쉬운 낱말을 읽고 뜻을 아는지 확인합니다.
시간: 약 3분
이렇게 말해 보세요
- “①, 물건값을 영어로 물어봐 줄래?”
- “②, 3,000원은 영어로 어떻게 말하지?”
- “③의 낱말을 읽고 뜻을 말해 줘.”
정답
- ① How much is it?
- ② It's three thousand won.
- ③ family 가족, eat 먹다, many 많은
막히면
- 부모가 How much를 먼저 말해 주고 이어 말하게 합니다.
- ①②를 스스로 하지 못하거나 ③의 낱말을 두 개 이상 읽지 못하면 S14(보충)를 먼저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우리나라의 명절(설날, 추석)]
목적: 설날과 추석이 언제인지, 많은 가족이 무엇을 먹는지 영어 문장으로 읽습니다.
시간: 약 4분
이렇게 말해 보세요
- “첫째 문단을 같이 읽어 보자. Seollal은 설날이야. Seollal is in January or February. 위에 있는 낱말을 보면 January는 1월, February는 2월이야.”
- “Many families eat tteokguk. many는 ‘많은’, families는 ‘가족들’. 많은 가족이 떡국을 먹는대.”
- “둘째 문단은 네가 읽어 볼래? Chuseok은 추석이야.”
- “설날은 왜 ‘1월이나 2월’이라고 했을까?”
예상 답
- “설날은 날짜가 해마다 달라서요.” “추석은 9월이나 10월이에요. 송편을 먹어요.”
막히면
- 영어 문장은 부모가 먼저 읽고 한 문장씩 따라 읽게 합니다. 뜻은 부모가 우리말로 풀어 줍니다(설날은 1월이나 2월에 있어요. 많은 가족이 떡국을 먹어요.).
- 달력을 보며 올해 설날과 추석이 몇 월이었는지 찾아봅니다.
주의
- 설날과 추석은 음력으로 날을 정하므로 양력 날짜가 해마다 바뀝니다. 설날은 양력 1월 1일(새해 첫날)과 다른 날입니다(M3).
- 달 이름(January)과 명절 이름(Seollal, Chuseok)은 문장 가운데에서도 첫 글자를 대문자로 씁니다(M3).
- tteokguk, songpyeon은 우리말을 로마자로 적은 것이라 영어 사전에 없을 수 있습니다. 우리말 소리대로 읽으면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다른 나라의 명절(추수감사절, 새해 첫날)]
목적: 미국의 추수감사절과 여러 나라의 새해 첫날을 영어 문장으로 읽고, 음력 새해를 보내는 나라도 있다는 것을 압니다.
시간: 약 4분
이렇게 말해 보세요
- “Thanksgiving은 추수감사절이야. In the U.S.는 ‘미국에서는’이라는 뜻이야. 미국에서는 11월(November)에 있대.”
- “Many families eat turkey. 많은 가족이 칠면조 요리를 먹는대. 모든 사람이 아니라 ‘많은 가족’이라고 했지?”
- “New Year's Day는 1월 1일, 새해 첫날이야. 많은 나라에서 이날을 축하해(celebrate). 우리나라도 그렇지?”
- “아래 글을 보자. 중국과 베트남에서도 많은 사람이 음력 새해를 보내. 우리 설날과 비슷하지?”
예상 답
- “추수감사절은 11월이에요.” “우리도 1월 1일에 새해를 맞아요.”
막히면
- 지도나 지구본이 있으면 미국, 중국, 베트남을 함께 찾아봅니다.
- 문장이 길면 In the U.S. / Thanksgiving / is in November처럼 끊어 읽습니다.
주의
- 캐나다처럼 다른 달에 추수감사절을 보내는 나라도 있어서 ‘미국에서는’이라고 밝혀 말합니다.
- 명절에 하는 일은 집집마다 다릅니다. ‘미국 사람은 모두 칠면조를 먹는다’처럼 말하지 않게 합니다(M2).
- 여기까지가 새로 읽는 부분입니다. 아이가 지치면 S05까지 하고 나누어도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When is ~? What do you do on ~?]
목적: 명절이 언제인지 묻고 답하고, 명절에 무엇을 하는지 What do you do on ~?에 We ~.로 대답하는 대화를 익힙니다.
시간: 약 3분
이렇게 말해 보세요
- “A가 When is Chuseok?이라고 물었어. 추석은 언제야?라는 뜻이야. B는 It's in September or October.라고 대답했어.”
- “What do you do on Chuseok?은 ‘추석에 너희는 무엇을 해?’라는 뜻이야. We eat songpyeon. 우리는 송편을 먹어.”
- “이번에는 네가 B야. 엄마(아빠)가 물어볼게. What do you do on Chuseok? 우리 집에서 하는 일을 말해 줘.”
예상 답
- “We eat songpyeon.” “We play yunnori.” “We visit my grandma.” (우리 집이 실제로 하는 일)
막히면
- What do you do를 한 덩어리로 여러 번 말한 뒤 on Chuseok을 붙이게 합니다.
- 대답이 어려우면 우리말로 먼저 말하게 하고, 부모가 We eat ~. We play ~.처럼 영어 문장의 앞부분을 알려 줍니다.
주의
- 날에는 on을 씁니다(on Chuseok, on Seollal). 달에는 in을 씁니다(in September).
- 명절을 따로 보내지 않는 집이라면 We rest at home. We watch movies.처럼 실제로 하는 일을 말하면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명절 정보를 표로 정리하기]
목적: S03, S04에서 읽은 내용을 떠올려 표의 빈칸(?)을 말로 채웁니다. 읽은 글에서 때(When)와 음식(Food)을 찾는 연습입니다.
시간: 약 3분
이렇게 말해 보세요
- “표의 물음표에 들어갈 말을 찾아볼까? ①, 설날에 많은 가족이 먹는 음식은?”
- “②, 추석은 언제야? 영어로 말해 볼래?”
- “③, 미국의 추수감사절은 언제야?”
- “모르면 S03, S04의 글을 다시 봐도 돼. 어디에서 찾았는지 짚어 줘.”
정답
- ① tteokguk(떡국)
- ② September or October(9월이나 10월)
- ③ November(11월)
- 기준: 우리말로 답해도 맞습니다. 영어로 말하면 더 좋습니다.
막히면
- 앞 장으로 돌아가 해당 문장을 손가락으로 짚으며 다시 읽습니다.
주의
- New Year's Day의 음식 칸은 비어 있는 것(—)이 맞습니다. 오늘 읽은 글에 음식이 나오지 않았기 때문입니다. 나라와 가족마다 다르니 지어내지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기준을 정해 두 명절 비교하기]
목적: ‘언제, 누가 모이나, 무엇을 먹나’라는 기준으로 두 명절을 비교해 같은 점과 다른 점을 찾는 방법을 익힙니다.
시간: 약 3분
이렇게 말해 보세요
- “추석과 추수감사절을 기준을 정해 비교해 보자. 한 줄씩 읽어 볼까?”
- “두 명절에서 같은 줄은 어디야? 다른 줄은?”
- “그러면 같은 점과 다른 점을 한 문장씩 말해 볼래?”
예상 답
- 같은 점: 둘 다 많은 가족이 모여요. 둘 다 특별한 음식을 먹어요.
- 다른 점: 추석은 9월이나 10월, 추수감사절은 11월이에요. 추석에는 송편, 추수감사절에는 칠면조 요리를 많이 먹어요.
막히면
- 표에서 두 칸이 같은 줄을 손가락으로 짚게 하고 “여기는 같아, 달라?”라고 묻습니다.
주의
- 비교할 때는 기준을 먼저 정합니다. 오늘은 ‘언제’, ‘누가 모이나’, ‘무엇을 먹나’ 세 가지 기준을 씁니다.
- 두 명절 모두 가을걷이(수확)와 감사하는 마음에 뿌리를 둔 명절로 소개되곤 합니다. 아이가 궁금해하면 덧붙여 이야기해도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두 명절의 같은 점과 다른 점 말하기]
목적: 기준을 써서 두 명절의 같은 점과 다른 점을 말합니다.
시간: 약 4분
이렇게 말해 보세요
- “①, 설날과 새해 첫날은 무엇이 같아? 무엇이 달라?”
- “②, 설날과 추석은?”
- “어떤 기준으로 비교했어?”
예상 답
- ① 같은 점: 둘 다 새해를 맞는 날이에요. 다른 점: 새해 첫날은 해마다 1월 1일이고, 설날은 음력으로 정해서 1월이나 2월이에요.
- ② 같은 점: 둘 다 우리나라 명절이고 많은 가족이 모여요. 음력으로 날을 정해요. 다른 점: 설날은 1월이나 2월, 추석은 9월이나 10월이에요. 설날에는 떡국, 추석에는 송편을 많이 먹어요.
- 기준: 알맞은 기준(때, 음식, 누가 모이나 등)으로 같은 점과 다른 점을 하나씩 말하면 맞습니다.
막히면
- “언제야?”, “무엇을 먹어?”처럼 기준 하나를 골라 주고 두 명절에 차례로 물어봅니다.
주의
- ①에서 설날과 1월 1일을 같은 날로 말하면 S03의 아래 문장(음력)을 다시 봅니다(M3).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오개념 비교(모두, 이상해)]
목적: 한 나라 사람이 모두 똑같이 한다고 말하지 않고, 다른 명절을 이상하다고 하지 않는 말하기를 익힙니다(M1, M2).
시간: 약 3분
이렇게 말해 보세요
- “친구가 이렇게 말했어. 가와 나 가운데 어느 말이 더 알맞을까?”
- “미국 사람이 모두 칠면조를 먹을까? 우리나라 사람은 모두 추석에 송편을 먹을까?”
- “다른 나라 명절 음식이 우리와 다르면 이상한 걸까?”
정답
- 나가 더 알맞습니다. 명절에 하는 일은 집집마다 달라서 ‘모두’라고 말할 수 없습니다. ‘많은 가족이’처럼 말합니다.
- 음식이나 풍습이 우리와 다를 뿐 이상한 것이 아닙니다. 모두 가족과 함께 명절을 즐기는 방법입니다.
막히면
- 우리 집과 친척 집, 친구 집의 명절 모습이 똑같은지 떠올려 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혼자 읽고 말하기]
목적: 도움 없이 명절의 때를 영어로 말하고, 두 명절을 비교하고, 우리 명절을 소개하며, 고정관념 없이 말하는지 확인합니다.
시간: 약 4분
이렇게 말해 보세요
- “이번에는 혼자 해 볼래? ①, When is Thanksgiving in the U.S.? 미국의 추수감사절은 언제야? 영어로 말해 줘.”
- “②, 추석과 추수감사절의 같은 점을 하나 말해 줘.”
- “③, What do you do on Seollal?” “④, 명절을 소개할 때 ‘모두’ 대신 어떻게 말하면 좋을까?”
정답
- ① It's in November.
- ② 둘 다 많은 가족이 모여요. / 둘 다 특별한 음식을 먹어요.
- ③ We eat tteokguk. 등 우리 집이 실제로 하는 일을 We ~.로 말하면 맞습니다.
- ④ 많은 가족이(Many families), 어떤 사람들은
- 기준: 네 가지 가운데 세 가지 이상을 스스로 하면 통과입니다. ③은 We와 동사(eat, play 등)를 넣어 말하면 맞습니다.
막히면
- 바로 알려 주지 말고 “앞의 글에서 어디를 보면 될까?”, “표의 기준을 떠올려 볼까?”라고만 말합니다.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대답 예와 피드백]
목적: 아이의 대답을 예와 비교하고 흔한 실수를 확인합니다.
시간: 약 2분
이렇게 말해 보세요
- “네가 말한 것과 왼쪽 예를 비교해 보자.”
- “오른쪽처럼 말하면 왜 알맞지 않을까?”
예상 답
- “설날은 음력이라 1월 1일이 아니에요.” “모두가 아니라 많은 가족이에요.”
주의
- 이 장은 학생용 파일에서 빠집니다.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마무리 확인]
목적: 처음 보는 형식에서 명절에 관한 사실과 말하는 태도를 바르게 판단하는지 확인합니다.
시간: 약 2분
이렇게 말해 보세요
- “가, 나, 다, 라를 읽어 볼까? 바르게 말한 것은 어느 것일까? 왜 그렇게 생각해?”
- “나머지는 어떻게 고쳐 말하면 좋을까?”
정답
- 다. 1월 1일에 새해 첫날을 축하하는 나라가 많습니다.
- 가는 ‘모두’가 아니라 ‘많은 가족이’, 나는 다를 뿐 이상한 것이 아니고, 라는 설날이 음력으로 정해져 1월이나 2월에 있고 해마다 날짜가 다르므로 1월 1일과 같은 날이 아닙니다.
막히면
- S09(모두, 이상해)와 S03(음력)을 다시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다음 학습과 복습]
목적: 핵심을 정리하고 다음 수업 첫 5분에 풀 복습을 알려 줍니다.
시간: 약 2분
이렇게 말해 보세요
- “오늘 알게 된 다른 나라 명절은 무엇이었어?”
- “다른 나라의 명절을 이야기할 때 어떻게 말하면 좋을까?”
예상 답
- “추수감사절이요. 새해 첫날이요.” “많은 가족이, 어떤 사람들은처럼 말해요.”
정답
- ① It's in September or October.
- ② 둘 다 많은 가족이 모여요(특별한 음식을 먹어요).
- ③ We eat tteokguk. 등 우리 집이 하는 일
주의
- 다음 차시는 계획 순서에 따라 6학년 ‘핵심 정보 파악’입니다. 5학년 영어의 마지막 차시이니 그동안 배운 길 안내, 물건 사기 표현도 한 번 더 복습해 두면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선수 학습 보충(값 묻기, 낱말 읽기)]
목적: S02에서 값 묻고 답하기나 낱말 읽기가 흔들리면, 명절 글을 읽기 전에 먼저 다집니다.
시간: 약 5분
이렇게 말해 보세요
- “낱말을 소리를 듣고 따라 읽어 보자.” (교과서 디지털 자료나 사전 앱의 소리를 함께 듣습니다.)
- “family는 가족, many는 많은. many families는?”
- “아래 대화를 엄마(아빠)와 나누어 말해 보자. How much is it?”
정답
- family 가족, many 많은, eat 먹다, We eat rice. 우리는 밥을 먹어요. / many families 많은 가족들 / It's three thousand won.
막히면
- 부모가 먼저 읽고 아이가 따라 읽는 것부터 다시 합니다.
주의
- 보충 뒤에도 값을 묻고 답하지 못하면 앞 차시 ‘물건 사기’(KR22-G05-ENG-SHOPPING-L01)를 먼저 다시 하고 이 차시를 시작합니다. 짧은 문장을 읽지 못하면 4학년 ‘짧은 문장 읽고 쓰기’(KR22-G04-ENG-ILIKE-L01)부터 다지는 것이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28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28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초5 영어 · 상호작용과문화 · 3차시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초5 영어 · 명절과 문화</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초5 영어 · 명절과 문화</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초5 영어 · 명절과 문화</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명절과 문화</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다른 나라 사람들은</a:t>
            </a:r>
            <a:endParaRPr lang="ko-KR" sz="2800" dirty="0"/>
          </a:p>
          <a:p>
            <a:pPr eaLnBrk="0" indent="0" marL="0">
              <a:buNone/>
            </a:pPr>
            <a:r>
              <a:rPr lang="ko-KR" altLang="en-US" sz="2800" dirty="0">
                <a:solidFill>
                  <a:srgbClr val="C9DCD8"/>
                </a:solidFill>
                <a:latin typeface="맑은 고딕" pitchFamily="34" charset="0"/>
                <a:ea typeface="맑은 고딕" pitchFamily="34" charset="-122"/>
                <a:cs typeface="맑은 고딕" pitchFamily="34" charset="-120"/>
              </a:rPr>
              <a:t>어떤 명절을 보낼까요?</a:t>
            </a:r>
            <a:endParaRPr lang="ko-KR" sz="2800" dirty="0"/>
          </a:p>
        </p:txBody>
      </p:sp>
      <p:sp>
        <p:nvSpPr>
          <p:cNvPr id="4" name="S01-word1"/>
          <p:cNvSpPr txBox="1"/>
          <p:nvPr/>
        </p:nvSpPr>
        <p:spPr>
          <a:xfrm>
            <a:off x="7680960" y="6400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Seollal</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설날</a:t>
            </a:r>
            <a:endParaRPr lang="ko-KR" sz="3200" dirty="0"/>
          </a:p>
        </p:txBody>
      </p:sp>
      <p:sp>
        <p:nvSpPr>
          <p:cNvPr id="5" name="S01-word2"/>
          <p:cNvSpPr txBox="1"/>
          <p:nvPr/>
        </p:nvSpPr>
        <p:spPr>
          <a:xfrm>
            <a:off x="7680960" y="2240280"/>
            <a:ext cx="3931920" cy="1325880"/>
          </a:xfrm>
          <a:prstGeom prst="roundRect">
            <a:avLst>
              <a:gd name="adj" fmla="val 9655"/>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Thanksgiving</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추수감사절</a:t>
            </a:r>
            <a:endParaRPr lang="ko-KR" sz="3200" dirty="0"/>
          </a:p>
        </p:txBody>
      </p:sp>
      <p:sp>
        <p:nvSpPr>
          <p:cNvPr id="6" name="S01-card3"/>
          <p:cNvSpPr/>
          <p:nvPr/>
        </p:nvSpPr>
        <p:spPr>
          <a:xfrm>
            <a:off x="731520" y="4529328"/>
            <a:ext cx="10725912" cy="1597152"/>
          </a:xfrm>
          <a:prstGeom prst="roundRect">
            <a:avLst>
              <a:gd name="adj" fmla="val 6870"/>
            </a:avLst>
          </a:prstGeom>
          <a:solidFill>
            <a:srgbClr val="32606F"/>
          </a:solidFill>
          <a:ln w="12700">
            <a:solidFill>
              <a:srgbClr val="32606F"/>
            </a:solidFill>
            <a:prstDash val="solid"/>
          </a:ln>
        </p:spPr>
      </p:sp>
      <p:sp>
        <p:nvSpPr>
          <p:cNvPr id="7" name="S01-cardtext4"/>
          <p:cNvSpPr txBox="1"/>
          <p:nvPr/>
        </p:nvSpPr>
        <p:spPr>
          <a:xfrm>
            <a:off x="1005840" y="4666488"/>
            <a:ext cx="10177272" cy="1322832"/>
          </a:xfrm>
          <a:prstGeom prst="rect">
            <a:avLst/>
          </a:prstGeom>
          <a:noFill/>
          <a:ln/>
        </p:spPr>
        <p:txBody>
          <a:bodyPr wrap="square" lIns="0" tIns="0" rIns="0" bIns="0" rtlCol="0" anchor="ctr"/>
          <a:lstStyle/>
          <a:p>
            <a:pPr eaLnBrk="0" indent="0" marL="0">
              <a:spcAft>
                <a:spcPts val="600"/>
              </a:spcAft>
              <a:buNone/>
            </a:pPr>
            <a:r>
              <a:rPr lang="ko-KR" altLang="en-US" sz="2800" b="1" dirty="0">
                <a:solidFill>
                  <a:srgbClr val="FFFFFF"/>
                </a:solidFill>
                <a:latin typeface="맑은 고딕" pitchFamily="34" charset="0"/>
                <a:ea typeface="맑은 고딕" pitchFamily="34" charset="-122"/>
                <a:cs typeface="맑은 고딕" pitchFamily="34" charset="-120"/>
              </a:rPr>
              <a:t>오늘 할 수 있게 될 것</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① 여러 나라의 명절을 읽고 같은 점과 다른 점을 말해요.</a:t>
            </a:r>
            <a:endParaRPr lang="ko-KR" sz="2800" dirty="0"/>
          </a:p>
          <a:p>
            <a:pPr eaLnBrk="0" indent="0" marL="0">
              <a:spcAft>
                <a:spcPts val="600"/>
              </a:spcAft>
              <a:buNone/>
            </a:pPr>
            <a:r>
              <a:rPr lang="ko-KR" altLang="en-US" sz="2200" dirty="0">
                <a:solidFill>
                  <a:srgbClr val="FFFFFF"/>
                </a:solidFill>
                <a:latin typeface="맑은 고딕" pitchFamily="34" charset="0"/>
                <a:ea typeface="맑은 고딕" pitchFamily="34" charset="-122"/>
                <a:cs typeface="맑은 고딕" pitchFamily="34" charset="-120"/>
              </a:rPr>
              <a:t>② What do you do on ~?에 우리 명절을 소개해요.</a:t>
            </a:r>
            <a:endParaRPr lang="ko-K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지난 시간 떠올리기</a:t>
            </a:r>
            <a:endParaRPr lang="ko-KR" sz="4000" dirty="0"/>
          </a:p>
        </p:txBody>
      </p:sp>
      <p:sp>
        <p:nvSpPr>
          <p:cNvPr id="3" name="S02-text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①②는 영어로 말하고, ③은 읽고 뜻을 말해요.</a:t>
            </a:r>
            <a:endParaRPr lang="ko-KR" sz="2800" dirty="0"/>
          </a:p>
        </p:txBody>
      </p:sp>
      <p:sp>
        <p:nvSpPr>
          <p:cNvPr id="4" name="S02-chip6"/>
          <p:cNvSpPr txBox="1"/>
          <p:nvPr/>
        </p:nvSpPr>
        <p:spPr>
          <a:xfrm>
            <a:off x="548640" y="2368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02-text7"/>
          <p:cNvSpPr txBox="1"/>
          <p:nvPr/>
        </p:nvSpPr>
        <p:spPr>
          <a:xfrm>
            <a:off x="1344168" y="201168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물건값을 영어로 물어요.</a:t>
            </a:r>
            <a:endParaRPr lang="ko-KR" sz="2800" dirty="0"/>
          </a:p>
        </p:txBody>
      </p:sp>
      <p:sp>
        <p:nvSpPr>
          <p:cNvPr id="6" name="S02-chip8"/>
          <p:cNvSpPr txBox="1"/>
          <p:nvPr/>
        </p:nvSpPr>
        <p:spPr>
          <a:xfrm>
            <a:off x="548640" y="38313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02-text9"/>
          <p:cNvSpPr txBox="1"/>
          <p:nvPr/>
        </p:nvSpPr>
        <p:spPr>
          <a:xfrm>
            <a:off x="1344168" y="3474720"/>
            <a:ext cx="10296144" cy="128016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3,000원을 영어로 말해요.</a:t>
            </a:r>
            <a:endParaRPr lang="ko-KR" sz="2800" dirty="0"/>
          </a:p>
        </p:txBody>
      </p:sp>
      <p:sp>
        <p:nvSpPr>
          <p:cNvPr id="8" name="S02-chip10"/>
          <p:cNvSpPr txBox="1"/>
          <p:nvPr/>
        </p:nvSpPr>
        <p:spPr>
          <a:xfrm>
            <a:off x="548640" y="52943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9" name="S02-text11"/>
          <p:cNvSpPr txBox="1"/>
          <p:nvPr/>
        </p:nvSpPr>
        <p:spPr>
          <a:xfrm>
            <a:off x="1344168" y="4937760"/>
            <a:ext cx="10296144" cy="128016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family　　eat　　many</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우리나라의 명절</a:t>
            </a:r>
            <a:endParaRPr lang="ko-KR" sz="4000" dirty="0"/>
          </a:p>
        </p:txBody>
      </p:sp>
      <p:sp>
        <p:nvSpPr>
          <p:cNvPr id="3" name="S03-text12"/>
          <p:cNvSpPr txBox="1"/>
          <p:nvPr/>
        </p:nvSpPr>
        <p:spPr>
          <a:xfrm>
            <a:off x="548640" y="1325880"/>
            <a:ext cx="11091672" cy="867664"/>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January 1월　·　February 2월　·　September 9월　·　October 10월</a:t>
            </a:r>
            <a:endParaRPr lang="ko-KR" sz="2800" dirty="0"/>
          </a:p>
        </p:txBody>
      </p:sp>
      <p:sp>
        <p:nvSpPr>
          <p:cNvPr id="4" name="S03-card13"/>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3-cardtext1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설날과 추석은 음력으로 정해서 날짜가 해마다 달라요.</a:t>
            </a:r>
            <a:endParaRPr lang="ko-KR" sz="2800" dirty="0"/>
          </a:p>
        </p:txBody>
      </p:sp>
      <p:sp>
        <p:nvSpPr>
          <p:cNvPr id="6" name="S03-passagebox15"/>
          <p:cNvSpPr/>
          <p:nvPr/>
        </p:nvSpPr>
        <p:spPr>
          <a:xfrm>
            <a:off x="548640" y="2376424"/>
            <a:ext cx="11091672" cy="2744216"/>
          </a:xfrm>
          <a:prstGeom prst="roundRect">
            <a:avLst>
              <a:gd name="adj" fmla="val 3332"/>
            </a:avLst>
          </a:prstGeom>
          <a:solidFill>
            <a:srgbClr val="FFFFFF"/>
          </a:solidFill>
          <a:ln w="19050">
            <a:solidFill>
              <a:srgbClr val="264653"/>
            </a:solidFill>
            <a:prstDash val="solid"/>
          </a:ln>
        </p:spPr>
      </p:sp>
      <p:sp>
        <p:nvSpPr>
          <p:cNvPr id="7" name="S03-passage16"/>
          <p:cNvSpPr txBox="1"/>
          <p:nvPr/>
        </p:nvSpPr>
        <p:spPr>
          <a:xfrm>
            <a:off x="822960" y="2559304"/>
            <a:ext cx="10543032" cy="2378456"/>
          </a:xfrm>
          <a:prstGeom prst="rect">
            <a:avLst/>
          </a:prstGeom>
          <a:noFill/>
          <a:ln/>
        </p:spPr>
        <p:txBody>
          <a:bodyPr wrap="square" lIns="0" tIns="0" rIns="0" bIns="0" rtlCol="0" anchor="t"/>
          <a:lstStyle/>
          <a:p>
            <a:pPr eaLnBrk="0" algn="l" indent="0" marL="0">
              <a:lnSpc>
                <a:spcPct val="105000"/>
              </a:lnSpc>
              <a:spcAft>
                <a:spcPts val="800"/>
              </a:spcAft>
              <a:buNone/>
            </a:pPr>
            <a:r>
              <a:rPr lang="en-US" altLang="ko-KR" sz="2800" b="1" dirty="0">
                <a:solidFill>
                  <a:srgbClr val="1F2937"/>
                </a:solidFill>
                <a:latin typeface="맑은 고딕" pitchFamily="34" charset="0"/>
                <a:ea typeface="맑은 고딕" pitchFamily="34" charset="-122"/>
                <a:cs typeface="맑은 고딕" pitchFamily="34" charset="-120"/>
              </a:rPr>
              <a:t>Seollal and Chuseok</a:t>
            </a:r>
            <a:endParaRPr lang="ko-KR" sz="2800" dirty="0"/>
          </a:p>
          <a:p>
            <a:pPr eaLnBrk="0" algn="l" indent="0" marL="0">
              <a:lnSpc>
                <a:spcPct val="105000"/>
              </a:lnSpc>
              <a:spcAft>
                <a:spcPts val="800"/>
              </a:spcAft>
              <a:buNone/>
            </a:pPr>
            <a:r>
              <a:rPr lang="en-US" altLang="ko-KR" sz="2600" dirty="0">
                <a:solidFill>
                  <a:srgbClr val="1F2937"/>
                </a:solidFill>
                <a:latin typeface="맑은 고딕" pitchFamily="34" charset="0"/>
                <a:ea typeface="맑은 고딕" pitchFamily="34" charset="-122"/>
                <a:cs typeface="맑은 고딕" pitchFamily="34" charset="-120"/>
              </a:rPr>
              <a:t>Seollal is in January or February. Many families eat tteokguk.</a:t>
            </a:r>
            <a:endParaRPr lang="ko-KR" sz="2800" dirty="0"/>
          </a:p>
          <a:p>
            <a:pPr eaLnBrk="0" algn="l" indent="0" marL="0">
              <a:lnSpc>
                <a:spcPct val="105000"/>
              </a:lnSpc>
              <a:spcAft>
                <a:spcPts val="800"/>
              </a:spcAft>
              <a:buNone/>
            </a:pPr>
            <a:r>
              <a:rPr lang="en-US" altLang="ko-KR" sz="2600" dirty="0">
                <a:solidFill>
                  <a:srgbClr val="1F2937"/>
                </a:solidFill>
                <a:latin typeface="맑은 고딕" pitchFamily="34" charset="0"/>
                <a:ea typeface="맑은 고딕" pitchFamily="34" charset="-122"/>
                <a:cs typeface="맑은 고딕" pitchFamily="34" charset="-120"/>
              </a:rPr>
              <a:t>Chuseok is in September or October. Many families eat songpyeon.</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다른 나라의 명절</a:t>
            </a:r>
            <a:endParaRPr lang="ko-KR" sz="4000" dirty="0"/>
          </a:p>
        </p:txBody>
      </p:sp>
      <p:sp>
        <p:nvSpPr>
          <p:cNvPr id="3" name="S04-text17"/>
          <p:cNvSpPr txBox="1"/>
          <p:nvPr/>
        </p:nvSpPr>
        <p:spPr>
          <a:xfrm>
            <a:off x="548640" y="1325880"/>
            <a:ext cx="11091672" cy="867664"/>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November 11월　·　turkey 칠면조　·　country 나라　·　celebrate 축하하다</a:t>
            </a:r>
            <a:endParaRPr lang="ko-KR" sz="2800" dirty="0"/>
          </a:p>
        </p:txBody>
      </p:sp>
      <p:sp>
        <p:nvSpPr>
          <p:cNvPr id="4" name="S04-card18"/>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04-cardtext1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중국, 베트남 등에서도 많은 사람이 음력 새해(설)를 보내요.</a:t>
            </a:r>
            <a:endParaRPr lang="ko-KR" sz="2800" dirty="0"/>
          </a:p>
        </p:txBody>
      </p:sp>
      <p:sp>
        <p:nvSpPr>
          <p:cNvPr id="6" name="S04-passagebox20"/>
          <p:cNvSpPr/>
          <p:nvPr/>
        </p:nvSpPr>
        <p:spPr>
          <a:xfrm>
            <a:off x="548640" y="2376424"/>
            <a:ext cx="11091672" cy="2744216"/>
          </a:xfrm>
          <a:prstGeom prst="roundRect">
            <a:avLst>
              <a:gd name="adj" fmla="val 3332"/>
            </a:avLst>
          </a:prstGeom>
          <a:solidFill>
            <a:srgbClr val="FFFFFF"/>
          </a:solidFill>
          <a:ln w="19050">
            <a:solidFill>
              <a:srgbClr val="264653"/>
            </a:solidFill>
            <a:prstDash val="solid"/>
          </a:ln>
        </p:spPr>
      </p:sp>
      <p:sp>
        <p:nvSpPr>
          <p:cNvPr id="7" name="S04-passage21"/>
          <p:cNvSpPr txBox="1"/>
          <p:nvPr/>
        </p:nvSpPr>
        <p:spPr>
          <a:xfrm>
            <a:off x="822960" y="2559304"/>
            <a:ext cx="10543032" cy="2378456"/>
          </a:xfrm>
          <a:prstGeom prst="rect">
            <a:avLst/>
          </a:prstGeom>
          <a:noFill/>
          <a:ln/>
        </p:spPr>
        <p:txBody>
          <a:bodyPr wrap="square" lIns="0" tIns="0" rIns="0" bIns="0" rtlCol="0" anchor="t"/>
          <a:lstStyle/>
          <a:p>
            <a:pPr eaLnBrk="0" algn="l" indent="0" marL="0">
              <a:lnSpc>
                <a:spcPct val="105000"/>
              </a:lnSpc>
              <a:spcAft>
                <a:spcPts val="800"/>
              </a:spcAft>
              <a:buNone/>
            </a:pPr>
            <a:r>
              <a:rPr lang="en-US" altLang="ko-KR" sz="3000" b="1" dirty="0">
                <a:solidFill>
                  <a:srgbClr val="1F2937"/>
                </a:solidFill>
                <a:latin typeface="맑은 고딕" pitchFamily="34" charset="0"/>
                <a:ea typeface="맑은 고딕" pitchFamily="34" charset="-122"/>
                <a:cs typeface="맑은 고딕" pitchFamily="34" charset="-120"/>
              </a:rPr>
              <a:t>Thanksgiving and New Year's Day</a:t>
            </a:r>
            <a:endParaRPr lang="ko-KR" sz="30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In the U.S., Thanksgiving is in November. Many families eat turkey.</a:t>
            </a:r>
            <a:endParaRPr lang="ko-KR" sz="30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Many countries celebrate New Year's Day on January 1.</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What do you do on Chuseok?</a:t>
            </a:r>
            <a:endParaRPr lang="ko-KR" sz="4000" dirty="0"/>
          </a:p>
        </p:txBody>
      </p:sp>
      <p:sp>
        <p:nvSpPr>
          <p:cNvPr id="3" name="S05-text22"/>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엄마(아빠)와 역할을 나누어 말해요.</a:t>
            </a:r>
            <a:endParaRPr lang="ko-KR" sz="2800" dirty="0"/>
          </a:p>
        </p:txBody>
      </p:sp>
      <p:sp>
        <p:nvSpPr>
          <p:cNvPr id="4" name="S05-card23"/>
          <p:cNvSpPr/>
          <p:nvPr/>
        </p:nvSpPr>
        <p:spPr>
          <a:xfrm>
            <a:off x="548640" y="5021072"/>
            <a:ext cx="11091672" cy="1196848"/>
          </a:xfrm>
          <a:prstGeom prst="roundRect">
            <a:avLst>
              <a:gd name="adj" fmla="val 9168"/>
            </a:avLst>
          </a:prstGeom>
          <a:solidFill>
            <a:srgbClr val="FDEBDD"/>
          </a:solidFill>
          <a:ln w="12700">
            <a:solidFill>
              <a:srgbClr val="FDEBDD"/>
            </a:solidFill>
            <a:prstDash val="solid"/>
          </a:ln>
        </p:spPr>
      </p:sp>
      <p:sp>
        <p:nvSpPr>
          <p:cNvPr id="5" name="S05-cardtext24"/>
          <p:cNvSpPr txBox="1"/>
          <p:nvPr/>
        </p:nvSpPr>
        <p:spPr>
          <a:xfrm>
            <a:off x="822960" y="5158232"/>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What do you do on ~?은 ‘~에 너희는 무엇을 하니?’라는 뜻이에요.</a:t>
            </a:r>
            <a:endParaRPr lang="ko-KR" sz="2800" dirty="0"/>
          </a:p>
        </p:txBody>
      </p:sp>
      <p:sp>
        <p:nvSpPr>
          <p:cNvPr id="6" name="S05-passagebox25"/>
          <p:cNvSpPr/>
          <p:nvPr/>
        </p:nvSpPr>
        <p:spPr>
          <a:xfrm>
            <a:off x="548640" y="2011680"/>
            <a:ext cx="11091672" cy="2780792"/>
          </a:xfrm>
          <a:prstGeom prst="roundRect">
            <a:avLst>
              <a:gd name="adj" fmla="val 3288"/>
            </a:avLst>
          </a:prstGeom>
          <a:solidFill>
            <a:srgbClr val="FFFFFF"/>
          </a:solidFill>
          <a:ln w="19050">
            <a:solidFill>
              <a:srgbClr val="264653"/>
            </a:solidFill>
            <a:prstDash val="solid"/>
          </a:ln>
        </p:spPr>
      </p:sp>
      <p:sp>
        <p:nvSpPr>
          <p:cNvPr id="7" name="S05-passage26"/>
          <p:cNvSpPr txBox="1"/>
          <p:nvPr/>
        </p:nvSpPr>
        <p:spPr>
          <a:xfrm>
            <a:off x="822960" y="2194560"/>
            <a:ext cx="10543032" cy="2415032"/>
          </a:xfrm>
          <a:prstGeom prst="rect">
            <a:avLst/>
          </a:prstGeom>
          <a:noFill/>
          <a:ln/>
        </p:spPr>
        <p:txBody>
          <a:bodyPr wrap="square" lIns="0" tIns="0" rIns="0" bIns="0" rtlCol="0" anchor="t"/>
          <a:lstStyle/>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A: When is Chuseok?</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B: It's in September or October.</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A: What do you do on Chuseok?</a:t>
            </a:r>
            <a:endParaRPr lang="ko-KR" sz="2800" dirty="0"/>
          </a:p>
          <a:p>
            <a:pPr eaLnBrk="0" algn="l" indent="0" marL="0">
              <a:lnSpc>
                <a:spcPct val="105000"/>
              </a:lnSpc>
              <a:spcAft>
                <a:spcPts val="800"/>
              </a:spcAft>
              <a:buNone/>
            </a:pPr>
            <a:r>
              <a:rPr lang="en-US" altLang="ko-KR" sz="2800" dirty="0">
                <a:solidFill>
                  <a:srgbClr val="1F2937"/>
                </a:solidFill>
                <a:latin typeface="맑은 고딕" pitchFamily="34" charset="0"/>
                <a:ea typeface="맑은 고딕" pitchFamily="34" charset="-122"/>
                <a:cs typeface="맑은 고딕" pitchFamily="34" charset="-120"/>
              </a:rPr>
              <a:t>B: We eat songpyeon.</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명절 표 완성하기</a:t>
            </a:r>
            <a:endParaRPr lang="ko-KR" sz="4000" dirty="0"/>
          </a:p>
        </p:txBody>
      </p:sp>
      <p:sp>
        <p:nvSpPr>
          <p:cNvPr id="3" name="S06-text2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물음표(?)에 들어갈 말을 찾아 말해요.</a:t>
            </a:r>
            <a:endParaRPr lang="ko-KR" sz="2800" dirty="0"/>
          </a:p>
        </p:txBody>
      </p:sp>
      <p:graphicFrame>
        <p:nvGraphicFramePr>
          <p:cNvPr id="7" name="S06-table28"/>
          <p:cNvGraphicFramePr>
            <a:graphicFrameLocks noGrp="1"/>
          </p:cNvGraphicFramePr>
          <p:nvPr>
            <p:extLst>
              <p:ext uri="{D42A27DB-BD31-4B8C-83A1-F6EECF244321}">
                <p14:modId xmlns:p14="http://schemas.microsoft.com/office/powerpoint/2010/main" val="1579011935"/>
              </p:ext>
            </p:extLst>
          </p:nvPr>
        </p:nvGraphicFramePr>
        <p:xfrm>
          <a:off x="1065276" y="2910840"/>
          <a:ext cx="10058400" cy="914400"/>
        </p:xfrm>
        <a:graphic>
          <a:graphicData uri="http://schemas.openxmlformats.org/drawingml/2006/table">
            <a:tbl>
              <a:tblPr/>
              <a:tblGrid>
                <a:gridCol w="3419856"/>
                <a:gridCol w="3822192"/>
                <a:gridCol w="2816352"/>
              </a:tblGrid>
              <a:tr h="481584">
                <a:tc>
                  <a:txBody>
                    <a:bodyPr/>
                    <a:lstStyle/>
                    <a:p>
                      <a:pPr eaLnBrk="0" algn="ctr" indent="0" marL="0">
                        <a:buNone/>
                      </a:pPr>
                      <a:r>
                        <a:rPr lang="en-US" sz="2400" b="1" dirty="0">
                          <a:solidFill>
                            <a:srgbClr val="1F2937"/>
                          </a:solidFill>
                          <a:latin typeface="맑은 고딕" pitchFamily="34" charset="0"/>
                          <a:ea typeface="맑은 고딕" pitchFamily="34" charset="-122"/>
                          <a:cs typeface="맑은 고딕" pitchFamily="34" charset="-120"/>
                        </a:rPr>
                        <a:t>Holiday (명절)</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400" b="1" dirty="0">
                          <a:solidFill>
                            <a:srgbClr val="1F2937"/>
                          </a:solidFill>
                          <a:latin typeface="맑은 고딕" pitchFamily="34" charset="0"/>
                          <a:ea typeface="맑은 고딕" pitchFamily="34" charset="-122"/>
                          <a:cs typeface="맑은 고딕" pitchFamily="34" charset="-120"/>
                        </a:rPr>
                        <a:t>When? (언제)</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400" b="1" dirty="0">
                          <a:solidFill>
                            <a:srgbClr val="1F2937"/>
                          </a:solidFill>
                          <a:latin typeface="맑은 고딕" pitchFamily="34" charset="0"/>
                          <a:ea typeface="맑은 고딕" pitchFamily="34" charset="-122"/>
                          <a:cs typeface="맑은 고딕" pitchFamily="34" charset="-120"/>
                        </a:rPr>
                        <a:t>Food (음식)</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481584">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Seollal</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January or February</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① ?</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481584">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Chuseok</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② ?</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songpyeon</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481584">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Thanksgiving (U.S.)</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③ ?</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turkey</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481584">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New Year's Day</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January 1</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추석과 추수감사절 비교</a:t>
            </a:r>
            <a:endParaRPr lang="ko-KR" sz="4000" dirty="0"/>
          </a:p>
        </p:txBody>
      </p:sp>
      <p:sp>
        <p:nvSpPr>
          <p:cNvPr id="3" name="S07-card29"/>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7-cardtext30"/>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같은 기준으로 보면 같은 점과 다른 점이 잘 보여요.</a:t>
            </a:r>
            <a:endParaRPr lang="ko-KR" sz="2800" dirty="0"/>
          </a:p>
        </p:txBody>
      </p:sp>
      <p:graphicFrame>
        <p:nvGraphicFramePr>
          <p:cNvPr id="8" name="S07-table31"/>
          <p:cNvGraphicFramePr>
            <a:graphicFrameLocks noGrp="1"/>
          </p:cNvGraphicFramePr>
          <p:nvPr>
            <p:extLst>
              <p:ext uri="{D42A27DB-BD31-4B8C-83A1-F6EECF244321}">
                <p14:modId xmlns:p14="http://schemas.microsoft.com/office/powerpoint/2010/main" val="1579011935"/>
              </p:ext>
            </p:extLst>
          </p:nvPr>
        </p:nvGraphicFramePr>
        <p:xfrm>
          <a:off x="1065276" y="2260092"/>
          <a:ext cx="10058400" cy="914400"/>
        </p:xfrm>
        <a:graphic>
          <a:graphicData uri="http://schemas.openxmlformats.org/drawingml/2006/table">
            <a:tbl>
              <a:tblPr/>
              <a:tblGrid>
                <a:gridCol w="2414016"/>
                <a:gridCol w="3822192"/>
                <a:gridCol w="3822192"/>
              </a:tblGrid>
              <a:tr h="481584">
                <a:tc>
                  <a:txBody>
                    <a:bodyPr/>
                    <a:lstStyle/>
                    <a:p>
                      <a:pPr eaLnBrk="0" algn="ctr" indent="0" marL="0">
                        <a:buNone/>
                      </a:pPr>
                      <a:r>
                        <a:rPr lang="en-US" sz="2400" b="1" dirty="0">
                          <a:solidFill>
                            <a:srgbClr val="1F2937"/>
                          </a:solidFill>
                          <a:latin typeface="맑은 고딕" pitchFamily="34" charset="0"/>
                          <a:ea typeface="맑은 고딕" pitchFamily="34" charset="-122"/>
                          <a:cs typeface="맑은 고딕" pitchFamily="34" charset="-120"/>
                        </a:rPr>
                        <a:t>기준</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400" b="1" dirty="0">
                          <a:solidFill>
                            <a:srgbClr val="1F2937"/>
                          </a:solidFill>
                          <a:latin typeface="맑은 고딕" pitchFamily="34" charset="0"/>
                          <a:ea typeface="맑은 고딕" pitchFamily="34" charset="-122"/>
                          <a:cs typeface="맑은 고딕" pitchFamily="34" charset="-120"/>
                        </a:rPr>
                        <a:t>Chuseok (추석)</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c>
                  <a:txBody>
                    <a:bodyPr/>
                    <a:lstStyle/>
                    <a:p>
                      <a:pPr eaLnBrk="0" algn="ctr" indent="0" marL="0">
                        <a:buNone/>
                      </a:pPr>
                      <a:r>
                        <a:rPr lang="en-US" sz="2400" b="1" dirty="0">
                          <a:solidFill>
                            <a:srgbClr val="1F2937"/>
                          </a:solidFill>
                          <a:latin typeface="맑은 고딕" pitchFamily="34" charset="0"/>
                          <a:ea typeface="맑은 고딕" pitchFamily="34" charset="-122"/>
                          <a:cs typeface="맑은 고딕" pitchFamily="34" charset="-120"/>
                        </a:rPr>
                        <a:t>Thanksgiving (미국)</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EAF3F1"/>
                    </a:solidFill>
                  </a:tcPr>
                </a:tc>
              </a:tr>
              <a:tr h="481584">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언제</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9월이나 10월</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11월</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481584">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누가 모이나</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많은 가족이 모여요</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많은 가족이 모여요</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r h="481584">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무엇을 먹나</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송편</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c>
                  <a:txBody>
                    <a:bodyPr/>
                    <a:lstStyle/>
                    <a:p>
                      <a:pPr eaLnBrk="0" algn="ctr" indent="0" marL="0">
                        <a:buNone/>
                      </a:pPr>
                      <a:r>
                        <a:rPr lang="en-US" sz="2400" dirty="0">
                          <a:solidFill>
                            <a:srgbClr val="1F2937"/>
                          </a:solidFill>
                          <a:latin typeface="맑은 고딕" pitchFamily="34" charset="0"/>
                          <a:ea typeface="맑은 고딕" pitchFamily="34" charset="-122"/>
                          <a:cs typeface="맑은 고딕" pitchFamily="34" charset="-120"/>
                        </a:rPr>
                        <a:t>칠면조 요리</a:t>
                      </a:r>
                      <a:endParaRPr lang="en-US" sz="2400" dirty="0">
                        <a:latin typeface="맑은 고딕" charset="0"/>
                        <a:ea typeface="맑은 고딕" charset="0"/>
                        <a:cs typeface="맑은 고딕" charset="0"/>
                      </a:endParaRPr>
                    </a:p>
                  </a:txBody>
                  <a:tcPr marL="38100" marR="38100" marT="38100" marB="38100" anchor="ctr">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같은 점과 다른 점</a:t>
            </a:r>
            <a:endParaRPr lang="ko-KR" sz="4000" dirty="0"/>
          </a:p>
        </p:txBody>
      </p:sp>
      <p:sp>
        <p:nvSpPr>
          <p:cNvPr id="3" name="S08-text32"/>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두 명절의 같은 점과 다른 점을 하나씩 말해요.</a:t>
            </a:r>
            <a:endParaRPr lang="ko-KR" sz="2800" dirty="0"/>
          </a:p>
        </p:txBody>
      </p:sp>
      <p:sp>
        <p:nvSpPr>
          <p:cNvPr id="4" name="S08-card33"/>
          <p:cNvSpPr/>
          <p:nvPr/>
        </p:nvSpPr>
        <p:spPr>
          <a:xfrm>
            <a:off x="548640" y="5349240"/>
            <a:ext cx="11091672" cy="868680"/>
          </a:xfrm>
          <a:prstGeom prst="roundRect">
            <a:avLst>
              <a:gd name="adj" fmla="val 12632"/>
            </a:avLst>
          </a:prstGeom>
          <a:solidFill>
            <a:srgbClr val="E6ECF4"/>
          </a:solidFill>
          <a:ln w="12700">
            <a:solidFill>
              <a:srgbClr val="E6ECF4"/>
            </a:solidFill>
            <a:prstDash val="solid"/>
          </a:ln>
        </p:spPr>
      </p:sp>
      <p:sp>
        <p:nvSpPr>
          <p:cNvPr id="5" name="S08-cardtext3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기준: 언제? · 누가 모이나? · 무엇을 먹나?</a:t>
            </a:r>
            <a:endParaRPr lang="ko-KR" sz="2800" dirty="0"/>
          </a:p>
        </p:txBody>
      </p:sp>
      <p:sp>
        <p:nvSpPr>
          <p:cNvPr id="6" name="S08-chip35"/>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7" name="S08-text36"/>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Seollal　·　New Year's Day</a:t>
            </a:r>
            <a:endParaRPr lang="ko-KR" sz="2800" dirty="0"/>
          </a:p>
        </p:txBody>
      </p:sp>
      <p:sp>
        <p:nvSpPr>
          <p:cNvPr id="8" name="S08-chip37"/>
          <p:cNvSpPr txBox="1"/>
          <p:nvPr/>
        </p:nvSpPr>
        <p:spPr>
          <a:xfrm>
            <a:off x="548640" y="410565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9" name="S08-text38"/>
          <p:cNvSpPr txBox="1"/>
          <p:nvPr/>
        </p:nvSpPr>
        <p:spPr>
          <a:xfrm>
            <a:off x="1344168" y="3657600"/>
            <a:ext cx="10296144"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Seollal　·　Chuseok</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어떻게 말하면 좋을까요?</a:t>
            </a:r>
            <a:endParaRPr lang="ko-KR" sz="4000" dirty="0"/>
          </a:p>
        </p:txBody>
      </p:sp>
      <p:sp>
        <p:nvSpPr>
          <p:cNvPr id="3" name="S09-card39"/>
          <p:cNvSpPr/>
          <p:nvPr/>
        </p:nvSpPr>
        <p:spPr>
          <a:xfrm>
            <a:off x="548640" y="1325880"/>
            <a:ext cx="11091672" cy="1196848"/>
          </a:xfrm>
          <a:prstGeom prst="roundRect">
            <a:avLst>
              <a:gd name="adj" fmla="val 9168"/>
            </a:avLst>
          </a:prstGeom>
          <a:solidFill>
            <a:srgbClr val="EAF3F1"/>
          </a:solidFill>
          <a:ln w="12700">
            <a:solidFill>
              <a:srgbClr val="EAF3F1"/>
            </a:solidFill>
            <a:prstDash val="solid"/>
          </a:ln>
        </p:spPr>
      </p:sp>
      <p:sp>
        <p:nvSpPr>
          <p:cNvPr id="4" name="S09-cardtext40"/>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친구가 ‘미국 사람은 모두 칠면조를 먹어. 송편을 안 먹다니 이상해.’라고 했어요.</a:t>
            </a:r>
            <a:endParaRPr lang="ko-KR" sz="2800" dirty="0"/>
          </a:p>
        </p:txBody>
      </p:sp>
      <p:sp>
        <p:nvSpPr>
          <p:cNvPr id="5" name="S09-card4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9-cardtext4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어느 말이 더 알맞을까요? 왜 그렇게 생각해요?</a:t>
            </a:r>
            <a:endParaRPr lang="ko-KR" sz="2800" dirty="0"/>
          </a:p>
        </p:txBody>
      </p:sp>
      <p:sp>
        <p:nvSpPr>
          <p:cNvPr id="7" name="S09-chip43"/>
          <p:cNvSpPr txBox="1"/>
          <p:nvPr/>
        </p:nvSpPr>
        <p:spPr>
          <a:xfrm>
            <a:off x="548640" y="2751328"/>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가</a:t>
            </a:r>
            <a:endParaRPr lang="ko-KR" sz="2200" dirty="0"/>
          </a:p>
        </p:txBody>
      </p:sp>
      <p:sp>
        <p:nvSpPr>
          <p:cNvPr id="8" name="S09-text44"/>
          <p:cNvSpPr txBox="1"/>
          <p:nvPr/>
        </p:nvSpPr>
        <p:spPr>
          <a:xfrm>
            <a:off x="548640" y="3482848"/>
            <a:ext cx="5362956" cy="1637792"/>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미국 사람은 모두 칠면조를 먹어요. 송편을 안 먹다니 이상해요.</a:t>
            </a:r>
            <a:endParaRPr lang="ko-KR" sz="2800" dirty="0"/>
          </a:p>
        </p:txBody>
      </p:sp>
      <p:sp>
        <p:nvSpPr>
          <p:cNvPr id="9" name="S09-chip45"/>
          <p:cNvSpPr txBox="1"/>
          <p:nvPr/>
        </p:nvSpPr>
        <p:spPr>
          <a:xfrm>
            <a:off x="6277356" y="2751328"/>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나</a:t>
            </a:r>
            <a:endParaRPr lang="ko-KR" sz="2200" dirty="0"/>
          </a:p>
        </p:txBody>
      </p:sp>
      <p:sp>
        <p:nvSpPr>
          <p:cNvPr id="10" name="S09-text46"/>
          <p:cNvSpPr txBox="1"/>
          <p:nvPr/>
        </p:nvSpPr>
        <p:spPr>
          <a:xfrm>
            <a:off x="6277356" y="3482848"/>
            <a:ext cx="5362956" cy="1637792"/>
          </a:xfrm>
          <a:prstGeom prst="rect">
            <a:avLst/>
          </a:prstGeom>
          <a:noFill/>
          <a:ln/>
        </p:spPr>
        <p:txBody>
          <a:bodyPr wrap="square" lIns="0" tIns="0" rIns="0" bIns="0" rtlCol="0" anchor="t"/>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미국에서 많은 가족이 추수감사절에 칠면조 요리를 먹어요. 우리와 음식이 달라요.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0-text4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①③은 영어로, ②④는 우리말로 답해요.</a:t>
            </a:r>
            <a:endParaRPr lang="ko-KR" sz="2800" dirty="0"/>
          </a:p>
        </p:txBody>
      </p:sp>
      <p:sp>
        <p:nvSpPr>
          <p:cNvPr id="4" name="S10-chip48"/>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①</a:t>
            </a:r>
            <a:endParaRPr lang="ko-KR" sz="2200" dirty="0"/>
          </a:p>
        </p:txBody>
      </p:sp>
      <p:sp>
        <p:nvSpPr>
          <p:cNvPr id="5" name="S10-text49"/>
          <p:cNvSpPr txBox="1"/>
          <p:nvPr/>
        </p:nvSpPr>
        <p:spPr>
          <a:xfrm>
            <a:off x="1344168" y="201168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When is Thanksgiving in the U.S.?</a:t>
            </a:r>
            <a:endParaRPr lang="ko-KR" sz="2800" dirty="0"/>
          </a:p>
        </p:txBody>
      </p:sp>
      <p:sp>
        <p:nvSpPr>
          <p:cNvPr id="6" name="S10-chip50"/>
          <p:cNvSpPr txBox="1"/>
          <p:nvPr/>
        </p:nvSpPr>
        <p:spPr>
          <a:xfrm>
            <a:off x="6277356"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②</a:t>
            </a:r>
            <a:endParaRPr lang="ko-KR" sz="2200" dirty="0"/>
          </a:p>
        </p:txBody>
      </p:sp>
      <p:sp>
        <p:nvSpPr>
          <p:cNvPr id="7" name="S10-text51"/>
          <p:cNvSpPr txBox="1"/>
          <p:nvPr/>
        </p:nvSpPr>
        <p:spPr>
          <a:xfrm>
            <a:off x="7072884" y="201168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추석과 추수감사절의 같은 점은?</a:t>
            </a:r>
            <a:endParaRPr lang="ko-KR" sz="2800" dirty="0"/>
          </a:p>
        </p:txBody>
      </p:sp>
      <p:sp>
        <p:nvSpPr>
          <p:cNvPr id="8" name="S10-chip52"/>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③</a:t>
            </a:r>
            <a:endParaRPr lang="ko-KR" sz="2200" dirty="0"/>
          </a:p>
        </p:txBody>
      </p:sp>
      <p:sp>
        <p:nvSpPr>
          <p:cNvPr id="9" name="S10-text53"/>
          <p:cNvSpPr txBox="1"/>
          <p:nvPr/>
        </p:nvSpPr>
        <p:spPr>
          <a:xfrm>
            <a:off x="1344168" y="4206240"/>
            <a:ext cx="4567428" cy="14630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What do you do on Seollal?</a:t>
            </a:r>
            <a:endParaRPr lang="ko-KR" sz="2800" dirty="0"/>
          </a:p>
        </p:txBody>
      </p:sp>
      <p:sp>
        <p:nvSpPr>
          <p:cNvPr id="10" name="S10-chip54"/>
          <p:cNvSpPr txBox="1"/>
          <p:nvPr/>
        </p:nvSpPr>
        <p:spPr>
          <a:xfrm>
            <a:off x="6277356"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200" b="1" dirty="0">
                <a:solidFill>
                  <a:srgbClr val="FFFFFF"/>
                </a:solidFill>
                <a:latin typeface="맑은 고딕" pitchFamily="34" charset="0"/>
                <a:ea typeface="맑은 고딕" pitchFamily="34" charset="-122"/>
                <a:cs typeface="맑은 고딕" pitchFamily="34" charset="-120"/>
              </a:rPr>
              <a:t>④</a:t>
            </a:r>
            <a:endParaRPr lang="ko-KR" sz="2200" dirty="0"/>
          </a:p>
        </p:txBody>
      </p:sp>
      <p:sp>
        <p:nvSpPr>
          <p:cNvPr id="11" name="S10-text55"/>
          <p:cNvSpPr txBox="1"/>
          <p:nvPr/>
        </p:nvSpPr>
        <p:spPr>
          <a:xfrm>
            <a:off x="7072884" y="4206240"/>
            <a:ext cx="4567428" cy="14630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‘모두’ 대신 쓰면 좋은 말은?</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대답 예 확인</a:t>
            </a:r>
            <a:endParaRPr lang="ko-KR" sz="4000" dirty="0"/>
          </a:p>
        </p:txBody>
      </p:sp>
      <p:sp>
        <p:nvSpPr>
          <p:cNvPr id="3" name="S11-card56"/>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1-cardtext5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명절은 집집마다 달라요. ‘많은 가족이’처럼 말해요.</a:t>
            </a:r>
            <a:endParaRPr lang="ko-KR" sz="2800" dirty="0"/>
          </a:p>
        </p:txBody>
      </p:sp>
      <p:sp>
        <p:nvSpPr>
          <p:cNvPr id="5" name="S11-chip58"/>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정답</a:t>
            </a:r>
            <a:endParaRPr lang="ko-KR" sz="2200" dirty="0"/>
          </a:p>
        </p:txBody>
      </p:sp>
      <p:sp>
        <p:nvSpPr>
          <p:cNvPr id="6" name="S11-text59"/>
          <p:cNvSpPr txBox="1"/>
          <p:nvPr/>
        </p:nvSpPr>
        <p:spPr>
          <a:xfrm>
            <a:off x="548640" y="2057400"/>
            <a:ext cx="5362956" cy="6629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① It's in November.</a:t>
            </a:r>
            <a:endParaRPr lang="ko-KR" sz="2800" dirty="0"/>
          </a:p>
        </p:txBody>
      </p:sp>
      <p:sp>
        <p:nvSpPr>
          <p:cNvPr id="7" name="S11-text60"/>
          <p:cNvSpPr txBox="1"/>
          <p:nvPr/>
        </p:nvSpPr>
        <p:spPr>
          <a:xfrm>
            <a:off x="548640" y="2857500"/>
            <a:ext cx="5362956"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② 많은 가족이 모여요</a:t>
            </a:r>
            <a:endParaRPr lang="ko-KR" sz="2800" dirty="0"/>
          </a:p>
        </p:txBody>
      </p:sp>
      <p:sp>
        <p:nvSpPr>
          <p:cNvPr id="8" name="S11-text61"/>
          <p:cNvSpPr txBox="1"/>
          <p:nvPr/>
        </p:nvSpPr>
        <p:spPr>
          <a:xfrm>
            <a:off x="548640" y="3657600"/>
            <a:ext cx="5362956" cy="6629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③ We eat tteokguk.</a:t>
            </a:r>
            <a:endParaRPr lang="ko-KR" sz="2800" dirty="0"/>
          </a:p>
        </p:txBody>
      </p:sp>
      <p:sp>
        <p:nvSpPr>
          <p:cNvPr id="9" name="S11-text62"/>
          <p:cNvSpPr txBox="1"/>
          <p:nvPr/>
        </p:nvSpPr>
        <p:spPr>
          <a:xfrm>
            <a:off x="548640" y="4457700"/>
            <a:ext cx="5362956" cy="6629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④ 많은 가족이</a:t>
            </a:r>
            <a:endParaRPr lang="ko-KR" sz="2800" dirty="0"/>
          </a:p>
        </p:txBody>
      </p:sp>
      <p:sp>
        <p:nvSpPr>
          <p:cNvPr id="10" name="S11-chip63"/>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200" b="1" dirty="0">
                <a:solidFill>
                  <a:srgbClr val="1F2937"/>
                </a:solidFill>
                <a:latin typeface="맑은 고딕" pitchFamily="34" charset="0"/>
                <a:ea typeface="맑은 고딕" pitchFamily="34" charset="-122"/>
                <a:cs typeface="맑은 고딕" pitchFamily="34" charset="-120"/>
              </a:rPr>
              <a:t>× 흔한 실수</a:t>
            </a:r>
            <a:endParaRPr lang="ko-KR" sz="2200" dirty="0"/>
          </a:p>
        </p:txBody>
      </p:sp>
      <p:sp>
        <p:nvSpPr>
          <p:cNvPr id="11" name="S11-text64"/>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ko-KR" altLang="en-US" sz="2800" dirty="0">
                <a:solidFill>
                  <a:srgbClr val="1F2937"/>
                </a:solidFill>
                <a:latin typeface="맑은 고딕" pitchFamily="34" charset="0"/>
                <a:ea typeface="맑은 고딕" pitchFamily="34" charset="-122"/>
                <a:cs typeface="맑은 고딕" pitchFamily="34" charset="-120"/>
              </a:rPr>
              <a:t>모두 칠면조를 먹어요</a:t>
            </a:r>
            <a:endParaRPr lang="ko-KR" sz="2800" dirty="0"/>
          </a:p>
        </p:txBody>
      </p:sp>
      <p:sp>
        <p:nvSpPr>
          <p:cNvPr id="12" name="S11-text65"/>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‘모두’는 알맞지 않음</a:t>
            </a:r>
            <a:endParaRPr lang="ko-KR" sz="2200" dirty="0"/>
          </a:p>
        </p:txBody>
      </p:sp>
      <p:sp>
        <p:nvSpPr>
          <p:cNvPr id="13" name="S11-text66"/>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en-US" altLang="ko-KR" sz="2800" dirty="0">
                <a:solidFill>
                  <a:srgbClr val="1F2937"/>
                </a:solidFill>
                <a:latin typeface="맑은 고딕" pitchFamily="34" charset="0"/>
                <a:ea typeface="맑은 고딕" pitchFamily="34" charset="-122"/>
                <a:cs typeface="맑은 고딕" pitchFamily="34" charset="-120"/>
              </a:rPr>
              <a:t>on November</a:t>
            </a:r>
            <a:endParaRPr lang="ko-KR" sz="2800" dirty="0"/>
          </a:p>
        </p:txBody>
      </p:sp>
      <p:sp>
        <p:nvSpPr>
          <p:cNvPr id="14" name="S11-text67"/>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200" dirty="0">
                <a:solidFill>
                  <a:srgbClr val="1F2937"/>
                </a:solidFill>
                <a:latin typeface="맑은 고딕" pitchFamily="34" charset="0"/>
                <a:ea typeface="맑은 고딕" pitchFamily="34" charset="-122"/>
                <a:cs typeface="맑은 고딕" pitchFamily="34" charset="-120"/>
              </a:rPr>
              <a:t>달 앞에는 in</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바르게 말한 것은?</a:t>
            </a:r>
            <a:endParaRPr lang="ko-KR" sz="4000" dirty="0"/>
          </a:p>
        </p:txBody>
      </p:sp>
      <p:sp>
        <p:nvSpPr>
          <p:cNvPr id="3" name="S12-card68"/>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2-cardtext69"/>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바르게 말한 것은 어느 것일까요? 왜 그렇게 생각해요?</a:t>
            </a:r>
            <a:endParaRPr lang="ko-KR" sz="2800" dirty="0"/>
          </a:p>
        </p:txBody>
      </p:sp>
      <p:sp>
        <p:nvSpPr>
          <p:cNvPr id="5" name="S12-chip70"/>
          <p:cNvSpPr txBox="1"/>
          <p:nvPr/>
        </p:nvSpPr>
        <p:spPr>
          <a:xfrm>
            <a:off x="548640"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가</a:t>
            </a:r>
            <a:endParaRPr lang="ko-KR" sz="2800" dirty="0"/>
          </a:p>
        </p:txBody>
      </p:sp>
      <p:sp>
        <p:nvSpPr>
          <p:cNvPr id="6" name="S12-card71"/>
          <p:cNvSpPr/>
          <p:nvPr/>
        </p:nvSpPr>
        <p:spPr>
          <a:xfrm>
            <a:off x="1344168" y="1325880"/>
            <a:ext cx="4567428" cy="1760220"/>
          </a:xfrm>
          <a:prstGeom prst="roundRect">
            <a:avLst>
              <a:gd name="adj" fmla="val 6234"/>
            </a:avLst>
          </a:prstGeom>
          <a:solidFill>
            <a:srgbClr val="EAF3F1"/>
          </a:solidFill>
          <a:ln w="12700">
            <a:solidFill>
              <a:srgbClr val="EAF3F1"/>
            </a:solidFill>
            <a:prstDash val="solid"/>
          </a:ln>
        </p:spPr>
      </p:sp>
      <p:sp>
        <p:nvSpPr>
          <p:cNvPr id="7" name="S12-cardtext72"/>
          <p:cNvSpPr txBox="1"/>
          <p:nvPr/>
        </p:nvSpPr>
        <p:spPr>
          <a:xfrm>
            <a:off x="1618488" y="1463040"/>
            <a:ext cx="4018788" cy="148590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한국 사람은 모두 추석에 송편을 만들어요.</a:t>
            </a:r>
            <a:endParaRPr lang="ko-KR" sz="2800" dirty="0"/>
          </a:p>
        </p:txBody>
      </p:sp>
      <p:sp>
        <p:nvSpPr>
          <p:cNvPr id="8" name="S12-chip73"/>
          <p:cNvSpPr txBox="1"/>
          <p:nvPr/>
        </p:nvSpPr>
        <p:spPr>
          <a:xfrm>
            <a:off x="6277356"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나</a:t>
            </a:r>
            <a:endParaRPr lang="ko-KR" sz="2800" dirty="0"/>
          </a:p>
        </p:txBody>
      </p:sp>
      <p:sp>
        <p:nvSpPr>
          <p:cNvPr id="9" name="S12-card74"/>
          <p:cNvSpPr/>
          <p:nvPr/>
        </p:nvSpPr>
        <p:spPr>
          <a:xfrm>
            <a:off x="7072884" y="1325880"/>
            <a:ext cx="4567428" cy="1760220"/>
          </a:xfrm>
          <a:prstGeom prst="roundRect">
            <a:avLst>
              <a:gd name="adj" fmla="val 6234"/>
            </a:avLst>
          </a:prstGeom>
          <a:solidFill>
            <a:srgbClr val="EAF3F1"/>
          </a:solidFill>
          <a:ln w="12700">
            <a:solidFill>
              <a:srgbClr val="EAF3F1"/>
            </a:solidFill>
            <a:prstDash val="solid"/>
          </a:ln>
        </p:spPr>
      </p:sp>
      <p:sp>
        <p:nvSpPr>
          <p:cNvPr id="10" name="S12-cardtext75"/>
          <p:cNvSpPr txBox="1"/>
          <p:nvPr/>
        </p:nvSpPr>
        <p:spPr>
          <a:xfrm>
            <a:off x="7347204" y="1463040"/>
            <a:ext cx="4018788" cy="148590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추수감사절은 우리 명절과 달라서 이상해요.</a:t>
            </a:r>
            <a:endParaRPr lang="ko-KR" sz="2800" dirty="0"/>
          </a:p>
        </p:txBody>
      </p:sp>
      <p:sp>
        <p:nvSpPr>
          <p:cNvPr id="11" name="S12-chip76"/>
          <p:cNvSpPr txBox="1"/>
          <p:nvPr/>
        </p:nvSpPr>
        <p:spPr>
          <a:xfrm>
            <a:off x="548640"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다</a:t>
            </a:r>
            <a:endParaRPr lang="ko-KR" sz="2800" dirty="0"/>
          </a:p>
        </p:txBody>
      </p:sp>
      <p:sp>
        <p:nvSpPr>
          <p:cNvPr id="12" name="S12-card77"/>
          <p:cNvSpPr/>
          <p:nvPr/>
        </p:nvSpPr>
        <p:spPr>
          <a:xfrm>
            <a:off x="1344168" y="3360420"/>
            <a:ext cx="4567428" cy="1760220"/>
          </a:xfrm>
          <a:prstGeom prst="roundRect">
            <a:avLst>
              <a:gd name="adj" fmla="val 6234"/>
            </a:avLst>
          </a:prstGeom>
          <a:solidFill>
            <a:srgbClr val="EAF3F1"/>
          </a:solidFill>
          <a:ln w="12700">
            <a:solidFill>
              <a:srgbClr val="EAF3F1"/>
            </a:solidFill>
            <a:prstDash val="solid"/>
          </a:ln>
        </p:spPr>
      </p:sp>
      <p:sp>
        <p:nvSpPr>
          <p:cNvPr id="13" name="S12-cardtext78"/>
          <p:cNvSpPr txBox="1"/>
          <p:nvPr/>
        </p:nvSpPr>
        <p:spPr>
          <a:xfrm>
            <a:off x="1618488" y="3497580"/>
            <a:ext cx="4018788" cy="148590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1월 1일에 새해 첫날을 축하하는 나라가 많아요.</a:t>
            </a:r>
            <a:endParaRPr lang="ko-KR" sz="2800" dirty="0"/>
          </a:p>
        </p:txBody>
      </p:sp>
      <p:sp>
        <p:nvSpPr>
          <p:cNvPr id="14" name="S12-chip79"/>
          <p:cNvSpPr txBox="1"/>
          <p:nvPr/>
        </p:nvSpPr>
        <p:spPr>
          <a:xfrm>
            <a:off x="6277356"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800" b="1" dirty="0">
                <a:solidFill>
                  <a:srgbClr val="FFFFFF"/>
                </a:solidFill>
                <a:latin typeface="맑은 고딕" pitchFamily="34" charset="0"/>
                <a:ea typeface="맑은 고딕" pitchFamily="34" charset="-122"/>
                <a:cs typeface="맑은 고딕" pitchFamily="34" charset="-120"/>
              </a:rPr>
              <a:t>라</a:t>
            </a:r>
            <a:endParaRPr lang="ko-KR" sz="2800" dirty="0"/>
          </a:p>
        </p:txBody>
      </p:sp>
      <p:sp>
        <p:nvSpPr>
          <p:cNvPr id="15" name="S12-card80"/>
          <p:cNvSpPr/>
          <p:nvPr/>
        </p:nvSpPr>
        <p:spPr>
          <a:xfrm>
            <a:off x="7072884" y="3360420"/>
            <a:ext cx="4567428" cy="1760220"/>
          </a:xfrm>
          <a:prstGeom prst="roundRect">
            <a:avLst>
              <a:gd name="adj" fmla="val 6234"/>
            </a:avLst>
          </a:prstGeom>
          <a:solidFill>
            <a:srgbClr val="EAF3F1"/>
          </a:solidFill>
          <a:ln w="12700">
            <a:solidFill>
              <a:srgbClr val="EAF3F1"/>
            </a:solidFill>
            <a:prstDash val="solid"/>
          </a:ln>
        </p:spPr>
      </p:sp>
      <p:sp>
        <p:nvSpPr>
          <p:cNvPr id="16" name="S12-cardtext81"/>
          <p:cNvSpPr txBox="1"/>
          <p:nvPr/>
        </p:nvSpPr>
        <p:spPr>
          <a:xfrm>
            <a:off x="7347204" y="3497580"/>
            <a:ext cx="4018788" cy="1485900"/>
          </a:xfrm>
          <a:prstGeom prst="rect">
            <a:avLst/>
          </a:prstGeom>
          <a:noFill/>
          <a:ln/>
        </p:spPr>
        <p:txBody>
          <a:bodyPr wrap="square" lIns="0" tIns="0" rIns="0" bIns="0" rtlCol="0" anchor="ctr"/>
          <a:lstStyle/>
          <a:p>
            <a:pPr eaLnBrk="0" indent="0" marL="0">
              <a:spcAft>
                <a:spcPts val="600"/>
              </a:spcAft>
              <a:buNone/>
            </a:pPr>
            <a:r>
              <a:rPr lang="ko-KR" altLang="en-US" sz="2800" dirty="0">
                <a:solidFill>
                  <a:srgbClr val="1F2937"/>
                </a:solidFill>
                <a:latin typeface="맑은 고딕" pitchFamily="34" charset="0"/>
                <a:ea typeface="맑은 고딕" pitchFamily="34" charset="-122"/>
                <a:cs typeface="맑은 고딕" pitchFamily="34" charset="-120"/>
              </a:rPr>
              <a:t>1월 1일은 해마다 설날이에요.</a:t>
            </a:r>
            <a:endParaRPr lang="ko-KR" sz="28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3-card82"/>
          <p:cNvSpPr/>
          <p:nvPr/>
        </p:nvSpPr>
        <p:spPr>
          <a:xfrm>
            <a:off x="548640" y="1325880"/>
            <a:ext cx="11091672" cy="1196848"/>
          </a:xfrm>
          <a:prstGeom prst="roundRect">
            <a:avLst>
              <a:gd name="adj" fmla="val 9168"/>
            </a:avLst>
          </a:prstGeom>
          <a:solidFill>
            <a:srgbClr val="32606F"/>
          </a:solidFill>
          <a:ln w="12700">
            <a:solidFill>
              <a:srgbClr val="32606F"/>
            </a:solidFill>
            <a:prstDash val="solid"/>
          </a:ln>
        </p:spPr>
      </p:sp>
      <p:sp>
        <p:nvSpPr>
          <p:cNvPr id="4" name="S13-cardtext83"/>
          <p:cNvSpPr txBox="1"/>
          <p:nvPr/>
        </p:nvSpPr>
        <p:spPr>
          <a:xfrm>
            <a:off x="822960" y="1463040"/>
            <a:ext cx="10543032" cy="922528"/>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FFFFFF"/>
                </a:solidFill>
                <a:latin typeface="맑은 고딕" pitchFamily="34" charset="0"/>
                <a:ea typeface="맑은 고딕" pitchFamily="34" charset="-122"/>
                <a:cs typeface="맑은 고딕" pitchFamily="34" charset="-120"/>
              </a:rPr>
              <a:t>When is ~? → It's in ~.　What do you do on ~? → We ~.</a:t>
            </a:r>
            <a:endParaRPr lang="ko-KR" sz="2800" dirty="0"/>
          </a:p>
          <a:p>
            <a:pPr eaLnBrk="0" indent="0" marL="0">
              <a:spcAft>
                <a:spcPts val="600"/>
              </a:spcAft>
              <a:buNone/>
            </a:pPr>
            <a:r>
              <a:rPr lang="ko-KR" altLang="en-US" sz="2800" dirty="0">
                <a:solidFill>
                  <a:srgbClr val="FFFFFF"/>
                </a:solidFill>
                <a:latin typeface="맑은 고딕" pitchFamily="34" charset="0"/>
                <a:ea typeface="맑은 고딕" pitchFamily="34" charset="-122"/>
                <a:cs typeface="맑은 고딕" pitchFamily="34" charset="-120"/>
              </a:rPr>
              <a:t>명절은 나라와 집마다 달라요. ‘많은 가족이’처럼 말해요.</a:t>
            </a:r>
            <a:endParaRPr lang="ko-KR" sz="2800" dirty="0"/>
          </a:p>
        </p:txBody>
      </p:sp>
      <p:sp>
        <p:nvSpPr>
          <p:cNvPr id="5" name="S13-chip84"/>
          <p:cNvSpPr txBox="1"/>
          <p:nvPr/>
        </p:nvSpPr>
        <p:spPr>
          <a:xfrm>
            <a:off x="548640" y="2751328"/>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‘많은 가족이’처럼 말하기</a:t>
            </a:r>
            <a:endParaRPr lang="ko-KR" sz="2200" dirty="0"/>
          </a:p>
        </p:txBody>
      </p:sp>
      <p:sp>
        <p:nvSpPr>
          <p:cNvPr id="6" name="S13-chip85"/>
          <p:cNvSpPr txBox="1"/>
          <p:nvPr/>
        </p:nvSpPr>
        <p:spPr>
          <a:xfrm>
            <a:off x="6208776" y="2751328"/>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 ‘모두’, ‘이상해’라고 말하기</a:t>
            </a:r>
            <a:endParaRPr lang="ko-KR" sz="2200" dirty="0"/>
          </a:p>
        </p:txBody>
      </p:sp>
      <p:sp>
        <p:nvSpPr>
          <p:cNvPr id="7" name="S13-text86"/>
          <p:cNvSpPr txBox="1"/>
          <p:nvPr/>
        </p:nvSpPr>
        <p:spPr>
          <a:xfrm>
            <a:off x="548640" y="3574288"/>
            <a:ext cx="11091672" cy="457200"/>
          </a:xfrm>
          <a:prstGeom prst="rect">
            <a:avLst/>
          </a:prstGeom>
          <a:noFill/>
          <a:ln/>
        </p:spPr>
        <p:txBody>
          <a:bodyPr wrap="square" lIns="0" tIns="0" rIns="0" bIns="0" rtlCol="0" anchor="t"/>
          <a:lstStyle/>
          <a:p>
            <a:pPr eaLnBrk="0" algn="l" indent="0" marL="0">
              <a:buNone/>
            </a:pPr>
            <a:r>
              <a:rPr lang="ko-KR" altLang="en-US" sz="22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200" dirty="0"/>
          </a:p>
        </p:txBody>
      </p:sp>
      <p:sp>
        <p:nvSpPr>
          <p:cNvPr id="8" name="S13-text87"/>
          <p:cNvSpPr txBox="1"/>
          <p:nvPr/>
        </p:nvSpPr>
        <p:spPr>
          <a:xfrm>
            <a:off x="548640" y="4077208"/>
            <a:ext cx="3544824" cy="1500632"/>
          </a:xfrm>
          <a:prstGeom prst="rect">
            <a:avLst/>
          </a:prstGeom>
          <a:noFill/>
          <a:ln/>
        </p:spPr>
        <p:txBody>
          <a:bodyPr wrap="square" lIns="0" tIns="0" rIns="0" bIns="0" rtlCol="0" anchor="ctr"/>
          <a:lstStyle/>
          <a:p>
            <a:pPr eaLnBrk="0" algn="l" indent="0" marL="0">
              <a:buNone/>
            </a:pPr>
            <a:r>
              <a:rPr lang="en-US" altLang="ko-KR" sz="2200" dirty="0">
                <a:solidFill>
                  <a:srgbClr val="FFFFFF"/>
                </a:solidFill>
                <a:latin typeface="맑은 고딕" pitchFamily="34" charset="0"/>
                <a:ea typeface="맑은 고딕" pitchFamily="34" charset="-122"/>
                <a:cs typeface="맑은 고딕" pitchFamily="34" charset="-120"/>
              </a:rPr>
              <a:t>① When is Chuseok?</a:t>
            </a:r>
            <a:endParaRPr lang="ko-KR" sz="2200" dirty="0"/>
          </a:p>
        </p:txBody>
      </p:sp>
      <p:sp>
        <p:nvSpPr>
          <p:cNvPr id="9" name="S13-text88"/>
          <p:cNvSpPr txBox="1"/>
          <p:nvPr/>
        </p:nvSpPr>
        <p:spPr>
          <a:xfrm>
            <a:off x="4322064" y="4077208"/>
            <a:ext cx="3544824" cy="1500632"/>
          </a:xfrm>
          <a:prstGeom prst="rect">
            <a:avLst/>
          </a:prstGeom>
          <a:noFill/>
          <a:ln/>
        </p:spPr>
        <p:txBody>
          <a:bodyPr wrap="square" lIns="0" tIns="0" rIns="0" bIns="0" rtlCol="0" anchor="ctr"/>
          <a:lstStyle/>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② 추석과 추수감사절의</a:t>
            </a:r>
            <a:endParaRPr lang="ko-KR" sz="2200" dirty="0"/>
          </a:p>
          <a:p>
            <a:pPr eaLnBrk="0" algn="l" indent="0" marL="0">
              <a:buNone/>
            </a:pPr>
            <a:r>
              <a:rPr lang="ko-KR" altLang="en-US" sz="2200" dirty="0">
                <a:solidFill>
                  <a:srgbClr val="FFFFFF"/>
                </a:solidFill>
                <a:latin typeface="맑은 고딕" pitchFamily="34" charset="0"/>
                <a:ea typeface="맑은 고딕" pitchFamily="34" charset="-122"/>
                <a:cs typeface="맑은 고딕" pitchFamily="34" charset="-120"/>
              </a:rPr>
              <a:t>같은 점 하나</a:t>
            </a:r>
            <a:endParaRPr lang="ko-KR" sz="2200" dirty="0"/>
          </a:p>
        </p:txBody>
      </p:sp>
      <p:sp>
        <p:nvSpPr>
          <p:cNvPr id="10" name="S13-text89"/>
          <p:cNvSpPr txBox="1"/>
          <p:nvPr/>
        </p:nvSpPr>
        <p:spPr>
          <a:xfrm>
            <a:off x="8095488" y="4077208"/>
            <a:ext cx="3544824" cy="1500632"/>
          </a:xfrm>
          <a:prstGeom prst="rect">
            <a:avLst/>
          </a:prstGeom>
          <a:noFill/>
          <a:ln/>
        </p:spPr>
        <p:txBody>
          <a:bodyPr wrap="square" lIns="0" tIns="0" rIns="0" bIns="0" rtlCol="0" anchor="ctr"/>
          <a:lstStyle/>
          <a:p>
            <a:pPr eaLnBrk="0" algn="l" indent="0" marL="0">
              <a:buNone/>
            </a:pPr>
            <a:r>
              <a:rPr lang="en-US" altLang="ko-KR" sz="2200" dirty="0">
                <a:solidFill>
                  <a:srgbClr val="FFFFFF"/>
                </a:solidFill>
                <a:latin typeface="맑은 고딕" pitchFamily="34" charset="0"/>
                <a:ea typeface="맑은 고딕" pitchFamily="34" charset="-122"/>
                <a:cs typeface="맑은 고딕" pitchFamily="34" charset="-120"/>
              </a:rPr>
              <a:t>③ What do you do</a:t>
            </a:r>
            <a:endParaRPr lang="ko-KR" sz="2200" dirty="0"/>
          </a:p>
          <a:p>
            <a:pPr eaLnBrk="0" algn="l" indent="0" marL="0">
              <a:buNone/>
            </a:pPr>
            <a:r>
              <a:rPr lang="en-US" altLang="ko-KR" sz="2200" dirty="0">
                <a:solidFill>
                  <a:srgbClr val="FFFFFF"/>
                </a:solidFill>
                <a:latin typeface="맑은 고딕" pitchFamily="34" charset="0"/>
                <a:ea typeface="맑은 고딕" pitchFamily="34" charset="-122"/>
                <a:cs typeface="맑은 고딕" pitchFamily="34" charset="-120"/>
              </a:rPr>
              <a:t>on Seollal?</a:t>
            </a:r>
            <a:endParaRPr lang="ko-KR" sz="2200" dirty="0"/>
          </a:p>
        </p:txBody>
      </p:sp>
      <p:sp>
        <p:nvSpPr>
          <p:cNvPr id="11" name="S13-text90"/>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200" dirty="0">
                <a:solidFill>
                  <a:srgbClr val="C9DCD8"/>
                </a:solidFill>
                <a:latin typeface="맑은 고딕" pitchFamily="34" charset="0"/>
                <a:ea typeface="맑은 고딕" pitchFamily="34" charset="-122"/>
                <a:cs typeface="맑은 고딕" pitchFamily="34" charset="-120"/>
              </a:rPr>
              <a:t>다음 시간: 핵심 정보 파악(6학년)</a:t>
            </a:r>
            <a:endParaRPr lang="ko-KR" sz="2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낱말과 묻는 말</a:t>
            </a:r>
            <a:endParaRPr lang="ko-KR" sz="4000" dirty="0"/>
          </a:p>
        </p:txBody>
      </p:sp>
      <p:sp>
        <p:nvSpPr>
          <p:cNvPr id="3" name="S14-card9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4-cardtext9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en-US" altLang="ko-KR" sz="2800" dirty="0">
                <a:solidFill>
                  <a:srgbClr val="1F2937"/>
                </a:solidFill>
                <a:latin typeface="맑은 고딕" pitchFamily="34" charset="0"/>
                <a:ea typeface="맑은 고딕" pitchFamily="34" charset="-122"/>
                <a:cs typeface="맑은 고딕" pitchFamily="34" charset="-120"/>
              </a:rPr>
              <a:t>How much is it? → It's three thousand won.</a:t>
            </a:r>
            <a:endParaRPr lang="ko-KR" sz="2800" dirty="0"/>
          </a:p>
        </p:txBody>
      </p:sp>
      <p:sp>
        <p:nvSpPr>
          <p:cNvPr id="5" name="S14-word93"/>
          <p:cNvSpPr txBox="1"/>
          <p:nvPr/>
        </p:nvSpPr>
        <p:spPr>
          <a:xfrm>
            <a:off x="548640"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family</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가족</a:t>
            </a:r>
            <a:endParaRPr lang="ko-KR" sz="3200" dirty="0"/>
          </a:p>
        </p:txBody>
      </p:sp>
      <p:sp>
        <p:nvSpPr>
          <p:cNvPr id="6" name="S14-word94"/>
          <p:cNvSpPr txBox="1"/>
          <p:nvPr/>
        </p:nvSpPr>
        <p:spPr>
          <a:xfrm>
            <a:off x="6231636" y="134874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many</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많은</a:t>
            </a:r>
            <a:endParaRPr lang="ko-KR" sz="3200" dirty="0"/>
          </a:p>
        </p:txBody>
      </p:sp>
      <p:sp>
        <p:nvSpPr>
          <p:cNvPr id="7" name="S14-word95"/>
          <p:cNvSpPr txBox="1"/>
          <p:nvPr/>
        </p:nvSpPr>
        <p:spPr>
          <a:xfrm>
            <a:off x="548640"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eat</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먹다</a:t>
            </a:r>
            <a:endParaRPr lang="ko-KR" sz="3200" dirty="0"/>
          </a:p>
        </p:txBody>
      </p:sp>
      <p:sp>
        <p:nvSpPr>
          <p:cNvPr id="8" name="S14-word96"/>
          <p:cNvSpPr txBox="1"/>
          <p:nvPr/>
        </p:nvSpPr>
        <p:spPr>
          <a:xfrm>
            <a:off x="6231636" y="3360420"/>
            <a:ext cx="540867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200" b="1" dirty="0">
                <a:solidFill>
                  <a:srgbClr val="1F2937"/>
                </a:solidFill>
                <a:latin typeface="맑은 고딕" pitchFamily="34" charset="0"/>
                <a:ea typeface="맑은 고딕" pitchFamily="34" charset="-122"/>
                <a:cs typeface="맑은 고딕" pitchFamily="34" charset="-120"/>
              </a:rPr>
              <a:t>We eat rice.</a:t>
            </a:r>
            <a:endParaRPr lang="ko-KR" sz="3200" dirty="0"/>
          </a:p>
          <a:p>
            <a:pPr eaLnBrk="0" algn="ctr" indent="0" marL="0">
              <a:buNone/>
            </a:pPr>
            <a:r>
              <a:rPr lang="ko-KR" altLang="en-US" sz="2000" dirty="0">
                <a:solidFill>
                  <a:srgbClr val="4B5563"/>
                </a:solidFill>
                <a:latin typeface="맑은 고딕" pitchFamily="34" charset="0"/>
                <a:ea typeface="맑은 고딕" pitchFamily="34" charset="-122"/>
                <a:cs typeface="맑은 고딕" pitchFamily="34" charset="-120"/>
              </a:rPr>
              <a:t>우리는 밥을 먹어요.</a:t>
            </a:r>
            <a:endParaRPr lang="ko-KR" sz="3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초5 영어 명절과 문화</dc:title>
  <dc:subject>KR22-G05-ENG-HOLIDAYS-L01</dc:subject>
  <dc:creator>education-ppt</dc:creator>
  <cp:lastModifiedBy>education-ppt</cp:lastModifiedBy>
  <cp:revision>1</cp:revision>
  <dcterms:created xsi:type="dcterms:W3CDTF">2026-10-26T09:33:35Z</dcterms:created>
  <dcterms:modified xsi:type="dcterms:W3CDTF">2026-10-26T09:33:35Z</dcterms:modified>
</cp:coreProperties>
</file>