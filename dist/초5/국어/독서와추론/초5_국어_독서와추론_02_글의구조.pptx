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0d58fa7-5aab-0418-b1f6-5122518cf50c}">
          <p14:sldIdLst>
            <p14:sldId id="256"/>
            <p14:sldId id="257"/>
          </p14:sldIdLst>
        </p14:section>
        <p14:section name="개념" id="{30dd2308-79f8-2f3e-9279-5919e0b2c4c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f67505f1-b076-8036-c5fe-aeaec36a631e}">
          <p14:sldIdLst>
            <p14:sldId id="264"/>
            <p14:sldId id="265"/>
          </p14:sldIdLst>
        </p14:section>
        <p14:section name="확인" id="{bb94a01e-797a-674c-9bad-6d2681a54f79}">
          <p14:sldIdLst>
            <p14:sldId id="266"/>
            <p14:sldId id="267"/>
            <p14:sldId id="268"/>
          </p14:sldIdLst>
        </p14:section>
        <p14:section name="정리" id="{3cb49232-07f9-49ee-7f1c-ec04f6901767}">
          <p14:sldIdLst>
            <p14:sldId id="269"/>
          </p14:sldIdLst>
        </p14:section>
        <p14:section name="보충" id="{32cdcf35-e3a7-eee4-d7f5-1301f3371c3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글마다 내용을 엮는 틀이 다르다는 것을 떠올리게 합니다.
시간: 약 2분
이렇게 말해 보세요
- “‘왜 감기에 걸릴까?’를 설명하는 글과 ‘감기에 걸리지 않으려면 어떻게 할까?’를 쓴 글은 내용을 엮는 틀이 같을까?”
- “4학년 때 글의 ‘짜임’을 배웠지. 5학년에서는 이것을 ‘글의 구조’라고도 해. 오늘은 새 구조 두 가지를 더 배우고, 구조에 맞게 정리하는 방법을 익힐 거야.”
예상 답
- “앞의 글은 까닭을 말하고, 뒤의 글은 방법을 말해요.” “잘 모르겠어요.”
막히면
- 집에 있는 안내문(예: 약 상자 설명, 분리배출 안내)을 보여 주고 “이 글은 무엇을 알려 주려고 썼을까?”라고 묻습니다.
주의
- 아이의 생각을 고치지 말고 들어 둡니다. S03에서 네 가지 구조를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확인(글의 짜임)]
목적: 4학년 ‘글의 짜임’(KR22-G04-KOR-TEXTFORM-L01)에서 배운 시간 순서와 비교와 대조를 알아보는 힘을 확인합니다. 이 차시의 계획상 선수 차시는 바로 앞의 ‘단서로 추론하기’(KR22-G05-KOR-INFER-L01)이고, 오늘 배울 구조는 4학년의 짜임을 넓힌 것입니다. 이 두 글은 S08에서 다시 씁니다.
시간: 약 3분
이렇게 말해 보세요
- “두 글을 읽고 짜임을 알려 주는 말에 손가락을 대 볼래? 각각 어떤 짜임이야?”
정답
- ① 시간 순서(먼저, 그다음, 마지막으로)
- ② 비교와 대조(둘 다, 하지만)
막히면
- “①은 일이 일어난 차례를 말해, 두 가지를 견주어?”라고 묻습니다.
- 짜임을 고르지 못하면 S15(보충)를 먼저 하고, 그래도 어려우면 4학년 ‘글의 짜임’(KR22-G04-KOR-TEXTFORM-L01)을 다시 합니다.
주의
- 답만 맞히면 “무엇을 보고 알았어?”라고 한 번 더 묻습니다. 근거를 말하는 습관은 지난 시간의 추론과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글의 구조 네 가지]
목적: 글의 구조 네 가지와 각 구조를 알려 주는 말을 알려 줍니다(목표 A).
시간: 약 3분
이렇게 말해 보세요
- “구조는 글쓴이가 내용을 엮은 틀이야. 4학년 때 배운 ‘짜임’과 같은 뜻이야.”
- “위의 두 가지는 4학년 때 배운 거야. 아래 두 가지가 새로 배울 구조야.”
- “원인과 결과는 어떤 일이 ‘왜’ 생겼는지(원인)와 그래서 ‘어떻게’ 되었는지(결과)를 쓴 글이야. 문제와 해결은 어려운 점(문제)과 그것을 풀 방법(해결)을 쓴 글이야.”
예상 답
- “‘때문에’가 나오면 원인과 결과예요.”
막히면
- 생활 예를 하나씩 들어 줍니다. 원인과 결과: “늦잠을 자서 지각했어.” 문제와 해결: “연필이 자꾸 없어져. 필통에 이름을 붙이면 어떨까?”
주의
- 구조를 알려 주는 말이 없는 글도 많습니다. 그때는 내용끼리 어떤 관계인지 보고 판단한다고 미리 말해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읽기(원인과 결과)]
목적: 부모가 생각을 소리 내어 말하며 구조를 알려 주는 말을 찾고, 원인과 결과를 나누는 과정을 보여 줍니다(목표 A·B).
시간: 약 4분
이렇게 말해 보세요
- “제목에 ‘까닭’이 있네. 무엇이 왜 생기는지 설명하는 글이겠다. ②문단에는 ‘그래서’, ‘이 때문에’가 있어. 원인과 결과 구조야.”
- “결과, 그러니까 마지막에 생긴 일은 ‘수도관이 터진다’야. 왜 터졌지? 거꾸로 따라가 볼게. 얼음이 관을 밀어서. 왜 밀었지? 물이 얼면서 부피가 늘어나서. 왜 얼었지? 기온이 0도 아래로 내려가서.”
- “이렇게 ‘왜?’를 거꾸로 물으면 원인을 찾을 수 있어. 네가 원인을 하나 말해 볼래?”
예상 답
- “물이 얼어서 부피가 커졌어요.”
정답
- 구조: 원인과 결과(까닭, 그래서, 이 때문에)
- 원인: 기온이 0도 아래로 내려가 관 속 물이 얼고, 얼면서 부피가 늘어나 관을 밀어냄 / 결과: 수도관이 갈라지거나 터짐
막히면
- 냉동실에 물을 가득 채운 페트병을 넣으면 병이 불룩해진다는 이야기(또는 직접 해 본 경험)로 ‘얼면 부피가 늘어난다’를 떠올리게 합니다.
주의
- ‘얼음이 되면 부피가 늘어난다’는 과학 사실입니다. 아이가 궁금해하면 얼음이 물에 뜨는 것도 같은 까닭이라고만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원인과 결과 틀(화살표 상자)]
목적: 원인과 결과 구조의 글은 원인에서 결과로 화살표를 잇는 상자로 정리한다는 것을 보여 줍니다(목표 B).
시간: 약 3분
이렇게 말해 보세요
- “앞의 세 상자는 원인, 색이 다른 마지막 상자는 결과야. 화살표는 ‘그래서’라고 읽으면 돼. 기온이 내려가요, 그래서 물이 얼어요, 그래서….”
- “거꾸로 읽으면 ‘왜?’가 돼. 수도관이 왜 터졌어? 부피가 늘어나서. 왜 늘어났어?”
예상 답
- “물이 얼어서요.” 아이가 화살표를 ‘그래서’로 이어 읽습니다.
막히면
- S04의 글과 상자를 번갈아 보며 상자마다 글의 어느 부분인지 짚어 줍니다.
주의
- 원인이 여러 단계로 이어질 수 있습니다. 상자를 두 개(원인 하나, 결과 하나)로 줄여도 원인→결과 방향만 맞으면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함께 읽기(문제와 해결)]
목적: 문제와 해결 구조의 글을 함께 읽으며 문제와 해결 방법을 나누어 찾습니다(목표 A·B).
시간: 약 3분
이렇게 말해 보세요
- “②문단 첫머리에 ‘이 문제를 막으려면’이 있지? 앞 문단이 문제이고, 뒤 문단이 해결 방법이라는 신호야.”
- “①문단의 문제를 한 문장으로 말해 볼래? ②문단에서 해결 방법은 몇 가지야?”
예상 답
- “여름에 음식이 쉽게 상하는 게 문제예요. 해결 방법은 두 가지예요.”
정답
- 구조: 문제와 해결(이 문제를 막으려면, 두 가지를 지켜야 합니다)
- 문제: 여름에는 음식이 쉽게 상한다(상한 음식을 먹으면 배탈이 날 수 있다)
- 해결: ① 남은 음식은 뚜껑을 덮어 바로 냉장고에 넣는다 ② 냄새와 색을 살펴보고 이상하면 먹지 않는다
막히면
- “이 글이 걱정하는 일은 무엇이야? 그걸 막으려면 어떻게 하라고 해?” 두 질문으로 나누어 묻습니다.
주의
- ①문단에 ‘때문입니다’가 있어 원인과 결과라고 할 수 있습니다. 이때 “글 전체가 말하려는 것은 까닭이야, 막는 방법이야?”라고 물어 글 전체의 틀을 보게 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문제와 해결 틀(문제·해결 표)]
목적: 문제와 해결 구조의 글은 문제 하나와 해결 방법을 나누어 쓰는 표로 정리한다는 것을 보여 줍니다(목표 B, 오해 M3).
시간: 약 3분
이렇게 말해 보세요
- “표의 맨 위 칸이 문제야. 해결 방법만 쓰면 무엇을 해결하는지 알 수 없겠지?”
- “해결 방법이 더 있으면 줄을 늘리면 돼. 너라면 해결 ③에 무엇을 더 쓰고 싶어?”
예상 답
- “먹을 만큼만 만들어요.” “음식을 밖에 오래 두지 않아요.”
막히면
- S06의 글에서 ‘이 문제를 막으려면’ 앞과 뒤를 손으로 나누어 가리며 표의 칸과 이어 줍니다.
주의
- 해결 ③은 글에 없는 내용이므로 아이 생각을 듣는 것으로 충분합니다. 글을 정리할 때는 글에 있는 내용만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시간 순서·비교와 대조 틀 다시 보기]
목적: 4학년에서 배운 시간 순서(차례 상자)와 비교와 대조(견주는 표)를 S02의 두 글로 다시 보고, 네 가지 구조마다 맞는 틀이 있음을 정리합니다(목표 B).
시간: 약 2분
이렇게 말해 보세요
- “처음에 읽은 밥 짓기 글은 차례 상자로, 자전거와 킥보드 글은 견주는 표로 정리했어. 표의 첫 줄은 같은 점이고, 아래 두 줄은 다른 점이야.”
- “그럼 원인과 결과는 어떤 틀이었지? 문제와 해결은?”
예상 답
- “원인과 결과는 화살표 상자, 문제와 해결은 문제·해결 표요.”
막히면
- S05와 S07을 다시 보여 주고 틀의 모양만 짚어 줍니다.
주의
- 아이가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구조 고르기]
목적: 짧은 글에서 구조를 알려 주는 말과 내용의 관계로 네 가지 구조를 구별해 봅니다(목표 A, 오해 M2).
시간: 약 3분
이렇게 말해 보세요
- “①부터 읽고 구조를 알려 주는 말에 손가락을 대 볼래? 어떤 구조야?”
- “①의 ‘그래서’와 ③의 ‘그다음’은 둘 다 뒤로 이어지는 말이야. 무엇이 다를까? 눈이 와서 미끄러워진 걸까, 그냥 다음에 일어난 걸까?”
정답
- ① 원인과 결과(그래서). 눈이 내린 것 때문에 길이 미끄러워졌습니다.
- ② 문제와 해결(이 문제를 해결하려면)
- ③ 시간 순서(먼저, 그다음, 마지막으로)
- ④ 비교와 대조(둘 다, 하지만)
막히면
- S03의 카드를 다시 보여 주고, 카드의 말과 같은 말을 찾게 합니다.
주의
- ①을 시간 순서라고 하면 “눈이 오지 않았어도 길이 미끄러웠을까?”라고 물어 ‘때문에’ 관계를 느끼게 합니다(오해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비교(원인과 결과 방향)]
목적: 원인과 결과는 글에 나온 차례가 아니라 ‘무엇 때문에 무엇이 생겼는지’에 따라 잇는다는 것을 비교로 확인합니다(목표 B, 오해 M1).
시간: 약 3분
이렇게 말해 보세요
- “가 친구는 글에 나온 차례대로 이었어. 화살표를 ‘그래서’로 읽어 볼까? ‘물웅덩이가 생겼어요, 그래서 비가 내렸어요.’ 말이 돼?”
- “‘때문이에요’ 앞에 있는 말이 원인이야. 지난 시간에 물웅덩이를 보고 비가 왔다고 추론했지? 결과를 보고 원인을 찾은 거야.”
정답
- 나. 비가 내린 것(원인) 때문에 물웅덩이가 생겼으므로(결과) 원인에서 결과 쪽으로 이었습니다.
- 가는 글에 나온 차례대로 이어서 원인과 결과가 거꾸로 되었습니다.
막히면
- 두 상자를 ‘그래서’로 이어 소리 내어 읽게 합니다. 어색한 쪽이 거꾸로 이은 것입니다.
주의
- 글쓴이는 결과를 먼저 쓰고 원인을 나중에 쓰기도 합니다. 정리할 때는 언제나 원인 → 결과 방향이라는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보기(원인과 결과)]
목적: 도움 없이 글의 구조를 고르고, 결과가 먼저 나온 글을 원인 → 결과 방향으로 정리하는지 확인합니다(목표 A·B).
시간: 약 5분
이렇게 말해 보세요
- “이번에는 혼자 해 볼래? 활동지 4에 같은 글이 있으니 구조를 알려 주는 말에 ○ 하고 화살표 상자를 채워 봐.”
- “다 하면 왜 그 구조라고 생각했는지 말해 줘.”
정답
- 구조: 원인과 결과. 까닭: ‘그래서’가 있고, 컵에 물방울이 생기는 까닭을 설명하는 글이기 때문입니다.
- 화살표 상자 예: 공기 속 수증기가 차가운 컵에 닿아요 → 식어서 작은 물방울로 바뀌어요 → 컵 겉면에 물방울이 맺혀요
- 기준: 결과(컵 겉면에 물방울이 맺힘)가 마지막 상자에 오고, 수증기가 차가운 컵에 닿아 식는 것이 원인 쪽에 오면 맞음(상자 수는 두세 개)
막히면
- “컵에 물방울이 왜 생겼대? ②문단에서 찾아볼래?”라고 결과에서 원인 쪽으로 묻습니다.
- 도움을 받아 해결했다면 기록표에 ‘도움’으로 표시합니다.
주의
- ①문단의 ‘구멍이 나서 물이 새어 나온 것은 아닙니다’를 원인으로 쓰면 “글쓴이가 그렇다고 했어, 아니라고 했어?”라고 묻습니다. 결과를 첫 상자에 쓰면 S10을 다시 봅니다(오해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답과 화살표 상자를 확인하고 흔한 실수와 비교합니다.
시간: 약 2분
이렇게 말해 보세요
- “네 화살표 상자를 ‘그래서’로 이어 읽어 볼래? 말이 자연스러워?”
- “오른쪽 두 답은 왜 아쉬울까?”
예상 답
- “물방울 → 수증기는 거꾸로예요. 수증기가 식어서 물방울이 된 거예요.”
정답
- 원인과 결과 / 공기 속 수증기가 차가운 컵 겉면에 닿아 식는다 → 작은 물방울로 바뀐다 → 컵 겉면에 물방울이 맺힌다
막히면
- 활동지 4의 상자를 함께 고쳐 씁니다.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확인(문제와 해결)]
목적: 처음 보는 글의 구조를 고르고, 구조에 맞는 틀(문제·해결 표)로 정리하는지 확인합니다(목표 A·B).
시간: 약 2분
이렇게 말해 보세요
- “이 글은 어떤 구조야? 무엇을 보고 알았어?”
- “문제·해결 표에 무엇을 쓸지 말해 줄래? 활동지 5에 써도 돼.”
정답
- ① 문제와 해결(이 문제를 해결하려면)
- ② 문제: 쉬는 시간마다 공 하나를 두고 서로 먼저 쓰겠다고 다툰다 / 해결: 요일마다 공을 쓰는 모둠을 정해 둔다
막히면
- S07의 표를 다시 보여 줍니다.
주의
- 구조만 맞히고 문제와 해결을 나누어 말하지 못하면 기록표에 ‘구조만’으로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“글의 구조를 알아내고 정리하는 방법을 한 문장으로 말해 볼래?”
예상 답
- “구조를 알려 주는 말을 찾아서 구조를 알고, 그 구조에 맞는 틀에 정리해요.”
정답
- ① 원인과 결과 ② 문제와 해결 방법 ③ 원인에서 결과 쪽으로
막히면
- S03의 카드와 S05·S07의 틀을 다시 보여 줍니다.
주의
- 뉴스나 안내문을 함께 볼 때 “이건 까닭을 말하는 글이야, 방법을 말하는 글이야?”라고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보충(짜임을 알려 주는 말 다시 보기)]
목적: 4학년에서 배운 짜임을 알려 주는 말을 다시 익히고, 까닭을 나타내는 말을 덧붙여 구조를 알아보는 힘을 먼저 다집니다.
시간: 약 4분
이렇게 말해 보세요
- “엄마(아빠)가 짧은 글을 읽어 줄게. 어떤 구조인지 맞혀 봐.”
- ① “먼저 손을 씻고, 그다음 밥을 먹고, 마지막으로 이를 닦아요.” ② “사과와 귤은 둘 다 과일이에요. 하지만 사과는 껍질째 먹기도 하고, 귤은 껍질을 벗겨 먹어요.” ③ “어젯밤 늦게 잤어요. 그래서 아침에 늦잠을 잤어요.”
정답
- ① 시간 순서 ② 비교와 대조 ③ 원인과 결과
막히면
- 구조를 알려 주는 말이 나오면 손뼉을 치게 한 뒤, 화면의 카드에서 같은 말을 찾게 합니다.
- 이 차시의 계획상 선수 차시는 ‘단서로 추론하기’(KR22-G05-KOR-INFER-L01)입니다. 글에 원인이 드러나지 않아 찾기 어려워하면 그 차시의 ‘단서 + 배경지식’ 방법으로 원인을 추론해 봅니다.
- 보충으로도 구조를 고르기 어렵다면 4학년 ‘글의 짜임’(KR22-G04-KOR-TEXTFORM-L01)을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독서와추론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글의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글의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글의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글쓴이는 내용을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틀로 엮었을까?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원인과 결과, 문제와 해결 같은 글의 구조를 알아볼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구조에 맞는 틀에 글의 내용을 정리할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말을 찾고, 어떤 짜임인지 말해요.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쌀을 씻어 물에 불려요. 그다음 솥에 안쳐 끓이고, 마지막으로 뜸을 들이면 밥이 돼요.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자전거와 킥보드는 둘 다 바퀴가 달린 탈것이에요. 하지만 자전거는 앉아서 페달을 밟고, 킥보드는 서서 발로 땅을 밀어 앞으로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 네 가지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새로 배우는 구조는 색이 다른 두 가지예요.</a:t>
            </a:r>
            <a:endParaRPr lang="ko-KR" sz="2800" dirty="0"/>
          </a:p>
        </p:txBody>
      </p:sp>
      <p:sp>
        <p:nvSpPr>
          <p:cNvPr id="5" name="S03-card1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· 그다음 · 마지막으로</a:t>
            </a:r>
            <a:endParaRPr lang="ko-KR" sz="2800" dirty="0"/>
          </a:p>
        </p:txBody>
      </p:sp>
      <p:sp>
        <p:nvSpPr>
          <p:cNvPr id="7" name="S03-card1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· 하지만 · ~와 달리</a:t>
            </a:r>
            <a:endParaRPr lang="ko-KR" sz="2800" dirty="0"/>
          </a:p>
        </p:txBody>
      </p:sp>
      <p:sp>
        <p:nvSpPr>
          <p:cNvPr id="9" name="S03-card1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생긴 까닭과 그 결과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때문에 · 그래서 · 왜냐하면</a:t>
            </a:r>
            <a:endParaRPr lang="ko-KR" sz="2800" dirty="0"/>
          </a:p>
        </p:txBody>
      </p:sp>
      <p:sp>
        <p:nvSpPr>
          <p:cNvPr id="11" name="S03-card1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1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점과 해결 방법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~하려면 · 방법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결과로 쓴 글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말을 찾고, 원인과 결과를 말해 봐요.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수도관이 터지는 까닭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추운 겨울밤, 기온이 0도 아래로 내려가면 수도관 속에 고여 있던 물이 얼 수 있습니다. 물은 얼음이 되면 부피가 늘어납니다.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관 속의 물이 얼면 늘어난 얼음이 관을 안에서 밀어냅니다. 이 때문에 수도관이 갈라지거나 터지기도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결과는 화살표 상자로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원인에서 결과 쪽으로 화살표를 이어 정리해요.</a:t>
            </a:r>
            <a:endParaRPr lang="ko-KR" sz="2800" dirty="0"/>
          </a:p>
        </p:txBody>
      </p:sp>
      <p:sp>
        <p:nvSpPr>
          <p:cNvPr id="4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‘왜?’에 답하는 것이 원인, 그래서 생긴 일이 결과예요.</a:t>
            </a:r>
            <a:endParaRPr lang="ko-KR" sz="2800" dirty="0"/>
          </a:p>
        </p:txBody>
      </p:sp>
      <p:sp>
        <p:nvSpPr>
          <p:cNvPr id="6" name="S05-step25"/>
          <p:cNvSpPr txBox="1"/>
          <p:nvPr/>
        </p:nvSpPr>
        <p:spPr>
          <a:xfrm>
            <a:off x="548640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기온이 0도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 내려가요</a:t>
            </a:r>
            <a:endParaRPr lang="ko-KR" sz="2200" dirty="0"/>
          </a:p>
        </p:txBody>
      </p:sp>
      <p:sp>
        <p:nvSpPr>
          <p:cNvPr id="7" name="S05-line26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27"/>
          <p:cNvSpPr txBox="1"/>
          <p:nvPr/>
        </p:nvSpPr>
        <p:spPr>
          <a:xfrm>
            <a:off x="3424428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수도관 속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얼어요</a:t>
            </a:r>
            <a:endParaRPr lang="ko-KR" sz="2200" dirty="0"/>
          </a:p>
        </p:txBody>
      </p:sp>
      <p:sp>
        <p:nvSpPr>
          <p:cNvPr id="9" name="S05-line28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29"/>
          <p:cNvSpPr txBox="1"/>
          <p:nvPr/>
        </p:nvSpPr>
        <p:spPr>
          <a:xfrm>
            <a:off x="6300216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되며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부피가 늘어나요</a:t>
            </a:r>
            <a:endParaRPr lang="ko-KR" sz="2200" dirty="0"/>
          </a:p>
        </p:txBody>
      </p:sp>
      <p:sp>
        <p:nvSpPr>
          <p:cNvPr id="11" name="S05-line30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5-step31"/>
          <p:cNvSpPr txBox="1"/>
          <p:nvPr/>
        </p:nvSpPr>
        <p:spPr>
          <a:xfrm>
            <a:off x="9176004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FDEBDD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수도관이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터져요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해결로 쓴 글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무엇이고, 해결 방법은 무엇인가요?</a:t>
            </a:r>
            <a:endParaRPr lang="ko-KR" sz="2800" dirty="0"/>
          </a:p>
        </p:txBody>
      </p:sp>
      <p:sp>
        <p:nvSpPr>
          <p:cNvPr id="5" name="S06-passagebox3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여름철 음식을 안전하게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여름에는 음식이 쉽게 상합니다. 날씨가 더우면 음식 속 세균이 빠르게 늘어나기 때문입니다. 상한 음식을 먹으면 배탈이 날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 문제를 막으려면 두 가지를 지켜야 합니다. 남은 음식은 뚜껑을 덮어 바로 냉장고에 넣습니다. 그리고 오래 둔 음식은 냄새와 색을 살펴보고, 이상하면 먹지 않습니다.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해결은 표로</a:t>
            </a:r>
            <a:endParaRPr lang="ko-KR" sz="4000" dirty="0"/>
          </a:p>
        </p:txBody>
      </p:sp>
      <p:sp>
        <p:nvSpPr>
          <p:cNvPr id="3" name="S07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칸을 먼저 채우고, 해결 방법을 하나씩 써요.</a:t>
            </a:r>
            <a:endParaRPr lang="ko-KR" sz="2800" dirty="0"/>
          </a:p>
        </p:txBody>
      </p:sp>
      <p:sp>
        <p:nvSpPr>
          <p:cNvPr id="4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‘어떻게 하면 될까?’에 답하는 부분이 해결 방법이에요.</a:t>
            </a:r>
            <a:endParaRPr lang="ko-KR" sz="28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21280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여름에는 음식이 쉽게 상해요.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음식은 뚜껑을 덮어 냉장고에 넣어요.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냄새나 색이 이상하면 먹지 않아요.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상자와 견주는 표</a:t>
            </a:r>
            <a:endParaRPr lang="ko-KR" sz="4000" dirty="0"/>
          </a:p>
        </p:txBody>
      </p:sp>
      <p:sp>
        <p:nvSpPr>
          <p:cNvPr id="3" name="S08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읽은 두 글을 틀에 정리했어요.</a:t>
            </a:r>
            <a:endParaRPr lang="ko-KR" sz="2800" dirty="0"/>
          </a:p>
        </p:txBody>
      </p:sp>
      <p:sp>
        <p:nvSpPr>
          <p:cNvPr id="4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알면 어떤 틀에 정리할지 보여요.</a:t>
            </a:r>
            <a:endParaRPr lang="ko-KR" sz="2800" dirty="0"/>
          </a:p>
        </p:txBody>
      </p:sp>
      <p:sp>
        <p:nvSpPr>
          <p:cNvPr id="6" name="S08-step43"/>
          <p:cNvSpPr txBox="1"/>
          <p:nvPr/>
        </p:nvSpPr>
        <p:spPr>
          <a:xfrm>
            <a:off x="548640" y="2700909"/>
            <a:ext cx="1520952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 씻어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불리기</a:t>
            </a:r>
            <a:endParaRPr lang="ko-KR" sz="2200" dirty="0"/>
          </a:p>
        </p:txBody>
      </p:sp>
      <p:sp>
        <p:nvSpPr>
          <p:cNvPr id="7" name="S08-line44"/>
          <p:cNvSpPr/>
          <p:nvPr/>
        </p:nvSpPr>
        <p:spPr>
          <a:xfrm>
            <a:off x="2124456" y="3340989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45"/>
          <p:cNvSpPr txBox="1"/>
          <p:nvPr/>
        </p:nvSpPr>
        <p:spPr>
          <a:xfrm>
            <a:off x="2481072" y="2700909"/>
            <a:ext cx="1520952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솥에 안쳐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끓이기</a:t>
            </a:r>
            <a:endParaRPr lang="ko-KR" sz="2200" dirty="0"/>
          </a:p>
        </p:txBody>
      </p:sp>
      <p:sp>
        <p:nvSpPr>
          <p:cNvPr id="9" name="S08-line46"/>
          <p:cNvSpPr/>
          <p:nvPr/>
        </p:nvSpPr>
        <p:spPr>
          <a:xfrm>
            <a:off x="4056888" y="3340989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47"/>
          <p:cNvSpPr txBox="1"/>
          <p:nvPr/>
        </p:nvSpPr>
        <p:spPr>
          <a:xfrm>
            <a:off x="4413504" y="2700909"/>
            <a:ext cx="1520952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뜸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들이기</a:t>
            </a:r>
            <a:endParaRPr lang="ko-KR" sz="2200" dirty="0"/>
          </a:p>
        </p:txBody>
      </p:sp>
      <p:sp>
        <p:nvSpPr>
          <p:cNvPr id="11" name="S08-label48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순서: 밥 짓기</a:t>
            </a:r>
            <a:endParaRPr lang="ko-KR" sz="2200" dirty="0"/>
          </a:p>
        </p:txBody>
      </p:sp>
      <p:graphicFrame>
        <p:nvGraphicFramePr>
          <p:cNvPr id="9" name="S08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644" y="2474849"/>
          <a:ext cx="5303520" cy="914400"/>
        </p:xfrm>
        <a:graphic>
          <a:graphicData uri="http://schemas.openxmlformats.org/drawingml/2006/table">
            <a:tbl>
              <a:tblPr/>
              <a:tblGrid>
                <a:gridCol w="1803197"/>
                <a:gridCol w="1591056"/>
                <a:gridCol w="1909267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견줄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킥보드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타는 자세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앉아서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가는 방법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페달 밟기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발로 땅 밀기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08-label50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대조: 자전거와 킥보드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구조일까요?</a:t>
            </a:r>
            <a:endParaRPr lang="ko-KR" sz="4000" dirty="0"/>
          </a:p>
        </p:txBody>
      </p:sp>
      <p:sp>
        <p:nvSpPr>
          <p:cNvPr id="3" name="S09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말에 ○ 하고, 어떤 구조인지 말해요.</a:t>
            </a:r>
            <a:endParaRPr lang="ko-KR" sz="2800" dirty="0"/>
          </a:p>
        </p:txBody>
      </p:sp>
      <p:sp>
        <p:nvSpPr>
          <p:cNvPr id="4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‘앞의 일 때문에 뒤의 일이 생겼나?’를 물어봐요.</a:t>
            </a:r>
            <a:endParaRPr lang="ko-KR" sz="2800" dirty="0"/>
          </a:p>
        </p:txBody>
      </p:sp>
      <p:sp>
        <p:nvSpPr>
          <p:cNvPr id="6" name="S09-chip5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밤새 눈이 많이 내렸어요. 그래서 아침에 길이 미끄러워 넘어지는 사람이 많았어요.</a:t>
            </a:r>
            <a:endParaRPr lang="ko-KR" sz="2800" dirty="0"/>
          </a:p>
        </p:txBody>
      </p:sp>
      <p:sp>
        <p:nvSpPr>
          <p:cNvPr id="8" name="S09-chip5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교실이 늘 지저분해요.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문제를 해결하려면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당번을 정해요.</a:t>
            </a:r>
            <a:endParaRPr lang="ko-KR" sz="2800" dirty="0"/>
          </a:p>
        </p:txBody>
      </p:sp>
      <p:sp>
        <p:nvSpPr>
          <p:cNvPr id="10" name="S09-chip5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화분에 흙을 담아요. 그다음 씨앗을 심고, 마지막으로 물을 줘요.</a:t>
            </a:r>
            <a:endParaRPr lang="ko-KR" sz="2800" dirty="0"/>
          </a:p>
        </p:txBody>
      </p:sp>
      <p:sp>
        <p:nvSpPr>
          <p:cNvPr id="12" name="S09-chip6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text6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개구리와 두꺼비는 둘 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 알을 낳아요.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피부는 서로 달라요.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바르게 이은 쪽은?</a:t>
            </a:r>
            <a:endParaRPr lang="ko-KR" sz="4000" dirty="0"/>
          </a:p>
        </p:txBody>
      </p:sp>
      <p:sp>
        <p:nvSpPr>
          <p:cNvPr id="3" name="S10-card6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이 글을 정리했어요.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‘물웅덩이가 생겼어요. 비가 많이 내렸기 때문이에요.’</a:t>
            </a:r>
            <a:endParaRPr lang="ko-KR" sz="2800" dirty="0"/>
          </a:p>
        </p:txBody>
      </p:sp>
      <p:sp>
        <p:nvSpPr>
          <p:cNvPr id="5" name="S10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원인과 결과를 바르게 이었나요? 왜 그럴까요?</a:t>
            </a:r>
            <a:endParaRPr lang="ko-KR" sz="2800" dirty="0"/>
          </a:p>
        </p:txBody>
      </p:sp>
      <p:sp>
        <p:nvSpPr>
          <p:cNvPr id="7" name="S10-chip66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step67"/>
          <p:cNvSpPr txBox="1"/>
          <p:nvPr/>
        </p:nvSpPr>
        <p:spPr>
          <a:xfrm>
            <a:off x="548640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물웅덩이가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</a:t>
            </a:r>
            <a:endParaRPr lang="ko-KR" sz="2200" dirty="0"/>
          </a:p>
        </p:txBody>
      </p:sp>
      <p:sp>
        <p:nvSpPr>
          <p:cNvPr id="9" name="S10-line68"/>
          <p:cNvSpPr/>
          <p:nvPr/>
        </p:nvSpPr>
        <p:spPr>
          <a:xfrm>
            <a:off x="3079242" y="430174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0-step69"/>
          <p:cNvSpPr txBox="1"/>
          <p:nvPr/>
        </p:nvSpPr>
        <p:spPr>
          <a:xfrm>
            <a:off x="3435858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내렸어요</a:t>
            </a:r>
            <a:endParaRPr lang="ko-KR" sz="2200" dirty="0"/>
          </a:p>
        </p:txBody>
      </p:sp>
      <p:sp>
        <p:nvSpPr>
          <p:cNvPr id="11" name="S10-chip70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2" name="S10-step71"/>
          <p:cNvSpPr txBox="1"/>
          <p:nvPr/>
        </p:nvSpPr>
        <p:spPr>
          <a:xfrm>
            <a:off x="6277356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내렸어요</a:t>
            </a:r>
            <a:endParaRPr lang="ko-KR" sz="2200" dirty="0"/>
          </a:p>
        </p:txBody>
      </p:sp>
      <p:sp>
        <p:nvSpPr>
          <p:cNvPr id="13" name="S10-line72"/>
          <p:cNvSpPr/>
          <p:nvPr/>
        </p:nvSpPr>
        <p:spPr>
          <a:xfrm>
            <a:off x="8807958" y="430174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0-step73"/>
          <p:cNvSpPr txBox="1"/>
          <p:nvPr/>
        </p:nvSpPr>
        <p:spPr>
          <a:xfrm>
            <a:off x="9164574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물웅덩이가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구조인가요? 원인과 결과를 화살표 상자로 정리해요.</a:t>
            </a:r>
            <a:endParaRPr lang="ko-KR" sz="2800" dirty="0"/>
          </a:p>
        </p:txBody>
      </p:sp>
      <p:sp>
        <p:nvSpPr>
          <p:cNvPr id="5" name="S11-passagebox7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맺힌 물방울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더운 여름날, 얼음물을 담은 컵 겉면에 물방울이 송골송골 맺힙니다. 컵에 구멍이 나서 물이 새어 나온 것은 아닙니다.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공기 속에는 눈에 보이지 않는 수증기가 있습니다. 이 수증기가 차가운 컵 겉면에 닿아 식으면 작은 물방울로 바뀝니다. 그래서 컵 겉면에 물방울이 생기는 것입니다.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8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9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나온 차례가 아니라 ‘왜?’로 원인을 찾아 원인 → 결과로 이어요.</a:t>
            </a:r>
            <a:endParaRPr lang="ko-KR" sz="2800" dirty="0"/>
          </a:p>
        </p:txBody>
      </p:sp>
      <p:sp>
        <p:nvSpPr>
          <p:cNvPr id="5" name="S12-chip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1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</a:t>
            </a:r>
            <a:endParaRPr lang="ko-KR" sz="2800" dirty="0"/>
          </a:p>
        </p:txBody>
      </p:sp>
      <p:sp>
        <p:nvSpPr>
          <p:cNvPr id="7" name="S12-text82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그래서, 까닭을 설명</a:t>
            </a:r>
            <a:endParaRPr lang="ko-KR" sz="2200" dirty="0"/>
          </a:p>
        </p:txBody>
      </p:sp>
      <p:sp>
        <p:nvSpPr>
          <p:cNvPr id="8" name="S12-text83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차가운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닿아 식어요</a:t>
            </a:r>
            <a:endParaRPr lang="ko-KR" sz="2200" dirty="0"/>
          </a:p>
        </p:txBody>
      </p:sp>
      <p:sp>
        <p:nvSpPr>
          <p:cNvPr id="9" name="S12-text84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ko-KR" sz="2200" dirty="0"/>
          </a:p>
        </p:txBody>
      </p:sp>
      <p:sp>
        <p:nvSpPr>
          <p:cNvPr id="10" name="S12-text85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겉면에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물방울이 맺혀요</a:t>
            </a:r>
            <a:endParaRPr lang="ko-KR" sz="2200" dirty="0"/>
          </a:p>
        </p:txBody>
      </p:sp>
      <p:sp>
        <p:nvSpPr>
          <p:cNvPr id="11" name="S12-text86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ko-KR" sz="2200" dirty="0"/>
          </a:p>
        </p:txBody>
      </p:sp>
      <p:sp>
        <p:nvSpPr>
          <p:cNvPr id="12" name="S12-chip8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8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 → 수증기</a:t>
            </a:r>
            <a:endParaRPr lang="ko-KR" sz="2800" dirty="0"/>
          </a:p>
        </p:txBody>
      </p:sp>
      <p:sp>
        <p:nvSpPr>
          <p:cNvPr id="14" name="S12-text8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결과가 거꾸로예요</a:t>
            </a:r>
            <a:endParaRPr lang="ko-KR" sz="2200" dirty="0"/>
          </a:p>
        </p:txBody>
      </p:sp>
      <p:sp>
        <p:nvSpPr>
          <p:cNvPr id="15" name="S12-text9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2800" dirty="0"/>
          </a:p>
        </p:txBody>
      </p:sp>
      <p:sp>
        <p:nvSpPr>
          <p:cNvPr id="16" name="S12-text9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차례가 아니라 까닭을 말하는 글이에요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글의 구조는?</a:t>
            </a:r>
            <a:endParaRPr lang="ko-KR" sz="4000" dirty="0"/>
          </a:p>
        </p:txBody>
      </p:sp>
      <p:sp>
        <p:nvSpPr>
          <p:cNvPr id="3" name="S13-text9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시간마다 공 하나를 두고 서로 먼저 쓰겠다고 다퉈요. 이 문제를 해결하려면 요일마다 공을 쓰는 모둠을 정해 두면 돼요.</a:t>
            </a:r>
            <a:endParaRPr lang="ko-KR" sz="2800" dirty="0"/>
          </a:p>
        </p:txBody>
      </p:sp>
      <p:sp>
        <p:nvSpPr>
          <p:cNvPr id="4" name="S13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떠올려 정리해요.</a:t>
            </a:r>
            <a:endParaRPr lang="ko-KR" sz="2800" dirty="0"/>
          </a:p>
        </p:txBody>
      </p:sp>
      <p:sp>
        <p:nvSpPr>
          <p:cNvPr id="6" name="S13-chip95"/>
          <p:cNvSpPr txBox="1"/>
          <p:nvPr/>
        </p:nvSpPr>
        <p:spPr>
          <a:xfrm>
            <a:off x="548640" y="27332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96"/>
          <p:cNvSpPr txBox="1"/>
          <p:nvPr/>
        </p:nvSpPr>
        <p:spPr>
          <a:xfrm>
            <a:off x="1344168" y="2376424"/>
            <a:ext cx="10296144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구조인가요? 무엇을 보고 알았나요?</a:t>
            </a:r>
            <a:endParaRPr lang="ko-KR" sz="2800" dirty="0"/>
          </a:p>
        </p:txBody>
      </p:sp>
      <p:sp>
        <p:nvSpPr>
          <p:cNvPr id="8" name="S13-chip97"/>
          <p:cNvSpPr txBox="1"/>
          <p:nvPr/>
        </p:nvSpPr>
        <p:spPr>
          <a:xfrm>
            <a:off x="548640" y="419684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98"/>
          <p:cNvSpPr txBox="1"/>
          <p:nvPr/>
        </p:nvSpPr>
        <p:spPr>
          <a:xfrm>
            <a:off x="1344168" y="3839972"/>
            <a:ext cx="10296144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무엇이고, 해결 방법은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말과 내용의 관계로 구조를 찾고,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틀에 정리해요.</a:t>
            </a:r>
            <a:endParaRPr lang="ko-KR" sz="2800" dirty="0"/>
          </a:p>
        </p:txBody>
      </p:sp>
      <p:sp>
        <p:nvSpPr>
          <p:cNvPr id="5" name="S14-chip10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‘왜?’로 원인 찾기</a:t>
            </a:r>
            <a:endParaRPr lang="ko-KR" sz="2200" dirty="0"/>
          </a:p>
        </p:txBody>
      </p:sp>
      <p:sp>
        <p:nvSpPr>
          <p:cNvPr id="6" name="S14-chip10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글의 차례대로만 잇기</a:t>
            </a:r>
            <a:endParaRPr lang="ko-KR" sz="2200" dirty="0"/>
          </a:p>
        </p:txBody>
      </p:sp>
      <p:sp>
        <p:nvSpPr>
          <p:cNvPr id="7" name="S14-text10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‘때문에, 그래서’가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나오는 구조는?</a:t>
            </a:r>
            <a:endParaRPr lang="ko-KR" sz="2200" dirty="0"/>
          </a:p>
        </p:txBody>
      </p:sp>
      <p:sp>
        <p:nvSpPr>
          <p:cNvPr id="9" name="S14-text10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문제와 해결 글에서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두 가지는?</a:t>
            </a:r>
            <a:endParaRPr lang="ko-KR" sz="2200" dirty="0"/>
          </a:p>
        </p:txBody>
      </p:sp>
      <p:sp>
        <p:nvSpPr>
          <p:cNvPr id="10" name="S14-text10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원인과 결과 틀의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방향은?</a:t>
            </a:r>
            <a:endParaRPr lang="ko-KR" sz="2200" dirty="0"/>
          </a:p>
        </p:txBody>
      </p:sp>
      <p:sp>
        <p:nvSpPr>
          <p:cNvPr id="11" name="S14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구조에 따라 요약하기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구조를 알려 주는 말</a:t>
            </a:r>
            <a:endParaRPr lang="ko-KR" sz="4000" dirty="0"/>
          </a:p>
        </p:txBody>
      </p:sp>
      <p:sp>
        <p:nvSpPr>
          <p:cNvPr id="3" name="S15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보이면 구조를 알 수 있어요.</a:t>
            </a:r>
            <a:endParaRPr lang="ko-KR" sz="2800" dirty="0"/>
          </a:p>
        </p:txBody>
      </p:sp>
      <p:sp>
        <p:nvSpPr>
          <p:cNvPr id="4" name="S15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말을 찾으면 어떤 틀인지 보여요.</a:t>
            </a:r>
            <a:endParaRPr lang="ko-KR" sz="2800" dirty="0"/>
          </a:p>
        </p:txBody>
      </p:sp>
      <p:sp>
        <p:nvSpPr>
          <p:cNvPr id="6" name="S15-word111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· 그다음 · 마지막으로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2800" dirty="0"/>
          </a:p>
        </p:txBody>
      </p:sp>
      <p:sp>
        <p:nvSpPr>
          <p:cNvPr id="7" name="S15-word112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· 하지만 · ~와 달리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2800" dirty="0"/>
          </a:p>
        </p:txBody>
      </p:sp>
      <p:sp>
        <p:nvSpPr>
          <p:cNvPr id="8" name="S15-word113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때문에 · 그래서 · 왜냐하면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글의 구조</dc:title>
  <dc:subject>KR22-G05-KOR-STRUCTURE-L01</dc:subject>
  <dc:creator>education-ppt</dc:creator>
  <cp:lastModifiedBy>education-ppt</cp:lastModifiedBy>
  <cp:revision>1</cp:revision>
  <dcterms:created xsi:type="dcterms:W3CDTF">2026-10-26T08:15:45Z</dcterms:created>
  <dcterms:modified xsi:type="dcterms:W3CDTF">2026-10-26T08:15:45Z</dcterms:modified>
</cp:coreProperties>
</file>