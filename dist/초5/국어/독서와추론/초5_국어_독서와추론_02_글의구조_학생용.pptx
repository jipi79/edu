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03969d3-d52e-d4d5-3213-75df3fea1f39}">
          <p14:sldIdLst>
            <p14:sldId id="256"/>
            <p14:sldId id="257"/>
          </p14:sldIdLst>
        </p14:section>
        <p14:section name="개념" id="{627798d5-c033-bc75-8e7a-f132a4a2ee74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c37e5f54-f8d5-bfbc-da29-2c0a8cca64cc}">
          <p14:sldIdLst>
            <p14:sldId id="264"/>
            <p14:sldId id="265"/>
          </p14:sldIdLst>
        </p14:section>
        <p14:section name="확인" id="{981e512d-264b-f0bb-5b4b-240421ecfaa7}">
          <p14:sldIdLst>
            <p14:sldId id="266"/>
            <p14:sldId id="267"/>
          </p14:sldIdLst>
        </p14:section>
        <p14:section name="정리" id="{52506008-f009-be18-6c2a-1756d9612dee}">
          <p14:sldIdLst>
            <p14:sldId id="268"/>
          </p14:sldIdLst>
        </p14:section>
        <p14:section name="보충" id="{580b36c1-8bc8-37a1-1be9-a5cbb615d0f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독서와추론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글의 구조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글의 구조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글의 구조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글쓴이는 내용을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틀로 엮었을까?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원인과 결과, 문제와 해결 같은 글의 구조를 알아볼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구조에 맞는 틀에 글의 내용을 정리할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말을 찾고, 어떤 짜임인지 말해요.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쌀을 씻어 물에 불려요. 그다음 솥에 안쳐 끓이고, 마지막으로 뜸을 들이면 밥이 돼요.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자전거와 킥보드는 둘 다 바퀴가 달린 탈것이에요. 하지만 자전거는 앉아서 페달을 밟고, 킥보드는 서서 발로 땅을 밀어 앞으로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 네 가지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새로 배우는 구조는 색이 다른 두 가지예요.</a:t>
            </a:r>
            <a:endParaRPr lang="ko-KR" sz="2800" dirty="0"/>
          </a:p>
        </p:txBody>
      </p:sp>
      <p:sp>
        <p:nvSpPr>
          <p:cNvPr id="5" name="S03-card1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· 그다음 · 마지막으로</a:t>
            </a:r>
            <a:endParaRPr lang="ko-KR" sz="2800" dirty="0"/>
          </a:p>
        </p:txBody>
      </p:sp>
      <p:sp>
        <p:nvSpPr>
          <p:cNvPr id="7" name="S03-card1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· 하지만 · ~와 달리</a:t>
            </a:r>
            <a:endParaRPr lang="ko-KR" sz="2800" dirty="0"/>
          </a:p>
        </p:txBody>
      </p:sp>
      <p:sp>
        <p:nvSpPr>
          <p:cNvPr id="9" name="S03-card1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생긴 까닭과 그 결과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때문에 · 그래서 · 왜냐하면</a:t>
            </a:r>
            <a:endParaRPr lang="ko-KR" sz="2800" dirty="0"/>
          </a:p>
        </p:txBody>
      </p:sp>
      <p:sp>
        <p:nvSpPr>
          <p:cNvPr id="11" name="S03-card1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1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점과 해결 방법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~하려면 · 방법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결과로 쓴 글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말을 찾고, 원인과 결과를 말해 봐요.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수도관이 터지는 까닭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추운 겨울밤, 기온이 0도 아래로 내려가면 수도관 속에 고여 있던 물이 얼 수 있습니다. 물은 얼음이 되면 부피가 늘어납니다.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관 속의 물이 얼면 늘어난 얼음이 관을 안에서 밀어냅니다. 이 때문에 수도관이 갈라지거나 터지기도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결과는 화살표 상자로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원인에서 결과 쪽으로 화살표를 이어 정리해요.</a:t>
            </a:r>
            <a:endParaRPr lang="ko-KR" sz="2800" dirty="0"/>
          </a:p>
        </p:txBody>
      </p:sp>
      <p:sp>
        <p:nvSpPr>
          <p:cNvPr id="4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‘왜?’에 답하는 것이 원인, 그래서 생긴 일이 결과예요.</a:t>
            </a:r>
            <a:endParaRPr lang="ko-KR" sz="2800" dirty="0"/>
          </a:p>
        </p:txBody>
      </p:sp>
      <p:sp>
        <p:nvSpPr>
          <p:cNvPr id="6" name="S05-step25"/>
          <p:cNvSpPr txBox="1"/>
          <p:nvPr/>
        </p:nvSpPr>
        <p:spPr>
          <a:xfrm>
            <a:off x="548640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기온이 0도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 내려가요</a:t>
            </a:r>
            <a:endParaRPr lang="ko-KR" sz="2200" dirty="0"/>
          </a:p>
        </p:txBody>
      </p:sp>
      <p:sp>
        <p:nvSpPr>
          <p:cNvPr id="7" name="S05-line26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27"/>
          <p:cNvSpPr txBox="1"/>
          <p:nvPr/>
        </p:nvSpPr>
        <p:spPr>
          <a:xfrm>
            <a:off x="3424428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수도관 속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얼어요</a:t>
            </a:r>
            <a:endParaRPr lang="ko-KR" sz="2200" dirty="0"/>
          </a:p>
        </p:txBody>
      </p:sp>
      <p:sp>
        <p:nvSpPr>
          <p:cNvPr id="9" name="S05-line28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29"/>
          <p:cNvSpPr txBox="1"/>
          <p:nvPr/>
        </p:nvSpPr>
        <p:spPr>
          <a:xfrm>
            <a:off x="6300216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되며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부피가 늘어나요</a:t>
            </a:r>
            <a:endParaRPr lang="ko-KR" sz="2200" dirty="0"/>
          </a:p>
        </p:txBody>
      </p:sp>
      <p:sp>
        <p:nvSpPr>
          <p:cNvPr id="11" name="S05-line30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5-step31"/>
          <p:cNvSpPr txBox="1"/>
          <p:nvPr/>
        </p:nvSpPr>
        <p:spPr>
          <a:xfrm>
            <a:off x="9176004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FDEBDD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수도관이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터져요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해결로 쓴 글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무엇이고, 해결 방법은 무엇인가요?</a:t>
            </a:r>
            <a:endParaRPr lang="ko-KR" sz="2800" dirty="0"/>
          </a:p>
        </p:txBody>
      </p:sp>
      <p:sp>
        <p:nvSpPr>
          <p:cNvPr id="5" name="S06-passagebox3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여름철 음식을 안전하게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여름에는 음식이 쉽게 상합니다. 날씨가 더우면 음식 속 세균이 빠르게 늘어나기 때문입니다. 상한 음식을 먹으면 배탈이 날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 문제를 막으려면 두 가지를 지켜야 합니다. 남은 음식은 뚜껑을 덮어 바로 냉장고에 넣습니다. 그리고 오래 둔 음식은 냄새와 색을 살펴보고, 이상하면 먹지 않습니다.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해결은 표로</a:t>
            </a:r>
            <a:endParaRPr lang="ko-KR" sz="4000" dirty="0"/>
          </a:p>
        </p:txBody>
      </p:sp>
      <p:sp>
        <p:nvSpPr>
          <p:cNvPr id="3" name="S07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칸을 먼저 채우고, 해결 방법을 하나씩 써요.</a:t>
            </a:r>
            <a:endParaRPr lang="ko-KR" sz="2800" dirty="0"/>
          </a:p>
        </p:txBody>
      </p:sp>
      <p:sp>
        <p:nvSpPr>
          <p:cNvPr id="4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‘어떻게 하면 될까?’에 답하는 부분이 해결 방법이에요.</a:t>
            </a:r>
            <a:endParaRPr lang="ko-KR" sz="28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21280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0467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여름에는 음식이 쉽게 상해요.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음식은 뚜껑을 덮어 냉장고에 넣어요.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냄새나 색이 이상하면 먹지 않아요.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상자와 견주는 표</a:t>
            </a:r>
            <a:endParaRPr lang="ko-KR" sz="4000" dirty="0"/>
          </a:p>
        </p:txBody>
      </p:sp>
      <p:sp>
        <p:nvSpPr>
          <p:cNvPr id="3" name="S08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읽은 두 글을 틀에 정리했어요.</a:t>
            </a:r>
            <a:endParaRPr lang="ko-KR" sz="2800" dirty="0"/>
          </a:p>
        </p:txBody>
      </p:sp>
      <p:sp>
        <p:nvSpPr>
          <p:cNvPr id="4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알면 어떤 틀에 정리할지 보여요.</a:t>
            </a:r>
            <a:endParaRPr lang="ko-KR" sz="2800" dirty="0"/>
          </a:p>
        </p:txBody>
      </p:sp>
      <p:sp>
        <p:nvSpPr>
          <p:cNvPr id="6" name="S08-step43"/>
          <p:cNvSpPr txBox="1"/>
          <p:nvPr/>
        </p:nvSpPr>
        <p:spPr>
          <a:xfrm>
            <a:off x="548640" y="2700909"/>
            <a:ext cx="1520952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 씻어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불리기</a:t>
            </a:r>
            <a:endParaRPr lang="ko-KR" sz="2200" dirty="0"/>
          </a:p>
        </p:txBody>
      </p:sp>
      <p:sp>
        <p:nvSpPr>
          <p:cNvPr id="7" name="S08-line44"/>
          <p:cNvSpPr/>
          <p:nvPr/>
        </p:nvSpPr>
        <p:spPr>
          <a:xfrm>
            <a:off x="2124456" y="3340989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45"/>
          <p:cNvSpPr txBox="1"/>
          <p:nvPr/>
        </p:nvSpPr>
        <p:spPr>
          <a:xfrm>
            <a:off x="2481072" y="2700909"/>
            <a:ext cx="1520952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솥에 안쳐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끓이기</a:t>
            </a:r>
            <a:endParaRPr lang="ko-KR" sz="2200" dirty="0"/>
          </a:p>
        </p:txBody>
      </p:sp>
      <p:sp>
        <p:nvSpPr>
          <p:cNvPr id="9" name="S08-line46"/>
          <p:cNvSpPr/>
          <p:nvPr/>
        </p:nvSpPr>
        <p:spPr>
          <a:xfrm>
            <a:off x="4056888" y="3340989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47"/>
          <p:cNvSpPr txBox="1"/>
          <p:nvPr/>
        </p:nvSpPr>
        <p:spPr>
          <a:xfrm>
            <a:off x="4413504" y="2700909"/>
            <a:ext cx="1520952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뜸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들이기</a:t>
            </a:r>
            <a:endParaRPr lang="ko-KR" sz="2200" dirty="0"/>
          </a:p>
        </p:txBody>
      </p:sp>
      <p:sp>
        <p:nvSpPr>
          <p:cNvPr id="11" name="S08-label48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순서: 밥 짓기</a:t>
            </a:r>
            <a:endParaRPr lang="ko-KR" sz="2200" dirty="0"/>
          </a:p>
        </p:txBody>
      </p:sp>
      <p:graphicFrame>
        <p:nvGraphicFramePr>
          <p:cNvPr id="9" name="S08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5644" y="2474849"/>
          <a:ext cx="5303520" cy="914400"/>
        </p:xfrm>
        <a:graphic>
          <a:graphicData uri="http://schemas.openxmlformats.org/drawingml/2006/table">
            <a:tbl>
              <a:tblPr/>
              <a:tblGrid>
                <a:gridCol w="1803197"/>
                <a:gridCol w="1591056"/>
                <a:gridCol w="1909267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견줄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킥보드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타는 자세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앉아서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가는 방법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페달 밟기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발로 땅 밀기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08-label50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대조: 자전거와 킥보드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구조일까요?</a:t>
            </a:r>
            <a:endParaRPr lang="ko-KR" sz="4000" dirty="0"/>
          </a:p>
        </p:txBody>
      </p:sp>
      <p:sp>
        <p:nvSpPr>
          <p:cNvPr id="3" name="S09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말에 ○ 하고, 어떤 구조인지 말해요.</a:t>
            </a:r>
            <a:endParaRPr lang="ko-KR" sz="2800" dirty="0"/>
          </a:p>
        </p:txBody>
      </p:sp>
      <p:sp>
        <p:nvSpPr>
          <p:cNvPr id="4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‘앞의 일 때문에 뒤의 일이 생겼나?’를 물어봐요.</a:t>
            </a:r>
            <a:endParaRPr lang="ko-KR" sz="2800" dirty="0"/>
          </a:p>
        </p:txBody>
      </p:sp>
      <p:sp>
        <p:nvSpPr>
          <p:cNvPr id="6" name="S09-chip5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밤새 눈이 많이 내렸어요. 그래서 아침에 길이 미끄러워 넘어지는 사람이 많았어요.</a:t>
            </a:r>
            <a:endParaRPr lang="ko-KR" sz="2800" dirty="0"/>
          </a:p>
        </p:txBody>
      </p:sp>
      <p:sp>
        <p:nvSpPr>
          <p:cNvPr id="8" name="S09-chip5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교실이 늘 지저분해요.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문제를 해결하려면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당번을 정해요.</a:t>
            </a:r>
            <a:endParaRPr lang="ko-KR" sz="2800" dirty="0"/>
          </a:p>
        </p:txBody>
      </p:sp>
      <p:sp>
        <p:nvSpPr>
          <p:cNvPr id="10" name="S09-chip5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화분에 흙을 담아요. 그다음 씨앗을 심고, 마지막으로 물을 줘요.</a:t>
            </a:r>
            <a:endParaRPr lang="ko-KR" sz="2800" dirty="0"/>
          </a:p>
        </p:txBody>
      </p:sp>
      <p:sp>
        <p:nvSpPr>
          <p:cNvPr id="12" name="S09-chip6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text6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개구리와 두꺼비는 둘 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 알을 낳아요.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피부는 서로 달라요.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화살표를 바르게 이은 쪽은?</a:t>
            </a:r>
            <a:endParaRPr lang="ko-KR" sz="4000" dirty="0"/>
          </a:p>
        </p:txBody>
      </p:sp>
      <p:sp>
        <p:nvSpPr>
          <p:cNvPr id="3" name="S10-card6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이 글을 정리했어요.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‘물웅덩이가 생겼어요. 비가 많이 내렸기 때문이에요.’</a:t>
            </a:r>
            <a:endParaRPr lang="ko-KR" sz="2800" dirty="0"/>
          </a:p>
        </p:txBody>
      </p:sp>
      <p:sp>
        <p:nvSpPr>
          <p:cNvPr id="5" name="S10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원인과 결과를 바르게 이었나요? 왜 그럴까요?</a:t>
            </a:r>
            <a:endParaRPr lang="ko-KR" sz="2800" dirty="0"/>
          </a:p>
        </p:txBody>
      </p:sp>
      <p:sp>
        <p:nvSpPr>
          <p:cNvPr id="7" name="S10-chip66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0-step67"/>
          <p:cNvSpPr txBox="1"/>
          <p:nvPr/>
        </p:nvSpPr>
        <p:spPr>
          <a:xfrm>
            <a:off x="548640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물웅덩이가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</a:t>
            </a:r>
            <a:endParaRPr lang="ko-KR" sz="2200" dirty="0"/>
          </a:p>
        </p:txBody>
      </p:sp>
      <p:sp>
        <p:nvSpPr>
          <p:cNvPr id="9" name="S10-line68"/>
          <p:cNvSpPr/>
          <p:nvPr/>
        </p:nvSpPr>
        <p:spPr>
          <a:xfrm>
            <a:off x="3079242" y="430174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0-step69"/>
          <p:cNvSpPr txBox="1"/>
          <p:nvPr/>
        </p:nvSpPr>
        <p:spPr>
          <a:xfrm>
            <a:off x="3435858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내렸어요</a:t>
            </a:r>
            <a:endParaRPr lang="ko-KR" sz="2200" dirty="0"/>
          </a:p>
        </p:txBody>
      </p:sp>
      <p:sp>
        <p:nvSpPr>
          <p:cNvPr id="11" name="S10-chip70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2" name="S10-step71"/>
          <p:cNvSpPr txBox="1"/>
          <p:nvPr/>
        </p:nvSpPr>
        <p:spPr>
          <a:xfrm>
            <a:off x="6277356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내렸어요</a:t>
            </a:r>
            <a:endParaRPr lang="ko-KR" sz="2200" dirty="0"/>
          </a:p>
        </p:txBody>
      </p:sp>
      <p:sp>
        <p:nvSpPr>
          <p:cNvPr id="13" name="S10-line72"/>
          <p:cNvSpPr/>
          <p:nvPr/>
        </p:nvSpPr>
        <p:spPr>
          <a:xfrm>
            <a:off x="8807958" y="430174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0-step73"/>
          <p:cNvSpPr txBox="1"/>
          <p:nvPr/>
        </p:nvSpPr>
        <p:spPr>
          <a:xfrm>
            <a:off x="9164574" y="3661664"/>
            <a:ext cx="2475738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물웅덩이가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구조인가요? 원인과 결과를 화살표 상자로 정리해요.</a:t>
            </a:r>
            <a:endParaRPr lang="ko-KR" sz="2800" dirty="0"/>
          </a:p>
        </p:txBody>
      </p:sp>
      <p:sp>
        <p:nvSpPr>
          <p:cNvPr id="5" name="S11-passagebox7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맺힌 물방울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더운 여름날, 얼음물을 담은 컵 겉면에 물방울이 송골송골 맺힙니다. 컵에 구멍이 나서 물이 새어 나온 것은 아닙니다.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공기 속에는 눈에 보이지 않는 수증기가 있습니다. 이 수증기가 차가운 컵 겉면에 닿아 식으면 작은 물방울로 바뀝니다. 그래서 컵 겉면에 물방울이 생기는 것입니다.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글의 구조는?</a:t>
            </a:r>
            <a:endParaRPr lang="ko-KR" sz="4000" dirty="0"/>
          </a:p>
        </p:txBody>
      </p:sp>
      <p:sp>
        <p:nvSpPr>
          <p:cNvPr id="3" name="S13-text78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시간마다 공 하나를 두고 서로 먼저 쓰겠다고 다퉈요. 이 문제를 해결하려면 요일마다 공을 쓰는 모둠을 정해 두면 돼요.</a:t>
            </a:r>
            <a:endParaRPr lang="ko-KR" sz="2800" dirty="0"/>
          </a:p>
        </p:txBody>
      </p:sp>
      <p:sp>
        <p:nvSpPr>
          <p:cNvPr id="4" name="S13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떠올려 정리해요.</a:t>
            </a:r>
            <a:endParaRPr lang="ko-KR" sz="2800" dirty="0"/>
          </a:p>
        </p:txBody>
      </p:sp>
      <p:sp>
        <p:nvSpPr>
          <p:cNvPr id="6" name="S13-chip81"/>
          <p:cNvSpPr txBox="1"/>
          <p:nvPr/>
        </p:nvSpPr>
        <p:spPr>
          <a:xfrm>
            <a:off x="548640" y="27332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82"/>
          <p:cNvSpPr txBox="1"/>
          <p:nvPr/>
        </p:nvSpPr>
        <p:spPr>
          <a:xfrm>
            <a:off x="1344168" y="2376424"/>
            <a:ext cx="10296144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구조인가요? 무엇을 보고 알았나요?</a:t>
            </a:r>
            <a:endParaRPr lang="ko-KR" sz="2800" dirty="0"/>
          </a:p>
        </p:txBody>
      </p:sp>
      <p:sp>
        <p:nvSpPr>
          <p:cNvPr id="8" name="S13-chip83"/>
          <p:cNvSpPr txBox="1"/>
          <p:nvPr/>
        </p:nvSpPr>
        <p:spPr>
          <a:xfrm>
            <a:off x="548640" y="419684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84"/>
          <p:cNvSpPr txBox="1"/>
          <p:nvPr/>
        </p:nvSpPr>
        <p:spPr>
          <a:xfrm>
            <a:off x="1344168" y="3839972"/>
            <a:ext cx="10296144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무엇이고, 해결 방법은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말과 내용의 관계로 구조를 찾고,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틀에 정리해요.</a:t>
            </a:r>
            <a:endParaRPr lang="ko-KR" sz="2800" dirty="0"/>
          </a:p>
        </p:txBody>
      </p:sp>
      <p:sp>
        <p:nvSpPr>
          <p:cNvPr id="5" name="S14-chip8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‘왜?’로 원인 찾기</a:t>
            </a:r>
            <a:endParaRPr lang="ko-KR" sz="2200" dirty="0"/>
          </a:p>
        </p:txBody>
      </p:sp>
      <p:sp>
        <p:nvSpPr>
          <p:cNvPr id="6" name="S14-chip8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글의 차례대로만 잇기</a:t>
            </a:r>
            <a:endParaRPr lang="ko-KR" sz="2200" dirty="0"/>
          </a:p>
        </p:txBody>
      </p:sp>
      <p:sp>
        <p:nvSpPr>
          <p:cNvPr id="7" name="S14-text8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‘때문에, 그래서’가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나오는 구조는?</a:t>
            </a:r>
            <a:endParaRPr lang="ko-KR" sz="2200" dirty="0"/>
          </a:p>
        </p:txBody>
      </p:sp>
      <p:sp>
        <p:nvSpPr>
          <p:cNvPr id="9" name="S14-text9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문제와 해결 글에서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두 가지는?</a:t>
            </a:r>
            <a:endParaRPr lang="ko-KR" sz="2200" dirty="0"/>
          </a:p>
        </p:txBody>
      </p:sp>
      <p:sp>
        <p:nvSpPr>
          <p:cNvPr id="10" name="S14-text9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원인과 결과 틀의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방향은?</a:t>
            </a:r>
            <a:endParaRPr lang="ko-KR" sz="2200" dirty="0"/>
          </a:p>
        </p:txBody>
      </p:sp>
      <p:sp>
        <p:nvSpPr>
          <p:cNvPr id="11" name="S14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구조에 따라 요약하기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구조를 알려 주는 말</a:t>
            </a:r>
            <a:endParaRPr lang="ko-KR" sz="4000" dirty="0"/>
          </a:p>
        </p:txBody>
      </p:sp>
      <p:sp>
        <p:nvSpPr>
          <p:cNvPr id="3" name="S15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말이 보이면 구조를 알 수 있어요.</a:t>
            </a:r>
            <a:endParaRPr lang="ko-KR" sz="2800" dirty="0"/>
          </a:p>
        </p:txBody>
      </p:sp>
      <p:sp>
        <p:nvSpPr>
          <p:cNvPr id="4" name="S15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말을 찾으면 어떤 틀인지 보여요.</a:t>
            </a:r>
            <a:endParaRPr lang="ko-KR" sz="2800" dirty="0"/>
          </a:p>
        </p:txBody>
      </p:sp>
      <p:sp>
        <p:nvSpPr>
          <p:cNvPr id="6" name="S15-word97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· 그다음 · 마지막으로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2800" dirty="0"/>
          </a:p>
        </p:txBody>
      </p:sp>
      <p:sp>
        <p:nvSpPr>
          <p:cNvPr id="7" name="S15-word98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· 하지만 · ~와 달리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2800" dirty="0"/>
          </a:p>
        </p:txBody>
      </p:sp>
      <p:sp>
        <p:nvSpPr>
          <p:cNvPr id="8" name="S15-word99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 때문에 · 그래서 · 왜냐하면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글의 구조</dc:title>
  <dc:subject>KR22-G05-KOR-STRUCTURE-L01</dc:subject>
  <dc:creator>education-ppt</dc:creator>
  <cp:lastModifiedBy>education-ppt</cp:lastModifiedBy>
  <cp:revision>1</cp:revision>
  <dcterms:created xsi:type="dcterms:W3CDTF">2026-10-26T08:15:45Z</dcterms:created>
  <dcterms:modified xsi:type="dcterms:W3CDTF">2026-10-26T08:15:45Z</dcterms:modified>
</cp:coreProperties>
</file>