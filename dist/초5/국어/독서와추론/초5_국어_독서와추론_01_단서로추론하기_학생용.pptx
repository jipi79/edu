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9f478e3-0ce4-7bde-7794-cc1fa0e1f8d1}">
          <p14:sldIdLst>
            <p14:sldId id="256"/>
            <p14:sldId id="257"/>
          </p14:sldIdLst>
        </p14:section>
        <p14:section name="개념" id="{aaab6453-bcb4-0990-9a2c-0d36273f421f}">
          <p14:sldIdLst>
            <p14:sldId id="258"/>
            <p14:sldId id="259"/>
            <p14:sldId id="260"/>
            <p14:sldId id="261"/>
          </p14:sldIdLst>
        </p14:section>
        <p14:section name="연습" id="{e3e5263b-ff42-6bed-f2c3-87cb4bbf126a}">
          <p14:sldIdLst>
            <p14:sldId id="262"/>
            <p14:sldId id="263"/>
            <p14:sldId id="264"/>
          </p14:sldIdLst>
        </p14:section>
        <p14:section name="확인" id="{0637fa0d-1ba7-a9ec-6f48-74eae89331a5}">
          <p14:sldIdLst>
            <p14:sldId id="265"/>
            <p14:sldId id="266"/>
          </p14:sldIdLst>
        </p14:section>
        <p14:section name="정리" id="{cc308fe2-33af-9205-1987-e3730b8159ed}">
          <p14:sldIdLst>
            <p14:sldId id="267"/>
          </p14:sldIdLst>
        </p14:section>
        <p14:section name="보충" id="{4766cbd0-a379-58a5-0770-c35d0051003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독서와추론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단서로 추론하기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단서로 추론하기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단서로 추론하기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단서로 추론하기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쓰여 있지 않은 것을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알아낼까?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단서와 내가 아는 것으로 글에 없는 내용을 추론할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추론이 알맞은지 단서로 따질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내용을 간추려 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문단의 중심 내용을 한두 문장으로 간추려 말해요.</a:t>
            </a:r>
            <a:endParaRPr lang="ko-KR" sz="28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꿀벌이 하는 일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꿀벌은 꽃에서 꿀과 꽃가루를 모읍니다. 모은 꿀은 벌집에 저장해 두었다가 먹이로 씁니다.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꿀벌은 꽃가루를 옮기는 일도 합니다. 꽃 사이를 날아다니는 동안 몸에 묻은 꽃가루가 다른 꽃으로 옮겨져 열매가 맺히는 것을 돕습니다.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추론은 이렇게 해요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추론: 글에 쓰여 있지 않은 내용을 알아내기</a:t>
            </a:r>
            <a:endParaRPr lang="ko-KR" sz="28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 + 배경지식 → 추론</a:t>
            </a:r>
            <a:endParaRPr lang="ko-KR" sz="28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쓰여 있는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낱말과 문장</a:t>
            </a:r>
            <a:endParaRPr lang="ko-KR" sz="28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배경지식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있는 것</a:t>
            </a:r>
            <a:endParaRPr lang="ko-KR" sz="28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이어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쓰여 있지 않은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내용을 짐작하기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‘민재의 아침’ 추론하기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 언제일까요? 민재에게 무슨 일이 생겼을까요?</a:t>
            </a:r>
            <a:endParaRPr lang="ko-KR" sz="2800" dirty="0"/>
          </a:p>
        </p:txBody>
      </p:sp>
      <p:sp>
        <p:nvSpPr>
          <p:cNvPr id="5" name="S04-passagebox1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민재의 아침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민재가 현관문을 열자 차가운 바람이 훅 들어왔습니다. 민재는 목도리를 두 번 감고 장갑을 꼈습니다. 길가의 나뭇가지에는 잎이 하나도 없었고, 숨을 내쉴 때마다 하얀 입김이 나왔습니다.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학교 앞에 다다른 민재는 가방을 열어 보더니 얼굴이 하얘졌습니다. 어젯밤 책상 위에 펼쳐 둔 숙제 공책이 떠올랐습니다.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단서와 배경지식을 표로</a:t>
            </a:r>
            <a:endParaRPr lang="ko-KR" sz="4000" dirty="0"/>
          </a:p>
        </p:txBody>
      </p:sp>
      <p:sp>
        <p:nvSpPr>
          <p:cNvPr id="3" name="S05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‘민재의 아침’에서 추론한 것을 표에 정리했어요.</a:t>
            </a:r>
            <a:endParaRPr lang="ko-KR" sz="2800" dirty="0"/>
          </a:p>
        </p:txBody>
      </p:sp>
      <p:sp>
        <p:nvSpPr>
          <p:cNvPr id="4" name="S05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추론을 말할 때는 단서와 배경지식을 함께 말해요.</a:t>
            </a:r>
            <a:endParaRPr lang="ko-KR" sz="2800" dirty="0"/>
          </a:p>
        </p:txBody>
      </p:sp>
      <p:graphicFrame>
        <p:nvGraphicFramePr>
          <p:cNvPr id="6" name="S05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916555"/>
          <a:ext cx="10972800" cy="914400"/>
        </p:xfrm>
        <a:graphic>
          <a:graphicData uri="http://schemas.openxmlformats.org/drawingml/2006/table">
            <a:tbl>
              <a:tblPr/>
              <a:tblGrid>
                <a:gridCol w="3730752"/>
                <a:gridCol w="3621024"/>
                <a:gridCol w="3621024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단서(글에서)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배경지식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목도리, 장갑, 하얀 입김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겨울엔 춥고 입김이 보여요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계절은 겨울이에요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가방을 열고 얼굴이 하얘짐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놀라면 얼굴이 하얘져요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공책을 두고 와 당황했어요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추론하는 순서</a:t>
            </a:r>
            <a:endParaRPr lang="ko-KR" sz="4000" dirty="0"/>
          </a:p>
        </p:txBody>
      </p:sp>
      <p:sp>
        <p:nvSpPr>
          <p:cNvPr id="3" name="S06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추론한 뒤에는 글을 다시 읽고 단서와 맞는지 확인해요.</a:t>
            </a:r>
            <a:endParaRPr lang="ko-KR" sz="2800" dirty="0"/>
          </a:p>
        </p:txBody>
      </p:sp>
      <p:sp>
        <p:nvSpPr>
          <p:cNvPr id="5" name="S06-stepno2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6-text27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알아낼지 정해요. (언제? 어디? 왜? 마음은?)</a:t>
            </a:r>
            <a:endParaRPr lang="ko-KR" sz="2800" dirty="0"/>
          </a:p>
        </p:txBody>
      </p:sp>
      <p:sp>
        <p:nvSpPr>
          <p:cNvPr id="7" name="S06-stepno2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6-text29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글에서 단서를 찾아 밑줄을 그어요.</a:t>
            </a:r>
            <a:endParaRPr lang="ko-KR" sz="2800" dirty="0"/>
          </a:p>
        </p:txBody>
      </p:sp>
      <p:sp>
        <p:nvSpPr>
          <p:cNvPr id="9" name="S06-stepno3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6-text31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단서와 관련해 내가 아는 것을 떠올려요.</a:t>
            </a:r>
            <a:endParaRPr lang="ko-KR" sz="2800" dirty="0"/>
          </a:p>
        </p:txBody>
      </p:sp>
      <p:sp>
        <p:nvSpPr>
          <p:cNvPr id="11" name="S06-stepno3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6-text33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‘~을 보니, ~이니까, ~인 것 같아요.’로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‘할머니 댁에 간 날’ 함께 읽기</a:t>
            </a:r>
            <a:endParaRPr lang="ko-KR" sz="4000" dirty="0"/>
          </a:p>
        </p:txBody>
      </p:sp>
      <p:sp>
        <p:nvSpPr>
          <p:cNvPr id="3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댁은 어디에 있을까요? 단서를 함께 말해요.</a:t>
            </a:r>
            <a:endParaRPr lang="ko-KR" sz="2800" dirty="0"/>
          </a:p>
        </p:txBody>
      </p:sp>
      <p:sp>
        <p:nvSpPr>
          <p:cNvPr id="5" name="S07-passagebox3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3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댁에 간 날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버스에서 내리자 짭짤한 냄새가 바람에 실려 왔습니다. 멀리서 쏴아 하는 소리가 끝없이 들리고, 하얀 새들이 끼룩끼룩 울며 하늘을 빙빙 돌았습니다.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지우는 운동화와 양말을 벗어 손에 들었습니다. 그러고는 뜨거운 모래 위를 깡충깡충 뛰어 물가로 달려갔습니다.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알맞게 추론했을까?</a:t>
            </a:r>
            <a:endParaRPr lang="ko-KR" sz="4000" dirty="0"/>
          </a:p>
        </p:txBody>
      </p:sp>
      <p:sp>
        <p:nvSpPr>
          <p:cNvPr id="3" name="S08-card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‘할머니 댁은 어디에 있을까?’에 두 친구가 이렇게 답했어요.</a:t>
            </a:r>
            <a:endParaRPr lang="ko-KR" sz="2800" dirty="0"/>
          </a:p>
        </p:txBody>
      </p:sp>
      <p:sp>
        <p:nvSpPr>
          <p:cNvPr id="5" name="S08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알맞게 추론했나요? 왜 그럴까요?</a:t>
            </a:r>
            <a:endParaRPr lang="ko-KR" sz="2800" dirty="0"/>
          </a:p>
        </p:txBody>
      </p:sp>
      <p:sp>
        <p:nvSpPr>
          <p:cNvPr id="7" name="S08-chip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 있어요. 짭짤한 냄새와 파도 소리, 모래가 단서예요.</a:t>
            </a:r>
            <a:endParaRPr lang="ko-KR" sz="2800" dirty="0"/>
          </a:p>
        </p:txBody>
      </p:sp>
      <p:sp>
        <p:nvSpPr>
          <p:cNvPr id="9" name="S08-chip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놀이공원 옆에 있어요. 저라면 놀이공원에 가고 싶으니까요.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왜 운동화를 벗었을까?</a:t>
            </a:r>
            <a:endParaRPr lang="ko-KR" sz="4000" dirty="0"/>
          </a:p>
        </p:txBody>
      </p:sp>
      <p:sp>
        <p:nvSpPr>
          <p:cNvPr id="3" name="S09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친구가 지우가 운동화를 벗은 까닭을 추론했어요.</a:t>
            </a:r>
            <a:endParaRPr lang="ko-KR" sz="2800" dirty="0"/>
          </a:p>
        </p:txBody>
      </p:sp>
      <p:sp>
        <p:nvSpPr>
          <p:cNvPr id="4" name="S09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단서가 있나요? 단서와 맞나요?</a:t>
            </a:r>
            <a:endParaRPr lang="ko-KR" sz="2800" dirty="0"/>
          </a:p>
        </p:txBody>
      </p:sp>
      <p:sp>
        <p:nvSpPr>
          <p:cNvPr id="6" name="S09-chip4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모래가 신발에 들어가지 않게 하려고요.</a:t>
            </a:r>
            <a:endParaRPr lang="ko-KR" sz="2800" dirty="0"/>
          </a:p>
        </p:txBody>
      </p:sp>
      <p:sp>
        <p:nvSpPr>
          <p:cNvPr id="8" name="S09-chip5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물가에서 발을 담그고 놀고 싶어서요.</a:t>
            </a:r>
            <a:endParaRPr lang="ko-KR" sz="2800" dirty="0"/>
          </a:p>
        </p:txBody>
      </p:sp>
      <p:sp>
        <p:nvSpPr>
          <p:cNvPr id="10" name="S09-chip5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5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운동화가 작아서 발이 아팠기 때문이에요.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서윤이에게 어떤 날일까요? 서윤이의 마음은 어떨까요?</a:t>
            </a:r>
            <a:endParaRPr lang="ko-KR" sz="2800" dirty="0"/>
          </a:p>
        </p:txBody>
      </p:sp>
      <p:sp>
        <p:nvSpPr>
          <p:cNvPr id="5" name="S10-passagebox5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서윤이의 아침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서윤이가 교실 문을 열자 칠판에 ‘축하해, 서윤아!’라는 글씨가 크게 쓰여 있었습니다. 서윤이의 책상 위에는 리본을 묶은 작은 상자가 놓여 있었습니다.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친구들이 손뼉을 치며 노래를 부르기 시작했습니다. 서윤이는 양손으로 입을 가리고 눈을 동그랗게 떴습니다.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추론을 모두 골라요</a:t>
            </a:r>
            <a:endParaRPr lang="ko-KR" sz="4000" dirty="0"/>
          </a:p>
        </p:txBody>
      </p:sp>
      <p:sp>
        <p:nvSpPr>
          <p:cNvPr id="3" name="S12-text59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삼촌이 땀을 닦으며 현관으로 들어왔습니다.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손에는 흙이 묻은 장갑과 빈 물병이 들려 있었습니다.</a:t>
            </a:r>
            <a:endParaRPr lang="ko-KR" sz="2800" dirty="0"/>
          </a:p>
        </p:txBody>
      </p:sp>
      <p:sp>
        <p:nvSpPr>
          <p:cNvPr id="4" name="S12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추론마다 단서를 말해요.</a:t>
            </a:r>
            <a:endParaRPr lang="ko-KR" sz="2800" dirty="0"/>
          </a:p>
        </p:txBody>
      </p:sp>
      <p:sp>
        <p:nvSpPr>
          <p:cNvPr id="6" name="S12-chip62"/>
          <p:cNvSpPr txBox="1"/>
          <p:nvPr/>
        </p:nvSpPr>
        <p:spPr>
          <a:xfrm>
            <a:off x="548640" y="27332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2-text63"/>
          <p:cNvSpPr txBox="1"/>
          <p:nvPr/>
        </p:nvSpPr>
        <p:spPr>
          <a:xfrm>
            <a:off x="1344168" y="2376424"/>
            <a:ext cx="4567428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삼촌은 밖에서 힘든 일을 했어요.</a:t>
            </a:r>
            <a:endParaRPr lang="ko-KR" sz="2800" dirty="0"/>
          </a:p>
        </p:txBody>
      </p:sp>
      <p:sp>
        <p:nvSpPr>
          <p:cNvPr id="8" name="S12-chip64"/>
          <p:cNvSpPr txBox="1"/>
          <p:nvPr/>
        </p:nvSpPr>
        <p:spPr>
          <a:xfrm>
            <a:off x="6277356" y="27332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2-text65"/>
          <p:cNvSpPr txBox="1"/>
          <p:nvPr/>
        </p:nvSpPr>
        <p:spPr>
          <a:xfrm>
            <a:off x="7072884" y="2376424"/>
            <a:ext cx="4567428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삼촌은 흙을 만지는 일을 했어요.</a:t>
            </a:r>
            <a:endParaRPr lang="ko-KR" sz="2800" dirty="0"/>
          </a:p>
        </p:txBody>
      </p:sp>
      <p:sp>
        <p:nvSpPr>
          <p:cNvPr id="10" name="S12-chip66"/>
          <p:cNvSpPr txBox="1"/>
          <p:nvPr/>
        </p:nvSpPr>
        <p:spPr>
          <a:xfrm>
            <a:off x="548640" y="419684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2-text67"/>
          <p:cNvSpPr txBox="1"/>
          <p:nvPr/>
        </p:nvSpPr>
        <p:spPr>
          <a:xfrm>
            <a:off x="1344168" y="3839972"/>
            <a:ext cx="4567428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삼촌은 물병의 물을 다 마셨어요.</a:t>
            </a:r>
            <a:endParaRPr lang="ko-KR" sz="2800" dirty="0"/>
          </a:p>
        </p:txBody>
      </p:sp>
      <p:sp>
        <p:nvSpPr>
          <p:cNvPr id="12" name="S12-chip68"/>
          <p:cNvSpPr txBox="1"/>
          <p:nvPr/>
        </p:nvSpPr>
        <p:spPr>
          <a:xfrm>
            <a:off x="6277356" y="419684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2-text69"/>
          <p:cNvSpPr txBox="1"/>
          <p:nvPr/>
        </p:nvSpPr>
        <p:spPr>
          <a:xfrm>
            <a:off x="7072884" y="3839972"/>
            <a:ext cx="4567428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삼촌은 영화관에 다녀왔어요.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단서와 내가 아는 것을 이어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쓰여 있지 않은 내용을 추론해요.</a:t>
            </a:r>
            <a:endParaRPr lang="ko-KR" sz="2800" dirty="0"/>
          </a:p>
        </p:txBody>
      </p:sp>
      <p:sp>
        <p:nvSpPr>
          <p:cNvPr id="5" name="S13-chip7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단서를 함께 말하기</a:t>
            </a:r>
            <a:endParaRPr lang="ko-KR" sz="2200" dirty="0"/>
          </a:p>
        </p:txBody>
      </p:sp>
      <p:sp>
        <p:nvSpPr>
          <p:cNvPr id="6" name="S13-chip7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단서 없이 상상하기</a:t>
            </a:r>
            <a:endParaRPr lang="ko-KR" sz="2200" dirty="0"/>
          </a:p>
        </p:txBody>
      </p:sp>
      <p:sp>
        <p:nvSpPr>
          <p:cNvPr id="7" name="S13-text7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7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추론할 때 쓰는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200" dirty="0"/>
          </a:p>
        </p:txBody>
      </p:sp>
      <p:sp>
        <p:nvSpPr>
          <p:cNvPr id="9" name="S13-text7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알맞은 추론인지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따지는 두 질문은?</a:t>
            </a:r>
            <a:endParaRPr lang="ko-KR" sz="2200" dirty="0"/>
          </a:p>
        </p:txBody>
      </p:sp>
      <p:sp>
        <p:nvSpPr>
          <p:cNvPr id="10" name="S13-text7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젖은 우산으로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추론할 수 있는 것은?</a:t>
            </a:r>
            <a:endParaRPr lang="ko-KR" sz="2200" dirty="0"/>
          </a:p>
        </p:txBody>
      </p:sp>
      <p:sp>
        <p:nvSpPr>
          <p:cNvPr id="11" name="S13-text7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글의 구조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중심 문장 찾기</a:t>
            </a:r>
            <a:endParaRPr lang="ko-KR" sz="4000" dirty="0"/>
          </a:p>
        </p:txBody>
      </p:sp>
      <p:sp>
        <p:nvSpPr>
          <p:cNvPr id="3" name="S14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문장을 모두 묶는 문장은 어느 것일까요?</a:t>
            </a:r>
            <a:endParaRPr lang="ko-KR" sz="2800" dirty="0"/>
          </a:p>
        </p:txBody>
      </p:sp>
      <p:sp>
        <p:nvSpPr>
          <p:cNvPr id="4" name="S14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문장을 묶는 문장이 중심 내용, 나머지는 자세한 예예요.</a:t>
            </a:r>
            <a:endParaRPr lang="ko-KR" sz="2800" dirty="0"/>
          </a:p>
        </p:txBody>
      </p:sp>
      <p:sp>
        <p:nvSpPr>
          <p:cNvPr id="6" name="S14-word82"/>
          <p:cNvSpPr txBox="1"/>
          <p:nvPr/>
        </p:nvSpPr>
        <p:spPr>
          <a:xfrm>
            <a:off x="548640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떡집에서는 갓 찐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떡을 팔아요.</a:t>
            </a:r>
            <a:endParaRPr lang="ko-KR" sz="3200" dirty="0"/>
          </a:p>
        </p:txBody>
      </p:sp>
      <p:sp>
        <p:nvSpPr>
          <p:cNvPr id="7" name="S14-word83"/>
          <p:cNvSpPr txBox="1"/>
          <p:nvPr/>
        </p:nvSpPr>
        <p:spPr>
          <a:xfrm>
            <a:off x="6231636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시장에는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먹을거리가 많아요.</a:t>
            </a:r>
            <a:endParaRPr lang="ko-KR" sz="3200" dirty="0"/>
          </a:p>
        </p:txBody>
      </p:sp>
      <p:sp>
        <p:nvSpPr>
          <p:cNvPr id="8" name="S14-word84"/>
          <p:cNvSpPr txBox="1"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생선 가게에는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고등어가 가득해요.</a:t>
            </a:r>
            <a:endParaRPr lang="ko-KR" sz="3200" dirty="0"/>
          </a:p>
        </p:txBody>
      </p:sp>
      <p:sp>
        <p:nvSpPr>
          <p:cNvPr id="9" name="S14-word85"/>
          <p:cNvSpPr txBox="1"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 가게에는 사과와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배가 쌓여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단서로 추론하기</dc:title>
  <dc:subject>KR22-G05-KOR-INFER-L01</dc:subject>
  <dc:creator>education-ppt</dc:creator>
  <cp:lastModifiedBy>education-ppt</cp:lastModifiedBy>
  <cp:revision>1</cp:revision>
  <dcterms:created xsi:type="dcterms:W3CDTF">2026-10-26T08:10:23Z</dcterms:created>
  <dcterms:modified xsi:type="dcterms:W3CDTF">2026-10-26T08:10:23Z</dcterms:modified>
</cp:coreProperties>
</file>