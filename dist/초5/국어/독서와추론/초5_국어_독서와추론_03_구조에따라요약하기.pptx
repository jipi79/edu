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6ce2321-3dd1-af56-c59e-82bb1ae593c8}">
          <p14:sldIdLst>
            <p14:sldId id="256"/>
            <p14:sldId id="257"/>
          </p14:sldIdLst>
        </p14:section>
        <p14:section name="개념" id="{5f4c1c38-be83-3f23-7624-1c1f1198766a}">
          <p14:sldIdLst>
            <p14:sldId id="258"/>
            <p14:sldId id="259"/>
            <p14:sldId id="260"/>
            <p14:sldId id="261"/>
          </p14:sldIdLst>
        </p14:section>
        <p14:section name="연습" id="{b91ce863-dbe0-7a65-d25c-a2fa171bfaaf}">
          <p14:sldIdLst>
            <p14:sldId id="262"/>
            <p14:sldId id="263"/>
            <p14:sldId id="264"/>
          </p14:sldIdLst>
        </p14:section>
        <p14:section name="확인" id="{48bc79e1-44b8-e437-cc82-35db7a0e6ba9}">
          <p14:sldIdLst>
            <p14:sldId id="265"/>
            <p14:sldId id="266"/>
            <p14:sldId id="267"/>
          </p14:sldIdLst>
        </p14:section>
        <p14:section name="정리" id="{e4e78e67-4e5c-ae6f-e595-0d03ec3efe44}">
          <p14:sldIdLst>
            <p14:sldId id="268"/>
          </p14:sldIdLst>
        </p14:section>
        <p14:section name="보충" id="{ea1c78a3-a491-399b-e34e-22cae99779f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구조가 요약의 뼈대가 된다는 것을 생각하게 합니다.
시간: 약 2분
이렇게 말해 보세요
- “지난 시간에 글의 구조를 배웠지. 구조를 알면 무엇을 남겨야 할지가 보여. 원인과 결과 글이면 원인과 결과를, 문제와 해결 글이면 문제와 해결 방법을 남기면 되거든.”
- “오늘은 구조에 맞는 틀을 채우고, 그 틀을 이어서 두세 문장으로 요약하는 방법을 배울 거야.”
예상 답
- “중요한 것만 남겨요.” “틀에 쓰면 쉬워요.”
막히면
- “감기에 걸려서 학교에 못 갔어.”를 들려주고 “이 말에서 원인과 결과는 뭐야? 이 두 가지만 남기면 짧게 말할 수 있지?”라고 묻습니다.
주의
- 아이가 ‘요약’이라는 말을 낯설어하면 4학년 때의 ‘간추리기’와 같은 뜻이라고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확인(글의 구조)]
목적: 5학년 ‘글의 구조’(KR22-G05-KOR-STRUCTURE-L01)에서 배운, 구조를 알아보고 원인과 결과를 나누는 힘이 있는지 확인합니다. 이 글은 S12에서 다시 씁니다.
시간: 약 3분
이렇게 말해 보세요
- “지난 시간에 배운 대로 구조를 찾아볼까? 구조를 알려 주는 말은 무엇이야?”
- “결과는 무엇이고, 원인은 무엇이야? 결과가 글의 앞에 나와도 화살표는 원인에서 결과 쪽이었지?”
정답
- 구조: 원인과 결과(왜, 그래서)
- 원인: 날씨가 서늘해지면 잎의 초록색 물질이 줄어 가려 있던 노란색이 드러남 / 결과: 가을에 은행나무 잎이 노랗게 물듦
막히면
- “잎이 왜 노랗게 바뀐대? ②문단에서 찾아볼래?”라고 묻습니다.
- 구조를 고르지 못하거나 원인과 결과를 거꾸로 말하면 S14(보충)를 먼저 하고, 그래도 어려우면 ‘글의 구조’(KR22-G05-KOR-STRUCTURE-L01)를 다시 합니다.
주의
- 아이가 궁금해하면 초록색 물질을 ‘엽록소’라고 부른다고만 알려 주고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요약과 세 가지 점검 기준]
목적: 요약을 판단하는 세 가지 기준을 알려 줍니다(목표 B). 4학년의 ‘간추린 글의 세 기준’에서 ‘짜임’이 ‘구조’로 넓어졌습니다.
시간: 약 3분
이렇게 말해 보세요
- “요약을 잘했는지는 이 세 가지로 확인해. 첫째, 구조가 드러나나? 원인과 결과 글이면 원인과 결과가 다 있어야겠지. 둘째, 빠진 중심 내용은 없나? 셋째, 군더더기는 없나?”
- “군더더기는 없어도 뜻이 통하는 쓸데없는 말이야. 자세한 예, 꾸며 주는 말, 같은 말을 되풀이한 것 같은 거야.”
예상 답
- “구조, 중심 내용, 군더더기를 봐요.”
막히면
- S01의 감기 문장을 세 기준으로 다시 따져 봅니다(원인과 결과가 있나? 빠진 것은? 필요 없는 말은?).
주의
- 이 세 기준은 오늘 내내 쓰는 점검표입니다. 활동지 4에도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구조에 따라 요약하는 순서]
목적: 구조에 따라 요약하는 다섯 단계를 먼저 보여 주고, 이어지는 시범에서 그대로 따라 합니다(목표 A·B).
시간: 약 2분
이렇게 말해 보세요
- “다섯 단계를 같이 읽어 볼까? 1, 2단계는 지난 시간에 한 거야. 오늘 새로 하는 건 3, 4, 5단계야.”
- “3단계에서 ‘짧게’가 중요해. 칸에 글을 그대로 옮기면 요약이 길어져.”
예상 답
- 아이가 1~5를 자기 말로 다시 말합니다.
막히면
- 단계마다 손가락을 하나씩 접으며 함께 소리 내어 읽습니다.
주의
- 비교와 대조는 ‘둘 다 ~지만’, 시간 순서는 ‘먼저 ~ 그다음’으로 잇는다고 덧붙여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읽기(원인과 결과 글 요약)]
목적: 부모가 생각을 소리 내어 말하며 S04의 1~3단계(구조 찾기, 틀 그리기, 중심 내용만 짧게 채우기)를 보여 줍니다(목표 A).
시간: 약 4분
이렇게 말해 보세요
- “1단계, 제목에 ‘까닭’, ③문단에 ‘그래서’가 있어. 원인과 결과 구조야. 2단계, 그러면 화살표 상자를 그려야지.”
- “3단계, ①문단은 정전기가 생기는 때를 예로 든 거야. ‘문손잡이를 잡다가’는 자세한 예라서 빼도 돼. 결과는 ‘손끝이 따끔한 정전기’ 하나만 남길게.”
- “②문단에서 원인을 찾아볼래? ‘공기가 축축하면’ 문장은 겨울과 견주려고 쓴 말이니까 빼도 되겠지?”
예상 답
- “문지르면 전기가 생겨요. 겨울엔 공기가 건조해서 전기가 쌓여요.”
정답
- 구조: 원인과 결과(까닭, 그래서)
- 원인: 문질러서 생긴 전기가, 공기가 건조한 겨울에는 빠져나가지 못하고 쌓임 / 결과: 쌓인 전기가 금속에 닿을 때 한꺼번에 흘러 따끔함(정전기)
막히면
- 문단마다 “이 문단은 원인이야, 결과야, 예야?”라고 묻고 문단 번호 옆에 ‘원’, ‘결’, ‘예’를 적게 합니다.
주의
- ②문단의 ‘공기가 축축하면’ 부분은 겨울과 견주려고 쓴 말입니다. 아이가 비교와 대조라고 하면, 글 전체가 정전기가 생기는 ‘까닭’을 설명한다는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틀을 이어 요약하기(시범)]
목적: S04의 4·5단계(구조를 알려 주는 말로 잇기, 세 기준으로 점검하기)를 보여 줍니다(목표 A·B).
시간: 약 3분
이렇게 말해 보세요
- “4단계, 화살표 상자를 ‘그래서’, ‘때문에’로 이으면 아래 요약이 돼. 소리 내어 읽어 볼래?”
- “5단계, 세 기준으로 점검해 보자. 원인과 결과가 드러나? 빠진 중심 내용은? 문손잡이 같은 예는 뺐지?”
예상 답
- “원인과 결과가 다 있고, 문손잡이 이야기는 뺐어요.”
막히면
- 상자 하나씩 손가락으로 짚으며 요약 문장의 어느 부분인지 이어 줍니다.
주의
- 요약은 한 문장이어도, 두세 문장으로 나누어도 됩니다. 아이가 ‘~해요’로 써도 괜찮습니다.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틀 채우기(문제와 해결)]
목적: S04의 1~3단계를 함께 해 보며 문제와 해결 구조의 틀을 짧게 채웁니다(목표 A).
시간: 약 4분
이렇게 말해 보세요
- “1단계, 구조를 알려 주는 말은? 2단계, 어떤 틀이 맞을까?”
- “3단계, 문제 칸에 무엇을 쓸까? ‘냄새’, ‘돈과 힘’은 문제를 자세히 설명한 말이야. 문제를 한마디로 하면?”
- “해결 방법은 몇 가지야? 칸에 짧게 써 볼래?”
정답
- 구조: 문제와 해결(이 문제를 해결하려면)
- 문제: 음식물 쓰레기가 많이 나온다 / 해결 1: 먹을 만큼만 덜어 먹는다 / 해결 2: 장보기 전에 냉장고를 살펴보고 꼭 필요한 것만 산다
- 기준: 문제 칸을 채우고 해결 방법 두 가지를 짧게 나누어 쓰면 잘함
막히면
- 부모가 문제 칸을 함께 채우고, 해결 칸은 아이가 쓰게 합니다.
주의
- ‘우리 집에서는 날마다’를 문제 칸에 그대로 옮기면 “이 말이 없어도 문제가 무엇인지 알 수 있을까?”라고 물어 군더더기를 빼게 합니다(오해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요약하기(문제와 해결)]
목적: 문제·해결 표를 이어 요약 문장을 함께 만들어 봅니다(목표 B).
시간: 약 3분
이렇게 말해 보세요
- “아래 말틀에 표의 내용을 넣어 말해 볼래? 문제 칸이 앞에, 해결 칸이 뒤에 들어가.”
- “다 말했으면 세 기준으로 점검해 보자.”
정답
- 예: 음식물 쓰레기가 많이 나오는 문제를 해결하려면, 먹을 만큼만 덜어 먹고 장보기 전에 꼭 필요한 것만 사야 합니다.
- 기준: 문제와 해결 방법 두 가지가 모두 들어가고, 냄새·돈과 힘 같은 자세한 말이 없으면 잘함
막히면
- 부모가 앞부분 “음식물 쓰레기가 많이 나오는 문제를 해결하려면…”을 말해 주고 아이가 뒷부분을 잇게 합니다.
주의
- 활동지 2의 요약 줄에 써 두면 S09에서 견주어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비교(해결만 쓴 요약)]
목적: 해결 방법만 쓴 요약은 구조가 드러나지 않는다는 것을 세 기준으로 확인합니다(목표 B, 오해 M1).
시간: 약 3분
이렇게 말해 보세요
- “가 친구의 요약만 읽은 사람은 무엇을 해결하려는 건지 알 수 있을까?”
- “세 가지 기준으로 하나씩 견주어 볼까? 구조, 중심 내용, 군더더기.”
정답
- 나. 문제와 해결 방법이 모두 들어가 문제와 해결 구조가 드러나고, 군더더기가 없습니다.
- 가는 문제(음식물 쓰레기가 많이 나옴)가 빠져서 구조가 드러나지 않고, 중심 내용도 빠졌습니다.
막히면
- S03의 세 기준 카드를 보여 주고 가와 나에 기준마다 ○, ×를 해 보게 합니다.
주의
- 가의 문장도 글에 있는 맞는 내용입니다. ‘틀린 내용’이 아니라 ‘구조가 드러나지 않았다’는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요약하기(비교와 대조)]
목적: 도움 없이 구조를 찾아 틀을 채우고, 세 기준을 갖춘 요약을 쓰는지 확인합니다(목표 A·B).
시간: 약 6분
이렇게 말해 보세요
- “이번에는 혼자 해 볼래? 활동지 3에 같은 글과 표가 있어. 표를 채우고, 활동지 4에 요약을 쓴 다음 점검표로 스스로 확인해 봐.”
정답
- 구조: 비교와 대조(둘 다, 하지만, 다릅니다, ~지만)
- 표: 기르는 곳 — 벼: 물을 댄 논 / 보리: 물을 대지 않은 땅, 심는 때 — 봄 / 가을, 거두는 때 — 가을 / 이듬해 초여름. 같은 점: 둘 다 곡식(이삭에 낟알이 열림)
- 요약 예: 벼와 보리는 둘 다 곡식이지만 기르는 곳과 때가 다릅니다. 벼는 물을 댄 논에서 봄에 심어 가을에 거두고, 보리는 물을 대지 않은 땅에서 가을에 심어 이듬해 초여름에 거둡니다.
- 기준: ① 같은 점과 다른 점이 모두 드러남(구조) ② 기르는 곳과 심고 거두는 때가 두 곡식 모두에 대해 들어감(중심 내용) ③ ‘밥을 지어 먹습니다’ 같은 자세한 말이 없음(군더더기). 세 기준을 모두 갖추면 잘함
막히면
- S04의 단계 2로 돌아가 “두 가지를 견주는 글은 어떤 틀이었지?”라고 묻습니다.
- 도움을 받아 썼다면 기록표에 ‘도움’으로 표시합니다.
주의
- 벼만 쓰거나 다른 점만 쓰면 “보리는?”, “같은 점은?”이라고 물어 마저 쓰게 합니다(오해 M3). 글씨보다 무엇을 남기고 뺐는지를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아이가 쓴 표와 요약을 세 기준으로 함께 확인합니다.
시간: 약 2분
이렇게 말해 보세요
- “네 요약에 왼쪽 세 가지가 모두 들어갔어? 벼와 보리를 같은 기준으로 견주었어?”
- “오른쪽 말들이 네 요약에 있다면 빼 볼까?”
예상 답
- “‘밥을 지어 먹습니다’를 썼는데 빼도 돼요.”
정답
- 벼와 보리는 둘 다 곡식이지만 기르는 곳과 때가 다릅니다. 벼는 물을 댄 논에서 봄에 심어 가을에 거두고, 보리는 물을 대지 않은 땅에서 가을에 심어 이듬해 초여름에 거둡니다. (세 기준을 갖추면 표현은 달라도 맞음)
막히면
- 아이의 요약에서 군더더기에 함께 ×를 하고 다시 읽어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확인(기준으로 요약 고르기)]
목적: 세 가지 기준을 들어 가장 잘된 요약을 고르는지 확인합니다(목표 B).
시간: 약 3분
이렇게 말해 보세요
- “셋 가운데 가장 잘 요약한 것은 몇 번이야? 나머지 둘은 어느 기준이 아쉬워?”
정답
- ②. 원인(초록색 물질이 줄어 노란색이 드러남)과 결과(은행잎이 노랗게 됨)가 모두 들어가 구조가 드러나고, 군더더기가 없습니다.
- ①은 결과만 있고 원인이 빠졌습니다(구조·중심 내용). ③은 여름 이야기만 자세히 써서 결과와 원인의 핵심(서늘해지면 초록색 물질이 줄어듦)이 빠졌습니다.
막히면
- S03의 세 기준을 보여 주고, 문장마다 기준 하나씩 ○, ×를 해 보게 합니다.
주의
- 답만 고르고 기준을 들어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“구조에 따라 요약하는 방법을 한 문장으로 말해 볼래?”
예상 답
- “구조를 찾아서 틀에 짧게 쓰고, 이어서 요약해요.”
정답
- ① 구조가 드러나는지, 중심 내용이 빠짐없는지, 군더더기가 없는지 ② 문제와 해결 방법 ③ 같은 점과 다른 점
막히면
- S03과 S04를 다시 보여 줍니다.
주의
- 아이가 읽은 과학책이나 기사를 “구조에 맞게 두세 문장으로 말해 줄래?”라고 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보충(구조마다 맞는 틀과 이어 쓰는 말)]
목적: 구조를 알아보고 구조마다 맞는 틀을 고르는 힘을 먼저 다집니다.
시간: 약 4분
이렇게 말해 보세요
- “엄마(아빠)가 짧은 글을 읽어 줄게. 어떤 구조인지, 어떤 틀에 정리하면 좋을지 말해 봐.”
- ① “늦게 자서 아침에 늦잠을 잤어요.” ② “방이 어지러워요. 이 문제를 해결하려면 물건마다 자리를 정해요.” ③ “고양이와 강아지는 둘 다 털이 있어요. 하지만 고양이는 높은 곳에 잘 올라가요.”
정답
- ① 원인과 결과 — 화살표 상자 ② 문제와 해결 — 문제·해결 표 ③ 비교와 대조 — 견주는 표
막히면
- 표의 셋째 칸(이어 쓰는 말)을 가리키며 같은 말이 들렸는지 묻습니다.
- 보충으로도 구조를 고르기 어렵다면 이 차시의 선수 차시인 ‘글의 구조’(KR22-G05-KOR-STRUCTURE-L01)를 먼저 다시 합니다. 문단의 중심 내용을 줄이는 것부터 어렵다면 4학년 ‘중심 내용 간추리기’(KR22-G04-KOR-SUMMARY-L01)로 거슬러 갑니다.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독서와추론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구조에 따라 요약하기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구조에 따라 요약하기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구조에 따라 요약하기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따라 요약하기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글을 짧게 줄일 때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구조가 왜 도움이 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구조에 맞는 틀에 중심 내용을 짧게 정리할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틀을 이어 두세 문장으로 요약하고 점검할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구조의 글일까요?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구조인가요? 원인과 결과를 말해 봐요.</a:t>
            </a:r>
            <a:endParaRPr lang="ko-KR" sz="28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노랗게 물드는 은행잎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가을이 되면 은행나무 잎이 노랗게 물듭니다. 여름 내내 초록색이던 잎은 왜 노랗게 바뀔까요?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잎에는 초록색을 띠는 물질과 노란색을 띠는 물질이 함께 들어 있습니다. 여름에는 초록색 물질이 많아 노란색이 가려집니다. 그런데 날씨가 서늘해지면 초록색 물질이 줄어듭니다. 그래서 가려 있던 노란색이 드러나는 것입니다.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요약의 세 가지 기준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요약: 글의 중요한 내용만 간추려 짧게 쓰기</a:t>
            </a:r>
            <a:endParaRPr lang="ko-KR" sz="28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틀을 채우면 세 기준을 지키기 쉬워요.</a:t>
            </a:r>
            <a:endParaRPr lang="ko-KR" sz="28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구조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구조가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드러나나요?</a:t>
            </a:r>
            <a:endParaRPr lang="ko-KR" sz="28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중심 내용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중심 내용은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없나요?</a:t>
            </a:r>
            <a:endParaRPr lang="ko-KR" sz="28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군더더기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예나 되풀이한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뺐나요?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따라 요약하는 순서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원인과 결과는 ‘그래서’, 문제와 해결은 ‘~하려면’으로 이어요.</a:t>
            </a:r>
            <a:endParaRPr lang="ko-KR" sz="2800" dirty="0"/>
          </a:p>
        </p:txBody>
      </p:sp>
      <p:sp>
        <p:nvSpPr>
          <p:cNvPr id="5" name="S04-stepno18"/>
          <p:cNvSpPr txBox="1"/>
          <p:nvPr/>
        </p:nvSpPr>
        <p:spPr>
          <a:xfrm>
            <a:off x="548640" y="1522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4-text19"/>
          <p:cNvSpPr txBox="1"/>
          <p:nvPr/>
        </p:nvSpPr>
        <p:spPr>
          <a:xfrm>
            <a:off x="1325880" y="15224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구조를 찾아요.</a:t>
            </a:r>
            <a:endParaRPr lang="ko-KR" sz="2800" dirty="0"/>
          </a:p>
        </p:txBody>
      </p:sp>
      <p:sp>
        <p:nvSpPr>
          <p:cNvPr id="7" name="S04-stepno20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4-text21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틀을 그려요.</a:t>
            </a:r>
            <a:endParaRPr lang="ko-KR" sz="2800" dirty="0"/>
          </a:p>
        </p:txBody>
      </p:sp>
      <p:sp>
        <p:nvSpPr>
          <p:cNvPr id="9" name="S04-stepno22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4-text23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틀의 칸에 중심 내용만 짧게 써요.</a:t>
            </a:r>
            <a:endParaRPr lang="ko-KR" sz="2800" dirty="0"/>
          </a:p>
        </p:txBody>
      </p:sp>
      <p:sp>
        <p:nvSpPr>
          <p:cNvPr id="11" name="S04-stepno24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4-text25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말로 이어 두세 문장으로 써요.</a:t>
            </a:r>
            <a:endParaRPr lang="ko-KR" sz="2800" dirty="0"/>
          </a:p>
        </p:txBody>
      </p:sp>
      <p:sp>
        <p:nvSpPr>
          <p:cNvPr id="13" name="S04-stepno26"/>
          <p:cNvSpPr txBox="1"/>
          <p:nvPr/>
        </p:nvSpPr>
        <p:spPr>
          <a:xfrm>
            <a:off x="548640" y="437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" name="S04-text27"/>
          <p:cNvSpPr txBox="1"/>
          <p:nvPr/>
        </p:nvSpPr>
        <p:spPr>
          <a:xfrm>
            <a:off x="1325880" y="437540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기준으로 점검하고 고쳐요.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정전기 글 요약하기</a:t>
            </a:r>
            <a:endParaRPr lang="ko-KR" sz="4000" dirty="0"/>
          </a:p>
        </p:txBody>
      </p:sp>
      <p:sp>
        <p:nvSpPr>
          <p:cNvPr id="3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찾고, 원인과 결과를 틀에 넣어 봐요.</a:t>
            </a:r>
            <a:endParaRPr lang="ko-KR" sz="2800" dirty="0"/>
          </a:p>
        </p:txBody>
      </p:sp>
      <p:sp>
        <p:nvSpPr>
          <p:cNvPr id="5" name="S05-passagebox3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3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정전기가 잘 생기는 까닭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겨울에 문손잡이를 잡다가 손끝이 따끔한 일이 있습니다. 이것은 정전기 때문입니다.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물체끼리 문지르면 전기가 생깁니다. 공기가 축축하면 전기가 빠져나가지만, 겨울에는 공기가 건조해서 전기가 쌓입니다.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그래서 전기가 쌓인 몸이 금속에 닿으면, 전기가 한꺼번에 흘러 따끔합니다.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틀을 이으면 요약이 돼요</a:t>
            </a:r>
            <a:endParaRPr lang="ko-KR" sz="4000" dirty="0"/>
          </a:p>
        </p:txBody>
      </p:sp>
      <p:sp>
        <p:nvSpPr>
          <p:cNvPr id="3" name="S06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화살표를 ‘그래서’로 읽으며 이어 써요.</a:t>
            </a:r>
            <a:endParaRPr lang="ko-KR" sz="2800" dirty="0"/>
          </a:p>
        </p:txBody>
      </p:sp>
      <p:sp>
        <p:nvSpPr>
          <p:cNvPr id="4" name="S06-card33"/>
          <p:cNvSpPr/>
          <p:nvPr/>
        </p:nvSpPr>
        <p:spPr>
          <a:xfrm>
            <a:off x="548640" y="4696968"/>
            <a:ext cx="11091672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4"/>
          <p:cNvSpPr txBox="1"/>
          <p:nvPr/>
        </p:nvSpPr>
        <p:spPr>
          <a:xfrm>
            <a:off x="822960" y="4834128"/>
            <a:ext cx="1054303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겨울에는 공기가 건조해 문질러서 생긴 전기가 빠져나가지 못하고 쌓이기 때문에, 금속에 닿으면 전기가 한꺼번에 흘러 따끔한 정전기가 생깁니다.</a:t>
            </a:r>
            <a:endParaRPr lang="ko-KR" sz="2800" dirty="0"/>
          </a:p>
        </p:txBody>
      </p:sp>
      <p:sp>
        <p:nvSpPr>
          <p:cNvPr id="6" name="S06-step35"/>
          <p:cNvSpPr txBox="1"/>
          <p:nvPr/>
        </p:nvSpPr>
        <p:spPr>
          <a:xfrm>
            <a:off x="548640" y="2554224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문질러서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전기가 생겨요</a:t>
            </a:r>
            <a:endParaRPr lang="ko-KR" sz="2200" dirty="0"/>
          </a:p>
        </p:txBody>
      </p:sp>
      <p:sp>
        <p:nvSpPr>
          <p:cNvPr id="7" name="S06-line36"/>
          <p:cNvSpPr/>
          <p:nvPr/>
        </p:nvSpPr>
        <p:spPr>
          <a:xfrm>
            <a:off x="3067812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6-step37"/>
          <p:cNvSpPr txBox="1"/>
          <p:nvPr/>
        </p:nvSpPr>
        <p:spPr>
          <a:xfrm>
            <a:off x="3424428" y="2554224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건조해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전기가 쌓여요</a:t>
            </a:r>
            <a:endParaRPr lang="ko-KR" sz="2200" dirty="0"/>
          </a:p>
        </p:txBody>
      </p:sp>
      <p:sp>
        <p:nvSpPr>
          <p:cNvPr id="9" name="S06-line38"/>
          <p:cNvSpPr/>
          <p:nvPr/>
        </p:nvSpPr>
        <p:spPr>
          <a:xfrm>
            <a:off x="5943600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39"/>
          <p:cNvSpPr txBox="1"/>
          <p:nvPr/>
        </p:nvSpPr>
        <p:spPr>
          <a:xfrm>
            <a:off x="6300216" y="2554224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금속에 닿으면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한꺼번에 흘러요</a:t>
            </a:r>
            <a:endParaRPr lang="ko-KR" sz="2200" dirty="0"/>
          </a:p>
        </p:txBody>
      </p:sp>
      <p:sp>
        <p:nvSpPr>
          <p:cNvPr id="11" name="S06-line40"/>
          <p:cNvSpPr/>
          <p:nvPr/>
        </p:nvSpPr>
        <p:spPr>
          <a:xfrm>
            <a:off x="8819388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6-step41"/>
          <p:cNvSpPr txBox="1"/>
          <p:nvPr/>
        </p:nvSpPr>
        <p:spPr>
          <a:xfrm>
            <a:off x="9176004" y="2554224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손끝이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따끔해요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해결 글 함께 요약하기</a:t>
            </a:r>
            <a:endParaRPr lang="ko-KR" sz="4000" dirty="0"/>
          </a:p>
        </p:txBody>
      </p:sp>
      <p:sp>
        <p:nvSpPr>
          <p:cNvPr id="3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찾고, 활동지 2의 문제·해결 표를 채워요.</a:t>
            </a:r>
            <a:endParaRPr lang="ko-KR" sz="2800" dirty="0"/>
          </a:p>
        </p:txBody>
      </p:sp>
      <p:sp>
        <p:nvSpPr>
          <p:cNvPr id="5" name="S07-passagebox4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4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음식물 쓰레기를 줄이려면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 집에서는 날마다 먹다 남긴 음식이 버려집니다. 음식물 쓰레기가 많으면 냄새가 나고, 버리고 처리하는 데에도 돈과 힘이 많이 듭니다.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 문제를 해결하려면 먹을 만큼만 덜어 먹어야 합니다. 또 장을 보기 전에 냉장고를 살펴보고 꼭 필요한 것만 사면, 먹지 못하고 버리는 음식을 줄일 수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틀을 이어 요약해 봐요</a:t>
            </a:r>
            <a:endParaRPr lang="ko-KR" sz="4000" dirty="0"/>
          </a:p>
        </p:txBody>
      </p:sp>
      <p:sp>
        <p:nvSpPr>
          <p:cNvPr id="3" name="S08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채운 틀이에요. 이어서 한두 문장으로 요약해요.</a:t>
            </a:r>
            <a:endParaRPr lang="ko-KR" sz="2800" dirty="0"/>
          </a:p>
        </p:txBody>
      </p:sp>
      <p:sp>
        <p:nvSpPr>
          <p:cNvPr id="4" name="S08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 문제를 해결하려면 ~해야 합니다.’로 이어 봐요.</a:t>
            </a:r>
            <a:endParaRPr lang="ko-KR" sz="2800" dirty="0"/>
          </a:p>
        </p:txBody>
      </p:sp>
      <p:graphicFrame>
        <p:nvGraphicFramePr>
          <p:cNvPr id="9" name="S08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621280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음식물 쓰레기가 많이 나와요.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먹을 만큼만 덜어 먹어요.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 필요한 것만 사요.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요약했을까?</a:t>
            </a:r>
            <a:endParaRPr lang="ko-KR" sz="4000" dirty="0"/>
          </a:p>
        </p:txBody>
      </p:sp>
      <p:sp>
        <p:nvSpPr>
          <p:cNvPr id="3" name="S09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‘음식물 쓰레기를 줄이려면’을 두 친구가 이렇게 요약했어요.</a:t>
            </a:r>
            <a:endParaRPr lang="ko-KR" sz="2800" dirty="0"/>
          </a:p>
        </p:txBody>
      </p:sp>
      <p:sp>
        <p:nvSpPr>
          <p:cNvPr id="5" name="S09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요약했나요? 세 가지 기준으로 말해 봐요.</a:t>
            </a:r>
            <a:endParaRPr lang="ko-KR" sz="2800" dirty="0"/>
          </a:p>
        </p:txBody>
      </p:sp>
      <p:sp>
        <p:nvSpPr>
          <p:cNvPr id="7" name="S09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 만큼만 덜어 먹고, 장을 보기 전에 냉장고를 살펴봅니다.</a:t>
            </a:r>
            <a:endParaRPr lang="ko-KR" sz="2800" dirty="0"/>
          </a:p>
        </p:txBody>
      </p:sp>
      <p:sp>
        <p:nvSpPr>
          <p:cNvPr id="9" name="S09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음식물 쓰레기가 많이 나오는 문제를 해결하려면, 먹을 만큼만 먹고 꼭 필요한 것만 사야 합니다.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틀을 채우고, 두세 문장으로 요약해요.</a:t>
            </a:r>
            <a:endParaRPr lang="ko-KR" sz="2800" dirty="0"/>
          </a:p>
        </p:txBody>
      </p:sp>
      <p:sp>
        <p:nvSpPr>
          <p:cNvPr id="5" name="S10-passagebox6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6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벼와 보리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벼와 보리는 둘 다 우리가 먹는 곡식입니다. 둘 다 이삭에 낟알이 열리고, 낟알을 거두어 밥을 지어 먹습니다.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기르는 곳이 다릅니다. 벼는 물을 댄 논에서 자라고, 보리는 물을 대지 않은 땅에서 자랍니다.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심고 거두는 때도 다릅니다. 벼는 봄에 심어 가을에 거두지만, 보리는 가을에 심어 이듬해 초여름에 거둡니다.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점을 같은 기준으로, 짧게 이어 써요.</a:t>
            </a:r>
            <a:endParaRPr lang="ko-KR" sz="2800" dirty="0"/>
          </a:p>
        </p:txBody>
      </p:sp>
      <p:sp>
        <p:nvSpPr>
          <p:cNvPr id="5" name="S11-chip6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6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곡식</a:t>
            </a:r>
            <a:endParaRPr lang="ko-KR" sz="2800" dirty="0"/>
          </a:p>
        </p:txBody>
      </p:sp>
      <p:sp>
        <p:nvSpPr>
          <p:cNvPr id="7" name="S11-text6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</a:t>
            </a:r>
            <a:endParaRPr lang="ko-KR" sz="2200" dirty="0"/>
          </a:p>
        </p:txBody>
      </p:sp>
      <p:sp>
        <p:nvSpPr>
          <p:cNvPr id="8" name="S11-text6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 / 물을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않은 땅</a:t>
            </a:r>
            <a:endParaRPr lang="ko-KR" sz="2800" dirty="0"/>
          </a:p>
        </p:txBody>
      </p:sp>
      <p:sp>
        <p:nvSpPr>
          <p:cNvPr id="9" name="S11-text6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점: 기르는 곳</a:t>
            </a:r>
            <a:endParaRPr lang="ko-KR" sz="2200" dirty="0"/>
          </a:p>
        </p:txBody>
      </p:sp>
      <p:sp>
        <p:nvSpPr>
          <p:cNvPr id="10" name="S11-text6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봄→가을 /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가을→초여름</a:t>
            </a:r>
            <a:endParaRPr lang="ko-KR" sz="2800" dirty="0"/>
          </a:p>
        </p:txBody>
      </p:sp>
      <p:sp>
        <p:nvSpPr>
          <p:cNvPr id="11" name="S11-text7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점: 심고 거두는 때</a:t>
            </a:r>
            <a:endParaRPr lang="ko-KR" sz="2200" dirty="0"/>
          </a:p>
        </p:txBody>
      </p:sp>
      <p:sp>
        <p:nvSpPr>
          <p:cNvPr id="12" name="S11-chip7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1-text7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벼는 논에서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자라요</a:t>
            </a:r>
            <a:endParaRPr lang="ko-KR" sz="2800" dirty="0"/>
          </a:p>
        </p:txBody>
      </p:sp>
      <p:sp>
        <p:nvSpPr>
          <p:cNvPr id="14" name="S11-text7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보리가 빠졌어요</a:t>
            </a:r>
            <a:endParaRPr lang="ko-KR" sz="2200" dirty="0"/>
          </a:p>
        </p:txBody>
      </p:sp>
      <p:sp>
        <p:nvSpPr>
          <p:cNvPr id="15" name="S11-text7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이삭, 낟알,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지어</a:t>
            </a:r>
            <a:endParaRPr lang="ko-KR" sz="2800" dirty="0"/>
          </a:p>
        </p:txBody>
      </p:sp>
      <p:sp>
        <p:nvSpPr>
          <p:cNvPr id="16" name="S11-text7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군더더기예요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잘된 요약은?</a:t>
            </a:r>
            <a:endParaRPr lang="ko-KR" sz="4000" dirty="0"/>
          </a:p>
        </p:txBody>
      </p:sp>
      <p:sp>
        <p:nvSpPr>
          <p:cNvPr id="3" name="S12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읽은 ‘노랗게 물드는 은행잎’을 요약한 글이에요.</a:t>
            </a:r>
            <a:endParaRPr lang="ko-KR" sz="2800" dirty="0"/>
          </a:p>
        </p:txBody>
      </p:sp>
      <p:sp>
        <p:nvSpPr>
          <p:cNvPr id="4" name="S12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· 중심 내용 · 군더더기로 견주어 봐요.</a:t>
            </a:r>
            <a:endParaRPr lang="ko-KR" sz="2800" dirty="0"/>
          </a:p>
        </p:txBody>
      </p:sp>
      <p:sp>
        <p:nvSpPr>
          <p:cNvPr id="6" name="S12-chip7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2-text8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가을이 되면 은행나무 잎이 노랗게 물듭니다.</a:t>
            </a:r>
            <a:endParaRPr lang="ko-KR" sz="2800" dirty="0"/>
          </a:p>
        </p:txBody>
      </p:sp>
      <p:sp>
        <p:nvSpPr>
          <p:cNvPr id="8" name="S12-chip8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2-text8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날씨가 서늘해지면 초록색 물질이 줄어 가려 있던 노란색이 드러나기 때문에, 가을에 은행잎이 노랗게 됩니다.</a:t>
            </a:r>
            <a:endParaRPr lang="ko-KR" sz="2800" dirty="0"/>
          </a:p>
        </p:txBody>
      </p:sp>
      <p:sp>
        <p:nvSpPr>
          <p:cNvPr id="10" name="S12-chip8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2-text8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잎에는 초록색 물질과 노란색 물질이 들어 있고, 여름에는 초록색 물질이 많아서, 여름에는 잎이 초록색입니다.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구조에 맞는 틀에 중심 내용을 짧게 채우고,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알려 주는 말로 이어 요약해요.</a:t>
            </a:r>
            <a:endParaRPr lang="ko-KR" sz="2800" dirty="0"/>
          </a:p>
        </p:txBody>
      </p:sp>
      <p:sp>
        <p:nvSpPr>
          <p:cNvPr id="5" name="S13-chip8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틀부터 채우기</a:t>
            </a:r>
            <a:endParaRPr lang="ko-KR" sz="2200" dirty="0"/>
          </a:p>
        </p:txBody>
      </p:sp>
      <p:sp>
        <p:nvSpPr>
          <p:cNvPr id="6" name="S13-chip8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한쪽만 쓰기</a:t>
            </a:r>
            <a:endParaRPr lang="ko-KR" sz="2200" dirty="0"/>
          </a:p>
        </p:txBody>
      </p:sp>
      <p:sp>
        <p:nvSpPr>
          <p:cNvPr id="7" name="S13-text8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요약을 점검하는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기준은?</a:t>
            </a:r>
            <a:endParaRPr lang="ko-KR" sz="2200" dirty="0"/>
          </a:p>
        </p:txBody>
      </p:sp>
      <p:sp>
        <p:nvSpPr>
          <p:cNvPr id="9" name="S13-text9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문제와 해결 글 요약에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넣을 두 가지는?</a:t>
            </a:r>
            <a:endParaRPr lang="ko-KR" sz="2200" dirty="0"/>
          </a:p>
        </p:txBody>
      </p:sp>
      <p:sp>
        <p:nvSpPr>
          <p:cNvPr id="10" name="S13-text9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비교와 대조 글 요약에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넣을 두 가지는?</a:t>
            </a:r>
            <a:endParaRPr lang="ko-KR" sz="2200" dirty="0"/>
          </a:p>
        </p:txBody>
      </p:sp>
      <p:sp>
        <p:nvSpPr>
          <p:cNvPr id="11" name="S13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주장과 근거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구조와 틀</a:t>
            </a:r>
            <a:endParaRPr lang="ko-KR" sz="4000" dirty="0"/>
          </a:p>
        </p:txBody>
      </p:sp>
      <p:sp>
        <p:nvSpPr>
          <p:cNvPr id="3" name="S14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구조마다 맞는 틀과 이어 쓰는 말이 있어요.</a:t>
            </a:r>
            <a:endParaRPr lang="ko-KR" sz="2800" dirty="0"/>
          </a:p>
        </p:txBody>
      </p:sp>
      <p:sp>
        <p:nvSpPr>
          <p:cNvPr id="4" name="S14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먼저 찾으면 틀과 이어 쓰는 말이 정해져요.</a:t>
            </a:r>
            <a:endParaRPr lang="ko-KR" sz="2800" dirty="0"/>
          </a:p>
        </p:txBody>
      </p:sp>
      <p:graphicFrame>
        <p:nvGraphicFramePr>
          <p:cNvPr id="15" name="S14-table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85060"/>
          <a:ext cx="10058400" cy="914400"/>
        </p:xfrm>
        <a:graphic>
          <a:graphicData uri="http://schemas.openxmlformats.org/drawingml/2006/table">
            <a:tbl>
              <a:tblPr/>
              <a:tblGrid>
                <a:gridCol w="3419856"/>
                <a:gridCol w="3319272"/>
                <a:gridCol w="3319272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이어 쓰는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 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차례 상자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· 그다음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비교와 대조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견주는 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 다 · 하지만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원인과 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화살표 상자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때문에 · 그래서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문제와 해결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문제·해결 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~하려면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구조에 따라 요약하기</dc:title>
  <dc:subject>KR22-G05-KOR-SUMMARY-L01</dc:subject>
  <dc:creator>education-ppt</dc:creator>
  <cp:lastModifiedBy>education-ppt</cp:lastModifiedBy>
  <cp:revision>1</cp:revision>
  <dcterms:created xsi:type="dcterms:W3CDTF">2026-10-26T08:29:56Z</dcterms:created>
  <dcterms:modified xsi:type="dcterms:W3CDTF">2026-10-26T08:29:56Z</dcterms:modified>
</cp:coreProperties>
</file>