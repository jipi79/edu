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0c1e8d8-93ec-893f-6d23-8e7ef96fc6ca}">
          <p14:sldIdLst>
            <p14:sldId id="256"/>
            <p14:sldId id="257"/>
          </p14:sldIdLst>
        </p14:section>
        <p14:section name="개념" id="{de85eeeb-a89e-4944-e448-9860efeb8b60}">
          <p14:sldIdLst>
            <p14:sldId id="258"/>
            <p14:sldId id="259"/>
            <p14:sldId id="260"/>
            <p14:sldId id="261"/>
          </p14:sldIdLst>
        </p14:section>
        <p14:section name="연습" id="{f8d7b5d2-41be-7f64-ccf0-fc62054f2708}">
          <p14:sldIdLst>
            <p14:sldId id="262"/>
            <p14:sldId id="263"/>
            <p14:sldId id="264"/>
          </p14:sldIdLst>
        </p14:section>
        <p14:section name="확인" id="{90144773-3d4b-34a5-e5c3-139c080f9586}">
          <p14:sldIdLst>
            <p14:sldId id="265"/>
            <p14:sldId id="266"/>
          </p14:sldIdLst>
        </p14:section>
        <p14:section name="정리" id="{aa66be73-2a04-7ad2-c9d8-fc504ebf77e4}">
          <p14:sldIdLst>
            <p14:sldId id="267"/>
          </p14:sldIdLst>
        </p14:section>
        <p14:section name="보충" id="{93802608-f9fb-dd69-157e-7793e5ef82e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독서와추론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구조에 따라 요약하기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구조에 따라 요약하기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구조에 따라 요약하기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따라 요약하기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글을 짧게 줄일 때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구조가 왜 도움이 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구조에 맞는 틀에 중심 내용을 짧게 정리할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틀을 이어 두세 문장으로 요약하고 점검할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구조의 글일까요?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구조인가요? 원인과 결과를 말해 봐요.</a:t>
            </a:r>
            <a:endParaRPr lang="ko-KR" sz="28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노랗게 물드는 은행잎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가을이 되면 은행나무 잎이 노랗게 물듭니다. 여름 내내 초록색이던 잎은 왜 노랗게 바뀔까요?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잎에는 초록색을 띠는 물질과 노란색을 띠는 물질이 함께 들어 있습니다. 여름에는 초록색 물질이 많아 노란색이 가려집니다. 그런데 날씨가 서늘해지면 초록색 물질이 줄어듭니다. 그래서 가려 있던 노란색이 드러나는 것입니다.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요약의 세 가지 기준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요약: 글의 중요한 내용만 간추려 짧게 쓰기</a:t>
            </a:r>
            <a:endParaRPr lang="ko-KR" sz="28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틀을 채우면 세 기준을 지키기 쉬워요.</a:t>
            </a:r>
            <a:endParaRPr lang="ko-KR" sz="28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구조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구조가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드러나나요?</a:t>
            </a:r>
            <a:endParaRPr lang="ko-KR" sz="28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중심 내용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중심 내용은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없나요?</a:t>
            </a:r>
            <a:endParaRPr lang="ko-KR" sz="28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군더더기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예나 되풀이한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뺐나요?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따라 요약하는 순서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결과는 ‘그래서’, 문제와 해결은 ‘~하려면’으로 이어요.</a:t>
            </a:r>
            <a:endParaRPr lang="ko-KR" sz="2800" dirty="0"/>
          </a:p>
        </p:txBody>
      </p:sp>
      <p:sp>
        <p:nvSpPr>
          <p:cNvPr id="5" name="S04-stepno18"/>
          <p:cNvSpPr txBox="1"/>
          <p:nvPr/>
        </p:nvSpPr>
        <p:spPr>
          <a:xfrm>
            <a:off x="548640" y="1522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4-text19"/>
          <p:cNvSpPr txBox="1"/>
          <p:nvPr/>
        </p:nvSpPr>
        <p:spPr>
          <a:xfrm>
            <a:off x="1325880" y="15224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구조를 찾아요.</a:t>
            </a:r>
            <a:endParaRPr lang="ko-KR" sz="2800" dirty="0"/>
          </a:p>
        </p:txBody>
      </p:sp>
      <p:sp>
        <p:nvSpPr>
          <p:cNvPr id="7" name="S04-stepno20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4-text21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틀을 그려요.</a:t>
            </a:r>
            <a:endParaRPr lang="ko-KR" sz="2800" dirty="0"/>
          </a:p>
        </p:txBody>
      </p:sp>
      <p:sp>
        <p:nvSpPr>
          <p:cNvPr id="9" name="S04-stepno22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4-text23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틀의 칸에 중심 내용만 짧게 써요.</a:t>
            </a:r>
            <a:endParaRPr lang="ko-KR" sz="2800" dirty="0"/>
          </a:p>
        </p:txBody>
      </p:sp>
      <p:sp>
        <p:nvSpPr>
          <p:cNvPr id="11" name="S04-stepno24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4-text25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말로 이어 두세 문장으로 써요.</a:t>
            </a:r>
            <a:endParaRPr lang="ko-KR" sz="2800" dirty="0"/>
          </a:p>
        </p:txBody>
      </p:sp>
      <p:sp>
        <p:nvSpPr>
          <p:cNvPr id="13" name="S04-stepno26"/>
          <p:cNvSpPr txBox="1"/>
          <p:nvPr/>
        </p:nvSpPr>
        <p:spPr>
          <a:xfrm>
            <a:off x="548640" y="437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" name="S04-text27"/>
          <p:cNvSpPr txBox="1"/>
          <p:nvPr/>
        </p:nvSpPr>
        <p:spPr>
          <a:xfrm>
            <a:off x="1325880" y="437540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기준으로 점검하고 고쳐요.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정전기 글 요약하기</a:t>
            </a:r>
            <a:endParaRPr lang="ko-KR" sz="4000" dirty="0"/>
          </a:p>
        </p:txBody>
      </p:sp>
      <p:sp>
        <p:nvSpPr>
          <p:cNvPr id="3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찾고, 원인과 결과를 틀에 넣어 봐요.</a:t>
            </a:r>
            <a:endParaRPr lang="ko-KR" sz="2800" dirty="0"/>
          </a:p>
        </p:txBody>
      </p:sp>
      <p:sp>
        <p:nvSpPr>
          <p:cNvPr id="5" name="S05-passagebox3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3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정전기가 잘 생기는 까닭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겨울에 문손잡이를 잡다가 손끝이 따끔한 일이 있습니다. 이것은 정전기 때문입니다.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물체끼리 문지르면 전기가 생깁니다. 공기가 축축하면 전기가 빠져나가지만, 겨울에는 공기가 건조해서 전기가 쌓입니다.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그래서 전기가 쌓인 몸이 금속에 닿으면, 전기가 한꺼번에 흘러 따끔합니다.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틀을 이으면 요약이 돼요</a:t>
            </a:r>
            <a:endParaRPr lang="ko-KR" sz="4000" dirty="0"/>
          </a:p>
        </p:txBody>
      </p:sp>
      <p:sp>
        <p:nvSpPr>
          <p:cNvPr id="3" name="S06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화살표를 ‘그래서’로 읽으며 이어 써요.</a:t>
            </a:r>
            <a:endParaRPr lang="ko-KR" sz="2800" dirty="0"/>
          </a:p>
        </p:txBody>
      </p:sp>
      <p:sp>
        <p:nvSpPr>
          <p:cNvPr id="4" name="S06-card33"/>
          <p:cNvSpPr/>
          <p:nvPr/>
        </p:nvSpPr>
        <p:spPr>
          <a:xfrm>
            <a:off x="548640" y="4696968"/>
            <a:ext cx="11091672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4"/>
          <p:cNvSpPr txBox="1"/>
          <p:nvPr/>
        </p:nvSpPr>
        <p:spPr>
          <a:xfrm>
            <a:off x="822960" y="4834128"/>
            <a:ext cx="1054303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겨울에는 공기가 건조해 문질러서 생긴 전기가 빠져나가지 못하고 쌓이기 때문에, 금속에 닿으면 전기가 한꺼번에 흘러 따끔한 정전기가 생깁니다.</a:t>
            </a:r>
            <a:endParaRPr lang="ko-KR" sz="2800" dirty="0"/>
          </a:p>
        </p:txBody>
      </p:sp>
      <p:sp>
        <p:nvSpPr>
          <p:cNvPr id="6" name="S06-step35"/>
          <p:cNvSpPr txBox="1"/>
          <p:nvPr/>
        </p:nvSpPr>
        <p:spPr>
          <a:xfrm>
            <a:off x="548640" y="2554224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문질러서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전기가 생겨요</a:t>
            </a:r>
            <a:endParaRPr lang="ko-KR" sz="2200" dirty="0"/>
          </a:p>
        </p:txBody>
      </p:sp>
      <p:sp>
        <p:nvSpPr>
          <p:cNvPr id="7" name="S06-line36"/>
          <p:cNvSpPr/>
          <p:nvPr/>
        </p:nvSpPr>
        <p:spPr>
          <a:xfrm>
            <a:off x="3067812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6-step37"/>
          <p:cNvSpPr txBox="1"/>
          <p:nvPr/>
        </p:nvSpPr>
        <p:spPr>
          <a:xfrm>
            <a:off x="3424428" y="2554224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건조해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전기가 쌓여요</a:t>
            </a:r>
            <a:endParaRPr lang="ko-KR" sz="2200" dirty="0"/>
          </a:p>
        </p:txBody>
      </p:sp>
      <p:sp>
        <p:nvSpPr>
          <p:cNvPr id="9" name="S06-line38"/>
          <p:cNvSpPr/>
          <p:nvPr/>
        </p:nvSpPr>
        <p:spPr>
          <a:xfrm>
            <a:off x="5943600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39"/>
          <p:cNvSpPr txBox="1"/>
          <p:nvPr/>
        </p:nvSpPr>
        <p:spPr>
          <a:xfrm>
            <a:off x="6300216" y="2554224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금속에 닿으면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한꺼번에 흘러요</a:t>
            </a:r>
            <a:endParaRPr lang="ko-KR" sz="2200" dirty="0"/>
          </a:p>
        </p:txBody>
      </p:sp>
      <p:sp>
        <p:nvSpPr>
          <p:cNvPr id="11" name="S06-line40"/>
          <p:cNvSpPr/>
          <p:nvPr/>
        </p:nvSpPr>
        <p:spPr>
          <a:xfrm>
            <a:off x="8819388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6-step41"/>
          <p:cNvSpPr txBox="1"/>
          <p:nvPr/>
        </p:nvSpPr>
        <p:spPr>
          <a:xfrm>
            <a:off x="9176004" y="2554224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손끝이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따끔해요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해결 글 함께 요약하기</a:t>
            </a:r>
            <a:endParaRPr lang="ko-KR" sz="4000" dirty="0"/>
          </a:p>
        </p:txBody>
      </p:sp>
      <p:sp>
        <p:nvSpPr>
          <p:cNvPr id="3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찾고, 활동지 2의 문제·해결 표를 채워요.</a:t>
            </a:r>
            <a:endParaRPr lang="ko-KR" sz="2800" dirty="0"/>
          </a:p>
        </p:txBody>
      </p:sp>
      <p:sp>
        <p:nvSpPr>
          <p:cNvPr id="5" name="S07-passagebox4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4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음식물 쓰레기를 줄이려면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 집에서는 날마다 먹다 남긴 음식이 버려집니다. 음식물 쓰레기가 많으면 냄새가 나고, 버리고 처리하는 데에도 돈과 힘이 많이 듭니다.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 문제를 해결하려면 먹을 만큼만 덜어 먹어야 합니다. 또 장을 보기 전에 냉장고를 살펴보고 꼭 필요한 것만 사면, 먹지 못하고 버리는 음식을 줄일 수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틀을 이어 요약해 봐요</a:t>
            </a:r>
            <a:endParaRPr lang="ko-KR" sz="4000" dirty="0"/>
          </a:p>
        </p:txBody>
      </p:sp>
      <p:sp>
        <p:nvSpPr>
          <p:cNvPr id="3" name="S08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채운 틀이에요. 이어서 한두 문장으로 요약해요.</a:t>
            </a:r>
            <a:endParaRPr lang="ko-KR" sz="2800" dirty="0"/>
          </a:p>
        </p:txBody>
      </p:sp>
      <p:sp>
        <p:nvSpPr>
          <p:cNvPr id="4" name="S08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 문제를 해결하려면 ~해야 합니다.’로 이어 봐요.</a:t>
            </a:r>
            <a:endParaRPr lang="ko-KR" sz="2800" dirty="0"/>
          </a:p>
        </p:txBody>
      </p:sp>
      <p:graphicFrame>
        <p:nvGraphicFramePr>
          <p:cNvPr id="9" name="S08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621280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음식물 쓰레기가 많이 나와요.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먹을 만큼만 덜어 먹어요.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 필요한 것만 사요.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요약했을까?</a:t>
            </a:r>
            <a:endParaRPr lang="ko-KR" sz="4000" dirty="0"/>
          </a:p>
        </p:txBody>
      </p:sp>
      <p:sp>
        <p:nvSpPr>
          <p:cNvPr id="3" name="S09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‘음식물 쓰레기를 줄이려면’을 두 친구가 이렇게 요약했어요.</a:t>
            </a:r>
            <a:endParaRPr lang="ko-KR" sz="2800" dirty="0"/>
          </a:p>
        </p:txBody>
      </p:sp>
      <p:sp>
        <p:nvSpPr>
          <p:cNvPr id="5" name="S09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요약했나요? 세 가지 기준으로 말해 봐요.</a:t>
            </a:r>
            <a:endParaRPr lang="ko-KR" sz="2800" dirty="0"/>
          </a:p>
        </p:txBody>
      </p:sp>
      <p:sp>
        <p:nvSpPr>
          <p:cNvPr id="7" name="S09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 만큼만 덜어 먹고, 장을 보기 전에 냉장고를 살펴봅니다.</a:t>
            </a:r>
            <a:endParaRPr lang="ko-KR" sz="2800" dirty="0"/>
          </a:p>
        </p:txBody>
      </p:sp>
      <p:sp>
        <p:nvSpPr>
          <p:cNvPr id="9" name="S09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음식물 쓰레기가 많이 나오는 문제를 해결하려면, 먹을 만큼만 먹고 꼭 필요한 것만 사야 합니다.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틀을 채우고, 두세 문장으로 요약해요.</a:t>
            </a:r>
            <a:endParaRPr lang="ko-KR" sz="2800" dirty="0"/>
          </a:p>
        </p:txBody>
      </p:sp>
      <p:sp>
        <p:nvSpPr>
          <p:cNvPr id="5" name="S10-passagebox6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6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벼와 보리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벼와 보리는 둘 다 우리가 먹는 곡식입니다. 둘 다 이삭에 낟알이 열리고, 낟알을 거두어 밥을 지어 먹습니다.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기르는 곳이 다릅니다. 벼는 물을 댄 논에서 자라고, 보리는 물을 대지 않은 땅에서 자랍니다.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심고 거두는 때도 다릅니다. 벼는 봄에 심어 가을에 거두지만, 보리는 가을에 심어 이듬해 초여름에 거둡니다.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잘된 요약은?</a:t>
            </a:r>
            <a:endParaRPr lang="ko-KR" sz="4000" dirty="0"/>
          </a:p>
        </p:txBody>
      </p:sp>
      <p:sp>
        <p:nvSpPr>
          <p:cNvPr id="3" name="S12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읽은 ‘노랗게 물드는 은행잎’을 요약한 글이에요.</a:t>
            </a:r>
            <a:endParaRPr lang="ko-KR" sz="2800" dirty="0"/>
          </a:p>
        </p:txBody>
      </p:sp>
      <p:sp>
        <p:nvSpPr>
          <p:cNvPr id="4" name="S12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· 중심 내용 · 군더더기로 견주어 봐요.</a:t>
            </a:r>
            <a:endParaRPr lang="ko-KR" sz="2800" dirty="0"/>
          </a:p>
        </p:txBody>
      </p:sp>
      <p:sp>
        <p:nvSpPr>
          <p:cNvPr id="6" name="S12-chip6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2-text6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가을이 되면 은행나무 잎이 노랗게 물듭니다.</a:t>
            </a:r>
            <a:endParaRPr lang="ko-KR" sz="2800" dirty="0"/>
          </a:p>
        </p:txBody>
      </p:sp>
      <p:sp>
        <p:nvSpPr>
          <p:cNvPr id="8" name="S12-chip6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2-text6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날씨가 서늘해지면 초록색 물질이 줄어 가려 있던 노란색이 드러나기 때문에, 가을에 은행잎이 노랗게 됩니다.</a:t>
            </a:r>
            <a:endParaRPr lang="ko-KR" sz="2800" dirty="0"/>
          </a:p>
        </p:txBody>
      </p:sp>
      <p:sp>
        <p:nvSpPr>
          <p:cNvPr id="10" name="S12-chip6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2-text7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잎에는 초록색 물질과 노란색 물질이 들어 있고, 여름에는 초록색 물질이 많아서, 여름에는 잎이 초록색입니다.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틀에 중심 내용을 짧게 채우고,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말로 이어 요약해요.</a:t>
            </a:r>
            <a:endParaRPr lang="ko-KR" sz="2800" dirty="0"/>
          </a:p>
        </p:txBody>
      </p:sp>
      <p:sp>
        <p:nvSpPr>
          <p:cNvPr id="5" name="S13-chip7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틀부터 채우기</a:t>
            </a:r>
            <a:endParaRPr lang="ko-KR" sz="2200" dirty="0"/>
          </a:p>
        </p:txBody>
      </p:sp>
      <p:sp>
        <p:nvSpPr>
          <p:cNvPr id="6" name="S13-chip7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한쪽만 쓰기</a:t>
            </a:r>
            <a:endParaRPr lang="ko-KR" sz="2200" dirty="0"/>
          </a:p>
        </p:txBody>
      </p:sp>
      <p:sp>
        <p:nvSpPr>
          <p:cNvPr id="7" name="S13-text7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7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요약을 점검하는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기준은?</a:t>
            </a:r>
            <a:endParaRPr lang="ko-KR" sz="2200" dirty="0"/>
          </a:p>
        </p:txBody>
      </p:sp>
      <p:sp>
        <p:nvSpPr>
          <p:cNvPr id="9" name="S13-text7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문제와 해결 글 요약에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넣을 두 가지는?</a:t>
            </a:r>
            <a:endParaRPr lang="ko-KR" sz="2200" dirty="0"/>
          </a:p>
        </p:txBody>
      </p:sp>
      <p:sp>
        <p:nvSpPr>
          <p:cNvPr id="10" name="S13-text7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비교와 대조 글 요약에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넣을 두 가지는?</a:t>
            </a:r>
            <a:endParaRPr lang="ko-KR" sz="2200" dirty="0"/>
          </a:p>
        </p:txBody>
      </p:sp>
      <p:sp>
        <p:nvSpPr>
          <p:cNvPr id="11" name="S13-text7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주장과 근거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구조와 틀</a:t>
            </a:r>
            <a:endParaRPr lang="ko-KR" sz="4000" dirty="0"/>
          </a:p>
        </p:txBody>
      </p:sp>
      <p:sp>
        <p:nvSpPr>
          <p:cNvPr id="3" name="S14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구조마다 맞는 틀과 이어 쓰는 말이 있어요.</a:t>
            </a:r>
            <a:endParaRPr lang="ko-KR" sz="2800" dirty="0"/>
          </a:p>
        </p:txBody>
      </p:sp>
      <p:sp>
        <p:nvSpPr>
          <p:cNvPr id="4" name="S14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먼저 찾으면 틀과 이어 쓰는 말이 정해져요.</a:t>
            </a:r>
            <a:endParaRPr lang="ko-KR" sz="2800" dirty="0"/>
          </a:p>
        </p:txBody>
      </p:sp>
      <p:graphicFrame>
        <p:nvGraphicFramePr>
          <p:cNvPr id="14" name="S14-table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85060"/>
          <a:ext cx="10058400" cy="914400"/>
        </p:xfrm>
        <a:graphic>
          <a:graphicData uri="http://schemas.openxmlformats.org/drawingml/2006/table">
            <a:tbl>
              <a:tblPr/>
              <a:tblGrid>
                <a:gridCol w="3419856"/>
                <a:gridCol w="3319272"/>
                <a:gridCol w="3319272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이어 쓰는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 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차례 상자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· 그다음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비교와 대조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견주는 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 다 · 하지만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원인과 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화살표 상자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때문에 · 그래서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문제와 해결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문제·해결 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~하려면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구조에 따라 요약하기</dc:title>
  <dc:subject>KR22-G05-KOR-SUMMARY-L01</dc:subject>
  <dc:creator>education-ppt</dc:creator>
  <cp:lastModifiedBy>education-ppt</cp:lastModifiedBy>
  <cp:revision>1</cp:revision>
  <dcterms:created xsi:type="dcterms:W3CDTF">2026-10-26T08:20:24Z</dcterms:created>
  <dcterms:modified xsi:type="dcterms:W3CDTF">2026-10-26T08:20:24Z</dcterms:modified>
</cp:coreProperties>
</file>