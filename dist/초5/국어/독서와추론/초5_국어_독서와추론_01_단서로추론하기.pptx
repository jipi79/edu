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c4d439c-75fb-5f9c-b93d-bd0a68431944}">
          <p14:sldIdLst>
            <p14:sldId id="256"/>
            <p14:sldId id="257"/>
          </p14:sldIdLst>
        </p14:section>
        <p14:section name="개념" id="{0577204d-d231-c57f-3016-3ffab2b5f43e}">
          <p14:sldIdLst>
            <p14:sldId id="258"/>
            <p14:sldId id="259"/>
            <p14:sldId id="260"/>
            <p14:sldId id="261"/>
          </p14:sldIdLst>
        </p14:section>
        <p14:section name="연습" id="{fbb38154-637f-9952-a1a0-2a72a24f858c}">
          <p14:sldIdLst>
            <p14:sldId id="262"/>
            <p14:sldId id="263"/>
            <p14:sldId id="264"/>
          </p14:sldIdLst>
        </p14:section>
        <p14:section name="확인" id="{760c3fbd-c6bb-f84e-4e6c-6a4bfaa286a2}">
          <p14:sldIdLst>
            <p14:sldId id="265"/>
            <p14:sldId id="266"/>
            <p14:sldId id="267"/>
          </p14:sldIdLst>
        </p14:section>
        <p14:section name="정리" id="{46419ae8-8f55-35f4-a881-fdad7ed0ce11}">
          <p14:sldIdLst>
            <p14:sldId id="268"/>
          </p14:sldIdLst>
        </p14:section>
        <p14:section name="보충" id="{5a78d87a-a6e4-ed01-34de-14e3412d34b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생활 속 짐작을 떠올리며 오늘 배울 ‘추론’이 무엇인지 생각하게 합니다.
시간: 약 2분
이렇게 말해 보세요
- “현관에 젖은 우산이 세워져 있고, 신발에 물기가 묻어 있으면 무엇을 알 수 있을까? 아무도 비가 왔다고 말해 주지 않았는데도 말이야.”
- “어떻게 알았어? 우산과 신발이 ‘단서’가 됐고, 비가 오면 우산이 젖는다는 걸 이미 알고 있었지. 이렇게 단서와 아는 것으로 쓰여 있지 않은 것을 알아내는 걸 ‘추론’이라고 해.”
예상 답
- “밖에 비가 왔어요.” “누가 밖에 나갔다 왔어요.”
막히면
- 실제로 집 안의 물건 하나(예: 식탁 위 빈 그릇)를 보여 주고 “이걸 보면 무슨 일이 있었던 것 같아?”라고 묻습니다.
주의
- 아이가 어떤 짐작을 하든 “무엇을 보고 그렇게 생각했어?”를 꼭 묻습니다. 오늘 내내 쓰는 질문입니다.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확인(중심 내용 간추리기)]
목적: 4학년 ‘중심 내용 간추리기’(KR22-G04-KOR-SUMMARY-L01)에서 배운, 문단마다 중심 내용을 찾아 간추리는 힘이 있는지 확인합니다. 추론은 글에 드러난 내용을 정확히 아는 데서 시작합니다.
시간: 약 3분
이렇게 말해 보세요
- “먼저 글에 쓰여 있는 내용부터 확인해 보자. 문단마다 중심 내용은 무엇이야? 두 문단을 이어 간추려 말해 볼래?”
정답
- 예: 꿀벌은 꽃에서 꿀과 꽃가루를 모으고, 꽃가루를 옮겨 열매가 맺히는 것을 돕습니다.
- 기준: ① 꿀과 꽃가루를 모은다 ② 꽃가루를 옮겨 열매 맺기를 돕는다가 모두 들어가고, ‘벌집에 저장’, ‘날아다니는 동안’ 같은 자세한 말을 뺐으면 잘함
막히면
- “①문단은 꿀벌이 무엇을 한다는 이야기야? ②문단은?”이라고 문단마다 한마디로 묻습니다.
- 문단의 중심 내용을 찾지 못하면 S14(보충)를 먼저 하고, 그래도 어려우면 4학년 ‘중심 내용 간추리기’(KR22-G04-KOR-SUMMARY-L01)를 다시 합니다.
주의
- 한 문단만 말하면 “다른 문단의 중심 내용은?”이라고 묻습니다. 글에 쓰인 내용을 바르게 간추리지 못하면 추론도 어렵습니다.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추론의 뜻: 단서와 배경지식]
목적: 추론의 뜻과, 추론에 필요한 두 가지(단서, 배경지식)를 알려 줍니다(목표 A).
시간: 약 3분
이렇게 말해 보세요
- “젖은 우산 이야기에서 ‘젖은 우산’은 눈에 보이는 단서였어. ‘비가 오면 우산이 젖는다’는 네가 이미 알고 있던 거지. 이걸 배경지식이라고 해.”
- “단서와 배경지식을 이으면 ‘비가 왔구나’ 하고 추론할 수 있어. 글을 읽을 때도 똑같이 해.”
예상 답
- “단서는 보이는 거고, 배경지식은 내가 아는 거예요.”
막히면
- “엄마(아빠)가 하품을 계속하면 무엇을 알 수 있어?” 같은 생활 예를 하나 더 들고, 단서와 배경지식을 나누어 말하게 합니다.
주의
- 단서만 있고 배경지식이 없으면 추론하기 어렵습니다. 아이가 모르는 내용이면 부모가 배경지식을 알려 주어도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읽기(때와 인물의 마음 추론)]
목적: 부모가 생각을 소리 내어 말하며 단서를 찾고 배경지식과 이어 추론하는 과정을 보여 줍니다(목표 A).
시간: 약 4분
이렇게 말해 보세요
- “글에 ‘겨울’이라는 말은 없어. 그런데 ‘차가운 바람’, ‘목도리’, ‘장갑’이 있네. 이게 단서야. 나는 추울 때 목도리와 장갑을 한다는 걸 알고 있어. 그래서 계절은 겨울인 것 같아.”
- “‘잎이 하나도 없는 나뭇가지’, ‘하얀 입김’도 단서가 되겠다. 왜 그런지 네가 말해 볼래?”
- “②문단은 같이 해 보자. 민재는 왜 얼굴이 하얘졌을까? 어떤 낱말이 단서야?”
예상 답
- “겨울에는 나뭇잎이 다 떨어져요. 추우면 입김이 하얗게 보여요.”
- “숙제 공책을 집에 두고 와서 놀랐어요. ‘책상 위에 펼쳐 둔’이 단서예요.”
정답
- ① 계절: 겨울(단서: 차가운 바람, 목도리, 장갑, 잎이 없는 나뭇가지, 하얀 입김)
- ② 민재는 숙제 공책을 집에 두고 와서 당황했다(단서: 가방을 열어 보더니 얼굴이 하얘짐, 책상 위에 펼쳐 둔 숙제 공책이 떠오름)
막히면
- “글에 ‘겨울’이라고 쓰여 있어? 그럼 어떤 낱말을 보고 알 수 있을까?”라고 묻고 단서에 손가락을 대게 합니다.
주의
- ‘민재가 장갑을 꼈다’처럼 글에 쓰인 것을 말하면 그것은 단서이고, 추론은 쓰여 있지 않은 ‘겨울’이라는 점을 짚어 줍니다(오해 M4).
- ②는 ‘당황했다’, ‘걱정했다’, ‘놀랐다’ 모두 단서가 받쳐 주므로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단서·배경지식·추론 표로 정리]
목적: 추론을 ‘단서 → 배경지식 → 추론’의 표로 정리해, 근거를 나누어 보게 합니다(목표 A, 오해 M2·M4).
시간: 약 3분
이렇게 말해 보세요
- “왼쪽 칸은 글에 쓰여 있는 것, 가운데 칸은 내가 알고 있는 것, 오른쪽 칸은 글에 쓰여 있지 않은데 알아낸 거야.”
- “첫째 줄을 이어서 말해 볼까? ‘목도리, 장갑, 하얀 입김을 보니, 겨울엔 춥고 입김이 보이니까, 계절은 겨울인 것 같아요.’”
예상 답
- 아이가 둘째 줄을 ‘가방을 열고 얼굴이 하얘진 것을 보니, 놀라면 얼굴이 하얘지니까, 공책을 두고 와서 당황한 것 같아요.’처럼 이어 말합니다.
막히면
- 표의 한 줄을 손가락으로 왼쪽에서 오른쪽으로 짚으며 부모가 먼저 읽고 따라 하게 합니다.
주의
- ‘잎이 없는 나뭇가지’도 단서 칸에 넣을 수 있습니다. 화면에는 자리가 좁아 줄였습니다.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추론하는 순서와 말틀]
목적: 지금까지 한 일을 순서로 정리하고, 근거를 함께 말하는 말틀과 확인하는 습관을 알려 줍니다(목표 A·B, 오해 M2).
시간: 약 2분
이렇게 말해 보세요
- “‘민재의 아침’에서 우리가 한 순서야. 하나씩 같이 읽어 볼까?”
- “4번 말틀이 중요해. ‘무엇을 보니’가 단서, ‘~이니까’가 배경지식이야. 그리고 마지막에 글을 다시 읽어서 단서와 맞는지 확인해.”
예상 답
- 아이가 1~4를 자기 말로 다시 말합니다.
막히면
- S04와 S05로 돌아가 단계마다 무엇을 했는지 짚어 봅니다.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추론하기(곳과 까닭)]
목적: S06의 순서대로 함께 단서를 찾고, 곳(장소)을 추론하며 근거를 말해 봅니다(목표 A).
시간: 약 4분
이렇게 말해 보세요
- “1단계, 알아낼 것은 ‘어디?’야. 2단계, 장소를 알려 주는 단서에 밑줄을 그어 볼까? 활동지 2에 같은 글이 있어.”
- “3단계, 짭짤한 냄새는 어디에서 나지? ‘쏴아’ 소리는? 4단계, 말틀로 말해 볼래?”
- “덤으로, 계절도 추론할 수 있을까? 어떤 낱말이 단서야?”
정답
- 곳: 바닷가(바다 가까운 마을). 단서: 짭짤한 냄새(바닷물은 짜다), 쏴아 하는 소리(파도 소리), 끼룩끼룩 우는 하얀 새(갈매기), 모래, 물가
- 계절: 여름(단서: 뜨거운 모래, 맨발로 물가로 달려감) — 덤 질문이므로 못 해도 괜찮음
- 기준: 바다와 관련된 곳을 말하고 단서를 둘 이상 들면 잘함
막히면
- “바닷물을 맛본 적 있어? 어떤 맛이었어?”처럼 배경지식을 먼저 꺼내 줍니다.
- 부모가 첫 단서(짭짤한 냄새)를 짚어 주고 나머지를 찾게 합니다.
주의
- ‘강가’라고 하면 “강물에서 짭짤한 냄새가 날까?”라고 물어 단서와 맞는지 확인하게 합니다(목표 B와 이어짐).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비교(단서 없는 추론)]
목적: 추론은 마음대로 상상하는 것이 아니라 글의 단서에 기대어 하는 것임을 비교로 확인합니다(목표 B, 오해 M1).
시간: 약 3분
이렇게 말해 보세요
- “나 친구는 글의 어느 낱말을 보고 놀이공원이라고 했을까? 글에 놀이공원의 단서가 있어?”
- “알맞은 추론인지 확인하는 질문 두 가지를 기억하자. 글에 단서가 있나요? 단서와 맞나요?”
정답
- 가. 글의 단서(짭짤한 냄새, 파도 소리, 모래)를 들어 추론했습니다.
- 나는 글에 단서가 없고, 자기가 바라는 것을 말했습니다. 추론이 아니라 상상입니다.
막히면
- S07의 글을 다시 보여 주고 ‘놀이공원’과 관련된 낱말이 있는지 함께 찾아봅니다.
주의
- 상상하는 것 자체가 나쁜 것은 아니라고 말해 줍니다. 다만 글을 읽고 추론할 때는 단서가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여러 추론 따지기(답이 여럿일 수 있음)]
목적: 단서가 받쳐 주면 서로 다른 추론도 알맞을 수 있고, 단서가 없는 추론은 알맞지 않다는 것을 따져 봅니다(목표 A·B, 오해 M3).
시간: 약 3분
이렇게 말해 보세요
- “세 추론을 하나씩 두 가지 질문으로 따져 볼까? ①은 글에 단서가 있어?”
- “①과 ②는 서로 다른데, 둘 다 알맞을 수 있을까?”
정답
- ① 알맞음(단서: 모래 위를 뛰어감 — 모래밭을 걸으면 신발에 모래가 들어간다는 배경지식)
- ② 알맞음(단서: 물가로 달려감 — 물에 들어가려면 신발을 벗는다는 배경지식)
- ③ 알맞지 않음(운동화가 작다거나 발이 아프다는 단서가 글에 없음)
- ①과 ②는 모두 단서가 받쳐 주므로 둘 다 맞습니다. ‘신발이 젖지 않게’도 단서(물가)가 있어 맞습니다.
막히면
- 추론마다 “글의 어느 문장이 이 생각을 도와줘?”라고 묻고, 그 문장을 찾으면 ○, 못 찾으면 ×를 하게 합니다.
주의
- 아이가 ①만 맞다고 고집하면 “②를 받쳐 주는 단서는 없을까?”라고 물어 ‘물가로 달려갔습니다’를 찾게 합니다. 기준은 ‘단서가 있고 단서와 맞는가’입니다.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추론하기(어떤 날, 인물의 마음)]
목적: 도움 없이 단서를 찾아 추론하고, 단서와 배경지식을 함께 말하는지 확인합니다(목표 A).
시간: 약 6분
이렇게 말해 보세요
- “이번에는 혼자 해 볼래? 활동지 3에 같은 글이 있으니 단서에 밑줄을 긋고 표를 채워 봐.”
- “다 쓰면 S06의 말틀로 두 가지를 말해 줘. ‘~을 보니, ~이니까, ~인 것 같아요.’”
정답
- 어떤 날: 서윤이의 생일(단서: ‘축하해, 서윤아!’, 리본을 묶은 상자(선물), 친구들이 손뼉을 치며 부르는 노래)
- 마음: 놀라고 기쁘다, 감동했다(단서: 양손으로 입을 가림, 눈을 동그랗게 뜸 — 깜짝 놀라면 입을 가리고 눈이 커진다는 배경지식)
- 기준: 추론마다 단서를 하나 이상 함께 말하면 잘함. ‘상을 받은 날’처럼 다른 축하할 일을 말해도 ‘축하해’, ‘선물’ 같은 단서를 들면 인정합니다.
막히면
- S06의 단계 1로 돌아가 “알아낼 것이 두 가지야. 하나는 어떤 날인지, 하나는 마음이야.”라고 나누어 줍니다.
- 도움을 받아 해결했다면 기록표에 ‘도움’으로 표시합니다.
주의
- ‘슬펐다’, ‘화가 났다’처럼 단서가 없는 마음을 말하면 “그렇게 생각한 단서가 글에 있어?”라고 묻습니다. 답만 말하고 단서를 말하지 못하면 ‘추론만’으로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추론과 단서를 함께 확인하고 흔한 실수와 비교합니다.
시간: 약 2분
이렇게 말해 보세요
- “네 추론은 왼쪽과 같아? 단서도 말했어?”
- “오른쪽 두 답은 왜 아쉬울까?”
예상 답
- “‘슬퍼요’는 글에 그런 단서가 없어요.”
정답
- 어떤 날: 생일(축하해, 리본을 묶은 상자, 손뼉 치며 부르는 노래) / 마음: 놀라고 기쁘다(양손으로 입을 가림, 눈을 동그랗게 뜸). 단서를 들면 ‘감동했다’, ‘신났다’도 맞음
막히면
- 아이가 쓴 표에서 단서 칸이 빈 곳을 함께 채워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확인(알맞은 추론 고르기)]
목적: 처음 보는 글에서 단서가 받쳐 주는 추론과 그렇지 않은 추론을 가리는지 확인합니다(목표 B).
시간: 약 3분
이렇게 말해 보세요
- “알맞은 추론을 모두 골라 볼래? 고른 것마다 어떤 단서를 보고 골랐는지 말해 줘. 알맞지 않은 것은 어느 질문에 걸려?”
정답
- 알맞은 추론: ①(땀을 닦음), ②(흙이 묻은 장갑), ③(빈 물병 — 땀을 흘리면 목이 마르다는 배경지식)
- 알맞지 않은 추론: ④. 영화관과 관련된 단서가 없고, 땀과 흙 묻은 장갑이라는 단서와도 맞지 않습니다.
- ③을 ‘물을 화분에 부었을 수도 있다’며 고르지 않아도, 단서를 들어 까닭을 말하면 인정합니다.
막히면
- S06의 확인 질문 두 가지(글에 단서가 있나요? 단서와 맞나요?)를 보여 주고 하나씩 ○, ×를 하게 합니다.
주의
- 고르기만 하고 단서를 말하지 못하면 기록표에 ‘고르기만’으로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“추론하는 방법을 한 문장으로 말해 볼래?”
예상 답
- “글에서 단서를 찾고 내가 아는 걸 떠올려서 쓰여 있지 않은 걸 알아내요.”
정답
- ① 단서(글에 쓰여 있는 것), 배경지식(내가 아는 것) ② 글에 단서가 있나요? 단서와 맞나요? ③ 비가 왔다(누군가 밖에 다녀왔다)
막히면
- S03과 S06을 다시 보여 줍니다.
주의
- 책을 읽어 줄 때 “이 사람은 지금 어떤 마음일까? 어떻게 알았어?”라고 물어보면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보충(다른 문장을 묶는 중심 문장 찾기)]
목적: 문단에서 중심 문장과 자세한 예를 나누는 힘을 먼저 다집니다. 중심 내용을 찾아야 간추리기도, 추론도 할 수 있습니다.
시간: 약 4분
이렇게 말해 보세요
- “네 문장 가운데 나머지 세 문장을 모두 품는 문장은 어느 것일까? 떡, 고등어, 사과와 배는 모두 무엇이야?”
- “찾았으면 그 문장을 맨 앞에 두고 한 문단으로 읽어 볼까?”
정답
- ‘우리 동네 시장에는 먹을거리가 많아요.’ 나머지 세 문장은 먹을거리의 자세한 예입니다.
막히면
- 부엌에서 과일·채소를 몇 가지 꺼내 놓고 “이것들을 한마디로 하면?”이라고 묻는 놀이로 묶는 말을 먼저 익힙니다.
- 보충으로도 어렵다면 이 차시의 선수 차시인 4학년 ‘중심 내용 간추리기’(KR22-G04-KOR-SUMMARY-L01)를 먼저 다시 합니다. 문단에서 중심 문장 찾기부터 어렵다면 3학년 ‘문단의 중심 문장’(KR22-G03-KOR-MAINIDEA-L01)으로 거슬러 갑니다.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독서와추론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단서로 추론하기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단서로 추론하기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단서로 추론하기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단서로 추론하기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쓰여 있지 않은 것을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알아낼까?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단서와 내가 아는 것으로 글에 없는 내용을 추론할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추론이 알맞은지 단서로 따질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내용을 간추려 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문단의 중심 내용을 한두 문장으로 간추려 말해요.</a:t>
            </a:r>
            <a:endParaRPr lang="ko-KR" sz="28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꿀벌이 하는 일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꿀벌은 꽃에서 꿀과 꽃가루를 모읍니다. 모은 꿀은 벌집에 저장해 두었다가 먹이로 씁니다.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꿀벌은 꽃가루를 옮기는 일도 합니다. 꽃 사이를 날아다니는 동안 몸에 묻은 꽃가루가 다른 꽃으로 옮겨져 열매가 맺히는 것을 돕습니다.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추론은 이렇게 해요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추론: 글에 쓰여 있지 않은 내용을 알아내기</a:t>
            </a:r>
            <a:endParaRPr lang="ko-KR" sz="28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 + 배경지식 → 추론</a:t>
            </a:r>
            <a:endParaRPr lang="ko-KR" sz="2800" dirty="0"/>
          </a:p>
        </p:txBody>
      </p:sp>
      <p:sp>
        <p:nvSpPr>
          <p:cNvPr id="6" name="S03-card1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쓰여 있는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낱말과 문장</a:t>
            </a:r>
            <a:endParaRPr lang="ko-KR" sz="2800" dirty="0"/>
          </a:p>
        </p:txBody>
      </p:sp>
      <p:sp>
        <p:nvSpPr>
          <p:cNvPr id="8" name="S03-card1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배경지식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있는 것</a:t>
            </a:r>
            <a:endParaRPr lang="ko-KR" sz="2800" dirty="0"/>
          </a:p>
        </p:txBody>
      </p:sp>
      <p:sp>
        <p:nvSpPr>
          <p:cNvPr id="10" name="S03-card1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이어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쓰여 있지 않은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내용을 짐작하기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‘민재의 아침’ 추론하기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 언제일까요? 민재에게 무슨 일이 생겼을까요?</a:t>
            </a:r>
            <a:endParaRPr lang="ko-KR" sz="2800" dirty="0"/>
          </a:p>
        </p:txBody>
      </p:sp>
      <p:sp>
        <p:nvSpPr>
          <p:cNvPr id="5" name="S04-passagebox1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민재의 아침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민재가 현관문을 열자 차가운 바람이 훅 들어왔습니다. 민재는 목도리를 두 번 감고 장갑을 꼈습니다. 길가의 나뭇가지에는 잎이 하나도 없었고, 숨을 내쉴 때마다 하얀 입김이 나왔습니다.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학교 앞에 다다른 민재는 가방을 열어 보더니 얼굴이 하얘졌습니다. 어젯밤 책상 위에 펼쳐 둔 숙제 공책이 떠올랐습니다.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단서와 배경지식을 표로</a:t>
            </a:r>
            <a:endParaRPr lang="ko-KR" sz="4000" dirty="0"/>
          </a:p>
        </p:txBody>
      </p:sp>
      <p:sp>
        <p:nvSpPr>
          <p:cNvPr id="3" name="S05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‘민재의 아침’에서 추론한 것을 표에 정리했어요.</a:t>
            </a:r>
            <a:endParaRPr lang="ko-KR" sz="2800" dirty="0"/>
          </a:p>
        </p:txBody>
      </p:sp>
      <p:sp>
        <p:nvSpPr>
          <p:cNvPr id="4" name="S05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추론을 말할 때는 단서와 배경지식을 함께 말해요.</a:t>
            </a:r>
            <a:endParaRPr lang="ko-KR" sz="2800" dirty="0"/>
          </a:p>
        </p:txBody>
      </p:sp>
      <p:graphicFrame>
        <p:nvGraphicFramePr>
          <p:cNvPr id="6" name="S05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916555"/>
          <a:ext cx="10972800" cy="914400"/>
        </p:xfrm>
        <a:graphic>
          <a:graphicData uri="http://schemas.openxmlformats.org/drawingml/2006/table">
            <a:tbl>
              <a:tblPr/>
              <a:tblGrid>
                <a:gridCol w="3730752"/>
                <a:gridCol w="3621024"/>
                <a:gridCol w="3621024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단서(글에서)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배경지식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목도리, 장갑, 하얀 입김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겨울엔 춥고 입김이 보여요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계절은 겨울이에요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가방을 열고 얼굴이 하얘짐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놀라면 얼굴이 하얘져요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공책을 두고 와 당황했어요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추론하는 순서</a:t>
            </a:r>
            <a:endParaRPr lang="ko-KR" sz="4000" dirty="0"/>
          </a:p>
        </p:txBody>
      </p:sp>
      <p:sp>
        <p:nvSpPr>
          <p:cNvPr id="3" name="S06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추론한 뒤에는 글을 다시 읽고 단서와 맞는지 확인해요.</a:t>
            </a:r>
            <a:endParaRPr lang="ko-KR" sz="2800" dirty="0"/>
          </a:p>
        </p:txBody>
      </p:sp>
      <p:sp>
        <p:nvSpPr>
          <p:cNvPr id="5" name="S06-stepno2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6-text27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알아낼지 정해요. (언제? 어디? 왜? 마음은?)</a:t>
            </a:r>
            <a:endParaRPr lang="ko-KR" sz="2800" dirty="0"/>
          </a:p>
        </p:txBody>
      </p:sp>
      <p:sp>
        <p:nvSpPr>
          <p:cNvPr id="7" name="S06-stepno2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6-text29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글에서 단서를 찾아 밑줄을 그어요.</a:t>
            </a:r>
            <a:endParaRPr lang="ko-KR" sz="2800" dirty="0"/>
          </a:p>
        </p:txBody>
      </p:sp>
      <p:sp>
        <p:nvSpPr>
          <p:cNvPr id="9" name="S06-stepno3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6-text31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단서와 관련해 내가 아는 것을 떠올려요.</a:t>
            </a:r>
            <a:endParaRPr lang="ko-KR" sz="2800" dirty="0"/>
          </a:p>
        </p:txBody>
      </p:sp>
      <p:sp>
        <p:nvSpPr>
          <p:cNvPr id="11" name="S06-stepno3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6-text33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‘~을 보니, ~이니까, ~인 것 같아요.’로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‘할머니 댁에 간 날’ 함께 읽기</a:t>
            </a:r>
            <a:endParaRPr lang="ko-KR" sz="4000" dirty="0"/>
          </a:p>
        </p:txBody>
      </p:sp>
      <p:sp>
        <p:nvSpPr>
          <p:cNvPr id="3" name="S07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댁은 어디에 있을까요? 단서를 함께 말해요.</a:t>
            </a:r>
            <a:endParaRPr lang="ko-KR" sz="2800" dirty="0"/>
          </a:p>
        </p:txBody>
      </p:sp>
      <p:sp>
        <p:nvSpPr>
          <p:cNvPr id="5" name="S07-passagebox3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3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댁에 간 날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버스에서 내리자 짭짤한 냄새가 바람에 실려 왔습니다. 멀리서 쏴아 하는 소리가 끝없이 들리고, 하얀 새들이 끼룩끼룩 울며 하늘을 빙빙 돌았습니다.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지우는 운동화와 양말을 벗어 손에 들었습니다. 그러고는 뜨거운 모래 위를 깡충깡충 뛰어 물가로 달려갔습니다.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알맞게 추론했을까?</a:t>
            </a:r>
            <a:endParaRPr lang="ko-KR" sz="4000" dirty="0"/>
          </a:p>
        </p:txBody>
      </p:sp>
      <p:sp>
        <p:nvSpPr>
          <p:cNvPr id="3" name="S08-card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‘할머니 댁은 어디에 있을까?’에 두 친구가 이렇게 답했어요.</a:t>
            </a:r>
            <a:endParaRPr lang="ko-KR" sz="2800" dirty="0"/>
          </a:p>
        </p:txBody>
      </p:sp>
      <p:sp>
        <p:nvSpPr>
          <p:cNvPr id="5" name="S08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알맞게 추론했나요? 왜 그럴까요?</a:t>
            </a:r>
            <a:endParaRPr lang="ko-KR" sz="2800" dirty="0"/>
          </a:p>
        </p:txBody>
      </p:sp>
      <p:sp>
        <p:nvSpPr>
          <p:cNvPr id="7" name="S08-chip4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 있어요. 짭짤한 냄새와 파도 소리, 모래가 단서예요.</a:t>
            </a:r>
            <a:endParaRPr lang="ko-KR" sz="2800" dirty="0"/>
          </a:p>
        </p:txBody>
      </p:sp>
      <p:sp>
        <p:nvSpPr>
          <p:cNvPr id="9" name="S08-chip4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4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놀이공원 옆에 있어요. 저라면 놀이공원에 가고 싶으니까요.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왜 운동화를 벗었을까?</a:t>
            </a:r>
            <a:endParaRPr lang="ko-KR" sz="4000" dirty="0"/>
          </a:p>
        </p:txBody>
      </p:sp>
      <p:sp>
        <p:nvSpPr>
          <p:cNvPr id="3" name="S09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친구가 지우가 운동화를 벗은 까닭을 추론했어요.</a:t>
            </a:r>
            <a:endParaRPr lang="ko-KR" sz="2800" dirty="0"/>
          </a:p>
        </p:txBody>
      </p:sp>
      <p:sp>
        <p:nvSpPr>
          <p:cNvPr id="4" name="S09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단서가 있나요? 단서와 맞나요?</a:t>
            </a:r>
            <a:endParaRPr lang="ko-KR" sz="2800" dirty="0"/>
          </a:p>
        </p:txBody>
      </p:sp>
      <p:sp>
        <p:nvSpPr>
          <p:cNvPr id="6" name="S09-chip4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5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모래가 신발에 들어가지 않게 하려고요.</a:t>
            </a:r>
            <a:endParaRPr lang="ko-KR" sz="2800" dirty="0"/>
          </a:p>
        </p:txBody>
      </p:sp>
      <p:sp>
        <p:nvSpPr>
          <p:cNvPr id="8" name="S09-chip5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물가에서 발을 담그고 놀고 싶어서요.</a:t>
            </a:r>
            <a:endParaRPr lang="ko-KR" sz="2800" dirty="0"/>
          </a:p>
        </p:txBody>
      </p:sp>
      <p:sp>
        <p:nvSpPr>
          <p:cNvPr id="10" name="S09-chip5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5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운동화가 작아서 발이 아팠기 때문이에요.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서윤이에게 어떤 날일까요? 서윤이의 마음은 어떨까요?</a:t>
            </a:r>
            <a:endParaRPr lang="ko-KR" sz="2800" dirty="0"/>
          </a:p>
        </p:txBody>
      </p:sp>
      <p:sp>
        <p:nvSpPr>
          <p:cNvPr id="5" name="S10-passagebox5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서윤이의 아침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서윤이가 교실 문을 열자 칠판에 ‘축하해, 서윤아!’라는 글씨가 크게 쓰여 있었습니다. 서윤이의 책상 위에는 리본을 묶은 작은 상자가 놓여 있었습니다.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친구들이 손뼉을 치며 노래를 부르기 시작했습니다. 서윤이는 양손으로 입을 가리고 눈을 동그랗게 떴습니다.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단서가 받쳐 주면 표현이 달라도 맞아요.</a:t>
            </a:r>
            <a:endParaRPr lang="ko-KR" sz="2800" dirty="0"/>
          </a:p>
        </p:txBody>
      </p:sp>
      <p:sp>
        <p:nvSpPr>
          <p:cNvPr id="5" name="S11-chip6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62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생일이에요</a:t>
            </a:r>
            <a:endParaRPr lang="ko-KR" sz="2800" dirty="0"/>
          </a:p>
        </p:txBody>
      </p:sp>
      <p:sp>
        <p:nvSpPr>
          <p:cNvPr id="7" name="S11-text63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축하해, 선물 상자, 노래</a:t>
            </a:r>
            <a:endParaRPr lang="ko-KR" sz="2200" dirty="0"/>
          </a:p>
        </p:txBody>
      </p:sp>
      <p:sp>
        <p:nvSpPr>
          <p:cNvPr id="8" name="S11-text64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놀라고 기뻐요</a:t>
            </a:r>
            <a:endParaRPr lang="ko-KR" sz="2800" dirty="0"/>
          </a:p>
        </p:txBody>
      </p:sp>
      <p:sp>
        <p:nvSpPr>
          <p:cNvPr id="9" name="S11-text65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입을 가림, 눈이 동그래짐</a:t>
            </a:r>
            <a:endParaRPr lang="ko-KR" sz="2200" dirty="0"/>
          </a:p>
        </p:txBody>
      </p:sp>
      <p:sp>
        <p:nvSpPr>
          <p:cNvPr id="10" name="S11-chip6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1-text6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슬퍼요</a:t>
            </a:r>
            <a:endParaRPr lang="ko-KR" sz="2800" dirty="0"/>
          </a:p>
        </p:txBody>
      </p:sp>
      <p:sp>
        <p:nvSpPr>
          <p:cNvPr id="12" name="S11-text6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단서가 없어요</a:t>
            </a:r>
            <a:endParaRPr lang="ko-KR" sz="2200" dirty="0"/>
          </a:p>
        </p:txBody>
      </p:sp>
      <p:sp>
        <p:nvSpPr>
          <p:cNvPr id="13" name="S11-text6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생일이에요.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(까닭 없이)</a:t>
            </a:r>
            <a:endParaRPr lang="ko-KR" sz="2800" dirty="0"/>
          </a:p>
        </p:txBody>
      </p:sp>
      <p:sp>
        <p:nvSpPr>
          <p:cNvPr id="14" name="S11-text7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말하지 않았어요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추론을 모두 골라요</a:t>
            </a:r>
            <a:endParaRPr lang="ko-KR" sz="4000" dirty="0"/>
          </a:p>
        </p:txBody>
      </p:sp>
      <p:sp>
        <p:nvSpPr>
          <p:cNvPr id="3" name="S12-text71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삼촌이 땀을 닦으며 현관으로 들어왔습니다.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손에는 흙이 묻은 장갑과 빈 물병이 들려 있었습니다.</a:t>
            </a:r>
            <a:endParaRPr lang="ko-KR" sz="2800" dirty="0"/>
          </a:p>
        </p:txBody>
      </p:sp>
      <p:sp>
        <p:nvSpPr>
          <p:cNvPr id="4" name="S12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추론마다 단서를 말해요.</a:t>
            </a:r>
            <a:endParaRPr lang="ko-KR" sz="2800" dirty="0"/>
          </a:p>
        </p:txBody>
      </p:sp>
      <p:sp>
        <p:nvSpPr>
          <p:cNvPr id="6" name="S12-chip74"/>
          <p:cNvSpPr txBox="1"/>
          <p:nvPr/>
        </p:nvSpPr>
        <p:spPr>
          <a:xfrm>
            <a:off x="548640" y="27332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2-text75"/>
          <p:cNvSpPr txBox="1"/>
          <p:nvPr/>
        </p:nvSpPr>
        <p:spPr>
          <a:xfrm>
            <a:off x="1344168" y="2376424"/>
            <a:ext cx="4567428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삼촌은 밖에서 힘든 일을 했어요.</a:t>
            </a:r>
            <a:endParaRPr lang="ko-KR" sz="2800" dirty="0"/>
          </a:p>
        </p:txBody>
      </p:sp>
      <p:sp>
        <p:nvSpPr>
          <p:cNvPr id="8" name="S12-chip76"/>
          <p:cNvSpPr txBox="1"/>
          <p:nvPr/>
        </p:nvSpPr>
        <p:spPr>
          <a:xfrm>
            <a:off x="6277356" y="273329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2-text77"/>
          <p:cNvSpPr txBox="1"/>
          <p:nvPr/>
        </p:nvSpPr>
        <p:spPr>
          <a:xfrm>
            <a:off x="7072884" y="2376424"/>
            <a:ext cx="4567428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삼촌은 흙을 만지는 일을 했어요.</a:t>
            </a:r>
            <a:endParaRPr lang="ko-KR" sz="2800" dirty="0"/>
          </a:p>
        </p:txBody>
      </p:sp>
      <p:sp>
        <p:nvSpPr>
          <p:cNvPr id="10" name="S12-chip78"/>
          <p:cNvSpPr txBox="1"/>
          <p:nvPr/>
        </p:nvSpPr>
        <p:spPr>
          <a:xfrm>
            <a:off x="548640" y="419684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2-text79"/>
          <p:cNvSpPr txBox="1"/>
          <p:nvPr/>
        </p:nvSpPr>
        <p:spPr>
          <a:xfrm>
            <a:off x="1344168" y="3839972"/>
            <a:ext cx="4567428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삼촌은 물병의 물을 다 마셨어요.</a:t>
            </a:r>
            <a:endParaRPr lang="ko-KR" sz="2800" dirty="0"/>
          </a:p>
        </p:txBody>
      </p:sp>
      <p:sp>
        <p:nvSpPr>
          <p:cNvPr id="12" name="S12-chip80"/>
          <p:cNvSpPr txBox="1"/>
          <p:nvPr/>
        </p:nvSpPr>
        <p:spPr>
          <a:xfrm>
            <a:off x="6277356" y="419684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2-text81"/>
          <p:cNvSpPr txBox="1"/>
          <p:nvPr/>
        </p:nvSpPr>
        <p:spPr>
          <a:xfrm>
            <a:off x="7072884" y="3839972"/>
            <a:ext cx="4567428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삼촌은 영화관에 다녀왔어요.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단서와 내가 아는 것을 이어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쓰여 있지 않은 내용을 추론해요.</a:t>
            </a:r>
            <a:endParaRPr lang="ko-KR" sz="2800" dirty="0"/>
          </a:p>
        </p:txBody>
      </p:sp>
      <p:sp>
        <p:nvSpPr>
          <p:cNvPr id="5" name="S13-chip8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단서를 함께 말하기</a:t>
            </a:r>
            <a:endParaRPr lang="ko-KR" sz="2200" dirty="0"/>
          </a:p>
        </p:txBody>
      </p:sp>
      <p:sp>
        <p:nvSpPr>
          <p:cNvPr id="6" name="S13-chip8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단서 없이 상상하기</a:t>
            </a:r>
            <a:endParaRPr lang="ko-KR" sz="2200" dirty="0"/>
          </a:p>
        </p:txBody>
      </p:sp>
      <p:sp>
        <p:nvSpPr>
          <p:cNvPr id="7" name="S13-text8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8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추론할 때 쓰는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200" dirty="0"/>
          </a:p>
        </p:txBody>
      </p:sp>
      <p:sp>
        <p:nvSpPr>
          <p:cNvPr id="9" name="S13-text8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알맞은 추론인지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따지는 두 질문은?</a:t>
            </a:r>
            <a:endParaRPr lang="ko-KR" sz="2200" dirty="0"/>
          </a:p>
        </p:txBody>
      </p:sp>
      <p:sp>
        <p:nvSpPr>
          <p:cNvPr id="10" name="S13-text8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젖은 우산으로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추론할 수 있는 것은?</a:t>
            </a:r>
            <a:endParaRPr lang="ko-KR" sz="2200" dirty="0"/>
          </a:p>
        </p:txBody>
      </p:sp>
      <p:sp>
        <p:nvSpPr>
          <p:cNvPr id="11" name="S13-text9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글의 구조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중심 문장 찾기</a:t>
            </a:r>
            <a:endParaRPr lang="ko-KR" sz="4000" dirty="0"/>
          </a:p>
        </p:txBody>
      </p:sp>
      <p:sp>
        <p:nvSpPr>
          <p:cNvPr id="3" name="S14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문장을 모두 묶는 문장은 어느 것일까요?</a:t>
            </a:r>
            <a:endParaRPr lang="ko-KR" sz="2800" dirty="0"/>
          </a:p>
        </p:txBody>
      </p:sp>
      <p:sp>
        <p:nvSpPr>
          <p:cNvPr id="4" name="S14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문장을 묶는 문장이 중심 내용, 나머지는 자세한 예예요.</a:t>
            </a:r>
            <a:endParaRPr lang="ko-KR" sz="2800" dirty="0"/>
          </a:p>
        </p:txBody>
      </p:sp>
      <p:sp>
        <p:nvSpPr>
          <p:cNvPr id="6" name="S14-word94"/>
          <p:cNvSpPr txBox="1"/>
          <p:nvPr/>
        </p:nvSpPr>
        <p:spPr>
          <a:xfrm>
            <a:off x="548640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떡집에서는 갓 찐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떡을 팔아요.</a:t>
            </a:r>
            <a:endParaRPr lang="ko-KR" sz="3200" dirty="0"/>
          </a:p>
        </p:txBody>
      </p:sp>
      <p:sp>
        <p:nvSpPr>
          <p:cNvPr id="7" name="S14-word95"/>
          <p:cNvSpPr txBox="1"/>
          <p:nvPr/>
        </p:nvSpPr>
        <p:spPr>
          <a:xfrm>
            <a:off x="6231636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시장에는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먹을거리가 많아요.</a:t>
            </a:r>
            <a:endParaRPr lang="ko-KR" sz="3200" dirty="0"/>
          </a:p>
        </p:txBody>
      </p:sp>
      <p:sp>
        <p:nvSpPr>
          <p:cNvPr id="8" name="S14-word96"/>
          <p:cNvSpPr txBox="1"/>
          <p:nvPr/>
        </p:nvSpPr>
        <p:spPr>
          <a:xfrm>
            <a:off x="548640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생선 가게에는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고등어가 가득해요.</a:t>
            </a:r>
            <a:endParaRPr lang="ko-KR" sz="3200" dirty="0"/>
          </a:p>
        </p:txBody>
      </p:sp>
      <p:sp>
        <p:nvSpPr>
          <p:cNvPr id="9" name="S14-word97"/>
          <p:cNvSpPr txBox="1"/>
          <p:nvPr/>
        </p:nvSpPr>
        <p:spPr>
          <a:xfrm>
            <a:off x="6231636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 가게에는 사과와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배가 쌓여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단서로 추론하기</dc:title>
  <dc:subject>KR22-G05-KOR-INFER-L01</dc:subject>
  <dc:creator>education-ppt</dc:creator>
  <cp:lastModifiedBy>education-ppt</cp:lastModifiedBy>
  <cp:revision>1</cp:revision>
  <dcterms:created xsi:type="dcterms:W3CDTF">2026-10-26T08:29:48Z</dcterms:created>
  <dcterms:modified xsi:type="dcterms:W3CDTF">2026-10-26T08:29:48Z</dcterms:modified>
</cp:coreProperties>
</file>