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6f1638b3-2687-e78e-edf6-cd334654f48d}">
          <p14:sldIdLst>
            <p14:sldId id="256"/>
            <p14:sldId id="257"/>
          </p14:sldIdLst>
        </p14:section>
        <p14:section name="개념" id="{c37b8055-e12a-8829-9d23-3db58c2c03ab}">
          <p14:sldIdLst>
            <p14:sldId id="258"/>
            <p14:sldId id="259"/>
            <p14:sldId id="260"/>
            <p14:sldId id="261"/>
            <p14:sldId id="262"/>
          </p14:sldIdLst>
        </p14:section>
        <p14:section name="연습" id="{cf0ec304-7134-4e96-4493-b8c22232bd06}">
          <p14:sldIdLst>
            <p14:sldId id="263"/>
            <p14:sldId id="264"/>
            <p14:sldId id="265"/>
          </p14:sldIdLst>
        </p14:section>
        <p14:section name="확인" id="{6afdd0b2-6bf8-818d-0343-e45d3e837d28}">
          <p14:sldIdLst>
            <p14:sldId id="266"/>
            <p14:sldId id="267"/>
            <p14:sldId id="268"/>
          </p14:sldIdLst>
        </p14:section>
        <p14:section name="정리" id="{1e64a201-1805-80c6-17cf-ba8b8bf874ea}">
          <p14:sldIdLst>
            <p14:sldId id="269"/>
          </p14:sldIdLst>
        </p14:section>
        <p14:section name="보충" id="{00d70129-9626-96ee-64e0-5883b5dfd2d0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찾은 자료를 그대로 믿기 전에 확인해야 한다는 것에 관심을 갖게 합니다.
시간: 약 2분
이렇게 말해 보세요
- “숙제하다가 인터넷에서 찾은 내용이 서로 다르게 쓰여 있던 적 있어? 그럴 땐 무엇을 믿어야 할까?”
- “오늘은 자료가 어디에서 나왔는지, 누가 언제 만들었는지 찾고, 믿을 만한지 따져 볼 거야.”
예상 답
- “책이랑 영상이 다르게 말해서 헷갈렸어요.” “많이 본 걸 믿어요.”
막히면
- “엄마(아빠)가 ‘내일 비 온대’라고 말하면 ‘어디서 봤어?’라고 묻지? 그게 오늘 배울 거야.”라고 말해 줍니다.
주의
- ‘많이 본 걸 믿어요’ 같은 답은 고치지 말고 기억해 두었다가 S10에서 다시 이야기합니다. 화면의 자료와 기관, 사람 이름은 모두 지어낸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확인(믿을 만한지 묻는 세 질문, 배경의 때와 곳)]
목적: 4학년 ‘매체 자료 비교’(KR22-G04-KOR-MEDIACOMP-L01)의 세 가지 질문(누가? 언제? 근거?)과 부풀린 말을 기억하는지 확인합니다. 계획상 앞 차시인 ‘인물·사건·배경’(KR22-G05-KOR-STORYELEM-L01)의 배경(때와 곳)도 떠올립니다. 이야기에서 ‘때’를 찾듯 자료에서도 ‘만든 때’를 찾는다고 이어 줍니다.
시간: 약 3분
이렇게 말해 보세요
- “4학년 때 자료가 믿을 만한지 물었던 세 가지 질문 기억나?”
- “③은 지난 시간에 배운 거야. 이야기에서 ‘언제’를 찾았던 것처럼, 오늘은 자료가 ‘언제’ 만들어졌는지도 찾을 거야.”
정답
- ① 누가 만들었나요? 언제 만들었나요? 근거가 있고 부풀린 말은 없나요?
- ② ‘100%’(누구에게나 반드시 그렇다고 부풀린 말)
- ③ 때와 곳
막히면
- ①을 떠올리지 못하면 “‘누가’로 시작하는 질문은? ‘언제’로 시작하는 질문은?”이라고 첫 낱말을 알려 줍니다.
- ①②를 모두 답하지 못하면 S15(보충)를 먼저 합니다.
주의
- ③을 못 해도 오늘 수업에는 지장이 없습니다. 짧게 알려 주고 넘어갑니다.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자료에서 확인할 세 가지]
목적: 자료에서 확인할 세 가지(출처, 만든 사람, 만든 때)의 뜻과 찾는 곳을 알려 줍니다(목표 A).
시간: 약 3분
이렇게 말해 보세요
- “출처는 자료가 나온 곳이야. 어느 누리집, 어느 신문, 어느 책에서 나왔는지야.”
- “만든 사람은 그 자료를 쓰거나 만든 사람이나 기관이야. 그 분야를 잘 아는 사람이 만들었으면 더 믿을 만하겠지?”
- “만든 때는 날짜야. 오래된 자료는 지금과 다를 수 있어서 꼭 봐야 해.”
예상 답
- “동물 이야기는 동물을 연구하는 사람이 쓴 게 더 믿을 만해요.”
막히면
- 집에 있는 책 한 권의 맨 뒤(펴낸 곳, 지은이, 펴낸 날)를 보여 주며 세 가지를 짚어 줍니다.
주의
- 4학년의 ‘누가? 언제?’ 질문에 ‘어디에서 나왔나?(출처)’와 ‘그 분야를 잘 아는가?’, ‘지금도 맞는가?’가 더해졌다고 정리해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시범: 자료 가(전문가가 쓴 잡지 기사)]
목적: 부모가 생각을 소리 내어 말하며 자료에서 출처·만든 사람·만든 때를 찾는 모습을 보여 줍니다(목표 A·B).
시간: 약 3분
이렇게 말해 보세요
- (부모가 소리 내어 읽은 뒤) “맨 아래 작은 글씨를 볼까? ‘별빛 어린이 과학’은 잡지 이름이니까 출처야. ‘올해 5월호’는 만든 때야.”
- “글쓴이는 바다 생물 연구원이래. 고래 이야기를 쓰기에 알맞은 사람일까?”
예상 답
- “네, 바다 생물을 연구하는 사람이니까 고래를 잘 알 것 같아요.”
정답
- 출처: 어린이 과학 잡지 ‘별빛 어린이 과학’(올해 5월호) / 만든 사람: 바다 생물 연구원 한누리 / 만든 때: 올해 5월
- 근거: 고래가 숨 쉬는 방법(허파, 숨구멍)을 설명함
막히면
- S03의 세 카드를 보여 주고 “출처는 어디에서 나왔는지야. 이 글은 무엇에 실렸어?”라고 묻습니다.
주의
- 고래가 허파로 숨 쉬는 포유류라는 것은 널리 알려진 사실입니다. 잡지와 사람 이름은 지어낸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시범: 자료 나(이름을 알 수 없는 게시글)]
목적: 같은 주제를 다룬 게시글에서 출처·만든 사람·만든 때를 찾고, 가 자료와 견주어 믿을 만한지 따져 봅니다(목표 A·B, 오해 M1).
시간: 약 2분
이렇게 말해 보세요
- “이번엔 게시판 글이야. 누가 썼어? ‘바다조아’는 이름일까, 별명일까? 언제 썼는지는 알 수 있어?”
- “가는 고래가 허파로 숨을 쉰다고 했는데 나는 아가미로 숨 쉰다고 했어. 둘 중 어느 쪽을 믿을까? 왜?”
예상 답
- “별명이라 누군지 몰라요. 날짜도 없어요. ‘형이 그랬음’은 근거가 아니에요. 가를 믿을래요.”
정답
- 출처: 누리집 게시판 / 만든 사람: ‘바다조아’라는 별명뿐(누구인지 알 수 없음) / 만든 때: 알 수 없음
- 근거 없이 ‘형이 그랬음’이라고 했고 ‘100% 확실함’이라는 부풀린 말이 있습니다. 가가 더 믿을 만합니다. (실제로 고래는 허파로 숨을 쉽니다.)
막히면
- S04로 돌아가 가의 맨 아래 줄과 나의 맨 위 줄을 번갈아 보여 주며 “누가? 언제?”를 견주어 묻습니다.
주의
- 나의 내용은 틀린 내용으로 일부러 지어낸 것입니다. 수업이 끝나기 전에 고래는 허파로 숨 쉰다는 것을 꼭 다시 확인해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두 자료 비교표]
목적: 두 자료를 출처·만든 사람·만든 때·근거로 비교해 표로 정리하고 판단하는 모습을 보여 줍니다(목표 A·B).
시간: 약 3분
이렇게 말해 보세요
- “우리가 찾은 것을 표로 정리했어. 어느 줄에서 가와 나가 가장 많이 다르지?”
- “나처럼 ‘알 수 없음’이 많은 자료는 어떻게 해야 할까?”
예상 답
- “만든 사람이요. 가는 연구원이고 나는 누군지 몰라요.” “알 수 없음이 많으면 믿지 않거나 다른 자료를 더 찾아봐요.”
막히면
- 표의 줄마다 S04·S05의 어느 부분에서 찾았는지 손가락으로 짚어 줍니다.
주의
- ‘알 수 없음’이 많다고 해서 내용이 반드시 틀린 것은 아닙니다. 다만 확인할 수 없으니 믿기 전에 다른 자료와 견주어 봐야 한다고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믿을 만한지 판단하는 순서]
목적: 자료가 믿을 만한지 판단하는 순서를 정리합니다. 찾을 수 없는 항목은 ‘알 수 없음’으로 적는 것도 중요한 정보라고 알려 줍니다(목표 B, 오해 M4).
시간: 약 3분
이렇게 말해 보세요
- “가와 나를 비교할 때 우리가 이 순서로 했어. 같이 읽어 볼까?”
- “3번이 새로 나왔지? 아무리 믿을 만한 곳에서 만들었어도 오래된 자료는 지금과 다를 수 있어. 다음 장에서 해 볼 거야.”
예상 답
- 아이가 1~5를 자기 말로 다시 말합니다. “출처 찾고, 누가 만들었는지, 언제인지, 근거, 다른 자료랑 비교.”
막히면
- S06의 표를 다시 보여 주고 단계마다 표의 어느 줄인지 짚어 봅니다.
주의
- 아이가 지치면 여기서 쉬고, 다음 날 S08부터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자료 꼬리표에서 세 가지 찾기]
목적: 짧은 꼬리표에서 출처·만든 사람·만든 때를 가려 찾고, 없는 것은 ‘알 수 없음’으로 말하는 연습을 합니다(목표 A, 오해 M4). 활동지 1에 같은 문제가 있습니다.
시간: 약 3분
이렇게 말해 보세요
- “①부터 해 볼까? 어디에서 나온 자료야? 누가 만들었어? 언제야?”
- “②의 ‘숲지기’는 누구인지 알 수 있어? 날짜는?”
정답
- ① 출처: 별빛시 누리집(새 소식) / 만든 사람: 별빛시 환경과 / 만든 때: 9월 2일
- ② 출처: 영상(‘곤충 관찰 일기’) / 만든 사람: ‘숲지기’라는 별명뿐이라 알 수 없음 / 만든 때: 알 수 없음
- ③ 출처: 책 ‘우리 강의 물고기’ / 만든 사람: 물고기 연구가 강바다 / 만든 때: 3년 전
막히면
- 꼬리표의 낱말마다 “이건 어디에서? 누가? 언제?”라고 하나씩 물어 세 칸으로 나누게 합니다.
주의
- ③은 3년 전 책이라도 물고기의 생김새처럼 잘 바뀌지 않는 내용이면 쓸 수 있다고 말해 줍니다. 만든 때가 얼마나 중요한지는 내용에 따라 다릅니다.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오해 비교(믿을 만한 곳의 오래된 안내문)]
목적: 믿을 만한 곳에서 만든 자료라도 만든 때가 지금과 맞지 않으면 그대로 쓸 수 없다는 것을 따져 봅니다(목표 B, 오해 M3). 활동지 2에 같은 안내문이 있습니다.
시간: 약 3분
이렇게 말해 보세요
- “출처와 만든 사람은 도서관이니까 믿을 만하지? 그럼 만든 때는?”
- “여름 방학 안내를 겨울 방학에 그대로 써도 될까? 그럼 어떻게 확인하면 좋을까?”
정답
- 그대로 쓰면 안 됩니다. 출처와 만든 사람(별빛시립도서관)은 믿을 만하지만, 7월 10일에 만든 여름 방학 안내라서 겨울 방학에는 여는 시간이 다를 수 있습니다.
- 확인 방법: 도서관 누리집에서 겨울 방학 안내(최근 날짜)를 찾거나, 도서관에 전화로 물어봅니다. (만든 때를 까닭으로 말하면 맞음)
막히면
- “작년 생일 초대장을 보고 올해 생일 파티에 가면 어떻게 될까?”처럼 빗대어 묻습니다.
주의
- ‘월요일에 쉰다’는 그대로일 수도 있지만, 확인하기 전에는 알 수 없다고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오해 비교(좋아요 수와 믿을 만함)]
목적: 좋아요가 많은 것과 믿을 만한 것은 다르다는 것을 판단 순서로 확인합니다(목표 B, 오해 M2). 활동지 3에 씁니다.
시간: 약 3분
이렇게 말해 보세요
- “다는 좋아요가 520개나 돼. 그럼 믿을 만할까? S07의 순서대로 따져 볼까?”
- “좋아요는 무엇을 뜻할까? 사람들이 내용이 맞는지 확인하고 누른 걸까?”
정답
- 라가 더 믿을 만합니다. 출처(보건소 누리집)와 만든 사람(보건소), 만든 때(6월 1일)를 알 수 있고, ‘알을 낳을 암컷’이라고 까닭을 들어 설명했습니다.
- 다는 누가, 언제 썼는지 알 수 없고 ‘다’, ‘진짜임!!’처럼 근거 없이 부풀렸습니다. 좋아요는 마음에 든 사람의 수일 뿐 맞는지 확인한 수가 아닙니다. (실제로 수컷 모기는 피를 빨지 않고 꽃의 꿀이나 식물의 즙을 먹습니다.)
막히면
- “반 친구들이 모두 ‘내일 쉬는 날이래!’ 하고 말하면 정말 쉬는 날일까? 어디에서 확인해야 해?”라고 묻습니다.
주의
- S01에서 ‘많이 본 걸 믿어요’라고 했다면 여기서 다시 떠올려 생각이 바뀌었는지 물어봅니다.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찾기(자료 세 개의 출처·만든 사람·만든 때)]
목적: 도움 없이 처음 보는 자료 세 개의 출처·만든 사람·만든 때를 찾는지 확인합니다(목표 A). 활동지 4의 표에 씁니다.
시간: 약 5분
이렇게 말해 보세요
- “이번에는 혼자 해 볼래? 활동지 4의 표를 채우고, ②도 답해 줘.”
정답
- 가: 출처 – 별빛구청 누리집(공지) / 만든 사람 – 별빛구청 문화과 / 만든 때 – 10월 2일
- 나: 출처 – 동네 게시판 / 만든 사람 – 알 수 없음 / 만든 때 – 알 수 없음
- 다: 출처 – 축제 전단지 / 만든 사람 – 별빛구청 / 만든 때 – 작년 9월
- ② 가. 축제를 여는 구청이 올해(10월 2일) 알린 공지이기 때문입니다. 다는 같은 구청이 만들었지만 작년 전단지라 올해 날짜와 다르고, 나는 누가 언제 썼는지 알 수 없습니다.
막히면
- S07의 1~3단계만 보여 주고 자료마다 한 단계씩 묻습니다.
- 도움을 받아 찾았다면 기록표에 ‘도움’으로 표시합니다.
주의
- 다의 만든 사람(별빛구청)을 보고 ‘믿을 만해요’라고만 하면 “언제 만들었어?”라고 되묻습니다(오해 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확인하고 흔한 실수와 비교합니다.
시간: 약 1분
이렇게 말해 보세요
- “네 표와 왼쪽을 견주어 볼래? 다른 칸이 있으면 화면의 꼬리표를 다시 읽어 보자.”
예상 답
- “나를 빈칸으로 두었어요. ‘알 수 없음’이라고 쓸게요.”
정답
- 가: 별빛구청 누리집, 별빛구청 문화과, 10월 2일 / 나: 동네 게시판, 알 수 없음, 알 수 없음 / 다: 축제 전단지, 별빛구청, 작년 9월 / ② 가
막히면
- 틀린 칸이 있으면 S03의 카드를 다시 보며 그 칸이 무엇을 묻는지 확인합니다.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확인(목적에 맞는 믿을 만한 자료 고르기)]
목적: 처음 보는 자료 세 개를 판단 순서로 따져 목적(내일 날씨 알기)에 맞는 믿을 만한 자료를 고르고 까닭을 말하는지 확인합니다(목표 B, 오해 M3). 활동지 5에 씁니다.
시간: 약 3분
이렇게 말해 보세요
- “세 자료를 S07의 순서대로 따져 볼래? 출처, 만든 사람, 만든 때, 근거.”
정답
- 가. 날씨를 전문으로 다루는 기관이 오늘 아침에 발표해 가장 최근이고, ‘확률 60%’처럼 근거가 있습니다.
- 나: 만든 사람이 날씨를 잘 아는 사람이 아니고, ‘내 느낌’은 근거가 아니며 ‘절대’라는 부풀린 말이 있습니다.
- 다: 출처는 신문이지만 지난주에 쓴 기사라 내일 날씨를 알기에는 오래되었습니다. 날씨 예보는 자주 바뀝니다.
- 기준: 가를 고르고 나머지 두 자료의 아쉬운 점을 출처·만든 사람·만든 때·근거 가운데 하나 이상으로 말하면 목표 B 달성.
막히면
- S07의 단계를 보여 주고 가·나·다에 한 단계씩 ○, ×를 해 보게 합니다.
주의
- 다를 ‘신문이라서 믿을 만해요’라고 고르면 “언제 쓴 기사야? 내일 날씨를 알려 줄 수 있어?”라고 되묻습니다. 답만 고르고 까닭을 말하지 못하면 기록표에 ‘답만’으로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다음 학습과 복습]
목적: 핵심을 정리하고 다음 수업의 복습 질문을 알려 줍니다.
시간: 약 2분
이렇게 말해 보세요
- “자료가 믿을 만한지 어떻게 판단하는지 한 문장으로 말해 볼래?”
예상 답
- “어디서 나왔는지, 누가 언제 만들었는지 보고, 근거가 있는지 봐요.”
정답
- ① 출처, 만든 사람, 만든 때 ② 오래된 자료는 지금과 내용이 다를 수 있기 때문 ③ 아니다. 좋아요는 마음에 든 사람의 수일 뿐 내용이 맞는지 확인한 것이 아니므로 출처·만든 사람·만든 때·근거를 따져야 한다.
막히면
- S03과 S07을 다시 보여 줍니다.
주의
- 아이와 함께 영상이나 누리집을 볼 때 “이건 누가, 언제 만들었을까?”라고 물어 보면 좋은 복습이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보충(집에 있는 자료에서 세 가지 찾기)]
목적: 손에 잡히는 종이 자료에서 출처·만든 사람·만든 때를 찾아보며 세 가지의 뜻을 다집니다.
시간: 약 4분
이렇게 말해 보세요
- (집에 있는 책을 보여 주며) “이 책은 누가 썼을까? 어디에 쓰여 있어? 언제 펴냈어?”
- “이번엔 안내문이나 우편물에서 찾아볼까? 없는 것은 ‘알 수 없음’이라고 말해.”
정답
- 예(책): 출처 – 책 제목과 펴낸 곳(책 맨 뒤), 만든 사람 – 지은이, 만든 때 – 펴낸 날. 자료에서 짚어 말하면 맞음
막히면
- 부모가 먼저 한 곳을 짚어 보여 주고 나머지를 아이가 찾게 합니다.
- 이 차시의 계획상 선수 차시는 ‘인물·사건·배경’(KR22-G05-KOR-STORYELEM-L01)이지만, 내용의 바탕은 4학년 ‘매체 자료 비교’(KR22-G04-KOR-MEDIACOMP-L01)입니다. 보충으로도 어려우면 ‘매체 자료 비교’의 S07(믿을 만한지 세 가지 질문)부터 다시 합니다.
주의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국어 · 문학문법매체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국어 · 자료 출처 확인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국어 · 자료 출처 확인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국어 · 자료 출처 확인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 출처 확인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찾은 자료,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믿어도 될까?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자료의 출처·만든 사람·만든 때를 찾을 수 있어요.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자료가 믿을 만한지 까닭을 들어 판단할 수 있어요.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기억나요?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4학년과 지난 시간에 배운 것을 떠올려 답해요.</a:t>
            </a:r>
            <a:endParaRPr lang="ko-KR" sz="28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자료가 믿을 만한지 묻는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 질문은?</a:t>
            </a:r>
            <a:endParaRPr lang="ko-KR" sz="28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‘이 물만 마시면 키가 100% 쑥쑥!’에서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의심해야 할 말은?</a:t>
            </a:r>
            <a:endParaRPr lang="ko-KR" sz="28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이야기의 배경에서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찾는 두 가지는?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자료에서 확인할 세 가지</a:t>
            </a:r>
            <a:endParaRPr lang="ko-KR" sz="4000" dirty="0"/>
          </a:p>
        </p:txBody>
      </p:sp>
      <p:sp>
        <p:nvSpPr>
          <p:cNvPr id="3" name="S03-card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자료의 맨 위나 맨 아래, 글쓴이 이름 옆을 살펴요.</a:t>
            </a:r>
            <a:endParaRPr lang="ko-KR" sz="2800" dirty="0"/>
          </a:p>
        </p:txBody>
      </p:sp>
      <p:sp>
        <p:nvSpPr>
          <p:cNvPr id="5" name="S03-card12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3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어디에서 나온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자료인가요?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(누리집, 신문, 책)</a:t>
            </a:r>
            <a:endParaRPr lang="ko-KR" sz="2800" dirty="0"/>
          </a:p>
        </p:txBody>
      </p:sp>
      <p:sp>
        <p:nvSpPr>
          <p:cNvPr id="7" name="S03-card14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S03-cardtext15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사람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만들었나요?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분야를 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아는 사람인가요?</a:t>
            </a:r>
            <a:endParaRPr lang="ko-KR" sz="2800" dirty="0"/>
          </a:p>
        </p:txBody>
      </p:sp>
      <p:sp>
        <p:nvSpPr>
          <p:cNvPr id="9" name="S03-card16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17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때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만들었나요?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지금도 맞는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내용인가요?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가: 어린이 과학 잡지 기사</a:t>
            </a:r>
            <a:endParaRPr lang="ko-KR" sz="4000" dirty="0"/>
          </a:p>
        </p:txBody>
      </p:sp>
      <p:sp>
        <p:nvSpPr>
          <p:cNvPr id="3" name="S04-card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출처, 만든 사람, 만든 때는 어디에 있나요?</a:t>
            </a:r>
            <a:endParaRPr lang="ko-KR" sz="2800" dirty="0"/>
          </a:p>
        </p:txBody>
      </p:sp>
      <p:sp>
        <p:nvSpPr>
          <p:cNvPr id="5" name="S04-passagebox20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4-passage21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고래는 어떻게 숨을 쉴까?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고래는 바다에 살지만 물고기가 아니라 포유류(새끼에게 젖을 먹여 기르는 동물)입니다. 그래서 아가미가 아니라 허파로 숨을 쉽니다.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고래는 물 위로 올라와 머리 위에 있는 숨구멍으로 공기를 들이마십니다.</a:t>
            </a:r>
            <a:endParaRPr lang="ko-KR" sz="2800" dirty="0"/>
          </a:p>
          <a:p>
            <a:pPr eaLnBrk="0" algn="r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‘별빛 어린이 과학’ 올해 5월호</a:t>
            </a:r>
            <a:endParaRPr lang="ko-KR" sz="2800" dirty="0"/>
          </a:p>
          <a:p>
            <a:pPr eaLnBrk="0" algn="r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글: 바다 생물 연구원 한누리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나: 누리집 게시판 글</a:t>
            </a:r>
            <a:endParaRPr lang="ko-KR" sz="4000" dirty="0"/>
          </a:p>
        </p:txBody>
      </p:sp>
      <p:sp>
        <p:nvSpPr>
          <p:cNvPr id="3" name="S05-card2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가와 무엇이 다른가요? 어느 자료를 믿을까요?</a:t>
            </a:r>
            <a:endParaRPr lang="ko-KR" sz="2800" dirty="0"/>
          </a:p>
        </p:txBody>
      </p:sp>
      <p:sp>
        <p:nvSpPr>
          <p:cNvPr id="5" name="S05-passagebox24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5-passage25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글쓴이: 바다조아　·　날짜: 없음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고래도 물고기예요!!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물속에서 아가미로 숨 쉬는 거 100% 확실함.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우리 형이 그랬음.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가와 나를 비교하면</a:t>
            </a:r>
            <a:endParaRPr lang="ko-KR" sz="4000" dirty="0"/>
          </a:p>
        </p:txBody>
      </p:sp>
      <p:sp>
        <p:nvSpPr>
          <p:cNvPr id="3" name="S06-card26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27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가가 더 믿을 만해요. 나는 누가, 언제 썼는지 모르고 근거도 없어요.</a:t>
            </a:r>
            <a:endParaRPr lang="ko-KR" sz="2800" dirty="0"/>
          </a:p>
        </p:txBody>
      </p:sp>
      <p:graphicFrame>
        <p:nvGraphicFramePr>
          <p:cNvPr id="7" name="S06-table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1855216"/>
          <a:ext cx="109728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389120"/>
                <a:gridCol w="4389120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 잡지 기사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 게시판 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어린이 과학 잡지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누리집 게시판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만든 사람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바다 생물 연구원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별명뿐(알 수 없음)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만든 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올해 5월호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알 수 없음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근거·표현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숨 쉬는 방법을 설명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“형이 그랬음”, ‘100%’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믿을 만한지 판단하는 순서</a:t>
            </a:r>
            <a:endParaRPr lang="ko-KR" sz="4000" dirty="0"/>
          </a:p>
        </p:txBody>
      </p:sp>
      <p:sp>
        <p:nvSpPr>
          <p:cNvPr id="3" name="S07-card2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3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찾을 수 없으면 ‘알 수 없음’이라고 적어요.</a:t>
            </a:r>
            <a:endParaRPr lang="ko-KR" sz="2800" dirty="0"/>
          </a:p>
        </p:txBody>
      </p:sp>
      <p:sp>
        <p:nvSpPr>
          <p:cNvPr id="5" name="S07-stepno31"/>
          <p:cNvSpPr txBox="1"/>
          <p:nvPr/>
        </p:nvSpPr>
        <p:spPr>
          <a:xfrm>
            <a:off x="548640" y="15224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6" name="S07-text32"/>
          <p:cNvSpPr txBox="1"/>
          <p:nvPr/>
        </p:nvSpPr>
        <p:spPr>
          <a:xfrm>
            <a:off x="1325880" y="152247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출처를 찾아요.</a:t>
            </a:r>
            <a:endParaRPr lang="ko-KR" sz="2800" dirty="0"/>
          </a:p>
        </p:txBody>
      </p:sp>
      <p:sp>
        <p:nvSpPr>
          <p:cNvPr id="7" name="S07-stepno33"/>
          <p:cNvSpPr txBox="1"/>
          <p:nvPr/>
        </p:nvSpPr>
        <p:spPr>
          <a:xfrm>
            <a:off x="548640" y="22357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8" name="S07-text34"/>
          <p:cNvSpPr txBox="1"/>
          <p:nvPr/>
        </p:nvSpPr>
        <p:spPr>
          <a:xfrm>
            <a:off x="1325880" y="223570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사람이 그 분야를 잘 아는지 봐요.</a:t>
            </a:r>
            <a:endParaRPr lang="ko-KR" sz="2800" dirty="0"/>
          </a:p>
        </p:txBody>
      </p:sp>
      <p:sp>
        <p:nvSpPr>
          <p:cNvPr id="9" name="S07-stepno35"/>
          <p:cNvSpPr txBox="1"/>
          <p:nvPr/>
        </p:nvSpPr>
        <p:spPr>
          <a:xfrm>
            <a:off x="548640" y="29489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0" name="S07-text36"/>
          <p:cNvSpPr txBox="1"/>
          <p:nvPr/>
        </p:nvSpPr>
        <p:spPr>
          <a:xfrm>
            <a:off x="1325880" y="294894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때가 지금 쓰기에 알맞은지 봐요.</a:t>
            </a:r>
            <a:endParaRPr lang="ko-KR" sz="2800" dirty="0"/>
          </a:p>
        </p:txBody>
      </p:sp>
      <p:sp>
        <p:nvSpPr>
          <p:cNvPr id="11" name="S07-stepno37"/>
          <p:cNvSpPr txBox="1"/>
          <p:nvPr/>
        </p:nvSpPr>
        <p:spPr>
          <a:xfrm>
            <a:off x="548640" y="36621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2" name="S07-text38"/>
          <p:cNvSpPr txBox="1"/>
          <p:nvPr/>
        </p:nvSpPr>
        <p:spPr>
          <a:xfrm>
            <a:off x="1325880" y="366217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근거가 있고 부풀린 말이 없는지 봐요.</a:t>
            </a:r>
            <a:endParaRPr lang="ko-KR" sz="2800" dirty="0"/>
          </a:p>
        </p:txBody>
      </p:sp>
      <p:sp>
        <p:nvSpPr>
          <p:cNvPr id="13" name="S07-stepno39"/>
          <p:cNvSpPr txBox="1"/>
          <p:nvPr/>
        </p:nvSpPr>
        <p:spPr>
          <a:xfrm>
            <a:off x="548640" y="43754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200" dirty="0"/>
          </a:p>
        </p:txBody>
      </p:sp>
      <p:sp>
        <p:nvSpPr>
          <p:cNvPr id="14" name="S07-text40"/>
          <p:cNvSpPr txBox="1"/>
          <p:nvPr/>
        </p:nvSpPr>
        <p:spPr>
          <a:xfrm>
            <a:off x="1325880" y="437540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믿을 만한 자료와 견주어 봐요.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꼬리표에서 찾아요</a:t>
            </a:r>
            <a:endParaRPr lang="ko-KR" sz="4000" dirty="0"/>
          </a:p>
        </p:txBody>
      </p:sp>
      <p:sp>
        <p:nvSpPr>
          <p:cNvPr id="3" name="S08-text4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 아래에 붙은 꼬리표예요. 출처·만든 사람·만든 때를 찾아요.</a:t>
            </a:r>
            <a:endParaRPr lang="ko-KR" sz="2800" dirty="0"/>
          </a:p>
        </p:txBody>
      </p:sp>
      <p:sp>
        <p:nvSpPr>
          <p:cNvPr id="4" name="S08-card4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4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찾을 수 없으면 ‘알 수 없음’이라고 말해요.</a:t>
            </a:r>
            <a:endParaRPr lang="ko-KR" sz="2800" dirty="0"/>
          </a:p>
        </p:txBody>
      </p:sp>
      <p:sp>
        <p:nvSpPr>
          <p:cNvPr id="6" name="S08-chip44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8-text45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별빛시 누리집 ‘새 소식’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별빛시 환경과 · 9월 2일</a:t>
            </a:r>
            <a:endParaRPr lang="ko-KR" sz="2800" dirty="0"/>
          </a:p>
        </p:txBody>
      </p:sp>
      <p:sp>
        <p:nvSpPr>
          <p:cNvPr id="8" name="S08-chip46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8-text47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‘곤충 관찰 일기’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올린 사람: 숲지기 · 날짜 없음</a:t>
            </a:r>
            <a:endParaRPr lang="ko-KR" sz="2800" dirty="0"/>
          </a:p>
        </p:txBody>
      </p:sp>
      <p:sp>
        <p:nvSpPr>
          <p:cNvPr id="10" name="S08-chip48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8-text49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 ‘우리 강의 물고기’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지은이: 물고기 연구가 강바다 · 3년 전 펴냄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안내문, 지금도 맞을까?</a:t>
            </a:r>
            <a:endParaRPr lang="ko-KR" sz="4000" dirty="0"/>
          </a:p>
        </p:txBody>
      </p:sp>
      <p:sp>
        <p:nvSpPr>
          <p:cNvPr id="3" name="S09-text50"/>
          <p:cNvSpPr txBox="1"/>
          <p:nvPr/>
        </p:nvSpPr>
        <p:spPr>
          <a:xfrm>
            <a:off x="548640" y="1325880"/>
            <a:ext cx="1109167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지금은 12월이에요. 겨울 방학에 도서관에 가려고 이 안내문을 찾았어요.</a:t>
            </a:r>
            <a:endParaRPr lang="ko-KR" sz="2800" dirty="0"/>
          </a:p>
        </p:txBody>
      </p:sp>
      <p:sp>
        <p:nvSpPr>
          <p:cNvPr id="4" name="S09-card51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52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도서관이 만든 안내문이에요. 겨울 방학 계획에 그대로 써도 될까요?</a:t>
            </a:r>
            <a:endParaRPr lang="ko-KR" sz="2800" dirty="0"/>
          </a:p>
        </p:txBody>
      </p:sp>
      <p:sp>
        <p:nvSpPr>
          <p:cNvPr id="6" name="S09-passagebox53"/>
          <p:cNvSpPr/>
          <p:nvPr/>
        </p:nvSpPr>
        <p:spPr>
          <a:xfrm>
            <a:off x="548640" y="2376424"/>
            <a:ext cx="11091672" cy="2416048"/>
          </a:xfrm>
          <a:prstGeom prst="roundRect">
            <a:avLst>
              <a:gd name="adj" fmla="val 3785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7" name="S09-passage54"/>
          <p:cNvSpPr txBox="1"/>
          <p:nvPr/>
        </p:nvSpPr>
        <p:spPr>
          <a:xfrm>
            <a:off x="822960" y="2559304"/>
            <a:ext cx="10543032" cy="2050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별빛시립도서관 어린이실 이용 안내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여름 방학(7월 21일~8월 20일) 동안 어린이실은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오전 9시부터 저녁 8시까지 엽니다. 매주 월요일은 쉽니다.</a:t>
            </a:r>
            <a:endParaRPr lang="ko-KR" sz="3000" dirty="0"/>
          </a:p>
          <a:p>
            <a:pPr eaLnBrk="0" algn="r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7월 10일　별빛시립도서관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좋아요가 많으면 믿을 만할까?</a:t>
            </a:r>
            <a:endParaRPr lang="ko-KR" sz="4000" dirty="0"/>
          </a:p>
        </p:txBody>
      </p:sp>
      <p:sp>
        <p:nvSpPr>
          <p:cNvPr id="3" name="S10-card5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5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‘모기는 왜 피를 빨까?’를 찾다가 두 자료를 보았어요.</a:t>
            </a:r>
            <a:endParaRPr lang="ko-KR" sz="2800" dirty="0"/>
          </a:p>
        </p:txBody>
      </p:sp>
      <p:sp>
        <p:nvSpPr>
          <p:cNvPr id="5" name="S10-card5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0-cardtext5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자료를 믿을까요? 판단 순서대로 까닭을 말해요.</a:t>
            </a:r>
            <a:endParaRPr lang="ko-KR" sz="2800" dirty="0"/>
          </a:p>
        </p:txBody>
      </p:sp>
      <p:sp>
        <p:nvSpPr>
          <p:cNvPr id="7" name="S10-chip59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게시판 댓글</a:t>
            </a:r>
            <a:endParaRPr lang="ko-KR" sz="2200" dirty="0"/>
          </a:p>
        </p:txBody>
      </p:sp>
      <p:sp>
        <p:nvSpPr>
          <p:cNvPr id="8" name="S10-text60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글쓴이 모름 · 날짜 없음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좋아요 520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“모기는 다 피를 먹고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살아요. 진짜임!!”</a:t>
            </a:r>
            <a:endParaRPr lang="ko-KR" sz="2800" dirty="0"/>
          </a:p>
        </p:txBody>
      </p:sp>
      <p:sp>
        <p:nvSpPr>
          <p:cNvPr id="9" name="S10-chip61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 보건소 누리집</a:t>
            </a:r>
            <a:endParaRPr lang="ko-KR" sz="2200" dirty="0"/>
          </a:p>
        </p:txBody>
      </p:sp>
      <p:sp>
        <p:nvSpPr>
          <p:cNvPr id="10" name="S10-text62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별빛시 보건소 · 6월 1일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좋아요 12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“피를 빠는 모기는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알을 낳을 암컷이에요.”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6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 공원 가을 축제 날짜를 알아보려고 찾은 자료예요.</a:t>
            </a:r>
            <a:endParaRPr lang="ko-KR" sz="2800" dirty="0"/>
          </a:p>
        </p:txBody>
      </p:sp>
      <p:sp>
        <p:nvSpPr>
          <p:cNvPr id="4" name="S11-card64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1-cardtext65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자료마다 출처·만든 사람·만든 때를 찾아요.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올해 축제 날짜는 어느 자료로 알아야 할까요?</a:t>
            </a:r>
            <a:endParaRPr lang="ko-KR" sz="2800" dirty="0"/>
          </a:p>
        </p:txBody>
      </p:sp>
      <p:sp>
        <p:nvSpPr>
          <p:cNvPr id="6" name="S11-card66"/>
          <p:cNvSpPr/>
          <p:nvPr/>
        </p:nvSpPr>
        <p:spPr>
          <a:xfrm>
            <a:off x="548640" y="2300732"/>
            <a:ext cx="3544824" cy="2202688"/>
          </a:xfrm>
          <a:prstGeom prst="roundRect">
            <a:avLst>
              <a:gd name="adj" fmla="val 498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1-cardtext67"/>
          <p:cNvSpPr txBox="1"/>
          <p:nvPr/>
        </p:nvSpPr>
        <p:spPr>
          <a:xfrm>
            <a:off x="822960" y="2437892"/>
            <a:ext cx="2996184" cy="192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누리집 공지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별빛구청 문화과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10월 2일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“축제는 10월 18일에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열려요.”</a:t>
            </a:r>
            <a:endParaRPr lang="ko-KR" sz="2800" dirty="0"/>
          </a:p>
        </p:txBody>
      </p:sp>
      <p:sp>
        <p:nvSpPr>
          <p:cNvPr id="8" name="S11-card68"/>
          <p:cNvSpPr/>
          <p:nvPr/>
        </p:nvSpPr>
        <p:spPr>
          <a:xfrm>
            <a:off x="4322064" y="2300732"/>
            <a:ext cx="3544824" cy="2202688"/>
          </a:xfrm>
          <a:prstGeom prst="roundRect">
            <a:avLst>
              <a:gd name="adj" fmla="val 498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1-cardtext69"/>
          <p:cNvSpPr txBox="1"/>
          <p:nvPr/>
        </p:nvSpPr>
        <p:spPr>
          <a:xfrm>
            <a:off x="4596384" y="2437892"/>
            <a:ext cx="2996184" cy="192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동네 게시판 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글쓴이 모름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 없음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“축제 다음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주래요!!”</a:t>
            </a:r>
            <a:endParaRPr lang="ko-KR" sz="2800" dirty="0"/>
          </a:p>
        </p:txBody>
      </p:sp>
      <p:sp>
        <p:nvSpPr>
          <p:cNvPr id="10" name="S11-card70"/>
          <p:cNvSpPr/>
          <p:nvPr/>
        </p:nvSpPr>
        <p:spPr>
          <a:xfrm>
            <a:off x="8095488" y="2300732"/>
            <a:ext cx="3544824" cy="2202688"/>
          </a:xfrm>
          <a:prstGeom prst="roundRect">
            <a:avLst>
              <a:gd name="adj" fmla="val 498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1-cardtext71"/>
          <p:cNvSpPr txBox="1"/>
          <p:nvPr/>
        </p:nvSpPr>
        <p:spPr>
          <a:xfrm>
            <a:off x="8369808" y="2437892"/>
            <a:ext cx="2996184" cy="192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축제 전단지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별빛구청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작년 9월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“축제는 10월 12일에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열려요.”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2-card7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7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출처가 믿을 만해도 만든 때가 지금과 맞는지 꼭 봐요.</a:t>
            </a:r>
            <a:endParaRPr lang="ko-KR" sz="2800" dirty="0"/>
          </a:p>
        </p:txBody>
      </p:sp>
      <p:sp>
        <p:nvSpPr>
          <p:cNvPr id="5" name="S12-chip74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2-text75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가: 구청 누리집,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문화과, 10월 2일</a:t>
            </a:r>
            <a:endParaRPr lang="ko-KR" sz="2200" dirty="0"/>
          </a:p>
        </p:txBody>
      </p:sp>
      <p:sp>
        <p:nvSpPr>
          <p:cNvPr id="7" name="S12-text76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출처·만든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사람·만든 때</a:t>
            </a:r>
            <a:endParaRPr lang="ko-KR" sz="2200" dirty="0"/>
          </a:p>
        </p:txBody>
      </p:sp>
      <p:sp>
        <p:nvSpPr>
          <p:cNvPr id="8" name="S12-text77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나: 게시판,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 다 알 수 없음</a:t>
            </a:r>
            <a:endParaRPr lang="ko-KR" sz="2800" dirty="0"/>
          </a:p>
        </p:txBody>
      </p:sp>
      <p:sp>
        <p:nvSpPr>
          <p:cNvPr id="9" name="S12-text78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모르면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‘알 수 없음’</a:t>
            </a:r>
            <a:endParaRPr lang="ko-KR" sz="2200" dirty="0"/>
          </a:p>
        </p:txBody>
      </p:sp>
      <p:sp>
        <p:nvSpPr>
          <p:cNvPr id="10" name="S12-text79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다: 전단지,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구청, 작년 9월</a:t>
            </a:r>
            <a:endParaRPr lang="ko-KR" sz="2800" dirty="0"/>
          </a:p>
        </p:txBody>
      </p:sp>
      <p:sp>
        <p:nvSpPr>
          <p:cNvPr id="11" name="S12-text80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올해는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 확인</a:t>
            </a:r>
            <a:endParaRPr lang="ko-KR" sz="2200" dirty="0"/>
          </a:p>
        </p:txBody>
      </p:sp>
      <p:sp>
        <p:nvSpPr>
          <p:cNvPr id="12" name="S12-chip81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3" name="S12-text82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나: 빈칸</a:t>
            </a:r>
            <a:endParaRPr lang="ko-KR" sz="2800" dirty="0"/>
          </a:p>
        </p:txBody>
      </p:sp>
      <p:sp>
        <p:nvSpPr>
          <p:cNvPr id="14" name="S12-text83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‘알 수 없음’도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적어요</a:t>
            </a:r>
            <a:endParaRPr lang="ko-KR" sz="2200" dirty="0"/>
          </a:p>
        </p:txBody>
      </p:sp>
      <p:sp>
        <p:nvSpPr>
          <p:cNvPr id="15" name="S12-text84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다</a:t>
            </a:r>
            <a:endParaRPr lang="ko-KR" sz="2800" dirty="0"/>
          </a:p>
        </p:txBody>
      </p:sp>
      <p:sp>
        <p:nvSpPr>
          <p:cNvPr id="16" name="S12-text85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작년 자료라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날짜가 달라요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믿을 만한 자료는?</a:t>
            </a:r>
            <a:endParaRPr lang="ko-KR" sz="4000" dirty="0"/>
          </a:p>
        </p:txBody>
      </p:sp>
      <p:sp>
        <p:nvSpPr>
          <p:cNvPr id="3" name="S13-text8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 소풍 날씨를 알아보려고 해요.</a:t>
            </a:r>
            <a:endParaRPr lang="ko-KR" sz="2800" dirty="0"/>
          </a:p>
        </p:txBody>
      </p:sp>
      <p:sp>
        <p:nvSpPr>
          <p:cNvPr id="4" name="S13-card8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8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까닭과 나머지 두 자료가 아쉬운 점을 말해요.</a:t>
            </a:r>
            <a:endParaRPr lang="ko-KR" sz="2800" dirty="0"/>
          </a:p>
        </p:txBody>
      </p:sp>
      <p:sp>
        <p:nvSpPr>
          <p:cNvPr id="6" name="S13-chip89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7" name="S13-card90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3-cardtext91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날씨 전문 기관 누리집</a:t>
            </a:r>
            <a:endParaRPr lang="ko-KR" sz="2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아침 6시 발표</a:t>
            </a:r>
            <a:endParaRPr lang="ko-KR" sz="2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“내일 오후 비 올</a:t>
            </a:r>
            <a:endParaRPr lang="ko-KR" sz="2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확률 60%”</a:t>
            </a:r>
            <a:endParaRPr lang="ko-KR" sz="2200" dirty="0"/>
          </a:p>
        </p:txBody>
      </p:sp>
      <p:sp>
        <p:nvSpPr>
          <p:cNvPr id="9" name="S13-chip92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10" name="S13-card93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3-cardtext94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보낸 메시지</a:t>
            </a:r>
            <a:endParaRPr lang="ko-KR" sz="2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보냄</a:t>
            </a:r>
            <a:endParaRPr lang="ko-KR" sz="2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“내일 비 절대 안 와!</a:t>
            </a:r>
            <a:endParaRPr lang="ko-KR" sz="2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느낌이 그래.”</a:t>
            </a:r>
            <a:endParaRPr lang="ko-KR" sz="2200" dirty="0"/>
          </a:p>
        </p:txBody>
      </p:sp>
      <p:sp>
        <p:nvSpPr>
          <p:cNvPr id="12" name="S13-chip95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3" name="S13-card96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3-cardtext97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신문의 날씨 예보 기사</a:t>
            </a:r>
            <a:endParaRPr lang="ko-KR" sz="2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지난주 월요일 발표</a:t>
            </a:r>
            <a:endParaRPr lang="ko-KR" sz="2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“다음 주는 내내</a:t>
            </a:r>
            <a:endParaRPr lang="ko-KR" sz="2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맑겠습니다.”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98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99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자료를 볼 때는 출처·만든 사람·만든 때를 확인하고,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근거와 부풀린 말까지 살펴 믿을 만한지 판단해요.</a:t>
            </a:r>
            <a:endParaRPr lang="ko-KR" sz="2800" dirty="0"/>
          </a:p>
        </p:txBody>
      </p:sp>
      <p:sp>
        <p:nvSpPr>
          <p:cNvPr id="5" name="S14-chip100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날짜가 지금도 맞는지 보기</a:t>
            </a:r>
            <a:endParaRPr lang="ko-KR" sz="2200" dirty="0"/>
          </a:p>
        </p:txBody>
      </p:sp>
      <p:sp>
        <p:nvSpPr>
          <p:cNvPr id="6" name="S14-chip101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좋아요 수만 보고 믿기</a:t>
            </a:r>
            <a:endParaRPr lang="ko-KR" sz="2200" dirty="0"/>
          </a:p>
        </p:txBody>
      </p:sp>
      <p:sp>
        <p:nvSpPr>
          <p:cNvPr id="7" name="S14-text102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103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자료에서 확인할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가지는?</a:t>
            </a:r>
            <a:endParaRPr lang="ko-KR" sz="2200" dirty="0"/>
          </a:p>
        </p:txBody>
      </p:sp>
      <p:sp>
        <p:nvSpPr>
          <p:cNvPr id="9" name="S14-text104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만든 때를 꼭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확인하는 까닭은?</a:t>
            </a:r>
            <a:endParaRPr lang="ko-KR" sz="2200" dirty="0"/>
          </a:p>
        </p:txBody>
      </p:sp>
      <p:sp>
        <p:nvSpPr>
          <p:cNvPr id="10" name="S14-text105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좋아요가 많으면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믿을 만할까?</a:t>
            </a:r>
            <a:endParaRPr lang="ko-KR" sz="2200" dirty="0"/>
          </a:p>
        </p:txBody>
      </p:sp>
      <p:sp>
        <p:nvSpPr>
          <p:cNvPr id="11" name="S14-text106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문장 표현 점검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집에 있는 자료로</a:t>
            </a:r>
            <a:endParaRPr lang="ko-KR" sz="4000" dirty="0"/>
          </a:p>
        </p:txBody>
      </p:sp>
      <p:sp>
        <p:nvSpPr>
          <p:cNvPr id="3" name="S15-text10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책, 안내문, 우편물에서 찾아봐요.</a:t>
            </a:r>
            <a:endParaRPr lang="ko-KR" sz="2800" dirty="0"/>
          </a:p>
        </p:txBody>
      </p:sp>
      <p:sp>
        <p:nvSpPr>
          <p:cNvPr id="4" name="S15-card10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10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찾은 곳을 손가락으로 짚으며 말해요. 없으면 ‘알 수 없음’이에요.</a:t>
            </a:r>
            <a:endParaRPr lang="ko-KR" sz="2800" dirty="0"/>
          </a:p>
        </p:txBody>
      </p:sp>
      <p:sp>
        <p:nvSpPr>
          <p:cNvPr id="6" name="S15-word110"/>
          <p:cNvSpPr txBox="1"/>
          <p:nvPr/>
        </p:nvSpPr>
        <p:spPr>
          <a:xfrm>
            <a:off x="548640" y="26974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어디에서?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</a:t>
            </a:r>
            <a:endParaRPr lang="ko-KR" sz="3200" dirty="0"/>
          </a:p>
        </p:txBody>
      </p:sp>
      <p:sp>
        <p:nvSpPr>
          <p:cNvPr id="7" name="S15-word111"/>
          <p:cNvSpPr txBox="1"/>
          <p:nvPr/>
        </p:nvSpPr>
        <p:spPr>
          <a:xfrm>
            <a:off x="4337304" y="26974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누가?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사람</a:t>
            </a:r>
            <a:endParaRPr lang="ko-KR" sz="3200" dirty="0"/>
          </a:p>
        </p:txBody>
      </p:sp>
      <p:sp>
        <p:nvSpPr>
          <p:cNvPr id="8" name="S15-word112"/>
          <p:cNvSpPr txBox="1"/>
          <p:nvPr/>
        </p:nvSpPr>
        <p:spPr>
          <a:xfrm>
            <a:off x="8125968" y="26974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언제?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때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국어 자료 출처 확인</dc:title>
  <dc:subject>KR22-G05-KOR-SOURCE-L01</dc:subject>
  <dc:creator>education-ppt</dc:creator>
  <cp:lastModifiedBy>education-ppt</cp:lastModifiedBy>
  <cp:revision>1</cp:revision>
  <dcterms:created xsi:type="dcterms:W3CDTF">2026-10-26T08:58:19Z</dcterms:created>
  <dcterms:modified xsi:type="dcterms:W3CDTF">2026-10-26T08:58:19Z</dcterms:modified>
</cp:coreProperties>
</file>