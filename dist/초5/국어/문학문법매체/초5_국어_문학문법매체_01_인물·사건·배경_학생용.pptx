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e0744ce-90de-476b-25ac-396adb16ed7b}">
          <p14:sldIdLst>
            <p14:sldId id="256"/>
            <p14:sldId id="257"/>
          </p14:sldIdLst>
        </p14:section>
        <p14:section name="개념" id="{d79ff8d1-f2b4-27f1-a814-0f686fa625e2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69cf2a60-cd33-7c7b-e1b7-4077b61c1d05}">
          <p14:sldIdLst>
            <p14:sldId id="263"/>
            <p14:sldId id="264"/>
            <p14:sldId id="265"/>
          </p14:sldIdLst>
        </p14:section>
        <p14:section name="확인" id="{756de7be-e361-1647-994a-b66e04141b70}">
          <p14:sldIdLst>
            <p14:sldId id="266"/>
            <p14:sldId id="267"/>
          </p14:sldIdLst>
        </p14:section>
        <p14:section name="정리" id="{52b551e5-a378-f4bc-b52f-78909d528be8}">
          <p14:sldIdLst>
            <p14:sldId id="268"/>
          </p14:sldIdLst>
        </p14:section>
        <p14:section name="보충" id="{28fa3cda-3f4c-e44f-f452-b42b644287a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문학문법매체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인물·사건·배경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인물·사건·배경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인물·사건·배경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인물·사건·배경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이야기는 무엇으로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이루어져 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이야기에서 인물·사건·배경을 찾을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셋이 서로 어떤 영향을 주는지 말할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지우는 줄넘기 대회 날 아침, 줄을 몇 번이나 다시 살폈어요.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대회가 끝나자 지우는 상장을 들고 활짝 웃었어요.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대회 날 아침 지우는 어떤 마음이었을까요?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대회가 끝난 뒤 지우의 마음과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그렇게 생각한 까닭은?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일어난 일을 차례대로 말해 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이야기를 이루는 세 가지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누가(인물) 언제·어디서(배경) 무슨 일을 겪는지(사건) 찾아요.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 나와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말하고 행동하는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사람이나 동물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인물이 겪는 일,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이야기에서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일어나는 일</a:t>
            </a:r>
            <a:endParaRPr lang="ko-KR" sz="2800" dirty="0"/>
          </a:p>
        </p:txBody>
      </p:sp>
      <p:sp>
        <p:nvSpPr>
          <p:cNvPr id="9" name="S03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일어나는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때와 곳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어둠 속의 손전등 ①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인물은 누구누구인가요? 배경(때와 곳)은요?</a:t>
            </a:r>
            <a:endParaRPr lang="ko-KR" sz="2800" dirty="0"/>
          </a:p>
        </p:txBody>
      </p:sp>
      <p:sp>
        <p:nvSpPr>
          <p:cNvPr id="5" name="S04-passagebox2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2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어둠 속의 손전등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어느 여름밤, 서진이네 아파트에 갑자기 전기가 나갔다. 텔레비전도 냉장고도 멈추고 집 안이 깜깜해졌다. 겁이 많은 서진이는 이불을 머리끝까지 뒤집어썼다.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그때 현관 밖에서 “아이고, 아무것도 안 보이네.” 하는 소리가 들렸다. 옆집에 혼자 사시는 할머니의 목소리였다. 서진이는 할머니가 어두운 복도에서 넘어지실까 봐 걱정되었다.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어둠 속의 손전등 ②</a:t>
            </a:r>
            <a:endParaRPr lang="ko-KR" sz="4000" dirty="0"/>
          </a:p>
        </p:txBody>
      </p:sp>
      <p:sp>
        <p:nvSpPr>
          <p:cNvPr id="3" name="S05-card2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이야기에서 일어난 일을 차례대로 말해 봐요.</a:t>
            </a:r>
            <a:endParaRPr lang="ko-KR" sz="2800" dirty="0"/>
          </a:p>
        </p:txBody>
      </p:sp>
      <p:sp>
        <p:nvSpPr>
          <p:cNvPr id="5" name="S05-passagebox24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5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서진이는 떨리는 손으로 서랍에서 손전등을 꺼냈다. 그리고 복도로 나가 할머니의 발밑을 비추어 드렸다. 할머니는 “서진이 덕분에 집에 잘 들어왔구나.” 하며 서진이의 손을 꼭 잡으셨다.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한 시간쯤 지나 다시 불이 들어왔다. 서진이는 이제 어둠이 전처럼 무섭지 않았다.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표로 정리하면</a:t>
            </a:r>
            <a:endParaRPr lang="ko-KR" sz="4000" dirty="0"/>
          </a:p>
        </p:txBody>
      </p:sp>
      <p:sp>
        <p:nvSpPr>
          <p:cNvPr id="3" name="S06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배경은 때와 곳, 사건은 일어난 차례대로 적어요.</a:t>
            </a:r>
            <a:endParaRPr lang="ko-KR" sz="2800" dirty="0"/>
          </a:p>
        </p:txBody>
      </p:sp>
      <p:graphicFrame>
        <p:nvGraphicFramePr>
          <p:cNvPr id="7" name="S06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537716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‘어둠 속의 손전등’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서진(겁이 많지만 이웃을 걱정함), 옆집 할머니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배경(때)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어느 여름밤, 전기가 나간 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배경(곳)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서진이네 아파트 집 안과 복도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사건 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전기가 나가자 서진이가 이불을 뒤집어썼다.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사건 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서진이가 손전등으로 할머니 발밑을 비추었다.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사건 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불이 들어오고, 서진이는 어둠이 덜 무서웠다.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셋은 서로 영향을 주어요</a:t>
            </a:r>
            <a:endParaRPr lang="ko-KR" sz="4000" dirty="0"/>
          </a:p>
        </p:txBody>
      </p:sp>
      <p:sp>
        <p:nvSpPr>
          <p:cNvPr id="3" name="S07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“~해서 ~했어요.”로 무엇이 무엇에 영향을 주었는지 말해요.</a:t>
            </a:r>
            <a:endParaRPr lang="ko-KR" sz="2800" dirty="0"/>
          </a:p>
        </p:txBody>
      </p:sp>
      <p:sp>
        <p:nvSpPr>
          <p:cNvPr id="5" name="S07-card3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3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→ 사건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전기가 나가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깜깜해서 할머니가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찾기 어려웠어요.</a:t>
            </a:r>
            <a:endParaRPr lang="ko-KR" sz="2800" dirty="0"/>
          </a:p>
        </p:txBody>
      </p:sp>
      <p:sp>
        <p:nvSpPr>
          <p:cNvPr id="7" name="S07-card3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7-cardtext3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 → 사건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할머니를 걱정하는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서진이가 손전등을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들고 나갔어요.</a:t>
            </a:r>
            <a:endParaRPr lang="ko-KR" sz="2800" dirty="0"/>
          </a:p>
        </p:txBody>
      </p:sp>
      <p:sp>
        <p:nvSpPr>
          <p:cNvPr id="9" name="S07-card3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7-cardtext3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 → 인물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할머니를 도운 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서진이는 어둠이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덜 무서워졌어요.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배경이 바뀌면?</a:t>
            </a:r>
            <a:endParaRPr lang="ko-KR" sz="4000" dirty="0"/>
          </a:p>
        </p:txBody>
      </p:sp>
      <p:sp>
        <p:nvSpPr>
          <p:cNvPr id="3" name="S08-card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‘어둠 속의 손전등’의 배경이 밝은 낮이었다면?</a:t>
            </a:r>
            <a:endParaRPr lang="ko-KR" sz="2800" dirty="0"/>
          </a:p>
        </p:txBody>
      </p:sp>
      <p:sp>
        <p:nvSpPr>
          <p:cNvPr id="5" name="S08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생각이 알맞을까요? 까닭을 말해 봐요.</a:t>
            </a:r>
            <a:endParaRPr lang="ko-KR" sz="2800" dirty="0"/>
          </a:p>
        </p:txBody>
      </p:sp>
      <p:sp>
        <p:nvSpPr>
          <p:cNvPr id="7" name="S08-chip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4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“배경이 바뀌어도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일어나는 일은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똑같아요.”</a:t>
            </a:r>
            <a:endParaRPr lang="ko-KR" sz="2800" dirty="0"/>
          </a:p>
        </p:txBody>
      </p:sp>
      <p:sp>
        <p:nvSpPr>
          <p:cNvPr id="9" name="S08-chip4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4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“손전등이 필요 없어서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서진이가 할머니를 돕는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일이 없었을 거예요.”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 모래성 함께 읽기</a:t>
            </a:r>
            <a:endParaRPr lang="ko-KR" sz="4000" dirty="0"/>
          </a:p>
        </p:txBody>
      </p:sp>
      <p:sp>
        <p:nvSpPr>
          <p:cNvPr id="3" name="S09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인물·배경(때와 곳)·사건을 찾아 말해 봐요.</a:t>
            </a:r>
            <a:endParaRPr lang="ko-KR" sz="2800" dirty="0"/>
          </a:p>
        </p:txBody>
      </p:sp>
      <p:sp>
        <p:nvSpPr>
          <p:cNvPr id="5" name="S09-passagebox4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9-passage4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 모래성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여름 방학에 나래와 동생 지안이는 바닷가에 놀러 갔다. 둘은 물가 가까이에서 커다란 모래성을 쌓았다. 그런데 오후가 되자 바닷물이 점점 밀려 들어와 모래성이 무너지고 말았다.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지안이가 울음을 터뜨리자, 차분한 나래는 “내일은 물이 닿지 않는 높은 곳에 쌓자.” 하며 동생을 달랬다.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무엇에 영향을 주었나?</a:t>
            </a:r>
            <a:endParaRPr lang="ko-KR" sz="4000" dirty="0"/>
          </a:p>
        </p:txBody>
      </p:sp>
      <p:sp>
        <p:nvSpPr>
          <p:cNvPr id="3" name="S10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‘바닷가 모래성’에서 화살표 뒤를 이어 말해요.</a:t>
            </a:r>
            <a:endParaRPr lang="ko-KR" sz="2800" dirty="0"/>
          </a:p>
        </p:txBody>
      </p:sp>
      <p:sp>
        <p:nvSpPr>
          <p:cNvPr id="4" name="S10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배경 → 사건  ② 인물 → 사건  ③ 사건 → 인물</a:t>
            </a:r>
            <a:endParaRPr lang="ko-KR" sz="2800" dirty="0"/>
          </a:p>
        </p:txBody>
      </p:sp>
      <p:sp>
        <p:nvSpPr>
          <p:cNvPr id="6" name="S10-chip5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5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바닷물이 밀려 들어와서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(　　　　　　　　　)</a:t>
            </a:r>
            <a:endParaRPr lang="ko-KR" sz="2800" dirty="0"/>
          </a:p>
        </p:txBody>
      </p:sp>
      <p:sp>
        <p:nvSpPr>
          <p:cNvPr id="8" name="S10-chip5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5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나래가 차분한 성격이어서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(　　　　　　　　　)</a:t>
            </a:r>
            <a:endParaRPr lang="ko-KR" sz="2800" dirty="0"/>
          </a:p>
        </p:txBody>
      </p:sp>
      <p:sp>
        <p:nvSpPr>
          <p:cNvPr id="10" name="S10-chip5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57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모래성이 무너지는 일을 겪고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(　　　　　　　　　)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인물을 모두 찾고, 배경(때와 곳)과 사건을 말해 보세요.</a:t>
            </a:r>
            <a:endParaRPr lang="ko-KR" sz="2800" dirty="0"/>
          </a:p>
        </p:txBody>
      </p:sp>
      <p:sp>
        <p:nvSpPr>
          <p:cNvPr id="5" name="S11-passagebox60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61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 온 아침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밤새 눈이 많이 내린 겨울 아침이었다. 시골 할머니 댁에 놀러 온 민재는 썰매를 들고 밖으로 뛰어나갔다.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그런데 집 앞 비탈길이 꽁꽁 얼어서, 집배원 아저씨가 오토바이를 끌고 오르느라 쩔쩔매고 있었다. 민재는 썰매를 내려놓고 할머니와 함께 비탈길에 모래를 뿌렸다.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바뀌면 어떻게 될까?</a:t>
            </a:r>
            <a:endParaRPr lang="ko-KR" sz="4000" dirty="0"/>
          </a:p>
        </p:txBody>
      </p:sp>
      <p:sp>
        <p:nvSpPr>
          <p:cNvPr id="3" name="S13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‘눈 온 아침’을 떠올리며 까닭과 함께 말해요.</a:t>
            </a:r>
            <a:endParaRPr lang="ko-KR" sz="2800" dirty="0"/>
          </a:p>
        </p:txBody>
      </p:sp>
      <p:sp>
        <p:nvSpPr>
          <p:cNvPr id="4" name="S13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→ 사건, 인물 → 사건으로 이어 말해요.</a:t>
            </a:r>
            <a:endParaRPr lang="ko-KR" sz="2800" dirty="0"/>
          </a:p>
        </p:txBody>
      </p:sp>
      <p:sp>
        <p:nvSpPr>
          <p:cNvPr id="6" name="S13-chip6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3-text66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배경이 따뜻한 봄날이었다면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사건은 어떻게 달라질까요?</a:t>
            </a:r>
            <a:endParaRPr lang="ko-KR" sz="2800" dirty="0"/>
          </a:p>
        </p:txBody>
      </p:sp>
      <p:sp>
        <p:nvSpPr>
          <p:cNvPr id="8" name="S13-chip6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3-text68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민재가 썰매 타기만 생각하는 아이였다면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사건은 어떻게 달라질까요?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6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7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이야기는 인물·사건·배경(때와 곳)으로 이루어지고,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셋은 서로 영향을 주고받아요.</a:t>
            </a:r>
            <a:endParaRPr lang="ko-KR" sz="2800" dirty="0"/>
          </a:p>
        </p:txBody>
      </p:sp>
      <p:sp>
        <p:nvSpPr>
          <p:cNvPr id="5" name="S14-chip71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배경을 때와 곳으로 찾기</a:t>
            </a:r>
            <a:endParaRPr lang="ko-KR" sz="2200" dirty="0"/>
          </a:p>
        </p:txBody>
      </p:sp>
      <p:sp>
        <p:nvSpPr>
          <p:cNvPr id="6" name="S14-chip72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배경은 꾸밈이라고 생각하기</a:t>
            </a:r>
            <a:endParaRPr lang="ko-KR" sz="2200" dirty="0"/>
          </a:p>
        </p:txBody>
      </p:sp>
      <p:sp>
        <p:nvSpPr>
          <p:cNvPr id="7" name="S14-text73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74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인물·사건·배경의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뜻은?</a:t>
            </a:r>
            <a:endParaRPr lang="ko-KR" sz="2200" dirty="0"/>
          </a:p>
        </p:txBody>
      </p:sp>
      <p:sp>
        <p:nvSpPr>
          <p:cNvPr id="9" name="S14-text75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배경에서 찾는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200" dirty="0"/>
          </a:p>
        </p:txBody>
      </p:sp>
      <p:sp>
        <p:nvSpPr>
          <p:cNvPr id="10" name="S14-text76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배경이 사건에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영향을 준 예는?</a:t>
            </a:r>
            <a:endParaRPr lang="ko-KR" sz="2200" dirty="0"/>
          </a:p>
        </p:txBody>
      </p:sp>
      <p:sp>
        <p:nvSpPr>
          <p:cNvPr id="11" name="S14-text7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자료 출처 확인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내 하루로 찾아요</a:t>
            </a:r>
            <a:endParaRPr lang="ko-KR" sz="4000" dirty="0"/>
          </a:p>
        </p:txBody>
      </p:sp>
      <p:sp>
        <p:nvSpPr>
          <p:cNvPr id="3" name="S15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있었던 일 하나를 네 가지 질문으로 말해 봐요.</a:t>
            </a:r>
            <a:endParaRPr lang="ko-KR" sz="2800" dirty="0"/>
          </a:p>
        </p:txBody>
      </p:sp>
      <p:sp>
        <p:nvSpPr>
          <p:cNvPr id="4" name="S15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어제 저녁, 우리 집 부엌에서 나와 아빠가 김밥을 만들었어요.</a:t>
            </a:r>
            <a:endParaRPr lang="ko-KR" sz="2800" dirty="0"/>
          </a:p>
        </p:txBody>
      </p:sp>
      <p:sp>
        <p:nvSpPr>
          <p:cNvPr id="6" name="S15-card8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8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나왔나요?</a:t>
            </a:r>
            <a:endParaRPr lang="ko-KR" sz="2800" dirty="0"/>
          </a:p>
        </p:txBody>
      </p:sp>
      <p:sp>
        <p:nvSpPr>
          <p:cNvPr id="8" name="S15-card8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5-cardtext8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어디에서?</a:t>
            </a:r>
            <a:endParaRPr lang="ko-KR" sz="2800" dirty="0"/>
          </a:p>
        </p:txBody>
      </p:sp>
      <p:sp>
        <p:nvSpPr>
          <p:cNvPr id="10" name="S15-card8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5-cardtext8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일이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있었나요?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인물·사건·배경</dc:title>
  <dc:subject>KR22-G05-KOR-STORYELEM-L01</dc:subject>
  <dc:creator>education-ppt</dc:creator>
  <cp:lastModifiedBy>education-ppt</cp:lastModifiedBy>
  <cp:revision>1</cp:revision>
  <dcterms:created xsi:type="dcterms:W3CDTF">2026-10-26T08:58:21Z</dcterms:created>
  <dcterms:modified xsi:type="dcterms:W3CDTF">2026-10-26T08:58:21Z</dcterms:modified>
</cp:coreProperties>
</file>