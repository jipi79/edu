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1e63f23-c985-8016-9b25-f061737c82ea}">
          <p14:sldIdLst>
            <p14:sldId id="256"/>
            <p14:sldId id="257"/>
          </p14:sldIdLst>
        </p14:section>
        <p14:section name="개념" id="{1fee2118-6ce0-5d23-986d-08e04825daa2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ecc8f78f-6677-6ad7-6b8d-1747104aefe5}">
          <p14:sldIdLst>
            <p14:sldId id="263"/>
            <p14:sldId id="264"/>
            <p14:sldId id="265"/>
          </p14:sldIdLst>
        </p14:section>
        <p14:section name="확인" id="{8cb2c50e-e350-588d-17c8-bdec883244c9}">
          <p14:sldIdLst>
            <p14:sldId id="266"/>
            <p14:sldId id="267"/>
          </p14:sldIdLst>
        </p14:section>
        <p14:section name="정리" id="{58f18c22-229d-c6b1-772b-bb8d3b024d2b}">
          <p14:sldIdLst>
            <p14:sldId id="268"/>
          </p14:sldIdLst>
        </p14:section>
        <p14:section name="보충" id="{cd299a84-c21a-d9e0-a2c1-f8624b7b5ce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문학문법매체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자료 출처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자료 출처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자료 출처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출처 확인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자료,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믿어도 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자료의 출처·만든 사람·만든 때를 찾을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자료가 믿을 만한지 까닭을 들어 판단할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4학년과 지난 시간에 배운 것을 떠올려 답해요.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믿을 만한지 묻는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질문은?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 물만 마시면 키가 100% 쑥쑥!’에서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의심해야 할 말은?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이야기의 배경에서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두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자료에서 확인할 세 가지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맨 위나 맨 아래, 글쓴이 이름 옆을 살펴요.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나온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자료인가요?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(누리집, 신문, 책)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만들었나요?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분야를 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사람인가요?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만들었나요?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지금도 맞는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내용인가요?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가: 어린이 과학 잡지 기사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출처, 만든 사람, 만든 때는 어디에 있나요?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어떻게 숨을 쉴까?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고래는 바다에 살지만 물고기가 아니라 포유류(새끼에게 젖을 먹여 기르는 동물)입니다. 그래서 아가미가 아니라 허파로 숨을 쉽니다.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고래는 물 위로 올라와 머리 위에 있는 숨구멍으로 공기를 들이마십니다.</a:t>
            </a:r>
            <a:endParaRPr lang="ko-KR" sz="28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‘별빛 어린이 과학’ 올해 5월호</a:t>
            </a:r>
            <a:endParaRPr lang="ko-KR" sz="28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글: 바다 생물 연구원 한누리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누리집 게시판 글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무엇이 다른가요? 어느 자료를 믿을까요?</a:t>
            </a:r>
            <a:endParaRPr lang="ko-KR" sz="2800" dirty="0"/>
          </a:p>
        </p:txBody>
      </p:sp>
      <p:sp>
        <p:nvSpPr>
          <p:cNvPr id="5" name="S05-passagebox2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글쓴이: 바다조아　·　날짜: 없음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고래도 물고기예요!!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물속에서 아가미로 숨 쉬는 거 100% 확실함.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형이 그랬음.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나를 비교하면</a:t>
            </a:r>
            <a:endParaRPr lang="ko-KR" sz="4000" dirty="0"/>
          </a:p>
        </p:txBody>
      </p:sp>
      <p:sp>
        <p:nvSpPr>
          <p:cNvPr id="3" name="S06-card2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가가 더 믿을 만해요. 나는 누가, 언제 썼는지 모르고 근거도 없어요.</a:t>
            </a:r>
            <a:endParaRPr lang="ko-KR" sz="2800" dirty="0"/>
          </a:p>
        </p:txBody>
      </p:sp>
      <p:graphicFrame>
        <p:nvGraphicFramePr>
          <p:cNvPr id="7" name="S06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55216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43891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잡지 기사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게시판 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 과학 잡지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누리집 게시판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만든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 생물 연구원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별명뿐(알 수 없음)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만든 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올해 5월호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 수 없음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근거·표현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숨 쉬는 방법을 설명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“형이 그랬음”, ‘100%’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만한지 판단하는 순서</a:t>
            </a:r>
            <a:endParaRPr lang="ko-KR" sz="4000" dirty="0"/>
          </a:p>
        </p:txBody>
      </p:sp>
      <p:sp>
        <p:nvSpPr>
          <p:cNvPr id="3" name="S07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수 없으면 ‘알 수 없음’이라고 적어요.</a:t>
            </a:r>
            <a:endParaRPr lang="ko-KR" sz="2800" dirty="0"/>
          </a:p>
        </p:txBody>
      </p:sp>
      <p:sp>
        <p:nvSpPr>
          <p:cNvPr id="5" name="S07-stepno31"/>
          <p:cNvSpPr txBox="1"/>
          <p:nvPr/>
        </p:nvSpPr>
        <p:spPr>
          <a:xfrm>
            <a:off x="548640" y="1522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7-text32"/>
          <p:cNvSpPr txBox="1"/>
          <p:nvPr/>
        </p:nvSpPr>
        <p:spPr>
          <a:xfrm>
            <a:off x="1325880" y="15224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출처를 찾아요.</a:t>
            </a:r>
            <a:endParaRPr lang="ko-KR" sz="2800" dirty="0"/>
          </a:p>
        </p:txBody>
      </p:sp>
      <p:sp>
        <p:nvSpPr>
          <p:cNvPr id="7" name="S07-stepno33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7-text34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사람이 그 분야를 잘 아는지 봐요.</a:t>
            </a:r>
            <a:endParaRPr lang="ko-KR" sz="2800" dirty="0"/>
          </a:p>
        </p:txBody>
      </p:sp>
      <p:sp>
        <p:nvSpPr>
          <p:cNvPr id="9" name="S07-stepno35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7-text36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때가 지금 쓰기에 알맞은지 봐요.</a:t>
            </a:r>
            <a:endParaRPr lang="ko-KR" sz="2800" dirty="0"/>
          </a:p>
        </p:txBody>
      </p:sp>
      <p:sp>
        <p:nvSpPr>
          <p:cNvPr id="11" name="S07-stepno37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7-text38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있고 부풀린 말이 없는지 봐요.</a:t>
            </a:r>
            <a:endParaRPr lang="ko-KR" sz="2800" dirty="0"/>
          </a:p>
        </p:txBody>
      </p:sp>
      <p:sp>
        <p:nvSpPr>
          <p:cNvPr id="13" name="S07-stepno39"/>
          <p:cNvSpPr txBox="1"/>
          <p:nvPr/>
        </p:nvSpPr>
        <p:spPr>
          <a:xfrm>
            <a:off x="548640" y="4375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4" name="S07-text40"/>
          <p:cNvSpPr txBox="1"/>
          <p:nvPr/>
        </p:nvSpPr>
        <p:spPr>
          <a:xfrm>
            <a:off x="1325880" y="437540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믿을 만한 자료와 견주어 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꼬리표에서 찾아요</a:t>
            </a:r>
            <a:endParaRPr lang="ko-KR" sz="4000" dirty="0"/>
          </a:p>
        </p:txBody>
      </p:sp>
      <p:sp>
        <p:nvSpPr>
          <p:cNvPr id="3" name="S08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아래에 붙은 꼬리표예요. 출처·만든 사람·만든 때를 찾아요.</a:t>
            </a:r>
            <a:endParaRPr lang="ko-KR" sz="2800" dirty="0"/>
          </a:p>
        </p:txBody>
      </p:sp>
      <p:sp>
        <p:nvSpPr>
          <p:cNvPr id="4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찾을 수 없으면 ‘알 수 없음’이라고 말해요.</a:t>
            </a:r>
            <a:endParaRPr lang="ko-KR" sz="2800" dirty="0"/>
          </a:p>
        </p:txBody>
      </p:sp>
      <p:sp>
        <p:nvSpPr>
          <p:cNvPr id="6" name="S08-chip4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누리집 ‘새 소식’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환경과 · 9월 2일</a:t>
            </a:r>
            <a:endParaRPr lang="ko-KR" sz="2800" dirty="0"/>
          </a:p>
        </p:txBody>
      </p:sp>
      <p:sp>
        <p:nvSpPr>
          <p:cNvPr id="8" name="S08-chip4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4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영상 ‘곤충 관찰 일기’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사람: 숲지기 · 날짜 없음</a:t>
            </a:r>
            <a:endParaRPr lang="ko-KR" sz="2800" dirty="0"/>
          </a:p>
        </p:txBody>
      </p:sp>
      <p:sp>
        <p:nvSpPr>
          <p:cNvPr id="10" name="S08-chip4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4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‘우리 강의 물고기’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지은이: 물고기 연구가 강바다 · 3년 전 펴냄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안내문, 지금도 맞을까?</a:t>
            </a:r>
            <a:endParaRPr lang="ko-KR" sz="4000" dirty="0"/>
          </a:p>
        </p:txBody>
      </p:sp>
      <p:sp>
        <p:nvSpPr>
          <p:cNvPr id="3" name="S09-text50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12월이에요. 겨울 방학에 도서관에 가려고 이 안내문을 찾았어요.</a:t>
            </a:r>
            <a:endParaRPr lang="ko-KR" sz="2800" dirty="0"/>
          </a:p>
        </p:txBody>
      </p:sp>
      <p:sp>
        <p:nvSpPr>
          <p:cNvPr id="4" name="S09-card5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도서관이 만든 안내문이에요. 겨울 방학 계획에 그대로 써도 될까요?</a:t>
            </a:r>
            <a:endParaRPr lang="ko-KR" sz="2800" dirty="0"/>
          </a:p>
        </p:txBody>
      </p:sp>
      <p:sp>
        <p:nvSpPr>
          <p:cNvPr id="6" name="S09-passagebox53"/>
          <p:cNvSpPr/>
          <p:nvPr/>
        </p:nvSpPr>
        <p:spPr>
          <a:xfrm>
            <a:off x="548640" y="2376424"/>
            <a:ext cx="11091672" cy="2416048"/>
          </a:xfrm>
          <a:prstGeom prst="roundRect">
            <a:avLst>
              <a:gd name="adj" fmla="val 3785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9-passage54"/>
          <p:cNvSpPr txBox="1"/>
          <p:nvPr/>
        </p:nvSpPr>
        <p:spPr>
          <a:xfrm>
            <a:off x="822960" y="2559304"/>
            <a:ext cx="10543032" cy="205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별빛시립도서관 어린이실 이용 안내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 방학(7월 21일~8월 20일) 동안 어린이실은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오전 9시부터 저녁 8시까지 엽니다. 매주 월요일은 쉽니다.</a:t>
            </a:r>
            <a:endParaRPr lang="ko-KR" sz="3000" dirty="0"/>
          </a:p>
          <a:p>
            <a:pPr eaLnBrk="0" algn="r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10일　별빛시립도서관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좋아요가 많으면 믿을 만할까?</a:t>
            </a:r>
            <a:endParaRPr lang="ko-KR" sz="4000" dirty="0"/>
          </a:p>
        </p:txBody>
      </p:sp>
      <p:sp>
        <p:nvSpPr>
          <p:cNvPr id="3" name="S10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‘모기는 왜 피를 빨까?’를 찾다가 두 자료를 보았어요.</a:t>
            </a:r>
            <a:endParaRPr lang="ko-KR" sz="2800" dirty="0"/>
          </a:p>
        </p:txBody>
      </p:sp>
      <p:sp>
        <p:nvSpPr>
          <p:cNvPr id="5" name="S10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자료를 믿을까요? 판단 순서대로 까닭을 말해요.</a:t>
            </a:r>
            <a:endParaRPr lang="ko-KR" sz="2800" dirty="0"/>
          </a:p>
        </p:txBody>
      </p:sp>
      <p:sp>
        <p:nvSpPr>
          <p:cNvPr id="7" name="S10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게시판 댓글</a:t>
            </a:r>
            <a:endParaRPr lang="ko-KR" sz="2200" dirty="0"/>
          </a:p>
        </p:txBody>
      </p:sp>
      <p:sp>
        <p:nvSpPr>
          <p:cNvPr id="8" name="S10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 모름 · 날짜 없음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 520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“모기는 다 피를 먹고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살아요. 진짜임!!”</a:t>
            </a:r>
            <a:endParaRPr lang="ko-KR" sz="2800" dirty="0"/>
          </a:p>
        </p:txBody>
      </p:sp>
      <p:sp>
        <p:nvSpPr>
          <p:cNvPr id="9" name="S10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보건소 누리집</a:t>
            </a:r>
            <a:endParaRPr lang="ko-KR" sz="2200" dirty="0"/>
          </a:p>
        </p:txBody>
      </p:sp>
      <p:sp>
        <p:nvSpPr>
          <p:cNvPr id="10" name="S10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 보건소 · 6월 1일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좋아요 12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“피를 빠는 모기는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알을 낳을 암컷이에요.”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 공원 가을 축제 날짜를 알아보려고 찾은 자료예요.</a:t>
            </a:r>
            <a:endParaRPr lang="ko-KR" sz="2800" dirty="0"/>
          </a:p>
        </p:txBody>
      </p:sp>
      <p:sp>
        <p:nvSpPr>
          <p:cNvPr id="4" name="S11-card6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6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자료마다 출처·만든 사람·만든 때를 찾아요.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올해 축제 날짜는 어느 자료로 알아야 할까요?</a:t>
            </a:r>
            <a:endParaRPr lang="ko-KR" sz="2800" dirty="0"/>
          </a:p>
        </p:txBody>
      </p:sp>
      <p:sp>
        <p:nvSpPr>
          <p:cNvPr id="6" name="S11-card66"/>
          <p:cNvSpPr/>
          <p:nvPr/>
        </p:nvSpPr>
        <p:spPr>
          <a:xfrm>
            <a:off x="548640" y="2300732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67"/>
          <p:cNvSpPr txBox="1"/>
          <p:nvPr/>
        </p:nvSpPr>
        <p:spPr>
          <a:xfrm>
            <a:off x="822960" y="2437892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누리집 공지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별빛구청 문화과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“축제는 10월 18일에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열려요.”</a:t>
            </a:r>
            <a:endParaRPr lang="ko-KR" sz="2800" dirty="0"/>
          </a:p>
        </p:txBody>
      </p:sp>
      <p:sp>
        <p:nvSpPr>
          <p:cNvPr id="8" name="S11-card68"/>
          <p:cNvSpPr/>
          <p:nvPr/>
        </p:nvSpPr>
        <p:spPr>
          <a:xfrm>
            <a:off x="4322064" y="2300732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1-cardtext69"/>
          <p:cNvSpPr txBox="1"/>
          <p:nvPr/>
        </p:nvSpPr>
        <p:spPr>
          <a:xfrm>
            <a:off x="4596384" y="2437892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동네 게시판 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 모름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없음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“축제 다음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주래요!!”</a:t>
            </a:r>
            <a:endParaRPr lang="ko-KR" sz="2800" dirty="0"/>
          </a:p>
        </p:txBody>
      </p:sp>
      <p:sp>
        <p:nvSpPr>
          <p:cNvPr id="10" name="S11-card70"/>
          <p:cNvSpPr/>
          <p:nvPr/>
        </p:nvSpPr>
        <p:spPr>
          <a:xfrm>
            <a:off x="8095488" y="2300732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71"/>
          <p:cNvSpPr txBox="1"/>
          <p:nvPr/>
        </p:nvSpPr>
        <p:spPr>
          <a:xfrm>
            <a:off x="8369808" y="2437892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축제 전단지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별빛구청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작년 9월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“축제는 10월 12일에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열려요.”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믿을 만한 자료는?</a:t>
            </a:r>
            <a:endParaRPr lang="ko-KR" sz="4000" dirty="0"/>
          </a:p>
        </p:txBody>
      </p:sp>
      <p:sp>
        <p:nvSpPr>
          <p:cNvPr id="3" name="S1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소풍 날씨를 알아보려고 해요.</a:t>
            </a:r>
            <a:endParaRPr lang="ko-KR" sz="2800" dirty="0"/>
          </a:p>
        </p:txBody>
      </p:sp>
      <p:sp>
        <p:nvSpPr>
          <p:cNvPr id="4" name="S1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나머지 두 자료가 아쉬운 점을 말해요.</a:t>
            </a:r>
            <a:endParaRPr lang="ko-KR" sz="2800" dirty="0"/>
          </a:p>
        </p:txBody>
      </p:sp>
      <p:sp>
        <p:nvSpPr>
          <p:cNvPr id="6" name="S13-chip7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ard7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7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 전문 기관 누리집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아침 6시 발표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오후 비 올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60%”</a:t>
            </a:r>
            <a:endParaRPr lang="ko-KR" sz="2200" dirty="0"/>
          </a:p>
        </p:txBody>
      </p:sp>
      <p:sp>
        <p:nvSpPr>
          <p:cNvPr id="9" name="S13-chip7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3-card7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8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보낸 메시지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보냄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비 절대 안 와!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느낌이 그래.”</a:t>
            </a:r>
            <a:endParaRPr lang="ko-KR" sz="2200" dirty="0"/>
          </a:p>
        </p:txBody>
      </p:sp>
      <p:sp>
        <p:nvSpPr>
          <p:cNvPr id="12" name="S13-chip8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3-card8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8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신문의 날씨 예보 기사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지난주 월요일 발표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 주는 내내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맑겠습니다.”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자료를 볼 때는 출처·만든 사람·만든 때를 확인하고,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근거와 부풀린 말까지 살펴 믿을 만한지 판단해요.</a:t>
            </a:r>
            <a:endParaRPr lang="ko-KR" sz="2800" dirty="0"/>
          </a:p>
        </p:txBody>
      </p:sp>
      <p:sp>
        <p:nvSpPr>
          <p:cNvPr id="5" name="S14-chip8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날짜가 지금도 맞는지 보기</a:t>
            </a:r>
            <a:endParaRPr lang="ko-KR" sz="2200" dirty="0"/>
          </a:p>
        </p:txBody>
      </p:sp>
      <p:sp>
        <p:nvSpPr>
          <p:cNvPr id="6" name="S14-chip8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좋아요 수만 보고 믿기</a:t>
            </a:r>
            <a:endParaRPr lang="ko-KR" sz="2200" dirty="0"/>
          </a:p>
        </p:txBody>
      </p:sp>
      <p:sp>
        <p:nvSpPr>
          <p:cNvPr id="7" name="S14-text8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자료에서 확인할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가지는?</a:t>
            </a:r>
            <a:endParaRPr lang="ko-KR" sz="2200" dirty="0"/>
          </a:p>
        </p:txBody>
      </p:sp>
      <p:sp>
        <p:nvSpPr>
          <p:cNvPr id="9" name="S14-text9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만든 때를 꼭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확인하는 까닭은?</a:t>
            </a:r>
            <a:endParaRPr lang="ko-KR" sz="2200" dirty="0"/>
          </a:p>
        </p:txBody>
      </p:sp>
      <p:sp>
        <p:nvSpPr>
          <p:cNvPr id="10" name="S14-text9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좋아요가 많으면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만할까?</a:t>
            </a:r>
            <a:endParaRPr lang="ko-KR" sz="2200" dirty="0"/>
          </a:p>
        </p:txBody>
      </p:sp>
      <p:sp>
        <p:nvSpPr>
          <p:cNvPr id="11" name="S14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문장 표현 점검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집에 있는 자료로</a:t>
            </a:r>
            <a:endParaRPr lang="ko-KR" sz="4000" dirty="0"/>
          </a:p>
        </p:txBody>
      </p:sp>
      <p:sp>
        <p:nvSpPr>
          <p:cNvPr id="3" name="S15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책, 안내문, 우편물에서 찾아봐요.</a:t>
            </a:r>
            <a:endParaRPr lang="ko-KR" sz="2800" dirty="0"/>
          </a:p>
        </p:txBody>
      </p:sp>
      <p:sp>
        <p:nvSpPr>
          <p:cNvPr id="4" name="S15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곳을 손가락으로 짚으며 말해요. 없으면 ‘알 수 없음’이에요.</a:t>
            </a:r>
            <a:endParaRPr lang="ko-KR" sz="2800" dirty="0"/>
          </a:p>
        </p:txBody>
      </p:sp>
      <p:sp>
        <p:nvSpPr>
          <p:cNvPr id="6" name="S15-word96"/>
          <p:cNvSpPr txBox="1"/>
          <p:nvPr/>
        </p:nvSpPr>
        <p:spPr>
          <a:xfrm>
            <a:off x="548640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ko-KR" sz="3200" dirty="0"/>
          </a:p>
        </p:txBody>
      </p:sp>
      <p:sp>
        <p:nvSpPr>
          <p:cNvPr id="7" name="S15-word97"/>
          <p:cNvSpPr txBox="1"/>
          <p:nvPr/>
        </p:nvSpPr>
        <p:spPr>
          <a:xfrm>
            <a:off x="4337304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사람</a:t>
            </a:r>
            <a:endParaRPr lang="ko-KR" sz="3200" dirty="0"/>
          </a:p>
        </p:txBody>
      </p:sp>
      <p:sp>
        <p:nvSpPr>
          <p:cNvPr id="8" name="S15-word98"/>
          <p:cNvSpPr txBox="1"/>
          <p:nvPr/>
        </p:nvSpPr>
        <p:spPr>
          <a:xfrm>
            <a:off x="8125968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자료 출처 확인</dc:title>
  <dc:subject>KR22-G05-KOR-SOURCE-L01</dc:subject>
  <dc:creator>education-ppt</dc:creator>
  <cp:lastModifiedBy>education-ppt</cp:lastModifiedBy>
  <cp:revision>1</cp:revision>
  <dcterms:created xsi:type="dcterms:W3CDTF">2026-10-26T08:58:19Z</dcterms:created>
  <dcterms:modified xsi:type="dcterms:W3CDTF">2026-10-26T08:58:19Z</dcterms:modified>
</cp:coreProperties>
</file>