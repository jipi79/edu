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912d8d34-ab87-aac5-9833-423aea780d5c}">
          <p14:sldIdLst>
            <p14:sldId id="256"/>
            <p14:sldId id="257"/>
          </p14:sldIdLst>
        </p14:section>
        <p14:section name="개념" id="{095154e6-f8ea-3a56-0974-964e21b72a25}">
          <p14:sldIdLst>
            <p14:sldId id="258"/>
            <p14:sldId id="259"/>
            <p14:sldId id="260"/>
            <p14:sldId id="261"/>
            <p14:sldId id="262"/>
          </p14:sldIdLst>
        </p14:section>
        <p14:section name="연습" id="{2bc868ee-37f9-892a-d73c-1998d9198dcf}">
          <p14:sldIdLst>
            <p14:sldId id="263"/>
            <p14:sldId id="264"/>
            <p14:sldId id="265"/>
          </p14:sldIdLst>
        </p14:section>
        <p14:section name="확인" id="{b2fe476c-99a4-f405-e727-ae504ab08e98}">
          <p14:sldIdLst>
            <p14:sldId id="266"/>
            <p14:sldId id="267"/>
          </p14:sldIdLst>
        </p14:section>
        <p14:section name="정리" id="{316c3460-13be-14d8-bbff-fc1db3316b7a}">
          <p14:sldIdLst>
            <p14:sldId id="268"/>
          </p14:sldIdLst>
        </p14:section>
        <p14:section name="보충" id="{8a4bd435-101f-996d-e8d5-1b8397ed2bb2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국어 · 문학문법매체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국어 · 자료 출처 확인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국어 · 자료 출처 확인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국어 · 자료 출처 확인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 출처 확인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찾은 자료,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믿어도 될까?</a:t>
            </a:r>
            <a:endParaRPr lang="ko-KR" sz="2800" dirty="0"/>
          </a:p>
        </p:txBody>
      </p:sp>
      <p:sp>
        <p:nvSpPr>
          <p:cNvPr id="4" name="S01-card1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자료의 출처·만든 사람·만든 때를 찾을 수 있어요.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자료가 믿을 만한지 까닭을 들어 판단할 수 있어요.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기억나요?</a:t>
            </a:r>
            <a:endParaRPr lang="ko-KR" sz="40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4학년과 지난 시간에 배운 것을 떠올려 답해요.</a:t>
            </a:r>
            <a:endParaRPr lang="ko-KR" sz="2800" dirty="0"/>
          </a:p>
        </p:txBody>
      </p:sp>
      <p:sp>
        <p:nvSpPr>
          <p:cNvPr id="4" name="S02-chip4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02-text5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자료가 믿을 만한지 묻는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 질문은?</a:t>
            </a:r>
            <a:endParaRPr lang="ko-KR" sz="28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‘이 물만 마시면 키가 100% 쑥쑥!’에서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의심해야 할 말은?</a:t>
            </a:r>
            <a:endParaRPr lang="ko-KR" sz="2800" dirty="0"/>
          </a:p>
        </p:txBody>
      </p:sp>
      <p:sp>
        <p:nvSpPr>
          <p:cNvPr id="8" name="S02-chip8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02-text9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이야기의 배경에서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찾는 두 가지는?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자료에서 확인할 세 가지</a:t>
            </a:r>
            <a:endParaRPr lang="ko-KR" sz="4000" dirty="0"/>
          </a:p>
        </p:txBody>
      </p:sp>
      <p:sp>
        <p:nvSpPr>
          <p:cNvPr id="3" name="S03-card1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자료의 맨 위나 맨 아래, 글쓴이 이름 옆을 살펴요.</a:t>
            </a:r>
            <a:endParaRPr lang="ko-KR" sz="2800" dirty="0"/>
          </a:p>
        </p:txBody>
      </p:sp>
      <p:sp>
        <p:nvSpPr>
          <p:cNvPr id="5" name="S03-card12"/>
          <p:cNvSpPr/>
          <p:nvPr/>
        </p:nvSpPr>
        <p:spPr>
          <a:xfrm>
            <a:off x="548640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3"/>
          <p:cNvSpPr txBox="1"/>
          <p:nvPr/>
        </p:nvSpPr>
        <p:spPr>
          <a:xfrm>
            <a:off x="822960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어디에서 나온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자료인가요?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(누리집, 신문, 책)</a:t>
            </a:r>
            <a:endParaRPr lang="ko-KR" sz="2800" dirty="0"/>
          </a:p>
        </p:txBody>
      </p:sp>
      <p:sp>
        <p:nvSpPr>
          <p:cNvPr id="7" name="S03-card14"/>
          <p:cNvSpPr/>
          <p:nvPr/>
        </p:nvSpPr>
        <p:spPr>
          <a:xfrm>
            <a:off x="4322064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8" name="S03-cardtext15"/>
          <p:cNvSpPr txBox="1"/>
          <p:nvPr/>
        </p:nvSpPr>
        <p:spPr>
          <a:xfrm>
            <a:off x="4596384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만든 사람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만들었나요?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분야를 잘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아는 사람인가요?</a:t>
            </a:r>
            <a:endParaRPr lang="ko-KR" sz="2800" dirty="0"/>
          </a:p>
        </p:txBody>
      </p:sp>
      <p:sp>
        <p:nvSpPr>
          <p:cNvPr id="9" name="S03-card16"/>
          <p:cNvSpPr/>
          <p:nvPr/>
        </p:nvSpPr>
        <p:spPr>
          <a:xfrm>
            <a:off x="8095488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3-cardtext17"/>
          <p:cNvSpPr txBox="1"/>
          <p:nvPr/>
        </p:nvSpPr>
        <p:spPr>
          <a:xfrm>
            <a:off x="8369808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만든 때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 만들었나요?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지금도 맞는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내용인가요?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가: 어린이 과학 잡지 기사</a:t>
            </a:r>
            <a:endParaRPr lang="ko-KR" sz="4000" dirty="0"/>
          </a:p>
        </p:txBody>
      </p:sp>
      <p:sp>
        <p:nvSpPr>
          <p:cNvPr id="3" name="S04-card1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1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출처, 만든 사람, 만든 때는 어디에 있나요?</a:t>
            </a:r>
            <a:endParaRPr lang="ko-KR" sz="2800" dirty="0"/>
          </a:p>
        </p:txBody>
      </p:sp>
      <p:sp>
        <p:nvSpPr>
          <p:cNvPr id="5" name="S04-passagebox20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4-passage21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고래는 어떻게 숨을 쉴까?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고래는 바다에 살지만 물고기가 아니라 포유류(새끼에게 젖을 먹여 기르는 동물)입니다. 그래서 아가미가 아니라 허파로 숨을 쉽니다.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고래는 물 위로 올라와 머리 위에 있는 숨구멍으로 공기를 들이마십니다.</a:t>
            </a:r>
            <a:endParaRPr lang="ko-KR" sz="2800" dirty="0"/>
          </a:p>
          <a:p>
            <a:pPr eaLnBrk="0" algn="r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‘별빛 어린이 과학’ 올해 5월호</a:t>
            </a:r>
            <a:endParaRPr lang="ko-KR" sz="2800" dirty="0"/>
          </a:p>
          <a:p>
            <a:pPr eaLnBrk="0" algn="r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글: 바다 생물 연구원 한누리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나: 누리집 게시판 글</a:t>
            </a:r>
            <a:endParaRPr lang="ko-KR" sz="4000" dirty="0"/>
          </a:p>
        </p:txBody>
      </p:sp>
      <p:sp>
        <p:nvSpPr>
          <p:cNvPr id="3" name="S05-card2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2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가와 무엇이 다른가요? 어느 자료를 믿을까요?</a:t>
            </a:r>
            <a:endParaRPr lang="ko-KR" sz="2800" dirty="0"/>
          </a:p>
        </p:txBody>
      </p:sp>
      <p:sp>
        <p:nvSpPr>
          <p:cNvPr id="5" name="S05-passagebox24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5-passage25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글쓴이: 바다조아　·　날짜: 없음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고래도 물고기예요!!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물속에서 아가미로 숨 쉬는 거 100% 확실함.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우리 형이 그랬음.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가와 나를 비교하면</a:t>
            </a:r>
            <a:endParaRPr lang="ko-KR" sz="4000" dirty="0"/>
          </a:p>
        </p:txBody>
      </p:sp>
      <p:sp>
        <p:nvSpPr>
          <p:cNvPr id="3" name="S06-card26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27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가가 더 믿을 만해요. 나는 누가, 언제 썼는지 모르고 근거도 없어요.</a:t>
            </a:r>
            <a:endParaRPr lang="ko-KR" sz="2800" dirty="0"/>
          </a:p>
        </p:txBody>
      </p:sp>
      <p:graphicFrame>
        <p:nvGraphicFramePr>
          <p:cNvPr id="7" name="S06-table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1878076"/>
          <a:ext cx="109728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389120"/>
                <a:gridCol w="4389120"/>
              </a:tblGrid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 잡지 기사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 게시판 글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출처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어린이 과학 잡지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누리집 게시판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만든 사람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바다 생물 연구원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별명뿐(알 수 없음)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만든 때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올해 5월호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알 수 없음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근거·표현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숨 쉬는 방법을 설명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“형이 그랬음”, ‘100%’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믿을 만한지 판단하는 순서</a:t>
            </a:r>
            <a:endParaRPr lang="ko-KR" sz="4000" dirty="0"/>
          </a:p>
        </p:txBody>
      </p:sp>
      <p:sp>
        <p:nvSpPr>
          <p:cNvPr id="3" name="S07-card2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3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찾을 수 없으면 ‘알 수 없음’이라고 적어요.</a:t>
            </a:r>
            <a:endParaRPr lang="ko-KR" sz="2800" dirty="0"/>
          </a:p>
        </p:txBody>
      </p:sp>
      <p:sp>
        <p:nvSpPr>
          <p:cNvPr id="5" name="S07-stepno31"/>
          <p:cNvSpPr txBox="1"/>
          <p:nvPr/>
        </p:nvSpPr>
        <p:spPr>
          <a:xfrm>
            <a:off x="548640" y="152247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6" name="S07-text32"/>
          <p:cNvSpPr txBox="1"/>
          <p:nvPr/>
        </p:nvSpPr>
        <p:spPr>
          <a:xfrm>
            <a:off x="1325880" y="1522476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출처를 찾아요.</a:t>
            </a:r>
            <a:endParaRPr lang="ko-KR" sz="2800" dirty="0"/>
          </a:p>
        </p:txBody>
      </p:sp>
      <p:sp>
        <p:nvSpPr>
          <p:cNvPr id="7" name="S07-stepno33"/>
          <p:cNvSpPr txBox="1"/>
          <p:nvPr/>
        </p:nvSpPr>
        <p:spPr>
          <a:xfrm>
            <a:off x="548640" y="22357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8" name="S07-text34"/>
          <p:cNvSpPr txBox="1"/>
          <p:nvPr/>
        </p:nvSpPr>
        <p:spPr>
          <a:xfrm>
            <a:off x="1325880" y="223570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만든 사람이 그 분야를 잘 아는지 봐요.</a:t>
            </a:r>
            <a:endParaRPr lang="ko-KR" sz="2800" dirty="0"/>
          </a:p>
        </p:txBody>
      </p:sp>
      <p:sp>
        <p:nvSpPr>
          <p:cNvPr id="9" name="S07-stepno35"/>
          <p:cNvSpPr txBox="1"/>
          <p:nvPr/>
        </p:nvSpPr>
        <p:spPr>
          <a:xfrm>
            <a:off x="548640" y="29489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0" name="S07-text36"/>
          <p:cNvSpPr txBox="1"/>
          <p:nvPr/>
        </p:nvSpPr>
        <p:spPr>
          <a:xfrm>
            <a:off x="1325880" y="2948940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만든 때가 지금 쓰기에 알맞은지 봐요.</a:t>
            </a:r>
            <a:endParaRPr lang="ko-KR" sz="2800" dirty="0"/>
          </a:p>
        </p:txBody>
      </p:sp>
      <p:sp>
        <p:nvSpPr>
          <p:cNvPr id="11" name="S07-stepno37"/>
          <p:cNvSpPr txBox="1"/>
          <p:nvPr/>
        </p:nvSpPr>
        <p:spPr>
          <a:xfrm>
            <a:off x="548640" y="36621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2" name="S07-text38"/>
          <p:cNvSpPr txBox="1"/>
          <p:nvPr/>
        </p:nvSpPr>
        <p:spPr>
          <a:xfrm>
            <a:off x="1325880" y="366217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근거가 있고 부풀린 말이 없는지 봐요.</a:t>
            </a:r>
            <a:endParaRPr lang="ko-KR" sz="2800" dirty="0"/>
          </a:p>
        </p:txBody>
      </p:sp>
      <p:sp>
        <p:nvSpPr>
          <p:cNvPr id="13" name="S07-stepno39"/>
          <p:cNvSpPr txBox="1"/>
          <p:nvPr/>
        </p:nvSpPr>
        <p:spPr>
          <a:xfrm>
            <a:off x="548640" y="437540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200" dirty="0"/>
          </a:p>
        </p:txBody>
      </p:sp>
      <p:sp>
        <p:nvSpPr>
          <p:cNvPr id="14" name="S07-text40"/>
          <p:cNvSpPr txBox="1"/>
          <p:nvPr/>
        </p:nvSpPr>
        <p:spPr>
          <a:xfrm>
            <a:off x="1325880" y="437540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믿을 만한 자료와 견주어 봐요.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꼬리표에서 찾아요</a:t>
            </a:r>
            <a:endParaRPr lang="ko-KR" sz="4000" dirty="0"/>
          </a:p>
        </p:txBody>
      </p:sp>
      <p:sp>
        <p:nvSpPr>
          <p:cNvPr id="3" name="S08-text4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 아래에 붙은 꼬리표예요. 출처·만든 사람·만든 때를 찾아요.</a:t>
            </a:r>
            <a:endParaRPr lang="ko-KR" sz="2800" dirty="0"/>
          </a:p>
        </p:txBody>
      </p:sp>
      <p:sp>
        <p:nvSpPr>
          <p:cNvPr id="4" name="S08-card4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8-cardtext4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찾을 수 없으면 ‘알 수 없음’이라고 말해요.</a:t>
            </a:r>
            <a:endParaRPr lang="ko-KR" sz="2800" dirty="0"/>
          </a:p>
        </p:txBody>
      </p:sp>
      <p:sp>
        <p:nvSpPr>
          <p:cNvPr id="6" name="S08-chip44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8-text45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별빛시 누리집 ‘새 소식’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별빛시 환경과 · 9월 2일</a:t>
            </a:r>
            <a:endParaRPr lang="ko-KR" sz="2800" dirty="0"/>
          </a:p>
        </p:txBody>
      </p:sp>
      <p:sp>
        <p:nvSpPr>
          <p:cNvPr id="8" name="S08-chip46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8-text47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 ‘곤충 관찰 일기’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올린 사람: 숲지기 · 날짜 없음</a:t>
            </a:r>
            <a:endParaRPr lang="ko-KR" sz="2800" dirty="0"/>
          </a:p>
        </p:txBody>
      </p:sp>
      <p:sp>
        <p:nvSpPr>
          <p:cNvPr id="10" name="S08-chip48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8-text49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 ‘우리 강의 물고기’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지은이: 물고기 연구가 강바다 · 3년 전 펴냄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안내문, 지금도 맞을까?</a:t>
            </a:r>
            <a:endParaRPr lang="ko-KR" sz="4000" dirty="0"/>
          </a:p>
        </p:txBody>
      </p:sp>
      <p:sp>
        <p:nvSpPr>
          <p:cNvPr id="3" name="S09-text50"/>
          <p:cNvSpPr txBox="1"/>
          <p:nvPr/>
        </p:nvSpPr>
        <p:spPr>
          <a:xfrm>
            <a:off x="548640" y="1325880"/>
            <a:ext cx="1109167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지금은 12월이에요. 겨울 방학에 도서관에 가려고 이 안내문을 찾았어요.</a:t>
            </a:r>
            <a:endParaRPr lang="ko-KR" sz="2800" dirty="0"/>
          </a:p>
        </p:txBody>
      </p:sp>
      <p:sp>
        <p:nvSpPr>
          <p:cNvPr id="4" name="S09-card51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9-cardtext52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도서관이 만든 안내문이에요. 겨울 방학 계획에 그대로 써도 될까요?</a:t>
            </a:r>
            <a:endParaRPr lang="ko-KR" sz="2800" dirty="0"/>
          </a:p>
        </p:txBody>
      </p:sp>
      <p:sp>
        <p:nvSpPr>
          <p:cNvPr id="6" name="S09-passagebox53"/>
          <p:cNvSpPr/>
          <p:nvPr/>
        </p:nvSpPr>
        <p:spPr>
          <a:xfrm>
            <a:off x="548640" y="2376424"/>
            <a:ext cx="11091672" cy="2416048"/>
          </a:xfrm>
          <a:prstGeom prst="roundRect">
            <a:avLst>
              <a:gd name="adj" fmla="val 3785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7" name="S09-passage54"/>
          <p:cNvSpPr txBox="1"/>
          <p:nvPr/>
        </p:nvSpPr>
        <p:spPr>
          <a:xfrm>
            <a:off x="822960" y="2559304"/>
            <a:ext cx="10543032" cy="2050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별빛시립도서관 어린이실 이용 안내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여름 방학(7월 21일~8월 20일) 동안 어린이실은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오전 9시부터 저녁 8시까지 엽니다. 매주 월요일은 쉽니다.</a:t>
            </a:r>
            <a:endParaRPr lang="ko-KR" sz="3000" dirty="0"/>
          </a:p>
          <a:p>
            <a:pPr eaLnBrk="0" algn="r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7월 10일　별빛시립도서관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좋아요가 많으면 믿을 만할까?</a:t>
            </a:r>
            <a:endParaRPr lang="ko-KR" sz="4000" dirty="0"/>
          </a:p>
        </p:txBody>
      </p:sp>
      <p:sp>
        <p:nvSpPr>
          <p:cNvPr id="3" name="S10-card55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56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‘모기는 왜 피를 빨까?’를 찾다가 두 자료를 보았어요.</a:t>
            </a:r>
            <a:endParaRPr lang="ko-KR" sz="2800" dirty="0"/>
          </a:p>
        </p:txBody>
      </p:sp>
      <p:sp>
        <p:nvSpPr>
          <p:cNvPr id="5" name="S10-card5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0-cardtext5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자료를 믿을까요? 판단 순서대로 까닭을 말해요.</a:t>
            </a:r>
            <a:endParaRPr lang="ko-KR" sz="2800" dirty="0"/>
          </a:p>
        </p:txBody>
      </p:sp>
      <p:sp>
        <p:nvSpPr>
          <p:cNvPr id="7" name="S10-chip59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 게시판 댓글</a:t>
            </a:r>
            <a:endParaRPr lang="ko-KR" sz="2200" dirty="0"/>
          </a:p>
        </p:txBody>
      </p:sp>
      <p:sp>
        <p:nvSpPr>
          <p:cNvPr id="8" name="S10-text60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글쓴이 모름 · 날짜 없음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좋아요 520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“모기는 다 피를 먹고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살아요. 진짜임!!”</a:t>
            </a:r>
            <a:endParaRPr lang="ko-KR" sz="2800" dirty="0"/>
          </a:p>
        </p:txBody>
      </p:sp>
      <p:sp>
        <p:nvSpPr>
          <p:cNvPr id="9" name="S10-chip61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 보건소 누리집</a:t>
            </a:r>
            <a:endParaRPr lang="ko-KR" sz="2200" dirty="0"/>
          </a:p>
        </p:txBody>
      </p:sp>
      <p:sp>
        <p:nvSpPr>
          <p:cNvPr id="10" name="S10-text62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별빛시 보건소 · 6월 1일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좋아요 12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“피를 빠는 모기는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알을 낳을 암컷이에요.”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text6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별빛 공원 가을 축제 날짜를 알아보려고 찾은 자료예요.</a:t>
            </a:r>
            <a:endParaRPr lang="ko-KR" sz="2800" dirty="0"/>
          </a:p>
        </p:txBody>
      </p:sp>
      <p:sp>
        <p:nvSpPr>
          <p:cNvPr id="4" name="S11-card64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1-cardtext65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자료마다 출처·만든 사람·만든 때를 찾아요.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올해 축제 날짜는 어느 자료로 알아야 할까요?</a:t>
            </a:r>
            <a:endParaRPr lang="ko-KR" sz="2800" dirty="0"/>
          </a:p>
        </p:txBody>
      </p:sp>
      <p:sp>
        <p:nvSpPr>
          <p:cNvPr id="6" name="S11-card66"/>
          <p:cNvSpPr/>
          <p:nvPr/>
        </p:nvSpPr>
        <p:spPr>
          <a:xfrm>
            <a:off x="548640" y="2300732"/>
            <a:ext cx="3544824" cy="2202688"/>
          </a:xfrm>
          <a:prstGeom prst="roundRect">
            <a:avLst>
              <a:gd name="adj" fmla="val 498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1-cardtext67"/>
          <p:cNvSpPr txBox="1"/>
          <p:nvPr/>
        </p:nvSpPr>
        <p:spPr>
          <a:xfrm>
            <a:off x="822960" y="2437892"/>
            <a:ext cx="2996184" cy="192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누리집 공지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별빛구청 문화과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10월 2일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“축제는 10월 18일에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열려요.”</a:t>
            </a:r>
            <a:endParaRPr lang="ko-KR" sz="2800" dirty="0"/>
          </a:p>
        </p:txBody>
      </p:sp>
      <p:sp>
        <p:nvSpPr>
          <p:cNvPr id="8" name="S11-card68"/>
          <p:cNvSpPr/>
          <p:nvPr/>
        </p:nvSpPr>
        <p:spPr>
          <a:xfrm>
            <a:off x="4322064" y="2300732"/>
            <a:ext cx="3544824" cy="2202688"/>
          </a:xfrm>
          <a:prstGeom prst="roundRect">
            <a:avLst>
              <a:gd name="adj" fmla="val 498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11-cardtext69"/>
          <p:cNvSpPr txBox="1"/>
          <p:nvPr/>
        </p:nvSpPr>
        <p:spPr>
          <a:xfrm>
            <a:off x="4596384" y="2437892"/>
            <a:ext cx="2996184" cy="192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 동네 게시판 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글쓴이 모름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 없음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“축제 다음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주래요!!”</a:t>
            </a:r>
            <a:endParaRPr lang="ko-KR" sz="2800" dirty="0"/>
          </a:p>
        </p:txBody>
      </p:sp>
      <p:sp>
        <p:nvSpPr>
          <p:cNvPr id="10" name="S11-card70"/>
          <p:cNvSpPr/>
          <p:nvPr/>
        </p:nvSpPr>
        <p:spPr>
          <a:xfrm>
            <a:off x="8095488" y="2300732"/>
            <a:ext cx="3544824" cy="2202688"/>
          </a:xfrm>
          <a:prstGeom prst="roundRect">
            <a:avLst>
              <a:gd name="adj" fmla="val 498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1-cardtext71"/>
          <p:cNvSpPr txBox="1"/>
          <p:nvPr/>
        </p:nvSpPr>
        <p:spPr>
          <a:xfrm>
            <a:off x="8369808" y="2437892"/>
            <a:ext cx="2996184" cy="192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 축제 전단지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별빛구청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작년 9월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“축제는 10월 12일에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열려요.”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믿을 만한 자료는?</a:t>
            </a:r>
            <a:endParaRPr lang="ko-KR" sz="4000" dirty="0"/>
          </a:p>
        </p:txBody>
      </p:sp>
      <p:sp>
        <p:nvSpPr>
          <p:cNvPr id="3" name="S13-text7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내일 소풍 날씨를 알아보려고 해요.</a:t>
            </a:r>
            <a:endParaRPr lang="ko-KR" sz="2800" dirty="0"/>
          </a:p>
        </p:txBody>
      </p:sp>
      <p:sp>
        <p:nvSpPr>
          <p:cNvPr id="4" name="S13-card7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3-cardtext7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까닭과 나머지 두 자료가 아쉬운 점을 말해요.</a:t>
            </a:r>
            <a:endParaRPr lang="ko-KR" sz="2800" dirty="0"/>
          </a:p>
        </p:txBody>
      </p:sp>
      <p:sp>
        <p:nvSpPr>
          <p:cNvPr id="6" name="S13-chip75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7" name="S13-card76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3-cardtext77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날씨 전문 기관 누리집</a:t>
            </a:r>
            <a:endParaRPr lang="ko-KR" sz="2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아침 6시 발표</a:t>
            </a:r>
            <a:endParaRPr lang="ko-KR" sz="2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“내일 오후 비 올</a:t>
            </a:r>
            <a:endParaRPr lang="ko-KR" sz="2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확률 60%”</a:t>
            </a:r>
            <a:endParaRPr lang="ko-KR" sz="2200" dirty="0"/>
          </a:p>
        </p:txBody>
      </p:sp>
      <p:sp>
        <p:nvSpPr>
          <p:cNvPr id="9" name="S13-chip78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10" name="S13-card79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3-cardtext80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보낸 메시지</a:t>
            </a:r>
            <a:endParaRPr lang="ko-KR" sz="2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보냄</a:t>
            </a:r>
            <a:endParaRPr lang="ko-KR" sz="2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“내일 비 절대 안 와!</a:t>
            </a:r>
            <a:endParaRPr lang="ko-KR" sz="2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느낌이 그래.”</a:t>
            </a:r>
            <a:endParaRPr lang="ko-KR" sz="2200" dirty="0"/>
          </a:p>
        </p:txBody>
      </p:sp>
      <p:sp>
        <p:nvSpPr>
          <p:cNvPr id="12" name="S13-chip81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13" name="S13-card82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3-cardtext83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신문의 날씨 예보 기사</a:t>
            </a:r>
            <a:endParaRPr lang="ko-KR" sz="2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지난주 월요일 발표</a:t>
            </a:r>
            <a:endParaRPr lang="ko-KR" sz="2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“다음 주는 내내</a:t>
            </a:r>
            <a:endParaRPr lang="ko-KR" sz="2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맑겠습니다.”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84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85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자료를 볼 때는 출처·만든 사람·만든 때를 확인하고,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근거와 부풀린 말까지 살펴 믿을 만한지 판단해요.</a:t>
            </a:r>
            <a:endParaRPr lang="ko-KR" sz="2800" dirty="0"/>
          </a:p>
        </p:txBody>
      </p:sp>
      <p:sp>
        <p:nvSpPr>
          <p:cNvPr id="5" name="S14-chip86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날짜가 지금도 맞는지 보기</a:t>
            </a:r>
            <a:endParaRPr lang="ko-KR" sz="2200" dirty="0"/>
          </a:p>
        </p:txBody>
      </p:sp>
      <p:sp>
        <p:nvSpPr>
          <p:cNvPr id="6" name="S14-chip87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좋아요 수만 보고 믿기</a:t>
            </a:r>
            <a:endParaRPr lang="ko-KR" sz="2200" dirty="0"/>
          </a:p>
        </p:txBody>
      </p:sp>
      <p:sp>
        <p:nvSpPr>
          <p:cNvPr id="7" name="S14-text88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4-text89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자료에서 확인할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가지는?</a:t>
            </a:r>
            <a:endParaRPr lang="ko-KR" sz="2200" dirty="0"/>
          </a:p>
        </p:txBody>
      </p:sp>
      <p:sp>
        <p:nvSpPr>
          <p:cNvPr id="9" name="S14-text90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만든 때를 꼭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확인하는 까닭은?</a:t>
            </a:r>
            <a:endParaRPr lang="ko-KR" sz="2200" dirty="0"/>
          </a:p>
        </p:txBody>
      </p:sp>
      <p:sp>
        <p:nvSpPr>
          <p:cNvPr id="10" name="S14-text91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좋아요가 많으면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믿을 만할까?</a:t>
            </a:r>
            <a:endParaRPr lang="ko-KR" sz="2200" dirty="0"/>
          </a:p>
        </p:txBody>
      </p:sp>
      <p:sp>
        <p:nvSpPr>
          <p:cNvPr id="11" name="S14-text92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문장 표현 점검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집에 있는 자료로</a:t>
            </a:r>
            <a:endParaRPr lang="ko-KR" sz="4000" dirty="0"/>
          </a:p>
        </p:txBody>
      </p:sp>
      <p:sp>
        <p:nvSpPr>
          <p:cNvPr id="3" name="S15-text9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책, 안내문, 우편물에서 찾아봐요.</a:t>
            </a:r>
            <a:endParaRPr lang="ko-KR" sz="2800" dirty="0"/>
          </a:p>
        </p:txBody>
      </p:sp>
      <p:sp>
        <p:nvSpPr>
          <p:cNvPr id="4" name="S15-card9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9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찾은 곳을 손가락으로 짚으며 말해요. 없으면 ‘알 수 없음’이에요.</a:t>
            </a:r>
            <a:endParaRPr lang="ko-KR" sz="2800" dirty="0"/>
          </a:p>
        </p:txBody>
      </p:sp>
      <p:sp>
        <p:nvSpPr>
          <p:cNvPr id="6" name="S15-word96"/>
          <p:cNvSpPr txBox="1"/>
          <p:nvPr/>
        </p:nvSpPr>
        <p:spPr>
          <a:xfrm>
            <a:off x="548640" y="269748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어디에서?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</a:t>
            </a:r>
            <a:endParaRPr lang="ko-KR" sz="3200" dirty="0"/>
          </a:p>
        </p:txBody>
      </p:sp>
      <p:sp>
        <p:nvSpPr>
          <p:cNvPr id="7" name="S15-word97"/>
          <p:cNvSpPr txBox="1"/>
          <p:nvPr/>
        </p:nvSpPr>
        <p:spPr>
          <a:xfrm>
            <a:off x="4337304" y="269748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누가?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만든 사람</a:t>
            </a:r>
            <a:endParaRPr lang="ko-KR" sz="3200" dirty="0"/>
          </a:p>
        </p:txBody>
      </p:sp>
      <p:sp>
        <p:nvSpPr>
          <p:cNvPr id="8" name="S15-word98"/>
          <p:cNvSpPr txBox="1"/>
          <p:nvPr/>
        </p:nvSpPr>
        <p:spPr>
          <a:xfrm>
            <a:off x="8125968" y="269748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FDEBDD"/>
          </a:solidFill>
          <a:ln w="31750">
            <a:solidFill>
              <a:srgbClr val="E9762B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언제?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만든 때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국어 자료 출처 확인</dc:title>
  <dc:subject>KR22-G05-KOR-SOURCE-L01</dc:subject>
  <dc:creator>education-ppt</dc:creator>
  <cp:lastModifiedBy>education-ppt</cp:lastModifiedBy>
  <cp:revision>1</cp:revision>
  <dcterms:created xsi:type="dcterms:W3CDTF">2026-10-26T08:39:36Z</dcterms:created>
  <dcterms:modified xsi:type="dcterms:W3CDTF">2026-10-26T08:39:36Z</dcterms:modified>
</cp:coreProperties>
</file>