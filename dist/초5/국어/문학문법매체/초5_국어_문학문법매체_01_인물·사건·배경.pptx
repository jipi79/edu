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29d3d42-558b-3443-92dd-f15baca46a7e}">
          <p14:sldIdLst>
            <p14:sldId id="256"/>
            <p14:sldId id="257"/>
          </p14:sldIdLst>
        </p14:section>
        <p14:section name="개념" id="{f25b331c-8f31-8744-5412-6819ada0b63e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e85bbc17-aecd-cfd9-01a7-53c50258dcdb}">
          <p14:sldIdLst>
            <p14:sldId id="263"/>
            <p14:sldId id="264"/>
            <p14:sldId id="265"/>
          </p14:sldIdLst>
        </p14:section>
        <p14:section name="확인" id="{5b77aa00-7d03-950b-2c93-7fae1aca86ca}">
          <p14:sldIdLst>
            <p14:sldId id="266"/>
            <p14:sldId id="267"/>
            <p14:sldId id="268"/>
          </p14:sldIdLst>
        </p14:section>
        <p14:section name="정리" id="{a1a0f430-69e6-d794-1dca-a862772c57ad}">
          <p14:sldIdLst>
            <p14:sldId id="269"/>
          </p14:sldIdLst>
        </p14:section>
        <p14:section name="보충" id="{61398cee-596e-e0a5-89a3-0f88486f140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이야기를 이루는 요소에 관심을 갖게 합니다.
시간: 약 2분
이렇게 말해 보세요
- “좋아하는 이야기나 만화를 친구에게 소개한다면 무엇부터 말할 거야?”
- “보통 누가 나오는지, 언제 어디에서, 무슨 일이 생기는지를 말하지? 이것을 인물, 배경, 사건이라고 해. 오늘은 셋을 찾고, 셋이 서로 어떻게 이어지는지 알아볼 거야.”
예상 답
- “주인공이 누구인지요.” “무슨 일이 생기는지요.”
막히면
- 부모가 최근에 함께 본 영화나 읽은 책 하나를 골라 “누가 나왔지? 어디에서 일어난 일이야?”라고 물어 줍니다.
주의
- 오늘 화면의 이야기 세 편은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확인(인물의 마음과 까닭, 일이 일어난 차례)]
목적: 이 차시는 계획상 선수 차시가 없습니다. 오늘 배울 인물·사건과 가장 가까운 3학년 ‘인물의 마음과 까닭’(KR22-G03-KOR-CHARACTER-L01)의 마음 짐작하기와 2학년 ‘일이 일어난 차례’(KR22-G02-KOR-SEQUENCE-L01)의 차례 말하기를 확인합니다.
시간: 약 3분
이렇게 말해 보세요
- “줄을 몇 번이나 다시 살핀 지우는 어떤 마음이었을까?”
- “대회가 끝나고는? 왜 그렇게 생각해?”
- “무슨 일이 먼저 있었고, 그다음에 무슨 일이 있었어?”
정답
- ① 긴장된(떨리는, 걱정되는, 설레는) 마음. 줄을 몇 번이나 다시 살펴서 그렇게 짐작할 수 있음(행동을 단서로 말하면 맞음)
- ② 기쁜(뿌듯한) 마음. 상장을 들고 활짝 웃었기 때문
- ③ 대회 날 아침 줄을 다시 살폈다 → 대회가 끝나고 상장을 들고 웃었다.
막히면
- ①은 “엄마(아빠)가 발표하기 전에 종이를 자꾸 다시 보면 어떤 마음일까?”라고 빗대어 묻습니다.
- 세 문제 가운데 두 개 이상 답하지 못하면 S15(보충)를 먼저 합니다.
주의
- ①은 ‘긴장’과 ‘설렘’ 모두 맞습니다. 행동(줄을 다시 살핌)을 단서로 말했는지가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인물·사건·배경의 뜻]
목적: 인물·사건·배경의 뜻을 알려 줍니다. 배경은 때와 곳 두 가지라는 것을 강조합니다(목표 A, 오해 M1·M2).
시간: 약 3분
이렇게 말해 보세요
- “인물은 이야기에 나와서 말하거나 행동하는 사람이나 동물이야. 주인공만 인물이 아니라 잠깐 나오는 사람도 인물이야.”
- “사건은 인물이 겪는 일이야. 배경은 그 일이 일어나는 때와 곳이야. ‘언제’와 ‘어디서’, 둘 다 찾아야 해.”
- “어제 우리 집 저녁 식사를 이야기로 만들면 인물, 배경은 뭘까?”
예상 답
- “인물은 나랑 엄마, 아빠요. 배경은 어제 저녁, 우리 집 식탁이요.”
막히면
- “누가?”, “언제?”, “어디서?”, “무슨 일?” 네 가지 질문을 손가락으로 세며 묻고, 답이 어느 카드에 들어가는지 짚게 합니다.
주의
- 말하는 동물이나 물건이 나오는 이야기에서는 그것도 인물입니다.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 1(인물과 배경 찾기)]
목적: 부모가 생각을 소리 내어 말하며 이야기의 인물과 배경을 찾는 모습을 보여 줍니다(목표 A, 오해 M1·M2).
시간: 약 3분
이렇게 말해 보세요
- (부모가 소리 내어 읽은 뒤) “‘어느 여름밤’은 언제를 말해. 배경의 ‘때’야. ‘서진이네 아파트’는 어디를 말하니까 배경의 ‘곳’이야.”
- “인물은 서진이가 있고… 또 누가 나오지?”
- “서진이는 어떤 아이인 것 같아? 어느 말에서 알 수 있어?”
예상 답
- “옆집 할머니도 나와요.” “겁이 많아요. ‘겁이 많은 서진이’라고 했어요. 그래도 할머니를 걱정해요.”
정답
- 인물: 서진이, 옆집 할머니
- 배경: 때 – 어느 여름밤(전기가 나간 밤), 곳 – 서진이네 아파트(집 안, 복도)
막히면
- “언제?”, “어디서?”를 따로 묻고, 답이 나온 낱말에 손가락을 짚게 합니다.
주의
- 할머니는 이름이 없지만 말을 하고 행동하므로 인물입니다(오해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 2(사건을 차례대로 찾기)]
목적: 이야기의 뒷부분을 읽고 사건을 처음부터 차례대로 정리합니다(목표 A, 오해 M4).
시간: 약 3분
이렇게 말해 보세요
- “사건은 인물이 겪는 일이야. ‘정전’ 한 낱말로 끝내지 말고, 무슨 일이 있었는지 문장으로 차례대로 말해 볼까?”
- “처음에 무슨 일이 일어났지? 그래서 서진이는 어떻게 했어? 그다음에는?”
예상 답
- “전기가 나가서 서진이가 이불을 뒤집어썼어요. 할머니 목소리를 듣고 손전등으로 할머니 발밑을 비춰 드렸어요. 불이 들어오고 서진이는 어둠이 덜 무서워졌어요.”
정답
- 사건: ① 여름밤에 전기가 나가 서진이가 이불을 뒤집어썼다. ② 할머니의 목소리를 듣고 걱정했다. ③ 손전등으로 할머니의 발밑을 비추어 드렸다. ④ 불이 다시 들어오고, 서진이는 어둠이 전처럼 무섭지 않았다.
막히면
- S04로 돌아가 문장마다 “여기서 무슨 일이 있었어?”라고 묻고, 답을 손가락으로 하나씩 세게 합니다.
주의
- 사건은 세 가지로 줄여 말해도 맞습니다. 차례가 바뀌지 않았는지만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인물·사건·배경을 표로 정리하기]
목적: 찾은 인물·사건·배경을 표로 정리하는 방법을 보여 줍니다(목표 A, 오해 M1·M4).
시간: 약 3분
이렇게 말해 보세요
- “우리가 찾은 것을 표로 정리했어. 네가 말한 것과 같은지 볼까?”
- “인물 칸에 서진이가 어떤 아이인지도 짧게 적었어. 이게 다음 장에서 중요해.”
예상 답
- “저는 사건을 네 개로 말했는데 표에는 세 개예요.” (괜찮다고 말해 줍니다.)
막히면
- S04·S05를 다시 띄워 표의 칸마다 어느 문장에서 찾았는지 짚어 줍니다.
주의
- 활동지 1에 같은 이야기와 빈 표가 있습니다. 수업 뒤에 아이가 혼자 다시 채워 보게 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인물·사건·배경이 서로 주는 영향]
목적: 배경이 사건을 일으키고, 인물의 마음·성격이 사건의 방향을 정하며, 사건을 겪은 인물이 달라진다는 관계를 알려 줍니다(목표 B).
시간: 약 4분
이렇게 말해 보세요
- “첫째 카드를 볼까? 밤에 전기가 나간 배경 때문에 할머니가 길을 찾기 어려운 사건이 생겼어.”
- “둘째, 서진이가 할머니를 걱정하는 아이가 아니었다면 손전등을 들고 나갔을까?”
- “셋째, 할머니를 도운 일을 겪고 나서 서진이는 어떻게 달라졌어?”
예상 답
- “걱정하지 않았다면 이불 속에 계속 있었을 거예요.” “용기가 생겼어요.”
막히면
- 카드마다 “무엇 때문에 무엇이 일어났어?”라고 묻고, 화살표 앞과 뒤를 손가락으로 짚게 합니다.
주의
- ‘서진이가 용감해졌다’처럼 이야기에 직접 쓰지 않은 말도 근거(어둠이 전처럼 무섭지 않았다)를 들면 맞게 봅니다.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비교(배경은 사건과 관계없다)]
목적: 배경이 바뀌면 사건도 달라진다는 것을 비교하며 ‘배경은 꾸밈일 뿐’이라는 오해를 바로잡습니다(목표 B, 오해 M3).
시간: 약 2분
이렇게 말해 보세요
- “밝은 낮이었다면 할머니가 복도에서 아무것도 안 보였을까?”
- “그럼 서진이가 손전등을 들고 나가는 일이 생겼을까?”
정답
- 나. 밝은 낮이면 복도가 깜깜하지 않아 할머니가 길을 잘 찾았을 것이고, 서진이가 손전등으로 도와 드리는 사건도 일어나지 않았을 것입니다. 배경이 사건을 일으켰기 때문입니다.
- 가는 배경이 사건과 관계없다고 생각했습니다.
막히면
- 방의 불을 잠깐 끄고 “지금 책을 찾을 수 있어?”라고 물어, 어둠이라는 배경이 하는 일을 몸으로 느끼게 합니다.
주의
- ‘낮이어도 정전은 될 수 있어요’라고 하면 좋은 생각이라고 말해 주고, “그래도 낮에는 창으로 빛이 들어오니 손전등이 꼭 필요했을까?”라고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함께 찾기(새 이야기의 인물·사건·배경)]
목적: 처음 읽는 이야기에서 인물·사건·배경을 함께 찾습니다(목표 A). 다음 장(S10)에서 같은 이야기로 관계를 말합니다. 활동지 2에 같은 이야기가 있습니다.
시간: 약 4분
이렇게 말해 보세요
- “이번에는 네가 먼저 찾아볼래? 인물은 누구야? 언제, 어디에서 일어난 일이야?”
- “무슨 일들이 있었는지 차례대로 말해 볼래?”
정답
- 인물: 나래(차분함), 동생 지안이
- 배경: 때 – 여름 방학(그날 오후), 곳 – 바닷가 물가
- 사건: ① 물가 가까이에서 커다란 모래성을 쌓았다. ② 바닷물이 밀려 들어와 모래성이 무너졌다. ③ 지안이가 울자 나래가 내일은 높은 곳에 쌓자며 달랬다.
막히면
- S06의 표를 다시 띄우고 같은 칸에 말로 채우게 합니다.
주의
- 바닷물이 하루에 두 번쯤 밀려 들어왔다 빠져나가는 것(밀물과 썰물)을 아이가 모르면 짧게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관계 이어 말하기(배경·인물·사건)]
목적: ‘바닷가 모래성’에서 배경 → 사건, 인물 → 사건, 사건 → 인물의 관계를 문장으로 이어 말합니다(목표 B). 활동지 2에 씁니다.
시간: 약 3분
이렇게 말해 보세요
- “①은 배경이 사건에 준 영향이야. 바닷물이 밀려 들어와서 무슨 일이 생겼어?”
- “②는 나래의 성격이 사건을 어떻게 바꾸었는지, ③은 사건을 겪고 인물이 무엇을 생각하게 되었는지 말해 볼래?”
정답
- ① 모래성이 무너졌다.
- ② 울지 않고 동생을 달래며 내일은 높은 곳에 쌓자고 했다.
- ③ 나래와 지안이는 다음에는 물이 닿지 않는 높은 곳에 쌓기로 했다(물가 가까이는 위험하다는 것을 알게 되었다). (이야기에서 근거를 찾아 말하면 맞음)
막히면
- S07의 카드를 다시 보여 주고 “서진이 이야기에서는 이랬지? 나래 이야기에서는?”이라고 견주어 묻습니다.
주의
- ②에서 ‘동생을 달랬다’만 말해도 맞습니다. ‘차분해서’와 ‘달랬다’를 이어 말하는지가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찾기(인물·사건·배경)]
목적: 도움 없이 처음 읽는 이야기에서 인물·사건·배경을 찾는지 확인합니다(목표 A, 오해 M1·M2). 활동지 3의 표에 씁니다.
시간: 약 4분
이렇게 말해 보세요
- “이번에는 혼자 해 볼래? 활동지 3의 표를 채우고 말로 설명해 줘.”
정답
- 인물: 민재, 할머니, 집배원 아저씨(세 명 모두 찾으면 맞음)
- 배경: 때 – 밤새 눈이 많이 내린 겨울 아침, 곳 – 시골 할머니 댁(집 앞 비탈길)
- 사건: ① 민재가 썰매를 들고 밖으로 뛰어나갔다. ② 얼어붙은 비탈길에서 집배원 아저씨가 쩔쩔매고 있었다. ③ 민재가 썰매를 내려놓고 할머니와 비탈길에 모래를 뿌렸다.
막히면
- S03의 카드를 보여 주고 “누가?”, “언제?”, “어디서?”, “무슨 일?”을 하나씩 묻습니다.
- 도움을 받아 찾았다면 기록표에 ‘도움’으로 표시합니다.
주의
- 집배원 아저씨를 빠뜨리면 “아저씨도 이야기에서 무언가를 하지?”라고 되묻습니다(오해 M2). 배경에서 ‘겨울 아침’을 빠뜨리면 “언제야?”라고 묻습니다(오해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1분
이렇게 말해 보세요
- “네 표와 왼쪽을 견주어 볼래? 빠진 것이 있으면 이야기에서 다시 찾아 채워 봐.”
예상 답
- “집배원 아저씨를 빠뜨렸어요.”
정답
- 인물: 민재, 할머니, 집배원 아저씨 / 배경: 밤새 눈이 내린 겨울 아침, 시골 할머니 댁 앞 비탈길 / 사건: 썰매를 들고 나감 → 얼어붙은 비탈길에서 아저씨가 쩔쩔맴 → 민재가 할머니와 모래를 뿌림
막히면
- 빠진 칸이 있으면 S03의 질문(누가, 언제, 어디서, 무슨 일)을 다시 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확인(배경·인물을 바꾸면 달라지는 사건)]
목적: 배경이나 인물이 바뀌었을 때 사건이 어떻게 달라질지 까닭을 들어 말하는지 확인합니다(목표 B, 오해 M3). 활동지 4에 씁니다.
시간: 약 3분
이렇게 말해 보세요
- “①은 배경을 바꾸어 보는 거야. 봄날이면 비탈길이 어땠을까? 그럼 무슨 일이 달라질까?”
- “②는 인물을 바꾸어 보는 거야. 민재가 썰매 타기만 생각했다면 어떻게 했을까?”
정답
- ① 길이 얼지 않아 집배원 아저씨가 쩔쩔매지 않았을 것이고, 모래를 뿌리는 일도 없었을 것이다(썰매도 탈 수 없었을 것이다). 배경(눈과 얼음)이 사건을 일으켰기 때문이다.
- ② 아저씨를 보고도 썰매를 타러 갔을 것이고, 아저씨는 비탈길에서 계속 고생했을 것이다. 인물의 마음(남을 돕는 마음)이 사건을 바꾸었기 때문이다.
- 기준: 바뀐 사건을 말하고, 그 까닭을 배경이나 인물과 이어 말하면 맞음. 두 문제 모두 까닭까지 말하면 목표 B 달성.
막히면
- S08을 다시 보여 주고 “서진이 이야기에서는 낮이면 어땠지? 민재 이야기에서는?”이라고 견주어 묻습니다.
주의
- 답만 말하고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“오늘 배운 것을 한 문장으로 말해 볼래? 인물, 사건, 배경이 어떤 사이야?”
예상 답
- “이야기에는 인물, 사건, 배경이 있고, 배경 때문에 사건이 생기기도 하고 인물 때문에 사건이 바뀌기도 해요.”
정답
- ① 인물: 이야기에 나와 말하고 행동하는 사람이나 동물, 사건: 인물이 겪는 일, 배경: 일이 일어나는 때와 곳 ② 때와 곳 ③ 예: 밤에 전기가 나가 깜깜해서 할머니가 길을 찾기 어려웠다. 바닷물이 밀려 들어와 모래성이 무너졌다. (배경 때문에 생긴 일이면 맞음)
막히면
- S03과 S07을 다시 보여 줍니다.
주의
- 책을 읽거나 영화를 본 뒤 “배경이 바뀌면 어떻게 될까?”라고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보충(내 하루로 인물·배경·사건 말하기)]
목적: 아이가 직접 겪은 일로 인물·배경·사건을 말해 보며 세 요소의 뜻을 다집니다.
시간: 약 4분
이렇게 말해 보세요
- “어제 있었던 일 하나를 떠올려 볼래? 누가 나왔어? 언제, 어디에서였어? 무슨 일이 있었어?”
- “화면의 예처럼 한 문장으로 이어 말해 볼까?”
정답
- 예: “어제 오후(때) 놀이터(곳)에서 나와 친구 은우(인물)가 술래잡기를 했어요(사건).” (네 가지가 모두 들어가면 맞음)
막히면
- 부모가 먼저 자기 하루로 한 번 보여 주고, 아이가 따라 말하게 합니다.
- 이 차시는 계획상 선수 차시가 없습니다. 보충으로도 어려우면 3학년 ‘인물의 마음과 까닭’(KR22-G03-KOR-CHARACTER-L01), 차례 말하기가 어렵다면 2학년 ‘일이 일어난 차례’(KR22-G02-KOR-SEQUENCE-L01)를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문학문법매체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인물·사건·배경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인물·사건·배경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인물·사건·배경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인물·사건·배경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이야기는 무엇으로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이루어져 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이야기에서 인물·사건·배경을 찾을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셋이 서로 어떤 영향을 주는지 말할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줄넘기 대회 날 아침, 줄을 몇 번이나 다시 살폈어요.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대회가 끝나자 지우는 상장을 들고 활짝 웃었어요.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대회 날 아침 지우는 어떤 마음이었을까요?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대회가 끝난 뒤 지우의 마음과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까닭은?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일을 차례대로 말해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이루는 세 가지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누가(인물) 언제·어디서(배경) 무슨 일을 겪는지(사건) 찾아요.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행동하는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사람이나 동물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겪는 일,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일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일어나는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때와 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속의 손전등 ①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인물은 누구누구인가요? 배경(때와 곳)은요?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속의 손전등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어느 여름밤, 서진이네 아파트에 갑자기 전기가 나갔다. 텔레비전도 냉장고도 멈추고 집 안이 깜깜해졌다. 겁이 많은 서진이는 이불을 머리끝까지 뒤집어썼다.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그때 현관 밖에서 “아이고, 아무것도 안 보이네.” 하는 소리가 들렸다. 옆집에 혼자 사시는 할머니의 목소리였다. 서진이는 할머니가 어두운 복도에서 넘어지실까 봐 걱정되었다.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속의 손전등 ②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이야기에서 일어난 일을 차례대로 말해 봐요.</a:t>
            </a:r>
            <a:endParaRPr lang="ko-KR" sz="2800" dirty="0"/>
          </a:p>
        </p:txBody>
      </p:sp>
      <p:sp>
        <p:nvSpPr>
          <p:cNvPr id="5" name="S05-passagebox2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서진이는 떨리는 손으로 서랍에서 손전등을 꺼냈다. 그리고 복도로 나가 할머니의 발밑을 비추어 드렸다. 할머니는 “서진이 덕분에 집에 잘 들어왔구나.” 하며 서진이의 손을 꼭 잡으셨다.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한 시간쯤 지나 다시 불이 들어왔다. 서진이는 이제 어둠이 전처럼 무섭지 않았다.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정리하면</a:t>
            </a:r>
            <a:endParaRPr lang="ko-KR" sz="4000" dirty="0"/>
          </a:p>
        </p:txBody>
      </p:sp>
      <p:sp>
        <p:nvSpPr>
          <p:cNvPr id="3" name="S06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배경은 때와 곳, 사건은 일어난 차례대로 적어요.</a:t>
            </a:r>
            <a:endParaRPr lang="ko-KR" sz="2800" dirty="0"/>
          </a:p>
        </p:txBody>
      </p:sp>
      <p:graphicFrame>
        <p:nvGraphicFramePr>
          <p:cNvPr id="7" name="S06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37716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‘어둠 속의 손전등’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서진(겁이 많지만 이웃을 걱정함), 옆집 할머니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배경(때)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여름밤, 전기가 나간 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배경(곳)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서진이네 아파트 집 안과 복도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 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전기가 나가자 서진이가 이불을 뒤집어썼다.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 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서진이가 손전등으로 할머니 발밑을 비추었다.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 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불이 들어오고, 서진이는 어둠이 덜 무서웠다.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서로 영향을 주어요</a:t>
            </a:r>
            <a:endParaRPr lang="ko-KR" sz="4000" dirty="0"/>
          </a:p>
        </p:txBody>
      </p:sp>
      <p:sp>
        <p:nvSpPr>
          <p:cNvPr id="3" name="S07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~했어요.”로 무엇이 무엇에 영향을 주었는지 말해요.</a:t>
            </a:r>
            <a:endParaRPr lang="ko-KR" sz="2800" dirty="0"/>
          </a:p>
        </p:txBody>
      </p:sp>
      <p:sp>
        <p:nvSpPr>
          <p:cNvPr id="5" name="S07-card3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→ 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전기가 나가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깜깜해서 할머니가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찾기 어려웠어요.</a:t>
            </a:r>
            <a:endParaRPr lang="ko-KR" sz="2800" dirty="0"/>
          </a:p>
        </p:txBody>
      </p:sp>
      <p:sp>
        <p:nvSpPr>
          <p:cNvPr id="7" name="S07-card3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3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 → 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할머니를 걱정하는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서진이가 손전등을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들고 나갔어요.</a:t>
            </a:r>
            <a:endParaRPr lang="ko-KR" sz="2800" dirty="0"/>
          </a:p>
        </p:txBody>
      </p:sp>
      <p:sp>
        <p:nvSpPr>
          <p:cNvPr id="9" name="S07-card3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3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→ 인물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할머니를 도운 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서진이는 어둠이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무서워졌어요.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배경이 바뀌면?</a:t>
            </a:r>
            <a:endParaRPr lang="ko-KR" sz="4000" dirty="0"/>
          </a:p>
        </p:txBody>
      </p:sp>
      <p:sp>
        <p:nvSpPr>
          <p:cNvPr id="3" name="S08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‘어둠 속의 손전등’의 배경이 밝은 낮이었다면?</a:t>
            </a:r>
            <a:endParaRPr lang="ko-KR" sz="2800" dirty="0"/>
          </a:p>
        </p:txBody>
      </p:sp>
      <p:sp>
        <p:nvSpPr>
          <p:cNvPr id="5" name="S08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알맞을까요? 까닭을 말해 봐요.</a:t>
            </a:r>
            <a:endParaRPr lang="ko-KR" sz="2800" dirty="0"/>
          </a:p>
        </p:txBody>
      </p:sp>
      <p:sp>
        <p:nvSpPr>
          <p:cNvPr id="7" name="S08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“배경이 바뀌어도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일은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똑같아요.”</a:t>
            </a:r>
            <a:endParaRPr lang="ko-KR" sz="2800" dirty="0"/>
          </a:p>
        </p:txBody>
      </p:sp>
      <p:sp>
        <p:nvSpPr>
          <p:cNvPr id="9" name="S08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“손전등이 필요 없어서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서진이가 할머니를 돕는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없었을 거예요.”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모래성 함께 읽기</a:t>
            </a:r>
            <a:endParaRPr lang="ko-KR" sz="4000" dirty="0"/>
          </a:p>
        </p:txBody>
      </p:sp>
      <p:sp>
        <p:nvSpPr>
          <p:cNvPr id="3" name="S09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인물·배경(때와 곳)·사건을 찾아 말해 봐요.</a:t>
            </a:r>
            <a:endParaRPr lang="ko-KR" sz="2800" dirty="0"/>
          </a:p>
        </p:txBody>
      </p:sp>
      <p:sp>
        <p:nvSpPr>
          <p:cNvPr id="5" name="S09-passagebox4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4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모래성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여름 방학에 나래와 동생 지안이는 바닷가에 놀러 갔다. 둘은 물가 가까이에서 커다란 모래성을 쌓았다. 그런데 오후가 되자 바닷물이 점점 밀려 들어와 모래성이 무너지고 말았다.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지안이가 울음을 터뜨리자, 차분한 나래는 “내일은 물이 닿지 않는 높은 곳에 쌓자.” 하며 동생을 달랬다.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무엇에 영향을 주었나?</a:t>
            </a:r>
            <a:endParaRPr lang="ko-KR" sz="4000" dirty="0"/>
          </a:p>
        </p:txBody>
      </p:sp>
      <p:sp>
        <p:nvSpPr>
          <p:cNvPr id="3" name="S10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‘바닷가 모래성’에서 화살표 뒤를 이어 말해요.</a:t>
            </a:r>
            <a:endParaRPr lang="ko-KR" sz="2800" dirty="0"/>
          </a:p>
        </p:txBody>
      </p:sp>
      <p:sp>
        <p:nvSpPr>
          <p:cNvPr id="4" name="S10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배경 → 사건  ② 인물 → 사건  ③ 사건 → 인물</a:t>
            </a:r>
            <a:endParaRPr lang="ko-KR" sz="2800" dirty="0"/>
          </a:p>
        </p:txBody>
      </p:sp>
      <p:sp>
        <p:nvSpPr>
          <p:cNvPr id="6" name="S10-chip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5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바닷물이 밀려 들어와서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(　　　　　　　　　)</a:t>
            </a:r>
            <a:endParaRPr lang="ko-KR" sz="2800" dirty="0"/>
          </a:p>
        </p:txBody>
      </p:sp>
      <p:sp>
        <p:nvSpPr>
          <p:cNvPr id="8" name="S10-chip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5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나래가 차분한 성격이어서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(　　　　　　　　　)</a:t>
            </a:r>
            <a:endParaRPr lang="ko-KR" sz="2800" dirty="0"/>
          </a:p>
        </p:txBody>
      </p:sp>
      <p:sp>
        <p:nvSpPr>
          <p:cNvPr id="10" name="S10-chip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5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모래성이 무너지는 일을 겪고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(　　　　　　　　　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인물을 모두 찾고, 배경(때와 곳)과 사건을 말해 보세요.</a:t>
            </a:r>
            <a:endParaRPr lang="ko-KR" sz="2800" dirty="0"/>
          </a:p>
        </p:txBody>
      </p:sp>
      <p:sp>
        <p:nvSpPr>
          <p:cNvPr id="5" name="S11-passagebox6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온 아침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밤새 눈이 많이 내린 겨울 아침이었다. 시골 할머니 댁에 놀러 온 민재는 썰매를 들고 밖으로 뛰어나갔다.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그런데 집 앞 비탈길이 꽁꽁 얼어서, 집배원 아저씨가 오토바이를 끌고 오르느라 쩔쩔매고 있었다. 민재는 썰매를 내려놓고 할머니와 함께 비탈길에 모래를 뿌렸다.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인물은 모두, 배경은 때와 곳을 함께 찾아요.</a:t>
            </a:r>
            <a:endParaRPr lang="ko-KR" sz="2800" dirty="0"/>
          </a:p>
        </p:txBody>
      </p:sp>
      <p:sp>
        <p:nvSpPr>
          <p:cNvPr id="5" name="S12-chip6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6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민재, 할머니,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집배원 아저씨</a:t>
            </a:r>
            <a:endParaRPr lang="ko-KR" sz="2800" dirty="0"/>
          </a:p>
        </p:txBody>
      </p:sp>
      <p:sp>
        <p:nvSpPr>
          <p:cNvPr id="7" name="S12-text6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endParaRPr lang="ko-KR" sz="2200" dirty="0"/>
          </a:p>
        </p:txBody>
      </p:sp>
      <p:sp>
        <p:nvSpPr>
          <p:cNvPr id="8" name="S12-text6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 아침,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댁 비탈길</a:t>
            </a:r>
            <a:endParaRPr lang="ko-KR" sz="2800" dirty="0"/>
          </a:p>
        </p:txBody>
      </p:sp>
      <p:sp>
        <p:nvSpPr>
          <p:cNvPr id="9" name="S12-text6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(때와 곳)</a:t>
            </a:r>
            <a:endParaRPr lang="ko-KR" sz="2200" dirty="0"/>
          </a:p>
        </p:txBody>
      </p:sp>
      <p:sp>
        <p:nvSpPr>
          <p:cNvPr id="10" name="S12-text6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얼어붙은 길에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모래를 뿌림</a:t>
            </a:r>
            <a:endParaRPr lang="ko-KR" sz="2800" dirty="0"/>
          </a:p>
        </p:txBody>
      </p:sp>
      <p:sp>
        <p:nvSpPr>
          <p:cNvPr id="11" name="S12-text7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사건(가장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일)</a:t>
            </a:r>
            <a:endParaRPr lang="ko-KR" sz="2200" dirty="0"/>
          </a:p>
        </p:txBody>
      </p:sp>
      <p:sp>
        <p:nvSpPr>
          <p:cNvPr id="12" name="S12-chip7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7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인물: 민재만</a:t>
            </a:r>
            <a:endParaRPr lang="ko-KR" sz="2800" dirty="0"/>
          </a:p>
        </p:txBody>
      </p:sp>
      <p:sp>
        <p:nvSpPr>
          <p:cNvPr id="14" name="S12-text7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아저씨·할머니도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인물이에요</a:t>
            </a:r>
            <a:endParaRPr lang="ko-KR" sz="2200" dirty="0"/>
          </a:p>
        </p:txBody>
      </p:sp>
      <p:sp>
        <p:nvSpPr>
          <p:cNvPr id="15" name="S12-text7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배경: 비탈길</a:t>
            </a:r>
            <a:endParaRPr lang="ko-KR" sz="2800" dirty="0"/>
          </a:p>
        </p:txBody>
      </p:sp>
      <p:sp>
        <p:nvSpPr>
          <p:cNvPr id="16" name="S12-text7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때(겨울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아침)가 빠짐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바뀌면 어떻게 될까?</a:t>
            </a:r>
            <a:endParaRPr lang="ko-KR" sz="4000" dirty="0"/>
          </a:p>
        </p:txBody>
      </p:sp>
      <p:sp>
        <p:nvSpPr>
          <p:cNvPr id="3" name="S13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‘눈 온 아침’을 떠올리며 까닭과 함께 말해요.</a:t>
            </a:r>
            <a:endParaRPr lang="ko-KR" sz="2800" dirty="0"/>
          </a:p>
        </p:txBody>
      </p:sp>
      <p:sp>
        <p:nvSpPr>
          <p:cNvPr id="4" name="S13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→ 사건, 인물 → 사건으로 이어 말해요.</a:t>
            </a:r>
            <a:endParaRPr lang="ko-KR" sz="2800" dirty="0"/>
          </a:p>
        </p:txBody>
      </p:sp>
      <p:sp>
        <p:nvSpPr>
          <p:cNvPr id="6" name="S13-chip7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80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배경이 따뜻한 봄날이었다면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사건은 어떻게 달라질까요?</a:t>
            </a:r>
            <a:endParaRPr lang="ko-KR" sz="2800" dirty="0"/>
          </a:p>
        </p:txBody>
      </p:sp>
      <p:sp>
        <p:nvSpPr>
          <p:cNvPr id="8" name="S13-chip8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82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민재가 썰매 타기만 생각하는 아이였다면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사건은 어떻게 달라질까요?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이야기는 인물·사건·배경(때와 곳)으로 이루어지고,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서로 영향을 주고받아요.</a:t>
            </a:r>
            <a:endParaRPr lang="ko-KR" sz="2800" dirty="0"/>
          </a:p>
        </p:txBody>
      </p:sp>
      <p:sp>
        <p:nvSpPr>
          <p:cNvPr id="5" name="S14-chip8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배경을 때와 곳으로 찾기</a:t>
            </a:r>
            <a:endParaRPr lang="ko-KR" sz="2200" dirty="0"/>
          </a:p>
        </p:txBody>
      </p:sp>
      <p:sp>
        <p:nvSpPr>
          <p:cNvPr id="6" name="S14-chip8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배경은 꾸밈이라고 생각하기</a:t>
            </a:r>
            <a:endParaRPr lang="ko-KR" sz="2200" dirty="0"/>
          </a:p>
        </p:txBody>
      </p:sp>
      <p:sp>
        <p:nvSpPr>
          <p:cNvPr id="7" name="S14-text8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인물·사건·배경의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4-text8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배경에서 찾는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10" name="S14-text9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배경이 사건에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영향을 준 예는?</a:t>
            </a:r>
            <a:endParaRPr lang="ko-KR" sz="2200" dirty="0"/>
          </a:p>
        </p:txBody>
      </p:sp>
      <p:sp>
        <p:nvSpPr>
          <p:cNvPr id="11" name="S14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자료 출처 확인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내 하루로 찾아요</a:t>
            </a:r>
            <a:endParaRPr lang="ko-KR" sz="4000" dirty="0"/>
          </a:p>
        </p:txBody>
      </p:sp>
      <p:sp>
        <p:nvSpPr>
          <p:cNvPr id="3" name="S15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있었던 일 하나를 네 가지 질문으로 말해 봐요.</a:t>
            </a:r>
            <a:endParaRPr lang="ko-KR" sz="2800" dirty="0"/>
          </a:p>
        </p:txBody>
      </p:sp>
      <p:sp>
        <p:nvSpPr>
          <p:cNvPr id="4" name="S15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어제 저녁, 우리 집 부엌에서 나와 아빠가 김밥을 만들었어요.</a:t>
            </a:r>
            <a:endParaRPr lang="ko-KR" sz="2800" dirty="0"/>
          </a:p>
        </p:txBody>
      </p:sp>
      <p:sp>
        <p:nvSpPr>
          <p:cNvPr id="6" name="S15-card9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9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나왔나요?</a:t>
            </a:r>
            <a:endParaRPr lang="ko-KR" sz="2800" dirty="0"/>
          </a:p>
        </p:txBody>
      </p:sp>
      <p:sp>
        <p:nvSpPr>
          <p:cNvPr id="8" name="S15-card9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9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어디에서?</a:t>
            </a:r>
            <a:endParaRPr lang="ko-KR" sz="2800" dirty="0"/>
          </a:p>
        </p:txBody>
      </p:sp>
      <p:sp>
        <p:nvSpPr>
          <p:cNvPr id="10" name="S15-card9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0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인물·사건·배경</dc:title>
  <dc:subject>KR22-G05-KOR-STORYELEM-L01</dc:subject>
  <dc:creator>education-ppt</dc:creator>
  <cp:lastModifiedBy>education-ppt</cp:lastModifiedBy>
  <cp:revision>1</cp:revision>
  <dcterms:created xsi:type="dcterms:W3CDTF">2026-10-26T08:58:21Z</dcterms:created>
  <dcterms:modified xsi:type="dcterms:W3CDTF">2026-10-26T08:58:21Z</dcterms:modified>
</cp:coreProperties>
</file>