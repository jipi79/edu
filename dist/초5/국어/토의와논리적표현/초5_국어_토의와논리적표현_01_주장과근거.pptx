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54b4d83-1eb8-49aa-e0ab-9a7312603f6f}">
          <p14:sldIdLst>
            <p14:sldId id="256"/>
            <p14:sldId id="257"/>
          </p14:sldIdLst>
        </p14:section>
        <p14:section name="개념" id="{66390c1c-4013-4794-44d5-ddd540719d88}">
          <p14:sldIdLst>
            <p14:sldId id="258"/>
            <p14:sldId id="259"/>
            <p14:sldId id="260"/>
            <p14:sldId id="261"/>
          </p14:sldIdLst>
        </p14:section>
        <p14:section name="연습" id="{d3358158-3d4a-e555-4c06-02657854857d}">
          <p14:sldIdLst>
            <p14:sldId id="262"/>
            <p14:sldId id="263"/>
            <p14:sldId id="264"/>
          </p14:sldIdLst>
        </p14:section>
        <p14:section name="확인" id="{716dee0f-fcee-81fc-e478-a55d4dac1426}">
          <p14:sldIdLst>
            <p14:sldId id="265"/>
            <p14:sldId id="266"/>
            <p14:sldId id="267"/>
          </p14:sldIdLst>
        </p14:section>
        <p14:section name="정리" id="{59745bd1-4313-a565-0779-2ffe62f4450b}">
          <p14:sldIdLst>
            <p14:sldId id="268"/>
          </p14:sldIdLst>
        </p14:section>
        <p14:section name="보충" id="{5ae4be3e-fcad-8bee-a162-e2f2dc99e1b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생각만 말할 때와 까닭을 함께 말할 때의 차이를 느끼게 하며 오늘 배울 것을 알립니다.
시간: 약 2분
이렇게 말해 보세요
- “엄마(아빠)가 ‘이번 주말에는 대청소를 하자!’라고만 하면 하고 싶어? 왜 해야 하는지 들으면 어때?”
- “어떤 문제에 대해 ‘이렇게 해야 한다’고 내세우는 생각을 ‘주장’, 그 주장을 믿게 해 주는 까닭을 ‘근거’라고 해. 오늘은 주장과 근거를 찾고, 근거가 알맞은지 따지는 방법을 배울 거야.”
예상 답
- “왜 해야 하는지 알려 주면 하고 싶어요.” “싫어요.”
막히면
- “용돈을 올려 달라고 부탁할 때, 그냥 올려 달라고 하는 것과 까닭을 말하는 것 중 어느 쪽이 더 잘 통할까?”라고 묻습니다.
주의
- 아이가 장난스럽게 답해도 괜찮습니다. ‘까닭이 있으면 더 믿게 된다’는 느낌만 잡으면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확인(의견과 이유)]
목적: 4학년 ‘의견과 이유’에서 배운, 의견과 그 이유를 나누는 힘이 있는지 확인합니다.
시간: 약 3분
이렇게 말해 보세요
- “두 문장씩 읽고, 무엇이 의견이고 무엇이 이유인지 손가락으로 짚어 볼래?”
정답
- ① 의견: 쉬는 시간에는 창문을 열어 두면 좋겠다 / 이유: 교실 공기가 맑아진다
- ② 의견: 도서관에 자주 가고 싶다 / 이유: 읽고 싶은 책을 마음껏 빌릴 수 있다
막히면
- “이 사람이 바라는 것은 뭐야? 왜 그걸 바라?”로 나누어 묻습니다.
- 의견과 이유를 나누지 못하면 S14(보충)을 먼저 하고, 그래도 어려우면 4학년 ‘의견과 이유’를 먼저 다시 합니다.
주의
- ‘때문이에요’, ‘~니까요’가 이유를 알려 주는 말이라는 것을 아이가 스스로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주장과 근거의 뜻]
목적: 주장과 근거의 뜻과, 둘을 알려 주는 말을 알려 줍니다(목표 A).
시간: 약 2분
이렇게 말해 보세요
- “주장은 ‘~해야 한다’, ‘~하자’처럼 글쓴이가 다른 사람에게 내세우는 생각이야. 근거는 ‘왜 그래야 해?’에 답해 주는 까닭이야.”
- “주장하는 글에서는 근거를 ‘첫째, 둘째’로 늘어놓는 경우가 많아. 근거가 여럿이면 주장이 더 튼튼해지지.”
예상 답
- “주장은 하자는 거고, 근거는 왜 하자는지예요.”
막히면
- S01의 대청소 예로 “대청소를 하자”는 주장, “먼지가 많이 쌓였으니까”는 근거라고 나누어 보여 줍니다.
주의
- 의견과 주장은 비슷한 말입니다. 주장은 다른 사람을 설득하려고 내세운다는 점만 짚어 주면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읽기(주장과 근거 찾기)]
목적: 부모가 생각을 소리 내어 말하며 주장 문장을 찾고, ‘첫째, 둘째’로 근거를 나누는 과정을 보여 줍니다(목표 A).
시간: 약 4분
이렇게 말해 보세요
- “①문단 첫 문장은 ‘이런 사람이 많다’는 상황이야. 둘째 문장에 ‘~해야 합니다’가 있지? 글쓴이가 내세우는 생각, 주장이야.”
- “②문단은 ‘첫째’로 시작해. 왜 보지 말아야 하는지 까닭을 말하니까 근거야. ③문단은 네가 말해 볼래?”
예상 답
- “둘째 근거는 다른 사람과 부딪히기 쉽다는 거예요.”
정답
- 주장: 걸을 때는 휴대 전화를 보지 말아야 한다(①문단 둘째 문장)
- 근거 두 가지: ① 주변을 잘 살피지 못해 사고가 날 수 있다 ② 다른 사람과 부딪히기 쉽다
막히면
- “글쓴이가 우리에게 하라고 하는 것은 뭐야?”라고 묻고 ‘~해야 합니다’에 손가락을 대게 합니다.
주의
- 첫 문장 ‘휴대 전화 화면을 보는 사람이 많습니다’를 주장이라고 하면, 그것은 글을 쓰게 된 상황이라는 점을 짚어 줍니다(오해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주장과 근거 표로 정리]
목적: 주장과 근거를 표로 나누어 정리하는 방법을 보여 줍니다(목표 A).
시간: 약 3분
이렇게 말해 보세요
- “주장을 먼저 쓰고, 그 아래에 근거를 하나씩 써. 근거마다 ‘왜 보지 말아야 해?’에 대한 답이 되는지 읽어 볼까?”
- “‘걸을 때는 휴대 전화를 보지 말아야 해요. 왜냐하면 주변을 살피지 못해 사고가 날 수 있으니까요.’ 이렇게 이어 읽어 봐.”
예상 답
- 아이가 근거 ②를 ‘왜냐하면 다른 사람과 부딪히기 쉬우니까요.’로 이어 읽습니다.
막히면
- 표의 주장 칸과 근거 칸을 번갈아 짚으며 ‘왜냐하면’으로 이어 주는 것을 부모가 먼저 보여 줍니다.
주의
- 근거 칸에는 글의 문장을 짧게 줄여 씁니다. 지난 시간에 배운 요약과 같은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근거를 따지는 세 질문]
목적: 근거가 알맞은지 따지는 세 가지 질문을 알려 줍니다(목표 B).
시간: 약 3분
이렇게 말해 보세요
- “첫째, 근거가 주장과 관련이 있어야 해. 휴대 전화 글에 ‘휴대 전화는 비싸다’를 근거로 쓰면 걸을 때 보지 말아야 하는 까닭이 될까?”
- “둘째, 사실이어야 해. ‘휴대 전화를 보면 누구나 꼭 넘어진다’는 정말 그럴까? 확인할 수 있는 말이어야 해.”
- “셋째, 믿을 만해야 해. ‘옆집 형이 그러는데’보다 그 일을 잘 아는 사람의 설명이나 확인된 사실이 더 믿을 만해.”
예상 답
- “비싼 건 관련이 없어요.” “누구나 꼭 넘어지는 건 아니에요.”
막히면
- 세 질문을 손가락 세 개로 하나씩 접으며 함께 외워 봅니다.
주의
- ‘믿을 만한가’는 5학년 ‘자료 출처 확인’에서 더 자세히 배웁니다. 오늘은 한 사람의 느낌보다 확인된 사실이나 잘 아는 사람의 설명이 더 믿을 만하다는 정도면 충분합니다.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찾기(주장과 근거 구별)]
목적: 짧은 글에서 주장과 근거를 함께 나누어 봅니다(목표 A).
시간: 약 3분
이렇게 말해 보세요
- “①에서 글쓴이가 하자고 하는 것은 뭐야? 밑줄을 그어 볼까? 왜 그래야 한대?”
- “②는 근거가 몇 개일까? ‘~고’로 이어진 곳을 찾아봐.”
정답
- ① 주장: 교실에서는 실내화를 신자 / 근거: 바깥의 흙과 먼지가 교실에 들어오지 않는다
- ② 주장: 급식을 남기지 말자 / 근거 두 가지: 음식물 쓰레기가 준다, 음식을 만든 분들의 수고가 헛되지 않는다
막히면
- 주장 뒤에 ‘왜냐하면’을 넣어 읽어 보게 합니다. ‘왜냐하면’ 뒤에 자연스럽게 이어지는 말이 근거입니다.
주의
- ②에서 근거를 하나만 찾으면 “또 다른 까닭은 없어?”라고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비교(관련 없는 근거)]
목적: ‘때문이다’로 끝나도 주장과 관련 없는 까닭은 근거가 될 수 없다는 것을 비교로 확인합니다(목표 B, 오해 M1).
시간: 약 3분
이렇게 말해 보세요
- “가의 근거를 주장 뒤에 ‘왜냐하면’으로 이어 읽어 볼래? ‘걸을 때는 휴대 전화를 보지 말아야 한다. 왜냐하면 사진이 잘 찍히기 때문이다.’ 말이 돼?”
- “나는 어때? 세 질문으로 하나씩 따져 보자.”
정답
- 나. 주장과 관련이 있고(걸을 때 위험한 까닭), 실제로 일어날 수 있는 일입니다.
- 가는 주장과 관련이 없습니다. 사진이 잘 찍히는 것은 걸을 때 휴대 전화를 보지 말아야 하는 까닭이 되지 못합니다.
막히면
- S06의 첫째 질문 카드(관련)만 보여 주고 가와 나에 ○, ×를 해 보게 합니다.
주의
- 가의 문장도 사실일 수 있습니다. ‘틀린 말’이 아니라 ‘주장과 관련이 없는 말’이라는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근거 따지기(관련·사실·믿을 만함)]
목적: 네 근거를 세 질문으로 따져 알맞은 근거와 알맞지 않은 근거를 가려 봅니다(목표 B, 오해 M2·M3).
시간: 약 4분
이렇게 말해 보세요
- “근거마다 세 질문을 해 볼까? ①은 주장과 관련이 있어? 사실이야? 믿을 만해?”
- “④는 숫자까지 있어서 그럴듯해 보이지? 정말 하루에 1 cm씩 자랄까?”
정답
- ① 알맞음(관련 ○, 사실 ○)
- ② 알맞지 않음: 친구 한 사람의 느낌이라 믿을 만한 근거가 아니고, 물병을 가지고 다녀야 하는 까닭과도 관련이 적습니다.
- ③ 알맞음(관련 ○, 사실 ○)
- ④ 알맞지 않음: 사실이 아닙니다(과장). 물을 마신다고 하루에 1 cm씩 자라지 않습니다.
막히면
- 근거 하나를 고른 뒤, 손가락 세 개를 펴고 질문마다 ‘네’면 손가락을 그대로, ‘아니요’면 접게 합니다. 하나라도 접히면 알맞지 않은 근거입니다.
주의
- ②를 ‘관련이 없다’고 해도, ‘믿을 만하지 않다’고 해도 맞습니다. 까닭을 말할 수 있으면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보기(주장·근거 찾고 따지기)]
목적: 도움 없이 주장과 근거를 구별하고, 세 질문으로 알맞지 않은 근거를 찾는지 확인합니다(목표 A·B).
시간: 약 6분
이렇게 말해 보세요
- “이번에는 혼자 해 볼래? 활동지 3에 같은 글이 있으니 주장에 밑줄을 긋고, 근거마다 번호를 써 봐.”
- “다 찾으면 근거마다 세 질문으로 따져서 알맞지 않은 근거를 골라 줘.”
정답
- 주장: 아침밥을 꼭 먹어야 한다(①문단 둘째 문장)
- 근거: 첫째 — 오전에 공부하고 움직일 힘을 얻는다(알맞음), 둘째 — 누구나 한 달에 키가 10 cm씩 자란다(알맞지 않음: 사실이 아닌 과장), 셋째 — 빵은 모양과 맛이 여러 가지다(알맞지 않음: 주장과 관련이 없음)
- 기준: 주장을 바르게 찾고, 알맞지 않은 근거 두 개를 고르며 어느 질문에 걸리는지 말하면 잘함
막히면
- S06의 세 질문 카드를 보여 주고 근거 하나씩 따지게 합니다.
- 도움을 받아 해결했다면 기록표에 ‘도움’으로 표시합니다.
주의
- 첫 문장 ‘아침밥을 거르고 학교에 가는 어린이가 있습니다’를 주장이라고 하면 “글쓴이가 하자고 하는 것은 뭐야?”라고 묻습니다(오해 M4). 주장과 근거를 찾았지만 알맞지 않은 근거를 고르지 못하면 ‘찾기만’으로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찾은 주장과 근거는 왼쪽과 같아? 알맞지 않은 근거는 어느 질문에 걸렸어?”
- “오른쪽 실수는 왜 아쉬울까?”
예상 답
- “둘째 근거는 숫자가 있어서 맞는 줄 알았는데, 정말 그렇게 자라지는 않아요.”
정답
- 주장: 아침밥을 꼭 먹어야 한다 / 알맞은 근거: 첫째(오전에 필요한 힘) / 알맞지 않은 근거: 둘째(사실이 아닌 과장), 셋째(주장과 관련 없음)
막히면
- 활동지 3에서 근거마다 세 질문에 ○, ×를 함께 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확인(믿을 만한 근거 고르기)]
목적: 처음 보는 근거들을 세 질문으로 따져 가장 알맞은 근거를 고르고 까닭을 말하는지 확인합니다(목표 B).
시간: 약 3분
이렇게 말해 보세요
- “셋 가운데 가장 알맞은 근거는 몇 번이야? 나머지 둘은 세 질문 가운데 어디에 걸려?”
정답
- ②. 주장과 관련이 있고(물을 자주 마셔야 하는 까닭), 사실이며, 잘 아는 사람(보건 선생님)이 알려 준 것이라 믿을 만합니다.
- ①: 친구 한 사람의 말이라 믿기 어렵고, 사실인지 확인할 수 없습니다(사실·믿을 만함).
- ③: 물이 보기 좋은 것은 더운 날 물을 자주 마셔야 하는 까닭과 관련이 없습니다(관련).
막히면
- S06의 세 질문 카드를 보여 주고 ①, ②, ③에 질문마다 ○, ×를 하게 합니다.
주의
- 답만 고르고 나머지가 어느 질문에 걸리는지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“주장과 근거를 한 문장으로 설명해 볼래? 근거가 알맞은지는 어떻게 따져?”
예상 답
- “주장은 하자는 생각이고, 근거는 그 까닭이에요. 관련, 사실, 믿을 만한지 물어봐요.”
정답
- ① 주장: 글쓴이가 내세우는 생각, 근거: 주장을 받쳐 주는 까닭 ② 주장과 관련이 있나요? 사실인가요? 믿을 만한가요? ③ 사실이 아니다(과장)
막히면
- S03과 S06을 다시 보여 줍니다.
주의
- 광고나 안내문을 함께 볼 때 “이 광고의 주장은 뭐야? 근거는 믿을 만해?”라고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보충(의견과 이유 나누기)]
목적: 의견과 이유를 나누는 힘을 먼저 다집니다. 주장과 근거는 의견과 이유를 넓힌 것입니다.
시간: 약 4분
이렇게 말해 보세요
- “첫째 카드에서 바라는 것은 뭐야? 왜 그걸 바라?”
- “이번에는 네가 말해 볼래? ‘나는 ~하면 좋겠어요. 왜냐하면 ~이니까요.’”
정답
- ① 의견: 놀이터에 그늘막이 있으면 좋겠다 / 이유: 여름에 햇볕이 너무 뜨겁다
- ② 의견: 화분마다 이름표를 붙이자 / 이유: 누가 물을 줄지 헷갈리지 않는다
막히면
- “나는 오늘 저녁에 ○○을 먹고 싶어. 왜냐하면…”처럼 생활 속 의견과 이유를 부모가 먼저 말하고 아이가 따라 말하게 합니다.
- 보충으로도 어렵다면 이 차시의 선수 차시인 4학년 ‘의견과 이유’를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토의와논리적표현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주장과 근거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주장과 근거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주장과 근거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다른 사람이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믿게 하려면 무엇이 필요할까?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글에서 주장과 근거를 구별할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근거가 알맞은지 세 가지 질문으로 따질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이유를 나누어 봐요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무엇이고, 이유는 무엇인가요?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시간에는 창문을 열어 두면 좋겠어요. 교실 공기가 맑아지기 때문이에요.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도서관에 자주 가고 싶어요. 읽고 싶은 책을 마음껏 빌릴 수 있으니까요.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</a:t>
            </a:r>
            <a:endParaRPr lang="ko-KR" sz="4000" dirty="0"/>
          </a:p>
        </p:txBody>
      </p:sp>
      <p:sp>
        <p:nvSpPr>
          <p:cNvPr id="3" name="S03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4학년의 ‘의견과 이유’가 ‘주장과 근거’로 넓어져요.</a:t>
            </a:r>
            <a:endParaRPr lang="ko-KR" sz="2800" dirty="0"/>
          </a:p>
        </p:txBody>
      </p:sp>
      <p:sp>
        <p:nvSpPr>
          <p:cNvPr id="4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하나, 근거는 여러 개일 수 있어요.</a:t>
            </a:r>
            <a:endParaRPr lang="ko-KR" sz="2800" dirty="0"/>
          </a:p>
        </p:txBody>
      </p:sp>
      <p:sp>
        <p:nvSpPr>
          <p:cNvPr id="6" name="S03-card11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2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내세우는 생각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~해야 한다 · ~하자</a:t>
            </a:r>
            <a:endParaRPr lang="ko-KR" sz="2800" dirty="0"/>
          </a:p>
        </p:txBody>
      </p:sp>
      <p:sp>
        <p:nvSpPr>
          <p:cNvPr id="8" name="S03-card13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4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믿게 하는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 · 첫째 · 둘째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 찾기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글쓴이의 주장은 무엇인가요? 근거는 몇 가지인가요?</a:t>
            </a:r>
            <a:endParaRPr lang="ko-KR" sz="28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걸을 때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길을 걸으면서 휴대 전화 화면을 보는 사람이 많습니다. 하지만 우리는 걸을 때 휴대 전화를 보지 말아야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화면을 보면 앞과 옆을 잘 살피지 못합니다. 그래서 다가오는 자전거나 자동차를 늦게 알아차려 사고가 날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다른 사람과 부딪히기 쉽습니다. 고개를 숙이고 걸으면 마주 오는 사람을 제때 피하지 못합니다.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표로</a:t>
            </a:r>
            <a:endParaRPr lang="ko-KR" sz="4000" dirty="0"/>
          </a:p>
        </p:txBody>
      </p:sp>
      <p:sp>
        <p:nvSpPr>
          <p:cNvPr id="3" name="S05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하나를 근거들이 받쳐 주는 모양이에요.</a:t>
            </a:r>
            <a:endParaRPr lang="ko-KR" sz="2800" dirty="0"/>
          </a:p>
        </p:txBody>
      </p:sp>
      <p:sp>
        <p:nvSpPr>
          <p:cNvPr id="4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‘왜 그래야 하나요?’에 답하는 문장이에요.</a:t>
            </a:r>
            <a:endParaRPr lang="ko-KR" sz="2800" dirty="0"/>
          </a:p>
        </p:txBody>
      </p:sp>
      <p:graphicFrame>
        <p:nvGraphicFramePr>
          <p:cNvPr id="6" name="S05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21280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걸을 때는 휴대 전화를 보지 말아야 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주변을 살피지 못해 사고가 날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사람과 부딪히기 쉬워요.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근거인지 따져요</a:t>
            </a:r>
            <a:endParaRPr lang="ko-KR" sz="4000" dirty="0"/>
          </a:p>
        </p:txBody>
      </p:sp>
      <p:sp>
        <p:nvSpPr>
          <p:cNvPr id="3" name="S06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세 가지를 물어봐요.</a:t>
            </a:r>
            <a:endParaRPr lang="ko-KR" sz="2800" dirty="0"/>
          </a:p>
        </p:txBody>
      </p:sp>
      <p:sp>
        <p:nvSpPr>
          <p:cNvPr id="4" name="S06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질문에 모두 ‘네’라고 답할 수 있어야 알맞은 근거예요.</a:t>
            </a:r>
            <a:endParaRPr lang="ko-KR" sz="2800" dirty="0"/>
          </a:p>
        </p:txBody>
      </p:sp>
      <p:sp>
        <p:nvSpPr>
          <p:cNvPr id="6" name="S06-card26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27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관련이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있나요?</a:t>
            </a:r>
            <a:endParaRPr lang="ko-KR" sz="2800" dirty="0"/>
          </a:p>
        </p:txBody>
      </p:sp>
      <p:sp>
        <p:nvSpPr>
          <p:cNvPr id="8" name="S06-card28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29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있나요?</a:t>
            </a:r>
            <a:endParaRPr lang="ko-KR" sz="2800" dirty="0"/>
          </a:p>
        </p:txBody>
      </p:sp>
      <p:sp>
        <p:nvSpPr>
          <p:cNvPr id="10" name="S06-card30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31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믿을 만함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한 말인가요?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만한가요?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찾아요</a:t>
            </a:r>
            <a:endParaRPr lang="ko-KR" sz="4000" dirty="0"/>
          </a:p>
        </p:txBody>
      </p:sp>
      <p:sp>
        <p:nvSpPr>
          <p:cNvPr id="3" name="S07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주장에는 밑줄, 근거에는 물결줄을 그어요.</a:t>
            </a:r>
            <a:endParaRPr lang="ko-KR" sz="2800" dirty="0"/>
          </a:p>
        </p:txBody>
      </p:sp>
      <p:sp>
        <p:nvSpPr>
          <p:cNvPr id="4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‘~하자’는 주장, ‘왜 그래야 하나요?’에 답하는 말은 근거예요.</a:t>
            </a:r>
            <a:endParaRPr lang="ko-KR" sz="2800" dirty="0"/>
          </a:p>
        </p:txBody>
      </p:sp>
      <p:sp>
        <p:nvSpPr>
          <p:cNvPr id="6" name="S07-chip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3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교실에서는 실내화를 신자. 바깥의 흙과 먼지가 교실에 들어오지 않기 때문이다.</a:t>
            </a:r>
            <a:endParaRPr lang="ko-KR" sz="2800" dirty="0"/>
          </a:p>
        </p:txBody>
      </p:sp>
      <p:sp>
        <p:nvSpPr>
          <p:cNvPr id="8" name="S07-chip3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3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급식을 남기지 말자. 음식물 쓰레기가 줄고, 음식을 만든 분들의 수고도 헛되지 않는다.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근거가 알맞을까?</a:t>
            </a:r>
            <a:endParaRPr lang="ko-KR" sz="4000" dirty="0"/>
          </a:p>
        </p:txBody>
      </p:sp>
      <p:sp>
        <p:nvSpPr>
          <p:cNvPr id="3" name="S08-card3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‘걸을 때는 휴대 전화를 보지 말아야 한다’에 두 친구가 근거를 하나씩 더 썼어요.</a:t>
            </a:r>
            <a:endParaRPr lang="ko-KR" sz="2800" dirty="0"/>
          </a:p>
        </p:txBody>
      </p:sp>
      <p:sp>
        <p:nvSpPr>
          <p:cNvPr id="5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근거가 알맞나요? 세 질문으로 따져 봐요.</a:t>
            </a:r>
            <a:endParaRPr lang="ko-KR" sz="2800" dirty="0"/>
          </a:p>
        </p:txBody>
      </p:sp>
      <p:sp>
        <p:nvSpPr>
          <p:cNvPr id="7" name="S08-chip43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4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휴대 전화는 사진이 아주 잘 찍히기 때문이다.</a:t>
            </a:r>
            <a:endParaRPr lang="ko-KR" sz="2800" dirty="0"/>
          </a:p>
        </p:txBody>
      </p:sp>
      <p:sp>
        <p:nvSpPr>
          <p:cNvPr id="9" name="S08-chip45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6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길의 신호등이나 안내판을 못 보고 지나칠 수 있기 때문이다.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근거일까요?</a:t>
            </a:r>
            <a:endParaRPr lang="ko-KR" sz="4000" dirty="0"/>
          </a:p>
        </p:txBody>
      </p:sp>
      <p:sp>
        <p:nvSpPr>
          <p:cNvPr id="3" name="S09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학교에 개인 물병을 가지고 다니자.</a:t>
            </a:r>
            <a:endParaRPr lang="ko-KR" sz="2800" dirty="0"/>
          </a:p>
        </p:txBody>
      </p:sp>
      <p:sp>
        <p:nvSpPr>
          <p:cNvPr id="4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· 사실 · 믿을 만함 가운데 어디에 걸리나요?</a:t>
            </a:r>
            <a:endParaRPr lang="ko-KR" sz="2800" dirty="0"/>
          </a:p>
        </p:txBody>
      </p:sp>
      <p:sp>
        <p:nvSpPr>
          <p:cNvPr id="6" name="S09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마를 때 바로 물을 마실 수 있다.</a:t>
            </a:r>
            <a:endParaRPr lang="ko-KR" sz="2800" dirty="0"/>
          </a:p>
        </p:txBody>
      </p:sp>
      <p:sp>
        <p:nvSpPr>
          <p:cNvPr id="8" name="S09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친구가 물병이 멋있어 보인다고 했다.</a:t>
            </a:r>
            <a:endParaRPr lang="ko-KR" sz="2800" dirty="0"/>
          </a:p>
        </p:txBody>
      </p:sp>
      <p:sp>
        <p:nvSpPr>
          <p:cNvPr id="10" name="S09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일회용 컵을 덜 쓰게 된다.</a:t>
            </a:r>
            <a:endParaRPr lang="ko-KR" sz="2800" dirty="0"/>
          </a:p>
        </p:txBody>
      </p:sp>
      <p:sp>
        <p:nvSpPr>
          <p:cNvPr id="12" name="S09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9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마시면 키가 하루에 1 cm씩 자란다.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찾고, 알맞지 않은 근거를 골라 까닭을 말해요.</a:t>
            </a:r>
            <a:endParaRPr lang="ko-KR" sz="2800" dirty="0"/>
          </a:p>
        </p:txBody>
      </p:sp>
      <p:sp>
        <p:nvSpPr>
          <p:cNvPr id="5" name="S10-passagebox6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6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아침밥을 거르고 학교에 가는 어린이가 있습니다. 하지만 우리는 아침밥을 꼭 먹어야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아침밥을 먹으면 오전에 공부하고 움직일 힘을 얻을 수 있습니다. 밤새 비어 있던 배를 채워야 수업 시간에 기운이 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아침밥을 먹으면 누구나 한 달에 키가 10 cm씩 자랍니다. 셋째, 아침 식탁에 오르는 빵은 모양과 맛이 여러 가지입니다.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관련 · 사실 · 믿을 만함을 물어요.</a:t>
            </a:r>
            <a:endParaRPr lang="ko-KR" sz="2800" dirty="0"/>
          </a:p>
        </p:txBody>
      </p:sp>
      <p:sp>
        <p:nvSpPr>
          <p:cNvPr id="5" name="S11-chip6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6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아침밥을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먹어야 한다</a:t>
            </a:r>
            <a:endParaRPr lang="ko-KR" sz="2800" dirty="0"/>
          </a:p>
        </p:txBody>
      </p:sp>
      <p:sp>
        <p:nvSpPr>
          <p:cNvPr id="7" name="S11-text6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①문단 둘째 문장</a:t>
            </a:r>
            <a:endParaRPr lang="ko-KR" sz="2200" dirty="0"/>
          </a:p>
        </p:txBody>
      </p:sp>
      <p:sp>
        <p:nvSpPr>
          <p:cNvPr id="8" name="S11-text6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근거는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알맞아요</a:t>
            </a:r>
            <a:endParaRPr lang="ko-KR" sz="2800" dirty="0"/>
          </a:p>
        </p:txBody>
      </p:sp>
      <p:sp>
        <p:nvSpPr>
          <p:cNvPr id="9" name="S11-text6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○ 사실 ○</a:t>
            </a:r>
            <a:endParaRPr lang="ko-KR" sz="2200" dirty="0"/>
          </a:p>
        </p:txBody>
      </p:sp>
      <p:sp>
        <p:nvSpPr>
          <p:cNvPr id="10" name="S11-text6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둘째·셋째는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않아요</a:t>
            </a:r>
            <a:endParaRPr lang="ko-KR" sz="2800" dirty="0"/>
          </a:p>
        </p:txBody>
      </p:sp>
      <p:sp>
        <p:nvSpPr>
          <p:cNvPr id="11" name="S11-text7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사실 ×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관련 ×</a:t>
            </a:r>
            <a:endParaRPr lang="ko-KR" sz="2200" dirty="0"/>
          </a:p>
        </p:txBody>
      </p:sp>
      <p:sp>
        <p:nvSpPr>
          <p:cNvPr id="12" name="S11-chip7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7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아침밥을 거르는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어린이가 있다</a:t>
            </a:r>
            <a:endParaRPr lang="ko-KR" sz="2800" dirty="0"/>
          </a:p>
        </p:txBody>
      </p:sp>
      <p:sp>
        <p:nvSpPr>
          <p:cNvPr id="14" name="S11-text7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주장이 아니라 상황이에요</a:t>
            </a:r>
            <a:endParaRPr lang="ko-KR" sz="2200" dirty="0"/>
          </a:p>
        </p:txBody>
      </p:sp>
      <p:sp>
        <p:nvSpPr>
          <p:cNvPr id="15" name="S11-text7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근거도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알맞다</a:t>
            </a:r>
            <a:endParaRPr lang="ko-KR" sz="2800" dirty="0"/>
          </a:p>
        </p:txBody>
      </p:sp>
      <p:sp>
        <p:nvSpPr>
          <p:cNvPr id="16" name="S11-text7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누구나 10 cm? 확인해요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근거는?</a:t>
            </a:r>
            <a:endParaRPr lang="ko-KR" sz="4000" dirty="0"/>
          </a:p>
        </p:txBody>
      </p:sp>
      <p:sp>
        <p:nvSpPr>
          <p:cNvPr id="3" name="S12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더운 날에는 물을 자주 마시자.</a:t>
            </a:r>
            <a:endParaRPr lang="ko-KR" sz="2800" dirty="0"/>
          </a:p>
        </p:txBody>
      </p:sp>
      <p:sp>
        <p:nvSpPr>
          <p:cNvPr id="4" name="S12-chip7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7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반 친구가 물을 마시면 달리기가 빨라진다고 했다.</a:t>
            </a:r>
            <a:endParaRPr lang="ko-KR" sz="2800" dirty="0"/>
          </a:p>
        </p:txBody>
      </p:sp>
      <p:sp>
        <p:nvSpPr>
          <p:cNvPr id="6" name="S12-chip7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8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 선생님께서 더운 날에는 땀으로 몸의 물이 많이 빠져나간다고 알려 주셨다.</a:t>
            </a:r>
            <a:endParaRPr lang="ko-KR" sz="2800" dirty="0"/>
          </a:p>
        </p:txBody>
      </p:sp>
      <p:sp>
        <p:nvSpPr>
          <p:cNvPr id="8" name="S12-chip8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8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색이 없고 투명해서 보기 좋다.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내세우는 생각, 근거는 주장을 받쳐 주는 까닭이에요.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관련 · 사실 · 믿을 만함으로 따져요.</a:t>
            </a:r>
            <a:endParaRPr lang="ko-KR" sz="2800" dirty="0"/>
          </a:p>
        </p:txBody>
      </p:sp>
      <p:sp>
        <p:nvSpPr>
          <p:cNvPr id="5" name="S13-chip8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세 질문으로 따지기</a:t>
            </a:r>
            <a:endParaRPr lang="ko-KR" sz="2200" dirty="0"/>
          </a:p>
        </p:txBody>
      </p:sp>
      <p:sp>
        <p:nvSpPr>
          <p:cNvPr id="6" name="S13-chip8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관련 없는 까닭 쓰기</a:t>
            </a:r>
            <a:endParaRPr lang="ko-KR" sz="2200" dirty="0"/>
          </a:p>
        </p:txBody>
      </p:sp>
      <p:sp>
        <p:nvSpPr>
          <p:cNvPr id="7" name="S13-text8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주장과 근거의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3-text8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근거를 따지는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질문은?</a:t>
            </a:r>
            <a:endParaRPr lang="ko-KR" sz="2200" dirty="0"/>
          </a:p>
        </p:txBody>
      </p:sp>
      <p:sp>
        <p:nvSpPr>
          <p:cNvPr id="10" name="S13-text9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‘물을 마시면 하루에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cm씩 자란다’의 문제는?</a:t>
            </a:r>
            <a:endParaRPr lang="ko-KR" sz="2200" dirty="0"/>
          </a:p>
        </p:txBody>
      </p:sp>
      <p:sp>
        <p:nvSpPr>
          <p:cNvPr id="11" name="S13-text9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토의 결과 정리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의견과 이유</a:t>
            </a:r>
            <a:endParaRPr lang="ko-KR" sz="4000" dirty="0"/>
          </a:p>
        </p:txBody>
      </p:sp>
      <p:sp>
        <p:nvSpPr>
          <p:cNvPr id="3" name="S14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의견에 ○, 이유에 △ 해 봐요.</a:t>
            </a:r>
            <a:endParaRPr lang="ko-KR" sz="2800" dirty="0"/>
          </a:p>
        </p:txBody>
      </p:sp>
      <p:sp>
        <p:nvSpPr>
          <p:cNvPr id="4" name="S14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‘~하면 좋겠어요’는 의견, ‘~거든요, ~니까요’는 이유예요.</a:t>
            </a:r>
            <a:endParaRPr lang="ko-KR" sz="2800" dirty="0"/>
          </a:p>
        </p:txBody>
      </p:sp>
      <p:sp>
        <p:nvSpPr>
          <p:cNvPr id="6" name="S14-word95"/>
          <p:cNvSpPr txBox="1"/>
          <p:nvPr/>
        </p:nvSpPr>
        <p:spPr>
          <a:xfrm>
            <a:off x="548640" y="201168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 그늘막이 있으면 좋겠어요.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 햇볕이 너무 뜨겁거든요.</a:t>
            </a:r>
            <a:endParaRPr lang="ko-KR" sz="3200" dirty="0"/>
          </a:p>
        </p:txBody>
      </p:sp>
      <p:sp>
        <p:nvSpPr>
          <p:cNvPr id="7" name="S14-word96"/>
          <p:cNvSpPr txBox="1"/>
          <p:nvPr/>
        </p:nvSpPr>
        <p:spPr>
          <a:xfrm>
            <a:off x="548640" y="3703320"/>
            <a:ext cx="11091672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화분마다 이름표를 붙여요.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물을 줄지 헷갈리지 않으니까요.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주장과 근거</dc:title>
  <dc:subject>KR22-G05-KOR-CLAIM-L01</dc:subject>
  <dc:creator>education-ppt</dc:creator>
  <cp:lastModifiedBy>education-ppt</cp:lastModifiedBy>
  <cp:revision>1</cp:revision>
  <dcterms:created xsi:type="dcterms:W3CDTF">2026-10-26T08:30:00Z</dcterms:created>
  <dcterms:modified xsi:type="dcterms:W3CDTF">2026-10-26T08:30:00Z</dcterms:modified>
</cp:coreProperties>
</file>