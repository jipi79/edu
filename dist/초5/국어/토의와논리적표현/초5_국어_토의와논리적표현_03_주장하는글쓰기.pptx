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fad3118-ba09-a4ad-6ca0-86cda09fd94b}">
          <p14:sldIdLst>
            <p14:sldId id="256"/>
            <p14:sldId id="257"/>
          </p14:sldIdLst>
        </p14:section>
        <p14:section name="개념" id="{84384cd1-f130-63a9-f2b8-3d3004402208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0671c1f5-dac6-625b-aca2-bcf156ab26c8}">
          <p14:sldIdLst>
            <p14:sldId id="263"/>
            <p14:sldId id="264"/>
            <p14:sldId id="265"/>
          </p14:sldIdLst>
        </p14:section>
        <p14:section name="확인" id="{ff7f3499-3d53-ba93-30b8-c831855b413d}">
          <p14:sldIdLst>
            <p14:sldId id="266"/>
            <p14:sldId id="267"/>
            <p14:sldId id="268"/>
          </p14:sldIdLst>
        </p14:section>
        <p14:section name="정리" id="{d2e62cbc-5a4e-d92a-9606-3380c430b229}">
          <p14:sldIdLst>
            <p14:sldId id="269"/>
          </p14:sldIdLst>
        </p14:section>
        <p14:section name="보충" id="{f4fee29f-9b84-857f-d2dc-42eeeeee115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내 생각을 짜임 있는 글로 쓰면 읽는 사람을 설득할 수 있다는 것에 관심을 갖게 합니다.
시간: 약 2분
이렇게 말해 보세요
- “요즘 ‘이건 꼭 이렇게 해야 해!’ 하고 다른 사람을 설득하고 싶었던 일 있어?”
- “자기 생각(주장)을 근거를 들어 읽는 사람이 받아들이게 쓰는 글을 ‘주장하는 글’이라고 해. 오늘은 처음·가운데·끝, 세 부분으로 짜서 쓰는 방법을 배울 거야.”
예상 답
- “동생이 내 방에 들어올 때 노크를 했으면 좋겠어요.” “학교 도서관을 점심시간에도 열면 좋겠어요.”
막히면
- 부모가 먼저 예를 들어 줍니다. “엄마(아빠)는 우리 가족이 저녁 먹을 때 휴대 전화를 내려놓으면 좋겠어.”
주의
- 아이가 말한 주제는 S11에서 쓸 거리로 쓸 수 있으니 기억해 둡니다. 오늘 화면의 글과 인물은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확인(주장과 근거, 알맞은 근거)]
목적: 앞 차시 ‘토의 결과 정리’(KR22-G05-KOR-DEBATE-L01)와 그 앞의 ‘주장과 근거’(KR22-G05-KOR-CLAIM-L01)에서 다룬 주장과 근거를 구별하고, 근거가 알맞은지 따질 수 있는지 확인합니다. 주장하는 글은 이 둘을 짜임에 맞게 늘어놓는 글이기 때문입니다.
시간: 약 3분
이렇게 말해 보세요
- “글쓴이가 하고 싶은 말, 곧 주장은 무엇이야? 그렇게 주장하는 까닭, 곧 근거는?”
- “③처럼 말하면 읽는 사람이 고개를 끄덕일까?”
정답
- ① 학교 도서관은 점심시간에도 열어야 한다.
- ② 점심을 먹고 책을 빌리려는 학생이 많다.
- ③ 알맞지 않다. 주장(도서관을 열어야 한다)을 되풀이했을 뿐 왜 그런지 까닭이 없다.
막히면
- “이 글이 우리에게 무엇을 하자고 해? 왜 그렇게 하자고 해?”라고 두 번에 나누어 묻습니다.
- 세 문제 가운데 두 개 이상 답하지 못하면 S15(보충)를 먼저 합니다.
주의
- ‘의견’과 ‘이유’라고 말해도 맞게 봅니다. 5학년에서는 같은 생각을 ‘주장’과 ‘근거’라는 말로 부른다고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주장하는 글의 짜임(서론·본론·결론)]
목적: 주장하는 글이 서론·본론·결론으로 이루어지고, 부분마다 하는 일이 다르다는 것을 알려 줍니다(목표 A, 오해 M1).
시간: 약 3분
이렇게 말해 보세요
- “서론은 글의 처음이야. 무엇이 문제인지 쓰고 ‘나는 이렇게 생각한다’고 주장을 밝혀.”
- “본론은 가운데야. 왜 그렇게 생각하는지 근거를 두세 개 들고, 근거마다 까닭이나 예를 덧붙여.”
- “결론은 끝이야. 주장을 한 번 더 힘주어 말하면서 글을 마무리해. 결론이 없으면 어떻게 될까?”
예상 답
- “글이 갑자기 끝나서 무엇을 말하려고 했는지 헷갈려요.”
막히면
- “달리기에도 출발·달리기·결승선이 있지? 글에도 처음·가운데·끝이 있어.”처럼 익숙한 것에 빗대어 줍니다.
주의
- ‘서론·본론·결론’이라는 낱말보다 각 부분이 하는 일을 말할 수 있는지가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 1(서론과 본론 시작)]
목적: 부모가 생각을 소리 내어 말하며 서론(문제 상황과 주장)과 본론의 첫 근거를 찾는 과정을 보여 줍니다(목표 A).
시간: 약 3분
이렇게 말해 보세요
- “①문단 첫 문장은 요즘 어떤 일이 있는지, 곧 문제 상황을 말해. 둘째 문장은 ‘~해야 한다고 생각합니다’로 끝나지? 이게 한결이의 주장이야. 문제 상황과 주장이 있으니 ①은 서론이야.”
- “②는 ‘첫째’로 시작해. 첫 번째 근거라는 뜻이야. 근거는 어느 문장이고, 그 뒤 두 문장은 무슨 일을 할까?”
예상 답
- “근거는 ‘사고를 막을 수 있습니다’예요. 뒤의 두 문장은 왜 사고가 나는지 설명해 줘요.”
정답
- 서론(①): 문제 상황 ‘걸으면서 휴대 전화 화면만 보는 사람이 많다’, 주장 ‘걸을 때에는 휴대 전화를 보지 말아야 한다’
- 본론의 근거 1(②): 사고를 막을 수 있다. 뒷받침: 앞에서 오는 사람이나 자전거를 늦게 알아차려 부딪히거나 넘어지기 쉽다.
막히면
- 문단마다 “이 문단은 문제와 주장을 말해, 근거를 말해, 주장을 다시 말해?”라고 묻습니다.
주의
- 근거 뒤에 붙은 설명(까닭이나 예)을 ‘뒷받침 내용’이라고 부릅니다. S09에서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 2(본론 나머지와 결론)]
목적: 본론의 둘째 근거와 결론을 함께 찾아, 결론이 주장을 다시 강조하며 끝낸다는 것을 확인합니다(목표 A, 오해 M1).
시간: 약 2분
이렇게 말해 보세요
- “③은 ‘둘째’로 시작하네. 둘째 근거는 무엇이야?”
- “④는 새로운 근거를 말해, 아니면 서론에서 한 주장을 다시 말해?”
예상 답
- “근거는 두 가지예요. ④는 주장을 다시 말하고 끝내요.”
정답
- 근거 2(③): 다른 사람의 길을 막지 않는다. 뒷받침: 갑자기 멈추거나 천천히 걸으면 뒤에서 오는 사람이 불편하다.
- 결론(④): 휴대 전화를 주머니에 넣고 앞을 보자고 주장을 다시 강조하고, 그러면 안전하고 편하다고 마무리한다.
막히면
- S04로 돌아가 ①의 주장과 ④를 나란히 읽어 주고 “둘이 비슷하지?”라고 묻습니다.
주의
- 결론은 서론의 주장을 똑같이 베끼기보다 ‘~합시다’처럼 힘주어 말하고, 근거를 짧게 간추려 덧붙이면 좋다고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개요로 짜임 정리하기]
목적: 한결이의 글을 개요로 정리해 보이며, 글을 쓰기 전에 개요를 짜는 방법을 알려 줍니다(목표 A·B).
시간: 약 3분
이렇게 말해 보세요
- “한결이는 글을 쓰기 전에 이렇게 짧게 적어 두었을 거야. 이걸 ‘개요’라고 해.”
- “개요의 본론에 근거를 하나 더 넣는다면 무엇을 넣을 수 있을까?”
예상 답
- “근거 3: 눈이 덜 피곤하다.” “근거 3: 주변 풍경이나 친구를 볼 수 있다.”
막히면
- S04·S05의 문단 번호를 표의 칸과 하나씩 짝지어 봅니다(①→서론, ②③→본론, ④→결론).
주의
- 개요에는 문장을 다 쓰지 않고 짧게 적어도 된다고 알려 줍니다. 아이가 지치면 S07까지 하고 쉬어도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주장하는 글 점검표]
목적: 주장하는 글을 쓴 뒤 스스로 확인하는 점검표 네 가지를 알려 줍니다(목표 B). 이 점검표가 오늘 쓰기의 판단 기준입니다.
시간: 약 2분
이렇게 말해 보세요
- “글을 다 쓰면 이 네 가지를 하나씩 물어보고 ○, ×를 해. ×가 나온 곳을 고쳐 쓰는 거야.”
- “한결이의 글에 점검표를 해 볼까? ①부터 ④까지 모두 ○일까?”
예상 답
- “네 개 다 ○예요. 근거가 두 개이고, 근거마다 설명이 붙어 있어요.”
막히면
- ④는 S04의 ②문단을 다시 보여 주고 “근거 뒤에 붙은 두 문장이 바로 까닭이야.”라고 짚어 줍니다.
주의
- 맞춤법과 글씨는 점검표에 넣지 않았습니다. 오늘은 내용을 고쳐 쓰는 데 집중합니다. 여기서 쉬고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찾기(서론·본론·결론, 주장과 근거)]
목적: 처음 읽는 주장하는 글에서 서론·본론·결론을 나누고 주장과 근거를 함께 찾아봅니다(목표 A). 활동지 1에 같은 글이 있습니다.
시간: 약 3분
이렇게 말해 보세요
- “문단마다 무슨 일을 하는지 말해 볼래? ①은 문제 상황과 주장이 있어?”
- “근거는 몇 가지야? 근거마다 붙은 까닭도 찾아볼까?”
정답
- 서론 ①: 문제 상황(2·3층에 사는 사람도 엘리베이터를 자주 탄다), 주장(가까운 층은 계단으로 다니자)
- 본론 ②③: 근거 1 운동이 된다(따로 시간을 내지 않아도 다리 힘을 기른다), 근거 2 전기를 아낄 수 있다(엘리베이터는 움직일 때마다 전기를 쓴다)
- 결론 ④: 주장을 다시 강조하고 두 근거를 간추린다.
막히면
- S06의 개요표를 보여 주고, 같은 표에 이 글을 말로 채워 보게 합니다.
주의
- ‘따로 시간을 내지 않아도 다리 힘을 기를 수 있습니다’를 근거라고 하면 “이건 운동이 된다는 근거를 자세히 설명한 뒷받침 내용이야.”라고 짚어 줍니다. 둘을 묶어 근거 1로 말해도 맞게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비교(근거만 쓴 문단과 뒷받침을 덧붙인 문단)]
목적: 근거만 한 줄로 쓴 문단과, 까닭이나 예(뒷받침 내용)를 덧붙인 문단을 비교합니다(목표 B, 오해 M3).
시간: 약 2분
이렇게 말해 보세요
- “가만 읽으면 ‘정말 그럴까?’ 하는 생각이 들지 않아? 나는 무엇을 더 써 주었어?”
- “뒷받침 내용이 붙으면 읽는 사람이 어떻게 될까?”
정답
- 나에는 근거를 자세히 설명하는 예(청소, 빨래 개기, 설거지를 나누면 일이 빨리 끝난다)가 더 있습니다.
- 그래서 읽는 사람이 근거를 쉽게 이해하고 더 고개를 끄덕이게 됩니다. 점검표 ④(뒷받침)에 맞는 쪽은 나입니다.
막히면
- “엄마(아빠)가 ‘이 책은 재미있어.’라고만 할 때랑 ‘주인공이 미로를 빠져나오는 장면에서 손에 땀이 났어.’라고 할 때 중에서 어느 쪽이 더 읽고 싶어?”라고 묻습니다.
주의
- 활동지 2에서 근거에 뒷받침 문장을 붙여 쓰는 연습을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알맞은 근거 고르고 개요 말하기]
목적: 주장에 알맞은 근거를 고르고, 고른 근거로 개요를 말로 짜 봅니다(목표 B, 오해 M2). 활동지 3에 같은 문제가 있습니다.
시간: 약 3분
이렇게 말해 보세요
- “하나씩 읽고 ‘이 근거를 들으면 고개가 끄덕여지나?’ 생각해 봐. 아닌 것은 왜 아닌지 말해 줘.”
- “○를 한 근거로 개요를 말로 짜 볼까? 서론에는 무엇을, 본론에는, 결론에는?”
정답
- ① ○ 주장과 관계있고 끄덕일 만하다.
- ② × 주장을 되풀이했을 뿐 까닭이 없다.
- ③ × 주장(집안일 나누기)과 관계가 없다.
- ④ ○ 주장과 관계있고 끄덕일 만하다.
- 개요 예: 서론(주말에 한 사람이 집안일을 거의 다 한다 + 집안일을 나누자) → 본론(근거 ①, ④) → 결론(나누어 하자고 다시 강조)
막히면
- ②는 “‘왜 나누어야 해?’ 하고 물었을 때 ‘나누어야 하니까’라고 답하면 어때?”라고 묻습니다.
주의
- 개요를 말할 때 문제 상황은 아이가 지어내도 됩니다. 집안 사정에 맞게 바꾸어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개요 짜고 쓰고 고쳐 쓰기]
목적: 도움 없이 개요를 짜고 주장하는 글을 쓴 뒤 점검표로 고쳐 쓰는지 확인합니다(목표 B). 활동지 4에 주장을, 5에 개요를, 6에 글을 쓰고, 7에서 점검하고 고쳐 씁니다.
시간: 약 10분
이렇게 말해 보세요
- “이번에는 혼자 써 볼래? 쓸 거리를 하나 고르고, 주장을 한 문장으로 먼저 정해.”
- “활동지 5에 개요를 짜고, 6에 서론·본론·결론으로 써 봐. 다 쓰면 7의 점검표로 스스로 ○, ×를 하고 ×인 곳을 고쳐 써.”
예상 답
- 예(집안일 나누기): 우리 집은 주말이 되면 엄마가 청소와 빨래를 거의 혼자 합니다. 저는 주말에는 가족이 집안일을 나누어 해야 한다고 생각합니다. / 첫째, 일이 빨리 끝납니다. 청소, 빨래 개기, 설거지를 한 가지씩 맡으면 금방 끝나서 함께 쉬는 시간이 늘어납니다. / 둘째, 스스로 생활하는 습관을 기를 수 있습니다. 내 방을 직접 치워 보면 물건을 제자리에 두게 됩니다. / 주말에는 가족이 집안일을 나누어 합시다. 일도 빨리 끝나고 좋은 습관도 생깁니다.
정답
- 기준(점검표): ① 서론·본론·결론으로 나뉨 ② 서론과 결론에 주장이 분명함 ③ 주장과 관계있고 되풀이가 아닌 근거 2~3개 ④ 근거마다 까닭이나 예를 덧붙임. 점검 뒤 ×인 항목을 고쳐 썼는지도 봅니다.
- 4가지를 모두 지키면 목표 B 달성, 3가지면 거의 달성으로 봅니다.
막히면
- 쓰기 전에 개요를 말로 먼저 말해 보게 하고, 말한 것을 그대로 쓰게 합니다. 문단마다 첫 낱말(‘저는’, ‘첫째’, ‘둘째’, ‘그러니’)을 부모가 먼저 적어 주어도 됩니다.
- 도움을 받아 썼다면 기록표에 ‘도움’으로 표시합니다.
주의
- 10분 안에 끝나지 않으면 개요까지 하고 글은 다음 날 써도 됩니다. 맞춤법은 하나하나 고치지 않고, 점검표에서 ×인 것 한 가지만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 쓴 글의 짜임과 흔한 실수]
목적: 아이가 쓴 글을 잘 쓴 글의 짜임과 비교하고 흔한 실수를 확인합니다(오해 M1·M3·M4).
시간: 약 1분
이렇게 말해 보세요
- “네 글을 소리 내어 읽어 볼래? 왼쪽 세 부분이 모두 있어?”
- “오른쪽 실수 가운데 네 글에 있는 것이 있을까?”
예상 답
- “결론에 ‘그리고 집안일을 하면 용돈도 받아요.’라고 새 근거를 썼어요. 본론으로 옮길게요.”
정답
- S11의 예상답 글이 잘 쓴 예입니다. 서론(문제 상황 + 주장) → 본론(근거 두 가지와 각각의 까닭·예) → 결론(주장 강조와 근거 간추리기).
막히면
- 아이 글의 문단마다 “여기는 서론이야, 본론이야, 결론이야?”라고 물어 문단 옆에 색연필로 적게 합니다.
주의
- 이 장은 학생용 파일에서 빠집니다. 잘한 점을 먼저 두 가지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확인(짜임 찾고 빠진 부분 채우기)]
목적: 처음 읽는 글에서 주장과 근거를 찾고, 서론·본론·결론 가운데 빠진 부분을 알아차려 채우는지 확인합니다(목표 A, 오해 M1). 활동지 8에 씁니다.
시간: 약 3분
이렇게 말해 보세요
- “이 글에서 서론은 어디야? 주장은? 본론의 근거는 몇 가지야?”
- “그럼 빠진 것은 무엇일까? 빠진 부분을 한두 문장으로 만들어 끝에 붙여 볼래?”
정답
- 주장: 물을 마실 때는 개인 컵을 쓰자(①, 서론). 근거: 쓰레기가 줄어든다(②), 종이를 아낄 수 있다(③).
- 빠진 것: 결론. 채우기 예: “물을 마실 때는 종이컵 대신 개인 컵을 씁시다. 쓰레기도 줄이고 종이도 아낄 수 있습니다.” (주장을 다시 강조하는 말이면 맞음. 새 근거를 넣으면 다시 고치게 합니다.)
막히면
- S03의 세 카드를 보여 주고, 글에서 카드마다 맞는 문단을 하나씩 짚게 합니다.
주의
- 빠진 것만 맞히고 채우지 못하면 기록표에 ‘찾기만’으로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“주장하는 글을 어떻게 쓰는지 한 문장으로 말해 볼래?”
예상 답
- “처음에 문제와 주장을 쓰고, 가운데에 근거를 두세 개 쓰고, 끝에 주장을 다시 말해요. 다 쓰면 점검표로 고쳐요.”
정답
- ① 서론: 문제 상황과 주장을 밝힌다. 본론: 근거 2~3개와 까닭·예를 쓴다. 결론: 주장을 다시 강조한다. ② 예: 운동이 됩니다. 계단을 오르내리면 따로 시간을 내지 않아도 다리 힘이 길러집니다. (근거를 설명하는 까닭이나 예면 맞음) ③ 짜임, 주장, 근거, 뒷받침
막히면
- S03과 S07을 다시 보여 줍니다.
주의
- 오늘 쓴 글을 가족에게 읽어 주고 “고개가 끄덕여졌어?”라고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보충(주장하는 글을 말로 먼저 해 보기)]
목적: 쓰기 전에 서론·본론·결론을 말로 먼저 이어 말해 보며 주장하는 글의 짜임을 몸에 익힙니다.
시간: 약 4분
이렇게 말해 보세요
- “화면처럼 해 볼까? 집 안에서 바꾸고 싶은 것 하나를 골라 ‘~가 문제예요. 그래서 ~해야 해요.’로 말해 봐.”
- “왜 그래야 해? 첫째, 둘째로 말해 볼래? 마지막으로 ‘그러니까’로 끝내 봐.”
정답
- 예: “신발이 현관에 흩어져 있는 게 문제예요. 그래서 신발을 신발장에 넣어야 해요. 첫째, 걸려 넘어지지 않기 때문이에요. 둘째, 신발을 빨리 찾을 수 있기 때문이에요. 그러니까 신발은 신발장에 넣읍시다.” (세 부분이 이어지면 맞음)
막히면
- 부모가 서론을 말해 주고, 아이가 본론과 결론만 말하게 합니다.
- 보충으로도 어렵다면 앞 차시 ‘토의 결과 정리’(KR22-G05-KOR-DEBATE-L01)를 다시 하고, 주장과 근거를 구별하는 것부터 어렵다면 ‘주장과 근거’(KR22-G05-KOR-CLAIM-L01), 더 어렵다면 4학년 ‘의견과 이유’(KR22-G04-KOR-OPINION-L01)로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토의와논리적표현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주장하는 글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주장하는 글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주장하는 글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사람이 내 주장에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끄덕이게 하려면?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주장하는 글을 서론·본론·결론으로 나눌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근거를 갖춘 주장하는 글을 쓰고 고쳐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“학교 도서관은 점심시간에도 열어야 합니다.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 먹고 책을 빌리려는 학생이 많기 때문입니다.”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무엇인가요?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무엇인가요?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‘도서관은 꼭 열어야 하기 때문입니다.’도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글의 짜임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글은 세 부분으로 짜여 있어요.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본론의 근거는 ‘첫째, 둘째, 셋째’로 나누어 쓰면 읽기 쉬워요.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서론(처음)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상황을 쓰고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밝혀요.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본론(가운데)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2~3개와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까닭이나 예를 써요.</a:t>
            </a:r>
            <a:endParaRPr lang="ko-KR" sz="28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결론(끝)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다시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강조하며 끝내요.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한결이의 글 ①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한결이의 주장은 무엇이고, 어느 문단에 있나요?</a:t>
            </a:r>
            <a:endParaRPr lang="ko-KR" sz="2800" dirty="0"/>
          </a:p>
        </p:txBody>
      </p:sp>
      <p:sp>
        <p:nvSpPr>
          <p:cNvPr id="5" name="S04-passagebox2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걸을 때는 휴대 전화를 넣어 둡시다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　요즘 길을 걸으면서 휴대 전화 화면만 보는 사람이 많습니다. 저는 걸을 때에는 휴대 전화를 보지 말아야 한다고 생각합니다.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　첫째, 사고를 막을 수 있습니다. 화면을 보며 걸으면 앞에서 오는 사람이나 자전거를 늦게 알아차립니다. 그래서 부딪히거나 넘어지기 쉽습니다.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한결이의 글 ②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모두 몇 가지인가요? ④문단은 무슨 일을 하나요?</a:t>
            </a:r>
            <a:endParaRPr lang="ko-KR" sz="2800" dirty="0"/>
          </a:p>
        </p:txBody>
      </p:sp>
      <p:sp>
        <p:nvSpPr>
          <p:cNvPr id="5" name="S05-passagebox2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　둘째, 다른 사람의 길을 막지 않습니다. 화면을 보다가 갑자기 멈추거나 천천히 걸으면 뒤에서 오는 사람이 불편합니다.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　걸을 때에는 휴대 전화를 주머니에 넣고 앞을 봅시다. 그러면 모두가 안전하고 편하게 길을 다닐 수 있습니다.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개요로 정리하면</a:t>
            </a:r>
            <a:endParaRPr lang="ko-KR" sz="40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개요: 글을 쓰기 전에 짜임에 따라 쓸 내용을 짧게 적은 것</a:t>
            </a:r>
            <a:endParaRPr lang="ko-KR" sz="28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개요를 먼저 짜면 글이 짜임에서 벗어나지 않아요.</a:t>
            </a:r>
            <a:endParaRPr lang="ko-KR" sz="2800" dirty="0"/>
          </a:p>
        </p:txBody>
      </p:sp>
      <p:graphicFrame>
        <p:nvGraphicFramePr>
          <p:cNvPr id="7" name="S06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48840"/>
          <a:ext cx="10515600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2313432"/>
                <a:gridCol w="6729984"/>
              </a:tblGrid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한결이의 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상황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걸으며 화면만 보는 사람이 많다.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걸을 때 휴대 전화를 보지 말자.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사고를 막는다.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남의 길을 막지 않는다.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주장 강조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주머니에 넣고 앞을 보자.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 점검표</a:t>
            </a:r>
            <a:endParaRPr lang="ko-KR" sz="4000" dirty="0"/>
          </a:p>
        </p:txBody>
      </p:sp>
      <p:sp>
        <p:nvSpPr>
          <p:cNvPr id="3" name="S07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×가 있으면 그 부분의 내용을 고쳐 써요.</a:t>
            </a:r>
            <a:endParaRPr lang="ko-KR" sz="2800" dirty="0"/>
          </a:p>
        </p:txBody>
      </p:sp>
      <p:sp>
        <p:nvSpPr>
          <p:cNvPr id="5" name="S07-card33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4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짜임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서론·본론·결론으로 나누어 썼나요?</a:t>
            </a:r>
            <a:endParaRPr lang="ko-KR" sz="2800" dirty="0"/>
          </a:p>
        </p:txBody>
      </p:sp>
      <p:sp>
        <p:nvSpPr>
          <p:cNvPr id="7" name="S07-card35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36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주장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서론과 결론에 주장이 분명한가요?</a:t>
            </a:r>
            <a:endParaRPr lang="ko-KR" sz="2800" dirty="0"/>
          </a:p>
        </p:txBody>
      </p:sp>
      <p:sp>
        <p:nvSpPr>
          <p:cNvPr id="9" name="S07-card37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38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근거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관계있는 근거가 2~3개인가요?</a:t>
            </a:r>
            <a:endParaRPr lang="ko-KR" sz="2800" dirty="0"/>
          </a:p>
        </p:txBody>
      </p:sp>
      <p:sp>
        <p:nvSpPr>
          <p:cNvPr id="11" name="S07-card39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0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뒷받침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까닭이나 예를 덧붙였나요?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 글에서 함께 찾아요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서론·본론·결론을 나누고, 주장과 근거를 찾아요.</a:t>
            </a:r>
            <a:endParaRPr lang="ko-KR" sz="2800" dirty="0"/>
          </a:p>
        </p:txBody>
      </p:sp>
      <p:sp>
        <p:nvSpPr>
          <p:cNvPr id="5" name="S08-passagebox4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층은 계단으로 다닙시다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아파트에서는 2층이나 3층에 사는 사람도 엘리베이터를 자주 탑니다. 가까운 층은 계단으로 다닙시다.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운동이 됩니다. 따로 시간을 내지 않아도 다리 힘을 기를 수 있습니다.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전기를 아낄 수 있습니다. 엘리베이터는 움직일 때마다 전기를 씁니다.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가까운 층은 계단으로 오르내립시다. 몸도 튼튼해지고 전기도 아낄 수 있습니다.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문단이 더 믿음이 갈까?</a:t>
            </a:r>
            <a:endParaRPr lang="ko-KR" sz="4000" dirty="0"/>
          </a:p>
        </p:txBody>
      </p:sp>
      <p:sp>
        <p:nvSpPr>
          <p:cNvPr id="3" name="S09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주말에는 가족이 집안일을 나누어 합시다.</a:t>
            </a:r>
            <a:endParaRPr lang="ko-KR" sz="2800" dirty="0"/>
          </a:p>
        </p:txBody>
      </p:sp>
      <p:sp>
        <p:nvSpPr>
          <p:cNvPr id="5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나에는 무엇이 더 있나요? 그래서 어떤 점이 좋은가요?</a:t>
            </a:r>
            <a:endParaRPr lang="ko-KR" sz="2800" dirty="0"/>
          </a:p>
        </p:txBody>
      </p:sp>
      <p:sp>
        <p:nvSpPr>
          <p:cNvPr id="7" name="S09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“첫째, 한 사람만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힘들지 않습니다.”</a:t>
            </a:r>
            <a:endParaRPr lang="ko-KR" sz="2800" dirty="0"/>
          </a:p>
        </p:txBody>
      </p:sp>
      <p:sp>
        <p:nvSpPr>
          <p:cNvPr id="9" name="S09-chip5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5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“첫째, 한 사람만 힘들지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않습니다. 청소, 빨래 개기,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설거지를 나누면 일이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끝납니다.”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근거를 골라요</a:t>
            </a:r>
            <a:endParaRPr lang="ko-KR" sz="4000" dirty="0"/>
          </a:p>
        </p:txBody>
      </p:sp>
      <p:sp>
        <p:nvSpPr>
          <p:cNvPr id="3" name="S10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주말에는 가족이 집안일을 나누어 합시다.</a:t>
            </a:r>
            <a:endParaRPr lang="ko-KR" sz="2800" dirty="0"/>
          </a:p>
        </p:txBody>
      </p:sp>
      <p:sp>
        <p:nvSpPr>
          <p:cNvPr id="4" name="S10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근거에 ○, 아닌 것에 × 하고 까닭을 말해요.</a:t>
            </a:r>
            <a:endParaRPr lang="ko-KR" sz="2800" dirty="0"/>
          </a:p>
        </p:txBody>
      </p:sp>
      <p:sp>
        <p:nvSpPr>
          <p:cNvPr id="6" name="S10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빨리 끝나서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쉬는 시간이 늘어요.</a:t>
            </a:r>
            <a:endParaRPr lang="ko-KR" sz="2800" dirty="0"/>
          </a:p>
        </p:txBody>
      </p:sp>
      <p:sp>
        <p:nvSpPr>
          <p:cNvPr id="8" name="S10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 꼭 나누어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해야 하기 때문이에요.</a:t>
            </a:r>
            <a:endParaRPr lang="ko-KR" sz="2800" dirty="0"/>
          </a:p>
        </p:txBody>
      </p:sp>
      <p:sp>
        <p:nvSpPr>
          <p:cNvPr id="10" name="S10-chip6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거실 창문은 아주 커요.</a:t>
            </a:r>
            <a:endParaRPr lang="ko-KR" sz="2800" dirty="0"/>
          </a:p>
        </p:txBody>
      </p:sp>
      <p:sp>
        <p:nvSpPr>
          <p:cNvPr id="12" name="S10-chip6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생활하는 습관을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기를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11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거리: 집안일 나누기 · 도서관 점심시간에 열기 · 내가 정한 주제</a:t>
            </a:r>
            <a:endParaRPr lang="ko-KR" sz="2800" dirty="0"/>
          </a:p>
        </p:txBody>
      </p:sp>
      <p:sp>
        <p:nvSpPr>
          <p:cNvPr id="4" name="S11-card65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6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서론·본론·결론이 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서론과 결론에 주장이 분명해요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알맞은 근거가 2~3개예요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근거마다 까닭이나 예가 있어요</a:t>
            </a:r>
            <a:endParaRPr lang="ko-KR" sz="2800" dirty="0"/>
          </a:p>
        </p:txBody>
      </p:sp>
      <p:sp>
        <p:nvSpPr>
          <p:cNvPr id="6" name="S11-stepno67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1-text68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한 문장으로 정해요.</a:t>
            </a:r>
            <a:endParaRPr lang="ko-KR" sz="2800" dirty="0"/>
          </a:p>
        </p:txBody>
      </p:sp>
      <p:sp>
        <p:nvSpPr>
          <p:cNvPr id="8" name="S11-stepno69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1-text70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2~3개로 개요를 짜요.</a:t>
            </a:r>
            <a:endParaRPr lang="ko-KR" sz="2800" dirty="0"/>
          </a:p>
        </p:txBody>
      </p:sp>
      <p:sp>
        <p:nvSpPr>
          <p:cNvPr id="10" name="S11-stepno71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1-text72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서론·본론·결론으로 써요.</a:t>
            </a:r>
            <a:endParaRPr lang="ko-KR" sz="2800" dirty="0"/>
          </a:p>
        </p:txBody>
      </p:sp>
      <p:sp>
        <p:nvSpPr>
          <p:cNvPr id="12" name="S11-stepno73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1-text74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쓴 예와 흔한 실수</a:t>
            </a:r>
            <a:endParaRPr lang="ko-KR" sz="4000" dirty="0"/>
          </a:p>
        </p:txBody>
      </p:sp>
      <p:sp>
        <p:nvSpPr>
          <p:cNvPr id="3" name="S12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 네 가지가 모두 ○이면 잘 쓴 글이에요.</a:t>
            </a:r>
            <a:endParaRPr lang="ko-KR" sz="2800" dirty="0"/>
          </a:p>
        </p:txBody>
      </p:sp>
      <p:sp>
        <p:nvSpPr>
          <p:cNvPr id="5" name="S12-chip7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7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</a:t>
            </a:r>
            <a:endParaRPr lang="ko-KR" sz="2800" dirty="0"/>
          </a:p>
        </p:txBody>
      </p:sp>
      <p:sp>
        <p:nvSpPr>
          <p:cNvPr id="7" name="S12-text7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주장</a:t>
            </a:r>
            <a:endParaRPr lang="ko-KR" sz="2200" dirty="0"/>
          </a:p>
        </p:txBody>
      </p:sp>
      <p:sp>
        <p:nvSpPr>
          <p:cNvPr id="8" name="S12-text8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</a:t>
            </a:r>
            <a:endParaRPr lang="ko-KR" sz="2800" dirty="0"/>
          </a:p>
        </p:txBody>
      </p:sp>
      <p:sp>
        <p:nvSpPr>
          <p:cNvPr id="9" name="S12-text8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2~3개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까닭·예</a:t>
            </a:r>
            <a:endParaRPr lang="ko-KR" sz="2200" dirty="0"/>
          </a:p>
        </p:txBody>
      </p:sp>
      <p:sp>
        <p:nvSpPr>
          <p:cNvPr id="10" name="S12-text8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ko-KR" sz="2800" dirty="0"/>
          </a:p>
        </p:txBody>
      </p:sp>
      <p:sp>
        <p:nvSpPr>
          <p:cNvPr id="11" name="S12-text8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다시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</a:t>
            </a:r>
            <a:endParaRPr lang="ko-KR" sz="2200" dirty="0"/>
          </a:p>
        </p:txBody>
      </p:sp>
      <p:sp>
        <p:nvSpPr>
          <p:cNvPr id="12" name="S12-chip8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85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없이 끝</a:t>
            </a:r>
            <a:endParaRPr lang="ko-KR" sz="2800" dirty="0"/>
          </a:p>
        </p:txBody>
      </p:sp>
      <p:sp>
        <p:nvSpPr>
          <p:cNvPr id="14" name="S12-text86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다시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말하지 않음</a:t>
            </a:r>
            <a:endParaRPr lang="ko-KR" sz="2200" dirty="0"/>
          </a:p>
        </p:txBody>
      </p:sp>
      <p:sp>
        <p:nvSpPr>
          <p:cNvPr id="15" name="S12-text87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근거만 한 줄</a:t>
            </a:r>
            <a:endParaRPr lang="ko-KR" sz="2800" dirty="0"/>
          </a:p>
        </p:txBody>
      </p:sp>
      <p:sp>
        <p:nvSpPr>
          <p:cNvPr id="16" name="S12-text88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까닭·예가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2200" dirty="0"/>
          </a:p>
        </p:txBody>
      </p:sp>
      <p:sp>
        <p:nvSpPr>
          <p:cNvPr id="17" name="S12-text89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결론에 새 근거</a:t>
            </a:r>
            <a:endParaRPr lang="ko-KR" sz="2800" dirty="0"/>
          </a:p>
        </p:txBody>
      </p:sp>
      <p:sp>
        <p:nvSpPr>
          <p:cNvPr id="18" name="S12-text90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13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찾고, 빠진 부분을 찾아 채워 말해요.</a:t>
            </a:r>
            <a:endParaRPr lang="ko-KR" sz="2800" dirty="0"/>
          </a:p>
        </p:txBody>
      </p:sp>
      <p:sp>
        <p:nvSpPr>
          <p:cNvPr id="5" name="S13-passagebox9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9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개인 컵으로 마십시다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반은 물을 마실 때 종이컵을 써서 하루에도 많은 컵이 버려집니다. 물을 마실 때는 개인 컵을 씁시다.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쓰레기가 줄어듭니다. 개인 컵은 씻어서 여러 번 쓸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종이를 아낄 수 있습니다. 종이컵을 만들려면 나무로 만든 종이가 필요합니다.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글은 서론(문제 상황·주장) → 본론(근거와 까닭·예)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결론(주장 강조)으로 쓰고, 점검표로 고쳐 써요.</a:t>
            </a:r>
            <a:endParaRPr lang="ko-KR" sz="2800" dirty="0"/>
          </a:p>
        </p:txBody>
      </p:sp>
      <p:sp>
        <p:nvSpPr>
          <p:cNvPr id="5" name="S14-chip9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근거마다 까닭이나 예 덧붙이기</a:t>
            </a:r>
            <a:endParaRPr lang="ko-KR" sz="2200" dirty="0"/>
          </a:p>
        </p:txBody>
      </p:sp>
      <p:sp>
        <p:nvSpPr>
          <p:cNvPr id="6" name="S14-chip9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결론 없이 끝내기</a:t>
            </a:r>
            <a:endParaRPr lang="ko-KR" sz="2200" dirty="0"/>
          </a:p>
        </p:txBody>
      </p:sp>
      <p:sp>
        <p:nvSpPr>
          <p:cNvPr id="7" name="S14-text9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서론·본론·결론이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일은?</a:t>
            </a:r>
            <a:endParaRPr lang="ko-KR" sz="2200" dirty="0"/>
          </a:p>
        </p:txBody>
      </p:sp>
      <p:sp>
        <p:nvSpPr>
          <p:cNvPr id="9" name="S14-text10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‘운동이 됩니다.’에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붙이면?</a:t>
            </a:r>
            <a:endParaRPr lang="ko-KR" sz="2200" dirty="0"/>
          </a:p>
        </p:txBody>
      </p:sp>
      <p:sp>
        <p:nvSpPr>
          <p:cNvPr id="10" name="S14-text10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가지는?</a:t>
            </a:r>
            <a:endParaRPr lang="ko-KR" sz="2200" dirty="0"/>
          </a:p>
        </p:txBody>
      </p:sp>
      <p:sp>
        <p:nvSpPr>
          <p:cNvPr id="11" name="S14-text1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인물·사건·배경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말로 먼저 해요</a:t>
            </a:r>
            <a:endParaRPr lang="ko-KR" sz="4000" dirty="0"/>
          </a:p>
        </p:txBody>
      </p:sp>
      <p:sp>
        <p:nvSpPr>
          <p:cNvPr id="3" name="S15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세 부분을 말로 이어 봐요.</a:t>
            </a:r>
            <a:endParaRPr lang="ko-KR" sz="2800" dirty="0"/>
          </a:p>
        </p:txBody>
      </p:sp>
      <p:sp>
        <p:nvSpPr>
          <p:cNvPr id="4" name="S15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순서대로 쓰면 서론·본론·결론이 돼요.</a:t>
            </a:r>
            <a:endParaRPr lang="ko-KR" sz="2800" dirty="0"/>
          </a:p>
        </p:txBody>
      </p:sp>
      <p:sp>
        <p:nvSpPr>
          <p:cNvPr id="6" name="S15-card10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0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“~가 문제예요.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~해야 해요.”</a:t>
            </a:r>
            <a:endParaRPr lang="ko-KR" sz="2800" dirty="0"/>
          </a:p>
        </p:txBody>
      </p:sp>
      <p:sp>
        <p:nvSpPr>
          <p:cNvPr id="8" name="S15-card10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11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“첫째, ~ 때문이에요.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둘째, ~ 때문이에요.”</a:t>
            </a:r>
            <a:endParaRPr lang="ko-KR" sz="2800" dirty="0"/>
          </a:p>
        </p:txBody>
      </p:sp>
      <p:sp>
        <p:nvSpPr>
          <p:cNvPr id="10" name="S15-card11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1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“그러니까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~합시다.”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주장하는 글 쓰기</dc:title>
  <dc:subject>KR22-G05-KOR-ESSAY-L01</dc:subject>
  <dc:creator>education-ppt</dc:creator>
  <cp:lastModifiedBy>education-ppt</cp:lastModifiedBy>
  <cp:revision>1</cp:revision>
  <dcterms:created xsi:type="dcterms:W3CDTF">2026-10-26T08:28:55Z</dcterms:created>
  <dcterms:modified xsi:type="dcterms:W3CDTF">2026-10-26T08:28:55Z</dcterms:modified>
</cp:coreProperties>
</file>