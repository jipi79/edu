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76d4eb7-476c-1ba2-0617-e1c21ce1ec2c}">
          <p14:sldIdLst>
            <p14:sldId id="256"/>
            <p14:sldId id="257"/>
          </p14:sldIdLst>
        </p14:section>
        <p14:section name="개념" id="{55c77ac8-6879-ee26-5e68-1f919cc183a4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7c27f5b0-958c-986b-673b-787c8681d867}">
          <p14:sldIdLst>
            <p14:sldId id="263"/>
            <p14:sldId id="264"/>
            <p14:sldId id="265"/>
          </p14:sldIdLst>
        </p14:section>
        <p14:section name="확인" id="{7ffadd2f-9f42-85b3-ddd0-eafc09206181}">
          <p14:sldIdLst>
            <p14:sldId id="266"/>
            <p14:sldId id="267"/>
          </p14:sldIdLst>
        </p14:section>
        <p14:section name="정리" id="{46887848-9d69-b57e-5b13-99911bf31f2f}">
          <p14:sldIdLst>
            <p14:sldId id="268"/>
          </p14:sldIdLst>
        </p14:section>
        <p14:section name="보충" id="{2c0f0fc0-2b84-7688-1662-e1e8d359c0e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토의와논리적표현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주장하는 글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주장하는 글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주장하는 글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주장하는 글 쓰기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사람이 내 주장에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고개를 끄덕이게 하려면?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주장하는 글을 서론·본론·결론으로 나눌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근거를 갖춘 주장하는 글을 쓰고 고쳐 쓸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근거를 떠올려요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“학교 도서관은 점심시간에도 열어야 합니다.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점심을 먹고 책을 빌리려는 학생이 많기 때문입니다.”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주장은 무엇인가요?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무엇인가요?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‘도서관은 꼭 열어야 하기 때문입니다.’도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근거일까요?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주장하는 글의 짜임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주장하는 글은 세 부분으로 짜여 있어요.</a:t>
            </a:r>
            <a:endParaRPr lang="ko-KR" sz="28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본론의 근거는 ‘첫째, 둘째, 셋째’로 나누어 쓰면 읽기 쉬워요.</a:t>
            </a:r>
            <a:endParaRPr lang="ko-KR" sz="28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서론(처음)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상황을 쓰고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주장을 밝혀요.</a:t>
            </a:r>
            <a:endParaRPr lang="ko-KR" sz="28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본론(가운데)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2~3개와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까닭이나 예를 써요.</a:t>
            </a:r>
            <a:endParaRPr lang="ko-KR" sz="28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결론(끝)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주장을 다시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강조하며 끝내요.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한결이의 글 ①</a:t>
            </a:r>
            <a:endParaRPr lang="ko-KR" sz="4000" dirty="0"/>
          </a:p>
        </p:txBody>
      </p:sp>
      <p:sp>
        <p:nvSpPr>
          <p:cNvPr id="3" name="S04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한결이의 주장은 무엇이고, 어느 문단에 있나요?</a:t>
            </a:r>
            <a:endParaRPr lang="ko-KR" sz="2800" dirty="0"/>
          </a:p>
        </p:txBody>
      </p:sp>
      <p:sp>
        <p:nvSpPr>
          <p:cNvPr id="5" name="S04-passagebox2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걸을 때는 휴대 전화를 넣어 둡시다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　요즘 길을 걸으면서 휴대 전화 화면만 보는 사람이 많습니다. 저는 걸을 때에는 휴대 전화를 보지 말아야 한다고 생각합니다.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　첫째, 사고를 막을 수 있습니다. 화면을 보며 걸으면 앞에서 오는 사람이나 자전거를 늦게 알아차립니다. 그래서 부딪히거나 넘어지기 쉽습니다.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한결이의 글 ②</a:t>
            </a:r>
            <a:endParaRPr lang="ko-KR" sz="4000" dirty="0"/>
          </a:p>
        </p:txBody>
      </p:sp>
      <p:sp>
        <p:nvSpPr>
          <p:cNvPr id="3" name="S05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모두 몇 가지인가요? ④문단은 무슨 일을 하나요?</a:t>
            </a:r>
            <a:endParaRPr lang="ko-KR" sz="2800" dirty="0"/>
          </a:p>
        </p:txBody>
      </p:sp>
      <p:sp>
        <p:nvSpPr>
          <p:cNvPr id="5" name="S05-passagebox2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　둘째, 다른 사람의 길을 막지 않습니다. 화면을 보다가 갑자기 멈추거나 천천히 걸으면 뒤에서 오는 사람이 불편합니다.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　걸을 때에는 휴대 전화를 주머니에 넣고 앞을 봅시다. 그러면 모두가 안전하고 편하게 길을 다닐 수 있습니다.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개요로 정리하면</a:t>
            </a:r>
            <a:endParaRPr lang="ko-KR" sz="4000" dirty="0"/>
          </a:p>
        </p:txBody>
      </p:sp>
      <p:sp>
        <p:nvSpPr>
          <p:cNvPr id="3" name="S06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개요: 글을 쓰기 전에 짜임에 따라 쓸 내용을 짧게 적은 것</a:t>
            </a:r>
            <a:endParaRPr lang="ko-KR" sz="2800" dirty="0"/>
          </a:p>
        </p:txBody>
      </p:sp>
      <p:sp>
        <p:nvSpPr>
          <p:cNvPr id="4" name="S06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개요를 먼저 짜면 글이 짜임에서 벗어나지 않아요.</a:t>
            </a:r>
            <a:endParaRPr lang="ko-KR" sz="2800" dirty="0"/>
          </a:p>
        </p:txBody>
      </p:sp>
      <p:graphicFrame>
        <p:nvGraphicFramePr>
          <p:cNvPr id="7" name="S06-table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148840"/>
          <a:ext cx="10515600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2313432"/>
                <a:gridCol w="6729984"/>
              </a:tblGrid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짜임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쓸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한결이의 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상황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걸으며 화면만 보는 사람이 많다.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걸을 때 휴대 전화를 보지 말자.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사고를 막는다.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남의 길을 막지 않는다.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주장 강조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주머니에 넣고 앞을 보자.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주장하는 글 점검표</a:t>
            </a:r>
            <a:endParaRPr lang="ko-KR" sz="4000" dirty="0"/>
          </a:p>
        </p:txBody>
      </p:sp>
      <p:sp>
        <p:nvSpPr>
          <p:cNvPr id="3" name="S07-card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×가 있으면 그 부분의 내용을 고쳐 써요.</a:t>
            </a:r>
            <a:endParaRPr lang="ko-KR" sz="2800" dirty="0"/>
          </a:p>
        </p:txBody>
      </p:sp>
      <p:sp>
        <p:nvSpPr>
          <p:cNvPr id="5" name="S07-card33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34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짜임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서론·본론·결론으로 나누어 썼나요?</a:t>
            </a:r>
            <a:endParaRPr lang="ko-KR" sz="2800" dirty="0"/>
          </a:p>
        </p:txBody>
      </p:sp>
      <p:sp>
        <p:nvSpPr>
          <p:cNvPr id="7" name="S07-card35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7-cardtext36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주장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서론과 결론에 주장이 분명한가요?</a:t>
            </a:r>
            <a:endParaRPr lang="ko-KR" sz="2800" dirty="0"/>
          </a:p>
        </p:txBody>
      </p:sp>
      <p:sp>
        <p:nvSpPr>
          <p:cNvPr id="9" name="S07-card37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38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근거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관계있는 근거가 2~3개인가요?</a:t>
            </a:r>
            <a:endParaRPr lang="ko-KR" sz="2800" dirty="0"/>
          </a:p>
        </p:txBody>
      </p:sp>
      <p:sp>
        <p:nvSpPr>
          <p:cNvPr id="11" name="S07-card39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7-cardtext40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뒷받침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근거마다 까닭이나 예를 덧붙였나요?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계단 글에서 함께 찾아요</a:t>
            </a:r>
            <a:endParaRPr lang="ko-KR" sz="4000" dirty="0"/>
          </a:p>
        </p:txBody>
      </p:sp>
      <p:sp>
        <p:nvSpPr>
          <p:cNvPr id="3" name="S08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서론·본론·결론을 나누고, 주장과 근거를 찾아요.</a:t>
            </a:r>
            <a:endParaRPr lang="ko-KR" sz="2800" dirty="0"/>
          </a:p>
        </p:txBody>
      </p:sp>
      <p:sp>
        <p:nvSpPr>
          <p:cNvPr id="5" name="S08-passagebox43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44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층은 계단으로 다닙시다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 아파트에서는 2층이나 3층에 사는 사람도 엘리베이터를 자주 탑니다. 가까운 층은 계단으로 다닙시다.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첫째, 운동이 됩니다. 따로 시간을 내지 않아도 다리 힘을 기를 수 있습니다.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둘째, 전기를 아낄 수 있습니다. 엘리베이터는 움직일 때마다 전기를 씁니다.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가까운 층은 계단으로 오르내립시다. 몸도 튼튼해지고 전기도 아낄 수 있습니다.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문단이 더 믿음이 갈까?</a:t>
            </a:r>
            <a:endParaRPr lang="ko-KR" sz="4000" dirty="0"/>
          </a:p>
        </p:txBody>
      </p:sp>
      <p:sp>
        <p:nvSpPr>
          <p:cNvPr id="3" name="S09-card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주말에는 가족이 집안일을 나누어 합시다.</a:t>
            </a:r>
            <a:endParaRPr lang="ko-KR" sz="2800" dirty="0"/>
          </a:p>
        </p:txBody>
      </p:sp>
      <p:sp>
        <p:nvSpPr>
          <p:cNvPr id="5" name="S09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나에는 무엇이 더 있나요? 그래서 어떤 점이 좋은가요?</a:t>
            </a:r>
            <a:endParaRPr lang="ko-KR" sz="2800" dirty="0"/>
          </a:p>
        </p:txBody>
      </p:sp>
      <p:sp>
        <p:nvSpPr>
          <p:cNvPr id="7" name="S09-chip4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5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“첫째, 한 사람만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힘들지 않습니다.”</a:t>
            </a:r>
            <a:endParaRPr lang="ko-KR" sz="2800" dirty="0"/>
          </a:p>
        </p:txBody>
      </p:sp>
      <p:sp>
        <p:nvSpPr>
          <p:cNvPr id="9" name="S09-chip5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5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“첫째, 한 사람만 힘들지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않습니다. 청소, 빨래 개기,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설거지를 나누면 일이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끝납니다.”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근거를 골라요</a:t>
            </a:r>
            <a:endParaRPr lang="ko-KR" sz="4000" dirty="0"/>
          </a:p>
        </p:txBody>
      </p:sp>
      <p:sp>
        <p:nvSpPr>
          <p:cNvPr id="3" name="S10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주장: 주말에는 가족이 집안일을 나누어 합시다.</a:t>
            </a:r>
            <a:endParaRPr lang="ko-KR" sz="2800" dirty="0"/>
          </a:p>
        </p:txBody>
      </p:sp>
      <p:sp>
        <p:nvSpPr>
          <p:cNvPr id="4" name="S10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근거에 ○, 아닌 것에 × 하고 까닭을 말해요.</a:t>
            </a:r>
            <a:endParaRPr lang="ko-KR" sz="2800" dirty="0"/>
          </a:p>
        </p:txBody>
      </p:sp>
      <p:sp>
        <p:nvSpPr>
          <p:cNvPr id="6" name="S10-chip5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5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빨리 끝나서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쉬는 시간이 늘어요.</a:t>
            </a:r>
            <a:endParaRPr lang="ko-KR" sz="2800" dirty="0"/>
          </a:p>
        </p:txBody>
      </p:sp>
      <p:sp>
        <p:nvSpPr>
          <p:cNvPr id="8" name="S10-chip5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5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집안일은 꼭 나누어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해야 하기 때문이에요.</a:t>
            </a:r>
            <a:endParaRPr lang="ko-KR" sz="2800" dirty="0"/>
          </a:p>
        </p:txBody>
      </p:sp>
      <p:sp>
        <p:nvSpPr>
          <p:cNvPr id="10" name="S10-chip6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6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거실 창문은 아주 커요.</a:t>
            </a:r>
            <a:endParaRPr lang="ko-KR" sz="2800" dirty="0"/>
          </a:p>
        </p:txBody>
      </p:sp>
      <p:sp>
        <p:nvSpPr>
          <p:cNvPr id="12" name="S10-chip6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0-text6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생활하는 습관을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기를 수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써 보기</a:t>
            </a:r>
            <a:endParaRPr lang="ko-KR" sz="4000" dirty="0"/>
          </a:p>
        </p:txBody>
      </p:sp>
      <p:sp>
        <p:nvSpPr>
          <p:cNvPr id="3" name="S11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거리: 집안일 나누기 · 도서관 점심시간에 열기 · 내가 정한 주제</a:t>
            </a:r>
            <a:endParaRPr lang="ko-KR" sz="2800" dirty="0"/>
          </a:p>
        </p:txBody>
      </p:sp>
      <p:sp>
        <p:nvSpPr>
          <p:cNvPr id="4" name="S11-card65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66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서론·본론·결론이 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서론과 결론에 주장이 분명해요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알맞은 근거가 2~3개예요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근거마다 까닭이나 예가 있어요</a:t>
            </a:r>
            <a:endParaRPr lang="ko-KR" sz="2800" dirty="0"/>
          </a:p>
        </p:txBody>
      </p:sp>
      <p:sp>
        <p:nvSpPr>
          <p:cNvPr id="6" name="S11-stepno67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1-text68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주장을 한 문장으로 정해요.</a:t>
            </a:r>
            <a:endParaRPr lang="ko-KR" sz="2800" dirty="0"/>
          </a:p>
        </p:txBody>
      </p:sp>
      <p:sp>
        <p:nvSpPr>
          <p:cNvPr id="8" name="S11-stepno69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11-text70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2~3개로 개요를 짜요.</a:t>
            </a:r>
            <a:endParaRPr lang="ko-KR" sz="2800" dirty="0"/>
          </a:p>
        </p:txBody>
      </p:sp>
      <p:sp>
        <p:nvSpPr>
          <p:cNvPr id="10" name="S11-stepno71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11-text72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서론·본론·결론으로 써요.</a:t>
            </a:r>
            <a:endParaRPr lang="ko-KR" sz="2800" dirty="0"/>
          </a:p>
        </p:txBody>
      </p:sp>
      <p:sp>
        <p:nvSpPr>
          <p:cNvPr id="12" name="S11-stepno73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11-text74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점검표로 확인하고 고쳐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빠졌을까요?</a:t>
            </a:r>
            <a:endParaRPr lang="ko-KR" sz="4000" dirty="0"/>
          </a:p>
        </p:txBody>
      </p:sp>
      <p:sp>
        <p:nvSpPr>
          <p:cNvPr id="3" name="S13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근거를 찾고, 빠진 부분을 찾아 채워 말해요.</a:t>
            </a:r>
            <a:endParaRPr lang="ko-KR" sz="2800" dirty="0"/>
          </a:p>
        </p:txBody>
      </p:sp>
      <p:sp>
        <p:nvSpPr>
          <p:cNvPr id="5" name="S13-passagebox7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7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개인 컵으로 마십시다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 반은 물을 마실 때 종이컵을 써서 하루에도 많은 컵이 버려집니다. 물을 마실 때는 개인 컵을 씁시다.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첫째, 쓰레기가 줄어듭니다. 개인 컵은 씻어서 여러 번 쓸 수 있습니다.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둘째, 종이를 아낄 수 있습니다. 종이컵을 만들려면 나무로 만든 종이가 필요합니다.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7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주장하는 글은 서론(문제 상황·주장) → 본론(근거와 까닭·예)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결론(주장 강조)으로 쓰고, 점검표로 고쳐 써요.</a:t>
            </a:r>
            <a:endParaRPr lang="ko-KR" sz="2800" dirty="0"/>
          </a:p>
        </p:txBody>
      </p:sp>
      <p:sp>
        <p:nvSpPr>
          <p:cNvPr id="5" name="S14-chip8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근거마다 까닭이나 예 덧붙이기</a:t>
            </a:r>
            <a:endParaRPr lang="ko-KR" sz="2200" dirty="0"/>
          </a:p>
        </p:txBody>
      </p:sp>
      <p:sp>
        <p:nvSpPr>
          <p:cNvPr id="6" name="S14-chip8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결론 없이 끝내기</a:t>
            </a:r>
            <a:endParaRPr lang="ko-KR" sz="2200" dirty="0"/>
          </a:p>
        </p:txBody>
      </p:sp>
      <p:sp>
        <p:nvSpPr>
          <p:cNvPr id="7" name="S14-text8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8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서론·본론·결론이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일은?</a:t>
            </a:r>
            <a:endParaRPr lang="ko-KR" sz="2200" dirty="0"/>
          </a:p>
        </p:txBody>
      </p:sp>
      <p:sp>
        <p:nvSpPr>
          <p:cNvPr id="9" name="S14-text8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‘운동이 됩니다.’에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붙이면?</a:t>
            </a:r>
            <a:endParaRPr lang="ko-KR" sz="2200" dirty="0"/>
          </a:p>
        </p:txBody>
      </p:sp>
      <p:sp>
        <p:nvSpPr>
          <p:cNvPr id="10" name="S14-text8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점검표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가지는?</a:t>
            </a:r>
            <a:endParaRPr lang="ko-KR" sz="2200" dirty="0"/>
          </a:p>
        </p:txBody>
      </p:sp>
      <p:sp>
        <p:nvSpPr>
          <p:cNvPr id="11" name="S14-text8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인물·사건·배경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말로 먼저 해요</a:t>
            </a:r>
            <a:endParaRPr lang="ko-KR" sz="4000" dirty="0"/>
          </a:p>
        </p:txBody>
      </p:sp>
      <p:sp>
        <p:nvSpPr>
          <p:cNvPr id="3" name="S15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전에 세 부분을 말로 이어 봐요.</a:t>
            </a:r>
            <a:endParaRPr lang="ko-KR" sz="2800" dirty="0"/>
          </a:p>
        </p:txBody>
      </p:sp>
      <p:sp>
        <p:nvSpPr>
          <p:cNvPr id="4" name="S15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말한 순서대로 쓰면 서론·본론·결론이 돼요.</a:t>
            </a:r>
            <a:endParaRPr lang="ko-KR" sz="2800" dirty="0"/>
          </a:p>
        </p:txBody>
      </p:sp>
      <p:sp>
        <p:nvSpPr>
          <p:cNvPr id="6" name="S15-card91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92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“~가 문제예요.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~해야 해요.”</a:t>
            </a:r>
            <a:endParaRPr lang="ko-KR" sz="2800" dirty="0"/>
          </a:p>
        </p:txBody>
      </p:sp>
      <p:sp>
        <p:nvSpPr>
          <p:cNvPr id="8" name="S15-card93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15-cardtext94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“첫째, ~ 때문이에요.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둘째, ~ 때문이에요.”</a:t>
            </a:r>
            <a:endParaRPr lang="ko-KR" sz="2800" dirty="0"/>
          </a:p>
        </p:txBody>
      </p:sp>
      <p:sp>
        <p:nvSpPr>
          <p:cNvPr id="10" name="S15-card95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96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“그러니까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~합시다.”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주장하는 글 쓰기</dc:title>
  <dc:subject>KR22-G05-KOR-ESSAY-L01</dc:subject>
  <dc:creator>education-ppt</dc:creator>
  <cp:lastModifiedBy>education-ppt</cp:lastModifiedBy>
  <cp:revision>1</cp:revision>
  <dcterms:created xsi:type="dcterms:W3CDTF">2026-10-26T08:28:55Z</dcterms:created>
  <dcterms:modified xsi:type="dcterms:W3CDTF">2026-10-26T08:28:55Z</dcterms:modified>
</cp:coreProperties>
</file>