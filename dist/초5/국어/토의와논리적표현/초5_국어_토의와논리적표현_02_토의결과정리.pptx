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d61cede-ca43-43b1-fadf-90867c289cbe}">
          <p14:sldIdLst>
            <p14:sldId id="256"/>
            <p14:sldId id="257"/>
          </p14:sldIdLst>
        </p14:section>
        <p14:section name="개념" id="{e2adfb47-20cb-c9ef-d543-3a383644fab7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f2283e2c-87c4-9f97-2c08-d5ffae717622}">
          <p14:sldIdLst>
            <p14:sldId id="263"/>
            <p14:sldId id="264"/>
          </p14:sldIdLst>
        </p14:section>
        <p14:section name="확인" id="{7f4824a7-5f50-c27a-97d1-f586c9e0f6e4}">
          <p14:sldIdLst>
            <p14:sldId id="265"/>
            <p14:sldId id="266"/>
            <p14:sldId id="267"/>
          </p14:sldIdLst>
        </p14:section>
        <p14:section name="정리" id="{1b515089-21a2-7d79-b7a8-1cfb54f870ef}">
          <p14:sldIdLst>
            <p14:sldId id="268"/>
          </p14:sldIdLst>
        </p14:section>
        <p14:section name="보충" id="{969641c6-394f-443c-3f6c-4db4b525090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가족끼리 의견이 갈렸던 경험을 떠올리며 오늘 배울 것을 알립니다.
시간: 약 2분
이렇게 말해 보세요
- “가족끼리 무엇을 할지 의견이 갈렸던 적 있어? 그때 어떻게 정했어?”
- “여럿이 함께 문제를 풀려고 의견을 나누는 것을 ‘토의’라고 해. 오늘은 토의에서 나온 의견을 견주어 결정하고, 그 결과를 글로 정리하는 방법을 배울 거야.”
예상 답
- “가위바위보로 정했어요.” “엄마가 정했어요.”
막히면
- “지난 주말에 저녁 메뉴를 정할 때 어땠어?”처럼 최근 일을 하나 꺼내 줍니다.
주의
- ‘가위바위보’, ‘엄마가 정했다’ 같은 답도 그대로 받아 둡니다. S08에서 기준으로 정하는 것과 견주어 봅니다.
- 토론은 찬성과 반대로 나뉘어 겨루는 것이고, 토의는 함께 가장 좋은 방법을 찾는 것이라는 차이를 궁금해하면 짧게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확인(주장과 근거)]
목적: 5학년 ‘주장과 근거’(KR22-G05-KOR-CLAIM-L01)에서 배운, 근거가 알맞은지 따지는 힘이 있는지 확인합니다. 오늘 의견을 견줄 때 이 힘을 그대로 씁니다.
시간: 약 3분
이렇게 말해 보세요
- “두 근거 가운데 주장에 알맞은 근거는 무엇이야? 다른 하나는 세 질문 가운데 어디에 걸려?”
정답
- ① 알맞음(주장과 관련이 있고 사실임)
- ② 알맞지 않음(가로등 모양은 함께 걸어야 하는 까닭과 관련이 없음)
막히면
- “주장 뒤에 ‘왜냐하면’을 붙여 두 근거를 하나씩 읽어 볼까?”라고 합니다.
- 근거를 따지지 못하면 S14(보충)를 먼저 하고, 그래도 어려우면 ‘주장과 근거’(KR22-G05-KOR-CLAIM-L01)를 다시 합니다.
주의
- 답만 고르면 “세 질문 가운데 어디에 걸려?”라고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토의 결과 정리 글의 네 부분]
목적: 토의 결과를 정리하는 글에 들어갈 네 부분을 알려 줍니다(목표 B).
시간: 약 3분
이렇게 말해 보세요
- “토의를 마치면 결과를 글로 남겨 두어야 나중에도 무엇을 왜 정했는지 알 수 있어. 정리 글에는 네 가지가 들어가.”
- “주제는 무엇을 두고 이야기했는지, 나온 의견은 누가 무엇을 말했는지, 결정은 무엇으로 정했는지, 까닭은 왜 그렇게 정했는지야.”
예상 답
- “주제, 의견, 결정, 까닭이요.”
막히면
- S01에서 아이가 말한 경험을 네 부분으로 나누어 함께 말해 봅니다(예: 주제 — 저녁 메뉴, 의견 — 국수·볶음밥, 결정 — 국수, 까닭 — …).
주의
- 넷 가운데 아이들이 가장 많이 빠뜨리는 것은 ‘나온 의견’과 ‘까닭’입니다.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예시 토의 읽기(의견과 근거 찾기)]
목적: 예시 토의에서 의견과 근거를 나누어 찾는 모습을 보여 줍니다(목표 A). 엄마와 서준이 집에서 나눈 토의에 영상 통화로 이모가 함께한 장면입니다(이모는 화면 속 가상의 참여자).
시간: 약 3분
이렇게 말해 보세요
- “엄마가 서준이 역할을 맡아 볼게. 너는 엄마 역할을 읽어 줄래? 이모 말은 같이 읽자.”
- “엄마의 의견은 ‘바로 제자리에 두자’, 근거는 ‘어질러질 틈이 없다’야. 서준이와 이모의 의견과 근거는 네가 찾아볼래?”
예상 답
- “서준이는 자기 전에 바구니에 담자고 했고, 바로 치우는 건 잊어버리니까요. 이모는 일요일마다 대청소를 하자고 했고, 한 번에 깨끗해진대요.”
정답
- 엄마: 의견 — 쓴 물건은 바로 제자리에 두자 / 근거 — 어질러질 틈이 없다
- 서준: 의견 — 자기 전에 각자 물건을 바구니에 담자 / 근거 — 바로 치우는 건 자꾸 잊는다
- 이모: 의견 — 일요일마다 다 같이 대청소를 하자 / 근거 — 한 번에 깨끗해진다
막히면
- 사람마다 “무엇을 하자고 했어? 왜 그러자고 했어?” 두 질문으로 나누어 묻습니다.
주의
- 역할을 나누어 소리 내어 읽으면 실제 토의처럼 느껴져 이해가 쉽습니다. 집에서 부르는 호칭(아빠, 할머니 등)으로 바꾸어 읽어도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기준으로 의견 견주기]
목적: 의견마다 기준에 비추어 좋은 점과 아쉬운 점을 견주는 방법을 보여 줍니다(목표 A).
시간: 약 3분
이렇게 말해 보세요
- “우리 문제는 ‘거실이 늘 어질러져 있다’는 거였지. 기준은 두 가지야. 이 의견이 문제를 해결하나? 우리 가족이 모두 지킬 수 있나?”
- “‘일요일 대청소’는 한 번에 깨끗해지지만, 월요일부터 토요일까지는 어떻게 될까?”
예상 답
- “평일에는 계속 어질러져 있어요. 그래서 문제를 다 해결하지 못해요.”
막히면
- 의견 하나씩 “이렇게 하면 내일 거실은 어떨까?”라고 물으며 장면을 떠올리게 합니다.
주의
- 근거가 알맞은지(지난 시간의 세 질문)도 기준이 될 수 있습니다. 오늘은 두 기준만으로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토의 결과 정리 글 예시]
목적: 네 부분이 모두 드러난 정리 글을 보여 주고, 의견을 합쳐 결정할 수도 있다는 것을 알려 줍니다(목표 B, 오해 M3).
시간: 약 3분
이렇게 말해 보세요
- “S03의 네 부분이 다 있지? 손가락으로 하나씩 짚어 볼까?”
- “결정을 보면 엄마 의견과 서준이 의견을 함께 썼어. 하나만 고르지 않고 좋은 점을 합칠 수도 있어. 까닭에는 어떤 기준이 보여?”
예상 답
- “엄마 의견이랑 서준이 의견을 합쳤어요. 날마다 깨끗하게 할 수 있다는 건 문제를 해결한다는 기준이에요.”
정답
- 결정은 ‘바로 제자리에 두기(엄마)’와 ‘자기 전에 바구니에 담기(서준)’를 합친 것입니다.
- 까닭에 드러난 기준: 문제를 해결한다(날마다 깨끗함), 모두 지킬 수 있다(잊어도 한 번 더 치움)
막히면
- S05의 표로 돌아가 결정에 들어간 의견의 ‘좋은 점’을 함께 찾아봅니다.
주의
- 이모의 의견이 결정에 들어가지 않았어도 ‘나온 의견’에는 꼭 씁니다. 정리 글은 토의에서 무슨 의견이 나왔는지 남기는 글이기도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토의 결과를 정리하는 순서]
목적: 지금까지 한 일을 순서로 정리합니다(목표 A·B, 오해 M2).
시간: 약 2분
이렇게 말해 보세요
- “서준이네 토의에서 우리가 한 순서야. 하나씩 같이 읽어 볼까?”
- “3단계에서 쓰는 기준 두 가지는 뭐였지?”
예상 답
- “문제를 해결하나요? 모두 지킬 수 있나요?”
막히면
- S05와 S06으로 돌아가 단계마다 무엇을 했는지 짚어 봅니다.
주의
- 아이가 지치면 여기서 쉬고, 다음 날 S08부터 이어도 됩니다. 우리 집 토의(S09)는 시간이 넉넉할 때 하는 것이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비교(말한 사람으로 정하기)]
목적: 결정은 말한 사람이 아니라 의견의 내용을 기준으로 견주어 한다는 것을 비교로 확인합니다(목표 A, 오해 M1).
시간: 약 3분
이렇게 말해 보세요
- “가 친구는 무엇을 보고 정했어? 의견의 내용이야, 말한 사람이야?”
- “지난 시간에 배운 세 질문으로 따져 볼까? ‘엄마는 어른이니까’는 거실이 깨끗해지는 것과 관련이 있어?”
정답
- 나. 기준(모두 지킬 수 있나요?)으로 의견의 내용을 견주어 정했습니다.
- 가는 말한 사람(어른)을 보고 정했습니다. ‘어른이니까’는 거실을 깨끗하게 하는 것과 관련이 없는 까닭입니다.
막히면
- “엄마가 ‘거실을 그냥 어질러 두자’고 해도 어른이니까 그렇게 정할까?”라고 물어 봅니다.
주의
- 어른의 경험이 도움이 될 때도 많습니다. 다만 그때도 ‘어른이라서’가 아니라 의견의 내용이 기준에 맞아서 고른다는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우리 집 토의(부모와 아이 + 화면 속 참여자)]
목적: 부모와 아이가 실제로 짧게 토의하고, 화면 속 참여자(사촌 민규, 가상의 인물)의 의견까지 세 의견을 기준으로 견주어 결정합니다(목표 A·B).
시간: 약 6분
이렇게 말해 보세요
- “지금부터 5분 동안 우리 집 토의를 해 보자. 화면 속 민규는 벌써 의견을 냈어. 엄마(아빠)도 의견을 말할게. 그다음 네 의견과 근거를 말해 줘.”
- (부모 의견 예) “나는 샤워할 때 물을 틀어 둔 채 비누칠하지 말자고 할게. 비누칠하는 동안 버려지는 물이 많으니까.”
- “이제 세 의견을 활동지 3의 표에서 두 기준으로 견주어 보자. 무엇으로 정할까? 합쳐도 돼.”
예상 답
- 아이 의견 예: “설거지할 때 물을 받아서 해요. 계속 틀어 두면 물이 많이 버려지니까요.” “세탁기는 빨래를 모아서 한 번에 돌려요.”
- 결정 예: 양치 컵 쓰기와 샤워할 때 물 잠그기를 함께 하기 — 모두 쉽게 지킬 수 있고 버려지는 물이 줄어서
정답
- 기준: 세 의견마다 근거가 있고, 두 기준(물을 아끼는 데 도움이 되나요? 모두 지킬 수 있나요?)으로 견주어 결정하면 잘함. 결정의 내용은 집마다 달라도 됩니다.
막히면
- 아이가 의견을 떠올리지 못하면 “물을 가장 많이 쓰는 곳이 어디일까? 욕실, 부엌, 세탁기…”라고 장소를 먼저 떠올리게 합니다.
주의
- 부모가 정답을 정해 두고 이끌지 않습니다. 아이 의견이 기준에 더 맞으면 아이 의견으로 정합니다. 결정이 끝나면 S10에서 정리 글을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정리하기(우리 집 토의 결과)]
목적: 도움 없이 토의 결과를 네 부분이 드러나게 쓰고, 까닭에 기준을 드러내는지 확인합니다(목표 A·B).
시간: 약 6분
이렇게 말해 보세요
- “이번에는 혼자 써 볼래? 화면의 네 질문에 답하듯이 활동지 4에 정리 글을 써 봐.”
- “다 쓰면 활동지 6의 점검표로 스스로 확인해.”
정답
- 예: 주제 — 우리 집에서 물을 아끼려면 어떻게 할까? / 나온 의견 — 양치할 때 컵 쓰기(민규), 샤워할 때 비누칠하는 동안 물 잠그기(엄마), 설거지할 때 물 받아서 하기(나) / 결정 — 양치 컵 쓰기와 샤워할 때 물 잠그기를 함께 한다 / 까닭 — 모두 쉽게 지킬 수 있고 버려지는 물이 줄기 때문이다.
- 기준: ① 네 부분이 모두 있음 ② 나온 의견 세 가지를 누가 무엇을 말했는지 씀 ③ 까닭에 기준(문제를 해결하나요? 모두 지킬 수 있나요?)이 드러남. 세 가지를 모두 갖추면 잘함
막히면
- S06의 정리 글을 다시 보여 주고 같은 모양으로 쓰게 합니다.
- 도움을 받아 썼다면 기록표에 ‘도움’으로 표시합니다.
주의
- 맞춤법보다 네 부분이 들어갔는지를 먼저 봅니다. 자기 의견만 쓰면 “민규와 엄마(아빠)의 의견은?”이라고 묻습니다(오해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아이가 쓴 정리 글을 기준으로 함께 확인하고 흔한 실수와 비교합니다.
시간: 약 2분
이렇게 말해 보세요
- “네 정리 글에 왼쪽 세 가지가 다 있어? 오른쪽 같은 실수는 없어?”
예상 답
- “까닭을 안 썼어요. ‘모두 지킬 수 있어서’를 넣을게요.”
정답
- 네 부분(주제, 나온 의견, 결정, 까닭)이 모두 있고, 나온 의견을 누가 무엇을 말했는지 쓰고, 까닭에 기준이 드러나면 잘함. 결정의 내용은 집마다 다를 수 있음
막히면
- 빠진 부분을 함께 찾아 활동지 4에 덧붙여 씁니다.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확인(기준으로 결정하고 까닭 대기)]
목적: 처음 보는 토의에서 의견을 기준으로 견주어 결정하고, 기준이 드러나는 까닭을 대는지 확인합니다(목표 A).
시간: 약 2분
이렇게 말해 보세요
- “세 의견을 두 기준으로 견주어 볼래? 무엇으로 결정하고, 왜 그렇게 정했는지 말해 줘.”
정답
- 예: 요일을 정해 번갈아 주고, 달력에 물 준 날을 표시한다. 까닭: 누구 차례인지 헷갈리지 않고, 두 번 주거나 빠뜨리는 일을 막을 수 있기 때문이다(문제를 해결한다).
- ‘요일 정하기’나 ‘달력 표시’ 하나만 골라도 까닭에 기준이 드러나면 맞습니다. ‘생각난 사람이 주기’만 고르면 “아무도 생각나지 않거나 두 사람이 다 주면 어떻게 될까?”라고 물어 문제를 해결하는지 다시 따지게 합니다.
- ‘아빠가 어른이니까’, ‘내 의견이니까’ 같은 까닭은 알맞지 않습니다.
막히면
- S05처럼 의견마다 좋은 점과 아쉬운 점을 말로 먼저 견주어 봅니다.
주의
- 결정만 말하고 기준을 든 까닭을 말하지 못하면 기록표에 ‘결정만’으로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“토의 결과를 정리하는 방법을 한 문장으로 말해 볼래?”
예상 답
- “주제, 나온 의견, 결정, 까닭을 쓰고, 결정은 기준으로 정해요.”
정답
- ① 주제, 나온 의견, 결정, 까닭 ② 문제를 해결하나요? 모두 지킬 수 있나요? ③ 말한 사람을 보고 정한 것이라 의견의 내용(문제 해결)과 관련이 없기 때문
막히면
- S03과 S07을 다시 보여 줍니다.
주의
- 오늘 정한 우리 집 물 아끼기 결정을 냉장고 등에 붙여 두고 일주일 뒤 지켰는지 함께 이야기하면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보충(주장과 관련 있는 근거 고르기)]
목적: 주장과 관련 있는 근거를 고르는 힘을 먼저 다집니다. 토의에서 의견을 견줄 때 이 힘을 씁니다.
시간: 약 4분
이렇게 말해 보세요
- “주장 뒤에 ‘왜냐하면’을 붙여 근거 가와 나를 하나씩 읽어 볼까? 어느 쪽이 말이 돼?”
- “이번에는 네가 ‘잠자기 전에 책을 읽자’의 근거를 하나 더 만들어 볼래?”
정답
- 가 ○(주장과 관련이 있고 사실), 나 ×(책장 색은 책을 읽어야 하는 까닭과 관련이 없음)
- 아이가 만든 근거 예: 책을 읽으면 마음이 차분해져 잠들기 좋다(주장과 관련이 있으면 맞음)
막히면
- ‘왜냐하면’을 부모가 소리 내어 붙여 읽어 주고, 아이는 어색한 쪽에 손을 들게 합니다.
- 보충으로도 어렵다면 이 차시의 선수 차시인 ‘주장과 근거’(KR22-G05-KOR-CLAIM-L01)를 먼저 다시 합니다. 의견을 모으고 정하는 토의 절차부터 낯설다면 4학년 ‘토의하기’를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토의와논리적표현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 결과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 결과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토의 결과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 정리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여럿이 나눈 의견을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하나로 정리할까?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토의에서 나온 의견을 기준으로 견줄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토의 결과를 주제·의견·결정·까닭이 드러나게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저녁을 먹은 뒤 가족이 함께 걷자.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주장과 관련이 있나요? 사실인가요?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걸으면 몸을 움직이게 되어 건강에 도움이 된다.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길가의 가로등은 모양이 예쁘다.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 정리 글의 네 부분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결과를 정리할 때 이 네 가지를 써요.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두고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이야기했나요?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나온 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의견과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냈나요?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결정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정했나요?</a:t>
            </a:r>
            <a:endParaRPr lang="ko-KR" sz="2800" dirty="0"/>
          </a:p>
        </p:txBody>
      </p:sp>
      <p:sp>
        <p:nvSpPr>
          <p:cNvPr id="11" name="S03-card18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서준이네 가족 토의</a:t>
            </a:r>
            <a:endParaRPr lang="ko-KR" sz="4000" dirty="0"/>
          </a:p>
        </p:txBody>
      </p:sp>
      <p:sp>
        <p:nvSpPr>
          <p:cNvPr id="3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의견과 근거를 찾아봐요.</a:t>
            </a:r>
            <a:endParaRPr lang="ko-KR" sz="2800" dirty="0"/>
          </a:p>
        </p:txBody>
      </p:sp>
      <p:sp>
        <p:nvSpPr>
          <p:cNvPr id="5" name="S04-passagebox2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거실을 깨끗하게 쓰려면?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엄마: 쓴 물건은 쓴 사람이 바로 제자리에 두자. 그러면 어질러질 틈이 없으니까.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서준: 거실에 바구니를 두고, 자기 전에 각자 물건을 담아요. 바로 치우는 건 자꾸 잊어버리니까요.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이모(영상 통화): 일요일마다 다 같이 대청소를 하면 어때? 한 번에 깨끗해지잖아.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의견을 견주어요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문제를 해결하나요? 모두 지킬 수 있나요?</a:t>
            </a:r>
            <a:endParaRPr lang="ko-KR" sz="28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말했는지가 아니라 기준으로 견주어요.</a:t>
            </a:r>
            <a:endParaRPr lang="ko-KR" sz="28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700020"/>
          <a:ext cx="109728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3950208"/>
                <a:gridCol w="3950208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아쉬운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바로 제자리에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늘 깨끗해요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자꾸 잊어요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전 바구니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잊어도 날마다 치워요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낮에는 조금 어질러요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일요일 대청소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번에 깨끗해요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평일엔 어질러진 채예요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서준이가 쓴 정리 글</a:t>
            </a:r>
            <a:endParaRPr lang="ko-KR" sz="4000" dirty="0"/>
          </a:p>
        </p:txBody>
      </p:sp>
      <p:sp>
        <p:nvSpPr>
          <p:cNvPr id="3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결정은 세 의견 가운데 무엇을 합친 것인가요?</a:t>
            </a:r>
            <a:endParaRPr lang="ko-KR" sz="2800" dirty="0"/>
          </a:p>
        </p:txBody>
      </p:sp>
      <p:sp>
        <p:nvSpPr>
          <p:cNvPr id="5" name="S06-passagebox3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 정리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거실을 깨끗하게 쓰려면 어떻게 할까?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의견: 제자리에 두기(엄마), 바구니에 담기(나), 대청소(이모)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결정: 바로 제자리에 두고, 못 치운 것은 자기 전에 바구니에 담는다.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까닭: 날마다 깨끗하게 할 수 있고, 잊어도 자기 전에 한 번 더 치울 수 있기 때문이다.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결과를 정리하는 순서</a:t>
            </a:r>
            <a:endParaRPr lang="ko-KR" sz="4000" dirty="0"/>
          </a:p>
        </p:txBody>
      </p:sp>
      <p:sp>
        <p:nvSpPr>
          <p:cNvPr id="3" name="S07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의견만 쓰지 말고, 나온 의견을 모두 써요.</a:t>
            </a:r>
            <a:endParaRPr lang="ko-KR" sz="2800" dirty="0"/>
          </a:p>
        </p:txBody>
      </p:sp>
      <p:sp>
        <p:nvSpPr>
          <p:cNvPr id="5" name="S07-stepno34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35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한 문장으로 써요.</a:t>
            </a:r>
            <a:endParaRPr lang="ko-KR" sz="2800" dirty="0"/>
          </a:p>
        </p:txBody>
      </p:sp>
      <p:sp>
        <p:nvSpPr>
          <p:cNvPr id="7" name="S07-stepno36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37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의견을 누가, 무엇을 말했는지 모두 써요.</a:t>
            </a:r>
            <a:endParaRPr lang="ko-KR" sz="2800" dirty="0"/>
          </a:p>
        </p:txBody>
      </p:sp>
      <p:sp>
        <p:nvSpPr>
          <p:cNvPr id="9" name="S07-stepno38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39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견주어 결정을 정해요.</a:t>
            </a:r>
            <a:endParaRPr lang="ko-KR" sz="2800" dirty="0"/>
          </a:p>
        </p:txBody>
      </p:sp>
      <p:sp>
        <p:nvSpPr>
          <p:cNvPr id="11" name="S07-stepno40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41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결정과 그 까닭을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까닭이 알맞을까?</a:t>
            </a:r>
            <a:endParaRPr lang="ko-KR" sz="4000" dirty="0"/>
          </a:p>
        </p:txBody>
      </p:sp>
      <p:sp>
        <p:nvSpPr>
          <p:cNvPr id="3" name="S08-card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서준이네 토의의 결정 까닭을 두 친구가 이렇게 썼어요.</a:t>
            </a:r>
            <a:endParaRPr lang="ko-KR" sz="2800" dirty="0"/>
          </a:p>
        </p:txBody>
      </p:sp>
      <p:sp>
        <p:nvSpPr>
          <p:cNvPr id="5" name="S08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까닭이 알맞나요? 왜 그럴까요?</a:t>
            </a:r>
            <a:endParaRPr lang="ko-KR" sz="2800" dirty="0"/>
          </a:p>
        </p:txBody>
      </p:sp>
      <p:sp>
        <p:nvSpPr>
          <p:cNvPr id="7" name="S08-chip4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의견으로 정했다. 엄마는 어른이니까.</a:t>
            </a:r>
            <a:endParaRPr lang="ko-KR" sz="2800" dirty="0"/>
          </a:p>
        </p:txBody>
      </p:sp>
      <p:sp>
        <p:nvSpPr>
          <p:cNvPr id="9" name="S08-chip4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바구니에 담기로 정했다. 잊어도 날마다 지킬 수 있으니까.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토의를 해 봐요</a:t>
            </a:r>
            <a:endParaRPr lang="ko-KR" sz="4000" dirty="0"/>
          </a:p>
        </p:txBody>
      </p:sp>
      <p:sp>
        <p:nvSpPr>
          <p:cNvPr id="3" name="S09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우리 집에서 물을 아끼려면 어떻게 할까?</a:t>
            </a:r>
            <a:endParaRPr lang="ko-KR" sz="2800" dirty="0"/>
          </a:p>
        </p:txBody>
      </p:sp>
      <p:sp>
        <p:nvSpPr>
          <p:cNvPr id="4" name="S09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의견마다 근거를 함께 말하고, 활동지 3에 적어요.</a:t>
            </a:r>
            <a:endParaRPr lang="ko-KR" sz="2800" dirty="0"/>
          </a:p>
        </p:txBody>
      </p:sp>
      <p:sp>
        <p:nvSpPr>
          <p:cNvPr id="6" name="S09-card53"/>
          <p:cNvSpPr/>
          <p:nvPr/>
        </p:nvSpPr>
        <p:spPr>
          <a:xfrm>
            <a:off x="548640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4"/>
          <p:cNvSpPr txBox="1"/>
          <p:nvPr/>
        </p:nvSpPr>
        <p:spPr>
          <a:xfrm>
            <a:off x="822960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민규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양치할 때 컵에 물을 받아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틀어 놓지 않아도 되니까요.</a:t>
            </a:r>
            <a:endParaRPr lang="ko-KR" sz="2800" dirty="0"/>
          </a:p>
        </p:txBody>
      </p:sp>
      <p:sp>
        <p:nvSpPr>
          <p:cNvPr id="8" name="S09-card55"/>
          <p:cNvSpPr/>
          <p:nvPr/>
        </p:nvSpPr>
        <p:spPr>
          <a:xfrm>
            <a:off x="4322064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56"/>
          <p:cNvSpPr txBox="1"/>
          <p:nvPr/>
        </p:nvSpPr>
        <p:spPr>
          <a:xfrm>
            <a:off x="4596384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</a:t>
            </a:r>
            <a:endParaRPr lang="ko-KR" sz="2800" dirty="0"/>
          </a:p>
        </p:txBody>
      </p:sp>
      <p:sp>
        <p:nvSpPr>
          <p:cNvPr id="10" name="S09-card57"/>
          <p:cNvSpPr/>
          <p:nvPr/>
        </p:nvSpPr>
        <p:spPr>
          <a:xfrm>
            <a:off x="8095488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58"/>
          <p:cNvSpPr txBox="1"/>
          <p:nvPr/>
        </p:nvSpPr>
        <p:spPr>
          <a:xfrm>
            <a:off x="8369808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정리해 봐요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토의 결과를 활동지 4에 정리 글로 써요.</a:t>
            </a:r>
            <a:endParaRPr lang="ko-KR" sz="2800" dirty="0"/>
          </a:p>
        </p:txBody>
      </p:sp>
      <p:sp>
        <p:nvSpPr>
          <p:cNvPr id="4" name="S10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의견만 쓰지 않았나요? 까닭에 기준이 드러나나요?</a:t>
            </a:r>
            <a:endParaRPr lang="ko-KR" sz="2800" dirty="0"/>
          </a:p>
        </p:txBody>
      </p:sp>
      <p:sp>
        <p:nvSpPr>
          <p:cNvPr id="6" name="S10-chip6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주제는 무엇이었나요?</a:t>
            </a:r>
            <a:endParaRPr lang="ko-KR" sz="2800" dirty="0"/>
          </a:p>
        </p:txBody>
      </p:sp>
      <p:sp>
        <p:nvSpPr>
          <p:cNvPr id="8" name="S10-chip6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어떤 의견을 냈나요?</a:t>
            </a:r>
            <a:endParaRPr lang="ko-KR" sz="2800" dirty="0"/>
          </a:p>
        </p:txBody>
      </p:sp>
      <p:sp>
        <p:nvSpPr>
          <p:cNvPr id="10" name="S10-chip6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결정했나요?</a:t>
            </a:r>
            <a:endParaRPr lang="ko-KR" sz="2800" dirty="0"/>
          </a:p>
        </p:txBody>
      </p:sp>
      <p:sp>
        <p:nvSpPr>
          <p:cNvPr id="12" name="S10-chip6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결정했나요?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부분이 다 있고, 까닭에 기준이 드러나면 잘한 거예요.</a:t>
            </a:r>
            <a:endParaRPr lang="ko-KR" sz="2800" dirty="0"/>
          </a:p>
        </p:txBody>
      </p:sp>
      <p:sp>
        <p:nvSpPr>
          <p:cNvPr id="5" name="S11-chip7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73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</a:t>
            </a:r>
            <a:endParaRPr lang="ko-KR" sz="2800" dirty="0"/>
          </a:p>
        </p:txBody>
      </p:sp>
      <p:sp>
        <p:nvSpPr>
          <p:cNvPr id="7" name="S11-text74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아끼는 방법</a:t>
            </a:r>
            <a:endParaRPr lang="ko-KR" sz="2200" dirty="0"/>
          </a:p>
        </p:txBody>
      </p:sp>
      <p:sp>
        <p:nvSpPr>
          <p:cNvPr id="8" name="S11-text75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의견 셋</a:t>
            </a:r>
            <a:endParaRPr lang="ko-KR" sz="2800" dirty="0"/>
          </a:p>
        </p:txBody>
      </p:sp>
      <p:sp>
        <p:nvSpPr>
          <p:cNvPr id="9" name="S11-text76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 모두</a:t>
            </a:r>
            <a:endParaRPr lang="ko-KR" sz="2200" dirty="0"/>
          </a:p>
        </p:txBody>
      </p:sp>
      <p:sp>
        <p:nvSpPr>
          <p:cNvPr id="10" name="S11-text77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+ 까닭</a:t>
            </a:r>
            <a:endParaRPr lang="ko-KR" sz="2800" dirty="0"/>
          </a:p>
        </p:txBody>
      </p:sp>
      <p:sp>
        <p:nvSpPr>
          <p:cNvPr id="11" name="S11-text78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까닭에 기준이 보여요</a:t>
            </a:r>
            <a:endParaRPr lang="ko-KR" sz="2200" dirty="0"/>
          </a:p>
        </p:txBody>
      </p:sp>
      <p:sp>
        <p:nvSpPr>
          <p:cNvPr id="12" name="S11-chip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결정만 씀</a:t>
            </a:r>
            <a:endParaRPr lang="ko-KR" sz="2800" dirty="0"/>
          </a:p>
        </p:txBody>
      </p:sp>
      <p:sp>
        <p:nvSpPr>
          <p:cNvPr id="14" name="S11-text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주제·의견·까닭이 빠졌어요</a:t>
            </a:r>
            <a:endParaRPr lang="ko-KR" sz="2200" dirty="0"/>
          </a:p>
        </p:txBody>
      </p:sp>
      <p:sp>
        <p:nvSpPr>
          <p:cNvPr id="15" name="S11-text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의견만 씀</a:t>
            </a:r>
            <a:endParaRPr lang="ko-KR" sz="2800" dirty="0"/>
          </a:p>
        </p:txBody>
      </p:sp>
      <p:sp>
        <p:nvSpPr>
          <p:cNvPr id="16" name="S11-text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의견을 모두 써요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결정할까요?</a:t>
            </a:r>
            <a:endParaRPr lang="ko-KR" sz="4000" dirty="0"/>
          </a:p>
        </p:txBody>
      </p:sp>
      <p:sp>
        <p:nvSpPr>
          <p:cNvPr id="3" name="S12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견주어 결정과 까닭을 말해 봐요.</a:t>
            </a:r>
            <a:endParaRPr lang="ko-KR" sz="2800" dirty="0"/>
          </a:p>
        </p:txBody>
      </p:sp>
      <p:sp>
        <p:nvSpPr>
          <p:cNvPr id="5" name="S12-passagebox8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2-passage8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주제: 화분에 물 주는 일을 어떻게 나눌까?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아빠: 요일을 정해 번갈아 주자. 누구 차례인지 헷갈리지 않으니까.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생각난 사람이 주면 돼요. 정하지 않아도 되니까 편해요.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언니: 달력에 물 준 날을 표시하자. 두 번 주거나 빠뜨리는 일을 막을 수 있으니까.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8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9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결과는 주제 · 나온 의견 · 결정 · 까닭이 드러나게 정리해요.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결정은 누가 말했는지가 아니라 기준으로 정해요.</a:t>
            </a:r>
            <a:endParaRPr lang="ko-KR" sz="2800" dirty="0"/>
          </a:p>
        </p:txBody>
      </p:sp>
      <p:sp>
        <p:nvSpPr>
          <p:cNvPr id="5" name="S13-chip90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나온 의견을 모두 쓰기</a:t>
            </a:r>
            <a:endParaRPr lang="ko-KR" sz="2200" dirty="0"/>
          </a:p>
        </p:txBody>
      </p:sp>
      <p:sp>
        <p:nvSpPr>
          <p:cNvPr id="6" name="S13-chip91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결정만 쓰기</a:t>
            </a:r>
            <a:endParaRPr lang="ko-KR" sz="2200" dirty="0"/>
          </a:p>
        </p:txBody>
      </p:sp>
      <p:sp>
        <p:nvSpPr>
          <p:cNvPr id="7" name="S13-text92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3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 결과 정리 글의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부분은?</a:t>
            </a:r>
            <a:endParaRPr lang="ko-KR" sz="2200" dirty="0"/>
          </a:p>
        </p:txBody>
      </p:sp>
      <p:sp>
        <p:nvSpPr>
          <p:cNvPr id="9" name="S13-text94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의견을 견주는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두 가지는?</a:t>
            </a:r>
            <a:endParaRPr lang="ko-KR" sz="2200" dirty="0"/>
          </a:p>
        </p:txBody>
      </p:sp>
      <p:sp>
        <p:nvSpPr>
          <p:cNvPr id="10" name="S13-text95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‘어른 의견이니까’가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까닭은?</a:t>
            </a:r>
            <a:endParaRPr lang="ko-KR" sz="2200" dirty="0"/>
          </a:p>
        </p:txBody>
      </p:sp>
      <p:sp>
        <p:nvSpPr>
          <p:cNvPr id="11" name="S13-text9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주장하는 글 쓰기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주장과 근거</a:t>
            </a:r>
            <a:endParaRPr lang="ko-KR" sz="4000" dirty="0"/>
          </a:p>
        </p:txBody>
      </p:sp>
      <p:sp>
        <p:nvSpPr>
          <p:cNvPr id="3" name="S14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주장에 알맞은 근거에 ○, 관련 없는 근거에 × 해요.</a:t>
            </a:r>
            <a:endParaRPr lang="ko-KR" sz="2800" dirty="0"/>
          </a:p>
        </p:txBody>
      </p:sp>
      <p:sp>
        <p:nvSpPr>
          <p:cNvPr id="4" name="S14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‘왜 그래야 하나요?’에 답해야 해요.</a:t>
            </a:r>
            <a:endParaRPr lang="ko-KR" sz="2800" dirty="0"/>
          </a:p>
        </p:txBody>
      </p:sp>
      <p:sp>
        <p:nvSpPr>
          <p:cNvPr id="6" name="S14-word100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잠자기 전에 책을 읽자.</a:t>
            </a:r>
            <a:endParaRPr lang="ko-KR" sz="3200" dirty="0"/>
          </a:p>
        </p:txBody>
      </p:sp>
      <p:sp>
        <p:nvSpPr>
          <p:cNvPr id="7" name="S14-word101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가: 책을 읽으면 아는 낱말이 늘어난다.</a:t>
            </a:r>
            <a:endParaRPr lang="ko-KR" sz="3200" dirty="0"/>
          </a:p>
        </p:txBody>
      </p:sp>
      <p:sp>
        <p:nvSpPr>
          <p:cNvPr id="8" name="S14-word102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나: 우리 집 책장은 갈색이다.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토의 결과 정리</dc:title>
  <dc:subject>KR22-G05-KOR-DEBATE-L01</dc:subject>
  <dc:creator>education-ppt</dc:creator>
  <cp:lastModifiedBy>education-ppt</cp:lastModifiedBy>
  <cp:revision>1</cp:revision>
  <dcterms:created xsi:type="dcterms:W3CDTF">2026-10-26T08:30:04Z</dcterms:created>
  <dcterms:modified xsi:type="dcterms:W3CDTF">2026-10-26T08:30:04Z</dcterms:modified>
</cp:coreProperties>
</file>