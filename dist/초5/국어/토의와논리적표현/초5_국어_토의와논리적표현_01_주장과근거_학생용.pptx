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12ba1df-cae7-ed70-da9e-209815bc6615}">
          <p14:sldIdLst>
            <p14:sldId id="256"/>
            <p14:sldId id="257"/>
          </p14:sldIdLst>
        </p14:section>
        <p14:section name="개념" id="{fc28ed78-8464-8bb1-3abf-1eef860b6eee}">
          <p14:sldIdLst>
            <p14:sldId id="258"/>
            <p14:sldId id="259"/>
            <p14:sldId id="260"/>
            <p14:sldId id="261"/>
          </p14:sldIdLst>
        </p14:section>
        <p14:section name="연습" id="{32323b8c-5e8e-cd81-482e-424a14a3eb13}">
          <p14:sldIdLst>
            <p14:sldId id="262"/>
            <p14:sldId id="263"/>
            <p14:sldId id="264"/>
          </p14:sldIdLst>
        </p14:section>
        <p14:section name="확인" id="{b1e58d1b-3393-c32e-936c-0c3ddb85f94d}">
          <p14:sldIdLst>
            <p14:sldId id="265"/>
            <p14:sldId id="266"/>
          </p14:sldIdLst>
        </p14:section>
        <p14:section name="정리" id="{38760fb6-7efb-5928-8626-417f396e8015}">
          <p14:sldIdLst>
            <p14:sldId id="267"/>
          </p14:sldIdLst>
        </p14:section>
        <p14:section name="보충" id="{a3781f75-9cfe-6e19-7fc5-ae428542cbb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토의와논리적표현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주장과 근거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주장과 근거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주장과 근거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생각을 다른 사람이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믿게 하려면 무엇이 필요할까?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글에서 주장과 근거를 구별할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근거가 알맞은지 세 가지 질문으로 따질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이유를 나누어 봐요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무엇이고, 이유는 무엇인가요?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시간에는 창문을 열어 두면 좋겠어요. 교실 공기가 맑아지기 때문이에요.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도서관에 자주 가고 싶어요. 읽고 싶은 책을 마음껏 빌릴 수 있으니까요.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</a:t>
            </a:r>
            <a:endParaRPr lang="ko-KR" sz="40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4학년의 ‘의견과 이유’가 ‘주장과 근거’로 넓어져요.</a:t>
            </a:r>
            <a:endParaRPr lang="ko-KR" sz="28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주장은 하나, 근거는 여러 개일 수 있어요.</a:t>
            </a:r>
            <a:endParaRPr lang="ko-KR" sz="2800" dirty="0"/>
          </a:p>
        </p:txBody>
      </p:sp>
      <p:sp>
        <p:nvSpPr>
          <p:cNvPr id="6" name="S03-card11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내세우는 생각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~해야 한다 · ~하자</a:t>
            </a:r>
            <a:endParaRPr lang="ko-KR" sz="2800" dirty="0"/>
          </a:p>
        </p:txBody>
      </p:sp>
      <p:sp>
        <p:nvSpPr>
          <p:cNvPr id="8" name="S03-card13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믿게 하는 까닭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 · 첫째 · 둘째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 찾기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글쓴이의 주장은 무엇인가요? 근거는 몇 가지인가요?</a:t>
            </a:r>
            <a:endParaRPr lang="ko-KR" sz="28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걸을 때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길을 걸으면서 휴대 전화 화면을 보는 사람이 많습니다. 하지만 우리는 걸을 때 휴대 전화를 보지 말아야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화면을 보면 앞과 옆을 잘 살피지 못합니다. 그래서 다가오는 자전거나 자동차를 늦게 알아차려 사고가 날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다른 사람과 부딪히기 쉽습니다. 고개를 숙이고 걸으면 마주 오는 사람을 제때 피하지 못합니다.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표로</a:t>
            </a:r>
            <a:endParaRPr lang="ko-KR" sz="4000" dirty="0"/>
          </a:p>
        </p:txBody>
      </p:sp>
      <p:sp>
        <p:nvSpPr>
          <p:cNvPr id="3" name="S05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하나를 근거들이 받쳐 주는 모양이에요.</a:t>
            </a:r>
            <a:endParaRPr lang="ko-KR" sz="2800" dirty="0"/>
          </a:p>
        </p:txBody>
      </p:sp>
      <p:sp>
        <p:nvSpPr>
          <p:cNvPr id="4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‘왜 그래야 하나요?’에 답하는 문장이에요.</a:t>
            </a:r>
            <a:endParaRPr lang="ko-KR" sz="2800" dirty="0"/>
          </a:p>
        </p:txBody>
      </p:sp>
      <p:graphicFrame>
        <p:nvGraphicFramePr>
          <p:cNvPr id="6" name="S05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21280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0467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걸을 때는 휴대 전화를 보지 말아야 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주변을 살피지 못해 사고가 날 수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사람과 부딪히기 쉬워요.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근거인지 따져요</a:t>
            </a:r>
            <a:endParaRPr lang="ko-KR" sz="4000" dirty="0"/>
          </a:p>
        </p:txBody>
      </p:sp>
      <p:sp>
        <p:nvSpPr>
          <p:cNvPr id="3" name="S06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세 가지를 물어봐요.</a:t>
            </a:r>
            <a:endParaRPr lang="ko-KR" sz="2800" dirty="0"/>
          </a:p>
        </p:txBody>
      </p:sp>
      <p:sp>
        <p:nvSpPr>
          <p:cNvPr id="4" name="S06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질문에 모두 ‘네’라고 답할 수 있어야 알맞은 근거예요.</a:t>
            </a:r>
            <a:endParaRPr lang="ko-KR" sz="2800" dirty="0"/>
          </a:p>
        </p:txBody>
      </p:sp>
      <p:sp>
        <p:nvSpPr>
          <p:cNvPr id="6" name="S06-card26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27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관련이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있나요?</a:t>
            </a:r>
            <a:endParaRPr lang="ko-KR" sz="2800" dirty="0"/>
          </a:p>
        </p:txBody>
      </p:sp>
      <p:sp>
        <p:nvSpPr>
          <p:cNvPr id="8" name="S06-card28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29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사실인가요?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있나요?</a:t>
            </a:r>
            <a:endParaRPr lang="ko-KR" sz="2800" dirty="0"/>
          </a:p>
        </p:txBody>
      </p:sp>
      <p:sp>
        <p:nvSpPr>
          <p:cNvPr id="10" name="S06-card30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31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믿을 만함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한 말인가요?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만한가요?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찾아요</a:t>
            </a:r>
            <a:endParaRPr lang="ko-KR" sz="4000" dirty="0"/>
          </a:p>
        </p:txBody>
      </p:sp>
      <p:sp>
        <p:nvSpPr>
          <p:cNvPr id="3" name="S07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주장에는 밑줄, 근거에는 물결줄을 그어요.</a:t>
            </a:r>
            <a:endParaRPr lang="ko-KR" sz="2800" dirty="0"/>
          </a:p>
        </p:txBody>
      </p:sp>
      <p:sp>
        <p:nvSpPr>
          <p:cNvPr id="4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‘~하자’는 주장, ‘왜 그래야 하나요?’에 답하는 말은 근거예요.</a:t>
            </a:r>
            <a:endParaRPr lang="ko-KR" sz="2800" dirty="0"/>
          </a:p>
        </p:txBody>
      </p:sp>
      <p:sp>
        <p:nvSpPr>
          <p:cNvPr id="6" name="S07-chip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3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교실에서는 실내화를 신자. 바깥의 흙과 먼지가 교실에 들어오지 않기 때문이다.</a:t>
            </a:r>
            <a:endParaRPr lang="ko-KR" sz="2800" dirty="0"/>
          </a:p>
        </p:txBody>
      </p:sp>
      <p:sp>
        <p:nvSpPr>
          <p:cNvPr id="8" name="S07-chip3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3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급식을 남기지 말자. 음식물 쓰레기가 줄고, 음식을 만든 분들의 수고도 헛되지 않는다.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근거가 알맞을까?</a:t>
            </a:r>
            <a:endParaRPr lang="ko-KR" sz="4000" dirty="0"/>
          </a:p>
        </p:txBody>
      </p:sp>
      <p:sp>
        <p:nvSpPr>
          <p:cNvPr id="3" name="S08-card3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‘걸을 때는 휴대 전화를 보지 말아야 한다’에 두 친구가 근거를 하나씩 더 썼어요.</a:t>
            </a:r>
            <a:endParaRPr lang="ko-KR" sz="2800" dirty="0"/>
          </a:p>
        </p:txBody>
      </p:sp>
      <p:sp>
        <p:nvSpPr>
          <p:cNvPr id="5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근거가 알맞나요? 세 질문으로 따져 봐요.</a:t>
            </a:r>
            <a:endParaRPr lang="ko-KR" sz="2800" dirty="0"/>
          </a:p>
        </p:txBody>
      </p:sp>
      <p:sp>
        <p:nvSpPr>
          <p:cNvPr id="7" name="S08-chip43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4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요즘 휴대 전화는 사진이 아주 잘 찍히기 때문이다.</a:t>
            </a:r>
            <a:endParaRPr lang="ko-KR" sz="2800" dirty="0"/>
          </a:p>
        </p:txBody>
      </p:sp>
      <p:sp>
        <p:nvSpPr>
          <p:cNvPr id="9" name="S08-chip45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6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길의 신호등이나 안내판을 못 보고 지나칠 수 있기 때문이다.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근거일까요?</a:t>
            </a:r>
            <a:endParaRPr lang="ko-KR" sz="4000" dirty="0"/>
          </a:p>
        </p:txBody>
      </p:sp>
      <p:sp>
        <p:nvSpPr>
          <p:cNvPr id="3" name="S09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학교에 개인 물병을 가지고 다니자.</a:t>
            </a:r>
            <a:endParaRPr lang="ko-KR" sz="2800" dirty="0"/>
          </a:p>
        </p:txBody>
      </p:sp>
      <p:sp>
        <p:nvSpPr>
          <p:cNvPr id="4" name="S09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· 사실 · 믿을 만함 가운데 어디에 걸리나요?</a:t>
            </a:r>
            <a:endParaRPr lang="ko-KR" sz="2800" dirty="0"/>
          </a:p>
        </p:txBody>
      </p:sp>
      <p:sp>
        <p:nvSpPr>
          <p:cNvPr id="6" name="S09-chip5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목이 마를 때 바로 물을 마실 수 있다.</a:t>
            </a:r>
            <a:endParaRPr lang="ko-KR" sz="2800" dirty="0"/>
          </a:p>
        </p:txBody>
      </p:sp>
      <p:sp>
        <p:nvSpPr>
          <p:cNvPr id="8" name="S09-chip5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친구가 물병이 멋있어 보인다고 했다.</a:t>
            </a:r>
            <a:endParaRPr lang="ko-KR" sz="2800" dirty="0"/>
          </a:p>
        </p:txBody>
      </p:sp>
      <p:sp>
        <p:nvSpPr>
          <p:cNvPr id="10" name="S09-chip5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5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일회용 컵을 덜 쓰게 된다.</a:t>
            </a:r>
            <a:endParaRPr lang="ko-KR" sz="2800" dirty="0"/>
          </a:p>
        </p:txBody>
      </p:sp>
      <p:sp>
        <p:nvSpPr>
          <p:cNvPr id="12" name="S09-chip5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text5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마시면 키가 하루에 1 cm씩 자란다.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찾고, 알맞지 않은 근거를 골라 까닭을 말해요.</a:t>
            </a:r>
            <a:endParaRPr lang="ko-KR" sz="2800" dirty="0"/>
          </a:p>
        </p:txBody>
      </p:sp>
      <p:sp>
        <p:nvSpPr>
          <p:cNvPr id="5" name="S10-passagebox6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6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아침밥을 거르고 학교에 가는 어린이가 있습니다. 하지만 우리는 아침밥을 꼭 먹어야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아침밥을 먹으면 오전에 공부하고 움직일 힘을 얻을 수 있습니다. 밤새 비어 있던 배를 채워야 수업 시간에 기운이 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아침밥을 먹으면 누구나 한 달에 키가 10 cm씩 자랍니다. 셋째, 아침 식탁에 오르는 빵은 모양과 맛이 여러 가지입니다.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알맞은 근거는?</a:t>
            </a:r>
            <a:endParaRPr lang="ko-KR" sz="4000" dirty="0"/>
          </a:p>
        </p:txBody>
      </p:sp>
      <p:sp>
        <p:nvSpPr>
          <p:cNvPr id="3" name="S12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더운 날에는 물을 자주 마시자.</a:t>
            </a:r>
            <a:endParaRPr lang="ko-KR" sz="2800" dirty="0"/>
          </a:p>
        </p:txBody>
      </p:sp>
      <p:sp>
        <p:nvSpPr>
          <p:cNvPr id="4" name="S12-chip6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6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반 친구가 물을 마시면 달리기가 빨라진다고 했다.</a:t>
            </a:r>
            <a:endParaRPr lang="ko-KR" sz="2800" dirty="0"/>
          </a:p>
        </p:txBody>
      </p:sp>
      <p:sp>
        <p:nvSpPr>
          <p:cNvPr id="6" name="S12-chip6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6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 선생님께서 더운 날에는 땀으로 몸의 물이 많이 빠져나간다고 알려 주셨다.</a:t>
            </a:r>
            <a:endParaRPr lang="ko-KR" sz="2800" dirty="0"/>
          </a:p>
        </p:txBody>
      </p:sp>
      <p:sp>
        <p:nvSpPr>
          <p:cNvPr id="8" name="S12-chip6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6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색이 없고 투명해서 보기 좋다.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6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주장은 내세우는 생각, 근거는 주장을 받쳐 주는 까닭이에요.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관련 · 사실 · 믿을 만함으로 따져요.</a:t>
            </a:r>
            <a:endParaRPr lang="ko-KR" sz="2800" dirty="0"/>
          </a:p>
        </p:txBody>
      </p:sp>
      <p:sp>
        <p:nvSpPr>
          <p:cNvPr id="5" name="S13-chip7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세 질문으로 따지기</a:t>
            </a:r>
            <a:endParaRPr lang="ko-KR" sz="2200" dirty="0"/>
          </a:p>
        </p:txBody>
      </p:sp>
      <p:sp>
        <p:nvSpPr>
          <p:cNvPr id="6" name="S13-chip7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관련 없는 까닭 쓰기</a:t>
            </a:r>
            <a:endParaRPr lang="ko-KR" sz="2200" dirty="0"/>
          </a:p>
        </p:txBody>
      </p:sp>
      <p:sp>
        <p:nvSpPr>
          <p:cNvPr id="7" name="S13-text7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7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주장과 근거의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9" name="S13-text7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근거를 따지는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질문은?</a:t>
            </a:r>
            <a:endParaRPr lang="ko-KR" sz="2200" dirty="0"/>
          </a:p>
        </p:txBody>
      </p:sp>
      <p:sp>
        <p:nvSpPr>
          <p:cNvPr id="10" name="S13-text7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‘물을 마시면 하루에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cm씩 자란다’의 문제는?</a:t>
            </a:r>
            <a:endParaRPr lang="ko-KR" sz="2200" dirty="0"/>
          </a:p>
        </p:txBody>
      </p:sp>
      <p:sp>
        <p:nvSpPr>
          <p:cNvPr id="11" name="S13-text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토의 결과 정리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의견과 이유</a:t>
            </a:r>
            <a:endParaRPr lang="ko-KR" sz="4000" dirty="0"/>
          </a:p>
        </p:txBody>
      </p:sp>
      <p:sp>
        <p:nvSpPr>
          <p:cNvPr id="3" name="S14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의견에 ○, 이유에 △ 해 봐요.</a:t>
            </a:r>
            <a:endParaRPr lang="ko-KR" sz="2800" dirty="0"/>
          </a:p>
        </p:txBody>
      </p:sp>
      <p:sp>
        <p:nvSpPr>
          <p:cNvPr id="4" name="S14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‘~하면 좋겠어요’는 의견, ‘~거든요, ~니까요’는 이유예요.</a:t>
            </a:r>
            <a:endParaRPr lang="ko-KR" sz="2800" dirty="0"/>
          </a:p>
        </p:txBody>
      </p:sp>
      <p:sp>
        <p:nvSpPr>
          <p:cNvPr id="6" name="S14-word81"/>
          <p:cNvSpPr txBox="1"/>
          <p:nvPr/>
        </p:nvSpPr>
        <p:spPr>
          <a:xfrm>
            <a:off x="548640" y="201168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 그늘막이 있으면 좋겠어요.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햇볕이 너무 뜨겁거든요.</a:t>
            </a:r>
            <a:endParaRPr lang="ko-KR" sz="3200" dirty="0"/>
          </a:p>
        </p:txBody>
      </p:sp>
      <p:sp>
        <p:nvSpPr>
          <p:cNvPr id="7" name="S14-word82"/>
          <p:cNvSpPr txBox="1"/>
          <p:nvPr/>
        </p:nvSpPr>
        <p:spPr>
          <a:xfrm>
            <a:off x="548640" y="370332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화분마다 이름표를 붙여요.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물을 줄지 헷갈리지 않으니까요.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주장과 근거</dc:title>
  <dc:subject>KR22-G05-KOR-CLAIM-L01</dc:subject>
  <dc:creator>education-ppt</dc:creator>
  <cp:lastModifiedBy>education-ppt</cp:lastModifiedBy>
  <cp:revision>1</cp:revision>
  <dcterms:created xsi:type="dcterms:W3CDTF">2026-10-26T08:25:26Z</dcterms:created>
  <dcterms:modified xsi:type="dcterms:W3CDTF">2026-10-26T08:25:26Z</dcterms:modified>
</cp:coreProperties>
</file>