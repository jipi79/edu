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2f50c77b-6a76-f4ea-f7c2-49ce2e56618b}">
          <p14:sldIdLst>
            <p14:sldId id="256"/>
            <p14:sldId id="257"/>
          </p14:sldIdLst>
        </p14:section>
        <p14:section name="개념" id="{991e4a6a-8b52-e99e-20f1-430e69425957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d477489f-fe57-50c2-a1dc-79ccdca8098d}">
          <p14:sldIdLst>
            <p14:sldId id="263"/>
            <p14:sldId id="264"/>
          </p14:sldIdLst>
        </p14:section>
        <p14:section name="확인" id="{ce104060-945c-b2b4-a679-9acc8f77fb06}">
          <p14:sldIdLst>
            <p14:sldId id="265"/>
            <p14:sldId id="266"/>
          </p14:sldIdLst>
        </p14:section>
        <p14:section name="정리" id="{b63ca60a-3a7d-e7c3-c0a7-47f66f4df304}">
          <p14:sldIdLst>
            <p14:sldId id="267"/>
          </p14:sldIdLst>
        </p14:section>
        <p14:section name="보충" id="{b3117640-2078-da34-6011-ff98d711e48b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토의와논리적표현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토의 결과 정리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토의 결과 정리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국어 · 토의 결과 정리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토의 결과 정리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여럿이 나눈 의견을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하나로 정리할까?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토의에서 나온 의견을 기준으로 견줄 수 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토의 결과를 주제·의견·결정·까닭이 드러나게 쓸 수 있어요.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근거는?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주장: 저녁을 먹은 뒤 가족이 함께 걷자.</a:t>
            </a:r>
            <a:endParaRPr lang="ko-KR" sz="2800" dirty="0"/>
          </a:p>
        </p:txBody>
      </p:sp>
      <p:sp>
        <p:nvSpPr>
          <p:cNvPr id="4" name="S02-card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2-cardtext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근거가 주장과 관련이 있나요? 사실인가요?</a:t>
            </a:r>
            <a:endParaRPr lang="ko-KR" sz="28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걸으면 몸을 움직이게 되어 건강에 도움이 된다.</a:t>
            </a:r>
            <a:endParaRPr lang="ko-KR" sz="28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동네 길가의 가로등은 모양이 예쁘다.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토의 결과 정리 글의 네 부분</a:t>
            </a:r>
            <a:endParaRPr lang="ko-KR" sz="40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토의 결과를 정리할 때 이 네 가지를 써요.</a:t>
            </a:r>
            <a:endParaRPr lang="ko-KR" sz="2800" dirty="0"/>
          </a:p>
        </p:txBody>
      </p:sp>
      <p:sp>
        <p:nvSpPr>
          <p:cNvPr id="5" name="S03-card12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3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주제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두고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이야기했나요?</a:t>
            </a:r>
            <a:endParaRPr lang="ko-KR" sz="2800" dirty="0"/>
          </a:p>
        </p:txBody>
      </p:sp>
      <p:sp>
        <p:nvSpPr>
          <p:cNvPr id="7" name="S03-card14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5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나온 의견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어떤 의견과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근거를 냈나요?</a:t>
            </a:r>
            <a:endParaRPr lang="ko-KR" sz="2800" dirty="0"/>
          </a:p>
        </p:txBody>
      </p:sp>
      <p:sp>
        <p:nvSpPr>
          <p:cNvPr id="9" name="S03-card16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0" name="S03-cardtext17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결정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무엇으로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정했나요?</a:t>
            </a:r>
            <a:endParaRPr lang="ko-KR" sz="2800" dirty="0"/>
          </a:p>
        </p:txBody>
      </p:sp>
      <p:sp>
        <p:nvSpPr>
          <p:cNvPr id="11" name="S03-card18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2" name="S03-cardtext19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까닭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그렇게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정했나요?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서준이네 가족 토의</a:t>
            </a:r>
            <a:endParaRPr lang="ko-KR" sz="4000" dirty="0"/>
          </a:p>
        </p:txBody>
      </p:sp>
      <p:sp>
        <p:nvSpPr>
          <p:cNvPr id="3" name="S04-card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사람의 의견과 근거를 찾아봐요.</a:t>
            </a:r>
            <a:endParaRPr lang="ko-KR" sz="2800" dirty="0"/>
          </a:p>
        </p:txBody>
      </p:sp>
      <p:sp>
        <p:nvSpPr>
          <p:cNvPr id="5" name="S04-passagebox22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23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토의 주제: 거실을 깨끗하게 쓰려면?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엄마: 쓴 물건은 쓴 사람이 바로 제자리에 두자. 그러면 어질러질 틈이 없으니까.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서준: 거실에 바구니를 두고, 자기 전에 각자 물건을 담아요. 바로 치우는 건 자꾸 잊어버리니까요.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이모(영상 통화): 일요일마다 다 같이 대청소를 하면 어때? 한 번에 깨끗해지잖아.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기준으로 의견을 견주어요</a:t>
            </a:r>
            <a:endParaRPr lang="ko-KR" sz="4000" dirty="0"/>
          </a:p>
        </p:txBody>
      </p:sp>
      <p:sp>
        <p:nvSpPr>
          <p:cNvPr id="3" name="S05-text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기준: 문제를 해결하나요? 모두 지킬 수 있나요?</a:t>
            </a:r>
            <a:endParaRPr lang="ko-KR" sz="2800" dirty="0"/>
          </a:p>
        </p:txBody>
      </p:sp>
      <p:sp>
        <p:nvSpPr>
          <p:cNvPr id="4" name="S05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말했는지가 아니라 기준으로 견주어요.</a:t>
            </a:r>
            <a:endParaRPr lang="ko-KR" sz="2800" dirty="0"/>
          </a:p>
        </p:txBody>
      </p:sp>
      <p:graphicFrame>
        <p:nvGraphicFramePr>
          <p:cNvPr id="6" name="S05-table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700020"/>
          <a:ext cx="10972800" cy="914400"/>
        </p:xfrm>
        <a:graphic>
          <a:graphicData uri="http://schemas.openxmlformats.org/drawingml/2006/table">
            <a:tbl>
              <a:tblPr/>
              <a:tblGrid>
                <a:gridCol w="3072384"/>
                <a:gridCol w="3950208"/>
                <a:gridCol w="3950208"/>
              </a:tblGrid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의견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좋은 점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아쉬운 점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바로 제자리에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늘 깨끗해요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자꾸 잊어요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자기 전 바구니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잊어도 날마다 치워요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낮에는 조금 어질러요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일요일 대청소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번에 깨끗해요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평일엔 어질러진 채예요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서준이가 쓴 정리 글</a:t>
            </a:r>
            <a:endParaRPr lang="ko-KR" sz="4000" dirty="0"/>
          </a:p>
        </p:txBody>
      </p:sp>
      <p:sp>
        <p:nvSpPr>
          <p:cNvPr id="3" name="S06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결정은 세 의견 가운데 무엇을 합친 것인가요?</a:t>
            </a:r>
            <a:endParaRPr lang="ko-KR" sz="2800" dirty="0"/>
          </a:p>
        </p:txBody>
      </p:sp>
      <p:sp>
        <p:nvSpPr>
          <p:cNvPr id="5" name="S06-passagebox30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6-passage31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토의 결과 정리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주제: 거실을 깨끗하게 쓰려면 어떻게 할까?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나온 의견: 제자리에 두기(엄마), 바구니에 담기(나), 대청소(이모)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결정: 바로 제자리에 두고, 못 치운 것은 자기 전에 바구니에 담는다.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까닭: 날마다 깨끗하게 할 수 있고, 잊어도 자기 전에 한 번 더 치울 수 있기 때문이다.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토의 결과를 정리하는 순서</a:t>
            </a:r>
            <a:endParaRPr lang="ko-KR" sz="4000" dirty="0"/>
          </a:p>
        </p:txBody>
      </p:sp>
      <p:sp>
        <p:nvSpPr>
          <p:cNvPr id="3" name="S07-card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의견만 쓰지 말고, 나온 의견을 모두 써요.</a:t>
            </a:r>
            <a:endParaRPr lang="ko-KR" sz="2800" dirty="0"/>
          </a:p>
        </p:txBody>
      </p:sp>
      <p:sp>
        <p:nvSpPr>
          <p:cNvPr id="5" name="S07-stepno34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07-text35"/>
          <p:cNvSpPr txBox="1"/>
          <p:nvPr/>
        </p:nvSpPr>
        <p:spPr>
          <a:xfrm>
            <a:off x="1325880" y="18790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주제를 한 문장으로 써요.</a:t>
            </a:r>
            <a:endParaRPr lang="ko-KR" sz="2800" dirty="0"/>
          </a:p>
        </p:txBody>
      </p:sp>
      <p:sp>
        <p:nvSpPr>
          <p:cNvPr id="7" name="S07-stepno36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07-text37"/>
          <p:cNvSpPr txBox="1"/>
          <p:nvPr/>
        </p:nvSpPr>
        <p:spPr>
          <a:xfrm>
            <a:off x="1325880" y="25923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나온 의견을 누가, 무엇을 말했는지 모두 써요.</a:t>
            </a:r>
            <a:endParaRPr lang="ko-KR" sz="2800" dirty="0"/>
          </a:p>
        </p:txBody>
      </p:sp>
      <p:sp>
        <p:nvSpPr>
          <p:cNvPr id="9" name="S07-stepno38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07-text39"/>
          <p:cNvSpPr txBox="1"/>
          <p:nvPr/>
        </p:nvSpPr>
        <p:spPr>
          <a:xfrm>
            <a:off x="1325880" y="33055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기준으로 견주어 결정을 정해요.</a:t>
            </a:r>
            <a:endParaRPr lang="ko-KR" sz="2800" dirty="0"/>
          </a:p>
        </p:txBody>
      </p:sp>
      <p:sp>
        <p:nvSpPr>
          <p:cNvPr id="11" name="S07-stepno40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2" name="S07-text41"/>
          <p:cNvSpPr txBox="1"/>
          <p:nvPr/>
        </p:nvSpPr>
        <p:spPr>
          <a:xfrm>
            <a:off x="1325880" y="4018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결정과 그 까닭을 써요.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까닭이 알맞을까?</a:t>
            </a:r>
            <a:endParaRPr lang="ko-KR" sz="4000" dirty="0"/>
          </a:p>
        </p:txBody>
      </p:sp>
      <p:sp>
        <p:nvSpPr>
          <p:cNvPr id="3" name="S08-card4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4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서준이네 토의의 결정 까닭을 두 친구가 이렇게 썼어요.</a:t>
            </a:r>
            <a:endParaRPr lang="ko-KR" sz="2800" dirty="0"/>
          </a:p>
        </p:txBody>
      </p:sp>
      <p:sp>
        <p:nvSpPr>
          <p:cNvPr id="5" name="S08-card4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4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까닭이 알맞나요? 왜 그럴까요?</a:t>
            </a:r>
            <a:endParaRPr lang="ko-KR" sz="2800" dirty="0"/>
          </a:p>
        </p:txBody>
      </p:sp>
      <p:sp>
        <p:nvSpPr>
          <p:cNvPr id="7" name="S08-chip46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8-text47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 의견으로 정했다. 엄마는 어른이니까.</a:t>
            </a:r>
            <a:endParaRPr lang="ko-KR" sz="2800" dirty="0"/>
          </a:p>
        </p:txBody>
      </p:sp>
      <p:sp>
        <p:nvSpPr>
          <p:cNvPr id="9" name="S08-chip48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8-text49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바구니에 담기로 정했다. 잊어도 날마다 지킬 수 있으니까.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토의를 해 봐요</a:t>
            </a:r>
            <a:endParaRPr lang="ko-KR" sz="4000" dirty="0"/>
          </a:p>
        </p:txBody>
      </p:sp>
      <p:sp>
        <p:nvSpPr>
          <p:cNvPr id="3" name="S09-text5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토의 주제: 우리 집에서 물을 아끼려면 어떻게 할까?</a:t>
            </a:r>
            <a:endParaRPr lang="ko-KR" sz="2800" dirty="0"/>
          </a:p>
        </p:txBody>
      </p:sp>
      <p:sp>
        <p:nvSpPr>
          <p:cNvPr id="4" name="S09-card5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5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의견마다 근거를 함께 말하고, 활동지 3에 적어요.</a:t>
            </a:r>
            <a:endParaRPr lang="ko-KR" sz="2800" dirty="0"/>
          </a:p>
        </p:txBody>
      </p:sp>
      <p:sp>
        <p:nvSpPr>
          <p:cNvPr id="6" name="S09-card53"/>
          <p:cNvSpPr/>
          <p:nvPr/>
        </p:nvSpPr>
        <p:spPr>
          <a:xfrm>
            <a:off x="548640" y="2464816"/>
            <a:ext cx="3544824" cy="2202688"/>
          </a:xfrm>
          <a:prstGeom prst="roundRect">
            <a:avLst>
              <a:gd name="adj" fmla="val 498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9-cardtext54"/>
          <p:cNvSpPr txBox="1"/>
          <p:nvPr/>
        </p:nvSpPr>
        <p:spPr>
          <a:xfrm>
            <a:off x="822960" y="2601976"/>
            <a:ext cx="2996184" cy="192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속 민규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양치할 때 컵에 물을 받아 써요.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물을 틀어 놓지 않아도 되니까요.</a:t>
            </a:r>
            <a:endParaRPr lang="ko-KR" sz="2800" dirty="0"/>
          </a:p>
        </p:txBody>
      </p:sp>
      <p:sp>
        <p:nvSpPr>
          <p:cNvPr id="8" name="S09-card55"/>
          <p:cNvSpPr/>
          <p:nvPr/>
        </p:nvSpPr>
        <p:spPr>
          <a:xfrm>
            <a:off x="4322064" y="2464816"/>
            <a:ext cx="3544824" cy="2202688"/>
          </a:xfrm>
          <a:prstGeom prst="roundRect">
            <a:avLst>
              <a:gd name="adj" fmla="val 498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9-cardtext56"/>
          <p:cNvSpPr txBox="1"/>
          <p:nvPr/>
        </p:nvSpPr>
        <p:spPr>
          <a:xfrm>
            <a:off x="4596384" y="2601976"/>
            <a:ext cx="2996184" cy="192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의견: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근거:</a:t>
            </a:r>
            <a:endParaRPr lang="ko-KR" sz="2800" dirty="0"/>
          </a:p>
        </p:txBody>
      </p:sp>
      <p:sp>
        <p:nvSpPr>
          <p:cNvPr id="10" name="S09-card57"/>
          <p:cNvSpPr/>
          <p:nvPr/>
        </p:nvSpPr>
        <p:spPr>
          <a:xfrm>
            <a:off x="8095488" y="2464816"/>
            <a:ext cx="3544824" cy="2202688"/>
          </a:xfrm>
          <a:prstGeom prst="roundRect">
            <a:avLst>
              <a:gd name="adj" fmla="val 498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09-cardtext58"/>
          <p:cNvSpPr txBox="1"/>
          <p:nvPr/>
        </p:nvSpPr>
        <p:spPr>
          <a:xfrm>
            <a:off x="8369808" y="2601976"/>
            <a:ext cx="2996184" cy="192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의견: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근거: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정리해 봐요</a:t>
            </a:r>
            <a:endParaRPr lang="ko-KR" sz="4000" dirty="0"/>
          </a:p>
        </p:txBody>
      </p:sp>
      <p:sp>
        <p:nvSpPr>
          <p:cNvPr id="3" name="S10-text5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토의 결과를 활동지 4에 정리 글로 써요.</a:t>
            </a:r>
            <a:endParaRPr lang="ko-KR" sz="2800" dirty="0"/>
          </a:p>
        </p:txBody>
      </p:sp>
      <p:sp>
        <p:nvSpPr>
          <p:cNvPr id="4" name="S10-card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의견만 쓰지 않았나요? 까닭에 기준이 드러나나요?</a:t>
            </a:r>
            <a:endParaRPr lang="ko-KR" sz="2800" dirty="0"/>
          </a:p>
        </p:txBody>
      </p:sp>
      <p:sp>
        <p:nvSpPr>
          <p:cNvPr id="6" name="S10-chip62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0-text63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주제는 무엇이었나요?</a:t>
            </a:r>
            <a:endParaRPr lang="ko-KR" sz="2800" dirty="0"/>
          </a:p>
        </p:txBody>
      </p:sp>
      <p:sp>
        <p:nvSpPr>
          <p:cNvPr id="8" name="S10-chip64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0-text65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어떤 의견을 냈나요?</a:t>
            </a:r>
            <a:endParaRPr lang="ko-KR" sz="2800" dirty="0"/>
          </a:p>
        </p:txBody>
      </p:sp>
      <p:sp>
        <p:nvSpPr>
          <p:cNvPr id="10" name="S10-chip66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0-text67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무엇으로 결정했나요?</a:t>
            </a:r>
            <a:endParaRPr lang="ko-KR" sz="2800" dirty="0"/>
          </a:p>
        </p:txBody>
      </p:sp>
      <p:sp>
        <p:nvSpPr>
          <p:cNvPr id="12" name="S10-chip68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10-text69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그렇게 결정했나요?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무엇으로 결정할까요?</a:t>
            </a:r>
            <a:endParaRPr lang="ko-KR" sz="4000" dirty="0"/>
          </a:p>
        </p:txBody>
      </p:sp>
      <p:sp>
        <p:nvSpPr>
          <p:cNvPr id="3" name="S12-card7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2-cardtext7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기준으로 견주어 결정과 까닭을 말해 봐요.</a:t>
            </a:r>
            <a:endParaRPr lang="ko-KR" sz="2800" dirty="0"/>
          </a:p>
        </p:txBody>
      </p:sp>
      <p:sp>
        <p:nvSpPr>
          <p:cNvPr id="5" name="S12-passagebox72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2-passage73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토의 주제: 화분에 물 주는 일을 어떻게 나눌까?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아빠: 요일을 정해 번갈아 주자. 누구 차례인지 헷갈리지 않으니까.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나: 생각난 사람이 주면 돼요. 정하지 않아도 되니까 편해요.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언니: 달력에 물 준 날을 표시하자. 두 번 주거나 빠뜨리는 일을 막을 수 있으니까.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74"/>
          <p:cNvSpPr/>
          <p:nvPr/>
        </p:nvSpPr>
        <p:spPr>
          <a:xfrm>
            <a:off x="548640" y="1325880"/>
            <a:ext cx="11091672" cy="1630680"/>
          </a:xfrm>
          <a:prstGeom prst="roundRect">
            <a:avLst>
              <a:gd name="adj" fmla="val 6729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75"/>
          <p:cNvSpPr txBox="1"/>
          <p:nvPr/>
        </p:nvSpPr>
        <p:spPr>
          <a:xfrm>
            <a:off x="822960" y="1463040"/>
            <a:ext cx="10543032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토의 결과는 주제 · 나온 의견 · 결정 · 까닭이 드러나게 정리해요.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결정은 누가 말했는지가 아니라 기준으로 정해요.</a:t>
            </a:r>
            <a:endParaRPr lang="ko-KR" sz="2800" dirty="0"/>
          </a:p>
        </p:txBody>
      </p:sp>
      <p:sp>
        <p:nvSpPr>
          <p:cNvPr id="5" name="S13-chip76"/>
          <p:cNvSpPr txBox="1"/>
          <p:nvPr/>
        </p:nvSpPr>
        <p:spPr>
          <a:xfrm>
            <a:off x="548640" y="3185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나온 의견을 모두 쓰기</a:t>
            </a:r>
            <a:endParaRPr lang="ko-KR" sz="2200" dirty="0"/>
          </a:p>
        </p:txBody>
      </p:sp>
      <p:sp>
        <p:nvSpPr>
          <p:cNvPr id="6" name="S13-chip77"/>
          <p:cNvSpPr txBox="1"/>
          <p:nvPr/>
        </p:nvSpPr>
        <p:spPr>
          <a:xfrm>
            <a:off x="6208776" y="3185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결정만 쓰기</a:t>
            </a:r>
            <a:endParaRPr lang="ko-KR" sz="2200" dirty="0"/>
          </a:p>
        </p:txBody>
      </p:sp>
      <p:sp>
        <p:nvSpPr>
          <p:cNvPr id="7" name="S13-text78"/>
          <p:cNvSpPr txBox="1"/>
          <p:nvPr/>
        </p:nvSpPr>
        <p:spPr>
          <a:xfrm>
            <a:off x="548640" y="4008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79"/>
          <p:cNvSpPr txBox="1"/>
          <p:nvPr/>
        </p:nvSpPr>
        <p:spPr>
          <a:xfrm>
            <a:off x="548640" y="4511040"/>
            <a:ext cx="354482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토의 결과 정리 글의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부분은?</a:t>
            </a:r>
            <a:endParaRPr lang="ko-KR" sz="2200" dirty="0"/>
          </a:p>
        </p:txBody>
      </p:sp>
      <p:sp>
        <p:nvSpPr>
          <p:cNvPr id="9" name="S13-text80"/>
          <p:cNvSpPr txBox="1"/>
          <p:nvPr/>
        </p:nvSpPr>
        <p:spPr>
          <a:xfrm>
            <a:off x="4322064" y="4511040"/>
            <a:ext cx="354482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의견을 견주는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두 가지는?</a:t>
            </a:r>
            <a:endParaRPr lang="ko-KR" sz="2200" dirty="0"/>
          </a:p>
        </p:txBody>
      </p:sp>
      <p:sp>
        <p:nvSpPr>
          <p:cNvPr id="10" name="S13-text81"/>
          <p:cNvSpPr txBox="1"/>
          <p:nvPr/>
        </p:nvSpPr>
        <p:spPr>
          <a:xfrm>
            <a:off x="8095488" y="4511040"/>
            <a:ext cx="354482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‘어른 의견이니까’가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알맞지 않은 까닭은?</a:t>
            </a:r>
            <a:endParaRPr lang="ko-KR" sz="2200" dirty="0"/>
          </a:p>
        </p:txBody>
      </p:sp>
      <p:sp>
        <p:nvSpPr>
          <p:cNvPr id="11" name="S13-text8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주장하는 글 쓰기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주장과 근거</a:t>
            </a:r>
            <a:endParaRPr lang="ko-KR" sz="4000" dirty="0"/>
          </a:p>
        </p:txBody>
      </p:sp>
      <p:sp>
        <p:nvSpPr>
          <p:cNvPr id="3" name="S14-text8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주장에 알맞은 근거에 ○, 관련 없는 근거에 × 해요.</a:t>
            </a:r>
            <a:endParaRPr lang="ko-KR" sz="2800" dirty="0"/>
          </a:p>
        </p:txBody>
      </p:sp>
      <p:sp>
        <p:nvSpPr>
          <p:cNvPr id="4" name="S14-card8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8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근거는 ‘왜 그래야 하나요?’에 답해야 해요.</a:t>
            </a:r>
            <a:endParaRPr lang="ko-KR" sz="2800" dirty="0"/>
          </a:p>
        </p:txBody>
      </p:sp>
      <p:sp>
        <p:nvSpPr>
          <p:cNvPr id="6" name="S14-word86"/>
          <p:cNvSpPr txBox="1"/>
          <p:nvPr/>
        </p:nvSpPr>
        <p:spPr>
          <a:xfrm>
            <a:off x="548640" y="201168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주장: 잠자기 전에 책을 읽자.</a:t>
            </a:r>
            <a:endParaRPr lang="ko-KR" sz="3200" dirty="0"/>
          </a:p>
        </p:txBody>
      </p:sp>
      <p:sp>
        <p:nvSpPr>
          <p:cNvPr id="7" name="S14-word87"/>
          <p:cNvSpPr txBox="1"/>
          <p:nvPr/>
        </p:nvSpPr>
        <p:spPr>
          <a:xfrm>
            <a:off x="548640" y="313944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가: 책을 읽으면 아는 낱말이 늘어난다.</a:t>
            </a:r>
            <a:endParaRPr lang="ko-KR" sz="3200" dirty="0"/>
          </a:p>
        </p:txBody>
      </p:sp>
      <p:sp>
        <p:nvSpPr>
          <p:cNvPr id="8" name="S14-word88"/>
          <p:cNvSpPr txBox="1"/>
          <p:nvPr/>
        </p:nvSpPr>
        <p:spPr>
          <a:xfrm>
            <a:off x="548640" y="426720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나: 우리 집 책장은 갈색이다.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국어 토의 결과 정리</dc:title>
  <dc:subject>KR22-G05-KOR-DEBATE-L01</dc:subject>
  <dc:creator>education-ppt</dc:creator>
  <cp:lastModifiedBy>education-ppt</cp:lastModifiedBy>
  <cp:revision>1</cp:revision>
  <dcterms:created xsi:type="dcterms:W3CDTF">2026-10-26T08:30:04Z</dcterms:created>
  <dcterms:modified xsi:type="dcterms:W3CDTF">2026-10-26T08:30:04Z</dcterms:modified>
</cp:coreProperties>
</file>