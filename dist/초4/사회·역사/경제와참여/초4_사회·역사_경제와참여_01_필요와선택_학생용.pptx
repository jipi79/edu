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36d58df-0ba0-a9bf-106c-467af9cde8fd}">
          <p14:sldIdLst>
            <p14:sldId id="256"/>
            <p14:sldId id="257"/>
          </p14:sldIdLst>
        </p14:section>
        <p14:section name="개념" id="{e7e8489f-e557-2fbb-e309-2ae94eaaf478}">
          <p14:sldIdLst>
            <p14:sldId id="258"/>
            <p14:sldId id="259"/>
            <p14:sldId id="262"/>
            <p14:sldId id="263"/>
          </p14:sldIdLst>
        </p14:section>
        <p14:section name="연습" id="{89f5d900-1b43-1b18-18ce-ba552c61540f}">
          <p14:sldIdLst>
            <p14:sldId id="260"/>
            <p14:sldId id="261"/>
            <p14:sldId id="264"/>
            <p14:sldId id="265"/>
          </p14:sldIdLst>
        </p14:section>
        <p14:section name="개념" id="{6655d6a8-6227-0bb6-43d5-29b773fc3be4}">
          <p14:sldIdLst/>
        </p14:section>
        <p14:section name="연습" id="{a0a19e69-9bc2-0430-a06a-c242274362eb}">
          <p14:sldIdLst/>
        </p14:section>
        <p14:section name="확인" id="{27c9e7a8-98de-1e33-ea53-484bf1105a21}">
          <p14:sldIdLst>
            <p14:sldId id="266"/>
            <p14:sldId id="267"/>
          </p14:sldIdLst>
        </p14:section>
        <p14:section name="정리" id="{cdbb41f5-eacf-2656-ca55-b02ddbecdb18}">
          <p14:sldIdLst>
            <p14:sldId id="268"/>
          </p14:sldIdLst>
        </p14:section>
        <p14:section name="보충" id="{056dcd6e-55ed-fdf8-13d7-edd44af8cb7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경제와참여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필요와 선택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용돈으로 사고 싶은 것을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살 수 있을까요?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 골라야 하는지 희소성으로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기준을 세워 고르고 까닭을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 계산을 해 볼까요?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3,000원에서 1,200원을 쓰면 남는 돈은?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1,500원짜리 2개의 값은?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물건과 갖고 싶은 물건을 하나씩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것과 가진 것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것에 비해 가진 것이 부족한 것을 희소성이라고 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장난감, 간식, 책,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놀이공원… 아주 많아요.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한정되어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희소성은 어디에나 있어요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가질 수 없으니 무엇을 할지 골라야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이것을 선택이라고 해요.</a:t>
            </a:r>
            <a:endParaRPr lang="ko-KR" sz="3000" dirty="0"/>
          </a:p>
        </p:txBody>
      </p:sp>
      <p:sp>
        <p:nvSpPr>
          <p:cNvPr id="5" name="S04-card17"/>
          <p:cNvSpPr/>
          <p:nvPr/>
        </p:nvSpPr>
        <p:spPr>
          <a:xfrm>
            <a:off x="548640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8"/>
          <p:cNvSpPr txBox="1"/>
          <p:nvPr/>
        </p:nvSpPr>
        <p:spPr>
          <a:xfrm>
            <a:off x="822960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5,000원으로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 싶은 것이 많아요.</a:t>
            </a:r>
            <a:endParaRPr lang="ko-KR" sz="3000" dirty="0"/>
          </a:p>
        </p:txBody>
      </p:sp>
      <p:sp>
        <p:nvSpPr>
          <p:cNvPr id="7" name="S04-card19"/>
          <p:cNvSpPr/>
          <p:nvPr/>
        </p:nvSpPr>
        <p:spPr>
          <a:xfrm>
            <a:off x="4322064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0"/>
          <p:cNvSpPr txBox="1"/>
          <p:nvPr/>
        </p:nvSpPr>
        <p:spPr>
          <a:xfrm>
            <a:off x="4596384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일이 많아요.</a:t>
            </a:r>
            <a:endParaRPr lang="ko-KR" sz="3000" dirty="0"/>
          </a:p>
        </p:txBody>
      </p:sp>
      <p:sp>
        <p:nvSpPr>
          <p:cNvPr id="9" name="S04-card21"/>
          <p:cNvSpPr/>
          <p:nvPr/>
        </p:nvSpPr>
        <p:spPr>
          <a:xfrm>
            <a:off x="8095488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2"/>
          <p:cNvSpPr txBox="1"/>
          <p:nvPr/>
        </p:nvSpPr>
        <p:spPr>
          <a:xfrm>
            <a:off x="8369808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 한 봉지를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형제가 다 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고를까요?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 가운데 무엇이 부족한가요?</a:t>
            </a:r>
            <a:endParaRPr lang="ko-KR" sz="3000" dirty="0"/>
          </a:p>
        </p:txBody>
      </p:sp>
      <p:sp>
        <p:nvSpPr>
          <p:cNvPr id="4" name="S05-chip2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5-text2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 동안 만화도 보고 싶고 책도 읽고 싶어요.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2,000원으로 아이스크림과 젤리 중 하나만 살 수 있어요.</a:t>
            </a:r>
            <a:endParaRPr lang="ko-KR" sz="30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피자 한 조각을 가족 셋이 모두 먹고 싶어요.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더 부족할까요?</a:t>
            </a:r>
            <a:endParaRPr lang="ko-KR" sz="4000" dirty="0"/>
          </a:p>
        </p:txBody>
      </p:sp>
      <p:sp>
        <p:nvSpPr>
          <p:cNvPr id="3" name="S06-card3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집에는 우산이 2개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네 명이 모두 밖에 나가야 해요.</a:t>
            </a:r>
            <a:endParaRPr lang="ko-KR" sz="3000" dirty="0"/>
          </a:p>
        </p:txBody>
      </p:sp>
      <p:sp>
        <p:nvSpPr>
          <p:cNvPr id="5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3000" dirty="0"/>
          </a:p>
        </p:txBody>
      </p:sp>
      <p:sp>
        <p:nvSpPr>
          <p:cNvPr id="7" name="S06-chip34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6-text35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“우산 수가 같으니까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맑은 날이나 비 오는 날이나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부족해요.”</a:t>
            </a:r>
            <a:endParaRPr lang="ko-KR" sz="3000" dirty="0"/>
          </a:p>
        </p:txBody>
      </p:sp>
      <p:sp>
        <p:nvSpPr>
          <p:cNvPr id="9" name="S06-chip36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6-text37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“비 오는 날에는 우산이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사람이 많아서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부족해요.”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고를까요?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비교하면 후회가 적은 선택을 할 수 있어요.</a:t>
            </a:r>
            <a:endParaRPr lang="ko-KR" sz="3000" dirty="0"/>
          </a:p>
        </p:txBody>
      </p:sp>
      <p:sp>
        <p:nvSpPr>
          <p:cNvPr id="5" name="S07-card4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꼭 필요한가요?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곤란한가요?</a:t>
            </a:r>
            <a:endParaRPr lang="ko-KR" sz="3000" dirty="0"/>
          </a:p>
        </p:txBody>
      </p:sp>
      <p:sp>
        <p:nvSpPr>
          <p:cNvPr id="7" name="S07-card4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값은 얼마인가요?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돈 안에서 살 수 있나요?</a:t>
            </a:r>
            <a:endParaRPr lang="ko-KR" sz="3000" dirty="0"/>
          </a:p>
        </p:txBody>
      </p:sp>
      <p:sp>
        <p:nvSpPr>
          <p:cNvPr id="9" name="S07-card4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4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오래 쓸 수 있나요?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튼튼하고 품질이 좋은가요?</a:t>
            </a:r>
            <a:endParaRPr lang="ko-KR" sz="3000" dirty="0"/>
          </a:p>
        </p:txBody>
      </p:sp>
      <p:sp>
        <p:nvSpPr>
          <p:cNvPr id="11" name="S07-card4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어디에 쓰나요?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일이 많은가요?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민지의 용돈 5,000원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민지는 미술 시간에 쓸 색연필이 없고, 공책도 다 썼어요.</a:t>
            </a:r>
            <a:endParaRPr lang="ko-KR" sz="3000" dirty="0"/>
          </a:p>
        </p:txBody>
      </p:sp>
      <p:sp>
        <p:nvSpPr>
          <p:cNvPr id="4" name="S08-card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 세트와 공책을 사면 5,000원.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스티커와 과자는 이번에 포기해요.</a:t>
            </a:r>
            <a:endParaRPr lang="ko-KR" sz="3000" dirty="0"/>
          </a:p>
        </p:txBody>
      </p:sp>
      <p:graphicFrame>
        <p:nvGraphicFramePr>
          <p:cNvPr id="9" name="S08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089658"/>
          <a:ext cx="9601200" cy="914400"/>
        </p:xfrm>
        <a:graphic>
          <a:graphicData uri="http://schemas.openxmlformats.org/drawingml/2006/table">
            <a:tbl>
              <a:tblPr/>
              <a:tblGrid>
                <a:gridCol w="3264408"/>
                <a:gridCol w="2304288"/>
                <a:gridCol w="2016252"/>
                <a:gridCol w="201625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 필요?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오래 써요?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색연필 세트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스티커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</a:t>
            </a:r>
            <a:endParaRPr lang="ko-KR" sz="4000" dirty="0"/>
          </a:p>
        </p:txBody>
      </p:sp>
      <p:sp>
        <p:nvSpPr>
          <p:cNvPr id="3" name="S09-text52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타기 1시간, 블록 만들기 1시간,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 보기 2시간 가운데 골라요.</a:t>
            </a:r>
            <a:endParaRPr lang="ko-KR" sz="3000" dirty="0"/>
          </a:p>
        </p:txBody>
      </p:sp>
      <p:sp>
        <p:nvSpPr>
          <p:cNvPr id="4" name="S09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고르면 고르지 않은 것은 포기해요.</a:t>
            </a:r>
            <a:endParaRPr lang="ko-KR" sz="3000" dirty="0"/>
          </a:p>
        </p:txBody>
      </p:sp>
      <p:sp>
        <p:nvSpPr>
          <p:cNvPr id="6" name="S09-chip55"/>
          <p:cNvSpPr txBox="1"/>
          <p:nvPr/>
        </p:nvSpPr>
        <p:spPr>
          <a:xfrm>
            <a:off x="548640" y="25410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56"/>
          <p:cNvSpPr txBox="1"/>
          <p:nvPr/>
        </p:nvSpPr>
        <p:spPr>
          <a:xfrm>
            <a:off x="1344168" y="243840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영화를 보면 포기하는 것은?</a:t>
            </a:r>
            <a:endParaRPr lang="ko-KR" sz="3000" dirty="0"/>
          </a:p>
        </p:txBody>
      </p:sp>
      <p:sp>
        <p:nvSpPr>
          <p:cNvPr id="8" name="S09-chip57"/>
          <p:cNvSpPr txBox="1"/>
          <p:nvPr/>
        </p:nvSpPr>
        <p:spPr>
          <a:xfrm>
            <a:off x="548640" y="3496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58"/>
          <p:cNvSpPr txBox="1"/>
          <p:nvPr/>
        </p:nvSpPr>
        <p:spPr>
          <a:xfrm>
            <a:off x="1344168" y="339344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자전거와 블록을 하면 포기하는 것은?</a:t>
            </a:r>
            <a:endParaRPr lang="ko-KR" sz="3000" dirty="0"/>
          </a:p>
        </p:txBody>
      </p:sp>
      <p:sp>
        <p:nvSpPr>
          <p:cNvPr id="10" name="S09-chip59"/>
          <p:cNvSpPr txBox="1"/>
          <p:nvPr/>
        </p:nvSpPr>
        <p:spPr>
          <a:xfrm>
            <a:off x="548640" y="4451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0"/>
          <p:cNvSpPr txBox="1"/>
          <p:nvPr/>
        </p:nvSpPr>
        <p:spPr>
          <a:xfrm>
            <a:off x="1344168" y="434848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고를까요? 왜요?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선택 이야기</a:t>
            </a:r>
            <a:endParaRPr lang="ko-KR" sz="4000" dirty="0"/>
          </a:p>
        </p:txBody>
      </p:sp>
      <p:sp>
        <p:nvSpPr>
          <p:cNvPr id="3" name="S10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 보아요.</a:t>
            </a:r>
            <a:endParaRPr lang="ko-KR" sz="3000" dirty="0"/>
          </a:p>
        </p:txBody>
      </p:sp>
      <p:sp>
        <p:nvSpPr>
          <p:cNvPr id="4" name="S10-card62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3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부족했던 것(돈·시간·물건)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것과 그 기준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포기한 것</a:t>
            </a:r>
            <a:endParaRPr lang="ko-KR" sz="3000" dirty="0"/>
          </a:p>
        </p:txBody>
      </p:sp>
      <p:sp>
        <p:nvSpPr>
          <p:cNvPr id="6" name="S10-stepno64"/>
          <p:cNvSpPr txBox="1"/>
          <p:nvPr/>
        </p:nvSpPr>
        <p:spPr>
          <a:xfrm>
            <a:off x="548640" y="2718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5"/>
          <p:cNvSpPr txBox="1"/>
          <p:nvPr/>
        </p:nvSpPr>
        <p:spPr>
          <a:xfrm>
            <a:off x="1325880" y="267309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최근에 둘 중 하나를 고른 일을 여쭤요.</a:t>
            </a:r>
            <a:endParaRPr lang="ko-KR" sz="2400" dirty="0"/>
          </a:p>
        </p:txBody>
      </p:sp>
      <p:sp>
        <p:nvSpPr>
          <p:cNvPr id="8" name="S10-stepno66"/>
          <p:cNvSpPr txBox="1"/>
          <p:nvPr/>
        </p:nvSpPr>
        <p:spPr>
          <a:xfrm>
            <a:off x="548640" y="35814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67"/>
          <p:cNvSpPr txBox="1"/>
          <p:nvPr/>
        </p:nvSpPr>
        <p:spPr>
          <a:xfrm>
            <a:off x="1325880" y="35814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골랐는지 들어요.</a:t>
            </a:r>
            <a:endParaRPr lang="ko-KR" sz="2400" dirty="0"/>
          </a:p>
        </p:txBody>
      </p:sp>
      <p:sp>
        <p:nvSpPr>
          <p:cNvPr id="10" name="S10-stepno68"/>
          <p:cNvSpPr txBox="1"/>
          <p:nvPr/>
        </p:nvSpPr>
        <p:spPr>
          <a:xfrm>
            <a:off x="548640" y="4294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69"/>
          <p:cNvSpPr txBox="1"/>
          <p:nvPr/>
        </p:nvSpPr>
        <p:spPr>
          <a:xfrm>
            <a:off x="1325880" y="4294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골랐는지 들어요.</a:t>
            </a:r>
            <a:endParaRPr lang="ko-KR" sz="2400" dirty="0"/>
          </a:p>
        </p:txBody>
      </p:sp>
      <p:sp>
        <p:nvSpPr>
          <p:cNvPr id="12" name="S10-stepno70"/>
          <p:cNvSpPr txBox="1"/>
          <p:nvPr/>
        </p:nvSpPr>
        <p:spPr>
          <a:xfrm>
            <a:off x="548640" y="5007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1"/>
          <p:cNvSpPr txBox="1"/>
          <p:nvPr/>
        </p:nvSpPr>
        <p:spPr>
          <a:xfrm>
            <a:off x="1325880" y="5007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것과 함께 활동지 4에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7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7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희소성이 무엇인지 내 말로 말해요.</a:t>
            </a:r>
            <a:endParaRPr lang="ko-KR" sz="3000" dirty="0"/>
          </a:p>
        </p:txBody>
      </p:sp>
      <p:sp>
        <p:nvSpPr>
          <p:cNvPr id="5" name="S11-chip7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7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3,000원이 있는데 4,000원짜리 장난감과 2,000원짜리 책을 모두 사고 싶어요. 무엇이 부족한가요?</a:t>
            </a:r>
            <a:endParaRPr lang="ko-KR" sz="3000" dirty="0"/>
          </a:p>
        </p:txBody>
      </p:sp>
      <p:sp>
        <p:nvSpPr>
          <p:cNvPr id="7" name="S11-chip7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7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어떻게 해야 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6,000원으로 골라요</a:t>
            </a:r>
            <a:endParaRPr lang="ko-KR" sz="4000" dirty="0"/>
          </a:p>
        </p:txBody>
      </p:sp>
      <p:sp>
        <p:nvSpPr>
          <p:cNvPr id="3" name="S13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숙제가 있는데 줄넘기가 없어요.</a:t>
            </a:r>
            <a:endParaRPr lang="ko-KR" sz="3000" dirty="0"/>
          </a:p>
        </p:txBody>
      </p:sp>
      <p:graphicFrame>
        <p:nvGraphicFramePr>
          <p:cNvPr id="13" name="S13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2833370"/>
          <a:ext cx="4206240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189280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만화책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3-chip8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8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살지 고르고, 모두 얼마인지 말해요.</a:t>
            </a:r>
            <a:endParaRPr lang="ko-KR" sz="3000" dirty="0"/>
          </a:p>
        </p:txBody>
      </p:sp>
      <p:sp>
        <p:nvSpPr>
          <p:cNvPr id="7" name="S13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8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골랐나요?</a:t>
            </a:r>
            <a:endParaRPr lang="ko-KR" sz="3000" dirty="0"/>
          </a:p>
        </p:txBody>
      </p:sp>
      <p:sp>
        <p:nvSpPr>
          <p:cNvPr id="9" name="S13-chip8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3-text8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것은 무엇인가요?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6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7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것에 비해 돈·시간·물건이 부족해서(희소성) 우리는 골라야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세워 고르면 후회가 적어요.</a:t>
            </a:r>
            <a:endParaRPr lang="ko-KR" sz="3000" dirty="0"/>
          </a:p>
        </p:txBody>
      </p:sp>
      <p:sp>
        <p:nvSpPr>
          <p:cNvPr id="5" name="S14-chip88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기준을 세워 비교하고 고르기</a:t>
            </a:r>
            <a:endParaRPr lang="ko-KR" sz="2400" dirty="0"/>
          </a:p>
        </p:txBody>
      </p:sp>
      <p:sp>
        <p:nvSpPr>
          <p:cNvPr id="6" name="S14-chip89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 없이 먼저 보이는 것 사기</a:t>
            </a:r>
            <a:endParaRPr lang="ko-KR" sz="2400" dirty="0"/>
          </a:p>
        </p:txBody>
      </p:sp>
      <p:sp>
        <p:nvSpPr>
          <p:cNvPr id="7" name="S14-text90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91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희소성이란?</a:t>
            </a:r>
            <a:endParaRPr lang="ko-KR" sz="2400" dirty="0"/>
          </a:p>
        </p:txBody>
      </p:sp>
      <p:sp>
        <p:nvSpPr>
          <p:cNvPr id="9" name="S14-text92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물건을 고르는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두 가지는?</a:t>
            </a:r>
            <a:endParaRPr lang="ko-KR" sz="2400" dirty="0"/>
          </a:p>
        </p:txBody>
      </p:sp>
      <p:sp>
        <p:nvSpPr>
          <p:cNvPr id="10" name="S14-text93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하나를 고르면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것은?</a:t>
            </a:r>
            <a:endParaRPr lang="ko-KR" sz="2400" dirty="0"/>
          </a:p>
        </p:txBody>
      </p:sp>
      <p:sp>
        <p:nvSpPr>
          <p:cNvPr id="11" name="S14-text9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교환과 교류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돈 계산하기</a:t>
            </a:r>
            <a:endParaRPr lang="ko-KR" sz="4000" dirty="0"/>
          </a:p>
        </p:txBody>
      </p:sp>
      <p:sp>
        <p:nvSpPr>
          <p:cNvPr id="3" name="S15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 원짜리 돈 카드로 세어 봐요.</a:t>
            </a:r>
            <a:endParaRPr lang="ko-KR" sz="3000" dirty="0"/>
          </a:p>
        </p:txBody>
      </p:sp>
      <p:sp>
        <p:nvSpPr>
          <p:cNvPr id="4" name="S15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5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1,500원은 천 원 1장과 오백 원 1개예요.</a:t>
            </a:r>
            <a:endParaRPr lang="ko-KR" sz="3000" dirty="0"/>
          </a:p>
        </p:txBody>
      </p:sp>
      <p:sp>
        <p:nvSpPr>
          <p:cNvPr id="6" name="S15-chip9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5-text9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1,000원 + 1,500원</a:t>
            </a:r>
            <a:endParaRPr lang="ko-KR" sz="3000" dirty="0"/>
          </a:p>
        </p:txBody>
      </p:sp>
      <p:sp>
        <p:nvSpPr>
          <p:cNvPr id="8" name="S15-chip10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5-text10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 − 3,000원</a:t>
            </a:r>
            <a:endParaRPr lang="ko-KR" sz="3000" dirty="0"/>
          </a:p>
        </p:txBody>
      </p:sp>
      <p:sp>
        <p:nvSpPr>
          <p:cNvPr id="10" name="S15-chip10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5-text10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4,000원으로 1,000원짜리 공책을 몇 권 살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필요와 선택</dc:title>
  <dc:subject>KR22-G04-SOC-SCARCITY-L01</dc:subject>
  <dc:creator>education-ppt</dc:creator>
  <cp:lastModifiedBy>education-ppt</cp:lastModifiedBy>
  <cp:revision>1</cp:revision>
  <dcterms:created xsi:type="dcterms:W3CDTF">2026-10-26T09:48:00Z</dcterms:created>
  <dcterms:modified xsi:type="dcterms:W3CDTF">2026-10-26T09:48:00Z</dcterms:modified>
</cp:coreProperties>
</file>