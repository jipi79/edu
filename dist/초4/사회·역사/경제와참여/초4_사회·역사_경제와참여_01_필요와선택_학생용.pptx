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422df4c-36c7-2b5c-e913-e8c4e0b374f2}">
          <p14:sldIdLst>
            <p14:sldId id="256"/>
            <p14:sldId id="257"/>
          </p14:sldIdLst>
        </p14:section>
        <p14:section name="개념" id="{a8375701-0dba-cf03-bef3-77dfa9ff995f}">
          <p14:sldIdLst>
            <p14:sldId id="258"/>
            <p14:sldId id="259"/>
            <p14:sldId id="262"/>
            <p14:sldId id="263"/>
          </p14:sldIdLst>
        </p14:section>
        <p14:section name="연습" id="{58ad302f-9a35-eb92-fd93-ec0e4a35fa2f}">
          <p14:sldIdLst>
            <p14:sldId id="260"/>
            <p14:sldId id="261"/>
            <p14:sldId id="264"/>
            <p14:sldId id="265"/>
          </p14:sldIdLst>
        </p14:section>
        <p14:section name="개념" id="{166a16d1-2371-efdb-2a9c-c9f214aee6a0}">
          <p14:sldIdLst/>
        </p14:section>
        <p14:section name="연습" id="{58201d66-7679-d084-5996-adf4f72d06e6}">
          <p14:sldIdLst/>
        </p14:section>
        <p14:section name="확인" id="{93adcb22-6e6d-101c-3394-94a1c19340cc}">
          <p14:sldIdLst>
            <p14:sldId id="266"/>
            <p14:sldId id="267"/>
          </p14:sldIdLst>
        </p14:section>
        <p14:section name="정리" id="{d5dc07b0-f585-c388-870c-310acc0e0f67}">
          <p14:sldIdLst>
            <p14:sldId id="268"/>
          </p14:sldIdLst>
        </p14:section>
        <p14:section name="보충" id="{cb7d6541-1820-b69f-c9bd-b694e06feead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경제와참여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필요와 선택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필요와 선택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용돈으로 사고 싶은 것을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살 수 있을까요?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왜 골라야 하는지 희소성으로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기준을 세워 고르고 까닭을 말할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 계산을 해 볼까요?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3,000원에서 1,200원을 쓰면 남는 돈은?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1,500원짜리 2개의 값은?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필요한 물건과 갖고 싶은 물건을 하나씩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것과 가진 것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것에 비해 가진 것이 부족한 것을 희소성이라고 해요.</a:t>
            </a:r>
            <a:endParaRPr lang="ko-KR" sz="3000" dirty="0"/>
          </a:p>
        </p:txBody>
      </p:sp>
      <p:sp>
        <p:nvSpPr>
          <p:cNvPr id="5" name="S03-card11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장난감, 간식, 책,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놀이공원… 아주 많아요.</a:t>
            </a:r>
            <a:endParaRPr lang="ko-KR" sz="3000" dirty="0"/>
          </a:p>
        </p:txBody>
      </p:sp>
      <p:sp>
        <p:nvSpPr>
          <p:cNvPr id="7" name="S03-card13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돈, 시간, 물건은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한정되어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희소성은 어디에나 있어요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가질 수 없으니 무엇을 할지 골라야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이것을 선택이라고 해요.</a:t>
            </a:r>
            <a:endParaRPr lang="ko-KR" sz="3000" dirty="0"/>
          </a:p>
        </p:txBody>
      </p:sp>
      <p:sp>
        <p:nvSpPr>
          <p:cNvPr id="5" name="S04-card17"/>
          <p:cNvSpPr/>
          <p:nvPr/>
        </p:nvSpPr>
        <p:spPr>
          <a:xfrm>
            <a:off x="548640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8"/>
          <p:cNvSpPr txBox="1"/>
          <p:nvPr/>
        </p:nvSpPr>
        <p:spPr>
          <a:xfrm>
            <a:off x="822960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5,000원으로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 싶은 것이 많아요.</a:t>
            </a:r>
            <a:endParaRPr lang="ko-KR" sz="3000" dirty="0"/>
          </a:p>
        </p:txBody>
      </p:sp>
      <p:sp>
        <p:nvSpPr>
          <p:cNvPr id="7" name="S04-card19"/>
          <p:cNvSpPr/>
          <p:nvPr/>
        </p:nvSpPr>
        <p:spPr>
          <a:xfrm>
            <a:off x="4322064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0"/>
          <p:cNvSpPr txBox="1"/>
          <p:nvPr/>
        </p:nvSpPr>
        <p:spPr>
          <a:xfrm>
            <a:off x="4596384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오후 2시간에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싶은 일이 많아요.</a:t>
            </a:r>
            <a:endParaRPr lang="ko-KR" sz="3000" dirty="0"/>
          </a:p>
        </p:txBody>
      </p:sp>
      <p:sp>
        <p:nvSpPr>
          <p:cNvPr id="9" name="S04-card21"/>
          <p:cNvSpPr/>
          <p:nvPr/>
        </p:nvSpPr>
        <p:spPr>
          <a:xfrm>
            <a:off x="8095488" y="1930908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2"/>
          <p:cNvSpPr txBox="1"/>
          <p:nvPr/>
        </p:nvSpPr>
        <p:spPr>
          <a:xfrm>
            <a:off x="8369808" y="2068068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간식 한 봉지를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형제가 다 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부족해서 고를까요?</a:t>
            </a:r>
            <a:endParaRPr lang="ko-KR" sz="40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돈, 시간, 물건 가운데 무엇이 부족한가요?</a:t>
            </a:r>
            <a:endParaRPr lang="ko-KR" sz="3000" dirty="0"/>
          </a:p>
        </p:txBody>
      </p:sp>
      <p:sp>
        <p:nvSpPr>
          <p:cNvPr id="4" name="S05-chip2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5-text2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30분 동안 만화도 보고 싶고 책도 읽고 싶어요.</a:t>
            </a:r>
            <a:endParaRPr lang="ko-KR" sz="3000" dirty="0"/>
          </a:p>
        </p:txBody>
      </p:sp>
      <p:sp>
        <p:nvSpPr>
          <p:cNvPr id="6" name="S05-chip2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5-text2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2,000원으로 아이스크림과 젤리 중 하나만 살 수 있어요.</a:t>
            </a:r>
            <a:endParaRPr lang="ko-KR" sz="3000" dirty="0"/>
          </a:p>
        </p:txBody>
      </p:sp>
      <p:sp>
        <p:nvSpPr>
          <p:cNvPr id="8" name="S05-chip2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5-text2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피자 한 조각을 가족 셋이 모두 먹고 싶어요.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더 부족할까요?</a:t>
            </a:r>
            <a:endParaRPr lang="ko-KR" sz="4000" dirty="0"/>
          </a:p>
        </p:txBody>
      </p:sp>
      <p:sp>
        <p:nvSpPr>
          <p:cNvPr id="3" name="S06-card3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3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집에는 우산이 2개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 네 명이 모두 밖에 나가야 해요.</a:t>
            </a:r>
            <a:endParaRPr lang="ko-KR" sz="3000" dirty="0"/>
          </a:p>
        </p:txBody>
      </p:sp>
      <p:sp>
        <p:nvSpPr>
          <p:cNvPr id="5" name="S06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왜 그럴까요?</a:t>
            </a:r>
            <a:endParaRPr lang="ko-KR" sz="3000" dirty="0"/>
          </a:p>
        </p:txBody>
      </p:sp>
      <p:sp>
        <p:nvSpPr>
          <p:cNvPr id="7" name="S06-chip34"/>
          <p:cNvSpPr txBox="1"/>
          <p:nvPr/>
        </p:nvSpPr>
        <p:spPr>
          <a:xfrm>
            <a:off x="548640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6-text35"/>
          <p:cNvSpPr txBox="1"/>
          <p:nvPr/>
        </p:nvSpPr>
        <p:spPr>
          <a:xfrm>
            <a:off x="548640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“우산 수가 같으니까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맑은 날이나 비 오는 날이나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부족해요.”</a:t>
            </a:r>
            <a:endParaRPr lang="ko-KR" sz="3000" dirty="0"/>
          </a:p>
        </p:txBody>
      </p:sp>
      <p:sp>
        <p:nvSpPr>
          <p:cNvPr id="9" name="S06-chip36"/>
          <p:cNvSpPr txBox="1"/>
          <p:nvPr/>
        </p:nvSpPr>
        <p:spPr>
          <a:xfrm>
            <a:off x="6277356" y="2813304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6-text37"/>
          <p:cNvSpPr txBox="1"/>
          <p:nvPr/>
        </p:nvSpPr>
        <p:spPr>
          <a:xfrm>
            <a:off x="6277356" y="3544824"/>
            <a:ext cx="5362956" cy="1575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“비 오는 날에는 우산이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사람이 많아서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부족해요.”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보고 고를까요?</a:t>
            </a:r>
            <a:endParaRPr lang="ko-KR" sz="4000" dirty="0"/>
          </a:p>
        </p:txBody>
      </p:sp>
      <p:sp>
        <p:nvSpPr>
          <p:cNvPr id="3" name="S07-card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정해 비교하면 후회가 적은 선택을 할 수 있어요.</a:t>
            </a:r>
            <a:endParaRPr lang="ko-KR" sz="3000" dirty="0"/>
          </a:p>
        </p:txBody>
      </p:sp>
      <p:sp>
        <p:nvSpPr>
          <p:cNvPr id="5" name="S07-card40"/>
          <p:cNvSpPr/>
          <p:nvPr/>
        </p:nvSpPr>
        <p:spPr>
          <a:xfrm>
            <a:off x="548640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41"/>
          <p:cNvSpPr txBox="1"/>
          <p:nvPr/>
        </p:nvSpPr>
        <p:spPr>
          <a:xfrm>
            <a:off x="822960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꼭 필요한가요?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곤란한가요?</a:t>
            </a:r>
            <a:endParaRPr lang="ko-KR" sz="3000" dirty="0"/>
          </a:p>
        </p:txBody>
      </p:sp>
      <p:sp>
        <p:nvSpPr>
          <p:cNvPr id="7" name="S07-card42"/>
          <p:cNvSpPr/>
          <p:nvPr/>
        </p:nvSpPr>
        <p:spPr>
          <a:xfrm>
            <a:off x="6208776" y="132588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43"/>
          <p:cNvSpPr txBox="1"/>
          <p:nvPr/>
        </p:nvSpPr>
        <p:spPr>
          <a:xfrm>
            <a:off x="6483096" y="146304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값은 얼마인가요?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가진 돈 안에서 살 수 있나요?</a:t>
            </a:r>
            <a:endParaRPr lang="ko-KR" sz="3000" dirty="0"/>
          </a:p>
        </p:txBody>
      </p:sp>
      <p:sp>
        <p:nvSpPr>
          <p:cNvPr id="9" name="S07-card44"/>
          <p:cNvSpPr/>
          <p:nvPr/>
        </p:nvSpPr>
        <p:spPr>
          <a:xfrm>
            <a:off x="548640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45"/>
          <p:cNvSpPr txBox="1"/>
          <p:nvPr/>
        </p:nvSpPr>
        <p:spPr>
          <a:xfrm>
            <a:off x="822960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오래 쓸 수 있나요?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튼튼하고 품질이 좋은가요?</a:t>
            </a:r>
            <a:endParaRPr lang="ko-KR" sz="3000" dirty="0"/>
          </a:p>
        </p:txBody>
      </p:sp>
      <p:sp>
        <p:nvSpPr>
          <p:cNvPr id="11" name="S07-card46"/>
          <p:cNvSpPr/>
          <p:nvPr/>
        </p:nvSpPr>
        <p:spPr>
          <a:xfrm>
            <a:off x="6208776" y="3337560"/>
            <a:ext cx="5431536" cy="1783080"/>
          </a:xfrm>
          <a:prstGeom prst="roundRect">
            <a:avLst>
              <a:gd name="adj" fmla="val 615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7-cardtext47"/>
          <p:cNvSpPr txBox="1"/>
          <p:nvPr/>
        </p:nvSpPr>
        <p:spPr>
          <a:xfrm>
            <a:off x="6483096" y="3474720"/>
            <a:ext cx="488289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어디에 쓰나요?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일이 많은가요?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민지의 용돈 5,000원</a:t>
            </a:r>
            <a:endParaRPr lang="ko-KR" sz="40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민지는 미술 시간에 쓸 색연필이 없고, 공책도 다 썼어요.</a:t>
            </a:r>
            <a:endParaRPr lang="ko-KR" sz="3000" dirty="0"/>
          </a:p>
        </p:txBody>
      </p:sp>
      <p:sp>
        <p:nvSpPr>
          <p:cNvPr id="4" name="S08-card4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 세트와 공책을 사면 5,000원.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스티커와 과자는 이번에 포기해요.</a:t>
            </a:r>
            <a:endParaRPr lang="ko-KR" sz="3000" dirty="0"/>
          </a:p>
        </p:txBody>
      </p:sp>
      <p:graphicFrame>
        <p:nvGraphicFramePr>
          <p:cNvPr id="9" name="S08-table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089658"/>
          <a:ext cx="9601200" cy="914400"/>
        </p:xfrm>
        <a:graphic>
          <a:graphicData uri="http://schemas.openxmlformats.org/drawingml/2006/table">
            <a:tbl>
              <a:tblPr/>
              <a:tblGrid>
                <a:gridCol w="3264408"/>
                <a:gridCol w="2304288"/>
                <a:gridCol w="2016252"/>
                <a:gridCol w="2016252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꼭 필요?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오래 써요?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색연필 세트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공책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○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스티커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오후 2시간</a:t>
            </a:r>
            <a:endParaRPr lang="ko-KR" sz="4000" dirty="0"/>
          </a:p>
        </p:txBody>
      </p:sp>
      <p:sp>
        <p:nvSpPr>
          <p:cNvPr id="3" name="S09-text52"/>
          <p:cNvSpPr txBox="1"/>
          <p:nvPr/>
        </p:nvSpPr>
        <p:spPr>
          <a:xfrm>
            <a:off x="548640" y="1325880"/>
            <a:ext cx="1109167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 타기 1시간, 블록 만들기 1시간,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 보기 2시간 가운데 골라요.</a:t>
            </a:r>
            <a:endParaRPr lang="ko-KR" sz="3000" dirty="0"/>
          </a:p>
        </p:txBody>
      </p:sp>
      <p:sp>
        <p:nvSpPr>
          <p:cNvPr id="4" name="S09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고르면 고르지 않은 것은 포기해요.</a:t>
            </a:r>
            <a:endParaRPr lang="ko-KR" sz="3000" dirty="0"/>
          </a:p>
        </p:txBody>
      </p:sp>
      <p:sp>
        <p:nvSpPr>
          <p:cNvPr id="6" name="S09-chip55"/>
          <p:cNvSpPr txBox="1"/>
          <p:nvPr/>
        </p:nvSpPr>
        <p:spPr>
          <a:xfrm>
            <a:off x="548640" y="25410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56"/>
          <p:cNvSpPr txBox="1"/>
          <p:nvPr/>
        </p:nvSpPr>
        <p:spPr>
          <a:xfrm>
            <a:off x="1344168" y="243840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영화를 보면 포기하는 것은?</a:t>
            </a:r>
            <a:endParaRPr lang="ko-KR" sz="3000" dirty="0"/>
          </a:p>
        </p:txBody>
      </p:sp>
      <p:sp>
        <p:nvSpPr>
          <p:cNvPr id="8" name="S09-chip57"/>
          <p:cNvSpPr txBox="1"/>
          <p:nvPr/>
        </p:nvSpPr>
        <p:spPr>
          <a:xfrm>
            <a:off x="548640" y="3496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58"/>
          <p:cNvSpPr txBox="1"/>
          <p:nvPr/>
        </p:nvSpPr>
        <p:spPr>
          <a:xfrm>
            <a:off x="1344168" y="339344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자전거와 블록을 하면 포기하는 것은?</a:t>
            </a:r>
            <a:endParaRPr lang="ko-KR" sz="3000" dirty="0"/>
          </a:p>
        </p:txBody>
      </p:sp>
      <p:sp>
        <p:nvSpPr>
          <p:cNvPr id="10" name="S09-chip59"/>
          <p:cNvSpPr txBox="1"/>
          <p:nvPr/>
        </p:nvSpPr>
        <p:spPr>
          <a:xfrm>
            <a:off x="548640" y="44510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0"/>
          <p:cNvSpPr txBox="1"/>
          <p:nvPr/>
        </p:nvSpPr>
        <p:spPr>
          <a:xfrm>
            <a:off x="1344168" y="4348480"/>
            <a:ext cx="1029614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나라면 무엇을 고를까요? 왜요?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선택 이야기</a:t>
            </a:r>
            <a:endParaRPr lang="ko-KR" sz="4000" dirty="0"/>
          </a:p>
        </p:txBody>
      </p:sp>
      <p:sp>
        <p:nvSpPr>
          <p:cNvPr id="3" name="S10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엄마(아빠)께 여쭈어 보아요.</a:t>
            </a:r>
            <a:endParaRPr lang="ko-KR" sz="3000" dirty="0"/>
          </a:p>
        </p:txBody>
      </p:sp>
      <p:sp>
        <p:nvSpPr>
          <p:cNvPr id="4" name="S10-card62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3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부족했던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고른 것과 그 기준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포기한 것</a:t>
            </a:r>
            <a:endParaRPr lang="ko-KR" sz="3000" dirty="0"/>
          </a:p>
        </p:txBody>
      </p:sp>
      <p:sp>
        <p:nvSpPr>
          <p:cNvPr id="6" name="S10-stepno64"/>
          <p:cNvSpPr txBox="1"/>
          <p:nvPr/>
        </p:nvSpPr>
        <p:spPr>
          <a:xfrm>
            <a:off x="548640" y="2718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65"/>
          <p:cNvSpPr txBox="1"/>
          <p:nvPr/>
        </p:nvSpPr>
        <p:spPr>
          <a:xfrm>
            <a:off x="1325880" y="267309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최근에 둘 중 하나를 고른 일을 여쭤요.</a:t>
            </a:r>
            <a:endParaRPr lang="ko-KR" sz="2400" dirty="0"/>
          </a:p>
        </p:txBody>
      </p:sp>
      <p:sp>
        <p:nvSpPr>
          <p:cNvPr id="8" name="S10-stepno66"/>
          <p:cNvSpPr txBox="1"/>
          <p:nvPr/>
        </p:nvSpPr>
        <p:spPr>
          <a:xfrm>
            <a:off x="548640" y="35814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67"/>
          <p:cNvSpPr txBox="1"/>
          <p:nvPr/>
        </p:nvSpPr>
        <p:spPr>
          <a:xfrm>
            <a:off x="1325880" y="358140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부족해서 골랐는지 들어요.</a:t>
            </a:r>
            <a:endParaRPr lang="ko-KR" sz="2400" dirty="0"/>
          </a:p>
        </p:txBody>
      </p:sp>
      <p:sp>
        <p:nvSpPr>
          <p:cNvPr id="10" name="S10-stepno68"/>
          <p:cNvSpPr txBox="1"/>
          <p:nvPr/>
        </p:nvSpPr>
        <p:spPr>
          <a:xfrm>
            <a:off x="548640" y="42946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69"/>
          <p:cNvSpPr txBox="1"/>
          <p:nvPr/>
        </p:nvSpPr>
        <p:spPr>
          <a:xfrm>
            <a:off x="1325880" y="429463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골랐는지 들어요.</a:t>
            </a:r>
            <a:endParaRPr lang="ko-KR" sz="2400" dirty="0"/>
          </a:p>
        </p:txBody>
      </p:sp>
      <p:sp>
        <p:nvSpPr>
          <p:cNvPr id="12" name="S10-stepno70"/>
          <p:cNvSpPr txBox="1"/>
          <p:nvPr/>
        </p:nvSpPr>
        <p:spPr>
          <a:xfrm>
            <a:off x="548640" y="50078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10-text71"/>
          <p:cNvSpPr txBox="1"/>
          <p:nvPr/>
        </p:nvSpPr>
        <p:spPr>
          <a:xfrm>
            <a:off x="1325880" y="500786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포기한 것과 함께 활동지 4에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7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1-text73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희소성이 무엇인지 내 말로 말해요.</a:t>
            </a:r>
            <a:endParaRPr lang="ko-KR" sz="3000" dirty="0"/>
          </a:p>
        </p:txBody>
      </p:sp>
      <p:sp>
        <p:nvSpPr>
          <p:cNvPr id="5" name="S11-chip74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1-text75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3,000원이 있는데 4,000원짜리 장난감과 2,000원짜리 책을 모두 사고 싶어요. 무엇이 부족한가요?</a:t>
            </a:r>
            <a:endParaRPr lang="ko-KR" sz="3000" dirty="0"/>
          </a:p>
        </p:txBody>
      </p:sp>
      <p:sp>
        <p:nvSpPr>
          <p:cNvPr id="7" name="S11-chip7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1-text77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어떻게 해야 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6,000원으로 골라요</a:t>
            </a:r>
            <a:endParaRPr lang="ko-KR" sz="4000" dirty="0"/>
          </a:p>
        </p:txBody>
      </p:sp>
      <p:sp>
        <p:nvSpPr>
          <p:cNvPr id="3" name="S13-text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줄넘기 숙제가 있는데 줄넘기가 없어요.</a:t>
            </a:r>
            <a:endParaRPr lang="ko-KR" sz="3000" dirty="0"/>
          </a:p>
        </p:txBody>
      </p:sp>
      <p:graphicFrame>
        <p:nvGraphicFramePr>
          <p:cNvPr id="13" name="S13-table7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2833370"/>
          <a:ext cx="4206240" cy="914400"/>
        </p:xfrm>
        <a:graphic>
          <a:graphicData uri="http://schemas.openxmlformats.org/drawingml/2006/table">
            <a:tbl>
              <a:tblPr/>
              <a:tblGrid>
                <a:gridCol w="2313432"/>
                <a:gridCol w="1892808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축구공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만화책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줄넘기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1,000원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3-chip8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3-text81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살지 고르고, 모두 얼마인지 말해요.</a:t>
            </a:r>
            <a:endParaRPr lang="ko-KR" sz="3000" dirty="0"/>
          </a:p>
        </p:txBody>
      </p:sp>
      <p:sp>
        <p:nvSpPr>
          <p:cNvPr id="7" name="S13-chip8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3-text83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기준으로 골랐나요?</a:t>
            </a:r>
            <a:endParaRPr lang="ko-KR" sz="3000" dirty="0"/>
          </a:p>
        </p:txBody>
      </p:sp>
      <p:sp>
        <p:nvSpPr>
          <p:cNvPr id="9" name="S13-chip8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3-text85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포기한 것은 무엇인가요?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86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87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돈·시간·물건이 부족해서(희소성) 우리는 골라야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기준을 세워 고르면 후회가 적어요.</a:t>
            </a:r>
            <a:endParaRPr lang="ko-KR" sz="3000" dirty="0"/>
          </a:p>
        </p:txBody>
      </p:sp>
      <p:sp>
        <p:nvSpPr>
          <p:cNvPr id="5" name="S14-chip88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기준을 세워 비교하고 고르기</a:t>
            </a:r>
            <a:endParaRPr lang="ko-KR" sz="2400" dirty="0"/>
          </a:p>
        </p:txBody>
      </p:sp>
      <p:sp>
        <p:nvSpPr>
          <p:cNvPr id="6" name="S14-chip89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 없이 먼저 보이는 것 사기</a:t>
            </a:r>
            <a:endParaRPr lang="ko-KR" sz="2400" dirty="0"/>
          </a:p>
        </p:txBody>
      </p:sp>
      <p:sp>
        <p:nvSpPr>
          <p:cNvPr id="7" name="S14-text90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91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희소성이란?</a:t>
            </a:r>
            <a:endParaRPr lang="ko-KR" sz="2400" dirty="0"/>
          </a:p>
        </p:txBody>
      </p:sp>
      <p:sp>
        <p:nvSpPr>
          <p:cNvPr id="9" name="S14-text92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물건을 고르는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두 가지는?</a:t>
            </a:r>
            <a:endParaRPr lang="ko-KR" sz="2400" dirty="0"/>
          </a:p>
        </p:txBody>
      </p:sp>
      <p:sp>
        <p:nvSpPr>
          <p:cNvPr id="10" name="S14-text93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하나를 고르면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것은?</a:t>
            </a:r>
            <a:endParaRPr lang="ko-KR" sz="2400" dirty="0"/>
          </a:p>
        </p:txBody>
      </p:sp>
      <p:sp>
        <p:nvSpPr>
          <p:cNvPr id="11" name="S14-text9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교환과 교류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돈 계산하기</a:t>
            </a:r>
            <a:endParaRPr lang="ko-KR" sz="4000" dirty="0"/>
          </a:p>
        </p:txBody>
      </p:sp>
      <p:sp>
        <p:nvSpPr>
          <p:cNvPr id="3" name="S15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천 원짜리 돈 카드로 세어 봐요.</a:t>
            </a:r>
            <a:endParaRPr lang="ko-KR" sz="3000" dirty="0"/>
          </a:p>
        </p:txBody>
      </p:sp>
      <p:sp>
        <p:nvSpPr>
          <p:cNvPr id="4" name="S15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5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1,500원은 천 원 1장과 오백 원 1개예요.</a:t>
            </a:r>
            <a:endParaRPr lang="ko-KR" sz="3000" dirty="0"/>
          </a:p>
        </p:txBody>
      </p:sp>
      <p:sp>
        <p:nvSpPr>
          <p:cNvPr id="6" name="S15-chip9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5-text9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1,000원 + 1,500원</a:t>
            </a:r>
            <a:endParaRPr lang="ko-KR" sz="3000" dirty="0"/>
          </a:p>
        </p:txBody>
      </p:sp>
      <p:sp>
        <p:nvSpPr>
          <p:cNvPr id="8" name="S15-chip10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5-text10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5,000원 − 3,000원</a:t>
            </a:r>
            <a:endParaRPr lang="ko-KR" sz="3000" dirty="0"/>
          </a:p>
        </p:txBody>
      </p:sp>
      <p:sp>
        <p:nvSpPr>
          <p:cNvPr id="10" name="S15-chip10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5-text10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4,000원으로 1,000원짜리 공책을 몇 권 살 수 있나요?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필요와 선택</dc:title>
  <dc:subject>KR22-G04-SOC-SCARCITY-L01</dc:subject>
  <dc:creator>education-ppt</dc:creator>
  <cp:lastModifiedBy>education-ppt</cp:lastModifiedBy>
  <cp:revision>1</cp:revision>
  <dcterms:created xsi:type="dcterms:W3CDTF">2026-10-26T09:51:49Z</dcterms:created>
  <dcterms:modified xsi:type="dcterms:W3CDTF">2026-10-26T09:51:49Z</dcterms:modified>
</cp:coreProperties>
</file>