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f75db5dc-cea5-7c7c-107b-604da70b4027}">
          <p14:sldIdLst>
            <p14:sldId id="256"/>
            <p14:sldId id="257"/>
          </p14:sldIdLst>
        </p14:section>
        <p14:section name="개념" id="{db97f4f4-2884-e190-7dbc-70f11ba88d46}">
          <p14:sldIdLst>
            <p14:sldId id="258"/>
            <p14:sldId id="259"/>
            <p14:sldId id="262"/>
            <p14:sldId id="263"/>
          </p14:sldIdLst>
        </p14:section>
        <p14:section name="연습" id="{a9f42834-692d-58ad-8eab-06a92e32bf82}">
          <p14:sldIdLst>
            <p14:sldId id="260"/>
            <p14:sldId id="261"/>
            <p14:sldId id="264"/>
            <p14:sldId id="265"/>
          </p14:sldIdLst>
        </p14:section>
        <p14:section name="개념" id="{69aa3905-5f86-1f1e-4919-b0c23acf2c4e}">
          <p14:sldIdLst/>
        </p14:section>
        <p14:section name="연습" id="{8110f80c-b4e9-31ef-d9a6-27e1f4ae5b16}">
          <p14:sldIdLst/>
        </p14:section>
        <p14:section name="확인" id="{b61460c4-0bc2-82d6-ff32-506cb4ef9488}">
          <p14:sldIdLst>
            <p14:sldId id="266"/>
            <p14:sldId id="267"/>
          </p14:sldIdLst>
        </p14:section>
        <p14:section name="정리" id="{3154852f-2887-5a49-f101-bf65fafd0427}">
          <p14:sldIdLst>
            <p14:sldId id="268"/>
          </p14:sldIdLst>
        </p14:section>
        <p14:section name="보충" id="{7902ad5c-5ad6-f498-a60f-0bf93aa32b2c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사회·역사 · 경제와참여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사회·역사 · 필요와 선택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사회·역사 · 필요와 선택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초4 사회·역사 · 필요와 선택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필요와 선택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용돈으로 사고 싶은 것을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살 수 있을까요?</a:t>
            </a:r>
            <a:endParaRPr lang="ko-KR" sz="3000" dirty="0"/>
          </a:p>
        </p:txBody>
      </p:sp>
      <p:sp>
        <p:nvSpPr>
          <p:cNvPr id="4" name="S01-card1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왜 골라야 하는지 희소성으로 말할 수 있어요.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기준을 세워 고르고 까닭을 말할 수 있어요.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돈 계산을 해 볼까요?</a:t>
            </a:r>
            <a:endParaRPr lang="ko-KR" sz="4000" dirty="0"/>
          </a:p>
        </p:txBody>
      </p:sp>
      <p:sp>
        <p:nvSpPr>
          <p:cNvPr id="3" name="S02-chip3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02-text4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3,000원에서 1,200원을 쓰면 남는 돈은?</a:t>
            </a:r>
            <a:endParaRPr lang="ko-KR" sz="3000" dirty="0"/>
          </a:p>
        </p:txBody>
      </p:sp>
      <p:sp>
        <p:nvSpPr>
          <p:cNvPr id="5" name="S02-chip5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" name="S02-text6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1,500원짜리 2개의 값은?</a:t>
            </a:r>
            <a:endParaRPr lang="ko-KR" sz="3000" dirty="0"/>
          </a:p>
        </p:txBody>
      </p:sp>
      <p:sp>
        <p:nvSpPr>
          <p:cNvPr id="7" name="S02-chip7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8" name="S02-text8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 필요한 물건과 갖고 싶은 물건을 하나씩 말해요.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원하는 것과 가진 것</a:t>
            </a:r>
            <a:endParaRPr lang="ko-KR" sz="4000" dirty="0"/>
          </a:p>
        </p:txBody>
      </p:sp>
      <p:sp>
        <p:nvSpPr>
          <p:cNvPr id="3" name="S03-card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원하는 것에 비해 가진 것이 부족한 것을 희소성이라고 해요.</a:t>
            </a:r>
            <a:endParaRPr lang="ko-KR" sz="3000" dirty="0"/>
          </a:p>
        </p:txBody>
      </p:sp>
      <p:sp>
        <p:nvSpPr>
          <p:cNvPr id="5" name="S03-card11"/>
          <p:cNvSpPr/>
          <p:nvPr/>
        </p:nvSpPr>
        <p:spPr>
          <a:xfrm>
            <a:off x="548640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3-cardtext12"/>
          <p:cNvSpPr txBox="1"/>
          <p:nvPr/>
        </p:nvSpPr>
        <p:spPr>
          <a:xfrm>
            <a:off x="822960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원하는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장난감, 간식, 책,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놀이공원… 아주 많아요.</a:t>
            </a:r>
            <a:endParaRPr lang="ko-KR" sz="3000" dirty="0"/>
          </a:p>
        </p:txBody>
      </p:sp>
      <p:sp>
        <p:nvSpPr>
          <p:cNvPr id="7" name="S03-card13"/>
          <p:cNvSpPr/>
          <p:nvPr/>
        </p:nvSpPr>
        <p:spPr>
          <a:xfrm>
            <a:off x="6208776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8" name="S03-cardtext14"/>
          <p:cNvSpPr txBox="1"/>
          <p:nvPr/>
        </p:nvSpPr>
        <p:spPr>
          <a:xfrm>
            <a:off x="6483096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가진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돈, 시간, 물건은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한정되어 있어요.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희소성은 어디에나 있어요</a:t>
            </a:r>
            <a:endParaRPr lang="ko-KR" sz="4000" dirty="0"/>
          </a:p>
        </p:txBody>
      </p:sp>
      <p:sp>
        <p:nvSpPr>
          <p:cNvPr id="3" name="S04-card15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16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가질 수 없으니 무엇을 할지 골라야 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이것을 선택이라고 해요.</a:t>
            </a:r>
            <a:endParaRPr lang="ko-KR" sz="3000" dirty="0"/>
          </a:p>
        </p:txBody>
      </p:sp>
      <p:sp>
        <p:nvSpPr>
          <p:cNvPr id="5" name="S04-card17"/>
          <p:cNvSpPr/>
          <p:nvPr/>
        </p:nvSpPr>
        <p:spPr>
          <a:xfrm>
            <a:off x="548640" y="1930908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4-cardtext18"/>
          <p:cNvSpPr txBox="1"/>
          <p:nvPr/>
        </p:nvSpPr>
        <p:spPr>
          <a:xfrm>
            <a:off x="822960" y="2068068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돈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용돈 5,000원으로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사고 싶은 것이 많아요.</a:t>
            </a:r>
            <a:endParaRPr lang="ko-KR" sz="3000" dirty="0"/>
          </a:p>
        </p:txBody>
      </p:sp>
      <p:sp>
        <p:nvSpPr>
          <p:cNvPr id="7" name="S04-card19"/>
          <p:cNvSpPr/>
          <p:nvPr/>
        </p:nvSpPr>
        <p:spPr>
          <a:xfrm>
            <a:off x="4322064" y="1930908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4-cardtext20"/>
          <p:cNvSpPr txBox="1"/>
          <p:nvPr/>
        </p:nvSpPr>
        <p:spPr>
          <a:xfrm>
            <a:off x="4596384" y="2068068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토요일 오후 2시간에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하고 싶은 일이 많아요.</a:t>
            </a:r>
            <a:endParaRPr lang="ko-KR" sz="3000" dirty="0"/>
          </a:p>
        </p:txBody>
      </p:sp>
      <p:sp>
        <p:nvSpPr>
          <p:cNvPr id="9" name="S04-card21"/>
          <p:cNvSpPr/>
          <p:nvPr/>
        </p:nvSpPr>
        <p:spPr>
          <a:xfrm>
            <a:off x="8095488" y="1930908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4-cardtext22"/>
          <p:cNvSpPr txBox="1"/>
          <p:nvPr/>
        </p:nvSpPr>
        <p:spPr>
          <a:xfrm>
            <a:off x="8369808" y="2068068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간식 한 봉지를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형제가 다 원해요.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부족해서 고를까요?</a:t>
            </a:r>
            <a:endParaRPr lang="ko-KR" sz="4000" dirty="0"/>
          </a:p>
        </p:txBody>
      </p:sp>
      <p:sp>
        <p:nvSpPr>
          <p:cNvPr id="3" name="S05-text2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돈, 시간, 물건 가운데 무엇이 부족한가요?</a:t>
            </a:r>
            <a:endParaRPr lang="ko-KR" sz="3000" dirty="0"/>
          </a:p>
        </p:txBody>
      </p:sp>
      <p:sp>
        <p:nvSpPr>
          <p:cNvPr id="4" name="S05-chip24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5-text25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30분 동안 만화도 보고 싶고 책도 읽고 싶어요.</a:t>
            </a:r>
            <a:endParaRPr lang="ko-KR" sz="3000" dirty="0"/>
          </a:p>
        </p:txBody>
      </p:sp>
      <p:sp>
        <p:nvSpPr>
          <p:cNvPr id="6" name="S05-chip26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05-text27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2,000원으로 아이스크림과 젤리 중 하나만 살 수 있어요.</a:t>
            </a:r>
            <a:endParaRPr lang="ko-KR" sz="3000" dirty="0"/>
          </a:p>
        </p:txBody>
      </p:sp>
      <p:sp>
        <p:nvSpPr>
          <p:cNvPr id="8" name="S05-chip28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05-text29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피자 한 조각을 가족 셋이 모두 먹고 싶어요.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 더 부족할까요?</a:t>
            </a:r>
            <a:endParaRPr lang="ko-KR" sz="4000" dirty="0"/>
          </a:p>
        </p:txBody>
      </p:sp>
      <p:sp>
        <p:nvSpPr>
          <p:cNvPr id="3" name="S06-card30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6-cardtext31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집에는 우산이 2개 있어요.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가족 네 명이 모두 밖에 나가야 해요.</a:t>
            </a:r>
            <a:endParaRPr lang="ko-KR" sz="3000" dirty="0"/>
          </a:p>
        </p:txBody>
      </p:sp>
      <p:sp>
        <p:nvSpPr>
          <p:cNvPr id="5" name="S06-card3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6-cardtext3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누구의 생각이 알맞을까요? 왜 그럴까요?</a:t>
            </a:r>
            <a:endParaRPr lang="ko-KR" sz="3000" dirty="0"/>
          </a:p>
        </p:txBody>
      </p:sp>
      <p:sp>
        <p:nvSpPr>
          <p:cNvPr id="7" name="S06-chip34"/>
          <p:cNvSpPr txBox="1"/>
          <p:nvPr/>
        </p:nvSpPr>
        <p:spPr>
          <a:xfrm>
            <a:off x="548640" y="2813304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8" name="S06-text35"/>
          <p:cNvSpPr txBox="1"/>
          <p:nvPr/>
        </p:nvSpPr>
        <p:spPr>
          <a:xfrm>
            <a:off x="548640" y="3544824"/>
            <a:ext cx="5362956" cy="1575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“우산 수가 같으니까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맑은 날이나 비 오는 날이나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똑같이 부족해요.”</a:t>
            </a:r>
            <a:endParaRPr lang="ko-KR" sz="3000" dirty="0"/>
          </a:p>
        </p:txBody>
      </p:sp>
      <p:sp>
        <p:nvSpPr>
          <p:cNvPr id="9" name="S06-chip36"/>
          <p:cNvSpPr txBox="1"/>
          <p:nvPr/>
        </p:nvSpPr>
        <p:spPr>
          <a:xfrm>
            <a:off x="6277356" y="2813304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10" name="S06-text37"/>
          <p:cNvSpPr txBox="1"/>
          <p:nvPr/>
        </p:nvSpPr>
        <p:spPr>
          <a:xfrm>
            <a:off x="6277356" y="3544824"/>
            <a:ext cx="5362956" cy="1575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“비 오는 날에는 우산이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필요한 사람이 많아서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부족해요.”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보고 고를까요?</a:t>
            </a:r>
            <a:endParaRPr lang="ko-KR" sz="4000" dirty="0"/>
          </a:p>
        </p:txBody>
      </p:sp>
      <p:sp>
        <p:nvSpPr>
          <p:cNvPr id="3" name="S07-card3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3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기준을 정해 비교하면 후회가 적은 선택을 할 수 있어요.</a:t>
            </a:r>
            <a:endParaRPr lang="ko-KR" sz="3000" dirty="0"/>
          </a:p>
        </p:txBody>
      </p:sp>
      <p:sp>
        <p:nvSpPr>
          <p:cNvPr id="5" name="S07-card40"/>
          <p:cNvSpPr/>
          <p:nvPr/>
        </p:nvSpPr>
        <p:spPr>
          <a:xfrm>
            <a:off x="548640" y="132588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7-cardtext41"/>
          <p:cNvSpPr txBox="1"/>
          <p:nvPr/>
        </p:nvSpPr>
        <p:spPr>
          <a:xfrm>
            <a:off x="822960" y="146304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꼭 필요한가요?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없으면 곤란한가요?</a:t>
            </a:r>
            <a:endParaRPr lang="ko-KR" sz="3000" dirty="0"/>
          </a:p>
        </p:txBody>
      </p:sp>
      <p:sp>
        <p:nvSpPr>
          <p:cNvPr id="7" name="S07-card42"/>
          <p:cNvSpPr/>
          <p:nvPr/>
        </p:nvSpPr>
        <p:spPr>
          <a:xfrm>
            <a:off x="6208776" y="132588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7-cardtext43"/>
          <p:cNvSpPr txBox="1"/>
          <p:nvPr/>
        </p:nvSpPr>
        <p:spPr>
          <a:xfrm>
            <a:off x="6483096" y="146304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값은 얼마인가요?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가진 돈 안에서 살 수 있나요?</a:t>
            </a:r>
            <a:endParaRPr lang="ko-KR" sz="3000" dirty="0"/>
          </a:p>
        </p:txBody>
      </p:sp>
      <p:sp>
        <p:nvSpPr>
          <p:cNvPr id="9" name="S07-card44"/>
          <p:cNvSpPr/>
          <p:nvPr/>
        </p:nvSpPr>
        <p:spPr>
          <a:xfrm>
            <a:off x="548640" y="333756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7-cardtext45"/>
          <p:cNvSpPr txBox="1"/>
          <p:nvPr/>
        </p:nvSpPr>
        <p:spPr>
          <a:xfrm>
            <a:off x="822960" y="347472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오래 쓸 수 있나요?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튼튼하고 품질이 좋은가요?</a:t>
            </a:r>
            <a:endParaRPr lang="ko-KR" sz="3000" dirty="0"/>
          </a:p>
        </p:txBody>
      </p:sp>
      <p:sp>
        <p:nvSpPr>
          <p:cNvPr id="11" name="S07-card46"/>
          <p:cNvSpPr/>
          <p:nvPr/>
        </p:nvSpPr>
        <p:spPr>
          <a:xfrm>
            <a:off x="6208776" y="333756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2" name="S07-cardtext47"/>
          <p:cNvSpPr txBox="1"/>
          <p:nvPr/>
        </p:nvSpPr>
        <p:spPr>
          <a:xfrm>
            <a:off x="6483096" y="347472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어디에 쓰나요?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쓸 일이 많은가요?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민지의 용돈 5,000원</a:t>
            </a:r>
            <a:endParaRPr lang="ko-KR" sz="4000" dirty="0"/>
          </a:p>
        </p:txBody>
      </p:sp>
      <p:sp>
        <p:nvSpPr>
          <p:cNvPr id="3" name="S08-text4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민지는 미술 시간에 쓸 색연필이 없고, 공책도 다 썼어요.</a:t>
            </a:r>
            <a:endParaRPr lang="ko-KR" sz="3000" dirty="0"/>
          </a:p>
        </p:txBody>
      </p:sp>
      <p:sp>
        <p:nvSpPr>
          <p:cNvPr id="4" name="S08-card49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50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색연필 세트와 공책을 사면 5,000원.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스티커와 과자는 이번에 포기해요.</a:t>
            </a:r>
            <a:endParaRPr lang="ko-KR" sz="3000" dirty="0"/>
          </a:p>
        </p:txBody>
      </p:sp>
      <p:graphicFrame>
        <p:nvGraphicFramePr>
          <p:cNvPr id="9" name="S08-table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93876" y="2089658"/>
          <a:ext cx="9601200" cy="914400"/>
        </p:xfrm>
        <a:graphic>
          <a:graphicData uri="http://schemas.openxmlformats.org/drawingml/2006/table">
            <a:tbl>
              <a:tblPr/>
              <a:tblGrid>
                <a:gridCol w="3264408"/>
                <a:gridCol w="2304288"/>
                <a:gridCol w="2016252"/>
                <a:gridCol w="2016252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물건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값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꼭 필요?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오래 써요?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색연필 세트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4,000원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공책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1,000원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스티커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1,000원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×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×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과자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1,500원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×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×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토요일 오후 2시간</a:t>
            </a:r>
            <a:endParaRPr lang="ko-KR" sz="4000" dirty="0"/>
          </a:p>
        </p:txBody>
      </p:sp>
      <p:sp>
        <p:nvSpPr>
          <p:cNvPr id="3" name="S09-text52"/>
          <p:cNvSpPr txBox="1"/>
          <p:nvPr/>
        </p:nvSpPr>
        <p:spPr>
          <a:xfrm>
            <a:off x="548640" y="1325880"/>
            <a:ext cx="1109167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자전거 타기 1시간, 블록 만들기 1시간,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영화 보기 2시간 가운데 골라요.</a:t>
            </a:r>
            <a:endParaRPr lang="ko-KR" sz="3000" dirty="0"/>
          </a:p>
        </p:txBody>
      </p:sp>
      <p:sp>
        <p:nvSpPr>
          <p:cNvPr id="4" name="S09-card5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5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하나를 고르면 고르지 않은 것은 포기해요.</a:t>
            </a:r>
            <a:endParaRPr lang="ko-KR" sz="3000" dirty="0"/>
          </a:p>
        </p:txBody>
      </p:sp>
      <p:sp>
        <p:nvSpPr>
          <p:cNvPr id="6" name="S09-chip55"/>
          <p:cNvSpPr txBox="1"/>
          <p:nvPr/>
        </p:nvSpPr>
        <p:spPr>
          <a:xfrm>
            <a:off x="548640" y="25410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9-text56"/>
          <p:cNvSpPr txBox="1"/>
          <p:nvPr/>
        </p:nvSpPr>
        <p:spPr>
          <a:xfrm>
            <a:off x="1344168" y="2438400"/>
            <a:ext cx="10296144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영화를 보면 포기하는 것은?</a:t>
            </a:r>
            <a:endParaRPr lang="ko-KR" sz="3000" dirty="0"/>
          </a:p>
        </p:txBody>
      </p:sp>
      <p:sp>
        <p:nvSpPr>
          <p:cNvPr id="8" name="S09-chip57"/>
          <p:cNvSpPr txBox="1"/>
          <p:nvPr/>
        </p:nvSpPr>
        <p:spPr>
          <a:xfrm>
            <a:off x="548640" y="34960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9-text58"/>
          <p:cNvSpPr txBox="1"/>
          <p:nvPr/>
        </p:nvSpPr>
        <p:spPr>
          <a:xfrm>
            <a:off x="1344168" y="3393440"/>
            <a:ext cx="10296144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자전거와 블록을 하면 포기하는 것은?</a:t>
            </a:r>
            <a:endParaRPr lang="ko-KR" sz="3000" dirty="0"/>
          </a:p>
        </p:txBody>
      </p:sp>
      <p:sp>
        <p:nvSpPr>
          <p:cNvPr id="10" name="S09-chip59"/>
          <p:cNvSpPr txBox="1"/>
          <p:nvPr/>
        </p:nvSpPr>
        <p:spPr>
          <a:xfrm>
            <a:off x="548640" y="44510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9-text60"/>
          <p:cNvSpPr txBox="1"/>
          <p:nvPr/>
        </p:nvSpPr>
        <p:spPr>
          <a:xfrm>
            <a:off x="1344168" y="4348480"/>
            <a:ext cx="10296144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나라면 무엇을 고를까요? 왜요?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집 선택 이야기</a:t>
            </a:r>
            <a:endParaRPr lang="ko-KR" sz="4000" dirty="0"/>
          </a:p>
        </p:txBody>
      </p:sp>
      <p:sp>
        <p:nvSpPr>
          <p:cNvPr id="3" name="S10-text6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엄마(아빠)께 여쭈어 보아요.</a:t>
            </a:r>
            <a:endParaRPr lang="ko-KR" sz="3000" dirty="0"/>
          </a:p>
        </p:txBody>
      </p:sp>
      <p:sp>
        <p:nvSpPr>
          <p:cNvPr id="4" name="S10-card62"/>
          <p:cNvSpPr/>
          <p:nvPr/>
        </p:nvSpPr>
        <p:spPr>
          <a:xfrm>
            <a:off x="6813652" y="2011680"/>
            <a:ext cx="4826660" cy="4206240"/>
          </a:xfrm>
          <a:prstGeom prst="roundRect">
            <a:avLst>
              <a:gd name="adj" fmla="val 260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0-cardtext63"/>
          <p:cNvSpPr txBox="1"/>
          <p:nvPr/>
        </p:nvSpPr>
        <p:spPr>
          <a:xfrm>
            <a:off x="7087972" y="2148840"/>
            <a:ext cx="42780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부족했던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고른 것과 그 기준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포기한 것</a:t>
            </a:r>
            <a:endParaRPr lang="ko-KR" sz="3000" dirty="0"/>
          </a:p>
        </p:txBody>
      </p:sp>
      <p:sp>
        <p:nvSpPr>
          <p:cNvPr id="6" name="S10-stepno64"/>
          <p:cNvSpPr txBox="1"/>
          <p:nvPr/>
        </p:nvSpPr>
        <p:spPr>
          <a:xfrm>
            <a:off x="548640" y="27188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7" name="S10-text65"/>
          <p:cNvSpPr txBox="1"/>
          <p:nvPr/>
        </p:nvSpPr>
        <p:spPr>
          <a:xfrm>
            <a:off x="1325880" y="2673096"/>
            <a:ext cx="5122012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최근에 둘 중 하나를 고른 일을 여쭤요.</a:t>
            </a:r>
            <a:endParaRPr lang="ko-KR" sz="2400" dirty="0"/>
          </a:p>
        </p:txBody>
      </p:sp>
      <p:sp>
        <p:nvSpPr>
          <p:cNvPr id="8" name="S10-stepno66"/>
          <p:cNvSpPr txBox="1"/>
          <p:nvPr/>
        </p:nvSpPr>
        <p:spPr>
          <a:xfrm>
            <a:off x="548640" y="358140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9" name="S10-text67"/>
          <p:cNvSpPr txBox="1"/>
          <p:nvPr/>
        </p:nvSpPr>
        <p:spPr>
          <a:xfrm>
            <a:off x="1325880" y="3581400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부족해서 골랐는지 들어요.</a:t>
            </a:r>
            <a:endParaRPr lang="ko-KR" sz="2400" dirty="0"/>
          </a:p>
        </p:txBody>
      </p:sp>
      <p:sp>
        <p:nvSpPr>
          <p:cNvPr id="10" name="S10-stepno68"/>
          <p:cNvSpPr txBox="1"/>
          <p:nvPr/>
        </p:nvSpPr>
        <p:spPr>
          <a:xfrm>
            <a:off x="548640" y="42946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1" name="S10-text69"/>
          <p:cNvSpPr txBox="1"/>
          <p:nvPr/>
        </p:nvSpPr>
        <p:spPr>
          <a:xfrm>
            <a:off x="1325880" y="429463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기준으로 골랐는지 들어요.</a:t>
            </a:r>
            <a:endParaRPr lang="ko-KR" sz="2400" dirty="0"/>
          </a:p>
        </p:txBody>
      </p:sp>
      <p:sp>
        <p:nvSpPr>
          <p:cNvPr id="12" name="S10-stepno70"/>
          <p:cNvSpPr txBox="1"/>
          <p:nvPr/>
        </p:nvSpPr>
        <p:spPr>
          <a:xfrm>
            <a:off x="548640" y="50078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3" name="S10-text71"/>
          <p:cNvSpPr txBox="1"/>
          <p:nvPr/>
        </p:nvSpPr>
        <p:spPr>
          <a:xfrm>
            <a:off x="1325880" y="500786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포기한 것과 함께 활동지 4에 써요.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chip72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11-text73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희소성이 무엇인지 내 말로 말해요.</a:t>
            </a:r>
            <a:endParaRPr lang="ko-KR" sz="3000" dirty="0"/>
          </a:p>
        </p:txBody>
      </p:sp>
      <p:sp>
        <p:nvSpPr>
          <p:cNvPr id="5" name="S11-chip74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" name="S11-text75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3,000원이 있는데 4,000원짜리 장난감과 2,000원짜리 책을 모두 사고 싶어요. 무엇이 부족한가요?</a:t>
            </a:r>
            <a:endParaRPr lang="ko-KR" sz="3000" dirty="0"/>
          </a:p>
        </p:txBody>
      </p:sp>
      <p:sp>
        <p:nvSpPr>
          <p:cNvPr id="7" name="S11-chip76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8" name="S11-text77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어떻게 해야 하나요?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용돈 6,000원으로 골라요</a:t>
            </a:r>
            <a:endParaRPr lang="ko-KR" sz="4000" dirty="0"/>
          </a:p>
        </p:txBody>
      </p:sp>
      <p:sp>
        <p:nvSpPr>
          <p:cNvPr id="3" name="S13-text7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줄넘기 숙제가 있는데 줄넘기가 없어요.</a:t>
            </a:r>
            <a:endParaRPr lang="ko-KR" sz="3000" dirty="0"/>
          </a:p>
        </p:txBody>
      </p:sp>
      <p:graphicFrame>
        <p:nvGraphicFramePr>
          <p:cNvPr id="13" name="S13-table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5714" y="2833370"/>
          <a:ext cx="4206240" cy="914400"/>
        </p:xfrm>
        <a:graphic>
          <a:graphicData uri="http://schemas.openxmlformats.org/drawingml/2006/table">
            <a:tbl>
              <a:tblPr/>
              <a:tblGrid>
                <a:gridCol w="2313432"/>
                <a:gridCol w="1892808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물건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값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축구공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5,000원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만화책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3,000원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줄넘기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2,000원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사탕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1,000원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13-chip80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6" name="S13-text81"/>
          <p:cNvSpPr txBox="1"/>
          <p:nvPr/>
        </p:nvSpPr>
        <p:spPr>
          <a:xfrm>
            <a:off x="1344168" y="201168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살지 고르고, 모두 얼마인지 말해요.</a:t>
            </a:r>
            <a:endParaRPr lang="ko-KR" sz="3000" dirty="0"/>
          </a:p>
        </p:txBody>
      </p:sp>
      <p:sp>
        <p:nvSpPr>
          <p:cNvPr id="7" name="S13-chip82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8" name="S13-text83"/>
          <p:cNvSpPr txBox="1"/>
          <p:nvPr/>
        </p:nvSpPr>
        <p:spPr>
          <a:xfrm>
            <a:off x="1344168" y="347472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기준으로 골랐나요?</a:t>
            </a:r>
            <a:endParaRPr lang="ko-KR" sz="3000" dirty="0"/>
          </a:p>
        </p:txBody>
      </p:sp>
      <p:sp>
        <p:nvSpPr>
          <p:cNvPr id="9" name="S13-chip84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0" name="S13-text85"/>
          <p:cNvSpPr txBox="1"/>
          <p:nvPr/>
        </p:nvSpPr>
        <p:spPr>
          <a:xfrm>
            <a:off x="1344168" y="493776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포기한 것은 무엇인가요?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86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87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돈·시간·물건이 부족해서(희소성) 우리는 골라야 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기준을 세워 고르면 후회가 적어요.</a:t>
            </a:r>
            <a:endParaRPr lang="ko-KR" sz="3000" dirty="0"/>
          </a:p>
        </p:txBody>
      </p:sp>
      <p:sp>
        <p:nvSpPr>
          <p:cNvPr id="5" name="S14-chip88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기준을 세워 비교하고 고르기</a:t>
            </a:r>
            <a:endParaRPr lang="ko-KR" sz="2400" dirty="0"/>
          </a:p>
        </p:txBody>
      </p:sp>
      <p:sp>
        <p:nvSpPr>
          <p:cNvPr id="6" name="S14-chip89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생각 없이 먼저 보이는 것 사기</a:t>
            </a:r>
            <a:endParaRPr lang="ko-KR" sz="2400" dirty="0"/>
          </a:p>
        </p:txBody>
      </p:sp>
      <p:sp>
        <p:nvSpPr>
          <p:cNvPr id="7" name="S14-text90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4-text91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희소성이란?</a:t>
            </a:r>
            <a:endParaRPr lang="ko-KR" sz="2400" dirty="0"/>
          </a:p>
        </p:txBody>
      </p:sp>
      <p:sp>
        <p:nvSpPr>
          <p:cNvPr id="9" name="S14-text92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물건을 고르는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 두 가지는?</a:t>
            </a:r>
            <a:endParaRPr lang="ko-KR" sz="2400" dirty="0"/>
          </a:p>
        </p:txBody>
      </p:sp>
      <p:sp>
        <p:nvSpPr>
          <p:cNvPr id="10" name="S14-text93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하나를 고르면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것은?</a:t>
            </a:r>
            <a:endParaRPr lang="ko-KR" sz="2400" dirty="0"/>
          </a:p>
        </p:txBody>
      </p:sp>
      <p:sp>
        <p:nvSpPr>
          <p:cNvPr id="11" name="S14-text94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교환과 교류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돈 계산하기</a:t>
            </a:r>
            <a:endParaRPr lang="ko-KR" sz="4000" dirty="0"/>
          </a:p>
        </p:txBody>
      </p:sp>
      <p:sp>
        <p:nvSpPr>
          <p:cNvPr id="3" name="S15-text9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천 원짜리 돈 카드로 세어 봐요.</a:t>
            </a:r>
            <a:endParaRPr lang="ko-KR" sz="3000" dirty="0"/>
          </a:p>
        </p:txBody>
      </p:sp>
      <p:sp>
        <p:nvSpPr>
          <p:cNvPr id="4" name="S15-card9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5-cardtext9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1,500원은 천 원 1장과 오백 원 1개예요.</a:t>
            </a:r>
            <a:endParaRPr lang="ko-KR" sz="3000" dirty="0"/>
          </a:p>
        </p:txBody>
      </p:sp>
      <p:sp>
        <p:nvSpPr>
          <p:cNvPr id="6" name="S15-chip98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15-text99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1,000원 + 1,500원</a:t>
            </a:r>
            <a:endParaRPr lang="ko-KR" sz="3000" dirty="0"/>
          </a:p>
        </p:txBody>
      </p:sp>
      <p:sp>
        <p:nvSpPr>
          <p:cNvPr id="8" name="S15-chip100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15-text101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5,000원 − 3,000원</a:t>
            </a:r>
            <a:endParaRPr lang="ko-KR" sz="3000" dirty="0"/>
          </a:p>
        </p:txBody>
      </p:sp>
      <p:sp>
        <p:nvSpPr>
          <p:cNvPr id="10" name="S15-chip102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15-text103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4,000원으로 1,000원짜리 공책을 몇 권 살 수 있나요?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초4 사회·역사 필요와 선택</dc:title>
  <dc:subject>KR22-G04-SOC-SCARCITY-L01</dc:subject>
  <dc:creator>education-ppt</dc:creator>
  <cp:lastModifiedBy>education-ppt</cp:lastModifiedBy>
  <cp:revision>1</cp:revision>
  <dcterms:created xsi:type="dcterms:W3CDTF">2026-10-26T09:48:21Z</dcterms:created>
  <dcterms:modified xsi:type="dcterms:W3CDTF">2026-10-26T09:48:21Z</dcterms:modified>
</cp:coreProperties>
</file>