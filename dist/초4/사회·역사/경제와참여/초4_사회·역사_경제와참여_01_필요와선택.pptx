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6cb1ecb-17ef-8562-26b3-a543ca071d74}">
          <p14:sldIdLst>
            <p14:sldId id="256"/>
            <p14:sldId id="257"/>
          </p14:sldIdLst>
        </p14:section>
        <p14:section name="개념" id="{491d9acf-a144-1c40-d63d-409836c3c537}">
          <p14:sldIdLst>
            <p14:sldId id="258"/>
            <p14:sldId id="259"/>
            <p14:sldId id="262"/>
            <p14:sldId id="263"/>
          </p14:sldIdLst>
        </p14:section>
        <p14:section name="연습" id="{b4f2c279-d24d-66a3-54dc-f7626d2fa5c9}">
          <p14:sldIdLst>
            <p14:sldId id="260"/>
            <p14:sldId id="261"/>
            <p14:sldId id="264"/>
            <p14:sldId id="265"/>
          </p14:sldIdLst>
        </p14:section>
        <p14:section name="개념" id="{bda57f01-c8a9-967f-1b59-79f416946dcc}">
          <p14:sldIdLst/>
        </p14:section>
        <p14:section name="연습" id="{87693114-ff17-351e-f40f-ea03cd877ecf}">
          <p14:sldIdLst/>
        </p14:section>
        <p14:section name="확인" id="{d618a8a5-0f9b-c890-fdbc-4558b551503f}">
          <p14:sldIdLst>
            <p14:sldId id="266"/>
            <p14:sldId id="267"/>
            <p14:sldId id="268"/>
          </p14:sldIdLst>
        </p14:section>
        <p14:section name="정리" id="{601a1e11-1951-5cf2-0715-def6f1a57afa}">
          <p14:sldIdLst>
            <p14:sldId id="269"/>
          </p14:sldIdLst>
        </p14:section>
        <p14:section name="보충" id="{d9c6d27d-e2c7-7ce6-8a63-b369c7ba03d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사고 싶은 것을 모두 살 수 없었던 경험을 떠올리게 합니다.
시간: 약 2분
이렇게 말해 보세요
- “용돈이나 세뱃돈으로 사고 싶은 게 많았는데 다 사지 못한 적 있어?”
- “왜 다 살 수 없었을까? 오늘은 그 까닭과, 그럴 때 어떻게 고르면 좋은지 배울 거야.”
예상 답
- “돈이 모자라서요.” “엄마가 하나만 사라고 해서요.”
막히면
- 마트나 문구점에서 둘 중 하나만 골랐던 일을 부모님이 먼저 이야기해 줍니다.
주의
- 용돈을 받지 않는 아이도 있습니다. ‘만약 5,000원이 있다면’처럼 가정해서 이야기해도 됩니다. 오늘 나오는 물건값은 수업을 위해 정한 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확인(돈 계산, 필요한 것)]
목적: 오늘 쓰는 돈 계산(천 원 단위의 덧셈·뺄셈)과, 필요한 것과 갖고 싶은 것을 구별하는지 확인합니다.
시간: 약 3분
이렇게 말해 보세요
- “①, ②는 계산이야. 종이에 써서 해도 돼.”
- “③은 학교에 꼭 있어야 하는 것과, 없어도 되지만 갖고 싶은 것을 하나씩 말해 줘.”
정답
- ① 1,800원
- ② 3,000원
- ③ 예: 꼭 필요한 물건 – 공책, 연필, 실내화 / 갖고 싶은 물건 – 새 장난감, 스티커 (까닭이 맞으면 인정)
막히면
- ①·②가 어려우면 S15(보충)에서 돈 카드로 세어 본 뒤 돌아옵니다.
- ③은 “이게 없으면 학교생활이 어려울까?”라고 물어 구별하게 합니다.
주의
- 계산이 느려도 괜찮습니다. 오늘은 계산보다 ‘왜 골라야 하는지, 어떻게 고를지’가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원하는 것과 가진 것]
목적: 사람들이 원하는 것은 많지만 쓸 수 있는 돈·시간·물건은 정해져 있다는 것을 알려 주고, 희소성이라는 말을 소개합니다(목표 A).
시간: 약 3분
이렇게 말해 보세요
- “네가 갖고 싶은 것을 다 말해 볼까? (아이가 말하는 것을 손가락으로 세며) 많지?”
- “그런데 용돈은 정해져 있고, 하루도 24시간뿐이야. 이렇게 원하는 것에 비해 가진 것이 부족한 것을 ‘희소성’이라고 해.”
예상 답
- “게임기, 자전거, 과자, 레고…”
막히면
- 희소성을 ‘원하는 것보다 모자란 것’이라고 쉬운 말로 바꾸어 말해 줍니다.
주의
- ‘희소성’은 어려운 낱말이므로 오늘 여러 번 쓰고, 아이가 자기 말로 바꾸어 말하게 합니다(예: “갖고 싶은 건 많은데 돈이 모자란 거요.”).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생활 속 희소성과 선택]
목적: 돈뿐 아니라 시간과 물건에도 희소성이 있고, 희소성 때문에 선택을 해야 한다는 것을 알려 줍니다(목표 A).
시간: 약 3분
이렇게 말해 보세요
- “용돈만 부족한 게 아니야. 시간도 부족하고, 물건이 모자랄 때도 있어. 세 가지 모두 원하는 것에 비해 부족하지?”
- “그러니까 우리는 늘 무엇을 할지, 무엇을 살지 골라. 이것을 ‘선택’이라고 해.”
예상 답
- “토요일에 놀고 싶은데 숙제도 해야 해요.”
막히면
- 오늘 아침이나 어제 한 일 가운데 둘 중 하나를 고른 일을 함께 찾아봅니다.
주의
- 어른들도, 회사도, 나라도 희소성 때문에 선택한다고 한 문장 덧붙이면 좋습니다(예: 가족 여행지 고르기).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무엇이 부족한지 찾기]
목적: 생활 상황에서 무엇이 부족해서 선택해야 하는지 찾는 연습을 합니다(목표 A).
시간: 약 3분
이렇게 말해 보세요
- “①은 무엇이 모자라서 하나만 해야 할까? 돈이야, 시간이야, 물건이야?”
- “③은 어떻게 하면 좋을까? 너라면 어떻게 고를래?”
정답
- ① 시간
- ② 돈
- ③ 물건(먹을거리). 나누거나 누가 먹을지 정하는 선택이 필요해요(나누는 방법은 답이 여러 가지).
막히면
- “시간이 더 많으면 둘 다 할 수 있을까? 돈이 더 많으면?”처럼 하나씩 바꾸어 물어봅니다.
주의
- ③에서 ‘똑같이 나눠요’도 좋은 선택입니다. 선택에는 ‘하나 고르기’뿐 아니라 ‘나누기’도 있다고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비교(희소성은 개수가 아님)]
목적: 희소성은 물건의 개수만이 아니라 원하는(필요한) 사람에 비해 얼마나 부족한지로 정해진다는 것을 알게 합니다(목표 A, 오해 M1).
시간: 약 2분
이렇게 말해 보세요
- “맑은 날 나갈 때 우산이 몇 개 필요해? 비 오는 날에는?”
- “우산 수는 똑같이 2개인데, 언제 더 모자라?”
정답
- 나. 희소성은 개수가 적은 것이 아니라 원하는 것(필요한 사람)에 비해 부족한 것입니다. 맑은 날에는 우산이 필요 없어 부족하지 않지만, 비 오는 날에는 네 명이 원하는데 2개뿐이라 부족합니다.
막히면
- 실제로 우산(또는 연필) 2개를 놓고, 필요한 사람 수를 바꾸어 가며 “모자라? 남아?”를 물어봅니다.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선택의 기준]
목적: 물건이나 할 일을 고를 때 쓰는 기준 네 가지를 알려 줍니다(목표 B).
시간: 약 3분
이렇게 말해 보세요
- “물건을 살 때 무엇을 보고 고르면 좋을까? 네 가지 기준이 있어.”
- “너는 장난감을 살 때 어떤 기준을 가장 먼저 봐?”
예상 답
- “예쁜지 봐요.” “친구들이 가지고 있는지 봐요.”
막히면
- 집에 있는 물건 하나(필통 등)를 들고 “이걸 살 때 네 가지 기준으로 보면 어때?”라고 하나씩 묻습니다.
주의
- ‘예쁜지(디자인)’, ‘좋아하는지’도 기준이 될 수 있습니다. 기준은 사람마다 다를 수 있지만, 기준을 정해 비교하는 것이 중요하다고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시범(용돈으로 고르기)]
목적: 부모가 생각을 소리 내어 말하며 기준으로 비교해 고르고, 합계를 계산하고, 포기한 것을 말하는 시범을 보입니다(목표 B).
시간: 약 3분
이렇게 말해 보세요
- “네 가지를 다 사면 얼마일까? 4,000 + 1,000 + 1,000 + 1,500 = 7,500원. 5,000원으로는 다 살 수 없지?”
- “꼭 필요한 것부터 볼게. 색연필은 미술 시간에, 공책은 공부에 꼭 필요하고 오래 써. 4,000원 + 1,000원 = 5,000원. 딱 맞네.”
- “그럼 스티커와 과자는 이번에는 포기하는 거야. 무엇을 고르면 다른 것은 포기해야 해.”
예상 답
- “과자도 먹고 싶은데…” “다음에 사면 돼요.”
막히면
- 표에서 ‘꼭 필요?’ 칸에 ○인 것만 손가락으로 짚고 값을 더해 봅니다.
주의
- 민지는 지어낸 인물이고, 값은 수업을 위해 정한 것입니다. 포기한 것을 ‘다음에 사기’로 미루는 것도 선택이라고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시간 선택과 포기한 것]
목적: 시간의 희소성 상황에서 선택하면 다른 것을 포기하게 된다는 것을 알고, 자기 선택과 까닭을 말하는 연습을 합니다(목표 B).
시간: 약 3분
이렇게 말해 보세요
- “2시간뿐이야. 영화를 보면 2시간을 다 써. 그럼 무엇을 못 하게 될까?”
- “③은 정답이 없어. 네가 고른 것과, 어떤 기준으로 골랐는지 말해 줘.”
정답
- ① 자전거 타기와 블록 만들기
- ② 영화 보기
- ③ 예: “자전거와 블록을 할래요. 두 가지를 할 수 있고 밖에서 움직일 수 있어서요.” (고른 것, 까닭, 포기한 것을 말하면 맞음)
막히면
- 종이 띠를 2칸으로 접어 1칸 = 1시간으로 놓고, 할 일을 칸에 넣어 보게 합니다.
주의
- 무엇을 골랐는지보다 까닭과 포기한 것을 말하는지 봅니다. ‘하나를 고르면 다른 것을 포기한다’는 생각을 어려운 낱말 없이 익히게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집 선택 이야기(부모와 함께)]
목적: 부모님이 실제로 한 선택을 인터뷰하며 희소성·기준·포기한 것을 생활 속에서 찾게 합니다(목표 A·B).
시간: 약 3분
이렇게 말해 보세요
- (부모님이 실제 이야기를 들려줍니다) “지난주에 마트에서 사과와 배 가운데 하나만 샀어. 돈이 정해져 있었거든. 사과가 더 싸고 식구들이 좋아해서 사과를 골랐어. 배는 이번에 포기했지.”
- “엄마(아빠)는 무엇이 부족해서 골랐어? 어떤 기준으로 골랐어? 포기한 것은?”
예상 답
- “돈이 부족했어요. 값이랑 좋아하는 것을 기준으로 골랐어요. 배를 포기했어요.”
정답
- 기준: 부모님의 이야기에서 부족했던 것(돈·시간·물건), 고른 것과 기준, 포기한 것 세 가지를 찾아 말하면 잘한 것입니다. 이야기는 집마다 다르므로 정해진 답이 없습니다.
막히면
- 부모님이 기억나는 일이 없으면 오늘 저녁 메뉴 정하기, 주말 계획 정하기처럼 지금 함께 하나를 골라 봅니다.
주의
- 집의 돈 사정을 자세히 말할 필요는 없습니다. 장보기, 시간 쓰기처럼 가벼운 예로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보기(희소성 설명)]
목적: 도움 없이 희소성의 뜻을 말하고, 처음 보는 상황에서 부족한 것과 선택이 필요한 까닭을 말하는지 확인합니다(목표 A).
시간: 약 4분
이렇게 말해 보세요
- “이번에는 혼자 해 볼래? ②는 계산도 해 보고 말해 줘.”
정답
- ① 예: 원하는 것은 많은데 돈·시간·물건이 부족한 것
- ② 돈. 둘을 다 사려면 4,000원 + 2,000원 = 6,000원이 필요한데 3,000원뿐이에요(3,000원이 모자라요). 장난감 하나도 3,000원으로는 살 수 없어요.
- ③ 가진 돈으로 살 수 있는 책을 고르거나, 돈을 모아 다음에 사는 것처럼 선택해야 해요(까닭과 함께 말하면 맞음).
막히면
- ②는 “둘 다 사려면 얼마가 필요해? 가진 돈은?”으로 나누어 묻습니다.
- 도움을 받아 풀었다면 기록표에 ‘도움’으로 표시합니다.
주의
- ①을 ‘물건이 적은 것’이라고만 하면 S06의 우산을 떠올리게 하고 ‘원하는 것에 비해’를 넣어 다시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답은 왼쪽과 같아? 오른쪽 답은 왜 아쉬울까?”
예상 답
- “원하는 것과 비교해야 해요.” “돈이 모자라서 둘 다 못 사요.”
정답
- ① 원하는 것은 많은데 돈·시간·물건이 부족한 것 ② 돈(6,000원이 필요한데 3,000원뿐) ③ 살 수 있는 것을 고르거나 돈을 모아 다음에 사기
막히면
- S03과 S06을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확인(용돈 6,000원으로 고르기)]
목적: 처음 보는 용돈 상황에서 쓸 수 있는 돈 안에서 고르고, 합계를 계산하고, 기준과 포기한 것을 말하는지 확인합니다(목표 B).
시간: 약 3분
이렇게 말해 보세요
- “6,000원이 있어. 숙제 때문에 줄넘기가 필요하대. 무엇을 살지 고르고, 모두 얼마인지 계산해 볼래? 왜 그렇게 골랐는지, 무엇을 포기했는지도 말해 줘.”
정답
- 예 1: 줄넘기 + 만화책 + 사탕 = 2,000 + 3,000 + 1,000 = 6,000원 / 기준: 꼭 필요한 줄넘기 먼저, 남은 돈으로 읽고 싶은 만화책과 사탕 / 포기: 축구공
- 예 2: 줄넘기 + 만화책 = 5,000원(1,000원은 남겨 둠) / 포기: 축구공, 사탕
- 기준: 합계가 6,000원 이하이고 바르게 계산했으며, 기준을 하나 이상 들어 까닭을 말하고, 포기한 것을 말하면 맞음. 줄넘기를 고르지 않았다면 그 까닭이 기준에 맞는지 이야기해 봅니다. 축구공(5,000원)과 줄넘기(2,000원)는 7,000원이라 함께 살 수 없습니다.
막히면
- “꼭 필요한 것은 무엇이었지?”만 묻고, 그것부터 고른 뒤 남은 돈을 계산하게 합니다. 그래도 어려우면 기록표에 ‘도움’으로 적습니다.
주의
- 축구공을 고르고 줄넘기를 포기하면, 숙제를 어떻게 할지 함께 생각해 보게 합니다. 정답 하나가 아니라 기준에 맞게 골랐는지를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“왜 우리는 골라야 할까? 그리고 어떻게 고르면 좋을까?”
예상 답
- “원하는 건 많은데 돈이 부족해서요. 꼭 필요한지, 값이 얼마인지 보고 골라요.”
정답
- ① 원하는 것은 많은데 돈·시간·물건이 부족한 것 ② 예: 꼭 필요한가, 값, 오래 쓸 수 있는가, 쓰임새 가운데 두 가지 ③ 포기해야 해요.
막히면
- S03, S07, S09를 다시 보여 줍니다.
주의
- 다음에 장을 보거나 용돈을 쓸 때 오늘 배운 기준으로 함께 골라 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보충(돈 계산)]
목적: 천 원 단위의 돈을 더하고 빼는 계산을 돈 카드(종이)나 실제 돈으로 다시 연습합니다.
시간: 약 4분
이렇게 말해 보세요
- “종이에 ‘1,000원’ 카드 여섯 장, ‘500원’ 카드 두 장을 만들어 볼까? 카드를 놓으며 세어 보자.”
- “①은 천 원 1장과, 천 원 1장 + 오백 원 1개를 모으면 얼마야?”
정답
- ① 2,500원
- ② 2,000원
- ③ 4권
막히면
- 천 원 카드만으로 ‘천, 이천, 삼천…’ 하고 세는 것부터 합니다.
- 보충으로도 어렵다면 2학년 ‘네 자리 수’(KR22-G02-MAT-NUM4D-L01)와 3학년 ‘세 자리 수의 덧셈’(KR22-G03-MAT-ADD3D-L01)·‘세 자리 수의 뺄셈’(KR22-G03-MAT-SUB3D-L01)을 먼저 합니다. 이 차시는 계획상 바로 앞의 선수 차시가 없습니다.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필요와 선택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용돈으로 사고 싶은 것을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살 수 있을까요?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왜 골라야 하는지 희소성으로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기준을 세워 고르고 까닭을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 계산을 해 볼까요?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3,000원에서 1,200원을 쓰면 남는 돈은?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1,500원짜리 2개의 값은?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물건과 갖고 싶은 물건을 하나씩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것과 가진 것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것에 비해 가진 것이 부족한 것을 희소성이라고 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장난감, 간식, 책,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놀이공원… 아주 많아요.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돈, 시간, 물건은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한정되어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희소성은 어디에나 있어요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가질 수 없으니 무엇을 할지 골라야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이것을 선택이라고 해요.</a:t>
            </a:r>
            <a:endParaRPr lang="ko-KR" sz="3000" dirty="0"/>
          </a:p>
        </p:txBody>
      </p:sp>
      <p:sp>
        <p:nvSpPr>
          <p:cNvPr id="5" name="S04-card17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8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5,000원으로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싶은 것이 많아요.</a:t>
            </a:r>
            <a:endParaRPr lang="ko-KR" sz="3000" dirty="0"/>
          </a:p>
        </p:txBody>
      </p:sp>
      <p:sp>
        <p:nvSpPr>
          <p:cNvPr id="7" name="S04-card19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0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 2시간에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일이 많아요.</a:t>
            </a:r>
            <a:endParaRPr lang="ko-KR" sz="3000" dirty="0"/>
          </a:p>
        </p:txBody>
      </p:sp>
      <p:sp>
        <p:nvSpPr>
          <p:cNvPr id="9" name="S04-card21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2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 한 봉지를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형제가 다 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부족해서 고를까요?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돈, 시간, 물건 가운데 무엇이 부족한가요?</a:t>
            </a:r>
            <a:endParaRPr lang="ko-KR" sz="3000" dirty="0"/>
          </a:p>
        </p:txBody>
      </p:sp>
      <p:sp>
        <p:nvSpPr>
          <p:cNvPr id="4" name="S05-chip2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5-text2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동안 만화도 보고 싶고 책도 읽고 싶어요.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2,000원으로 아이스크림과 젤리 중 하나만 살 수 있어요.</a:t>
            </a:r>
            <a:endParaRPr lang="ko-KR" sz="30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피자 한 조각을 가족 셋이 모두 먹고 싶어요.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더 부족할까요?</a:t>
            </a:r>
            <a:endParaRPr lang="ko-KR" sz="4000" dirty="0"/>
          </a:p>
        </p:txBody>
      </p:sp>
      <p:sp>
        <p:nvSpPr>
          <p:cNvPr id="3" name="S06-card3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집에는 우산이 2개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네 명이 모두 밖에 나가야 해요.</a:t>
            </a:r>
            <a:endParaRPr lang="ko-KR" sz="3000" dirty="0"/>
          </a:p>
        </p:txBody>
      </p:sp>
      <p:sp>
        <p:nvSpPr>
          <p:cNvPr id="5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3000" dirty="0"/>
          </a:p>
        </p:txBody>
      </p:sp>
      <p:sp>
        <p:nvSpPr>
          <p:cNvPr id="7" name="S06-chip34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6-text35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“우산 수가 같으니까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날이나 비 오는 날이나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부족해요.”</a:t>
            </a:r>
            <a:endParaRPr lang="ko-KR" sz="3000" dirty="0"/>
          </a:p>
        </p:txBody>
      </p:sp>
      <p:sp>
        <p:nvSpPr>
          <p:cNvPr id="9" name="S06-chip36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6-text37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 오는 날에는 우산이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사람이 많아서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부족해요.”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고를까요?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비교하면 후회가 적은 선택을 할 수 있어요.</a:t>
            </a:r>
            <a:endParaRPr lang="ko-KR" sz="3000" dirty="0"/>
          </a:p>
        </p:txBody>
      </p:sp>
      <p:sp>
        <p:nvSpPr>
          <p:cNvPr id="5" name="S07-card4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꼭 필요한가요?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곤란한가요?</a:t>
            </a:r>
            <a:endParaRPr lang="ko-KR" sz="3000" dirty="0"/>
          </a:p>
        </p:txBody>
      </p:sp>
      <p:sp>
        <p:nvSpPr>
          <p:cNvPr id="7" name="S07-card4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값은 얼마인가요?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돈 안에서 살 수 있나요?</a:t>
            </a:r>
            <a:endParaRPr lang="ko-KR" sz="3000" dirty="0"/>
          </a:p>
        </p:txBody>
      </p:sp>
      <p:sp>
        <p:nvSpPr>
          <p:cNvPr id="9" name="S07-card4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오래 쓸 수 있나요?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튼튼하고 품질이 좋은가요?</a:t>
            </a:r>
            <a:endParaRPr lang="ko-KR" sz="3000" dirty="0"/>
          </a:p>
        </p:txBody>
      </p:sp>
      <p:sp>
        <p:nvSpPr>
          <p:cNvPr id="11" name="S07-card4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어디에 쓰나요?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일이 많은가요?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민지의 용돈 5,000원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민지는 미술 시간에 쓸 색연필이 없고, 공책도 다 썼어요.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 세트와 공책을 사면 5,000원.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스티커와 과자는 이번에 포기해요.</a:t>
            </a:r>
            <a:endParaRPr lang="ko-KR" sz="3000" dirty="0"/>
          </a:p>
        </p:txBody>
      </p:sp>
      <p:graphicFrame>
        <p:nvGraphicFramePr>
          <p:cNvPr id="9" name="S08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089658"/>
          <a:ext cx="9601200" cy="914400"/>
        </p:xfrm>
        <a:graphic>
          <a:graphicData uri="http://schemas.openxmlformats.org/drawingml/2006/table">
            <a:tbl>
              <a:tblPr/>
              <a:tblGrid>
                <a:gridCol w="3264408"/>
                <a:gridCol w="2304288"/>
                <a:gridCol w="2016252"/>
                <a:gridCol w="20162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필요?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오래 써요?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색연필 세트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스티커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 2시간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타기 1시간, 블록 만들기 1시간,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보기 2시간 가운데 골라요.</a:t>
            </a:r>
            <a:endParaRPr lang="ko-KR" sz="3000" dirty="0"/>
          </a:p>
        </p:txBody>
      </p:sp>
      <p:sp>
        <p:nvSpPr>
          <p:cNvPr id="4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고르면 고르지 않은 것은 포기해요.</a:t>
            </a:r>
            <a:endParaRPr lang="ko-KR" sz="3000" dirty="0"/>
          </a:p>
        </p:txBody>
      </p:sp>
      <p:sp>
        <p:nvSpPr>
          <p:cNvPr id="6" name="S09-chip55"/>
          <p:cNvSpPr txBox="1"/>
          <p:nvPr/>
        </p:nvSpPr>
        <p:spPr>
          <a:xfrm>
            <a:off x="548640" y="25410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6"/>
          <p:cNvSpPr txBox="1"/>
          <p:nvPr/>
        </p:nvSpPr>
        <p:spPr>
          <a:xfrm>
            <a:off x="1344168" y="243840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영화를 보면 포기하는 것은?</a:t>
            </a:r>
            <a:endParaRPr lang="ko-KR" sz="3000" dirty="0"/>
          </a:p>
        </p:txBody>
      </p:sp>
      <p:sp>
        <p:nvSpPr>
          <p:cNvPr id="8" name="S09-chip57"/>
          <p:cNvSpPr txBox="1"/>
          <p:nvPr/>
        </p:nvSpPr>
        <p:spPr>
          <a:xfrm>
            <a:off x="548640" y="3496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8"/>
          <p:cNvSpPr txBox="1"/>
          <p:nvPr/>
        </p:nvSpPr>
        <p:spPr>
          <a:xfrm>
            <a:off x="1344168" y="339344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자전거와 블록을 하면 포기하는 것은?</a:t>
            </a:r>
            <a:endParaRPr lang="ko-KR" sz="3000" dirty="0"/>
          </a:p>
        </p:txBody>
      </p:sp>
      <p:sp>
        <p:nvSpPr>
          <p:cNvPr id="10" name="S09-chip59"/>
          <p:cNvSpPr txBox="1"/>
          <p:nvPr/>
        </p:nvSpPr>
        <p:spPr>
          <a:xfrm>
            <a:off x="548640" y="4451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0"/>
          <p:cNvSpPr txBox="1"/>
          <p:nvPr/>
        </p:nvSpPr>
        <p:spPr>
          <a:xfrm>
            <a:off x="1344168" y="434848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고를까요? 왜요?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선택 이야기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 보아요.</a:t>
            </a:r>
            <a:endParaRPr lang="ko-KR" sz="3000" dirty="0"/>
          </a:p>
        </p:txBody>
      </p:sp>
      <p:sp>
        <p:nvSpPr>
          <p:cNvPr id="4" name="S10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부족했던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것과 그 기준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포기한 것</a:t>
            </a:r>
            <a:endParaRPr lang="ko-KR" sz="3000" dirty="0"/>
          </a:p>
        </p:txBody>
      </p:sp>
      <p:sp>
        <p:nvSpPr>
          <p:cNvPr id="6" name="S10-stepno64"/>
          <p:cNvSpPr txBox="1"/>
          <p:nvPr/>
        </p:nvSpPr>
        <p:spPr>
          <a:xfrm>
            <a:off x="548640" y="2718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5"/>
          <p:cNvSpPr txBox="1"/>
          <p:nvPr/>
        </p:nvSpPr>
        <p:spPr>
          <a:xfrm>
            <a:off x="1325880" y="267309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최근에 둘 중 하나를 고른 일을 여쭤요.</a:t>
            </a:r>
            <a:endParaRPr lang="ko-KR" sz="2400" dirty="0"/>
          </a:p>
        </p:txBody>
      </p:sp>
      <p:sp>
        <p:nvSpPr>
          <p:cNvPr id="8" name="S10-stepno66"/>
          <p:cNvSpPr txBox="1"/>
          <p:nvPr/>
        </p:nvSpPr>
        <p:spPr>
          <a:xfrm>
            <a:off x="548640" y="35814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67"/>
          <p:cNvSpPr txBox="1"/>
          <p:nvPr/>
        </p:nvSpPr>
        <p:spPr>
          <a:xfrm>
            <a:off x="1325880" y="35814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부족해서 골랐는지 들어요.</a:t>
            </a:r>
            <a:endParaRPr lang="ko-KR" sz="2400" dirty="0"/>
          </a:p>
        </p:txBody>
      </p:sp>
      <p:sp>
        <p:nvSpPr>
          <p:cNvPr id="10" name="S10-stepno68"/>
          <p:cNvSpPr txBox="1"/>
          <p:nvPr/>
        </p:nvSpPr>
        <p:spPr>
          <a:xfrm>
            <a:off x="548640" y="4294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69"/>
          <p:cNvSpPr txBox="1"/>
          <p:nvPr/>
        </p:nvSpPr>
        <p:spPr>
          <a:xfrm>
            <a:off x="1325880" y="4294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골랐는지 들어요.</a:t>
            </a:r>
            <a:endParaRPr lang="ko-KR" sz="2400" dirty="0"/>
          </a:p>
        </p:txBody>
      </p:sp>
      <p:sp>
        <p:nvSpPr>
          <p:cNvPr id="12" name="S10-stepno70"/>
          <p:cNvSpPr txBox="1"/>
          <p:nvPr/>
        </p:nvSpPr>
        <p:spPr>
          <a:xfrm>
            <a:off x="548640" y="5007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1"/>
          <p:cNvSpPr txBox="1"/>
          <p:nvPr/>
        </p:nvSpPr>
        <p:spPr>
          <a:xfrm>
            <a:off x="1325880" y="5007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것과 함께 활동지 4에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7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7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희소성이 무엇인지 내 말로 말해요.</a:t>
            </a:r>
            <a:endParaRPr lang="ko-KR" sz="3000" dirty="0"/>
          </a:p>
        </p:txBody>
      </p:sp>
      <p:sp>
        <p:nvSpPr>
          <p:cNvPr id="5" name="S11-chip7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7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3,000원이 있는데 4,000원짜리 장난감과 2,000원짜리 책을 모두 사고 싶어요. 무엇이 부족한가요?</a:t>
            </a:r>
            <a:endParaRPr lang="ko-KR" sz="3000" dirty="0"/>
          </a:p>
        </p:txBody>
      </p:sp>
      <p:sp>
        <p:nvSpPr>
          <p:cNvPr id="7" name="S11-chip7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7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어떻게 해야 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 때문에 우리는 늘 선택해요.</a:t>
            </a:r>
            <a:endParaRPr lang="ko-KR" sz="30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8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원하는 것에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비해 부족함</a:t>
            </a:r>
            <a:endParaRPr lang="ko-KR" sz="3000" dirty="0"/>
          </a:p>
        </p:txBody>
      </p:sp>
      <p:sp>
        <p:nvSpPr>
          <p:cNvPr id="7" name="S12-text8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</a:t>
            </a:r>
            <a:endParaRPr lang="ko-KR" sz="24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돈</a:t>
            </a:r>
            <a:endParaRPr lang="ko-KR" sz="3000" dirty="0"/>
          </a:p>
        </p:txBody>
      </p:sp>
      <p:sp>
        <p:nvSpPr>
          <p:cNvPr id="9" name="S12-text8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6,000원 필요,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3,000원뿐</a:t>
            </a:r>
            <a:endParaRPr lang="ko-KR" sz="2400" dirty="0"/>
          </a:p>
        </p:txBody>
      </p:sp>
      <p:sp>
        <p:nvSpPr>
          <p:cNvPr id="10" name="S12-text8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골라야 해요</a:t>
            </a:r>
            <a:endParaRPr lang="ko-KR" sz="3000" dirty="0"/>
          </a:p>
        </p:txBody>
      </p:sp>
      <p:sp>
        <p:nvSpPr>
          <p:cNvPr id="11" name="S12-text8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사기·모으기</a:t>
            </a:r>
            <a:endParaRPr lang="ko-KR" sz="2400" dirty="0"/>
          </a:p>
        </p:txBody>
      </p:sp>
      <p:sp>
        <p:nvSpPr>
          <p:cNvPr id="12" name="S12-chip8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8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“개수가 적은 것”</a:t>
            </a:r>
            <a:endParaRPr lang="ko-KR" sz="3000" dirty="0"/>
          </a:p>
        </p:txBody>
      </p:sp>
      <p:sp>
        <p:nvSpPr>
          <p:cNvPr id="14" name="S12-text8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비교하지 않음</a:t>
            </a:r>
            <a:endParaRPr lang="ko-KR" sz="2400" dirty="0"/>
          </a:p>
        </p:txBody>
      </p:sp>
      <p:sp>
        <p:nvSpPr>
          <p:cNvPr id="15" name="S12-text9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사요”</a:t>
            </a:r>
            <a:endParaRPr lang="ko-KR" sz="3000" dirty="0"/>
          </a:p>
        </p:txBody>
      </p:sp>
      <p:sp>
        <p:nvSpPr>
          <p:cNvPr id="16" name="S12-text9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모자람을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6,000원으로 골라요</a:t>
            </a:r>
            <a:endParaRPr lang="ko-KR" sz="4000" dirty="0"/>
          </a:p>
        </p:txBody>
      </p:sp>
      <p:sp>
        <p:nvSpPr>
          <p:cNvPr id="3" name="S13-text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숙제가 있는데 줄넘기가 없어요.</a:t>
            </a:r>
            <a:endParaRPr lang="ko-KR" sz="3000" dirty="0"/>
          </a:p>
        </p:txBody>
      </p:sp>
      <p:graphicFrame>
        <p:nvGraphicFramePr>
          <p:cNvPr id="14" name="S13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2833370"/>
          <a:ext cx="420624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18928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만화책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3-chip9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9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살지 고르고, 모두 얼마인지 말해요.</a:t>
            </a:r>
            <a:endParaRPr lang="ko-KR" sz="3000" dirty="0"/>
          </a:p>
        </p:txBody>
      </p:sp>
      <p:sp>
        <p:nvSpPr>
          <p:cNvPr id="7" name="S13-chip9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9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골랐나요?</a:t>
            </a:r>
            <a:endParaRPr lang="ko-KR" sz="3000" dirty="0"/>
          </a:p>
        </p:txBody>
      </p:sp>
      <p:sp>
        <p:nvSpPr>
          <p:cNvPr id="9" name="S13-chip9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3-text9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것은 무엇인가요?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돈·시간·물건이 부족해서(희소성) 우리는 골라야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세워 고르면 후회가 적어요.</a:t>
            </a:r>
            <a:endParaRPr lang="ko-KR" sz="3000" dirty="0"/>
          </a:p>
        </p:txBody>
      </p:sp>
      <p:sp>
        <p:nvSpPr>
          <p:cNvPr id="5" name="S14-chip10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기준을 세워 비교하고 고르기</a:t>
            </a:r>
            <a:endParaRPr lang="ko-KR" sz="2400" dirty="0"/>
          </a:p>
        </p:txBody>
      </p:sp>
      <p:sp>
        <p:nvSpPr>
          <p:cNvPr id="6" name="S14-chip10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 없이 먼저 보이는 것 사기</a:t>
            </a:r>
            <a:endParaRPr lang="ko-KR" sz="2400" dirty="0"/>
          </a:p>
        </p:txBody>
      </p:sp>
      <p:sp>
        <p:nvSpPr>
          <p:cNvPr id="7" name="S14-text10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0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희소성이란?</a:t>
            </a:r>
            <a:endParaRPr lang="ko-KR" sz="2400" dirty="0"/>
          </a:p>
        </p:txBody>
      </p:sp>
      <p:sp>
        <p:nvSpPr>
          <p:cNvPr id="9" name="S14-text10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물건을 고르는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400" dirty="0"/>
          </a:p>
        </p:txBody>
      </p:sp>
      <p:sp>
        <p:nvSpPr>
          <p:cNvPr id="10" name="S14-text10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하나를 고르면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것은?</a:t>
            </a:r>
            <a:endParaRPr lang="ko-KR" sz="2400" dirty="0"/>
          </a:p>
        </p:txBody>
      </p:sp>
      <p:sp>
        <p:nvSpPr>
          <p:cNvPr id="11" name="S14-text1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교환과 교류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돈 계산하기</a:t>
            </a:r>
            <a:endParaRPr lang="ko-KR" sz="4000" dirty="0"/>
          </a:p>
        </p:txBody>
      </p:sp>
      <p:sp>
        <p:nvSpPr>
          <p:cNvPr id="3" name="S15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원짜리 돈 카드로 세어 봐요.</a:t>
            </a:r>
            <a:endParaRPr lang="ko-KR" sz="3000" dirty="0"/>
          </a:p>
        </p:txBody>
      </p:sp>
      <p:sp>
        <p:nvSpPr>
          <p:cNvPr id="4" name="S15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1,500원은 천 원 1장과 오백 원 1개예요.</a:t>
            </a:r>
            <a:endParaRPr lang="ko-KR" sz="3000" dirty="0"/>
          </a:p>
        </p:txBody>
      </p:sp>
      <p:sp>
        <p:nvSpPr>
          <p:cNvPr id="6" name="S15-chip11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5-text11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 + 1,500원</a:t>
            </a:r>
            <a:endParaRPr lang="ko-KR" sz="3000" dirty="0"/>
          </a:p>
        </p:txBody>
      </p:sp>
      <p:sp>
        <p:nvSpPr>
          <p:cNvPr id="8" name="S15-chip1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5-text11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 − 3,000원</a:t>
            </a:r>
            <a:endParaRPr lang="ko-KR" sz="3000" dirty="0"/>
          </a:p>
        </p:txBody>
      </p:sp>
      <p:sp>
        <p:nvSpPr>
          <p:cNvPr id="10" name="S15-chip11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5-text11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4,000원으로 1,000원짜리 공책을 몇 권 살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필요와 선택</dc:title>
  <dc:subject>KR22-G04-SOC-SCARCITY-L01</dc:subject>
  <dc:creator>education-ppt</dc:creator>
  <cp:lastModifiedBy>education-ppt</cp:lastModifiedBy>
  <cp:revision>1</cp:revision>
  <dcterms:created xsi:type="dcterms:W3CDTF">2026-10-26T09:51:49Z</dcterms:created>
  <dcterms:modified xsi:type="dcterms:W3CDTF">2026-10-26T09:51:49Z</dcterms:modified>
</cp:coreProperties>
</file>