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3c684d5-1470-c23e-e2ef-e57d2529af84}">
          <p14:sldIdLst>
            <p14:sldId id="256"/>
            <p14:sldId id="257"/>
          </p14:sldIdLst>
        </p14:section>
        <p14:section name="개념" id="{a023b309-9c3c-13a8-63de-fe1b71d83088}">
          <p14:sldIdLst>
            <p14:sldId id="258"/>
            <p14:sldId id="260"/>
            <p14:sldId id="261"/>
            <p14:sldId id="263"/>
            <p14:sldId id="268"/>
          </p14:sldIdLst>
        </p14:section>
        <p14:section name="연습" id="{1010e6fd-770b-b1fa-5a37-56df3f5011b3}">
          <p14:sldIdLst>
            <p14:sldId id="259"/>
            <p14:sldId id="262"/>
            <p14:sldId id="264"/>
            <p14:sldId id="265"/>
            <p14:sldId id="269"/>
          </p14:sldIdLst>
        </p14:section>
        <p14:section name="개념" id="{aa8f7141-658b-a9ae-2bd3-19396b57e109}">
          <p14:sldIdLst/>
        </p14:section>
        <p14:section name="연습" id="{5a6bf85b-ede4-b6eb-6e64-0ebf206967eb}">
          <p14:sldIdLst/>
        </p14:section>
        <p14:section name="개념" id="{826d07cf-38fe-d0c6-97f0-77bac07002a1}">
          <p14:sldIdLst/>
        </p14:section>
        <p14:section name="연습" id="{f065fc0b-5258-6ebd-4740-c7037173776b}">
          <p14:sldIdLst/>
        </p14:section>
        <p14:section name="확인" id="{527ecbc1-85ef-81bd-4787-411863911ca9}">
          <p14:sldIdLst>
            <p14:sldId id="266"/>
            <p14:sldId id="267"/>
            <p14:sldId id="270"/>
          </p14:sldIdLst>
        </p14:section>
        <p14:section name="개념" id="{39683cf0-b8dd-77d8-a92e-621cf3e6e9c4}">
          <p14:sldIdLst/>
        </p14:section>
        <p14:section name="연습" id="{88fcc0e2-d827-867c-b6f3-78df27c0be9f}">
          <p14:sldIdLst/>
        </p14:section>
        <p14:section name="확인" id="{f75468f8-0e6d-95de-ee5e-d271a40f0269}">
          <p14:sldIdLst/>
        </p14:section>
        <p14:section name="정리" id="{01f453ba-b228-32b2-417a-92f64e2e1841}">
          <p14:sldIdLst>
            <p14:sldId id="271"/>
          </p14:sldIdLst>
        </p14:section>
        <p14:section name="보충" id="{e0284883-242f-638d-3372-549669512883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우리 동네의 불편한 점에 관심을 갖게 합니다.
시간: 약 2분
이렇게 말해 보세요
- “우리 동네에서 불편하다고 느낀 적 있어? 길, 공원, 놀이터, 버스 정류장 같은 곳을 떠올려 봐.”
- “오늘은 이런 불편을 어떻게 찾고, 왜 생겼는지 알아보고, 어떻게 해결할지 함께 정하는 방법을 배울 거야.”
예상 답
- “놀이터에 사람이 너무 많아요.” “길에 쓰레기가 있어요.” “횡단보도가 멀어요.”
막히면
- 오늘 학교에 오가는 길에 본 것을 떠올리게 하고 “거기서 불편한 건 없었어?”라고 묻습니다.
주의
- 화면의 별빛시(별빛공원, 은하동)와 그 문제는 수업을 위해 지어낸 것입니다. 우리 동네의 실제 문제는 S15와 활동지 4에서 함께 조사합니다.
- 아이가 말한 불편을 가볍게 넘기지 말고 “그건 너만 불편할까, 여러 사람이 불편할까?”라고 되물으면 S03으로 자연스럽게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확인(교환의 까닭, 기준으로 고르기)]
목적: 앞 차시 ‘교환과 교류’(KR22-G04-SOC-TRADE-L01)에서 배운 지역 사이의 교환과, 그 전 차시 ‘필요와 선택’에서 배운 기준으로 고르기를 기억하는지 확인합니다. 오늘은 기준으로 해결 방안을 비교합니다.
시간: 약 3분
이렇게 말해 보세요
- “①, 지역끼리 왜 물건과 서비스를 사고팔았지?”
- “②, 교환하면 누가 이익이었어?”
- “③, 물건을 고를 때 무엇을 보고 골랐지?”
정답
- ① 지역마다 생산하는 것이 달라서, 서로 필요한 것을 얻으려고
- ② 두 지역 모두
- ③ 꼭 필요한가, 값, 오래 쓸 수 있는가, 쓰임새 가운데 하나
막히면
- “너른들마을과 물빛마을은 무엇을 바꾸었지?”처럼 지난 시간의 예로 묻습니다.
- ③의 ‘기준으로 고르기’를 말하지 못하면 S17(보충)을 먼저 합니다. 보충으로도 어려우면 앞 차시 ‘교환과 교류’(KR22-G04-SOC-TRADE-L01)의 S07~S09와 ‘필요와 선택’(KR22-G04-SOC-SCARCITY-L01)의 S07~S08을 다시 합니다.
주의
- ①②를 잊었어도 오늘 수업에는 ③의 ‘기준으로 비교하기’가 더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지역 문제의 뜻]
목적: 지역 문제의 뜻을 알려 주고, 나 혼자 겪는 문제와 구별하게 합니다(목표 A, 오해 M1).
시간: 약 2분
이렇게 말해 보세요
- “지역 문제는 그 지역에 사는 여러 사람이 함께 겪는 불편이나 어려움이야. ‘여러 사람이 함께’가 중요해.”
- “내 연필이 부러진 것은 지역 문제일까? 공원에 쓰레기가 많은 것은?”
예상 답
- “연필은 나만 불편해요.” “공원 쓰레기는 공원에 오는 사람 모두가 불편해요.”
막히면
- “그 일 때문에 불편한 사람이 몇 명일까?”라고 묻습니다.
주의
- 지역 문제는 동네마다 다릅니다. 도시에서는 길 막힘, 촌락에서는 버스가 적은 것처럼 지역의 모습에 따라 생기는 문제도 다르다고 덧붙여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지역 문제와 나의 문제 나누기]
목적: 여러 상황을 지역 문제와 나의 문제로 나누고 까닭을 말합니다(목표 A, 오해 M1).
시간: 약 2분
이렇게 말해 보세요
- “하나씩 ○, ×를 말하고 까닭도 말해 줘. 누가 불편할까?”
정답
- ① ○ 공원에 오는 여러 사람이 불편해요.
- ② × 나만 불편해요(나의 문제).
- ③ ○ 길을 건너는 어린이와 어르신 모두가 위험해요.
- ④ × 우리 집 안의 일이에요.
막히면
- S03의 ‘여러 사람이 함께’를 다시 짚고 “불편한 사람이 여럿이야?”라고 묻습니다.
주의
- ④는 가족끼리 해결할 일이라는 것도 말해 줍니다. 나의 문제가 하찮다는 뜻이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지역 문제를 해결하는 순서]
목적: 지역 문제를 해결하는 다섯 단계를 알려 주고, 오늘 수업이 이 순서로 이어진다는 것을 보여 줍니다(목표 A·B).
시간: 약 2분
이렇게 말해 보세요
- “지역 문제는 이 순서로 해결해. 먼저 무엇이 불편한지 찾고, 왜 생겼는지 원인을 알아봐.”
- “그다음 해결 방법을 여러 개 찾아서 비교하고, 여러 사람이 함께 정해. 정한 것은 실천하고, 잘 되었는지 돌아봐.”
- “원인을 알아보지 않고 바로 해결 방법을 정하면 어떻게 될까?”
예상 답
- “엉뚱한 방법을 고를 수 있어요.”
막히면
- “배가 아픈데 왜 아픈지 모르고 약을 먹으면?”처럼 생활 예로 묻습니다.
주의
- 오늘은 별빛공원의 쓰레기 문제로 이 순서를 따라가 보고(S06~S08), 다른 문제로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시범(문제와 원인 찾기, 그림 근거)]
목적: 부모가 생각을 소리 내어 말하며 글과 그림에서 문제와 원인을 찾는 시범을 보입니다. 원인은 사람의 행동뿐 아니라 시설의 위치에도 있다는 것을 그림으로 확인합니다(목표 A, 오해 M2).
시간: 약 3분
이렇게 말해 보세요
- “엄마(아빠)가 먼저 찾아볼게. 문제는 ‘쉼터 둘레에 쓰레기가 쌓여 냄새가 난다’는 거야. 공원에 오는 여러 사람이 불편하니까 지역 문제지.”
- “원인은 무엇일까? 글에는 쓰레기를 두고 가는 사람이 있다고 했어. 그림도 볼까? 쓰레기통은 어디에 있어? 쉼터와 가까워?”
- “그러니까 원인은 두 가지야. 쓰레기를 두고 가는 사람도 있고, 쓰레기통이 쉼터에서 멀리 입구에만 있어.”
예상 답
- “쓰레기통이 입구에만 있어서 멀어요.” “사람이 많이 와서요.”
정답
- 문제: 쉼터 둘레에 쓰레기가 쌓여 냄새가 나요(공원을 쓰는 여러 사람이 불편해요).
- 원인: 쓰레기통이 입구에 하나뿐이라 쉼터에서 멀어요. 쓰레기를 두고 가는 사람이 있어요. 주말에 사람이 많이 와요.
막히면
- 그림에서 쓰레기통과 쉼터를 손가락으로 차례로 짚고 “두 곳 사이가 가까워, 멀어?”라고 묻습니다.
주의
- ‘나쁜 사람 때문’만 말하면 그림을 보며 시설(쓰레기통의 수와 위치)도 원인이 될 수 있다는 것을 찾게 합니다. 원인을 알아야 알맞은 해결 방안을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문제와 원인 찾기 연습]
목적: 짧은 상황에서 문제와 원인을 나누어 말합니다(목표 A, 오해 M2).
시간: 약 3분
이렇게 말해 보세요
- “①에서 불편한 것은 무엇이야? 그건 왜 생겼을까?”
- “②도 문제와 원인을 나누어 말해 볼래?”
정답
- ① 문제: 아침마다 학교 앞 길이 막혀요(걷는 어린이도 위험해요). 원인: 차로 아이를 데려다주는 집이 많아 학교 앞에 차가 몰려요.
- ② 문제: 밤에 산책길이 어두워 무서워요. 원인: 가로등이 고장 났어요.
막히면
- 문장 두 개 가운데 “어느 문장이 불편한 점이고, 어느 문장이 그 까닭이야?”라고 묻습니다.
주의
- ②처럼 원인이 시설에 있으면 고치는 곳(시청·구청)에 알리는 것도 해결 방법이 된다고 말해 줍니다.
- 여기까지가 문제와 원인을 찾는 부분입니다.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시범(기준으로 해결 방안 비교하기)]
목적: 해결 방안 세 가지를 기준(효과, 돈과 시간, 모두에게 괜찮은지)으로 비교해 고르는 시범을 보입니다(목표 B, 오해 M3).
시간: 약 3분
이렇게 말해 보세요
- “해결 방안을 세 개 생각했어. 기준 세 가지로 하나씩 따져 볼게. ○는 좋음, △는 보통, ×는 좋지 않음이야.”
- “쉼터를 닫으면 쓰레기는 줄겠지만, 공원에 와서 쉬고 싶은 사람들은 어떨까? 그래서 ‘모두에게’ 칸이 ×야.”
- “엄마(아빠)는 쓰레기통을 더 놓고, 되가져가기도 함께 알리는 방법을 고를래. 효과가 있고 모두에게 괜찮으니까. 너라면 무엇을 고를래?”
예상 답
- “쓰레기통을 더 놓을래요. 버리기 쉬우니까요.”
막히면
- 기준 한 가지(효과)만 먼저 비교하고, 그다음 기준을 하나씩 늘립니다.
주의
- 표의 ○, △, ×는 하나의 예입니다. 아이가 다르게 매겨도 까닭이 있으면 받아 줍니다. 기준과 까닭으로 판단하는 것이 중요합니다.
- 실제로 공원에 쓰레기통을 놓는 일은 시청·구청에서 하고, 주민은 의견을 내고 되가져가기를 실천할 수 있다고 덧붙여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기준으로 해결 방안 비교 연습]
목적: S07 ①의 학교 앞 길 막힘 문제에서 해결 방안 세 가지를 기준으로 비교해 하나를 고르고 까닭을 말합니다(목표 B).
시간: 약 3분
이렇게 말해 보세요
- “‘?’ 칸을 하나씩 같이 채워 볼까? 길을 새로 넓게 지으려면 돈과 시간이 어떨까?”
- “세 가지 가운데 무엇을 고를래? 어떤 기준 때문에?”
예상 답
- ① 걸어서 등교하는 날: 효과 ○(그날은 차가 줄어요), 돈과 시간 ○, 모두에게 △(멀리 사는 아이는 힘들어요)
- ② 길 넓히기: 효과 ○, 돈과 시간 ×(많이 들고 오래 걸려요), 모두에게 △(공사하는 동안 불편해요)
- ③ 떨어진 곳에서 내려 걷기: 효과 ○, 돈과 시간 ○, 모두에게 ○(조금만 걸으면 돼요)
- 기준: 기준 두 가지 이상으로 비교하고 고른 까닭을 기준으로 말하면 잘함. 고른 방안은 아이마다 다를 수 있습니다.
막히면
- S08의 표를 다시 보며 한 기준씩 따져 봅니다.
주의
- ③에서 다리가 불편한 사람은 학교 앞까지 차로 가야 할 수 있다는 의견이 나오면 아주 좋은 생각이라고 칭찬하고, ‘모두에게 괜찮은가’ 기준이 그래서 필요하다고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오해 비교(함께 정하기)]
목적: 지역 문제는 여러 사람이 함께 겪으므로 의견을 듣고 기준으로 비교해 함께 정해야 한다는 것을 알게 합니다(목표 B, 오해 M3).
시간: 약 2분
이렇게 말해 보세요
- “공원은 누가 쓰지? 한 사람이 정하면 어떤 일이 생길까?”
- “의견이 서로 다르면 어떻게 정하면 좋을까?”
정답
- 나. 지역 문제는 여러 사람이 함께 겪으니 공원을 쓰는 사람, 청소하는 분 등 여러 의견을 들어야 모두가 받아들이고 실천할 수 있습니다.
- 의견이 다르면 기준으로 비교하며 대화하고, 그래도 정하기 어려우면 많은 사람이 찬성하는 쪽으로 정하되 적은 쪽의 의견도 존중합니다.
- 기준: 여러 사람이 함께 겪는 문제라는 점을 들어 까닭을 말하면 잘함.
막히면
- “가족 나들이 장소를 아빠 혼자 정하면 다른 가족은 어떨까?”라고 가족의 예로 묻습니다.
주의
- 주민 회의 말고도 시청·구청 누리집에 의견을 내거나, 주민센터에 알리는 방법이 있다고 짧게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하기(처음 보는 지역 문제)]
목적: 처음 보는 지역 문제에서 문제와 원인을 찾고(목표 A), 해결 방안을 기준으로 비교해 하나를 고르고 까닭을 말하는지(목표 B) 확인합니다.
시간: 약 5분
이렇게 말해 보세요
- “글을 소리 내어 읽고 ①, ②에 혼자 답해 줘. 활동지 3에 같은 글과 비교표가 있으니 ○, △, ×를 매겨 봐도 돼.”
정답
- ① 문제: 놀이터가 늘 붐벼서 오래 기다려야 해요(놀 곳이 부족해요). 원인: 새 아파트가 생겨 어린이가 많아졌는데 놀이터는 하나뿐이에요.
- ② 예: 나를 골라요. 효과가 있고, 새로 짓지 않아 돈과 시간이 적게 들어요(운동장을 관리할 사람은 필요해요).
- 예: 가를 골라요. 효과가 가장 크고 오래 쓸 수 있어요(돈과 시간이 많이 들어요).
- 예: 다는 돈이 들지 않지만 놀 수 있는 시간이 줄어 모두에게는 △일 수 있어요.
- 기준: 기준 두 가지 이상으로 비교하고, 고른 까닭을 기준으로 말하면 맞습니다. 고른 방안은 하나로 정해져 있지 않습니다.
막히면
- 바로 알려 주지 말고 “무엇이 불편해? 왜 그렇게 되었어?”, “S08의 기준 세 가지가 뭐였지?”라고만 묻습니다.
- 도움을 받아 해결했다면 기록표에 ‘도움’으로 표시합니다.
주의
- ①은 목표 A, ②는 목표 B의 확인입니다. ②에서 고른 방안이 부모의 생각과 달라도 기준과 까닭이 맞으면 잘한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S11의 답을 확인하고 다시 생각해 볼 답과 비교합니다.
시간: 약 2분
이렇게 말해 보세요
- “네 답과 왼쪽을 비교해 보자. 오른쪽처럼 말하면 무엇이 빠졌을까?”
예상 답
- “왜 그게 좋은지 기준을 안 말했어요.”
정답
- ① 문제: 놀이터가 붐벼 오래 기다려요. 원인: 어린이가 많아졌는데 놀이터는 하나뿐이에요.
- ② 가·나·다 가운데 무엇이든 기준 두 가지 이상으로 비교한 까닭이 있으면 맞음
막히면
- S06(문제와 원인)과 S08(기준으로 비교)로 돌아가 확인합니다.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우리 동네 문제를 조사하는 방법]
목적: 우리 동네의 문제를 알아보는 세 가지 방법을 알려 줍니다. 우리 동네의 문제는 사는 곳마다 다르므로 부모와 함께 조사합니다(목표 C).
시간: 약 2분
이렇게 말해 보세요
- “별빛시는 지어낸 곳이었어. 이제 진짜 우리 동네의 문제를 찾아볼 거야. 어떻게 찾을 수 있을까?”
- “시청이나 구청 누리집에는 동네 소식과 주민들이 낸 의견이 올라오기도 해. 함께 찾아볼 수 있어.”
예상 답
- “동네를 걸어 봐요.” “할머니께 여쭤봐요.”
막히면
- S01에서 아이가 말한 불편을 다시 꺼내 “그걸 더 알아보려면 어떻게 할까?”라고 묻습니다.
주의
- 누리집은 부모가 함께 봅니다. 아이 혼자 낯선 사람에게 묻거나 공사장처럼 위험한 곳에 가지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알고 싶은 것에 맞는 조사 방법 고르기]
목적: 알고 싶은 것에 따라 알맞은 조사 방법을 고르고 까닭을 말합니다(목표 C).
시간: 약 2분
이렇게 말해 보세요
- “①은 어떤 방법이 좋을까? 왜?”
- “②, ③도 골라 볼래?”
정답
- ① 살펴보기(직접 가서 보고 세어 보면 알 수 있어요)
- ② 여쭈기(오래 사신 이웃이나 가족이 알아요)
- ③ 소식 보기(시청·구청 누리집과 소식지에 계획이 나와요)
- 기준: 알고 싶은 것과 방법이 어울리고 까닭을 말하면 맞습니다. 여러 방법을 함께 써도 좋습니다.
막히면
- S13의 세 방법을 하나씩 대어 보며 “이 방법으로 알 수 있을까?”라고 묻습니다.
주의
- ③에서 ‘시청에 전화하기’라고 해도 어른과 함께라면 좋은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우리 동네 문제 조사와 실천 계획]
목적: 부모와 함께 우리 동네의 문제 하나를 정해 문제·원인·우리 가족이 할 수 있는 일을 활동지 4에 기록하고 실천합니다(목표 C). 동네 살펴보기는 수업 뒤 편한 날에 해도 됩니다.
시간: 약 4분
이렇게 말해 보세요
- “오늘 배운 순서대로 우리 동네 문제를 하나 골라 볼까? 아까 말한 불편한 점 가운데 하나도 좋아.”
- “왜 그런 일이 생겼을까? 우리 가족이 할 수 있는 일은 무엇일까?”
- “시청이나 구청에 알려야 하는 일이라면, 엄마(아빠)와 함께 의견을 써 볼 수도 있어.”
예상 답
- 예: 문제 – 아파트 놀이터 옆에 쓰레기가 많아요. 원인 – 쓰레기통이 없어요. 우리 가족이 할 일 – 쓰레기 되가져가기, 관리사무소에 쓰레기통을 부탁하기
정답
- 기준: ① 문제와 장소를 적음 ② 원인을 짐작하거나 알아내 적음 ③ 우리 가족이 실천할 일 하나를 정함(실천한 날과 결과는 활동지 4에 기록). 세 가지를 모두 하면 목표 C를 이룬 것으로 봅니다. 사는 곳마다 답이 다릅니다.
막히면
- 문제가 떠오르지 않으면 집 앞 길, 놀이터, 버스 정류장, 학교 가는 길 가운데 한 곳을 골라 함께 살펴봅니다.
주의
- 실천은 작아도 괜찮습니다(쓰레기 되가져가기, 횡단보도 신호 지키기 등). 다른 사람을 탓하거나 직접 따지러 가지 않고, 알릴 일은 어른과 함께 알맞은 곳(관리사무소, 주민센터, 시청·구청)에 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다음 학습과 복습]
목적: 핵심을 정리하고 다음 수업 첫 5분에 풀 복습 질문을 알려 줍니다.
시간: 약 2분
이렇게 말해 보세요
- “지역 문제를 해결하는 순서를 말해 볼래? 해결 방안은 어떻게 정한다고 했지?”
예상 답
- “문제를 찾고, 원인을 알아보고, 방안을 비교해서 함께 정하고 실천해요.”
정답
- ① 지역의 여러 사람이 함께 겪는 불편이나 어려움 ② 효과가 있는가, 돈과 시간, 모두에게 괜찮은가 가운데 하나 ③ 문제 찾기 → 원인 알아보기 → 방안 찾고 비교하기 → 함께 정하기 → 실천하고 돌아보기
막히면
- S05와 S08을 다시 보여 줍니다.
주의
- 활동지 4의 실천 기록을 일주일쯤 해 보고 다음 수업에서 이야기 나누면 좋습니다. 오늘로 4학년 사회 차시가 끝나고, 다음 차시는 계획상 5학년 ‘우리나라의 위치와 영역’입니다.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보충(기준을 정해 비교하고 고르기)]
목적: S02에서 기준으로 고르기를 말하기 어려워하면, 가족 나들이 장소 정하기로 ‘기준을 정해 비교하고 까닭을 말하는’ 방법을 다시 익힙니다. 오늘 해결 방안을 비교할 때 같은 방법을 씁니다.
시간: 약 4분
이렇게 말해 보세요
- “나들이 장소를 고를 때 무엇을 따져 보면 좋을까? 두 가지만 정해 볼래?”
- “공원은 돈이 어때? 놀이공원은? 그럼 어디로 갈까? 왜?”
정답
- 예: 기준 – 돈, 가족 모두 좋아하는가 / 공원: 돈이 거의 들지 않고 모두 좋아해요, 놀이공원: 재미있지만 돈이 많이 들어요 / “공원에 가요. 돈이 적게 들고 모두 좋아하니까요.” (기준으로 비교하고 까닭을 말하면 맞음)
막히면
- 부모가 기준 하나(돈)를 먼저 정해 주고, 아이는 두 곳을 그 기준으로만 비교하게 합니다.
주의
- 계획상 앞 차시는 ‘교환과 교류’(KR22-G04-SOC-TRADE-L01)이고, 기준으로 고르기는 ‘필요와 선택’(KR22-G04-SOC-SCARCITY-L01)에서 배웠습니다. 보충 뒤에도 어려우면 그 차시들을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경제와참여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 문제 해결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사회·역사 · 지역 문제 해결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사회·역사 · 지역 문제 해결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 해결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동네의 불편한 점,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해결할까요?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지역 문제와 그 원인을 찾을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기준으로 비교해 해결 방안을 정하고 실천해요.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지역끼리 교환하는 까닭은?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교환하면 누가 이익일까요?</a:t>
            </a:r>
            <a:endParaRPr lang="ko-KR" sz="30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고를 때 쓰는 기준 하나는?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문제란?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혼자만 겪는 일은 나의 문제예요.</a:t>
            </a:r>
            <a:endParaRPr lang="ko-KR" sz="3000" dirty="0"/>
          </a:p>
        </p:txBody>
      </p:sp>
      <p:sp>
        <p:nvSpPr>
          <p:cNvPr id="5" name="S03-card11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지역의 여러 사람이 함께 겪는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불편이나 어려움</a:t>
            </a:r>
            <a:endParaRPr lang="ko-KR" sz="3000" dirty="0"/>
          </a:p>
        </p:txBody>
      </p:sp>
      <p:sp>
        <p:nvSpPr>
          <p:cNvPr id="7" name="S03-card13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쓰레기, 놀이터 부족,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 막힘, 시끄러운 소리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문제일까요?</a:t>
            </a:r>
            <a:endParaRPr lang="ko-KR" sz="40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문제에 ○, 아니면 × 해요.</a:t>
            </a:r>
            <a:endParaRPr lang="ko-KR" sz="3000" dirty="0"/>
          </a:p>
        </p:txBody>
      </p:sp>
      <p:sp>
        <p:nvSpPr>
          <p:cNvPr id="4" name="S04-chip1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4-text1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쓰레기가 많아 냄새가 나요.</a:t>
            </a:r>
            <a:endParaRPr lang="ko-KR" sz="3000" dirty="0"/>
          </a:p>
        </p:txBody>
      </p:sp>
      <p:sp>
        <p:nvSpPr>
          <p:cNvPr id="6" name="S04-chip1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4-text1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운동화 끈이 자꾸 풀려요.</a:t>
            </a:r>
            <a:endParaRPr lang="ko-KR" sz="3000" dirty="0"/>
          </a:p>
        </p:txBody>
      </p:sp>
      <p:sp>
        <p:nvSpPr>
          <p:cNvPr id="8" name="S04-chip2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4-text2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횡단보도 신호가 너무 짧아요.</a:t>
            </a:r>
            <a:endParaRPr lang="ko-KR" sz="3000" dirty="0"/>
          </a:p>
        </p:txBody>
      </p:sp>
      <p:sp>
        <p:nvSpPr>
          <p:cNvPr id="10" name="S04-chip2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4-text2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동생과 장난감 때문에 다퉜어요.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문제를 해결하는 순서</a:t>
            </a:r>
            <a:endParaRPr lang="ko-KR" sz="4000" dirty="0"/>
          </a:p>
        </p:txBody>
      </p:sp>
      <p:sp>
        <p:nvSpPr>
          <p:cNvPr id="3" name="S05-stepno24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5-text25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찾기: 무엇이 불편한가요?</a:t>
            </a:r>
            <a:endParaRPr lang="ko-KR" sz="3000" dirty="0"/>
          </a:p>
        </p:txBody>
      </p:sp>
      <p:sp>
        <p:nvSpPr>
          <p:cNvPr id="5" name="S05-stepno26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5-text27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알아보기: 왜 생겼나요?</a:t>
            </a:r>
            <a:endParaRPr lang="ko-KR" sz="3000" dirty="0"/>
          </a:p>
        </p:txBody>
      </p:sp>
      <p:sp>
        <p:nvSpPr>
          <p:cNvPr id="7" name="S05-stepno28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 찾고 비교하기</a:t>
            </a:r>
            <a:endParaRPr lang="ko-KR" sz="30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정하기</a:t>
            </a:r>
            <a:endParaRPr lang="ko-KR" sz="30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실천하고 돌아보기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별빛공원의 쓰레기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문제는 무엇이고, 원인은 무엇일까요?</a:t>
            </a:r>
            <a:endParaRPr lang="ko-KR" sz="3000" dirty="0"/>
          </a:p>
        </p:txBody>
      </p:sp>
      <p:sp>
        <p:nvSpPr>
          <p:cNvPr id="5" name="S06-figure36" descr="별빛공원 그림: 왼쪽 아래에 입구가 있고 바로 옆에 쓰레기통이 하나 있다. 가운데에 놀이터, 오른쪽 위 구석에 쉼터가 있다. 입구에서 쉼터까지 점선 산책길이 이어진다. 쉼터 아래쪽에 쓰레기 네 개가 떨어져 있다. 쉼터 둘레에는 쓰레기통이 없다."/>
          <p:cNvSpPr/>
          <p:nvPr/>
        </p:nvSpPr>
        <p:spPr>
          <a:xfrm>
            <a:off x="7655905" y="1967778"/>
            <a:ext cx="3892967" cy="2335780"/>
          </a:xfrm>
          <a:custGeom>
            <a:avLst/>
            <a:gdLst/>
            <a:ahLst/>
            <a:cxnLst/>
            <a:rect l="l" t="t" r="r" b="b"/>
            <a:pathLst>
              <a:path w="3892967" h="2335780">
                <a:moveTo>
                  <a:pt x="0" y="2335780"/>
                </a:moveTo>
                <a:lnTo>
                  <a:pt x="3892967" y="2335780"/>
                </a:lnTo>
                <a:lnTo>
                  <a:pt x="3892967" y="0"/>
                </a:lnTo>
                <a:lnTo>
                  <a:pt x="0" y="0"/>
                </a:lnTo>
                <a:close/>
              </a:path>
            </a:pathLst>
          </a:custGeom>
          <a:solidFill>
            <a:srgbClr val="D9EFD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37"/>
          <p:cNvSpPr/>
          <p:nvPr/>
        </p:nvSpPr>
        <p:spPr>
          <a:xfrm>
            <a:off x="7967343" y="4225699"/>
            <a:ext cx="467156" cy="77859"/>
          </a:xfrm>
          <a:custGeom>
            <a:avLst/>
            <a:gdLst/>
            <a:ahLst/>
            <a:cxnLst/>
            <a:rect l="l" t="t" r="r" b="b"/>
            <a:pathLst>
              <a:path w="467156" h="77859">
                <a:moveTo>
                  <a:pt x="0" y="77859"/>
                </a:moveTo>
                <a:lnTo>
                  <a:pt x="467156" y="77859"/>
                </a:lnTo>
                <a:lnTo>
                  <a:pt x="467156" y="0"/>
                </a:lnTo>
                <a:lnTo>
                  <a:pt x="0" y="0"/>
                </a:lnTo>
                <a:close/>
              </a:path>
            </a:pathLst>
          </a:custGeom>
          <a:solidFill>
            <a:srgbClr val="264653"/>
          </a:solidFill>
          <a:ln/>
        </p:spPr>
      </p:sp>
      <p:sp>
        <p:nvSpPr>
          <p:cNvPr id="7" name="S06-mark38"/>
          <p:cNvSpPr/>
          <p:nvPr/>
        </p:nvSpPr>
        <p:spPr>
          <a:xfrm>
            <a:off x="8940584" y="2902090"/>
            <a:ext cx="1167890" cy="661804"/>
          </a:xfrm>
          <a:custGeom>
            <a:avLst/>
            <a:gdLst/>
            <a:ahLst/>
            <a:cxnLst/>
            <a:rect l="l" t="t" r="r" b="b"/>
            <a:pathLst>
              <a:path w="1167890" h="661804">
                <a:moveTo>
                  <a:pt x="0" y="661804"/>
                </a:moveTo>
                <a:lnTo>
                  <a:pt x="1167890" y="661804"/>
                </a:lnTo>
                <a:lnTo>
                  <a:pt x="1167890" y="0"/>
                </a:lnTo>
                <a:lnTo>
                  <a:pt x="0" y="0"/>
                </a:lnTo>
                <a:close/>
              </a:path>
            </a:pathLst>
          </a:custGeom>
          <a:solidFill>
            <a:srgbClr val="F3E6A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39"/>
          <p:cNvSpPr/>
          <p:nvPr/>
        </p:nvSpPr>
        <p:spPr>
          <a:xfrm>
            <a:off x="10225263" y="2084567"/>
            <a:ext cx="1167890" cy="545015"/>
          </a:xfrm>
          <a:custGeom>
            <a:avLst/>
            <a:gdLst/>
            <a:ahLst/>
            <a:cxnLst/>
            <a:rect l="l" t="t" r="r" b="b"/>
            <a:pathLst>
              <a:path w="1167890" h="545015">
                <a:moveTo>
                  <a:pt x="0" y="545015"/>
                </a:moveTo>
                <a:lnTo>
                  <a:pt x="1167890" y="545015"/>
                </a:lnTo>
                <a:lnTo>
                  <a:pt x="116789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F3F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mark40"/>
          <p:cNvSpPr/>
          <p:nvPr/>
        </p:nvSpPr>
        <p:spPr>
          <a:xfrm>
            <a:off x="8590217" y="3933726"/>
            <a:ext cx="214113" cy="233578"/>
          </a:xfrm>
          <a:custGeom>
            <a:avLst/>
            <a:gdLst/>
            <a:ahLst/>
            <a:cxnLst/>
            <a:rect l="l" t="t" r="r" b="b"/>
            <a:pathLst>
              <a:path w="214113" h="233578">
                <a:moveTo>
                  <a:pt x="0" y="233578"/>
                </a:moveTo>
                <a:lnTo>
                  <a:pt x="214113" y="233578"/>
                </a:lnTo>
                <a:lnTo>
                  <a:pt x="214113" y="0"/>
                </a:lnTo>
                <a:lnTo>
                  <a:pt x="0" y="0"/>
                </a:lnTo>
                <a:close/>
              </a:path>
            </a:pathLst>
          </a:custGeom>
          <a:solidFill>
            <a:srgbClr val="9CA3A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mark41"/>
          <p:cNvSpPr/>
          <p:nvPr/>
        </p:nvSpPr>
        <p:spPr>
          <a:xfrm>
            <a:off x="10291444" y="2754158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1" name="S06-mark42"/>
          <p:cNvSpPr/>
          <p:nvPr/>
        </p:nvSpPr>
        <p:spPr>
          <a:xfrm>
            <a:off x="10563951" y="2832017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2" name="S06-mark43"/>
          <p:cNvSpPr/>
          <p:nvPr/>
        </p:nvSpPr>
        <p:spPr>
          <a:xfrm>
            <a:off x="10875389" y="2734693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3" name="S06-mark44"/>
          <p:cNvSpPr/>
          <p:nvPr/>
        </p:nvSpPr>
        <p:spPr>
          <a:xfrm>
            <a:off x="11147896" y="2812552"/>
            <a:ext cx="101217" cy="101217"/>
          </a:xfrm>
          <a:custGeom>
            <a:avLst/>
            <a:gdLst/>
            <a:ahLst/>
            <a:cxnLst/>
            <a:rect l="l" t="t" r="r" b="b"/>
            <a:pathLst>
              <a:path w="101217" h="101217">
                <a:moveTo>
                  <a:pt x="0" y="101217"/>
                </a:moveTo>
                <a:lnTo>
                  <a:pt x="101217" y="101217"/>
                </a:lnTo>
                <a:lnTo>
                  <a:pt x="1012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B5E3C"/>
          </a:solidFill>
          <a:ln/>
        </p:spPr>
      </p:sp>
      <p:sp>
        <p:nvSpPr>
          <p:cNvPr id="14" name="S06-mark45"/>
          <p:cNvSpPr/>
          <p:nvPr/>
        </p:nvSpPr>
        <p:spPr>
          <a:xfrm flipV="1">
            <a:off x="8200921" y="2512794"/>
            <a:ext cx="0" cy="169344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5" name="S06-mark46"/>
          <p:cNvSpPr/>
          <p:nvPr/>
        </p:nvSpPr>
        <p:spPr>
          <a:xfrm>
            <a:off x="8200921" y="2512794"/>
            <a:ext cx="1985413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6" name="S06-label48"/>
          <p:cNvSpPr txBox="1"/>
          <p:nvPr/>
        </p:nvSpPr>
        <p:spPr>
          <a:xfrm>
            <a:off x="7847353" y="428824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</a:t>
            </a:r>
            <a:endParaRPr lang="ko-KR" sz="2400" dirty="0"/>
          </a:p>
        </p:txBody>
      </p:sp>
      <p:sp>
        <p:nvSpPr>
          <p:cNvPr id="17" name="S06-label50"/>
          <p:cNvSpPr txBox="1"/>
          <p:nvPr/>
        </p:nvSpPr>
        <p:spPr>
          <a:xfrm>
            <a:off x="8862725" y="3899703"/>
            <a:ext cx="105562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쓰레기통</a:t>
            </a:r>
            <a:endParaRPr lang="ko-KR" sz="1900" dirty="0"/>
          </a:p>
        </p:txBody>
      </p:sp>
      <p:sp>
        <p:nvSpPr>
          <p:cNvPr id="18" name="S06-label52"/>
          <p:cNvSpPr txBox="1"/>
          <p:nvPr/>
        </p:nvSpPr>
        <p:spPr>
          <a:xfrm>
            <a:off x="9021609" y="3042492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</a:t>
            </a:r>
            <a:endParaRPr lang="ko-KR" sz="2400" dirty="0"/>
          </a:p>
        </p:txBody>
      </p:sp>
      <p:sp>
        <p:nvSpPr>
          <p:cNvPr id="19" name="S06-label54"/>
          <p:cNvSpPr txBox="1"/>
          <p:nvPr/>
        </p:nvSpPr>
        <p:spPr>
          <a:xfrm>
            <a:off x="10455640" y="216657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쉼터</a:t>
            </a:r>
            <a:endParaRPr lang="ko-KR" sz="2400" dirty="0"/>
          </a:p>
        </p:txBody>
      </p:sp>
      <p:sp>
        <p:nvSpPr>
          <p:cNvPr id="20" name="S06-label56"/>
          <p:cNvSpPr txBox="1"/>
          <p:nvPr/>
        </p:nvSpPr>
        <p:spPr>
          <a:xfrm>
            <a:off x="10360704" y="2906996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</a:t>
            </a:r>
            <a:endParaRPr lang="ko-KR" sz="1900" dirty="0"/>
          </a:p>
        </p:txBody>
      </p:sp>
      <p:sp>
        <p:nvSpPr>
          <p:cNvPr id="21" name="S06-label58"/>
          <p:cNvSpPr txBox="1"/>
          <p:nvPr/>
        </p:nvSpPr>
        <p:spPr>
          <a:xfrm>
            <a:off x="8492080" y="2167333"/>
            <a:ext cx="81915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9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산책길</a:t>
            </a:r>
            <a:endParaRPr lang="ko-KR" sz="1900" dirty="0"/>
          </a:p>
        </p:txBody>
      </p:sp>
      <p:sp>
        <p:nvSpPr>
          <p:cNvPr id="22" name="S06-passagebox59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23" name="S06-passage60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주말마다 별빛공원 쉼터에서 도시락을 먹는 사람이 많아요.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쓰레기통은 입구에 하나뿐이고, 쓰레기를 두고 가는 사람도 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쉼터 둘레에 쓰레기가 쌓여 냄새가 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찾아요</a:t>
            </a:r>
            <a:endParaRPr lang="ko-KR" sz="4000" dirty="0"/>
          </a:p>
        </p:txBody>
      </p:sp>
      <p:sp>
        <p:nvSpPr>
          <p:cNvPr id="3" name="S07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원인을 나누어 말해요.</a:t>
            </a:r>
            <a:endParaRPr lang="ko-KR" sz="3000" dirty="0"/>
          </a:p>
        </p:txBody>
      </p:sp>
      <p:sp>
        <p:nvSpPr>
          <p:cNvPr id="4" name="S07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문제: 무엇이 불편한가요?  원인: 왜 생겼나요?</a:t>
            </a:r>
            <a:endParaRPr lang="ko-KR" sz="3000" dirty="0"/>
          </a:p>
        </p:txBody>
      </p:sp>
      <p:sp>
        <p:nvSpPr>
          <p:cNvPr id="6" name="S07-chip6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text6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아침마다 학교 앞 길이 막혀요.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차로 아이를 데려다주는 집이 많아요.</a:t>
            </a:r>
            <a:endParaRPr lang="ko-KR" sz="3000" dirty="0"/>
          </a:p>
        </p:txBody>
      </p:sp>
      <p:sp>
        <p:nvSpPr>
          <p:cNvPr id="8" name="S07-chip6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text67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공원 산책길이 어두워 무서워요.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가로등 두 개가 고장 났어요.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방안 비교하기</a:t>
            </a:r>
            <a:endParaRPr lang="ko-KR" sz="4000" dirty="0"/>
          </a:p>
        </p:txBody>
      </p:sp>
      <p:sp>
        <p:nvSpPr>
          <p:cNvPr id="3" name="S08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별빛공원 쓰레기 문제의 해결 방안이에요.</a:t>
            </a:r>
            <a:endParaRPr lang="ko-KR" sz="3000" dirty="0"/>
          </a:p>
        </p:txBody>
      </p:sp>
      <p:sp>
        <p:nvSpPr>
          <p:cNvPr id="4" name="S08-card6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7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비교하고 까닭을 들어 정해요.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방안을 함께 골라도 좋아요.</a:t>
            </a:r>
            <a:endParaRPr lang="ko-KR" sz="3000" dirty="0"/>
          </a:p>
        </p:txBody>
      </p:sp>
      <p:graphicFrame>
        <p:nvGraphicFramePr>
          <p:cNvPr id="9" name="S08-table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21992"/>
          <a:ext cx="10972800" cy="914400"/>
        </p:xfrm>
        <a:graphic>
          <a:graphicData uri="http://schemas.openxmlformats.org/drawingml/2006/table">
            <a:tbl>
              <a:tblPr/>
              <a:tblGrid>
                <a:gridCol w="4059936"/>
                <a:gridCol w="2084832"/>
                <a:gridCol w="2304288"/>
                <a:gridCol w="2523744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방안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돈과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모두에게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괜찮나요?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쉼터에 쓰레기통 더 놓기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 조금 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‘쓰레기 되가져가기’ 알리기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적게 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공원 쉼터 닫기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적게 들어요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쉴 곳이 없어요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앞 길 막힘</a:t>
            </a:r>
            <a:endParaRPr lang="ko-KR" sz="4000" dirty="0"/>
          </a:p>
        </p:txBody>
      </p:sp>
      <p:sp>
        <p:nvSpPr>
          <p:cNvPr id="3" name="S09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○, △, ×를 매기고 하나를 골라요.</a:t>
            </a:r>
            <a:endParaRPr lang="ko-KR" sz="3000" dirty="0"/>
          </a:p>
        </p:txBody>
      </p:sp>
      <p:sp>
        <p:nvSpPr>
          <p:cNvPr id="4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방안을 고를까요? 기준을 들어 까닭을 말해요.</a:t>
            </a:r>
            <a:endParaRPr lang="ko-KR" sz="3000" dirty="0"/>
          </a:p>
        </p:txBody>
      </p:sp>
      <p:graphicFrame>
        <p:nvGraphicFramePr>
          <p:cNvPr id="10" name="S09-table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417064"/>
          <a:ext cx="1097280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084832"/>
                <a:gridCol w="2084832"/>
                <a:gridCol w="2414016"/>
              </a:tblGrid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방안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돈과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시간은?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모두에게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괜찮나요?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걸어서 등교하는 날 정하기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학교 앞 길을 넓게 새로 짓기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조금 떨어진 곳에서 내려 걷기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정할까요?</a:t>
            </a:r>
            <a:endParaRPr lang="ko-KR" sz="4000" dirty="0"/>
          </a:p>
        </p:txBody>
      </p:sp>
      <p:sp>
        <p:nvSpPr>
          <p:cNvPr id="3" name="S10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별빛공원 쓰레기 문제를 정하는 주민 회의예요.</a:t>
            </a:r>
            <a:endParaRPr lang="ko-KR" sz="3000" dirty="0"/>
          </a:p>
        </p:txBody>
      </p:sp>
      <p:sp>
        <p:nvSpPr>
          <p:cNvPr id="5" name="S10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알맞을까요? 왜요?</a:t>
            </a:r>
            <a:endParaRPr lang="ko-KR" sz="3000" dirty="0"/>
          </a:p>
        </p:txBody>
      </p:sp>
      <p:sp>
        <p:nvSpPr>
          <p:cNvPr id="7" name="S10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10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 생각이 제일 좋으니까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그냥 내 생각대로 해요.”</a:t>
            </a:r>
            <a:endParaRPr lang="ko-KR" sz="3000" dirty="0"/>
          </a:p>
        </p:txBody>
      </p:sp>
      <p:sp>
        <p:nvSpPr>
          <p:cNvPr id="9" name="S10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10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“여러 사람의 의견을 듣고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기준으로 비교해 정해요.”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은하동 놀이터</a:t>
            </a:r>
            <a:endParaRPr lang="ko-KR" sz="4000" dirty="0"/>
          </a:p>
        </p:txBody>
      </p:sp>
      <p:sp>
        <p:nvSpPr>
          <p:cNvPr id="3" name="S11-card8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8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문제와 원인은 무엇일까요?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기준으로 비교해 하나를 고르고 까닭을 말해요.</a:t>
            </a:r>
            <a:endParaRPr lang="ko-KR" sz="3000" dirty="0"/>
          </a:p>
        </p:txBody>
      </p:sp>
      <p:sp>
        <p:nvSpPr>
          <p:cNvPr id="5" name="S11-passagebox86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87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은하동에 새 아파트가 생겨 어린이가 많아졌어요. 놀이터는 하나뿐이라 늘 붐비고 오래 기다려야 해요.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주민들이 낸 해결 방안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가. 놀이터를 새로 짓기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나. 방과 후에 학교 운동장 열기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 나이별로 놀이터 이용 시간 나누기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문제와 원인을 나누고, 기준을 들어 까닭을 말해요.</a:t>
            </a:r>
            <a:endParaRPr lang="ko-KR" sz="3000" dirty="0"/>
          </a:p>
        </p:txBody>
      </p:sp>
      <p:sp>
        <p:nvSpPr>
          <p:cNvPr id="5" name="S12-chip9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잘한 답</a:t>
            </a:r>
            <a:endParaRPr lang="ko-KR" sz="2400" dirty="0"/>
          </a:p>
        </p:txBody>
      </p:sp>
      <p:sp>
        <p:nvSpPr>
          <p:cNvPr id="6" name="S12-text91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문제: 붐벼서 오래 기다려요</a:t>
            </a:r>
            <a:endParaRPr lang="ko-KR" sz="3000" dirty="0"/>
          </a:p>
        </p:txBody>
      </p:sp>
      <p:sp>
        <p:nvSpPr>
          <p:cNvPr id="7" name="S12-text92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원인: 어린이는 늘고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놀이터는 하나뿐</a:t>
            </a:r>
            <a:endParaRPr lang="ko-KR" sz="3000" dirty="0"/>
          </a:p>
        </p:txBody>
      </p:sp>
      <p:sp>
        <p:nvSpPr>
          <p:cNvPr id="8" name="S12-text93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기준을 들어 고른 까닭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(가·나·다 모두 가능)</a:t>
            </a:r>
            <a:endParaRPr lang="ko-KR" sz="3000" dirty="0"/>
          </a:p>
        </p:txBody>
      </p:sp>
      <p:sp>
        <p:nvSpPr>
          <p:cNvPr id="9" name="S12-chip94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다시 생각해요</a:t>
            </a:r>
            <a:endParaRPr lang="ko-KR" sz="2400" dirty="0"/>
          </a:p>
        </p:txBody>
      </p:sp>
      <p:sp>
        <p:nvSpPr>
          <p:cNvPr id="10" name="S12-text95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“새로 짓는 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최고예요.”</a:t>
            </a:r>
            <a:endParaRPr lang="ko-KR" sz="3000" dirty="0"/>
          </a:p>
        </p:txBody>
      </p:sp>
      <p:sp>
        <p:nvSpPr>
          <p:cNvPr id="11" name="S12-text96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기준과 까닭이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빠짐</a:t>
            </a:r>
            <a:endParaRPr lang="ko-KR" sz="2400" dirty="0"/>
          </a:p>
        </p:txBody>
      </p:sp>
      <p:sp>
        <p:nvSpPr>
          <p:cNvPr id="12" name="S12-text97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문제처럼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ko-KR" sz="2400" dirty="0"/>
          </a:p>
        </p:txBody>
      </p:sp>
      <p:sp>
        <p:nvSpPr>
          <p:cNvPr id="13" name="S12-text98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‘왜’를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찾아요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문제 조사</a:t>
            </a:r>
            <a:endParaRPr lang="ko-KR" sz="4000" dirty="0"/>
          </a:p>
        </p:txBody>
      </p:sp>
      <p:sp>
        <p:nvSpPr>
          <p:cNvPr id="3" name="S13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가족이 할 수 있는 일도 찾아요.</a:t>
            </a:r>
            <a:endParaRPr lang="ko-KR" sz="3000" dirty="0"/>
          </a:p>
        </p:txBody>
      </p:sp>
      <p:sp>
        <p:nvSpPr>
          <p:cNvPr id="5" name="S13-card10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3-cardtext10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살펴보기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동네를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걸으며 불편한 곳을 찾아요.</a:t>
            </a:r>
            <a:endParaRPr lang="ko-KR" sz="3000" dirty="0"/>
          </a:p>
        </p:txBody>
      </p:sp>
      <p:sp>
        <p:nvSpPr>
          <p:cNvPr id="7" name="S13-card10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0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여쭈기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이웃께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점을 여쭈어요.</a:t>
            </a:r>
            <a:endParaRPr lang="ko-KR" sz="3000" dirty="0"/>
          </a:p>
        </p:txBody>
      </p:sp>
      <p:sp>
        <p:nvSpPr>
          <p:cNvPr id="9" name="S13-card10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3-cardtext10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소식 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시청·구청 누리집과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소식지를 함께 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조사할까요?</a:t>
            </a:r>
            <a:endParaRPr lang="ko-KR" sz="4000" dirty="0"/>
          </a:p>
        </p:txBody>
      </p:sp>
      <p:sp>
        <p:nvSpPr>
          <p:cNvPr id="3" name="S14-text10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방법을 골라요.</a:t>
            </a:r>
            <a:endParaRPr lang="ko-KR" sz="3000" dirty="0"/>
          </a:p>
        </p:txBody>
      </p:sp>
      <p:sp>
        <p:nvSpPr>
          <p:cNvPr id="4" name="S14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살펴보기 · 여쭈기 · 소식 보기</a:t>
            </a:r>
            <a:endParaRPr lang="ko-KR" sz="3000" dirty="0"/>
          </a:p>
        </p:txBody>
      </p:sp>
      <p:sp>
        <p:nvSpPr>
          <p:cNvPr id="6" name="S14-chip11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4-text11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 쓰레기가 얼마나 많은지 알고 싶어요.</a:t>
            </a:r>
            <a:endParaRPr lang="ko-KR" sz="3000" dirty="0"/>
          </a:p>
        </p:txBody>
      </p:sp>
      <p:sp>
        <p:nvSpPr>
          <p:cNvPr id="8" name="S14-chip11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4-text11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문제가 오래되었는지 궁금해요.</a:t>
            </a:r>
            <a:endParaRPr lang="ko-KR" sz="3000" dirty="0"/>
          </a:p>
        </p:txBody>
      </p:sp>
      <p:sp>
        <p:nvSpPr>
          <p:cNvPr id="10" name="S14-chip11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4-text11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시에서 고칠 계획이 있는지 궁금해요.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문제 찾기</a:t>
            </a:r>
            <a:endParaRPr lang="ko-KR" sz="4000" dirty="0"/>
          </a:p>
        </p:txBody>
      </p:sp>
      <p:sp>
        <p:nvSpPr>
          <p:cNvPr id="3" name="S15-card1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어른과 함께 다니고, 위험한 곳은 멀리서 봐요.</a:t>
            </a:r>
            <a:endParaRPr lang="ko-KR" sz="3000" dirty="0"/>
          </a:p>
        </p:txBody>
      </p:sp>
      <p:sp>
        <p:nvSpPr>
          <p:cNvPr id="5" name="S15-card118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119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문제와 장소를 적었어요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원인을 적었어요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실천할 일을 정했어요</a:t>
            </a:r>
            <a:endParaRPr lang="ko-KR" sz="3000" dirty="0"/>
          </a:p>
        </p:txBody>
      </p:sp>
      <p:sp>
        <p:nvSpPr>
          <p:cNvPr id="7" name="S15-stepno120"/>
          <p:cNvSpPr txBox="1"/>
          <p:nvPr/>
        </p:nvSpPr>
        <p:spPr>
          <a:xfrm>
            <a:off x="548640" y="16885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5-text121"/>
          <p:cNvSpPr txBox="1"/>
          <p:nvPr/>
        </p:nvSpPr>
        <p:spPr>
          <a:xfrm>
            <a:off x="1325880" y="16885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 동네를 살펴요.</a:t>
            </a:r>
            <a:endParaRPr lang="ko-KR" sz="3000" dirty="0"/>
          </a:p>
        </p:txBody>
      </p:sp>
      <p:sp>
        <p:nvSpPr>
          <p:cNvPr id="9" name="S15-stepno122"/>
          <p:cNvSpPr txBox="1"/>
          <p:nvPr/>
        </p:nvSpPr>
        <p:spPr>
          <a:xfrm>
            <a:off x="548640" y="24018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5-text123"/>
          <p:cNvSpPr txBox="1"/>
          <p:nvPr/>
        </p:nvSpPr>
        <p:spPr>
          <a:xfrm>
            <a:off x="1325880" y="24018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불편한 점 하나를 정해요.</a:t>
            </a:r>
            <a:endParaRPr lang="ko-KR" sz="3000" dirty="0"/>
          </a:p>
        </p:txBody>
      </p:sp>
      <p:sp>
        <p:nvSpPr>
          <p:cNvPr id="11" name="S15-stepno124"/>
          <p:cNvSpPr txBox="1"/>
          <p:nvPr/>
        </p:nvSpPr>
        <p:spPr>
          <a:xfrm>
            <a:off x="548640" y="31150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5-text125"/>
          <p:cNvSpPr txBox="1"/>
          <p:nvPr/>
        </p:nvSpPr>
        <p:spPr>
          <a:xfrm>
            <a:off x="1325880" y="31150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원인을 짐작하고 여쭈어요.</a:t>
            </a:r>
            <a:endParaRPr lang="ko-KR" sz="3000" dirty="0"/>
          </a:p>
        </p:txBody>
      </p:sp>
      <p:sp>
        <p:nvSpPr>
          <p:cNvPr id="13" name="S15-stepno126"/>
          <p:cNvSpPr txBox="1"/>
          <p:nvPr/>
        </p:nvSpPr>
        <p:spPr>
          <a:xfrm>
            <a:off x="548640" y="3874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15-text127"/>
          <p:cNvSpPr txBox="1"/>
          <p:nvPr/>
        </p:nvSpPr>
        <p:spPr>
          <a:xfrm>
            <a:off x="1325880" y="382828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가족이 할 일을 정해 실천해요.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28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29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문제는 문제 찾기 → 원인 → 방안 비교 →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정하기 → 실천으로 해결해요.</a:t>
            </a:r>
            <a:endParaRPr lang="ko-KR" sz="3000" dirty="0"/>
          </a:p>
        </p:txBody>
      </p:sp>
      <p:sp>
        <p:nvSpPr>
          <p:cNvPr id="5" name="S16-chip130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기준으로 비교해 함께 정하기</a:t>
            </a:r>
            <a:endParaRPr lang="ko-KR" sz="2400" dirty="0"/>
          </a:p>
        </p:txBody>
      </p:sp>
      <p:sp>
        <p:nvSpPr>
          <p:cNvPr id="6" name="S16-chip131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내 생각만 고집하기</a:t>
            </a:r>
            <a:endParaRPr lang="ko-KR" sz="2400" dirty="0"/>
          </a:p>
        </p:txBody>
      </p:sp>
      <p:sp>
        <p:nvSpPr>
          <p:cNvPr id="7" name="S16-text132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33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지역 문제란?</a:t>
            </a:r>
            <a:endParaRPr lang="ko-KR" sz="2400" dirty="0"/>
          </a:p>
        </p:txBody>
      </p:sp>
      <p:sp>
        <p:nvSpPr>
          <p:cNvPr id="9" name="S16-text134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방안을 비교하는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하나는?</a:t>
            </a:r>
            <a:endParaRPr lang="ko-KR" sz="2400" dirty="0"/>
          </a:p>
        </p:txBody>
      </p:sp>
      <p:sp>
        <p:nvSpPr>
          <p:cNvPr id="10" name="S16-text135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해결하는 순서는?</a:t>
            </a:r>
            <a:endParaRPr lang="ko-KR" sz="2400" dirty="0"/>
          </a:p>
        </p:txBody>
      </p:sp>
      <p:sp>
        <p:nvSpPr>
          <p:cNvPr id="11" name="S16-text13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우리나라의 위치와 영역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기준으로 골라요</a:t>
            </a:r>
            <a:endParaRPr lang="ko-KR" sz="4000" dirty="0"/>
          </a:p>
        </p:txBody>
      </p:sp>
      <p:sp>
        <p:nvSpPr>
          <p:cNvPr id="3" name="S17-text1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 가족 나들이 장소를 정해요.</a:t>
            </a:r>
            <a:endParaRPr lang="ko-KR" sz="3000" dirty="0"/>
          </a:p>
        </p:txBody>
      </p:sp>
      <p:sp>
        <p:nvSpPr>
          <p:cNvPr id="4" name="S17-card1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7-cardtext1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기준의 예: 돈, 걸리는 시간, 가족 모두 좋아하나요?</a:t>
            </a:r>
            <a:endParaRPr lang="ko-KR" sz="3000" dirty="0"/>
          </a:p>
        </p:txBody>
      </p:sp>
      <p:sp>
        <p:nvSpPr>
          <p:cNvPr id="6" name="S17-chip14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7-text14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기준으로 비교할까요? 두 가지를 정해요.</a:t>
            </a:r>
            <a:endParaRPr lang="ko-KR" sz="3000" dirty="0"/>
          </a:p>
        </p:txBody>
      </p:sp>
      <p:sp>
        <p:nvSpPr>
          <p:cNvPr id="8" name="S17-chip14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7-text14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공원과 놀이공원을 기준으로 비교해요.</a:t>
            </a:r>
            <a:endParaRPr lang="ko-KR" sz="3000" dirty="0"/>
          </a:p>
        </p:txBody>
      </p:sp>
      <p:sp>
        <p:nvSpPr>
          <p:cNvPr id="10" name="S17-chip14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7-text14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곳과 까닭을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사회·역사 지역 문제 해결</dc:title>
  <dc:subject>KR22-G04-SOC-LOCALPROB-L01</dc:subject>
  <dc:creator>education-ppt</dc:creator>
  <cp:lastModifiedBy>education-ppt</cp:lastModifiedBy>
  <cp:revision>1</cp:revision>
  <dcterms:created xsi:type="dcterms:W3CDTF">2026-10-26T13:14:12Z</dcterms:created>
  <dcterms:modified xsi:type="dcterms:W3CDTF">2026-10-26T13:14:12Z</dcterms:modified>
</cp:coreProperties>
</file>