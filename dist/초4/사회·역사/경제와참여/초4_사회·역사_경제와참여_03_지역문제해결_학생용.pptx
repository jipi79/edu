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3a3bfb2-e3b3-cced-e274-39e62942d3d8}">
          <p14:sldIdLst>
            <p14:sldId id="256"/>
            <p14:sldId id="257"/>
          </p14:sldIdLst>
        </p14:section>
        <p14:section name="개념" id="{4c1c4e07-9288-9c52-1cb2-cad06ce42473}">
          <p14:sldIdLst>
            <p14:sldId id="258"/>
            <p14:sldId id="260"/>
            <p14:sldId id="261"/>
            <p14:sldId id="263"/>
            <p14:sldId id="267"/>
          </p14:sldIdLst>
        </p14:section>
        <p14:section name="연습" id="{a2e389cf-ae62-8948-4a63-c771c36c8e43}">
          <p14:sldIdLst>
            <p14:sldId id="259"/>
            <p14:sldId id="262"/>
            <p14:sldId id="264"/>
            <p14:sldId id="265"/>
            <p14:sldId id="268"/>
          </p14:sldIdLst>
        </p14:section>
        <p14:section name="개념" id="{d1e8fc83-9dc3-56c0-0304-47571eb89932}">
          <p14:sldIdLst/>
        </p14:section>
        <p14:section name="연습" id="{62d5d815-b52d-64de-6c21-c67c944f61f3}">
          <p14:sldIdLst/>
        </p14:section>
        <p14:section name="개념" id="{45127a1b-ba11-cf5a-08d0-8569bfa1ad00}">
          <p14:sldIdLst/>
        </p14:section>
        <p14:section name="연습" id="{fe24dad3-de55-5629-61d5-c7eb7118bc68}">
          <p14:sldIdLst/>
        </p14:section>
        <p14:section name="확인" id="{0855b331-f828-ddcb-2fd0-5c98efaaf22d}">
          <p14:sldIdLst>
            <p14:sldId id="266"/>
            <p14:sldId id="269"/>
          </p14:sldIdLst>
        </p14:section>
        <p14:section name="개념" id="{91050684-c952-a111-5ef0-d72cf7c307ac}">
          <p14:sldIdLst/>
        </p14:section>
        <p14:section name="연습" id="{5c58ce11-fa72-7976-9460-55df192ab049}">
          <p14:sldIdLst/>
        </p14:section>
        <p14:section name="확인" id="{937cffb4-ef92-a7cb-0ffb-c3ef35c5ffeb}">
          <p14:sldIdLst/>
        </p14:section>
        <p14:section name="정리" id="{d04efcc1-f38f-a5cc-2cee-b63d5043d0f7}">
          <p14:sldIdLst>
            <p14:sldId id="270"/>
          </p14:sldIdLst>
        </p14:section>
        <p14:section name="보충" id="{886879cf-fea1-6610-91d5-02166d30060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 해결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동네의 불편한 점,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해결할까요?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지역 문제와 그 원인을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기준으로 비교해 해결 방안을 정하고 실천해요.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교환하는 까닭은?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교환하면 누가 이익일까요?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고를 때 쓰는 기준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문제란?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혼자만 겪는 일은 나의 문제예요.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여러 사람이 함께 겪는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불편이나 어려움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쓰레기, 놀이터 부족,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막힘, 시끄러운 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문제일까요?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문제에 ○, 아니면 × 해요.</a:t>
            </a:r>
            <a:endParaRPr lang="ko-KR" sz="3000" dirty="0"/>
          </a:p>
        </p:txBody>
      </p:sp>
      <p:sp>
        <p:nvSpPr>
          <p:cNvPr id="4" name="S04-chip1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4-text1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쓰레기가 많아 냄새가 나요.</a:t>
            </a:r>
            <a:endParaRPr lang="ko-KR" sz="3000" dirty="0"/>
          </a:p>
        </p:txBody>
      </p:sp>
      <p:sp>
        <p:nvSpPr>
          <p:cNvPr id="6" name="S04-chip1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4-text1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운동화 끈이 자꾸 풀려요.</a:t>
            </a:r>
            <a:endParaRPr lang="ko-KR" sz="3000" dirty="0"/>
          </a:p>
        </p:txBody>
      </p:sp>
      <p:sp>
        <p:nvSpPr>
          <p:cNvPr id="8" name="S04-chip2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4-text2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횡단보도 신호가 너무 짧아요.</a:t>
            </a:r>
            <a:endParaRPr lang="ko-KR" sz="3000" dirty="0"/>
          </a:p>
        </p:txBody>
      </p:sp>
      <p:sp>
        <p:nvSpPr>
          <p:cNvPr id="10" name="S04-chip2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4-text2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장난감 때문에 다퉜어요.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해결하는 순서</a:t>
            </a:r>
            <a:endParaRPr lang="ko-KR" sz="4000" dirty="0"/>
          </a:p>
        </p:txBody>
      </p:sp>
      <p:sp>
        <p:nvSpPr>
          <p:cNvPr id="3" name="S05-stepno24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5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찾기: 무엇이 불편한가요?</a:t>
            </a:r>
            <a:endParaRPr lang="ko-KR" sz="3000" dirty="0"/>
          </a:p>
        </p:txBody>
      </p:sp>
      <p:sp>
        <p:nvSpPr>
          <p:cNvPr id="5" name="S05-stepno26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알아보기: 왜 생겼나요?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 찾고 비교하기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정하기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실천하고 돌아보기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별빛공원의 쓰레기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원인은 무엇일까요?</a:t>
            </a:r>
            <a:endParaRPr lang="ko-KR" sz="3000" dirty="0"/>
          </a:p>
        </p:txBody>
      </p:sp>
      <p:sp>
        <p:nvSpPr>
          <p:cNvPr id="5" name="S06-figure36" descr="별빛공원 그림: 왼쪽 아래에 입구가 있고 바로 옆에 쓰레기통이 하나 있다. 가운데에 놀이터, 오른쪽 위 구석에 쉼터가 있다. 입구에서 쉼터까지 점선 산책길이 이어진다. 쉼터 아래쪽에 쓰레기 네 개가 떨어져 있다. 쉼터 둘레에는 쓰레기통이 없다."/>
          <p:cNvSpPr/>
          <p:nvPr/>
        </p:nvSpPr>
        <p:spPr>
          <a:xfrm>
            <a:off x="7655905" y="1967778"/>
            <a:ext cx="3892967" cy="2335780"/>
          </a:xfrm>
          <a:custGeom>
            <a:avLst/>
            <a:gdLst/>
            <a:ahLst/>
            <a:cxnLst/>
            <a:rect l="l" t="t" r="r" b="b"/>
            <a:pathLst>
              <a:path w="3892967" h="2335780">
                <a:moveTo>
                  <a:pt x="0" y="2335780"/>
                </a:moveTo>
                <a:lnTo>
                  <a:pt x="3892967" y="2335780"/>
                </a:lnTo>
                <a:lnTo>
                  <a:pt x="3892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37"/>
          <p:cNvSpPr/>
          <p:nvPr/>
        </p:nvSpPr>
        <p:spPr>
          <a:xfrm>
            <a:off x="7967343" y="4225699"/>
            <a:ext cx="467156" cy="77859"/>
          </a:xfrm>
          <a:custGeom>
            <a:avLst/>
            <a:gdLst/>
            <a:ahLst/>
            <a:cxnLst/>
            <a:rect l="l" t="t" r="r" b="b"/>
            <a:pathLst>
              <a:path w="467156" h="77859">
                <a:moveTo>
                  <a:pt x="0" y="77859"/>
                </a:moveTo>
                <a:lnTo>
                  <a:pt x="467156" y="77859"/>
                </a:lnTo>
                <a:lnTo>
                  <a:pt x="46715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7" name="S06-mark38"/>
          <p:cNvSpPr/>
          <p:nvPr/>
        </p:nvSpPr>
        <p:spPr>
          <a:xfrm>
            <a:off x="8940584" y="2902090"/>
            <a:ext cx="1167890" cy="661804"/>
          </a:xfrm>
          <a:custGeom>
            <a:avLst/>
            <a:gdLst/>
            <a:ahLst/>
            <a:cxnLst/>
            <a:rect l="l" t="t" r="r" b="b"/>
            <a:pathLst>
              <a:path w="1167890" h="661804">
                <a:moveTo>
                  <a:pt x="0" y="661804"/>
                </a:moveTo>
                <a:lnTo>
                  <a:pt x="1167890" y="661804"/>
                </a:lnTo>
                <a:lnTo>
                  <a:pt x="1167890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39"/>
          <p:cNvSpPr/>
          <p:nvPr/>
        </p:nvSpPr>
        <p:spPr>
          <a:xfrm>
            <a:off x="10225263" y="2084567"/>
            <a:ext cx="1167890" cy="545015"/>
          </a:xfrm>
          <a:custGeom>
            <a:avLst/>
            <a:gdLst/>
            <a:ahLst/>
            <a:cxnLst/>
            <a:rect l="l" t="t" r="r" b="b"/>
            <a:pathLst>
              <a:path w="1167890" h="545015">
                <a:moveTo>
                  <a:pt x="0" y="545015"/>
                </a:moveTo>
                <a:lnTo>
                  <a:pt x="1167890" y="545015"/>
                </a:lnTo>
                <a:lnTo>
                  <a:pt x="116789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40"/>
          <p:cNvSpPr/>
          <p:nvPr/>
        </p:nvSpPr>
        <p:spPr>
          <a:xfrm>
            <a:off x="8590217" y="3933726"/>
            <a:ext cx="214113" cy="233578"/>
          </a:xfrm>
          <a:custGeom>
            <a:avLst/>
            <a:gdLst/>
            <a:ahLst/>
            <a:cxnLst/>
            <a:rect l="l" t="t" r="r" b="b"/>
            <a:pathLst>
              <a:path w="214113" h="233578">
                <a:moveTo>
                  <a:pt x="0" y="233578"/>
                </a:moveTo>
                <a:lnTo>
                  <a:pt x="214113" y="233578"/>
                </a:lnTo>
                <a:lnTo>
                  <a:pt x="214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A3A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41"/>
          <p:cNvSpPr/>
          <p:nvPr/>
        </p:nvSpPr>
        <p:spPr>
          <a:xfrm>
            <a:off x="10291444" y="2754158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1" name="S06-mark42"/>
          <p:cNvSpPr/>
          <p:nvPr/>
        </p:nvSpPr>
        <p:spPr>
          <a:xfrm>
            <a:off x="10563951" y="2832017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2" name="S06-mark43"/>
          <p:cNvSpPr/>
          <p:nvPr/>
        </p:nvSpPr>
        <p:spPr>
          <a:xfrm>
            <a:off x="10875389" y="2734693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3" name="S06-mark44"/>
          <p:cNvSpPr/>
          <p:nvPr/>
        </p:nvSpPr>
        <p:spPr>
          <a:xfrm>
            <a:off x="11147896" y="2812552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4" name="S06-mark45"/>
          <p:cNvSpPr/>
          <p:nvPr/>
        </p:nvSpPr>
        <p:spPr>
          <a:xfrm flipV="1">
            <a:off x="8200921" y="2512794"/>
            <a:ext cx="0" cy="1693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5" name="S06-mark46"/>
          <p:cNvSpPr/>
          <p:nvPr/>
        </p:nvSpPr>
        <p:spPr>
          <a:xfrm>
            <a:off x="8200921" y="2512794"/>
            <a:ext cx="1985413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6" name="S06-label48"/>
          <p:cNvSpPr txBox="1"/>
          <p:nvPr/>
        </p:nvSpPr>
        <p:spPr>
          <a:xfrm>
            <a:off x="7847353" y="42882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</a:t>
            </a:r>
            <a:endParaRPr lang="ko-KR" sz="2400" dirty="0"/>
          </a:p>
        </p:txBody>
      </p:sp>
      <p:sp>
        <p:nvSpPr>
          <p:cNvPr id="17" name="S06-label50"/>
          <p:cNvSpPr txBox="1"/>
          <p:nvPr/>
        </p:nvSpPr>
        <p:spPr>
          <a:xfrm>
            <a:off x="8862725" y="3899703"/>
            <a:ext cx="105562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쓰레기통</a:t>
            </a:r>
            <a:endParaRPr lang="ko-KR" sz="1900" dirty="0"/>
          </a:p>
        </p:txBody>
      </p:sp>
      <p:sp>
        <p:nvSpPr>
          <p:cNvPr id="18" name="S06-label52"/>
          <p:cNvSpPr txBox="1"/>
          <p:nvPr/>
        </p:nvSpPr>
        <p:spPr>
          <a:xfrm>
            <a:off x="9021609" y="3042492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400" dirty="0"/>
          </a:p>
        </p:txBody>
      </p:sp>
      <p:sp>
        <p:nvSpPr>
          <p:cNvPr id="19" name="S06-label54"/>
          <p:cNvSpPr txBox="1"/>
          <p:nvPr/>
        </p:nvSpPr>
        <p:spPr>
          <a:xfrm>
            <a:off x="10455640" y="21665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쉼터</a:t>
            </a:r>
            <a:endParaRPr lang="ko-KR" sz="2400" dirty="0"/>
          </a:p>
        </p:txBody>
      </p:sp>
      <p:sp>
        <p:nvSpPr>
          <p:cNvPr id="20" name="S06-label56"/>
          <p:cNvSpPr txBox="1"/>
          <p:nvPr/>
        </p:nvSpPr>
        <p:spPr>
          <a:xfrm>
            <a:off x="10360704" y="2906996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1900" dirty="0"/>
          </a:p>
        </p:txBody>
      </p:sp>
      <p:sp>
        <p:nvSpPr>
          <p:cNvPr id="21" name="S06-label58"/>
          <p:cNvSpPr txBox="1"/>
          <p:nvPr/>
        </p:nvSpPr>
        <p:spPr>
          <a:xfrm>
            <a:off x="8492080" y="2167333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산책길</a:t>
            </a:r>
            <a:endParaRPr lang="ko-KR" sz="1900" dirty="0"/>
          </a:p>
        </p:txBody>
      </p:sp>
      <p:sp>
        <p:nvSpPr>
          <p:cNvPr id="22" name="S06-passagebox59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23" name="S06-passage60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주말마다 별빛공원 쉼터에서 도시락을 먹는 사람이 많아요.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쓰레기통은 입구에 하나뿐이고, 쓰레기를 두고 가는 사람도 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쉼터 둘레에 쓰레기가 쌓여 냄새가 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찾아요</a:t>
            </a:r>
            <a:endParaRPr lang="ko-KR" sz="40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원인을 나누어 말해요.</a:t>
            </a:r>
            <a:endParaRPr lang="ko-KR" sz="3000" dirty="0"/>
          </a:p>
        </p:txBody>
      </p:sp>
      <p:sp>
        <p:nvSpPr>
          <p:cNvPr id="4" name="S07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무엇이 불편한가요?  원인: 왜 생겼나요?</a:t>
            </a:r>
            <a:endParaRPr lang="ko-KR" sz="3000" dirty="0"/>
          </a:p>
        </p:txBody>
      </p:sp>
      <p:sp>
        <p:nvSpPr>
          <p:cNvPr id="6" name="S07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6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아침마다 학교 앞 길이 막혀요.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아이를 데려다주는 집이 많아요.</a:t>
            </a:r>
            <a:endParaRPr lang="ko-KR" sz="3000" dirty="0"/>
          </a:p>
        </p:txBody>
      </p:sp>
      <p:sp>
        <p:nvSpPr>
          <p:cNvPr id="8" name="S07-chip6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67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공원 산책길이 어두워 무서워요.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가로등 두 개가 고장 났어요.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 비교하기</a:t>
            </a:r>
            <a:endParaRPr lang="ko-KR" sz="4000" dirty="0"/>
          </a:p>
        </p:txBody>
      </p:sp>
      <p:sp>
        <p:nvSpPr>
          <p:cNvPr id="3" name="S08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 쓰레기 문제의 해결 방안이에요.</a:t>
            </a:r>
            <a:endParaRPr lang="ko-KR" sz="3000" dirty="0"/>
          </a:p>
        </p:txBody>
      </p:sp>
      <p:sp>
        <p:nvSpPr>
          <p:cNvPr id="4" name="S08-card6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비교하고 까닭을 들어 정해요.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방안을 함께 골라도 좋아요.</a:t>
            </a:r>
            <a:endParaRPr lang="ko-KR" sz="3000" dirty="0"/>
          </a:p>
        </p:txBody>
      </p:sp>
      <p:graphicFrame>
        <p:nvGraphicFramePr>
          <p:cNvPr id="9" name="S08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21992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084832"/>
                <a:gridCol w="2304288"/>
                <a:gridCol w="2523744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방안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돈과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모두에게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괜찮나요?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쉼터에 쓰레기통 더 놓기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조금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‘쓰레기 되가져가기’ 알리기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적게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 쉼터 닫기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적게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쉴 곳이 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길 막힘</a:t>
            </a:r>
            <a:endParaRPr lang="ko-KR" sz="4000" dirty="0"/>
          </a:p>
        </p:txBody>
      </p:sp>
      <p:sp>
        <p:nvSpPr>
          <p:cNvPr id="3" name="S09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○, △, ×를 매기고 하나를 골라요.</a:t>
            </a:r>
            <a:endParaRPr lang="ko-KR" sz="3000" dirty="0"/>
          </a:p>
        </p:txBody>
      </p:sp>
      <p:sp>
        <p:nvSpPr>
          <p:cNvPr id="4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방안을 고를까요? 기준을 들어 까닭을 말해요.</a:t>
            </a:r>
            <a:endParaRPr lang="ko-KR" sz="3000" dirty="0"/>
          </a:p>
        </p:txBody>
      </p:sp>
      <p:graphicFrame>
        <p:nvGraphicFramePr>
          <p:cNvPr id="10" name="S09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17064"/>
          <a:ext cx="109728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084832"/>
                <a:gridCol w="2084832"/>
                <a:gridCol w="2414016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방안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돈과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모두에게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괜찮나요?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 등교하는 날 정하기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앞 길을 넓게 새로 짓기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조금 떨어진 곳에서 내려 걷기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정할까요?</a:t>
            </a:r>
            <a:endParaRPr lang="ko-KR" sz="4000" dirty="0"/>
          </a:p>
        </p:txBody>
      </p:sp>
      <p:sp>
        <p:nvSpPr>
          <p:cNvPr id="3" name="S10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 쓰레기 문제를 정하는 주민 회의예요.</a:t>
            </a:r>
            <a:endParaRPr lang="ko-KR" sz="3000" dirty="0"/>
          </a:p>
        </p:txBody>
      </p:sp>
      <p:sp>
        <p:nvSpPr>
          <p:cNvPr id="5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알맞을까요? 왜요?</a:t>
            </a:r>
            <a:endParaRPr lang="ko-KR" sz="3000" dirty="0"/>
          </a:p>
        </p:txBody>
      </p:sp>
      <p:sp>
        <p:nvSpPr>
          <p:cNvPr id="7" name="S10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0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생각이 제일 좋으니까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내 생각대로 해요.”</a:t>
            </a:r>
            <a:endParaRPr lang="ko-KR" sz="3000" dirty="0"/>
          </a:p>
        </p:txBody>
      </p:sp>
      <p:sp>
        <p:nvSpPr>
          <p:cNvPr id="9" name="S10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“여러 사람의 의견을 듣고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비교해 정해요.”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은하동 놀이터</a:t>
            </a:r>
            <a:endParaRPr lang="ko-KR" sz="4000" dirty="0"/>
          </a:p>
        </p:txBody>
      </p:sp>
      <p:sp>
        <p:nvSpPr>
          <p:cNvPr id="3" name="S11-card8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8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문제와 원인은 무엇일까요?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기준으로 비교해 하나를 고르고 까닭을 말해요.</a:t>
            </a:r>
            <a:endParaRPr lang="ko-KR" sz="3000" dirty="0"/>
          </a:p>
        </p:txBody>
      </p:sp>
      <p:sp>
        <p:nvSpPr>
          <p:cNvPr id="5" name="S11-passagebox86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87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은하동에 새 아파트가 생겨 어린이가 많아졌어요. 놀이터는 하나뿐이라 늘 붐비고 오래 기다려야 해요.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주민들이 낸 해결 방안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놀이터를 새로 짓기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방과 후에 학교 운동장 열기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나이별로 놀이터 이용 시간 나누기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문제 조사</a:t>
            </a:r>
            <a:endParaRPr lang="ko-KR" sz="4000" dirty="0"/>
          </a:p>
        </p:txBody>
      </p:sp>
      <p:sp>
        <p:nvSpPr>
          <p:cNvPr id="3" name="S13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할 수 있는 일도 찾아요.</a:t>
            </a:r>
            <a:endParaRPr lang="ko-KR" sz="3000" dirty="0"/>
          </a:p>
        </p:txBody>
      </p:sp>
      <p:sp>
        <p:nvSpPr>
          <p:cNvPr id="5" name="S13-card9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9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살펴보기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동네를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걸으며 불편한 곳을 찾아요.</a:t>
            </a:r>
            <a:endParaRPr lang="ko-KR" sz="3000" dirty="0"/>
          </a:p>
        </p:txBody>
      </p:sp>
      <p:sp>
        <p:nvSpPr>
          <p:cNvPr id="7" name="S13-card9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9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여쭈기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이웃께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점을 여쭈어요.</a:t>
            </a:r>
            <a:endParaRPr lang="ko-KR" sz="3000" dirty="0"/>
          </a:p>
        </p:txBody>
      </p:sp>
      <p:sp>
        <p:nvSpPr>
          <p:cNvPr id="9" name="S13-card9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소식 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시청·구청 누리집과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소식지를 함께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조사할까요?</a:t>
            </a:r>
            <a:endParaRPr lang="ko-KR" sz="4000" dirty="0"/>
          </a:p>
        </p:txBody>
      </p:sp>
      <p:sp>
        <p:nvSpPr>
          <p:cNvPr id="3" name="S14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골라요.</a:t>
            </a:r>
            <a:endParaRPr lang="ko-KR" sz="3000" dirty="0"/>
          </a:p>
        </p:txBody>
      </p:sp>
      <p:sp>
        <p:nvSpPr>
          <p:cNvPr id="4" name="S14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살펴보기 · 여쭈기 · 소식 보기</a:t>
            </a:r>
            <a:endParaRPr lang="ko-KR" sz="3000" dirty="0"/>
          </a:p>
        </p:txBody>
      </p:sp>
      <p:sp>
        <p:nvSpPr>
          <p:cNvPr id="6" name="S14-chip9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4-text10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쓰레기가 얼마나 많은지 알고 싶어요.</a:t>
            </a:r>
            <a:endParaRPr lang="ko-KR" sz="3000" dirty="0"/>
          </a:p>
        </p:txBody>
      </p:sp>
      <p:sp>
        <p:nvSpPr>
          <p:cNvPr id="8" name="S14-chip10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4-text10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문제가 오래되었는지 궁금해요.</a:t>
            </a:r>
            <a:endParaRPr lang="ko-KR" sz="3000" dirty="0"/>
          </a:p>
        </p:txBody>
      </p:sp>
      <p:sp>
        <p:nvSpPr>
          <p:cNvPr id="10" name="S14-chip10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4-text10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시에서 고칠 계획이 있는지 궁금해요.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문제 찾기</a:t>
            </a:r>
            <a:endParaRPr lang="ko-KR" sz="4000" dirty="0"/>
          </a:p>
        </p:txBody>
      </p:sp>
      <p:sp>
        <p:nvSpPr>
          <p:cNvPr id="3" name="S15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다니고, 위험한 곳은 멀리서 봐요.</a:t>
            </a:r>
            <a:endParaRPr lang="ko-KR" sz="3000" dirty="0"/>
          </a:p>
        </p:txBody>
      </p:sp>
      <p:sp>
        <p:nvSpPr>
          <p:cNvPr id="5" name="S15-card107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08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문제와 장소를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원인을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실천할 일을 정했어요</a:t>
            </a:r>
            <a:endParaRPr lang="ko-KR" sz="3000" dirty="0"/>
          </a:p>
        </p:txBody>
      </p:sp>
      <p:sp>
        <p:nvSpPr>
          <p:cNvPr id="7" name="S15-stepno109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10"/>
          <p:cNvSpPr txBox="1"/>
          <p:nvPr/>
        </p:nvSpPr>
        <p:spPr>
          <a:xfrm>
            <a:off x="1325880" y="16885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동네를 살펴요.</a:t>
            </a:r>
            <a:endParaRPr lang="ko-KR" sz="3000" dirty="0"/>
          </a:p>
        </p:txBody>
      </p:sp>
      <p:sp>
        <p:nvSpPr>
          <p:cNvPr id="9" name="S15-stepno111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12"/>
          <p:cNvSpPr txBox="1"/>
          <p:nvPr/>
        </p:nvSpPr>
        <p:spPr>
          <a:xfrm>
            <a:off x="1325880" y="24018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 하나를 정해요.</a:t>
            </a:r>
            <a:endParaRPr lang="ko-KR" sz="3000" dirty="0"/>
          </a:p>
        </p:txBody>
      </p:sp>
      <p:sp>
        <p:nvSpPr>
          <p:cNvPr id="11" name="S15-stepno113"/>
          <p:cNvSpPr txBox="1"/>
          <p:nvPr/>
        </p:nvSpPr>
        <p:spPr>
          <a:xfrm>
            <a:off x="548640" y="3115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14"/>
          <p:cNvSpPr txBox="1"/>
          <p:nvPr/>
        </p:nvSpPr>
        <p:spPr>
          <a:xfrm>
            <a:off x="1325880" y="3115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짐작하고 여쭈어요.</a:t>
            </a:r>
            <a:endParaRPr lang="ko-KR" sz="3000" dirty="0"/>
          </a:p>
        </p:txBody>
      </p:sp>
      <p:sp>
        <p:nvSpPr>
          <p:cNvPr id="13" name="S15-stepno115"/>
          <p:cNvSpPr txBox="1"/>
          <p:nvPr/>
        </p:nvSpPr>
        <p:spPr>
          <a:xfrm>
            <a:off x="548640" y="3874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5-text116"/>
          <p:cNvSpPr txBox="1"/>
          <p:nvPr/>
        </p:nvSpPr>
        <p:spPr>
          <a:xfrm>
            <a:off x="1325880" y="382828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할 일을 정해 실천해요.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1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1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문제는 문제 찾기 → 원인 → 방안 비교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정하기 → 실천으로 해결해요.</a:t>
            </a:r>
            <a:endParaRPr lang="ko-KR" sz="3000" dirty="0"/>
          </a:p>
        </p:txBody>
      </p:sp>
      <p:sp>
        <p:nvSpPr>
          <p:cNvPr id="5" name="S16-chip11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기준으로 비교해 함께 정하기</a:t>
            </a:r>
            <a:endParaRPr lang="ko-KR" sz="2400" dirty="0"/>
          </a:p>
        </p:txBody>
      </p:sp>
      <p:sp>
        <p:nvSpPr>
          <p:cNvPr id="6" name="S16-chip12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생각만 고집하기</a:t>
            </a:r>
            <a:endParaRPr lang="ko-KR" sz="2400" dirty="0"/>
          </a:p>
        </p:txBody>
      </p:sp>
      <p:sp>
        <p:nvSpPr>
          <p:cNvPr id="7" name="S16-text12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2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지역 문제란?</a:t>
            </a:r>
            <a:endParaRPr lang="ko-KR" sz="2400" dirty="0"/>
          </a:p>
        </p:txBody>
      </p:sp>
      <p:sp>
        <p:nvSpPr>
          <p:cNvPr id="9" name="S16-text12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방안을 비교하는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하나는?</a:t>
            </a:r>
            <a:endParaRPr lang="ko-KR" sz="2400" dirty="0"/>
          </a:p>
        </p:txBody>
      </p:sp>
      <p:sp>
        <p:nvSpPr>
          <p:cNvPr id="10" name="S16-text12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해결하는 순서는?</a:t>
            </a:r>
            <a:endParaRPr lang="ko-KR" sz="2400" dirty="0"/>
          </a:p>
        </p:txBody>
      </p:sp>
      <p:sp>
        <p:nvSpPr>
          <p:cNvPr id="11" name="S16-text12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우리나라의 위치와 영역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기준으로 골라요</a:t>
            </a:r>
            <a:endParaRPr lang="ko-KR" sz="4000" dirty="0"/>
          </a:p>
        </p:txBody>
      </p:sp>
      <p:sp>
        <p:nvSpPr>
          <p:cNvPr id="3" name="S17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가족 나들이 장소를 정해요.</a:t>
            </a:r>
            <a:endParaRPr lang="ko-KR" sz="3000" dirty="0"/>
          </a:p>
        </p:txBody>
      </p:sp>
      <p:sp>
        <p:nvSpPr>
          <p:cNvPr id="4" name="S17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7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기준의 예: 돈, 걸리는 시간, 가족 모두 좋아하나요?</a:t>
            </a:r>
            <a:endParaRPr lang="ko-KR" sz="3000" dirty="0"/>
          </a:p>
        </p:txBody>
      </p:sp>
      <p:sp>
        <p:nvSpPr>
          <p:cNvPr id="6" name="S17-chip1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7-text1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비교할까요? 두 가지를 정해요.</a:t>
            </a:r>
            <a:endParaRPr lang="ko-KR" sz="3000" dirty="0"/>
          </a:p>
        </p:txBody>
      </p:sp>
      <p:sp>
        <p:nvSpPr>
          <p:cNvPr id="8" name="S17-chip1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7-text1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공원과 놀이공원을 기준으로 비교해요.</a:t>
            </a:r>
            <a:endParaRPr lang="ko-KR" sz="3000" dirty="0"/>
          </a:p>
        </p:txBody>
      </p:sp>
      <p:sp>
        <p:nvSpPr>
          <p:cNvPr id="10" name="S17-chip1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7-text1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곳과 까닭을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 문제 해결</dc:title>
  <dc:subject>KR22-G04-SOC-LOCALPROB-L01</dc:subject>
  <dc:creator>education-ppt</dc:creator>
  <cp:lastModifiedBy>education-ppt</cp:lastModifiedBy>
  <cp:revision>1</cp:revision>
  <dcterms:created xsi:type="dcterms:W3CDTF">2026-10-26T13:14:12Z</dcterms:created>
  <dcterms:modified xsi:type="dcterms:W3CDTF">2026-10-26T13:14:12Z</dcterms:modified>
</cp:coreProperties>
</file>