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c296076-efc6-cdef-1f64-4ac31eb8e303}">
          <p14:sldIdLst>
            <p14:sldId id="256"/>
            <p14:sldId id="257"/>
          </p14:sldIdLst>
        </p14:section>
        <p14:section name="개념" id="{e679e3d3-f02e-08cf-e090-9c273b58c395}">
          <p14:sldIdLst>
            <p14:sldId id="258"/>
            <p14:sldId id="260"/>
            <p14:sldId id="262"/>
            <p14:sldId id="263"/>
            <p14:sldId id="266"/>
          </p14:sldIdLst>
        </p14:section>
        <p14:section name="연습" id="{a8270ea0-ea8e-5817-fa7d-97939418b9f2}">
          <p14:sldIdLst>
            <p14:sldId id="259"/>
            <p14:sldId id="261"/>
            <p14:sldId id="264"/>
            <p14:sldId id="267"/>
          </p14:sldIdLst>
        </p14:section>
        <p14:section name="개념" id="{be7cc0d3-5771-72e2-3a5e-01a774ba638a}">
          <p14:sldIdLst/>
        </p14:section>
        <p14:section name="연습" id="{874deb89-cf47-dab5-a576-c22ccc3ce614}">
          <p14:sldIdLst/>
        </p14:section>
        <p14:section name="개념" id="{a3f5e889-639b-67b9-baa4-7ff6230c420c}">
          <p14:sldIdLst/>
        </p14:section>
        <p14:section name="연습" id="{ee7d3687-f656-280b-3903-82442184c167}">
          <p14:sldIdLst/>
        </p14:section>
        <p14:section name="확인" id="{173abcef-80a0-9afd-9ad6-4a8d8102a2b8}">
          <p14:sldIdLst>
            <p14:sldId id="265"/>
            <p14:sldId id="268"/>
          </p14:sldIdLst>
        </p14:section>
        <p14:section name="개념" id="{1a21bceb-35c4-dc82-c803-c50dd4157008}">
          <p14:sldIdLst/>
        </p14:section>
        <p14:section name="연습" id="{d206b86d-4200-b6f0-78fa-c055da3e8d8c}">
          <p14:sldIdLst/>
        </p14:section>
        <p14:section name="확인" id="{171be228-2e0b-3c82-eb94-a29affbf72f0}">
          <p14:sldIdLst/>
        </p14:section>
        <p14:section name="정리" id="{4f2815fc-5f9f-c6d9-603f-bbf37fcc4072}">
          <p14:sldIdLst>
            <p14:sldId id="269"/>
          </p14:sldIdLst>
        </p14:section>
        <p14:section name="보충" id="{0db6caea-8a4f-86e7-321d-7724c2509fcc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경제와참여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교환과 교류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교환과 교류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사회·역사 · 교환과 교류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교환과 교류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딸기잼은 어디에서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왔을까요?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생산과 소비, 특산물을 설명할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지역끼리 교환하는 까닭을 말하고 우리 집 물건을 조사해요.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희소성이란 무엇인가요?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고를 때 쓰는 기준 하나는?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고르면 고르지 않은 것은?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생산과 소비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생산한 것을 사람들이 소비하며 생활해요.</a:t>
            </a:r>
            <a:endParaRPr lang="ko-KR" sz="30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것을 기르거나 만들거나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서비스를 주는 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쌀 농사, 빵 굽기, 병원 진료</a:t>
            </a:r>
            <a:endParaRPr lang="ko-KR" sz="3000" dirty="0"/>
          </a:p>
        </p:txBody>
      </p:sp>
      <p:sp>
        <p:nvSpPr>
          <p:cNvPr id="7" name="S03-card13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생산한 것을 사서 쓰는 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쌀 사기, 빵 먹기, 진료받기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생산일까, 소비일까?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기르거나 만들거나 서비스를 주면 생산, 사서 쓰면 소비</a:t>
            </a:r>
            <a:endParaRPr lang="ko-KR" sz="3000" dirty="0"/>
          </a:p>
        </p:txBody>
      </p:sp>
      <p:sp>
        <p:nvSpPr>
          <p:cNvPr id="5" name="S04-chip1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4-text1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어민이 바다에서 김을 길러요.</a:t>
            </a:r>
            <a:endParaRPr lang="ko-KR" sz="3000" dirty="0"/>
          </a:p>
        </p:txBody>
      </p:sp>
      <p:sp>
        <p:nvSpPr>
          <p:cNvPr id="7" name="S04-chip1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4-text2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가족이 마트에서 김을 사요.</a:t>
            </a:r>
            <a:endParaRPr lang="ko-KR" sz="3000" dirty="0"/>
          </a:p>
        </p:txBody>
      </p:sp>
      <p:sp>
        <p:nvSpPr>
          <p:cNvPr id="9" name="S04-chip21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4-text22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미용사가 머리를 잘라 줘요.</a:t>
            </a:r>
            <a:endParaRPr lang="ko-KR" sz="3000" dirty="0"/>
          </a:p>
        </p:txBody>
      </p:sp>
      <p:sp>
        <p:nvSpPr>
          <p:cNvPr id="11" name="S04-chip23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04-text24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손님이 버스를 타고 요금을 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지역의 특산물</a:t>
            </a:r>
            <a:endParaRPr lang="ko-KR" sz="4000" dirty="0"/>
          </a:p>
        </p:txBody>
      </p:sp>
      <p:sp>
        <p:nvSpPr>
          <p:cNvPr id="3" name="S05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별빛시와 둘레 지역이에요.</a:t>
            </a:r>
            <a:endParaRPr lang="ko-KR" sz="3000" dirty="0"/>
          </a:p>
        </p:txBody>
      </p:sp>
      <p:sp>
        <p:nvSpPr>
          <p:cNvPr id="4" name="S05-card2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특산물: 그 지역의 자연환경이나 기술 덕분에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특히 많이 나거나 이름난 물건</a:t>
            </a:r>
            <a:endParaRPr lang="ko-KR" sz="3000" dirty="0"/>
          </a:p>
        </p:txBody>
      </p:sp>
      <p:graphicFrame>
        <p:nvGraphicFramePr>
          <p:cNvPr id="6" name="S05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167128"/>
          <a:ext cx="1097280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4169664"/>
                <a:gridCol w="373075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자연환경과 기술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많이 생산하는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너른들마을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넓은 들(논과 밭)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딸기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물빛마을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바다와 갯벌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김, 미역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솔내마을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산과 숲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표고버섯, 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별빛시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공장과 기술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자전거, 옷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그곳에서 많이 날까?</a:t>
            </a:r>
            <a:endParaRPr lang="ko-KR" sz="4000" dirty="0"/>
          </a:p>
        </p:txBody>
      </p:sp>
      <p:sp>
        <p:nvSpPr>
          <p:cNvPr id="3" name="S06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넣어 말해요.</a:t>
            </a:r>
            <a:endParaRPr lang="ko-KR" sz="3000" dirty="0"/>
          </a:p>
        </p:txBody>
      </p:sp>
      <p:sp>
        <p:nvSpPr>
          <p:cNvPr id="4" name="S06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‘~이 있어서 ~을 많이 생산해요.’</a:t>
            </a:r>
            <a:endParaRPr lang="ko-KR" sz="3000" dirty="0"/>
          </a:p>
        </p:txBody>
      </p:sp>
      <p:sp>
        <p:nvSpPr>
          <p:cNvPr id="6" name="S06-chip3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3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너른들마을에서 쌀이 많이 나는 까닭은?</a:t>
            </a:r>
            <a:endParaRPr lang="ko-KR" sz="3000" dirty="0"/>
          </a:p>
        </p:txBody>
      </p:sp>
      <p:sp>
        <p:nvSpPr>
          <p:cNvPr id="8" name="S06-chip3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3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솔내마을의 특산물과 그 까닭은?</a:t>
            </a:r>
            <a:endParaRPr lang="ko-KR" sz="3000" dirty="0"/>
          </a:p>
        </p:txBody>
      </p:sp>
      <p:sp>
        <p:nvSpPr>
          <p:cNvPr id="10" name="S06-chip3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text3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별빛시에서 자전거를 많이 만드는 까닭은?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교환할까요?</a:t>
            </a:r>
            <a:endParaRPr lang="ko-KR" sz="4000" dirty="0"/>
          </a:p>
        </p:txBody>
      </p:sp>
      <p:sp>
        <p:nvSpPr>
          <p:cNvPr id="3" name="S07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너른들마을은 쌀이 남고, 물빛마을은 김이 남아요.</a:t>
            </a:r>
            <a:endParaRPr lang="ko-KR" sz="3000" dirty="0"/>
          </a:p>
        </p:txBody>
      </p:sp>
      <p:sp>
        <p:nvSpPr>
          <p:cNvPr id="4" name="S07-card3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교환: 필요한 것을 서로 바꾸거나 사고파는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교환하면 두 마을 모두 필요한 것을 얻어요.</a:t>
            </a:r>
            <a:endParaRPr lang="ko-KR" sz="3000" dirty="0"/>
          </a:p>
        </p:txBody>
      </p:sp>
      <p:sp>
        <p:nvSpPr>
          <p:cNvPr id="6" name="S07-figure41" descr="왼쪽에 너른들마을(넓은 들), 오른쪽에 물빛마을(바닷가)이 있다. 위쪽 화살표는 너른들마을에서 물빛마을로 쌀이 가고, 아래쪽 화살표는 물빛마을에서 너른들마을로 김이 온다."/>
          <p:cNvSpPr/>
          <p:nvPr/>
        </p:nvSpPr>
        <p:spPr>
          <a:xfrm>
            <a:off x="640080" y="2280209"/>
            <a:ext cx="3090824" cy="2181758"/>
          </a:xfrm>
          <a:custGeom>
            <a:avLst/>
            <a:gdLst/>
            <a:ahLst/>
            <a:cxnLst/>
            <a:rect l="l" t="t" r="r" b="b"/>
            <a:pathLst>
              <a:path w="3090824" h="2181758">
                <a:moveTo>
                  <a:pt x="0" y="2181758"/>
                </a:moveTo>
                <a:lnTo>
                  <a:pt x="3090824" y="2181758"/>
                </a:lnTo>
                <a:lnTo>
                  <a:pt x="3090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CC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7-mark42"/>
          <p:cNvSpPr/>
          <p:nvPr/>
        </p:nvSpPr>
        <p:spPr>
          <a:xfrm>
            <a:off x="8458048" y="2280209"/>
            <a:ext cx="3090824" cy="2181758"/>
          </a:xfrm>
          <a:custGeom>
            <a:avLst/>
            <a:gdLst/>
            <a:ahLst/>
            <a:cxnLst/>
            <a:rect l="l" t="t" r="r" b="b"/>
            <a:pathLst>
              <a:path w="3090824" h="2181758">
                <a:moveTo>
                  <a:pt x="0" y="2181758"/>
                </a:moveTo>
                <a:lnTo>
                  <a:pt x="3090824" y="2181758"/>
                </a:lnTo>
                <a:lnTo>
                  <a:pt x="3090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5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mark43"/>
          <p:cNvSpPr/>
          <p:nvPr/>
        </p:nvSpPr>
        <p:spPr>
          <a:xfrm>
            <a:off x="3912718" y="2962008"/>
            <a:ext cx="4363517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9" name="S07-mark44"/>
          <p:cNvSpPr/>
          <p:nvPr/>
        </p:nvSpPr>
        <p:spPr>
          <a:xfrm flipH="1">
            <a:off x="3912718" y="3780168"/>
            <a:ext cx="4363517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7-label46"/>
          <p:cNvSpPr txBox="1"/>
          <p:nvPr/>
        </p:nvSpPr>
        <p:spPr>
          <a:xfrm>
            <a:off x="1383868" y="2953322"/>
            <a:ext cx="16032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너른들마을</a:t>
            </a:r>
            <a:endParaRPr lang="ko-KR" sz="2400" dirty="0"/>
          </a:p>
        </p:txBody>
      </p:sp>
      <p:sp>
        <p:nvSpPr>
          <p:cNvPr id="11" name="S07-label48"/>
          <p:cNvSpPr txBox="1"/>
          <p:nvPr/>
        </p:nvSpPr>
        <p:spPr>
          <a:xfrm>
            <a:off x="1594942" y="3583902"/>
            <a:ext cx="118110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(넓은 들)</a:t>
            </a:r>
            <a:endParaRPr lang="ko-KR" sz="1900" dirty="0"/>
          </a:p>
        </p:txBody>
      </p:sp>
      <p:sp>
        <p:nvSpPr>
          <p:cNvPr id="12" name="S07-label50"/>
          <p:cNvSpPr txBox="1"/>
          <p:nvPr/>
        </p:nvSpPr>
        <p:spPr>
          <a:xfrm>
            <a:off x="9351188" y="2953322"/>
            <a:ext cx="1304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물빛마을</a:t>
            </a:r>
            <a:endParaRPr lang="ko-KR" sz="2400" dirty="0"/>
          </a:p>
        </p:txBody>
      </p:sp>
      <p:sp>
        <p:nvSpPr>
          <p:cNvPr id="13" name="S07-label52"/>
          <p:cNvSpPr txBox="1"/>
          <p:nvPr/>
        </p:nvSpPr>
        <p:spPr>
          <a:xfrm>
            <a:off x="9449105" y="3583902"/>
            <a:ext cx="110871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(바닷가)</a:t>
            </a:r>
            <a:endParaRPr lang="ko-KR" sz="1900" dirty="0"/>
          </a:p>
        </p:txBody>
      </p:sp>
      <p:sp>
        <p:nvSpPr>
          <p:cNvPr id="14" name="S07-label54"/>
          <p:cNvSpPr txBox="1"/>
          <p:nvPr/>
        </p:nvSpPr>
        <p:spPr>
          <a:xfrm>
            <a:off x="5890260" y="236242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</a:t>
            </a:r>
            <a:endParaRPr lang="ko-KR" sz="2400" dirty="0"/>
          </a:p>
        </p:txBody>
      </p:sp>
      <p:sp>
        <p:nvSpPr>
          <p:cNvPr id="15" name="S07-label56"/>
          <p:cNvSpPr txBox="1"/>
          <p:nvPr/>
        </p:nvSpPr>
        <p:spPr>
          <a:xfrm>
            <a:off x="5890260" y="3998747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사이의 경제 교류</a:t>
            </a:r>
            <a:endParaRPr lang="ko-KR" sz="4000" dirty="0"/>
          </a:p>
        </p:txBody>
      </p:sp>
      <p:sp>
        <p:nvSpPr>
          <p:cNvPr id="3" name="S08-card5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지역끼리 물건과 서비스를 사고파는 것을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경제 교류라고 해요.</a:t>
            </a:r>
            <a:endParaRPr lang="ko-KR" sz="3000" dirty="0"/>
          </a:p>
        </p:txBody>
      </p:sp>
      <p:graphicFrame>
        <p:nvGraphicFramePr>
          <p:cNvPr id="9" name="S08-table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824228"/>
          <a:ext cx="109728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4169664"/>
                <a:gridCol w="416966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지역에 파는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지역에서 사 오는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너른들마을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딸기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김, 버섯, 농기계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물빛마을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김, 미역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과일, 그물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솔내마을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버섯, 꿀, 숲 체험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김, 옷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별빛시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자전거, 옷, 병원 진료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김, 버섯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손해일까, 이익일까?</a:t>
            </a:r>
            <a:endParaRPr lang="ko-KR" sz="4000" dirty="0"/>
          </a:p>
        </p:txBody>
      </p:sp>
      <p:sp>
        <p:nvSpPr>
          <p:cNvPr id="3" name="S09-card6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너른들마을은 물빛마을에 쌀을 팔고, 그 돈으로 김을 샀어요.</a:t>
            </a:r>
            <a:endParaRPr lang="ko-KR" sz="3000" dirty="0"/>
          </a:p>
        </p:txBody>
      </p:sp>
      <p:sp>
        <p:nvSpPr>
          <p:cNvPr id="5" name="S09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생각이 알맞을까요? 왜요?</a:t>
            </a:r>
            <a:endParaRPr lang="ko-KR" sz="3000" dirty="0"/>
          </a:p>
        </p:txBody>
      </p:sp>
      <p:sp>
        <p:nvSpPr>
          <p:cNvPr id="7" name="S09-chip6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text6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“쌀을 내준 너른들마을은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손해를 봤어요.”</a:t>
            </a:r>
            <a:endParaRPr lang="ko-KR" sz="3000" dirty="0"/>
          </a:p>
        </p:txBody>
      </p:sp>
      <p:sp>
        <p:nvSpPr>
          <p:cNvPr id="9" name="S09-chip6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text6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“두 마을 모두 필요한 것을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얻었으니 이익이에요.”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구름골마을</a:t>
            </a:r>
            <a:endParaRPr lang="ko-KR" sz="4000" dirty="0"/>
          </a:p>
        </p:txBody>
      </p:sp>
      <p:sp>
        <p:nvSpPr>
          <p:cNvPr id="3" name="S10-card68"/>
          <p:cNvSpPr/>
          <p:nvPr/>
        </p:nvSpPr>
        <p:spPr>
          <a:xfrm>
            <a:off x="548640" y="4494276"/>
            <a:ext cx="11091672" cy="1723644"/>
          </a:xfrm>
          <a:prstGeom prst="roundRect">
            <a:avLst>
              <a:gd name="adj" fmla="val 6366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9"/>
          <p:cNvSpPr txBox="1"/>
          <p:nvPr/>
        </p:nvSpPr>
        <p:spPr>
          <a:xfrm>
            <a:off x="822960" y="4631436"/>
            <a:ext cx="10543032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구름골마을의 특산물과 그 까닭은?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지역과 무엇을 교환할까요? 왜요?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교환하면 누가 이익일까요?</a:t>
            </a:r>
            <a:endParaRPr lang="ko-KR" sz="3000" dirty="0"/>
          </a:p>
        </p:txBody>
      </p:sp>
      <p:sp>
        <p:nvSpPr>
          <p:cNvPr id="5" name="S10-passagebox70"/>
          <p:cNvSpPr/>
          <p:nvPr/>
        </p:nvSpPr>
        <p:spPr>
          <a:xfrm>
            <a:off x="548640" y="1325880"/>
            <a:ext cx="11091672" cy="2939796"/>
          </a:xfrm>
          <a:prstGeom prst="roundRect">
            <a:avLst>
              <a:gd name="adj" fmla="val 31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71"/>
          <p:cNvSpPr txBox="1"/>
          <p:nvPr/>
        </p:nvSpPr>
        <p:spPr>
          <a:xfrm>
            <a:off x="822960" y="1508760"/>
            <a:ext cx="10543032" cy="257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구름골마을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따뜻하고 비가 많이 와서 산비탈에서 차나무가 잘 자라요. 그래서 녹차를 많이 생산해요.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바다가 멀어 생선은 나지 않고, 큰 병원은 별빛시에 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생산지 표시 읽기</a:t>
            </a:r>
            <a:endParaRPr lang="ko-KR" sz="4000" dirty="0"/>
          </a:p>
        </p:txBody>
      </p:sp>
      <p:sp>
        <p:nvSpPr>
          <p:cNvPr id="3" name="S12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‘국산’, ‘국내산’은 우리나라에서 생산했다는 뜻이에요.</a:t>
            </a:r>
            <a:endParaRPr lang="ko-KR" sz="3000" dirty="0"/>
          </a:p>
        </p:txBody>
      </p:sp>
      <p:sp>
        <p:nvSpPr>
          <p:cNvPr id="5" name="S12-card74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2-cardtext75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찾기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포장의 뒷면이나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옆면을 봐요.</a:t>
            </a:r>
            <a:endParaRPr lang="ko-KR" sz="3000" dirty="0"/>
          </a:p>
        </p:txBody>
      </p:sp>
      <p:sp>
        <p:nvSpPr>
          <p:cNvPr id="7" name="S12-card76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77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낱말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‘원산지’, ‘생산지’,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‘제조원’을 찾아요.</a:t>
            </a:r>
            <a:endParaRPr lang="ko-KR" sz="3000" dirty="0"/>
          </a:p>
        </p:txBody>
      </p:sp>
      <p:sp>
        <p:nvSpPr>
          <p:cNvPr id="9" name="S12-card78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79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적기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이름이나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이름을 적어요.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딸기잼 포장 읽기</a:t>
            </a:r>
            <a:endParaRPr lang="ko-KR" sz="4000" dirty="0"/>
          </a:p>
        </p:txBody>
      </p:sp>
      <p:sp>
        <p:nvSpPr>
          <p:cNvPr id="3" name="S13-card80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81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딸기잼 포장</a:t>
            </a:r>
            <a:endParaRPr lang="ko-KR" sz="3000" dirty="0"/>
          </a:p>
        </p:txBody>
      </p:sp>
      <p:graphicFrame>
        <p:nvGraphicFramePr>
          <p:cNvPr id="13" name="S13-table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2834" y="3115056"/>
          <a:ext cx="4572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제품명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딸기잼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원재료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딸기(너른들마을산),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제조원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별빛식품(별빛시)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3-chip8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3-text8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딸기는 어디에서 왔나요?</a:t>
            </a:r>
            <a:endParaRPr lang="ko-KR" sz="3000" dirty="0"/>
          </a:p>
        </p:txBody>
      </p:sp>
      <p:sp>
        <p:nvSpPr>
          <p:cNvPr id="8" name="S13-chip8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3-text86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잼은 어디에서 만들었나요?</a:t>
            </a:r>
            <a:endParaRPr lang="ko-KR" sz="3000" dirty="0"/>
          </a:p>
        </p:txBody>
      </p:sp>
      <p:sp>
        <p:nvSpPr>
          <p:cNvPr id="10" name="S13-chip8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3-text88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집까지 어떤 교류가 있었을까요?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물건 조사</a:t>
            </a:r>
            <a:endParaRPr lang="ko-KR" sz="4000" dirty="0"/>
          </a:p>
        </p:txBody>
      </p:sp>
      <p:sp>
        <p:nvSpPr>
          <p:cNvPr id="3" name="S14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칼이나 무거운 상자는 어른이 꺼내 줘요.</a:t>
            </a:r>
            <a:endParaRPr lang="ko-KR" sz="3000" dirty="0"/>
          </a:p>
        </p:txBody>
      </p:sp>
      <p:sp>
        <p:nvSpPr>
          <p:cNvPr id="5" name="S14-card91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92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네 가지의 생산지를 찾았어요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다른 지역(나라)에서 온 것을 찾았어요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그곳에서 온 까닭을 말했어요</a:t>
            </a:r>
            <a:endParaRPr lang="ko-KR" sz="3000" dirty="0"/>
          </a:p>
        </p:txBody>
      </p:sp>
      <p:sp>
        <p:nvSpPr>
          <p:cNvPr id="7" name="S14-stepno93"/>
          <p:cNvSpPr txBox="1"/>
          <p:nvPr/>
        </p:nvSpPr>
        <p:spPr>
          <a:xfrm>
            <a:off x="548640" y="17343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4-text94"/>
          <p:cNvSpPr txBox="1"/>
          <p:nvPr/>
        </p:nvSpPr>
        <p:spPr>
          <a:xfrm>
            <a:off x="1325880" y="168859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먹을거리와 물건 네 가지를 골라요.</a:t>
            </a:r>
            <a:endParaRPr lang="ko-KR" sz="3000" dirty="0"/>
          </a:p>
        </p:txBody>
      </p:sp>
      <p:sp>
        <p:nvSpPr>
          <p:cNvPr id="9" name="S14-stepno95"/>
          <p:cNvSpPr txBox="1"/>
          <p:nvPr/>
        </p:nvSpPr>
        <p:spPr>
          <a:xfrm>
            <a:off x="548640" y="27828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4-text96"/>
          <p:cNvSpPr txBox="1"/>
          <p:nvPr/>
        </p:nvSpPr>
        <p:spPr>
          <a:xfrm>
            <a:off x="1325880" y="27828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포장에서 생산지를 찾아요.</a:t>
            </a:r>
            <a:endParaRPr lang="ko-KR" sz="3000" dirty="0"/>
          </a:p>
        </p:txBody>
      </p:sp>
      <p:sp>
        <p:nvSpPr>
          <p:cNvPr id="11" name="S14-stepno97"/>
          <p:cNvSpPr txBox="1"/>
          <p:nvPr/>
        </p:nvSpPr>
        <p:spPr>
          <a:xfrm>
            <a:off x="548640" y="34960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4-text98"/>
          <p:cNvSpPr txBox="1"/>
          <p:nvPr/>
        </p:nvSpPr>
        <p:spPr>
          <a:xfrm>
            <a:off x="1325880" y="34960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4에 적어요.</a:t>
            </a:r>
            <a:endParaRPr lang="ko-KR" sz="3000" dirty="0"/>
          </a:p>
        </p:txBody>
      </p:sp>
      <p:sp>
        <p:nvSpPr>
          <p:cNvPr id="13" name="S14-stepno99"/>
          <p:cNvSpPr txBox="1"/>
          <p:nvPr/>
        </p:nvSpPr>
        <p:spPr>
          <a:xfrm>
            <a:off x="548640" y="42092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4-text100"/>
          <p:cNvSpPr txBox="1"/>
          <p:nvPr/>
        </p:nvSpPr>
        <p:spPr>
          <a:xfrm>
            <a:off x="1325880" y="42092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그곳에서 왔을지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10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0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지역마다 생산하는 것이 달라요.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교환하면 모두 필요한 것을 얻어요(경제 교류).</a:t>
            </a:r>
            <a:endParaRPr lang="ko-KR" sz="3000" dirty="0"/>
          </a:p>
        </p:txBody>
      </p:sp>
      <p:sp>
        <p:nvSpPr>
          <p:cNvPr id="5" name="S15-chip10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생산지 표시 읽어 보기</a:t>
            </a:r>
            <a:endParaRPr lang="ko-KR" sz="2400" dirty="0"/>
          </a:p>
        </p:txBody>
      </p:sp>
      <p:sp>
        <p:nvSpPr>
          <p:cNvPr id="6" name="S15-chip10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교환은 한쪽 손해라고 여기기</a:t>
            </a:r>
            <a:endParaRPr lang="ko-KR" sz="2400" dirty="0"/>
          </a:p>
        </p:txBody>
      </p:sp>
      <p:sp>
        <p:nvSpPr>
          <p:cNvPr id="7" name="S15-text10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106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생산과 소비의 뜻은?</a:t>
            </a:r>
            <a:endParaRPr lang="ko-KR" sz="2400" dirty="0"/>
          </a:p>
        </p:txBody>
      </p:sp>
      <p:sp>
        <p:nvSpPr>
          <p:cNvPr id="9" name="S15-text107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특산물이란?</a:t>
            </a:r>
            <a:endParaRPr lang="ko-KR" sz="2400" dirty="0"/>
          </a:p>
        </p:txBody>
      </p:sp>
      <p:sp>
        <p:nvSpPr>
          <p:cNvPr id="10" name="S15-text108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지역끼리 교환하는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까닭은?</a:t>
            </a:r>
            <a:endParaRPr lang="ko-KR" sz="2400" dirty="0"/>
          </a:p>
        </p:txBody>
      </p:sp>
      <p:sp>
        <p:nvSpPr>
          <p:cNvPr id="11" name="S15-text10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지역 문제 해결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모두 가질 수 없어요</a:t>
            </a:r>
            <a:endParaRPr lang="ko-KR" sz="4000" dirty="0"/>
          </a:p>
        </p:txBody>
      </p:sp>
      <p:sp>
        <p:nvSpPr>
          <p:cNvPr id="3" name="S16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 3,000원이 있어요.</a:t>
            </a:r>
            <a:endParaRPr lang="ko-KR" sz="3000" dirty="0"/>
          </a:p>
        </p:txBody>
      </p:sp>
      <p:sp>
        <p:nvSpPr>
          <p:cNvPr id="4" name="S16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6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것은 많은데 돈이 부족하면 골라야 해요.</a:t>
            </a:r>
            <a:endParaRPr lang="ko-KR" sz="3000" dirty="0"/>
          </a:p>
        </p:txBody>
      </p:sp>
      <p:sp>
        <p:nvSpPr>
          <p:cNvPr id="6" name="S16-chip11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6-text11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2,000원짜리 공책과 2,000원짜리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색연필을 모두 살 수 있나요?</a:t>
            </a:r>
            <a:endParaRPr lang="ko-KR" sz="3000" dirty="0"/>
          </a:p>
        </p:txBody>
      </p:sp>
      <p:sp>
        <p:nvSpPr>
          <p:cNvPr id="8" name="S16-chip11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6-text11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하나만 고른다면 무엇을? 왜요?</a:t>
            </a:r>
            <a:endParaRPr lang="ko-KR" sz="3000" dirty="0"/>
          </a:p>
        </p:txBody>
      </p:sp>
      <p:sp>
        <p:nvSpPr>
          <p:cNvPr id="10" name="S16-chip11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6-text11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고르지 않은 것은 어떻게 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사회·역사 교환과 교류</dc:title>
  <dc:subject>KR22-G04-SOC-TRADE-L01</dc:subject>
  <dc:creator>education-ppt</dc:creator>
  <cp:lastModifiedBy>education-ppt</cp:lastModifiedBy>
  <cp:revision>1</cp:revision>
  <dcterms:created xsi:type="dcterms:W3CDTF">2026-10-26T13:14:09Z</dcterms:created>
  <dcterms:modified xsi:type="dcterms:W3CDTF">2026-10-26T13:14:09Z</dcterms:modified>
</cp:coreProperties>
</file>