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9a5537f-865e-6cab-9af9-51965ef79ca1}">
          <p14:sldIdLst>
            <p14:sldId id="256"/>
            <p14:sldId id="257"/>
          </p14:sldIdLst>
        </p14:section>
        <p14:section name="개념" id="{bf4e85da-55d0-177c-da37-48f73e110931}">
          <p14:sldIdLst>
            <p14:sldId id="258"/>
            <p14:sldId id="260"/>
            <p14:sldId id="262"/>
            <p14:sldId id="263"/>
            <p14:sldId id="267"/>
          </p14:sldIdLst>
        </p14:section>
        <p14:section name="연습" id="{aa9ea523-c2dc-2935-bd71-38f7ca62fbfc}">
          <p14:sldIdLst>
            <p14:sldId id="259"/>
            <p14:sldId id="261"/>
            <p14:sldId id="264"/>
            <p14:sldId id="268"/>
          </p14:sldIdLst>
        </p14:section>
        <p14:section name="개념" id="{35b22e3e-44b2-ab29-52dc-3befc6caafa1}">
          <p14:sldIdLst/>
        </p14:section>
        <p14:section name="연습" id="{4f05cd62-8941-4149-995e-9fbb76a7b265}">
          <p14:sldIdLst/>
        </p14:section>
        <p14:section name="개념" id="{391404db-515d-84a8-c526-9db5c1d2e943}">
          <p14:sldIdLst/>
        </p14:section>
        <p14:section name="연습" id="{0d4c2de5-a261-be60-7efd-f4be00f6f905}">
          <p14:sldIdLst/>
        </p14:section>
        <p14:section name="확인" id="{270b6665-2e9d-3bef-7a77-a6625f880483}">
          <p14:sldIdLst>
            <p14:sldId id="265"/>
            <p14:sldId id="266"/>
            <p14:sldId id="269"/>
          </p14:sldIdLst>
        </p14:section>
        <p14:section name="개념" id="{1333996d-4fcc-aaf1-90ba-39d54afa8132}">
          <p14:sldIdLst/>
        </p14:section>
        <p14:section name="연습" id="{0d8a46b8-8f89-fe7e-0d9c-a685aac54649}">
          <p14:sldIdLst/>
        </p14:section>
        <p14:section name="확인" id="{6b1e59cc-c17d-2b0d-48fd-14b06637a6ca}">
          <p14:sldIdLst/>
        </p14:section>
        <p14:section name="정리" id="{5e995c70-6af2-1e2f-be4a-da1589d858cf}">
          <p14:sldIdLst>
            <p14:sldId id="270"/>
          </p14:sldIdLst>
        </p14:section>
        <p14:section name="보충" id="{fc344127-69f8-ee44-b8b2-edc266b0c48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우리 집 물건이 여러 지역을 거쳐 온다는 것에 관심을 갖게 합니다.
시간: 약 2분
이렇게 말해 보세요
- “냉장고에 있는 잼이나 과일은 어디에서 왔을까? 누가 기르고, 누가 만들었을까?”
- “오늘은 지역마다 만드는 것이 왜 다른지, 지역끼리 왜 물건을 사고파는지 배우고, 우리 집 물건이 어디에서 왔는지 조사해 볼 거야.”
예상 답
- “마트에서요.” “딸기 농장에서요.” “공장에서 만들었어요.”
막히면
- 실제 잼이나 과자 상자를 하나 꺼내 “여기 어디에서 만들었는지 쓰여 있을까?”라고 묻습니다(S12에서 다시 봅니다).
주의
- 화면의 별빛시와 둘레 마을들, 별빛식품은 수업을 위해 지어낸 곳입니다. 실제 지역의 특산물이나 통계는 쓰지 않고, 우리 집 물건이 온 곳은 S14와 활동지 4에서 직접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확인(희소성과 선택)]
목적: 앞 차시 ‘필요와 선택’(KR22-G04-SOC-SCARCITY-L01)의 희소성과 선택을 기억하는지 확인합니다. 오늘은 지역도 필요한 것을 모두 스스로 만들 수 없어서 서로 교환한다는 것으로 이어집니다.
시간: 약 3분
이렇게 말해 보세요
- “지난 시간에 왜 우리는 골라야 한다고 했지? ①, 희소성이 무엇이었어?”
- “②, ③도 말해 볼래?”
정답
- ① 원하는 것은 많은데 돈·시간·물건이 부족한 것
- ② 꼭 필요한가, 값, 오래 쓸 수 있는가, 쓰임새 가운데 하나
- ③ 포기해요.
막히면
- “용돈으로 사고 싶은 것을 다 살 수 있었어? 왜 못 샀지?”라고 묻습니다.
- 희소성이나 선택을 거의 말하지 못하면 S16(보충)을 먼저 합니다. 보충으로도 어려우면 앞 차시 ‘필요와 선택’(KR22-G04-SOC-SCARCITY-L01)의 S03~S08을 다시 합니다.
주의
- ‘희소성’이라는 낱말을 잊었어도 ‘원하는 것보다 부족해서 골라야 한다’는 생각을 말하면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생산과 소비의 뜻]
목적: 생산과 소비의 뜻을 알려 주고, 물건뿐 아니라 서비스(진료, 운전, 머리 손질 등)도 생산하고 소비한다는 것을 짚습니다(목표 A, 오해 M1).
시간: 약 3분
이렇게 말해 보세요
- “농부가 쌀을 기르고, 제빵사가 빵을 굽는 것처럼 필요한 것을 기르거나 만드는 일을 ‘생산’이라고 해.”
- “의사가 진료하는 것, 버스 기사가 운전하는 것처럼 사람을 위해 일해 주는 것을 ‘서비스’라고 하는데, 이것도 생산이야.”
- “우리가 쌀을 사서 밥을 먹고, 병원에서 진료를 받는 것은 ‘소비’야. 오늘 너는 무엇을 소비했어?”
예상 답
- “우유를 마셨어요.” “버스를 탔어요.”
막히면
- “이 일을 하면 무엇이 새로 생겨? 아니면 있는 것을 써?”라고 나누어 묻습니다.
주의
- 한 사람이 생산도 하고 소비도 합니다. 제빵사는 빵을 생산하고, 쌀을 사서 소비합니다.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생산과 소비 나누기]
목적: 생활 속 예를 생산과 소비로 나누고 까닭을 말합니다(목표 A, 오해 M1).
시간: 약 3분
이렇게 말해 보세요
- “①부터 생산인지 소비인지 말하고, 왜 그렇게 생각하는지도 말해 줘.”
- “③은 물건이 생기지 않는데도 생산일까?”
정답
- ① 생산(김을 길러요)
- ② 소비(생산한 김을 사요)
- ③ 생산(머리 손질이라는 서비스를 줘요)
- ④ 소비(버스 운전 서비스를 사서 써요)
막히면
- 아래 도움말을 함께 읽고 “이 사람은 주는 쪽이야, 사서 쓰는 쪽이야?”라고 묻습니다.
주의
- ③④를 어려워하면 S03의 ‘병원 진료’와 ‘진료받기’ 예를 다시 짝지어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지역마다 다른 자연환경과 특산물]
목적: 지역마다 자연환경과 기술이 달라 많이 생산하는 것이 다르다는 것을 표로 보여 주고, ‘특산물’이라는 말을 알려 줍니다(목표 A, 오해 M3).
시간: 약 3분
이렇게 말해 보세요
- “한 줄씩 왼쪽에서 오른쪽으로 읽어 보자. 너른들마을은 넓은 들이 있어서 쌀과 딸기를 많이 생산해.”
- “물빛마을은 왜 김과 미역을 많이 생산할까? 솔내마을은?”
- “별빛시에는 넓은 들도 바다도 없는데, 무엇 덕분에 자전거와 옷을 많이 만들까?”
예상 답
- “바다가 있어서요.” “산이 있어서요.” “공장이 있어서요.”
막히면
- ‘자연환경’ 칸을 가리고 “이 마을에는 무엇이 있을까?”를 먼저 짐작하게 한 뒤 칸을 보여 줍니다.
주의
- 특산물은 그 지역에서만 나는 것이 아니라 그 지역에서 특히 많이 나거나 좋기로 이름난 것입니다. 김은 다른 바닷가에서도 나지만 물빛마을의 김이 이름났다고 생각하면 됩니다.
- 네 지역은 지어낸 곳입니다. 실제 지역의 특산물은 S14에서 우리 집 물건으로 직접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특산물이 생산되는 까닭 말하기]
목적: 특산물과 자연환경·기술을 까닭으로 이어 말합니다(목표 A, 오해 M3).
시간: 약 3분
이렇게 말해 보세요
- “①, 너른들마을에는 무엇이 있었지? 그래서 무엇을 많이 생산해?”
- “‘~이 있어서 ~을 많이 생산해요.’로 말해 볼래?”
정답
- ① 넓은 들(논)이 있어서 쌀을 많이 생산해요.
- ② 표고버섯과 꿀. 산과 숲이 있어서 버섯을 기르고 꿀을 얻어요.
- ③ 공장과 기술이 있어서 자전거를 많이 만들어요.
막히면
- S05의 표에서 그 지역의 줄을 손가락으로 따라 읽게 합니다.
주의
- 까닭 없이 특산물만 말하면 “왜 그곳에서 많이 날까?”라고 한 번 더 묻습니다.
- 여기까지가 생산과 특산물을 배우는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지역끼리 교환하는 까닭(서로 이익)]
목적: 지역마다 생산하는 것이 달라서, 남는 것은 팔고 부족한 것은 사 오며 교환한다는 것을 보여 줍니다. 교환하면 두 지역 모두 이익입니다(목표 B, 오해 M2).
시간: 약 3분
이렇게 말해 보세요
- “너른들마을 사람들은 쌀을 먹고도 남아. 그런데 바다가 없어서 김은 나지 않아. 물빛마을은 반대야.”
- “두 마을이 쌀과 김을 바꾸면 어떻게 될까? 누가 좋아질까?”
- “실제로는 쌀을 팔아 돈을 받고, 그 돈으로 김을 사. 이렇게 사고파는 것도 교환이야.”
예상 답
- “둘 다 쌀과 김을 먹을 수 있어요.” “둘 다 좋아요.”
막히면
- “우리 집에 사과가 많은데 귤이 없고, 옆집은 귤이 많은데 사과가 없으면?”처럼 집과 이웃으로 바꾸어 묻습니다.
주의
- 지난 시간의 희소성과 이어 줍니다. 한 지역이 필요한 것을 모두 생산할 수는 없기 때문에 교환이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지역 사이의 경제 교류(물건과 서비스)]
목적: 네 지역이 파는 것과 사 오는 것을 표로 정리하고, 물건뿐 아니라 서비스(체험, 병원 진료)도 교류한다는 것과 ‘경제 교류’라는 말을 알려 줍니다(목표 B).
시간: 약 3분
이렇게 말해 보세요
- “너른들마을은 쌀과 딸기를 팔고, 무엇을 사 올까? 농기계는 어디에서 만들었을까?”
- “솔내마을의 ‘숲 체험’은 물건이 아니야. 별빛시 사람들이 숲에 와서 체험하고 돈을 내는 서비스야. 별빛시의 ‘병원 진료’도 서비스지.”
- “네 지역 가운데 아무것도 사 오지 않는 지역이 있어?”
예상 답
- “농기계는 별빛시 공장에서 만들었을 것 같아요.” “모두 사고 팔아요.”
막히면
- 한 줄씩 “이 지역에 많은 것은? 없는 것은?”으로 나누어 묻습니다.
주의
- 교류는 지역 축제에 가기, 다른 지역 회사에 일하러 가기처럼 사람이 오가는 것도 포함합니다. 오늘은 물건과 서비스를 사고파는 경제 교류에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비교(교환은 한쪽의 손해일까)]
목적: 교환하면 내준 쪽이 손해를 본다는 생각을 비교하며, 교환은 서로 필요한 것을 얻는 일이라는 것을 알게 합니다(목표 B, 오해 M2).
시간: 약 2분
이렇게 말해 보세요
- “너른들마을은 무엇을 내주고 무엇을 얻었어? 그 쌀은 너른들마을에서 남는 것이었지?”
- “물빛마을은 무엇을 얻었어?”
정답
- 나. 너른들마을은 남는 쌀을 팔아 없던 김을 얻었고, 물빛마을은 남는 김으로 없던 쌀을 얻었습니다. 두 마을 모두 필요한 것을 얻었으므로 서로 이익입니다.
- 기준: 두 마을이 각각 얻은 것을 들어 까닭을 말하면 잘함.
막히면
- “너른들마을이 쌀을 팔지 않으면 김을 먹을 수 있을까?”라고 반대로 묻습니다.
주의
- 값이 맞지 않으면 한쪽이 아쉬울 수도 있습니다. 아이가 그렇게 말하면 좋은 생각이라고 하고, 그래서 서로 알맞은 값을 정한다고 짧게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하기(처음 보는 지역의 특산물과 교류)]
목적: 처음 보는 지역의 특산물을 까닭과 함께 말하고, 다른 지역과 교환할 것과 교환의 까닭, 서로의 이익을 설명하는지 확인합니다(목표 A·B).
시간: 약 4분
이렇게 말해 보세요
- “구름골마을 글을 소리 내어 읽고 ①, ②, ③에 혼자 답해 줘. 활동지 3에도 같은 글이 있어.”
정답
- ① 녹차. 따뜻하고 비가 많이 와서 산비탈에서 차나무가 잘 자라기 때문이에요.
- ② 녹차를 다른 지역에 팔고, 생선(김)을 바닷가 지역에서 사 오고, 별빛시의 병원 진료를 이용해요. 바다가 멀어 생선이 나지 않고 큰 병원이 없기 때문이에요.
- ③ 구름골마을과 교환하는 지역 모두(서로 필요한 것을 얻으니까요).
막히면
- 바로 알려 주지 말고 “구름골마을에 많은 것은? 없는 것은?”이라고만 묻습니다.
- 도움을 받아 해결했다면 기록표에 ‘도움’으로 표시합니다.
주의
- ①은 목표 A, ②③은 목표 B의 확인입니다. ②에서 병원 진료(서비스)까지 말하면 더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S10의 답을 확인하고 흔한 실수와 비교합니다.
시간: 약 2분
이렇게 말해 보세요
- “네 답과 왼쪽을 비교해 보자. 오른쪽처럼 말하면 무엇이 빠졌을까?”
예상 답
- “까닭을 안 말했어요.” “녹차를 판 구름골마을도 생선을 얻어요.”
정답
- ① 녹차(따뜻하고 비가 많아 산비탈에서 차나무가 잘 자람) ② 녹차를 팔고 생선과 병원 진료를 삼(바다가 멀고 큰 병원이 없어서) ③ 두 지역 모두 이익
막히면
- S05(특산물)와 S07(교환)을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생산지 표시 읽는 방법]
목적: 먹을거리와 물건의 포장에서 생산지 표시를 찾아 읽는 방법을 알려 줍니다(목표 C).
시간: 약 2분
이렇게 말해 보세요
- “포장에는 어디에서 기르거나 만들었는지 쓰여 있어. 농산물은 ‘원산지’나 ‘생산지’, 공장에서 만든 것은 ‘제조원’이라고 써 있는 경우가 많아.”
- “‘국산’이라고만 쓰여 있으면 우리나라 어딘가에서 생산했다는 뜻이야.”
예상 답
- “과자 상자 뒤에 작은 글씨가 있어요.”
막히면
- 집에 있는 포장 하나를 들고 부모가 먼저 손가락으로 짚어 읽어 줍니다.
주의
- 표시 방법은 물건마다 다릅니다. 지역 이름이 없고 ‘국산’만 있을 수도 있고, 다른 나라 이름이 있을 수도 있습니다. 다른 나라에서 온 물건이 나오면 “나라 사이에도 교류해.”라고 짧게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포장 표시를 읽고 교류 말하기]
목적: 포장 표시를 읽고, 한 물건이 우리 집에 오기까지 여러 지역 사이의 교류가 있었다는 것을 말합니다(목표 C).
시간: 약 2분
이렇게 말해 보세요
- “오른쪽은 딸기잼 포장의 표시야. ‘원재료’ 칸에서 딸기가 어디에서 왔는지 찾아볼래?”
- “‘제조원’은 만든 곳이야. 잼은 어디에서 만들었어?”
정답
- ① 너른들마을
- ② 별빛시의 별빛식품
- ③ 너른들마을의 딸기를 별빛시 공장이 사서 잼을 만들고, 가게가 사 와서 우리가 샀어요(지역 사이에 사고팔았어요).
막히면
- 표의 칸 이름(원재료, 제조원)을 먼저 짚고, 그 옆 칸을 읽게 합니다.
주의
- 딸기잼 포장은 지어낸 것입니다. 실제 포장에는 이보다 많은 내용(무게, 날짜 등)이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우리 집 물건의 생산지 조사]
목적: 부모와 함께 집에 있는 물건의 생산지 표시를 읽어 기록하고, 우리 집 물건이 여러 지역(나라)과의 교류로 왔다는 것을 확인합니다(목표 C).
시간: 약 5분
이렇게 말해 보세요
- “냉장고와 부엌, 옷장에서 네 가지를 골라 볼까? 먹을거리 두 가지, 물건 두 가지면 좋아.”
- “생산지를 찾았으면 활동지에 적어 줘. 이건 왜 그곳에서 왔을까? 그곳은 어떤 곳일까?”
예상 답
- 예: “이 김은 바닷가 지역에서 왔어요. 바다가 있어서 김을 많이 생산하나 봐요.” “이 옷은 다른 나라에서 만들었어요.”
정답
- 기준: ① 네 가지의 생산지를 찾아 적음 ② 우리 지역이 아닌 다른 지역(나라)에서 온 것을 하나 이상 찾음 ③ 그곳에서 온 까닭을 자연환경이나 기술로 짐작해 말함. 세 가지를 모두 하면 목표 C를 이룬 것으로 봅니다. 집마다 답이 다릅니다.
막히면
- 그 지역이 어떤 곳인지 모르면 지도 앱에서 함께 찾아 바다·산·들이 있는지 봅니다.
- ‘국산’만 쓰여 있으면 다른 물건을 하나 더 찾아봅니다.
주의
- 시간이 부족하면 오늘은 한 가지만 함께 찾고, 나머지는 수업 뒤에 활동지 4에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다음 학습과 복습]
목적: 핵심을 정리하고 다음 수업 첫 5분에 풀 복습 질문을 알려 줍니다.
시간: 약 2분
이렇게 말해 보세요
- “지역끼리 왜 물건과 서비스를 사고팔까? 한 문장으로 말해 볼래?”
예상 답
- “지역마다 많이 나는 것이 달라서, 남는 것은 팔고 없는 것은 사 와요.”
정답
- ① 생산: 필요한 것을 기르거나 만들거나 서비스를 주는 일 / 소비: 생산한 것을 사서 쓰는 일
- ② 그 지역의 자연환경이나 기술 덕분에 특히 많이 나거나 이름난 물건
- ③ 지역마다 생산하는 것이 달라서, 남는 것은 팔고 부족한 것은 사 와 서로 필요한 것을 얻으려고
막히면
- S03, S05, S07을 다시 보여 줍니다.
주의
- 활동지 4의 조사를 다음 수업 전까지 마쳐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보충(희소성과 선택 다시 보기)]
목적: S02에서 희소성과 선택을 떠올리기 어려워하면, 용돈 상황으로 ‘부족해서 골라야 한다’는 것을 다시 익힙니다. 오늘 배우는 교환도 지역마다 부족한 것이 있어서 생깁니다.
시간: 약 4분
이렇게 말해 보세요
- “①, 두 개를 모두 사려면 얼마가 필요해? 가진 돈은?”
- “②, 하나만 고른다면 무엇을 고를래? 어떤 기준으로 골랐어?”
정답
- ① 살 수 없어요. 2,000 + 2,000 = 4,000원이 필요한데 3,000원뿐이에요.
- ② 예: “공책이요. 숙제에 꼭 필요해서요.” (기준을 들어 말하면 맞음)
- ③ 포기해요.
막히면
- 종이에 ‘1,000원’ 카드 세 장을 만들어 직접 놓아 보며 셉니다.
주의
- 계획상 앞 차시는 ‘필요와 선택’(KR22-G04-SOC-SCARCITY-L01)입니다. 보충 뒤에도 희소성과 선택이 흔들리면 그 차시의 S03~S09를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경제와참여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교환과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교환과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교환과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교환과 교류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딸기잼은 어디에서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왔을까요?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생산과 소비, 특산물을 설명할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지역끼리 교환하는 까닭을 말하고 우리 집 물건을 조사해요.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희소성이란 무엇인가요?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고를 때 쓰는 기준 하나는?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고르면 고르지 않은 것은?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생산과 소비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생산한 것을 사람들이 소비하며 생활해요.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기르거나 만들거나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서비스를 주는 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쌀 농사, 빵 굽기, 병원 진료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생산한 것을 사서 쓰는 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쌀 사기, 빵 먹기, 진료받기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생산일까, 소비일까?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기르거나 만들거나 서비스를 주면 생산, 사서 쓰면 소비</a:t>
            </a:r>
            <a:endParaRPr lang="ko-KR" sz="3000" dirty="0"/>
          </a:p>
        </p:txBody>
      </p:sp>
      <p:sp>
        <p:nvSpPr>
          <p:cNvPr id="5" name="S04-chip1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4-text1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어민이 바다에서 김을 길러요.</a:t>
            </a:r>
            <a:endParaRPr lang="ko-KR" sz="3000" dirty="0"/>
          </a:p>
        </p:txBody>
      </p:sp>
      <p:sp>
        <p:nvSpPr>
          <p:cNvPr id="7" name="S04-chip1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4-text2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마트에서 김을 사요.</a:t>
            </a:r>
            <a:endParaRPr lang="ko-KR" sz="3000" dirty="0"/>
          </a:p>
        </p:txBody>
      </p:sp>
      <p:sp>
        <p:nvSpPr>
          <p:cNvPr id="9" name="S04-chip2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4-text22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미용사가 머리를 잘라 줘요.</a:t>
            </a:r>
            <a:endParaRPr lang="ko-KR" sz="3000" dirty="0"/>
          </a:p>
        </p:txBody>
      </p:sp>
      <p:sp>
        <p:nvSpPr>
          <p:cNvPr id="11" name="S04-chip2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4-text24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손님이 버스를 타고 요금을 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특산물</a:t>
            </a:r>
            <a:endParaRPr lang="ko-KR" sz="4000" dirty="0"/>
          </a:p>
        </p:txBody>
      </p:sp>
      <p:sp>
        <p:nvSpPr>
          <p:cNvPr id="3" name="S05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별빛시와 둘레 지역이에요.</a:t>
            </a:r>
            <a:endParaRPr lang="ko-KR" sz="3000" dirty="0"/>
          </a:p>
        </p:txBody>
      </p:sp>
      <p:sp>
        <p:nvSpPr>
          <p:cNvPr id="4" name="S05-card2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특산물: 그 지역의 자연환경이나 기술 덕분에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많이 나거나 이름난 물건</a:t>
            </a:r>
            <a:endParaRPr lang="ko-KR" sz="3000" dirty="0"/>
          </a:p>
        </p:txBody>
      </p:sp>
      <p:graphicFrame>
        <p:nvGraphicFramePr>
          <p:cNvPr id="6" name="S05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67128"/>
          <a:ext cx="109728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4169664"/>
                <a:gridCol w="37307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자연환경과 기술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많이 생산하는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너른들마을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넓은 들(논과 밭)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딸기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물빛마을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바다와 갯벌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김, 미역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솔내마을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산과 숲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표고버섯, 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공장과 기술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자전거,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그곳에서 많이 날까?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넣어 말해요.</a:t>
            </a:r>
            <a:endParaRPr lang="ko-KR" sz="3000" dirty="0"/>
          </a:p>
        </p:txBody>
      </p:sp>
      <p:sp>
        <p:nvSpPr>
          <p:cNvPr id="4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‘~이 있어서 ~을 많이 생산해요.’</a:t>
            </a:r>
            <a:endParaRPr lang="ko-KR" sz="3000" dirty="0"/>
          </a:p>
        </p:txBody>
      </p:sp>
      <p:sp>
        <p:nvSpPr>
          <p:cNvPr id="6" name="S06-chip3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너른들마을에서 쌀이 많이 나는 까닭은?</a:t>
            </a:r>
            <a:endParaRPr lang="ko-KR" sz="3000" dirty="0"/>
          </a:p>
        </p:txBody>
      </p:sp>
      <p:sp>
        <p:nvSpPr>
          <p:cNvPr id="8" name="S06-chip3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솔내마을의 특산물과 그 까닭은?</a:t>
            </a:r>
            <a:endParaRPr lang="ko-KR" sz="3000" dirty="0"/>
          </a:p>
        </p:txBody>
      </p:sp>
      <p:sp>
        <p:nvSpPr>
          <p:cNvPr id="10" name="S06-chip3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3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자전거를 많이 만드는 까닭은?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교환할까요?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너른들마을은 쌀이 남고, 물빛마을은 김이 남아요.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교환: 필요한 것을 서로 바꾸거나 사고파는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교환하면 두 마을 모두 필요한 것을 얻어요.</a:t>
            </a:r>
            <a:endParaRPr lang="ko-KR" sz="3000" dirty="0"/>
          </a:p>
        </p:txBody>
      </p:sp>
      <p:sp>
        <p:nvSpPr>
          <p:cNvPr id="6" name="S07-figure41" descr="왼쪽에 너른들마을(넓은 들), 오른쪽에 물빛마을(바닷가)이 있다. 위쪽 화살표는 너른들마을에서 물빛마을로 쌀이 가고, 아래쪽 화살표는 물빛마을에서 너른들마을로 김이 온다."/>
          <p:cNvSpPr/>
          <p:nvPr/>
        </p:nvSpPr>
        <p:spPr>
          <a:xfrm>
            <a:off x="640080" y="2280209"/>
            <a:ext cx="3090824" cy="2181758"/>
          </a:xfrm>
          <a:custGeom>
            <a:avLst/>
            <a:gdLst/>
            <a:ahLst/>
            <a:cxnLst/>
            <a:rect l="l" t="t" r="r" b="b"/>
            <a:pathLst>
              <a:path w="3090824" h="2181758">
                <a:moveTo>
                  <a:pt x="0" y="2181758"/>
                </a:moveTo>
                <a:lnTo>
                  <a:pt x="3090824" y="2181758"/>
                </a:lnTo>
                <a:lnTo>
                  <a:pt x="3090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CC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mark42"/>
          <p:cNvSpPr/>
          <p:nvPr/>
        </p:nvSpPr>
        <p:spPr>
          <a:xfrm>
            <a:off x="8458048" y="2280209"/>
            <a:ext cx="3090824" cy="2181758"/>
          </a:xfrm>
          <a:custGeom>
            <a:avLst/>
            <a:gdLst/>
            <a:ahLst/>
            <a:cxnLst/>
            <a:rect l="l" t="t" r="r" b="b"/>
            <a:pathLst>
              <a:path w="3090824" h="2181758">
                <a:moveTo>
                  <a:pt x="0" y="2181758"/>
                </a:moveTo>
                <a:lnTo>
                  <a:pt x="3090824" y="2181758"/>
                </a:lnTo>
                <a:lnTo>
                  <a:pt x="3090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5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mark43"/>
          <p:cNvSpPr/>
          <p:nvPr/>
        </p:nvSpPr>
        <p:spPr>
          <a:xfrm>
            <a:off x="3912718" y="2962008"/>
            <a:ext cx="4363517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9" name="S07-mark44"/>
          <p:cNvSpPr/>
          <p:nvPr/>
        </p:nvSpPr>
        <p:spPr>
          <a:xfrm flipH="1">
            <a:off x="3912718" y="3780168"/>
            <a:ext cx="4363517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7-label46"/>
          <p:cNvSpPr txBox="1"/>
          <p:nvPr/>
        </p:nvSpPr>
        <p:spPr>
          <a:xfrm>
            <a:off x="1383868" y="2953322"/>
            <a:ext cx="1603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너른들마을</a:t>
            </a:r>
            <a:endParaRPr lang="ko-KR" sz="2400" dirty="0"/>
          </a:p>
        </p:txBody>
      </p:sp>
      <p:sp>
        <p:nvSpPr>
          <p:cNvPr id="11" name="S07-label48"/>
          <p:cNvSpPr txBox="1"/>
          <p:nvPr/>
        </p:nvSpPr>
        <p:spPr>
          <a:xfrm>
            <a:off x="1594942" y="3583902"/>
            <a:ext cx="118110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(넓은 들)</a:t>
            </a:r>
            <a:endParaRPr lang="ko-KR" sz="1900" dirty="0"/>
          </a:p>
        </p:txBody>
      </p:sp>
      <p:sp>
        <p:nvSpPr>
          <p:cNvPr id="12" name="S07-label50"/>
          <p:cNvSpPr txBox="1"/>
          <p:nvPr/>
        </p:nvSpPr>
        <p:spPr>
          <a:xfrm>
            <a:off x="9351188" y="2953322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물빛마을</a:t>
            </a:r>
            <a:endParaRPr lang="ko-KR" sz="2400" dirty="0"/>
          </a:p>
        </p:txBody>
      </p:sp>
      <p:sp>
        <p:nvSpPr>
          <p:cNvPr id="13" name="S07-label52"/>
          <p:cNvSpPr txBox="1"/>
          <p:nvPr/>
        </p:nvSpPr>
        <p:spPr>
          <a:xfrm>
            <a:off x="9449105" y="3583902"/>
            <a:ext cx="110871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(바닷가)</a:t>
            </a:r>
            <a:endParaRPr lang="ko-KR" sz="1900" dirty="0"/>
          </a:p>
        </p:txBody>
      </p:sp>
      <p:sp>
        <p:nvSpPr>
          <p:cNvPr id="14" name="S07-label54"/>
          <p:cNvSpPr txBox="1"/>
          <p:nvPr/>
        </p:nvSpPr>
        <p:spPr>
          <a:xfrm>
            <a:off x="5890260" y="236242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</a:t>
            </a:r>
            <a:endParaRPr lang="ko-KR" sz="2400" dirty="0"/>
          </a:p>
        </p:txBody>
      </p:sp>
      <p:sp>
        <p:nvSpPr>
          <p:cNvPr id="15" name="S07-label56"/>
          <p:cNvSpPr txBox="1"/>
          <p:nvPr/>
        </p:nvSpPr>
        <p:spPr>
          <a:xfrm>
            <a:off x="5890260" y="399874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사이의 경제 교류</a:t>
            </a:r>
            <a:endParaRPr lang="ko-KR" sz="4000" dirty="0"/>
          </a:p>
        </p:txBody>
      </p:sp>
      <p:sp>
        <p:nvSpPr>
          <p:cNvPr id="3" name="S08-card5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지역끼리 물건과 서비스를 사고파는 것을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 교류라고 해요.</a:t>
            </a:r>
            <a:endParaRPr lang="ko-KR" sz="3000" dirty="0"/>
          </a:p>
        </p:txBody>
      </p:sp>
      <p:graphicFrame>
        <p:nvGraphicFramePr>
          <p:cNvPr id="9" name="S08-table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24228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4169664"/>
                <a:gridCol w="416966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지역에 파는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지역에서 사 오는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너른들마을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딸기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김, 버섯, 농기계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물빛마을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김, 미역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과일, 그물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솔내마을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버섯, 꿀, 숲 체험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김,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자전거, 옷, 병원 진료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김, 버섯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손해일까, 이익일까?</a:t>
            </a:r>
            <a:endParaRPr lang="ko-KR" sz="4000" dirty="0"/>
          </a:p>
        </p:txBody>
      </p:sp>
      <p:sp>
        <p:nvSpPr>
          <p:cNvPr id="3" name="S09-card6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너른들마을은 물빛마을에 쌀을 팔고, 그 돈으로 김을 샀어요.</a:t>
            </a:r>
            <a:endParaRPr lang="ko-KR" sz="3000" dirty="0"/>
          </a:p>
        </p:txBody>
      </p:sp>
      <p:sp>
        <p:nvSpPr>
          <p:cNvPr id="5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생각이 알맞을까요? 왜요?</a:t>
            </a:r>
            <a:endParaRPr lang="ko-KR" sz="3000" dirty="0"/>
          </a:p>
        </p:txBody>
      </p:sp>
      <p:sp>
        <p:nvSpPr>
          <p:cNvPr id="7" name="S09-chip6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6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“쌀을 내준 너른들마을은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손해를 봤어요.”</a:t>
            </a:r>
            <a:endParaRPr lang="ko-KR" sz="3000" dirty="0"/>
          </a:p>
        </p:txBody>
      </p:sp>
      <p:sp>
        <p:nvSpPr>
          <p:cNvPr id="9" name="S09-chip6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6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“두 마을 모두 필요한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얻었으니 이익이에요.”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구름골마을</a:t>
            </a:r>
            <a:endParaRPr lang="ko-KR" sz="4000" dirty="0"/>
          </a:p>
        </p:txBody>
      </p:sp>
      <p:sp>
        <p:nvSpPr>
          <p:cNvPr id="3" name="S10-card68"/>
          <p:cNvSpPr/>
          <p:nvPr/>
        </p:nvSpPr>
        <p:spPr>
          <a:xfrm>
            <a:off x="548640" y="4494276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9"/>
          <p:cNvSpPr txBox="1"/>
          <p:nvPr/>
        </p:nvSpPr>
        <p:spPr>
          <a:xfrm>
            <a:off x="822960" y="4631436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구름골마을의 특산물과 그 까닭은?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지역과 무엇을 교환할까요? 왜요?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교환하면 누가 이익일까요?</a:t>
            </a:r>
            <a:endParaRPr lang="ko-KR" sz="3000" dirty="0"/>
          </a:p>
        </p:txBody>
      </p:sp>
      <p:sp>
        <p:nvSpPr>
          <p:cNvPr id="5" name="S10-passagebox70"/>
          <p:cNvSpPr/>
          <p:nvPr/>
        </p:nvSpPr>
        <p:spPr>
          <a:xfrm>
            <a:off x="548640" y="1325880"/>
            <a:ext cx="11091672" cy="2939796"/>
          </a:xfrm>
          <a:prstGeom prst="roundRect">
            <a:avLst>
              <a:gd name="adj" fmla="val 31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1"/>
          <p:cNvSpPr txBox="1"/>
          <p:nvPr/>
        </p:nvSpPr>
        <p:spPr>
          <a:xfrm>
            <a:off x="822960" y="1508760"/>
            <a:ext cx="10543032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구름골마을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따뜻하고 비가 많이 와서 산비탈에서 차나무가 잘 자라요. 그래서 녹차를 많이 생산해요.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바다가 멀어 생선은 나지 않고, 큰 병원은 별빛시에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나는 까닭과, 서로 바꾸는 까닭을 함께 말해요.</a:t>
            </a:r>
            <a:endParaRPr lang="ko-KR" sz="3000" dirty="0"/>
          </a:p>
        </p:txBody>
      </p:sp>
      <p:sp>
        <p:nvSpPr>
          <p:cNvPr id="5" name="S11-chip7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7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녹차</a:t>
            </a:r>
            <a:endParaRPr lang="ko-KR" sz="3000" dirty="0"/>
          </a:p>
        </p:txBody>
      </p:sp>
      <p:sp>
        <p:nvSpPr>
          <p:cNvPr id="7" name="S11-text7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따뜻하고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많아서</a:t>
            </a:r>
            <a:endParaRPr lang="ko-KR" sz="2400" dirty="0"/>
          </a:p>
        </p:txBody>
      </p:sp>
      <p:sp>
        <p:nvSpPr>
          <p:cNvPr id="8" name="S11-text7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녹차를 팔고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생선·진료를 사요</a:t>
            </a:r>
            <a:endParaRPr lang="ko-KR" sz="2400" dirty="0"/>
          </a:p>
        </p:txBody>
      </p:sp>
      <p:sp>
        <p:nvSpPr>
          <p:cNvPr id="9" name="S11-text7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바다·병원이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없어서</a:t>
            </a:r>
            <a:endParaRPr lang="ko-KR" sz="2400" dirty="0"/>
          </a:p>
        </p:txBody>
      </p:sp>
      <p:sp>
        <p:nvSpPr>
          <p:cNvPr id="10" name="S11-text7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두 지역 모두</a:t>
            </a:r>
            <a:endParaRPr lang="ko-KR" sz="3000" dirty="0"/>
          </a:p>
        </p:txBody>
      </p:sp>
      <p:sp>
        <p:nvSpPr>
          <p:cNvPr id="11" name="S11-text8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이익</a:t>
            </a:r>
            <a:endParaRPr lang="ko-KR" sz="2400" dirty="0"/>
          </a:p>
        </p:txBody>
      </p:sp>
      <p:sp>
        <p:nvSpPr>
          <p:cNvPr id="12" name="S11-chip8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1-text8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“녹차요.”만</a:t>
            </a:r>
            <a:endParaRPr lang="ko-KR" sz="3000" dirty="0"/>
          </a:p>
        </p:txBody>
      </p:sp>
      <p:sp>
        <p:nvSpPr>
          <p:cNvPr id="14" name="S11-text8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빠짐</a:t>
            </a:r>
            <a:endParaRPr lang="ko-KR" sz="2400" dirty="0"/>
          </a:p>
        </p:txBody>
      </p:sp>
      <p:sp>
        <p:nvSpPr>
          <p:cNvPr id="15" name="S11-text8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“사는 쪽만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이익이에요.”</a:t>
            </a:r>
            <a:endParaRPr lang="ko-KR" sz="3000" dirty="0"/>
          </a:p>
        </p:txBody>
      </p:sp>
      <p:sp>
        <p:nvSpPr>
          <p:cNvPr id="16" name="S11-text8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파는 쪽도 필요한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것을 얻어요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생산지 표시 읽기</a:t>
            </a:r>
            <a:endParaRPr lang="ko-KR" sz="4000" dirty="0"/>
          </a:p>
        </p:txBody>
      </p:sp>
      <p:sp>
        <p:nvSpPr>
          <p:cNvPr id="3" name="S12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‘국산’, ‘국내산’은 우리나라에서 생산했다는 뜻이에요.</a:t>
            </a:r>
            <a:endParaRPr lang="ko-KR" sz="3000" dirty="0"/>
          </a:p>
        </p:txBody>
      </p:sp>
      <p:sp>
        <p:nvSpPr>
          <p:cNvPr id="5" name="S12-card88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89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찾기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포장의 뒷면이나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옆면을 봐요.</a:t>
            </a:r>
            <a:endParaRPr lang="ko-KR" sz="3000" dirty="0"/>
          </a:p>
        </p:txBody>
      </p:sp>
      <p:sp>
        <p:nvSpPr>
          <p:cNvPr id="7" name="S12-card90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1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낱말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‘원산지’, ‘생산지’,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‘제조원’을 찾아요.</a:t>
            </a:r>
            <a:endParaRPr lang="ko-KR" sz="3000" dirty="0"/>
          </a:p>
        </p:txBody>
      </p:sp>
      <p:sp>
        <p:nvSpPr>
          <p:cNvPr id="9" name="S12-card92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93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적기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이름이나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이름을 적어요.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딸기잼 포장 읽기</a:t>
            </a:r>
            <a:endParaRPr lang="ko-KR" sz="4000" dirty="0"/>
          </a:p>
        </p:txBody>
      </p:sp>
      <p:sp>
        <p:nvSpPr>
          <p:cNvPr id="3" name="S13-card94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딸기잼 포장</a:t>
            </a:r>
            <a:endParaRPr lang="ko-KR" sz="3000" dirty="0"/>
          </a:p>
        </p:txBody>
      </p:sp>
      <p:graphicFrame>
        <p:nvGraphicFramePr>
          <p:cNvPr id="14" name="S13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2834" y="3115056"/>
          <a:ext cx="4572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제품명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딸기잼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원재료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딸기(너른들마을산),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별빛식품(별빛시)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3-chip9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ext9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딸기는 어디에서 왔나요?</a:t>
            </a:r>
            <a:endParaRPr lang="ko-KR" sz="3000" dirty="0"/>
          </a:p>
        </p:txBody>
      </p:sp>
      <p:sp>
        <p:nvSpPr>
          <p:cNvPr id="8" name="S13-chip9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ext100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잼은 어디에서 만들었나요?</a:t>
            </a:r>
            <a:endParaRPr lang="ko-KR" sz="3000" dirty="0"/>
          </a:p>
        </p:txBody>
      </p:sp>
      <p:sp>
        <p:nvSpPr>
          <p:cNvPr id="10" name="S13-chip10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3-text102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집까지 어떤 교류가 있었을까요?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 조사</a:t>
            </a:r>
            <a:endParaRPr lang="ko-KR" sz="4000" dirty="0"/>
          </a:p>
        </p:txBody>
      </p:sp>
      <p:sp>
        <p:nvSpPr>
          <p:cNvPr id="3" name="S14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칼이나 무거운 상자는 어른이 꺼내 줘요.</a:t>
            </a:r>
            <a:endParaRPr lang="ko-KR" sz="3000" dirty="0"/>
          </a:p>
        </p:txBody>
      </p:sp>
      <p:sp>
        <p:nvSpPr>
          <p:cNvPr id="5" name="S14-card105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06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가지의 생산지를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지역(나라)에서 온 것을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그곳에서 온 까닭을 말했어요</a:t>
            </a:r>
            <a:endParaRPr lang="ko-KR" sz="3000" dirty="0"/>
          </a:p>
        </p:txBody>
      </p:sp>
      <p:sp>
        <p:nvSpPr>
          <p:cNvPr id="7" name="S14-stepno107"/>
          <p:cNvSpPr txBox="1"/>
          <p:nvPr/>
        </p:nvSpPr>
        <p:spPr>
          <a:xfrm>
            <a:off x="548640" y="17343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4-text108"/>
          <p:cNvSpPr txBox="1"/>
          <p:nvPr/>
        </p:nvSpPr>
        <p:spPr>
          <a:xfrm>
            <a:off x="1325880" y="168859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먹을거리와 물건 네 가지를 골라요.</a:t>
            </a:r>
            <a:endParaRPr lang="ko-KR" sz="3000" dirty="0"/>
          </a:p>
        </p:txBody>
      </p:sp>
      <p:sp>
        <p:nvSpPr>
          <p:cNvPr id="9" name="S14-stepno109"/>
          <p:cNvSpPr txBox="1"/>
          <p:nvPr/>
        </p:nvSpPr>
        <p:spPr>
          <a:xfrm>
            <a:off x="548640" y="2782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4-text110"/>
          <p:cNvSpPr txBox="1"/>
          <p:nvPr/>
        </p:nvSpPr>
        <p:spPr>
          <a:xfrm>
            <a:off x="1325880" y="27828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포장에서 생산지를 찾아요.</a:t>
            </a:r>
            <a:endParaRPr lang="ko-KR" sz="3000" dirty="0"/>
          </a:p>
        </p:txBody>
      </p:sp>
      <p:sp>
        <p:nvSpPr>
          <p:cNvPr id="11" name="S14-stepno111"/>
          <p:cNvSpPr txBox="1"/>
          <p:nvPr/>
        </p:nvSpPr>
        <p:spPr>
          <a:xfrm>
            <a:off x="548640" y="3496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4-text112"/>
          <p:cNvSpPr txBox="1"/>
          <p:nvPr/>
        </p:nvSpPr>
        <p:spPr>
          <a:xfrm>
            <a:off x="1325880" y="34960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적어요.</a:t>
            </a:r>
            <a:endParaRPr lang="ko-KR" sz="3000" dirty="0"/>
          </a:p>
        </p:txBody>
      </p:sp>
      <p:sp>
        <p:nvSpPr>
          <p:cNvPr id="13" name="S14-stepno113"/>
          <p:cNvSpPr txBox="1"/>
          <p:nvPr/>
        </p:nvSpPr>
        <p:spPr>
          <a:xfrm>
            <a:off x="548640" y="42092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4-text114"/>
          <p:cNvSpPr txBox="1"/>
          <p:nvPr/>
        </p:nvSpPr>
        <p:spPr>
          <a:xfrm>
            <a:off x="1325880" y="42092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그곳에서 왔을지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1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1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지역마다 생산하는 것이 달라요.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교환하면 모두 필요한 것을 얻어요(경제 교류).</a:t>
            </a:r>
            <a:endParaRPr lang="ko-KR" sz="3000" dirty="0"/>
          </a:p>
        </p:txBody>
      </p:sp>
      <p:sp>
        <p:nvSpPr>
          <p:cNvPr id="5" name="S15-chip11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생산지 표시 읽어 보기</a:t>
            </a:r>
            <a:endParaRPr lang="ko-KR" sz="2400" dirty="0"/>
          </a:p>
        </p:txBody>
      </p:sp>
      <p:sp>
        <p:nvSpPr>
          <p:cNvPr id="6" name="S15-chip11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교환은 한쪽 손해라고 여기기</a:t>
            </a:r>
            <a:endParaRPr lang="ko-KR" sz="2400" dirty="0"/>
          </a:p>
        </p:txBody>
      </p:sp>
      <p:sp>
        <p:nvSpPr>
          <p:cNvPr id="7" name="S15-text11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12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생산과 소비의 뜻은?</a:t>
            </a:r>
            <a:endParaRPr lang="ko-KR" sz="2400" dirty="0"/>
          </a:p>
        </p:txBody>
      </p:sp>
      <p:sp>
        <p:nvSpPr>
          <p:cNvPr id="9" name="S15-text12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특산물이란?</a:t>
            </a:r>
            <a:endParaRPr lang="ko-KR" sz="2400" dirty="0"/>
          </a:p>
        </p:txBody>
      </p:sp>
      <p:sp>
        <p:nvSpPr>
          <p:cNvPr id="10" name="S15-text12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지역끼리 교환하는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400" dirty="0"/>
          </a:p>
        </p:txBody>
      </p:sp>
      <p:sp>
        <p:nvSpPr>
          <p:cNvPr id="11" name="S15-text12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지역 문제 해결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모두 가질 수 없어요</a:t>
            </a:r>
            <a:endParaRPr lang="ko-KR" sz="4000" dirty="0"/>
          </a:p>
        </p:txBody>
      </p:sp>
      <p:sp>
        <p:nvSpPr>
          <p:cNvPr id="3" name="S16-text1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3,000원이 있어요.</a:t>
            </a:r>
            <a:endParaRPr lang="ko-KR" sz="3000" dirty="0"/>
          </a:p>
        </p:txBody>
      </p:sp>
      <p:sp>
        <p:nvSpPr>
          <p:cNvPr id="4" name="S16-card1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6-cardtext1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것은 많은데 돈이 부족하면 골라야 해요.</a:t>
            </a:r>
            <a:endParaRPr lang="ko-KR" sz="3000" dirty="0"/>
          </a:p>
        </p:txBody>
      </p:sp>
      <p:sp>
        <p:nvSpPr>
          <p:cNvPr id="6" name="S16-chip1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6-text12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2,000원짜리 공책과 2,000원짜리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색연필을 모두 살 수 있나요?</a:t>
            </a:r>
            <a:endParaRPr lang="ko-KR" sz="3000" dirty="0"/>
          </a:p>
        </p:txBody>
      </p:sp>
      <p:sp>
        <p:nvSpPr>
          <p:cNvPr id="8" name="S16-chip12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6-text13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고른다면 무엇을? 왜요?</a:t>
            </a:r>
            <a:endParaRPr lang="ko-KR" sz="3000" dirty="0"/>
          </a:p>
        </p:txBody>
      </p:sp>
      <p:sp>
        <p:nvSpPr>
          <p:cNvPr id="10" name="S16-chip1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6-text13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고르지 않은 것은 어떻게 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교환과 교류</dc:title>
  <dc:subject>KR22-G04-SOC-TRADE-L01</dc:subject>
  <dc:creator>education-ppt</dc:creator>
  <cp:lastModifiedBy>education-ppt</cp:lastModifiedBy>
  <cp:revision>1</cp:revision>
  <dcterms:created xsi:type="dcterms:W3CDTF">2026-10-26T13:08:15Z</dcterms:created>
  <dcterms:modified xsi:type="dcterms:W3CDTF">2026-10-26T13:08:15Z</dcterms:modified>
</cp:coreProperties>
</file>