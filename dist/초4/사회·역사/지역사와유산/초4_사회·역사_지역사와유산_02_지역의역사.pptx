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81e1ef2-6d71-3f99-9eb4-ba6cc3fb93a1}">
          <p14:sldIdLst>
            <p14:sldId id="256"/>
            <p14:sldId id="257"/>
          </p14:sldIdLst>
        </p14:section>
        <p14:section name="개념" id="{d305ec8f-86b0-ad31-33f4-d54e6234f133}">
          <p14:sldIdLst>
            <p14:sldId id="258"/>
            <p14:sldId id="259"/>
            <p14:sldId id="261"/>
            <p14:sldId id="263"/>
          </p14:sldIdLst>
        </p14:section>
        <p14:section name="연습" id="{0c16b675-54ca-4f70-bee6-7b493f71230a}">
          <p14:sldIdLst>
            <p14:sldId id="260"/>
            <p14:sldId id="262"/>
            <p14:sldId id="264"/>
            <p14:sldId id="265"/>
          </p14:sldIdLst>
        </p14:section>
        <p14:section name="개념" id="{140f894b-a2a8-b674-2d36-e28f3aa7dd30}">
          <p14:sldIdLst/>
        </p14:section>
        <p14:section name="연습" id="{7cd8af72-54e2-3df5-18c2-098f4719c522}">
          <p14:sldIdLst/>
        </p14:section>
        <p14:section name="개념" id="{4c462bff-a61c-fcb3-55ef-38830277a68a}">
          <p14:sldIdLst/>
        </p14:section>
        <p14:section name="연습" id="{2a1bf520-ded4-13ac-1d74-f421ceea854e}">
          <p14:sldIdLst/>
        </p14:section>
        <p14:section name="확인" id="{ce5e1880-f5d6-404d-51b8-fec60a2cbaa0}">
          <p14:sldIdLst>
            <p14:sldId id="266"/>
            <p14:sldId id="267"/>
            <p14:sldId id="268"/>
          </p14:sldIdLst>
        </p14:section>
        <p14:section name="정리" id="{7aaa8101-6ad5-5145-0dcc-cccca022c1d0}">
          <p14:sldIdLst>
            <p14:sldId id="269"/>
          </p14:sldIdLst>
        </p14:section>
        <p14:section name="보충" id="{b481bbc2-1bdb-b13b-eec8-32c1443d598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우리 동네의 옛 모습에 궁금증을 갖게 합니다.
시간: 약 2분
이렇게 말해 보세요
- “엄마(아빠)가 어렸을 때 이 동네(또는 엄마 아빠가 자란 동네)는 지금과 많이 달랐어. 무엇이 달랐을 것 같아?”
- “오늘은 옛날과 오늘의 자료를 비교해서 바뀐 것을 찾고, 왜 바뀌었는지 짐작해 볼 거야.”
예상 답
- “아파트가 없었을 것 같아요.” “휴대 전화가 없었어요.”
막히면
- 부모님이 어렸을 때 동네 이야기(놀던 곳, 가게, 학교 가는 길)를 짧게 들려줍니다.
주의
- 오늘 화면의 별빛마을 옛 지도와 이야기는 수업을 위해 지어낸 것입니다(실제 옛 지도·사진을 옮기지 않았습니다). 우리 지역의 옛 모습은 S10과 활동지 4·5에서 함께 조사합니다.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확인(지역의 문화유산)]
목적: 앞 차시 ‘지역의 문화유산’(KR22-G04-SOC-HERITAGE-L01)에서 배운 조사 방법과, 옛것에서 옛 생활을 읽는 힘을 확인합니다. 오늘도 같은 방법으로 지역의 변화를 조사합니다.
시간: 약 3분
이렇게 말해 보세요
- “지난 시간에 우리 지역 문화유산을 조사했지? 무엇을 기록했는지, 어디에서 알아봤는지 말해 볼래?”
정답
- ① 이름, 있는 곳, 모습(쓰임), 의미(소중한 까닭), 알아본 곳
- ② 안내판, 지역 누리집, 박물관·문화원, 어르신께 여쭙기
- ③ 옛날 사람들의 생활 모습과 지혜
막히면
- ①·②를 거의 말하지 못하면 S15(보충)를 먼저 합니다.
- 활동지 4(지난 차시)의 조사 기록을 함께 보며 떠올리게 합니다.
주의
- 지난 차시의 조사를 아직 하지 못했다면 오늘 S10 조사와 함께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지역의 변화를 알려 주는 자료]
목적: 지역의 옛 모습과 변화를 알 수 있는 자료 네 가지를 알려 줍니다(목표 A).
시간: 약 2분
이렇게 말해 보세요
- “옛날 모습은 타임머신이 없어도 알 수 있어. 옛 지도, 옛 사진, 어르신 이야기, 그리고 땅 이름이 알려 줘.”
- “집에 있는 옛 가족사진에도 동네의 옛 모습이 찍혀 있을 수 있어.”
예상 답
- “할머니께 여쭤봐요.” “앨범을 봐요.”
막히면
- 가족 앨범의 옛 사진 한 장을 보여 주며 “이 사진에서 지금과 다른 것을 찾아볼까?”라고 합니다(선택).
주의
- 옛 지도·사진은 지역 누리집, 박물관, 문화원에서 볼 수 있습니다. 자료를 볼 때는 언제 만든 자료인지 함께 확인하게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시범(옛날과 오늘 지도 비교)]
목적: 옛날과 오늘의 그림지도를 같은 자리끼리 맞대어 비교하는 방법을 시범으로 보여 줍니다(목표 A).
시간: 약 3분
이렇게 말해 보세요
- “왼쪽은 할머니가 어렸을 때의 별빛마을, 오른쪽은 오늘의 별빛시야. 같은 곳을 그린 거야. 무엇이 같아서 같은 곳인 줄 알 수 있을까?”
- “엄마(아빠)가 하나 찾아볼게. 옛날 지도의 ‘나루’는 배를 타고 강을 건너던 곳이야. 오늘 지도에서 같은 자리를 보면… 다리가 있네. ‘옛날에는 나루가 있었는데 오늘은 다리가 있어요.’”
예상 답
- 같은 곳인 까닭: “하천과 산이 똑같은 자리에 있어요.”
막히면
- 두 지도의 하천을 손가락으로 함께 따라가며 같은 자리를 찾게 합니다.
주의
- 바뀌지 않은 것(하천, 산)을 먼저 찾으면 두 지도를 맞대어 보기 쉽습니다.
- 그림지도는 수업을 위해 지어낸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바뀐 것과 그대로인 것 찾기]
목적: 두 그림지도에서 바뀐 것과 그대로인 것을 찾아 ‘옛날에는 ~였는데 오늘은 ~예요’로 말하는 연습을 합니다(목표 A).
시간: 약 3분
이렇게 말해 보세요
- “같은 자리끼리 하나씩 비교해 볼까? 옛날 지도의 초가집 자리에는 오늘 무엇이 있어?”
- “바뀌지 않고 그대로인 것도 찾아볼래?”
정답
- ① 바뀐 것(두 가지 이상): 나루 → 다리, 좁은 길 → 넓은 도로, 초가집 → 아파트, 서쪽 논밭 → 학교와 아파트, 장터 → 시장 건물
- ② 그대로인 것(두 가지 이상): 산, 하천, 큰 나무, 동쪽 논밭 일부. (장터 자리에 시장이 있는 것도 ‘장을 보는 곳’은 그대로라고 말하면 맞음)
막히면
- 옛날 지도의 이름표(나루, 장터, 논밭)를 하나씩 짚고 “오늘 지도의 같은 자리에는?”이라고 묻습니다.
주의
- ‘아파트가 생겼어요’처럼 한쪽만 말하면 “옛날에는 그 자리에 무엇이 있었어?”라고 물어 옛날과 오늘을 함께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어르신 이야기로 변화의 차례 알기]
목적: 어르신의 이야기는 지도에는 없는 ‘바뀐 차례’를 알려 준다는 것을 연표로 보여 줍니다(목표 A·B).
시간: 약 3분
이렇게 말해 보세요
- “지도 두 장만 보면 무엇이 먼저 바뀌었는지 알 수 있을까? 할머니 이야기를 들으면 차례를 알 수 있어.”
- “다리가 놓인 것과 아파트가 생긴 것 가운데 무엇이 먼저야?”
예상 답
- “다리가 먼저예요.”
막히면
- 연표를 왼쪽부터 손가락으로 짚으며 “처음에는… 그다음에는…”으로 읽게 합니다.
주의
- 할머니 이야기와 연표는 수업을 위해 지어낸 것이며, 연도는 일부러 쓰지 않았습니다. 실제 조사에서는 어르신이 말씀하신 때를 그대로 적게 합니다.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땅 이름으로 옛 모습 짐작하기]
목적: 땅 이름(지명)이 지역의 옛 모습을 알려 주는 자료가 된다는 것을 연습합니다(목표 A).
시간: 약 2분
이렇게 말해 보세요
- “나루길이라는 이름에 어떤 낱말이 들어 있어? 나루는 무엇이었지?”
- “우리 동네 길이나 동네 이름에도 이런 낱말이 있을까? 활동지에 적어 보자.”
정답
- ① 배를 타고 강을 건너던 나루가 있었을 거예요.
- ② 장이 서던 장터가 있었을 거예요.
- ③ 옛날에 사람들이 새로 집을 짓고 모여 살기 시작한 마을이었을 거예요.
막히면
- S04의 옛날 지도에서 나루와 장터를 다시 찾아 이름과 연결합니다.
주의
- 나루길·장터길·새터마을은 별빛시의 지어낸 이름입니다. 실제 땅 이름의 유래는 지역 누리집이나 문화원 자료로 확인해야 하며, 짐작은 짐작이라고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바뀐 까닭 짐작하기]
목적: 자료(두 지도와 할머니 이야기)를 근거로 바뀐 까닭을 원인 → 결과의 차례로 짐작하는 방법을 보여 줍니다(목표 B).
시간: 약 3분
이렇게 말해 보세요
- “다리가 놓이기 전에는 강을 어떻게 건넜지? 다리가 생기면 무엇이 쉬워질까?”
- “오가기 쉬워지면 사람들은 어떻게 할까? 그래서 마을에는 무엇이 늘어났을까?”
- “이렇게 ‘~해서 ~했을 것 같아요’라고 말하는 것을 짐작이라고 해.”
예상 답
- “다리가 생겨서 사람들이 많이 이사 왔을 것 같아요.”
막히면
- 화살표 상자를 하나씩 가리키며 “그래서 어떻게 됐을까?”만 반복해 묻습니다.
주의
- 까닭은 하나가 아닐 수 있습니다(일자리, 학교, 교통 등). 지도와 이야기만으로는 확실히 알 수 없으므로 ‘~했을 것 같아요’, ‘~라고 생각할 수 있어요’라고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단정과 근거 있는 짐작 비교]
목적: 자료로 짐작한 까닭을 사실처럼 단정하지 않고, 짐작이라고 말한 뒤 다른 자료로 확인하는 태도를 기릅니다(목표 B, 오해 M2).
시간: 약 2분
이렇게 말해 보세요
- “지도에는 사람들이 왜 이사 왔는지 쓰여 있었어? 그럼 ‘틀림없어요’라고 말할 수 있을까?”
- “나 친구는 짐작을 어떻게 확인한다고 했어?”
정답
- 나. 지도만으로는 까닭을 확실히 알 수 없으므로 ‘~것 같아요’라고 짐작으로 말하고, 어르신 이야기나 지역 자료로 확인하는 것이 알맞습니다.
막히면
- “가 친구의 말이 틀렸다면 어떻게 알 수 있을까?”라고 물어 확인할 방법을 떠올리게 합니다.
주의
- 가 친구의 짐작 내용이 틀렸다는 것이 아니라, 확인하지 않고 단정한 것이 문제라는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우리 지역의 옛 모습 조사(부모와 함께)]
목적: 우리 지역의 옛 모습과 변화를 어르신 인터뷰나 자료로 조사하는 방법을 안내합니다(목표 A·B). 실제 조사는 수업 뒤에 해도 됩니다.
시간: 약 4분
이렇게 말해 보세요
- “할머니(할아버지)나 이웃 어르신께 전화로 여쭤봐도 돼. 무엇을 여쭤보면 좋을까? 활동지 4에 질문이 있어.”
- “집에 있는 옛 가족사진이나 지역 누리집의 ‘역사’, ‘옛 모습’ 자료도 같이 찾아보자.”
예상 답
- 질문 예: “어렸을 때 이 동네에는 무엇이 있었어요?”, “지금과 가장 많이 달라진 것은 무엇이에요?”, “왜 바뀌었다고 생각하세요?”
정답
- 기준: 바뀐 것 한 가지와 그대로인 것 한 가지를 ‘옛날에는 ~였는데 오늘은 ~’로 기록하고, 바뀐 까닭을 짐작하거나 어르신께 들은 대로 적으며, 여쭌 분(관계)과 알아본 자료를 쓰면 잘한 것입니다. 우리 지역의 변화는 사는 곳에 따라 다르므로 정해진 답이 없습니다.
막히면
- 가까이 어르신이 계시지 않으면 부모님이 어렸을 때 살던 동네 이야기를 인터뷰해도 됩니다(그 동네의 변화로 기록).
- 옛 지도나 사진을 찾기 어려우면 지역 박물관·문화원·누리집에 무엇이 있는지 함께 찾아봅니다.
주의
- 어르신의 기억은 사람마다 다를 수 있습니다. 때(연도)는 들은 대로 적고, 자료와 다르면 둘 다 적게 합니다.
- 인터뷰한 분의 개인 정보(이름, 주소)는 활동지에 적지 않고, 관계(외할머니, 이웃 어른 등)만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보기(처음 보는 옛날·오늘 자료)]
목적: 처음 보는 옛날·오늘 자료에서 바뀐 것과 그대로인 것을 찾아 옛날과 오늘을 함께 말하는지 확인합니다(목표 A).
시간: 약 4분
이렇게 말해 보세요
- “이번에는 혼자 해 볼래? ‘옛날에는 ~였는데 오늘은 ~예요’로 말해 줘.”
정답
- ① 예: 옛날에는 우물물을 길어 썼는데 오늘은 수도를 써요. 옛날에는 좁은 흙길이었는데 오늘은 넓은 찻길이에요.
- ② 솔빛산
- ③ 옛날에는 닷새마다 서는 장터에서 장을 봤는데 오늘은 날마다 여는 가게에서 장을 봐요.
막히면
- 표의 한 줄만 가리키며 “옛날 칸과 오늘 칸이 같아, 달라?”라고 묻습니다.
- 도움을 받아 풀었다면 기록표에 ‘도움’으로 표시합니다.
주의
- 솔빛마을은 수업을 위해 지어낸 곳입니다. ‘닷새마다 장’은 닷새에 한 번 장이 서던 옛 장터를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답은 왼쪽처럼 옛날과 오늘을 함께 말했어?”
예상 답
- “옛날에는 우물을 썼는데 오늘은 수도를 써요.”
정답
- ① 물(우물 → 수도), 길(좁은 흙길 → 넓은 찻길), 장보기(닷새마다 장터 → 날마다 가게) 가운데 두 가지 ② 솔빛산 ③ 닷새마다 서는 장터 → 날마다 여는 가게
막히면
- S11의 표를 다시 보며 한 줄씩 비교합니다.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확인(까닭 짐작과 확인 방법)]
목적: 처음 보는 변화에 대해 자료를 근거로 까닭을 짐작하고, 짐작을 확인할 방법을 말하는지 확인합니다(목표 B).
시간: 약 3분
이렇게 말해 보세요
- “기차역이 생기면 무엇이 쉬워질까? 그래서 역 둘레는 어떻게 됐을 것 같아? ‘~해서 ~했을 것 같아요’로 말해 줘.”
정답
- ① 예: 기차역이 생겨서 사람들이 많이 오가니까 역 둘레에 가게가 생기고, 다니기 편해서 집도 많이 지었을 것 같아요. (기차역 → 오가는 사람 → 가게·집의 차례로 짐작하면 맞음)
- ② 예: 어르신께 여쭤봐요, 지역 누리집이나 박물관의 옛 자료를 찾아봐요, 그때 사진을 비교해요.
막히면
- S08의 흐름 그림을 떠올리게 하고 ‘다리’ 자리에 ‘기차역’을 넣어 보게 합니다. 그래도 어려우면 기록표에 ‘도움’으로 적습니다.
주의
- ‘틀림없어요’처럼 단정하면 S09를 떠올리게 하고 짐작으로 고쳐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“우리 동네의 옛 모습을 알고 싶으면 어떻게 하면 될까? 한두 문장으로 말해 볼래?”
예상 답
- “할머니께 여쭤보고 옛날 사진이랑 지금을 비교해요.”
정답
- ① 옛 지도, 옛 사진, 어르신 이야기, 땅 이름 ② 다리 ③ 어르신께 여쭙기, 지역 누리집·박물관·문화원 자료 찾아보기
막히면
- S03, S04, S09를 다시 보여 줍니다.
주의
- 활동지 4·5의 조사는 다음 수업 전까지 함께 해 오면 좋습니다. 조사한 이야기를 가족과 나누면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보충(옛것에서 옛 모습 읽기)]
목적: 같은 일(물 얻기, 강 건너기, 불 밝히기)을 기준으로 옛날과 오늘을 짝지어, 비교하는 방법을 다시 익힙니다.
시간: 약 4분
이렇게 말해 보세요
- “옛날에는 물을 어떻게 얻었어? 오늘은? 그럼 무엇이 바뀐 거야?”
- “같은 일을 하는 것끼리 짝지으면 비교하기 쉬워.”
정답
- 우물 → 수도꼭지(물을 얻는 방법), 나룻배 → 다리(강을 건너는 방법), 등잔불 → 전등(불을 밝히는 방법)
막히면
- 집의 수도꼭지와 전등을 직접 보여 주며 “옛날에는 이게 없었어. 그럼 어떻게 했을까?”라고 묻습니다.
- 보충으로도 어렵다면 앞 차시 ‘지역의 문화유산’(KR22-G04-SOC-HERITAGE-L01)과 3학년 ‘생활 도구의 변화’(KR22-G03-SOC-TOOLS-L01)를 먼저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지역사와유산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지역의 역사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지역의 역사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사회·역사 · 지역의 역사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지역의 역사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동네는 옛날에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모습이었을까요?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옛날과 오늘의 자료로 바뀐 것을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바뀐 까닭을 짐작하고 조사할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시간을 떠올려요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문화유산을 조사할 때 기록할 것은?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지역 자료는 어디에서 찾을 수 있나요?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옛것을 보면 무엇을 알 수 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모습을 알려 주는 자료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곳의 옛날 자료와 오늘 자료를 나란히 놓고 비교해요.</a:t>
            </a:r>
            <a:endParaRPr lang="ko-KR" sz="3000" dirty="0"/>
          </a:p>
        </p:txBody>
      </p:sp>
      <p:sp>
        <p:nvSpPr>
          <p:cNvPr id="5" name="S03-card11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지도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길과 마을의 자리</a:t>
            </a:r>
            <a:endParaRPr lang="ko-KR" sz="3000" dirty="0"/>
          </a:p>
        </p:txBody>
      </p:sp>
      <p:sp>
        <p:nvSpPr>
          <p:cNvPr id="7" name="S03-card13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사진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건물과 사람들의 모습</a:t>
            </a:r>
            <a:endParaRPr lang="ko-KR" sz="3000" dirty="0"/>
          </a:p>
        </p:txBody>
      </p:sp>
      <p:sp>
        <p:nvSpPr>
          <p:cNvPr id="9" name="S03-card15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6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어르신 이야기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보고 겪은 일</a:t>
            </a:r>
            <a:endParaRPr lang="ko-KR" sz="3000" dirty="0"/>
          </a:p>
        </p:txBody>
      </p:sp>
      <p:sp>
        <p:nvSpPr>
          <p:cNvPr id="11" name="S03-card17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8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 이름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이름에 남은 옛 모습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옛날과 오늘의 별빛마을</a:t>
            </a:r>
            <a:endParaRPr lang="ko-KR" sz="4000" dirty="0"/>
          </a:p>
        </p:txBody>
      </p:sp>
      <p:sp>
        <p:nvSpPr>
          <p:cNvPr id="3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옛날에 나루가 있던 자리에 오늘은 다리가 있어요.</a:t>
            </a:r>
            <a:endParaRPr lang="ko-KR" sz="3000" dirty="0"/>
          </a:p>
        </p:txBody>
      </p:sp>
      <p:sp>
        <p:nvSpPr>
          <p:cNvPr id="5" name="S04-figure21" descr="옛날(할머니가 어렸을 때) 별빛마을 그림지도: 가운데로 하천이 흐르고, 나루에서 배로 하천을 건넌다. 서쪽에 초가집 몇 채와 좁은 길, 남쪽에 논밭, 나루 동쪽에 장터, 북서쪽에 산, 북동쪽에 큰 나무가 있다."/>
          <p:cNvSpPr/>
          <p:nvPr/>
        </p:nvSpPr>
        <p:spPr>
          <a:xfrm>
            <a:off x="1076530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AFAF5"/>
          </a:solidFill>
          <a:ln/>
        </p:spPr>
      </p:sp>
      <p:sp>
        <p:nvSpPr>
          <p:cNvPr id="6" name="S04-mark22"/>
          <p:cNvSpPr/>
          <p:nvPr/>
        </p:nvSpPr>
        <p:spPr>
          <a:xfrm>
            <a:off x="3097213" y="1417320"/>
            <a:ext cx="192446" cy="3127248"/>
          </a:xfrm>
          <a:custGeom>
            <a:avLst/>
            <a:gdLst/>
            <a:ahLst/>
            <a:cxnLst/>
            <a:rect l="l" t="t" r="r" b="b"/>
            <a:pathLst>
              <a:path w="192446" h="3127248">
                <a:moveTo>
                  <a:pt x="144335" y="0"/>
                </a:moveTo>
                <a:lnTo>
                  <a:pt x="0" y="721673"/>
                </a:lnTo>
                <a:lnTo>
                  <a:pt x="192446" y="1587680"/>
                </a:lnTo>
                <a:lnTo>
                  <a:pt x="48112" y="2357464"/>
                </a:lnTo>
                <a:lnTo>
                  <a:pt x="192446" y="3127248"/>
                </a:lnTo>
              </a:path>
            </a:pathLst>
          </a:custGeom>
          <a:noFill/>
          <a:ln w="114300">
            <a:solidFill>
              <a:srgbClr val="4A90C8"/>
            </a:solidFill>
            <a:prstDash val="solid"/>
          </a:ln>
        </p:spPr>
      </p:sp>
      <p:sp>
        <p:nvSpPr>
          <p:cNvPr id="7" name="S04-mark23"/>
          <p:cNvSpPr/>
          <p:nvPr/>
        </p:nvSpPr>
        <p:spPr>
          <a:xfrm>
            <a:off x="1317088" y="3726672"/>
            <a:ext cx="721673" cy="625450"/>
          </a:xfrm>
          <a:custGeom>
            <a:avLst/>
            <a:gdLst/>
            <a:ahLst/>
            <a:cxnLst/>
            <a:rect l="l" t="t" r="r" b="b"/>
            <a:pathLst>
              <a:path w="721673" h="625450">
                <a:moveTo>
                  <a:pt x="0" y="625450"/>
                </a:moveTo>
                <a:lnTo>
                  <a:pt x="721673" y="625450"/>
                </a:lnTo>
                <a:lnTo>
                  <a:pt x="72167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8" name="S04-mark24"/>
          <p:cNvSpPr/>
          <p:nvPr/>
        </p:nvSpPr>
        <p:spPr>
          <a:xfrm>
            <a:off x="2134983" y="3726672"/>
            <a:ext cx="721673" cy="625450"/>
          </a:xfrm>
          <a:custGeom>
            <a:avLst/>
            <a:gdLst/>
            <a:ahLst/>
            <a:cxnLst/>
            <a:rect l="l" t="t" r="r" b="b"/>
            <a:pathLst>
              <a:path w="721673" h="625450">
                <a:moveTo>
                  <a:pt x="0" y="625450"/>
                </a:moveTo>
                <a:lnTo>
                  <a:pt x="721673" y="625450"/>
                </a:lnTo>
                <a:lnTo>
                  <a:pt x="72167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9" name="S04-mark25"/>
          <p:cNvSpPr/>
          <p:nvPr/>
        </p:nvSpPr>
        <p:spPr>
          <a:xfrm>
            <a:off x="3578329" y="3726672"/>
            <a:ext cx="673561" cy="625450"/>
          </a:xfrm>
          <a:custGeom>
            <a:avLst/>
            <a:gdLst/>
            <a:ahLst/>
            <a:cxnLst/>
            <a:rect l="l" t="t" r="r" b="b"/>
            <a:pathLst>
              <a:path w="673561" h="625450">
                <a:moveTo>
                  <a:pt x="0" y="625450"/>
                </a:moveTo>
                <a:lnTo>
                  <a:pt x="673561" y="625450"/>
                </a:lnTo>
                <a:lnTo>
                  <a:pt x="673561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" name="S04-mark26"/>
          <p:cNvSpPr/>
          <p:nvPr/>
        </p:nvSpPr>
        <p:spPr>
          <a:xfrm>
            <a:off x="4348113" y="3726672"/>
            <a:ext cx="769784" cy="625450"/>
          </a:xfrm>
          <a:custGeom>
            <a:avLst/>
            <a:gdLst/>
            <a:ahLst/>
            <a:cxnLst/>
            <a:rect l="l" t="t" r="r" b="b"/>
            <a:pathLst>
              <a:path w="769784" h="625450">
                <a:moveTo>
                  <a:pt x="0" y="625450"/>
                </a:moveTo>
                <a:lnTo>
                  <a:pt x="769784" y="625450"/>
                </a:lnTo>
                <a:lnTo>
                  <a:pt x="769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1" name="S04-mark27"/>
          <p:cNvSpPr/>
          <p:nvPr/>
        </p:nvSpPr>
        <p:spPr>
          <a:xfrm>
            <a:off x="1172753" y="3005000"/>
            <a:ext cx="1900405" cy="9144"/>
          </a:xfrm>
          <a:custGeom>
            <a:avLst/>
            <a:gdLst/>
            <a:ahLst/>
            <a:cxnLst/>
            <a:rect l="l" t="t" r="r" b="b"/>
            <a:pathLst>
              <a:path w="1900405" h="9144">
                <a:moveTo>
                  <a:pt x="0" y="0"/>
                </a:moveTo>
                <a:lnTo>
                  <a:pt x="1900405" y="0"/>
                </a:lnTo>
              </a:path>
            </a:pathLst>
          </a:custGeom>
          <a:noFill/>
          <a:ln w="31750">
            <a:solidFill>
              <a:srgbClr val="9C6B3E"/>
            </a:solidFill>
            <a:prstDash val="dash"/>
          </a:ln>
        </p:spPr>
      </p:sp>
      <p:sp>
        <p:nvSpPr>
          <p:cNvPr id="12" name="S04-mark28"/>
          <p:cNvSpPr/>
          <p:nvPr/>
        </p:nvSpPr>
        <p:spPr>
          <a:xfrm>
            <a:off x="3506161" y="3005000"/>
            <a:ext cx="1804182" cy="9144"/>
          </a:xfrm>
          <a:custGeom>
            <a:avLst/>
            <a:gdLst/>
            <a:ahLst/>
            <a:cxnLst/>
            <a:rect l="l" t="t" r="r" b="b"/>
            <a:pathLst>
              <a:path w="1804182" h="9144">
                <a:moveTo>
                  <a:pt x="0" y="0"/>
                </a:moveTo>
                <a:lnTo>
                  <a:pt x="1804182" y="0"/>
                </a:lnTo>
              </a:path>
            </a:pathLst>
          </a:custGeom>
          <a:noFill/>
          <a:ln w="31750">
            <a:solidFill>
              <a:srgbClr val="9C6B3E"/>
            </a:solidFill>
            <a:prstDash val="dash"/>
          </a:ln>
        </p:spPr>
      </p:sp>
      <p:sp>
        <p:nvSpPr>
          <p:cNvPr id="13" name="S04-mark29"/>
          <p:cNvSpPr/>
          <p:nvPr/>
        </p:nvSpPr>
        <p:spPr>
          <a:xfrm>
            <a:off x="1886728" y="2546978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D9B26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04-mark30"/>
          <p:cNvSpPr/>
          <p:nvPr/>
        </p:nvSpPr>
        <p:spPr>
          <a:xfrm>
            <a:off x="2223508" y="2378588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D9B26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5" name="S04-mark31"/>
          <p:cNvSpPr/>
          <p:nvPr/>
        </p:nvSpPr>
        <p:spPr>
          <a:xfrm>
            <a:off x="2536233" y="2571034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D9B26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6" name="S04-mark32"/>
          <p:cNvSpPr/>
          <p:nvPr/>
        </p:nvSpPr>
        <p:spPr>
          <a:xfrm>
            <a:off x="3121269" y="2956888"/>
            <a:ext cx="336781" cy="120279"/>
          </a:xfrm>
          <a:custGeom>
            <a:avLst/>
            <a:gdLst/>
            <a:ahLst/>
            <a:cxnLst/>
            <a:rect l="l" t="t" r="r" b="b"/>
            <a:pathLst>
              <a:path w="336781" h="120279">
                <a:moveTo>
                  <a:pt x="0" y="0"/>
                </a:moveTo>
                <a:lnTo>
                  <a:pt x="336781" y="0"/>
                </a:lnTo>
                <a:lnTo>
                  <a:pt x="264613" y="120279"/>
                </a:lnTo>
                <a:lnTo>
                  <a:pt x="72167" y="120279"/>
                </a:lnTo>
                <a:close/>
              </a:path>
            </a:pathLst>
          </a:custGeom>
          <a:solidFill>
            <a:srgbClr val="8B5E3C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4-mark33"/>
          <p:cNvSpPr/>
          <p:nvPr/>
        </p:nvSpPr>
        <p:spPr>
          <a:xfrm>
            <a:off x="3698607" y="2547940"/>
            <a:ext cx="433004" cy="216502"/>
          </a:xfrm>
          <a:custGeom>
            <a:avLst/>
            <a:gdLst/>
            <a:ahLst/>
            <a:cxnLst/>
            <a:rect l="l" t="t" r="r" b="b"/>
            <a:pathLst>
              <a:path w="433004" h="216502">
                <a:moveTo>
                  <a:pt x="0" y="216502"/>
                </a:moveTo>
                <a:lnTo>
                  <a:pt x="433004" y="216502"/>
                </a:lnTo>
                <a:lnTo>
                  <a:pt x="4330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8" name="S04-mark34"/>
          <p:cNvSpPr/>
          <p:nvPr/>
        </p:nvSpPr>
        <p:spPr>
          <a:xfrm>
            <a:off x="1384444" y="1688669"/>
            <a:ext cx="346403" cy="300216"/>
          </a:xfrm>
          <a:custGeom>
            <a:avLst/>
            <a:gdLst/>
            <a:ahLst/>
            <a:cxnLst/>
            <a:rect l="l" t="t" r="r" b="b"/>
            <a:pathLst>
              <a:path w="346403" h="300216">
                <a:moveTo>
                  <a:pt x="0" y="300216"/>
                </a:moveTo>
                <a:lnTo>
                  <a:pt x="346403" y="300216"/>
                </a:lnTo>
                <a:lnTo>
                  <a:pt x="173201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9" name="S04-mark35"/>
          <p:cNvSpPr/>
          <p:nvPr/>
        </p:nvSpPr>
        <p:spPr>
          <a:xfrm>
            <a:off x="4893697" y="1876785"/>
            <a:ext cx="63507" cy="211691"/>
          </a:xfrm>
          <a:custGeom>
            <a:avLst/>
            <a:gdLst/>
            <a:ahLst/>
            <a:cxnLst/>
            <a:rect l="l" t="t" r="r" b="b"/>
            <a:pathLst>
              <a:path w="63507" h="211691">
                <a:moveTo>
                  <a:pt x="0" y="211691"/>
                </a:moveTo>
                <a:lnTo>
                  <a:pt x="63507" y="211691"/>
                </a:lnTo>
                <a:lnTo>
                  <a:pt x="6350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20" name="S04-mark36"/>
          <p:cNvSpPr/>
          <p:nvPr/>
        </p:nvSpPr>
        <p:spPr>
          <a:xfrm>
            <a:off x="4750806" y="1612172"/>
            <a:ext cx="349290" cy="349290"/>
          </a:xfrm>
          <a:custGeom>
            <a:avLst/>
            <a:gdLst/>
            <a:ahLst/>
            <a:cxnLst/>
            <a:rect l="l" t="t" r="r" b="b"/>
            <a:pathLst>
              <a:path w="349290" h="349290">
                <a:moveTo>
                  <a:pt x="349290" y="174645"/>
                </a:moveTo>
                <a:lnTo>
                  <a:pt x="340629" y="120760"/>
                </a:lnTo>
                <a:lnTo>
                  <a:pt x="316093" y="72167"/>
                </a:lnTo>
                <a:lnTo>
                  <a:pt x="277122" y="33197"/>
                </a:lnTo>
                <a:lnTo>
                  <a:pt x="228530" y="8660"/>
                </a:lnTo>
                <a:lnTo>
                  <a:pt x="174645" y="0"/>
                </a:lnTo>
                <a:lnTo>
                  <a:pt x="120760" y="8660"/>
                </a:lnTo>
                <a:lnTo>
                  <a:pt x="72167" y="33197"/>
                </a:lnTo>
                <a:lnTo>
                  <a:pt x="33197" y="72167"/>
                </a:lnTo>
                <a:lnTo>
                  <a:pt x="8660" y="120760"/>
                </a:lnTo>
                <a:lnTo>
                  <a:pt x="0" y="174645"/>
                </a:lnTo>
                <a:lnTo>
                  <a:pt x="8660" y="228530"/>
                </a:lnTo>
                <a:lnTo>
                  <a:pt x="33197" y="277122"/>
                </a:lnTo>
                <a:lnTo>
                  <a:pt x="72167" y="316093"/>
                </a:lnTo>
                <a:lnTo>
                  <a:pt x="120760" y="340629"/>
                </a:lnTo>
                <a:lnTo>
                  <a:pt x="174645" y="349290"/>
                </a:lnTo>
                <a:lnTo>
                  <a:pt x="228530" y="340629"/>
                </a:lnTo>
                <a:lnTo>
                  <a:pt x="277122" y="316093"/>
                </a:lnTo>
                <a:lnTo>
                  <a:pt x="316093" y="277122"/>
                </a:lnTo>
                <a:lnTo>
                  <a:pt x="340629" y="22853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4-mark37"/>
          <p:cNvSpPr/>
          <p:nvPr/>
        </p:nvSpPr>
        <p:spPr>
          <a:xfrm>
            <a:off x="1076530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lnTo>
                  <a:pt x="0" y="3127248"/>
                </a:lnTo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4-labelbg39"/>
          <p:cNvSpPr/>
          <p:nvPr/>
        </p:nvSpPr>
        <p:spPr>
          <a:xfrm>
            <a:off x="2981812" y="3213436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04-label40"/>
          <p:cNvSpPr txBox="1"/>
          <p:nvPr/>
        </p:nvSpPr>
        <p:spPr>
          <a:xfrm>
            <a:off x="2936092" y="317533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나루</a:t>
            </a:r>
            <a:endParaRPr lang="ko-KR" sz="2400" dirty="0"/>
          </a:p>
        </p:txBody>
      </p:sp>
      <p:sp>
        <p:nvSpPr>
          <p:cNvPr id="24" name="S04-label42"/>
          <p:cNvSpPr txBox="1"/>
          <p:nvPr/>
        </p:nvSpPr>
        <p:spPr>
          <a:xfrm>
            <a:off x="3561541" y="2068771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장터</a:t>
            </a:r>
            <a:endParaRPr lang="ko-KR" sz="2400" dirty="0"/>
          </a:p>
        </p:txBody>
      </p:sp>
      <p:sp>
        <p:nvSpPr>
          <p:cNvPr id="25" name="S04-labelbg44"/>
          <p:cNvSpPr/>
          <p:nvPr/>
        </p:nvSpPr>
        <p:spPr>
          <a:xfrm>
            <a:off x="1779024" y="3886997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04-label45"/>
          <p:cNvSpPr txBox="1"/>
          <p:nvPr/>
        </p:nvSpPr>
        <p:spPr>
          <a:xfrm>
            <a:off x="1733304" y="3848897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</a:t>
            </a:r>
            <a:endParaRPr lang="ko-KR" sz="2400" dirty="0"/>
          </a:p>
        </p:txBody>
      </p:sp>
      <p:sp>
        <p:nvSpPr>
          <p:cNvPr id="27" name="S04-label47"/>
          <p:cNvSpPr txBox="1"/>
          <p:nvPr/>
        </p:nvSpPr>
        <p:spPr>
          <a:xfrm>
            <a:off x="1353429" y="20206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2400" dirty="0"/>
          </a:p>
        </p:txBody>
      </p:sp>
      <p:sp>
        <p:nvSpPr>
          <p:cNvPr id="28" name="S04-label49"/>
          <p:cNvSpPr txBox="1"/>
          <p:nvPr/>
        </p:nvSpPr>
        <p:spPr>
          <a:xfrm>
            <a:off x="4376811" y="2309329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나무</a:t>
            </a:r>
            <a:endParaRPr lang="ko-KR" sz="2400" dirty="0"/>
          </a:p>
        </p:txBody>
      </p:sp>
      <p:sp>
        <p:nvSpPr>
          <p:cNvPr id="29" name="S04-label50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</a:t>
            </a:r>
            <a:endParaRPr lang="ko-KR" sz="2400" dirty="0"/>
          </a:p>
        </p:txBody>
      </p:sp>
      <p:sp>
        <p:nvSpPr>
          <p:cNvPr id="30" name="S04-figure51" descr="오늘 별빛시 그림지도: 같은 하천에 다리가 놓였고 넓은 도로가 지난다. 초가집 자리에 아파트가, 서쪽 논밭 자리에 학교와 아파트가 들어섰다. 장터 자리에는 시장 건물이 있다. 산과 큰 나무, 동쪽 논밭 일부는 그대로다."/>
          <p:cNvSpPr/>
          <p:nvPr/>
        </p:nvSpPr>
        <p:spPr>
          <a:xfrm>
            <a:off x="6782386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AFAF5"/>
          </a:solidFill>
          <a:ln/>
        </p:spPr>
      </p:sp>
      <p:sp>
        <p:nvSpPr>
          <p:cNvPr id="31" name="S04-mark52"/>
          <p:cNvSpPr/>
          <p:nvPr/>
        </p:nvSpPr>
        <p:spPr>
          <a:xfrm>
            <a:off x="8803069" y="1417320"/>
            <a:ext cx="192446" cy="3127248"/>
          </a:xfrm>
          <a:custGeom>
            <a:avLst/>
            <a:gdLst/>
            <a:ahLst/>
            <a:cxnLst/>
            <a:rect l="l" t="t" r="r" b="b"/>
            <a:pathLst>
              <a:path w="192446" h="3127248">
                <a:moveTo>
                  <a:pt x="144335" y="0"/>
                </a:moveTo>
                <a:lnTo>
                  <a:pt x="0" y="721673"/>
                </a:lnTo>
                <a:lnTo>
                  <a:pt x="192446" y="1587680"/>
                </a:lnTo>
                <a:lnTo>
                  <a:pt x="48112" y="2357464"/>
                </a:lnTo>
                <a:lnTo>
                  <a:pt x="192446" y="3127248"/>
                </a:lnTo>
              </a:path>
            </a:pathLst>
          </a:custGeom>
          <a:noFill/>
          <a:ln w="114300">
            <a:solidFill>
              <a:srgbClr val="4A90C8"/>
            </a:solidFill>
            <a:prstDash val="solid"/>
          </a:ln>
        </p:spPr>
      </p:sp>
      <p:sp>
        <p:nvSpPr>
          <p:cNvPr id="32" name="S04-mark53"/>
          <p:cNvSpPr/>
          <p:nvPr/>
        </p:nvSpPr>
        <p:spPr>
          <a:xfrm>
            <a:off x="10053969" y="3726672"/>
            <a:ext cx="769784" cy="625450"/>
          </a:xfrm>
          <a:custGeom>
            <a:avLst/>
            <a:gdLst/>
            <a:ahLst/>
            <a:cxnLst/>
            <a:rect l="l" t="t" r="r" b="b"/>
            <a:pathLst>
              <a:path w="769784" h="625450">
                <a:moveTo>
                  <a:pt x="0" y="625450"/>
                </a:moveTo>
                <a:lnTo>
                  <a:pt x="769784" y="625450"/>
                </a:lnTo>
                <a:lnTo>
                  <a:pt x="769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3" name="S04-mark54"/>
          <p:cNvSpPr/>
          <p:nvPr/>
        </p:nvSpPr>
        <p:spPr>
          <a:xfrm>
            <a:off x="6878609" y="3005000"/>
            <a:ext cx="4137590" cy="9144"/>
          </a:xfrm>
          <a:custGeom>
            <a:avLst/>
            <a:gdLst/>
            <a:ahLst/>
            <a:cxnLst/>
            <a:rect l="l" t="t" r="r" b="b"/>
            <a:pathLst>
              <a:path w="4137590" h="9144">
                <a:moveTo>
                  <a:pt x="0" y="0"/>
                </a:moveTo>
                <a:lnTo>
                  <a:pt x="4137590" y="0"/>
                </a:lnTo>
              </a:path>
            </a:pathLst>
          </a:custGeom>
          <a:noFill/>
          <a:ln w="139700">
            <a:solidFill>
              <a:srgbClr val="A3AAB4"/>
            </a:solidFill>
            <a:prstDash val="solid"/>
          </a:ln>
        </p:spPr>
      </p:sp>
      <p:sp>
        <p:nvSpPr>
          <p:cNvPr id="34" name="S04-mark55"/>
          <p:cNvSpPr/>
          <p:nvPr/>
        </p:nvSpPr>
        <p:spPr>
          <a:xfrm>
            <a:off x="7516087" y="2187104"/>
            <a:ext cx="216502" cy="625450"/>
          </a:xfrm>
          <a:custGeom>
            <a:avLst/>
            <a:gdLst/>
            <a:ahLst/>
            <a:cxnLst/>
            <a:rect l="l" t="t" r="r" b="b"/>
            <a:pathLst>
              <a:path w="216502" h="625450">
                <a:moveTo>
                  <a:pt x="0" y="625450"/>
                </a:moveTo>
                <a:lnTo>
                  <a:pt x="216502" y="625450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5" name="S04-mark56"/>
          <p:cNvSpPr/>
          <p:nvPr/>
        </p:nvSpPr>
        <p:spPr>
          <a:xfrm>
            <a:off x="7804756" y="2042770"/>
            <a:ext cx="216502" cy="769784"/>
          </a:xfrm>
          <a:custGeom>
            <a:avLst/>
            <a:gdLst/>
            <a:ahLst/>
            <a:cxnLst/>
            <a:rect l="l" t="t" r="r" b="b"/>
            <a:pathLst>
              <a:path w="216502" h="769784">
                <a:moveTo>
                  <a:pt x="0" y="769784"/>
                </a:moveTo>
                <a:lnTo>
                  <a:pt x="216502" y="769784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6" name="S04-mark57"/>
          <p:cNvSpPr/>
          <p:nvPr/>
        </p:nvSpPr>
        <p:spPr>
          <a:xfrm>
            <a:off x="8093425" y="2187104"/>
            <a:ext cx="216502" cy="625450"/>
          </a:xfrm>
          <a:custGeom>
            <a:avLst/>
            <a:gdLst/>
            <a:ahLst/>
            <a:cxnLst/>
            <a:rect l="l" t="t" r="r" b="b"/>
            <a:pathLst>
              <a:path w="216502" h="625450">
                <a:moveTo>
                  <a:pt x="0" y="625450"/>
                </a:moveTo>
                <a:lnTo>
                  <a:pt x="216502" y="625450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7" name="S04-mark58"/>
          <p:cNvSpPr/>
          <p:nvPr/>
        </p:nvSpPr>
        <p:spPr>
          <a:xfrm>
            <a:off x="8370066" y="2331439"/>
            <a:ext cx="192446" cy="481115"/>
          </a:xfrm>
          <a:custGeom>
            <a:avLst/>
            <a:gdLst/>
            <a:ahLst/>
            <a:cxnLst/>
            <a:rect l="l" t="t" r="r" b="b"/>
            <a:pathLst>
              <a:path w="192446" h="481115">
                <a:moveTo>
                  <a:pt x="0" y="481115"/>
                </a:moveTo>
                <a:lnTo>
                  <a:pt x="192446" y="481115"/>
                </a:lnTo>
                <a:lnTo>
                  <a:pt x="192446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8" name="S04-mark59"/>
          <p:cNvSpPr/>
          <p:nvPr/>
        </p:nvSpPr>
        <p:spPr>
          <a:xfrm>
            <a:off x="7925034" y="3678561"/>
            <a:ext cx="216502" cy="625450"/>
          </a:xfrm>
          <a:custGeom>
            <a:avLst/>
            <a:gdLst/>
            <a:ahLst/>
            <a:cxnLst/>
            <a:rect l="l" t="t" r="r" b="b"/>
            <a:pathLst>
              <a:path w="216502" h="625450">
                <a:moveTo>
                  <a:pt x="0" y="625450"/>
                </a:moveTo>
                <a:lnTo>
                  <a:pt x="216502" y="625450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9" name="S04-mark60"/>
          <p:cNvSpPr/>
          <p:nvPr/>
        </p:nvSpPr>
        <p:spPr>
          <a:xfrm>
            <a:off x="8213704" y="3582338"/>
            <a:ext cx="216502" cy="721673"/>
          </a:xfrm>
          <a:custGeom>
            <a:avLst/>
            <a:gdLst/>
            <a:ahLst/>
            <a:cxnLst/>
            <a:rect l="l" t="t" r="r" b="b"/>
            <a:pathLst>
              <a:path w="216502" h="721673">
                <a:moveTo>
                  <a:pt x="0" y="721673"/>
                </a:moveTo>
                <a:lnTo>
                  <a:pt x="216502" y="721673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0" name="S04-mark61"/>
          <p:cNvSpPr/>
          <p:nvPr/>
        </p:nvSpPr>
        <p:spPr>
          <a:xfrm>
            <a:off x="7215390" y="3846951"/>
            <a:ext cx="346403" cy="240558"/>
          </a:xfrm>
          <a:custGeom>
            <a:avLst/>
            <a:gdLst/>
            <a:ahLst/>
            <a:cxnLst/>
            <a:rect l="l" t="t" r="r" b="b"/>
            <a:pathLst>
              <a:path w="346403" h="240558">
                <a:moveTo>
                  <a:pt x="0" y="0"/>
                </a:moveTo>
                <a:lnTo>
                  <a:pt x="346403" y="120279"/>
                </a:lnTo>
                <a:lnTo>
                  <a:pt x="0" y="240558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1" name="S04-mark62"/>
          <p:cNvSpPr/>
          <p:nvPr/>
        </p:nvSpPr>
        <p:spPr>
          <a:xfrm>
            <a:off x="7186523" y="3846951"/>
            <a:ext cx="57734" cy="433004"/>
          </a:xfrm>
          <a:custGeom>
            <a:avLst/>
            <a:gdLst/>
            <a:ahLst/>
            <a:cxnLst/>
            <a:rect l="l" t="t" r="r" b="b"/>
            <a:pathLst>
              <a:path w="57734" h="433004">
                <a:moveTo>
                  <a:pt x="0" y="433004"/>
                </a:moveTo>
                <a:lnTo>
                  <a:pt x="57734" y="433004"/>
                </a:lnTo>
                <a:lnTo>
                  <a:pt x="57734" y="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2" name="S04-mark63"/>
          <p:cNvSpPr/>
          <p:nvPr/>
        </p:nvSpPr>
        <p:spPr>
          <a:xfrm>
            <a:off x="9324598" y="3942212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3" name="S04-mark64"/>
          <p:cNvSpPr/>
          <p:nvPr/>
        </p:nvSpPr>
        <p:spPr>
          <a:xfrm>
            <a:off x="9661379" y="3894100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4" name="S04-mark65"/>
          <p:cNvSpPr/>
          <p:nvPr/>
        </p:nvSpPr>
        <p:spPr>
          <a:xfrm>
            <a:off x="9380408" y="2475773"/>
            <a:ext cx="481115" cy="312725"/>
          </a:xfrm>
          <a:custGeom>
            <a:avLst/>
            <a:gdLst/>
            <a:ahLst/>
            <a:cxnLst/>
            <a:rect l="l" t="t" r="r" b="b"/>
            <a:pathLst>
              <a:path w="481115" h="312725">
                <a:moveTo>
                  <a:pt x="0" y="312725"/>
                </a:moveTo>
                <a:lnTo>
                  <a:pt x="481115" y="312725"/>
                </a:lnTo>
                <a:lnTo>
                  <a:pt x="481115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5" name="S04-mark66"/>
          <p:cNvSpPr/>
          <p:nvPr/>
        </p:nvSpPr>
        <p:spPr>
          <a:xfrm>
            <a:off x="7090300" y="1688669"/>
            <a:ext cx="346403" cy="300216"/>
          </a:xfrm>
          <a:custGeom>
            <a:avLst/>
            <a:gdLst/>
            <a:ahLst/>
            <a:cxnLst/>
            <a:rect l="l" t="t" r="r" b="b"/>
            <a:pathLst>
              <a:path w="346403" h="300216">
                <a:moveTo>
                  <a:pt x="0" y="300216"/>
                </a:moveTo>
                <a:lnTo>
                  <a:pt x="346403" y="300216"/>
                </a:lnTo>
                <a:lnTo>
                  <a:pt x="173201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6" name="S04-mark67"/>
          <p:cNvSpPr/>
          <p:nvPr/>
        </p:nvSpPr>
        <p:spPr>
          <a:xfrm>
            <a:off x="10599553" y="1876785"/>
            <a:ext cx="63507" cy="211691"/>
          </a:xfrm>
          <a:custGeom>
            <a:avLst/>
            <a:gdLst/>
            <a:ahLst/>
            <a:cxnLst/>
            <a:rect l="l" t="t" r="r" b="b"/>
            <a:pathLst>
              <a:path w="63507" h="211691">
                <a:moveTo>
                  <a:pt x="0" y="211691"/>
                </a:moveTo>
                <a:lnTo>
                  <a:pt x="63507" y="211691"/>
                </a:lnTo>
                <a:lnTo>
                  <a:pt x="6350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47" name="S04-mark68"/>
          <p:cNvSpPr/>
          <p:nvPr/>
        </p:nvSpPr>
        <p:spPr>
          <a:xfrm>
            <a:off x="10456662" y="1612172"/>
            <a:ext cx="349290" cy="349290"/>
          </a:xfrm>
          <a:custGeom>
            <a:avLst/>
            <a:gdLst/>
            <a:ahLst/>
            <a:cxnLst/>
            <a:rect l="l" t="t" r="r" b="b"/>
            <a:pathLst>
              <a:path w="349290" h="349290">
                <a:moveTo>
                  <a:pt x="349290" y="174645"/>
                </a:moveTo>
                <a:lnTo>
                  <a:pt x="340629" y="120760"/>
                </a:lnTo>
                <a:lnTo>
                  <a:pt x="316093" y="72167"/>
                </a:lnTo>
                <a:lnTo>
                  <a:pt x="277122" y="33197"/>
                </a:lnTo>
                <a:lnTo>
                  <a:pt x="228530" y="8660"/>
                </a:lnTo>
                <a:lnTo>
                  <a:pt x="174645" y="0"/>
                </a:lnTo>
                <a:lnTo>
                  <a:pt x="120760" y="8660"/>
                </a:lnTo>
                <a:lnTo>
                  <a:pt x="72167" y="33197"/>
                </a:lnTo>
                <a:lnTo>
                  <a:pt x="33197" y="72167"/>
                </a:lnTo>
                <a:lnTo>
                  <a:pt x="8660" y="120760"/>
                </a:lnTo>
                <a:lnTo>
                  <a:pt x="0" y="174645"/>
                </a:lnTo>
                <a:lnTo>
                  <a:pt x="8660" y="228530"/>
                </a:lnTo>
                <a:lnTo>
                  <a:pt x="33197" y="277122"/>
                </a:lnTo>
                <a:lnTo>
                  <a:pt x="72167" y="316093"/>
                </a:lnTo>
                <a:lnTo>
                  <a:pt x="120760" y="340629"/>
                </a:lnTo>
                <a:lnTo>
                  <a:pt x="174645" y="349290"/>
                </a:lnTo>
                <a:lnTo>
                  <a:pt x="228530" y="340629"/>
                </a:lnTo>
                <a:lnTo>
                  <a:pt x="277122" y="316093"/>
                </a:lnTo>
                <a:lnTo>
                  <a:pt x="316093" y="277122"/>
                </a:lnTo>
                <a:lnTo>
                  <a:pt x="340629" y="22853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8" name="S04-mark69"/>
          <p:cNvSpPr/>
          <p:nvPr/>
        </p:nvSpPr>
        <p:spPr>
          <a:xfrm>
            <a:off x="6782386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lnTo>
                  <a:pt x="0" y="3127248"/>
                </a:lnTo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9" name="S04-mark70"/>
          <p:cNvSpPr/>
          <p:nvPr/>
        </p:nvSpPr>
        <p:spPr>
          <a:xfrm>
            <a:off x="8779014" y="2860665"/>
            <a:ext cx="4330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04-mark71"/>
          <p:cNvSpPr/>
          <p:nvPr/>
        </p:nvSpPr>
        <p:spPr>
          <a:xfrm>
            <a:off x="8779014" y="3149334"/>
            <a:ext cx="4330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4-labelbg73"/>
          <p:cNvSpPr/>
          <p:nvPr/>
        </p:nvSpPr>
        <p:spPr>
          <a:xfrm>
            <a:off x="10131013" y="3886997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04-label74"/>
          <p:cNvSpPr txBox="1"/>
          <p:nvPr/>
        </p:nvSpPr>
        <p:spPr>
          <a:xfrm>
            <a:off x="10085293" y="3848897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</a:t>
            </a:r>
            <a:endParaRPr lang="ko-KR" sz="2400" dirty="0"/>
          </a:p>
        </p:txBody>
      </p:sp>
      <p:sp>
        <p:nvSpPr>
          <p:cNvPr id="53" name="S04-labelbg76"/>
          <p:cNvSpPr/>
          <p:nvPr/>
        </p:nvSpPr>
        <p:spPr>
          <a:xfrm>
            <a:off x="8687668" y="3213436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04-label77"/>
          <p:cNvSpPr txBox="1"/>
          <p:nvPr/>
        </p:nvSpPr>
        <p:spPr>
          <a:xfrm>
            <a:off x="8641948" y="317533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</a:t>
            </a:r>
            <a:endParaRPr lang="ko-KR" sz="2400" dirty="0"/>
          </a:p>
        </p:txBody>
      </p:sp>
      <p:sp>
        <p:nvSpPr>
          <p:cNvPr id="55" name="S04-labelbg79"/>
          <p:cNvSpPr/>
          <p:nvPr/>
        </p:nvSpPr>
        <p:spPr>
          <a:xfrm>
            <a:off x="7051876" y="3453994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04-label80"/>
          <p:cNvSpPr txBox="1"/>
          <p:nvPr/>
        </p:nvSpPr>
        <p:spPr>
          <a:xfrm>
            <a:off x="7006156" y="341589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</a:t>
            </a:r>
            <a:endParaRPr lang="ko-KR" sz="2400" dirty="0"/>
          </a:p>
        </p:txBody>
      </p:sp>
      <p:sp>
        <p:nvSpPr>
          <p:cNvPr id="57" name="S04-label82"/>
          <p:cNvSpPr txBox="1"/>
          <p:nvPr/>
        </p:nvSpPr>
        <p:spPr>
          <a:xfrm>
            <a:off x="9267397" y="2068771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</a:t>
            </a:r>
            <a:endParaRPr lang="ko-KR" sz="2400" dirty="0"/>
          </a:p>
        </p:txBody>
      </p:sp>
      <p:sp>
        <p:nvSpPr>
          <p:cNvPr id="58" name="S04-label84"/>
          <p:cNvSpPr txBox="1"/>
          <p:nvPr/>
        </p:nvSpPr>
        <p:spPr>
          <a:xfrm>
            <a:off x="7059285" y="20206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2400" dirty="0"/>
          </a:p>
        </p:txBody>
      </p:sp>
      <p:sp>
        <p:nvSpPr>
          <p:cNvPr id="59" name="S04-label86"/>
          <p:cNvSpPr txBox="1"/>
          <p:nvPr/>
        </p:nvSpPr>
        <p:spPr>
          <a:xfrm>
            <a:off x="10082667" y="2309329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나무</a:t>
            </a:r>
            <a:endParaRPr lang="ko-KR" sz="2400" dirty="0"/>
          </a:p>
        </p:txBody>
      </p:sp>
      <p:sp>
        <p:nvSpPr>
          <p:cNvPr id="60" name="S04-label87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바뀌었을까요?</a:t>
            </a:r>
            <a:endParaRPr lang="ko-KR" sz="4000" dirty="0"/>
          </a:p>
        </p:txBody>
      </p:sp>
      <p:sp>
        <p:nvSpPr>
          <p:cNvPr id="3" name="S05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바뀐 것 두 가지  ② 그대로인 것 두 가지를 찾아요.</a:t>
            </a:r>
            <a:endParaRPr lang="ko-KR" sz="3000" dirty="0"/>
          </a:p>
        </p:txBody>
      </p:sp>
      <p:sp>
        <p:nvSpPr>
          <p:cNvPr id="5" name="S05-figure90" descr="옛날(할머니가 어렸을 때) 별빛마을 그림지도: 가운데로 하천이 흐르고, 나루에서 배로 하천을 건넌다. 서쪽에 초가집 몇 채와 좁은 길, 남쪽에 논밭, 나루 동쪽에 장터, 북서쪽에 산, 북동쪽에 큰 나무가 있다."/>
          <p:cNvSpPr/>
          <p:nvPr/>
        </p:nvSpPr>
        <p:spPr>
          <a:xfrm>
            <a:off x="1076530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AFAF5"/>
          </a:solidFill>
          <a:ln/>
        </p:spPr>
      </p:sp>
      <p:sp>
        <p:nvSpPr>
          <p:cNvPr id="6" name="S05-mark91"/>
          <p:cNvSpPr/>
          <p:nvPr/>
        </p:nvSpPr>
        <p:spPr>
          <a:xfrm>
            <a:off x="3097213" y="1417320"/>
            <a:ext cx="192446" cy="3127248"/>
          </a:xfrm>
          <a:custGeom>
            <a:avLst/>
            <a:gdLst/>
            <a:ahLst/>
            <a:cxnLst/>
            <a:rect l="l" t="t" r="r" b="b"/>
            <a:pathLst>
              <a:path w="192446" h="3127248">
                <a:moveTo>
                  <a:pt x="144335" y="0"/>
                </a:moveTo>
                <a:lnTo>
                  <a:pt x="0" y="721673"/>
                </a:lnTo>
                <a:lnTo>
                  <a:pt x="192446" y="1587680"/>
                </a:lnTo>
                <a:lnTo>
                  <a:pt x="48112" y="2357464"/>
                </a:lnTo>
                <a:lnTo>
                  <a:pt x="192446" y="3127248"/>
                </a:lnTo>
              </a:path>
            </a:pathLst>
          </a:custGeom>
          <a:noFill/>
          <a:ln w="114300">
            <a:solidFill>
              <a:srgbClr val="4A90C8"/>
            </a:solidFill>
            <a:prstDash val="solid"/>
          </a:ln>
        </p:spPr>
      </p:sp>
      <p:sp>
        <p:nvSpPr>
          <p:cNvPr id="7" name="S05-mark92"/>
          <p:cNvSpPr/>
          <p:nvPr/>
        </p:nvSpPr>
        <p:spPr>
          <a:xfrm>
            <a:off x="1317088" y="3726672"/>
            <a:ext cx="721673" cy="625450"/>
          </a:xfrm>
          <a:custGeom>
            <a:avLst/>
            <a:gdLst/>
            <a:ahLst/>
            <a:cxnLst/>
            <a:rect l="l" t="t" r="r" b="b"/>
            <a:pathLst>
              <a:path w="721673" h="625450">
                <a:moveTo>
                  <a:pt x="0" y="625450"/>
                </a:moveTo>
                <a:lnTo>
                  <a:pt x="721673" y="625450"/>
                </a:lnTo>
                <a:lnTo>
                  <a:pt x="72167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8" name="S05-mark93"/>
          <p:cNvSpPr/>
          <p:nvPr/>
        </p:nvSpPr>
        <p:spPr>
          <a:xfrm>
            <a:off x="2134983" y="3726672"/>
            <a:ext cx="721673" cy="625450"/>
          </a:xfrm>
          <a:custGeom>
            <a:avLst/>
            <a:gdLst/>
            <a:ahLst/>
            <a:cxnLst/>
            <a:rect l="l" t="t" r="r" b="b"/>
            <a:pathLst>
              <a:path w="721673" h="625450">
                <a:moveTo>
                  <a:pt x="0" y="625450"/>
                </a:moveTo>
                <a:lnTo>
                  <a:pt x="721673" y="625450"/>
                </a:lnTo>
                <a:lnTo>
                  <a:pt x="72167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9" name="S05-mark94"/>
          <p:cNvSpPr/>
          <p:nvPr/>
        </p:nvSpPr>
        <p:spPr>
          <a:xfrm>
            <a:off x="3578329" y="3726672"/>
            <a:ext cx="673561" cy="625450"/>
          </a:xfrm>
          <a:custGeom>
            <a:avLst/>
            <a:gdLst/>
            <a:ahLst/>
            <a:cxnLst/>
            <a:rect l="l" t="t" r="r" b="b"/>
            <a:pathLst>
              <a:path w="673561" h="625450">
                <a:moveTo>
                  <a:pt x="0" y="625450"/>
                </a:moveTo>
                <a:lnTo>
                  <a:pt x="673561" y="625450"/>
                </a:lnTo>
                <a:lnTo>
                  <a:pt x="673561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" name="S05-mark95"/>
          <p:cNvSpPr/>
          <p:nvPr/>
        </p:nvSpPr>
        <p:spPr>
          <a:xfrm>
            <a:off x="4348113" y="3726672"/>
            <a:ext cx="769784" cy="625450"/>
          </a:xfrm>
          <a:custGeom>
            <a:avLst/>
            <a:gdLst/>
            <a:ahLst/>
            <a:cxnLst/>
            <a:rect l="l" t="t" r="r" b="b"/>
            <a:pathLst>
              <a:path w="769784" h="625450">
                <a:moveTo>
                  <a:pt x="0" y="625450"/>
                </a:moveTo>
                <a:lnTo>
                  <a:pt x="769784" y="625450"/>
                </a:lnTo>
                <a:lnTo>
                  <a:pt x="769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1" name="S05-mark96"/>
          <p:cNvSpPr/>
          <p:nvPr/>
        </p:nvSpPr>
        <p:spPr>
          <a:xfrm>
            <a:off x="1172753" y="3005000"/>
            <a:ext cx="1900405" cy="9144"/>
          </a:xfrm>
          <a:custGeom>
            <a:avLst/>
            <a:gdLst/>
            <a:ahLst/>
            <a:cxnLst/>
            <a:rect l="l" t="t" r="r" b="b"/>
            <a:pathLst>
              <a:path w="1900405" h="9144">
                <a:moveTo>
                  <a:pt x="0" y="0"/>
                </a:moveTo>
                <a:lnTo>
                  <a:pt x="1900405" y="0"/>
                </a:lnTo>
              </a:path>
            </a:pathLst>
          </a:custGeom>
          <a:noFill/>
          <a:ln w="31750">
            <a:solidFill>
              <a:srgbClr val="9C6B3E"/>
            </a:solidFill>
            <a:prstDash val="dash"/>
          </a:ln>
        </p:spPr>
      </p:sp>
      <p:sp>
        <p:nvSpPr>
          <p:cNvPr id="12" name="S05-mark97"/>
          <p:cNvSpPr/>
          <p:nvPr/>
        </p:nvSpPr>
        <p:spPr>
          <a:xfrm>
            <a:off x="3506161" y="3005000"/>
            <a:ext cx="1804182" cy="9144"/>
          </a:xfrm>
          <a:custGeom>
            <a:avLst/>
            <a:gdLst/>
            <a:ahLst/>
            <a:cxnLst/>
            <a:rect l="l" t="t" r="r" b="b"/>
            <a:pathLst>
              <a:path w="1804182" h="9144">
                <a:moveTo>
                  <a:pt x="0" y="0"/>
                </a:moveTo>
                <a:lnTo>
                  <a:pt x="1804182" y="0"/>
                </a:lnTo>
              </a:path>
            </a:pathLst>
          </a:custGeom>
          <a:noFill/>
          <a:ln w="31750">
            <a:solidFill>
              <a:srgbClr val="9C6B3E"/>
            </a:solidFill>
            <a:prstDash val="dash"/>
          </a:ln>
        </p:spPr>
      </p:sp>
      <p:sp>
        <p:nvSpPr>
          <p:cNvPr id="13" name="S05-mark98"/>
          <p:cNvSpPr/>
          <p:nvPr/>
        </p:nvSpPr>
        <p:spPr>
          <a:xfrm>
            <a:off x="1886728" y="2546978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D9B26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05-mark99"/>
          <p:cNvSpPr/>
          <p:nvPr/>
        </p:nvSpPr>
        <p:spPr>
          <a:xfrm>
            <a:off x="2223508" y="2378588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D9B26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5" name="S05-mark100"/>
          <p:cNvSpPr/>
          <p:nvPr/>
        </p:nvSpPr>
        <p:spPr>
          <a:xfrm>
            <a:off x="2536233" y="2571034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D9B26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6" name="S05-mark101"/>
          <p:cNvSpPr/>
          <p:nvPr/>
        </p:nvSpPr>
        <p:spPr>
          <a:xfrm>
            <a:off x="3121269" y="2956888"/>
            <a:ext cx="336781" cy="120279"/>
          </a:xfrm>
          <a:custGeom>
            <a:avLst/>
            <a:gdLst/>
            <a:ahLst/>
            <a:cxnLst/>
            <a:rect l="l" t="t" r="r" b="b"/>
            <a:pathLst>
              <a:path w="336781" h="120279">
                <a:moveTo>
                  <a:pt x="0" y="0"/>
                </a:moveTo>
                <a:lnTo>
                  <a:pt x="336781" y="0"/>
                </a:lnTo>
                <a:lnTo>
                  <a:pt x="264613" y="120279"/>
                </a:lnTo>
                <a:lnTo>
                  <a:pt x="72167" y="120279"/>
                </a:lnTo>
                <a:close/>
              </a:path>
            </a:pathLst>
          </a:custGeom>
          <a:solidFill>
            <a:srgbClr val="8B5E3C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mark102"/>
          <p:cNvSpPr/>
          <p:nvPr/>
        </p:nvSpPr>
        <p:spPr>
          <a:xfrm>
            <a:off x="3698607" y="2547940"/>
            <a:ext cx="433004" cy="216502"/>
          </a:xfrm>
          <a:custGeom>
            <a:avLst/>
            <a:gdLst/>
            <a:ahLst/>
            <a:cxnLst/>
            <a:rect l="l" t="t" r="r" b="b"/>
            <a:pathLst>
              <a:path w="433004" h="216502">
                <a:moveTo>
                  <a:pt x="0" y="216502"/>
                </a:moveTo>
                <a:lnTo>
                  <a:pt x="433004" y="216502"/>
                </a:lnTo>
                <a:lnTo>
                  <a:pt x="4330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8" name="S05-mark103"/>
          <p:cNvSpPr/>
          <p:nvPr/>
        </p:nvSpPr>
        <p:spPr>
          <a:xfrm>
            <a:off x="1384444" y="1688669"/>
            <a:ext cx="346403" cy="300216"/>
          </a:xfrm>
          <a:custGeom>
            <a:avLst/>
            <a:gdLst/>
            <a:ahLst/>
            <a:cxnLst/>
            <a:rect l="l" t="t" r="r" b="b"/>
            <a:pathLst>
              <a:path w="346403" h="300216">
                <a:moveTo>
                  <a:pt x="0" y="300216"/>
                </a:moveTo>
                <a:lnTo>
                  <a:pt x="346403" y="300216"/>
                </a:lnTo>
                <a:lnTo>
                  <a:pt x="173201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9" name="S05-mark104"/>
          <p:cNvSpPr/>
          <p:nvPr/>
        </p:nvSpPr>
        <p:spPr>
          <a:xfrm>
            <a:off x="4893697" y="1876785"/>
            <a:ext cx="63507" cy="211691"/>
          </a:xfrm>
          <a:custGeom>
            <a:avLst/>
            <a:gdLst/>
            <a:ahLst/>
            <a:cxnLst/>
            <a:rect l="l" t="t" r="r" b="b"/>
            <a:pathLst>
              <a:path w="63507" h="211691">
                <a:moveTo>
                  <a:pt x="0" y="211691"/>
                </a:moveTo>
                <a:lnTo>
                  <a:pt x="63507" y="211691"/>
                </a:lnTo>
                <a:lnTo>
                  <a:pt x="6350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20" name="S05-mark105"/>
          <p:cNvSpPr/>
          <p:nvPr/>
        </p:nvSpPr>
        <p:spPr>
          <a:xfrm>
            <a:off x="4750806" y="1612172"/>
            <a:ext cx="349290" cy="349290"/>
          </a:xfrm>
          <a:custGeom>
            <a:avLst/>
            <a:gdLst/>
            <a:ahLst/>
            <a:cxnLst/>
            <a:rect l="l" t="t" r="r" b="b"/>
            <a:pathLst>
              <a:path w="349290" h="349290">
                <a:moveTo>
                  <a:pt x="349290" y="174645"/>
                </a:moveTo>
                <a:lnTo>
                  <a:pt x="340629" y="120760"/>
                </a:lnTo>
                <a:lnTo>
                  <a:pt x="316093" y="72167"/>
                </a:lnTo>
                <a:lnTo>
                  <a:pt x="277122" y="33197"/>
                </a:lnTo>
                <a:lnTo>
                  <a:pt x="228530" y="8660"/>
                </a:lnTo>
                <a:lnTo>
                  <a:pt x="174645" y="0"/>
                </a:lnTo>
                <a:lnTo>
                  <a:pt x="120760" y="8660"/>
                </a:lnTo>
                <a:lnTo>
                  <a:pt x="72167" y="33197"/>
                </a:lnTo>
                <a:lnTo>
                  <a:pt x="33197" y="72167"/>
                </a:lnTo>
                <a:lnTo>
                  <a:pt x="8660" y="120760"/>
                </a:lnTo>
                <a:lnTo>
                  <a:pt x="0" y="174645"/>
                </a:lnTo>
                <a:lnTo>
                  <a:pt x="8660" y="228530"/>
                </a:lnTo>
                <a:lnTo>
                  <a:pt x="33197" y="277122"/>
                </a:lnTo>
                <a:lnTo>
                  <a:pt x="72167" y="316093"/>
                </a:lnTo>
                <a:lnTo>
                  <a:pt x="120760" y="340629"/>
                </a:lnTo>
                <a:lnTo>
                  <a:pt x="174645" y="349290"/>
                </a:lnTo>
                <a:lnTo>
                  <a:pt x="228530" y="340629"/>
                </a:lnTo>
                <a:lnTo>
                  <a:pt x="277122" y="316093"/>
                </a:lnTo>
                <a:lnTo>
                  <a:pt x="316093" y="277122"/>
                </a:lnTo>
                <a:lnTo>
                  <a:pt x="340629" y="22853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5-mark106"/>
          <p:cNvSpPr/>
          <p:nvPr/>
        </p:nvSpPr>
        <p:spPr>
          <a:xfrm>
            <a:off x="1076530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lnTo>
                  <a:pt x="0" y="3127248"/>
                </a:lnTo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5-labelbg108"/>
          <p:cNvSpPr/>
          <p:nvPr/>
        </p:nvSpPr>
        <p:spPr>
          <a:xfrm>
            <a:off x="2981812" y="3213436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05-label109"/>
          <p:cNvSpPr txBox="1"/>
          <p:nvPr/>
        </p:nvSpPr>
        <p:spPr>
          <a:xfrm>
            <a:off x="2936092" y="317533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나루</a:t>
            </a:r>
            <a:endParaRPr lang="ko-KR" sz="2400" dirty="0"/>
          </a:p>
        </p:txBody>
      </p:sp>
      <p:sp>
        <p:nvSpPr>
          <p:cNvPr id="24" name="S05-label111"/>
          <p:cNvSpPr txBox="1"/>
          <p:nvPr/>
        </p:nvSpPr>
        <p:spPr>
          <a:xfrm>
            <a:off x="3561541" y="2068771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장터</a:t>
            </a:r>
            <a:endParaRPr lang="ko-KR" sz="2400" dirty="0"/>
          </a:p>
        </p:txBody>
      </p:sp>
      <p:sp>
        <p:nvSpPr>
          <p:cNvPr id="25" name="S05-labelbg113"/>
          <p:cNvSpPr/>
          <p:nvPr/>
        </p:nvSpPr>
        <p:spPr>
          <a:xfrm>
            <a:off x="1779024" y="3886997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05-label114"/>
          <p:cNvSpPr txBox="1"/>
          <p:nvPr/>
        </p:nvSpPr>
        <p:spPr>
          <a:xfrm>
            <a:off x="1733304" y="3848897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</a:t>
            </a:r>
            <a:endParaRPr lang="ko-KR" sz="2400" dirty="0"/>
          </a:p>
        </p:txBody>
      </p:sp>
      <p:sp>
        <p:nvSpPr>
          <p:cNvPr id="27" name="S05-label116"/>
          <p:cNvSpPr txBox="1"/>
          <p:nvPr/>
        </p:nvSpPr>
        <p:spPr>
          <a:xfrm>
            <a:off x="1353429" y="20206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2400" dirty="0"/>
          </a:p>
        </p:txBody>
      </p:sp>
      <p:sp>
        <p:nvSpPr>
          <p:cNvPr id="28" name="S05-label118"/>
          <p:cNvSpPr txBox="1"/>
          <p:nvPr/>
        </p:nvSpPr>
        <p:spPr>
          <a:xfrm>
            <a:off x="4376811" y="2309329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나무</a:t>
            </a:r>
            <a:endParaRPr lang="ko-KR" sz="2400" dirty="0"/>
          </a:p>
        </p:txBody>
      </p:sp>
      <p:sp>
        <p:nvSpPr>
          <p:cNvPr id="29" name="S05-label119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</a:t>
            </a:r>
            <a:endParaRPr lang="ko-KR" sz="2400" dirty="0"/>
          </a:p>
        </p:txBody>
      </p:sp>
      <p:sp>
        <p:nvSpPr>
          <p:cNvPr id="30" name="S05-figure120" descr="오늘 별빛시 그림지도: 같은 하천에 다리가 놓였고 넓은 도로가 지난다. 초가집 자리에 아파트가, 서쪽 논밭 자리에 학교와 아파트가 들어섰다. 장터 자리에는 시장 건물이 있다. 산과 큰 나무, 동쪽 논밭 일부는 그대로다."/>
          <p:cNvSpPr/>
          <p:nvPr/>
        </p:nvSpPr>
        <p:spPr>
          <a:xfrm>
            <a:off x="6782386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AFAF5"/>
          </a:solidFill>
          <a:ln/>
        </p:spPr>
      </p:sp>
      <p:sp>
        <p:nvSpPr>
          <p:cNvPr id="31" name="S05-mark121"/>
          <p:cNvSpPr/>
          <p:nvPr/>
        </p:nvSpPr>
        <p:spPr>
          <a:xfrm>
            <a:off x="8803069" y="1417320"/>
            <a:ext cx="192446" cy="3127248"/>
          </a:xfrm>
          <a:custGeom>
            <a:avLst/>
            <a:gdLst/>
            <a:ahLst/>
            <a:cxnLst/>
            <a:rect l="l" t="t" r="r" b="b"/>
            <a:pathLst>
              <a:path w="192446" h="3127248">
                <a:moveTo>
                  <a:pt x="144335" y="0"/>
                </a:moveTo>
                <a:lnTo>
                  <a:pt x="0" y="721673"/>
                </a:lnTo>
                <a:lnTo>
                  <a:pt x="192446" y="1587680"/>
                </a:lnTo>
                <a:lnTo>
                  <a:pt x="48112" y="2357464"/>
                </a:lnTo>
                <a:lnTo>
                  <a:pt x="192446" y="3127248"/>
                </a:lnTo>
              </a:path>
            </a:pathLst>
          </a:custGeom>
          <a:noFill/>
          <a:ln w="114300">
            <a:solidFill>
              <a:srgbClr val="4A90C8"/>
            </a:solidFill>
            <a:prstDash val="solid"/>
          </a:ln>
        </p:spPr>
      </p:sp>
      <p:sp>
        <p:nvSpPr>
          <p:cNvPr id="32" name="S05-mark122"/>
          <p:cNvSpPr/>
          <p:nvPr/>
        </p:nvSpPr>
        <p:spPr>
          <a:xfrm>
            <a:off x="10053969" y="3726672"/>
            <a:ext cx="769784" cy="625450"/>
          </a:xfrm>
          <a:custGeom>
            <a:avLst/>
            <a:gdLst/>
            <a:ahLst/>
            <a:cxnLst/>
            <a:rect l="l" t="t" r="r" b="b"/>
            <a:pathLst>
              <a:path w="769784" h="625450">
                <a:moveTo>
                  <a:pt x="0" y="625450"/>
                </a:moveTo>
                <a:lnTo>
                  <a:pt x="769784" y="625450"/>
                </a:lnTo>
                <a:lnTo>
                  <a:pt x="769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3" name="S05-mark123"/>
          <p:cNvSpPr/>
          <p:nvPr/>
        </p:nvSpPr>
        <p:spPr>
          <a:xfrm>
            <a:off x="6878609" y="3005000"/>
            <a:ext cx="4137590" cy="9144"/>
          </a:xfrm>
          <a:custGeom>
            <a:avLst/>
            <a:gdLst/>
            <a:ahLst/>
            <a:cxnLst/>
            <a:rect l="l" t="t" r="r" b="b"/>
            <a:pathLst>
              <a:path w="4137590" h="9144">
                <a:moveTo>
                  <a:pt x="0" y="0"/>
                </a:moveTo>
                <a:lnTo>
                  <a:pt x="4137590" y="0"/>
                </a:lnTo>
              </a:path>
            </a:pathLst>
          </a:custGeom>
          <a:noFill/>
          <a:ln w="139700">
            <a:solidFill>
              <a:srgbClr val="A3AAB4"/>
            </a:solidFill>
            <a:prstDash val="solid"/>
          </a:ln>
        </p:spPr>
      </p:sp>
      <p:sp>
        <p:nvSpPr>
          <p:cNvPr id="34" name="S05-mark124"/>
          <p:cNvSpPr/>
          <p:nvPr/>
        </p:nvSpPr>
        <p:spPr>
          <a:xfrm>
            <a:off x="7516087" y="2187104"/>
            <a:ext cx="216502" cy="625450"/>
          </a:xfrm>
          <a:custGeom>
            <a:avLst/>
            <a:gdLst/>
            <a:ahLst/>
            <a:cxnLst/>
            <a:rect l="l" t="t" r="r" b="b"/>
            <a:pathLst>
              <a:path w="216502" h="625450">
                <a:moveTo>
                  <a:pt x="0" y="625450"/>
                </a:moveTo>
                <a:lnTo>
                  <a:pt x="216502" y="625450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5" name="S05-mark125"/>
          <p:cNvSpPr/>
          <p:nvPr/>
        </p:nvSpPr>
        <p:spPr>
          <a:xfrm>
            <a:off x="7804756" y="2042770"/>
            <a:ext cx="216502" cy="769784"/>
          </a:xfrm>
          <a:custGeom>
            <a:avLst/>
            <a:gdLst/>
            <a:ahLst/>
            <a:cxnLst/>
            <a:rect l="l" t="t" r="r" b="b"/>
            <a:pathLst>
              <a:path w="216502" h="769784">
                <a:moveTo>
                  <a:pt x="0" y="769784"/>
                </a:moveTo>
                <a:lnTo>
                  <a:pt x="216502" y="769784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6" name="S05-mark126"/>
          <p:cNvSpPr/>
          <p:nvPr/>
        </p:nvSpPr>
        <p:spPr>
          <a:xfrm>
            <a:off x="8093425" y="2187104"/>
            <a:ext cx="216502" cy="625450"/>
          </a:xfrm>
          <a:custGeom>
            <a:avLst/>
            <a:gdLst/>
            <a:ahLst/>
            <a:cxnLst/>
            <a:rect l="l" t="t" r="r" b="b"/>
            <a:pathLst>
              <a:path w="216502" h="625450">
                <a:moveTo>
                  <a:pt x="0" y="625450"/>
                </a:moveTo>
                <a:lnTo>
                  <a:pt x="216502" y="625450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7" name="S05-mark127"/>
          <p:cNvSpPr/>
          <p:nvPr/>
        </p:nvSpPr>
        <p:spPr>
          <a:xfrm>
            <a:off x="8370066" y="2331439"/>
            <a:ext cx="192446" cy="481115"/>
          </a:xfrm>
          <a:custGeom>
            <a:avLst/>
            <a:gdLst/>
            <a:ahLst/>
            <a:cxnLst/>
            <a:rect l="l" t="t" r="r" b="b"/>
            <a:pathLst>
              <a:path w="192446" h="481115">
                <a:moveTo>
                  <a:pt x="0" y="481115"/>
                </a:moveTo>
                <a:lnTo>
                  <a:pt x="192446" y="481115"/>
                </a:lnTo>
                <a:lnTo>
                  <a:pt x="192446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8" name="S05-mark128"/>
          <p:cNvSpPr/>
          <p:nvPr/>
        </p:nvSpPr>
        <p:spPr>
          <a:xfrm>
            <a:off x="7925034" y="3678561"/>
            <a:ext cx="216502" cy="625450"/>
          </a:xfrm>
          <a:custGeom>
            <a:avLst/>
            <a:gdLst/>
            <a:ahLst/>
            <a:cxnLst/>
            <a:rect l="l" t="t" r="r" b="b"/>
            <a:pathLst>
              <a:path w="216502" h="625450">
                <a:moveTo>
                  <a:pt x="0" y="625450"/>
                </a:moveTo>
                <a:lnTo>
                  <a:pt x="216502" y="625450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9" name="S05-mark129"/>
          <p:cNvSpPr/>
          <p:nvPr/>
        </p:nvSpPr>
        <p:spPr>
          <a:xfrm>
            <a:off x="8213704" y="3582338"/>
            <a:ext cx="216502" cy="721673"/>
          </a:xfrm>
          <a:custGeom>
            <a:avLst/>
            <a:gdLst/>
            <a:ahLst/>
            <a:cxnLst/>
            <a:rect l="l" t="t" r="r" b="b"/>
            <a:pathLst>
              <a:path w="216502" h="721673">
                <a:moveTo>
                  <a:pt x="0" y="721673"/>
                </a:moveTo>
                <a:lnTo>
                  <a:pt x="216502" y="721673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0" name="S05-mark130"/>
          <p:cNvSpPr/>
          <p:nvPr/>
        </p:nvSpPr>
        <p:spPr>
          <a:xfrm>
            <a:off x="7215390" y="3846951"/>
            <a:ext cx="346403" cy="240558"/>
          </a:xfrm>
          <a:custGeom>
            <a:avLst/>
            <a:gdLst/>
            <a:ahLst/>
            <a:cxnLst/>
            <a:rect l="l" t="t" r="r" b="b"/>
            <a:pathLst>
              <a:path w="346403" h="240558">
                <a:moveTo>
                  <a:pt x="0" y="0"/>
                </a:moveTo>
                <a:lnTo>
                  <a:pt x="346403" y="120279"/>
                </a:lnTo>
                <a:lnTo>
                  <a:pt x="0" y="240558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1" name="S05-mark131"/>
          <p:cNvSpPr/>
          <p:nvPr/>
        </p:nvSpPr>
        <p:spPr>
          <a:xfrm>
            <a:off x="7186523" y="3846951"/>
            <a:ext cx="57734" cy="433004"/>
          </a:xfrm>
          <a:custGeom>
            <a:avLst/>
            <a:gdLst/>
            <a:ahLst/>
            <a:cxnLst/>
            <a:rect l="l" t="t" r="r" b="b"/>
            <a:pathLst>
              <a:path w="57734" h="433004">
                <a:moveTo>
                  <a:pt x="0" y="433004"/>
                </a:moveTo>
                <a:lnTo>
                  <a:pt x="57734" y="433004"/>
                </a:lnTo>
                <a:lnTo>
                  <a:pt x="57734" y="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2" name="S05-mark132"/>
          <p:cNvSpPr/>
          <p:nvPr/>
        </p:nvSpPr>
        <p:spPr>
          <a:xfrm>
            <a:off x="9324598" y="3942212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3" name="S05-mark133"/>
          <p:cNvSpPr/>
          <p:nvPr/>
        </p:nvSpPr>
        <p:spPr>
          <a:xfrm>
            <a:off x="9661379" y="3894100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4" name="S05-mark134"/>
          <p:cNvSpPr/>
          <p:nvPr/>
        </p:nvSpPr>
        <p:spPr>
          <a:xfrm>
            <a:off x="9380408" y="2475773"/>
            <a:ext cx="481115" cy="312725"/>
          </a:xfrm>
          <a:custGeom>
            <a:avLst/>
            <a:gdLst/>
            <a:ahLst/>
            <a:cxnLst/>
            <a:rect l="l" t="t" r="r" b="b"/>
            <a:pathLst>
              <a:path w="481115" h="312725">
                <a:moveTo>
                  <a:pt x="0" y="312725"/>
                </a:moveTo>
                <a:lnTo>
                  <a:pt x="481115" y="312725"/>
                </a:lnTo>
                <a:lnTo>
                  <a:pt x="481115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5" name="S05-mark135"/>
          <p:cNvSpPr/>
          <p:nvPr/>
        </p:nvSpPr>
        <p:spPr>
          <a:xfrm>
            <a:off x="7090300" y="1688669"/>
            <a:ext cx="346403" cy="300216"/>
          </a:xfrm>
          <a:custGeom>
            <a:avLst/>
            <a:gdLst/>
            <a:ahLst/>
            <a:cxnLst/>
            <a:rect l="l" t="t" r="r" b="b"/>
            <a:pathLst>
              <a:path w="346403" h="300216">
                <a:moveTo>
                  <a:pt x="0" y="300216"/>
                </a:moveTo>
                <a:lnTo>
                  <a:pt x="346403" y="300216"/>
                </a:lnTo>
                <a:lnTo>
                  <a:pt x="173201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6" name="S05-mark136"/>
          <p:cNvSpPr/>
          <p:nvPr/>
        </p:nvSpPr>
        <p:spPr>
          <a:xfrm>
            <a:off x="10599553" y="1876785"/>
            <a:ext cx="63507" cy="211691"/>
          </a:xfrm>
          <a:custGeom>
            <a:avLst/>
            <a:gdLst/>
            <a:ahLst/>
            <a:cxnLst/>
            <a:rect l="l" t="t" r="r" b="b"/>
            <a:pathLst>
              <a:path w="63507" h="211691">
                <a:moveTo>
                  <a:pt x="0" y="211691"/>
                </a:moveTo>
                <a:lnTo>
                  <a:pt x="63507" y="211691"/>
                </a:lnTo>
                <a:lnTo>
                  <a:pt x="6350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47" name="S05-mark137"/>
          <p:cNvSpPr/>
          <p:nvPr/>
        </p:nvSpPr>
        <p:spPr>
          <a:xfrm>
            <a:off x="10456662" y="1612172"/>
            <a:ext cx="349290" cy="349290"/>
          </a:xfrm>
          <a:custGeom>
            <a:avLst/>
            <a:gdLst/>
            <a:ahLst/>
            <a:cxnLst/>
            <a:rect l="l" t="t" r="r" b="b"/>
            <a:pathLst>
              <a:path w="349290" h="349290">
                <a:moveTo>
                  <a:pt x="349290" y="174645"/>
                </a:moveTo>
                <a:lnTo>
                  <a:pt x="340629" y="120760"/>
                </a:lnTo>
                <a:lnTo>
                  <a:pt x="316093" y="72167"/>
                </a:lnTo>
                <a:lnTo>
                  <a:pt x="277122" y="33197"/>
                </a:lnTo>
                <a:lnTo>
                  <a:pt x="228530" y="8660"/>
                </a:lnTo>
                <a:lnTo>
                  <a:pt x="174645" y="0"/>
                </a:lnTo>
                <a:lnTo>
                  <a:pt x="120760" y="8660"/>
                </a:lnTo>
                <a:lnTo>
                  <a:pt x="72167" y="33197"/>
                </a:lnTo>
                <a:lnTo>
                  <a:pt x="33197" y="72167"/>
                </a:lnTo>
                <a:lnTo>
                  <a:pt x="8660" y="120760"/>
                </a:lnTo>
                <a:lnTo>
                  <a:pt x="0" y="174645"/>
                </a:lnTo>
                <a:lnTo>
                  <a:pt x="8660" y="228530"/>
                </a:lnTo>
                <a:lnTo>
                  <a:pt x="33197" y="277122"/>
                </a:lnTo>
                <a:lnTo>
                  <a:pt x="72167" y="316093"/>
                </a:lnTo>
                <a:lnTo>
                  <a:pt x="120760" y="340629"/>
                </a:lnTo>
                <a:lnTo>
                  <a:pt x="174645" y="349290"/>
                </a:lnTo>
                <a:lnTo>
                  <a:pt x="228530" y="340629"/>
                </a:lnTo>
                <a:lnTo>
                  <a:pt x="277122" y="316093"/>
                </a:lnTo>
                <a:lnTo>
                  <a:pt x="316093" y="277122"/>
                </a:lnTo>
                <a:lnTo>
                  <a:pt x="340629" y="22853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8" name="S05-mark138"/>
          <p:cNvSpPr/>
          <p:nvPr/>
        </p:nvSpPr>
        <p:spPr>
          <a:xfrm>
            <a:off x="6782386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lnTo>
                  <a:pt x="0" y="3127248"/>
                </a:lnTo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9" name="S05-mark139"/>
          <p:cNvSpPr/>
          <p:nvPr/>
        </p:nvSpPr>
        <p:spPr>
          <a:xfrm>
            <a:off x="8779014" y="2860665"/>
            <a:ext cx="4330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05-mark140"/>
          <p:cNvSpPr/>
          <p:nvPr/>
        </p:nvSpPr>
        <p:spPr>
          <a:xfrm>
            <a:off x="8779014" y="3149334"/>
            <a:ext cx="4330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5-labelbg142"/>
          <p:cNvSpPr/>
          <p:nvPr/>
        </p:nvSpPr>
        <p:spPr>
          <a:xfrm>
            <a:off x="10131013" y="3886997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05-label143"/>
          <p:cNvSpPr txBox="1"/>
          <p:nvPr/>
        </p:nvSpPr>
        <p:spPr>
          <a:xfrm>
            <a:off x="10085293" y="3848897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</a:t>
            </a:r>
            <a:endParaRPr lang="ko-KR" sz="2400" dirty="0"/>
          </a:p>
        </p:txBody>
      </p:sp>
      <p:sp>
        <p:nvSpPr>
          <p:cNvPr id="53" name="S05-labelbg145"/>
          <p:cNvSpPr/>
          <p:nvPr/>
        </p:nvSpPr>
        <p:spPr>
          <a:xfrm>
            <a:off x="8687668" y="3213436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05-label146"/>
          <p:cNvSpPr txBox="1"/>
          <p:nvPr/>
        </p:nvSpPr>
        <p:spPr>
          <a:xfrm>
            <a:off x="8641948" y="317533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</a:t>
            </a:r>
            <a:endParaRPr lang="ko-KR" sz="2400" dirty="0"/>
          </a:p>
        </p:txBody>
      </p:sp>
      <p:sp>
        <p:nvSpPr>
          <p:cNvPr id="55" name="S05-labelbg148"/>
          <p:cNvSpPr/>
          <p:nvPr/>
        </p:nvSpPr>
        <p:spPr>
          <a:xfrm>
            <a:off x="7051876" y="3453994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05-label149"/>
          <p:cNvSpPr txBox="1"/>
          <p:nvPr/>
        </p:nvSpPr>
        <p:spPr>
          <a:xfrm>
            <a:off x="7006156" y="341589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</a:t>
            </a:r>
            <a:endParaRPr lang="ko-KR" sz="2400" dirty="0"/>
          </a:p>
        </p:txBody>
      </p:sp>
      <p:sp>
        <p:nvSpPr>
          <p:cNvPr id="57" name="S05-label151"/>
          <p:cNvSpPr txBox="1"/>
          <p:nvPr/>
        </p:nvSpPr>
        <p:spPr>
          <a:xfrm>
            <a:off x="9267397" y="2068771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</a:t>
            </a:r>
            <a:endParaRPr lang="ko-KR" sz="2400" dirty="0"/>
          </a:p>
        </p:txBody>
      </p:sp>
      <p:sp>
        <p:nvSpPr>
          <p:cNvPr id="58" name="S05-label153"/>
          <p:cNvSpPr txBox="1"/>
          <p:nvPr/>
        </p:nvSpPr>
        <p:spPr>
          <a:xfrm>
            <a:off x="7059285" y="20206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2400" dirty="0"/>
          </a:p>
        </p:txBody>
      </p:sp>
      <p:sp>
        <p:nvSpPr>
          <p:cNvPr id="59" name="S05-label155"/>
          <p:cNvSpPr txBox="1"/>
          <p:nvPr/>
        </p:nvSpPr>
        <p:spPr>
          <a:xfrm>
            <a:off x="10082667" y="2309329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나무</a:t>
            </a:r>
            <a:endParaRPr lang="ko-KR" sz="2400" dirty="0"/>
          </a:p>
        </p:txBody>
      </p:sp>
      <p:sp>
        <p:nvSpPr>
          <p:cNvPr id="60" name="S05-label156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 들은 이야기</a:t>
            </a:r>
            <a:endParaRPr lang="ko-KR" sz="4000" dirty="0"/>
          </a:p>
        </p:txBody>
      </p:sp>
      <p:sp>
        <p:nvSpPr>
          <p:cNvPr id="3" name="S06-text1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별빛마을에서 오래 사신 할머니께 여쭈어 정리했어요.</a:t>
            </a:r>
            <a:endParaRPr lang="ko-KR" sz="3000" dirty="0"/>
          </a:p>
        </p:txBody>
      </p:sp>
      <p:sp>
        <p:nvSpPr>
          <p:cNvPr id="4" name="S06-card1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들으면 무엇이 먼저 바뀌었는지 알 수 있어요.</a:t>
            </a:r>
            <a:endParaRPr lang="ko-KR" sz="3000" dirty="0"/>
          </a:p>
        </p:txBody>
      </p:sp>
      <p:sp>
        <p:nvSpPr>
          <p:cNvPr id="6" name="S06-line160"/>
          <p:cNvSpPr/>
          <p:nvPr/>
        </p:nvSpPr>
        <p:spPr>
          <a:xfrm>
            <a:off x="822960" y="3566160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6-event161"/>
          <p:cNvSpPr/>
          <p:nvPr/>
        </p:nvSpPr>
        <p:spPr>
          <a:xfrm>
            <a:off x="2021967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6-label162"/>
          <p:cNvSpPr txBox="1"/>
          <p:nvPr/>
        </p:nvSpPr>
        <p:spPr>
          <a:xfrm>
            <a:off x="868680" y="2461260"/>
            <a:ext cx="254431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나룻배로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강을 건넜어요</a:t>
            </a:r>
            <a:endParaRPr lang="ko-KR" sz="2400" dirty="0"/>
          </a:p>
        </p:txBody>
      </p:sp>
      <p:sp>
        <p:nvSpPr>
          <p:cNvPr id="9" name="S06-label163"/>
          <p:cNvSpPr txBox="1"/>
          <p:nvPr/>
        </p:nvSpPr>
        <p:spPr>
          <a:xfrm>
            <a:off x="868680" y="3794760"/>
            <a:ext cx="2544318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 어린 시절</a:t>
            </a:r>
            <a:endParaRPr lang="ko-KR" sz="2000" dirty="0"/>
          </a:p>
        </p:txBody>
      </p:sp>
      <p:sp>
        <p:nvSpPr>
          <p:cNvPr id="10" name="S06-event164"/>
          <p:cNvSpPr/>
          <p:nvPr/>
        </p:nvSpPr>
        <p:spPr>
          <a:xfrm>
            <a:off x="4657725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6-label165"/>
          <p:cNvSpPr txBox="1"/>
          <p:nvPr/>
        </p:nvSpPr>
        <p:spPr>
          <a:xfrm>
            <a:off x="3504438" y="2461260"/>
            <a:ext cx="254431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다리가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놓였어요</a:t>
            </a:r>
            <a:endParaRPr lang="ko-KR" sz="2400" dirty="0"/>
          </a:p>
        </p:txBody>
      </p:sp>
      <p:sp>
        <p:nvSpPr>
          <p:cNvPr id="12" name="S06-label166"/>
          <p:cNvSpPr txBox="1"/>
          <p:nvPr/>
        </p:nvSpPr>
        <p:spPr>
          <a:xfrm>
            <a:off x="3504438" y="3794760"/>
            <a:ext cx="2544318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 학생 시절</a:t>
            </a:r>
            <a:endParaRPr lang="ko-KR" sz="2000" dirty="0"/>
          </a:p>
        </p:txBody>
      </p:sp>
      <p:sp>
        <p:nvSpPr>
          <p:cNvPr id="13" name="S06-event167"/>
          <p:cNvSpPr/>
          <p:nvPr/>
        </p:nvSpPr>
        <p:spPr>
          <a:xfrm>
            <a:off x="7293483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6-label168"/>
          <p:cNvSpPr txBox="1"/>
          <p:nvPr/>
        </p:nvSpPr>
        <p:spPr>
          <a:xfrm>
            <a:off x="6140196" y="2461260"/>
            <a:ext cx="254431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논밭에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아파트·학교</a:t>
            </a:r>
            <a:endParaRPr lang="ko-KR" sz="2400" dirty="0"/>
          </a:p>
        </p:txBody>
      </p:sp>
      <p:sp>
        <p:nvSpPr>
          <p:cNvPr id="15" name="S06-label169"/>
          <p:cNvSpPr txBox="1"/>
          <p:nvPr/>
        </p:nvSpPr>
        <p:spPr>
          <a:xfrm>
            <a:off x="6140196" y="3794760"/>
            <a:ext cx="2544318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 어린 시절</a:t>
            </a:r>
            <a:endParaRPr lang="ko-KR" sz="2000" dirty="0"/>
          </a:p>
        </p:txBody>
      </p:sp>
      <p:sp>
        <p:nvSpPr>
          <p:cNvPr id="16" name="S06-event170"/>
          <p:cNvSpPr/>
          <p:nvPr/>
        </p:nvSpPr>
        <p:spPr>
          <a:xfrm>
            <a:off x="9929241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6-label171"/>
          <p:cNvSpPr txBox="1"/>
          <p:nvPr/>
        </p:nvSpPr>
        <p:spPr>
          <a:xfrm>
            <a:off x="8775954" y="2461260"/>
            <a:ext cx="254431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장터 자리에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건물</a:t>
            </a:r>
            <a:endParaRPr lang="ko-KR" sz="2400" dirty="0"/>
          </a:p>
        </p:txBody>
      </p:sp>
      <p:sp>
        <p:nvSpPr>
          <p:cNvPr id="18" name="S06-label172"/>
          <p:cNvSpPr txBox="1"/>
          <p:nvPr/>
        </p:nvSpPr>
        <p:spPr>
          <a:xfrm>
            <a:off x="8775954" y="3794760"/>
            <a:ext cx="2544318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 이름에 남은 옛 모습</a:t>
            </a:r>
            <a:endParaRPr lang="ko-KR" sz="4000" dirty="0"/>
          </a:p>
        </p:txBody>
      </p:sp>
      <p:sp>
        <p:nvSpPr>
          <p:cNvPr id="3" name="S07-text1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별빛시의 길 이름이에요.</a:t>
            </a:r>
            <a:endParaRPr lang="ko-KR" sz="3000" dirty="0"/>
          </a:p>
        </p:txBody>
      </p:sp>
      <p:sp>
        <p:nvSpPr>
          <p:cNvPr id="4" name="S07-card1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속 낱말에 옛 모습이 숨어 있어요.</a:t>
            </a:r>
            <a:endParaRPr lang="ko-KR" sz="3000" dirty="0"/>
          </a:p>
        </p:txBody>
      </p:sp>
      <p:sp>
        <p:nvSpPr>
          <p:cNvPr id="6" name="S07-chip17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text17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나루길: 옛날에 무엇이 있었을까요?</a:t>
            </a:r>
            <a:endParaRPr lang="ko-KR" sz="3000" dirty="0"/>
          </a:p>
        </p:txBody>
      </p:sp>
      <p:sp>
        <p:nvSpPr>
          <p:cNvPr id="8" name="S07-chip17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text17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장터길: 옛날에 무엇이 있었을까요?</a:t>
            </a:r>
            <a:endParaRPr lang="ko-KR" sz="3000" dirty="0"/>
          </a:p>
        </p:txBody>
      </p:sp>
      <p:sp>
        <p:nvSpPr>
          <p:cNvPr id="10" name="S07-chip18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18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새터마을: ‘새로 생긴 터’라는 뜻이에요. 어떤 마을일까요?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바뀌었을까요?</a:t>
            </a:r>
            <a:endParaRPr lang="ko-KR" sz="4000" dirty="0"/>
          </a:p>
        </p:txBody>
      </p:sp>
      <p:sp>
        <p:nvSpPr>
          <p:cNvPr id="3" name="S08-text1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보고 까닭을 차례로 짐작해요.</a:t>
            </a:r>
            <a:endParaRPr lang="ko-KR" sz="3000" dirty="0"/>
          </a:p>
        </p:txBody>
      </p:sp>
      <p:sp>
        <p:nvSpPr>
          <p:cNvPr id="4" name="S08-card18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8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보면 다리가 생긴 뒤 마을이 커졌다고 생각할 수 있어요.</a:t>
            </a:r>
            <a:endParaRPr lang="ko-KR" sz="3000" dirty="0"/>
          </a:p>
        </p:txBody>
      </p:sp>
      <p:sp>
        <p:nvSpPr>
          <p:cNvPr id="6" name="S08-step185"/>
          <p:cNvSpPr txBox="1"/>
          <p:nvPr/>
        </p:nvSpPr>
        <p:spPr>
          <a:xfrm>
            <a:off x="548640" y="2593848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다리가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놓임</a:t>
            </a:r>
            <a:endParaRPr lang="ko-KR" sz="2400" dirty="0"/>
          </a:p>
        </p:txBody>
      </p:sp>
      <p:sp>
        <p:nvSpPr>
          <p:cNvPr id="7" name="S08-line186"/>
          <p:cNvSpPr/>
          <p:nvPr/>
        </p:nvSpPr>
        <p:spPr>
          <a:xfrm>
            <a:off x="3067812" y="3371088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187"/>
          <p:cNvSpPr txBox="1"/>
          <p:nvPr/>
        </p:nvSpPr>
        <p:spPr>
          <a:xfrm>
            <a:off x="3424428" y="2593848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강을 건너기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쉬워짐</a:t>
            </a:r>
            <a:endParaRPr lang="ko-KR" sz="2400" dirty="0"/>
          </a:p>
        </p:txBody>
      </p:sp>
      <p:sp>
        <p:nvSpPr>
          <p:cNvPr id="9" name="S08-line188"/>
          <p:cNvSpPr/>
          <p:nvPr/>
        </p:nvSpPr>
        <p:spPr>
          <a:xfrm>
            <a:off x="5943600" y="3371088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189"/>
          <p:cNvSpPr txBox="1"/>
          <p:nvPr/>
        </p:nvSpPr>
        <p:spPr>
          <a:xfrm>
            <a:off x="6300216" y="2593848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물건이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오감</a:t>
            </a:r>
            <a:endParaRPr lang="ko-KR" sz="2400" dirty="0"/>
          </a:p>
        </p:txBody>
      </p:sp>
      <p:sp>
        <p:nvSpPr>
          <p:cNvPr id="11" name="S08-line190"/>
          <p:cNvSpPr/>
          <p:nvPr/>
        </p:nvSpPr>
        <p:spPr>
          <a:xfrm>
            <a:off x="8819388" y="3371088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8-step191"/>
          <p:cNvSpPr txBox="1"/>
          <p:nvPr/>
        </p:nvSpPr>
        <p:spPr>
          <a:xfrm>
            <a:off x="9176004" y="2593848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집·가게·학교가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늘어남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말하면 좋을까요?</a:t>
            </a:r>
            <a:endParaRPr lang="ko-KR" sz="4000" dirty="0"/>
          </a:p>
        </p:txBody>
      </p:sp>
      <p:sp>
        <p:nvSpPr>
          <p:cNvPr id="3" name="S09-card19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9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옛날과 오늘의 별빛마을 지도를 보고 두 친구가 말했어요.</a:t>
            </a:r>
            <a:endParaRPr lang="ko-KR" sz="3000" dirty="0"/>
          </a:p>
        </p:txBody>
      </p:sp>
      <p:sp>
        <p:nvSpPr>
          <p:cNvPr id="5" name="S09-card1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더 알맞을까요? 왜 그럴까요?</a:t>
            </a:r>
            <a:endParaRPr lang="ko-KR" sz="3000" dirty="0"/>
          </a:p>
        </p:txBody>
      </p:sp>
      <p:sp>
        <p:nvSpPr>
          <p:cNvPr id="7" name="S09-chip19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text19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“다리 때문에 사람들이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이사 왔어요. 틀림없어요.”</a:t>
            </a:r>
            <a:endParaRPr lang="ko-KR" sz="3000" dirty="0"/>
          </a:p>
        </p:txBody>
      </p:sp>
      <p:sp>
        <p:nvSpPr>
          <p:cNvPr id="9" name="S09-chip19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text19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“다리가 생겨서 사람들이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왔을 것 같아요.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어르신께 여쭈어 확인해요.”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지역의 옛 모습 조사</a:t>
            </a:r>
            <a:endParaRPr lang="ko-KR" sz="4000" dirty="0"/>
          </a:p>
        </p:txBody>
      </p:sp>
      <p:sp>
        <p:nvSpPr>
          <p:cNvPr id="3" name="S10-text20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조사해요.</a:t>
            </a:r>
            <a:endParaRPr lang="ko-KR" sz="3000" dirty="0"/>
          </a:p>
        </p:txBody>
      </p:sp>
      <p:sp>
        <p:nvSpPr>
          <p:cNvPr id="4" name="S10-card2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2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어르신께 예의 바르게 여쭤요.</a:t>
            </a:r>
            <a:endParaRPr lang="ko-KR" sz="3000" dirty="0"/>
          </a:p>
        </p:txBody>
      </p:sp>
      <p:sp>
        <p:nvSpPr>
          <p:cNvPr id="6" name="S10-card203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204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바뀐 것 한 가지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그대로인 것 한 가지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바뀐 까닭과 확인한 곳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여쭌 분과 알아본 자료</a:t>
            </a:r>
            <a:endParaRPr lang="ko-KR" sz="3000" dirty="0"/>
          </a:p>
        </p:txBody>
      </p:sp>
      <p:sp>
        <p:nvSpPr>
          <p:cNvPr id="8" name="S10-stepno205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10-text206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어르신께 옛날 동네 모습을 여쭤요.</a:t>
            </a:r>
            <a:endParaRPr lang="ko-KR" sz="2400" dirty="0"/>
          </a:p>
        </p:txBody>
      </p:sp>
      <p:sp>
        <p:nvSpPr>
          <p:cNvPr id="10" name="S10-stepno207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10-text208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사진이나 지역 자료를 찾아봐요.</a:t>
            </a:r>
            <a:endParaRPr lang="ko-KR" sz="2400" dirty="0"/>
          </a:p>
        </p:txBody>
      </p:sp>
      <p:sp>
        <p:nvSpPr>
          <p:cNvPr id="12" name="S10-stepno209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10-text210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바뀐 것과 그대로인 것을 찾아요.</a:t>
            </a:r>
            <a:endParaRPr lang="ko-KR" sz="2400" dirty="0"/>
          </a:p>
        </p:txBody>
      </p:sp>
      <p:sp>
        <p:nvSpPr>
          <p:cNvPr id="14" name="S10-stepno211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10-text212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4·5에 기록해요.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솔빛마을의 옛날과 오늘이에요.</a:t>
            </a:r>
            <a:endParaRPr lang="ko-KR" sz="3000" dirty="0"/>
          </a:p>
        </p:txBody>
      </p:sp>
      <p:graphicFrame>
        <p:nvGraphicFramePr>
          <p:cNvPr id="12" name="S11-table2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2724912"/>
          <a:ext cx="5120640" cy="914400"/>
        </p:xfrm>
        <a:graphic>
          <a:graphicData uri="http://schemas.openxmlformats.org/drawingml/2006/table">
            <a:tbl>
              <a:tblPr/>
              <a:tblGrid>
                <a:gridCol w="1331366"/>
                <a:gridCol w="1894637"/>
                <a:gridCol w="1894637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옛날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좁은 흙길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넓은 찻길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솔빛산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솔빛산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닷새마다 장터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날마다 가게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1-chip21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1-text216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바뀐 것 두 가지를 말해요.</a:t>
            </a:r>
            <a:endParaRPr lang="ko-KR" sz="3000" dirty="0"/>
          </a:p>
        </p:txBody>
      </p:sp>
      <p:sp>
        <p:nvSpPr>
          <p:cNvPr id="7" name="S11-chip21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1-text218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그대로인 것은 무엇인가요?</a:t>
            </a:r>
            <a:endParaRPr lang="ko-KR" sz="3000" dirty="0"/>
          </a:p>
        </p:txBody>
      </p:sp>
      <p:sp>
        <p:nvSpPr>
          <p:cNvPr id="9" name="S11-chip21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1-text220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장보기는 어떻게 바뀌었나요?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2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모습과 오늘 모습을 함께 말해요.</a:t>
            </a:r>
            <a:endParaRPr lang="ko-KR" sz="3000" dirty="0"/>
          </a:p>
        </p:txBody>
      </p:sp>
      <p:sp>
        <p:nvSpPr>
          <p:cNvPr id="5" name="S12-chip22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224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우물 → 수도</a:t>
            </a:r>
            <a:endParaRPr lang="ko-KR" sz="3000" dirty="0"/>
          </a:p>
        </p:txBody>
      </p:sp>
      <p:sp>
        <p:nvSpPr>
          <p:cNvPr id="7" name="S12-text225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2400" dirty="0"/>
          </a:p>
        </p:txBody>
      </p:sp>
      <p:sp>
        <p:nvSpPr>
          <p:cNvPr id="8" name="S12-text226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흙길 → 찻길</a:t>
            </a:r>
            <a:endParaRPr lang="ko-KR" sz="3000" dirty="0"/>
          </a:p>
        </p:txBody>
      </p:sp>
      <p:sp>
        <p:nvSpPr>
          <p:cNvPr id="9" name="S12-text227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</a:t>
            </a:r>
            <a:endParaRPr lang="ko-KR" sz="2400" dirty="0"/>
          </a:p>
        </p:txBody>
      </p:sp>
      <p:sp>
        <p:nvSpPr>
          <p:cNvPr id="10" name="S12-text228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솔빛산</a:t>
            </a:r>
            <a:endParaRPr lang="ko-KR" sz="3000" dirty="0"/>
          </a:p>
        </p:txBody>
      </p:sp>
      <p:sp>
        <p:nvSpPr>
          <p:cNvPr id="11" name="S12-text229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</a:t>
            </a:r>
            <a:endParaRPr lang="ko-KR" sz="2400" dirty="0"/>
          </a:p>
        </p:txBody>
      </p:sp>
      <p:sp>
        <p:nvSpPr>
          <p:cNvPr id="12" name="S12-chip23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2-text23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“수도가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있어요.”</a:t>
            </a:r>
            <a:endParaRPr lang="ko-KR" sz="3000" dirty="0"/>
          </a:p>
        </p:txBody>
      </p:sp>
      <p:sp>
        <p:nvSpPr>
          <p:cNvPr id="14" name="S12-text23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모습이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빠짐</a:t>
            </a:r>
            <a:endParaRPr lang="ko-KR" sz="2400" dirty="0"/>
          </a:p>
        </p:txBody>
      </p:sp>
      <p:sp>
        <p:nvSpPr>
          <p:cNvPr id="15" name="S12-text23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산이 바뀌었어요</a:t>
            </a:r>
            <a:endParaRPr lang="ko-KR" sz="3000" dirty="0"/>
          </a:p>
        </p:txBody>
      </p:sp>
      <p:sp>
        <p:nvSpPr>
          <p:cNvPr id="16" name="S12-text23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칸을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비교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짐작해요</a:t>
            </a:r>
            <a:endParaRPr lang="ko-KR" sz="4000" dirty="0"/>
          </a:p>
        </p:txBody>
      </p:sp>
      <p:sp>
        <p:nvSpPr>
          <p:cNvPr id="3" name="S13-text235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지도에 없던 기차역이 오늘 지도에 있고,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 둘레에 가게와 집이 많아졌어요.</a:t>
            </a:r>
            <a:endParaRPr lang="ko-KR" sz="3000" dirty="0"/>
          </a:p>
        </p:txBody>
      </p:sp>
      <p:sp>
        <p:nvSpPr>
          <p:cNvPr id="4" name="S13-chip236"/>
          <p:cNvSpPr txBox="1"/>
          <p:nvPr/>
        </p:nvSpPr>
        <p:spPr>
          <a:xfrm>
            <a:off x="548640" y="28864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3-text237"/>
          <p:cNvSpPr txBox="1"/>
          <p:nvPr/>
        </p:nvSpPr>
        <p:spPr>
          <a:xfrm>
            <a:off x="1344168" y="24384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바뀌었을지 짐작해 말해요.</a:t>
            </a:r>
            <a:endParaRPr lang="ko-KR" sz="3000" dirty="0"/>
          </a:p>
        </p:txBody>
      </p:sp>
      <p:sp>
        <p:nvSpPr>
          <p:cNvPr id="6" name="S13-chip238"/>
          <p:cNvSpPr txBox="1"/>
          <p:nvPr/>
        </p:nvSpPr>
        <p:spPr>
          <a:xfrm>
            <a:off x="548640" y="4867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3-text239"/>
          <p:cNvSpPr txBox="1"/>
          <p:nvPr/>
        </p:nvSpPr>
        <p:spPr>
          <a:xfrm>
            <a:off x="1344168" y="4419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짐작을 무엇으로 확인할 수 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4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4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옛날과 오늘의 자료를 나란히 놓고 비교하면 바뀐 것과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그대로인 것을 알 수 있고, 까닭은 짐작한 뒤 확인해요.</a:t>
            </a:r>
            <a:endParaRPr lang="ko-KR" sz="3000" dirty="0"/>
          </a:p>
        </p:txBody>
      </p:sp>
      <p:sp>
        <p:nvSpPr>
          <p:cNvPr id="5" name="S14-chip242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‘~것 같아요’로 짐작하고 확인하기</a:t>
            </a:r>
            <a:endParaRPr lang="ko-KR" sz="2400" dirty="0"/>
          </a:p>
        </p:txBody>
      </p:sp>
      <p:sp>
        <p:nvSpPr>
          <p:cNvPr id="6" name="S14-chip243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자료 없이 단정하기</a:t>
            </a:r>
            <a:endParaRPr lang="ko-KR" sz="2400" dirty="0"/>
          </a:p>
        </p:txBody>
      </p:sp>
      <p:sp>
        <p:nvSpPr>
          <p:cNvPr id="7" name="S14-text244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45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옛 모습을 알려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주는 자료는?</a:t>
            </a:r>
            <a:endParaRPr lang="ko-KR" sz="2400" dirty="0"/>
          </a:p>
        </p:txBody>
      </p:sp>
      <p:sp>
        <p:nvSpPr>
          <p:cNvPr id="9" name="S14-text246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나루가 있던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자리에는?</a:t>
            </a:r>
            <a:endParaRPr lang="ko-KR" sz="2400" dirty="0"/>
          </a:p>
        </p:txBody>
      </p:sp>
      <p:sp>
        <p:nvSpPr>
          <p:cNvPr id="10" name="S14-text247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짐작을 확인하는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방법은?</a:t>
            </a:r>
            <a:endParaRPr lang="ko-KR" sz="2400" dirty="0"/>
          </a:p>
        </p:txBody>
      </p:sp>
      <p:sp>
        <p:nvSpPr>
          <p:cNvPr id="11" name="S14-text24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필요와 선택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옛날과 오늘 짝짓기</a:t>
            </a:r>
            <a:endParaRPr lang="ko-KR" sz="4000" dirty="0"/>
          </a:p>
        </p:txBody>
      </p:sp>
      <p:sp>
        <p:nvSpPr>
          <p:cNvPr id="3" name="S15-text2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생활과 오늘 생활을 비교해요.</a:t>
            </a:r>
            <a:endParaRPr lang="ko-KR" sz="3000" dirty="0"/>
          </a:p>
        </p:txBody>
      </p:sp>
      <p:sp>
        <p:nvSpPr>
          <p:cNvPr id="4" name="S15-card2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2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옛날과 오늘을 같은 일끼리 짝지으면 바뀐 것이 보여요.</a:t>
            </a:r>
            <a:endParaRPr lang="ko-KR" sz="3000" dirty="0"/>
          </a:p>
        </p:txBody>
      </p:sp>
      <p:graphicFrame>
        <p:nvGraphicFramePr>
          <p:cNvPr id="16" name="S15-table2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541016"/>
          <a:ext cx="10972800" cy="914400"/>
        </p:xfrm>
        <a:graphic>
          <a:graphicData uri="http://schemas.openxmlformats.org/drawingml/2006/table">
            <a:tbl>
              <a:tblPr/>
              <a:tblGrid>
                <a:gridCol w="3730752"/>
                <a:gridCol w="3072384"/>
                <a:gridCol w="4169664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옛날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무엇이 바뀌었나요?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우물에서 물 긷기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수도꼭지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물을 얻는 방법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나룻배로 강 건너기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다리로 건너기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강을 건너는 방법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등잔불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불을 밝히는 방법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사회·역사 지역의 역사</dc:title>
  <dc:subject>KR22-G04-SOC-LOCALHIST-L01</dc:subject>
  <dc:creator>education-ppt</dc:creator>
  <cp:lastModifiedBy>education-ppt</cp:lastModifiedBy>
  <cp:revision>1</cp:revision>
  <dcterms:created xsi:type="dcterms:W3CDTF">2026-10-26T09:51:59Z</dcterms:created>
  <dcterms:modified xsi:type="dcterms:W3CDTF">2026-10-26T09:51:59Z</dcterms:modified>
</cp:coreProperties>
</file>