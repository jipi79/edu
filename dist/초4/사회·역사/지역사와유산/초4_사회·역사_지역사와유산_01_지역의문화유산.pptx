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3b30de4-cb46-a948-9e55-c4865048621a}">
          <p14:sldIdLst>
            <p14:sldId id="256"/>
            <p14:sldId id="257"/>
          </p14:sldIdLst>
        </p14:section>
        <p14:section name="개념" id="{143e7d50-19ae-de8a-1944-a2d4b6f4762d}">
          <p14:sldIdLst>
            <p14:sldId id="258"/>
            <p14:sldId id="259"/>
            <p14:sldId id="262"/>
            <p14:sldId id="263"/>
          </p14:sldIdLst>
        </p14:section>
        <p14:section name="연습" id="{f1fca658-448a-ebb6-322f-7ca95680fd27}">
          <p14:sldIdLst>
            <p14:sldId id="260"/>
            <p14:sldId id="261"/>
            <p14:sldId id="264"/>
            <p14:sldId id="265"/>
          </p14:sldIdLst>
        </p14:section>
        <p14:section name="개념" id="{c272f37b-d70d-2e1f-f031-1ab7c4bf242c}">
          <p14:sldIdLst/>
        </p14:section>
        <p14:section name="연습" id="{d160c7db-464d-4680-c513-5eee3da759e3}">
          <p14:sldIdLst/>
        </p14:section>
        <p14:section name="확인" id="{20d54080-2e14-71ad-d313-c7a8eabdf1b3}">
          <p14:sldIdLst>
            <p14:sldId id="266"/>
            <p14:sldId id="267"/>
            <p14:sldId id="268"/>
          </p14:sldIdLst>
        </p14:section>
        <p14:section name="정리" id="{1560f7b4-4fec-1170-478e-3db432f3c71f}">
          <p14:sldIdLst>
            <p14:sldId id="269"/>
          </p14:sldIdLst>
        </p14:section>
        <p14:section name="보충" id="{57270659-93bb-1915-f3c4-a696a0b1d93e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우리 지역에서 오래도록 지켜 온 것에 관심을 갖게 합니다.
시간: 약 2분
이렇게 말해 보세요
- “우리 동네에 오래된 건물이나 다리, 커다란 나무, 옛날부터 해 온 축제 같은 것을 본 적 있어?”
- “옛날부터 전해 내려오는 것 가운데 소중해서 지키고 물려줄 것을 ‘문화유산’이라고 해. 오늘은 문화유산이 무엇인지 알고, 우리 지역 문화유산을 함께 조사하는 방법을 배울 거야.”
예상 답
- “옛날 집이요.” “박물관에 있는 거요.” “잘 모르겠어요.”
막히면
- 가족 여행에서 본 절, 성, 궁궐이나 박물관을 떠올리게 합니다.
주의
- 오늘 화면의 ‘별빛 돌다리’, ‘별빛 모심기 소리’는 수업을 위해 지어낸 별빛시의 문화유산입니다. 우리 지역의 실제 문화유산은 S10과 활동지 4에서 부모님과 함께 찾아봅니다.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확인(옛날과 오늘의 생활 도구)]
목적: 3학년에서 배운 옛날과 오늘의 생활 도구 비교를 기억하는지, 옛날 것에서 그때 사람들의 생활을 읽을 수 있는지 확인합니다. 문화유산의 의미를 생각하는 바탕이 됩니다.
시간: 약 3분
이렇게 말해 보세요
- “맷돌은 곡식을 가는 돌이야. 지금은 콩이나 곡식을 갈 때 무엇을 써?”
- “등잔은 기름에 심지를 꽂아 불을 밝히던 물건이야. 지금은?”
- “이런 옛날 물건을 보면 옛날 사람들에 대해 무엇을 알 수 있을까?”
정답
- ① 믹서(분쇄기)
- ② 전등
- ③ 예: 옛날 사람들이 어떻게 생활했는지, 어떤 지혜로 일을 했는지 알 수 있어요.
막히면
- ①·②가 어려우면 S15(보충)를 먼저 합니다.
- ③은 “맷돌을 돌리려면 힘이 들었을까? 옛날에는 밥 한 끼 준비가 어땠을까?”처럼 생활을 상상하게 합니다.
주의
- ③에서 ‘옛날 사람들의 생활과 지혜’를 말하면 오늘 배울 문화유산의 의미와 이어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문화유산의 뜻]
목적: 문화유산의 뜻과 여러 가지 예를 알려 줍니다(목표 A).
시간: 약 3분
이렇게 말해 보세요
- “문화유산은 옛날부터 전해 내려오는 것 가운데 소중해서 우리 뒤의 사람들(후손)에게도 물려줄 것이야.”
- “건물이나 탑, 옛날 책도 있고, 사람들이 이어 온 놀이나 노래, 기술도 문화유산이 될 수 있어.”
- “왜 이런 것들을 소중히 지킬까?”
예상 답
- “옛날 사람들이 어떻게 살았는지 알 수 있어서요.” “한 번 없어지면 다시 만들 수 없어서요.”
막히면
- S02의 맷돌을 떠올리게 하고 “옛날 물건으로 옛날 생활을 알 수 있었지? 문화유산도 그래.”라고 이어 줍니다.
주의
- 오래된 것이라고 모두 문화유산은 아닙니다. 많은 사람에게 역사적·문화적으로 소중해서 함께 지키기로 한 것이라는 점을 덧붙입니다.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모양이 있는 문화유산과 없는 문화유산]
목적: 문화유산을 모양이 있는 것(유형)과 모양이 없는 것(무형)으로 나누고, 널리 알려진 예를 소개합니다(목표 A).
시간: 약 3분
이렇게 말해 보세요
- “불국사와 석굴암은 경주에 있는 절과 석굴이고, 수원 화성은 수원에 있는 성이야. 눈으로 보고 만질 수 있지? 이런 것을 모양이 있는(유형) 문화유산이라고 해.”
- “판소리는 노래와 이야기로 하는 공연이고, 강강술래는 여럿이 손을 잡고 돌며 노래하는 놀이야. 손으로 만질 수는 없지만 사람들이 배워서 이어 와. 이런 것을 모양이 없는(무형) 문화유산이라고 해.”
- “모양이 없는 문화유산은 어떻게 해야 지킬 수 있을까?”
예상 답
- “사람들이 계속 배우고 해야 해요.”
막히면
- “손으로 만질 수 있어?”라는 질문 하나로 나누게 합니다.
주의
- 최근 나라에서 쓰는 이름이 ‘문화재’에서 ‘국가유산’으로 바뀌었고, 놀이·기술처럼 모양이 없는 것은 ‘무형유산’이라고 따로 부르기도 합니다. 아이의 교과서에 쓰인 말을 따르세요.
- 화면의 예는 널리 알려진 것만 골랐습니다. 사진이 필요하면 부모님이 함께 찾아보세요(활동지에는 싣지 않았습니다).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모양이 있는 것과 없는 것 나누기]
목적: 예를 모양이 있는 문화유산과 없는 문화유산으로 나누는 연습을 합니다(목표 A).
시간: 약 3분
이렇게 말해 보세요
- “하나씩 읽고, 손으로 만질 수 있는지 생각해 볼까?”
- “④ 탈춤에서 탈은 만질 수 있는데, 탈춤은 어떨까?”
정답
- ① 모양이 있어요(다리)
- ② 모양이 없어요(놀이)
- ③ 모양이 있어요(책)
- ④ 모양이 없어요(춤). 탈은 물건이지만, 탈춤은 사람들이 배우고 이어 가는 춤입니다.
막히면
- S04의 표를 다시 보여 주고 ‘건물·책’ 줄과 ‘놀이·춤’ 줄 가운데 어디와 닮았는지 묻습니다.
주의
- ①·②의 별빛 돌다리와 별빛 줄다리기는 수업을 위해 지어낸 별빛시의 문화유산입니다.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오해 비교(문화유산은 건물만일까)]
목적: 문화유산을 건물이나 물건으로만 생각하는 오해를 바로잡습니다(목표 A, 오해 M1).
시간: 약 2분
이렇게 말해 보세요
- “가 친구는 무엇 때문에 문화유산이 아니라고 했어? 문화유산의 뜻을 다시 떠올려 볼까?”
정답
- 나. 모양이 없어도 옛날부터 이어 온 소중한 놀이·노래·춤·기술은 문화유산입니다(모양이 없는 문화유산).
막히면
- S03의 뜻 “옛날부터 전해 내려오는 것 가운데 소중해서 물려줄 것”을 다시 읽고, 강강술래가 여기에 맞는지 하나씩 확인합니다.
주의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문화유산을 조사하는 곳과 기록할 것]
목적: 문화유산을 조사할 수 있는 자료와, 조사할 때 기록할 다섯 가지를 알려 줍니다(목표 B).
시간: 약 3분
이렇게 말해 보세요
- “우리 지역 문화유산을 알아보려면 어디를 찾아보면 될까? 네 가지 방법이 있어.”
- “조사할 때는 이름, 있는 곳, 모습(어떻게 생겼고 무엇에 썼는지), 의미(왜 소중한지), 그리고 어디에서 알았는지를 꼭 적어.”
- “어디에서 알았는지는 왜 적을까?”
예상 답
- “나중에 다시 찾아보려고요.” “맞는 정보인지 확인하려고요.”
막히면
- “누리집은 인터넷에서 보는 안내 화면이야. 시청이나 군청 누리집에 우리 지역 소개가 있어.”라고 덧붙입니다.
주의
- 누리집이나 지도 앱을 쓸 때는 부모님이 함께 찾습니다. 개인이 올린 글보다 지역 관청·박물관처럼 믿을 만한 곳의 정보를 먼저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시범(안내판에서 정보 찾기)]
목적: 부모가 생각을 소리 내어 말하며 안내판에서 이름·있는 곳·모습(쓰임)·의미를 찾는 시범을 보입니다(목표 B).
시간: 약 3분
이렇게 말해 보세요
- “엄마(아빠)가 먼저 찾아볼게. 이름은 맨 위의 ‘별빛 돌다리’, 있는 곳은 첫 줄에 ‘별빛시 냇가마을 앞 시냇물’이라고 쓰여 있네.”
- “모습과 쓰임은? 넓적한 돌을 놓아 만든 다리이고, 냇물을 건너려고 만들었대. 무거운 돌을 엇갈려 놓은 것도 모습이야.”
- “의미는 직접 쓰여 있지 않을 때가 많아. ‘왜 소중할까?’ 하고 생각해야 해. 다음 장에서 같이 해 보자.”
예상 답
- 아이가 부모를 따라 이름·있는 곳·모습이 쓰인 줄을 손가락으로 짚습니다.
막히면
- 찾을 것을 하나씩만 묻습니다. “어디에 있대?”, “무엇으로 만들었대?”
주의
- 별빛 돌다리는 수업을 위해 지어낸 문화유산이고, 안내 글도 직접 쓴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소중한 까닭(의미) 찾기]
목적: 안내판의 내용을 근거로 문화유산이 소중한 까닭(의미)을 말하는 연습을 합니다(목표 B).
시간: 약 3분
이렇게 말해 보세요
- “S08의 안내판을 다시 볼까? 무거운 돌을 엇갈려 놓은 것에서 옛날 사람들의 어떤 지혜를 알 수 있어?”
- “마을 사람들이 함께 돌을 날랐대. 그건 마을 사람들에게 어떤 뜻이 있었을까?”
정답
- ① 큰비에도 떠내려가지 않게 돌을 엇갈려 놓은 지혜를 알 수 있어요. 시냇물을 건너며 살던 생활도 알 수 있어요.
- ② 마을 사람들이 힘을 모아 함께 만든 다리라서 마을 사람들의 협동을 보여 줘요.
- ③ 한 번 무너지거나 없어지면 다시 같은 것을 만들 수 없고, 옛날 별빛마을의 모습을 알려 주기 때문이에요.
- 기준: 안내판의 내용(엇갈려 놓은 돌, 함께 날라 만듦 등)을 근거로 들면 맞음
막히면
- “만약 이 다리가 없어지면 무엇을 알 수 없게 될까?”라고 거꾸로 묻습니다.
주의
- ‘오래돼서요’만 말하면 “오래된 것에서 무엇을 알 수 있어?”라고 한 번 더 묻습니다(오해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우리 지역 문화유산 조사(부모와 함께)]
목적: 우리 지역의 실제 문화유산 하나를 부모와 함께 조사해 기록표에 쓰게 합니다(목표 B). 수업 시간에는 찾아서 고르기까지 하고, 직접 가 보는 것은 수업 뒤에 해도 됩니다.
시간: 약 5분
이렇게 말해 보세요
- “우리 지역(시·군·구) 누리집에서 ‘문화유산’이나 ‘문화 관광’ 메뉴를 찾아볼까? 지도 앱에 ‘문화유산’을 넣어 찾아봐도 돼.”
- “여러 개가 나오면 가장 가깝거나 궁금한 것 하나를 골라 보자. 안내 글에서 기록표의 다섯 가지를 찾아볼까?”
예상 답
- 우리 지역의 옛 건물, 비석, 오래된 나무, 다리, 절, 지역 축제나 놀이 등 사는 곳에 따라 다릅니다.
정답
- 기준: 기록표에 이름·있는 곳·모습(쓰임)·소중한 까닭·알아본 곳을 모두 쓰면 잘한 것입니다. 소중한 까닭은 자료의 내용을 근거로 들어야 합니다. 어떤 문화유산인지는 사는 곳에 따라 다르므로 정해진 답이 없습니다.
막히면
- 누리집에서 찾기 어려우면 지역 박물관·문화원의 안내 자료, 동네 안내 지도, 이웃 어르신께 여쭙기로 바꿉니다.
- 아이가 고르기 어려워하면 부모가 두 가지를 보여 주고 하나를 고르게 합니다.
주의
- 인터넷 정보는 지역 관청이나 박물관처럼 믿을 만한 곳의 것을 먼저 씁니다.
- 실제 문화유산의 연도나 인물은 자료에 쓰인 대로 옮겨 적고, 자료마다 다르면 ‘자료에 따라 다르다’고 적게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보기(뜻과 나누기)]
목적: 도움 없이 문화유산의 뜻을 말하고 처음 보는 예를 나누는지 확인합니다(목표 A).
시간: 약 4분
이렇게 말해 보세요
- “이번에는 혼자 해 볼래? 왜 그렇게 생각했는지도 말해 줘.”
정답
- ① 예: 옛날부터 전해 내려오는 것 가운데 소중해서 후손에게 물려줄 것
- ② 모양이 있어요(성)
- ③ 모양이 없어요(노래)
- ④ 모양이 없어요(기술). 기술로 만든 도자기는 모양이 있지만, 굽는 기술은 사람이 배우고 이어 갑니다.
막히면
- “손으로 만질 수 있어?” 한 가지만 묻습니다.
- 도움을 받아 풀었다면 기록표에 ‘도움’으로 표시합니다.
주의
- ①은 ‘옛날 것’만 말하면 ‘소중해서 물려줄 것’까지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답은 왼쪽과 같아? ④는 도자기와 도자기를 굽는 기술 가운데 무엇을 물었을까?”
예상 답
- “기술을 물었으니까 모양이 없어요.”
정답
- ① 옛날부터 전해 내려오는 것 가운데 소중해서 후손에게 물려줄 것 ② 있어요 ③ 없어요 ④ 없어요
막히면
- S04의 표를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확인(처음 보는 안내 글)]
목적: 처음 보는 안내 글을 읽고 문화유산의 종류를 나누고, 글을 근거로 소중한 까닭을 말하는지 확인합니다(목표 A·B).
시간: 약 3분
이렇게 말해 보세요
- “혼자 읽고 ①, ②에 답해 볼래? ②는 글의 어느 부분을 보고 생각했는지도 말해 줘.”
정답
- ① 모양이 없는 문화유산(노래)
- ② 예: 여럿이 노래하며 손을 맞추어 힘든 일을 함께 즐겁게 한 옛날 사람들의 지혜를 알 수 있어요. / 별빛마을 사람들이 함께 농사짓던 생활을 알려 줘요. (글의 내용을 근거로 들면 맞음)
막히면
- ②가 어려우면 “노래 덕분에 무엇을 할 수 있었대?”라고 셋째 문단을 가리킵니다. 그래도 어려우면 기록표에 ‘도움’으로 적습니다.
주의
- 별빛 모심기 소리는 수업을 위해 지어낸 문화유산입니다. 실제로 지역마다 일하며 부르던 노래가 전해지는 곳이 많다고 덧붙여도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문화유산을 아끼는 태도를 이야기한 뒤, 다음 수업의 복습 질문을 알려 줍니다.
시간: 약 2분
이렇게 말해 보세요
- “문화유산을 아끼려면 우리는 무엇을 할 수 있을까?”
예상 답
- “낙서하지 않아요.” “만지지 말라는 곳은 안 만져요.” “다른 사람에게 소개해요.”
정답
- ① 옛날부터 전해 내려오는 것 가운데 소중해서 후손에게 물려줄 것 ② 예: 판소리, 강강술래, 탈춤, 아리랑 ③ 이름, 있는 곳, 모습(쓰임), 의미(소중한 까닭), 알아본 곳
막히면
- S03, S04, S07을 다시 보여 줍니다.
주의
- 활동지 4의 조사는 다음 수업 전까지 함께 해 오면 좋습니다. 다음 차시 ‘지역의 역사’에서도 우리 지역을 조사합니다.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보충(옛날 도구와 오늘 도구)]
목적: 옛날 도구와 오늘 도구를 하는 일로 짝지으며, 옛것에서 옛날 생활을 읽는 연습을 합니다.
시간: 약 4분
이렇게 말해 보세요
- “맷돌과 믹서는 둘 다 무엇을 해? 옛날에는 사람이 손으로 돌렸고, 지금은 전기로 돌려.”
- “옛날 도구를 보면 그때 사람들의 생활이 어땠을 것 같아?”
정답
- 맷돌 – 믹서, 등잔 – 전등, 다듬잇돌과 방망이 – 다리미. 예: 옛날에는 사람의 힘으로 일을 많이 해서 시간과 힘이 많이 들었을 거예요.
막히면
- 집에 있는 믹서, 전등, 다리미를 직접 보여 주며 하는 일을 말하게 합니다.
- 보충으로도 어렵다면 3학년 ‘생활 도구의 변화’(KR22-G03-SOC-TOOLS-L01)를 먼저 합니다. 이 차시는 계획상 바로 앞의 선수 차시가 없습니다.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지역사와유산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지역의 문화유산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지역의 문화유산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사회·역사 · 지역의 문화유산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지역의 문화유산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지역에는 오래도록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 온 것이 무엇일까요?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문화유산의 뜻을 알고 두 가지로 나눌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문화유산을 조사하고 소중한 까닭을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물건, 오늘 물건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 때 배운 것을 떠올려요.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맷돌로 하던 일을 오늘날에는 무엇으로 하나요?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등잔 대신 오늘날 쓰는 것은?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물건을 보면 무엇을 알 수 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문화유산이란?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옛날부터 전해 내려오는 것 가운데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소중해서 후손에게 물려줄 것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문화유산에는 조상들의 생활과 지혜가 담겨 있어요.</a:t>
            </a:r>
            <a:endParaRPr lang="ko-KR" sz="3000" dirty="0"/>
          </a:p>
        </p:txBody>
      </p:sp>
      <p:sp>
        <p:nvSpPr>
          <p:cNvPr id="6" name="S03-card13"/>
          <p:cNvSpPr/>
          <p:nvPr/>
        </p:nvSpPr>
        <p:spPr>
          <a:xfrm>
            <a:off x="548640" y="2682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81940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건물·탑·성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옛사람들이 지은 것</a:t>
            </a:r>
            <a:endParaRPr lang="ko-KR" sz="3000" dirty="0"/>
          </a:p>
        </p:txBody>
      </p:sp>
      <p:sp>
        <p:nvSpPr>
          <p:cNvPr id="8" name="S03-card15"/>
          <p:cNvSpPr/>
          <p:nvPr/>
        </p:nvSpPr>
        <p:spPr>
          <a:xfrm>
            <a:off x="4322064" y="2682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81940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책·그림·물건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옛사람들이 남긴 것</a:t>
            </a:r>
            <a:endParaRPr lang="ko-KR" sz="30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682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81940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놀이·노래·기술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사람들이 이어 온 것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문화유산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없는 문화유산은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사람들이 배우고 이어 가야 지킬 수 있어요.</a:t>
            </a:r>
            <a:endParaRPr lang="ko-KR" sz="3000" dirty="0"/>
          </a:p>
        </p:txBody>
      </p:sp>
      <p:graphicFrame>
        <p:nvGraphicFramePr>
          <p:cNvPr id="5" name="S04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933956"/>
          <a:ext cx="109728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4608576"/>
                <a:gridCol w="37307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나누기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어떤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널리 알려진 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모양이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(유형)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건물·탑·책처럼 보고 만질 수 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불국사·석굴암(경주),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수원 화성(수원)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모양이 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(무형)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놀이·노래·춤·기술처럼 사람이 배우고 이어 가요.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판소리,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강강술래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쪽일까요?</a:t>
            </a:r>
            <a:endParaRPr lang="ko-KR" sz="4000" dirty="0"/>
          </a:p>
        </p:txBody>
      </p:sp>
      <p:sp>
        <p:nvSpPr>
          <p:cNvPr id="3" name="S05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있는 문화유산일까요, 없는 문화유산일까요?</a:t>
            </a:r>
            <a:endParaRPr lang="ko-KR" sz="3000" dirty="0"/>
          </a:p>
        </p:txBody>
      </p:sp>
      <p:sp>
        <p:nvSpPr>
          <p:cNvPr id="4" name="S05-chip2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5-text2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 돌다리</a:t>
            </a:r>
            <a:endParaRPr lang="ko-KR" sz="3000" dirty="0"/>
          </a:p>
        </p:txBody>
      </p:sp>
      <p:sp>
        <p:nvSpPr>
          <p:cNvPr id="6" name="S05-chip2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5-text2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 줄다리기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(대보름 놀이)</a:t>
            </a:r>
            <a:endParaRPr lang="ko-KR" sz="3000" dirty="0"/>
          </a:p>
        </p:txBody>
      </p:sp>
      <p:sp>
        <p:nvSpPr>
          <p:cNvPr id="8" name="S05-chip2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5-text2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선비가 쓴 일기책</a:t>
            </a:r>
            <a:endParaRPr lang="ko-KR" sz="3000" dirty="0"/>
          </a:p>
        </p:txBody>
      </p:sp>
      <p:sp>
        <p:nvSpPr>
          <p:cNvPr id="10" name="S05-chip2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5-text3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탈을 쓰고 추는 탈춤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놀이도 문화유산일까요?</a:t>
            </a:r>
            <a:endParaRPr lang="ko-KR" sz="4000" dirty="0"/>
          </a:p>
        </p:txBody>
      </p:sp>
      <p:sp>
        <p:nvSpPr>
          <p:cNvPr id="3" name="S06-card3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강강술래를 두고 두 친구가 이야기해요.</a:t>
            </a:r>
            <a:endParaRPr lang="ko-KR" sz="3000" dirty="0"/>
          </a:p>
        </p:txBody>
      </p:sp>
      <p:sp>
        <p:nvSpPr>
          <p:cNvPr id="5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왜 그렇게 생각하나요?</a:t>
            </a:r>
            <a:endParaRPr lang="ko-KR" sz="3000" dirty="0"/>
          </a:p>
        </p:txBody>
      </p:sp>
      <p:sp>
        <p:nvSpPr>
          <p:cNvPr id="7" name="S06-chip3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6-text3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“손으로 만질 수 없으니까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문화유산이 아니에요.”</a:t>
            </a:r>
            <a:endParaRPr lang="ko-KR" sz="3000" dirty="0"/>
          </a:p>
        </p:txBody>
      </p:sp>
      <p:sp>
        <p:nvSpPr>
          <p:cNvPr id="9" name="S06-chip3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6-text3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“사람들이 오래 이어 온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소중한 놀이니까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문화유산이에요.”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알아볼까요?</a:t>
            </a:r>
            <a:endParaRPr lang="ko-KR" sz="4000" dirty="0"/>
          </a:p>
        </p:txBody>
      </p:sp>
      <p:sp>
        <p:nvSpPr>
          <p:cNvPr id="3" name="S07-card3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있는 곳 · 모습 · 의미, 그리고 알아본 곳을 기록해요.</a:t>
            </a:r>
            <a:endParaRPr lang="ko-KR" sz="3000" dirty="0"/>
          </a:p>
        </p:txBody>
      </p:sp>
      <p:sp>
        <p:nvSpPr>
          <p:cNvPr id="5" name="S07-card41"/>
          <p:cNvSpPr/>
          <p:nvPr/>
        </p:nvSpPr>
        <p:spPr>
          <a:xfrm>
            <a:off x="548640" y="1325880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42"/>
          <p:cNvSpPr txBox="1"/>
          <p:nvPr/>
        </p:nvSpPr>
        <p:spPr>
          <a:xfrm>
            <a:off x="822960" y="1463040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 앞에 세워 둔 설명</a:t>
            </a:r>
            <a:endParaRPr lang="ko-KR" sz="3000" dirty="0"/>
          </a:p>
        </p:txBody>
      </p:sp>
      <p:sp>
        <p:nvSpPr>
          <p:cNvPr id="7" name="S07-card43"/>
          <p:cNvSpPr/>
          <p:nvPr/>
        </p:nvSpPr>
        <p:spPr>
          <a:xfrm>
            <a:off x="6208776" y="1325880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4"/>
          <p:cNvSpPr txBox="1"/>
          <p:nvPr/>
        </p:nvSpPr>
        <p:spPr>
          <a:xfrm>
            <a:off x="6483096" y="1463040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누리집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시청·군청·구청의 문화 안내</a:t>
            </a:r>
            <a:endParaRPr lang="ko-KR" sz="3000" dirty="0"/>
          </a:p>
        </p:txBody>
      </p:sp>
      <p:sp>
        <p:nvSpPr>
          <p:cNvPr id="9" name="S07-card45"/>
          <p:cNvSpPr/>
          <p:nvPr/>
        </p:nvSpPr>
        <p:spPr>
          <a:xfrm>
            <a:off x="548640" y="3142488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46"/>
          <p:cNvSpPr txBox="1"/>
          <p:nvPr/>
        </p:nvSpPr>
        <p:spPr>
          <a:xfrm>
            <a:off x="822960" y="3279648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박물관·문화원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지역의 옛 물건과 자료</a:t>
            </a:r>
            <a:endParaRPr lang="ko-KR" sz="3000" dirty="0"/>
          </a:p>
        </p:txBody>
      </p:sp>
      <p:sp>
        <p:nvSpPr>
          <p:cNvPr id="11" name="S07-card47"/>
          <p:cNvSpPr/>
          <p:nvPr/>
        </p:nvSpPr>
        <p:spPr>
          <a:xfrm>
            <a:off x="6208776" y="3142488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7-cardtext48"/>
          <p:cNvSpPr txBox="1"/>
          <p:nvPr/>
        </p:nvSpPr>
        <p:spPr>
          <a:xfrm>
            <a:off x="6483096" y="3279648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어르신께 여쭙기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어른의 기억과 이야기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안내판을 읽어요</a:t>
            </a:r>
            <a:endParaRPr lang="ko-KR" sz="4000" dirty="0"/>
          </a:p>
        </p:txBody>
      </p:sp>
      <p:sp>
        <p:nvSpPr>
          <p:cNvPr id="3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있는 곳 · 모습 · 의미를 찾아 짚어 봐요.</a:t>
            </a:r>
            <a:endParaRPr lang="ko-KR" sz="3000" dirty="0"/>
          </a:p>
        </p:txBody>
      </p:sp>
      <p:sp>
        <p:nvSpPr>
          <p:cNvPr id="5" name="S08-passagebox5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5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 돌다리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곳: 별빛시 냇가마을 앞 시냇물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냇물을 건너려고 넓적한 돌을 놓아 만든 옛 다리입니다.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큰비에도 떠내려가지 않게 무거운 돌을 엇갈려 놓았습니다.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 사람들이 함께 돌을 날라 만들었다고 전해집니다.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별빛시에서 보호하고 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소중할까요?</a:t>
            </a:r>
            <a:endParaRPr lang="ko-KR" sz="4000" dirty="0"/>
          </a:p>
        </p:txBody>
      </p:sp>
      <p:sp>
        <p:nvSpPr>
          <p:cNvPr id="3" name="S09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 돌다리는 왜 소중할까요?</a:t>
            </a:r>
            <a:endParaRPr lang="ko-KR" sz="3000" dirty="0"/>
          </a:p>
        </p:txBody>
      </p:sp>
      <p:sp>
        <p:nvSpPr>
          <p:cNvPr id="4" name="S09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안내판에 쓰인 말을 근거로 들어 말해요.</a:t>
            </a:r>
            <a:endParaRPr lang="ko-KR" sz="3000" dirty="0"/>
          </a:p>
        </p:txBody>
      </p:sp>
      <p:sp>
        <p:nvSpPr>
          <p:cNvPr id="6" name="S09-chip5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5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사람들의 생활이나 지혜를 알 수 있나요?</a:t>
            </a:r>
            <a:endParaRPr lang="ko-KR" sz="3000" dirty="0"/>
          </a:p>
        </p:txBody>
      </p:sp>
      <p:sp>
        <p:nvSpPr>
          <p:cNvPr id="8" name="S09-chip5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5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 사람들에게 어떤 뜻이 있었을까요?</a:t>
            </a:r>
            <a:endParaRPr lang="ko-KR" sz="3000" dirty="0"/>
          </a:p>
        </p:txBody>
      </p:sp>
      <p:sp>
        <p:nvSpPr>
          <p:cNvPr id="10" name="S09-chip6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6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지켜야 하는 까닭은?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 문화유산 찾기</a:t>
            </a:r>
            <a:endParaRPr lang="ko-KR" sz="4000" dirty="0"/>
          </a:p>
        </p:txBody>
      </p:sp>
      <p:sp>
        <p:nvSpPr>
          <p:cNvPr id="3" name="S10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조사해요.</a:t>
            </a:r>
            <a:endParaRPr lang="ko-KR" sz="3000" dirty="0"/>
          </a:p>
        </p:txBody>
      </p:sp>
      <p:sp>
        <p:nvSpPr>
          <p:cNvPr id="4" name="S10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직접 갈 때는 꼭 어른과 함께 가요.</a:t>
            </a:r>
            <a:endParaRPr lang="ko-KR" sz="3000" dirty="0"/>
          </a:p>
        </p:txBody>
      </p:sp>
      <p:sp>
        <p:nvSpPr>
          <p:cNvPr id="6" name="S10-card65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66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이름과 있는 곳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모습이나 쓰임 한 가지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소중한 까닭 한 가지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알아본 곳</a:t>
            </a:r>
            <a:endParaRPr lang="ko-KR" sz="3000" dirty="0"/>
          </a:p>
        </p:txBody>
      </p:sp>
      <p:sp>
        <p:nvSpPr>
          <p:cNvPr id="8" name="S10-stepno67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10-text68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누리집이나 지도 앱에서 찾아요.</a:t>
            </a:r>
            <a:endParaRPr lang="ko-KR" sz="2400" dirty="0"/>
          </a:p>
        </p:txBody>
      </p:sp>
      <p:sp>
        <p:nvSpPr>
          <p:cNvPr id="10" name="S10-stepno69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10-text70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안내 글을 읽어요.</a:t>
            </a:r>
            <a:endParaRPr lang="ko-KR" sz="2400" dirty="0"/>
          </a:p>
        </p:txBody>
      </p:sp>
      <p:sp>
        <p:nvSpPr>
          <p:cNvPr id="12" name="S10-stepno71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10-text72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4에 기록해요.</a:t>
            </a:r>
            <a:endParaRPr lang="ko-KR" sz="2400" dirty="0"/>
          </a:p>
        </p:txBody>
      </p:sp>
      <p:sp>
        <p:nvSpPr>
          <p:cNvPr id="14" name="S10-stepno73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10-text74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 수 있으면 직접 가 봐요.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7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1-text7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문화유산이 무엇인지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말로 말해요.</a:t>
            </a:r>
            <a:endParaRPr lang="ko-KR" sz="3000" dirty="0"/>
          </a:p>
        </p:txBody>
      </p:sp>
      <p:sp>
        <p:nvSpPr>
          <p:cNvPr id="5" name="S11-chip7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1-text7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수원 화성은 모양이 있나요, 없나요?</a:t>
            </a:r>
            <a:endParaRPr lang="ko-KR" sz="3000" dirty="0"/>
          </a:p>
        </p:txBody>
      </p:sp>
      <p:sp>
        <p:nvSpPr>
          <p:cNvPr id="7" name="S11-chip7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1-text80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아리랑(노래)은 모양이 있나요, 없나요?</a:t>
            </a:r>
            <a:endParaRPr lang="ko-KR" sz="3000" dirty="0"/>
          </a:p>
        </p:txBody>
      </p:sp>
      <p:sp>
        <p:nvSpPr>
          <p:cNvPr id="9" name="S11-chip81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0" name="S11-text82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도자기를 굽는 기술은?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없는 것도 사람들이 이어 가면 문화유산이에요.</a:t>
            </a:r>
            <a:endParaRPr lang="ko-KR" sz="3000" dirty="0"/>
          </a:p>
        </p:txBody>
      </p:sp>
      <p:sp>
        <p:nvSpPr>
          <p:cNvPr id="5" name="S12-chip8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86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소중한 옛것</a:t>
            </a:r>
            <a:endParaRPr lang="ko-KR" sz="3000" dirty="0"/>
          </a:p>
        </p:txBody>
      </p:sp>
      <p:sp>
        <p:nvSpPr>
          <p:cNvPr id="7" name="S12-text87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물려줄 것</a:t>
            </a:r>
            <a:endParaRPr lang="ko-KR" sz="2400" dirty="0"/>
          </a:p>
        </p:txBody>
      </p:sp>
      <p:sp>
        <p:nvSpPr>
          <p:cNvPr id="8" name="S12-text88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있어요</a:t>
            </a:r>
            <a:endParaRPr lang="ko-KR" sz="3000" dirty="0"/>
          </a:p>
        </p:txBody>
      </p:sp>
      <p:sp>
        <p:nvSpPr>
          <p:cNvPr id="9" name="S12-text89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</a:t>
            </a:r>
            <a:endParaRPr lang="ko-KR" sz="2400" dirty="0"/>
          </a:p>
        </p:txBody>
      </p:sp>
      <p:sp>
        <p:nvSpPr>
          <p:cNvPr id="10" name="S12-text90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없어요</a:t>
            </a:r>
            <a:endParaRPr lang="ko-KR" sz="3000" dirty="0"/>
          </a:p>
        </p:txBody>
      </p:sp>
      <p:sp>
        <p:nvSpPr>
          <p:cNvPr id="11" name="S12-text91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</a:t>
            </a:r>
            <a:endParaRPr lang="ko-KR" sz="2400" dirty="0"/>
          </a:p>
        </p:txBody>
      </p:sp>
      <p:sp>
        <p:nvSpPr>
          <p:cNvPr id="12" name="S12-text92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없어요</a:t>
            </a:r>
            <a:endParaRPr lang="ko-KR" sz="3000" dirty="0"/>
          </a:p>
        </p:txBody>
      </p:sp>
      <p:sp>
        <p:nvSpPr>
          <p:cNvPr id="13" name="S12-text93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</a:t>
            </a:r>
            <a:endParaRPr lang="ko-KR" sz="2400" dirty="0"/>
          </a:p>
        </p:txBody>
      </p:sp>
      <p:sp>
        <p:nvSpPr>
          <p:cNvPr id="14" name="S12-chip9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2-text9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오래된 것</a:t>
            </a:r>
            <a:endParaRPr lang="ko-KR" sz="3000" dirty="0"/>
          </a:p>
        </p:txBody>
      </p:sp>
      <p:sp>
        <p:nvSpPr>
          <p:cNvPr id="16" name="S12-text9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‘소중해서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물려줄’이 빠짐</a:t>
            </a:r>
            <a:endParaRPr lang="ko-KR" sz="2400" dirty="0"/>
          </a:p>
        </p:txBody>
      </p:sp>
      <p:sp>
        <p:nvSpPr>
          <p:cNvPr id="17" name="S12-text9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있어요</a:t>
            </a:r>
            <a:endParaRPr lang="ko-KR" sz="3000" dirty="0"/>
          </a:p>
        </p:txBody>
      </p:sp>
      <p:sp>
        <p:nvSpPr>
          <p:cNvPr id="18" name="S12-text9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도자기와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굽는 기술을 헷갈림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보는 안내 글</a:t>
            </a:r>
            <a:endParaRPr lang="ko-KR" sz="4000" dirty="0"/>
          </a:p>
        </p:txBody>
      </p:sp>
      <p:sp>
        <p:nvSpPr>
          <p:cNvPr id="3" name="S13-card9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10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모양이 있는 문화유산일까요, 없는 것일까요?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소중한 까닭을 글에서 찾아 말해요.</a:t>
            </a:r>
            <a:endParaRPr lang="ko-KR" sz="3000" dirty="0"/>
          </a:p>
        </p:txBody>
      </p:sp>
      <p:sp>
        <p:nvSpPr>
          <p:cNvPr id="5" name="S13-passagebox101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102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 모심기 소리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별빛마을 사람들이 모를 심을 때 함께 부르던 노래입니다.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앞소리를 하면 여럿이 뒷소리를 받으며 손을 맞추어 모를 심었습니다.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 덕분에 힘든 일도 함께 즐겁게 할 수 있었습니다.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별빛시 사람들이 배우며 이어 가고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03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4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문화유산은 옛날부터 전해 내려온 소중한 것이에요.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있는 것도, 없는 것도 있어요.</a:t>
            </a:r>
            <a:endParaRPr lang="ko-KR" sz="3000" dirty="0"/>
          </a:p>
        </p:txBody>
      </p:sp>
      <p:sp>
        <p:nvSpPr>
          <p:cNvPr id="5" name="S14-chip105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안내판을 읽고 아끼기</a:t>
            </a:r>
            <a:endParaRPr lang="ko-KR" sz="2400" dirty="0"/>
          </a:p>
        </p:txBody>
      </p:sp>
      <p:sp>
        <p:nvSpPr>
          <p:cNvPr id="6" name="S14-chip106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낙서하거나 함부로 만지기</a:t>
            </a:r>
            <a:endParaRPr lang="ko-KR" sz="2400" dirty="0"/>
          </a:p>
        </p:txBody>
      </p:sp>
      <p:sp>
        <p:nvSpPr>
          <p:cNvPr id="7" name="S14-text107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108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문화유산의 뜻은?</a:t>
            </a:r>
            <a:endParaRPr lang="ko-KR" sz="2400" dirty="0"/>
          </a:p>
        </p:txBody>
      </p:sp>
      <p:sp>
        <p:nvSpPr>
          <p:cNvPr id="9" name="S14-text109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모양이 없는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문화유산의 예는?</a:t>
            </a:r>
            <a:endParaRPr lang="ko-KR" sz="2400" dirty="0"/>
          </a:p>
        </p:txBody>
      </p:sp>
      <p:sp>
        <p:nvSpPr>
          <p:cNvPr id="10" name="S14-text110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조사할 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기록할 것은?</a:t>
            </a:r>
            <a:endParaRPr lang="ko-KR" sz="2400" dirty="0"/>
          </a:p>
        </p:txBody>
      </p:sp>
      <p:sp>
        <p:nvSpPr>
          <p:cNvPr id="11" name="S14-text11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지역의 역사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옛날 도구, 오늘 도구</a:t>
            </a:r>
            <a:endParaRPr lang="ko-KR" sz="4000" dirty="0"/>
          </a:p>
        </p:txBody>
      </p:sp>
      <p:sp>
        <p:nvSpPr>
          <p:cNvPr id="3" name="S15-text1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일이 같은 것끼리 짝지어요.</a:t>
            </a:r>
            <a:endParaRPr lang="ko-KR" sz="3000" dirty="0"/>
          </a:p>
        </p:txBody>
      </p:sp>
      <p:sp>
        <p:nvSpPr>
          <p:cNvPr id="4" name="S15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도구에는 그때 사람들의 생활과 지혜가 담겨 있어요.</a:t>
            </a:r>
            <a:endParaRPr lang="ko-KR" sz="3000" dirty="0"/>
          </a:p>
        </p:txBody>
      </p:sp>
      <p:graphicFrame>
        <p:nvGraphicFramePr>
          <p:cNvPr id="16" name="S15-table1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3419856"/>
                <a:gridCol w="3822192"/>
                <a:gridCol w="28163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옛날 도구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 도구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맷돌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곡식을 갈아요.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믹서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불을 밝혀요.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다듬잇돌과 방망이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옷감을 두드려 펴요.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사회·역사 지역의 문화유산</dc:title>
  <dc:subject>KR22-G04-SOC-HERITAGE-L01</dc:subject>
  <dc:creator>education-ppt</dc:creator>
  <cp:lastModifiedBy>education-ppt</cp:lastModifiedBy>
  <cp:revision>1</cp:revision>
  <dcterms:created xsi:type="dcterms:W3CDTF">2026-10-26T09:51:57Z</dcterms:created>
  <dcterms:modified xsi:type="dcterms:W3CDTF">2026-10-26T09:51:57Z</dcterms:modified>
</cp:coreProperties>
</file>