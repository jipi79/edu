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0a56539a-b34b-9702-1ffc-6c707f0994e3}">
          <p14:sldIdLst>
            <p14:sldId id="256"/>
            <p14:sldId id="257"/>
          </p14:sldIdLst>
        </p14:section>
        <p14:section name="개념" id="{884c9987-219e-bb4b-4aa3-ecf0b57c74a5}">
          <p14:sldIdLst>
            <p14:sldId id="258"/>
            <p14:sldId id="259"/>
            <p14:sldId id="262"/>
            <p14:sldId id="263"/>
          </p14:sldIdLst>
        </p14:section>
        <p14:section name="연습" id="{bcd5cca0-4c24-c0d8-21e8-bd07a701166c}">
          <p14:sldIdLst>
            <p14:sldId id="260"/>
            <p14:sldId id="261"/>
            <p14:sldId id="264"/>
            <p14:sldId id="265"/>
          </p14:sldIdLst>
        </p14:section>
        <p14:section name="개념" id="{11b609e5-f684-cce6-7f57-284cbb8ad790}">
          <p14:sldIdLst/>
        </p14:section>
        <p14:section name="연습" id="{ec0217b3-bc6a-ad16-99f0-61b4e69f5fdb}">
          <p14:sldIdLst/>
        </p14:section>
        <p14:section name="확인" id="{9fb3bb70-536a-c9b2-31cc-ab4a8aa4cd01}">
          <p14:sldIdLst>
            <p14:sldId id="266"/>
            <p14:sldId id="267"/>
          </p14:sldIdLst>
        </p14:section>
        <p14:section name="정리" id="{f34aed75-c28b-0cd6-d30c-b4c6cdcb9ff3}">
          <p14:sldIdLst>
            <p14:sldId id="268"/>
          </p14:sldIdLst>
        </p14:section>
        <p14:section name="보충" id="{e86e90c6-a50f-e4c1-b4d0-c59bb99b3516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사회·역사 · 지역사와유산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사회·역사 · 지역의 문화유산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사회·역사 · 지역의 문화유산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초4 사회·역사 · 지역의 문화유산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지역의 문화유산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지역에는 오래도록</a:t>
            </a:r>
            <a:endParaRPr lang="ko-KR" sz="3000" dirty="0"/>
          </a:p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지켜 온 것이 무엇일까요?</a:t>
            </a:r>
            <a:endParaRPr lang="ko-KR" sz="3000" dirty="0"/>
          </a:p>
        </p:txBody>
      </p:sp>
      <p:sp>
        <p:nvSpPr>
          <p:cNvPr id="4" name="S01-card1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문화유산의 뜻을 알고 두 가지로 나눌 수 있어요.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문화유산을 조사하고 소중한 까닭을 말할 수 있어요.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옛날 물건, 오늘 물건</a:t>
            </a:r>
            <a:endParaRPr lang="ko-KR" sz="40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3학년 때 배운 것을 떠올려요.</a:t>
            </a:r>
            <a:endParaRPr lang="ko-KR" sz="3000" dirty="0"/>
          </a:p>
        </p:txBody>
      </p:sp>
      <p:sp>
        <p:nvSpPr>
          <p:cNvPr id="4" name="S02-chip4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02-text5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맷돌로 하던 일을 오늘날에는 무엇으로 하나요?</a:t>
            </a:r>
            <a:endParaRPr lang="ko-KR" sz="3000" dirty="0"/>
          </a:p>
        </p:txBody>
      </p:sp>
      <p:sp>
        <p:nvSpPr>
          <p:cNvPr id="6" name="S02-chip6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02-text7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등잔 대신 오늘날 쓰는 것은?</a:t>
            </a:r>
            <a:endParaRPr lang="ko-KR" sz="3000" dirty="0"/>
          </a:p>
        </p:txBody>
      </p:sp>
      <p:sp>
        <p:nvSpPr>
          <p:cNvPr id="8" name="S02-chip8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" name="S02-text9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옛날 물건을 보면 무엇을 알 수 있을까요?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문화유산이란?</a:t>
            </a:r>
            <a:endParaRPr lang="ko-KR" sz="4000" dirty="0"/>
          </a:p>
        </p:txBody>
      </p:sp>
      <p:sp>
        <p:nvSpPr>
          <p:cNvPr id="3" name="S03-text10"/>
          <p:cNvSpPr txBox="1"/>
          <p:nvPr/>
        </p:nvSpPr>
        <p:spPr>
          <a:xfrm>
            <a:off x="548640" y="1325880"/>
            <a:ext cx="1109167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옛날부터 전해 내려오는 것 가운데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소중해서 후손에게 물려줄 것</a:t>
            </a:r>
            <a:endParaRPr lang="ko-KR" sz="3000" dirty="0"/>
          </a:p>
        </p:txBody>
      </p:sp>
      <p:sp>
        <p:nvSpPr>
          <p:cNvPr id="4" name="S03-card1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문화유산에는 조상들의 생활과 지혜가 담겨 있어요.</a:t>
            </a:r>
            <a:endParaRPr lang="ko-KR" sz="3000" dirty="0"/>
          </a:p>
        </p:txBody>
      </p:sp>
      <p:sp>
        <p:nvSpPr>
          <p:cNvPr id="6" name="S03-card13"/>
          <p:cNvSpPr/>
          <p:nvPr/>
        </p:nvSpPr>
        <p:spPr>
          <a:xfrm>
            <a:off x="548640" y="268224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3-cardtext14"/>
          <p:cNvSpPr txBox="1"/>
          <p:nvPr/>
        </p:nvSpPr>
        <p:spPr>
          <a:xfrm>
            <a:off x="822960" y="281940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건물·탑·성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옛사람들이 지은 것</a:t>
            </a:r>
            <a:endParaRPr lang="ko-KR" sz="3000" dirty="0"/>
          </a:p>
        </p:txBody>
      </p:sp>
      <p:sp>
        <p:nvSpPr>
          <p:cNvPr id="8" name="S03-card15"/>
          <p:cNvSpPr/>
          <p:nvPr/>
        </p:nvSpPr>
        <p:spPr>
          <a:xfrm>
            <a:off x="4322064" y="268224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3-cardtext16"/>
          <p:cNvSpPr txBox="1"/>
          <p:nvPr/>
        </p:nvSpPr>
        <p:spPr>
          <a:xfrm>
            <a:off x="4596384" y="281940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책·그림·물건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옛사람들이 남긴 것</a:t>
            </a:r>
            <a:endParaRPr lang="ko-KR" sz="3000" dirty="0"/>
          </a:p>
        </p:txBody>
      </p:sp>
      <p:sp>
        <p:nvSpPr>
          <p:cNvPr id="10" name="S03-card17"/>
          <p:cNvSpPr/>
          <p:nvPr/>
        </p:nvSpPr>
        <p:spPr>
          <a:xfrm>
            <a:off x="8095488" y="268224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3-cardtext18"/>
          <p:cNvSpPr txBox="1"/>
          <p:nvPr/>
        </p:nvSpPr>
        <p:spPr>
          <a:xfrm>
            <a:off x="8369808" y="281940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놀이·노래·기술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사람들이 이어 온 것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가지 문화유산</a:t>
            </a:r>
            <a:endParaRPr lang="ko-KR" sz="4000" dirty="0"/>
          </a:p>
        </p:txBody>
      </p:sp>
      <p:sp>
        <p:nvSpPr>
          <p:cNvPr id="3" name="S04-card19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20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모양이 없는 문화유산은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사람들이 배우고 이어 가야 지킬 수 있어요.</a:t>
            </a:r>
            <a:endParaRPr lang="ko-KR" sz="3000" dirty="0"/>
          </a:p>
        </p:txBody>
      </p:sp>
      <p:graphicFrame>
        <p:nvGraphicFramePr>
          <p:cNvPr id="5" name="S04-table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" y="1933956"/>
          <a:ext cx="10972800" cy="914400"/>
        </p:xfrm>
        <a:graphic>
          <a:graphicData uri="http://schemas.openxmlformats.org/drawingml/2006/table">
            <a:tbl>
              <a:tblPr/>
              <a:tblGrid>
                <a:gridCol w="2633472"/>
                <a:gridCol w="4608576"/>
                <a:gridCol w="3730752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나누기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어떤 것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널리 알려진 예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모양이 있어요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(유형)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건물·탑·책처럼 보고 만질 수 있어요.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불국사·석굴암(경주),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수원 화성(수원)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모양이 없어요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(무형)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놀이·노래·춤·기술처럼 사람이 배우고 이어 가요.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판소리,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강강술래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쪽일까요?</a:t>
            </a:r>
            <a:endParaRPr lang="ko-KR" sz="4000" dirty="0"/>
          </a:p>
        </p:txBody>
      </p:sp>
      <p:sp>
        <p:nvSpPr>
          <p:cNvPr id="3" name="S05-text2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모양이 있는 문화유산일까요, 없는 문화유산일까요?</a:t>
            </a:r>
            <a:endParaRPr lang="ko-KR" sz="3000" dirty="0"/>
          </a:p>
        </p:txBody>
      </p:sp>
      <p:sp>
        <p:nvSpPr>
          <p:cNvPr id="4" name="S05-chip23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05-text24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별빛 돌다리</a:t>
            </a:r>
            <a:endParaRPr lang="ko-KR" sz="3000" dirty="0"/>
          </a:p>
        </p:txBody>
      </p:sp>
      <p:sp>
        <p:nvSpPr>
          <p:cNvPr id="6" name="S05-chip25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05-text26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별빛 줄다리기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(대보름 놀이)</a:t>
            </a:r>
            <a:endParaRPr lang="ko-KR" sz="3000" dirty="0"/>
          </a:p>
        </p:txBody>
      </p:sp>
      <p:sp>
        <p:nvSpPr>
          <p:cNvPr id="8" name="S05-chip27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" name="S05-text28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옛날 선비가 쓴 일기책</a:t>
            </a:r>
            <a:endParaRPr lang="ko-KR" sz="3000" dirty="0"/>
          </a:p>
        </p:txBody>
      </p:sp>
      <p:sp>
        <p:nvSpPr>
          <p:cNvPr id="10" name="S05-chip29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1" name="S05-text30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탈을 쓰고 추는 탈춤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놀이도 문화유산일까요?</a:t>
            </a:r>
            <a:endParaRPr lang="ko-KR" sz="4000" dirty="0"/>
          </a:p>
        </p:txBody>
      </p:sp>
      <p:sp>
        <p:nvSpPr>
          <p:cNvPr id="3" name="S06-card31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6-cardtext32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강강술래를 두고 두 친구가 이야기해요.</a:t>
            </a:r>
            <a:endParaRPr lang="ko-KR" sz="3000" dirty="0"/>
          </a:p>
        </p:txBody>
      </p:sp>
      <p:sp>
        <p:nvSpPr>
          <p:cNvPr id="5" name="S06-card3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6-cardtext3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누구의 생각이 알맞을까요? 왜 그렇게 생각하나요?</a:t>
            </a:r>
            <a:endParaRPr lang="ko-KR" sz="3000" dirty="0"/>
          </a:p>
        </p:txBody>
      </p:sp>
      <p:sp>
        <p:nvSpPr>
          <p:cNvPr id="7" name="S06-chip35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400" dirty="0"/>
          </a:p>
        </p:txBody>
      </p:sp>
      <p:sp>
        <p:nvSpPr>
          <p:cNvPr id="8" name="S06-text36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“손으로 만질 수 없으니까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문화유산이 아니에요.”</a:t>
            </a:r>
            <a:endParaRPr lang="ko-KR" sz="3000" dirty="0"/>
          </a:p>
        </p:txBody>
      </p:sp>
      <p:sp>
        <p:nvSpPr>
          <p:cNvPr id="9" name="S06-chip37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400" dirty="0"/>
          </a:p>
        </p:txBody>
      </p:sp>
      <p:sp>
        <p:nvSpPr>
          <p:cNvPr id="10" name="S06-text38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“사람들이 오래 이어 온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소중한 놀이니까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문화유산이에요.”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어디에서 알아볼까요?</a:t>
            </a:r>
            <a:endParaRPr lang="ko-KR" sz="4000" dirty="0"/>
          </a:p>
        </p:txBody>
      </p:sp>
      <p:sp>
        <p:nvSpPr>
          <p:cNvPr id="3" name="S07-card39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40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 · 있는 곳 · 모습 · 의미, 그리고 알아본 곳을 기록해요.</a:t>
            </a:r>
            <a:endParaRPr lang="ko-KR" sz="3000" dirty="0"/>
          </a:p>
        </p:txBody>
      </p:sp>
      <p:sp>
        <p:nvSpPr>
          <p:cNvPr id="5" name="S07-card41"/>
          <p:cNvSpPr/>
          <p:nvPr/>
        </p:nvSpPr>
        <p:spPr>
          <a:xfrm>
            <a:off x="548640" y="1325880"/>
            <a:ext cx="5431536" cy="1588008"/>
          </a:xfrm>
          <a:prstGeom prst="roundRect">
            <a:avLst>
              <a:gd name="adj" fmla="val 691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7-cardtext42"/>
          <p:cNvSpPr txBox="1"/>
          <p:nvPr/>
        </p:nvSpPr>
        <p:spPr>
          <a:xfrm>
            <a:off x="822960" y="1463040"/>
            <a:ext cx="4882896" cy="1313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안내판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문화유산 앞에 세워 둔 설명</a:t>
            </a:r>
            <a:endParaRPr lang="ko-KR" sz="3000" dirty="0"/>
          </a:p>
        </p:txBody>
      </p:sp>
      <p:sp>
        <p:nvSpPr>
          <p:cNvPr id="7" name="S07-card43"/>
          <p:cNvSpPr/>
          <p:nvPr/>
        </p:nvSpPr>
        <p:spPr>
          <a:xfrm>
            <a:off x="6208776" y="1325880"/>
            <a:ext cx="5431536" cy="1588008"/>
          </a:xfrm>
          <a:prstGeom prst="roundRect">
            <a:avLst>
              <a:gd name="adj" fmla="val 691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7-cardtext44"/>
          <p:cNvSpPr txBox="1"/>
          <p:nvPr/>
        </p:nvSpPr>
        <p:spPr>
          <a:xfrm>
            <a:off x="6483096" y="1463040"/>
            <a:ext cx="4882896" cy="1313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지역 누리집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시청·군청·구청의 문화 안내</a:t>
            </a:r>
            <a:endParaRPr lang="ko-KR" sz="3000" dirty="0"/>
          </a:p>
        </p:txBody>
      </p:sp>
      <p:sp>
        <p:nvSpPr>
          <p:cNvPr id="9" name="S07-card45"/>
          <p:cNvSpPr/>
          <p:nvPr/>
        </p:nvSpPr>
        <p:spPr>
          <a:xfrm>
            <a:off x="548640" y="3142488"/>
            <a:ext cx="5431536" cy="1588008"/>
          </a:xfrm>
          <a:prstGeom prst="roundRect">
            <a:avLst>
              <a:gd name="adj" fmla="val 691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7-cardtext46"/>
          <p:cNvSpPr txBox="1"/>
          <p:nvPr/>
        </p:nvSpPr>
        <p:spPr>
          <a:xfrm>
            <a:off x="822960" y="3279648"/>
            <a:ext cx="4882896" cy="1313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박물관·문화원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지역의 옛 물건과 자료</a:t>
            </a:r>
            <a:endParaRPr lang="ko-KR" sz="3000" dirty="0"/>
          </a:p>
        </p:txBody>
      </p:sp>
      <p:sp>
        <p:nvSpPr>
          <p:cNvPr id="11" name="S07-card47"/>
          <p:cNvSpPr/>
          <p:nvPr/>
        </p:nvSpPr>
        <p:spPr>
          <a:xfrm>
            <a:off x="6208776" y="3142488"/>
            <a:ext cx="5431536" cy="1588008"/>
          </a:xfrm>
          <a:prstGeom prst="roundRect">
            <a:avLst>
              <a:gd name="adj" fmla="val 691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2" name="S07-cardtext48"/>
          <p:cNvSpPr txBox="1"/>
          <p:nvPr/>
        </p:nvSpPr>
        <p:spPr>
          <a:xfrm>
            <a:off x="6483096" y="3279648"/>
            <a:ext cx="4882896" cy="1313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어르신께 여쭙기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이웃 어른의 기억과 이야기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안내판을 읽어요</a:t>
            </a:r>
            <a:endParaRPr lang="ko-KR" sz="4000" dirty="0"/>
          </a:p>
        </p:txBody>
      </p:sp>
      <p:sp>
        <p:nvSpPr>
          <p:cNvPr id="3" name="S08-card4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8-cardtext5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 · 있는 곳 · 모습 · 의미를 찾아 짚어 봐요.</a:t>
            </a:r>
            <a:endParaRPr lang="ko-KR" sz="3000" dirty="0"/>
          </a:p>
        </p:txBody>
      </p:sp>
      <p:sp>
        <p:nvSpPr>
          <p:cNvPr id="5" name="S08-passagebox51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8-passage52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별빛 돌다리</a:t>
            </a:r>
            <a:endParaRPr lang="ko-KR" sz="32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있는 곳: 별빛시 냇가마을 앞 시냇물</a:t>
            </a:r>
            <a:endParaRPr lang="ko-KR" sz="32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냇물을 건너려고 넓적한 돌을 놓아 만든 옛 다리입니다.</a:t>
            </a:r>
            <a:endParaRPr lang="ko-KR" sz="32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큰비에도 떠내려가지 않게 무거운 돌을 엇갈려 놓았습니다.</a:t>
            </a:r>
            <a:endParaRPr lang="ko-KR" sz="32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마을 사람들이 함께 돌을 날라 만들었다고 전해집니다.</a:t>
            </a:r>
            <a:endParaRPr lang="ko-KR" sz="32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지금은 별빛시에서 보호하고 있습니다.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소중할까요?</a:t>
            </a:r>
            <a:endParaRPr lang="ko-KR" sz="4000" dirty="0"/>
          </a:p>
        </p:txBody>
      </p:sp>
      <p:sp>
        <p:nvSpPr>
          <p:cNvPr id="3" name="S09-text5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별빛 돌다리는 왜 소중할까요?</a:t>
            </a:r>
            <a:endParaRPr lang="ko-KR" sz="3000" dirty="0"/>
          </a:p>
        </p:txBody>
      </p:sp>
      <p:sp>
        <p:nvSpPr>
          <p:cNvPr id="4" name="S09-card5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9-cardtext5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안내판에 쓰인 말을 근거로 들어 말해요.</a:t>
            </a:r>
            <a:endParaRPr lang="ko-KR" sz="3000" dirty="0"/>
          </a:p>
        </p:txBody>
      </p:sp>
      <p:sp>
        <p:nvSpPr>
          <p:cNvPr id="6" name="S09-chip56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9-text57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옛날 사람들의 생활이나 지혜를 알 수 있나요?</a:t>
            </a:r>
            <a:endParaRPr lang="ko-KR" sz="3000" dirty="0"/>
          </a:p>
        </p:txBody>
      </p:sp>
      <p:sp>
        <p:nvSpPr>
          <p:cNvPr id="8" name="S09-chip58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9-text59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마을 사람들에게 어떤 뜻이 있었을까요?</a:t>
            </a:r>
            <a:endParaRPr lang="ko-KR" sz="3000" dirty="0"/>
          </a:p>
        </p:txBody>
      </p:sp>
      <p:sp>
        <p:nvSpPr>
          <p:cNvPr id="10" name="S09-chip60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09-text61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우리가 지켜야 하는 까닭은?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지역 문화유산 찾기</a:t>
            </a:r>
            <a:endParaRPr lang="ko-KR" sz="4000" dirty="0"/>
          </a:p>
        </p:txBody>
      </p:sp>
      <p:sp>
        <p:nvSpPr>
          <p:cNvPr id="3" name="S10-text6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엄마(아빠)와 함께 조사해요.</a:t>
            </a:r>
            <a:endParaRPr lang="ko-KR" sz="3000" dirty="0"/>
          </a:p>
        </p:txBody>
      </p:sp>
      <p:sp>
        <p:nvSpPr>
          <p:cNvPr id="4" name="S10-card6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0-cardtext6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직접 갈 때는 꼭 어른과 함께 가요.</a:t>
            </a:r>
            <a:endParaRPr lang="ko-KR" sz="3000" dirty="0"/>
          </a:p>
        </p:txBody>
      </p:sp>
      <p:sp>
        <p:nvSpPr>
          <p:cNvPr id="6" name="S10-card65"/>
          <p:cNvSpPr/>
          <p:nvPr/>
        </p:nvSpPr>
        <p:spPr>
          <a:xfrm>
            <a:off x="6813652" y="2011680"/>
            <a:ext cx="4826660" cy="3108960"/>
          </a:xfrm>
          <a:prstGeom prst="roundRect">
            <a:avLst>
              <a:gd name="adj" fmla="val 352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0-cardtext66"/>
          <p:cNvSpPr txBox="1"/>
          <p:nvPr/>
        </p:nvSpPr>
        <p:spPr>
          <a:xfrm>
            <a:off x="7087972" y="2148840"/>
            <a:ext cx="42780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이름과 있는 곳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모습이나 쓰임 한 가지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소중한 까닭 한 가지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알아본 곳</a:t>
            </a:r>
            <a:endParaRPr lang="ko-KR" sz="3000" dirty="0"/>
          </a:p>
        </p:txBody>
      </p:sp>
      <p:sp>
        <p:nvSpPr>
          <p:cNvPr id="8" name="S10-stepno67"/>
          <p:cNvSpPr txBox="1"/>
          <p:nvPr/>
        </p:nvSpPr>
        <p:spPr>
          <a:xfrm>
            <a:off x="548640" y="22219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9" name="S10-text68"/>
          <p:cNvSpPr txBox="1"/>
          <p:nvPr/>
        </p:nvSpPr>
        <p:spPr>
          <a:xfrm>
            <a:off x="1325880" y="222199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누리집이나 지도 앱에서 찾아요.</a:t>
            </a:r>
            <a:endParaRPr lang="ko-KR" sz="2400" dirty="0"/>
          </a:p>
        </p:txBody>
      </p:sp>
      <p:sp>
        <p:nvSpPr>
          <p:cNvPr id="10" name="S10-stepno69"/>
          <p:cNvSpPr txBox="1"/>
          <p:nvPr/>
        </p:nvSpPr>
        <p:spPr>
          <a:xfrm>
            <a:off x="548640" y="29352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1" name="S10-text70"/>
          <p:cNvSpPr txBox="1"/>
          <p:nvPr/>
        </p:nvSpPr>
        <p:spPr>
          <a:xfrm>
            <a:off x="1325880" y="293522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하나를 골라 안내 글을 읽어요.</a:t>
            </a:r>
            <a:endParaRPr lang="ko-KR" sz="2400" dirty="0"/>
          </a:p>
        </p:txBody>
      </p:sp>
      <p:sp>
        <p:nvSpPr>
          <p:cNvPr id="12" name="S10-stepno71"/>
          <p:cNvSpPr txBox="1"/>
          <p:nvPr/>
        </p:nvSpPr>
        <p:spPr>
          <a:xfrm>
            <a:off x="548640" y="36484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3" name="S10-text72"/>
          <p:cNvSpPr txBox="1"/>
          <p:nvPr/>
        </p:nvSpPr>
        <p:spPr>
          <a:xfrm>
            <a:off x="1325880" y="364845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활동지 4에 기록해요.</a:t>
            </a:r>
            <a:endParaRPr lang="ko-KR" sz="2400" dirty="0"/>
          </a:p>
        </p:txBody>
      </p:sp>
      <p:sp>
        <p:nvSpPr>
          <p:cNvPr id="14" name="S10-stepno73"/>
          <p:cNvSpPr txBox="1"/>
          <p:nvPr/>
        </p:nvSpPr>
        <p:spPr>
          <a:xfrm>
            <a:off x="548640" y="43616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5" name="S10-text74"/>
          <p:cNvSpPr txBox="1"/>
          <p:nvPr/>
        </p:nvSpPr>
        <p:spPr>
          <a:xfrm>
            <a:off x="1325880" y="436168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갈 수 있으면 직접 가 봐요.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chip75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4" name="S11-text76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문화유산이 무엇인지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말로 말해요.</a:t>
            </a:r>
            <a:endParaRPr lang="ko-KR" sz="3000" dirty="0"/>
          </a:p>
        </p:txBody>
      </p:sp>
      <p:sp>
        <p:nvSpPr>
          <p:cNvPr id="5" name="S11-chip77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6" name="S11-text78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수원 화성은 모양이 있나요, 없나요?</a:t>
            </a:r>
            <a:endParaRPr lang="ko-KR" sz="3000" dirty="0"/>
          </a:p>
        </p:txBody>
      </p:sp>
      <p:sp>
        <p:nvSpPr>
          <p:cNvPr id="7" name="S11-chip79"/>
          <p:cNvSpPr txBox="1"/>
          <p:nvPr/>
        </p:nvSpPr>
        <p:spPr>
          <a:xfrm>
            <a:off x="548640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8" name="S11-text80"/>
          <p:cNvSpPr txBox="1"/>
          <p:nvPr/>
        </p:nvSpPr>
        <p:spPr>
          <a:xfrm>
            <a:off x="1344168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아리랑(노래)은 모양이 있나요, 없나요?</a:t>
            </a:r>
            <a:endParaRPr lang="ko-KR" sz="3000" dirty="0"/>
          </a:p>
        </p:txBody>
      </p:sp>
      <p:sp>
        <p:nvSpPr>
          <p:cNvPr id="9" name="S11-chip81"/>
          <p:cNvSpPr txBox="1"/>
          <p:nvPr/>
        </p:nvSpPr>
        <p:spPr>
          <a:xfrm>
            <a:off x="6277356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0" name="S11-text82"/>
          <p:cNvSpPr txBox="1"/>
          <p:nvPr/>
        </p:nvSpPr>
        <p:spPr>
          <a:xfrm>
            <a:off x="7072884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도자기를 굽는 기술은?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 보는 안내 글</a:t>
            </a:r>
            <a:endParaRPr lang="ko-KR" sz="4000" dirty="0"/>
          </a:p>
        </p:txBody>
      </p:sp>
      <p:sp>
        <p:nvSpPr>
          <p:cNvPr id="3" name="S13-card83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3-cardtext84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모양이 있는 문화유산일까요, 없는 것일까요?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소중한 까닭을 글에서 찾아 말해요.</a:t>
            </a:r>
            <a:endParaRPr lang="ko-KR" sz="3000" dirty="0"/>
          </a:p>
        </p:txBody>
      </p:sp>
      <p:sp>
        <p:nvSpPr>
          <p:cNvPr id="5" name="S13-passagebox85"/>
          <p:cNvSpPr/>
          <p:nvPr/>
        </p:nvSpPr>
        <p:spPr>
          <a:xfrm>
            <a:off x="548640" y="1325880"/>
            <a:ext cx="11091672" cy="3404616"/>
          </a:xfrm>
          <a:prstGeom prst="roundRect">
            <a:avLst>
              <a:gd name="adj" fmla="val 2686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13-passage86"/>
          <p:cNvSpPr txBox="1"/>
          <p:nvPr/>
        </p:nvSpPr>
        <p:spPr>
          <a:xfrm>
            <a:off x="822960" y="1508760"/>
            <a:ext cx="10543032" cy="3038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별빛 모심기 소리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옛날 별빛마을 사람들이 모를 심을 때 함께 부르던 노래입니다.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사람이 앞소리를 하면 여럿이 뒷소리를 받으며 손을 맞추어 모를 심었습니다.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노래 덕분에 힘든 일도 함께 즐겁게 할 수 있었습니다.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지금은 별빛시 사람들이 배우며 이어 가고 있습니다.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87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88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문화유산은 옛날부터 전해 내려온 소중한 것이에요.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모양이 있는 것도, 없는 것도 있어요.</a:t>
            </a:r>
            <a:endParaRPr lang="ko-KR" sz="3000" dirty="0"/>
          </a:p>
        </p:txBody>
      </p:sp>
      <p:sp>
        <p:nvSpPr>
          <p:cNvPr id="5" name="S14-chip89"/>
          <p:cNvSpPr txBox="1"/>
          <p:nvPr/>
        </p:nvSpPr>
        <p:spPr>
          <a:xfrm>
            <a:off x="548640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안내판을 읽고 아끼기</a:t>
            </a:r>
            <a:endParaRPr lang="ko-KR" sz="2400" dirty="0"/>
          </a:p>
        </p:txBody>
      </p:sp>
      <p:sp>
        <p:nvSpPr>
          <p:cNvPr id="6" name="S14-chip90"/>
          <p:cNvSpPr txBox="1"/>
          <p:nvPr/>
        </p:nvSpPr>
        <p:spPr>
          <a:xfrm>
            <a:off x="6208776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낙서하거나 함부로 만지기</a:t>
            </a:r>
            <a:endParaRPr lang="ko-KR" sz="2400" dirty="0"/>
          </a:p>
        </p:txBody>
      </p:sp>
      <p:sp>
        <p:nvSpPr>
          <p:cNvPr id="7" name="S14-text91"/>
          <p:cNvSpPr txBox="1"/>
          <p:nvPr/>
        </p:nvSpPr>
        <p:spPr>
          <a:xfrm>
            <a:off x="548640" y="36362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4-text92"/>
          <p:cNvSpPr txBox="1"/>
          <p:nvPr/>
        </p:nvSpPr>
        <p:spPr>
          <a:xfrm>
            <a:off x="548640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문화유산의 뜻은?</a:t>
            </a:r>
            <a:endParaRPr lang="ko-KR" sz="2400" dirty="0"/>
          </a:p>
        </p:txBody>
      </p:sp>
      <p:sp>
        <p:nvSpPr>
          <p:cNvPr id="9" name="S14-text93"/>
          <p:cNvSpPr txBox="1"/>
          <p:nvPr/>
        </p:nvSpPr>
        <p:spPr>
          <a:xfrm>
            <a:off x="4322064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모양이 없는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문화유산의 예는?</a:t>
            </a:r>
            <a:endParaRPr lang="ko-KR" sz="2400" dirty="0"/>
          </a:p>
        </p:txBody>
      </p:sp>
      <p:sp>
        <p:nvSpPr>
          <p:cNvPr id="10" name="S14-text94"/>
          <p:cNvSpPr txBox="1"/>
          <p:nvPr/>
        </p:nvSpPr>
        <p:spPr>
          <a:xfrm>
            <a:off x="8095488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조사할 때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기록할 것은?</a:t>
            </a:r>
            <a:endParaRPr lang="ko-KR" sz="2400" dirty="0"/>
          </a:p>
        </p:txBody>
      </p:sp>
      <p:sp>
        <p:nvSpPr>
          <p:cNvPr id="11" name="S14-text95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지역의 역사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옛날 도구, 오늘 도구</a:t>
            </a:r>
            <a:endParaRPr lang="ko-KR" sz="4000" dirty="0"/>
          </a:p>
        </p:txBody>
      </p:sp>
      <p:sp>
        <p:nvSpPr>
          <p:cNvPr id="3" name="S15-text9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하는 일이 같은 것끼리 짝지어요.</a:t>
            </a:r>
            <a:endParaRPr lang="ko-KR" sz="3000" dirty="0"/>
          </a:p>
        </p:txBody>
      </p:sp>
      <p:sp>
        <p:nvSpPr>
          <p:cNvPr id="4" name="S15-card9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5-cardtext9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옛날 도구에는 그때 사람들의 생활과 지혜가 담겨 있어요.</a:t>
            </a:r>
            <a:endParaRPr lang="ko-KR" sz="3000" dirty="0"/>
          </a:p>
        </p:txBody>
      </p:sp>
      <p:graphicFrame>
        <p:nvGraphicFramePr>
          <p:cNvPr id="15" name="S15-table9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65276" y="2541016"/>
          <a:ext cx="10058400" cy="914400"/>
        </p:xfrm>
        <a:graphic>
          <a:graphicData uri="http://schemas.openxmlformats.org/drawingml/2006/table">
            <a:tbl>
              <a:tblPr/>
              <a:tblGrid>
                <a:gridCol w="3419856"/>
                <a:gridCol w="3822192"/>
                <a:gridCol w="2816352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옛날 도구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하는 일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오늘 도구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맷돌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곡식을 갈아요.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믹서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등잔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불을 밝혀요.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전등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다듬잇돌과 방망이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옷감을 두드려 펴요.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다리미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초4 사회·역사 지역의 문화유산</dc:title>
  <dc:subject>KR22-G04-SOC-HERITAGE-L01</dc:subject>
  <dc:creator>education-ppt</dc:creator>
  <cp:lastModifiedBy>education-ppt</cp:lastModifiedBy>
  <cp:revision>1</cp:revision>
  <dcterms:created xsi:type="dcterms:W3CDTF">2026-10-26T09:51:57Z</dcterms:created>
  <dcterms:modified xsi:type="dcterms:W3CDTF">2026-10-26T09:51:57Z</dcterms:modified>
</cp:coreProperties>
</file>