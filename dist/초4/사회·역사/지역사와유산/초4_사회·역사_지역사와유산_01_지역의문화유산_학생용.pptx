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26903c6-5b19-6957-5026-75991684c684}">
          <p14:sldIdLst>
            <p14:sldId id="256"/>
            <p14:sldId id="257"/>
          </p14:sldIdLst>
        </p14:section>
        <p14:section name="개념" id="{c50e84b4-a8e7-90e6-3c89-348632b278e4}">
          <p14:sldIdLst>
            <p14:sldId id="258"/>
            <p14:sldId id="259"/>
            <p14:sldId id="262"/>
            <p14:sldId id="263"/>
          </p14:sldIdLst>
        </p14:section>
        <p14:section name="연습" id="{963a1464-df56-4a13-e0e8-985e575194e7}">
          <p14:sldIdLst>
            <p14:sldId id="260"/>
            <p14:sldId id="261"/>
            <p14:sldId id="264"/>
            <p14:sldId id="265"/>
          </p14:sldIdLst>
        </p14:section>
        <p14:section name="개념" id="{9d118165-03ec-037c-6462-2e4eb5b7388c}">
          <p14:sldIdLst/>
        </p14:section>
        <p14:section name="연습" id="{6c869762-7c31-56f8-4579-fc7301e04725}">
          <p14:sldIdLst/>
        </p14:section>
        <p14:section name="확인" id="{2a4c8048-dc05-eb40-7e35-38fc5b60aa62}">
          <p14:sldIdLst>
            <p14:sldId id="266"/>
            <p14:sldId id="267"/>
          </p14:sldIdLst>
        </p14:section>
        <p14:section name="정리" id="{ca776daa-b11a-a1f1-3936-41b0c9c1c1a0}">
          <p14:sldIdLst>
            <p14:sldId id="268"/>
          </p14:sldIdLst>
        </p14:section>
        <p14:section name="보충" id="{854fa9de-d541-bb58-3756-4e59ca81023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지역사와유산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문화유산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문화유산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지역의 문화유산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문화유산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지역에는 오래도록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 온 것이 무엇일까요?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문화유산의 뜻을 알고 두 가지로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문화유산을 조사하고 소중한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물건, 오늘 물건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때 배운 것을 떠올려요.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맷돌로 하던 일을 오늘날에는 무엇으로 하나요?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 대신 오늘날 쓰는 것은?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물건을 보면 무엇을 알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문화유산이란?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옛날부터 전해 내려오는 것 가운데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소중해서 후손에게 물려줄 것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문화유산에는 조상들의 생활과 지혜가 담겨 있어요.</a:t>
            </a:r>
            <a:endParaRPr lang="ko-KR" sz="3000" dirty="0"/>
          </a:p>
        </p:txBody>
      </p:sp>
      <p:sp>
        <p:nvSpPr>
          <p:cNvPr id="6" name="S03-card13"/>
          <p:cNvSpPr/>
          <p:nvPr/>
        </p:nvSpPr>
        <p:spPr>
          <a:xfrm>
            <a:off x="548640" y="268224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81940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건물·탑·성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옛사람들이 지은 것</a:t>
            </a:r>
            <a:endParaRPr lang="ko-KR" sz="3000" dirty="0"/>
          </a:p>
        </p:txBody>
      </p:sp>
      <p:sp>
        <p:nvSpPr>
          <p:cNvPr id="8" name="S03-card15"/>
          <p:cNvSpPr/>
          <p:nvPr/>
        </p:nvSpPr>
        <p:spPr>
          <a:xfrm>
            <a:off x="4322064" y="268224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81940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책·그림·물건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옛사람들이 남긴 것</a:t>
            </a:r>
            <a:endParaRPr lang="ko-KR" sz="30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68224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81940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놀이·노래·기술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이어 온 것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문화유산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없는 문화유산은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배우고 이어 가야 지킬 수 있어요.</a:t>
            </a:r>
            <a:endParaRPr lang="ko-KR" sz="3000" dirty="0"/>
          </a:p>
        </p:txBody>
      </p:sp>
      <p:graphicFrame>
        <p:nvGraphicFramePr>
          <p:cNvPr id="5" name="S04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933956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608576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널리 알려진 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(유형)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건물·탑·책처럼 보고 만질 수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불국사·석굴암(경주),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수원 화성(수원)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모양이 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(무형)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놀이·노래·춤·기술처럼 사람이 배우고 이어 가요.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판소리,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강강술래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쪽일까요?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있는 문화유산일까요, 없는 문화유산일까요?</a:t>
            </a:r>
            <a:endParaRPr lang="ko-KR" sz="3000" dirty="0"/>
          </a:p>
        </p:txBody>
      </p:sp>
      <p:sp>
        <p:nvSpPr>
          <p:cNvPr id="4" name="S05-chip2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돌다리</a:t>
            </a:r>
            <a:endParaRPr lang="ko-KR" sz="3000" dirty="0"/>
          </a:p>
        </p:txBody>
      </p:sp>
      <p:sp>
        <p:nvSpPr>
          <p:cNvPr id="6" name="S05-chip2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줄다리기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(대보름 놀이)</a:t>
            </a:r>
            <a:endParaRPr lang="ko-KR" sz="3000" dirty="0"/>
          </a:p>
        </p:txBody>
      </p:sp>
      <p:sp>
        <p:nvSpPr>
          <p:cNvPr id="8" name="S05-chip2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선비가 쓴 일기책</a:t>
            </a:r>
            <a:endParaRPr lang="ko-KR" sz="3000" dirty="0"/>
          </a:p>
        </p:txBody>
      </p:sp>
      <p:sp>
        <p:nvSpPr>
          <p:cNvPr id="10" name="S05-chip2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5-text3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탈을 쓰고 추는 탈춤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놀이도 문화유산일까요?</a:t>
            </a:r>
            <a:endParaRPr lang="ko-KR" sz="4000" dirty="0"/>
          </a:p>
        </p:txBody>
      </p:sp>
      <p:sp>
        <p:nvSpPr>
          <p:cNvPr id="3" name="S06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강강술래를 두고 두 친구가 이야기해요.</a:t>
            </a:r>
            <a:endParaRPr lang="ko-KR" sz="3000" dirty="0"/>
          </a:p>
        </p:txBody>
      </p:sp>
      <p:sp>
        <p:nvSpPr>
          <p:cNvPr id="5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그렇게 생각하나요?</a:t>
            </a:r>
            <a:endParaRPr lang="ko-KR" sz="3000" dirty="0"/>
          </a:p>
        </p:txBody>
      </p:sp>
      <p:sp>
        <p:nvSpPr>
          <p:cNvPr id="7" name="S06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“손으로 만질 수 없으니까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 아니에요.”</a:t>
            </a:r>
            <a:endParaRPr lang="ko-KR" sz="3000" dirty="0"/>
          </a:p>
        </p:txBody>
      </p:sp>
      <p:sp>
        <p:nvSpPr>
          <p:cNvPr id="9" name="S06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“사람들이 오래 이어 온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소중한 놀이니까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알아볼까요?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있는 곳 · 모습 · 의미, 그리고 알아본 곳을 기록해요.</a:t>
            </a:r>
            <a:endParaRPr lang="ko-KR" sz="3000" dirty="0"/>
          </a:p>
        </p:txBody>
      </p:sp>
      <p:sp>
        <p:nvSpPr>
          <p:cNvPr id="5" name="S07-card41"/>
          <p:cNvSpPr/>
          <p:nvPr/>
        </p:nvSpPr>
        <p:spPr>
          <a:xfrm>
            <a:off x="548640" y="1325880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1463040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 앞에 세워 둔 설명</a:t>
            </a:r>
            <a:endParaRPr lang="ko-KR" sz="3000" dirty="0"/>
          </a:p>
        </p:txBody>
      </p:sp>
      <p:sp>
        <p:nvSpPr>
          <p:cNvPr id="7" name="S07-card43"/>
          <p:cNvSpPr/>
          <p:nvPr/>
        </p:nvSpPr>
        <p:spPr>
          <a:xfrm>
            <a:off x="6208776" y="1325880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4"/>
          <p:cNvSpPr txBox="1"/>
          <p:nvPr/>
        </p:nvSpPr>
        <p:spPr>
          <a:xfrm>
            <a:off x="6483096" y="1463040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누리집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시청·군청·구청의 문화 안내</a:t>
            </a:r>
            <a:endParaRPr lang="ko-KR" sz="3000" dirty="0"/>
          </a:p>
        </p:txBody>
      </p:sp>
      <p:sp>
        <p:nvSpPr>
          <p:cNvPr id="9" name="S07-card45"/>
          <p:cNvSpPr/>
          <p:nvPr/>
        </p:nvSpPr>
        <p:spPr>
          <a:xfrm>
            <a:off x="548640" y="3142488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6"/>
          <p:cNvSpPr txBox="1"/>
          <p:nvPr/>
        </p:nvSpPr>
        <p:spPr>
          <a:xfrm>
            <a:off x="822960" y="3279648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박물관·문화원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옛 물건과 자료</a:t>
            </a:r>
            <a:endParaRPr lang="ko-KR" sz="3000" dirty="0"/>
          </a:p>
        </p:txBody>
      </p:sp>
      <p:sp>
        <p:nvSpPr>
          <p:cNvPr id="11" name="S07-card47"/>
          <p:cNvSpPr/>
          <p:nvPr/>
        </p:nvSpPr>
        <p:spPr>
          <a:xfrm>
            <a:off x="6208776" y="3142488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8"/>
          <p:cNvSpPr txBox="1"/>
          <p:nvPr/>
        </p:nvSpPr>
        <p:spPr>
          <a:xfrm>
            <a:off x="6483096" y="3279648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여쭙기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어른의 기억과 이야기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안내판을 읽어요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있는 곳 · 모습 · 의미를 찾아 짚어 봐요.</a:t>
            </a:r>
            <a:endParaRPr lang="ko-KR" sz="3000" dirty="0"/>
          </a:p>
        </p:txBody>
      </p:sp>
      <p:sp>
        <p:nvSpPr>
          <p:cNvPr id="5" name="S08-passagebox5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5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돌다리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곳: 별빛시 냇가마을 앞 시냇물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냇물을 건너려고 넓적한 돌을 놓아 만든 옛 다리입니다.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큰비에도 떠내려가지 않게 무거운 돌을 엇갈려 놓았습니다.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사람들이 함께 돌을 날라 만들었다고 전해집니다.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별빛시에서 보호하고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소중할까요?</a:t>
            </a:r>
            <a:endParaRPr lang="ko-KR" sz="4000" dirty="0"/>
          </a:p>
        </p:txBody>
      </p:sp>
      <p:sp>
        <p:nvSpPr>
          <p:cNvPr id="3" name="S09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돌다리는 왜 소중할까요?</a:t>
            </a:r>
            <a:endParaRPr lang="ko-KR" sz="3000" dirty="0"/>
          </a:p>
        </p:txBody>
      </p:sp>
      <p:sp>
        <p:nvSpPr>
          <p:cNvPr id="4" name="S09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안내판에 쓰인 말을 근거로 들어 말해요.</a:t>
            </a:r>
            <a:endParaRPr lang="ko-KR" sz="3000" dirty="0"/>
          </a:p>
        </p:txBody>
      </p:sp>
      <p:sp>
        <p:nvSpPr>
          <p:cNvPr id="6" name="S09-chip5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사람들의 생활이나 지혜를 알 수 있나요?</a:t>
            </a:r>
            <a:endParaRPr lang="ko-KR" sz="3000" dirty="0"/>
          </a:p>
        </p:txBody>
      </p:sp>
      <p:sp>
        <p:nvSpPr>
          <p:cNvPr id="8" name="S09-chip5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사람들에게 어떤 뜻이 있었을까요?</a:t>
            </a:r>
            <a:endParaRPr lang="ko-KR" sz="3000" dirty="0"/>
          </a:p>
        </p:txBody>
      </p:sp>
      <p:sp>
        <p:nvSpPr>
          <p:cNvPr id="10" name="S09-chip6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지켜야 하는 까닭은?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문화유산 찾기</a:t>
            </a:r>
            <a:endParaRPr lang="ko-KR" sz="4000" dirty="0"/>
          </a:p>
        </p:txBody>
      </p:sp>
      <p:sp>
        <p:nvSpPr>
          <p:cNvPr id="3" name="S10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직접 갈 때는 꼭 어른과 함께 가요.</a:t>
            </a:r>
            <a:endParaRPr lang="ko-KR" sz="3000" dirty="0"/>
          </a:p>
        </p:txBody>
      </p:sp>
      <p:sp>
        <p:nvSpPr>
          <p:cNvPr id="6" name="S10-card6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6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이름과 있는 곳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모습이나 쓰임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소중한 까닭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알아본 곳</a:t>
            </a:r>
            <a:endParaRPr lang="ko-KR" sz="3000" dirty="0"/>
          </a:p>
        </p:txBody>
      </p:sp>
      <p:sp>
        <p:nvSpPr>
          <p:cNvPr id="8" name="S10-stepno6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68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누리집이나 지도 앱에서 찾아요.</a:t>
            </a:r>
            <a:endParaRPr lang="ko-KR" sz="2400" dirty="0"/>
          </a:p>
        </p:txBody>
      </p:sp>
      <p:sp>
        <p:nvSpPr>
          <p:cNvPr id="10" name="S10-stepno6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70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안내 글을 읽어요.</a:t>
            </a:r>
            <a:endParaRPr lang="ko-KR" sz="2400" dirty="0"/>
          </a:p>
        </p:txBody>
      </p:sp>
      <p:sp>
        <p:nvSpPr>
          <p:cNvPr id="12" name="S10-stepno7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72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기록해요.</a:t>
            </a:r>
            <a:endParaRPr lang="ko-KR" sz="2400" dirty="0"/>
          </a:p>
        </p:txBody>
      </p:sp>
      <p:sp>
        <p:nvSpPr>
          <p:cNvPr id="14" name="S10-stepno7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74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수 있으면 직접 가 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 무엇인지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말로 말해요.</a:t>
            </a:r>
            <a:endParaRPr lang="ko-KR" sz="3000" dirty="0"/>
          </a:p>
        </p:txBody>
      </p:sp>
      <p:sp>
        <p:nvSpPr>
          <p:cNvPr id="5" name="S11-chip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수원 화성은 모양이 있나요, 없나요?</a:t>
            </a:r>
            <a:endParaRPr lang="ko-KR" sz="3000" dirty="0"/>
          </a:p>
        </p:txBody>
      </p:sp>
      <p:sp>
        <p:nvSpPr>
          <p:cNvPr id="7" name="S11-chip7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8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아리랑(노래)은 모양이 있나요, 없나요?</a:t>
            </a:r>
            <a:endParaRPr lang="ko-KR" sz="3000" dirty="0"/>
          </a:p>
        </p:txBody>
      </p:sp>
      <p:sp>
        <p:nvSpPr>
          <p:cNvPr id="9" name="S11-chip8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0" name="S11-text8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도자기를 굽는 기술은?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안내 글</a:t>
            </a:r>
            <a:endParaRPr lang="ko-KR" sz="4000" dirty="0"/>
          </a:p>
        </p:txBody>
      </p:sp>
      <p:sp>
        <p:nvSpPr>
          <p:cNvPr id="3" name="S13-card8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모양이 있는 문화유산일까요, 없는 것일까요?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소중한 까닭을 글에서 찾아 말해요.</a:t>
            </a:r>
            <a:endParaRPr lang="ko-KR" sz="3000" dirty="0"/>
          </a:p>
        </p:txBody>
      </p:sp>
      <p:sp>
        <p:nvSpPr>
          <p:cNvPr id="5" name="S13-passagebox85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86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모심기 소리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별빛마을 사람들이 모를 심을 때 함께 부르던 노래입니다.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앞소리를 하면 여럿이 뒷소리를 받으며 손을 맞추어 모를 심었습니다.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덕분에 힘든 일도 함께 즐겁게 할 수 있었습니다.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별빛시 사람들이 배우며 이어 가고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문화유산은 옛날부터 전해 내려온 소중한 것이에요.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있는 것도, 없는 것도 있어요.</a:t>
            </a:r>
            <a:endParaRPr lang="ko-KR" sz="3000" dirty="0"/>
          </a:p>
        </p:txBody>
      </p:sp>
      <p:sp>
        <p:nvSpPr>
          <p:cNvPr id="5" name="S14-chip8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안내판을 읽고 아끼기</a:t>
            </a:r>
            <a:endParaRPr lang="ko-KR" sz="2400" dirty="0"/>
          </a:p>
        </p:txBody>
      </p:sp>
      <p:sp>
        <p:nvSpPr>
          <p:cNvPr id="6" name="S14-chip9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낙서하거나 함부로 만지기</a:t>
            </a:r>
            <a:endParaRPr lang="ko-KR" sz="2400" dirty="0"/>
          </a:p>
        </p:txBody>
      </p:sp>
      <p:sp>
        <p:nvSpPr>
          <p:cNvPr id="7" name="S14-text9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문화유산의 뜻은?</a:t>
            </a:r>
            <a:endParaRPr lang="ko-KR" sz="2400" dirty="0"/>
          </a:p>
        </p:txBody>
      </p:sp>
      <p:sp>
        <p:nvSpPr>
          <p:cNvPr id="9" name="S14-text9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모양이 없는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예는?</a:t>
            </a:r>
            <a:endParaRPr lang="ko-KR" sz="2400" dirty="0"/>
          </a:p>
        </p:txBody>
      </p:sp>
      <p:sp>
        <p:nvSpPr>
          <p:cNvPr id="10" name="S14-text9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조사할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기록할 것은?</a:t>
            </a:r>
            <a:endParaRPr lang="ko-KR" sz="2400" dirty="0"/>
          </a:p>
        </p:txBody>
      </p:sp>
      <p:sp>
        <p:nvSpPr>
          <p:cNvPr id="11" name="S14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지역의 역사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옛날 도구, 오늘 도구</a:t>
            </a:r>
            <a:endParaRPr lang="ko-KR" sz="4000" dirty="0"/>
          </a:p>
        </p:txBody>
      </p:sp>
      <p:sp>
        <p:nvSpPr>
          <p:cNvPr id="3" name="S1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것끼리 짝지어요.</a:t>
            </a:r>
            <a:endParaRPr lang="ko-KR" sz="3000" dirty="0"/>
          </a:p>
        </p:txBody>
      </p:sp>
      <p:sp>
        <p:nvSpPr>
          <p:cNvPr id="4" name="S1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도구에는 그때 사람들의 생활과 지혜가 담겨 있어요.</a:t>
            </a:r>
            <a:endParaRPr lang="ko-KR" sz="3000" dirty="0"/>
          </a:p>
        </p:txBody>
      </p:sp>
      <p:graphicFrame>
        <p:nvGraphicFramePr>
          <p:cNvPr id="15" name="S15-table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822192"/>
                <a:gridCol w="28163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갈아요.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믹서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불을 밝혀요.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다듬잇돌과 방망이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옷감을 두드려 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지역의 문화유산</dc:title>
  <dc:subject>KR22-G04-SOC-HERITAGE-L01</dc:subject>
  <dc:creator>education-ppt</dc:creator>
  <cp:lastModifiedBy>education-ppt</cp:lastModifiedBy>
  <cp:revision>1</cp:revision>
  <dcterms:created xsi:type="dcterms:W3CDTF">2026-10-26T09:39:31Z</dcterms:created>
  <dcterms:modified xsi:type="dcterms:W3CDTF">2026-10-26T09:39:31Z</dcterms:modified>
</cp:coreProperties>
</file>