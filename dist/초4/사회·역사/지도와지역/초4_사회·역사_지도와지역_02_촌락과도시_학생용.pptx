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0eb6569-905d-26f8-9a76-875395a2dc56}">
          <p14:sldIdLst>
            <p14:sldId id="256"/>
            <p14:sldId id="257"/>
          </p14:sldIdLst>
        </p14:section>
        <p14:section name="개념" id="{0940f621-4773-fc67-4f2d-40665b46d7aa}">
          <p14:sldIdLst>
            <p14:sldId id="258"/>
            <p14:sldId id="259"/>
            <p14:sldId id="261"/>
            <p14:sldId id="263"/>
          </p14:sldIdLst>
        </p14:section>
        <p14:section name="연습" id="{9766eef2-f989-639b-bf25-9b3d8535c11d}">
          <p14:sldIdLst>
            <p14:sldId id="260"/>
            <p14:sldId id="262"/>
            <p14:sldId id="264"/>
            <p14:sldId id="265"/>
          </p14:sldIdLst>
        </p14:section>
        <p14:section name="개념" id="{0fcbd866-7755-6825-4d82-6e97fd77d482}">
          <p14:sldIdLst/>
        </p14:section>
        <p14:section name="연습" id="{069eb9ab-c32d-2747-82ac-b8b01cbda7d9}">
          <p14:sldIdLst/>
        </p14:section>
        <p14:section name="개념" id="{8cc54442-cf4e-9ceb-dbf2-20b8b5a45820}">
          <p14:sldIdLst/>
        </p14:section>
        <p14:section name="연습" id="{25f68e75-d78f-4cb0-683d-ec5a2f49aae9}">
          <p14:sldIdLst/>
        </p14:section>
        <p14:section name="확인" id="{c9400cfd-5bbf-3745-70b1-107d2d7cca6a}">
          <p14:sldIdLst>
            <p14:sldId id="266"/>
            <p14:sldId id="267"/>
          </p14:sldIdLst>
        </p14:section>
        <p14:section name="정리" id="{745d5249-0dc6-a388-7522-699bfd7438e0}">
          <p14:sldIdLst>
            <p14:sldId id="268"/>
          </p14:sldIdLst>
        </p14:section>
        <p14:section name="보충" id="{8b04b0ab-f695-ca81-9e48-53745002de8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지도와지역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먹은 밥과 반찬은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촌락과 도시의 특징을 비교할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촌락과 도시가 서로 돕는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마을의 지도예요.</a:t>
            </a:r>
            <a:endParaRPr lang="ko-KR" sz="3000" dirty="0"/>
          </a:p>
        </p:txBody>
      </p:sp>
      <p:sp>
        <p:nvSpPr>
          <p:cNvPr id="4" name="S02-figure4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2-mark28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29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30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02-mark31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2-mark32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2-mark33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2-mark34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2-mark35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02-mark36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2-mark37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2-mark38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2-mark39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2-mark40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2-mark41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02-mark42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2-mark43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2-mark44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2-mark45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2-mark46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2-mark47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2-mark48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2-mark49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2-mark50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2-mark51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2-mark52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2-mark53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2-mark54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2-mark55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2-mark56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2-mark57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02-mark58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2-mark59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02-mark60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mark61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02-mark62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mark63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2-label65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02-labelbg67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2-label68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02-labelbg70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2-label71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02-labelbg73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2-label74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02-labelbg76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2-label77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02-labelbg79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2-label80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02-label82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02-label84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02-chip8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02-text8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다 마을은 어느 쪽에 있나요?</a:t>
            </a:r>
            <a:endParaRPr lang="ko-KR" sz="3000" dirty="0"/>
          </a:p>
        </p:txBody>
      </p:sp>
      <p:sp>
        <p:nvSpPr>
          <p:cNvPr id="79" name="S02-chip8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02-text8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가 마을까지 실제로 몇 km?</a:t>
            </a:r>
            <a:endParaRPr lang="ko-KR" sz="3000" dirty="0"/>
          </a:p>
        </p:txBody>
      </p:sp>
      <p:sp>
        <p:nvSpPr>
          <p:cNvPr id="81" name="S02-chip8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02-text9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둘레의 땅은 어떤 모습일까요?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000" dirty="0"/>
          </a:p>
        </p:txBody>
      </p:sp>
      <p:sp>
        <p:nvSpPr>
          <p:cNvPr id="3" name="S0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자연환경에서, 주로 무슨 일을 하는지 보고 나눠요.</a:t>
            </a:r>
            <a:endParaRPr lang="ko-KR" sz="3000" dirty="0"/>
          </a:p>
        </p:txBody>
      </p:sp>
      <p:sp>
        <p:nvSpPr>
          <p:cNvPr id="5" name="S03-card9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9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산·들·바다 같은 자연을 이용해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농사, 고기잡이 등을 하며 사는 곳</a:t>
            </a:r>
            <a:endParaRPr lang="ko-KR" sz="3000" dirty="0"/>
          </a:p>
        </p:txBody>
      </p:sp>
      <p:sp>
        <p:nvSpPr>
          <p:cNvPr id="7" name="S03-card9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9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건물이 많이 모여 있고,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일을 하며 사는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세 가지가 있어요</a:t>
            </a:r>
            <a:endParaRPr lang="ko-KR" sz="4000" dirty="0"/>
          </a:p>
        </p:txBody>
      </p:sp>
      <p:sp>
        <p:nvSpPr>
          <p:cNvPr id="3" name="S0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자연환경에 따라 사람들이 주로 하는 일이 달라요.</a:t>
            </a:r>
            <a:endParaRPr lang="ko-KR" sz="3000" dirty="0"/>
          </a:p>
        </p:txBody>
      </p:sp>
      <p:sp>
        <p:nvSpPr>
          <p:cNvPr id="5" name="S04-card9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0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벼, 채소, 과일을 길러요.</a:t>
            </a:r>
            <a:endParaRPr lang="ko-KR" sz="3000" dirty="0"/>
          </a:p>
        </p:txBody>
      </p:sp>
      <p:sp>
        <p:nvSpPr>
          <p:cNvPr id="7" name="S04-card10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0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바닷가에서 고기를 잡고 김, 미역을 길러요.</a:t>
            </a:r>
            <a:endParaRPr lang="ko-KR" sz="3000" dirty="0"/>
          </a:p>
        </p:txBody>
      </p:sp>
      <p:sp>
        <p:nvSpPr>
          <p:cNvPr id="9" name="S04-card10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0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밭을 일구고 버섯을 기르거나 나무를 가꿔요.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마을일까요?</a:t>
            </a:r>
            <a:endParaRPr lang="ko-KR" sz="4000" dirty="0"/>
          </a:p>
        </p:txBody>
      </p:sp>
      <p:sp>
        <p:nvSpPr>
          <p:cNvPr id="3" name="S05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둘레에 산·들·바다 중 무엇이 있는지 봐요.</a:t>
            </a:r>
            <a:endParaRPr lang="ko-KR" sz="3000" dirty="0"/>
          </a:p>
        </p:txBody>
      </p:sp>
      <p:sp>
        <p:nvSpPr>
          <p:cNvPr id="5" name="S05-figure10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08"/>
          <p:cNvSpPr/>
          <p:nvPr/>
        </p:nvSpPr>
        <p:spPr>
          <a:xfrm>
            <a:off x="67141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09"/>
          <p:cNvSpPr/>
          <p:nvPr/>
        </p:nvSpPr>
        <p:spPr>
          <a:xfrm>
            <a:off x="705947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10"/>
          <p:cNvSpPr/>
          <p:nvPr/>
        </p:nvSpPr>
        <p:spPr>
          <a:xfrm>
            <a:off x="7404811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11"/>
          <p:cNvSpPr/>
          <p:nvPr/>
        </p:nvSpPr>
        <p:spPr>
          <a:xfrm>
            <a:off x="775015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12"/>
          <p:cNvSpPr/>
          <p:nvPr/>
        </p:nvSpPr>
        <p:spPr>
          <a:xfrm>
            <a:off x="809548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13"/>
          <p:cNvSpPr/>
          <p:nvPr/>
        </p:nvSpPr>
        <p:spPr>
          <a:xfrm>
            <a:off x="844082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14"/>
          <p:cNvSpPr/>
          <p:nvPr/>
        </p:nvSpPr>
        <p:spPr>
          <a:xfrm>
            <a:off x="878616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15"/>
          <p:cNvSpPr/>
          <p:nvPr/>
        </p:nvSpPr>
        <p:spPr>
          <a:xfrm>
            <a:off x="913150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16"/>
          <p:cNvSpPr/>
          <p:nvPr/>
        </p:nvSpPr>
        <p:spPr>
          <a:xfrm>
            <a:off x="947684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17"/>
          <p:cNvSpPr/>
          <p:nvPr/>
        </p:nvSpPr>
        <p:spPr>
          <a:xfrm>
            <a:off x="982218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18"/>
          <p:cNvSpPr/>
          <p:nvPr/>
        </p:nvSpPr>
        <p:spPr>
          <a:xfrm>
            <a:off x="1016751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19"/>
          <p:cNvSpPr/>
          <p:nvPr/>
        </p:nvSpPr>
        <p:spPr>
          <a:xfrm>
            <a:off x="10512857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20"/>
          <p:cNvSpPr/>
          <p:nvPr/>
        </p:nvSpPr>
        <p:spPr>
          <a:xfrm>
            <a:off x="1085819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21"/>
          <p:cNvSpPr/>
          <p:nvPr/>
        </p:nvSpPr>
        <p:spPr>
          <a:xfrm>
            <a:off x="112035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22"/>
          <p:cNvSpPr/>
          <p:nvPr/>
        </p:nvSpPr>
        <p:spPr>
          <a:xfrm>
            <a:off x="1154887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23"/>
          <p:cNvSpPr/>
          <p:nvPr/>
        </p:nvSpPr>
        <p:spPr>
          <a:xfrm>
            <a:off x="6368796" y="462188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24"/>
          <p:cNvSpPr/>
          <p:nvPr/>
        </p:nvSpPr>
        <p:spPr>
          <a:xfrm>
            <a:off x="6368796" y="427654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25"/>
          <p:cNvSpPr/>
          <p:nvPr/>
        </p:nvSpPr>
        <p:spPr>
          <a:xfrm>
            <a:off x="6368796" y="393120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26"/>
          <p:cNvSpPr/>
          <p:nvPr/>
        </p:nvSpPr>
        <p:spPr>
          <a:xfrm>
            <a:off x="6368796" y="358586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27"/>
          <p:cNvSpPr/>
          <p:nvPr/>
        </p:nvSpPr>
        <p:spPr>
          <a:xfrm>
            <a:off x="6368796" y="324052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28"/>
          <p:cNvSpPr/>
          <p:nvPr/>
        </p:nvSpPr>
        <p:spPr>
          <a:xfrm>
            <a:off x="6368796" y="289518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29"/>
          <p:cNvSpPr/>
          <p:nvPr/>
        </p:nvSpPr>
        <p:spPr>
          <a:xfrm>
            <a:off x="6368796" y="254985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30"/>
          <p:cNvSpPr/>
          <p:nvPr/>
        </p:nvSpPr>
        <p:spPr>
          <a:xfrm>
            <a:off x="6368796" y="220451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31"/>
          <p:cNvSpPr/>
          <p:nvPr/>
        </p:nvSpPr>
        <p:spPr>
          <a:xfrm>
            <a:off x="6368796" y="185917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32"/>
          <p:cNvSpPr/>
          <p:nvPr/>
        </p:nvSpPr>
        <p:spPr>
          <a:xfrm>
            <a:off x="6368796" y="151383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33"/>
          <p:cNvSpPr/>
          <p:nvPr/>
        </p:nvSpPr>
        <p:spPr>
          <a:xfrm>
            <a:off x="10823661" y="151383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134"/>
          <p:cNvSpPr/>
          <p:nvPr/>
        </p:nvSpPr>
        <p:spPr>
          <a:xfrm>
            <a:off x="6506931" y="206637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35"/>
          <p:cNvSpPr/>
          <p:nvPr/>
        </p:nvSpPr>
        <p:spPr>
          <a:xfrm>
            <a:off x="6817736" y="237718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mark136"/>
          <p:cNvSpPr/>
          <p:nvPr/>
        </p:nvSpPr>
        <p:spPr>
          <a:xfrm>
            <a:off x="7128540" y="265345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5-mark137"/>
          <p:cNvSpPr/>
          <p:nvPr/>
        </p:nvSpPr>
        <p:spPr>
          <a:xfrm>
            <a:off x="7311570" y="280816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38"/>
          <p:cNvSpPr/>
          <p:nvPr/>
        </p:nvSpPr>
        <p:spPr>
          <a:xfrm>
            <a:off x="8509894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5-mark139"/>
          <p:cNvSpPr/>
          <p:nvPr/>
        </p:nvSpPr>
        <p:spPr>
          <a:xfrm>
            <a:off x="9062436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5-mark140"/>
          <p:cNvSpPr/>
          <p:nvPr/>
        </p:nvSpPr>
        <p:spPr>
          <a:xfrm>
            <a:off x="9614977" y="196277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5-mark141"/>
          <p:cNvSpPr/>
          <p:nvPr/>
        </p:nvSpPr>
        <p:spPr>
          <a:xfrm>
            <a:off x="8509894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5-mark142"/>
          <p:cNvSpPr/>
          <p:nvPr/>
        </p:nvSpPr>
        <p:spPr>
          <a:xfrm>
            <a:off x="9062436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5-mark143"/>
          <p:cNvSpPr/>
          <p:nvPr/>
        </p:nvSpPr>
        <p:spPr>
          <a:xfrm>
            <a:off x="9614977" y="158290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2" name="S05-mark144"/>
          <p:cNvSpPr/>
          <p:nvPr/>
        </p:nvSpPr>
        <p:spPr>
          <a:xfrm>
            <a:off x="7577480" y="358586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5-mark145"/>
          <p:cNvSpPr/>
          <p:nvPr/>
        </p:nvSpPr>
        <p:spPr>
          <a:xfrm>
            <a:off x="9131503" y="272251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5-mark146"/>
          <p:cNvSpPr/>
          <p:nvPr/>
        </p:nvSpPr>
        <p:spPr>
          <a:xfrm>
            <a:off x="9684045" y="358586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5" name="S05-mark147"/>
          <p:cNvSpPr/>
          <p:nvPr/>
        </p:nvSpPr>
        <p:spPr>
          <a:xfrm>
            <a:off x="6368796" y="151383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5-mark148"/>
          <p:cNvSpPr/>
          <p:nvPr/>
        </p:nvSpPr>
        <p:spPr>
          <a:xfrm>
            <a:off x="8665296" y="339592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5-mark149"/>
          <p:cNvSpPr/>
          <p:nvPr/>
        </p:nvSpPr>
        <p:spPr>
          <a:xfrm>
            <a:off x="8872499" y="320599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50"/>
          <p:cNvSpPr/>
          <p:nvPr/>
        </p:nvSpPr>
        <p:spPr>
          <a:xfrm>
            <a:off x="9071069" y="344773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5-mark151"/>
          <p:cNvSpPr/>
          <p:nvPr/>
        </p:nvSpPr>
        <p:spPr>
          <a:xfrm>
            <a:off x="9286905" y="315419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5-mark152"/>
          <p:cNvSpPr/>
          <p:nvPr/>
        </p:nvSpPr>
        <p:spPr>
          <a:xfrm>
            <a:off x="9485475" y="339592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5-mark153"/>
          <p:cNvSpPr/>
          <p:nvPr/>
        </p:nvSpPr>
        <p:spPr>
          <a:xfrm>
            <a:off x="7198299" y="352335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5-mark154"/>
          <p:cNvSpPr/>
          <p:nvPr/>
        </p:nvSpPr>
        <p:spPr>
          <a:xfrm>
            <a:off x="7457303" y="347155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5-mark155"/>
          <p:cNvSpPr/>
          <p:nvPr/>
        </p:nvSpPr>
        <p:spPr>
          <a:xfrm>
            <a:off x="8924991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5-mark156"/>
          <p:cNvSpPr/>
          <p:nvPr/>
        </p:nvSpPr>
        <p:spPr>
          <a:xfrm>
            <a:off x="9183995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5-mark157"/>
          <p:cNvSpPr/>
          <p:nvPr/>
        </p:nvSpPr>
        <p:spPr>
          <a:xfrm>
            <a:off x="10323611" y="348882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5-mark158"/>
          <p:cNvSpPr/>
          <p:nvPr/>
        </p:nvSpPr>
        <p:spPr>
          <a:xfrm>
            <a:off x="10565348" y="354062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7" name="S05-mark159"/>
          <p:cNvSpPr/>
          <p:nvPr/>
        </p:nvSpPr>
        <p:spPr>
          <a:xfrm>
            <a:off x="11117199" y="374126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mark160"/>
          <p:cNvSpPr/>
          <p:nvPr/>
        </p:nvSpPr>
        <p:spPr>
          <a:xfrm>
            <a:off x="11279508" y="346499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9" name="S05-mark161"/>
          <p:cNvSpPr/>
          <p:nvPr/>
        </p:nvSpPr>
        <p:spPr>
          <a:xfrm>
            <a:off x="11307135" y="348226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mark162"/>
          <p:cNvSpPr/>
          <p:nvPr/>
        </p:nvSpPr>
        <p:spPr>
          <a:xfrm flipV="1">
            <a:off x="6679601" y="406933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1" name="S05-mark163"/>
          <p:cNvSpPr/>
          <p:nvPr/>
        </p:nvSpPr>
        <p:spPr>
          <a:xfrm>
            <a:off x="6558732" y="424200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mark164"/>
          <p:cNvSpPr/>
          <p:nvPr/>
        </p:nvSpPr>
        <p:spPr>
          <a:xfrm>
            <a:off x="6368796" y="486361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3" name="S05-mark165"/>
          <p:cNvSpPr/>
          <p:nvPr/>
        </p:nvSpPr>
        <p:spPr>
          <a:xfrm>
            <a:off x="6368796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5-mark166"/>
          <p:cNvSpPr/>
          <p:nvPr/>
        </p:nvSpPr>
        <p:spPr>
          <a:xfrm>
            <a:off x="6714134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5-label168"/>
          <p:cNvSpPr txBox="1"/>
          <p:nvPr/>
        </p:nvSpPr>
        <p:spPr>
          <a:xfrm>
            <a:off x="10919033" y="187587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6" name="S05-labelbg170"/>
          <p:cNvSpPr/>
          <p:nvPr/>
        </p:nvSpPr>
        <p:spPr>
          <a:xfrm>
            <a:off x="10118674" y="162043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05-label171"/>
          <p:cNvSpPr txBox="1"/>
          <p:nvPr/>
        </p:nvSpPr>
        <p:spPr>
          <a:xfrm>
            <a:off x="10072954" y="158233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8" name="S05-labelbg173"/>
          <p:cNvSpPr/>
          <p:nvPr/>
        </p:nvSpPr>
        <p:spPr>
          <a:xfrm>
            <a:off x="8674303" y="400327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05-label174"/>
          <p:cNvSpPr txBox="1"/>
          <p:nvPr/>
        </p:nvSpPr>
        <p:spPr>
          <a:xfrm>
            <a:off x="8628583" y="396517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70" name="S05-labelbg176"/>
          <p:cNvSpPr/>
          <p:nvPr/>
        </p:nvSpPr>
        <p:spPr>
          <a:xfrm>
            <a:off x="7643454" y="362340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S05-label177"/>
          <p:cNvSpPr txBox="1"/>
          <p:nvPr/>
        </p:nvSpPr>
        <p:spPr>
          <a:xfrm>
            <a:off x="7597734" y="358530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2" name="S05-labelbg179"/>
          <p:cNvSpPr/>
          <p:nvPr/>
        </p:nvSpPr>
        <p:spPr>
          <a:xfrm>
            <a:off x="9421947" y="257011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05-label180"/>
          <p:cNvSpPr txBox="1"/>
          <p:nvPr/>
        </p:nvSpPr>
        <p:spPr>
          <a:xfrm>
            <a:off x="9376227" y="253201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4" name="S05-labelbg182"/>
          <p:cNvSpPr/>
          <p:nvPr/>
        </p:nvSpPr>
        <p:spPr>
          <a:xfrm>
            <a:off x="10354361" y="377880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05-label183"/>
          <p:cNvSpPr txBox="1"/>
          <p:nvPr/>
        </p:nvSpPr>
        <p:spPr>
          <a:xfrm>
            <a:off x="10308641" y="37407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6" name="S05-label185"/>
          <p:cNvSpPr txBox="1"/>
          <p:nvPr/>
        </p:nvSpPr>
        <p:spPr>
          <a:xfrm>
            <a:off x="6475385" y="368890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7" name="S05-label187"/>
          <p:cNvSpPr txBox="1"/>
          <p:nvPr/>
        </p:nvSpPr>
        <p:spPr>
          <a:xfrm>
            <a:off x="6729838" y="467311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8" name="S05-chip18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9" name="S05-text189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</a:t>
            </a:r>
            <a:endParaRPr lang="ko-KR" sz="3000" dirty="0"/>
          </a:p>
        </p:txBody>
      </p:sp>
      <p:sp>
        <p:nvSpPr>
          <p:cNvPr id="80" name="S05-chip19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text191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</a:t>
            </a:r>
            <a:endParaRPr lang="ko-KR" sz="3000" dirty="0"/>
          </a:p>
        </p:txBody>
      </p:sp>
      <p:sp>
        <p:nvSpPr>
          <p:cNvPr id="82" name="S05-chip19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5-text193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도시를 비교해요</a:t>
            </a:r>
            <a:endParaRPr lang="ko-KR" sz="4000" dirty="0"/>
          </a:p>
        </p:txBody>
      </p:sp>
      <p:graphicFrame>
        <p:nvGraphicFramePr>
          <p:cNvPr id="7" name="S06-table1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5094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고기잡이, 나무 가꾸기처럼 자연을 이용해요.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회사·가게·공장·병원 등에서 여러 가지 일을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적은 편이에요.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있으면 어촌일까요?</a:t>
            </a:r>
            <a:endParaRPr lang="ko-KR" sz="40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있는 ‘물결시’에는 높은 건물, 회사, 가게가 많고 사람들이 많이 모여 살아요.</a:t>
            </a:r>
            <a:endParaRPr lang="ko-KR" sz="30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보고 나누어야 할까요?</a:t>
            </a:r>
            <a:endParaRPr lang="ko-KR" sz="30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“바닷가에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어촌이에요.”</a:t>
            </a:r>
            <a:endParaRPr lang="ko-KR" sz="30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하는 일과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보니 도시예요.”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도시는 서로 도와요</a:t>
            </a:r>
            <a:endParaRPr lang="ko-KR" sz="4000" dirty="0"/>
          </a:p>
        </p:txBody>
      </p:sp>
      <p:sp>
        <p:nvSpPr>
          <p:cNvPr id="3" name="S08-card203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04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쌀·채소·생선 같은 먹을거리, 나무, 자연 체험</a:t>
            </a:r>
            <a:endParaRPr lang="ko-KR" sz="3000" dirty="0"/>
          </a:p>
        </p:txBody>
      </p:sp>
      <p:sp>
        <p:nvSpPr>
          <p:cNvPr id="5" name="S08-card205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06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 → 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농기계·옷 같은 물건, 큰 병원과 공연장, 새 기술</a:t>
            </a:r>
            <a:endParaRPr lang="ko-KR" sz="3000" dirty="0"/>
          </a:p>
        </p:txBody>
      </p:sp>
      <p:sp>
        <p:nvSpPr>
          <p:cNvPr id="7" name="S08-figure207" descr="촌락과 도시가 주고받는 것: 촌락에서 도시로 먹을거리와 나무, 도시에서 촌락으로 물건·병원·기술이 오가는 두 화살표"/>
          <p:cNvSpPr/>
          <p:nvPr/>
        </p:nvSpPr>
        <p:spPr>
          <a:xfrm>
            <a:off x="640080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08"/>
          <p:cNvSpPr/>
          <p:nvPr/>
        </p:nvSpPr>
        <p:spPr>
          <a:xfrm>
            <a:off x="8821674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EE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09"/>
          <p:cNvSpPr/>
          <p:nvPr/>
        </p:nvSpPr>
        <p:spPr>
          <a:xfrm>
            <a:off x="3594545" y="2441562"/>
            <a:ext cx="4999863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0" name="S08-mark210"/>
          <p:cNvSpPr/>
          <p:nvPr/>
        </p:nvSpPr>
        <p:spPr>
          <a:xfrm flipH="1">
            <a:off x="3594545" y="3259722"/>
            <a:ext cx="499986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8-label212"/>
          <p:cNvSpPr txBox="1"/>
          <p:nvPr/>
        </p:nvSpPr>
        <p:spPr>
          <a:xfrm>
            <a:off x="1650111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400" dirty="0"/>
          </a:p>
        </p:txBody>
      </p:sp>
      <p:sp>
        <p:nvSpPr>
          <p:cNvPr id="12" name="S08-label214"/>
          <p:cNvSpPr txBox="1"/>
          <p:nvPr/>
        </p:nvSpPr>
        <p:spPr>
          <a:xfrm>
            <a:off x="9831705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400" dirty="0"/>
          </a:p>
        </p:txBody>
      </p:sp>
      <p:sp>
        <p:nvSpPr>
          <p:cNvPr id="13" name="S08-label216"/>
          <p:cNvSpPr txBox="1"/>
          <p:nvPr/>
        </p:nvSpPr>
        <p:spPr>
          <a:xfrm>
            <a:off x="4902708" y="1705623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· 나무</a:t>
            </a:r>
            <a:endParaRPr lang="ko-KR" sz="2400" dirty="0"/>
          </a:p>
        </p:txBody>
      </p:sp>
      <p:sp>
        <p:nvSpPr>
          <p:cNvPr id="14" name="S08-label218"/>
          <p:cNvSpPr txBox="1"/>
          <p:nvPr/>
        </p:nvSpPr>
        <p:spPr>
          <a:xfrm>
            <a:off x="4661916" y="3614661"/>
            <a:ext cx="28651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· 병원 · 기술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갈까요?</a:t>
            </a:r>
            <a:endParaRPr lang="ko-KR" sz="4000" dirty="0"/>
          </a:p>
        </p:txBody>
      </p:sp>
      <p:sp>
        <p:nvSpPr>
          <p:cNvPr id="3" name="S09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도시일까요, 도시 → 촌락일까요?</a:t>
            </a:r>
            <a:endParaRPr lang="ko-KR" sz="3000" dirty="0"/>
          </a:p>
        </p:txBody>
      </p:sp>
      <p:sp>
        <p:nvSpPr>
          <p:cNvPr id="4" name="S09-chip2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22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마을에서 기른 사과</a:t>
            </a:r>
            <a:endParaRPr lang="ko-KR" sz="3000" dirty="0"/>
          </a:p>
        </p:txBody>
      </p:sp>
      <p:sp>
        <p:nvSpPr>
          <p:cNvPr id="6" name="S09-chip22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22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공장에서 만든 농기계</a:t>
            </a:r>
            <a:endParaRPr lang="ko-KR" sz="3000" dirty="0"/>
          </a:p>
        </p:txBody>
      </p:sp>
      <p:sp>
        <p:nvSpPr>
          <p:cNvPr id="8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22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할머니가 별빛시 큰 병원에서 진료받기</a:t>
            </a:r>
            <a:endParaRPr lang="ko-KR" sz="3000" dirty="0"/>
          </a:p>
        </p:txBody>
      </p:sp>
      <p:sp>
        <p:nvSpPr>
          <p:cNvPr id="10" name="S09-chip22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9-text22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가족이 가 마을에서 버섯 따기 체험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3000" dirty="0"/>
          </a:p>
        </p:txBody>
      </p:sp>
      <p:sp>
        <p:nvSpPr>
          <p:cNvPr id="6" name="S10-card2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많이 보이는 것 두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쪽과 그 까닭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지역에서 온 먹을거리</a:t>
            </a:r>
            <a:endParaRPr lang="ko-KR" sz="3000" dirty="0"/>
          </a:p>
        </p:txBody>
      </p:sp>
      <p:sp>
        <p:nvSpPr>
          <p:cNvPr id="8" name="S10-stepno233"/>
          <p:cNvSpPr txBox="1"/>
          <p:nvPr/>
        </p:nvSpPr>
        <p:spPr>
          <a:xfrm>
            <a:off x="548640" y="2077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34"/>
          <p:cNvSpPr txBox="1"/>
          <p:nvPr/>
        </p:nvSpPr>
        <p:spPr>
          <a:xfrm>
            <a:off x="1325880" y="20314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걷거나 지도 앱으로 우리 지역을 봐요.</a:t>
            </a:r>
            <a:endParaRPr lang="ko-KR" sz="3000" dirty="0"/>
          </a:p>
        </p:txBody>
      </p:sp>
      <p:sp>
        <p:nvSpPr>
          <p:cNvPr id="10" name="S10-stepno235"/>
          <p:cNvSpPr txBox="1"/>
          <p:nvPr/>
        </p:nvSpPr>
        <p:spPr>
          <a:xfrm>
            <a:off x="548640" y="31257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36"/>
          <p:cNvSpPr txBox="1"/>
          <p:nvPr/>
        </p:nvSpPr>
        <p:spPr>
          <a:xfrm>
            <a:off x="1325880" y="31257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보이는 것을 찾아요.</a:t>
            </a:r>
            <a:endParaRPr lang="ko-KR" sz="3000" dirty="0"/>
          </a:p>
        </p:txBody>
      </p:sp>
      <p:sp>
        <p:nvSpPr>
          <p:cNvPr id="12" name="S10-stepno237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38"/>
          <p:cNvSpPr txBox="1"/>
          <p:nvPr/>
        </p:nvSpPr>
        <p:spPr>
          <a:xfrm>
            <a:off x="1325880" y="38389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먹을거리의 생산지를 찾아요.</a:t>
            </a:r>
            <a:endParaRPr lang="ko-KR" sz="3000" dirty="0"/>
          </a:p>
        </p:txBody>
      </p:sp>
      <p:sp>
        <p:nvSpPr>
          <p:cNvPr id="14" name="S10-stepno239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40"/>
          <p:cNvSpPr txBox="1"/>
          <p:nvPr/>
        </p:nvSpPr>
        <p:spPr>
          <a:xfrm>
            <a:off x="1325880" y="45521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농촌·어촌·산지촌·도시 가운데 골라요.</a:t>
            </a:r>
            <a:endParaRPr lang="ko-KR" sz="3000" dirty="0"/>
          </a:p>
        </p:txBody>
      </p:sp>
      <p:sp>
        <p:nvSpPr>
          <p:cNvPr id="4" name="S11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밭에서 배추를 기르고 버섯을 키워요.</a:t>
            </a:r>
            <a:endParaRPr lang="ko-KR" sz="3000" dirty="0"/>
          </a:p>
        </p:txBody>
      </p:sp>
      <p:sp>
        <p:nvSpPr>
          <p:cNvPr id="6" name="S11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타고 나가 고기를 잡고 김을 길러요.</a:t>
            </a:r>
            <a:endParaRPr lang="ko-KR" sz="3000" dirty="0"/>
          </a:p>
        </p:txBody>
      </p:sp>
      <p:sp>
        <p:nvSpPr>
          <p:cNvPr id="8" name="S11-chip24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4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건물이 많고 회사와 가게에서 일해요.</a:t>
            </a:r>
            <a:endParaRPr lang="ko-KR" sz="3000" dirty="0"/>
          </a:p>
        </p:txBody>
      </p:sp>
      <p:sp>
        <p:nvSpPr>
          <p:cNvPr id="10" name="S11-chip24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4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벼농사를 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어떻게 도울까요?</a:t>
            </a:r>
            <a:endParaRPr lang="ko-KR" sz="4000" dirty="0"/>
          </a:p>
        </p:txBody>
      </p:sp>
      <p:sp>
        <p:nvSpPr>
          <p:cNvPr id="3" name="S13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어촌인 ‘파도마을’과 도시인 ‘별빛시’가 있어요.</a:t>
            </a:r>
            <a:endParaRPr lang="ko-KR" sz="3000" dirty="0"/>
          </a:p>
        </p:txBody>
      </p:sp>
      <p:sp>
        <p:nvSpPr>
          <p:cNvPr id="4" name="S13-chip25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5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파도마을이 별빛시에 주는 것은?</a:t>
            </a:r>
            <a:endParaRPr lang="ko-KR" sz="3000" dirty="0"/>
          </a:p>
        </p:txBody>
      </p:sp>
      <p:sp>
        <p:nvSpPr>
          <p:cNvPr id="6" name="S13-chip2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5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별빛시가 파도마을에 주는 것은?</a:t>
            </a:r>
            <a:endParaRPr lang="ko-KR" sz="3000" dirty="0"/>
          </a:p>
        </p:txBody>
      </p:sp>
      <p:sp>
        <p:nvSpPr>
          <p:cNvPr id="8" name="S13-chip25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5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어떤 사이인지 한 문장으로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촌락은 자연을 이용해 일하고, 도시는 여러 가지 일을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필요한 것을 주고받으며 서로 도와요.</a:t>
            </a:r>
            <a:endParaRPr lang="ko-KR" sz="3000" dirty="0"/>
          </a:p>
        </p:txBody>
      </p:sp>
      <p:sp>
        <p:nvSpPr>
          <p:cNvPr id="5" name="S14-chip2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일과 모습으로 비교하기</a:t>
            </a:r>
            <a:endParaRPr lang="ko-KR" sz="2400" dirty="0"/>
          </a:p>
        </p:txBody>
      </p:sp>
      <p:sp>
        <p:nvSpPr>
          <p:cNvPr id="6" name="S14-chip2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어느 곳이 더 좋다고 판단하기</a:t>
            </a:r>
            <a:endParaRPr lang="ko-KR" sz="2400" dirty="0"/>
          </a:p>
        </p:txBody>
      </p:sp>
      <p:sp>
        <p:nvSpPr>
          <p:cNvPr id="7" name="S14-text2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촌락의 세 가지는?</a:t>
            </a:r>
            <a:endParaRPr lang="ko-KR" sz="2400" dirty="0"/>
          </a:p>
        </p:txBody>
      </p:sp>
      <p:sp>
        <p:nvSpPr>
          <p:cNvPr id="9" name="S14-text2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도시의 특징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400" dirty="0"/>
          </a:p>
        </p:txBody>
      </p:sp>
      <p:sp>
        <p:nvSpPr>
          <p:cNvPr id="10" name="S14-text2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촌락과 도시가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주고받는 것은?</a:t>
            </a:r>
            <a:endParaRPr lang="ko-KR" sz="2400" dirty="0"/>
          </a:p>
        </p:txBody>
      </p:sp>
      <p:sp>
        <p:nvSpPr>
          <p:cNvPr id="11" name="S14-text2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문화유산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방위와 거리 다시 읽기</a:t>
            </a:r>
            <a:endParaRPr lang="ko-KR" sz="4000" dirty="0"/>
          </a:p>
        </p:txBody>
      </p:sp>
      <p:sp>
        <p:nvSpPr>
          <p:cNvPr id="3" name="S15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방위표의 화살표 쪽이 북쪽, 한 칸은 1 km예요.</a:t>
            </a:r>
            <a:endParaRPr lang="ko-KR" sz="3000" dirty="0"/>
          </a:p>
        </p:txBody>
      </p:sp>
      <p:sp>
        <p:nvSpPr>
          <p:cNvPr id="4" name="S15-figure26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268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269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270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271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272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273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274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275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276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277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278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279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280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281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282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283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284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mark285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5-mark286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5-mark287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5-mark288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5-mark289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5-mark290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5-mark291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5-mark292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5-mark293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15-mark294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15-mark295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5-mark296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5-mark297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15-mark298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15-mark299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15-mark300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15-mark301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15-mark302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15-mark303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15-mark304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15-mark305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15-mark306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15-mark307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5-mark308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15-mark309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15-mark310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15-mark311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15-mark312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15-mark313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15-mark314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15-mark315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15-mark316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15-mark317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15-mark318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15-mark319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5-mark320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15-mark321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5-mark322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15-mark323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15-mark324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15-mark325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mark326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abel328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15-labelbg330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15-label331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15-labelbg333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15-label334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15-labelbg336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15-label337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15-labelbg339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15-label340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15-labelbg342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15-label343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15-label345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15-label347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15-chip3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15-text34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나 마을은 어느 쪽?</a:t>
            </a:r>
            <a:endParaRPr lang="ko-KR" sz="3000" dirty="0"/>
          </a:p>
        </p:txBody>
      </p:sp>
      <p:sp>
        <p:nvSpPr>
          <p:cNvPr id="79" name="S15-chip3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15-text35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나 마을까지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 칸, 몇 km?</a:t>
            </a:r>
            <a:endParaRPr lang="ko-KR" sz="3000" dirty="0"/>
          </a:p>
        </p:txBody>
      </p:sp>
      <p:sp>
        <p:nvSpPr>
          <p:cNvPr id="81" name="S15-chip3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15-text35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지도의 어느 쪽에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촌락과 도시</dc:title>
  <dc:subject>KR22-G04-SOC-REGION-L01</dc:subject>
  <dc:creator>education-ppt</dc:creator>
  <cp:lastModifiedBy>education-ppt</cp:lastModifiedBy>
  <cp:revision>1</cp:revision>
  <dcterms:created xsi:type="dcterms:W3CDTF">2026-10-26T09:39:35Z</dcterms:created>
  <dcterms:modified xsi:type="dcterms:W3CDTF">2026-10-26T09:39:35Z</dcterms:modified>
</cp:coreProperties>
</file>