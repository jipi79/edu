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066b065-12bb-a899-bbcd-f80b577f9459}">
          <p14:sldIdLst>
            <p14:sldId id="256"/>
            <p14:sldId id="257"/>
          </p14:sldIdLst>
        </p14:section>
        <p14:section name="개념" id="{ed245ed4-99db-59af-c605-ce2baeb54b28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498404fd-52d4-3180-b5f2-f02a7dd29ac8}">
          <p14:sldIdLst>
            <p14:sldId id="264"/>
            <p14:sldId id="265"/>
          </p14:sldIdLst>
        </p14:section>
        <p14:section name="확인" id="{8a1133e0-e0f2-df2a-481f-a56e1a392e26}">
          <p14:sldIdLst>
            <p14:sldId id="266"/>
            <p14:sldId id="267"/>
            <p14:sldId id="268"/>
          </p14:sldIdLst>
        </p14:section>
        <p14:section name="정리" id="{cff20cca-fdc1-04d5-a556-fafcd4e81c98}">
          <p14:sldIdLst>
            <p14:sldId id="269"/>
          </p14:sldIdLst>
        </p14:section>
        <p14:section name="보충" id="{3a25a6c2-8756-9eb0-9e22-29d4c6f7f98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글마다 내용을 늘어놓는 방식이 다르다는 것을 생각하게 합니다.
시간: 약 2분
이렇게 말해 보세요
- “라면 끓이는 방법을 쓴 글과, 개와 고양이를 견주는 글은 내용을 늘어놓는 방법이 같을까?”
- “글쓴이가 내용을 늘어놓은 틀을 ‘글의 짜임’이라고 해. 오늘은 짜임을 알아보고, 짜임에 맞게 정리하는 방법을 배울 거야.”
예상 답
- “라면은 순서대로 써요.” “잘 모르겠어요.”
막히면
- 부엌의 조리 순서나 장난감 설명서처럼 집에 있는 글을 하나 보여 주고 “이건 어떤 순서로 썼어?”라고 묻습니다.
주의
- 아이의 생각을 고치지 말고 들어 둡니다. S03에서 세 가지 짜임을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확인(문단과 문단의 관계)]
목적: 4학년 ‘문단과 문단의 관계’(KR22-G04-KOR-PARAREL-L01)에서 배운, 이어 주는 말과 중심 내용으로 두 문단의 관계를 고르는 힘이 있는지 확인합니다.
시간: 약 3분
이렇게 말해 보세요
- “두 문단의 중심 내용을 말해 볼래? 그리고 ②문단 첫머리의 이어 주는 말을 찾아봐.”
- “두 문단은 어떤 관계야? 왜 그렇게 생각해?”
정답
- 까닭과 결과. ‘그래서’가 있고, 물을 주지 않아 흙이 마른 것(까닭) 때문에 잎이 늘어졌습니다(결과).
막히면
- “잎이 왜 늘어졌을까? ①문단에 그 까닭이 있어?”라고 묻습니다.
- 관계를 고르지 못하면 S15(보충)를 먼저 하고, 그래도 어려우면 ‘문단과 문단의 관계’(KR22-G04-KOR-PARAREL-L01)를 다시 합니다.
주의
- ‘그래서’만 보고 답했다면 “중심 내용끼리 견주어도 그래?”라고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글의 짜임 세 가지]
목적: 글의 짜임 세 가지와 각 짜임을 알려 주는 말을 알려 줍니다(목표 A).
시간: 약 3분
이렇게 말해 보세요
- “시간 순서는 일이 일어난 차례대로 쓴 글이야. 식물이 자라는 차례, 음식 만드는 차례 같은 거지.”
- “비교와 대조는 두 가지를 견주어 같은 점과 다른 점을 쓴 글이야. 같은 점을 찾는 걸 비교, 다른 점을 찾는 걸 대조라고 해.”
- “나열은 지난 시간의 ‘덧붙이기’처럼 여러 가지를 하나씩 늘어놓은 글이야.”
예상 답
- “‘먼저’가 나오면 시간 순서예요.”
막히면
- 카드마다 생활 속 예를 하나씩 들어 줍니다(시간 순서: 아침에 하는 일, 비교와 대조: 사과와 귤, 나열: 교실에서 지킬 일).
주의
- 오늘은 시간 순서와 비교와 대조를 자세히 다룹니다. 나열은 짜임을 고를 때만 다룹니다.
- 비교와 대조 글에는 ‘~와 달리’, ‘~지만’ 같은 말도 자주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읽기(시간 순서)]
목적: 부모가 생각을 소리 내어 말하며 짜임을 알려 주는 말을 찾고 시간 순서 짜임임을 알아내는 과정을 보여 줍니다.
시간: 약 4분
이렇게 말해 보세요
- “엄마(아빠)가 먼저 읽고 생각해 볼게. ‘먼저’, ‘그다음’, ‘시간이 지나면’, ‘마지막으로’… 차례를 알려 주는 말이 계속 나오네.”
- “씨 → 떡잎 → 본잎과 줄기 → 꽃 → 꼬투리와 새 씨. 강낭콩이 자라는 차례대로 썼으니까 시간 순서 짜임이야.”
- “순서를 바꿔서 꽃이 먼저 피고 떡잎이 나온다고 하면 말이 될까?”
예상 답
- “안 돼요. 떡잎이 먼저 나와요.”
정답
- 짜임: 시간 순서
- 짜임을 알려 주는 말: 며칠 뒤, 먼저, 그다음, 시간이 지나면, 꽃이 지면, 마지막으로
막히면
- 문단마다 강낭콩이 어떤 모습인지 한마디로 말하게 한 뒤 손가락으로 차례를 세어 봅니다.
주의
- 시간 순서 글은 순서를 바꾸면 말이 되지 않는다는 점을 짚어 두면, 나열과 헷갈리지 않습니다(오해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시간 순서 틀(차례 상자)]
목적: 시간 순서 짜임의 글은 차례 상자(흐름도)로 정리한다는 것을 보여 줍니다(목표 B).
시간: 약 3분
이렇게 말해 보세요
- “시간 순서 글은 이렇게 상자를 차례대로 놓고 화살표로 이어 정리하면 한눈에 보여.”
- “상자 하나에는 한 가지 일만 써. 글에서 ‘먼저’, ‘그다음’ 같은 말이 상자를 나누는 곳이야.”
예상 답
- “화살표 방향으로 자라요.”
막히면
- S04의 글과 차례 상자를 번갈아 보며 상자마다 글의 어느 부분인지 짚어 줍니다.
주의
- 처음의 ‘씨를 심는다’를 첫 상자로 넣어도 맞습니다. 차례가 바뀌지 않았는지가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시범 읽기(비교와 대조)]
목적: 부모가 생각을 소리 내어 말하며 비교와 대조 짜임을 알아내고 같은 점과 다른 점을 찾는 과정을 보여 줍니다.
시간: 약 4분
이렇게 말해 보세요
- “이 글은 두 동물을 견주고 있어. ①문단에 ‘둘 다’가 두 번 나오지? 같은 점을 말하는 거야.”
- “②문단은 ‘하지만’으로 시작해. 이제 다른 점을 말하겠구나. 몸이 몇 부분인지, 다리가 몇 개인지를 견주었어.”
- “③문단에서 또 무엇을 견주었는지 네가 찾아볼래?”
예상 답
- “날개요. 메뚜기는 있고 거미는 없어요.”
정답
- 짜임: 비교와 대조 (짜임을 알려 주는 말: 둘 다, 하지만, 다릅니다, ~지만)
- 같은 점: 몸집이 작다, 다리에 마디가 있다, 알을 낳는다
- 다른 점: 몸의 부분(메뚜기 3부분, 거미 2부분), 다리 수(6개, 8개), 날개(있다, 없다)
막히면
- “메뚜기에 대한 말에 한 색, 거미에 대한 말에 다른 색으로 밑줄을 그어 볼까?”라고 해 봅니다.
주의
- 거미가 곤충이 아니라는 것을 아이가 궁금해하면, 곤충은 몸이 머리·가슴·배 세 부분이고 다리가 여섯 개이며, 거미는 몸이 머리가슴과 배 두 부분이라고만 알려 주고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비교와 대조 틀(같은 점·다른 점 표)]
목적: 비교와 대조 짜임의 글은 같은 기준(견줄 점)으로 두 대상을 나란히 쓰는 표로 정리한다는 것을 보여 줍니다(목표 B, 오해 M3).
시간: 약 3분
이렇게 말해 보세요
- “왼쪽 칸이 ‘무엇을 견줄지’야. 한 줄에는 같은 것을 견주어 써. ‘다리’ 줄에는 메뚜기 다리 수와 거미 다리 수를 쓰는 거야.”
- “다른 점만 쓰면 반쪽이야. 같은 점은 어디에 썼지? 맨 아래에 ‘둘 다’로 썼어.”
예상 답
- “한 줄에 같은 걸 견줘요.”
막히면
- S06의 글에서 ‘다리가 여섯 개’, ‘다리가 여덟 개’를 찾아 표의 ‘다리’ 줄과 이어 보게 합니다.
주의
- 표의 칸이 많아 보이면 한 줄씩 손으로 가리며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짜임을 찾고 정리하는 순서]
목적: 지금까지 한 일을 순서로 정리하고, 시간 순서와 나열을 구별하는 방법을 알려 줍니다(오해 M1).
시간: 약 2분
이렇게 말해 보세요
- “강낭콩 글과 메뚜기·거미 글에서 우리가 한 순서야. 하나씩 같이 읽어 볼까?”
- “‘첫째, 둘째’도 차례 같지? 그런데 순서를 바꿔 읽어도 말이 되면 나열이야.”
예상 답
- 아이가 1~4를 자기 말로 다시 말합니다.
막히면
- S04와 S06으로 돌아가 단계마다 무엇을 했는지 짚어 봅니다.
주의
- 아이가 지치면 여기서 쉬고, 다음 날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짜임 고르기]
목적: 짧은 글에서 짜임을 알려 주는 말을 찾아 세 가지 짜임을 구별해 봅니다(목표 A).
시간: 약 3분
이렇게 말해 보세요
- “①부터 읽고 짜임을 알려 주는 말에 손가락을 대 볼래? 어떤 짜임이야?”
- “③은 ‘첫째, 둘째’가 있어. 시간 순서일까? 둘째를 먼저 읽어도 말이 될까?”
정답
- ① 시간 순서(먼저, 그다음, 마지막으로)
- ② 비교와 대조(둘 다, 하지만)
- ③ 나열(첫째, 둘째). 순서를 바꿔도 뜻이 통합니다.
막히면
- S03의 카드를 다시 보여 주고, 카드의 말과 같은 말을 찾게 합니다.
주의
- ③을 시간 순서라고 하면 꾸짖지 말고, 순서를 바꿔 읽어 보게 합니다(오해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오해 비교(같은 기준으로 견주기)]
목적: 비교와 대조를 정리할 때 같은 기준으로 견주어야 한다는 것을 비교로 확인합니다(오해 M2).
시간: 약 3분
이렇게 말해 보세요
- “가 친구는 메뚜기의 무엇과 거미의 무엇을 견주었어? 나 친구는?”
- “가처럼 쓰면 메뚜기에게 날개가 있는지, 거미 다리가 몇 개인지 알 수 있어?”
정답
- 나. 두 동물을 ‘다리 수’라는 같은 기준으로 견주었습니다.
- 가는 메뚜기는 다리, 거미는 날개를 말해서 서로 다른 것을 견주었습니다.
막히면
- S07의 표를 보여 주고 “한 줄에는 같은 것을 견주었지?”라고 묻습니다.
주의
- 가의 두 문장도 내용은 맞습니다. 틀린 내용이 아니라 ‘견주는 방법’이 아쉽다는 점을 분명히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보기(비교와 대조)]
목적: 도움 없이 글의 짜임을 고르고, 같은 점과 다른 점을 같은 기준으로 찾는지 확인합니다(목표 A·B).
시간: 약 5분
이렇게 말해 보세요
- “이번에는 혼자 해 볼래? 활동지 2·3에 같은 글이 있으니 짜임을 알려 주는 말에 ○ 해도 돼.”
- “다른 점을 말할 때는 S07의 표처럼 같은 것끼리 견주어 말해 줘.”
정답
- 짜임: 비교와 대조. 까닭: ‘둘 다’, ‘하지만’, ‘다른 점’이 있고 두 동물을 견주기 때문입니다.
- 같은 점: 고양잇과의 큰 동물이다, 사냥해 고기를 먹는다(하나 이상)
- 다른 점: 줄무늬(호랑이 있음, 사자 없음), 사는 곳(숲, 풀밭), 사는 모습(혼자, 무리) 가운데 하나를 두 동물 모두에 대해 말하면 맞음
막히면
- S08의 단계 2 “짜임을 알려 주는 말에 ○ 해요.”부터 다시 합니다.
- 도움을 받아 찾았다면 기록표에 ‘도움’으로 표시합니다.
주의
- 다른 점을 ‘호랑이는 줄무늬가 있어요.’처럼 한쪽만 말하면 “사자는?”이라고 물어 같은 기준으로 마저 말하게 합니다(오해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답은 왼쪽과 같아? 오른쪽 답은 왜 아쉬울까?”
예상 답
- “줄무늬랑 무리는 다른 걸 견준 거라서요.”
정답
- 비교와 대조 / 같은 점: 고양잇과의 큰 동물, 사냥해 고기를 먹음 / 다른 점: 줄무늬(있음·없음), 사는 곳(숲·풀밭), 사는 모습(혼자·무리)
막히면
- 활동지 3의 표에 함께 정리해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확인(시간 순서와 차례 상자)]
목적: 처음 보는 글의 짜임을 고르고, 짜임에 맞는 틀(차례 상자)로 정리하는지 확인합니다(목표 A·B).
시간: 약 3분
이렇게 말해 보세요
- “이 글은 어떤 짜임이야? 짜임을 알려 주는 말은?”
- “차례 상자 네 칸에 무엇을 쓸지 순서대로 말해 줄래? 활동지 4에 써도 돼.”
정답
- 짜임: 시간 순서(얼마 뒤, 이어서, 마지막으로)
- 차례 상자: 알 → 올챙이 → 뒷다리, 앞다리가 나온 올챙이 → 개구리 (‘뒷다리’와 ‘앞다리’를 나누어 다섯 칸으로 말해도 차례가 맞으면 맞음)
막히면
- S05의 강낭콩 차례 상자를 다시 보여 줍니다.
주의
- 앞다리가 뒷다리보다 먼저 나온다고 하면 글을 다시 읽어 ‘이어서’의 뜻을 확인합니다. 짜임만 맞히고 차례를 바르게 말하지 못하면 기록표에 ‘짜임만’으로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“글의 짜임을 알아내는 방법을 한 문장으로 말해 볼래?”
예상 답
- “짜임을 알려 주는 말을 찾아서 시간 순서인지 비교와 대조인지 알아요.”
정답
- ① 시간 순서 ② 비교와 대조 ③ 같은 점·다른 점 표(왼쪽 칸에 견줄 점을 쓰는 표)
막히면
- S03의 카드와 S07의 표를 다시 보여 줍니다.
주의
- 요리법, 설명서, 동물 책을 함께 볼 때 “이 글은 어떤 짜임이야?”라고 물어보면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보충(문장을 잇는 말로 관계 알기)]
목적: 문단보다 짧은 두 문장으로 이어 주는 말과 관계(까닭과 결과, 반대, 덧붙이기)를 먼저 익힙니다.
시간: 약 4분
이렇게 말해 보세요
- “첫 줄에 세 낱말을 하나씩 넣어 읽어 볼까? 어느 것이 가장 자연스러워?”
- “비가 와서 우산을 쓴 거니까 앞이 까닭이고 뒤가 결과야. 그럼 둘째 줄은?”
정답
- ① 그래서(까닭과 결과) ② 하지만(반대) ③ 또(덧붙이기)
막히면
- 실제로 우산을 펴는 흉내를 내며 “비가 와서 우산을 썼어.”처럼 ‘~해서’로 바꾸어 말해 줍니다.
- 보충으로도 어렵다면 ‘문단과 문단의 관계’(KR22-G04-KOR-PARAREL-L01)를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읽기와요약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글의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글의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글의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짜임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글쓴이는 내용을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틀에 담았을까?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글의 짜임(시간 순서, 비교와 대조)을 알아볼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짜임에 맞는 틀에 내용을 정리할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문단은 어떻게 이어질까?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덧붙이기, 반대, 까닭과 결과 가운데 고르고 까닭을 말해요.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 집 화분의 흙이 바싹 말랐습니다. 며칠 동안 물을 주지 않았기 때문입니다.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그래서 화분의 잎이 축 늘어졌습니다. 잎 끝이 누렇게 변한 것도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짜임 세 가지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짜임은 글쓴이가 내용을 늘어놓은 틀이에요.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일어난 차례대로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먼저, 그다음,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마지막으로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다, 하지만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늘어놓기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첫째, 둘째, 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순서로 쓴 글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알려 주는 말을 찾아봐요.</a:t>
            </a:r>
            <a:endParaRPr lang="ko-KR" sz="30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강낭콩이 자라는 차례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강낭콩 씨를 흙에 심고 물을 주면 며칠 뒤 싹이 틉니다. 먼저 두꺼운 떡잎 두 장이 땅 위로 나옵니다.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그다음 떡잎 사이에서 본잎이 나오고 줄기가 길게 자랍니다. 시간이 지나면 줄기에 꽃이 핍니다.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꽃이 지면 그 자리에 꼬투리가 생깁니다. 마지막으로 꼬투리 속에서 새 씨가 여뭅니다.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순서는 차례 상자로</a:t>
            </a:r>
            <a:endParaRPr lang="ko-KR" sz="4000" dirty="0"/>
          </a:p>
        </p:txBody>
      </p:sp>
      <p:sp>
        <p:nvSpPr>
          <p:cNvPr id="3" name="S05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 글을 차례 상자에 정리했어요.</a:t>
            </a:r>
            <a:endParaRPr lang="ko-KR" sz="3000" dirty="0"/>
          </a:p>
        </p:txBody>
      </p:sp>
      <p:sp>
        <p:nvSpPr>
          <p:cNvPr id="4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일어난 차례대로 상자에 한 가지씩 써요.</a:t>
            </a:r>
            <a:endParaRPr lang="ko-KR" sz="3000" dirty="0"/>
          </a:p>
        </p:txBody>
      </p:sp>
      <p:sp>
        <p:nvSpPr>
          <p:cNvPr id="6" name="S05-step22"/>
          <p:cNvSpPr txBox="1"/>
          <p:nvPr/>
        </p:nvSpPr>
        <p:spPr>
          <a:xfrm>
            <a:off x="548640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떡잎이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나와요</a:t>
            </a:r>
            <a:endParaRPr lang="ko-KR" sz="2400" dirty="0"/>
          </a:p>
        </p:txBody>
      </p:sp>
      <p:sp>
        <p:nvSpPr>
          <p:cNvPr id="7" name="S05-line23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5-step24"/>
          <p:cNvSpPr txBox="1"/>
          <p:nvPr/>
        </p:nvSpPr>
        <p:spPr>
          <a:xfrm>
            <a:off x="3424428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본잎과 줄기가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자라요</a:t>
            </a:r>
            <a:endParaRPr lang="ko-KR" sz="2400" dirty="0"/>
          </a:p>
        </p:txBody>
      </p:sp>
      <p:sp>
        <p:nvSpPr>
          <p:cNvPr id="9" name="S05-line25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5-step26"/>
          <p:cNvSpPr txBox="1"/>
          <p:nvPr/>
        </p:nvSpPr>
        <p:spPr>
          <a:xfrm>
            <a:off x="6300216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피어요</a:t>
            </a:r>
            <a:endParaRPr lang="ko-KR" sz="2400" dirty="0"/>
          </a:p>
        </p:txBody>
      </p:sp>
      <p:sp>
        <p:nvSpPr>
          <p:cNvPr id="11" name="S05-line27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5-step28"/>
          <p:cNvSpPr txBox="1"/>
          <p:nvPr/>
        </p:nvSpPr>
        <p:spPr>
          <a:xfrm>
            <a:off x="9176004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꼬투리에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씨가 여물어요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대조로 쓴 글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점을 찾아봐요.</a:t>
            </a:r>
            <a:endParaRPr lang="ko-KR" sz="3000" dirty="0"/>
          </a:p>
        </p:txBody>
      </p:sp>
      <p:sp>
        <p:nvSpPr>
          <p:cNvPr id="5" name="S06-passagebox3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메뚜기와 거미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메뚜기와 거미는 둘 다 몸집이 작은 동물입니다. 둘 다 다리에 마디가 있고, 알을 낳습니다.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몸의 생김새는 다릅니다. 메뚜기는 몸이 세 부분으로 나뉘고 다리가 여섯 개입니다. 거미는 몸이 두 부분으로 나뉘고 다리가 여덟 개입니다.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날개도 다릅니다. 메뚜기는 날개가 있어 날 수 있지만, 거미는 날개가 없습니다.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대조는 표로</a:t>
            </a:r>
            <a:endParaRPr lang="ko-KR" sz="4000" dirty="0"/>
          </a:p>
        </p:txBody>
      </p:sp>
      <p:sp>
        <p:nvSpPr>
          <p:cNvPr id="3" name="S07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칸에 무엇을 견줄지 먼저 써요.</a:t>
            </a:r>
            <a:endParaRPr lang="ko-KR" sz="3000" dirty="0"/>
          </a:p>
        </p:txBody>
      </p:sp>
      <p:sp>
        <p:nvSpPr>
          <p:cNvPr id="4" name="S07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점: 둘 다 다리에 마디가 있고, 알을 낳아요.</a:t>
            </a:r>
            <a:endParaRPr lang="ko-KR" sz="3000" dirty="0"/>
          </a:p>
        </p:txBody>
      </p:sp>
      <p:graphicFrame>
        <p:nvGraphicFramePr>
          <p:cNvPr id="8" name="S07-table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463800"/>
          <a:ext cx="8229600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2715768"/>
                <a:gridCol w="2715768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견줄 점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메뚜기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거미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몸의 부분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3부분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2부분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짜임 찾는 순서</a:t>
            </a:r>
            <a:endParaRPr lang="ko-KR" sz="4000" dirty="0"/>
          </a:p>
        </p:txBody>
      </p:sp>
      <p:sp>
        <p:nvSpPr>
          <p:cNvPr id="3" name="S08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헷갈리면 순서를 바꿔 읽어 봐요. 말이 안 되면 시간 순서예요.</a:t>
            </a:r>
            <a:endParaRPr lang="ko-KR" sz="3000" dirty="0"/>
          </a:p>
        </p:txBody>
      </p:sp>
      <p:sp>
        <p:nvSpPr>
          <p:cNvPr id="5" name="S08-stepno39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40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찾아요.</a:t>
            </a:r>
            <a:endParaRPr lang="ko-KR" sz="3000" dirty="0"/>
          </a:p>
        </p:txBody>
      </p:sp>
      <p:sp>
        <p:nvSpPr>
          <p:cNvPr id="7" name="S08-stepno41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42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알려 주는 말에 ○ 해요.</a:t>
            </a:r>
            <a:endParaRPr lang="ko-KR" sz="3000" dirty="0"/>
          </a:p>
        </p:txBody>
      </p:sp>
      <p:sp>
        <p:nvSpPr>
          <p:cNvPr id="9" name="S08-stepno43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44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순서, 비교와 대조, 나열 가운데 골라요.</a:t>
            </a:r>
            <a:endParaRPr lang="ko-KR" sz="3000" dirty="0"/>
          </a:p>
        </p:txBody>
      </p:sp>
      <p:sp>
        <p:nvSpPr>
          <p:cNvPr id="11" name="S08-stepno45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8-text46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맞는 틀에 정리해요.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짜임일까요?</a:t>
            </a:r>
            <a:endParaRPr lang="ko-KR" sz="4000" dirty="0"/>
          </a:p>
        </p:txBody>
      </p:sp>
      <p:sp>
        <p:nvSpPr>
          <p:cNvPr id="3" name="S09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알려 주는 말을 찾아 짜임을 말해 보세요.</a:t>
            </a:r>
            <a:endParaRPr lang="ko-KR" sz="3000" dirty="0"/>
          </a:p>
        </p:txBody>
      </p:sp>
      <p:sp>
        <p:nvSpPr>
          <p:cNvPr id="4" name="S09-chip4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text4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일어나면 먼저 이불을 개요. 그다음 세수를 하고, 마지막으로 아침밥을 먹어요.</a:t>
            </a:r>
            <a:endParaRPr lang="ko-KR" sz="3000" dirty="0"/>
          </a:p>
        </p:txBody>
      </p:sp>
      <p:sp>
        <p:nvSpPr>
          <p:cNvPr id="6" name="S09-chip5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9-text5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고래와 상어는 둘 다 바다에 살아요. 하지만 고래는 허파로, 상어는 아가미로 숨을 쉬어요.</a:t>
            </a:r>
            <a:endParaRPr lang="ko-KR" sz="3000" dirty="0"/>
          </a:p>
        </p:txBody>
      </p:sp>
      <p:sp>
        <p:nvSpPr>
          <p:cNvPr id="8" name="S09-chip5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9-text5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자전거를 탈 때 지킬 일이 있어요. 첫째, 헬멧을 써요. 둘째, 정해진 길로 다녀요.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잘 견주었을까?</a:t>
            </a:r>
            <a:endParaRPr lang="ko-KR" sz="4000" dirty="0"/>
          </a:p>
        </p:txBody>
      </p:sp>
      <p:sp>
        <p:nvSpPr>
          <p:cNvPr id="3" name="S10-card5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메뚜기와 거미의 다른 점을 두 친구가 이렇게 썼어요.</a:t>
            </a:r>
            <a:endParaRPr lang="ko-KR" sz="3000" dirty="0"/>
          </a:p>
        </p:txBody>
      </p:sp>
      <p:sp>
        <p:nvSpPr>
          <p:cNvPr id="5" name="S10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두 동물을 잘 견주었나요? 왜 그럴까요?</a:t>
            </a:r>
            <a:endParaRPr lang="ko-KR" sz="3000" dirty="0"/>
          </a:p>
        </p:txBody>
      </p:sp>
      <p:sp>
        <p:nvSpPr>
          <p:cNvPr id="7" name="S10-chip5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10-text5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메뚜기는 다리가 6개예요.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거미는 날개가 없어요.</a:t>
            </a:r>
            <a:endParaRPr lang="ko-KR" sz="3000" dirty="0"/>
          </a:p>
        </p:txBody>
      </p:sp>
      <p:sp>
        <p:nvSpPr>
          <p:cNvPr id="9" name="S10-chip6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10-text6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메뚜기는 다리가 6개예요.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거미는 다리가 8개예요.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6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6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짜임과 그 까닭을 말하고, 같은 점 하나와 다른 점 하나를 말해요.</a:t>
            </a:r>
            <a:endParaRPr lang="ko-KR" sz="3000" dirty="0"/>
          </a:p>
        </p:txBody>
      </p:sp>
      <p:sp>
        <p:nvSpPr>
          <p:cNvPr id="5" name="S11-passagebox64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65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호랑이와 사자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호랑이와 사자는 둘 다 고양잇과의 큰 동물입니다. 둘 다 날카로운 이빨과 발톱으로 다른 동물을 사냥해 고기를 먹습니다.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다른 점도 있습니다. 호랑이는 몸에 줄무늬가 있고, 주로 숲에서 혼자 삽니다. 사자는 줄무늬가 없고, 넓은 풀밭에서 무리를 지어 삽니다.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점도 찾고, 다른 점은 같은 기준으로 견주어요.</a:t>
            </a:r>
            <a:endParaRPr lang="ko-KR" sz="3000" dirty="0"/>
          </a:p>
        </p:txBody>
      </p:sp>
      <p:sp>
        <p:nvSpPr>
          <p:cNvPr id="5" name="S12-chip6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69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</a:t>
            </a:r>
            <a:endParaRPr lang="ko-KR" sz="3000" dirty="0"/>
          </a:p>
        </p:txBody>
      </p:sp>
      <p:sp>
        <p:nvSpPr>
          <p:cNvPr id="7" name="S12-text70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다, 하지만</a:t>
            </a:r>
            <a:endParaRPr lang="ko-KR" sz="2400" dirty="0"/>
          </a:p>
        </p:txBody>
      </p:sp>
      <p:sp>
        <p:nvSpPr>
          <p:cNvPr id="8" name="S12-text71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고기를 먹어요</a:t>
            </a:r>
            <a:endParaRPr lang="ko-KR" sz="3000" dirty="0"/>
          </a:p>
        </p:txBody>
      </p:sp>
      <p:sp>
        <p:nvSpPr>
          <p:cNvPr id="9" name="S12-text72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사냥해요</a:t>
            </a:r>
            <a:endParaRPr lang="ko-KR" sz="2400" dirty="0"/>
          </a:p>
        </p:txBody>
      </p:sp>
      <p:sp>
        <p:nvSpPr>
          <p:cNvPr id="10" name="S12-text73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줄무늬</a:t>
            </a:r>
            <a:endParaRPr lang="ko-KR" sz="3000" dirty="0"/>
          </a:p>
        </p:txBody>
      </p:sp>
      <p:sp>
        <p:nvSpPr>
          <p:cNvPr id="11" name="S12-text74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호랑이는 있고, 사자는 없어요</a:t>
            </a:r>
            <a:endParaRPr lang="ko-KR" sz="2400" dirty="0"/>
          </a:p>
        </p:txBody>
      </p:sp>
      <p:sp>
        <p:nvSpPr>
          <p:cNvPr id="12" name="S12-chip7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7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호랑이는 줄무늬,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사자는 무리</a:t>
            </a:r>
            <a:endParaRPr lang="ko-KR" sz="2400" dirty="0"/>
          </a:p>
        </p:txBody>
      </p:sp>
      <p:sp>
        <p:nvSpPr>
          <p:cNvPr id="14" name="S12-text7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달라요</a:t>
            </a:r>
            <a:endParaRPr lang="ko-KR" sz="2400" dirty="0"/>
          </a:p>
        </p:txBody>
      </p:sp>
      <p:sp>
        <p:nvSpPr>
          <p:cNvPr id="15" name="S12-text7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나열</a:t>
            </a:r>
            <a:endParaRPr lang="ko-KR" sz="3000" dirty="0"/>
          </a:p>
        </p:txBody>
      </p:sp>
      <p:sp>
        <p:nvSpPr>
          <p:cNvPr id="16" name="S12-text7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가지를 견주는 글이에요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짜임일까요?</a:t>
            </a:r>
            <a:endParaRPr lang="ko-KR" sz="4000" dirty="0"/>
          </a:p>
        </p:txBody>
      </p:sp>
      <p:sp>
        <p:nvSpPr>
          <p:cNvPr id="3" name="S13-card8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8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말하고, 차례 상자 네 칸에 들어갈 말을 순서대로 말해요.</a:t>
            </a:r>
            <a:endParaRPr lang="ko-KR" sz="3000" dirty="0"/>
          </a:p>
        </p:txBody>
      </p:sp>
      <p:sp>
        <p:nvSpPr>
          <p:cNvPr id="5" name="S13-passagebox82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83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봄이 되면 개구리는 물속에 알을 낳습니다. 알에서 깨어난 올챙이는 꼬리로 헤엄치며 자랍니다.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얼마 뒤 올챙이에게 뒷다리가 나오고, 이어서 앞다리가 나옵니다. 마지막으로 꼬리가 짧아져 없어지면 개구리가 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알려 주는 말로 글의 짜임을 알고,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맞는 틀에 내용을 정리해요.</a:t>
            </a:r>
            <a:endParaRPr lang="ko-KR" sz="3000" dirty="0"/>
          </a:p>
        </p:txBody>
      </p:sp>
      <p:sp>
        <p:nvSpPr>
          <p:cNvPr id="5" name="S14-chip8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기준으로 견주기</a:t>
            </a:r>
            <a:endParaRPr lang="ko-KR" sz="2400" dirty="0"/>
          </a:p>
        </p:txBody>
      </p:sp>
      <p:sp>
        <p:nvSpPr>
          <p:cNvPr id="6" name="S14-chip8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같은 점 빠뜨리기</a:t>
            </a:r>
            <a:endParaRPr lang="ko-KR" sz="2400" dirty="0"/>
          </a:p>
        </p:txBody>
      </p:sp>
      <p:sp>
        <p:nvSpPr>
          <p:cNvPr id="7" name="S14-text8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8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‘먼저, 그다음’은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짜임?</a:t>
            </a:r>
            <a:endParaRPr lang="ko-KR" sz="2400" dirty="0"/>
          </a:p>
        </p:txBody>
      </p:sp>
      <p:sp>
        <p:nvSpPr>
          <p:cNvPr id="9" name="S14-text9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‘둘 다, 하지만’은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짜임?</a:t>
            </a:r>
            <a:endParaRPr lang="ko-KR" sz="2400" dirty="0"/>
          </a:p>
        </p:txBody>
      </p:sp>
      <p:sp>
        <p:nvSpPr>
          <p:cNvPr id="10" name="S14-text9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비교와 대조를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정리하는 틀은?</a:t>
            </a:r>
            <a:endParaRPr lang="ko-KR" sz="2400" dirty="0"/>
          </a:p>
        </p:txBody>
      </p:sp>
      <p:sp>
        <p:nvSpPr>
          <p:cNvPr id="11" name="S14-text9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중심 내용 간추리기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문장을 잇는 말</a:t>
            </a:r>
            <a:endParaRPr lang="ko-KR" sz="4000" dirty="0"/>
          </a:p>
        </p:txBody>
      </p:sp>
      <p:sp>
        <p:nvSpPr>
          <p:cNvPr id="3" name="S15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)에 그래서, 하지만, 또 가운데 알맞은 말을 넣어 읽어요.</a:t>
            </a:r>
            <a:endParaRPr lang="ko-KR" sz="3000" dirty="0"/>
          </a:p>
        </p:txBody>
      </p:sp>
      <p:sp>
        <p:nvSpPr>
          <p:cNvPr id="4" name="S15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 내용이 어떻게 이어지는지 보고 골라요.</a:t>
            </a:r>
            <a:endParaRPr lang="ko-KR" sz="3000" dirty="0"/>
          </a:p>
        </p:txBody>
      </p:sp>
      <p:sp>
        <p:nvSpPr>
          <p:cNvPr id="6" name="S15-word96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왔어요. (　　) 우산을 썼어요.</a:t>
            </a:r>
            <a:endParaRPr lang="ko-KR" sz="3400" dirty="0"/>
          </a:p>
        </p:txBody>
      </p:sp>
      <p:sp>
        <p:nvSpPr>
          <p:cNvPr id="7" name="S15-word97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왔어요. (　　) 우산이 없었어요.</a:t>
            </a:r>
            <a:endParaRPr lang="ko-KR" sz="3400" dirty="0"/>
          </a:p>
        </p:txBody>
      </p:sp>
      <p:sp>
        <p:nvSpPr>
          <p:cNvPr id="8" name="S15-word98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왔어요. (　　) 바람도 불었어요.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글의 짜임</dc:title>
  <dc:subject>KR22-G04-KOR-TEXTFORM-L01</dc:subject>
  <dc:creator>education-ppt</dc:creator>
  <cp:lastModifiedBy>education-ppt</cp:lastModifiedBy>
  <cp:revision>1</cp:revision>
  <dcterms:created xsi:type="dcterms:W3CDTF">2026-10-26T07:48:05Z</dcterms:created>
  <dcterms:modified xsi:type="dcterms:W3CDTF">2026-10-26T07:48:05Z</dcterms:modified>
</cp:coreProperties>
</file>