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783ec3e-ed4b-b5b9-50f2-51f22be12d68}">
          <p14:sldIdLst>
            <p14:sldId id="256"/>
            <p14:sldId id="257"/>
          </p14:sldIdLst>
        </p14:section>
        <p14:section name="개념" id="{b6b4d346-0c3a-e442-0ebb-7f8cf27885f7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422f1b61-69af-7579-5f7e-7775dfd6c6da}">
          <p14:sldIdLst>
            <p14:sldId id="263"/>
            <p14:sldId id="264"/>
            <p14:sldId id="265"/>
          </p14:sldIdLst>
        </p14:section>
        <p14:section name="확인" id="{770f5195-1bb2-bcb4-add0-8ae114d888f8}">
          <p14:sldIdLst>
            <p14:sldId id="266"/>
            <p14:sldId id="267"/>
            <p14:sldId id="268"/>
          </p14:sldIdLst>
        </p14:section>
        <p14:section name="정리" id="{99b08365-a188-2db9-f6f0-f4f401ebca6d}">
          <p14:sldIdLst>
            <p14:sldId id="269"/>
          </p14:sldIdLst>
        </p14:section>
        <p14:section name="보충" id="{b37b350c-b02a-2445-deb9-166eca67df6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글이 여러 문단으로 이루어져 있다는 것을 떠올리게 합니다.
시간: 약 2분
이렇게 말해 보세요
- “글은 문장이 모여 문단이 되고, 문단이 모여 글이 돼. 그럼 문단끼리는 아무렇게나 붙어 있을까?”
- “오늘은 문단마다 중심 내용을 찾고, 문단과 문단이 어떻게 이어지는지 알아볼 거야.”
예상 답
- “차례대로 이어져요.” “잘 모르겠어요.”
막히면
- 아이가 좋아하는 책 한 쪽을 펼쳐 문단이 몇 개인지 함께 세어 봅니다.
주의
- 아이의 생각을 고치지 말고 들어 둡니다. S06에서 세 가지 관계를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확인(중심 문장 찾기)]
목적: 3학년 ‘문단의 중심 문장’(KR22-G03-KOR-MAINIDEA-L01)에서 배운 중심 문장과 뒷받침 문장을 구별할 수 있는지 확인합니다.
시간: 약 3분
이렇게 말해 보세요
- “문단을 소리 내어 읽어 볼래? 다른 문장들이 모두 설명하고 있는 문장은 어느 것일까?”
- “나머지 문장들은 그 문장의 무엇을 설명해?”
정답
- 중심 문장: 대나무는 쓰임이 많은 식물입니다.
- 나머지 문장(바구니·부채, 죽순, 피리)은 대나무의 쓰임을 하나씩 예로 들어 설명하는 뒷받침 문장입니다.
막히면
- “이 문단은 무엇에 대한 이야기야? 한마디로 말해 볼래?”라고 묻습니다.
- 중심 문장을 찾지 못하면 S15(보충)를 먼저 합니다.
주의
- ‘죽순은 음식으로 먹습니다’처럼 재미있는 문장을 고르면 “그 문장이 다른 문장들을 모두 설명해?”라고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문단과 중심 내용]
목적: 문단마다 중심 내용이 있고, 문단들이 모여 글 전체의 생각을 전한다는 것을 알려 줍니다.
시간: 약 2분
이렇게 말해 보세요
- “3학년 때 문단에는 중심 문장이 있다고 배웠지? 그 문단에서 가장 하고 싶은 말을 중심 내용이라고 해.”
- “글에 문단이 여러 개 있으면, 문단마다 중심 내용이 하나씩 있어. 그걸 찾으면 문단끼리 어떻게 이어지는지 알 수 있어.”
예상 답
- “문단마다 대장 문장이 있어요.”
막히면
- S02의 대나무 문단으로 돌아가 “이 문단의 중심 내용은?”이라고 다시 묻습니다.
주의
- 오늘 다루는 문단은 모두 중심 문장이 있으므로, 중심 문장이 곧 중심 내용이라고 생각해도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읽기(문단마다 중심 내용)]
목적: 부모가 생각을 소리 내어 말하며 문단마다 중심 내용을 찾는 과정을 보여 줍니다.
시간: 약 4분
이렇게 말해 보세요
- “엄마(아빠)가 먼저 해 볼게. ①문단은 산소와 먼지 이야기가 나오는데, 둘 다 ‘맑은 공기’를 설명해. 그러니까 중심 내용은 ‘숲은 맑은 공기를 만들어 준다’야.”
- “②문단의 ‘나무뿌리가 흙을 붙잡는다’는 무엇을 설명하는 걸까? 숲이 흙이 쓸려 가는 걸 막는 까닭이지. 그래서 중심 내용은 첫 문장이야.”
- “③문단은 네가 찾아볼래?”
예상 답
- “숲은 여러 동물의 보금자리가 됩니다.”
정답
- ① 숲은 맑은 공기를 만들어 줍니다.
- ② 숲은 흙이 쓸려 내려가는 것을 막아 줍니다.
- ③ 숲은 여러 동물의 보금자리가 됩니다.
막히면
- 문장마다 손가락으로 짚으며 “이 문장은 다른 문장을 설명해, 설명을 받아?”라고 묻습니다.
주의
- ‘새들은 나뭇가지에 둥지를 틀고’처럼 예를 든 문장을 고르면, 그 문장을 빼고 읽어도 문단의 생각이 남는지 확인합니다(오해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문단별 중심 내용과 이어 주는 말 정리]
목적: 문단마다 찾은 중심 내용을 나란히 놓고, 이어 주는 말과 함께 보면 문단의 관계가 보인다는 것을 알려 줍니다(목표 A·B).
시간: 약 3분
이렇게 말해 보세요
- “세 문단의 중심 내용을 나란히 놓으니 어때? 모두 숲이 하는 일이네.”
- “②, ③문단 맨 앞의 ‘또’, ‘그리고’는 무슨 뜻일까? 앞 문단에 하나를 더 보탠다는 뜻이야. 이런 관계를 ‘덧붙이기’라고 해.”
예상 답
- “숲이 하는 일이 세 개 있어요.”
막히면
- 손가락 세 개를 펴고 “숲이 하는 일 하나, 또 하나, 그리고 또 하나.”라고 세어 보게 합니다.
주의
- 표의 중심 내용은 글의 문장을 조금 줄여 쓴 것입니다(‘쓸려 내려가는’ → ‘쓸려 가는’). 뜻이 같으면 아이가 줄여 말해도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문단의 관계 세 가지]
목적: 이웃한 두 문단의 세 가지 관계와 그것을 알려 주는 이어 주는 말을 알려 줍니다(목표 B).
시간: 약 3분
이렇게 말해 보세요
- “숲 글처럼 앞 문단에 하나를 더하면 ‘덧붙이기’야. ‘또’, ‘그리고’가 자주 나와.”
- “앞에서 한 말과 다른 쪽 이야기를 하면 ‘반대’야. ‘하지만’, ‘그러나’가 나와.”
- “앞 문단 때문에 생긴 일을 말하면 ‘까닭과 결과’야. ‘그래서’가 나와. ‘배가 고팠다. 그래서 밥을 먹었다.’ 같은 거지.”
예상 답
- “‘하지만’이 나오면 반대예요.”
막히면
- 짧은 두 문장으로 먼저 연습합니다. “비가 왔어. (　) 우산을 썼어.”(그래서) “비가 왔어. (　) 우산이 없었어.”(하지만) “비가 왔어. (　) 바람도 불었어.”(또)
주의
- 이어 주는 말은 단서일 뿐입니다. 결국은 두 문단의 중심 내용이 어떻게 이어지는지를 보아야 한다고 말해 줍니다(오해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관계를 찾는 순서]
목적: 지금까지 한 일을 순서로 정리해 혼자 할 때 쓰게 합니다.
시간: 약 3분
이렇게 말해 보세요
- “숲 글에서 우리가 한 순서를 정리해 보자. 하나씩 읽어 볼래?”
- “3번에서 이어 주는 말이 없으면 어떻게 할까? 4번처럼 중심 내용을 견주어 보면 돼.”
예상 답
- 아이가 1~4를 자기 말로 다시 말합니다.
막히면
- 단계마다 숲 글(S04)에 직접 해 보게 합니다.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찾기(반대)]
목적: 함께 문단마다 중심 내용을 찾고 두 문단의 관계를 골라 봅니다(목표 A·B).
시간: 약 4분
이렇게 말해 보세요
- “S07의 순서대로 같이 해 보자. ①문단의 중심 내용은? ②문단은?”
- “②문단 첫머리에 이어 주는 말이 있어? 그 말은 어떤 관계를 알려 줘? 중심 내용끼리 견주어도 그래?”
정답
- ① 펭귄은 새입니다(깃털이 있고 알을 낳는 새).
- ② 펭귄은 하늘을 날지 못합니다(대신 헤엄을 잘 칩니다).
- 관계: 반대. ‘하지만’이 있고, 새인데 날지 못한다는 앞과 다른 쪽 내용을 말합니다.
막히면
- “보통 새는 무엇을 할 수 있지? 그런데 펭귄은?”이라고 물어 ‘다른 쪽 내용’임을 느끼게 합니다.
주의
- ②의 중심 내용을 ‘지느러미처럼 저어 헤엄친다’로만 말하면 “날지 못한다는 말은 어디 갔을까?”라고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비교(같은 화제면 덧붙이기?)]
목적: 같은 화제를 다룬다고 모두 ‘덧붙이기’가 아님을 비교로 확인합니다(오해 M1).
시간: 약 3분
이렇게 말해 보세요
- “가 친구 말처럼 두 문단이 다 펭귄 이야기인 건 맞아. 그런데 숲 글도 다 숲 이야기였지. 그럼 무엇을 보고 관계를 골라야 할까?”
- “두 문단의 중심 내용을 나란히 말해 볼래? ‘펭귄은 새다’, ‘펭귄은 날지 못한다’. 둘은 같은 쪽 이야기야, 다른 쪽 이야기야?”
정답
- 나. 두 중심 내용(새이다 / 날지 못한다)이 서로 다른 쪽 내용이고, ‘하지만’이 그것을 알려 줍니다.
- 가는 화제가 같다는 것만 보고 골랐습니다. 관계는 화제가 아니라 중심 내용이 어떻게 이어지는지로 고릅니다.
막히면
- S05의 숲 표와 펭귄 글을 나란히 보여 주고 “숲 글의 ②는 ①에 무엇을 더했지? 펭귄 글의 ②는 ①에 무엇을 더했어?”라고 묻습니다.
주의
- 아이가 ‘하지만’이 있어서라고만 말하면, 중심 내용으로도 확인해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이어 주는 말 고르기(까닭과 결과)]
목적: 두 문단의 중심 내용을 견주어 알맞은 이어 주는 말을 고르게 합니다(목표 B, 오해 M2).
시간: 약 3분
이렇게 말해 보세요
- “빈칸이 있어서 이어 주는 말이 안 보이네. 그럼 무엇을 보면 될까? 두 문단의 중심 내용을 말해 볼래?”
- “②문단은 ①문단 때문에 생긴 일이야, ①과 반대야, ①에 하나 더한 거야?”
정답
- 그래서. 이를 닦지 않으면 이가 상하기 때문에(까닭) 밥을 먹은 뒤 이를 닦아야 한다(결과)는 관계입니다.
막히면
- 세 낱말을 하나씩 넣어 소리 내어 읽어 보고, 가장 자연스러운 것을 고르게 합니다.
주의
- ‘또’를 고르면 “②가 ①과 같은 쪽 이야기를 하나 더 한 거야, ① 때문에 해야 하는 일이야?”라고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찾기]
목적: 도움 없이 문단마다 중심 내용을 찾고, 이웃한 문단의 관계를 말하는지 확인합니다(목표 A·B).
시간: 약 5분
이렇게 말해 보세요
- “이번에는 혼자 해 볼래? 활동지 3·4에 같은 글이 있으니 밑줄과 동그라미를 해도 돼.”
- “S07의 순서대로 해 봐.”
정답
- ① 가뭄이 들면 땅이 마르고 강물이 줄어듭니다(가뭄의 뜻과 생기는 일).
- ② 가뭄 때문에 사람들이 어려움을 겪습니다.
- ③ 미리 준비하면 가뭄의 피해를 줄일 수 있습니다.
- ①→② 까닭과 결과(그래서), ②→③ 반대(하지만: 피해가 생긴다 / 피해를 줄일 수 있다)
막히면
- S07의 단계 2부터 다시 하게 하고, 문단 하나씩 “이 문단에서 가장 하고 싶은 말은?”이라고 묻습니다.
- 도움을 받아 찾았다면 기록표에 ‘도움’으로 표시합니다.
주의
- ②의 중심 내용을 ‘곡식이 잘 자라지 못한다’로만 말하면 ‘어려움’의 한 예라는 것을 짚어 줍니다(오해 M3). ①의 중심 내용은 ‘가뭄이란 무엇이고 무슨 일이 생기는지’를 함께 말해도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답은 왼쪽과 같아? 오른쪽 답은 왜 아쉬울까?”
예상 답
- “곡식 이야기는 어려움의 예라서요.” “③은 피해를 줄일 수 있다고 해서 반대예요.”
정답
- 중심 내용: ① 가뭄이 들면 땅이 마르고 강물이 줄어든다 ② 사람들이 어려움을 겪는다 ③ 미리 준비하면 피해를 줄일 수 있다
- 관계: ①→② 까닭과 결과, ②→③ 반대
막히면
- S11의 글을 다시 보여 주고 문단 첫머리의 이어 주는 말을 짚어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확인(이어 주는 말 없이 관계 고르기)]
목적: 이어 주는 말이 없는 처음 보는 두 문단에서 중심 내용을 견주어 관계를 고르는지 확인합니다(목표 B, 오해 M2).
시간: 약 2분
이렇게 말해 보세요
- “이번에는 문단 첫머리에 이어 주는 말이 없어. 두 문단의 중심 내용을 견주어 보면 어떤 관계일까?”
정답
- 덧붙이기. ①은 봄에 꽃이 핀다는 것, ②는 봄에 개구리도 깨어난다는 것으로, 봄에 일어나는 일을 하나 더 말합니다.
- ‘개구리도’의 ‘도’가 덧붙이는 단서입니다. 앞에 ‘또’를 넣어 읽어도 자연스럽습니다.
막히면
- 세 이어 주는 말(또, 하지만, 그래서)을 ②문단 앞에 하나씩 넣어 읽어 보게 합니다.
주의
- ‘까닭과 결과’(날씨가 따뜻해져서 개구리가 깬다)라고 하면, 그 생각도 일리가 있다고 인정한 뒤 “②문단이 ①문단 때문에 생긴 일을 말하려는 걸까, 봄에 일어나는 일을 하나 더 알려 주려는 걸까?”라고 묻습니다.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“문단과 문단의 관계를 찾는 방법을 한 문장으로 말해 볼래?”
예상 답
- “문단마다 중심 내용을 찾고, 이어 주는 말을 보고 관계를 찾아요.”
정답
- ① 덧붙이기 ② 반대 ③ 까닭과 결과
막히면
- S06의 세 카드를 다시 보여 줍니다.
주의
- 책이나 신문 기사를 읽을 때 ‘하지만’, ‘그래서’가 나오면 “이 문단은 앞 문단과 어떻게 이어져?”라고 한 번씩 물어보면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보충(다른 문장을 묶는 문장 찾기)]
목적: 생활 속 쉬운 문장으로 ‘묶는 문장(중심 문장)’과 ‘묶이는 문장(뒷받침 문장)’의 관계를 먼저 익힙니다.
시간: 약 4분
이렇게 말해 보세요
- “네 문장 가운데 나머지 세 문장을 모두 묶어 주는 문장은 어느 것일까?”
- “아빠의 설거지, 엄마의 빨래, 내 방 청소는 모두 무엇의 예야?”
정답
- 우리 가족은 주말마다 집안일을 나누어 합니다. (나머지 세 문장은 가족이 나누어 하는 집안일의 예)
막히면
- 먼저 낱말로 해 봅니다. “사과, 배, 귤을 한마디로 하면?”(과일) 그다음 문장으로 돌아옵니다.
- 보충으로도 어렵다면 3학년 ‘문단의 중심 문장’(KR22-G03-KOR-MAINIDEA-L01)을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읽기와요약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문단과 문단의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문단과 문단의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문단과 문단의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문단과 문단의 관계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문단과 문단은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이어질까?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문단마다 중심 내용을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문단과 문단이 어떻게 이어지는지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찾아볼까요?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무엇인가요? 나머지 문장들은 무엇을 하나요?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대나무는 쓰임이 많은 식물입니다. 줄기를 가늘게 쪼개어 바구니와 부채를 만듭니다. 땅에서 막 올라온 어린싹인 죽순은 음식으로 먹습니다. 대나무 줄기로 피리 같은 악기도 만듭니다.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내용이 있어요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찾으면 문단끼리 어떻게 이어지는지 보여요.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생각을 담은 덩어리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문단에서 가장 하고 싶은 말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문단이 모여 하나의 생각을 전해요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‘숲이 하는 일’ 읽기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내용은 무엇일까요?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숲이 하는 일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숲은 맑은 공기를 만들어 줍니다. 나무는 우리가 숨 쉬는 데 필요한 산소를 내보내고, 잎으로 공기 속 먼지를 붙잡습니다.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또 숲은 흙이 쓸려 내려가는 것을 막아 줍니다. 나무뿌리가 흙을 꽉 붙잡고 있어서 비가 많이 와도 흙이 덜 쓸려 갑니다.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그리고 숲은 여러 동물의 보금자리가 됩니다. 새들은 나뭇가지에 둥지를 틀고, 여러 곤충은 나무껍질 틈이나 낙엽 밑에서 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정리해 보면</a:t>
            </a:r>
            <a:endParaRPr lang="ko-KR" sz="4000" dirty="0"/>
          </a:p>
        </p:txBody>
      </p:sp>
      <p:sp>
        <p:nvSpPr>
          <p:cNvPr id="3" name="S05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②, ③은 숲이 하는 일을 하나씩 더 말해요. → 덧붙이기</a:t>
            </a:r>
            <a:endParaRPr lang="ko-KR" sz="3000" dirty="0"/>
          </a:p>
        </p:txBody>
      </p:sp>
      <p:graphicFrame>
        <p:nvGraphicFramePr>
          <p:cNvPr id="6" name="S05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99640"/>
          <a:ext cx="10515600" cy="914400"/>
        </p:xfrm>
        <a:graphic>
          <a:graphicData uri="http://schemas.openxmlformats.org/drawingml/2006/table">
            <a:tbl>
              <a:tblPr/>
              <a:tblGrid>
                <a:gridCol w="1156716"/>
                <a:gridCol w="2103120"/>
                <a:gridCol w="725576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이어 주는 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중심 내용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숲은 맑은 공기를 만들어 줍니다.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숲은 흙이 쓸려 가는 것을 막아 줍니다.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그리고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숲은 여러 동물의 보금자리가 됩니다.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문단은 이렇게 이어져요</a:t>
            </a:r>
            <a:endParaRPr lang="ko-KR" sz="4000" dirty="0"/>
          </a:p>
        </p:txBody>
      </p:sp>
      <p:sp>
        <p:nvSpPr>
          <p:cNvPr id="3" name="S06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주는 말이 없으면 두 중심 내용을 견주어 봐요.</a:t>
            </a:r>
            <a:endParaRPr lang="ko-KR" sz="3000" dirty="0"/>
          </a:p>
        </p:txBody>
      </p:sp>
      <p:sp>
        <p:nvSpPr>
          <p:cNvPr id="5" name="S06-card24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25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또, 그리고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내용에 하나를 더해요</a:t>
            </a:r>
            <a:endParaRPr lang="ko-KR" sz="3000" dirty="0"/>
          </a:p>
        </p:txBody>
      </p:sp>
      <p:sp>
        <p:nvSpPr>
          <p:cNvPr id="7" name="S06-card26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6-cardtext27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하지만, 그러나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앞과 다른 쪽 내용을 말해요</a:t>
            </a:r>
            <a:endParaRPr lang="ko-KR" sz="3000" dirty="0"/>
          </a:p>
        </p:txBody>
      </p:sp>
      <p:sp>
        <p:nvSpPr>
          <p:cNvPr id="9" name="S06-card28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29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까닭과 결과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내용 때문에 생긴 일을 말해요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문단의 관계 찾는 순서</a:t>
            </a:r>
            <a:endParaRPr lang="ko-KR" sz="4000" dirty="0"/>
          </a:p>
        </p:txBody>
      </p:sp>
      <p:sp>
        <p:nvSpPr>
          <p:cNvPr id="3" name="S07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 · 반대 · 까닭과 결과</a:t>
            </a:r>
            <a:endParaRPr lang="ko-KR" sz="3000" dirty="0"/>
          </a:p>
        </p:txBody>
      </p:sp>
      <p:sp>
        <p:nvSpPr>
          <p:cNvPr id="5" name="S07-stepno32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33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번호를 붙여요.</a:t>
            </a:r>
            <a:endParaRPr lang="ko-KR" sz="3000" dirty="0"/>
          </a:p>
        </p:txBody>
      </p:sp>
      <p:sp>
        <p:nvSpPr>
          <p:cNvPr id="7" name="S07-stepno34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35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한 문장으로 말해요.</a:t>
            </a:r>
            <a:endParaRPr lang="ko-KR" sz="3000" dirty="0"/>
          </a:p>
        </p:txBody>
      </p:sp>
      <p:sp>
        <p:nvSpPr>
          <p:cNvPr id="9" name="S07-stepno36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37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첫머리의 이어 주는 말에 ○ 해요.</a:t>
            </a:r>
            <a:endParaRPr lang="ko-KR" sz="3000" dirty="0"/>
          </a:p>
        </p:txBody>
      </p:sp>
      <p:sp>
        <p:nvSpPr>
          <p:cNvPr id="11" name="S07-stepno38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7-text39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중심 내용을 견주어 관계를 골라요.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‘펭귄’ 함께 읽기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말하고, 두 문단이 어떻게 이어지는지 말해요.</a:t>
            </a:r>
            <a:endParaRPr lang="ko-KR" sz="3000" dirty="0"/>
          </a:p>
        </p:txBody>
      </p:sp>
      <p:sp>
        <p:nvSpPr>
          <p:cNvPr id="5" name="S08-passagebox42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3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펭귄은 새입니다. 다른 새처럼 몸이 깃털로 덮여 있고, 알을 낳아 새끼를 기릅니다.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펭귄은 하늘을 날지 못합니다. 대신 짧고 단단한 날개를 지느러미처럼 저어 물속을 빠르게 헤엄칩니다.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알맞을까?</a:t>
            </a:r>
            <a:endParaRPr lang="ko-KR" sz="4000" dirty="0"/>
          </a:p>
        </p:txBody>
      </p:sp>
      <p:sp>
        <p:nvSpPr>
          <p:cNvPr id="3" name="S09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글의 두 문단이 어떻게 이어지는지 두 친구가 말했어요.</a:t>
            </a:r>
            <a:endParaRPr lang="ko-KR" sz="3000" dirty="0"/>
          </a:p>
        </p:txBody>
      </p:sp>
      <p:sp>
        <p:nvSpPr>
          <p:cNvPr id="5" name="S09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알맞나요? 왜 그렇게 생각하나요?</a:t>
            </a:r>
            <a:endParaRPr lang="ko-KR" sz="3000" dirty="0"/>
          </a:p>
        </p:txBody>
      </p:sp>
      <p:sp>
        <p:nvSpPr>
          <p:cNvPr id="7" name="S09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펭귄 이야기니까요.</a:t>
            </a:r>
            <a:endParaRPr lang="ko-KR" sz="3000" dirty="0"/>
          </a:p>
        </p:txBody>
      </p:sp>
      <p:sp>
        <p:nvSpPr>
          <p:cNvPr id="9" name="S09-chip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새인데 날지 못한다고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하니까요.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말이 들어갈까요?</a:t>
            </a:r>
            <a:endParaRPr lang="ko-KR" sz="4000" dirty="0"/>
          </a:p>
        </p:txBody>
      </p:sp>
      <p:sp>
        <p:nvSpPr>
          <p:cNvPr id="3" name="S10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)에 들어갈 말은? 하지만 / 그래서 / 또</a:t>
            </a:r>
            <a:endParaRPr lang="ko-KR" sz="3000" dirty="0"/>
          </a:p>
        </p:txBody>
      </p:sp>
      <p:sp>
        <p:nvSpPr>
          <p:cNvPr id="5" name="S10-passagebox5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이를 닦지 않으면 이 사이에 음식 찌꺼기가 남습니다. 입속 세균이 이 찌꺼기를 먹고 이를 상하게 하는 물질을 만듭니다.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　　　) 밥을 먹은 뒤에는 이를 꼼꼼히 닦아야 합니다. 특히 이와 이 사이를 잘 닦습니다.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5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5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말하고, ①과 ②, ②와 ③의 관계를 말해요.</a:t>
            </a:r>
            <a:endParaRPr lang="ko-KR" sz="3000" dirty="0"/>
          </a:p>
        </p:txBody>
      </p:sp>
      <p:sp>
        <p:nvSpPr>
          <p:cNvPr id="5" name="S11-passagebox58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59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가뭄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비가 오랫동안 내리지 않는 것을 가뭄이라고 합니다. 가뭄이 들면 땅이 바싹 마르고 강물이 줄어듭니다.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사람들이 어려움을 겪습니다. 논과 밭의 곡식이 잘 자라지 못하고, 마실 물이 모자라는 곳도 생깁니다.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하지만 미리 준비하면 가뭄의 피해를 줄일 수 있습니다. 비가 올 때 물을 모아 두고, 평소에 물을 아껴 씁니다.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내용을 먼저 찾고, 이어 주는 말로 확인해요.</a:t>
            </a:r>
            <a:endParaRPr lang="ko-KR" sz="3000" dirty="0"/>
          </a:p>
        </p:txBody>
      </p:sp>
      <p:sp>
        <p:nvSpPr>
          <p:cNvPr id="5" name="S12-chip6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63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사람들이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어려움을 겪어요</a:t>
            </a:r>
            <a:endParaRPr lang="ko-KR" sz="2400" dirty="0"/>
          </a:p>
        </p:txBody>
      </p:sp>
      <p:sp>
        <p:nvSpPr>
          <p:cNvPr id="7" name="S12-text64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②의 중심 내용</a:t>
            </a:r>
            <a:endParaRPr lang="ko-KR" sz="2400" dirty="0"/>
          </a:p>
        </p:txBody>
      </p:sp>
      <p:sp>
        <p:nvSpPr>
          <p:cNvPr id="8" name="S12-text65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①→②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까닭과 결과</a:t>
            </a:r>
            <a:endParaRPr lang="ko-KR" sz="3000" dirty="0"/>
          </a:p>
        </p:txBody>
      </p:sp>
      <p:sp>
        <p:nvSpPr>
          <p:cNvPr id="9" name="S12-text66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‘그래서’, 가뭄 때문에 생긴 일</a:t>
            </a:r>
            <a:endParaRPr lang="ko-KR" sz="2400" dirty="0"/>
          </a:p>
        </p:txBody>
      </p:sp>
      <p:sp>
        <p:nvSpPr>
          <p:cNvPr id="10" name="S12-text67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②→③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</a:t>
            </a:r>
            <a:endParaRPr lang="ko-KR" sz="3000" dirty="0"/>
          </a:p>
        </p:txBody>
      </p:sp>
      <p:sp>
        <p:nvSpPr>
          <p:cNvPr id="11" name="S12-text68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‘하지만’, 피해를 줄일 수 있음</a:t>
            </a:r>
            <a:endParaRPr lang="ko-KR" sz="2400" dirty="0"/>
          </a:p>
        </p:txBody>
      </p:sp>
      <p:sp>
        <p:nvSpPr>
          <p:cNvPr id="12" name="S12-chip6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7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곡식이 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자라지 못해요</a:t>
            </a:r>
            <a:endParaRPr lang="ko-KR" sz="3000" dirty="0"/>
          </a:p>
        </p:txBody>
      </p:sp>
      <p:sp>
        <p:nvSpPr>
          <p:cNvPr id="14" name="S12-text7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어려움의 한 예예요</a:t>
            </a:r>
            <a:endParaRPr lang="ko-KR" sz="2400" dirty="0"/>
          </a:p>
        </p:txBody>
      </p:sp>
      <p:sp>
        <p:nvSpPr>
          <p:cNvPr id="15" name="S12-text7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②→③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</a:t>
            </a:r>
            <a:endParaRPr lang="ko-KR" sz="3000" dirty="0"/>
          </a:p>
        </p:txBody>
      </p:sp>
      <p:sp>
        <p:nvSpPr>
          <p:cNvPr id="16" name="S12-text7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앞과 다른 쪽 내용이에요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문단의 관계는?</a:t>
            </a:r>
            <a:endParaRPr lang="ko-KR" sz="4000" dirty="0"/>
          </a:p>
        </p:txBody>
      </p:sp>
      <p:sp>
        <p:nvSpPr>
          <p:cNvPr id="3" name="S13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덧붙이기, 반대, 까닭과 결과 가운데 고르고 까닭을 말해요.</a:t>
            </a:r>
            <a:endParaRPr lang="ko-KR" sz="3000" dirty="0"/>
          </a:p>
        </p:txBody>
      </p:sp>
      <p:sp>
        <p:nvSpPr>
          <p:cNvPr id="5" name="S13-passagebox7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7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봄이 되면 날씨가 따뜻해집니다. 산과 들에 개나리와 진달래가 피어납니다.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땅속에서 겨울잠을 자던 개구리도 깨어납니다. 개구리는 연못으로 가서 알을 낳습니다.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찾고, 이어 주는 말과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내용을 견주어 문단의 관계를 알아요.</a:t>
            </a:r>
            <a:endParaRPr lang="ko-KR" sz="3000" dirty="0"/>
          </a:p>
        </p:txBody>
      </p:sp>
      <p:sp>
        <p:nvSpPr>
          <p:cNvPr id="5" name="S14-chip8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중심 내용끼리 견주어 보기</a:t>
            </a:r>
            <a:endParaRPr lang="ko-KR" sz="2400" dirty="0"/>
          </a:p>
        </p:txBody>
      </p:sp>
      <p:sp>
        <p:nvSpPr>
          <p:cNvPr id="6" name="S14-chip8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같은 화제면 모두 덧붙이기</a:t>
            </a:r>
            <a:endParaRPr lang="ko-KR" sz="2400" dirty="0"/>
          </a:p>
        </p:txBody>
      </p:sp>
      <p:sp>
        <p:nvSpPr>
          <p:cNvPr id="7" name="S14-text8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‘또’는 어떤 관계?</a:t>
            </a:r>
            <a:endParaRPr lang="ko-KR" sz="2400" dirty="0"/>
          </a:p>
        </p:txBody>
      </p:sp>
      <p:sp>
        <p:nvSpPr>
          <p:cNvPr id="9" name="S14-text8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‘하지만’은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관계?</a:t>
            </a:r>
            <a:endParaRPr lang="ko-KR" sz="2400" dirty="0"/>
          </a:p>
        </p:txBody>
      </p:sp>
      <p:sp>
        <p:nvSpPr>
          <p:cNvPr id="10" name="S14-text8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‘그래서’는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관계?</a:t>
            </a:r>
            <a:endParaRPr lang="ko-KR" sz="2400" dirty="0"/>
          </a:p>
        </p:txBody>
      </p:sp>
      <p:sp>
        <p:nvSpPr>
          <p:cNvPr id="11" name="S14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글의 짜임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묶는 문장 찾기</a:t>
            </a:r>
            <a:endParaRPr lang="ko-KR" sz="4000" dirty="0"/>
          </a:p>
        </p:txBody>
      </p:sp>
      <p:sp>
        <p:nvSpPr>
          <p:cNvPr id="3" name="S15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문장을 모두 묶는 문장은 어느 것일까요?</a:t>
            </a:r>
            <a:endParaRPr lang="ko-KR" sz="3000" dirty="0"/>
          </a:p>
        </p:txBody>
      </p:sp>
      <p:sp>
        <p:nvSpPr>
          <p:cNvPr id="4" name="S15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문장을 모두 묶는 문장이 중심 문장이에요.</a:t>
            </a:r>
            <a:endParaRPr lang="ko-KR" sz="3000" dirty="0"/>
          </a:p>
        </p:txBody>
      </p:sp>
      <p:sp>
        <p:nvSpPr>
          <p:cNvPr id="6" name="S15-word90"/>
          <p:cNvSpPr txBox="1"/>
          <p:nvPr/>
        </p:nvSpPr>
        <p:spPr>
          <a:xfrm>
            <a:off x="548640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아빠는 설거지를 합니다.</a:t>
            </a:r>
            <a:endParaRPr lang="ko-KR" sz="3400" dirty="0"/>
          </a:p>
        </p:txBody>
      </p:sp>
      <p:sp>
        <p:nvSpPr>
          <p:cNvPr id="7" name="S15-word91"/>
          <p:cNvSpPr txBox="1"/>
          <p:nvPr/>
        </p:nvSpPr>
        <p:spPr>
          <a:xfrm>
            <a:off x="6231636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가족은 주말마다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집안일을 나누어 합니다.</a:t>
            </a:r>
            <a:endParaRPr lang="ko-KR" sz="3400" dirty="0"/>
          </a:p>
        </p:txBody>
      </p:sp>
      <p:sp>
        <p:nvSpPr>
          <p:cNvPr id="8" name="S15-word92"/>
          <p:cNvSpPr txBox="1"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빨래를 갭니다.</a:t>
            </a:r>
            <a:endParaRPr lang="ko-KR" sz="3400" dirty="0"/>
          </a:p>
        </p:txBody>
      </p:sp>
      <p:sp>
        <p:nvSpPr>
          <p:cNvPr id="9" name="S15-word93"/>
          <p:cNvSpPr txBox="1"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내 방을 청소합니다.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문단과 문단의 관계</dc:title>
  <dc:subject>KR22-G04-KOR-PARAREL-L01</dc:subject>
  <dc:creator>education-ppt</dc:creator>
  <cp:lastModifiedBy>education-ppt</cp:lastModifiedBy>
  <cp:revision>1</cp:revision>
  <dcterms:created xsi:type="dcterms:W3CDTF">2026-10-26T07:42:58Z</dcterms:created>
  <dcterms:modified xsi:type="dcterms:W3CDTF">2026-10-26T07:42:58Z</dcterms:modified>
</cp:coreProperties>
</file>