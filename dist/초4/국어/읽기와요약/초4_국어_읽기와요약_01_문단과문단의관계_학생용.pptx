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564d908-32fa-32ca-2d37-eabf18f65f1d}">
          <p14:sldIdLst>
            <p14:sldId id="256"/>
            <p14:sldId id="257"/>
          </p14:sldIdLst>
        </p14:section>
        <p14:section name="개념" id="{37e85b74-9b72-6c89-ddc8-74d8f05b7440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a65c39ac-b8b4-2673-2d62-f061163a1726}">
          <p14:sldIdLst>
            <p14:sldId id="263"/>
            <p14:sldId id="264"/>
            <p14:sldId id="265"/>
          </p14:sldIdLst>
        </p14:section>
        <p14:section name="확인" id="{49e5f5bf-449a-cbbe-dfe5-52f3eca2e96d}">
          <p14:sldIdLst>
            <p14:sldId id="266"/>
            <p14:sldId id="267"/>
          </p14:sldIdLst>
        </p14:section>
        <p14:section name="정리" id="{d04be0cd-97a9-4fc4-7924-549ededb1234}">
          <p14:sldIdLst>
            <p14:sldId id="268"/>
          </p14:sldIdLst>
        </p14:section>
        <p14:section name="보충" id="{6df29c3c-f38d-f3ce-9653-60cb8db2440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읽기와요약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문단과 문단의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문단과 문단의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국어 · 문단과 문단의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문단과 문단의 관계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문단과 문단은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이어질까?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문단마다 중심 내용을 찾을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문단과 문단이 어떻게 이어지는지 말할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문장을 찾아볼까요?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문장은 무엇인가요? 나머지 문장들은 무엇을 하나요?</a:t>
            </a:r>
            <a:endParaRPr lang="ko-KR" sz="30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대나무는 쓰임이 많은 식물입니다. 줄기를 가늘게 쪼개어 바구니와 부채를 만듭니다. 땅에서 막 올라온 어린싹인 죽순은 음식으로 먹습니다. 대나무 줄기로 피리 같은 악기도 만듭니다.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내용이 있어요</a:t>
            </a:r>
            <a:endParaRPr lang="ko-KR" sz="4000" dirty="0"/>
          </a:p>
        </p:txBody>
      </p:sp>
      <p:sp>
        <p:nvSpPr>
          <p:cNvPr id="3" name="S03-card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내용을 찾으면 문단끼리 어떻게 이어지는지 보여요.</a:t>
            </a:r>
            <a:endParaRPr lang="ko-KR" sz="3000" dirty="0"/>
          </a:p>
        </p:txBody>
      </p:sp>
      <p:sp>
        <p:nvSpPr>
          <p:cNvPr id="5" name="S03-card9"/>
          <p:cNvSpPr/>
          <p:nvPr/>
        </p:nvSpPr>
        <p:spPr>
          <a:xfrm>
            <a:off x="548640" y="1930908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0"/>
          <p:cNvSpPr txBox="1"/>
          <p:nvPr/>
        </p:nvSpPr>
        <p:spPr>
          <a:xfrm>
            <a:off x="822960" y="2068068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생각을 담은 덩어리</a:t>
            </a:r>
            <a:endParaRPr lang="ko-KR" sz="3000" dirty="0"/>
          </a:p>
        </p:txBody>
      </p:sp>
      <p:sp>
        <p:nvSpPr>
          <p:cNvPr id="7" name="S03-card11"/>
          <p:cNvSpPr/>
          <p:nvPr/>
        </p:nvSpPr>
        <p:spPr>
          <a:xfrm>
            <a:off x="4322064" y="1930908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2"/>
          <p:cNvSpPr txBox="1"/>
          <p:nvPr/>
        </p:nvSpPr>
        <p:spPr>
          <a:xfrm>
            <a:off x="4596384" y="2068068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문단에서 가장 하고 싶은 말</a:t>
            </a:r>
            <a:endParaRPr lang="ko-KR" sz="3000" dirty="0"/>
          </a:p>
        </p:txBody>
      </p:sp>
      <p:sp>
        <p:nvSpPr>
          <p:cNvPr id="9" name="S03-card13"/>
          <p:cNvSpPr/>
          <p:nvPr/>
        </p:nvSpPr>
        <p:spPr>
          <a:xfrm>
            <a:off x="8095488" y="1930908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4"/>
          <p:cNvSpPr txBox="1"/>
          <p:nvPr/>
        </p:nvSpPr>
        <p:spPr>
          <a:xfrm>
            <a:off x="8369808" y="2068068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문단이 모여 하나의 생각을 전해요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‘숲이 하는 일’ 읽기</a:t>
            </a:r>
            <a:endParaRPr lang="ko-KR" sz="4000" dirty="0"/>
          </a:p>
        </p:txBody>
      </p:sp>
      <p:sp>
        <p:nvSpPr>
          <p:cNvPr id="3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내용은 무엇일까요?</a:t>
            </a:r>
            <a:endParaRPr lang="ko-KR" sz="3000" dirty="0"/>
          </a:p>
        </p:txBody>
      </p:sp>
      <p:sp>
        <p:nvSpPr>
          <p:cNvPr id="5" name="S04-passagebox1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숲이 하는 일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숲은 맑은 공기를 만들어 줍니다. 나무는 우리가 숨 쉬는 데 필요한 산소를 내보내고, 잎으로 공기 속 먼지를 붙잡습니다.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또 숲은 흙이 쓸려 내려가는 것을 막아 줍니다. 나무뿌리가 흙을 꽉 붙잡고 있어서 비가 많이 와도 흙이 덜 쓸려 갑니다.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그리고 숲은 여러 동물의 보금자리가 됩니다. 새들은 나뭇가지에 둥지를 틀고, 여러 곤충은 나무껍질 틈이나 낙엽 밑에서 삽니다.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정리해 보면</a:t>
            </a:r>
            <a:endParaRPr lang="ko-KR" sz="4000" dirty="0"/>
          </a:p>
        </p:txBody>
      </p:sp>
      <p:sp>
        <p:nvSpPr>
          <p:cNvPr id="3" name="S05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②, ③은 숲이 하는 일을 하나씩 더 말해요. → 덧붙이기</a:t>
            </a:r>
            <a:endParaRPr lang="ko-KR" sz="3000" dirty="0"/>
          </a:p>
        </p:txBody>
      </p:sp>
      <p:graphicFrame>
        <p:nvGraphicFramePr>
          <p:cNvPr id="6" name="S05-table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199640"/>
          <a:ext cx="10515600" cy="914400"/>
        </p:xfrm>
        <a:graphic>
          <a:graphicData uri="http://schemas.openxmlformats.org/drawingml/2006/table">
            <a:tbl>
              <a:tblPr/>
              <a:tblGrid>
                <a:gridCol w="1156716"/>
                <a:gridCol w="2103120"/>
                <a:gridCol w="7255764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이어 주는 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중심 내용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숲은 맑은 공기를 만들어 줍니다.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숲은 흙이 쓸려 가는 것을 막아 줍니다.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그리고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숲은 여러 동물의 보금자리가 됩니다.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문단은 이렇게 이어져요</a:t>
            </a:r>
            <a:endParaRPr lang="ko-KR" sz="4000" dirty="0"/>
          </a:p>
        </p:txBody>
      </p:sp>
      <p:sp>
        <p:nvSpPr>
          <p:cNvPr id="3" name="S06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 주는 말이 없으면 두 중심 내용을 견주어 봐요.</a:t>
            </a:r>
            <a:endParaRPr lang="ko-KR" sz="3000" dirty="0"/>
          </a:p>
        </p:txBody>
      </p:sp>
      <p:sp>
        <p:nvSpPr>
          <p:cNvPr id="5" name="S06-card24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25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덧붙이기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또, 그리고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내용에 하나를 더해요</a:t>
            </a:r>
            <a:endParaRPr lang="ko-KR" sz="3000" dirty="0"/>
          </a:p>
        </p:txBody>
      </p:sp>
      <p:sp>
        <p:nvSpPr>
          <p:cNvPr id="7" name="S06-card26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6-cardtext27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하지만, 그러나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앞과 다른 쪽 내용을 말해요</a:t>
            </a:r>
            <a:endParaRPr lang="ko-KR" sz="3000" dirty="0"/>
          </a:p>
        </p:txBody>
      </p:sp>
      <p:sp>
        <p:nvSpPr>
          <p:cNvPr id="9" name="S06-card28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6-cardtext29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까닭과 결과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내용 때문에 생긴 일을 말해요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문단의 관계 찾는 순서</a:t>
            </a:r>
            <a:endParaRPr lang="ko-KR" sz="4000" dirty="0"/>
          </a:p>
        </p:txBody>
      </p:sp>
      <p:sp>
        <p:nvSpPr>
          <p:cNvPr id="3" name="S07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덧붙이기 · 반대 · 까닭과 결과</a:t>
            </a:r>
            <a:endParaRPr lang="ko-KR" sz="3000" dirty="0"/>
          </a:p>
        </p:txBody>
      </p:sp>
      <p:sp>
        <p:nvSpPr>
          <p:cNvPr id="5" name="S07-stepno32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7-text33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번호를 붙여요.</a:t>
            </a:r>
            <a:endParaRPr lang="ko-KR" sz="3000" dirty="0"/>
          </a:p>
        </p:txBody>
      </p:sp>
      <p:sp>
        <p:nvSpPr>
          <p:cNvPr id="7" name="S07-stepno34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7-text35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내용을 한 문장으로 말해요.</a:t>
            </a:r>
            <a:endParaRPr lang="ko-KR" sz="3000" dirty="0"/>
          </a:p>
        </p:txBody>
      </p:sp>
      <p:sp>
        <p:nvSpPr>
          <p:cNvPr id="9" name="S07-stepno36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7-text37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 첫머리의 이어 주는 말에 ○ 해요.</a:t>
            </a:r>
            <a:endParaRPr lang="ko-KR" sz="3000" dirty="0"/>
          </a:p>
        </p:txBody>
      </p:sp>
      <p:sp>
        <p:nvSpPr>
          <p:cNvPr id="11" name="S07-stepno38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7-text39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중심 내용을 견주어 관계를 골라요.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‘펭귄’ 함께 읽기</a:t>
            </a:r>
            <a:endParaRPr lang="ko-KR" sz="4000" dirty="0"/>
          </a:p>
        </p:txBody>
      </p:sp>
      <p:sp>
        <p:nvSpPr>
          <p:cNvPr id="3" name="S08-card40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1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내용을 말하고, 두 문단이 어떻게 이어지는지 말해요.</a:t>
            </a:r>
            <a:endParaRPr lang="ko-KR" sz="3000" dirty="0"/>
          </a:p>
        </p:txBody>
      </p:sp>
      <p:sp>
        <p:nvSpPr>
          <p:cNvPr id="5" name="S08-passagebox42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8-passage43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펭귄은 새입니다. 다른 새처럼 몸이 깃털로 덮여 있고, 알을 낳아 새끼를 기릅니다.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하지만 펭귄은 하늘을 날지 못합니다. 대신 짧고 단단한 날개를 지느러미처럼 저어 물속을 빠르게 헤엄칩니다.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말이 알맞을까?</a:t>
            </a:r>
            <a:endParaRPr lang="ko-KR" sz="4000" dirty="0"/>
          </a:p>
        </p:txBody>
      </p:sp>
      <p:sp>
        <p:nvSpPr>
          <p:cNvPr id="3" name="S09-card4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4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 글의 두 문단이 어떻게 이어지는지 두 친구가 말했어요.</a:t>
            </a:r>
            <a:endParaRPr lang="ko-KR" sz="3000" dirty="0"/>
          </a:p>
        </p:txBody>
      </p:sp>
      <p:sp>
        <p:nvSpPr>
          <p:cNvPr id="5" name="S09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말이 알맞나요? 왜 그렇게 생각하나요?</a:t>
            </a:r>
            <a:endParaRPr lang="ko-KR" sz="3000" dirty="0"/>
          </a:p>
        </p:txBody>
      </p:sp>
      <p:sp>
        <p:nvSpPr>
          <p:cNvPr id="7" name="S09-chip4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9-text4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덧붙이기예요.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펭귄 이야기니까요.</a:t>
            </a:r>
            <a:endParaRPr lang="ko-KR" sz="3000" dirty="0"/>
          </a:p>
        </p:txBody>
      </p:sp>
      <p:sp>
        <p:nvSpPr>
          <p:cNvPr id="9" name="S09-chip5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9-text5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반대예요.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새인데 날지 못한다고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하니까요.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말이 들어갈까요?</a:t>
            </a:r>
            <a:endParaRPr lang="ko-KR" sz="4000" dirty="0"/>
          </a:p>
        </p:txBody>
      </p:sp>
      <p:sp>
        <p:nvSpPr>
          <p:cNvPr id="3" name="S10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)에 들어갈 말은? 하지만 / 그래서 / 또</a:t>
            </a:r>
            <a:endParaRPr lang="ko-KR" sz="3000" dirty="0"/>
          </a:p>
        </p:txBody>
      </p:sp>
      <p:sp>
        <p:nvSpPr>
          <p:cNvPr id="5" name="S10-passagebox54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55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이를 닦지 않으면 이 사이에 음식 찌꺼기가 남습니다. 입속 세균이 이 찌꺼기를 먹고 이를 상하게 하는 물질을 만듭니다.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(　　　) 밥을 먹은 뒤에는 이를 꼼꼼히 닦아야 합니다. 특히 이와 이 사이를 잘 닦습니다.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56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57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내용을 말하고, ①과 ②, ②와 ③의 관계를 말해요.</a:t>
            </a:r>
            <a:endParaRPr lang="ko-KR" sz="3000" dirty="0"/>
          </a:p>
        </p:txBody>
      </p:sp>
      <p:sp>
        <p:nvSpPr>
          <p:cNvPr id="5" name="S11-passagebox58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59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가뭄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비가 오랫동안 내리지 않는 것을 가뭄이라고 합니다. 가뭄이 들면 땅이 바싹 마르고 강물이 줄어듭니다.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그래서 사람들이 어려움을 겪습니다. 논과 밭의 곡식이 잘 자라지 못하고, 마실 물이 모자라는 곳도 생깁니다.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하지만 미리 준비하면 가뭄의 피해를 줄일 수 있습니다. 비가 올 때 물을 모아 두고, 평소에 물을 아껴 씁니다.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문단의 관계는?</a:t>
            </a:r>
            <a:endParaRPr lang="ko-KR" sz="4000" dirty="0"/>
          </a:p>
        </p:txBody>
      </p:sp>
      <p:sp>
        <p:nvSpPr>
          <p:cNvPr id="3" name="S13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덧붙이기, 반대, 까닭과 결과 가운데 고르고 까닭을 말해요.</a:t>
            </a:r>
            <a:endParaRPr lang="ko-KR" sz="3000" dirty="0"/>
          </a:p>
        </p:txBody>
      </p:sp>
      <p:sp>
        <p:nvSpPr>
          <p:cNvPr id="5" name="S13-passagebox6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3-passage6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봄이 되면 날씨가 따뜻해집니다. 산과 들에 개나리와 진달래가 피어납니다.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땅속에서 겨울잠을 자던 개구리도 깨어납니다. 개구리는 연못으로 가서 알을 낳습니다.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64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65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내용을 찾고, 이어 주는 말과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내용을 견주어 문단의 관계를 알아요.</a:t>
            </a:r>
            <a:endParaRPr lang="ko-KR" sz="3000" dirty="0"/>
          </a:p>
        </p:txBody>
      </p:sp>
      <p:sp>
        <p:nvSpPr>
          <p:cNvPr id="5" name="S14-chip66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중심 내용끼리 견주어 보기</a:t>
            </a:r>
            <a:endParaRPr lang="ko-KR" sz="2400" dirty="0"/>
          </a:p>
        </p:txBody>
      </p:sp>
      <p:sp>
        <p:nvSpPr>
          <p:cNvPr id="6" name="S14-chip67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같은 화제면 모두 덧붙이기</a:t>
            </a:r>
            <a:endParaRPr lang="ko-KR" sz="2400" dirty="0"/>
          </a:p>
        </p:txBody>
      </p:sp>
      <p:sp>
        <p:nvSpPr>
          <p:cNvPr id="7" name="S14-text68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69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‘또’는 어떤 관계?</a:t>
            </a:r>
            <a:endParaRPr lang="ko-KR" sz="2400" dirty="0"/>
          </a:p>
        </p:txBody>
      </p:sp>
      <p:sp>
        <p:nvSpPr>
          <p:cNvPr id="9" name="S14-text70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‘하지만’은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관계?</a:t>
            </a:r>
            <a:endParaRPr lang="ko-KR" sz="2400" dirty="0"/>
          </a:p>
        </p:txBody>
      </p:sp>
      <p:sp>
        <p:nvSpPr>
          <p:cNvPr id="10" name="S14-text71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‘그래서’는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관계?</a:t>
            </a:r>
            <a:endParaRPr lang="ko-KR" sz="2400" dirty="0"/>
          </a:p>
        </p:txBody>
      </p:sp>
      <p:sp>
        <p:nvSpPr>
          <p:cNvPr id="11" name="S14-text7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글의 짜임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묶는 문장 찾기</a:t>
            </a:r>
            <a:endParaRPr lang="ko-KR" sz="4000" dirty="0"/>
          </a:p>
        </p:txBody>
      </p:sp>
      <p:sp>
        <p:nvSpPr>
          <p:cNvPr id="3" name="S15-text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문장을 모두 묶는 문장은 어느 것일까요?</a:t>
            </a:r>
            <a:endParaRPr lang="ko-KR" sz="3000" dirty="0"/>
          </a:p>
        </p:txBody>
      </p:sp>
      <p:sp>
        <p:nvSpPr>
          <p:cNvPr id="4" name="S15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문장을 모두 묶는 문장이 중심 문장이에요.</a:t>
            </a:r>
            <a:endParaRPr lang="ko-KR" sz="3000" dirty="0"/>
          </a:p>
        </p:txBody>
      </p:sp>
      <p:sp>
        <p:nvSpPr>
          <p:cNvPr id="6" name="S15-word76"/>
          <p:cNvSpPr txBox="1"/>
          <p:nvPr/>
        </p:nvSpPr>
        <p:spPr>
          <a:xfrm>
            <a:off x="548640" y="201168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아빠는 설거지를 합니다.</a:t>
            </a:r>
            <a:endParaRPr lang="ko-KR" sz="3400" dirty="0"/>
          </a:p>
        </p:txBody>
      </p:sp>
      <p:sp>
        <p:nvSpPr>
          <p:cNvPr id="7" name="S15-word77"/>
          <p:cNvSpPr txBox="1"/>
          <p:nvPr/>
        </p:nvSpPr>
        <p:spPr>
          <a:xfrm>
            <a:off x="6231636" y="201168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가족은 주말마다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집안일을 나누어 합니다.</a:t>
            </a:r>
            <a:endParaRPr lang="ko-KR" sz="3400" dirty="0"/>
          </a:p>
        </p:txBody>
      </p:sp>
      <p:sp>
        <p:nvSpPr>
          <p:cNvPr id="8" name="S15-word78"/>
          <p:cNvSpPr txBox="1"/>
          <p:nvPr/>
        </p:nvSpPr>
        <p:spPr>
          <a:xfrm>
            <a:off x="548640" y="370332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엄마는 빨래를 갭니다.</a:t>
            </a:r>
            <a:endParaRPr lang="ko-KR" sz="3400" dirty="0"/>
          </a:p>
        </p:txBody>
      </p:sp>
      <p:sp>
        <p:nvSpPr>
          <p:cNvPr id="9" name="S15-word79"/>
          <p:cNvSpPr txBox="1"/>
          <p:nvPr/>
        </p:nvSpPr>
        <p:spPr>
          <a:xfrm>
            <a:off x="6231636" y="3703320"/>
            <a:ext cx="5408676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내 방을 청소합니다.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국어 문단과 문단의 관계</dc:title>
  <dc:subject>KR22-G04-KOR-PARAREL-L01</dc:subject>
  <dc:creator>education-ppt</dc:creator>
  <cp:lastModifiedBy>education-ppt</cp:lastModifiedBy>
  <cp:revision>1</cp:revision>
  <dcterms:created xsi:type="dcterms:W3CDTF">2026-10-26T07:42:58Z</dcterms:created>
  <dcterms:modified xsi:type="dcterms:W3CDTF">2026-10-26T07:42:58Z</dcterms:modified>
</cp:coreProperties>
</file>