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b5ef84a-7aa5-df98-a3e6-233e6059477c}">
          <p14:sldIdLst>
            <p14:sldId id="256"/>
            <p14:sldId id="257"/>
          </p14:sldIdLst>
        </p14:section>
        <p14:section name="개념" id="{0a38cffa-3468-162c-c07b-ac54a4772ffa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59deeb48-9439-b170-10ab-094b40fb36ab}">
          <p14:sldIdLst>
            <p14:sldId id="264"/>
            <p14:sldId id="265"/>
          </p14:sldIdLst>
        </p14:section>
        <p14:section name="확인" id="{38d07c9f-8fdf-80b2-0bae-2acd108c43d5}">
          <p14:sldIdLst>
            <p14:sldId id="266"/>
            <p14:sldId id="267"/>
          </p14:sldIdLst>
        </p14:section>
        <p14:section name="정리" id="{5bdc1ccc-b854-cd52-5244-1e9e685ee1b6}">
          <p14:sldIdLst>
            <p14:sldId id="268"/>
          </p14:sldIdLst>
        </p14:section>
        <p14:section name="보충" id="{561acf7a-7dda-c12b-b58d-fb7a63a4ff2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읽기와요약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글의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국어 · 글의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국어 · 글의 짜임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짜임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글쓴이는 내용을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틀에 담았을까?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글의 짜임(시간 순서, 비교와 대조)을 알아볼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짜임에 맞는 틀에 내용을 정리할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문단은 어떻게 이어질까?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덧붙이기, 반대, 까닭과 결과 가운데 고르고 까닭을 말해요.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 집 화분의 흙이 바싹 말랐습니다. 며칠 동안 물을 주지 않았기 때문입니다.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그래서 화분의 잎이 축 늘어졌습니다. 잎 끝이 누렇게 변한 것도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짜임 세 가지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짜임은 글쓴이가 내용을 늘어놓은 틀이에요.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차례대로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먼저, 그다음,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마지막으로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다, 하지만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늘어놓기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첫째, 둘째, 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순서로 쓴 글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말을 찾아봐요.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강낭콩이 자라는 차례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강낭콩 씨를 흙에 심고 물을 주면 며칠 뒤 싹이 틉니다. 먼저 두꺼운 떡잎 두 장이 땅 위로 나옵니다.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그다음 떡잎 사이에서 본잎이 나오고 줄기가 길게 자랍니다. 시간이 지나면 줄기에 꽃이 핍니다.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꽃이 지면 그 자리에 꼬투리가 생깁니다. 마지막으로 꼬투리 속에서 새 씨가 여뭅니다.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순서는 차례 상자로</a:t>
            </a:r>
            <a:endParaRPr lang="ko-KR" sz="4000" dirty="0"/>
          </a:p>
        </p:txBody>
      </p:sp>
      <p:sp>
        <p:nvSpPr>
          <p:cNvPr id="3" name="S05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 글을 차례 상자에 정리했어요.</a:t>
            </a:r>
            <a:endParaRPr lang="ko-KR" sz="3000" dirty="0"/>
          </a:p>
        </p:txBody>
      </p:sp>
      <p:sp>
        <p:nvSpPr>
          <p:cNvPr id="4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일어난 차례대로 상자에 한 가지씩 써요.</a:t>
            </a:r>
            <a:endParaRPr lang="ko-KR" sz="3000" dirty="0"/>
          </a:p>
        </p:txBody>
      </p:sp>
      <p:sp>
        <p:nvSpPr>
          <p:cNvPr id="6" name="S05-step22"/>
          <p:cNvSpPr txBox="1"/>
          <p:nvPr/>
        </p:nvSpPr>
        <p:spPr>
          <a:xfrm>
            <a:off x="548640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떡잎이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나와요</a:t>
            </a:r>
            <a:endParaRPr lang="ko-KR" sz="2400" dirty="0"/>
          </a:p>
        </p:txBody>
      </p:sp>
      <p:sp>
        <p:nvSpPr>
          <p:cNvPr id="7" name="S05-line23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5-step24"/>
          <p:cNvSpPr txBox="1"/>
          <p:nvPr/>
        </p:nvSpPr>
        <p:spPr>
          <a:xfrm>
            <a:off x="3424428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본잎과 줄기가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자라요</a:t>
            </a:r>
            <a:endParaRPr lang="ko-KR" sz="2400" dirty="0"/>
          </a:p>
        </p:txBody>
      </p:sp>
      <p:sp>
        <p:nvSpPr>
          <p:cNvPr id="9" name="S05-line25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5-step26"/>
          <p:cNvSpPr txBox="1"/>
          <p:nvPr/>
        </p:nvSpPr>
        <p:spPr>
          <a:xfrm>
            <a:off x="6300216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꽃이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피어요</a:t>
            </a:r>
            <a:endParaRPr lang="ko-KR" sz="2400" dirty="0"/>
          </a:p>
        </p:txBody>
      </p:sp>
      <p:sp>
        <p:nvSpPr>
          <p:cNvPr id="11" name="S05-line27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5-step28"/>
          <p:cNvSpPr txBox="1"/>
          <p:nvPr/>
        </p:nvSpPr>
        <p:spPr>
          <a:xfrm>
            <a:off x="9176004" y="2788920"/>
            <a:ext cx="2464308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꼬투리에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씨가 여물어요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대조로 쓴 글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점을 찾아봐요.</a:t>
            </a:r>
            <a:endParaRPr lang="ko-KR" sz="3000" dirty="0"/>
          </a:p>
        </p:txBody>
      </p:sp>
      <p:sp>
        <p:nvSpPr>
          <p:cNvPr id="5" name="S06-passagebox3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메뚜기와 거미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메뚜기와 거미는 둘 다 몸집이 작은 동물입니다. 둘 다 다리에 마디가 있고, 알을 낳습니다.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몸의 생김새는 다릅니다. 메뚜기는 몸이 세 부분으로 나뉘고 다리가 여섯 개입니다. 거미는 몸이 두 부분으로 나뉘고 다리가 여덟 개입니다.</a:t>
            </a:r>
            <a:endParaRPr lang="ko-KR" sz="26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날개도 다릅니다. 메뚜기는 날개가 있어 날 수 있지만, 거미는 날개가 없습니다.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비교와 대조는 표로</a:t>
            </a:r>
            <a:endParaRPr lang="ko-KR" sz="4000" dirty="0"/>
          </a:p>
        </p:txBody>
      </p:sp>
      <p:sp>
        <p:nvSpPr>
          <p:cNvPr id="3" name="S07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칸에 무엇을 견줄지 먼저 써요.</a:t>
            </a:r>
            <a:endParaRPr lang="ko-KR" sz="3000" dirty="0"/>
          </a:p>
        </p:txBody>
      </p:sp>
      <p:sp>
        <p:nvSpPr>
          <p:cNvPr id="4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점: 둘 다 다리에 마디가 있고, 알을 낳아요.</a:t>
            </a:r>
            <a:endParaRPr lang="ko-KR" sz="3000" dirty="0"/>
          </a:p>
        </p:txBody>
      </p:sp>
      <p:graphicFrame>
        <p:nvGraphicFramePr>
          <p:cNvPr id="8" name="S07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463800"/>
          <a:ext cx="8229600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2715768"/>
                <a:gridCol w="2715768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견줄 점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메뚜기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거미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몸의 부분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3부분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2부분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글의 짜임 찾는 순서</a:t>
            </a:r>
            <a:endParaRPr lang="ko-KR" sz="4000" dirty="0"/>
          </a:p>
        </p:txBody>
      </p:sp>
      <p:sp>
        <p:nvSpPr>
          <p:cNvPr id="3" name="S08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순서를 바꿔 읽어 봐요. 말이 안 되면 시간 순서예요.</a:t>
            </a:r>
            <a:endParaRPr lang="ko-KR" sz="3000" dirty="0"/>
          </a:p>
        </p:txBody>
      </p:sp>
      <p:sp>
        <p:nvSpPr>
          <p:cNvPr id="5" name="S08-stepno39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40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중심 내용을 찾아요.</a:t>
            </a:r>
            <a:endParaRPr lang="ko-KR" sz="3000" dirty="0"/>
          </a:p>
        </p:txBody>
      </p:sp>
      <p:sp>
        <p:nvSpPr>
          <p:cNvPr id="7" name="S08-stepno4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42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말에 ○ 해요.</a:t>
            </a:r>
            <a:endParaRPr lang="ko-KR" sz="3000" dirty="0"/>
          </a:p>
        </p:txBody>
      </p:sp>
      <p:sp>
        <p:nvSpPr>
          <p:cNvPr id="9" name="S08-stepno43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44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순서, 비교와 대조, 나열 가운데 골라요.</a:t>
            </a:r>
            <a:endParaRPr lang="ko-KR" sz="3000" dirty="0"/>
          </a:p>
        </p:txBody>
      </p:sp>
      <p:sp>
        <p:nvSpPr>
          <p:cNvPr id="11" name="S08-stepno45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46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맞는 틀에 정리해요.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짜임일까요?</a:t>
            </a:r>
            <a:endParaRPr lang="ko-KR" sz="4000" dirty="0"/>
          </a:p>
        </p:txBody>
      </p:sp>
      <p:sp>
        <p:nvSpPr>
          <p:cNvPr id="3" name="S09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말을 찾아 짜임을 말해 보세요.</a:t>
            </a:r>
            <a:endParaRPr lang="ko-KR" sz="3000" dirty="0"/>
          </a:p>
        </p:txBody>
      </p:sp>
      <p:sp>
        <p:nvSpPr>
          <p:cNvPr id="4" name="S09-chip4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text49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일어나면 먼저 이불을 개요. 그다음 세수를 하고, 마지막으로 아침밥을 먹어요.</a:t>
            </a:r>
            <a:endParaRPr lang="ko-KR" sz="3000" dirty="0"/>
          </a:p>
        </p:txBody>
      </p:sp>
      <p:sp>
        <p:nvSpPr>
          <p:cNvPr id="6" name="S09-chip5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text5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고래와 상어는 둘 다 바다에 살아요. 하지만 고래는 허파로, 상어는 아가미로 숨을 쉬어요.</a:t>
            </a:r>
            <a:endParaRPr lang="ko-KR" sz="3000" dirty="0"/>
          </a:p>
        </p:txBody>
      </p:sp>
      <p:sp>
        <p:nvSpPr>
          <p:cNvPr id="8" name="S09-chip5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5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자전거를 탈 때 지킬 일이 있어요. 첫째, 헬멧을 써요. 둘째, 정해진 길로 다녀요.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잘 견주었을까?</a:t>
            </a:r>
            <a:endParaRPr lang="ko-KR" sz="4000" dirty="0"/>
          </a:p>
        </p:txBody>
      </p:sp>
      <p:sp>
        <p:nvSpPr>
          <p:cNvPr id="3" name="S10-card5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메뚜기와 거미의 다른 점을 두 친구가 이렇게 썼어요.</a:t>
            </a:r>
            <a:endParaRPr lang="ko-KR" sz="3000" dirty="0"/>
          </a:p>
        </p:txBody>
      </p:sp>
      <p:sp>
        <p:nvSpPr>
          <p:cNvPr id="5" name="S10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두 동물을 잘 견주었나요? 왜 그럴까요?</a:t>
            </a:r>
            <a:endParaRPr lang="ko-KR" sz="3000" dirty="0"/>
          </a:p>
        </p:txBody>
      </p:sp>
      <p:sp>
        <p:nvSpPr>
          <p:cNvPr id="7" name="S10-chip5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10-text5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메뚜기는 다리가 6개예요.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거미는 날개가 없어요.</a:t>
            </a:r>
            <a:endParaRPr lang="ko-KR" sz="3000" dirty="0"/>
          </a:p>
        </p:txBody>
      </p:sp>
      <p:sp>
        <p:nvSpPr>
          <p:cNvPr id="9" name="S10-chip6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0-text6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메뚜기는 다리가 6개예요.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거미는 다리가 8개예요.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6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짜임과 그 까닭을 말하고, 같은 점 하나와 다른 점 하나를 말해요.</a:t>
            </a:r>
            <a:endParaRPr lang="ko-KR" sz="3000" dirty="0"/>
          </a:p>
        </p:txBody>
      </p:sp>
      <p:sp>
        <p:nvSpPr>
          <p:cNvPr id="5" name="S11-passagebox64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65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호랑이와 사자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호랑이와 사자는 둘 다 고양잇과의 큰 동물입니다. 둘 다 날카로운 이빨과 발톱으로 다른 동물을 사냥해 고기를 먹습니다.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하지만 다른 점도 있습니다. 호랑이는 몸에 줄무늬가 있고, 주로 숲에서 혼자 삽니다. 사자는 줄무늬가 없고, 넓은 풀밭에서 무리를 지어 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짜임일까요?</a:t>
            </a:r>
            <a:endParaRPr lang="ko-KR" sz="4000" dirty="0"/>
          </a:p>
        </p:txBody>
      </p:sp>
      <p:sp>
        <p:nvSpPr>
          <p:cNvPr id="3" name="S13-card6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6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말하고, 차례 상자 네 칸에 들어갈 말을 순서대로 말해요.</a:t>
            </a:r>
            <a:endParaRPr lang="ko-KR" sz="3000" dirty="0"/>
          </a:p>
        </p:txBody>
      </p:sp>
      <p:sp>
        <p:nvSpPr>
          <p:cNvPr id="5" name="S13-passagebox68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69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봄이 되면 개구리는 물속에 알을 낳습니다. 알에서 깨어난 올챙이는 꼬리로 헤엄치며 자랍니다.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얼마 뒤 올챙이에게 뒷다리가 나오고, 이어서 앞다리가 나옵니다. 마지막으로 꼬리가 짧아져 없어지면 개구리가 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짜임을 알려 주는 말로 글의 짜임을 알고,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짜임에 맞는 틀에 내용을 정리해요.</a:t>
            </a:r>
            <a:endParaRPr lang="ko-KR" sz="3000" dirty="0"/>
          </a:p>
        </p:txBody>
      </p:sp>
      <p:sp>
        <p:nvSpPr>
          <p:cNvPr id="5" name="S14-chip7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기준으로 견주기</a:t>
            </a:r>
            <a:endParaRPr lang="ko-KR" sz="2400" dirty="0"/>
          </a:p>
        </p:txBody>
      </p:sp>
      <p:sp>
        <p:nvSpPr>
          <p:cNvPr id="6" name="S14-chip7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같은 점 빠뜨리기</a:t>
            </a:r>
            <a:endParaRPr lang="ko-KR" sz="2400" dirty="0"/>
          </a:p>
        </p:txBody>
      </p:sp>
      <p:sp>
        <p:nvSpPr>
          <p:cNvPr id="7" name="S14-text7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7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‘먼저, 그다음’은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짜임?</a:t>
            </a:r>
            <a:endParaRPr lang="ko-KR" sz="2400" dirty="0"/>
          </a:p>
        </p:txBody>
      </p:sp>
      <p:sp>
        <p:nvSpPr>
          <p:cNvPr id="9" name="S14-text7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‘둘 다, 하지만’은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짜임?</a:t>
            </a:r>
            <a:endParaRPr lang="ko-KR" sz="2400" dirty="0"/>
          </a:p>
        </p:txBody>
      </p:sp>
      <p:sp>
        <p:nvSpPr>
          <p:cNvPr id="10" name="S14-text7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비교와 대조를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정리하는 틀은?</a:t>
            </a:r>
            <a:endParaRPr lang="ko-KR" sz="2400" dirty="0"/>
          </a:p>
        </p:txBody>
      </p:sp>
      <p:sp>
        <p:nvSpPr>
          <p:cNvPr id="11" name="S14-text7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중심 내용 간추리기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문장을 잇는 말</a:t>
            </a:r>
            <a:endParaRPr lang="ko-KR" sz="4000" dirty="0"/>
          </a:p>
        </p:txBody>
      </p:sp>
      <p:sp>
        <p:nvSpPr>
          <p:cNvPr id="3" name="S15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　)에 그래서, 하지만, 또 가운데 알맞은 말을 넣어 읽어요.</a:t>
            </a:r>
            <a:endParaRPr lang="ko-KR" sz="3000" dirty="0"/>
          </a:p>
        </p:txBody>
      </p:sp>
      <p:sp>
        <p:nvSpPr>
          <p:cNvPr id="4" name="S15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내용이 어떻게 이어지는지 보고 골라요.</a:t>
            </a:r>
            <a:endParaRPr lang="ko-KR" sz="3000" dirty="0"/>
          </a:p>
        </p:txBody>
      </p:sp>
      <p:sp>
        <p:nvSpPr>
          <p:cNvPr id="6" name="S15-word82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왔어요. (　　) 우산을 썼어요.</a:t>
            </a:r>
            <a:endParaRPr lang="ko-KR" sz="3400" dirty="0"/>
          </a:p>
        </p:txBody>
      </p:sp>
      <p:sp>
        <p:nvSpPr>
          <p:cNvPr id="7" name="S15-word83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왔어요. (　　) 우산이 없었어요.</a:t>
            </a:r>
            <a:endParaRPr lang="ko-KR" sz="3400" dirty="0"/>
          </a:p>
        </p:txBody>
      </p:sp>
      <p:sp>
        <p:nvSpPr>
          <p:cNvPr id="8" name="S15-word84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왔어요. (　　) 바람도 불었어요.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국어 글의 짜임</dc:title>
  <dc:subject>KR22-G04-KOR-TEXTFORM-L01</dc:subject>
  <dc:creator>education-ppt</dc:creator>
  <cp:lastModifiedBy>education-ppt</cp:lastModifiedBy>
  <cp:revision>1</cp:revision>
  <dcterms:created xsi:type="dcterms:W3CDTF">2026-10-26T07:48:05Z</dcterms:created>
  <dcterms:modified xsi:type="dcterms:W3CDTF">2026-10-26T07:48:05Z</dcterms:modified>
</cp:coreProperties>
</file>