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13696c3-4b73-627c-07b0-6caac56d61db}">
          <p14:sldIdLst>
            <p14:sldId id="256"/>
            <p14:sldId id="257"/>
          </p14:sldIdLst>
        </p14:section>
        <p14:section name="개념" id="{279bd529-865b-07cf-41f0-1b54fa6ea849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5e248efe-193d-5f36-4dcc-da5adb10ba8c}">
          <p14:sldIdLst>
            <p14:sldId id="263"/>
            <p14:sldId id="264"/>
            <p14:sldId id="265"/>
          </p14:sldIdLst>
        </p14:section>
        <p14:section name="확인" id="{a392ac48-9a04-5a42-324a-3db653941682}">
          <p14:sldIdLst>
            <p14:sldId id="266"/>
            <p14:sldId id="267"/>
            <p14:sldId id="268"/>
          </p14:sldIdLst>
        </p14:section>
        <p14:section name="정리" id="{0c68e1fc-1ab1-afa1-1b59-b19429fe3dda}">
          <p14:sldIdLst>
            <p14:sldId id="269"/>
          </p14:sldIdLst>
        </p14:section>
        <p14:section name="보충" id="{ad626226-acb7-df59-c563-6f4d67e97fd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생각을 말할 때 까닭이 필요하다는 것을 느끼게 합니다.
시간: 약 2분
이렇게 말해 보세요
- “엄마(아빠)가 ‘오늘 저녁은 국수를 먹자.’라고만 하면 어떤 생각이 들어? ‘왜?’ 하고 궁금하지 않아?”
- “어떤 일에 대한 나의 생각을 ‘의견’, 그렇게 생각하는 까닭을 ‘이유’라고 해. 오늘은 의견과 이유를 구별하고, 알맞은 이유를 드는 방법을 배울 거야.”
예상 답
- “왜 국수를 먹어요?” “좋아요.”
막히면
- 아이가 요즘 하고 싶은 것을 하나 말하게 하고, 부모가 “왜?”라고 물어 까닭을 말해 보게 합니다.
주의
- 까닭을 바로 말하지 못해도 괜찮습니다. 오늘 내내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확인(중심 문장과 뒷받침 문장)]
목적: 3학년 ‘문단 쓰기’(KR22-G03-KOR-PARAGRAPH-L01)에서 배운 중심 문장과 뒷받침 문장을 구별하는지 확인합니다. 오늘 배울 ‘의견과 이유’와 이어지는 앞 차시의 내용을 확인합니다.
시간: 약 3분
이렇게 말해 보세요
- “이 문단을 소리 내어 읽어 볼래? 하고 싶은 말 한 가지가 담긴 문장은 어느 것이야?”
- “둘째, 셋째 문장은 무슨 일을 해?”
정답
- 중심 문장: 우리 동네 도서관은 책 읽기에 좋은 곳입니다.
- 둘째, 셋째 문장은 도서관이 왜 책 읽기에 좋은지 까닭을 들어 중심 문장을 뒷받침합니다.
막히면
- “이 문단은 무엇에 대한 이야기야? 그것을 한 문장으로 말한 곳은 어디야?”라고 묻습니다.
- 중심 문장을 찾지 못하거나 뒷받침 문장이 하는 일을 말하지 못하면 S15(보충)를 먼저 합니다.
주의
- S03에서 ‘중심 문장은 의견, 뒷받침 문장은 이유와 닮았다’고 이어서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의견과 이유의 뜻]
목적: 의견과 이유의 뜻, 이유를 이어 주는 말을 알려 줍니다(목표 A).
시간: 약 3분
이렇게 말해 보세요
- “앞의 도서관 문단에서 ‘도서관은 책 읽기에 좋은 곳이다’는 글쓴이의 생각이지? 이런 생각을 의견이라고 해.”
- “뒤의 두 문장은 왜 그렇게 생각하는지 까닭을 말했어. 이것이 이유야. 이유 앞에는 ‘왜냐하면’, 끝에는 ‘~ 때문이에요’를 자주 써.”
- “‘나는 겨울이 좋아.’ 이건 의견일까, 이유일까?”
예상 답
- “의견이요. 왜 좋은지는 안 나왔어요.”
막히면
- 부모가 “나는 겨울이 좋아. 왜냐하면 눈사람을 만들 수 있기 때문이야.”라고 말하고 “어디까지가 의견이고 어디부터가 이유야?”라고 묻습니다.
주의
- ‘의견’은 사람마다 다를 수 있다는 것도 말해 줍니다. 겨울이 싫다는 의견도 이유가 있으면 들어 볼 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읽기(의견과 이유 찾기)]
목적: 부모가 생각을 소리 내어 말하며 끝맺는 말과 이어 주는 말을 단서로 의견과 이유를 찾는 과정을 보여 줍니다(목표 A).
시간: 약 3분
이렇게 말해 보세요
- “첫 문장은 ‘~면 좋겠습니다’로 끝나. 글쓴이가 바라는 생각이니까 이게 의견이야.”
- “둘째 문장에는 ‘왜냐하면 ~ 때문입니다’가 있어. 의견에 대한 까닭이니까 이유야.”
- “셋째 문장은 같이 볼까? ‘또’로 시작하네. 무슨 일을 하는 문장일까?”
예상 답
- “이유가 하나 더 있는 거예요.”
정답
- 의견: 우리 반 교실에서 화분을 기르면 좋겠습니다.
- 이유 두 가지: ① 식물이 자라는 모습을 날마다 살펴볼 수 있다. ② 맡은 일을 끝까지 하는 습관이 생긴다.
막히면
- 문장마다 끝부분만 손가락으로 짚어 읽게 합니다(‘좋겠습니다’, ‘때문입니다’, ‘생깁니다’).
주의
- ‘또’는 이유를 하나 더 보탤 때 쓰는 말이라고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의견과 이유를 표로 정리하기]
목적: 찾은 의견과 이유를 표로 정리하고, 의견을 알려 주는 끝맺는 말을 알려 줍니다(목표 A).
시간: 약 3분
이렇게 말해 보세요
- “화분 글을 표로 정리했어. 의견 하나에 이유가 두 개 붙어 있지?”
- “의견은 이렇게 ‘~면 좋겠습니다’, ‘~해야 합니다’, ‘~라고 생각합니다’로 끝날 때가 많아. 이 말들을 보면 의견을 찾기 쉬워.”
- “‘우리 반은 날마다 줄넘기를 해야 합니다.’ 이건 의견일까?”
예상 답
- “의견이요. ‘해야 합니다’로 끝나요.”
막히면
- S04의 글과 표를 번갈아 보며 표의 칸마다 글의 어느 문장인지 짚어 줍니다.
주의
- 끝맺는 말은 단서일 뿐입니다. ‘~입니다’로 끝나도 글쓴이의 생각이면 의견이라는 것은 S11에서 다시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알맞은 이유의 기준]
목적: 이유가 알맞은지 판단하는 세 가지 기준을 알려 줍니다(목표 B). 오늘 내내 쓰는 점검표입니다.
시간: 약 3분
이렇게 말해 보세요
- “화분 글의 의견에 이런 이유를 붙이면 어때? ‘왜냐하면 운동장이 넓기 때문입니다.’ 화분과 관계있어?” (① 관계)
- “‘왜냐하면 화분을 길러야 하기 때문입니다.’ 이건 의견을 한 번 더 말한 것 같지 않아?” (② 되풀이)
- “‘왜냐하면 내가 초록색을 좋아하기 때문입니다.’ 다른 친구들도 고개를 끄덕일까?” (③ 끄덕끄덕)
예상 답
- “운동장은 화분이랑 상관없어요.” “같은 말이에요.” “나만 좋아하는 거라서 다른 친구는 아닐 수도 있어요.”
막히면
- 부모가 일부러 엉뚱한 이유를 하나 말하고 “이 이유는 몇 번 기준에 걸릴까?”라고 놀이처럼 묻습니다.
주의
- ③은 ‘나만의 까닭은 틀렸다’는 뜻이 아닙니다. 다른 사람을 설득하려면 여러 사람이 받아들일 수 있는 까닭이 더 좋다는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의견과 이유를 말하는 순서]
목적: 의견과 이유를 말하거나 쓸 때의 순서를 정리합니다(목표 A·B).
시간: 약 2분
이렇게 말해 보세요
- “의견을 말할 때는 이 순서대로 하면 돼. 하나씩 같이 읽어 볼까?”
- “엄마(아빠)가 해 볼게. ‘나는 주말에 공원에 가면 좋겠다고 생각해. 왜냐하면 날씨가 맑아서 자전거를 탈 수 있기 때문이야.’”
예상 답
- 아이가 1~4를 자기 말로 다시 말합니다.
막히면
- S04의 화분 글을 다시 보여 주며 단계마다 글의 어느 부분인지 짚어 봅니다.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찾기(의견과 이유)]
목적: 끝맺는 말과 이어 주는 말을 단서로 의견과 이유를 함께 찾아봅니다(목표 A). 활동지 1에 같은 글이 있으니 의견에 밑줄, 이유에 물결선을 긋게 합니다.
시간: 약 3분
이렇게 말해 보세요
- “먼저 문장마다 끝부분을 읽어 볼까? 의견을 알려 주는 말로 끝나는 문장은 어느 것이야?”
- “둘째 문장에는 ‘왜냐하면’이 없는데, 끝에 무슨 말이 있어? 셋째 문장은 무엇으로 시작해?”
정답
- 의견: 저는 자기 전에 다음 날 가방을 미리 싸야 한다고 생각합니다.
- 이유 ① 아침에는 시간이 부족해 준비물을 빠뜨리기 쉽다. ② 아침에 여유가 생겨 밥을 천천히 먹을 수 있다.
막히면
- “글쓴이는 무엇을 하자고 해? 왜 그렇게 하자고 해?” 두 가지로 나누어 묻습니다.
주의
- ‘왜냐하면’이 없어도 ‘~ 때문입니다’나 ‘또’로 이유를 알 수 있다는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비교(이유 없이 의견만 말하기)]
목적: ‘그냥’은 이유가 되지 못하고, 알맞은 이유가 있어야 듣는 사람이 받아들인다는 것을 비교로 확인합니다(목표 B, 오해 M1).
시간: 약 3분
이렇게 말해 보세요
- “두 친구 모두 의견은 ‘공원에 가요’로 같아. 그런데 어느 쪽 말을 듣고 ‘그래, 가자!’ 하는 마음이 들어?”
- “가 친구한테 ‘왜?’라고 물으면 무엇을 알 수 있어?”
정답
- 나. 날씨가 맑아 자전거를 탈 수 있다는, 의견과 관계있고 듣는 사람도 고개를 끄덕일 만한 이유가 있습니다.
- 가는 ‘그냥’이라서 왜 공원에 가고 싶은지 알 수 없습니다(이유가 없음).
막히면
- S06의 세 가지 기준 카드를 다시 보여 주고 나의 이유에 하나씩 ○를 해 보게 합니다.
주의
- 아이가 평소 “그냥”이라고 자주 말해도 꾸짖지 않습니다. “왜 그런지 한 가지만 더 말해 줄래?”라고 이어 묻는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알맞은 이유 고르기(세 가지 기준)]
목적: 세 가지 기준으로 이유가 알맞은지 따져 봅니다(목표 B, 오해 M2·M3).
시간: 약 3분
이렇게 말해 보세요
- “의견 뒤에 ①을 붙여서 읽어 볼래? ‘교실에서는 실내화를 신어야 합니다. 왜냐하면 바깥 흙이 들어오지 않아 교실이 깨끗하기 때문이에요.’ 세 가지 기준에 맞아?”
- “②도 붙여 읽어 봐. 의견이랑 무엇이 같아?”
- “③은 맞는 말일 수도 있어. 그런데 실내화랑 관계있어?”
정답
- ① ○ 의견과 관계있고, 되풀이가 아니며, 듣는 사람도 고개를 끄덕일 만합니다.
- ② × 의견을 되풀이했습니다(② 되풀이).
- ③ × 실내화와 관계없습니다(① 관계).
막히면
- 의견과 이유를 ‘왜냐하면’으로 이어 소리 내어 읽게 합니다. 이어 읽었을 때 어색하거나 같은 말이 두 번 나오면 알맞지 않은 이유입니다.
주의
- ③을 ‘틀린 말’이라고 하면 “운동장이 넓은 건 맞는 말이야. 다만 의견과 관계가 없지.”라고 구별해 줍니다(오해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찾기(의견이 끝에 있는 글)]
목적: 도움 없이 처음 읽는 글에서 의견과 이유를 찾는지 확인합니다. 의견이 맨 끝에 있는 글입니다(목표 A, 오해 M4).
시간: 약 4분
이렇게 말해 보세요
- “이번에는 혼자 해 볼래? 활동지 3에 같은 글이 있으니 의견에 밑줄을 긋고 이유를 써 봐.”
- “무엇을 보고 의견이라고 알았는지도 말해 줘.”
정답
- 의견: 그래서 저는 계단에서 오른쪽으로 걸어야 한다고 생각합니다.(셋째 문장, ‘~해야 한다고 생각합니다’로 끝남)
- 이유 ① 오르는 사람과 내려가는 사람이 부딪히지 않는다. ② 계단이 붐비지 않아 빨리 지나갈 수 있다.
막히면
- S05의 끝맺는 말 카드를 다시 보여 주고, 문장마다 끝부분만 읽게 합니다.
- 도움을 받아 찾았다면 기록표에 ‘도움’으로 표시합니다.
주의
- 첫 문장을 의견이라고 하면 바로 고치지 말고 “이 문장은 무엇을 하자고 하는 말이야, 까닭을 말하는 말이야?”라고 되묻습니다(오해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찾은 의견과 이유가 왼쪽과 같아? 의견이 맨 끝에 있었지?”
- “‘그래서’ 뒤에 의견이 나왔어. 앞에서 까닭을 먼저 말하고, ‘그래서’로 생각을 말한 거야.”
예상 답
- “처음엔 첫 문장인 줄 알았는데, ‘생각합니다’로 끝나는 건 마지막 문장이에요.”
정답
- 의견: 그래서 저는 계단에서 오른쪽으로 걸어야 한다고 생각합니다. / 이유: 부딪히지 않는다, 붐비지 않아 빨리 지나갈 수 있다.
막히면
- S11의 글에서 의견에 밑줄, 이유에 물결선을 함께 그어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확인(내 의견과 이유 말하고 쓰기)]
목적: 처음 받은 주제로 자기 의견을 정하고 알맞은 이유 두 가지를 들어 말하고 쓰는지 확인합니다(목표 B). 활동지 5에 쓰고 6의 점검표로 스스로 확인합니다.
시간: 약 4분
이렇게 말해 보세요
- “바다와 산 가운데 어디가 좋아? 정답은 없어. 네 생각과 까닭이 잘 드러나면 돼.”
- “S07의 순서대로 먼저 말해 볼래? ‘저는 ~가 좋다고 생각합니다. 왜냐하면 ~ 때문입니다. 또 ~.’”
- “말한 대로 활동지 5에 쓰고, 6의 표에 스스로 ○, ×를 해 봐.”
예상 답
- “저는 바다가 좋다고 생각합니다. 왜냐하면 모래놀이와 물놀이를 함께 할 수 있기 때문입니다. 또 시원한 바닷바람을 쐴 수 있습니다.”
- “저는 산에 가면 좋겠습니다. 숲길을 걸으며 여러 가지 나무와 새를 볼 수 있기 때문입니다. 또 꼭대기에 오르면 마을이 한눈에 보입니다.”
정답
- 기준: ① 의견이 한 문장으로 드러남 ② 이유가 두 가지 ③ 이유가 의견과 관계있음 ④ 의견을 되풀이하지 않고 듣는 사람도 고개를 끄덕일 만함. 바다와 산 어느 쪽을 골라도 됩니다.
- 4가지를 모두 지키면 목표 B 달성, 3가지면 거의 달성으로 봅니다.
막히면
- “바다에 가면 무엇을 할 수 있어? 산에서는?”이라고 물어 할 수 있는 일을 먼저 늘어놓게 한 뒤, 그 가운데 두 가지를 이유로 고르게 합니다.
- 도움을 받아 말했다면 기록표에 ‘도움’으로 표시합니다.
주의
- “바다가 좋아요. 바다가 좋으니까요.”처럼 되풀이하면 S10 ②를 떠올리게 합니다. 맞춤법보다 의견과 이유가 드러났는지를 먼저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“의견과 이유가 무엇인지 한 문장으로 말해 볼래?”
예상 답
- “의견은 내 생각이고, 이유는 왜 그렇게 생각하는지예요.”
정답
- ① 의견: 어떤 일에 대한 나의 생각, 이유: 그렇게 생각하는 까닭 ② 왜냐하면 ~ 때문이에요(또, ~해서) ③ 의견과 관계있는지, 의견을 되풀이하지 않았는지, 듣는 사람도 고개를 끄덕일 만한지
막히면
- S03과 S06을 다시 보여 줍니다.
주의
- 생활 속에서 아이가 무언가를 하고 싶다고 하면 “이유를 두 가지 말해 줄래?”라고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보충(‘왜?’에 답하며 이유 말하기)]
목적: ‘왜?’라는 물음에 답하며 의견과 이유를 말로 먼저 이어 봅니다. 중심 문장과 뒷받침 문장(까닭)의 관계를 다시 다집니다.
시간: 약 4분
이렇게 말해 보세요
- “화면처럼 해 볼까? ‘비 오는 날에는 장화가 좋아요.’ 왜?”
- (연필과 볼펜을 보여 주며) “숙제할 때 연필과 볼펜 가운데 무엇이 좋을까? 왜 그렇게 생각해?”
정답
- 예: “숙제할 때는 연필이 좋아요. 왜냐하면 틀리면 지우개로 지울 수 있기 때문이에요.” (고른 물건과 관계있는 까닭을 말하면 맞음)
막히면
- 부모가 먼저 “나는 볼펜이 좋아. 왜냐하면 글씨가 진하게 써지기 때문이야.”라고 들려주고 따라 말하게 합니다.
- 보충으로도 어렵다면 3학년 ‘문단 쓰기’(KR22-G03-KOR-PARAGRAPH-L01)를 먼저 다시 합니다. 이 차시는 계획상 선수 차시가 없어, 내용이 가장 가까운 이 차시를 선수 확인(S02)에 썼습니다. 중심 문장 찾기부터 어렵다면 ‘문단의 중심 문장’(KR22-G03-KOR-MAINIDEA-L01)으로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의견과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의견과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의견과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생각에 듣는 사람이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끄덕이게 하려면?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글에서 의견과 이유를 구별할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의견에 알맞은 이유를 들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찾아요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무엇인가요? 나머지 문장은 무슨 일을 하나요?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도서관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동네 도서관은 책 읽기에 좋은 곳입니다. 어린이 책이 많아서 읽고 싶은 책을 쉽게 찾을 수 있습니다. 의자가 푹신해서 오래 앉아 읽어도 편합니다.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의견만 들으면 ‘왜?’가 궁금해요. 그 대답이 이유예요.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일에 대한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생각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생각하는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주는 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때문이에요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 글에서 찾아요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어느 문장일까요? 이유는 몇 가지일까요?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화분을 길러요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반 교실에서 화분을 기르면 좋겠습니다. 왜냐하면 식물이 자라는 모습을 날마다 가까이에서 살펴볼 수 있기 때문입니다. 또 돌아가며 물을 주다 보면 맡은 일을 끝까지 하는 습관이 생깁니다.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정리하면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‘~면 좋겠습니다’, ‘~해야 합니다’, ‘~라고 생각합니다’로 자주 끝나요.</a:t>
            </a:r>
            <a:endParaRPr lang="ko-KR" sz="3000" dirty="0"/>
          </a:p>
        </p:txBody>
      </p:sp>
      <p:graphicFrame>
        <p:nvGraphicFramePr>
          <p:cNvPr id="6" name="S05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59330"/>
          <a:ext cx="1005840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824788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교실에서 화분을 기르면 좋겠다.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식물이 자라는 모습을 살펴볼 수 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맡은 일을 끝까지 하는 습관이 생긴다.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이유의 세 가지 기준</a:t>
            </a:r>
            <a:endParaRPr lang="ko-KR" sz="4000" dirty="0"/>
          </a:p>
        </p:txBody>
      </p:sp>
      <p:sp>
        <p:nvSpPr>
          <p:cNvPr id="3" name="S06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모두 ○이면 알맞은 이유예요.</a:t>
            </a:r>
            <a:endParaRPr lang="ko-KR" sz="3000" dirty="0"/>
          </a:p>
        </p:txBody>
      </p:sp>
      <p:sp>
        <p:nvSpPr>
          <p:cNvPr id="5" name="S06-card2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관계있나요?</a:t>
            </a:r>
            <a:endParaRPr lang="ko-KR" sz="3000" dirty="0"/>
          </a:p>
        </p:txBody>
      </p:sp>
      <p:sp>
        <p:nvSpPr>
          <p:cNvPr id="7" name="S06-card2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6-cardtext2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되풀이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되풀이한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아닌가요?</a:t>
            </a:r>
            <a:endParaRPr lang="ko-KR" sz="3000" dirty="0"/>
          </a:p>
        </p:txBody>
      </p:sp>
      <p:sp>
        <p:nvSpPr>
          <p:cNvPr id="9" name="S06-card2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2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끄덕끄덕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끄덕일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만한가요?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이유를 말하는 순서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~라고 생각해요. 왜냐하면 ~ 때문이에요.”</a:t>
            </a:r>
            <a:endParaRPr lang="ko-KR" sz="3000" dirty="0"/>
          </a:p>
        </p:txBody>
      </p:sp>
      <p:sp>
        <p:nvSpPr>
          <p:cNvPr id="5" name="S07-stepno32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3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한 문장으로 정해요.</a:t>
            </a:r>
            <a:endParaRPr lang="ko-KR" sz="3000" dirty="0"/>
          </a:p>
        </p:txBody>
      </p:sp>
      <p:sp>
        <p:nvSpPr>
          <p:cNvPr id="7" name="S07-stepno3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35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 스스로 물어요.</a:t>
            </a:r>
            <a:endParaRPr lang="ko-KR" sz="3000" dirty="0"/>
          </a:p>
        </p:txBody>
      </p:sp>
      <p:sp>
        <p:nvSpPr>
          <p:cNvPr id="9" name="S07-stepno3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37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두 가지 찾아요.</a:t>
            </a:r>
            <a:endParaRPr lang="ko-KR" sz="3000" dirty="0"/>
          </a:p>
        </p:txBody>
      </p:sp>
      <p:sp>
        <p:nvSpPr>
          <p:cNvPr id="11" name="S07-stepno38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39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 글 함께 읽기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어느 문장인가요? 이유를 두 가지 찾아봐요.</a:t>
            </a:r>
            <a:endParaRPr lang="ko-KR" sz="3000" dirty="0"/>
          </a:p>
        </p:txBody>
      </p:sp>
      <p:sp>
        <p:nvSpPr>
          <p:cNvPr id="5" name="S08-passagebox4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가방은 전날 밤에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저는 자기 전에 다음 날 가방을 미리 싸야 한다고 생각합니다. 아침에는 시간이 부족해서 서두르다 준비물을 빠뜨리기 쉽기 때문입니다. 또 전날 밤에 싸 두면 아침에 여유가 생겨 밥을 천천히 먹을 수 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말에 고개가 끄덕여질까?</a:t>
            </a:r>
            <a:endParaRPr lang="ko-KR" sz="4000" dirty="0"/>
          </a:p>
        </p:txBody>
      </p:sp>
      <p:sp>
        <p:nvSpPr>
          <p:cNvPr id="3" name="S09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“주말에 어디에 가면 좋을까?” 두 친구의 대답이에요.</a:t>
            </a:r>
            <a:endParaRPr lang="ko-KR" sz="3000" dirty="0"/>
          </a:p>
        </p:txBody>
      </p:sp>
      <p:sp>
        <p:nvSpPr>
          <p:cNvPr id="5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 말에 더 고개가 끄덕여지나요? 왜 그럴까요?</a:t>
            </a:r>
            <a:endParaRPr lang="ko-KR" sz="3000" dirty="0"/>
          </a:p>
        </p:txBody>
      </p:sp>
      <p:sp>
        <p:nvSpPr>
          <p:cNvPr id="7" name="S09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가요.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가고 싶어요.”</a:t>
            </a:r>
            <a:endParaRPr lang="ko-KR" sz="3000" dirty="0"/>
          </a:p>
        </p:txBody>
      </p:sp>
      <p:sp>
        <p:nvSpPr>
          <p:cNvPr id="9" name="S09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가요.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맑아서 자전거를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 수 있기 때문이에요.”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이유를 골라요</a:t>
            </a:r>
            <a:endParaRPr lang="ko-KR" sz="4000" dirty="0"/>
          </a:p>
        </p:txBody>
      </p:sp>
      <p:sp>
        <p:nvSpPr>
          <p:cNvPr id="3" name="S10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 교실에서는 실내화를 신어야 합니다.</a:t>
            </a:r>
            <a:endParaRPr lang="ko-KR" sz="3000" dirty="0"/>
          </a:p>
        </p:txBody>
      </p:sp>
      <p:sp>
        <p:nvSpPr>
          <p:cNvPr id="4" name="S10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○, × 하고 까닭을 말해요.</a:t>
            </a:r>
            <a:endParaRPr lang="ko-KR" sz="3000" dirty="0"/>
          </a:p>
        </p:txBody>
      </p:sp>
      <p:sp>
        <p:nvSpPr>
          <p:cNvPr id="6" name="S10-chip5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5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흙이 들어오지 않아 교실이 깨끗해요.</a:t>
            </a:r>
            <a:endParaRPr lang="ko-KR" sz="3000" dirty="0"/>
          </a:p>
        </p:txBody>
      </p:sp>
      <p:sp>
        <p:nvSpPr>
          <p:cNvPr id="8" name="S10-chip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5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실내화는 꼭 신어야 하는 것이기 때문이에요.</a:t>
            </a:r>
            <a:endParaRPr lang="ko-KR" sz="3000" dirty="0"/>
          </a:p>
        </p:txBody>
      </p:sp>
      <p:sp>
        <p:nvSpPr>
          <p:cNvPr id="10" name="S10-chip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6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 운동장은 아주 넓어요.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어느 문장인가요? 이유를 두 가지 찾아 말해 보세요.</a:t>
            </a:r>
            <a:endParaRPr lang="ko-KR" sz="3000" dirty="0"/>
          </a:p>
        </p:txBody>
      </p:sp>
      <p:sp>
        <p:nvSpPr>
          <p:cNvPr id="5" name="S11-passagebox6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계단에서는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모두 오른쪽으로 걸으면 계단을 오르는 사람과 내려가는 사람이 부딪히지 않습니다. 또 계단이 붐비지 않아 빨리 지나갈 수 있습니다. 그래서 저는 계단에서 오른쪽으로 걸어야 한다고 생각합니다.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자리보다 끝맺는 말로 찾아요.</a:t>
            </a:r>
            <a:endParaRPr lang="ko-KR" sz="3000" dirty="0"/>
          </a:p>
        </p:txBody>
      </p:sp>
      <p:sp>
        <p:nvSpPr>
          <p:cNvPr id="5" name="S12-chip6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6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걸어야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한다고 생각합니다</a:t>
            </a:r>
            <a:endParaRPr lang="ko-KR" sz="2400" dirty="0"/>
          </a:p>
        </p:txBody>
      </p:sp>
      <p:sp>
        <p:nvSpPr>
          <p:cNvPr id="7" name="S12-text6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의견(셋째 문장)</a:t>
            </a:r>
            <a:endParaRPr lang="ko-KR" sz="2400" dirty="0"/>
          </a:p>
        </p:txBody>
      </p:sp>
      <p:sp>
        <p:nvSpPr>
          <p:cNvPr id="8" name="S12-text7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부딪히지 않아요</a:t>
            </a:r>
            <a:endParaRPr lang="ko-KR" sz="3000" dirty="0"/>
          </a:p>
        </p:txBody>
      </p:sp>
      <p:sp>
        <p:nvSpPr>
          <p:cNvPr id="9" name="S12-text7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1</a:t>
            </a:r>
            <a:endParaRPr lang="ko-KR" sz="2400" dirty="0"/>
          </a:p>
        </p:txBody>
      </p:sp>
      <p:sp>
        <p:nvSpPr>
          <p:cNvPr id="10" name="S12-text7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붐비지 않아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지나가요</a:t>
            </a:r>
            <a:endParaRPr lang="ko-KR" sz="3000" dirty="0"/>
          </a:p>
        </p:txBody>
      </p:sp>
      <p:sp>
        <p:nvSpPr>
          <p:cNvPr id="11" name="S12-text7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2</a:t>
            </a:r>
            <a:endParaRPr lang="ko-KR" sz="2400" dirty="0"/>
          </a:p>
        </p:txBody>
      </p:sp>
      <p:sp>
        <p:nvSpPr>
          <p:cNvPr id="12" name="S12-chip7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7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문장이 의견</a:t>
            </a:r>
            <a:endParaRPr lang="ko-KR" sz="3000" dirty="0"/>
          </a:p>
        </p:txBody>
      </p:sp>
      <p:sp>
        <p:nvSpPr>
          <p:cNvPr id="14" name="S12-text7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말한 이유예요</a:t>
            </a:r>
            <a:endParaRPr lang="ko-KR" sz="2400" dirty="0"/>
          </a:p>
        </p:txBody>
      </p:sp>
      <p:sp>
        <p:nvSpPr>
          <p:cNvPr id="15" name="S12-text7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하나만 찾음</a:t>
            </a:r>
            <a:endParaRPr lang="ko-KR" sz="3000" dirty="0"/>
          </a:p>
        </p:txBody>
      </p:sp>
      <p:sp>
        <p:nvSpPr>
          <p:cNvPr id="16" name="S12-text7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‘또’ 뒤도 이유예요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의견과 이유 말하기</a:t>
            </a:r>
            <a:endParaRPr lang="ko-KR" sz="4000" dirty="0"/>
          </a:p>
        </p:txBody>
      </p:sp>
      <p:sp>
        <p:nvSpPr>
          <p:cNvPr id="3" name="S13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나들이로 바다와 산 가운데 어디가 좋을까요?</a:t>
            </a:r>
            <a:endParaRPr lang="ko-KR" sz="3000" dirty="0"/>
          </a:p>
        </p:txBody>
      </p:sp>
      <p:sp>
        <p:nvSpPr>
          <p:cNvPr id="4" name="S13-card80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81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의견이 한 문장으로 드러나요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이유가 두 가지예요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이유가 의견과 관계있어요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되풀이 없이 끄덕일 만해요</a:t>
            </a:r>
            <a:endParaRPr lang="ko-KR" sz="3000" dirty="0"/>
          </a:p>
        </p:txBody>
      </p:sp>
      <p:sp>
        <p:nvSpPr>
          <p:cNvPr id="6" name="S13-stepno82"/>
          <p:cNvSpPr txBox="1"/>
          <p:nvPr/>
        </p:nvSpPr>
        <p:spPr>
          <a:xfrm>
            <a:off x="548640" y="29367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3-text83"/>
          <p:cNvSpPr txBox="1"/>
          <p:nvPr/>
        </p:nvSpPr>
        <p:spPr>
          <a:xfrm>
            <a:off x="1325880" y="29367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의견을 정해요.</a:t>
            </a:r>
            <a:endParaRPr lang="ko-KR" sz="3000" dirty="0"/>
          </a:p>
        </p:txBody>
      </p:sp>
      <p:sp>
        <p:nvSpPr>
          <p:cNvPr id="8" name="S13-stepno84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3-text85"/>
          <p:cNvSpPr txBox="1"/>
          <p:nvPr/>
        </p:nvSpPr>
        <p:spPr>
          <a:xfrm>
            <a:off x="1325880" y="364998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 물어 이유를 두 가지 찾아요.</a:t>
            </a:r>
            <a:endParaRPr lang="ko-KR" sz="3000" dirty="0"/>
          </a:p>
        </p:txBody>
      </p:sp>
      <p:sp>
        <p:nvSpPr>
          <p:cNvPr id="10" name="S13-stepno86"/>
          <p:cNvSpPr txBox="1"/>
          <p:nvPr/>
        </p:nvSpPr>
        <p:spPr>
          <a:xfrm>
            <a:off x="548640" y="47442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3-text87"/>
          <p:cNvSpPr txBox="1"/>
          <p:nvPr/>
        </p:nvSpPr>
        <p:spPr>
          <a:xfrm>
            <a:off x="1325880" y="47442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다음 활동지에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나의 생각, 이유는 그렇게 생각하는 까닭이에요.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이유를 들면 듣는 사람이 고개를 끄덕여요.</a:t>
            </a:r>
            <a:endParaRPr lang="ko-KR" sz="3000" dirty="0"/>
          </a:p>
        </p:txBody>
      </p:sp>
      <p:sp>
        <p:nvSpPr>
          <p:cNvPr id="5" name="S14-chip9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알맞은 이유 두 가지 들기</a:t>
            </a:r>
            <a:endParaRPr lang="ko-KR" sz="2400" dirty="0"/>
          </a:p>
        </p:txBody>
      </p:sp>
      <p:sp>
        <p:nvSpPr>
          <p:cNvPr id="6" name="S14-chip9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‘그냥’으로 이유 대신하기</a:t>
            </a:r>
            <a:endParaRPr lang="ko-KR" sz="2400" dirty="0"/>
          </a:p>
        </p:txBody>
      </p:sp>
      <p:sp>
        <p:nvSpPr>
          <p:cNvPr id="7" name="S14-text9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의견과 이유의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400" dirty="0"/>
          </a:p>
        </p:txBody>
      </p:sp>
      <p:sp>
        <p:nvSpPr>
          <p:cNvPr id="9" name="S14-text9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이유를 이어 주는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말은?</a:t>
            </a:r>
            <a:endParaRPr lang="ko-KR" sz="2400" dirty="0"/>
          </a:p>
        </p:txBody>
      </p:sp>
      <p:sp>
        <p:nvSpPr>
          <p:cNvPr id="10" name="S14-text9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알맞은 이유의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400" dirty="0"/>
          </a:p>
        </p:txBody>
      </p:sp>
      <p:sp>
        <p:nvSpPr>
          <p:cNvPr id="11" name="S14-text9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토의하기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‘왜?’에 답해요</a:t>
            </a:r>
            <a:endParaRPr lang="ko-KR" sz="4000" dirty="0"/>
          </a:p>
        </p:txBody>
      </p:sp>
      <p:sp>
        <p:nvSpPr>
          <p:cNvPr id="3" name="S15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물건으로 의견과 이유를 말해 봐요.</a:t>
            </a:r>
            <a:endParaRPr lang="ko-KR" sz="3000" dirty="0"/>
          </a:p>
        </p:txBody>
      </p:sp>
      <p:sp>
        <p:nvSpPr>
          <p:cNvPr id="4" name="S15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‘왜?’에 대한 대답이 이유가 돼요.</a:t>
            </a:r>
            <a:endParaRPr lang="ko-KR" sz="3000" dirty="0"/>
          </a:p>
        </p:txBody>
      </p:sp>
      <p:sp>
        <p:nvSpPr>
          <p:cNvPr id="6" name="S15-card10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15-cardtext10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날에는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장화가 좋아요.</a:t>
            </a:r>
            <a:endParaRPr lang="ko-KR" sz="3000" dirty="0"/>
          </a:p>
        </p:txBody>
      </p:sp>
      <p:sp>
        <p:nvSpPr>
          <p:cNvPr id="8" name="S15-card10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0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 그렇게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생각해?”</a:t>
            </a:r>
            <a:endParaRPr lang="ko-KR" sz="3000" dirty="0"/>
          </a:p>
        </p:txBody>
      </p:sp>
      <p:sp>
        <p:nvSpPr>
          <p:cNvPr id="10" name="S15-card10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0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발이 젖지 않기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의견과 이유</dc:title>
  <dc:subject>KR22-G04-KOR-OPINION-L01</dc:subject>
  <dc:creator>education-ppt</dc:creator>
  <cp:lastModifiedBy>education-ppt</cp:lastModifiedBy>
  <cp:revision>1</cp:revision>
  <dcterms:created xsi:type="dcterms:W3CDTF">2026-10-26T13:19:12Z</dcterms:created>
  <dcterms:modified xsi:type="dcterms:W3CDTF">2026-10-26T13:19:12Z</dcterms:modified>
</cp:coreProperties>
</file>