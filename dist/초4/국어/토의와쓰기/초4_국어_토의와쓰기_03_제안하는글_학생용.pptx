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1548522-fdf8-0967-936f-574408a910fc}">
          <p14:sldIdLst>
            <p14:sldId id="256"/>
            <p14:sldId id="257"/>
          </p14:sldIdLst>
        </p14:section>
        <p14:section name="개념" id="{7e837531-1740-6cfa-a25d-a315c4b4e69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74719c01-68f9-08e5-a559-549b0596eeff}">
          <p14:sldIdLst>
            <p14:sldId id="263"/>
            <p14:sldId id="264"/>
            <p14:sldId id="265"/>
          </p14:sldIdLst>
        </p14:section>
        <p14:section name="확인" id="{46c22a7e-e87c-79a7-3f02-da1b1ff515e2}">
          <p14:sldIdLst>
            <p14:sldId id="266"/>
            <p14:sldId id="267"/>
          </p14:sldIdLst>
        </p14:section>
        <p14:section name="정리" id="{4cf64853-56cd-3383-4505-a9206835c6f5}">
          <p14:sldIdLst>
            <p14:sldId id="268"/>
          </p14:sldIdLst>
        </p14:section>
        <p14:section name="보충" id="{9116bbd0-044d-655d-1b21-d9645335026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제안하는 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제안하는 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제안하는 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문제를 바꾸고 싶을 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 어떻게 부탁할까?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제안하는 글에서 문제 상황·제안·이유를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제안하는 글을 쓰고 점검표로 고쳐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토의를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토의를 떠올려 답해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 절차 다섯 단계는?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‘당번 한 명이 다 치워요.’는 어느 기준에 맞지 않나요?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 방법에 넣을 세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글의 짜임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글: 문제를 풀 방법을 함께 하자고 권하는 글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→ 제안 → 이유의 차례로 써요.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 상황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문제인가요?</a:t>
            </a:r>
            <a:endParaRPr lang="ko-KR" sz="30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하자고 하나요?</a:t>
            </a:r>
            <a:endParaRPr lang="ko-KR" sz="30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지아가 쓴 제안하는 글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상황, 제안, 이유는 어느 부분일까요?</a:t>
            </a:r>
            <a:endParaRPr lang="ko-KR" sz="3000" dirty="0"/>
          </a:p>
        </p:txBody>
      </p:sp>
      <p:sp>
        <p:nvSpPr>
          <p:cNvPr id="5" name="S04-passagebox2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관리사무소에 드리는 제안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안녕하세요? 저는 3동에 사는 김지아입니다. 요즘 놀이터 의자 밑에 과자 봉지가 자주 버려져 있습니다.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놀이터 입구에 쓰레기통을 놓아 주시면 좋겠습니다.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쓰레기통이 가까이 있으면 쓰레기를 바로 버릴 수 있습니다. 또 놀이터가 깨끗해져서 동생들도 안전하게 놀 수 있습니다.</a:t>
            </a:r>
            <a:endParaRPr lang="ko-KR" sz="26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김지아 올림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정리하면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제안은 ‘~하면 좋겠습니다’, ‘~해 주세요’로 분명하게 써요.</a:t>
            </a:r>
            <a:endParaRPr lang="ko-KR" sz="3000" dirty="0"/>
          </a:p>
        </p:txBody>
      </p:sp>
      <p:graphicFrame>
        <p:nvGraphicFramePr>
          <p:cNvPr id="6" name="S05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99640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764438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상황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놀이터에 쓰레기가 자주 버려져 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 입구에 쓰레기통을 놓아 주세요.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쓰레기를 바로 버릴 수 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놀이터가 깨끗하고 안전해진다.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글을 쓰는 순서</a:t>
            </a:r>
            <a:endParaRPr lang="ko-KR" sz="4000" dirty="0"/>
          </a:p>
        </p:txBody>
      </p:sp>
      <p:sp>
        <p:nvSpPr>
          <p:cNvPr id="3" name="S06-stepno26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27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 상황을 찾아요.</a:t>
            </a:r>
            <a:endParaRPr lang="ko-KR" sz="3000" dirty="0"/>
          </a:p>
        </p:txBody>
      </p:sp>
      <p:sp>
        <p:nvSpPr>
          <p:cNvPr id="5" name="S06-stepno28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29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제안할지 정해요.</a:t>
            </a:r>
            <a:endParaRPr lang="ko-KR" sz="3000" dirty="0"/>
          </a:p>
        </p:txBody>
      </p:sp>
      <p:sp>
        <p:nvSpPr>
          <p:cNvPr id="7" name="S06-stepno30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1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하나와 이유 두 가지를 정해요.</a:t>
            </a:r>
            <a:endParaRPr lang="ko-KR" sz="3000" dirty="0"/>
          </a:p>
        </p:txBody>
      </p:sp>
      <p:sp>
        <p:nvSpPr>
          <p:cNvPr id="9" name="S06-stepno32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3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→ 제안 → 이유 차례로 써요.</a:t>
            </a:r>
            <a:endParaRPr lang="ko-KR" sz="3000" dirty="0"/>
          </a:p>
        </p:txBody>
      </p:sp>
      <p:sp>
        <p:nvSpPr>
          <p:cNvPr id="11" name="S06-stepno34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6-text35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쓰기 점검표</a:t>
            </a:r>
            <a:endParaRPr lang="ko-KR" sz="4000" dirty="0"/>
          </a:p>
        </p:txBody>
      </p:sp>
      <p:sp>
        <p:nvSpPr>
          <p:cNvPr id="3" name="S07-card3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×가 있으면 그 부분의 내용을 고쳐 써요. 맞춤법만 고치는 게 아니에요.</a:t>
            </a:r>
            <a:endParaRPr lang="ko-KR" sz="3000" dirty="0"/>
          </a:p>
        </p:txBody>
      </p:sp>
      <p:sp>
        <p:nvSpPr>
          <p:cNvPr id="5" name="S07-card38"/>
          <p:cNvSpPr/>
          <p:nvPr/>
        </p:nvSpPr>
        <p:spPr>
          <a:xfrm>
            <a:off x="548640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 상황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문제인지 드러나나요?</a:t>
            </a:r>
            <a:endParaRPr lang="ko-KR" sz="3000" dirty="0"/>
          </a:p>
        </p:txBody>
      </p:sp>
      <p:sp>
        <p:nvSpPr>
          <p:cNvPr id="7" name="S07-card40"/>
          <p:cNvSpPr/>
          <p:nvPr/>
        </p:nvSpPr>
        <p:spPr>
          <a:xfrm>
            <a:off x="6208776" y="1325880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41"/>
          <p:cNvSpPr txBox="1"/>
          <p:nvPr/>
        </p:nvSpPr>
        <p:spPr>
          <a:xfrm>
            <a:off x="6483096" y="1463040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분명한 제안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 하자는지 분명한가요?</a:t>
            </a:r>
            <a:endParaRPr lang="ko-KR" sz="3000" dirty="0"/>
          </a:p>
        </p:txBody>
      </p:sp>
      <p:sp>
        <p:nvSpPr>
          <p:cNvPr id="9" name="S07-card42"/>
          <p:cNvSpPr/>
          <p:nvPr/>
        </p:nvSpPr>
        <p:spPr>
          <a:xfrm>
            <a:off x="548640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3"/>
          <p:cNvSpPr txBox="1"/>
          <p:nvPr/>
        </p:nvSpPr>
        <p:spPr>
          <a:xfrm>
            <a:off x="822960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알맞은 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관계있고 끄덕일 만한 이유인가요?</a:t>
            </a:r>
            <a:endParaRPr lang="ko-KR" sz="3000" dirty="0"/>
          </a:p>
        </p:txBody>
      </p:sp>
      <p:sp>
        <p:nvSpPr>
          <p:cNvPr id="11" name="S07-card44"/>
          <p:cNvSpPr/>
          <p:nvPr/>
        </p:nvSpPr>
        <p:spPr>
          <a:xfrm>
            <a:off x="6208776" y="3142488"/>
            <a:ext cx="5431536" cy="1588008"/>
          </a:xfrm>
          <a:prstGeom prst="roundRect">
            <a:avLst>
              <a:gd name="adj" fmla="val 691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5"/>
          <p:cNvSpPr txBox="1"/>
          <p:nvPr/>
        </p:nvSpPr>
        <p:spPr>
          <a:xfrm>
            <a:off x="6483096" y="3279648"/>
            <a:ext cx="4882896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사람에게 공손하게 썼나요?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가족에게 쓴 제안 함께 읽기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상황, 제안, 이유를 찾아 말해 봐요.</a:t>
            </a:r>
            <a:endParaRPr lang="ko-KR" sz="3000" dirty="0"/>
          </a:p>
        </p:txBody>
      </p:sp>
      <p:sp>
        <p:nvSpPr>
          <p:cNvPr id="5" name="S08-passagebox4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먹을 때는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엄마, 아빠, 우리 가족은 저녁을 먹을 때 텔레비전을 켜 둡니다. 그래서 서로 이야기를 거의 나누지 못합니다.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저녁을 먹는 동안에는 텔레비전을 끄면 좋겠습니다.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그러면 오늘 있었던 일을 서로 이야기할 수 있습니다. 또 음식 맛에 집중해 천천히 먹을 수 있습니다.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제안이 더 분명할까?</a:t>
            </a:r>
            <a:endParaRPr lang="ko-KR" sz="4000" dirty="0"/>
          </a:p>
        </p:txBody>
      </p:sp>
      <p:sp>
        <p:nvSpPr>
          <p:cNvPr id="3" name="S09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시간마다 복도가 너무 시끄러워요.</a:t>
            </a:r>
            <a:endParaRPr lang="ko-KR" sz="3000" dirty="0"/>
          </a:p>
        </p:txBody>
      </p:sp>
      <p:sp>
        <p:nvSpPr>
          <p:cNvPr id="5" name="S09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무엇을 어떻게 하자는지 잘 알 수 있나요?</a:t>
            </a:r>
            <a:endParaRPr lang="ko-KR" sz="3000" dirty="0"/>
          </a:p>
        </p:txBody>
      </p:sp>
      <p:sp>
        <p:nvSpPr>
          <p:cNvPr id="7" name="S09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“다들 잘해 주세요.”</a:t>
            </a:r>
            <a:endParaRPr lang="ko-KR" sz="3000" dirty="0"/>
          </a:p>
        </p:txBody>
      </p:sp>
      <p:sp>
        <p:nvSpPr>
          <p:cNvPr id="9" name="S09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“복도에서는 걷고,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목소리로 말해요.”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고쳐 써요</a:t>
            </a:r>
            <a:endParaRPr lang="ko-KR" sz="4000" dirty="0"/>
          </a:p>
        </p:txBody>
      </p:sp>
      <p:sp>
        <p:nvSpPr>
          <p:cNvPr id="3" name="S10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 ①~④로 확인하고, 고칠 곳을 말해 봐요.</a:t>
            </a:r>
            <a:endParaRPr lang="ko-KR" sz="3000" dirty="0"/>
          </a:p>
        </p:txBody>
      </p:sp>
      <p:graphicFrame>
        <p:nvGraphicFramePr>
          <p:cNvPr id="11" name="S10-table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2149" y="2042160"/>
          <a:ext cx="3840480" cy="914400"/>
        </p:xfrm>
        <a:graphic>
          <a:graphicData uri="http://schemas.openxmlformats.org/drawingml/2006/table">
            <a:tbl>
              <a:tblPr/>
              <a:tblGrid>
                <a:gridCol w="2688336"/>
                <a:gridCol w="115214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○/×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문제 상황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분명한 제안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알맞은 이유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예의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0-passagebox61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10-passage62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친구들에게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급식을 남기지 마세요. 남기면 안 되기 때문입니다. 알겠죠?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거리: 지난 토의의 물 아끼기 · 현관 신발 정리 · 내가 찾은 문제</a:t>
            </a:r>
            <a:endParaRPr lang="ko-KR" sz="3000" dirty="0"/>
          </a:p>
        </p:txBody>
      </p:sp>
      <p:sp>
        <p:nvSpPr>
          <p:cNvPr id="4" name="S11-card64"/>
          <p:cNvSpPr/>
          <p:nvPr/>
        </p:nvSpPr>
        <p:spPr>
          <a:xfrm>
            <a:off x="6813652" y="2438400"/>
            <a:ext cx="4826660" cy="3779520"/>
          </a:xfrm>
          <a:prstGeom prst="roundRect">
            <a:avLst>
              <a:gd name="adj" fmla="val 290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5"/>
          <p:cNvSpPr txBox="1"/>
          <p:nvPr/>
        </p:nvSpPr>
        <p:spPr>
          <a:xfrm>
            <a:off x="7087972" y="2575560"/>
            <a:ext cx="427802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문제 상황이 드러나요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제안이 분명해요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이유가 알맞아요(두 가지)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공손하게 썼어요</a:t>
            </a:r>
            <a:endParaRPr lang="ko-KR" sz="3000" dirty="0"/>
          </a:p>
        </p:txBody>
      </p:sp>
      <p:sp>
        <p:nvSpPr>
          <p:cNvPr id="6" name="S11-stepno66"/>
          <p:cNvSpPr txBox="1"/>
          <p:nvPr/>
        </p:nvSpPr>
        <p:spPr>
          <a:xfrm>
            <a:off x="548640" y="28392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1-text67"/>
          <p:cNvSpPr txBox="1"/>
          <p:nvPr/>
        </p:nvSpPr>
        <p:spPr>
          <a:xfrm>
            <a:off x="1325880" y="27934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거리와 받는 사람을 정해요.</a:t>
            </a:r>
            <a:endParaRPr lang="ko-KR" sz="3000" dirty="0"/>
          </a:p>
        </p:txBody>
      </p:sp>
      <p:sp>
        <p:nvSpPr>
          <p:cNvPr id="8" name="S11-stepno68"/>
          <p:cNvSpPr txBox="1"/>
          <p:nvPr/>
        </p:nvSpPr>
        <p:spPr>
          <a:xfrm>
            <a:off x="548640" y="38877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1-text69"/>
          <p:cNvSpPr txBox="1"/>
          <p:nvPr/>
        </p:nvSpPr>
        <p:spPr>
          <a:xfrm>
            <a:off x="1325880" y="38877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상황을 써요.</a:t>
            </a:r>
            <a:endParaRPr lang="ko-KR" sz="3000" dirty="0"/>
          </a:p>
        </p:txBody>
      </p:sp>
      <p:sp>
        <p:nvSpPr>
          <p:cNvPr id="10" name="S11-stepno70"/>
          <p:cNvSpPr txBox="1"/>
          <p:nvPr/>
        </p:nvSpPr>
        <p:spPr>
          <a:xfrm>
            <a:off x="548640" y="4600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1-text71"/>
          <p:cNvSpPr txBox="1"/>
          <p:nvPr/>
        </p:nvSpPr>
        <p:spPr>
          <a:xfrm>
            <a:off x="1325880" y="46009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제안과 이유 두 가지를 써요.</a:t>
            </a:r>
            <a:endParaRPr lang="ko-KR" sz="3000" dirty="0"/>
          </a:p>
        </p:txBody>
      </p:sp>
      <p:sp>
        <p:nvSpPr>
          <p:cNvPr id="12" name="S11-stepno72"/>
          <p:cNvSpPr txBox="1"/>
          <p:nvPr/>
        </p:nvSpPr>
        <p:spPr>
          <a:xfrm>
            <a:off x="548640" y="5314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1-text73"/>
          <p:cNvSpPr txBox="1"/>
          <p:nvPr/>
        </p:nvSpPr>
        <p:spPr>
          <a:xfrm>
            <a:off x="1325880" y="53141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13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상황·제안·이유 가운데 빠진 것은? 어떻게 채울까요?</a:t>
            </a:r>
            <a:endParaRPr lang="ko-KR" sz="3000" dirty="0"/>
          </a:p>
        </p:txBody>
      </p:sp>
      <p:sp>
        <p:nvSpPr>
          <p:cNvPr id="5" name="S13-passagebox7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7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친구들에게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교실 뒤 책꽂이의 책을 다 읽으면 제자리에 꽂아 주세요. 그러면 다음 사람이 책을 쉽게 찾을 수 있습니다. 또 책이 바닥에 떨어져 망가지지 않습니다.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제안하는 글은 문제 상황 → 제안 → 이유의 차례로 쓰고,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확인해 내용을 고쳐 써요.</a:t>
            </a:r>
            <a:endParaRPr lang="ko-KR" sz="3000" dirty="0"/>
          </a:p>
        </p:txBody>
      </p:sp>
      <p:sp>
        <p:nvSpPr>
          <p:cNvPr id="5" name="S14-chip8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무엇을 어떻게 할지 분명하게</a:t>
            </a:r>
            <a:endParaRPr lang="ko-KR" sz="2400" dirty="0"/>
          </a:p>
        </p:txBody>
      </p:sp>
      <p:sp>
        <p:nvSpPr>
          <p:cNvPr id="6" name="S14-chip8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문제 상황 빼먹기</a:t>
            </a:r>
            <a:endParaRPr lang="ko-KR" sz="2400" dirty="0"/>
          </a:p>
        </p:txBody>
      </p:sp>
      <p:sp>
        <p:nvSpPr>
          <p:cNvPr id="7" name="S14-text8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제안하는 글의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부분은?</a:t>
            </a:r>
            <a:endParaRPr lang="ko-KR" sz="2400" dirty="0"/>
          </a:p>
        </p:txBody>
      </p:sp>
      <p:sp>
        <p:nvSpPr>
          <p:cNvPr id="9" name="S14-text8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‘방을 잘 써 주세요’를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분명하게 바꾸면?</a:t>
            </a:r>
            <a:endParaRPr lang="ko-KR" sz="2400" dirty="0"/>
          </a:p>
        </p:txBody>
      </p:sp>
      <p:sp>
        <p:nvSpPr>
          <p:cNvPr id="10" name="S14-text8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고쳐 쓰기 점검표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가지는?</a:t>
            </a:r>
            <a:endParaRPr lang="ko-KR" sz="2400" dirty="0"/>
          </a:p>
        </p:txBody>
      </p:sp>
      <p:sp>
        <p:nvSpPr>
          <p:cNvPr id="11" name="S14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문장의 기본 짜임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말로 먼저 해요</a:t>
            </a:r>
            <a:endParaRPr lang="ko-KR" sz="4000" dirty="0"/>
          </a:p>
        </p:txBody>
      </p:sp>
      <p:sp>
        <p:nvSpPr>
          <p:cNvPr id="3" name="S15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안을 둘러보고 바꾸고 싶은 것을 말해 봐요.</a:t>
            </a:r>
            <a:endParaRPr lang="ko-KR" sz="3000" dirty="0"/>
          </a:p>
        </p:txBody>
      </p:sp>
      <p:sp>
        <p:nvSpPr>
          <p:cNvPr id="4" name="S1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“~가 문제예요. ~하면 좋겠어요. 왜냐하면 ~ 때문이에요.”</a:t>
            </a:r>
            <a:endParaRPr lang="ko-KR" sz="3000" dirty="0"/>
          </a:p>
        </p:txBody>
      </p:sp>
      <p:sp>
        <p:nvSpPr>
          <p:cNvPr id="6" name="S15-card9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9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현관에 신발이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흩어져 있어요.</a:t>
            </a:r>
            <a:endParaRPr lang="ko-KR" sz="3000" dirty="0"/>
          </a:p>
        </p:txBody>
      </p:sp>
      <p:sp>
        <p:nvSpPr>
          <p:cNvPr id="8" name="S15-card9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9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벗은 신발은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신발장에 넣어요.</a:t>
            </a:r>
            <a:endParaRPr lang="ko-KR" sz="3000" dirty="0"/>
          </a:p>
        </p:txBody>
      </p:sp>
      <p:sp>
        <p:nvSpPr>
          <p:cNvPr id="10" name="S15-card9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9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걸려 넘어지지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제안하는 글</dc:title>
  <dc:subject>KR22-G04-KOR-PROPOSE-L01</dc:subject>
  <dc:creator>education-ppt</dc:creator>
  <cp:lastModifiedBy>education-ppt</cp:lastModifiedBy>
  <cp:revision>1</cp:revision>
  <dcterms:created xsi:type="dcterms:W3CDTF">2026-10-26T08:02:18Z</dcterms:created>
  <dcterms:modified xsi:type="dcterms:W3CDTF">2026-10-26T08:02:18Z</dcterms:modified>
</cp:coreProperties>
</file>