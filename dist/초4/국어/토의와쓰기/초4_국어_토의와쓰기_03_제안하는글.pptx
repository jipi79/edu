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7206544-b669-c54f-3c96-b172987272f1}">
          <p14:sldIdLst>
            <p14:sldId id="256"/>
            <p14:sldId id="257"/>
          </p14:sldIdLst>
        </p14:section>
        <p14:section name="개념" id="{c3fd062c-0d53-11f5-0f03-431efa5fd2b5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2076706e-0b8b-459a-16f0-5532c15465e7}">
          <p14:sldIdLst>
            <p14:sldId id="263"/>
            <p14:sldId id="264"/>
            <p14:sldId id="265"/>
          </p14:sldIdLst>
        </p14:section>
        <p14:section name="확인" id="{a4dcab4b-d383-3580-63a2-79cc4787639a}">
          <p14:sldIdLst>
            <p14:sldId id="266"/>
            <p14:sldId id="267"/>
            <p14:sldId id="268"/>
          </p14:sldIdLst>
        </p14:section>
        <p14:section name="정리" id="{c2c2256a-12c7-76ef-4bf5-45b15ae755c4}">
          <p14:sldIdLst>
            <p14:sldId id="269"/>
          </p14:sldIdLst>
        </p14:section>
        <p14:section name="보충" id="{59237d64-433c-e5f3-626b-5bec1076811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생활 속 불편한 문제를 글로 바꿀 수 있다는 것을 느끼게 합니다.
시간: 약 2분
이렇게 말해 보세요
- “우리 집이나 동네, 학교에서 ‘이건 좀 바뀌면 좋겠다’ 싶은 것 있어?”
- “문제를 풀 방법을 다른 사람에게 ‘함께 이렇게 해요’ 하고 권하는 글을 ‘제안하는 글’이라고 해. 지난 시간 토의에서 정한 방법도 제안하는 글로 쓸 수 있어.”
예상 답
- “놀이터에 그늘이 없어요.” “동생이 내 물건을 자꾸 만져요.”
막히면
- 부모가 먼저 예를 들어 줍니다. “엄마(아빠)는 현관에 신발이 흩어져 있는 게 불편해.”
주의
- 아이가 말한 문제는 S11에서 쓸 거리로 쓸 수 있으니 기억해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확인(토의 절차와 기준)]
목적: 앞 차시 ‘토의하기’(KR22-G04-KOR-DISCUSS-L01)에서 배운 절차와 의견 비교 기준을 기억하는지 확인합니다. 제안하는 글은 토의로 정한 좋은 방법을 다른 사람에게 권하는 글이기 때문입니다.
시간: 약 3분
이렇게 말해 보세요
- “지난 시간에 민서네 가족이 토의했던 것 기억나? 하나씩 답해 볼래?”
정답
- ① 주제 확인 → 의견 내기 → 의견 모으기·비교 → 결정 → 실천 방법
- ② 공평(한 사람만 힘들어서 모두에게 공평하지 않음)
- ③ 누가, 언제, 어떻게
막히면
- ①을 떠올리지 못하면 “처음에는 무엇을 이야기할지 정했지? 그다음에는?”이라고 이어 묻습니다.
- 세 문제 가운데 두 개 이상 답하지 못하면 S15(보충)를 먼저 합니다.
주의
- 지난 시간에 정한 물 아끼기 실천 방법을 며칠 해 보았다면 어땠는지 짧게 이야기 나눕니다.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제안하는 글의 짜임]
목적: 제안하는 글의 뜻과 세 부분(문제 상황, 제안, 이유)을 알려 줍니다(목표 A).
시간: 약 3분
이렇게 말해 보세요
- “제안하는 글에는 세 가지가 들어가. 먼저 무엇이 문제인지 쓰고, 어떻게 하자고 제안하고, 왜 그렇게 하면 좋은지 이유를 써.”
- “지난 시간에 배운 의견과 이유랑 비슷하지? 제안은 ‘이렇게 하자’는 의견이야. 앞에 ‘문제 상황’이 하나 더 붙는 거야.”
예상 답
- “문제, 제안, 이유요.”
막히면
- S01에서 아이가 말한 문제로 “그게 문제 상황이야. 그럼 어떻게 하면 좋겠어? 왜?”라고 세 부분을 말로 이어 봅니다.
주의
- 받는 사람(누구에게 쓰는지)에 따라 말투가 달라진다는 것은 S07의 점검표 ④에서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읽기(세 부분 찾기)]
목적: 부모가 생각을 소리 내어 말하며 제안하는 글의 세 부분을 찾는 과정을 보여 줍니다(목표 A).
시간: 약 3분
이렇게 말해 보세요
- “첫 문단에서 인사와 자기소개 다음에 ‘쓰레기가 자주 버려져 있다’고 했어. 무엇이 문제인지 말했으니 문제 상황이야.”
- “둘째 문단은 ‘~해 주시면 좋겠습니다’로 끝나. 어떻게 하자고 하는 말이니까 제안이야.”
- “셋째 문단은 같이 볼까? 무슨 일을 하는 문단일까? 이유가 몇 가지야?”
예상 답
- “이유예요. 쓰레기를 바로 버릴 수 있고, 놀이터가 깨끗해져요. 두 가지요.”
정답
- 문제 상황: 놀이터 의자 밑에 과자 봉지가 자주 버려져 있다.
- 제안: 놀이터 입구에 쓰레기통을 놓아 주면 좋겠다.
- 이유: ① 쓰레기를 바로 버릴 수 있다. ② 놀이터가 깨끗해져 동생들도 안전하게 놀 수 있다.
막히면
- 문단마다 “이 문단은 무엇이 문제인지, 어떻게 하자는지, 왜 좋은지 가운데 무엇을 말해?”라고 묻습니다.
주의
- 인사, 자기소개, ‘김지아 올림’은 편지처럼 쓰는 제안하는 글에 자주 들어가지만 세 부분에는 들어가지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 부분을 표로 정리하기]
목적: 찾은 세 부분을 표로 정리하고, 제안을 알려 주는 끝맺는 말을 알려 줍니다(목표 A).
시간: 약 2분
이렇게 말해 보세요
- “지아의 글을 표로 정리했어. 문제 상황 하나, 제안 하나, 이유 두 가지야.”
- “제안은 ‘~하면 좋겠습니다’, ‘~해 주세요’, ‘~합시다’로 끝날 때가 많아.”
예상 답
- “이유가 두 개라서 더 고개가 끄덕여져요.”
막히면
- S04의 글과 표를 번갈아 보며 표의 칸마다 글의 어느 부분인지 짚어 줍니다.
주의
- 이유는 지난 차시에 배운 기준(의견과 관계있는지, 되풀이하지 않았는지, 끄덕일 만한지)에 맞아야 한다고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제안하는 글을 쓰는 순서]
목적: 제안하는 글을 쓰는 순서를 알려 줍니다(목표 B).
시간: 약 3분
이렇게 말해 보세요
- “지아는 이 순서로 글을 썼을 거야. 놀이터 쓰레기가 문제였고, 쓰레기통을 놓을 수 있는 관리사무소에 제안했지.”
- “2번에서 받는 사람을 정하는 게 중요해. 쓰레기통을 놓아 줄 수 있는 사람에게 써야 제안이 이루어지겠지?”
예상 답
- “놀이터 쓰레기통은 관리사무소가 놓을 수 있어서요.”
막히면
- “현관 신발 정리를 제안한다면 누구에게 쓰면 좋을까?”처럼 문제와 받는 사람을 짝지어 봅니다.
주의
- 5번 ‘고쳐 쓰기’는 다음 장의 점검표로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고쳐 쓰기 점검표]
목적: 제안하는 글을 고쳐 쓸 때 쓰는 점검표 네 가지를 알려 줍니다(목표 B, 오해 M4).
시간: 약 3분
이렇게 말해 보세요
- “글을 다 쓰면 이 네 가지를 하나씩 물어보고 ○, ×를 해. ×가 나온 곳을 고쳐 쓰는 거야.”
- “지아의 글에 점검표를 해 볼까? ①부터 ④까지 ○일까?”
예상 답
- “네 개 다 ○예요. ‘놓아 주시면 좋겠습니다’라고 공손하게 썼어요.”
막히면
- ④는 “관리사무소 어른께 ‘쓰레기통 놔!’라고 쓰면 어때?”처럼 반대 예를 들어 줍니다.
주의
- 고쳐 쓰기는 글자나 맞춤법만 고치는 것이 아니라 빠지거나 흐릿한 내용을 고치는 것이라고 강조합니다.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찾기(세 부분)]
목적: 처음 읽는 제안하는 글에서 세 부분을 함께 찾아봅니다(목표 A). 활동지 1에 같은 글이 있습니다.
시간: 약 3분
이렇게 말해 보세요
- “문단마다 무슨 일을 하는지 말해 볼래? ①은 무엇이 문제라고 했어?”
- “제안은 어느 말로 끝나? 이유는 몇 가지야?”
정답
- ① 문제 상황: 저녁을 먹을 때 텔레비전을 켜 두어서 서로 이야기를 거의 나누지 못한다.
- ② 제안: 저녁을 먹는 동안에는 텔레비전을 끄면 좋겠다.
- ③ 이유: 오늘 있었던 일을 이야기할 수 있다. 음식 맛에 집중해 천천히 먹을 수 있다.
막히면
- S05의 표를 다시 보여 주고, 같은 표에 이 글을 말로 채워 보게 합니다.
주의
- ①의 둘째 문장(‘그래서 서로 이야기를 거의 나누지 못합니다.’)을 이유라고 하면 “이건 무엇이 불편한지 말한 거야, 제안대로 하면 좋은 점을 말한 거야?”라고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비교(막연한 제안과 분명한 제안)]
목적: ‘잘하자’, ‘조심하자’ 같은 막연한 제안과, 무엇을 어떻게 할지 드러난 분명한 제안을 구별합니다(목표 B, 오해 M2).
시간: 약 2분
이렇게 말해 보세요
- “가처럼 ‘잘해 주세요’라고 하면 친구들이 무엇을 하면 될까?”
- “나는 무엇을, 어떻게 하자고 했어?”
정답
- 나. ‘복도에서 걷기’, ‘작은 목소리로 말하기’처럼 무엇을 어떻게 할지 분명하게 드러납니다.
- 가는 무엇을 잘하라는지 알 수 없는 막연한 제안입니다.
막히면
- “엄마(아빠)가 ‘방 좀 잘 써.’라고 하는 것과 ‘책은 책꽂이에 꽂자.’라고 하는 것 가운데 무엇을 할지 바로 알 수 있는 건?”이라고 묻습니다.
주의
- 분명한 제안은 S07 점검표 ②입니다. 활동지 2에서 막연한 제안을 고쳐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점검표로 고쳐 쓰기(함께)]
목적: 초고를 점검표로 확인하고, ×인 부분의 내용을 함께 고쳐 씁니다(목표 B, 오해 M1·M3·M4). 활동지 3에 같은 초고와 점검표가 있습니다.
시간: 약 3분
이렇게 말해 보세요
- “친구가 쓴 첫 글(초고)이야. 점검표 ①부터 물어볼까? 무엇이 문제인지 써 있어?”
- “③ ‘남기면 안 되기 때문입니다’는 알맞은 이유야? ④ ‘알겠죠?’는 공손해?”
- “그럼 같이 고쳐 볼까? 문제 상황부터 한 문장 넣어 보자.”
정답
- ① × 문제 상황이 없음 ② ○(조금 흐릿함: ‘먹을 만큼만 받기’를 더하면 더 분명) ③ × 이유가 제안을 되풀이함 ④ × ‘알겠죠?’는 명령하는 듯한 말투
- 고쳐 쓴 예: 요즘 급식을 먹고 나면 남은 음식이 많이 버려집니다. 먹을 만큼만 받고, 받은 음식은 남기지 말아 주세요. 그러면 버려지는 음식이 줄어 쓰레기가 줄어듭니다. 또 음식을 만들어 주신 분들의 정성을 아낄 수 있습니다. 함께 해 주면 고맙겠습니다.
막히면
- 부모가 문제 상황 한 문장을 먼저 말해 주고, 아이가 이유를 이어 말하게 합니다.
주의
- ②는 ○로 보아도 됩니다. 점검표로 ×를 찾은 뒤 내용을 고쳤는지가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쓰고 고쳐 쓰기]
목적: 도움 없이 제안하는 글을 쓰고 점검표로 고쳐 쓰는지 확인합니다(목표 B). 활동지 5에 쓰고 6에서 점검하고 고쳐 씁니다.
시간: 약 8분
이렇게 말해 보세요
- “이번에는 혼자 써 볼래? 쓸 거리를 하나 고르고, 누구에게 쓸지 먼저 정해.”
- “S06의 순서대로 써 봐. 다 쓰면 활동지 6의 점검표로 스스로 ○, ×를 하고 ×인 곳을 고쳐 써.”
예상 답
- 예(현관 신발 정리, 가족에게): 요즘 현관에 신발이 여기저기 흩어져 있어서 나갈 때 내 신발을 찾기 어렵습니다. 집에 들어오면 신은 신발을 신발장에 넣으면 좋겠습니다. 그러면 현관이 넓어져 신고 벗기가 편합니다. 또 흩어진 신발에 걸려 넘어지지 않습니다. 함께 해 주시면 고맙겠습니다.
정답
- 기준: ① 문제 상황이 드러남 ② 무엇을 어떻게 하자는지 분명한 제안 ③ 제안과 관계있고 되풀이가 아닌 이유 두 가지 ④ 받는 사람에게 공손한 말투. 점검 뒤 ×인 항목을 고쳐 썼는지도 봅니다.
- 4가지를 모두 지키면 목표 B 달성, 3가지면 거의 달성으로 봅니다.
막히면
- 쓰기 전에 말로 먼저 세 부분을 말해 보게 하고, 말한 것을 그대로 쓰게 합니다.
- 도움을 받아 썼다면 기록표에 ‘도움’으로 표시합니다.
주의
- 맞춤법은 하나하나 고치지 않습니다. 고칠 점은 점검표에서 ×인 것 한 가지만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 쓴 예와 피드백]
목적: 아이가 쓴 제안하는 글을 예시와 비교하고 흔한 실수를 확인합니다.
시간: 약 2분
이렇게 말해 보세요
- “네 글을 소리 내어 읽어 볼래? 왼쪽 세 가지가 모두 들어 있어?”
- “오른쪽 실수 가운데 고칠 것이 있을까?”
예상 답
- “이유를 하나만 썼어요. 하나 더 쓸게요.”
정답
- 예: (가족에게) 요즘 현관에 신발이 흩어져 있어 내 신발을 찾기 어렵습니다.(문제 상황) 집에 들어오면 신은 신발을 신발장에 넣으면 좋겠습니다.(제안) 현관이 넓어져 신고 벗기 편하고, 신발에 걸려 넘어지지 않습니다.(이유 두 가지) 함께 해 주시면 고맙겠습니다.
막히면
- 아이 글의 문장마다 “문제 상황이야, 제안이야, 이유야?”라고 물어 색연필로 표시합니다.
주의
- 이 장은 학생용 파일에서 빠집니다. 잘한 점을 먼저 두 가지 말해 줍니다. 다 쓴 글은 실제로 받는 사람에게 건네 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확인(빠진 부분 찾기)]
목적: 처음 읽는 글에서 제안하는 글의 세 부분을 확인하고 빠진 부분을 찾아 채우는지 확인합니다(목표 A, 오해 M1).
시간: 약 2분
이렇게 말해 보세요
- “이 글에서 제안은 어디야? 이유는? 그럼 빠진 것은 무엇일까?”
- “빠진 부분을 한 문장으로 만들어 맨 앞에 넣어 볼래?”
정답
- 빠진 것: 문제 상황.
- 채우기 예: “요즘 교실 뒤 책꽂이의 책이 바닥이나 사물함 위에 아무렇게나 놓여 있습니다.” (책이 제자리에 없어서 생기는 문제를 쓰면 맞음)
막히면
- S03의 세 카드를 보여 주고, 글에서 각 카드에 맞는 부분을 하나씩 짚게 합니다.
주의
- 빠진 것만 맞히고 채우지 못하면 기록표에 ‘찾기만’으로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“제안하는 글을 어떻게 쓰는지 한 문장으로 말해 볼래?”
예상 답
- “무엇이 문제인지 쓰고, 어떻게 하자고 하고, 왜 좋은지 써요. 다 쓰면 점검표로 고쳐요.”
정답
- ① 문제 상황, 제안, 이유 ② 무엇을 어떻게 할지 드러나게 바꾸면 맞음(예: ‘다 쓴 장난감은 상자에 넣어 주세요.’) ③ 문제 상황이 드러나는지, 제안이 분명한지, 이유가 알맞은지, 공손하게 썼는지
막히면
- S03과 S07을 다시 보여 줍니다.
주의
- 오늘 쓴 글을 실제로 가족에게 건네고 반응을 이야기해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보충(문제 → 제안 → 이유를 말로 하기)]
목적: 쓰기 전에 문제 상황 → 제안 → 이유를 말로 먼저 이어 말해 봅니다. 토의에서 정한 방법을 제안으로 바꾸는 연습입니다.
시간: 약 4분
이렇게 말해 보세요
- “화면처럼 해 볼까? 집 안에서 불편한 것 하나를 골라 ‘~가 문제예요.’로 말해 봐.”
- “그럼 어떻게 하면 좋겠어? 왜?”
정답
- 예: “책상 위에 연필이 흩어져 있어요. 연필꽂이에 꽂으면 좋겠어요. 왜냐하면 필요할 때 바로 찾을 수 있기 때문이에요.” (세 부분이 이어지면 맞음)
막히면
- 부모가 문제 상황을 말해 주고, 아이가 제안과 이유만 말하게 합니다.
- 보충으로도 어렵다면 앞 차시 ‘토의하기’(KR22-G04-KOR-DISCUSS-L01)를 다시 하고, 이유를 드는 것부터 어렵다면 ‘의견과 이유’(KR22-G04-KOR-OPINION-L01)로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제안하는 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제안하는 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제안하는 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문제를 바꾸고 싶을 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어떻게 부탁할까?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제안하는 글에서 문제 상황·제안·이유를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제안하는 글을 쓰고 점검표로 고쳐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토의를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토의를 떠올려 답해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절차 다섯 단계는?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‘당번 한 명이 다 치워요.’는 어느 기준에 맞지 않나요?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방법에 넣을 세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글의 짜임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글: 문제를 풀 방법을 함께 하자고 권하는 글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→ 제안 → 이유의 차례로 써요.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상황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문제인가요?</a:t>
            </a:r>
            <a:endParaRPr lang="ko-KR" sz="30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하자고 하나요?</a:t>
            </a:r>
            <a:endParaRPr lang="ko-KR" sz="30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지아가 쓴 제안하는 글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상황, 제안, 이유는 어느 부분일까요?</a:t>
            </a:r>
            <a:endParaRPr lang="ko-KR" sz="3000" dirty="0"/>
          </a:p>
        </p:txBody>
      </p:sp>
      <p:sp>
        <p:nvSpPr>
          <p:cNvPr id="5" name="S04-passagebox2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관리사무소에 드리는 제안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안녕하세요? 저는 3동에 사는 김지아입니다. 요즘 놀이터 의자 밑에 과자 봉지가 자주 버려져 있습니다.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놀이터 입구에 쓰레기통을 놓아 주시면 좋겠습니다.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쓰레기통이 가까이 있으면 쓰레기를 바로 버릴 수 있습니다. 또 놀이터가 깨끗해져서 동생들도 안전하게 놀 수 있습니다.</a:t>
            </a:r>
            <a:endParaRPr lang="ko-KR" sz="26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김지아 올림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정리하면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제안은 ‘~하면 좋겠습니다’, ‘~해 주세요’로 분명하게 써요.</a:t>
            </a:r>
            <a:endParaRPr lang="ko-KR" sz="3000" dirty="0"/>
          </a:p>
        </p:txBody>
      </p:sp>
      <p:graphicFrame>
        <p:nvGraphicFramePr>
          <p:cNvPr id="6" name="S05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99640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764438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상황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놀이터에 쓰레기가 자주 버려져 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 입구에 쓰레기통을 놓아 주세요.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쓰레기를 바로 버릴 수 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놀이터가 깨끗하고 안전해진다.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글을 쓰는 순서</a:t>
            </a:r>
            <a:endParaRPr lang="ko-KR" sz="4000" dirty="0"/>
          </a:p>
        </p:txBody>
      </p:sp>
      <p:sp>
        <p:nvSpPr>
          <p:cNvPr id="3" name="S06-stepno26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27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 상황을 찾아요.</a:t>
            </a:r>
            <a:endParaRPr lang="ko-KR" sz="3000" dirty="0"/>
          </a:p>
        </p:txBody>
      </p:sp>
      <p:sp>
        <p:nvSpPr>
          <p:cNvPr id="5" name="S06-stepno28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29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제안할지 정해요.</a:t>
            </a:r>
            <a:endParaRPr lang="ko-KR" sz="3000" dirty="0"/>
          </a:p>
        </p:txBody>
      </p:sp>
      <p:sp>
        <p:nvSpPr>
          <p:cNvPr id="7" name="S06-stepno30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1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하나와 이유 두 가지를 정해요.</a:t>
            </a:r>
            <a:endParaRPr lang="ko-KR" sz="3000" dirty="0"/>
          </a:p>
        </p:txBody>
      </p:sp>
      <p:sp>
        <p:nvSpPr>
          <p:cNvPr id="9" name="S06-stepno32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3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→ 제안 → 이유 차례로 써요.</a:t>
            </a:r>
            <a:endParaRPr lang="ko-KR" sz="3000" dirty="0"/>
          </a:p>
        </p:txBody>
      </p:sp>
      <p:sp>
        <p:nvSpPr>
          <p:cNvPr id="11" name="S06-stepno34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6-text35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쓰기 점검표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×가 있으면 그 부분의 내용을 고쳐 써요. 맞춤법만 고치는 게 아니에요.</a:t>
            </a:r>
            <a:endParaRPr lang="ko-KR" sz="3000" dirty="0"/>
          </a:p>
        </p:txBody>
      </p:sp>
      <p:sp>
        <p:nvSpPr>
          <p:cNvPr id="5" name="S07-card38"/>
          <p:cNvSpPr/>
          <p:nvPr/>
        </p:nvSpPr>
        <p:spPr>
          <a:xfrm>
            <a:off x="548640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상황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문제인지 드러나나요?</a:t>
            </a:r>
            <a:endParaRPr lang="ko-KR" sz="3000" dirty="0"/>
          </a:p>
        </p:txBody>
      </p:sp>
      <p:sp>
        <p:nvSpPr>
          <p:cNvPr id="7" name="S07-card40"/>
          <p:cNvSpPr/>
          <p:nvPr/>
        </p:nvSpPr>
        <p:spPr>
          <a:xfrm>
            <a:off x="6208776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41"/>
          <p:cNvSpPr txBox="1"/>
          <p:nvPr/>
        </p:nvSpPr>
        <p:spPr>
          <a:xfrm>
            <a:off x="6483096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분명한 제안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 하자는지 분명한가요?</a:t>
            </a:r>
            <a:endParaRPr lang="ko-KR" sz="3000" dirty="0"/>
          </a:p>
        </p:txBody>
      </p:sp>
      <p:sp>
        <p:nvSpPr>
          <p:cNvPr id="9" name="S07-card42"/>
          <p:cNvSpPr/>
          <p:nvPr/>
        </p:nvSpPr>
        <p:spPr>
          <a:xfrm>
            <a:off x="548640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3"/>
          <p:cNvSpPr txBox="1"/>
          <p:nvPr/>
        </p:nvSpPr>
        <p:spPr>
          <a:xfrm>
            <a:off x="822960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알맞은 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관계있고 끄덕일 만한 이유인가요?</a:t>
            </a:r>
            <a:endParaRPr lang="ko-KR" sz="3000" dirty="0"/>
          </a:p>
        </p:txBody>
      </p:sp>
      <p:sp>
        <p:nvSpPr>
          <p:cNvPr id="11" name="S07-card44"/>
          <p:cNvSpPr/>
          <p:nvPr/>
        </p:nvSpPr>
        <p:spPr>
          <a:xfrm>
            <a:off x="6208776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5"/>
          <p:cNvSpPr txBox="1"/>
          <p:nvPr/>
        </p:nvSpPr>
        <p:spPr>
          <a:xfrm>
            <a:off x="6483096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사람에게 공손하게 썼나요?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가족에게 쓴 제안 함께 읽기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상황, 제안, 이유를 찾아 말해 봐요.</a:t>
            </a:r>
            <a:endParaRPr lang="ko-KR" sz="3000" dirty="0"/>
          </a:p>
        </p:txBody>
      </p:sp>
      <p:sp>
        <p:nvSpPr>
          <p:cNvPr id="5" name="S08-passagebox4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먹을 때는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엄마, 아빠, 우리 가족은 저녁을 먹을 때 텔레비전을 켜 둡니다. 그래서 서로 이야기를 거의 나누지 못합니다.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저녁을 먹는 동안에는 텔레비전을 끄면 좋겠습니다.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그러면 오늘 있었던 일을 서로 이야기할 수 있습니다. 또 음식 맛에 집중해 천천히 먹을 수 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제안이 더 분명할까?</a:t>
            </a:r>
            <a:endParaRPr lang="ko-KR" sz="4000" dirty="0"/>
          </a:p>
        </p:txBody>
      </p:sp>
      <p:sp>
        <p:nvSpPr>
          <p:cNvPr id="3" name="S09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시간마다 복도가 너무 시끄러워요.</a:t>
            </a:r>
            <a:endParaRPr lang="ko-KR" sz="3000" dirty="0"/>
          </a:p>
        </p:txBody>
      </p:sp>
      <p:sp>
        <p:nvSpPr>
          <p:cNvPr id="5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무엇을 어떻게 하자는지 잘 알 수 있나요?</a:t>
            </a:r>
            <a:endParaRPr lang="ko-KR" sz="3000" dirty="0"/>
          </a:p>
        </p:txBody>
      </p:sp>
      <p:sp>
        <p:nvSpPr>
          <p:cNvPr id="7" name="S09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“다들 잘해 주세요.”</a:t>
            </a:r>
            <a:endParaRPr lang="ko-KR" sz="3000" dirty="0"/>
          </a:p>
        </p:txBody>
      </p:sp>
      <p:sp>
        <p:nvSpPr>
          <p:cNvPr id="9" name="S09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“복도에서는 걷고,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목소리로 말해요.”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고쳐 써요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 ①~④로 확인하고, 고칠 곳을 말해 봐요.</a:t>
            </a:r>
            <a:endParaRPr lang="ko-KR" sz="3000" dirty="0"/>
          </a:p>
        </p:txBody>
      </p:sp>
      <p:graphicFrame>
        <p:nvGraphicFramePr>
          <p:cNvPr id="11" name="S10-table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2149" y="2042160"/>
          <a:ext cx="3840480" cy="914400"/>
        </p:xfrm>
        <a:graphic>
          <a:graphicData uri="http://schemas.openxmlformats.org/drawingml/2006/table">
            <a:tbl>
              <a:tblPr/>
              <a:tblGrid>
                <a:gridCol w="2688336"/>
                <a:gridCol w="115214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○/×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문제 상황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분명한 제안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알맞은 이유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예의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0-passagebox61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10-passage62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친구들에게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급식을 남기지 마세요. 남기면 안 되기 때문입니다. 알겠죠?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거리: 지난 토의의 물 아끼기 · 현관 신발 정리 · 내가 찾은 문제</a:t>
            </a:r>
            <a:endParaRPr lang="ko-KR" sz="3000" dirty="0"/>
          </a:p>
        </p:txBody>
      </p:sp>
      <p:sp>
        <p:nvSpPr>
          <p:cNvPr id="4" name="S11-card64"/>
          <p:cNvSpPr/>
          <p:nvPr/>
        </p:nvSpPr>
        <p:spPr>
          <a:xfrm>
            <a:off x="6813652" y="2438400"/>
            <a:ext cx="4826660" cy="3779520"/>
          </a:xfrm>
          <a:prstGeom prst="roundRect">
            <a:avLst>
              <a:gd name="adj" fmla="val 290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5"/>
          <p:cNvSpPr txBox="1"/>
          <p:nvPr/>
        </p:nvSpPr>
        <p:spPr>
          <a:xfrm>
            <a:off x="7087972" y="2575560"/>
            <a:ext cx="427802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문제 상황이 드러나요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제안이 분명해요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이유가 알맞아요(두 가지)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공손하게 썼어요</a:t>
            </a:r>
            <a:endParaRPr lang="ko-KR" sz="3000" dirty="0"/>
          </a:p>
        </p:txBody>
      </p:sp>
      <p:sp>
        <p:nvSpPr>
          <p:cNvPr id="6" name="S11-stepno66"/>
          <p:cNvSpPr txBox="1"/>
          <p:nvPr/>
        </p:nvSpPr>
        <p:spPr>
          <a:xfrm>
            <a:off x="548640" y="28392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1-text67"/>
          <p:cNvSpPr txBox="1"/>
          <p:nvPr/>
        </p:nvSpPr>
        <p:spPr>
          <a:xfrm>
            <a:off x="1325880" y="27934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거리와 받는 사람을 정해요.</a:t>
            </a:r>
            <a:endParaRPr lang="ko-KR" sz="3000" dirty="0"/>
          </a:p>
        </p:txBody>
      </p:sp>
      <p:sp>
        <p:nvSpPr>
          <p:cNvPr id="8" name="S11-stepno68"/>
          <p:cNvSpPr txBox="1"/>
          <p:nvPr/>
        </p:nvSpPr>
        <p:spPr>
          <a:xfrm>
            <a:off x="548640" y="38877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1-text69"/>
          <p:cNvSpPr txBox="1"/>
          <p:nvPr/>
        </p:nvSpPr>
        <p:spPr>
          <a:xfrm>
            <a:off x="1325880" y="38877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상황을 써요.</a:t>
            </a:r>
            <a:endParaRPr lang="ko-KR" sz="3000" dirty="0"/>
          </a:p>
        </p:txBody>
      </p:sp>
      <p:sp>
        <p:nvSpPr>
          <p:cNvPr id="10" name="S11-stepno70"/>
          <p:cNvSpPr txBox="1"/>
          <p:nvPr/>
        </p:nvSpPr>
        <p:spPr>
          <a:xfrm>
            <a:off x="548640" y="4600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1-text71"/>
          <p:cNvSpPr txBox="1"/>
          <p:nvPr/>
        </p:nvSpPr>
        <p:spPr>
          <a:xfrm>
            <a:off x="1325880" y="46009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제안과 이유 두 가지를 써요.</a:t>
            </a:r>
            <a:endParaRPr lang="ko-KR" sz="3000" dirty="0"/>
          </a:p>
        </p:txBody>
      </p:sp>
      <p:sp>
        <p:nvSpPr>
          <p:cNvPr id="12" name="S11-stepno72"/>
          <p:cNvSpPr txBox="1"/>
          <p:nvPr/>
        </p:nvSpPr>
        <p:spPr>
          <a:xfrm>
            <a:off x="548640" y="5314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1-text73"/>
          <p:cNvSpPr txBox="1"/>
          <p:nvPr/>
        </p:nvSpPr>
        <p:spPr>
          <a:xfrm>
            <a:off x="1325880" y="53141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쓴 예와 흔한 실수</a:t>
            </a:r>
            <a:endParaRPr lang="ko-KR" sz="4000" dirty="0"/>
          </a:p>
        </p:txBody>
      </p:sp>
      <p:sp>
        <p:nvSpPr>
          <p:cNvPr id="3" name="S12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 네 가지를 모두 지키면 잘 쓴 글이에요.</a:t>
            </a:r>
            <a:endParaRPr lang="ko-KR" sz="3000" dirty="0"/>
          </a:p>
        </p:txBody>
      </p:sp>
      <p:sp>
        <p:nvSpPr>
          <p:cNvPr id="5" name="S12-chip7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7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ko-KR" sz="3000" dirty="0"/>
          </a:p>
        </p:txBody>
      </p:sp>
      <p:sp>
        <p:nvSpPr>
          <p:cNvPr id="7" name="S12-text7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문제인지</a:t>
            </a:r>
            <a:endParaRPr lang="ko-KR" sz="2400" dirty="0"/>
          </a:p>
        </p:txBody>
      </p:sp>
      <p:sp>
        <p:nvSpPr>
          <p:cNvPr id="8" name="S12-text7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분명한 제안</a:t>
            </a:r>
            <a:endParaRPr lang="ko-KR" sz="3000" dirty="0"/>
          </a:p>
        </p:txBody>
      </p:sp>
      <p:sp>
        <p:nvSpPr>
          <p:cNvPr id="9" name="S12-text8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</a:t>
            </a:r>
            <a:endParaRPr lang="ko-KR" sz="2400" dirty="0"/>
          </a:p>
        </p:txBody>
      </p:sp>
      <p:sp>
        <p:nvSpPr>
          <p:cNvPr id="10" name="S12-text8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두 가지</a:t>
            </a:r>
            <a:endParaRPr lang="ko-KR" sz="3000" dirty="0"/>
          </a:p>
        </p:txBody>
      </p:sp>
      <p:sp>
        <p:nvSpPr>
          <p:cNvPr id="11" name="S12-text8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관계·끄덕끄덕</a:t>
            </a:r>
            <a:endParaRPr lang="ko-KR" sz="2400" dirty="0"/>
          </a:p>
        </p:txBody>
      </p:sp>
      <p:sp>
        <p:nvSpPr>
          <p:cNvPr id="12" name="S12-chip8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84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제안만 씀</a:t>
            </a:r>
            <a:endParaRPr lang="ko-KR" sz="3000" dirty="0"/>
          </a:p>
        </p:txBody>
      </p:sp>
      <p:sp>
        <p:nvSpPr>
          <p:cNvPr id="14" name="S12-text85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</a:t>
            </a:r>
            <a:endParaRPr lang="ko-KR" sz="2400" dirty="0"/>
          </a:p>
        </p:txBody>
      </p:sp>
      <p:sp>
        <p:nvSpPr>
          <p:cNvPr id="15" name="S12-text86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“조심해요.”</a:t>
            </a:r>
            <a:endParaRPr lang="ko-KR" sz="3000" dirty="0"/>
          </a:p>
        </p:txBody>
      </p:sp>
      <p:sp>
        <p:nvSpPr>
          <p:cNvPr id="16" name="S12-text87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막연한 제안</a:t>
            </a:r>
            <a:endParaRPr lang="ko-KR" sz="2400" dirty="0"/>
          </a:p>
        </p:txBody>
      </p:sp>
      <p:sp>
        <p:nvSpPr>
          <p:cNvPr id="17" name="S12-text88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“하지 마!”</a:t>
            </a:r>
            <a:endParaRPr lang="ko-KR" sz="3000" dirty="0"/>
          </a:p>
        </p:txBody>
      </p:sp>
      <p:sp>
        <p:nvSpPr>
          <p:cNvPr id="18" name="S12-text89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예의 없는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13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상황·제안·이유 가운데 빠진 것은? 어떻게 채울까요?</a:t>
            </a:r>
            <a:endParaRPr lang="ko-KR" sz="3000" dirty="0"/>
          </a:p>
        </p:txBody>
      </p:sp>
      <p:sp>
        <p:nvSpPr>
          <p:cNvPr id="5" name="S13-passagebox9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9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친구들에게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교실 뒤 책꽂이의 책을 다 읽으면 제자리에 꽂아 주세요. 그러면 다음 사람이 책을 쉽게 찾을 수 있습니다. 또 책이 바닥에 떨어져 망가지지 않습니다.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글은 문제 상황 → 제안 → 이유의 차례로 쓰고,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확인해 내용을 고쳐 써요.</a:t>
            </a:r>
            <a:endParaRPr lang="ko-KR" sz="3000" dirty="0"/>
          </a:p>
        </p:txBody>
      </p:sp>
      <p:sp>
        <p:nvSpPr>
          <p:cNvPr id="5" name="S14-chip9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무엇을 어떻게 할지 분명하게</a:t>
            </a:r>
            <a:endParaRPr lang="ko-KR" sz="2400" dirty="0"/>
          </a:p>
        </p:txBody>
      </p:sp>
      <p:sp>
        <p:nvSpPr>
          <p:cNvPr id="6" name="S14-chip9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문제 상황 빼먹기</a:t>
            </a:r>
            <a:endParaRPr lang="ko-KR" sz="2400" dirty="0"/>
          </a:p>
        </p:txBody>
      </p:sp>
      <p:sp>
        <p:nvSpPr>
          <p:cNvPr id="7" name="S14-text9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제안하는 글의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부분은?</a:t>
            </a:r>
            <a:endParaRPr lang="ko-KR" sz="2400" dirty="0"/>
          </a:p>
        </p:txBody>
      </p:sp>
      <p:sp>
        <p:nvSpPr>
          <p:cNvPr id="9" name="S14-text10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‘방을 잘 써 주세요’를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분명하게 바꾸면?</a:t>
            </a:r>
            <a:endParaRPr lang="ko-KR" sz="2400" dirty="0"/>
          </a:p>
        </p:txBody>
      </p:sp>
      <p:sp>
        <p:nvSpPr>
          <p:cNvPr id="10" name="S14-text10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고쳐 쓰기 점검표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400" dirty="0"/>
          </a:p>
        </p:txBody>
      </p:sp>
      <p:sp>
        <p:nvSpPr>
          <p:cNvPr id="11" name="S14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문장의 기본 짜임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말로 먼저 해요</a:t>
            </a:r>
            <a:endParaRPr lang="ko-KR" sz="4000" dirty="0"/>
          </a:p>
        </p:txBody>
      </p:sp>
      <p:sp>
        <p:nvSpPr>
          <p:cNvPr id="3" name="S15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안을 둘러보고 바꾸고 싶은 것을 말해 봐요.</a:t>
            </a:r>
            <a:endParaRPr lang="ko-KR" sz="3000" dirty="0"/>
          </a:p>
        </p:txBody>
      </p:sp>
      <p:sp>
        <p:nvSpPr>
          <p:cNvPr id="4" name="S15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“~가 문제예요. ~하면 좋겠어요. 왜냐하면 ~ 때문이에요.”</a:t>
            </a:r>
            <a:endParaRPr lang="ko-KR" sz="3000" dirty="0"/>
          </a:p>
        </p:txBody>
      </p:sp>
      <p:sp>
        <p:nvSpPr>
          <p:cNvPr id="6" name="S15-card10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0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현관에 신발이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흩어져 있어요.</a:t>
            </a:r>
            <a:endParaRPr lang="ko-KR" sz="3000" dirty="0"/>
          </a:p>
        </p:txBody>
      </p:sp>
      <p:sp>
        <p:nvSpPr>
          <p:cNvPr id="8" name="S15-card10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10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벗은 신발은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신발장에 넣어요.</a:t>
            </a:r>
            <a:endParaRPr lang="ko-KR" sz="3000" dirty="0"/>
          </a:p>
        </p:txBody>
      </p:sp>
      <p:sp>
        <p:nvSpPr>
          <p:cNvPr id="10" name="S15-card11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1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걸려 넘어지지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제안하는 글</dc:title>
  <dc:subject>KR22-G04-KOR-PROPOSE-L01</dc:subject>
  <dc:creator>education-ppt</dc:creator>
  <cp:lastModifiedBy>education-ppt</cp:lastModifiedBy>
  <cp:revision>1</cp:revision>
  <dcterms:created xsi:type="dcterms:W3CDTF">2026-10-26T08:02:18Z</dcterms:created>
  <dcterms:modified xsi:type="dcterms:W3CDTF">2026-10-26T08:02:18Z</dcterms:modified>
</cp:coreProperties>
</file>