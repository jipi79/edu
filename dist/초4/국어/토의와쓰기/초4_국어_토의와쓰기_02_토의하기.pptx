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4dbf860-76c0-3447-dc7f-390ab0f03d85}">
          <p14:sldIdLst>
            <p14:sldId id="256"/>
            <p14:sldId id="257"/>
          </p14:sldIdLst>
        </p14:section>
        <p14:section name="개념" id="{9e3fff8a-3776-52e7-2809-a95366bc0e6f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88101b51-4154-6f87-7346-4cdc51ae9a55}">
          <p14:sldIdLst>
            <p14:sldId id="263"/>
            <p14:sldId id="264"/>
            <p14:sldId id="265"/>
          </p14:sldIdLst>
        </p14:section>
        <p14:section name="확인" id="{b609ce3e-7084-286a-99c5-2189ea9c74b2}">
          <p14:sldIdLst>
            <p14:sldId id="266"/>
            <p14:sldId id="267"/>
            <p14:sldId id="268"/>
          </p14:sldIdLst>
        </p14:section>
        <p14:section name="정리" id="{c1ae9589-0593-a81e-45e9-f3155f9e0493}">
          <p14:sldIdLst>
            <p14:sldId id="269"/>
          </p14:sldIdLst>
        </p14:section>
        <p14:section name="보충" id="{f15e4a2c-5e1a-69b6-c384-e9a149f7396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여럿이 함께 정할 일이 생활에 많다는 것을 떠올리게 합니다.
시간: 약 2분
이렇게 말해 보세요
- “가족이 주말에 어디 갈지 정할 때, 저마다 가고 싶은 곳이 다르면 어떻게 정해?”
- “함께 풀 문제를 두고 의견을 나누어 가장 좋은 방법을 정하는 것을 ‘토의’라고 해. 오늘은 엄마(아빠)랑 진짜로 토의를 해 볼 거야.”
예상 답
- “가위바위보로 정해요.” “엄마가 정해요.” “싸워요.”
막히면
- 최근 가족이 함께 정한 일(외식 메뉴, 여행지 등)을 예로 들어 “그때 어떻게 정했지?”라고 묻습니다.
주의
- “가위바위보”, “엄마가 정해요”라는 답도 받아 주고, 오늘은 의견을 비교해서 정하는 방법을 배운다고 말해 줍니다(오해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확인(의견과 이유)]
목적: 앞 차시 ‘의견과 이유’(KR22-G04-KOR-OPINION-L01)에서 배운 의견과 이유를 구별하고, 알맞은 이유를 판단하는지 확인합니다. 토의에서는 의견마다 이유를 함께 말해야 하기 때문입니다.
시간: 약 3분
이렇게 말해 보세요
- “지난 시간에 배운 의견과 이유, 기억나? 이 말에서 의견과 이유를 찾아볼래?”
- “③처럼 ‘그냥’이라고 하면 어때?”
정답
- ① 토요일에는 집에서 영화를 보면 좋겠다.
- ② 비가 와서 밖에서 놀기 어렵다.
- ③ 알맞지 않습니다. ‘그냥’은 까닭이 아니어서 듣는 사람이 고개를 끄덕이기 어렵습니다.
막히면
- “이 친구는 무엇을 하자고 해? 왜 그렇게 하자고 해?”로 나누어 묻습니다.
- 의견과 이유를 구별하지 못하면 S15(보충)를 먼저 합니다.
주의
- ③에서 알맞은 이유의 세 가지 기준(관계·되풀이·끄덕끄덕)까지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토의의 뜻과 절차]
목적: 토의의 뜻과 다섯 단계의 절차를 알려 줍니다(목표 A).
시간: 약 3분
이렇게 말해 보세요
- “토의는 이기려고 하는 말이 아니라 함께 좋은 방법을 찾는 대화야.”
- “①에서는 무엇을 이야기할지 주제를 확인해. ②에서는 저마다 의견과 이유를 내. ③에서는 비슷한 의견을 모으고 어느 것이 좋은지 비교해. ④에서 하나로 정하고, ⑤에서 누가, 언제, 어떻게 할지 정해.”
- “다섯 단계를 손가락으로 짚으면서 같이 말해 볼까?”
예상 답
- “주제 확인, 의견 내기, 의견 모으기와 비교, 결정, 실천 방법.”
막히면
- 종이 다섯 장에 단계를 하나씩 써서 섞은 뒤 차례대로 놓게 합니다.
주의
- ③에서 ‘모으기’는 비슷한 의견을 하나로 묶거나 합치는 것이라고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시범(가족 토의 장면: 주제 확인·의견 내기)]
목적: 지어낸 가족의 토의 장면으로 ① 주제 확인과 ② 의견 내기를 보여 줍니다(목표 A·B).
시간: 약 3분
이렇게 말해 보세요
- “민서네 가족은 거실이 늘 어질러져서 토의를 했대. 엄마(아빠)가 엄마 역할, 네가 민서와 오빠 역할을 맡아 읽어 볼까?”
- “첫 줄은 다섯 단계 가운데 무엇이야? 나머지 세 줄은?”
- “의견마다 이유가 붙어 있어? 오빠의 이유는 무엇이야?”
예상 답
- “첫 줄은 주제 확인이고, 나머지는 의견 내기예요.” “매일 할 수 있다는 거요.”
막히면
- S03의 다섯 단계를 다시 보여 주고 한 줄씩 “이건 몇 번 단계일까?”라고 묻습니다.
주의
- 의견이 세 가지 나온 것을 짚어 둡니다. 다음 장에서 이 세 의견을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의견을 비교하는 기준]
목적: 의견을 모으고 비교할 때 쓰는 세 가지 기준을 알려 줍니다(목표 B, 오해 M3).
시간: 약 3분
이렇게 말해 보세요
- “의견이 여러 개 나오면 어떻게 하나를 고를까? 이 세 가지 기준으로 비교해.”
- “예를 들어 ‘거실에 있는 물건을 다 버리자.’는 의견은 몇 번 기준에 걸릴까?”
예상 답
- “②요. 물건을 다 버릴 수는 없어요.” “①도요. 필요한 물건까지 없어지니까요.”
막히면
- 기준마다 “이 의견대로 하면 거실이 깨끗해질까?”, “우리 가족이 정말 할 수 있을까?”, “누구 한 사람만 힘들지 않을까?”로 바꾸어 묻습니다.
주의
- 기준은 주제에 따라 더하거나 바꿀 수 있습니다(예: 돈이 들지 않는지, 안전한지). 오늘은 세 가지로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시범(의견 모으기·비교와 결정)]
목적: 세 의견을 기준으로 비교하고(③), 기준에 맞는 의견을 합쳐 결정하는(④) 모습을 보여 줍니다(목표 A·B).
시간: 약 3분
이렇게 말해 보세요
- “민서네 가족은 세 의견을 기준으로 비교했어. 당번 한 명이 치우는 의견은 왜 ‘공평’에 ×일까?”
- “기준에 모두 맞는 의견이 두 개야. 둘 다 할 수 있으니까 합쳐서 정했어. 이것도 ‘의견 모으기’야.”
- “엄마 의견은 뽑히지 않았어. 어른 의견이라고 무조건 정하는 게 아니지?”
예상 답
- “한 사람만 힘들어서요.”
막히면
- S05의 기준 카드를 다시 보여 주고, 표의 칸 하나씩 “왜 ○일까?”라고 묻습니다.
주의
- 아이가 “당번을 돌아가며 하면 공평해요.”라고 하면 아주 좋은 생각이라고 칭찬합니다. 의견을 고쳐 더 좋게 만드는 것도 토의입니다.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시범(실천 방법 정하기)]
목적: 마지막 단계인 실천 방법에는 누가, 언제, 어떻게가 들어가야 한다는 것을 보여 줍니다(목표 A·B, 오해 M4).
시간: 약 2분
이렇게 말해 보세요
- “‘함께 치우자’로 정하고 끝나면 정말 치우게 될까? 누가, 언제, 어떻게 할지 정해야 해.”
- “지금까지 민서네 가족이 한 다섯 단계를 처음부터 말해 볼래?”
예상 답
- “주제 확인, 의견 내기, 비교해서 모으기, 결정, 실천 방법이요.”
막히면
- S04 → S06 → S07을 차례로 다시 넘기며 단계 이름을 말하게 합니다.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비교(말다툼과 토의)]
목적: 의견을 고집하고 상대를 탓하는 말다툼과, 의견의 좋은 점을 인정하고 합치는 토의를 구별합니다(목표 B, 오해 M1).
시간: 약 3분
이렇게 말해 보세요
- “가와 나를 엄마(아빠)랑 나누어 읽어 볼까? 어느 쪽이 함께 좋은 방법을 찾고 있어?”
- “가에서 민서가 탓한 것은 오빠의 의견이야, 오빠라는 사람이야?”
정답
- 나. 상대 의견의 좋은 점을 말하고, 의견을 합쳐 함께 정하려고 합니다.
- 가는 이유 없이 자기 의견만 고집하고, 의견이 아니라 사람을 탓해서 말다툼이 되었습니다.
막히면
- “가처럼 말하면 거실 정리 방법이 정해질까?”라고 묻습니다.
주의
- 토의할 때 지킬 일 세 가지를 말해 줍니다: 끝까지 듣기, 의견과 이유를 함께 말하기, 사람이 아니라 의견을 비교하기. S11에서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어느 단계의 말인지 알기]
목적: 토의에서 나온 말이 다섯 단계 가운데 어디에 해당하는지 구별합니다(목표 A). 차례가 섞여 있습니다.
시간: 약 3분
이렇게 말해 보세요
- “①부터 읽고 몇 번째 단계의 말인지 말해 볼래?”
- “다 찾았으면 토의 차례대로 다시 놓아 볼까? 첫 번째 말은 몇 번이야?”
정답
- ① 결정 ② 주제 확인 ③ 실천 방법 ④ 의견 내기 ⑤ 의견 모으기·비교
- 차례: ② → ④ → ⑤ → ① → ③
막히면
- S03의 다섯 단계 그림을 다시 보여 주고 “정했다는 말은? 누가, 언제를 묻는 말은?”처럼 단서 낱말을 짚어 줍니다.
주의
- ①과 ③을 헷갈리면 “정하는 말인지, 정한 것을 어떻게 할지 묻는 말인지” 구별하게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기준으로 의견 비교하기]
목적: 세 가지 기준으로 의견을 비교해 가장 알맞은 의견을 고르는 연습을 합니다(목표 B). 활동지 3에 표가 있습니다.
시간: 약 3분
이렇게 말해 보세요
- “의견마다 세 가지 기준을 하나씩 물어볼까? ①은 화분에 물 주는 것을 잊지 않는 데 도움이 돼? 우리가 할 수 있어? 공평해?”
- “②는 물을 많이 주면 식물이 좋아할까?” “③은 학교에 있을 때 집의 화분에 물을 줄 수 있어?”
정답
- ① 도움 ○, 실천 ○, 공평 ○ → 가장 알맞은 의견
- ② 도움 × (물을 한꺼번에 너무 많이 주면 뿌리가 상할 수 있어 식물에 도움이 되지 않음)
- ③ 실천 × (학교에 있을 때는 집의 화분에 물을 줄 수 없음)
막히면
- 기준을 하나씩만 물어 ○, ×를 정하고, ×가 하나라도 있으면 다시 생각해 보자고 합니다.
주의
- 아이가 “알람을 맞춰요.”처럼 새 의견을 내면 같은 기준으로 비교해 봅니다. 기준에 맞으면 좋은 의견입니다.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우리 집 토의(절차에 따라 결정하기)]
목적: 부모와 아이가 실제 주제로 다섯 단계를 거쳐 결정하고 실천 방법까지 정하는지 확인합니다(목표 B). 화면 속 친구 도윤의 의견을 셋째 의견으로 함께 비교합니다. 활동지 4·5에 기록합니다.
시간: 약 6분
이렇게 말해 보세요
- “우리 둘이 토의해 보자. 화면 속 친구 도윤이도 의견을 하나 냈어. 먼저 주제를 같이 읽을까?”
- “네 의견과 이유를 먼저 말해 줘. 엄마(아빠)는 끝까지 듣고 나서 말할게.”
- “이제 세 의견을 기준으로 비교해 보자. 활동지 5의 표에 ○, ×를 해 볼까?” “그럼 무엇으로 정할까? 누가, 언제, 어떻게 할까?”
예상 답
- 아이 의견 예: “샤워를 짧게 해요. 물이 덜 나오니까요.” / 부모 의견 예: “설거지할 때 물을 받아서 해요. 틀어 두는 물이 줄어드니까.”
- 결정 예: 양치 컵 쓰기와 샤워 짧게 하기를 합친다. / 실천 방법 예: 가족 모두, 날마다 양치할 때와 씻을 때, 세면대에 컵을 두고 샤워는 노래 한 곡이 끝날 때까지만 한다.
정답
- 기준: ① 의견마다 이유를 함께 말함 ② 도움·실천·공평 기준을 들어 비교함 ③ 상대의 말을 끝까지 듣고 차례를 지킴 ④ 실천 방법에 누가·언제·어떻게가 모두 들어감. 무엇으로 정했는지는 답이 정해져 있지 않습니다.
- 4가지를 모두 지키면 목표 B 달성, 3가지면 거의 달성으로 봅니다.
막히면
- 의견이 떠오르지 않으면 “집에서 물을 쓰는 곳이 어디 어디 있지? 세면대, 욕실, 부엌…”이라고 장소부터 떠올리게 합니다.
- 부모 의견은 아이 의견과 다른 것으로 내야 비교할 거리가 생깁니다. 도움을 받아 진행했다면 기록표에 ‘도움’으로 표시합니다.
주의
- 부모가 결정을 이끌지 않습니다. 아이가 기준을 들어 먼저 말하게 하고, 부모 의견이 뽑히지 않아도 괜찮다는 것을 보여 줍니다(오해 M3).
- 정한 실천 방법은 실제로 며칠 해 보고 다음 수업에서 어땠는지 이야기하면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토의 예와 피드백]
목적: 우리 집 토의를 돌아보며 잘한 점과 흔한 실수를 확인합니다.
시간: 약 2분
이렇게 말해 보세요
- “우리 토의에서 왼쪽 세 가지를 모두 했어? 어느 단계가 가장 어려웠어?”
- “오른쪽 실수 가운데 우리가 한 것이 있을까?”
예상 답
- “비교하는 게 어려웠어요.” “실천 방법에 ‘언제’를 안 썼어요.”
정답
- 예: 양치 컵 쓰기(도윤)와 샤워 짧게 하기(나)를 합쳐 결정 / 가족 모두, 날마다 씻을 때, 세면대에 컵을 두고 샤워는 노래 한 곡 동안만. (기준을 들어 정하고 실천 방법에 누가·언제·어떻게가 있으면 맞음)
막히면
- 활동지 5의 표를 함께 보며 빈칸이 있는 단계를 채웁니다.
주의
- 이 장은 학생용 파일에서 빠집니다. 잘한 점을 먼저 두 가지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확인(빠진 단계 찾기)]
목적: 처음 보는 토의 장면에서 빠진 단계를 찾아 토의 절차를 알고 있는지 확인합니다(목표 A, 오해 M3·M4).
시간: 약 3분
이렇게 말해 보세요
- “줄마다 몇 번 단계인지 말해 볼래? 다섯 단계 가운데 없는 것은 무엇이야?”
- “빠진 단계를 넣으려면 아빠가 어떻게 말하면 좋을까?”
정답
- 빠진 단계: ③ 의견 모으기·비교(기준으로 견주지 않고 아빠가 혼자 정함), ⑤ 실천 방법(언제, 무엇을 챙겨 갈지 정하지 않음).
- 고쳐 말하기 예: “두 의견을 비교해 볼까? 비가 오면 공원은 어렵고 도서관은 갈 수 있네. 토요일 날씨를 보고 정하자.” “토요일 아침 10시에 자전거를 챙겨 가자.”
막히면
- S03의 다섯 단계를 보여 주고 단계마다 “이 단계의 말이 있어?”라고 하나씩 짚게 합니다.
주의
- ‘결정’ 단계는 있지만 비교 없이 한 사람이 정했다는 점을 짚어 줍니다. 빠진 단계를 하나만 찾으면 기록표에 ‘하나’로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“토의를 어떻게 하는지 한 문장으로 말해 볼래?”
예상 답
- “주제를 확인하고, 의견을 내고, 비교해서 정하고, 어떻게 할지 정해요.”
정답
- ① 주제 확인 → 의견 내기 → 의견 모으기·비교 → 결정 → 실천 방법 ② 도움(문제를 푸는 데 도움이 되는지), 실천(실제로 할 수 있는지), 공평(모두에게 공평한지) ③ 누가, 언제, 어떻게
막히면
- S03과 S05를 다시 보여 줍니다.
주의
- 오늘 정한 물 아끼기 실천 방법을 냉장고 같은 곳에 붙여 두고 며칠 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보충(의견에 이유 붙이기)]
목적: 토의에서 의견을 낼 때 꼭 필요한 ‘이유 붙이기’를 다시 연습합니다.
시간: 약 4분
이렇게 말해 보세요
- “①에 ‘왜?’ 하고 물어볼게. 왜 주말에 공원에 가면 좋을까? ‘왜냐하면’으로 시작해 말해 줘.”
정답
- 예: ① 왜냐하면 넓은 곳에서 마음껏 뛰어놀 수 있기 때문이에요. ② 왜냐하면 마음이 차분해져서 잠이 잘 오기 때문이에요. ③ 왜냐하면 서두르면 넘어져 다칠 수 있기 때문이에요. (의견과 관계있고, 의견을 되풀이하지 않은 이유면 맞음)
막히면
- 부모가 ①의 이유를 먼저 말해 주고, ②와 ③을 아이가 말하게 합니다.
- 보충으로도 어렵다면 앞 차시 ‘의견과 이유’(KR22-G04-KOR-OPINION-L01)를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토의하기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정할 일이 있을 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의견을 모을까?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 절차를 차례대로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절차에 따라 의견을 모으고 결정할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이유를 찾아요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“토요일에는 집에서 영화를 보면 좋겠어요. 비가 와서 밖에서 놀기 어렵기 때문이에요.”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7238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4384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무엇인가요?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44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592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이유는 무엇인가요?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654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800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‘그냥 보고 싶어요.’도 알맞은 이유일까요?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토의는 이 차례로 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토의: 함께 풀 문제를 두고 의견을 나누어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방법을 정하는 대화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하면 의견이 흩어지지 않고 끝까지 정할 수 있어요.</a:t>
            </a:r>
            <a:endParaRPr lang="ko-KR" sz="3000" dirty="0"/>
          </a:p>
        </p:txBody>
      </p:sp>
      <p:sp>
        <p:nvSpPr>
          <p:cNvPr id="6" name="S03-step13"/>
          <p:cNvSpPr txBox="1"/>
          <p:nvPr/>
        </p:nvSpPr>
        <p:spPr>
          <a:xfrm>
            <a:off x="548640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ko-KR" sz="2400" dirty="0"/>
          </a:p>
        </p:txBody>
      </p:sp>
      <p:sp>
        <p:nvSpPr>
          <p:cNvPr id="7" name="S03-line14"/>
          <p:cNvSpPr/>
          <p:nvPr/>
        </p:nvSpPr>
        <p:spPr>
          <a:xfrm>
            <a:off x="2492654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5"/>
          <p:cNvSpPr txBox="1"/>
          <p:nvPr/>
        </p:nvSpPr>
        <p:spPr>
          <a:xfrm>
            <a:off x="2849270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내기</a:t>
            </a:r>
            <a:endParaRPr lang="ko-KR" sz="2400" dirty="0"/>
          </a:p>
        </p:txBody>
      </p:sp>
      <p:sp>
        <p:nvSpPr>
          <p:cNvPr id="9" name="S03-line16"/>
          <p:cNvSpPr/>
          <p:nvPr/>
        </p:nvSpPr>
        <p:spPr>
          <a:xfrm>
            <a:off x="4793285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7"/>
          <p:cNvSpPr txBox="1"/>
          <p:nvPr/>
        </p:nvSpPr>
        <p:spPr>
          <a:xfrm>
            <a:off x="5149901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모으기·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ko-KR" sz="2400" dirty="0"/>
          </a:p>
        </p:txBody>
      </p:sp>
      <p:sp>
        <p:nvSpPr>
          <p:cNvPr id="11" name="S03-line18"/>
          <p:cNvSpPr/>
          <p:nvPr/>
        </p:nvSpPr>
        <p:spPr>
          <a:xfrm>
            <a:off x="7093915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3-step19"/>
          <p:cNvSpPr txBox="1"/>
          <p:nvPr/>
        </p:nvSpPr>
        <p:spPr>
          <a:xfrm>
            <a:off x="7450531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결정</a:t>
            </a:r>
            <a:endParaRPr lang="ko-KR" sz="2400" dirty="0"/>
          </a:p>
        </p:txBody>
      </p:sp>
      <p:sp>
        <p:nvSpPr>
          <p:cNvPr id="13" name="S03-line20"/>
          <p:cNvSpPr/>
          <p:nvPr/>
        </p:nvSpPr>
        <p:spPr>
          <a:xfrm>
            <a:off x="9394546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3-step21"/>
          <p:cNvSpPr txBox="1"/>
          <p:nvPr/>
        </p:nvSpPr>
        <p:spPr>
          <a:xfrm>
            <a:off x="9751162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실천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민서네 가족 토의 ①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주제를 확인하고(①), 모두 의견과 이유를 냈어요(②).</a:t>
            </a:r>
            <a:endParaRPr lang="ko-KR" sz="3000" dirty="0"/>
          </a:p>
        </p:txBody>
      </p:sp>
      <p:graphicFrame>
        <p:nvGraphicFramePr>
          <p:cNvPr id="5" name="S04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47088"/>
          <a:ext cx="1097280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943660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주제는 ‘거실을 깨끗하게 쓰는 방법’이야.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물건마다 제자리를 정해요. 찾기 쉬우니까요.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전에 다 같이 5분 치워요. 매일 할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당번을 한 명 정하자. 책임지고 할 테니까.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비교하는 기준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말한 사람, 어른의 의견이 아니라 기준에 맞는 의견을 골라요.</a:t>
            </a:r>
            <a:endParaRPr lang="ko-KR" sz="3000" dirty="0"/>
          </a:p>
        </p:txBody>
      </p:sp>
      <p:sp>
        <p:nvSpPr>
          <p:cNvPr id="5" name="S05-card27"/>
          <p:cNvSpPr/>
          <p:nvPr/>
        </p:nvSpPr>
        <p:spPr>
          <a:xfrm>
            <a:off x="548640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푸는 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되나요?</a:t>
            </a:r>
            <a:endParaRPr lang="ko-KR" sz="3000" dirty="0"/>
          </a:p>
        </p:txBody>
      </p:sp>
      <p:sp>
        <p:nvSpPr>
          <p:cNvPr id="7" name="S05-card29"/>
          <p:cNvSpPr/>
          <p:nvPr/>
        </p:nvSpPr>
        <p:spPr>
          <a:xfrm>
            <a:off x="4322064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4596384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실제로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있나요?</a:t>
            </a:r>
            <a:endParaRPr lang="ko-KR" sz="3000" dirty="0"/>
          </a:p>
        </p:txBody>
      </p:sp>
      <p:sp>
        <p:nvSpPr>
          <p:cNvPr id="9" name="S05-card31"/>
          <p:cNvSpPr/>
          <p:nvPr/>
        </p:nvSpPr>
        <p:spPr>
          <a:xfrm>
            <a:off x="8095488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32"/>
          <p:cNvSpPr txBox="1"/>
          <p:nvPr/>
        </p:nvSpPr>
        <p:spPr>
          <a:xfrm>
            <a:off x="8369808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공평한가요?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민서네 가족 토의 ②</a:t>
            </a:r>
            <a:endParaRPr lang="ko-KR" sz="40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결정: 제자리를 정하고, 저녁 전 5분 동안 함께 치워요.</a:t>
            </a:r>
            <a:endParaRPr lang="ko-KR" sz="3000" dirty="0"/>
          </a:p>
        </p:txBody>
      </p:sp>
      <p:graphicFrame>
        <p:nvGraphicFramePr>
          <p:cNvPr id="7" name="S06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99640"/>
          <a:ext cx="10058400" cy="914400"/>
        </p:xfrm>
        <a:graphic>
          <a:graphicData uri="http://schemas.openxmlformats.org/drawingml/2006/table">
            <a:tbl>
              <a:tblPr/>
              <a:tblGrid>
                <a:gridCol w="5230368"/>
                <a:gridCol w="1609344"/>
                <a:gridCol w="1609344"/>
                <a:gridCol w="160934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물건마다 제자리 정하기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전 5분 함께 치우기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당번 한 명이 치우기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민서네 가족 토의 ③</a:t>
            </a:r>
            <a:endParaRPr lang="ko-KR" sz="4000" dirty="0"/>
          </a:p>
        </p:txBody>
      </p:sp>
      <p:sp>
        <p:nvSpPr>
          <p:cNvPr id="3" name="S07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결정한 것을 실천할 방법을 정했어요.</a:t>
            </a:r>
            <a:endParaRPr lang="ko-KR" sz="3000" dirty="0"/>
          </a:p>
        </p:txBody>
      </p:sp>
      <p:sp>
        <p:nvSpPr>
          <p:cNvPr id="4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누가·언제·어떻게를 정해야 결정한 것을 실천할 수 있어요.</a:t>
            </a:r>
            <a:endParaRPr lang="ko-KR" sz="30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798445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모두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저녁 먹기 전 5분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 자리에 이름표를 붙이고 제자리에 둬요.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토의일까요?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오빠와 민서가 거실 정리 방법을 두고 이야기해요.</a:t>
            </a:r>
            <a:endParaRPr lang="ko-KR" sz="30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토의일까요? 왜 그렇게 생각하나요?</a:t>
            </a:r>
            <a:endParaRPr lang="ko-KR" sz="30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오빠: “무조건 내 말대로 해.”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민서: “싫어! 오빠는 맨날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 마음대로야.”</a:t>
            </a:r>
            <a:endParaRPr lang="ko-KR" sz="30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오빠: “네 의견도 좋다.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의견이랑 합쳐 볼까?”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민서: “좋아. 둘 다 해 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단계의 말일까요?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늦잠을 주제로 한 토의에서 나온 말이에요.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확인 · 의견 내기 · 모으기·비교 · 결정 · 실천 방법</a:t>
            </a:r>
            <a:endParaRPr lang="ko-KR" sz="3000" dirty="0"/>
          </a:p>
        </p:txBody>
      </p:sp>
      <p:sp>
        <p:nvSpPr>
          <p:cNvPr id="6" name="S09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“그럼 알람 두 개로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정해요.”</a:t>
            </a:r>
            <a:endParaRPr lang="ko-KR" sz="3000" dirty="0"/>
          </a:p>
        </p:txBody>
      </p:sp>
      <p:sp>
        <p:nvSpPr>
          <p:cNvPr id="8" name="S09-chip53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4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“오늘 문제는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늦잠이에요.”</a:t>
            </a:r>
            <a:endParaRPr lang="ko-KR" sz="3000" dirty="0"/>
          </a:p>
        </p:txBody>
      </p:sp>
      <p:sp>
        <p:nvSpPr>
          <p:cNvPr id="10" name="S09-chip5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5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“누가 언제 알람을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맞출까?”</a:t>
            </a:r>
            <a:endParaRPr lang="ko-KR" sz="3000" dirty="0"/>
          </a:p>
        </p:txBody>
      </p:sp>
      <p:sp>
        <p:nvSpPr>
          <p:cNvPr id="12" name="S09-chip57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58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“알람을 두 개 맞춰요.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 깨요.”</a:t>
            </a:r>
            <a:endParaRPr lang="ko-KR" sz="3000" dirty="0"/>
          </a:p>
        </p:txBody>
      </p:sp>
      <p:sp>
        <p:nvSpPr>
          <p:cNvPr id="14" name="S09-chip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9-text6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“어느 의견이 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될까?”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비교해요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화분에 물 주는 것을 자꾸 잊어요.</a:t>
            </a:r>
            <a:endParaRPr lang="ko-KR" sz="3000" dirty="0"/>
          </a:p>
        </p:txBody>
      </p:sp>
      <p:sp>
        <p:nvSpPr>
          <p:cNvPr id="4" name="S10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 · 실천 · 공평, 세 기준으로 ○, × 해 봐요.</a:t>
            </a:r>
            <a:endParaRPr lang="ko-KR" sz="3000" dirty="0"/>
          </a:p>
        </p:txBody>
      </p:sp>
      <p:sp>
        <p:nvSpPr>
          <p:cNvPr id="6" name="S10-chip6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6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주는 날을 달력에 표시해요.</a:t>
            </a:r>
            <a:endParaRPr lang="ko-KR" sz="3000" dirty="0"/>
          </a:p>
        </p:txBody>
      </p:sp>
      <p:sp>
        <p:nvSpPr>
          <p:cNvPr id="8" name="S10-chip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6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잊지 않게 한 번에 물을 아주 많이 줘요.</a:t>
            </a:r>
            <a:endParaRPr lang="ko-KR" sz="3000" dirty="0"/>
          </a:p>
        </p:txBody>
      </p:sp>
      <p:sp>
        <p:nvSpPr>
          <p:cNvPr id="10" name="S10-chip6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6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있을 때도 날마다 물을 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토의하기</a:t>
            </a:r>
            <a:endParaRPr lang="ko-KR" sz="4000" dirty="0"/>
          </a:p>
        </p:txBody>
      </p:sp>
      <p:sp>
        <p:nvSpPr>
          <p:cNvPr id="3" name="S11-text7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집에서 물을 아껴 쓰는 방법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친구 도윤: “양치할 때 컵에 물을 받아 써요.”</a:t>
            </a:r>
            <a:endParaRPr lang="ko-KR" sz="3000" dirty="0"/>
          </a:p>
        </p:txBody>
      </p:sp>
      <p:sp>
        <p:nvSpPr>
          <p:cNvPr id="4" name="S11-card71"/>
          <p:cNvSpPr/>
          <p:nvPr/>
        </p:nvSpPr>
        <p:spPr>
          <a:xfrm>
            <a:off x="6813652" y="2438400"/>
            <a:ext cx="4826660" cy="3779520"/>
          </a:xfrm>
          <a:prstGeom prst="roundRect">
            <a:avLst>
              <a:gd name="adj" fmla="val 290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2"/>
          <p:cNvSpPr txBox="1"/>
          <p:nvPr/>
        </p:nvSpPr>
        <p:spPr>
          <a:xfrm>
            <a:off x="7087972" y="2575560"/>
            <a:ext cx="427802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의견과 이유를 함께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기준을 들어 비교했어요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듣고 차례를 지켰어요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누가·언제·어떻게 정했어요</a:t>
            </a:r>
            <a:endParaRPr lang="ko-KR" sz="3000" dirty="0"/>
          </a:p>
        </p:txBody>
      </p:sp>
      <p:sp>
        <p:nvSpPr>
          <p:cNvPr id="6" name="S11-stepno73"/>
          <p:cNvSpPr txBox="1"/>
          <p:nvPr/>
        </p:nvSpPr>
        <p:spPr>
          <a:xfrm>
            <a:off x="548640" y="2793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1-text74"/>
          <p:cNvSpPr txBox="1"/>
          <p:nvPr/>
        </p:nvSpPr>
        <p:spPr>
          <a:xfrm>
            <a:off x="1325880" y="27934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함께 읽어요.</a:t>
            </a:r>
            <a:endParaRPr lang="ko-KR" sz="3000" dirty="0"/>
          </a:p>
        </p:txBody>
      </p:sp>
      <p:sp>
        <p:nvSpPr>
          <p:cNvPr id="8" name="S11-stepno75"/>
          <p:cNvSpPr txBox="1"/>
          <p:nvPr/>
        </p:nvSpPr>
        <p:spPr>
          <a:xfrm>
            <a:off x="548640" y="3552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1-text76"/>
          <p:cNvSpPr txBox="1"/>
          <p:nvPr/>
        </p:nvSpPr>
        <p:spPr>
          <a:xfrm>
            <a:off x="1325880" y="350672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엄마(아빠)가 의견과 이유를 말해요.</a:t>
            </a:r>
            <a:endParaRPr lang="ko-KR" sz="3000" dirty="0"/>
          </a:p>
        </p:txBody>
      </p:sp>
      <p:sp>
        <p:nvSpPr>
          <p:cNvPr id="10" name="S11-stepno77"/>
          <p:cNvSpPr txBox="1"/>
          <p:nvPr/>
        </p:nvSpPr>
        <p:spPr>
          <a:xfrm>
            <a:off x="548640" y="4600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1-text78"/>
          <p:cNvSpPr txBox="1"/>
          <p:nvPr/>
        </p:nvSpPr>
        <p:spPr>
          <a:xfrm>
            <a:off x="1325880" y="46009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의견을 기준으로 비교해요.</a:t>
            </a:r>
            <a:endParaRPr lang="ko-KR" sz="3000" dirty="0"/>
          </a:p>
        </p:txBody>
      </p:sp>
      <p:sp>
        <p:nvSpPr>
          <p:cNvPr id="12" name="S11-stepno79"/>
          <p:cNvSpPr txBox="1"/>
          <p:nvPr/>
        </p:nvSpPr>
        <p:spPr>
          <a:xfrm>
            <a:off x="548640" y="5314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1-text80"/>
          <p:cNvSpPr txBox="1"/>
          <p:nvPr/>
        </p:nvSpPr>
        <p:spPr>
          <a:xfrm>
            <a:off x="1325880" y="53141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결정하고 실천 방법을 정해요.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예와 흔한 실수</a:t>
            </a:r>
            <a:endParaRPr lang="ko-KR" sz="4000" dirty="0"/>
          </a:p>
        </p:txBody>
      </p:sp>
      <p:sp>
        <p:nvSpPr>
          <p:cNvPr id="3" name="S12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비교해 정하고, 실천 방법까지 정해요.</a:t>
            </a:r>
            <a:endParaRPr lang="ko-KR" sz="30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8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의견마다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</p:txBody>
      </p:sp>
      <p:sp>
        <p:nvSpPr>
          <p:cNvPr id="7" name="S12-text8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 내기</a:t>
            </a:r>
            <a:endParaRPr lang="ko-KR" sz="24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○, ×</a:t>
            </a:r>
            <a:endParaRPr lang="ko-KR" sz="3000" dirty="0"/>
          </a:p>
        </p:txBody>
      </p:sp>
      <p:sp>
        <p:nvSpPr>
          <p:cNvPr id="9" name="S12-text8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</a:t>
            </a:r>
            <a:endParaRPr lang="ko-KR" sz="2400" dirty="0"/>
          </a:p>
        </p:txBody>
      </p:sp>
      <p:sp>
        <p:nvSpPr>
          <p:cNvPr id="10" name="S12-text8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ko-KR" sz="3000" dirty="0"/>
          </a:p>
        </p:txBody>
      </p:sp>
      <p:sp>
        <p:nvSpPr>
          <p:cNvPr id="11" name="S12-text8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실천 방법</a:t>
            </a:r>
            <a:endParaRPr lang="ko-KR" sz="2400" dirty="0"/>
          </a:p>
        </p:txBody>
      </p:sp>
      <p:sp>
        <p:nvSpPr>
          <p:cNvPr id="12" name="S12-chip9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9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고집하기</a:t>
            </a:r>
            <a:endParaRPr lang="ko-KR" sz="3000" dirty="0"/>
          </a:p>
        </p:txBody>
      </p:sp>
      <p:sp>
        <p:nvSpPr>
          <p:cNvPr id="14" name="S12-text9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없이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말대로!”</a:t>
            </a:r>
            <a:endParaRPr lang="ko-KR" sz="2400" dirty="0"/>
          </a:p>
        </p:txBody>
      </p:sp>
      <p:sp>
        <p:nvSpPr>
          <p:cNvPr id="15" name="S12-text9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끝</a:t>
            </a:r>
            <a:endParaRPr lang="ko-KR" sz="3000" dirty="0"/>
          </a:p>
        </p:txBody>
      </p:sp>
      <p:sp>
        <p:nvSpPr>
          <p:cNvPr id="16" name="S12-text9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방법이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단계를 찾아요</a:t>
            </a:r>
            <a:endParaRPr lang="ko-KR" sz="4000" dirty="0"/>
          </a:p>
        </p:txBody>
      </p:sp>
      <p:sp>
        <p:nvSpPr>
          <p:cNvPr id="3" name="S13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 가족의 토의예요.</a:t>
            </a:r>
            <a:endParaRPr lang="ko-KR" sz="3000" dirty="0"/>
          </a:p>
        </p:txBody>
      </p:sp>
      <p:sp>
        <p:nvSpPr>
          <p:cNvPr id="4" name="S13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토의에서 빠진 단계 두 가지는 무엇일까요?</a:t>
            </a:r>
            <a:endParaRPr lang="ko-KR" sz="3000" dirty="0"/>
          </a:p>
        </p:txBody>
      </p:sp>
      <p:graphicFrame>
        <p:nvGraphicFramePr>
          <p:cNvPr id="14" name="S13-table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86635"/>
          <a:ext cx="10058400" cy="914400"/>
        </p:xfrm>
        <a:graphic>
          <a:graphicData uri="http://schemas.openxmlformats.org/drawingml/2006/table">
            <a:tbl>
              <a:tblPr/>
              <a:tblGrid>
                <a:gridCol w="1408176"/>
                <a:gridCol w="865022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주제는 ‘주말에 무엇을 할까?’야.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공원에 가요. 자전거를 탈 수 있어요.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도서관에 가자. 비가 와도 갈 수 있어.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그럼 공원에 가자. 아빠가 정할게.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토의는 주제 확인 → 의견 내기 → 모으기·비교 → 결정 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방법의 차례로 함께 좋은 방법을 정하는 대화예요.</a:t>
            </a:r>
            <a:endParaRPr lang="ko-KR" sz="3000" dirty="0"/>
          </a:p>
        </p:txBody>
      </p:sp>
      <p:sp>
        <p:nvSpPr>
          <p:cNvPr id="5" name="S14-chip10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기준으로 의견 비교하기</a:t>
            </a:r>
            <a:endParaRPr lang="ko-KR" sz="2400" dirty="0"/>
          </a:p>
        </p:txBody>
      </p:sp>
      <p:sp>
        <p:nvSpPr>
          <p:cNvPr id="6" name="S14-chip10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 의견만 고집하기</a:t>
            </a:r>
            <a:endParaRPr lang="ko-KR" sz="2400" dirty="0"/>
          </a:p>
        </p:txBody>
      </p:sp>
      <p:sp>
        <p:nvSpPr>
          <p:cNvPr id="7" name="S14-text10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 절차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단계는?</a:t>
            </a:r>
            <a:endParaRPr lang="ko-KR" sz="2400" dirty="0"/>
          </a:p>
        </p:txBody>
      </p:sp>
      <p:sp>
        <p:nvSpPr>
          <p:cNvPr id="9" name="S14-text10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의견을 비교하는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400" dirty="0"/>
          </a:p>
        </p:txBody>
      </p:sp>
      <p:sp>
        <p:nvSpPr>
          <p:cNvPr id="10" name="S14-text10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방법에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세 가지는?</a:t>
            </a:r>
            <a:endParaRPr lang="ko-KR" sz="2400" dirty="0"/>
          </a:p>
        </p:txBody>
      </p:sp>
      <p:sp>
        <p:nvSpPr>
          <p:cNvPr id="11" name="S14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제안하는 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의견에 이유 붙이기</a:t>
            </a:r>
            <a:endParaRPr lang="ko-KR" sz="4000" dirty="0"/>
          </a:p>
        </p:txBody>
      </p:sp>
      <p:sp>
        <p:nvSpPr>
          <p:cNvPr id="3" name="S15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 물어 이유를 붙여 말해 보세요.</a:t>
            </a:r>
            <a:endParaRPr lang="ko-KR" sz="3000" dirty="0"/>
          </a:p>
        </p:txBody>
      </p:sp>
      <p:sp>
        <p:nvSpPr>
          <p:cNvPr id="4" name="S15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“왜냐하면 ~ 때문이에요.”로 이어 말해요.</a:t>
            </a:r>
            <a:endParaRPr lang="ko-KR" sz="3000" dirty="0"/>
          </a:p>
        </p:txBody>
      </p:sp>
      <p:sp>
        <p:nvSpPr>
          <p:cNvPr id="6" name="S15-chip11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5-text11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 공원에 가요.</a:t>
            </a:r>
            <a:endParaRPr lang="ko-KR" sz="3000" dirty="0"/>
          </a:p>
        </p:txBody>
      </p:sp>
      <p:sp>
        <p:nvSpPr>
          <p:cNvPr id="8" name="S15-chip11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5-text11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전에 책을 읽어요.</a:t>
            </a:r>
            <a:endParaRPr lang="ko-KR" sz="3000" dirty="0"/>
          </a:p>
        </p:txBody>
      </p:sp>
      <p:sp>
        <p:nvSpPr>
          <p:cNvPr id="10" name="S15-chip11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5-text11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계단에서는 천천히 걸어요.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토의하기</dc:title>
  <dc:subject>KR22-G04-KOR-DISCUSS-L01</dc:subject>
  <dc:creator>education-ppt</dc:creator>
  <cp:lastModifiedBy>education-ppt</cp:lastModifiedBy>
  <cp:revision>1</cp:revision>
  <dcterms:created xsi:type="dcterms:W3CDTF">2026-10-26T07:58:15Z</dcterms:created>
  <dcterms:modified xsi:type="dcterms:W3CDTF">2026-10-26T07:58:15Z</dcterms:modified>
</cp:coreProperties>
</file>