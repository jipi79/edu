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5bb70e-ab0b-d12e-72dd-92cf992e5e4d}">
          <p14:sldIdLst>
            <p14:sldId id="256"/>
            <p14:sldId id="257"/>
          </p14:sldIdLst>
        </p14:section>
        <p14:section name="개념" id="{03d617ab-2fff-90b9-9752-177251c9cf42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c76cffcc-87fa-2a5f-ca39-6dffe3649567}">
          <p14:sldIdLst>
            <p14:sldId id="264"/>
            <p14:sldId id="265"/>
          </p14:sldIdLst>
        </p14:section>
        <p14:section name="확인" id="{a527b245-b1e7-7148-a511-99da54dbba8d}">
          <p14:sldIdLst>
            <p14:sldId id="266"/>
            <p14:sldId id="267"/>
          </p14:sldIdLst>
        </p14:section>
        <p14:section name="정리" id="{33db75c5-2ecf-293f-5783-ec6f5735400e}">
          <p14:sldIdLst>
            <p14:sldId id="268"/>
          </p14:sldIdLst>
        </p14:section>
        <p14:section name="보충" id="{c1c6d8fb-6732-fae4-662f-a965e99859c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언어문학매체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매체 자료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매체 자료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매체 자료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 자료 비교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내용을 글과 영상으로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 무엇이 다를까?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 매체 자료의 전달 방법과 장점을 비교할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매체 자료가 믿을 만한지 확인할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‘종이비행기 접기’ 영상의 장면 차례예요.</a:t>
            </a:r>
            <a:endParaRPr lang="ko-KR" sz="3000" dirty="0"/>
          </a:p>
        </p:txBody>
      </p:sp>
      <p:graphicFrame>
        <p:nvGraphicFramePr>
          <p:cNvPr id="3" name="S02-table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2834" y="2933700"/>
          <a:ext cx="4572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97180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접는 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날려 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접는 순서는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몇 초부터?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준비물을 다시 보려면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갈까요?</a:t>
            </a:r>
            <a:endParaRPr lang="ko-KR" sz="3000" dirty="0"/>
          </a:p>
        </p:txBody>
      </p:sp>
      <p:sp>
        <p:nvSpPr>
          <p:cNvPr id="9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2-text1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‘빗방울이 후두둑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떨어진다.’에서 소리를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낸 말은?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매체마다 전하는 방법이 달라요</a:t>
            </a:r>
            <a:endParaRPr lang="ko-KR" sz="40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내용(무엇을)이라도 전하는 방법(어떻게)이 달라요.</a:t>
            </a:r>
            <a:endParaRPr lang="ko-KR" sz="3000" dirty="0"/>
          </a:p>
        </p:txBody>
      </p:sp>
      <p:sp>
        <p:nvSpPr>
          <p:cNvPr id="5" name="S03-card13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신문 기사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글과 사진으로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전해요</a:t>
            </a:r>
            <a:endParaRPr lang="ko-KR" sz="3000" dirty="0"/>
          </a:p>
        </p:txBody>
      </p:sp>
      <p:sp>
        <p:nvSpPr>
          <p:cNvPr id="7" name="S03-card15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움직이는 화면,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소리, 자막으로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전해요</a:t>
            </a:r>
            <a:endParaRPr lang="ko-KR" sz="3000" dirty="0"/>
          </a:p>
        </p:txBody>
      </p:sp>
      <p:sp>
        <p:nvSpPr>
          <p:cNvPr id="9" name="S03-card17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8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라디오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소리로만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어린이 신문 기사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기사는 무엇으로 정보를 전하나요?</a:t>
            </a:r>
            <a:endParaRPr lang="ko-KR" sz="3000" dirty="0"/>
          </a:p>
        </p:txBody>
      </p:sp>
      <p:sp>
        <p:nvSpPr>
          <p:cNvPr id="5" name="S04-passagebox2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손은 30초 넘게 꼼꼼히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별빛초등학교 보건 선생님은 “30초 넘게 비누로 씻으면 손의 세균을 많이 없앨 수 있어요.”라고 말했습니다.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손바닥, 손등, 손가락 사이, 손톱 밑까지 거품을 내어 뽀득뽀득 문지른 뒤 흐르는 물에 헹굽니다.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(사진: 비누 거품을 낸 두 손)</a:t>
            </a:r>
            <a:endParaRPr lang="ko-KR" sz="26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어린이 신문 · 김하늘 기자 · 5월 2일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손 씻기 영상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‘30초 손 씻기’ · 별빛마을 보건소 · 5월 3일 올림</a:t>
            </a:r>
            <a:endParaRPr lang="ko-KR" sz="30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영상은 움직이는 화면과 소리, 자막으로 전해요.</a:t>
            </a:r>
            <a:endParaRPr lang="ko-KR" sz="3000" dirty="0"/>
          </a:p>
        </p:txBody>
      </p:sp>
      <p:graphicFrame>
        <p:nvGraphicFramePr>
          <p:cNvPr id="6" name="S05-table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85060"/>
          <a:ext cx="109728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4389120"/>
                <a:gridCol w="526694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소리·자막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비누로 거품 내는 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물소리, “30초 동안 씻어요.”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손바닥·손등 문지르기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노래, 자막 ‘손등도 꼼꼼히’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손가락 사이·손톱 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자막 ‘손톱 밑까지!’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0:55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흐르는 물에 헹구기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물소리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나를 비교하면</a:t>
            </a:r>
            <a:endParaRPr lang="ko-KR" sz="4000" dirty="0"/>
          </a:p>
        </p:txBody>
      </p:sp>
      <p:sp>
        <p:nvSpPr>
          <p:cNvPr id="3" name="S06-card2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기사는 ‘뽀득뽀득’처럼 소리를 말로 나타내고, 영상은 소리를 직접 들려줘요.</a:t>
            </a:r>
            <a:endParaRPr lang="ko-KR" sz="3000" dirty="0"/>
          </a:p>
        </p:txBody>
      </p:sp>
      <p:graphicFrame>
        <p:nvGraphicFramePr>
          <p:cNvPr id="7" name="S06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83308"/>
          <a:ext cx="109728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4498848"/>
                <a:gridCol w="449884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신문 기사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영상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전달 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글과 사진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움직이는 화면, 소리, 자막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까닭을 자세히 읽어요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씻는 모습을 보고 따라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아쉬운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움직임은 상상해야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까닭은 나오지 않아요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만한지 세 가지 질문</a:t>
            </a:r>
            <a:endParaRPr lang="ko-KR" sz="4000" dirty="0"/>
          </a:p>
        </p:txBody>
      </p:sp>
      <p:sp>
        <p:nvSpPr>
          <p:cNvPr id="3" name="S07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‘100%’, ‘절대’처럼 부풀린 말이 있으면 한 번 더 의심해요.</a:t>
            </a:r>
            <a:endParaRPr lang="ko-KR" sz="3000" dirty="0"/>
          </a:p>
        </p:txBody>
      </p:sp>
      <p:sp>
        <p:nvSpPr>
          <p:cNvPr id="5" name="S07-card3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누가?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만들었는지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드러나나요?</a:t>
            </a:r>
            <a:endParaRPr lang="ko-KR" sz="3000" dirty="0"/>
          </a:p>
        </p:txBody>
      </p:sp>
      <p:sp>
        <p:nvSpPr>
          <p:cNvPr id="7" name="S07-card3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7-cardtext3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언제?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만들었는지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날짜가 있나요?</a:t>
            </a:r>
            <a:endParaRPr lang="ko-KR" sz="3000" dirty="0"/>
          </a:p>
        </p:txBody>
      </p:sp>
      <p:sp>
        <p:nvSpPr>
          <p:cNvPr id="9" name="S07-card3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3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근거?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있고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 자료를 비교하는 순서</a:t>
            </a:r>
            <a:endParaRPr lang="ko-KR" sz="4000" dirty="0"/>
          </a:p>
        </p:txBody>
      </p:sp>
      <p:sp>
        <p:nvSpPr>
          <p:cNvPr id="3" name="S08-stepno38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8-text39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내용을 다루는지 확인해요.</a:t>
            </a:r>
            <a:endParaRPr lang="ko-KR" sz="3000" dirty="0"/>
          </a:p>
        </p:txBody>
      </p:sp>
      <p:sp>
        <p:nvSpPr>
          <p:cNvPr id="5" name="S08-stepno40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8-text41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방법을 비교해요.</a:t>
            </a:r>
            <a:endParaRPr lang="ko-KR" sz="3000" dirty="0"/>
          </a:p>
        </p:txBody>
      </p:sp>
      <p:sp>
        <p:nvSpPr>
          <p:cNvPr id="7" name="S08-stepno42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8-text43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장점과 아쉬운 점을 비교해요.</a:t>
            </a:r>
            <a:endParaRPr lang="ko-KR" sz="3000" dirty="0"/>
          </a:p>
        </p:txBody>
      </p:sp>
      <p:sp>
        <p:nvSpPr>
          <p:cNvPr id="9" name="S08-stepno44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8-text45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질문으로 믿을 만한지 봐요.</a:t>
            </a:r>
            <a:endParaRPr lang="ko-KR" sz="3000" dirty="0"/>
          </a:p>
        </p:txBody>
      </p:sp>
      <p:sp>
        <p:nvSpPr>
          <p:cNvPr id="11" name="S08-stepno46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8-text47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목적에 맞는 자료를 골라요.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어느 자료?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가(신문 기사)와 나(영상) 가운데 골라 까닭을 말해요.</a:t>
            </a:r>
            <a:endParaRPr lang="ko-KR" sz="3000" dirty="0"/>
          </a:p>
        </p:txBody>
      </p:sp>
      <p:sp>
        <p:nvSpPr>
          <p:cNvPr id="4" name="S09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S06의 장점과 아쉬운 점을 떠올려요.</a:t>
            </a:r>
            <a:endParaRPr lang="ko-KR" sz="3000" dirty="0"/>
          </a:p>
        </p:txBody>
      </p:sp>
      <p:sp>
        <p:nvSpPr>
          <p:cNvPr id="6" name="S09-chip5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씻기를 처음 배우는 동생과 함께 볼 때</a:t>
            </a:r>
            <a:endParaRPr lang="ko-KR" sz="3000" dirty="0"/>
          </a:p>
        </p:txBody>
      </p:sp>
      <p:sp>
        <p:nvSpPr>
          <p:cNvPr id="8" name="S09-chip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30초 넘게 씻어야 하는지 알고 싶을 때</a:t>
            </a:r>
            <a:endParaRPr lang="ko-KR" sz="3000" dirty="0"/>
          </a:p>
        </p:txBody>
      </p:sp>
      <p:sp>
        <p:nvSpPr>
          <p:cNvPr id="10" name="S09-chip5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5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손톱 밑을 어떻게 문지르는지 보고 싶을 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영상이 더 믿을 만할까?</a:t>
            </a:r>
            <a:endParaRPr lang="ko-KR" sz="4000" dirty="0"/>
          </a:p>
        </p:txBody>
      </p:sp>
      <p:sp>
        <p:nvSpPr>
          <p:cNvPr id="3" name="S10-card5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‘손 씻기’를 찾다가 영상 두 개를 보았어요.</a:t>
            </a:r>
            <a:endParaRPr lang="ko-KR" sz="3000" dirty="0"/>
          </a:p>
        </p:txBody>
      </p:sp>
      <p:sp>
        <p:nvSpPr>
          <p:cNvPr id="5" name="S10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질문으로 따져 보고, 까닭을 말해 봐요.</a:t>
            </a:r>
            <a:endParaRPr lang="ko-KR" sz="3000" dirty="0"/>
          </a:p>
        </p:txBody>
      </p:sp>
      <p:sp>
        <p:nvSpPr>
          <p:cNvPr id="7" name="S10-chip6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8" name="S10-text6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사람: 모름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날: 없음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비누면 감기에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안 걸려!”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수 100만</a:t>
            </a:r>
            <a:endParaRPr lang="ko-KR" sz="2400" dirty="0"/>
          </a:p>
        </p:txBody>
      </p:sp>
      <p:sp>
        <p:nvSpPr>
          <p:cNvPr id="9" name="S10-chip6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0-text6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곳: 보건소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날: 5월 3일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“30초 동안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씻어요.”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수 300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팩 버리는 방법을 다룬 두 자료예요.</a:t>
            </a:r>
            <a:endParaRPr lang="ko-KR" sz="3000" dirty="0"/>
          </a:p>
        </p:txBody>
      </p:sp>
      <p:sp>
        <p:nvSpPr>
          <p:cNvPr id="4" name="S11-card6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6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전달 방법은 어떻게 달라요?  ② 장점을 하나씩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펼치는 방법을 따라 하려면 어느 자료가 좋아요?</a:t>
            </a:r>
            <a:endParaRPr lang="ko-KR" sz="3000" dirty="0"/>
          </a:p>
        </p:txBody>
      </p:sp>
      <p:graphicFrame>
        <p:nvGraphicFramePr>
          <p:cNvPr id="12" name="S11-table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62428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69664"/>
                <a:gridCol w="4608576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게시판 안내문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영상(40초)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만든 곳·날짜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관리사무소 · 6월 1일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별빛마을 주민 센터 · 6월 3일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담긴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글: 헹구고 펼쳐 말린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 팩끼리 모아요.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헹구고 펼치는 손 화면,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설명하는 목소리, 자막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믿을 만한 자료는?</a:t>
            </a:r>
            <a:endParaRPr lang="ko-KR" sz="4000" dirty="0"/>
          </a:p>
        </p:txBody>
      </p:sp>
      <p:sp>
        <p:nvSpPr>
          <p:cNvPr id="3" name="S13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‘키 크는 방법’ 자료 세 개예요. 첫 줄은 만든 사람과 날짜예요.</a:t>
            </a:r>
            <a:endParaRPr lang="ko-KR" sz="3000" dirty="0"/>
          </a:p>
        </p:txBody>
      </p:sp>
      <p:sp>
        <p:nvSpPr>
          <p:cNvPr id="4" name="S13-card7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7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나머지 두 자료가 아쉬운 점을 세 가지 질문으로 말해요.</a:t>
            </a:r>
            <a:endParaRPr lang="ko-KR" sz="3000" dirty="0"/>
          </a:p>
        </p:txBody>
      </p:sp>
      <p:sp>
        <p:nvSpPr>
          <p:cNvPr id="6" name="S13-chip7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ard73"/>
          <p:cNvSpPr/>
          <p:nvPr/>
        </p:nvSpPr>
        <p:spPr>
          <a:xfrm>
            <a:off x="548640" y="2715768"/>
            <a:ext cx="3453384" cy="2014728"/>
          </a:xfrm>
          <a:prstGeom prst="roundRect">
            <a:avLst>
              <a:gd name="adj" fmla="val 544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74"/>
          <p:cNvSpPr txBox="1"/>
          <p:nvPr/>
        </p:nvSpPr>
        <p:spPr>
          <a:xfrm>
            <a:off x="822960" y="2852928"/>
            <a:ext cx="2904744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모름, 날짜 없음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물만 마시면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100% 쑥쑥!”</a:t>
            </a:r>
            <a:endParaRPr lang="ko-KR" sz="2400" dirty="0"/>
          </a:p>
        </p:txBody>
      </p:sp>
      <p:sp>
        <p:nvSpPr>
          <p:cNvPr id="9" name="S13-chip7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3-card76"/>
          <p:cNvSpPr/>
          <p:nvPr/>
        </p:nvSpPr>
        <p:spPr>
          <a:xfrm>
            <a:off x="4367784" y="2715768"/>
            <a:ext cx="3453384" cy="2014728"/>
          </a:xfrm>
          <a:prstGeom prst="roundRect">
            <a:avLst>
              <a:gd name="adj" fmla="val 544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77"/>
          <p:cNvSpPr txBox="1"/>
          <p:nvPr/>
        </p:nvSpPr>
        <p:spPr>
          <a:xfrm>
            <a:off x="4642104" y="2852928"/>
            <a:ext cx="2904744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보건소, 4월 10일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“잠을 잘 자면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크는 데 좋아요.”</a:t>
            </a:r>
            <a:endParaRPr lang="ko-KR" sz="2400" dirty="0"/>
          </a:p>
        </p:txBody>
      </p:sp>
      <p:sp>
        <p:nvSpPr>
          <p:cNvPr id="12" name="S13-chip7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3-card79"/>
          <p:cNvSpPr/>
          <p:nvPr/>
        </p:nvSpPr>
        <p:spPr>
          <a:xfrm>
            <a:off x="8186928" y="2715768"/>
            <a:ext cx="3453384" cy="2014728"/>
          </a:xfrm>
          <a:prstGeom prst="roundRect">
            <a:avLst>
              <a:gd name="adj" fmla="val 544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80"/>
          <p:cNvSpPr txBox="1"/>
          <p:nvPr/>
        </p:nvSpPr>
        <p:spPr>
          <a:xfrm>
            <a:off x="8461248" y="2852928"/>
            <a:ext cx="2904744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하늘이, 날짜 없음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“우유만 마시면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엄청 커!”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내용도 매체마다 전달 방법과 장점이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목적에 맞게 고르고, 세 가지 질문으로 믿을 만한지 확인해요.</a:t>
            </a:r>
            <a:endParaRPr lang="ko-KR" sz="3000" dirty="0"/>
          </a:p>
        </p:txBody>
      </p:sp>
      <p:sp>
        <p:nvSpPr>
          <p:cNvPr id="5" name="S14-chip8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누가·언제·근거 확인하기</a:t>
            </a:r>
            <a:endParaRPr lang="ko-KR" sz="2400" dirty="0"/>
          </a:p>
        </p:txBody>
      </p:sp>
      <p:sp>
        <p:nvSpPr>
          <p:cNvPr id="6" name="S14-chip8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조회 수만 보고 믿기</a:t>
            </a:r>
            <a:endParaRPr lang="ko-KR" sz="2400" dirty="0"/>
          </a:p>
        </p:txBody>
      </p:sp>
      <p:sp>
        <p:nvSpPr>
          <p:cNvPr id="7" name="S14-text8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신문 기사와 영상의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방법은?</a:t>
            </a:r>
            <a:endParaRPr lang="ko-KR" sz="2400" dirty="0"/>
          </a:p>
        </p:txBody>
      </p:sp>
      <p:sp>
        <p:nvSpPr>
          <p:cNvPr id="9" name="S14-text8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믿을 만한지 묻는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질문은?</a:t>
            </a:r>
            <a:endParaRPr lang="ko-KR" sz="2400" dirty="0"/>
          </a:p>
        </p:txBody>
      </p:sp>
      <p:sp>
        <p:nvSpPr>
          <p:cNvPr id="10" name="S14-text8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‘100%’, ‘절대’가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있으면?</a:t>
            </a:r>
            <a:endParaRPr lang="ko-KR" sz="2400" dirty="0"/>
          </a:p>
        </p:txBody>
      </p:sp>
      <p:sp>
        <p:nvSpPr>
          <p:cNvPr id="11" name="S14-text8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단서로 추론하기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집에 있는 자료 살펴보기</a:t>
            </a:r>
            <a:endParaRPr lang="ko-KR" sz="4000" dirty="0"/>
          </a:p>
        </p:txBody>
      </p:sp>
      <p:sp>
        <p:nvSpPr>
          <p:cNvPr id="3" name="S15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안내문이나 과자 상자에서 찾아봐요.</a:t>
            </a:r>
            <a:endParaRPr lang="ko-KR" sz="3000" dirty="0"/>
          </a:p>
        </p:txBody>
      </p:sp>
      <p:sp>
        <p:nvSpPr>
          <p:cNvPr id="4" name="S15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곳을 손가락으로 짚으며 말해요.</a:t>
            </a:r>
            <a:endParaRPr lang="ko-KR" sz="3000" dirty="0"/>
          </a:p>
        </p:txBody>
      </p:sp>
      <p:sp>
        <p:nvSpPr>
          <p:cNvPr id="6" name="S15-word93"/>
          <p:cNvSpPr txBox="1"/>
          <p:nvPr/>
        </p:nvSpPr>
        <p:spPr>
          <a:xfrm>
            <a:off x="548640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사람·곳</a:t>
            </a:r>
            <a:endParaRPr lang="ko-KR" sz="3400" dirty="0"/>
          </a:p>
        </p:txBody>
      </p:sp>
      <p:sp>
        <p:nvSpPr>
          <p:cNvPr id="7" name="S15-word94"/>
          <p:cNvSpPr txBox="1"/>
          <p:nvPr/>
        </p:nvSpPr>
        <p:spPr>
          <a:xfrm>
            <a:off x="4337304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</a:t>
            </a:r>
            <a:endParaRPr lang="ko-KR" sz="3400" dirty="0"/>
          </a:p>
        </p:txBody>
      </p:sp>
      <p:sp>
        <p:nvSpPr>
          <p:cNvPr id="8" name="S15-word95"/>
          <p:cNvSpPr txBox="1"/>
          <p:nvPr/>
        </p:nvSpPr>
        <p:spPr>
          <a:xfrm>
            <a:off x="8125968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글·사진·그림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매체 자료 비교</dc:title>
  <dc:subject>KR22-G04-KOR-MEDIACOMP-L01</dc:subject>
  <dc:creator>education-ppt</dc:creator>
  <cp:lastModifiedBy>education-ppt</cp:lastModifiedBy>
  <cp:revision>1</cp:revision>
  <dcterms:created xsi:type="dcterms:W3CDTF">2026-10-26T08:17:21Z</dcterms:created>
  <dcterms:modified xsi:type="dcterms:W3CDTF">2026-10-26T08:17:21Z</dcterms:modified>
</cp:coreProperties>
</file>