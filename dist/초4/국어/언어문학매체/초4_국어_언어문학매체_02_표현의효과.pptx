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fc198d3-dbc9-300b-54e4-b0ad404c5b67}">
          <p14:sldIdLst>
            <p14:sldId id="256"/>
            <p14:sldId id="257"/>
          </p14:sldIdLst>
        </p14:section>
        <p14:section name="개념" id="{ca1aca78-9db8-bddc-7d56-d86185e608c6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d7c9a25e-db76-0714-4d6c-038b5cbe15c4}">
          <p14:sldIdLst>
            <p14:sldId id="263"/>
            <p14:sldId id="264"/>
            <p14:sldId id="265"/>
          </p14:sldIdLst>
        </p14:section>
        <p14:section name="확인" id="{4200d387-2d11-5243-17ac-2f35831e7a0a}">
          <p14:sldIdLst>
            <p14:sldId id="266"/>
            <p14:sldId id="267"/>
            <p14:sldId id="268"/>
          </p14:sldIdLst>
        </p14:section>
        <p14:section name="정리" id="{7213f57b-f562-4a48-077f-768e4a2bce0c}">
          <p14:sldIdLst>
            <p14:sldId id="269"/>
          </p14:sldIdLst>
        </p14:section>
        <p14:section name="보충" id="{09e67c79-3ec7-b4c2-6c0c-ebc8b9224c2c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같은 장면도 표현에 따라 다르게 떠오른다는 것을 느끼게 합니다.
시간: 약 2분
이렇게 말해 보세요
- “‘동생이 빨리 달렸다.’와 ‘동생이 바람처럼 달렸다.’ 어느 쪽이 더 빠르게 느껴져?”
- “어떤 말을 넣으면 읽는 사람 눈앞에 장면이 그림처럼 떠올라. 오늘은 그런 표현을 찾고, 왜 생생한지 말해 볼 거야.”
예상 답
- “바람처럼이요. 엄청 빠른 것 같아요.”
막히면
- 두 문장을 부모가 실감 나게 읽어 주고 “눈을 감고 들어 봐. 어느 쪽이 더 잘 보여?”라고 묻습니다.
주의
- ‘바람처럼’ 같은 표현은 S05에서 ‘비유’라는 이름으로 배웁니다.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확인(문장의 짜임, 흉내 내는 말)]
목적: 앞 차시 ‘문장의 기본 짜임’(KR22-G04-KOR-SENTFORM-L01)에서 배운 짜임을 찾는지(①②④), 2학년 ‘낱말의 관계’(KR22-G02-KOR-VOCAB-L01)에서 배운 흉내 내는 말을 아는지(③) 확인합니다. ④의 ‘무엇이다’ 짜임은 S05의 비유(‘~은 ~이다’)에서 다시 씁니다.
시간: 약 3분
이렇게 말해 보세요
- “지난 시간에 배운 문장의 짜임, 기억나? ①, ②를 답해 볼래?”
- “‘아장아장’은 무엇을 흉내 낸 말일까? 소리야, 모양이야?”
정답
- ① 아기가 ② 누가 + 어찌하다(‘걷고 있다’가 말이 됨) ③ 아장아장 ④ 무엇이 + 무엇이다
막히면
- ①②를 어려워하면 “누가 걸어? 걷는 건 움직임이야, 모양이야?”라고 묻습니다.
- ③에서 흉내 내는 말을 찾지 못하면 S15(보충)를 먼저 합니다.
주의
- ③을 ‘걷는다’라고 하면 “어떻게 걸어?”라고 물어 ‘아장아장’을 찾게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흉내 내는 말(소리·모양)]
목적: 흉내 내는 말을 소리 흉내와 모양 흉내로 나누어 다시 알려 줍니다(목표 A, 오해 M4).
시간: 약 3분
이렇게 말해 보세요
- “‘후두둑’은 비가 떨어질 때 귀로 들리는 소리를 흉내 냈어. ‘똑딱똑딱’은 무슨 소리야?”
- “‘반짝반짝’은 귀로 들려, 눈으로 보여? 별이 빛나는 모양을 흉내 낸 말이야.”
예상 답
- “시계 소리요.” “눈으로 보여요. 모양이에요.”
막히면
- 부모가 컵을 숟가락으로 두드려 소리를 들려주고 “어떤 소리야?”, 손가락으로 책상 위를 살살 걷게 하고 “어떤 모양이야?”라고 묻습니다.
주의
- 흉내 내는 말은 ‘어찌하다·어떠하다’ 바로 앞에서 그 모습을 자세히 보여 줄 때가 많습니다(빗방울이 후두둑 / 떨어진다).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흉내 내는 말의 효과(두 문장 비교)]
목적: 흉내 내는 말이 있는 문장과 없는 문장을 견주어, 소리나 모양이 생생하게 떠오르는 효과를 느끼게 합니다(목표 B).
시간: 약 2분
이렇게 말해 보세요
- “엄마(아빠)가 두 문장을 읽어 줄게. 눈을 감고 들어 봐.”
- “나에서 어떤 소리가 들리는 것 같아? 비가 조금 와, 많이 와?”
예상 답
- “굵은 빗방울이 갑자기 세게 떨어지는 소리가 들려요.”
막히면
- ‘후두둑’ 대신 ‘보슬보슬’을 넣어 읽어 주고 “비가 어떻게 다르게 느껴져?”라고 묻습니다.
주의
- 효과는 “‘후두둑’에서 굵은 빗방울 소리가 들리는 것 같아요.”처럼 표현을 짚어 말하게 합니다(오해 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비유(직유와 은유)]
목적: 비유의 뜻과 두 가지 꼴(‘~처럼·~같이·~같은’, ‘~은 ~이다’)을 알려 줍니다(목표 A).
시간: 약 3분
이렇게 말해 보세요
- “볼이 빨간 걸 ‘사과처럼’이라고 했어. 볼과 사과는 무엇이 닮았어? 이렇게 닮은 다른 것에 빗대어 말하는 걸 ‘비유’라고 해.”
- “오른쪽은 ‘처럼’ 없이 ‘등은 운동장이다’라고 했어. 지난 시간에 배운 ‘무엇이 + 무엇이다’ 짜임이지? 아빠 등이 정말 운동장이야? 무엇이 닮았을까?”
예상 답
- “둘 다 빨개요.” “아니요. 넓은 게 닮았어요.”
막히면
- “동생이 빨리 달려. 무엇처럼 빠를까?”라고 물어 아이가 직접 ‘~처럼’ 비유를 만들어 보게 합니다.
주의
- ‘직유’, ‘은유’라는 낱말은 외우지 않아도 됩니다. ‘처럼·같이로 빗대기’, ‘~은 ~이다로 빗대기’로 말해도 충분합니다. ‘같이’는 앞말에 붙여 쓰고(치타같이), ‘같은’은 띄어 씁니다(솜사탕 같은).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무엇을 무엇에 빗대었는지 정리하기]
목적: 비유를 ‘무엇을 – 무엇에 – 닮은 점’으로 정리하는 방법을 보여 주고, 비유의 효과를 말합니다(목표 A·B, 오해 M2).
시간: 약 3분
이렇게 말해 보세요
- “비유를 찾으면 이 표처럼 세 칸을 채워 봐. 무엇을, 무엇에 빗대었고, 무엇이 닮았는지.”
- “‘솜사탕 같은 구름’이라고 하면 그냥 ‘구름’보다 어떤 구름이 떠올라?”
예상 답
- “하얗고 몽글몽글하고 폭신해 보이는 구름이요.”
막히면
- 한 줄씩 손가락으로 짚으며 “볼을 무엇에 빗댔어? 왜 사과일까?”라고 묻습니다.
주의
- 닮은 점은 여러 가지일 수 있습니다(구름: 하얗다, 폭신하다, 몽글몽글하다). 둘 사이에 실제로 닮은 점이면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표현의 효과를 말하는 방법]
목적: 표현의 효과를 말하는 순서와 말하기 틀을 정리합니다(목표 B, 오해 M3).
시간: 약 2분
이렇게 말해 보세요
- “‘재미있어요’라고만 하면 왜 재미있는지 몰라. 이 순서대로 말하면 효과를 잘 말할 수 있어.”
- “‘볼이 사과처럼 빨갛다’로 4번 틀에 맞춰 말해 볼래?”
예상 답
- “‘사과처럼’에서 볼이 아주 빨갛게 물든 모습이 떠올라요.”
막히면
- 부모가 S04의 ‘후두둑’으로 먼저 틀에 맞춰 말해 주고 따라 하게 합니다.
주의
- 아이가 지치면 여기서 쉬고, 다음 날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오해 비교(사실과 비유)]
목적: 같은 ‘~은 ~이다’ 꼴이어도 사실을 말한 문장과 빗대어 말한 문장(은유)을 구별합니다(목표 A, 오해 M1).
시간: 약 3분
이렇게 말해 보세요
- “가에서 고래는 정말 동물이야? 나에서 동생이 정말 알람 시계야?”
- “동생과 알람 시계는 무엇이 닮았을까? 이 집 동생은 어떤 아이일 것 같아?”
정답
- 나. 동생을 알람 시계에 빗대었습니다. 닮은 점: 아침마다 일찍 일어나 가족을 깨운다(시끄럽게 깨운다).
- 가는 고래가 실제로 동물이라는 사실을 말한 문장입니다.
막히면
- “정말 그래?”라고 물어 ‘네’면 사실, ‘아니요, 그런데 닮았어요’면 비유라고 알려 줍니다.
주의
- 동생이 알람 시계와 닮은 점은 아이마다 다르게 말할 수 있습니다(일찍 깨운다, 시끄럽다, 정해진 때에 운다). 문장에서 짐작할 수 있는 닮은 점이면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함께 찾기(흉내 내는 말과 비유)]
목적: 처음 읽는 글에서 흉내 내는 말과 비유를 함께 찾고, 효과를 말하기 틀로 말해 봅니다(목표 A·B). 활동지 3에 같은 글이 있으니 흉내 내는 말에 밑줄, 비유에 물결선을 긋게 합니다.
시간: 약 4분
이렇게 말해 보세요
- “소리 내어 읽어 볼래? 귀로 들리는 소리를 흉내 낸 말은 어디 있어?”
- “‘같았다’, ‘처럼’이 있는 곳을 찾아볼까? 그리고 ‘~은 ~이다(였다)’로 빗댄 곳은?”
- “하나를 골라 S07의 틀로 효과를 말해 줘.”
정답
- 흉내 내는 말: 탕(소리), 쿵쾅쿵쾅(소리)
- 비유: 하늘은 파란 도화지 같았다(하늘 → 도화지, 파랗고 넓고 깨끗하다), 바람처럼 달렸다(나 → 바람, 빠르다), 응원 소리는 커다란 북소리였다(응원 소리 → 북소리, 크고 힘차다)
- 효과 예: ‘바람처럼’에서 아주 빠르게 달리는 모습이 떠올라요. ‘쿵쾅쿵쾅’에서 떨리고 설레는 마음이 느껴져요.
막히면
- 한 문장씩 끊어 읽고 “이 문장에 소리 흉내가 있어? ‘처럼’이나 ‘같이’가 있어?”라고 묻습니다.
주의
- 마지막 문장은 ‘처럼’이 없어도 비유입니다. “응원 소리가 정말 북소리야?”라고 물어 S08을 떠올리게 합니다.
- ‘쿵쾅쿵쾅’은 가슴이 뛰는 소리로 보는 것이 자연스럽지만, 세차게 뛰는 모양이라고 해도 받아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표현을 넣어 바꾸어 쓰기]
목적: 흉내 내는 말과 비유를 넣어 문장을 바꾸어 쓰고, 바뀐 효과를 말해 봅니다(목표 B). 활동지 4에 씁니다.
시간: 약 4분
이렇게 말해 보세요
- “①은 아기가 어떤 모양으로 걸을까? 흉내 내는 말을 넣어 볼래?”
- “②는 시냇물이 흐르는 소리를 넣어 봐. ③은 눈처럼 하얀 것이 무엇이 있을까?”
- “바꾼 문장을 읽으면 무엇이 더 잘 떠올라?”
정답
- ① 예: 아기가 아장아장 걷는다. (걷는 모양이면 맞음: 뒤뚱뒤뚱, 아장아장)
- ② 예: 시냇물이 졸졸 흐른다. (흐르는 소리면 맞음: 졸졸, 콸콸)
- ③ 예: 눈이 솜처럼 하얗다. 눈이 설탕처럼 하얗다. (하얀 것에 빗대면 맞음)
- 효과 예: 아기가 작은 발로 조심조심 걷는 모습이 떠올라요.
막히면
- ①은 S02의 ‘아장아장’을 다시 보여 줍니다. ③은 “하얀 것을 세 가지 말해 볼래?”라고 먼저 묻습니다.
주의
- ③에 ‘눈이 석탄처럼 하얗다’처럼 닮지 않은 것에 빗대면 “석탄은 무슨 색이야?”라고 물어 닮은 점이 있어야 한다는 것을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찾기(흉내 내는 말과 비유)]
목적: 도움 없이 처음 읽는 글에서 흉내 내는 말과 비유를 찾고, 비유의 빗댄 대상과 닮은 점을 말하는지 확인합니다(목표 A). 활동지 5에 같은 글이 있습니다.
시간: 약 4분
이렇게 말해 보세요
- “이번에는 혼자 해 볼래? 활동지 5에 흉내 내는 말에는 밑줄, 비유에는 물결선을 긋고 물음에 답해 봐.”
정답
- 흉내 내는 말: 살금살금(모양), 야옹야옹(소리)
- 비유: 털이 솜이불처럼 보드랍다(털 → 솜이불, 보드랍다), 보리의 눈은 동그란 구슬이다(눈 → 구슬, 동그랗다·반짝인다)
막히면
- S07의 단계를 보여 주고 한 문장씩 끊어 읽게 합니다.
- 도움을 받아 찾았다면 기록표에 ‘도움’으로 표시합니다.
주의
- ‘보리’, ‘소파’ 같은 이름 낱말을 고르면 “이 말이 소리나 모양을 흉내 냈어?”라고 되묻습니다.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확인하고 흔한 실수와 비교합니다.
시간: 약 2분
이렇게 말해 보세요
- “네가 찾은 것이 왼쪽과 같아? 비유는 무엇을 무엇에 빗대었다고 했어?”
- “‘구슬이다’를 찾았다면, 보리의 눈이 정말 구슬이야? 무엇이 닮았어?”
예상 답
- “아니요. 동그랗고 반짝이는 게 닮았어요.”
정답
- 흉내 내는 말: 살금살금(모양), 야옹야옹(소리) / 비유: 솜이불처럼(털 → 솜이불, 보드랍다), 눈은 동그란 구슬이다(눈 → 구슬, 동그랗다·반짝인다)
막히면
- S06의 표처럼 ‘무엇을 – 무엇에 – 닮은 점’ 세 칸을 종이에 그려 함께 채웁니다.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확인(효과 말하기와 표현 만들기)]
목적: 표현의 효과를 구체적으로 말하고, 흉내 내는 말과 비유를 넣어 문장을 만드는지 확인합니다(목표 B, 오해 M3). 활동지 6에 씁니다.
시간: 약 4분
이렇게 말해 보세요
- “①은 S07의 틀로 말해 줘. ‘바람처럼’에서 무엇이 떠올라?”
- “②는 시계 소리를 흉내 내 봐. ③은 우리 집 강아지가 무엇과 닮았을지 상상해서 만들어 봐.”
예상 답
- ① “‘바람처럼’에서 아주 빠르게 달리는 모습이 떠올라요.”
- ② 시계가 똑딱똑딱 간다.
- ③ “우리 집 강아지는 하얀 솜뭉치이다. 털이 하얗고 폭신한 게 닮았어요.”
정답
- 기준: ① 표현을 짚어 떠오르는 모습(빠르기)을 말함(‘재미있어요’만은 아님) ② 시계 소리를 흉내 낸 말(똑딱똑딱, 째깍째깍) ③ ‘(무엇)이다’로 빗대고, 실제로 닮은 점을 말함. 세 가지 모두면 목표 B 달성, 두 가지면 거의 달성으로 봅니다.
- 강아지를 키우지 않으면 아는 강아지나 상상한 강아지로 해도 됩니다.
막히면
- ③은 “강아지는 어떤 모습이야? 색깔, 크기, 하는 짓 가운데 하나를 골라 볼래? 그것과 닮은 물건은?” 순서로 묻습니다.
주의
- 답만 말하고 닮은 점이나 떠오르는 것을 말하지 못하면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수업의 복습 질문을 알려 줍니다.
시간: 약 2분
이렇게 말해 보세요
- “흉내 내는 말과 비유를 쓰면 무엇이 좋은지 한 문장으로 말해 볼래?”
예상 답
- “소리랑 모양이 잘 들리고 보여요. 닮은 걸로 말하면 더 잘 떠올라요.”
정답
- ① 소리를 흉내 낸 말, 모양을 흉내 낸 말 ② ‘~처럼·~같이(같은)’로 빗대기, ‘~은 ~이다’로 빗대기 ③ 빨갛다
막히면
- S03과 S05를 다시 보여 줍니다.
주의
- 책이나 만화에서 흉내 내는 말이나 비유를 하나 찾아 와 다음 수업에서 소개하게 하면 좋은 복습이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보충(소리·모양 흉내 놀이)]
목적: 직접 소리를 내고 움직임을 보며 흉내 내는 말을 만들어, 소리 흉내와 모양 흉내를 다시 익힙니다.
시간: 약 4분
이렇게 말해 보세요
- (컵을 숟가락으로 두드리며) “무슨 소리가 나? 흉내 내 볼래?”
- (손가락으로 책상 위를 살살 걸으며) “이건 소리야, 모양이야? 어떤 말로 흉내 낼까?”
정답
- 소리: 땡땡, 쨍쨍, 바스락, 부스럭 / 모양: 살금살금, 엉금엉금 (들은 소리나 본 모양을 흉내 낸 말이면 맞음)
막히면
- 부모가 먼저 흉내 내는 말을 들려주고 따라 하게 합니다.
- 보충으로도 어렵다면 2학년 ‘낱말의 관계’(KR22-G02-KOR-VOCAB-L01)와 3학년 ‘감각적 표현’(KR22-G03-KOR-SENSORY-L01)을 먼저 합니다. 문장의 짜임(S02 ①②④)이 흔들리면 계획상 앞 차시인 ‘문장의 기본 짜임’(KR22-G04-KOR-SENTFORM-L01)을 다시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언어문학매체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표현의 효과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표현의 효과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국어 · 표현의 효과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표현의 효과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쓰면 장면이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눈앞에 그려질까?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흉내 내는 말과 비유 표현을 찾을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표현의 효과를 말하고 바꾸어 쓸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문장을 살펴봐요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아기가 아장아장 걷는다.</a:t>
            </a:r>
            <a:endParaRPr lang="ko-KR" sz="30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‘누가’ 부분은?</a:t>
            </a:r>
            <a:endParaRPr lang="ko-KR" sz="3000" dirty="0"/>
          </a:p>
        </p:txBody>
      </p:sp>
      <p:sp>
        <p:nvSpPr>
          <p:cNvPr id="6" name="S02-chip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7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짜임인가요?</a:t>
            </a:r>
            <a:endParaRPr lang="ko-KR" sz="30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모양을 흉내 낸 말은?</a:t>
            </a:r>
            <a:endParaRPr lang="ko-KR" sz="3000" dirty="0"/>
          </a:p>
        </p:txBody>
      </p:sp>
      <p:sp>
        <p:nvSpPr>
          <p:cNvPr id="10" name="S02-chip10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02-text11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‘고래는 동물이다.’는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짜임?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내는 말</a:t>
            </a:r>
            <a:endParaRPr lang="ko-KR" sz="4000" dirty="0"/>
          </a:p>
        </p:txBody>
      </p:sp>
      <p:sp>
        <p:nvSpPr>
          <p:cNvPr id="3" name="S03-card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내는 말은 소리나 모양을 흉내 내어 나타낸 말이에요.</a:t>
            </a:r>
            <a:endParaRPr lang="ko-KR" sz="3000" dirty="0"/>
          </a:p>
        </p:txBody>
      </p:sp>
      <p:sp>
        <p:nvSpPr>
          <p:cNvPr id="5" name="S03-card14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5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흉내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귀로 들은 소리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후두둑, 똑딱똑딱</a:t>
            </a:r>
            <a:endParaRPr lang="ko-KR" sz="3000" dirty="0"/>
          </a:p>
        </p:txBody>
      </p:sp>
      <p:sp>
        <p:nvSpPr>
          <p:cNvPr id="7" name="S03-card16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7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 흉내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눈으로 본 모양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아장아장, 반짝반짝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문장이 더 생생할까?</a:t>
            </a:r>
            <a:endParaRPr lang="ko-KR" sz="4000" dirty="0"/>
          </a:p>
        </p:txBody>
      </p:sp>
      <p:sp>
        <p:nvSpPr>
          <p:cNvPr id="3" name="S04-card1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눈을 감고 두 문장을 들어 보세요.</a:t>
            </a:r>
            <a:endParaRPr lang="ko-KR" sz="3000" dirty="0"/>
          </a:p>
        </p:txBody>
      </p:sp>
      <p:sp>
        <p:nvSpPr>
          <p:cNvPr id="5" name="S04-card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4-cardtext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나를 들으면 무엇이 떠오르나요? ‘가’와 무엇이 다른가요?</a:t>
            </a:r>
            <a:endParaRPr lang="ko-KR" sz="3000" dirty="0"/>
          </a:p>
        </p:txBody>
      </p:sp>
      <p:sp>
        <p:nvSpPr>
          <p:cNvPr id="7" name="S04-chip2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4-text2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빗방울이 떨어진다.</a:t>
            </a:r>
            <a:endParaRPr lang="ko-KR" sz="3000" dirty="0"/>
          </a:p>
        </p:txBody>
      </p:sp>
      <p:sp>
        <p:nvSpPr>
          <p:cNvPr id="9" name="S04-chip2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4-text2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빗방울이 후두둑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떨어진다.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비유: 빗대어 말하기</a:t>
            </a:r>
            <a:endParaRPr lang="ko-KR" sz="4000" dirty="0"/>
          </a:p>
        </p:txBody>
      </p:sp>
      <p:sp>
        <p:nvSpPr>
          <p:cNvPr id="3" name="S05-text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비유: 닮은 점이 있는 다른 것에 빗대어 말하는 것</a:t>
            </a:r>
            <a:endParaRPr lang="ko-KR" sz="3000" dirty="0"/>
          </a:p>
        </p:txBody>
      </p:sp>
      <p:sp>
        <p:nvSpPr>
          <p:cNvPr id="4" name="S05-card27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8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볼과 사과는 둘 다 빨개요.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닮은 점이 있어야 빗댈 수 있어요.</a:t>
            </a:r>
            <a:endParaRPr lang="ko-KR" sz="3000" dirty="0"/>
          </a:p>
        </p:txBody>
      </p:sp>
      <p:sp>
        <p:nvSpPr>
          <p:cNvPr id="6" name="S05-card29"/>
          <p:cNvSpPr/>
          <p:nvPr/>
        </p:nvSpPr>
        <p:spPr>
          <a:xfrm>
            <a:off x="548640" y="2273808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30"/>
          <p:cNvSpPr txBox="1"/>
          <p:nvPr/>
        </p:nvSpPr>
        <p:spPr>
          <a:xfrm>
            <a:off x="822960" y="2410968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‘~처럼·~같이’ (직유)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볼이 사과처럼 빨갛다.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솜사탕 같은 구름</a:t>
            </a:r>
            <a:endParaRPr lang="ko-KR" sz="3000" dirty="0"/>
          </a:p>
        </p:txBody>
      </p:sp>
      <p:sp>
        <p:nvSpPr>
          <p:cNvPr id="8" name="S05-card31"/>
          <p:cNvSpPr/>
          <p:nvPr/>
        </p:nvSpPr>
        <p:spPr>
          <a:xfrm>
            <a:off x="6208776" y="2273808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5-cardtext32"/>
          <p:cNvSpPr txBox="1"/>
          <p:nvPr/>
        </p:nvSpPr>
        <p:spPr>
          <a:xfrm>
            <a:off x="6483096" y="2410968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‘~은 ~이다’ (은유)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아빠의 등은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넓은 운동장이다.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무엇에 빗대었을까?</a:t>
            </a:r>
            <a:endParaRPr lang="ko-KR" sz="4000" dirty="0"/>
          </a:p>
        </p:txBody>
      </p:sp>
      <p:sp>
        <p:nvSpPr>
          <p:cNvPr id="3" name="S06-card33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4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닮은 점 덕분에 모습이 더 잘 떠올라요. 이것이 비유의 효과예요.</a:t>
            </a:r>
            <a:endParaRPr lang="ko-KR" sz="3000" dirty="0"/>
          </a:p>
        </p:txBody>
      </p:sp>
      <p:graphicFrame>
        <p:nvGraphicFramePr>
          <p:cNvPr id="7" name="S06-table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083308"/>
          <a:ext cx="1097280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1755648"/>
                <a:gridCol w="1755648"/>
                <a:gridCol w="3072384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닮은 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볼이 사과처럼 빨갛다.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빨갛다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솜사탕 같은 구름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솜사탕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하얗고 폭신하다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아빠의 등은 넓은 운동장이다.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아빠의 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운동장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넓다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표현의 효과를 말하는 방법</a:t>
            </a:r>
            <a:endParaRPr lang="ko-KR" sz="4000" dirty="0"/>
          </a:p>
        </p:txBody>
      </p:sp>
      <p:sp>
        <p:nvSpPr>
          <p:cNvPr id="3" name="S07-card36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7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‘바람처럼 달렸다’에서 아주 빠르게 달리는 모습이 떠올라요.</a:t>
            </a:r>
            <a:endParaRPr lang="ko-KR" sz="3000" dirty="0"/>
          </a:p>
        </p:txBody>
      </p:sp>
      <p:sp>
        <p:nvSpPr>
          <p:cNvPr id="5" name="S07-stepno38"/>
          <p:cNvSpPr txBox="1"/>
          <p:nvPr/>
        </p:nvSpPr>
        <p:spPr>
          <a:xfrm>
            <a:off x="548640" y="1684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7-text39"/>
          <p:cNvSpPr txBox="1"/>
          <p:nvPr/>
        </p:nvSpPr>
        <p:spPr>
          <a:xfrm>
            <a:off x="1325880" y="168402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표현을 찾아 손가락으로 짚어요.</a:t>
            </a:r>
            <a:endParaRPr lang="ko-KR" sz="3000" dirty="0"/>
          </a:p>
        </p:txBody>
      </p:sp>
      <p:sp>
        <p:nvSpPr>
          <p:cNvPr id="7" name="S07-stepno40"/>
          <p:cNvSpPr txBox="1"/>
          <p:nvPr/>
        </p:nvSpPr>
        <p:spPr>
          <a:xfrm>
            <a:off x="548640" y="2397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7-text41"/>
          <p:cNvSpPr txBox="1"/>
          <p:nvPr/>
        </p:nvSpPr>
        <p:spPr>
          <a:xfrm>
            <a:off x="1325880" y="239725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내는 말이면 떠오르는 소리나 모양을 말해요.</a:t>
            </a:r>
            <a:endParaRPr lang="ko-KR" sz="3000" dirty="0"/>
          </a:p>
        </p:txBody>
      </p:sp>
      <p:sp>
        <p:nvSpPr>
          <p:cNvPr id="9" name="S07-stepno42"/>
          <p:cNvSpPr txBox="1"/>
          <p:nvPr/>
        </p:nvSpPr>
        <p:spPr>
          <a:xfrm>
            <a:off x="548640" y="31104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7-text43"/>
          <p:cNvSpPr txBox="1"/>
          <p:nvPr/>
        </p:nvSpPr>
        <p:spPr>
          <a:xfrm>
            <a:off x="1325880" y="311048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비유면 무엇을 무엇에 빗대었는지, 닮은 점을 말해요.</a:t>
            </a:r>
            <a:endParaRPr lang="ko-KR" sz="3000" dirty="0"/>
          </a:p>
        </p:txBody>
      </p:sp>
      <p:sp>
        <p:nvSpPr>
          <p:cNvPr id="11" name="S07-stepno44"/>
          <p:cNvSpPr txBox="1"/>
          <p:nvPr/>
        </p:nvSpPr>
        <p:spPr>
          <a:xfrm>
            <a:off x="548640" y="38237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7-text45"/>
          <p:cNvSpPr txBox="1"/>
          <p:nvPr/>
        </p:nvSpPr>
        <p:spPr>
          <a:xfrm>
            <a:off x="1325880" y="382371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“‘~’에서 …이 떠올라요.”로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비유일까요?</a:t>
            </a:r>
            <a:endParaRPr lang="ko-KR" sz="4000" dirty="0"/>
          </a:p>
        </p:txBody>
      </p:sp>
      <p:sp>
        <p:nvSpPr>
          <p:cNvPr id="3" name="S08-card4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문장 모두 ‘무엇이 + 무엇이다’ 짜임이에요.</a:t>
            </a:r>
            <a:endParaRPr lang="ko-KR" sz="3000" dirty="0"/>
          </a:p>
        </p:txBody>
      </p:sp>
      <p:sp>
        <p:nvSpPr>
          <p:cNvPr id="5" name="S08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빗대어 말한 것일까요? 무엇을 무엇에 빗대었나요?</a:t>
            </a:r>
            <a:endParaRPr lang="ko-KR" sz="3000" dirty="0"/>
          </a:p>
        </p:txBody>
      </p:sp>
      <p:sp>
        <p:nvSpPr>
          <p:cNvPr id="7" name="S08-chip5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8-text5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고래는 동물이다.</a:t>
            </a:r>
            <a:endParaRPr lang="ko-KR" sz="3000" dirty="0"/>
          </a:p>
        </p:txBody>
      </p:sp>
      <p:sp>
        <p:nvSpPr>
          <p:cNvPr id="9" name="S08-chip5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8-text5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동생은 우리 집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알람 시계이다.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‘운동회 날’ 함께 읽기</a:t>
            </a:r>
            <a:endParaRPr lang="ko-KR" sz="4000" dirty="0"/>
          </a:p>
        </p:txBody>
      </p:sp>
      <p:sp>
        <p:nvSpPr>
          <p:cNvPr id="3" name="S09-card54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55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내는 말과 비유를 모두 찾고, 하나를 골라 효과를 말해 봐요.</a:t>
            </a:r>
            <a:endParaRPr lang="ko-KR" sz="3000" dirty="0"/>
          </a:p>
        </p:txBody>
      </p:sp>
      <p:sp>
        <p:nvSpPr>
          <p:cNvPr id="5" name="S09-passagebox56"/>
          <p:cNvSpPr/>
          <p:nvPr/>
        </p:nvSpPr>
        <p:spPr>
          <a:xfrm>
            <a:off x="548640" y="1325880"/>
            <a:ext cx="11091672" cy="3404616"/>
          </a:xfrm>
          <a:prstGeom prst="roundRect">
            <a:avLst>
              <a:gd name="adj" fmla="val 2686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9-passage57"/>
          <p:cNvSpPr txBox="1"/>
          <p:nvPr/>
        </p:nvSpPr>
        <p:spPr>
          <a:xfrm>
            <a:off x="822960" y="1508760"/>
            <a:ext cx="10543032" cy="303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운동회 날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운동회 날 아침, 하늘은 파란 도화지 같았다. 출발 소리가 탕 울리자 나는 바람처럼 달렸다. 내 가슴은 쿵쾅쿵쾅 뛰었다. 친구들의 응원 소리는 커다란 북소리였다.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표현을 넣어 바꾸어 써요</a:t>
            </a:r>
            <a:endParaRPr lang="ko-KR" sz="4000" dirty="0"/>
          </a:p>
        </p:txBody>
      </p:sp>
      <p:sp>
        <p:nvSpPr>
          <p:cNvPr id="3" name="S10-text5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화살표 뒤의 표현을 넣어 문장을 바꾸어 말해요.</a:t>
            </a:r>
            <a:endParaRPr lang="ko-KR" sz="3000" dirty="0"/>
          </a:p>
        </p:txBody>
      </p:sp>
      <p:sp>
        <p:nvSpPr>
          <p:cNvPr id="4" name="S10-card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바꾼 문장에서 무엇이 더 잘 떠오르는지도 말해요.</a:t>
            </a:r>
            <a:endParaRPr lang="ko-KR" sz="3000" dirty="0"/>
          </a:p>
        </p:txBody>
      </p:sp>
      <p:sp>
        <p:nvSpPr>
          <p:cNvPr id="6" name="S10-chip6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0-text62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아기가 걷는다. → 모양 흉내 내는 말</a:t>
            </a:r>
            <a:endParaRPr lang="ko-KR" sz="3000" dirty="0"/>
          </a:p>
        </p:txBody>
      </p:sp>
      <p:sp>
        <p:nvSpPr>
          <p:cNvPr id="8" name="S10-chip6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0-text64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시냇물이 흐른다. → 소리 흉내 내는 말</a:t>
            </a:r>
            <a:endParaRPr lang="ko-KR" sz="3000" dirty="0"/>
          </a:p>
        </p:txBody>
      </p:sp>
      <p:sp>
        <p:nvSpPr>
          <p:cNvPr id="10" name="S10-chip6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0-text66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눈이 하얗다. → ‘~처럼’ 비유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ard67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68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내는 말 두 개와 비유 두 개를 찾고,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비유는 무엇을 무엇에 빗대었는지 말해 보세요.</a:t>
            </a:r>
            <a:endParaRPr lang="ko-KR" sz="3000" dirty="0"/>
          </a:p>
        </p:txBody>
      </p:sp>
      <p:sp>
        <p:nvSpPr>
          <p:cNvPr id="5" name="S11-passagebox69"/>
          <p:cNvSpPr/>
          <p:nvPr/>
        </p:nvSpPr>
        <p:spPr>
          <a:xfrm>
            <a:off x="548640" y="1325880"/>
            <a:ext cx="11091672" cy="3404616"/>
          </a:xfrm>
          <a:prstGeom prst="roundRect">
            <a:avLst>
              <a:gd name="adj" fmla="val 2686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1-passage70"/>
          <p:cNvSpPr txBox="1"/>
          <p:nvPr/>
        </p:nvSpPr>
        <p:spPr>
          <a:xfrm>
            <a:off x="822960" y="1508760"/>
            <a:ext cx="10543032" cy="303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고양이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우리 집 고양이 보리는 털이 솜이불처럼 보드랍다. 보리는 소파 밑으로 살금살금 들어간다. 배가 고프면 야옹야옹 운다. 보리의 눈은 동그란 구슬이다.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2-card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비유는 무엇을 무엇에 빗대었는지, 닮은 점까지 말해요.</a:t>
            </a:r>
            <a:endParaRPr lang="ko-KR" sz="3000" dirty="0"/>
          </a:p>
        </p:txBody>
      </p:sp>
      <p:sp>
        <p:nvSpPr>
          <p:cNvPr id="5" name="S12-chip73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2-text74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살금살금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야옹야옹</a:t>
            </a:r>
            <a:endParaRPr lang="ko-KR" sz="3000" dirty="0"/>
          </a:p>
        </p:txBody>
      </p:sp>
      <p:sp>
        <p:nvSpPr>
          <p:cNvPr id="7" name="S12-text75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</a:t>
            </a:r>
            <a:endParaRPr lang="ko-KR" sz="2400" dirty="0"/>
          </a:p>
        </p:txBody>
      </p:sp>
      <p:sp>
        <p:nvSpPr>
          <p:cNvPr id="8" name="S12-text76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솜이불처럼</a:t>
            </a:r>
            <a:endParaRPr lang="ko-KR" sz="3000" dirty="0"/>
          </a:p>
        </p:txBody>
      </p:sp>
      <p:sp>
        <p:nvSpPr>
          <p:cNvPr id="9" name="S12-text77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털 → 솜이불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보드랍다</a:t>
            </a:r>
            <a:endParaRPr lang="ko-KR" sz="2400" dirty="0"/>
          </a:p>
        </p:txBody>
      </p:sp>
      <p:sp>
        <p:nvSpPr>
          <p:cNvPr id="10" name="S12-text78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눈은 동그란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구슬이다</a:t>
            </a:r>
            <a:endParaRPr lang="ko-KR" sz="3000" dirty="0"/>
          </a:p>
        </p:txBody>
      </p:sp>
      <p:sp>
        <p:nvSpPr>
          <p:cNvPr id="11" name="S12-text79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 → 구슬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동그랗다</a:t>
            </a:r>
            <a:endParaRPr lang="ko-KR" sz="2400" dirty="0"/>
          </a:p>
        </p:txBody>
      </p:sp>
      <p:sp>
        <p:nvSpPr>
          <p:cNvPr id="12" name="S12-chip8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2-text81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보리, 소파</a:t>
            </a:r>
            <a:endParaRPr lang="ko-KR" sz="3000" dirty="0"/>
          </a:p>
        </p:txBody>
      </p:sp>
      <p:sp>
        <p:nvSpPr>
          <p:cNvPr id="14" name="S12-text82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낱말이에요</a:t>
            </a:r>
            <a:endParaRPr lang="ko-KR" sz="2400" dirty="0"/>
          </a:p>
        </p:txBody>
      </p:sp>
      <p:sp>
        <p:nvSpPr>
          <p:cNvPr id="15" name="S12-text83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“예뻐요.”</a:t>
            </a:r>
            <a:endParaRPr lang="ko-KR" sz="3000" dirty="0"/>
          </a:p>
        </p:txBody>
      </p:sp>
      <p:sp>
        <p:nvSpPr>
          <p:cNvPr id="16" name="S12-text84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떠오르는지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말해요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효과를 말하고 만들어요</a:t>
            </a:r>
            <a:endParaRPr lang="ko-KR" sz="4000" dirty="0"/>
          </a:p>
        </p:txBody>
      </p:sp>
      <p:sp>
        <p:nvSpPr>
          <p:cNvPr id="3" name="S13-text8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말로 먼저 하고 활동지에 써요.</a:t>
            </a:r>
            <a:endParaRPr lang="ko-KR" sz="3000" dirty="0"/>
          </a:p>
        </p:txBody>
      </p:sp>
      <p:sp>
        <p:nvSpPr>
          <p:cNvPr id="4" name="S13-chip8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3-text87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‘바람처럼 달렸다’를 읽으면 무엇이 떠오르나요?</a:t>
            </a:r>
            <a:endParaRPr lang="ko-KR" sz="3000" dirty="0"/>
          </a:p>
        </p:txBody>
      </p:sp>
      <p:sp>
        <p:nvSpPr>
          <p:cNvPr id="6" name="S13-chip8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3-text89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‘시계가 (　　) 간다.’에 흉내 내는 말을 넣어요.</a:t>
            </a:r>
            <a:endParaRPr lang="ko-KR" sz="3000" dirty="0"/>
          </a:p>
        </p:txBody>
      </p:sp>
      <p:sp>
        <p:nvSpPr>
          <p:cNvPr id="8" name="S13-chip9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3-text91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‘우리 집 강아지는 (　　)이다.’ 비유를 만들고 닮은 점을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92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93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내는 말은 소리와 모양을, 비유는 닮은 점을 빗대어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장면과 느낌을 생생하게 떠오르게 해요.</a:t>
            </a:r>
            <a:endParaRPr lang="ko-KR" sz="3000" dirty="0"/>
          </a:p>
        </p:txBody>
      </p:sp>
      <p:sp>
        <p:nvSpPr>
          <p:cNvPr id="5" name="S14-chip94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떠오르는 모습을 짚어 말하기</a:t>
            </a:r>
            <a:endParaRPr lang="ko-KR" sz="2400" dirty="0"/>
          </a:p>
        </p:txBody>
      </p:sp>
      <p:sp>
        <p:nvSpPr>
          <p:cNvPr id="6" name="S14-chip95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“재미있어요.”로 끝내기</a:t>
            </a:r>
            <a:endParaRPr lang="ko-KR" sz="2400" dirty="0"/>
          </a:p>
        </p:txBody>
      </p:sp>
      <p:sp>
        <p:nvSpPr>
          <p:cNvPr id="7" name="S14-text96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97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흉내 내는 말의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가지는?</a:t>
            </a:r>
            <a:endParaRPr lang="ko-KR" sz="2400" dirty="0"/>
          </a:p>
        </p:txBody>
      </p:sp>
      <p:sp>
        <p:nvSpPr>
          <p:cNvPr id="9" name="S14-text98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비유의 두 가지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꼴은?</a:t>
            </a:r>
            <a:endParaRPr lang="ko-KR" sz="2400" dirty="0"/>
          </a:p>
        </p:txBody>
      </p:sp>
      <p:sp>
        <p:nvSpPr>
          <p:cNvPr id="10" name="S14-text99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‘볼이 사과처럼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빨갛다’의 닮은 점은?</a:t>
            </a:r>
            <a:endParaRPr lang="ko-KR" sz="2400" dirty="0"/>
          </a:p>
        </p:txBody>
      </p:sp>
      <p:sp>
        <p:nvSpPr>
          <p:cNvPr id="11" name="S14-text10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매체 자료 비교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소리와 모양 흉내</a:t>
            </a:r>
            <a:endParaRPr lang="ko-KR" sz="4000" dirty="0"/>
          </a:p>
        </p:txBody>
      </p:sp>
      <p:sp>
        <p:nvSpPr>
          <p:cNvPr id="3" name="S15-text10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 있는 물건으로 소리와 모양을 흉내 내 봐요.</a:t>
            </a:r>
            <a:endParaRPr lang="ko-KR" sz="3000" dirty="0"/>
          </a:p>
        </p:txBody>
      </p:sp>
      <p:sp>
        <p:nvSpPr>
          <p:cNvPr id="4" name="S15-card10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0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귀로 들으면 소리 흉내, 눈으로 보면 모양 흉내예요.</a:t>
            </a:r>
            <a:endParaRPr lang="ko-KR" sz="3000" dirty="0"/>
          </a:p>
        </p:txBody>
      </p:sp>
      <p:sp>
        <p:nvSpPr>
          <p:cNvPr id="6" name="S15-word104"/>
          <p:cNvSpPr txBox="1"/>
          <p:nvPr/>
        </p:nvSpPr>
        <p:spPr>
          <a:xfrm>
            <a:off x="548640" y="26974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땡땡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 두드리기(소리)</a:t>
            </a:r>
            <a:endParaRPr lang="ko-KR" sz="3400" dirty="0"/>
          </a:p>
        </p:txBody>
      </p:sp>
      <p:sp>
        <p:nvSpPr>
          <p:cNvPr id="7" name="S15-word105"/>
          <p:cNvSpPr txBox="1"/>
          <p:nvPr/>
        </p:nvSpPr>
        <p:spPr>
          <a:xfrm>
            <a:off x="4337304" y="26974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바스락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구기기(소리)</a:t>
            </a:r>
            <a:endParaRPr lang="ko-KR" sz="3400" dirty="0"/>
          </a:p>
        </p:txBody>
      </p:sp>
      <p:sp>
        <p:nvSpPr>
          <p:cNvPr id="8" name="S15-word106"/>
          <p:cNvSpPr txBox="1"/>
          <p:nvPr/>
        </p:nvSpPr>
        <p:spPr>
          <a:xfrm>
            <a:off x="8125968" y="26974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살금살금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손가락 걷기(모양)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국어 표현의 효과</dc:title>
  <dc:subject>KR22-G04-KOR-EXPRESS-L01</dc:subject>
  <dc:creator>education-ppt</dc:creator>
  <cp:lastModifiedBy>education-ppt</cp:lastModifiedBy>
  <cp:revision>1</cp:revision>
  <dcterms:created xsi:type="dcterms:W3CDTF">2026-10-26T08:17:01Z</dcterms:created>
  <dcterms:modified xsi:type="dcterms:W3CDTF">2026-10-26T08:17:01Z</dcterms:modified>
</cp:coreProperties>
</file>