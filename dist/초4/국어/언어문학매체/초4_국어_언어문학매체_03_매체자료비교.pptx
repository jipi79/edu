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28e8839-fd16-28a6-c3f8-f525350e06a5}">
          <p14:sldIdLst>
            <p14:sldId id="256"/>
            <p14:sldId id="257"/>
          </p14:sldIdLst>
        </p14:section>
        <p14:section name="개념" id="{7f1b7cbe-92ca-5b65-f2c2-a6331e4465cb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7242a508-6016-7aba-d78b-c74a1fa69776}">
          <p14:sldIdLst>
            <p14:sldId id="264"/>
            <p14:sldId id="265"/>
          </p14:sldIdLst>
        </p14:section>
        <p14:section name="확인" id="{dc4d618f-cf44-f6c3-92ff-89279dd22d83}">
          <p14:sldIdLst>
            <p14:sldId id="266"/>
            <p14:sldId id="267"/>
            <p14:sldId id="268"/>
          </p14:sldIdLst>
        </p14:section>
        <p14:section name="정리" id="{efc7dbea-5019-1e4c-9049-eaae20a89614}">
          <p14:sldIdLst>
            <p14:sldId id="269"/>
          </p14:sldIdLst>
        </p14:section>
        <p14:section name="보충" id="{c085b7b4-f760-4116-76d4-def3ae0132f8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같은 내용도 매체에 따라 다르게 전해진다는 것에 관심을 갖게 합니다.
시간: 약 2분
이렇게 말해 보세요
- “라면 끓이는 방법을 알고 싶으면 봉지 뒤의 글을 볼 수도 있고, 영상을 볼 수도 있지? 둘은 무엇이 다를까?”
- “신문, 영상, 누리집처럼 정보를 전해 주는 것을 ‘매체’라고 했지. 오늘은 같은 내용을 다룬 두 매체 자료를 비교하고, 믿을 만한지도 따져 볼 거야.”
예상 답
- “영상은 보여 줘요.” “글은 읽어야 해요.”
막히면
- 집에서 최근에 본 영상이나 읽은 안내문을 떠올리게 하고 “그때 무엇으로 알았어?”라고 묻습니다.
주의
- 오늘 화면의 신문, 보건소, 영상, 주민 센터는 수업을 위해 지어낸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확인(장면 차례 읽기, 흉내 내는 말)]
목적: 3학년 ‘매체에서 정보 찾기’(KR22-G03-KOR-MEDIA-L01)에서 배운 영상 장면 차례 읽기(①②)와, 앞 차시 ‘표현의 효과’(KR22-G04-KOR-EXPRESS-L01)에서 배운 흉내 내는 말(③)을 확인합니다. ③은 S06에서 ‘글은 소리를 말로 나타내고, 영상은 소리를 직접 들려준다’는 비교에 씁니다.
시간: 약 3분
이렇게 말해 보세요
- “영상의 장면 차례 읽는 법, 기억나? 앞의 수는 분, 뒤의 수는 초야. ①과 ②를 답해 볼래?”
- “③은 지난 시간에 배운 거야. 귀로 들리는 소리를 흉내 낸 말은?”
정답
- ① 1:20(1분 20초)부터
- ② 0:30(30초)으로 가요.
- ③ 후두둑
막히면
- ①②를 어려워하면 S15(보충)를 먼저 하고, 그래도 어려우면 3학년 ‘매체에서 정보 찾기’(KR22-G03-KOR-MEDIA-L01)를 다시 합니다.
- ③을 어려워하면 앞 차시 ‘표현의 효과’의 S03을 다시 보여 줍니다.
주의
- ‘1:20’을 ‘1시 20분’으로 읽으면 “영상이 한 시간이 넘을까? 1분 20초야.”라고 바로잡아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매체마다 다른 전달 방법]
목적: 매체마다 정보를 전하는 방법(전달 방법)이 다르다는 것을 알려 줍니다(목표 A, 오해 M3).
시간: 약 2분
이렇게 말해 보세요
- “신문 기사는 무엇으로 정보를 전해? 영상은? 라디오는?”
- “‘무엇을 전하는지’는 내용이고, ‘어떻게 전하는지’는 전달 방법이야. 오늘은 둘을 나누어 말해 볼 거야.”
예상 답
- “신문은 글이랑 사진이요. 영상은 움직이고 소리가 나요. 라디오는 소리만 나요.”
막히면
- 집에 있는 신문이나 책을 펼쳐 보이고 “여기에는 소리가 나?”라고 묻습니다.
주의
- 전달 방법을 물었는데 “손 씻기를 알려 줘요.”처럼 내용을 말하면 “그건 무엇을 전하는지야. 어떻게 전해?”라고 되묻습니다.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비교할 자료 가: 신문 기사]
목적: 비교할 첫째 자료(신문 기사)를 함께 읽고 전달 방법(글과 사진)을 확인합니다(목표 A·B).
시간: 약 4분
이렇게 말해 보세요
- “손 씻기에 대한 신문 기사야. 같이 소리 내어 읽어 볼까?”
- “이 기사는 무엇으로 정보를 전해? 맨 아래 작은 글씨에는 무엇이 쓰여 있어?”
- “왜 30초 넘게 씻어야 한다고 했어? 누가 한 말이야?”
예상 답
- “글이랑 사진이요.” “신문 이름, 기자 이름, 날짜요.” “세균을 많이 없앨 수 있어서요. 보건 선생님이 말했어요.”
정답
- 전달 방법: 글과 사진
- 만든 곳·사람: 별빛마을 어린이 신문, 김하늘 기자 / 날짜: 5월 2일 / 근거: 보건 선생님의 말
막히면
- 부모가 한 문단씩 읽어 주고, 아이는 손가락으로 따라가게 합니다.
주의
- 사진은 실제로 넣지 않고 무엇을 찍었는지만 적었습니다. “기사에는 이런 사진이 함께 실려 있다고 생각해 보자.”라고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비교할 자료 나: 짧은 영상]
목적: 비교할 둘째 자료(짧은 영상)를 장면 차례로 살펴보고 전달 방법(화면·소리·자막)을 확인합니다(목표 A·B).
시간: 약 3분
이렇게 말해 보세요
- “같은 손 씻기를 다룬 영상이야. 실제로 틀 수는 없으니 장면 차례로 살펴보자. 0:15에는 어떤 화면이 나오고 무엇이 들려?”
- “이 영상은 누가 만들었고 언제 올렸어?”
예상 답
- “손바닥이랑 손등을 문지르는 화면이 나오고 노래가 나와요.” “별빛마을 보건소가 5월 3일에 올렸어요.”
막히면
- 부모가 장면 차례를 보며 실제로 손 씻는 흉내를 내고, 아이가 시간을 읽게 합니다(0:15는 15초).
주의
- 영상에서는 ‘30초 동안 씻어요’라고만 하고 왜 30초인지는 말하지 않습니다. S06에서 영상의 아쉬운 점으로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두 자료 비교표]
목적: 두 자료를 전달 방법, 장점, 아쉬운 점으로 비교하는 모습을 보여 줍니다(목표 A).
시간: 약 3분
이렇게 말해 보세요
- “두 자료를 세 가지로 견주어 표로 정리했어. 기사의 장점은 무엇이야? 영상의 장점은?”
- “기사에서는 문지르는 소리를 어떻게 나타냈어? 지난 시간에 배운 흉내 내는 말이지. 영상에서는?”
예상 답
- “‘뽀득뽀득’이라고 썼어요. 영상은 물소리가 그냥 들려요.”
막히면
- S04와 S05를 번갈아 보여 주며 표의 칸마다 어느 부분에서 알 수 있는지 짚어 줍니다.
주의
- 장점과 아쉬운 점은 표에 쓴 것 말고도 더 있을 수 있습니다(기사: 붙여 두고 여러 번 읽을 수 있음 / 영상: 노래가 있어 재미있고 기억하기 쉬움). 자료에서 근거를 찾아 말하면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믿을 만한지 확인하는 세 가지 질문]
목적: 매체 자료가 믿을 만한지 확인하는 세 가지 질문을 알려 줍니다(목표 B, 오해 M4).
시간: 약 3분
이렇게 말해 보세요
- “누구나 글이나 영상을 만들어 올릴 수 있어서, 모든 자료가 맞는 건 아니야. 이 세 가지를 물어봐.”
- “가 기사에 세 질문을 해 볼까? 누가? 언제? 근거는? 나 영상은?”
예상 답
- “가는 김하늘 기자, 5월 2일, 보건 선생님 말이 있어요. 나는 보건소, 5월 3일이요. 부풀린 말은 없어요.”
막히면
- S04 맨 아래 줄과 S05 맨 위 줄을 다시 보여 주고 “누가, 언제가 어디에 쓰여 있어?”라고 찾게 합니다.
주의
- 세 질문에 모두 답할 수 있다고 해서 반드시 맞는 자료라는 뜻은 아닙니다. 믿을 만한지 따져 보는 첫걸음이라고 말해 줍니다(더 깊은 확인은 5학년).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매체 자료를 비교하는 순서]
목적: 지금까지 한 일을 매체 자료를 비교하는 순서로 정리합니다(목표 A·B).
시간: 약 2분
이렇게 말해 보세요
- “손 씻기 기사와 영상으로 우리가 한 순서야. 하나씩 같이 읽어 볼까?”
- “5번 ‘목적에 맞는 자료’는 다음 장에서 연습해 볼 거야.”
예상 답
- 아이가 1~5를 자기 말로 다시 말합니다.
막히면
- S04~S07을 차례로 넘기며 단계마다 무엇을 했는지 짚어 봅니다.
주의
- 아이가 지치면 여기서 쉬고, 다음 날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목적에 맞는 자료 고르기]
목적: 목적에 따라 알맞은 자료가 달라진다는 것을 알고, 장점을 근거로 자료를 고릅니다(목표 A, 오해 M1). 활동지 3에 같은 문제가 있습니다.
시간: 약 3분
이렇게 말해 보세요
- “①은 어느 자료가 좋을까? 왜?”
- “②는 영상에도 30초가 나오는데, 왜 30초인지 알려 주는 건 어느 쪽이야?”
정답
- ① 나(영상). 씻는 모습을 보며 따라 하기 쉽고, 노래가 있어 동생도 재미있게 볼 수 있습니다.
- ② 가(신문 기사). 보건 선생님의 말로 까닭(세균을 많이 없앨 수 있음)을 알려 줍니다.
- ③ 나(영상). 손가락 사이·손톱 밑을 문지르는 움직임을 직접 보여 줍니다.
막히면
- S06의 표에서 ‘장점’ 줄을 손가락으로 짚으며 “이 상황에 필요한 장점은 어느 쪽이야?”라고 묻습니다.
주의
- 아이가 모든 문제에 ‘영상’이라고 하면 ②를 다시 읽게 하고 “영상에서 까닭을 말해 줬어?”라고 묻습니다. 까닭을 들어 다른 답을 말하면 받아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오해 비교(조회 수와 믿을 만함)]
목적: 조회 수가 많은 것과 믿을 만한 것은 다르다는 것을 세 가지 질문으로 확인합니다(목표 B, 오해 M2·M4).
시간: 약 3분
이렇게 말해 보세요
- “다 영상은 100만 명이 봤대. 그럼 믿을 만할까? 세 가지 질문을 해 볼까?”
- “‘절대 안 걸려요’는 정말일까? 비누만 쓰면 감기에 절대 안 걸릴까?”
정답
- 나. 만든 곳(별빛마을 보건소)과 올린 날(5월 3일)이 있고 부풀린 말이 없습니다.
- 다는 누가, 언제 만들었는지 알 수 없고 ‘절대’라는 부풀린 말이 있습니다. 비누를 팔려는 광고일 수도 있습니다. 조회 수가 많다고 믿을 만한 것은 아닙니다.
막히면
- S07의 세 질문 카드를 보여 주고 다와 나에 하나씩 ○, ×를 해 보게 합니다.
주의
- ‘다’도 손을 씻자는 내용은 같습니다. 내용이 틀렸다기보다 믿을 만한지 확인할 수 없다는 점을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비교하기(안내문과 영상)]
목적: 도움 없이 처음 보는 두 자료의 전달 방법과 장점을 비교하고, 목적에 맞는 자료를 고르는지 확인합니다(목표 A). 활동지 4에 씁니다.
시간: 약 5분
이렇게 말해 보세요
- “이번에는 혼자 해 볼래? S08의 순서대로 두 자료를 비교해서 ①, ②, ③에 답해 줘.”
정답
- ① 가는 글로, 나는 움직이는 화면과 목소리, 자막으로 전합니다.
- ② 가: 게시판에 붙어 있어 지나갈 때마다 다시 볼 수 있고, 차례가 짧게 정리되어 있다. 나: 헹구고 펼치는 모습을 보며 따라 하기 쉽다. (자료에서 근거를 찾아 말하면 맞음)
- ③ 나(영상). 펼치는 손의 움직임을 직접 보여 줍니다.
막히면
- ①에서 ‘우유 팩 버리는 법이요’처럼 내용을 말하면 “그건 무엇을 전하는지야. 무엇으로 전해?”라고 되묻습니다(오해 M3).
- 도움을 받아 비교했다면 기록표에 ‘도움’으로 표시합니다.
주의
- 두 자료 모두 만든 곳과 날짜가 있습니다. 아이가 스스로 “둘 다 믿을 만해요.”라고 말하면 칭찬해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 답이 왼쪽과 비슷해? ②의 장점은 다르게 말해도 자료에서 찾은 까닭이 있으면 맞아.”
예상 답
- “안내문은 게시판에 붙어 있어서 또 볼 수 있어요.”
정답
- ① 가: 글, 나: 화면·목소리·자막 ② 가: 붙어 있어 다시 보기 쉽고 차례가 짧게 정리됨, 나: 모습을 보며 따라 하기 쉬움 ③ 나
막히면
- S06의 표처럼 두 자료를 세 줄 표로 함께 정리해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확인(믿을 만한 자료 고르기)]
목적: 처음 보는 자료 세 개를 세 가지 질문으로 따져 가장 믿을 만한 것을 고르는지 확인합니다(목표 B, 오해 M4). 활동지 5에 씁니다.
시간: 약 3분
이렇게 말해 보세요
- “세 자료에 세 가지 질문을 해 볼래? 누가, 언제, 근거와 부풀린 말.”
정답
- 나. 만든 곳(별빛마을 보건소)과 날짜(4월 10일)가 있고, ‘좋아요’처럼 부풀리지 않고 말했습니다.
- 가: 누가·언제 만들었는지 알 수 없고 ‘100%’라는 부풀린 말이 있습니다(물을 팔려는 광고일 수 있음). 다: 친구가 날짜 없이, 근거 없이 ‘우유만’, ‘엄청’이라고 부풀렸습니다.
막히면
- S07의 카드를 보여 주고 가·나·다에 질문을 하나씩 해 보게 합니다.
주의
- 답만 고르고 세 가지 질문으로 까닭을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 다음 차시는 계획상 5학년 국어의 첫 차시입니다.
시간: 약 2분
이렇게 말해 보세요
- “두 매체 자료를 비교할 때 무엇을 보면 되는지 한 문장으로 말해 볼래?”
예상 답
- “어떻게 전하는지, 좋은 점, 믿을 만한지를 봐요.”
정답
- ① 신문 기사: 글과 사진, 영상: 움직이는 화면·소리·자막 ② 누가 만들었나요? 언제 만들었나요? 근거가 있고 부풀린 말은 없나요? ③ 한 번 더 의심하고 누가·언제 만들었는지, 근거가 있는지 확인한다
막히면
- S06과 S07을 다시 보여 줍니다.
주의
- 아이와 함께 영상을 볼 때 “이 영상은 누가 언제 만들었을까?”라고 물어 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보충(집에 있는 매체 자료 살펴보기)]
목적: 손에 잡히는 종이 매체 자료에서 만든 곳, 날짜, 전달 방법을 찾아보며 매체 자료를 살펴보는 힘을 다집니다.
시간: 약 4분
이렇게 말해 보세요
- (집에 있는 안내문이나 과자 상자를 보여 주며) “이건 누가 만들었을까? 어디에 쓰여 있어?”
- “날짜는 있어? 이 자료는 글로 전해, 그림이나 사진으로도 전해?”
정답
- 예(과자 상자): 만든 곳은 상자 옆면의 회사 이름, 날짜는 만든 날·유통 기한, 전달 방법은 글과 사진. 자료에서 짚어 말하면 맞음
막히면
- 부모가 먼저 한 곳을 짚어 보여 주고 나머지를 아이가 찾게 합니다. 장면 차례 읽기(S02 ①②)가 흔들리면 3학년 ‘매체에서 정보 찾기’(KR22-G03-KOR-MEDIA-L01)의 S09~S10을 다시 합니다.
- 보충으로도 어렵다면 3학년 ‘매체에서 정보 찾기’(KR22-G03-KOR-MEDIA-L01)를 먼저 다시 합니다. 계획상 앞 차시인 ‘표현의 효과’(KR22-G04-KOR-EXPRESS-L01)는 S06의 흉내 내는 말에만 쓰이므로, 흉내 내는 말을 모를 때만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언어문학매체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매체 자료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매체 자료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국어 · 매체 자료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매체 자료 비교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내용을 글과 영상으로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보면 무엇이 다를까?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두 매체 자료의 전달 방법과 장점을 비교할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매체 자료가 믿을 만한지 확인할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기억나요?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‘종이비행기 접기’ 영상의 장면 차례예요.</a:t>
            </a:r>
            <a:endParaRPr lang="ko-KR" sz="3000" dirty="0"/>
          </a:p>
        </p:txBody>
      </p:sp>
      <p:graphicFrame>
        <p:nvGraphicFramePr>
          <p:cNvPr id="3" name="S02-table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2834" y="2933700"/>
          <a:ext cx="45720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97180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0:30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1:20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접는 순서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날려 보기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접는 순서는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분 몇 초부터?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준비물을 다시 보려면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갈까요?</a:t>
            </a:r>
            <a:endParaRPr lang="ko-KR" sz="3000" dirty="0"/>
          </a:p>
        </p:txBody>
      </p:sp>
      <p:sp>
        <p:nvSpPr>
          <p:cNvPr id="9" name="S02-chip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02-text10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‘빗방울이 후두둑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떨어진다.’에서 소리를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낸 말은?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매체마다 전하는 방법이 달라요</a:t>
            </a:r>
            <a:endParaRPr lang="ko-KR" sz="4000" dirty="0"/>
          </a:p>
        </p:txBody>
      </p:sp>
      <p:sp>
        <p:nvSpPr>
          <p:cNvPr id="3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내용(무엇을)이라도 전하는 방법(어떻게)이 달라요.</a:t>
            </a:r>
            <a:endParaRPr lang="ko-KR" sz="3000" dirty="0"/>
          </a:p>
        </p:txBody>
      </p:sp>
      <p:sp>
        <p:nvSpPr>
          <p:cNvPr id="5" name="S03-card13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4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신문 기사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글과 사진으로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전해요</a:t>
            </a:r>
            <a:endParaRPr lang="ko-KR" sz="3000" dirty="0"/>
          </a:p>
        </p:txBody>
      </p:sp>
      <p:sp>
        <p:nvSpPr>
          <p:cNvPr id="7" name="S03-card15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6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움직이는 화면,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소리, 자막으로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전해요</a:t>
            </a:r>
            <a:endParaRPr lang="ko-KR" sz="3000" dirty="0"/>
          </a:p>
        </p:txBody>
      </p:sp>
      <p:sp>
        <p:nvSpPr>
          <p:cNvPr id="9" name="S03-card17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8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라디오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소리로만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가: 어린이 신문 기사</a:t>
            </a:r>
            <a:endParaRPr lang="ko-KR" sz="4000" dirty="0"/>
          </a:p>
        </p:txBody>
      </p:sp>
      <p:sp>
        <p:nvSpPr>
          <p:cNvPr id="3" name="S04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기사는 무엇으로 정보를 전하나요?</a:t>
            </a:r>
            <a:endParaRPr lang="ko-KR" sz="3000" dirty="0"/>
          </a:p>
        </p:txBody>
      </p:sp>
      <p:sp>
        <p:nvSpPr>
          <p:cNvPr id="5" name="S04-passagebox2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손은 30초 넘게 꼼꼼히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별빛초등학교 보건 선생님은 “30초 넘게 비누로 씻으면 손의 세균을 많이 없앨 수 있어요.”라고 말했습니다.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손바닥, 손등, 손가락 사이, 손톱 밑까지 거품을 내어 뽀득뽀득 문지른 뒤 흐르는 물에 헹굽니다.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(사진: 비누 거품을 낸 두 손)</a:t>
            </a:r>
            <a:endParaRPr lang="ko-KR" sz="2600" dirty="0"/>
          </a:p>
          <a:p>
            <a:pPr eaLnBrk="0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별빛마을 어린이 신문 · 김하늘 기자 · 5월 2일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손 씻기 영상</a:t>
            </a:r>
            <a:endParaRPr lang="ko-KR" sz="40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‘30초 손 씻기’ · 별빛마을 보건소 · 5월 3일 올림</a:t>
            </a:r>
            <a:endParaRPr lang="ko-KR" sz="3000" dirty="0"/>
          </a:p>
        </p:txBody>
      </p:sp>
      <p:sp>
        <p:nvSpPr>
          <p:cNvPr id="4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영상은 움직이는 화면과 소리, 자막으로 전해요.</a:t>
            </a:r>
            <a:endParaRPr lang="ko-KR" sz="3000" dirty="0"/>
          </a:p>
        </p:txBody>
      </p:sp>
      <p:graphicFrame>
        <p:nvGraphicFramePr>
          <p:cNvPr id="6" name="S05-table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385060"/>
          <a:ext cx="10972800" cy="914400"/>
        </p:xfrm>
        <a:graphic>
          <a:graphicData uri="http://schemas.openxmlformats.org/drawingml/2006/table">
            <a:tbl>
              <a:tblPr/>
              <a:tblGrid>
                <a:gridCol w="1316736"/>
                <a:gridCol w="4389120"/>
                <a:gridCol w="5266944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소리·자막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비누로 거품 내는 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물소리, “30초 동안 씻어요.”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0:15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손바닥·손등 문지르기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노래, 자막 ‘손등도 꼼꼼히’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0:35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손가락 사이·손톱 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자막 ‘손톱 밑까지!’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0:55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흐르는 물에 헹구기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물소리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가와 나를 비교하면</a:t>
            </a:r>
            <a:endParaRPr lang="ko-KR" sz="4000" dirty="0"/>
          </a:p>
        </p:txBody>
      </p:sp>
      <p:sp>
        <p:nvSpPr>
          <p:cNvPr id="3" name="S06-card2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기사는 ‘뽀득뽀득’처럼 소리를 말로 나타내고, 영상은 소리를 직접 들려줘요.</a:t>
            </a:r>
            <a:endParaRPr lang="ko-KR" sz="3000" dirty="0"/>
          </a:p>
        </p:txBody>
      </p:sp>
      <p:graphicFrame>
        <p:nvGraphicFramePr>
          <p:cNvPr id="7" name="S06-table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083308"/>
          <a:ext cx="10972800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4498848"/>
                <a:gridCol w="4498848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신문 기사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 영상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전달 방법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글과 사진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움직이는 화면, 소리, 자막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까닭을 자세히 읽어요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씻는 모습을 보고 따라 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아쉬운 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움직임은 상상해야 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까닭은 나오지 않아요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믿을 만한지 세 가지 질문</a:t>
            </a:r>
            <a:endParaRPr lang="ko-KR" sz="4000" dirty="0"/>
          </a:p>
        </p:txBody>
      </p:sp>
      <p:sp>
        <p:nvSpPr>
          <p:cNvPr id="3" name="S07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‘100%’, ‘절대’처럼 부풀린 말이 있으면 한 번 더 의심해요.</a:t>
            </a:r>
            <a:endParaRPr lang="ko-KR" sz="3000" dirty="0"/>
          </a:p>
        </p:txBody>
      </p:sp>
      <p:sp>
        <p:nvSpPr>
          <p:cNvPr id="5" name="S07-card3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3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누가?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만들었는지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드러나나요?</a:t>
            </a:r>
            <a:endParaRPr lang="ko-KR" sz="3000" dirty="0"/>
          </a:p>
        </p:txBody>
      </p:sp>
      <p:sp>
        <p:nvSpPr>
          <p:cNvPr id="7" name="S07-card3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7-cardtext3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언제?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만들었는지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날짜가 있나요?</a:t>
            </a:r>
            <a:endParaRPr lang="ko-KR" sz="3000" dirty="0"/>
          </a:p>
        </p:txBody>
      </p:sp>
      <p:sp>
        <p:nvSpPr>
          <p:cNvPr id="9" name="S07-card3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3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근거?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있고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부풀린 말은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매체 자료를 비교하는 순서</a:t>
            </a:r>
            <a:endParaRPr lang="ko-KR" sz="4000" dirty="0"/>
          </a:p>
        </p:txBody>
      </p:sp>
      <p:sp>
        <p:nvSpPr>
          <p:cNvPr id="3" name="S08-stepno38"/>
          <p:cNvSpPr txBox="1"/>
          <p:nvPr/>
        </p:nvSpPr>
        <p:spPr>
          <a:xfrm>
            <a:off x="548640" y="20711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8-text39"/>
          <p:cNvSpPr txBox="1"/>
          <p:nvPr/>
        </p:nvSpPr>
        <p:spPr>
          <a:xfrm>
            <a:off x="1325880" y="207111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내용을 다루는지 확인해요.</a:t>
            </a:r>
            <a:endParaRPr lang="ko-KR" sz="3000" dirty="0"/>
          </a:p>
        </p:txBody>
      </p:sp>
      <p:sp>
        <p:nvSpPr>
          <p:cNvPr id="5" name="S08-stepno40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8-text41"/>
          <p:cNvSpPr txBox="1"/>
          <p:nvPr/>
        </p:nvSpPr>
        <p:spPr>
          <a:xfrm>
            <a:off x="1325880" y="278434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 방법을 비교해요.</a:t>
            </a:r>
            <a:endParaRPr lang="ko-KR" sz="3000" dirty="0"/>
          </a:p>
        </p:txBody>
      </p:sp>
      <p:sp>
        <p:nvSpPr>
          <p:cNvPr id="7" name="S08-stepno42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8-text43"/>
          <p:cNvSpPr txBox="1"/>
          <p:nvPr/>
        </p:nvSpPr>
        <p:spPr>
          <a:xfrm>
            <a:off x="1325880" y="349758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장점과 아쉬운 점을 비교해요.</a:t>
            </a:r>
            <a:endParaRPr lang="ko-KR" sz="3000" dirty="0"/>
          </a:p>
        </p:txBody>
      </p:sp>
      <p:sp>
        <p:nvSpPr>
          <p:cNvPr id="9" name="S08-stepno44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8-text45"/>
          <p:cNvSpPr txBox="1"/>
          <p:nvPr/>
        </p:nvSpPr>
        <p:spPr>
          <a:xfrm>
            <a:off x="1325880" y="4210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질문으로 믿을 만한지 봐요.</a:t>
            </a:r>
            <a:endParaRPr lang="ko-KR" sz="3000" dirty="0"/>
          </a:p>
        </p:txBody>
      </p:sp>
      <p:sp>
        <p:nvSpPr>
          <p:cNvPr id="11" name="S08-stepno46"/>
          <p:cNvSpPr txBox="1"/>
          <p:nvPr/>
        </p:nvSpPr>
        <p:spPr>
          <a:xfrm>
            <a:off x="548640" y="4924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2" name="S08-text47"/>
          <p:cNvSpPr txBox="1"/>
          <p:nvPr/>
        </p:nvSpPr>
        <p:spPr>
          <a:xfrm>
            <a:off x="1325880" y="4924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목적에 맞는 자료를 골라요.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때는 어느 자료?</a:t>
            </a:r>
            <a:endParaRPr lang="ko-KR" sz="4000" dirty="0"/>
          </a:p>
        </p:txBody>
      </p:sp>
      <p:sp>
        <p:nvSpPr>
          <p:cNvPr id="3" name="S09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가(신문 기사)와 나(영상) 가운데 골라 까닭을 말해요.</a:t>
            </a:r>
            <a:endParaRPr lang="ko-KR" sz="3000" dirty="0"/>
          </a:p>
        </p:txBody>
      </p:sp>
      <p:sp>
        <p:nvSpPr>
          <p:cNvPr id="4" name="S09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S06의 장점과 아쉬운 점을 떠올려요.</a:t>
            </a:r>
            <a:endParaRPr lang="ko-KR" sz="3000" dirty="0"/>
          </a:p>
        </p:txBody>
      </p:sp>
      <p:sp>
        <p:nvSpPr>
          <p:cNvPr id="6" name="S09-chip5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5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씻기를 처음 배우는 동생과 함께 볼 때</a:t>
            </a:r>
            <a:endParaRPr lang="ko-KR" sz="3000" dirty="0"/>
          </a:p>
        </p:txBody>
      </p:sp>
      <p:sp>
        <p:nvSpPr>
          <p:cNvPr id="8" name="S09-chip5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5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30초 넘게 씻어야 하는지 알고 싶을 때</a:t>
            </a:r>
            <a:endParaRPr lang="ko-KR" sz="3000" dirty="0"/>
          </a:p>
        </p:txBody>
      </p:sp>
      <p:sp>
        <p:nvSpPr>
          <p:cNvPr id="10" name="S09-chip5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5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손톱 밑을 어떻게 문지르는지 보고 싶을 때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영상이 더 믿을 만할까?</a:t>
            </a:r>
            <a:endParaRPr lang="ko-KR" sz="4000" dirty="0"/>
          </a:p>
        </p:txBody>
      </p:sp>
      <p:sp>
        <p:nvSpPr>
          <p:cNvPr id="3" name="S10-card5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5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‘손 씻기’를 찾다가 영상 두 개를 보았어요.</a:t>
            </a:r>
            <a:endParaRPr lang="ko-KR" sz="3000" dirty="0"/>
          </a:p>
        </p:txBody>
      </p:sp>
      <p:sp>
        <p:nvSpPr>
          <p:cNvPr id="5" name="S10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질문으로 따져 보고, 까닭을 말해 봐요.</a:t>
            </a:r>
            <a:endParaRPr lang="ko-KR" sz="3000" dirty="0"/>
          </a:p>
        </p:txBody>
      </p:sp>
      <p:sp>
        <p:nvSpPr>
          <p:cNvPr id="7" name="S10-chip6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8" name="S10-text6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사람: 모름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날: 없음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비누면 감기에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 안 걸려!”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수 100만</a:t>
            </a:r>
            <a:endParaRPr lang="ko-KR" sz="2400" dirty="0"/>
          </a:p>
        </p:txBody>
      </p:sp>
      <p:sp>
        <p:nvSpPr>
          <p:cNvPr id="9" name="S10-chip6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10-text6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곳: 보건소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날: 5월 3일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“30초 동안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씻어요.”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수 300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우유 팩 버리는 방법을 다룬 두 자료예요.</a:t>
            </a:r>
            <a:endParaRPr lang="ko-KR" sz="3000" dirty="0"/>
          </a:p>
        </p:txBody>
      </p:sp>
      <p:sp>
        <p:nvSpPr>
          <p:cNvPr id="4" name="S11-card66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67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전달 방법은 어떻게 달라요?  ② 장점을 하나씩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펼치는 방법을 따라 하려면 어느 자료가 좋아요?</a:t>
            </a:r>
            <a:endParaRPr lang="ko-KR" sz="3000" dirty="0"/>
          </a:p>
        </p:txBody>
      </p:sp>
      <p:graphicFrame>
        <p:nvGraphicFramePr>
          <p:cNvPr id="12" name="S11-table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662428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169664"/>
                <a:gridCol w="4608576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게시판 안내문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 영상(40초)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만든 곳·날짜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관리사무소 · 6월 1일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별빛마을 주민 센터 · 6월 3일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담긴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글: 헹구고 펼쳐 말린 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종이 팩끼리 모아요.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헹구고 펼치는 손 화면,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설명하는 목소리, 자막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전하는지와 어떻게 전하는지를 나누어 말해요.</a:t>
            </a:r>
            <a:endParaRPr lang="ko-KR" sz="3000" dirty="0"/>
          </a:p>
        </p:txBody>
      </p:sp>
      <p:sp>
        <p:nvSpPr>
          <p:cNvPr id="5" name="S12-chip7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72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가: 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화면·소리</a:t>
            </a:r>
            <a:endParaRPr lang="ko-KR" sz="3000" dirty="0"/>
          </a:p>
        </p:txBody>
      </p:sp>
      <p:sp>
        <p:nvSpPr>
          <p:cNvPr id="7" name="S12-text73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전달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endParaRPr lang="ko-KR" sz="2400" dirty="0"/>
          </a:p>
        </p:txBody>
      </p:sp>
      <p:sp>
        <p:nvSpPr>
          <p:cNvPr id="8" name="S12-text74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가: 다시 보기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따라 하기</a:t>
            </a:r>
            <a:endParaRPr lang="ko-KR" sz="3000" dirty="0"/>
          </a:p>
        </p:txBody>
      </p:sp>
      <p:sp>
        <p:nvSpPr>
          <p:cNvPr id="9" name="S12-text75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장점</a:t>
            </a:r>
            <a:endParaRPr lang="ko-KR" sz="2400" dirty="0"/>
          </a:p>
        </p:txBody>
      </p:sp>
      <p:sp>
        <p:nvSpPr>
          <p:cNvPr id="10" name="S12-text76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영상</a:t>
            </a:r>
            <a:endParaRPr lang="ko-KR" sz="3000" dirty="0"/>
          </a:p>
        </p:txBody>
      </p:sp>
      <p:sp>
        <p:nvSpPr>
          <p:cNvPr id="11" name="S12-text77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움직임을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 줌</a:t>
            </a:r>
            <a:endParaRPr lang="ko-KR" sz="2400" dirty="0"/>
          </a:p>
        </p:txBody>
      </p:sp>
      <p:sp>
        <p:nvSpPr>
          <p:cNvPr id="12" name="S12-chip7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2-text7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“우유 팩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이야기예요.”</a:t>
            </a:r>
            <a:endParaRPr lang="ko-KR" sz="3000" dirty="0"/>
          </a:p>
        </p:txBody>
      </p:sp>
      <p:sp>
        <p:nvSpPr>
          <p:cNvPr id="14" name="S12-text8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내용이에요</a:t>
            </a:r>
            <a:endParaRPr lang="ko-KR" sz="2400" dirty="0"/>
          </a:p>
        </p:txBody>
      </p:sp>
      <p:sp>
        <p:nvSpPr>
          <p:cNvPr id="15" name="S12-text8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“영상이 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좋아요.”</a:t>
            </a:r>
            <a:endParaRPr lang="ko-KR" sz="3000" dirty="0"/>
          </a:p>
        </p:txBody>
      </p:sp>
      <p:sp>
        <p:nvSpPr>
          <p:cNvPr id="16" name="S12-text8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목적에 따라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믿을 만한 자료는?</a:t>
            </a:r>
            <a:endParaRPr lang="ko-KR" sz="4000" dirty="0"/>
          </a:p>
        </p:txBody>
      </p:sp>
      <p:sp>
        <p:nvSpPr>
          <p:cNvPr id="3" name="S13-text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‘키 크는 방법’ 자료 세 개예요. 첫 줄은 만든 사람과 날짜예요.</a:t>
            </a:r>
            <a:endParaRPr lang="ko-KR" sz="3000" dirty="0"/>
          </a:p>
        </p:txBody>
      </p:sp>
      <p:sp>
        <p:nvSpPr>
          <p:cNvPr id="4" name="S13-card84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85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까닭과 나머지 두 자료가 아쉬운 점을 세 가지 질문으로 말해요.</a:t>
            </a:r>
            <a:endParaRPr lang="ko-KR" sz="3000" dirty="0"/>
          </a:p>
        </p:txBody>
      </p:sp>
      <p:sp>
        <p:nvSpPr>
          <p:cNvPr id="6" name="S13-chip8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card87"/>
          <p:cNvSpPr/>
          <p:nvPr/>
        </p:nvSpPr>
        <p:spPr>
          <a:xfrm>
            <a:off x="548640" y="2715768"/>
            <a:ext cx="3453384" cy="2014728"/>
          </a:xfrm>
          <a:prstGeom prst="roundRect">
            <a:avLst>
              <a:gd name="adj" fmla="val 544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88"/>
          <p:cNvSpPr txBox="1"/>
          <p:nvPr/>
        </p:nvSpPr>
        <p:spPr>
          <a:xfrm>
            <a:off x="822960" y="2852928"/>
            <a:ext cx="2904744" cy="1740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모름, 날짜 없음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물만 마시면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키가 100% 쑥쑥!”</a:t>
            </a:r>
            <a:endParaRPr lang="ko-KR" sz="2400" dirty="0"/>
          </a:p>
        </p:txBody>
      </p:sp>
      <p:sp>
        <p:nvSpPr>
          <p:cNvPr id="9" name="S13-chip8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3-card90"/>
          <p:cNvSpPr/>
          <p:nvPr/>
        </p:nvSpPr>
        <p:spPr>
          <a:xfrm>
            <a:off x="4367784" y="2715768"/>
            <a:ext cx="3453384" cy="2014728"/>
          </a:xfrm>
          <a:prstGeom prst="roundRect">
            <a:avLst>
              <a:gd name="adj" fmla="val 544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91"/>
          <p:cNvSpPr txBox="1"/>
          <p:nvPr/>
        </p:nvSpPr>
        <p:spPr>
          <a:xfrm>
            <a:off x="4642104" y="2852928"/>
            <a:ext cx="2904744" cy="1740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보건소, 4월 10일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“잠을 잘 자면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크는 데 좋아요.”</a:t>
            </a:r>
            <a:endParaRPr lang="ko-KR" sz="2400" dirty="0"/>
          </a:p>
        </p:txBody>
      </p:sp>
      <p:sp>
        <p:nvSpPr>
          <p:cNvPr id="12" name="S13-chip9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3-card93"/>
          <p:cNvSpPr/>
          <p:nvPr/>
        </p:nvSpPr>
        <p:spPr>
          <a:xfrm>
            <a:off x="8186928" y="2715768"/>
            <a:ext cx="3453384" cy="2014728"/>
          </a:xfrm>
          <a:prstGeom prst="roundRect">
            <a:avLst>
              <a:gd name="adj" fmla="val 544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94"/>
          <p:cNvSpPr txBox="1"/>
          <p:nvPr/>
        </p:nvSpPr>
        <p:spPr>
          <a:xfrm>
            <a:off x="8461248" y="2852928"/>
            <a:ext cx="2904744" cy="1740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하늘이, 날짜 없음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“우유만 마시면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키가 엄청 커!”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5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6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내용도 매체마다 전달 방법과 장점이 달라요.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목적에 맞게 고르고, 세 가지 질문으로 믿을 만한지 확인해요.</a:t>
            </a:r>
            <a:endParaRPr lang="ko-KR" sz="3000" dirty="0"/>
          </a:p>
        </p:txBody>
      </p:sp>
      <p:sp>
        <p:nvSpPr>
          <p:cNvPr id="5" name="S14-chip97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누가·언제·근거 확인하기</a:t>
            </a:r>
            <a:endParaRPr lang="ko-KR" sz="2400" dirty="0"/>
          </a:p>
        </p:txBody>
      </p:sp>
      <p:sp>
        <p:nvSpPr>
          <p:cNvPr id="6" name="S14-chip98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조회 수만 보고 믿기</a:t>
            </a:r>
            <a:endParaRPr lang="ko-KR" sz="2400" dirty="0"/>
          </a:p>
        </p:txBody>
      </p:sp>
      <p:sp>
        <p:nvSpPr>
          <p:cNvPr id="7" name="S14-text99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100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신문 기사와 영상의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 방법은?</a:t>
            </a:r>
            <a:endParaRPr lang="ko-KR" sz="2400" dirty="0"/>
          </a:p>
        </p:txBody>
      </p:sp>
      <p:sp>
        <p:nvSpPr>
          <p:cNvPr id="9" name="S14-text101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믿을 만한지 묻는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질문은?</a:t>
            </a:r>
            <a:endParaRPr lang="ko-KR" sz="2400" dirty="0"/>
          </a:p>
        </p:txBody>
      </p:sp>
      <p:sp>
        <p:nvSpPr>
          <p:cNvPr id="10" name="S14-text102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‘100%’, ‘절대’가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있으면?</a:t>
            </a:r>
            <a:endParaRPr lang="ko-KR" sz="2400" dirty="0"/>
          </a:p>
        </p:txBody>
      </p:sp>
      <p:sp>
        <p:nvSpPr>
          <p:cNvPr id="11" name="S14-text10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단서로 추론하기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집에 있는 자료 살펴보기</a:t>
            </a:r>
            <a:endParaRPr lang="ko-KR" sz="4000" dirty="0"/>
          </a:p>
        </p:txBody>
      </p:sp>
      <p:sp>
        <p:nvSpPr>
          <p:cNvPr id="3" name="S15-text10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안내문이나 과자 상자에서 찾아봐요.</a:t>
            </a:r>
            <a:endParaRPr lang="ko-KR" sz="3000" dirty="0"/>
          </a:p>
        </p:txBody>
      </p:sp>
      <p:sp>
        <p:nvSpPr>
          <p:cNvPr id="4" name="S15-card1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곳을 손가락으로 짚으며 말해요.</a:t>
            </a:r>
            <a:endParaRPr lang="ko-KR" sz="3000" dirty="0"/>
          </a:p>
        </p:txBody>
      </p:sp>
      <p:sp>
        <p:nvSpPr>
          <p:cNvPr id="6" name="S15-word107"/>
          <p:cNvSpPr txBox="1"/>
          <p:nvPr/>
        </p:nvSpPr>
        <p:spPr>
          <a:xfrm>
            <a:off x="548640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누가?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사람·곳</a:t>
            </a:r>
            <a:endParaRPr lang="ko-KR" sz="3400" dirty="0"/>
          </a:p>
        </p:txBody>
      </p:sp>
      <p:sp>
        <p:nvSpPr>
          <p:cNvPr id="7" name="S15-word108"/>
          <p:cNvSpPr txBox="1"/>
          <p:nvPr/>
        </p:nvSpPr>
        <p:spPr>
          <a:xfrm>
            <a:off x="4337304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언제?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</a:t>
            </a:r>
            <a:endParaRPr lang="ko-KR" sz="3400" dirty="0"/>
          </a:p>
        </p:txBody>
      </p:sp>
      <p:sp>
        <p:nvSpPr>
          <p:cNvPr id="8" name="S15-word109"/>
          <p:cNvSpPr txBox="1"/>
          <p:nvPr/>
        </p:nvSpPr>
        <p:spPr>
          <a:xfrm>
            <a:off x="8125968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어떻게?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글·사진·그림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국어 매체 자료 비교</dc:title>
  <dc:subject>KR22-G04-KOR-MEDIACOMP-L01</dc:subject>
  <dc:creator>education-ppt</dc:creator>
  <cp:lastModifiedBy>education-ppt</cp:lastModifiedBy>
  <cp:revision>1</cp:revision>
  <dcterms:created xsi:type="dcterms:W3CDTF">2026-10-26T08:17:21Z</dcterms:created>
  <dcterms:modified xsi:type="dcterms:W3CDTF">2026-10-26T08:17:21Z</dcterms:modified>
</cp:coreProperties>
</file>