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7ca4035f-51ae-e251-5fa2-7bb3f8d26755}">
          <p14:sldIdLst>
            <p14:sldId id="256"/>
            <p14:sldId id="257"/>
          </p14:sldIdLst>
        </p14:section>
        <p14:section name="개념" id="{b51a7ea7-3429-38f0-4fac-646fa70ad1ff}">
          <p14:sldIdLst>
            <p14:sldId id="258"/>
            <p14:sldId id="259"/>
            <p14:sldId id="260"/>
            <p14:sldId id="261"/>
          </p14:sldIdLst>
        </p14:section>
        <p14:section name="연습" id="{19040419-9822-94c2-cea6-d2987f36b2f7}">
          <p14:sldIdLst>
            <p14:sldId id="262"/>
            <p14:sldId id="263"/>
            <p14:sldId id="264"/>
          </p14:sldIdLst>
        </p14:section>
        <p14:section name="확인" id="{e6bd4dcc-edb3-5692-c55a-6f5577771108}">
          <p14:sldIdLst>
            <p14:sldId id="265"/>
            <p14:sldId id="266"/>
            <p14:sldId id="267"/>
          </p14:sldIdLst>
        </p14:section>
        <p14:section name="정리" id="{04c920dd-4877-ece8-07c4-b0cffec928ea}">
          <p14:sldIdLst>
            <p14:sldId id="268"/>
          </p14:sldIdLst>
        </p14:section>
        <p14:section name="보충" id="{add932a6-7570-532a-9a9e-351cf2f40e81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[S01 · 오늘의 질문과 목표]
목적: 오늘 배울 것을 알리고, 문장에는 정해진 짜임이 있다는 것에 관심을 갖게 합니다.
시간: 약 2분
이렇게 말해 보세요
- “‘동생이’라고만 하면 어때? ‘웃는다’라고만 하면? 둘을 이으면 어때?”
- “문장에는 기본 짜임이 있어. 오늘은 문장을 두 부분으로 나누어 보고, 세 가지 짜임을 알아볼 거야.”
예상 답
- “동생이 뭘 하는지 몰라요.” “누가 웃는지 몰라요.” “동생이 웃는다. 이제 알겠어요.”
막히면
- 부모가 몸짓으로 웃는 모습을 보여 주고 “엄마(아빠)가 무엇을 해?”라고 물어 문장으로 말하게 합니다.
주의
- 문법 용어(주어, 서술어)는 쓰지 않습니다. ‘누가/무엇이’, ‘어찌하다/어떠하다/무엇이다’라는 말만 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[S02 · 선수 학습 확인(누가 + 무엇을 해요)]
목적: 1학년 ‘문장으로 말하고 쓰기’(KR22-G01-KOR-SENTENCE-L01)에서 배운 ‘누가 + 무엇을 해요’로 문장을 완성하는지 확인합니다. 오늘 배울 문장의 짜임과 이어지는 앞 차시의 내용을 확인합니다.
시간: 약 3분
이렇게 말해 보세요
- “빈 곳에 알맞은 말을 넣어 말해 볼래? 여러 가지 답이 있어.”
- “③ ‘먹어요.’라고만 하면 무엇이 궁금해?”
정답
- ① 하는 일(움직임)을 넣으면 맞음. 예: 아빠가 웃어요. 아빠가 요리해요.
- ② 날 수 있는 것을 넣으면 맞음. 예: 새가 날아가요. 비행기가 날아가요.
- ③ 누가 먹는지 알 수 없어요.
막히면
- ①은 “아빠가 무엇을 해?”, ②는 “누가 날아가?”라고 물어 줍니다.
- 두 문제 이상 어려우면 S14(보충)를 먼저 합니다.
주의
- ‘아빠가 (멋져요).’처럼 하는 일이 아닌 말을 넣어도 문장은 됩니다. 이런 문장은 S04에서 ‘어떠하다’로 배운다고 말해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[S03 · 문장의 두 부분]
목적: 문장이 ‘누가/무엇이’ 부분과 그 뒷부분으로 나뉜다는 것을 알려 줍니다(목표 A, 오해 M1).
시간: 약 3분
이렇게 말해 보세요
- “‘동생이 웃는다.’를 둘로 나누면 ‘동생이’와 ‘웃는다’야. 앞부분은 누구에 대한 말인지, 뒷부분은 그 사람이 어떻게 하는지 말해.”
- “사람이 아니어도 돼. ‘얼음이 차갑다.’에서 앞부분은 무엇이야?”
- “‘고래는 동물이다.’처럼 ‘-은, -는’이 붙어도 앞부분이야.”
예상 답
- “얼음이요. 얼음은 사람이 아니니까 ‘무엇이’예요.”
막히면
- 문장을 종이에 써서 가위로 두 부분으로 잘라 보게 합니다.
주의
- 강아지 같은 동물은 ‘누가’로 보아도, ‘무엇이’로 보아도 괜찮습니다. 둘을 엄격히 가르지 않습니다.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[S04 · 문장의 세 가지 짜임]
목적: 뒷부분이 나타내는 것(움직임, 모양·성질·상태, 무엇인지)에 따라 문장의 기본 짜임이 세 가지로 나뉜다는 것을 알려 줍니다(목표 A·B).
시간: 약 4분
이렇게 말해 보세요
- “‘웃는다’는 동생이 하는 움직임이야. 이런 뒷부분을 ‘어찌하다’라고 해.”
- “‘파랗다’는 하늘의 모양이나 색깔, 성질을 말해. 이런 뒷부분은 ‘어떠하다’야.”
- “‘동물이다’는 고래가 무엇인지 말해. ‘(무엇)이다’로 끝나면 ‘무엇이다’야.”
- “‘아기가 잔다.’는 셋 가운데 어느 짜임일까?”
예상 답
- “어찌하다요. 자는 건 아기가 하는 거니까요.”
막히면
- 부모가 ‘움직임’은 몸짓으로, ‘모양’은 손가락으로 물건을 가리키며 “이 컵은 어때?”, ‘무엇인지’는 “이건 무엇이야?”로 보여 줍니다.
주의
- ‘무엇이다’는 끝이 ‘○○이다’(또는 ‘○○다’)입니다. ‘○○입니다’처럼 높여 말해도 같은 짜임입니다.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[S05 · 어찌하다와 어떠하다 구별하기]
목적: 어찌하다와 어떠하다를 헷갈릴 때 쓰는 방법(‘-고 있다’ 붙여 보기)을 알려 줍니다(목표 A, 오해 M2).
시간: 약 3분
이렇게 말해 보세요
- “‘동생이 웃고 있다.’ 말이 돼? 지금 하고 있는 움직임이니까 말이 되지.”
- “‘하늘이 파랗고 있다.’는 어때? 어색하지? 파란 건 움직임이 아니라 하늘의 모양이니까.”
- “‘얼음이 차갑다.’에도 붙여 볼래?”
예상 답
- “얼음이 차갑고 있다. 이상해요. 그러니까 어떠하다예요.”
막히면
- 부모가 두 문장을 또박또박 읽어 주고, 아이가 “말이 돼요/이상해요”로만 답하게 합니다.
주의
- 이 방법은 ‘(무엇)이다’로 끝나는 문장에는 쓰지 않습니다. 그 문장은 먼저 ‘무엇이다’로 가려냅니다(S06, 오해 M3).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[S06 · 짜임을 찾는 순서]
목적: 지금까지 배운 것을 짜임을 찾는 순서로 정리합니다(목표 A).
시간: 약 2분
이렇게 말해 보세요
- “문장의 짜임을 찾을 때는 이 순서대로 해. 같이 읽어 볼까?”
- “‘새가 날아간다.’로 해 볼래? 1번부터.”
예상 답
- “새가 / 날아간다. ‘이다’로 안 끝나요. ‘날아가고 있다’ 말이 돼요. 어찌하다예요.”
막히면
- S04와 S05를 다시 보여 주고 단계마다 무엇을 했는지 짚어 봅니다.
주의
- 아이가 지치면 여기서 쉬고, 다음 날 S07부터 이어도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[S07 · 함께 짜임 찾기]
목적: S06의 순서대로 문장을 두 부분으로 나누고 짜임을 함께 찾아봅니다(목표 A). 활동지 1에 같은 문장이 있습니다.
시간: 약 4분
이렇게 말해 보세요
- “①부터 해 볼까? 앞부분에 / 를 긋고, 뒷부분이 ‘이다’로 끝나는지, ‘-고 있다’를 붙이면 말이 되는지 봐.”
- “③과 ⑥은 무엇으로 끝나?”
정답
- ① 아기가 / 잔다. 어찌하다(‘자고 있다’ ○)
- ② 고추가 / 맵다. 어떠하다(‘맵고 있다’ ×)
- ③ 장미는 / 꽃이다. 무엇이다
- ④ 새가 / 날아간다. 어찌하다
- ⑤ 얼음이 / 차갑다. 어떠하다
- ⑥ 이것은 / 지우개이다. 무엇이다
막히면
- 한 문장씩 S06의 단계 번호를 함께 말하며 따라 합니다. ①~③을 함께 하고 ④~⑥은 아이 혼자 해 보게 합니다.
주의
- ③ ‘장미는’, ⑥ ‘이것은’처럼 ‘-은, -는’이 붙은 앞부분도 놓치지 않게 합니다(오해 M1).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[S08 · 오해 비교(어찌하다와 어떠하다)]
목적: 모양이나 성질을 나타내는 말을 움직임으로 착각하는 오해를 ‘-고 있다’ 붙여 보기로 바로잡습니다(목표 A, 오해 M2).
시간: 약 3분
이렇게 말해 보세요
- “‘꽃이 예쁘고 있다.’ 소리 내어 읽어 볼래? 어때?”
- “꽃이 예쁜 건 꽃이 하는 움직임이야, 꽃이 어떤지 말하는 거야?”
정답
- 나. ‘꽃이 예쁘고 있다’는 어색하므로 어떠하다입니다. ‘예쁘다’는 꽃의 모양(어떤지)을 나타냅니다.
- 가는 꽃이 움직이는 것이 아닌데 무언가를 한다고 생각했습니다.
막히면
- “꽃이 핀다.”와 견주어 줍니다. ‘꽃이 피고 있다’는 말이 되므로 어찌하다, ‘꽃이 예쁘고 있다’는 어색하므로 어떠하다입니다.
주의
- 같은 ‘꽃이’로 시작해도 뒷부분에 따라 짜임이 달라진다는 것을 짚어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[S09 · 짜임에 맞게 빈 곳 채우기]
목적: 정해진 짜임에 맞게 빈 부분을 채워 문장을 만들어 봅니다(목표 B). 활동지 3에 씁니다.
시간: 약 4분
이렇게 말해 보세요
- “①은 어찌하다니까 고양이의 움직임을 넣어야 해. 고양이가 무엇을 해?”
- “②는 수박이 어떤지, ③은 사과가 무엇인지 넣어 볼래?”
- “④는 앞부분이 빠졌어. 누가, 또는 무엇이 시끄러울까?”
정답
- ① 움직임이면 맞음. 예: 고양이가 잔다. 고양이가 운다. 고양이가 뛴다.
- ② 모양·성질이면 맞음. 예: 수박이 달다. 수박이 둥글다. 수박이 시원하다.
- ③ ‘(무엇)이다’면 맞음. 예: 사과는 과일이다.
- ④ 예: 아이들이 시끄럽다. 교실이 시끄럽다. 공사장이 시끄럽다.
막히면
- 부모가 ①의 예를 하나 들어 주고, 아이가 다른 움직임을 하나 더 말하게 합니다.
주의
- ②에 ‘수박이 익는다’처럼 움직임을 넣으면 “‘-고 있다’를 붙이면? 그건 어찌하다지?”라고 되물어 짜임을 다시 확인합니다.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[S10 · 혼자 짜임 찾기]
목적: 도움 없이 처음 보는 문장의 짜임을 찾는지 확인합니다(목표 A). 활동지 4에 같은 문장이 있습니다.
시간: 약 4분
이렇게 말해 보세요
- “이번에는 혼자 해 볼래? 활동지 4에 / 를 긋고 짜임을 써 봐.”
- “다 하면 ③은 왜 그렇게 생각했는지 말해 줘.”
정답
- ① 콩이는 / 강아지이다. 무엇이다
- ② 콩이가 / 짖는다. 어찌하다
- ③ 콩이는 / 귀엽다. 어떠하다(‘귀엽고 있다’ ×)
- ④ 콩이가 / 달린다. 어찌하다
- ⑤ 콩이의 털은 / 부드럽다. 어떠하다
막히면
- S06의 단계를 보여 주고 한 단계씩 스스로 말하게 합니다.
- 도움을 받아 찾았다면 기록표에 ‘도움’으로 표시합니다.
주의
- ⑤에서 앞부분을 ‘콩이의’까지만 나누면 “무엇이 부드러워?”라고 물어 ‘콩이의 털은’까지가 앞부분임을 확인합니다(오해 M1).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[S11 · 정답과 피드백]
목적: 아이의 답을 확인하고 흔한 실수와 비교합니다.
시간: 약 2분
이렇게 말해 보세요
- “네 답이 왼쪽과 같아? 다른 것이 있으면 ‘-고 있다’를 붙여 다시 읽어 볼까?”
예상 답
- “③을 어찌하다라고 했는데, ‘귀엽고 있다’는 이상해요. 어떠하다예요.”
정답
- ① 무엇이다 ② 어찌하다 ③ 어떠하다 ④ 어찌하다 ⑤ 어떠하다
막히면
- 틀린 문장을 S05의 표처럼 ‘-고 있다’를 붙여 함께 읽어 봅니다.
주의
- 이 장은 학생용 파일에서 빠집니다.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[S12 · 마무리 확인(짜임에 맞게 쓰고 고치기)]
목적: 세 가지 짜임에 맞게 스스로 문장을 쓰고, 빠진 부분이 있는 문장을 고치는지 확인합니다(목표 B, 오해 M4). 활동지 5·6에 씁니다.
시간: 약 5분
이렇게 말해 보세요
- “①은 가족 가운데 한 사람이 하는 움직임을 문장으로 말해 봐. ②는 네 물건이 어떤지, ③은 좋아하는 동물이 무엇인지 말해 봐.”
- “④ ‘뛰어간다.’만 들으면 무엇이 궁금해? 그 부분을 넣어 고쳐 볼래?”
예상 답
- ① 엄마가 노래한다. ② 내 필통은 파랗다. ③ 펭귄은 새이다. ④ 동생이 뛰어간다.
정답
- 기준: ① 사람 + 움직임(‘-고 있다’가 말이 됨) ② 물건 + 모양·성질(‘-고 있다’가 어색함) ③ 동물 + ‘(무엇)이다’ ④ 앞에 ‘누가/무엇이’를 넣음. 네 가지가 모두 맞으면 목표 B 달성, 세 가지면 거의 달성으로 봅니다.
막히면
- ①은 “아빠는 저녁에 무엇을 해?”, ②는 “네 가방은 어때? 색깔은?”, ③은 “고양이는 무엇이야? 동물? 곤충?”처럼 묻습니다.
주의
- ③에서 ‘펭귄은 귀엽다’처럼 어떠하다를 쓰면 “펭귄은 무엇이야?”라고 다시 물어 ‘(무엇)이다’로 끝나게 합니다. 답만 쓰고 짜임을 확인하지 못하면 기록표에 ‘도움’으로 표시합니다.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[S13 · 다음 학습과 복습]
목적: 핵심을 정리하고 다음 수업의 복습 질문을 알려 줍니다.
시간: 약 2분
이렇게 말해 보세요
- “문장의 기본 짜임을 한 문장으로 말해 볼래?”
예상 답
- “앞에는 누가나 무엇이가 있고, 뒤에는 어찌하다, 어떠하다, 무엇이다가 있어요.”
정답
- ① 누가 + 어찌하다, 무엇이 + 어떠하다, 무엇이 + 무엇이다 ② 무엇이 + 어떠하다 ③ ‘-고 있다’를 붙여 말이 되면 어찌하다, 어색하면 어떠하다
막히면
- S04와 S06을 다시 보여 줍니다.
주의
- 책을 읽다가 짧은 문장을 하나 골라 “이 문장은 어떤 짜임이야?”라고 물어 보면 좋은 복습이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[S14 · 보충(낱말 카드 이어 문장 만들기)]
목적: 앞부분 카드와 뒷부분 카드를 이어 문장을 만들며, 문장이 두 부분으로 이루어진다는 것을 손으로 익힙니다.
시간: 약 4분
이렇게 말해 보세요
- “‘아기가’ 뒤에는 어느 카드가 어울릴까? 이어서 읽어 볼래?”
- “종이 카드 여섯 장에 같은 말을 써서 섞은 뒤, 짝을 맞춰 볼까?”
정답
- 아기가 웃는다.(어찌하다) / 얼음이 차갑다.(어떠하다) / 펭귄은 새이다.(무엇이다)
막히면
- 부모가 하나를 이어 읽어 주고 나머지를 아이가 맞추게 합니다. ‘얼음이 웃는다’처럼 어색하게 이으면 “얼음이 웃을 수 있어?”라고 묻습니다.
- 보충으로도 어렵다면 1학년 ‘문장으로 말하고 쓰기’(KR22-G01-KOR-SENTENCE-L01)를 먼저 다시 합니다. 이 차시는 계획상 선수 차시가 없어, 내용이 가장 가까운 이 차시를 선수 확인(S02)에 썼습니다.
주의
- 보충이 오래 걸리면 오늘은 여기까지 하고 다음 날 S02부터 다시 시작합니다.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초4 국어 · 언어문학매체 · 1차시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초4 국어 · 문장의 기본 짜임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초4 국어 · 문장의 기본 짜임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초4 국어 · 문장의 기본 짜임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문장의 기본 짜임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문장은 어떤 부분으로</a:t>
            </a:r>
            <a:endParaRPr lang="ko-KR" sz="3000" dirty="0"/>
          </a:p>
          <a:p>
            <a:pPr eaLnBrk="0" indent="0" marL="0">
              <a:buNone/>
            </a:pPr>
            <a:r>
              <a:rPr lang="ko-KR" alt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이루어져 있을까?</a:t>
            </a:r>
            <a:endParaRPr lang="ko-KR" sz="3000" dirty="0"/>
          </a:p>
        </p:txBody>
      </p:sp>
      <p:sp>
        <p:nvSpPr>
          <p:cNvPr id="4" name="S01-card1"/>
          <p:cNvSpPr/>
          <p:nvPr/>
        </p:nvSpPr>
        <p:spPr>
          <a:xfrm>
            <a:off x="731520" y="4436364"/>
            <a:ext cx="10725912" cy="1690116"/>
          </a:xfrm>
          <a:prstGeom prst="roundRect">
            <a:avLst>
              <a:gd name="adj" fmla="val 649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5" name="S01-cardtext2"/>
          <p:cNvSpPr txBox="1"/>
          <p:nvPr/>
        </p:nvSpPr>
        <p:spPr>
          <a:xfrm>
            <a:off x="1005840" y="4573524"/>
            <a:ext cx="10177272" cy="1415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문장을 두 부분으로 나누고 짜임을 말할 수 있어요.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세 가지 짜임에 맞게 문장을 쓸 수 있어요.</a:t>
            </a:r>
            <a:endParaRPr lang="ko-KR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빠진 말을 넣어요</a:t>
            </a:r>
            <a:endParaRPr lang="ko-KR" sz="4000" dirty="0"/>
          </a:p>
        </p:txBody>
      </p:sp>
      <p:sp>
        <p:nvSpPr>
          <p:cNvPr id="3" name="S02-text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빠진 말을 넣어 문장을 완성해 보세요.</a:t>
            </a:r>
            <a:endParaRPr lang="ko-KR" sz="3000" dirty="0"/>
          </a:p>
        </p:txBody>
      </p:sp>
      <p:sp>
        <p:nvSpPr>
          <p:cNvPr id="4" name="S02-chip4"/>
          <p:cNvSpPr txBox="1"/>
          <p:nvPr/>
        </p:nvSpPr>
        <p:spPr>
          <a:xfrm>
            <a:off x="548640" y="2368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5" name="S02-text5"/>
          <p:cNvSpPr txBox="1"/>
          <p:nvPr/>
        </p:nvSpPr>
        <p:spPr>
          <a:xfrm>
            <a:off x="1344168" y="201168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아빠가 (　　　　　).</a:t>
            </a:r>
            <a:endParaRPr lang="ko-KR" sz="3000" dirty="0"/>
          </a:p>
        </p:txBody>
      </p:sp>
      <p:sp>
        <p:nvSpPr>
          <p:cNvPr id="6" name="S02-chip6"/>
          <p:cNvSpPr txBox="1"/>
          <p:nvPr/>
        </p:nvSpPr>
        <p:spPr>
          <a:xfrm>
            <a:off x="548640" y="38313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7" name="S02-text7"/>
          <p:cNvSpPr txBox="1"/>
          <p:nvPr/>
        </p:nvSpPr>
        <p:spPr>
          <a:xfrm>
            <a:off x="1344168" y="347472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　　　　　) 날아가요.</a:t>
            </a:r>
            <a:endParaRPr lang="ko-KR" sz="3000" dirty="0"/>
          </a:p>
        </p:txBody>
      </p:sp>
      <p:sp>
        <p:nvSpPr>
          <p:cNvPr id="8" name="S02-chip8"/>
          <p:cNvSpPr txBox="1"/>
          <p:nvPr/>
        </p:nvSpPr>
        <p:spPr>
          <a:xfrm>
            <a:off x="548640" y="5294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9" name="S02-text9"/>
          <p:cNvSpPr txBox="1"/>
          <p:nvPr/>
        </p:nvSpPr>
        <p:spPr>
          <a:xfrm>
            <a:off x="1344168" y="493776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‘먹어요.’만 들으면 무엇을 모를까요?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문장을 두 부분으로 나눠요</a:t>
            </a:r>
            <a:endParaRPr lang="ko-KR" sz="4000" dirty="0"/>
          </a:p>
        </p:txBody>
      </p:sp>
      <p:sp>
        <p:nvSpPr>
          <p:cNvPr id="3" name="S03-text1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문장은 앞부분과 뒷부분으로 나눌 수 있어요.</a:t>
            </a:r>
            <a:endParaRPr lang="ko-KR" sz="3000" dirty="0"/>
          </a:p>
        </p:txBody>
      </p:sp>
      <p:sp>
        <p:nvSpPr>
          <p:cNvPr id="4" name="S03-card11"/>
          <p:cNvSpPr/>
          <p:nvPr/>
        </p:nvSpPr>
        <p:spPr>
          <a:xfrm>
            <a:off x="548640" y="4959096"/>
            <a:ext cx="11091672" cy="1258824"/>
          </a:xfrm>
          <a:prstGeom prst="roundRect">
            <a:avLst>
              <a:gd name="adj" fmla="val 8717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3-cardtext12"/>
          <p:cNvSpPr txBox="1"/>
          <p:nvPr/>
        </p:nvSpPr>
        <p:spPr>
          <a:xfrm>
            <a:off x="822960" y="5096256"/>
            <a:ext cx="10543032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누가: 사람이나 동물  ·  무엇이: 물건이나 자연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앞부분 끝에는 ‘-이, -가, -은, -는’이 자주 붙어요.</a:t>
            </a:r>
            <a:endParaRPr lang="ko-KR" sz="3000" dirty="0"/>
          </a:p>
        </p:txBody>
      </p:sp>
      <p:sp>
        <p:nvSpPr>
          <p:cNvPr id="6" name="S03-word13"/>
          <p:cNvSpPr txBox="1"/>
          <p:nvPr/>
        </p:nvSpPr>
        <p:spPr>
          <a:xfrm>
            <a:off x="548640" y="2502408"/>
            <a:ext cx="5408676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동생이</a:t>
            </a:r>
            <a:endParaRPr lang="ko-KR" sz="34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/ 무엇이</a:t>
            </a:r>
            <a:endParaRPr lang="ko-KR" sz="3400" dirty="0"/>
          </a:p>
        </p:txBody>
      </p:sp>
      <p:sp>
        <p:nvSpPr>
          <p:cNvPr id="7" name="S03-word14"/>
          <p:cNvSpPr txBox="1"/>
          <p:nvPr/>
        </p:nvSpPr>
        <p:spPr>
          <a:xfrm>
            <a:off x="6231636" y="2502408"/>
            <a:ext cx="5408676" cy="1737360"/>
          </a:xfrm>
          <a:prstGeom prst="roundRect">
            <a:avLst>
              <a:gd name="adj" fmla="val 7368"/>
            </a:avLst>
          </a:prstGeom>
          <a:solidFill>
            <a:srgbClr val="FDEBDD"/>
          </a:solidFill>
          <a:ln w="31750">
            <a:solidFill>
              <a:srgbClr val="E9762B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웃는다.</a:t>
            </a:r>
            <a:endParaRPr lang="ko-KR" sz="34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어찌하다·어떠하다·무엇이다</a:t>
            </a:r>
            <a:endParaRPr lang="ko-KR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문장의 세 가지 짜임</a:t>
            </a:r>
            <a:endParaRPr lang="ko-KR" sz="4000" dirty="0"/>
          </a:p>
        </p:txBody>
      </p:sp>
      <p:sp>
        <p:nvSpPr>
          <p:cNvPr id="3" name="S04-text1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‘누가/무엇이’ 뒤에 오는 말로 짜임이 나뉘어요.</a:t>
            </a:r>
            <a:endParaRPr lang="ko-KR" sz="3000" dirty="0"/>
          </a:p>
        </p:txBody>
      </p:sp>
      <p:sp>
        <p:nvSpPr>
          <p:cNvPr id="4" name="S04-card1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4-cardtext1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뒷부분이 무엇을 나타내는지 보면 짜임을 알 수 있어요.</a:t>
            </a:r>
            <a:endParaRPr lang="ko-KR" sz="3000" dirty="0"/>
          </a:p>
        </p:txBody>
      </p:sp>
      <p:sp>
        <p:nvSpPr>
          <p:cNvPr id="6" name="S04-card18"/>
          <p:cNvSpPr/>
          <p:nvPr/>
        </p:nvSpPr>
        <p:spPr>
          <a:xfrm>
            <a:off x="548640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4-cardtext19"/>
          <p:cNvSpPr txBox="1"/>
          <p:nvPr/>
        </p:nvSpPr>
        <p:spPr>
          <a:xfrm>
            <a:off x="822960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어찌하다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동생이 / 웃는다.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움직임</a:t>
            </a:r>
            <a:endParaRPr lang="ko-KR" sz="3000" dirty="0"/>
          </a:p>
        </p:txBody>
      </p:sp>
      <p:sp>
        <p:nvSpPr>
          <p:cNvPr id="8" name="S04-card20"/>
          <p:cNvSpPr/>
          <p:nvPr/>
        </p:nvSpPr>
        <p:spPr>
          <a:xfrm>
            <a:off x="4322064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9" name="S04-cardtext21"/>
          <p:cNvSpPr txBox="1"/>
          <p:nvPr/>
        </p:nvSpPr>
        <p:spPr>
          <a:xfrm>
            <a:off x="4596384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어떠하다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하늘이 / 파랗다.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모양·성질·상태</a:t>
            </a:r>
            <a:endParaRPr lang="ko-KR" sz="3000" dirty="0"/>
          </a:p>
        </p:txBody>
      </p:sp>
      <p:sp>
        <p:nvSpPr>
          <p:cNvPr id="10" name="S04-card22"/>
          <p:cNvSpPr/>
          <p:nvPr/>
        </p:nvSpPr>
        <p:spPr>
          <a:xfrm>
            <a:off x="8095488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04-cardtext23"/>
          <p:cNvSpPr txBox="1"/>
          <p:nvPr/>
        </p:nvSpPr>
        <p:spPr>
          <a:xfrm>
            <a:off x="8369808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무엇이다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고래는 / 동물이다.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무엇인지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어찌하다? 어떠하다?</a:t>
            </a:r>
            <a:endParaRPr lang="ko-KR" sz="4000" dirty="0"/>
          </a:p>
        </p:txBody>
      </p:sp>
      <p:sp>
        <p:nvSpPr>
          <p:cNvPr id="3" name="S05-text2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뒷부분에 ‘-고 있다’를 붙여 읽어 봐요.</a:t>
            </a:r>
            <a:endParaRPr lang="ko-KR" sz="3000" dirty="0"/>
          </a:p>
        </p:txBody>
      </p:sp>
      <p:sp>
        <p:nvSpPr>
          <p:cNvPr id="4" name="S05-card2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5-cardtext2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말이 되면 어찌하다, 어색하면 어떠하다예요.</a:t>
            </a:r>
            <a:endParaRPr lang="ko-KR" sz="3000" dirty="0"/>
          </a:p>
        </p:txBody>
      </p:sp>
      <p:graphicFrame>
        <p:nvGraphicFramePr>
          <p:cNvPr id="6" name="S05-table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36676" y="2797302"/>
          <a:ext cx="10515600" cy="914400"/>
        </p:xfrm>
        <a:graphic>
          <a:graphicData uri="http://schemas.openxmlformats.org/drawingml/2006/table">
            <a:tbl>
              <a:tblPr/>
              <a:tblGrid>
                <a:gridCol w="3154680"/>
                <a:gridCol w="4732020"/>
                <a:gridCol w="2628900"/>
              </a:tblGrid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문장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‘-고 있다’를 붙이면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짜임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동생이 웃는다.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동생이 웃고 있다. ○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어찌하다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하늘이 파랗다.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하늘이 파랗고 있다. ×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어떠하다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짜임을 찾는 순서</a:t>
            </a:r>
            <a:endParaRPr lang="ko-KR" sz="4000" dirty="0"/>
          </a:p>
        </p:txBody>
      </p:sp>
      <p:sp>
        <p:nvSpPr>
          <p:cNvPr id="3" name="S06-card2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6-cardtext2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예: 장미는 / 꽃이다. → ‘(무엇)이다’로 끝나요 → 무엇이다</a:t>
            </a:r>
            <a:endParaRPr lang="ko-KR" sz="3000" dirty="0"/>
          </a:p>
        </p:txBody>
      </p:sp>
      <p:sp>
        <p:nvSpPr>
          <p:cNvPr id="5" name="S06-stepno30"/>
          <p:cNvSpPr txBox="1"/>
          <p:nvPr/>
        </p:nvSpPr>
        <p:spPr>
          <a:xfrm>
            <a:off x="548640" y="168859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6" name="S06-text31"/>
          <p:cNvSpPr txBox="1"/>
          <p:nvPr/>
        </p:nvSpPr>
        <p:spPr>
          <a:xfrm>
            <a:off x="1325880" y="1688592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‘누가/무엇이’ 부분을 찾아 / 를 그어요.</a:t>
            </a:r>
            <a:endParaRPr lang="ko-KR" sz="3000" dirty="0"/>
          </a:p>
        </p:txBody>
      </p:sp>
      <p:sp>
        <p:nvSpPr>
          <p:cNvPr id="7" name="S06-stepno32"/>
          <p:cNvSpPr txBox="1"/>
          <p:nvPr/>
        </p:nvSpPr>
        <p:spPr>
          <a:xfrm>
            <a:off x="548640" y="240182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8" name="S06-text33"/>
          <p:cNvSpPr txBox="1"/>
          <p:nvPr/>
        </p:nvSpPr>
        <p:spPr>
          <a:xfrm>
            <a:off x="1325880" y="2401824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뒷부분을 읽어요.</a:t>
            </a:r>
            <a:endParaRPr lang="ko-KR" sz="3000" dirty="0"/>
          </a:p>
        </p:txBody>
      </p:sp>
      <p:sp>
        <p:nvSpPr>
          <p:cNvPr id="9" name="S06-stepno34"/>
          <p:cNvSpPr txBox="1"/>
          <p:nvPr/>
        </p:nvSpPr>
        <p:spPr>
          <a:xfrm>
            <a:off x="548640" y="311505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0" name="S06-text35"/>
          <p:cNvSpPr txBox="1"/>
          <p:nvPr/>
        </p:nvSpPr>
        <p:spPr>
          <a:xfrm>
            <a:off x="1325880" y="3115056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‘(무엇)이다’로 끝나면 무엇이다예요.</a:t>
            </a:r>
            <a:endParaRPr lang="ko-KR" sz="3000" dirty="0"/>
          </a:p>
        </p:txBody>
      </p:sp>
      <p:sp>
        <p:nvSpPr>
          <p:cNvPr id="11" name="S06-stepno36"/>
          <p:cNvSpPr txBox="1"/>
          <p:nvPr/>
        </p:nvSpPr>
        <p:spPr>
          <a:xfrm>
            <a:off x="548640" y="387400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2" name="S06-text37"/>
          <p:cNvSpPr txBox="1"/>
          <p:nvPr/>
        </p:nvSpPr>
        <p:spPr>
          <a:xfrm>
            <a:off x="1325880" y="3828288"/>
            <a:ext cx="10314432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‘-고 있다’를 붙여 말이 되면 어찌하다, 어색하면 어떠하다예요.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짜임을 찾아봐요</a:t>
            </a:r>
            <a:endParaRPr lang="ko-KR" sz="4000" dirty="0"/>
          </a:p>
        </p:txBody>
      </p:sp>
      <p:sp>
        <p:nvSpPr>
          <p:cNvPr id="3" name="S07-text38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/ 를 긋고, 어떤 짜임인지 말해 보세요.</a:t>
            </a:r>
            <a:endParaRPr lang="ko-KR" sz="3000" dirty="0"/>
          </a:p>
        </p:txBody>
      </p:sp>
      <p:sp>
        <p:nvSpPr>
          <p:cNvPr id="4" name="S07-card3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7-cardtext4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‘이다’로 끝나나요? ‘-고 있다’를 붙여 봐요.</a:t>
            </a:r>
            <a:endParaRPr lang="ko-KR" sz="3000" dirty="0"/>
          </a:p>
        </p:txBody>
      </p:sp>
      <p:sp>
        <p:nvSpPr>
          <p:cNvPr id="6" name="S07-chip41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7" name="S07-text42"/>
          <p:cNvSpPr txBox="1"/>
          <p:nvPr/>
        </p:nvSpPr>
        <p:spPr>
          <a:xfrm>
            <a:off x="1344168" y="201168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아기가 잔다.</a:t>
            </a:r>
            <a:endParaRPr lang="ko-KR" sz="3000" dirty="0"/>
          </a:p>
        </p:txBody>
      </p:sp>
      <p:sp>
        <p:nvSpPr>
          <p:cNvPr id="8" name="S07-chip43"/>
          <p:cNvSpPr txBox="1"/>
          <p:nvPr/>
        </p:nvSpPr>
        <p:spPr>
          <a:xfrm>
            <a:off x="6277356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9" name="S07-text44"/>
          <p:cNvSpPr txBox="1"/>
          <p:nvPr/>
        </p:nvSpPr>
        <p:spPr>
          <a:xfrm>
            <a:off x="7072884" y="201168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고추가 맵다.</a:t>
            </a:r>
            <a:endParaRPr lang="ko-KR" sz="3000" dirty="0"/>
          </a:p>
        </p:txBody>
      </p:sp>
      <p:sp>
        <p:nvSpPr>
          <p:cNvPr id="10" name="S07-chip45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11" name="S07-text46"/>
          <p:cNvSpPr txBox="1"/>
          <p:nvPr/>
        </p:nvSpPr>
        <p:spPr>
          <a:xfrm>
            <a:off x="1344168" y="310896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장미는 꽃이다.</a:t>
            </a:r>
            <a:endParaRPr lang="ko-KR" sz="3000" dirty="0"/>
          </a:p>
        </p:txBody>
      </p:sp>
      <p:sp>
        <p:nvSpPr>
          <p:cNvPr id="12" name="S07-chip47"/>
          <p:cNvSpPr txBox="1"/>
          <p:nvPr/>
        </p:nvSpPr>
        <p:spPr>
          <a:xfrm>
            <a:off x="6277356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400" dirty="0"/>
          </a:p>
        </p:txBody>
      </p:sp>
      <p:sp>
        <p:nvSpPr>
          <p:cNvPr id="13" name="S07-text48"/>
          <p:cNvSpPr txBox="1"/>
          <p:nvPr/>
        </p:nvSpPr>
        <p:spPr>
          <a:xfrm>
            <a:off x="7072884" y="310896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새가 날아간다.</a:t>
            </a:r>
            <a:endParaRPr lang="ko-KR" sz="3000" dirty="0"/>
          </a:p>
        </p:txBody>
      </p:sp>
      <p:sp>
        <p:nvSpPr>
          <p:cNvPr id="14" name="S07-chip49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⑤</a:t>
            </a:r>
            <a:endParaRPr lang="ko-KR" sz="2400" dirty="0"/>
          </a:p>
        </p:txBody>
      </p:sp>
      <p:sp>
        <p:nvSpPr>
          <p:cNvPr id="15" name="S07-text50"/>
          <p:cNvSpPr txBox="1"/>
          <p:nvPr/>
        </p:nvSpPr>
        <p:spPr>
          <a:xfrm>
            <a:off x="1344168" y="420624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얼음이 차갑다.</a:t>
            </a:r>
            <a:endParaRPr lang="ko-KR" sz="3000" dirty="0"/>
          </a:p>
        </p:txBody>
      </p:sp>
      <p:sp>
        <p:nvSpPr>
          <p:cNvPr id="16" name="S07-chip51"/>
          <p:cNvSpPr txBox="1"/>
          <p:nvPr/>
        </p:nvSpPr>
        <p:spPr>
          <a:xfrm>
            <a:off x="6277356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⑥</a:t>
            </a:r>
            <a:endParaRPr lang="ko-KR" sz="2400" dirty="0"/>
          </a:p>
        </p:txBody>
      </p:sp>
      <p:sp>
        <p:nvSpPr>
          <p:cNvPr id="17" name="S07-text52"/>
          <p:cNvSpPr txBox="1"/>
          <p:nvPr/>
        </p:nvSpPr>
        <p:spPr>
          <a:xfrm>
            <a:off x="7072884" y="420624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이것은 지우개이다.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 말이 맞을까요?</a:t>
            </a:r>
            <a:endParaRPr lang="ko-KR" sz="4000" dirty="0"/>
          </a:p>
        </p:txBody>
      </p:sp>
      <p:sp>
        <p:nvSpPr>
          <p:cNvPr id="3" name="S08-card53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8-cardtext54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‘꽃이 예쁘다.’는 어떤 짜임일까요?</a:t>
            </a:r>
            <a:endParaRPr lang="ko-KR" sz="3000" dirty="0"/>
          </a:p>
        </p:txBody>
      </p:sp>
      <p:sp>
        <p:nvSpPr>
          <p:cNvPr id="5" name="S08-card5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8-cardtext5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‘-고 있다’를 붙여 읽어 보고 까닭을 말해 봐요.</a:t>
            </a:r>
            <a:endParaRPr lang="ko-KR" sz="3000" dirty="0"/>
          </a:p>
        </p:txBody>
      </p:sp>
      <p:sp>
        <p:nvSpPr>
          <p:cNvPr id="7" name="S08-chip57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400" dirty="0"/>
          </a:p>
        </p:txBody>
      </p:sp>
      <p:sp>
        <p:nvSpPr>
          <p:cNvPr id="8" name="S08-text58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“어찌하다예요.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꽃이 무언가를 하잖아요.”</a:t>
            </a:r>
            <a:endParaRPr lang="ko-KR" sz="3000" dirty="0"/>
          </a:p>
        </p:txBody>
      </p:sp>
      <p:sp>
        <p:nvSpPr>
          <p:cNvPr id="9" name="S08-chip59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400" dirty="0"/>
          </a:p>
        </p:txBody>
      </p:sp>
      <p:sp>
        <p:nvSpPr>
          <p:cNvPr id="10" name="S08-text60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“어떠하다예요.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꽃의 모양을 말하잖아요.”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빈 곳을 채워요</a:t>
            </a:r>
            <a:endParaRPr lang="ko-KR" sz="4000" dirty="0"/>
          </a:p>
        </p:txBody>
      </p:sp>
      <p:sp>
        <p:nvSpPr>
          <p:cNvPr id="3" name="S09-text61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화살표 뒤의 짜임에 맞게 빈 곳을 채워 말해요.</a:t>
            </a:r>
            <a:endParaRPr lang="ko-KR" sz="3000" dirty="0"/>
          </a:p>
        </p:txBody>
      </p:sp>
      <p:sp>
        <p:nvSpPr>
          <p:cNvPr id="4" name="S09-card6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9-cardtext6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채운 다음 소리 내어 읽고 S06의 순서로 확인해요.</a:t>
            </a:r>
            <a:endParaRPr lang="ko-KR" sz="3000" dirty="0"/>
          </a:p>
        </p:txBody>
      </p:sp>
      <p:sp>
        <p:nvSpPr>
          <p:cNvPr id="6" name="S09-chip64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7" name="S09-text65"/>
          <p:cNvSpPr txBox="1"/>
          <p:nvPr/>
        </p:nvSpPr>
        <p:spPr>
          <a:xfrm>
            <a:off x="1344168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고양이가 (　　　).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어찌하다</a:t>
            </a:r>
            <a:endParaRPr lang="ko-KR" sz="3000" dirty="0"/>
          </a:p>
        </p:txBody>
      </p:sp>
      <p:sp>
        <p:nvSpPr>
          <p:cNvPr id="8" name="S09-chip66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9" name="S09-text67"/>
          <p:cNvSpPr txBox="1"/>
          <p:nvPr/>
        </p:nvSpPr>
        <p:spPr>
          <a:xfrm>
            <a:off x="7072884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수박이 (　　　).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어떠하다</a:t>
            </a:r>
            <a:endParaRPr lang="ko-KR" sz="3000" dirty="0"/>
          </a:p>
        </p:txBody>
      </p:sp>
      <p:sp>
        <p:nvSpPr>
          <p:cNvPr id="10" name="S09-chip68"/>
          <p:cNvSpPr txBox="1"/>
          <p:nvPr/>
        </p:nvSpPr>
        <p:spPr>
          <a:xfrm>
            <a:off x="548640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11" name="S09-text69"/>
          <p:cNvSpPr txBox="1"/>
          <p:nvPr/>
        </p:nvSpPr>
        <p:spPr>
          <a:xfrm>
            <a:off x="1344168" y="36576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사과는 (　　　).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무엇이다</a:t>
            </a:r>
            <a:endParaRPr lang="ko-KR" sz="3000" dirty="0"/>
          </a:p>
        </p:txBody>
      </p:sp>
      <p:sp>
        <p:nvSpPr>
          <p:cNvPr id="12" name="S09-chip70"/>
          <p:cNvSpPr txBox="1"/>
          <p:nvPr/>
        </p:nvSpPr>
        <p:spPr>
          <a:xfrm>
            <a:off x="6277356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400" dirty="0"/>
          </a:p>
        </p:txBody>
      </p:sp>
      <p:sp>
        <p:nvSpPr>
          <p:cNvPr id="13" name="S09-text71"/>
          <p:cNvSpPr txBox="1"/>
          <p:nvPr/>
        </p:nvSpPr>
        <p:spPr>
          <a:xfrm>
            <a:off x="7072884" y="36576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　　　) 시끄럽다.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누가/무엇이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0-text7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강아지 ‘콩이’에 대한 문장이에요. 짜임을 말해 보세요.</a:t>
            </a:r>
            <a:endParaRPr lang="ko-KR" sz="3000" dirty="0"/>
          </a:p>
        </p:txBody>
      </p:sp>
      <p:sp>
        <p:nvSpPr>
          <p:cNvPr id="4" name="S10-card7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10-cardtext7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/ 를 긋고, S06의 순서로 확인해요.</a:t>
            </a:r>
            <a:endParaRPr lang="ko-KR" sz="3000" dirty="0"/>
          </a:p>
        </p:txBody>
      </p:sp>
      <p:sp>
        <p:nvSpPr>
          <p:cNvPr id="6" name="S10-chip75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7" name="S10-text76"/>
          <p:cNvSpPr txBox="1"/>
          <p:nvPr/>
        </p:nvSpPr>
        <p:spPr>
          <a:xfrm>
            <a:off x="1344168" y="201168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콩이는 강아지이다.</a:t>
            </a:r>
            <a:endParaRPr lang="ko-KR" sz="3000" dirty="0"/>
          </a:p>
        </p:txBody>
      </p:sp>
      <p:sp>
        <p:nvSpPr>
          <p:cNvPr id="8" name="S10-chip77"/>
          <p:cNvSpPr txBox="1"/>
          <p:nvPr/>
        </p:nvSpPr>
        <p:spPr>
          <a:xfrm>
            <a:off x="6277356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9" name="S10-text78"/>
          <p:cNvSpPr txBox="1"/>
          <p:nvPr/>
        </p:nvSpPr>
        <p:spPr>
          <a:xfrm>
            <a:off x="7072884" y="201168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콩이가 짖는다.</a:t>
            </a:r>
            <a:endParaRPr lang="ko-KR" sz="3000" dirty="0"/>
          </a:p>
        </p:txBody>
      </p:sp>
      <p:sp>
        <p:nvSpPr>
          <p:cNvPr id="10" name="S10-chip79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11" name="S10-text80"/>
          <p:cNvSpPr txBox="1"/>
          <p:nvPr/>
        </p:nvSpPr>
        <p:spPr>
          <a:xfrm>
            <a:off x="1344168" y="310896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콩이는 귀엽다.</a:t>
            </a:r>
            <a:endParaRPr lang="ko-KR" sz="3000" dirty="0"/>
          </a:p>
        </p:txBody>
      </p:sp>
      <p:sp>
        <p:nvSpPr>
          <p:cNvPr id="12" name="S10-chip81"/>
          <p:cNvSpPr txBox="1"/>
          <p:nvPr/>
        </p:nvSpPr>
        <p:spPr>
          <a:xfrm>
            <a:off x="6277356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400" dirty="0"/>
          </a:p>
        </p:txBody>
      </p:sp>
      <p:sp>
        <p:nvSpPr>
          <p:cNvPr id="13" name="S10-text82"/>
          <p:cNvSpPr txBox="1"/>
          <p:nvPr/>
        </p:nvSpPr>
        <p:spPr>
          <a:xfrm>
            <a:off x="7072884" y="310896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콩이가 달린다.</a:t>
            </a:r>
            <a:endParaRPr lang="ko-KR" sz="3000" dirty="0"/>
          </a:p>
        </p:txBody>
      </p:sp>
      <p:sp>
        <p:nvSpPr>
          <p:cNvPr id="14" name="S10-chip83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⑤</a:t>
            </a:r>
            <a:endParaRPr lang="ko-KR" sz="2400" dirty="0"/>
          </a:p>
        </p:txBody>
      </p:sp>
      <p:sp>
        <p:nvSpPr>
          <p:cNvPr id="15" name="S10-text84"/>
          <p:cNvSpPr txBox="1"/>
          <p:nvPr/>
        </p:nvSpPr>
        <p:spPr>
          <a:xfrm>
            <a:off x="1344168" y="420624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콩이의 털은 부드럽다.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 확인</a:t>
            </a:r>
            <a:endParaRPr lang="ko-KR" sz="4000" dirty="0"/>
          </a:p>
        </p:txBody>
      </p:sp>
      <p:sp>
        <p:nvSpPr>
          <p:cNvPr id="3" name="S11-card8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1-cardtext8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‘(무엇)이다’를 먼저 보고, ‘-고 있다’를 붙여 확인해요.</a:t>
            </a:r>
            <a:endParaRPr lang="ko-KR" sz="3000" dirty="0"/>
          </a:p>
        </p:txBody>
      </p:sp>
      <p:sp>
        <p:nvSpPr>
          <p:cNvPr id="5" name="S11-chip87"/>
          <p:cNvSpPr txBox="1"/>
          <p:nvPr/>
        </p:nvSpPr>
        <p:spPr>
          <a:xfrm>
            <a:off x="548640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E3F4F1"/>
          </a:solidFill>
          <a:ln>
            <a:solidFill>
              <a:srgbClr val="E3F4F1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정답</a:t>
            </a:r>
            <a:endParaRPr lang="ko-KR" sz="2400" dirty="0"/>
          </a:p>
        </p:txBody>
      </p:sp>
      <p:sp>
        <p:nvSpPr>
          <p:cNvPr id="6" name="S11-text88"/>
          <p:cNvSpPr txBox="1"/>
          <p:nvPr/>
        </p:nvSpPr>
        <p:spPr>
          <a:xfrm>
            <a:off x="548640" y="2057400"/>
            <a:ext cx="5362956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무엇이다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어찌하다</a:t>
            </a:r>
            <a:endParaRPr lang="ko-KR" sz="3000" dirty="0"/>
          </a:p>
        </p:txBody>
      </p:sp>
      <p:sp>
        <p:nvSpPr>
          <p:cNvPr id="7" name="S11-text89"/>
          <p:cNvSpPr txBox="1"/>
          <p:nvPr/>
        </p:nvSpPr>
        <p:spPr>
          <a:xfrm>
            <a:off x="548640" y="3124200"/>
            <a:ext cx="5362956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어떠하다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어찌하다</a:t>
            </a:r>
            <a:endParaRPr lang="ko-KR" sz="3000" dirty="0"/>
          </a:p>
        </p:txBody>
      </p:sp>
      <p:sp>
        <p:nvSpPr>
          <p:cNvPr id="8" name="S11-text90"/>
          <p:cNvSpPr txBox="1"/>
          <p:nvPr/>
        </p:nvSpPr>
        <p:spPr>
          <a:xfrm>
            <a:off x="548640" y="4191000"/>
            <a:ext cx="5362956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⑤ 어떠하다</a:t>
            </a:r>
            <a:endParaRPr lang="ko-KR" sz="3000" dirty="0"/>
          </a:p>
        </p:txBody>
      </p:sp>
      <p:sp>
        <p:nvSpPr>
          <p:cNvPr id="9" name="S11-chip91"/>
          <p:cNvSpPr txBox="1"/>
          <p:nvPr/>
        </p:nvSpPr>
        <p:spPr>
          <a:xfrm>
            <a:off x="6277356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FBE6E7"/>
          </a:solidFill>
          <a:ln>
            <a:solidFill>
              <a:srgbClr val="FBE6E7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흔한 실수</a:t>
            </a:r>
            <a:endParaRPr lang="ko-KR" sz="2400" dirty="0"/>
          </a:p>
        </p:txBody>
      </p:sp>
      <p:sp>
        <p:nvSpPr>
          <p:cNvPr id="10" name="S11-text92"/>
          <p:cNvSpPr txBox="1"/>
          <p:nvPr/>
        </p:nvSpPr>
        <p:spPr>
          <a:xfrm>
            <a:off x="6277356" y="20574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어찌하다</a:t>
            </a:r>
            <a:endParaRPr lang="ko-KR" sz="3000" dirty="0"/>
          </a:p>
        </p:txBody>
      </p:sp>
      <p:sp>
        <p:nvSpPr>
          <p:cNvPr id="11" name="S11-text93"/>
          <p:cNvSpPr txBox="1"/>
          <p:nvPr/>
        </p:nvSpPr>
        <p:spPr>
          <a:xfrm>
            <a:off x="9095994" y="20574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‘귀엽고 있다’는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어색해요</a:t>
            </a:r>
            <a:endParaRPr lang="ko-KR" sz="2400" dirty="0"/>
          </a:p>
        </p:txBody>
      </p:sp>
      <p:sp>
        <p:nvSpPr>
          <p:cNvPr id="12" name="S11-text94"/>
          <p:cNvSpPr txBox="1"/>
          <p:nvPr/>
        </p:nvSpPr>
        <p:spPr>
          <a:xfrm>
            <a:off x="6277356" y="34290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⑤ 콩이의 /</a:t>
            </a:r>
            <a:endParaRPr lang="ko-KR" sz="3000" dirty="0"/>
          </a:p>
        </p:txBody>
      </p:sp>
      <p:sp>
        <p:nvSpPr>
          <p:cNvPr id="13" name="S11-text95"/>
          <p:cNvSpPr txBox="1"/>
          <p:nvPr/>
        </p:nvSpPr>
        <p:spPr>
          <a:xfrm>
            <a:off x="9095994" y="34290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‘콩이의 털은’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까지가 앞부분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내가 쓰는 세 가지 문장</a:t>
            </a:r>
            <a:endParaRPr lang="ko-KR" sz="4000" dirty="0"/>
          </a:p>
        </p:txBody>
      </p:sp>
      <p:sp>
        <p:nvSpPr>
          <p:cNvPr id="3" name="S12-text9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짜임에 맞게 문장을 말하고 활동지에 써요.</a:t>
            </a:r>
            <a:endParaRPr lang="ko-KR" sz="3000" dirty="0"/>
          </a:p>
        </p:txBody>
      </p:sp>
      <p:sp>
        <p:nvSpPr>
          <p:cNvPr id="4" name="S12-chip97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5" name="S12-text98"/>
          <p:cNvSpPr txBox="1"/>
          <p:nvPr/>
        </p:nvSpPr>
        <p:spPr>
          <a:xfrm>
            <a:off x="1344168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가족 한 사람으로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+ 어찌하다</a:t>
            </a:r>
            <a:endParaRPr lang="ko-KR" sz="3000" dirty="0"/>
          </a:p>
        </p:txBody>
      </p:sp>
      <p:sp>
        <p:nvSpPr>
          <p:cNvPr id="6" name="S12-chip99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7" name="S12-text100"/>
          <p:cNvSpPr txBox="1"/>
          <p:nvPr/>
        </p:nvSpPr>
        <p:spPr>
          <a:xfrm>
            <a:off x="7072884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물건 하나로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무엇이 + 어떠하다</a:t>
            </a:r>
            <a:endParaRPr lang="ko-KR" sz="3000" dirty="0"/>
          </a:p>
        </p:txBody>
      </p:sp>
      <p:sp>
        <p:nvSpPr>
          <p:cNvPr id="8" name="S12-chip101"/>
          <p:cNvSpPr txBox="1"/>
          <p:nvPr/>
        </p:nvSpPr>
        <p:spPr>
          <a:xfrm>
            <a:off x="548640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9" name="S12-text102"/>
          <p:cNvSpPr txBox="1"/>
          <p:nvPr/>
        </p:nvSpPr>
        <p:spPr>
          <a:xfrm>
            <a:off x="1344168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좋아하는 동물로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무엇이 + 무엇이다</a:t>
            </a:r>
            <a:endParaRPr lang="ko-KR" sz="3000" dirty="0"/>
          </a:p>
        </p:txBody>
      </p:sp>
      <p:sp>
        <p:nvSpPr>
          <p:cNvPr id="10" name="S12-chip103"/>
          <p:cNvSpPr txBox="1"/>
          <p:nvPr/>
        </p:nvSpPr>
        <p:spPr>
          <a:xfrm>
            <a:off x="6277356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400" dirty="0"/>
          </a:p>
        </p:txBody>
      </p:sp>
      <p:sp>
        <p:nvSpPr>
          <p:cNvPr id="11" name="S12-text104"/>
          <p:cNvSpPr txBox="1"/>
          <p:nvPr/>
        </p:nvSpPr>
        <p:spPr>
          <a:xfrm>
            <a:off x="7072884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‘뛰어간다.’에 빠진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부분을 넣어 고쳐요.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3-card105"/>
          <p:cNvSpPr/>
          <p:nvPr/>
        </p:nvSpPr>
        <p:spPr>
          <a:xfrm>
            <a:off x="548640" y="1325880"/>
            <a:ext cx="11091672" cy="1258824"/>
          </a:xfrm>
          <a:prstGeom prst="roundRect">
            <a:avLst>
              <a:gd name="adj" fmla="val 8717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3-cardtext106"/>
          <p:cNvSpPr txBox="1"/>
          <p:nvPr/>
        </p:nvSpPr>
        <p:spPr>
          <a:xfrm>
            <a:off x="822960" y="1463040"/>
            <a:ext cx="10543032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문장은 ‘누가/무엇이’와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‘어찌하다·어떠하다·무엇이다’로 짜여 있어요.</a:t>
            </a:r>
            <a:endParaRPr lang="ko-KR" sz="3000" dirty="0"/>
          </a:p>
        </p:txBody>
      </p:sp>
      <p:sp>
        <p:nvSpPr>
          <p:cNvPr id="5" name="S13-chip107"/>
          <p:cNvSpPr txBox="1"/>
          <p:nvPr/>
        </p:nvSpPr>
        <p:spPr>
          <a:xfrm>
            <a:off x="548640" y="2813304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‘-고 있다’를 붙여 확인하기</a:t>
            </a:r>
            <a:endParaRPr lang="ko-KR" sz="2400" dirty="0"/>
          </a:p>
        </p:txBody>
      </p:sp>
      <p:sp>
        <p:nvSpPr>
          <p:cNvPr id="6" name="S13-chip108"/>
          <p:cNvSpPr txBox="1"/>
          <p:nvPr/>
        </p:nvSpPr>
        <p:spPr>
          <a:xfrm>
            <a:off x="6208776" y="2813304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한 부분이 빠진 문장 쓰기</a:t>
            </a:r>
            <a:endParaRPr lang="ko-KR" sz="2400" dirty="0"/>
          </a:p>
        </p:txBody>
      </p:sp>
      <p:sp>
        <p:nvSpPr>
          <p:cNvPr id="7" name="S13-text109"/>
          <p:cNvSpPr txBox="1"/>
          <p:nvPr/>
        </p:nvSpPr>
        <p:spPr>
          <a:xfrm>
            <a:off x="548640" y="3636264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400" dirty="0"/>
          </a:p>
        </p:txBody>
      </p:sp>
      <p:sp>
        <p:nvSpPr>
          <p:cNvPr id="8" name="S13-text110"/>
          <p:cNvSpPr txBox="1"/>
          <p:nvPr/>
        </p:nvSpPr>
        <p:spPr>
          <a:xfrm>
            <a:off x="548640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문장의 세 가지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짜임은?</a:t>
            </a:r>
            <a:endParaRPr lang="ko-KR" sz="2400" dirty="0"/>
          </a:p>
        </p:txBody>
      </p:sp>
      <p:sp>
        <p:nvSpPr>
          <p:cNvPr id="9" name="S13-text111"/>
          <p:cNvSpPr txBox="1"/>
          <p:nvPr/>
        </p:nvSpPr>
        <p:spPr>
          <a:xfrm>
            <a:off x="4322064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‘하늘이 파랗다’는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짜임?</a:t>
            </a:r>
            <a:endParaRPr lang="ko-KR" sz="2400" dirty="0"/>
          </a:p>
        </p:txBody>
      </p:sp>
      <p:sp>
        <p:nvSpPr>
          <p:cNvPr id="10" name="S13-text112"/>
          <p:cNvSpPr txBox="1"/>
          <p:nvPr/>
        </p:nvSpPr>
        <p:spPr>
          <a:xfrm>
            <a:off x="8095488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어찌하다와 어떠하다를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가르는 방법은?</a:t>
            </a:r>
            <a:endParaRPr lang="ko-KR" sz="2400" dirty="0"/>
          </a:p>
        </p:txBody>
      </p:sp>
      <p:sp>
        <p:nvSpPr>
          <p:cNvPr id="11" name="S13-text113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표현의 효과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카드를 이어요</a:t>
            </a:r>
            <a:endParaRPr lang="ko-KR" sz="4000" dirty="0"/>
          </a:p>
        </p:txBody>
      </p:sp>
      <p:sp>
        <p:nvSpPr>
          <p:cNvPr id="3" name="S14-text11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위의 카드와 아래 카드를 하나씩 이어 문장을 만들어요.</a:t>
            </a:r>
            <a:endParaRPr lang="ko-KR" sz="3000" dirty="0"/>
          </a:p>
        </p:txBody>
      </p:sp>
      <p:sp>
        <p:nvSpPr>
          <p:cNvPr id="4" name="S14-card11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4-cardtext11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이은 문장을 소리 내어 읽고, 말이 되는지 확인해요.</a:t>
            </a:r>
            <a:endParaRPr lang="ko-KR" sz="3000" dirty="0"/>
          </a:p>
        </p:txBody>
      </p:sp>
      <p:sp>
        <p:nvSpPr>
          <p:cNvPr id="6" name="S14-word117"/>
          <p:cNvSpPr txBox="1"/>
          <p:nvPr/>
        </p:nvSpPr>
        <p:spPr>
          <a:xfrm>
            <a:off x="548640" y="2011680"/>
            <a:ext cx="3514344" cy="1417320"/>
          </a:xfrm>
          <a:prstGeom prst="roundRect">
            <a:avLst>
              <a:gd name="adj" fmla="val 9032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아기가</a:t>
            </a:r>
            <a:endParaRPr lang="ko-KR" sz="3400" dirty="0"/>
          </a:p>
        </p:txBody>
      </p:sp>
      <p:sp>
        <p:nvSpPr>
          <p:cNvPr id="7" name="S14-word118"/>
          <p:cNvSpPr txBox="1"/>
          <p:nvPr/>
        </p:nvSpPr>
        <p:spPr>
          <a:xfrm>
            <a:off x="4337304" y="2011680"/>
            <a:ext cx="3514344" cy="1417320"/>
          </a:xfrm>
          <a:prstGeom prst="roundRect">
            <a:avLst>
              <a:gd name="adj" fmla="val 9032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얼음이</a:t>
            </a:r>
            <a:endParaRPr lang="ko-KR" sz="3400" dirty="0"/>
          </a:p>
        </p:txBody>
      </p:sp>
      <p:sp>
        <p:nvSpPr>
          <p:cNvPr id="8" name="S14-word119"/>
          <p:cNvSpPr txBox="1"/>
          <p:nvPr/>
        </p:nvSpPr>
        <p:spPr>
          <a:xfrm>
            <a:off x="8125968" y="2011680"/>
            <a:ext cx="3514344" cy="1417320"/>
          </a:xfrm>
          <a:prstGeom prst="roundRect">
            <a:avLst>
              <a:gd name="adj" fmla="val 9032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펭귄은</a:t>
            </a:r>
            <a:endParaRPr lang="ko-KR" sz="3400" dirty="0"/>
          </a:p>
        </p:txBody>
      </p:sp>
      <p:sp>
        <p:nvSpPr>
          <p:cNvPr id="9" name="S14-word120"/>
          <p:cNvSpPr txBox="1"/>
          <p:nvPr/>
        </p:nvSpPr>
        <p:spPr>
          <a:xfrm>
            <a:off x="548640" y="3703320"/>
            <a:ext cx="3514344" cy="1417320"/>
          </a:xfrm>
          <a:prstGeom prst="roundRect">
            <a:avLst>
              <a:gd name="adj" fmla="val 9032"/>
            </a:avLst>
          </a:prstGeom>
          <a:solidFill>
            <a:srgbClr val="FDEBDD"/>
          </a:solidFill>
          <a:ln w="31750">
            <a:solidFill>
              <a:srgbClr val="E9762B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차갑다.</a:t>
            </a:r>
            <a:endParaRPr lang="ko-KR" sz="3400" dirty="0"/>
          </a:p>
        </p:txBody>
      </p:sp>
      <p:sp>
        <p:nvSpPr>
          <p:cNvPr id="10" name="S14-word121"/>
          <p:cNvSpPr txBox="1"/>
          <p:nvPr/>
        </p:nvSpPr>
        <p:spPr>
          <a:xfrm>
            <a:off x="4337304" y="3703320"/>
            <a:ext cx="3514344" cy="1417320"/>
          </a:xfrm>
          <a:prstGeom prst="roundRect">
            <a:avLst>
              <a:gd name="adj" fmla="val 9032"/>
            </a:avLst>
          </a:prstGeom>
          <a:solidFill>
            <a:srgbClr val="FDEBDD"/>
          </a:solidFill>
          <a:ln w="31750">
            <a:solidFill>
              <a:srgbClr val="E9762B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새이다.</a:t>
            </a:r>
            <a:endParaRPr lang="ko-KR" sz="3400" dirty="0"/>
          </a:p>
        </p:txBody>
      </p:sp>
      <p:sp>
        <p:nvSpPr>
          <p:cNvPr id="11" name="S14-word122"/>
          <p:cNvSpPr txBox="1"/>
          <p:nvPr/>
        </p:nvSpPr>
        <p:spPr>
          <a:xfrm>
            <a:off x="8125968" y="3703320"/>
            <a:ext cx="3514344" cy="1417320"/>
          </a:xfrm>
          <a:prstGeom prst="roundRect">
            <a:avLst>
              <a:gd name="adj" fmla="val 9032"/>
            </a:avLst>
          </a:prstGeom>
          <a:solidFill>
            <a:srgbClr val="FDEBDD"/>
          </a:solidFill>
          <a:ln w="31750">
            <a:solidFill>
              <a:srgbClr val="E9762B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웃는다.</a:t>
            </a:r>
            <a:endParaRPr lang="ko-KR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초4 국어 문장의 기본 짜임</dc:title>
  <dc:subject>KR22-G04-KOR-SENTFORM-L01</dc:subject>
  <dc:creator>education-ppt</dc:creator>
  <cp:lastModifiedBy>education-ppt</cp:lastModifiedBy>
  <cp:revision>1</cp:revision>
  <dcterms:created xsi:type="dcterms:W3CDTF">2026-10-26T13:19:10Z</dcterms:created>
  <dcterms:modified xsi:type="dcterms:W3CDTF">2026-10-26T13:19:10Z</dcterms:modified>
</cp:coreProperties>
</file>