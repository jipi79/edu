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962a4fd-65e6-ad87-1d66-228d1bdf9c48}">
          <p14:sldIdLst>
            <p14:sldId id="256"/>
            <p14:sldId id="257"/>
          </p14:sldIdLst>
        </p14:section>
        <p14:section name="개념" id="{a61cf246-9963-9002-eb51-0a57fcd2e1f9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e954a940-d542-e602-0b0b-2504d9a015ae}">
          <p14:sldIdLst>
            <p14:sldId id="263"/>
            <p14:sldId id="264"/>
            <p14:sldId id="265"/>
          </p14:sldIdLst>
        </p14:section>
        <p14:section name="확인" id="{2570b065-84ac-1695-1ed7-8ed19951226e}">
          <p14:sldIdLst>
            <p14:sldId id="266"/>
            <p14:sldId id="267"/>
          </p14:sldIdLst>
        </p14:section>
        <p14:section name="정리" id="{d3512156-82d7-7b68-a607-2b61c89010f9}">
          <p14:sldIdLst>
            <p14:sldId id="268"/>
          </p14:sldIdLst>
        </p14:section>
        <p14:section name="보충" id="{aa3296cd-ebc8-111a-89ee-58113433202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언어문학매체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표현의 효과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표현의 효과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국어 · 표현의 효과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표현의 효과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쓰면 장면이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눈앞에 그려질까?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흉내 내는 말과 비유 표현을 찾을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표현의 효과를 말하고 바꾸어 쓸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살펴봐요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 아장아장 걷는다.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‘누가’ 부분은?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짜임인가요?</a:t>
            </a:r>
            <a:endParaRPr lang="ko-KR" sz="30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모양을 흉내 낸 말은?</a:t>
            </a:r>
            <a:endParaRPr lang="ko-KR" sz="3000" dirty="0"/>
          </a:p>
        </p:txBody>
      </p:sp>
      <p:sp>
        <p:nvSpPr>
          <p:cNvPr id="10" name="S02-chip10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02-text11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‘고래는 동물이다.’는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짜임?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</a:t>
            </a:r>
            <a:endParaRPr lang="ko-KR" sz="4000" dirty="0"/>
          </a:p>
        </p:txBody>
      </p:sp>
      <p:sp>
        <p:nvSpPr>
          <p:cNvPr id="3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말은 소리나 모양을 흉내 내어 나타낸 말이에요.</a:t>
            </a:r>
            <a:endParaRPr lang="ko-KR" sz="3000" dirty="0"/>
          </a:p>
        </p:txBody>
      </p:sp>
      <p:sp>
        <p:nvSpPr>
          <p:cNvPr id="5" name="S03-card14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5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흉내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귀로 들은 소리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후두둑, 똑딱똑딱</a:t>
            </a:r>
            <a:endParaRPr lang="ko-KR" sz="3000" dirty="0"/>
          </a:p>
        </p:txBody>
      </p:sp>
      <p:sp>
        <p:nvSpPr>
          <p:cNvPr id="7" name="S03-card16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7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 흉내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눈으로 본 모양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아장아장, 반짝반짝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문장이 더 생생할까?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눈을 감고 두 문장을 들어 보세요.</a:t>
            </a:r>
            <a:endParaRPr lang="ko-KR" sz="3000" dirty="0"/>
          </a:p>
        </p:txBody>
      </p:sp>
      <p:sp>
        <p:nvSpPr>
          <p:cNvPr id="5" name="S04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나를 들으면 무엇이 떠오르나요? ‘가’와 무엇이 다른가요?</a:t>
            </a:r>
            <a:endParaRPr lang="ko-KR" sz="3000" dirty="0"/>
          </a:p>
        </p:txBody>
      </p:sp>
      <p:sp>
        <p:nvSpPr>
          <p:cNvPr id="7" name="S04-chip2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4-text2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빗방울이 떨어진다.</a:t>
            </a:r>
            <a:endParaRPr lang="ko-KR" sz="3000" dirty="0"/>
          </a:p>
        </p:txBody>
      </p:sp>
      <p:sp>
        <p:nvSpPr>
          <p:cNvPr id="9" name="S04-chip2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4-text2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빗방울이 후두둑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떨어진다.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비유: 빗대어 말하기</a:t>
            </a:r>
            <a:endParaRPr lang="ko-KR" sz="4000" dirty="0"/>
          </a:p>
        </p:txBody>
      </p:sp>
      <p:sp>
        <p:nvSpPr>
          <p:cNvPr id="3" name="S05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비유: 닮은 점이 있는 다른 것에 빗대어 말하는 것</a:t>
            </a:r>
            <a:endParaRPr lang="ko-KR" sz="3000" dirty="0"/>
          </a:p>
        </p:txBody>
      </p:sp>
      <p:sp>
        <p:nvSpPr>
          <p:cNvPr id="4" name="S05-card27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8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볼과 사과는 둘 다 빨개요.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닮은 점이 있어야 빗댈 수 있어요.</a:t>
            </a:r>
            <a:endParaRPr lang="ko-KR" sz="3000" dirty="0"/>
          </a:p>
        </p:txBody>
      </p:sp>
      <p:sp>
        <p:nvSpPr>
          <p:cNvPr id="6" name="S05-card29"/>
          <p:cNvSpPr/>
          <p:nvPr/>
        </p:nvSpPr>
        <p:spPr>
          <a:xfrm>
            <a:off x="548640" y="2273808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0"/>
          <p:cNvSpPr txBox="1"/>
          <p:nvPr/>
        </p:nvSpPr>
        <p:spPr>
          <a:xfrm>
            <a:off x="822960" y="2410968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‘~처럼·~같이’ (직유)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볼이 사과처럼 빨갛다.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솜사탕 같은 구름</a:t>
            </a:r>
            <a:endParaRPr lang="ko-KR" sz="3000" dirty="0"/>
          </a:p>
        </p:txBody>
      </p:sp>
      <p:sp>
        <p:nvSpPr>
          <p:cNvPr id="8" name="S05-card31"/>
          <p:cNvSpPr/>
          <p:nvPr/>
        </p:nvSpPr>
        <p:spPr>
          <a:xfrm>
            <a:off x="6208776" y="2273808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5-cardtext32"/>
          <p:cNvSpPr txBox="1"/>
          <p:nvPr/>
        </p:nvSpPr>
        <p:spPr>
          <a:xfrm>
            <a:off x="6483096" y="2410968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‘~은 ~이다’ (은유)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아빠의 등은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운동장이다.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무엇에 빗대었을까?</a:t>
            </a:r>
            <a:endParaRPr lang="ko-KR" sz="4000" dirty="0"/>
          </a:p>
        </p:txBody>
      </p:sp>
      <p:sp>
        <p:nvSpPr>
          <p:cNvPr id="3" name="S06-card3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닮은 점 덕분에 모습이 더 잘 떠올라요. 이것이 비유의 효과예요.</a:t>
            </a:r>
            <a:endParaRPr lang="ko-KR" sz="3000" dirty="0"/>
          </a:p>
        </p:txBody>
      </p:sp>
      <p:graphicFrame>
        <p:nvGraphicFramePr>
          <p:cNvPr id="7" name="S06-table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083308"/>
          <a:ext cx="1097280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1755648"/>
                <a:gridCol w="1755648"/>
                <a:gridCol w="3072384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닮은 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볼이 사과처럼 빨갛다.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빨갛다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솜사탕 같은 구름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솜사탕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하얗고 폭신하다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아빠의 등은 넓은 운동장이다.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아빠의 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운동장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넓다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표현의 효과를 말하는 방법</a:t>
            </a:r>
            <a:endParaRPr lang="ko-KR" sz="4000" dirty="0"/>
          </a:p>
        </p:txBody>
      </p:sp>
      <p:sp>
        <p:nvSpPr>
          <p:cNvPr id="3" name="S07-card36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7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‘바람처럼 달렸다’에서 아주 빠르게 달리는 모습이 떠올라요.</a:t>
            </a:r>
            <a:endParaRPr lang="ko-KR" sz="3000" dirty="0"/>
          </a:p>
        </p:txBody>
      </p:sp>
      <p:sp>
        <p:nvSpPr>
          <p:cNvPr id="5" name="S07-stepno38"/>
          <p:cNvSpPr txBox="1"/>
          <p:nvPr/>
        </p:nvSpPr>
        <p:spPr>
          <a:xfrm>
            <a:off x="548640" y="1684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7-text39"/>
          <p:cNvSpPr txBox="1"/>
          <p:nvPr/>
        </p:nvSpPr>
        <p:spPr>
          <a:xfrm>
            <a:off x="1325880" y="168402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표현을 찾아 손가락으로 짚어요.</a:t>
            </a:r>
            <a:endParaRPr lang="ko-KR" sz="3000" dirty="0"/>
          </a:p>
        </p:txBody>
      </p:sp>
      <p:sp>
        <p:nvSpPr>
          <p:cNvPr id="7" name="S07-stepno40"/>
          <p:cNvSpPr txBox="1"/>
          <p:nvPr/>
        </p:nvSpPr>
        <p:spPr>
          <a:xfrm>
            <a:off x="548640" y="2397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7-text41"/>
          <p:cNvSpPr txBox="1"/>
          <p:nvPr/>
        </p:nvSpPr>
        <p:spPr>
          <a:xfrm>
            <a:off x="1325880" y="239725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말이면 떠오르는 소리나 모양을 말해요.</a:t>
            </a:r>
            <a:endParaRPr lang="ko-KR" sz="3000" dirty="0"/>
          </a:p>
        </p:txBody>
      </p:sp>
      <p:sp>
        <p:nvSpPr>
          <p:cNvPr id="9" name="S07-stepno42"/>
          <p:cNvSpPr txBox="1"/>
          <p:nvPr/>
        </p:nvSpPr>
        <p:spPr>
          <a:xfrm>
            <a:off x="548640" y="31104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7-text43"/>
          <p:cNvSpPr txBox="1"/>
          <p:nvPr/>
        </p:nvSpPr>
        <p:spPr>
          <a:xfrm>
            <a:off x="1325880" y="311048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비유면 무엇을 무엇에 빗대었는지, 닮은 점을 말해요.</a:t>
            </a:r>
            <a:endParaRPr lang="ko-KR" sz="3000" dirty="0"/>
          </a:p>
        </p:txBody>
      </p:sp>
      <p:sp>
        <p:nvSpPr>
          <p:cNvPr id="11" name="S07-stepno44"/>
          <p:cNvSpPr txBox="1"/>
          <p:nvPr/>
        </p:nvSpPr>
        <p:spPr>
          <a:xfrm>
            <a:off x="548640" y="38237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7-text45"/>
          <p:cNvSpPr txBox="1"/>
          <p:nvPr/>
        </p:nvSpPr>
        <p:spPr>
          <a:xfrm>
            <a:off x="1325880" y="382371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“‘~’에서 …이 떠올라요.”로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비유일까요?</a:t>
            </a:r>
            <a:endParaRPr lang="ko-KR" sz="4000" dirty="0"/>
          </a:p>
        </p:txBody>
      </p:sp>
      <p:sp>
        <p:nvSpPr>
          <p:cNvPr id="3" name="S08-card4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문장 모두 ‘무엇이 + 무엇이다’ 짜임이에요.</a:t>
            </a:r>
            <a:endParaRPr lang="ko-KR" sz="3000" dirty="0"/>
          </a:p>
        </p:txBody>
      </p:sp>
      <p:sp>
        <p:nvSpPr>
          <p:cNvPr id="5" name="S08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빗대어 말한 것일까요? 무엇을 무엇에 빗대었나요?</a:t>
            </a:r>
            <a:endParaRPr lang="ko-KR" sz="3000" dirty="0"/>
          </a:p>
        </p:txBody>
      </p:sp>
      <p:sp>
        <p:nvSpPr>
          <p:cNvPr id="7" name="S08-chip5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8-text5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고래는 동물이다.</a:t>
            </a:r>
            <a:endParaRPr lang="ko-KR" sz="3000" dirty="0"/>
          </a:p>
        </p:txBody>
      </p:sp>
      <p:sp>
        <p:nvSpPr>
          <p:cNvPr id="9" name="S08-chip5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8-text5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동생은 우리 집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알람 시계이다.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‘운동회 날’ 함께 읽기</a:t>
            </a:r>
            <a:endParaRPr lang="ko-KR" sz="4000" dirty="0"/>
          </a:p>
        </p:txBody>
      </p:sp>
      <p:sp>
        <p:nvSpPr>
          <p:cNvPr id="3" name="S09-card54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55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말과 비유를 모두 찾고, 하나를 골라 효과를 말해 봐요.</a:t>
            </a:r>
            <a:endParaRPr lang="ko-KR" sz="3000" dirty="0"/>
          </a:p>
        </p:txBody>
      </p:sp>
      <p:sp>
        <p:nvSpPr>
          <p:cNvPr id="5" name="S09-passagebox56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9-passage57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운동회 날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운동회 날 아침, 하늘은 파란 도화지 같았다. 출발 소리가 탕 울리자 나는 바람처럼 달렸다. 내 가슴은 쿵쾅쿵쾅 뛰었다. 친구들의 응원 소리는 커다란 북소리였다.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표현을 넣어 바꾸어 써요</a:t>
            </a:r>
            <a:endParaRPr lang="ko-KR" sz="4000" dirty="0"/>
          </a:p>
        </p:txBody>
      </p:sp>
      <p:sp>
        <p:nvSpPr>
          <p:cNvPr id="3" name="S10-text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 뒤의 표현을 넣어 문장을 바꾸어 말해요.</a:t>
            </a:r>
            <a:endParaRPr lang="ko-KR" sz="3000" dirty="0"/>
          </a:p>
        </p:txBody>
      </p:sp>
      <p:sp>
        <p:nvSpPr>
          <p:cNvPr id="4" name="S10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바꾼 문장에서 무엇이 더 잘 떠오르는지도 말해요.</a:t>
            </a:r>
            <a:endParaRPr lang="ko-KR" sz="3000" dirty="0"/>
          </a:p>
        </p:txBody>
      </p:sp>
      <p:sp>
        <p:nvSpPr>
          <p:cNvPr id="6" name="S10-chip6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6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 걷는다. → 모양 흉내 내는 말</a:t>
            </a:r>
            <a:endParaRPr lang="ko-KR" sz="3000" dirty="0"/>
          </a:p>
        </p:txBody>
      </p:sp>
      <p:sp>
        <p:nvSpPr>
          <p:cNvPr id="8" name="S10-chip6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6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시냇물이 흐른다. → 소리 흉내 내는 말</a:t>
            </a:r>
            <a:endParaRPr lang="ko-KR" sz="3000" dirty="0"/>
          </a:p>
        </p:txBody>
      </p:sp>
      <p:sp>
        <p:nvSpPr>
          <p:cNvPr id="10" name="S10-chip6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6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눈이 하얗다. → ‘~처럼’ 비유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ard67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68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 두 개와 비유 두 개를 찾고,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비유는 무엇을 무엇에 빗대었는지 말해 보세요.</a:t>
            </a:r>
            <a:endParaRPr lang="ko-KR" sz="3000" dirty="0"/>
          </a:p>
        </p:txBody>
      </p:sp>
      <p:sp>
        <p:nvSpPr>
          <p:cNvPr id="5" name="S11-passagebox69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70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고양이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집 고양이 보리는 털이 솜이불처럼 보드랍다. 보리는 소파 밑으로 살금살금 들어간다. 배가 고프면 야옹야옹 운다. 보리의 눈은 동그란 구슬이다.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효과를 말하고 만들어요</a:t>
            </a:r>
            <a:endParaRPr lang="ko-KR" sz="4000" dirty="0"/>
          </a:p>
        </p:txBody>
      </p:sp>
      <p:sp>
        <p:nvSpPr>
          <p:cNvPr id="3" name="S13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먼저 하고 활동지에 써요.</a:t>
            </a:r>
            <a:endParaRPr lang="ko-KR" sz="3000" dirty="0"/>
          </a:p>
        </p:txBody>
      </p:sp>
      <p:sp>
        <p:nvSpPr>
          <p:cNvPr id="4" name="S13-chip7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3-text73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‘바람처럼 달렸다’를 읽으면 무엇이 떠오르나요?</a:t>
            </a:r>
            <a:endParaRPr lang="ko-KR" sz="3000" dirty="0"/>
          </a:p>
        </p:txBody>
      </p:sp>
      <p:sp>
        <p:nvSpPr>
          <p:cNvPr id="6" name="S13-chip7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3-text75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‘시계가 (　　) 간다.’에 흉내 내는 말을 넣어요.</a:t>
            </a:r>
            <a:endParaRPr lang="ko-KR" sz="3000" dirty="0"/>
          </a:p>
        </p:txBody>
      </p:sp>
      <p:sp>
        <p:nvSpPr>
          <p:cNvPr id="8" name="S13-chip7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3-text77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‘우리 집 강아지는 (　　)이다.’ 비유를 만들고 닮은 점을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78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79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말은 소리와 모양을, 비유는 닮은 점을 빗대어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장면과 느낌을 생생하게 떠오르게 해요.</a:t>
            </a:r>
            <a:endParaRPr lang="ko-KR" sz="3000" dirty="0"/>
          </a:p>
        </p:txBody>
      </p:sp>
      <p:sp>
        <p:nvSpPr>
          <p:cNvPr id="5" name="S14-chip80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떠오르는 모습을 짚어 말하기</a:t>
            </a:r>
            <a:endParaRPr lang="ko-KR" sz="2400" dirty="0"/>
          </a:p>
        </p:txBody>
      </p:sp>
      <p:sp>
        <p:nvSpPr>
          <p:cNvPr id="6" name="S14-chip81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“재미있어요.”로 끝내기</a:t>
            </a:r>
            <a:endParaRPr lang="ko-KR" sz="2400" dirty="0"/>
          </a:p>
        </p:txBody>
      </p:sp>
      <p:sp>
        <p:nvSpPr>
          <p:cNvPr id="7" name="S14-text82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83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흉내 내는 말의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가지는?</a:t>
            </a:r>
            <a:endParaRPr lang="ko-KR" sz="2400" dirty="0"/>
          </a:p>
        </p:txBody>
      </p:sp>
      <p:sp>
        <p:nvSpPr>
          <p:cNvPr id="9" name="S14-text84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비유의 두 가지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꼴은?</a:t>
            </a:r>
            <a:endParaRPr lang="ko-KR" sz="2400" dirty="0"/>
          </a:p>
        </p:txBody>
      </p:sp>
      <p:sp>
        <p:nvSpPr>
          <p:cNvPr id="10" name="S14-text85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‘볼이 사과처럼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빨갛다’의 닮은 점은?</a:t>
            </a:r>
            <a:endParaRPr lang="ko-KR" sz="2400" dirty="0"/>
          </a:p>
        </p:txBody>
      </p:sp>
      <p:sp>
        <p:nvSpPr>
          <p:cNvPr id="11" name="S14-text8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매체 자료 비교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소리와 모양 흉내</a:t>
            </a:r>
            <a:endParaRPr lang="ko-KR" sz="4000" dirty="0"/>
          </a:p>
        </p:txBody>
      </p:sp>
      <p:sp>
        <p:nvSpPr>
          <p:cNvPr id="3" name="S15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있는 물건으로 소리와 모양을 흉내 내 봐요.</a:t>
            </a:r>
            <a:endParaRPr lang="ko-KR" sz="3000" dirty="0"/>
          </a:p>
        </p:txBody>
      </p:sp>
      <p:sp>
        <p:nvSpPr>
          <p:cNvPr id="4" name="S15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귀로 들으면 소리 흉내, 눈으로 보면 모양 흉내예요.</a:t>
            </a:r>
            <a:endParaRPr lang="ko-KR" sz="3000" dirty="0"/>
          </a:p>
        </p:txBody>
      </p:sp>
      <p:sp>
        <p:nvSpPr>
          <p:cNvPr id="6" name="S15-word90"/>
          <p:cNvSpPr txBox="1"/>
          <p:nvPr/>
        </p:nvSpPr>
        <p:spPr>
          <a:xfrm>
            <a:off x="548640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땡땡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두드리기(소리)</a:t>
            </a:r>
            <a:endParaRPr lang="ko-KR" sz="3400" dirty="0"/>
          </a:p>
        </p:txBody>
      </p:sp>
      <p:sp>
        <p:nvSpPr>
          <p:cNvPr id="7" name="S15-word91"/>
          <p:cNvSpPr txBox="1"/>
          <p:nvPr/>
        </p:nvSpPr>
        <p:spPr>
          <a:xfrm>
            <a:off x="4337304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바스락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구기기(소리)</a:t>
            </a:r>
            <a:endParaRPr lang="ko-KR" sz="3400" dirty="0"/>
          </a:p>
        </p:txBody>
      </p:sp>
      <p:sp>
        <p:nvSpPr>
          <p:cNvPr id="8" name="S15-word92"/>
          <p:cNvSpPr txBox="1"/>
          <p:nvPr/>
        </p:nvSpPr>
        <p:spPr>
          <a:xfrm>
            <a:off x="8125968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살금살금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 걷기(모양)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국어 표현의 효과</dc:title>
  <dc:subject>KR22-G04-KOR-EXPRESS-L01</dc:subject>
  <dc:creator>education-ppt</dc:creator>
  <cp:lastModifiedBy>education-ppt</cp:lastModifiedBy>
  <cp:revision>1</cp:revision>
  <dcterms:created xsi:type="dcterms:W3CDTF">2026-10-26T08:17:01Z</dcterms:created>
  <dcterms:modified xsi:type="dcterms:W3CDTF">2026-10-26T08:17:01Z</dcterms:modified>
</cp:coreProperties>
</file>