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5472bcbb-76f1-e08e-ba2f-401bac4baaad}">
          <p14:sldIdLst>
            <p14:sldId id="256"/>
            <p14:sldId id="257"/>
          </p14:sldIdLst>
        </p14:section>
        <p14:section name="개념" id="{dc4d29f7-27ed-1696-953c-807c26d6e042}">
          <p14:sldIdLst>
            <p14:sldId id="258"/>
            <p14:sldId id="259"/>
            <p14:sldId id="260"/>
          </p14:sldIdLst>
        </p14:section>
        <p14:section name="연습" id="{c4986ea2-beff-5f0a-57cf-4b50e88156a5}">
          <p14:sldIdLst>
            <p14:sldId id="261"/>
            <p14:sldId id="262"/>
            <p14:sldId id="263"/>
            <p14:sldId id="264"/>
          </p14:sldIdLst>
        </p14:section>
        <p14:section name="확인" id="{7a09a345-6649-8815-e665-4a74097829b7}">
          <p14:sldIdLst>
            <p14:sldId id="265"/>
            <p14:sldId id="266"/>
            <p14:sldId id="267"/>
          </p14:sldIdLst>
        </p14:section>
        <p14:section name="정리" id="{bcfd5943-9b67-d403-7b88-fa6c7cf00135}">
          <p14:sldIdLst>
            <p14:sldId id="268"/>
          </p14:sldIdLst>
        </p14:section>
        <p14:section name="보충" id="{d4c512ba-e9e9-65a7-f788-3f83074153a8}">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[S01 · 오늘의 질문과 목표]
목적: 물건을 크기·색깔·모양으로 말하는 것에 관심을 갖게 합니다.
시간: 약 2분
이렇게 말해 보세요
- “오른쪽 두 도형은 어떻게 달라? 우리말로 말해 볼래?”
- “오늘은 물건이 큰지 작은지, 무슨 색인지, 어떤 모양인지 영어로 말해 볼 거야.”
예상 답
- “하나는 크고 빨간 동그라미, 하나는 작고 파란 네모예요.”
주의
- 수업 전에 교과서 디지털 자료나 사전 앱의 발음 듣기로 오늘 낱말과 문장(big, small, red, blue, yellow, green, round, square, It's big. It's red. It's round.)을 미리 들어 두세요. 부모님 발음이 완벽하지 않아도 괜찮습니다.
- 소리 자료 없이 진행하면 바른 소리를 확인하기 어렵습니다. 헷갈리는 표현은 기록해 두었다가 소리 자료로 나중에 확인합니다.
- 화면이나 프린터에 따라 색이 조금 다르게 보일 수 있습니다. 색을 구별하기 어려워하는 아이라면 색 대신 크기와 모양 중심으로 확인하고, 색깔은 실제 물건으로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[S02 · 선수 학습 확인(색깔 낱말, It's ~.)]
목적: 3학년 ‘그림 보고 낱말 읽기’의 색깔 낱말과, 지난 차시(시각 묻고 답하기)처럼 It's로 시작하는 대답을 기억하는지 확인합니다. 이 차시는 계획상 바로 앞 차시가 없지만, 오늘 문장이 모두 It's로 시작하고 색깔 낱말을 쓰므로 꼭 필요합니다.
시간: 약 3분
이렇게 말해 보세요
- “①의 낱말을 하나씩 읽고 무슨 색인지 말해 줄래? 그 색 물건을 가리켜도 돼.”
- “②, (집 시계를 가리키며) What time is it?”
정답
- ① red 빨간색, blue 파란색, yellow 노란색, green 초록색
- ② It's ~ o'clock. (집 시계의 시각. 정각이 아니면 가장 가까운 정각으로 말해도 됩니다.)
막히면
- 색깔 낱말을 읽지 못하면 부모가 읽어 주고 그 색 물건을 찾게 합니다.
- 색깔 낱말을 2개 이상 읽지 못하거나 ②를 It's로 시작하지 못하면 S14(보충)를 먼저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[S03 · 크기 낱말(big, small)]
목적: 크기를 나타내는 big과 small을 익힙니다(M2).
시간: 약 3분
이렇게 말해 보세요
- “두 동그라미는 색과 모양이 같아. 무엇이 달라?”
- “큰 것은 big, 작은 것은 small이야. 소리를 듣고 따라 해 보자. big, small.”
- “팔을 크게 벌리며 big! 손가락을 모으며 small!”
- “엄마(아빠)가 물건 두 개를 보여 줄게. 어느 것이 big이야?” (큰 접시와 작은 접시, 큰 공과 작은 공처럼 같은 종류로 보여 줍니다.)
예상 답
- “크기가 달라요.” “이게 big이에요.”
막히면
- 몸짓(팔 벌리기·손가락 모으기)과 함께 여러 번 말하게 합니다.
주의
- 크기는 비교하는 대상에 따라 달라집니다. 같은 종류의 물건 두 개를 나란히 놓고 비교하게 합니다(M2).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[S04 · 모양 낱말(round, square)]
목적: 모양을 나타내는 round와 square를 익힙니다(M3).
시간: 약 3분
이렇게 말해 보세요
- “동그란 모양은 round, 네모난 모양은 square야. 소리를 듣고 따라 해 보자. round, square.”
- “square는 네 변의 길이가 모두 같은 네모야. 색종이처럼.”
- “우리 집에서 round인 물건을 찾아볼까? square인 물건은?”
예상 답
- “접시가 round예요.” “색종이가 square예요.”
막히면
- 손가락으로 공중에 동그라미를 그리며 round, 네모를 그리며 square를 말하게 합니다.
주의
- 책이나 공책처럼 길쭉한 네모는 영어로 rectangle이라고 하고 square라고 하지 않습니다. 오늘은 정사각형인 물건만 square로 고릅니다(M3).
- 공처럼 둥근 물건도 round라고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[S05 · It's ~. 세 문장으로 묘사하기]
목적: 크기·색깔·모양을 It's ~. 세 문장으로 말하고, 같은 방법으로 실제 물건도 묘사할 수 있다는 것을 압니다.
시간: 약 3분
이렇게 말해 보세요
- “이 동그라미를 영어로 말해 볼게. 크기는? It's big. 색깔은? It's red. 모양은? It's round.”
- “It's는 ‘그것은 ~해’라는 뜻이야. 따라 해 볼까? It's big. It's red. It's round.”
- “크기, 색깔, 모양 차례로 손가락을 하나씩 접으며 말해 보자.”
- “진짜 물건도 똑같이 말할 수 있어. (빨간 공이나 접시를 들고) 크기는? 색깔은? 모양은?”
예상 답
- “It's big. It's red. It's round.”
막히면
- 부모가 “크기는?”, “색깔은?”, “모양은?”이라고 하나씩 물어 주고 한 문장씩 말하게 합니다.
주의
- red는 ‘빨간’이라는 꾸미는 말이라 It's red.라고 하고 a를 붙이지 않습니다(M1). S07에서 다시 비교합니다.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[S06 · 도형을 보고 세 문장으로 말하기]
목적: 도형 그림을 보고 크기·색깔·모양을 세 문장으로 말합니다.
시간: 약 4분
이렇게 말해 보세요
- “①을 크기, 색깔, 모양 차례로 말해 볼래? 손가락을 하나씩 접으면서.”
- “②, ③도 해 보자.”
- “②와 ③은 둘 다 동그라미야. 무엇이 달라?”
정답
- ① It's small. It's blue. It's square.
- ② It's big. It's green. It's round.
- ③ It's small. It's yellow. It's round.
- ②와 ③은 크기(big·small)와 색깔(green·yellow)이 다릅니다.
막히면
- 아래 카드의 낱말을 짚으며 고르게 합니다.
- 크기를 헷갈리면 S03의 큰 동그라미, 작은 동그라미와 비교하게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[S07 · 오개념 비교(It's a red.)]
목적: 꾸미는 말(red, big, round) 앞에는 a를 붙이지 않는다는 것을 비교합니다(M1).
시간: 약 2분
이렇게 말해 보세요
- “두 문장은 무엇이 달라?”
- “red는 ‘빨간’이라는 뜻이야. ‘그것은 하나의 빨간’이라고 하면 어색하지? 바르게 말한 쪽은?”
정답
- 바르게 말한 쪽은 나(It's red.)입니다. red, big, round 같은 꾸미는 말만 올 때는 a를 붙이지 않습니다. 물건 이름이 함께 올 때만 It's a red ball.처럼 a를 씁니다.
막히면
- It's big.와 It's round.도 함께 말해 보며 a가 없다는 것을 확인합니다.
주의
- 여기까지가 배우는 부분입니다. 아이가 지치면 여기서 나누어 다음 날 S08부터 해도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[S08 · 묘사를 듣고 그림 고르기]
목적: 세 문장 묘사를 끝까지 듣고 크기·색깔·모양이 모두 맞는 그림을 고릅니다.
시간: 약 3분
이렇게 말해 보세요
- “엄마(아빠)가 그림 하나를 세 문장으로 말할게. 끝까지 듣고 짚어 봐. It's small. It's red. It's round.”
- “이번에는 It's big. It's green. It's square.”
- “어떻게 알았어? 가와 나는 무엇이 달라?”
정답
- It's small. It's red. It's round. → 나 (가는 big, 라는 yellow)
- It's big. It's green. It's square. → 다
막히면
- 한 문장씩 끊어 말하고, 문장마다 맞지 않는 그림을 손으로 가리게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[S09 · 우리 집 물건 묘사하기]
목적: 실제 물건을 크기·색깔·모양으로 묘사하고, 상대의 묘사를 듣고 물건을 맞힙니다.
시간: 약 5분
이렇게 말해 보세요
- “엄마(아빠)가 먼저 할게. 잘 듣고 맞혀 봐. It's small. It's yellow. It's round. 뭘까?” (노란 동전, 노란 단추 등 실제로 있는 물건으로 합니다.)
- “이번에는 네가 물건 하나를 몰래 골라. 크기, 색깔, 모양 세 문장으로 말해 줘. 엄마(아빠)가 맞혀 볼게.”
- “한 번 더 바꿔서 해 보자.” (2~3번)
예상 답
- 예: 빨간 공 → It's big. It's red. It's round. / 초록 색종이 → It's small. It's green. It's square.
- 기준: 세 문장이 모두 It's로 시작하고, 고른 물건의 크기·색깔·모양에 맞으면 맞습니다. 물건 이름은 우리말로 맞혀도 됩니다.
막히면
- 부모가 “크기는?”, “색깔은?”, “모양은?”이라고 하나씩 물어 줍니다.
- 물건을 고르기 어려우면 미리 준비한 물건(공, 접시, 동전, 색종이) 가운데 고르게 합니다.
주의
- 색이 여러 가지이거나 빨강·파랑·노랑·초록이 아닌 물건, 길쭉한 네모 물건(책, 공책)은 피합니다(M3).
- 크기는 손바닥보다 크면 big, 작으면 small처럼 기준을 정해 주면 쉽습니다(M2).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혼자 묘사하기]
목적: 도움 없이 도형과 실제 물건을 크기·색깔·모양 세 문장으로 묘사하는지 확인합니다.
시간: 약 4분
이렇게 말해 보세요
- “이번에는 혼자 해 볼래? ①을 세 문장으로 말해 줘.” (②도 같은 방법으로)
- “③, 집에 있는 물건 하나를 골라서 세 문장으로 말해 줘. 엄마(아빠)가 맞혀 볼게.”
정답
- ① It's small. It's green. It's round.
- ② It's big. It's yellow. It's square.
- ③ 고른 물건에 맞게 It's (크기). It's (색깔). It's (모양).
- 기준: 세 문장 모두 알맞은 낱말을 넣고 a를 붙이지 않으면 맞습니다. 소리가 조금 서툴러도 알맞은 표현을 골라 말했으면 맞은 것으로 봅니다.
막히면
- 바로 알려 주지 말고 “크기는? 색깔은? 모양은?”이라고만 묻습니다.
- 도움을 받아 해결했다면 기록표에 ‘도움’으로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정답과 피드백]
목적: 아이의 대답을 확인하고 흔한 실수와 비교합니다.
시간: 약 2분
이렇게 말해 보세요
- “네가 말한 것과 왼쪽을 비교해 보자.”
- “오른쪽처럼 말하면 어디가 어색할까?”
예상 답
- “green 앞에는 a를 안 붙여요.” “①은 작으니까 small이에요.”
주의
- 이 장은 학생용 파일에서 빠집니다. 잘한 점을 먼저 말해 준 뒤 고칠 점을 하나만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마무리 확인]
목적: 처음 보는 그림에서 세 문장 묘사를 듣고 알맞은 그림을 고르는지 확인합니다.
시간: 약 2분
이렇게 말해 보세요
- “끝까지 듣고 골라 봐. It's big. It's blue. It's square.”
- “이번에는 It's small. It's red. It's square.”
정답
- It's big. It's blue. It's square. → 다 (가는 round, 나는 small)
- It's small. It's red. It's square. → 라
막히면
- 한 문장씩 끊어 말하고, 맞지 않는 그림을 하나씩 손으로 가리게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다음 학습과 복습]
목적: 핵심을 정리하고 다음 수업 첫 5분에 풀 복습을 알려 줍니다.
시간: 약 2분
이렇게 말해 보세요
- “물건을 영어로 묘사할 때 무엇을 차례로 말했지?”
- “It's 다음에 a를 붙여야 할까?”
예상 답
- “크기, 색깔, 모양이요.” “아니요. It's red.처럼 말해요.”
정답
- ① big 큰, small 작은, round 동그란, square 네모난(정사각형) ② It's big. It's green. It's square. ③ 고른 물건에 맞는 세 문장
주의
- 장난감이나 학용품을 정리할 때 It's ~. 세 문장 수수께끼를 하면 좋은 복습이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선수 학습 보충(색깔 낱말, It's ~.)]
목적: S02에서 색깔 낱말이나 It's로 대답하기가 흔들리면, 묘사하기를 배우기 전에 먼저 다집니다.
시간: 약 5분
이렇게 말해 보세요
- “색깔 낱말을 소리를 듣고 따라 읽어 보자. red, blue, yellow, green.” (교과서 디지털 자료나 사전 앱의 소리를 함께 듣습니다.)
- “우리 집에서 red인 물건을 찾아볼까? yellow인 물건은?”
- “엄마(아빠)가 시계를 가리키며 물어볼게. What time is it?”
정답
- red 빨간색, blue 파란색, yellow 노란색, green 초록색 / It's ~ o'clock.
막히면
- 색깔 낱말 카드를 같은 색 물건 옆에 놓고 함께 읽습니다.
주의
- 이 차시는 계획상 바로 앞 차시가 없습니다. 보충 뒤에도 색깔 낱말을 읽지 못하면 3학년 ‘그림 보고 낱말 읽기’(KR22-G03-ENG-PICWORDS-L01)를, It's로 대답하지 못하면 ‘시각 묻고 답하기’(KR22-G04-ENG-WHATTIME-L01)를 먼저 다시 하고 이 차시를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rtlCol="0"/>
          <a:lstStyle>
            <a:lvl1pPr algn="l" indent="0" marL="0">
              <a:buNone/>
              <a:defRPr lang="en-US" sz="46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600" dirty="0"/>
          </a:p>
        </p:txBody>
      </p:sp>
      <p:sp>
        <p:nvSpPr>
          <p:cNvPr id="3" name="Text 0"/>
          <p:cNvSpPr/>
          <p:nvPr>
            <p:ph idx="101" type="body" hasCustomPrompt="1"/>
          </p:nvPr>
        </p:nvSpPr>
        <p:spPr>
          <a:xfrm>
            <a:off x="731520" y="1920240"/>
            <a:ext cx="6675120" cy="1645920"/>
          </a:xfrm>
          <a:prstGeom prst="rect">
            <a:avLst/>
          </a:prstGeom>
          <a:noFill/>
          <a:ln/>
        </p:spPr>
        <p:txBody>
          <a:bodyPr wrap="square" rtlCol="0"/>
          <a:lstStyle>
            <a:lvl1pPr indent="0" marL="0">
              <a:buNone/>
              <a:defRPr lang="en-US" sz="3000" dirty="0">
                <a:solidFill>
                  <a:srgbClr val="C9DCD8"/>
                </a:solidFill>
                <a:latin typeface="맑은 고딕" pitchFamily="34" charset="0"/>
                <a:ea typeface="맑은 고딕" pitchFamily="34" charset="-122"/>
                <a:cs typeface="맑은 고딕" pitchFamily="34" charset="-120"/>
              </a:defRPr>
            </a:lvl1pPr>
          </a:lstStyle>
          <a:p>
            <a:pPr indent="0" marL="0">
              <a:buNone/>
            </a:pPr>
            <a:endParaRPr lang="en-US" sz="3000" dirty="0"/>
          </a:p>
        </p:txBody>
      </p:sp>
      <p:sp>
        <p:nvSpPr>
          <p:cNvPr id="4"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표현과문화 · 1차시</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초4 영어 · 사물 묘사하기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26465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C9DCD8"/>
                </a:solidFill>
                <a:latin typeface="맑은 고딕" pitchFamily="34" charset="0"/>
                <a:ea typeface="맑은 고딕" pitchFamily="34" charset="-122"/>
                <a:cs typeface="맑은 고딕" pitchFamily="34" charset="-120"/>
              </a:rPr>
              <a:t>초4 영어 · 사물 묘사하기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UPPORT">
    <p:bg>
      <p:bgPr>
        <a:solidFill>
          <a:srgbClr val="F4F7F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4000" b="1" dirty="0">
                <a:solidFill>
                  <a:srgbClr val="1F2937"/>
                </a:solidFill>
                <a:latin typeface="맑은 고딕" pitchFamily="34" charset="0"/>
                <a:ea typeface="맑은 고딕" pitchFamily="34" charset="-122"/>
                <a:cs typeface="맑은 고딕" pitchFamily="34" charset="-120"/>
              </a:defRPr>
            </a:lvl1pPr>
          </a:lstStyle>
          <a:p>
            <a:pPr algn="l" indent="0" marL="0">
              <a:buNone/>
            </a:pPr>
            <a:endParaRPr lang="en-US" sz="4000" dirty="0"/>
          </a:p>
        </p:txBody>
      </p:sp>
      <p:sp>
        <p:nvSpPr>
          <p:cNvPr id="3" name="Text 0"/>
          <p:cNvSpPr/>
          <p:nvPr/>
        </p:nvSpPr>
        <p:spPr>
          <a:xfrm>
            <a:off x="548640" y="6382512"/>
            <a:ext cx="8686800" cy="320040"/>
          </a:xfrm>
          <a:prstGeom prst="rect">
            <a:avLst/>
          </a:prstGeom>
          <a:noFill/>
          <a:ln/>
        </p:spPr>
        <p:txBody>
          <a:bodyPr wrap="square" lIns="0" tIns="0" rIns="0" bIns="0" rtlCol="0" anchor="ctr"/>
          <a:lstStyle/>
          <a:p>
            <a:pPr indent="0" marL="0">
              <a:buNone/>
            </a:pPr>
            <a:r>
              <a:rPr lang="en-US" sz="1200" dirty="0">
                <a:solidFill>
                  <a:srgbClr val="4B5563"/>
                </a:solidFill>
                <a:latin typeface="맑은 고딕" pitchFamily="34" charset="0"/>
                <a:ea typeface="맑은 고딕" pitchFamily="34" charset="-122"/>
                <a:cs typeface="맑은 고딕" pitchFamily="34" charset="-120"/>
              </a:rPr>
              <a:t>보충 자료 · 초4 영어 · 사물 묘사하기</a:t>
            </a:r>
            <a:endParaRPr lang="en-US" sz="12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6675120" cy="1188720"/>
          </a:xfrm>
          <a:prstGeom prst="rect">
            <a:avLst/>
          </a:prstGeom>
          <a:noFill/>
          <a:ln/>
        </p:spPr>
        <p:txBody>
          <a:bodyPr wrap="square" lIns="0" tIns="0" rIns="0" bIns="0" rtlCol="0" anchor="ctr"/>
          <a:lstStyle/>
          <a:p>
            <a:pPr eaLnBrk="0" algn="l" indent="0" marL="0">
              <a:buNone/>
            </a:pPr>
            <a:r>
              <a:rPr lang="ko-KR" altLang="en-US" sz="4600" b="1" dirty="0">
                <a:solidFill>
                  <a:srgbClr val="FFFFFF"/>
                </a:solidFill>
                <a:latin typeface="맑은 고딕" pitchFamily="34" charset="0"/>
                <a:ea typeface="맑은 고딕" pitchFamily="34" charset="-122"/>
                <a:cs typeface="맑은 고딕" pitchFamily="34" charset="-120"/>
              </a:rPr>
              <a:t>사물 묘사하기</a:t>
            </a:r>
            <a:endParaRPr lang="ko-KR" sz="4600" dirty="0"/>
          </a:p>
        </p:txBody>
      </p:sp>
      <p:sp>
        <p:nvSpPr>
          <p:cNvPr id="3" name="Text 0"/>
          <p:cNvSpPr/>
          <p:nvPr>
            <p:ph idx="101" type="body" hasCustomPrompt="1"/>
          </p:nvPr>
        </p:nvSpPr>
        <p:spPr>
          <a:xfrm>
            <a:off x="731520" y="1920240"/>
            <a:ext cx="6675120" cy="1645920"/>
          </a:xfrm>
          <a:prstGeom prst="rect">
            <a:avLst/>
          </a:prstGeom>
          <a:noFill/>
          <a:ln/>
        </p:spPr>
        <p:txBody>
          <a:bodyPr wrap="square" lIns="0" tIns="0" rIns="0" bIns="0" rtlCol="0" anchor="t"/>
          <a:lstStyle/>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물건의 크기·색깔·모양을</a:t>
            </a:r>
            <a:endParaRPr lang="ko-KR" sz="3000" dirty="0"/>
          </a:p>
          <a:p>
            <a:pPr eaLnBrk="0" indent="0" marL="0">
              <a:buNone/>
            </a:pPr>
            <a:r>
              <a:rPr lang="ko-KR" altLang="en-US" sz="3000" dirty="0">
                <a:solidFill>
                  <a:srgbClr val="C9DCD8"/>
                </a:solidFill>
                <a:latin typeface="맑은 고딕" pitchFamily="34" charset="0"/>
                <a:ea typeface="맑은 고딕" pitchFamily="34" charset="-122"/>
                <a:cs typeface="맑은 고딕" pitchFamily="34" charset="-120"/>
              </a:rPr>
              <a:t>영어로 말할 수 있을까요?</a:t>
            </a:r>
            <a:endParaRPr lang="ko-KR" sz="3000" dirty="0"/>
          </a:p>
        </p:txBody>
      </p:sp>
      <p:sp>
        <p:nvSpPr>
          <p:cNvPr id="4" name="S01-panel1"/>
          <p:cNvSpPr/>
          <p:nvPr/>
        </p:nvSpPr>
        <p:spPr>
          <a:xfrm>
            <a:off x="7543800" y="502920"/>
            <a:ext cx="4206240" cy="3200400"/>
          </a:xfrm>
          <a:prstGeom prst="roundRect">
            <a:avLst>
              <a:gd name="adj" fmla="val 4286"/>
            </a:avLst>
          </a:prstGeom>
          <a:solidFill>
            <a:srgbClr val="FFFFFF"/>
          </a:solidFill>
          <a:ln w="12700">
            <a:solidFill>
              <a:srgbClr val="FFFFFF"/>
            </a:solidFill>
            <a:prstDash val="solid"/>
          </a:ln>
        </p:spPr>
      </p:sp>
      <p:sp>
        <p:nvSpPr>
          <p:cNvPr id="5" name="S01-figure2" descr="큰 빨간색 동그라미"/>
          <p:cNvSpPr/>
          <p:nvPr/>
        </p:nvSpPr>
        <p:spPr>
          <a:xfrm>
            <a:off x="7823121" y="1342311"/>
            <a:ext cx="1521619" cy="1521619"/>
          </a:xfrm>
          <a:prstGeom prst="ellipse">
            <a:avLst/>
          </a:prstGeom>
          <a:solidFill>
            <a:srgbClr val="D62828"/>
          </a:solidFill>
          <a:ln w="31750">
            <a:solidFill>
              <a:srgbClr val="1F2937"/>
            </a:solidFill>
            <a:prstDash val="solid"/>
          </a:ln>
        </p:spPr>
      </p:sp>
      <p:sp>
        <p:nvSpPr>
          <p:cNvPr id="6" name="S01-figure3" descr="작은 파란색 정사각형"/>
          <p:cNvSpPr/>
          <p:nvPr/>
        </p:nvSpPr>
        <p:spPr>
          <a:xfrm>
            <a:off x="10405586" y="1798796"/>
            <a:ext cx="608647" cy="608647"/>
          </a:xfrm>
          <a:custGeom>
            <a:avLst/>
            <a:gdLst/>
            <a:ahLst/>
            <a:cxnLst/>
            <a:rect l="l" t="t" r="r" b="b"/>
            <a:pathLst>
              <a:path w="608647" h="608647">
                <a:moveTo>
                  <a:pt x="0" y="608647"/>
                </a:moveTo>
                <a:lnTo>
                  <a:pt x="608647" y="608647"/>
                </a:lnTo>
                <a:lnTo>
                  <a:pt x="608647" y="0"/>
                </a:lnTo>
                <a:lnTo>
                  <a:pt x="0" y="0"/>
                </a:lnTo>
                <a:close/>
              </a:path>
            </a:pathLst>
          </a:custGeom>
          <a:solidFill>
            <a:srgbClr val="1F5FC4"/>
          </a:solidFill>
          <a:ln w="31750">
            <a:solidFill>
              <a:srgbClr val="1F2937"/>
            </a:solidFill>
            <a:prstDash val="solid"/>
          </a:ln>
        </p:spPr>
      </p:sp>
      <p:sp>
        <p:nvSpPr>
          <p:cNvPr id="7" name="S01-card4"/>
          <p:cNvSpPr/>
          <p:nvPr/>
        </p:nvSpPr>
        <p:spPr>
          <a:xfrm>
            <a:off x="731520" y="4436364"/>
            <a:ext cx="10725912" cy="1690116"/>
          </a:xfrm>
          <a:prstGeom prst="roundRect">
            <a:avLst>
              <a:gd name="adj" fmla="val 6492"/>
            </a:avLst>
          </a:prstGeom>
          <a:solidFill>
            <a:srgbClr val="32606F"/>
          </a:solidFill>
          <a:ln w="12700">
            <a:solidFill>
              <a:srgbClr val="32606F"/>
            </a:solidFill>
            <a:prstDash val="solid"/>
          </a:ln>
        </p:spPr>
      </p:sp>
      <p:sp>
        <p:nvSpPr>
          <p:cNvPr id="8" name="S01-cardtext5"/>
          <p:cNvSpPr txBox="1"/>
          <p:nvPr/>
        </p:nvSpPr>
        <p:spPr>
          <a:xfrm>
            <a:off x="1005840" y="4573524"/>
            <a:ext cx="10177272" cy="1415796"/>
          </a:xfrm>
          <a:prstGeom prst="rect">
            <a:avLst/>
          </a:prstGeom>
          <a:noFill/>
          <a:ln/>
        </p:spPr>
        <p:txBody>
          <a:bodyPr wrap="square" lIns="0" tIns="0" rIns="0" bIns="0" rtlCol="0" anchor="ctr"/>
          <a:lstStyle/>
          <a:p>
            <a:pPr eaLnBrk="0" indent="0" marL="0">
              <a:spcAft>
                <a:spcPts val="600"/>
              </a:spcAft>
              <a:buNone/>
            </a:pPr>
            <a:r>
              <a:rPr lang="ko-KR" altLang="en-US" sz="3000" b="1" dirty="0">
                <a:solidFill>
                  <a:srgbClr val="FFFFFF"/>
                </a:solidFill>
                <a:latin typeface="맑은 고딕" pitchFamily="34" charset="0"/>
                <a:ea typeface="맑은 고딕" pitchFamily="34" charset="-122"/>
                <a:cs typeface="맑은 고딕" pitchFamily="34" charset="-120"/>
              </a:rPr>
              <a:t>오늘 할 수 있게 될 것</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① 크기·색깔·모양 낱말을 듣고 따라 말해요.</a:t>
            </a:r>
            <a:endParaRPr lang="ko-KR" sz="3000" dirty="0"/>
          </a:p>
          <a:p>
            <a:pPr eaLnBrk="0" indent="0" marL="0">
              <a:spcAft>
                <a:spcPts val="600"/>
              </a:spcAft>
              <a:buNone/>
            </a:pPr>
            <a:r>
              <a:rPr lang="ko-KR" altLang="en-US" sz="2400" dirty="0">
                <a:solidFill>
                  <a:srgbClr val="FFFFFF"/>
                </a:solidFill>
                <a:latin typeface="맑은 고딕" pitchFamily="34" charset="0"/>
                <a:ea typeface="맑은 고딕" pitchFamily="34" charset="-122"/>
                <a:cs typeface="맑은 고딕" pitchFamily="34" charset="-120"/>
              </a:rPr>
              <a:t>② It's ~.로 물건을 세 가지로 말해요.</a:t>
            </a:r>
            <a:endParaRPr lang="ko-K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색깔 낱말과 It's 떠올리기</a:t>
            </a:r>
            <a:endParaRPr lang="ko-KR" sz="4000" dirty="0"/>
          </a:p>
        </p:txBody>
      </p:sp>
      <p:sp>
        <p:nvSpPr>
          <p:cNvPr id="3" name="S02-text6"/>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①은 읽고 무슨 색인지 말하고, ②는 영어로 대답해요.</a:t>
            </a:r>
            <a:endParaRPr lang="ko-KR" sz="3000" dirty="0"/>
          </a:p>
        </p:txBody>
      </p:sp>
      <p:sp>
        <p:nvSpPr>
          <p:cNvPr id="4" name="S02-chip7"/>
          <p:cNvSpPr txBox="1"/>
          <p:nvPr/>
        </p:nvSpPr>
        <p:spPr>
          <a:xfrm>
            <a:off x="548640" y="245973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5" name="S02-text8"/>
          <p:cNvSpPr txBox="1"/>
          <p:nvPr/>
        </p:nvSpPr>
        <p:spPr>
          <a:xfrm>
            <a:off x="1344168" y="2011680"/>
            <a:ext cx="10296144" cy="14630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red　blue　yellow　green</a:t>
            </a:r>
            <a:endParaRPr lang="ko-KR" sz="3000" dirty="0"/>
          </a:p>
        </p:txBody>
      </p:sp>
      <p:sp>
        <p:nvSpPr>
          <p:cNvPr id="6" name="S02-chip9"/>
          <p:cNvSpPr txBox="1"/>
          <p:nvPr/>
        </p:nvSpPr>
        <p:spPr>
          <a:xfrm>
            <a:off x="548640" y="465429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7" name="S02-text10"/>
          <p:cNvSpPr txBox="1"/>
          <p:nvPr/>
        </p:nvSpPr>
        <p:spPr>
          <a:xfrm>
            <a:off x="1344168" y="4206240"/>
            <a:ext cx="10296144" cy="14630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 시계를 가리키며</a:t>
            </a:r>
            <a:endParaRPr lang="ko-KR" sz="3000" dirty="0"/>
          </a:p>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What time is it?이라고 물어요.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big과 small</a:t>
            </a:r>
            <a:endParaRPr lang="ko-KR" sz="4000" dirty="0"/>
          </a:p>
        </p:txBody>
      </p:sp>
      <p:sp>
        <p:nvSpPr>
          <p:cNvPr id="3" name="S03-card1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3-cardtext1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big 커요　·　small 작아요</a:t>
            </a:r>
            <a:endParaRPr lang="ko-KR" sz="3000" dirty="0"/>
          </a:p>
        </p:txBody>
      </p:sp>
      <p:sp>
        <p:nvSpPr>
          <p:cNvPr id="5" name="S03-figure13" descr="큰 노란색 동그라미"/>
          <p:cNvSpPr/>
          <p:nvPr/>
        </p:nvSpPr>
        <p:spPr>
          <a:xfrm>
            <a:off x="2391156" y="2130552"/>
            <a:ext cx="1700784" cy="1700784"/>
          </a:xfrm>
          <a:prstGeom prst="ellipse">
            <a:avLst/>
          </a:prstGeom>
          <a:solidFill>
            <a:srgbClr val="FFD21F"/>
          </a:solidFill>
          <a:ln w="31750">
            <a:solidFill>
              <a:srgbClr val="1F2937"/>
            </a:solidFill>
            <a:prstDash val="solid"/>
          </a:ln>
        </p:spPr>
      </p:sp>
      <p:sp>
        <p:nvSpPr>
          <p:cNvPr id="6" name="S03-label14"/>
          <p:cNvSpPr txBox="1"/>
          <p:nvPr/>
        </p:nvSpPr>
        <p:spPr>
          <a:xfrm>
            <a:off x="548640" y="4709160"/>
            <a:ext cx="5385816" cy="41148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big</a:t>
            </a:r>
            <a:endParaRPr lang="ko-KR" sz="2400" dirty="0"/>
          </a:p>
        </p:txBody>
      </p:sp>
      <p:sp>
        <p:nvSpPr>
          <p:cNvPr id="7" name="S03-figure15" descr="작은 노란색 동그라미"/>
          <p:cNvSpPr/>
          <p:nvPr/>
        </p:nvSpPr>
        <p:spPr>
          <a:xfrm>
            <a:off x="8607247" y="2640787"/>
            <a:ext cx="680314" cy="680314"/>
          </a:xfrm>
          <a:prstGeom prst="ellipse">
            <a:avLst/>
          </a:prstGeom>
          <a:solidFill>
            <a:srgbClr val="FFD21F"/>
          </a:solidFill>
          <a:ln w="31750">
            <a:solidFill>
              <a:srgbClr val="1F2937"/>
            </a:solidFill>
            <a:prstDash val="solid"/>
          </a:ln>
        </p:spPr>
      </p:sp>
      <p:sp>
        <p:nvSpPr>
          <p:cNvPr id="8" name="S03-label16"/>
          <p:cNvSpPr txBox="1"/>
          <p:nvPr/>
        </p:nvSpPr>
        <p:spPr>
          <a:xfrm>
            <a:off x="6254496" y="4709160"/>
            <a:ext cx="5385816" cy="41148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small</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round와 square</a:t>
            </a:r>
            <a:endParaRPr lang="ko-KR" sz="4000" dirty="0"/>
          </a:p>
        </p:txBody>
      </p:sp>
      <p:sp>
        <p:nvSpPr>
          <p:cNvPr id="3" name="S04-card17"/>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04-cardtext18"/>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round 동그란　·　square 네 변의 길이가 같은 네모난</a:t>
            </a:r>
            <a:endParaRPr lang="ko-KR" sz="3000" dirty="0"/>
          </a:p>
        </p:txBody>
      </p:sp>
      <p:sp>
        <p:nvSpPr>
          <p:cNvPr id="5" name="S04-figure19" descr="큰 초록색 동그라미"/>
          <p:cNvSpPr/>
          <p:nvPr/>
        </p:nvSpPr>
        <p:spPr>
          <a:xfrm>
            <a:off x="2391156" y="2130552"/>
            <a:ext cx="1700784" cy="1700784"/>
          </a:xfrm>
          <a:prstGeom prst="ellipse">
            <a:avLst/>
          </a:prstGeom>
          <a:solidFill>
            <a:srgbClr val="2E9E44"/>
          </a:solidFill>
          <a:ln w="31750">
            <a:solidFill>
              <a:srgbClr val="1F2937"/>
            </a:solidFill>
            <a:prstDash val="solid"/>
          </a:ln>
        </p:spPr>
      </p:sp>
      <p:sp>
        <p:nvSpPr>
          <p:cNvPr id="6" name="S04-label20"/>
          <p:cNvSpPr txBox="1"/>
          <p:nvPr/>
        </p:nvSpPr>
        <p:spPr>
          <a:xfrm>
            <a:off x="548640" y="4709160"/>
            <a:ext cx="5385816" cy="41148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round</a:t>
            </a:r>
            <a:endParaRPr lang="ko-KR" sz="2400" dirty="0"/>
          </a:p>
        </p:txBody>
      </p:sp>
      <p:sp>
        <p:nvSpPr>
          <p:cNvPr id="7" name="S04-figure21" descr="큰 초록색 정사각형"/>
          <p:cNvSpPr/>
          <p:nvPr/>
        </p:nvSpPr>
        <p:spPr>
          <a:xfrm>
            <a:off x="8097012" y="2130552"/>
            <a:ext cx="1700784" cy="1700784"/>
          </a:xfrm>
          <a:custGeom>
            <a:avLst/>
            <a:gdLst/>
            <a:ahLst/>
            <a:cxnLst/>
            <a:rect l="l" t="t" r="r" b="b"/>
            <a:pathLst>
              <a:path w="1700784" h="1700784">
                <a:moveTo>
                  <a:pt x="0" y="1700784"/>
                </a:moveTo>
                <a:lnTo>
                  <a:pt x="1700784" y="1700784"/>
                </a:lnTo>
                <a:lnTo>
                  <a:pt x="1700784" y="0"/>
                </a:lnTo>
                <a:lnTo>
                  <a:pt x="0" y="0"/>
                </a:lnTo>
                <a:close/>
              </a:path>
            </a:pathLst>
          </a:custGeom>
          <a:solidFill>
            <a:srgbClr val="2E9E44"/>
          </a:solidFill>
          <a:ln w="31750">
            <a:solidFill>
              <a:srgbClr val="1F2937"/>
            </a:solidFill>
            <a:prstDash val="solid"/>
          </a:ln>
        </p:spPr>
      </p:sp>
      <p:sp>
        <p:nvSpPr>
          <p:cNvPr id="8" name="S04-label22"/>
          <p:cNvSpPr txBox="1"/>
          <p:nvPr/>
        </p:nvSpPr>
        <p:spPr>
          <a:xfrm>
            <a:off x="6254496" y="4709160"/>
            <a:ext cx="5385816" cy="411480"/>
          </a:xfrm>
          <a:prstGeom prst="rect">
            <a:avLst/>
          </a:prstGeom>
          <a:noFill/>
          <a:ln/>
        </p:spPr>
        <p:txBody>
          <a:bodyPr wrap="square" lIns="0" tIns="0" rIns="0" bIns="0" rtlCol="0" anchor="ctr"/>
          <a:lstStyle/>
          <a:p>
            <a:pPr eaLnBrk="0" algn="ctr" indent="0" marL="0">
              <a:buNone/>
            </a:pPr>
            <a:r>
              <a:rPr lang="en-US" altLang="ko-KR" sz="2400" b="1" dirty="0">
                <a:solidFill>
                  <a:srgbClr val="1F2937"/>
                </a:solidFill>
                <a:latin typeface="맑은 고딕" pitchFamily="34" charset="0"/>
                <a:ea typeface="맑은 고딕" pitchFamily="34" charset="-122"/>
                <a:cs typeface="맑은 고딕" pitchFamily="34" charset="-120"/>
              </a:rPr>
              <a:t>square</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en-US" altLang="ko-KR" sz="4000" b="1" dirty="0">
                <a:solidFill>
                  <a:srgbClr val="1F2937"/>
                </a:solidFill>
                <a:latin typeface="맑은 고딕" pitchFamily="34" charset="0"/>
                <a:ea typeface="맑은 고딕" pitchFamily="34" charset="-122"/>
                <a:cs typeface="맑은 고딕" pitchFamily="34" charset="-120"/>
              </a:rPr>
              <a:t>It's big. It's red.</a:t>
            </a:r>
            <a:endParaRPr lang="ko-KR" sz="4000" dirty="0"/>
          </a:p>
        </p:txBody>
      </p:sp>
      <p:sp>
        <p:nvSpPr>
          <p:cNvPr id="3" name="S05-figure23" descr="큰 빨간색 동그라미"/>
          <p:cNvSpPr/>
          <p:nvPr/>
        </p:nvSpPr>
        <p:spPr>
          <a:xfrm>
            <a:off x="2379726" y="2921508"/>
            <a:ext cx="1700784" cy="1700784"/>
          </a:xfrm>
          <a:prstGeom prst="ellipse">
            <a:avLst/>
          </a:prstGeom>
          <a:solidFill>
            <a:srgbClr val="D62828"/>
          </a:solidFill>
          <a:ln w="31750">
            <a:solidFill>
              <a:srgbClr val="1F2937"/>
            </a:solidFill>
            <a:prstDash val="solid"/>
          </a:ln>
        </p:spPr>
      </p:sp>
      <p:sp>
        <p:nvSpPr>
          <p:cNvPr id="4" name="S05-card24"/>
          <p:cNvSpPr/>
          <p:nvPr/>
        </p:nvSpPr>
        <p:spPr>
          <a:xfrm>
            <a:off x="6277356" y="1680210"/>
            <a:ext cx="5362956" cy="1242060"/>
          </a:xfrm>
          <a:prstGeom prst="roundRect">
            <a:avLst>
              <a:gd name="adj" fmla="val 8834"/>
            </a:avLst>
          </a:prstGeom>
          <a:solidFill>
            <a:srgbClr val="EAF3F1"/>
          </a:solidFill>
          <a:ln w="12700">
            <a:solidFill>
              <a:srgbClr val="EAF3F1"/>
            </a:solidFill>
            <a:prstDash val="solid"/>
          </a:ln>
        </p:spPr>
      </p:sp>
      <p:sp>
        <p:nvSpPr>
          <p:cNvPr id="5" name="S05-cardtext25"/>
          <p:cNvSpPr txBox="1"/>
          <p:nvPr/>
        </p:nvSpPr>
        <p:spPr>
          <a:xfrm>
            <a:off x="6551676" y="1817370"/>
            <a:ext cx="4814316" cy="967740"/>
          </a:xfrm>
          <a:prstGeom prst="rect">
            <a:avLst/>
          </a:prstGeom>
          <a:noFill/>
          <a:ln/>
        </p:spPr>
        <p:txBody>
          <a:bodyPr wrap="square" lIns="0" tIns="0" rIns="0" bIns="0" rtlCol="0" anchor="ctr"/>
          <a:lstStyle/>
          <a:p>
            <a:pPr eaLnBrk="0" indent="0" marL="0">
              <a:spcAft>
                <a:spcPts val="600"/>
              </a:spcAft>
              <a:buNone/>
            </a:pPr>
            <a:r>
              <a:rPr lang="en-US" altLang="ko-KR" sz="3000" b="1" dirty="0">
                <a:solidFill>
                  <a:srgbClr val="1F2937"/>
                </a:solidFill>
                <a:latin typeface="맑은 고딕" pitchFamily="34" charset="0"/>
                <a:ea typeface="맑은 고딕" pitchFamily="34" charset="-122"/>
                <a:cs typeface="맑은 고딕" pitchFamily="34" charset="-120"/>
              </a:rPr>
              <a:t>It's big.</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커요.</a:t>
            </a:r>
            <a:endParaRPr lang="ko-KR" sz="3000" dirty="0"/>
          </a:p>
        </p:txBody>
      </p:sp>
      <p:sp>
        <p:nvSpPr>
          <p:cNvPr id="6" name="S05-card26"/>
          <p:cNvSpPr/>
          <p:nvPr/>
        </p:nvSpPr>
        <p:spPr>
          <a:xfrm>
            <a:off x="6277356" y="3150870"/>
            <a:ext cx="5362956" cy="1242060"/>
          </a:xfrm>
          <a:prstGeom prst="roundRect">
            <a:avLst>
              <a:gd name="adj" fmla="val 8834"/>
            </a:avLst>
          </a:prstGeom>
          <a:solidFill>
            <a:srgbClr val="EAF3F1"/>
          </a:solidFill>
          <a:ln w="12700">
            <a:solidFill>
              <a:srgbClr val="EAF3F1"/>
            </a:solidFill>
            <a:prstDash val="solid"/>
          </a:ln>
        </p:spPr>
      </p:sp>
      <p:sp>
        <p:nvSpPr>
          <p:cNvPr id="7" name="S05-cardtext27"/>
          <p:cNvSpPr txBox="1"/>
          <p:nvPr/>
        </p:nvSpPr>
        <p:spPr>
          <a:xfrm>
            <a:off x="6551676" y="3288030"/>
            <a:ext cx="4814316" cy="967740"/>
          </a:xfrm>
          <a:prstGeom prst="rect">
            <a:avLst/>
          </a:prstGeom>
          <a:noFill/>
          <a:ln/>
        </p:spPr>
        <p:txBody>
          <a:bodyPr wrap="square" lIns="0" tIns="0" rIns="0" bIns="0" rtlCol="0" anchor="ctr"/>
          <a:lstStyle/>
          <a:p>
            <a:pPr eaLnBrk="0" indent="0" marL="0">
              <a:spcAft>
                <a:spcPts val="600"/>
              </a:spcAft>
              <a:buNone/>
            </a:pPr>
            <a:r>
              <a:rPr lang="en-US" altLang="ko-KR" sz="3000" b="1" dirty="0">
                <a:solidFill>
                  <a:srgbClr val="1F2937"/>
                </a:solidFill>
                <a:latin typeface="맑은 고딕" pitchFamily="34" charset="0"/>
                <a:ea typeface="맑은 고딕" pitchFamily="34" charset="-122"/>
                <a:cs typeface="맑은 고딕" pitchFamily="34" charset="-120"/>
              </a:rPr>
              <a:t>It's red.</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빨간색이에요.</a:t>
            </a:r>
            <a:endParaRPr lang="ko-KR" sz="3000" dirty="0"/>
          </a:p>
        </p:txBody>
      </p:sp>
      <p:sp>
        <p:nvSpPr>
          <p:cNvPr id="8" name="S05-card28"/>
          <p:cNvSpPr/>
          <p:nvPr/>
        </p:nvSpPr>
        <p:spPr>
          <a:xfrm>
            <a:off x="6277356" y="4621530"/>
            <a:ext cx="5362956" cy="1242060"/>
          </a:xfrm>
          <a:prstGeom prst="roundRect">
            <a:avLst>
              <a:gd name="adj" fmla="val 8834"/>
            </a:avLst>
          </a:prstGeom>
          <a:solidFill>
            <a:srgbClr val="EAF3F1"/>
          </a:solidFill>
          <a:ln w="12700">
            <a:solidFill>
              <a:srgbClr val="EAF3F1"/>
            </a:solidFill>
            <a:prstDash val="solid"/>
          </a:ln>
        </p:spPr>
      </p:sp>
      <p:sp>
        <p:nvSpPr>
          <p:cNvPr id="9" name="S05-cardtext29"/>
          <p:cNvSpPr txBox="1"/>
          <p:nvPr/>
        </p:nvSpPr>
        <p:spPr>
          <a:xfrm>
            <a:off x="6551676" y="4758690"/>
            <a:ext cx="4814316" cy="967740"/>
          </a:xfrm>
          <a:prstGeom prst="rect">
            <a:avLst/>
          </a:prstGeom>
          <a:noFill/>
          <a:ln/>
        </p:spPr>
        <p:txBody>
          <a:bodyPr wrap="square" lIns="0" tIns="0" rIns="0" bIns="0" rtlCol="0" anchor="ctr"/>
          <a:lstStyle/>
          <a:p>
            <a:pPr eaLnBrk="0" indent="0" marL="0">
              <a:spcAft>
                <a:spcPts val="600"/>
              </a:spcAft>
              <a:buNone/>
            </a:pPr>
            <a:r>
              <a:rPr lang="en-US" altLang="ko-KR" sz="3000" b="1" dirty="0">
                <a:solidFill>
                  <a:srgbClr val="1F2937"/>
                </a:solidFill>
                <a:latin typeface="맑은 고딕" pitchFamily="34" charset="0"/>
                <a:ea typeface="맑은 고딕" pitchFamily="34" charset="-122"/>
                <a:cs typeface="맑은 고딕" pitchFamily="34" charset="-120"/>
              </a:rPr>
              <a:t>It's round.</a:t>
            </a:r>
            <a:endParaRPr lang="ko-KR" sz="3000" dirty="0"/>
          </a:p>
          <a:p>
            <a:pPr eaLnBrk="0" indent="0" marL="0">
              <a:spcAft>
                <a:spcPts val="600"/>
              </a:spcAft>
              <a:buNone/>
            </a:pPr>
            <a:r>
              <a:rPr lang="ko-KR" altLang="en-US" sz="2400" dirty="0">
                <a:solidFill>
                  <a:srgbClr val="1F2937"/>
                </a:solidFill>
                <a:latin typeface="맑은 고딕" pitchFamily="34" charset="0"/>
                <a:ea typeface="맑은 고딕" pitchFamily="34" charset="-122"/>
                <a:cs typeface="맑은 고딕" pitchFamily="34" charset="-120"/>
              </a:rPr>
              <a:t>동그래요.</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어떻게 생겼나요?</a:t>
            </a:r>
            <a:endParaRPr lang="ko-KR" sz="4000" dirty="0"/>
          </a:p>
        </p:txBody>
      </p:sp>
      <p:sp>
        <p:nvSpPr>
          <p:cNvPr id="3" name="S06-text30"/>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크기·색깔·모양을 It's ~. 세 문장으로 말해요.</a:t>
            </a:r>
            <a:endParaRPr lang="ko-KR" sz="3000" dirty="0"/>
          </a:p>
        </p:txBody>
      </p:sp>
      <p:sp>
        <p:nvSpPr>
          <p:cNvPr id="4" name="S06-card31"/>
          <p:cNvSpPr/>
          <p:nvPr/>
        </p:nvSpPr>
        <p:spPr>
          <a:xfrm>
            <a:off x="548640" y="4959096"/>
            <a:ext cx="11091672" cy="1258824"/>
          </a:xfrm>
          <a:prstGeom prst="roundRect">
            <a:avLst>
              <a:gd name="adj" fmla="val 8717"/>
            </a:avLst>
          </a:prstGeom>
          <a:solidFill>
            <a:srgbClr val="FDEBDD"/>
          </a:solidFill>
          <a:ln w="12700">
            <a:solidFill>
              <a:srgbClr val="FDEBDD"/>
            </a:solidFill>
            <a:prstDash val="solid"/>
          </a:ln>
        </p:spPr>
      </p:sp>
      <p:sp>
        <p:nvSpPr>
          <p:cNvPr id="5" name="S06-cardtext32"/>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big  small　/　round  square</a:t>
            </a:r>
            <a:endParaRPr lang="ko-KR" sz="3000" dirty="0"/>
          </a:p>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red  blue  yellow  green</a:t>
            </a:r>
            <a:endParaRPr lang="ko-KR" sz="3000" dirty="0"/>
          </a:p>
        </p:txBody>
      </p:sp>
      <p:sp>
        <p:nvSpPr>
          <p:cNvPr id="6" name="S06-figure33" descr="작은 파란색 정사각형"/>
          <p:cNvSpPr/>
          <p:nvPr/>
        </p:nvSpPr>
        <p:spPr>
          <a:xfrm>
            <a:off x="1950415" y="2788615"/>
            <a:ext cx="680314" cy="680314"/>
          </a:xfrm>
          <a:custGeom>
            <a:avLst/>
            <a:gdLst/>
            <a:ahLst/>
            <a:cxnLst/>
            <a:rect l="l" t="t" r="r" b="b"/>
            <a:pathLst>
              <a:path w="680314" h="680314">
                <a:moveTo>
                  <a:pt x="0" y="680314"/>
                </a:moveTo>
                <a:lnTo>
                  <a:pt x="680314" y="680314"/>
                </a:lnTo>
                <a:lnTo>
                  <a:pt x="680314" y="0"/>
                </a:lnTo>
                <a:lnTo>
                  <a:pt x="0" y="0"/>
                </a:lnTo>
                <a:close/>
              </a:path>
            </a:pathLst>
          </a:custGeom>
          <a:solidFill>
            <a:srgbClr val="1F5FC4"/>
          </a:solidFill>
          <a:ln w="31750">
            <a:solidFill>
              <a:srgbClr val="1F2937"/>
            </a:solidFill>
            <a:prstDash val="solid"/>
          </a:ln>
        </p:spPr>
      </p:sp>
      <p:sp>
        <p:nvSpPr>
          <p:cNvPr id="7" name="S06-label34"/>
          <p:cNvSpPr txBox="1"/>
          <p:nvPr/>
        </p:nvSpPr>
        <p:spPr>
          <a:xfrm>
            <a:off x="548640" y="4319016"/>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①</a:t>
            </a:r>
            <a:endParaRPr lang="ko-KR" sz="2400" dirty="0"/>
          </a:p>
        </p:txBody>
      </p:sp>
      <p:sp>
        <p:nvSpPr>
          <p:cNvPr id="8" name="S06-figure35" descr="큰 초록색 동그라미"/>
          <p:cNvSpPr/>
          <p:nvPr/>
        </p:nvSpPr>
        <p:spPr>
          <a:xfrm>
            <a:off x="5244084" y="2278380"/>
            <a:ext cx="1700784" cy="1700784"/>
          </a:xfrm>
          <a:prstGeom prst="ellipse">
            <a:avLst/>
          </a:prstGeom>
          <a:solidFill>
            <a:srgbClr val="2E9E44"/>
          </a:solidFill>
          <a:ln w="31750">
            <a:solidFill>
              <a:srgbClr val="1F2937"/>
            </a:solidFill>
            <a:prstDash val="solid"/>
          </a:ln>
        </p:spPr>
      </p:sp>
      <p:sp>
        <p:nvSpPr>
          <p:cNvPr id="9" name="S06-label36"/>
          <p:cNvSpPr txBox="1"/>
          <p:nvPr/>
        </p:nvSpPr>
        <p:spPr>
          <a:xfrm>
            <a:off x="4352544" y="4319016"/>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②</a:t>
            </a:r>
            <a:endParaRPr lang="ko-KR" sz="2400" dirty="0"/>
          </a:p>
        </p:txBody>
      </p:sp>
      <p:sp>
        <p:nvSpPr>
          <p:cNvPr id="10" name="S06-figure37" descr="작은 노란색 동그라미"/>
          <p:cNvSpPr/>
          <p:nvPr/>
        </p:nvSpPr>
        <p:spPr>
          <a:xfrm>
            <a:off x="9558223" y="2788615"/>
            <a:ext cx="680314" cy="680314"/>
          </a:xfrm>
          <a:prstGeom prst="ellipse">
            <a:avLst/>
          </a:prstGeom>
          <a:solidFill>
            <a:srgbClr val="FFD21F"/>
          </a:solidFill>
          <a:ln w="31750">
            <a:solidFill>
              <a:srgbClr val="1F2937"/>
            </a:solidFill>
            <a:prstDash val="solid"/>
          </a:ln>
        </p:spPr>
      </p:sp>
      <p:sp>
        <p:nvSpPr>
          <p:cNvPr id="11" name="S06-label38"/>
          <p:cNvSpPr txBox="1"/>
          <p:nvPr/>
        </p:nvSpPr>
        <p:spPr>
          <a:xfrm>
            <a:off x="8156448" y="4319016"/>
            <a:ext cx="3483864"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③</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It's red.일까요?</a:t>
            </a:r>
            <a:endParaRPr lang="ko-KR" sz="4000" dirty="0"/>
          </a:p>
        </p:txBody>
      </p:sp>
      <p:sp>
        <p:nvSpPr>
          <p:cNvPr id="3" name="S07-card39"/>
          <p:cNvSpPr/>
          <p:nvPr/>
        </p:nvSpPr>
        <p:spPr>
          <a:xfrm>
            <a:off x="548640" y="1325880"/>
            <a:ext cx="11091672" cy="868680"/>
          </a:xfrm>
          <a:prstGeom prst="roundRect">
            <a:avLst>
              <a:gd name="adj" fmla="val 12632"/>
            </a:avLst>
          </a:prstGeom>
          <a:solidFill>
            <a:srgbClr val="EAF3F1"/>
          </a:solidFill>
          <a:ln w="12700">
            <a:solidFill>
              <a:srgbClr val="EAF3F1"/>
            </a:solidFill>
            <a:prstDash val="solid"/>
          </a:ln>
        </p:spPr>
      </p:sp>
      <p:sp>
        <p:nvSpPr>
          <p:cNvPr id="4" name="S07-cardtext40"/>
          <p:cNvSpPr txBox="1"/>
          <p:nvPr/>
        </p:nvSpPr>
        <p:spPr>
          <a:xfrm>
            <a:off x="822960" y="146304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친구가 빨간 동그라미를 보고 이렇게 말했어요.</a:t>
            </a:r>
            <a:endParaRPr lang="ko-KR" sz="3000" dirty="0"/>
          </a:p>
        </p:txBody>
      </p:sp>
      <p:sp>
        <p:nvSpPr>
          <p:cNvPr id="5" name="S07-card41"/>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6" name="S07-cardtext42"/>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바르게 말한 쪽은? 무엇이 다른가요?</a:t>
            </a:r>
            <a:endParaRPr lang="ko-KR" sz="3000" dirty="0"/>
          </a:p>
        </p:txBody>
      </p:sp>
      <p:sp>
        <p:nvSpPr>
          <p:cNvPr id="7" name="S07-chip43"/>
          <p:cNvSpPr txBox="1"/>
          <p:nvPr/>
        </p:nvSpPr>
        <p:spPr>
          <a:xfrm>
            <a:off x="548640"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8" name="S07-word44"/>
          <p:cNvSpPr txBox="1"/>
          <p:nvPr/>
        </p:nvSpPr>
        <p:spPr>
          <a:xfrm>
            <a:off x="548640"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It's a red.</a:t>
            </a:r>
            <a:endParaRPr lang="ko-KR" sz="3400" dirty="0"/>
          </a:p>
        </p:txBody>
      </p:sp>
      <p:sp>
        <p:nvSpPr>
          <p:cNvPr id="9" name="S07-chip45"/>
          <p:cNvSpPr txBox="1"/>
          <p:nvPr/>
        </p:nvSpPr>
        <p:spPr>
          <a:xfrm>
            <a:off x="6277356" y="2423160"/>
            <a:ext cx="5362956" cy="566928"/>
          </a:xfrm>
          <a:prstGeom prst="roundRect">
            <a:avLst>
              <a:gd name="adj" fmla="val 25806"/>
            </a:avLst>
          </a:prstGeom>
          <a:solidFill>
            <a:srgbClr val="E6ECF4"/>
          </a:solidFill>
          <a:ln>
            <a:solidFill>
              <a:srgbClr val="E6ECF4"/>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10" name="S07-word46"/>
          <p:cNvSpPr txBox="1"/>
          <p:nvPr/>
        </p:nvSpPr>
        <p:spPr>
          <a:xfrm>
            <a:off x="6277356" y="3268980"/>
            <a:ext cx="5362956"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It's red.</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듣고 골라요</a:t>
            </a:r>
            <a:endParaRPr lang="ko-KR" sz="4000" dirty="0"/>
          </a:p>
        </p:txBody>
      </p:sp>
      <p:sp>
        <p:nvSpPr>
          <p:cNvPr id="3" name="S08-text47"/>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엄마(아빠)가 말하는 그림을 짚어요.</a:t>
            </a:r>
            <a:endParaRPr lang="ko-KR" sz="3000" dirty="0"/>
          </a:p>
        </p:txBody>
      </p:sp>
      <p:sp>
        <p:nvSpPr>
          <p:cNvPr id="4" name="S08-figure48" descr="큰 빨간색 동그라미"/>
          <p:cNvSpPr/>
          <p:nvPr/>
        </p:nvSpPr>
        <p:spPr>
          <a:xfrm>
            <a:off x="964692" y="3022092"/>
            <a:ext cx="1700784" cy="1700784"/>
          </a:xfrm>
          <a:prstGeom prst="ellipse">
            <a:avLst/>
          </a:prstGeom>
          <a:solidFill>
            <a:srgbClr val="D62828"/>
          </a:solidFill>
          <a:ln w="31750">
            <a:solidFill>
              <a:srgbClr val="1F2937"/>
            </a:solidFill>
            <a:prstDash val="solid"/>
          </a:ln>
        </p:spPr>
      </p:sp>
      <p:sp>
        <p:nvSpPr>
          <p:cNvPr id="5" name="S08-label49"/>
          <p:cNvSpPr txBox="1"/>
          <p:nvPr/>
        </p:nvSpPr>
        <p:spPr>
          <a:xfrm>
            <a:off x="548640" y="5806440"/>
            <a:ext cx="2532888"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가</a:t>
            </a:r>
            <a:endParaRPr lang="ko-KR" sz="2400" dirty="0"/>
          </a:p>
        </p:txBody>
      </p:sp>
      <p:sp>
        <p:nvSpPr>
          <p:cNvPr id="6" name="S08-figure50" descr="작은 빨간색 동그라미"/>
          <p:cNvSpPr/>
          <p:nvPr/>
        </p:nvSpPr>
        <p:spPr>
          <a:xfrm>
            <a:off x="4327855" y="3532327"/>
            <a:ext cx="680314" cy="680314"/>
          </a:xfrm>
          <a:prstGeom prst="ellipse">
            <a:avLst/>
          </a:prstGeom>
          <a:solidFill>
            <a:srgbClr val="D62828"/>
          </a:solidFill>
          <a:ln w="31750">
            <a:solidFill>
              <a:srgbClr val="1F2937"/>
            </a:solidFill>
            <a:prstDash val="solid"/>
          </a:ln>
        </p:spPr>
      </p:sp>
      <p:sp>
        <p:nvSpPr>
          <p:cNvPr id="7" name="S08-label51"/>
          <p:cNvSpPr txBox="1"/>
          <p:nvPr/>
        </p:nvSpPr>
        <p:spPr>
          <a:xfrm>
            <a:off x="3401568" y="5806440"/>
            <a:ext cx="2532888"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나</a:t>
            </a:r>
            <a:endParaRPr lang="ko-KR" sz="2400" dirty="0"/>
          </a:p>
        </p:txBody>
      </p:sp>
      <p:sp>
        <p:nvSpPr>
          <p:cNvPr id="8" name="S08-figure52" descr="큰 초록색 정사각형"/>
          <p:cNvSpPr/>
          <p:nvPr/>
        </p:nvSpPr>
        <p:spPr>
          <a:xfrm>
            <a:off x="6670548" y="3022092"/>
            <a:ext cx="1700784" cy="1700784"/>
          </a:xfrm>
          <a:custGeom>
            <a:avLst/>
            <a:gdLst/>
            <a:ahLst/>
            <a:cxnLst/>
            <a:rect l="l" t="t" r="r" b="b"/>
            <a:pathLst>
              <a:path w="1700784" h="1700784">
                <a:moveTo>
                  <a:pt x="0" y="1700784"/>
                </a:moveTo>
                <a:lnTo>
                  <a:pt x="1700784" y="1700784"/>
                </a:lnTo>
                <a:lnTo>
                  <a:pt x="1700784" y="0"/>
                </a:lnTo>
                <a:lnTo>
                  <a:pt x="0" y="0"/>
                </a:lnTo>
                <a:close/>
              </a:path>
            </a:pathLst>
          </a:custGeom>
          <a:solidFill>
            <a:srgbClr val="2E9E44"/>
          </a:solidFill>
          <a:ln w="31750">
            <a:solidFill>
              <a:srgbClr val="1F2937"/>
            </a:solidFill>
            <a:prstDash val="solid"/>
          </a:ln>
        </p:spPr>
      </p:sp>
      <p:sp>
        <p:nvSpPr>
          <p:cNvPr id="9" name="S08-label53"/>
          <p:cNvSpPr txBox="1"/>
          <p:nvPr/>
        </p:nvSpPr>
        <p:spPr>
          <a:xfrm>
            <a:off x="6254496" y="5806440"/>
            <a:ext cx="2532888"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다</a:t>
            </a:r>
            <a:endParaRPr lang="ko-KR" sz="2400" dirty="0"/>
          </a:p>
        </p:txBody>
      </p:sp>
      <p:sp>
        <p:nvSpPr>
          <p:cNvPr id="10" name="S08-figure54" descr="작은 노란색 동그라미"/>
          <p:cNvSpPr/>
          <p:nvPr/>
        </p:nvSpPr>
        <p:spPr>
          <a:xfrm>
            <a:off x="10033711" y="3532327"/>
            <a:ext cx="680314" cy="680314"/>
          </a:xfrm>
          <a:prstGeom prst="ellipse">
            <a:avLst/>
          </a:prstGeom>
          <a:solidFill>
            <a:srgbClr val="FFD21F"/>
          </a:solidFill>
          <a:ln w="31750">
            <a:solidFill>
              <a:srgbClr val="1F2937"/>
            </a:solidFill>
            <a:prstDash val="solid"/>
          </a:ln>
        </p:spPr>
      </p:sp>
      <p:sp>
        <p:nvSpPr>
          <p:cNvPr id="11" name="S08-label55"/>
          <p:cNvSpPr txBox="1"/>
          <p:nvPr/>
        </p:nvSpPr>
        <p:spPr>
          <a:xfrm>
            <a:off x="9107424" y="5806440"/>
            <a:ext cx="2532888"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라</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우리 집 물건 수수께끼</a:t>
            </a:r>
            <a:endParaRPr lang="ko-KR" sz="4000" dirty="0"/>
          </a:p>
        </p:txBody>
      </p:sp>
      <p:sp>
        <p:nvSpPr>
          <p:cNvPr id="3" name="S09-text56"/>
          <p:cNvSpPr txBox="1"/>
          <p:nvPr/>
        </p:nvSpPr>
        <p:spPr>
          <a:xfrm>
            <a:off x="548640" y="1325880"/>
            <a:ext cx="11091672"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물건 하나를 몰래 골라 세 문장으로 말해요. 엄마(아빠)가 맞혀요.</a:t>
            </a:r>
            <a:endParaRPr lang="ko-KR" sz="3000" dirty="0"/>
          </a:p>
        </p:txBody>
      </p:sp>
      <p:sp>
        <p:nvSpPr>
          <p:cNvPr id="4" name="S09-card57"/>
          <p:cNvSpPr/>
          <p:nvPr/>
        </p:nvSpPr>
        <p:spPr>
          <a:xfrm>
            <a:off x="548640" y="4959096"/>
            <a:ext cx="11091672" cy="1258824"/>
          </a:xfrm>
          <a:prstGeom prst="roundRect">
            <a:avLst>
              <a:gd name="adj" fmla="val 8717"/>
            </a:avLst>
          </a:prstGeom>
          <a:solidFill>
            <a:srgbClr val="E6ECF4"/>
          </a:solidFill>
          <a:ln w="12700">
            <a:solidFill>
              <a:srgbClr val="E6ECF4"/>
            </a:solidFill>
            <a:prstDash val="solid"/>
          </a:ln>
        </p:spPr>
      </p:sp>
      <p:sp>
        <p:nvSpPr>
          <p:cNvPr id="5" name="S09-cardtext58"/>
          <p:cNvSpPr txBox="1"/>
          <p:nvPr/>
        </p:nvSpPr>
        <p:spPr>
          <a:xfrm>
            <a:off x="822960" y="5096256"/>
            <a:ext cx="10543032" cy="984504"/>
          </a:xfrm>
          <a:prstGeom prst="rect">
            <a:avLst/>
          </a:prstGeom>
          <a:noFill/>
          <a:ln/>
        </p:spPr>
        <p:txBody>
          <a:bodyPr wrap="square" lIns="0" tIns="0" rIns="0" bIns="0" rtlCol="0" anchor="ctr"/>
          <a:lstStyle/>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big  small　/　round  square</a:t>
            </a:r>
            <a:endParaRPr lang="ko-KR" sz="3000" dirty="0"/>
          </a:p>
          <a:p>
            <a:pPr eaLnBrk="0" indent="0" marL="0">
              <a:spcAft>
                <a:spcPts val="600"/>
              </a:spcAft>
              <a:buNone/>
            </a:pPr>
            <a:r>
              <a:rPr lang="en-US" altLang="ko-KR" sz="3000" dirty="0">
                <a:solidFill>
                  <a:srgbClr val="1F2937"/>
                </a:solidFill>
                <a:latin typeface="맑은 고딕" pitchFamily="34" charset="0"/>
                <a:ea typeface="맑은 고딕" pitchFamily="34" charset="-122"/>
                <a:cs typeface="맑은 고딕" pitchFamily="34" charset="-120"/>
              </a:rPr>
              <a:t>red  blue  yellow  green</a:t>
            </a:r>
            <a:endParaRPr lang="ko-KR" sz="3000" dirty="0"/>
          </a:p>
        </p:txBody>
      </p:sp>
      <p:sp>
        <p:nvSpPr>
          <p:cNvPr id="6" name="S09-chip59"/>
          <p:cNvSpPr txBox="1"/>
          <p:nvPr/>
        </p:nvSpPr>
        <p:spPr>
          <a:xfrm>
            <a:off x="548640" y="2475992"/>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①</a:t>
            </a:r>
            <a:endParaRPr lang="ko-KR" sz="2400" dirty="0"/>
          </a:p>
        </p:txBody>
      </p:sp>
      <p:sp>
        <p:nvSpPr>
          <p:cNvPr id="7" name="S09-text60"/>
          <p:cNvSpPr txBox="1"/>
          <p:nvPr/>
        </p:nvSpPr>
        <p:spPr>
          <a:xfrm>
            <a:off x="1344168" y="2438400"/>
            <a:ext cx="10296144" cy="642112"/>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It's ______. (크기)</a:t>
            </a:r>
            <a:endParaRPr lang="ko-KR" sz="3000" dirty="0"/>
          </a:p>
        </p:txBody>
      </p:sp>
      <p:sp>
        <p:nvSpPr>
          <p:cNvPr id="8" name="S09-chip61"/>
          <p:cNvSpPr txBox="1"/>
          <p:nvPr/>
        </p:nvSpPr>
        <p:spPr>
          <a:xfrm>
            <a:off x="548640" y="3300984"/>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②</a:t>
            </a:r>
            <a:endParaRPr lang="ko-KR" sz="2400" dirty="0"/>
          </a:p>
        </p:txBody>
      </p:sp>
      <p:sp>
        <p:nvSpPr>
          <p:cNvPr id="9" name="S09-text62"/>
          <p:cNvSpPr txBox="1"/>
          <p:nvPr/>
        </p:nvSpPr>
        <p:spPr>
          <a:xfrm>
            <a:off x="1344168" y="3263392"/>
            <a:ext cx="10296144" cy="642112"/>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It's ______. (색깔)</a:t>
            </a:r>
            <a:endParaRPr lang="ko-KR" sz="3000" dirty="0"/>
          </a:p>
        </p:txBody>
      </p:sp>
      <p:sp>
        <p:nvSpPr>
          <p:cNvPr id="10" name="S09-chip63"/>
          <p:cNvSpPr txBox="1"/>
          <p:nvPr/>
        </p:nvSpPr>
        <p:spPr>
          <a:xfrm>
            <a:off x="548640" y="412597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2400" b="1" dirty="0">
                <a:solidFill>
                  <a:srgbClr val="FFFFFF"/>
                </a:solidFill>
                <a:latin typeface="맑은 고딕" pitchFamily="34" charset="0"/>
                <a:ea typeface="맑은 고딕" pitchFamily="34" charset="-122"/>
                <a:cs typeface="맑은 고딕" pitchFamily="34" charset="-120"/>
              </a:rPr>
              <a:t>③</a:t>
            </a:r>
            <a:endParaRPr lang="ko-KR" sz="2400" dirty="0"/>
          </a:p>
        </p:txBody>
      </p:sp>
      <p:sp>
        <p:nvSpPr>
          <p:cNvPr id="11" name="S09-text64"/>
          <p:cNvSpPr txBox="1"/>
          <p:nvPr/>
        </p:nvSpPr>
        <p:spPr>
          <a:xfrm>
            <a:off x="1344168" y="4088384"/>
            <a:ext cx="10296144" cy="642112"/>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It's ______. (모양)</a:t>
            </a:r>
            <a:endParaRPr lang="ko-KR" sz="30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혼자 해 보기</a:t>
            </a:r>
            <a:endParaRPr lang="ko-KR" sz="4000" dirty="0"/>
          </a:p>
        </p:txBody>
      </p:sp>
      <p:sp>
        <p:nvSpPr>
          <p:cNvPr id="3" name="S10-text65"/>
          <p:cNvSpPr txBox="1"/>
          <p:nvPr/>
        </p:nvSpPr>
        <p:spPr>
          <a:xfrm>
            <a:off x="548640" y="1325880"/>
            <a:ext cx="11091672" cy="50292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①②를 It's ~. 세 문장으로 말해요.</a:t>
            </a:r>
            <a:endParaRPr lang="ko-KR" sz="3000" dirty="0"/>
          </a:p>
        </p:txBody>
      </p:sp>
      <p:sp>
        <p:nvSpPr>
          <p:cNvPr id="4" name="S10-card66"/>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5" name="S10-cardtext67"/>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③ 집에 있는 물건 하나를 세 문장으로 말해요.</a:t>
            </a:r>
            <a:endParaRPr lang="ko-KR" sz="3000" dirty="0"/>
          </a:p>
        </p:txBody>
      </p:sp>
      <p:sp>
        <p:nvSpPr>
          <p:cNvPr id="6" name="S10-figure68" descr="작은 초록색 동그라미"/>
          <p:cNvSpPr/>
          <p:nvPr/>
        </p:nvSpPr>
        <p:spPr>
          <a:xfrm>
            <a:off x="2901391" y="2983687"/>
            <a:ext cx="680314" cy="680314"/>
          </a:xfrm>
          <a:prstGeom prst="ellipse">
            <a:avLst/>
          </a:prstGeom>
          <a:solidFill>
            <a:srgbClr val="2E9E44"/>
          </a:solidFill>
          <a:ln w="31750">
            <a:solidFill>
              <a:srgbClr val="1F2937"/>
            </a:solidFill>
            <a:prstDash val="solid"/>
          </a:ln>
        </p:spPr>
      </p:sp>
      <p:sp>
        <p:nvSpPr>
          <p:cNvPr id="7" name="S10-label69"/>
          <p:cNvSpPr txBox="1"/>
          <p:nvPr/>
        </p:nvSpPr>
        <p:spPr>
          <a:xfrm>
            <a:off x="548640" y="4709160"/>
            <a:ext cx="5385816"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①</a:t>
            </a:r>
            <a:endParaRPr lang="ko-KR" sz="2400" dirty="0"/>
          </a:p>
        </p:txBody>
      </p:sp>
      <p:sp>
        <p:nvSpPr>
          <p:cNvPr id="8" name="S10-figure70" descr="큰 노란색 정사각형"/>
          <p:cNvSpPr/>
          <p:nvPr/>
        </p:nvSpPr>
        <p:spPr>
          <a:xfrm>
            <a:off x="8097012" y="2473452"/>
            <a:ext cx="1700784" cy="1700784"/>
          </a:xfrm>
          <a:custGeom>
            <a:avLst/>
            <a:gdLst/>
            <a:ahLst/>
            <a:cxnLst/>
            <a:rect l="l" t="t" r="r" b="b"/>
            <a:pathLst>
              <a:path w="1700784" h="1700784">
                <a:moveTo>
                  <a:pt x="0" y="1700784"/>
                </a:moveTo>
                <a:lnTo>
                  <a:pt x="1700784" y="1700784"/>
                </a:lnTo>
                <a:lnTo>
                  <a:pt x="1700784" y="0"/>
                </a:lnTo>
                <a:lnTo>
                  <a:pt x="0" y="0"/>
                </a:lnTo>
                <a:close/>
              </a:path>
            </a:pathLst>
          </a:custGeom>
          <a:solidFill>
            <a:srgbClr val="FFD21F"/>
          </a:solidFill>
          <a:ln w="31750">
            <a:solidFill>
              <a:srgbClr val="1F2937"/>
            </a:solidFill>
            <a:prstDash val="solid"/>
          </a:ln>
        </p:spPr>
      </p:sp>
      <p:sp>
        <p:nvSpPr>
          <p:cNvPr id="9" name="S10-label71"/>
          <p:cNvSpPr txBox="1"/>
          <p:nvPr/>
        </p:nvSpPr>
        <p:spPr>
          <a:xfrm>
            <a:off x="6254496" y="4709160"/>
            <a:ext cx="5385816" cy="411480"/>
          </a:xfrm>
          <a:prstGeom prst="rect">
            <a:avLst/>
          </a:prstGeom>
          <a:noFill/>
          <a:ln/>
        </p:spPr>
        <p:txBody>
          <a:bodyPr wrap="square" lIns="0" tIns="0" rIns="0" bIns="0" rtlCol="0" anchor="ctr"/>
          <a:lstStyle/>
          <a:p>
            <a:pPr eaLnBrk="0" algn="ctr" indent="0" marL="0">
              <a:buNone/>
            </a:pPr>
            <a:r>
              <a:rPr lang="ko-KR" altLang="en-US" sz="2400" b="1" dirty="0">
                <a:solidFill>
                  <a:srgbClr val="1F2937"/>
                </a:solidFill>
                <a:latin typeface="맑은 고딕" pitchFamily="34" charset="0"/>
                <a:ea typeface="맑은 고딕" pitchFamily="34" charset="-122"/>
                <a:cs typeface="맑은 고딕" pitchFamily="34" charset="-120"/>
              </a:rPr>
              <a:t>②</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정답 확인</a:t>
            </a:r>
            <a:endParaRPr lang="ko-KR" sz="4000" dirty="0"/>
          </a:p>
        </p:txBody>
      </p:sp>
      <p:sp>
        <p:nvSpPr>
          <p:cNvPr id="3" name="S11-card72"/>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1-cardtext7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크기·색깔·모양 차례로, It's 다음에 낱말만 넣어요.</a:t>
            </a:r>
            <a:endParaRPr lang="ko-KR" sz="3000" dirty="0"/>
          </a:p>
        </p:txBody>
      </p:sp>
      <p:sp>
        <p:nvSpPr>
          <p:cNvPr id="5" name="S11-chip74"/>
          <p:cNvSpPr txBox="1"/>
          <p:nvPr/>
        </p:nvSpPr>
        <p:spPr>
          <a:xfrm>
            <a:off x="548640" y="1325880"/>
            <a:ext cx="5362956" cy="548640"/>
          </a:xfrm>
          <a:prstGeom prst="roundRect">
            <a:avLst>
              <a:gd name="adj" fmla="val 26667"/>
            </a:avLst>
          </a:prstGeom>
          <a:solidFill>
            <a:srgbClr val="E3F4F1"/>
          </a:solidFill>
          <a:ln>
            <a:solidFill>
              <a:srgbClr val="E3F4F1"/>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정답</a:t>
            </a:r>
            <a:endParaRPr lang="ko-KR" sz="2400" dirty="0"/>
          </a:p>
        </p:txBody>
      </p:sp>
      <p:sp>
        <p:nvSpPr>
          <p:cNvPr id="6" name="S11-text75"/>
          <p:cNvSpPr txBox="1"/>
          <p:nvPr/>
        </p:nvSpPr>
        <p:spPr>
          <a:xfrm>
            <a:off x="548640" y="20574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It's small.</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It's green. It's round.</a:t>
            </a:r>
            <a:endParaRPr lang="ko-KR" sz="3000" dirty="0"/>
          </a:p>
        </p:txBody>
      </p:sp>
      <p:sp>
        <p:nvSpPr>
          <p:cNvPr id="7" name="S11-text76"/>
          <p:cNvSpPr txBox="1"/>
          <p:nvPr/>
        </p:nvSpPr>
        <p:spPr>
          <a:xfrm>
            <a:off x="548640" y="3124200"/>
            <a:ext cx="5362956" cy="9296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② It's big.</a:t>
            </a:r>
            <a:endParaRPr lang="ko-KR" sz="3000" dirty="0"/>
          </a:p>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It's yellow. It's square.</a:t>
            </a:r>
            <a:endParaRPr lang="ko-KR" sz="3000" dirty="0"/>
          </a:p>
        </p:txBody>
      </p:sp>
      <p:sp>
        <p:nvSpPr>
          <p:cNvPr id="8" name="S11-text77"/>
          <p:cNvSpPr txBox="1"/>
          <p:nvPr/>
        </p:nvSpPr>
        <p:spPr>
          <a:xfrm>
            <a:off x="548640" y="4191000"/>
            <a:ext cx="5362956" cy="929640"/>
          </a:xfrm>
          <a:prstGeom prst="rect">
            <a:avLst/>
          </a:prstGeom>
          <a:noFill/>
          <a:ln/>
        </p:spPr>
        <p:txBody>
          <a:bodyPr wrap="square" lIns="0" tIns="0" rIns="0" bIns="0" rtlCol="0" anchor="ctr"/>
          <a:lstStyle/>
          <a:p>
            <a:pPr eaLnBrk="0" algn="l" indent="0" marL="0">
              <a:buNone/>
            </a:pPr>
            <a:r>
              <a:rPr lang="ko-KR" altLang="en-US" sz="3000" dirty="0">
                <a:solidFill>
                  <a:srgbClr val="1F2937"/>
                </a:solidFill>
                <a:latin typeface="맑은 고딕" pitchFamily="34" charset="0"/>
                <a:ea typeface="맑은 고딕" pitchFamily="34" charset="-122"/>
                <a:cs typeface="맑은 고딕" pitchFamily="34" charset="-120"/>
              </a:rPr>
              <a:t>③ 물건에 맞는 세 문장</a:t>
            </a:r>
            <a:endParaRPr lang="ko-KR" sz="3000" dirty="0"/>
          </a:p>
        </p:txBody>
      </p:sp>
      <p:sp>
        <p:nvSpPr>
          <p:cNvPr id="9" name="S11-chip78"/>
          <p:cNvSpPr txBox="1"/>
          <p:nvPr/>
        </p:nvSpPr>
        <p:spPr>
          <a:xfrm>
            <a:off x="6277356" y="1325880"/>
            <a:ext cx="5362956" cy="548640"/>
          </a:xfrm>
          <a:prstGeom prst="roundRect">
            <a:avLst>
              <a:gd name="adj" fmla="val 26667"/>
            </a:avLst>
          </a:prstGeom>
          <a:solidFill>
            <a:srgbClr val="FBE6E7"/>
          </a:solidFill>
          <a:ln>
            <a:solidFill>
              <a:srgbClr val="FBE6E7"/>
            </a:solidFill>
          </a:ln>
        </p:spPr>
        <p:txBody>
          <a:bodyPr wrap="square" lIns="177800" tIns="0" rIns="177800" bIns="0" rtlCol="0" anchor="ctr"/>
          <a:lstStyle/>
          <a:p>
            <a:pPr eaLnBrk="0" algn="l" indent="0" marL="0">
              <a:buNone/>
            </a:pPr>
            <a:r>
              <a:rPr lang="ko-KR" altLang="en-US" sz="2400" b="1" dirty="0">
                <a:solidFill>
                  <a:srgbClr val="1F2937"/>
                </a:solidFill>
                <a:latin typeface="맑은 고딕" pitchFamily="34" charset="0"/>
                <a:ea typeface="맑은 고딕" pitchFamily="34" charset="-122"/>
                <a:cs typeface="맑은 고딕" pitchFamily="34" charset="-120"/>
              </a:rPr>
              <a:t>× 흔한 실수</a:t>
            </a:r>
            <a:endParaRPr lang="ko-KR" sz="2400" dirty="0"/>
          </a:p>
        </p:txBody>
      </p:sp>
      <p:sp>
        <p:nvSpPr>
          <p:cNvPr id="10" name="S11-text79"/>
          <p:cNvSpPr txBox="1"/>
          <p:nvPr/>
        </p:nvSpPr>
        <p:spPr>
          <a:xfrm>
            <a:off x="6277356" y="2057400"/>
            <a:ext cx="2681478"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It's a green.</a:t>
            </a:r>
            <a:endParaRPr lang="ko-KR" sz="3000" dirty="0"/>
          </a:p>
        </p:txBody>
      </p:sp>
      <p:sp>
        <p:nvSpPr>
          <p:cNvPr id="11" name="S11-text80"/>
          <p:cNvSpPr txBox="1"/>
          <p:nvPr/>
        </p:nvSpPr>
        <p:spPr>
          <a:xfrm>
            <a:off x="9095994" y="20574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a를 빼요</a:t>
            </a:r>
            <a:endParaRPr lang="ko-KR" sz="2400" dirty="0"/>
          </a:p>
        </p:txBody>
      </p:sp>
      <p:sp>
        <p:nvSpPr>
          <p:cNvPr id="12" name="S11-text81"/>
          <p:cNvSpPr txBox="1"/>
          <p:nvPr/>
        </p:nvSpPr>
        <p:spPr>
          <a:xfrm>
            <a:off x="6277356" y="3429000"/>
            <a:ext cx="2681478" cy="1234440"/>
          </a:xfrm>
          <a:prstGeom prst="rect">
            <a:avLst/>
          </a:prstGeom>
          <a:noFill/>
          <a:ln/>
        </p:spPr>
        <p:txBody>
          <a:bodyPr wrap="square" lIns="0" tIns="0" rIns="0" bIns="0" rtlCol="0" anchor="ctr"/>
          <a:lstStyle/>
          <a:p>
            <a:pPr eaLnBrk="0" algn="l" indent="0" marL="0">
              <a:buNone/>
            </a:pPr>
            <a:r>
              <a:rPr lang="en-US" altLang="ko-KR" sz="3000" dirty="0">
                <a:solidFill>
                  <a:srgbClr val="1F2937"/>
                </a:solidFill>
                <a:latin typeface="맑은 고딕" pitchFamily="34" charset="0"/>
                <a:ea typeface="맑은 고딕" pitchFamily="34" charset="-122"/>
                <a:cs typeface="맑은 고딕" pitchFamily="34" charset="-120"/>
              </a:rPr>
              <a:t>① It's big.</a:t>
            </a:r>
            <a:endParaRPr lang="ko-KR" sz="3000" dirty="0"/>
          </a:p>
        </p:txBody>
      </p:sp>
      <p:sp>
        <p:nvSpPr>
          <p:cNvPr id="13" name="S11-text82"/>
          <p:cNvSpPr txBox="1"/>
          <p:nvPr/>
        </p:nvSpPr>
        <p:spPr>
          <a:xfrm>
            <a:off x="9095994" y="3429000"/>
            <a:ext cx="2544318" cy="1234440"/>
          </a:xfrm>
          <a:prstGeom prst="rect">
            <a:avLst/>
          </a:prstGeom>
          <a:noFill/>
          <a:ln/>
        </p:spPr>
        <p:txBody>
          <a:bodyPr wrap="square" lIns="0" tIns="0" rIns="0" bIns="0" rtlCol="0" anchor="ctr"/>
          <a:lstStyle/>
          <a:p>
            <a:pPr eaLnBrk="0" algn="l" indent="0" marL="0">
              <a:buNone/>
            </a:pPr>
            <a:r>
              <a:rPr lang="ko-KR" altLang="en-US" sz="2400" dirty="0">
                <a:solidFill>
                  <a:srgbClr val="1F2937"/>
                </a:solidFill>
                <a:latin typeface="맑은 고딕" pitchFamily="34" charset="0"/>
                <a:ea typeface="맑은 고딕" pitchFamily="34" charset="-122"/>
                <a:cs typeface="맑은 고딕" pitchFamily="34" charset="-120"/>
              </a:rPr>
              <a:t>작은 동그라미</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알맞은 그림을 골라요</a:t>
            </a:r>
            <a:endParaRPr lang="ko-KR" sz="4000" dirty="0"/>
          </a:p>
        </p:txBody>
      </p:sp>
      <p:sp>
        <p:nvSpPr>
          <p:cNvPr id="3" name="S12-card83"/>
          <p:cNvSpPr/>
          <p:nvPr/>
        </p:nvSpPr>
        <p:spPr>
          <a:xfrm>
            <a:off x="548640" y="5349240"/>
            <a:ext cx="11091672" cy="868680"/>
          </a:xfrm>
          <a:prstGeom prst="roundRect">
            <a:avLst>
              <a:gd name="adj" fmla="val 12632"/>
            </a:avLst>
          </a:prstGeom>
          <a:solidFill>
            <a:srgbClr val="EAF3F1"/>
          </a:solidFill>
          <a:ln w="12700">
            <a:solidFill>
              <a:srgbClr val="EAF3F1"/>
            </a:solidFill>
            <a:prstDash val="solid"/>
          </a:ln>
        </p:spPr>
      </p:sp>
      <p:sp>
        <p:nvSpPr>
          <p:cNvPr id="4" name="S12-cardtext84"/>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엄마(아빠)가 말하는 그림은? 어떻게 알았나요?</a:t>
            </a:r>
            <a:endParaRPr lang="ko-KR" sz="3000" dirty="0"/>
          </a:p>
        </p:txBody>
      </p:sp>
      <p:sp>
        <p:nvSpPr>
          <p:cNvPr id="5" name="S12-chip85"/>
          <p:cNvSpPr txBox="1"/>
          <p:nvPr/>
        </p:nvSpPr>
        <p:spPr>
          <a:xfrm>
            <a:off x="548640"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가</a:t>
            </a:r>
            <a:endParaRPr lang="ko-KR" sz="3000" dirty="0"/>
          </a:p>
        </p:txBody>
      </p:sp>
      <p:sp>
        <p:nvSpPr>
          <p:cNvPr id="6" name="S12-figure86" descr="큰 파란색 동그라미"/>
          <p:cNvSpPr/>
          <p:nvPr/>
        </p:nvSpPr>
        <p:spPr>
          <a:xfrm>
            <a:off x="2888504" y="1466612"/>
            <a:ext cx="1478756" cy="1478756"/>
          </a:xfrm>
          <a:prstGeom prst="ellipse">
            <a:avLst/>
          </a:prstGeom>
          <a:solidFill>
            <a:srgbClr val="1F5FC4"/>
          </a:solidFill>
          <a:ln w="31750">
            <a:solidFill>
              <a:srgbClr val="1F2937"/>
            </a:solidFill>
            <a:prstDash val="solid"/>
          </a:ln>
        </p:spPr>
      </p:sp>
      <p:sp>
        <p:nvSpPr>
          <p:cNvPr id="7" name="S12-chip87"/>
          <p:cNvSpPr txBox="1"/>
          <p:nvPr/>
        </p:nvSpPr>
        <p:spPr>
          <a:xfrm>
            <a:off x="6277356" y="192252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나</a:t>
            </a:r>
            <a:endParaRPr lang="ko-KR" sz="3000" dirty="0"/>
          </a:p>
        </p:txBody>
      </p:sp>
      <p:sp>
        <p:nvSpPr>
          <p:cNvPr id="8" name="S12-figure88" descr="작은 파란색 정사각형"/>
          <p:cNvSpPr/>
          <p:nvPr/>
        </p:nvSpPr>
        <p:spPr>
          <a:xfrm>
            <a:off x="9060847" y="1910239"/>
            <a:ext cx="591503" cy="591502"/>
          </a:xfrm>
          <a:custGeom>
            <a:avLst/>
            <a:gdLst/>
            <a:ahLst/>
            <a:cxnLst/>
            <a:rect l="l" t="t" r="r" b="b"/>
            <a:pathLst>
              <a:path w="591503" h="591502">
                <a:moveTo>
                  <a:pt x="0" y="591502"/>
                </a:moveTo>
                <a:lnTo>
                  <a:pt x="591503" y="591502"/>
                </a:lnTo>
                <a:lnTo>
                  <a:pt x="591503" y="0"/>
                </a:lnTo>
                <a:lnTo>
                  <a:pt x="0" y="0"/>
                </a:lnTo>
                <a:close/>
              </a:path>
            </a:pathLst>
          </a:custGeom>
          <a:solidFill>
            <a:srgbClr val="1F5FC4"/>
          </a:solidFill>
          <a:ln w="31750">
            <a:solidFill>
              <a:srgbClr val="1F2937"/>
            </a:solidFill>
            <a:prstDash val="solid"/>
          </a:ln>
        </p:spPr>
      </p:sp>
      <p:sp>
        <p:nvSpPr>
          <p:cNvPr id="9" name="S12-chip89"/>
          <p:cNvSpPr txBox="1"/>
          <p:nvPr/>
        </p:nvSpPr>
        <p:spPr>
          <a:xfrm>
            <a:off x="548640"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다</a:t>
            </a:r>
            <a:endParaRPr lang="ko-KR" sz="3000" dirty="0"/>
          </a:p>
        </p:txBody>
      </p:sp>
      <p:sp>
        <p:nvSpPr>
          <p:cNvPr id="10" name="S12-figure90" descr="큰 파란색 정사각형"/>
          <p:cNvSpPr/>
          <p:nvPr/>
        </p:nvSpPr>
        <p:spPr>
          <a:xfrm>
            <a:off x="2888504" y="3501152"/>
            <a:ext cx="1478756" cy="1478756"/>
          </a:xfrm>
          <a:custGeom>
            <a:avLst/>
            <a:gdLst/>
            <a:ahLst/>
            <a:cxnLst/>
            <a:rect l="l" t="t" r="r" b="b"/>
            <a:pathLst>
              <a:path w="1478756" h="1478756">
                <a:moveTo>
                  <a:pt x="0" y="1478756"/>
                </a:moveTo>
                <a:lnTo>
                  <a:pt x="1478756" y="1478756"/>
                </a:lnTo>
                <a:lnTo>
                  <a:pt x="1478756" y="0"/>
                </a:lnTo>
                <a:lnTo>
                  <a:pt x="0" y="0"/>
                </a:lnTo>
                <a:close/>
              </a:path>
            </a:pathLst>
          </a:custGeom>
          <a:solidFill>
            <a:srgbClr val="1F5FC4"/>
          </a:solidFill>
          <a:ln w="31750">
            <a:solidFill>
              <a:srgbClr val="1F2937"/>
            </a:solidFill>
            <a:prstDash val="solid"/>
          </a:ln>
        </p:spPr>
      </p:sp>
      <p:sp>
        <p:nvSpPr>
          <p:cNvPr id="11" name="S12-chip91"/>
          <p:cNvSpPr txBox="1"/>
          <p:nvPr/>
        </p:nvSpPr>
        <p:spPr>
          <a:xfrm>
            <a:off x="6277356" y="3957066"/>
            <a:ext cx="566928" cy="566928"/>
          </a:xfrm>
          <a:prstGeom prst="roundRect">
            <a:avLst>
              <a:gd name="adj" fmla="val 25806"/>
            </a:avLst>
          </a:prstGeom>
          <a:solidFill>
            <a:srgbClr val="264653"/>
          </a:solidFill>
          <a:ln>
            <a:solidFill>
              <a:srgbClr val="264653"/>
            </a:solidFill>
          </a:ln>
        </p:spPr>
        <p:txBody>
          <a:bodyPr wrap="square" lIns="0" tIns="0" rIns="0" bIns="0" rtlCol="0" anchor="ctr"/>
          <a:lstStyle/>
          <a:p>
            <a:pPr eaLnBrk="0" algn="ctr" indent="0" marL="0">
              <a:buNone/>
            </a:pPr>
            <a:r>
              <a:rPr lang="ko-KR" altLang="en-US" sz="3000" b="1" dirty="0">
                <a:solidFill>
                  <a:srgbClr val="FFFFFF"/>
                </a:solidFill>
                <a:latin typeface="맑은 고딕" pitchFamily="34" charset="0"/>
                <a:ea typeface="맑은 고딕" pitchFamily="34" charset="-122"/>
                <a:cs typeface="맑은 고딕" pitchFamily="34" charset="-120"/>
              </a:rPr>
              <a:t>라</a:t>
            </a:r>
            <a:endParaRPr lang="ko-KR" sz="3000" dirty="0"/>
          </a:p>
        </p:txBody>
      </p:sp>
      <p:sp>
        <p:nvSpPr>
          <p:cNvPr id="12" name="S12-figure92" descr="작은 빨간색 정사각형"/>
          <p:cNvSpPr/>
          <p:nvPr/>
        </p:nvSpPr>
        <p:spPr>
          <a:xfrm>
            <a:off x="9060847" y="3944779"/>
            <a:ext cx="591503" cy="591502"/>
          </a:xfrm>
          <a:custGeom>
            <a:avLst/>
            <a:gdLst/>
            <a:ahLst/>
            <a:cxnLst/>
            <a:rect l="l" t="t" r="r" b="b"/>
            <a:pathLst>
              <a:path w="591503" h="591502">
                <a:moveTo>
                  <a:pt x="0" y="591502"/>
                </a:moveTo>
                <a:lnTo>
                  <a:pt x="591503" y="591502"/>
                </a:lnTo>
                <a:lnTo>
                  <a:pt x="591503" y="0"/>
                </a:lnTo>
                <a:lnTo>
                  <a:pt x="0" y="0"/>
                </a:lnTo>
                <a:close/>
              </a:path>
            </a:pathLst>
          </a:custGeom>
          <a:solidFill>
            <a:srgbClr val="D62828"/>
          </a:solidFill>
          <a:ln w="31750">
            <a:solidFill>
              <a:srgbClr val="1F2937"/>
            </a:solidFill>
            <a:prstDash val="solid"/>
          </a:ln>
        </p:spPr>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FFFFFF"/>
                </a:solidFill>
                <a:latin typeface="맑은 고딕" pitchFamily="34" charset="0"/>
                <a:ea typeface="맑은 고딕" pitchFamily="34" charset="-122"/>
                <a:cs typeface="맑은 고딕" pitchFamily="34" charset="-120"/>
              </a:rPr>
              <a:t>오늘 배운 것</a:t>
            </a:r>
            <a:endParaRPr lang="ko-KR" sz="4000" dirty="0"/>
          </a:p>
        </p:txBody>
      </p:sp>
      <p:sp>
        <p:nvSpPr>
          <p:cNvPr id="3" name="S13-card93"/>
          <p:cNvSpPr/>
          <p:nvPr/>
        </p:nvSpPr>
        <p:spPr>
          <a:xfrm>
            <a:off x="548640" y="1325880"/>
            <a:ext cx="11091672" cy="1258824"/>
          </a:xfrm>
          <a:prstGeom prst="roundRect">
            <a:avLst>
              <a:gd name="adj" fmla="val 8717"/>
            </a:avLst>
          </a:prstGeom>
          <a:solidFill>
            <a:srgbClr val="32606F"/>
          </a:solidFill>
          <a:ln w="12700">
            <a:solidFill>
              <a:srgbClr val="32606F"/>
            </a:solidFill>
            <a:prstDash val="solid"/>
          </a:ln>
        </p:spPr>
      </p:sp>
      <p:sp>
        <p:nvSpPr>
          <p:cNvPr id="4" name="S13-cardtext94"/>
          <p:cNvSpPr txBox="1"/>
          <p:nvPr/>
        </p:nvSpPr>
        <p:spPr>
          <a:xfrm>
            <a:off x="822960" y="1463040"/>
            <a:ext cx="10543032" cy="984504"/>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FFFFFF"/>
                </a:solidFill>
                <a:latin typeface="맑은 고딕" pitchFamily="34" charset="0"/>
                <a:ea typeface="맑은 고딕" pitchFamily="34" charset="-122"/>
                <a:cs typeface="맑은 고딕" pitchFamily="34" charset="-120"/>
              </a:rPr>
              <a:t>크기·색깔·모양을 It's ~. 세 문장으로 말해요.</a:t>
            </a:r>
            <a:endParaRPr lang="ko-KR" sz="3000" dirty="0"/>
          </a:p>
          <a:p>
            <a:pPr eaLnBrk="0" indent="0" marL="0">
              <a:spcAft>
                <a:spcPts val="600"/>
              </a:spcAft>
              <a:buNone/>
            </a:pPr>
            <a:r>
              <a:rPr lang="en-US" altLang="ko-KR" sz="3000" dirty="0">
                <a:solidFill>
                  <a:srgbClr val="FFFFFF"/>
                </a:solidFill>
                <a:latin typeface="맑은 고딕" pitchFamily="34" charset="0"/>
                <a:ea typeface="맑은 고딕" pitchFamily="34" charset="-122"/>
                <a:cs typeface="맑은 고딕" pitchFamily="34" charset="-120"/>
              </a:rPr>
              <a:t>It's big. It's red. It's round.</a:t>
            </a:r>
            <a:endParaRPr lang="ko-KR" sz="3000" dirty="0"/>
          </a:p>
        </p:txBody>
      </p:sp>
      <p:sp>
        <p:nvSpPr>
          <p:cNvPr id="5" name="S13-chip95"/>
          <p:cNvSpPr txBox="1"/>
          <p:nvPr/>
        </p:nvSpPr>
        <p:spPr>
          <a:xfrm>
            <a:off x="548640" y="2813304"/>
            <a:ext cx="5431536" cy="594360"/>
          </a:xfrm>
          <a:prstGeom prst="roundRect">
            <a:avLst>
              <a:gd name="adj" fmla="val 24615"/>
            </a:avLst>
          </a:prstGeom>
          <a:solidFill>
            <a:srgbClr val="2A9D8F"/>
          </a:solidFill>
          <a:ln>
            <a:solidFill>
              <a:srgbClr val="2A9D8F"/>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크기·색깔·모양 차례로</a:t>
            </a:r>
            <a:endParaRPr lang="ko-KR" sz="2400" dirty="0"/>
          </a:p>
        </p:txBody>
      </p:sp>
      <p:sp>
        <p:nvSpPr>
          <p:cNvPr id="6" name="S13-chip96"/>
          <p:cNvSpPr txBox="1"/>
          <p:nvPr/>
        </p:nvSpPr>
        <p:spPr>
          <a:xfrm>
            <a:off x="6208776" y="2813304"/>
            <a:ext cx="5431536" cy="594360"/>
          </a:xfrm>
          <a:prstGeom prst="roundRect">
            <a:avLst>
              <a:gd name="adj" fmla="val 24615"/>
            </a:avLst>
          </a:prstGeom>
          <a:solidFill>
            <a:srgbClr val="C8434E"/>
          </a:solidFill>
          <a:ln>
            <a:solidFill>
              <a:srgbClr val="C8434E"/>
            </a:solidFill>
          </a:ln>
        </p:spPr>
        <p:txBody>
          <a:bodyPr wrap="square" lIns="177800" tIns="0" rIns="177800" bIns="0" rtlCol="0" anchor="ctr"/>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 It's a red.처럼 a 붙이기</a:t>
            </a:r>
            <a:endParaRPr lang="ko-KR" sz="2400" dirty="0"/>
          </a:p>
        </p:txBody>
      </p:sp>
      <p:sp>
        <p:nvSpPr>
          <p:cNvPr id="7" name="S13-text97"/>
          <p:cNvSpPr txBox="1"/>
          <p:nvPr/>
        </p:nvSpPr>
        <p:spPr>
          <a:xfrm>
            <a:off x="548640" y="3636264"/>
            <a:ext cx="11091672" cy="457200"/>
          </a:xfrm>
          <a:prstGeom prst="rect">
            <a:avLst/>
          </a:prstGeom>
          <a:noFill/>
          <a:ln/>
        </p:spPr>
        <p:txBody>
          <a:bodyPr wrap="square" lIns="0" tIns="0" rIns="0" bIns="0" rtlCol="0" anchor="t"/>
          <a:lstStyle/>
          <a:p>
            <a:pPr eaLnBrk="0" algn="l" indent="0" marL="0">
              <a:buNone/>
            </a:pPr>
            <a:r>
              <a:rPr lang="ko-KR" altLang="en-US" sz="2400" b="1" dirty="0">
                <a:solidFill>
                  <a:srgbClr val="FFFFFF"/>
                </a:solidFill>
                <a:latin typeface="맑은 고딕" pitchFamily="34" charset="0"/>
                <a:ea typeface="맑은 고딕" pitchFamily="34" charset="-122"/>
                <a:cs typeface="맑은 고딕" pitchFamily="34" charset="-120"/>
              </a:rPr>
              <a:t>다음 수업을 시작할 때 다시 풀어요</a:t>
            </a:r>
            <a:endParaRPr lang="ko-KR" sz="2400" dirty="0"/>
          </a:p>
        </p:txBody>
      </p:sp>
      <p:sp>
        <p:nvSpPr>
          <p:cNvPr id="8" name="S13-text98"/>
          <p:cNvSpPr txBox="1"/>
          <p:nvPr/>
        </p:nvSpPr>
        <p:spPr>
          <a:xfrm>
            <a:off x="548640" y="4139184"/>
            <a:ext cx="3544824" cy="1438656"/>
          </a:xfrm>
          <a:prstGeom prst="rect">
            <a:avLst/>
          </a:prstGeom>
          <a:noFill/>
          <a:ln/>
        </p:spPr>
        <p:txBody>
          <a:bodyPr wrap="square" lIns="0" tIns="0" rIns="0" bIns="0" rtlCol="0" anchor="ctr"/>
          <a:lstStyle/>
          <a:p>
            <a:pPr eaLnBrk="0" algn="l" indent="0" marL="0">
              <a:buNone/>
            </a:pPr>
            <a:r>
              <a:rPr lang="en-US" altLang="ko-KR" sz="2400" dirty="0">
                <a:solidFill>
                  <a:srgbClr val="FFFFFF"/>
                </a:solidFill>
                <a:latin typeface="맑은 고딕" pitchFamily="34" charset="0"/>
                <a:ea typeface="맑은 고딕" pitchFamily="34" charset="-122"/>
                <a:cs typeface="맑은 고딕" pitchFamily="34" charset="-120"/>
              </a:rPr>
              <a:t>① big, small, round,</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square의 뜻은?</a:t>
            </a:r>
            <a:endParaRPr lang="ko-KR" sz="2400" dirty="0"/>
          </a:p>
        </p:txBody>
      </p:sp>
      <p:sp>
        <p:nvSpPr>
          <p:cNvPr id="9" name="S13-text99"/>
          <p:cNvSpPr txBox="1"/>
          <p:nvPr/>
        </p:nvSpPr>
        <p:spPr>
          <a:xfrm>
            <a:off x="4322064"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② 큰 초록 정사각형을</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세 문장으로</a:t>
            </a:r>
            <a:endParaRPr lang="ko-KR" sz="2400" dirty="0"/>
          </a:p>
        </p:txBody>
      </p:sp>
      <p:sp>
        <p:nvSpPr>
          <p:cNvPr id="10" name="S13-text100"/>
          <p:cNvSpPr txBox="1"/>
          <p:nvPr/>
        </p:nvSpPr>
        <p:spPr>
          <a:xfrm>
            <a:off x="8095488" y="4139184"/>
            <a:ext cx="3544824" cy="1438656"/>
          </a:xfrm>
          <a:prstGeom prst="rect">
            <a:avLst/>
          </a:prstGeom>
          <a:noFill/>
          <a:ln/>
        </p:spPr>
        <p:txBody>
          <a:bodyPr wrap="square" lIns="0" tIns="0" rIns="0" bIns="0" rtlCol="0" anchor="ctr"/>
          <a:lstStyle/>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③ 우리 집 물건</a:t>
            </a:r>
            <a:endParaRPr lang="ko-KR" sz="2400" dirty="0"/>
          </a:p>
          <a:p>
            <a:pPr eaLnBrk="0" algn="l" indent="0" marL="0">
              <a:buNone/>
            </a:pPr>
            <a:r>
              <a:rPr lang="ko-KR" altLang="en-US" sz="2400" dirty="0">
                <a:solidFill>
                  <a:srgbClr val="FFFFFF"/>
                </a:solidFill>
                <a:latin typeface="맑은 고딕" pitchFamily="34" charset="0"/>
                <a:ea typeface="맑은 고딕" pitchFamily="34" charset="-122"/>
                <a:cs typeface="맑은 고딕" pitchFamily="34" charset="-120"/>
              </a:rPr>
              <a:t>수수께끼 하나</a:t>
            </a:r>
            <a:endParaRPr lang="ko-KR" sz="2400" dirty="0"/>
          </a:p>
        </p:txBody>
      </p:sp>
      <p:sp>
        <p:nvSpPr>
          <p:cNvPr id="11" name="S13-text101"/>
          <p:cNvSpPr txBox="1"/>
          <p:nvPr/>
        </p:nvSpPr>
        <p:spPr>
          <a:xfrm>
            <a:off x="548640" y="5715000"/>
            <a:ext cx="11091672" cy="502920"/>
          </a:xfrm>
          <a:prstGeom prst="rect">
            <a:avLst/>
          </a:prstGeom>
          <a:noFill/>
          <a:ln/>
        </p:spPr>
        <p:txBody>
          <a:bodyPr wrap="square" lIns="0" tIns="0" rIns="0" bIns="0" rtlCol="0" anchor="ctr"/>
          <a:lstStyle/>
          <a:p>
            <a:pPr eaLnBrk="0" algn="l" indent="0" marL="0">
              <a:buNone/>
            </a:pPr>
            <a:r>
              <a:rPr lang="ko-KR" altLang="en-US" sz="2400" dirty="0">
                <a:solidFill>
                  <a:srgbClr val="C9DCD8"/>
                </a:solidFill>
                <a:latin typeface="맑은 고딕" pitchFamily="34" charset="0"/>
                <a:ea typeface="맑은 고딕" pitchFamily="34" charset="-122"/>
                <a:cs typeface="맑은 고딕" pitchFamily="34" charset="-120"/>
              </a:rPr>
              <a:t>다음 시간: 생활 예절 비교</a:t>
            </a:r>
            <a:endParaRPr lang="ko-KR" sz="2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C9DCD8"/>
                </a:solidFill>
                <a:latin typeface="맑은 고딕"/>
                <a:ea typeface="맑은 고딕"/>
                <a:cs typeface="맑은 고딕"/>
              </a:defRPr>
            </a:lvl1pPr>
          </a:lstStyle>
          <a:p>
            <a:pPr eaLnBrk="0"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eaLnBrk="0" algn="l" indent="0" marL="0">
              <a:buNone/>
            </a:pPr>
            <a:r>
              <a:rPr lang="ko-KR" altLang="en-US" sz="4000" b="1" dirty="0">
                <a:solidFill>
                  <a:srgbClr val="1F2937"/>
                </a:solidFill>
                <a:latin typeface="맑은 고딕" pitchFamily="34" charset="0"/>
                <a:ea typeface="맑은 고딕" pitchFamily="34" charset="-122"/>
                <a:cs typeface="맑은 고딕" pitchFamily="34" charset="-120"/>
              </a:rPr>
              <a:t>보충: 색깔 낱말 다시 보기</a:t>
            </a:r>
            <a:endParaRPr lang="ko-KR" sz="4000" dirty="0"/>
          </a:p>
        </p:txBody>
      </p:sp>
      <p:sp>
        <p:nvSpPr>
          <p:cNvPr id="3" name="S14-card102"/>
          <p:cNvSpPr/>
          <p:nvPr/>
        </p:nvSpPr>
        <p:spPr>
          <a:xfrm>
            <a:off x="548640" y="5349240"/>
            <a:ext cx="11091672" cy="868680"/>
          </a:xfrm>
          <a:prstGeom prst="roundRect">
            <a:avLst>
              <a:gd name="adj" fmla="val 12632"/>
            </a:avLst>
          </a:prstGeom>
          <a:solidFill>
            <a:srgbClr val="FDEBDD"/>
          </a:solidFill>
          <a:ln w="12700">
            <a:solidFill>
              <a:srgbClr val="FDEBDD"/>
            </a:solidFill>
            <a:prstDash val="solid"/>
          </a:ln>
        </p:spPr>
      </p:sp>
      <p:sp>
        <p:nvSpPr>
          <p:cNvPr id="4" name="S14-cardtext103"/>
          <p:cNvSpPr txBox="1"/>
          <p:nvPr/>
        </p:nvSpPr>
        <p:spPr>
          <a:xfrm>
            <a:off x="822960" y="5486400"/>
            <a:ext cx="10543032" cy="594360"/>
          </a:xfrm>
          <a:prstGeom prst="rect">
            <a:avLst/>
          </a:prstGeom>
          <a:noFill/>
          <a:ln/>
        </p:spPr>
        <p:txBody>
          <a:bodyPr wrap="square" lIns="0" tIns="0" rIns="0" bIns="0" rtlCol="0" anchor="ctr"/>
          <a:lstStyle/>
          <a:p>
            <a:pPr eaLnBrk="0" indent="0" marL="0">
              <a:spcAft>
                <a:spcPts val="600"/>
              </a:spcAft>
              <a:buNone/>
            </a:pPr>
            <a:r>
              <a:rPr lang="ko-KR" altLang="en-US" sz="3000" dirty="0">
                <a:solidFill>
                  <a:srgbClr val="1F2937"/>
                </a:solidFill>
                <a:latin typeface="맑은 고딕" pitchFamily="34" charset="0"/>
                <a:ea typeface="맑은 고딕" pitchFamily="34" charset="-122"/>
                <a:cs typeface="맑은 고딕" pitchFamily="34" charset="-120"/>
              </a:rPr>
              <a:t>It's three o'clock.처럼 대답은 It's로 시작해요.</a:t>
            </a:r>
            <a:endParaRPr lang="ko-KR" sz="3000" dirty="0"/>
          </a:p>
        </p:txBody>
      </p:sp>
      <p:sp>
        <p:nvSpPr>
          <p:cNvPr id="5" name="S14-word104"/>
          <p:cNvSpPr txBox="1"/>
          <p:nvPr/>
        </p:nvSpPr>
        <p:spPr>
          <a:xfrm>
            <a:off x="548640" y="2354580"/>
            <a:ext cx="25671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red</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빨간색</a:t>
            </a:r>
            <a:endParaRPr lang="ko-KR" sz="3400" dirty="0"/>
          </a:p>
        </p:txBody>
      </p:sp>
      <p:sp>
        <p:nvSpPr>
          <p:cNvPr id="6" name="S14-word105"/>
          <p:cNvSpPr txBox="1"/>
          <p:nvPr/>
        </p:nvSpPr>
        <p:spPr>
          <a:xfrm>
            <a:off x="3390138" y="2354580"/>
            <a:ext cx="25671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blue</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파란색</a:t>
            </a:r>
            <a:endParaRPr lang="ko-KR" sz="3400" dirty="0"/>
          </a:p>
        </p:txBody>
      </p:sp>
      <p:sp>
        <p:nvSpPr>
          <p:cNvPr id="7" name="S14-word106"/>
          <p:cNvSpPr txBox="1"/>
          <p:nvPr/>
        </p:nvSpPr>
        <p:spPr>
          <a:xfrm>
            <a:off x="6231636" y="2354580"/>
            <a:ext cx="25671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yellow</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노란색</a:t>
            </a:r>
            <a:endParaRPr lang="ko-KR" sz="3400" dirty="0"/>
          </a:p>
        </p:txBody>
      </p:sp>
      <p:sp>
        <p:nvSpPr>
          <p:cNvPr id="8" name="S14-word107"/>
          <p:cNvSpPr txBox="1"/>
          <p:nvPr/>
        </p:nvSpPr>
        <p:spPr>
          <a:xfrm>
            <a:off x="9073134" y="2354580"/>
            <a:ext cx="2567178" cy="1737360"/>
          </a:xfrm>
          <a:prstGeom prst="roundRect">
            <a:avLst>
              <a:gd name="adj" fmla="val 7368"/>
            </a:avLst>
          </a:prstGeom>
          <a:solidFill>
            <a:srgbClr val="EAF3F1"/>
          </a:solidFill>
          <a:ln>
            <a:solidFill>
              <a:srgbClr val="EAF3F1"/>
            </a:solidFill>
          </a:ln>
        </p:spPr>
        <p:txBody>
          <a:bodyPr wrap="square" lIns="76200" tIns="50800" rIns="76200" bIns="50800" rtlCol="0" anchor="ctr"/>
          <a:lstStyle/>
          <a:p>
            <a:pPr eaLnBrk="0" algn="ctr" indent="0" marL="0">
              <a:buNone/>
            </a:pPr>
            <a:r>
              <a:rPr lang="en-US" altLang="ko-KR" sz="3400" b="1" dirty="0">
                <a:solidFill>
                  <a:srgbClr val="1F2937"/>
                </a:solidFill>
                <a:latin typeface="맑은 고딕" pitchFamily="34" charset="0"/>
                <a:ea typeface="맑은 고딕" pitchFamily="34" charset="-122"/>
                <a:cs typeface="맑은 고딕" pitchFamily="34" charset="-120"/>
              </a:rPr>
              <a:t>green</a:t>
            </a:r>
            <a:endParaRPr lang="ko-KR" sz="3400" dirty="0"/>
          </a:p>
          <a:p>
            <a:pPr eaLnBrk="0" algn="ctr" indent="0" marL="0">
              <a:buNone/>
            </a:pPr>
            <a:r>
              <a:rPr lang="ko-KR" altLang="en-US" sz="2200" dirty="0">
                <a:solidFill>
                  <a:srgbClr val="4B5563"/>
                </a:solidFill>
                <a:latin typeface="맑은 고딕" pitchFamily="34" charset="0"/>
                <a:ea typeface="맑은 고딕" pitchFamily="34" charset="-122"/>
                <a:cs typeface="맑은 고딕" pitchFamily="34" charset="-120"/>
              </a:rPr>
              <a:t>초록색</a:t>
            </a:r>
            <a:endParaRPr lang="ko-KR" sz="3400" dirty="0"/>
          </a:p>
        </p:txBody>
      </p:sp>
      <p:sp>
        <p:nvSpPr>
          <p:cNvPr id="25" name="Slide Number Placeholder 0"/>
          <p:cNvSpPr>
            <a:spLocks noGrp="1"/>
          </p:cNvSpPr>
          <p:nvPr>
            <p:ph type="sldNum" sz="quarter" idx="4294967295"/>
          </p:nvPr>
        </p:nvSpPr>
        <p:spPr>
          <a:xfrm>
            <a:off x="10881360" y="6382512"/>
            <a:ext cx="731520" cy="320040"/>
          </a:xfrm>
          <a:prstGeom prst="rect">
            <a:avLst/>
          </a:prstGeom>
          <a:extLst>
            <a:ext uri="{C572A759-6A51-4108-AA02-DFA0A04FC94B}">
              <ma14:wrappingTextBoxFlag xmlns:ma14="http://schemas.microsoft.com/office/mac/drawingml/2011/main" val="0"/>
            </a:ext>
          </a:extLst>
        </p:spPr>
        <p:txBody>
          <a:bodyPr/>
          <a:lstStyle>
            <a:lvl1pPr>
              <a:defRPr sz="1200">
                <a:solidFill>
                  <a:srgbClr val="4B5563"/>
                </a:solidFill>
                <a:latin typeface="맑은 고딕"/>
                <a:ea typeface="맑은 고딕"/>
                <a:cs typeface="맑은 고딕"/>
              </a:defRPr>
            </a:lvl1pPr>
          </a:lstStyle>
          <a:p>
            <a:pPr eaLnBrk="0"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ducation Classroom">
  <a:themeElements>
    <a:clrScheme name="Education Classroom">
      <a:dk1>
        <a:srgbClr val="1F2937"/>
      </a:dk1>
      <a:lt1>
        <a:srgbClr val="FFFFFF"/>
      </a:lt1>
      <a:dk2>
        <a:srgbClr val="264653"/>
      </a:dk2>
      <a:lt2>
        <a:srgbClr val="EAF3F1"/>
      </a:lt2>
      <a:accent1>
        <a:srgbClr val="E9762B"/>
      </a:accent1>
      <a:accent2>
        <a:srgbClr val="2A9D8F"/>
      </a:accent2>
      <a:accent3>
        <a:srgbClr val="C8434E"/>
      </a:accent3>
      <a:accent4>
        <a:srgbClr val="3D5A80"/>
      </a:accent4>
      <a:accent5>
        <a:srgbClr val="F2C14E"/>
      </a:accent5>
      <a:accent6>
        <a:srgbClr val="4B5563"/>
      </a:accent6>
      <a:hlink>
        <a:srgbClr val="3D5A80"/>
      </a:hlink>
      <a:folHlink>
        <a:srgbClr val="7A4E8A"/>
      </a:folHlink>
    </a:clrScheme>
    <a:fontScheme name="Education Classroom">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초4 영어 사물 묘사하기</dc:title>
  <dc:subject>KR22-G04-ENG-DESCRIBE-L01</dc:subject>
  <dc:creator>education-ppt</dc:creator>
  <cp:lastModifiedBy>education-ppt</cp:lastModifiedBy>
  <cp:revision>1</cp:revision>
  <dcterms:created xsi:type="dcterms:W3CDTF">2026-10-26T09:07:50Z</dcterms:created>
  <dcterms:modified xsi:type="dcterms:W3CDTF">2026-10-26T09:07:50Z</dcterms:modified>
</cp:coreProperties>
</file>