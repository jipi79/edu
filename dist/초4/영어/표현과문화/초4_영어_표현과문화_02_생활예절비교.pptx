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4797a8c-a81e-28db-2bdb-25fa22e4f0e4}">
          <p14:sldIdLst>
            <p14:sldId id="256"/>
            <p14:sldId id="257"/>
          </p14:sldIdLst>
        </p14:section>
        <p14:section name="개념" id="{5a85853a-e1e5-f6b1-4ae6-e12843a5a634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dce14441-70c3-26cb-640b-02c0640e6de0}">
          <p14:sldIdLst>
            <p14:sldId id="261"/>
            <p14:sldId id="262"/>
            <p14:sldId id="265"/>
          </p14:sldIdLst>
        </p14:section>
        <p14:section name="개념" id="{9c3973cf-8b65-1f70-4ca1-9e30e9707751}">
          <p14:sldIdLst/>
        </p14:section>
        <p14:section name="연습" id="{df08f1c8-6e98-c2f0-47f5-9beea5a87b64}">
          <p14:sldIdLst/>
        </p14:section>
        <p14:section name="확인" id="{3e272b2c-d846-fe8f-e159-374b8a1768aa}">
          <p14:sldIdLst>
            <p14:sldId id="266"/>
            <p14:sldId id="267"/>
            <p14:sldId id="268"/>
          </p14:sldIdLst>
        </p14:section>
        <p14:section name="정리" id="{5f2d9cec-7e26-1bd4-1cb9-10799218c70f}">
          <p14:sldIdLst>
            <p14:sldId id="269"/>
          </p14:sldIdLst>
        </p14:section>
        <p14:section name="보충" id="{5ffdb8b6-e9b7-96d7-6326-d0947d5e7d1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우리 집의 식사 모습을 떠올리고, 나라마다 식사·생활 예절이 다를 수 있다는 것에 관심을 갖게 합니다.
시간: 약 2분
이렇게 말해 보세요
- “우리는 밥을 먹을 때 무엇으로 먹어? 밥그릇은 어디에 두고 먹지?”
- “다른 나라 친구들도 우리처럼 먹을까? 오늘은 여러 나라의 식사 예절과 생활 예절을 비교해 보고, 친구 집에 갔을 때 쓰는 예의 바른 영어 표현도 배울 거야.”
예상 답
- “숟가락이랑 젓가락으로 먹어요.” “밥그릇은 상에 놓고 먹어요.” “다른 나라는 포크로 먹어요.”
주의
- 수업 전에 교과서 디지털 자료나 사전 앱의 발음 듣기로 오늘 표현(Excuse me. May I come in? Sure. Thank you for dinner. Thank you for your help. You're welcome.)을 미리 들어 두세요. 부모님 발음이 완벽하지 않아도 괜찮습니다.
- 이 차시에서는 ‘어떤 나라에서는’, ‘많은 사람들이’처럼 말합니다. 한 나라 사람이 모두 똑같이 하는 것은 아니며, 같은 나라에서도 집과 사람에 따라 다릅니다.
- 아이가 다른 나라의 예절을 보고 웃거나 이상하다고 해도 꾸짖지 말고, S07에서 함께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확인(사물 묘사하기, 감사와 부탁)]
목적: 앞 차시 ‘사물 묘사하기’의 묘사 표현과, 오늘 표현의 바탕이 되는 3학년 ‘감사·사과·부탁’의 감사·부탁 표현을 기억하는지 확인합니다.
시간: 약 3분
이렇게 말해 보세요
- “①, 이 컵을 영어로 말해 볼래? 크기, 색깔, 모양 가운데 두 가지를 말해 봐.” (집에 있는 컵을 보여 줍니다.)
- “②, 목이 마르면 영어로 어떻게 부탁할까?”
- “③, 자, 물 여기 있어.” (물컵을 건넵니다.)
정답
- ① 예: It's small. It's white. It's round. (컵의 실제 크기·색깔·모양 가운데 두 가지를 영어로 말하면 맞음)
- ② Water, please.
- ③ Thank you.
막히면
- ①은 “커, 작아? 무슨 색이야?”라고 우리말로 먼저 묻고 영어로 바꾸게 합니다.
- ①을 말하지 못하면 S15(보충)의 묘사 표현을, ②③을 말하지 못하면 S15의 감사·부탁 표현을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나라마다 다른 식사 도구]
목적: 나라에 따라 많이 쓰는 식사 도구가 다르다는 것을 알고, ‘많은 사람들이’로 말하는 습관을 들입니다(M2).
시간: 약 3분
이렇게 말해 보세요
- “한국에서는 숟가락과 젓가락을 함께 쓰는 사람이 많아. 숟가락으로 밥과 국을 먹고, 젓가락으로 반찬을 집지.” (집에 있는 숟가락, 젓가락을 보여 줍니다.)
- “일본에서는 주로 젓가락으로 먹는 사람이 많아. 미국, 영국 같은 나라에서는 포크와 나이프를 많이 써.” (지도나 지구본이 있으면 나라를 짚어 봅니다.)
- “인도 같은 어떤 나라에서는 손으로 먹는 사람이 많아. 이때 주로 오른손을 써. 너는 어떤 방법으로 먹어 보고 싶어?”
예상 답
- “포크로 먹어 보고 싶어요.” “손으로 먹으면 신기할 것 같아요.”
막히면
- 집에 있는 숟가락, 젓가락, 포크를 늘어놓고 카드마다 알맞은 도구를 집어 보게 합니다.
주의
- 카드의 내용은 ‘많은 사람들이’ 그렇다는 뜻입니다. 같은 나라에서도 음식과 사람에 따라 다른 도구를 씁니다. 우리도 국수나 케이크를 먹을 때 포크를 쓰기도 합니다(M2).
- 손으로 먹는 것도 손을 깨끗이 씻고 정해진 방법대로 먹는 식사 예절입니다. 아이가 지저분하다고 하면 S07에서 함께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한국과 일본의 밥그릇 예절]
목적: 가까운 두 나라에서도 밥그릇을 다루는 예절이 반대일 수 있다는 것을 압니다(M1).
시간: 약 3분
이렇게 말해 보세요
- “한국에서는 밥그릇을 상에 놓은 채로 숟가락으로 떠먹는 사람이 많아. 밥그릇을 들고 먹으면 어른들이 그릇을 내려놓으라고 하시기도 하지?”
- “일본에서는 밥그릇을 손에 들고 젓가락으로 먹는 사람이 많아. 그릇을 들고 먹는 것이 그곳의 예절이야.” (빈 밥그릇으로 두 가지를 흉내 내 봅니다.)
- “두 나라의 예절을 보니 어떤 생각이 들어?”
예상 답
- “반대예요.” “일본은 그릇을 들고 먹어요.” “신기해요.”
막히면
- 빈 밥그릇을 아이에게 주고 한국식, 일본식으로 한 번씩 흉내 내게 합니다.
주의
- 어느 쪽이 더 좋은 예절인지 고르게 하지 않습니다. 두 나라 모두 그곳에서 함께 먹는 사람을 존중하는 방법입니다.
- 일본에서는 젓가락으로 먹기 때문에 그릇을 입 가까이 드는 것이 편하다는 까닭을 덧붙여 주어도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기준을 정해 두 나라의 예절 비교하기]
목적: ‘무엇으로 먹나요?’, ‘밥그릇은?’, ‘집에 들어갈 때’라는 기준으로 두 나라의 예절을 정리해, 같은 점과 다른 점을 찾는 방법을 익힙니다.
시간: 약 3분
이렇게 말해 보세요
- “지금까지 알아본 것을 표로 정리했어. 왼쪽 칸이 비교하는 기준이야. 한 줄씩 읽어 볼까?”
- “한국과 일본이 같은 줄은 어디야? 다른 줄은?”
- “우리도 집에 들어올 때 신발을 벗지? 어떤 나라에서는 집 안에서도 신발을 신고 지내는 집이 있어. 하지만 그런 나라에서도 신발을 벗는 집이 있어.”
예상 답
- “신발을 벗는 건 같아요.” “먹는 도구랑 밥그릇은 달라요.”
막히면
- 표의 한 줄만 손으로 가리고 “이 줄에서 한국과 일본이 같아, 달라?”라고 줄마다 묻습니다.
주의
- 비교할 때는 기준을 먼저 정합니다. 기준 없이 ‘일본은 이상해요’처럼 말하면 “어떤 기준으로 보면 달라?”라고 되묻습니다.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두 예절의 같은 점과 다른 점 말하기]
목적: 기준을 써서 두 예절의 같은 점과 다른 점을 말합니다.
시간: 약 3분
이렇게 말해 보세요
- “①, 한국과 일본의 예절은 무엇이 같아? 무엇이 달라? 어떤 기준으로 비교했는지도 말해 줘.”
- “②, 젓가락으로 먹는 것과 포크와 나이프로 먹는 것은 무엇이 같고 무엇이 달라?”
예상 답
- ① 같은 점: 둘 다 젓가락을 써요. 둘 다 집에 들어갈 때 신발을 벗어요. 다른 점: 한국은 밥그릇을 상에 놓고 먹고, 일본은 들고 먹어요. 한국은 숟가락도 함께 써요.
- ② 같은 점: 둘 다 도구를 써서 먹어요. 다른 점: 젓가락은 두 개를 한 손으로 쥐고 집고, 포크와 나이프는 두 손에 나누어 쥐고 자르고 찍어요.
- 기준: 기준이 분명하고 같은 점·다른 점을 하나씩 말하면 맞습니다. ‘둘 다 맛있게 먹으려고 해요’도 같은 점으로 맞습니다.
막히면
- “밥그릇은 어떻게 해?”처럼 기준 하나를 골라 주고 두 나라에 차례로 물어봅니다.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비교(다른 예절은 틀린 예절?)]
목적: 예절에는 맞고 틀린 것이 없고, 나라와 상황에 따라 다를 뿐이라는 것을 이유와 함께 말합니다(M1).
시간: 약 3분
이렇게 말해 보세요
- “친구가 밥그릇을 들고 먹으면 틀린 거래. 정말 그럴까?”
- “두 나라 사람들은 왜 이런 예절을 지킬까? 무엇을 위해서일까?”
- “일본 친구가 우리 집에 와서 밥그릇을 들고 먹으면 어떻게 하면 좋을까? 우리가 일본 친구 집에 가면?”
정답
- 맞지 않습니다. 한국에서는 밥그릇을 놓고 먹는 것이, 일본에서는 들고 먹는 것이 예절입니다. 나라에 따라 다를 뿐 틀린 예절은 아닙니다.
- 두 예절 모두 함께 먹는 사람을 존중하고 기분 좋게 먹으려는 방법입니다.
- 친구의 예절을 존중하고, 우리 예절을 알려 주어도 좋습니다. 다른 나라에 가면 그곳의 예절을 따라 해 볼 수 있습니다.
막히면
- S04의 아래 문장(같은 행동도 나라에 따라 예절이 달라요)을 다시 읽어 줍니다.
주의
- 여기까지가 예절을 비교하는 부분입니다. 아이가 지치면 여기서 나누어 다음 날 S08부터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Excuse me.와 May I come in?]
목적: 남의 방이나 집에 들어가기 전에 Excuse me.로 말을 걸고 May I come in?으로 허락을 구하는 표현을 듣고 따라 말합니다.
시간: 약 3분
이렇게 말해 보세요
- “다른 사람에게 말을 걸거나 사람들 사이를 지나갈 때는 Excuse me.라고 해. ‘실례합니다.’라는 뜻이야. 소리를 듣고 따라 해 보자. Excuse me.”
- “다른 사람의 방에 들어가고 싶으면 May I come in?이라고 물어. ‘들어가도 될까요?’라는 뜻이야. 따라 해 봐. May I come in?”
- “엄마(아빠)가 방 안에 있을게. 문을 두드리고 두 문장을 이어서 말해 봐.” (아이가 말하면 “Sure. Come in.”이라고 대답합니다.)
예상 답
- (문을 두드리며) “Excuse me. May I come in?”
막히면
- May I come in?이 길면 뒤에서부터 붙여 말합니다. come in? … May I come in?
- 소리 자료를 여러 번 듣고 따라 말합니다.
주의
- May I ~?는 허락을 구하는 공손한 말입니다. 묻는 말이라 끝에 물음표(?)가 있고, I는 언제나 대문자로 씁니다.
- Sure.는 ‘그럼요.’라는 대답입니다. 오늘 아이는 듣기만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Thank you for ~.로 고마운 것 말하기]
목적: Thank you.에 for와 고마운 것을 붙여 무엇이 고마운지 말하고, 대답 You're welcome.을 함께 익힙니다(M3).
시간: 약 3분
이렇게 말해 보세요
- “3학년 때 고마울 때는 Thank you.라고 했지? 무엇이 고마운지 말하고 싶으면 뒤에 for를 붙여. 친구 부모님이 저녁을 차려 주시면 Thank you for dinner. 따라 해 봐.”
- “친구가 도와주면 Thank you for your help. 따라 해 봐.”
- “엄마(아빠)가 숙제를 도와줄게. 다 했어. 뭐라고 말할까?” (아이가 Thank you for your help.라고 하면 “You're welcome.”이라고 대답합니다. 다음에는 역할을 바꿉니다.)
예상 답
- “Thank you for your help.” “You're welcome.”
막히면
- Thank you.를 먼저 말하고 잠깐 쉰 뒤 for your help를 붙여 말하게 합니다. Thank you … for your help.
- Thank you for.에서 멈추면 “무엇이 고마워?”라고 묻습니다(M3).
주의
- 점심을 차려 주셨다면 Thank you for lunch.라고 바꾸어 말할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상황에 알맞은 표현 고르기]
목적: 상황을 듣고 알맞은 예의 바른 표현을 고릅니다.
시간: 약 3분
이렇게 말해 보세요
- “엄마(아빠)가 읽어 줄게. ①, 좁은 길에서 사람들 사이를 지나가야 해. 뭐라고 말할까?”
- “②, 친구 방에 들어가고 싶어.” (부모가 친구가 되어 “Sure. Come in.”이라고 대답합니다.)
- “③, 친구 부모님이 저녁을 차려 주셨어.” (부모가 “You're welcome.”이라고 대답합니다.)
정답
- ① Excuse me. ② May I come in? (앞에 Excuse me.를 붙여도 맞음) ③ Thank you for dinner.
막히면
- “지나갈 때야, 들어갈 때야, 고마울 때야?”라고 먼저 묻고 보기에서 고르게 합니다.
주의
- 보기를 읽지 못해도 괜찮습니다. 부모가 보기를 읽어 주고 아이는 듣고 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예절 비교하고 예의 바르게 말하기]
목적: 도움 없이 두 나라의 예절을 기준으로 비교하고, 다른 예절을 존중하는 말을 하고, 상황에 맞는 영어 표현을 말하는지 확인합니다.
시간: 약 4분
이렇게 말해 보세요
- “이번에는 혼자 해 볼래? ①, 한국과 일본의 밥그릇 예절은 무엇이 달라?”
- “②, 친구가 손으로 먹는 건 틀렸대. 친구에게 뭐라고 말해 줄까?”
- “③, 엄마(아빠)가 선생님이야. 방에 들어가고 싶으면 영어로 뭐라고 할까?” (아이가 말하면 “Sure. Come in.”이라고 대답합니다.)
- “④, 친구가 숙제를 도와주었어. 영어로 고맙다고 말해 볼래?” (아이가 말하면 “You're welcome.”이라고 대답합니다.)
정답
- ① 한국에서는 밥그릇을 상에 놓고 먹고, 일본에서는 밥그릇을 들고 먹는 사람이 많습니다.
- ② 예: 틀린 게 아니라 나라마다 예절이 달라. 손으로 먹는 것도 그 나라의 식사 예절이야.
- ③ Excuse me. May I come in? (May I come in?만 말해도 맞음)
- ④ Thank you for your help.
- 기준: 네 가지 가운데 세 가지 이상을 스스로 하면 통과입니다. ②는 ‘다를 뿐 틀린 것이 아니다’라는 뜻이 들어 있으면 맞습니다. ④를 Thank you.로만 말하면 뜻은 통하지만, for your help를 붙여 한 번 더 말해 보게 합니다.
막히면
- 바로 알려 주지 말고 “표를 떠올려 볼까? 밥그릇은 어땠어?”, “들어갈 때야, 고마울 때야?”처럼 기준만 말해 줍니다.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대답 예와 피드백]
목적: 아이의 대답을 예와 비교하고 흔한 실수를 확인합니다.
시간: 약 2분
이렇게 말해 보세요
- “네가 한 말과 왼쪽 예를 비교해 보자.”
- “오른쪽처럼 말하면 왜 알맞지 않을까?”
예상 답
- “다른 나라 예절도 맞는 예절이에요.” “for 다음에 your help를 말해야 해요.”
주의
- 이 장은 학생용 파일에서 빠집니다. 잘한 점을 먼저 말해 준 뒤 고칠 점을 하나만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확인]
목적: 처음 보는 형식에서 상황과 상대의 말에 알맞은 표현을 고르는지 확인합니다.
시간: 약 2분
이렇게 말해 보세요
- “엄마(아빠)가 가, 나, 다, 라를 읽어 줄게. Excuse me. May I come in? Thank you for dinner. You're welcome.”
- “친구가 Thank you for your help.라고 하면 알맞은 대답은 어느 것일까? 어떻게 알았어?”
- “이번에는 사람들 사이를 지나가야 해. 어느 말이 알맞을까?”
정답
- Thank you for your help. → 라(You're welcome.)
- 사람들 사이를 지나갈 때 → 가(Excuse me.)
- 나(May I come in?)는 들어가도 되는지 물을 때, 다(Thank you for dinner.)는 저녁을 차려 준 분께 하는 말입니다.
막히면
- S08, S09를 다시 보여 주고 “고맙다는 말에 하는 대답이었지?”라고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복습을 알려 줍니다.
시간: 약 2분
이렇게 말해 보세요
- “오늘 알아본 예절 가운데 가장 신기했던 것은?”
- “다른 나라 친구가 우리와 다르게 먹으면 어떻게 할까?”
- “친구 집에 가서 쓸 수 있는 영어 표현을 말해 볼래?”
예상 답
- “일본에서 밥그릇을 들고 먹는 거요.” “그 친구의 예절을 존중해요.” “May I come in?”
정답
- ① 한국은 밥그릇을 상에 놓고, 일본은 들고 먹는 사람이 많습니다. ② (Excuse me.) May I come in? ③ Thank you for your help.
주의
- 다음 차시는 계획 순서에 따라 5학년 ‘중심 내용 찾기’입니다. 4학년 영어의 마지막 차시이니, 집에서 물건을 주고받거나 방에 들어갈 때 오늘 표현을 자주 써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보충(사물 묘사하기, 감사와 부탁)]
목적: S02에서 묘사 표현이나 감사·부탁 표현이 흔들리면, 오늘 내용을 배우기 전에 먼저 다시 익힙니다.
시간: 약 5분
이렇게 말해 보세요
- “전에 배운 말을 다시 들어 보자. 소리를 듣고 따라 말해 봐.” (교과서 디지털 자료나 사전 앱의 소리를 함께 듣습니다.)
- “이 컵은 커, 작아? 영어로는? 무슨 색이야? 영어로는?” (집에 있는 물건 두세 개로 바꾸어 묻습니다.)
- “목이 마르면? 물을 받으면?”
정답
- 물건에 맞게 It's big. / It's small. / It's red.처럼 말하면 맞음 / Water, please. / Thank you.
막히면
- 부모가 먼저 말하고 아이가 따라 말하는 것부터 다시 합니다.
주의
- 보충 뒤에도 물건을 묘사하지 못하면 앞 차시 ‘사물 묘사하기’를, 감사·부탁 표현을 말하지 못하면 3학년 ‘감사·사과·부탁’(KR22-G03-ENG-THANKS-L01)을 먼저 다시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표현과문화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생활 예절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생활 예절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영어 · 생활 예절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예절 비교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 친구들은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밥을 먹을까요?</a:t>
            </a:r>
            <a:endParaRPr lang="ko-KR" sz="30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Excuse me.</a:t>
            </a:r>
            <a:endParaRPr lang="ko-KR" sz="34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May I come in?</a:t>
            </a:r>
            <a:endParaRPr lang="ko-KR" sz="3400" dirty="0"/>
          </a:p>
        </p:txBody>
      </p:sp>
      <p:sp>
        <p:nvSpPr>
          <p:cNvPr id="6" name="S01-card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여러 나라의 생활 예절을 기준에 따라 비교해요.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예의 바른 영어 표현을 상황에 맞게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표현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영어로 말해 보세요.</a:t>
            </a:r>
            <a:endParaRPr lang="ko-KR" sz="30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보여 주는 컵을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크기·색깔·모양으로 말해요.</a:t>
            </a:r>
            <a:endParaRPr lang="ko-KR" sz="30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목이 말라요. 물을 달라고 부탁해요.</a:t>
            </a:r>
            <a:endParaRPr lang="ko-KR" sz="30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1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물을 건네주었어요.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먹을까요?</a:t>
            </a:r>
            <a:endParaRPr lang="ko-KR" sz="4000" dirty="0"/>
          </a:p>
        </p:txBody>
      </p:sp>
      <p:sp>
        <p:nvSpPr>
          <p:cNvPr id="3" name="S03-card12"/>
          <p:cNvSpPr/>
          <p:nvPr/>
        </p:nvSpPr>
        <p:spPr>
          <a:xfrm>
            <a:off x="548640" y="132588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146304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숟가락과 젓가락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한국에서는 둘을 함께 쓰는 사람이 많아요.</a:t>
            </a:r>
            <a:endParaRPr lang="ko-KR" sz="3000" dirty="0"/>
          </a:p>
        </p:txBody>
      </p:sp>
      <p:sp>
        <p:nvSpPr>
          <p:cNvPr id="5" name="S03-card14"/>
          <p:cNvSpPr/>
          <p:nvPr/>
        </p:nvSpPr>
        <p:spPr>
          <a:xfrm>
            <a:off x="6208776" y="132588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5"/>
          <p:cNvSpPr txBox="1"/>
          <p:nvPr/>
        </p:nvSpPr>
        <p:spPr>
          <a:xfrm>
            <a:off x="6483096" y="146304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젓가락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일본에서는 주로 젓가락으로 먹는 사람이 많아요.</a:t>
            </a:r>
            <a:endParaRPr lang="ko-KR" sz="3000" dirty="0"/>
          </a:p>
        </p:txBody>
      </p:sp>
      <p:sp>
        <p:nvSpPr>
          <p:cNvPr id="7" name="S03-card16"/>
          <p:cNvSpPr/>
          <p:nvPr/>
        </p:nvSpPr>
        <p:spPr>
          <a:xfrm>
            <a:off x="548640" y="388620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7"/>
          <p:cNvSpPr txBox="1"/>
          <p:nvPr/>
        </p:nvSpPr>
        <p:spPr>
          <a:xfrm>
            <a:off x="822960" y="402336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포크와 나이프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미국, 영국 같은 나라에서 많이 써요.</a:t>
            </a:r>
            <a:endParaRPr lang="ko-KR" sz="3000" dirty="0"/>
          </a:p>
        </p:txBody>
      </p:sp>
      <p:sp>
        <p:nvSpPr>
          <p:cNvPr id="9" name="S03-card18"/>
          <p:cNvSpPr/>
          <p:nvPr/>
        </p:nvSpPr>
        <p:spPr>
          <a:xfrm>
            <a:off x="6208776" y="388620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9"/>
          <p:cNvSpPr txBox="1"/>
          <p:nvPr/>
        </p:nvSpPr>
        <p:spPr>
          <a:xfrm>
            <a:off x="6483096" y="402336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 같은 어떤 나라에서는 오른손으로 먹는 사람이 많아요.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밥그릇은 어떻게 할까요?</a:t>
            </a:r>
            <a:endParaRPr lang="ko-KR" sz="4000" dirty="0"/>
          </a:p>
        </p:txBody>
      </p:sp>
      <p:sp>
        <p:nvSpPr>
          <p:cNvPr id="3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행동도 나라에 따라 예절이 달라요.</a:t>
            </a:r>
            <a:endParaRPr lang="ko-KR" sz="3000" dirty="0"/>
          </a:p>
        </p:txBody>
      </p:sp>
      <p:sp>
        <p:nvSpPr>
          <p:cNvPr id="5" name="S04-card22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3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밥그릇을 상에 놓은 채로 숟가락으로 떠먹는 사람이 많아요.</a:t>
            </a:r>
            <a:endParaRPr lang="ko-KR" sz="3000" dirty="0"/>
          </a:p>
        </p:txBody>
      </p:sp>
      <p:sp>
        <p:nvSpPr>
          <p:cNvPr id="7" name="S04-card24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5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밥그릇을 손에 들고 젓가락으로 먹는 사람이 많아요.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정해 비교해요</a:t>
            </a:r>
            <a:endParaRPr lang="ko-KR" sz="4000" dirty="0"/>
          </a:p>
        </p:txBody>
      </p:sp>
      <p:sp>
        <p:nvSpPr>
          <p:cNvPr id="3" name="S05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사람들이 이렇게 해요. 집마다 다를 수도 있어요.</a:t>
            </a:r>
            <a:endParaRPr lang="ko-KR" sz="3000" dirty="0"/>
          </a:p>
        </p:txBody>
      </p:sp>
      <p:graphicFrame>
        <p:nvGraphicFramePr>
          <p:cNvPr id="6" name="S05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20900"/>
          <a:ext cx="10058400" cy="914400"/>
        </p:xfrm>
        <a:graphic>
          <a:graphicData uri="http://schemas.openxmlformats.org/drawingml/2006/table">
            <a:tbl>
              <a:tblPr/>
              <a:tblGrid>
                <a:gridCol w="3419856"/>
                <a:gridCol w="3319272"/>
                <a:gridCol w="3319272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일본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무엇으로 먹나요?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숟가락과 젓가락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주로 젓가락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밥그릇은?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상에 놓고 먹어요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들고 먹어요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집에 들어갈 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신발을 벗어요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신발을 벗어요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</a:t>
            </a:r>
            <a:endParaRPr lang="ko-KR" sz="4000" dirty="0"/>
          </a:p>
        </p:txBody>
      </p:sp>
      <p:sp>
        <p:nvSpPr>
          <p:cNvPr id="3" name="S06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하나 골라 같은 점과 다른 점을 말해요.</a:t>
            </a:r>
            <a:endParaRPr lang="ko-KR" sz="3000" dirty="0"/>
          </a:p>
        </p:txBody>
      </p:sp>
      <p:sp>
        <p:nvSpPr>
          <p:cNvPr id="4" name="S06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기준: 무엇으로 먹나요? 밥그릇은? 집에 들어갈 때는?</a:t>
            </a:r>
            <a:endParaRPr lang="ko-KR" sz="3000" dirty="0"/>
          </a:p>
        </p:txBody>
      </p:sp>
      <p:sp>
        <p:nvSpPr>
          <p:cNvPr id="6" name="S06-chip3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33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· 일본</a:t>
            </a:r>
            <a:endParaRPr lang="ko-KR" sz="3000" dirty="0"/>
          </a:p>
        </p:txBody>
      </p:sp>
      <p:sp>
        <p:nvSpPr>
          <p:cNvPr id="8" name="S06-chip3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35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젓가락으로 먹기 · 포크와 나이프로 먹기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예절이 있을까요?</a:t>
            </a:r>
            <a:endParaRPr lang="ko-KR" sz="4000" dirty="0"/>
          </a:p>
        </p:txBody>
      </p:sp>
      <p:sp>
        <p:nvSpPr>
          <p:cNvPr id="3" name="S07-card3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‘밥그릇을 들고 먹으면 틀린 거야.’라고 했어요.</a:t>
            </a:r>
            <a:endParaRPr lang="ko-KR" sz="3000" dirty="0"/>
          </a:p>
        </p:txBody>
      </p:sp>
      <p:sp>
        <p:nvSpPr>
          <p:cNvPr id="5" name="S07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말이 맞을까요? 왜 그렇게 생각해요?</a:t>
            </a:r>
            <a:endParaRPr lang="ko-KR" sz="3000" dirty="0"/>
          </a:p>
        </p:txBody>
      </p:sp>
      <p:sp>
        <p:nvSpPr>
          <p:cNvPr id="7" name="S07-chip4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</a:t>
            </a:r>
            <a:endParaRPr lang="ko-KR" sz="2400" dirty="0"/>
          </a:p>
        </p:txBody>
      </p:sp>
      <p:sp>
        <p:nvSpPr>
          <p:cNvPr id="8" name="S07-text4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밥그릇을 상에 놓고 먹는 사람이 많아요.</a:t>
            </a:r>
            <a:endParaRPr lang="ko-KR" sz="3000" dirty="0"/>
          </a:p>
        </p:txBody>
      </p:sp>
      <p:sp>
        <p:nvSpPr>
          <p:cNvPr id="9" name="S07-chip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</a:t>
            </a:r>
            <a:endParaRPr lang="ko-KR" sz="2400" dirty="0"/>
          </a:p>
        </p:txBody>
      </p:sp>
      <p:sp>
        <p:nvSpPr>
          <p:cNvPr id="10" name="S07-text4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밥그릇을 들고 먹는 사람이 많아요.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들어가도 될까요?</a:t>
            </a:r>
            <a:endParaRPr lang="ko-KR" sz="4000" dirty="0"/>
          </a:p>
        </p:txBody>
      </p:sp>
      <p:sp>
        <p:nvSpPr>
          <p:cNvPr id="3" name="S08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상대가 Sure.(그럼요.)라고 하면 들어가요.</a:t>
            </a:r>
            <a:endParaRPr lang="ko-KR" sz="3000" dirty="0"/>
          </a:p>
        </p:txBody>
      </p:sp>
      <p:sp>
        <p:nvSpPr>
          <p:cNvPr id="5" name="S08-word46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Excuse me.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실례합니다.</a:t>
            </a:r>
            <a:endParaRPr lang="ko-KR" sz="3400" dirty="0"/>
          </a:p>
        </p:txBody>
      </p:sp>
      <p:sp>
        <p:nvSpPr>
          <p:cNvPr id="6" name="S08-word47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May I come in?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들어가도 될까요?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고마운지 말해요</a:t>
            </a:r>
            <a:endParaRPr lang="ko-KR" sz="4000" dirty="0"/>
          </a:p>
        </p:txBody>
      </p:sp>
      <p:sp>
        <p:nvSpPr>
          <p:cNvPr id="3" name="S09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뒤에 고마운 것을 붙여요.</a:t>
            </a:r>
            <a:endParaRPr lang="ko-KR" sz="3000" dirty="0"/>
          </a:p>
        </p:txBody>
      </p:sp>
      <p:sp>
        <p:nvSpPr>
          <p:cNvPr id="5" name="S09-word50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 for dinner.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식사 고맙습니다.</a:t>
            </a:r>
            <a:endParaRPr lang="ko-KR" sz="3400" dirty="0"/>
          </a:p>
        </p:txBody>
      </p:sp>
      <p:sp>
        <p:nvSpPr>
          <p:cNvPr id="6" name="S09-word51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 for your help.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도와줘서 고마워.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말을 할까요?</a:t>
            </a:r>
            <a:endParaRPr lang="ko-KR" sz="4000" dirty="0"/>
          </a:p>
        </p:txBody>
      </p:sp>
      <p:sp>
        <p:nvSpPr>
          <p:cNvPr id="3" name="S10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하는 말을 보기에서 골라 말해요.</a:t>
            </a:r>
            <a:endParaRPr lang="ko-KR" sz="3000" dirty="0"/>
          </a:p>
        </p:txBody>
      </p:sp>
      <p:sp>
        <p:nvSpPr>
          <p:cNvPr id="4" name="S10-card53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54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</a:t>
            </a:r>
            <a:endParaRPr lang="ko-KR" sz="3000" dirty="0"/>
          </a:p>
        </p:txBody>
      </p:sp>
      <p:sp>
        <p:nvSpPr>
          <p:cNvPr id="6" name="S10-word55"/>
          <p:cNvSpPr txBox="1"/>
          <p:nvPr/>
        </p:nvSpPr>
        <p:spPr>
          <a:xfrm>
            <a:off x="6551676" y="269748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Excuse me.</a:t>
            </a:r>
            <a:endParaRPr lang="ko-KR" sz="3400" dirty="0"/>
          </a:p>
        </p:txBody>
      </p:sp>
      <p:sp>
        <p:nvSpPr>
          <p:cNvPr id="7" name="S10-word56"/>
          <p:cNvSpPr txBox="1"/>
          <p:nvPr/>
        </p:nvSpPr>
        <p:spPr>
          <a:xfrm>
            <a:off x="6551676" y="390144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May I come in?</a:t>
            </a:r>
            <a:endParaRPr lang="ko-KR" sz="3400" dirty="0"/>
          </a:p>
        </p:txBody>
      </p:sp>
      <p:sp>
        <p:nvSpPr>
          <p:cNvPr id="8" name="S10-word57"/>
          <p:cNvSpPr txBox="1"/>
          <p:nvPr/>
        </p:nvSpPr>
        <p:spPr>
          <a:xfrm>
            <a:off x="6551676" y="5105400"/>
            <a:ext cx="4814316" cy="929640"/>
          </a:xfrm>
          <a:prstGeom prst="roundRect">
            <a:avLst>
              <a:gd name="adj" fmla="val 1377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 for dinner.</a:t>
            </a:r>
            <a:endParaRPr lang="ko-KR" sz="3000" dirty="0"/>
          </a:p>
        </p:txBody>
      </p:sp>
      <p:sp>
        <p:nvSpPr>
          <p:cNvPr id="9" name="S10-chip5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0" name="S10-text59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좁은 길에서 사람들 사이를 지나가요.</a:t>
            </a:r>
            <a:endParaRPr lang="ko-KR" sz="3000" dirty="0"/>
          </a:p>
        </p:txBody>
      </p:sp>
      <p:sp>
        <p:nvSpPr>
          <p:cNvPr id="11" name="S10-chip6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2" name="S10-text61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방에 들어가고 싶어요.</a:t>
            </a:r>
            <a:endParaRPr lang="ko-KR" sz="3000" dirty="0"/>
          </a:p>
        </p:txBody>
      </p:sp>
      <p:sp>
        <p:nvSpPr>
          <p:cNvPr id="13" name="S10-chip6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4" name="S10-text63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부모님이 저녁을 차려 주셨어요.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말해 보세요.</a:t>
            </a:r>
            <a:endParaRPr lang="ko-KR" sz="3000" dirty="0"/>
          </a:p>
        </p:txBody>
      </p:sp>
      <p:sp>
        <p:nvSpPr>
          <p:cNvPr id="4" name="S11-chip6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6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한국과 일본의 밥그릇 예절은 무엇이 다른가요?</a:t>
            </a:r>
            <a:endParaRPr lang="ko-KR" sz="3000" dirty="0"/>
          </a:p>
        </p:txBody>
      </p:sp>
      <p:sp>
        <p:nvSpPr>
          <p:cNvPr id="6" name="S11-chip6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6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‘손으로 먹는 건 틀렸어.’라고 해요.</a:t>
            </a:r>
            <a:endParaRPr lang="ko-KR" sz="3000" dirty="0"/>
          </a:p>
        </p:txBody>
      </p:sp>
      <p:sp>
        <p:nvSpPr>
          <p:cNvPr id="8" name="S11-chip6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7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 방에 들어가고 싶어요.</a:t>
            </a:r>
            <a:endParaRPr lang="ko-KR" sz="3000" dirty="0"/>
          </a:p>
        </p:txBody>
      </p:sp>
      <p:sp>
        <p:nvSpPr>
          <p:cNvPr id="10" name="S11-chip7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7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숙제를 도와주었어요.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 예 확인</a:t>
            </a:r>
            <a:endParaRPr lang="ko-KR" sz="4000" dirty="0"/>
          </a:p>
        </p:txBody>
      </p:sp>
      <p:sp>
        <p:nvSpPr>
          <p:cNvPr id="3" name="S12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예절은 달라도 서로 존중해요. for 뒤에는 고마운 것!</a:t>
            </a:r>
            <a:endParaRPr lang="ko-KR" sz="3000" dirty="0"/>
          </a:p>
        </p:txBody>
      </p:sp>
      <p:sp>
        <p:nvSpPr>
          <p:cNvPr id="5" name="S12-chip7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76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한국은 놓고, 일본은 들고 먹어요</a:t>
            </a:r>
            <a:endParaRPr lang="ko-KR" sz="2400" dirty="0"/>
          </a:p>
        </p:txBody>
      </p:sp>
      <p:sp>
        <p:nvSpPr>
          <p:cNvPr id="7" name="S12-text77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나라마다 달라요</a:t>
            </a:r>
            <a:endParaRPr lang="ko-KR" sz="3000" dirty="0"/>
          </a:p>
        </p:txBody>
      </p:sp>
      <p:sp>
        <p:nvSpPr>
          <p:cNvPr id="8" name="S12-text78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(Excuse me.) May I come in?</a:t>
            </a:r>
            <a:endParaRPr lang="ko-KR" sz="2400" dirty="0"/>
          </a:p>
        </p:txBody>
      </p:sp>
      <p:sp>
        <p:nvSpPr>
          <p:cNvPr id="9" name="S12-text79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Thank you for your help.</a:t>
            </a:r>
            <a:endParaRPr lang="ko-KR" sz="3000" dirty="0"/>
          </a:p>
        </p:txBody>
      </p:sp>
      <p:sp>
        <p:nvSpPr>
          <p:cNvPr id="10" name="S12-chip8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1" name="S12-text81"/>
          <p:cNvSpPr txBox="1"/>
          <p:nvPr/>
        </p:nvSpPr>
        <p:spPr>
          <a:xfrm>
            <a:off x="6277356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예절은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틀렸다고 하기</a:t>
            </a:r>
            <a:endParaRPr lang="ko-KR" sz="3000" dirty="0"/>
          </a:p>
        </p:txBody>
      </p:sp>
      <p:sp>
        <p:nvSpPr>
          <p:cNvPr id="12" name="S12-text82"/>
          <p:cNvSpPr txBox="1"/>
          <p:nvPr/>
        </p:nvSpPr>
        <p:spPr>
          <a:xfrm>
            <a:off x="6277356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 for.에서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멈추기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말을 골라요</a:t>
            </a:r>
            <a:endParaRPr lang="ko-KR" sz="4000" dirty="0"/>
          </a:p>
        </p:txBody>
      </p:sp>
      <p:sp>
        <p:nvSpPr>
          <p:cNvPr id="3" name="S13-card8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8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Thank you for your help.라고 하면? 어떻게 알았나요?</a:t>
            </a:r>
            <a:endParaRPr lang="ko-KR" sz="3000" dirty="0"/>
          </a:p>
        </p:txBody>
      </p:sp>
      <p:sp>
        <p:nvSpPr>
          <p:cNvPr id="5" name="S13-chip85"/>
          <p:cNvSpPr txBox="1"/>
          <p:nvPr/>
        </p:nvSpPr>
        <p:spPr>
          <a:xfrm>
            <a:off x="548640" y="182499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card86"/>
          <p:cNvSpPr/>
          <p:nvPr/>
        </p:nvSpPr>
        <p:spPr>
          <a:xfrm>
            <a:off x="1344168" y="1325880"/>
            <a:ext cx="4567428" cy="1565148"/>
          </a:xfrm>
          <a:prstGeom prst="roundRect">
            <a:avLst>
              <a:gd name="adj" fmla="val 70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87"/>
          <p:cNvSpPr txBox="1"/>
          <p:nvPr/>
        </p:nvSpPr>
        <p:spPr>
          <a:xfrm>
            <a:off x="1618488" y="1463040"/>
            <a:ext cx="4018788" cy="129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Excuse me.</a:t>
            </a:r>
            <a:endParaRPr lang="ko-KR" sz="3000" dirty="0"/>
          </a:p>
        </p:txBody>
      </p:sp>
      <p:sp>
        <p:nvSpPr>
          <p:cNvPr id="8" name="S13-chip88"/>
          <p:cNvSpPr txBox="1"/>
          <p:nvPr/>
        </p:nvSpPr>
        <p:spPr>
          <a:xfrm>
            <a:off x="6277356" y="182499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card89"/>
          <p:cNvSpPr/>
          <p:nvPr/>
        </p:nvSpPr>
        <p:spPr>
          <a:xfrm>
            <a:off x="7072884" y="1325880"/>
            <a:ext cx="4567428" cy="1565148"/>
          </a:xfrm>
          <a:prstGeom prst="roundRect">
            <a:avLst>
              <a:gd name="adj" fmla="val 70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90"/>
          <p:cNvSpPr txBox="1"/>
          <p:nvPr/>
        </p:nvSpPr>
        <p:spPr>
          <a:xfrm>
            <a:off x="7347204" y="1463040"/>
            <a:ext cx="4018788" cy="129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May I come in?</a:t>
            </a:r>
            <a:endParaRPr lang="ko-KR" sz="3000" dirty="0"/>
          </a:p>
        </p:txBody>
      </p:sp>
      <p:sp>
        <p:nvSpPr>
          <p:cNvPr id="11" name="S13-chip91"/>
          <p:cNvSpPr txBox="1"/>
          <p:nvPr/>
        </p:nvSpPr>
        <p:spPr>
          <a:xfrm>
            <a:off x="548640" y="366445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3-card92"/>
          <p:cNvSpPr/>
          <p:nvPr/>
        </p:nvSpPr>
        <p:spPr>
          <a:xfrm>
            <a:off x="1344168" y="3165348"/>
            <a:ext cx="4567428" cy="1565148"/>
          </a:xfrm>
          <a:prstGeom prst="roundRect">
            <a:avLst>
              <a:gd name="adj" fmla="val 70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93"/>
          <p:cNvSpPr txBox="1"/>
          <p:nvPr/>
        </p:nvSpPr>
        <p:spPr>
          <a:xfrm>
            <a:off x="1618488" y="3302508"/>
            <a:ext cx="4018788" cy="129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 for dinner.</a:t>
            </a:r>
            <a:endParaRPr lang="ko-KR" sz="3000" dirty="0"/>
          </a:p>
        </p:txBody>
      </p:sp>
      <p:sp>
        <p:nvSpPr>
          <p:cNvPr id="14" name="S13-chip94"/>
          <p:cNvSpPr txBox="1"/>
          <p:nvPr/>
        </p:nvSpPr>
        <p:spPr>
          <a:xfrm>
            <a:off x="6277356" y="366445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5" name="S13-card95"/>
          <p:cNvSpPr/>
          <p:nvPr/>
        </p:nvSpPr>
        <p:spPr>
          <a:xfrm>
            <a:off x="7072884" y="3165348"/>
            <a:ext cx="4567428" cy="1565148"/>
          </a:xfrm>
          <a:prstGeom prst="roundRect">
            <a:avLst>
              <a:gd name="adj" fmla="val 7011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96"/>
          <p:cNvSpPr txBox="1"/>
          <p:nvPr/>
        </p:nvSpPr>
        <p:spPr>
          <a:xfrm>
            <a:off x="7347204" y="3302508"/>
            <a:ext cx="4018788" cy="1290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You're welcome.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7"/>
          <p:cNvSpPr/>
          <p:nvPr/>
        </p:nvSpPr>
        <p:spPr>
          <a:xfrm>
            <a:off x="548640" y="1325880"/>
            <a:ext cx="11091672" cy="1723644"/>
          </a:xfrm>
          <a:prstGeom prst="roundRect">
            <a:avLst>
              <a:gd name="adj" fmla="val 6366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8"/>
          <p:cNvSpPr txBox="1"/>
          <p:nvPr/>
        </p:nvSpPr>
        <p:spPr>
          <a:xfrm>
            <a:off x="822960" y="1463040"/>
            <a:ext cx="10543032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예절은 나라마다 달라도 서로를 존중하는 방법이에요.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예의 바른 말: Excuse me. May I come in? Thank you for ~.</a:t>
            </a:r>
            <a:endParaRPr lang="ko-KR" sz="3000" dirty="0"/>
          </a:p>
        </p:txBody>
      </p:sp>
      <p:sp>
        <p:nvSpPr>
          <p:cNvPr id="5" name="S14-chip99"/>
          <p:cNvSpPr txBox="1"/>
          <p:nvPr/>
        </p:nvSpPr>
        <p:spPr>
          <a:xfrm>
            <a:off x="548640" y="327812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기준을 정해 비교하기</a:t>
            </a:r>
            <a:endParaRPr lang="ko-KR" sz="2400" dirty="0"/>
          </a:p>
        </p:txBody>
      </p:sp>
      <p:sp>
        <p:nvSpPr>
          <p:cNvPr id="6" name="S14-chip100"/>
          <p:cNvSpPr txBox="1"/>
          <p:nvPr/>
        </p:nvSpPr>
        <p:spPr>
          <a:xfrm>
            <a:off x="6208776" y="327812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다른 예절은 틀렸다고 하기</a:t>
            </a:r>
            <a:endParaRPr lang="ko-KR" sz="2400" dirty="0"/>
          </a:p>
        </p:txBody>
      </p:sp>
      <p:sp>
        <p:nvSpPr>
          <p:cNvPr id="7" name="S14-text101"/>
          <p:cNvSpPr txBox="1"/>
          <p:nvPr/>
        </p:nvSpPr>
        <p:spPr>
          <a:xfrm>
            <a:off x="548640" y="410108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102"/>
          <p:cNvSpPr txBox="1"/>
          <p:nvPr/>
        </p:nvSpPr>
        <p:spPr>
          <a:xfrm>
            <a:off x="548640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한국과 일본의 밥그릇 예절은?</a:t>
            </a:r>
            <a:endParaRPr lang="ko-KR" sz="2400" dirty="0"/>
          </a:p>
        </p:txBody>
      </p:sp>
      <p:sp>
        <p:nvSpPr>
          <p:cNvPr id="9" name="S14-text103"/>
          <p:cNvSpPr txBox="1"/>
          <p:nvPr/>
        </p:nvSpPr>
        <p:spPr>
          <a:xfrm>
            <a:off x="4322064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들어가도 되는지 영어로 묻기</a:t>
            </a:r>
            <a:endParaRPr lang="ko-KR" sz="2400" dirty="0"/>
          </a:p>
        </p:txBody>
      </p:sp>
      <p:sp>
        <p:nvSpPr>
          <p:cNvPr id="10" name="S14-text104"/>
          <p:cNvSpPr txBox="1"/>
          <p:nvPr/>
        </p:nvSpPr>
        <p:spPr>
          <a:xfrm>
            <a:off x="8095488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도와준 친구에게 영어로 고맙다고 말하기</a:t>
            </a:r>
            <a:endParaRPr lang="ko-KR" sz="2400" dirty="0"/>
          </a:p>
        </p:txBody>
      </p:sp>
      <p:sp>
        <p:nvSpPr>
          <p:cNvPr id="11" name="S14-text10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중심 내용 찾기(5학년)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지난 표현 다시</a:t>
            </a:r>
            <a:endParaRPr lang="ko-KR" sz="4000" dirty="0"/>
          </a:p>
        </p:txBody>
      </p:sp>
      <p:sp>
        <p:nvSpPr>
          <p:cNvPr id="3" name="S15-card1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묘사할 때는 It's ~., 부탁할 때는 please</a:t>
            </a:r>
            <a:endParaRPr lang="ko-KR" sz="3000" dirty="0"/>
          </a:p>
        </p:txBody>
      </p:sp>
      <p:sp>
        <p:nvSpPr>
          <p:cNvPr id="5" name="S15-word108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small.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작아요.</a:t>
            </a:r>
            <a:endParaRPr lang="ko-KR" sz="3400" dirty="0"/>
          </a:p>
        </p:txBody>
      </p:sp>
      <p:sp>
        <p:nvSpPr>
          <p:cNvPr id="6" name="S15-word109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white.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하얀색이에요.</a:t>
            </a:r>
            <a:endParaRPr lang="ko-KR" sz="3400" dirty="0"/>
          </a:p>
        </p:txBody>
      </p:sp>
      <p:sp>
        <p:nvSpPr>
          <p:cNvPr id="7" name="S15-word110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Water, please.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주세요.</a:t>
            </a:r>
            <a:endParaRPr lang="ko-KR" sz="3400" dirty="0"/>
          </a:p>
        </p:txBody>
      </p:sp>
      <p:sp>
        <p:nvSpPr>
          <p:cNvPr id="8" name="S15-word111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고마워요.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영어 생활 예절 비교</dc:title>
  <dc:subject>KR22-G04-ENG-MANNERS-L01</dc:subject>
  <dc:creator>education-ppt</dc:creator>
  <cp:lastModifiedBy>education-ppt</cp:lastModifiedBy>
  <cp:revision>1</cp:revision>
  <dcterms:created xsi:type="dcterms:W3CDTF">2026-10-26T08:55:54Z</dcterms:created>
  <dcterms:modified xsi:type="dcterms:W3CDTF">2026-10-26T08:55:54Z</dcterms:modified>
</cp:coreProperties>
</file>