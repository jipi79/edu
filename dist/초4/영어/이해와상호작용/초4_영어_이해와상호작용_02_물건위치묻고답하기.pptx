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8f69691d-03f6-3307-2bea-be4650c6101c}">
          <p14:sldIdLst>
            <p14:sldId id="256"/>
            <p14:sldId id="257"/>
          </p14:sldIdLst>
        </p14:section>
        <p14:section name="개념" id="{aafcca0b-1830-e6e2-ac07-a1b4a09e16d8}">
          <p14:sldIdLst>
            <p14:sldId id="258"/>
            <p14:sldId id="259"/>
            <p14:sldId id="260"/>
          </p14:sldIdLst>
        </p14:section>
        <p14:section name="연습" id="{fce934b0-9618-0d95-6874-2a54f2eebb15}">
          <p14:sldIdLst>
            <p14:sldId id="261"/>
            <p14:sldId id="262"/>
            <p14:sldId id="263"/>
            <p14:sldId id="264"/>
          </p14:sldIdLst>
        </p14:section>
        <p14:section name="확인" id="{da8f6396-aef3-16f2-e5c4-740eccb42cb4}">
          <p14:sldIdLst>
            <p14:sldId id="265"/>
            <p14:sldId id="266"/>
            <p14:sldId id="267"/>
          </p14:sldIdLst>
        </p14:section>
        <p14:section name="정리" id="{521ad4ed-b61a-4924-056c-26823b19a767}">
          <p14:sldIdLst>
            <p14:sldId id="268"/>
          </p14:sldIdLst>
        </p14:section>
        <p14:section name="보충" id="{41043dd2-0269-1667-bb1f-debbed5f0ff9}">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물건이 어디 있는지 묻고 답하는 상황에 관심을 갖게 합니다.
시간: 약 2분
이렇게 말해 보세요
- “오른쪽 그림에서 공은 어디에 있어? 우리말로 말해 볼래?”
- “오늘은 물건이 어디 있는지 영어로 묻고, 위에 있는지, 안에 있는지, 아래에 있는지 말해 볼 거야.”
예상 답
- “책상 위에 있어요.”
주의
- 수업 전에 교과서 디지털 자료나 사전 앱의 발음 듣기로 오늘 낱말과 문장(on, in, under, desk, box, chair, bed, ball, Where is the ball? It's on the desk. It's in the box. It's under the chair.)을 미리 들어 두세요. 부모님 발음이 완벽하지 않아도 괜찮습니다.
- 소리 자료 없이 진행하면 바른 소리를 확인하기 어렵습니다. 헷갈리는 표현은 기록해 두었다가 소리 자료로 나중에 확인합니다.
- 작은 공(또는 인형), 상자, 책상, 의자를 가까이에 준비해 두세요. 화면의 그림과 똑같이 실물로 놓아 보면 훨씬 잘 이해합니다.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확인(가족 소개하기)]
목적: 지난 차시(가족 소개하기)의 This is my ~.와 He/She is ~.를 기억하는지 확인합니다. 오늘 쓰는 It's(It is)도 같은 is 문장이므로 꼭 필요합니다.
시간: 약 3분
이렇게 말해 보세요
- “①, 사진 속 엄마(아빠)를 가리키며 영어로 소개해 줄래?”
- “②, 빈칸에 He가 들어갈까, She가 들어갈까?”
정답
- ① This is my mom. (또는 This is my dad.)
- ② She (grandma는 여자) → This is my grandma. She is kind.
막히면
- 부모가 This is my를 먼저 말해 주고 이어 말하게 합니다.
- 둘 다 스스로 하지 못하면 S14(보충)를 먼저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on, in, under의 뜻]
목적: on, in, under의 뜻을 그림과 실물로 압니다(M1).
시간: 약 4분
이렇게 말해 보세요
- “첫째 그림에서 공은 책상 위에 있어. 위에 있으면 on. 소리를 듣고 따라 해 봐. on.”
- “둘째 그림은 상자 안에 있지? 안에 있으면 in. 셋째는 책상 아래야. 아래에 있으면 under.”
- “이제 진짜 공과 상자로 해 보자. 엄마(아빠)가 말하는 곳에 공을 놓아 줘. on! under! in!”
예상 답
- 아이가 on에서 상자 위, in에서 상자 안, under에서 책상이나 의자 아래에 공을 놓습니다.
막히면
- 몸으로 익힙니다. on은 손바닥을 머리 위에 얹고, in은 두 팔로 동그랗게 원을 만들고, under는 손을 턱 아래에 대며 말합니다.
- under를 어려워하면 un-der처럼 두 부분으로 나누어 천천히 따라 하게 합니다.
주의
- 우리말에서는 ‘책상에 있어요’, ‘상자에 있어요’처럼 위·안을 구별하지 않고 말하기도 합니다. 영어에서는 꼭 on, in, under를 골라 말해야 합니다(M1).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It's on/in/under the ~.로 위치 말하기]
목적: It's on/in/under the ~.로 물건의 위치를 문장으로 말합니다(M2).
시간: 약 3분
이렇게 말해 보세요
- “소리를 듣고 따라 해 보자. It's on the desk. It's in the box. It's under the chair.”
- “It's는 ‘그것은 ~에 있어’라는 뜻이야. 그다음에 on, in, under, 그리고 the, 마지막에 장소를 말해.”
- “엄마(아빠)가 공을 놓을게. 어디에 있는지 문장으로 말해 줘.” (책상 위, 상자 안, 의자 아래에 차례로 놓습니다.)
예상 답
- “It's on the desk.” “It's in the box.” “It's under the chair.”
막히면
- It's on the, It's in the, It's under the를 한 덩어리로 여러 번 말한 뒤 장소 낱말을 붙이게 합니다(M2).
- the의 th는 혀끝을 윗니와 아랫니 사이에 살짝 내밀고 냅니다. 소리 자료를 듣고 따라 하게 합니다.
주의
- It's의 아포스트로피(')는 is의 i가 빠진 자리라는 표시입니다. 쓸 때 빠뜨리지 않게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Where is the ~?로 묻기]
목적: Where is the ~?로 물건이 어디 있는지 묻고, 장소로 대답한다는 것을 압니다(M3).
시간: 약 3분
이렇게 말해 보세요
- “A가 Where is the ball?이라고 물었어. Where는 ‘어디’라는 뜻이야. 공은 어디에 있어?라는 뜻이지. 따라 해 봐. Where is the ball?”
- “B는 그림을 보고 대답했어. It's under the desk.”
- “이번에는 네가 A, 엄마(아빠)가 B야. 물어봐 줄래?” (그다음 역할을 바꿉니다.)
예상 답
- “Where is the ball?” “It's under the desk.”
막히면
- 뒤에서부터 붙여 말합니다. ball? … the ball? … is the ball? … Where is the ball?
- 묻는 말은 끝을 살짝 내리며 말해도 됩니다. 소리 자료의 말투를 따라 하게 합니다.
주의
- Where 문장은 묻는 말이라 끝에 물음표(?)가 있습니다. Yes나 No로 대답하지 않습니다(M3).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그림을 보고 위치 말하기]
목적: 그림을 보고 on, in, under를 골라 위치를 문장으로 말합니다.
시간: 약 3분
이렇게 말해 보세요
- “엄마(아빠)가 물어볼게. ①, Where is the ball?”
- “②, Where is the ball?” “③, Where is the ball?”
- “어떻게 알았어? 공이 위에 있어, 아래에 있어?”
정답
- ① It's on the box. ② It's under the chair. ③ It's on the chair.
막히면
- 실제 공과 상자, 의자로 그림과 똑같이 놓아 보고 말하게 합니다.
- 장소 낱말이 떠오르지 않으면 아래 카드를 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오개념 비교(on과 under)]
목적: on과 under의 뜻을 그림으로 비교하고, 틀린 말을 고쳐 말합니다(M1).
시간: 약 2분
이렇게 말해 보세요
- “친구가 말한 It's on the desk.는 가와 나 가운데 어느 그림이야?”
- “공은 실제로 책상 아래에 있었어. 그러면 어떻게 말해야 할까?”
정답
- 친구의 말(It's on the desk.)과 맞는 그림은 가입니다. 공이 책상 아래에 있으면 나처럼 It's under the desk.라고 말해야 합니다.
막히면
- 실제 공을 책상 위와 아래에 번갈아 놓으며 on, under를 말하게 합니다.
주의
- 여기까지가 배우는 부분입니다. 아이가 지치면 여기서 나누어 다음 날 S08부터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빈칸 대화]
목적: 대화의 빈칸에 알맞은 말을 넣어 묻고 답하는 대화를 완성합니다(M2, M3).
시간: 약 3분
이렇게 말해 보세요
- “엄마(아빠)가 읽어 줄게. 빈칸에서는 ‘음~’ 하고 멈출 거야. 보기의 Where, on, under 가운데 무엇이 들어갈까?”
- “①, A: 음~ is the ball? B: It's in the box.”
- “②, 고양이는 침대 아래에 있어. B: It's 음~ the bed.” “③, 가방은 의자 위에 있어.”
- “이제 빈칸을 채워서 엄마(아빠)와 한 줄씩 나누어 말해 보자.”
정답
- ① Where (Where is the ball?)
- ② under (It's under the bed.)
- ③ on (It's on the chair.)
막히면
- 보기의 세 낱말을 빈칸에 하나씩 넣어 읽어 주고 어울리는 것을 고르게 합니다.
- ②③은 괄호 안의 우리말(아래, 위)을 보고 고르게 합니다.
주의
- cat, bed, bag은 세 글자 낱말이라 소리를 이어 읽을 수 있습니다(고양이, 침대, 가방).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숨긴 물건 찾기 놀이]
목적: 실제 물건으로 위치를 묻고 답하며, 들은 대답으로 물건을 찾습니다.
시간: 약 5분
이렇게 말해 보세요
- “눈을 감고 있어. 엄마(아빠)가 공을 숨길게.” (상자 안, 의자 위, 책상 아래 가운데 한 곳에 숨깁니다.)
- “이제 눈 떠. 나에게 영어로 물어봐.” (아이: Where is the ball?) → “It's under the desk.”
- “찾았어? 이번에는 네가 숨기고, 엄마(아빠)가 물어볼게. Where is the ball?”
예상 답
- 아이: “Where is the ball?” 부모의 대답을 듣고 공을 찾습니다.
- 역할을 바꾸면 아이: “It's in the box.” “It's on the chair.”처럼 대답합니다.
막히면
- 대답을 듣고 찾지 못하면 부모가 같은 문장을 천천히 다시 말하며 손짓(위·안·아래)을 함께 합니다.
- 아이가 대답할 때 막히면 “위야, 안이야, 아래야?”라고 우리말로 먼저 묻습니다.
주의
- 3번 이상 주고받습니다. 공이 없으면 인형이나 지우개를 숨겨도 됩니다. 인형이면 Where is the doll?처럼 물건 낱말만 바꿉니다.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혼자 위치 말하기와 묻기]
목적: 도움 없이 그림을 보고 위치를 말하고, Where is the ~?로 묻는지 확인합니다.
시간: 약 4분
이렇게 말해 보세요
- “이번에는 혼자 해 볼래? 엄마(아빠)가 물어볼게. ①, Where is the ball?” (②, ③도 같은 방법으로)
- “④, 이번에는 네가 엄마(아빠)에게 공이 어디 있는지 물어봐.” (부모는 아무 곳이나 정해 It's ~ the ~.로 대답합니다.)
정답
- ① It's on the chair. ② It's in the box. ③ It's under the desk.
- ④ Where is the ball?
- 기준: on, in, under와 장소를 알맞게 말하고 It's와 the를 넣으면 맞습니다. 소리가 조금 서툴러도 알맞은 표현을 골라 말했으면 맞은 것으로 봅니다.
막히면
- 바로 알려 주지 말고 “공이 위에 있어, 안에 있어, 아래에 있어?”라고만 묻습니다.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정답과 피드백]
목적: 아이의 대답을 확인하고 흔한 실수와 비교합니다.
시간: 약 2분
이렇게 말해 보세요
- “네가 말한 것과 왼쪽을 비교해 보자.”
- “오른쪽처럼 말하면 어디가 어색할까?”
예상 답
- “공이 아래에 있으니까 under예요.” “It's를 넣어야 해요.”
주의
- 이 장은 학생용 파일에서 빠집니다. Under the desk.처럼 짧게 말해도 대화에서는 뜻이 통하지만, 오늘은 문장 전체로 말하는 연습을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마무리 확인]
목적: 처음 보는 형식에서 위치를 나타내는 문장을 듣고 알맞은 그림을 고르는지 확인합니다.
시간: 약 2분
이렇게 말해 보세요
- “엄마(아빠)가 문장을 말할게. It's under the chair. 가, 나, 다, 라 중에서 어느 것일까? 어떻게 알았어?”
- “이번에는 It's on the desk.”
정답
- It's under the chair. → 다 (가는 의자 위, 나는 책상 아래)
- It's on the desk. → 라
막히면
- 먼저 장소(chair인지 desk인지)를 찾고, 그다음 위인지 아래인지 고르게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다음 학습과 복습]
목적: 핵심을 정리하고 다음 수업 첫 5분에 풀 복습을 알려 줍니다.
시간: 약 2분
이렇게 말해 보세요
- “물건이 어디 있는지 물을 때는 어떻게 말하지?”
- “위, 안, 아래는 영어로?”
예상 답
- “Where is the ball?” “on, in, under요.”
정답
- ① on 위에, in 안에, under 아래에 ② Where is the ball? ③ It's under the desk.
주의
- 집에서 물건을 찾을 때 Where is the ~?로 묻고 It's ~ the ~.로 답하는 놀이를 자주 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선수 학습 보충(가족 소개하기)]
목적: S02에서 가족 소개가 흔들리면, 위치 말하기를 배우기 전에 먼저 다집니다.
시간: 약 5분
이렇게 말해 보세요
- “소리를 듣고 따라 말해 보자.” (교과서 디지털 자료나 사전 앱의 소리를 함께 듣습니다.)
- “가족사진을 가리키며 한 사람씩 소개해 볼래? This is my ….”
- “그 사람은 남자야, 여자야? He야, She야?”
정답
- This is my dad. He is tall. / This is my mom. She is kind. (남자 가족은 He, 여자 가족은 She)
막히면
- 부모가 먼저 말하고 아이가 따라 말하는 것부터 다시 합니다.
주의
- 보충 뒤에도 This is my ~.와 He/She를 알맞게 말하지 못하면 앞 차시 ‘가족 소개하기’(KR22-G04-ENG-FAMILY-L01)를 먼저 다시 하고 이 차시를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영어 · 이해와상호작용 · 2차시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초4 영어 · 물건 위치 묻고 답하기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영어 · 물건 위치 묻고 답하기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초4 영어 · 물건 위치 묻고 답하기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물건 위치 묻고 답하기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공이 어디에 있는지</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영어로 어떻게 말할까요?</a:t>
            </a:r>
            <a:endParaRPr lang="ko-KR" sz="3000" dirty="0"/>
          </a:p>
        </p:txBody>
      </p:sp>
      <p:sp>
        <p:nvSpPr>
          <p:cNvPr id="4" name="S01-panel1"/>
          <p:cNvSpPr/>
          <p:nvPr/>
        </p:nvSpPr>
        <p:spPr>
          <a:xfrm>
            <a:off x="7543800" y="502920"/>
            <a:ext cx="4206240" cy="3200400"/>
          </a:xfrm>
          <a:prstGeom prst="roundRect">
            <a:avLst>
              <a:gd name="adj" fmla="val 4286"/>
            </a:avLst>
          </a:prstGeom>
          <a:solidFill>
            <a:srgbClr val="FFFFFF"/>
          </a:solidFill>
          <a:ln w="12700">
            <a:solidFill>
              <a:srgbClr val="FFFFFF"/>
            </a:solidFill>
            <a:prstDash val="solid"/>
          </a:ln>
        </p:spPr>
      </p:sp>
      <p:sp>
        <p:nvSpPr>
          <p:cNvPr id="5" name="S01-figure2" descr="책상 위에 공이 있는 그림"/>
          <p:cNvSpPr/>
          <p:nvPr/>
        </p:nvSpPr>
        <p:spPr>
          <a:xfrm>
            <a:off x="8513064" y="1734617"/>
            <a:ext cx="2267712" cy="198425"/>
          </a:xfrm>
          <a:custGeom>
            <a:avLst/>
            <a:gdLst/>
            <a:ahLst/>
            <a:cxnLst/>
            <a:rect l="l" t="t" r="r" b="b"/>
            <a:pathLst>
              <a:path w="2267712" h="198425">
                <a:moveTo>
                  <a:pt x="0" y="198425"/>
                </a:moveTo>
                <a:lnTo>
                  <a:pt x="2267712" y="198425"/>
                </a:lnTo>
                <a:lnTo>
                  <a:pt x="2267712" y="0"/>
                </a:lnTo>
                <a:lnTo>
                  <a:pt x="0" y="0"/>
                </a:lnTo>
                <a:close/>
              </a:path>
            </a:pathLst>
          </a:custGeom>
          <a:solidFill>
            <a:srgbClr val="C9A27E"/>
          </a:solidFill>
          <a:ln w="28575">
            <a:solidFill>
              <a:srgbClr val="1F2937"/>
            </a:solidFill>
            <a:prstDash val="solid"/>
          </a:ln>
        </p:spPr>
      </p:sp>
      <p:sp>
        <p:nvSpPr>
          <p:cNvPr id="6" name="S01-mark3"/>
          <p:cNvSpPr/>
          <p:nvPr/>
        </p:nvSpPr>
        <p:spPr>
          <a:xfrm>
            <a:off x="8626450" y="1933042"/>
            <a:ext cx="141732" cy="1133856"/>
          </a:xfrm>
          <a:custGeom>
            <a:avLst/>
            <a:gdLst/>
            <a:ahLst/>
            <a:cxnLst/>
            <a:rect l="l" t="t" r="r" b="b"/>
            <a:pathLst>
              <a:path w="141732" h="1133856">
                <a:moveTo>
                  <a:pt x="0" y="1133856"/>
                </a:moveTo>
                <a:lnTo>
                  <a:pt x="141732" y="1133856"/>
                </a:lnTo>
                <a:lnTo>
                  <a:pt x="141732" y="0"/>
                </a:lnTo>
                <a:lnTo>
                  <a:pt x="0" y="0"/>
                </a:lnTo>
                <a:close/>
              </a:path>
            </a:pathLst>
          </a:custGeom>
          <a:solidFill>
            <a:srgbClr val="C9A27E"/>
          </a:solidFill>
          <a:ln w="28575">
            <a:solidFill>
              <a:srgbClr val="1F2937"/>
            </a:solidFill>
            <a:prstDash val="solid"/>
          </a:ln>
        </p:spPr>
      </p:sp>
      <p:sp>
        <p:nvSpPr>
          <p:cNvPr id="7" name="S01-mark4"/>
          <p:cNvSpPr/>
          <p:nvPr/>
        </p:nvSpPr>
        <p:spPr>
          <a:xfrm>
            <a:off x="10525658" y="1933042"/>
            <a:ext cx="141732" cy="1133856"/>
          </a:xfrm>
          <a:custGeom>
            <a:avLst/>
            <a:gdLst/>
            <a:ahLst/>
            <a:cxnLst/>
            <a:rect l="l" t="t" r="r" b="b"/>
            <a:pathLst>
              <a:path w="141732" h="1133856">
                <a:moveTo>
                  <a:pt x="0" y="1133856"/>
                </a:moveTo>
                <a:lnTo>
                  <a:pt x="141732" y="1133856"/>
                </a:lnTo>
                <a:lnTo>
                  <a:pt x="141732" y="0"/>
                </a:lnTo>
                <a:lnTo>
                  <a:pt x="0" y="0"/>
                </a:lnTo>
                <a:close/>
              </a:path>
            </a:pathLst>
          </a:custGeom>
          <a:solidFill>
            <a:srgbClr val="C9A27E"/>
          </a:solidFill>
          <a:ln w="28575">
            <a:solidFill>
              <a:srgbClr val="1F2937"/>
            </a:solidFill>
            <a:prstDash val="solid"/>
          </a:ln>
        </p:spPr>
      </p:sp>
      <p:sp>
        <p:nvSpPr>
          <p:cNvPr id="8" name="S01-mark5"/>
          <p:cNvSpPr/>
          <p:nvPr/>
        </p:nvSpPr>
        <p:spPr>
          <a:xfrm>
            <a:off x="9363456" y="1167689"/>
            <a:ext cx="566928" cy="566928"/>
          </a:xfrm>
          <a:prstGeom prst="ellipse">
            <a:avLst/>
          </a:prstGeom>
          <a:solidFill>
            <a:srgbClr val="E9762B"/>
          </a:solidFill>
          <a:ln w="28575">
            <a:solidFill>
              <a:srgbClr val="1F2937"/>
            </a:solidFill>
            <a:prstDash val="solid"/>
          </a:ln>
        </p:spPr>
      </p:sp>
      <p:sp>
        <p:nvSpPr>
          <p:cNvPr id="9" name="S01-mark6"/>
          <p:cNvSpPr/>
          <p:nvPr/>
        </p:nvSpPr>
        <p:spPr>
          <a:xfrm>
            <a:off x="8286293" y="3066898"/>
            <a:ext cx="2721254" cy="0"/>
          </a:xfrm>
          <a:prstGeom prst="line">
            <a:avLst/>
          </a:prstGeom>
          <a:noFill/>
          <a:ln w="25400">
            <a:solidFill>
              <a:srgbClr val="B8C2CC"/>
            </a:solidFill>
            <a:prstDash val="solid"/>
          </a:ln>
        </p:spPr>
      </p:sp>
      <p:sp>
        <p:nvSpPr>
          <p:cNvPr id="10" name="S01-card7"/>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11" name="S01-cardtext8"/>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Where is the ~?로 물건이 어디 있는지 물어요.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It's on/in/under the ~.로 위치를 말해요.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가족 소개 떠올리기</a:t>
            </a:r>
            <a:endParaRPr lang="ko-KR" sz="4000" dirty="0"/>
          </a:p>
        </p:txBody>
      </p:sp>
      <p:sp>
        <p:nvSpPr>
          <p:cNvPr id="3" name="S02-text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영어로 말해 보세요.</a:t>
            </a:r>
            <a:endParaRPr lang="ko-KR" sz="3000" dirty="0"/>
          </a:p>
        </p:txBody>
      </p:sp>
      <p:sp>
        <p:nvSpPr>
          <p:cNvPr id="4" name="S02-chip10"/>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2-text11"/>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가족사진의 엄마(아빠)를 소개해요.</a:t>
            </a:r>
            <a:endParaRPr lang="ko-KR" sz="3000" dirty="0"/>
          </a:p>
        </p:txBody>
      </p:sp>
      <p:sp>
        <p:nvSpPr>
          <p:cNvPr id="6" name="S02-chip12"/>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02-text13"/>
          <p:cNvSpPr txBox="1"/>
          <p:nvPr/>
        </p:nvSpPr>
        <p:spPr>
          <a:xfrm>
            <a:off x="1344168" y="4206240"/>
            <a:ext cx="10296144" cy="14630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This is my grandma.</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______ is kind.</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on, in, under</a:t>
            </a:r>
            <a:endParaRPr lang="ko-KR" sz="4000" dirty="0"/>
          </a:p>
        </p:txBody>
      </p:sp>
      <p:sp>
        <p:nvSpPr>
          <p:cNvPr id="3" name="S03-text1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공이 어디에 있나요?</a:t>
            </a:r>
            <a:endParaRPr lang="ko-KR" sz="3000" dirty="0"/>
          </a:p>
        </p:txBody>
      </p:sp>
      <p:sp>
        <p:nvSpPr>
          <p:cNvPr id="4" name="S03-card15"/>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3-cardtext1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on 위에　·　in 안에　·　under 아래에</a:t>
            </a:r>
            <a:endParaRPr lang="ko-KR" sz="3000" dirty="0"/>
          </a:p>
        </p:txBody>
      </p:sp>
      <p:sp>
        <p:nvSpPr>
          <p:cNvPr id="6" name="S03-figure17" descr="책상 위에 공이 있는 그림"/>
          <p:cNvSpPr/>
          <p:nvPr/>
        </p:nvSpPr>
        <p:spPr>
          <a:xfrm>
            <a:off x="1156716" y="2955341"/>
            <a:ext cx="2267712" cy="198425"/>
          </a:xfrm>
          <a:custGeom>
            <a:avLst/>
            <a:gdLst/>
            <a:ahLst/>
            <a:cxnLst/>
            <a:rect l="l" t="t" r="r" b="b"/>
            <a:pathLst>
              <a:path w="2267712" h="198425">
                <a:moveTo>
                  <a:pt x="0" y="198425"/>
                </a:moveTo>
                <a:lnTo>
                  <a:pt x="2267712" y="198425"/>
                </a:lnTo>
                <a:lnTo>
                  <a:pt x="2267712" y="0"/>
                </a:lnTo>
                <a:lnTo>
                  <a:pt x="0" y="0"/>
                </a:lnTo>
                <a:close/>
              </a:path>
            </a:pathLst>
          </a:custGeom>
          <a:solidFill>
            <a:srgbClr val="C9A27E"/>
          </a:solidFill>
          <a:ln w="28575">
            <a:solidFill>
              <a:srgbClr val="1F2937"/>
            </a:solidFill>
            <a:prstDash val="solid"/>
          </a:ln>
        </p:spPr>
      </p:sp>
      <p:sp>
        <p:nvSpPr>
          <p:cNvPr id="7" name="S03-mark18"/>
          <p:cNvSpPr/>
          <p:nvPr/>
        </p:nvSpPr>
        <p:spPr>
          <a:xfrm>
            <a:off x="1270102" y="3153766"/>
            <a:ext cx="141732" cy="1133856"/>
          </a:xfrm>
          <a:custGeom>
            <a:avLst/>
            <a:gdLst/>
            <a:ahLst/>
            <a:cxnLst/>
            <a:rect l="l" t="t" r="r" b="b"/>
            <a:pathLst>
              <a:path w="141732" h="1133856">
                <a:moveTo>
                  <a:pt x="0" y="1133856"/>
                </a:moveTo>
                <a:lnTo>
                  <a:pt x="141732" y="1133856"/>
                </a:lnTo>
                <a:lnTo>
                  <a:pt x="141732" y="0"/>
                </a:lnTo>
                <a:lnTo>
                  <a:pt x="0" y="0"/>
                </a:lnTo>
                <a:close/>
              </a:path>
            </a:pathLst>
          </a:custGeom>
          <a:solidFill>
            <a:srgbClr val="C9A27E"/>
          </a:solidFill>
          <a:ln w="28575">
            <a:solidFill>
              <a:srgbClr val="1F2937"/>
            </a:solidFill>
            <a:prstDash val="solid"/>
          </a:ln>
        </p:spPr>
      </p:sp>
      <p:sp>
        <p:nvSpPr>
          <p:cNvPr id="8" name="S03-mark19"/>
          <p:cNvSpPr/>
          <p:nvPr/>
        </p:nvSpPr>
        <p:spPr>
          <a:xfrm>
            <a:off x="3169310" y="3153766"/>
            <a:ext cx="141732" cy="1133856"/>
          </a:xfrm>
          <a:custGeom>
            <a:avLst/>
            <a:gdLst/>
            <a:ahLst/>
            <a:cxnLst/>
            <a:rect l="l" t="t" r="r" b="b"/>
            <a:pathLst>
              <a:path w="141732" h="1133856">
                <a:moveTo>
                  <a:pt x="0" y="1133856"/>
                </a:moveTo>
                <a:lnTo>
                  <a:pt x="141732" y="1133856"/>
                </a:lnTo>
                <a:lnTo>
                  <a:pt x="141732" y="0"/>
                </a:lnTo>
                <a:lnTo>
                  <a:pt x="0" y="0"/>
                </a:lnTo>
                <a:close/>
              </a:path>
            </a:pathLst>
          </a:custGeom>
          <a:solidFill>
            <a:srgbClr val="C9A27E"/>
          </a:solidFill>
          <a:ln w="28575">
            <a:solidFill>
              <a:srgbClr val="1F2937"/>
            </a:solidFill>
            <a:prstDash val="solid"/>
          </a:ln>
        </p:spPr>
      </p:sp>
      <p:sp>
        <p:nvSpPr>
          <p:cNvPr id="9" name="S03-mark20"/>
          <p:cNvSpPr/>
          <p:nvPr/>
        </p:nvSpPr>
        <p:spPr>
          <a:xfrm>
            <a:off x="2007108" y="2388413"/>
            <a:ext cx="566928" cy="566928"/>
          </a:xfrm>
          <a:prstGeom prst="ellipse">
            <a:avLst/>
          </a:prstGeom>
          <a:solidFill>
            <a:srgbClr val="E9762B"/>
          </a:solidFill>
          <a:ln w="28575">
            <a:solidFill>
              <a:srgbClr val="1F2937"/>
            </a:solidFill>
            <a:prstDash val="solid"/>
          </a:ln>
        </p:spPr>
      </p:sp>
      <p:sp>
        <p:nvSpPr>
          <p:cNvPr id="10" name="S03-mark21"/>
          <p:cNvSpPr/>
          <p:nvPr/>
        </p:nvSpPr>
        <p:spPr>
          <a:xfrm>
            <a:off x="929945" y="4287622"/>
            <a:ext cx="2721254" cy="0"/>
          </a:xfrm>
          <a:prstGeom prst="line">
            <a:avLst/>
          </a:prstGeom>
          <a:noFill/>
          <a:ln w="25400">
            <a:solidFill>
              <a:srgbClr val="B8C2CC"/>
            </a:solidFill>
            <a:prstDash val="solid"/>
          </a:ln>
        </p:spPr>
      </p:sp>
      <p:sp>
        <p:nvSpPr>
          <p:cNvPr id="11" name="S03-label22"/>
          <p:cNvSpPr txBox="1"/>
          <p:nvPr/>
        </p:nvSpPr>
        <p:spPr>
          <a:xfrm>
            <a:off x="548640" y="4709160"/>
            <a:ext cx="3483864" cy="41148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on</a:t>
            </a:r>
            <a:endParaRPr lang="ko-KR" sz="2400" dirty="0"/>
          </a:p>
        </p:txBody>
      </p:sp>
      <p:sp>
        <p:nvSpPr>
          <p:cNvPr id="12" name="S03-figure23" descr="상자 안에 공이 있는 그림"/>
          <p:cNvSpPr/>
          <p:nvPr/>
        </p:nvSpPr>
        <p:spPr>
          <a:xfrm>
            <a:off x="5244084" y="3040380"/>
            <a:ext cx="1700784" cy="1247242"/>
          </a:xfrm>
          <a:custGeom>
            <a:avLst/>
            <a:gdLst/>
            <a:ahLst/>
            <a:cxnLst/>
            <a:rect l="l" t="t" r="r" b="b"/>
            <a:pathLst>
              <a:path w="1700784" h="1247242">
                <a:moveTo>
                  <a:pt x="0" y="1247242"/>
                </a:moveTo>
                <a:lnTo>
                  <a:pt x="1700784" y="1247242"/>
                </a:lnTo>
                <a:lnTo>
                  <a:pt x="1700784" y="0"/>
                </a:lnTo>
                <a:lnTo>
                  <a:pt x="0" y="0"/>
                </a:lnTo>
                <a:close/>
              </a:path>
            </a:pathLst>
          </a:custGeom>
          <a:solidFill>
            <a:srgbClr val="E8C9A0"/>
          </a:solidFill>
          <a:ln w="28575">
            <a:solidFill>
              <a:srgbClr val="1F2937"/>
            </a:solidFill>
            <a:prstDash val="solid"/>
          </a:ln>
        </p:spPr>
      </p:sp>
      <p:sp>
        <p:nvSpPr>
          <p:cNvPr id="13" name="S03-mark24"/>
          <p:cNvSpPr/>
          <p:nvPr/>
        </p:nvSpPr>
        <p:spPr>
          <a:xfrm>
            <a:off x="5811012" y="3578962"/>
            <a:ext cx="566928" cy="566928"/>
          </a:xfrm>
          <a:prstGeom prst="ellipse">
            <a:avLst/>
          </a:prstGeom>
          <a:solidFill>
            <a:srgbClr val="E9762B"/>
          </a:solidFill>
          <a:ln w="28575">
            <a:solidFill>
              <a:srgbClr val="1F2937"/>
            </a:solidFill>
            <a:prstDash val="solid"/>
          </a:ln>
        </p:spPr>
      </p:sp>
      <p:sp>
        <p:nvSpPr>
          <p:cNvPr id="14" name="S03-mark25"/>
          <p:cNvSpPr/>
          <p:nvPr/>
        </p:nvSpPr>
        <p:spPr>
          <a:xfrm>
            <a:off x="5017313" y="4287622"/>
            <a:ext cx="2154326" cy="0"/>
          </a:xfrm>
          <a:prstGeom prst="line">
            <a:avLst/>
          </a:prstGeom>
          <a:noFill/>
          <a:ln w="25400">
            <a:solidFill>
              <a:srgbClr val="B8C2CC"/>
            </a:solidFill>
            <a:prstDash val="solid"/>
          </a:ln>
        </p:spPr>
      </p:sp>
      <p:sp>
        <p:nvSpPr>
          <p:cNvPr id="15" name="S03-mark26"/>
          <p:cNvSpPr/>
          <p:nvPr/>
        </p:nvSpPr>
        <p:spPr>
          <a:xfrm flipH="1" flipV="1">
            <a:off x="4903927" y="2643530"/>
            <a:ext cx="340157" cy="396850"/>
          </a:xfrm>
          <a:prstGeom prst="line">
            <a:avLst/>
          </a:prstGeom>
          <a:noFill/>
          <a:ln w="28575">
            <a:solidFill>
              <a:srgbClr val="1F2937"/>
            </a:solidFill>
            <a:prstDash val="solid"/>
          </a:ln>
        </p:spPr>
      </p:sp>
      <p:sp>
        <p:nvSpPr>
          <p:cNvPr id="16" name="S03-mark27"/>
          <p:cNvSpPr/>
          <p:nvPr/>
        </p:nvSpPr>
        <p:spPr>
          <a:xfrm flipV="1">
            <a:off x="6944868" y="2643530"/>
            <a:ext cx="340157" cy="396850"/>
          </a:xfrm>
          <a:prstGeom prst="line">
            <a:avLst/>
          </a:prstGeom>
          <a:noFill/>
          <a:ln w="28575">
            <a:solidFill>
              <a:srgbClr val="1F2937"/>
            </a:solidFill>
            <a:prstDash val="solid"/>
          </a:ln>
        </p:spPr>
      </p:sp>
      <p:sp>
        <p:nvSpPr>
          <p:cNvPr id="17" name="S03-label28"/>
          <p:cNvSpPr txBox="1"/>
          <p:nvPr/>
        </p:nvSpPr>
        <p:spPr>
          <a:xfrm>
            <a:off x="4352544" y="4709160"/>
            <a:ext cx="3483864" cy="41148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in</a:t>
            </a:r>
            <a:endParaRPr lang="ko-KR" sz="2400" dirty="0"/>
          </a:p>
        </p:txBody>
      </p:sp>
      <p:sp>
        <p:nvSpPr>
          <p:cNvPr id="18" name="S03-figure29" descr="책상 아래에 공이 있는 그림"/>
          <p:cNvSpPr/>
          <p:nvPr/>
        </p:nvSpPr>
        <p:spPr>
          <a:xfrm>
            <a:off x="8764524" y="2955341"/>
            <a:ext cx="2267712" cy="198425"/>
          </a:xfrm>
          <a:custGeom>
            <a:avLst/>
            <a:gdLst/>
            <a:ahLst/>
            <a:cxnLst/>
            <a:rect l="l" t="t" r="r" b="b"/>
            <a:pathLst>
              <a:path w="2267712" h="198425">
                <a:moveTo>
                  <a:pt x="0" y="198425"/>
                </a:moveTo>
                <a:lnTo>
                  <a:pt x="2267712" y="198425"/>
                </a:lnTo>
                <a:lnTo>
                  <a:pt x="2267712" y="0"/>
                </a:lnTo>
                <a:lnTo>
                  <a:pt x="0" y="0"/>
                </a:lnTo>
                <a:close/>
              </a:path>
            </a:pathLst>
          </a:custGeom>
          <a:solidFill>
            <a:srgbClr val="C9A27E"/>
          </a:solidFill>
          <a:ln w="28575">
            <a:solidFill>
              <a:srgbClr val="1F2937"/>
            </a:solidFill>
            <a:prstDash val="solid"/>
          </a:ln>
        </p:spPr>
      </p:sp>
      <p:sp>
        <p:nvSpPr>
          <p:cNvPr id="19" name="S03-mark30"/>
          <p:cNvSpPr/>
          <p:nvPr/>
        </p:nvSpPr>
        <p:spPr>
          <a:xfrm>
            <a:off x="8877910" y="3153766"/>
            <a:ext cx="141732" cy="1133856"/>
          </a:xfrm>
          <a:custGeom>
            <a:avLst/>
            <a:gdLst/>
            <a:ahLst/>
            <a:cxnLst/>
            <a:rect l="l" t="t" r="r" b="b"/>
            <a:pathLst>
              <a:path w="141732" h="1133856">
                <a:moveTo>
                  <a:pt x="0" y="1133856"/>
                </a:moveTo>
                <a:lnTo>
                  <a:pt x="141732" y="1133856"/>
                </a:lnTo>
                <a:lnTo>
                  <a:pt x="141732" y="0"/>
                </a:lnTo>
                <a:lnTo>
                  <a:pt x="0" y="0"/>
                </a:lnTo>
                <a:close/>
              </a:path>
            </a:pathLst>
          </a:custGeom>
          <a:solidFill>
            <a:srgbClr val="C9A27E"/>
          </a:solidFill>
          <a:ln w="28575">
            <a:solidFill>
              <a:srgbClr val="1F2937"/>
            </a:solidFill>
            <a:prstDash val="solid"/>
          </a:ln>
        </p:spPr>
      </p:sp>
      <p:sp>
        <p:nvSpPr>
          <p:cNvPr id="20" name="S03-mark31"/>
          <p:cNvSpPr/>
          <p:nvPr/>
        </p:nvSpPr>
        <p:spPr>
          <a:xfrm>
            <a:off x="10777118" y="3153766"/>
            <a:ext cx="141732" cy="1133856"/>
          </a:xfrm>
          <a:custGeom>
            <a:avLst/>
            <a:gdLst/>
            <a:ahLst/>
            <a:cxnLst/>
            <a:rect l="l" t="t" r="r" b="b"/>
            <a:pathLst>
              <a:path w="141732" h="1133856">
                <a:moveTo>
                  <a:pt x="0" y="1133856"/>
                </a:moveTo>
                <a:lnTo>
                  <a:pt x="141732" y="1133856"/>
                </a:lnTo>
                <a:lnTo>
                  <a:pt x="141732" y="0"/>
                </a:lnTo>
                <a:lnTo>
                  <a:pt x="0" y="0"/>
                </a:lnTo>
                <a:close/>
              </a:path>
            </a:pathLst>
          </a:custGeom>
          <a:solidFill>
            <a:srgbClr val="C9A27E"/>
          </a:solidFill>
          <a:ln w="28575">
            <a:solidFill>
              <a:srgbClr val="1F2937"/>
            </a:solidFill>
            <a:prstDash val="solid"/>
          </a:ln>
        </p:spPr>
      </p:sp>
      <p:sp>
        <p:nvSpPr>
          <p:cNvPr id="21" name="S03-mark32"/>
          <p:cNvSpPr/>
          <p:nvPr/>
        </p:nvSpPr>
        <p:spPr>
          <a:xfrm>
            <a:off x="9614916" y="3720694"/>
            <a:ext cx="566928" cy="566928"/>
          </a:xfrm>
          <a:prstGeom prst="ellipse">
            <a:avLst/>
          </a:prstGeom>
          <a:solidFill>
            <a:srgbClr val="E9762B"/>
          </a:solidFill>
          <a:ln w="28575">
            <a:solidFill>
              <a:srgbClr val="1F2937"/>
            </a:solidFill>
            <a:prstDash val="solid"/>
          </a:ln>
        </p:spPr>
      </p:sp>
      <p:sp>
        <p:nvSpPr>
          <p:cNvPr id="22" name="S03-mark33"/>
          <p:cNvSpPr/>
          <p:nvPr/>
        </p:nvSpPr>
        <p:spPr>
          <a:xfrm>
            <a:off x="8537753" y="4287622"/>
            <a:ext cx="2721254" cy="0"/>
          </a:xfrm>
          <a:prstGeom prst="line">
            <a:avLst/>
          </a:prstGeom>
          <a:noFill/>
          <a:ln w="25400">
            <a:solidFill>
              <a:srgbClr val="B8C2CC"/>
            </a:solidFill>
            <a:prstDash val="solid"/>
          </a:ln>
        </p:spPr>
      </p:sp>
      <p:sp>
        <p:nvSpPr>
          <p:cNvPr id="23" name="S03-label34"/>
          <p:cNvSpPr txBox="1"/>
          <p:nvPr/>
        </p:nvSpPr>
        <p:spPr>
          <a:xfrm>
            <a:off x="8156448" y="4709160"/>
            <a:ext cx="3483864" cy="41148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under</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It's ~ the ~.</a:t>
            </a:r>
            <a:endParaRPr lang="ko-KR" sz="4000" dirty="0"/>
          </a:p>
        </p:txBody>
      </p:sp>
      <p:sp>
        <p:nvSpPr>
          <p:cNvPr id="3" name="S04-card35"/>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3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It's는 It is를 줄인 말이에요. ‘그것은’이라는 뜻이에요.</a:t>
            </a:r>
            <a:endParaRPr lang="ko-KR" sz="3000" dirty="0"/>
          </a:p>
        </p:txBody>
      </p:sp>
      <p:sp>
        <p:nvSpPr>
          <p:cNvPr id="5" name="S04-word37"/>
          <p:cNvSpPr txBox="1"/>
          <p:nvPr/>
        </p:nvSpPr>
        <p:spPr>
          <a:xfrm>
            <a:off x="548640" y="1325880"/>
            <a:ext cx="11091672" cy="1082040"/>
          </a:xfrm>
          <a:prstGeom prst="roundRect">
            <a:avLst>
              <a:gd name="adj" fmla="val 11831"/>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It's on the desk.</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책상 위에 있어요.</a:t>
            </a:r>
            <a:endParaRPr lang="ko-KR" sz="3400" dirty="0"/>
          </a:p>
        </p:txBody>
      </p:sp>
      <p:sp>
        <p:nvSpPr>
          <p:cNvPr id="6" name="S04-word38"/>
          <p:cNvSpPr txBox="1"/>
          <p:nvPr/>
        </p:nvSpPr>
        <p:spPr>
          <a:xfrm>
            <a:off x="548640" y="2682240"/>
            <a:ext cx="11091672" cy="1082040"/>
          </a:xfrm>
          <a:prstGeom prst="roundRect">
            <a:avLst>
              <a:gd name="adj" fmla="val 11831"/>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It's in the box.</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상자 안에 있어요.</a:t>
            </a:r>
            <a:endParaRPr lang="ko-KR" sz="3400" dirty="0"/>
          </a:p>
        </p:txBody>
      </p:sp>
      <p:sp>
        <p:nvSpPr>
          <p:cNvPr id="7" name="S04-word39"/>
          <p:cNvSpPr txBox="1"/>
          <p:nvPr/>
        </p:nvSpPr>
        <p:spPr>
          <a:xfrm>
            <a:off x="548640" y="4038600"/>
            <a:ext cx="11091672" cy="1082040"/>
          </a:xfrm>
          <a:prstGeom prst="roundRect">
            <a:avLst>
              <a:gd name="adj" fmla="val 11831"/>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It's under the chair.</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의자 아래에 있어요.</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Where is the ball?</a:t>
            </a:r>
            <a:endParaRPr lang="ko-KR" sz="4000" dirty="0"/>
          </a:p>
        </p:txBody>
      </p:sp>
      <p:sp>
        <p:nvSpPr>
          <p:cNvPr id="3" name="S05-text4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엄마(아빠)와 역할을 나누어 말해요.</a:t>
            </a:r>
            <a:endParaRPr lang="ko-KR" sz="3000" dirty="0"/>
          </a:p>
        </p:txBody>
      </p:sp>
      <p:sp>
        <p:nvSpPr>
          <p:cNvPr id="4" name="S05-card4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5-cardtext4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Where는 ‘어디’라는 뜻이에요. 장소로 대답해요.</a:t>
            </a:r>
            <a:endParaRPr lang="ko-KR" sz="3000" dirty="0"/>
          </a:p>
        </p:txBody>
      </p:sp>
      <p:sp>
        <p:nvSpPr>
          <p:cNvPr id="6" name="S05-figure43" descr="책상 아래에 공이 있는 그림"/>
          <p:cNvSpPr/>
          <p:nvPr/>
        </p:nvSpPr>
        <p:spPr>
          <a:xfrm>
            <a:off x="8468533" y="3197657"/>
            <a:ext cx="2267712" cy="198425"/>
          </a:xfrm>
          <a:custGeom>
            <a:avLst/>
            <a:gdLst/>
            <a:ahLst/>
            <a:cxnLst/>
            <a:rect l="l" t="t" r="r" b="b"/>
            <a:pathLst>
              <a:path w="2267712" h="198425">
                <a:moveTo>
                  <a:pt x="0" y="198425"/>
                </a:moveTo>
                <a:lnTo>
                  <a:pt x="2267712" y="198425"/>
                </a:lnTo>
                <a:lnTo>
                  <a:pt x="2267712" y="0"/>
                </a:lnTo>
                <a:lnTo>
                  <a:pt x="0" y="0"/>
                </a:lnTo>
                <a:close/>
              </a:path>
            </a:pathLst>
          </a:custGeom>
          <a:solidFill>
            <a:srgbClr val="C9A27E"/>
          </a:solidFill>
          <a:ln w="28575">
            <a:solidFill>
              <a:srgbClr val="1F2937"/>
            </a:solidFill>
            <a:prstDash val="solid"/>
          </a:ln>
        </p:spPr>
      </p:sp>
      <p:sp>
        <p:nvSpPr>
          <p:cNvPr id="7" name="S05-mark44"/>
          <p:cNvSpPr/>
          <p:nvPr/>
        </p:nvSpPr>
        <p:spPr>
          <a:xfrm>
            <a:off x="8581918" y="3396082"/>
            <a:ext cx="141732" cy="1133856"/>
          </a:xfrm>
          <a:custGeom>
            <a:avLst/>
            <a:gdLst/>
            <a:ahLst/>
            <a:cxnLst/>
            <a:rect l="l" t="t" r="r" b="b"/>
            <a:pathLst>
              <a:path w="141732" h="1133856">
                <a:moveTo>
                  <a:pt x="0" y="1133856"/>
                </a:moveTo>
                <a:lnTo>
                  <a:pt x="141732" y="1133856"/>
                </a:lnTo>
                <a:lnTo>
                  <a:pt x="141732" y="0"/>
                </a:lnTo>
                <a:lnTo>
                  <a:pt x="0" y="0"/>
                </a:lnTo>
                <a:close/>
              </a:path>
            </a:pathLst>
          </a:custGeom>
          <a:solidFill>
            <a:srgbClr val="C9A27E"/>
          </a:solidFill>
          <a:ln w="28575">
            <a:solidFill>
              <a:srgbClr val="1F2937"/>
            </a:solidFill>
            <a:prstDash val="solid"/>
          </a:ln>
        </p:spPr>
      </p:sp>
      <p:sp>
        <p:nvSpPr>
          <p:cNvPr id="8" name="S05-mark45"/>
          <p:cNvSpPr/>
          <p:nvPr/>
        </p:nvSpPr>
        <p:spPr>
          <a:xfrm>
            <a:off x="10481127" y="3396082"/>
            <a:ext cx="141732" cy="1133856"/>
          </a:xfrm>
          <a:custGeom>
            <a:avLst/>
            <a:gdLst/>
            <a:ahLst/>
            <a:cxnLst/>
            <a:rect l="l" t="t" r="r" b="b"/>
            <a:pathLst>
              <a:path w="141732" h="1133856">
                <a:moveTo>
                  <a:pt x="0" y="1133856"/>
                </a:moveTo>
                <a:lnTo>
                  <a:pt x="141732" y="1133856"/>
                </a:lnTo>
                <a:lnTo>
                  <a:pt x="141732" y="0"/>
                </a:lnTo>
                <a:lnTo>
                  <a:pt x="0" y="0"/>
                </a:lnTo>
                <a:close/>
              </a:path>
            </a:pathLst>
          </a:custGeom>
          <a:solidFill>
            <a:srgbClr val="C9A27E"/>
          </a:solidFill>
          <a:ln w="28575">
            <a:solidFill>
              <a:srgbClr val="1F2937"/>
            </a:solidFill>
            <a:prstDash val="solid"/>
          </a:ln>
        </p:spPr>
      </p:sp>
      <p:sp>
        <p:nvSpPr>
          <p:cNvPr id="9" name="S05-mark46"/>
          <p:cNvSpPr/>
          <p:nvPr/>
        </p:nvSpPr>
        <p:spPr>
          <a:xfrm>
            <a:off x="9318925" y="3963010"/>
            <a:ext cx="566928" cy="566928"/>
          </a:xfrm>
          <a:prstGeom prst="ellipse">
            <a:avLst/>
          </a:prstGeom>
          <a:solidFill>
            <a:srgbClr val="E9762B"/>
          </a:solidFill>
          <a:ln w="28575">
            <a:solidFill>
              <a:srgbClr val="1F2937"/>
            </a:solidFill>
            <a:prstDash val="solid"/>
          </a:ln>
        </p:spPr>
      </p:sp>
      <p:sp>
        <p:nvSpPr>
          <p:cNvPr id="10" name="S05-mark47"/>
          <p:cNvSpPr/>
          <p:nvPr/>
        </p:nvSpPr>
        <p:spPr>
          <a:xfrm>
            <a:off x="8241762" y="4529938"/>
            <a:ext cx="2721254" cy="0"/>
          </a:xfrm>
          <a:prstGeom prst="line">
            <a:avLst/>
          </a:prstGeom>
          <a:noFill/>
          <a:ln w="25400">
            <a:solidFill>
              <a:srgbClr val="B8C2CC"/>
            </a:solidFill>
            <a:prstDash val="solid"/>
          </a:ln>
        </p:spPr>
      </p:sp>
      <p:sp>
        <p:nvSpPr>
          <p:cNvPr id="11" name="S05-passagebox48"/>
          <p:cNvSpPr/>
          <p:nvPr/>
        </p:nvSpPr>
        <p:spPr>
          <a:xfrm>
            <a:off x="548640" y="2011680"/>
            <a:ext cx="6650065" cy="3108960"/>
          </a:xfrm>
          <a:prstGeom prst="roundRect">
            <a:avLst>
              <a:gd name="adj" fmla="val 2941"/>
            </a:avLst>
          </a:prstGeom>
          <a:solidFill>
            <a:srgbClr val="FFFFFF"/>
          </a:solidFill>
          <a:ln w="19050">
            <a:solidFill>
              <a:srgbClr val="264653"/>
            </a:solidFill>
            <a:prstDash val="solid"/>
          </a:ln>
        </p:spPr>
      </p:sp>
      <p:sp>
        <p:nvSpPr>
          <p:cNvPr id="12" name="S05-passage49"/>
          <p:cNvSpPr txBox="1"/>
          <p:nvPr/>
        </p:nvSpPr>
        <p:spPr>
          <a:xfrm>
            <a:off x="822960" y="2194560"/>
            <a:ext cx="6101425" cy="2743200"/>
          </a:xfrm>
          <a:prstGeom prst="rect">
            <a:avLst/>
          </a:prstGeom>
          <a:noFill/>
          <a:ln/>
        </p:spPr>
        <p:txBody>
          <a:bodyPr wrap="square" lIns="0" tIns="0" rIns="0" bIns="0" rtlCol="0" anchor="t"/>
          <a:lstStyle/>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A: Where is the ball?</a:t>
            </a:r>
            <a:endParaRPr lang="ko-KR" sz="3000" dirty="0"/>
          </a:p>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B: It's under the desk.</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어디에 있나요?</a:t>
            </a:r>
            <a:endParaRPr lang="ko-KR" sz="4000" dirty="0"/>
          </a:p>
        </p:txBody>
      </p:sp>
      <p:sp>
        <p:nvSpPr>
          <p:cNvPr id="3" name="S06-text5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공이 어디에 있는지 It's ~ the ~.로 말해요.</a:t>
            </a:r>
            <a:endParaRPr lang="ko-KR" sz="3000" dirty="0"/>
          </a:p>
        </p:txBody>
      </p:sp>
      <p:sp>
        <p:nvSpPr>
          <p:cNvPr id="4" name="S06-card5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6-cardtext5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box 상자　·　chair 의자　·　desk 책상</a:t>
            </a:r>
            <a:endParaRPr lang="ko-KR" sz="3000" dirty="0"/>
          </a:p>
        </p:txBody>
      </p:sp>
      <p:sp>
        <p:nvSpPr>
          <p:cNvPr id="6" name="S06-figure53" descr="상자 위에 공이 있는 그림"/>
          <p:cNvSpPr/>
          <p:nvPr/>
        </p:nvSpPr>
        <p:spPr>
          <a:xfrm>
            <a:off x="1440180" y="3040380"/>
            <a:ext cx="1700784" cy="1247242"/>
          </a:xfrm>
          <a:custGeom>
            <a:avLst/>
            <a:gdLst/>
            <a:ahLst/>
            <a:cxnLst/>
            <a:rect l="l" t="t" r="r" b="b"/>
            <a:pathLst>
              <a:path w="1700784" h="1247242">
                <a:moveTo>
                  <a:pt x="0" y="1247242"/>
                </a:moveTo>
                <a:lnTo>
                  <a:pt x="1700784" y="1247242"/>
                </a:lnTo>
                <a:lnTo>
                  <a:pt x="1700784" y="0"/>
                </a:lnTo>
                <a:lnTo>
                  <a:pt x="0" y="0"/>
                </a:lnTo>
                <a:close/>
              </a:path>
            </a:pathLst>
          </a:custGeom>
          <a:solidFill>
            <a:srgbClr val="E8C9A0"/>
          </a:solidFill>
          <a:ln w="28575">
            <a:solidFill>
              <a:srgbClr val="1F2937"/>
            </a:solidFill>
            <a:prstDash val="solid"/>
          </a:ln>
        </p:spPr>
      </p:sp>
      <p:sp>
        <p:nvSpPr>
          <p:cNvPr id="7" name="S06-mark54"/>
          <p:cNvSpPr/>
          <p:nvPr/>
        </p:nvSpPr>
        <p:spPr>
          <a:xfrm>
            <a:off x="2007108" y="2473452"/>
            <a:ext cx="566928" cy="566928"/>
          </a:xfrm>
          <a:prstGeom prst="ellipse">
            <a:avLst/>
          </a:prstGeom>
          <a:solidFill>
            <a:srgbClr val="E9762B"/>
          </a:solidFill>
          <a:ln w="28575">
            <a:solidFill>
              <a:srgbClr val="1F2937"/>
            </a:solidFill>
            <a:prstDash val="solid"/>
          </a:ln>
        </p:spPr>
      </p:sp>
      <p:sp>
        <p:nvSpPr>
          <p:cNvPr id="8" name="S06-mark55"/>
          <p:cNvSpPr/>
          <p:nvPr/>
        </p:nvSpPr>
        <p:spPr>
          <a:xfrm>
            <a:off x="1213409" y="4287622"/>
            <a:ext cx="2154326" cy="0"/>
          </a:xfrm>
          <a:prstGeom prst="line">
            <a:avLst/>
          </a:prstGeom>
          <a:noFill/>
          <a:ln w="25400">
            <a:solidFill>
              <a:srgbClr val="B8C2CC"/>
            </a:solidFill>
            <a:prstDash val="solid"/>
          </a:ln>
        </p:spPr>
      </p:sp>
      <p:sp>
        <p:nvSpPr>
          <p:cNvPr id="9" name="S06-mark56"/>
          <p:cNvSpPr/>
          <p:nvPr/>
        </p:nvSpPr>
        <p:spPr>
          <a:xfrm>
            <a:off x="1440180" y="3238805"/>
            <a:ext cx="1700784" cy="0"/>
          </a:xfrm>
          <a:prstGeom prst="line">
            <a:avLst/>
          </a:prstGeom>
          <a:noFill/>
          <a:ln w="19050">
            <a:solidFill>
              <a:srgbClr val="1F2937"/>
            </a:solidFill>
            <a:prstDash val="solid"/>
          </a:ln>
        </p:spPr>
      </p:sp>
      <p:sp>
        <p:nvSpPr>
          <p:cNvPr id="10" name="S06-label57"/>
          <p:cNvSpPr txBox="1"/>
          <p:nvPr/>
        </p:nvSpPr>
        <p:spPr>
          <a:xfrm>
            <a:off x="548640" y="4709160"/>
            <a:ext cx="3483864"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①</a:t>
            </a:r>
            <a:endParaRPr lang="ko-KR" sz="2400" dirty="0"/>
          </a:p>
        </p:txBody>
      </p:sp>
      <p:sp>
        <p:nvSpPr>
          <p:cNvPr id="11" name="S06-figure58" descr="의자 아래에 공이 있는 그림"/>
          <p:cNvSpPr/>
          <p:nvPr/>
        </p:nvSpPr>
        <p:spPr>
          <a:xfrm>
            <a:off x="5470855" y="3295498"/>
            <a:ext cx="1247242" cy="141732"/>
          </a:xfrm>
          <a:custGeom>
            <a:avLst/>
            <a:gdLst/>
            <a:ahLst/>
            <a:cxnLst/>
            <a:rect l="l" t="t" r="r" b="b"/>
            <a:pathLst>
              <a:path w="1247242" h="141732">
                <a:moveTo>
                  <a:pt x="0" y="141732"/>
                </a:moveTo>
                <a:lnTo>
                  <a:pt x="1247242" y="141732"/>
                </a:lnTo>
                <a:lnTo>
                  <a:pt x="1247242" y="0"/>
                </a:lnTo>
                <a:lnTo>
                  <a:pt x="0" y="0"/>
                </a:lnTo>
                <a:close/>
              </a:path>
            </a:pathLst>
          </a:custGeom>
          <a:solidFill>
            <a:srgbClr val="C9A27E"/>
          </a:solidFill>
          <a:ln w="28575">
            <a:solidFill>
              <a:srgbClr val="1F2937"/>
            </a:solidFill>
            <a:prstDash val="solid"/>
          </a:ln>
        </p:spPr>
      </p:sp>
      <p:sp>
        <p:nvSpPr>
          <p:cNvPr id="12" name="S06-mark59"/>
          <p:cNvSpPr/>
          <p:nvPr/>
        </p:nvSpPr>
        <p:spPr>
          <a:xfrm>
            <a:off x="5470855" y="2360066"/>
            <a:ext cx="141732" cy="935431"/>
          </a:xfrm>
          <a:custGeom>
            <a:avLst/>
            <a:gdLst/>
            <a:ahLst/>
            <a:cxnLst/>
            <a:rect l="l" t="t" r="r" b="b"/>
            <a:pathLst>
              <a:path w="141732" h="935431">
                <a:moveTo>
                  <a:pt x="0" y="935431"/>
                </a:moveTo>
                <a:lnTo>
                  <a:pt x="141732" y="935431"/>
                </a:lnTo>
                <a:lnTo>
                  <a:pt x="141732" y="0"/>
                </a:lnTo>
                <a:lnTo>
                  <a:pt x="0" y="0"/>
                </a:lnTo>
                <a:close/>
              </a:path>
            </a:pathLst>
          </a:custGeom>
          <a:solidFill>
            <a:srgbClr val="C9A27E"/>
          </a:solidFill>
          <a:ln w="28575">
            <a:solidFill>
              <a:srgbClr val="1F2937"/>
            </a:solidFill>
            <a:prstDash val="solid"/>
          </a:ln>
        </p:spPr>
      </p:sp>
      <p:sp>
        <p:nvSpPr>
          <p:cNvPr id="13" name="S06-mark60"/>
          <p:cNvSpPr/>
          <p:nvPr/>
        </p:nvSpPr>
        <p:spPr>
          <a:xfrm>
            <a:off x="5499202" y="3437230"/>
            <a:ext cx="113386" cy="850392"/>
          </a:xfrm>
          <a:custGeom>
            <a:avLst/>
            <a:gdLst/>
            <a:ahLst/>
            <a:cxnLst/>
            <a:rect l="l" t="t" r="r" b="b"/>
            <a:pathLst>
              <a:path w="113386" h="850392">
                <a:moveTo>
                  <a:pt x="0" y="850392"/>
                </a:moveTo>
                <a:lnTo>
                  <a:pt x="113386" y="850392"/>
                </a:lnTo>
                <a:lnTo>
                  <a:pt x="113386" y="0"/>
                </a:lnTo>
                <a:lnTo>
                  <a:pt x="0" y="0"/>
                </a:lnTo>
                <a:close/>
              </a:path>
            </a:pathLst>
          </a:custGeom>
          <a:solidFill>
            <a:srgbClr val="C9A27E"/>
          </a:solidFill>
          <a:ln w="28575">
            <a:solidFill>
              <a:srgbClr val="1F2937"/>
            </a:solidFill>
            <a:prstDash val="solid"/>
          </a:ln>
        </p:spPr>
      </p:sp>
      <p:sp>
        <p:nvSpPr>
          <p:cNvPr id="14" name="S06-mark61"/>
          <p:cNvSpPr/>
          <p:nvPr/>
        </p:nvSpPr>
        <p:spPr>
          <a:xfrm>
            <a:off x="6576365" y="3437230"/>
            <a:ext cx="113386" cy="850392"/>
          </a:xfrm>
          <a:custGeom>
            <a:avLst/>
            <a:gdLst/>
            <a:ahLst/>
            <a:cxnLst/>
            <a:rect l="l" t="t" r="r" b="b"/>
            <a:pathLst>
              <a:path w="113386" h="850392">
                <a:moveTo>
                  <a:pt x="0" y="850392"/>
                </a:moveTo>
                <a:lnTo>
                  <a:pt x="113386" y="850392"/>
                </a:lnTo>
                <a:lnTo>
                  <a:pt x="113386" y="0"/>
                </a:lnTo>
                <a:lnTo>
                  <a:pt x="0" y="0"/>
                </a:lnTo>
                <a:close/>
              </a:path>
            </a:pathLst>
          </a:custGeom>
          <a:solidFill>
            <a:srgbClr val="C9A27E"/>
          </a:solidFill>
          <a:ln w="28575">
            <a:solidFill>
              <a:srgbClr val="1F2937"/>
            </a:solidFill>
            <a:prstDash val="solid"/>
          </a:ln>
        </p:spPr>
      </p:sp>
      <p:sp>
        <p:nvSpPr>
          <p:cNvPr id="15" name="S06-mark62"/>
          <p:cNvSpPr/>
          <p:nvPr/>
        </p:nvSpPr>
        <p:spPr>
          <a:xfrm>
            <a:off x="5811012" y="3720694"/>
            <a:ext cx="566928" cy="566928"/>
          </a:xfrm>
          <a:prstGeom prst="ellipse">
            <a:avLst/>
          </a:prstGeom>
          <a:solidFill>
            <a:srgbClr val="E9762B"/>
          </a:solidFill>
          <a:ln w="28575">
            <a:solidFill>
              <a:srgbClr val="1F2937"/>
            </a:solidFill>
            <a:prstDash val="solid"/>
          </a:ln>
        </p:spPr>
      </p:sp>
      <p:sp>
        <p:nvSpPr>
          <p:cNvPr id="16" name="S06-mark63"/>
          <p:cNvSpPr/>
          <p:nvPr/>
        </p:nvSpPr>
        <p:spPr>
          <a:xfrm>
            <a:off x="5244084" y="4287622"/>
            <a:ext cx="1700784" cy="0"/>
          </a:xfrm>
          <a:prstGeom prst="line">
            <a:avLst/>
          </a:prstGeom>
          <a:noFill/>
          <a:ln w="25400">
            <a:solidFill>
              <a:srgbClr val="B8C2CC"/>
            </a:solidFill>
            <a:prstDash val="solid"/>
          </a:ln>
        </p:spPr>
      </p:sp>
      <p:sp>
        <p:nvSpPr>
          <p:cNvPr id="17" name="S06-label64"/>
          <p:cNvSpPr txBox="1"/>
          <p:nvPr/>
        </p:nvSpPr>
        <p:spPr>
          <a:xfrm>
            <a:off x="4352544" y="4709160"/>
            <a:ext cx="3483864"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②</a:t>
            </a:r>
            <a:endParaRPr lang="ko-KR" sz="2400" dirty="0"/>
          </a:p>
        </p:txBody>
      </p:sp>
      <p:sp>
        <p:nvSpPr>
          <p:cNvPr id="18" name="S06-figure65" descr="의자 위에 공이 있는 그림"/>
          <p:cNvSpPr/>
          <p:nvPr/>
        </p:nvSpPr>
        <p:spPr>
          <a:xfrm>
            <a:off x="9274759" y="3295498"/>
            <a:ext cx="1247242" cy="141732"/>
          </a:xfrm>
          <a:custGeom>
            <a:avLst/>
            <a:gdLst/>
            <a:ahLst/>
            <a:cxnLst/>
            <a:rect l="l" t="t" r="r" b="b"/>
            <a:pathLst>
              <a:path w="1247242" h="141732">
                <a:moveTo>
                  <a:pt x="0" y="141732"/>
                </a:moveTo>
                <a:lnTo>
                  <a:pt x="1247242" y="141732"/>
                </a:lnTo>
                <a:lnTo>
                  <a:pt x="1247242" y="0"/>
                </a:lnTo>
                <a:lnTo>
                  <a:pt x="0" y="0"/>
                </a:lnTo>
                <a:close/>
              </a:path>
            </a:pathLst>
          </a:custGeom>
          <a:solidFill>
            <a:srgbClr val="C9A27E"/>
          </a:solidFill>
          <a:ln w="28575">
            <a:solidFill>
              <a:srgbClr val="1F2937"/>
            </a:solidFill>
            <a:prstDash val="solid"/>
          </a:ln>
        </p:spPr>
      </p:sp>
      <p:sp>
        <p:nvSpPr>
          <p:cNvPr id="19" name="S06-mark66"/>
          <p:cNvSpPr/>
          <p:nvPr/>
        </p:nvSpPr>
        <p:spPr>
          <a:xfrm>
            <a:off x="9274759" y="2360066"/>
            <a:ext cx="141732" cy="935431"/>
          </a:xfrm>
          <a:custGeom>
            <a:avLst/>
            <a:gdLst/>
            <a:ahLst/>
            <a:cxnLst/>
            <a:rect l="l" t="t" r="r" b="b"/>
            <a:pathLst>
              <a:path w="141732" h="935431">
                <a:moveTo>
                  <a:pt x="0" y="935431"/>
                </a:moveTo>
                <a:lnTo>
                  <a:pt x="141732" y="935431"/>
                </a:lnTo>
                <a:lnTo>
                  <a:pt x="141732" y="0"/>
                </a:lnTo>
                <a:lnTo>
                  <a:pt x="0" y="0"/>
                </a:lnTo>
                <a:close/>
              </a:path>
            </a:pathLst>
          </a:custGeom>
          <a:solidFill>
            <a:srgbClr val="C9A27E"/>
          </a:solidFill>
          <a:ln w="28575">
            <a:solidFill>
              <a:srgbClr val="1F2937"/>
            </a:solidFill>
            <a:prstDash val="solid"/>
          </a:ln>
        </p:spPr>
      </p:sp>
      <p:sp>
        <p:nvSpPr>
          <p:cNvPr id="20" name="S06-mark67"/>
          <p:cNvSpPr/>
          <p:nvPr/>
        </p:nvSpPr>
        <p:spPr>
          <a:xfrm>
            <a:off x="9303106" y="3437230"/>
            <a:ext cx="113386" cy="850392"/>
          </a:xfrm>
          <a:custGeom>
            <a:avLst/>
            <a:gdLst/>
            <a:ahLst/>
            <a:cxnLst/>
            <a:rect l="l" t="t" r="r" b="b"/>
            <a:pathLst>
              <a:path w="113386" h="850392">
                <a:moveTo>
                  <a:pt x="0" y="850392"/>
                </a:moveTo>
                <a:lnTo>
                  <a:pt x="113386" y="850392"/>
                </a:lnTo>
                <a:lnTo>
                  <a:pt x="113386" y="0"/>
                </a:lnTo>
                <a:lnTo>
                  <a:pt x="0" y="0"/>
                </a:lnTo>
                <a:close/>
              </a:path>
            </a:pathLst>
          </a:custGeom>
          <a:solidFill>
            <a:srgbClr val="C9A27E"/>
          </a:solidFill>
          <a:ln w="28575">
            <a:solidFill>
              <a:srgbClr val="1F2937"/>
            </a:solidFill>
            <a:prstDash val="solid"/>
          </a:ln>
        </p:spPr>
      </p:sp>
      <p:sp>
        <p:nvSpPr>
          <p:cNvPr id="21" name="S06-mark68"/>
          <p:cNvSpPr/>
          <p:nvPr/>
        </p:nvSpPr>
        <p:spPr>
          <a:xfrm>
            <a:off x="10380269" y="3437230"/>
            <a:ext cx="113386" cy="850392"/>
          </a:xfrm>
          <a:custGeom>
            <a:avLst/>
            <a:gdLst/>
            <a:ahLst/>
            <a:cxnLst/>
            <a:rect l="l" t="t" r="r" b="b"/>
            <a:pathLst>
              <a:path w="113386" h="850392">
                <a:moveTo>
                  <a:pt x="0" y="850392"/>
                </a:moveTo>
                <a:lnTo>
                  <a:pt x="113386" y="850392"/>
                </a:lnTo>
                <a:lnTo>
                  <a:pt x="113386" y="0"/>
                </a:lnTo>
                <a:lnTo>
                  <a:pt x="0" y="0"/>
                </a:lnTo>
                <a:close/>
              </a:path>
            </a:pathLst>
          </a:custGeom>
          <a:solidFill>
            <a:srgbClr val="C9A27E"/>
          </a:solidFill>
          <a:ln w="28575">
            <a:solidFill>
              <a:srgbClr val="1F2937"/>
            </a:solidFill>
            <a:prstDash val="solid"/>
          </a:ln>
        </p:spPr>
      </p:sp>
      <p:sp>
        <p:nvSpPr>
          <p:cNvPr id="22" name="S06-mark69"/>
          <p:cNvSpPr/>
          <p:nvPr/>
        </p:nvSpPr>
        <p:spPr>
          <a:xfrm>
            <a:off x="9671609" y="2728570"/>
            <a:ext cx="566928" cy="566928"/>
          </a:xfrm>
          <a:prstGeom prst="ellipse">
            <a:avLst/>
          </a:prstGeom>
          <a:solidFill>
            <a:srgbClr val="E9762B"/>
          </a:solidFill>
          <a:ln w="28575">
            <a:solidFill>
              <a:srgbClr val="1F2937"/>
            </a:solidFill>
            <a:prstDash val="solid"/>
          </a:ln>
        </p:spPr>
      </p:sp>
      <p:sp>
        <p:nvSpPr>
          <p:cNvPr id="23" name="S06-mark70"/>
          <p:cNvSpPr/>
          <p:nvPr/>
        </p:nvSpPr>
        <p:spPr>
          <a:xfrm>
            <a:off x="9047988" y="4287622"/>
            <a:ext cx="1700784" cy="0"/>
          </a:xfrm>
          <a:prstGeom prst="line">
            <a:avLst/>
          </a:prstGeom>
          <a:noFill/>
          <a:ln w="25400">
            <a:solidFill>
              <a:srgbClr val="B8C2CC"/>
            </a:solidFill>
            <a:prstDash val="solid"/>
          </a:ln>
        </p:spPr>
      </p:sp>
      <p:sp>
        <p:nvSpPr>
          <p:cNvPr id="24" name="S06-label71"/>
          <p:cNvSpPr txBox="1"/>
          <p:nvPr/>
        </p:nvSpPr>
        <p:spPr>
          <a:xfrm>
            <a:off x="8156448" y="4709160"/>
            <a:ext cx="3483864"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③</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on일까요, under일까요?</a:t>
            </a:r>
            <a:endParaRPr lang="ko-KR" sz="4000" dirty="0"/>
          </a:p>
        </p:txBody>
      </p:sp>
      <p:sp>
        <p:nvSpPr>
          <p:cNvPr id="3" name="S07-card72"/>
          <p:cNvSpPr/>
          <p:nvPr/>
        </p:nvSpPr>
        <p:spPr>
          <a:xfrm>
            <a:off x="548640" y="1325880"/>
            <a:ext cx="11091672" cy="1258824"/>
          </a:xfrm>
          <a:prstGeom prst="roundRect">
            <a:avLst>
              <a:gd name="adj" fmla="val 8717"/>
            </a:avLst>
          </a:prstGeom>
          <a:solidFill>
            <a:srgbClr val="EAF3F1"/>
          </a:solidFill>
          <a:ln w="12700">
            <a:solidFill>
              <a:srgbClr val="EAF3F1"/>
            </a:solidFill>
            <a:prstDash val="solid"/>
          </a:ln>
        </p:spPr>
      </p:sp>
      <p:sp>
        <p:nvSpPr>
          <p:cNvPr id="4" name="S07-cardtext73"/>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공이 책상 아래에 있는데 친구가 It's on the desk.라고 말했어요.</a:t>
            </a:r>
            <a:endParaRPr lang="ko-KR" sz="3000" dirty="0"/>
          </a:p>
        </p:txBody>
      </p:sp>
      <p:sp>
        <p:nvSpPr>
          <p:cNvPr id="5" name="S07-card7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7-cardtext7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친구의 말과 맞는 그림은? 어떻게 고쳐 말해야 할까요?</a:t>
            </a:r>
            <a:endParaRPr lang="ko-KR" sz="3000" dirty="0"/>
          </a:p>
        </p:txBody>
      </p:sp>
      <p:sp>
        <p:nvSpPr>
          <p:cNvPr id="7" name="S07-chip76"/>
          <p:cNvSpPr txBox="1"/>
          <p:nvPr/>
        </p:nvSpPr>
        <p:spPr>
          <a:xfrm>
            <a:off x="548640" y="2813304"/>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8" name="S07-figure77" descr="책상 위에 공이 있는 그림"/>
          <p:cNvSpPr/>
          <p:nvPr/>
        </p:nvSpPr>
        <p:spPr>
          <a:xfrm>
            <a:off x="2496994" y="4094467"/>
            <a:ext cx="1466248" cy="128297"/>
          </a:xfrm>
          <a:custGeom>
            <a:avLst/>
            <a:gdLst/>
            <a:ahLst/>
            <a:cxnLst/>
            <a:rect l="l" t="t" r="r" b="b"/>
            <a:pathLst>
              <a:path w="1466248" h="128297">
                <a:moveTo>
                  <a:pt x="0" y="128297"/>
                </a:moveTo>
                <a:lnTo>
                  <a:pt x="1466248" y="128297"/>
                </a:lnTo>
                <a:lnTo>
                  <a:pt x="1466248" y="0"/>
                </a:lnTo>
                <a:lnTo>
                  <a:pt x="0" y="0"/>
                </a:lnTo>
                <a:close/>
              </a:path>
            </a:pathLst>
          </a:custGeom>
          <a:solidFill>
            <a:srgbClr val="C9A27E"/>
          </a:solidFill>
          <a:ln w="28575">
            <a:solidFill>
              <a:srgbClr val="1F2937"/>
            </a:solidFill>
            <a:prstDash val="solid"/>
          </a:ln>
        </p:spPr>
      </p:sp>
      <p:sp>
        <p:nvSpPr>
          <p:cNvPr id="9" name="S07-mark78"/>
          <p:cNvSpPr/>
          <p:nvPr/>
        </p:nvSpPr>
        <p:spPr>
          <a:xfrm>
            <a:off x="2570306" y="4222763"/>
            <a:ext cx="91641" cy="733124"/>
          </a:xfrm>
          <a:custGeom>
            <a:avLst/>
            <a:gdLst/>
            <a:ahLst/>
            <a:cxnLst/>
            <a:rect l="l" t="t" r="r" b="b"/>
            <a:pathLst>
              <a:path w="91641" h="733124">
                <a:moveTo>
                  <a:pt x="0" y="733124"/>
                </a:moveTo>
                <a:lnTo>
                  <a:pt x="91641" y="733124"/>
                </a:lnTo>
                <a:lnTo>
                  <a:pt x="91641" y="0"/>
                </a:lnTo>
                <a:lnTo>
                  <a:pt x="0" y="0"/>
                </a:lnTo>
                <a:close/>
              </a:path>
            </a:pathLst>
          </a:custGeom>
          <a:solidFill>
            <a:srgbClr val="C9A27E"/>
          </a:solidFill>
          <a:ln w="28575">
            <a:solidFill>
              <a:srgbClr val="1F2937"/>
            </a:solidFill>
            <a:prstDash val="solid"/>
          </a:ln>
        </p:spPr>
      </p:sp>
      <p:sp>
        <p:nvSpPr>
          <p:cNvPr id="10" name="S07-mark79"/>
          <p:cNvSpPr/>
          <p:nvPr/>
        </p:nvSpPr>
        <p:spPr>
          <a:xfrm>
            <a:off x="3798289" y="4222763"/>
            <a:ext cx="91641" cy="733124"/>
          </a:xfrm>
          <a:custGeom>
            <a:avLst/>
            <a:gdLst/>
            <a:ahLst/>
            <a:cxnLst/>
            <a:rect l="l" t="t" r="r" b="b"/>
            <a:pathLst>
              <a:path w="91641" h="733124">
                <a:moveTo>
                  <a:pt x="0" y="733124"/>
                </a:moveTo>
                <a:lnTo>
                  <a:pt x="91641" y="733124"/>
                </a:lnTo>
                <a:lnTo>
                  <a:pt x="91641" y="0"/>
                </a:lnTo>
                <a:lnTo>
                  <a:pt x="0" y="0"/>
                </a:lnTo>
                <a:close/>
              </a:path>
            </a:pathLst>
          </a:custGeom>
          <a:solidFill>
            <a:srgbClr val="C9A27E"/>
          </a:solidFill>
          <a:ln w="28575">
            <a:solidFill>
              <a:srgbClr val="1F2937"/>
            </a:solidFill>
            <a:prstDash val="solid"/>
          </a:ln>
        </p:spPr>
      </p:sp>
      <p:sp>
        <p:nvSpPr>
          <p:cNvPr id="11" name="S07-mark80"/>
          <p:cNvSpPr/>
          <p:nvPr/>
        </p:nvSpPr>
        <p:spPr>
          <a:xfrm>
            <a:off x="3046837" y="3727905"/>
            <a:ext cx="366562" cy="366562"/>
          </a:xfrm>
          <a:prstGeom prst="ellipse">
            <a:avLst/>
          </a:prstGeom>
          <a:solidFill>
            <a:srgbClr val="E9762B"/>
          </a:solidFill>
          <a:ln w="28575">
            <a:solidFill>
              <a:srgbClr val="1F2937"/>
            </a:solidFill>
            <a:prstDash val="solid"/>
          </a:ln>
        </p:spPr>
      </p:sp>
      <p:sp>
        <p:nvSpPr>
          <p:cNvPr id="12" name="S07-mark81"/>
          <p:cNvSpPr/>
          <p:nvPr/>
        </p:nvSpPr>
        <p:spPr>
          <a:xfrm>
            <a:off x="2350369" y="4955888"/>
            <a:ext cx="1759498" cy="0"/>
          </a:xfrm>
          <a:prstGeom prst="line">
            <a:avLst/>
          </a:prstGeom>
          <a:noFill/>
          <a:ln w="25400">
            <a:solidFill>
              <a:srgbClr val="B8C2CC"/>
            </a:solidFill>
            <a:prstDash val="solid"/>
          </a:ln>
        </p:spPr>
      </p:sp>
      <p:sp>
        <p:nvSpPr>
          <p:cNvPr id="13" name="S07-chip82"/>
          <p:cNvSpPr txBox="1"/>
          <p:nvPr/>
        </p:nvSpPr>
        <p:spPr>
          <a:xfrm>
            <a:off x="6277356" y="2813304"/>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4" name="S07-figure83" descr="책상 아래에 공이 있는 그림"/>
          <p:cNvSpPr/>
          <p:nvPr/>
        </p:nvSpPr>
        <p:spPr>
          <a:xfrm>
            <a:off x="8225710" y="4094467"/>
            <a:ext cx="1466248" cy="128297"/>
          </a:xfrm>
          <a:custGeom>
            <a:avLst/>
            <a:gdLst/>
            <a:ahLst/>
            <a:cxnLst/>
            <a:rect l="l" t="t" r="r" b="b"/>
            <a:pathLst>
              <a:path w="1466248" h="128297">
                <a:moveTo>
                  <a:pt x="0" y="128297"/>
                </a:moveTo>
                <a:lnTo>
                  <a:pt x="1466248" y="128297"/>
                </a:lnTo>
                <a:lnTo>
                  <a:pt x="1466248" y="0"/>
                </a:lnTo>
                <a:lnTo>
                  <a:pt x="0" y="0"/>
                </a:lnTo>
                <a:close/>
              </a:path>
            </a:pathLst>
          </a:custGeom>
          <a:solidFill>
            <a:srgbClr val="C9A27E"/>
          </a:solidFill>
          <a:ln w="28575">
            <a:solidFill>
              <a:srgbClr val="1F2937"/>
            </a:solidFill>
            <a:prstDash val="solid"/>
          </a:ln>
        </p:spPr>
      </p:sp>
      <p:sp>
        <p:nvSpPr>
          <p:cNvPr id="15" name="S07-mark84"/>
          <p:cNvSpPr/>
          <p:nvPr/>
        </p:nvSpPr>
        <p:spPr>
          <a:xfrm>
            <a:off x="8299022" y="4222763"/>
            <a:ext cx="91641" cy="733124"/>
          </a:xfrm>
          <a:custGeom>
            <a:avLst/>
            <a:gdLst/>
            <a:ahLst/>
            <a:cxnLst/>
            <a:rect l="l" t="t" r="r" b="b"/>
            <a:pathLst>
              <a:path w="91641" h="733124">
                <a:moveTo>
                  <a:pt x="0" y="733124"/>
                </a:moveTo>
                <a:lnTo>
                  <a:pt x="91641" y="733124"/>
                </a:lnTo>
                <a:lnTo>
                  <a:pt x="91641" y="0"/>
                </a:lnTo>
                <a:lnTo>
                  <a:pt x="0" y="0"/>
                </a:lnTo>
                <a:close/>
              </a:path>
            </a:pathLst>
          </a:custGeom>
          <a:solidFill>
            <a:srgbClr val="C9A27E"/>
          </a:solidFill>
          <a:ln w="28575">
            <a:solidFill>
              <a:srgbClr val="1F2937"/>
            </a:solidFill>
            <a:prstDash val="solid"/>
          </a:ln>
        </p:spPr>
      </p:sp>
      <p:sp>
        <p:nvSpPr>
          <p:cNvPr id="16" name="S07-mark85"/>
          <p:cNvSpPr/>
          <p:nvPr/>
        </p:nvSpPr>
        <p:spPr>
          <a:xfrm>
            <a:off x="9527005" y="4222763"/>
            <a:ext cx="91641" cy="733124"/>
          </a:xfrm>
          <a:custGeom>
            <a:avLst/>
            <a:gdLst/>
            <a:ahLst/>
            <a:cxnLst/>
            <a:rect l="l" t="t" r="r" b="b"/>
            <a:pathLst>
              <a:path w="91641" h="733124">
                <a:moveTo>
                  <a:pt x="0" y="733124"/>
                </a:moveTo>
                <a:lnTo>
                  <a:pt x="91641" y="733124"/>
                </a:lnTo>
                <a:lnTo>
                  <a:pt x="91641" y="0"/>
                </a:lnTo>
                <a:lnTo>
                  <a:pt x="0" y="0"/>
                </a:lnTo>
                <a:close/>
              </a:path>
            </a:pathLst>
          </a:custGeom>
          <a:solidFill>
            <a:srgbClr val="C9A27E"/>
          </a:solidFill>
          <a:ln w="28575">
            <a:solidFill>
              <a:srgbClr val="1F2937"/>
            </a:solidFill>
            <a:prstDash val="solid"/>
          </a:ln>
        </p:spPr>
      </p:sp>
      <p:sp>
        <p:nvSpPr>
          <p:cNvPr id="17" name="S07-mark86"/>
          <p:cNvSpPr/>
          <p:nvPr/>
        </p:nvSpPr>
        <p:spPr>
          <a:xfrm>
            <a:off x="8775553" y="4589325"/>
            <a:ext cx="366562" cy="366562"/>
          </a:xfrm>
          <a:prstGeom prst="ellipse">
            <a:avLst/>
          </a:prstGeom>
          <a:solidFill>
            <a:srgbClr val="E9762B"/>
          </a:solidFill>
          <a:ln w="28575">
            <a:solidFill>
              <a:srgbClr val="1F2937"/>
            </a:solidFill>
            <a:prstDash val="solid"/>
          </a:ln>
        </p:spPr>
      </p:sp>
      <p:sp>
        <p:nvSpPr>
          <p:cNvPr id="18" name="S07-mark87"/>
          <p:cNvSpPr/>
          <p:nvPr/>
        </p:nvSpPr>
        <p:spPr>
          <a:xfrm>
            <a:off x="8079085" y="4955888"/>
            <a:ext cx="1759498" cy="0"/>
          </a:xfrm>
          <a:prstGeom prst="line">
            <a:avLst/>
          </a:prstGeom>
          <a:noFill/>
          <a:ln w="25400">
            <a:solidFill>
              <a:srgbClr val="B8C2CC"/>
            </a:solidFill>
            <a:prstDash val="solid"/>
          </a:ln>
        </p:spPr>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빈칸에 들어갈 말</a:t>
            </a:r>
            <a:endParaRPr lang="ko-KR" sz="4000" dirty="0"/>
          </a:p>
        </p:txBody>
      </p:sp>
      <p:sp>
        <p:nvSpPr>
          <p:cNvPr id="3" name="S08-text8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빈칸에 들어갈 말을 보기에서 골라 말해요.</a:t>
            </a:r>
            <a:endParaRPr lang="ko-KR" sz="3000" dirty="0"/>
          </a:p>
        </p:txBody>
      </p:sp>
      <p:sp>
        <p:nvSpPr>
          <p:cNvPr id="4" name="S08-card89"/>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8-cardtext9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보기:　Where　·　on　·　under</a:t>
            </a:r>
            <a:endParaRPr lang="ko-KR" sz="3000" dirty="0"/>
          </a:p>
        </p:txBody>
      </p:sp>
      <p:sp>
        <p:nvSpPr>
          <p:cNvPr id="6" name="S08-chip91"/>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8-text92"/>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A: ______ is the ball?</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B: It's in the box.</a:t>
            </a:r>
            <a:endParaRPr lang="ko-KR" sz="3000" dirty="0"/>
          </a:p>
        </p:txBody>
      </p:sp>
      <p:sp>
        <p:nvSpPr>
          <p:cNvPr id="8" name="S08-chip93"/>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8-text94"/>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A: Where is the cat?</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B: It's ______ the bed. (아래)</a:t>
            </a:r>
            <a:endParaRPr lang="ko-KR" sz="3000" dirty="0"/>
          </a:p>
        </p:txBody>
      </p:sp>
      <p:sp>
        <p:nvSpPr>
          <p:cNvPr id="10" name="S08-chip95"/>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8-text96"/>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A: Where is the bag?</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B: It's ______ the chair. (위)</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숨긴 공 찾기 놀이</a:t>
            </a:r>
            <a:endParaRPr lang="ko-KR" sz="4000" dirty="0"/>
          </a:p>
        </p:txBody>
      </p:sp>
      <p:sp>
        <p:nvSpPr>
          <p:cNvPr id="3" name="S09-card97"/>
          <p:cNvSpPr/>
          <p:nvPr/>
        </p:nvSpPr>
        <p:spPr>
          <a:xfrm>
            <a:off x="6813652" y="1325880"/>
            <a:ext cx="4826660" cy="4892040"/>
          </a:xfrm>
          <a:prstGeom prst="roundRect">
            <a:avLst>
              <a:gd name="adj" fmla="val 2273"/>
            </a:avLst>
          </a:prstGeom>
          <a:solidFill>
            <a:srgbClr val="EAF3F1"/>
          </a:solidFill>
          <a:ln w="12700">
            <a:solidFill>
              <a:srgbClr val="EAF3F1"/>
            </a:solidFill>
            <a:prstDash val="solid"/>
          </a:ln>
        </p:spPr>
      </p:sp>
      <p:sp>
        <p:nvSpPr>
          <p:cNvPr id="4" name="S09-cardtext98"/>
          <p:cNvSpPr txBox="1"/>
          <p:nvPr/>
        </p:nvSpPr>
        <p:spPr>
          <a:xfrm>
            <a:off x="7087972" y="1463040"/>
            <a:ext cx="4278020" cy="461772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이렇게 하면 잘한 거예요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Where is the ball?을 물었어요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대답을 듣고 공을 찾았어요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It's ~ the ~.로 대답했어요</a:t>
            </a:r>
            <a:endParaRPr lang="ko-KR" sz="3000" dirty="0"/>
          </a:p>
        </p:txBody>
      </p:sp>
      <p:sp>
        <p:nvSpPr>
          <p:cNvPr id="5" name="S09-stepno99"/>
          <p:cNvSpPr txBox="1"/>
          <p:nvPr/>
        </p:nvSpPr>
        <p:spPr>
          <a:xfrm>
            <a:off x="548640" y="223723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6" name="S09-text100"/>
          <p:cNvSpPr txBox="1"/>
          <p:nvPr/>
        </p:nvSpPr>
        <p:spPr>
          <a:xfrm>
            <a:off x="1325880" y="2237232"/>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엄마(아빠)가 공을 숨겨요.</a:t>
            </a:r>
            <a:endParaRPr lang="ko-KR" sz="3000" dirty="0"/>
          </a:p>
        </p:txBody>
      </p:sp>
      <p:sp>
        <p:nvSpPr>
          <p:cNvPr id="7" name="S09-stepno101"/>
          <p:cNvSpPr txBox="1"/>
          <p:nvPr/>
        </p:nvSpPr>
        <p:spPr>
          <a:xfrm>
            <a:off x="548640" y="299618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8" name="S09-text102"/>
          <p:cNvSpPr txBox="1"/>
          <p:nvPr/>
        </p:nvSpPr>
        <p:spPr>
          <a:xfrm>
            <a:off x="1325880" y="2950464"/>
            <a:ext cx="5122012"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Where is the ball?이라고 물어요.</a:t>
            </a:r>
            <a:endParaRPr lang="ko-KR" sz="3000" dirty="0"/>
          </a:p>
        </p:txBody>
      </p:sp>
      <p:sp>
        <p:nvSpPr>
          <p:cNvPr id="9" name="S09-stepno103"/>
          <p:cNvSpPr txBox="1"/>
          <p:nvPr/>
        </p:nvSpPr>
        <p:spPr>
          <a:xfrm>
            <a:off x="548640" y="404469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0" name="S09-text104"/>
          <p:cNvSpPr txBox="1"/>
          <p:nvPr/>
        </p:nvSpPr>
        <p:spPr>
          <a:xfrm>
            <a:off x="1325880" y="4044696"/>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대답을 듣고 공을 찾아요.</a:t>
            </a:r>
            <a:endParaRPr lang="ko-KR" sz="3000" dirty="0"/>
          </a:p>
        </p:txBody>
      </p:sp>
      <p:sp>
        <p:nvSpPr>
          <p:cNvPr id="11" name="S09-stepno105"/>
          <p:cNvSpPr txBox="1"/>
          <p:nvPr/>
        </p:nvSpPr>
        <p:spPr>
          <a:xfrm>
            <a:off x="548640" y="475792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2" name="S09-text106"/>
          <p:cNvSpPr txBox="1"/>
          <p:nvPr/>
        </p:nvSpPr>
        <p:spPr>
          <a:xfrm>
            <a:off x="1325880" y="4757928"/>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역할을 바꿔서 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0-text10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①②③은 공의 위치를 문장으로 말해요.</a:t>
            </a:r>
            <a:endParaRPr lang="ko-KR" sz="3000" dirty="0"/>
          </a:p>
        </p:txBody>
      </p:sp>
      <p:sp>
        <p:nvSpPr>
          <p:cNvPr id="4" name="S10-card10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10-cardtext10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④ 공이 어디 있는지 영어로 물어봐요.</a:t>
            </a:r>
            <a:endParaRPr lang="ko-KR" sz="3000" dirty="0"/>
          </a:p>
        </p:txBody>
      </p:sp>
      <p:sp>
        <p:nvSpPr>
          <p:cNvPr id="6" name="S10-figure110" descr="의자 위에 공이 있는 그림"/>
          <p:cNvSpPr/>
          <p:nvPr/>
        </p:nvSpPr>
        <p:spPr>
          <a:xfrm>
            <a:off x="1666951" y="3295498"/>
            <a:ext cx="1247242" cy="141732"/>
          </a:xfrm>
          <a:custGeom>
            <a:avLst/>
            <a:gdLst/>
            <a:ahLst/>
            <a:cxnLst/>
            <a:rect l="l" t="t" r="r" b="b"/>
            <a:pathLst>
              <a:path w="1247242" h="141732">
                <a:moveTo>
                  <a:pt x="0" y="141732"/>
                </a:moveTo>
                <a:lnTo>
                  <a:pt x="1247242" y="141732"/>
                </a:lnTo>
                <a:lnTo>
                  <a:pt x="1247242" y="0"/>
                </a:lnTo>
                <a:lnTo>
                  <a:pt x="0" y="0"/>
                </a:lnTo>
                <a:close/>
              </a:path>
            </a:pathLst>
          </a:custGeom>
          <a:solidFill>
            <a:srgbClr val="C9A27E"/>
          </a:solidFill>
          <a:ln w="28575">
            <a:solidFill>
              <a:srgbClr val="1F2937"/>
            </a:solidFill>
            <a:prstDash val="solid"/>
          </a:ln>
        </p:spPr>
      </p:sp>
      <p:sp>
        <p:nvSpPr>
          <p:cNvPr id="7" name="S10-mark111"/>
          <p:cNvSpPr/>
          <p:nvPr/>
        </p:nvSpPr>
        <p:spPr>
          <a:xfrm>
            <a:off x="1666951" y="2360066"/>
            <a:ext cx="141732" cy="935431"/>
          </a:xfrm>
          <a:custGeom>
            <a:avLst/>
            <a:gdLst/>
            <a:ahLst/>
            <a:cxnLst/>
            <a:rect l="l" t="t" r="r" b="b"/>
            <a:pathLst>
              <a:path w="141732" h="935431">
                <a:moveTo>
                  <a:pt x="0" y="935431"/>
                </a:moveTo>
                <a:lnTo>
                  <a:pt x="141732" y="935431"/>
                </a:lnTo>
                <a:lnTo>
                  <a:pt x="141732" y="0"/>
                </a:lnTo>
                <a:lnTo>
                  <a:pt x="0" y="0"/>
                </a:lnTo>
                <a:close/>
              </a:path>
            </a:pathLst>
          </a:custGeom>
          <a:solidFill>
            <a:srgbClr val="C9A27E"/>
          </a:solidFill>
          <a:ln w="28575">
            <a:solidFill>
              <a:srgbClr val="1F2937"/>
            </a:solidFill>
            <a:prstDash val="solid"/>
          </a:ln>
        </p:spPr>
      </p:sp>
      <p:sp>
        <p:nvSpPr>
          <p:cNvPr id="8" name="S10-mark112"/>
          <p:cNvSpPr/>
          <p:nvPr/>
        </p:nvSpPr>
        <p:spPr>
          <a:xfrm>
            <a:off x="1695298" y="3437230"/>
            <a:ext cx="113386" cy="850392"/>
          </a:xfrm>
          <a:custGeom>
            <a:avLst/>
            <a:gdLst/>
            <a:ahLst/>
            <a:cxnLst/>
            <a:rect l="l" t="t" r="r" b="b"/>
            <a:pathLst>
              <a:path w="113386" h="850392">
                <a:moveTo>
                  <a:pt x="0" y="850392"/>
                </a:moveTo>
                <a:lnTo>
                  <a:pt x="113386" y="850392"/>
                </a:lnTo>
                <a:lnTo>
                  <a:pt x="113386" y="0"/>
                </a:lnTo>
                <a:lnTo>
                  <a:pt x="0" y="0"/>
                </a:lnTo>
                <a:close/>
              </a:path>
            </a:pathLst>
          </a:custGeom>
          <a:solidFill>
            <a:srgbClr val="C9A27E"/>
          </a:solidFill>
          <a:ln w="28575">
            <a:solidFill>
              <a:srgbClr val="1F2937"/>
            </a:solidFill>
            <a:prstDash val="solid"/>
          </a:ln>
        </p:spPr>
      </p:sp>
      <p:sp>
        <p:nvSpPr>
          <p:cNvPr id="9" name="S10-mark113"/>
          <p:cNvSpPr/>
          <p:nvPr/>
        </p:nvSpPr>
        <p:spPr>
          <a:xfrm>
            <a:off x="2772461" y="3437230"/>
            <a:ext cx="113386" cy="850392"/>
          </a:xfrm>
          <a:custGeom>
            <a:avLst/>
            <a:gdLst/>
            <a:ahLst/>
            <a:cxnLst/>
            <a:rect l="l" t="t" r="r" b="b"/>
            <a:pathLst>
              <a:path w="113386" h="850392">
                <a:moveTo>
                  <a:pt x="0" y="850392"/>
                </a:moveTo>
                <a:lnTo>
                  <a:pt x="113386" y="850392"/>
                </a:lnTo>
                <a:lnTo>
                  <a:pt x="113386" y="0"/>
                </a:lnTo>
                <a:lnTo>
                  <a:pt x="0" y="0"/>
                </a:lnTo>
                <a:close/>
              </a:path>
            </a:pathLst>
          </a:custGeom>
          <a:solidFill>
            <a:srgbClr val="C9A27E"/>
          </a:solidFill>
          <a:ln w="28575">
            <a:solidFill>
              <a:srgbClr val="1F2937"/>
            </a:solidFill>
            <a:prstDash val="solid"/>
          </a:ln>
        </p:spPr>
      </p:sp>
      <p:sp>
        <p:nvSpPr>
          <p:cNvPr id="10" name="S10-mark114"/>
          <p:cNvSpPr/>
          <p:nvPr/>
        </p:nvSpPr>
        <p:spPr>
          <a:xfrm>
            <a:off x="2063801" y="2728570"/>
            <a:ext cx="566928" cy="566928"/>
          </a:xfrm>
          <a:prstGeom prst="ellipse">
            <a:avLst/>
          </a:prstGeom>
          <a:solidFill>
            <a:srgbClr val="E9762B"/>
          </a:solidFill>
          <a:ln w="28575">
            <a:solidFill>
              <a:srgbClr val="1F2937"/>
            </a:solidFill>
            <a:prstDash val="solid"/>
          </a:ln>
        </p:spPr>
      </p:sp>
      <p:sp>
        <p:nvSpPr>
          <p:cNvPr id="11" name="S10-mark115"/>
          <p:cNvSpPr/>
          <p:nvPr/>
        </p:nvSpPr>
        <p:spPr>
          <a:xfrm>
            <a:off x="1440180" y="4287622"/>
            <a:ext cx="1700784" cy="0"/>
          </a:xfrm>
          <a:prstGeom prst="line">
            <a:avLst/>
          </a:prstGeom>
          <a:noFill/>
          <a:ln w="25400">
            <a:solidFill>
              <a:srgbClr val="B8C2CC"/>
            </a:solidFill>
            <a:prstDash val="solid"/>
          </a:ln>
        </p:spPr>
      </p:sp>
      <p:sp>
        <p:nvSpPr>
          <p:cNvPr id="12" name="S10-label116"/>
          <p:cNvSpPr txBox="1"/>
          <p:nvPr/>
        </p:nvSpPr>
        <p:spPr>
          <a:xfrm>
            <a:off x="548640" y="4709160"/>
            <a:ext cx="3483864"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①</a:t>
            </a:r>
            <a:endParaRPr lang="ko-KR" sz="2400" dirty="0"/>
          </a:p>
        </p:txBody>
      </p:sp>
      <p:sp>
        <p:nvSpPr>
          <p:cNvPr id="13" name="S10-figure117" descr="상자 안에 공이 있는 그림"/>
          <p:cNvSpPr/>
          <p:nvPr/>
        </p:nvSpPr>
        <p:spPr>
          <a:xfrm>
            <a:off x="5244084" y="3040380"/>
            <a:ext cx="1700784" cy="1247242"/>
          </a:xfrm>
          <a:custGeom>
            <a:avLst/>
            <a:gdLst/>
            <a:ahLst/>
            <a:cxnLst/>
            <a:rect l="l" t="t" r="r" b="b"/>
            <a:pathLst>
              <a:path w="1700784" h="1247242">
                <a:moveTo>
                  <a:pt x="0" y="1247242"/>
                </a:moveTo>
                <a:lnTo>
                  <a:pt x="1700784" y="1247242"/>
                </a:lnTo>
                <a:lnTo>
                  <a:pt x="1700784" y="0"/>
                </a:lnTo>
                <a:lnTo>
                  <a:pt x="0" y="0"/>
                </a:lnTo>
                <a:close/>
              </a:path>
            </a:pathLst>
          </a:custGeom>
          <a:solidFill>
            <a:srgbClr val="E8C9A0"/>
          </a:solidFill>
          <a:ln w="28575">
            <a:solidFill>
              <a:srgbClr val="1F2937"/>
            </a:solidFill>
            <a:prstDash val="solid"/>
          </a:ln>
        </p:spPr>
      </p:sp>
      <p:sp>
        <p:nvSpPr>
          <p:cNvPr id="14" name="S10-mark118"/>
          <p:cNvSpPr/>
          <p:nvPr/>
        </p:nvSpPr>
        <p:spPr>
          <a:xfrm>
            <a:off x="5811012" y="3578962"/>
            <a:ext cx="566928" cy="566928"/>
          </a:xfrm>
          <a:prstGeom prst="ellipse">
            <a:avLst/>
          </a:prstGeom>
          <a:solidFill>
            <a:srgbClr val="E9762B"/>
          </a:solidFill>
          <a:ln w="28575">
            <a:solidFill>
              <a:srgbClr val="1F2937"/>
            </a:solidFill>
            <a:prstDash val="solid"/>
          </a:ln>
        </p:spPr>
      </p:sp>
      <p:sp>
        <p:nvSpPr>
          <p:cNvPr id="15" name="S10-mark119"/>
          <p:cNvSpPr/>
          <p:nvPr/>
        </p:nvSpPr>
        <p:spPr>
          <a:xfrm>
            <a:off x="5017313" y="4287622"/>
            <a:ext cx="2154326" cy="0"/>
          </a:xfrm>
          <a:prstGeom prst="line">
            <a:avLst/>
          </a:prstGeom>
          <a:noFill/>
          <a:ln w="25400">
            <a:solidFill>
              <a:srgbClr val="B8C2CC"/>
            </a:solidFill>
            <a:prstDash val="solid"/>
          </a:ln>
        </p:spPr>
      </p:sp>
      <p:sp>
        <p:nvSpPr>
          <p:cNvPr id="16" name="S10-mark120"/>
          <p:cNvSpPr/>
          <p:nvPr/>
        </p:nvSpPr>
        <p:spPr>
          <a:xfrm flipH="1" flipV="1">
            <a:off x="4903927" y="2643530"/>
            <a:ext cx="340157" cy="396850"/>
          </a:xfrm>
          <a:prstGeom prst="line">
            <a:avLst/>
          </a:prstGeom>
          <a:noFill/>
          <a:ln w="28575">
            <a:solidFill>
              <a:srgbClr val="1F2937"/>
            </a:solidFill>
            <a:prstDash val="solid"/>
          </a:ln>
        </p:spPr>
      </p:sp>
      <p:sp>
        <p:nvSpPr>
          <p:cNvPr id="17" name="S10-mark121"/>
          <p:cNvSpPr/>
          <p:nvPr/>
        </p:nvSpPr>
        <p:spPr>
          <a:xfrm flipV="1">
            <a:off x="6944868" y="2643530"/>
            <a:ext cx="340157" cy="396850"/>
          </a:xfrm>
          <a:prstGeom prst="line">
            <a:avLst/>
          </a:prstGeom>
          <a:noFill/>
          <a:ln w="28575">
            <a:solidFill>
              <a:srgbClr val="1F2937"/>
            </a:solidFill>
            <a:prstDash val="solid"/>
          </a:ln>
        </p:spPr>
      </p:sp>
      <p:sp>
        <p:nvSpPr>
          <p:cNvPr id="18" name="S10-label122"/>
          <p:cNvSpPr txBox="1"/>
          <p:nvPr/>
        </p:nvSpPr>
        <p:spPr>
          <a:xfrm>
            <a:off x="4352544" y="4709160"/>
            <a:ext cx="3483864"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②</a:t>
            </a:r>
            <a:endParaRPr lang="ko-KR" sz="2400" dirty="0"/>
          </a:p>
        </p:txBody>
      </p:sp>
      <p:sp>
        <p:nvSpPr>
          <p:cNvPr id="19" name="S10-figure123" descr="책상 아래에 공이 있는 그림"/>
          <p:cNvSpPr/>
          <p:nvPr/>
        </p:nvSpPr>
        <p:spPr>
          <a:xfrm>
            <a:off x="8764524" y="2955341"/>
            <a:ext cx="2267712" cy="198425"/>
          </a:xfrm>
          <a:custGeom>
            <a:avLst/>
            <a:gdLst/>
            <a:ahLst/>
            <a:cxnLst/>
            <a:rect l="l" t="t" r="r" b="b"/>
            <a:pathLst>
              <a:path w="2267712" h="198425">
                <a:moveTo>
                  <a:pt x="0" y="198425"/>
                </a:moveTo>
                <a:lnTo>
                  <a:pt x="2267712" y="198425"/>
                </a:lnTo>
                <a:lnTo>
                  <a:pt x="2267712" y="0"/>
                </a:lnTo>
                <a:lnTo>
                  <a:pt x="0" y="0"/>
                </a:lnTo>
                <a:close/>
              </a:path>
            </a:pathLst>
          </a:custGeom>
          <a:solidFill>
            <a:srgbClr val="C9A27E"/>
          </a:solidFill>
          <a:ln w="28575">
            <a:solidFill>
              <a:srgbClr val="1F2937"/>
            </a:solidFill>
            <a:prstDash val="solid"/>
          </a:ln>
        </p:spPr>
      </p:sp>
      <p:sp>
        <p:nvSpPr>
          <p:cNvPr id="20" name="S10-mark124"/>
          <p:cNvSpPr/>
          <p:nvPr/>
        </p:nvSpPr>
        <p:spPr>
          <a:xfrm>
            <a:off x="8877910" y="3153766"/>
            <a:ext cx="141732" cy="1133856"/>
          </a:xfrm>
          <a:custGeom>
            <a:avLst/>
            <a:gdLst/>
            <a:ahLst/>
            <a:cxnLst/>
            <a:rect l="l" t="t" r="r" b="b"/>
            <a:pathLst>
              <a:path w="141732" h="1133856">
                <a:moveTo>
                  <a:pt x="0" y="1133856"/>
                </a:moveTo>
                <a:lnTo>
                  <a:pt x="141732" y="1133856"/>
                </a:lnTo>
                <a:lnTo>
                  <a:pt x="141732" y="0"/>
                </a:lnTo>
                <a:lnTo>
                  <a:pt x="0" y="0"/>
                </a:lnTo>
                <a:close/>
              </a:path>
            </a:pathLst>
          </a:custGeom>
          <a:solidFill>
            <a:srgbClr val="C9A27E"/>
          </a:solidFill>
          <a:ln w="28575">
            <a:solidFill>
              <a:srgbClr val="1F2937"/>
            </a:solidFill>
            <a:prstDash val="solid"/>
          </a:ln>
        </p:spPr>
      </p:sp>
      <p:sp>
        <p:nvSpPr>
          <p:cNvPr id="21" name="S10-mark125"/>
          <p:cNvSpPr/>
          <p:nvPr/>
        </p:nvSpPr>
        <p:spPr>
          <a:xfrm>
            <a:off x="10777118" y="3153766"/>
            <a:ext cx="141732" cy="1133856"/>
          </a:xfrm>
          <a:custGeom>
            <a:avLst/>
            <a:gdLst/>
            <a:ahLst/>
            <a:cxnLst/>
            <a:rect l="l" t="t" r="r" b="b"/>
            <a:pathLst>
              <a:path w="141732" h="1133856">
                <a:moveTo>
                  <a:pt x="0" y="1133856"/>
                </a:moveTo>
                <a:lnTo>
                  <a:pt x="141732" y="1133856"/>
                </a:lnTo>
                <a:lnTo>
                  <a:pt x="141732" y="0"/>
                </a:lnTo>
                <a:lnTo>
                  <a:pt x="0" y="0"/>
                </a:lnTo>
                <a:close/>
              </a:path>
            </a:pathLst>
          </a:custGeom>
          <a:solidFill>
            <a:srgbClr val="C9A27E"/>
          </a:solidFill>
          <a:ln w="28575">
            <a:solidFill>
              <a:srgbClr val="1F2937"/>
            </a:solidFill>
            <a:prstDash val="solid"/>
          </a:ln>
        </p:spPr>
      </p:sp>
      <p:sp>
        <p:nvSpPr>
          <p:cNvPr id="22" name="S10-mark126"/>
          <p:cNvSpPr/>
          <p:nvPr/>
        </p:nvSpPr>
        <p:spPr>
          <a:xfrm>
            <a:off x="9614916" y="3720694"/>
            <a:ext cx="566928" cy="566928"/>
          </a:xfrm>
          <a:prstGeom prst="ellipse">
            <a:avLst/>
          </a:prstGeom>
          <a:solidFill>
            <a:srgbClr val="E9762B"/>
          </a:solidFill>
          <a:ln w="28575">
            <a:solidFill>
              <a:srgbClr val="1F2937"/>
            </a:solidFill>
            <a:prstDash val="solid"/>
          </a:ln>
        </p:spPr>
      </p:sp>
      <p:sp>
        <p:nvSpPr>
          <p:cNvPr id="23" name="S10-mark127"/>
          <p:cNvSpPr/>
          <p:nvPr/>
        </p:nvSpPr>
        <p:spPr>
          <a:xfrm>
            <a:off x="8537753" y="4287622"/>
            <a:ext cx="2721254" cy="0"/>
          </a:xfrm>
          <a:prstGeom prst="line">
            <a:avLst/>
          </a:prstGeom>
          <a:noFill/>
          <a:ln w="25400">
            <a:solidFill>
              <a:srgbClr val="B8C2CC"/>
            </a:solidFill>
            <a:prstDash val="solid"/>
          </a:ln>
        </p:spPr>
      </p:sp>
      <p:sp>
        <p:nvSpPr>
          <p:cNvPr id="24" name="S10-label128"/>
          <p:cNvSpPr txBox="1"/>
          <p:nvPr/>
        </p:nvSpPr>
        <p:spPr>
          <a:xfrm>
            <a:off x="8156448" y="4709160"/>
            <a:ext cx="3483864"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③</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1-card129"/>
          <p:cNvSpPr/>
          <p:nvPr/>
        </p:nvSpPr>
        <p:spPr>
          <a:xfrm>
            <a:off x="548640" y="4959096"/>
            <a:ext cx="11091672" cy="1258824"/>
          </a:xfrm>
          <a:prstGeom prst="roundRect">
            <a:avLst>
              <a:gd name="adj" fmla="val 8717"/>
            </a:avLst>
          </a:prstGeom>
          <a:solidFill>
            <a:srgbClr val="EAF3F1"/>
          </a:solidFill>
          <a:ln w="12700">
            <a:solidFill>
              <a:srgbClr val="EAF3F1"/>
            </a:solidFill>
            <a:prstDash val="solid"/>
          </a:ln>
        </p:spPr>
      </p:sp>
      <p:sp>
        <p:nvSpPr>
          <p:cNvPr id="4" name="S11-cardtext130"/>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위는 on, 안은 in, 아래는 under. It's와 the를 넣어 말해요.</a:t>
            </a:r>
            <a:endParaRPr lang="ko-KR" sz="3000" dirty="0"/>
          </a:p>
        </p:txBody>
      </p:sp>
      <p:sp>
        <p:nvSpPr>
          <p:cNvPr id="5" name="S11-chip131"/>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정답</a:t>
            </a:r>
            <a:endParaRPr lang="ko-KR" sz="2400" dirty="0"/>
          </a:p>
        </p:txBody>
      </p:sp>
      <p:sp>
        <p:nvSpPr>
          <p:cNvPr id="6" name="S11-text132"/>
          <p:cNvSpPr txBox="1"/>
          <p:nvPr/>
        </p:nvSpPr>
        <p:spPr>
          <a:xfrm>
            <a:off x="548640" y="2057400"/>
            <a:ext cx="5362956" cy="565404"/>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① It's on the chair.</a:t>
            </a:r>
            <a:endParaRPr lang="ko-KR" sz="3000" dirty="0"/>
          </a:p>
        </p:txBody>
      </p:sp>
      <p:sp>
        <p:nvSpPr>
          <p:cNvPr id="7" name="S11-text133"/>
          <p:cNvSpPr txBox="1"/>
          <p:nvPr/>
        </p:nvSpPr>
        <p:spPr>
          <a:xfrm>
            <a:off x="548640" y="2759964"/>
            <a:ext cx="5362956" cy="565404"/>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② It's in the box.</a:t>
            </a:r>
            <a:endParaRPr lang="ko-KR" sz="3000" dirty="0"/>
          </a:p>
        </p:txBody>
      </p:sp>
      <p:sp>
        <p:nvSpPr>
          <p:cNvPr id="8" name="S11-text134"/>
          <p:cNvSpPr txBox="1"/>
          <p:nvPr/>
        </p:nvSpPr>
        <p:spPr>
          <a:xfrm>
            <a:off x="548640" y="3462528"/>
            <a:ext cx="5362956" cy="565404"/>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③ It's under the desk.</a:t>
            </a:r>
            <a:endParaRPr lang="ko-KR" sz="3000" dirty="0"/>
          </a:p>
        </p:txBody>
      </p:sp>
      <p:sp>
        <p:nvSpPr>
          <p:cNvPr id="9" name="S11-text135"/>
          <p:cNvSpPr txBox="1"/>
          <p:nvPr/>
        </p:nvSpPr>
        <p:spPr>
          <a:xfrm>
            <a:off x="548640" y="4165092"/>
            <a:ext cx="5362956" cy="565404"/>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④ Where is the ball?</a:t>
            </a:r>
            <a:endParaRPr lang="ko-KR" sz="3000" dirty="0"/>
          </a:p>
        </p:txBody>
      </p:sp>
      <p:sp>
        <p:nvSpPr>
          <p:cNvPr id="10" name="S11-chip136"/>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흔한 실수</a:t>
            </a:r>
            <a:endParaRPr lang="ko-KR" sz="2400" dirty="0"/>
          </a:p>
        </p:txBody>
      </p:sp>
      <p:sp>
        <p:nvSpPr>
          <p:cNvPr id="11" name="S11-text137"/>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③ on을 씀</a:t>
            </a:r>
            <a:endParaRPr lang="ko-KR" sz="3000" dirty="0"/>
          </a:p>
        </p:txBody>
      </p:sp>
      <p:sp>
        <p:nvSpPr>
          <p:cNvPr id="12" name="S11-text138"/>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아래는 under</a:t>
            </a:r>
            <a:endParaRPr lang="ko-KR" sz="2400" dirty="0"/>
          </a:p>
        </p:txBody>
      </p:sp>
      <p:sp>
        <p:nvSpPr>
          <p:cNvPr id="13" name="S11-text139"/>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It's를 뺌</a:t>
            </a:r>
            <a:endParaRPr lang="ko-KR" sz="3000" dirty="0"/>
          </a:p>
        </p:txBody>
      </p:sp>
      <p:sp>
        <p:nvSpPr>
          <p:cNvPr id="14" name="S11-text140"/>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en-US" altLang="ko-KR" sz="2400" dirty="0">
                <a:solidFill>
                  <a:srgbClr val="1F2937"/>
                </a:solidFill>
                <a:latin typeface="맑은 고딕" pitchFamily="34" charset="0"/>
                <a:ea typeface="맑은 고딕" pitchFamily="34" charset="-122"/>
                <a:cs typeface="맑은 고딕" pitchFamily="34" charset="-120"/>
              </a:rPr>
              <a:t>Under the desk.</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알맞은 그림을 골라요</a:t>
            </a:r>
            <a:endParaRPr lang="ko-KR" sz="4000" dirty="0"/>
          </a:p>
        </p:txBody>
      </p:sp>
      <p:sp>
        <p:nvSpPr>
          <p:cNvPr id="3" name="S12-card141"/>
          <p:cNvSpPr/>
          <p:nvPr/>
        </p:nvSpPr>
        <p:spPr>
          <a:xfrm>
            <a:off x="548640" y="4959096"/>
            <a:ext cx="11091672" cy="1258824"/>
          </a:xfrm>
          <a:prstGeom prst="roundRect">
            <a:avLst>
              <a:gd name="adj" fmla="val 8717"/>
            </a:avLst>
          </a:prstGeom>
          <a:solidFill>
            <a:srgbClr val="EAF3F1"/>
          </a:solidFill>
          <a:ln w="12700">
            <a:solidFill>
              <a:srgbClr val="EAF3F1"/>
            </a:solidFill>
            <a:prstDash val="solid"/>
          </a:ln>
        </p:spPr>
      </p:sp>
      <p:sp>
        <p:nvSpPr>
          <p:cNvPr id="4" name="S12-cardtext142"/>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엄마(아빠)가 말하는 그림은 어느 것일까요? 어떻게 알았나요?</a:t>
            </a:r>
            <a:endParaRPr lang="ko-KR" sz="3000" dirty="0"/>
          </a:p>
        </p:txBody>
      </p:sp>
      <p:sp>
        <p:nvSpPr>
          <p:cNvPr id="5" name="S12-chip143"/>
          <p:cNvSpPr txBox="1"/>
          <p:nvPr/>
        </p:nvSpPr>
        <p:spPr>
          <a:xfrm>
            <a:off x="548640" y="182499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가</a:t>
            </a:r>
            <a:endParaRPr lang="ko-KR" sz="3000" dirty="0"/>
          </a:p>
        </p:txBody>
      </p:sp>
      <p:sp>
        <p:nvSpPr>
          <p:cNvPr id="6" name="S12-figure144" descr="의자 위에 공이 있는 그림"/>
          <p:cNvSpPr/>
          <p:nvPr/>
        </p:nvSpPr>
        <p:spPr>
          <a:xfrm>
            <a:off x="3227752" y="2090266"/>
            <a:ext cx="800260" cy="90939"/>
          </a:xfrm>
          <a:custGeom>
            <a:avLst/>
            <a:gdLst/>
            <a:ahLst/>
            <a:cxnLst/>
            <a:rect l="l" t="t" r="r" b="b"/>
            <a:pathLst>
              <a:path w="800260" h="90939">
                <a:moveTo>
                  <a:pt x="0" y="90939"/>
                </a:moveTo>
                <a:lnTo>
                  <a:pt x="800260" y="90939"/>
                </a:lnTo>
                <a:lnTo>
                  <a:pt x="800260" y="0"/>
                </a:lnTo>
                <a:lnTo>
                  <a:pt x="0" y="0"/>
                </a:lnTo>
                <a:close/>
              </a:path>
            </a:pathLst>
          </a:custGeom>
          <a:solidFill>
            <a:srgbClr val="C9A27E"/>
          </a:solidFill>
          <a:ln w="28575">
            <a:solidFill>
              <a:srgbClr val="1F2937"/>
            </a:solidFill>
            <a:prstDash val="solid"/>
          </a:ln>
        </p:spPr>
      </p:sp>
      <p:sp>
        <p:nvSpPr>
          <p:cNvPr id="7" name="S12-mark145"/>
          <p:cNvSpPr/>
          <p:nvPr/>
        </p:nvSpPr>
        <p:spPr>
          <a:xfrm>
            <a:off x="3227752" y="1490071"/>
            <a:ext cx="90939" cy="600195"/>
          </a:xfrm>
          <a:custGeom>
            <a:avLst/>
            <a:gdLst/>
            <a:ahLst/>
            <a:cxnLst/>
            <a:rect l="l" t="t" r="r" b="b"/>
            <a:pathLst>
              <a:path w="90939" h="600195">
                <a:moveTo>
                  <a:pt x="0" y="600195"/>
                </a:moveTo>
                <a:lnTo>
                  <a:pt x="90939" y="600195"/>
                </a:lnTo>
                <a:lnTo>
                  <a:pt x="90939" y="0"/>
                </a:lnTo>
                <a:lnTo>
                  <a:pt x="0" y="0"/>
                </a:lnTo>
                <a:close/>
              </a:path>
            </a:pathLst>
          </a:custGeom>
          <a:solidFill>
            <a:srgbClr val="C9A27E"/>
          </a:solidFill>
          <a:ln w="28575">
            <a:solidFill>
              <a:srgbClr val="1F2937"/>
            </a:solidFill>
            <a:prstDash val="solid"/>
          </a:ln>
        </p:spPr>
      </p:sp>
      <p:sp>
        <p:nvSpPr>
          <p:cNvPr id="8" name="S12-mark146"/>
          <p:cNvSpPr/>
          <p:nvPr/>
        </p:nvSpPr>
        <p:spPr>
          <a:xfrm>
            <a:off x="3245940" y="2181205"/>
            <a:ext cx="72751" cy="545632"/>
          </a:xfrm>
          <a:custGeom>
            <a:avLst/>
            <a:gdLst/>
            <a:ahLst/>
            <a:cxnLst/>
            <a:rect l="l" t="t" r="r" b="b"/>
            <a:pathLst>
              <a:path w="72751" h="545632">
                <a:moveTo>
                  <a:pt x="0" y="545632"/>
                </a:moveTo>
                <a:lnTo>
                  <a:pt x="72751" y="545632"/>
                </a:lnTo>
                <a:lnTo>
                  <a:pt x="72751" y="0"/>
                </a:lnTo>
                <a:lnTo>
                  <a:pt x="0" y="0"/>
                </a:lnTo>
                <a:close/>
              </a:path>
            </a:pathLst>
          </a:custGeom>
          <a:solidFill>
            <a:srgbClr val="C9A27E"/>
          </a:solidFill>
          <a:ln w="28575">
            <a:solidFill>
              <a:srgbClr val="1F2937"/>
            </a:solidFill>
            <a:prstDash val="solid"/>
          </a:ln>
        </p:spPr>
      </p:sp>
      <p:sp>
        <p:nvSpPr>
          <p:cNvPr id="9" name="S12-mark147"/>
          <p:cNvSpPr/>
          <p:nvPr/>
        </p:nvSpPr>
        <p:spPr>
          <a:xfrm>
            <a:off x="3937074" y="2181205"/>
            <a:ext cx="72751" cy="545632"/>
          </a:xfrm>
          <a:custGeom>
            <a:avLst/>
            <a:gdLst/>
            <a:ahLst/>
            <a:cxnLst/>
            <a:rect l="l" t="t" r="r" b="b"/>
            <a:pathLst>
              <a:path w="72751" h="545632">
                <a:moveTo>
                  <a:pt x="0" y="545632"/>
                </a:moveTo>
                <a:lnTo>
                  <a:pt x="72751" y="545632"/>
                </a:lnTo>
                <a:lnTo>
                  <a:pt x="72751" y="0"/>
                </a:lnTo>
                <a:lnTo>
                  <a:pt x="0" y="0"/>
                </a:lnTo>
                <a:close/>
              </a:path>
            </a:pathLst>
          </a:custGeom>
          <a:solidFill>
            <a:srgbClr val="C9A27E"/>
          </a:solidFill>
          <a:ln w="28575">
            <a:solidFill>
              <a:srgbClr val="1F2937"/>
            </a:solidFill>
            <a:prstDash val="solid"/>
          </a:ln>
        </p:spPr>
      </p:sp>
      <p:sp>
        <p:nvSpPr>
          <p:cNvPr id="10" name="S12-mark148"/>
          <p:cNvSpPr/>
          <p:nvPr/>
        </p:nvSpPr>
        <p:spPr>
          <a:xfrm>
            <a:off x="3482380" y="1726512"/>
            <a:ext cx="363755" cy="363755"/>
          </a:xfrm>
          <a:prstGeom prst="ellipse">
            <a:avLst/>
          </a:prstGeom>
          <a:solidFill>
            <a:srgbClr val="E9762B"/>
          </a:solidFill>
          <a:ln w="28575">
            <a:solidFill>
              <a:srgbClr val="1F2937"/>
            </a:solidFill>
            <a:prstDash val="solid"/>
          </a:ln>
        </p:spPr>
      </p:sp>
      <p:sp>
        <p:nvSpPr>
          <p:cNvPr id="11" name="S12-mark149"/>
          <p:cNvSpPr/>
          <p:nvPr/>
        </p:nvSpPr>
        <p:spPr>
          <a:xfrm>
            <a:off x="3082250" y="2726837"/>
            <a:ext cx="1091264" cy="0"/>
          </a:xfrm>
          <a:prstGeom prst="line">
            <a:avLst/>
          </a:prstGeom>
          <a:noFill/>
          <a:ln w="25400">
            <a:solidFill>
              <a:srgbClr val="B8C2CC"/>
            </a:solidFill>
            <a:prstDash val="solid"/>
          </a:ln>
        </p:spPr>
      </p:sp>
      <p:sp>
        <p:nvSpPr>
          <p:cNvPr id="12" name="S12-chip150"/>
          <p:cNvSpPr txBox="1"/>
          <p:nvPr/>
        </p:nvSpPr>
        <p:spPr>
          <a:xfrm>
            <a:off x="6277356" y="182499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나</a:t>
            </a:r>
            <a:endParaRPr lang="ko-KR" sz="3000" dirty="0"/>
          </a:p>
        </p:txBody>
      </p:sp>
      <p:sp>
        <p:nvSpPr>
          <p:cNvPr id="13" name="S12-figure151" descr="책상 아래에 공이 있는 그림"/>
          <p:cNvSpPr/>
          <p:nvPr/>
        </p:nvSpPr>
        <p:spPr>
          <a:xfrm>
            <a:off x="8629089" y="1872013"/>
            <a:ext cx="1455019" cy="127314"/>
          </a:xfrm>
          <a:custGeom>
            <a:avLst/>
            <a:gdLst/>
            <a:ahLst/>
            <a:cxnLst/>
            <a:rect l="l" t="t" r="r" b="b"/>
            <a:pathLst>
              <a:path w="1455019" h="127314">
                <a:moveTo>
                  <a:pt x="0" y="127314"/>
                </a:moveTo>
                <a:lnTo>
                  <a:pt x="1455019" y="127314"/>
                </a:lnTo>
                <a:lnTo>
                  <a:pt x="1455019" y="0"/>
                </a:lnTo>
                <a:lnTo>
                  <a:pt x="0" y="0"/>
                </a:lnTo>
                <a:close/>
              </a:path>
            </a:pathLst>
          </a:custGeom>
          <a:solidFill>
            <a:srgbClr val="C9A27E"/>
          </a:solidFill>
          <a:ln w="28575">
            <a:solidFill>
              <a:srgbClr val="1F2937"/>
            </a:solidFill>
            <a:prstDash val="solid"/>
          </a:ln>
        </p:spPr>
      </p:sp>
      <p:sp>
        <p:nvSpPr>
          <p:cNvPr id="14" name="S12-mark152"/>
          <p:cNvSpPr/>
          <p:nvPr/>
        </p:nvSpPr>
        <p:spPr>
          <a:xfrm>
            <a:off x="8701839" y="1999328"/>
            <a:ext cx="90939" cy="727509"/>
          </a:xfrm>
          <a:custGeom>
            <a:avLst/>
            <a:gdLst/>
            <a:ahLst/>
            <a:cxnLst/>
            <a:rect l="l" t="t" r="r" b="b"/>
            <a:pathLst>
              <a:path w="90939" h="727509">
                <a:moveTo>
                  <a:pt x="0" y="727509"/>
                </a:moveTo>
                <a:lnTo>
                  <a:pt x="90939" y="727509"/>
                </a:lnTo>
                <a:lnTo>
                  <a:pt x="90939" y="0"/>
                </a:lnTo>
                <a:lnTo>
                  <a:pt x="0" y="0"/>
                </a:lnTo>
                <a:close/>
              </a:path>
            </a:pathLst>
          </a:custGeom>
          <a:solidFill>
            <a:srgbClr val="C9A27E"/>
          </a:solidFill>
          <a:ln w="28575">
            <a:solidFill>
              <a:srgbClr val="1F2937"/>
            </a:solidFill>
            <a:prstDash val="solid"/>
          </a:ln>
        </p:spPr>
      </p:sp>
      <p:sp>
        <p:nvSpPr>
          <p:cNvPr id="15" name="S12-mark153"/>
          <p:cNvSpPr/>
          <p:nvPr/>
        </p:nvSpPr>
        <p:spPr>
          <a:xfrm>
            <a:off x="9920418" y="1999328"/>
            <a:ext cx="90939" cy="727509"/>
          </a:xfrm>
          <a:custGeom>
            <a:avLst/>
            <a:gdLst/>
            <a:ahLst/>
            <a:cxnLst/>
            <a:rect l="l" t="t" r="r" b="b"/>
            <a:pathLst>
              <a:path w="90939" h="727509">
                <a:moveTo>
                  <a:pt x="0" y="727509"/>
                </a:moveTo>
                <a:lnTo>
                  <a:pt x="90939" y="727509"/>
                </a:lnTo>
                <a:lnTo>
                  <a:pt x="90939" y="0"/>
                </a:lnTo>
                <a:lnTo>
                  <a:pt x="0" y="0"/>
                </a:lnTo>
                <a:close/>
              </a:path>
            </a:pathLst>
          </a:custGeom>
          <a:solidFill>
            <a:srgbClr val="C9A27E"/>
          </a:solidFill>
          <a:ln w="28575">
            <a:solidFill>
              <a:srgbClr val="1F2937"/>
            </a:solidFill>
            <a:prstDash val="solid"/>
          </a:ln>
        </p:spPr>
      </p:sp>
      <p:sp>
        <p:nvSpPr>
          <p:cNvPr id="16" name="S12-mark154"/>
          <p:cNvSpPr/>
          <p:nvPr/>
        </p:nvSpPr>
        <p:spPr>
          <a:xfrm>
            <a:off x="9174721" y="2363082"/>
            <a:ext cx="363755" cy="363755"/>
          </a:xfrm>
          <a:prstGeom prst="ellipse">
            <a:avLst/>
          </a:prstGeom>
          <a:solidFill>
            <a:srgbClr val="E9762B"/>
          </a:solidFill>
          <a:ln w="28575">
            <a:solidFill>
              <a:srgbClr val="1F2937"/>
            </a:solidFill>
            <a:prstDash val="solid"/>
          </a:ln>
        </p:spPr>
      </p:sp>
      <p:sp>
        <p:nvSpPr>
          <p:cNvPr id="17" name="S12-mark155"/>
          <p:cNvSpPr/>
          <p:nvPr/>
        </p:nvSpPr>
        <p:spPr>
          <a:xfrm>
            <a:off x="8483587" y="2726837"/>
            <a:ext cx="1746023" cy="0"/>
          </a:xfrm>
          <a:prstGeom prst="line">
            <a:avLst/>
          </a:prstGeom>
          <a:noFill/>
          <a:ln w="25400">
            <a:solidFill>
              <a:srgbClr val="B8C2CC"/>
            </a:solidFill>
            <a:prstDash val="solid"/>
          </a:ln>
        </p:spPr>
      </p:sp>
      <p:sp>
        <p:nvSpPr>
          <p:cNvPr id="18" name="S12-chip156"/>
          <p:cNvSpPr txBox="1"/>
          <p:nvPr/>
        </p:nvSpPr>
        <p:spPr>
          <a:xfrm>
            <a:off x="548640" y="3664458"/>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다</a:t>
            </a:r>
            <a:endParaRPr lang="ko-KR" sz="3000" dirty="0"/>
          </a:p>
        </p:txBody>
      </p:sp>
      <p:sp>
        <p:nvSpPr>
          <p:cNvPr id="19" name="S12-figure157" descr="의자 아래에 공이 있는 그림"/>
          <p:cNvSpPr/>
          <p:nvPr/>
        </p:nvSpPr>
        <p:spPr>
          <a:xfrm>
            <a:off x="3227752" y="3929734"/>
            <a:ext cx="800260" cy="90939"/>
          </a:xfrm>
          <a:custGeom>
            <a:avLst/>
            <a:gdLst/>
            <a:ahLst/>
            <a:cxnLst/>
            <a:rect l="l" t="t" r="r" b="b"/>
            <a:pathLst>
              <a:path w="800260" h="90939">
                <a:moveTo>
                  <a:pt x="0" y="90939"/>
                </a:moveTo>
                <a:lnTo>
                  <a:pt x="800260" y="90939"/>
                </a:lnTo>
                <a:lnTo>
                  <a:pt x="800260" y="0"/>
                </a:lnTo>
                <a:lnTo>
                  <a:pt x="0" y="0"/>
                </a:lnTo>
                <a:close/>
              </a:path>
            </a:pathLst>
          </a:custGeom>
          <a:solidFill>
            <a:srgbClr val="C9A27E"/>
          </a:solidFill>
          <a:ln w="28575">
            <a:solidFill>
              <a:srgbClr val="1F2937"/>
            </a:solidFill>
            <a:prstDash val="solid"/>
          </a:ln>
        </p:spPr>
      </p:sp>
      <p:sp>
        <p:nvSpPr>
          <p:cNvPr id="20" name="S12-mark158"/>
          <p:cNvSpPr/>
          <p:nvPr/>
        </p:nvSpPr>
        <p:spPr>
          <a:xfrm>
            <a:off x="3227752" y="3329539"/>
            <a:ext cx="90939" cy="600195"/>
          </a:xfrm>
          <a:custGeom>
            <a:avLst/>
            <a:gdLst/>
            <a:ahLst/>
            <a:cxnLst/>
            <a:rect l="l" t="t" r="r" b="b"/>
            <a:pathLst>
              <a:path w="90939" h="600195">
                <a:moveTo>
                  <a:pt x="0" y="600195"/>
                </a:moveTo>
                <a:lnTo>
                  <a:pt x="90939" y="600195"/>
                </a:lnTo>
                <a:lnTo>
                  <a:pt x="90939" y="0"/>
                </a:lnTo>
                <a:lnTo>
                  <a:pt x="0" y="0"/>
                </a:lnTo>
                <a:close/>
              </a:path>
            </a:pathLst>
          </a:custGeom>
          <a:solidFill>
            <a:srgbClr val="C9A27E"/>
          </a:solidFill>
          <a:ln w="28575">
            <a:solidFill>
              <a:srgbClr val="1F2937"/>
            </a:solidFill>
            <a:prstDash val="solid"/>
          </a:ln>
        </p:spPr>
      </p:sp>
      <p:sp>
        <p:nvSpPr>
          <p:cNvPr id="21" name="S12-mark159"/>
          <p:cNvSpPr/>
          <p:nvPr/>
        </p:nvSpPr>
        <p:spPr>
          <a:xfrm>
            <a:off x="3245940" y="4020673"/>
            <a:ext cx="72751" cy="545632"/>
          </a:xfrm>
          <a:custGeom>
            <a:avLst/>
            <a:gdLst/>
            <a:ahLst/>
            <a:cxnLst/>
            <a:rect l="l" t="t" r="r" b="b"/>
            <a:pathLst>
              <a:path w="72751" h="545632">
                <a:moveTo>
                  <a:pt x="0" y="545632"/>
                </a:moveTo>
                <a:lnTo>
                  <a:pt x="72751" y="545632"/>
                </a:lnTo>
                <a:lnTo>
                  <a:pt x="72751" y="0"/>
                </a:lnTo>
                <a:lnTo>
                  <a:pt x="0" y="0"/>
                </a:lnTo>
                <a:close/>
              </a:path>
            </a:pathLst>
          </a:custGeom>
          <a:solidFill>
            <a:srgbClr val="C9A27E"/>
          </a:solidFill>
          <a:ln w="28575">
            <a:solidFill>
              <a:srgbClr val="1F2937"/>
            </a:solidFill>
            <a:prstDash val="solid"/>
          </a:ln>
        </p:spPr>
      </p:sp>
      <p:sp>
        <p:nvSpPr>
          <p:cNvPr id="22" name="S12-mark160"/>
          <p:cNvSpPr/>
          <p:nvPr/>
        </p:nvSpPr>
        <p:spPr>
          <a:xfrm>
            <a:off x="3937074" y="4020673"/>
            <a:ext cx="72751" cy="545632"/>
          </a:xfrm>
          <a:custGeom>
            <a:avLst/>
            <a:gdLst/>
            <a:ahLst/>
            <a:cxnLst/>
            <a:rect l="l" t="t" r="r" b="b"/>
            <a:pathLst>
              <a:path w="72751" h="545632">
                <a:moveTo>
                  <a:pt x="0" y="545632"/>
                </a:moveTo>
                <a:lnTo>
                  <a:pt x="72751" y="545632"/>
                </a:lnTo>
                <a:lnTo>
                  <a:pt x="72751" y="0"/>
                </a:lnTo>
                <a:lnTo>
                  <a:pt x="0" y="0"/>
                </a:lnTo>
                <a:close/>
              </a:path>
            </a:pathLst>
          </a:custGeom>
          <a:solidFill>
            <a:srgbClr val="C9A27E"/>
          </a:solidFill>
          <a:ln w="28575">
            <a:solidFill>
              <a:srgbClr val="1F2937"/>
            </a:solidFill>
            <a:prstDash val="solid"/>
          </a:ln>
        </p:spPr>
      </p:sp>
      <p:sp>
        <p:nvSpPr>
          <p:cNvPr id="23" name="S12-mark161"/>
          <p:cNvSpPr/>
          <p:nvPr/>
        </p:nvSpPr>
        <p:spPr>
          <a:xfrm>
            <a:off x="3446005" y="4202550"/>
            <a:ext cx="363755" cy="363755"/>
          </a:xfrm>
          <a:prstGeom prst="ellipse">
            <a:avLst/>
          </a:prstGeom>
          <a:solidFill>
            <a:srgbClr val="E9762B"/>
          </a:solidFill>
          <a:ln w="28575">
            <a:solidFill>
              <a:srgbClr val="1F2937"/>
            </a:solidFill>
            <a:prstDash val="solid"/>
          </a:ln>
        </p:spPr>
      </p:sp>
      <p:sp>
        <p:nvSpPr>
          <p:cNvPr id="24" name="S12-mark162"/>
          <p:cNvSpPr/>
          <p:nvPr/>
        </p:nvSpPr>
        <p:spPr>
          <a:xfrm>
            <a:off x="3082250" y="4566305"/>
            <a:ext cx="1091264" cy="0"/>
          </a:xfrm>
          <a:prstGeom prst="line">
            <a:avLst/>
          </a:prstGeom>
          <a:noFill/>
          <a:ln w="25400">
            <a:solidFill>
              <a:srgbClr val="B8C2CC"/>
            </a:solidFill>
            <a:prstDash val="solid"/>
          </a:ln>
        </p:spPr>
      </p:sp>
      <p:sp>
        <p:nvSpPr>
          <p:cNvPr id="25" name="S12-chip163"/>
          <p:cNvSpPr txBox="1"/>
          <p:nvPr/>
        </p:nvSpPr>
        <p:spPr>
          <a:xfrm>
            <a:off x="6277356" y="3664458"/>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라</a:t>
            </a:r>
            <a:endParaRPr lang="ko-KR" sz="3000" dirty="0"/>
          </a:p>
        </p:txBody>
      </p:sp>
      <p:sp>
        <p:nvSpPr>
          <p:cNvPr id="26" name="S12-figure164" descr="책상 위에 공이 있는 그림"/>
          <p:cNvSpPr/>
          <p:nvPr/>
        </p:nvSpPr>
        <p:spPr>
          <a:xfrm>
            <a:off x="8629089" y="3711481"/>
            <a:ext cx="1455019" cy="127314"/>
          </a:xfrm>
          <a:custGeom>
            <a:avLst/>
            <a:gdLst/>
            <a:ahLst/>
            <a:cxnLst/>
            <a:rect l="l" t="t" r="r" b="b"/>
            <a:pathLst>
              <a:path w="1455019" h="127314">
                <a:moveTo>
                  <a:pt x="0" y="127314"/>
                </a:moveTo>
                <a:lnTo>
                  <a:pt x="1455019" y="127314"/>
                </a:lnTo>
                <a:lnTo>
                  <a:pt x="1455019" y="0"/>
                </a:lnTo>
                <a:lnTo>
                  <a:pt x="0" y="0"/>
                </a:lnTo>
                <a:close/>
              </a:path>
            </a:pathLst>
          </a:custGeom>
          <a:solidFill>
            <a:srgbClr val="C9A27E"/>
          </a:solidFill>
          <a:ln w="28575">
            <a:solidFill>
              <a:srgbClr val="1F2937"/>
            </a:solidFill>
            <a:prstDash val="solid"/>
          </a:ln>
        </p:spPr>
      </p:sp>
      <p:sp>
        <p:nvSpPr>
          <p:cNvPr id="27" name="S12-mark165"/>
          <p:cNvSpPr/>
          <p:nvPr/>
        </p:nvSpPr>
        <p:spPr>
          <a:xfrm>
            <a:off x="8701839" y="3838796"/>
            <a:ext cx="90939" cy="727509"/>
          </a:xfrm>
          <a:custGeom>
            <a:avLst/>
            <a:gdLst/>
            <a:ahLst/>
            <a:cxnLst/>
            <a:rect l="l" t="t" r="r" b="b"/>
            <a:pathLst>
              <a:path w="90939" h="727509">
                <a:moveTo>
                  <a:pt x="0" y="727509"/>
                </a:moveTo>
                <a:lnTo>
                  <a:pt x="90939" y="727509"/>
                </a:lnTo>
                <a:lnTo>
                  <a:pt x="90939" y="0"/>
                </a:lnTo>
                <a:lnTo>
                  <a:pt x="0" y="0"/>
                </a:lnTo>
                <a:close/>
              </a:path>
            </a:pathLst>
          </a:custGeom>
          <a:solidFill>
            <a:srgbClr val="C9A27E"/>
          </a:solidFill>
          <a:ln w="28575">
            <a:solidFill>
              <a:srgbClr val="1F2937"/>
            </a:solidFill>
            <a:prstDash val="solid"/>
          </a:ln>
        </p:spPr>
      </p:sp>
      <p:sp>
        <p:nvSpPr>
          <p:cNvPr id="28" name="S12-mark166"/>
          <p:cNvSpPr/>
          <p:nvPr/>
        </p:nvSpPr>
        <p:spPr>
          <a:xfrm>
            <a:off x="9920418" y="3838796"/>
            <a:ext cx="90939" cy="727509"/>
          </a:xfrm>
          <a:custGeom>
            <a:avLst/>
            <a:gdLst/>
            <a:ahLst/>
            <a:cxnLst/>
            <a:rect l="l" t="t" r="r" b="b"/>
            <a:pathLst>
              <a:path w="90939" h="727509">
                <a:moveTo>
                  <a:pt x="0" y="727509"/>
                </a:moveTo>
                <a:lnTo>
                  <a:pt x="90939" y="727509"/>
                </a:lnTo>
                <a:lnTo>
                  <a:pt x="90939" y="0"/>
                </a:lnTo>
                <a:lnTo>
                  <a:pt x="0" y="0"/>
                </a:lnTo>
                <a:close/>
              </a:path>
            </a:pathLst>
          </a:custGeom>
          <a:solidFill>
            <a:srgbClr val="C9A27E"/>
          </a:solidFill>
          <a:ln w="28575">
            <a:solidFill>
              <a:srgbClr val="1F2937"/>
            </a:solidFill>
            <a:prstDash val="solid"/>
          </a:ln>
        </p:spPr>
      </p:sp>
      <p:sp>
        <p:nvSpPr>
          <p:cNvPr id="29" name="S12-mark167"/>
          <p:cNvSpPr/>
          <p:nvPr/>
        </p:nvSpPr>
        <p:spPr>
          <a:xfrm>
            <a:off x="9174721" y="3347727"/>
            <a:ext cx="363755" cy="363755"/>
          </a:xfrm>
          <a:prstGeom prst="ellipse">
            <a:avLst/>
          </a:prstGeom>
          <a:solidFill>
            <a:srgbClr val="E9762B"/>
          </a:solidFill>
          <a:ln w="28575">
            <a:solidFill>
              <a:srgbClr val="1F2937"/>
            </a:solidFill>
            <a:prstDash val="solid"/>
          </a:ln>
        </p:spPr>
      </p:sp>
      <p:sp>
        <p:nvSpPr>
          <p:cNvPr id="30" name="S12-mark168"/>
          <p:cNvSpPr/>
          <p:nvPr/>
        </p:nvSpPr>
        <p:spPr>
          <a:xfrm>
            <a:off x="8483587" y="4566305"/>
            <a:ext cx="1746023" cy="0"/>
          </a:xfrm>
          <a:prstGeom prst="line">
            <a:avLst/>
          </a:prstGeom>
          <a:noFill/>
          <a:ln w="25400">
            <a:solidFill>
              <a:srgbClr val="B8C2CC"/>
            </a:solidFill>
            <a:prstDash val="solid"/>
          </a:ln>
        </p:spPr>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3-card169"/>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3-cardtext170"/>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Where is the ~?로 어디 있는지 묻고,</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It's on/in/under the ~.로 대답해요.</a:t>
            </a:r>
            <a:endParaRPr lang="ko-KR" sz="3000" dirty="0"/>
          </a:p>
        </p:txBody>
      </p:sp>
      <p:sp>
        <p:nvSpPr>
          <p:cNvPr id="5" name="S13-chip171"/>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위 on, 안 in, 아래 under</a:t>
            </a:r>
            <a:endParaRPr lang="ko-KR" sz="2400" dirty="0"/>
          </a:p>
        </p:txBody>
      </p:sp>
      <p:sp>
        <p:nvSpPr>
          <p:cNvPr id="6" name="S13-chip172"/>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It's 빼고 낱말만 말하기</a:t>
            </a:r>
            <a:endParaRPr lang="ko-KR" sz="2400" dirty="0"/>
          </a:p>
        </p:txBody>
      </p:sp>
      <p:sp>
        <p:nvSpPr>
          <p:cNvPr id="7" name="S13-text173"/>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3-text174"/>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on, in, under의 뜻은?</a:t>
            </a:r>
            <a:endParaRPr lang="ko-KR" sz="2400" dirty="0"/>
          </a:p>
        </p:txBody>
      </p:sp>
      <p:sp>
        <p:nvSpPr>
          <p:cNvPr id="9" name="S13-text175"/>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공이 어디 있는지</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영어로 묻기</a:t>
            </a:r>
            <a:endParaRPr lang="ko-KR" sz="2400" dirty="0"/>
          </a:p>
        </p:txBody>
      </p:sp>
      <p:sp>
        <p:nvSpPr>
          <p:cNvPr id="10" name="S13-text176"/>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책상 아래의 공을</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영어로 말하기</a:t>
            </a:r>
            <a:endParaRPr lang="ko-KR" sz="2400" dirty="0"/>
          </a:p>
        </p:txBody>
      </p:sp>
      <p:sp>
        <p:nvSpPr>
          <p:cNvPr id="11" name="S13-text177"/>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시각 묻고 답하기</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가족 소개 다시 하기</a:t>
            </a:r>
            <a:endParaRPr lang="ko-KR" sz="4000" dirty="0"/>
          </a:p>
        </p:txBody>
      </p:sp>
      <p:sp>
        <p:nvSpPr>
          <p:cNvPr id="3" name="S14-card17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4-cardtext17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남자 가족은 He, 여자 가족은 She로 말해요.</a:t>
            </a:r>
            <a:endParaRPr lang="ko-KR" sz="3000" dirty="0"/>
          </a:p>
        </p:txBody>
      </p:sp>
      <p:sp>
        <p:nvSpPr>
          <p:cNvPr id="5" name="S14-word180"/>
          <p:cNvSpPr txBox="1"/>
          <p:nvPr/>
        </p:nvSpPr>
        <p:spPr>
          <a:xfrm>
            <a:off x="548640"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This is my dad.</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이 사람은 우리 아빠예요.</a:t>
            </a:r>
            <a:endParaRPr lang="ko-KR" sz="3400" dirty="0"/>
          </a:p>
        </p:txBody>
      </p:sp>
      <p:sp>
        <p:nvSpPr>
          <p:cNvPr id="6" name="S14-word181"/>
          <p:cNvSpPr txBox="1"/>
          <p:nvPr/>
        </p:nvSpPr>
        <p:spPr>
          <a:xfrm>
            <a:off x="6231636"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He is tall.</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그는 키가 커요.</a:t>
            </a:r>
            <a:endParaRPr lang="ko-KR" sz="3400" dirty="0"/>
          </a:p>
        </p:txBody>
      </p:sp>
      <p:sp>
        <p:nvSpPr>
          <p:cNvPr id="7" name="S14-word182"/>
          <p:cNvSpPr txBox="1"/>
          <p:nvPr/>
        </p:nvSpPr>
        <p:spPr>
          <a:xfrm>
            <a:off x="548640"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This is my mom.</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이 사람은 우리 엄마예요.</a:t>
            </a:r>
            <a:endParaRPr lang="ko-KR" sz="3400" dirty="0"/>
          </a:p>
        </p:txBody>
      </p:sp>
      <p:sp>
        <p:nvSpPr>
          <p:cNvPr id="8" name="S14-word183"/>
          <p:cNvSpPr txBox="1"/>
          <p:nvPr/>
        </p:nvSpPr>
        <p:spPr>
          <a:xfrm>
            <a:off x="6231636"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She is kind.</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그녀는 친절해요.</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초4 영어 물건 위치 묻고 답하기</dc:title>
  <dc:subject>KR22-G04-ENG-WHERE-L01</dc:subject>
  <dc:creator>education-ppt</dc:creator>
  <cp:lastModifiedBy>education-ppt</cp:lastModifiedBy>
  <cp:revision>1</cp:revision>
  <dcterms:created xsi:type="dcterms:W3CDTF">2026-10-26T08:55:49Z</dcterms:created>
  <dcterms:modified xsi:type="dcterms:W3CDTF">2026-10-26T08:55:49Z</dcterms:modified>
</cp:coreProperties>
</file>