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e1f8ae0-1633-0ad6-dff9-0a1e0a730960}">
          <p14:sldIdLst>
            <p14:sldId id="256"/>
            <p14:sldId id="257"/>
          </p14:sldIdLst>
        </p14:section>
        <p14:section name="개념" id="{831c0b9a-d92b-d0f8-049e-bf871c905d31}">
          <p14:sldIdLst>
            <p14:sldId id="258"/>
            <p14:sldId id="259"/>
            <p14:sldId id="260"/>
          </p14:sldIdLst>
        </p14:section>
        <p14:section name="연습" id="{af90ca6c-9645-a847-52cf-0b909714d8ed}">
          <p14:sldIdLst>
            <p14:sldId id="261"/>
            <p14:sldId id="262"/>
            <p14:sldId id="263"/>
            <p14:sldId id="264"/>
          </p14:sldIdLst>
        </p14:section>
        <p14:section name="확인" id="{58e7ae0f-c0b9-6cc9-c588-b6f991fd1f31}">
          <p14:sldIdLst>
            <p14:sldId id="265"/>
            <p14:sldId id="266"/>
          </p14:sldIdLst>
        </p14:section>
        <p14:section name="정리" id="{1b963739-cef9-e425-e880-0570dd929992}">
          <p14:sldIdLst>
            <p14:sldId id="267"/>
          </p14:sldIdLst>
        </p14:section>
        <p14:section name="보충" id="{76ee6284-4879-af80-ba6e-d7abead4a3f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이해와상호작용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물건 위치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물건 위치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물건 위치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위치 묻고 답하기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어디에 있는지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책상 위에 공이 있는 그림"/>
          <p:cNvSpPr/>
          <p:nvPr/>
        </p:nvSpPr>
        <p:spPr>
          <a:xfrm>
            <a:off x="8513064" y="1734617"/>
            <a:ext cx="2267712" cy="198425"/>
          </a:xfrm>
          <a:custGeom>
            <a:avLst/>
            <a:gdLst/>
            <a:ahLst/>
            <a:cxnLst/>
            <a:rect l="l" t="t" r="r" b="b"/>
            <a:pathLst>
              <a:path w="2267712" h="198425">
                <a:moveTo>
                  <a:pt x="0" y="198425"/>
                </a:moveTo>
                <a:lnTo>
                  <a:pt x="2267712" y="198425"/>
                </a:lnTo>
                <a:lnTo>
                  <a:pt x="22677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626450" y="1933042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525658" y="1933042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363456" y="1167689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286293" y="3066898"/>
            <a:ext cx="272125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0" name="S01-card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1" name="S01-cardtext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Where is the ~?로 물건이 어디 있는지 물어요.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It's on/in/under the ~.로 위치를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소개 떠올리기</a:t>
            </a:r>
            <a:endParaRPr lang="ko-KR" sz="4000" dirty="0"/>
          </a:p>
        </p:txBody>
      </p:sp>
      <p:sp>
        <p:nvSpPr>
          <p:cNvPr id="3" name="S02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말해 보세요.</a:t>
            </a:r>
            <a:endParaRPr lang="ko-KR" sz="3000" dirty="0"/>
          </a:p>
        </p:txBody>
      </p:sp>
      <p:sp>
        <p:nvSpPr>
          <p:cNvPr id="4" name="S02-chip1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11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가족사진의 엄마(아빠)를 소개해요.</a:t>
            </a:r>
            <a:endParaRPr lang="ko-KR" sz="3000" dirty="0"/>
          </a:p>
        </p:txBody>
      </p:sp>
      <p:sp>
        <p:nvSpPr>
          <p:cNvPr id="6" name="S02-chip1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13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grandma.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______ is kind.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on, in, under</a:t>
            </a:r>
            <a:endParaRPr lang="ko-KR" sz="40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어디에 있나요?</a:t>
            </a:r>
            <a:endParaRPr lang="ko-KR" sz="30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위에　·　in 안에　·　under 아래에</a:t>
            </a:r>
            <a:endParaRPr lang="ko-KR" sz="3000" dirty="0"/>
          </a:p>
        </p:txBody>
      </p:sp>
      <p:sp>
        <p:nvSpPr>
          <p:cNvPr id="6" name="S03-figure17" descr="책상 위에 공이 있는 그림"/>
          <p:cNvSpPr/>
          <p:nvPr/>
        </p:nvSpPr>
        <p:spPr>
          <a:xfrm>
            <a:off x="1156716" y="2955341"/>
            <a:ext cx="2267712" cy="198425"/>
          </a:xfrm>
          <a:custGeom>
            <a:avLst/>
            <a:gdLst/>
            <a:ahLst/>
            <a:cxnLst/>
            <a:rect l="l" t="t" r="r" b="b"/>
            <a:pathLst>
              <a:path w="2267712" h="198425">
                <a:moveTo>
                  <a:pt x="0" y="198425"/>
                </a:moveTo>
                <a:lnTo>
                  <a:pt x="2267712" y="198425"/>
                </a:lnTo>
                <a:lnTo>
                  <a:pt x="22677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18"/>
          <p:cNvSpPr/>
          <p:nvPr/>
        </p:nvSpPr>
        <p:spPr>
          <a:xfrm>
            <a:off x="1270102" y="3153766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mark19"/>
          <p:cNvSpPr/>
          <p:nvPr/>
        </p:nvSpPr>
        <p:spPr>
          <a:xfrm>
            <a:off x="3169310" y="3153766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3-mark20"/>
          <p:cNvSpPr/>
          <p:nvPr/>
        </p:nvSpPr>
        <p:spPr>
          <a:xfrm>
            <a:off x="2007108" y="2388413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3-mark21"/>
          <p:cNvSpPr/>
          <p:nvPr/>
        </p:nvSpPr>
        <p:spPr>
          <a:xfrm>
            <a:off x="929945" y="4287622"/>
            <a:ext cx="272125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1" name="S03-label22"/>
          <p:cNvSpPr txBox="1"/>
          <p:nvPr/>
        </p:nvSpPr>
        <p:spPr>
          <a:xfrm>
            <a:off x="548640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</a:t>
            </a:r>
            <a:endParaRPr lang="ko-KR" sz="2400" dirty="0"/>
          </a:p>
        </p:txBody>
      </p:sp>
      <p:sp>
        <p:nvSpPr>
          <p:cNvPr id="12" name="S03-figure23" descr="상자 안에 공이 있는 그림"/>
          <p:cNvSpPr/>
          <p:nvPr/>
        </p:nvSpPr>
        <p:spPr>
          <a:xfrm>
            <a:off x="5244084" y="3040380"/>
            <a:ext cx="1700784" cy="1247242"/>
          </a:xfrm>
          <a:custGeom>
            <a:avLst/>
            <a:gdLst/>
            <a:ahLst/>
            <a:cxnLst/>
            <a:rect l="l" t="t" r="r" b="b"/>
            <a:pathLst>
              <a:path w="1700784" h="1247242">
                <a:moveTo>
                  <a:pt x="0" y="1247242"/>
                </a:moveTo>
                <a:lnTo>
                  <a:pt x="1700784" y="1247242"/>
                </a:lnTo>
                <a:lnTo>
                  <a:pt x="1700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C9A0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mark24"/>
          <p:cNvSpPr/>
          <p:nvPr/>
        </p:nvSpPr>
        <p:spPr>
          <a:xfrm>
            <a:off x="5811012" y="3578962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3-mark25"/>
          <p:cNvSpPr/>
          <p:nvPr/>
        </p:nvSpPr>
        <p:spPr>
          <a:xfrm>
            <a:off x="5017313" y="4287622"/>
            <a:ext cx="2154326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5" name="S03-mark26"/>
          <p:cNvSpPr/>
          <p:nvPr/>
        </p:nvSpPr>
        <p:spPr>
          <a:xfrm flipH="1" flipV="1">
            <a:off x="4903927" y="2643530"/>
            <a:ext cx="340157" cy="3968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3-mark27"/>
          <p:cNvSpPr/>
          <p:nvPr/>
        </p:nvSpPr>
        <p:spPr>
          <a:xfrm flipV="1">
            <a:off x="6944868" y="2643530"/>
            <a:ext cx="340157" cy="3968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3-label28"/>
          <p:cNvSpPr txBox="1"/>
          <p:nvPr/>
        </p:nvSpPr>
        <p:spPr>
          <a:xfrm>
            <a:off x="4352544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</a:t>
            </a:r>
            <a:endParaRPr lang="ko-KR" sz="2400" dirty="0"/>
          </a:p>
        </p:txBody>
      </p:sp>
      <p:sp>
        <p:nvSpPr>
          <p:cNvPr id="18" name="S03-figure29" descr="책상 아래에 공이 있는 그림"/>
          <p:cNvSpPr/>
          <p:nvPr/>
        </p:nvSpPr>
        <p:spPr>
          <a:xfrm>
            <a:off x="8764524" y="2955341"/>
            <a:ext cx="2267712" cy="198425"/>
          </a:xfrm>
          <a:custGeom>
            <a:avLst/>
            <a:gdLst/>
            <a:ahLst/>
            <a:cxnLst/>
            <a:rect l="l" t="t" r="r" b="b"/>
            <a:pathLst>
              <a:path w="2267712" h="198425">
                <a:moveTo>
                  <a:pt x="0" y="198425"/>
                </a:moveTo>
                <a:lnTo>
                  <a:pt x="2267712" y="198425"/>
                </a:lnTo>
                <a:lnTo>
                  <a:pt x="22677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3-mark30"/>
          <p:cNvSpPr/>
          <p:nvPr/>
        </p:nvSpPr>
        <p:spPr>
          <a:xfrm>
            <a:off x="8877910" y="3153766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3-mark31"/>
          <p:cNvSpPr/>
          <p:nvPr/>
        </p:nvSpPr>
        <p:spPr>
          <a:xfrm>
            <a:off x="10777118" y="3153766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3-mark32"/>
          <p:cNvSpPr/>
          <p:nvPr/>
        </p:nvSpPr>
        <p:spPr>
          <a:xfrm>
            <a:off x="9614916" y="3720694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3-mark33"/>
          <p:cNvSpPr/>
          <p:nvPr/>
        </p:nvSpPr>
        <p:spPr>
          <a:xfrm>
            <a:off x="8537753" y="4287622"/>
            <a:ext cx="272125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23" name="S03-label34"/>
          <p:cNvSpPr txBox="1"/>
          <p:nvPr/>
        </p:nvSpPr>
        <p:spPr>
          <a:xfrm>
            <a:off x="8156448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under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~ the ~.</a:t>
            </a:r>
            <a:endParaRPr lang="ko-KR" sz="4000" dirty="0"/>
          </a:p>
        </p:txBody>
      </p:sp>
      <p:sp>
        <p:nvSpPr>
          <p:cNvPr id="3" name="S04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It's는 It is를 줄인 말이에요. ‘그것은’이라는 뜻이에요.</a:t>
            </a:r>
            <a:endParaRPr lang="ko-KR" sz="3000" dirty="0"/>
          </a:p>
        </p:txBody>
      </p:sp>
      <p:sp>
        <p:nvSpPr>
          <p:cNvPr id="5" name="S04-word37"/>
          <p:cNvSpPr txBox="1"/>
          <p:nvPr/>
        </p:nvSpPr>
        <p:spPr>
          <a:xfrm>
            <a:off x="548640" y="1325880"/>
            <a:ext cx="11091672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on the desk.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위에 있어요.</a:t>
            </a:r>
            <a:endParaRPr lang="ko-KR" sz="3400" dirty="0"/>
          </a:p>
        </p:txBody>
      </p:sp>
      <p:sp>
        <p:nvSpPr>
          <p:cNvPr id="6" name="S04-word38"/>
          <p:cNvSpPr txBox="1"/>
          <p:nvPr/>
        </p:nvSpPr>
        <p:spPr>
          <a:xfrm>
            <a:off x="548640" y="2682240"/>
            <a:ext cx="11091672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in the box.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안에 있어요.</a:t>
            </a:r>
            <a:endParaRPr lang="ko-KR" sz="3400" dirty="0"/>
          </a:p>
        </p:txBody>
      </p:sp>
      <p:sp>
        <p:nvSpPr>
          <p:cNvPr id="7" name="S04-word39"/>
          <p:cNvSpPr txBox="1"/>
          <p:nvPr/>
        </p:nvSpPr>
        <p:spPr>
          <a:xfrm>
            <a:off x="548640" y="4038600"/>
            <a:ext cx="11091672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under the chair.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아래에 있어요.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is the ball?</a:t>
            </a:r>
            <a:endParaRPr lang="ko-KR" sz="4000" dirty="0"/>
          </a:p>
        </p:txBody>
      </p:sp>
      <p:sp>
        <p:nvSpPr>
          <p:cNvPr id="3" name="S05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3000" dirty="0"/>
          </a:p>
        </p:txBody>
      </p:sp>
      <p:sp>
        <p:nvSpPr>
          <p:cNvPr id="4" name="S05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Where는 ‘어디’라는 뜻이에요. 장소로 대답해요.</a:t>
            </a:r>
            <a:endParaRPr lang="ko-KR" sz="3000" dirty="0"/>
          </a:p>
        </p:txBody>
      </p:sp>
      <p:sp>
        <p:nvSpPr>
          <p:cNvPr id="6" name="S05-figure43" descr="책상 아래에 공이 있는 그림"/>
          <p:cNvSpPr/>
          <p:nvPr/>
        </p:nvSpPr>
        <p:spPr>
          <a:xfrm>
            <a:off x="8468533" y="3197657"/>
            <a:ext cx="2267712" cy="198425"/>
          </a:xfrm>
          <a:custGeom>
            <a:avLst/>
            <a:gdLst/>
            <a:ahLst/>
            <a:cxnLst/>
            <a:rect l="l" t="t" r="r" b="b"/>
            <a:pathLst>
              <a:path w="2267712" h="198425">
                <a:moveTo>
                  <a:pt x="0" y="198425"/>
                </a:moveTo>
                <a:lnTo>
                  <a:pt x="2267712" y="198425"/>
                </a:lnTo>
                <a:lnTo>
                  <a:pt x="22677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5-mark44"/>
          <p:cNvSpPr/>
          <p:nvPr/>
        </p:nvSpPr>
        <p:spPr>
          <a:xfrm>
            <a:off x="8581918" y="3396082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45"/>
          <p:cNvSpPr/>
          <p:nvPr/>
        </p:nvSpPr>
        <p:spPr>
          <a:xfrm>
            <a:off x="10481127" y="3396082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46"/>
          <p:cNvSpPr/>
          <p:nvPr/>
        </p:nvSpPr>
        <p:spPr>
          <a:xfrm>
            <a:off x="9318925" y="3963010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5-mark47"/>
          <p:cNvSpPr/>
          <p:nvPr/>
        </p:nvSpPr>
        <p:spPr>
          <a:xfrm>
            <a:off x="8241762" y="4529938"/>
            <a:ext cx="272125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1" name="S05-passagebox48"/>
          <p:cNvSpPr/>
          <p:nvPr/>
        </p:nvSpPr>
        <p:spPr>
          <a:xfrm>
            <a:off x="548640" y="2011680"/>
            <a:ext cx="6650065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12" name="S05-passage49"/>
          <p:cNvSpPr txBox="1"/>
          <p:nvPr/>
        </p:nvSpPr>
        <p:spPr>
          <a:xfrm>
            <a:off x="822960" y="2194560"/>
            <a:ext cx="61014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Where is the ball?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under the desk.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있나요?</a:t>
            </a:r>
            <a:endParaRPr lang="ko-KR" sz="4000" dirty="0"/>
          </a:p>
        </p:txBody>
      </p:sp>
      <p:sp>
        <p:nvSpPr>
          <p:cNvPr id="3" name="S06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어디에 있는지 It's ~ the ~.로 말해요.</a:t>
            </a:r>
            <a:endParaRPr lang="ko-KR" sz="3000" dirty="0"/>
          </a:p>
        </p:txBody>
      </p:sp>
      <p:sp>
        <p:nvSpPr>
          <p:cNvPr id="4" name="S06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box 상자　·　chair 의자　·　desk 책상</a:t>
            </a:r>
            <a:endParaRPr lang="ko-KR" sz="3000" dirty="0"/>
          </a:p>
        </p:txBody>
      </p:sp>
      <p:sp>
        <p:nvSpPr>
          <p:cNvPr id="6" name="S06-figure53" descr="상자 위에 공이 있는 그림"/>
          <p:cNvSpPr/>
          <p:nvPr/>
        </p:nvSpPr>
        <p:spPr>
          <a:xfrm>
            <a:off x="1440180" y="3040380"/>
            <a:ext cx="1700784" cy="1247242"/>
          </a:xfrm>
          <a:custGeom>
            <a:avLst/>
            <a:gdLst/>
            <a:ahLst/>
            <a:cxnLst/>
            <a:rect l="l" t="t" r="r" b="b"/>
            <a:pathLst>
              <a:path w="1700784" h="1247242">
                <a:moveTo>
                  <a:pt x="0" y="1247242"/>
                </a:moveTo>
                <a:lnTo>
                  <a:pt x="1700784" y="1247242"/>
                </a:lnTo>
                <a:lnTo>
                  <a:pt x="1700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C9A0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54"/>
          <p:cNvSpPr/>
          <p:nvPr/>
        </p:nvSpPr>
        <p:spPr>
          <a:xfrm>
            <a:off x="2007108" y="2473452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55"/>
          <p:cNvSpPr/>
          <p:nvPr/>
        </p:nvSpPr>
        <p:spPr>
          <a:xfrm>
            <a:off x="1213409" y="4287622"/>
            <a:ext cx="2154326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9" name="S06-mark56"/>
          <p:cNvSpPr/>
          <p:nvPr/>
        </p:nvSpPr>
        <p:spPr>
          <a:xfrm>
            <a:off x="1440180" y="3238805"/>
            <a:ext cx="170078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6-label57"/>
          <p:cNvSpPr txBox="1"/>
          <p:nvPr/>
        </p:nvSpPr>
        <p:spPr>
          <a:xfrm>
            <a:off x="548640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1" name="S06-figure58" descr="의자 아래에 공이 있는 그림"/>
          <p:cNvSpPr/>
          <p:nvPr/>
        </p:nvSpPr>
        <p:spPr>
          <a:xfrm>
            <a:off x="5470855" y="3295498"/>
            <a:ext cx="1247242" cy="141732"/>
          </a:xfrm>
          <a:custGeom>
            <a:avLst/>
            <a:gdLst/>
            <a:ahLst/>
            <a:cxnLst/>
            <a:rect l="l" t="t" r="r" b="b"/>
            <a:pathLst>
              <a:path w="1247242" h="141732">
                <a:moveTo>
                  <a:pt x="0" y="141732"/>
                </a:moveTo>
                <a:lnTo>
                  <a:pt x="1247242" y="141732"/>
                </a:lnTo>
                <a:lnTo>
                  <a:pt x="12472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6-mark59"/>
          <p:cNvSpPr/>
          <p:nvPr/>
        </p:nvSpPr>
        <p:spPr>
          <a:xfrm>
            <a:off x="5470855" y="2360066"/>
            <a:ext cx="141732" cy="935431"/>
          </a:xfrm>
          <a:custGeom>
            <a:avLst/>
            <a:gdLst/>
            <a:ahLst/>
            <a:cxnLst/>
            <a:rect l="l" t="t" r="r" b="b"/>
            <a:pathLst>
              <a:path w="141732" h="935431">
                <a:moveTo>
                  <a:pt x="0" y="935431"/>
                </a:moveTo>
                <a:lnTo>
                  <a:pt x="141732" y="935431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6-mark60"/>
          <p:cNvSpPr/>
          <p:nvPr/>
        </p:nvSpPr>
        <p:spPr>
          <a:xfrm>
            <a:off x="5499202" y="3437230"/>
            <a:ext cx="113386" cy="850392"/>
          </a:xfrm>
          <a:custGeom>
            <a:avLst/>
            <a:gdLst/>
            <a:ahLst/>
            <a:cxnLst/>
            <a:rect l="l" t="t" r="r" b="b"/>
            <a:pathLst>
              <a:path w="113386" h="850392">
                <a:moveTo>
                  <a:pt x="0" y="850392"/>
                </a:moveTo>
                <a:lnTo>
                  <a:pt x="113386" y="850392"/>
                </a:lnTo>
                <a:lnTo>
                  <a:pt x="113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6-mark61"/>
          <p:cNvSpPr/>
          <p:nvPr/>
        </p:nvSpPr>
        <p:spPr>
          <a:xfrm>
            <a:off x="6576365" y="3437230"/>
            <a:ext cx="113386" cy="850392"/>
          </a:xfrm>
          <a:custGeom>
            <a:avLst/>
            <a:gdLst/>
            <a:ahLst/>
            <a:cxnLst/>
            <a:rect l="l" t="t" r="r" b="b"/>
            <a:pathLst>
              <a:path w="113386" h="850392">
                <a:moveTo>
                  <a:pt x="0" y="850392"/>
                </a:moveTo>
                <a:lnTo>
                  <a:pt x="113386" y="850392"/>
                </a:lnTo>
                <a:lnTo>
                  <a:pt x="113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6-mark62"/>
          <p:cNvSpPr/>
          <p:nvPr/>
        </p:nvSpPr>
        <p:spPr>
          <a:xfrm>
            <a:off x="5811012" y="3720694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6-mark63"/>
          <p:cNvSpPr/>
          <p:nvPr/>
        </p:nvSpPr>
        <p:spPr>
          <a:xfrm>
            <a:off x="5244084" y="4287622"/>
            <a:ext cx="170078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7" name="S06-label64"/>
          <p:cNvSpPr txBox="1"/>
          <p:nvPr/>
        </p:nvSpPr>
        <p:spPr>
          <a:xfrm>
            <a:off x="4352544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8" name="S06-figure65" descr="의자 위에 공이 있는 그림"/>
          <p:cNvSpPr/>
          <p:nvPr/>
        </p:nvSpPr>
        <p:spPr>
          <a:xfrm>
            <a:off x="9274759" y="3295498"/>
            <a:ext cx="1247242" cy="141732"/>
          </a:xfrm>
          <a:custGeom>
            <a:avLst/>
            <a:gdLst/>
            <a:ahLst/>
            <a:cxnLst/>
            <a:rect l="l" t="t" r="r" b="b"/>
            <a:pathLst>
              <a:path w="1247242" h="141732">
                <a:moveTo>
                  <a:pt x="0" y="141732"/>
                </a:moveTo>
                <a:lnTo>
                  <a:pt x="1247242" y="141732"/>
                </a:lnTo>
                <a:lnTo>
                  <a:pt x="12472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mark66"/>
          <p:cNvSpPr/>
          <p:nvPr/>
        </p:nvSpPr>
        <p:spPr>
          <a:xfrm>
            <a:off x="9274759" y="2360066"/>
            <a:ext cx="141732" cy="935431"/>
          </a:xfrm>
          <a:custGeom>
            <a:avLst/>
            <a:gdLst/>
            <a:ahLst/>
            <a:cxnLst/>
            <a:rect l="l" t="t" r="r" b="b"/>
            <a:pathLst>
              <a:path w="141732" h="935431">
                <a:moveTo>
                  <a:pt x="0" y="935431"/>
                </a:moveTo>
                <a:lnTo>
                  <a:pt x="141732" y="935431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6-mark67"/>
          <p:cNvSpPr/>
          <p:nvPr/>
        </p:nvSpPr>
        <p:spPr>
          <a:xfrm>
            <a:off x="9303106" y="3437230"/>
            <a:ext cx="113386" cy="850392"/>
          </a:xfrm>
          <a:custGeom>
            <a:avLst/>
            <a:gdLst/>
            <a:ahLst/>
            <a:cxnLst/>
            <a:rect l="l" t="t" r="r" b="b"/>
            <a:pathLst>
              <a:path w="113386" h="850392">
                <a:moveTo>
                  <a:pt x="0" y="850392"/>
                </a:moveTo>
                <a:lnTo>
                  <a:pt x="113386" y="850392"/>
                </a:lnTo>
                <a:lnTo>
                  <a:pt x="113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6-mark68"/>
          <p:cNvSpPr/>
          <p:nvPr/>
        </p:nvSpPr>
        <p:spPr>
          <a:xfrm>
            <a:off x="10380269" y="3437230"/>
            <a:ext cx="113386" cy="850392"/>
          </a:xfrm>
          <a:custGeom>
            <a:avLst/>
            <a:gdLst/>
            <a:ahLst/>
            <a:cxnLst/>
            <a:rect l="l" t="t" r="r" b="b"/>
            <a:pathLst>
              <a:path w="113386" h="850392">
                <a:moveTo>
                  <a:pt x="0" y="850392"/>
                </a:moveTo>
                <a:lnTo>
                  <a:pt x="113386" y="850392"/>
                </a:lnTo>
                <a:lnTo>
                  <a:pt x="113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6-mark69"/>
          <p:cNvSpPr/>
          <p:nvPr/>
        </p:nvSpPr>
        <p:spPr>
          <a:xfrm>
            <a:off x="9671609" y="2728570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6-mark70"/>
          <p:cNvSpPr/>
          <p:nvPr/>
        </p:nvSpPr>
        <p:spPr>
          <a:xfrm>
            <a:off x="9047988" y="4287622"/>
            <a:ext cx="170078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24" name="S06-label71"/>
          <p:cNvSpPr txBox="1"/>
          <p:nvPr/>
        </p:nvSpPr>
        <p:spPr>
          <a:xfrm>
            <a:off x="8156448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on일까요, under일까요?</a:t>
            </a:r>
            <a:endParaRPr lang="ko-KR" sz="4000" dirty="0"/>
          </a:p>
        </p:txBody>
      </p:sp>
      <p:sp>
        <p:nvSpPr>
          <p:cNvPr id="3" name="S07-card7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책상 아래에 있는데 친구가 It's on the desk.라고 말했어요.</a:t>
            </a:r>
            <a:endParaRPr lang="ko-KR" sz="3000" dirty="0"/>
          </a:p>
        </p:txBody>
      </p:sp>
      <p:sp>
        <p:nvSpPr>
          <p:cNvPr id="5" name="S07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말과 맞는 그림은? 어떻게 고쳐 말해야 할까요?</a:t>
            </a:r>
            <a:endParaRPr lang="ko-KR" sz="3000" dirty="0"/>
          </a:p>
        </p:txBody>
      </p:sp>
      <p:sp>
        <p:nvSpPr>
          <p:cNvPr id="7" name="S07-chip76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figure77" descr="책상 위에 공이 있는 그림"/>
          <p:cNvSpPr/>
          <p:nvPr/>
        </p:nvSpPr>
        <p:spPr>
          <a:xfrm>
            <a:off x="2496994" y="4094467"/>
            <a:ext cx="1466248" cy="128297"/>
          </a:xfrm>
          <a:custGeom>
            <a:avLst/>
            <a:gdLst/>
            <a:ahLst/>
            <a:cxnLst/>
            <a:rect l="l" t="t" r="r" b="b"/>
            <a:pathLst>
              <a:path w="1466248" h="128297">
                <a:moveTo>
                  <a:pt x="0" y="128297"/>
                </a:moveTo>
                <a:lnTo>
                  <a:pt x="1466248" y="128297"/>
                </a:lnTo>
                <a:lnTo>
                  <a:pt x="1466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7-mark78"/>
          <p:cNvSpPr/>
          <p:nvPr/>
        </p:nvSpPr>
        <p:spPr>
          <a:xfrm>
            <a:off x="2570306" y="4222763"/>
            <a:ext cx="91641" cy="733124"/>
          </a:xfrm>
          <a:custGeom>
            <a:avLst/>
            <a:gdLst/>
            <a:ahLst/>
            <a:cxnLst/>
            <a:rect l="l" t="t" r="r" b="b"/>
            <a:pathLst>
              <a:path w="91641" h="733124">
                <a:moveTo>
                  <a:pt x="0" y="733124"/>
                </a:moveTo>
                <a:lnTo>
                  <a:pt x="91641" y="733124"/>
                </a:lnTo>
                <a:lnTo>
                  <a:pt x="9164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mark79"/>
          <p:cNvSpPr/>
          <p:nvPr/>
        </p:nvSpPr>
        <p:spPr>
          <a:xfrm>
            <a:off x="3798289" y="4222763"/>
            <a:ext cx="91641" cy="733124"/>
          </a:xfrm>
          <a:custGeom>
            <a:avLst/>
            <a:gdLst/>
            <a:ahLst/>
            <a:cxnLst/>
            <a:rect l="l" t="t" r="r" b="b"/>
            <a:pathLst>
              <a:path w="91641" h="733124">
                <a:moveTo>
                  <a:pt x="0" y="733124"/>
                </a:moveTo>
                <a:lnTo>
                  <a:pt x="91641" y="733124"/>
                </a:lnTo>
                <a:lnTo>
                  <a:pt x="9164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7-mark80"/>
          <p:cNvSpPr/>
          <p:nvPr/>
        </p:nvSpPr>
        <p:spPr>
          <a:xfrm>
            <a:off x="3046837" y="3727905"/>
            <a:ext cx="366562" cy="366562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7-mark81"/>
          <p:cNvSpPr/>
          <p:nvPr/>
        </p:nvSpPr>
        <p:spPr>
          <a:xfrm>
            <a:off x="2350369" y="4955888"/>
            <a:ext cx="1759498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3" name="S07-chip82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4" name="S07-figure83" descr="책상 아래에 공이 있는 그림"/>
          <p:cNvSpPr/>
          <p:nvPr/>
        </p:nvSpPr>
        <p:spPr>
          <a:xfrm>
            <a:off x="8225710" y="4094467"/>
            <a:ext cx="1466248" cy="128297"/>
          </a:xfrm>
          <a:custGeom>
            <a:avLst/>
            <a:gdLst/>
            <a:ahLst/>
            <a:cxnLst/>
            <a:rect l="l" t="t" r="r" b="b"/>
            <a:pathLst>
              <a:path w="1466248" h="128297">
                <a:moveTo>
                  <a:pt x="0" y="128297"/>
                </a:moveTo>
                <a:lnTo>
                  <a:pt x="1466248" y="128297"/>
                </a:lnTo>
                <a:lnTo>
                  <a:pt x="1466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7-mark84"/>
          <p:cNvSpPr/>
          <p:nvPr/>
        </p:nvSpPr>
        <p:spPr>
          <a:xfrm>
            <a:off x="8299022" y="4222763"/>
            <a:ext cx="91641" cy="733124"/>
          </a:xfrm>
          <a:custGeom>
            <a:avLst/>
            <a:gdLst/>
            <a:ahLst/>
            <a:cxnLst/>
            <a:rect l="l" t="t" r="r" b="b"/>
            <a:pathLst>
              <a:path w="91641" h="733124">
                <a:moveTo>
                  <a:pt x="0" y="733124"/>
                </a:moveTo>
                <a:lnTo>
                  <a:pt x="91641" y="733124"/>
                </a:lnTo>
                <a:lnTo>
                  <a:pt x="9164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7-mark85"/>
          <p:cNvSpPr/>
          <p:nvPr/>
        </p:nvSpPr>
        <p:spPr>
          <a:xfrm>
            <a:off x="9527005" y="4222763"/>
            <a:ext cx="91641" cy="733124"/>
          </a:xfrm>
          <a:custGeom>
            <a:avLst/>
            <a:gdLst/>
            <a:ahLst/>
            <a:cxnLst/>
            <a:rect l="l" t="t" r="r" b="b"/>
            <a:pathLst>
              <a:path w="91641" h="733124">
                <a:moveTo>
                  <a:pt x="0" y="733124"/>
                </a:moveTo>
                <a:lnTo>
                  <a:pt x="91641" y="733124"/>
                </a:lnTo>
                <a:lnTo>
                  <a:pt x="9164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7-mark86"/>
          <p:cNvSpPr/>
          <p:nvPr/>
        </p:nvSpPr>
        <p:spPr>
          <a:xfrm>
            <a:off x="8775553" y="4589325"/>
            <a:ext cx="366562" cy="366562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7-mark87"/>
          <p:cNvSpPr/>
          <p:nvPr/>
        </p:nvSpPr>
        <p:spPr>
          <a:xfrm>
            <a:off x="8079085" y="4955888"/>
            <a:ext cx="1759498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08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말을 보기에서 골라 말해요.</a:t>
            </a:r>
            <a:endParaRPr lang="ko-KR" sz="3000" dirty="0"/>
          </a:p>
        </p:txBody>
      </p:sp>
      <p:sp>
        <p:nvSpPr>
          <p:cNvPr id="4" name="S08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　Where　·　on　·　under</a:t>
            </a:r>
            <a:endParaRPr lang="ko-KR" sz="3000" dirty="0"/>
          </a:p>
        </p:txBody>
      </p:sp>
      <p:sp>
        <p:nvSpPr>
          <p:cNvPr id="6" name="S08-chip9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9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______ is the ball?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in the box.</a:t>
            </a:r>
            <a:endParaRPr lang="ko-KR" sz="3000" dirty="0"/>
          </a:p>
        </p:txBody>
      </p:sp>
      <p:sp>
        <p:nvSpPr>
          <p:cNvPr id="8" name="S08-chip9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9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Where is the cat?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______ the bed. (아래)</a:t>
            </a:r>
            <a:endParaRPr lang="ko-KR" sz="3000" dirty="0"/>
          </a:p>
        </p:txBody>
      </p:sp>
      <p:sp>
        <p:nvSpPr>
          <p:cNvPr id="10" name="S08-chip9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9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Where is the bag?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______ the chair. (위)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숨긴 공 찾기 놀이</a:t>
            </a:r>
            <a:endParaRPr lang="ko-KR" sz="4000" dirty="0"/>
          </a:p>
        </p:txBody>
      </p:sp>
      <p:sp>
        <p:nvSpPr>
          <p:cNvPr id="3" name="S09-card97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98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Where is the ball?을 물었어요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대답을 듣고 공을 찾았어요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It's ~ the ~.로 대답했어요</a:t>
            </a:r>
            <a:endParaRPr lang="ko-KR" sz="3000" dirty="0"/>
          </a:p>
        </p:txBody>
      </p:sp>
      <p:sp>
        <p:nvSpPr>
          <p:cNvPr id="5" name="S09-stepno99"/>
          <p:cNvSpPr txBox="1"/>
          <p:nvPr/>
        </p:nvSpPr>
        <p:spPr>
          <a:xfrm>
            <a:off x="548640" y="22372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100"/>
          <p:cNvSpPr txBox="1"/>
          <p:nvPr/>
        </p:nvSpPr>
        <p:spPr>
          <a:xfrm>
            <a:off x="1325880" y="22372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공을 숨겨요.</a:t>
            </a:r>
            <a:endParaRPr lang="ko-KR" sz="3000" dirty="0"/>
          </a:p>
        </p:txBody>
      </p:sp>
      <p:sp>
        <p:nvSpPr>
          <p:cNvPr id="7" name="S09-stepno101"/>
          <p:cNvSpPr txBox="1"/>
          <p:nvPr/>
        </p:nvSpPr>
        <p:spPr>
          <a:xfrm>
            <a:off x="548640" y="29961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102"/>
          <p:cNvSpPr txBox="1"/>
          <p:nvPr/>
        </p:nvSpPr>
        <p:spPr>
          <a:xfrm>
            <a:off x="1325880" y="29504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 is the ball?이라고 물어요.</a:t>
            </a:r>
            <a:endParaRPr lang="ko-KR" sz="3000" dirty="0"/>
          </a:p>
        </p:txBody>
      </p:sp>
      <p:sp>
        <p:nvSpPr>
          <p:cNvPr id="9" name="S09-stepno103"/>
          <p:cNvSpPr txBox="1"/>
          <p:nvPr/>
        </p:nvSpPr>
        <p:spPr>
          <a:xfrm>
            <a:off x="548640" y="40446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104"/>
          <p:cNvSpPr txBox="1"/>
          <p:nvPr/>
        </p:nvSpPr>
        <p:spPr>
          <a:xfrm>
            <a:off x="1325880" y="40446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대답을 듣고 공을 찾아요.</a:t>
            </a:r>
            <a:endParaRPr lang="ko-KR" sz="3000" dirty="0"/>
          </a:p>
        </p:txBody>
      </p:sp>
      <p:sp>
        <p:nvSpPr>
          <p:cNvPr id="11" name="S09-stepno105"/>
          <p:cNvSpPr txBox="1"/>
          <p:nvPr/>
        </p:nvSpPr>
        <p:spPr>
          <a:xfrm>
            <a:off x="548640" y="4757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106"/>
          <p:cNvSpPr txBox="1"/>
          <p:nvPr/>
        </p:nvSpPr>
        <p:spPr>
          <a:xfrm>
            <a:off x="1325880" y="47579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바꿔서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①②③은 공의 위치를 문장으로 말해요.</a:t>
            </a:r>
            <a:endParaRPr lang="ko-KR" sz="3000" dirty="0"/>
          </a:p>
        </p:txBody>
      </p:sp>
      <p:sp>
        <p:nvSpPr>
          <p:cNvPr id="4" name="S10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공이 어디 있는지 영어로 물어봐요.</a:t>
            </a:r>
            <a:endParaRPr lang="ko-KR" sz="3000" dirty="0"/>
          </a:p>
        </p:txBody>
      </p:sp>
      <p:sp>
        <p:nvSpPr>
          <p:cNvPr id="6" name="S10-figure110" descr="의자 위에 공이 있는 그림"/>
          <p:cNvSpPr/>
          <p:nvPr/>
        </p:nvSpPr>
        <p:spPr>
          <a:xfrm>
            <a:off x="1666951" y="3295498"/>
            <a:ext cx="1247242" cy="141732"/>
          </a:xfrm>
          <a:custGeom>
            <a:avLst/>
            <a:gdLst/>
            <a:ahLst/>
            <a:cxnLst/>
            <a:rect l="l" t="t" r="r" b="b"/>
            <a:pathLst>
              <a:path w="1247242" h="141732">
                <a:moveTo>
                  <a:pt x="0" y="141732"/>
                </a:moveTo>
                <a:lnTo>
                  <a:pt x="1247242" y="141732"/>
                </a:lnTo>
                <a:lnTo>
                  <a:pt x="124724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0-mark111"/>
          <p:cNvSpPr/>
          <p:nvPr/>
        </p:nvSpPr>
        <p:spPr>
          <a:xfrm>
            <a:off x="1666951" y="2360066"/>
            <a:ext cx="141732" cy="935431"/>
          </a:xfrm>
          <a:custGeom>
            <a:avLst/>
            <a:gdLst/>
            <a:ahLst/>
            <a:cxnLst/>
            <a:rect l="l" t="t" r="r" b="b"/>
            <a:pathLst>
              <a:path w="141732" h="935431">
                <a:moveTo>
                  <a:pt x="0" y="935431"/>
                </a:moveTo>
                <a:lnTo>
                  <a:pt x="141732" y="935431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0-mark112"/>
          <p:cNvSpPr/>
          <p:nvPr/>
        </p:nvSpPr>
        <p:spPr>
          <a:xfrm>
            <a:off x="1695298" y="3437230"/>
            <a:ext cx="113386" cy="850392"/>
          </a:xfrm>
          <a:custGeom>
            <a:avLst/>
            <a:gdLst/>
            <a:ahLst/>
            <a:cxnLst/>
            <a:rect l="l" t="t" r="r" b="b"/>
            <a:pathLst>
              <a:path w="113386" h="850392">
                <a:moveTo>
                  <a:pt x="0" y="850392"/>
                </a:moveTo>
                <a:lnTo>
                  <a:pt x="113386" y="850392"/>
                </a:lnTo>
                <a:lnTo>
                  <a:pt x="113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0-mark113"/>
          <p:cNvSpPr/>
          <p:nvPr/>
        </p:nvSpPr>
        <p:spPr>
          <a:xfrm>
            <a:off x="2772461" y="3437230"/>
            <a:ext cx="113386" cy="850392"/>
          </a:xfrm>
          <a:custGeom>
            <a:avLst/>
            <a:gdLst/>
            <a:ahLst/>
            <a:cxnLst/>
            <a:rect l="l" t="t" r="r" b="b"/>
            <a:pathLst>
              <a:path w="113386" h="850392">
                <a:moveTo>
                  <a:pt x="0" y="850392"/>
                </a:moveTo>
                <a:lnTo>
                  <a:pt x="113386" y="850392"/>
                </a:lnTo>
                <a:lnTo>
                  <a:pt x="113386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0-mark114"/>
          <p:cNvSpPr/>
          <p:nvPr/>
        </p:nvSpPr>
        <p:spPr>
          <a:xfrm>
            <a:off x="2063801" y="2728570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0-mark115"/>
          <p:cNvSpPr/>
          <p:nvPr/>
        </p:nvSpPr>
        <p:spPr>
          <a:xfrm>
            <a:off x="1440180" y="4287622"/>
            <a:ext cx="170078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2" name="S10-label116"/>
          <p:cNvSpPr txBox="1"/>
          <p:nvPr/>
        </p:nvSpPr>
        <p:spPr>
          <a:xfrm>
            <a:off x="548640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3" name="S10-figure117" descr="상자 안에 공이 있는 그림"/>
          <p:cNvSpPr/>
          <p:nvPr/>
        </p:nvSpPr>
        <p:spPr>
          <a:xfrm>
            <a:off x="5244084" y="3040380"/>
            <a:ext cx="1700784" cy="1247242"/>
          </a:xfrm>
          <a:custGeom>
            <a:avLst/>
            <a:gdLst/>
            <a:ahLst/>
            <a:cxnLst/>
            <a:rect l="l" t="t" r="r" b="b"/>
            <a:pathLst>
              <a:path w="1700784" h="1247242">
                <a:moveTo>
                  <a:pt x="0" y="1247242"/>
                </a:moveTo>
                <a:lnTo>
                  <a:pt x="1700784" y="1247242"/>
                </a:lnTo>
                <a:lnTo>
                  <a:pt x="1700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C9A0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0-mark118"/>
          <p:cNvSpPr/>
          <p:nvPr/>
        </p:nvSpPr>
        <p:spPr>
          <a:xfrm>
            <a:off x="5811012" y="3578962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0-mark119"/>
          <p:cNvSpPr/>
          <p:nvPr/>
        </p:nvSpPr>
        <p:spPr>
          <a:xfrm>
            <a:off x="5017313" y="4287622"/>
            <a:ext cx="2154326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6" name="S10-mark120"/>
          <p:cNvSpPr/>
          <p:nvPr/>
        </p:nvSpPr>
        <p:spPr>
          <a:xfrm flipH="1" flipV="1">
            <a:off x="4903927" y="2643530"/>
            <a:ext cx="340157" cy="3968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10-mark121"/>
          <p:cNvSpPr/>
          <p:nvPr/>
        </p:nvSpPr>
        <p:spPr>
          <a:xfrm flipV="1">
            <a:off x="6944868" y="2643530"/>
            <a:ext cx="340157" cy="39685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10-label122"/>
          <p:cNvSpPr txBox="1"/>
          <p:nvPr/>
        </p:nvSpPr>
        <p:spPr>
          <a:xfrm>
            <a:off x="4352544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9" name="S10-figure123" descr="책상 아래에 공이 있는 그림"/>
          <p:cNvSpPr/>
          <p:nvPr/>
        </p:nvSpPr>
        <p:spPr>
          <a:xfrm>
            <a:off x="8764524" y="2955341"/>
            <a:ext cx="2267712" cy="198425"/>
          </a:xfrm>
          <a:custGeom>
            <a:avLst/>
            <a:gdLst/>
            <a:ahLst/>
            <a:cxnLst/>
            <a:rect l="l" t="t" r="r" b="b"/>
            <a:pathLst>
              <a:path w="2267712" h="198425">
                <a:moveTo>
                  <a:pt x="0" y="198425"/>
                </a:moveTo>
                <a:lnTo>
                  <a:pt x="2267712" y="198425"/>
                </a:lnTo>
                <a:lnTo>
                  <a:pt x="22677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0-mark124"/>
          <p:cNvSpPr/>
          <p:nvPr/>
        </p:nvSpPr>
        <p:spPr>
          <a:xfrm>
            <a:off x="8877910" y="3153766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0-mark125"/>
          <p:cNvSpPr/>
          <p:nvPr/>
        </p:nvSpPr>
        <p:spPr>
          <a:xfrm>
            <a:off x="10777118" y="3153766"/>
            <a:ext cx="141732" cy="1133856"/>
          </a:xfrm>
          <a:custGeom>
            <a:avLst/>
            <a:gdLst/>
            <a:ahLst/>
            <a:cxnLst/>
            <a:rect l="l" t="t" r="r" b="b"/>
            <a:pathLst>
              <a:path w="141732" h="1133856">
                <a:moveTo>
                  <a:pt x="0" y="1133856"/>
                </a:moveTo>
                <a:lnTo>
                  <a:pt x="141732" y="1133856"/>
                </a:lnTo>
                <a:lnTo>
                  <a:pt x="141732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0-mark126"/>
          <p:cNvSpPr/>
          <p:nvPr/>
        </p:nvSpPr>
        <p:spPr>
          <a:xfrm>
            <a:off x="9614916" y="3720694"/>
            <a:ext cx="566928" cy="566928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0-mark127"/>
          <p:cNvSpPr/>
          <p:nvPr/>
        </p:nvSpPr>
        <p:spPr>
          <a:xfrm>
            <a:off x="8537753" y="4287622"/>
            <a:ext cx="272125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24" name="S10-label128"/>
          <p:cNvSpPr txBox="1"/>
          <p:nvPr/>
        </p:nvSpPr>
        <p:spPr>
          <a:xfrm>
            <a:off x="8156448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그림을 골라요</a:t>
            </a:r>
            <a:endParaRPr lang="ko-KR" sz="4000" dirty="0"/>
          </a:p>
        </p:txBody>
      </p:sp>
      <p:sp>
        <p:nvSpPr>
          <p:cNvPr id="3" name="S12-card12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3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그림은 어느 것일까요? 어떻게 알았나요?</a:t>
            </a:r>
            <a:endParaRPr lang="ko-KR" sz="3000" dirty="0"/>
          </a:p>
        </p:txBody>
      </p:sp>
      <p:sp>
        <p:nvSpPr>
          <p:cNvPr id="5" name="S12-chip131"/>
          <p:cNvSpPr txBox="1"/>
          <p:nvPr/>
        </p:nvSpPr>
        <p:spPr>
          <a:xfrm>
            <a:off x="548640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figure132" descr="의자 위에 공이 있는 그림"/>
          <p:cNvSpPr/>
          <p:nvPr/>
        </p:nvSpPr>
        <p:spPr>
          <a:xfrm>
            <a:off x="3227752" y="2090266"/>
            <a:ext cx="800260" cy="90939"/>
          </a:xfrm>
          <a:custGeom>
            <a:avLst/>
            <a:gdLst/>
            <a:ahLst/>
            <a:cxnLst/>
            <a:rect l="l" t="t" r="r" b="b"/>
            <a:pathLst>
              <a:path w="800260" h="90939">
                <a:moveTo>
                  <a:pt x="0" y="90939"/>
                </a:moveTo>
                <a:lnTo>
                  <a:pt x="800260" y="90939"/>
                </a:lnTo>
                <a:lnTo>
                  <a:pt x="80026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2-mark133"/>
          <p:cNvSpPr/>
          <p:nvPr/>
        </p:nvSpPr>
        <p:spPr>
          <a:xfrm>
            <a:off x="3227752" y="1490071"/>
            <a:ext cx="90939" cy="600195"/>
          </a:xfrm>
          <a:custGeom>
            <a:avLst/>
            <a:gdLst/>
            <a:ahLst/>
            <a:cxnLst/>
            <a:rect l="l" t="t" r="r" b="b"/>
            <a:pathLst>
              <a:path w="90939" h="600195">
                <a:moveTo>
                  <a:pt x="0" y="600195"/>
                </a:moveTo>
                <a:lnTo>
                  <a:pt x="90939" y="600195"/>
                </a:lnTo>
                <a:lnTo>
                  <a:pt x="90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2-mark134"/>
          <p:cNvSpPr/>
          <p:nvPr/>
        </p:nvSpPr>
        <p:spPr>
          <a:xfrm>
            <a:off x="3245940" y="2181205"/>
            <a:ext cx="72751" cy="545632"/>
          </a:xfrm>
          <a:custGeom>
            <a:avLst/>
            <a:gdLst/>
            <a:ahLst/>
            <a:cxnLst/>
            <a:rect l="l" t="t" r="r" b="b"/>
            <a:pathLst>
              <a:path w="72751" h="545632">
                <a:moveTo>
                  <a:pt x="0" y="545632"/>
                </a:moveTo>
                <a:lnTo>
                  <a:pt x="72751" y="545632"/>
                </a:lnTo>
                <a:lnTo>
                  <a:pt x="72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2-mark135"/>
          <p:cNvSpPr/>
          <p:nvPr/>
        </p:nvSpPr>
        <p:spPr>
          <a:xfrm>
            <a:off x="3937074" y="2181205"/>
            <a:ext cx="72751" cy="545632"/>
          </a:xfrm>
          <a:custGeom>
            <a:avLst/>
            <a:gdLst/>
            <a:ahLst/>
            <a:cxnLst/>
            <a:rect l="l" t="t" r="r" b="b"/>
            <a:pathLst>
              <a:path w="72751" h="545632">
                <a:moveTo>
                  <a:pt x="0" y="545632"/>
                </a:moveTo>
                <a:lnTo>
                  <a:pt x="72751" y="545632"/>
                </a:lnTo>
                <a:lnTo>
                  <a:pt x="72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2-mark136"/>
          <p:cNvSpPr/>
          <p:nvPr/>
        </p:nvSpPr>
        <p:spPr>
          <a:xfrm>
            <a:off x="3482380" y="1726512"/>
            <a:ext cx="363755" cy="363755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2-mark137"/>
          <p:cNvSpPr/>
          <p:nvPr/>
        </p:nvSpPr>
        <p:spPr>
          <a:xfrm>
            <a:off x="3082250" y="2726837"/>
            <a:ext cx="109126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2" name="S12-chip138"/>
          <p:cNvSpPr txBox="1"/>
          <p:nvPr/>
        </p:nvSpPr>
        <p:spPr>
          <a:xfrm>
            <a:off x="6277356" y="182499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3" name="S12-figure139" descr="책상 아래에 공이 있는 그림"/>
          <p:cNvSpPr/>
          <p:nvPr/>
        </p:nvSpPr>
        <p:spPr>
          <a:xfrm>
            <a:off x="8629089" y="1872013"/>
            <a:ext cx="1455019" cy="127314"/>
          </a:xfrm>
          <a:custGeom>
            <a:avLst/>
            <a:gdLst/>
            <a:ahLst/>
            <a:cxnLst/>
            <a:rect l="l" t="t" r="r" b="b"/>
            <a:pathLst>
              <a:path w="1455019" h="127314">
                <a:moveTo>
                  <a:pt x="0" y="127314"/>
                </a:moveTo>
                <a:lnTo>
                  <a:pt x="1455019" y="127314"/>
                </a:lnTo>
                <a:lnTo>
                  <a:pt x="145501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2-mark140"/>
          <p:cNvSpPr/>
          <p:nvPr/>
        </p:nvSpPr>
        <p:spPr>
          <a:xfrm>
            <a:off x="8701839" y="1999328"/>
            <a:ext cx="90939" cy="727509"/>
          </a:xfrm>
          <a:custGeom>
            <a:avLst/>
            <a:gdLst/>
            <a:ahLst/>
            <a:cxnLst/>
            <a:rect l="l" t="t" r="r" b="b"/>
            <a:pathLst>
              <a:path w="90939" h="727509">
                <a:moveTo>
                  <a:pt x="0" y="727509"/>
                </a:moveTo>
                <a:lnTo>
                  <a:pt x="90939" y="727509"/>
                </a:lnTo>
                <a:lnTo>
                  <a:pt x="90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2-mark141"/>
          <p:cNvSpPr/>
          <p:nvPr/>
        </p:nvSpPr>
        <p:spPr>
          <a:xfrm>
            <a:off x="9920418" y="1999328"/>
            <a:ext cx="90939" cy="727509"/>
          </a:xfrm>
          <a:custGeom>
            <a:avLst/>
            <a:gdLst/>
            <a:ahLst/>
            <a:cxnLst/>
            <a:rect l="l" t="t" r="r" b="b"/>
            <a:pathLst>
              <a:path w="90939" h="727509">
                <a:moveTo>
                  <a:pt x="0" y="727509"/>
                </a:moveTo>
                <a:lnTo>
                  <a:pt x="90939" y="727509"/>
                </a:lnTo>
                <a:lnTo>
                  <a:pt x="90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2-mark142"/>
          <p:cNvSpPr/>
          <p:nvPr/>
        </p:nvSpPr>
        <p:spPr>
          <a:xfrm>
            <a:off x="9174721" y="2363082"/>
            <a:ext cx="363755" cy="363755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2-mark143"/>
          <p:cNvSpPr/>
          <p:nvPr/>
        </p:nvSpPr>
        <p:spPr>
          <a:xfrm>
            <a:off x="8483587" y="2726837"/>
            <a:ext cx="1746023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18" name="S12-chip144"/>
          <p:cNvSpPr txBox="1"/>
          <p:nvPr/>
        </p:nvSpPr>
        <p:spPr>
          <a:xfrm>
            <a:off x="548640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9" name="S12-figure145" descr="의자 아래에 공이 있는 그림"/>
          <p:cNvSpPr/>
          <p:nvPr/>
        </p:nvSpPr>
        <p:spPr>
          <a:xfrm>
            <a:off x="3227752" y="3929734"/>
            <a:ext cx="800260" cy="90939"/>
          </a:xfrm>
          <a:custGeom>
            <a:avLst/>
            <a:gdLst/>
            <a:ahLst/>
            <a:cxnLst/>
            <a:rect l="l" t="t" r="r" b="b"/>
            <a:pathLst>
              <a:path w="800260" h="90939">
                <a:moveTo>
                  <a:pt x="0" y="90939"/>
                </a:moveTo>
                <a:lnTo>
                  <a:pt x="800260" y="90939"/>
                </a:lnTo>
                <a:lnTo>
                  <a:pt x="80026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2-mark146"/>
          <p:cNvSpPr/>
          <p:nvPr/>
        </p:nvSpPr>
        <p:spPr>
          <a:xfrm>
            <a:off x="3227752" y="3329539"/>
            <a:ext cx="90939" cy="600195"/>
          </a:xfrm>
          <a:custGeom>
            <a:avLst/>
            <a:gdLst/>
            <a:ahLst/>
            <a:cxnLst/>
            <a:rect l="l" t="t" r="r" b="b"/>
            <a:pathLst>
              <a:path w="90939" h="600195">
                <a:moveTo>
                  <a:pt x="0" y="600195"/>
                </a:moveTo>
                <a:lnTo>
                  <a:pt x="90939" y="600195"/>
                </a:lnTo>
                <a:lnTo>
                  <a:pt x="90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2-mark147"/>
          <p:cNvSpPr/>
          <p:nvPr/>
        </p:nvSpPr>
        <p:spPr>
          <a:xfrm>
            <a:off x="3245940" y="4020673"/>
            <a:ext cx="72751" cy="545632"/>
          </a:xfrm>
          <a:custGeom>
            <a:avLst/>
            <a:gdLst/>
            <a:ahLst/>
            <a:cxnLst/>
            <a:rect l="l" t="t" r="r" b="b"/>
            <a:pathLst>
              <a:path w="72751" h="545632">
                <a:moveTo>
                  <a:pt x="0" y="545632"/>
                </a:moveTo>
                <a:lnTo>
                  <a:pt x="72751" y="545632"/>
                </a:lnTo>
                <a:lnTo>
                  <a:pt x="72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2-mark148"/>
          <p:cNvSpPr/>
          <p:nvPr/>
        </p:nvSpPr>
        <p:spPr>
          <a:xfrm>
            <a:off x="3937074" y="4020673"/>
            <a:ext cx="72751" cy="545632"/>
          </a:xfrm>
          <a:custGeom>
            <a:avLst/>
            <a:gdLst/>
            <a:ahLst/>
            <a:cxnLst/>
            <a:rect l="l" t="t" r="r" b="b"/>
            <a:pathLst>
              <a:path w="72751" h="545632">
                <a:moveTo>
                  <a:pt x="0" y="545632"/>
                </a:moveTo>
                <a:lnTo>
                  <a:pt x="72751" y="545632"/>
                </a:lnTo>
                <a:lnTo>
                  <a:pt x="72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2-mark149"/>
          <p:cNvSpPr/>
          <p:nvPr/>
        </p:nvSpPr>
        <p:spPr>
          <a:xfrm>
            <a:off x="3446005" y="4202550"/>
            <a:ext cx="363755" cy="363755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2-mark150"/>
          <p:cNvSpPr/>
          <p:nvPr/>
        </p:nvSpPr>
        <p:spPr>
          <a:xfrm>
            <a:off x="3082250" y="4566305"/>
            <a:ext cx="1091264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25" name="S12-chip151"/>
          <p:cNvSpPr txBox="1"/>
          <p:nvPr/>
        </p:nvSpPr>
        <p:spPr>
          <a:xfrm>
            <a:off x="6277356" y="366445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26" name="S12-figure152" descr="책상 위에 공이 있는 그림"/>
          <p:cNvSpPr/>
          <p:nvPr/>
        </p:nvSpPr>
        <p:spPr>
          <a:xfrm>
            <a:off x="8629089" y="3711481"/>
            <a:ext cx="1455019" cy="127314"/>
          </a:xfrm>
          <a:custGeom>
            <a:avLst/>
            <a:gdLst/>
            <a:ahLst/>
            <a:cxnLst/>
            <a:rect l="l" t="t" r="r" b="b"/>
            <a:pathLst>
              <a:path w="1455019" h="127314">
                <a:moveTo>
                  <a:pt x="0" y="127314"/>
                </a:moveTo>
                <a:lnTo>
                  <a:pt x="1455019" y="127314"/>
                </a:lnTo>
                <a:lnTo>
                  <a:pt x="145501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12-mark153"/>
          <p:cNvSpPr/>
          <p:nvPr/>
        </p:nvSpPr>
        <p:spPr>
          <a:xfrm>
            <a:off x="8701839" y="3838796"/>
            <a:ext cx="90939" cy="727509"/>
          </a:xfrm>
          <a:custGeom>
            <a:avLst/>
            <a:gdLst/>
            <a:ahLst/>
            <a:cxnLst/>
            <a:rect l="l" t="t" r="r" b="b"/>
            <a:pathLst>
              <a:path w="90939" h="727509">
                <a:moveTo>
                  <a:pt x="0" y="727509"/>
                </a:moveTo>
                <a:lnTo>
                  <a:pt x="90939" y="727509"/>
                </a:lnTo>
                <a:lnTo>
                  <a:pt x="90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12-mark154"/>
          <p:cNvSpPr/>
          <p:nvPr/>
        </p:nvSpPr>
        <p:spPr>
          <a:xfrm>
            <a:off x="9920418" y="3838796"/>
            <a:ext cx="90939" cy="727509"/>
          </a:xfrm>
          <a:custGeom>
            <a:avLst/>
            <a:gdLst/>
            <a:ahLst/>
            <a:cxnLst/>
            <a:rect l="l" t="t" r="r" b="b"/>
            <a:pathLst>
              <a:path w="90939" h="727509">
                <a:moveTo>
                  <a:pt x="0" y="727509"/>
                </a:moveTo>
                <a:lnTo>
                  <a:pt x="90939" y="727509"/>
                </a:lnTo>
                <a:lnTo>
                  <a:pt x="90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C9A27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12-mark155"/>
          <p:cNvSpPr/>
          <p:nvPr/>
        </p:nvSpPr>
        <p:spPr>
          <a:xfrm>
            <a:off x="9174721" y="3347727"/>
            <a:ext cx="363755" cy="363755"/>
          </a:xfrm>
          <a:prstGeom prst="ellipse">
            <a:avLst/>
          </a:pr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12-mark156"/>
          <p:cNvSpPr/>
          <p:nvPr/>
        </p:nvSpPr>
        <p:spPr>
          <a:xfrm>
            <a:off x="8483587" y="4566305"/>
            <a:ext cx="1746023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5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 is the ~?로 어디 있는지 묻고,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on/in/under the ~.로 대답해요.</a:t>
            </a:r>
            <a:endParaRPr lang="ko-KR" sz="3000" dirty="0"/>
          </a:p>
        </p:txBody>
      </p:sp>
      <p:sp>
        <p:nvSpPr>
          <p:cNvPr id="5" name="S13-chip15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위 on, 안 in, 아래 under</a:t>
            </a:r>
            <a:endParaRPr lang="ko-KR" sz="2400" dirty="0"/>
          </a:p>
        </p:txBody>
      </p:sp>
      <p:sp>
        <p:nvSpPr>
          <p:cNvPr id="6" name="S13-chip16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It's 빼고 낱말만 말하기</a:t>
            </a:r>
            <a:endParaRPr lang="ko-KR" sz="2400" dirty="0"/>
          </a:p>
        </p:txBody>
      </p:sp>
      <p:sp>
        <p:nvSpPr>
          <p:cNvPr id="7" name="S13-text16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6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on, in, under의 뜻은?</a:t>
            </a:r>
            <a:endParaRPr lang="ko-KR" sz="2400" dirty="0"/>
          </a:p>
        </p:txBody>
      </p:sp>
      <p:sp>
        <p:nvSpPr>
          <p:cNvPr id="9" name="S13-text16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공이 어디 있는지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묻기</a:t>
            </a:r>
            <a:endParaRPr lang="ko-KR" sz="2400" dirty="0"/>
          </a:p>
        </p:txBody>
      </p:sp>
      <p:sp>
        <p:nvSpPr>
          <p:cNvPr id="10" name="S13-text16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책상 아래의 공을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400" dirty="0"/>
          </a:p>
        </p:txBody>
      </p:sp>
      <p:sp>
        <p:nvSpPr>
          <p:cNvPr id="11" name="S13-text16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시각 묻고 답하기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가족 소개 다시 하기</a:t>
            </a:r>
            <a:endParaRPr lang="ko-KR" sz="4000" dirty="0"/>
          </a:p>
        </p:txBody>
      </p:sp>
      <p:sp>
        <p:nvSpPr>
          <p:cNvPr id="3" name="S14-card1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남자 가족은 He, 여자 가족은 She로 말해요.</a:t>
            </a:r>
            <a:endParaRPr lang="ko-KR" sz="3000" dirty="0"/>
          </a:p>
        </p:txBody>
      </p:sp>
      <p:sp>
        <p:nvSpPr>
          <p:cNvPr id="5" name="S14-word168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dad.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사람은 우리 아빠예요.</a:t>
            </a:r>
            <a:endParaRPr lang="ko-KR" sz="3400" dirty="0"/>
          </a:p>
        </p:txBody>
      </p:sp>
      <p:sp>
        <p:nvSpPr>
          <p:cNvPr id="6" name="S14-word169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 is tall.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그는 키가 커요.</a:t>
            </a:r>
            <a:endParaRPr lang="ko-KR" sz="3400" dirty="0"/>
          </a:p>
        </p:txBody>
      </p:sp>
      <p:sp>
        <p:nvSpPr>
          <p:cNvPr id="7" name="S14-word170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is my mom.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사람은 우리 엄마예요.</a:t>
            </a:r>
            <a:endParaRPr lang="ko-KR" sz="3400" dirty="0"/>
          </a:p>
        </p:txBody>
      </p:sp>
      <p:sp>
        <p:nvSpPr>
          <p:cNvPr id="8" name="S14-word171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 is kind.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그녀는 친절해요.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물건 위치 묻고 답하기</dc:title>
  <dc:subject>KR22-G04-ENG-WHERE-L01</dc:subject>
  <dc:creator>education-ppt</dc:creator>
  <cp:lastModifiedBy>education-ppt</cp:lastModifiedBy>
  <cp:revision>1</cp:revision>
  <dcterms:created xsi:type="dcterms:W3CDTF">2026-10-26T09:07:48Z</dcterms:created>
  <dcterms:modified xsi:type="dcterms:W3CDTF">2026-10-26T09:07:48Z</dcterms:modified>
</cp:coreProperties>
</file>