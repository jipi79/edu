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6473bc8-e960-ec68-8b1d-06bcceecb777}">
          <p14:sldIdLst>
            <p14:sldId id="256"/>
            <p14:sldId id="257"/>
          </p14:sldIdLst>
        </p14:section>
        <p14:section name="개념" id="{1eb21be6-b003-b062-98f4-c6da041b12ce}">
          <p14:sldIdLst>
            <p14:sldId id="258"/>
            <p14:sldId id="259"/>
            <p14:sldId id="261"/>
            <p14:sldId id="262"/>
          </p14:sldIdLst>
        </p14:section>
        <p14:section name="연습" id="{628b58f3-3cab-dbb8-20bd-79d1a66b90d9}">
          <p14:sldIdLst>
            <p14:sldId id="260"/>
            <p14:sldId id="263"/>
            <p14:sldId id="264"/>
            <p14:sldId id="265"/>
          </p14:sldIdLst>
        </p14:section>
        <p14:section name="개념" id="{6c66acfe-a7ff-415b-1a86-010e3eb85499}">
          <p14:sldIdLst/>
        </p14:section>
        <p14:section name="연습" id="{b016a958-1ace-85cc-c9d7-0d575ee658d2}">
          <p14:sldIdLst/>
        </p14:section>
        <p14:section name="확인" id="{f5c71bd8-2e47-637c-5645-f2a3214d799a}">
          <p14:sldIdLst>
            <p14:sldId id="266"/>
            <p14:sldId id="267"/>
            <p14:sldId id="268"/>
          </p14:sldIdLst>
        </p14:section>
        <p14:section name="정리" id="{cbde9d25-557a-28c3-a3d7-82d741876c42}">
          <p14:sldIdLst>
            <p14:sldId id="269"/>
          </p14:sldIdLst>
        </p14:section>
        <p14:section name="보충" id="{e7c682a4-5c2b-47fd-4d9f-78310e11f06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가족을 영어로 소개하는 상황에 관심을 갖게 합니다.
시간: 약 2분
이렇게 말해 보세요
- “친구에게 우리 가족사진을 보여 준다면 뭐라고 말할까? 우리말로 먼저 해 볼래?”
- “오늘은 영어로 가족을 소개하고, 어떤 사람인지 한 가지 더 말해 볼 거야.”
예상 답
- “이 사람은 우리 엄마야.” “엄마는 친절해.”
주의
- 수업 전에 교과서 디지털 자료나 사전 앱의 발음 듣기로 오늘 낱말과 표현(mom, dad, brother, sister, grandma, grandpa, tall, kind, funny, This is my mom. He is tall. She is kind.)을 미리 들어 두세요. 부모님 발음이 완벽하지 않아도 괜찮습니다.
- 소리 자료 없이 진행하면 바른 소리를 확인하기 어렵습니다. 헷갈리는 표현은 기록해 두었다가 소리 자료로 나중에 확인합니다.
- 가족사진을 준비해 두세요. 없으면 아이가 이면지에 가족을 간단히 그리게 합니다. 가족 구성은 집마다 다르므로, 아이의 실제 가족을 소개하게 하고 없는 가족을 억지로 말하게 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확인(나를 소개하는 말, 짧은 문장 읽기)]
목적: 3학년 ‘이름 묻고 답하기’에서 배운 나를 소개하는 말과, 지난 차시 ‘짧은 문장 읽고 쓰기’의 문장 읽기를 확인합니다. 이 차시는 계획상 바로 앞 차시가 없지만, 나를 소개하는 말을 가족 소개로 넓히므로 꼭 필요합니다.
시간: 약 3분
이렇게 말해 보세요
- “①, What's your name?”
- “②의 문장을 읽고 무슨 뜻인지 말해 줄래?”
정답
- ① I'm (아이 이름). 또는 My name is (아이 이름).
- ② I have a dog. 나는 개가 있어요.
막히면
- 부모가 I'm ○○.를 먼저 말해 주고 따라 하게 합니다.
- 둘 다 스스로 하지 못하면 S15(보충)를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가족 낱말]
목적: 가족 낱말 여섯 개를 듣고 따라 말하며 뜻을 압니다(M2).
시간: 약 3분
이렇게 말해 보세요
- “소리를 듣고 따라 말해 보자. mom, dad, grandma, grandpa, brother, sister.”
- “brother는 형도, 오빠도, 남동생도 다 brother야. sister는 누나, 언니, 여동생이 다 sister야.”
- “엄마(아빠)가 우리말로 말하면 영어로 말해 줘. 할아버지! 여동생! 아빠!”
예상 답
- “grandpa.” “sister.” “dad.”
막히면
- 가족사진에서 한 사람씩 가리키며 부모가 먼저 영어 낱말을 말하고 따라 하게 합니다.
- grandma와 grandpa를 헷갈리면 끝소리(ma는 mom처럼, pa는 dad를 부르는 말 papa처럼)를 연결해 줍니다.
주의
- 영어는 나이가 많고 적음을 나누지 않고 brother, sister 하나로 말합니다(M2).
- mom, dad는 집에서 부르는 말입니다. 교과서에 mother, father가 나오면 같은 뜻이라고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This is my ~.로 가족 소개하기]
목적: This is my ~.로 가족을 소개하는 문장을 듣고 따라 말합니다.
시간: 약 3분
이렇게 말해 보세요
- “사진 속 엄마를 손으로 가리키면서 말해 볼게. This is my mom. 따라 해 봐.”
- “This is는 ‘이 사람은 ~이에요’, my는 ‘나의, 우리’라는 뜻이야.”
- “이번엔 다른 가족을 가리키면서 말해 볼래? This is my ….”
예상 답
- “This is my dad.” “This is my sister.”
막히면
- This is my를 한 덩어리로 여러 번 말한 뒤, 끝에 가족 낱말만 바꿔 붙이게 합니다.
- This의 th는 혀끝을 윗니와 아랫니 사이에 살짝 내밀고 냅니다. 소리 자료를 듣고 따라 하게 합니다.
주의
- 사람을 소개할 때 손가락으로 찌르듯 가리키기보다 손바닥을 펴서 가리키면 더 공손합니다.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우리말을 듣고 This is my ~.로 말하기]
목적: 우리말 가족 이름을 보고 영어 낱말을 떠올려 This is my ~.로 말합니다.
시간: 약 3분
이렇게 말해 보세요
- “①의 할머니를 소개한다면 영어로 어떻게 말할까?”
- “②, ③, ④도 해 보자.”
- “③ 여동생은 어떤 낱말이었지? brother야, sister야?”
정답
- ① This is my grandma. ② This is my dad. ③ This is my sister. ④ This is my grandpa.
막히면
- S03의 낱말 카드를 다시 보여 주고 같은 뜻의 낱말을 찾게 합니다.
- ③에서 다른 낱말을 찾으면 “여동생은 여자 형제야.”라고 힌트를 줍니다(M2).
주의
- 여기까지가 가족 낱말과 This is my ~.를 배우는 부분입니다. 아이가 지치면 여기서 나누어 다음 날 S06부터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He와 She 구별하기]
목적: 남자 가족은 He, 여자 가족은 She로 가리킨다는 것을 압니다(M1).
시간: 약 3분
이렇게 말해 보세요
- “가족을 소개한 다음에 그 사람 이야기를 더 할 때는 이름 대신 He나 She라고 해.”
- “He는 남자, She는 여자를 가리켜. 소리를 듣고 따라 해 볼까? He, She.”
- “dad는 He야, She야? grandma는? brother는?”
예상 답
- “dad는 He예요.” “grandma는 She예요.” “brother는 He예요.”
막히면
- 왼쪽 줄(He)은 모두 남자, 오른쪽 줄(She)은 모두 여자라는 것을 짚으며 함께 읽습니다.
- 부모가 가족 낱말을 말하면 아이가 손을 들어 왼쪽(He) 또는 오른쪽(She)을 가리키는 놀이를 합니다.
주의
- 우리말에서는 ‘그’, ‘그녀’를 잘 쓰지 않아서 He와 She를 헷갈리기 쉽습니다. 소개할 때마다 “남자야, 여자야?”를 먼저 묻습니다(M1).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He is ~. / She is ~.로 한 가지 더 말하기]
목적: He is ~. / She is ~.로 가족이 어떤 사람인지 한 가지를 더 말합니다(M3).
시간: 약 3분
이렇게 말해 보세요
- “소리를 듣고 따라 해 보자. He is tall. 키가 크다는 뜻이야. She is kind. 친절하다는 뜻이야. He is funny. 재미있다는 뜻이야.”
- “엄마(아빠)가 먼저 소개해 볼게. This is my dad. He is tall. 두 문장을 이어서 말했지?”
- “이번엔 네가 사진 속 엄마를 소개해 볼래? This is my mom. 그다음은?”
예상 답
- “She is kind.” “She is funny.”
막히면
- He is, She is를 한 덩어리로 먼저 말한 뒤, 끝에 tall, kind, funny를 붙이게 합니다(M3).
- tall은 손을 머리 위로 높이 올리고, kind는 손으로 하트를 만들고, funny는 웃는 몸짓을 하며 말하면 기억하기 쉽습니다.
주의
- is를 빼고 He tall.처럼 말하면 “He is tall.”이라고 다시 말해 주고 따라 하게 합니다(M3).
- kind, funny는 남자, 여자 모두에게 씁니다. 바뀌는 것은 He와 She뿐입니다.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오개념 비교(He와 She)]
목적: 소개한 가족에 맞게 He와 She를 골라야 한다는 것을 비교합니다(M1).
시간: 약 2분
이렇게 말해 보세요
- “두 친구가 엄마를 소개했어. 둘째 문장이 달라. 어디가 다르지?”
- “엄마는 남자야, 여자야? 그러면 알맞게 말한 쪽은?”
정답
- 알맞게 말한 쪽은 나입니다. 엄마(mom)는 여자이므로 She를 씁니다. 가처럼 He라고 하면 남자를 가리키게 됩니다.
막히면
- S06의 표를 다시 보여 주고 mom이 어느 줄에 있는지 찾게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He·She 빈칸 채우기]
목적: 앞 문장의 가족 낱말을 보고 He와 She를 골라 두 문장을 이어 말합니다(M1, M3).
시간: 약 3분
이렇게 말해 보세요
- “엄마(아빠)가 읽어 줄게. 빈칸에서는 ‘음~’ 하고 멈출 거야. ① This is my dad. 음~ is tall.”
- “빈칸에 He가 들어갈까, She가 들어갈까? 왜?”
- “이제 빈칸을 채워서 두 문장을 이어 말해 봐.”
정답
- ① He (dad는 남자) → This is my dad. He is tall.
- ② She (sister는 여자) → This is my sister. She is funny.
- ③ She (grandma는 여자) → This is my grandma. She is kind.
막히면
- 앞 문장의 가족 낱말에 손가락을 대고 “남자야, 여자야?”를 먼저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내 가족 소개하기]
목적: 아이의 실제 가족을 This is my ~.와 He/She is ~.로 소개합니다.
시간: 약 4분
이렇게 말해 보세요
- “사진(그림) 속 가족 한 사람을 가리키며 소개해 볼래? 먼저 This is my ….”
- “그 사람은 남자야, 여자야? 그러면 He야, She야? 어떤 사람인지 한 가지 더 말해 줘.”
- “다른 가족도 소개해 보자.” (2~3명)
정답
- 예: This is my dad. He is funny. / This is my grandma. She is kind. / This is my brother. He is tall.
- 기준: 가족 낱말을 바르게 말하고, He와 She를 알맞게 골라 is를 넣어 말하면 맞습니다. 꾸미는 말은 아이가 고른 것이면 됩니다.
막히면
- 부모가 먼저 자기 가족 한 명을 소개해서 보여 줍니다.
- 첫 문장만 말하면 “남자야, 여자야?”라고 물어 둘째 문장을 이어 가게 합니다.
주의
- 가족 구성은 집마다 다릅니다. 함께 사는 가족, 아끼는 가족 누구든 소개하게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가족 소개하기]
목적: 도움 없이 가족 낱말과 This is my ~.를 쓰고, He와 She를 알맞게 골라 말하는지 확인합니다.
시간: 약 4분
이렇게 말해 보세요
- “이번에는 혼자 해 볼래? ①부터 영어 두 문장으로 소개해 줘.”
- “②, ③도 해 보자.”
정답
- ① This is my mom. She is kind.
- ② This is my grandpa. He is tall.
- ③ This is my brother. He is funny.
- 기준: 가족 낱말, He/She, is를 모두 알맞게 말하면 맞습니다. 소리가 조금 서툴러도 알맞은 표현을 골라 말했으면 맞은 것으로 봅니다.
막히면
- 바로 알려 주지 말고 “남자야, 여자야?”라고만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대답 예와 피드백]
목적: 아이의 대답을 예와 비교하고 흔한 실수를 확인합니다.
시간: 약 2분
이렇게 말해 보세요
- “네가 한 말과 왼쪽 예를 비교해 보자. He와 She를 알맞게 골랐어?”
- “오른쪽처럼 말하면 어디가 어색할까?”
예상 답
- “엄마는 여자니까 She예요.” “is를 넣어서 He is tall.이에요.”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
목적: 처음 보는 형식에서 소개한 가족에 맞는 He/She 문장을 고르는지 확인합니다.
시간: 약 2분
이렇게 말해 보세요
- “엄마(아빠)가 가, 나, 다를 읽어 줄게. She is kind. He is kind. I'm kind.”
- “This is my grandpa. 다음에 이어 말할 문장은 어느 것일까? 어떻게 알았어?”
- “이번에는 This is my sister. 다음에는?”
정답
- This is my grandpa. → 나(He is kind.). 할아버지는 남자이므로 He를 씁니다. 다(I'm kind.)는 나 자신을 말하는 문장입니다.
- This is my sister. → 가(She is kind.)
막히면
- S06의 표를 다시 보여 주고 grandpa와 sister가 어느 줄에 있는지 찾게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복습을 알려 줍니다.
시간: 약 2분
이렇게 말해 보세요
- “가족을 소개할 때 어떻게 시작하지?”
- “He와 She는 어떻게 골라?”
예상 답
- “This is my ~.요.” “남자는 He, 여자는 She요.”
정답
- ① grandma, brother ② He (dad는 남자) ③ 예: This is my mom. She is kind.
주의
- 가족사진을 보며 날마다 한 사람씩 영어로 소개해 보면 좋은 복습이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선수 학습 보충(나를 소개하는 말, 짧은 문장 읽기)]
목적: S02에서 나를 소개하는 말이나 짧은 문장 읽기가 흔들리면, 가족을 소개하기 전에 먼저 다집니다.
시간: 약 5분
이렇게 말해 보세요
- “소리를 듣고 따라 말해 보자.” (교과서 디지털 자료나 사전 앱의 소리를 함께 듣습니다.)
- “엄마(아빠)가 물어볼게. What's your name?”
- “아래 두 문장을 짚으면서 읽고 뜻을 말해 볼래?”
정답
- I'm (아이 이름). 또는 My name is (아이 이름). / I have a dog. 나는 개가 있어요. / I like jam. 나는 잼을 좋아해요.
막히면
- 부모가 먼저 말하고 아이가 따라 말하는 것부터 다시 합니다.
주의
- 이 차시는 계획상 바로 앞 차시가 없습니다. 보충 뒤에도 자기 이름을 넣어 말하지 못하면 3학년 ‘이름 묻고 답하기’(KR22-G03-ENG-NAME-L01)를, 짧은 문장을 읽지 못하면 ‘짧은 문장 읽고 쓰기’(KR22-G04-ENG-ILIKE-L01)를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이해와상호작용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영어 · 가족 소개하기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가족 소개하기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영어 · 가족 소개하기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가족 소개하기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우리 가족을 영어로</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어떻게 소개할까요?</a:t>
            </a:r>
            <a:endParaRPr lang="ko-KR" sz="30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This is my mom.</a:t>
            </a:r>
            <a:endParaRPr lang="ko-KR" sz="34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She is kind.</a:t>
            </a:r>
            <a:endParaRPr lang="ko-KR" sz="3400" dirty="0"/>
          </a:p>
        </p:txBody>
      </p:sp>
      <p:sp>
        <p:nvSpPr>
          <p:cNvPr id="6" name="S01-card3"/>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7" name="S01-cardtext4"/>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This is my ~.로 가족을 소개해요.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He is ~. / She is ~.로 한 가지 더 말해요.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나를 소개하는 말 떠올리기</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①은 영어로 대답하고, ②는 읽고 뜻을 말해요.</a:t>
            </a:r>
            <a:endParaRPr lang="ko-KR" sz="3000" dirty="0"/>
          </a:p>
        </p:txBody>
      </p:sp>
      <p:sp>
        <p:nvSpPr>
          <p:cNvPr id="4" name="S02-chip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7"/>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What's your name?이라고 물어요.</a:t>
            </a:r>
            <a:endParaRPr lang="ko-KR" sz="3000" dirty="0"/>
          </a:p>
        </p:txBody>
      </p:sp>
      <p:sp>
        <p:nvSpPr>
          <p:cNvPr id="6" name="S02-chip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9"/>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I have a dog.</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가족 낱말</a:t>
            </a:r>
            <a:endParaRPr lang="ko-KR" sz="4000" dirty="0"/>
          </a:p>
        </p:txBody>
      </p:sp>
      <p:sp>
        <p:nvSpPr>
          <p:cNvPr id="3" name="S03-card1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brother는 남자 형제, sister는 여자 형제예요.</a:t>
            </a:r>
            <a:endParaRPr lang="ko-KR" sz="3000" dirty="0"/>
          </a:p>
        </p:txBody>
      </p:sp>
      <p:sp>
        <p:nvSpPr>
          <p:cNvPr id="5" name="S03-word12"/>
          <p:cNvSpPr txBox="1"/>
          <p:nvPr/>
        </p:nvSpPr>
        <p:spPr>
          <a:xfrm>
            <a:off x="548640"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mom</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엄마</a:t>
            </a:r>
            <a:endParaRPr lang="ko-KR" sz="3400" dirty="0"/>
          </a:p>
        </p:txBody>
      </p:sp>
      <p:sp>
        <p:nvSpPr>
          <p:cNvPr id="6" name="S03-word13"/>
          <p:cNvSpPr txBox="1"/>
          <p:nvPr/>
        </p:nvSpPr>
        <p:spPr>
          <a:xfrm>
            <a:off x="4337304"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dad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아빠</a:t>
            </a:r>
            <a:endParaRPr lang="ko-KR" sz="3400" dirty="0"/>
          </a:p>
        </p:txBody>
      </p:sp>
      <p:sp>
        <p:nvSpPr>
          <p:cNvPr id="7" name="S03-word14"/>
          <p:cNvSpPr txBox="1"/>
          <p:nvPr/>
        </p:nvSpPr>
        <p:spPr>
          <a:xfrm>
            <a:off x="8125968"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grandma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할머니</a:t>
            </a:r>
            <a:endParaRPr lang="ko-KR" sz="3400" dirty="0"/>
          </a:p>
        </p:txBody>
      </p:sp>
      <p:sp>
        <p:nvSpPr>
          <p:cNvPr id="8" name="S03-word15"/>
          <p:cNvSpPr txBox="1"/>
          <p:nvPr/>
        </p:nvSpPr>
        <p:spPr>
          <a:xfrm>
            <a:off x="548640"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grandpa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할아버지</a:t>
            </a:r>
            <a:endParaRPr lang="ko-KR" sz="3400" dirty="0"/>
          </a:p>
        </p:txBody>
      </p:sp>
      <p:sp>
        <p:nvSpPr>
          <p:cNvPr id="9" name="S03-word16"/>
          <p:cNvSpPr txBox="1"/>
          <p:nvPr/>
        </p:nvSpPr>
        <p:spPr>
          <a:xfrm>
            <a:off x="4337304"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brother</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형, 오빠, 남동생</a:t>
            </a:r>
            <a:endParaRPr lang="ko-KR" sz="3400" dirty="0"/>
          </a:p>
        </p:txBody>
      </p:sp>
      <p:sp>
        <p:nvSpPr>
          <p:cNvPr id="10" name="S03-word17"/>
          <p:cNvSpPr txBox="1"/>
          <p:nvPr/>
        </p:nvSpPr>
        <p:spPr>
          <a:xfrm>
            <a:off x="8125968"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sister</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누나, 언니, 여동생</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This is my ~.</a:t>
            </a:r>
            <a:endParaRPr lang="ko-KR" sz="4000" dirty="0"/>
          </a:p>
        </p:txBody>
      </p:sp>
      <p:sp>
        <p:nvSpPr>
          <p:cNvPr id="3" name="S04-card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가족을 가리키며 This is my 다음에 가족 낱말을 말해요.</a:t>
            </a:r>
            <a:endParaRPr lang="ko-KR" sz="3000" dirty="0"/>
          </a:p>
        </p:txBody>
      </p:sp>
      <p:sp>
        <p:nvSpPr>
          <p:cNvPr id="5" name="S04-word20"/>
          <p:cNvSpPr txBox="1"/>
          <p:nvPr/>
        </p:nvSpPr>
        <p:spPr>
          <a:xfrm>
            <a:off x="548640" y="134874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This is my mom.</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이 사람은 우리 엄마예요.</a:t>
            </a:r>
            <a:endParaRPr lang="ko-KR" sz="3400" dirty="0"/>
          </a:p>
        </p:txBody>
      </p:sp>
      <p:sp>
        <p:nvSpPr>
          <p:cNvPr id="6" name="S04-word21"/>
          <p:cNvSpPr txBox="1"/>
          <p:nvPr/>
        </p:nvSpPr>
        <p:spPr>
          <a:xfrm>
            <a:off x="548640" y="336042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This is my brother.</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이 사람은 우리 형(오빠, 남동생)이에요.</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누구일까요?</a:t>
            </a:r>
            <a:endParaRPr lang="ko-KR" sz="4000" dirty="0"/>
          </a:p>
        </p:txBody>
      </p:sp>
      <p:sp>
        <p:nvSpPr>
          <p:cNvPr id="3" name="S05-text2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 가족을 소개한다면? This is my ~.로 말해요.</a:t>
            </a:r>
            <a:endParaRPr lang="ko-KR" sz="3000" dirty="0"/>
          </a:p>
        </p:txBody>
      </p:sp>
      <p:sp>
        <p:nvSpPr>
          <p:cNvPr id="4" name="S05-card23"/>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5-cardtext2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mom　dad　brother　sister　grandma　grandpa</a:t>
            </a:r>
            <a:endParaRPr lang="ko-KR" sz="3000" dirty="0"/>
          </a:p>
        </p:txBody>
      </p:sp>
      <p:sp>
        <p:nvSpPr>
          <p:cNvPr id="6" name="S05-chip25"/>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5-text26"/>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할머니</a:t>
            </a:r>
            <a:endParaRPr lang="ko-KR" sz="3000" dirty="0"/>
          </a:p>
        </p:txBody>
      </p:sp>
      <p:sp>
        <p:nvSpPr>
          <p:cNvPr id="8" name="S05-chip27"/>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5-text28"/>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아빠</a:t>
            </a:r>
            <a:endParaRPr lang="ko-KR" sz="3000" dirty="0"/>
          </a:p>
        </p:txBody>
      </p:sp>
      <p:sp>
        <p:nvSpPr>
          <p:cNvPr id="10" name="S05-chip29"/>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5-text30"/>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여동생</a:t>
            </a:r>
            <a:endParaRPr lang="ko-KR" sz="3000" dirty="0"/>
          </a:p>
        </p:txBody>
      </p:sp>
      <p:sp>
        <p:nvSpPr>
          <p:cNvPr id="12" name="S05-chip31"/>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3" name="S05-text32"/>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할아버지</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He와 She</a:t>
            </a:r>
            <a:endParaRPr lang="ko-KR" sz="4000" dirty="0"/>
          </a:p>
        </p:txBody>
      </p:sp>
      <p:sp>
        <p:nvSpPr>
          <p:cNvPr id="3" name="S06-card3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6-cardtext3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남자 가족은 He, 여자 가족은 She로 말해요.</a:t>
            </a:r>
            <a:endParaRPr lang="ko-KR" sz="3000" dirty="0"/>
          </a:p>
        </p:txBody>
      </p:sp>
      <p:graphicFrame>
        <p:nvGraphicFramePr>
          <p:cNvPr id="7" name="S06-table35"/>
          <p:cNvGraphicFramePr>
            <a:graphicFrameLocks noGrp="1"/>
          </p:cNvGraphicFramePr>
          <p:nvPr>
            <p:extLst>
              <p:ext uri="{D42A27DB-BD31-4B8C-83A1-F6EECF244321}">
                <p14:modId xmlns:p14="http://schemas.microsoft.com/office/powerpoint/2010/main" val="1579011935"/>
              </p:ext>
            </p:extLst>
          </p:nvPr>
        </p:nvGraphicFramePr>
        <p:xfrm>
          <a:off x="2894076" y="1963420"/>
          <a:ext cx="6400800" cy="914400"/>
        </p:xfrm>
        <a:graphic>
          <a:graphicData uri="http://schemas.openxmlformats.org/drawingml/2006/table">
            <a:tbl>
              <a:tblPr/>
              <a:tblGrid>
                <a:gridCol w="3200400"/>
                <a:gridCol w="3200400"/>
              </a:tblGrid>
              <a:tr h="629920">
                <a:tc>
                  <a:txBody>
                    <a:bodyPr/>
                    <a:lstStyle/>
                    <a:p>
                      <a:pPr eaLnBrk="0" algn="ctr" indent="0" marL="0">
                        <a:buNone/>
                      </a:pPr>
                      <a:r>
                        <a:rPr lang="en-US" sz="3200" b="1" dirty="0">
                          <a:solidFill>
                            <a:srgbClr val="1F2937"/>
                          </a:solidFill>
                          <a:latin typeface="맑은 고딕" pitchFamily="34" charset="0"/>
                          <a:ea typeface="맑은 고딕" pitchFamily="34" charset="-122"/>
                          <a:cs typeface="맑은 고딕" pitchFamily="34" charset="-120"/>
                        </a:rPr>
                        <a:t>He (남자)</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3200" b="1" dirty="0">
                          <a:solidFill>
                            <a:srgbClr val="1F2937"/>
                          </a:solidFill>
                          <a:latin typeface="맑은 고딕" pitchFamily="34" charset="0"/>
                          <a:ea typeface="맑은 고딕" pitchFamily="34" charset="-122"/>
                          <a:cs typeface="맑은 고딕" pitchFamily="34" charset="-120"/>
                        </a:rPr>
                        <a:t>She (여자)</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629920">
                <a:tc>
                  <a:txBody>
                    <a:bodyPr/>
                    <a:lstStyle/>
                    <a:p>
                      <a:pPr eaLnBrk="0" algn="ctr" indent="0" marL="0">
                        <a:buNone/>
                      </a:pPr>
                      <a:r>
                        <a:rPr lang="en-US" sz="3200" dirty="0">
                          <a:solidFill>
                            <a:srgbClr val="1F2937"/>
                          </a:solidFill>
                          <a:latin typeface="맑은 고딕" pitchFamily="34" charset="0"/>
                          <a:ea typeface="맑은 고딕" pitchFamily="34" charset="-122"/>
                          <a:cs typeface="맑은 고딕" pitchFamily="34" charset="-120"/>
                        </a:rPr>
                        <a:t>dad</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3200" dirty="0">
                          <a:solidFill>
                            <a:srgbClr val="1F2937"/>
                          </a:solidFill>
                          <a:latin typeface="맑은 고딕" pitchFamily="34" charset="0"/>
                          <a:ea typeface="맑은 고딕" pitchFamily="34" charset="-122"/>
                          <a:cs typeface="맑은 고딕" pitchFamily="34" charset="-120"/>
                        </a:rPr>
                        <a:t>mom</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629920">
                <a:tc>
                  <a:txBody>
                    <a:bodyPr/>
                    <a:lstStyle/>
                    <a:p>
                      <a:pPr eaLnBrk="0" algn="ctr" indent="0" marL="0">
                        <a:buNone/>
                      </a:pPr>
                      <a:r>
                        <a:rPr lang="en-US" sz="3200" dirty="0">
                          <a:solidFill>
                            <a:srgbClr val="1F2937"/>
                          </a:solidFill>
                          <a:latin typeface="맑은 고딕" pitchFamily="34" charset="0"/>
                          <a:ea typeface="맑은 고딕" pitchFamily="34" charset="-122"/>
                          <a:cs typeface="맑은 고딕" pitchFamily="34" charset="-120"/>
                        </a:rPr>
                        <a:t>grandpa</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3200" dirty="0">
                          <a:solidFill>
                            <a:srgbClr val="1F2937"/>
                          </a:solidFill>
                          <a:latin typeface="맑은 고딕" pitchFamily="34" charset="0"/>
                          <a:ea typeface="맑은 고딕" pitchFamily="34" charset="-122"/>
                          <a:cs typeface="맑은 고딕" pitchFamily="34" charset="-120"/>
                        </a:rPr>
                        <a:t>grandma</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629920">
                <a:tc>
                  <a:txBody>
                    <a:bodyPr/>
                    <a:lstStyle/>
                    <a:p>
                      <a:pPr eaLnBrk="0" algn="ctr" indent="0" marL="0">
                        <a:buNone/>
                      </a:pPr>
                      <a:r>
                        <a:rPr lang="en-US" sz="3200" dirty="0">
                          <a:solidFill>
                            <a:srgbClr val="1F2937"/>
                          </a:solidFill>
                          <a:latin typeface="맑은 고딕" pitchFamily="34" charset="0"/>
                          <a:ea typeface="맑은 고딕" pitchFamily="34" charset="-122"/>
                          <a:cs typeface="맑은 고딕" pitchFamily="34" charset="-120"/>
                        </a:rPr>
                        <a:t>brother</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3200" dirty="0">
                          <a:solidFill>
                            <a:srgbClr val="1F2937"/>
                          </a:solidFill>
                          <a:latin typeface="맑은 고딕" pitchFamily="34" charset="0"/>
                          <a:ea typeface="맑은 고딕" pitchFamily="34" charset="-122"/>
                          <a:cs typeface="맑은 고딕" pitchFamily="34" charset="-120"/>
                        </a:rPr>
                        <a:t>sister</a:t>
                      </a:r>
                      <a:endParaRPr lang="en-US" sz="32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He is ~. / She is ~.</a:t>
            </a:r>
            <a:endParaRPr lang="ko-KR" sz="4000" dirty="0"/>
          </a:p>
        </p:txBody>
      </p:sp>
      <p:sp>
        <p:nvSpPr>
          <p:cNvPr id="3" name="S07-card3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7-cardtext3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This is my dad. He is tall.처럼 이어 말해요.</a:t>
            </a:r>
            <a:endParaRPr lang="ko-KR" sz="3000" dirty="0"/>
          </a:p>
        </p:txBody>
      </p:sp>
      <p:sp>
        <p:nvSpPr>
          <p:cNvPr id="5" name="S07-word38"/>
          <p:cNvSpPr txBox="1"/>
          <p:nvPr/>
        </p:nvSpPr>
        <p:spPr>
          <a:xfrm>
            <a:off x="548640" y="1325880"/>
            <a:ext cx="11091672" cy="1082040"/>
          </a:xfrm>
          <a:prstGeom prst="roundRect">
            <a:avLst>
              <a:gd name="adj" fmla="val 11831"/>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 is tall.</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그는 키가 커요.</a:t>
            </a:r>
            <a:endParaRPr lang="ko-KR" sz="3400" dirty="0"/>
          </a:p>
        </p:txBody>
      </p:sp>
      <p:sp>
        <p:nvSpPr>
          <p:cNvPr id="6" name="S07-word39"/>
          <p:cNvSpPr txBox="1"/>
          <p:nvPr/>
        </p:nvSpPr>
        <p:spPr>
          <a:xfrm>
            <a:off x="548640" y="2682240"/>
            <a:ext cx="11091672" cy="1082040"/>
          </a:xfrm>
          <a:prstGeom prst="roundRect">
            <a:avLst>
              <a:gd name="adj" fmla="val 11831"/>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She is kind.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그녀는 친절해요.</a:t>
            </a:r>
            <a:endParaRPr lang="ko-KR" sz="3400" dirty="0"/>
          </a:p>
        </p:txBody>
      </p:sp>
      <p:sp>
        <p:nvSpPr>
          <p:cNvPr id="7" name="S07-word40"/>
          <p:cNvSpPr txBox="1"/>
          <p:nvPr/>
        </p:nvSpPr>
        <p:spPr>
          <a:xfrm>
            <a:off x="548640" y="4038600"/>
            <a:ext cx="11091672" cy="1082040"/>
          </a:xfrm>
          <a:prstGeom prst="roundRect">
            <a:avLst>
              <a:gd name="adj" fmla="val 11831"/>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He is funny.</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그는 재미있어요.</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He일까요, She일까요?</a:t>
            </a:r>
            <a:endParaRPr lang="ko-KR" sz="4000" dirty="0"/>
          </a:p>
        </p:txBody>
      </p:sp>
      <p:sp>
        <p:nvSpPr>
          <p:cNvPr id="3" name="S08-card4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4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두 친구가 엄마를 이렇게 소개했어요.</a:t>
            </a:r>
            <a:endParaRPr lang="ko-KR" sz="3000" dirty="0"/>
          </a:p>
        </p:txBody>
      </p:sp>
      <p:sp>
        <p:nvSpPr>
          <p:cNvPr id="5" name="S08-card4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4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알맞게 말한 쪽은 어디일까요? 왜 그렇게 생각해요?</a:t>
            </a:r>
            <a:endParaRPr lang="ko-KR" sz="3000" dirty="0"/>
          </a:p>
        </p:txBody>
      </p:sp>
      <p:sp>
        <p:nvSpPr>
          <p:cNvPr id="7" name="S08-chip4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8-text46"/>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mom.</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He is kind.</a:t>
            </a:r>
            <a:endParaRPr lang="ko-KR" sz="3000" dirty="0"/>
          </a:p>
        </p:txBody>
      </p:sp>
      <p:sp>
        <p:nvSpPr>
          <p:cNvPr id="9" name="S08-chip4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8-text48"/>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mom.</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She is kind.</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He와 She를 넣어 말해요</a:t>
            </a:r>
            <a:endParaRPr lang="ko-KR" sz="4000" dirty="0"/>
          </a:p>
        </p:txBody>
      </p:sp>
      <p:sp>
        <p:nvSpPr>
          <p:cNvPr id="3" name="S09-text4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빈칸에 He나 She를 넣어 말해요.</a:t>
            </a:r>
            <a:endParaRPr lang="ko-KR" sz="3000" dirty="0"/>
          </a:p>
        </p:txBody>
      </p:sp>
      <p:sp>
        <p:nvSpPr>
          <p:cNvPr id="4" name="S09-card50"/>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9-cardtext5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남자 가족은 He, 여자 가족은 She</a:t>
            </a:r>
            <a:endParaRPr lang="ko-KR" sz="3000" dirty="0"/>
          </a:p>
        </p:txBody>
      </p:sp>
      <p:sp>
        <p:nvSpPr>
          <p:cNvPr id="6" name="S09-chip52"/>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9-text53"/>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dad. ______ is tall.</a:t>
            </a:r>
            <a:endParaRPr lang="ko-KR" sz="3000" dirty="0"/>
          </a:p>
        </p:txBody>
      </p:sp>
      <p:sp>
        <p:nvSpPr>
          <p:cNvPr id="8" name="S09-chip54"/>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9-text55"/>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sister. ______ is funny.</a:t>
            </a:r>
            <a:endParaRPr lang="ko-KR" sz="3000" dirty="0"/>
          </a:p>
        </p:txBody>
      </p:sp>
      <p:sp>
        <p:nvSpPr>
          <p:cNvPr id="10" name="S09-chip56"/>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9-text57"/>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grandma. ______ is kind.</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가족을 소개해요</a:t>
            </a:r>
            <a:endParaRPr lang="ko-KR" sz="4000" dirty="0"/>
          </a:p>
        </p:txBody>
      </p:sp>
      <p:sp>
        <p:nvSpPr>
          <p:cNvPr id="3" name="S10-text5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가족사진(그림)을 가리키며 두 문장으로 소개해요.</a:t>
            </a:r>
            <a:endParaRPr lang="ko-KR" sz="3000" dirty="0"/>
          </a:p>
        </p:txBody>
      </p:sp>
      <p:sp>
        <p:nvSpPr>
          <p:cNvPr id="4" name="S10-card59"/>
          <p:cNvSpPr/>
          <p:nvPr/>
        </p:nvSpPr>
        <p:spPr>
          <a:xfrm>
            <a:off x="548640" y="4959096"/>
            <a:ext cx="11091672" cy="1258824"/>
          </a:xfrm>
          <a:prstGeom prst="roundRect">
            <a:avLst>
              <a:gd name="adj" fmla="val 8717"/>
            </a:avLst>
          </a:prstGeom>
          <a:solidFill>
            <a:srgbClr val="E6ECF4"/>
          </a:solidFill>
          <a:ln w="12700">
            <a:solidFill>
              <a:srgbClr val="E6ECF4"/>
            </a:solidFill>
            <a:prstDash val="solid"/>
          </a:ln>
        </p:spPr>
      </p:sp>
      <p:sp>
        <p:nvSpPr>
          <p:cNvPr id="5" name="S10-cardtext60"/>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mom  dad  brother  sister  grandma  grandpa</a:t>
            </a:r>
            <a:endParaRPr lang="ko-KR" sz="3000" dirty="0"/>
          </a:p>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tall  kind  funny</a:t>
            </a:r>
            <a:endParaRPr lang="ko-KR" sz="3000" dirty="0"/>
          </a:p>
        </p:txBody>
      </p:sp>
      <p:sp>
        <p:nvSpPr>
          <p:cNvPr id="6" name="S10-chip61"/>
          <p:cNvSpPr txBox="1"/>
          <p:nvPr/>
        </p:nvSpPr>
        <p:spPr>
          <a:xfrm>
            <a:off x="548640" y="236220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10-text62"/>
          <p:cNvSpPr txBox="1"/>
          <p:nvPr/>
        </p:nvSpPr>
        <p:spPr>
          <a:xfrm>
            <a:off x="1344168" y="2011680"/>
            <a:ext cx="10296144" cy="1267968"/>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This is my ______.</a:t>
            </a:r>
            <a:endParaRPr lang="ko-KR" sz="3000" dirty="0"/>
          </a:p>
        </p:txBody>
      </p:sp>
      <p:sp>
        <p:nvSpPr>
          <p:cNvPr id="8" name="S10-chip63"/>
          <p:cNvSpPr txBox="1"/>
          <p:nvPr/>
        </p:nvSpPr>
        <p:spPr>
          <a:xfrm>
            <a:off x="548640" y="3813048"/>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10-text64"/>
          <p:cNvSpPr txBox="1"/>
          <p:nvPr/>
        </p:nvSpPr>
        <p:spPr>
          <a:xfrm>
            <a:off x="1344168" y="3462528"/>
            <a:ext cx="10296144" cy="1267968"/>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______ is ______.</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text6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영어 두 문장으로 소개해 보세요.</a:t>
            </a:r>
            <a:endParaRPr lang="ko-KR" sz="3000" dirty="0"/>
          </a:p>
        </p:txBody>
      </p:sp>
      <p:sp>
        <p:nvSpPr>
          <p:cNvPr id="4" name="S11-chip66"/>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11-text67"/>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엄마를 소개하고, 친절하다고 말해요.</a:t>
            </a:r>
            <a:endParaRPr lang="ko-KR" sz="3000" dirty="0"/>
          </a:p>
        </p:txBody>
      </p:sp>
      <p:sp>
        <p:nvSpPr>
          <p:cNvPr id="6" name="S11-chip68"/>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11-text69"/>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할아버지를 소개하고, 키가 크다고 말해요.</a:t>
            </a:r>
            <a:endParaRPr lang="ko-KR" sz="3000" dirty="0"/>
          </a:p>
        </p:txBody>
      </p:sp>
      <p:sp>
        <p:nvSpPr>
          <p:cNvPr id="8" name="S11-chip70"/>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11-text71"/>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남자 형제를 소개하고, 재미있다고 말해요.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대답 예 확인</a:t>
            </a:r>
            <a:endParaRPr lang="ko-KR" sz="4000" dirty="0"/>
          </a:p>
        </p:txBody>
      </p:sp>
      <p:sp>
        <p:nvSpPr>
          <p:cNvPr id="3" name="S12-card72"/>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7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남자 가족은 He, 여자 가족은 She, 그리고 is를 꼭 넣어요.</a:t>
            </a:r>
            <a:endParaRPr lang="ko-KR" sz="3000" dirty="0"/>
          </a:p>
        </p:txBody>
      </p:sp>
      <p:sp>
        <p:nvSpPr>
          <p:cNvPr id="5" name="S12-chip74"/>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2-text75"/>
          <p:cNvSpPr txBox="1"/>
          <p:nvPr/>
        </p:nvSpPr>
        <p:spPr>
          <a:xfrm>
            <a:off x="548640" y="20574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This is my mom.</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She is kind.</a:t>
            </a:r>
            <a:endParaRPr lang="ko-KR" sz="3000" dirty="0"/>
          </a:p>
        </p:txBody>
      </p:sp>
      <p:sp>
        <p:nvSpPr>
          <p:cNvPr id="7" name="S12-text76"/>
          <p:cNvSpPr txBox="1"/>
          <p:nvPr/>
        </p:nvSpPr>
        <p:spPr>
          <a:xfrm>
            <a:off x="548640" y="31242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② This is my grandpa.</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He is tall.</a:t>
            </a:r>
            <a:endParaRPr lang="ko-KR" sz="3000" dirty="0"/>
          </a:p>
        </p:txBody>
      </p:sp>
      <p:sp>
        <p:nvSpPr>
          <p:cNvPr id="8" name="S12-text77"/>
          <p:cNvSpPr txBox="1"/>
          <p:nvPr/>
        </p:nvSpPr>
        <p:spPr>
          <a:xfrm>
            <a:off x="548640" y="41910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③ This is my brother.</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He is funny.</a:t>
            </a:r>
            <a:endParaRPr lang="ko-KR" sz="3000" dirty="0"/>
          </a:p>
        </p:txBody>
      </p:sp>
      <p:sp>
        <p:nvSpPr>
          <p:cNvPr id="9" name="S12-chip78"/>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0" name="S12-text79"/>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This is my mom.</a:t>
            </a:r>
            <a:endParaRPr lang="ko-KR" sz="2400" dirty="0"/>
          </a:p>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He is kind.</a:t>
            </a:r>
            <a:endParaRPr lang="ko-KR" sz="2400" dirty="0"/>
          </a:p>
        </p:txBody>
      </p:sp>
      <p:sp>
        <p:nvSpPr>
          <p:cNvPr id="11" name="S12-text80"/>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엄마는 She</a:t>
            </a:r>
            <a:endParaRPr lang="ko-KR" sz="2400" dirty="0"/>
          </a:p>
        </p:txBody>
      </p:sp>
      <p:sp>
        <p:nvSpPr>
          <p:cNvPr id="12" name="S12-text81"/>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He tall.</a:t>
            </a:r>
            <a:endParaRPr lang="ko-KR" sz="3000" dirty="0"/>
          </a:p>
        </p:txBody>
      </p:sp>
      <p:sp>
        <p:nvSpPr>
          <p:cNvPr id="13" name="S12-text82"/>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is가 빠짐</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이어 말할 문장은?</a:t>
            </a:r>
            <a:endParaRPr lang="ko-KR" sz="4000" dirty="0"/>
          </a:p>
        </p:txBody>
      </p:sp>
      <p:sp>
        <p:nvSpPr>
          <p:cNvPr id="3" name="S13-card83"/>
          <p:cNvSpPr/>
          <p:nvPr/>
        </p:nvSpPr>
        <p:spPr>
          <a:xfrm>
            <a:off x="548640" y="4959096"/>
            <a:ext cx="11091672" cy="1258824"/>
          </a:xfrm>
          <a:prstGeom prst="roundRect">
            <a:avLst>
              <a:gd name="adj" fmla="val 8717"/>
            </a:avLst>
          </a:prstGeom>
          <a:solidFill>
            <a:srgbClr val="EAF3F1"/>
          </a:solidFill>
          <a:ln w="12700">
            <a:solidFill>
              <a:srgbClr val="EAF3F1"/>
            </a:solidFill>
            <a:prstDash val="solid"/>
          </a:ln>
        </p:spPr>
      </p:sp>
      <p:sp>
        <p:nvSpPr>
          <p:cNvPr id="4" name="S13-cardtext84"/>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This is my grandpa. 다음에 이어 말할 문장은? 어떻게 알았나요?</a:t>
            </a:r>
            <a:endParaRPr lang="ko-KR" sz="3000" dirty="0"/>
          </a:p>
        </p:txBody>
      </p:sp>
      <p:sp>
        <p:nvSpPr>
          <p:cNvPr id="5" name="S13-chip85"/>
          <p:cNvSpPr txBox="1"/>
          <p:nvPr/>
        </p:nvSpPr>
        <p:spPr>
          <a:xfrm>
            <a:off x="1991868" y="13258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3-card86"/>
          <p:cNvSpPr/>
          <p:nvPr/>
        </p:nvSpPr>
        <p:spPr>
          <a:xfrm>
            <a:off x="548640" y="2029968"/>
            <a:ext cx="3453384" cy="2700528"/>
          </a:xfrm>
          <a:prstGeom prst="roundRect">
            <a:avLst>
              <a:gd name="adj" fmla="val 4063"/>
            </a:avLst>
          </a:prstGeom>
          <a:solidFill>
            <a:srgbClr val="EAF3F1"/>
          </a:solidFill>
          <a:ln w="12700">
            <a:solidFill>
              <a:srgbClr val="EAF3F1"/>
            </a:solidFill>
            <a:prstDash val="solid"/>
          </a:ln>
        </p:spPr>
      </p:sp>
      <p:sp>
        <p:nvSpPr>
          <p:cNvPr id="7" name="S13-cardtext87"/>
          <p:cNvSpPr txBox="1"/>
          <p:nvPr/>
        </p:nvSpPr>
        <p:spPr>
          <a:xfrm>
            <a:off x="822960" y="2167128"/>
            <a:ext cx="2904744" cy="2426208"/>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She is kind.</a:t>
            </a:r>
            <a:endParaRPr lang="ko-KR" sz="3000" dirty="0"/>
          </a:p>
        </p:txBody>
      </p:sp>
      <p:sp>
        <p:nvSpPr>
          <p:cNvPr id="8" name="S13-chip88"/>
          <p:cNvSpPr txBox="1"/>
          <p:nvPr/>
        </p:nvSpPr>
        <p:spPr>
          <a:xfrm>
            <a:off x="5811012" y="13258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9" name="S13-card89"/>
          <p:cNvSpPr/>
          <p:nvPr/>
        </p:nvSpPr>
        <p:spPr>
          <a:xfrm>
            <a:off x="4367784" y="2029968"/>
            <a:ext cx="3453384" cy="2700528"/>
          </a:xfrm>
          <a:prstGeom prst="roundRect">
            <a:avLst>
              <a:gd name="adj" fmla="val 4063"/>
            </a:avLst>
          </a:prstGeom>
          <a:solidFill>
            <a:srgbClr val="EAF3F1"/>
          </a:solidFill>
          <a:ln w="12700">
            <a:solidFill>
              <a:srgbClr val="EAF3F1"/>
            </a:solidFill>
            <a:prstDash val="solid"/>
          </a:ln>
        </p:spPr>
      </p:sp>
      <p:sp>
        <p:nvSpPr>
          <p:cNvPr id="10" name="S13-cardtext90"/>
          <p:cNvSpPr txBox="1"/>
          <p:nvPr/>
        </p:nvSpPr>
        <p:spPr>
          <a:xfrm>
            <a:off x="4642104" y="2167128"/>
            <a:ext cx="2904744" cy="2426208"/>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He is kind.</a:t>
            </a:r>
            <a:endParaRPr lang="ko-KR" sz="3000" dirty="0"/>
          </a:p>
        </p:txBody>
      </p:sp>
      <p:sp>
        <p:nvSpPr>
          <p:cNvPr id="11" name="S13-chip91"/>
          <p:cNvSpPr txBox="1"/>
          <p:nvPr/>
        </p:nvSpPr>
        <p:spPr>
          <a:xfrm>
            <a:off x="9630156" y="13258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2" name="S13-card92"/>
          <p:cNvSpPr/>
          <p:nvPr/>
        </p:nvSpPr>
        <p:spPr>
          <a:xfrm>
            <a:off x="8186928" y="2029968"/>
            <a:ext cx="3453384" cy="2700528"/>
          </a:xfrm>
          <a:prstGeom prst="roundRect">
            <a:avLst>
              <a:gd name="adj" fmla="val 4063"/>
            </a:avLst>
          </a:prstGeom>
          <a:solidFill>
            <a:srgbClr val="EAF3F1"/>
          </a:solidFill>
          <a:ln w="12700">
            <a:solidFill>
              <a:srgbClr val="EAF3F1"/>
            </a:solidFill>
            <a:prstDash val="solid"/>
          </a:ln>
        </p:spPr>
      </p:sp>
      <p:sp>
        <p:nvSpPr>
          <p:cNvPr id="13" name="S13-cardtext93"/>
          <p:cNvSpPr txBox="1"/>
          <p:nvPr/>
        </p:nvSpPr>
        <p:spPr>
          <a:xfrm>
            <a:off x="8461248" y="2167128"/>
            <a:ext cx="2904744" cy="2426208"/>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I'm kind.</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94"/>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95"/>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This is my ~.로 가족을 소개해요.</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남자 가족은 He is ~., 여자 가족은 She is ~.로 더 말해요.</a:t>
            </a:r>
            <a:endParaRPr lang="ko-KR" sz="3000" dirty="0"/>
          </a:p>
        </p:txBody>
      </p:sp>
      <p:sp>
        <p:nvSpPr>
          <p:cNvPr id="5" name="S14-chip96"/>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남자는 He, 여자는 She</a:t>
            </a:r>
            <a:endParaRPr lang="ko-KR" sz="2400" dirty="0"/>
          </a:p>
        </p:txBody>
      </p:sp>
      <p:sp>
        <p:nvSpPr>
          <p:cNvPr id="6" name="S14-chip97"/>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엄마를 He라고 말하기</a:t>
            </a:r>
            <a:endParaRPr lang="ko-KR" sz="2400" dirty="0"/>
          </a:p>
        </p:txBody>
      </p:sp>
      <p:sp>
        <p:nvSpPr>
          <p:cNvPr id="7" name="S14-text98"/>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99"/>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할머니, 남동생을</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영어로?</a:t>
            </a:r>
            <a:endParaRPr lang="ko-KR" sz="2400" dirty="0"/>
          </a:p>
        </p:txBody>
      </p:sp>
      <p:sp>
        <p:nvSpPr>
          <p:cNvPr id="9" name="S14-text100"/>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en-US" altLang="ko-KR" sz="2400" dirty="0">
                <a:solidFill>
                  <a:srgbClr val="FFFFFF"/>
                </a:solidFill>
                <a:latin typeface="맑은 고딕" pitchFamily="34" charset="0"/>
                <a:ea typeface="맑은 고딕" pitchFamily="34" charset="-122"/>
                <a:cs typeface="맑은 고딕" pitchFamily="34" charset="-120"/>
              </a:rPr>
              <a:t>② This is my dad.</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다음엔 He? She?</a:t>
            </a:r>
            <a:endParaRPr lang="ko-KR" sz="2400" dirty="0"/>
          </a:p>
        </p:txBody>
      </p:sp>
      <p:sp>
        <p:nvSpPr>
          <p:cNvPr id="10" name="S14-text101"/>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가족 한 명을</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두 문장으로 소개</a:t>
            </a:r>
            <a:endParaRPr lang="ko-KR" sz="2400" dirty="0"/>
          </a:p>
        </p:txBody>
      </p:sp>
      <p:sp>
        <p:nvSpPr>
          <p:cNvPr id="11" name="S14-text102"/>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물건 위치 묻고 답하기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나를 소개하는 말</a:t>
            </a:r>
            <a:endParaRPr lang="ko-KR" sz="4000" dirty="0"/>
          </a:p>
        </p:txBody>
      </p:sp>
      <p:sp>
        <p:nvSpPr>
          <p:cNvPr id="3" name="S15-card10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10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Mina 자리에 내 이름을 넣어 말해요.</a:t>
            </a:r>
            <a:endParaRPr lang="ko-KR" sz="3000" dirty="0"/>
          </a:p>
        </p:txBody>
      </p:sp>
      <p:sp>
        <p:nvSpPr>
          <p:cNvPr id="5" name="S15-word105"/>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Mina.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나는 Mina야.</a:t>
            </a:r>
            <a:endParaRPr lang="ko-KR" sz="3400" dirty="0"/>
          </a:p>
        </p:txBody>
      </p:sp>
      <p:sp>
        <p:nvSpPr>
          <p:cNvPr id="6" name="S15-word106"/>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My name is Mina.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내 이름은 Mina야.</a:t>
            </a:r>
            <a:endParaRPr lang="ko-KR" sz="3400" dirty="0"/>
          </a:p>
        </p:txBody>
      </p:sp>
      <p:sp>
        <p:nvSpPr>
          <p:cNvPr id="7" name="S15-word107"/>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 have a dog.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나는 개가 있어요.</a:t>
            </a:r>
            <a:endParaRPr lang="ko-KR" sz="3400" dirty="0"/>
          </a:p>
        </p:txBody>
      </p:sp>
      <p:sp>
        <p:nvSpPr>
          <p:cNvPr id="8" name="S15-word108"/>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 like jam.</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나는 잼을 좋아해요.</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영어 가족 소개하기</dc:title>
  <dc:subject>KR22-G04-ENG-FAMILY-L01</dc:subject>
  <dc:creator>education-ppt</dc:creator>
  <cp:lastModifiedBy>education-ppt</cp:lastModifiedBy>
  <cp:revision>1</cp:revision>
  <dcterms:created xsi:type="dcterms:W3CDTF">2026-10-26T08:55:43Z</dcterms:created>
  <dcterms:modified xsi:type="dcterms:W3CDTF">2026-10-26T08:55:43Z</dcterms:modified>
</cp:coreProperties>
</file>