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11e4e0e-b38d-575c-c581-1312b79c5eff}">
          <p14:sldIdLst>
            <p14:sldId id="256"/>
            <p14:sldId id="257"/>
          </p14:sldIdLst>
        </p14:section>
        <p14:section name="개념" id="{5c9dff3b-80ee-51cb-e0c0-22577ccfe7c0}">
          <p14:sldIdLst>
            <p14:sldId id="258"/>
            <p14:sldId id="259"/>
            <p14:sldId id="263"/>
          </p14:sldIdLst>
        </p14:section>
        <p14:section name="연습" id="{ab4c10e4-ff41-1bb3-4a9e-fe21f849b0d2}">
          <p14:sldIdLst>
            <p14:sldId id="260"/>
            <p14:sldId id="261"/>
            <p14:sldId id="262"/>
            <p14:sldId id="264"/>
          </p14:sldIdLst>
        </p14:section>
        <p14:section name="개념" id="{44aa0fb8-0708-7783-4884-17c097859946}">
          <p14:sldIdLst/>
        </p14:section>
        <p14:section name="연습" id="{15f632eb-8aca-810e-2a02-a5d264047834}">
          <p14:sldIdLst/>
        </p14:section>
        <p14:section name="확인" id="{ccde9aeb-8a86-8940-acc5-b81ec1b7c7c0}">
          <p14:sldIdLst>
            <p14:sldId id="265"/>
            <p14:sldId id="266"/>
          </p14:sldIdLst>
        </p14:section>
        <p14:section name="정리" id="{afd8f5b5-7aa4-010e-c74c-cc9a79ed6b6a}">
          <p14:sldIdLst>
            <p14:sldId id="267"/>
          </p14:sldIdLst>
        </p14:section>
        <p14:section name="보충" id="{3b9da633-6269-1b0f-ab23-c140231b623c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소리낱말문장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세 글자 낱말 읽고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영어 · 세 글자 낱말 읽고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영어 · 세 글자 낱말 읽고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글자 낱말 읽고 쓰기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c, a, t 소리를 이어 말하면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낱말이 될까요?</a:t>
            </a:r>
            <a:endParaRPr lang="ko-KR" sz="3000" dirty="0"/>
          </a:p>
        </p:txBody>
      </p:sp>
      <p:sp>
        <p:nvSpPr>
          <p:cNvPr id="4" name="S01-tile1"/>
          <p:cNvSpPr txBox="1"/>
          <p:nvPr/>
        </p:nvSpPr>
        <p:spPr>
          <a:xfrm>
            <a:off x="7680960" y="1514856"/>
            <a:ext cx="1176528" cy="1176528"/>
          </a:xfrm>
          <a:prstGeom prst="roundRect">
            <a:avLst>
              <a:gd name="adj" fmla="val 1088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100" dirty="0"/>
          </a:p>
        </p:txBody>
      </p:sp>
      <p:sp>
        <p:nvSpPr>
          <p:cNvPr id="5" name="S01-tile2"/>
          <p:cNvSpPr txBox="1"/>
          <p:nvPr/>
        </p:nvSpPr>
        <p:spPr>
          <a:xfrm>
            <a:off x="9058656" y="1514856"/>
            <a:ext cx="1176528" cy="1176528"/>
          </a:xfrm>
          <a:prstGeom prst="roundRect">
            <a:avLst>
              <a:gd name="adj" fmla="val 1088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100" dirty="0"/>
          </a:p>
        </p:txBody>
      </p:sp>
      <p:sp>
        <p:nvSpPr>
          <p:cNvPr id="6" name="S01-tile3"/>
          <p:cNvSpPr txBox="1"/>
          <p:nvPr/>
        </p:nvSpPr>
        <p:spPr>
          <a:xfrm>
            <a:off x="10436352" y="1514856"/>
            <a:ext cx="1176528" cy="1176528"/>
          </a:xfrm>
          <a:prstGeom prst="roundRect">
            <a:avLst>
              <a:gd name="adj" fmla="val 1088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5100" dirty="0"/>
          </a:p>
        </p:txBody>
      </p:sp>
      <p:sp>
        <p:nvSpPr>
          <p:cNvPr id="7" name="S01-card4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소리를 하나씩 이어 말해 낱말을 읽어요.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들은 낱말을 소리 셋으로 나누어 써요.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 소리 떠올리기</a:t>
            </a:r>
            <a:endParaRPr lang="ko-KR" sz="4000" dirty="0"/>
          </a:p>
        </p:txBody>
      </p:sp>
      <p:sp>
        <p:nvSpPr>
          <p:cNvPr id="3" name="S02-text6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열쇠 낱말과 짧은 소리를 말하고, ②는 듣고 가운데 모음을 골라요.</a:t>
            </a:r>
            <a:endParaRPr lang="ko-KR" sz="3000" dirty="0"/>
          </a:p>
        </p:txBody>
      </p:sp>
      <p:sp>
        <p:nvSpPr>
          <p:cNvPr id="4" name="S02-chip7"/>
          <p:cNvSpPr txBox="1"/>
          <p:nvPr/>
        </p:nvSpPr>
        <p:spPr>
          <a:xfrm>
            <a:off x="548640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ile8"/>
          <p:cNvSpPr txBox="1"/>
          <p:nvPr/>
        </p:nvSpPr>
        <p:spPr>
          <a:xfrm>
            <a:off x="1828800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6" name="S02-tile9"/>
          <p:cNvSpPr txBox="1"/>
          <p:nvPr/>
        </p:nvSpPr>
        <p:spPr>
          <a:xfrm>
            <a:off x="3401568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7" name="S02-tile10"/>
          <p:cNvSpPr txBox="1"/>
          <p:nvPr/>
        </p:nvSpPr>
        <p:spPr>
          <a:xfrm>
            <a:off x="4974336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900" dirty="0"/>
          </a:p>
        </p:txBody>
      </p:sp>
      <p:sp>
        <p:nvSpPr>
          <p:cNvPr id="8" name="S02-chip11"/>
          <p:cNvSpPr txBox="1"/>
          <p:nvPr/>
        </p:nvSpPr>
        <p:spPr>
          <a:xfrm>
            <a:off x="548640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2-tile12"/>
          <p:cNvSpPr txBox="1"/>
          <p:nvPr/>
        </p:nvSpPr>
        <p:spPr>
          <a:xfrm>
            <a:off x="182880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10" name="S02-tile13"/>
          <p:cNvSpPr txBox="1"/>
          <p:nvPr/>
        </p:nvSpPr>
        <p:spPr>
          <a:xfrm>
            <a:off x="3401568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1" name="S02-tile14"/>
          <p:cNvSpPr txBox="1"/>
          <p:nvPr/>
        </p:nvSpPr>
        <p:spPr>
          <a:xfrm>
            <a:off x="4974336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 글자의 소리</a:t>
            </a:r>
            <a:endParaRPr lang="ko-KR" sz="4000" dirty="0"/>
          </a:p>
        </p:txBody>
      </p:sp>
      <p:sp>
        <p:nvSpPr>
          <p:cNvPr id="3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열쇠 낱말의 첫소리가 그 글자의 소리예요.</a:t>
            </a:r>
            <a:endParaRPr lang="ko-KR" sz="3000" dirty="0"/>
          </a:p>
        </p:txBody>
      </p:sp>
      <p:sp>
        <p:nvSpPr>
          <p:cNvPr id="5" name="S03-tile17"/>
          <p:cNvSpPr txBox="1"/>
          <p:nvPr/>
        </p:nvSpPr>
        <p:spPr>
          <a:xfrm>
            <a:off x="2343150" y="1325880"/>
            <a:ext cx="1339596" cy="1339596"/>
          </a:xfrm>
          <a:prstGeom prst="roundRect">
            <a:avLst>
              <a:gd name="adj" fmla="val 955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800" dirty="0"/>
          </a:p>
        </p:txBody>
      </p:sp>
      <p:sp>
        <p:nvSpPr>
          <p:cNvPr id="6" name="S03-label18"/>
          <p:cNvSpPr txBox="1"/>
          <p:nvPr/>
        </p:nvSpPr>
        <p:spPr>
          <a:xfrm>
            <a:off x="2242566" y="2702052"/>
            <a:ext cx="15407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bag</a:t>
            </a:r>
            <a:endParaRPr lang="ko-KR" sz="2000" dirty="0"/>
          </a:p>
        </p:txBody>
      </p:sp>
      <p:sp>
        <p:nvSpPr>
          <p:cNvPr id="7" name="S03-tile19"/>
          <p:cNvSpPr txBox="1"/>
          <p:nvPr/>
        </p:nvSpPr>
        <p:spPr>
          <a:xfrm>
            <a:off x="3883914" y="1325880"/>
            <a:ext cx="1339596" cy="1339596"/>
          </a:xfrm>
          <a:prstGeom prst="roundRect">
            <a:avLst>
              <a:gd name="adj" fmla="val 955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800" dirty="0"/>
          </a:p>
        </p:txBody>
      </p:sp>
      <p:sp>
        <p:nvSpPr>
          <p:cNvPr id="8" name="S03-label20"/>
          <p:cNvSpPr txBox="1"/>
          <p:nvPr/>
        </p:nvSpPr>
        <p:spPr>
          <a:xfrm>
            <a:off x="3783330" y="2702052"/>
            <a:ext cx="15407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2000" dirty="0"/>
          </a:p>
        </p:txBody>
      </p:sp>
      <p:sp>
        <p:nvSpPr>
          <p:cNvPr id="9" name="S03-tile21"/>
          <p:cNvSpPr txBox="1"/>
          <p:nvPr/>
        </p:nvSpPr>
        <p:spPr>
          <a:xfrm>
            <a:off x="5424678" y="1325880"/>
            <a:ext cx="1339596" cy="1339596"/>
          </a:xfrm>
          <a:prstGeom prst="roundRect">
            <a:avLst>
              <a:gd name="adj" fmla="val 955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800" dirty="0"/>
          </a:p>
        </p:txBody>
      </p:sp>
      <p:sp>
        <p:nvSpPr>
          <p:cNvPr id="10" name="S03-label22"/>
          <p:cNvSpPr txBox="1"/>
          <p:nvPr/>
        </p:nvSpPr>
        <p:spPr>
          <a:xfrm>
            <a:off x="5324094" y="2702052"/>
            <a:ext cx="15407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dog</a:t>
            </a:r>
            <a:endParaRPr lang="ko-KR" sz="2000" dirty="0"/>
          </a:p>
        </p:txBody>
      </p:sp>
      <p:sp>
        <p:nvSpPr>
          <p:cNvPr id="11" name="S03-tile23"/>
          <p:cNvSpPr txBox="1"/>
          <p:nvPr/>
        </p:nvSpPr>
        <p:spPr>
          <a:xfrm>
            <a:off x="6965442" y="1325880"/>
            <a:ext cx="1339596" cy="1339596"/>
          </a:xfrm>
          <a:prstGeom prst="roundRect">
            <a:avLst>
              <a:gd name="adj" fmla="val 955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800" dirty="0"/>
          </a:p>
        </p:txBody>
      </p:sp>
      <p:sp>
        <p:nvSpPr>
          <p:cNvPr id="12" name="S03-label24"/>
          <p:cNvSpPr txBox="1"/>
          <p:nvPr/>
        </p:nvSpPr>
        <p:spPr>
          <a:xfrm>
            <a:off x="6864858" y="2702052"/>
            <a:ext cx="15407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gum</a:t>
            </a:r>
            <a:endParaRPr lang="ko-KR" sz="2000" dirty="0"/>
          </a:p>
        </p:txBody>
      </p:sp>
      <p:sp>
        <p:nvSpPr>
          <p:cNvPr id="13" name="S03-tile25"/>
          <p:cNvSpPr txBox="1"/>
          <p:nvPr/>
        </p:nvSpPr>
        <p:spPr>
          <a:xfrm>
            <a:off x="8506206" y="1325880"/>
            <a:ext cx="1339596" cy="1339596"/>
          </a:xfrm>
          <a:prstGeom prst="roundRect">
            <a:avLst>
              <a:gd name="adj" fmla="val 955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800" dirty="0"/>
          </a:p>
        </p:txBody>
      </p:sp>
      <p:sp>
        <p:nvSpPr>
          <p:cNvPr id="14" name="S03-label26"/>
          <p:cNvSpPr txBox="1"/>
          <p:nvPr/>
        </p:nvSpPr>
        <p:spPr>
          <a:xfrm>
            <a:off x="8405622" y="2702052"/>
            <a:ext cx="15407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hat</a:t>
            </a:r>
            <a:endParaRPr lang="ko-KR" sz="2000" dirty="0"/>
          </a:p>
        </p:txBody>
      </p:sp>
      <p:sp>
        <p:nvSpPr>
          <p:cNvPr id="15" name="S03-tile27"/>
          <p:cNvSpPr txBox="1"/>
          <p:nvPr/>
        </p:nvSpPr>
        <p:spPr>
          <a:xfrm>
            <a:off x="2343150" y="3323844"/>
            <a:ext cx="1339596" cy="1339596"/>
          </a:xfrm>
          <a:prstGeom prst="roundRect">
            <a:avLst>
              <a:gd name="adj" fmla="val 955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5800" dirty="0"/>
          </a:p>
        </p:txBody>
      </p:sp>
      <p:sp>
        <p:nvSpPr>
          <p:cNvPr id="16" name="S03-label28"/>
          <p:cNvSpPr txBox="1"/>
          <p:nvPr/>
        </p:nvSpPr>
        <p:spPr>
          <a:xfrm>
            <a:off x="2242566" y="4700016"/>
            <a:ext cx="15407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</a:t>
            </a:r>
            <a:endParaRPr lang="ko-KR" sz="2000" dirty="0"/>
          </a:p>
        </p:txBody>
      </p:sp>
      <p:sp>
        <p:nvSpPr>
          <p:cNvPr id="17" name="S03-tile29"/>
          <p:cNvSpPr txBox="1"/>
          <p:nvPr/>
        </p:nvSpPr>
        <p:spPr>
          <a:xfrm>
            <a:off x="3883914" y="3323844"/>
            <a:ext cx="1339596" cy="1339596"/>
          </a:xfrm>
          <a:prstGeom prst="roundRect">
            <a:avLst>
              <a:gd name="adj" fmla="val 955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800" dirty="0"/>
          </a:p>
        </p:txBody>
      </p:sp>
      <p:sp>
        <p:nvSpPr>
          <p:cNvPr id="18" name="S03-label30"/>
          <p:cNvSpPr txBox="1"/>
          <p:nvPr/>
        </p:nvSpPr>
        <p:spPr>
          <a:xfrm>
            <a:off x="3783330" y="4700016"/>
            <a:ext cx="15407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net</a:t>
            </a:r>
            <a:endParaRPr lang="ko-KR" sz="2000" dirty="0"/>
          </a:p>
        </p:txBody>
      </p:sp>
      <p:sp>
        <p:nvSpPr>
          <p:cNvPr id="19" name="S03-tile31"/>
          <p:cNvSpPr txBox="1"/>
          <p:nvPr/>
        </p:nvSpPr>
        <p:spPr>
          <a:xfrm>
            <a:off x="5424678" y="3323844"/>
            <a:ext cx="1339596" cy="1339596"/>
          </a:xfrm>
          <a:prstGeom prst="roundRect">
            <a:avLst>
              <a:gd name="adj" fmla="val 955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800" dirty="0"/>
          </a:p>
        </p:txBody>
      </p:sp>
      <p:sp>
        <p:nvSpPr>
          <p:cNvPr id="20" name="S03-label32"/>
          <p:cNvSpPr txBox="1"/>
          <p:nvPr/>
        </p:nvSpPr>
        <p:spPr>
          <a:xfrm>
            <a:off x="5324094" y="4700016"/>
            <a:ext cx="15407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</a:t>
            </a:r>
            <a:endParaRPr lang="ko-KR" sz="2000" dirty="0"/>
          </a:p>
        </p:txBody>
      </p:sp>
      <p:sp>
        <p:nvSpPr>
          <p:cNvPr id="21" name="S03-tile33"/>
          <p:cNvSpPr txBox="1"/>
          <p:nvPr/>
        </p:nvSpPr>
        <p:spPr>
          <a:xfrm>
            <a:off x="6965442" y="3323844"/>
            <a:ext cx="1339596" cy="1339596"/>
          </a:xfrm>
          <a:prstGeom prst="roundRect">
            <a:avLst>
              <a:gd name="adj" fmla="val 955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800" dirty="0"/>
          </a:p>
        </p:txBody>
      </p:sp>
      <p:sp>
        <p:nvSpPr>
          <p:cNvPr id="22" name="S03-label34"/>
          <p:cNvSpPr txBox="1"/>
          <p:nvPr/>
        </p:nvSpPr>
        <p:spPr>
          <a:xfrm>
            <a:off x="6864858" y="4700016"/>
            <a:ext cx="15407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sun</a:t>
            </a:r>
            <a:endParaRPr lang="ko-KR" sz="2000" dirty="0"/>
          </a:p>
        </p:txBody>
      </p:sp>
      <p:sp>
        <p:nvSpPr>
          <p:cNvPr id="23" name="S03-tile35"/>
          <p:cNvSpPr txBox="1"/>
          <p:nvPr/>
        </p:nvSpPr>
        <p:spPr>
          <a:xfrm>
            <a:off x="8506206" y="3323844"/>
            <a:ext cx="1339596" cy="1339596"/>
          </a:xfrm>
          <a:prstGeom prst="roundRect">
            <a:avLst>
              <a:gd name="adj" fmla="val 955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5800" dirty="0"/>
          </a:p>
        </p:txBody>
      </p:sp>
      <p:sp>
        <p:nvSpPr>
          <p:cNvPr id="24" name="S03-label36"/>
          <p:cNvSpPr txBox="1"/>
          <p:nvPr/>
        </p:nvSpPr>
        <p:spPr>
          <a:xfrm>
            <a:off x="8405622" y="4700016"/>
            <a:ext cx="15407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이어 말해요</a:t>
            </a:r>
            <a:endParaRPr lang="ko-KR" sz="4000" dirty="0"/>
          </a:p>
        </p:txBody>
      </p:sp>
      <p:sp>
        <p:nvSpPr>
          <p:cNvPr id="3" name="S04-text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cat을 소리를 이어 읽어 봐요.</a:t>
            </a:r>
            <a:endParaRPr lang="ko-KR" sz="3000" dirty="0"/>
          </a:p>
        </p:txBody>
      </p:sp>
      <p:sp>
        <p:nvSpPr>
          <p:cNvPr id="4" name="S04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하나씩 말하고, 점점 빠르게 이어요.</a:t>
            </a:r>
            <a:endParaRPr lang="ko-KR" sz="3000" dirty="0"/>
          </a:p>
        </p:txBody>
      </p:sp>
      <p:sp>
        <p:nvSpPr>
          <p:cNvPr id="6" name="S04-tile40"/>
          <p:cNvSpPr txBox="1"/>
          <p:nvPr/>
        </p:nvSpPr>
        <p:spPr>
          <a:xfrm>
            <a:off x="7022043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7" name="S04-label41"/>
          <p:cNvSpPr txBox="1"/>
          <p:nvPr/>
        </p:nvSpPr>
        <p:spPr>
          <a:xfrm>
            <a:off x="6921459" y="40599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</a:t>
            </a:r>
            <a:endParaRPr lang="ko-KR" sz="2000" dirty="0"/>
          </a:p>
        </p:txBody>
      </p:sp>
      <p:sp>
        <p:nvSpPr>
          <p:cNvPr id="8" name="S04-tile42"/>
          <p:cNvSpPr txBox="1"/>
          <p:nvPr/>
        </p:nvSpPr>
        <p:spPr>
          <a:xfrm>
            <a:off x="8594811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9" name="S04-label43"/>
          <p:cNvSpPr txBox="1"/>
          <p:nvPr/>
        </p:nvSpPr>
        <p:spPr>
          <a:xfrm>
            <a:off x="8494227" y="40599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소리</a:t>
            </a:r>
            <a:endParaRPr lang="ko-KR" sz="2000" dirty="0"/>
          </a:p>
        </p:txBody>
      </p:sp>
      <p:sp>
        <p:nvSpPr>
          <p:cNvPr id="10" name="S04-tile44"/>
          <p:cNvSpPr txBox="1"/>
          <p:nvPr/>
        </p:nvSpPr>
        <p:spPr>
          <a:xfrm>
            <a:off x="10167579" y="26517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5900" dirty="0"/>
          </a:p>
        </p:txBody>
      </p:sp>
      <p:sp>
        <p:nvSpPr>
          <p:cNvPr id="11" name="S04-label45"/>
          <p:cNvSpPr txBox="1"/>
          <p:nvPr/>
        </p:nvSpPr>
        <p:spPr>
          <a:xfrm>
            <a:off x="10066995" y="40599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끝소리</a:t>
            </a:r>
            <a:endParaRPr lang="ko-KR" sz="2000" dirty="0"/>
          </a:p>
        </p:txBody>
      </p:sp>
      <p:sp>
        <p:nvSpPr>
          <p:cNvPr id="12" name="S04-stepno46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3" name="S04-text47"/>
          <p:cNvSpPr txBox="1"/>
          <p:nvPr/>
        </p:nvSpPr>
        <p:spPr>
          <a:xfrm>
            <a:off x="1325880" y="222199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 c의 소리를 말해요.</a:t>
            </a:r>
            <a:endParaRPr lang="ko-KR" sz="2400" dirty="0"/>
          </a:p>
        </p:txBody>
      </p:sp>
      <p:sp>
        <p:nvSpPr>
          <p:cNvPr id="14" name="S04-stepno48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5" name="S04-text49"/>
          <p:cNvSpPr txBox="1"/>
          <p:nvPr/>
        </p:nvSpPr>
        <p:spPr>
          <a:xfrm>
            <a:off x="1325880" y="2935224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a의 짧은 소리를 말해요.</a:t>
            </a:r>
            <a:endParaRPr lang="ko-KR" sz="2400" dirty="0"/>
          </a:p>
        </p:txBody>
      </p:sp>
      <p:sp>
        <p:nvSpPr>
          <p:cNvPr id="16" name="S04-stepno50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7" name="S04-text51"/>
          <p:cNvSpPr txBox="1"/>
          <p:nvPr/>
        </p:nvSpPr>
        <p:spPr>
          <a:xfrm>
            <a:off x="1325880" y="3648456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 글자 t의 소리를 말해요.</a:t>
            </a:r>
            <a:endParaRPr lang="ko-KR" sz="2400" dirty="0"/>
          </a:p>
        </p:txBody>
      </p:sp>
      <p:sp>
        <p:nvSpPr>
          <p:cNvPr id="18" name="S04-stepno52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9" name="S04-text53"/>
          <p:cNvSpPr txBox="1"/>
          <p:nvPr/>
        </p:nvSpPr>
        <p:spPr>
          <a:xfrm>
            <a:off x="1325880" y="436168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소리를 점점 빠르게 이어 말해요.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 읽어요</a:t>
            </a:r>
            <a:endParaRPr lang="ko-KR" sz="4000" dirty="0"/>
          </a:p>
        </p:txBody>
      </p:sp>
      <p:sp>
        <p:nvSpPr>
          <p:cNvPr id="3" name="S05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글자를 짚으며 소리를 하나씩 내고, 이어 읽어요.</a:t>
            </a:r>
            <a:endParaRPr lang="ko-KR" sz="3000" dirty="0"/>
          </a:p>
        </p:txBody>
      </p:sp>
      <p:sp>
        <p:nvSpPr>
          <p:cNvPr id="4" name="S05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모음 글자는 열쇠 낱말을 떠올려요.</a:t>
            </a:r>
            <a:endParaRPr lang="ko-KR" sz="3000" dirty="0"/>
          </a:p>
        </p:txBody>
      </p:sp>
      <p:sp>
        <p:nvSpPr>
          <p:cNvPr id="6" name="S05-chip5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tile58"/>
          <p:cNvSpPr txBox="1"/>
          <p:nvPr/>
        </p:nvSpPr>
        <p:spPr>
          <a:xfrm>
            <a:off x="2514600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4000" dirty="0"/>
          </a:p>
        </p:txBody>
      </p:sp>
      <p:sp>
        <p:nvSpPr>
          <p:cNvPr id="8" name="S05-tile59"/>
          <p:cNvSpPr txBox="1"/>
          <p:nvPr/>
        </p:nvSpPr>
        <p:spPr>
          <a:xfrm>
            <a:off x="3630168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4000" dirty="0"/>
          </a:p>
        </p:txBody>
      </p:sp>
      <p:sp>
        <p:nvSpPr>
          <p:cNvPr id="9" name="S05-tile60"/>
          <p:cNvSpPr txBox="1"/>
          <p:nvPr/>
        </p:nvSpPr>
        <p:spPr>
          <a:xfrm>
            <a:off x="4745736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4000" dirty="0"/>
          </a:p>
        </p:txBody>
      </p:sp>
      <p:sp>
        <p:nvSpPr>
          <p:cNvPr id="10" name="S05-chip6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5-tile62"/>
          <p:cNvSpPr txBox="1"/>
          <p:nvPr/>
        </p:nvSpPr>
        <p:spPr>
          <a:xfrm>
            <a:off x="2514600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4000" dirty="0"/>
          </a:p>
        </p:txBody>
      </p:sp>
      <p:sp>
        <p:nvSpPr>
          <p:cNvPr id="12" name="S05-tile63"/>
          <p:cNvSpPr txBox="1"/>
          <p:nvPr/>
        </p:nvSpPr>
        <p:spPr>
          <a:xfrm>
            <a:off x="3630168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4000" dirty="0"/>
          </a:p>
        </p:txBody>
      </p:sp>
      <p:sp>
        <p:nvSpPr>
          <p:cNvPr id="13" name="S05-tile64"/>
          <p:cNvSpPr txBox="1"/>
          <p:nvPr/>
        </p:nvSpPr>
        <p:spPr>
          <a:xfrm>
            <a:off x="4745736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4000" dirty="0"/>
          </a:p>
        </p:txBody>
      </p:sp>
      <p:sp>
        <p:nvSpPr>
          <p:cNvPr id="14" name="S05-chip6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05-tile66"/>
          <p:cNvSpPr txBox="1"/>
          <p:nvPr/>
        </p:nvSpPr>
        <p:spPr>
          <a:xfrm>
            <a:off x="2514600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4000" dirty="0"/>
          </a:p>
        </p:txBody>
      </p:sp>
      <p:sp>
        <p:nvSpPr>
          <p:cNvPr id="16" name="S05-tile67"/>
          <p:cNvSpPr txBox="1"/>
          <p:nvPr/>
        </p:nvSpPr>
        <p:spPr>
          <a:xfrm>
            <a:off x="3630168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4000" dirty="0"/>
          </a:p>
        </p:txBody>
      </p:sp>
      <p:sp>
        <p:nvSpPr>
          <p:cNvPr id="17" name="S05-tile68"/>
          <p:cNvSpPr txBox="1"/>
          <p:nvPr/>
        </p:nvSpPr>
        <p:spPr>
          <a:xfrm>
            <a:off x="4745736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보는 낱말 읽기</a:t>
            </a:r>
            <a:endParaRPr lang="ko-KR" sz="4000" dirty="0"/>
          </a:p>
        </p:txBody>
      </p:sp>
      <p:sp>
        <p:nvSpPr>
          <p:cNvPr id="3" name="S06-text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하나씩 이어 읽고, 다 읽으면 뜻을 알아봐요.</a:t>
            </a:r>
            <a:endParaRPr lang="ko-KR" sz="3000" dirty="0"/>
          </a:p>
        </p:txBody>
      </p:sp>
      <p:sp>
        <p:nvSpPr>
          <p:cNvPr id="4" name="S06-word70"/>
          <p:cNvSpPr txBox="1"/>
          <p:nvPr/>
        </p:nvSpPr>
        <p:spPr>
          <a:xfrm>
            <a:off x="548640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</a:t>
            </a:r>
            <a:endParaRPr lang="ko-KR" sz="3400" dirty="0"/>
          </a:p>
        </p:txBody>
      </p:sp>
      <p:sp>
        <p:nvSpPr>
          <p:cNvPr id="5" name="S06-word71"/>
          <p:cNvSpPr txBox="1"/>
          <p:nvPr/>
        </p:nvSpPr>
        <p:spPr>
          <a:xfrm>
            <a:off x="4337304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hen</a:t>
            </a:r>
            <a:endParaRPr lang="ko-KR" sz="3400" dirty="0"/>
          </a:p>
        </p:txBody>
      </p:sp>
      <p:sp>
        <p:nvSpPr>
          <p:cNvPr id="6" name="S06-word72"/>
          <p:cNvSpPr txBox="1"/>
          <p:nvPr/>
        </p:nvSpPr>
        <p:spPr>
          <a:xfrm>
            <a:off x="8125968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sit</a:t>
            </a:r>
            <a:endParaRPr lang="ko-KR" sz="3400" dirty="0"/>
          </a:p>
        </p:txBody>
      </p:sp>
      <p:sp>
        <p:nvSpPr>
          <p:cNvPr id="7" name="S06-word73"/>
          <p:cNvSpPr txBox="1"/>
          <p:nvPr/>
        </p:nvSpPr>
        <p:spPr>
          <a:xfrm>
            <a:off x="548640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top</a:t>
            </a:r>
            <a:endParaRPr lang="ko-KR" sz="3400" dirty="0"/>
          </a:p>
        </p:txBody>
      </p:sp>
      <p:sp>
        <p:nvSpPr>
          <p:cNvPr id="8" name="S06-word74"/>
          <p:cNvSpPr txBox="1"/>
          <p:nvPr/>
        </p:nvSpPr>
        <p:spPr>
          <a:xfrm>
            <a:off x="4337304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bus</a:t>
            </a:r>
            <a:endParaRPr lang="ko-KR" sz="3400" dirty="0"/>
          </a:p>
        </p:txBody>
      </p:sp>
      <p:sp>
        <p:nvSpPr>
          <p:cNvPr id="9" name="S06-word75"/>
          <p:cNvSpPr txBox="1"/>
          <p:nvPr/>
        </p:nvSpPr>
        <p:spPr>
          <a:xfrm>
            <a:off x="8125968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mud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짐작해서 읽으면?</a:t>
            </a:r>
            <a:endParaRPr lang="ko-KR" sz="4000" dirty="0"/>
          </a:p>
        </p:txBody>
      </p:sp>
      <p:sp>
        <p:nvSpPr>
          <p:cNvPr id="3" name="S07-card7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7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bag을 보고 ‘bus’라고 읽었어요.</a:t>
            </a:r>
            <a:endParaRPr lang="ko-KR" sz="3000" dirty="0"/>
          </a:p>
        </p:txBody>
      </p:sp>
      <p:sp>
        <p:nvSpPr>
          <p:cNvPr id="5" name="S07-card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읽었나요? 어떻게 읽어야 할까요?</a:t>
            </a:r>
            <a:endParaRPr lang="ko-KR" sz="3000" dirty="0"/>
          </a:p>
        </p:txBody>
      </p:sp>
      <p:sp>
        <p:nvSpPr>
          <p:cNvPr id="7" name="S07-chip8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보이는 낱말</a:t>
            </a:r>
            <a:endParaRPr lang="ko-KR" sz="2400" dirty="0"/>
          </a:p>
        </p:txBody>
      </p:sp>
      <p:sp>
        <p:nvSpPr>
          <p:cNvPr id="8" name="S07-tile81"/>
          <p:cNvSpPr txBox="1"/>
          <p:nvPr/>
        </p:nvSpPr>
        <p:spPr>
          <a:xfrm>
            <a:off x="971550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9" name="S07-tile82"/>
          <p:cNvSpPr txBox="1"/>
          <p:nvPr/>
        </p:nvSpPr>
        <p:spPr>
          <a:xfrm>
            <a:off x="2544318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10" name="S07-tile83"/>
          <p:cNvSpPr txBox="1"/>
          <p:nvPr/>
        </p:nvSpPr>
        <p:spPr>
          <a:xfrm>
            <a:off x="4117086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11" name="S07-chip8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읽은 낱말</a:t>
            </a:r>
            <a:endParaRPr lang="ko-KR" sz="2400" dirty="0"/>
          </a:p>
        </p:txBody>
      </p:sp>
      <p:sp>
        <p:nvSpPr>
          <p:cNvPr id="12" name="S07-tile85"/>
          <p:cNvSpPr txBox="1"/>
          <p:nvPr/>
        </p:nvSpPr>
        <p:spPr>
          <a:xfrm>
            <a:off x="6700266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900" dirty="0"/>
          </a:p>
        </p:txBody>
      </p:sp>
      <p:sp>
        <p:nvSpPr>
          <p:cNvPr id="13" name="S07-tile86"/>
          <p:cNvSpPr txBox="1"/>
          <p:nvPr/>
        </p:nvSpPr>
        <p:spPr>
          <a:xfrm>
            <a:off x="8273034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900" dirty="0"/>
          </a:p>
        </p:txBody>
      </p:sp>
      <p:sp>
        <p:nvSpPr>
          <p:cNvPr id="14" name="S07-tile87"/>
          <p:cNvSpPr txBox="1"/>
          <p:nvPr/>
        </p:nvSpPr>
        <p:spPr>
          <a:xfrm>
            <a:off x="9845802" y="3451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나누어 써요</a:t>
            </a:r>
            <a:endParaRPr lang="ko-KR" sz="4000" dirty="0"/>
          </a:p>
        </p:txBody>
      </p:sp>
      <p:sp>
        <p:nvSpPr>
          <p:cNvPr id="3" name="S08-text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pen을 소리 상자에 나누어 써 봐요.</a:t>
            </a:r>
            <a:endParaRPr lang="ko-KR" sz="3000" dirty="0"/>
          </a:p>
        </p:txBody>
      </p:sp>
      <p:sp>
        <p:nvSpPr>
          <p:cNvPr id="4" name="S08-tile89"/>
          <p:cNvSpPr txBox="1"/>
          <p:nvPr/>
        </p:nvSpPr>
        <p:spPr>
          <a:xfrm>
            <a:off x="7022043" y="3200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5" name="S08-label90"/>
          <p:cNvSpPr txBox="1"/>
          <p:nvPr/>
        </p:nvSpPr>
        <p:spPr>
          <a:xfrm>
            <a:off x="6921459" y="46085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</a:t>
            </a:r>
            <a:endParaRPr lang="ko-KR" sz="2000" dirty="0"/>
          </a:p>
        </p:txBody>
      </p:sp>
      <p:sp>
        <p:nvSpPr>
          <p:cNvPr id="6" name="S08-tile91"/>
          <p:cNvSpPr txBox="1"/>
          <p:nvPr/>
        </p:nvSpPr>
        <p:spPr>
          <a:xfrm>
            <a:off x="8594811" y="3200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7" name="S08-label92"/>
          <p:cNvSpPr txBox="1"/>
          <p:nvPr/>
        </p:nvSpPr>
        <p:spPr>
          <a:xfrm>
            <a:off x="8494227" y="46085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소리</a:t>
            </a:r>
            <a:endParaRPr lang="ko-KR" sz="2000" dirty="0"/>
          </a:p>
        </p:txBody>
      </p:sp>
      <p:sp>
        <p:nvSpPr>
          <p:cNvPr id="8" name="S08-tile93"/>
          <p:cNvSpPr txBox="1"/>
          <p:nvPr/>
        </p:nvSpPr>
        <p:spPr>
          <a:xfrm>
            <a:off x="10167579" y="3200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5900" dirty="0"/>
          </a:p>
        </p:txBody>
      </p:sp>
      <p:sp>
        <p:nvSpPr>
          <p:cNvPr id="9" name="S08-label94"/>
          <p:cNvSpPr txBox="1"/>
          <p:nvPr/>
        </p:nvSpPr>
        <p:spPr>
          <a:xfrm>
            <a:off x="10066995" y="460857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끝소리</a:t>
            </a:r>
            <a:endParaRPr lang="ko-KR" sz="2000" dirty="0"/>
          </a:p>
        </p:txBody>
      </p:sp>
      <p:sp>
        <p:nvSpPr>
          <p:cNvPr id="10" name="S08-stepno95"/>
          <p:cNvSpPr txBox="1"/>
          <p:nvPr/>
        </p:nvSpPr>
        <p:spPr>
          <a:xfrm>
            <a:off x="548640" y="2389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1" name="S08-text96"/>
          <p:cNvSpPr txBox="1"/>
          <p:nvPr/>
        </p:nvSpPr>
        <p:spPr>
          <a:xfrm>
            <a:off x="1325880" y="238963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듣고 따라 말해요.</a:t>
            </a:r>
            <a:endParaRPr lang="ko-KR" sz="3000" dirty="0"/>
          </a:p>
        </p:txBody>
      </p:sp>
      <p:sp>
        <p:nvSpPr>
          <p:cNvPr id="12" name="S08-stepno97"/>
          <p:cNvSpPr txBox="1"/>
          <p:nvPr/>
        </p:nvSpPr>
        <p:spPr>
          <a:xfrm>
            <a:off x="548640" y="31485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3" name="S08-text98"/>
          <p:cNvSpPr txBox="1"/>
          <p:nvPr/>
        </p:nvSpPr>
        <p:spPr>
          <a:xfrm>
            <a:off x="1325880" y="3102864"/>
            <a:ext cx="5229271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하나마다 바둑돌을 한 칸씩 밀어 넣어요.</a:t>
            </a:r>
            <a:endParaRPr lang="ko-KR" sz="3000" dirty="0"/>
          </a:p>
        </p:txBody>
      </p:sp>
      <p:sp>
        <p:nvSpPr>
          <p:cNvPr id="14" name="S08-stepno99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5" name="S08-text100"/>
          <p:cNvSpPr txBox="1"/>
          <p:nvPr/>
        </p:nvSpPr>
        <p:spPr>
          <a:xfrm>
            <a:off x="1325880" y="4197096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칸마다 그 소리의 글자를 써요.</a:t>
            </a:r>
            <a:endParaRPr lang="ko-KR" sz="3000" dirty="0"/>
          </a:p>
        </p:txBody>
      </p:sp>
      <p:sp>
        <p:nvSpPr>
          <p:cNvPr id="16" name="S08-stepno101"/>
          <p:cNvSpPr txBox="1"/>
          <p:nvPr/>
        </p:nvSpPr>
        <p:spPr>
          <a:xfrm>
            <a:off x="548640" y="49560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7" name="S08-text102"/>
          <p:cNvSpPr txBox="1"/>
          <p:nvPr/>
        </p:nvSpPr>
        <p:spPr>
          <a:xfrm>
            <a:off x="1325880" y="4910328"/>
            <a:ext cx="5229271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글자를 다시 이어 읽어 확인해요.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상자에 써요</a:t>
            </a:r>
            <a:endParaRPr lang="ko-KR" sz="4000" dirty="0"/>
          </a:p>
        </p:txBody>
      </p:sp>
      <p:sp>
        <p:nvSpPr>
          <p:cNvPr id="3" name="S09-text1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낱말을 소리 상자에 한 글자씩 써요.</a:t>
            </a:r>
            <a:endParaRPr lang="ko-KR" sz="3000" dirty="0"/>
          </a:p>
        </p:txBody>
      </p:sp>
      <p:sp>
        <p:nvSpPr>
          <p:cNvPr id="4" name="S09-card10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10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바둑돌을 밀어 넣으며 소리를 세고, 칸마다 글자를 써요.</a:t>
            </a:r>
            <a:endParaRPr lang="ko-KR" sz="3000" dirty="0"/>
          </a:p>
        </p:txBody>
      </p:sp>
      <p:sp>
        <p:nvSpPr>
          <p:cNvPr id="6" name="S09-chip10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tile107"/>
          <p:cNvSpPr txBox="1"/>
          <p:nvPr/>
        </p:nvSpPr>
        <p:spPr>
          <a:xfrm>
            <a:off x="2514600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8" name="S09-tile108"/>
          <p:cNvSpPr txBox="1"/>
          <p:nvPr/>
        </p:nvSpPr>
        <p:spPr>
          <a:xfrm>
            <a:off x="3630168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9" name="S09-tile109"/>
          <p:cNvSpPr txBox="1"/>
          <p:nvPr/>
        </p:nvSpPr>
        <p:spPr>
          <a:xfrm>
            <a:off x="4745736" y="201168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0" name="S09-chip11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9-tile111"/>
          <p:cNvSpPr txBox="1"/>
          <p:nvPr/>
        </p:nvSpPr>
        <p:spPr>
          <a:xfrm>
            <a:off x="2514600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2" name="S09-tile112"/>
          <p:cNvSpPr txBox="1"/>
          <p:nvPr/>
        </p:nvSpPr>
        <p:spPr>
          <a:xfrm>
            <a:off x="3630168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3" name="S09-tile113"/>
          <p:cNvSpPr txBox="1"/>
          <p:nvPr/>
        </p:nvSpPr>
        <p:spPr>
          <a:xfrm>
            <a:off x="4745736" y="310896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4" name="S09-chip11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09-tile115"/>
          <p:cNvSpPr txBox="1"/>
          <p:nvPr/>
        </p:nvSpPr>
        <p:spPr>
          <a:xfrm>
            <a:off x="2514600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6" name="S09-tile116"/>
          <p:cNvSpPr txBox="1"/>
          <p:nvPr/>
        </p:nvSpPr>
        <p:spPr>
          <a:xfrm>
            <a:off x="3630168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17" name="S09-tile117"/>
          <p:cNvSpPr txBox="1"/>
          <p:nvPr/>
        </p:nvSpPr>
        <p:spPr>
          <a:xfrm>
            <a:off x="4745736" y="4206240"/>
            <a:ext cx="91440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11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①②③은 소리를 이어 읽고, ④는 듣고 소리 상자에 써요.</a:t>
            </a:r>
            <a:endParaRPr lang="ko-KR" sz="3000" dirty="0"/>
          </a:p>
        </p:txBody>
      </p:sp>
      <p:sp>
        <p:nvSpPr>
          <p:cNvPr id="4" name="S10-chip119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tile120"/>
          <p:cNvSpPr txBox="1"/>
          <p:nvPr/>
        </p:nvSpPr>
        <p:spPr>
          <a:xfrm>
            <a:off x="1369314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5900" dirty="0"/>
          </a:p>
        </p:txBody>
      </p:sp>
      <p:sp>
        <p:nvSpPr>
          <p:cNvPr id="6" name="S10-tile121"/>
          <p:cNvSpPr txBox="1"/>
          <p:nvPr/>
        </p:nvSpPr>
        <p:spPr>
          <a:xfrm>
            <a:off x="2942082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900" dirty="0"/>
          </a:p>
        </p:txBody>
      </p:sp>
      <p:sp>
        <p:nvSpPr>
          <p:cNvPr id="7" name="S10-tile122"/>
          <p:cNvSpPr txBox="1"/>
          <p:nvPr/>
        </p:nvSpPr>
        <p:spPr>
          <a:xfrm>
            <a:off x="4514850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8" name="S10-chip123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tile124"/>
          <p:cNvSpPr txBox="1"/>
          <p:nvPr/>
        </p:nvSpPr>
        <p:spPr>
          <a:xfrm>
            <a:off x="7098030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900" dirty="0"/>
          </a:p>
        </p:txBody>
      </p:sp>
      <p:sp>
        <p:nvSpPr>
          <p:cNvPr id="10" name="S10-tile125"/>
          <p:cNvSpPr txBox="1"/>
          <p:nvPr/>
        </p:nvSpPr>
        <p:spPr>
          <a:xfrm>
            <a:off x="8670798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1" name="S10-tile126"/>
          <p:cNvSpPr txBox="1"/>
          <p:nvPr/>
        </p:nvSpPr>
        <p:spPr>
          <a:xfrm>
            <a:off x="10243566" y="23317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900" dirty="0"/>
          </a:p>
        </p:txBody>
      </p:sp>
      <p:sp>
        <p:nvSpPr>
          <p:cNvPr id="12" name="S10-chip127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10-tile128"/>
          <p:cNvSpPr txBox="1"/>
          <p:nvPr/>
        </p:nvSpPr>
        <p:spPr>
          <a:xfrm>
            <a:off x="1369314" y="452628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5900" dirty="0"/>
          </a:p>
        </p:txBody>
      </p:sp>
      <p:sp>
        <p:nvSpPr>
          <p:cNvPr id="14" name="S10-tile129"/>
          <p:cNvSpPr txBox="1"/>
          <p:nvPr/>
        </p:nvSpPr>
        <p:spPr>
          <a:xfrm>
            <a:off x="2942082" y="452628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15" name="S10-tile130"/>
          <p:cNvSpPr txBox="1"/>
          <p:nvPr/>
        </p:nvSpPr>
        <p:spPr>
          <a:xfrm>
            <a:off x="4514850" y="452628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5900" dirty="0"/>
          </a:p>
        </p:txBody>
      </p:sp>
      <p:sp>
        <p:nvSpPr>
          <p:cNvPr id="16" name="S10-chip131"/>
          <p:cNvSpPr txBox="1"/>
          <p:nvPr/>
        </p:nvSpPr>
        <p:spPr>
          <a:xfrm>
            <a:off x="6277356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7" name="S10-tile132"/>
          <p:cNvSpPr txBox="1"/>
          <p:nvPr/>
        </p:nvSpPr>
        <p:spPr>
          <a:xfrm>
            <a:off x="7098030" y="452628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5900" dirty="0"/>
          </a:p>
        </p:txBody>
      </p:sp>
      <p:sp>
        <p:nvSpPr>
          <p:cNvPr id="18" name="S10-tile133"/>
          <p:cNvSpPr txBox="1"/>
          <p:nvPr/>
        </p:nvSpPr>
        <p:spPr>
          <a:xfrm>
            <a:off x="8670798" y="452628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5900" dirty="0"/>
          </a:p>
        </p:txBody>
      </p:sp>
      <p:sp>
        <p:nvSpPr>
          <p:cNvPr id="19" name="S10-tile134"/>
          <p:cNvSpPr txBox="1"/>
          <p:nvPr/>
        </p:nvSpPr>
        <p:spPr>
          <a:xfrm>
            <a:off x="10243566" y="452628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낱말을 골라요</a:t>
            </a:r>
            <a:endParaRPr lang="ko-KR" sz="4000" dirty="0"/>
          </a:p>
        </p:txBody>
      </p:sp>
      <p:sp>
        <p:nvSpPr>
          <p:cNvPr id="3" name="S12-card1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낱말은? 어떻게 알았나요?</a:t>
            </a:r>
            <a:endParaRPr lang="ko-KR" sz="3000" dirty="0"/>
          </a:p>
        </p:txBody>
      </p:sp>
      <p:sp>
        <p:nvSpPr>
          <p:cNvPr id="5" name="S12-chip137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2-card138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2-cardtext139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bag</a:t>
            </a:r>
            <a:endParaRPr lang="ko-KR" sz="3000" dirty="0"/>
          </a:p>
        </p:txBody>
      </p:sp>
      <p:sp>
        <p:nvSpPr>
          <p:cNvPr id="8" name="S12-chip140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2-card141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2-cardtext142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big</a:t>
            </a:r>
            <a:endParaRPr lang="ko-KR" sz="3000" dirty="0"/>
          </a:p>
        </p:txBody>
      </p:sp>
      <p:sp>
        <p:nvSpPr>
          <p:cNvPr id="11" name="S12-chip143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2-card144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2-cardtext145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bug</a:t>
            </a:r>
            <a:endParaRPr lang="ko-KR" sz="3000" dirty="0"/>
          </a:p>
        </p:txBody>
      </p:sp>
      <p:sp>
        <p:nvSpPr>
          <p:cNvPr id="14" name="S12-chip146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5" name="S12-card147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2-cardtext148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bed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49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50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글자마다 소리를 내고 이어 말하면 낱말을 읽어요.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낱말은 소리 셋으로 나누어 써요.</a:t>
            </a:r>
            <a:endParaRPr lang="ko-KR" sz="3000" dirty="0"/>
          </a:p>
        </p:txBody>
      </p:sp>
      <p:sp>
        <p:nvSpPr>
          <p:cNvPr id="5" name="S13-chip151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세 글자 모두 소리 내기</a:t>
            </a:r>
            <a:endParaRPr lang="ko-KR" sz="2400" dirty="0"/>
          </a:p>
        </p:txBody>
      </p:sp>
      <p:sp>
        <p:nvSpPr>
          <p:cNvPr id="6" name="S13-chip152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첫 글자만 보고 짐작하기</a:t>
            </a:r>
            <a:endParaRPr lang="ko-KR" sz="2400" dirty="0"/>
          </a:p>
        </p:txBody>
      </p:sp>
      <p:sp>
        <p:nvSpPr>
          <p:cNvPr id="7" name="S13-text153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154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sit 읽기</a:t>
            </a:r>
            <a:endParaRPr lang="ko-KR" sz="2400" dirty="0"/>
          </a:p>
        </p:txBody>
      </p:sp>
      <p:sp>
        <p:nvSpPr>
          <p:cNvPr id="9" name="S13-text155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bat 듣고 쓰기</a:t>
            </a:r>
            <a:endParaRPr lang="ko-KR" sz="2400" dirty="0"/>
          </a:p>
        </p:txBody>
      </p:sp>
      <p:sp>
        <p:nvSpPr>
          <p:cNvPr id="10" name="S13-text156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bag과 big의 다른 점은?</a:t>
            </a:r>
            <a:endParaRPr lang="ko-KR" sz="2400" dirty="0"/>
          </a:p>
        </p:txBody>
      </p:sp>
      <p:sp>
        <p:nvSpPr>
          <p:cNvPr id="11" name="S13-text15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짧은 문장 읽고 쓰기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모음 소리 다시</a:t>
            </a:r>
            <a:endParaRPr lang="ko-KR" sz="4000" dirty="0"/>
          </a:p>
        </p:txBody>
      </p:sp>
      <p:sp>
        <p:nvSpPr>
          <p:cNvPr id="3" name="S14-card158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59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열쇠 낱말을 듣고 따라 말해요.</a:t>
            </a:r>
            <a:endParaRPr lang="ko-KR" sz="3000" dirty="0"/>
          </a:p>
        </p:txBody>
      </p:sp>
      <p:sp>
        <p:nvSpPr>
          <p:cNvPr id="5" name="S14-card160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61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소리를 찾아요.</a:t>
            </a:r>
            <a:endParaRPr lang="ko-KR" sz="3000" dirty="0"/>
          </a:p>
        </p:txBody>
      </p:sp>
      <p:sp>
        <p:nvSpPr>
          <p:cNvPr id="7" name="S14-tile162"/>
          <p:cNvSpPr txBox="1"/>
          <p:nvPr/>
        </p:nvSpPr>
        <p:spPr>
          <a:xfrm>
            <a:off x="2263140" y="211378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8" name="S14-label163"/>
          <p:cNvSpPr txBox="1"/>
          <p:nvPr/>
        </p:nvSpPr>
        <p:spPr>
          <a:xfrm>
            <a:off x="2162556" y="352196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2000" dirty="0"/>
          </a:p>
        </p:txBody>
      </p:sp>
      <p:sp>
        <p:nvSpPr>
          <p:cNvPr id="9" name="S14-tile164"/>
          <p:cNvSpPr txBox="1"/>
          <p:nvPr/>
        </p:nvSpPr>
        <p:spPr>
          <a:xfrm>
            <a:off x="3835908" y="211378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5900" dirty="0"/>
          </a:p>
        </p:txBody>
      </p:sp>
      <p:sp>
        <p:nvSpPr>
          <p:cNvPr id="10" name="S14-label165"/>
          <p:cNvSpPr txBox="1"/>
          <p:nvPr/>
        </p:nvSpPr>
        <p:spPr>
          <a:xfrm>
            <a:off x="3735324" y="352196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bed</a:t>
            </a:r>
            <a:endParaRPr lang="ko-KR" sz="2000" dirty="0"/>
          </a:p>
        </p:txBody>
      </p:sp>
      <p:sp>
        <p:nvSpPr>
          <p:cNvPr id="11" name="S14-tile166"/>
          <p:cNvSpPr txBox="1"/>
          <p:nvPr/>
        </p:nvSpPr>
        <p:spPr>
          <a:xfrm>
            <a:off x="5408676" y="211378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5900" dirty="0"/>
          </a:p>
        </p:txBody>
      </p:sp>
      <p:sp>
        <p:nvSpPr>
          <p:cNvPr id="12" name="S14-label167"/>
          <p:cNvSpPr txBox="1"/>
          <p:nvPr/>
        </p:nvSpPr>
        <p:spPr>
          <a:xfrm>
            <a:off x="5308092" y="352196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pig</a:t>
            </a:r>
            <a:endParaRPr lang="ko-KR" sz="2000" dirty="0"/>
          </a:p>
        </p:txBody>
      </p:sp>
      <p:sp>
        <p:nvSpPr>
          <p:cNvPr id="13" name="S14-tile168"/>
          <p:cNvSpPr txBox="1"/>
          <p:nvPr/>
        </p:nvSpPr>
        <p:spPr>
          <a:xfrm>
            <a:off x="6981444" y="211378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14" name="S14-label169"/>
          <p:cNvSpPr txBox="1"/>
          <p:nvPr/>
        </p:nvSpPr>
        <p:spPr>
          <a:xfrm>
            <a:off x="6880860" y="352196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dog</a:t>
            </a:r>
            <a:endParaRPr lang="ko-KR" sz="2000" dirty="0"/>
          </a:p>
        </p:txBody>
      </p:sp>
      <p:sp>
        <p:nvSpPr>
          <p:cNvPr id="15" name="S14-tile170"/>
          <p:cNvSpPr txBox="1"/>
          <p:nvPr/>
        </p:nvSpPr>
        <p:spPr>
          <a:xfrm>
            <a:off x="8554212" y="211378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5900" dirty="0"/>
          </a:p>
        </p:txBody>
      </p:sp>
      <p:sp>
        <p:nvSpPr>
          <p:cNvPr id="16" name="S14-label171"/>
          <p:cNvSpPr txBox="1"/>
          <p:nvPr/>
        </p:nvSpPr>
        <p:spPr>
          <a:xfrm>
            <a:off x="8453628" y="3521964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sun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영어 세 글자 낱말 읽고 쓰기</dc:title>
  <dc:subject>KR22-G04-ENG-CVC-L01</dc:subject>
  <dc:creator>education-ppt</dc:creator>
  <cp:lastModifiedBy>education-ppt</cp:lastModifiedBy>
  <cp:revision>1</cp:revision>
  <dcterms:created xsi:type="dcterms:W3CDTF">2026-10-26T08:22:48Z</dcterms:created>
  <dcterms:modified xsi:type="dcterms:W3CDTF">2026-10-26T08:22:48Z</dcterms:modified>
</cp:coreProperties>
</file>