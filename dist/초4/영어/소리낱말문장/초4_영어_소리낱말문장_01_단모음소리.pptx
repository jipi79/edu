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b04711b6-1b4e-e838-4be5-eb998896fec2}">
          <p14:sldIdLst>
            <p14:sldId id="256"/>
            <p14:sldId id="257"/>
          </p14:sldIdLst>
        </p14:section>
        <p14:section name="개념" id="{6a726cd2-601c-1fc2-7610-7304afa3b1cb}">
          <p14:sldIdLst>
            <p14:sldId id="258"/>
            <p14:sldId id="259"/>
            <p14:sldId id="260"/>
            <p14:sldId id="261"/>
            <p14:sldId id="262"/>
            <p14:sldId id="263"/>
            <p14:sldId id="265"/>
          </p14:sldIdLst>
        </p14:section>
        <p14:section name="연습" id="{bccf4daa-3d6a-8b30-b7c7-c6858854de51}">
          <p14:sldIdLst>
            <p14:sldId id="264"/>
            <p14:sldId id="266"/>
            <p14:sldId id="267"/>
            <p14:sldId id="268"/>
          </p14:sldIdLst>
        </p14:section>
        <p14:section name="개념" id="{37c213ae-12b4-4e3c-4581-cc3faf516bc8}">
          <p14:sldIdLst/>
        </p14:section>
        <p14:section name="연습" id="{e5e0611e-8f8a-4776-f5b9-f99da8523642}">
          <p14:sldIdLst/>
        </p14:section>
        <p14:section name="확인" id="{7c95a896-e470-cbb1-573a-597114862349}">
          <p14:sldIdLst>
            <p14:sldId id="269"/>
            <p14:sldId id="270"/>
            <p14:sldId id="271"/>
          </p14:sldIdLst>
        </p14:section>
        <p14:section name="정리" id="{5797a294-15a8-d185-6019-4ef0ae26f952}">
          <p14:sldIdLst>
            <p14:sldId id="272"/>
          </p14:sldIdLst>
        </p14:section>
        <p14:section name="보충" id="{8550c0e2-885b-ac7a-d822-6c1fd5a405c4}">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모음 글자 다섯 개를 보여 주고, 낱말 속 가운데 소리에 관심을 갖게 합니다.
시간: 약 2분
이렇게 말해 보세요
- “cat과 bed를 소리 자료로 들어 보자. 두 낱말의 가운데 소리가 같아, 달라?”
- “오른쪽 다섯 글자 a, e, i, o, u는 낱말 속에서 짧은 소리를 내. 오늘은 이 다섯 글자의 소리를 배울 거야.”
예상 답
- “달라요.” “잘 모르겠어요.”
주의
- 수업 전에 교과서 디지털 자료나 사전 앱의 발음 듣기로 오늘 낱말(cat, bed, pig, dog, sun, hat, ten, big, hot, cup, cap, map, pen, sit, top, bus, bug)을 미리 들어 두세요. 교과서 디지털 자료에 파닉스(글자 소리) 자료가 있으면 모음 소리만 따로 들을 수 있습니다.
- 소리 자료 없이 진행하면 모음 소리가 맞는지 확인하기 어렵습니다. 이때는 헷갈리는 낱말을 기록해 두었다가 소리 자료로 나중에 확인합니다. 부모님 발음이 완벽하지 않아도 괜찮습니다.
- 이 차시의 소리는 우리말 글자로 적을 수 없습니다. 꼭 소리 자료를 듣고 따라 말하게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확인(소문자 이름과 첫소리)]
목적: 3학년 ‘소문자와 첫소리’에서 배운 소문자 이름과 낱말의 첫 글자 찾기를 확인합니다. 오늘은 낱말 속 소리를 듣고 글자를 찾으므로 꼭 필요합니다.
시간: 약 3분
이렇게 말해 보세요
- “①의 글자 이름을 하나씩 말해 줄래?”
- “②, 엄마(아빠)가 낱말을 말할게. bag. 첫 글자는 무엇일까?”
정답
- ① b, d, p, g (소리 자료의 이름과 같게 말하면 맞음)
- ② b
막히면
- b와 d를 바꿔 말하면 “볼록한 곳이 어느 쪽이야?”라고 묻습니다.
- ①에서 2글자 이상 이름을 말하지 못하거나 ②를 고르지 못하면 S18(보충)을 먼저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모음 글자 다섯 개]
목적: 소문자 26개 가운데 모음 글자 a, e, i, o, u를 찾습니다.
시간: 약 2분
이렇게 말해 보세요
- “색칠한 글자를 찾아 이름을 말해 볼래?”
- “a, e, i, o, u를 ‘모음 글자’라고 해. 나머지 글자는 ‘자음 글자’야.”
- “모음 글자는 cat, bed처럼 세 글자 낱말의 가운데에 자주 와.”
예상 답
- “a, e, i, o, u.”
막히면
- 모음 글자 다섯 개를 손가락 다섯 개에 하나씩 붙여 가며 말하게 합니다.
주의
- y가 모음처럼 소리 나는 경우도 있지만 오늘은 다루지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a의 짧은 소리와 입 모양]
목적: cat 속의 a 소리를 듣고 따라 말하며, 글자 이름과 짧은 소리가 다르다는 것을 압니다(M1).
시간: 약 2분
이렇게 말해 보세요
- “cat을 소리 자료로 들어 보자. 따라 말해 봐. cat.”
- “이번에는 천천히 늘여 말해 볼게. c… a… t. 가운데에서 나는 소리가 a의 짧은 소리야.”
- “글자 이름 a와 cat 속의 a 소리를 번갈아 들어 볼까? 같아, 달라?”
- “거울을 보며 입을 크게 벌리고 입꼬리를 옆으로 당겨서 짧게 소리 내 봐.”
예상 답
- “cat.” “글자 이름이랑 달라요.”
막히면
- 소리 자료로 cat을 여러 번 듣고, 가운데 소리만 떼어 말하는 대신 cat 전체를 따라 말하는 것부터 합니다.
주의
- 모음 소리만 따로 내기 어렵다면 열쇠 낱말 cat을 말하는 것으로 충분합니다. ‘a 하면 cat’처럼 짝지어 기억하게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e의 짧은 소리와 입 모양]
목적: bed 속의 e 소리를 듣고 따라 말하며 a 소리와 입 모양을 비교합니다(M2).
시간: 약 2분
이렇게 말해 보세요
- “bed를 소리 자료로 들어 보자. 따라 말해 봐. bed.”
- “천천히 늘여 말해 볼게. b… e… d. 가운데 소리가 e의 짧은 소리야.”
- “거울을 보며 cat과 bed를 번갈아 말해 볼까? 어느 쪽이 입을 더 크게 벌려?”
예상 답
- “bed.” “cat이 입을 더 크게 벌려요.”
막히면
- 거울로 턱 위치를 보며 cat, bed를 번갈아 말합니다. 턱에 손을 대고 내려가는 정도를 느끼게 해도 좋습니다.
주의
- 우리말에서는 a와 e의 짧은 소리가 비슷하게 들려 헷갈리기 쉽습니다. 오늘 다 구별하지 못해도 괜찮습니다(M2).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i의 짧은 소리와 입 모양]
목적: pig 속의 i 소리를 듣고 따라 말합니다.
시간: 약 2분
이렇게 말해 보세요
- “pig를 소리 자료로 들어 보자. 따라 말해 봐. pig.”
- “천천히 늘여 말해 볼게. p… i… g. 가운데 소리가 i의 짧은 소리야.”
- “글자 이름 i와 pig 속의 i 소리를 번갈아 들어 보자. 어떻게 달라?”
예상 답
- “pig.” “pig 속 소리가 더 짧아요.”
막히면
- 소리 자료로 pig, big을 이어 들으며 따라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o의 짧은 소리와 입 모양]
목적: dog 속의 o 소리를 듣고 따라 말합니다.
시간: 약 2분
이렇게 말해 보세요
- “dog을 소리 자료로 들어 보자. 따라 말해 봐. dog.”
- “천천히 늘여 말해 볼게. d… o… g. 가운데 소리가 o의 짧은 소리야.”
- “거울을 보며 턱을 아래로 쑥 내리고 말해 볼까?”
예상 답
- “dog.” “입이 세로로 커져요.”
막히면
- hot, top처럼 같은 소리가 든 낱말을 소리 자료로 함께 들려줍니다.
주의
- o의 짧은 소리는 영국식과 미국식, 지역에 따라 조금 다르게 들립니다. 아이 교과서의 소리 자료를 따르세요.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u의 짧은 소리와 입 모양]
목적: sun 속의 u 소리를 듣고 따라 말하며 o 소리와 입 모양을 비교합니다(M2).
시간: 약 2분
이렇게 말해 보세요
- “sun을 소리 자료로 들어 보자. 따라 말해 봐. sun.”
- “천천히 늘여 말해 볼게. s… u… n. 가운데 소리가 u의 짧은 소리야.”
- “거울을 보며 dog과 sun을 번갈아 말해 볼까? 어느 쪽이 턱을 더 많이 내려?”
예상 답
- “sun.” “dog이 턱을 더 많이 내려요.”
막히면
- 턱에 손을 대고 dog, sun을 번갈아 말하며 턱이 내려가는 정도를 느끼게 합니다.
주의
- 우리말에서는 o와 u의 짧은 소리가 비슷하게 들려 헷갈리기 쉽습니다. S12에서 다시 비교합니다(M2).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모음 글자를 보고 열쇠 낱말과 소리 말하기]
목적: 차례가 섞인 모음 글자를 보고 열쇠 낱말과 짧은 소리를 떠올립니다.
시간: 약 2분
이렇게 말해 보세요
- “엄마(아빠)가 글자를 짚으면 열쇠 낱말을 말하고, 가운데 짧은 소리를 내 봐. u!”
- 부모가 짚을 차례: u → a → o → i → e, 그다음 순서를 섞어 한 번 더
- “이번엔 엄마(아빠)가 열쇠 낱말을 말할게. 그 모음 글자를 짚어 줘. bed!”
정답
- u → sun, a → cat, o → dog, i → pig, e → bed (소리는 소리 자료와 비슷하게 내면 맞음)
막히면
- S04~S08 가운데 그 글자가 나온 장을 다시 보여 줍니다.
- 글자 이름으로 말하면 “열쇠 낱말 속에서는 어떤 소리였지?”라고 묻습니다(M1).
주의
- 여기까지가 다섯 소리를 익히는 부분입니다. 아이가 지치면 여기서 나누어 다음 날 S10부터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가운데 소리를 찾는 방법]
목적: 낱말을 듣고 가운데 소리를 찾아 모음 글자로 나타내는 방법을 시범으로 보입니다(M3).
시간: 약 3분
이렇게 말해 보세요
- “hat을 들어 보자. 따라 말해 봐. hat.”
- “천천히 늘여 말할게. h… a… t. 가운데 소리에서 손뼉을 쳐 봐.”
- “이 가운데 소리는 cat, bed, pig, dog, sun 중에서 어느 낱말의 가운데 소리와 같아?”
- “그러면 hat의 가운데 모음 글자는?”
예상 답
- “cat이랑 같아요.” “a예요.”
막히면
- 열쇠 낱말 다섯 개를 하나씩 hat과 이어 말해 보게 합니다. cat, hat처럼 끝이 같은 짝은 소리가 잘 들립니다.
주의
- 모음 소리만 떼어 말하지 못해도 ‘cat과 같다’고 말하면 맞은 것으로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낱말을 듣고 가운데 모음 고르기]
목적: 들은 낱말의 가운데 소리에 알맞은 모음 글자를 고릅니다.
시간: 약 3분
이렇게 말해 보세요
- “엄마(아빠)가 낱말을 말하면 따라 말하고, 가운데 모음 글자를 골라 짚어 봐.”
- 부모가 말할 낱말: ① ten ② cup ③ big ④ hot (소리 자료로 들려주어도 됩니다.)
- “어떤 열쇠 낱말과 가운데 소리가 같았어?”
정답
- ① e (ten, bed와 같음) ② u (cup, sun과 같음) ③ i (big, pig와 같음) ④ o (hot, dog과 같음)
막히면
- S10의 네 단계를 다시 따라 합니다.
- ②에서 o를 고르면 S08에서 dog과 sun의 입 모양을 다시 비교합니다(M2).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오개념 비교(a와 u)]
목적: 가운데 모음 하나만 바뀌어도 소리와 뜻이 달라진다는 것을 알고, a와 u를 구별합니다(M2).
시간: 약 3분
이렇게 말해 보세요
- “cap과 cup을 소리 자료로 들어 보자. 무엇이 달라?”
- “친구가 cup을 보고 cap이라고 읽었대. 맞게 읽었을까? 가운데 글자를 봐.”
- “hat과 hot도 들어 볼까? 무엇이 다르지?”
정답
- 바르게 읽지 않았습니다. cup은 가운데 글자가 u라서 sun의 가운데 소리로 읽고, 뜻은 ‘컵’입니다. cap은 가운데 글자가 a라서 cat의 가운데 소리로 읽고, 뜻은 ‘모자’입니다.
- hat과 hot: 가운데 글자가 a와 o로 다릅니다.
막히면
- 거울을 보며 cap(입꼬리를 옆으로), cup(힘을 빼고 반쯤)을 번갈아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같은 모음 낱말 따라 읽기]
목적: 가운데 모음 글자를 보고 열쇠 낱말을 떠올리며 세 글자 낱말을 따라 읽습니다.
시간: 약 2분
이렇게 말해 보세요
- “엄마(아빠)가 한 낱말씩 읽을게. 따라 읽고 가운데 모음 글자를 말해 줘. hat!”
- “위아래로 같은 줄에 있는 두 낱말은 가운데 모음이 같아. 무엇일까?”
- “이번에는 네가 먼저 읽어 볼래? 가운데 글자의 열쇠 낱말을 떠올려 봐.”
정답
- hat, map → a / ten, pen → e / big, sit → i / hot, top → o / bus, cup → u
막히면
- 가운데 글자를 손가락으로 가리고 첫 글자와 끝 글자는 부모가 읽어 준 뒤, 가운데 글자만 열쇠 낱말로 떠올리게 합니다.
주의
- 소리를 하나씩 이어 스스로 읽는 방법은 다음 차시에서 배웁니다. 오늘은 따라 읽으며 가운데 모음을 찾으면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혼자 소리 말하기와 가운데 모음 고르기]
목적: 도움 없이 모음 글자의 짧은 소리를 말하고, 들은 낱말의 가운데 모음을 고르는지 확인합니다.
시간: 약 4분
이렇게 말해 보세요
- “이번에는 혼자 해 볼래? ①의 두 글자를 보고 열쇠 낱말과 짧은 소리를 말해 줘.”
- 부모가 말할 낱말: ② map ③ bug ④ pen
- “②부터 엄마(아빠)가 말하는 낱말의 가운데 모음 글자를 짚어 봐.”
정답
- ① e → bed, o → dog (소리는 소리 자료와 비슷하게 내면 맞음)
- ② a (map) ③ u (bug) ④ e (pen)
막히면
- 바로 알려 주지 말고 “어떤 열쇠 낱말과 가운데 소리가 같아?”라고만 묻습니다.
- 도움을 받아 해결했다면 기록표에 ‘도움’으로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 · 정답과 피드백]
목적: 아이의 답을 확인하고 흔한 실수와 비교합니다.
시간: 약 2분
이렇게 말해 보세요
- “네가 고른 것과 왼쪽 정답을 비교해 보자.”
- “오른쪽처럼 고르면 왜 틀렸을까?”
예상 답
- “bug는 sun이랑 가운데 소리가 같아서 u예요.” “pen은 bed랑 같아요.”
주의
- 이 장은 학생용 파일에서 빠집니다.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[S16 · 마무리 확인]
목적: 가운데 소리만 다른 낱말을 듣고 구별하는지 확인합니다.
시간: 약 2분
이렇게 말해 보세요
- “엄마(아빠)가 하나를 말할게. hot. 가, 나, 다, 라 중에서 어느 것일까? 어떻게 알았어?”
- “이번에는 cup!”
정답
- hot → 나. 가운데 소리가 dog과 같은 o입니다(가의 hat은 a).
- cup → 라. 가운데 소리가 sun과 같은 u입니다(다의 cap은 a).
막히면
- 소리 자료로 두 낱말을 번갈아 들려주고, 거울로 입 모양을 비교하며 다시 고르게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[S17 · 다음 학습과 복습]
목적: 핵심을 정리하고 다음 수업 첫 5분에 풀 복습을 알려 줍니다.
시간: 약 2분
이렇게 말해 보세요
- “모음 글자 다섯 개와 열쇠 낱말을 말해 볼래?”
- “가운데 소리는 어떻게 찾았지?”
예상 답
- “a cat, e bed, i pig, o dog, u sun.” “늘여 말하고 열쇠 낱말과 비교해요.”
정답
- ① a, e, i, o, u ② i ③ 가운데 글자가 a와 u로 달라요(cap은 모자, cup은 컵).
주의
- 다음 차시에서는 자음 소리와 이어 말해 세 글자 낱말을 스스로 읽습니다. 열쇠 낱말 다섯 개를 날마다 한 번씩 말해 보면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[S18 · 선수 학습 보충(소문자와 첫소리)]
목적: S02에서 소문자 이름이나 첫 글자 찾기가 흔들리면, 소리를 배우기 전에 먼저 다집니다.
시간: 약 5분
이렇게 말해 보세요
- “낱말을 하나씩 듣고 따라 말해 보자.” (교과서 디지털 자료나 사전 앱으로 apple, bag, cat, dog, egg, fish를 들려줍니다.)
- “엄마(아빠)가 낱말을 말하면 첫 글자를 짚어 봐. dog!”
- “첫 글자의 이름도 말해 줄래?”
정답
- apple a, bag b, cat c, dog d, egg e, fish f
막히면
- 낱말 카드의 첫 글자를 손가락으로 짚으며 낱말을 천천히 말합니다.
주의
- 보충 뒤에도 소문자 이름이나 첫 글자 찾기가 어려우면 3학년 ‘소문자와 첫소리’(KR22-G03-ENG-LOWER-L01)를 먼저 다시 하고 이 차시를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0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0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초4 영어 · 소리낱말문장 · 1차시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초4 영어 · 단모음 소리</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초4 영어 · 단모음 소리</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초4 영어 · 단모음 소리</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단모음 소리</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cat과 bed의 가운데 소리는</a:t>
            </a:r>
            <a:endParaRPr lang="ko-KR" sz="3000" dirty="0"/>
          </a:p>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어떻게 다를까요?</a:t>
            </a:r>
            <a:endParaRPr lang="ko-KR" sz="3000" dirty="0"/>
          </a:p>
        </p:txBody>
      </p:sp>
      <p:sp>
        <p:nvSpPr>
          <p:cNvPr id="4" name="S01-tile1"/>
          <p:cNvSpPr txBox="1"/>
          <p:nvPr/>
        </p:nvSpPr>
        <p:spPr>
          <a:xfrm>
            <a:off x="7680960" y="826008"/>
            <a:ext cx="1176528" cy="1176528"/>
          </a:xfrm>
          <a:prstGeom prst="roundRect">
            <a:avLst>
              <a:gd name="adj" fmla="val 10881"/>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100" b="1" dirty="0">
                <a:solidFill>
                  <a:srgbClr val="1F2937"/>
                </a:solidFill>
                <a:latin typeface="맑은 고딕" pitchFamily="34" charset="0"/>
                <a:ea typeface="맑은 고딕" pitchFamily="34" charset="-122"/>
                <a:cs typeface="맑은 고딕" pitchFamily="34" charset="-120"/>
              </a:rPr>
              <a:t>a</a:t>
            </a:r>
            <a:endParaRPr lang="ko-KR" sz="5100" dirty="0"/>
          </a:p>
        </p:txBody>
      </p:sp>
      <p:sp>
        <p:nvSpPr>
          <p:cNvPr id="5" name="S01-tile2"/>
          <p:cNvSpPr txBox="1"/>
          <p:nvPr/>
        </p:nvSpPr>
        <p:spPr>
          <a:xfrm>
            <a:off x="9058656" y="826008"/>
            <a:ext cx="1176528" cy="1176528"/>
          </a:xfrm>
          <a:prstGeom prst="roundRect">
            <a:avLst>
              <a:gd name="adj" fmla="val 10881"/>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100" b="1" dirty="0">
                <a:solidFill>
                  <a:srgbClr val="1F2937"/>
                </a:solidFill>
                <a:latin typeface="맑은 고딕" pitchFamily="34" charset="0"/>
                <a:ea typeface="맑은 고딕" pitchFamily="34" charset="-122"/>
                <a:cs typeface="맑은 고딕" pitchFamily="34" charset="-120"/>
              </a:rPr>
              <a:t>e</a:t>
            </a:r>
            <a:endParaRPr lang="ko-KR" sz="5100" dirty="0"/>
          </a:p>
        </p:txBody>
      </p:sp>
      <p:sp>
        <p:nvSpPr>
          <p:cNvPr id="6" name="S01-tile3"/>
          <p:cNvSpPr txBox="1"/>
          <p:nvPr/>
        </p:nvSpPr>
        <p:spPr>
          <a:xfrm>
            <a:off x="10436352" y="826008"/>
            <a:ext cx="1176528" cy="1176528"/>
          </a:xfrm>
          <a:prstGeom prst="roundRect">
            <a:avLst>
              <a:gd name="adj" fmla="val 10881"/>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100" b="1" dirty="0">
                <a:solidFill>
                  <a:srgbClr val="1F2937"/>
                </a:solidFill>
                <a:latin typeface="맑은 고딕" pitchFamily="34" charset="0"/>
                <a:ea typeface="맑은 고딕" pitchFamily="34" charset="-122"/>
                <a:cs typeface="맑은 고딕" pitchFamily="34" charset="-120"/>
              </a:rPr>
              <a:t>i</a:t>
            </a:r>
            <a:endParaRPr lang="ko-KR" sz="5100" dirty="0"/>
          </a:p>
        </p:txBody>
      </p:sp>
      <p:sp>
        <p:nvSpPr>
          <p:cNvPr id="7" name="S01-tile4"/>
          <p:cNvSpPr txBox="1"/>
          <p:nvPr/>
        </p:nvSpPr>
        <p:spPr>
          <a:xfrm>
            <a:off x="8369808" y="2203704"/>
            <a:ext cx="1176528" cy="1176528"/>
          </a:xfrm>
          <a:prstGeom prst="roundRect">
            <a:avLst>
              <a:gd name="adj" fmla="val 10881"/>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100" b="1" dirty="0">
                <a:solidFill>
                  <a:srgbClr val="1F2937"/>
                </a:solidFill>
                <a:latin typeface="맑은 고딕" pitchFamily="34" charset="0"/>
                <a:ea typeface="맑은 고딕" pitchFamily="34" charset="-122"/>
                <a:cs typeface="맑은 고딕" pitchFamily="34" charset="-120"/>
              </a:rPr>
              <a:t>o</a:t>
            </a:r>
            <a:endParaRPr lang="ko-KR" sz="5100" dirty="0"/>
          </a:p>
        </p:txBody>
      </p:sp>
      <p:sp>
        <p:nvSpPr>
          <p:cNvPr id="8" name="S01-tile5"/>
          <p:cNvSpPr txBox="1"/>
          <p:nvPr/>
        </p:nvSpPr>
        <p:spPr>
          <a:xfrm>
            <a:off x="9747504" y="2203704"/>
            <a:ext cx="1176528" cy="1176528"/>
          </a:xfrm>
          <a:prstGeom prst="roundRect">
            <a:avLst>
              <a:gd name="adj" fmla="val 10881"/>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100" b="1" dirty="0">
                <a:solidFill>
                  <a:srgbClr val="1F2937"/>
                </a:solidFill>
                <a:latin typeface="맑은 고딕" pitchFamily="34" charset="0"/>
                <a:ea typeface="맑은 고딕" pitchFamily="34" charset="-122"/>
                <a:cs typeface="맑은 고딕" pitchFamily="34" charset="-120"/>
              </a:rPr>
              <a:t>u</a:t>
            </a:r>
            <a:endParaRPr lang="ko-KR" sz="5100" dirty="0"/>
          </a:p>
        </p:txBody>
      </p:sp>
      <p:sp>
        <p:nvSpPr>
          <p:cNvPr id="9" name="S01-card6"/>
          <p:cNvSpPr/>
          <p:nvPr/>
        </p:nvSpPr>
        <p:spPr>
          <a:xfrm>
            <a:off x="731520" y="4436364"/>
            <a:ext cx="10725912" cy="1690116"/>
          </a:xfrm>
          <a:prstGeom prst="roundRect">
            <a:avLst>
              <a:gd name="adj" fmla="val 6492"/>
            </a:avLst>
          </a:prstGeom>
          <a:solidFill>
            <a:srgbClr val="32606F"/>
          </a:solidFill>
          <a:ln w="12700">
            <a:solidFill>
              <a:srgbClr val="32606F"/>
            </a:solidFill>
            <a:prstDash val="solid"/>
          </a:ln>
        </p:spPr>
      </p:sp>
      <p:sp>
        <p:nvSpPr>
          <p:cNvPr id="10" name="S01-cardtext7"/>
          <p:cNvSpPr txBox="1"/>
          <p:nvPr/>
        </p:nvSpPr>
        <p:spPr>
          <a:xfrm>
            <a:off x="1005840" y="4573524"/>
            <a:ext cx="10177272" cy="14157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FFFFFF"/>
                </a:solidFill>
                <a:latin typeface="맑은 고딕" pitchFamily="34" charset="0"/>
                <a:ea typeface="맑은 고딕" pitchFamily="34" charset="-122"/>
                <a:cs typeface="맑은 고딕" pitchFamily="34" charset="-120"/>
              </a:rPr>
              <a:t>오늘 할 수 있게 될 것</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① a·e·i·o·u의 짧은 소리를 듣고 따라 말해요.</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② 낱말을 듣고 가운데 모음 글자를 찾아요.</a:t>
            </a:r>
            <a:endParaRPr lang="ko-K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소문자와 첫소리 떠올리기</a:t>
            </a:r>
            <a:endParaRPr lang="ko-KR" sz="4000" dirty="0"/>
          </a:p>
        </p:txBody>
      </p:sp>
      <p:sp>
        <p:nvSpPr>
          <p:cNvPr id="3" name="S02-text8"/>
          <p:cNvSpPr txBox="1"/>
          <p:nvPr/>
        </p:nvSpPr>
        <p:spPr>
          <a:xfrm>
            <a:off x="548640" y="1325880"/>
            <a:ext cx="11091672" cy="9296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①은 이름을 말하고, ②는 엄마(아빠)가 말하는 낱말의 첫 글자를 골라요.</a:t>
            </a:r>
            <a:endParaRPr lang="ko-KR" sz="3000" dirty="0"/>
          </a:p>
        </p:txBody>
      </p:sp>
      <p:sp>
        <p:nvSpPr>
          <p:cNvPr id="4" name="S02-chip9"/>
          <p:cNvSpPr txBox="1"/>
          <p:nvPr/>
        </p:nvSpPr>
        <p:spPr>
          <a:xfrm>
            <a:off x="548640" y="30540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02-tile10"/>
          <p:cNvSpPr txBox="1"/>
          <p:nvPr/>
        </p:nvSpPr>
        <p:spPr>
          <a:xfrm>
            <a:off x="1344168" y="2727198"/>
            <a:ext cx="1220724" cy="1220724"/>
          </a:xfrm>
          <a:prstGeom prst="roundRect">
            <a:avLst>
              <a:gd name="adj" fmla="val 10487"/>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300" b="1" dirty="0">
                <a:solidFill>
                  <a:srgbClr val="1F2937"/>
                </a:solidFill>
                <a:latin typeface="맑은 고딕" pitchFamily="34" charset="0"/>
                <a:ea typeface="맑은 고딕" pitchFamily="34" charset="-122"/>
                <a:cs typeface="맑은 고딕" pitchFamily="34" charset="-120"/>
              </a:rPr>
              <a:t>b</a:t>
            </a:r>
            <a:endParaRPr lang="ko-KR" sz="5300" dirty="0"/>
          </a:p>
        </p:txBody>
      </p:sp>
      <p:sp>
        <p:nvSpPr>
          <p:cNvPr id="6" name="S02-tile11"/>
          <p:cNvSpPr txBox="1"/>
          <p:nvPr/>
        </p:nvSpPr>
        <p:spPr>
          <a:xfrm>
            <a:off x="2766060" y="2727198"/>
            <a:ext cx="1220724" cy="1220724"/>
          </a:xfrm>
          <a:prstGeom prst="roundRect">
            <a:avLst>
              <a:gd name="adj" fmla="val 10487"/>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300" b="1" dirty="0">
                <a:solidFill>
                  <a:srgbClr val="1F2937"/>
                </a:solidFill>
                <a:latin typeface="맑은 고딕" pitchFamily="34" charset="0"/>
                <a:ea typeface="맑은 고딕" pitchFamily="34" charset="-122"/>
                <a:cs typeface="맑은 고딕" pitchFamily="34" charset="-120"/>
              </a:rPr>
              <a:t>d</a:t>
            </a:r>
            <a:endParaRPr lang="ko-KR" sz="5300" dirty="0"/>
          </a:p>
        </p:txBody>
      </p:sp>
      <p:sp>
        <p:nvSpPr>
          <p:cNvPr id="7" name="S02-tile12"/>
          <p:cNvSpPr txBox="1"/>
          <p:nvPr/>
        </p:nvSpPr>
        <p:spPr>
          <a:xfrm>
            <a:off x="4187952" y="2727198"/>
            <a:ext cx="1220724" cy="1220724"/>
          </a:xfrm>
          <a:prstGeom prst="roundRect">
            <a:avLst>
              <a:gd name="adj" fmla="val 10487"/>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300" b="1" dirty="0">
                <a:solidFill>
                  <a:srgbClr val="1F2937"/>
                </a:solidFill>
                <a:latin typeface="맑은 고딕" pitchFamily="34" charset="0"/>
                <a:ea typeface="맑은 고딕" pitchFamily="34" charset="-122"/>
                <a:cs typeface="맑은 고딕" pitchFamily="34" charset="-120"/>
              </a:rPr>
              <a:t>p</a:t>
            </a:r>
            <a:endParaRPr lang="ko-KR" sz="5300" dirty="0"/>
          </a:p>
        </p:txBody>
      </p:sp>
      <p:sp>
        <p:nvSpPr>
          <p:cNvPr id="8" name="S02-tile13"/>
          <p:cNvSpPr txBox="1"/>
          <p:nvPr/>
        </p:nvSpPr>
        <p:spPr>
          <a:xfrm>
            <a:off x="5609844" y="2727198"/>
            <a:ext cx="1220724" cy="1220724"/>
          </a:xfrm>
          <a:prstGeom prst="roundRect">
            <a:avLst>
              <a:gd name="adj" fmla="val 10487"/>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300" b="1" dirty="0">
                <a:solidFill>
                  <a:srgbClr val="1F2937"/>
                </a:solidFill>
                <a:latin typeface="맑은 고딕" pitchFamily="34" charset="0"/>
                <a:ea typeface="맑은 고딕" pitchFamily="34" charset="-122"/>
                <a:cs typeface="맑은 고딕" pitchFamily="34" charset="-120"/>
              </a:rPr>
              <a:t>g</a:t>
            </a:r>
            <a:endParaRPr lang="ko-KR" sz="5300" dirty="0"/>
          </a:p>
        </p:txBody>
      </p:sp>
      <p:sp>
        <p:nvSpPr>
          <p:cNvPr id="9" name="S02-chip14"/>
          <p:cNvSpPr txBox="1"/>
          <p:nvPr/>
        </p:nvSpPr>
        <p:spPr>
          <a:xfrm>
            <a:off x="548640" y="5035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10" name="S02-tile15"/>
          <p:cNvSpPr txBox="1"/>
          <p:nvPr/>
        </p:nvSpPr>
        <p:spPr>
          <a:xfrm>
            <a:off x="1828800" y="46329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d</a:t>
            </a:r>
            <a:endParaRPr lang="ko-KR" sz="5900" dirty="0"/>
          </a:p>
        </p:txBody>
      </p:sp>
      <p:sp>
        <p:nvSpPr>
          <p:cNvPr id="11" name="S02-tile16"/>
          <p:cNvSpPr txBox="1"/>
          <p:nvPr/>
        </p:nvSpPr>
        <p:spPr>
          <a:xfrm>
            <a:off x="3401568" y="46329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p</a:t>
            </a:r>
            <a:endParaRPr lang="ko-KR" sz="5900" dirty="0"/>
          </a:p>
        </p:txBody>
      </p:sp>
      <p:sp>
        <p:nvSpPr>
          <p:cNvPr id="12" name="S02-tile17"/>
          <p:cNvSpPr txBox="1"/>
          <p:nvPr/>
        </p:nvSpPr>
        <p:spPr>
          <a:xfrm>
            <a:off x="4974336" y="46329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b</a:t>
            </a:r>
            <a:endParaRPr lang="ko-KR" sz="59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모음 글자 다섯 개</a:t>
            </a:r>
            <a:endParaRPr lang="ko-KR" sz="4000" dirty="0"/>
          </a:p>
        </p:txBody>
      </p:sp>
      <p:sp>
        <p:nvSpPr>
          <p:cNvPr id="3" name="S03-card1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3-cardtext1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색칠한 a, e, i, o, u를 모음 글자라고 해요.</a:t>
            </a:r>
            <a:endParaRPr lang="ko-KR" sz="3000" dirty="0"/>
          </a:p>
        </p:txBody>
      </p:sp>
      <p:sp>
        <p:nvSpPr>
          <p:cNvPr id="5" name="S03-tile20"/>
          <p:cNvSpPr txBox="1"/>
          <p:nvPr/>
        </p:nvSpPr>
        <p:spPr>
          <a:xfrm>
            <a:off x="548640" y="2455164"/>
            <a:ext cx="667512" cy="667512"/>
          </a:xfrm>
          <a:prstGeom prst="roundRect">
            <a:avLst>
              <a:gd name="adj" fmla="val 19178"/>
            </a:avLst>
          </a:prstGeom>
          <a:solidFill>
            <a:srgbClr val="FDEBDD"/>
          </a:solidFill>
          <a:ln w="38100">
            <a:solidFill>
              <a:srgbClr val="E9762B"/>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a</a:t>
            </a:r>
            <a:endParaRPr lang="ko-KR" sz="2900" dirty="0"/>
          </a:p>
        </p:txBody>
      </p:sp>
      <p:sp>
        <p:nvSpPr>
          <p:cNvPr id="6" name="S03-tile21"/>
          <p:cNvSpPr txBox="1"/>
          <p:nvPr/>
        </p:nvSpPr>
        <p:spPr>
          <a:xfrm>
            <a:off x="141732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b</a:t>
            </a:r>
            <a:endParaRPr lang="ko-KR" sz="2900" dirty="0"/>
          </a:p>
        </p:txBody>
      </p:sp>
      <p:sp>
        <p:nvSpPr>
          <p:cNvPr id="7" name="S03-tile22"/>
          <p:cNvSpPr txBox="1"/>
          <p:nvPr/>
        </p:nvSpPr>
        <p:spPr>
          <a:xfrm>
            <a:off x="228600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c</a:t>
            </a:r>
            <a:endParaRPr lang="ko-KR" sz="2900" dirty="0"/>
          </a:p>
        </p:txBody>
      </p:sp>
      <p:sp>
        <p:nvSpPr>
          <p:cNvPr id="8" name="S03-tile23"/>
          <p:cNvSpPr txBox="1"/>
          <p:nvPr/>
        </p:nvSpPr>
        <p:spPr>
          <a:xfrm>
            <a:off x="315468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d</a:t>
            </a:r>
            <a:endParaRPr lang="ko-KR" sz="2900" dirty="0"/>
          </a:p>
        </p:txBody>
      </p:sp>
      <p:sp>
        <p:nvSpPr>
          <p:cNvPr id="9" name="S03-tile24"/>
          <p:cNvSpPr txBox="1"/>
          <p:nvPr/>
        </p:nvSpPr>
        <p:spPr>
          <a:xfrm>
            <a:off x="4023360" y="2455164"/>
            <a:ext cx="667512" cy="667512"/>
          </a:xfrm>
          <a:prstGeom prst="roundRect">
            <a:avLst>
              <a:gd name="adj" fmla="val 19178"/>
            </a:avLst>
          </a:prstGeom>
          <a:solidFill>
            <a:srgbClr val="FDEBDD"/>
          </a:solidFill>
          <a:ln w="38100">
            <a:solidFill>
              <a:srgbClr val="E9762B"/>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e</a:t>
            </a:r>
            <a:endParaRPr lang="ko-KR" sz="2900" dirty="0"/>
          </a:p>
        </p:txBody>
      </p:sp>
      <p:sp>
        <p:nvSpPr>
          <p:cNvPr id="10" name="S03-tile25"/>
          <p:cNvSpPr txBox="1"/>
          <p:nvPr/>
        </p:nvSpPr>
        <p:spPr>
          <a:xfrm>
            <a:off x="489204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f</a:t>
            </a:r>
            <a:endParaRPr lang="ko-KR" sz="2900" dirty="0"/>
          </a:p>
        </p:txBody>
      </p:sp>
      <p:sp>
        <p:nvSpPr>
          <p:cNvPr id="11" name="S03-tile26"/>
          <p:cNvSpPr txBox="1"/>
          <p:nvPr/>
        </p:nvSpPr>
        <p:spPr>
          <a:xfrm>
            <a:off x="576072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g</a:t>
            </a:r>
            <a:endParaRPr lang="ko-KR" sz="2900" dirty="0"/>
          </a:p>
        </p:txBody>
      </p:sp>
      <p:sp>
        <p:nvSpPr>
          <p:cNvPr id="12" name="S03-tile27"/>
          <p:cNvSpPr txBox="1"/>
          <p:nvPr/>
        </p:nvSpPr>
        <p:spPr>
          <a:xfrm>
            <a:off x="662940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h</a:t>
            </a:r>
            <a:endParaRPr lang="ko-KR" sz="2900" dirty="0"/>
          </a:p>
        </p:txBody>
      </p:sp>
      <p:sp>
        <p:nvSpPr>
          <p:cNvPr id="13" name="S03-tile28"/>
          <p:cNvSpPr txBox="1"/>
          <p:nvPr/>
        </p:nvSpPr>
        <p:spPr>
          <a:xfrm>
            <a:off x="7498080" y="2455164"/>
            <a:ext cx="667512" cy="667512"/>
          </a:xfrm>
          <a:prstGeom prst="roundRect">
            <a:avLst>
              <a:gd name="adj" fmla="val 19178"/>
            </a:avLst>
          </a:prstGeom>
          <a:solidFill>
            <a:srgbClr val="FDEBDD"/>
          </a:solidFill>
          <a:ln w="38100">
            <a:solidFill>
              <a:srgbClr val="E9762B"/>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i</a:t>
            </a:r>
            <a:endParaRPr lang="ko-KR" sz="2900" dirty="0"/>
          </a:p>
        </p:txBody>
      </p:sp>
      <p:sp>
        <p:nvSpPr>
          <p:cNvPr id="14" name="S03-tile29"/>
          <p:cNvSpPr txBox="1"/>
          <p:nvPr/>
        </p:nvSpPr>
        <p:spPr>
          <a:xfrm>
            <a:off x="836676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j</a:t>
            </a:r>
            <a:endParaRPr lang="ko-KR" sz="2900" dirty="0"/>
          </a:p>
        </p:txBody>
      </p:sp>
      <p:sp>
        <p:nvSpPr>
          <p:cNvPr id="15" name="S03-tile30"/>
          <p:cNvSpPr txBox="1"/>
          <p:nvPr/>
        </p:nvSpPr>
        <p:spPr>
          <a:xfrm>
            <a:off x="923544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k</a:t>
            </a:r>
            <a:endParaRPr lang="ko-KR" sz="2900" dirty="0"/>
          </a:p>
        </p:txBody>
      </p:sp>
      <p:sp>
        <p:nvSpPr>
          <p:cNvPr id="16" name="S03-tile31"/>
          <p:cNvSpPr txBox="1"/>
          <p:nvPr/>
        </p:nvSpPr>
        <p:spPr>
          <a:xfrm>
            <a:off x="1010412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l</a:t>
            </a:r>
            <a:endParaRPr lang="ko-KR" sz="2900" dirty="0"/>
          </a:p>
        </p:txBody>
      </p:sp>
      <p:sp>
        <p:nvSpPr>
          <p:cNvPr id="17" name="S03-tile32"/>
          <p:cNvSpPr txBox="1"/>
          <p:nvPr/>
        </p:nvSpPr>
        <p:spPr>
          <a:xfrm>
            <a:off x="10972800" y="245516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m</a:t>
            </a:r>
            <a:endParaRPr lang="ko-KR" sz="2900" dirty="0"/>
          </a:p>
        </p:txBody>
      </p:sp>
      <p:sp>
        <p:nvSpPr>
          <p:cNvPr id="18" name="S03-tile33"/>
          <p:cNvSpPr txBox="1"/>
          <p:nvPr/>
        </p:nvSpPr>
        <p:spPr>
          <a:xfrm>
            <a:off x="54864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n</a:t>
            </a:r>
            <a:endParaRPr lang="ko-KR" sz="2900" dirty="0"/>
          </a:p>
        </p:txBody>
      </p:sp>
      <p:sp>
        <p:nvSpPr>
          <p:cNvPr id="19" name="S03-tile34"/>
          <p:cNvSpPr txBox="1"/>
          <p:nvPr/>
        </p:nvSpPr>
        <p:spPr>
          <a:xfrm>
            <a:off x="1417320" y="3323844"/>
            <a:ext cx="667512" cy="667512"/>
          </a:xfrm>
          <a:prstGeom prst="roundRect">
            <a:avLst>
              <a:gd name="adj" fmla="val 19178"/>
            </a:avLst>
          </a:prstGeom>
          <a:solidFill>
            <a:srgbClr val="FDEBDD"/>
          </a:solidFill>
          <a:ln w="38100">
            <a:solidFill>
              <a:srgbClr val="E9762B"/>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o</a:t>
            </a:r>
            <a:endParaRPr lang="ko-KR" sz="2900" dirty="0"/>
          </a:p>
        </p:txBody>
      </p:sp>
      <p:sp>
        <p:nvSpPr>
          <p:cNvPr id="20" name="S03-tile35"/>
          <p:cNvSpPr txBox="1"/>
          <p:nvPr/>
        </p:nvSpPr>
        <p:spPr>
          <a:xfrm>
            <a:off x="228600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p</a:t>
            </a:r>
            <a:endParaRPr lang="ko-KR" sz="2900" dirty="0"/>
          </a:p>
        </p:txBody>
      </p:sp>
      <p:sp>
        <p:nvSpPr>
          <p:cNvPr id="21" name="S03-tile36"/>
          <p:cNvSpPr txBox="1"/>
          <p:nvPr/>
        </p:nvSpPr>
        <p:spPr>
          <a:xfrm>
            <a:off x="315468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q</a:t>
            </a:r>
            <a:endParaRPr lang="ko-KR" sz="2900" dirty="0"/>
          </a:p>
        </p:txBody>
      </p:sp>
      <p:sp>
        <p:nvSpPr>
          <p:cNvPr id="22" name="S03-tile37"/>
          <p:cNvSpPr txBox="1"/>
          <p:nvPr/>
        </p:nvSpPr>
        <p:spPr>
          <a:xfrm>
            <a:off x="402336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r</a:t>
            </a:r>
            <a:endParaRPr lang="ko-KR" sz="2900" dirty="0"/>
          </a:p>
        </p:txBody>
      </p:sp>
      <p:sp>
        <p:nvSpPr>
          <p:cNvPr id="23" name="S03-tile38"/>
          <p:cNvSpPr txBox="1"/>
          <p:nvPr/>
        </p:nvSpPr>
        <p:spPr>
          <a:xfrm>
            <a:off x="489204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s</a:t>
            </a:r>
            <a:endParaRPr lang="ko-KR" sz="2900" dirty="0"/>
          </a:p>
        </p:txBody>
      </p:sp>
      <p:sp>
        <p:nvSpPr>
          <p:cNvPr id="24" name="S03-tile39"/>
          <p:cNvSpPr txBox="1"/>
          <p:nvPr/>
        </p:nvSpPr>
        <p:spPr>
          <a:xfrm>
            <a:off x="576072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t</a:t>
            </a:r>
            <a:endParaRPr lang="ko-KR" sz="2900" dirty="0"/>
          </a:p>
        </p:txBody>
      </p:sp>
      <p:sp>
        <p:nvSpPr>
          <p:cNvPr id="25" name="S03-tile40"/>
          <p:cNvSpPr txBox="1"/>
          <p:nvPr/>
        </p:nvSpPr>
        <p:spPr>
          <a:xfrm>
            <a:off x="6629400" y="3323844"/>
            <a:ext cx="667512" cy="667512"/>
          </a:xfrm>
          <a:prstGeom prst="roundRect">
            <a:avLst>
              <a:gd name="adj" fmla="val 19178"/>
            </a:avLst>
          </a:prstGeom>
          <a:solidFill>
            <a:srgbClr val="FDEBDD"/>
          </a:solidFill>
          <a:ln w="38100">
            <a:solidFill>
              <a:srgbClr val="E9762B"/>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u</a:t>
            </a:r>
            <a:endParaRPr lang="ko-KR" sz="2900" dirty="0"/>
          </a:p>
        </p:txBody>
      </p:sp>
      <p:sp>
        <p:nvSpPr>
          <p:cNvPr id="26" name="S03-tile41"/>
          <p:cNvSpPr txBox="1"/>
          <p:nvPr/>
        </p:nvSpPr>
        <p:spPr>
          <a:xfrm>
            <a:off x="749808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v</a:t>
            </a:r>
            <a:endParaRPr lang="ko-KR" sz="2900" dirty="0"/>
          </a:p>
        </p:txBody>
      </p:sp>
      <p:sp>
        <p:nvSpPr>
          <p:cNvPr id="27" name="S03-tile42"/>
          <p:cNvSpPr txBox="1"/>
          <p:nvPr/>
        </p:nvSpPr>
        <p:spPr>
          <a:xfrm>
            <a:off x="836676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w</a:t>
            </a:r>
            <a:endParaRPr lang="ko-KR" sz="2900" dirty="0"/>
          </a:p>
        </p:txBody>
      </p:sp>
      <p:sp>
        <p:nvSpPr>
          <p:cNvPr id="28" name="S03-tile43"/>
          <p:cNvSpPr txBox="1"/>
          <p:nvPr/>
        </p:nvSpPr>
        <p:spPr>
          <a:xfrm>
            <a:off x="923544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x</a:t>
            </a:r>
            <a:endParaRPr lang="ko-KR" sz="2900" dirty="0"/>
          </a:p>
        </p:txBody>
      </p:sp>
      <p:sp>
        <p:nvSpPr>
          <p:cNvPr id="29" name="S03-tile44"/>
          <p:cNvSpPr txBox="1"/>
          <p:nvPr/>
        </p:nvSpPr>
        <p:spPr>
          <a:xfrm>
            <a:off x="1010412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y</a:t>
            </a:r>
            <a:endParaRPr lang="ko-KR" sz="2900" dirty="0"/>
          </a:p>
        </p:txBody>
      </p:sp>
      <p:sp>
        <p:nvSpPr>
          <p:cNvPr id="30" name="S03-tile45"/>
          <p:cNvSpPr txBox="1"/>
          <p:nvPr/>
        </p:nvSpPr>
        <p:spPr>
          <a:xfrm>
            <a:off x="10972800" y="3323844"/>
            <a:ext cx="667512" cy="667512"/>
          </a:xfrm>
          <a:prstGeom prst="roundRect">
            <a:avLst>
              <a:gd name="adj" fmla="val 191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2900" b="1" dirty="0">
                <a:solidFill>
                  <a:srgbClr val="1F2937"/>
                </a:solidFill>
                <a:latin typeface="맑은 고딕" pitchFamily="34" charset="0"/>
                <a:ea typeface="맑은 고딕" pitchFamily="34" charset="-122"/>
                <a:cs typeface="맑은 고딕" pitchFamily="34" charset="-120"/>
              </a:rPr>
              <a:t>z</a:t>
            </a:r>
            <a:endParaRPr lang="ko-KR" sz="29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a의 짧은 소리</a:t>
            </a:r>
            <a:endParaRPr lang="ko-KR" sz="4000" dirty="0"/>
          </a:p>
        </p:txBody>
      </p:sp>
      <p:sp>
        <p:nvSpPr>
          <p:cNvPr id="3" name="S04-card46"/>
          <p:cNvSpPr/>
          <p:nvPr/>
        </p:nvSpPr>
        <p:spPr>
          <a:xfrm>
            <a:off x="548640" y="4959096"/>
            <a:ext cx="5431536" cy="1258824"/>
          </a:xfrm>
          <a:prstGeom prst="roundRect">
            <a:avLst>
              <a:gd name="adj" fmla="val 8717"/>
            </a:avLst>
          </a:prstGeom>
          <a:solidFill>
            <a:srgbClr val="EAF3F1"/>
          </a:solidFill>
          <a:ln w="12700">
            <a:solidFill>
              <a:srgbClr val="EAF3F1"/>
            </a:solidFill>
            <a:prstDash val="solid"/>
          </a:ln>
        </p:spPr>
      </p:sp>
      <p:sp>
        <p:nvSpPr>
          <p:cNvPr id="4" name="S04-cardtext47"/>
          <p:cNvSpPr txBox="1"/>
          <p:nvPr/>
        </p:nvSpPr>
        <p:spPr>
          <a:xfrm>
            <a:off x="822960" y="5096256"/>
            <a:ext cx="4882896"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입을 크게 벌리고</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입꼬리를 옆으로 당겨요.</a:t>
            </a:r>
            <a:endParaRPr lang="ko-KR" sz="3000" dirty="0"/>
          </a:p>
        </p:txBody>
      </p:sp>
      <p:sp>
        <p:nvSpPr>
          <p:cNvPr id="5" name="S04-card48"/>
          <p:cNvSpPr/>
          <p:nvPr/>
        </p:nvSpPr>
        <p:spPr>
          <a:xfrm>
            <a:off x="6208776" y="4959096"/>
            <a:ext cx="5431536" cy="1258824"/>
          </a:xfrm>
          <a:prstGeom prst="roundRect">
            <a:avLst>
              <a:gd name="adj" fmla="val 8717"/>
            </a:avLst>
          </a:prstGeom>
          <a:solidFill>
            <a:srgbClr val="EAF3F1"/>
          </a:solidFill>
          <a:ln w="12700">
            <a:solidFill>
              <a:srgbClr val="EAF3F1"/>
            </a:solidFill>
            <a:prstDash val="solid"/>
          </a:ln>
        </p:spPr>
      </p:sp>
      <p:sp>
        <p:nvSpPr>
          <p:cNvPr id="6" name="S04-cardtext49"/>
          <p:cNvSpPr txBox="1"/>
          <p:nvPr/>
        </p:nvSpPr>
        <p:spPr>
          <a:xfrm>
            <a:off x="6483096" y="5096256"/>
            <a:ext cx="4882896"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턱이 아래로</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많이 내려가요.</a:t>
            </a:r>
            <a:endParaRPr lang="ko-KR" sz="3000" dirty="0"/>
          </a:p>
        </p:txBody>
      </p:sp>
      <p:sp>
        <p:nvSpPr>
          <p:cNvPr id="7" name="S04-tile50"/>
          <p:cNvSpPr txBox="1"/>
          <p:nvPr/>
        </p:nvSpPr>
        <p:spPr>
          <a:xfrm>
            <a:off x="2418588" y="2205228"/>
            <a:ext cx="1645920" cy="1645920"/>
          </a:xfrm>
          <a:prstGeom prst="roundRect">
            <a:avLst>
              <a:gd name="adj" fmla="val 77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7100" b="1" dirty="0">
                <a:solidFill>
                  <a:srgbClr val="1F2937"/>
                </a:solidFill>
                <a:latin typeface="맑은 고딕" pitchFamily="34" charset="0"/>
                <a:ea typeface="맑은 고딕" pitchFamily="34" charset="-122"/>
                <a:cs typeface="맑은 고딕" pitchFamily="34" charset="-120"/>
              </a:rPr>
              <a:t>a</a:t>
            </a:r>
            <a:endParaRPr lang="ko-KR" sz="7100" dirty="0"/>
          </a:p>
        </p:txBody>
      </p:sp>
      <p:sp>
        <p:nvSpPr>
          <p:cNvPr id="8" name="S04-word51"/>
          <p:cNvSpPr txBox="1"/>
          <p:nvPr/>
        </p:nvSpPr>
        <p:spPr>
          <a:xfrm>
            <a:off x="6254496" y="2159508"/>
            <a:ext cx="538581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cat</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고양이</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e의 짧은 소리</a:t>
            </a:r>
            <a:endParaRPr lang="ko-KR" sz="4000" dirty="0"/>
          </a:p>
        </p:txBody>
      </p:sp>
      <p:sp>
        <p:nvSpPr>
          <p:cNvPr id="3" name="S05-card52"/>
          <p:cNvSpPr/>
          <p:nvPr/>
        </p:nvSpPr>
        <p:spPr>
          <a:xfrm>
            <a:off x="548640" y="4959096"/>
            <a:ext cx="5431536" cy="1258824"/>
          </a:xfrm>
          <a:prstGeom prst="roundRect">
            <a:avLst>
              <a:gd name="adj" fmla="val 8717"/>
            </a:avLst>
          </a:prstGeom>
          <a:solidFill>
            <a:srgbClr val="EAF3F1"/>
          </a:solidFill>
          <a:ln w="12700">
            <a:solidFill>
              <a:srgbClr val="EAF3F1"/>
            </a:solidFill>
            <a:prstDash val="solid"/>
          </a:ln>
        </p:spPr>
      </p:sp>
      <p:sp>
        <p:nvSpPr>
          <p:cNvPr id="4" name="S05-cardtext53"/>
          <p:cNvSpPr txBox="1"/>
          <p:nvPr/>
        </p:nvSpPr>
        <p:spPr>
          <a:xfrm>
            <a:off x="822960" y="5096256"/>
            <a:ext cx="4882896"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a보다 입을</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조금 덜 벌려요.</a:t>
            </a:r>
            <a:endParaRPr lang="ko-KR" sz="3000" dirty="0"/>
          </a:p>
        </p:txBody>
      </p:sp>
      <p:sp>
        <p:nvSpPr>
          <p:cNvPr id="5" name="S05-card54"/>
          <p:cNvSpPr/>
          <p:nvPr/>
        </p:nvSpPr>
        <p:spPr>
          <a:xfrm>
            <a:off x="6208776" y="4959096"/>
            <a:ext cx="5431536" cy="1258824"/>
          </a:xfrm>
          <a:prstGeom prst="roundRect">
            <a:avLst>
              <a:gd name="adj" fmla="val 8717"/>
            </a:avLst>
          </a:prstGeom>
          <a:solidFill>
            <a:srgbClr val="EAF3F1"/>
          </a:solidFill>
          <a:ln w="12700">
            <a:solidFill>
              <a:srgbClr val="EAF3F1"/>
            </a:solidFill>
            <a:prstDash val="solid"/>
          </a:ln>
        </p:spPr>
      </p:sp>
      <p:sp>
        <p:nvSpPr>
          <p:cNvPr id="6" name="S05-cardtext55"/>
          <p:cNvSpPr txBox="1"/>
          <p:nvPr/>
        </p:nvSpPr>
        <p:spPr>
          <a:xfrm>
            <a:off x="6483096" y="5096256"/>
            <a:ext cx="4882896"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입꼬리를 살짝</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옆으로 당겨요.</a:t>
            </a:r>
            <a:endParaRPr lang="ko-KR" sz="3000" dirty="0"/>
          </a:p>
        </p:txBody>
      </p:sp>
      <p:sp>
        <p:nvSpPr>
          <p:cNvPr id="7" name="S05-tile56"/>
          <p:cNvSpPr txBox="1"/>
          <p:nvPr/>
        </p:nvSpPr>
        <p:spPr>
          <a:xfrm>
            <a:off x="2418588" y="2205228"/>
            <a:ext cx="1645920" cy="1645920"/>
          </a:xfrm>
          <a:prstGeom prst="roundRect">
            <a:avLst>
              <a:gd name="adj" fmla="val 77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7100" b="1" dirty="0">
                <a:solidFill>
                  <a:srgbClr val="1F2937"/>
                </a:solidFill>
                <a:latin typeface="맑은 고딕" pitchFamily="34" charset="0"/>
                <a:ea typeface="맑은 고딕" pitchFamily="34" charset="-122"/>
                <a:cs typeface="맑은 고딕" pitchFamily="34" charset="-120"/>
              </a:rPr>
              <a:t>e</a:t>
            </a:r>
            <a:endParaRPr lang="ko-KR" sz="7100" dirty="0"/>
          </a:p>
        </p:txBody>
      </p:sp>
      <p:sp>
        <p:nvSpPr>
          <p:cNvPr id="8" name="S05-word57"/>
          <p:cNvSpPr txBox="1"/>
          <p:nvPr/>
        </p:nvSpPr>
        <p:spPr>
          <a:xfrm>
            <a:off x="6254496" y="2159508"/>
            <a:ext cx="538581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bed</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침대</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i의 짧은 소리</a:t>
            </a:r>
            <a:endParaRPr lang="ko-KR" sz="4000" dirty="0"/>
          </a:p>
        </p:txBody>
      </p:sp>
      <p:sp>
        <p:nvSpPr>
          <p:cNvPr id="3" name="S06-card58"/>
          <p:cNvSpPr/>
          <p:nvPr/>
        </p:nvSpPr>
        <p:spPr>
          <a:xfrm>
            <a:off x="548640" y="4959096"/>
            <a:ext cx="5431536" cy="1258824"/>
          </a:xfrm>
          <a:prstGeom prst="roundRect">
            <a:avLst>
              <a:gd name="adj" fmla="val 8717"/>
            </a:avLst>
          </a:prstGeom>
          <a:solidFill>
            <a:srgbClr val="EAF3F1"/>
          </a:solidFill>
          <a:ln w="12700">
            <a:solidFill>
              <a:srgbClr val="EAF3F1"/>
            </a:solidFill>
            <a:prstDash val="solid"/>
          </a:ln>
        </p:spPr>
      </p:sp>
      <p:sp>
        <p:nvSpPr>
          <p:cNvPr id="4" name="S06-cardtext59"/>
          <p:cNvSpPr txBox="1"/>
          <p:nvPr/>
        </p:nvSpPr>
        <p:spPr>
          <a:xfrm>
            <a:off x="822960" y="5096256"/>
            <a:ext cx="4882896"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입을 조금만 벌리고</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힘을 빼요.</a:t>
            </a:r>
            <a:endParaRPr lang="ko-KR" sz="3000" dirty="0"/>
          </a:p>
        </p:txBody>
      </p:sp>
      <p:sp>
        <p:nvSpPr>
          <p:cNvPr id="5" name="S06-card60"/>
          <p:cNvSpPr/>
          <p:nvPr/>
        </p:nvSpPr>
        <p:spPr>
          <a:xfrm>
            <a:off x="6208776" y="4959096"/>
            <a:ext cx="5431536" cy="1258824"/>
          </a:xfrm>
          <a:prstGeom prst="roundRect">
            <a:avLst>
              <a:gd name="adj" fmla="val 8717"/>
            </a:avLst>
          </a:prstGeom>
          <a:solidFill>
            <a:srgbClr val="EAF3F1"/>
          </a:solidFill>
          <a:ln w="12700">
            <a:solidFill>
              <a:srgbClr val="EAF3F1"/>
            </a:solidFill>
            <a:prstDash val="solid"/>
          </a:ln>
        </p:spPr>
      </p:sp>
      <p:sp>
        <p:nvSpPr>
          <p:cNvPr id="6" name="S06-cardtext61"/>
          <p:cNvSpPr txBox="1"/>
          <p:nvPr/>
        </p:nvSpPr>
        <p:spPr>
          <a:xfrm>
            <a:off x="6483096" y="5096256"/>
            <a:ext cx="4882896"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아주 짧게</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소리 내요.</a:t>
            </a:r>
            <a:endParaRPr lang="ko-KR" sz="3000" dirty="0"/>
          </a:p>
        </p:txBody>
      </p:sp>
      <p:sp>
        <p:nvSpPr>
          <p:cNvPr id="7" name="S06-tile62"/>
          <p:cNvSpPr txBox="1"/>
          <p:nvPr/>
        </p:nvSpPr>
        <p:spPr>
          <a:xfrm>
            <a:off x="2418588" y="2205228"/>
            <a:ext cx="1645920" cy="1645920"/>
          </a:xfrm>
          <a:prstGeom prst="roundRect">
            <a:avLst>
              <a:gd name="adj" fmla="val 77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7100" b="1" dirty="0">
                <a:solidFill>
                  <a:srgbClr val="1F2937"/>
                </a:solidFill>
                <a:latin typeface="맑은 고딕" pitchFamily="34" charset="0"/>
                <a:ea typeface="맑은 고딕" pitchFamily="34" charset="-122"/>
                <a:cs typeface="맑은 고딕" pitchFamily="34" charset="-120"/>
              </a:rPr>
              <a:t>i</a:t>
            </a:r>
            <a:endParaRPr lang="ko-KR" sz="7100" dirty="0"/>
          </a:p>
        </p:txBody>
      </p:sp>
      <p:sp>
        <p:nvSpPr>
          <p:cNvPr id="8" name="S06-word63"/>
          <p:cNvSpPr txBox="1"/>
          <p:nvPr/>
        </p:nvSpPr>
        <p:spPr>
          <a:xfrm>
            <a:off x="6254496" y="2159508"/>
            <a:ext cx="538581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pig</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돼지</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o의 짧은 소리</a:t>
            </a:r>
            <a:endParaRPr lang="ko-KR" sz="4000" dirty="0"/>
          </a:p>
        </p:txBody>
      </p:sp>
      <p:sp>
        <p:nvSpPr>
          <p:cNvPr id="3" name="S07-card64"/>
          <p:cNvSpPr/>
          <p:nvPr/>
        </p:nvSpPr>
        <p:spPr>
          <a:xfrm>
            <a:off x="548640" y="4959096"/>
            <a:ext cx="5431536" cy="1258824"/>
          </a:xfrm>
          <a:prstGeom prst="roundRect">
            <a:avLst>
              <a:gd name="adj" fmla="val 8717"/>
            </a:avLst>
          </a:prstGeom>
          <a:solidFill>
            <a:srgbClr val="EAF3F1"/>
          </a:solidFill>
          <a:ln w="12700">
            <a:solidFill>
              <a:srgbClr val="EAF3F1"/>
            </a:solidFill>
            <a:prstDash val="solid"/>
          </a:ln>
        </p:spPr>
      </p:sp>
      <p:sp>
        <p:nvSpPr>
          <p:cNvPr id="4" name="S07-cardtext65"/>
          <p:cNvSpPr txBox="1"/>
          <p:nvPr/>
        </p:nvSpPr>
        <p:spPr>
          <a:xfrm>
            <a:off x="822960" y="5096256"/>
            <a:ext cx="4882896"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턱을 아래로</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쑥 내려요.</a:t>
            </a:r>
            <a:endParaRPr lang="ko-KR" sz="3000" dirty="0"/>
          </a:p>
        </p:txBody>
      </p:sp>
      <p:sp>
        <p:nvSpPr>
          <p:cNvPr id="5" name="S07-card66"/>
          <p:cNvSpPr/>
          <p:nvPr/>
        </p:nvSpPr>
        <p:spPr>
          <a:xfrm>
            <a:off x="6208776" y="4959096"/>
            <a:ext cx="5431536" cy="1258824"/>
          </a:xfrm>
          <a:prstGeom prst="roundRect">
            <a:avLst>
              <a:gd name="adj" fmla="val 8717"/>
            </a:avLst>
          </a:prstGeom>
          <a:solidFill>
            <a:srgbClr val="EAF3F1"/>
          </a:solidFill>
          <a:ln w="12700">
            <a:solidFill>
              <a:srgbClr val="EAF3F1"/>
            </a:solidFill>
            <a:prstDash val="solid"/>
          </a:ln>
        </p:spPr>
      </p:sp>
      <p:sp>
        <p:nvSpPr>
          <p:cNvPr id="6" name="S07-cardtext67"/>
          <p:cNvSpPr txBox="1"/>
          <p:nvPr/>
        </p:nvSpPr>
        <p:spPr>
          <a:xfrm>
            <a:off x="6483096" y="5096256"/>
            <a:ext cx="4882896"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입을 세로로</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크게 벌려요.</a:t>
            </a:r>
            <a:endParaRPr lang="ko-KR" sz="3000" dirty="0"/>
          </a:p>
        </p:txBody>
      </p:sp>
      <p:sp>
        <p:nvSpPr>
          <p:cNvPr id="7" name="S07-tile68"/>
          <p:cNvSpPr txBox="1"/>
          <p:nvPr/>
        </p:nvSpPr>
        <p:spPr>
          <a:xfrm>
            <a:off x="2418588" y="2205228"/>
            <a:ext cx="1645920" cy="1645920"/>
          </a:xfrm>
          <a:prstGeom prst="roundRect">
            <a:avLst>
              <a:gd name="adj" fmla="val 77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7100" b="1" dirty="0">
                <a:solidFill>
                  <a:srgbClr val="1F2937"/>
                </a:solidFill>
                <a:latin typeface="맑은 고딕" pitchFamily="34" charset="0"/>
                <a:ea typeface="맑은 고딕" pitchFamily="34" charset="-122"/>
                <a:cs typeface="맑은 고딕" pitchFamily="34" charset="-120"/>
              </a:rPr>
              <a:t>o</a:t>
            </a:r>
            <a:endParaRPr lang="ko-KR" sz="7100" dirty="0"/>
          </a:p>
        </p:txBody>
      </p:sp>
      <p:sp>
        <p:nvSpPr>
          <p:cNvPr id="8" name="S07-word69"/>
          <p:cNvSpPr txBox="1"/>
          <p:nvPr/>
        </p:nvSpPr>
        <p:spPr>
          <a:xfrm>
            <a:off x="6254496" y="2159508"/>
            <a:ext cx="538581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dog</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개</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u의 짧은 소리</a:t>
            </a:r>
            <a:endParaRPr lang="ko-KR" sz="4000" dirty="0"/>
          </a:p>
        </p:txBody>
      </p:sp>
      <p:sp>
        <p:nvSpPr>
          <p:cNvPr id="3" name="S08-card70"/>
          <p:cNvSpPr/>
          <p:nvPr/>
        </p:nvSpPr>
        <p:spPr>
          <a:xfrm>
            <a:off x="548640" y="4959096"/>
            <a:ext cx="5431536" cy="1258824"/>
          </a:xfrm>
          <a:prstGeom prst="roundRect">
            <a:avLst>
              <a:gd name="adj" fmla="val 8717"/>
            </a:avLst>
          </a:prstGeom>
          <a:solidFill>
            <a:srgbClr val="EAF3F1"/>
          </a:solidFill>
          <a:ln w="12700">
            <a:solidFill>
              <a:srgbClr val="EAF3F1"/>
            </a:solidFill>
            <a:prstDash val="solid"/>
          </a:ln>
        </p:spPr>
      </p:sp>
      <p:sp>
        <p:nvSpPr>
          <p:cNvPr id="4" name="S08-cardtext71"/>
          <p:cNvSpPr txBox="1"/>
          <p:nvPr/>
        </p:nvSpPr>
        <p:spPr>
          <a:xfrm>
            <a:off x="822960" y="5096256"/>
            <a:ext cx="4882896"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입을 반쯤 벌리고</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힘을 빼요.</a:t>
            </a:r>
            <a:endParaRPr lang="ko-KR" sz="3000" dirty="0"/>
          </a:p>
        </p:txBody>
      </p:sp>
      <p:sp>
        <p:nvSpPr>
          <p:cNvPr id="5" name="S08-card72"/>
          <p:cNvSpPr/>
          <p:nvPr/>
        </p:nvSpPr>
        <p:spPr>
          <a:xfrm>
            <a:off x="6208776" y="4959096"/>
            <a:ext cx="5431536" cy="1258824"/>
          </a:xfrm>
          <a:prstGeom prst="roundRect">
            <a:avLst>
              <a:gd name="adj" fmla="val 8717"/>
            </a:avLst>
          </a:prstGeom>
          <a:solidFill>
            <a:srgbClr val="EAF3F1"/>
          </a:solidFill>
          <a:ln w="12700">
            <a:solidFill>
              <a:srgbClr val="EAF3F1"/>
            </a:solidFill>
            <a:prstDash val="solid"/>
          </a:ln>
        </p:spPr>
      </p:sp>
      <p:sp>
        <p:nvSpPr>
          <p:cNvPr id="6" name="S08-cardtext73"/>
          <p:cNvSpPr txBox="1"/>
          <p:nvPr/>
        </p:nvSpPr>
        <p:spPr>
          <a:xfrm>
            <a:off x="6483096" y="5096256"/>
            <a:ext cx="4882896"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o보다 턱을</a:t>
            </a:r>
            <a:endParaRPr lang="ko-KR" sz="3000" dirty="0"/>
          </a:p>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덜 내려요.</a:t>
            </a:r>
            <a:endParaRPr lang="ko-KR" sz="3000" dirty="0"/>
          </a:p>
        </p:txBody>
      </p:sp>
      <p:sp>
        <p:nvSpPr>
          <p:cNvPr id="7" name="S08-tile74"/>
          <p:cNvSpPr txBox="1"/>
          <p:nvPr/>
        </p:nvSpPr>
        <p:spPr>
          <a:xfrm>
            <a:off x="2418588" y="2205228"/>
            <a:ext cx="1645920" cy="1645920"/>
          </a:xfrm>
          <a:prstGeom prst="roundRect">
            <a:avLst>
              <a:gd name="adj" fmla="val 7778"/>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7100" b="1" dirty="0">
                <a:solidFill>
                  <a:srgbClr val="1F2937"/>
                </a:solidFill>
                <a:latin typeface="맑은 고딕" pitchFamily="34" charset="0"/>
                <a:ea typeface="맑은 고딕" pitchFamily="34" charset="-122"/>
                <a:cs typeface="맑은 고딕" pitchFamily="34" charset="-120"/>
              </a:rPr>
              <a:t>u</a:t>
            </a:r>
            <a:endParaRPr lang="ko-KR" sz="7100" dirty="0"/>
          </a:p>
        </p:txBody>
      </p:sp>
      <p:sp>
        <p:nvSpPr>
          <p:cNvPr id="8" name="S08-word75"/>
          <p:cNvSpPr txBox="1"/>
          <p:nvPr/>
        </p:nvSpPr>
        <p:spPr>
          <a:xfrm>
            <a:off x="6254496" y="2159508"/>
            <a:ext cx="538581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sun</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해</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글자를 보고 소리 내요</a:t>
            </a:r>
            <a:endParaRPr lang="ko-KR" sz="4000" dirty="0"/>
          </a:p>
        </p:txBody>
      </p:sp>
      <p:sp>
        <p:nvSpPr>
          <p:cNvPr id="3" name="S09-text76"/>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짚는 글자의 열쇠 낱말과 짧은 소리를 말해요.</a:t>
            </a:r>
            <a:endParaRPr lang="ko-KR" sz="3000" dirty="0"/>
          </a:p>
        </p:txBody>
      </p:sp>
      <p:sp>
        <p:nvSpPr>
          <p:cNvPr id="4" name="S09-tile77"/>
          <p:cNvSpPr txBox="1"/>
          <p:nvPr/>
        </p:nvSpPr>
        <p:spPr>
          <a:xfrm>
            <a:off x="2034540" y="3383280"/>
            <a:ext cx="1463040" cy="1463040"/>
          </a:xfrm>
          <a:prstGeom prst="roundRect">
            <a:avLst>
              <a:gd name="adj" fmla="val 8750"/>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6300" b="1" dirty="0">
                <a:solidFill>
                  <a:srgbClr val="1F2937"/>
                </a:solidFill>
                <a:latin typeface="맑은 고딕" pitchFamily="34" charset="0"/>
                <a:ea typeface="맑은 고딕" pitchFamily="34" charset="-122"/>
                <a:cs typeface="맑은 고딕" pitchFamily="34" charset="-120"/>
              </a:rPr>
              <a:t>u</a:t>
            </a:r>
            <a:endParaRPr lang="ko-KR" sz="6300" dirty="0"/>
          </a:p>
        </p:txBody>
      </p:sp>
      <p:sp>
        <p:nvSpPr>
          <p:cNvPr id="5" name="S09-tile78"/>
          <p:cNvSpPr txBox="1"/>
          <p:nvPr/>
        </p:nvSpPr>
        <p:spPr>
          <a:xfrm>
            <a:off x="3698748" y="3383280"/>
            <a:ext cx="1463040" cy="1463040"/>
          </a:xfrm>
          <a:prstGeom prst="roundRect">
            <a:avLst>
              <a:gd name="adj" fmla="val 8750"/>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6300" b="1" dirty="0">
                <a:solidFill>
                  <a:srgbClr val="1F2937"/>
                </a:solidFill>
                <a:latin typeface="맑은 고딕" pitchFamily="34" charset="0"/>
                <a:ea typeface="맑은 고딕" pitchFamily="34" charset="-122"/>
                <a:cs typeface="맑은 고딕" pitchFamily="34" charset="-120"/>
              </a:rPr>
              <a:t>a</a:t>
            </a:r>
            <a:endParaRPr lang="ko-KR" sz="6300" dirty="0"/>
          </a:p>
        </p:txBody>
      </p:sp>
      <p:sp>
        <p:nvSpPr>
          <p:cNvPr id="6" name="S09-tile79"/>
          <p:cNvSpPr txBox="1"/>
          <p:nvPr/>
        </p:nvSpPr>
        <p:spPr>
          <a:xfrm>
            <a:off x="5362956" y="3383280"/>
            <a:ext cx="1463040" cy="1463040"/>
          </a:xfrm>
          <a:prstGeom prst="roundRect">
            <a:avLst>
              <a:gd name="adj" fmla="val 8750"/>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6300" b="1" dirty="0">
                <a:solidFill>
                  <a:srgbClr val="1F2937"/>
                </a:solidFill>
                <a:latin typeface="맑은 고딕" pitchFamily="34" charset="0"/>
                <a:ea typeface="맑은 고딕" pitchFamily="34" charset="-122"/>
                <a:cs typeface="맑은 고딕" pitchFamily="34" charset="-120"/>
              </a:rPr>
              <a:t>o</a:t>
            </a:r>
            <a:endParaRPr lang="ko-KR" sz="6300" dirty="0"/>
          </a:p>
        </p:txBody>
      </p:sp>
      <p:sp>
        <p:nvSpPr>
          <p:cNvPr id="7" name="S09-tile80"/>
          <p:cNvSpPr txBox="1"/>
          <p:nvPr/>
        </p:nvSpPr>
        <p:spPr>
          <a:xfrm>
            <a:off x="7027164" y="3383280"/>
            <a:ext cx="1463040" cy="1463040"/>
          </a:xfrm>
          <a:prstGeom prst="roundRect">
            <a:avLst>
              <a:gd name="adj" fmla="val 8750"/>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6300" b="1" dirty="0">
                <a:solidFill>
                  <a:srgbClr val="1F2937"/>
                </a:solidFill>
                <a:latin typeface="맑은 고딕" pitchFamily="34" charset="0"/>
                <a:ea typeface="맑은 고딕" pitchFamily="34" charset="-122"/>
                <a:cs typeface="맑은 고딕" pitchFamily="34" charset="-120"/>
              </a:rPr>
              <a:t>i</a:t>
            </a:r>
            <a:endParaRPr lang="ko-KR" sz="6300" dirty="0"/>
          </a:p>
        </p:txBody>
      </p:sp>
      <p:sp>
        <p:nvSpPr>
          <p:cNvPr id="8" name="S09-tile81"/>
          <p:cNvSpPr txBox="1"/>
          <p:nvPr/>
        </p:nvSpPr>
        <p:spPr>
          <a:xfrm>
            <a:off x="8691372" y="3383280"/>
            <a:ext cx="1463040" cy="1463040"/>
          </a:xfrm>
          <a:prstGeom prst="roundRect">
            <a:avLst>
              <a:gd name="adj" fmla="val 8750"/>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6300" b="1" dirty="0">
                <a:solidFill>
                  <a:srgbClr val="1F2937"/>
                </a:solidFill>
                <a:latin typeface="맑은 고딕" pitchFamily="34" charset="0"/>
                <a:ea typeface="맑은 고딕" pitchFamily="34" charset="-122"/>
                <a:cs typeface="맑은 고딕" pitchFamily="34" charset="-120"/>
              </a:rPr>
              <a:t>e</a:t>
            </a:r>
            <a:endParaRPr lang="ko-KR" sz="63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가운데 소리 찾기</a:t>
            </a:r>
            <a:endParaRPr lang="ko-KR" sz="4000" dirty="0"/>
          </a:p>
        </p:txBody>
      </p:sp>
      <p:sp>
        <p:nvSpPr>
          <p:cNvPr id="3" name="S10-text82"/>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hat의 가운데 모음을 찾아봐요.</a:t>
            </a:r>
            <a:endParaRPr lang="ko-KR" sz="3000" dirty="0"/>
          </a:p>
        </p:txBody>
      </p:sp>
      <p:sp>
        <p:nvSpPr>
          <p:cNvPr id="4" name="S10-word83"/>
          <p:cNvSpPr txBox="1"/>
          <p:nvPr/>
        </p:nvSpPr>
        <p:spPr>
          <a:xfrm>
            <a:off x="6920911" y="3246120"/>
            <a:ext cx="4719401"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hat</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모자</a:t>
            </a:r>
            <a:endParaRPr lang="ko-KR" sz="3400" dirty="0"/>
          </a:p>
        </p:txBody>
      </p:sp>
      <p:sp>
        <p:nvSpPr>
          <p:cNvPr id="5" name="S10-stepno84"/>
          <p:cNvSpPr txBox="1"/>
          <p:nvPr/>
        </p:nvSpPr>
        <p:spPr>
          <a:xfrm>
            <a:off x="548640" y="2389632"/>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1</a:t>
            </a:r>
            <a:endParaRPr lang="ko-KR" sz="2400" dirty="0"/>
          </a:p>
        </p:txBody>
      </p:sp>
      <p:sp>
        <p:nvSpPr>
          <p:cNvPr id="6" name="S10-text85"/>
          <p:cNvSpPr txBox="1"/>
          <p:nvPr/>
        </p:nvSpPr>
        <p:spPr>
          <a:xfrm>
            <a:off x="1325880" y="2389632"/>
            <a:ext cx="5229271"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낱말을 듣고 따라 말해요.</a:t>
            </a:r>
            <a:endParaRPr lang="ko-KR" sz="3000" dirty="0"/>
          </a:p>
        </p:txBody>
      </p:sp>
      <p:sp>
        <p:nvSpPr>
          <p:cNvPr id="7" name="S10-stepno86"/>
          <p:cNvSpPr txBox="1"/>
          <p:nvPr/>
        </p:nvSpPr>
        <p:spPr>
          <a:xfrm>
            <a:off x="548640" y="3148584"/>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2</a:t>
            </a:r>
            <a:endParaRPr lang="ko-KR" sz="2400" dirty="0"/>
          </a:p>
        </p:txBody>
      </p:sp>
      <p:sp>
        <p:nvSpPr>
          <p:cNvPr id="8" name="S10-text87"/>
          <p:cNvSpPr txBox="1"/>
          <p:nvPr/>
        </p:nvSpPr>
        <p:spPr>
          <a:xfrm>
            <a:off x="1325880" y="3102864"/>
            <a:ext cx="5229271"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천천히 늘여 말하며 가운데에서 손뼉을 쳐요.</a:t>
            </a:r>
            <a:endParaRPr lang="ko-KR" sz="3000" dirty="0"/>
          </a:p>
        </p:txBody>
      </p:sp>
      <p:sp>
        <p:nvSpPr>
          <p:cNvPr id="9" name="S10-stepno88"/>
          <p:cNvSpPr txBox="1"/>
          <p:nvPr/>
        </p:nvSpPr>
        <p:spPr>
          <a:xfrm>
            <a:off x="548640" y="4242816"/>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3</a:t>
            </a:r>
            <a:endParaRPr lang="ko-KR" sz="2400" dirty="0"/>
          </a:p>
        </p:txBody>
      </p:sp>
      <p:sp>
        <p:nvSpPr>
          <p:cNvPr id="10" name="S10-text89"/>
          <p:cNvSpPr txBox="1"/>
          <p:nvPr/>
        </p:nvSpPr>
        <p:spPr>
          <a:xfrm>
            <a:off x="1325880" y="4197096"/>
            <a:ext cx="5229271" cy="929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열쇠 낱말 가운데 소리가 같은 것을 찾아요.</a:t>
            </a:r>
            <a:endParaRPr lang="ko-KR" sz="3000" dirty="0"/>
          </a:p>
        </p:txBody>
      </p:sp>
      <p:sp>
        <p:nvSpPr>
          <p:cNvPr id="11" name="S10-stepno90"/>
          <p:cNvSpPr txBox="1"/>
          <p:nvPr/>
        </p:nvSpPr>
        <p:spPr>
          <a:xfrm>
            <a:off x="548640" y="5291328"/>
            <a:ext cx="548640" cy="548640"/>
          </a:xfrm>
          <a:prstGeom prst="ellipse">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4</a:t>
            </a:r>
            <a:endParaRPr lang="ko-KR" sz="2400" dirty="0"/>
          </a:p>
        </p:txBody>
      </p:sp>
      <p:sp>
        <p:nvSpPr>
          <p:cNvPr id="12" name="S10-text91"/>
          <p:cNvSpPr txBox="1"/>
          <p:nvPr/>
        </p:nvSpPr>
        <p:spPr>
          <a:xfrm>
            <a:off x="1325880" y="5291328"/>
            <a:ext cx="5229271" cy="548640"/>
          </a:xfrm>
          <a:prstGeom prst="rect">
            <a:avLst/>
          </a:prstGeom>
          <a:noFill/>
          <a:ln/>
        </p:spPr>
        <p:txBody>
          <a:bodyPr wrap="square" lIns="0" tIns="0" rIns="0" bIns="0" rtlCol="0" anchor="t"/>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그 모음 글자를 골라요.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가운데 모음을 골라요</a:t>
            </a:r>
            <a:endParaRPr lang="ko-KR" sz="4000" dirty="0"/>
          </a:p>
        </p:txBody>
      </p:sp>
      <p:sp>
        <p:nvSpPr>
          <p:cNvPr id="3" name="S11-text92"/>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엄마(아빠)가 말하는 낱말의 가운데 모음을 골라요.</a:t>
            </a:r>
            <a:endParaRPr lang="ko-KR" sz="3000" dirty="0"/>
          </a:p>
        </p:txBody>
      </p:sp>
      <p:sp>
        <p:nvSpPr>
          <p:cNvPr id="4" name="S11-card93"/>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11-cardtext9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열쇠 낱말: cat　bed　pig　dog　sun</a:t>
            </a:r>
            <a:endParaRPr lang="ko-KR" sz="3000" dirty="0"/>
          </a:p>
        </p:txBody>
      </p:sp>
      <p:sp>
        <p:nvSpPr>
          <p:cNvPr id="6" name="S11-chip95"/>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11-tile96"/>
          <p:cNvSpPr txBox="1"/>
          <p:nvPr/>
        </p:nvSpPr>
        <p:spPr>
          <a:xfrm>
            <a:off x="1369314" y="205740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a</a:t>
            </a:r>
            <a:endParaRPr lang="ko-KR" sz="5900" dirty="0"/>
          </a:p>
        </p:txBody>
      </p:sp>
      <p:sp>
        <p:nvSpPr>
          <p:cNvPr id="8" name="S11-tile97"/>
          <p:cNvSpPr txBox="1"/>
          <p:nvPr/>
        </p:nvSpPr>
        <p:spPr>
          <a:xfrm>
            <a:off x="2942082" y="205740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e</a:t>
            </a:r>
            <a:endParaRPr lang="ko-KR" sz="5900" dirty="0"/>
          </a:p>
        </p:txBody>
      </p:sp>
      <p:sp>
        <p:nvSpPr>
          <p:cNvPr id="9" name="S11-tile98"/>
          <p:cNvSpPr txBox="1"/>
          <p:nvPr/>
        </p:nvSpPr>
        <p:spPr>
          <a:xfrm>
            <a:off x="4514850" y="205740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i</a:t>
            </a:r>
            <a:endParaRPr lang="ko-KR" sz="5900" dirty="0"/>
          </a:p>
        </p:txBody>
      </p:sp>
      <p:sp>
        <p:nvSpPr>
          <p:cNvPr id="10" name="S11-chip99"/>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11" name="S11-tile100"/>
          <p:cNvSpPr txBox="1"/>
          <p:nvPr/>
        </p:nvSpPr>
        <p:spPr>
          <a:xfrm>
            <a:off x="7098030" y="205740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o</a:t>
            </a:r>
            <a:endParaRPr lang="ko-KR" sz="5900" dirty="0"/>
          </a:p>
        </p:txBody>
      </p:sp>
      <p:sp>
        <p:nvSpPr>
          <p:cNvPr id="12" name="S11-tile101"/>
          <p:cNvSpPr txBox="1"/>
          <p:nvPr/>
        </p:nvSpPr>
        <p:spPr>
          <a:xfrm>
            <a:off x="8670798" y="205740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u</a:t>
            </a:r>
            <a:endParaRPr lang="ko-KR" sz="5900" dirty="0"/>
          </a:p>
        </p:txBody>
      </p:sp>
      <p:sp>
        <p:nvSpPr>
          <p:cNvPr id="13" name="S11-tile102"/>
          <p:cNvSpPr txBox="1"/>
          <p:nvPr/>
        </p:nvSpPr>
        <p:spPr>
          <a:xfrm>
            <a:off x="10243566" y="205740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a</a:t>
            </a:r>
            <a:endParaRPr lang="ko-KR" sz="5900" dirty="0"/>
          </a:p>
        </p:txBody>
      </p:sp>
      <p:sp>
        <p:nvSpPr>
          <p:cNvPr id="14" name="S11-chip103"/>
          <p:cNvSpPr txBox="1"/>
          <p:nvPr/>
        </p:nvSpPr>
        <p:spPr>
          <a:xfrm>
            <a:off x="548640"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5" name="S11-tile104"/>
          <p:cNvSpPr txBox="1"/>
          <p:nvPr/>
        </p:nvSpPr>
        <p:spPr>
          <a:xfrm>
            <a:off x="1369314" y="370332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i</a:t>
            </a:r>
            <a:endParaRPr lang="ko-KR" sz="5900" dirty="0"/>
          </a:p>
        </p:txBody>
      </p:sp>
      <p:sp>
        <p:nvSpPr>
          <p:cNvPr id="16" name="S11-tile105"/>
          <p:cNvSpPr txBox="1"/>
          <p:nvPr/>
        </p:nvSpPr>
        <p:spPr>
          <a:xfrm>
            <a:off x="2942082" y="370332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o</a:t>
            </a:r>
            <a:endParaRPr lang="ko-KR" sz="5900" dirty="0"/>
          </a:p>
        </p:txBody>
      </p:sp>
      <p:sp>
        <p:nvSpPr>
          <p:cNvPr id="17" name="S11-tile106"/>
          <p:cNvSpPr txBox="1"/>
          <p:nvPr/>
        </p:nvSpPr>
        <p:spPr>
          <a:xfrm>
            <a:off x="4514850" y="370332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e</a:t>
            </a:r>
            <a:endParaRPr lang="ko-KR" sz="5900" dirty="0"/>
          </a:p>
        </p:txBody>
      </p:sp>
      <p:sp>
        <p:nvSpPr>
          <p:cNvPr id="18" name="S11-chip107"/>
          <p:cNvSpPr txBox="1"/>
          <p:nvPr/>
        </p:nvSpPr>
        <p:spPr>
          <a:xfrm>
            <a:off x="6277356"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④</a:t>
            </a:r>
            <a:endParaRPr lang="ko-KR" sz="2400" dirty="0"/>
          </a:p>
        </p:txBody>
      </p:sp>
      <p:sp>
        <p:nvSpPr>
          <p:cNvPr id="19" name="S11-tile108"/>
          <p:cNvSpPr txBox="1"/>
          <p:nvPr/>
        </p:nvSpPr>
        <p:spPr>
          <a:xfrm>
            <a:off x="7098030" y="370332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a</a:t>
            </a:r>
            <a:endParaRPr lang="ko-KR" sz="5900" dirty="0"/>
          </a:p>
        </p:txBody>
      </p:sp>
      <p:sp>
        <p:nvSpPr>
          <p:cNvPr id="20" name="S11-tile109"/>
          <p:cNvSpPr txBox="1"/>
          <p:nvPr/>
        </p:nvSpPr>
        <p:spPr>
          <a:xfrm>
            <a:off x="8670798" y="370332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o</a:t>
            </a:r>
            <a:endParaRPr lang="ko-KR" sz="5900" dirty="0"/>
          </a:p>
        </p:txBody>
      </p:sp>
      <p:sp>
        <p:nvSpPr>
          <p:cNvPr id="21" name="S11-tile110"/>
          <p:cNvSpPr txBox="1"/>
          <p:nvPr/>
        </p:nvSpPr>
        <p:spPr>
          <a:xfrm>
            <a:off x="10243566" y="370332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u</a:t>
            </a:r>
            <a:endParaRPr lang="ko-KR" sz="59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cap일까요, cup일까요?</a:t>
            </a:r>
            <a:endParaRPr lang="ko-KR" sz="4000" dirty="0"/>
          </a:p>
        </p:txBody>
      </p:sp>
      <p:sp>
        <p:nvSpPr>
          <p:cNvPr id="3" name="S12-card111"/>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12-cardtext112"/>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친구가 cup을 보고 ‘cap’이라고 읽었어요.</a:t>
            </a:r>
            <a:endParaRPr lang="ko-KR" sz="3000" dirty="0"/>
          </a:p>
        </p:txBody>
      </p:sp>
      <p:sp>
        <p:nvSpPr>
          <p:cNvPr id="5" name="S12-card11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12-cardtext11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친구가 바르게 읽었나요? 무엇을 보고 알았나요?</a:t>
            </a:r>
            <a:endParaRPr lang="ko-KR" sz="3000" dirty="0"/>
          </a:p>
        </p:txBody>
      </p:sp>
      <p:sp>
        <p:nvSpPr>
          <p:cNvPr id="7" name="S12-chip115"/>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가운데 글자 a</a:t>
            </a:r>
            <a:endParaRPr lang="ko-KR" sz="2400" dirty="0"/>
          </a:p>
        </p:txBody>
      </p:sp>
      <p:sp>
        <p:nvSpPr>
          <p:cNvPr id="8" name="S12-word116"/>
          <p:cNvSpPr txBox="1"/>
          <p:nvPr/>
        </p:nvSpPr>
        <p:spPr>
          <a:xfrm>
            <a:off x="548640" y="3268980"/>
            <a:ext cx="536295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cap</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모자</a:t>
            </a:r>
            <a:endParaRPr lang="ko-KR" sz="3400" dirty="0"/>
          </a:p>
        </p:txBody>
      </p:sp>
      <p:sp>
        <p:nvSpPr>
          <p:cNvPr id="9" name="S12-chip117"/>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가운데 글자 u</a:t>
            </a:r>
            <a:endParaRPr lang="ko-KR" sz="2400" dirty="0"/>
          </a:p>
        </p:txBody>
      </p:sp>
      <p:sp>
        <p:nvSpPr>
          <p:cNvPr id="10" name="S12-word118"/>
          <p:cNvSpPr txBox="1"/>
          <p:nvPr/>
        </p:nvSpPr>
        <p:spPr>
          <a:xfrm>
            <a:off x="6277356" y="3268980"/>
            <a:ext cx="536295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cup</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컵</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따라 읽고 모음 찾기</a:t>
            </a:r>
            <a:endParaRPr lang="ko-KR" sz="4000" dirty="0"/>
          </a:p>
        </p:txBody>
      </p:sp>
      <p:sp>
        <p:nvSpPr>
          <p:cNvPr id="3" name="S13-text119"/>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엄마(아빠)를 따라 읽고, 가운데 모음 글자를 말해요.</a:t>
            </a:r>
            <a:endParaRPr lang="ko-KR" sz="3000" dirty="0"/>
          </a:p>
        </p:txBody>
      </p:sp>
      <p:sp>
        <p:nvSpPr>
          <p:cNvPr id="4" name="S13-word120"/>
          <p:cNvSpPr txBox="1"/>
          <p:nvPr/>
        </p:nvSpPr>
        <p:spPr>
          <a:xfrm>
            <a:off x="548640" y="2240280"/>
            <a:ext cx="1998878"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hat</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모자</a:t>
            </a:r>
            <a:endParaRPr lang="ko-KR" sz="3400" dirty="0"/>
          </a:p>
        </p:txBody>
      </p:sp>
      <p:sp>
        <p:nvSpPr>
          <p:cNvPr id="5" name="S13-word121"/>
          <p:cNvSpPr txBox="1"/>
          <p:nvPr/>
        </p:nvSpPr>
        <p:spPr>
          <a:xfrm>
            <a:off x="2821838" y="2240280"/>
            <a:ext cx="1998878"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ten</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열(10)</a:t>
            </a:r>
            <a:endParaRPr lang="ko-KR" sz="3400" dirty="0"/>
          </a:p>
        </p:txBody>
      </p:sp>
      <p:sp>
        <p:nvSpPr>
          <p:cNvPr id="6" name="S13-word122"/>
          <p:cNvSpPr txBox="1"/>
          <p:nvPr/>
        </p:nvSpPr>
        <p:spPr>
          <a:xfrm>
            <a:off x="5095037" y="2240280"/>
            <a:ext cx="1998878"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big</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큰</a:t>
            </a:r>
            <a:endParaRPr lang="ko-KR" sz="3400" dirty="0"/>
          </a:p>
        </p:txBody>
      </p:sp>
      <p:sp>
        <p:nvSpPr>
          <p:cNvPr id="7" name="S13-word123"/>
          <p:cNvSpPr txBox="1"/>
          <p:nvPr/>
        </p:nvSpPr>
        <p:spPr>
          <a:xfrm>
            <a:off x="7368235" y="2240280"/>
            <a:ext cx="1998878"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hot</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뜨거운</a:t>
            </a:r>
            <a:endParaRPr lang="ko-KR" sz="3400" dirty="0"/>
          </a:p>
        </p:txBody>
      </p:sp>
      <p:sp>
        <p:nvSpPr>
          <p:cNvPr id="8" name="S13-word124"/>
          <p:cNvSpPr txBox="1"/>
          <p:nvPr/>
        </p:nvSpPr>
        <p:spPr>
          <a:xfrm>
            <a:off x="9641434" y="2240280"/>
            <a:ext cx="1998878"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bus</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버스</a:t>
            </a:r>
            <a:endParaRPr lang="ko-KR" sz="3400" dirty="0"/>
          </a:p>
        </p:txBody>
      </p:sp>
      <p:sp>
        <p:nvSpPr>
          <p:cNvPr id="9" name="S13-word125"/>
          <p:cNvSpPr txBox="1"/>
          <p:nvPr/>
        </p:nvSpPr>
        <p:spPr>
          <a:xfrm>
            <a:off x="548640" y="4251960"/>
            <a:ext cx="1998878"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map</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지도</a:t>
            </a:r>
            <a:endParaRPr lang="ko-KR" sz="3400" dirty="0"/>
          </a:p>
        </p:txBody>
      </p:sp>
      <p:sp>
        <p:nvSpPr>
          <p:cNvPr id="10" name="S13-word126"/>
          <p:cNvSpPr txBox="1"/>
          <p:nvPr/>
        </p:nvSpPr>
        <p:spPr>
          <a:xfrm>
            <a:off x="2821838" y="4251960"/>
            <a:ext cx="1998878"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pen</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펜</a:t>
            </a:r>
            <a:endParaRPr lang="ko-KR" sz="3400" dirty="0"/>
          </a:p>
        </p:txBody>
      </p:sp>
      <p:sp>
        <p:nvSpPr>
          <p:cNvPr id="11" name="S13-word127"/>
          <p:cNvSpPr txBox="1"/>
          <p:nvPr/>
        </p:nvSpPr>
        <p:spPr>
          <a:xfrm>
            <a:off x="5095037" y="4251960"/>
            <a:ext cx="1998878"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sit</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앉다</a:t>
            </a:r>
            <a:endParaRPr lang="ko-KR" sz="3400" dirty="0"/>
          </a:p>
        </p:txBody>
      </p:sp>
      <p:sp>
        <p:nvSpPr>
          <p:cNvPr id="12" name="S13-word128"/>
          <p:cNvSpPr txBox="1"/>
          <p:nvPr/>
        </p:nvSpPr>
        <p:spPr>
          <a:xfrm>
            <a:off x="7368235" y="4251960"/>
            <a:ext cx="1998878"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top</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꼭대기</a:t>
            </a:r>
            <a:endParaRPr lang="ko-KR" sz="3400" dirty="0"/>
          </a:p>
        </p:txBody>
      </p:sp>
      <p:sp>
        <p:nvSpPr>
          <p:cNvPr id="13" name="S13-word129"/>
          <p:cNvSpPr txBox="1"/>
          <p:nvPr/>
        </p:nvSpPr>
        <p:spPr>
          <a:xfrm>
            <a:off x="9641434" y="4251960"/>
            <a:ext cx="1998878"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cup</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컵</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4-text130"/>
          <p:cNvSpPr txBox="1"/>
          <p:nvPr/>
        </p:nvSpPr>
        <p:spPr>
          <a:xfrm>
            <a:off x="548640" y="1325880"/>
            <a:ext cx="11091672" cy="9296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①은 열쇠 낱말과 소리를 말하고, ②③④는 듣고 가운데 모음을 골라요.</a:t>
            </a:r>
            <a:endParaRPr lang="ko-KR" sz="3000" dirty="0"/>
          </a:p>
        </p:txBody>
      </p:sp>
      <p:sp>
        <p:nvSpPr>
          <p:cNvPr id="4" name="S14-chip131"/>
          <p:cNvSpPr txBox="1"/>
          <p:nvPr/>
        </p:nvSpPr>
        <p:spPr>
          <a:xfrm>
            <a:off x="548640" y="30540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14-tile132"/>
          <p:cNvSpPr txBox="1"/>
          <p:nvPr/>
        </p:nvSpPr>
        <p:spPr>
          <a:xfrm>
            <a:off x="2155698" y="26517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e</a:t>
            </a:r>
            <a:endParaRPr lang="ko-KR" sz="5900" dirty="0"/>
          </a:p>
        </p:txBody>
      </p:sp>
      <p:sp>
        <p:nvSpPr>
          <p:cNvPr id="6" name="S14-tile133"/>
          <p:cNvSpPr txBox="1"/>
          <p:nvPr/>
        </p:nvSpPr>
        <p:spPr>
          <a:xfrm>
            <a:off x="3728466" y="26517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o</a:t>
            </a:r>
            <a:endParaRPr lang="ko-KR" sz="5900" dirty="0"/>
          </a:p>
        </p:txBody>
      </p:sp>
      <p:sp>
        <p:nvSpPr>
          <p:cNvPr id="7" name="S14-chip134"/>
          <p:cNvSpPr txBox="1"/>
          <p:nvPr/>
        </p:nvSpPr>
        <p:spPr>
          <a:xfrm>
            <a:off x="6277356" y="30540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8" name="S14-tile135"/>
          <p:cNvSpPr txBox="1"/>
          <p:nvPr/>
        </p:nvSpPr>
        <p:spPr>
          <a:xfrm>
            <a:off x="7098030" y="26517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a</a:t>
            </a:r>
            <a:endParaRPr lang="ko-KR" sz="5900" dirty="0"/>
          </a:p>
        </p:txBody>
      </p:sp>
      <p:sp>
        <p:nvSpPr>
          <p:cNvPr id="9" name="S14-tile136"/>
          <p:cNvSpPr txBox="1"/>
          <p:nvPr/>
        </p:nvSpPr>
        <p:spPr>
          <a:xfrm>
            <a:off x="8670798" y="26517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e</a:t>
            </a:r>
            <a:endParaRPr lang="ko-KR" sz="5900" dirty="0"/>
          </a:p>
        </p:txBody>
      </p:sp>
      <p:sp>
        <p:nvSpPr>
          <p:cNvPr id="10" name="S14-tile137"/>
          <p:cNvSpPr txBox="1"/>
          <p:nvPr/>
        </p:nvSpPr>
        <p:spPr>
          <a:xfrm>
            <a:off x="10243566" y="26517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u</a:t>
            </a:r>
            <a:endParaRPr lang="ko-KR" sz="5900" dirty="0"/>
          </a:p>
        </p:txBody>
      </p:sp>
      <p:sp>
        <p:nvSpPr>
          <p:cNvPr id="11" name="S14-chip138"/>
          <p:cNvSpPr txBox="1"/>
          <p:nvPr/>
        </p:nvSpPr>
        <p:spPr>
          <a:xfrm>
            <a:off x="548640" y="5035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2" name="S14-tile139"/>
          <p:cNvSpPr txBox="1"/>
          <p:nvPr/>
        </p:nvSpPr>
        <p:spPr>
          <a:xfrm>
            <a:off x="1369314" y="46329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o</a:t>
            </a:r>
            <a:endParaRPr lang="ko-KR" sz="5900" dirty="0"/>
          </a:p>
        </p:txBody>
      </p:sp>
      <p:sp>
        <p:nvSpPr>
          <p:cNvPr id="13" name="S14-tile140"/>
          <p:cNvSpPr txBox="1"/>
          <p:nvPr/>
        </p:nvSpPr>
        <p:spPr>
          <a:xfrm>
            <a:off x="2942082" y="46329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u</a:t>
            </a:r>
            <a:endParaRPr lang="ko-KR" sz="5900" dirty="0"/>
          </a:p>
        </p:txBody>
      </p:sp>
      <p:sp>
        <p:nvSpPr>
          <p:cNvPr id="14" name="S14-tile141"/>
          <p:cNvSpPr txBox="1"/>
          <p:nvPr/>
        </p:nvSpPr>
        <p:spPr>
          <a:xfrm>
            <a:off x="4514850" y="46329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i</a:t>
            </a:r>
            <a:endParaRPr lang="ko-KR" sz="5900" dirty="0"/>
          </a:p>
        </p:txBody>
      </p:sp>
      <p:sp>
        <p:nvSpPr>
          <p:cNvPr id="15" name="S14-chip142"/>
          <p:cNvSpPr txBox="1"/>
          <p:nvPr/>
        </p:nvSpPr>
        <p:spPr>
          <a:xfrm>
            <a:off x="6277356" y="5035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④</a:t>
            </a:r>
            <a:endParaRPr lang="ko-KR" sz="2400" dirty="0"/>
          </a:p>
        </p:txBody>
      </p:sp>
      <p:sp>
        <p:nvSpPr>
          <p:cNvPr id="16" name="S14-tile143"/>
          <p:cNvSpPr txBox="1"/>
          <p:nvPr/>
        </p:nvSpPr>
        <p:spPr>
          <a:xfrm>
            <a:off x="7098030" y="46329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a</a:t>
            </a:r>
            <a:endParaRPr lang="ko-KR" sz="5900" dirty="0"/>
          </a:p>
        </p:txBody>
      </p:sp>
      <p:sp>
        <p:nvSpPr>
          <p:cNvPr id="17" name="S14-tile144"/>
          <p:cNvSpPr txBox="1"/>
          <p:nvPr/>
        </p:nvSpPr>
        <p:spPr>
          <a:xfrm>
            <a:off x="8670798" y="46329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e</a:t>
            </a:r>
            <a:endParaRPr lang="ko-KR" sz="5900" dirty="0"/>
          </a:p>
        </p:txBody>
      </p:sp>
      <p:sp>
        <p:nvSpPr>
          <p:cNvPr id="18" name="S14-tile145"/>
          <p:cNvSpPr txBox="1"/>
          <p:nvPr/>
        </p:nvSpPr>
        <p:spPr>
          <a:xfrm>
            <a:off x="10243566" y="4632960"/>
            <a:ext cx="1371600" cy="1371600"/>
          </a:xfrm>
          <a:prstGeom prst="roundRect">
            <a:avLst>
              <a:gd name="adj" fmla="val 9333"/>
            </a:avLst>
          </a:prstGeom>
          <a:solidFill>
            <a:srgbClr val="FFFFFF"/>
          </a:solidFill>
          <a:ln w="19050">
            <a:solidFill>
              <a:srgbClr val="264653"/>
            </a:solidFill>
          </a:ln>
        </p:spPr>
        <p:txBody>
          <a:bodyPr wrap="square" lIns="0" tIns="0" rIns="0" bIns="0" rtlCol="0" anchor="ctr"/>
          <a:lstStyle/>
          <a:p>
            <a:pPr eaLnBrk="0" algn="ctr" indent="0" marL="0">
              <a:buNone/>
            </a:pPr>
            <a:r>
              <a:rPr lang="en-US" altLang="ko-KR" sz="5900" b="1" dirty="0">
                <a:solidFill>
                  <a:srgbClr val="1F2937"/>
                </a:solidFill>
                <a:latin typeface="맑은 고딕" pitchFamily="34" charset="0"/>
                <a:ea typeface="맑은 고딕" pitchFamily="34" charset="-122"/>
                <a:cs typeface="맑은 고딕" pitchFamily="34" charset="-120"/>
              </a:rPr>
              <a:t>i</a:t>
            </a:r>
            <a:endParaRPr lang="ko-KR" sz="59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정답 확인</a:t>
            </a:r>
            <a:endParaRPr lang="ko-KR" sz="4000" dirty="0"/>
          </a:p>
        </p:txBody>
      </p:sp>
      <p:sp>
        <p:nvSpPr>
          <p:cNvPr id="3" name="S15-card146"/>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5-cardtext14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모음 글자를 보면 열쇠 낱말을 먼저 떠올려요.</a:t>
            </a:r>
            <a:endParaRPr lang="ko-KR" sz="3000" dirty="0"/>
          </a:p>
        </p:txBody>
      </p:sp>
      <p:sp>
        <p:nvSpPr>
          <p:cNvPr id="5" name="S15-chip148"/>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정답</a:t>
            </a:r>
            <a:endParaRPr lang="ko-KR" sz="2400" dirty="0"/>
          </a:p>
        </p:txBody>
      </p:sp>
      <p:sp>
        <p:nvSpPr>
          <p:cNvPr id="6" name="S15-text149"/>
          <p:cNvSpPr txBox="1"/>
          <p:nvPr/>
        </p:nvSpPr>
        <p:spPr>
          <a:xfrm>
            <a:off x="548640" y="2057400"/>
            <a:ext cx="5362956" cy="12344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① e bed, o dog</a:t>
            </a:r>
            <a:endParaRPr lang="ko-KR" sz="3000" dirty="0"/>
          </a:p>
        </p:txBody>
      </p:sp>
      <p:sp>
        <p:nvSpPr>
          <p:cNvPr id="7" name="S15-text150"/>
          <p:cNvSpPr txBox="1"/>
          <p:nvPr/>
        </p:nvSpPr>
        <p:spPr>
          <a:xfrm>
            <a:off x="548640" y="3429000"/>
            <a:ext cx="2681478" cy="12344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② a  ③ u  ④ e</a:t>
            </a:r>
            <a:endParaRPr lang="ko-KR" sz="3000" dirty="0"/>
          </a:p>
        </p:txBody>
      </p:sp>
      <p:sp>
        <p:nvSpPr>
          <p:cNvPr id="8" name="S15-text151"/>
          <p:cNvSpPr txBox="1"/>
          <p:nvPr/>
        </p:nvSpPr>
        <p:spPr>
          <a:xfrm>
            <a:off x="3367278" y="3429000"/>
            <a:ext cx="2544318" cy="1234440"/>
          </a:xfrm>
          <a:prstGeom prst="rect">
            <a:avLst/>
          </a:prstGeom>
          <a:noFill/>
          <a:ln/>
        </p:spPr>
        <p:txBody>
          <a:bodyPr wrap="square" lIns="0" tIns="0" rIns="0" bIns="0" rtlCol="0" anchor="ctr"/>
          <a:lstStyle/>
          <a:p>
            <a:pPr eaLnBrk="0" algn="l" indent="0" marL="0">
              <a:buNone/>
            </a:pPr>
            <a:r>
              <a:rPr lang="en-US" altLang="ko-KR" sz="2400" dirty="0">
                <a:solidFill>
                  <a:srgbClr val="1F2937"/>
                </a:solidFill>
                <a:latin typeface="맑은 고딕" pitchFamily="34" charset="0"/>
                <a:ea typeface="맑은 고딕" pitchFamily="34" charset="-122"/>
                <a:cs typeface="맑은 고딕" pitchFamily="34" charset="-120"/>
              </a:rPr>
              <a:t>map, bug, pen</a:t>
            </a:r>
            <a:endParaRPr lang="ko-KR" sz="2400" dirty="0"/>
          </a:p>
        </p:txBody>
      </p:sp>
      <p:sp>
        <p:nvSpPr>
          <p:cNvPr id="9" name="S15-chip152"/>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흔한 실수</a:t>
            </a:r>
            <a:endParaRPr lang="ko-KR" sz="2400" dirty="0"/>
          </a:p>
        </p:txBody>
      </p:sp>
      <p:sp>
        <p:nvSpPr>
          <p:cNvPr id="10" name="S15-text153"/>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③ bug를 o로</a:t>
            </a:r>
            <a:endParaRPr lang="ko-KR" sz="3000" dirty="0"/>
          </a:p>
        </p:txBody>
      </p:sp>
      <p:sp>
        <p:nvSpPr>
          <p:cNvPr id="11" name="S15-text154"/>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sun과 같은 소리</a:t>
            </a:r>
            <a:endParaRPr lang="ko-KR" sz="2400" dirty="0"/>
          </a:p>
        </p:txBody>
      </p:sp>
      <p:sp>
        <p:nvSpPr>
          <p:cNvPr id="12" name="S15-text155"/>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④ pen을 a로</a:t>
            </a:r>
            <a:endParaRPr lang="ko-KR" sz="3000" dirty="0"/>
          </a:p>
        </p:txBody>
      </p:sp>
      <p:sp>
        <p:nvSpPr>
          <p:cNvPr id="13" name="S15-text156"/>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bed와 같은 소리</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말하는 낱말을 골라요</a:t>
            </a:r>
            <a:endParaRPr lang="ko-KR" sz="4000" dirty="0"/>
          </a:p>
        </p:txBody>
      </p:sp>
      <p:sp>
        <p:nvSpPr>
          <p:cNvPr id="3" name="S16-card157"/>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6-cardtext158"/>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엄마(아빠)가 말하는 낱말은? 어떻게 알았나요?</a:t>
            </a:r>
            <a:endParaRPr lang="ko-KR" sz="3000" dirty="0"/>
          </a:p>
        </p:txBody>
      </p:sp>
      <p:sp>
        <p:nvSpPr>
          <p:cNvPr id="5" name="S16-chip159"/>
          <p:cNvSpPr txBox="1"/>
          <p:nvPr/>
        </p:nvSpPr>
        <p:spPr>
          <a:xfrm>
            <a:off x="548640"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가</a:t>
            </a:r>
            <a:endParaRPr lang="ko-KR" sz="3000" dirty="0"/>
          </a:p>
        </p:txBody>
      </p:sp>
      <p:sp>
        <p:nvSpPr>
          <p:cNvPr id="6" name="S16-card160"/>
          <p:cNvSpPr/>
          <p:nvPr/>
        </p:nvSpPr>
        <p:spPr>
          <a:xfrm>
            <a:off x="1344168" y="1325880"/>
            <a:ext cx="4567428" cy="1760220"/>
          </a:xfrm>
          <a:prstGeom prst="roundRect">
            <a:avLst>
              <a:gd name="adj" fmla="val 6234"/>
            </a:avLst>
          </a:prstGeom>
          <a:solidFill>
            <a:srgbClr val="EAF3F1"/>
          </a:solidFill>
          <a:ln w="12700">
            <a:solidFill>
              <a:srgbClr val="EAF3F1"/>
            </a:solidFill>
            <a:prstDash val="solid"/>
          </a:ln>
        </p:spPr>
      </p:sp>
      <p:sp>
        <p:nvSpPr>
          <p:cNvPr id="7" name="S16-cardtext161"/>
          <p:cNvSpPr txBox="1"/>
          <p:nvPr/>
        </p:nvSpPr>
        <p:spPr>
          <a:xfrm>
            <a:off x="1618488" y="1463040"/>
            <a:ext cx="4018788" cy="1485900"/>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hat</a:t>
            </a:r>
            <a:endParaRPr lang="ko-KR" sz="3000" dirty="0"/>
          </a:p>
        </p:txBody>
      </p:sp>
      <p:sp>
        <p:nvSpPr>
          <p:cNvPr id="8" name="S16-chip162"/>
          <p:cNvSpPr txBox="1"/>
          <p:nvPr/>
        </p:nvSpPr>
        <p:spPr>
          <a:xfrm>
            <a:off x="6277356"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나</a:t>
            </a:r>
            <a:endParaRPr lang="ko-KR" sz="3000" dirty="0"/>
          </a:p>
        </p:txBody>
      </p:sp>
      <p:sp>
        <p:nvSpPr>
          <p:cNvPr id="9" name="S16-card163"/>
          <p:cNvSpPr/>
          <p:nvPr/>
        </p:nvSpPr>
        <p:spPr>
          <a:xfrm>
            <a:off x="7072884" y="1325880"/>
            <a:ext cx="4567428" cy="1760220"/>
          </a:xfrm>
          <a:prstGeom prst="roundRect">
            <a:avLst>
              <a:gd name="adj" fmla="val 6234"/>
            </a:avLst>
          </a:prstGeom>
          <a:solidFill>
            <a:srgbClr val="EAF3F1"/>
          </a:solidFill>
          <a:ln w="12700">
            <a:solidFill>
              <a:srgbClr val="EAF3F1"/>
            </a:solidFill>
            <a:prstDash val="solid"/>
          </a:ln>
        </p:spPr>
      </p:sp>
      <p:sp>
        <p:nvSpPr>
          <p:cNvPr id="10" name="S16-cardtext164"/>
          <p:cNvSpPr txBox="1"/>
          <p:nvPr/>
        </p:nvSpPr>
        <p:spPr>
          <a:xfrm>
            <a:off x="7347204" y="1463040"/>
            <a:ext cx="4018788" cy="1485900"/>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hot</a:t>
            </a:r>
            <a:endParaRPr lang="ko-KR" sz="3000" dirty="0"/>
          </a:p>
        </p:txBody>
      </p:sp>
      <p:sp>
        <p:nvSpPr>
          <p:cNvPr id="11" name="S16-chip165"/>
          <p:cNvSpPr txBox="1"/>
          <p:nvPr/>
        </p:nvSpPr>
        <p:spPr>
          <a:xfrm>
            <a:off x="548640"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다</a:t>
            </a:r>
            <a:endParaRPr lang="ko-KR" sz="3000" dirty="0"/>
          </a:p>
        </p:txBody>
      </p:sp>
      <p:sp>
        <p:nvSpPr>
          <p:cNvPr id="12" name="S16-card166"/>
          <p:cNvSpPr/>
          <p:nvPr/>
        </p:nvSpPr>
        <p:spPr>
          <a:xfrm>
            <a:off x="1344168" y="3360420"/>
            <a:ext cx="4567428" cy="1760220"/>
          </a:xfrm>
          <a:prstGeom prst="roundRect">
            <a:avLst>
              <a:gd name="adj" fmla="val 6234"/>
            </a:avLst>
          </a:prstGeom>
          <a:solidFill>
            <a:srgbClr val="EAF3F1"/>
          </a:solidFill>
          <a:ln w="12700">
            <a:solidFill>
              <a:srgbClr val="EAF3F1"/>
            </a:solidFill>
            <a:prstDash val="solid"/>
          </a:ln>
        </p:spPr>
      </p:sp>
      <p:sp>
        <p:nvSpPr>
          <p:cNvPr id="13" name="S16-cardtext167"/>
          <p:cNvSpPr txBox="1"/>
          <p:nvPr/>
        </p:nvSpPr>
        <p:spPr>
          <a:xfrm>
            <a:off x="1618488" y="3497580"/>
            <a:ext cx="4018788" cy="1485900"/>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cap</a:t>
            </a:r>
            <a:endParaRPr lang="ko-KR" sz="3000" dirty="0"/>
          </a:p>
        </p:txBody>
      </p:sp>
      <p:sp>
        <p:nvSpPr>
          <p:cNvPr id="14" name="S16-chip168"/>
          <p:cNvSpPr txBox="1"/>
          <p:nvPr/>
        </p:nvSpPr>
        <p:spPr>
          <a:xfrm>
            <a:off x="6277356"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라</a:t>
            </a:r>
            <a:endParaRPr lang="ko-KR" sz="3000" dirty="0"/>
          </a:p>
        </p:txBody>
      </p:sp>
      <p:sp>
        <p:nvSpPr>
          <p:cNvPr id="15" name="S16-card169"/>
          <p:cNvSpPr/>
          <p:nvPr/>
        </p:nvSpPr>
        <p:spPr>
          <a:xfrm>
            <a:off x="7072884" y="3360420"/>
            <a:ext cx="4567428" cy="1760220"/>
          </a:xfrm>
          <a:prstGeom prst="roundRect">
            <a:avLst>
              <a:gd name="adj" fmla="val 6234"/>
            </a:avLst>
          </a:prstGeom>
          <a:solidFill>
            <a:srgbClr val="EAF3F1"/>
          </a:solidFill>
          <a:ln w="12700">
            <a:solidFill>
              <a:srgbClr val="EAF3F1"/>
            </a:solidFill>
            <a:prstDash val="solid"/>
          </a:ln>
        </p:spPr>
      </p:sp>
      <p:sp>
        <p:nvSpPr>
          <p:cNvPr id="16" name="S16-cardtext170"/>
          <p:cNvSpPr txBox="1"/>
          <p:nvPr/>
        </p:nvSpPr>
        <p:spPr>
          <a:xfrm>
            <a:off x="7347204" y="3497580"/>
            <a:ext cx="4018788" cy="1485900"/>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cup</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7-card171"/>
          <p:cNvSpPr/>
          <p:nvPr/>
        </p:nvSpPr>
        <p:spPr>
          <a:xfrm>
            <a:off x="548640" y="1325880"/>
            <a:ext cx="11091672" cy="1258824"/>
          </a:xfrm>
          <a:prstGeom prst="roundRect">
            <a:avLst>
              <a:gd name="adj" fmla="val 8717"/>
            </a:avLst>
          </a:prstGeom>
          <a:solidFill>
            <a:srgbClr val="32606F"/>
          </a:solidFill>
          <a:ln w="12700">
            <a:solidFill>
              <a:srgbClr val="32606F"/>
            </a:solidFill>
            <a:prstDash val="solid"/>
          </a:ln>
        </p:spPr>
      </p:sp>
      <p:sp>
        <p:nvSpPr>
          <p:cNvPr id="4" name="S17-cardtext172"/>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a·e·i·o·u는 낱말 속에서 짧은 소리를 내요.</a:t>
            </a:r>
            <a:endParaRPr lang="ko-KR" sz="3000" dirty="0"/>
          </a:p>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열쇠 낱말 cat, bed, pig, dog, sun을 떠올려요.</a:t>
            </a:r>
            <a:endParaRPr lang="ko-KR" sz="3000" dirty="0"/>
          </a:p>
        </p:txBody>
      </p:sp>
      <p:sp>
        <p:nvSpPr>
          <p:cNvPr id="5" name="S17-chip173"/>
          <p:cNvSpPr txBox="1"/>
          <p:nvPr/>
        </p:nvSpPr>
        <p:spPr>
          <a:xfrm>
            <a:off x="548640" y="2813304"/>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열쇠 낱말 떠올리기</a:t>
            </a:r>
            <a:endParaRPr lang="ko-KR" sz="2400" dirty="0"/>
          </a:p>
        </p:txBody>
      </p:sp>
      <p:sp>
        <p:nvSpPr>
          <p:cNvPr id="6" name="S17-chip174"/>
          <p:cNvSpPr txBox="1"/>
          <p:nvPr/>
        </p:nvSpPr>
        <p:spPr>
          <a:xfrm>
            <a:off x="6208776" y="2813304"/>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글자 이름으로 읽기</a:t>
            </a:r>
            <a:endParaRPr lang="ko-KR" sz="2400" dirty="0"/>
          </a:p>
        </p:txBody>
      </p:sp>
      <p:sp>
        <p:nvSpPr>
          <p:cNvPr id="7" name="S17-text175"/>
          <p:cNvSpPr txBox="1"/>
          <p:nvPr/>
        </p:nvSpPr>
        <p:spPr>
          <a:xfrm>
            <a:off x="548640" y="3636264"/>
            <a:ext cx="11091672" cy="457200"/>
          </a:xfrm>
          <a:prstGeom prst="rect">
            <a:avLst/>
          </a:prstGeom>
          <a:noFill/>
          <a:ln/>
        </p:spPr>
        <p:txBody>
          <a:bodyPr wrap="square" lIns="0" tIns="0" rIns="0" bIns="0" rtlCol="0" anchor="t"/>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400" dirty="0"/>
          </a:p>
        </p:txBody>
      </p:sp>
      <p:sp>
        <p:nvSpPr>
          <p:cNvPr id="8" name="S17-text176"/>
          <p:cNvSpPr txBox="1"/>
          <p:nvPr/>
        </p:nvSpPr>
        <p:spPr>
          <a:xfrm>
            <a:off x="548640"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① 모음 글자 다섯 개는?</a:t>
            </a:r>
            <a:endParaRPr lang="ko-KR" sz="2400" dirty="0"/>
          </a:p>
        </p:txBody>
      </p:sp>
      <p:sp>
        <p:nvSpPr>
          <p:cNvPr id="9" name="S17-text177"/>
          <p:cNvSpPr txBox="1"/>
          <p:nvPr/>
        </p:nvSpPr>
        <p:spPr>
          <a:xfrm>
            <a:off x="4322064"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② pig의 가운데 모음은?</a:t>
            </a:r>
            <a:endParaRPr lang="ko-KR" sz="2400" dirty="0"/>
          </a:p>
        </p:txBody>
      </p:sp>
      <p:sp>
        <p:nvSpPr>
          <p:cNvPr id="10" name="S17-text178"/>
          <p:cNvSpPr txBox="1"/>
          <p:nvPr/>
        </p:nvSpPr>
        <p:spPr>
          <a:xfrm>
            <a:off x="8095488"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③ cap과 cup의 다른 점은?</a:t>
            </a:r>
            <a:endParaRPr lang="ko-KR" sz="2400" dirty="0"/>
          </a:p>
        </p:txBody>
      </p:sp>
      <p:sp>
        <p:nvSpPr>
          <p:cNvPr id="11" name="S17-text179"/>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400" dirty="0">
                <a:solidFill>
                  <a:srgbClr val="C9DCD8"/>
                </a:solidFill>
                <a:latin typeface="맑은 고딕" pitchFamily="34" charset="0"/>
                <a:ea typeface="맑은 고딕" pitchFamily="34" charset="-122"/>
                <a:cs typeface="맑은 고딕" pitchFamily="34" charset="-120"/>
              </a:rPr>
              <a:t>다음 시간: 세 글자 낱말 읽고 쓰기</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소문자와 첫소리</a:t>
            </a:r>
            <a:endParaRPr lang="ko-KR" sz="4000" dirty="0"/>
          </a:p>
        </p:txBody>
      </p:sp>
      <p:sp>
        <p:nvSpPr>
          <p:cNvPr id="3" name="S18-card180"/>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8-cardtext181"/>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낱말의 맨 처음 소리를 듣고 첫 글자를 찾아요.</a:t>
            </a:r>
            <a:endParaRPr lang="ko-KR" sz="3000" dirty="0"/>
          </a:p>
        </p:txBody>
      </p:sp>
      <p:sp>
        <p:nvSpPr>
          <p:cNvPr id="5" name="S18-word182"/>
          <p:cNvSpPr txBox="1"/>
          <p:nvPr/>
        </p:nvSpPr>
        <p:spPr>
          <a:xfrm>
            <a:off x="548640" y="134874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apple</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사과</a:t>
            </a:r>
            <a:endParaRPr lang="ko-KR" sz="3400" dirty="0"/>
          </a:p>
        </p:txBody>
      </p:sp>
      <p:sp>
        <p:nvSpPr>
          <p:cNvPr id="6" name="S18-word183"/>
          <p:cNvSpPr txBox="1"/>
          <p:nvPr/>
        </p:nvSpPr>
        <p:spPr>
          <a:xfrm>
            <a:off x="4337304" y="134874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bag</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가방</a:t>
            </a:r>
            <a:endParaRPr lang="ko-KR" sz="3400" dirty="0"/>
          </a:p>
        </p:txBody>
      </p:sp>
      <p:sp>
        <p:nvSpPr>
          <p:cNvPr id="7" name="S18-word184"/>
          <p:cNvSpPr txBox="1"/>
          <p:nvPr/>
        </p:nvSpPr>
        <p:spPr>
          <a:xfrm>
            <a:off x="8125968" y="134874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cat</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고양이</a:t>
            </a:r>
            <a:endParaRPr lang="ko-KR" sz="3400" dirty="0"/>
          </a:p>
        </p:txBody>
      </p:sp>
      <p:sp>
        <p:nvSpPr>
          <p:cNvPr id="8" name="S18-word185"/>
          <p:cNvSpPr txBox="1"/>
          <p:nvPr/>
        </p:nvSpPr>
        <p:spPr>
          <a:xfrm>
            <a:off x="548640" y="336042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dog</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개</a:t>
            </a:r>
            <a:endParaRPr lang="ko-KR" sz="3400" dirty="0"/>
          </a:p>
        </p:txBody>
      </p:sp>
      <p:sp>
        <p:nvSpPr>
          <p:cNvPr id="9" name="S18-word186"/>
          <p:cNvSpPr txBox="1"/>
          <p:nvPr/>
        </p:nvSpPr>
        <p:spPr>
          <a:xfrm>
            <a:off x="4337304" y="336042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egg</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달걀</a:t>
            </a:r>
            <a:endParaRPr lang="ko-KR" sz="3400" dirty="0"/>
          </a:p>
        </p:txBody>
      </p:sp>
      <p:sp>
        <p:nvSpPr>
          <p:cNvPr id="10" name="S18-word187"/>
          <p:cNvSpPr txBox="1"/>
          <p:nvPr/>
        </p:nvSpPr>
        <p:spPr>
          <a:xfrm>
            <a:off x="8125968" y="3360420"/>
            <a:ext cx="3514344"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fish</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물고기</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초4 영어 단모음 소리</dc:title>
  <dc:subject>KR22-G04-ENG-SHORTVOW-L01</dc:subject>
  <dc:creator>education-ppt</dc:creator>
  <cp:lastModifiedBy>education-ppt</cp:lastModifiedBy>
  <cp:revision>1</cp:revision>
  <dcterms:created xsi:type="dcterms:W3CDTF">2026-10-26T08:17:27Z</dcterms:created>
  <dcterms:modified xsi:type="dcterms:W3CDTF">2026-10-26T08:17:27Z</dcterms:modified>
</cp:coreProperties>
</file>