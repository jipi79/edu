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49cdd71-da73-d398-3e9e-6c7ce33b2f83}">
          <p14:sldIdLst>
            <p14:sldId id="256"/>
            <p14:sldId id="257"/>
          </p14:sldIdLst>
        </p14:section>
        <p14:section name="개념" id="{e6ee0780-d3e9-7fbb-c6a5-f97801ed73d3}">
          <p14:sldIdLst>
            <p14:sldId id="258"/>
            <p14:sldId id="259"/>
            <p14:sldId id="260"/>
            <p14:sldId id="262"/>
          </p14:sldIdLst>
        </p14:section>
        <p14:section name="연습" id="{013afe0f-ef6f-62fd-d750-8bf43211a718}">
          <p14:sldIdLst>
            <p14:sldId id="261"/>
            <p14:sldId id="263"/>
            <p14:sldId id="264"/>
            <p14:sldId id="265"/>
          </p14:sldIdLst>
        </p14:section>
        <p14:section name="개념" id="{07e6900d-5e06-ad62-84e0-b1804aa9dee7}">
          <p14:sldIdLst/>
        </p14:section>
        <p14:section name="연습" id="{c61e9556-fbce-09ec-458a-2b18e7cc9943}">
          <p14:sldIdLst/>
        </p14:section>
        <p14:section name="확인" id="{fb3aa516-135b-1182-3c96-58bac9463623}">
          <p14:sldIdLst>
            <p14:sldId id="266"/>
            <p14:sldId id="267"/>
            <p14:sldId id="268"/>
          </p14:sldIdLst>
        </p14:section>
        <p14:section name="정리" id="{64d1ff7a-01b8-2625-2e1c-d2b23115c849}">
          <p14:sldIdLst>
            <p14:sldId id="269"/>
          </p14:sldIdLst>
        </p14:section>
        <p14:section name="보충" id="{56ec521f-5311-bb40-900f-035d542bf28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지난 시간에 읽은 세 글자 낱말로 짧은 문장을 읽고 쓸 수 있다는 것에 관심을 갖게 합니다.
시간: 약 2분
이렇게 말해 보세요
- “지난 시간에 cat, jam 같은 세 글자 낱말을 소리를 이어 읽었지? 오른쪽 문장에서 아는 낱말을 찾아볼래?”
- “오늘은 낱말을 이어서 짧은 문장을 읽고, 바르게 써 볼 거야.”
예상 답
- “jam이요.” “cat이요.” “나머지는 몰라요.”
주의
- 수업 전에 교과서 디지털 자료나 사전 앱의 발음 듣기로 낱말 I, like, have, a와 오늘 문장(I like jam. I like red. I have a cat. I have a pen.)을 미리 들어 두세요. 문장 소리가 없으면 낱말 소리를 하나씩 듣고 부모가 이어 읽어 줍니다. 부모님 발음이 완벽하지 않아도 괜찮습니다.
- 소리 자료 없이 진행하면 바른 소리를 확인하기 어렵습니다. 헷갈리는 낱말은 기록해 두었다가 소리 자료로 나중에 확인합니다.
- 영어 네 줄 공책이 없으면 이면지에 연필로 가로줄 네 개를 그어 쓰게 합니다(셋째 줄이 글자가 앉는 기준선입니다).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확인(세 글자 낱말 읽기)]
목적: 지난 차시(세 글자 낱말 읽고 쓰기)처럼 소리를 이어 낱말을 읽는지 확인합니다. 오늘 문장 속 낱말을 읽으려면 꼭 필요합니다.
시간: 약 3분
이렇게 말해 보세요
- “①부터 글자를 짚으면서 소리를 하나씩 내고, 점점 빠르게 이어 읽어 볼래?”
- “뜻도 알아?”
정답
- ① pen(펜) ② jam(잼) ③ bug(벌레) (소리 자료와 비슷하게 이어 읽으면 맞음)
막히면
- 가운데 모음이 막히면 열쇠 낱말(cat, bed, pig, dog, sun)을 떠올리게 합니다.
- 세 낱말 가운데 2개 이상 읽지 못하면 S15(보충)를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보고 바로 읽는 낱말(I, like, have, a)]
목적: 문장에 자주 나오는 I, like, have, a를 통째로 보고 읽고 뜻을 압니다(M3, M4).
시간: 약 3분
이렇게 말해 보세요
- “이 네 낱말은 글자 소리대로 읽으면 이상해져. 소리를 듣고 통째로 기억하자. I, like, have, a. 따라 읽어 봐.”
- “I는 ‘나는’이라는 뜻이야. 그래서 언제나 대문자로 써.”
- “like는 ‘좋아하다’. 가슴에 손을 얹으며 말해 볼까? like!”
- “have는 ‘가지고 있다’. 연필을 들어 보이며 말해 봐. have!”
- “엄마(아빠)가 뜻을 말하면 그 낱말을 짚어 줘. 좋아하다! 가지고 있다!”
예상 답
- “I, like, have, a.” “좋아하다는 like예요.”
막히면
- like와 have를 헷갈리면 몸짓(가슴에 손 얹기·물건 들어 보이기)을 함께 하며 다시 읽게 합니다.
- 소리 자료로 여러 번 듣고 따라 읽습니다.
주의
- a는 문장 속에서 짧고 약하게 읽습니다. 소리 자료의 문장을 들어 보면 알 수 있습니다.
- like의 끝 e는 소리가 나지 않습니다. 이런 규칙은 뒤 학년에서 배우므로 오늘은 통째로 기억하면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I like ~. 문장 읽기]
목적: I like ~. 문장을 읽고 뜻을 압니다.
시간: 약 3분
이렇게 말해 보세요
- “첫 문장을 낱말마다 짚으면서 읽어 보자. I, like, jam. 이어서 읽으면? I like jam. 소리 자료와 비교해 볼까?”
- “무슨 뜻일까? I는 나는, like는 좋아하다, jam은 잼. 그러니까?”
- “둘째 문장도 짚으면서 읽어 봐. I like red. 무슨 뜻이야?”
예상 답
- “나는 잼을 좋아해요.” “나는 빨간색을 좋아해요.”
막히면
- jam, red는 S02처럼 소리를 이어 읽게 하고, I like는 통째로 읽어 줍니다.
- 부모가 한 낱말씩 짚으며 먼저 읽고 아이가 따라 읽게 합니다.
주의
- 영어는 ‘나는 좋아해요 잼을’처럼 우리말과 낱말 차례가 다릅니다. 뜻은 자연스러운 우리말로 말하면 됩니다.
- 고양이, 개처럼 셀 수 있는 것을 좋아한다고 할 때는 I like cats.처럼 끝에 s를 붙입니다. 오늘은 s가 필요 없는 음식·색깔 낱말만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I have a ~. 문장 읽기]
목적: I have a ~. 문장을 읽고 뜻을 압니다.
시간: 약 3분
이렇게 말해 보세요
- “낱말마다 짚으면서 읽어 보자. I, have, a, cat. 이어서 읽으면? I have a cat.”
- “have는 가지고 있다, a는 하나의라는 뜻이야. 무슨 뜻일까?”
- “펜을 하나 들고 말해 볼까? I have a pen.”
예상 답
- “나는 고양이가 있어요.” “나는 펜이 있어요.”
막히면
- 실제 물건(펜, 가방, 모자)을 들고 I have a ~.를 말하게 합니다.
주의
- a를 빼고 I have pen.처럼 말하거나 쓰면 a를 넣어 다시 말해 줍니다. 오늘은 a 다음에 자음 글자로 시작하는 낱말만 씁니다(apple, egg처럼 모음 글자로 시작하면 an을 쓰는데 오늘은 다루지 않습니다).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문장 읽고 뜻 말하기]
목적: 처음 보는 I like ~. / I have a ~. 문장을 읽고 뜻을 말합니다(M3).
시간: 약 3분
이렇게 말해 보세요
- “①부터 낱말을 짚으면서 읽어 볼래? 다 읽으면 무슨 뜻인지 말해 줘.”
- “like가 있는 문장은 무엇을 말하는 거였지? have가 있는 문장은?”
정답
- ① I like ham. 나는 햄을 좋아해요. ② I have a bag. 나는 가방이 있어요.
- ③ I like gum. 나는 껌을 좋아해요. ④ I have a hat. 나는 모자가 있어요.
- (소리 자료와 비슷하게 읽고 뜻을 바르게 말하면 맞음)
막히면
- 세 글자 낱말(ham, bag, gum, hat)은 소리를 이어 읽게 하고, 뜻은 부모가 알려 줍니다.
- like와 have의 뜻을 바꾸면 S03의 몸짓을 다시 합니다(M3).
주의
- 여기까지가 읽기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문장을 바르게 쓰는 방법]
목적: 문장을 쓸 때 지킬 것(대문자 I, 띄어쓰기, 네 줄 위치, 마침표)을 시범으로 보입니다(M1, M2).
시간: 약 3분
이렇게 말해 보세요
- “엄마(아빠)가 먼저 공책에 써 볼게. I는 대문자로, 첫째 줄에서 셋째 줄까지 길게.”
- “다음 낱말을 쓰기 전에 손가락 하나를 대고 띄워. like. 또 손가락 하나. jam.”
- “마지막에 셋째 줄 위에 점을 콕. 이게 마침표야. 이제 네가 바로 아래 줄에 써 볼래?”
예상 답
- 아이가 I like jam.을 대문자 I, 띄어쓰기, 마침표를 지켜 따라 씁니다.
막히면
- 부모가 쓴 문장 바로 아래에 한 낱말씩 따라 쓰게 합니다.
- 작은 글자의 위치가 어려우면 둘째 줄과 셋째 줄 사이를 형광펜으로 칠해 줍니다.
주의
- l, k, h처럼 키가 큰 글자는 첫째 줄 가까이 올라가고, j는 셋째 줄 아래로 내려옵니다. 글씨 모양은 아이 교과서를 따릅니다.
- I는 문장 가운데에 와도 언제나 대문자입니다.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비교(소문자 i, 마침표 빠뜨림)]
목적: 대문자 I와 마침표를 지켜 쓴 문장과 그렇지 않은 문장을 비교합니다(M1, M2).
시간: 약 2분
이렇게 말해 보세요
- “두 친구가 같은 문장을 썼어. 바르게 쓴 쪽은 어디일까?”
- “가는 어디를 고쳐야 할까? 두 곳을 찾아봐.”
정답
- 바르게 쓴 쪽은 나입니다. 가는 첫 글자 i를 대문자 I로 고치고, 끝에 마침표(.)를 찍어야 합니다.
막히면
- 첫 글자와 마지막 글자 뒤를 손가락으로 짚어 두 문장을 비교하게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틀린 곳 찾아 고쳐 쓰기]
목적: 문장에서 틀린 곳을 찾아 바르게 고쳐 씁니다(M1, M2).
시간: 약 3분
이렇게 말해 보세요
- “문장마다 틀린 곳이 하나씩 있어. 아래 세 가지를 하나씩 확인해 봐. I가 대문자야? 낱말 사이를 띄웠어? 끝에 마침표가 있어?”
- “틀린 곳을 찾았으면 공책에 바르게 고쳐 써 볼래?”
정답
- ① 소문자 i → I have a pen. ② like와 jam을 붙여 씀 → I like jam. ③ 마침표가 없음 → I have a bag.
막히면
- 세 가지 확인할 것을 손가락 세 개로 세며 하나씩 묻습니다.
- 고쳐 쓰기가 어려우면 S07을 다시 보고 따라 씁니다.
주의
- 화면의 문장은 일부러 틀리게 쓴 것입니다. 아이가 그대로 베껴 쓰지 않도록 고친 문장을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내 이야기로 문장 만들기]
목적: 보기의 낱말을 골라 자기 이야기를 I like ~. / I have a ~.로 말하고 씁니다.
시간: 약 4분
이렇게 말해 보세요
- “①, 보기의 앞쪽 낱말 jam, ham, gum, fish, red 가운데 네가 좋아하는 것을 골라 말해 볼래?”
- “②, 뒤쪽 낱말 cat, dog, pen, bag, hat 가운데 네가 가진 것을 골라 말해 봐.”
- “이제 공책에 써 보자. 대문자 I, 띄어쓰기, 마침표!”
정답
- ① I like jam. / I like ham. / I like gum. / I like fish. / I like red. 가운데 하나
- ② I have a cat. / I have a dog. / I have a pen. / I have a bag. / I have a hat. 가운데 하나
- 기준: 낱말을 바르게 넣어 말하고, 대문자 I·띄어쓰기·마침표를 지켜 쓰면 맞습니다. 사실과 달라도 연습이므로 괜찮습니다.
막히면
- 부모가 먼저 자기 이야기로 말하고 써서 보여 줍니다. “I like fish. I have a bag.”
- 보기 낱말을 읽지 못하면 부모가 읽어 주고 아이가 골라 따라 씁니다.
주의
- 보기에 없는 낱말을 쓰고 싶어 하면 칭찬하고, 부모가 철자를 써 주어 보고 쓰게 합니다. 셀 수 있는 것(동물, 과일 등)을 좋아한다고 할 때는 I like dogs.처럼 끝에 s를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읽고 뜻 말하기, 보고 쓰기]
목적: 도움 없이 문장을 읽고 뜻을 말하며, 지킬 것을 지켜 문장을 쓰는지 확인합니다.
시간: 약 4분
이렇게 말해 보세요
- “이번에는 혼자 해 볼래? ①②를 읽고 무슨 뜻인지 말해 줘.”
- “③은 문장을 보고 공책에 써. ④는 네가 좋아하는 것을 넣어 써 봐.”
- “다 쓰면 대문자 I, 띄어쓰기, 마침표를 스스로 확인해 볼까?”
정답
- ① 나는 지도가 있어요. ② 나는 생선(물고기)을 좋아해요. (소리 자료와 비슷하게 읽으면 맞음)
- ③ I have a dog. ④ I like (좋아하는 것). 예: I like red.
- 기준: ③④에서 대문자 I, 띄어쓰기, 마침표를 모두 지키면 통과입니다.
막히면
- 바로 알려 주지 말고 “like는 무슨 뜻이었지?” 또는 “세 가지를 확인했어?”라고만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“네가 쓴 것과 왼쪽을 비교해 보자. 세 가지를 다 지켰어?”
- “오른쪽처럼 쓰면 어디를 고쳐야 할까?”
예상 답
- “i를 대문자로 쓰고 마침표를 찍어요.” “have와 a를 띄어 써요.”
주의
- 이 장은 학생용 파일에서 빠집니다. 잘한 점을 먼저 말해 준 뒤 고칠 점을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확인]
목적: 처음 보는 형식에서 뜻에 맞고 바르게 쓴 문장을 고르는지 확인합니다.
시간: 약 2분
이렇게 말해 보세요
- “가, 나, 다, 라를 하나씩 읽어 볼래?”
- “‘나는 모자가 있어요.’를 바르게 쓴 문장은 어느 것일까? 어떻게 알았어?”
- “이번에는 ‘나는 햄을 좋아해요.’는?”
정답
- ‘나는 모자가 있어요.’ → 가(I have a hat.). 나는 고양이, 다는 햄을 좋아한다는 뜻이고, 라는 뜻은 같지만 i가 소문자이고 마침표가 없습니다.
- ‘나는 햄을 좋아해요.’ → 다(I like ham.)
막히면
- 먼저 뜻이 맞는 문장(가, 라)을 찾게 한 뒤, 둘 가운데 바르게 쓴 문장을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복습을 알려 줍니다.
시간: 약 2분
이렇게 말해 보세요
- “like가 들어간 문장과 have가 들어간 문장은 뜻이 어떻게 달라?”
- “문장을 쓸 때 꼭 지킬 것 세 가지는?”
예상 답
- “like는 좋아하는 것, have는 가진 것이에요.” “대문자 I, 띄어쓰기, 마침표요.”
정답
- ① 나는 펜이 있어요. ② I like jam. (대문자 I, 띄어쓰기, 마침표) ③ I는 대문자, 낱말 사이 띄우기, 끝에 마침표
주의
- 날마다 I like ~. 또는 I have a ~.로 한 문장씩 그날의 이야기를 써 보면 좋은 복습이 됩니다.
- 다음 차시는 계획 순서에 따라 ‘가족 소개하기’입니다. This is my ~. 처럼 오늘 배운 문장 쓰기 규칙을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보충(세 글자 낱말 읽기)]
목적: S02에서 세 글자 낱말 읽기가 흔들리면, 문장을 읽기 전에 먼저 다집니다.
시간: 약 5분
이렇게 말해 보세요
- “낱말을 하나씩 짚으면서 글자마다 소리를 내 보자. c, a, t. 점점 빠르게. cat!”
- “다 읽으면 소리 자료로 맞는지 들어 보자.” (교과서 디지털 자료나 사전 앱의 소리를 함께 듣습니다.)
- “엄마(아빠)가 뜻을 말하면 그 낱말을 짚고 읽어 줘. 모자! 버스!”
정답
- cat, pen, bag, jam, hat, bus (소리 자료와 비슷하게 이어 읽으면 맞음) / 모자 hat, 버스 bus
막히면
- 가운데 모음 글자를 짚고 열쇠 낱말(cat, bed, pig, dog, sun)을 떠올리게 합니다.
주의
- 보충 뒤에도 세 글자 낱말을 이어 읽지 못하면 앞 차시 ‘세 글자 낱말 읽고 쓰기’(KR22-G04-ENG-CVC-L01)를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소리낱말문장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짧은 문장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짧은 문장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짧은 문장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문장 읽고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뜻일까요?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cat.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 like ~. / I have a ~.를 읽고 뜻을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대문자·띄어쓰기·마침표를 지켜 문장을 써요.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글자 낱말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글자마다 소리를 내고 이어 읽어요.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7"/>
          <p:cNvSpPr txBox="1"/>
          <p:nvPr/>
        </p:nvSpPr>
        <p:spPr>
          <a:xfrm>
            <a:off x="2377440" y="214884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400" dirty="0"/>
          </a:p>
        </p:txBody>
      </p:sp>
      <p:sp>
        <p:nvSpPr>
          <p:cNvPr id="6" name="S02-tile8"/>
          <p:cNvSpPr txBox="1"/>
          <p:nvPr/>
        </p:nvSpPr>
        <p:spPr>
          <a:xfrm>
            <a:off x="3584448" y="214884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400" dirty="0"/>
          </a:p>
        </p:txBody>
      </p:sp>
      <p:sp>
        <p:nvSpPr>
          <p:cNvPr id="7" name="S02-tile9"/>
          <p:cNvSpPr txBox="1"/>
          <p:nvPr/>
        </p:nvSpPr>
        <p:spPr>
          <a:xfrm>
            <a:off x="4791456" y="214884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4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2-tile11"/>
          <p:cNvSpPr txBox="1"/>
          <p:nvPr/>
        </p:nvSpPr>
        <p:spPr>
          <a:xfrm>
            <a:off x="2377440" y="36118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4400" dirty="0"/>
          </a:p>
        </p:txBody>
      </p:sp>
      <p:sp>
        <p:nvSpPr>
          <p:cNvPr id="10" name="S02-tile12"/>
          <p:cNvSpPr txBox="1"/>
          <p:nvPr/>
        </p:nvSpPr>
        <p:spPr>
          <a:xfrm>
            <a:off x="3584448" y="36118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400" dirty="0"/>
          </a:p>
        </p:txBody>
      </p:sp>
      <p:sp>
        <p:nvSpPr>
          <p:cNvPr id="11" name="S02-tile13"/>
          <p:cNvSpPr txBox="1"/>
          <p:nvPr/>
        </p:nvSpPr>
        <p:spPr>
          <a:xfrm>
            <a:off x="4791456" y="36118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400" dirty="0"/>
          </a:p>
        </p:txBody>
      </p:sp>
      <p:sp>
        <p:nvSpPr>
          <p:cNvPr id="12" name="S02-chip1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2-tile15"/>
          <p:cNvSpPr txBox="1"/>
          <p:nvPr/>
        </p:nvSpPr>
        <p:spPr>
          <a:xfrm>
            <a:off x="2377440" y="507492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400" dirty="0"/>
          </a:p>
        </p:txBody>
      </p:sp>
      <p:sp>
        <p:nvSpPr>
          <p:cNvPr id="14" name="S02-tile16"/>
          <p:cNvSpPr txBox="1"/>
          <p:nvPr/>
        </p:nvSpPr>
        <p:spPr>
          <a:xfrm>
            <a:off x="3584448" y="507492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4400" dirty="0"/>
          </a:p>
        </p:txBody>
      </p:sp>
      <p:sp>
        <p:nvSpPr>
          <p:cNvPr id="15" name="S02-tile17"/>
          <p:cNvSpPr txBox="1"/>
          <p:nvPr/>
        </p:nvSpPr>
        <p:spPr>
          <a:xfrm>
            <a:off x="4791456" y="507492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바로 읽는 낱말</a:t>
            </a:r>
            <a:endParaRPr lang="ko-KR" sz="4000" dirty="0"/>
          </a:p>
        </p:txBody>
      </p:sp>
      <p:sp>
        <p:nvSpPr>
          <p:cNvPr id="3" name="S03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이어 읽지 않고 보고 바로 읽어요.</a:t>
            </a:r>
            <a:endParaRPr lang="ko-KR" sz="3000" dirty="0"/>
          </a:p>
        </p:txBody>
      </p:sp>
      <p:sp>
        <p:nvSpPr>
          <p:cNvPr id="5" name="S03-word20"/>
          <p:cNvSpPr txBox="1"/>
          <p:nvPr/>
        </p:nvSpPr>
        <p:spPr>
          <a:xfrm>
            <a:off x="548640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</a:t>
            </a:r>
            <a:endParaRPr lang="ko-KR" sz="3400" dirty="0"/>
          </a:p>
        </p:txBody>
      </p:sp>
      <p:sp>
        <p:nvSpPr>
          <p:cNvPr id="6" name="S03-word21"/>
          <p:cNvSpPr txBox="1"/>
          <p:nvPr/>
        </p:nvSpPr>
        <p:spPr>
          <a:xfrm>
            <a:off x="3390138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좋아하다</a:t>
            </a:r>
            <a:endParaRPr lang="ko-KR" sz="3400" dirty="0"/>
          </a:p>
        </p:txBody>
      </p:sp>
      <p:sp>
        <p:nvSpPr>
          <p:cNvPr id="7" name="S03-word22"/>
          <p:cNvSpPr txBox="1"/>
          <p:nvPr/>
        </p:nvSpPr>
        <p:spPr>
          <a:xfrm>
            <a:off x="6231636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가지고 있다</a:t>
            </a:r>
            <a:endParaRPr lang="ko-KR" sz="3400" dirty="0"/>
          </a:p>
        </p:txBody>
      </p:sp>
      <p:sp>
        <p:nvSpPr>
          <p:cNvPr id="8" name="S03-word23"/>
          <p:cNvSpPr txBox="1"/>
          <p:nvPr/>
        </p:nvSpPr>
        <p:spPr>
          <a:xfrm>
            <a:off x="9073134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~.</a:t>
            </a:r>
            <a:endParaRPr lang="ko-KR" sz="4000" dirty="0"/>
          </a:p>
        </p:txBody>
      </p:sp>
      <p:sp>
        <p:nvSpPr>
          <p:cNvPr id="3" name="S04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like 다음에 좋아하는 것을 말해요.</a:t>
            </a:r>
            <a:endParaRPr lang="ko-KR" sz="3000" dirty="0"/>
          </a:p>
        </p:txBody>
      </p:sp>
      <p:sp>
        <p:nvSpPr>
          <p:cNvPr id="5" name="S04-word26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잼을 좋아해요.</a:t>
            </a:r>
            <a:endParaRPr lang="ko-KR" sz="3400" dirty="0"/>
          </a:p>
        </p:txBody>
      </p:sp>
      <p:sp>
        <p:nvSpPr>
          <p:cNvPr id="6" name="S04-word27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red.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빨간색을 좋아해요.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~.</a:t>
            </a:r>
            <a:endParaRPr lang="ko-KR" sz="4000" dirty="0"/>
          </a:p>
        </p:txBody>
      </p:sp>
      <p:sp>
        <p:nvSpPr>
          <p:cNvPr id="3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have a 다음에 가진 것 하나를 말해요.</a:t>
            </a:r>
            <a:endParaRPr lang="ko-KR" sz="3000" dirty="0"/>
          </a:p>
        </p:txBody>
      </p:sp>
      <p:sp>
        <p:nvSpPr>
          <p:cNvPr id="5" name="S05-word30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cat.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고양이가 (한 마리) 있어요.</a:t>
            </a:r>
            <a:endParaRPr lang="ko-KR" sz="3400" dirty="0"/>
          </a:p>
        </p:txBody>
      </p:sp>
      <p:sp>
        <p:nvSpPr>
          <p:cNvPr id="6" name="S05-word31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pen.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펜이 (하나) 있어요.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뜻을 말해요</a:t>
            </a:r>
            <a:endParaRPr lang="ko-KR" sz="4000" dirty="0"/>
          </a:p>
        </p:txBody>
      </p:sp>
      <p:sp>
        <p:nvSpPr>
          <p:cNvPr id="3" name="S06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소리 내어 읽고 뜻을 말해요.</a:t>
            </a:r>
            <a:endParaRPr lang="ko-KR" sz="3000" dirty="0"/>
          </a:p>
        </p:txBody>
      </p:sp>
      <p:sp>
        <p:nvSpPr>
          <p:cNvPr id="4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좋아하다　·　have 가지고 있다</a:t>
            </a:r>
            <a:endParaRPr lang="ko-KR" sz="3000" dirty="0"/>
          </a:p>
        </p:txBody>
      </p:sp>
      <p:sp>
        <p:nvSpPr>
          <p:cNvPr id="6" name="S06-chip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ham.</a:t>
            </a:r>
            <a:endParaRPr lang="ko-KR" sz="3000" dirty="0"/>
          </a:p>
        </p:txBody>
      </p:sp>
      <p:sp>
        <p:nvSpPr>
          <p:cNvPr id="8" name="S06-chip3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bag.</a:t>
            </a:r>
            <a:endParaRPr lang="ko-KR" sz="3000" dirty="0"/>
          </a:p>
        </p:txBody>
      </p:sp>
      <p:sp>
        <p:nvSpPr>
          <p:cNvPr id="10" name="S06-chip3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4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gum.</a:t>
            </a:r>
            <a:endParaRPr lang="ko-KR" sz="3000" dirty="0"/>
          </a:p>
        </p:txBody>
      </p:sp>
      <p:sp>
        <p:nvSpPr>
          <p:cNvPr id="12" name="S06-chip4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text4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hat.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바르게 써요</a:t>
            </a:r>
            <a:endParaRPr lang="ko-KR" sz="4000" dirty="0"/>
          </a:p>
        </p:txBody>
      </p:sp>
      <p:sp>
        <p:nvSpPr>
          <p:cNvPr id="3" name="S07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like jam.을 네 줄 공책에 써 봐요.</a:t>
            </a:r>
            <a:endParaRPr lang="ko-KR" sz="3000" dirty="0"/>
          </a:p>
        </p:txBody>
      </p:sp>
      <p:sp>
        <p:nvSpPr>
          <p:cNvPr id="4" name="S07-word44"/>
          <p:cNvSpPr txBox="1"/>
          <p:nvPr/>
        </p:nvSpPr>
        <p:spPr>
          <a:xfrm>
            <a:off x="6920911" y="3246120"/>
            <a:ext cx="1390254" cy="1737360"/>
          </a:xfrm>
          <a:prstGeom prst="roundRect">
            <a:avLst>
              <a:gd name="adj" fmla="val 920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3400" dirty="0"/>
          </a:p>
        </p:txBody>
      </p:sp>
      <p:sp>
        <p:nvSpPr>
          <p:cNvPr id="5" name="S07-word45"/>
          <p:cNvSpPr txBox="1"/>
          <p:nvPr/>
        </p:nvSpPr>
        <p:spPr>
          <a:xfrm>
            <a:off x="8585484" y="3246120"/>
            <a:ext cx="1390254" cy="1737360"/>
          </a:xfrm>
          <a:prstGeom prst="roundRect">
            <a:avLst>
              <a:gd name="adj" fmla="val 920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</a:t>
            </a:r>
            <a:endParaRPr lang="ko-KR" sz="3400" dirty="0"/>
          </a:p>
        </p:txBody>
      </p:sp>
      <p:sp>
        <p:nvSpPr>
          <p:cNvPr id="6" name="S07-word46"/>
          <p:cNvSpPr txBox="1"/>
          <p:nvPr/>
        </p:nvSpPr>
        <p:spPr>
          <a:xfrm>
            <a:off x="10250058" y="3246120"/>
            <a:ext cx="1390254" cy="1737360"/>
          </a:xfrm>
          <a:prstGeom prst="roundRect">
            <a:avLst>
              <a:gd name="adj" fmla="val 920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jam.</a:t>
            </a:r>
            <a:endParaRPr lang="ko-KR" sz="3400" dirty="0"/>
          </a:p>
        </p:txBody>
      </p:sp>
      <p:sp>
        <p:nvSpPr>
          <p:cNvPr id="7" name="S07-stepno47"/>
          <p:cNvSpPr txBox="1"/>
          <p:nvPr/>
        </p:nvSpPr>
        <p:spPr>
          <a:xfrm>
            <a:off x="548640" y="2199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48"/>
          <p:cNvSpPr txBox="1"/>
          <p:nvPr/>
        </p:nvSpPr>
        <p:spPr>
          <a:xfrm>
            <a:off x="1325880" y="21991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언제나 대문자로 써요.</a:t>
            </a:r>
            <a:endParaRPr lang="ko-KR" sz="3000" dirty="0"/>
          </a:p>
        </p:txBody>
      </p:sp>
      <p:sp>
        <p:nvSpPr>
          <p:cNvPr id="9" name="S07-stepno49"/>
          <p:cNvSpPr txBox="1"/>
          <p:nvPr/>
        </p:nvSpPr>
        <p:spPr>
          <a:xfrm>
            <a:off x="548640" y="2958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0"/>
          <p:cNvSpPr txBox="1"/>
          <p:nvPr/>
        </p:nvSpPr>
        <p:spPr>
          <a:xfrm>
            <a:off x="1325880" y="2912364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사이는 손가락 하나만큼 띄어요.</a:t>
            </a:r>
            <a:endParaRPr lang="ko-KR" sz="3000" dirty="0"/>
          </a:p>
        </p:txBody>
      </p:sp>
      <p:sp>
        <p:nvSpPr>
          <p:cNvPr id="11" name="S07-stepno51"/>
          <p:cNvSpPr txBox="1"/>
          <p:nvPr/>
        </p:nvSpPr>
        <p:spPr>
          <a:xfrm>
            <a:off x="548640" y="4052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2"/>
          <p:cNvSpPr txBox="1"/>
          <p:nvPr/>
        </p:nvSpPr>
        <p:spPr>
          <a:xfrm>
            <a:off x="1325880" y="4006596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글자는 둘째·셋째 줄 사이에 써요.</a:t>
            </a:r>
            <a:endParaRPr lang="ko-KR" sz="3000" dirty="0"/>
          </a:p>
        </p:txBody>
      </p:sp>
      <p:sp>
        <p:nvSpPr>
          <p:cNvPr id="13" name="S07-stepno53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4"/>
          <p:cNvSpPr txBox="1"/>
          <p:nvPr/>
        </p:nvSpPr>
        <p:spPr>
          <a:xfrm>
            <a:off x="1325880" y="510082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끝에 마침표(.)를 찍어요.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000" dirty="0"/>
          </a:p>
        </p:txBody>
      </p:sp>
      <p:sp>
        <p:nvSpPr>
          <p:cNvPr id="3" name="S08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문장을 이렇게 썼어요.</a:t>
            </a:r>
            <a:endParaRPr lang="ko-KR" sz="3000" dirty="0"/>
          </a:p>
        </p:txBody>
      </p:sp>
      <p:sp>
        <p:nvSpPr>
          <p:cNvPr id="5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쪽은 어디일까요? 다른 곳을 모두 찾아요.</a:t>
            </a:r>
            <a:endParaRPr lang="ko-KR" sz="3000" dirty="0"/>
          </a:p>
        </p:txBody>
      </p:sp>
      <p:sp>
        <p:nvSpPr>
          <p:cNvPr id="7" name="S08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word60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</a:t>
            </a:r>
            <a:endParaRPr lang="ko-KR" sz="3400" dirty="0"/>
          </a:p>
        </p:txBody>
      </p:sp>
      <p:sp>
        <p:nvSpPr>
          <p:cNvPr id="9" name="S08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word62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써요</a:t>
            </a:r>
            <a:endParaRPr lang="ko-KR" sz="40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곳을 찾아 공책에 바르게 고쳐 써요.</a:t>
            </a:r>
            <a:endParaRPr lang="ko-KR" sz="3000" dirty="0"/>
          </a:p>
        </p:txBody>
      </p:sp>
      <p:sp>
        <p:nvSpPr>
          <p:cNvPr id="4" name="S09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 I　·　띄어쓰기　·　마침표</a:t>
            </a:r>
            <a:endParaRPr lang="ko-KR" sz="3000" dirty="0"/>
          </a:p>
        </p:txBody>
      </p:sp>
      <p:sp>
        <p:nvSpPr>
          <p:cNvPr id="6" name="S09-chip6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pen.</a:t>
            </a:r>
            <a:endParaRPr lang="ko-KR" sz="3000" dirty="0"/>
          </a:p>
        </p:txBody>
      </p:sp>
      <p:sp>
        <p:nvSpPr>
          <p:cNvPr id="8" name="S09-chip6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likejam.</a:t>
            </a:r>
            <a:endParaRPr lang="ko-KR" sz="3000" dirty="0"/>
          </a:p>
        </p:txBody>
      </p:sp>
      <p:sp>
        <p:nvSpPr>
          <p:cNvPr id="10" name="S09-chip7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7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bag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문장을 만들어요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보기에서 골라 내 이야기를 말하고 공책에 써요.</a:t>
            </a:r>
            <a:endParaRPr lang="ko-KR" sz="3000" dirty="0"/>
          </a:p>
        </p:txBody>
      </p:sp>
      <p:sp>
        <p:nvSpPr>
          <p:cNvPr id="4" name="S10-card7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것:　jam　ham　gum　fish　red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것:　cat　dog　pen　bag　hat</a:t>
            </a:r>
            <a:endParaRPr lang="ko-KR" sz="3000" dirty="0"/>
          </a:p>
        </p:txBody>
      </p:sp>
      <p:sp>
        <p:nvSpPr>
          <p:cNvPr id="6" name="S10-chip75"/>
          <p:cNvSpPr txBox="1"/>
          <p:nvPr/>
        </p:nvSpPr>
        <p:spPr>
          <a:xfrm>
            <a:off x="548640" y="23622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76"/>
          <p:cNvSpPr txBox="1"/>
          <p:nvPr/>
        </p:nvSpPr>
        <p:spPr>
          <a:xfrm>
            <a:off x="1344168" y="2011680"/>
            <a:ext cx="10296144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______.</a:t>
            </a:r>
            <a:endParaRPr lang="ko-KR" sz="3000" dirty="0"/>
          </a:p>
        </p:txBody>
      </p:sp>
      <p:sp>
        <p:nvSpPr>
          <p:cNvPr id="8" name="S10-chip77"/>
          <p:cNvSpPr txBox="1"/>
          <p:nvPr/>
        </p:nvSpPr>
        <p:spPr>
          <a:xfrm>
            <a:off x="548640" y="3813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78"/>
          <p:cNvSpPr txBox="1"/>
          <p:nvPr/>
        </p:nvSpPr>
        <p:spPr>
          <a:xfrm>
            <a:off x="1344168" y="3462528"/>
            <a:ext cx="10296144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______.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 뜻을 말하고, ③④는 공책에 써요.</a:t>
            </a:r>
            <a:endParaRPr lang="ko-KR" sz="3000" dirty="0"/>
          </a:p>
        </p:txBody>
      </p:sp>
      <p:sp>
        <p:nvSpPr>
          <p:cNvPr id="4" name="S11-chip8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8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map.</a:t>
            </a:r>
            <a:endParaRPr lang="ko-KR" sz="3000" dirty="0"/>
          </a:p>
        </p:txBody>
      </p:sp>
      <p:sp>
        <p:nvSpPr>
          <p:cNvPr id="6" name="S11-chip8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8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fish.</a:t>
            </a:r>
            <a:endParaRPr lang="ko-KR" sz="3000" dirty="0"/>
          </a:p>
        </p:txBody>
      </p:sp>
      <p:sp>
        <p:nvSpPr>
          <p:cNvPr id="8" name="S11-chip8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8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쓰기: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dog.</a:t>
            </a:r>
            <a:endParaRPr lang="ko-KR" sz="3000" dirty="0"/>
          </a:p>
        </p:txBody>
      </p:sp>
      <p:sp>
        <p:nvSpPr>
          <p:cNvPr id="10" name="S11-chip8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8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문장 쓰기: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______.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대문자, 낱말 사이는 띄우고, 끝에는 마침표!</a:t>
            </a:r>
            <a:endParaRPr lang="ko-KR" sz="3000" dirty="0"/>
          </a:p>
        </p:txBody>
      </p:sp>
      <p:sp>
        <p:nvSpPr>
          <p:cNvPr id="5" name="S12-chip9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91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지도가 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생선을 좋아해요.</a:t>
            </a:r>
            <a:endParaRPr lang="ko-KR" sz="3000" dirty="0"/>
          </a:p>
        </p:txBody>
      </p:sp>
      <p:sp>
        <p:nvSpPr>
          <p:cNvPr id="7" name="S12-text92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have a dog.</a:t>
            </a:r>
            <a:endParaRPr lang="ko-KR" sz="3000" dirty="0"/>
          </a:p>
        </p:txBody>
      </p:sp>
      <p:sp>
        <p:nvSpPr>
          <p:cNvPr id="8" name="S12-text93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like red.</a:t>
            </a:r>
            <a:endParaRPr lang="ko-KR" sz="3000" dirty="0"/>
          </a:p>
        </p:txBody>
      </p:sp>
      <p:sp>
        <p:nvSpPr>
          <p:cNvPr id="9" name="S12-text94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좋아하는 것</a:t>
            </a:r>
            <a:endParaRPr lang="ko-KR" sz="2400" dirty="0"/>
          </a:p>
        </p:txBody>
      </p:sp>
      <p:sp>
        <p:nvSpPr>
          <p:cNvPr id="10" name="S12-chip9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2-text9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dog</a:t>
            </a:r>
            <a:endParaRPr lang="ko-KR" sz="3000" dirty="0"/>
          </a:p>
        </p:txBody>
      </p:sp>
      <p:sp>
        <p:nvSpPr>
          <p:cNvPr id="12" name="S12-text9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 I, 마침표</a:t>
            </a:r>
            <a:endParaRPr lang="ko-KR" sz="2400" dirty="0"/>
          </a:p>
        </p:txBody>
      </p:sp>
      <p:sp>
        <p:nvSpPr>
          <p:cNvPr id="13" name="S12-text9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havea dog.</a:t>
            </a:r>
            <a:endParaRPr lang="ko-KR" sz="3000" dirty="0"/>
          </a:p>
        </p:txBody>
      </p:sp>
      <p:sp>
        <p:nvSpPr>
          <p:cNvPr id="14" name="S12-text9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띄어쓰기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문장을 골라요</a:t>
            </a:r>
            <a:endParaRPr lang="ko-KR" sz="4000" dirty="0"/>
          </a:p>
        </p:txBody>
      </p:sp>
      <p:sp>
        <p:nvSpPr>
          <p:cNvPr id="3" name="S13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모자가 있어요.’를 바르게 쓴 문장은? 어떻게 알았나요?</a:t>
            </a:r>
            <a:endParaRPr lang="ko-KR" sz="3000" dirty="0"/>
          </a:p>
        </p:txBody>
      </p:sp>
      <p:sp>
        <p:nvSpPr>
          <p:cNvPr id="5" name="S13-chip102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103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104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hat.</a:t>
            </a:r>
            <a:endParaRPr lang="ko-KR" sz="3000" dirty="0"/>
          </a:p>
        </p:txBody>
      </p:sp>
      <p:sp>
        <p:nvSpPr>
          <p:cNvPr id="8" name="S13-chip10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106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07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cat.</a:t>
            </a:r>
            <a:endParaRPr lang="ko-KR" sz="3000" dirty="0"/>
          </a:p>
        </p:txBody>
      </p:sp>
      <p:sp>
        <p:nvSpPr>
          <p:cNvPr id="11" name="S13-chip10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109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110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ham.</a:t>
            </a:r>
            <a:endParaRPr lang="ko-KR" sz="3000" dirty="0"/>
          </a:p>
        </p:txBody>
      </p:sp>
      <p:sp>
        <p:nvSpPr>
          <p:cNvPr id="14" name="S13-chip111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3-card112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113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hat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1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1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like ~.는 좋아하는 것, I have a ~.는 가진 것을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대문자, 낱말 사이는 띄우고, 끝에 마침표를 찍어요.</a:t>
            </a:r>
            <a:endParaRPr lang="ko-KR" sz="3000" dirty="0"/>
          </a:p>
        </p:txBody>
      </p:sp>
      <p:sp>
        <p:nvSpPr>
          <p:cNvPr id="5" name="S14-chip11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I는 대문자, 끝에 마침표</a:t>
            </a:r>
            <a:endParaRPr lang="ko-KR" sz="2400" dirty="0"/>
          </a:p>
        </p:txBody>
      </p:sp>
      <p:sp>
        <p:nvSpPr>
          <p:cNvPr id="6" name="S14-chip11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낱말을 붙여 쓰기</a:t>
            </a:r>
            <a:endParaRPr lang="ko-KR" sz="2400" dirty="0"/>
          </a:p>
        </p:txBody>
      </p:sp>
      <p:sp>
        <p:nvSpPr>
          <p:cNvPr id="7" name="S14-text11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1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 have a pen.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뜻 말하기</a:t>
            </a:r>
            <a:endParaRPr lang="ko-KR" sz="2400" dirty="0"/>
          </a:p>
        </p:txBody>
      </p:sp>
      <p:sp>
        <p:nvSpPr>
          <p:cNvPr id="9" name="S14-text12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 like jam.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쓰기</a:t>
            </a:r>
            <a:endParaRPr lang="ko-KR" sz="2400" dirty="0"/>
          </a:p>
        </p:txBody>
      </p:sp>
      <p:sp>
        <p:nvSpPr>
          <p:cNvPr id="10" name="S14-text12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문장 쓸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지킬 것 세 가지</a:t>
            </a:r>
            <a:endParaRPr lang="ko-KR" sz="2400" dirty="0"/>
          </a:p>
        </p:txBody>
      </p:sp>
      <p:sp>
        <p:nvSpPr>
          <p:cNvPr id="11" name="S14-text12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가족 소개하기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글자 낱말 다시 읽기</a:t>
            </a:r>
            <a:endParaRPr lang="ko-KR" sz="4000" dirty="0"/>
          </a:p>
        </p:txBody>
      </p:sp>
      <p:sp>
        <p:nvSpPr>
          <p:cNvPr id="3" name="S15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글자마다 소리를 내고 점점 빠르게 이어 읽어요.</a:t>
            </a:r>
            <a:endParaRPr lang="ko-KR" sz="3000" dirty="0"/>
          </a:p>
        </p:txBody>
      </p:sp>
      <p:sp>
        <p:nvSpPr>
          <p:cNvPr id="5" name="S15-word125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6" name="S15-word126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펜</a:t>
            </a:r>
            <a:endParaRPr lang="ko-KR" sz="3400" dirty="0"/>
          </a:p>
        </p:txBody>
      </p:sp>
      <p:sp>
        <p:nvSpPr>
          <p:cNvPr id="7" name="S15-word127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8" name="S15-word128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jam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잼</a:t>
            </a:r>
            <a:endParaRPr lang="ko-KR" sz="3400" dirty="0"/>
          </a:p>
        </p:txBody>
      </p:sp>
      <p:sp>
        <p:nvSpPr>
          <p:cNvPr id="9" name="S15-word129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400" dirty="0"/>
          </a:p>
        </p:txBody>
      </p:sp>
      <p:sp>
        <p:nvSpPr>
          <p:cNvPr id="10" name="S15-word130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짧은 문장 읽고 쓰기</dc:title>
  <dc:subject>KR22-G04-ENG-ILIKE-L01</dc:subject>
  <dc:creator>education-ppt</dc:creator>
  <cp:lastModifiedBy>education-ppt</cp:lastModifiedBy>
  <cp:revision>1</cp:revision>
  <dcterms:created xsi:type="dcterms:W3CDTF">2026-10-26T09:07:37Z</dcterms:created>
  <dcterms:modified xsi:type="dcterms:W3CDTF">2026-10-26T09:07:37Z</dcterms:modified>
</cp:coreProperties>
</file>