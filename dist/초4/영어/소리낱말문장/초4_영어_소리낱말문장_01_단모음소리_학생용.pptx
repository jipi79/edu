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1134292c-d863-fdb5-6962-a60b47b765d7}">
          <p14:sldIdLst>
            <p14:sldId id="256"/>
            <p14:sldId id="257"/>
          </p14:sldIdLst>
        </p14:section>
        <p14:section name="개념" id="{87014434-1dcb-6feb-8e44-6fb756d2cd08}">
          <p14:sldIdLst>
            <p14:sldId id="258"/>
            <p14:sldId id="259"/>
            <p14:sldId id="260"/>
            <p14:sldId id="261"/>
            <p14:sldId id="262"/>
            <p14:sldId id="263"/>
            <p14:sldId id="265"/>
          </p14:sldIdLst>
        </p14:section>
        <p14:section name="연습" id="{34b43af7-a925-c6ee-178c-abac3036eff1}">
          <p14:sldIdLst>
            <p14:sldId id="264"/>
            <p14:sldId id="266"/>
            <p14:sldId id="267"/>
            <p14:sldId id="268"/>
          </p14:sldIdLst>
        </p14:section>
        <p14:section name="개념" id="{dc876993-1a34-0537-2fc4-b72d57aeb98f}">
          <p14:sldIdLst/>
        </p14:section>
        <p14:section name="연습" id="{92702dc5-9852-9e60-f990-dff83383b52f}">
          <p14:sldIdLst/>
        </p14:section>
        <p14:section name="확인" id="{bfe01a07-c783-b121-a9ff-36e83f390192}">
          <p14:sldIdLst>
            <p14:sldId id="269"/>
            <p14:sldId id="270"/>
          </p14:sldIdLst>
        </p14:section>
        <p14:section name="정리" id="{0dfaba6d-4169-eacb-a8bc-14ec7d3f7fee}">
          <p14:sldIdLst>
            <p14:sldId id="271"/>
          </p14:sldIdLst>
        </p14:section>
        <p14:section name="보충" id="{93bbe19e-f511-0a34-adb9-1328ac201889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영어 · 소리낱말문장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영어 · 단모음 소리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영어 · 단모음 소리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영어 · 단모음 소리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단모음 소리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cat과 bed의 가운데 소리는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다를까요?</a:t>
            </a:r>
            <a:endParaRPr lang="ko-KR" sz="3000" dirty="0"/>
          </a:p>
        </p:txBody>
      </p:sp>
      <p:sp>
        <p:nvSpPr>
          <p:cNvPr id="4" name="S01-tile1"/>
          <p:cNvSpPr txBox="1"/>
          <p:nvPr/>
        </p:nvSpPr>
        <p:spPr>
          <a:xfrm>
            <a:off x="7680960" y="826008"/>
            <a:ext cx="1176528" cy="1176528"/>
          </a:xfrm>
          <a:prstGeom prst="roundRect">
            <a:avLst>
              <a:gd name="adj" fmla="val 1088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5100" dirty="0"/>
          </a:p>
        </p:txBody>
      </p:sp>
      <p:sp>
        <p:nvSpPr>
          <p:cNvPr id="5" name="S01-tile2"/>
          <p:cNvSpPr txBox="1"/>
          <p:nvPr/>
        </p:nvSpPr>
        <p:spPr>
          <a:xfrm>
            <a:off x="9058656" y="826008"/>
            <a:ext cx="1176528" cy="1176528"/>
          </a:xfrm>
          <a:prstGeom prst="roundRect">
            <a:avLst>
              <a:gd name="adj" fmla="val 1088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ko-KR" sz="5100" dirty="0"/>
          </a:p>
        </p:txBody>
      </p:sp>
      <p:sp>
        <p:nvSpPr>
          <p:cNvPr id="6" name="S01-tile3"/>
          <p:cNvSpPr txBox="1"/>
          <p:nvPr/>
        </p:nvSpPr>
        <p:spPr>
          <a:xfrm>
            <a:off x="10436352" y="826008"/>
            <a:ext cx="1176528" cy="1176528"/>
          </a:xfrm>
          <a:prstGeom prst="roundRect">
            <a:avLst>
              <a:gd name="adj" fmla="val 1088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endParaRPr lang="ko-KR" sz="5100" dirty="0"/>
          </a:p>
        </p:txBody>
      </p:sp>
      <p:sp>
        <p:nvSpPr>
          <p:cNvPr id="7" name="S01-tile4"/>
          <p:cNvSpPr txBox="1"/>
          <p:nvPr/>
        </p:nvSpPr>
        <p:spPr>
          <a:xfrm>
            <a:off x="8369808" y="2203704"/>
            <a:ext cx="1176528" cy="1176528"/>
          </a:xfrm>
          <a:prstGeom prst="roundRect">
            <a:avLst>
              <a:gd name="adj" fmla="val 1088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ko-KR" sz="5100" dirty="0"/>
          </a:p>
        </p:txBody>
      </p:sp>
      <p:sp>
        <p:nvSpPr>
          <p:cNvPr id="8" name="S01-tile5"/>
          <p:cNvSpPr txBox="1"/>
          <p:nvPr/>
        </p:nvSpPr>
        <p:spPr>
          <a:xfrm>
            <a:off x="9747504" y="2203704"/>
            <a:ext cx="1176528" cy="1176528"/>
          </a:xfrm>
          <a:prstGeom prst="roundRect">
            <a:avLst>
              <a:gd name="adj" fmla="val 1088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</a:t>
            </a:r>
            <a:endParaRPr lang="ko-KR" sz="5100" dirty="0"/>
          </a:p>
        </p:txBody>
      </p:sp>
      <p:sp>
        <p:nvSpPr>
          <p:cNvPr id="9" name="S01-card6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0" name="S01-cardtext7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a·e·i·o·u의 짧은 소리를 듣고 따라 말해요.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낱말을 듣고 가운데 모음 글자를 찾아요.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소문자와 첫소리 떠올리기</a:t>
            </a:r>
            <a:endParaRPr lang="ko-KR" sz="4000" dirty="0"/>
          </a:p>
        </p:txBody>
      </p:sp>
      <p:sp>
        <p:nvSpPr>
          <p:cNvPr id="3" name="S02-text8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이름을 말하고, ②는 엄마(아빠)가 말하는 낱말의 첫 글자를 골라요.</a:t>
            </a:r>
            <a:endParaRPr lang="ko-KR" sz="3000" dirty="0"/>
          </a:p>
        </p:txBody>
      </p:sp>
      <p:sp>
        <p:nvSpPr>
          <p:cNvPr id="4" name="S02-chip9"/>
          <p:cNvSpPr txBox="1"/>
          <p:nvPr/>
        </p:nvSpPr>
        <p:spPr>
          <a:xfrm>
            <a:off x="548640" y="30540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ile10"/>
          <p:cNvSpPr txBox="1"/>
          <p:nvPr/>
        </p:nvSpPr>
        <p:spPr>
          <a:xfrm>
            <a:off x="1344168" y="2727198"/>
            <a:ext cx="1220724" cy="1220724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5300" dirty="0"/>
          </a:p>
        </p:txBody>
      </p:sp>
      <p:sp>
        <p:nvSpPr>
          <p:cNvPr id="6" name="S02-tile11"/>
          <p:cNvSpPr txBox="1"/>
          <p:nvPr/>
        </p:nvSpPr>
        <p:spPr>
          <a:xfrm>
            <a:off x="2766060" y="2727198"/>
            <a:ext cx="1220724" cy="1220724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5300" dirty="0"/>
          </a:p>
        </p:txBody>
      </p:sp>
      <p:sp>
        <p:nvSpPr>
          <p:cNvPr id="7" name="S02-tile12"/>
          <p:cNvSpPr txBox="1"/>
          <p:nvPr/>
        </p:nvSpPr>
        <p:spPr>
          <a:xfrm>
            <a:off x="4187952" y="2727198"/>
            <a:ext cx="1220724" cy="1220724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ko-KR" sz="5300" dirty="0"/>
          </a:p>
        </p:txBody>
      </p:sp>
      <p:sp>
        <p:nvSpPr>
          <p:cNvPr id="8" name="S02-tile13"/>
          <p:cNvSpPr txBox="1"/>
          <p:nvPr/>
        </p:nvSpPr>
        <p:spPr>
          <a:xfrm>
            <a:off x="5609844" y="2727198"/>
            <a:ext cx="1220724" cy="1220724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5300" dirty="0"/>
          </a:p>
        </p:txBody>
      </p:sp>
      <p:sp>
        <p:nvSpPr>
          <p:cNvPr id="9" name="S02-chip14"/>
          <p:cNvSpPr txBox="1"/>
          <p:nvPr/>
        </p:nvSpPr>
        <p:spPr>
          <a:xfrm>
            <a:off x="548640" y="5035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0" name="S02-tile15"/>
          <p:cNvSpPr txBox="1"/>
          <p:nvPr/>
        </p:nvSpPr>
        <p:spPr>
          <a:xfrm>
            <a:off x="1828800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5900" dirty="0"/>
          </a:p>
        </p:txBody>
      </p:sp>
      <p:sp>
        <p:nvSpPr>
          <p:cNvPr id="11" name="S02-tile16"/>
          <p:cNvSpPr txBox="1"/>
          <p:nvPr/>
        </p:nvSpPr>
        <p:spPr>
          <a:xfrm>
            <a:off x="3401568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ko-KR" sz="5900" dirty="0"/>
          </a:p>
        </p:txBody>
      </p:sp>
      <p:sp>
        <p:nvSpPr>
          <p:cNvPr id="12" name="S02-tile17"/>
          <p:cNvSpPr txBox="1"/>
          <p:nvPr/>
        </p:nvSpPr>
        <p:spPr>
          <a:xfrm>
            <a:off x="4974336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모음 글자 다섯 개</a:t>
            </a:r>
            <a:endParaRPr lang="ko-KR" sz="4000" dirty="0"/>
          </a:p>
        </p:txBody>
      </p:sp>
      <p:sp>
        <p:nvSpPr>
          <p:cNvPr id="3" name="S03-card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색칠한 a, e, i, o, u를 모음 글자라고 해요.</a:t>
            </a:r>
            <a:endParaRPr lang="ko-KR" sz="3000" dirty="0"/>
          </a:p>
        </p:txBody>
      </p:sp>
      <p:sp>
        <p:nvSpPr>
          <p:cNvPr id="5" name="S03-tile20"/>
          <p:cNvSpPr txBox="1"/>
          <p:nvPr/>
        </p:nvSpPr>
        <p:spPr>
          <a:xfrm>
            <a:off x="548640" y="24551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2900" dirty="0"/>
          </a:p>
        </p:txBody>
      </p:sp>
      <p:sp>
        <p:nvSpPr>
          <p:cNvPr id="6" name="S03-tile21"/>
          <p:cNvSpPr txBox="1"/>
          <p:nvPr/>
        </p:nvSpPr>
        <p:spPr>
          <a:xfrm>
            <a:off x="1417320" y="24551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2900" dirty="0"/>
          </a:p>
        </p:txBody>
      </p:sp>
      <p:sp>
        <p:nvSpPr>
          <p:cNvPr id="7" name="S03-tile22"/>
          <p:cNvSpPr txBox="1"/>
          <p:nvPr/>
        </p:nvSpPr>
        <p:spPr>
          <a:xfrm>
            <a:off x="2286000" y="24551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ko-KR" sz="2900" dirty="0"/>
          </a:p>
        </p:txBody>
      </p:sp>
      <p:sp>
        <p:nvSpPr>
          <p:cNvPr id="8" name="S03-tile23"/>
          <p:cNvSpPr txBox="1"/>
          <p:nvPr/>
        </p:nvSpPr>
        <p:spPr>
          <a:xfrm>
            <a:off x="3154680" y="24551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2900" dirty="0"/>
          </a:p>
        </p:txBody>
      </p:sp>
      <p:sp>
        <p:nvSpPr>
          <p:cNvPr id="9" name="S03-tile24"/>
          <p:cNvSpPr txBox="1"/>
          <p:nvPr/>
        </p:nvSpPr>
        <p:spPr>
          <a:xfrm>
            <a:off x="4023360" y="24551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ko-KR" sz="2900" dirty="0"/>
          </a:p>
        </p:txBody>
      </p:sp>
      <p:sp>
        <p:nvSpPr>
          <p:cNvPr id="10" name="S03-tile25"/>
          <p:cNvSpPr txBox="1"/>
          <p:nvPr/>
        </p:nvSpPr>
        <p:spPr>
          <a:xfrm>
            <a:off x="4892040" y="24551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ko-KR" sz="2900" dirty="0"/>
          </a:p>
        </p:txBody>
      </p:sp>
      <p:sp>
        <p:nvSpPr>
          <p:cNvPr id="11" name="S03-tile26"/>
          <p:cNvSpPr txBox="1"/>
          <p:nvPr/>
        </p:nvSpPr>
        <p:spPr>
          <a:xfrm>
            <a:off x="5760720" y="24551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2900" dirty="0"/>
          </a:p>
        </p:txBody>
      </p:sp>
      <p:sp>
        <p:nvSpPr>
          <p:cNvPr id="12" name="S03-tile27"/>
          <p:cNvSpPr txBox="1"/>
          <p:nvPr/>
        </p:nvSpPr>
        <p:spPr>
          <a:xfrm>
            <a:off x="6629400" y="24551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</a:t>
            </a:r>
            <a:endParaRPr lang="ko-KR" sz="2900" dirty="0"/>
          </a:p>
        </p:txBody>
      </p:sp>
      <p:sp>
        <p:nvSpPr>
          <p:cNvPr id="13" name="S03-tile28"/>
          <p:cNvSpPr txBox="1"/>
          <p:nvPr/>
        </p:nvSpPr>
        <p:spPr>
          <a:xfrm>
            <a:off x="7498080" y="24551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endParaRPr lang="ko-KR" sz="2900" dirty="0"/>
          </a:p>
        </p:txBody>
      </p:sp>
      <p:sp>
        <p:nvSpPr>
          <p:cNvPr id="14" name="S03-tile29"/>
          <p:cNvSpPr txBox="1"/>
          <p:nvPr/>
        </p:nvSpPr>
        <p:spPr>
          <a:xfrm>
            <a:off x="8366760" y="24551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</a:t>
            </a:r>
            <a:endParaRPr lang="ko-KR" sz="2900" dirty="0"/>
          </a:p>
        </p:txBody>
      </p:sp>
      <p:sp>
        <p:nvSpPr>
          <p:cNvPr id="15" name="S03-tile30"/>
          <p:cNvSpPr txBox="1"/>
          <p:nvPr/>
        </p:nvSpPr>
        <p:spPr>
          <a:xfrm>
            <a:off x="9235440" y="24551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</a:t>
            </a:r>
            <a:endParaRPr lang="ko-KR" sz="2900" dirty="0"/>
          </a:p>
        </p:txBody>
      </p:sp>
      <p:sp>
        <p:nvSpPr>
          <p:cNvPr id="16" name="S03-tile31"/>
          <p:cNvSpPr txBox="1"/>
          <p:nvPr/>
        </p:nvSpPr>
        <p:spPr>
          <a:xfrm>
            <a:off x="10104120" y="24551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</a:t>
            </a:r>
            <a:endParaRPr lang="ko-KR" sz="2900" dirty="0"/>
          </a:p>
        </p:txBody>
      </p:sp>
      <p:sp>
        <p:nvSpPr>
          <p:cNvPr id="17" name="S03-tile32"/>
          <p:cNvSpPr txBox="1"/>
          <p:nvPr/>
        </p:nvSpPr>
        <p:spPr>
          <a:xfrm>
            <a:off x="10972800" y="24551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</a:t>
            </a:r>
            <a:endParaRPr lang="ko-KR" sz="2900" dirty="0"/>
          </a:p>
        </p:txBody>
      </p:sp>
      <p:sp>
        <p:nvSpPr>
          <p:cNvPr id="18" name="S03-tile33"/>
          <p:cNvSpPr txBox="1"/>
          <p:nvPr/>
        </p:nvSpPr>
        <p:spPr>
          <a:xfrm>
            <a:off x="548640" y="33238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2900" dirty="0"/>
          </a:p>
        </p:txBody>
      </p:sp>
      <p:sp>
        <p:nvSpPr>
          <p:cNvPr id="19" name="S03-tile34"/>
          <p:cNvSpPr txBox="1"/>
          <p:nvPr/>
        </p:nvSpPr>
        <p:spPr>
          <a:xfrm>
            <a:off x="1417320" y="33238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ko-KR" sz="2900" dirty="0"/>
          </a:p>
        </p:txBody>
      </p:sp>
      <p:sp>
        <p:nvSpPr>
          <p:cNvPr id="20" name="S03-tile35"/>
          <p:cNvSpPr txBox="1"/>
          <p:nvPr/>
        </p:nvSpPr>
        <p:spPr>
          <a:xfrm>
            <a:off x="2286000" y="33238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ko-KR" sz="2900" dirty="0"/>
          </a:p>
        </p:txBody>
      </p:sp>
      <p:sp>
        <p:nvSpPr>
          <p:cNvPr id="21" name="S03-tile36"/>
          <p:cNvSpPr txBox="1"/>
          <p:nvPr/>
        </p:nvSpPr>
        <p:spPr>
          <a:xfrm>
            <a:off x="3154680" y="33238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ko-KR" sz="2900" dirty="0"/>
          </a:p>
        </p:txBody>
      </p:sp>
      <p:sp>
        <p:nvSpPr>
          <p:cNvPr id="22" name="S03-tile37"/>
          <p:cNvSpPr txBox="1"/>
          <p:nvPr/>
        </p:nvSpPr>
        <p:spPr>
          <a:xfrm>
            <a:off x="4023360" y="33238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</a:t>
            </a:r>
            <a:endParaRPr lang="ko-KR" sz="2900" dirty="0"/>
          </a:p>
        </p:txBody>
      </p:sp>
      <p:sp>
        <p:nvSpPr>
          <p:cNvPr id="23" name="S03-tile38"/>
          <p:cNvSpPr txBox="1"/>
          <p:nvPr/>
        </p:nvSpPr>
        <p:spPr>
          <a:xfrm>
            <a:off x="4892040" y="33238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ko-KR" sz="2900" dirty="0"/>
          </a:p>
        </p:txBody>
      </p:sp>
      <p:sp>
        <p:nvSpPr>
          <p:cNvPr id="24" name="S03-tile39"/>
          <p:cNvSpPr txBox="1"/>
          <p:nvPr/>
        </p:nvSpPr>
        <p:spPr>
          <a:xfrm>
            <a:off x="5760720" y="33238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</a:t>
            </a:r>
            <a:endParaRPr lang="ko-KR" sz="2900" dirty="0"/>
          </a:p>
        </p:txBody>
      </p:sp>
      <p:sp>
        <p:nvSpPr>
          <p:cNvPr id="25" name="S03-tile40"/>
          <p:cNvSpPr txBox="1"/>
          <p:nvPr/>
        </p:nvSpPr>
        <p:spPr>
          <a:xfrm>
            <a:off x="6629400" y="33238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</a:t>
            </a:r>
            <a:endParaRPr lang="ko-KR" sz="2900" dirty="0"/>
          </a:p>
        </p:txBody>
      </p:sp>
      <p:sp>
        <p:nvSpPr>
          <p:cNvPr id="26" name="S03-tile41"/>
          <p:cNvSpPr txBox="1"/>
          <p:nvPr/>
        </p:nvSpPr>
        <p:spPr>
          <a:xfrm>
            <a:off x="7498080" y="33238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</a:t>
            </a:r>
            <a:endParaRPr lang="ko-KR" sz="2900" dirty="0"/>
          </a:p>
        </p:txBody>
      </p:sp>
      <p:sp>
        <p:nvSpPr>
          <p:cNvPr id="27" name="S03-tile42"/>
          <p:cNvSpPr txBox="1"/>
          <p:nvPr/>
        </p:nvSpPr>
        <p:spPr>
          <a:xfrm>
            <a:off x="8366760" y="33238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</a:t>
            </a:r>
            <a:endParaRPr lang="ko-KR" sz="2900" dirty="0"/>
          </a:p>
        </p:txBody>
      </p:sp>
      <p:sp>
        <p:nvSpPr>
          <p:cNvPr id="28" name="S03-tile43"/>
          <p:cNvSpPr txBox="1"/>
          <p:nvPr/>
        </p:nvSpPr>
        <p:spPr>
          <a:xfrm>
            <a:off x="9235440" y="33238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ko-KR" sz="2900" dirty="0"/>
          </a:p>
        </p:txBody>
      </p:sp>
      <p:sp>
        <p:nvSpPr>
          <p:cNvPr id="29" name="S03-tile44"/>
          <p:cNvSpPr txBox="1"/>
          <p:nvPr/>
        </p:nvSpPr>
        <p:spPr>
          <a:xfrm>
            <a:off x="10104120" y="33238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</a:t>
            </a:r>
            <a:endParaRPr lang="ko-KR" sz="2900" dirty="0"/>
          </a:p>
        </p:txBody>
      </p:sp>
      <p:sp>
        <p:nvSpPr>
          <p:cNvPr id="30" name="S03-tile45"/>
          <p:cNvSpPr txBox="1"/>
          <p:nvPr/>
        </p:nvSpPr>
        <p:spPr>
          <a:xfrm>
            <a:off x="10972800" y="33238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</a:t>
            </a:r>
            <a:endParaRPr lang="ko-KR" sz="2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a의 짧은 소리</a:t>
            </a:r>
            <a:endParaRPr lang="ko-KR" sz="4000" dirty="0"/>
          </a:p>
        </p:txBody>
      </p:sp>
      <p:sp>
        <p:nvSpPr>
          <p:cNvPr id="3" name="S04-card46"/>
          <p:cNvSpPr/>
          <p:nvPr/>
        </p:nvSpPr>
        <p:spPr>
          <a:xfrm>
            <a:off x="548640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47"/>
          <p:cNvSpPr txBox="1"/>
          <p:nvPr/>
        </p:nvSpPr>
        <p:spPr>
          <a:xfrm>
            <a:off x="822960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입을 크게 벌리고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입꼬리를 옆으로 당겨요.</a:t>
            </a:r>
            <a:endParaRPr lang="ko-KR" sz="3000" dirty="0"/>
          </a:p>
        </p:txBody>
      </p:sp>
      <p:sp>
        <p:nvSpPr>
          <p:cNvPr id="5" name="S04-card48"/>
          <p:cNvSpPr/>
          <p:nvPr/>
        </p:nvSpPr>
        <p:spPr>
          <a:xfrm>
            <a:off x="6208776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49"/>
          <p:cNvSpPr txBox="1"/>
          <p:nvPr/>
        </p:nvSpPr>
        <p:spPr>
          <a:xfrm>
            <a:off x="6483096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턱이 아래로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많이 내려가요.</a:t>
            </a:r>
            <a:endParaRPr lang="ko-KR" sz="3000" dirty="0"/>
          </a:p>
        </p:txBody>
      </p:sp>
      <p:sp>
        <p:nvSpPr>
          <p:cNvPr id="7" name="S04-tile50"/>
          <p:cNvSpPr txBox="1"/>
          <p:nvPr/>
        </p:nvSpPr>
        <p:spPr>
          <a:xfrm>
            <a:off x="2418588" y="2205228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7100" dirty="0"/>
          </a:p>
        </p:txBody>
      </p:sp>
      <p:sp>
        <p:nvSpPr>
          <p:cNvPr id="8" name="S04-word51"/>
          <p:cNvSpPr txBox="1"/>
          <p:nvPr/>
        </p:nvSpPr>
        <p:spPr>
          <a:xfrm>
            <a:off x="6254496" y="2159508"/>
            <a:ext cx="538581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cat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고양이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e의 짧은 소리</a:t>
            </a:r>
            <a:endParaRPr lang="ko-KR" sz="4000" dirty="0"/>
          </a:p>
        </p:txBody>
      </p:sp>
      <p:sp>
        <p:nvSpPr>
          <p:cNvPr id="3" name="S05-card52"/>
          <p:cNvSpPr/>
          <p:nvPr/>
        </p:nvSpPr>
        <p:spPr>
          <a:xfrm>
            <a:off x="548640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53"/>
          <p:cNvSpPr txBox="1"/>
          <p:nvPr/>
        </p:nvSpPr>
        <p:spPr>
          <a:xfrm>
            <a:off x="822960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a보다 입을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조금 덜 벌려요.</a:t>
            </a:r>
            <a:endParaRPr lang="ko-KR" sz="3000" dirty="0"/>
          </a:p>
        </p:txBody>
      </p:sp>
      <p:sp>
        <p:nvSpPr>
          <p:cNvPr id="5" name="S05-card54"/>
          <p:cNvSpPr/>
          <p:nvPr/>
        </p:nvSpPr>
        <p:spPr>
          <a:xfrm>
            <a:off x="6208776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55"/>
          <p:cNvSpPr txBox="1"/>
          <p:nvPr/>
        </p:nvSpPr>
        <p:spPr>
          <a:xfrm>
            <a:off x="6483096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입꼬리를 살짝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옆으로 당겨요.</a:t>
            </a:r>
            <a:endParaRPr lang="ko-KR" sz="3000" dirty="0"/>
          </a:p>
        </p:txBody>
      </p:sp>
      <p:sp>
        <p:nvSpPr>
          <p:cNvPr id="7" name="S05-tile56"/>
          <p:cNvSpPr txBox="1"/>
          <p:nvPr/>
        </p:nvSpPr>
        <p:spPr>
          <a:xfrm>
            <a:off x="2418588" y="2205228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ko-KR" sz="7100" dirty="0"/>
          </a:p>
        </p:txBody>
      </p:sp>
      <p:sp>
        <p:nvSpPr>
          <p:cNvPr id="8" name="S05-word57"/>
          <p:cNvSpPr txBox="1"/>
          <p:nvPr/>
        </p:nvSpPr>
        <p:spPr>
          <a:xfrm>
            <a:off x="6254496" y="2159508"/>
            <a:ext cx="538581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bed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침대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i의 짧은 소리</a:t>
            </a:r>
            <a:endParaRPr lang="ko-KR" sz="4000" dirty="0"/>
          </a:p>
        </p:txBody>
      </p:sp>
      <p:sp>
        <p:nvSpPr>
          <p:cNvPr id="3" name="S06-card58"/>
          <p:cNvSpPr/>
          <p:nvPr/>
        </p:nvSpPr>
        <p:spPr>
          <a:xfrm>
            <a:off x="548640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59"/>
          <p:cNvSpPr txBox="1"/>
          <p:nvPr/>
        </p:nvSpPr>
        <p:spPr>
          <a:xfrm>
            <a:off x="822960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입을 조금만 벌리고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힘을 빼요.</a:t>
            </a:r>
            <a:endParaRPr lang="ko-KR" sz="3000" dirty="0"/>
          </a:p>
        </p:txBody>
      </p:sp>
      <p:sp>
        <p:nvSpPr>
          <p:cNvPr id="5" name="S06-card60"/>
          <p:cNvSpPr/>
          <p:nvPr/>
        </p:nvSpPr>
        <p:spPr>
          <a:xfrm>
            <a:off x="6208776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61"/>
          <p:cNvSpPr txBox="1"/>
          <p:nvPr/>
        </p:nvSpPr>
        <p:spPr>
          <a:xfrm>
            <a:off x="6483096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아주 짧게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 내요.</a:t>
            </a:r>
            <a:endParaRPr lang="ko-KR" sz="3000" dirty="0"/>
          </a:p>
        </p:txBody>
      </p:sp>
      <p:sp>
        <p:nvSpPr>
          <p:cNvPr id="7" name="S06-tile62"/>
          <p:cNvSpPr txBox="1"/>
          <p:nvPr/>
        </p:nvSpPr>
        <p:spPr>
          <a:xfrm>
            <a:off x="2418588" y="2205228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endParaRPr lang="ko-KR" sz="7100" dirty="0"/>
          </a:p>
        </p:txBody>
      </p:sp>
      <p:sp>
        <p:nvSpPr>
          <p:cNvPr id="8" name="S06-word63"/>
          <p:cNvSpPr txBox="1"/>
          <p:nvPr/>
        </p:nvSpPr>
        <p:spPr>
          <a:xfrm>
            <a:off x="6254496" y="2159508"/>
            <a:ext cx="538581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pig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돼지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o의 짧은 소리</a:t>
            </a:r>
            <a:endParaRPr lang="ko-KR" sz="4000" dirty="0"/>
          </a:p>
        </p:txBody>
      </p:sp>
      <p:sp>
        <p:nvSpPr>
          <p:cNvPr id="3" name="S07-card64"/>
          <p:cNvSpPr/>
          <p:nvPr/>
        </p:nvSpPr>
        <p:spPr>
          <a:xfrm>
            <a:off x="548640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65"/>
          <p:cNvSpPr txBox="1"/>
          <p:nvPr/>
        </p:nvSpPr>
        <p:spPr>
          <a:xfrm>
            <a:off x="822960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턱을 아래로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쑥 내려요.</a:t>
            </a:r>
            <a:endParaRPr lang="ko-KR" sz="3000" dirty="0"/>
          </a:p>
        </p:txBody>
      </p:sp>
      <p:sp>
        <p:nvSpPr>
          <p:cNvPr id="5" name="S07-card66"/>
          <p:cNvSpPr/>
          <p:nvPr/>
        </p:nvSpPr>
        <p:spPr>
          <a:xfrm>
            <a:off x="6208776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67"/>
          <p:cNvSpPr txBox="1"/>
          <p:nvPr/>
        </p:nvSpPr>
        <p:spPr>
          <a:xfrm>
            <a:off x="6483096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입을 세로로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크게 벌려요.</a:t>
            </a:r>
            <a:endParaRPr lang="ko-KR" sz="3000" dirty="0"/>
          </a:p>
        </p:txBody>
      </p:sp>
      <p:sp>
        <p:nvSpPr>
          <p:cNvPr id="7" name="S07-tile68"/>
          <p:cNvSpPr txBox="1"/>
          <p:nvPr/>
        </p:nvSpPr>
        <p:spPr>
          <a:xfrm>
            <a:off x="2418588" y="2205228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ko-KR" sz="7100" dirty="0"/>
          </a:p>
        </p:txBody>
      </p:sp>
      <p:sp>
        <p:nvSpPr>
          <p:cNvPr id="8" name="S07-word69"/>
          <p:cNvSpPr txBox="1"/>
          <p:nvPr/>
        </p:nvSpPr>
        <p:spPr>
          <a:xfrm>
            <a:off x="6254496" y="2159508"/>
            <a:ext cx="538581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dog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u의 짧은 소리</a:t>
            </a:r>
            <a:endParaRPr lang="ko-KR" sz="4000" dirty="0"/>
          </a:p>
        </p:txBody>
      </p:sp>
      <p:sp>
        <p:nvSpPr>
          <p:cNvPr id="3" name="S08-card70"/>
          <p:cNvSpPr/>
          <p:nvPr/>
        </p:nvSpPr>
        <p:spPr>
          <a:xfrm>
            <a:off x="548640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71"/>
          <p:cNvSpPr txBox="1"/>
          <p:nvPr/>
        </p:nvSpPr>
        <p:spPr>
          <a:xfrm>
            <a:off x="822960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입을 반쯤 벌리고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힘을 빼요.</a:t>
            </a:r>
            <a:endParaRPr lang="ko-KR" sz="3000" dirty="0"/>
          </a:p>
        </p:txBody>
      </p:sp>
      <p:sp>
        <p:nvSpPr>
          <p:cNvPr id="5" name="S08-card72"/>
          <p:cNvSpPr/>
          <p:nvPr/>
        </p:nvSpPr>
        <p:spPr>
          <a:xfrm>
            <a:off x="6208776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8-cardtext73"/>
          <p:cNvSpPr txBox="1"/>
          <p:nvPr/>
        </p:nvSpPr>
        <p:spPr>
          <a:xfrm>
            <a:off x="6483096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o보다 턱을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덜 내려요.</a:t>
            </a:r>
            <a:endParaRPr lang="ko-KR" sz="3000" dirty="0"/>
          </a:p>
        </p:txBody>
      </p:sp>
      <p:sp>
        <p:nvSpPr>
          <p:cNvPr id="7" name="S08-tile74"/>
          <p:cNvSpPr txBox="1"/>
          <p:nvPr/>
        </p:nvSpPr>
        <p:spPr>
          <a:xfrm>
            <a:off x="2418588" y="2205228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</a:t>
            </a:r>
            <a:endParaRPr lang="ko-KR" sz="7100" dirty="0"/>
          </a:p>
        </p:txBody>
      </p:sp>
      <p:sp>
        <p:nvSpPr>
          <p:cNvPr id="8" name="S08-word75"/>
          <p:cNvSpPr txBox="1"/>
          <p:nvPr/>
        </p:nvSpPr>
        <p:spPr>
          <a:xfrm>
            <a:off x="6254496" y="2159508"/>
            <a:ext cx="538581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sun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글자를 보고 소리 내요</a:t>
            </a:r>
            <a:endParaRPr lang="ko-KR" sz="4000" dirty="0"/>
          </a:p>
        </p:txBody>
      </p:sp>
      <p:sp>
        <p:nvSpPr>
          <p:cNvPr id="3" name="S09-text7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짚는 글자의 열쇠 낱말과 짧은 소리를 말해요.</a:t>
            </a:r>
            <a:endParaRPr lang="ko-KR" sz="3000" dirty="0"/>
          </a:p>
        </p:txBody>
      </p:sp>
      <p:sp>
        <p:nvSpPr>
          <p:cNvPr id="4" name="S09-tile77"/>
          <p:cNvSpPr txBox="1"/>
          <p:nvPr/>
        </p:nvSpPr>
        <p:spPr>
          <a:xfrm>
            <a:off x="2034540" y="338328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</a:t>
            </a:r>
            <a:endParaRPr lang="ko-KR" sz="6300" dirty="0"/>
          </a:p>
        </p:txBody>
      </p:sp>
      <p:sp>
        <p:nvSpPr>
          <p:cNvPr id="5" name="S09-tile78"/>
          <p:cNvSpPr txBox="1"/>
          <p:nvPr/>
        </p:nvSpPr>
        <p:spPr>
          <a:xfrm>
            <a:off x="3698748" y="338328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6300" dirty="0"/>
          </a:p>
        </p:txBody>
      </p:sp>
      <p:sp>
        <p:nvSpPr>
          <p:cNvPr id="6" name="S09-tile79"/>
          <p:cNvSpPr txBox="1"/>
          <p:nvPr/>
        </p:nvSpPr>
        <p:spPr>
          <a:xfrm>
            <a:off x="5362956" y="338328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ko-KR" sz="6300" dirty="0"/>
          </a:p>
        </p:txBody>
      </p:sp>
      <p:sp>
        <p:nvSpPr>
          <p:cNvPr id="7" name="S09-tile80"/>
          <p:cNvSpPr txBox="1"/>
          <p:nvPr/>
        </p:nvSpPr>
        <p:spPr>
          <a:xfrm>
            <a:off x="7027164" y="338328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endParaRPr lang="ko-KR" sz="6300" dirty="0"/>
          </a:p>
        </p:txBody>
      </p:sp>
      <p:sp>
        <p:nvSpPr>
          <p:cNvPr id="8" name="S09-tile81"/>
          <p:cNvSpPr txBox="1"/>
          <p:nvPr/>
        </p:nvSpPr>
        <p:spPr>
          <a:xfrm>
            <a:off x="8691372" y="338328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ko-KR" sz="6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가운데 소리 찾기</a:t>
            </a:r>
            <a:endParaRPr lang="ko-KR" sz="4000" dirty="0"/>
          </a:p>
        </p:txBody>
      </p:sp>
      <p:sp>
        <p:nvSpPr>
          <p:cNvPr id="3" name="S10-text8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hat의 가운데 모음을 찾아봐요.</a:t>
            </a:r>
            <a:endParaRPr lang="ko-KR" sz="3000" dirty="0"/>
          </a:p>
        </p:txBody>
      </p:sp>
      <p:sp>
        <p:nvSpPr>
          <p:cNvPr id="4" name="S10-word83"/>
          <p:cNvSpPr txBox="1"/>
          <p:nvPr/>
        </p:nvSpPr>
        <p:spPr>
          <a:xfrm>
            <a:off x="6920911" y="3246120"/>
            <a:ext cx="4719401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hat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모자</a:t>
            </a:r>
            <a:endParaRPr lang="ko-KR" sz="3400" dirty="0"/>
          </a:p>
        </p:txBody>
      </p:sp>
      <p:sp>
        <p:nvSpPr>
          <p:cNvPr id="5" name="S10-stepno84"/>
          <p:cNvSpPr txBox="1"/>
          <p:nvPr/>
        </p:nvSpPr>
        <p:spPr>
          <a:xfrm>
            <a:off x="548640" y="23896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10-text85"/>
          <p:cNvSpPr txBox="1"/>
          <p:nvPr/>
        </p:nvSpPr>
        <p:spPr>
          <a:xfrm>
            <a:off x="1325880" y="2389632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낱말을 듣고 따라 말해요.</a:t>
            </a:r>
            <a:endParaRPr lang="ko-KR" sz="3000" dirty="0"/>
          </a:p>
        </p:txBody>
      </p:sp>
      <p:sp>
        <p:nvSpPr>
          <p:cNvPr id="7" name="S10-stepno86"/>
          <p:cNvSpPr txBox="1"/>
          <p:nvPr/>
        </p:nvSpPr>
        <p:spPr>
          <a:xfrm>
            <a:off x="548640" y="31485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10-text87"/>
          <p:cNvSpPr txBox="1"/>
          <p:nvPr/>
        </p:nvSpPr>
        <p:spPr>
          <a:xfrm>
            <a:off x="1325880" y="3102864"/>
            <a:ext cx="5229271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천천히 늘여 말하며 가운데에서 손뼉을 쳐요.</a:t>
            </a:r>
            <a:endParaRPr lang="ko-KR" sz="3000" dirty="0"/>
          </a:p>
        </p:txBody>
      </p:sp>
      <p:sp>
        <p:nvSpPr>
          <p:cNvPr id="9" name="S10-stepno88"/>
          <p:cNvSpPr txBox="1"/>
          <p:nvPr/>
        </p:nvSpPr>
        <p:spPr>
          <a:xfrm>
            <a:off x="548640" y="42428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10-text89"/>
          <p:cNvSpPr txBox="1"/>
          <p:nvPr/>
        </p:nvSpPr>
        <p:spPr>
          <a:xfrm>
            <a:off x="1325880" y="4197096"/>
            <a:ext cx="5229271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열쇠 낱말 가운데 소리가 같은 것을 찾아요.</a:t>
            </a:r>
            <a:endParaRPr lang="ko-KR" sz="3000" dirty="0"/>
          </a:p>
        </p:txBody>
      </p:sp>
      <p:sp>
        <p:nvSpPr>
          <p:cNvPr id="11" name="S10-stepno90"/>
          <p:cNvSpPr txBox="1"/>
          <p:nvPr/>
        </p:nvSpPr>
        <p:spPr>
          <a:xfrm>
            <a:off x="548640" y="52913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10-text91"/>
          <p:cNvSpPr txBox="1"/>
          <p:nvPr/>
        </p:nvSpPr>
        <p:spPr>
          <a:xfrm>
            <a:off x="1325880" y="5291328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모음 글자를 골라요.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가운데 모음을 골라요</a:t>
            </a:r>
            <a:endParaRPr lang="ko-KR" sz="4000" dirty="0"/>
          </a:p>
        </p:txBody>
      </p:sp>
      <p:sp>
        <p:nvSpPr>
          <p:cNvPr id="3" name="S11-text9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말하는 낱말의 가운데 모음을 골라요.</a:t>
            </a:r>
            <a:endParaRPr lang="ko-KR" sz="3000" dirty="0"/>
          </a:p>
        </p:txBody>
      </p:sp>
      <p:sp>
        <p:nvSpPr>
          <p:cNvPr id="4" name="S11-card9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1-cardtext9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열쇠 낱말: cat　bed　pig　dog　sun</a:t>
            </a:r>
            <a:endParaRPr lang="ko-KR" sz="3000" dirty="0"/>
          </a:p>
        </p:txBody>
      </p:sp>
      <p:sp>
        <p:nvSpPr>
          <p:cNvPr id="6" name="S11-chip95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1-tile96"/>
          <p:cNvSpPr txBox="1"/>
          <p:nvPr/>
        </p:nvSpPr>
        <p:spPr>
          <a:xfrm>
            <a:off x="1369314" y="205740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5900" dirty="0"/>
          </a:p>
        </p:txBody>
      </p:sp>
      <p:sp>
        <p:nvSpPr>
          <p:cNvPr id="8" name="S11-tile97"/>
          <p:cNvSpPr txBox="1"/>
          <p:nvPr/>
        </p:nvSpPr>
        <p:spPr>
          <a:xfrm>
            <a:off x="2942082" y="205740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ko-KR" sz="5900" dirty="0"/>
          </a:p>
        </p:txBody>
      </p:sp>
      <p:sp>
        <p:nvSpPr>
          <p:cNvPr id="9" name="S11-tile98"/>
          <p:cNvSpPr txBox="1"/>
          <p:nvPr/>
        </p:nvSpPr>
        <p:spPr>
          <a:xfrm>
            <a:off x="4514850" y="205740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endParaRPr lang="ko-KR" sz="5900" dirty="0"/>
          </a:p>
        </p:txBody>
      </p:sp>
      <p:sp>
        <p:nvSpPr>
          <p:cNvPr id="10" name="S11-chip99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1" name="S11-tile100"/>
          <p:cNvSpPr txBox="1"/>
          <p:nvPr/>
        </p:nvSpPr>
        <p:spPr>
          <a:xfrm>
            <a:off x="7098030" y="205740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ko-KR" sz="5900" dirty="0"/>
          </a:p>
        </p:txBody>
      </p:sp>
      <p:sp>
        <p:nvSpPr>
          <p:cNvPr id="12" name="S11-tile101"/>
          <p:cNvSpPr txBox="1"/>
          <p:nvPr/>
        </p:nvSpPr>
        <p:spPr>
          <a:xfrm>
            <a:off x="8670798" y="205740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</a:t>
            </a:r>
            <a:endParaRPr lang="ko-KR" sz="5900" dirty="0"/>
          </a:p>
        </p:txBody>
      </p:sp>
      <p:sp>
        <p:nvSpPr>
          <p:cNvPr id="13" name="S11-tile102"/>
          <p:cNvSpPr txBox="1"/>
          <p:nvPr/>
        </p:nvSpPr>
        <p:spPr>
          <a:xfrm>
            <a:off x="10243566" y="205740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5900" dirty="0"/>
          </a:p>
        </p:txBody>
      </p:sp>
      <p:sp>
        <p:nvSpPr>
          <p:cNvPr id="14" name="S11-chip103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5" name="S11-tile104"/>
          <p:cNvSpPr txBox="1"/>
          <p:nvPr/>
        </p:nvSpPr>
        <p:spPr>
          <a:xfrm>
            <a:off x="1369314" y="370332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endParaRPr lang="ko-KR" sz="5900" dirty="0"/>
          </a:p>
        </p:txBody>
      </p:sp>
      <p:sp>
        <p:nvSpPr>
          <p:cNvPr id="16" name="S11-tile105"/>
          <p:cNvSpPr txBox="1"/>
          <p:nvPr/>
        </p:nvSpPr>
        <p:spPr>
          <a:xfrm>
            <a:off x="2942082" y="370332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ko-KR" sz="5900" dirty="0"/>
          </a:p>
        </p:txBody>
      </p:sp>
      <p:sp>
        <p:nvSpPr>
          <p:cNvPr id="17" name="S11-tile106"/>
          <p:cNvSpPr txBox="1"/>
          <p:nvPr/>
        </p:nvSpPr>
        <p:spPr>
          <a:xfrm>
            <a:off x="4514850" y="370332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ko-KR" sz="5900" dirty="0"/>
          </a:p>
        </p:txBody>
      </p:sp>
      <p:sp>
        <p:nvSpPr>
          <p:cNvPr id="18" name="S11-chip107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9" name="S11-tile108"/>
          <p:cNvSpPr txBox="1"/>
          <p:nvPr/>
        </p:nvSpPr>
        <p:spPr>
          <a:xfrm>
            <a:off x="7098030" y="370332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5900" dirty="0"/>
          </a:p>
        </p:txBody>
      </p:sp>
      <p:sp>
        <p:nvSpPr>
          <p:cNvPr id="20" name="S11-tile109"/>
          <p:cNvSpPr txBox="1"/>
          <p:nvPr/>
        </p:nvSpPr>
        <p:spPr>
          <a:xfrm>
            <a:off x="8670798" y="370332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ko-KR" sz="5900" dirty="0"/>
          </a:p>
        </p:txBody>
      </p:sp>
      <p:sp>
        <p:nvSpPr>
          <p:cNvPr id="21" name="S11-tile110"/>
          <p:cNvSpPr txBox="1"/>
          <p:nvPr/>
        </p:nvSpPr>
        <p:spPr>
          <a:xfrm>
            <a:off x="10243566" y="370332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cap일까요, cup일까요?</a:t>
            </a:r>
            <a:endParaRPr lang="ko-KR" sz="4000" dirty="0"/>
          </a:p>
        </p:txBody>
      </p:sp>
      <p:sp>
        <p:nvSpPr>
          <p:cNvPr id="3" name="S12-card11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11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cup을 보고 ‘cap’이라고 읽었어요.</a:t>
            </a:r>
            <a:endParaRPr lang="ko-KR" sz="3000" dirty="0"/>
          </a:p>
        </p:txBody>
      </p:sp>
      <p:sp>
        <p:nvSpPr>
          <p:cNvPr id="5" name="S12-card11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2-cardtext11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바르게 읽었나요? 무엇을 보고 알았나요?</a:t>
            </a:r>
            <a:endParaRPr lang="ko-KR" sz="3000" dirty="0"/>
          </a:p>
        </p:txBody>
      </p:sp>
      <p:sp>
        <p:nvSpPr>
          <p:cNvPr id="7" name="S12-chip11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가운데 글자 a</a:t>
            </a:r>
            <a:endParaRPr lang="ko-KR" sz="2400" dirty="0"/>
          </a:p>
        </p:txBody>
      </p:sp>
      <p:sp>
        <p:nvSpPr>
          <p:cNvPr id="8" name="S12-word116"/>
          <p:cNvSpPr txBox="1"/>
          <p:nvPr/>
        </p:nvSpPr>
        <p:spPr>
          <a:xfrm>
            <a:off x="548640" y="3268980"/>
            <a:ext cx="536295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모자</a:t>
            </a:r>
            <a:endParaRPr lang="ko-KR" sz="3400" dirty="0"/>
          </a:p>
        </p:txBody>
      </p:sp>
      <p:sp>
        <p:nvSpPr>
          <p:cNvPr id="9" name="S12-chip11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가운데 글자 u</a:t>
            </a:r>
            <a:endParaRPr lang="ko-KR" sz="2400" dirty="0"/>
          </a:p>
        </p:txBody>
      </p:sp>
      <p:sp>
        <p:nvSpPr>
          <p:cNvPr id="10" name="S12-word118"/>
          <p:cNvSpPr txBox="1"/>
          <p:nvPr/>
        </p:nvSpPr>
        <p:spPr>
          <a:xfrm>
            <a:off x="6277356" y="3268980"/>
            <a:ext cx="536295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cup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따라 읽고 모음 찾기</a:t>
            </a:r>
            <a:endParaRPr lang="ko-KR" sz="4000" dirty="0"/>
          </a:p>
        </p:txBody>
      </p:sp>
      <p:sp>
        <p:nvSpPr>
          <p:cNvPr id="3" name="S13-text1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엄마(아빠)를 따라 읽고, 가운데 모음 글자를 말해요.</a:t>
            </a:r>
            <a:endParaRPr lang="ko-KR" sz="3000" dirty="0"/>
          </a:p>
        </p:txBody>
      </p:sp>
      <p:sp>
        <p:nvSpPr>
          <p:cNvPr id="4" name="S13-word120"/>
          <p:cNvSpPr txBox="1"/>
          <p:nvPr/>
        </p:nvSpPr>
        <p:spPr>
          <a:xfrm>
            <a:off x="548640" y="224028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hat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모자</a:t>
            </a:r>
            <a:endParaRPr lang="ko-KR" sz="3400" dirty="0"/>
          </a:p>
        </p:txBody>
      </p:sp>
      <p:sp>
        <p:nvSpPr>
          <p:cNvPr id="5" name="S13-word121"/>
          <p:cNvSpPr txBox="1"/>
          <p:nvPr/>
        </p:nvSpPr>
        <p:spPr>
          <a:xfrm>
            <a:off x="2821838" y="224028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ten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열(10)</a:t>
            </a:r>
            <a:endParaRPr lang="ko-KR" sz="3400" dirty="0"/>
          </a:p>
        </p:txBody>
      </p:sp>
      <p:sp>
        <p:nvSpPr>
          <p:cNvPr id="6" name="S13-word122"/>
          <p:cNvSpPr txBox="1"/>
          <p:nvPr/>
        </p:nvSpPr>
        <p:spPr>
          <a:xfrm>
            <a:off x="5095037" y="224028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big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</a:t>
            </a:r>
            <a:endParaRPr lang="ko-KR" sz="3400" dirty="0"/>
          </a:p>
        </p:txBody>
      </p:sp>
      <p:sp>
        <p:nvSpPr>
          <p:cNvPr id="7" name="S13-word123"/>
          <p:cNvSpPr txBox="1"/>
          <p:nvPr/>
        </p:nvSpPr>
        <p:spPr>
          <a:xfrm>
            <a:off x="7368235" y="224028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hot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뜨거운</a:t>
            </a:r>
            <a:endParaRPr lang="ko-KR" sz="3400" dirty="0"/>
          </a:p>
        </p:txBody>
      </p:sp>
      <p:sp>
        <p:nvSpPr>
          <p:cNvPr id="8" name="S13-word124"/>
          <p:cNvSpPr txBox="1"/>
          <p:nvPr/>
        </p:nvSpPr>
        <p:spPr>
          <a:xfrm>
            <a:off x="9641434" y="224028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bus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버스</a:t>
            </a:r>
            <a:endParaRPr lang="ko-KR" sz="3400" dirty="0"/>
          </a:p>
        </p:txBody>
      </p:sp>
      <p:sp>
        <p:nvSpPr>
          <p:cNvPr id="9" name="S13-word125"/>
          <p:cNvSpPr txBox="1"/>
          <p:nvPr/>
        </p:nvSpPr>
        <p:spPr>
          <a:xfrm>
            <a:off x="548640" y="425196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</a:t>
            </a:r>
            <a:endParaRPr lang="ko-KR" sz="3400" dirty="0"/>
          </a:p>
        </p:txBody>
      </p:sp>
      <p:sp>
        <p:nvSpPr>
          <p:cNvPr id="10" name="S13-word126"/>
          <p:cNvSpPr txBox="1"/>
          <p:nvPr/>
        </p:nvSpPr>
        <p:spPr>
          <a:xfrm>
            <a:off x="2821838" y="425196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pen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펜</a:t>
            </a:r>
            <a:endParaRPr lang="ko-KR" sz="3400" dirty="0"/>
          </a:p>
        </p:txBody>
      </p:sp>
      <p:sp>
        <p:nvSpPr>
          <p:cNvPr id="11" name="S13-word127"/>
          <p:cNvSpPr txBox="1"/>
          <p:nvPr/>
        </p:nvSpPr>
        <p:spPr>
          <a:xfrm>
            <a:off x="5095037" y="425196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sit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앉다</a:t>
            </a:r>
            <a:endParaRPr lang="ko-KR" sz="3400" dirty="0"/>
          </a:p>
        </p:txBody>
      </p:sp>
      <p:sp>
        <p:nvSpPr>
          <p:cNvPr id="12" name="S13-word128"/>
          <p:cNvSpPr txBox="1"/>
          <p:nvPr/>
        </p:nvSpPr>
        <p:spPr>
          <a:xfrm>
            <a:off x="7368235" y="425196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top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꼭대기</a:t>
            </a:r>
            <a:endParaRPr lang="ko-KR" sz="3400" dirty="0"/>
          </a:p>
        </p:txBody>
      </p:sp>
      <p:sp>
        <p:nvSpPr>
          <p:cNvPr id="13" name="S13-word129"/>
          <p:cNvSpPr txBox="1"/>
          <p:nvPr/>
        </p:nvSpPr>
        <p:spPr>
          <a:xfrm>
            <a:off x="9641434" y="425196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cup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4-text130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열쇠 낱말과 소리를 말하고, ②③④는 듣고 가운데 모음을 골라요.</a:t>
            </a:r>
            <a:endParaRPr lang="ko-KR" sz="3000" dirty="0"/>
          </a:p>
        </p:txBody>
      </p:sp>
      <p:sp>
        <p:nvSpPr>
          <p:cNvPr id="4" name="S14-chip131"/>
          <p:cNvSpPr txBox="1"/>
          <p:nvPr/>
        </p:nvSpPr>
        <p:spPr>
          <a:xfrm>
            <a:off x="548640" y="30540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4-tile132"/>
          <p:cNvSpPr txBox="1"/>
          <p:nvPr/>
        </p:nvSpPr>
        <p:spPr>
          <a:xfrm>
            <a:off x="2155698" y="26517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ko-KR" sz="5900" dirty="0"/>
          </a:p>
        </p:txBody>
      </p:sp>
      <p:sp>
        <p:nvSpPr>
          <p:cNvPr id="6" name="S14-tile133"/>
          <p:cNvSpPr txBox="1"/>
          <p:nvPr/>
        </p:nvSpPr>
        <p:spPr>
          <a:xfrm>
            <a:off x="3728466" y="26517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ko-KR" sz="5900" dirty="0"/>
          </a:p>
        </p:txBody>
      </p:sp>
      <p:sp>
        <p:nvSpPr>
          <p:cNvPr id="7" name="S14-chip134"/>
          <p:cNvSpPr txBox="1"/>
          <p:nvPr/>
        </p:nvSpPr>
        <p:spPr>
          <a:xfrm>
            <a:off x="6277356" y="30540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8" name="S14-tile135"/>
          <p:cNvSpPr txBox="1"/>
          <p:nvPr/>
        </p:nvSpPr>
        <p:spPr>
          <a:xfrm>
            <a:off x="7098030" y="26517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5900" dirty="0"/>
          </a:p>
        </p:txBody>
      </p:sp>
      <p:sp>
        <p:nvSpPr>
          <p:cNvPr id="9" name="S14-tile136"/>
          <p:cNvSpPr txBox="1"/>
          <p:nvPr/>
        </p:nvSpPr>
        <p:spPr>
          <a:xfrm>
            <a:off x="8670798" y="26517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ko-KR" sz="5900" dirty="0"/>
          </a:p>
        </p:txBody>
      </p:sp>
      <p:sp>
        <p:nvSpPr>
          <p:cNvPr id="10" name="S14-tile137"/>
          <p:cNvSpPr txBox="1"/>
          <p:nvPr/>
        </p:nvSpPr>
        <p:spPr>
          <a:xfrm>
            <a:off x="10243566" y="26517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</a:t>
            </a:r>
            <a:endParaRPr lang="ko-KR" sz="5900" dirty="0"/>
          </a:p>
        </p:txBody>
      </p:sp>
      <p:sp>
        <p:nvSpPr>
          <p:cNvPr id="11" name="S14-chip138"/>
          <p:cNvSpPr txBox="1"/>
          <p:nvPr/>
        </p:nvSpPr>
        <p:spPr>
          <a:xfrm>
            <a:off x="548640" y="5035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2" name="S14-tile139"/>
          <p:cNvSpPr txBox="1"/>
          <p:nvPr/>
        </p:nvSpPr>
        <p:spPr>
          <a:xfrm>
            <a:off x="1369314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ko-KR" sz="5900" dirty="0"/>
          </a:p>
        </p:txBody>
      </p:sp>
      <p:sp>
        <p:nvSpPr>
          <p:cNvPr id="13" name="S14-tile140"/>
          <p:cNvSpPr txBox="1"/>
          <p:nvPr/>
        </p:nvSpPr>
        <p:spPr>
          <a:xfrm>
            <a:off x="2942082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</a:t>
            </a:r>
            <a:endParaRPr lang="ko-KR" sz="5900" dirty="0"/>
          </a:p>
        </p:txBody>
      </p:sp>
      <p:sp>
        <p:nvSpPr>
          <p:cNvPr id="14" name="S14-tile141"/>
          <p:cNvSpPr txBox="1"/>
          <p:nvPr/>
        </p:nvSpPr>
        <p:spPr>
          <a:xfrm>
            <a:off x="4514850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endParaRPr lang="ko-KR" sz="5900" dirty="0"/>
          </a:p>
        </p:txBody>
      </p:sp>
      <p:sp>
        <p:nvSpPr>
          <p:cNvPr id="15" name="S14-chip142"/>
          <p:cNvSpPr txBox="1"/>
          <p:nvPr/>
        </p:nvSpPr>
        <p:spPr>
          <a:xfrm>
            <a:off x="6277356" y="5035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6" name="S14-tile143"/>
          <p:cNvSpPr txBox="1"/>
          <p:nvPr/>
        </p:nvSpPr>
        <p:spPr>
          <a:xfrm>
            <a:off x="7098030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5900" dirty="0"/>
          </a:p>
        </p:txBody>
      </p:sp>
      <p:sp>
        <p:nvSpPr>
          <p:cNvPr id="17" name="S14-tile144"/>
          <p:cNvSpPr txBox="1"/>
          <p:nvPr/>
        </p:nvSpPr>
        <p:spPr>
          <a:xfrm>
            <a:off x="8670798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ko-KR" sz="5900" dirty="0"/>
          </a:p>
        </p:txBody>
      </p:sp>
      <p:sp>
        <p:nvSpPr>
          <p:cNvPr id="18" name="S14-tile145"/>
          <p:cNvSpPr txBox="1"/>
          <p:nvPr/>
        </p:nvSpPr>
        <p:spPr>
          <a:xfrm>
            <a:off x="10243566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말하는 낱말을 골라요</a:t>
            </a:r>
            <a:endParaRPr lang="ko-KR" sz="4000" dirty="0"/>
          </a:p>
        </p:txBody>
      </p:sp>
      <p:sp>
        <p:nvSpPr>
          <p:cNvPr id="3" name="S16-card1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6-cardtext1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말하는 낱말은? 어떻게 알았나요?</a:t>
            </a:r>
            <a:endParaRPr lang="ko-KR" sz="3000" dirty="0"/>
          </a:p>
        </p:txBody>
      </p:sp>
      <p:sp>
        <p:nvSpPr>
          <p:cNvPr id="5" name="S16-chip148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6-card149"/>
          <p:cNvSpPr/>
          <p:nvPr/>
        </p:nvSpPr>
        <p:spPr>
          <a:xfrm>
            <a:off x="1344168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6-cardtext150"/>
          <p:cNvSpPr txBox="1"/>
          <p:nvPr/>
        </p:nvSpPr>
        <p:spPr>
          <a:xfrm>
            <a:off x="1618488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hat</a:t>
            </a:r>
            <a:endParaRPr lang="ko-KR" sz="3000" dirty="0"/>
          </a:p>
        </p:txBody>
      </p:sp>
      <p:sp>
        <p:nvSpPr>
          <p:cNvPr id="8" name="S16-chip151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9" name="S16-card152"/>
          <p:cNvSpPr/>
          <p:nvPr/>
        </p:nvSpPr>
        <p:spPr>
          <a:xfrm>
            <a:off x="7072884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6-cardtext153"/>
          <p:cNvSpPr txBox="1"/>
          <p:nvPr/>
        </p:nvSpPr>
        <p:spPr>
          <a:xfrm>
            <a:off x="7347204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hot</a:t>
            </a:r>
            <a:endParaRPr lang="ko-KR" sz="3000" dirty="0"/>
          </a:p>
        </p:txBody>
      </p:sp>
      <p:sp>
        <p:nvSpPr>
          <p:cNvPr id="11" name="S16-chip154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2" name="S16-card155"/>
          <p:cNvSpPr/>
          <p:nvPr/>
        </p:nvSpPr>
        <p:spPr>
          <a:xfrm>
            <a:off x="1344168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6-cardtext156"/>
          <p:cNvSpPr txBox="1"/>
          <p:nvPr/>
        </p:nvSpPr>
        <p:spPr>
          <a:xfrm>
            <a:off x="1618488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</a:t>
            </a:r>
            <a:endParaRPr lang="ko-KR" sz="3000" dirty="0"/>
          </a:p>
        </p:txBody>
      </p:sp>
      <p:sp>
        <p:nvSpPr>
          <p:cNvPr id="14" name="S16-chip157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15" name="S16-card158"/>
          <p:cNvSpPr/>
          <p:nvPr/>
        </p:nvSpPr>
        <p:spPr>
          <a:xfrm>
            <a:off x="7072884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16-cardtext159"/>
          <p:cNvSpPr txBox="1"/>
          <p:nvPr/>
        </p:nvSpPr>
        <p:spPr>
          <a:xfrm>
            <a:off x="7347204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cup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7-card160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7-cardtext161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a·e·i·o·u는 낱말 속에서 짧은 소리를 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열쇠 낱말 cat, bed, pig, dog, sun을 떠올려요.</a:t>
            </a:r>
            <a:endParaRPr lang="ko-KR" sz="3000" dirty="0"/>
          </a:p>
        </p:txBody>
      </p:sp>
      <p:sp>
        <p:nvSpPr>
          <p:cNvPr id="5" name="S17-chip162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열쇠 낱말 떠올리기</a:t>
            </a:r>
            <a:endParaRPr lang="ko-KR" sz="2400" dirty="0"/>
          </a:p>
        </p:txBody>
      </p:sp>
      <p:sp>
        <p:nvSpPr>
          <p:cNvPr id="6" name="S17-chip163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글자 이름으로 읽기</a:t>
            </a:r>
            <a:endParaRPr lang="ko-KR" sz="2400" dirty="0"/>
          </a:p>
        </p:txBody>
      </p:sp>
      <p:sp>
        <p:nvSpPr>
          <p:cNvPr id="7" name="S17-text164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7-text165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모음 글자 다섯 개는?</a:t>
            </a:r>
            <a:endParaRPr lang="ko-KR" sz="2400" dirty="0"/>
          </a:p>
        </p:txBody>
      </p:sp>
      <p:sp>
        <p:nvSpPr>
          <p:cNvPr id="9" name="S17-text166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pig의 가운데 모음은?</a:t>
            </a:r>
            <a:endParaRPr lang="ko-KR" sz="2400" dirty="0"/>
          </a:p>
        </p:txBody>
      </p:sp>
      <p:sp>
        <p:nvSpPr>
          <p:cNvPr id="10" name="S17-text167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cap과 cup의 다른 점은?</a:t>
            </a:r>
            <a:endParaRPr lang="ko-KR" sz="2400" dirty="0"/>
          </a:p>
        </p:txBody>
      </p:sp>
      <p:sp>
        <p:nvSpPr>
          <p:cNvPr id="11" name="S17-text16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세 글자 낱말 읽고 쓰기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소문자와 첫소리</a:t>
            </a:r>
            <a:endParaRPr lang="ko-KR" sz="4000" dirty="0"/>
          </a:p>
        </p:txBody>
      </p:sp>
      <p:sp>
        <p:nvSpPr>
          <p:cNvPr id="3" name="S18-card16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8-cardtext17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낱말의 맨 처음 소리를 듣고 첫 글자를 찾아요.</a:t>
            </a:r>
            <a:endParaRPr lang="ko-KR" sz="3000" dirty="0"/>
          </a:p>
        </p:txBody>
      </p:sp>
      <p:sp>
        <p:nvSpPr>
          <p:cNvPr id="5" name="S18-word171"/>
          <p:cNvSpPr txBox="1"/>
          <p:nvPr/>
        </p:nvSpPr>
        <p:spPr>
          <a:xfrm>
            <a:off x="548640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apple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</a:t>
            </a:r>
            <a:endParaRPr lang="ko-KR" sz="3400" dirty="0"/>
          </a:p>
        </p:txBody>
      </p:sp>
      <p:sp>
        <p:nvSpPr>
          <p:cNvPr id="6" name="S18-word172"/>
          <p:cNvSpPr txBox="1"/>
          <p:nvPr/>
        </p:nvSpPr>
        <p:spPr>
          <a:xfrm>
            <a:off x="4337304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bag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가방</a:t>
            </a:r>
            <a:endParaRPr lang="ko-KR" sz="3400" dirty="0"/>
          </a:p>
        </p:txBody>
      </p:sp>
      <p:sp>
        <p:nvSpPr>
          <p:cNvPr id="7" name="S18-word173"/>
          <p:cNvSpPr txBox="1"/>
          <p:nvPr/>
        </p:nvSpPr>
        <p:spPr>
          <a:xfrm>
            <a:off x="8125968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cat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고양이</a:t>
            </a:r>
            <a:endParaRPr lang="ko-KR" sz="3400" dirty="0"/>
          </a:p>
        </p:txBody>
      </p:sp>
      <p:sp>
        <p:nvSpPr>
          <p:cNvPr id="8" name="S18-word174"/>
          <p:cNvSpPr txBox="1"/>
          <p:nvPr/>
        </p:nvSpPr>
        <p:spPr>
          <a:xfrm>
            <a:off x="548640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dog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</a:t>
            </a:r>
            <a:endParaRPr lang="ko-KR" sz="3400" dirty="0"/>
          </a:p>
        </p:txBody>
      </p:sp>
      <p:sp>
        <p:nvSpPr>
          <p:cNvPr id="9" name="S18-word175"/>
          <p:cNvSpPr txBox="1"/>
          <p:nvPr/>
        </p:nvSpPr>
        <p:spPr>
          <a:xfrm>
            <a:off x="4337304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egg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달걀</a:t>
            </a:r>
            <a:endParaRPr lang="ko-KR" sz="3400" dirty="0"/>
          </a:p>
        </p:txBody>
      </p:sp>
      <p:sp>
        <p:nvSpPr>
          <p:cNvPr id="10" name="S18-word176"/>
          <p:cNvSpPr txBox="1"/>
          <p:nvPr/>
        </p:nvSpPr>
        <p:spPr>
          <a:xfrm>
            <a:off x="8125968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fish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물고기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영어 단모음 소리</dc:title>
  <dc:subject>KR22-G04-ENG-SHORTVOW-L01</dc:subject>
  <dc:creator>education-ppt</dc:creator>
  <cp:lastModifiedBy>education-ppt</cp:lastModifiedBy>
  <cp:revision>1</cp:revision>
  <dcterms:created xsi:type="dcterms:W3CDTF">2026-10-26T08:17:27Z</dcterms:created>
  <dcterms:modified xsi:type="dcterms:W3CDTF">2026-10-26T08:17:27Z</dcterms:modified>
</cp:coreProperties>
</file>