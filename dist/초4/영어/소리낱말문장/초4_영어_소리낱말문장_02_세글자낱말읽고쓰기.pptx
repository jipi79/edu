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47ade7aa-204d-9448-8187-f8b2b7b7e1d5}">
          <p14:sldIdLst>
            <p14:sldId id="256"/>
            <p14:sldId id="257"/>
          </p14:sldIdLst>
        </p14:section>
        <p14:section name="개념" id="{2ced6098-e424-7c6e-a68d-750ad8f912f7}">
          <p14:sldIdLst>
            <p14:sldId id="258"/>
            <p14:sldId id="259"/>
            <p14:sldId id="263"/>
          </p14:sldIdLst>
        </p14:section>
        <p14:section name="연습" id="{5e535b4b-58b6-a097-a0ae-77fdaebb023c}">
          <p14:sldIdLst>
            <p14:sldId id="260"/>
            <p14:sldId id="261"/>
            <p14:sldId id="262"/>
            <p14:sldId id="264"/>
          </p14:sldIdLst>
        </p14:section>
        <p14:section name="개념" id="{ac67f807-f8d6-e512-be62-7855d56f3a79}">
          <p14:sldIdLst/>
        </p14:section>
        <p14:section name="연습" id="{1c50402a-66fc-9e3d-6165-16dfdf63a7ee}">
          <p14:sldIdLst/>
        </p14:section>
        <p14:section name="확인" id="{0746f1c8-86df-a369-95c6-8dde68cf5f1a}">
          <p14:sldIdLst>
            <p14:sldId id="265"/>
            <p14:sldId id="266"/>
            <p14:sldId id="267"/>
          </p14:sldIdLst>
        </p14:section>
        <p14:section name="정리" id="{4e97506f-052b-fcd2-25b6-ef2358f4f5ed}">
          <p14:sldIdLst>
            <p14:sldId id="268"/>
          </p14:sldIdLst>
        </p14:section>
        <p14:section name="보충" id="{57675da0-079e-8df6-d238-3609997bafc6}">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글자 소리를 이어 말하면 낱말이 된다는 것에 관심을 갖게 합니다.
시간: 약 2분
이렇게 말해 보세요
- “지난 시간에 모음 글자 a, e, i, o, u의 짧은 소리를 배웠지? 오늘은 자음 소리와 이어서 낱말을 스스로 읽어 볼 거야.”
- “c, a, t를 이어 말하면 어떤 낱말이 될까?”
예상 답
- “cat이요.” “고양이요.”
주의
- 수업 전에 교과서 디지털 자료나 사전 앱의 발음 듣기로 오늘 낱말(bag, cat, dog, gum, hat, map, net, pen, sun, ten, bed, pig, hot, hen, sit, top, bus, mud, hug, dig, pot, bug, pet, nut, big)을 미리 들어 두세요. 파닉스(글자 소리) 자료가 있으면 자음 소리만 따로 들을 수 있습니다.
- 소리 자료 없이 진행하면 바른 소리를 확인하기 어렵습니다. 헷갈리는 낱말은 기록해 두었다가 소리 자료로 나중에 확인합니다. 부모님 발음이 완벽하지 않아도 괜찮습니다.
- 글자 소리는 우리말 글자로 적을 수 없습니다. 꼭 소리 자료를 듣고 따라 말하게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확인(모음의 짧은 소리)]
목적: 지난 차시(단모음 소리)의 모음 소리를 기억하는지 확인합니다. 세 글자 낱말을 읽으려면 가운데 모음 소리를 알아야 합니다.
시간: 약 3분
이렇게 말해 보세요
- “①의 글자를 보고 열쇠 낱말과 짧은 소리를 말해 줄래?”
- “②, 엄마(아빠)가 낱말을 말할게. ten. 가운데 모음은 무엇일까?”
정답
- ① a → cat, i → pig, u → sun (소리는 소리 자료와 비슷하게 내면 맞음)
- ② e
막히면
- 열쇠 낱말 cat, bed, pig, dog, sun을 소리 자료로 다시 듣게 합니다.
- ①에서 두 글자 이상 막히거나 ②를 고르지 못하면 S14(보충)를 먼저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자음 글자의 소리]
목적: 오늘 쓸 자음 글자 10개의 소리를 열쇠 낱말의 첫소리로 익힙니다.
시간: 약 3분
이렇게 말해 보세요
- “글자 아래 작은 낱말이 열쇠 낱말이야. bag을 들어 볼까? bag의 첫소리가 b의 소리야.”
- “한 글자씩 해 보자. 열쇠 낱말을 듣고, 첫소리만 짧게 말해 봐.” (b부터 t까지 차례로 합니다.)
- “엄마(아빠)가 짚는 글자의 소리를 말해 줘.” (차례를 섞어 짚습니다.)
예상 답
- 열쇠 낱말을 따라 말하고, 첫소리를 짧게 냅니다.
막히면
- 첫소리만 떼어 말하기 어려우면 열쇠 낱말 전체를 말하게 합니다. ‘b 하면 bag’처럼 짝지어 기억해도 됩니다.
- 자음 소리 뒤에 모음 소리가 붙어 길어지면 “입 모양만 만들고 짧게 끊어 봐.”라고 말해 줍니다(M2).
주의
- c와 g는 낱말에 따라 다른 소리를 내기도 하지만, 오늘은 cat, gum처럼 소리 나는 낱말만 씁니다.
- 글자 이름(예: 글자 b의 이름)과 글자 소리(bag의 첫소리)는 다릅니다. 낱말을 읽을 때는 글자 소리를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소리를 이어 말하기(c-a-t → cat)]
목적: 세 글자의 소리를 하나씩 말한 뒤 이어 말해 낱말을 읽는 방법을 시범으로 보입니다.
시간: 약 3분
이렇게 말해 보세요
- “엄마(아빠)가 먼저 해 볼게. 글자를 하나씩 짚으면서 c, a, t. 이번에는 조금 빠르게. c-a-t. 더 빠르게. cat!”
- “같이 해 보자. 손가락으로 글자를 짚으면서 소리를 내 봐.”
- “이어 말해 보니 어떤 낱말이 됐어? 소리 자료의 cat과 같아?”
예상 답
- “cat이요.”
막히면
- 팔을 쭉 펴고 어깨(첫소리), 팔꿈치(가운데 소리), 손목(끝소리)을 차례로 짚으며 말한 뒤, 어깨에서 손목까지 쓸어내리며 이어 말하게 합니다.
- 소리 사이를 너무 띄우면 이어지지 않습니다. 첫소리를 끝내자마자 가운데 소리를 붙이게 합니다.
주의
- 끝소리 뒤에 모음을 붙여 길게 말하면 다른 낱말처럼 들립니다. 끝소리는 짧게 멈추듯 냅니다(M2).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도움 받아 이어 읽기]
목적: 부모와 함께 소리를 이어 세 글자 낱말을 읽습니다. ①②는 아는 열쇠 낱말, ③은 새 낱말입니다.
시간: 약 4분
이렇게 말해 보세요
- “①부터 해 볼까? 글자를 짚으면서 소리를 하나씩 내 봐. 그다음 점점 빠르게.”
- “③은 처음 보는 낱말이야. 똑같이 해 보자. 무슨 낱말이 됐어? 뜻은 ‘뜨거운’이야.”
정답
- ① bed ② pig ③ hot
막히면
- 부모가 첫소리를 함께 내 주고, 아이가 가운데·끝소리를 이어 말하게 합니다.
- 가운데 모음이 막히면 열쇠 낱말(bed, pig, dog)을 말해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처음 보는 낱말 이어 읽기]
목적: 처음 보는 세 글자 낱말을 스스로 소리를 이어 읽습니다.
시간: 약 4분
이렇게 말해 보세요
- “엄마(아빠)가 짚는 낱말을 읽어 봐. 글자마다 소리를 내고 이어 말하면 돼.”
- “다 읽었으면 소리 자료로 맞는지 들어 보자.”
- “뜻도 알려 줄게. map은 지도, hen은 암탉, sit은 앉다, top은 꼭대기, bus는 버스, mud는 진흙이야.”
정답
- map, hen, sit, top, bus, mud (소리 자료와 비슷하게 이어 읽으면 맞음)
막히면
- 낱말을 손가락으로 세 부분으로 가리며 한 글자씩 보여 줍니다.
- S03의 열쇠 낱말로 자음 소리를 다시 떠올리게 합니다.
주의
- 뜻을 몰라도 소리를 바르게 이어 읽으면 읽기 목표는 이룬 것입니다. 뜻은 읽은 다음에 알려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오개념 비교(첫 글자만 보고 짐작하기)]
목적: 첫 글자만 보고 짐작하면 틀린다는 것을 알고, 세 글자를 모두 소리 내어 읽습니다(M1).
시간: 약 3분
이렇게 말해 보세요
- “친구가 bag을 보고 bus라고 읽었대. 두 낱말의 글자를 하나씩 비교해 볼까? 무엇이 같고 무엇이 달라?”
- “그러면 bag은 어떻게 읽어야 할까? 글자를 짚으며 이어 읽어 봐.”
정답
- 바르게 읽지 않았습니다. 첫 글자 b만 같고 가운데(a와 u)와 끝(g와 s)이 다릅니다. 세 글자를 모두 소리 내어 이으면 bag(가방)입니다.
막히면
- 두 낱말을 위아래로 써 놓고 같은 글자에 ○, 다른 글자에 × 표시를 하게 합니다.
주의
- 여기까지가 읽기 부분입니다. 아이가 지치면 여기서 나누어 다음 날 S08부터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소리를 나누어 쓰기(소리 상자)]
목적: 들은 낱말을 소리 셋으로 나누고, 소리마다 글자를 써서 낱말을 쓰는 방법을 시범으로 보입니다(M3).
시간: 약 3분
이렇게 말해 보세요
- “이면지에 네모 칸 세 개를 그려 두었지? 이게 소리 상자야.”
- “pen을 천천히 말하면서 소리 하나마다 바둑돌을 한 칸씩 밀어 넣어 볼게. p… e… n. 소리가 몇 개야?”
- “첫째 칸의 소리는 어떤 글자일까? 가운데 칸은? 끝 칸은? 칸에 써 보자.”
- “다 썼으면 이어 읽어 보자. 소리 자료의 pen과 같아?”
예상 답
- “소리가 3개예요.” “p, e, n이요.”
막히면
- 가운데 소리는 열쇠 낱말(bed)을 떠올리게 합니다.
- 소리를 셋으로 나누기 어려우면 부모가 늘여 말하며 소리마다 손가락을 하나씩 펴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소리 상자에 나누어 쓰기]
목적: 부모가 말하는 낱말을 소리 셋으로 나누어 씁니다.
시간: 약 4분
이렇게 말해 보세요
- “엄마(아빠)가 낱말을 말하면 따라 말하고, 이면지의 소리 상자에 바둑돌을 밀어 넣은 다음 글자를 써 봐.”
- 부모가 말할 낱말: ① bug ② pet ③ sit (소리 자료로 들려주어도 됩니다.)
- “다 쓰면 이어 읽어서 맞는지 확인해 볼까?”
정답
- ① b, u, g (bug) ② p, e, t (pet) ③ s, i, t (sit)
막히면
- 첫소리만 먼저 쓰게 하고, 나머지는 부모가 늘여 말해 주며 하나씩 씁니다.
- 모음을 빠뜨리면(pt) 바둑돌이 몇 개였는지 다시 세게 합니다(M3).
주의
- 화면의 빈 칸은 소리 상자를 보여 줄 뿐입니다. 글자는 이면지의 소리 상자에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혼자 이어 읽기와 나누어 쓰기]
목적: 도움 없이 처음 보는 세 글자 낱말을 이어 읽고, 들은 낱말을 나누어 쓰는지 확인합니다.
시간: 약 4분
이렇게 말해 보세요
- “이번에는 혼자 해 볼래? ①②③의 글자를 짚으며 소리를 이어 읽어 줘.”
- 부모가 말할 낱말: ④ nut
- “④, 엄마(아빠)가 말하는 낱말을 이면지의 소리 상자에 써 봐. nut.”
정답
- ① hug ② dig ③ pot (소리 자료와 비슷하게 이어 읽으면 맞음)
- ④ n, u, t (nut)
- 뜻: hug 껴안다, dig 파다, pot 냄비, nut 견과(땅콩 같은 열매)
막히면
- 바로 알려 주지 말고 “글자마다 소리를 내 볼까?” 또는 “바둑돌을 밀어 넣으며 소리를 세어 볼까?”라고만 묻습니다.
- 도움을 받아 해결했다면 기록표에 ‘도움’으로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정답과 피드백]
목적: 아이의 답을 확인하고 흔한 실수와 비교합니다.
시간: 약 2분
이렇게 말해 보세요
- “네가 읽고 쓴 것과 왼쪽 정답을 비교해 보자.”
- “오른쪽처럼 하면 왜 틀렸을까?”
예상 답
- “세 글자를 다 소리 내야 해요.” “바둑돌이 3개니까 글자도 3개예요.”
주의
- 이 장은 학생용 파일에서 빠집니다.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마무리 확인]
목적: 가운데 모음만 다른 낱말을 읽어 구별하는지 확인합니다.
시간: 약 2분
이렇게 말해 보세요
- “가, 나, 다, 라를 먼저 하나씩 소리를 이어 읽어 볼래?”
- “엄마(아빠)가 하나를 말할게. bug. 어느 것일까? 어떻게 알았어?”
- “이번에는 big!”
정답
- 네 낱말 읽기: bag, big, bug, bed
- bug → 다(가운데 u), big → 나(가운데 i)
막히면
- 가운데 글자만 손가락으로 짚고 열쇠 낱말을 떠올리게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다음 학습과 복습]
목적: 핵심을 정리하고 다음 수업 첫 5분에 풀 복습을 알려 줍니다.
시간: 약 2분
이렇게 말해 보세요
- “처음 보는 낱말은 어떻게 읽었지?”
- “들은 낱말은 어떻게 썼지?”
예상 답
- “글자마다 소리를 내고 이어 말해요.” “소리 상자에 나누어 써요.”
정답
- ① sit ② b, a, t (bat) ③ 가운데 모음이 a와 i로 달라요(bag 가방, big 큰).
주의
- 오늘 읽은 낱말을 카드로 만들어 날마다 몇 개씩 이어 읽으면 좋습니다. 다음 차시에서는 이 낱말들로 I like ~. 같은 짧은 문장을 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선수 학습 보충(모음의 짧은 소리)]
목적: S02에서 모음의 짧은 소리가 흔들리면, 소리를 이어 읽기 전에 먼저 다집니다.
시간: 약 5분
이렇게 말해 보세요
- “열쇠 낱말을 소리 자료로 다시 들어 보자. cat, bed, pig, dog, sun.” (교과서 디지털 자료나 사전 앱의 소리를 함께 듣습니다.)
- “엄마(아빠)가 글자를 짚으면 열쇠 낱말을 말해 줘.”
- “hat의 가운데 소리는 어느 열쇠 낱말과 같아?”
정답
- a cat, e bed, i pig, o dog, u sun / hat은 cat과 같은 a
막히면
- 거울을 보며 열쇠 낱말을 말하고 입 모양을 비교합니다.
주의
- 보충 뒤에도 모음 소리를 구별하지 못하면 앞 차시 ‘단모음 소리’(KR22-G04-ENG-SHORTVOW-L01)를 먼저 다시 하고 이 차시를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초4 영어 · 소리낱말문장 · 2차시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초4 영어 · 세 글자 낱말 읽고 쓰기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초4 영어 · 세 글자 낱말 읽고 쓰기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초4 영어 · 세 글자 낱말 읽고 쓰기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세 글자 낱말 읽고 쓰기</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c, a, t 소리를 이어 말하면</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어떤 낱말이 될까요?</a:t>
            </a:r>
            <a:endParaRPr lang="ko-KR" sz="3000" dirty="0"/>
          </a:p>
        </p:txBody>
      </p:sp>
      <p:sp>
        <p:nvSpPr>
          <p:cNvPr id="4" name="S01-tile1"/>
          <p:cNvSpPr txBox="1"/>
          <p:nvPr/>
        </p:nvSpPr>
        <p:spPr>
          <a:xfrm>
            <a:off x="7680960" y="1514856"/>
            <a:ext cx="1176528" cy="1176528"/>
          </a:xfrm>
          <a:prstGeom prst="roundRect">
            <a:avLst>
              <a:gd name="adj" fmla="val 10881"/>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100" b="1" dirty="0">
                <a:solidFill>
                  <a:srgbClr val="1F2937"/>
                </a:solidFill>
                <a:latin typeface="맑은 고딕" pitchFamily="34" charset="0"/>
                <a:ea typeface="맑은 고딕" pitchFamily="34" charset="-122"/>
                <a:cs typeface="맑은 고딕" pitchFamily="34" charset="-120"/>
              </a:rPr>
              <a:t>c</a:t>
            </a:r>
            <a:endParaRPr lang="ko-KR" sz="5100" dirty="0"/>
          </a:p>
        </p:txBody>
      </p:sp>
      <p:sp>
        <p:nvSpPr>
          <p:cNvPr id="5" name="S01-tile2"/>
          <p:cNvSpPr txBox="1"/>
          <p:nvPr/>
        </p:nvSpPr>
        <p:spPr>
          <a:xfrm>
            <a:off x="9058656" y="1514856"/>
            <a:ext cx="1176528" cy="1176528"/>
          </a:xfrm>
          <a:prstGeom prst="roundRect">
            <a:avLst>
              <a:gd name="adj" fmla="val 10881"/>
            </a:avLst>
          </a:prstGeom>
          <a:solidFill>
            <a:srgbClr val="FDEBDD"/>
          </a:solidFill>
          <a:ln w="38100">
            <a:solidFill>
              <a:srgbClr val="E9762B"/>
            </a:solidFill>
          </a:ln>
        </p:spPr>
        <p:txBody>
          <a:bodyPr wrap="square" lIns="0" tIns="0" rIns="0" bIns="0" rtlCol="0" anchor="ctr"/>
          <a:lstStyle/>
          <a:p>
            <a:pPr eaLnBrk="0" algn="ctr" indent="0" marL="0">
              <a:buNone/>
            </a:pPr>
            <a:r>
              <a:rPr lang="en-US" altLang="ko-KR" sz="5100" b="1" dirty="0">
                <a:solidFill>
                  <a:srgbClr val="1F2937"/>
                </a:solidFill>
                <a:latin typeface="맑은 고딕" pitchFamily="34" charset="0"/>
                <a:ea typeface="맑은 고딕" pitchFamily="34" charset="-122"/>
                <a:cs typeface="맑은 고딕" pitchFamily="34" charset="-120"/>
              </a:rPr>
              <a:t>a</a:t>
            </a:r>
            <a:endParaRPr lang="ko-KR" sz="5100" dirty="0"/>
          </a:p>
        </p:txBody>
      </p:sp>
      <p:sp>
        <p:nvSpPr>
          <p:cNvPr id="6" name="S01-tile3"/>
          <p:cNvSpPr txBox="1"/>
          <p:nvPr/>
        </p:nvSpPr>
        <p:spPr>
          <a:xfrm>
            <a:off x="10436352" y="1514856"/>
            <a:ext cx="1176528" cy="1176528"/>
          </a:xfrm>
          <a:prstGeom prst="roundRect">
            <a:avLst>
              <a:gd name="adj" fmla="val 10881"/>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100" b="1" dirty="0">
                <a:solidFill>
                  <a:srgbClr val="1F2937"/>
                </a:solidFill>
                <a:latin typeface="맑은 고딕" pitchFamily="34" charset="0"/>
                <a:ea typeface="맑은 고딕" pitchFamily="34" charset="-122"/>
                <a:cs typeface="맑은 고딕" pitchFamily="34" charset="-120"/>
              </a:rPr>
              <a:t>t</a:t>
            </a:r>
            <a:endParaRPr lang="ko-KR" sz="5100" dirty="0"/>
          </a:p>
        </p:txBody>
      </p:sp>
      <p:sp>
        <p:nvSpPr>
          <p:cNvPr id="7" name="S01-card4"/>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8" name="S01-cardtext5"/>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소리를 하나씩 이어 말해 낱말을 읽어요.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들은 낱말을 소리 셋으로 나누어 써요.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모음 소리 떠올리기</a:t>
            </a:r>
            <a:endParaRPr lang="ko-KR" sz="4000" dirty="0"/>
          </a:p>
        </p:txBody>
      </p:sp>
      <p:sp>
        <p:nvSpPr>
          <p:cNvPr id="3" name="S02-text6"/>
          <p:cNvSpPr txBox="1"/>
          <p:nvPr/>
        </p:nvSpPr>
        <p:spPr>
          <a:xfrm>
            <a:off x="548640" y="1325880"/>
            <a:ext cx="11091672" cy="9296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①은 열쇠 낱말과 짧은 소리를 말하고, ②는 듣고 가운데 모음을 골라요.</a:t>
            </a:r>
            <a:endParaRPr lang="ko-KR" sz="3000" dirty="0"/>
          </a:p>
        </p:txBody>
      </p:sp>
      <p:sp>
        <p:nvSpPr>
          <p:cNvPr id="4" name="S02-chip7"/>
          <p:cNvSpPr txBox="1"/>
          <p:nvPr/>
        </p:nvSpPr>
        <p:spPr>
          <a:xfrm>
            <a:off x="548640" y="30540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02-tile8"/>
          <p:cNvSpPr txBox="1"/>
          <p:nvPr/>
        </p:nvSpPr>
        <p:spPr>
          <a:xfrm>
            <a:off x="1828800" y="26517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a</a:t>
            </a:r>
            <a:endParaRPr lang="ko-KR" sz="5900" dirty="0"/>
          </a:p>
        </p:txBody>
      </p:sp>
      <p:sp>
        <p:nvSpPr>
          <p:cNvPr id="6" name="S02-tile9"/>
          <p:cNvSpPr txBox="1"/>
          <p:nvPr/>
        </p:nvSpPr>
        <p:spPr>
          <a:xfrm>
            <a:off x="3401568" y="26517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i</a:t>
            </a:r>
            <a:endParaRPr lang="ko-KR" sz="5900" dirty="0"/>
          </a:p>
        </p:txBody>
      </p:sp>
      <p:sp>
        <p:nvSpPr>
          <p:cNvPr id="7" name="S02-tile10"/>
          <p:cNvSpPr txBox="1"/>
          <p:nvPr/>
        </p:nvSpPr>
        <p:spPr>
          <a:xfrm>
            <a:off x="4974336" y="26517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u</a:t>
            </a:r>
            <a:endParaRPr lang="ko-KR" sz="5900" dirty="0"/>
          </a:p>
        </p:txBody>
      </p:sp>
      <p:sp>
        <p:nvSpPr>
          <p:cNvPr id="8" name="S02-chip11"/>
          <p:cNvSpPr txBox="1"/>
          <p:nvPr/>
        </p:nvSpPr>
        <p:spPr>
          <a:xfrm>
            <a:off x="548640" y="5035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2-tile12"/>
          <p:cNvSpPr txBox="1"/>
          <p:nvPr/>
        </p:nvSpPr>
        <p:spPr>
          <a:xfrm>
            <a:off x="1828800" y="46329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a</a:t>
            </a:r>
            <a:endParaRPr lang="ko-KR" sz="5900" dirty="0"/>
          </a:p>
        </p:txBody>
      </p:sp>
      <p:sp>
        <p:nvSpPr>
          <p:cNvPr id="10" name="S02-tile13"/>
          <p:cNvSpPr txBox="1"/>
          <p:nvPr/>
        </p:nvSpPr>
        <p:spPr>
          <a:xfrm>
            <a:off x="3401568" y="46329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e</a:t>
            </a:r>
            <a:endParaRPr lang="ko-KR" sz="5900" dirty="0"/>
          </a:p>
        </p:txBody>
      </p:sp>
      <p:sp>
        <p:nvSpPr>
          <p:cNvPr id="11" name="S02-tile14"/>
          <p:cNvSpPr txBox="1"/>
          <p:nvPr/>
        </p:nvSpPr>
        <p:spPr>
          <a:xfrm>
            <a:off x="4974336" y="46329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i</a:t>
            </a:r>
            <a:endParaRPr lang="ko-KR" sz="59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자음 글자의 소리</a:t>
            </a:r>
            <a:endParaRPr lang="ko-KR" sz="4000" dirty="0"/>
          </a:p>
        </p:txBody>
      </p:sp>
      <p:sp>
        <p:nvSpPr>
          <p:cNvPr id="3" name="S03-card15"/>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1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열쇠 낱말의 첫소리가 그 글자의 소리예요.</a:t>
            </a:r>
            <a:endParaRPr lang="ko-KR" sz="3000" dirty="0"/>
          </a:p>
        </p:txBody>
      </p:sp>
      <p:sp>
        <p:nvSpPr>
          <p:cNvPr id="5" name="S03-tile17"/>
          <p:cNvSpPr txBox="1"/>
          <p:nvPr/>
        </p:nvSpPr>
        <p:spPr>
          <a:xfrm>
            <a:off x="2343150" y="1325880"/>
            <a:ext cx="1339596" cy="1339596"/>
          </a:xfrm>
          <a:prstGeom prst="roundRect">
            <a:avLst>
              <a:gd name="adj" fmla="val 9556"/>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800" b="1" dirty="0">
                <a:solidFill>
                  <a:srgbClr val="1F2937"/>
                </a:solidFill>
                <a:latin typeface="맑은 고딕" pitchFamily="34" charset="0"/>
                <a:ea typeface="맑은 고딕" pitchFamily="34" charset="-122"/>
                <a:cs typeface="맑은 고딕" pitchFamily="34" charset="-120"/>
              </a:rPr>
              <a:t>b</a:t>
            </a:r>
            <a:endParaRPr lang="ko-KR" sz="5800" dirty="0"/>
          </a:p>
        </p:txBody>
      </p:sp>
      <p:sp>
        <p:nvSpPr>
          <p:cNvPr id="6" name="S03-label18"/>
          <p:cNvSpPr txBox="1"/>
          <p:nvPr/>
        </p:nvSpPr>
        <p:spPr>
          <a:xfrm>
            <a:off x="2242566" y="2702052"/>
            <a:ext cx="1540764"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bag</a:t>
            </a:r>
            <a:endParaRPr lang="ko-KR" sz="2000" dirty="0"/>
          </a:p>
        </p:txBody>
      </p:sp>
      <p:sp>
        <p:nvSpPr>
          <p:cNvPr id="7" name="S03-tile19"/>
          <p:cNvSpPr txBox="1"/>
          <p:nvPr/>
        </p:nvSpPr>
        <p:spPr>
          <a:xfrm>
            <a:off x="3883914" y="1325880"/>
            <a:ext cx="1339596" cy="1339596"/>
          </a:xfrm>
          <a:prstGeom prst="roundRect">
            <a:avLst>
              <a:gd name="adj" fmla="val 9556"/>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800" b="1" dirty="0">
                <a:solidFill>
                  <a:srgbClr val="1F2937"/>
                </a:solidFill>
                <a:latin typeface="맑은 고딕" pitchFamily="34" charset="0"/>
                <a:ea typeface="맑은 고딕" pitchFamily="34" charset="-122"/>
                <a:cs typeface="맑은 고딕" pitchFamily="34" charset="-120"/>
              </a:rPr>
              <a:t>c</a:t>
            </a:r>
            <a:endParaRPr lang="ko-KR" sz="5800" dirty="0"/>
          </a:p>
        </p:txBody>
      </p:sp>
      <p:sp>
        <p:nvSpPr>
          <p:cNvPr id="8" name="S03-label20"/>
          <p:cNvSpPr txBox="1"/>
          <p:nvPr/>
        </p:nvSpPr>
        <p:spPr>
          <a:xfrm>
            <a:off x="3783330" y="2702052"/>
            <a:ext cx="1540764"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cat</a:t>
            </a:r>
            <a:endParaRPr lang="ko-KR" sz="2000" dirty="0"/>
          </a:p>
        </p:txBody>
      </p:sp>
      <p:sp>
        <p:nvSpPr>
          <p:cNvPr id="9" name="S03-tile21"/>
          <p:cNvSpPr txBox="1"/>
          <p:nvPr/>
        </p:nvSpPr>
        <p:spPr>
          <a:xfrm>
            <a:off x="5424678" y="1325880"/>
            <a:ext cx="1339596" cy="1339596"/>
          </a:xfrm>
          <a:prstGeom prst="roundRect">
            <a:avLst>
              <a:gd name="adj" fmla="val 9556"/>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800" b="1" dirty="0">
                <a:solidFill>
                  <a:srgbClr val="1F2937"/>
                </a:solidFill>
                <a:latin typeface="맑은 고딕" pitchFamily="34" charset="0"/>
                <a:ea typeface="맑은 고딕" pitchFamily="34" charset="-122"/>
                <a:cs typeface="맑은 고딕" pitchFamily="34" charset="-120"/>
              </a:rPr>
              <a:t>d</a:t>
            </a:r>
            <a:endParaRPr lang="ko-KR" sz="5800" dirty="0"/>
          </a:p>
        </p:txBody>
      </p:sp>
      <p:sp>
        <p:nvSpPr>
          <p:cNvPr id="10" name="S03-label22"/>
          <p:cNvSpPr txBox="1"/>
          <p:nvPr/>
        </p:nvSpPr>
        <p:spPr>
          <a:xfrm>
            <a:off x="5324094" y="2702052"/>
            <a:ext cx="1540764"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dog</a:t>
            </a:r>
            <a:endParaRPr lang="ko-KR" sz="2000" dirty="0"/>
          </a:p>
        </p:txBody>
      </p:sp>
      <p:sp>
        <p:nvSpPr>
          <p:cNvPr id="11" name="S03-tile23"/>
          <p:cNvSpPr txBox="1"/>
          <p:nvPr/>
        </p:nvSpPr>
        <p:spPr>
          <a:xfrm>
            <a:off x="6965442" y="1325880"/>
            <a:ext cx="1339596" cy="1339596"/>
          </a:xfrm>
          <a:prstGeom prst="roundRect">
            <a:avLst>
              <a:gd name="adj" fmla="val 9556"/>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800" b="1" dirty="0">
                <a:solidFill>
                  <a:srgbClr val="1F2937"/>
                </a:solidFill>
                <a:latin typeface="맑은 고딕" pitchFamily="34" charset="0"/>
                <a:ea typeface="맑은 고딕" pitchFamily="34" charset="-122"/>
                <a:cs typeface="맑은 고딕" pitchFamily="34" charset="-120"/>
              </a:rPr>
              <a:t>g</a:t>
            </a:r>
            <a:endParaRPr lang="ko-KR" sz="5800" dirty="0"/>
          </a:p>
        </p:txBody>
      </p:sp>
      <p:sp>
        <p:nvSpPr>
          <p:cNvPr id="12" name="S03-label24"/>
          <p:cNvSpPr txBox="1"/>
          <p:nvPr/>
        </p:nvSpPr>
        <p:spPr>
          <a:xfrm>
            <a:off x="6864858" y="2702052"/>
            <a:ext cx="1540764"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gum</a:t>
            </a:r>
            <a:endParaRPr lang="ko-KR" sz="2000" dirty="0"/>
          </a:p>
        </p:txBody>
      </p:sp>
      <p:sp>
        <p:nvSpPr>
          <p:cNvPr id="13" name="S03-tile25"/>
          <p:cNvSpPr txBox="1"/>
          <p:nvPr/>
        </p:nvSpPr>
        <p:spPr>
          <a:xfrm>
            <a:off x="8506206" y="1325880"/>
            <a:ext cx="1339596" cy="1339596"/>
          </a:xfrm>
          <a:prstGeom prst="roundRect">
            <a:avLst>
              <a:gd name="adj" fmla="val 9556"/>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800" b="1" dirty="0">
                <a:solidFill>
                  <a:srgbClr val="1F2937"/>
                </a:solidFill>
                <a:latin typeface="맑은 고딕" pitchFamily="34" charset="0"/>
                <a:ea typeface="맑은 고딕" pitchFamily="34" charset="-122"/>
                <a:cs typeface="맑은 고딕" pitchFamily="34" charset="-120"/>
              </a:rPr>
              <a:t>h</a:t>
            </a:r>
            <a:endParaRPr lang="ko-KR" sz="5800" dirty="0"/>
          </a:p>
        </p:txBody>
      </p:sp>
      <p:sp>
        <p:nvSpPr>
          <p:cNvPr id="14" name="S03-label26"/>
          <p:cNvSpPr txBox="1"/>
          <p:nvPr/>
        </p:nvSpPr>
        <p:spPr>
          <a:xfrm>
            <a:off x="8405622" y="2702052"/>
            <a:ext cx="1540764"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hat</a:t>
            </a:r>
            <a:endParaRPr lang="ko-KR" sz="2000" dirty="0"/>
          </a:p>
        </p:txBody>
      </p:sp>
      <p:sp>
        <p:nvSpPr>
          <p:cNvPr id="15" name="S03-tile27"/>
          <p:cNvSpPr txBox="1"/>
          <p:nvPr/>
        </p:nvSpPr>
        <p:spPr>
          <a:xfrm>
            <a:off x="2343150" y="3323844"/>
            <a:ext cx="1339596" cy="1339596"/>
          </a:xfrm>
          <a:prstGeom prst="roundRect">
            <a:avLst>
              <a:gd name="adj" fmla="val 9556"/>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800" b="1" dirty="0">
                <a:solidFill>
                  <a:srgbClr val="1F2937"/>
                </a:solidFill>
                <a:latin typeface="맑은 고딕" pitchFamily="34" charset="0"/>
                <a:ea typeface="맑은 고딕" pitchFamily="34" charset="-122"/>
                <a:cs typeface="맑은 고딕" pitchFamily="34" charset="-120"/>
              </a:rPr>
              <a:t>m</a:t>
            </a:r>
            <a:endParaRPr lang="ko-KR" sz="5800" dirty="0"/>
          </a:p>
        </p:txBody>
      </p:sp>
      <p:sp>
        <p:nvSpPr>
          <p:cNvPr id="16" name="S03-label28"/>
          <p:cNvSpPr txBox="1"/>
          <p:nvPr/>
        </p:nvSpPr>
        <p:spPr>
          <a:xfrm>
            <a:off x="2242566" y="4700016"/>
            <a:ext cx="1540764"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map</a:t>
            </a:r>
            <a:endParaRPr lang="ko-KR" sz="2000" dirty="0"/>
          </a:p>
        </p:txBody>
      </p:sp>
      <p:sp>
        <p:nvSpPr>
          <p:cNvPr id="17" name="S03-tile29"/>
          <p:cNvSpPr txBox="1"/>
          <p:nvPr/>
        </p:nvSpPr>
        <p:spPr>
          <a:xfrm>
            <a:off x="3883914" y="3323844"/>
            <a:ext cx="1339596" cy="1339596"/>
          </a:xfrm>
          <a:prstGeom prst="roundRect">
            <a:avLst>
              <a:gd name="adj" fmla="val 9556"/>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800" b="1" dirty="0">
                <a:solidFill>
                  <a:srgbClr val="1F2937"/>
                </a:solidFill>
                <a:latin typeface="맑은 고딕" pitchFamily="34" charset="0"/>
                <a:ea typeface="맑은 고딕" pitchFamily="34" charset="-122"/>
                <a:cs typeface="맑은 고딕" pitchFamily="34" charset="-120"/>
              </a:rPr>
              <a:t>n</a:t>
            </a:r>
            <a:endParaRPr lang="ko-KR" sz="5800" dirty="0"/>
          </a:p>
        </p:txBody>
      </p:sp>
      <p:sp>
        <p:nvSpPr>
          <p:cNvPr id="18" name="S03-label30"/>
          <p:cNvSpPr txBox="1"/>
          <p:nvPr/>
        </p:nvSpPr>
        <p:spPr>
          <a:xfrm>
            <a:off x="3783330" y="4700016"/>
            <a:ext cx="1540764"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net</a:t>
            </a:r>
            <a:endParaRPr lang="ko-KR" sz="2000" dirty="0"/>
          </a:p>
        </p:txBody>
      </p:sp>
      <p:sp>
        <p:nvSpPr>
          <p:cNvPr id="19" name="S03-tile31"/>
          <p:cNvSpPr txBox="1"/>
          <p:nvPr/>
        </p:nvSpPr>
        <p:spPr>
          <a:xfrm>
            <a:off x="5424678" y="3323844"/>
            <a:ext cx="1339596" cy="1339596"/>
          </a:xfrm>
          <a:prstGeom prst="roundRect">
            <a:avLst>
              <a:gd name="adj" fmla="val 9556"/>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800" b="1" dirty="0">
                <a:solidFill>
                  <a:srgbClr val="1F2937"/>
                </a:solidFill>
                <a:latin typeface="맑은 고딕" pitchFamily="34" charset="0"/>
                <a:ea typeface="맑은 고딕" pitchFamily="34" charset="-122"/>
                <a:cs typeface="맑은 고딕" pitchFamily="34" charset="-120"/>
              </a:rPr>
              <a:t>p</a:t>
            </a:r>
            <a:endParaRPr lang="ko-KR" sz="5800" dirty="0"/>
          </a:p>
        </p:txBody>
      </p:sp>
      <p:sp>
        <p:nvSpPr>
          <p:cNvPr id="20" name="S03-label32"/>
          <p:cNvSpPr txBox="1"/>
          <p:nvPr/>
        </p:nvSpPr>
        <p:spPr>
          <a:xfrm>
            <a:off x="5324094" y="4700016"/>
            <a:ext cx="1540764"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pen</a:t>
            </a:r>
            <a:endParaRPr lang="ko-KR" sz="2000" dirty="0"/>
          </a:p>
        </p:txBody>
      </p:sp>
      <p:sp>
        <p:nvSpPr>
          <p:cNvPr id="21" name="S03-tile33"/>
          <p:cNvSpPr txBox="1"/>
          <p:nvPr/>
        </p:nvSpPr>
        <p:spPr>
          <a:xfrm>
            <a:off x="6965442" y="3323844"/>
            <a:ext cx="1339596" cy="1339596"/>
          </a:xfrm>
          <a:prstGeom prst="roundRect">
            <a:avLst>
              <a:gd name="adj" fmla="val 9556"/>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800" b="1" dirty="0">
                <a:solidFill>
                  <a:srgbClr val="1F2937"/>
                </a:solidFill>
                <a:latin typeface="맑은 고딕" pitchFamily="34" charset="0"/>
                <a:ea typeface="맑은 고딕" pitchFamily="34" charset="-122"/>
                <a:cs typeface="맑은 고딕" pitchFamily="34" charset="-120"/>
              </a:rPr>
              <a:t>s</a:t>
            </a:r>
            <a:endParaRPr lang="ko-KR" sz="5800" dirty="0"/>
          </a:p>
        </p:txBody>
      </p:sp>
      <p:sp>
        <p:nvSpPr>
          <p:cNvPr id="22" name="S03-label34"/>
          <p:cNvSpPr txBox="1"/>
          <p:nvPr/>
        </p:nvSpPr>
        <p:spPr>
          <a:xfrm>
            <a:off x="6864858" y="4700016"/>
            <a:ext cx="1540764"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sun</a:t>
            </a:r>
            <a:endParaRPr lang="ko-KR" sz="2000" dirty="0"/>
          </a:p>
        </p:txBody>
      </p:sp>
      <p:sp>
        <p:nvSpPr>
          <p:cNvPr id="23" name="S03-tile35"/>
          <p:cNvSpPr txBox="1"/>
          <p:nvPr/>
        </p:nvSpPr>
        <p:spPr>
          <a:xfrm>
            <a:off x="8506206" y="3323844"/>
            <a:ext cx="1339596" cy="1339596"/>
          </a:xfrm>
          <a:prstGeom prst="roundRect">
            <a:avLst>
              <a:gd name="adj" fmla="val 9556"/>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800" b="1" dirty="0">
                <a:solidFill>
                  <a:srgbClr val="1F2937"/>
                </a:solidFill>
                <a:latin typeface="맑은 고딕" pitchFamily="34" charset="0"/>
                <a:ea typeface="맑은 고딕" pitchFamily="34" charset="-122"/>
                <a:cs typeface="맑은 고딕" pitchFamily="34" charset="-120"/>
              </a:rPr>
              <a:t>t</a:t>
            </a:r>
            <a:endParaRPr lang="ko-KR" sz="5800" dirty="0"/>
          </a:p>
        </p:txBody>
      </p:sp>
      <p:sp>
        <p:nvSpPr>
          <p:cNvPr id="24" name="S03-label36"/>
          <p:cNvSpPr txBox="1"/>
          <p:nvPr/>
        </p:nvSpPr>
        <p:spPr>
          <a:xfrm>
            <a:off x="8405622" y="4700016"/>
            <a:ext cx="1540764"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ten</a:t>
            </a:r>
            <a:endParaRPr lang="ko-KR" sz="2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소리를 이어 말해요</a:t>
            </a:r>
            <a:endParaRPr lang="ko-KR" sz="4000" dirty="0"/>
          </a:p>
        </p:txBody>
      </p:sp>
      <p:sp>
        <p:nvSpPr>
          <p:cNvPr id="3" name="S04-text3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cat을 소리를 이어 읽어 봐요.</a:t>
            </a:r>
            <a:endParaRPr lang="ko-KR" sz="3000" dirty="0"/>
          </a:p>
        </p:txBody>
      </p:sp>
      <p:sp>
        <p:nvSpPr>
          <p:cNvPr id="4" name="S04-card3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4-cardtext3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소리를 하나씩 말하고, 점점 빠르게 이어요.</a:t>
            </a:r>
            <a:endParaRPr lang="ko-KR" sz="3000" dirty="0"/>
          </a:p>
        </p:txBody>
      </p:sp>
      <p:sp>
        <p:nvSpPr>
          <p:cNvPr id="6" name="S04-tile40"/>
          <p:cNvSpPr txBox="1"/>
          <p:nvPr/>
        </p:nvSpPr>
        <p:spPr>
          <a:xfrm>
            <a:off x="7022043" y="26517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c</a:t>
            </a:r>
            <a:endParaRPr lang="ko-KR" sz="5900" dirty="0"/>
          </a:p>
        </p:txBody>
      </p:sp>
      <p:sp>
        <p:nvSpPr>
          <p:cNvPr id="7" name="S04-label41"/>
          <p:cNvSpPr txBox="1"/>
          <p:nvPr/>
        </p:nvSpPr>
        <p:spPr>
          <a:xfrm>
            <a:off x="6921459" y="4059936"/>
            <a:ext cx="1572768" cy="402336"/>
          </a:xfrm>
          <a:prstGeom prst="rect">
            <a:avLst/>
          </a:prstGeom>
          <a:noFill/>
          <a:ln/>
        </p:spPr>
        <p:txBody>
          <a:bodyPr wrap="square" lIns="0" tIns="0" rIns="0" bIns="0" rtlCol="0" anchor="ctr"/>
          <a:lstStyle/>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첫소리</a:t>
            </a:r>
            <a:endParaRPr lang="ko-KR" sz="2000" dirty="0"/>
          </a:p>
        </p:txBody>
      </p:sp>
      <p:sp>
        <p:nvSpPr>
          <p:cNvPr id="8" name="S04-tile42"/>
          <p:cNvSpPr txBox="1"/>
          <p:nvPr/>
        </p:nvSpPr>
        <p:spPr>
          <a:xfrm>
            <a:off x="8594811" y="2651760"/>
            <a:ext cx="1371600" cy="1371600"/>
          </a:xfrm>
          <a:prstGeom prst="roundRect">
            <a:avLst>
              <a:gd name="adj" fmla="val 9333"/>
            </a:avLst>
          </a:prstGeom>
          <a:solidFill>
            <a:srgbClr val="FDEBDD"/>
          </a:solidFill>
          <a:ln w="38100">
            <a:solidFill>
              <a:srgbClr val="E9762B"/>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a</a:t>
            </a:r>
            <a:endParaRPr lang="ko-KR" sz="5900" dirty="0"/>
          </a:p>
        </p:txBody>
      </p:sp>
      <p:sp>
        <p:nvSpPr>
          <p:cNvPr id="9" name="S04-label43"/>
          <p:cNvSpPr txBox="1"/>
          <p:nvPr/>
        </p:nvSpPr>
        <p:spPr>
          <a:xfrm>
            <a:off x="8494227" y="4059936"/>
            <a:ext cx="1572768" cy="402336"/>
          </a:xfrm>
          <a:prstGeom prst="rect">
            <a:avLst/>
          </a:prstGeom>
          <a:noFill/>
          <a:ln/>
        </p:spPr>
        <p:txBody>
          <a:bodyPr wrap="square" lIns="0" tIns="0" rIns="0" bIns="0" rtlCol="0" anchor="ctr"/>
          <a:lstStyle/>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가운데 소리</a:t>
            </a:r>
            <a:endParaRPr lang="ko-KR" sz="2000" dirty="0"/>
          </a:p>
        </p:txBody>
      </p:sp>
      <p:sp>
        <p:nvSpPr>
          <p:cNvPr id="10" name="S04-tile44"/>
          <p:cNvSpPr txBox="1"/>
          <p:nvPr/>
        </p:nvSpPr>
        <p:spPr>
          <a:xfrm>
            <a:off x="10167579" y="26517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t</a:t>
            </a:r>
            <a:endParaRPr lang="ko-KR" sz="5900" dirty="0"/>
          </a:p>
        </p:txBody>
      </p:sp>
      <p:sp>
        <p:nvSpPr>
          <p:cNvPr id="11" name="S04-label45"/>
          <p:cNvSpPr txBox="1"/>
          <p:nvPr/>
        </p:nvSpPr>
        <p:spPr>
          <a:xfrm>
            <a:off x="10066995" y="4059936"/>
            <a:ext cx="1572768" cy="402336"/>
          </a:xfrm>
          <a:prstGeom prst="rect">
            <a:avLst/>
          </a:prstGeom>
          <a:noFill/>
          <a:ln/>
        </p:spPr>
        <p:txBody>
          <a:bodyPr wrap="square" lIns="0" tIns="0" rIns="0" bIns="0" rtlCol="0" anchor="ctr"/>
          <a:lstStyle/>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끝소리</a:t>
            </a:r>
            <a:endParaRPr lang="ko-KR" sz="2000" dirty="0"/>
          </a:p>
        </p:txBody>
      </p:sp>
      <p:sp>
        <p:nvSpPr>
          <p:cNvPr id="12" name="S04-stepno46"/>
          <p:cNvSpPr txBox="1"/>
          <p:nvPr/>
        </p:nvSpPr>
        <p:spPr>
          <a:xfrm>
            <a:off x="548640" y="222199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13" name="S04-text47"/>
          <p:cNvSpPr txBox="1"/>
          <p:nvPr/>
        </p:nvSpPr>
        <p:spPr>
          <a:xfrm>
            <a:off x="1325880" y="2221992"/>
            <a:ext cx="5229271" cy="548640"/>
          </a:xfrm>
          <a:prstGeom prst="rect">
            <a:avLst/>
          </a:prstGeom>
          <a:noFill/>
          <a:ln/>
        </p:spPr>
        <p:txBody>
          <a:bodyPr wrap="square" lIns="0" tIns="0" rIns="0" bIns="0" rtlCol="0" anchor="t"/>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첫 글자 c의 소리를 말해요.</a:t>
            </a:r>
            <a:endParaRPr lang="ko-KR" sz="2400" dirty="0"/>
          </a:p>
        </p:txBody>
      </p:sp>
      <p:sp>
        <p:nvSpPr>
          <p:cNvPr id="14" name="S04-stepno48"/>
          <p:cNvSpPr txBox="1"/>
          <p:nvPr/>
        </p:nvSpPr>
        <p:spPr>
          <a:xfrm>
            <a:off x="548640" y="293522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15" name="S04-text49"/>
          <p:cNvSpPr txBox="1"/>
          <p:nvPr/>
        </p:nvSpPr>
        <p:spPr>
          <a:xfrm>
            <a:off x="1325880" y="2935224"/>
            <a:ext cx="5229271" cy="548640"/>
          </a:xfrm>
          <a:prstGeom prst="rect">
            <a:avLst/>
          </a:prstGeom>
          <a:noFill/>
          <a:ln/>
        </p:spPr>
        <p:txBody>
          <a:bodyPr wrap="square" lIns="0" tIns="0" rIns="0" bIns="0" rtlCol="0" anchor="t"/>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가운데 a의 짧은 소리를 말해요.</a:t>
            </a:r>
            <a:endParaRPr lang="ko-KR" sz="2400" dirty="0"/>
          </a:p>
        </p:txBody>
      </p:sp>
      <p:sp>
        <p:nvSpPr>
          <p:cNvPr id="16" name="S04-stepno50"/>
          <p:cNvSpPr txBox="1"/>
          <p:nvPr/>
        </p:nvSpPr>
        <p:spPr>
          <a:xfrm>
            <a:off x="548640" y="364845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17" name="S04-text51"/>
          <p:cNvSpPr txBox="1"/>
          <p:nvPr/>
        </p:nvSpPr>
        <p:spPr>
          <a:xfrm>
            <a:off x="1325880" y="3648456"/>
            <a:ext cx="5229271" cy="548640"/>
          </a:xfrm>
          <a:prstGeom prst="rect">
            <a:avLst/>
          </a:prstGeom>
          <a:noFill/>
          <a:ln/>
        </p:spPr>
        <p:txBody>
          <a:bodyPr wrap="square" lIns="0" tIns="0" rIns="0" bIns="0" rtlCol="0" anchor="t"/>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끝 글자 t의 소리를 말해요.</a:t>
            </a:r>
            <a:endParaRPr lang="ko-KR" sz="2400" dirty="0"/>
          </a:p>
        </p:txBody>
      </p:sp>
      <p:sp>
        <p:nvSpPr>
          <p:cNvPr id="18" name="S04-stepno52"/>
          <p:cNvSpPr txBox="1"/>
          <p:nvPr/>
        </p:nvSpPr>
        <p:spPr>
          <a:xfrm>
            <a:off x="548640" y="436168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4</a:t>
            </a:r>
            <a:endParaRPr lang="ko-KR" sz="2400" dirty="0"/>
          </a:p>
        </p:txBody>
      </p:sp>
      <p:sp>
        <p:nvSpPr>
          <p:cNvPr id="19" name="S04-text53"/>
          <p:cNvSpPr txBox="1"/>
          <p:nvPr/>
        </p:nvSpPr>
        <p:spPr>
          <a:xfrm>
            <a:off x="1325880" y="4361688"/>
            <a:ext cx="5229271" cy="548640"/>
          </a:xfrm>
          <a:prstGeom prst="rect">
            <a:avLst/>
          </a:prstGeom>
          <a:noFill/>
          <a:ln/>
        </p:spPr>
        <p:txBody>
          <a:bodyPr wrap="square" lIns="0" tIns="0" rIns="0" bIns="0" rtlCol="0" anchor="t"/>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세 소리를 점점 빠르게 이어 말해요.</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이어 읽어요</a:t>
            </a:r>
            <a:endParaRPr lang="ko-KR" sz="4000" dirty="0"/>
          </a:p>
        </p:txBody>
      </p:sp>
      <p:sp>
        <p:nvSpPr>
          <p:cNvPr id="3" name="S05-text5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글자를 짚으며 소리를 하나씩 내고, 이어 읽어요.</a:t>
            </a:r>
            <a:endParaRPr lang="ko-KR" sz="3000" dirty="0"/>
          </a:p>
        </p:txBody>
      </p:sp>
      <p:sp>
        <p:nvSpPr>
          <p:cNvPr id="4" name="S05-card55"/>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5-cardtext5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색칠한 모음 글자는 열쇠 낱말을 떠올려요.</a:t>
            </a:r>
            <a:endParaRPr lang="ko-KR" sz="3000" dirty="0"/>
          </a:p>
        </p:txBody>
      </p:sp>
      <p:sp>
        <p:nvSpPr>
          <p:cNvPr id="6" name="S05-chip57"/>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5-tile58"/>
          <p:cNvSpPr txBox="1"/>
          <p:nvPr/>
        </p:nvSpPr>
        <p:spPr>
          <a:xfrm>
            <a:off x="2514600" y="201168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4000" b="1" dirty="0">
                <a:solidFill>
                  <a:srgbClr val="1F2937"/>
                </a:solidFill>
                <a:latin typeface="맑은 고딕" pitchFamily="34" charset="0"/>
                <a:ea typeface="맑은 고딕" pitchFamily="34" charset="-122"/>
                <a:cs typeface="맑은 고딕" pitchFamily="34" charset="-120"/>
              </a:rPr>
              <a:t>b</a:t>
            </a:r>
            <a:endParaRPr lang="ko-KR" sz="4000" dirty="0"/>
          </a:p>
        </p:txBody>
      </p:sp>
      <p:sp>
        <p:nvSpPr>
          <p:cNvPr id="8" name="S05-tile59"/>
          <p:cNvSpPr txBox="1"/>
          <p:nvPr/>
        </p:nvSpPr>
        <p:spPr>
          <a:xfrm>
            <a:off x="3630168" y="2011680"/>
            <a:ext cx="914400" cy="914400"/>
          </a:xfrm>
          <a:prstGeom prst="roundRect">
            <a:avLst>
              <a:gd name="adj" fmla="val 14000"/>
            </a:avLst>
          </a:prstGeom>
          <a:solidFill>
            <a:srgbClr val="FDEBDD"/>
          </a:solidFill>
          <a:ln w="38100">
            <a:solidFill>
              <a:srgbClr val="E9762B"/>
            </a:solidFill>
          </a:ln>
        </p:spPr>
        <p:txBody>
          <a:bodyPr wrap="square" lIns="0" tIns="0" rIns="0" bIns="0" rtlCol="0" anchor="ctr"/>
          <a:lstStyle/>
          <a:p>
            <a:pPr eaLnBrk="0" algn="ctr" indent="0" marL="0">
              <a:buNone/>
            </a:pPr>
            <a:r>
              <a:rPr lang="en-US" altLang="ko-KR" sz="4000" b="1" dirty="0">
                <a:solidFill>
                  <a:srgbClr val="1F2937"/>
                </a:solidFill>
                <a:latin typeface="맑은 고딕" pitchFamily="34" charset="0"/>
                <a:ea typeface="맑은 고딕" pitchFamily="34" charset="-122"/>
                <a:cs typeface="맑은 고딕" pitchFamily="34" charset="-120"/>
              </a:rPr>
              <a:t>e</a:t>
            </a:r>
            <a:endParaRPr lang="ko-KR" sz="4000" dirty="0"/>
          </a:p>
        </p:txBody>
      </p:sp>
      <p:sp>
        <p:nvSpPr>
          <p:cNvPr id="9" name="S05-tile60"/>
          <p:cNvSpPr txBox="1"/>
          <p:nvPr/>
        </p:nvSpPr>
        <p:spPr>
          <a:xfrm>
            <a:off x="4745736" y="201168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4000" b="1" dirty="0">
                <a:solidFill>
                  <a:srgbClr val="1F2937"/>
                </a:solidFill>
                <a:latin typeface="맑은 고딕" pitchFamily="34" charset="0"/>
                <a:ea typeface="맑은 고딕" pitchFamily="34" charset="-122"/>
                <a:cs typeface="맑은 고딕" pitchFamily="34" charset="-120"/>
              </a:rPr>
              <a:t>d</a:t>
            </a:r>
            <a:endParaRPr lang="ko-KR" sz="4000" dirty="0"/>
          </a:p>
        </p:txBody>
      </p:sp>
      <p:sp>
        <p:nvSpPr>
          <p:cNvPr id="10" name="S05-chip61"/>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11" name="S05-tile62"/>
          <p:cNvSpPr txBox="1"/>
          <p:nvPr/>
        </p:nvSpPr>
        <p:spPr>
          <a:xfrm>
            <a:off x="2514600" y="310896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4000" b="1" dirty="0">
                <a:solidFill>
                  <a:srgbClr val="1F2937"/>
                </a:solidFill>
                <a:latin typeface="맑은 고딕" pitchFamily="34" charset="0"/>
                <a:ea typeface="맑은 고딕" pitchFamily="34" charset="-122"/>
                <a:cs typeface="맑은 고딕" pitchFamily="34" charset="-120"/>
              </a:rPr>
              <a:t>p</a:t>
            </a:r>
            <a:endParaRPr lang="ko-KR" sz="4000" dirty="0"/>
          </a:p>
        </p:txBody>
      </p:sp>
      <p:sp>
        <p:nvSpPr>
          <p:cNvPr id="12" name="S05-tile63"/>
          <p:cNvSpPr txBox="1"/>
          <p:nvPr/>
        </p:nvSpPr>
        <p:spPr>
          <a:xfrm>
            <a:off x="3630168" y="3108960"/>
            <a:ext cx="914400" cy="914400"/>
          </a:xfrm>
          <a:prstGeom prst="roundRect">
            <a:avLst>
              <a:gd name="adj" fmla="val 14000"/>
            </a:avLst>
          </a:prstGeom>
          <a:solidFill>
            <a:srgbClr val="FDEBDD"/>
          </a:solidFill>
          <a:ln w="38100">
            <a:solidFill>
              <a:srgbClr val="E9762B"/>
            </a:solidFill>
          </a:ln>
        </p:spPr>
        <p:txBody>
          <a:bodyPr wrap="square" lIns="0" tIns="0" rIns="0" bIns="0" rtlCol="0" anchor="ctr"/>
          <a:lstStyle/>
          <a:p>
            <a:pPr eaLnBrk="0" algn="ctr" indent="0" marL="0">
              <a:buNone/>
            </a:pPr>
            <a:r>
              <a:rPr lang="en-US" altLang="ko-KR" sz="4000" b="1" dirty="0">
                <a:solidFill>
                  <a:srgbClr val="1F2937"/>
                </a:solidFill>
                <a:latin typeface="맑은 고딕" pitchFamily="34" charset="0"/>
                <a:ea typeface="맑은 고딕" pitchFamily="34" charset="-122"/>
                <a:cs typeface="맑은 고딕" pitchFamily="34" charset="-120"/>
              </a:rPr>
              <a:t>i</a:t>
            </a:r>
            <a:endParaRPr lang="ko-KR" sz="4000" dirty="0"/>
          </a:p>
        </p:txBody>
      </p:sp>
      <p:sp>
        <p:nvSpPr>
          <p:cNvPr id="13" name="S05-tile64"/>
          <p:cNvSpPr txBox="1"/>
          <p:nvPr/>
        </p:nvSpPr>
        <p:spPr>
          <a:xfrm>
            <a:off x="4745736" y="310896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4000" b="1" dirty="0">
                <a:solidFill>
                  <a:srgbClr val="1F2937"/>
                </a:solidFill>
                <a:latin typeface="맑은 고딕" pitchFamily="34" charset="0"/>
                <a:ea typeface="맑은 고딕" pitchFamily="34" charset="-122"/>
                <a:cs typeface="맑은 고딕" pitchFamily="34" charset="-120"/>
              </a:rPr>
              <a:t>g</a:t>
            </a:r>
            <a:endParaRPr lang="ko-KR" sz="4000" dirty="0"/>
          </a:p>
        </p:txBody>
      </p:sp>
      <p:sp>
        <p:nvSpPr>
          <p:cNvPr id="14" name="S05-chip65"/>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5" name="S05-tile66"/>
          <p:cNvSpPr txBox="1"/>
          <p:nvPr/>
        </p:nvSpPr>
        <p:spPr>
          <a:xfrm>
            <a:off x="2514600" y="420624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4000" b="1" dirty="0">
                <a:solidFill>
                  <a:srgbClr val="1F2937"/>
                </a:solidFill>
                <a:latin typeface="맑은 고딕" pitchFamily="34" charset="0"/>
                <a:ea typeface="맑은 고딕" pitchFamily="34" charset="-122"/>
                <a:cs typeface="맑은 고딕" pitchFamily="34" charset="-120"/>
              </a:rPr>
              <a:t>h</a:t>
            </a:r>
            <a:endParaRPr lang="ko-KR" sz="4000" dirty="0"/>
          </a:p>
        </p:txBody>
      </p:sp>
      <p:sp>
        <p:nvSpPr>
          <p:cNvPr id="16" name="S05-tile67"/>
          <p:cNvSpPr txBox="1"/>
          <p:nvPr/>
        </p:nvSpPr>
        <p:spPr>
          <a:xfrm>
            <a:off x="3630168" y="4206240"/>
            <a:ext cx="914400" cy="914400"/>
          </a:xfrm>
          <a:prstGeom prst="roundRect">
            <a:avLst>
              <a:gd name="adj" fmla="val 14000"/>
            </a:avLst>
          </a:prstGeom>
          <a:solidFill>
            <a:srgbClr val="FDEBDD"/>
          </a:solidFill>
          <a:ln w="38100">
            <a:solidFill>
              <a:srgbClr val="E9762B"/>
            </a:solidFill>
          </a:ln>
        </p:spPr>
        <p:txBody>
          <a:bodyPr wrap="square" lIns="0" tIns="0" rIns="0" bIns="0" rtlCol="0" anchor="ctr"/>
          <a:lstStyle/>
          <a:p>
            <a:pPr eaLnBrk="0" algn="ctr" indent="0" marL="0">
              <a:buNone/>
            </a:pPr>
            <a:r>
              <a:rPr lang="en-US" altLang="ko-KR" sz="4000" b="1" dirty="0">
                <a:solidFill>
                  <a:srgbClr val="1F2937"/>
                </a:solidFill>
                <a:latin typeface="맑은 고딕" pitchFamily="34" charset="0"/>
                <a:ea typeface="맑은 고딕" pitchFamily="34" charset="-122"/>
                <a:cs typeface="맑은 고딕" pitchFamily="34" charset="-120"/>
              </a:rPr>
              <a:t>o</a:t>
            </a:r>
            <a:endParaRPr lang="ko-KR" sz="4000" dirty="0"/>
          </a:p>
        </p:txBody>
      </p:sp>
      <p:sp>
        <p:nvSpPr>
          <p:cNvPr id="17" name="S05-tile68"/>
          <p:cNvSpPr txBox="1"/>
          <p:nvPr/>
        </p:nvSpPr>
        <p:spPr>
          <a:xfrm>
            <a:off x="4745736" y="420624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4000" b="1" dirty="0">
                <a:solidFill>
                  <a:srgbClr val="1F2937"/>
                </a:solidFill>
                <a:latin typeface="맑은 고딕" pitchFamily="34" charset="0"/>
                <a:ea typeface="맑은 고딕" pitchFamily="34" charset="-122"/>
                <a:cs typeface="맑은 고딕" pitchFamily="34" charset="-120"/>
              </a:rPr>
              <a:t>t</a:t>
            </a:r>
            <a:endParaRPr lang="ko-KR" sz="4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처음 보는 낱말 읽기</a:t>
            </a:r>
            <a:endParaRPr lang="ko-KR" sz="4000" dirty="0"/>
          </a:p>
        </p:txBody>
      </p:sp>
      <p:sp>
        <p:nvSpPr>
          <p:cNvPr id="3" name="S06-text69"/>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소리를 하나씩 이어 읽고, 다 읽으면 뜻을 알아봐요.</a:t>
            </a:r>
            <a:endParaRPr lang="ko-KR" sz="3000" dirty="0"/>
          </a:p>
        </p:txBody>
      </p:sp>
      <p:sp>
        <p:nvSpPr>
          <p:cNvPr id="4" name="S06-word70"/>
          <p:cNvSpPr txBox="1"/>
          <p:nvPr/>
        </p:nvSpPr>
        <p:spPr>
          <a:xfrm>
            <a:off x="548640" y="224028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map</a:t>
            </a:r>
            <a:endParaRPr lang="ko-KR" sz="3400" dirty="0"/>
          </a:p>
        </p:txBody>
      </p:sp>
      <p:sp>
        <p:nvSpPr>
          <p:cNvPr id="5" name="S06-word71"/>
          <p:cNvSpPr txBox="1"/>
          <p:nvPr/>
        </p:nvSpPr>
        <p:spPr>
          <a:xfrm>
            <a:off x="4337304" y="224028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hen</a:t>
            </a:r>
            <a:endParaRPr lang="ko-KR" sz="3400" dirty="0"/>
          </a:p>
        </p:txBody>
      </p:sp>
      <p:sp>
        <p:nvSpPr>
          <p:cNvPr id="6" name="S06-word72"/>
          <p:cNvSpPr txBox="1"/>
          <p:nvPr/>
        </p:nvSpPr>
        <p:spPr>
          <a:xfrm>
            <a:off x="8125968" y="224028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sit</a:t>
            </a:r>
            <a:endParaRPr lang="ko-KR" sz="3400" dirty="0"/>
          </a:p>
        </p:txBody>
      </p:sp>
      <p:sp>
        <p:nvSpPr>
          <p:cNvPr id="7" name="S06-word73"/>
          <p:cNvSpPr txBox="1"/>
          <p:nvPr/>
        </p:nvSpPr>
        <p:spPr>
          <a:xfrm>
            <a:off x="548640" y="425196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top</a:t>
            </a:r>
            <a:endParaRPr lang="ko-KR" sz="3400" dirty="0"/>
          </a:p>
        </p:txBody>
      </p:sp>
      <p:sp>
        <p:nvSpPr>
          <p:cNvPr id="8" name="S06-word74"/>
          <p:cNvSpPr txBox="1"/>
          <p:nvPr/>
        </p:nvSpPr>
        <p:spPr>
          <a:xfrm>
            <a:off x="4337304" y="425196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bus</a:t>
            </a:r>
            <a:endParaRPr lang="ko-KR" sz="3400" dirty="0"/>
          </a:p>
        </p:txBody>
      </p:sp>
      <p:sp>
        <p:nvSpPr>
          <p:cNvPr id="9" name="S06-word75"/>
          <p:cNvSpPr txBox="1"/>
          <p:nvPr/>
        </p:nvSpPr>
        <p:spPr>
          <a:xfrm>
            <a:off x="8125968" y="425196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mud</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짐작해서 읽으면?</a:t>
            </a:r>
            <a:endParaRPr lang="ko-KR" sz="4000" dirty="0"/>
          </a:p>
        </p:txBody>
      </p:sp>
      <p:sp>
        <p:nvSpPr>
          <p:cNvPr id="3" name="S07-card76"/>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7-cardtext77"/>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친구가 bag을 보고 ‘bus’라고 읽었어요.</a:t>
            </a:r>
            <a:endParaRPr lang="ko-KR" sz="3000" dirty="0"/>
          </a:p>
        </p:txBody>
      </p:sp>
      <p:sp>
        <p:nvSpPr>
          <p:cNvPr id="5" name="S07-card7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7-cardtext7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친구가 바르게 읽었나요? 어떻게 읽어야 할까요?</a:t>
            </a:r>
            <a:endParaRPr lang="ko-KR" sz="3000" dirty="0"/>
          </a:p>
        </p:txBody>
      </p:sp>
      <p:sp>
        <p:nvSpPr>
          <p:cNvPr id="7" name="S07-chip80"/>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보이는 낱말</a:t>
            </a:r>
            <a:endParaRPr lang="ko-KR" sz="2400" dirty="0"/>
          </a:p>
        </p:txBody>
      </p:sp>
      <p:sp>
        <p:nvSpPr>
          <p:cNvPr id="8" name="S07-tile81"/>
          <p:cNvSpPr txBox="1"/>
          <p:nvPr/>
        </p:nvSpPr>
        <p:spPr>
          <a:xfrm>
            <a:off x="971550" y="34518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b</a:t>
            </a:r>
            <a:endParaRPr lang="ko-KR" sz="5900" dirty="0"/>
          </a:p>
        </p:txBody>
      </p:sp>
      <p:sp>
        <p:nvSpPr>
          <p:cNvPr id="9" name="S07-tile82"/>
          <p:cNvSpPr txBox="1"/>
          <p:nvPr/>
        </p:nvSpPr>
        <p:spPr>
          <a:xfrm>
            <a:off x="2544318" y="34518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a</a:t>
            </a:r>
            <a:endParaRPr lang="ko-KR" sz="5900" dirty="0"/>
          </a:p>
        </p:txBody>
      </p:sp>
      <p:sp>
        <p:nvSpPr>
          <p:cNvPr id="10" name="S07-tile83"/>
          <p:cNvSpPr txBox="1"/>
          <p:nvPr/>
        </p:nvSpPr>
        <p:spPr>
          <a:xfrm>
            <a:off x="4117086" y="34518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g</a:t>
            </a:r>
            <a:endParaRPr lang="ko-KR" sz="5900" dirty="0"/>
          </a:p>
        </p:txBody>
      </p:sp>
      <p:sp>
        <p:nvSpPr>
          <p:cNvPr id="11" name="S07-chip84"/>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친구가 읽은 낱말</a:t>
            </a:r>
            <a:endParaRPr lang="ko-KR" sz="2400" dirty="0"/>
          </a:p>
        </p:txBody>
      </p:sp>
      <p:sp>
        <p:nvSpPr>
          <p:cNvPr id="12" name="S07-tile85"/>
          <p:cNvSpPr txBox="1"/>
          <p:nvPr/>
        </p:nvSpPr>
        <p:spPr>
          <a:xfrm>
            <a:off x="6700266" y="34518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b</a:t>
            </a:r>
            <a:endParaRPr lang="ko-KR" sz="5900" dirty="0"/>
          </a:p>
        </p:txBody>
      </p:sp>
      <p:sp>
        <p:nvSpPr>
          <p:cNvPr id="13" name="S07-tile86"/>
          <p:cNvSpPr txBox="1"/>
          <p:nvPr/>
        </p:nvSpPr>
        <p:spPr>
          <a:xfrm>
            <a:off x="8273034" y="34518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u</a:t>
            </a:r>
            <a:endParaRPr lang="ko-KR" sz="5900" dirty="0"/>
          </a:p>
        </p:txBody>
      </p:sp>
      <p:sp>
        <p:nvSpPr>
          <p:cNvPr id="14" name="S07-tile87"/>
          <p:cNvSpPr txBox="1"/>
          <p:nvPr/>
        </p:nvSpPr>
        <p:spPr>
          <a:xfrm>
            <a:off x="9845802" y="34518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s</a:t>
            </a:r>
            <a:endParaRPr lang="ko-KR" sz="59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소리를 나누어 써요</a:t>
            </a:r>
            <a:endParaRPr lang="ko-KR" sz="4000" dirty="0"/>
          </a:p>
        </p:txBody>
      </p:sp>
      <p:sp>
        <p:nvSpPr>
          <p:cNvPr id="3" name="S08-text8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pen을 소리 상자에 나누어 써 봐요.</a:t>
            </a:r>
            <a:endParaRPr lang="ko-KR" sz="3000" dirty="0"/>
          </a:p>
        </p:txBody>
      </p:sp>
      <p:sp>
        <p:nvSpPr>
          <p:cNvPr id="4" name="S08-tile89"/>
          <p:cNvSpPr txBox="1"/>
          <p:nvPr/>
        </p:nvSpPr>
        <p:spPr>
          <a:xfrm>
            <a:off x="7022043" y="320040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p</a:t>
            </a:r>
            <a:endParaRPr lang="ko-KR" sz="5900" dirty="0"/>
          </a:p>
        </p:txBody>
      </p:sp>
      <p:sp>
        <p:nvSpPr>
          <p:cNvPr id="5" name="S08-label90"/>
          <p:cNvSpPr txBox="1"/>
          <p:nvPr/>
        </p:nvSpPr>
        <p:spPr>
          <a:xfrm>
            <a:off x="6921459" y="4608576"/>
            <a:ext cx="1572768" cy="402336"/>
          </a:xfrm>
          <a:prstGeom prst="rect">
            <a:avLst/>
          </a:prstGeom>
          <a:noFill/>
          <a:ln/>
        </p:spPr>
        <p:txBody>
          <a:bodyPr wrap="square" lIns="0" tIns="0" rIns="0" bIns="0" rtlCol="0" anchor="ctr"/>
          <a:lstStyle/>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첫소리</a:t>
            </a:r>
            <a:endParaRPr lang="ko-KR" sz="2000" dirty="0"/>
          </a:p>
        </p:txBody>
      </p:sp>
      <p:sp>
        <p:nvSpPr>
          <p:cNvPr id="6" name="S08-tile91"/>
          <p:cNvSpPr txBox="1"/>
          <p:nvPr/>
        </p:nvSpPr>
        <p:spPr>
          <a:xfrm>
            <a:off x="8594811" y="320040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e</a:t>
            </a:r>
            <a:endParaRPr lang="ko-KR" sz="5900" dirty="0"/>
          </a:p>
        </p:txBody>
      </p:sp>
      <p:sp>
        <p:nvSpPr>
          <p:cNvPr id="7" name="S08-label92"/>
          <p:cNvSpPr txBox="1"/>
          <p:nvPr/>
        </p:nvSpPr>
        <p:spPr>
          <a:xfrm>
            <a:off x="8494227" y="4608576"/>
            <a:ext cx="1572768" cy="402336"/>
          </a:xfrm>
          <a:prstGeom prst="rect">
            <a:avLst/>
          </a:prstGeom>
          <a:noFill/>
          <a:ln/>
        </p:spPr>
        <p:txBody>
          <a:bodyPr wrap="square" lIns="0" tIns="0" rIns="0" bIns="0" rtlCol="0" anchor="ctr"/>
          <a:lstStyle/>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가운데 소리</a:t>
            </a:r>
            <a:endParaRPr lang="ko-KR" sz="2000" dirty="0"/>
          </a:p>
        </p:txBody>
      </p:sp>
      <p:sp>
        <p:nvSpPr>
          <p:cNvPr id="8" name="S08-tile93"/>
          <p:cNvSpPr txBox="1"/>
          <p:nvPr/>
        </p:nvSpPr>
        <p:spPr>
          <a:xfrm>
            <a:off x="10167579" y="320040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n</a:t>
            </a:r>
            <a:endParaRPr lang="ko-KR" sz="5900" dirty="0"/>
          </a:p>
        </p:txBody>
      </p:sp>
      <p:sp>
        <p:nvSpPr>
          <p:cNvPr id="9" name="S08-label94"/>
          <p:cNvSpPr txBox="1"/>
          <p:nvPr/>
        </p:nvSpPr>
        <p:spPr>
          <a:xfrm>
            <a:off x="10066995" y="4608576"/>
            <a:ext cx="1572768" cy="402336"/>
          </a:xfrm>
          <a:prstGeom prst="rect">
            <a:avLst/>
          </a:prstGeom>
          <a:noFill/>
          <a:ln/>
        </p:spPr>
        <p:txBody>
          <a:bodyPr wrap="square" lIns="0" tIns="0" rIns="0" bIns="0" rtlCol="0" anchor="ctr"/>
          <a:lstStyle/>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끝소리</a:t>
            </a:r>
            <a:endParaRPr lang="ko-KR" sz="2000" dirty="0"/>
          </a:p>
        </p:txBody>
      </p:sp>
      <p:sp>
        <p:nvSpPr>
          <p:cNvPr id="10" name="S08-stepno95"/>
          <p:cNvSpPr txBox="1"/>
          <p:nvPr/>
        </p:nvSpPr>
        <p:spPr>
          <a:xfrm>
            <a:off x="548640" y="238963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11" name="S08-text96"/>
          <p:cNvSpPr txBox="1"/>
          <p:nvPr/>
        </p:nvSpPr>
        <p:spPr>
          <a:xfrm>
            <a:off x="1325880" y="2389632"/>
            <a:ext cx="5229271"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낱말을 듣고 따라 말해요.</a:t>
            </a:r>
            <a:endParaRPr lang="ko-KR" sz="3000" dirty="0"/>
          </a:p>
        </p:txBody>
      </p:sp>
      <p:sp>
        <p:nvSpPr>
          <p:cNvPr id="12" name="S08-stepno97"/>
          <p:cNvSpPr txBox="1"/>
          <p:nvPr/>
        </p:nvSpPr>
        <p:spPr>
          <a:xfrm>
            <a:off x="548640" y="314858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13" name="S08-text98"/>
          <p:cNvSpPr txBox="1"/>
          <p:nvPr/>
        </p:nvSpPr>
        <p:spPr>
          <a:xfrm>
            <a:off x="1325880" y="3102864"/>
            <a:ext cx="5229271"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소리 하나마다 바둑돌을 한 칸씩 밀어 넣어요.</a:t>
            </a:r>
            <a:endParaRPr lang="ko-KR" sz="3000" dirty="0"/>
          </a:p>
        </p:txBody>
      </p:sp>
      <p:sp>
        <p:nvSpPr>
          <p:cNvPr id="14" name="S08-stepno99"/>
          <p:cNvSpPr txBox="1"/>
          <p:nvPr/>
        </p:nvSpPr>
        <p:spPr>
          <a:xfrm>
            <a:off x="548640" y="419709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15" name="S08-text100"/>
          <p:cNvSpPr txBox="1"/>
          <p:nvPr/>
        </p:nvSpPr>
        <p:spPr>
          <a:xfrm>
            <a:off x="1325880" y="4197096"/>
            <a:ext cx="5229271"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칸마다 그 소리의 글자를 써요.</a:t>
            </a:r>
            <a:endParaRPr lang="ko-KR" sz="3000" dirty="0"/>
          </a:p>
        </p:txBody>
      </p:sp>
      <p:sp>
        <p:nvSpPr>
          <p:cNvPr id="16" name="S08-stepno101"/>
          <p:cNvSpPr txBox="1"/>
          <p:nvPr/>
        </p:nvSpPr>
        <p:spPr>
          <a:xfrm>
            <a:off x="548640" y="495604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4</a:t>
            </a:r>
            <a:endParaRPr lang="ko-KR" sz="2400" dirty="0"/>
          </a:p>
        </p:txBody>
      </p:sp>
      <p:sp>
        <p:nvSpPr>
          <p:cNvPr id="17" name="S08-text102"/>
          <p:cNvSpPr txBox="1"/>
          <p:nvPr/>
        </p:nvSpPr>
        <p:spPr>
          <a:xfrm>
            <a:off x="1325880" y="4910328"/>
            <a:ext cx="5229271"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쓴 글자를 다시 이어 읽어 확인해요.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소리 상자에 써요</a:t>
            </a:r>
            <a:endParaRPr lang="ko-KR" sz="4000" dirty="0"/>
          </a:p>
        </p:txBody>
      </p:sp>
      <p:sp>
        <p:nvSpPr>
          <p:cNvPr id="3" name="S09-text10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엄마(아빠)가 말하는 낱말을 소리 상자에 한 글자씩 써요.</a:t>
            </a:r>
            <a:endParaRPr lang="ko-KR" sz="3000" dirty="0"/>
          </a:p>
        </p:txBody>
      </p:sp>
      <p:sp>
        <p:nvSpPr>
          <p:cNvPr id="4" name="S09-card104"/>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9-cardtext10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바둑돌을 밀어 넣으며 소리를 세고, 칸마다 글자를 써요.</a:t>
            </a:r>
            <a:endParaRPr lang="ko-KR" sz="3000" dirty="0"/>
          </a:p>
        </p:txBody>
      </p:sp>
      <p:sp>
        <p:nvSpPr>
          <p:cNvPr id="6" name="S09-chip106"/>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9-tile107"/>
          <p:cNvSpPr txBox="1"/>
          <p:nvPr/>
        </p:nvSpPr>
        <p:spPr>
          <a:xfrm>
            <a:off x="2514600" y="201168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endParaRPr lang="ko-KR" sz="4000" dirty="0"/>
          </a:p>
        </p:txBody>
      </p:sp>
      <p:sp>
        <p:nvSpPr>
          <p:cNvPr id="8" name="S09-tile108"/>
          <p:cNvSpPr txBox="1"/>
          <p:nvPr/>
        </p:nvSpPr>
        <p:spPr>
          <a:xfrm>
            <a:off x="3630168" y="201168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endParaRPr lang="ko-KR" sz="4000" dirty="0"/>
          </a:p>
        </p:txBody>
      </p:sp>
      <p:sp>
        <p:nvSpPr>
          <p:cNvPr id="9" name="S09-tile109"/>
          <p:cNvSpPr txBox="1"/>
          <p:nvPr/>
        </p:nvSpPr>
        <p:spPr>
          <a:xfrm>
            <a:off x="4745736" y="201168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endParaRPr lang="ko-KR" sz="4000" dirty="0"/>
          </a:p>
        </p:txBody>
      </p:sp>
      <p:sp>
        <p:nvSpPr>
          <p:cNvPr id="10" name="S09-chip110"/>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11" name="S09-tile111"/>
          <p:cNvSpPr txBox="1"/>
          <p:nvPr/>
        </p:nvSpPr>
        <p:spPr>
          <a:xfrm>
            <a:off x="2514600" y="310896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endParaRPr lang="ko-KR" sz="4000" dirty="0"/>
          </a:p>
        </p:txBody>
      </p:sp>
      <p:sp>
        <p:nvSpPr>
          <p:cNvPr id="12" name="S09-tile112"/>
          <p:cNvSpPr txBox="1"/>
          <p:nvPr/>
        </p:nvSpPr>
        <p:spPr>
          <a:xfrm>
            <a:off x="3630168" y="310896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endParaRPr lang="ko-KR" sz="4000" dirty="0"/>
          </a:p>
        </p:txBody>
      </p:sp>
      <p:sp>
        <p:nvSpPr>
          <p:cNvPr id="13" name="S09-tile113"/>
          <p:cNvSpPr txBox="1"/>
          <p:nvPr/>
        </p:nvSpPr>
        <p:spPr>
          <a:xfrm>
            <a:off x="4745736" y="310896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endParaRPr lang="ko-KR" sz="4000" dirty="0"/>
          </a:p>
        </p:txBody>
      </p:sp>
      <p:sp>
        <p:nvSpPr>
          <p:cNvPr id="14" name="S09-chip114"/>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5" name="S09-tile115"/>
          <p:cNvSpPr txBox="1"/>
          <p:nvPr/>
        </p:nvSpPr>
        <p:spPr>
          <a:xfrm>
            <a:off x="2514600" y="420624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endParaRPr lang="ko-KR" sz="4000" dirty="0"/>
          </a:p>
        </p:txBody>
      </p:sp>
      <p:sp>
        <p:nvSpPr>
          <p:cNvPr id="16" name="S09-tile116"/>
          <p:cNvSpPr txBox="1"/>
          <p:nvPr/>
        </p:nvSpPr>
        <p:spPr>
          <a:xfrm>
            <a:off x="3630168" y="420624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endParaRPr lang="ko-KR" sz="4000" dirty="0"/>
          </a:p>
        </p:txBody>
      </p:sp>
      <p:sp>
        <p:nvSpPr>
          <p:cNvPr id="17" name="S09-tile117"/>
          <p:cNvSpPr txBox="1"/>
          <p:nvPr/>
        </p:nvSpPr>
        <p:spPr>
          <a:xfrm>
            <a:off x="4745736" y="4206240"/>
            <a:ext cx="914400" cy="914400"/>
          </a:xfrm>
          <a:prstGeom prst="roundRect">
            <a:avLst>
              <a:gd name="adj" fmla="val 14000"/>
            </a:avLst>
          </a:prstGeom>
          <a:solidFill>
            <a:srgbClr val="FFFFFF"/>
          </a:solidFill>
          <a:ln w="19050">
            <a:solidFill>
              <a:srgbClr val="264653"/>
            </a:solidFill>
          </a:ln>
        </p:spPr>
        <p:txBody>
          <a:bodyPr wrap="square" lIns="0" tIns="0" rIns="0" bIns="0" rtlCol="0" anchor="ctr"/>
          <a:lstStyle/>
          <a:p>
            <a:pPr eaLnBrk="0" algn="ctr" indent="0" marL="0">
              <a:buNone/>
            </a:pPr>
            <a:endParaRPr lang="ko-KR" sz="4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0-text11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①②③은 소리를 이어 읽고, ④는 듣고 소리 상자에 써요.</a:t>
            </a:r>
            <a:endParaRPr lang="ko-KR" sz="3000" dirty="0"/>
          </a:p>
        </p:txBody>
      </p:sp>
      <p:sp>
        <p:nvSpPr>
          <p:cNvPr id="4" name="S10-chip119"/>
          <p:cNvSpPr txBox="1"/>
          <p:nvPr/>
        </p:nvSpPr>
        <p:spPr>
          <a:xfrm>
            <a:off x="548640" y="27340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10-tile120"/>
          <p:cNvSpPr txBox="1"/>
          <p:nvPr/>
        </p:nvSpPr>
        <p:spPr>
          <a:xfrm>
            <a:off x="1369314" y="233172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h</a:t>
            </a:r>
            <a:endParaRPr lang="ko-KR" sz="5900" dirty="0"/>
          </a:p>
        </p:txBody>
      </p:sp>
      <p:sp>
        <p:nvSpPr>
          <p:cNvPr id="6" name="S10-tile121"/>
          <p:cNvSpPr txBox="1"/>
          <p:nvPr/>
        </p:nvSpPr>
        <p:spPr>
          <a:xfrm>
            <a:off x="2942082" y="233172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u</a:t>
            </a:r>
            <a:endParaRPr lang="ko-KR" sz="5900" dirty="0"/>
          </a:p>
        </p:txBody>
      </p:sp>
      <p:sp>
        <p:nvSpPr>
          <p:cNvPr id="7" name="S10-tile122"/>
          <p:cNvSpPr txBox="1"/>
          <p:nvPr/>
        </p:nvSpPr>
        <p:spPr>
          <a:xfrm>
            <a:off x="4514850" y="233172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g</a:t>
            </a:r>
            <a:endParaRPr lang="ko-KR" sz="5900" dirty="0"/>
          </a:p>
        </p:txBody>
      </p:sp>
      <p:sp>
        <p:nvSpPr>
          <p:cNvPr id="8" name="S10-chip123"/>
          <p:cNvSpPr txBox="1"/>
          <p:nvPr/>
        </p:nvSpPr>
        <p:spPr>
          <a:xfrm>
            <a:off x="6277356" y="27340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10-tile124"/>
          <p:cNvSpPr txBox="1"/>
          <p:nvPr/>
        </p:nvSpPr>
        <p:spPr>
          <a:xfrm>
            <a:off x="7098030" y="233172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d</a:t>
            </a:r>
            <a:endParaRPr lang="ko-KR" sz="5900" dirty="0"/>
          </a:p>
        </p:txBody>
      </p:sp>
      <p:sp>
        <p:nvSpPr>
          <p:cNvPr id="10" name="S10-tile125"/>
          <p:cNvSpPr txBox="1"/>
          <p:nvPr/>
        </p:nvSpPr>
        <p:spPr>
          <a:xfrm>
            <a:off x="8670798" y="233172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i</a:t>
            </a:r>
            <a:endParaRPr lang="ko-KR" sz="5900" dirty="0"/>
          </a:p>
        </p:txBody>
      </p:sp>
      <p:sp>
        <p:nvSpPr>
          <p:cNvPr id="11" name="S10-tile126"/>
          <p:cNvSpPr txBox="1"/>
          <p:nvPr/>
        </p:nvSpPr>
        <p:spPr>
          <a:xfrm>
            <a:off x="10243566" y="233172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g</a:t>
            </a:r>
            <a:endParaRPr lang="ko-KR" sz="5900" dirty="0"/>
          </a:p>
        </p:txBody>
      </p:sp>
      <p:sp>
        <p:nvSpPr>
          <p:cNvPr id="12" name="S10-chip127"/>
          <p:cNvSpPr txBox="1"/>
          <p:nvPr/>
        </p:nvSpPr>
        <p:spPr>
          <a:xfrm>
            <a:off x="548640" y="49286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3" name="S10-tile128"/>
          <p:cNvSpPr txBox="1"/>
          <p:nvPr/>
        </p:nvSpPr>
        <p:spPr>
          <a:xfrm>
            <a:off x="1369314" y="452628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p</a:t>
            </a:r>
            <a:endParaRPr lang="ko-KR" sz="5900" dirty="0"/>
          </a:p>
        </p:txBody>
      </p:sp>
      <p:sp>
        <p:nvSpPr>
          <p:cNvPr id="14" name="S10-tile129"/>
          <p:cNvSpPr txBox="1"/>
          <p:nvPr/>
        </p:nvSpPr>
        <p:spPr>
          <a:xfrm>
            <a:off x="2942082" y="452628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o</a:t>
            </a:r>
            <a:endParaRPr lang="ko-KR" sz="5900" dirty="0"/>
          </a:p>
        </p:txBody>
      </p:sp>
      <p:sp>
        <p:nvSpPr>
          <p:cNvPr id="15" name="S10-tile130"/>
          <p:cNvSpPr txBox="1"/>
          <p:nvPr/>
        </p:nvSpPr>
        <p:spPr>
          <a:xfrm>
            <a:off x="4514850" y="452628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t</a:t>
            </a:r>
            <a:endParaRPr lang="ko-KR" sz="5900" dirty="0"/>
          </a:p>
        </p:txBody>
      </p:sp>
      <p:sp>
        <p:nvSpPr>
          <p:cNvPr id="16" name="S10-chip131"/>
          <p:cNvSpPr txBox="1"/>
          <p:nvPr/>
        </p:nvSpPr>
        <p:spPr>
          <a:xfrm>
            <a:off x="6277356" y="49286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④</a:t>
            </a:r>
            <a:endParaRPr lang="ko-KR" sz="2400" dirty="0"/>
          </a:p>
        </p:txBody>
      </p:sp>
      <p:sp>
        <p:nvSpPr>
          <p:cNvPr id="17" name="S10-tile132"/>
          <p:cNvSpPr txBox="1"/>
          <p:nvPr/>
        </p:nvSpPr>
        <p:spPr>
          <a:xfrm>
            <a:off x="7098030" y="452628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endParaRPr lang="ko-KR" sz="5900" dirty="0"/>
          </a:p>
        </p:txBody>
      </p:sp>
      <p:sp>
        <p:nvSpPr>
          <p:cNvPr id="18" name="S10-tile133"/>
          <p:cNvSpPr txBox="1"/>
          <p:nvPr/>
        </p:nvSpPr>
        <p:spPr>
          <a:xfrm>
            <a:off x="8670798" y="452628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endParaRPr lang="ko-KR" sz="5900" dirty="0"/>
          </a:p>
        </p:txBody>
      </p:sp>
      <p:sp>
        <p:nvSpPr>
          <p:cNvPr id="19" name="S10-tile134"/>
          <p:cNvSpPr txBox="1"/>
          <p:nvPr/>
        </p:nvSpPr>
        <p:spPr>
          <a:xfrm>
            <a:off x="10243566" y="452628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endParaRPr lang="ko-KR" sz="59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정답 확인</a:t>
            </a:r>
            <a:endParaRPr lang="ko-KR" sz="4000" dirty="0"/>
          </a:p>
        </p:txBody>
      </p:sp>
      <p:sp>
        <p:nvSpPr>
          <p:cNvPr id="3" name="S11-card135"/>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1-cardtext13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글자마다 소리를 내고, 소리마다 글자를 써요.</a:t>
            </a:r>
            <a:endParaRPr lang="ko-KR" sz="3000" dirty="0"/>
          </a:p>
        </p:txBody>
      </p:sp>
      <p:sp>
        <p:nvSpPr>
          <p:cNvPr id="5" name="S11-chip137"/>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정답</a:t>
            </a:r>
            <a:endParaRPr lang="ko-KR" sz="2400" dirty="0"/>
          </a:p>
        </p:txBody>
      </p:sp>
      <p:sp>
        <p:nvSpPr>
          <p:cNvPr id="6" name="S11-text138"/>
          <p:cNvSpPr txBox="1"/>
          <p:nvPr/>
        </p:nvSpPr>
        <p:spPr>
          <a:xfrm>
            <a:off x="548640" y="2057400"/>
            <a:ext cx="5362956" cy="12344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① hug ② dig ③ pot</a:t>
            </a:r>
            <a:endParaRPr lang="ko-KR" sz="3000" dirty="0"/>
          </a:p>
        </p:txBody>
      </p:sp>
      <p:sp>
        <p:nvSpPr>
          <p:cNvPr id="7" name="S11-text139"/>
          <p:cNvSpPr txBox="1"/>
          <p:nvPr/>
        </p:nvSpPr>
        <p:spPr>
          <a:xfrm>
            <a:off x="548640" y="3429000"/>
            <a:ext cx="2681478" cy="12344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④ n · u · t</a:t>
            </a:r>
            <a:endParaRPr lang="ko-KR" sz="3000" dirty="0"/>
          </a:p>
        </p:txBody>
      </p:sp>
      <p:sp>
        <p:nvSpPr>
          <p:cNvPr id="8" name="S11-text140"/>
          <p:cNvSpPr txBox="1"/>
          <p:nvPr/>
        </p:nvSpPr>
        <p:spPr>
          <a:xfrm>
            <a:off x="3367278" y="3429000"/>
            <a:ext cx="2544318" cy="1234440"/>
          </a:xfrm>
          <a:prstGeom prst="rect">
            <a:avLst/>
          </a:prstGeom>
          <a:noFill/>
          <a:ln/>
        </p:spPr>
        <p:txBody>
          <a:bodyPr wrap="square" lIns="0" tIns="0" rIns="0" bIns="0" rtlCol="0" anchor="ctr"/>
          <a:lstStyle/>
          <a:p>
            <a:pPr eaLnBrk="0" algn="l" indent="0" marL="0">
              <a:buNone/>
            </a:pPr>
            <a:r>
              <a:rPr lang="en-US" altLang="ko-KR" sz="2400" dirty="0">
                <a:solidFill>
                  <a:srgbClr val="1F2937"/>
                </a:solidFill>
                <a:latin typeface="맑은 고딕" pitchFamily="34" charset="0"/>
                <a:ea typeface="맑은 고딕" pitchFamily="34" charset="-122"/>
                <a:cs typeface="맑은 고딕" pitchFamily="34" charset="-120"/>
              </a:rPr>
              <a:t>nut</a:t>
            </a:r>
            <a:endParaRPr lang="ko-KR" sz="2400" dirty="0"/>
          </a:p>
        </p:txBody>
      </p:sp>
      <p:sp>
        <p:nvSpPr>
          <p:cNvPr id="9" name="S11-chip141"/>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흔한 실수</a:t>
            </a:r>
            <a:endParaRPr lang="ko-KR" sz="2400" dirty="0"/>
          </a:p>
        </p:txBody>
      </p:sp>
      <p:sp>
        <p:nvSpPr>
          <p:cNvPr id="10" name="S11-text142"/>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짐작해 읽기</a:t>
            </a:r>
            <a:endParaRPr lang="ko-KR" sz="3000" dirty="0"/>
          </a:p>
        </p:txBody>
      </p:sp>
      <p:sp>
        <p:nvSpPr>
          <p:cNvPr id="11" name="S11-text143"/>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세 글자 모두</a:t>
            </a:r>
            <a:endParaRPr lang="ko-KR" sz="2400" dirty="0"/>
          </a:p>
        </p:txBody>
      </p:sp>
      <p:sp>
        <p:nvSpPr>
          <p:cNvPr id="12" name="S11-text144"/>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④ nt</a:t>
            </a:r>
            <a:endParaRPr lang="ko-KR" sz="3000" dirty="0"/>
          </a:p>
        </p:txBody>
      </p:sp>
      <p:sp>
        <p:nvSpPr>
          <p:cNvPr id="13" name="S11-text145"/>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모음 빠뜨림</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말하는 낱말을 골라요</a:t>
            </a:r>
            <a:endParaRPr lang="ko-KR" sz="4000" dirty="0"/>
          </a:p>
        </p:txBody>
      </p:sp>
      <p:sp>
        <p:nvSpPr>
          <p:cNvPr id="3" name="S12-card146"/>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2-cardtext14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엄마(아빠)가 말하는 낱말은? 어떻게 알았나요?</a:t>
            </a:r>
            <a:endParaRPr lang="ko-KR" sz="3000" dirty="0"/>
          </a:p>
        </p:txBody>
      </p:sp>
      <p:sp>
        <p:nvSpPr>
          <p:cNvPr id="5" name="S12-chip148"/>
          <p:cNvSpPr txBox="1"/>
          <p:nvPr/>
        </p:nvSpPr>
        <p:spPr>
          <a:xfrm>
            <a:off x="548640"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가</a:t>
            </a:r>
            <a:endParaRPr lang="ko-KR" sz="3000" dirty="0"/>
          </a:p>
        </p:txBody>
      </p:sp>
      <p:sp>
        <p:nvSpPr>
          <p:cNvPr id="6" name="S12-card149"/>
          <p:cNvSpPr/>
          <p:nvPr/>
        </p:nvSpPr>
        <p:spPr>
          <a:xfrm>
            <a:off x="1344168" y="1325880"/>
            <a:ext cx="4567428" cy="1760220"/>
          </a:xfrm>
          <a:prstGeom prst="roundRect">
            <a:avLst>
              <a:gd name="adj" fmla="val 6234"/>
            </a:avLst>
          </a:prstGeom>
          <a:solidFill>
            <a:srgbClr val="EAF3F1"/>
          </a:solidFill>
          <a:ln w="12700">
            <a:solidFill>
              <a:srgbClr val="EAF3F1"/>
            </a:solidFill>
            <a:prstDash val="solid"/>
          </a:ln>
        </p:spPr>
      </p:sp>
      <p:sp>
        <p:nvSpPr>
          <p:cNvPr id="7" name="S12-cardtext150"/>
          <p:cNvSpPr txBox="1"/>
          <p:nvPr/>
        </p:nvSpPr>
        <p:spPr>
          <a:xfrm>
            <a:off x="1618488" y="1463040"/>
            <a:ext cx="4018788" cy="1485900"/>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bag</a:t>
            </a:r>
            <a:endParaRPr lang="ko-KR" sz="3000" dirty="0"/>
          </a:p>
        </p:txBody>
      </p:sp>
      <p:sp>
        <p:nvSpPr>
          <p:cNvPr id="8" name="S12-chip151"/>
          <p:cNvSpPr txBox="1"/>
          <p:nvPr/>
        </p:nvSpPr>
        <p:spPr>
          <a:xfrm>
            <a:off x="6277356"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나</a:t>
            </a:r>
            <a:endParaRPr lang="ko-KR" sz="3000" dirty="0"/>
          </a:p>
        </p:txBody>
      </p:sp>
      <p:sp>
        <p:nvSpPr>
          <p:cNvPr id="9" name="S12-card152"/>
          <p:cNvSpPr/>
          <p:nvPr/>
        </p:nvSpPr>
        <p:spPr>
          <a:xfrm>
            <a:off x="7072884" y="1325880"/>
            <a:ext cx="4567428" cy="1760220"/>
          </a:xfrm>
          <a:prstGeom prst="roundRect">
            <a:avLst>
              <a:gd name="adj" fmla="val 6234"/>
            </a:avLst>
          </a:prstGeom>
          <a:solidFill>
            <a:srgbClr val="EAF3F1"/>
          </a:solidFill>
          <a:ln w="12700">
            <a:solidFill>
              <a:srgbClr val="EAF3F1"/>
            </a:solidFill>
            <a:prstDash val="solid"/>
          </a:ln>
        </p:spPr>
      </p:sp>
      <p:sp>
        <p:nvSpPr>
          <p:cNvPr id="10" name="S12-cardtext153"/>
          <p:cNvSpPr txBox="1"/>
          <p:nvPr/>
        </p:nvSpPr>
        <p:spPr>
          <a:xfrm>
            <a:off x="7347204" y="1463040"/>
            <a:ext cx="4018788" cy="1485900"/>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big</a:t>
            </a:r>
            <a:endParaRPr lang="ko-KR" sz="3000" dirty="0"/>
          </a:p>
        </p:txBody>
      </p:sp>
      <p:sp>
        <p:nvSpPr>
          <p:cNvPr id="11" name="S12-chip154"/>
          <p:cNvSpPr txBox="1"/>
          <p:nvPr/>
        </p:nvSpPr>
        <p:spPr>
          <a:xfrm>
            <a:off x="548640"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다</a:t>
            </a:r>
            <a:endParaRPr lang="ko-KR" sz="3000" dirty="0"/>
          </a:p>
        </p:txBody>
      </p:sp>
      <p:sp>
        <p:nvSpPr>
          <p:cNvPr id="12" name="S12-card155"/>
          <p:cNvSpPr/>
          <p:nvPr/>
        </p:nvSpPr>
        <p:spPr>
          <a:xfrm>
            <a:off x="1344168" y="3360420"/>
            <a:ext cx="4567428" cy="1760220"/>
          </a:xfrm>
          <a:prstGeom prst="roundRect">
            <a:avLst>
              <a:gd name="adj" fmla="val 6234"/>
            </a:avLst>
          </a:prstGeom>
          <a:solidFill>
            <a:srgbClr val="EAF3F1"/>
          </a:solidFill>
          <a:ln w="12700">
            <a:solidFill>
              <a:srgbClr val="EAF3F1"/>
            </a:solidFill>
            <a:prstDash val="solid"/>
          </a:ln>
        </p:spPr>
      </p:sp>
      <p:sp>
        <p:nvSpPr>
          <p:cNvPr id="13" name="S12-cardtext156"/>
          <p:cNvSpPr txBox="1"/>
          <p:nvPr/>
        </p:nvSpPr>
        <p:spPr>
          <a:xfrm>
            <a:off x="1618488" y="3497580"/>
            <a:ext cx="4018788" cy="1485900"/>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bug</a:t>
            </a:r>
            <a:endParaRPr lang="ko-KR" sz="3000" dirty="0"/>
          </a:p>
        </p:txBody>
      </p:sp>
      <p:sp>
        <p:nvSpPr>
          <p:cNvPr id="14" name="S12-chip157"/>
          <p:cNvSpPr txBox="1"/>
          <p:nvPr/>
        </p:nvSpPr>
        <p:spPr>
          <a:xfrm>
            <a:off x="6277356"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라</a:t>
            </a:r>
            <a:endParaRPr lang="ko-KR" sz="3000" dirty="0"/>
          </a:p>
        </p:txBody>
      </p:sp>
      <p:sp>
        <p:nvSpPr>
          <p:cNvPr id="15" name="S12-card158"/>
          <p:cNvSpPr/>
          <p:nvPr/>
        </p:nvSpPr>
        <p:spPr>
          <a:xfrm>
            <a:off x="7072884" y="3360420"/>
            <a:ext cx="4567428" cy="1760220"/>
          </a:xfrm>
          <a:prstGeom prst="roundRect">
            <a:avLst>
              <a:gd name="adj" fmla="val 6234"/>
            </a:avLst>
          </a:prstGeom>
          <a:solidFill>
            <a:srgbClr val="EAF3F1"/>
          </a:solidFill>
          <a:ln w="12700">
            <a:solidFill>
              <a:srgbClr val="EAF3F1"/>
            </a:solidFill>
            <a:prstDash val="solid"/>
          </a:ln>
        </p:spPr>
      </p:sp>
      <p:sp>
        <p:nvSpPr>
          <p:cNvPr id="16" name="S12-cardtext159"/>
          <p:cNvSpPr txBox="1"/>
          <p:nvPr/>
        </p:nvSpPr>
        <p:spPr>
          <a:xfrm>
            <a:off x="7347204" y="3497580"/>
            <a:ext cx="4018788" cy="1485900"/>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bed</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3-card160"/>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3-cardtext161"/>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글자마다 소리를 내고 이어 말하면 낱말을 읽어요.</a:t>
            </a:r>
            <a:endParaRPr lang="ko-KR" sz="3000" dirty="0"/>
          </a:p>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들은 낱말은 소리 셋으로 나누어 써요.</a:t>
            </a:r>
            <a:endParaRPr lang="ko-KR" sz="3000" dirty="0"/>
          </a:p>
        </p:txBody>
      </p:sp>
      <p:sp>
        <p:nvSpPr>
          <p:cNvPr id="5" name="S13-chip162"/>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세 글자 모두 소리 내기</a:t>
            </a:r>
            <a:endParaRPr lang="ko-KR" sz="2400" dirty="0"/>
          </a:p>
        </p:txBody>
      </p:sp>
      <p:sp>
        <p:nvSpPr>
          <p:cNvPr id="6" name="S13-chip163"/>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첫 글자만 보고 짐작하기</a:t>
            </a:r>
            <a:endParaRPr lang="ko-KR" sz="2400" dirty="0"/>
          </a:p>
        </p:txBody>
      </p:sp>
      <p:sp>
        <p:nvSpPr>
          <p:cNvPr id="7" name="S13-text164"/>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3-text165"/>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① sit 읽기</a:t>
            </a:r>
            <a:endParaRPr lang="ko-KR" sz="2400" dirty="0"/>
          </a:p>
        </p:txBody>
      </p:sp>
      <p:sp>
        <p:nvSpPr>
          <p:cNvPr id="9" name="S13-text166"/>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② bat 듣고 쓰기</a:t>
            </a:r>
            <a:endParaRPr lang="ko-KR" sz="2400" dirty="0"/>
          </a:p>
        </p:txBody>
      </p:sp>
      <p:sp>
        <p:nvSpPr>
          <p:cNvPr id="10" name="S13-text167"/>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bag과 big의 다른 점은?</a:t>
            </a:r>
            <a:endParaRPr lang="ko-KR" sz="2400" dirty="0"/>
          </a:p>
        </p:txBody>
      </p:sp>
      <p:sp>
        <p:nvSpPr>
          <p:cNvPr id="11" name="S13-text168"/>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짧은 문장 읽고 쓰기</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모음 소리 다시</a:t>
            </a:r>
            <a:endParaRPr lang="ko-KR" sz="4000" dirty="0"/>
          </a:p>
        </p:txBody>
      </p:sp>
      <p:sp>
        <p:nvSpPr>
          <p:cNvPr id="3" name="S14-card169"/>
          <p:cNvSpPr/>
          <p:nvPr/>
        </p:nvSpPr>
        <p:spPr>
          <a:xfrm>
            <a:off x="548640" y="4959096"/>
            <a:ext cx="5431536" cy="1258824"/>
          </a:xfrm>
          <a:prstGeom prst="roundRect">
            <a:avLst>
              <a:gd name="adj" fmla="val 8717"/>
            </a:avLst>
          </a:prstGeom>
          <a:solidFill>
            <a:srgbClr val="EAF3F1"/>
          </a:solidFill>
          <a:ln w="12700">
            <a:solidFill>
              <a:srgbClr val="EAF3F1"/>
            </a:solidFill>
            <a:prstDash val="solid"/>
          </a:ln>
        </p:spPr>
      </p:sp>
      <p:sp>
        <p:nvSpPr>
          <p:cNvPr id="4" name="S14-cardtext170"/>
          <p:cNvSpPr txBox="1"/>
          <p:nvPr/>
        </p:nvSpPr>
        <p:spPr>
          <a:xfrm>
            <a:off x="822960" y="5096256"/>
            <a:ext cx="4882896"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열쇠 낱말을 듣고 따라 말해요.</a:t>
            </a:r>
            <a:endParaRPr lang="ko-KR" sz="3000" dirty="0"/>
          </a:p>
        </p:txBody>
      </p:sp>
      <p:sp>
        <p:nvSpPr>
          <p:cNvPr id="5" name="S14-card171"/>
          <p:cNvSpPr/>
          <p:nvPr/>
        </p:nvSpPr>
        <p:spPr>
          <a:xfrm>
            <a:off x="6208776" y="4959096"/>
            <a:ext cx="5431536" cy="1258824"/>
          </a:xfrm>
          <a:prstGeom prst="roundRect">
            <a:avLst>
              <a:gd name="adj" fmla="val 8717"/>
            </a:avLst>
          </a:prstGeom>
          <a:solidFill>
            <a:srgbClr val="EAF3F1"/>
          </a:solidFill>
          <a:ln w="12700">
            <a:solidFill>
              <a:srgbClr val="EAF3F1"/>
            </a:solidFill>
            <a:prstDash val="solid"/>
          </a:ln>
        </p:spPr>
      </p:sp>
      <p:sp>
        <p:nvSpPr>
          <p:cNvPr id="6" name="S14-cardtext172"/>
          <p:cNvSpPr txBox="1"/>
          <p:nvPr/>
        </p:nvSpPr>
        <p:spPr>
          <a:xfrm>
            <a:off x="6483096" y="5096256"/>
            <a:ext cx="4882896"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가운데 소리를 찾아요.</a:t>
            </a:r>
            <a:endParaRPr lang="ko-KR" sz="3000" dirty="0"/>
          </a:p>
        </p:txBody>
      </p:sp>
      <p:sp>
        <p:nvSpPr>
          <p:cNvPr id="7" name="S14-tile173"/>
          <p:cNvSpPr txBox="1"/>
          <p:nvPr/>
        </p:nvSpPr>
        <p:spPr>
          <a:xfrm>
            <a:off x="2263140" y="2113788"/>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a</a:t>
            </a:r>
            <a:endParaRPr lang="ko-KR" sz="5900" dirty="0"/>
          </a:p>
        </p:txBody>
      </p:sp>
      <p:sp>
        <p:nvSpPr>
          <p:cNvPr id="8" name="S14-label174"/>
          <p:cNvSpPr txBox="1"/>
          <p:nvPr/>
        </p:nvSpPr>
        <p:spPr>
          <a:xfrm>
            <a:off x="2162556" y="3521964"/>
            <a:ext cx="1572768"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cat</a:t>
            </a:r>
            <a:endParaRPr lang="ko-KR" sz="2000" dirty="0"/>
          </a:p>
        </p:txBody>
      </p:sp>
      <p:sp>
        <p:nvSpPr>
          <p:cNvPr id="9" name="S14-tile175"/>
          <p:cNvSpPr txBox="1"/>
          <p:nvPr/>
        </p:nvSpPr>
        <p:spPr>
          <a:xfrm>
            <a:off x="3835908" y="2113788"/>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e</a:t>
            </a:r>
            <a:endParaRPr lang="ko-KR" sz="5900" dirty="0"/>
          </a:p>
        </p:txBody>
      </p:sp>
      <p:sp>
        <p:nvSpPr>
          <p:cNvPr id="10" name="S14-label176"/>
          <p:cNvSpPr txBox="1"/>
          <p:nvPr/>
        </p:nvSpPr>
        <p:spPr>
          <a:xfrm>
            <a:off x="3735324" y="3521964"/>
            <a:ext cx="1572768"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bed</a:t>
            </a:r>
            <a:endParaRPr lang="ko-KR" sz="2000" dirty="0"/>
          </a:p>
        </p:txBody>
      </p:sp>
      <p:sp>
        <p:nvSpPr>
          <p:cNvPr id="11" name="S14-tile177"/>
          <p:cNvSpPr txBox="1"/>
          <p:nvPr/>
        </p:nvSpPr>
        <p:spPr>
          <a:xfrm>
            <a:off x="5408676" y="2113788"/>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i</a:t>
            </a:r>
            <a:endParaRPr lang="ko-KR" sz="5900" dirty="0"/>
          </a:p>
        </p:txBody>
      </p:sp>
      <p:sp>
        <p:nvSpPr>
          <p:cNvPr id="12" name="S14-label178"/>
          <p:cNvSpPr txBox="1"/>
          <p:nvPr/>
        </p:nvSpPr>
        <p:spPr>
          <a:xfrm>
            <a:off x="5308092" y="3521964"/>
            <a:ext cx="1572768"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pig</a:t>
            </a:r>
            <a:endParaRPr lang="ko-KR" sz="2000" dirty="0"/>
          </a:p>
        </p:txBody>
      </p:sp>
      <p:sp>
        <p:nvSpPr>
          <p:cNvPr id="13" name="S14-tile179"/>
          <p:cNvSpPr txBox="1"/>
          <p:nvPr/>
        </p:nvSpPr>
        <p:spPr>
          <a:xfrm>
            <a:off x="6981444" y="2113788"/>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o</a:t>
            </a:r>
            <a:endParaRPr lang="ko-KR" sz="5900" dirty="0"/>
          </a:p>
        </p:txBody>
      </p:sp>
      <p:sp>
        <p:nvSpPr>
          <p:cNvPr id="14" name="S14-label180"/>
          <p:cNvSpPr txBox="1"/>
          <p:nvPr/>
        </p:nvSpPr>
        <p:spPr>
          <a:xfrm>
            <a:off x="6880860" y="3521964"/>
            <a:ext cx="1572768"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dog</a:t>
            </a:r>
            <a:endParaRPr lang="ko-KR" sz="2000" dirty="0"/>
          </a:p>
        </p:txBody>
      </p:sp>
      <p:sp>
        <p:nvSpPr>
          <p:cNvPr id="15" name="S14-tile181"/>
          <p:cNvSpPr txBox="1"/>
          <p:nvPr/>
        </p:nvSpPr>
        <p:spPr>
          <a:xfrm>
            <a:off x="8554212" y="2113788"/>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u</a:t>
            </a:r>
            <a:endParaRPr lang="ko-KR" sz="5900" dirty="0"/>
          </a:p>
        </p:txBody>
      </p:sp>
      <p:sp>
        <p:nvSpPr>
          <p:cNvPr id="16" name="S14-label182"/>
          <p:cNvSpPr txBox="1"/>
          <p:nvPr/>
        </p:nvSpPr>
        <p:spPr>
          <a:xfrm>
            <a:off x="8453628" y="3521964"/>
            <a:ext cx="1572768" cy="402336"/>
          </a:xfrm>
          <a:prstGeom prst="rect">
            <a:avLst/>
          </a:prstGeom>
          <a:noFill/>
          <a:ln/>
        </p:spPr>
        <p:txBody>
          <a:bodyPr wrap="square" lIns="0" tIns="0" rIns="0" bIns="0" rtlCol="0" anchor="ctr"/>
          <a:lstStyle/>
          <a:p>
            <a:pPr eaLnBrk="0" algn="ctr" indent="0" marL="0">
              <a:buNone/>
            </a:pPr>
            <a:r>
              <a:rPr lang="en-US" altLang="ko-KR" sz="2000" dirty="0">
                <a:solidFill>
                  <a:srgbClr val="4B5563"/>
                </a:solidFill>
                <a:latin typeface="맑은 고딕" pitchFamily="34" charset="0"/>
                <a:ea typeface="맑은 고딕" pitchFamily="34" charset="-122"/>
                <a:cs typeface="맑은 고딕" pitchFamily="34" charset="-120"/>
              </a:rPr>
              <a:t>sun</a:t>
            </a:r>
            <a:endParaRPr lang="ko-KR" sz="2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초4 영어 세 글자 낱말 읽고 쓰기</dc:title>
  <dc:subject>KR22-G04-ENG-CVC-L01</dc:subject>
  <dc:creator>education-ppt</dc:creator>
  <cp:lastModifiedBy>education-ppt</cp:lastModifiedBy>
  <cp:revision>1</cp:revision>
  <dcterms:created xsi:type="dcterms:W3CDTF">2026-10-26T09:07:35Z</dcterms:created>
  <dcterms:modified xsi:type="dcterms:W3CDTF">2026-10-26T09:07:35Z</dcterms:modified>
</cp:coreProperties>
</file>