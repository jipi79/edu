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106afeb-ec6c-321d-d02e-354c6bbfb813}">
          <p14:sldIdLst>
            <p14:sldId id="256"/>
            <p14:sldId id="257"/>
          </p14:sldIdLst>
        </p14:section>
        <p14:section name="개념" id="{c32e84b3-752a-46fa-7c33-4139a5c90f09}">
          <p14:sldIdLst>
            <p14:sldId id="258"/>
            <p14:sldId id="259"/>
            <p14:sldId id="261"/>
            <p14:sldId id="263"/>
          </p14:sldIdLst>
        </p14:section>
        <p14:section name="연습" id="{94d75070-8662-7e7a-e57d-9ed4fc13c680}">
          <p14:sldIdLst>
            <p14:sldId id="260"/>
            <p14:sldId id="262"/>
            <p14:sldId id="264"/>
            <p14:sldId id="265"/>
            <p14:sldId id="266"/>
            <p14:sldId id="267"/>
          </p14:sldIdLst>
        </p14:section>
        <p14:section name="개념" id="{47e62250-b61a-52b1-5df2-49360ed80774}">
          <p14:sldIdLst/>
        </p14:section>
        <p14:section name="연습" id="{3fc906f6-f26d-0ee3-c2ce-1b8f05dacf00}">
          <p14:sldIdLst/>
        </p14:section>
        <p14:section name="개념" id="{b1446a0a-7cf2-1f99-e690-5561ca928932}">
          <p14:sldIdLst/>
        </p14:section>
        <p14:section name="연습" id="{1c45426a-ff00-7c96-59b1-5de34d34be97}">
          <p14:sldIdLst/>
        </p14:section>
        <p14:section name="확인" id="{2ed01786-155a-52cb-fdde-41067b69b843}">
          <p14:sldIdLst>
            <p14:sldId id="268"/>
            <p14:sldId id="269"/>
            <p14:sldId id="270"/>
          </p14:sldIdLst>
        </p14:section>
        <p14:section name="정리" id="{0d18d22f-dff0-0438-cc67-8428641b2e45}">
          <p14:sldIdLst>
            <p14:sldId id="271"/>
          </p14:sldIdLst>
        </p14:section>
        <p14:section name="보충" id="{eb92689b-380b-3a1e-04ac-39e717481eb5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알리고, 생물들이 먹고 먹히는 관계로 이어져 있다는 데 궁금증을 갖게 합니다.
시간: 약 2분
이렇게 말해 보세요
- “논에서 메뚜기는 무엇을 먹을까? 그 메뚜기는 누가 먹을까?”
- “오늘은 생물들이 먹이로 어떻게 이어져 있는지 알아보고, 카드로 먹이 그물을 만들어 볼 거야.”
예상 답
- “메뚜기는 풀을 먹어요.” “개구리가 메뚜기를 먹어요.” 어떤 답이든 괜찮습니다.
막히면
- 그림의 화살표를 가리키며 “벼에서 메뚜기로 화살표가 있네. 무슨 뜻일까?”라고만 묻습니다. 화살표 약속은 S06에서 정리합니다.
주의
- 생물 카드 7장(S10)은 미리 만들어 두면 시간이 절약됩니다. 아이가 직접 쓰게 해도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확인(식물의 한살이, 동물의 먹이)]
목적: 계획상 선수 차시인 초3 ‘식물의 한살이’(KR22-G03-SCI-PLANTLIFE-L01)에서 배운 식물이 자라는 모습과, 오늘 먹이 사슬을 만들 때 필요한 ‘동물은 다른 생물을 먹고 산다’는 경험을 확인합니다. ②는 식물이 햇빛을 받아 스스로 양분을 만든다(S04)는 내용으로 이어집니다.
시간: 약 2분
이렇게 말해 보세요
- “① 3학년 때 강낭콩을 심어 기른 것 기억나? 씨에서 시작해서 어떻게 자랐지?”
- “② 강낭콩 화분은 어디에 두고, 무엇을 주어야 잘 자랄까?”
- “③ 토끼는 무엇을 먹을까? 개구리는?”
정답
- ① 씨 → 싹 트기 → 잎과 줄기 자라기 → 꽃 피기 → 열매 맺기(열매 속에 다시 씨가 생김)
- ② 햇빛이 잘 드는 곳에 두고 물을 준다(알맞은 온도도 맞음)
- ③ 토끼는 풀·채소 같은 식물, 개구리는 메뚜기·파리 같은 곤충
막히면
- ①②가 어려우면 S17(보충)을 먼저 합니다. 보충으로도 어려우면 초3 ‘식물의 한살이’(KR22-G03-SCI-PLANTLIFE-L01)를 먼저 합니다.
- ③이 어려우면 S17의 표를 함께 읽고, 동물의 생활이 낯설면 초3 ‘동물의 생김새와 생활’(KR22-G03-SCI-ANIMAL-L01)도 함께 봅니다.
주의
- ②에서 ‘흙을 먹어요’라고 답하면 그대로 두고, S04에서 식물은 햇빛을 받아 스스로 양분을 만든다는 것으로 바로잡습니다(오해 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생태계와 생물·비생물 요소]
목적: 생태계의 뜻을 알고, 생태계를 이루는 것을 생물 요소와 비생물 요소로 나눕니다(목표 A).
시간: 약 2분
이렇게 말해 보세요
- “연못에는 무엇이 있을까? 물고기, 개구리, 물풀… 그리고 물, 햇빛, 흙도 있지?”
- “살아 있는 것은 생물 요소, 살아 있지 않은 것은 비생물 요소라고 해. 햇빛은 어느 쪽일까?”
예상 답
- “햇빛은 살아 있지 않으니까 비생물 요소예요.” “개구리는 생물 요소예요.”
막히면
- 창밖이나 화단을 보며 보이는 것을 하나씩 말하고 ‘살아 있어?’라고 물어 두 무리로 나눕니다.
주의
- 생물과 비생물 요소는 서로 영향을 주고받습니다(예: 햇빛이 있어야 식물이 자람). 아이가 예를 들면 칭찬합니다.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생산자·소비자·분해자]
목적: 생물을 양분을 얻는 방법에 따라 생산자·소비자·분해자로 나눕니다(목표 A, 오해 M2·M4).
시간: 약 3분
이렇게 말해 보세요
- “식물은 다른 생물을 먹지 않아. 햇빛을 받아 스스로 양분을 만들어. 그래서 ‘생산자’라고 해.”
- “메뚜기나 개구리처럼 다른 생물을 먹어서 양분을 얻는 생물은 ‘소비자’야. 우리는?”
- “숲에 떨어진 낙엽은 왜 끝없이 쌓이지 않을까? 곰팡이와 세균이 분해해서 흙으로 돌려보내기 때문이야. 이런 생물을 ‘분해자’라고 해.”
예상 답
- “사람도 소비자예요.” “곰팡이는 분해자예요.”
막히면
- ‘만든다(생산자) / 먹는다(소비자) / 분해한다(분해자)’ 세 낱말만 먼저 짝지어 말하게 합니다.
주의
- 식물은 뿌리로 물과 흙 속의 물질을 흡수하지만, 동물처럼 다른 생물을 먹는 것은 아닙니다. ‘양분을 스스로 만든다’는 것이 핵심입니다(오해 M2).
- 버섯은 식물이 아니라 곰팡이와 같은 무리로, 분해자입니다. 곰팡이·세균은 해롭기만 한 것이 아니라 생태계에 꼭 필요합니다(오해 M4).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생산자·소비자·분해자로 나누기]
목적: 도움을 받으며 생물을 생산자·소비자·분해자로 나누고, 생물이 아닌 것을 가려냅니다(목표 A).
시간: 약 3분
이렇게 말해 보세요
- “①부터 말해 볼래? 이 생물은 양분을 어떻게 얻을까?”
- “⑤ 햇빛은 생물일까?”
정답
- ① 생산자
- ② 소비자
- ③ 분해자
- ④ 소비자(다른 곤충을 먹음)
- ⑤ 생물이 아님(비생물 요소)
- ⑥ 생산자
막히면
- S04 표를 다시 보여 주고 ‘스스로 만들어? 먹어? 분해해?’를 차례로 묻습니다.
주의
- 활동지 1에서 다른 생물로 한 번 더 나눠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먹이 사슬과 화살표 약속]
목적: 먹이 사슬의 뜻과 화살표를 그리는 약속(먹히는 생물 → 먹는 생물)을 익힙니다(목표 B, 오해 M1).
시간: 약 2분
이렇게 말해 보세요
- “메뚜기는 벼를 먹지? 그래서 벼에서 메뚜기 쪽으로 화살표를 그려. 화살표는 먹히는 생물에서 먹는 생물 쪽으로 그리기로 약속해.”
- “화살표는 먹이(양분)가 옮겨 가는 쪽이라고 생각하면 쉬워. 개구리를 먹는 것은?”
예상 답
- “뱀이요. 개구리에서 뱀 쪽으로 화살표를 그려요.”
막히면
- 아이가 ‘개구리 → 메뚜기’로 말하면, 메뚜기의 양분이 개구리 몸으로 간다는 것을 손가락으로 따라가며 보여 줍니다.
주의
- 우리 교과서는 화살표를 ‘먹히는 생물 → 먹는 생물’로 그립니다. 다른 책에서 반대로 그린 것을 보면, 그 책의 설명을 먼저 읽게 합니다.
- 먹이 사슬은 생산자(식물)에서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먹이 사슬 잇기]
목적: 도움을 받으며 세 생물을 먹이 사슬로 잇고 화살표 방향을 지킵니다(목표 B, 오해 M1). 활동지 2에 씁니다.
시간: 약 3분
이렇게 말해 보세요
- “①에서 식물은 무엇이야? 그걸 먹는 동물은? 그 동물을 먹는 동물은?”
- “화살표를 손가락으로 그려 볼까? 어느 쪽으로 가야 해?”
정답
- ① 풀 → 토끼 → 여우
- ② 파리 → 개구리 → 뱀
- ③ 벼 → 쥐 → 부엉이
막히면
- ‘누가 누구를 먹지?’를 먼저 말로 하고, 먹히는 생물을 왼쪽에 놓게 합니다.
- ②처럼 식물이 없는 사슬은 ‘가장 작은 먹이’부터 시작합니다. 파리도 다른 것을 먹고 사는 소비자라고 덧붙여도 됩니다.
주의
- 여우는 토끼, 들쥐, 새 등을, 부엉이는 쥐 같은 작은 동물을 잡아먹습니다. 실제로 있는 관계만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먹이 그물]
목적: 여러 먹이 사슬이 얽힌 먹이 그물을 읽습니다(목표 B).
시간: 약 2분
이렇게 말해 보세요
- “벼에서 시작하는 화살표가 몇 개야? 벼를 먹는 생물은 누구누구야?”
- “참새는 무엇을 먹어? 화살표 두 개가 참새로 들어가지? 이 그물 안에서 먹이 사슬을 하나 찾아 말해 볼래?”
예상 답
- “벼를 먹는 건 메뚜기, 쥐, 참새예요.” “참새는 벼와 메뚜기를 먹어요.” “벼 → 쥐 → 뱀이요.”
막히면
- 손가락으로 화살표 하나를 따라가며 ‘○○은 ○○를 먹어요’ 문장으로 읽게 합니다.
주의
- 이 그림은 논과 그 둘레에서 실제로 있는 먹이 관계 가운데 일부만 골라 그린 것입니다. 실제 생태계에는 훨씬 많은 생물과 화살표가 있습니다.
- 지치면 여기서 쉬고, 다음에 S09부터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카드 모형 전 예상하기]
목적: 카드 모형으로 확인하기 전에, 메뚜기가 사라지면 다른 생물이 어떻게 될지 예상하고 까닭을 말합니다(목표 B, 오해 M3). 결과는 S10에서 확인합니다.
시간: 약 1분
이렇게 말해 보세요
- “메뚜기가 모두 사라지면 개구리는 어떻게 될까? 참새는? 벼는? 왜 그렇게 생각해?”
- “예상은 활동지 3의 ‘내 예상’ 칸에 써 줘.”
예상 답
- 어떤 예상이든 괜찮습니다. “메뚜기만 없어지니까 다른 생물은 괜찮을 것 같아요.” “개구리가 배고플 것 같아요.”
막히면
- S08 그림을 보면서 생각해도 됩니다.
주의
- 결과를 알려 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카드 먹이 그물에서 한 생물 빼기]
목적: 카드와 털실로 먹이 그물 모형을 만들고, 메뚜기 카드를 빼서 다른 생물이 받는 영향을 화살표를 따라가며 찾습니다(목표 B, 오해 M3).
시간: 약 5분
이렇게 말해 보세요
- “먼저 활동지 4에 화살표 8개를 그려 보자. 그다음 카드를 바닥에 같은 자리에 놓고 털실로 이어 볼까?”
- “이제 메뚜기 카드를 빼 보자. 메뚜기와 이어진 털실은 어디 어디로 가 있었어?”
- “개구리는 메뚜기 말고 먹을 것이 있어? 참새는?”
예상 답
- “개구리는 메뚜기만 먹으니까 먹이가 없어져요.” “참새는 벼를 먹으면 돼요.” “벼는 메뚜기가 안 먹으니까 더 많아질 것 같아요.”
막히면
- 털실 대신 활동지 4의 그림에서 메뚜기에 ×를 하고, 메뚜기에서 나가는 화살표와 들어오는 화살표를 색연필로 칠하게 합니다.
주의
- 이 그물 안에서만 생각합니다. 실제 개구리는 메뚜기 말고도 여러 곤충을 먹으므로, 실제 생태계에서는 영향이 이보다 작을 수 있습니다.
- 뱀은 개구리가 줄면 쥐를 더 먹게 되어, 쥐에게도 영향이 갈 수 있습니다. 아이가 여기까지 찾으면 크게 칭찬합니다.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카드 모형 결과 정리]
목적: 카드 모형의 결과를 정리하고 예상과 비교합니다(목표 B).
시간: 약 2분
이렇게 말해 보세요
- “개구리는 어떻게 될까? 왜 그렇게 생각해? 참새와 벼는?”
- “예상과 같은 것, 다른 것은 뭐야?”
예상 답
- 개구리: 먹이가 없어져 줄어든다 / 까닭: 이 그물에서 개구리의 먹이는 메뚜기뿐
- 참새: 크게 줄지는 않는다 / 까닭: 벼를 먹을 수 있다
- 벼: 늘어날 수 있다 / 까닭: 벼를 먹던 메뚜기가 없어졌다
막히면
- S10의 카드와 털실을 다시 보며 화살표를 하나씩 따라갑니다.
주의
- 화면의 빈칸은 아이가 말로 채우는 자리입니다. 결과는 활동지 3의 ‘결과’ 칸에 씁니다.
- ‘줄어든다·늘어난다’는 이 그물 안에서 생각한 결과입니다. 정확한 수는 다루지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오해 비교(다른 생물은 영향이 없다)]
목적: ‘한 생물이 사라져도 다른 생물은 영향이 없다’는 생각을 카드 모형의 결과로 바로잡습니다(목표 B, 오해 M3).
시간: 약 2분
이렇게 말해 보세요
- “토끼는 다른 생물은 괜찮대. 곰은 개구리가 줄어든대. 누구 말이 맞을까?”
- “카드 모형에서 개구리로 들어오는 화살표는 몇 개였어? 어디서 왔어?”
정답
- 곰. 증거: 카드 모형에서 개구리로 들어오는 화살표는 메뚜기에서 오는 것 하나뿐이어서, 메뚜기 카드를 빼자 개구리의 먹이가 없어졌습니다.
- 또 다른 증거: 메뚜기를 먹던 참새, 메뚜기에게 먹히던 벼도 이어져 있어서 영향을 받습니다.
막히면
- 카드 모형에서 메뚜기 카드를 다시 놓았다 빼며, 끊긴 털실을 세어 보게 합니다.
주의
- 증거를 하나 이상 말하면 잘한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혼자 해결]
목적: 도움 없이 생물의 분류(①), 먹이 사슬 잇기(②), 먹이 그물에서의 영향(③)을 말하는지 확인합니다(목표 A·B).
시간: 약 3분
이렇게 말해 보세요
- “이번에는 혼자 답해 볼래? 왜 그렇게 생각했는지도 말해 줘.”
정답
- ① 분해자
- ② 벼 → 메뚜기 → 개구리 → 뱀
- ③ 기준: 뱀은 개구리를 먹을 수 있어서 먹이가 모두 없어지지는 않지만 먹이가 줄어든다. 개구리를 더 많이 먹게 되어 개구리가 줄 수도 있다. ‘다른 먹이(개구리)가 있다’는 까닭을 말하면 맞음
막히면
- 바로 알려 주지 말고 “버섯은 양분을 어떻게 얻지?”, “식물부터 시작해 볼까?”, “뱀으로 들어오는 화살표는 어디서 와?”라고만 묻습니다.
- 도움을 받아 해결했다면 기록표에 ‘도움’으로 표시합니다.
주의
- ②에서 화살표 방향을 거꾸로 말하면 오해 M1입니다. S06을 다시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정답과 피드백]
목적: 아이의 답을 함께 확인하고 흔한 실수를 바로잡습니다. 수업용에만 있는 장입니다.
시간: 약 2분
이렇게 말해 보세요
- “네 답과 같은지 볼까? 다르면 어디서 달라졌는지 찾아보자.”
정답
- ① 분해자 ② 벼 → 메뚜기 → 개구리 → 뱀 ③ 개구리를 먹을 수 있지만 먹이가 줄어든다(개구리가 더 많이 먹힐 수 있다)
막히면
- ①이 틀리면 S04로, ②가 틀리면 S06·S07로(M1), ③이 틀리면 S10~S12로(M3)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마무리 확인(화살표 방향)]
목적: 처음 보는 문제에서 화살표 약속에 맞는 먹이 사슬을 고르고 까닭을 말하는지 확인합니다(목표 B, 오해 M1).
시간: 약 2분
이렇게 말해 보세요
- “어느 것이 바르게 그린 먹이 사슬일까? 왜 그렇게 생각해?”
정답
- 나. 먹이 사슬은 생산자(풀)에서 시작하고, 화살표는 먹히는 생물에서 먹는 생물 쪽으로 그리기 때문입니다.
막히면
- S06의 ‘화살표 약속’ 카드를 다시 보여 줍니다.
주의
- 가를 고르면 오해 M1입니다. 다·라는 먹고 먹히는 관계가 틀렸습니다. 답만 맞히고 까닭을 말하지 못하면 기록표에 ‘답만’으로 적습니다.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정리와 다음 수업 복습]
목적: 핵심을 정리하고 다음 수업 첫 5분에 풀 복습 문제를 알려 줍니다.
시간: 약 1분
이렇게 말해 보세요
- “생물들은 서로 어떻게 이어져 있는지 이제 설명해 볼래?”
예상 답
- “먹고 먹히는 관계로 이어져 있어요. 그래서 하나가 사라지면 다른 생물도 영향을 받아요.”
정답
- ① 생산자 ② 분해자 ③ 벼 → 메뚜기 → 개구리
막히면
- S04, S06, S08을 다시 보여 줍니다.
주의
- 복습 세 문제는 다음 수업을 시작할 때 활동지 마지막 쪽과 함께 풉니다.
- 다음 시간에는 컵과 물로 공기 실험을 합니다. 투명한 플라스틱 컵, 대야, 휴지를 준비해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[S17 · 선수 학습 보충(식물과 동물이 자라는 데 필요한 것)]
목적: S02가 흔들리면, 식물은 햇빛과 물로 자라고 동물은 다른 생물을 먹고 자란다는 차이를 먼저 익힙니다. 오늘 생산자와 소비자를 나눌 때 필요합니다.
시간: 약 4분
이렇게 말해 보세요
- “강낭콩을 기를 때 무엇을 해 주었지? 강낭콩은 무언가를 잡아먹었어?”
- “토끼는 무엇을 먹지? 개구리는? 표를 같이 읽어 보자.”
예상 답
- “물을 주고 햇빛에 두었어요.” “강낭콩은 아무것도 안 먹어요.” “개구리는 곤충을 먹어요.”
막히면
- 집에 있는 화분을 보며 ‘햇빛이 드는 쪽으로 잎이 향해 있는지’ 함께 살펴봅니다. 그림책이나 도감에서 동물이 먹이를 먹는 장면을 찾아봅니다.
주의
- 계획상 선수 차시는 초3 ‘식물의 한살이’(KR22-G03-SCI-PLANTLIFE-L01)입니다. 보충으로도 어려우면 그 차시를 먼저 합니다. 동물의 먹이가 낯설면 초3 ‘동물의 생김새와 생활’(KR22-G03-SCI-ANIMAL-L01)을 함께 봅니다.
- 식물이 햇빛을 받아 스스로 양분을 만드는 것은 S04에서 다룹니다.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생물과기체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생태계와 먹이 관계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생태계와 먹이 관계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과학 · 생태계와 먹이 관계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생태계와 먹이 관계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생물들은 서로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이어져 있을까?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벼 → 메뚜기 → 개구리"/>
          <p:cNvSpPr/>
          <p:nvPr/>
        </p:nvSpPr>
        <p:spPr>
          <a:xfrm>
            <a:off x="8900009" y="2904352"/>
            <a:ext cx="1493822" cy="570368"/>
          </a:xfrm>
          <a:custGeom>
            <a:avLst/>
            <a:gdLst/>
            <a:ahLst/>
            <a:cxnLst/>
            <a:rect l="l" t="t" r="r" b="b"/>
            <a:pathLst>
              <a:path w="1493822" h="570368">
                <a:moveTo>
                  <a:pt x="0" y="570368"/>
                </a:moveTo>
                <a:lnTo>
                  <a:pt x="1493822" y="570368"/>
                </a:lnTo>
                <a:lnTo>
                  <a:pt x="1493822" y="0"/>
                </a:lnTo>
                <a:lnTo>
                  <a:pt x="0" y="0"/>
                </a:lnTo>
                <a:close/>
              </a:path>
            </a:pathLst>
          </a:custGeom>
          <a:solidFill>
            <a:srgbClr val="E3F4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8900009" y="1817936"/>
            <a:ext cx="1493822" cy="570368"/>
          </a:xfrm>
          <a:custGeom>
            <a:avLst/>
            <a:gdLst/>
            <a:ahLst/>
            <a:cxnLst/>
            <a:rect l="l" t="t" r="r" b="b"/>
            <a:pathLst>
              <a:path w="1493822" h="570368">
                <a:moveTo>
                  <a:pt x="0" y="570368"/>
                </a:moveTo>
                <a:lnTo>
                  <a:pt x="1493822" y="570368"/>
                </a:lnTo>
                <a:lnTo>
                  <a:pt x="149382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8900009" y="731520"/>
            <a:ext cx="1493822" cy="570368"/>
          </a:xfrm>
          <a:custGeom>
            <a:avLst/>
            <a:gdLst/>
            <a:ahLst/>
            <a:cxnLst/>
            <a:rect l="l" t="t" r="r" b="b"/>
            <a:pathLst>
              <a:path w="1493822" h="570368">
                <a:moveTo>
                  <a:pt x="0" y="570368"/>
                </a:moveTo>
                <a:lnTo>
                  <a:pt x="1493822" y="570368"/>
                </a:lnTo>
                <a:lnTo>
                  <a:pt x="149382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 flipV="1">
            <a:off x="9646920" y="2442625"/>
            <a:ext cx="0" cy="407406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9" name="S01-mark6"/>
          <p:cNvSpPr/>
          <p:nvPr/>
        </p:nvSpPr>
        <p:spPr>
          <a:xfrm flipV="1">
            <a:off x="9646920" y="1356209"/>
            <a:ext cx="0" cy="407406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1-label8"/>
          <p:cNvSpPr txBox="1"/>
          <p:nvPr/>
        </p:nvSpPr>
        <p:spPr>
          <a:xfrm>
            <a:off x="9442704" y="2999036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벼</a:t>
            </a:r>
            <a:endParaRPr lang="ko-KR" sz="2400" dirty="0"/>
          </a:p>
        </p:txBody>
      </p:sp>
      <p:sp>
        <p:nvSpPr>
          <p:cNvPr id="11" name="S01-label10"/>
          <p:cNvSpPr txBox="1"/>
          <p:nvPr/>
        </p:nvSpPr>
        <p:spPr>
          <a:xfrm>
            <a:off x="9144000" y="1912620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메뚜기</a:t>
            </a:r>
            <a:endParaRPr lang="ko-KR" sz="2400" dirty="0"/>
          </a:p>
        </p:txBody>
      </p:sp>
      <p:sp>
        <p:nvSpPr>
          <p:cNvPr id="12" name="S01-label12"/>
          <p:cNvSpPr txBox="1"/>
          <p:nvPr/>
        </p:nvSpPr>
        <p:spPr>
          <a:xfrm>
            <a:off x="9144000" y="826204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개구리</a:t>
            </a:r>
            <a:endParaRPr lang="ko-KR" sz="2400" dirty="0"/>
          </a:p>
        </p:txBody>
      </p:sp>
      <p:sp>
        <p:nvSpPr>
          <p:cNvPr id="13" name="S01-card13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4" name="S01-cardtext14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생물을 생산자·소비자·분해자로 나눠요.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먹이 사슬과 먹이 그물을 화살표로 나타내요.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3학년 기억하기</a:t>
            </a:r>
            <a:endParaRPr lang="ko-KR" sz="4000" dirty="0"/>
          </a:p>
        </p:txBody>
      </p:sp>
      <p:sp>
        <p:nvSpPr>
          <p:cNvPr id="3" name="S02-chip1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16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강낭콩의 한살이를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차례대로 말해요.</a:t>
            </a:r>
            <a:endParaRPr lang="ko-KR" sz="3000" dirty="0"/>
          </a:p>
        </p:txBody>
      </p:sp>
      <p:sp>
        <p:nvSpPr>
          <p:cNvPr id="5" name="S02-chip17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18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강낭콩이 잘 자라려면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필요할까요?</a:t>
            </a:r>
            <a:endParaRPr lang="ko-KR" sz="3000" dirty="0"/>
          </a:p>
        </p:txBody>
      </p:sp>
      <p:sp>
        <p:nvSpPr>
          <p:cNvPr id="7" name="S02-chip19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text20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토끼와 개구리는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먹고 살까요?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생태계</a:t>
            </a:r>
            <a:endParaRPr lang="ko-KR" sz="4000" dirty="0"/>
          </a:p>
        </p:txBody>
      </p:sp>
      <p:sp>
        <p:nvSpPr>
          <p:cNvPr id="3" name="S03-text21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곳에서 서로 영향을 주고받는 생물과 환경을 모두 합해 생태계라고 해요.</a:t>
            </a:r>
            <a:endParaRPr lang="ko-KR" sz="3000" dirty="0"/>
          </a:p>
        </p:txBody>
      </p:sp>
      <p:sp>
        <p:nvSpPr>
          <p:cNvPr id="4" name="S03-card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연못, 숲, 화단도 하나의 생태계예요.</a:t>
            </a:r>
            <a:endParaRPr lang="ko-KR" sz="3000" dirty="0"/>
          </a:p>
        </p:txBody>
      </p:sp>
      <p:sp>
        <p:nvSpPr>
          <p:cNvPr id="6" name="S03-card24"/>
          <p:cNvSpPr/>
          <p:nvPr/>
        </p:nvSpPr>
        <p:spPr>
          <a:xfrm>
            <a:off x="548640" y="268224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25"/>
          <p:cNvSpPr txBox="1"/>
          <p:nvPr/>
        </p:nvSpPr>
        <p:spPr>
          <a:xfrm>
            <a:off x="822960" y="281940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생물 요소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살아 있는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식물, 동물, 곰팡이, 세균</a:t>
            </a:r>
            <a:endParaRPr lang="ko-KR" sz="3000" dirty="0"/>
          </a:p>
        </p:txBody>
      </p:sp>
      <p:sp>
        <p:nvSpPr>
          <p:cNvPr id="8" name="S03-card26"/>
          <p:cNvSpPr/>
          <p:nvPr/>
        </p:nvSpPr>
        <p:spPr>
          <a:xfrm>
            <a:off x="6208776" y="268224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27"/>
          <p:cNvSpPr txBox="1"/>
          <p:nvPr/>
        </p:nvSpPr>
        <p:spPr>
          <a:xfrm>
            <a:off x="6483096" y="281940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비생물 요소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살아 있지 않은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햇빛, 물, 공기, 흙, 온도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양분을 얻는 방법</a:t>
            </a:r>
            <a:endParaRPr lang="ko-KR" sz="4000" dirty="0"/>
          </a:p>
        </p:txBody>
      </p:sp>
      <p:sp>
        <p:nvSpPr>
          <p:cNvPr id="3" name="S04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분해자 덕분에 죽은 생물이 썩어 흙으로 돌아가요.</a:t>
            </a:r>
            <a:endParaRPr lang="ko-KR" sz="3000" dirty="0"/>
          </a:p>
        </p:txBody>
      </p:sp>
      <p:graphicFrame>
        <p:nvGraphicFramePr>
          <p:cNvPr id="5" name="S04-table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129028"/>
          <a:ext cx="10972800" cy="914400"/>
        </p:xfrm>
        <a:graphic>
          <a:graphicData uri="http://schemas.openxmlformats.org/drawingml/2006/table">
            <a:tbl>
              <a:tblPr/>
              <a:tblGrid>
                <a:gridCol w="1755648"/>
                <a:gridCol w="2852928"/>
                <a:gridCol w="2852928"/>
                <a:gridCol w="3511296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소비자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분해자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어떻게?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햇빛을 받아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스스로 만들어요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다른 생물을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먹어요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죽은 생물·배출물을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분해해요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벼, 풀, 나무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메뚜기, 개구리,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곰팡이, 세균,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버섯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들어갈까요?</a:t>
            </a:r>
            <a:endParaRPr lang="ko-KR" sz="4000" dirty="0"/>
          </a:p>
        </p:txBody>
      </p:sp>
      <p:sp>
        <p:nvSpPr>
          <p:cNvPr id="3" name="S05-text3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생산자, 소비자, 분해자 중 어디에 들어갈까요?</a:t>
            </a:r>
            <a:endParaRPr lang="ko-KR" sz="3000" dirty="0"/>
          </a:p>
        </p:txBody>
      </p:sp>
      <p:sp>
        <p:nvSpPr>
          <p:cNvPr id="4" name="S05-card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양분을 어떻게 얻는지 생각해요. 생물이 아닌 것도 있어요.</a:t>
            </a:r>
            <a:endParaRPr lang="ko-KR" sz="3000" dirty="0"/>
          </a:p>
        </p:txBody>
      </p:sp>
      <p:sp>
        <p:nvSpPr>
          <p:cNvPr id="6" name="S05-chip3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5-text35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민들레</a:t>
            </a:r>
            <a:endParaRPr lang="ko-KR" sz="3000" dirty="0"/>
          </a:p>
        </p:txBody>
      </p:sp>
      <p:sp>
        <p:nvSpPr>
          <p:cNvPr id="8" name="S05-chip36"/>
          <p:cNvSpPr txBox="1"/>
          <p:nvPr/>
        </p:nvSpPr>
        <p:spPr>
          <a:xfrm>
            <a:off x="6277356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5-text37"/>
          <p:cNvSpPr txBox="1"/>
          <p:nvPr/>
        </p:nvSpPr>
        <p:spPr>
          <a:xfrm>
            <a:off x="7072884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다람쥐</a:t>
            </a:r>
            <a:endParaRPr lang="ko-KR" sz="3000" dirty="0"/>
          </a:p>
        </p:txBody>
      </p:sp>
      <p:sp>
        <p:nvSpPr>
          <p:cNvPr id="10" name="S05-chip3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5-text39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곰팡이</a:t>
            </a:r>
            <a:endParaRPr lang="ko-KR" sz="3000" dirty="0"/>
          </a:p>
        </p:txBody>
      </p:sp>
      <p:sp>
        <p:nvSpPr>
          <p:cNvPr id="12" name="S05-chip40"/>
          <p:cNvSpPr txBox="1"/>
          <p:nvPr/>
        </p:nvSpPr>
        <p:spPr>
          <a:xfrm>
            <a:off x="6277356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5-text41"/>
          <p:cNvSpPr txBox="1"/>
          <p:nvPr/>
        </p:nvSpPr>
        <p:spPr>
          <a:xfrm>
            <a:off x="7072884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사마귀</a:t>
            </a:r>
            <a:endParaRPr lang="ko-KR" sz="3000" dirty="0"/>
          </a:p>
        </p:txBody>
      </p:sp>
      <p:sp>
        <p:nvSpPr>
          <p:cNvPr id="14" name="S05-chip4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400" dirty="0"/>
          </a:p>
        </p:txBody>
      </p:sp>
      <p:sp>
        <p:nvSpPr>
          <p:cNvPr id="15" name="S05-text43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햇빛</a:t>
            </a:r>
            <a:endParaRPr lang="ko-KR" sz="3000" dirty="0"/>
          </a:p>
        </p:txBody>
      </p:sp>
      <p:sp>
        <p:nvSpPr>
          <p:cNvPr id="16" name="S05-chip44"/>
          <p:cNvSpPr txBox="1"/>
          <p:nvPr/>
        </p:nvSpPr>
        <p:spPr>
          <a:xfrm>
            <a:off x="6277356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ko-KR" sz="2400" dirty="0"/>
          </a:p>
        </p:txBody>
      </p:sp>
      <p:sp>
        <p:nvSpPr>
          <p:cNvPr id="17" name="S05-text45"/>
          <p:cNvSpPr txBox="1"/>
          <p:nvPr/>
        </p:nvSpPr>
        <p:spPr>
          <a:xfrm>
            <a:off x="7072884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소나무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먹이 사슬</a:t>
            </a:r>
            <a:endParaRPr lang="ko-KR" sz="4000" dirty="0"/>
          </a:p>
        </p:txBody>
      </p:sp>
      <p:sp>
        <p:nvSpPr>
          <p:cNvPr id="3" name="S06-text4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먹고 먹히는 관계가 사슬처럼 이어진 것을 먹이 사슬이라고 해요.</a:t>
            </a:r>
            <a:endParaRPr lang="ko-KR" sz="3000" dirty="0"/>
          </a:p>
        </p:txBody>
      </p:sp>
      <p:sp>
        <p:nvSpPr>
          <p:cNvPr id="4" name="S06-card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메뚜기는 벼를 먹고, 개구리는 메뚜기를 먹어요.</a:t>
            </a:r>
            <a:endParaRPr lang="ko-KR" sz="3000" dirty="0"/>
          </a:p>
        </p:txBody>
      </p:sp>
      <p:sp>
        <p:nvSpPr>
          <p:cNvPr id="6" name="S06-card49"/>
          <p:cNvSpPr/>
          <p:nvPr/>
        </p:nvSpPr>
        <p:spPr>
          <a:xfrm>
            <a:off x="548640" y="387858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50"/>
          <p:cNvSpPr txBox="1"/>
          <p:nvPr/>
        </p:nvSpPr>
        <p:spPr>
          <a:xfrm>
            <a:off x="822960" y="401574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화살표 약속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먹히는 생물 → 먹는 생물</a:t>
            </a:r>
            <a:endParaRPr lang="ko-KR" sz="3000" dirty="0"/>
          </a:p>
        </p:txBody>
      </p:sp>
      <p:sp>
        <p:nvSpPr>
          <p:cNvPr id="8" name="S06-card51"/>
          <p:cNvSpPr/>
          <p:nvPr/>
        </p:nvSpPr>
        <p:spPr>
          <a:xfrm>
            <a:off x="6208776" y="387858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6-cardtext52"/>
          <p:cNvSpPr txBox="1"/>
          <p:nvPr/>
        </p:nvSpPr>
        <p:spPr>
          <a:xfrm>
            <a:off x="6483096" y="401574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처음은 생산자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먹이 사슬은 식물에서 시작해요.</a:t>
            </a:r>
            <a:endParaRPr lang="ko-KR" sz="3000" dirty="0"/>
          </a:p>
        </p:txBody>
      </p:sp>
      <p:sp>
        <p:nvSpPr>
          <p:cNvPr id="10" name="S06-step53"/>
          <p:cNvSpPr txBox="1"/>
          <p:nvPr/>
        </p:nvSpPr>
        <p:spPr>
          <a:xfrm>
            <a:off x="548640" y="2327910"/>
            <a:ext cx="2464308" cy="1005840"/>
          </a:xfrm>
          <a:prstGeom prst="roundRect">
            <a:avLst>
              <a:gd name="adj" fmla="val 1090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벼</a:t>
            </a:r>
            <a:endParaRPr lang="ko-KR" sz="3000" dirty="0"/>
          </a:p>
        </p:txBody>
      </p:sp>
      <p:sp>
        <p:nvSpPr>
          <p:cNvPr id="11" name="S06-line54"/>
          <p:cNvSpPr/>
          <p:nvPr/>
        </p:nvSpPr>
        <p:spPr>
          <a:xfrm>
            <a:off x="3067812" y="283083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6-step55"/>
          <p:cNvSpPr txBox="1"/>
          <p:nvPr/>
        </p:nvSpPr>
        <p:spPr>
          <a:xfrm>
            <a:off x="3424428" y="2327910"/>
            <a:ext cx="2464308" cy="1005840"/>
          </a:xfrm>
          <a:prstGeom prst="roundRect">
            <a:avLst>
              <a:gd name="adj" fmla="val 1090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메뚜기</a:t>
            </a:r>
            <a:endParaRPr lang="ko-KR" sz="3000" dirty="0"/>
          </a:p>
        </p:txBody>
      </p:sp>
      <p:sp>
        <p:nvSpPr>
          <p:cNvPr id="13" name="S06-line56"/>
          <p:cNvSpPr/>
          <p:nvPr/>
        </p:nvSpPr>
        <p:spPr>
          <a:xfrm>
            <a:off x="5943600" y="283083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4" name="S06-step57"/>
          <p:cNvSpPr txBox="1"/>
          <p:nvPr/>
        </p:nvSpPr>
        <p:spPr>
          <a:xfrm>
            <a:off x="6300216" y="2327910"/>
            <a:ext cx="2464308" cy="1005840"/>
          </a:xfrm>
          <a:prstGeom prst="roundRect">
            <a:avLst>
              <a:gd name="adj" fmla="val 1090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개구리</a:t>
            </a:r>
            <a:endParaRPr lang="ko-KR" sz="3000" dirty="0"/>
          </a:p>
        </p:txBody>
      </p:sp>
      <p:sp>
        <p:nvSpPr>
          <p:cNvPr id="15" name="S06-line58"/>
          <p:cNvSpPr/>
          <p:nvPr/>
        </p:nvSpPr>
        <p:spPr>
          <a:xfrm>
            <a:off x="8819388" y="283083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6" name="S06-step59"/>
          <p:cNvSpPr txBox="1"/>
          <p:nvPr/>
        </p:nvSpPr>
        <p:spPr>
          <a:xfrm>
            <a:off x="9176004" y="2327910"/>
            <a:ext cx="2464308" cy="1005840"/>
          </a:xfrm>
          <a:prstGeom prst="roundRect">
            <a:avLst>
              <a:gd name="adj" fmla="val 1090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뱀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화살표로 이어요</a:t>
            </a:r>
            <a:endParaRPr lang="ko-KR" sz="4000" dirty="0"/>
          </a:p>
        </p:txBody>
      </p:sp>
      <p:sp>
        <p:nvSpPr>
          <p:cNvPr id="3" name="S07-text6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생물을 먹이 사슬로 이어 말해요.</a:t>
            </a:r>
            <a:endParaRPr lang="ko-KR" sz="3000" dirty="0"/>
          </a:p>
        </p:txBody>
      </p:sp>
      <p:sp>
        <p:nvSpPr>
          <p:cNvPr id="4" name="S07-card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식물부터 시작하고, 화살표는 먹히는 쪽에서 먹는 쪽으로!</a:t>
            </a:r>
            <a:endParaRPr lang="ko-KR" sz="3000" dirty="0"/>
          </a:p>
        </p:txBody>
      </p:sp>
      <p:sp>
        <p:nvSpPr>
          <p:cNvPr id="6" name="S07-chip6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7-text64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풀, 여우, 토끼</a:t>
            </a:r>
            <a:endParaRPr lang="ko-KR" sz="3000" dirty="0"/>
          </a:p>
        </p:txBody>
      </p:sp>
      <p:sp>
        <p:nvSpPr>
          <p:cNvPr id="8" name="S07-chip6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7-text66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개구리, 뱀, 파리</a:t>
            </a:r>
            <a:endParaRPr lang="ko-KR" sz="3000" dirty="0"/>
          </a:p>
        </p:txBody>
      </p:sp>
      <p:sp>
        <p:nvSpPr>
          <p:cNvPr id="10" name="S07-chip6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7-text68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부엉이, 벼, 쥐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먹이 그물</a:t>
            </a:r>
            <a:endParaRPr lang="ko-KR" sz="4000" dirty="0"/>
          </a:p>
        </p:txBody>
      </p:sp>
      <p:sp>
        <p:nvSpPr>
          <p:cNvPr id="3" name="S08-text6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먹이 사슬이 그물처럼 얽힌 것을 먹이 그물이라고 해요.</a:t>
            </a:r>
            <a:endParaRPr lang="ko-KR" sz="3000" dirty="0"/>
          </a:p>
        </p:txBody>
      </p:sp>
      <p:sp>
        <p:nvSpPr>
          <p:cNvPr id="4" name="S08-card7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7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생물이 여러 생물을 먹기도 하고, 먹히기도 해요.</a:t>
            </a:r>
            <a:endParaRPr lang="ko-KR" sz="3000" dirty="0"/>
          </a:p>
        </p:txBody>
      </p:sp>
      <p:sp>
        <p:nvSpPr>
          <p:cNvPr id="6" name="S08-figure72" descr="먹이 그물: 벼 → 메뚜기, 벼 → 쥐, 벼 → 참새, 메뚜기 → 참새, 메뚜기 → 개구리, 개구리 → 뱀, 쥐 → 뱀, 참새 → 매(화살표는 먹히는 생물에서 먹는 생물 쪽)"/>
          <p:cNvSpPr/>
          <p:nvPr/>
        </p:nvSpPr>
        <p:spPr>
          <a:xfrm>
            <a:off x="5875294" y="4568918"/>
            <a:ext cx="1205501" cy="460282"/>
          </a:xfrm>
          <a:custGeom>
            <a:avLst/>
            <a:gdLst/>
            <a:ahLst/>
            <a:cxnLst/>
            <a:rect l="l" t="t" r="r" b="b"/>
            <a:pathLst>
              <a:path w="1205501" h="460282">
                <a:moveTo>
                  <a:pt x="0" y="460282"/>
                </a:moveTo>
                <a:lnTo>
                  <a:pt x="1205501" y="460282"/>
                </a:lnTo>
                <a:lnTo>
                  <a:pt x="1205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E3F4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8-mark73"/>
          <p:cNvSpPr/>
          <p:nvPr/>
        </p:nvSpPr>
        <p:spPr>
          <a:xfrm>
            <a:off x="5710907" y="3746985"/>
            <a:ext cx="1205501" cy="460282"/>
          </a:xfrm>
          <a:custGeom>
            <a:avLst/>
            <a:gdLst/>
            <a:ahLst/>
            <a:cxnLst/>
            <a:rect l="l" t="t" r="r" b="b"/>
            <a:pathLst>
              <a:path w="1205501" h="460282">
                <a:moveTo>
                  <a:pt x="0" y="460282"/>
                </a:moveTo>
                <a:lnTo>
                  <a:pt x="1205501" y="460282"/>
                </a:lnTo>
                <a:lnTo>
                  <a:pt x="1205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8-mark74"/>
          <p:cNvSpPr/>
          <p:nvPr/>
        </p:nvSpPr>
        <p:spPr>
          <a:xfrm>
            <a:off x="7628750" y="3746985"/>
            <a:ext cx="1205501" cy="460282"/>
          </a:xfrm>
          <a:custGeom>
            <a:avLst/>
            <a:gdLst/>
            <a:ahLst/>
            <a:cxnLst/>
            <a:rect l="l" t="t" r="r" b="b"/>
            <a:pathLst>
              <a:path w="1205501" h="460282">
                <a:moveTo>
                  <a:pt x="0" y="460282"/>
                </a:moveTo>
                <a:lnTo>
                  <a:pt x="1205501" y="460282"/>
                </a:lnTo>
                <a:lnTo>
                  <a:pt x="1205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8-mark75"/>
          <p:cNvSpPr/>
          <p:nvPr/>
        </p:nvSpPr>
        <p:spPr>
          <a:xfrm>
            <a:off x="3354701" y="2925053"/>
            <a:ext cx="1205501" cy="460282"/>
          </a:xfrm>
          <a:custGeom>
            <a:avLst/>
            <a:gdLst/>
            <a:ahLst/>
            <a:cxnLst/>
            <a:rect l="l" t="t" r="r" b="b"/>
            <a:pathLst>
              <a:path w="1205501" h="460282">
                <a:moveTo>
                  <a:pt x="0" y="460282"/>
                </a:moveTo>
                <a:lnTo>
                  <a:pt x="1205501" y="460282"/>
                </a:lnTo>
                <a:lnTo>
                  <a:pt x="1205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8-mark76"/>
          <p:cNvSpPr/>
          <p:nvPr/>
        </p:nvSpPr>
        <p:spPr>
          <a:xfrm>
            <a:off x="5765703" y="2925053"/>
            <a:ext cx="1205501" cy="460282"/>
          </a:xfrm>
          <a:custGeom>
            <a:avLst/>
            <a:gdLst/>
            <a:ahLst/>
            <a:cxnLst/>
            <a:rect l="l" t="t" r="r" b="b"/>
            <a:pathLst>
              <a:path w="1205501" h="460282">
                <a:moveTo>
                  <a:pt x="0" y="460282"/>
                </a:moveTo>
                <a:lnTo>
                  <a:pt x="1205501" y="460282"/>
                </a:lnTo>
                <a:lnTo>
                  <a:pt x="1205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8-mark77"/>
          <p:cNvSpPr/>
          <p:nvPr/>
        </p:nvSpPr>
        <p:spPr>
          <a:xfrm>
            <a:off x="7409568" y="2103120"/>
            <a:ext cx="1205501" cy="460282"/>
          </a:xfrm>
          <a:custGeom>
            <a:avLst/>
            <a:gdLst/>
            <a:ahLst/>
            <a:cxnLst/>
            <a:rect l="l" t="t" r="r" b="b"/>
            <a:pathLst>
              <a:path w="1205501" h="460282">
                <a:moveTo>
                  <a:pt x="0" y="460282"/>
                </a:moveTo>
                <a:lnTo>
                  <a:pt x="1205501" y="460282"/>
                </a:lnTo>
                <a:lnTo>
                  <a:pt x="1205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8-mark78"/>
          <p:cNvSpPr/>
          <p:nvPr/>
        </p:nvSpPr>
        <p:spPr>
          <a:xfrm>
            <a:off x="3354701" y="2103120"/>
            <a:ext cx="1205501" cy="460282"/>
          </a:xfrm>
          <a:custGeom>
            <a:avLst/>
            <a:gdLst/>
            <a:ahLst/>
            <a:cxnLst/>
            <a:rect l="l" t="t" r="r" b="b"/>
            <a:pathLst>
              <a:path w="1205501" h="460282">
                <a:moveTo>
                  <a:pt x="0" y="460282"/>
                </a:moveTo>
                <a:lnTo>
                  <a:pt x="1205501" y="460282"/>
                </a:lnTo>
                <a:lnTo>
                  <a:pt x="1205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8-mark79"/>
          <p:cNvSpPr/>
          <p:nvPr/>
        </p:nvSpPr>
        <p:spPr>
          <a:xfrm flipH="1" flipV="1">
            <a:off x="6368454" y="4251104"/>
            <a:ext cx="54796" cy="273978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4" name="S08-mark80"/>
          <p:cNvSpPr/>
          <p:nvPr/>
        </p:nvSpPr>
        <p:spPr>
          <a:xfrm flipV="1">
            <a:off x="7062713" y="4251104"/>
            <a:ext cx="584120" cy="273978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5" name="S08-mark81"/>
          <p:cNvSpPr/>
          <p:nvPr/>
        </p:nvSpPr>
        <p:spPr>
          <a:xfrm flipH="1" flipV="1">
            <a:off x="4377733" y="3429171"/>
            <a:ext cx="1680030" cy="109591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6" name="S08-mark82"/>
          <p:cNvSpPr/>
          <p:nvPr/>
        </p:nvSpPr>
        <p:spPr>
          <a:xfrm flipH="1" flipV="1">
            <a:off x="4604038" y="3380951"/>
            <a:ext cx="1063033" cy="370418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7" name="S08-mark83"/>
          <p:cNvSpPr/>
          <p:nvPr/>
        </p:nvSpPr>
        <p:spPr>
          <a:xfrm flipV="1">
            <a:off x="6331741" y="3429171"/>
            <a:ext cx="18630" cy="273978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8" name="S08-mark84"/>
          <p:cNvSpPr/>
          <p:nvPr/>
        </p:nvSpPr>
        <p:spPr>
          <a:xfrm flipV="1">
            <a:off x="6916409" y="2607239"/>
            <a:ext cx="547955" cy="273978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9" name="S08-mark85"/>
          <p:cNvSpPr/>
          <p:nvPr/>
        </p:nvSpPr>
        <p:spPr>
          <a:xfrm flipH="1" flipV="1">
            <a:off x="8049032" y="2607239"/>
            <a:ext cx="145756" cy="109591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0" name="S08-mark86"/>
          <p:cNvSpPr/>
          <p:nvPr/>
        </p:nvSpPr>
        <p:spPr>
          <a:xfrm flipV="1">
            <a:off x="3957451" y="2607239"/>
            <a:ext cx="0" cy="273978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1" name="S08-label88"/>
          <p:cNvSpPr txBox="1"/>
          <p:nvPr/>
        </p:nvSpPr>
        <p:spPr>
          <a:xfrm>
            <a:off x="6273829" y="4608559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벼</a:t>
            </a:r>
            <a:endParaRPr lang="ko-KR" sz="2400" dirty="0"/>
          </a:p>
        </p:txBody>
      </p:sp>
      <p:sp>
        <p:nvSpPr>
          <p:cNvPr id="22" name="S08-label90"/>
          <p:cNvSpPr txBox="1"/>
          <p:nvPr/>
        </p:nvSpPr>
        <p:spPr>
          <a:xfrm>
            <a:off x="5810738" y="3786626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메뚜기</a:t>
            </a:r>
            <a:endParaRPr lang="ko-KR" sz="2400" dirty="0"/>
          </a:p>
        </p:txBody>
      </p:sp>
      <p:sp>
        <p:nvSpPr>
          <p:cNvPr id="23" name="S08-label92"/>
          <p:cNvSpPr txBox="1"/>
          <p:nvPr/>
        </p:nvSpPr>
        <p:spPr>
          <a:xfrm>
            <a:off x="8027285" y="3786626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쥐</a:t>
            </a:r>
            <a:endParaRPr lang="ko-KR" sz="2400" dirty="0"/>
          </a:p>
        </p:txBody>
      </p:sp>
      <p:sp>
        <p:nvSpPr>
          <p:cNvPr id="24" name="S08-label94"/>
          <p:cNvSpPr txBox="1"/>
          <p:nvPr/>
        </p:nvSpPr>
        <p:spPr>
          <a:xfrm>
            <a:off x="3603883" y="2964694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참새</a:t>
            </a:r>
            <a:endParaRPr lang="ko-KR" sz="2400" dirty="0"/>
          </a:p>
        </p:txBody>
      </p:sp>
      <p:sp>
        <p:nvSpPr>
          <p:cNvPr id="25" name="S08-label96"/>
          <p:cNvSpPr txBox="1"/>
          <p:nvPr/>
        </p:nvSpPr>
        <p:spPr>
          <a:xfrm>
            <a:off x="5865534" y="2964694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개구리</a:t>
            </a:r>
            <a:endParaRPr lang="ko-KR" sz="2400" dirty="0"/>
          </a:p>
        </p:txBody>
      </p:sp>
      <p:sp>
        <p:nvSpPr>
          <p:cNvPr id="26" name="S08-label98"/>
          <p:cNvSpPr txBox="1"/>
          <p:nvPr/>
        </p:nvSpPr>
        <p:spPr>
          <a:xfrm>
            <a:off x="7808103" y="2142761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뱀</a:t>
            </a:r>
            <a:endParaRPr lang="ko-KR" sz="2400" dirty="0"/>
          </a:p>
        </p:txBody>
      </p:sp>
      <p:sp>
        <p:nvSpPr>
          <p:cNvPr id="27" name="S08-label100"/>
          <p:cNvSpPr txBox="1"/>
          <p:nvPr/>
        </p:nvSpPr>
        <p:spPr>
          <a:xfrm>
            <a:off x="3753235" y="2142761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09-text10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먹이 그물에서 메뚜기가 모두 사라지면?</a:t>
            </a:r>
            <a:endParaRPr lang="ko-KR" sz="3000" dirty="0"/>
          </a:p>
        </p:txBody>
      </p:sp>
      <p:sp>
        <p:nvSpPr>
          <p:cNvPr id="4" name="S09-card10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10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3에 써요.</a:t>
            </a:r>
            <a:endParaRPr lang="ko-KR" sz="3000" dirty="0"/>
          </a:p>
        </p:txBody>
      </p:sp>
      <p:graphicFrame>
        <p:nvGraphicFramePr>
          <p:cNvPr id="10" name="S09-table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602992"/>
          <a:ext cx="1005840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452628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궁금한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개구리는 어떻게 될까?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참새는 어떻게 될까?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벼는 어떻게 될까?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카드로 먹이 그물을 만들어요</a:t>
            </a:r>
            <a:endParaRPr lang="ko-KR" sz="4000" dirty="0"/>
          </a:p>
        </p:txBody>
      </p:sp>
      <p:sp>
        <p:nvSpPr>
          <p:cNvPr id="3" name="S10-card105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106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 때 확인해요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화살표 방향을 지켜요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이어진 생물을 모두 찾아요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다른 먹이가 있는지 봐요</a:t>
            </a:r>
            <a:endParaRPr lang="ko-KR" sz="3000" dirty="0"/>
          </a:p>
        </p:txBody>
      </p:sp>
      <p:sp>
        <p:nvSpPr>
          <p:cNvPr id="5" name="S10-stepno107"/>
          <p:cNvSpPr txBox="1"/>
          <p:nvPr/>
        </p:nvSpPr>
        <p:spPr>
          <a:xfrm>
            <a:off x="548640" y="17114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10-text108"/>
          <p:cNvSpPr txBox="1"/>
          <p:nvPr/>
        </p:nvSpPr>
        <p:spPr>
          <a:xfrm>
            <a:off x="1325880" y="1665732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생물 카드 7장을 활동지 4처럼 놓아요.</a:t>
            </a:r>
            <a:endParaRPr lang="ko-KR" sz="3000" dirty="0"/>
          </a:p>
        </p:txBody>
      </p:sp>
      <p:sp>
        <p:nvSpPr>
          <p:cNvPr id="7" name="S10-stepno109"/>
          <p:cNvSpPr txBox="1"/>
          <p:nvPr/>
        </p:nvSpPr>
        <p:spPr>
          <a:xfrm>
            <a:off x="548640" y="28056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10-text110"/>
          <p:cNvSpPr txBox="1"/>
          <p:nvPr/>
        </p:nvSpPr>
        <p:spPr>
          <a:xfrm>
            <a:off x="1325880" y="2759964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털실이나 연필로 화살표를 이어요.</a:t>
            </a:r>
            <a:endParaRPr lang="ko-KR" sz="3000" dirty="0"/>
          </a:p>
        </p:txBody>
      </p:sp>
      <p:sp>
        <p:nvSpPr>
          <p:cNvPr id="9" name="S10-stepno111"/>
          <p:cNvSpPr txBox="1"/>
          <p:nvPr/>
        </p:nvSpPr>
        <p:spPr>
          <a:xfrm>
            <a:off x="548640" y="38999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10-text112"/>
          <p:cNvSpPr txBox="1"/>
          <p:nvPr/>
        </p:nvSpPr>
        <p:spPr>
          <a:xfrm>
            <a:off x="1325880" y="3854196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메뚜기 카드를 빼고 끊긴 선을 찾아요.</a:t>
            </a:r>
            <a:endParaRPr lang="ko-KR" sz="3000" dirty="0"/>
          </a:p>
        </p:txBody>
      </p:sp>
      <p:sp>
        <p:nvSpPr>
          <p:cNvPr id="11" name="S10-stepno113"/>
          <p:cNvSpPr txBox="1"/>
          <p:nvPr/>
        </p:nvSpPr>
        <p:spPr>
          <a:xfrm>
            <a:off x="548640" y="49941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10-text114"/>
          <p:cNvSpPr txBox="1"/>
          <p:nvPr/>
        </p:nvSpPr>
        <p:spPr>
          <a:xfrm>
            <a:off x="1325880" y="4948428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영향을 받는 생물을 찾아 써요.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11-text11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3을 보며 빈칸을 말로 채워요.</a:t>
            </a:r>
            <a:endParaRPr lang="ko-KR" sz="3000" dirty="0"/>
          </a:p>
        </p:txBody>
      </p:sp>
      <p:sp>
        <p:nvSpPr>
          <p:cNvPr id="4" name="S11-card1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1-cardtext1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생물이 사라지면 이어진 생물들도 영향을 받아요.</a:t>
            </a:r>
            <a:endParaRPr lang="ko-KR" sz="3000" dirty="0"/>
          </a:p>
        </p:txBody>
      </p:sp>
      <p:graphicFrame>
        <p:nvGraphicFramePr>
          <p:cNvPr id="12" name="S11-table1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541016"/>
          <a:ext cx="10515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420624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메뚜기가 사라지면?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까닭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개구리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참새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12-card11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2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먹이 그물에서 메뚜기가 모두 사라졌어요.</a:t>
            </a:r>
            <a:endParaRPr lang="ko-KR" sz="3000" dirty="0"/>
          </a:p>
        </p:txBody>
      </p:sp>
      <p:sp>
        <p:nvSpPr>
          <p:cNvPr id="5" name="S12-card1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2-cardtext1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3000" dirty="0"/>
          </a:p>
        </p:txBody>
      </p:sp>
      <p:sp>
        <p:nvSpPr>
          <p:cNvPr id="7" name="S12-chip12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400" dirty="0"/>
          </a:p>
        </p:txBody>
      </p:sp>
      <p:sp>
        <p:nvSpPr>
          <p:cNvPr id="8" name="S12-text12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메뚜기만 없어진 거라서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생물은 괜찮아요.</a:t>
            </a:r>
            <a:endParaRPr lang="ko-KR" sz="3000" dirty="0"/>
          </a:p>
        </p:txBody>
      </p:sp>
      <p:sp>
        <p:nvSpPr>
          <p:cNvPr id="9" name="S12-chip12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400" dirty="0"/>
          </a:p>
        </p:txBody>
      </p:sp>
      <p:sp>
        <p:nvSpPr>
          <p:cNvPr id="10" name="S12-text12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메뚜기만 먹던 개구리는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먹이가 없어 줄어들어요.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3-chip12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13-text128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버섯은 생산자, 소비자, 분해자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 무엇인가요?</a:t>
            </a:r>
            <a:endParaRPr lang="ko-KR" sz="3000" dirty="0"/>
          </a:p>
        </p:txBody>
      </p:sp>
      <p:sp>
        <p:nvSpPr>
          <p:cNvPr id="5" name="S13-chip129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13-text130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뱀, 벼, 개구리, 메뚜기를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먹이 사슬로 이어 말해요.</a:t>
            </a:r>
            <a:endParaRPr lang="ko-KR" sz="3000" dirty="0"/>
          </a:p>
        </p:txBody>
      </p:sp>
      <p:sp>
        <p:nvSpPr>
          <p:cNvPr id="7" name="S13-chip131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13-text132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먹이 그물에서 쥐가 모두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사라지면 뱀은 어떻게 될까요?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4-card1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1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화살표는 먹히는 생물에서 먹는 생물 쪽으로 그려요.</a:t>
            </a:r>
            <a:endParaRPr lang="ko-KR" sz="3000" dirty="0"/>
          </a:p>
        </p:txBody>
      </p:sp>
      <p:sp>
        <p:nvSpPr>
          <p:cNvPr id="5" name="S14-chip135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4-text136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분해자</a:t>
            </a:r>
            <a:endParaRPr lang="ko-KR" sz="3000" dirty="0"/>
          </a:p>
        </p:txBody>
      </p:sp>
      <p:sp>
        <p:nvSpPr>
          <p:cNvPr id="7" name="S14-text137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것을 분해</a:t>
            </a:r>
            <a:endParaRPr lang="ko-KR" sz="2400" dirty="0"/>
          </a:p>
        </p:txBody>
      </p:sp>
      <p:sp>
        <p:nvSpPr>
          <p:cNvPr id="8" name="S14-text138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벼부터</a:t>
            </a:r>
            <a:endParaRPr lang="ko-KR" sz="3000" dirty="0"/>
          </a:p>
        </p:txBody>
      </p:sp>
      <p:sp>
        <p:nvSpPr>
          <p:cNvPr id="9" name="S14-text139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벼→메뚜기→개구리→뱀</a:t>
            </a:r>
            <a:endParaRPr lang="ko-KR" sz="2400" dirty="0"/>
          </a:p>
        </p:txBody>
      </p:sp>
      <p:sp>
        <p:nvSpPr>
          <p:cNvPr id="10" name="S14-text140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먹이가 줄어요</a:t>
            </a:r>
            <a:endParaRPr lang="ko-KR" sz="3000" dirty="0"/>
          </a:p>
        </p:txBody>
      </p:sp>
      <p:sp>
        <p:nvSpPr>
          <p:cNvPr id="11" name="S14-text141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개구리는 먹을 수 있음</a:t>
            </a:r>
            <a:endParaRPr lang="ko-KR" sz="2400" dirty="0"/>
          </a:p>
        </p:txBody>
      </p:sp>
      <p:sp>
        <p:nvSpPr>
          <p:cNvPr id="12" name="S14-chip142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3" name="S14-text143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생산자</a:t>
            </a:r>
            <a:endParaRPr lang="ko-KR" sz="3000" dirty="0"/>
          </a:p>
        </p:txBody>
      </p:sp>
      <p:sp>
        <p:nvSpPr>
          <p:cNvPr id="14" name="S14-text144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버섯은 식물이 아님</a:t>
            </a:r>
            <a:endParaRPr lang="ko-KR" sz="2400" dirty="0"/>
          </a:p>
        </p:txBody>
      </p:sp>
      <p:sp>
        <p:nvSpPr>
          <p:cNvPr id="15" name="S14-text145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뱀부터</a:t>
            </a:r>
            <a:endParaRPr lang="ko-KR" sz="3000" dirty="0"/>
          </a:p>
        </p:txBody>
      </p:sp>
      <p:sp>
        <p:nvSpPr>
          <p:cNvPr id="16" name="S14-text146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 거꾸로(M1)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그린 먹이 사슬은?</a:t>
            </a:r>
            <a:endParaRPr lang="ko-KR" sz="4000" dirty="0"/>
          </a:p>
        </p:txBody>
      </p:sp>
      <p:sp>
        <p:nvSpPr>
          <p:cNvPr id="3" name="S15-text1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참새는 메뚜기를 먹고, 메뚜기는 풀을 먹어요.</a:t>
            </a:r>
            <a:endParaRPr lang="ko-KR" sz="3000" dirty="0"/>
          </a:p>
        </p:txBody>
      </p:sp>
      <p:sp>
        <p:nvSpPr>
          <p:cNvPr id="4" name="S15-card1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5-cardtext1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그렇게 생각한 까닭을 말해요.</a:t>
            </a:r>
            <a:endParaRPr lang="ko-KR" sz="3000" dirty="0"/>
          </a:p>
        </p:txBody>
      </p:sp>
      <p:sp>
        <p:nvSpPr>
          <p:cNvPr id="6" name="S15-chip150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5-card151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5-cardtext152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참새 → 메뚜기 → 풀</a:t>
            </a:r>
            <a:endParaRPr lang="ko-KR" sz="3000" dirty="0"/>
          </a:p>
        </p:txBody>
      </p:sp>
      <p:sp>
        <p:nvSpPr>
          <p:cNvPr id="9" name="S15-chip153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5-card154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5-cardtext155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풀 → 메뚜기 → 참새</a:t>
            </a:r>
            <a:endParaRPr lang="ko-KR" sz="3000" dirty="0"/>
          </a:p>
        </p:txBody>
      </p:sp>
      <p:sp>
        <p:nvSpPr>
          <p:cNvPr id="12" name="S15-chip156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5-card157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5-cardtext158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메뚜기 → 풀 → 참새</a:t>
            </a:r>
            <a:endParaRPr lang="ko-KR" sz="3000" dirty="0"/>
          </a:p>
        </p:txBody>
      </p:sp>
      <p:sp>
        <p:nvSpPr>
          <p:cNvPr id="15" name="S15-chip159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6" name="S15-card160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15-cardtext161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풀 → 참새 → 메뚜기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6-card162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6-cardtext163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생물은 생산자·소비자·분해자로 나눠요.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생물이 사라지면 이어진 생물도 영향을 받아요.</a:t>
            </a:r>
            <a:endParaRPr lang="ko-KR" sz="3000" dirty="0"/>
          </a:p>
        </p:txBody>
      </p:sp>
      <p:sp>
        <p:nvSpPr>
          <p:cNvPr id="5" name="S16-chip164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화살표: 먹히는 생물 → 먹는 생물</a:t>
            </a:r>
            <a:endParaRPr lang="ko-KR" sz="2400" dirty="0"/>
          </a:p>
        </p:txBody>
      </p:sp>
      <p:sp>
        <p:nvSpPr>
          <p:cNvPr id="6" name="S16-chip165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한 생물만 사라진다고 생각하기</a:t>
            </a:r>
            <a:endParaRPr lang="ko-KR" sz="2400" dirty="0"/>
          </a:p>
        </p:txBody>
      </p:sp>
      <p:sp>
        <p:nvSpPr>
          <p:cNvPr id="7" name="S16-text166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6-text167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햇빛을 받아 양분을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만드는 생물은?</a:t>
            </a:r>
            <a:endParaRPr lang="ko-KR" sz="2400" dirty="0"/>
          </a:p>
        </p:txBody>
      </p:sp>
      <p:sp>
        <p:nvSpPr>
          <p:cNvPr id="9" name="S16-text168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곰팡이와 세균은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무엇이라고 하나요?</a:t>
            </a:r>
            <a:endParaRPr lang="ko-KR" sz="2400" dirty="0"/>
          </a:p>
        </p:txBody>
      </p:sp>
      <p:sp>
        <p:nvSpPr>
          <p:cNvPr id="10" name="S16-text169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벼, 개구리, 메뚜기를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먹이 사슬로 이으면?</a:t>
            </a:r>
            <a:endParaRPr lang="ko-KR" sz="2400" dirty="0"/>
          </a:p>
        </p:txBody>
      </p:sp>
      <p:sp>
        <p:nvSpPr>
          <p:cNvPr id="11" name="S16-text17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기체의 성질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무엇이 있어야 자랄까?</a:t>
            </a:r>
            <a:endParaRPr lang="ko-KR" sz="4000" dirty="0"/>
          </a:p>
        </p:txBody>
      </p:sp>
      <p:sp>
        <p:nvSpPr>
          <p:cNvPr id="3" name="S17-text17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식물과 동물이 자라는 데 필요한 것을 비교해요.</a:t>
            </a:r>
            <a:endParaRPr lang="ko-KR" sz="3000" dirty="0"/>
          </a:p>
        </p:txBody>
      </p:sp>
      <p:sp>
        <p:nvSpPr>
          <p:cNvPr id="4" name="S17-card1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7-cardtext1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식물은 다른 생물을 먹지 않고, 동물은 다른 생물을 먹어요.</a:t>
            </a:r>
            <a:endParaRPr lang="ko-KR" sz="3000" dirty="0"/>
          </a:p>
        </p:txBody>
      </p:sp>
      <p:graphicFrame>
        <p:nvGraphicFramePr>
          <p:cNvPr id="18" name="S17-table1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2284730"/>
          <a:ext cx="9144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자라는 데 필요한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강낭콩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햇빛, 물, 알맞은 온도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풀, 채소를 먹어요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개구리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메뚜기 같은 곤충을 먹어요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참새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곡식, 곤충을 먹어요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과학 생태계와 먹이 관계</dc:title>
  <dc:subject>KR22-G04-SCI-FOODCHAIN-L01</dc:subject>
  <dc:creator>education-ppt</dc:creator>
  <cp:lastModifiedBy>education-ppt</cp:lastModifiedBy>
  <cp:revision>1</cp:revision>
  <dcterms:created xsi:type="dcterms:W3CDTF">2026-10-26T13:18:54Z</dcterms:created>
  <dcterms:modified xsi:type="dcterms:W3CDTF">2026-10-26T13:18:54Z</dcterms:modified>
</cp:coreProperties>
</file>