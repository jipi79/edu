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a782ff7-ef96-465c-235e-f4f70ac275a6}">
          <p14:sldIdLst>
            <p14:sldId id="256"/>
            <p14:sldId id="257"/>
          </p14:sldIdLst>
        </p14:section>
        <p14:section name="개념" id="{53040e9b-c024-882e-a250-15e91eefbfca}">
          <p14:sldIdLst>
            <p14:sldId id="258"/>
            <p14:sldId id="259"/>
            <p14:sldId id="261"/>
            <p14:sldId id="263"/>
          </p14:sldIdLst>
        </p14:section>
        <p14:section name="연습" id="{730db9b8-4a50-2faf-a3a2-1d6801dc8591}">
          <p14:sldIdLst>
            <p14:sldId id="260"/>
            <p14:sldId id="262"/>
            <p14:sldId id="264"/>
            <p14:sldId id="265"/>
            <p14:sldId id="266"/>
            <p14:sldId id="267"/>
          </p14:sldIdLst>
        </p14:section>
        <p14:section name="개념" id="{dcf36b2b-daa1-e1c1-9054-37665b600ceb}">
          <p14:sldIdLst/>
        </p14:section>
        <p14:section name="연습" id="{518d1ec2-1951-d75e-9850-200ce197f3ce}">
          <p14:sldIdLst/>
        </p14:section>
        <p14:section name="개념" id="{131edf87-cd56-53c9-d993-0a55ec8f48a7}">
          <p14:sldIdLst/>
        </p14:section>
        <p14:section name="연습" id="{0789a56e-929e-768a-2d49-3da751ad9001}">
          <p14:sldIdLst/>
        </p14:section>
        <p14:section name="확인" id="{68160338-e550-e201-0525-29e41b2c34bc}">
          <p14:sldIdLst>
            <p14:sldId id="268"/>
            <p14:sldId id="269"/>
          </p14:sldIdLst>
        </p14:section>
        <p14:section name="정리" id="{3a42fb86-e98c-32b1-b66b-405054af6399}">
          <p14:sldIdLst>
            <p14:sldId id="270"/>
          </p14:sldIdLst>
        </p14:section>
        <p14:section name="보충" id="{67c76cd9-93bf-a97d-1b0b-b813649e174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생물과기체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생태계와 먹이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생물들은 서로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이어져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벼 → 메뚜기 → 개구리"/>
          <p:cNvSpPr/>
          <p:nvPr/>
        </p:nvSpPr>
        <p:spPr>
          <a:xfrm>
            <a:off x="8900009" y="2904352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900009" y="1817936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900009" y="731520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646920" y="2442625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1-mark6"/>
          <p:cNvSpPr/>
          <p:nvPr/>
        </p:nvSpPr>
        <p:spPr>
          <a:xfrm flipV="1">
            <a:off x="9646920" y="1356209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1-label8"/>
          <p:cNvSpPr txBox="1"/>
          <p:nvPr/>
        </p:nvSpPr>
        <p:spPr>
          <a:xfrm>
            <a:off x="9442704" y="29990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11" name="S01-label10"/>
          <p:cNvSpPr txBox="1"/>
          <p:nvPr/>
        </p:nvSpPr>
        <p:spPr>
          <a:xfrm>
            <a:off x="9144000" y="19126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12" name="S01-label12"/>
          <p:cNvSpPr txBox="1"/>
          <p:nvPr/>
        </p:nvSpPr>
        <p:spPr>
          <a:xfrm>
            <a:off x="9144000" y="82620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13" name="S01-card1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생물을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먹이 사슬과 먹이 그물을 화살표로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한살이를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말해요.</a:t>
            </a:r>
            <a:endParaRPr lang="ko-KR" sz="3000" dirty="0"/>
          </a:p>
        </p:txBody>
      </p:sp>
      <p:sp>
        <p:nvSpPr>
          <p:cNvPr id="5" name="S02-chip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강낭콩이 잘 자라려면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필요할까요?</a:t>
            </a:r>
            <a:endParaRPr lang="ko-KR" sz="3000" dirty="0"/>
          </a:p>
        </p:txBody>
      </p:sp>
      <p:sp>
        <p:nvSpPr>
          <p:cNvPr id="7" name="S02-chip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토끼와 개구리는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먹고 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</a:t>
            </a:r>
            <a:endParaRPr lang="ko-KR" sz="4000" dirty="0"/>
          </a:p>
        </p:txBody>
      </p:sp>
      <p:sp>
        <p:nvSpPr>
          <p:cNvPr id="3" name="S03-text21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곳에서 서로 영향을 주고받는 생물과 환경을 모두 합해 생태계라고 해요.</a:t>
            </a:r>
            <a:endParaRPr lang="ko-KR" sz="3000" dirty="0"/>
          </a:p>
        </p:txBody>
      </p:sp>
      <p:sp>
        <p:nvSpPr>
          <p:cNvPr id="4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연못, 숲, 화단도 하나의 생태계예요.</a:t>
            </a:r>
            <a:endParaRPr lang="ko-KR" sz="3000" dirty="0"/>
          </a:p>
        </p:txBody>
      </p:sp>
      <p:sp>
        <p:nvSpPr>
          <p:cNvPr id="6" name="S03-card24"/>
          <p:cNvSpPr/>
          <p:nvPr/>
        </p:nvSpPr>
        <p:spPr>
          <a:xfrm>
            <a:off x="548640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5"/>
          <p:cNvSpPr txBox="1"/>
          <p:nvPr/>
        </p:nvSpPr>
        <p:spPr>
          <a:xfrm>
            <a:off x="822960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식물, 동물, 곰팡이, 세균</a:t>
            </a:r>
            <a:endParaRPr lang="ko-KR" sz="3000" dirty="0"/>
          </a:p>
        </p:txBody>
      </p:sp>
      <p:sp>
        <p:nvSpPr>
          <p:cNvPr id="8" name="S03-card26"/>
          <p:cNvSpPr/>
          <p:nvPr/>
        </p:nvSpPr>
        <p:spPr>
          <a:xfrm>
            <a:off x="6208776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7"/>
          <p:cNvSpPr txBox="1"/>
          <p:nvPr/>
        </p:nvSpPr>
        <p:spPr>
          <a:xfrm>
            <a:off x="6483096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있지 않은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햇빛, 물, 공기, 흙, 온도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얻는 방법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분해자 덕분에 죽은 생물이 썩어 흙으로 돌아가요.</a:t>
            </a:r>
            <a:endParaRPr lang="ko-KR" sz="3000" dirty="0"/>
          </a:p>
        </p:txBody>
      </p:sp>
      <p:graphicFrame>
        <p:nvGraphicFramePr>
          <p:cNvPr id="5" name="S04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29028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852928"/>
                <a:gridCol w="2852928"/>
                <a:gridCol w="35112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생산자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소비자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햇빛을 받아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스스로 만들어요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생물을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죽은 생물·배출물을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벼, 풀, 나무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메뚜기, 개구리,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곰팡이, 세균,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버섯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생산자, 소비자, 분해자 중 어디에 들어갈까요?</a:t>
            </a:r>
            <a:endParaRPr lang="ko-KR" sz="3000" dirty="0"/>
          </a:p>
        </p:txBody>
      </p:sp>
      <p:sp>
        <p:nvSpPr>
          <p:cNvPr id="4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어떻게 얻는지 생각해요. 생물이 아닌 것도 있어요.</a:t>
            </a:r>
            <a:endParaRPr lang="ko-KR" sz="3000" dirty="0"/>
          </a:p>
        </p:txBody>
      </p:sp>
      <p:sp>
        <p:nvSpPr>
          <p:cNvPr id="6" name="S05-chip3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3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민들레</a:t>
            </a:r>
            <a:endParaRPr lang="ko-KR" sz="3000" dirty="0"/>
          </a:p>
        </p:txBody>
      </p:sp>
      <p:sp>
        <p:nvSpPr>
          <p:cNvPr id="8" name="S05-chip36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37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</a:t>
            </a:r>
            <a:endParaRPr lang="ko-KR" sz="3000" dirty="0"/>
          </a:p>
        </p:txBody>
      </p:sp>
      <p:sp>
        <p:nvSpPr>
          <p:cNvPr id="10" name="S05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곰팡이</a:t>
            </a:r>
            <a:endParaRPr lang="ko-KR" sz="3000" dirty="0"/>
          </a:p>
        </p:txBody>
      </p:sp>
      <p:sp>
        <p:nvSpPr>
          <p:cNvPr id="12" name="S05-chip40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41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사마귀</a:t>
            </a:r>
            <a:endParaRPr lang="ko-KR" sz="3000" dirty="0"/>
          </a:p>
        </p:txBody>
      </p:sp>
      <p:sp>
        <p:nvSpPr>
          <p:cNvPr id="14" name="S05-chip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5-text4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000" dirty="0"/>
          </a:p>
        </p:txBody>
      </p:sp>
      <p:sp>
        <p:nvSpPr>
          <p:cNvPr id="16" name="S05-chip44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5-text45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소나무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</a:t>
            </a:r>
            <a:endParaRPr lang="ko-KR" sz="4000" dirty="0"/>
          </a:p>
        </p:txBody>
      </p:sp>
      <p:sp>
        <p:nvSpPr>
          <p:cNvPr id="3" name="S06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먹히는 관계가 사슬처럼 이어진 것을 먹이 사슬이라고 해요.</a:t>
            </a:r>
            <a:endParaRPr lang="ko-KR" sz="3000" dirty="0"/>
          </a:p>
        </p:txBody>
      </p:sp>
      <p:sp>
        <p:nvSpPr>
          <p:cNvPr id="4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벼를 먹고, 개구리는 메뚜기를 먹어요.</a:t>
            </a:r>
            <a:endParaRPr lang="ko-KR" sz="3000" dirty="0"/>
          </a:p>
        </p:txBody>
      </p:sp>
      <p:sp>
        <p:nvSpPr>
          <p:cNvPr id="6" name="S06-card49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0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약속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먹히는 생물 → 먹는 생물</a:t>
            </a:r>
            <a:endParaRPr lang="ko-KR" sz="3000" dirty="0"/>
          </a:p>
        </p:txBody>
      </p:sp>
      <p:sp>
        <p:nvSpPr>
          <p:cNvPr id="8" name="S06-card51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2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처음은 생산자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사슬은 식물에서 시작해요.</a:t>
            </a:r>
            <a:endParaRPr lang="ko-KR" sz="3000" dirty="0"/>
          </a:p>
        </p:txBody>
      </p:sp>
      <p:sp>
        <p:nvSpPr>
          <p:cNvPr id="10" name="S06-step53"/>
          <p:cNvSpPr txBox="1"/>
          <p:nvPr/>
        </p:nvSpPr>
        <p:spPr>
          <a:xfrm>
            <a:off x="548640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3000" dirty="0"/>
          </a:p>
        </p:txBody>
      </p:sp>
      <p:sp>
        <p:nvSpPr>
          <p:cNvPr id="11" name="S06-line54"/>
          <p:cNvSpPr/>
          <p:nvPr/>
        </p:nvSpPr>
        <p:spPr>
          <a:xfrm>
            <a:off x="3067812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55"/>
          <p:cNvSpPr txBox="1"/>
          <p:nvPr/>
        </p:nvSpPr>
        <p:spPr>
          <a:xfrm>
            <a:off x="3424428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3000" dirty="0"/>
          </a:p>
        </p:txBody>
      </p:sp>
      <p:sp>
        <p:nvSpPr>
          <p:cNvPr id="13" name="S06-line56"/>
          <p:cNvSpPr/>
          <p:nvPr/>
        </p:nvSpPr>
        <p:spPr>
          <a:xfrm>
            <a:off x="5943600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57"/>
          <p:cNvSpPr txBox="1"/>
          <p:nvPr/>
        </p:nvSpPr>
        <p:spPr>
          <a:xfrm>
            <a:off x="6300216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3000" dirty="0"/>
          </a:p>
        </p:txBody>
      </p:sp>
      <p:sp>
        <p:nvSpPr>
          <p:cNvPr id="15" name="S06-line58"/>
          <p:cNvSpPr/>
          <p:nvPr/>
        </p:nvSpPr>
        <p:spPr>
          <a:xfrm>
            <a:off x="8819388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59"/>
          <p:cNvSpPr txBox="1"/>
          <p:nvPr/>
        </p:nvSpPr>
        <p:spPr>
          <a:xfrm>
            <a:off x="9176004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화살표로 이어요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생물을 먹이 사슬로 이어 말해요.</a:t>
            </a:r>
            <a:endParaRPr lang="ko-KR" sz="3000" dirty="0"/>
          </a:p>
        </p:txBody>
      </p:sp>
      <p:sp>
        <p:nvSpPr>
          <p:cNvPr id="4" name="S07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식물부터 시작하고, 화살표는 먹히는 쪽에서 먹는 쪽으로!</a:t>
            </a:r>
            <a:endParaRPr lang="ko-KR" sz="3000" dirty="0"/>
          </a:p>
        </p:txBody>
      </p:sp>
      <p:sp>
        <p:nvSpPr>
          <p:cNvPr id="6" name="S07-chip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6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풀, 여우, 토끼</a:t>
            </a:r>
            <a:endParaRPr lang="ko-KR" sz="3000" dirty="0"/>
          </a:p>
        </p:txBody>
      </p:sp>
      <p:sp>
        <p:nvSpPr>
          <p:cNvPr id="8" name="S07-chip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6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개구리, 뱀, 파리</a:t>
            </a:r>
            <a:endParaRPr lang="ko-KR" sz="3000" dirty="0"/>
          </a:p>
        </p:txBody>
      </p:sp>
      <p:sp>
        <p:nvSpPr>
          <p:cNvPr id="10" name="S07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6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부엉이, 벼, 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</a:t>
            </a:r>
            <a:endParaRPr lang="ko-KR" sz="4000" dirty="0"/>
          </a:p>
        </p:txBody>
      </p:sp>
      <p:sp>
        <p:nvSpPr>
          <p:cNvPr id="3" name="S08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먹이 사슬이 그물처럼 얽힌 것을 먹이 그물이라고 해요.</a:t>
            </a:r>
            <a:endParaRPr lang="ko-KR" sz="3000" dirty="0"/>
          </a:p>
        </p:txBody>
      </p:sp>
      <p:sp>
        <p:nvSpPr>
          <p:cNvPr id="4" name="S08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여러 생물을 먹기도 하고, 먹히기도 해요.</a:t>
            </a:r>
            <a:endParaRPr lang="ko-KR" sz="3000" dirty="0"/>
          </a:p>
        </p:txBody>
      </p:sp>
      <p:sp>
        <p:nvSpPr>
          <p:cNvPr id="6" name="S08-figure72" descr="먹이 그물: 벼 → 메뚜기, 벼 → 쥐, 벼 → 참새, 메뚜기 → 참새, 메뚜기 → 개구리, 개구리 → 뱀, 쥐 → 뱀, 참새 → 매(화살표는 먹히는 생물에서 먹는 생물 쪽)"/>
          <p:cNvSpPr/>
          <p:nvPr/>
        </p:nvSpPr>
        <p:spPr>
          <a:xfrm>
            <a:off x="5875294" y="4568918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73"/>
          <p:cNvSpPr/>
          <p:nvPr/>
        </p:nvSpPr>
        <p:spPr>
          <a:xfrm>
            <a:off x="5710907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74"/>
          <p:cNvSpPr/>
          <p:nvPr/>
        </p:nvSpPr>
        <p:spPr>
          <a:xfrm>
            <a:off x="7628750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75"/>
          <p:cNvSpPr/>
          <p:nvPr/>
        </p:nvSpPr>
        <p:spPr>
          <a:xfrm>
            <a:off x="3354701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mark76"/>
          <p:cNvSpPr/>
          <p:nvPr/>
        </p:nvSpPr>
        <p:spPr>
          <a:xfrm>
            <a:off x="5765703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mark77"/>
          <p:cNvSpPr/>
          <p:nvPr/>
        </p:nvSpPr>
        <p:spPr>
          <a:xfrm>
            <a:off x="7409568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mark78"/>
          <p:cNvSpPr/>
          <p:nvPr/>
        </p:nvSpPr>
        <p:spPr>
          <a:xfrm>
            <a:off x="3354701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mark79"/>
          <p:cNvSpPr/>
          <p:nvPr/>
        </p:nvSpPr>
        <p:spPr>
          <a:xfrm flipH="1" flipV="1">
            <a:off x="6368454" y="4251104"/>
            <a:ext cx="54796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8-mark80"/>
          <p:cNvSpPr/>
          <p:nvPr/>
        </p:nvSpPr>
        <p:spPr>
          <a:xfrm flipV="1">
            <a:off x="7062713" y="4251104"/>
            <a:ext cx="58412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8-mark81"/>
          <p:cNvSpPr/>
          <p:nvPr/>
        </p:nvSpPr>
        <p:spPr>
          <a:xfrm flipH="1" flipV="1">
            <a:off x="4377733" y="3429171"/>
            <a:ext cx="1680030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8-mark82"/>
          <p:cNvSpPr/>
          <p:nvPr/>
        </p:nvSpPr>
        <p:spPr>
          <a:xfrm flipH="1" flipV="1">
            <a:off x="4604038" y="3380951"/>
            <a:ext cx="1063033" cy="37041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8-mark83"/>
          <p:cNvSpPr/>
          <p:nvPr/>
        </p:nvSpPr>
        <p:spPr>
          <a:xfrm flipV="1">
            <a:off x="6331741" y="3429171"/>
            <a:ext cx="1863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8" name="S08-mark84"/>
          <p:cNvSpPr/>
          <p:nvPr/>
        </p:nvSpPr>
        <p:spPr>
          <a:xfrm flipV="1">
            <a:off x="6916409" y="2607239"/>
            <a:ext cx="547955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8-mark85"/>
          <p:cNvSpPr/>
          <p:nvPr/>
        </p:nvSpPr>
        <p:spPr>
          <a:xfrm flipH="1" flipV="1">
            <a:off x="8049032" y="2607239"/>
            <a:ext cx="145756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8-mark86"/>
          <p:cNvSpPr/>
          <p:nvPr/>
        </p:nvSpPr>
        <p:spPr>
          <a:xfrm flipV="1">
            <a:off x="3957451" y="2607239"/>
            <a:ext cx="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8-label88"/>
          <p:cNvSpPr txBox="1"/>
          <p:nvPr/>
        </p:nvSpPr>
        <p:spPr>
          <a:xfrm>
            <a:off x="6273829" y="4608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22" name="S08-label90"/>
          <p:cNvSpPr txBox="1"/>
          <p:nvPr/>
        </p:nvSpPr>
        <p:spPr>
          <a:xfrm>
            <a:off x="5810738" y="378662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23" name="S08-label92"/>
          <p:cNvSpPr txBox="1"/>
          <p:nvPr/>
        </p:nvSpPr>
        <p:spPr>
          <a:xfrm>
            <a:off x="8027285" y="378662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쥐</a:t>
            </a:r>
            <a:endParaRPr lang="ko-KR" sz="2400" dirty="0"/>
          </a:p>
        </p:txBody>
      </p:sp>
      <p:sp>
        <p:nvSpPr>
          <p:cNvPr id="24" name="S08-label94"/>
          <p:cNvSpPr txBox="1"/>
          <p:nvPr/>
        </p:nvSpPr>
        <p:spPr>
          <a:xfrm>
            <a:off x="3603883" y="29646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2400" dirty="0"/>
          </a:p>
        </p:txBody>
      </p:sp>
      <p:sp>
        <p:nvSpPr>
          <p:cNvPr id="25" name="S08-label96"/>
          <p:cNvSpPr txBox="1"/>
          <p:nvPr/>
        </p:nvSpPr>
        <p:spPr>
          <a:xfrm>
            <a:off x="5865534" y="296469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26" name="S08-label98"/>
          <p:cNvSpPr txBox="1"/>
          <p:nvPr/>
        </p:nvSpPr>
        <p:spPr>
          <a:xfrm>
            <a:off x="7808103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2400" dirty="0"/>
          </a:p>
        </p:txBody>
      </p:sp>
      <p:sp>
        <p:nvSpPr>
          <p:cNvPr id="27" name="S08-label100"/>
          <p:cNvSpPr txBox="1"/>
          <p:nvPr/>
        </p:nvSpPr>
        <p:spPr>
          <a:xfrm>
            <a:off x="3753235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9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먹이 그물에서 메뚜기가 모두 사라지면?</a:t>
            </a:r>
            <a:endParaRPr lang="ko-KR" sz="3000" dirty="0"/>
          </a:p>
        </p:txBody>
      </p:sp>
      <p:sp>
        <p:nvSpPr>
          <p:cNvPr id="4" name="S09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0" name="S09-table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45262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카드로 먹이 그물을 만들어요</a:t>
            </a:r>
            <a:endParaRPr lang="ko-KR" sz="4000" dirty="0"/>
          </a:p>
        </p:txBody>
      </p:sp>
      <p:sp>
        <p:nvSpPr>
          <p:cNvPr id="3" name="S10-card10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화살표 방향을 지켜요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이어진 생물을 모두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먹이가 있는지 봐요</a:t>
            </a:r>
            <a:endParaRPr lang="ko-KR" sz="3000" dirty="0"/>
          </a:p>
        </p:txBody>
      </p:sp>
      <p:sp>
        <p:nvSpPr>
          <p:cNvPr id="5" name="S10-stepno107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08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카드 7장을 활동지 4처럼 놓아요.</a:t>
            </a:r>
            <a:endParaRPr lang="ko-KR" sz="3000" dirty="0"/>
          </a:p>
        </p:txBody>
      </p:sp>
      <p:sp>
        <p:nvSpPr>
          <p:cNvPr id="7" name="S10-stepno109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10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털실이나 연필로 화살표를 이어요.</a:t>
            </a:r>
            <a:endParaRPr lang="ko-KR" sz="3000" dirty="0"/>
          </a:p>
        </p:txBody>
      </p:sp>
      <p:sp>
        <p:nvSpPr>
          <p:cNvPr id="9" name="S10-stepno111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12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카드를 빼고 끊긴 선을 찾아요.</a:t>
            </a:r>
            <a:endParaRPr lang="ko-KR" sz="3000" dirty="0"/>
          </a:p>
        </p:txBody>
      </p:sp>
      <p:sp>
        <p:nvSpPr>
          <p:cNvPr id="11" name="S10-stepno113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114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영향을 받는 생물을 찾아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1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생물들도 영향을 받아요.</a:t>
            </a:r>
            <a:endParaRPr lang="ko-KR" sz="3000" dirty="0"/>
          </a:p>
        </p:txBody>
      </p:sp>
      <p:graphicFrame>
        <p:nvGraphicFramePr>
          <p:cNvPr id="12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메뚜기가 사라지면?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2-card1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그물에서 메뚜기가 모두 사라졌어요.</a:t>
            </a:r>
            <a:endParaRPr lang="ko-KR" sz="3000" dirty="0"/>
          </a:p>
        </p:txBody>
      </p:sp>
      <p:sp>
        <p:nvSpPr>
          <p:cNvPr id="5" name="S12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2-chip1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1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없어진 거라서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생물은 괜찮아요.</a:t>
            </a:r>
            <a:endParaRPr lang="ko-KR" sz="3000" dirty="0"/>
          </a:p>
        </p:txBody>
      </p:sp>
      <p:sp>
        <p:nvSpPr>
          <p:cNvPr id="9" name="S12-chip1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1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먹던 개구리는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먹이가 없어 줄어들어요.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2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버섯은 생산자, 소비자, 분해자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무엇인가요?</a:t>
            </a:r>
            <a:endParaRPr lang="ko-KR" sz="3000" dirty="0"/>
          </a:p>
        </p:txBody>
      </p:sp>
      <p:sp>
        <p:nvSpPr>
          <p:cNvPr id="5" name="S13-chip12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3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뱀, 벼, 개구리, 메뚜기를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이어 말해요.</a:t>
            </a:r>
            <a:endParaRPr lang="ko-KR" sz="3000" dirty="0"/>
          </a:p>
        </p:txBody>
      </p:sp>
      <p:sp>
        <p:nvSpPr>
          <p:cNvPr id="7" name="S13-chip13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3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먹이 그물에서 쥐가 모두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사라지면 뱀은 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그린 먹이 사슬은?</a:t>
            </a:r>
            <a:endParaRPr lang="ko-KR" sz="4000" dirty="0"/>
          </a:p>
        </p:txBody>
      </p:sp>
      <p:sp>
        <p:nvSpPr>
          <p:cNvPr id="3" name="S15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참새는 메뚜기를 먹고, 메뚜기는 풀을 먹어요.</a:t>
            </a:r>
            <a:endParaRPr lang="ko-KR" sz="3000" dirty="0"/>
          </a:p>
        </p:txBody>
      </p:sp>
      <p:sp>
        <p:nvSpPr>
          <p:cNvPr id="4" name="S15-card1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5-chip13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3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3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 → 메뚜기 → 풀</a:t>
            </a:r>
            <a:endParaRPr lang="ko-KR" sz="3000" dirty="0"/>
          </a:p>
        </p:txBody>
      </p:sp>
      <p:sp>
        <p:nvSpPr>
          <p:cNvPr id="9" name="S15-chip13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4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4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메뚜기 → 참새</a:t>
            </a:r>
            <a:endParaRPr lang="ko-KR" sz="3000" dirty="0"/>
          </a:p>
        </p:txBody>
      </p:sp>
      <p:sp>
        <p:nvSpPr>
          <p:cNvPr id="12" name="S15-chip14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5-card14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14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→ 풀 → 참새</a:t>
            </a:r>
            <a:endParaRPr lang="ko-KR" sz="3000" dirty="0"/>
          </a:p>
        </p:txBody>
      </p:sp>
      <p:sp>
        <p:nvSpPr>
          <p:cNvPr id="15" name="S15-chip14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5-card14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5-cardtext14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참새 → 메뚜기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4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4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생물도 영향을 받아요.</a:t>
            </a:r>
            <a:endParaRPr lang="ko-KR" sz="3000" dirty="0"/>
          </a:p>
        </p:txBody>
      </p:sp>
      <p:sp>
        <p:nvSpPr>
          <p:cNvPr id="5" name="S16-chip15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화살표: 먹히는 생물 → 먹는 생물</a:t>
            </a:r>
            <a:endParaRPr lang="ko-KR" sz="2400" dirty="0"/>
          </a:p>
        </p:txBody>
      </p:sp>
      <p:sp>
        <p:nvSpPr>
          <p:cNvPr id="6" name="S16-chip15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생물만 사라진다고 생각하기</a:t>
            </a:r>
            <a:endParaRPr lang="ko-KR" sz="2400" dirty="0"/>
          </a:p>
        </p:txBody>
      </p:sp>
      <p:sp>
        <p:nvSpPr>
          <p:cNvPr id="7" name="S16-text15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5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햇빛을 받아 양분을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생물은?</a:t>
            </a:r>
            <a:endParaRPr lang="ko-KR" sz="2400" dirty="0"/>
          </a:p>
        </p:txBody>
      </p:sp>
      <p:sp>
        <p:nvSpPr>
          <p:cNvPr id="9" name="S16-text15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곰팡이와 세균은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2400" dirty="0"/>
          </a:p>
        </p:txBody>
      </p:sp>
      <p:sp>
        <p:nvSpPr>
          <p:cNvPr id="10" name="S16-text15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벼, 개구리, 메뚜기를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이으면?</a:t>
            </a:r>
            <a:endParaRPr lang="ko-KR" sz="2400" dirty="0"/>
          </a:p>
        </p:txBody>
      </p:sp>
      <p:sp>
        <p:nvSpPr>
          <p:cNvPr id="11" name="S16-text15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기체의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무엇이 있어야 자랄까?</a:t>
            </a:r>
            <a:endParaRPr lang="ko-KR" sz="4000" dirty="0"/>
          </a:p>
        </p:txBody>
      </p:sp>
      <p:sp>
        <p:nvSpPr>
          <p:cNvPr id="3" name="S17-text1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식물과 동물이 자라는 데 필요한 것을 비교해요.</a:t>
            </a:r>
            <a:endParaRPr lang="ko-KR" sz="3000" dirty="0"/>
          </a:p>
        </p:txBody>
      </p:sp>
      <p:sp>
        <p:nvSpPr>
          <p:cNvPr id="4" name="S1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다른 생물을 먹지 않고, 동물은 다른 생물을 먹어요.</a:t>
            </a:r>
            <a:endParaRPr lang="ko-KR" sz="3000" dirty="0"/>
          </a:p>
        </p:txBody>
      </p:sp>
      <p:graphicFrame>
        <p:nvGraphicFramePr>
          <p:cNvPr id="17" name="S17-table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28473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자라는 데 필요한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강낭콩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햇빛, 물, 알맞은 온도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풀, 채소를 먹어요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 같은 곤충을 먹어요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곡식, 곤충을 먹어요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생태계와 먹이 관계</dc:title>
  <dc:subject>KR22-G04-SCI-FOODCHAIN-L01</dc:subject>
  <dc:creator>education-ppt</dc:creator>
  <cp:lastModifiedBy>education-ppt</cp:lastModifiedBy>
  <cp:revision>1</cp:revision>
  <dcterms:created xsi:type="dcterms:W3CDTF">2026-10-26T13:25:13Z</dcterms:created>
  <dcterms:modified xsi:type="dcterms:W3CDTF">2026-10-26T13:25:13Z</dcterms:modified>
</cp:coreProperties>
</file>