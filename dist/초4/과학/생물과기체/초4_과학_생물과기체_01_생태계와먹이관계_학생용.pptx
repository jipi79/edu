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507e3b-ad0c-07b8-074f-344583848ef5}">
          <p14:sldIdLst>
            <p14:sldId id="256"/>
            <p14:sldId id="257"/>
          </p14:sldIdLst>
        </p14:section>
        <p14:section name="개념" id="{119390c5-fb11-2b4f-25c3-9b84b814e1ca}">
          <p14:sldIdLst>
            <p14:sldId id="258"/>
            <p14:sldId id="259"/>
            <p14:sldId id="261"/>
            <p14:sldId id="263"/>
          </p14:sldIdLst>
        </p14:section>
        <p14:section name="연습" id="{bff30b61-259e-336d-ad92-4661f81bc80b}">
          <p14:sldIdLst>
            <p14:sldId id="260"/>
            <p14:sldId id="262"/>
            <p14:sldId id="264"/>
            <p14:sldId id="265"/>
            <p14:sldId id="266"/>
            <p14:sldId id="267"/>
          </p14:sldIdLst>
        </p14:section>
        <p14:section name="개념" id="{66adf861-fe64-bf98-1048-8b7d0a6625fb}">
          <p14:sldIdLst/>
        </p14:section>
        <p14:section name="연습" id="{96553a7f-dacd-dc4e-c680-901e194601ae}">
          <p14:sldIdLst/>
        </p14:section>
        <p14:section name="개념" id="{5a624ec1-b3de-7f07-8cca-74be8e2507de}">
          <p14:sldIdLst/>
        </p14:section>
        <p14:section name="연습" id="{e06650a2-38e2-6f8f-69f7-ab9655b77597}">
          <p14:sldIdLst/>
        </p14:section>
        <p14:section name="확인" id="{d8ee8914-3682-cff8-f8d9-57b95bfe65ce}">
          <p14:sldIdLst>
            <p14:sldId id="268"/>
            <p14:sldId id="269"/>
          </p14:sldIdLst>
        </p14:section>
        <p14:section name="정리" id="{e2b3c124-3563-7515-ab23-226aaa8ee0c7}">
          <p14:sldIdLst>
            <p14:sldId id="270"/>
          </p14:sldIdLst>
        </p14:section>
        <p14:section name="보충" id="{b18f5003-104c-d1bb-5fd1-99ee0993947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생물과기체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생태계와 먹이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생태계와 먹이 관계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생물들은 서로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이어져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벼 → 메뚜기 → 개구리"/>
          <p:cNvSpPr/>
          <p:nvPr/>
        </p:nvSpPr>
        <p:spPr>
          <a:xfrm>
            <a:off x="8900009" y="2904352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E3F4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900009" y="1817936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900009" y="731520"/>
            <a:ext cx="1493822" cy="570368"/>
          </a:xfrm>
          <a:custGeom>
            <a:avLst/>
            <a:gdLst/>
            <a:ahLst/>
            <a:cxnLst/>
            <a:rect l="l" t="t" r="r" b="b"/>
            <a:pathLst>
              <a:path w="1493822" h="570368">
                <a:moveTo>
                  <a:pt x="0" y="570368"/>
                </a:moveTo>
                <a:lnTo>
                  <a:pt x="1493822" y="570368"/>
                </a:lnTo>
                <a:lnTo>
                  <a:pt x="149382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646920" y="2442625"/>
            <a:ext cx="0" cy="407406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1-mark6"/>
          <p:cNvSpPr/>
          <p:nvPr/>
        </p:nvSpPr>
        <p:spPr>
          <a:xfrm flipV="1">
            <a:off x="9646920" y="1356209"/>
            <a:ext cx="0" cy="407406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1-label8"/>
          <p:cNvSpPr txBox="1"/>
          <p:nvPr/>
        </p:nvSpPr>
        <p:spPr>
          <a:xfrm>
            <a:off x="9442704" y="29990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2400" dirty="0"/>
          </a:p>
        </p:txBody>
      </p:sp>
      <p:sp>
        <p:nvSpPr>
          <p:cNvPr id="11" name="S01-label10"/>
          <p:cNvSpPr txBox="1"/>
          <p:nvPr/>
        </p:nvSpPr>
        <p:spPr>
          <a:xfrm>
            <a:off x="9144000" y="1912620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2400" dirty="0"/>
          </a:p>
        </p:txBody>
      </p:sp>
      <p:sp>
        <p:nvSpPr>
          <p:cNvPr id="12" name="S01-label12"/>
          <p:cNvSpPr txBox="1"/>
          <p:nvPr/>
        </p:nvSpPr>
        <p:spPr>
          <a:xfrm>
            <a:off x="9144000" y="82620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2400" dirty="0"/>
          </a:p>
        </p:txBody>
      </p:sp>
      <p:sp>
        <p:nvSpPr>
          <p:cNvPr id="13" name="S01-card1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생물을 생산자·소비자·분해자로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먹이 사슬과 먹이 그물을 화살표로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한살이를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말해요.</a:t>
            </a:r>
            <a:endParaRPr lang="ko-KR" sz="3000" dirty="0"/>
          </a:p>
        </p:txBody>
      </p:sp>
      <p:sp>
        <p:nvSpPr>
          <p:cNvPr id="5" name="S02-chip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강낭콩이 잘 자라려면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필요할까요?</a:t>
            </a:r>
            <a:endParaRPr lang="ko-KR" sz="3000" dirty="0"/>
          </a:p>
        </p:txBody>
      </p:sp>
      <p:sp>
        <p:nvSpPr>
          <p:cNvPr id="7" name="S02-chip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토끼와 개구리는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먹고 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생태계</a:t>
            </a:r>
            <a:endParaRPr lang="ko-KR" sz="4000" dirty="0"/>
          </a:p>
        </p:txBody>
      </p:sp>
      <p:sp>
        <p:nvSpPr>
          <p:cNvPr id="3" name="S03-text21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곳에서 서로 영향을 주고받는 생물과 환경을 모두 합해 생태계라고 해요.</a:t>
            </a:r>
            <a:endParaRPr lang="ko-KR" sz="3000" dirty="0"/>
          </a:p>
        </p:txBody>
      </p:sp>
      <p:sp>
        <p:nvSpPr>
          <p:cNvPr id="4" name="S03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연못, 숲, 화단도 하나의 생태계예요.</a:t>
            </a:r>
            <a:endParaRPr lang="ko-KR" sz="3000" dirty="0"/>
          </a:p>
        </p:txBody>
      </p:sp>
      <p:sp>
        <p:nvSpPr>
          <p:cNvPr id="6" name="S03-card24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5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요소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식물, 동물, 곰팡이, 세균</a:t>
            </a:r>
            <a:endParaRPr lang="ko-KR" sz="3000" dirty="0"/>
          </a:p>
        </p:txBody>
      </p:sp>
      <p:sp>
        <p:nvSpPr>
          <p:cNvPr id="8" name="S03-card26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7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비생물 요소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있지 않은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햇빛, 물, 공기, 흙, 온도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얻는 방법</a:t>
            </a:r>
            <a:endParaRPr lang="ko-KR" sz="40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분해자 덕분에 죽은 생물이 썩어 흙으로 돌아가요.</a:t>
            </a:r>
            <a:endParaRPr lang="ko-KR" sz="3000" dirty="0"/>
          </a:p>
        </p:txBody>
      </p:sp>
      <p:graphicFrame>
        <p:nvGraphicFramePr>
          <p:cNvPr id="5" name="S04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29028"/>
          <a:ext cx="1097280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852928"/>
                <a:gridCol w="2852928"/>
                <a:gridCol w="35112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소비자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분해자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햇빛을 받아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스스로 만들어요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생물을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죽은 생물·배출물을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분해해요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벼, 풀, 나무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메뚜기, 개구리,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곰팡이, 세균,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버섯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들어갈까요?</a:t>
            </a:r>
            <a:endParaRPr lang="ko-KR" sz="40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생산자, 소비자, 분해자 중 어디에 들어갈까요?</a:t>
            </a:r>
            <a:endParaRPr lang="ko-KR" sz="3000" dirty="0"/>
          </a:p>
        </p:txBody>
      </p:sp>
      <p:sp>
        <p:nvSpPr>
          <p:cNvPr id="4" name="S05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양분을 어떻게 얻는지 생각해요. 생물이 아닌 것도 있어요.</a:t>
            </a:r>
            <a:endParaRPr lang="ko-KR" sz="3000" dirty="0"/>
          </a:p>
        </p:txBody>
      </p:sp>
      <p:sp>
        <p:nvSpPr>
          <p:cNvPr id="6" name="S05-chip3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3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민들레</a:t>
            </a:r>
            <a:endParaRPr lang="ko-KR" sz="3000" dirty="0"/>
          </a:p>
        </p:txBody>
      </p:sp>
      <p:sp>
        <p:nvSpPr>
          <p:cNvPr id="8" name="S05-chip36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37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다람쥐</a:t>
            </a:r>
            <a:endParaRPr lang="ko-KR" sz="3000" dirty="0"/>
          </a:p>
        </p:txBody>
      </p:sp>
      <p:sp>
        <p:nvSpPr>
          <p:cNvPr id="10" name="S05-chip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곰팡이</a:t>
            </a:r>
            <a:endParaRPr lang="ko-KR" sz="3000" dirty="0"/>
          </a:p>
        </p:txBody>
      </p:sp>
      <p:sp>
        <p:nvSpPr>
          <p:cNvPr id="12" name="S05-chip40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41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사마귀</a:t>
            </a:r>
            <a:endParaRPr lang="ko-KR" sz="3000" dirty="0"/>
          </a:p>
        </p:txBody>
      </p:sp>
      <p:sp>
        <p:nvSpPr>
          <p:cNvPr id="14" name="S05-chip4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5-text4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000" dirty="0"/>
          </a:p>
        </p:txBody>
      </p:sp>
      <p:sp>
        <p:nvSpPr>
          <p:cNvPr id="16" name="S05-chip44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7" name="S05-text45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소나무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</a:t>
            </a:r>
            <a:endParaRPr lang="ko-KR" sz="4000" dirty="0"/>
          </a:p>
        </p:txBody>
      </p:sp>
      <p:sp>
        <p:nvSpPr>
          <p:cNvPr id="3" name="S06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 먹히는 관계가 사슬처럼 이어진 것을 먹이 사슬이라고 해요.</a:t>
            </a:r>
            <a:endParaRPr lang="ko-KR" sz="3000" dirty="0"/>
          </a:p>
        </p:txBody>
      </p:sp>
      <p:sp>
        <p:nvSpPr>
          <p:cNvPr id="4" name="S06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벼를 먹고, 개구리는 메뚜기를 먹어요.</a:t>
            </a:r>
            <a:endParaRPr lang="ko-KR" sz="3000" dirty="0"/>
          </a:p>
        </p:txBody>
      </p:sp>
      <p:sp>
        <p:nvSpPr>
          <p:cNvPr id="6" name="S06-card49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0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 약속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먹히는 생물 → 먹는 생물</a:t>
            </a:r>
            <a:endParaRPr lang="ko-KR" sz="3000" dirty="0"/>
          </a:p>
        </p:txBody>
      </p:sp>
      <p:sp>
        <p:nvSpPr>
          <p:cNvPr id="8" name="S06-card51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2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처음은 생산자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사슬은 식물에서 시작해요.</a:t>
            </a:r>
            <a:endParaRPr lang="ko-KR" sz="3000" dirty="0"/>
          </a:p>
        </p:txBody>
      </p:sp>
      <p:sp>
        <p:nvSpPr>
          <p:cNvPr id="10" name="S06-step53"/>
          <p:cNvSpPr txBox="1"/>
          <p:nvPr/>
        </p:nvSpPr>
        <p:spPr>
          <a:xfrm>
            <a:off x="548640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3000" dirty="0"/>
          </a:p>
        </p:txBody>
      </p:sp>
      <p:sp>
        <p:nvSpPr>
          <p:cNvPr id="11" name="S06-line54"/>
          <p:cNvSpPr/>
          <p:nvPr/>
        </p:nvSpPr>
        <p:spPr>
          <a:xfrm>
            <a:off x="3067812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55"/>
          <p:cNvSpPr txBox="1"/>
          <p:nvPr/>
        </p:nvSpPr>
        <p:spPr>
          <a:xfrm>
            <a:off x="3424428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3000" dirty="0"/>
          </a:p>
        </p:txBody>
      </p:sp>
      <p:sp>
        <p:nvSpPr>
          <p:cNvPr id="13" name="S06-line56"/>
          <p:cNvSpPr/>
          <p:nvPr/>
        </p:nvSpPr>
        <p:spPr>
          <a:xfrm>
            <a:off x="5943600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57"/>
          <p:cNvSpPr txBox="1"/>
          <p:nvPr/>
        </p:nvSpPr>
        <p:spPr>
          <a:xfrm>
            <a:off x="6300216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3000" dirty="0"/>
          </a:p>
        </p:txBody>
      </p:sp>
      <p:sp>
        <p:nvSpPr>
          <p:cNvPr id="15" name="S06-line58"/>
          <p:cNvSpPr/>
          <p:nvPr/>
        </p:nvSpPr>
        <p:spPr>
          <a:xfrm>
            <a:off x="8819388" y="283083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59"/>
          <p:cNvSpPr txBox="1"/>
          <p:nvPr/>
        </p:nvSpPr>
        <p:spPr>
          <a:xfrm>
            <a:off x="9176004" y="2327910"/>
            <a:ext cx="2464308" cy="1005840"/>
          </a:xfrm>
          <a:prstGeom prst="roundRect">
            <a:avLst>
              <a:gd name="adj" fmla="val 1090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화살표로 이어요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생물을 먹이 사슬로 이어 말해요.</a:t>
            </a:r>
            <a:endParaRPr lang="ko-KR" sz="3000" dirty="0"/>
          </a:p>
        </p:txBody>
      </p:sp>
      <p:sp>
        <p:nvSpPr>
          <p:cNvPr id="4" name="S07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식물부터 시작하고, 화살표는 먹히는 쪽에서 먹는 쪽으로!</a:t>
            </a:r>
            <a:endParaRPr lang="ko-KR" sz="3000" dirty="0"/>
          </a:p>
        </p:txBody>
      </p:sp>
      <p:sp>
        <p:nvSpPr>
          <p:cNvPr id="6" name="S07-chip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6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풀, 여우, 토끼</a:t>
            </a:r>
            <a:endParaRPr lang="ko-KR" sz="3000" dirty="0"/>
          </a:p>
        </p:txBody>
      </p:sp>
      <p:sp>
        <p:nvSpPr>
          <p:cNvPr id="8" name="S07-chip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6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개구리, 뱀, 파리</a:t>
            </a:r>
            <a:endParaRPr lang="ko-KR" sz="3000" dirty="0"/>
          </a:p>
        </p:txBody>
      </p:sp>
      <p:sp>
        <p:nvSpPr>
          <p:cNvPr id="10" name="S07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6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부엉이, 벼, 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그물</a:t>
            </a:r>
            <a:endParaRPr lang="ko-KR" sz="4000" dirty="0"/>
          </a:p>
        </p:txBody>
      </p:sp>
      <p:sp>
        <p:nvSpPr>
          <p:cNvPr id="3" name="S08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먹이 사슬이 그물처럼 얽힌 것을 먹이 그물이라고 해요.</a:t>
            </a:r>
            <a:endParaRPr lang="ko-KR" sz="3000" dirty="0"/>
          </a:p>
        </p:txBody>
      </p:sp>
      <p:sp>
        <p:nvSpPr>
          <p:cNvPr id="4" name="S08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여러 생물을 먹기도 하고, 먹히기도 해요.</a:t>
            </a:r>
            <a:endParaRPr lang="ko-KR" sz="3000" dirty="0"/>
          </a:p>
        </p:txBody>
      </p:sp>
      <p:sp>
        <p:nvSpPr>
          <p:cNvPr id="6" name="S08-figure72" descr="먹이 그물: 벼 → 메뚜기, 벼 → 쥐, 벼 → 참새, 메뚜기 → 참새, 메뚜기 → 개구리, 개구리 → 뱀, 쥐 → 뱀, 참새 → 매(화살표는 먹히는 생물에서 먹는 생물 쪽)"/>
          <p:cNvSpPr/>
          <p:nvPr/>
        </p:nvSpPr>
        <p:spPr>
          <a:xfrm>
            <a:off x="5875294" y="4568918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3F4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mark73"/>
          <p:cNvSpPr/>
          <p:nvPr/>
        </p:nvSpPr>
        <p:spPr>
          <a:xfrm>
            <a:off x="5710907" y="3746985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74"/>
          <p:cNvSpPr/>
          <p:nvPr/>
        </p:nvSpPr>
        <p:spPr>
          <a:xfrm>
            <a:off x="7628750" y="3746985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75"/>
          <p:cNvSpPr/>
          <p:nvPr/>
        </p:nvSpPr>
        <p:spPr>
          <a:xfrm>
            <a:off x="3354701" y="2925053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mark76"/>
          <p:cNvSpPr/>
          <p:nvPr/>
        </p:nvSpPr>
        <p:spPr>
          <a:xfrm>
            <a:off x="5765703" y="2925053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mark77"/>
          <p:cNvSpPr/>
          <p:nvPr/>
        </p:nvSpPr>
        <p:spPr>
          <a:xfrm>
            <a:off x="7409568" y="2103120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mark78"/>
          <p:cNvSpPr/>
          <p:nvPr/>
        </p:nvSpPr>
        <p:spPr>
          <a:xfrm>
            <a:off x="3354701" y="2103120"/>
            <a:ext cx="1205501" cy="460282"/>
          </a:xfrm>
          <a:custGeom>
            <a:avLst/>
            <a:gdLst/>
            <a:ahLst/>
            <a:cxnLst/>
            <a:rect l="l" t="t" r="r" b="b"/>
            <a:pathLst>
              <a:path w="1205501" h="460282">
                <a:moveTo>
                  <a:pt x="0" y="460282"/>
                </a:moveTo>
                <a:lnTo>
                  <a:pt x="1205501" y="460282"/>
                </a:lnTo>
                <a:lnTo>
                  <a:pt x="120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mark79"/>
          <p:cNvSpPr/>
          <p:nvPr/>
        </p:nvSpPr>
        <p:spPr>
          <a:xfrm flipH="1" flipV="1">
            <a:off x="6368454" y="4251104"/>
            <a:ext cx="54796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8-mark80"/>
          <p:cNvSpPr/>
          <p:nvPr/>
        </p:nvSpPr>
        <p:spPr>
          <a:xfrm flipV="1">
            <a:off x="7062713" y="4251104"/>
            <a:ext cx="58412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8-mark81"/>
          <p:cNvSpPr/>
          <p:nvPr/>
        </p:nvSpPr>
        <p:spPr>
          <a:xfrm flipH="1" flipV="1">
            <a:off x="4377733" y="3429171"/>
            <a:ext cx="1680030" cy="109591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8-mark82"/>
          <p:cNvSpPr/>
          <p:nvPr/>
        </p:nvSpPr>
        <p:spPr>
          <a:xfrm flipH="1" flipV="1">
            <a:off x="4604038" y="3380951"/>
            <a:ext cx="1063033" cy="37041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7" name="S08-mark83"/>
          <p:cNvSpPr/>
          <p:nvPr/>
        </p:nvSpPr>
        <p:spPr>
          <a:xfrm flipV="1">
            <a:off x="6331741" y="3429171"/>
            <a:ext cx="1863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08-mark84"/>
          <p:cNvSpPr/>
          <p:nvPr/>
        </p:nvSpPr>
        <p:spPr>
          <a:xfrm flipV="1">
            <a:off x="6916409" y="2607239"/>
            <a:ext cx="547955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9" name="S08-mark85"/>
          <p:cNvSpPr/>
          <p:nvPr/>
        </p:nvSpPr>
        <p:spPr>
          <a:xfrm flipH="1" flipV="1">
            <a:off x="8049032" y="2607239"/>
            <a:ext cx="145756" cy="109591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8-mark86"/>
          <p:cNvSpPr/>
          <p:nvPr/>
        </p:nvSpPr>
        <p:spPr>
          <a:xfrm flipV="1">
            <a:off x="3957451" y="2607239"/>
            <a:ext cx="0" cy="273978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8-label88"/>
          <p:cNvSpPr txBox="1"/>
          <p:nvPr/>
        </p:nvSpPr>
        <p:spPr>
          <a:xfrm>
            <a:off x="6273829" y="4608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벼</a:t>
            </a:r>
            <a:endParaRPr lang="ko-KR" sz="2400" dirty="0"/>
          </a:p>
        </p:txBody>
      </p:sp>
      <p:sp>
        <p:nvSpPr>
          <p:cNvPr id="22" name="S08-label90"/>
          <p:cNvSpPr txBox="1"/>
          <p:nvPr/>
        </p:nvSpPr>
        <p:spPr>
          <a:xfrm>
            <a:off x="5810738" y="3786626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</a:t>
            </a:r>
            <a:endParaRPr lang="ko-KR" sz="2400" dirty="0"/>
          </a:p>
        </p:txBody>
      </p:sp>
      <p:sp>
        <p:nvSpPr>
          <p:cNvPr id="23" name="S08-label92"/>
          <p:cNvSpPr txBox="1"/>
          <p:nvPr/>
        </p:nvSpPr>
        <p:spPr>
          <a:xfrm>
            <a:off x="8027285" y="378662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</a:t>
            </a:r>
            <a:endParaRPr lang="ko-KR" sz="2400" dirty="0"/>
          </a:p>
        </p:txBody>
      </p:sp>
      <p:sp>
        <p:nvSpPr>
          <p:cNvPr id="24" name="S08-label94"/>
          <p:cNvSpPr txBox="1"/>
          <p:nvPr/>
        </p:nvSpPr>
        <p:spPr>
          <a:xfrm>
            <a:off x="3603883" y="29646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</a:t>
            </a:r>
            <a:endParaRPr lang="ko-KR" sz="2400" dirty="0"/>
          </a:p>
        </p:txBody>
      </p:sp>
      <p:sp>
        <p:nvSpPr>
          <p:cNvPr id="25" name="S08-label96"/>
          <p:cNvSpPr txBox="1"/>
          <p:nvPr/>
        </p:nvSpPr>
        <p:spPr>
          <a:xfrm>
            <a:off x="5865534" y="296469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</a:t>
            </a:r>
            <a:endParaRPr lang="ko-KR" sz="2400" dirty="0"/>
          </a:p>
        </p:txBody>
      </p:sp>
      <p:sp>
        <p:nvSpPr>
          <p:cNvPr id="26" name="S08-label98"/>
          <p:cNvSpPr txBox="1"/>
          <p:nvPr/>
        </p:nvSpPr>
        <p:spPr>
          <a:xfrm>
            <a:off x="7808103" y="214276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</a:t>
            </a:r>
            <a:endParaRPr lang="ko-KR" sz="2400" dirty="0"/>
          </a:p>
        </p:txBody>
      </p:sp>
      <p:sp>
        <p:nvSpPr>
          <p:cNvPr id="27" name="S08-label100"/>
          <p:cNvSpPr txBox="1"/>
          <p:nvPr/>
        </p:nvSpPr>
        <p:spPr>
          <a:xfrm>
            <a:off x="3753235" y="214276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9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먹이 그물에서 메뚜기가 모두 사라지면?</a:t>
            </a:r>
            <a:endParaRPr lang="ko-KR" sz="3000" dirty="0"/>
          </a:p>
        </p:txBody>
      </p:sp>
      <p:sp>
        <p:nvSpPr>
          <p:cNvPr id="4" name="S09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0" name="S09-table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45262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카드로 먹이 그물을 만들어요</a:t>
            </a:r>
            <a:endParaRPr lang="ko-KR" sz="4000" dirty="0"/>
          </a:p>
        </p:txBody>
      </p:sp>
      <p:sp>
        <p:nvSpPr>
          <p:cNvPr id="3" name="S10-card10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0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화살표 방향을 지켜요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이어진 생물을 모두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먹이가 있는지 봐요</a:t>
            </a:r>
            <a:endParaRPr lang="ko-KR" sz="3000" dirty="0"/>
          </a:p>
        </p:txBody>
      </p:sp>
      <p:sp>
        <p:nvSpPr>
          <p:cNvPr id="5" name="S10-stepno107"/>
          <p:cNvSpPr txBox="1"/>
          <p:nvPr/>
        </p:nvSpPr>
        <p:spPr>
          <a:xfrm>
            <a:off x="548640" y="171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108"/>
          <p:cNvSpPr txBox="1"/>
          <p:nvPr/>
        </p:nvSpPr>
        <p:spPr>
          <a:xfrm>
            <a:off x="1325880" y="16657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카드 7장을 활동지 4처럼 놓아요.</a:t>
            </a:r>
            <a:endParaRPr lang="ko-KR" sz="3000" dirty="0"/>
          </a:p>
        </p:txBody>
      </p:sp>
      <p:sp>
        <p:nvSpPr>
          <p:cNvPr id="7" name="S10-stepno109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110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털실이나 연필로 화살표를 이어요.</a:t>
            </a:r>
            <a:endParaRPr lang="ko-KR" sz="3000" dirty="0"/>
          </a:p>
        </p:txBody>
      </p:sp>
      <p:sp>
        <p:nvSpPr>
          <p:cNvPr id="9" name="S10-stepno111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112"/>
          <p:cNvSpPr txBox="1"/>
          <p:nvPr/>
        </p:nvSpPr>
        <p:spPr>
          <a:xfrm>
            <a:off x="1325880" y="38541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 카드를 빼고 끊긴 선을 찾아요.</a:t>
            </a:r>
            <a:endParaRPr lang="ko-KR" sz="3000" dirty="0"/>
          </a:p>
        </p:txBody>
      </p:sp>
      <p:sp>
        <p:nvSpPr>
          <p:cNvPr id="11" name="S10-stepno113"/>
          <p:cNvSpPr txBox="1"/>
          <p:nvPr/>
        </p:nvSpPr>
        <p:spPr>
          <a:xfrm>
            <a:off x="548640" y="499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0-text114"/>
          <p:cNvSpPr txBox="1"/>
          <p:nvPr/>
        </p:nvSpPr>
        <p:spPr>
          <a:xfrm>
            <a:off x="1325880" y="4948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영향을 받는 생물을 찾아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1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사라지면 이어진 생물들도 영향을 받아요.</a:t>
            </a:r>
            <a:endParaRPr lang="ko-KR" sz="3000" dirty="0"/>
          </a:p>
        </p:txBody>
      </p:sp>
      <p:graphicFrame>
        <p:nvGraphicFramePr>
          <p:cNvPr id="12" name="S11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메뚜기가 사라지면?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1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그물에서 메뚜기가 모두 사라졌어요.</a:t>
            </a:r>
            <a:endParaRPr lang="ko-KR" sz="3000" dirty="0"/>
          </a:p>
        </p:txBody>
      </p:sp>
      <p:sp>
        <p:nvSpPr>
          <p:cNvPr id="5" name="S12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1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1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메뚜기만 없어진 거라서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생물은 괜찮아요.</a:t>
            </a:r>
            <a:endParaRPr lang="ko-KR" sz="3000" dirty="0"/>
          </a:p>
        </p:txBody>
      </p:sp>
      <p:sp>
        <p:nvSpPr>
          <p:cNvPr id="9" name="S12-chip1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1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메뚜기만 먹던 개구리는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먹이가 없어 줄어들어요.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2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2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버섯은 생산자, 소비자, 분해자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무엇인가요?</a:t>
            </a:r>
            <a:endParaRPr lang="ko-KR" sz="3000" dirty="0"/>
          </a:p>
        </p:txBody>
      </p:sp>
      <p:sp>
        <p:nvSpPr>
          <p:cNvPr id="5" name="S13-chip12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3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뱀, 벼, 개구리, 메뚜기를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사슬로 이어 말해요.</a:t>
            </a:r>
            <a:endParaRPr lang="ko-KR" sz="3000" dirty="0"/>
          </a:p>
        </p:txBody>
      </p:sp>
      <p:sp>
        <p:nvSpPr>
          <p:cNvPr id="7" name="S13-chip13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3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먹이 그물에서 쥐가 모두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사라지면 뱀은 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그린 먹이 사슬은?</a:t>
            </a:r>
            <a:endParaRPr lang="ko-KR" sz="4000" dirty="0"/>
          </a:p>
        </p:txBody>
      </p:sp>
      <p:sp>
        <p:nvSpPr>
          <p:cNvPr id="3" name="S15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참새는 메뚜기를 먹고, 메뚜기는 풀을 먹어요.</a:t>
            </a:r>
            <a:endParaRPr lang="ko-KR" sz="3000" dirty="0"/>
          </a:p>
        </p:txBody>
      </p:sp>
      <p:sp>
        <p:nvSpPr>
          <p:cNvPr id="4" name="S15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5-chip13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3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3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참새 → 메뚜기 → 풀</a:t>
            </a:r>
            <a:endParaRPr lang="ko-KR" sz="3000" dirty="0"/>
          </a:p>
        </p:txBody>
      </p:sp>
      <p:sp>
        <p:nvSpPr>
          <p:cNvPr id="9" name="S15-chip13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4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4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→ 메뚜기 → 참새</a:t>
            </a:r>
            <a:endParaRPr lang="ko-KR" sz="3000" dirty="0"/>
          </a:p>
        </p:txBody>
      </p:sp>
      <p:sp>
        <p:nvSpPr>
          <p:cNvPr id="12" name="S15-chip14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5-card14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14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 → 풀 → 참새</a:t>
            </a:r>
            <a:endParaRPr lang="ko-KR" sz="3000" dirty="0"/>
          </a:p>
        </p:txBody>
      </p:sp>
      <p:sp>
        <p:nvSpPr>
          <p:cNvPr id="15" name="S15-chip14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5-card14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14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→ 참새 → 메뚜기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4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4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생산자·소비자·분해자로 나눠요.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생물이 사라지면 이어진 생물도 영향을 받아요.</a:t>
            </a:r>
            <a:endParaRPr lang="ko-KR" sz="3000" dirty="0"/>
          </a:p>
        </p:txBody>
      </p:sp>
      <p:sp>
        <p:nvSpPr>
          <p:cNvPr id="5" name="S16-chip15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화살표: 먹히는 생물 → 먹는 생물</a:t>
            </a:r>
            <a:endParaRPr lang="ko-KR" sz="2400" dirty="0"/>
          </a:p>
        </p:txBody>
      </p:sp>
      <p:sp>
        <p:nvSpPr>
          <p:cNvPr id="6" name="S16-chip15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생물만 사라진다고 생각하기</a:t>
            </a:r>
            <a:endParaRPr lang="ko-KR" sz="2400" dirty="0"/>
          </a:p>
        </p:txBody>
      </p:sp>
      <p:sp>
        <p:nvSpPr>
          <p:cNvPr id="7" name="S16-text15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5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햇빛을 받아 양분을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생물은?</a:t>
            </a:r>
            <a:endParaRPr lang="ko-KR" sz="2400" dirty="0"/>
          </a:p>
        </p:txBody>
      </p:sp>
      <p:sp>
        <p:nvSpPr>
          <p:cNvPr id="9" name="S16-text15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곰팡이와 세균은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400" dirty="0"/>
          </a:p>
        </p:txBody>
      </p:sp>
      <p:sp>
        <p:nvSpPr>
          <p:cNvPr id="10" name="S16-text15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벼, 개구리, 메뚜기를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 사슬로 이으면?</a:t>
            </a:r>
            <a:endParaRPr lang="ko-KR" sz="2400" dirty="0"/>
          </a:p>
        </p:txBody>
      </p:sp>
      <p:sp>
        <p:nvSpPr>
          <p:cNvPr id="11" name="S16-text15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기체의 성질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무엇이 있어야 자랄까?</a:t>
            </a:r>
            <a:endParaRPr lang="ko-KR" sz="4000" dirty="0"/>
          </a:p>
        </p:txBody>
      </p:sp>
      <p:sp>
        <p:nvSpPr>
          <p:cNvPr id="3" name="S17-text1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식물과 동물이 자라는 데 필요한 것을 비교해요.</a:t>
            </a:r>
            <a:endParaRPr lang="ko-KR" sz="3000" dirty="0"/>
          </a:p>
        </p:txBody>
      </p:sp>
      <p:sp>
        <p:nvSpPr>
          <p:cNvPr id="4" name="S17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다른 생물을 먹지 않고, 동물은 다른 생물을 먹어요.</a:t>
            </a:r>
            <a:endParaRPr lang="ko-KR" sz="3000" dirty="0"/>
          </a:p>
        </p:txBody>
      </p:sp>
      <p:graphicFrame>
        <p:nvGraphicFramePr>
          <p:cNvPr id="17" name="S17-table1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28473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자라는 데 필요한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강낭콩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햇빛, 물, 알맞은 온도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풀, 채소를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개구리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 같은 곤충을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곡식, 곤충을 먹어요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생태계와 먹이 관계</dc:title>
  <dc:subject>KR22-G04-SCI-FOODCHAIN-L01</dc:subject>
  <dc:creator>education-ppt</dc:creator>
  <cp:lastModifiedBy>education-ppt</cp:lastModifiedBy>
  <cp:revision>1</cp:revision>
  <dcterms:created xsi:type="dcterms:W3CDTF">2026-10-26T13:18:54Z</dcterms:created>
  <dcterms:modified xsi:type="dcterms:W3CDTF">2026-10-26T13:18:54Z</dcterms:modified>
</cp:coreProperties>
</file>