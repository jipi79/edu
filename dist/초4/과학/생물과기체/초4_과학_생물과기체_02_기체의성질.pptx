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39a4131-d279-04ac-bdd7-6e6566b536b1}">
          <p14:sldIdLst>
            <p14:sldId id="256"/>
            <p14:sldId id="257"/>
          </p14:sldIdLst>
        </p14:section>
        <p14:section name="연습" id="{059e4d4c-0e81-f0a9-afda-eef04dc9b423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8"/>
          </p14:sldIdLst>
        </p14:section>
        <p14:section name="개념" id="{2f00b337-e0b6-1b61-aa5e-50f68f20af15}">
          <p14:sldIdLst>
            <p14:sldId id="261"/>
            <p14:sldId id="267"/>
          </p14:sldIdLst>
        </p14:section>
        <p14:section name="연습" id="{aa82e69c-c8ee-abd3-3a84-4b7abb9a543d}">
          <p14:sldIdLst/>
        </p14:section>
        <p14:section name="개념" id="{389e44ee-3ce1-60c1-cec1-e58da9f21b25}">
          <p14:sldIdLst/>
        </p14:section>
        <p14:section name="연습" id="{02d742d0-3136-14f4-4860-1997c65aa252}">
          <p14:sldIdLst/>
        </p14:section>
        <p14:section name="확인" id="{099143f1-09d1-fba5-ba9c-5fc3a48d82f3}">
          <p14:sldIdLst>
            <p14:sldId id="269"/>
            <p14:sldId id="270"/>
            <p14:sldId id="271"/>
          </p14:sldIdLst>
        </p14:section>
        <p14:section name="정리" id="{3c7f7aa9-b0cc-4cea-0edc-bea2b2503c36}">
          <p14:sldIdLst>
            <p14:sldId id="272"/>
          </p14:sldIdLst>
        </p14:section>
        <p14:section name="보충" id="{a2621817-84cc-3c3b-ed75-1112aecc7f4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눈에 보이지 않는 공기에 궁금증을 갖게 합니다.
시간: 약 2분
이렇게 말해 보세요
- “이 컵 안에는 무엇이 들어 있을까? 비어 있을까?”
- “오늘은 컵과 물, 공과 저울로 눈에 보이지 않는 공기가 어떤 성질을 가졌는지 알아볼 거야.”
예상 답
- “아무것도 없어요.” “공기가 있어요.” 어떤 답이든 괜찮습니다.
막히면
- 손바닥으로 부채질을 해 바람을 느끼게 하고 “이건 뭐가 움직인 걸까?”라고만 묻습니다.
주의
- 물 실험(S04)은 싱크대 옆이나 욕실에서, 저울 실험(S10)은 물기를 닦은 마른 식탁에서 합니다. 전자저울을 물 가까이에 두지 않습니다.
- 구멍 난 컵은 수업 전에 어른이 송곳으로 바닥 가운데에 작은 구멍을 내어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확인(물의 상태 변화, 기체)]
목적: 계획상 선수 차시인 ‘물의 상태 변화’(KR22-G04-SCI-WATERSTATE-L01)에서 배운 기체(수증기)와 증발을 확인하고, 눈에 보이지 않는 공기를 느낀 경험을 떠올립니다. 오늘은 같은 기체인 공기의 성질을 알아봅니다.
시간: 약 2분
이렇게 말해 보세요
- “① 얼음, 물, 수증기 가운데 기체는 무엇이었지? 눈에 보였어?”
- “② 젖은 빨래의 물은 어디로 갔지? 무엇으로 변했어?”
- “③ 공기도 눈에 보이지 않잖아. 그런데 공기가 있다는 걸 어떻게 알 수 있을까?”
예상 답
- ③ “부채질하면 바람이 느껴져요.” “비닐봉지에 공기를 담으면 부풀어요.” “풍선을 불면 커져요.”
정답
- ① 수증기(눈에 보이지 않음)
- ② 증발해 수증기가 되어 공기 속으로 퍼졌다
막히면
- ①②가 흔들리면 S18(보충)을 먼저 합니다. 보충으로도 어려우면 ‘물의 상태 변화’(KR22-G04-SCI-WATERSTATE-L01)의 S07(증발)을 다시 봅니다.
주의
- ③은 오늘 실험으로 이어지는 질문입니다. 아이의 경험을 칭찬하고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컵 실험 전 예상하기]
목적: 컵 실험을 하기 전에 결과를 예상하고 까닭을 말합니다(목표 A). 결과는 S04에서 확인합니다.
시간: 약 1분
이렇게 말해 보세요
- “컵을 거꾸로 해서 물속에 눌러 넣으면, 컵 바닥에 붙인 휴지는 젖을까? 물 위에 띄운 조각은 어떻게 될까?”
- “바닥에 구멍이 난 컵이면 어떨까? 왜 그렇게 생각해?”
예상 답
- 어떤 예상이든 괜찮습니다. “물속에 넣으니까 휴지가 다 젖을 것 같아요.” “조각은 그대로 떠 있을 것 같아요.”
막히면
- 쓰기가 느리면 아이가 말하고 부모가 받아 적습니다.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거꾸로 엎은 컵 실험]
목적: 구멍 없는 컵과 구멍 난 컵을 거꾸로 물속에 눌러 넣어 휴지와 조각이 어떻게 되는지 관찰하고 기록합니다(목표 A, 오해 M1·M3).
시간: 약 5분
이렇게 말해 보세요
- “휴지를 컵 바닥 안쪽에 붙이자. 컵을 거꾸로 들어도 떨어지지 않게 테이프로 꼭 붙여.”
- “조각 위에 컵을 씌워서 똑바로 천천히 눌러 봐. 조각은 어떻게 돼? 이제 꺼내서 휴지를 만져 볼까?”
- “이번엔 구멍 난 컵이야. 구멍 위에 손바닥을 대고 눌러 봐. 무엇이 느껴져? 꺼내서 휴지를 만져 봐.”
예상 답
- “구멍 없는 컵은 조각이 아래로 내려가고 휴지가 안 젖었어요.” “구멍 난 컵은 구멍에서 바람이 나오고, 물이 들어와서 휴지가 젖었어요.”
막히면
- 컵을 기울이면 공기가 빠져나가 휴지가 젖습니다. 컵을 수평으로 똑바로 눌러 넣고, 똑바로 들어 올리게 합니다.
- 조각이 잘 보이지 않으면 투명한 그릇을 쓰고 옆에서 봅니다.
주의
- 물이 튀어도 되는 곳에서 하고, 전기 제품·콘센트·전자저울은 멀리 둡니다. 흘린 물은 바로 닦습니다.
- 구멍은 컵 바닥(거꾸로 들면 위쪽)에 있어 물 위로 나와 있습니다. 물이 들어온 곳은 구멍이 아니라 아래쪽 입구라는 것을 함께 봅니다(오해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컵 실험 결과 정리]
목적: 두 컵의 결과를 정리하고 예상과 비교합니다(목표 A).
시간: 약 2분
이렇게 말해 보세요
- “구멍 없는 컵과 구멍 난 컵은 무엇이 달랐어? 휴지부터 말해 볼까?”
- “예상과 같은 것, 다른 것은 뭐야?”
예상 답
- 구멍 없는 컵: 휴지가 젖지 않음 / 조각이 컵 입구 쪽으로 내려감
- 구멍 난 컵: 휴지가 젖음 / 조각이 컵 안쪽 위로 올라감 / 구멍에서 바람(공기)이 나옴
막히면
- 두 컵을 다시 한 번씩 눌러 넣으며 조각의 높이를 비교합니다.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설명하기(공기가 공간을 차지함)]
목적: 실험 결과를 그림으로 정리하고, 공기가 공간을 차지한다는 것을 설명합니다(목표 A, 오해 M1·M3).
시간: 약 2분
이렇게 말해 보세요
- “구멍 없는 컵 안에는 무엇이 있었을까? 공기가 컵 안의 자리를 차지하고 있어서 물이 들어오지 못했어. 그래서 휴지가 젖지 않았지.”
- “구멍을 내니까 공기가 구멍으로 빠져나갔어. 공기가 있던 자리에 무엇이 들어왔어?”
예상 답
- “물이 들어왔어요.” “공기가 나가서 그 자리에 물이 찼어요.”
막히면
- 두 그림의 ‘공기’ 글자와 휴지를 번갈아 짚으며 ‘공기가 있으면 → 물이 못 들어옴’을 말하게 합니다.
주의
- 구멍 없는 컵 안으로도 물이 아주 조금은 들어옵니다. 물이 공기를 조금 눌러 공기의 부피가 줄기 때문인데, 이 내용(압력에 따른 부피 변화)은 이 차시에서 다루지 않습니다. 아이가 물으면 “공기가 조금 눌린 거야.”라고만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비교(빈 컵에는 아무것도 없다)]
목적: ‘빈 컵에는 아무것도 없다’는 생각을 실험 결과로 바로잡습니다(목표 A, 오해 M1).
시간: 약 2분
이렇게 말해 보세요
- “토끼는 빈 컵 안에 아무것도 없대. 곰은 공기가 있대. 누구 말이 맞을까?”
- “아무것도 없다면 컵을 눌러 넣었을 때 물이 어떻게 되었어야 할까? 실제로는?”
정답
- 곰. 증거: 빈 컵을 거꾸로 눌러 넣었더니 물이 들어오지 못해 휴지가 젖지 않았습니다(컵 안의 공기가 자리를 차지함).
- 또 다른 증거: 구멍을 내자 공기가 빠져나가는 바람이 느껴졌고, 그 자리에 물이 들어왔습니다.
막히면
- 구멍 없는 컵을 다시 눌러 넣고, 물속에서 컵을 살짝 기울여 공기 방울이 ‘뽀글’ 나오는 것을 보여 줍니다.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생활 속 공기가 공간을 차지하는 예]
목적: 공기가 공간을 차지하는 성질을 생활 속 물건과 이어 봅니다(목표 A).
시간: 약 2분
이렇게 말해 보세요
- “튜브 안에는 무엇이 들어 있어? 공기가 자리를 차지해서 어떤 점이 좋을까?”
예상 답
- ① 튜브 안의 공기가 자리를 차지해 부풀어 있어서 물에 뜰 수 있다
- ② 바퀴 안의 공기가 자리를 차지해 바퀴가 단단하고, 덜컹거림을 줄여 준다
- ③ 작은 방울 안의 공기가 자리를 차지해 물건이 부딪쳐도 덜 깨지게 막아 준다
막히면
- 집에 있는 에어캡이나 공을 직접 눌러 보고 “안에 무엇이 있어서 눌리지 않고 버틸까?”라고 묻습니다.
주의
- ‘공기가 들어 있다’와 ‘그래서 좋은 점’을 함께 말하면 잘한 것입니다.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무게 재기 전 예상하기]
목적: 공의 무게를 재기 전에 공기를 넣으면 무게가 어떻게 될지 예상하고 까닭을 말합니다(목표 B, 오해 M2). 결과는 S10에서 확인합니다.
시간: 약 1분
이렇게 말해 보세요
- “공에 공기를 넣으면 공이 더 무거워질까, 가벼워질까, 그대로일까? 왜 그렇게 생각해?”
예상 답
- 어떤 예상이든 괜찮습니다. “공기는 무게가 없으니까 그대로예요.” “풍선처럼 가벼워질 것 같아요.”
막히면
- “바람 빠진 공과 빵빵한 공, 들어 보면 어때?”라고 묻습니다. 손으로는 차이를 느끼기 어렵다는 것도 이야기합니다.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공기를 넣기 전과 뒤의 무게 재기]
목적: 공기를 넣기 전과 넣은 뒤 공의 무게를 같은 저울로 재어 비교합니다(목표 B, 오해 M2).
시간: 약 5분
이렇게 말해 보세요
- “저울에 아무것도 없을 때 0인지 먼저 볼까? 공을 올려 무게를 읽어 줘. 몇 g이야?”
- “이제 공기를 넣자. 손으로 눌러 단단해질 때까지. 다시 재 보자. 무게는 어떻게 됐어?”
예상 답
- “처음보다 몇 g 늘었어요!” “공기를 넣었더니 더 무거워졌어요.”
막히면
- 공이 저울에서 굴러가면 작은 그릇이나 휴지 심을 받침으로 놓고, 받침을 올린 뒤 0을 맞춥니다.
- 차이가 보이지 않으면 공기를 더 빼고 다시 해 봅니다. 그래도 저울(5 g 단위 등)로 차이가 보이지 않으면 결과대로 ‘차이 없음’이라고 쓰고, S12의 학교 실험 결과를 함께 읽습니다.
주의
- 공에서 공기를 뺄 때와 넣을 때 주입기 바늘은 어른이 꽂습니다. 공에 공기를 너무 많이 넣지 않습니다.
- 늘어나는 무게는 공의 크기와 넣은 공기의 양에 따라 다르며 보통 몇 g 정도입니다. 1 g 단위 전자저울을 씁니다(손으로 느끼기는 어렵습니다).
- 물 실험(S04) 뒤라면 손과 공의 물기를 닦은 뒤 마른 식탁에서 저울을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무게 재기 결과 정리]
목적: 두 무게와 늘어난 무게를 정리하고 예상과 비교합니다(목표 B).
시간: 약 2분
이렇게 말해 보세요
- “공기를 넣기 전에는 몇 g이었어? 넣은 뒤에는? 몇 g 늘었는지 빼서 구해 볼까?”
- “예상과 같았어?”
예상 답
- “공기를 넣은 뒤 몇 g 더 무거워졌어요.”(재어 본 값대로 말하면 맞음)
막히면
- ‘넣은 뒤 무게 − 넣기 전 무게’를 활동지에 세로셈으로 쓰게 합니다.
주의
- 화면의 빈칸은 아이가 말로 채우는 자리입니다.
- 저울로 차이가 보이지 않았다면 ‘차이 없음’도 정직한 결과입니다. 저울이 아주 작은 무게를 재지 못했을 수 있다고 이야기하고 S12로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결과로 설명하기(공기에 무게가 있음)]
목적: 공의 무게를 잰 결과와 학교 실험의 결과로 공기에 무게가 있다는 것을 정리합니다(목표 B, 오해 M2).
시간: 약 2분
이렇게 말해 보세요
- “공기를 넣었더니 무게가 늘었지? 늘어난 만큼이 우리가 넣은 공기의 무게야.”
- “학교에서는 공기 주입 마개를 끼운 페트병에 공기를 넣고 전자저울로 재어 봐. 그때도 공기를 넣은 뒤 무게가 조금 늘어나.”
예상 답
- “공기에도 무게가 있어요.” “아주 가볍지만 있어요.”
막히면
- “아무것도 없다면 무게가 늘었을까?”라고 거꾸로 묻습니다.
주의
- 우리 저울로 차이가 보이지 않았다면 이 장에서 학교 실험의 결과를 증거로 씁니다. 결과를 지어내지 않고 ‘우리 저울로는 차이가 보이지 않았다’고 그대로 이야기합니다.
- 같은 크기라도 공기는 물보다 훨씬 가볍습니다. 정확한 수치는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오해 비교(공기는 무게가 없다)]
목적: ‘공기를 넣으면 가벼워진다(공기는 무게가 없다)’는 생각을 무게를 잰 결과로 바로잡습니다(목표 B, 오해 M2).
시간: 약 2분
이렇게 말해 보세요
- “토끼는 공기를 넣으면 가벼워진대. 곰은 더 무거웠대. 누구 말이 맞을까?”
- “우리가 잰 무게를 볼까? 넣기 전과 넣은 뒤 중 어느 쪽이 더 무거웠어?”
정답
- 곰. 증거: 같은 저울로 재었더니 공기를 넣은 뒤의 무게가 넣기 전보다 늘었습니다(우리 저울로 차이가 보이지 않았다면 학교 실험에서 공기를 넣은 페트병이 무거워진 결과).
막히면
- 활동지 3의 두 무게를 손가락으로 짚으며 어느 수가 더 큰지 비교하게 합니다.
주의
- 입으로 분 풍선은 바닥으로 천천히 떨어지고, 하늘로 뜨는 풍선은 공기보다 가벼운 헬륨이라는 기체를 넣은 것입니다. 아이가 풍선 이야기를 하면 이렇게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혼자 해결]
목적: 도움 없이 처음 보는 상황(①)과 공기의 무게(②③)를 설명하는지 확인합니다(목표 A·B).
시간: 약 3분
이렇게 말해 보세요
- “①은 병 입구에 깔때기를 꽂고, 틈을 찰흙으로 꽉 막은 다음 물을 붓는 거야. 물이 잘 내려가지 않는대. 왜일까?”
- “혼자 답해 볼래? 왜 그렇게 생각했는지도 말해 줘.”
정답
- ① 병 안의 공기가 빠져나가지 못하고 자리를 차지하고 있어서 물이 들어갈 자리가 없기 때문
- ② 늘어난다(더 무거워진다)
- ③ 공기를 넣기 전과 넣은 뒤의 무게를 같은 저울로 재어 비교한다
막히면
- 바로 알려 주지 말고 “구멍 없는 컵에서는 왜 물이 못 들어왔지?”, “우리 공은 어땠지?”라고만 묻습니다.
- 도움을 받아 해결했다면 기록표에 ‘도움’으로 표시합니다.
주의
- ①은 집에서도 해 볼 수 있습니다(빈 페트병, 깔때기, 찰흙이나 고무찰흙). 틈을 다시 열면 공기가 빠져나가며 물이 내려갑니다.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병 안의 공기가 자리를 차지해서 ② 늘어난다 ③ 공기를 넣기 전과 넣은 뒤의 무게를 같은 저울로 재어 비교한다
막히면
- ①이 틀리면 S06·S07로(M1), ②③이 틀리면 S11~S13으로(M2)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마무리 확인(늘어난 무게)]
목적: 처음 보는 기록에서 늘어난 무게를 구하고, 공기에 무게가 있다는 결론을 말하는지 확인합니다(목표 B).
시간: 약 2분
이렇게 말해 보세요
- “늘어난 무게는 얼마일까? 어떻게 구했어? 이 결과로 무엇을 알 수 있어?”
정답
- 나(5 g). 425 − 420 = 5. 공기를 넣은 뒤 5 g 무거워졌으므로 공기에는 무게가 있습니다.
막히면
- “넣은 뒤 무게에서 넣기 전 무게를 빼면?”이라고 묻습니다.
주의
- 다(845 g)를 고르면 두 무게를 더한 것입니다. 답만 맞히고 ‘공기에 무게가 있다’는 결론을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정리와 다음 수업 복습]
목적: 핵심을 정리하고 다음 수업 첫 5분에 풀 복습 문제를 알려 줍니다.
시간: 약 1분
이렇게 말해 보세요
- “눈에 보이지 않는 공기도 자리를 차지할까? 무게가 있을까? 무엇을 보고 알았어?”
예상 답
- “네. 컵 안의 휴지가 안 젖었고, 공기를 넣은 공이 더 무거웠어요.”
정답
- ① 컵 안의 공기가 자리를 차지해 물이 들어오지 못해서 ② 늘어난다 ③ 튜브, 자전거 바퀴, 에어캡, 공 등
막히면
- S06과 S12를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선수 학습 보충(고체·액체·기체)]
목적: S02 ①②가 흔들리면, 고체·액체·기체를 구별하고 수증기와 공기가 기체라는 것을 먼저 익힙니다.
시간: 약 4분
이렇게 말해 보세요
- “비닐봉지를 크게 흔들어 공기를 담고 입구를 잡아 볼까? 봉지 안에 무엇이 들어 있어?”
- “공기는 얼음처럼 모양이 일정해? 물처럼 흘러? 공기는 보이지 않지만 봉지를 가득 채웠지?”
예상 답
- “공기가 들어 있어요.” “봉지가 빵빵해졌어요.”
막히면
- 부채질로 바람을 느끼게 하고, 손등에 바른 물이 증발해 수증기가 되는 것(‘물의 상태 변화’)을 떠올리게 합니다.
주의
- 계획상 선수 차시는 ‘물의 상태 변화’(KR22-G04-SCI-WATERSTATE-L01)입니다. 보충으로도 기체가 어려우면 그 차시의 S06(얼음과 물)·S07(증발)을 먼저 다시 하고, 공기가 낯설면 초3 ‘지구의 표면과 바다’(KR22-G03-SCI-EARTHSEA-L01)의 공기 부분도 함께 봅니다.
- 비닐봉지를 얼굴이나 머리에 쓰지 않게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생물과기체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기체의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기체의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기체의 성질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기체의 성질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보이지 않는 공기도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차지할까?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물이 담긴 대야 위에 휴지를 붙인 컵을 거꾸로 들고 있는 모습, 물 위에는 작은 조각이 떠 있음"/>
          <p:cNvSpPr/>
          <p:nvPr/>
        </p:nvSpPr>
        <p:spPr>
          <a:xfrm>
            <a:off x="7974482" y="2173986"/>
            <a:ext cx="3344875" cy="1218895"/>
          </a:xfrm>
          <a:custGeom>
            <a:avLst/>
            <a:gdLst/>
            <a:ahLst/>
            <a:cxnLst/>
            <a:rect l="l" t="t" r="r" b="b"/>
            <a:pathLst>
              <a:path w="3344875" h="1218895">
                <a:moveTo>
                  <a:pt x="0" y="1218895"/>
                </a:moveTo>
                <a:lnTo>
                  <a:pt x="3344875" y="1218895"/>
                </a:lnTo>
                <a:lnTo>
                  <a:pt x="334487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6" name="S01-mark3"/>
          <p:cNvSpPr/>
          <p:nvPr/>
        </p:nvSpPr>
        <p:spPr>
          <a:xfrm>
            <a:off x="7946136" y="1493672"/>
            <a:ext cx="3401568" cy="1927555"/>
          </a:xfrm>
          <a:custGeom>
            <a:avLst/>
            <a:gdLst/>
            <a:ahLst/>
            <a:cxnLst/>
            <a:rect l="l" t="t" r="r" b="b"/>
            <a:pathLst>
              <a:path w="3401568" h="1927555">
                <a:moveTo>
                  <a:pt x="0" y="0"/>
                </a:moveTo>
                <a:lnTo>
                  <a:pt x="0" y="1927555"/>
                </a:lnTo>
                <a:lnTo>
                  <a:pt x="3401568" y="1927555"/>
                </a:lnTo>
                <a:lnTo>
                  <a:pt x="3401568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391802" y="2032254"/>
            <a:ext cx="510235" cy="141732"/>
          </a:xfrm>
          <a:custGeom>
            <a:avLst/>
            <a:gdLst/>
            <a:ahLst/>
            <a:cxnLst/>
            <a:rect l="l" t="t" r="r" b="b"/>
            <a:pathLst>
              <a:path w="510235" h="141732">
                <a:moveTo>
                  <a:pt x="0" y="141732"/>
                </a:moveTo>
                <a:lnTo>
                  <a:pt x="510235" y="141732"/>
                </a:lnTo>
                <a:lnTo>
                  <a:pt x="51023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391802" y="841705"/>
            <a:ext cx="510235" cy="141732"/>
          </a:xfrm>
          <a:custGeom>
            <a:avLst/>
            <a:gdLst/>
            <a:ahLst/>
            <a:cxnLst/>
            <a:rect l="l" t="t" r="r" b="b"/>
            <a:pathLst>
              <a:path w="510235" h="141732">
                <a:moveTo>
                  <a:pt x="0" y="141732"/>
                </a:moveTo>
                <a:lnTo>
                  <a:pt x="510235" y="141732"/>
                </a:lnTo>
                <a:lnTo>
                  <a:pt x="51023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>
            <a:off x="9136685" y="785012"/>
            <a:ext cx="1020470" cy="992124"/>
          </a:xfrm>
          <a:custGeom>
            <a:avLst/>
            <a:gdLst/>
            <a:ahLst/>
            <a:cxnLst/>
            <a:rect l="l" t="t" r="r" b="b"/>
            <a:pathLst>
              <a:path w="1020470" h="992124">
                <a:moveTo>
                  <a:pt x="0" y="992124"/>
                </a:moveTo>
                <a:lnTo>
                  <a:pt x="170078" y="0"/>
                </a:lnTo>
                <a:lnTo>
                  <a:pt x="850392" y="0"/>
                </a:lnTo>
                <a:lnTo>
                  <a:pt x="1020470" y="992124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610698" y="983437"/>
            <a:ext cx="0" cy="623621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01-card8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공기가 공간을 차지한다는 것을 실험으로 확인해요.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공기에 무게가 있는지 저울로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1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얼음, 물, 수증기 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기체는 무엇인가요?</a:t>
            </a:r>
            <a:endParaRPr lang="ko-KR" sz="3000" dirty="0"/>
          </a:p>
        </p:txBody>
      </p:sp>
      <p:sp>
        <p:nvSpPr>
          <p:cNvPr id="5" name="S02-chip1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빨래의 물은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갔을까요?</a:t>
            </a:r>
            <a:endParaRPr lang="ko-KR" sz="3000" dirty="0"/>
          </a:p>
        </p:txBody>
      </p:sp>
      <p:sp>
        <p:nvSpPr>
          <p:cNvPr id="7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있다는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휴지를 붙인 컵을 거꾸로 물속에 눌러 넣으면?</a:t>
            </a:r>
            <a:endParaRPr lang="ko-KR" sz="3000" dirty="0"/>
          </a:p>
        </p:txBody>
      </p:sp>
      <p:sp>
        <p:nvSpPr>
          <p:cNvPr id="4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4" name="S03-table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없는 컵: 휴지는 젖을까?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없는 컵: 물에 뜬 조각은?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난 컵: 휴지는 젖을까?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거꾸로 넣어 봐요</a:t>
            </a:r>
            <a:endParaRPr lang="ko-KR" sz="4000" dirty="0"/>
          </a:p>
        </p:txBody>
      </p:sp>
      <p:sp>
        <p:nvSpPr>
          <p:cNvPr id="3" name="S04-card2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싱크대나 욕실에서 해요. 전기 제품 옆에서는 물을 쓰지 않아요.</a:t>
            </a:r>
            <a:endParaRPr lang="ko-KR" sz="3000" dirty="0"/>
          </a:p>
        </p:txBody>
      </p:sp>
      <p:sp>
        <p:nvSpPr>
          <p:cNvPr id="5" name="S04-figure22" descr="실험 장치: 물이 담긴 대야, 물 위에 뜬 조각, 바닥 안쪽에 휴지를 붙인 컵을 거꾸로 들고 아래로 눌러 넣으려는 화살표"/>
          <p:cNvSpPr/>
          <p:nvPr/>
        </p:nvSpPr>
        <p:spPr>
          <a:xfrm>
            <a:off x="8400335" y="2103857"/>
            <a:ext cx="1653294" cy="602472"/>
          </a:xfrm>
          <a:custGeom>
            <a:avLst/>
            <a:gdLst/>
            <a:ahLst/>
            <a:cxnLst/>
            <a:rect l="l" t="t" r="r" b="b"/>
            <a:pathLst>
              <a:path w="1653294" h="602472">
                <a:moveTo>
                  <a:pt x="0" y="602472"/>
                </a:moveTo>
                <a:lnTo>
                  <a:pt x="1653294" y="602472"/>
                </a:lnTo>
                <a:lnTo>
                  <a:pt x="165329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6" name="S04-mark23"/>
          <p:cNvSpPr/>
          <p:nvPr/>
        </p:nvSpPr>
        <p:spPr>
          <a:xfrm>
            <a:off x="8386324" y="1767594"/>
            <a:ext cx="1681316" cy="952746"/>
          </a:xfrm>
          <a:custGeom>
            <a:avLst/>
            <a:gdLst/>
            <a:ahLst/>
            <a:cxnLst/>
            <a:rect l="l" t="t" r="r" b="b"/>
            <a:pathLst>
              <a:path w="1681316" h="952746">
                <a:moveTo>
                  <a:pt x="0" y="0"/>
                </a:moveTo>
                <a:lnTo>
                  <a:pt x="0" y="952746"/>
                </a:lnTo>
                <a:lnTo>
                  <a:pt x="1681316" y="952746"/>
                </a:lnTo>
                <a:lnTo>
                  <a:pt x="1681316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24"/>
          <p:cNvSpPr/>
          <p:nvPr/>
        </p:nvSpPr>
        <p:spPr>
          <a:xfrm>
            <a:off x="9100883" y="2033803"/>
            <a:ext cx="252197" cy="70055"/>
          </a:xfrm>
          <a:custGeom>
            <a:avLst/>
            <a:gdLst/>
            <a:ahLst/>
            <a:cxnLst/>
            <a:rect l="l" t="t" r="r" b="b"/>
            <a:pathLst>
              <a:path w="252197" h="70055">
                <a:moveTo>
                  <a:pt x="0" y="70055"/>
                </a:moveTo>
                <a:lnTo>
                  <a:pt x="252197" y="70055"/>
                </a:lnTo>
                <a:lnTo>
                  <a:pt x="2521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25"/>
          <p:cNvSpPr/>
          <p:nvPr/>
        </p:nvSpPr>
        <p:spPr>
          <a:xfrm>
            <a:off x="9100883" y="1445342"/>
            <a:ext cx="252197" cy="70055"/>
          </a:xfrm>
          <a:custGeom>
            <a:avLst/>
            <a:gdLst/>
            <a:ahLst/>
            <a:cxnLst/>
            <a:rect l="l" t="t" r="r" b="b"/>
            <a:pathLst>
              <a:path w="252197" h="70055">
                <a:moveTo>
                  <a:pt x="0" y="70055"/>
                </a:moveTo>
                <a:lnTo>
                  <a:pt x="252197" y="70055"/>
                </a:lnTo>
                <a:lnTo>
                  <a:pt x="2521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9" name="S04-mark26"/>
          <p:cNvSpPr/>
          <p:nvPr/>
        </p:nvSpPr>
        <p:spPr>
          <a:xfrm>
            <a:off x="8974784" y="1417320"/>
            <a:ext cx="504395" cy="490384"/>
          </a:xfrm>
          <a:custGeom>
            <a:avLst/>
            <a:gdLst/>
            <a:ahLst/>
            <a:cxnLst/>
            <a:rect l="l" t="t" r="r" b="b"/>
            <a:pathLst>
              <a:path w="504395" h="490384">
                <a:moveTo>
                  <a:pt x="0" y="490384"/>
                </a:moveTo>
                <a:lnTo>
                  <a:pt x="84066" y="0"/>
                </a:lnTo>
                <a:lnTo>
                  <a:pt x="420329" y="0"/>
                </a:lnTo>
                <a:lnTo>
                  <a:pt x="504395" y="490384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0" name="S04-mark27"/>
          <p:cNvSpPr/>
          <p:nvPr/>
        </p:nvSpPr>
        <p:spPr>
          <a:xfrm>
            <a:off x="9703355" y="1515397"/>
            <a:ext cx="0" cy="308241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04-mark28"/>
          <p:cNvSpPr/>
          <p:nvPr/>
        </p:nvSpPr>
        <p:spPr>
          <a:xfrm flipH="1">
            <a:off x="9367091" y="1431331"/>
            <a:ext cx="434340" cy="42033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2" name="S04-mark29"/>
          <p:cNvSpPr/>
          <p:nvPr/>
        </p:nvSpPr>
        <p:spPr>
          <a:xfrm flipH="1" flipV="1">
            <a:off x="9367091" y="2075835"/>
            <a:ext cx="182143" cy="11208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3" name="S04-label31"/>
          <p:cNvSpPr txBox="1"/>
          <p:nvPr/>
        </p:nvSpPr>
        <p:spPr>
          <a:xfrm>
            <a:off x="8493442" y="2289308"/>
            <a:ext cx="34620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1900" dirty="0"/>
          </a:p>
        </p:txBody>
      </p:sp>
      <p:sp>
        <p:nvSpPr>
          <p:cNvPr id="14" name="S04-label33"/>
          <p:cNvSpPr txBox="1"/>
          <p:nvPr/>
        </p:nvSpPr>
        <p:spPr>
          <a:xfrm>
            <a:off x="9815442" y="1280518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</a:t>
            </a:r>
            <a:endParaRPr lang="ko-KR" sz="1900" dirty="0"/>
          </a:p>
        </p:txBody>
      </p:sp>
      <p:sp>
        <p:nvSpPr>
          <p:cNvPr id="15" name="S04-label35"/>
          <p:cNvSpPr txBox="1"/>
          <p:nvPr/>
        </p:nvSpPr>
        <p:spPr>
          <a:xfrm>
            <a:off x="9563245" y="2051122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</a:t>
            </a:r>
            <a:endParaRPr lang="ko-KR" sz="1900" dirty="0"/>
          </a:p>
        </p:txBody>
      </p:sp>
      <p:sp>
        <p:nvSpPr>
          <p:cNvPr id="16" name="S04-card36"/>
          <p:cNvSpPr/>
          <p:nvPr/>
        </p:nvSpPr>
        <p:spPr>
          <a:xfrm>
            <a:off x="6813652" y="3040380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4-cardtext37"/>
          <p:cNvSpPr txBox="1"/>
          <p:nvPr/>
        </p:nvSpPr>
        <p:spPr>
          <a:xfrm>
            <a:off x="7087972" y="3177540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조각의 높이를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꺼낸 휴지를 만져 봐요</a:t>
            </a:r>
            <a:endParaRPr lang="ko-KR" sz="3000" dirty="0"/>
          </a:p>
        </p:txBody>
      </p:sp>
      <p:sp>
        <p:nvSpPr>
          <p:cNvPr id="18" name="S04-stepno38"/>
          <p:cNvSpPr txBox="1"/>
          <p:nvPr/>
        </p:nvSpPr>
        <p:spPr>
          <a:xfrm>
            <a:off x="548640" y="1586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4-text39"/>
          <p:cNvSpPr txBox="1"/>
          <p:nvPr/>
        </p:nvSpPr>
        <p:spPr>
          <a:xfrm>
            <a:off x="1325880" y="1586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컵의 바닥 안쪽에 휴지를 붙여요.</a:t>
            </a:r>
            <a:endParaRPr lang="ko-KR" sz="2400" dirty="0"/>
          </a:p>
        </p:txBody>
      </p:sp>
      <p:sp>
        <p:nvSpPr>
          <p:cNvPr id="20" name="S04-stepno40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1" name="S04-text41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위에 조각을 띄우고 구멍 없는 컵을 씌워요.</a:t>
            </a:r>
            <a:endParaRPr lang="ko-KR" sz="2400" dirty="0"/>
          </a:p>
        </p:txBody>
      </p:sp>
      <p:sp>
        <p:nvSpPr>
          <p:cNvPr id="22" name="S04-stepno42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3" name="S04-text43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똑바로 눌러 넣었다가 꺼내요.</a:t>
            </a:r>
            <a:endParaRPr lang="ko-KR" sz="2400" dirty="0"/>
          </a:p>
        </p:txBody>
      </p:sp>
      <p:sp>
        <p:nvSpPr>
          <p:cNvPr id="24" name="S04-stepno44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5" name="S04-text45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난 컵으로 똑같이 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컵의 결과는 무엇이 달랐나요?</a:t>
            </a:r>
            <a:endParaRPr lang="ko-KR" sz="3000" dirty="0"/>
          </a:p>
        </p:txBody>
      </p:sp>
      <p:graphicFrame>
        <p:nvGraphicFramePr>
          <p:cNvPr id="6" name="S05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80460"/>
                <a:gridCol w="36804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없는 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 난 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물에 뜬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구멍에서 느낀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(구멍 없음)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공간을 차지해요</a:t>
            </a:r>
            <a:endParaRPr lang="ko-KR" sz="4000" dirty="0"/>
          </a:p>
        </p:txBody>
      </p:sp>
      <p:sp>
        <p:nvSpPr>
          <p:cNvPr id="3" name="S06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안의 공기가 자리를 차지해서 물이 들어오지 못했어요.</a:t>
            </a:r>
            <a:endParaRPr lang="ko-KR" sz="3000" dirty="0"/>
          </a:p>
        </p:txBody>
      </p:sp>
      <p:sp>
        <p:nvSpPr>
          <p:cNvPr id="5" name="S06-figure52" descr="구멍 없는 컵: 컵 안에 공기가 있어 물이 거의 들어오지 못하고, 조각은 컵 입구 가까이로 내려가며 휴지는 젖지 않음"/>
          <p:cNvSpPr/>
          <p:nvPr/>
        </p:nvSpPr>
        <p:spPr>
          <a:xfrm>
            <a:off x="1218438" y="2466594"/>
            <a:ext cx="4046220" cy="1645920"/>
          </a:xfrm>
          <a:custGeom>
            <a:avLst/>
            <a:gdLst/>
            <a:ahLst/>
            <a:cxnLst/>
            <a:rect l="l" t="t" r="r" b="b"/>
            <a:pathLst>
              <a:path w="4046220" h="1645920">
                <a:moveTo>
                  <a:pt x="0" y="1645920"/>
                </a:moveTo>
                <a:lnTo>
                  <a:pt x="4046220" y="1645920"/>
                </a:lnTo>
                <a:lnTo>
                  <a:pt x="4046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6" name="S06-mark53"/>
          <p:cNvSpPr/>
          <p:nvPr/>
        </p:nvSpPr>
        <p:spPr>
          <a:xfrm>
            <a:off x="1184148" y="1815084"/>
            <a:ext cx="4114800" cy="2331720"/>
          </a:xfrm>
          <a:custGeom>
            <a:avLst/>
            <a:gdLst/>
            <a:ahLst/>
            <a:cxnLst/>
            <a:rect l="l" t="t" r="r" b="b"/>
            <a:pathLst>
              <a:path w="4114800" h="2331720">
                <a:moveTo>
                  <a:pt x="0" y="0"/>
                </a:moveTo>
                <a:lnTo>
                  <a:pt x="0" y="2331720"/>
                </a:lnTo>
                <a:lnTo>
                  <a:pt x="4114800" y="2331720"/>
                </a:lnTo>
                <a:lnTo>
                  <a:pt x="4114800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mark54"/>
          <p:cNvSpPr/>
          <p:nvPr/>
        </p:nvSpPr>
        <p:spPr>
          <a:xfrm>
            <a:off x="2727198" y="2363724"/>
            <a:ext cx="1028700" cy="1268730"/>
          </a:xfrm>
          <a:custGeom>
            <a:avLst/>
            <a:gdLst/>
            <a:ahLst/>
            <a:cxnLst/>
            <a:rect l="l" t="t" r="r" b="b"/>
            <a:pathLst>
              <a:path w="1028700" h="1268730">
                <a:moveTo>
                  <a:pt x="0" y="1268730"/>
                </a:moveTo>
                <a:lnTo>
                  <a:pt x="1028700" y="1268730"/>
                </a:lnTo>
                <a:lnTo>
                  <a:pt x="925830" y="0"/>
                </a:lnTo>
                <a:lnTo>
                  <a:pt x="10287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06-mark55"/>
          <p:cNvSpPr/>
          <p:nvPr/>
        </p:nvSpPr>
        <p:spPr>
          <a:xfrm>
            <a:off x="2932938" y="346100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6-mark56"/>
          <p:cNvSpPr/>
          <p:nvPr/>
        </p:nvSpPr>
        <p:spPr>
          <a:xfrm>
            <a:off x="2932938" y="239801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10" name="S06-mark57"/>
          <p:cNvSpPr/>
          <p:nvPr/>
        </p:nvSpPr>
        <p:spPr>
          <a:xfrm>
            <a:off x="2624328" y="2363724"/>
            <a:ext cx="1234440" cy="1371600"/>
          </a:xfrm>
          <a:custGeom>
            <a:avLst/>
            <a:gdLst/>
            <a:ahLst/>
            <a:cxnLst/>
            <a:rect l="l" t="t" r="r" b="b"/>
            <a:pathLst>
              <a:path w="1234440" h="1371600">
                <a:moveTo>
                  <a:pt x="0" y="1371600"/>
                </a:moveTo>
                <a:lnTo>
                  <a:pt x="205740" y="0"/>
                </a:lnTo>
                <a:lnTo>
                  <a:pt x="1028700" y="0"/>
                </a:lnTo>
                <a:lnTo>
                  <a:pt x="1234440" y="1371600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1" name="S06-label59"/>
          <p:cNvSpPr txBox="1"/>
          <p:nvPr/>
        </p:nvSpPr>
        <p:spPr>
          <a:xfrm>
            <a:off x="2950210" y="279584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ko-KR" sz="1900" dirty="0"/>
          </a:p>
        </p:txBody>
      </p:sp>
      <p:sp>
        <p:nvSpPr>
          <p:cNvPr id="12" name="S06-label60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없는 컵</a:t>
            </a:r>
            <a:endParaRPr lang="ko-KR" sz="2400" dirty="0"/>
          </a:p>
        </p:txBody>
      </p:sp>
      <p:sp>
        <p:nvSpPr>
          <p:cNvPr id="13" name="S06-figure61" descr="구멍 난 컵: 공기가 구멍으로 빠져나가고 컵 안까지 바깥과 같은 높이로 물이 차서 휴지가 젖음"/>
          <p:cNvSpPr/>
          <p:nvPr/>
        </p:nvSpPr>
        <p:spPr>
          <a:xfrm>
            <a:off x="6924294" y="2672334"/>
            <a:ext cx="4046220" cy="1645920"/>
          </a:xfrm>
          <a:custGeom>
            <a:avLst/>
            <a:gdLst/>
            <a:ahLst/>
            <a:cxnLst/>
            <a:rect l="l" t="t" r="r" b="b"/>
            <a:pathLst>
              <a:path w="4046220" h="1645920">
                <a:moveTo>
                  <a:pt x="0" y="1645920"/>
                </a:moveTo>
                <a:lnTo>
                  <a:pt x="4046220" y="1645920"/>
                </a:lnTo>
                <a:lnTo>
                  <a:pt x="4046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14" name="S06-mark62"/>
          <p:cNvSpPr/>
          <p:nvPr/>
        </p:nvSpPr>
        <p:spPr>
          <a:xfrm>
            <a:off x="6890004" y="2020824"/>
            <a:ext cx="4114800" cy="2331720"/>
          </a:xfrm>
          <a:custGeom>
            <a:avLst/>
            <a:gdLst/>
            <a:ahLst/>
            <a:cxnLst/>
            <a:rect l="l" t="t" r="r" b="b"/>
            <a:pathLst>
              <a:path w="4114800" h="2331720">
                <a:moveTo>
                  <a:pt x="0" y="0"/>
                </a:moveTo>
                <a:lnTo>
                  <a:pt x="0" y="2331720"/>
                </a:lnTo>
                <a:lnTo>
                  <a:pt x="4114800" y="2331720"/>
                </a:lnTo>
                <a:lnTo>
                  <a:pt x="4114800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06-mark63"/>
          <p:cNvSpPr/>
          <p:nvPr/>
        </p:nvSpPr>
        <p:spPr>
          <a:xfrm>
            <a:off x="8535924" y="2569464"/>
            <a:ext cx="822960" cy="102870"/>
          </a:xfrm>
          <a:custGeom>
            <a:avLst/>
            <a:gdLst/>
            <a:ahLst/>
            <a:cxnLst/>
            <a:rect l="l" t="t" r="r" b="b"/>
            <a:pathLst>
              <a:path w="822960" h="102870">
                <a:moveTo>
                  <a:pt x="13716" y="102870"/>
                </a:moveTo>
                <a:lnTo>
                  <a:pt x="809244" y="102870"/>
                </a:lnTo>
                <a:lnTo>
                  <a:pt x="8229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06-mark64"/>
          <p:cNvSpPr/>
          <p:nvPr/>
        </p:nvSpPr>
        <p:spPr>
          <a:xfrm>
            <a:off x="8638794" y="250088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06-mark65"/>
          <p:cNvSpPr/>
          <p:nvPr/>
        </p:nvSpPr>
        <p:spPr>
          <a:xfrm>
            <a:off x="8638794" y="2603754"/>
            <a:ext cx="617220" cy="171450"/>
          </a:xfrm>
          <a:custGeom>
            <a:avLst/>
            <a:gdLst/>
            <a:ahLst/>
            <a:cxnLst/>
            <a:rect l="l" t="t" r="r" b="b"/>
            <a:pathLst>
              <a:path w="617220" h="171450">
                <a:moveTo>
                  <a:pt x="0" y="171450"/>
                </a:moveTo>
                <a:lnTo>
                  <a:pt x="617220" y="171450"/>
                </a:lnTo>
                <a:lnTo>
                  <a:pt x="617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 w="15875">
            <a:solidFill>
              <a:srgbClr val="1F2937"/>
            </a:solidFill>
            <a:prstDash val="dash"/>
          </a:ln>
        </p:spPr>
      </p:sp>
      <p:sp>
        <p:nvSpPr>
          <p:cNvPr id="18" name="S06-mark66"/>
          <p:cNvSpPr/>
          <p:nvPr/>
        </p:nvSpPr>
        <p:spPr>
          <a:xfrm>
            <a:off x="8330184" y="2569464"/>
            <a:ext cx="1234440" cy="1371600"/>
          </a:xfrm>
          <a:custGeom>
            <a:avLst/>
            <a:gdLst/>
            <a:ahLst/>
            <a:cxnLst/>
            <a:rect l="l" t="t" r="r" b="b"/>
            <a:pathLst>
              <a:path w="1234440" h="1371600">
                <a:moveTo>
                  <a:pt x="0" y="1371600"/>
                </a:moveTo>
                <a:lnTo>
                  <a:pt x="205740" y="0"/>
                </a:lnTo>
                <a:lnTo>
                  <a:pt x="1028700" y="0"/>
                </a:lnTo>
                <a:lnTo>
                  <a:pt x="1234440" y="1371600"/>
                </a:lnTo>
              </a:path>
            </a:pathLst>
          </a:custGeom>
          <a:noFill/>
          <a:ln w="31750">
            <a:solidFill>
              <a:srgbClr val="334155"/>
            </a:solidFill>
            <a:prstDash val="solid"/>
          </a:ln>
        </p:spPr>
      </p:sp>
      <p:sp>
        <p:nvSpPr>
          <p:cNvPr id="19" name="S06-mark67"/>
          <p:cNvSpPr/>
          <p:nvPr/>
        </p:nvSpPr>
        <p:spPr>
          <a:xfrm flipV="1">
            <a:off x="8947404" y="1883664"/>
            <a:ext cx="0" cy="61722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0" name="S06-label69"/>
          <p:cNvSpPr txBox="1"/>
          <p:nvPr/>
        </p:nvSpPr>
        <p:spPr>
          <a:xfrm>
            <a:off x="8656066" y="1458531"/>
            <a:ext cx="5826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ko-KR" sz="1900" dirty="0"/>
          </a:p>
        </p:txBody>
      </p:sp>
      <p:sp>
        <p:nvSpPr>
          <p:cNvPr id="21" name="S06-label70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난 컵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7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다 따라 낸 컵을 ‘빈 컵’이라고 불러요.</a:t>
            </a:r>
            <a:endParaRPr lang="ko-KR" sz="3000" dirty="0"/>
          </a:p>
        </p:txBody>
      </p:sp>
      <p:sp>
        <p:nvSpPr>
          <p:cNvPr id="5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7-chip7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7-text7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컵 안에는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없어요.</a:t>
            </a:r>
            <a:endParaRPr lang="ko-KR" sz="3000" dirty="0"/>
          </a:p>
        </p:txBody>
      </p:sp>
      <p:sp>
        <p:nvSpPr>
          <p:cNvPr id="9" name="S07-chip7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7-text7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컵 안에도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들어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속에서 찾아봐요</a:t>
            </a:r>
            <a:endParaRPr lang="ko-KR" sz="4000" dirty="0"/>
          </a:p>
        </p:txBody>
      </p:sp>
      <p:sp>
        <p:nvSpPr>
          <p:cNvPr id="3" name="S08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공기가 들어 있고, 무엇이 좋을까요?</a:t>
            </a:r>
            <a:endParaRPr lang="ko-KR" sz="3000" dirty="0"/>
          </a:p>
        </p:txBody>
      </p:sp>
      <p:sp>
        <p:nvSpPr>
          <p:cNvPr id="4" name="S08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자리를 차지해서 생기는 좋은 점을 말해요.</a:t>
            </a:r>
            <a:endParaRPr lang="ko-KR" sz="3000" dirty="0"/>
          </a:p>
        </p:txBody>
      </p:sp>
      <p:sp>
        <p:nvSpPr>
          <p:cNvPr id="6" name="S08-chip8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8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 튜브</a:t>
            </a:r>
            <a:endParaRPr lang="ko-KR" sz="3000" dirty="0"/>
          </a:p>
        </p:txBody>
      </p:sp>
      <p:sp>
        <p:nvSpPr>
          <p:cNvPr id="8" name="S08-chip8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8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바퀴</a:t>
            </a:r>
            <a:endParaRPr lang="ko-KR" sz="3000" dirty="0"/>
          </a:p>
        </p:txBody>
      </p:sp>
      <p:sp>
        <p:nvSpPr>
          <p:cNvPr id="10" name="S08-chip8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8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에어캡(뽁뽁이)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9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빠진 공에 공기를 넣으면 무게는?</a:t>
            </a:r>
            <a:endParaRPr lang="ko-KR" sz="3000" dirty="0"/>
          </a:p>
        </p:txBody>
      </p:sp>
      <p:sp>
        <p:nvSpPr>
          <p:cNvPr id="4" name="S09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3000" dirty="0"/>
          </a:p>
        </p:txBody>
      </p:sp>
      <p:graphicFrame>
        <p:nvGraphicFramePr>
          <p:cNvPr id="10" name="S09-table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57856"/>
          <a:ext cx="1005840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45262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공기를 넣으면 무게는?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(늘어요 / 줄어요 / 그대로)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그렇게 생각하나요?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공의 무게를 재어 봐요</a:t>
            </a:r>
            <a:endParaRPr lang="ko-KR" sz="4000" dirty="0"/>
          </a:p>
        </p:txBody>
      </p:sp>
      <p:sp>
        <p:nvSpPr>
          <p:cNvPr id="3" name="S10-card9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9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주입기 바늘은 어른이 꽂아요. 저울은 물기 없는 곳에 둬요.</a:t>
            </a:r>
            <a:endParaRPr lang="ko-KR" sz="3000" dirty="0"/>
          </a:p>
        </p:txBody>
      </p:sp>
      <p:sp>
        <p:nvSpPr>
          <p:cNvPr id="5" name="S10-figure94" descr="주방 저울 위에 올린 공. 저울 화면의 무게는 비어 있음"/>
          <p:cNvSpPr/>
          <p:nvPr/>
        </p:nvSpPr>
        <p:spPr>
          <a:xfrm>
            <a:off x="8383851" y="2375423"/>
            <a:ext cx="1686261" cy="344917"/>
          </a:xfrm>
          <a:custGeom>
            <a:avLst/>
            <a:gdLst/>
            <a:ahLst/>
            <a:cxnLst/>
            <a:rect l="l" t="t" r="r" b="b"/>
            <a:pathLst>
              <a:path w="1686261" h="344917">
                <a:moveTo>
                  <a:pt x="0" y="344917"/>
                </a:moveTo>
                <a:lnTo>
                  <a:pt x="1686261" y="344917"/>
                </a:lnTo>
                <a:lnTo>
                  <a:pt x="1686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10-mark95"/>
          <p:cNvSpPr/>
          <p:nvPr/>
        </p:nvSpPr>
        <p:spPr>
          <a:xfrm>
            <a:off x="8767092" y="2432909"/>
            <a:ext cx="919779" cy="229945"/>
          </a:xfrm>
          <a:custGeom>
            <a:avLst/>
            <a:gdLst/>
            <a:ahLst/>
            <a:cxnLst/>
            <a:rect l="l" t="t" r="r" b="b"/>
            <a:pathLst>
              <a:path w="919779" h="229945">
                <a:moveTo>
                  <a:pt x="0" y="229945"/>
                </a:moveTo>
                <a:lnTo>
                  <a:pt x="919779" y="229945"/>
                </a:lnTo>
                <a:lnTo>
                  <a:pt x="9197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0-mark96"/>
          <p:cNvSpPr/>
          <p:nvPr/>
        </p:nvSpPr>
        <p:spPr>
          <a:xfrm>
            <a:off x="8498824" y="2298775"/>
            <a:ext cx="1456316" cy="76648"/>
          </a:xfrm>
          <a:custGeom>
            <a:avLst/>
            <a:gdLst/>
            <a:ahLst/>
            <a:cxnLst/>
            <a:rect l="l" t="t" r="r" b="b"/>
            <a:pathLst>
              <a:path w="1456316" h="76648">
                <a:moveTo>
                  <a:pt x="0" y="76648"/>
                </a:moveTo>
                <a:lnTo>
                  <a:pt x="1456316" y="76648"/>
                </a:lnTo>
                <a:lnTo>
                  <a:pt x="1456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mark97"/>
          <p:cNvSpPr/>
          <p:nvPr/>
        </p:nvSpPr>
        <p:spPr>
          <a:xfrm>
            <a:off x="8786254" y="1417320"/>
            <a:ext cx="881455" cy="881455"/>
          </a:xfrm>
          <a:prstGeom prst="ellipse">
            <a:avLst/>
          </a:prstGeom>
          <a:solidFill>
            <a:srgbClr val="F8FAFC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10-label99"/>
          <p:cNvSpPr txBox="1"/>
          <p:nvPr/>
        </p:nvSpPr>
        <p:spPr>
          <a:xfrm>
            <a:off x="8995969" y="2397069"/>
            <a:ext cx="46202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 g</a:t>
            </a:r>
            <a:endParaRPr lang="ko-KR" sz="1900" dirty="0"/>
          </a:p>
        </p:txBody>
      </p:sp>
      <p:sp>
        <p:nvSpPr>
          <p:cNvPr id="10" name="S10-card100"/>
          <p:cNvSpPr/>
          <p:nvPr/>
        </p:nvSpPr>
        <p:spPr>
          <a:xfrm>
            <a:off x="6813652" y="3040380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101"/>
          <p:cNvSpPr txBox="1"/>
          <p:nvPr/>
        </p:nvSpPr>
        <p:spPr>
          <a:xfrm>
            <a:off x="7087972" y="3177540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잴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저울을 0에 맞춰요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무게 뒤에 g을 붙여요</a:t>
            </a:r>
            <a:endParaRPr lang="ko-KR" sz="3000" dirty="0"/>
          </a:p>
        </p:txBody>
      </p:sp>
      <p:sp>
        <p:nvSpPr>
          <p:cNvPr id="12" name="S10-stepno102"/>
          <p:cNvSpPr txBox="1"/>
          <p:nvPr/>
        </p:nvSpPr>
        <p:spPr>
          <a:xfrm>
            <a:off x="548640" y="168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10-text103"/>
          <p:cNvSpPr txBox="1"/>
          <p:nvPr/>
        </p:nvSpPr>
        <p:spPr>
          <a:xfrm>
            <a:off x="1325880" y="1684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빠진 공의 무게를 재어 써요.</a:t>
            </a:r>
            <a:endParaRPr lang="ko-KR" sz="2400" dirty="0"/>
          </a:p>
        </p:txBody>
      </p:sp>
      <p:sp>
        <p:nvSpPr>
          <p:cNvPr id="14" name="S10-stepno104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10-text105"/>
          <p:cNvSpPr txBox="1"/>
          <p:nvPr/>
        </p:nvSpPr>
        <p:spPr>
          <a:xfrm>
            <a:off x="1325880" y="2397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주입기로 공기를 넣어 단단하게 해요.</a:t>
            </a:r>
            <a:endParaRPr lang="ko-KR" sz="2400" dirty="0"/>
          </a:p>
        </p:txBody>
      </p:sp>
      <p:sp>
        <p:nvSpPr>
          <p:cNvPr id="16" name="S10-stepno106"/>
          <p:cNvSpPr txBox="1"/>
          <p:nvPr/>
        </p:nvSpPr>
        <p:spPr>
          <a:xfrm>
            <a:off x="548640" y="3110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10-text107"/>
          <p:cNvSpPr txBox="1"/>
          <p:nvPr/>
        </p:nvSpPr>
        <p:spPr>
          <a:xfrm>
            <a:off x="1325880" y="3110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저울로 다시 무게를 재어 써요.</a:t>
            </a:r>
            <a:endParaRPr lang="ko-KR" sz="2400" dirty="0"/>
          </a:p>
        </p:txBody>
      </p:sp>
      <p:sp>
        <p:nvSpPr>
          <p:cNvPr id="18" name="S10-stepno108"/>
          <p:cNvSpPr txBox="1"/>
          <p:nvPr/>
        </p:nvSpPr>
        <p:spPr>
          <a:xfrm>
            <a:off x="548640" y="382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10-text109"/>
          <p:cNvSpPr txBox="1"/>
          <p:nvPr/>
        </p:nvSpPr>
        <p:spPr>
          <a:xfrm>
            <a:off x="1325880" y="38237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무게를 비교해요.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11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뒤 무게는 어떻게 되었나요?</a:t>
            </a:r>
            <a:endParaRPr lang="ko-KR" sz="3000" dirty="0"/>
          </a:p>
        </p:txBody>
      </p:sp>
      <p:graphicFrame>
        <p:nvGraphicFramePr>
          <p:cNvPr id="12" name="S11-table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463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공기를 넣기 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공기를 넣은 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늘어난 무게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        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공기에도 무게가 있어요</a:t>
            </a:r>
            <a:endParaRPr lang="ko-KR" sz="4000" dirty="0"/>
          </a:p>
        </p:txBody>
      </p:sp>
      <p:sp>
        <p:nvSpPr>
          <p:cNvPr id="3" name="S12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가볍지만 무게가 있어요.</a:t>
            </a:r>
            <a:endParaRPr lang="ko-KR" sz="3000" dirty="0"/>
          </a:p>
        </p:txBody>
      </p:sp>
      <p:sp>
        <p:nvSpPr>
          <p:cNvPr id="5" name="S12-card11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2-cardtext11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실험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공이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 무거워졌어요.</a:t>
            </a:r>
            <a:endParaRPr lang="ko-KR" sz="3000" dirty="0"/>
          </a:p>
        </p:txBody>
      </p:sp>
      <p:sp>
        <p:nvSpPr>
          <p:cNvPr id="7" name="S12-card11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1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실험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페트병도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더 무거워져요.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1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넣으면 공이 통통 잘 튀어요.</a:t>
            </a:r>
            <a:endParaRPr lang="ko-KR" sz="3000" dirty="0"/>
          </a:p>
        </p:txBody>
      </p:sp>
      <p:sp>
        <p:nvSpPr>
          <p:cNvPr id="5" name="S13-card1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1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3-chip1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3-text1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가벼워져요.</a:t>
            </a:r>
            <a:endParaRPr lang="ko-KR" sz="3000" dirty="0"/>
          </a:p>
        </p:txBody>
      </p:sp>
      <p:sp>
        <p:nvSpPr>
          <p:cNvPr id="9" name="S13-chip1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3-text1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더 무거웠어요.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chip12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4-text12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깔때기를 꽂고 틈을 막은 병에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잘 안 들어가는 까닭은?</a:t>
            </a:r>
            <a:endParaRPr lang="ko-KR" sz="3000" dirty="0"/>
          </a:p>
        </p:txBody>
      </p:sp>
      <p:sp>
        <p:nvSpPr>
          <p:cNvPr id="5" name="S14-chip13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4-text13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공에 공기를 더 넣으면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무게는 어떻게 될까요?</a:t>
            </a:r>
            <a:endParaRPr lang="ko-KR" sz="3000" dirty="0"/>
          </a:p>
        </p:txBody>
      </p:sp>
      <p:sp>
        <p:nvSpPr>
          <p:cNvPr id="7" name="S14-chip13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4-text13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공기에 무게가 있는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 수 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5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자리를 차지하고 무게가 있어요.</a:t>
            </a:r>
            <a:endParaRPr lang="ko-KR" sz="3000" dirty="0"/>
          </a:p>
        </p:txBody>
      </p:sp>
      <p:sp>
        <p:nvSpPr>
          <p:cNvPr id="5" name="S15-chip13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5-text137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병 안의 공기</a:t>
            </a:r>
            <a:endParaRPr lang="ko-KR" sz="3000" dirty="0"/>
          </a:p>
        </p:txBody>
      </p:sp>
      <p:sp>
        <p:nvSpPr>
          <p:cNvPr id="7" name="S15-text138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차지해요</a:t>
            </a:r>
            <a:endParaRPr lang="ko-KR" sz="2400" dirty="0"/>
          </a:p>
        </p:txBody>
      </p:sp>
      <p:sp>
        <p:nvSpPr>
          <p:cNvPr id="8" name="S15-text139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늘어나요</a:t>
            </a:r>
            <a:endParaRPr lang="ko-KR" sz="3000" dirty="0"/>
          </a:p>
        </p:txBody>
      </p:sp>
      <p:sp>
        <p:nvSpPr>
          <p:cNvPr id="9" name="S15-text140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공기도 무게가 있음</a:t>
            </a:r>
            <a:endParaRPr lang="ko-KR" sz="2400" dirty="0"/>
          </a:p>
        </p:txBody>
      </p:sp>
      <p:sp>
        <p:nvSpPr>
          <p:cNvPr id="10" name="S15-text141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무게 비교</a:t>
            </a:r>
            <a:endParaRPr lang="ko-KR" sz="3000" dirty="0"/>
          </a:p>
        </p:txBody>
      </p:sp>
      <p:sp>
        <p:nvSpPr>
          <p:cNvPr id="11" name="S15-text142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넣기 전·뒤, 같은 저울</a:t>
            </a:r>
            <a:endParaRPr lang="ko-KR" sz="2400" dirty="0"/>
          </a:p>
        </p:txBody>
      </p:sp>
      <p:sp>
        <p:nvSpPr>
          <p:cNvPr id="12" name="S15-chip14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5-text14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깔때기 탓</a:t>
            </a:r>
            <a:endParaRPr lang="ko-KR" sz="3000" dirty="0"/>
          </a:p>
        </p:txBody>
      </p:sp>
      <p:sp>
        <p:nvSpPr>
          <p:cNvPr id="14" name="S15-text14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 안 공기 때문(M1)</a:t>
            </a:r>
            <a:endParaRPr lang="ko-KR" sz="2400" dirty="0"/>
          </a:p>
        </p:txBody>
      </p:sp>
      <p:sp>
        <p:nvSpPr>
          <p:cNvPr id="15" name="S15-text14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가벼워져요</a:t>
            </a:r>
            <a:endParaRPr lang="ko-KR" sz="3000" dirty="0"/>
          </a:p>
        </p:txBody>
      </p:sp>
      <p:sp>
        <p:nvSpPr>
          <p:cNvPr id="16" name="S15-text14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무거워짐(M2)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늘어난 무게는 얼마일까요?</a:t>
            </a:r>
            <a:endParaRPr lang="ko-KR" sz="4000" dirty="0"/>
          </a:p>
        </p:txBody>
      </p:sp>
      <p:sp>
        <p:nvSpPr>
          <p:cNvPr id="3" name="S16-text148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공의 무게: 공기를 넣기 전 420 g,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넣은 뒤 425 g</a:t>
            </a:r>
            <a:endParaRPr lang="ko-KR" sz="3000" dirty="0"/>
          </a:p>
        </p:txBody>
      </p:sp>
      <p:sp>
        <p:nvSpPr>
          <p:cNvPr id="4" name="S16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이 결과로 알 수 있는 것을 말해요.</a:t>
            </a:r>
            <a:endParaRPr lang="ko-KR" sz="3000" dirty="0"/>
          </a:p>
        </p:txBody>
      </p:sp>
      <p:sp>
        <p:nvSpPr>
          <p:cNvPr id="6" name="S16-chip151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6-card152"/>
          <p:cNvSpPr/>
          <p:nvPr/>
        </p:nvSpPr>
        <p:spPr>
          <a:xfrm>
            <a:off x="548640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6-cardtext153"/>
          <p:cNvSpPr txBox="1"/>
          <p:nvPr/>
        </p:nvSpPr>
        <p:spPr>
          <a:xfrm>
            <a:off x="822960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g</a:t>
            </a:r>
            <a:endParaRPr lang="ko-KR" sz="3000" dirty="0"/>
          </a:p>
        </p:txBody>
      </p:sp>
      <p:sp>
        <p:nvSpPr>
          <p:cNvPr id="9" name="S16-chip154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6-card155"/>
          <p:cNvSpPr/>
          <p:nvPr/>
        </p:nvSpPr>
        <p:spPr>
          <a:xfrm>
            <a:off x="4367784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56"/>
          <p:cNvSpPr txBox="1"/>
          <p:nvPr/>
        </p:nvSpPr>
        <p:spPr>
          <a:xfrm>
            <a:off x="4642104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g</a:t>
            </a:r>
            <a:endParaRPr lang="ko-KR" sz="3000" dirty="0"/>
          </a:p>
        </p:txBody>
      </p:sp>
      <p:sp>
        <p:nvSpPr>
          <p:cNvPr id="12" name="S16-chip157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6-card158"/>
          <p:cNvSpPr/>
          <p:nvPr/>
        </p:nvSpPr>
        <p:spPr>
          <a:xfrm>
            <a:off x="8186928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6-cardtext159"/>
          <p:cNvSpPr txBox="1"/>
          <p:nvPr/>
        </p:nvSpPr>
        <p:spPr>
          <a:xfrm>
            <a:off x="8461248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845 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1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1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눈에 보이지 않지만 공간을 차지하고 무게가 있어요.</a:t>
            </a:r>
            <a:endParaRPr lang="ko-KR" sz="3000" dirty="0"/>
          </a:p>
        </p:txBody>
      </p:sp>
      <p:sp>
        <p:nvSpPr>
          <p:cNvPr id="5" name="S17-chip16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실험 결과를 증거로 말하기</a:t>
            </a:r>
            <a:endParaRPr lang="ko-KR" sz="2400" dirty="0"/>
          </a:p>
        </p:txBody>
      </p:sp>
      <p:sp>
        <p:nvSpPr>
          <p:cNvPr id="6" name="S17-chip16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빈 컵에는 아무것도 없다고 생각하기</a:t>
            </a:r>
            <a:endParaRPr lang="ko-KR" sz="2200" dirty="0"/>
          </a:p>
        </p:txBody>
      </p:sp>
      <p:sp>
        <p:nvSpPr>
          <p:cNvPr id="7" name="S17-text16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16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컵 안의 휴지가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젖지 않은 까닭은?</a:t>
            </a:r>
            <a:endParaRPr lang="ko-KR" sz="2400" dirty="0"/>
          </a:p>
        </p:txBody>
      </p:sp>
      <p:sp>
        <p:nvSpPr>
          <p:cNvPr id="9" name="S17-text16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공에 공기를 넣으면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무게는?</a:t>
            </a:r>
            <a:endParaRPr lang="ko-KR" sz="2400" dirty="0"/>
          </a:p>
        </p:txBody>
      </p:sp>
      <p:sp>
        <p:nvSpPr>
          <p:cNvPr id="10" name="S17-text16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공기가 차지한 자리를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이용한 물건 하나는?</a:t>
            </a:r>
            <a:endParaRPr lang="ko-KR" sz="2400" dirty="0"/>
          </a:p>
        </p:txBody>
      </p:sp>
      <p:sp>
        <p:nvSpPr>
          <p:cNvPr id="11" name="S17-text16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기후변화와 생활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고체, 액체, 기체</a:t>
            </a:r>
            <a:endParaRPr lang="ko-KR" sz="4000" dirty="0"/>
          </a:p>
        </p:txBody>
      </p:sp>
      <p:sp>
        <p:nvSpPr>
          <p:cNvPr id="3" name="S18-text1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만져 보고 담아 보며 비교해요.</a:t>
            </a:r>
            <a:endParaRPr lang="ko-KR" sz="3000" dirty="0"/>
          </a:p>
        </p:txBody>
      </p:sp>
      <p:sp>
        <p:nvSpPr>
          <p:cNvPr id="4" name="S18-card1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8-cardtext1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기체예요. 비닐봉지에 담으면 봉지가 부풀어요.</a:t>
            </a:r>
            <a:endParaRPr lang="ko-KR" sz="3000" dirty="0"/>
          </a:p>
        </p:txBody>
      </p:sp>
      <p:sp>
        <p:nvSpPr>
          <p:cNvPr id="6" name="S18-card17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7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고체: 얼음, 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일정해요.</a:t>
            </a:r>
            <a:endParaRPr lang="ko-KR" sz="3000" dirty="0"/>
          </a:p>
        </p:txBody>
      </p:sp>
      <p:sp>
        <p:nvSpPr>
          <p:cNvPr id="8" name="S18-card17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8-cardtext17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액체: 물, 주스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따라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바뀌어요.</a:t>
            </a:r>
            <a:endParaRPr lang="ko-KR" sz="3000" dirty="0"/>
          </a:p>
        </p:txBody>
      </p:sp>
      <p:sp>
        <p:nvSpPr>
          <p:cNvPr id="10" name="S18-card17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17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기체: 공기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보이지 않고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퍼져서 채워요.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수증기도 기체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기체의 성질</dc:title>
  <dc:subject>KR22-G04-SCI-AIR-L01</dc:subject>
  <dc:creator>education-ppt</dc:creator>
  <cp:lastModifiedBy>education-ppt</cp:lastModifiedBy>
  <cp:revision>1</cp:revision>
  <dcterms:created xsi:type="dcterms:W3CDTF">2026-10-26T13:18:37Z</dcterms:created>
  <dcterms:modified xsi:type="dcterms:W3CDTF">2026-10-26T13:18:37Z</dcterms:modified>
</cp:coreProperties>
</file>