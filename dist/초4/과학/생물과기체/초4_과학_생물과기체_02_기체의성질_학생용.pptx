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fe7999f-0fc6-b1b4-7d73-1e53a821a6e2}">
          <p14:sldIdLst>
            <p14:sldId id="256"/>
            <p14:sldId id="257"/>
          </p14:sldIdLst>
        </p14:section>
        <p14:section name="연습" id="{e248b7d6-322f-de4e-5912-df5999e0e183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  <p14:sldId id="268"/>
          </p14:sldIdLst>
        </p14:section>
        <p14:section name="개념" id="{e4773b6b-0878-a99a-4583-fe65605171a8}">
          <p14:sldIdLst>
            <p14:sldId id="261"/>
            <p14:sldId id="267"/>
          </p14:sldIdLst>
        </p14:section>
        <p14:section name="연습" id="{06a328de-f8a0-f71d-148d-3a675e5e1f25}">
          <p14:sldIdLst/>
        </p14:section>
        <p14:section name="개념" id="{a9beb74d-32c3-2ef3-3e8c-254d5fe8e7da}">
          <p14:sldIdLst/>
        </p14:section>
        <p14:section name="연습" id="{80817eb5-a87a-5b54-f33f-5e928641a22e}">
          <p14:sldIdLst/>
        </p14:section>
        <p14:section name="확인" id="{721149e2-1d14-f706-994b-daf1f1e9ddab}">
          <p14:sldIdLst>
            <p14:sldId id="269"/>
            <p14:sldId id="270"/>
          </p14:sldIdLst>
        </p14:section>
        <p14:section name="정리" id="{5558d0ab-04d0-b15f-3958-2c5616a036ea}">
          <p14:sldIdLst>
            <p14:sldId id="271"/>
          </p14:sldIdLst>
        </p14:section>
        <p14:section name="보충" id="{ce89639e-7cd4-9866-3960-8b28f4deb5b8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생물과기체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기체의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기체의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기체의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기체의 성질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눈에 보이지 않는 공기도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차지할까?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물이 담긴 대야 위에 휴지를 붙인 컵을 거꾸로 들고 있는 모습, 물 위에는 작은 조각이 떠 있음"/>
          <p:cNvSpPr/>
          <p:nvPr/>
        </p:nvSpPr>
        <p:spPr>
          <a:xfrm>
            <a:off x="7974482" y="2173986"/>
            <a:ext cx="3344875" cy="1218895"/>
          </a:xfrm>
          <a:custGeom>
            <a:avLst/>
            <a:gdLst/>
            <a:ahLst/>
            <a:cxnLst/>
            <a:rect l="l" t="t" r="r" b="b"/>
            <a:pathLst>
              <a:path w="3344875" h="1218895">
                <a:moveTo>
                  <a:pt x="0" y="1218895"/>
                </a:moveTo>
                <a:lnTo>
                  <a:pt x="3344875" y="1218895"/>
                </a:lnTo>
                <a:lnTo>
                  <a:pt x="3344875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6" name="S01-mark3"/>
          <p:cNvSpPr/>
          <p:nvPr/>
        </p:nvSpPr>
        <p:spPr>
          <a:xfrm>
            <a:off x="7946136" y="1493672"/>
            <a:ext cx="3401568" cy="1927555"/>
          </a:xfrm>
          <a:custGeom>
            <a:avLst/>
            <a:gdLst/>
            <a:ahLst/>
            <a:cxnLst/>
            <a:rect l="l" t="t" r="r" b="b"/>
            <a:pathLst>
              <a:path w="3401568" h="1927555">
                <a:moveTo>
                  <a:pt x="0" y="0"/>
                </a:moveTo>
                <a:lnTo>
                  <a:pt x="0" y="1927555"/>
                </a:lnTo>
                <a:lnTo>
                  <a:pt x="3401568" y="1927555"/>
                </a:lnTo>
                <a:lnTo>
                  <a:pt x="3401568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391802" y="2032254"/>
            <a:ext cx="510235" cy="141732"/>
          </a:xfrm>
          <a:custGeom>
            <a:avLst/>
            <a:gdLst/>
            <a:ahLst/>
            <a:cxnLst/>
            <a:rect l="l" t="t" r="r" b="b"/>
            <a:pathLst>
              <a:path w="510235" h="141732">
                <a:moveTo>
                  <a:pt x="0" y="141732"/>
                </a:moveTo>
                <a:lnTo>
                  <a:pt x="510235" y="141732"/>
                </a:lnTo>
                <a:lnTo>
                  <a:pt x="51023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391802" y="841705"/>
            <a:ext cx="510235" cy="141732"/>
          </a:xfrm>
          <a:custGeom>
            <a:avLst/>
            <a:gdLst/>
            <a:ahLst/>
            <a:cxnLst/>
            <a:rect l="l" t="t" r="r" b="b"/>
            <a:pathLst>
              <a:path w="510235" h="141732">
                <a:moveTo>
                  <a:pt x="0" y="141732"/>
                </a:moveTo>
                <a:lnTo>
                  <a:pt x="510235" y="141732"/>
                </a:lnTo>
                <a:lnTo>
                  <a:pt x="51023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dash"/>
          </a:ln>
        </p:spPr>
      </p:sp>
      <p:sp>
        <p:nvSpPr>
          <p:cNvPr id="9" name="S01-mark6"/>
          <p:cNvSpPr/>
          <p:nvPr/>
        </p:nvSpPr>
        <p:spPr>
          <a:xfrm>
            <a:off x="9136685" y="785012"/>
            <a:ext cx="1020470" cy="992124"/>
          </a:xfrm>
          <a:custGeom>
            <a:avLst/>
            <a:gdLst/>
            <a:ahLst/>
            <a:cxnLst/>
            <a:rect l="l" t="t" r="r" b="b"/>
            <a:pathLst>
              <a:path w="1020470" h="992124">
                <a:moveTo>
                  <a:pt x="0" y="992124"/>
                </a:moveTo>
                <a:lnTo>
                  <a:pt x="170078" y="0"/>
                </a:lnTo>
                <a:lnTo>
                  <a:pt x="850392" y="0"/>
                </a:lnTo>
                <a:lnTo>
                  <a:pt x="1020470" y="992124"/>
                </a:lnTo>
              </a:path>
            </a:pathLst>
          </a:custGeom>
          <a:noFill/>
          <a:ln w="31750">
            <a:solidFill>
              <a:srgbClr val="334155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610698" y="983437"/>
            <a:ext cx="0" cy="623621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01-card8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공기가 공간을 차지한다는 것을 실험으로 확인해요.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공기에 무게가 있는지 저울로 알아봐요.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얼음, 물, 수증기 중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기체는 무엇인가요?</a:t>
            </a:r>
            <a:endParaRPr lang="ko-KR" sz="30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빨래의 물은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갔을까요?</a:t>
            </a:r>
            <a:endParaRPr lang="ko-KR" sz="3000" dirty="0"/>
          </a:p>
        </p:txBody>
      </p:sp>
      <p:sp>
        <p:nvSpPr>
          <p:cNvPr id="7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있다는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 수 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휴지를 붙인 컵을 거꾸로 물속에 눌러 넣으면?</a:t>
            </a:r>
            <a:endParaRPr lang="ko-KR" sz="3000" dirty="0"/>
          </a:p>
        </p:txBody>
      </p:sp>
      <p:sp>
        <p:nvSpPr>
          <p:cNvPr id="4" name="S03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4" name="S03-table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없는 컵: 휴지는 젖을까?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없는 컵: 물에 뜬 조각은?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난 컵: 휴지는 젖을까?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거꾸로 넣어 봐요</a:t>
            </a:r>
            <a:endParaRPr lang="ko-KR" sz="4000" dirty="0"/>
          </a:p>
        </p:txBody>
      </p:sp>
      <p:sp>
        <p:nvSpPr>
          <p:cNvPr id="3" name="S04-card2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싱크대나 욕실에서 해요. 전기 제품 옆에서는 물을 쓰지 않아요.</a:t>
            </a:r>
            <a:endParaRPr lang="ko-KR" sz="3000" dirty="0"/>
          </a:p>
        </p:txBody>
      </p:sp>
      <p:sp>
        <p:nvSpPr>
          <p:cNvPr id="5" name="S04-figure22" descr="실험 장치: 물이 담긴 대야, 물 위에 뜬 조각, 바닥 안쪽에 휴지를 붙인 컵을 거꾸로 들고 아래로 눌러 넣으려는 화살표"/>
          <p:cNvSpPr/>
          <p:nvPr/>
        </p:nvSpPr>
        <p:spPr>
          <a:xfrm>
            <a:off x="8400335" y="2103857"/>
            <a:ext cx="1653294" cy="602472"/>
          </a:xfrm>
          <a:custGeom>
            <a:avLst/>
            <a:gdLst/>
            <a:ahLst/>
            <a:cxnLst/>
            <a:rect l="l" t="t" r="r" b="b"/>
            <a:pathLst>
              <a:path w="1653294" h="602472">
                <a:moveTo>
                  <a:pt x="0" y="602472"/>
                </a:moveTo>
                <a:lnTo>
                  <a:pt x="1653294" y="602472"/>
                </a:lnTo>
                <a:lnTo>
                  <a:pt x="165329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6" name="S04-mark23"/>
          <p:cNvSpPr/>
          <p:nvPr/>
        </p:nvSpPr>
        <p:spPr>
          <a:xfrm>
            <a:off x="8386324" y="1767594"/>
            <a:ext cx="1681316" cy="952746"/>
          </a:xfrm>
          <a:custGeom>
            <a:avLst/>
            <a:gdLst/>
            <a:ahLst/>
            <a:cxnLst/>
            <a:rect l="l" t="t" r="r" b="b"/>
            <a:pathLst>
              <a:path w="1681316" h="952746">
                <a:moveTo>
                  <a:pt x="0" y="0"/>
                </a:moveTo>
                <a:lnTo>
                  <a:pt x="0" y="952746"/>
                </a:lnTo>
                <a:lnTo>
                  <a:pt x="1681316" y="952746"/>
                </a:lnTo>
                <a:lnTo>
                  <a:pt x="1681316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24"/>
          <p:cNvSpPr/>
          <p:nvPr/>
        </p:nvSpPr>
        <p:spPr>
          <a:xfrm>
            <a:off x="9100883" y="2033803"/>
            <a:ext cx="252197" cy="70055"/>
          </a:xfrm>
          <a:custGeom>
            <a:avLst/>
            <a:gdLst/>
            <a:ahLst/>
            <a:cxnLst/>
            <a:rect l="l" t="t" r="r" b="b"/>
            <a:pathLst>
              <a:path w="252197" h="70055">
                <a:moveTo>
                  <a:pt x="0" y="70055"/>
                </a:moveTo>
                <a:lnTo>
                  <a:pt x="252197" y="70055"/>
                </a:lnTo>
                <a:lnTo>
                  <a:pt x="2521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4-mark25"/>
          <p:cNvSpPr/>
          <p:nvPr/>
        </p:nvSpPr>
        <p:spPr>
          <a:xfrm>
            <a:off x="9100883" y="1445342"/>
            <a:ext cx="252197" cy="70055"/>
          </a:xfrm>
          <a:custGeom>
            <a:avLst/>
            <a:gdLst/>
            <a:ahLst/>
            <a:cxnLst/>
            <a:rect l="l" t="t" r="r" b="b"/>
            <a:pathLst>
              <a:path w="252197" h="70055">
                <a:moveTo>
                  <a:pt x="0" y="70055"/>
                </a:moveTo>
                <a:lnTo>
                  <a:pt x="252197" y="70055"/>
                </a:lnTo>
                <a:lnTo>
                  <a:pt x="2521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dash"/>
          </a:ln>
        </p:spPr>
      </p:sp>
      <p:sp>
        <p:nvSpPr>
          <p:cNvPr id="9" name="S04-mark26"/>
          <p:cNvSpPr/>
          <p:nvPr/>
        </p:nvSpPr>
        <p:spPr>
          <a:xfrm>
            <a:off x="8974784" y="1417320"/>
            <a:ext cx="504395" cy="490384"/>
          </a:xfrm>
          <a:custGeom>
            <a:avLst/>
            <a:gdLst/>
            <a:ahLst/>
            <a:cxnLst/>
            <a:rect l="l" t="t" r="r" b="b"/>
            <a:pathLst>
              <a:path w="504395" h="490384">
                <a:moveTo>
                  <a:pt x="0" y="490384"/>
                </a:moveTo>
                <a:lnTo>
                  <a:pt x="84066" y="0"/>
                </a:lnTo>
                <a:lnTo>
                  <a:pt x="420329" y="0"/>
                </a:lnTo>
                <a:lnTo>
                  <a:pt x="504395" y="490384"/>
                </a:lnTo>
              </a:path>
            </a:pathLst>
          </a:custGeom>
          <a:noFill/>
          <a:ln w="31750">
            <a:solidFill>
              <a:srgbClr val="334155"/>
            </a:solidFill>
            <a:prstDash val="solid"/>
          </a:ln>
        </p:spPr>
      </p:sp>
      <p:sp>
        <p:nvSpPr>
          <p:cNvPr id="10" name="S04-mark27"/>
          <p:cNvSpPr/>
          <p:nvPr/>
        </p:nvSpPr>
        <p:spPr>
          <a:xfrm>
            <a:off x="9703355" y="1515397"/>
            <a:ext cx="0" cy="308241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04-mark28"/>
          <p:cNvSpPr/>
          <p:nvPr/>
        </p:nvSpPr>
        <p:spPr>
          <a:xfrm flipH="1">
            <a:off x="9367091" y="1431331"/>
            <a:ext cx="434340" cy="42033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2" name="S04-mark29"/>
          <p:cNvSpPr/>
          <p:nvPr/>
        </p:nvSpPr>
        <p:spPr>
          <a:xfrm flipH="1" flipV="1">
            <a:off x="9367091" y="2075835"/>
            <a:ext cx="182143" cy="1120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3" name="S04-label31"/>
          <p:cNvSpPr txBox="1"/>
          <p:nvPr/>
        </p:nvSpPr>
        <p:spPr>
          <a:xfrm>
            <a:off x="8493442" y="2289308"/>
            <a:ext cx="34620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1900" dirty="0"/>
          </a:p>
        </p:txBody>
      </p:sp>
      <p:sp>
        <p:nvSpPr>
          <p:cNvPr id="14" name="S04-label33"/>
          <p:cNvSpPr txBox="1"/>
          <p:nvPr/>
        </p:nvSpPr>
        <p:spPr>
          <a:xfrm>
            <a:off x="9815442" y="1280518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</a:t>
            </a:r>
            <a:endParaRPr lang="ko-KR" sz="1900" dirty="0"/>
          </a:p>
        </p:txBody>
      </p:sp>
      <p:sp>
        <p:nvSpPr>
          <p:cNvPr id="15" name="S04-label35"/>
          <p:cNvSpPr txBox="1"/>
          <p:nvPr/>
        </p:nvSpPr>
        <p:spPr>
          <a:xfrm>
            <a:off x="9563245" y="205112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</a:t>
            </a:r>
            <a:endParaRPr lang="ko-KR" sz="1900" dirty="0"/>
          </a:p>
        </p:txBody>
      </p:sp>
      <p:sp>
        <p:nvSpPr>
          <p:cNvPr id="16" name="S04-card36"/>
          <p:cNvSpPr/>
          <p:nvPr/>
        </p:nvSpPr>
        <p:spPr>
          <a:xfrm>
            <a:off x="6813652" y="3040380"/>
            <a:ext cx="4826660" cy="1690116"/>
          </a:xfrm>
          <a:prstGeom prst="roundRect">
            <a:avLst>
              <a:gd name="adj" fmla="val 64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4-cardtext37"/>
          <p:cNvSpPr txBox="1"/>
          <p:nvPr/>
        </p:nvSpPr>
        <p:spPr>
          <a:xfrm>
            <a:off x="7087972" y="3177540"/>
            <a:ext cx="427802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조각의 높이를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꺼낸 휴지를 만져 봐요</a:t>
            </a:r>
            <a:endParaRPr lang="ko-KR" sz="3000" dirty="0"/>
          </a:p>
        </p:txBody>
      </p:sp>
      <p:sp>
        <p:nvSpPr>
          <p:cNvPr id="18" name="S04-stepno38"/>
          <p:cNvSpPr txBox="1"/>
          <p:nvPr/>
        </p:nvSpPr>
        <p:spPr>
          <a:xfrm>
            <a:off x="548640" y="1586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04-text39"/>
          <p:cNvSpPr txBox="1"/>
          <p:nvPr/>
        </p:nvSpPr>
        <p:spPr>
          <a:xfrm>
            <a:off x="1325880" y="15864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컵의 바닥 안쪽에 휴지를 붙여요.</a:t>
            </a:r>
            <a:endParaRPr lang="ko-KR" sz="2400" dirty="0"/>
          </a:p>
        </p:txBody>
      </p:sp>
      <p:sp>
        <p:nvSpPr>
          <p:cNvPr id="20" name="S04-stepno40"/>
          <p:cNvSpPr txBox="1"/>
          <p:nvPr/>
        </p:nvSpPr>
        <p:spPr>
          <a:xfrm>
            <a:off x="548640" y="2345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1" name="S04-text41"/>
          <p:cNvSpPr txBox="1"/>
          <p:nvPr/>
        </p:nvSpPr>
        <p:spPr>
          <a:xfrm>
            <a:off x="1325880" y="229971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위에 조각을 띄우고 구멍 없는 컵을 씌워요.</a:t>
            </a:r>
            <a:endParaRPr lang="ko-KR" sz="2400" dirty="0"/>
          </a:p>
        </p:txBody>
      </p:sp>
      <p:sp>
        <p:nvSpPr>
          <p:cNvPr id="22" name="S04-stepno42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3" name="S04-text43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똑바로 눌러 넣었다가 꺼내요.</a:t>
            </a:r>
            <a:endParaRPr lang="ko-KR" sz="2400" dirty="0"/>
          </a:p>
        </p:txBody>
      </p:sp>
      <p:sp>
        <p:nvSpPr>
          <p:cNvPr id="24" name="S04-stepno44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5" name="S04-text45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난 컵으로 똑같이 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3000" dirty="0"/>
          </a:p>
        </p:txBody>
      </p:sp>
      <p:sp>
        <p:nvSpPr>
          <p:cNvPr id="4" name="S05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컵의 결과는 무엇이 달랐나요?</a:t>
            </a:r>
            <a:endParaRPr lang="ko-KR" sz="3000" dirty="0"/>
          </a:p>
        </p:txBody>
      </p:sp>
      <p:graphicFrame>
        <p:nvGraphicFramePr>
          <p:cNvPr id="6" name="S05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680460"/>
                <a:gridCol w="36804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없는 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난 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물에 뜬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구멍에서 느낀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(구멍 없음)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공간을 차지해요</a:t>
            </a:r>
            <a:endParaRPr lang="ko-KR" sz="4000" dirty="0"/>
          </a:p>
        </p:txBody>
      </p:sp>
      <p:sp>
        <p:nvSpPr>
          <p:cNvPr id="3" name="S06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안의 공기가 자리를 차지해서 물이 들어오지 못했어요.</a:t>
            </a:r>
            <a:endParaRPr lang="ko-KR" sz="3000" dirty="0"/>
          </a:p>
        </p:txBody>
      </p:sp>
      <p:sp>
        <p:nvSpPr>
          <p:cNvPr id="5" name="S06-figure52" descr="구멍 없는 컵: 컵 안에 공기가 있어 물이 거의 들어오지 못하고, 조각은 컵 입구 가까이로 내려가며 휴지는 젖지 않음"/>
          <p:cNvSpPr/>
          <p:nvPr/>
        </p:nvSpPr>
        <p:spPr>
          <a:xfrm>
            <a:off x="1218438" y="2466594"/>
            <a:ext cx="4046220" cy="1645920"/>
          </a:xfrm>
          <a:custGeom>
            <a:avLst/>
            <a:gdLst/>
            <a:ahLst/>
            <a:cxnLst/>
            <a:rect l="l" t="t" r="r" b="b"/>
            <a:pathLst>
              <a:path w="4046220" h="1645920">
                <a:moveTo>
                  <a:pt x="0" y="1645920"/>
                </a:moveTo>
                <a:lnTo>
                  <a:pt x="4046220" y="1645920"/>
                </a:lnTo>
                <a:lnTo>
                  <a:pt x="4046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6" name="S06-mark53"/>
          <p:cNvSpPr/>
          <p:nvPr/>
        </p:nvSpPr>
        <p:spPr>
          <a:xfrm>
            <a:off x="1184148" y="1815084"/>
            <a:ext cx="4114800" cy="2331720"/>
          </a:xfrm>
          <a:custGeom>
            <a:avLst/>
            <a:gdLst/>
            <a:ahLst/>
            <a:cxnLst/>
            <a:rect l="l" t="t" r="r" b="b"/>
            <a:pathLst>
              <a:path w="4114800" h="2331720">
                <a:moveTo>
                  <a:pt x="0" y="0"/>
                </a:moveTo>
                <a:lnTo>
                  <a:pt x="0" y="2331720"/>
                </a:lnTo>
                <a:lnTo>
                  <a:pt x="4114800" y="2331720"/>
                </a:lnTo>
                <a:lnTo>
                  <a:pt x="4114800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mark54"/>
          <p:cNvSpPr/>
          <p:nvPr/>
        </p:nvSpPr>
        <p:spPr>
          <a:xfrm>
            <a:off x="2727198" y="2363724"/>
            <a:ext cx="1028700" cy="1268730"/>
          </a:xfrm>
          <a:custGeom>
            <a:avLst/>
            <a:gdLst/>
            <a:ahLst/>
            <a:cxnLst/>
            <a:rect l="l" t="t" r="r" b="b"/>
            <a:pathLst>
              <a:path w="1028700" h="1268730">
                <a:moveTo>
                  <a:pt x="0" y="1268730"/>
                </a:moveTo>
                <a:lnTo>
                  <a:pt x="1028700" y="1268730"/>
                </a:lnTo>
                <a:lnTo>
                  <a:pt x="925830" y="0"/>
                </a:lnTo>
                <a:lnTo>
                  <a:pt x="10287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06-mark55"/>
          <p:cNvSpPr/>
          <p:nvPr/>
        </p:nvSpPr>
        <p:spPr>
          <a:xfrm>
            <a:off x="2932938" y="3461004"/>
            <a:ext cx="617220" cy="171450"/>
          </a:xfrm>
          <a:custGeom>
            <a:avLst/>
            <a:gdLst/>
            <a:ahLst/>
            <a:cxnLst/>
            <a:rect l="l" t="t" r="r" b="b"/>
            <a:pathLst>
              <a:path w="617220" h="171450">
                <a:moveTo>
                  <a:pt x="0" y="171450"/>
                </a:moveTo>
                <a:lnTo>
                  <a:pt x="617220" y="171450"/>
                </a:lnTo>
                <a:lnTo>
                  <a:pt x="617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6-mark56"/>
          <p:cNvSpPr/>
          <p:nvPr/>
        </p:nvSpPr>
        <p:spPr>
          <a:xfrm>
            <a:off x="2932938" y="2398014"/>
            <a:ext cx="617220" cy="171450"/>
          </a:xfrm>
          <a:custGeom>
            <a:avLst/>
            <a:gdLst/>
            <a:ahLst/>
            <a:cxnLst/>
            <a:rect l="l" t="t" r="r" b="b"/>
            <a:pathLst>
              <a:path w="617220" h="171450">
                <a:moveTo>
                  <a:pt x="0" y="171450"/>
                </a:moveTo>
                <a:lnTo>
                  <a:pt x="617220" y="171450"/>
                </a:lnTo>
                <a:lnTo>
                  <a:pt x="617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dash"/>
          </a:ln>
        </p:spPr>
      </p:sp>
      <p:sp>
        <p:nvSpPr>
          <p:cNvPr id="10" name="S06-mark57"/>
          <p:cNvSpPr/>
          <p:nvPr/>
        </p:nvSpPr>
        <p:spPr>
          <a:xfrm>
            <a:off x="2624328" y="2363724"/>
            <a:ext cx="1234440" cy="1371600"/>
          </a:xfrm>
          <a:custGeom>
            <a:avLst/>
            <a:gdLst/>
            <a:ahLst/>
            <a:cxnLst/>
            <a:rect l="l" t="t" r="r" b="b"/>
            <a:pathLst>
              <a:path w="1234440" h="1371600">
                <a:moveTo>
                  <a:pt x="0" y="1371600"/>
                </a:moveTo>
                <a:lnTo>
                  <a:pt x="205740" y="0"/>
                </a:lnTo>
                <a:lnTo>
                  <a:pt x="1028700" y="0"/>
                </a:lnTo>
                <a:lnTo>
                  <a:pt x="1234440" y="1371600"/>
                </a:lnTo>
              </a:path>
            </a:pathLst>
          </a:custGeom>
          <a:noFill/>
          <a:ln w="31750">
            <a:solidFill>
              <a:srgbClr val="334155"/>
            </a:solidFill>
            <a:prstDash val="solid"/>
          </a:ln>
        </p:spPr>
      </p:sp>
      <p:sp>
        <p:nvSpPr>
          <p:cNvPr id="11" name="S06-label59"/>
          <p:cNvSpPr txBox="1"/>
          <p:nvPr/>
        </p:nvSpPr>
        <p:spPr>
          <a:xfrm>
            <a:off x="2950210" y="2795841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ko-KR" sz="1900" dirty="0"/>
          </a:p>
        </p:txBody>
      </p:sp>
      <p:sp>
        <p:nvSpPr>
          <p:cNvPr id="12" name="S06-label60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없는 컵</a:t>
            </a:r>
            <a:endParaRPr lang="ko-KR" sz="2400" dirty="0"/>
          </a:p>
        </p:txBody>
      </p:sp>
      <p:sp>
        <p:nvSpPr>
          <p:cNvPr id="13" name="S06-figure61" descr="구멍 난 컵: 공기가 구멍으로 빠져나가고 컵 안까지 바깥과 같은 높이로 물이 차서 휴지가 젖음"/>
          <p:cNvSpPr/>
          <p:nvPr/>
        </p:nvSpPr>
        <p:spPr>
          <a:xfrm>
            <a:off x="6924294" y="2672334"/>
            <a:ext cx="4046220" cy="1645920"/>
          </a:xfrm>
          <a:custGeom>
            <a:avLst/>
            <a:gdLst/>
            <a:ahLst/>
            <a:cxnLst/>
            <a:rect l="l" t="t" r="r" b="b"/>
            <a:pathLst>
              <a:path w="4046220" h="1645920">
                <a:moveTo>
                  <a:pt x="0" y="1645920"/>
                </a:moveTo>
                <a:lnTo>
                  <a:pt x="4046220" y="1645920"/>
                </a:lnTo>
                <a:lnTo>
                  <a:pt x="4046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14" name="S06-mark62"/>
          <p:cNvSpPr/>
          <p:nvPr/>
        </p:nvSpPr>
        <p:spPr>
          <a:xfrm>
            <a:off x="6890004" y="2020824"/>
            <a:ext cx="4114800" cy="2331720"/>
          </a:xfrm>
          <a:custGeom>
            <a:avLst/>
            <a:gdLst/>
            <a:ahLst/>
            <a:cxnLst/>
            <a:rect l="l" t="t" r="r" b="b"/>
            <a:pathLst>
              <a:path w="4114800" h="2331720">
                <a:moveTo>
                  <a:pt x="0" y="0"/>
                </a:moveTo>
                <a:lnTo>
                  <a:pt x="0" y="2331720"/>
                </a:lnTo>
                <a:lnTo>
                  <a:pt x="4114800" y="2331720"/>
                </a:lnTo>
                <a:lnTo>
                  <a:pt x="4114800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06-mark63"/>
          <p:cNvSpPr/>
          <p:nvPr/>
        </p:nvSpPr>
        <p:spPr>
          <a:xfrm>
            <a:off x="8535924" y="2569464"/>
            <a:ext cx="822960" cy="102870"/>
          </a:xfrm>
          <a:custGeom>
            <a:avLst/>
            <a:gdLst/>
            <a:ahLst/>
            <a:cxnLst/>
            <a:rect l="l" t="t" r="r" b="b"/>
            <a:pathLst>
              <a:path w="822960" h="102870">
                <a:moveTo>
                  <a:pt x="13716" y="102870"/>
                </a:moveTo>
                <a:lnTo>
                  <a:pt x="809244" y="102870"/>
                </a:lnTo>
                <a:lnTo>
                  <a:pt x="8229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06-mark64"/>
          <p:cNvSpPr/>
          <p:nvPr/>
        </p:nvSpPr>
        <p:spPr>
          <a:xfrm>
            <a:off x="8638794" y="2500884"/>
            <a:ext cx="617220" cy="171450"/>
          </a:xfrm>
          <a:custGeom>
            <a:avLst/>
            <a:gdLst/>
            <a:ahLst/>
            <a:cxnLst/>
            <a:rect l="l" t="t" r="r" b="b"/>
            <a:pathLst>
              <a:path w="617220" h="171450">
                <a:moveTo>
                  <a:pt x="0" y="171450"/>
                </a:moveTo>
                <a:lnTo>
                  <a:pt x="617220" y="171450"/>
                </a:lnTo>
                <a:lnTo>
                  <a:pt x="617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06-mark65"/>
          <p:cNvSpPr/>
          <p:nvPr/>
        </p:nvSpPr>
        <p:spPr>
          <a:xfrm>
            <a:off x="8638794" y="2603754"/>
            <a:ext cx="617220" cy="171450"/>
          </a:xfrm>
          <a:custGeom>
            <a:avLst/>
            <a:gdLst/>
            <a:ahLst/>
            <a:cxnLst/>
            <a:rect l="l" t="t" r="r" b="b"/>
            <a:pathLst>
              <a:path w="617220" h="171450">
                <a:moveTo>
                  <a:pt x="0" y="171450"/>
                </a:moveTo>
                <a:lnTo>
                  <a:pt x="617220" y="171450"/>
                </a:lnTo>
                <a:lnTo>
                  <a:pt x="617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 w="15875">
            <a:solidFill>
              <a:srgbClr val="1F2937"/>
            </a:solidFill>
            <a:prstDash val="dash"/>
          </a:ln>
        </p:spPr>
      </p:sp>
      <p:sp>
        <p:nvSpPr>
          <p:cNvPr id="18" name="S06-mark66"/>
          <p:cNvSpPr/>
          <p:nvPr/>
        </p:nvSpPr>
        <p:spPr>
          <a:xfrm>
            <a:off x="8330184" y="2569464"/>
            <a:ext cx="1234440" cy="1371600"/>
          </a:xfrm>
          <a:custGeom>
            <a:avLst/>
            <a:gdLst/>
            <a:ahLst/>
            <a:cxnLst/>
            <a:rect l="l" t="t" r="r" b="b"/>
            <a:pathLst>
              <a:path w="1234440" h="1371600">
                <a:moveTo>
                  <a:pt x="0" y="1371600"/>
                </a:moveTo>
                <a:lnTo>
                  <a:pt x="205740" y="0"/>
                </a:lnTo>
                <a:lnTo>
                  <a:pt x="1028700" y="0"/>
                </a:lnTo>
                <a:lnTo>
                  <a:pt x="1234440" y="1371600"/>
                </a:lnTo>
              </a:path>
            </a:pathLst>
          </a:custGeom>
          <a:noFill/>
          <a:ln w="31750">
            <a:solidFill>
              <a:srgbClr val="334155"/>
            </a:solidFill>
            <a:prstDash val="solid"/>
          </a:ln>
        </p:spPr>
      </p:sp>
      <p:sp>
        <p:nvSpPr>
          <p:cNvPr id="19" name="S06-mark67"/>
          <p:cNvSpPr/>
          <p:nvPr/>
        </p:nvSpPr>
        <p:spPr>
          <a:xfrm flipV="1">
            <a:off x="8947404" y="1883664"/>
            <a:ext cx="0" cy="61722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0" name="S06-label69"/>
          <p:cNvSpPr txBox="1"/>
          <p:nvPr/>
        </p:nvSpPr>
        <p:spPr>
          <a:xfrm>
            <a:off x="8656066" y="1458531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ko-KR" sz="1900" dirty="0"/>
          </a:p>
        </p:txBody>
      </p:sp>
      <p:sp>
        <p:nvSpPr>
          <p:cNvPr id="21" name="S06-label70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난 컵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7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다 따라 낸 컵을 ‘빈 컵’이라고 불러요.</a:t>
            </a:r>
            <a:endParaRPr lang="ko-KR" sz="3000" dirty="0"/>
          </a:p>
        </p:txBody>
      </p:sp>
      <p:sp>
        <p:nvSpPr>
          <p:cNvPr id="5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7-chip7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7-text7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컵 안에는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없어요.</a:t>
            </a:r>
            <a:endParaRPr lang="ko-KR" sz="3000" dirty="0"/>
          </a:p>
        </p:txBody>
      </p:sp>
      <p:sp>
        <p:nvSpPr>
          <p:cNvPr id="9" name="S07-chip7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7-text7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컵 안에도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들어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속에서 찾아봐요</a:t>
            </a:r>
            <a:endParaRPr lang="ko-KR" sz="4000" dirty="0"/>
          </a:p>
        </p:txBody>
      </p:sp>
      <p:sp>
        <p:nvSpPr>
          <p:cNvPr id="3" name="S08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공기가 들어 있고, 무엇이 좋을까요?</a:t>
            </a:r>
            <a:endParaRPr lang="ko-KR" sz="3000" dirty="0"/>
          </a:p>
        </p:txBody>
      </p:sp>
      <p:sp>
        <p:nvSpPr>
          <p:cNvPr id="4" name="S08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자리를 차지해서 생기는 좋은 점을 말해요.</a:t>
            </a:r>
            <a:endParaRPr lang="ko-KR" sz="3000" dirty="0"/>
          </a:p>
        </p:txBody>
      </p:sp>
      <p:sp>
        <p:nvSpPr>
          <p:cNvPr id="6" name="S08-chip8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8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물놀이 튜브</a:t>
            </a:r>
            <a:endParaRPr lang="ko-KR" sz="3000" dirty="0"/>
          </a:p>
        </p:txBody>
      </p:sp>
      <p:sp>
        <p:nvSpPr>
          <p:cNvPr id="8" name="S08-chip8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8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바퀴</a:t>
            </a:r>
            <a:endParaRPr lang="ko-KR" sz="3000" dirty="0"/>
          </a:p>
        </p:txBody>
      </p:sp>
      <p:sp>
        <p:nvSpPr>
          <p:cNvPr id="10" name="S08-chip8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8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에어캡(뽁뽁이)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9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빠진 공에 공기를 넣으면 무게는?</a:t>
            </a:r>
            <a:endParaRPr lang="ko-KR" sz="3000" dirty="0"/>
          </a:p>
        </p:txBody>
      </p:sp>
      <p:sp>
        <p:nvSpPr>
          <p:cNvPr id="4" name="S09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3000" dirty="0"/>
          </a:p>
        </p:txBody>
      </p:sp>
      <p:graphicFrame>
        <p:nvGraphicFramePr>
          <p:cNvPr id="10" name="S09-table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57856"/>
          <a:ext cx="1005840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452628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공기를 넣으면 무게는?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(늘어요 / 줄어요 / 그대로)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 그렇게 생각하나요?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공의 무게를 재어 봐요</a:t>
            </a:r>
            <a:endParaRPr lang="ko-KR" sz="4000" dirty="0"/>
          </a:p>
        </p:txBody>
      </p:sp>
      <p:sp>
        <p:nvSpPr>
          <p:cNvPr id="3" name="S10-card9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9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주입기 바늘은 어른이 꽂아요. 저울은 물기 없는 곳에 둬요.</a:t>
            </a:r>
            <a:endParaRPr lang="ko-KR" sz="3000" dirty="0"/>
          </a:p>
        </p:txBody>
      </p:sp>
      <p:sp>
        <p:nvSpPr>
          <p:cNvPr id="5" name="S10-figure94" descr="주방 저울 위에 올린 공. 저울 화면의 무게는 비어 있음"/>
          <p:cNvSpPr/>
          <p:nvPr/>
        </p:nvSpPr>
        <p:spPr>
          <a:xfrm>
            <a:off x="8383851" y="2375423"/>
            <a:ext cx="1686261" cy="344917"/>
          </a:xfrm>
          <a:custGeom>
            <a:avLst/>
            <a:gdLst/>
            <a:ahLst/>
            <a:cxnLst/>
            <a:rect l="l" t="t" r="r" b="b"/>
            <a:pathLst>
              <a:path w="1686261" h="344917">
                <a:moveTo>
                  <a:pt x="0" y="344917"/>
                </a:moveTo>
                <a:lnTo>
                  <a:pt x="1686261" y="344917"/>
                </a:lnTo>
                <a:lnTo>
                  <a:pt x="1686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" name="S10-mark95"/>
          <p:cNvSpPr/>
          <p:nvPr/>
        </p:nvSpPr>
        <p:spPr>
          <a:xfrm>
            <a:off x="8767092" y="2432909"/>
            <a:ext cx="919779" cy="229945"/>
          </a:xfrm>
          <a:custGeom>
            <a:avLst/>
            <a:gdLst/>
            <a:ahLst/>
            <a:cxnLst/>
            <a:rect l="l" t="t" r="r" b="b"/>
            <a:pathLst>
              <a:path w="919779" h="229945">
                <a:moveTo>
                  <a:pt x="0" y="229945"/>
                </a:moveTo>
                <a:lnTo>
                  <a:pt x="919779" y="229945"/>
                </a:lnTo>
                <a:lnTo>
                  <a:pt x="9197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0-mark96"/>
          <p:cNvSpPr/>
          <p:nvPr/>
        </p:nvSpPr>
        <p:spPr>
          <a:xfrm>
            <a:off x="8498824" y="2298775"/>
            <a:ext cx="1456316" cy="76648"/>
          </a:xfrm>
          <a:custGeom>
            <a:avLst/>
            <a:gdLst/>
            <a:ahLst/>
            <a:cxnLst/>
            <a:rect l="l" t="t" r="r" b="b"/>
            <a:pathLst>
              <a:path w="1456316" h="76648">
                <a:moveTo>
                  <a:pt x="0" y="76648"/>
                </a:moveTo>
                <a:lnTo>
                  <a:pt x="1456316" y="76648"/>
                </a:lnTo>
                <a:lnTo>
                  <a:pt x="1456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mark97"/>
          <p:cNvSpPr/>
          <p:nvPr/>
        </p:nvSpPr>
        <p:spPr>
          <a:xfrm>
            <a:off x="8786254" y="1417320"/>
            <a:ext cx="881455" cy="881455"/>
          </a:xfrm>
          <a:prstGeom prst="ellipse">
            <a:avLst/>
          </a:prstGeom>
          <a:solidFill>
            <a:srgbClr val="F8FAFC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0-label99"/>
          <p:cNvSpPr txBox="1"/>
          <p:nvPr/>
        </p:nvSpPr>
        <p:spPr>
          <a:xfrm>
            <a:off x="8995969" y="2397069"/>
            <a:ext cx="46202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g</a:t>
            </a:r>
            <a:endParaRPr lang="ko-KR" sz="1900" dirty="0"/>
          </a:p>
        </p:txBody>
      </p:sp>
      <p:sp>
        <p:nvSpPr>
          <p:cNvPr id="10" name="S10-card100"/>
          <p:cNvSpPr/>
          <p:nvPr/>
        </p:nvSpPr>
        <p:spPr>
          <a:xfrm>
            <a:off x="6813652" y="3040380"/>
            <a:ext cx="4826660" cy="1690116"/>
          </a:xfrm>
          <a:prstGeom prst="roundRect">
            <a:avLst>
              <a:gd name="adj" fmla="val 64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101"/>
          <p:cNvSpPr txBox="1"/>
          <p:nvPr/>
        </p:nvSpPr>
        <p:spPr>
          <a:xfrm>
            <a:off x="7087972" y="3177540"/>
            <a:ext cx="427802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잴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저울을 0에 맞춰요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무게 뒤에 g을 붙여요</a:t>
            </a:r>
            <a:endParaRPr lang="ko-KR" sz="3000" dirty="0"/>
          </a:p>
        </p:txBody>
      </p:sp>
      <p:sp>
        <p:nvSpPr>
          <p:cNvPr id="12" name="S10-stepno102"/>
          <p:cNvSpPr txBox="1"/>
          <p:nvPr/>
        </p:nvSpPr>
        <p:spPr>
          <a:xfrm>
            <a:off x="548640" y="168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10-text103"/>
          <p:cNvSpPr txBox="1"/>
          <p:nvPr/>
        </p:nvSpPr>
        <p:spPr>
          <a:xfrm>
            <a:off x="1325880" y="1684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빠진 공의 무게를 재어 써요.</a:t>
            </a:r>
            <a:endParaRPr lang="ko-KR" sz="2400" dirty="0"/>
          </a:p>
        </p:txBody>
      </p:sp>
      <p:sp>
        <p:nvSpPr>
          <p:cNvPr id="14" name="S10-stepno104"/>
          <p:cNvSpPr txBox="1"/>
          <p:nvPr/>
        </p:nvSpPr>
        <p:spPr>
          <a:xfrm>
            <a:off x="548640" y="2397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10-text105"/>
          <p:cNvSpPr txBox="1"/>
          <p:nvPr/>
        </p:nvSpPr>
        <p:spPr>
          <a:xfrm>
            <a:off x="1325880" y="2397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주입기로 공기를 넣어 단단하게 해요.</a:t>
            </a:r>
            <a:endParaRPr lang="ko-KR" sz="2400" dirty="0"/>
          </a:p>
        </p:txBody>
      </p:sp>
      <p:sp>
        <p:nvSpPr>
          <p:cNvPr id="16" name="S10-stepno106"/>
          <p:cNvSpPr txBox="1"/>
          <p:nvPr/>
        </p:nvSpPr>
        <p:spPr>
          <a:xfrm>
            <a:off x="548640" y="3110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10-text107"/>
          <p:cNvSpPr txBox="1"/>
          <p:nvPr/>
        </p:nvSpPr>
        <p:spPr>
          <a:xfrm>
            <a:off x="1325880" y="31104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저울로 다시 무게를 재어 써요.</a:t>
            </a:r>
            <a:endParaRPr lang="ko-KR" sz="2400" dirty="0"/>
          </a:p>
        </p:txBody>
      </p:sp>
      <p:sp>
        <p:nvSpPr>
          <p:cNvPr id="18" name="S10-stepno108"/>
          <p:cNvSpPr txBox="1"/>
          <p:nvPr/>
        </p:nvSpPr>
        <p:spPr>
          <a:xfrm>
            <a:off x="548640" y="3823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10-text109"/>
          <p:cNvSpPr txBox="1"/>
          <p:nvPr/>
        </p:nvSpPr>
        <p:spPr>
          <a:xfrm>
            <a:off x="1325880" y="38237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무게를 비교해요.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1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3000" dirty="0"/>
          </a:p>
        </p:txBody>
      </p:sp>
      <p:sp>
        <p:nvSpPr>
          <p:cNvPr id="4" name="S11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뒤 무게는 어떻게 되었나요?</a:t>
            </a:r>
            <a:endParaRPr lang="ko-KR" sz="3000" dirty="0"/>
          </a:p>
        </p:txBody>
      </p:sp>
      <p:graphicFrame>
        <p:nvGraphicFramePr>
          <p:cNvPr id="12" name="S11-table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4638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공기를 넣기 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공기를 넣은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늘어난 무게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공기에도 무게가 있어요</a:t>
            </a:r>
            <a:endParaRPr lang="ko-KR" sz="4000" dirty="0"/>
          </a:p>
        </p:txBody>
      </p:sp>
      <p:sp>
        <p:nvSpPr>
          <p:cNvPr id="3" name="S12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가볍지만 무게가 있어요.</a:t>
            </a:r>
            <a:endParaRPr lang="ko-KR" sz="3000" dirty="0"/>
          </a:p>
        </p:txBody>
      </p:sp>
      <p:sp>
        <p:nvSpPr>
          <p:cNvPr id="5" name="S12-card116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117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실험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공이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더 무거워졌어요.</a:t>
            </a:r>
            <a:endParaRPr lang="ko-KR" sz="3000" dirty="0"/>
          </a:p>
        </p:txBody>
      </p:sp>
      <p:sp>
        <p:nvSpPr>
          <p:cNvPr id="7" name="S12-card118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19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실험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페트병도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더 무거워져요.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1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넣으면 공이 통통 잘 튀어요.</a:t>
            </a:r>
            <a:endParaRPr lang="ko-KR" sz="3000" dirty="0"/>
          </a:p>
        </p:txBody>
      </p:sp>
      <p:sp>
        <p:nvSpPr>
          <p:cNvPr id="5" name="S13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3-chip1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3-text1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가벼워져요.</a:t>
            </a:r>
            <a:endParaRPr lang="ko-KR" sz="3000" dirty="0"/>
          </a:p>
        </p:txBody>
      </p:sp>
      <p:sp>
        <p:nvSpPr>
          <p:cNvPr id="9" name="S13-chip1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3-text1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더 무거웠어요.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chip12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4-text12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깔때기를 꽂고 틈을 막은 병에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잘 안 들어가는 까닭은?</a:t>
            </a:r>
            <a:endParaRPr lang="ko-KR" sz="3000" dirty="0"/>
          </a:p>
        </p:txBody>
      </p:sp>
      <p:sp>
        <p:nvSpPr>
          <p:cNvPr id="5" name="S14-chip13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4-text13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공에 공기를 더 넣으면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무게는 어떻게 될까요?</a:t>
            </a:r>
            <a:endParaRPr lang="ko-KR" sz="3000" dirty="0"/>
          </a:p>
        </p:txBody>
      </p:sp>
      <p:sp>
        <p:nvSpPr>
          <p:cNvPr id="7" name="S14-chip13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4-text13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공기에 무게가 있는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확인할 수 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늘어난 무게는 얼마일까요?</a:t>
            </a:r>
            <a:endParaRPr lang="ko-KR" sz="4000" dirty="0"/>
          </a:p>
        </p:txBody>
      </p:sp>
      <p:sp>
        <p:nvSpPr>
          <p:cNvPr id="3" name="S16-text134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공의 무게: 공기를 넣기 전 420 g,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뒤 425 g</a:t>
            </a:r>
            <a:endParaRPr lang="ko-KR" sz="3000" dirty="0"/>
          </a:p>
        </p:txBody>
      </p:sp>
      <p:sp>
        <p:nvSpPr>
          <p:cNvPr id="4" name="S16-card1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1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이 결과로 알 수 있는 것을 말해요.</a:t>
            </a:r>
            <a:endParaRPr lang="ko-KR" sz="3000" dirty="0"/>
          </a:p>
        </p:txBody>
      </p:sp>
      <p:sp>
        <p:nvSpPr>
          <p:cNvPr id="6" name="S16-chip137"/>
          <p:cNvSpPr txBox="1"/>
          <p:nvPr/>
        </p:nvSpPr>
        <p:spPr>
          <a:xfrm>
            <a:off x="1991868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6-card138"/>
          <p:cNvSpPr/>
          <p:nvPr/>
        </p:nvSpPr>
        <p:spPr>
          <a:xfrm>
            <a:off x="548640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6-cardtext139"/>
          <p:cNvSpPr txBox="1"/>
          <p:nvPr/>
        </p:nvSpPr>
        <p:spPr>
          <a:xfrm>
            <a:off x="822960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g</a:t>
            </a:r>
            <a:endParaRPr lang="ko-KR" sz="3000" dirty="0"/>
          </a:p>
        </p:txBody>
      </p:sp>
      <p:sp>
        <p:nvSpPr>
          <p:cNvPr id="9" name="S16-chip140"/>
          <p:cNvSpPr txBox="1"/>
          <p:nvPr/>
        </p:nvSpPr>
        <p:spPr>
          <a:xfrm>
            <a:off x="5811012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6-card141"/>
          <p:cNvSpPr/>
          <p:nvPr/>
        </p:nvSpPr>
        <p:spPr>
          <a:xfrm>
            <a:off x="4367784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42"/>
          <p:cNvSpPr txBox="1"/>
          <p:nvPr/>
        </p:nvSpPr>
        <p:spPr>
          <a:xfrm>
            <a:off x="4642104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g</a:t>
            </a:r>
            <a:endParaRPr lang="ko-KR" sz="3000" dirty="0"/>
          </a:p>
        </p:txBody>
      </p:sp>
      <p:sp>
        <p:nvSpPr>
          <p:cNvPr id="12" name="S16-chip143"/>
          <p:cNvSpPr txBox="1"/>
          <p:nvPr/>
        </p:nvSpPr>
        <p:spPr>
          <a:xfrm>
            <a:off x="9630156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6-card144"/>
          <p:cNvSpPr/>
          <p:nvPr/>
        </p:nvSpPr>
        <p:spPr>
          <a:xfrm>
            <a:off x="8186928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6-cardtext145"/>
          <p:cNvSpPr txBox="1"/>
          <p:nvPr/>
        </p:nvSpPr>
        <p:spPr>
          <a:xfrm>
            <a:off x="8461248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845 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눈에 보이지 않지만 공간을 차지하고 무게가 있어요.</a:t>
            </a:r>
            <a:endParaRPr lang="ko-KR" sz="3000" dirty="0"/>
          </a:p>
        </p:txBody>
      </p:sp>
      <p:sp>
        <p:nvSpPr>
          <p:cNvPr id="5" name="S17-chip14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실험 결과를 증거로 말하기</a:t>
            </a:r>
            <a:endParaRPr lang="ko-KR" sz="2400" dirty="0"/>
          </a:p>
        </p:txBody>
      </p:sp>
      <p:sp>
        <p:nvSpPr>
          <p:cNvPr id="6" name="S17-chip14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빈 컵에는 아무것도 없다고 생각하기</a:t>
            </a:r>
            <a:endParaRPr lang="ko-KR" sz="2200" dirty="0"/>
          </a:p>
        </p:txBody>
      </p:sp>
      <p:sp>
        <p:nvSpPr>
          <p:cNvPr id="7" name="S17-text15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5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컵 안의 휴지가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젖지 않은 까닭은?</a:t>
            </a:r>
            <a:endParaRPr lang="ko-KR" sz="2400" dirty="0"/>
          </a:p>
        </p:txBody>
      </p:sp>
      <p:sp>
        <p:nvSpPr>
          <p:cNvPr id="9" name="S17-text15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공에 공기를 넣으면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무게는?</a:t>
            </a:r>
            <a:endParaRPr lang="ko-KR" sz="2400" dirty="0"/>
          </a:p>
        </p:txBody>
      </p:sp>
      <p:sp>
        <p:nvSpPr>
          <p:cNvPr id="10" name="S17-text15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공기가 차지한 자리를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이용한 물건 하나는?</a:t>
            </a:r>
            <a:endParaRPr lang="ko-KR" sz="2400" dirty="0"/>
          </a:p>
        </p:txBody>
      </p:sp>
      <p:sp>
        <p:nvSpPr>
          <p:cNvPr id="11" name="S17-text15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기후변화와 생활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고체, 액체, 기체</a:t>
            </a:r>
            <a:endParaRPr lang="ko-KR" sz="4000" dirty="0"/>
          </a:p>
        </p:txBody>
      </p:sp>
      <p:sp>
        <p:nvSpPr>
          <p:cNvPr id="3" name="S18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보고 담아 보며 비교해요.</a:t>
            </a:r>
            <a:endParaRPr lang="ko-KR" sz="3000" dirty="0"/>
          </a:p>
        </p:txBody>
      </p:sp>
      <p:sp>
        <p:nvSpPr>
          <p:cNvPr id="4" name="S18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8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기체예요. 비닐봉지에 담으면 봉지가 부풀어요.</a:t>
            </a:r>
            <a:endParaRPr lang="ko-KR" sz="3000" dirty="0"/>
          </a:p>
        </p:txBody>
      </p:sp>
      <p:sp>
        <p:nvSpPr>
          <p:cNvPr id="6" name="S18-card158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8-cardtext159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고체: 얼음, 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일정해요.</a:t>
            </a:r>
            <a:endParaRPr lang="ko-KR" sz="3000" dirty="0"/>
          </a:p>
        </p:txBody>
      </p:sp>
      <p:sp>
        <p:nvSpPr>
          <p:cNvPr id="8" name="S18-card160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8-cardtext161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액체: 물, 주스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그릇에 따라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바뀌어요.</a:t>
            </a:r>
            <a:endParaRPr lang="ko-KR" sz="3000" dirty="0"/>
          </a:p>
        </p:txBody>
      </p:sp>
      <p:sp>
        <p:nvSpPr>
          <p:cNvPr id="10" name="S18-card162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163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기체: 공기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보이지 않고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퍼져서 채워요.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수증기도 기체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기체의 성질</dc:title>
  <dc:subject>KR22-G04-SCI-AIR-L01</dc:subject>
  <dc:creator>education-ppt</dc:creator>
  <cp:lastModifiedBy>education-ppt</cp:lastModifiedBy>
  <cp:revision>1</cp:revision>
  <dcterms:created xsi:type="dcterms:W3CDTF">2026-10-26T13:18:37Z</dcterms:created>
  <dcterms:modified xsi:type="dcterms:W3CDTF">2026-10-26T13:18:37Z</dcterms:modified>
</cp:coreProperties>
</file>