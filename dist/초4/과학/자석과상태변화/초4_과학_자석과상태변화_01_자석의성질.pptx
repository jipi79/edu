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877b9ff-ccbe-df40-cda5-ac22f8d8efb7}">
          <p14:sldIdLst>
            <p14:sldId id="256"/>
            <p14:sldId id="257"/>
          </p14:sldIdLst>
        </p14:section>
        <p14:section name="연습" id="{e52e319a-7185-b40b-68e6-85b802f28799}">
          <p14:sldIdLst>
            <p14:sldId id="258"/>
            <p14:sldId id="259"/>
            <p14:sldId id="260"/>
            <p14:sldId id="262"/>
            <p14:sldId id="263"/>
            <p14:sldId id="264"/>
            <p14:sldId id="265"/>
            <p14:sldId id="267"/>
          </p14:sldIdLst>
        </p14:section>
        <p14:section name="개념" id="{b34e2aaa-11c9-f9b2-221f-221935aec90f}">
          <p14:sldIdLst>
            <p14:sldId id="261"/>
            <p14:sldId id="266"/>
          </p14:sldIdLst>
        </p14:section>
        <p14:section name="연습" id="{a42c8e74-61a7-6249-5e23-9d1eeb9a1592}">
          <p14:sldIdLst/>
        </p14:section>
        <p14:section name="개념" id="{64a43280-7403-229b-b912-06cae39e101b}">
          <p14:sldIdLst/>
        </p14:section>
        <p14:section name="연습" id="{1e390e9d-ce19-b4a9-71bb-3054cc750b20}">
          <p14:sldIdLst/>
        </p14:section>
        <p14:section name="확인" id="{18931951-66dd-b527-444d-6b57d381ed77}">
          <p14:sldIdLst>
            <p14:sldId id="268"/>
            <p14:sldId id="269"/>
            <p14:sldId id="270"/>
          </p14:sldIdLst>
        </p14:section>
        <p14:section name="정리" id="{6e6de279-e824-512e-e8b8-a4301375dbbf}">
          <p14:sldIdLst>
            <p14:sldId id="271"/>
          </p14:sldIdLst>
        </p14:section>
        <p14:section name="보충" id="{03ca4d72-07a5-3c5d-dc37-c677e6041b63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자석에 대한 경험을 떠올리게 합니다.
시간: 약 2분
이렇게 말해 보세요
- “냉장고에 붙어 있는 자석을 본 적 있지? 자석은 아무 데나 붙을까?”
- “오늘은 자석에 여러 물체를 대어 보고, 자석끼리는 어떻게 하는지 직접 알아볼 거야.”
예상 답
- “냉장고에 붙어요.” “쇠에 붙어요.” 어떤 답이든 괜찮습니다.
막히면
- 자석을 보여 주기만 하고, 물체에 대어 보는 것은 S04에서 합니다.
주의
- 자석은 휴대 전화, 교통카드·신용카드, 컴퓨터에서 멀리 둡니다. 자석 때문에 고장 나거나 카드가 읽히지 않을 수 있습니다.
- 작은 자석(특히 동그란 구슬 모양의 강한 자석)은 어린 동생이 삼킬 수 있어 매우 위험합니다. 수업이 끝나면 바로 손이 닿지 않는 곳에 치웁니다. 삼킨 것이 의심되면 바로 병원 응급실에 가거나 119에 연락합니다.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확인(물체와 물질, 금속)]
목적: 초3 ‘물체와 물질’에서 배운 물체와 물질의 구별, 금속이라는 물질을 확인합니다. 오늘 ‘무엇으로 만든 물체가 자석에 붙는지’를 찾으려면 물질을 말할 수 있어야 합니다. 이 차시는 계획상 선수 차시가 없습니다.
시간: 약 2분
이렇게 말해 보세요
- “① 클립은 물체야. 그럼 클립을 만든 물질은 무엇일까?”
- “② 집에서 금속으로 만든 물체를 두 가지 찾아볼래?”
정답
- ① 금속(철)
- ② 기준: 금속으로 만든 물체면 맞음. 예) 숟가락, 냄비, 클립, 음료수 캔, 옷걸이
막히면
- 물체와 물질을 헷갈리면 S17(보충)을 먼저 합니다. 보충으로도 어려우면 초3 ‘물체와 물질’(KR22-G03-SCI-MATERIAL-L01)을 먼저 합니다.
주의
- ‘쇠’와 ‘철’은 같은 것을 가리키는 말로 써도 됩니다. 오늘은 교과서처럼 ‘철’이라고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실험 전 예상하기(붙는 물체)]
목적: 자석에 대어 보기 전에 결과를 예상하고 까닭을 말합니다(목표 A). 결과는 S04에서 직접 확인합니다.
시간: 약 2분
이렇게 말해 보세요
- “여섯 가지 중에서 자석에 붙을 것 같은 것은 무엇이야? 왜 그렇게 생각해?”
- “예상은 활동지 1의 ‘예상’ 칸에 ○, ×로 써 보자.”
예상 답
- 어떤 예상이든 괜찮습니다. “금속이니까 클립이랑 캔이랑 옷걸이가 붙을 것 같아요.” “나무는 안 붙을 것 같아요.”
막히면
- “냉장고 문은 무엇으로 만들었을까? 거기에 자석이 붙었지?”라고 경험을 떠올리게 합니다.
주의
- 결과를 알려 주지 않습니다. 특히 알루미늄 캔은 ‘금속이니까 붙는다’고 예상하는 아이가 많습니다. 그대로 두고 S04에서 확인합니다(오해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자석에 붙는 물체 시험하기]
목적: 여러 물체를 같은 자석에 대어 보고 결과를 기록합니다(목표 A).
시간: 약 4분
이렇게 말해 보세요
- “하나씩 대어 보자. 붙었어? 결과 칸에 ○나 ×를 써.”
- “붙은 물체끼리 모아 볼까? 붙은 것들은 무엇이 같을까?”
예상 답
- 철 클립 ○, 알루미늄 캔 ×, 철사 옷걸이 ○, 플라스틱 자 ×, 나무젓가락 ×, 지우개 ×
- “캔은 금속인데 안 붙어요!”
막히면
- 자석을 너무 빨리 움직이면 헷갈릴 수 있습니다. 물체에 자석을 살짝 댄 채 천천히 떼어 보게 합니다.
주의
- 철사 옷걸이는 겉에 칠이 되어 있어도 속이 철이라 붙습니다. 플라스틱으로 감싼 옷걸이는 겉을 보고 판단하지 않게 합니다.
- 음료수 캔은 분리배출 표시를 확인합니다. ‘알미늄’이라고 쓰인 캔은 붙지 않고, ‘철’이라고 쓰인 캔(일부 커피 캔 등)은 붙습니다.
- 동전을 넣고 싶어 하면 해 보고 결과대로 기록합니다. 우리나라 동전은 철로 만들지 않습니다.
- 아이가 냉장고 문에도 대어 보려 하면 해 봐도 됩니다. 다만 앞면이 유리나 일부 스테인리스로 된 냉장고는 붙지 않을 수 있으니 결과대로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결과 정리와 공통점 찾기]
목적: 결과를 표로 정리하고, 붙은 물체의 물질에서 공통점을 찾습니다(목표 A).
시간: 약 3분
이렇게 말해 보세요
- “표를 한 줄씩 보면서 예상과 결과를 말해 줄래?”
- “결과가 ○인 물체들의 ‘물질’ 칸을 보자. 무엇이 같아?”
예상 답
- “붙은 건 다 철이에요.” “알루미늄도 금속인데 안 붙었어요.”
막히면
- ○인 줄에만 손가락을 대고 ‘물질’ 칸을 차례로 읽게 합니다.
주의
- 화면의 예상·결과 칸은 아이가 말로 채우는 자리입니다.
- 지우개는 제품에 따라 고무나 플라스틱으로 만듭니다. 어느 것이든 자석에 붙지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결과로 설명하기(철이 붙는다)]
목적: 실험 결과를 증거로 자석이 철로 만든 물체를 끌어당긴다는 것을 정리합니다(목표 A).
시간: 약 2분
이렇게 말해 보세요
- “결과를 보니 자석에 붙은 물체는 모두 무엇으로 만들었어?”
- “자석이 철로 만든 물체를 끌어당기는 거야. 집에서 철로 만든 물체를 하나 더 찾아 대어 볼까?”
예상 답
- “철이요.” “냉장고 문도 붙어요.”
막히면
- S05의 표에서 ○인 줄을 다시 짚어 줍니다.
주의
- 철이 아니면서 자석에 붙는 금속(니켈 등)도 있지만 4학년에서는 다루지 않습니다. 아이가 묻지 않으면 말하지 않습니다.
- 스테인리스 숟가락·냄비는 종류에 따라 붙기도 하고 붙지 않기도 합니다. 아이가 시험해 보면 결과대로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오해 비교(금속은 모두 붙는다)]
목적: ‘금속은 모두 자석에 붙는다’는 생각을 실험 결과로 바로잡습니다(목표 A, 오해 M1).
시간: 약 2분
이렇게 말해 보세요
- “토끼는 금속이니까 붙는다고 하고, 곰은 대어 봤더니 안 붙었대. 누구 말이 맞을까?”
- “우리 실험에서 알루미늄 캔은 어땠지? 그럼 금속 중에서 자석에 붙는 것은 무엇일까?”
정답
- 곰. 증거: 알루미늄 캔을 자석에 대어 보니 붙지 않았습니다.
- 금속 가운데 철로 만든 물체가 자석에 붙고, 알루미늄은 붙지 않습니다.
막히면
- 캔과 클립을 양손에 하나씩 들고 다시 자석에 대어 보게 합니다.
주의
- 생각(토끼)보다 직접 해 본 결과(곰)가 더 믿을 만한 증거라는 점을 칭찬해 줍니다.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실험 전 예상하기(극, 두 자석)]
목적: 자석의 어느 곳이 힘이 센지, 두 자석을 마주 대면 어떻게 될지 예상합니다(목표 B). 결과는 S09에서 확인합니다.
시간: 약 2분
이렇게 말해 보세요
- “자석에는 N, S라고 쓰여 있지? 클립은 어디에 많이 붙을까? 가운데? 양 끝?”
- “두 자석을 마주 대면 어떻게 될 것 같아? 왜 그렇게 생각해?”
예상 답
- 어떤 예상이든 괜찮습니다. “고르게 붙을 것 같아요.” “둘 다 자석이니까 붙을 것 같아요.”
막히면
- “자석끼리 가까이 하면 어떻게 될까? 본 적 있어?”라고 경험을 떠올리게 합니다.
주의
- 결과를 알려 주지 않습니다. N과 S는 자석에 쓰인 글자를 그대로 읽게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클립과 두 자석으로 시험하기]
목적: 클립 수로 자석의 힘이 센 곳을 찾고, 두 자석을 마주 대어 밀어내는 힘과 끌어당기는 힘을 느끼며 기록합니다(목표 B, 오해 M2·M3).
시간: 약 5분
이렇게 말해 보세요
- “클립이 어디에 많이 붙었어? 왼쪽 끝, 가운데, 오른쪽 끝을 하나씩 세어 보자.”
- “N극과 N극을 천천히 가까이 해 봐. 손에 어떤 느낌이 들어?”
- “이번엔 N극과 S극! 어때?”
예상 답
- “양 끝에 많이 붙고 가운데는 거의 없어요.” “N극끼리는 밀어내요. 손이 밀려요.” “N극과 S극은 딱 붙어요.”
막히면
- 밀어내는 힘이 잘 느껴지지 않으면 한 자석을 책상 위에 두고 다른 자석의 같은 극을 천천히 가까이 하여 책상 위 자석이 밀려 움직이는 것을 보게 합니다.
주의
- 강한 자석은 서로 세게 달라붙어 손가락이 끼이거나 자석이 깨질 수 있습니다. 천천히 가까이 하게 합니다.
- 클립 수는 자석의 세기에 따라 다릅니다. 수보다 ‘양 끝에 많고 가운데는 적다’는 차이가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결과 정리(클립 수, 마주 댄 극)]
목적: 두 실험의 결과를 정리하고 예상과 비교합니다(목표 B).
시간: 약 3분
이렇게 말해 보세요
- “왼쪽 표부터 볼까? 클립이 가장 많이 붙은 곳은 어디야? 몇 개였어?”
- “오른쪽 표에서 밀어낸 것은 어떤 극끼리였어? 끌어당긴 것은?”
예상 답
- “양 끝에 많이 붙었어요.” “N극끼리, S극끼리는 밀어냈고 N극과 S극은 끌어당겼어요.”
막히면
- 활동지 2·3의 칸을 손가락으로 짚으며 하나씩 말하게 합니다.
주의
- 화면의 빈칸은 아이가 말로 채우는 자리입니다. 결과가 예상과 달라도 예상 칸을 고치지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결과로 설명하기(극과 극 사이의 힘)]
목적: 실험 결과를 증거로 자석의 극과 극 사이에 작용하는 힘을 정리합니다(목표 B).
시간: 약 3분
이렇게 말해 보세요
- “자석에서 철을 끌어당기는 힘이 가장 센 곳을 ‘극’이라고 해. 막대자석에는 N극과 S극, 두 극이 있어.”
- “N극과 N극처럼 같은 극끼리는 어떻게 했지? N극과 S극처럼 다른 극끼리는?”
예상 답
- “같은 극끼리는 밀어내고, 다른 극끼리는 끌어당겨요.”
막히면
- 두 자석을 다시 들고 같은 극, 다른 극을 마주 대어 보며 카드의 말을 따라 읽게 합니다.
주의
- 막대자석을 반으로 잘라도 조각마다 N극과 S극이 다시 생깁니다. 아이가 물으면 알려 주되, 자석을 깨뜨려 보지 않게 합니다.
- 자석이 남북을 가리키는 성질(나침반)은 이 차시에서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그림으로 극 사이의 힘 판단하기]
목적: 그림에서 마주 보는 극을 찾아 끌어당길지 밀어낼지 판단합니다(목표 B, 오해 M3).
시간: 약 3분
이렇게 말해 보세요
- “두 자석이 서로 마주 보는 곳은 가운데야. ①에서 왼쪽 자석의 오른쪽 끝은 무슨 극이야? 오른쪽 자석의 왼쪽 끝은?”
- “같은 극이야, 다른 극이야? 그럼 어떻게 될까?”
정답
- ① S극과 N극이 마주 봄 → 끌어당겨요
- ② S극과 S극이 마주 봄 → 밀어내요
- ③ N극과 N극이 마주 봄 → 밀어내요
막히면
- 마주 보는 두 칸만 손가락으로 가리고 그 두 글자만 읽게 합니다. 실제 자석을 그림처럼 놓아 확인해도 됩니다.
주의
- 자석 바깥쪽 끝의 글자를 보고 답하는 실수가 많습니다. ‘마주 보는’ 극을 찾는 것이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혼자 해결]
목적: 도움 없이 자석에 붙는 물체를 고르고(①), 극과 극 사이의 힘(②)과 극의 뜻(③)을 말하는지 확인합니다(목표 A·B).
시간: 약 3분
이렇게 말해 보세요
- “이번에는 혼자 답해 볼래? 왜 그렇게 생각했는지도 말해 줘.”
정답
- ① 철 못, 철사(철로 만든 물체). 알루미늄 포일과 유리구슬은 붙지 않습니다.
- ② 같은 극끼리(N극과 N극, 또는 S극과 S극)
- ③ 양 끝, 극
막히면
- 바로 알려 주지 말고 “우리 실험에서 붙은 물체는 무엇으로 만들었지?”, “밀어낸 건 어떤 극끼리였지?”라고만 묻습니다.
- 도움을 받아 해결했다면 기록표에 ‘도움’으로 표시합니다.
주의
- ①에서 알루미늄 포일을 고르면 오해 M1입니다. S07을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철 못, 철사 ② 같은 극끼리(N극–N극 또는 S극–S극) ③ 양 끝, 극
막히면
- ①이 틀리면 S06·S07로(M1), ②가 틀리면 S11·S12로(M3), ③이 틀리면 S10·S11로(M2)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마무리 확인(모르는 극 찾기)]
목적: 처음 보는 문제에서 ‘다른 극끼리 끌어당긴다’를 이용해 모르는 극을 판단하는지 확인합니다(목표 B).
시간: 약 2분
이렇게 말해 보세요
- “N극을 가까이 했더니 끌려왔대. 끌어당기는 건 같은 극끼리였어, 다른 극끼리였어?”
정답
- 나(S극). 다른 극끼리 끌어당기므로, N극에 끌려온 끝은 S극입니다.
막히면
- S11의 카드를 다시 보여 줍니다. 실제 자석의 글자를 손으로 가리고 같은 방법으로 맞혀 보는 놀이를 해도 좋습니다.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정리와 다음 수업 복습]
목적: 핵심을 정리하고 다음 수업 첫 5분에 풀 복습 문제를 알려 줍니다.
시간: 약 1분
이렇게 말해 보세요
- “오늘 실험으로 알게 된 자석의 성질을 두 가지 말해 볼래?”
예상 답
- “자석은 철을 끌어당겨요.” “같은 극끼리는 밀어내요.”
정답
- ① 철 ② 양 끝(극) ③ 끌어당긴다
막히면
- S06, S11을 다시 보여 줍니다.
주의
- 복습 세 문제는 다음 수업을 시작할 때 활동지 마지막 쪽과 함께 풉니다.
- 수업이 끝나면 자석을 휴대 전화·카드와 떨어진 곳, 어린 동생의 손이 닿지 않는 곳에 보관합니다.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선수 학습 보충(물체와 물질, 금속)]
목적: S02가 흔들리면, 물체와 물질을 구별하고 금속에도 여러 가지(철, 알루미늄)가 있다는 것을 먼저 익힙니다.
시간: 약 4분
이렇게 말해 보세요
- “‘이건 뭐야?’ 하면 물체, ‘무엇으로 만들었어?’ 하면 물질이야. 클립은 무엇으로 만들었어?”
- “철과 알루미늄은 둘 다 금속이야. 집에서 금속으로 만든 물체를 찾아볼까?”
예상 답
- “클립은 철이요.” “숟가락이랑 냄비가 금속이에요.”
막히면
- 실물을 하나씩 들고 ‘○○로 만든 □□’ 문장으로 말하게 합니다(예: 나무로 만든 젓가락).
주의
- 이 차시는 계획상 선수 차시가 없습니다. 보충으로도 물체와 물질을 구별하기 어려우면 초3 ‘물체와 물질’(KR22-G03-SCI-MATERIAL-L01)을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자석과상태변화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자석의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자석의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자석의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자석의 성질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자석은 무엇을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끌어당길까?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막대자석: 왼쪽 N극(빨간색), 오른쪽 S극(파란색)"/>
          <p:cNvSpPr/>
          <p:nvPr/>
        </p:nvSpPr>
        <p:spPr>
          <a:xfrm>
            <a:off x="7818120" y="1645920"/>
            <a:ext cx="1828800" cy="914400"/>
          </a:xfrm>
          <a:custGeom>
            <a:avLst/>
            <a:gdLst/>
            <a:ahLst/>
            <a:cxnLst/>
            <a:rect l="l" t="t" r="r" b="b"/>
            <a:pathLst>
              <a:path w="1828800" h="914400">
                <a:moveTo>
                  <a:pt x="0" y="914400"/>
                </a:moveTo>
                <a:lnTo>
                  <a:pt x="1828800" y="914400"/>
                </a:lnTo>
                <a:lnTo>
                  <a:pt x="1828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646920" y="1645920"/>
            <a:ext cx="1828800" cy="914400"/>
          </a:xfrm>
          <a:custGeom>
            <a:avLst/>
            <a:gdLst/>
            <a:ahLst/>
            <a:cxnLst/>
            <a:rect l="l" t="t" r="r" b="b"/>
            <a:pathLst>
              <a:path w="1828800" h="914400">
                <a:moveTo>
                  <a:pt x="0" y="914400"/>
                </a:moveTo>
                <a:lnTo>
                  <a:pt x="1828800" y="914400"/>
                </a:lnTo>
                <a:lnTo>
                  <a:pt x="1828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1-label5"/>
          <p:cNvSpPr txBox="1"/>
          <p:nvPr/>
        </p:nvSpPr>
        <p:spPr>
          <a:xfrm>
            <a:off x="8577072" y="191262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8" name="S01-label7"/>
          <p:cNvSpPr txBox="1"/>
          <p:nvPr/>
        </p:nvSpPr>
        <p:spPr>
          <a:xfrm>
            <a:off x="10405872" y="191262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9" name="S01-card8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9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자석에 붙는 물체를 시험하고 공통점을 찾아요.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N극과 S극이 서로 어떻게 하는지 알아봐요.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3학년 기억하기</a:t>
            </a:r>
            <a:endParaRPr lang="ko-KR" sz="4000" dirty="0"/>
          </a:p>
        </p:txBody>
      </p:sp>
      <p:sp>
        <p:nvSpPr>
          <p:cNvPr id="3" name="S02-chip1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1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클립은 물체예요.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만들었을까요?</a:t>
            </a:r>
            <a:endParaRPr lang="ko-KR" sz="3000" dirty="0"/>
          </a:p>
        </p:txBody>
      </p:sp>
      <p:sp>
        <p:nvSpPr>
          <p:cNvPr id="5" name="S02-chip12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3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금속으로 만든 물체를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붙을까요, 붙지 않을까요?</a:t>
            </a:r>
            <a:endParaRPr lang="ko-KR" sz="3000" dirty="0"/>
          </a:p>
        </p:txBody>
      </p:sp>
      <p:sp>
        <p:nvSpPr>
          <p:cNvPr id="4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말하고, 활동지 1의 ‘예상’ 칸에 ○, ×로 써요.</a:t>
            </a:r>
            <a:endParaRPr lang="ko-KR" sz="3000" dirty="0"/>
          </a:p>
        </p:txBody>
      </p:sp>
      <p:sp>
        <p:nvSpPr>
          <p:cNvPr id="6" name="S03-chip1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3-text18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 클립</a:t>
            </a:r>
            <a:endParaRPr lang="ko-KR" sz="3000" dirty="0"/>
          </a:p>
        </p:txBody>
      </p:sp>
      <p:sp>
        <p:nvSpPr>
          <p:cNvPr id="8" name="S03-chip19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3-text20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 캔</a:t>
            </a:r>
            <a:endParaRPr lang="ko-KR" sz="3000" dirty="0"/>
          </a:p>
        </p:txBody>
      </p:sp>
      <p:sp>
        <p:nvSpPr>
          <p:cNvPr id="10" name="S03-chip2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3-text22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철사 옷걸이</a:t>
            </a:r>
            <a:endParaRPr lang="ko-KR" sz="3000" dirty="0"/>
          </a:p>
        </p:txBody>
      </p:sp>
      <p:sp>
        <p:nvSpPr>
          <p:cNvPr id="12" name="S03-chip23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3-text24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 자</a:t>
            </a:r>
            <a:endParaRPr lang="ko-KR" sz="3000" dirty="0"/>
          </a:p>
        </p:txBody>
      </p:sp>
      <p:sp>
        <p:nvSpPr>
          <p:cNvPr id="14" name="S03-chip2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5" name="S03-text26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나무젓가락</a:t>
            </a:r>
            <a:endParaRPr lang="ko-KR" sz="3000" dirty="0"/>
          </a:p>
        </p:txBody>
      </p:sp>
      <p:sp>
        <p:nvSpPr>
          <p:cNvPr id="16" name="S03-chip27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400" dirty="0"/>
          </a:p>
        </p:txBody>
      </p:sp>
      <p:sp>
        <p:nvSpPr>
          <p:cNvPr id="17" name="S03-text28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대어 봐요</a:t>
            </a:r>
            <a:endParaRPr lang="ko-KR" sz="4000" dirty="0"/>
          </a:p>
        </p:txBody>
      </p:sp>
      <p:sp>
        <p:nvSpPr>
          <p:cNvPr id="3" name="S04-card2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자석은 휴대 전화·카드에서 멀리 둬요. 작은 자석은 동생 손이 닿지 않게 치워요.</a:t>
            </a:r>
            <a:endParaRPr lang="ko-KR" sz="3000" dirty="0"/>
          </a:p>
        </p:txBody>
      </p:sp>
      <p:sp>
        <p:nvSpPr>
          <p:cNvPr id="5" name="S04-card31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32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모든 물체를 같은 자석으로 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달라도 본 대로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붙은 물체의 공통점을 찾아요</a:t>
            </a:r>
            <a:endParaRPr lang="ko-KR" sz="3000" dirty="0"/>
          </a:p>
        </p:txBody>
      </p:sp>
      <p:sp>
        <p:nvSpPr>
          <p:cNvPr id="7" name="S04-stepno33"/>
          <p:cNvSpPr txBox="1"/>
          <p:nvPr/>
        </p:nvSpPr>
        <p:spPr>
          <a:xfrm>
            <a:off x="548640" y="15148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34"/>
          <p:cNvSpPr txBox="1"/>
          <p:nvPr/>
        </p:nvSpPr>
        <p:spPr>
          <a:xfrm>
            <a:off x="1325880" y="1469136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물체를 하나씩 자석에 가까이 대어 봐요.</a:t>
            </a:r>
            <a:endParaRPr lang="ko-KR" sz="3000" dirty="0"/>
          </a:p>
        </p:txBody>
      </p:sp>
      <p:sp>
        <p:nvSpPr>
          <p:cNvPr id="9" name="S04-stepno35"/>
          <p:cNvSpPr txBox="1"/>
          <p:nvPr/>
        </p:nvSpPr>
        <p:spPr>
          <a:xfrm>
            <a:off x="548640" y="26090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36"/>
          <p:cNvSpPr txBox="1"/>
          <p:nvPr/>
        </p:nvSpPr>
        <p:spPr>
          <a:xfrm>
            <a:off x="1325880" y="256336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붙으면 ○, 붙지 않으면 ×를 결과 칸에 써요.</a:t>
            </a:r>
            <a:endParaRPr lang="ko-KR" sz="3000" dirty="0"/>
          </a:p>
        </p:txBody>
      </p:sp>
      <p:sp>
        <p:nvSpPr>
          <p:cNvPr id="11" name="S04-stepno37"/>
          <p:cNvSpPr txBox="1"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38"/>
          <p:cNvSpPr txBox="1"/>
          <p:nvPr/>
        </p:nvSpPr>
        <p:spPr>
          <a:xfrm>
            <a:off x="1325880" y="3657600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붙은 것끼리, 붙지 않은 것끼리 모아요.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3000" dirty="0"/>
          </a:p>
        </p:txBody>
      </p:sp>
      <p:sp>
        <p:nvSpPr>
          <p:cNvPr id="4" name="S05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붙은 물체는 무엇으로 만들었을까요?</a:t>
            </a:r>
            <a:endParaRPr lang="ko-KR" sz="3000" dirty="0"/>
          </a:p>
        </p:txBody>
      </p:sp>
      <p:graphicFrame>
        <p:nvGraphicFramePr>
          <p:cNvPr id="6" name="S05-table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097532"/>
          <a:ext cx="100584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  <a:gridCol w="2011680"/>
                <a:gridCol w="2011680"/>
              </a:tblGrid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물체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물질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 클립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알루미늄 캔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알루미늄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철사 옷걸이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 자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나무젓가락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지우개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고무·플라스틱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붙는 물체</a:t>
            </a:r>
            <a:endParaRPr lang="ko-KR" sz="40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결과, 철로 만든 물체가 자석에 붙었어요.</a:t>
            </a:r>
            <a:endParaRPr lang="ko-KR" sz="3000" dirty="0"/>
          </a:p>
        </p:txBody>
      </p:sp>
      <p:sp>
        <p:nvSpPr>
          <p:cNvPr id="4" name="S06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자석은 철로 만든 물체를 끌어당겨요.</a:t>
            </a:r>
            <a:endParaRPr lang="ko-KR" sz="3000" dirty="0"/>
          </a:p>
        </p:txBody>
      </p:sp>
      <p:sp>
        <p:nvSpPr>
          <p:cNvPr id="6" name="S06-card46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7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철로 만든 물체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클립, 철사 옷걸이</a:t>
            </a:r>
            <a:endParaRPr lang="ko-KR" sz="3000" dirty="0"/>
          </a:p>
        </p:txBody>
      </p:sp>
      <p:sp>
        <p:nvSpPr>
          <p:cNvPr id="8" name="S06-card48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49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붙지 않아요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플라스틱, 나무, 고무,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알루미늄으로 만든 물체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5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 캔도 반짝이는 금속이에요.</a:t>
            </a:r>
            <a:endParaRPr lang="ko-KR" sz="3000" dirty="0"/>
          </a:p>
        </p:txBody>
      </p:sp>
      <p:sp>
        <p:nvSpPr>
          <p:cNvPr id="5" name="S07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07-chip5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7-text5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금속이니까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붙어요.</a:t>
            </a:r>
            <a:endParaRPr lang="ko-KR" sz="3000" dirty="0"/>
          </a:p>
        </p:txBody>
      </p:sp>
      <p:sp>
        <p:nvSpPr>
          <p:cNvPr id="9" name="S07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07-text5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대어 보니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붙지 않았어요.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08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말하고, 활동지 2·3의 ‘예상’ 칸에 써요.</a:t>
            </a:r>
            <a:endParaRPr lang="ko-KR" sz="3000" dirty="0"/>
          </a:p>
        </p:txBody>
      </p:sp>
      <p:sp>
        <p:nvSpPr>
          <p:cNvPr id="5" name="S08-chip60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8-text61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막대자석을 클립 더미에 넣었다 꺼내면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클립은 어디에 많이 붙을까요?</a:t>
            </a:r>
            <a:endParaRPr lang="ko-KR" sz="3000" dirty="0"/>
          </a:p>
        </p:txBody>
      </p:sp>
      <p:sp>
        <p:nvSpPr>
          <p:cNvPr id="7" name="S08-chip62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8-text63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자석의 N극과 N극을 마주 대면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3000" dirty="0"/>
          </a:p>
        </p:txBody>
      </p:sp>
      <p:sp>
        <p:nvSpPr>
          <p:cNvPr id="9" name="S08-chip64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8-text65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N극과 S극을 마주 대면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클립과 두 자석으로 시험해요</a:t>
            </a:r>
            <a:endParaRPr lang="ko-KR" sz="4000" dirty="0"/>
          </a:p>
        </p:txBody>
      </p:sp>
      <p:sp>
        <p:nvSpPr>
          <p:cNvPr id="3" name="S09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자석 사이에 손가락이 끼지 않게 천천히 가까이 해요.</a:t>
            </a:r>
            <a:endParaRPr lang="ko-KR" sz="3000" dirty="0"/>
          </a:p>
        </p:txBody>
      </p:sp>
      <p:sp>
        <p:nvSpPr>
          <p:cNvPr id="5" name="S09-card68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69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클립 수 뒤에 ‘개’를 붙여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손에 느껴진 힘을 말해요</a:t>
            </a:r>
            <a:endParaRPr lang="ko-KR" sz="3000" dirty="0"/>
          </a:p>
        </p:txBody>
      </p:sp>
      <p:sp>
        <p:nvSpPr>
          <p:cNvPr id="7" name="S09-stepno70"/>
          <p:cNvSpPr txBox="1"/>
          <p:nvPr/>
        </p:nvSpPr>
        <p:spPr>
          <a:xfrm>
            <a:off x="548640" y="16322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71"/>
          <p:cNvSpPr txBox="1"/>
          <p:nvPr/>
        </p:nvSpPr>
        <p:spPr>
          <a:xfrm>
            <a:off x="1325880" y="1586484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막대자석을 클립 더미에 넣었다 꺼내요.</a:t>
            </a:r>
            <a:endParaRPr lang="ko-KR" sz="2400" dirty="0"/>
          </a:p>
        </p:txBody>
      </p:sp>
      <p:sp>
        <p:nvSpPr>
          <p:cNvPr id="9" name="S09-stepno72"/>
          <p:cNvSpPr txBox="1"/>
          <p:nvPr/>
        </p:nvSpPr>
        <p:spPr>
          <a:xfrm>
            <a:off x="548640" y="2540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73"/>
          <p:cNvSpPr txBox="1"/>
          <p:nvPr/>
        </p:nvSpPr>
        <p:spPr>
          <a:xfrm>
            <a:off x="1325880" y="2494788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끝·가운데·오른쪽 끝의 클립 수를 세요.</a:t>
            </a:r>
            <a:endParaRPr lang="ko-KR" sz="2400" dirty="0"/>
          </a:p>
        </p:txBody>
      </p:sp>
      <p:sp>
        <p:nvSpPr>
          <p:cNvPr id="11" name="S09-stepno74"/>
          <p:cNvSpPr txBox="1"/>
          <p:nvPr/>
        </p:nvSpPr>
        <p:spPr>
          <a:xfrm>
            <a:off x="548640" y="3448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75"/>
          <p:cNvSpPr txBox="1"/>
          <p:nvPr/>
        </p:nvSpPr>
        <p:spPr>
          <a:xfrm>
            <a:off x="1325880" y="3403092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자석의 N극과 N극을 천천히 마주 대요.</a:t>
            </a:r>
            <a:endParaRPr lang="ko-KR" sz="2400" dirty="0"/>
          </a:p>
        </p:txBody>
      </p:sp>
      <p:sp>
        <p:nvSpPr>
          <p:cNvPr id="13" name="S09-stepno76"/>
          <p:cNvSpPr txBox="1"/>
          <p:nvPr/>
        </p:nvSpPr>
        <p:spPr>
          <a:xfrm>
            <a:off x="548640" y="43113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9-text77"/>
          <p:cNvSpPr txBox="1"/>
          <p:nvPr/>
        </p:nvSpPr>
        <p:spPr>
          <a:xfrm>
            <a:off x="1325880" y="43113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N극과 S극, S극과 S극도 마주 대요.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0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2·3을 보며 빈칸을 말로 채워요.</a:t>
            </a:r>
            <a:endParaRPr lang="ko-KR" sz="3000" dirty="0"/>
          </a:p>
        </p:txBody>
      </p:sp>
      <p:sp>
        <p:nvSpPr>
          <p:cNvPr id="4" name="S10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클립이 많이 붙었나요? 어떤 극끼리 밀어냈나요?</a:t>
            </a:r>
            <a:endParaRPr lang="ko-KR" sz="3000" dirty="0"/>
          </a:p>
        </p:txBody>
      </p:sp>
      <p:graphicFrame>
        <p:nvGraphicFramePr>
          <p:cNvPr id="11" name="S10-table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" y="2360676"/>
          <a:ext cx="4937760" cy="914400"/>
        </p:xfrm>
        <a:graphic>
          <a:graphicData uri="http://schemas.openxmlformats.org/drawingml/2006/table">
            <a:tbl>
              <a:tblPr/>
              <a:tblGrid>
                <a:gridCol w="2221992"/>
                <a:gridCol w="271576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클립 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왼쪽 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가운데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오른쪽 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0-label82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클립이 붙은 곳</a:t>
            </a:r>
            <a:endParaRPr lang="ko-KR" sz="2400" dirty="0"/>
          </a:p>
        </p:txBody>
      </p:sp>
      <p:graphicFrame>
        <p:nvGraphicFramePr>
          <p:cNvPr id="21" name="S10-table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8524" y="2360676"/>
          <a:ext cx="4937760" cy="914400"/>
        </p:xfrm>
        <a:graphic>
          <a:graphicData uri="http://schemas.openxmlformats.org/drawingml/2006/table">
            <a:tbl>
              <a:tblPr/>
              <a:tblGrid>
                <a:gridCol w="2221992"/>
                <a:gridCol w="271576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마주 댄 극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되었나요?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N극 – N극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N극 – S극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S극 – S극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10-label84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N극과 S극</a:t>
            </a:r>
            <a:endParaRPr lang="ko-KR" sz="4000" dirty="0"/>
          </a:p>
        </p:txBody>
      </p:sp>
      <p:sp>
        <p:nvSpPr>
          <p:cNvPr id="3" name="S11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클립이 많이 붙는 양 끝을 자석의 극이라고 해요.</a:t>
            </a:r>
            <a:endParaRPr lang="ko-KR" sz="3000" dirty="0"/>
          </a:p>
        </p:txBody>
      </p:sp>
      <p:sp>
        <p:nvSpPr>
          <p:cNvPr id="4" name="S11-card86"/>
          <p:cNvSpPr/>
          <p:nvPr/>
        </p:nvSpPr>
        <p:spPr>
          <a:xfrm>
            <a:off x="548640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87"/>
          <p:cNvSpPr txBox="1"/>
          <p:nvPr/>
        </p:nvSpPr>
        <p:spPr>
          <a:xfrm>
            <a:off x="822960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극은 N극과 S극</a:t>
            </a:r>
            <a:endParaRPr lang="ko-KR" sz="3000" dirty="0"/>
          </a:p>
        </p:txBody>
      </p:sp>
      <p:sp>
        <p:nvSpPr>
          <p:cNvPr id="6" name="S11-card88"/>
          <p:cNvSpPr/>
          <p:nvPr/>
        </p:nvSpPr>
        <p:spPr>
          <a:xfrm>
            <a:off x="4322064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89"/>
          <p:cNvSpPr txBox="1"/>
          <p:nvPr/>
        </p:nvSpPr>
        <p:spPr>
          <a:xfrm>
            <a:off x="4596384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극끼리는 밀어내요.</a:t>
            </a:r>
            <a:endParaRPr lang="ko-KR" sz="3000" dirty="0"/>
          </a:p>
        </p:txBody>
      </p:sp>
      <p:sp>
        <p:nvSpPr>
          <p:cNvPr id="8" name="S11-card90"/>
          <p:cNvSpPr/>
          <p:nvPr/>
        </p:nvSpPr>
        <p:spPr>
          <a:xfrm>
            <a:off x="8095488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1-cardtext91"/>
          <p:cNvSpPr txBox="1"/>
          <p:nvPr/>
        </p:nvSpPr>
        <p:spPr>
          <a:xfrm>
            <a:off x="8369808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극끼리는 끌어당겨요.</a:t>
            </a:r>
            <a:endParaRPr lang="ko-KR" sz="3000" dirty="0"/>
          </a:p>
        </p:txBody>
      </p:sp>
      <p:sp>
        <p:nvSpPr>
          <p:cNvPr id="10" name="S11-figure92" descr="막대자석(왼쪽 N극, 오른쪽 S극)의 양 끝에 클립이 다섯 개씩 붙어 있고 가운데에는 붙어 있지 않음"/>
          <p:cNvSpPr/>
          <p:nvPr/>
        </p:nvSpPr>
        <p:spPr>
          <a:xfrm>
            <a:off x="3237303" y="3040859"/>
            <a:ext cx="659348" cy="175826"/>
          </a:xfrm>
          <a:custGeom>
            <a:avLst/>
            <a:gdLst/>
            <a:ahLst/>
            <a:cxnLst/>
            <a:rect l="l" t="t" r="r" b="b"/>
            <a:pathLst>
              <a:path w="659348" h="175826">
                <a:moveTo>
                  <a:pt x="659348" y="175826"/>
                </a:moveTo>
                <a:lnTo>
                  <a:pt x="0" y="175826"/>
                </a:lnTo>
                <a:lnTo>
                  <a:pt x="0" y="0"/>
                </a:lnTo>
                <a:lnTo>
                  <a:pt x="659348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1" name="S11-mark93"/>
          <p:cNvSpPr/>
          <p:nvPr/>
        </p:nvSpPr>
        <p:spPr>
          <a:xfrm>
            <a:off x="8292302" y="3040859"/>
            <a:ext cx="659348" cy="175826"/>
          </a:xfrm>
          <a:custGeom>
            <a:avLst/>
            <a:gdLst/>
            <a:ahLst/>
            <a:cxnLst/>
            <a:rect l="l" t="t" r="r" b="b"/>
            <a:pathLst>
              <a:path w="659348" h="175826">
                <a:moveTo>
                  <a:pt x="0" y="0"/>
                </a:moveTo>
                <a:lnTo>
                  <a:pt x="659348" y="0"/>
                </a:lnTo>
                <a:lnTo>
                  <a:pt x="659348" y="175826"/>
                </a:lnTo>
                <a:lnTo>
                  <a:pt x="0" y="175826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2" name="S11-mark94"/>
          <p:cNvSpPr/>
          <p:nvPr/>
        </p:nvSpPr>
        <p:spPr>
          <a:xfrm>
            <a:off x="3306168" y="2421805"/>
            <a:ext cx="641033" cy="522350"/>
          </a:xfrm>
          <a:custGeom>
            <a:avLst/>
            <a:gdLst/>
            <a:ahLst/>
            <a:cxnLst/>
            <a:rect l="l" t="t" r="r" b="b"/>
            <a:pathLst>
              <a:path w="641033" h="522350">
                <a:moveTo>
                  <a:pt x="539933" y="522350"/>
                </a:moveTo>
                <a:lnTo>
                  <a:pt x="0" y="144324"/>
                </a:lnTo>
                <a:lnTo>
                  <a:pt x="101100" y="0"/>
                </a:lnTo>
                <a:lnTo>
                  <a:pt x="641033" y="37875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3" name="S11-mark95"/>
          <p:cNvSpPr/>
          <p:nvPr/>
        </p:nvSpPr>
        <p:spPr>
          <a:xfrm>
            <a:off x="8241752" y="2421805"/>
            <a:ext cx="641033" cy="522350"/>
          </a:xfrm>
          <a:custGeom>
            <a:avLst/>
            <a:gdLst/>
            <a:ahLst/>
            <a:cxnLst/>
            <a:rect l="l" t="t" r="r" b="b"/>
            <a:pathLst>
              <a:path w="641033" h="522350">
                <a:moveTo>
                  <a:pt x="0" y="378759"/>
                </a:moveTo>
                <a:lnTo>
                  <a:pt x="539933" y="0"/>
                </a:lnTo>
                <a:lnTo>
                  <a:pt x="641033" y="144324"/>
                </a:lnTo>
                <a:lnTo>
                  <a:pt x="101100" y="52235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4" name="S11-mark96"/>
          <p:cNvSpPr/>
          <p:nvPr/>
        </p:nvSpPr>
        <p:spPr>
          <a:xfrm>
            <a:off x="3306168" y="3313389"/>
            <a:ext cx="641033" cy="522350"/>
          </a:xfrm>
          <a:custGeom>
            <a:avLst/>
            <a:gdLst/>
            <a:ahLst/>
            <a:cxnLst/>
            <a:rect l="l" t="t" r="r" b="b"/>
            <a:pathLst>
              <a:path w="641033" h="522350">
                <a:moveTo>
                  <a:pt x="641033" y="143591"/>
                </a:moveTo>
                <a:lnTo>
                  <a:pt x="101100" y="522350"/>
                </a:lnTo>
                <a:lnTo>
                  <a:pt x="0" y="378026"/>
                </a:lnTo>
                <a:lnTo>
                  <a:pt x="539933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5" name="S11-mark97"/>
          <p:cNvSpPr/>
          <p:nvPr/>
        </p:nvSpPr>
        <p:spPr>
          <a:xfrm>
            <a:off x="8241752" y="3313389"/>
            <a:ext cx="641033" cy="522350"/>
          </a:xfrm>
          <a:custGeom>
            <a:avLst/>
            <a:gdLst/>
            <a:ahLst/>
            <a:cxnLst/>
            <a:rect l="l" t="t" r="r" b="b"/>
            <a:pathLst>
              <a:path w="641033" h="522350">
                <a:moveTo>
                  <a:pt x="101100" y="0"/>
                </a:moveTo>
                <a:lnTo>
                  <a:pt x="641033" y="378026"/>
                </a:lnTo>
                <a:lnTo>
                  <a:pt x="539933" y="522350"/>
                </a:lnTo>
                <a:lnTo>
                  <a:pt x="0" y="143591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6" name="S11-mark98"/>
          <p:cNvSpPr/>
          <p:nvPr/>
        </p:nvSpPr>
        <p:spPr>
          <a:xfrm>
            <a:off x="3897383" y="2103120"/>
            <a:ext cx="340663" cy="682059"/>
          </a:xfrm>
          <a:custGeom>
            <a:avLst/>
            <a:gdLst/>
            <a:ahLst/>
            <a:cxnLst/>
            <a:rect l="l" t="t" r="r" b="b"/>
            <a:pathLst>
              <a:path w="340663" h="682059">
                <a:moveTo>
                  <a:pt x="170698" y="682059"/>
                </a:moveTo>
                <a:lnTo>
                  <a:pt x="0" y="45422"/>
                </a:lnTo>
                <a:lnTo>
                  <a:pt x="169965" y="0"/>
                </a:lnTo>
                <a:lnTo>
                  <a:pt x="340663" y="636637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7" name="S11-mark99"/>
          <p:cNvSpPr/>
          <p:nvPr/>
        </p:nvSpPr>
        <p:spPr>
          <a:xfrm>
            <a:off x="7950906" y="2103120"/>
            <a:ext cx="340663" cy="682059"/>
          </a:xfrm>
          <a:custGeom>
            <a:avLst/>
            <a:gdLst/>
            <a:ahLst/>
            <a:cxnLst/>
            <a:rect l="l" t="t" r="r" b="b"/>
            <a:pathLst>
              <a:path w="340663" h="682059">
                <a:moveTo>
                  <a:pt x="0" y="636637"/>
                </a:moveTo>
                <a:lnTo>
                  <a:pt x="170698" y="0"/>
                </a:lnTo>
                <a:lnTo>
                  <a:pt x="340663" y="45422"/>
                </a:lnTo>
                <a:lnTo>
                  <a:pt x="169965" y="68205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8" name="S11-mark100"/>
          <p:cNvSpPr/>
          <p:nvPr/>
        </p:nvSpPr>
        <p:spPr>
          <a:xfrm>
            <a:off x="3897383" y="3472365"/>
            <a:ext cx="340663" cy="682059"/>
          </a:xfrm>
          <a:custGeom>
            <a:avLst/>
            <a:gdLst/>
            <a:ahLst/>
            <a:cxnLst/>
            <a:rect l="l" t="t" r="r" b="b"/>
            <a:pathLst>
              <a:path w="340663" h="682059">
                <a:moveTo>
                  <a:pt x="340663" y="45422"/>
                </a:moveTo>
                <a:lnTo>
                  <a:pt x="169965" y="682059"/>
                </a:lnTo>
                <a:lnTo>
                  <a:pt x="0" y="636637"/>
                </a:lnTo>
                <a:lnTo>
                  <a:pt x="170698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9" name="S11-mark101"/>
          <p:cNvSpPr/>
          <p:nvPr/>
        </p:nvSpPr>
        <p:spPr>
          <a:xfrm>
            <a:off x="7950906" y="3472365"/>
            <a:ext cx="340663" cy="682059"/>
          </a:xfrm>
          <a:custGeom>
            <a:avLst/>
            <a:gdLst/>
            <a:ahLst/>
            <a:cxnLst/>
            <a:rect l="l" t="t" r="r" b="b"/>
            <a:pathLst>
              <a:path w="340663" h="682059">
                <a:moveTo>
                  <a:pt x="169965" y="0"/>
                </a:moveTo>
                <a:lnTo>
                  <a:pt x="340663" y="636637"/>
                </a:lnTo>
                <a:lnTo>
                  <a:pt x="170698" y="682059"/>
                </a:lnTo>
                <a:lnTo>
                  <a:pt x="0" y="45422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20" name="S11-mark102"/>
          <p:cNvSpPr/>
          <p:nvPr/>
        </p:nvSpPr>
        <p:spPr>
          <a:xfrm>
            <a:off x="3896650" y="2762468"/>
            <a:ext cx="2197826" cy="732609"/>
          </a:xfrm>
          <a:custGeom>
            <a:avLst/>
            <a:gdLst/>
            <a:ahLst/>
            <a:cxnLst/>
            <a:rect l="l" t="t" r="r" b="b"/>
            <a:pathLst>
              <a:path w="2197826" h="732609">
                <a:moveTo>
                  <a:pt x="0" y="732609"/>
                </a:moveTo>
                <a:lnTo>
                  <a:pt x="2197826" y="732609"/>
                </a:lnTo>
                <a:lnTo>
                  <a:pt x="2197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1" name="S11-mark103"/>
          <p:cNvSpPr/>
          <p:nvPr/>
        </p:nvSpPr>
        <p:spPr>
          <a:xfrm>
            <a:off x="6094476" y="2762468"/>
            <a:ext cx="2197826" cy="732609"/>
          </a:xfrm>
          <a:custGeom>
            <a:avLst/>
            <a:gdLst/>
            <a:ahLst/>
            <a:cxnLst/>
            <a:rect l="l" t="t" r="r" b="b"/>
            <a:pathLst>
              <a:path w="2197826" h="732609">
                <a:moveTo>
                  <a:pt x="0" y="732609"/>
                </a:moveTo>
                <a:lnTo>
                  <a:pt x="2197826" y="732609"/>
                </a:lnTo>
                <a:lnTo>
                  <a:pt x="2197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2" name="S11-label105"/>
          <p:cNvSpPr txBox="1"/>
          <p:nvPr/>
        </p:nvSpPr>
        <p:spPr>
          <a:xfrm>
            <a:off x="4840115" y="293827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23" name="S11-label107"/>
          <p:cNvSpPr txBox="1"/>
          <p:nvPr/>
        </p:nvSpPr>
        <p:spPr>
          <a:xfrm>
            <a:off x="7037941" y="293827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24" name="S11-label108"/>
          <p:cNvSpPr txBox="1"/>
          <p:nvPr/>
        </p:nvSpPr>
        <p:spPr>
          <a:xfrm>
            <a:off x="548640" y="4319016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 끝(극)에 붙은 클립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4000" dirty="0"/>
          </a:p>
        </p:txBody>
      </p:sp>
      <p:sp>
        <p:nvSpPr>
          <p:cNvPr id="3" name="S12-text10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극을 찾아 끌어당길지 밀어낼지 말해요.</a:t>
            </a:r>
            <a:endParaRPr lang="ko-KR" sz="3000" dirty="0"/>
          </a:p>
        </p:txBody>
      </p:sp>
      <p:sp>
        <p:nvSpPr>
          <p:cNvPr id="4" name="S12-chip11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figure111" descr="왼쪽 자석 N극·S극, 오른쪽 자석 N극·S극: 마주 보는 극은 S극과 N극"/>
          <p:cNvSpPr/>
          <p:nvPr/>
        </p:nvSpPr>
        <p:spPr>
          <a:xfrm>
            <a:off x="3611880" y="233172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12-mark112"/>
          <p:cNvSpPr/>
          <p:nvPr/>
        </p:nvSpPr>
        <p:spPr>
          <a:xfrm>
            <a:off x="4892040" y="233172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2-mark113"/>
          <p:cNvSpPr/>
          <p:nvPr/>
        </p:nvSpPr>
        <p:spPr>
          <a:xfrm>
            <a:off x="6812280" y="233172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2-mark114"/>
          <p:cNvSpPr/>
          <p:nvPr/>
        </p:nvSpPr>
        <p:spPr>
          <a:xfrm>
            <a:off x="8092440" y="233172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12-label116"/>
          <p:cNvSpPr txBox="1"/>
          <p:nvPr/>
        </p:nvSpPr>
        <p:spPr>
          <a:xfrm>
            <a:off x="4096512" y="246126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10" name="S12-label118"/>
          <p:cNvSpPr txBox="1"/>
          <p:nvPr/>
        </p:nvSpPr>
        <p:spPr>
          <a:xfrm>
            <a:off x="5376672" y="246126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11" name="S12-label120"/>
          <p:cNvSpPr txBox="1"/>
          <p:nvPr/>
        </p:nvSpPr>
        <p:spPr>
          <a:xfrm>
            <a:off x="7296912" y="246126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12" name="S12-label122"/>
          <p:cNvSpPr txBox="1"/>
          <p:nvPr/>
        </p:nvSpPr>
        <p:spPr>
          <a:xfrm>
            <a:off x="8577072" y="246126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13" name="S12-chip12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4" name="S12-figure124" descr="왼쪽 자석 N극·S극, 오른쪽 자석 S극·N극: 마주 보는 극은 S극과 S극"/>
          <p:cNvSpPr/>
          <p:nvPr/>
        </p:nvSpPr>
        <p:spPr>
          <a:xfrm>
            <a:off x="3611880" y="379476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5" name="S12-mark125"/>
          <p:cNvSpPr/>
          <p:nvPr/>
        </p:nvSpPr>
        <p:spPr>
          <a:xfrm>
            <a:off x="4892040" y="379476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6" name="S12-mark126"/>
          <p:cNvSpPr/>
          <p:nvPr/>
        </p:nvSpPr>
        <p:spPr>
          <a:xfrm>
            <a:off x="6812280" y="379476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7" name="S12-mark127"/>
          <p:cNvSpPr/>
          <p:nvPr/>
        </p:nvSpPr>
        <p:spPr>
          <a:xfrm>
            <a:off x="8092440" y="379476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8" name="S12-label129"/>
          <p:cNvSpPr txBox="1"/>
          <p:nvPr/>
        </p:nvSpPr>
        <p:spPr>
          <a:xfrm>
            <a:off x="4096512" y="392430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19" name="S12-label131"/>
          <p:cNvSpPr txBox="1"/>
          <p:nvPr/>
        </p:nvSpPr>
        <p:spPr>
          <a:xfrm>
            <a:off x="5376672" y="392430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20" name="S12-label133"/>
          <p:cNvSpPr txBox="1"/>
          <p:nvPr/>
        </p:nvSpPr>
        <p:spPr>
          <a:xfrm>
            <a:off x="7296912" y="392430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21" name="S12-label135"/>
          <p:cNvSpPr txBox="1"/>
          <p:nvPr/>
        </p:nvSpPr>
        <p:spPr>
          <a:xfrm>
            <a:off x="8577072" y="392430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22" name="S12-chip13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3" name="S12-figure137" descr="왼쪽 자석 S극·N극, 오른쪽 자석 N극·S극: 마주 보는 극은 N극과 N극"/>
          <p:cNvSpPr/>
          <p:nvPr/>
        </p:nvSpPr>
        <p:spPr>
          <a:xfrm>
            <a:off x="3611880" y="525780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4" name="S12-mark138"/>
          <p:cNvSpPr/>
          <p:nvPr/>
        </p:nvSpPr>
        <p:spPr>
          <a:xfrm>
            <a:off x="4892040" y="525780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12-mark139"/>
          <p:cNvSpPr/>
          <p:nvPr/>
        </p:nvSpPr>
        <p:spPr>
          <a:xfrm>
            <a:off x="6812280" y="525780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6" name="S12-mark140"/>
          <p:cNvSpPr/>
          <p:nvPr/>
        </p:nvSpPr>
        <p:spPr>
          <a:xfrm>
            <a:off x="8092440" y="525780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7" name="S12-label142"/>
          <p:cNvSpPr txBox="1"/>
          <p:nvPr/>
        </p:nvSpPr>
        <p:spPr>
          <a:xfrm>
            <a:off x="4096512" y="53873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28" name="S12-label144"/>
          <p:cNvSpPr txBox="1"/>
          <p:nvPr/>
        </p:nvSpPr>
        <p:spPr>
          <a:xfrm>
            <a:off x="5376672" y="53873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29" name="S12-label146"/>
          <p:cNvSpPr txBox="1"/>
          <p:nvPr/>
        </p:nvSpPr>
        <p:spPr>
          <a:xfrm>
            <a:off x="7296912" y="53873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30" name="S12-label148"/>
          <p:cNvSpPr txBox="1"/>
          <p:nvPr/>
        </p:nvSpPr>
        <p:spPr>
          <a:xfrm>
            <a:off x="8577072" y="53873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chip14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3-text15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붙는 것을 모두 골라요.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 못, 알루미늄 포일, 유리구슬, 철사</a:t>
            </a:r>
            <a:endParaRPr lang="ko-KR" sz="3000" dirty="0"/>
          </a:p>
        </p:txBody>
      </p:sp>
      <p:sp>
        <p:nvSpPr>
          <p:cNvPr id="5" name="S13-chip15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3-text15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자석이 서로 밀어냈어요.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댄 극은 어떤 극끼리일까요?</a:t>
            </a:r>
            <a:endParaRPr lang="ko-KR" sz="3000" dirty="0"/>
          </a:p>
        </p:txBody>
      </p:sp>
      <p:sp>
        <p:nvSpPr>
          <p:cNvPr id="7" name="S13-chip15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3-text15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막대자석에서 클립이 가장 많이 붙는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곳은 어디이고, 무엇이라고 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4-card1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붙는 물체는 철, 밀어내는 것은 같은 극끼리예요.</a:t>
            </a:r>
            <a:endParaRPr lang="ko-KR" sz="3000" dirty="0"/>
          </a:p>
        </p:txBody>
      </p:sp>
      <p:sp>
        <p:nvSpPr>
          <p:cNvPr id="5" name="S14-chip15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4-text158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철 못, 철사</a:t>
            </a:r>
            <a:endParaRPr lang="ko-KR" sz="3000" dirty="0"/>
          </a:p>
        </p:txBody>
      </p:sp>
      <p:sp>
        <p:nvSpPr>
          <p:cNvPr id="7" name="S14-text159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철로 만든 물체</a:t>
            </a:r>
            <a:endParaRPr lang="ko-KR" sz="2400" dirty="0"/>
          </a:p>
        </p:txBody>
      </p:sp>
      <p:sp>
        <p:nvSpPr>
          <p:cNvPr id="8" name="S14-text160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같은 극끼리</a:t>
            </a:r>
            <a:endParaRPr lang="ko-KR" sz="3000" dirty="0"/>
          </a:p>
        </p:txBody>
      </p:sp>
      <p:sp>
        <p:nvSpPr>
          <p:cNvPr id="9" name="S14-text161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N–N 또는 S–S</a:t>
            </a:r>
            <a:endParaRPr lang="ko-KR" sz="2400" dirty="0"/>
          </a:p>
        </p:txBody>
      </p:sp>
      <p:sp>
        <p:nvSpPr>
          <p:cNvPr id="10" name="S14-text162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양 끝, 극</a:t>
            </a:r>
            <a:endParaRPr lang="ko-KR" sz="3000" dirty="0"/>
          </a:p>
        </p:txBody>
      </p:sp>
      <p:sp>
        <p:nvSpPr>
          <p:cNvPr id="11" name="S14-text163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힘이 가장 셈</a:t>
            </a:r>
            <a:endParaRPr lang="ko-KR" sz="2400" dirty="0"/>
          </a:p>
        </p:txBody>
      </p:sp>
      <p:sp>
        <p:nvSpPr>
          <p:cNvPr id="12" name="S14-chip16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4-text16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알루미늄 포일</a:t>
            </a:r>
            <a:endParaRPr lang="ko-KR" sz="3000" dirty="0"/>
          </a:p>
        </p:txBody>
      </p:sp>
      <p:sp>
        <p:nvSpPr>
          <p:cNvPr id="14" name="S14-text16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금속이지만 안 붙음(M1)</a:t>
            </a:r>
            <a:endParaRPr lang="ko-KR" sz="2400" dirty="0"/>
          </a:p>
        </p:txBody>
      </p:sp>
      <p:sp>
        <p:nvSpPr>
          <p:cNvPr id="15" name="S14-text16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가운데</a:t>
            </a:r>
            <a:endParaRPr lang="ko-KR" sz="3000" dirty="0"/>
          </a:p>
        </p:txBody>
      </p:sp>
      <p:sp>
        <p:nvSpPr>
          <p:cNvPr id="16" name="S14-text16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가운데는 거의 안 붙음(M2)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끝은 어떤 극일까요?</a:t>
            </a:r>
            <a:endParaRPr lang="ko-KR" sz="4000" dirty="0"/>
          </a:p>
        </p:txBody>
      </p:sp>
      <p:sp>
        <p:nvSpPr>
          <p:cNvPr id="3" name="S15-text169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글자가 지워진 자석의 한쪽 끝에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N극을 가까이 했더니 끌려왔어요.</a:t>
            </a:r>
            <a:endParaRPr lang="ko-KR" sz="3000" dirty="0"/>
          </a:p>
        </p:txBody>
      </p:sp>
      <p:sp>
        <p:nvSpPr>
          <p:cNvPr id="4" name="S15-card1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1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3000" dirty="0"/>
          </a:p>
        </p:txBody>
      </p:sp>
      <p:sp>
        <p:nvSpPr>
          <p:cNvPr id="6" name="S15-chip172"/>
          <p:cNvSpPr txBox="1"/>
          <p:nvPr/>
        </p:nvSpPr>
        <p:spPr>
          <a:xfrm>
            <a:off x="2946654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5-card173"/>
          <p:cNvSpPr/>
          <p:nvPr/>
        </p:nvSpPr>
        <p:spPr>
          <a:xfrm>
            <a:off x="548640" y="3142488"/>
            <a:ext cx="5362956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5-cardtext174"/>
          <p:cNvSpPr txBox="1"/>
          <p:nvPr/>
        </p:nvSpPr>
        <p:spPr>
          <a:xfrm>
            <a:off x="822960" y="3279648"/>
            <a:ext cx="4814316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N극</a:t>
            </a:r>
            <a:endParaRPr lang="ko-KR" sz="3000" dirty="0"/>
          </a:p>
        </p:txBody>
      </p:sp>
      <p:sp>
        <p:nvSpPr>
          <p:cNvPr id="9" name="S15-chip175"/>
          <p:cNvSpPr txBox="1"/>
          <p:nvPr/>
        </p:nvSpPr>
        <p:spPr>
          <a:xfrm>
            <a:off x="8675370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5-card176"/>
          <p:cNvSpPr/>
          <p:nvPr/>
        </p:nvSpPr>
        <p:spPr>
          <a:xfrm>
            <a:off x="6277356" y="3142488"/>
            <a:ext cx="5362956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77"/>
          <p:cNvSpPr txBox="1"/>
          <p:nvPr/>
        </p:nvSpPr>
        <p:spPr>
          <a:xfrm>
            <a:off x="6551676" y="3279648"/>
            <a:ext cx="4814316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S극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7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7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자석은 철로 만든 물체를 끌어당겨요.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극끼리는 밀어내고, 다른 극끼리는 끌어당겨요.</a:t>
            </a:r>
            <a:endParaRPr lang="ko-KR" sz="3000" dirty="0"/>
          </a:p>
        </p:txBody>
      </p:sp>
      <p:sp>
        <p:nvSpPr>
          <p:cNvPr id="5" name="S16-chip18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대어 본 결과로 판단하기</a:t>
            </a:r>
            <a:endParaRPr lang="ko-KR" sz="2400" dirty="0"/>
          </a:p>
        </p:txBody>
      </p:sp>
      <p:sp>
        <p:nvSpPr>
          <p:cNvPr id="6" name="S16-chip18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금속은 다 붙는다고 생각하기</a:t>
            </a:r>
            <a:endParaRPr lang="ko-KR" sz="2400" dirty="0"/>
          </a:p>
        </p:txBody>
      </p:sp>
      <p:sp>
        <p:nvSpPr>
          <p:cNvPr id="7" name="S16-text18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8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자석에 붙는 물체는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만들었나요?</a:t>
            </a:r>
            <a:endParaRPr lang="ko-KR" sz="2400" dirty="0"/>
          </a:p>
        </p:txBody>
      </p:sp>
      <p:sp>
        <p:nvSpPr>
          <p:cNvPr id="9" name="S16-text18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자석에서 힘이 가장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 곳은?</a:t>
            </a:r>
            <a:endParaRPr lang="ko-KR" sz="2400" dirty="0"/>
          </a:p>
        </p:txBody>
      </p:sp>
      <p:sp>
        <p:nvSpPr>
          <p:cNvPr id="10" name="S16-text18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N극과 S극을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대면?</a:t>
            </a:r>
            <a:endParaRPr lang="ko-KR" sz="2400" dirty="0"/>
          </a:p>
        </p:txBody>
      </p:sp>
      <p:sp>
        <p:nvSpPr>
          <p:cNvPr id="11" name="S16-text18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물의 상태 변화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무엇으로 만들었나요?</a:t>
            </a:r>
            <a:endParaRPr lang="ko-KR" sz="4000" dirty="0"/>
          </a:p>
        </p:txBody>
      </p:sp>
      <p:sp>
        <p:nvSpPr>
          <p:cNvPr id="3" name="S17-text1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물체를 만든 재료가 물질이에요.</a:t>
            </a:r>
            <a:endParaRPr lang="ko-KR" sz="3000" dirty="0"/>
          </a:p>
        </p:txBody>
      </p:sp>
      <p:sp>
        <p:nvSpPr>
          <p:cNvPr id="4" name="S17-card1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7-cardtext1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철과 알루미늄은 둘 다 금속이에요.</a:t>
            </a:r>
            <a:endParaRPr lang="ko-KR" sz="3000" dirty="0"/>
          </a:p>
        </p:txBody>
      </p:sp>
      <p:graphicFrame>
        <p:nvGraphicFramePr>
          <p:cNvPr id="18" name="S17-table1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284730"/>
          <a:ext cx="7315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철(금속)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음료수 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알루미늄(금속)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젓가락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자석의 성질</dc:title>
  <dc:subject>KR22-G04-SCI-MAGNET-L01</dc:subject>
  <dc:creator>education-ppt</dc:creator>
  <cp:lastModifiedBy>education-ppt</cp:lastModifiedBy>
  <cp:revision>1</cp:revision>
  <dcterms:created xsi:type="dcterms:W3CDTF">2026-10-26T09:46:42Z</dcterms:created>
  <dcterms:modified xsi:type="dcterms:W3CDTF">2026-10-26T09:46:42Z</dcterms:modified>
</cp:coreProperties>
</file>