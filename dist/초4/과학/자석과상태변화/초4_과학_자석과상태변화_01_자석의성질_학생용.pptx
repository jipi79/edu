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88b34c-e526-3fe8-0b4e-3399748192c9}">
          <p14:sldIdLst>
            <p14:sldId id="256"/>
            <p14:sldId id="257"/>
          </p14:sldIdLst>
        </p14:section>
        <p14:section name="연습" id="{a69cc5ca-6781-db65-3acf-316d46821d70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7"/>
          </p14:sldIdLst>
        </p14:section>
        <p14:section name="개념" id="{f4dbed5e-557f-3286-14f0-2f6114c1f94a}">
          <p14:sldIdLst>
            <p14:sldId id="261"/>
            <p14:sldId id="266"/>
          </p14:sldIdLst>
        </p14:section>
        <p14:section name="연습" id="{c31b825b-8b95-1ab3-312a-d50478893644}">
          <p14:sldIdLst/>
        </p14:section>
        <p14:section name="개념" id="{1221771f-ee64-f4da-6c96-ac33e8973df0}">
          <p14:sldIdLst/>
        </p14:section>
        <p14:section name="연습" id="{70a10f81-4fc8-ea0d-6050-c9191c2e5ea7}">
          <p14:sldIdLst/>
        </p14:section>
        <p14:section name="확인" id="{112f8282-e925-3e86-3cde-6828cc652bf2}">
          <p14:sldIdLst>
            <p14:sldId id="268"/>
            <p14:sldId id="269"/>
          </p14:sldIdLst>
        </p14:section>
        <p14:section name="정리" id="{f098dfc3-0ac4-2b74-d3b6-43eaaae72a66}">
          <p14:sldIdLst>
            <p14:sldId id="270"/>
          </p14:sldIdLst>
        </p14:section>
        <p14:section name="보충" id="{16d1778d-0af8-68b5-20e0-805e02519ad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자석과상태변화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자석의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무엇을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끌어당길까?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막대자석: 왼쪽 N극(빨간색), 오른쪽 S극(파란색)"/>
          <p:cNvSpPr/>
          <p:nvPr/>
        </p:nvSpPr>
        <p:spPr>
          <a:xfrm>
            <a:off x="7818120" y="164592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914400"/>
                </a:moveTo>
                <a:lnTo>
                  <a:pt x="1828800" y="9144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646920" y="164592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914400"/>
                </a:moveTo>
                <a:lnTo>
                  <a:pt x="1828800" y="9144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8577072" y="191262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8" name="S01-label7"/>
          <p:cNvSpPr txBox="1"/>
          <p:nvPr/>
        </p:nvSpPr>
        <p:spPr>
          <a:xfrm>
            <a:off x="10405872" y="191262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9" name="S01-card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자석에 붙는 물체를 시험하고 공통점을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N극과 S극이 서로 어떻게 하는지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클립은 물체예요.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만들었을까요?</a:t>
            </a:r>
            <a:endParaRPr lang="ko-KR" sz="30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금속으로 만든 물체를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붙을까요, 붙지 않을까요?</a:t>
            </a:r>
            <a:endParaRPr lang="ko-KR" sz="30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1의 ‘예상’ 칸에 ○, ×로 써요.</a:t>
            </a:r>
            <a:endParaRPr lang="ko-KR" sz="3000" dirty="0"/>
          </a:p>
        </p:txBody>
      </p:sp>
      <p:sp>
        <p:nvSpPr>
          <p:cNvPr id="6" name="S03-chip1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3-text1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클립</a:t>
            </a:r>
            <a:endParaRPr lang="ko-KR" sz="3000" dirty="0"/>
          </a:p>
        </p:txBody>
      </p:sp>
      <p:sp>
        <p:nvSpPr>
          <p:cNvPr id="8" name="S03-chip19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3-text20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캔</a:t>
            </a:r>
            <a:endParaRPr lang="ko-KR" sz="3000" dirty="0"/>
          </a:p>
        </p:txBody>
      </p:sp>
      <p:sp>
        <p:nvSpPr>
          <p:cNvPr id="10" name="S03-chip2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3-text2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철사 옷걸이</a:t>
            </a:r>
            <a:endParaRPr lang="ko-KR" sz="3000" dirty="0"/>
          </a:p>
        </p:txBody>
      </p:sp>
      <p:sp>
        <p:nvSpPr>
          <p:cNvPr id="12" name="S03-chip23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3-text24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자</a:t>
            </a:r>
            <a:endParaRPr lang="ko-KR" sz="3000" dirty="0"/>
          </a:p>
        </p:txBody>
      </p:sp>
      <p:sp>
        <p:nvSpPr>
          <p:cNvPr id="14" name="S03-chip2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3-text2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</a:t>
            </a:r>
            <a:endParaRPr lang="ko-KR" sz="3000" dirty="0"/>
          </a:p>
        </p:txBody>
      </p:sp>
      <p:sp>
        <p:nvSpPr>
          <p:cNvPr id="16" name="S03-chip27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3-text28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대어 봐요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자석은 휴대 전화·카드에서 멀리 둬요. 작은 자석은 동생 손이 닿지 않게 치워요.</a:t>
            </a:r>
            <a:endParaRPr lang="ko-KR" sz="3000" dirty="0"/>
          </a:p>
        </p:txBody>
      </p:sp>
      <p:sp>
        <p:nvSpPr>
          <p:cNvPr id="5" name="S04-card31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모든 물체를 같은 자석으로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붙은 물체의 공통점을 찾아요</a:t>
            </a:r>
            <a:endParaRPr lang="ko-KR" sz="3000" dirty="0"/>
          </a:p>
        </p:txBody>
      </p:sp>
      <p:sp>
        <p:nvSpPr>
          <p:cNvPr id="7" name="S04-stepno33"/>
          <p:cNvSpPr txBox="1"/>
          <p:nvPr/>
        </p:nvSpPr>
        <p:spPr>
          <a:xfrm>
            <a:off x="548640" y="15148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34"/>
          <p:cNvSpPr txBox="1"/>
          <p:nvPr/>
        </p:nvSpPr>
        <p:spPr>
          <a:xfrm>
            <a:off x="1325880" y="146913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하나씩 자석에 가까이 대어 봐요.</a:t>
            </a:r>
            <a:endParaRPr lang="ko-KR" sz="3000" dirty="0"/>
          </a:p>
        </p:txBody>
      </p:sp>
      <p:sp>
        <p:nvSpPr>
          <p:cNvPr id="9" name="S04-stepno35"/>
          <p:cNvSpPr txBox="1"/>
          <p:nvPr/>
        </p:nvSpPr>
        <p:spPr>
          <a:xfrm>
            <a:off x="548640" y="2609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36"/>
          <p:cNvSpPr txBox="1"/>
          <p:nvPr/>
        </p:nvSpPr>
        <p:spPr>
          <a:xfrm>
            <a:off x="1325880" y="256336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붙으면 ○, 붙지 않으면 ×를 결과 칸에 써요.</a:t>
            </a:r>
            <a:endParaRPr lang="ko-KR" sz="3000" dirty="0"/>
          </a:p>
        </p:txBody>
      </p:sp>
      <p:sp>
        <p:nvSpPr>
          <p:cNvPr id="11" name="S04-stepno37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38"/>
          <p:cNvSpPr txBox="1"/>
          <p:nvPr/>
        </p:nvSpPr>
        <p:spPr>
          <a:xfrm>
            <a:off x="1325880" y="365760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붙은 것끼리, 붙지 않은 것끼리 모아요.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붙은 물체는 무엇으로 만들었을까요?</a:t>
            </a:r>
            <a:endParaRPr lang="ko-KR" sz="3000" dirty="0"/>
          </a:p>
        </p:txBody>
      </p:sp>
      <p:graphicFrame>
        <p:nvGraphicFramePr>
          <p:cNvPr id="6" name="S05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97532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2011680"/>
                <a:gridCol w="2011680"/>
              </a:tblGrid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 캔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철사 옷걸이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자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608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지우개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고무·플라스틱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물체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결과, 철로 만든 물체가 자석에 붙었어요.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철로 만든 물체를 끌어당겨요.</a:t>
            </a:r>
            <a:endParaRPr lang="ko-KR" sz="3000" dirty="0"/>
          </a:p>
        </p:txBody>
      </p:sp>
      <p:sp>
        <p:nvSpPr>
          <p:cNvPr id="6" name="S06-card4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철로 만든 물체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클립, 철사 옷걸이</a:t>
            </a:r>
            <a:endParaRPr lang="ko-KR" sz="3000" dirty="0"/>
          </a:p>
        </p:txBody>
      </p:sp>
      <p:sp>
        <p:nvSpPr>
          <p:cNvPr id="8" name="S06-card4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플라스틱, 나무, 고무,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알루미늄으로 만든 물체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캔도 반짝이는 금속이에요.</a:t>
            </a:r>
            <a:endParaRPr lang="ko-KR" sz="3000" dirty="0"/>
          </a:p>
        </p:txBody>
      </p:sp>
      <p:sp>
        <p:nvSpPr>
          <p:cNvPr id="5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금속이니까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붙어요.</a:t>
            </a:r>
            <a:endParaRPr lang="ko-KR" sz="3000" dirty="0"/>
          </a:p>
        </p:txBody>
      </p:sp>
      <p:sp>
        <p:nvSpPr>
          <p:cNvPr id="9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대어 보니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붙지 않았어요.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2·3의 ‘예상’ 칸에 써요.</a:t>
            </a:r>
            <a:endParaRPr lang="ko-KR" sz="3000" dirty="0"/>
          </a:p>
        </p:txBody>
      </p:sp>
      <p:sp>
        <p:nvSpPr>
          <p:cNvPr id="5" name="S08-chip6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8-text61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막대자석을 클립 더미에 넣었다 꺼내면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클립은 어디에 많이 붙을까요?</a:t>
            </a:r>
            <a:endParaRPr lang="ko-KR" sz="3000" dirty="0"/>
          </a:p>
        </p:txBody>
      </p:sp>
      <p:sp>
        <p:nvSpPr>
          <p:cNvPr id="7" name="S08-chip6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8-text63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자석의 N극과 N극을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9" name="S08-chip6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8-text65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S극을 마주 대면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클립과 두 자석으로 시험해요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 사이에 손가락이 끼지 않게 천천히 가까이 해요.</a:t>
            </a:r>
            <a:endParaRPr lang="ko-KR" sz="3000" dirty="0"/>
          </a:p>
        </p:txBody>
      </p:sp>
      <p:sp>
        <p:nvSpPr>
          <p:cNvPr id="5" name="S09-card6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6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클립 수 뒤에 ‘개’를 붙여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손에 느껴진 힘을 말해요</a:t>
            </a:r>
            <a:endParaRPr lang="ko-KR" sz="3000" dirty="0"/>
          </a:p>
        </p:txBody>
      </p:sp>
      <p:sp>
        <p:nvSpPr>
          <p:cNvPr id="7" name="S09-stepno70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71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막대자석을 클립 더미에 넣었다 꺼내요.</a:t>
            </a:r>
            <a:endParaRPr lang="ko-KR" sz="2400" dirty="0"/>
          </a:p>
        </p:txBody>
      </p:sp>
      <p:sp>
        <p:nvSpPr>
          <p:cNvPr id="9" name="S09-stepno72"/>
          <p:cNvSpPr txBox="1"/>
          <p:nvPr/>
        </p:nvSpPr>
        <p:spPr>
          <a:xfrm>
            <a:off x="548640" y="2540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73"/>
          <p:cNvSpPr txBox="1"/>
          <p:nvPr/>
        </p:nvSpPr>
        <p:spPr>
          <a:xfrm>
            <a:off x="1325880" y="2494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끝·가운데·오른쪽 끝의 클립 수를 세요.</a:t>
            </a:r>
            <a:endParaRPr lang="ko-KR" sz="2400" dirty="0"/>
          </a:p>
        </p:txBody>
      </p:sp>
      <p:sp>
        <p:nvSpPr>
          <p:cNvPr id="11" name="S09-stepno74"/>
          <p:cNvSpPr txBox="1"/>
          <p:nvPr/>
        </p:nvSpPr>
        <p:spPr>
          <a:xfrm>
            <a:off x="548640" y="3448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75"/>
          <p:cNvSpPr txBox="1"/>
          <p:nvPr/>
        </p:nvSpPr>
        <p:spPr>
          <a:xfrm>
            <a:off x="1325880" y="340309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자석의 N극과 N극을 천천히 마주 대요.</a:t>
            </a:r>
            <a:endParaRPr lang="ko-KR" sz="2400" dirty="0"/>
          </a:p>
        </p:txBody>
      </p:sp>
      <p:sp>
        <p:nvSpPr>
          <p:cNvPr id="13" name="S09-stepno76"/>
          <p:cNvSpPr txBox="1"/>
          <p:nvPr/>
        </p:nvSpPr>
        <p:spPr>
          <a:xfrm>
            <a:off x="548640" y="4311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77"/>
          <p:cNvSpPr txBox="1"/>
          <p:nvPr/>
        </p:nvSpPr>
        <p:spPr>
          <a:xfrm>
            <a:off x="1325880" y="43113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S극, S극과 S극도 마주 대요.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2·3을 보며 빈칸을 말로 채워요.</a:t>
            </a:r>
            <a:endParaRPr lang="ko-KR" sz="3000" dirty="0"/>
          </a:p>
        </p:txBody>
      </p:sp>
      <p:sp>
        <p:nvSpPr>
          <p:cNvPr id="4" name="S10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클립이 많이 붙었나요? 어떤 극끼리 밀어냈나요?</a:t>
            </a:r>
            <a:endParaRPr lang="ko-KR" sz="3000" dirty="0"/>
          </a:p>
        </p:txBody>
      </p:sp>
      <p:graphicFrame>
        <p:nvGraphicFramePr>
          <p:cNvPr id="11" name="S10-table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" y="2360676"/>
          <a:ext cx="4937760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27157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클립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왼쪽 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 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label82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클립이 붙은 곳</a:t>
            </a:r>
            <a:endParaRPr lang="ko-KR" sz="2400" dirty="0"/>
          </a:p>
        </p:txBody>
      </p:sp>
      <p:graphicFrame>
        <p:nvGraphicFramePr>
          <p:cNvPr id="21" name="S10-table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60676"/>
          <a:ext cx="4937760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271576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마주 댄 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되었나요?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N극 – N극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N극 – S극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S극 – S극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0-label84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N극과 S극</a:t>
            </a:r>
            <a:endParaRPr lang="ko-KR" sz="4000" dirty="0"/>
          </a:p>
        </p:txBody>
      </p:sp>
      <p:sp>
        <p:nvSpPr>
          <p:cNvPr id="3" name="S11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클립이 많이 붙는 양 끝을 자석의 극이라고 해요.</a:t>
            </a:r>
            <a:endParaRPr lang="ko-KR" sz="3000" dirty="0"/>
          </a:p>
        </p:txBody>
      </p:sp>
      <p:sp>
        <p:nvSpPr>
          <p:cNvPr id="4" name="S11-card86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7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극은 N극과 S극</a:t>
            </a:r>
            <a:endParaRPr lang="ko-KR" sz="3000" dirty="0"/>
          </a:p>
        </p:txBody>
      </p:sp>
      <p:sp>
        <p:nvSpPr>
          <p:cNvPr id="6" name="S11-card88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89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극끼리는 밀어내요.</a:t>
            </a:r>
            <a:endParaRPr lang="ko-KR" sz="3000" dirty="0"/>
          </a:p>
        </p:txBody>
      </p:sp>
      <p:sp>
        <p:nvSpPr>
          <p:cNvPr id="8" name="S11-card90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91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극끼리는 끌어당겨요.</a:t>
            </a:r>
            <a:endParaRPr lang="ko-KR" sz="3000" dirty="0"/>
          </a:p>
        </p:txBody>
      </p:sp>
      <p:sp>
        <p:nvSpPr>
          <p:cNvPr id="10" name="S11-figure92" descr="막대자석(왼쪽 N극, 오른쪽 S극)의 양 끝에 클립이 다섯 개씩 붙어 있고 가운데에는 붙어 있지 않음"/>
          <p:cNvSpPr/>
          <p:nvPr/>
        </p:nvSpPr>
        <p:spPr>
          <a:xfrm>
            <a:off x="3237303" y="3040859"/>
            <a:ext cx="659348" cy="175826"/>
          </a:xfrm>
          <a:custGeom>
            <a:avLst/>
            <a:gdLst/>
            <a:ahLst/>
            <a:cxnLst/>
            <a:rect l="l" t="t" r="r" b="b"/>
            <a:pathLst>
              <a:path w="659348" h="175826">
                <a:moveTo>
                  <a:pt x="659348" y="175826"/>
                </a:moveTo>
                <a:lnTo>
                  <a:pt x="0" y="175826"/>
                </a:lnTo>
                <a:lnTo>
                  <a:pt x="0" y="0"/>
                </a:lnTo>
                <a:lnTo>
                  <a:pt x="65934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1" name="S11-mark93"/>
          <p:cNvSpPr/>
          <p:nvPr/>
        </p:nvSpPr>
        <p:spPr>
          <a:xfrm>
            <a:off x="8292302" y="3040859"/>
            <a:ext cx="659348" cy="175826"/>
          </a:xfrm>
          <a:custGeom>
            <a:avLst/>
            <a:gdLst/>
            <a:ahLst/>
            <a:cxnLst/>
            <a:rect l="l" t="t" r="r" b="b"/>
            <a:pathLst>
              <a:path w="659348" h="175826">
                <a:moveTo>
                  <a:pt x="0" y="0"/>
                </a:moveTo>
                <a:lnTo>
                  <a:pt x="659348" y="0"/>
                </a:lnTo>
                <a:lnTo>
                  <a:pt x="659348" y="175826"/>
                </a:lnTo>
                <a:lnTo>
                  <a:pt x="0" y="17582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2" name="S11-mark94"/>
          <p:cNvSpPr/>
          <p:nvPr/>
        </p:nvSpPr>
        <p:spPr>
          <a:xfrm>
            <a:off x="3306168" y="2421805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539933" y="522350"/>
                </a:moveTo>
                <a:lnTo>
                  <a:pt x="0" y="144324"/>
                </a:lnTo>
                <a:lnTo>
                  <a:pt x="101100" y="0"/>
                </a:lnTo>
                <a:lnTo>
                  <a:pt x="641033" y="37875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3" name="S11-mark95"/>
          <p:cNvSpPr/>
          <p:nvPr/>
        </p:nvSpPr>
        <p:spPr>
          <a:xfrm>
            <a:off x="8241752" y="2421805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0" y="378759"/>
                </a:moveTo>
                <a:lnTo>
                  <a:pt x="539933" y="0"/>
                </a:lnTo>
                <a:lnTo>
                  <a:pt x="641033" y="144324"/>
                </a:lnTo>
                <a:lnTo>
                  <a:pt x="101100" y="522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4" name="S11-mark96"/>
          <p:cNvSpPr/>
          <p:nvPr/>
        </p:nvSpPr>
        <p:spPr>
          <a:xfrm>
            <a:off x="3306168" y="3313389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641033" y="143591"/>
                </a:moveTo>
                <a:lnTo>
                  <a:pt x="101100" y="522350"/>
                </a:lnTo>
                <a:lnTo>
                  <a:pt x="0" y="378026"/>
                </a:lnTo>
                <a:lnTo>
                  <a:pt x="539933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5" name="S11-mark97"/>
          <p:cNvSpPr/>
          <p:nvPr/>
        </p:nvSpPr>
        <p:spPr>
          <a:xfrm>
            <a:off x="8241752" y="3313389"/>
            <a:ext cx="641033" cy="522350"/>
          </a:xfrm>
          <a:custGeom>
            <a:avLst/>
            <a:gdLst/>
            <a:ahLst/>
            <a:cxnLst/>
            <a:rect l="l" t="t" r="r" b="b"/>
            <a:pathLst>
              <a:path w="641033" h="522350">
                <a:moveTo>
                  <a:pt x="101100" y="0"/>
                </a:moveTo>
                <a:lnTo>
                  <a:pt x="641033" y="378026"/>
                </a:lnTo>
                <a:lnTo>
                  <a:pt x="539933" y="522350"/>
                </a:lnTo>
                <a:lnTo>
                  <a:pt x="0" y="14359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6" name="S11-mark98"/>
          <p:cNvSpPr/>
          <p:nvPr/>
        </p:nvSpPr>
        <p:spPr>
          <a:xfrm>
            <a:off x="3897383" y="2103120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170698" y="682059"/>
                </a:moveTo>
                <a:lnTo>
                  <a:pt x="0" y="45422"/>
                </a:lnTo>
                <a:lnTo>
                  <a:pt x="169965" y="0"/>
                </a:lnTo>
                <a:lnTo>
                  <a:pt x="340663" y="63663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7" name="S11-mark99"/>
          <p:cNvSpPr/>
          <p:nvPr/>
        </p:nvSpPr>
        <p:spPr>
          <a:xfrm>
            <a:off x="7950906" y="2103120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0" y="636637"/>
                </a:moveTo>
                <a:lnTo>
                  <a:pt x="170698" y="0"/>
                </a:lnTo>
                <a:lnTo>
                  <a:pt x="340663" y="45422"/>
                </a:lnTo>
                <a:lnTo>
                  <a:pt x="169965" y="68205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8" name="S11-mark100"/>
          <p:cNvSpPr/>
          <p:nvPr/>
        </p:nvSpPr>
        <p:spPr>
          <a:xfrm>
            <a:off x="3897383" y="3472365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340663" y="45422"/>
                </a:moveTo>
                <a:lnTo>
                  <a:pt x="169965" y="682059"/>
                </a:lnTo>
                <a:lnTo>
                  <a:pt x="0" y="636637"/>
                </a:lnTo>
                <a:lnTo>
                  <a:pt x="17069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9" name="S11-mark101"/>
          <p:cNvSpPr/>
          <p:nvPr/>
        </p:nvSpPr>
        <p:spPr>
          <a:xfrm>
            <a:off x="7950906" y="3472365"/>
            <a:ext cx="340663" cy="682059"/>
          </a:xfrm>
          <a:custGeom>
            <a:avLst/>
            <a:gdLst/>
            <a:ahLst/>
            <a:cxnLst/>
            <a:rect l="l" t="t" r="r" b="b"/>
            <a:pathLst>
              <a:path w="340663" h="682059">
                <a:moveTo>
                  <a:pt x="169965" y="0"/>
                </a:moveTo>
                <a:lnTo>
                  <a:pt x="340663" y="636637"/>
                </a:lnTo>
                <a:lnTo>
                  <a:pt x="170698" y="682059"/>
                </a:lnTo>
                <a:lnTo>
                  <a:pt x="0" y="45422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20" name="S11-mark102"/>
          <p:cNvSpPr/>
          <p:nvPr/>
        </p:nvSpPr>
        <p:spPr>
          <a:xfrm>
            <a:off x="3896650" y="2762468"/>
            <a:ext cx="2197826" cy="732609"/>
          </a:xfrm>
          <a:custGeom>
            <a:avLst/>
            <a:gdLst/>
            <a:ahLst/>
            <a:cxnLst/>
            <a:rect l="l" t="t" r="r" b="b"/>
            <a:pathLst>
              <a:path w="2197826" h="732609">
                <a:moveTo>
                  <a:pt x="0" y="732609"/>
                </a:moveTo>
                <a:lnTo>
                  <a:pt x="2197826" y="732609"/>
                </a:lnTo>
                <a:lnTo>
                  <a:pt x="2197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1" name="S11-mark103"/>
          <p:cNvSpPr/>
          <p:nvPr/>
        </p:nvSpPr>
        <p:spPr>
          <a:xfrm>
            <a:off x="6094476" y="2762468"/>
            <a:ext cx="2197826" cy="732609"/>
          </a:xfrm>
          <a:custGeom>
            <a:avLst/>
            <a:gdLst/>
            <a:ahLst/>
            <a:cxnLst/>
            <a:rect l="l" t="t" r="r" b="b"/>
            <a:pathLst>
              <a:path w="2197826" h="732609">
                <a:moveTo>
                  <a:pt x="0" y="732609"/>
                </a:moveTo>
                <a:lnTo>
                  <a:pt x="2197826" y="732609"/>
                </a:lnTo>
                <a:lnTo>
                  <a:pt x="2197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2" name="S11-label105"/>
          <p:cNvSpPr txBox="1"/>
          <p:nvPr/>
        </p:nvSpPr>
        <p:spPr>
          <a:xfrm>
            <a:off x="4840115" y="29382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3" name="S11-label107"/>
          <p:cNvSpPr txBox="1"/>
          <p:nvPr/>
        </p:nvSpPr>
        <p:spPr>
          <a:xfrm>
            <a:off x="7037941" y="29382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4" name="S11-label108"/>
          <p:cNvSpPr txBox="1"/>
          <p:nvPr/>
        </p:nvSpPr>
        <p:spPr>
          <a:xfrm>
            <a:off x="548640" y="4319016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 끝(극)에 붙은 클립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000" dirty="0"/>
          </a:p>
        </p:txBody>
      </p:sp>
      <p:sp>
        <p:nvSpPr>
          <p:cNvPr id="3" name="S12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극을 찾아 끌어당길지 밀어낼지 말해요.</a:t>
            </a:r>
            <a:endParaRPr lang="ko-KR" sz="3000" dirty="0"/>
          </a:p>
        </p:txBody>
      </p:sp>
      <p:sp>
        <p:nvSpPr>
          <p:cNvPr id="4" name="S12-chip11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figure111" descr="왼쪽 자석 N극·S극, 오른쪽 자석 N극·S극: 마주 보는 극은 S극과 N극"/>
          <p:cNvSpPr/>
          <p:nvPr/>
        </p:nvSpPr>
        <p:spPr>
          <a:xfrm>
            <a:off x="361188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2-mark112"/>
          <p:cNvSpPr/>
          <p:nvPr/>
        </p:nvSpPr>
        <p:spPr>
          <a:xfrm>
            <a:off x="489204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2-mark113"/>
          <p:cNvSpPr/>
          <p:nvPr/>
        </p:nvSpPr>
        <p:spPr>
          <a:xfrm>
            <a:off x="681228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2-mark114"/>
          <p:cNvSpPr/>
          <p:nvPr/>
        </p:nvSpPr>
        <p:spPr>
          <a:xfrm>
            <a:off x="8092440" y="233172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2-label116"/>
          <p:cNvSpPr txBox="1"/>
          <p:nvPr/>
        </p:nvSpPr>
        <p:spPr>
          <a:xfrm>
            <a:off x="409651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0" name="S12-label118"/>
          <p:cNvSpPr txBox="1"/>
          <p:nvPr/>
        </p:nvSpPr>
        <p:spPr>
          <a:xfrm>
            <a:off x="537667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11" name="S12-label120"/>
          <p:cNvSpPr txBox="1"/>
          <p:nvPr/>
        </p:nvSpPr>
        <p:spPr>
          <a:xfrm>
            <a:off x="729691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2" name="S12-label122"/>
          <p:cNvSpPr txBox="1"/>
          <p:nvPr/>
        </p:nvSpPr>
        <p:spPr>
          <a:xfrm>
            <a:off x="8577072" y="246126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13" name="S12-chip12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2-figure124" descr="왼쪽 자석 N극·S극, 오른쪽 자석 S극·N극: 마주 보는 극은 S극과 S극"/>
          <p:cNvSpPr/>
          <p:nvPr/>
        </p:nvSpPr>
        <p:spPr>
          <a:xfrm>
            <a:off x="361188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5" name="S12-mark125"/>
          <p:cNvSpPr/>
          <p:nvPr/>
        </p:nvSpPr>
        <p:spPr>
          <a:xfrm>
            <a:off x="489204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6" name="S12-mark126"/>
          <p:cNvSpPr/>
          <p:nvPr/>
        </p:nvSpPr>
        <p:spPr>
          <a:xfrm>
            <a:off x="681228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7" name="S12-mark127"/>
          <p:cNvSpPr/>
          <p:nvPr/>
        </p:nvSpPr>
        <p:spPr>
          <a:xfrm>
            <a:off x="8092440" y="379476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abel129"/>
          <p:cNvSpPr txBox="1"/>
          <p:nvPr/>
        </p:nvSpPr>
        <p:spPr>
          <a:xfrm>
            <a:off x="409651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19" name="S12-label131"/>
          <p:cNvSpPr txBox="1"/>
          <p:nvPr/>
        </p:nvSpPr>
        <p:spPr>
          <a:xfrm>
            <a:off x="537667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0" name="S12-label133"/>
          <p:cNvSpPr txBox="1"/>
          <p:nvPr/>
        </p:nvSpPr>
        <p:spPr>
          <a:xfrm>
            <a:off x="729691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1" name="S12-label135"/>
          <p:cNvSpPr txBox="1"/>
          <p:nvPr/>
        </p:nvSpPr>
        <p:spPr>
          <a:xfrm>
            <a:off x="8577072" y="39243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2" name="S12-chip13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12-figure137" descr="왼쪽 자석 S극·N극, 오른쪽 자석 N극·S극: 마주 보는 극은 N극과 N극"/>
          <p:cNvSpPr/>
          <p:nvPr/>
        </p:nvSpPr>
        <p:spPr>
          <a:xfrm>
            <a:off x="361188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4" name="S12-mark138"/>
          <p:cNvSpPr/>
          <p:nvPr/>
        </p:nvSpPr>
        <p:spPr>
          <a:xfrm>
            <a:off x="489204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12-mark139"/>
          <p:cNvSpPr/>
          <p:nvPr/>
        </p:nvSpPr>
        <p:spPr>
          <a:xfrm>
            <a:off x="681228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6" name="S12-mark140"/>
          <p:cNvSpPr/>
          <p:nvPr/>
        </p:nvSpPr>
        <p:spPr>
          <a:xfrm>
            <a:off x="8092440" y="5257800"/>
            <a:ext cx="1280160" cy="640080"/>
          </a:xfrm>
          <a:custGeom>
            <a:avLst/>
            <a:gdLst/>
            <a:ahLst/>
            <a:cxnLst/>
            <a:rect l="l" t="t" r="r" b="b"/>
            <a:pathLst>
              <a:path w="1280160" h="640080">
                <a:moveTo>
                  <a:pt x="0" y="640080"/>
                </a:moveTo>
                <a:lnTo>
                  <a:pt x="1280160" y="640080"/>
                </a:lnTo>
                <a:lnTo>
                  <a:pt x="1280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7" name="S12-label142"/>
          <p:cNvSpPr txBox="1"/>
          <p:nvPr/>
        </p:nvSpPr>
        <p:spPr>
          <a:xfrm>
            <a:off x="409651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8" name="S12-label144"/>
          <p:cNvSpPr txBox="1"/>
          <p:nvPr/>
        </p:nvSpPr>
        <p:spPr>
          <a:xfrm>
            <a:off x="537667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29" name="S12-label146"/>
          <p:cNvSpPr txBox="1"/>
          <p:nvPr/>
        </p:nvSpPr>
        <p:spPr>
          <a:xfrm>
            <a:off x="729691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400" dirty="0"/>
          </a:p>
        </p:txBody>
      </p:sp>
      <p:sp>
        <p:nvSpPr>
          <p:cNvPr id="30" name="S12-label148"/>
          <p:cNvSpPr txBox="1"/>
          <p:nvPr/>
        </p:nvSpPr>
        <p:spPr>
          <a:xfrm>
            <a:off x="8577072" y="53873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5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것을 모두 골라요.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못, 알루미늄 포일, 유리구슬, 철사</a:t>
            </a:r>
            <a:endParaRPr lang="ko-KR" sz="3000" dirty="0"/>
          </a:p>
        </p:txBody>
      </p:sp>
      <p:sp>
        <p:nvSpPr>
          <p:cNvPr id="5" name="S13-chip1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5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자석이 서로 밀어냈어요.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댄 극은 어떤 극끼리일까요?</a:t>
            </a:r>
            <a:endParaRPr lang="ko-KR" sz="3000" dirty="0"/>
          </a:p>
        </p:txBody>
      </p:sp>
      <p:sp>
        <p:nvSpPr>
          <p:cNvPr id="7" name="S13-chip1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5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막대자석에서 클립이 가장 많이 붙는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 어디이고, 무엇이라고 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끝은 어떤 극일까요?</a:t>
            </a:r>
            <a:endParaRPr lang="ko-KR" sz="4000" dirty="0"/>
          </a:p>
        </p:txBody>
      </p:sp>
      <p:sp>
        <p:nvSpPr>
          <p:cNvPr id="3" name="S15-text155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지워진 자석의 한쪽 끝에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N극을 가까이 했더니 끌려왔어요.</a:t>
            </a:r>
            <a:endParaRPr lang="ko-KR" sz="3000" dirty="0"/>
          </a:p>
        </p:txBody>
      </p:sp>
      <p:sp>
        <p:nvSpPr>
          <p:cNvPr id="4" name="S15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5-chip158"/>
          <p:cNvSpPr txBox="1"/>
          <p:nvPr/>
        </p:nvSpPr>
        <p:spPr>
          <a:xfrm>
            <a:off x="2946654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59"/>
          <p:cNvSpPr/>
          <p:nvPr/>
        </p:nvSpPr>
        <p:spPr>
          <a:xfrm>
            <a:off x="548640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60"/>
          <p:cNvSpPr txBox="1"/>
          <p:nvPr/>
        </p:nvSpPr>
        <p:spPr>
          <a:xfrm>
            <a:off x="822960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N극</a:t>
            </a:r>
            <a:endParaRPr lang="ko-KR" sz="3000" dirty="0"/>
          </a:p>
        </p:txBody>
      </p:sp>
      <p:sp>
        <p:nvSpPr>
          <p:cNvPr id="9" name="S15-chip161"/>
          <p:cNvSpPr txBox="1"/>
          <p:nvPr/>
        </p:nvSpPr>
        <p:spPr>
          <a:xfrm>
            <a:off x="8675370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62"/>
          <p:cNvSpPr/>
          <p:nvPr/>
        </p:nvSpPr>
        <p:spPr>
          <a:xfrm>
            <a:off x="6277356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63"/>
          <p:cNvSpPr txBox="1"/>
          <p:nvPr/>
        </p:nvSpPr>
        <p:spPr>
          <a:xfrm>
            <a:off x="6551676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S극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6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6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자석은 철로 만든 물체를 끌어당겨요.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극끼리는 밀어내고, 다른 극끼리는 끌어당겨요.</a:t>
            </a:r>
            <a:endParaRPr lang="ko-KR" sz="3000" dirty="0"/>
          </a:p>
        </p:txBody>
      </p:sp>
      <p:sp>
        <p:nvSpPr>
          <p:cNvPr id="5" name="S16-chip16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대어 본 결과로 판단하기</a:t>
            </a:r>
            <a:endParaRPr lang="ko-KR" sz="2400" dirty="0"/>
          </a:p>
        </p:txBody>
      </p:sp>
      <p:sp>
        <p:nvSpPr>
          <p:cNvPr id="6" name="S16-chip16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금속은 다 붙는다고 생각하기</a:t>
            </a:r>
            <a:endParaRPr lang="ko-KR" sz="2400" dirty="0"/>
          </a:p>
        </p:txBody>
      </p:sp>
      <p:sp>
        <p:nvSpPr>
          <p:cNvPr id="7" name="S16-text16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6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자석에 붙는 물체는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만들었나요?</a:t>
            </a:r>
            <a:endParaRPr lang="ko-KR" sz="2400" dirty="0"/>
          </a:p>
        </p:txBody>
      </p:sp>
      <p:sp>
        <p:nvSpPr>
          <p:cNvPr id="9" name="S16-text17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자석에서 힘이 가장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 곳은?</a:t>
            </a:r>
            <a:endParaRPr lang="ko-KR" sz="2400" dirty="0"/>
          </a:p>
        </p:txBody>
      </p:sp>
      <p:sp>
        <p:nvSpPr>
          <p:cNvPr id="10" name="S16-text17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N극과 S극을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대면?</a:t>
            </a:r>
            <a:endParaRPr lang="ko-KR" sz="2400" dirty="0"/>
          </a:p>
        </p:txBody>
      </p:sp>
      <p:sp>
        <p:nvSpPr>
          <p:cNvPr id="11" name="S16-text1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물의 상태 변화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무엇으로 만들었나요?</a:t>
            </a:r>
            <a:endParaRPr lang="ko-KR" sz="4000" dirty="0"/>
          </a:p>
        </p:txBody>
      </p:sp>
      <p:sp>
        <p:nvSpPr>
          <p:cNvPr id="3" name="S17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재료가 물질이에요.</a:t>
            </a:r>
            <a:endParaRPr lang="ko-KR" sz="3000" dirty="0"/>
          </a:p>
        </p:txBody>
      </p:sp>
      <p:sp>
        <p:nvSpPr>
          <p:cNvPr id="4" name="S17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철과 알루미늄은 둘 다 금속이에요.</a:t>
            </a:r>
            <a:endParaRPr lang="ko-KR" sz="3000" dirty="0"/>
          </a:p>
        </p:txBody>
      </p:sp>
      <p:graphicFrame>
        <p:nvGraphicFramePr>
          <p:cNvPr id="17" name="S17-table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28473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철(금속)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음료수 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알루미늄(금속)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자석의 성질</dc:title>
  <dc:subject>KR22-G04-SCI-MAGNET-L01</dc:subject>
  <dc:creator>education-ppt</dc:creator>
  <cp:lastModifiedBy>education-ppt</cp:lastModifiedBy>
  <cp:revision>1</cp:revision>
  <dcterms:created xsi:type="dcterms:W3CDTF">2026-10-26T09:46:42Z</dcterms:created>
  <dcterms:modified xsi:type="dcterms:W3CDTF">2026-10-26T09:46:42Z</dcterms:modified>
</cp:coreProperties>
</file>