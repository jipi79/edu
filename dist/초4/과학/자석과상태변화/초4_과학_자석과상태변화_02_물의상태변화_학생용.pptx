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3239afc-dff7-7616-d19c-4daa085ed935}">
          <p14:sldIdLst>
            <p14:sldId id="256"/>
            <p14:sldId id="257"/>
          </p14:sldIdLst>
        </p14:section>
        <p14:section name="연습" id="{49e9a644-55f9-dc03-7d96-420cdaccb80c}">
          <p14:sldIdLst>
            <p14:sldId id="258"/>
            <p14:sldId id="259"/>
            <p14:sldId id="260"/>
            <p14:sldId id="263"/>
            <p14:sldId id="264"/>
            <p14:sldId id="267"/>
            <p14:sldId id="268"/>
          </p14:sldIdLst>
        </p14:section>
        <p14:section name="개념" id="{cea0b34f-496d-9dd5-000c-1f0bc25100b9}">
          <p14:sldIdLst>
            <p14:sldId id="261"/>
            <p14:sldId id="262"/>
            <p14:sldId id="265"/>
            <p14:sldId id="266"/>
          </p14:sldIdLst>
        </p14:section>
        <p14:section name="연습" id="{8122afd0-8084-7326-1fa5-bc0ed4a0de75}">
          <p14:sldIdLst/>
        </p14:section>
        <p14:section name="개념" id="{c83915dd-0b40-3184-0c4f-cce9f4a14a27}">
          <p14:sldIdLst/>
        </p14:section>
        <p14:section name="연습" id="{4327bb84-4abc-b834-6c36-67cd076ddbf4}">
          <p14:sldIdLst/>
        </p14:section>
        <p14:section name="확인" id="{0a6a968a-f103-79e7-e811-4821f6aa90db}">
          <p14:sldIdLst>
            <p14:sldId id="269"/>
            <p14:sldId id="270"/>
          </p14:sldIdLst>
        </p14:section>
        <p14:section name="정리" id="{3a1e3a32-5435-d80a-9b78-96b1303bd1cc}">
          <p14:sldIdLst>
            <p14:sldId id="271"/>
          </p14:sldIdLst>
        </p14:section>
        <p14:section name="보충" id="{7542cddb-b556-6a60-fbcb-f42cc9253496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자석과상태변화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물의 상태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물의 상태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물의 상태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상태 변화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빨래의 물은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갔을까?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얼음·물·수증기로 변하는 모습을 관찰해요.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증발·끓음·응결을 증거를 들어 설명해요.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자석의 같은 극끼리 마주 대면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되나요?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얼음과 물은 무엇이 다른가요?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손을 그냥 두면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동안 어떻게 변할까요?</a:t>
            </a:r>
            <a:endParaRPr lang="ko-KR" sz="30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1의 ‘예상’ 칸에 써요.</a:t>
            </a:r>
            <a:endParaRPr lang="ko-KR" sz="3000" dirty="0"/>
          </a:p>
        </p:txBody>
      </p:sp>
      <p:sp>
        <p:nvSpPr>
          <p:cNvPr id="6" name="S03-chip1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3-text1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위의 얼음</a:t>
            </a:r>
            <a:endParaRPr lang="ko-KR" sz="3000" dirty="0"/>
          </a:p>
        </p:txBody>
      </p:sp>
      <p:sp>
        <p:nvSpPr>
          <p:cNvPr id="8" name="S03-chip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3-text1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손등에 바른 물</a:t>
            </a:r>
            <a:endParaRPr lang="ko-KR" sz="3000" dirty="0"/>
          </a:p>
        </p:txBody>
      </p:sp>
      <p:sp>
        <p:nvSpPr>
          <p:cNvPr id="10" name="S03-chip1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3-text1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보리차를 담은 컵의 바깥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함께 관찰해요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찬물과 얼음만 써요. 흘린 물은 바로 닦아요.</a:t>
            </a:r>
            <a:endParaRPr lang="ko-KR" sz="3000" dirty="0"/>
          </a:p>
        </p:txBody>
      </p:sp>
      <p:sp>
        <p:nvSpPr>
          <p:cNvPr id="5" name="S04-card2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시작과 5분 뒤 시각을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컵 바깥 물방울을 휴지로 찍어 색을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3000" dirty="0"/>
          </a:p>
        </p:txBody>
      </p:sp>
      <p:sp>
        <p:nvSpPr>
          <p:cNvPr id="7" name="S04-stepno22"/>
          <p:cNvSpPr txBox="1"/>
          <p:nvPr/>
        </p:nvSpPr>
        <p:spPr>
          <a:xfrm>
            <a:off x="548640" y="17297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23"/>
          <p:cNvSpPr txBox="1"/>
          <p:nvPr/>
        </p:nvSpPr>
        <p:spPr>
          <a:xfrm>
            <a:off x="1325880" y="168402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얼음과 보리차를 담고 바깥을 닦아요.</a:t>
            </a:r>
            <a:endParaRPr lang="ko-KR" sz="2400" dirty="0"/>
          </a:p>
        </p:txBody>
      </p:sp>
      <p:sp>
        <p:nvSpPr>
          <p:cNvPr id="9" name="S04-stepno24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5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접시에 얼음 한 조각을 놓아요.</a:t>
            </a:r>
            <a:endParaRPr lang="ko-KR" sz="2400" dirty="0"/>
          </a:p>
        </p:txBody>
      </p:sp>
      <p:sp>
        <p:nvSpPr>
          <p:cNvPr id="11" name="S04-stepno26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7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손등에 물을 바르고 살살 부채질해요.</a:t>
            </a:r>
            <a:endParaRPr lang="ko-KR" sz="2400" dirty="0"/>
          </a:p>
        </p:txBody>
      </p:sp>
      <p:sp>
        <p:nvSpPr>
          <p:cNvPr id="13" name="S04-stepno28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4-text29"/>
          <p:cNvSpPr txBox="1"/>
          <p:nvPr/>
        </p:nvSpPr>
        <p:spPr>
          <a:xfrm>
            <a:off x="1325880" y="401878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뒤 세 가지를 살펴 활동지 1에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3000" dirty="0"/>
          </a:p>
        </p:txBody>
      </p:sp>
      <p:sp>
        <p:nvSpPr>
          <p:cNvPr id="4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3000" dirty="0"/>
          </a:p>
        </p:txBody>
      </p:sp>
      <p:graphicFrame>
        <p:nvGraphicFramePr>
          <p:cNvPr id="6" name="S05-table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54680"/>
                <a:gridCol w="315468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접시 위의 얼음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손등에 바른 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 보리차 컵의 바깥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 바깥 물방울의 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얼음과 물</a:t>
            </a:r>
            <a:endParaRPr lang="ko-KR" sz="4000" dirty="0"/>
          </a:p>
        </p:txBody>
      </p:sp>
      <p:sp>
        <p:nvSpPr>
          <p:cNvPr id="3" name="S06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위의 얼음이 녹아 물이 되었어요.</a:t>
            </a:r>
            <a:endParaRPr lang="ko-KR" sz="3000" dirty="0"/>
          </a:p>
        </p:txBody>
      </p:sp>
      <p:sp>
        <p:nvSpPr>
          <p:cNvPr id="4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녹으면 물이 되고, 물이 얼면 얼음이 돼요.</a:t>
            </a:r>
            <a:endParaRPr lang="ko-KR" sz="3000" dirty="0"/>
          </a:p>
        </p:txBody>
      </p:sp>
      <p:graphicFrame>
        <p:nvGraphicFramePr>
          <p:cNvPr id="7" name="S06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3419856"/>
                <a:gridCol w="442569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그릇에 따라 바뀌어요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손으로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잡을 수 있어요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흘러내려요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손등의 물은 어디로 갔을까요?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눈에 보이지 않는 수증기가 되어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속으로 퍼졌어요.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수증기는 기체라서 눈에 보이지 않아요.</a:t>
            </a:r>
            <a:endParaRPr lang="ko-KR" sz="3000" dirty="0"/>
          </a:p>
        </p:txBody>
      </p:sp>
      <p:sp>
        <p:nvSpPr>
          <p:cNvPr id="6" name="S07-card41"/>
          <p:cNvSpPr/>
          <p:nvPr/>
        </p:nvSpPr>
        <p:spPr>
          <a:xfrm>
            <a:off x="548640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2"/>
          <p:cNvSpPr txBox="1"/>
          <p:nvPr/>
        </p:nvSpPr>
        <p:spPr>
          <a:xfrm>
            <a:off x="822960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표면에서 물이 수증기로 변하는 것</a:t>
            </a:r>
            <a:endParaRPr lang="ko-KR" sz="3000" dirty="0"/>
          </a:p>
        </p:txBody>
      </p:sp>
      <p:sp>
        <p:nvSpPr>
          <p:cNvPr id="8" name="S07-card43"/>
          <p:cNvSpPr/>
          <p:nvPr/>
        </p:nvSpPr>
        <p:spPr>
          <a:xfrm>
            <a:off x="6208776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44"/>
          <p:cNvSpPr txBox="1"/>
          <p:nvPr/>
        </p:nvSpPr>
        <p:spPr>
          <a:xfrm>
            <a:off x="6483096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증발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빨래가 말라요. 젖은 머리가 말라요.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끓음을 예상해 봐요</a:t>
            </a:r>
            <a:endParaRPr lang="ko-KR" sz="4000" dirty="0"/>
          </a:p>
        </p:txBody>
      </p:sp>
      <p:sp>
        <p:nvSpPr>
          <p:cNvPr id="3" name="S08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냄비의 물을 불에 올려 끓이면?</a:t>
            </a:r>
            <a:endParaRPr lang="ko-KR" sz="3000" dirty="0"/>
          </a:p>
        </p:txBody>
      </p:sp>
      <p:sp>
        <p:nvSpPr>
          <p:cNvPr id="4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2의 ‘예상’ 칸에 써요.</a:t>
            </a:r>
            <a:endParaRPr lang="ko-KR" sz="3000" dirty="0"/>
          </a:p>
        </p:txBody>
      </p:sp>
      <p:sp>
        <p:nvSpPr>
          <p:cNvPr id="6" name="S08-chip4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4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끓을 때 물속에서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 수 있을까요?</a:t>
            </a:r>
            <a:endParaRPr lang="ko-KR" sz="3000" dirty="0"/>
          </a:p>
        </p:txBody>
      </p:sp>
      <p:sp>
        <p:nvSpPr>
          <p:cNvPr id="8" name="S08-chip5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1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끓이면 물의 양은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끓음은 멀리서 봐요</a:t>
            </a:r>
            <a:endParaRPr lang="ko-KR" sz="4000" dirty="0"/>
          </a:p>
        </p:txBody>
      </p:sp>
      <p:sp>
        <p:nvSpPr>
          <p:cNvPr id="3" name="S09-card5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불·뜨거운 물·김은 어른만 다뤄요. 교과서 영상으로 봐도 돼요.</a:t>
            </a:r>
            <a:endParaRPr lang="ko-KR" sz="3000" dirty="0"/>
          </a:p>
        </p:txBody>
      </p:sp>
      <p:sp>
        <p:nvSpPr>
          <p:cNvPr id="5" name="S09-card54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55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거품이 어디서 생기는지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가까이 가지 않고 관찰해요</a:t>
            </a:r>
            <a:endParaRPr lang="ko-KR" sz="3000" dirty="0"/>
          </a:p>
        </p:txBody>
      </p:sp>
      <p:sp>
        <p:nvSpPr>
          <p:cNvPr id="7" name="S09-stepno56"/>
          <p:cNvSpPr txBox="1"/>
          <p:nvPr/>
        </p:nvSpPr>
        <p:spPr>
          <a:xfrm>
            <a:off x="548640" y="1586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57"/>
          <p:cNvSpPr txBox="1"/>
          <p:nvPr/>
        </p:nvSpPr>
        <p:spPr>
          <a:xfrm>
            <a:off x="1325880" y="15864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냄비에 물을 담아 불에 올려요.</a:t>
            </a:r>
            <a:endParaRPr lang="ko-KR" sz="2400" dirty="0"/>
          </a:p>
        </p:txBody>
      </p:sp>
      <p:sp>
        <p:nvSpPr>
          <p:cNvPr id="9" name="S09-stepno58"/>
          <p:cNvSpPr txBox="1"/>
          <p:nvPr/>
        </p:nvSpPr>
        <p:spPr>
          <a:xfrm>
            <a:off x="548640" y="2299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59"/>
          <p:cNvSpPr txBox="1"/>
          <p:nvPr/>
        </p:nvSpPr>
        <p:spPr>
          <a:xfrm>
            <a:off x="1325880" y="22997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의자에 앉아 떨어져서 물속을 봐요.</a:t>
            </a:r>
            <a:endParaRPr lang="ko-KR" sz="2400" dirty="0"/>
          </a:p>
        </p:txBody>
      </p:sp>
      <p:sp>
        <p:nvSpPr>
          <p:cNvPr id="11" name="S09-stepno60"/>
          <p:cNvSpPr txBox="1"/>
          <p:nvPr/>
        </p:nvSpPr>
        <p:spPr>
          <a:xfrm>
            <a:off x="548640" y="30586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61"/>
          <p:cNvSpPr txBox="1"/>
          <p:nvPr/>
        </p:nvSpPr>
        <p:spPr>
          <a:xfrm>
            <a:off x="1325880" y="301294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물속에서 생기는 거품(기포)을 찾아요.</a:t>
            </a:r>
            <a:endParaRPr lang="ko-KR" sz="2400" dirty="0"/>
          </a:p>
        </p:txBody>
      </p:sp>
      <p:sp>
        <p:nvSpPr>
          <p:cNvPr id="13" name="S09-stepno62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63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것을 활동지 2에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증발과 끓음</a:t>
            </a:r>
            <a:endParaRPr lang="ko-KR" sz="4000" dirty="0"/>
          </a:p>
        </p:txBody>
      </p:sp>
      <p:sp>
        <p:nvSpPr>
          <p:cNvPr id="3" name="S10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물이 수증기로 변하는 상태 변화예요.</a:t>
            </a:r>
            <a:endParaRPr lang="ko-KR" sz="3000" dirty="0"/>
          </a:p>
        </p:txBody>
      </p:sp>
      <p:graphicFrame>
        <p:nvGraphicFramePr>
          <p:cNvPr id="11" name="S10-table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941830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3890772"/>
                <a:gridCol w="389077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끓음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변하는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→ 수증기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→ 수증기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일어나는 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표면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표면과 물속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천천히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빨래가 말라요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라면 물이 끓어요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바깥의 물방울</a:t>
            </a:r>
            <a:endParaRPr lang="ko-KR" sz="4000" dirty="0"/>
          </a:p>
        </p:txBody>
      </p:sp>
      <p:sp>
        <p:nvSpPr>
          <p:cNvPr id="3" name="S11-text6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수증기가 차가운 컵에 닿아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물방울로 변했어요.</a:t>
            </a:r>
            <a:endParaRPr lang="ko-KR" sz="3000" dirty="0"/>
          </a:p>
        </p:txBody>
      </p:sp>
      <p:sp>
        <p:nvSpPr>
          <p:cNvPr id="4" name="S11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증발한 수증기가 차가운 곳에서 다시 물이 돼요.</a:t>
            </a:r>
            <a:endParaRPr lang="ko-KR" sz="3000" dirty="0"/>
          </a:p>
        </p:txBody>
      </p:sp>
      <p:sp>
        <p:nvSpPr>
          <p:cNvPr id="6" name="S11-card70"/>
          <p:cNvSpPr/>
          <p:nvPr/>
        </p:nvSpPr>
        <p:spPr>
          <a:xfrm>
            <a:off x="548640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71"/>
          <p:cNvSpPr txBox="1"/>
          <p:nvPr/>
        </p:nvSpPr>
        <p:spPr>
          <a:xfrm>
            <a:off x="822960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변하는 것</a:t>
            </a:r>
            <a:endParaRPr lang="ko-KR" sz="3000" dirty="0"/>
          </a:p>
        </p:txBody>
      </p:sp>
      <p:sp>
        <p:nvSpPr>
          <p:cNvPr id="8" name="S11-card72"/>
          <p:cNvSpPr/>
          <p:nvPr/>
        </p:nvSpPr>
        <p:spPr>
          <a:xfrm>
            <a:off x="4322064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73"/>
          <p:cNvSpPr txBox="1"/>
          <p:nvPr/>
        </p:nvSpPr>
        <p:spPr>
          <a:xfrm>
            <a:off x="4596384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물방울은 보리차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아니었어요.</a:t>
            </a:r>
            <a:endParaRPr lang="ko-KR" sz="3000" dirty="0"/>
          </a:p>
        </p:txBody>
      </p:sp>
      <p:sp>
        <p:nvSpPr>
          <p:cNvPr id="10" name="S11-card74"/>
          <p:cNvSpPr/>
          <p:nvPr/>
        </p:nvSpPr>
        <p:spPr>
          <a:xfrm>
            <a:off x="8095488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5"/>
          <p:cNvSpPr txBox="1"/>
          <p:nvPr/>
        </p:nvSpPr>
        <p:spPr>
          <a:xfrm>
            <a:off x="8369808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응결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날 안경이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뿌옇게 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2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보리차 컵 바깥에 물방울이 생겼어요.</a:t>
            </a:r>
            <a:endParaRPr lang="ko-KR" sz="3000" dirty="0"/>
          </a:p>
        </p:txBody>
      </p:sp>
      <p:sp>
        <p:nvSpPr>
          <p:cNvPr id="5" name="S12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2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2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안의 보리차가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새어 나왔어요.</a:t>
            </a:r>
            <a:endParaRPr lang="ko-KR" sz="3000" dirty="0"/>
          </a:p>
        </p:txBody>
      </p:sp>
      <p:sp>
        <p:nvSpPr>
          <p:cNvPr id="9" name="S12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2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수증기가 차가운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닿아 생겼어요.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변화일까요?</a:t>
            </a:r>
            <a:endParaRPr lang="ko-KR" sz="4000" dirty="0"/>
          </a:p>
        </p:txBody>
      </p:sp>
      <p:sp>
        <p:nvSpPr>
          <p:cNvPr id="3" name="S13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상태 변화인지 말해요.</a:t>
            </a:r>
            <a:endParaRPr lang="ko-KR" sz="3000" dirty="0"/>
          </a:p>
        </p:txBody>
      </p:sp>
      <p:sp>
        <p:nvSpPr>
          <p:cNvPr id="4" name="S13-card8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8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증발·끓음·응결이나 ‘얼음이 녹아요’·‘물이 얼어요’로 말해요.</a:t>
            </a:r>
            <a:endParaRPr lang="ko-KR" sz="3000" dirty="0"/>
          </a:p>
        </p:txBody>
      </p:sp>
      <p:sp>
        <p:nvSpPr>
          <p:cNvPr id="6" name="S13-chip87"/>
          <p:cNvSpPr txBox="1"/>
          <p:nvPr/>
        </p:nvSpPr>
        <p:spPr>
          <a:xfrm>
            <a:off x="548640" y="23622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ext88"/>
          <p:cNvSpPr txBox="1"/>
          <p:nvPr/>
        </p:nvSpPr>
        <p:spPr>
          <a:xfrm>
            <a:off x="1344168" y="2011680"/>
            <a:ext cx="4567428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빨래가 말라요.</a:t>
            </a:r>
            <a:endParaRPr lang="ko-KR" sz="3000" dirty="0"/>
          </a:p>
        </p:txBody>
      </p:sp>
      <p:sp>
        <p:nvSpPr>
          <p:cNvPr id="8" name="S13-chip89"/>
          <p:cNvSpPr txBox="1"/>
          <p:nvPr/>
        </p:nvSpPr>
        <p:spPr>
          <a:xfrm>
            <a:off x="6277356" y="23622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ext90"/>
          <p:cNvSpPr txBox="1"/>
          <p:nvPr/>
        </p:nvSpPr>
        <p:spPr>
          <a:xfrm>
            <a:off x="7072884" y="2011680"/>
            <a:ext cx="4567428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날 안경이 뿌예져요.</a:t>
            </a:r>
            <a:endParaRPr lang="ko-KR" sz="3000" dirty="0"/>
          </a:p>
        </p:txBody>
      </p:sp>
      <p:sp>
        <p:nvSpPr>
          <p:cNvPr id="10" name="S13-chip91"/>
          <p:cNvSpPr txBox="1"/>
          <p:nvPr/>
        </p:nvSpPr>
        <p:spPr>
          <a:xfrm>
            <a:off x="548640" y="3813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3-text92"/>
          <p:cNvSpPr txBox="1"/>
          <p:nvPr/>
        </p:nvSpPr>
        <p:spPr>
          <a:xfrm>
            <a:off x="1344168" y="3462528"/>
            <a:ext cx="4567428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냉동실의 물이 얼음이 돼요.</a:t>
            </a:r>
            <a:endParaRPr lang="ko-KR" sz="3000" dirty="0"/>
          </a:p>
        </p:txBody>
      </p:sp>
      <p:sp>
        <p:nvSpPr>
          <p:cNvPr id="12" name="S13-chip93"/>
          <p:cNvSpPr txBox="1"/>
          <p:nvPr/>
        </p:nvSpPr>
        <p:spPr>
          <a:xfrm>
            <a:off x="6277356" y="3813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3-text94"/>
          <p:cNvSpPr txBox="1"/>
          <p:nvPr/>
        </p:nvSpPr>
        <p:spPr>
          <a:xfrm>
            <a:off x="7072884" y="3462528"/>
            <a:ext cx="4567428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라면 물이 부글부글 끓어요.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chip9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4-text9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고드름이 녹아요. 무엇이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변했나요?</a:t>
            </a:r>
            <a:endParaRPr lang="ko-KR" sz="3000" dirty="0"/>
          </a:p>
        </p:txBody>
      </p:sp>
      <p:sp>
        <p:nvSpPr>
          <p:cNvPr id="5" name="S14-chip9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4-text9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우산이 말랐어요.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어디로 갔나요?</a:t>
            </a:r>
            <a:endParaRPr lang="ko-KR" sz="3000" dirty="0"/>
          </a:p>
        </p:txBody>
      </p:sp>
      <p:sp>
        <p:nvSpPr>
          <p:cNvPr id="7" name="S14-chip9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4-text10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욕실 거울이 뿌예졌어요.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무엇일까요?</a:t>
            </a:r>
            <a:endParaRPr lang="ko-KR" sz="3000" dirty="0"/>
          </a:p>
        </p:txBody>
      </p:sp>
      <p:sp>
        <p:nvSpPr>
          <p:cNvPr id="9" name="S14-chip10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0" name="S14-text10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증발과 끓음의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 한 가지는?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물방울은 어디서 왔을까요?</a:t>
            </a:r>
            <a:endParaRPr lang="ko-KR" sz="4000" dirty="0"/>
          </a:p>
        </p:txBody>
      </p:sp>
      <p:sp>
        <p:nvSpPr>
          <p:cNvPr id="3" name="S16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냉장고에서 꺼낸 차가운 캔 바깥에 물방울이 생겼어요.</a:t>
            </a:r>
            <a:endParaRPr lang="ko-KR" sz="3000" dirty="0"/>
          </a:p>
        </p:txBody>
      </p:sp>
      <p:sp>
        <p:nvSpPr>
          <p:cNvPr id="4" name="S16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3000" dirty="0"/>
          </a:p>
        </p:txBody>
      </p:sp>
      <p:sp>
        <p:nvSpPr>
          <p:cNvPr id="6" name="S16-chip10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6-card10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6-cardtext10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안의 음료가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새어 나왔어요.</a:t>
            </a:r>
            <a:endParaRPr lang="ko-KR" sz="3000" dirty="0"/>
          </a:p>
        </p:txBody>
      </p:sp>
      <p:sp>
        <p:nvSpPr>
          <p:cNvPr id="9" name="S16-chip10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6-card11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1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수증기가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응결했어요.</a:t>
            </a:r>
            <a:endParaRPr lang="ko-KR" sz="3000" dirty="0"/>
          </a:p>
        </p:txBody>
      </p:sp>
      <p:sp>
        <p:nvSpPr>
          <p:cNvPr id="12" name="S16-chip11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6-card11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6-cardtext11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캔이 녹아서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1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1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얼음·물·수증기로 상태가 변해요. 증발·끓음은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수증기로, 응결은 수증기가 물로 변하는 거예요.</a:t>
            </a:r>
            <a:endParaRPr lang="ko-KR" sz="3000" dirty="0"/>
          </a:p>
        </p:txBody>
      </p:sp>
      <p:sp>
        <p:nvSpPr>
          <p:cNvPr id="5" name="S17-chip11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증거를 들어 설명하기</a:t>
            </a:r>
            <a:endParaRPr lang="ko-KR" sz="2400" dirty="0"/>
          </a:p>
        </p:txBody>
      </p:sp>
      <p:sp>
        <p:nvSpPr>
          <p:cNvPr id="6" name="S17-chip11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물이 그냥 사라졌다고 생각하기</a:t>
            </a:r>
            <a:endParaRPr lang="ko-KR" sz="2400" dirty="0"/>
          </a:p>
        </p:txBody>
      </p:sp>
      <p:sp>
        <p:nvSpPr>
          <p:cNvPr id="7" name="S17-text11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2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젖은 빨래가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마르는 것은?</a:t>
            </a:r>
            <a:endParaRPr lang="ko-KR" sz="2400" dirty="0"/>
          </a:p>
        </p:txBody>
      </p:sp>
      <p:sp>
        <p:nvSpPr>
          <p:cNvPr id="9" name="S17-text12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물속에서도 수증기로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변하는 것은?</a:t>
            </a:r>
            <a:endParaRPr lang="ko-KR" sz="2400" dirty="0"/>
          </a:p>
        </p:txBody>
      </p:sp>
      <p:sp>
        <p:nvSpPr>
          <p:cNvPr id="10" name="S17-text12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찬 컵 바깥에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물방울이 생기는 까닭은?</a:t>
            </a:r>
            <a:endParaRPr lang="ko-KR" sz="2400" dirty="0"/>
          </a:p>
        </p:txBody>
      </p:sp>
      <p:sp>
        <p:nvSpPr>
          <p:cNvPr id="11" name="S17-text12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흐르는 물과 땅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고체와 액체</a:t>
            </a:r>
            <a:endParaRPr lang="ko-KR" sz="4000" dirty="0"/>
          </a:p>
        </p:txBody>
      </p:sp>
      <p:sp>
        <p:nvSpPr>
          <p:cNvPr id="3" name="S18-text1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보고 모양을 비교해요.</a:t>
            </a:r>
            <a:endParaRPr lang="ko-KR" sz="3000" dirty="0"/>
          </a:p>
        </p:txBody>
      </p:sp>
      <p:sp>
        <p:nvSpPr>
          <p:cNvPr id="4" name="S18-card1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8-cardtext1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얼음과 물은 같은 물이지만 상태가 달라요.</a:t>
            </a:r>
            <a:endParaRPr lang="ko-KR" sz="3000" dirty="0"/>
          </a:p>
        </p:txBody>
      </p:sp>
      <p:sp>
        <p:nvSpPr>
          <p:cNvPr id="6" name="S18-card127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8-cardtext128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고체: 얼음, 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크기가 일정해요.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잡을 수 있어요.</a:t>
            </a:r>
            <a:endParaRPr lang="ko-KR" sz="3000" dirty="0"/>
          </a:p>
        </p:txBody>
      </p:sp>
      <p:sp>
        <p:nvSpPr>
          <p:cNvPr id="8" name="S18-card129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8-cardtext130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액체: 물, 주스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담는 그릇에 따라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흘러내려요.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물의 상태 변화</dc:title>
  <dc:subject>KR22-G04-SCI-WATERSTATE-L01</dc:subject>
  <dc:creator>education-ppt</dc:creator>
  <cp:lastModifiedBy>education-ppt</cp:lastModifiedBy>
  <cp:revision>1</cp:revision>
  <dcterms:created xsi:type="dcterms:W3CDTF">2026-10-26T09:53:12Z</dcterms:created>
  <dcterms:modified xsi:type="dcterms:W3CDTF">2026-10-26T09:53:12Z</dcterms:modified>
</cp:coreProperties>
</file>