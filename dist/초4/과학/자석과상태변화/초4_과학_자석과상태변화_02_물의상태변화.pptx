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cd484dd-c95c-3763-5208-8f74b26affb8}">
          <p14:sldIdLst>
            <p14:sldId id="256"/>
            <p14:sldId id="257"/>
          </p14:sldIdLst>
        </p14:section>
        <p14:section name="연습" id="{f14e62a3-64bc-e120-5a1a-2ee92c916b05}">
          <p14:sldIdLst>
            <p14:sldId id="258"/>
            <p14:sldId id="259"/>
            <p14:sldId id="260"/>
            <p14:sldId id="263"/>
            <p14:sldId id="264"/>
            <p14:sldId id="267"/>
            <p14:sldId id="268"/>
          </p14:sldIdLst>
        </p14:section>
        <p14:section name="개념" id="{f2b7ab0b-c61b-c529-91f0-b9f330f71b73}">
          <p14:sldIdLst>
            <p14:sldId id="261"/>
            <p14:sldId id="262"/>
            <p14:sldId id="265"/>
            <p14:sldId id="266"/>
          </p14:sldIdLst>
        </p14:section>
        <p14:section name="연습" id="{df837b80-4008-9118-b4e9-db89e0f457a6}">
          <p14:sldIdLst/>
        </p14:section>
        <p14:section name="개념" id="{de577f19-92b2-8a86-82b5-800a7c9e3484}">
          <p14:sldIdLst/>
        </p14:section>
        <p14:section name="연습" id="{a7371bcf-12c7-a8a2-4915-fdba02e0533e}">
          <p14:sldIdLst/>
        </p14:section>
        <p14:section name="확인" id="{5cc846b9-bb77-c36f-3d7e-7aaea97f9856}">
          <p14:sldIdLst>
            <p14:sldId id="269"/>
            <p14:sldId id="270"/>
            <p14:sldId id="271"/>
          </p14:sldIdLst>
        </p14:section>
        <p14:section name="정리" id="{13eebb8a-6f42-bc77-6f14-2299c0aae724}">
          <p14:sldIdLst>
            <p14:sldId id="272"/>
          </p14:sldIdLst>
        </p14:section>
        <p14:section name="보충" id="{e7027f75-1081-c559-d141-db97d90778e9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물이 모습을 바꾸는 것에 궁금증을 갖게 합니다.
시간: 약 2분
이렇게 말해 보세요
- “어제 널어 둔 빨래가 오늘은 말라 있지? 빨래에 있던 물은 어디로 갔을까?”
- “오늘은 얼음, 손등의 물, 차가운 컵을 함께 관찰하면서 물이 어떻게 모습을 바꾸는지 알아볼 거야.”
예상 답
- “햇빛이 가져갔어요.” “없어졌어요.” 어떤 답이든 괜찮습니다. 답을 확인하지 않고 넘어갑니다.
막히면
- 젖은 수건을 만져 보게 하고 “이 물이 다 마르면 어디로 갈까?”라고만 묻습니다.
주의
- 보리차(또는 색이 있는 주스)는 냉장고에 넣어 두어 차갑게 준비합니다. 얼음은 S04에서 꺼냅니다.
- 끓이기(S09)는 부모만 합니다. 불을 쓰기 어려우면 교과서 디지털 자료의 끓음 영상을 미리 찾아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확인(지난 시간, 고체와 액체)]
목적: 앞 차시 ‘자석의 성질’(KR22-G04-SCI-MAGNET-L01)을 복습하고, 오늘 필요한 고체(얼음)와 액체(물)의 차이, 젖은 것이 마르는 경험을 확인합니다.
시간: 약 2분
이렇게 말해 보세요
- “① 지난 시간에 자석의 N극과 N극을 마주 댔을 때 어떻게 됐지?”
- “② 얼음과 물을 손으로 만지면 무엇이 달라?”
- “③ 손을 씻고 닦지 않고 두면 어떻게 돼?”
예상 답
- ③ “조금 있으면 말라요.”
정답
- ① 밀어낸다
- ② 얼음은 단단하고 모양이 일정하며 손으로 잡을 수 있고, 물은 흐르고 담는 그릇에 따라 모양이 바뀐다
막히면
- ①이 흔들리면 앞 차시 S11을 다시 봅니다.
- ②를 말하기 어려우면 S18(보충)을 먼저 합니다.
주의
- ③은 오늘 관찰할 내용입니다. 왜 마르는지는 아직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관찰 전 예상하기]
목적: 세 가지 관찰을 하기 전에 결과를 예상하고 까닭을 말합니다(목표 A·B·C). 결과는 S04에서 확인합니다.
시간: 약 2분
이렇게 말해 보세요
- “세 가지를 동시에 5분 동안 관찰할 거야. 얼음은? 손등의 물은? 차가운 컵의 바깥은 어떻게 될까?”
- “예상은 활동지 1의 ‘예상’ 칸에 짧게 써 줘.”
예상 답
- 어떤 예상이든 괜찮습니다. “얼음이 조금 녹을 것 같아요.” “손등의 물은 그대로일 것 같아요.” “컵 바깥은 차가워지기만 할 것 같아요.”
막히면
- 쓰기가 느리면 부모가 받아 적고 아이는 말로 예상합니다.
주의
- 결과를 알려 주지 않습니다. 특히 컵 바깥에 물방울이 생긴다는 것은 미리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 가지 동시 관찰(녹음, 증발, 응결)]
목적: 얼음이 녹는 것, 손등의 물이 마르는 것, 차가운 컵 바깥에 물방울이 생기는 것을 동시에 관찰해 기록합니다(목표 A·B·C, 오해 M2).
시간: 약 5분
이렇게 말해 보세요
- “컵 바깥을 마른 수건으로 닦았지? 지금은 물기가 없어. 시작 시각을 써 볼까?”
- “5분이 지났어. 얼음은 어떻게 됐어? 손등의 물은? 컵 바깥을 손가락으로 만져 봐.”
- “컵 바깥 물방울을 휴지로 찍어 볼래? 보리차처럼 갈색이야?”
예상 답
- “얼음이 녹아서 접시에 물이 생겼어요.” “손등의 물이 말랐어요.” “컵 바깥에 물방울이 생겼어요. 휴지에 묻은 물은 색이 없어요.”
막히면
- 손등의 물이 잘 마르지 않으면 물을 아주 얇게 바르고 부채질을 계속합니다.
- 방이 건조해 컵 바깥에 물방울이 잘 생기지 않으면 컵 속 얼음에 소금을 한 숟가락 넣고 저어 컵을 더 차갑게 합니다. 또는 냉동실에 10분 넣어 둔 숟가락에 입김을 불어 뿌옇게 되는 것을 봅니다.
주의
- 뜨거운 물은 쓰지 않습니다. 유리컵 대신 플라스틱 컵을 씁니다.
- 결과는 방의 온도와 습도에 따라 빠르기가 다릅니다. 5분 안에 변화가 적으면 몇 분 더 기다려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관찰 결과 정리]
목적: 세 가지 관찰 결과를 정리하고 예상과 비교합니다(목표 A·B·C).
시간: 약 3분
이렇게 말해 보세요
- “한 줄씩 처음과 5분 뒤를 말해 줄래? 활동지에 쓴 것을 보고 말해도 돼.”
- “예상과 다른 것이 있었어?”
예상 답
- 처음: 얼음 모양 그대로 / 손등이 젖음 / 컵 바깥이 말라 있음 / (물방울 없음)
- 5분 뒤: 얼음이 작아지고 접시에 물이 고임 / 손등이 마름 / 컵 바깥에 작은 물방울이 맺힘 / 물방울은 색이 없음
막히면
- 실물(접시, 컵)을 다시 보며 말하게 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얼음과 물(녹음과 얾)]
목적: 관찰 결과로 얼음(고체)이 녹아 물(액체)이 되고, 물이 얼면 다시 얼음이 된다는 것을 정리합니다(목표 A).
시간: 약 2분
이렇게 말해 보세요
- “접시의 물은 어디서 왔을까? 얼음이 녹아서 생긴 거지?”
- “이 물을 냉동실에 넣으면 어떻게 될까? 이렇게 물이 모습을 바꾸는 것을 ‘상태 변화’라고 해.”
예상 답
- “얼음이 녹은 거예요.” “다시 얼음이 돼요.”
막히면
- S18(보충)의 고체·액체 카드를 함께 봅니다.
주의
- ‘고체’, ‘액체’는 3학년 ‘물질의 상태’에서 쓰는 말입니다. 처음 듣는다면 ‘모양이 일정한 것’, ‘흐르는 것’으로 풀어 줍니다.
- 물이 얼 때와 얼음이 녹을 때 부피와 무게가 어떻게 되는지는 이 차시에서 다루지 않습니다(냉동실에서 몇 시간이 걸리는 실험이라 교과서 실험으로 따로 확인합니다).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결과로 설명하기(증발)]
목적: 손등의 물이 마른 결과를 증거로 증발을 설명합니다(목표 B, 오해 M1).
시간: 약 3분
이렇게 말해 보세요
- “손등의 물은 없어진 걸까? 아니야. 눈에 보이지 않는 ‘수증기’로 변해서 공기 속으로 퍼진 거야. 수증기는 기체야.”
- “물 표면에서 물이 수증기로 변하는 것을 ‘증발’이라고 해. 집에서 증발이 일어나는 곳을 찾아볼까?”
- “부채질을 하니까 더 빨리 말랐지? 바람이 불면 증발이 더 잘 돼.”
예상 답
- “빨래가 마르는 거요.” “비 온 뒤 물웅덩이가 없어지는 거요.”
막히면
- 활동지 3의 ‘접시 물 관찰’을 지금 시작합니다. 접시에 물 한 숟가락을 붓고 물 가장자리에 작은 스티커를 붙여 두면, 시간이 지나 물이 줄어드는 것을 볼 수 있습니다.
주의
- 물웅덩이가 없어지는 것은 땅으로 스며드는 것도 함께 일어납니다. 아이가 예로 들면 “증발도 일어나”라고만 답합니다.
- 활동지 3은 다 마를 때까지 몇 시간에서 하루가 걸립니다. 다음 수업을 시작할 때 결과를 함께 봅니다.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끓음 관찰 전 예상하기]
목적: 끓음을 관찰하기 전에 결과를 예상합니다(목표 B). 결과는 S09에서 확인합니다.
시간: 약 1분
이렇게 말해 보세요
- “라면 끓이는 것을 본 적 있지? 물이 끓을 때 물속에서는 무엇이 보일까? 물의 양은 어떻게 될까?”
예상 답
- 어떤 예상이든 괜찮습니다. “거품이 생겨요.” “물이 줄어들 것 같아요.” “그대로일 것 같아요.”
막히면
- “증발은 천천히 일어났지? 끓으면 어떨까?”라고 묻습니다.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끓음 관찰(부모 시범)]
목적: 부모의 시범(또는 교과서 영상)으로 물이 끓을 때 물속에서 기포가 생기는 것을 관찰합니다(목표 B, 오해 M3).
시간: 약 3분
이렇게 말해 보세요
- “냄비 바닥을 봐. 거품이 어디서 생겨서 어디로 올라가?”
- “이 거품은 물이 물속에서 수증기로 변한 거야. 거품 속에 수증기가 들어 있어.”
- “냄비 위로 나오는 하얀 김은 수증기가 식어서 생긴 아주 작은 물방울이야. 진짜 수증기는 눈에 보이지 않아.”
예상 답
- “바닥에서 거품이 생겨서 위로 올라와 터져요.” “물이 부글부글해요.”
막히면
- 불을 쓰기 어렵거나 아이가 집중하기 어려우면 교과서 디지털 자료의 끓음 영상으로 대신합니다.
주의
- 아이는 가스레인지에서 1 m 넘게 떨어진 의자에 앉아서 봅니다. 냄비 손잡이는 안쪽으로 돌려 두고, 김에 얼굴이나 손을 대지 않게 합니다.
- 끓기 전에 바닥에 생기는 아주 작은 거품은 물에 녹아 있던 공기입니다. 크게 부글부글 올라오는 기포가 수증기입니다.
- 물의 양이 줄어드는 것을 보려면 끓기 시작한 뒤 몇 분 더 끓이고, 다 식은 뒤 부모가 계량컵으로 재어 처음과 비교합니다. 뜨거운 물을 옮기지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증발과 끓음 비교]
목적: 증발과 끓음을 일어나는 곳과 빠르기로 비교합니다(목표 B, 오해 M4).
시간: 약 2분
이렇게 말해 보세요
- “증발과 끓음은 무엇이 같아? 무엇이 달라?”
- “손등의 물은 어디에서 수증기로 변했지? 냄비의 물은?”
예상 답
- “둘 다 물이 수증기가 돼요.” “끓음은 물속에서도 거품이 생기고 빨라요.”
막히면
- 표의 ‘일어나는 곳’ 줄만 먼저 보고, S09의 기포를 떠올리게 합니다.
주의
- 끓을 때는 물 표면에서도 증발이 함께 일어납니다. 아이가 물으면 “끓을 때는 물속에서도 수증기가 생기는 것이 다른 점이야”라고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결과로 설명하기(응결)]
목적: 컵 바깥 물방울의 색을 증거로 응결을 설명하고, 증발과 이어 줍니다(목표 C, 오해 M1·M2).
시간: 약 3분
이렇게 말해 보세요
- “컵 바깥 물방울은 어디서 왔을까? 휴지로 찍었을 때 무슨 색이었지?”
- “공기 속에는 눈에 보이지 않는 수증기가 있어. 수증기가 차가운 컵에 닿으면 식어서 물방울로 변해. 이것을 ‘응결’이라고 해.”
- “손등에서 증발한 수증기도 이렇게 다시 물이 될 수 있어.”
예상 답
- “보리차 색이 아니니까 컵 안의 물이 아니에요.” “공기 속 수증기예요.”
막히면
- S04의 휴지를 다시 보여 주거나, 차가운 숟가락에 입김을 불어 뿌옇게 되는 것을 보여 줍니다.
주의
- 아침에 풀잎에 맺히는 이슬, 욕실 거울이 뿌옇게 되는 것도 응결입니다. 아이가 예를 더 찾으면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오해 비교(컵 안의 물이 샜다)]
목적: 물방울이 컵 안에서 새어 나왔다는 생각을 관찰 결과로 반박합니다(목표 C, 오해 M2).
시간: 약 2분
이렇게 말해 보세요
- “토끼 말이 맞다면 물방울은 무슨 색이어야 할까? 실제로는 무슨 색이었어?”
- “또 다른 증거도 있을까? 컵에 구멍이 있었어?”
정답
- 곰. 증거: 컵 안의 보리차는 갈색인데 바깥 물방울은 색이 없었습니다.
- 또 다른 증거: 컵에 구멍이 없고, 물방울은 차가운 음료가 담긴 아래쪽 바깥에 고르게 맺혔습니다.
막히면
- 새 휴지로 물방울을 다시 찍어 보리차와 나란히 놓고 색을 비교합니다.
주의
- 증거를 하나 이상 말하면 잘한 것입니다. ‘그냥 그래요’라고 하면 “무엇을 보고 알 수 있어?”라고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생활 속 상태 변화 구별하기]
목적: 도움을 받으며 생활 속 현상을 증발·끓음·응결·얼음과 물의 변화로 구별합니다(목표 A·B·C).
시간: 약 2분
이렇게 말해 보세요
- “①부터 차례로 말해 볼래? 물이 무엇에서 무엇으로 변했는지 말하면 쉬워.”
정답
- ① 증발(물 → 수증기)
- ② 응결(수증기 → 물)
- ③ 물이 얼어 얼음이 됨(액체 → 고체)
- ④ 끓음(물 → 수증기, 물속에서도)
막히면
- S10의 표와 S11의 카드를 다시 보여 줍니다.
- ‘무엇에서 무엇으로’를 먼저 말하게 하고, 그에 맞는 이름을 고르게 합니다.
주의
- ②는 따뜻한 실내 공기 속 수증기가 차가워진 안경알에 닿아 생기는 응결입니다.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혼자 해결]
목적: 도움 없이 처음 보는 상황을 상태 변화로 설명하는지 확인합니다(목표 A·B·C).
시간: 약 3분
이렇게 말해 보세요
- “이번에는 혼자 답해 볼래? 왜 그렇게 생각했는지도 말해 줘.”
정답
- ① 얼음(고체)이 물(액체)로 변했다(얼음이 녹음)
- ② 수증기가 되어 공기 속으로 퍼졌다(증발)
- ③ 공기 속 수증기가 차가운 거울에 닿아 물방울로 변했다(응결)
- ④ 증발은 물 표면에서 천천히, 끓음은 물 표면과 물속에서 빠르게 일어난다(둘 중 하나를 말하면 맞음)
막히면
- 바로 알려 주지 말고 “오늘 관찰한 것 중 무엇과 비슷해?”라고만 묻습니다.
- 도움을 받아 해결했다면 기록표에 ‘도움’으로 표시합니다.
주의
- ②에서 ‘없어졌어요’라고 하면 오해 M1입니다. S07을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얼음 → 물(녹음) ② 수증기로 변해 공기 속으로(증발) ③ 수증기가 차가운 거울에서 물방울로(응결) ④ 일어나는 곳 또는 빠르기
막히면
- ①이 틀리면 S06으로, ②④가 틀리면 S07·S10으로, ③이 틀리면 S11·S12로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마무리 확인(응결)]
목적: 처음 보는 문제에서 응결로 설명하고 까닭을 말하는지 확인합니다(목표 C).
시간: 약 2분
이렇게 말해 보세요
- “오늘 컵 실험과 비슷하지? 어느 것이 맞을까? 왜 그렇게 생각해?”
정답
- 나. 공기 속 수증기가 차가운 캔 표면에 닿아 물방울로 변했습니다(응결). 캔은 닫혀 있어 음료가 새어 나오지 않고, 캔은 녹지 않습니다.
막히면
- S11의 카드와 S12의 비교를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정리와 다음 수업 복습]
목적: 핵심을 정리하고 다음 수업 첫 5분에 풀 복습 문제를 알려 줍니다.
시간: 약 1분
이렇게 말해 보세요
- “빨래의 물은 어디로 갔는지, 이제 설명해 볼래?”
예상 답
- “증발해서 수증기가 되어 공기 속으로 갔어요.”
정답
- ① 증발 ② 끓음 ③ 공기 속 수증기가 차가운 컵에 닿아 물방울로 변해서(응결)
막히면
- S07, S10, S11을 다시 보여 줍니다.
주의
- 복습 세 문제는 다음 수업을 시작할 때 활동지 마지막 쪽과 함께 풉니다. 그때 활동지 3(접시 물 관찰)의 결과도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선수 학습 보충(고체와 액체)]
목적: S02 ②가 흔들리면, 고체와 액체를 직접 만지고 그릇에 담아 비교하는 것부터 다시 합니다.
시간: 약 4분
이렇게 말해 보세요
- “얼음을 컵에서 접시로 옮겨 볼까? 모양이 바뀌었어?”
- “이번엔 물을 컵에서 접시로 부어 볼까? 모양이 어떻게 됐어?”
예상 답
- “얼음은 모양이 그대로예요.” “물은 접시 모양으로 퍼졌어요.”
막히면
- 모양이 다른 그릇 두세 개에 물을 차례로 부어 모양이 바뀌는 것을 보게 합니다.
주의
- 계획상 선수 차시는 ‘자석의 성질’(KR22-G04-SCI-MAGNET-L01)이지만 오늘 내용과 직접 이어지지는 않습니다. 고체·액체를 구별하기 어려우면 초3 ‘물체와 물질’(KR22-G03-SCI-MATERIAL-L01)을 먼저 다시 보고, 교과서의 ‘물질의 상태’ 단원으로 고체·액체·기체를 더 익힙니다.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자석과상태변화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물의 상태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물의 상태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물의 상태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상태 변화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빨래의 물은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갔을까?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얼음·물·수증기로 변하는 모습을 관찰해요.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증발·끓음·응결을 증거를 들어 설명해요.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자석의 같은 극끼리 마주 대면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되나요?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얼음과 물은 무엇이 다른가요?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손을 그냥 두면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동안 어떻게 변할까요?</a:t>
            </a:r>
            <a:endParaRPr lang="ko-KR" sz="30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1의 ‘예상’ 칸에 써요.</a:t>
            </a:r>
            <a:endParaRPr lang="ko-KR" sz="3000" dirty="0"/>
          </a:p>
        </p:txBody>
      </p:sp>
      <p:sp>
        <p:nvSpPr>
          <p:cNvPr id="6" name="S03-chip1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3-text1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위의 얼음</a:t>
            </a:r>
            <a:endParaRPr lang="ko-KR" sz="3000" dirty="0"/>
          </a:p>
        </p:txBody>
      </p:sp>
      <p:sp>
        <p:nvSpPr>
          <p:cNvPr id="8" name="S03-chip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3-text1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손등에 바른 물</a:t>
            </a:r>
            <a:endParaRPr lang="ko-KR" sz="3000" dirty="0"/>
          </a:p>
        </p:txBody>
      </p:sp>
      <p:sp>
        <p:nvSpPr>
          <p:cNvPr id="10" name="S03-chip1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3-text1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보리차를 담은 컵의 바깥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함께 관찰해요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찬물과 얼음만 써요. 흘린 물은 바로 닦아요.</a:t>
            </a:r>
            <a:endParaRPr lang="ko-KR" sz="3000" dirty="0"/>
          </a:p>
        </p:txBody>
      </p:sp>
      <p:sp>
        <p:nvSpPr>
          <p:cNvPr id="5" name="S04-card2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시작과 5분 뒤 시각을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컵 바깥 물방울을 휴지로 찍어 색을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3000" dirty="0"/>
          </a:p>
        </p:txBody>
      </p:sp>
      <p:sp>
        <p:nvSpPr>
          <p:cNvPr id="7" name="S04-stepno22"/>
          <p:cNvSpPr txBox="1"/>
          <p:nvPr/>
        </p:nvSpPr>
        <p:spPr>
          <a:xfrm>
            <a:off x="548640" y="17297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23"/>
          <p:cNvSpPr txBox="1"/>
          <p:nvPr/>
        </p:nvSpPr>
        <p:spPr>
          <a:xfrm>
            <a:off x="1325880" y="168402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얼음과 보리차를 담고 바깥을 닦아요.</a:t>
            </a:r>
            <a:endParaRPr lang="ko-KR" sz="2400" dirty="0"/>
          </a:p>
        </p:txBody>
      </p:sp>
      <p:sp>
        <p:nvSpPr>
          <p:cNvPr id="9" name="S04-stepno24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5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접시에 얼음 한 조각을 놓아요.</a:t>
            </a:r>
            <a:endParaRPr lang="ko-KR" sz="2400" dirty="0"/>
          </a:p>
        </p:txBody>
      </p:sp>
      <p:sp>
        <p:nvSpPr>
          <p:cNvPr id="11" name="S04-stepno26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7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손등에 물을 바르고 살살 부채질해요.</a:t>
            </a:r>
            <a:endParaRPr lang="ko-KR" sz="2400" dirty="0"/>
          </a:p>
        </p:txBody>
      </p:sp>
      <p:sp>
        <p:nvSpPr>
          <p:cNvPr id="13" name="S04-stepno28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4-text29"/>
          <p:cNvSpPr txBox="1"/>
          <p:nvPr/>
        </p:nvSpPr>
        <p:spPr>
          <a:xfrm>
            <a:off x="1325880" y="401878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뒤 세 가지를 살펴 활동지 1에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3000" dirty="0"/>
          </a:p>
        </p:txBody>
      </p:sp>
      <p:sp>
        <p:nvSpPr>
          <p:cNvPr id="4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3000" dirty="0"/>
          </a:p>
        </p:txBody>
      </p:sp>
      <p:graphicFrame>
        <p:nvGraphicFramePr>
          <p:cNvPr id="6" name="S05-table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54680"/>
                <a:gridCol w="315468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접시 위의 얼음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손등에 바른 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 보리차 컵의 바깥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 바깥 물방울의 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얼음과 물</a:t>
            </a:r>
            <a:endParaRPr lang="ko-KR" sz="4000" dirty="0"/>
          </a:p>
        </p:txBody>
      </p:sp>
      <p:sp>
        <p:nvSpPr>
          <p:cNvPr id="3" name="S06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위의 얼음이 녹아 물이 되었어요.</a:t>
            </a:r>
            <a:endParaRPr lang="ko-KR" sz="3000" dirty="0"/>
          </a:p>
        </p:txBody>
      </p:sp>
      <p:sp>
        <p:nvSpPr>
          <p:cNvPr id="4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녹으면 물이 되고, 물이 얼면 얼음이 돼요.</a:t>
            </a:r>
            <a:endParaRPr lang="ko-KR" sz="3000" dirty="0"/>
          </a:p>
        </p:txBody>
      </p:sp>
      <p:graphicFrame>
        <p:nvGraphicFramePr>
          <p:cNvPr id="7" name="S06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3419856"/>
                <a:gridCol w="442569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그릇에 따라 바뀌어요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손으로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잡을 수 있어요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흘러내려요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손등의 물은 어디로 갔을까요?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눈에 보이지 않는 수증기가 되어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속으로 퍼졌어요.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수증기는 기체라서 눈에 보이지 않아요.</a:t>
            </a:r>
            <a:endParaRPr lang="ko-KR" sz="3000" dirty="0"/>
          </a:p>
        </p:txBody>
      </p:sp>
      <p:sp>
        <p:nvSpPr>
          <p:cNvPr id="6" name="S07-card41"/>
          <p:cNvSpPr/>
          <p:nvPr/>
        </p:nvSpPr>
        <p:spPr>
          <a:xfrm>
            <a:off x="548640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2"/>
          <p:cNvSpPr txBox="1"/>
          <p:nvPr/>
        </p:nvSpPr>
        <p:spPr>
          <a:xfrm>
            <a:off x="822960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표면에서 물이 수증기로 변하는 것</a:t>
            </a:r>
            <a:endParaRPr lang="ko-KR" sz="3000" dirty="0"/>
          </a:p>
        </p:txBody>
      </p:sp>
      <p:sp>
        <p:nvSpPr>
          <p:cNvPr id="8" name="S07-card43"/>
          <p:cNvSpPr/>
          <p:nvPr/>
        </p:nvSpPr>
        <p:spPr>
          <a:xfrm>
            <a:off x="6208776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44"/>
          <p:cNvSpPr txBox="1"/>
          <p:nvPr/>
        </p:nvSpPr>
        <p:spPr>
          <a:xfrm>
            <a:off x="6483096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증발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빨래가 말라요. 젖은 머리가 말라요.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끓음을 예상해 봐요</a:t>
            </a:r>
            <a:endParaRPr lang="ko-KR" sz="4000" dirty="0"/>
          </a:p>
        </p:txBody>
      </p:sp>
      <p:sp>
        <p:nvSpPr>
          <p:cNvPr id="3" name="S08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냄비의 물을 불에 올려 끓이면?</a:t>
            </a:r>
            <a:endParaRPr lang="ko-KR" sz="3000" dirty="0"/>
          </a:p>
        </p:txBody>
      </p:sp>
      <p:sp>
        <p:nvSpPr>
          <p:cNvPr id="4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2의 ‘예상’ 칸에 써요.</a:t>
            </a:r>
            <a:endParaRPr lang="ko-KR" sz="3000" dirty="0"/>
          </a:p>
        </p:txBody>
      </p:sp>
      <p:sp>
        <p:nvSpPr>
          <p:cNvPr id="6" name="S08-chip4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4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끓을 때 물속에서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 수 있을까요?</a:t>
            </a:r>
            <a:endParaRPr lang="ko-KR" sz="3000" dirty="0"/>
          </a:p>
        </p:txBody>
      </p:sp>
      <p:sp>
        <p:nvSpPr>
          <p:cNvPr id="8" name="S08-chip5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1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끓이면 물의 양은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끓음은 멀리서 봐요</a:t>
            </a:r>
            <a:endParaRPr lang="ko-KR" sz="4000" dirty="0"/>
          </a:p>
        </p:txBody>
      </p:sp>
      <p:sp>
        <p:nvSpPr>
          <p:cNvPr id="3" name="S09-card5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불·뜨거운 물·김은 어른만 다뤄요. 교과서 영상으로 봐도 돼요.</a:t>
            </a:r>
            <a:endParaRPr lang="ko-KR" sz="3000" dirty="0"/>
          </a:p>
        </p:txBody>
      </p:sp>
      <p:sp>
        <p:nvSpPr>
          <p:cNvPr id="5" name="S09-card54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55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거품이 어디서 생기는지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가까이 가지 않고 관찰해요</a:t>
            </a:r>
            <a:endParaRPr lang="ko-KR" sz="3000" dirty="0"/>
          </a:p>
        </p:txBody>
      </p:sp>
      <p:sp>
        <p:nvSpPr>
          <p:cNvPr id="7" name="S09-stepno56"/>
          <p:cNvSpPr txBox="1"/>
          <p:nvPr/>
        </p:nvSpPr>
        <p:spPr>
          <a:xfrm>
            <a:off x="548640" y="1586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57"/>
          <p:cNvSpPr txBox="1"/>
          <p:nvPr/>
        </p:nvSpPr>
        <p:spPr>
          <a:xfrm>
            <a:off x="1325880" y="15864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냄비에 물을 담아 불에 올려요.</a:t>
            </a:r>
            <a:endParaRPr lang="ko-KR" sz="2400" dirty="0"/>
          </a:p>
        </p:txBody>
      </p:sp>
      <p:sp>
        <p:nvSpPr>
          <p:cNvPr id="9" name="S09-stepno58"/>
          <p:cNvSpPr txBox="1"/>
          <p:nvPr/>
        </p:nvSpPr>
        <p:spPr>
          <a:xfrm>
            <a:off x="548640" y="2299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59"/>
          <p:cNvSpPr txBox="1"/>
          <p:nvPr/>
        </p:nvSpPr>
        <p:spPr>
          <a:xfrm>
            <a:off x="1325880" y="22997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의자에 앉아 떨어져서 물속을 봐요.</a:t>
            </a:r>
            <a:endParaRPr lang="ko-KR" sz="2400" dirty="0"/>
          </a:p>
        </p:txBody>
      </p:sp>
      <p:sp>
        <p:nvSpPr>
          <p:cNvPr id="11" name="S09-stepno60"/>
          <p:cNvSpPr txBox="1"/>
          <p:nvPr/>
        </p:nvSpPr>
        <p:spPr>
          <a:xfrm>
            <a:off x="548640" y="30586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61"/>
          <p:cNvSpPr txBox="1"/>
          <p:nvPr/>
        </p:nvSpPr>
        <p:spPr>
          <a:xfrm>
            <a:off x="1325880" y="301294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물속에서 생기는 거품(기포)을 찾아요.</a:t>
            </a:r>
            <a:endParaRPr lang="ko-KR" sz="2400" dirty="0"/>
          </a:p>
        </p:txBody>
      </p:sp>
      <p:sp>
        <p:nvSpPr>
          <p:cNvPr id="13" name="S09-stepno62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63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것을 활동지 2에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증발과 끓음</a:t>
            </a:r>
            <a:endParaRPr lang="ko-KR" sz="4000" dirty="0"/>
          </a:p>
        </p:txBody>
      </p:sp>
      <p:sp>
        <p:nvSpPr>
          <p:cNvPr id="3" name="S10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물이 수증기로 변하는 상태 변화예요.</a:t>
            </a:r>
            <a:endParaRPr lang="ko-KR" sz="3000" dirty="0"/>
          </a:p>
        </p:txBody>
      </p:sp>
      <p:graphicFrame>
        <p:nvGraphicFramePr>
          <p:cNvPr id="11" name="S10-table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941830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3890772"/>
                <a:gridCol w="389077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끓음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변하는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→ 수증기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→ 수증기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일어나는 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표면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표면과 물속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천천히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빨래가 말라요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라면 물이 끓어요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바깥의 물방울</a:t>
            </a:r>
            <a:endParaRPr lang="ko-KR" sz="4000" dirty="0"/>
          </a:p>
        </p:txBody>
      </p:sp>
      <p:sp>
        <p:nvSpPr>
          <p:cNvPr id="3" name="S11-text6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수증기가 차가운 컵에 닿아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물방울로 변했어요.</a:t>
            </a:r>
            <a:endParaRPr lang="ko-KR" sz="3000" dirty="0"/>
          </a:p>
        </p:txBody>
      </p:sp>
      <p:sp>
        <p:nvSpPr>
          <p:cNvPr id="4" name="S11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증발한 수증기가 차가운 곳에서 다시 물이 돼요.</a:t>
            </a:r>
            <a:endParaRPr lang="ko-KR" sz="3000" dirty="0"/>
          </a:p>
        </p:txBody>
      </p:sp>
      <p:sp>
        <p:nvSpPr>
          <p:cNvPr id="6" name="S11-card70"/>
          <p:cNvSpPr/>
          <p:nvPr/>
        </p:nvSpPr>
        <p:spPr>
          <a:xfrm>
            <a:off x="548640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71"/>
          <p:cNvSpPr txBox="1"/>
          <p:nvPr/>
        </p:nvSpPr>
        <p:spPr>
          <a:xfrm>
            <a:off x="822960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변하는 것</a:t>
            </a:r>
            <a:endParaRPr lang="ko-KR" sz="3000" dirty="0"/>
          </a:p>
        </p:txBody>
      </p:sp>
      <p:sp>
        <p:nvSpPr>
          <p:cNvPr id="8" name="S11-card72"/>
          <p:cNvSpPr/>
          <p:nvPr/>
        </p:nvSpPr>
        <p:spPr>
          <a:xfrm>
            <a:off x="4322064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73"/>
          <p:cNvSpPr txBox="1"/>
          <p:nvPr/>
        </p:nvSpPr>
        <p:spPr>
          <a:xfrm>
            <a:off x="4596384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물방울은 보리차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아니었어요.</a:t>
            </a:r>
            <a:endParaRPr lang="ko-KR" sz="3000" dirty="0"/>
          </a:p>
        </p:txBody>
      </p:sp>
      <p:sp>
        <p:nvSpPr>
          <p:cNvPr id="10" name="S11-card74"/>
          <p:cNvSpPr/>
          <p:nvPr/>
        </p:nvSpPr>
        <p:spPr>
          <a:xfrm>
            <a:off x="8095488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5"/>
          <p:cNvSpPr txBox="1"/>
          <p:nvPr/>
        </p:nvSpPr>
        <p:spPr>
          <a:xfrm>
            <a:off x="8369808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응결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날 안경이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뿌옇게 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2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보리차 컵 바깥에 물방울이 생겼어요.</a:t>
            </a:r>
            <a:endParaRPr lang="ko-KR" sz="3000" dirty="0"/>
          </a:p>
        </p:txBody>
      </p:sp>
      <p:sp>
        <p:nvSpPr>
          <p:cNvPr id="5" name="S12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2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2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안의 보리차가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새어 나왔어요.</a:t>
            </a:r>
            <a:endParaRPr lang="ko-KR" sz="3000" dirty="0"/>
          </a:p>
        </p:txBody>
      </p:sp>
      <p:sp>
        <p:nvSpPr>
          <p:cNvPr id="9" name="S12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2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수증기가 차가운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닿아 생겼어요.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변화일까요?</a:t>
            </a:r>
            <a:endParaRPr lang="ko-KR" sz="4000" dirty="0"/>
          </a:p>
        </p:txBody>
      </p:sp>
      <p:sp>
        <p:nvSpPr>
          <p:cNvPr id="3" name="S13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상태 변화인지 말해요.</a:t>
            </a:r>
            <a:endParaRPr lang="ko-KR" sz="3000" dirty="0"/>
          </a:p>
        </p:txBody>
      </p:sp>
      <p:sp>
        <p:nvSpPr>
          <p:cNvPr id="4" name="S13-card8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8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증발·끓음·응결이나 ‘얼음이 녹아요’·‘물이 얼어요’로 말해요.</a:t>
            </a:r>
            <a:endParaRPr lang="ko-KR" sz="3000" dirty="0"/>
          </a:p>
        </p:txBody>
      </p:sp>
      <p:sp>
        <p:nvSpPr>
          <p:cNvPr id="6" name="S13-chip87"/>
          <p:cNvSpPr txBox="1"/>
          <p:nvPr/>
        </p:nvSpPr>
        <p:spPr>
          <a:xfrm>
            <a:off x="548640" y="23622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ext88"/>
          <p:cNvSpPr txBox="1"/>
          <p:nvPr/>
        </p:nvSpPr>
        <p:spPr>
          <a:xfrm>
            <a:off x="1344168" y="2011680"/>
            <a:ext cx="4567428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빨래가 말라요.</a:t>
            </a:r>
            <a:endParaRPr lang="ko-KR" sz="3000" dirty="0"/>
          </a:p>
        </p:txBody>
      </p:sp>
      <p:sp>
        <p:nvSpPr>
          <p:cNvPr id="8" name="S13-chip89"/>
          <p:cNvSpPr txBox="1"/>
          <p:nvPr/>
        </p:nvSpPr>
        <p:spPr>
          <a:xfrm>
            <a:off x="6277356" y="23622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ext90"/>
          <p:cNvSpPr txBox="1"/>
          <p:nvPr/>
        </p:nvSpPr>
        <p:spPr>
          <a:xfrm>
            <a:off x="7072884" y="2011680"/>
            <a:ext cx="4567428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날 안경이 뿌예져요.</a:t>
            </a:r>
            <a:endParaRPr lang="ko-KR" sz="3000" dirty="0"/>
          </a:p>
        </p:txBody>
      </p:sp>
      <p:sp>
        <p:nvSpPr>
          <p:cNvPr id="10" name="S13-chip91"/>
          <p:cNvSpPr txBox="1"/>
          <p:nvPr/>
        </p:nvSpPr>
        <p:spPr>
          <a:xfrm>
            <a:off x="548640" y="3813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3-text92"/>
          <p:cNvSpPr txBox="1"/>
          <p:nvPr/>
        </p:nvSpPr>
        <p:spPr>
          <a:xfrm>
            <a:off x="1344168" y="3462528"/>
            <a:ext cx="4567428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냉동실의 물이 얼음이 돼요.</a:t>
            </a:r>
            <a:endParaRPr lang="ko-KR" sz="3000" dirty="0"/>
          </a:p>
        </p:txBody>
      </p:sp>
      <p:sp>
        <p:nvSpPr>
          <p:cNvPr id="12" name="S13-chip93"/>
          <p:cNvSpPr txBox="1"/>
          <p:nvPr/>
        </p:nvSpPr>
        <p:spPr>
          <a:xfrm>
            <a:off x="6277356" y="3813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3-text94"/>
          <p:cNvSpPr txBox="1"/>
          <p:nvPr/>
        </p:nvSpPr>
        <p:spPr>
          <a:xfrm>
            <a:off x="7072884" y="3462528"/>
            <a:ext cx="4567428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라면 물이 부글부글 끓어요.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chip9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4-text9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고드름이 녹아요. 무엇이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변했나요?</a:t>
            </a:r>
            <a:endParaRPr lang="ko-KR" sz="3000" dirty="0"/>
          </a:p>
        </p:txBody>
      </p:sp>
      <p:sp>
        <p:nvSpPr>
          <p:cNvPr id="5" name="S14-chip9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4-text9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우산이 말랐어요.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어디로 갔나요?</a:t>
            </a:r>
            <a:endParaRPr lang="ko-KR" sz="3000" dirty="0"/>
          </a:p>
        </p:txBody>
      </p:sp>
      <p:sp>
        <p:nvSpPr>
          <p:cNvPr id="7" name="S14-chip9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4-text10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욕실 거울이 뿌예졌어요.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무엇일까요?</a:t>
            </a:r>
            <a:endParaRPr lang="ko-KR" sz="3000" dirty="0"/>
          </a:p>
        </p:txBody>
      </p:sp>
      <p:sp>
        <p:nvSpPr>
          <p:cNvPr id="9" name="S14-chip10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0" name="S14-text10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증발과 끓음의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 한 가지는?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5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무엇에서 무엇으로 변했는지 말하면 맞아요.</a:t>
            </a:r>
            <a:endParaRPr lang="ko-KR" sz="3000" dirty="0"/>
          </a:p>
        </p:txBody>
      </p:sp>
      <p:sp>
        <p:nvSpPr>
          <p:cNvPr id="5" name="S15-chip10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5-text106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얼음 → 물</a:t>
            </a:r>
            <a:endParaRPr lang="ko-KR" sz="3000" dirty="0"/>
          </a:p>
        </p:txBody>
      </p:sp>
      <p:sp>
        <p:nvSpPr>
          <p:cNvPr id="7" name="S15-text107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녹음</a:t>
            </a:r>
            <a:endParaRPr lang="ko-KR" sz="2400" dirty="0"/>
          </a:p>
        </p:txBody>
      </p:sp>
      <p:sp>
        <p:nvSpPr>
          <p:cNvPr id="8" name="S15-text108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수증기가 됨</a:t>
            </a:r>
            <a:endParaRPr lang="ko-KR" sz="3000" dirty="0"/>
          </a:p>
        </p:txBody>
      </p:sp>
      <p:sp>
        <p:nvSpPr>
          <p:cNvPr id="9" name="S15-text109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</a:t>
            </a:r>
            <a:endParaRPr lang="ko-KR" sz="2400" dirty="0"/>
          </a:p>
        </p:txBody>
      </p:sp>
      <p:sp>
        <p:nvSpPr>
          <p:cNvPr id="10" name="S15-text110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수증기 → 물</a:t>
            </a:r>
            <a:endParaRPr lang="ko-KR" sz="3000" dirty="0"/>
          </a:p>
        </p:txBody>
      </p:sp>
      <p:sp>
        <p:nvSpPr>
          <p:cNvPr id="11" name="S15-text111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응결</a:t>
            </a:r>
            <a:endParaRPr lang="ko-KR" sz="2400" dirty="0"/>
          </a:p>
        </p:txBody>
      </p:sp>
      <p:sp>
        <p:nvSpPr>
          <p:cNvPr id="12" name="S15-text112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일어나는 곳</a:t>
            </a:r>
            <a:endParaRPr lang="ko-KR" sz="3000" dirty="0"/>
          </a:p>
        </p:txBody>
      </p:sp>
      <p:sp>
        <p:nvSpPr>
          <p:cNvPr id="13" name="S15-text113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표면 / 물속까지</a:t>
            </a:r>
            <a:endParaRPr lang="ko-KR" sz="2400" dirty="0"/>
          </a:p>
        </p:txBody>
      </p:sp>
      <p:sp>
        <p:nvSpPr>
          <p:cNvPr id="14" name="S15-chip11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5-text11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없어졌어요</a:t>
            </a:r>
            <a:endParaRPr lang="ko-KR" sz="3000" dirty="0"/>
          </a:p>
        </p:txBody>
      </p:sp>
      <p:sp>
        <p:nvSpPr>
          <p:cNvPr id="16" name="S15-text11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수증기로 변함(M1)</a:t>
            </a:r>
            <a:endParaRPr lang="ko-KR" sz="2400" dirty="0"/>
          </a:p>
        </p:txBody>
      </p:sp>
      <p:sp>
        <p:nvSpPr>
          <p:cNvPr id="17" name="S15-text11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물이 튀었어요</a:t>
            </a:r>
            <a:endParaRPr lang="ko-KR" sz="3000" dirty="0"/>
          </a:p>
        </p:txBody>
      </p:sp>
      <p:sp>
        <p:nvSpPr>
          <p:cNvPr id="18" name="S15-text11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수증기(M2)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물방울은 어디서 왔을까요?</a:t>
            </a:r>
            <a:endParaRPr lang="ko-KR" sz="4000" dirty="0"/>
          </a:p>
        </p:txBody>
      </p:sp>
      <p:sp>
        <p:nvSpPr>
          <p:cNvPr id="3" name="S16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냉장고에서 꺼낸 차가운 캔 바깥에 물방울이 생겼어요.</a:t>
            </a:r>
            <a:endParaRPr lang="ko-KR" sz="3000" dirty="0"/>
          </a:p>
        </p:txBody>
      </p:sp>
      <p:sp>
        <p:nvSpPr>
          <p:cNvPr id="4" name="S16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3000" dirty="0"/>
          </a:p>
        </p:txBody>
      </p:sp>
      <p:sp>
        <p:nvSpPr>
          <p:cNvPr id="6" name="S16-chip12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6-card12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6-cardtext12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안의 음료가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새어 나왔어요.</a:t>
            </a:r>
            <a:endParaRPr lang="ko-KR" sz="3000" dirty="0"/>
          </a:p>
        </p:txBody>
      </p:sp>
      <p:sp>
        <p:nvSpPr>
          <p:cNvPr id="9" name="S16-chip12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6-card12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2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수증기가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응결했어요.</a:t>
            </a:r>
            <a:endParaRPr lang="ko-KR" sz="3000" dirty="0"/>
          </a:p>
        </p:txBody>
      </p:sp>
      <p:sp>
        <p:nvSpPr>
          <p:cNvPr id="12" name="S16-chip12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6-card12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6-cardtext13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캔이 녹아서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3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3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얼음·물·수증기로 상태가 변해요. 증발·끓음은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수증기로, 응결은 수증기가 물로 변하는 거예요.</a:t>
            </a:r>
            <a:endParaRPr lang="ko-KR" sz="3000" dirty="0"/>
          </a:p>
        </p:txBody>
      </p:sp>
      <p:sp>
        <p:nvSpPr>
          <p:cNvPr id="5" name="S17-chip13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증거를 들어 설명하기</a:t>
            </a:r>
            <a:endParaRPr lang="ko-KR" sz="2400" dirty="0"/>
          </a:p>
        </p:txBody>
      </p:sp>
      <p:sp>
        <p:nvSpPr>
          <p:cNvPr id="6" name="S17-chip13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물이 그냥 사라졌다고 생각하기</a:t>
            </a:r>
            <a:endParaRPr lang="ko-KR" sz="2400" dirty="0"/>
          </a:p>
        </p:txBody>
      </p:sp>
      <p:sp>
        <p:nvSpPr>
          <p:cNvPr id="7" name="S17-text13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3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젖은 빨래가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마르는 것은?</a:t>
            </a:r>
            <a:endParaRPr lang="ko-KR" sz="2400" dirty="0"/>
          </a:p>
        </p:txBody>
      </p:sp>
      <p:sp>
        <p:nvSpPr>
          <p:cNvPr id="9" name="S17-text13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물속에서도 수증기로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변하는 것은?</a:t>
            </a:r>
            <a:endParaRPr lang="ko-KR" sz="2400" dirty="0"/>
          </a:p>
        </p:txBody>
      </p:sp>
      <p:sp>
        <p:nvSpPr>
          <p:cNvPr id="10" name="S17-text13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찬 컵 바깥에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물방울이 생기는 까닭은?</a:t>
            </a:r>
            <a:endParaRPr lang="ko-KR" sz="2400" dirty="0"/>
          </a:p>
        </p:txBody>
      </p:sp>
      <p:sp>
        <p:nvSpPr>
          <p:cNvPr id="11" name="S17-text13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흐르는 물과 땅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고체와 액체</a:t>
            </a:r>
            <a:endParaRPr lang="ko-KR" sz="4000" dirty="0"/>
          </a:p>
        </p:txBody>
      </p:sp>
      <p:sp>
        <p:nvSpPr>
          <p:cNvPr id="3" name="S18-text1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보고 모양을 비교해요.</a:t>
            </a:r>
            <a:endParaRPr lang="ko-KR" sz="3000" dirty="0"/>
          </a:p>
        </p:txBody>
      </p:sp>
      <p:sp>
        <p:nvSpPr>
          <p:cNvPr id="4" name="S18-card1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8-cardtext1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얼음과 물은 같은 물이지만 상태가 달라요.</a:t>
            </a:r>
            <a:endParaRPr lang="ko-KR" sz="3000" dirty="0"/>
          </a:p>
        </p:txBody>
      </p:sp>
      <p:sp>
        <p:nvSpPr>
          <p:cNvPr id="6" name="S18-card143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8-cardtext144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고체: 얼음, 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크기가 일정해요.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잡을 수 있어요.</a:t>
            </a:r>
            <a:endParaRPr lang="ko-KR" sz="3000" dirty="0"/>
          </a:p>
        </p:txBody>
      </p:sp>
      <p:sp>
        <p:nvSpPr>
          <p:cNvPr id="8" name="S18-card145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8-cardtext146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액체: 물, 주스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담는 그릇에 따라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흘러내려요.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물의 상태 변화</dc:title>
  <dc:subject>KR22-G04-SCI-WATERSTATE-L01</dc:subject>
  <dc:creator>education-ppt</dc:creator>
  <cp:lastModifiedBy>education-ppt</cp:lastModifiedBy>
  <cp:revision>1</cp:revision>
  <dcterms:created xsi:type="dcterms:W3CDTF">2026-10-26T09:53:12Z</dcterms:created>
  <dcterms:modified xsi:type="dcterms:W3CDTF">2026-10-26T09:53:12Z</dcterms:modified>
</cp:coreProperties>
</file>