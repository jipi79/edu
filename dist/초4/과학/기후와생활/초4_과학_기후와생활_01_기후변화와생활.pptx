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b457add-d70b-488d-cc19-fc62f78bd321}">
          <p14:sldIdLst>
            <p14:sldId id="256"/>
            <p14:sldId id="257"/>
          </p14:sldIdLst>
        </p14:section>
        <p14:section name="개념" id="{eef1a6cb-fcc4-d549-bf29-e9e2b4eea60b}">
          <p14:sldIdLst>
            <p14:sldId id="258"/>
            <p14:sldId id="261"/>
            <p14:sldId id="262"/>
            <p14:sldId id="267"/>
          </p14:sldIdLst>
        </p14:section>
        <p14:section name="연습" id="{db689d38-0d7e-8467-cebe-cc816298cfba}">
          <p14:sldIdLst>
            <p14:sldId id="259"/>
            <p14:sldId id="260"/>
            <p14:sldId id="263"/>
            <p14:sldId id="264"/>
            <p14:sldId id="265"/>
            <p14:sldId id="266"/>
            <p14:sldId id="268"/>
          </p14:sldIdLst>
        </p14:section>
        <p14:section name="개념" id="{f9bc604e-35cf-2fd2-1cb0-a9df680443bc}">
          <p14:sldIdLst/>
        </p14:section>
        <p14:section name="연습" id="{4e39b3d3-8e16-4bc4-36e9-2ee1737cd8b7}">
          <p14:sldIdLst/>
        </p14:section>
        <p14:section name="개념" id="{e86ff728-ef97-6346-8050-b22313390d7e}">
          <p14:sldIdLst/>
        </p14:section>
        <p14:section name="연습" id="{96e55c05-5ac7-ce16-7a17-3138f7d0df61}">
          <p14:sldIdLst/>
        </p14:section>
        <p14:section name="확인" id="{d4fbe643-7043-4efd-4edf-86ad059b0dbd}">
          <p14:sldIdLst>
            <p14:sldId id="269"/>
            <p14:sldId id="270"/>
            <p14:sldId id="271"/>
          </p14:sldIdLst>
        </p14:section>
        <p14:section name="정리" id="{9e01a9df-b80b-87db-5030-5615460ad0ec}">
          <p14:sldIdLst>
            <p14:sldId id="272"/>
          </p14:sldIdLst>
        </p14:section>
        <p14:section name="보충" id="{9c4a0d77-4e69-9c4d-1975-95096076ca9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생활 속 변화에 관심을 갖게 합니다.
시간: 약 2분
이렇게 말해 보세요
- “할머니, 할아버지가 어렸을 때보다 요즘 여름이 더 덥다는 이야기를 들어 본 적 있어?”
- “오늘은 날씨와 기후가 어떻게 다른지 알아보고, 우리 집에서 할 수 있는 일을 직접 찾아볼 거야.”
예상 답
- “네, 요즘 더 덥대요.” “잘 모르겠어요.” 어떤 답이든 괜찮습니다.
막히면
- “올여름에 에어컨을 많이 켰던 날이 있었지?”처럼 아이의 경험을 떠올리게 합니다.
주의
- 기후변화는 아이가 불안해할 수 있는 주제입니다. 겁을 주는 말 대신, 과학자와 많은 사람들이 함께 해결하려고 노력하고 있고 우리도 할 수 있는 일이 있다는 데 초점을 둡니다.
- S09(우리 집 에너지 탐정)에서 집 안을 돌아다니므로, 방문을 열어 두고 부모가 함께 다닙니다.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확인(기체의 성질, 날씨)]
목적: 계획상 선수 차시인 ‘기체의 성질’(KR22-G04-SCI-AIR-L01)에서 배운 공기(기체)의 성질을 확인합니다. 오늘 ‘공기 속 기체(온실가스)가 늘어나 지구가 따뜻해진다’(S07)를 이해할 때 필요합니다. ③은 날씨를 말하는 경험을 떠올립니다.
시간: 약 2분
이렇게 말해 보세요
- “① 지난 시간에 공에 공기를 넣고 무게를 재어 봤지? 어떻게 됐어? 그래서 공기는 어떤 성질이 있었지?”
- “② 지구는 공기로 둘러싸여 있어. 공기는 고체, 액체, 기체 중 무엇일까?”
- “③ 오늘 날씨는 어때? 맑아, 흐려? 더워, 추워?”
예상 답
- ③ “맑고 조금 추워요.” “비가 와요.” 본 대로 말하면 맞습니다.
정답
- ① 무거웠다(공기에도 무게가 있다)
- ② 기체
막히면
- ①②가 흔들리면 S18(보충)을 먼저 합니다. 보충으로도 어려우면 ‘기체의 성질’(KR22-G04-SCI-AIR-L01)의 S06·S12를 다시 봅니다.
주의
- ③은 S03에서 ‘날씨’의 예로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날씨와 기후의 구별]
목적: 날씨와 기후를 기간으로 구별하고, 기후변화의 뜻을 알려 줍니다(목표 A, 오해 M1).
시간: 약 3분
이렇게 말해 보세요
- “오늘 비가 오는 것은 ‘날씨’야. 그날그날 바뀌지.”
- “‘우리나라 여름은 덥고 비가 많다’처럼 아주 오랫동안의 날씨를 평균 내어 말하는 것을 ‘기후’라고 해. 과학자들은 보통 30년쯤의 기록을 봐.”
- “그 기후가 오랜 시간에 걸쳐 바뀌는 것이 ‘기후변화’야.”
예상 답
- “날씨는 하루, 기후는 아주 오래예요.”
막히면
- “날씨는 오늘 입을 옷을 정할 때, 기후는 그 지역에서 어떤 집을 짓고 어떤 농사를 지을지 정할 때 생각하는 거야.”라고 비유해 줍니다.
주의
- 기후는 ‘보통 그렇다’는 평균이라서, 그해 어느 날이 아주 추워도 기후가 바뀌지 않았다는 뜻은 아닙니다(S05에서 다룹니다).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날씨와 기후 구별 연습]
목적: 도움을 받으며 문장을 날씨와 기후로 나눕니다(목표 A, 오해 M1). 활동지 1에서 한 번 더 합니다.
시간: 약 2분
이렇게 말해 보세요
- “①부터 말해 볼래? 하루의 일이야, 오랫동안 보통 그런 거야?”
정답
- ① 날씨
- ② 기후
- ③ 날씨
- ④ 기후
막히면
- 문장에서 ‘내일’, ‘오늘 오후’, ‘해마다’, ‘대체로’ 같은 때를 나타내는 말에 손가락을 대게 합니다.
주의
- ‘해마다’, ‘대체로’, ‘보통’ 같은 말이 기후의 단서입니다.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오해 비교(며칠 날씨로 판단)]
목적: 며칠의 날씨로 기후변화를 판단하는 생각을 날씨와 기후의 차이로 바로잡습니다(목표 A, 오해 M1).
시간: 약 2분
이렇게 말해 보세요
- “토끼는 며칠 추웠으니 지구가 따뜻해지지 않는대. 곰은 오랫동안의 기록을 봐야 한대. 누구 말이 맞을까?”
- “며칠 추운 것은 날씨일까, 기후일까?”
정답
- 곰. 며칠 추운 것은 날씨이고, 기후변화는 수십 년 동안의 기록(평균 기온 등)을 보아야 알 수 있습니다. 지구가 전체적으로 따뜻해지는 중에도 추운 날은 있습니다.
막히면
- S03 표의 ‘기간’ 줄을 다시 보여 줍니다.
주의
- ‘판단하는 근거(오랜 기록)’를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생활 속 기후변화 사례]
목적: 기후변화가 우리 생활에서도 나타난다는 것을 사례로 알아봅니다(목표 A, 오해 M2).
시간: 약 3분
이렇게 말해 보세요
- “네 가지 중에서 들어 본 것이 있어? 우리 동네에서는 어떤 변화를 느낄 수 있을까?”
- “이건 누가 어떻게 알아냈을까? 날마다 기온과 비를 재고, 꽃이 핀 날을 적어 온 기록을 오랫동안 모아서 알아냈어.”
예상 답
- “여름에 너무 더워서 밤에 잠이 안 와요.” “벚꽃 축제가 빨라졌대요.”
막히면
- 집에 있는 사과의 원산지 표시를 함께 읽어 보거나, 할머니·할아버지께 어릴 때 여름과 지금 여름이 어떻게 다른지 여쭈어 보게 합니다.
주의
- 기상청과 농업 기관의 오랜 기록에서 나타나는 변화입니다. 정확한 숫자는 다루지 않고 ‘예전보다 ~해요’로만 이야기합니다.
- ‘더운 밤’은 밤에도 기온이 높아 잠들기 어려운 밤(열대야)입니다.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기후변화의 주된 까닭]
목적: 기후변화의 주된 까닭을 지난 시간에 배운 ‘공기 속 기체’와 이어 쉬운 말로 설명합니다(목표 A).
시간: 약 3분
이렇게 말해 보세요
- “지난 시간에 공기는 기체이고 무게도 있다고 했지? 공기 속에는 여러 기체가 섞여 있어.”
- “전기를 만들거나 자동차를 움직일 때 석탄, 석유, 가스를 많이 태우면 ‘이산화 탄소’ 같은 기체가 공기 속에 늘어나. 이런 기체는 담요처럼 열을 붙잡아 두어서 지구가 점점 따뜻해져.”
- “그럼 이 기체를 줄이려면 우리는 무엇을 할 수 있을까?”
예상 답
- “전기를 아껴요.” “가까운 곳은 걸어가요.”
막히면
- 추운 날 담요를 덮으면 몸의 열이 빠져나가지 않아 따뜻해지는 것을 떠올리게 합니다.
주의
- 우리나라 전기의 많은 부분은 석탄·가스를 태워 만듭니다. 그래서 전기를 아끼면 온실가스를 줄이는 데 도움이 됩니다.
- 온실가스가 열을 붙잡는 원리는 다루지 않습니다. ‘담요’ 비유까지만 합니다.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조사 전 예상하기]
목적: 집 안을 조사하기 전에 결과를 예상합니다(목표 B). 결과는 S09에서 확인합니다.
시간: 약 1분
이렇게 말해 보세요
- “지금 우리 집에서 아무도 쓰지 않는데 켜져 있는 전등이나 전기 제품은 몇 개쯤 있을까? 어느 방에 가장 많을까?”
예상 답
- 어떤 예상이든 괜찮습니다. “하나도 없을 것 같아요.” “거실에 많을 것 같아요.”
막히면
- “아까 나온 방에 불을 껐었나?”처럼 떠올릴 실마리를 줍니다.
주의
- 결과를 알려 주지 않습니다. 조사 전에 일부러 전등을 켜 두지 않고 평소 모습 그대로 조사합니다.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우리 집 에너지 탐정(조사)]
목적: 집 안에서 켜져 있는 전등·전기 제품을 조사해, 쓰지 않는데 켜져 있는 것과 끄면 안 되는 것을 나누어 기록합니다(목표 B).
시간: 약 5분
이렇게 말해 보세요
- “거실부터 볼까? 켜져 있는 전등이나 전기 제품이 있어? 지금 누가 쓰고 있어?”
- “이건 꺼도 될까, 꺼지면 안 될까? 왜 그렇게 생각해?”
예상 답
- “아무도 없는 방에 불이 켜져 있어요.” “텔레비전이 켜져 있는데 아무도 안 봐요.” “냉장고는 끄면 음식이 상해요.”
막히면
- 전원 표시등(작은 빨간 불·초록 불)이 켜진 제품도 전기를 조금씩 쓴다는 것을 알려 주고 함께 찾아봅니다.
주의
- 플러그를 뽑거나 멀티탭 스위치를 끄는 일은 어른이 합니다. 아이는 찾아서 기록만 합니다.
- 냉장고·공유기처럼 늘 켜 두어야 하는 제품은 ‘끄면 안 되는 것’으로 표시합니다.
- 꺼도 되는 것은 아이와 함께 끄고(전등 스위치 정도는 마른손으로 아이가 해도 됩니다),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조사 결과 정리]
목적: 조사 결과를 정리하고 예상과 비교합니다(목표 B).
시간: 약 2분
이렇게 말해 보세요
- “켜져 있던 것은 모두 몇 개였어? 그중 아무도 안 쓰던 것은?”
- “예상과 같았어? 끄면 안 되는 것은 무엇이었어?”
예상 답
- 본 대로 말하면 맞습니다. 예) “켜져 있던 것 6개, 안 쓰던 것 3개, 거실에서 가장 많이 찾았어요. 냉장고는 끄면 안 돼요.”
막히면
- 활동지 3의 표에서 ○, ×를 손가락으로 세게 합니다.
주의
- 화면의 빈칸은 아이가 말로 채우는 자리입니다. 찾은 개수가 0개여도 ‘우리 집은 잘하고 있다’는 정직한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비교(작은 실천은 소용없다)]
목적: ‘작은 실천은 소용없다’는 생각을 조사 결과를 늘려 생각해 보며 바로잡습니다(목표 B, 오해 M3).
시간: 약 2분
이렇게 말해 보세요
- “토끼는 전등 하나 끄는 건 소용없대. 곰은 날마다, 많은 집이 함께 하면 많아진대. 누구 말이 맞을까?”
- “우리 집에서 안 쓰던 것이 몇 개였지? 하루에 한 번씩 일주일이면? 우리 아파트(동네)의 모든 집이 그렇게 하면?”
정답
- 곰. 증거: 우리 집에서만 안 쓰는데 켜진 것을 ○개 찾았습니다. 날마다 끄면 일주일에 ○×7번이 되고, 여러 집이 함께 하면 훨씬 많은 전기를 아낄 수 있습니다.
막히면
- “한 집에 3개면, 열 집이면?”처럼 쉬운 수로 곱해 보게 합니다.
주의
- 숫자를 정확히 계산하는 것보다 ‘작은 실천도 모이면 커진다’는 생각을 말하면 잘한 것입니다.
- 기후변화를 해결하는 데는 나라와 회사의 노력도 필요합니다. 아이에게 모든 책임을 지우지 않고, ‘우리가 할 수 있는 몫’으로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줄이는 행동과 대비하는 행동]
목적: 기후변화를 줄이는 행동(완화)과 이미 일어나는 변화에 대비하는 행동(적응)을 구별합니다(목표 B).
시간: 약 3분
이렇게 말해 보세요
- “왼쪽은 온실가스를 줄여서 기후변화를 늦추는 행동이야. 오른쪽은 더위나 큰비가 와도 안전하게 지내려고 대비하는 행동이야.”
- “음식을 남기지 않는 것이 왜 줄이는 행동일까?”
예상 답
- “음식을 만들고 옮기고 버릴 때도 에너지가 들어요.”
막히면
- ‘줄이기 = 온실가스를 덜 만들기’, ‘대비하기 = 내 몸과 가족을 지키기’로 짧게 말해 줍니다.
주의
- 음식물 쓰레기를 줄이면 음식을 만들고 나르고 처리하는 데 드는 에너지를 아낄 수 있습니다. 아이가 까닭을 말하지 못해도 행동을 구별하면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줄이는 행동·대비하는 행동 구별]
목적: 도움을 받으며 행동을 줄이는 행동과 대비하는 행동으로 나눕니다(목표 B). 활동지 4에서 한 번 더 합니다.
시간: 약 2분
이렇게 말해 보세요
- “①부터 말해 볼래? 온실가스를 줄이는 행동이야, 안전하게 지내려고 대비하는 행동이야?”
정답
- ① 줄이는 행동(일회용 컵을 덜 씀)
- ② 대비하는 행동
- ③ 줄이는 행동(자동차를 덜 탐)
- ④ 대비하는 행동
막히면
- S12 표의 두 제목을 다시 읽고 하나씩 견주어 봅니다.
주의
- 까닭까지 말하면 크게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해결과 실천 계획]
목적: 도움 없이 날씨와 기후의 구별(①), 생활 속 사례(②)를 말하고, 실천 계획(③)을 세우는지 확인합니다(목표 A·B). ③은 활동지 5에 쓰고 일주일 동안 기록합니다.
시간: 약 3분
이렇게 말해 보세요
- “이번에는 혼자 답해 볼래? 왜 그렇게 생각했는지도 말해 줘.”
- “③은 ‘무엇을, 언제, 어떻게’가 들어가게 말해 봐. 예를 들면 ‘저녁에 방에서 나올 때마다 전등을 끈다’처럼.”
정답
- ① 날씨는 그날그날의 기온·비·바람이고, 기후는 오랜 기간(30년쯤) 동안의 평균적인 날씨다
- ② 기준: 여름이 길어지고 더운 날이 늘었다, 봄꽃이 일찍 핀다, 사과를 기르는 곳이 북쪽으로 옮겨 간다, 짧은 시간에 많은 비가 오는 일이 늘었다 가운데 두 가지면 맞음
- ③ 기준: 실천할 일(무엇을)과 때(언제), 방법(어떻게)이 모두 들어가고, 아이가 혼자 할 수 있는 일이면 맞음
막히면
- 바로 알려 주지 말고 “S03 표의 ‘기간’ 줄은?”, “S06 카드 중에 기억나는 것은?”, “우리 집 조사에서 찾은 것 중에 하나를 골라 볼까?”라고만 묻습니다.
- 도움을 받아 해결했다면 기록표에 ‘도움’으로 표시합니다.
주의
- ③에서 플러그 뽑기처럼 어른이 해야 하는 일을 고르면 ‘어른에게 말하기’로 바꾸게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함께 확인하고 실천 계획을 구체적으로 다듬습니다. 수업용에만 있는 장입니다.
시간: 약 2분
이렇게 말해 보세요
- “네 답과 같은지 볼까? 실천 계획에 ‘언제’가 들어 있어?”
정답
- ① 날씨는 그날그날, 기후는 오랜 기간의 평균 ② 생활 속 사례 두 가지 ③ 무엇을·언제·어떻게가 드러난 실천 계획
막히면
- ①이 틀리면 S03·S05로(M1), ②가 틀리면 S06으로(M2), ③이 막연하면 S12 표에서 하나를 골라 ‘언제’를 붙이게 합니다.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마무리 확인(줄이는 행동 고르기)]
목적: 처음 보는 문제에서 줄이는 행동을 고르고 까닭을 말하는지 확인합니다(목표 B).
시간: 약 2분
이렇게 말해 보세요
- “도움이 되는 행동을 모두 골라 볼래? 왜 도움이 될까?”
정답
- 가와 다. 가는 전기를 아끼고, 다는 자동차를 덜 타서 연료를 덜 태우기 때문입니다. 나는 찬 공기가 밖으로 빠져나가 전기를 더 쓰고, 라는 음식이 버려져 낭비가 됩니다.
막히면
- S12 표의 왼쪽 줄을 다시 보여 줍니다.
주의
- 하나만 고르면 “또 있을까?”라고 묻습니다.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정리와 다음 수업 복습]
목적: 핵심을 정리하고 다음 수업 첫 5분에 풀 복습 문제와 일주일 실천 기록을 알려 줍니다.
시간: 약 1분
이렇게 말해 보세요
- “오늘 정한 실천을 일주일 동안 해 보고, 지킨 날에 ○ 하자. 다음 수업 때 함께 보자.”
예상 답
- “저녁마다 방 불을 끌게요.”
정답
- ① 날씨는 그날그날, 기후는 오랜 기간의 평균 ② 여름이 길어짐, 봄꽃이 일찍 핌, 사과 재배지가 북쪽으로 옮겨 감, 큰비가 잦아짐 가운데 하나 ③ 활동지 5의 기록대로
막히면
- S03, S06, S12를 다시 보여 줍니다.
주의
- 복습 세 문제는 다음 수업을 시작할 때 활동지 마지막 쪽과 함께 풉니다.
- 초4 과학의 마지막 차시입니다. 다음은 초5 ‘지층과 화석’입니다. 실천 기록은 지킨 날을 칭찬하는 데 쓰고, 지키지 못한 날을 탓하지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선수 학습 보충(공기와 기체)]
목적: S02가 흔들리면, 공기가 기체이고 공간을 차지하며 무게가 있다는 것, 공기 속에 여러 기체가 섞여 있다는 것을 먼저 익힙니다. S07을 이해할 때 필요합니다.
시간: 약 4분
이렇게 말해 보세요
- “비닐봉지를 흔들어 공기를 담아 볼까? 봉지가 부풀었지? 공기가 자리를 차지했어.”
- “공기는 한 가지가 아니라 여러 기체가 섞여 있어. 우리가 내쉬는 숨에도 들어 있는 이산화 탄소도 그중 하나야.”
예상 답
- “공기가 들어 있어요.” “공기도 무게가 있었어요.”
막히면
- 손을 입 앞에 대고 ‘후’ 하고 불어 숨(공기)이 나오는 것을 느끼게 합니다.
주의
- 계획상 선수 차시는 ‘기체의 성질’(KR22-G04-SCI-AIR-L01)입니다. 보충으로도 어려우면 그 차시의 컵 실험(S04)과 무게 재기(S10)를 먼저 다시 합니다.
- 비닐봉지를 얼굴이나 머리에 쓰지 않게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기후변화와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기후변화와 생활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생활은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달라지고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빨간 눈금이 높이 올라간 온도계와 해"/>
          <p:cNvSpPr/>
          <p:nvPr/>
        </p:nvSpPr>
        <p:spPr>
          <a:xfrm>
            <a:off x="8644597" y="968912"/>
            <a:ext cx="369277" cy="2031023"/>
          </a:xfrm>
          <a:custGeom>
            <a:avLst/>
            <a:gdLst/>
            <a:ahLst/>
            <a:cxnLst/>
            <a:rect l="l" t="t" r="r" b="b"/>
            <a:pathLst>
              <a:path w="369277" h="2031023">
                <a:moveTo>
                  <a:pt x="0" y="2031023"/>
                </a:moveTo>
                <a:lnTo>
                  <a:pt x="369277" y="2031023"/>
                </a:lnTo>
                <a:lnTo>
                  <a:pt x="3692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50105" y="1654712"/>
            <a:ext cx="158262" cy="1424354"/>
          </a:xfrm>
          <a:custGeom>
            <a:avLst/>
            <a:gdLst/>
            <a:ahLst/>
            <a:cxnLst/>
            <a:rect l="l" t="t" r="r" b="b"/>
            <a:pathLst>
              <a:path w="158262" h="1424354">
                <a:moveTo>
                  <a:pt x="0" y="1424354"/>
                </a:moveTo>
                <a:lnTo>
                  <a:pt x="158262" y="1424354"/>
                </a:lnTo>
                <a:lnTo>
                  <a:pt x="15826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434E"/>
          </a:solidFill>
          <a:ln/>
        </p:spPr>
      </p:sp>
      <p:sp>
        <p:nvSpPr>
          <p:cNvPr id="7" name="S01-mark4"/>
          <p:cNvSpPr/>
          <p:nvPr/>
        </p:nvSpPr>
        <p:spPr>
          <a:xfrm>
            <a:off x="8512712" y="2841674"/>
            <a:ext cx="633046" cy="63304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594166" y="1074420"/>
            <a:ext cx="844062" cy="844062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13874" y="2657035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013874" y="2340512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013874" y="2023989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013874" y="1707466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013874" y="1390943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013874" y="1074420"/>
            <a:ext cx="18463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570112" y="1496451"/>
            <a:ext cx="211015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10407630" y="95572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016197" y="731520"/>
            <a:ext cx="0" cy="211015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H="1" flipV="1">
            <a:off x="9475470" y="95572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H="1">
            <a:off x="9251266" y="1496451"/>
            <a:ext cx="211015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H="1">
            <a:off x="9475470" y="188788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016197" y="2050366"/>
            <a:ext cx="0" cy="211015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407630" y="1887884"/>
            <a:ext cx="149293" cy="149293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23" name="S01-card2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4" name="S01-cardtext2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날씨와 기후를 구별하고 생활 속 기후변화를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집에서 할 수 있는 실천 계획을 세워요.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공은 넣기 전보다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무거웠나요, 가벼웠나요?</a:t>
            </a:r>
            <a:endParaRPr lang="ko-KR" sz="3000" dirty="0"/>
          </a:p>
        </p:txBody>
      </p:sp>
      <p:sp>
        <p:nvSpPr>
          <p:cNvPr id="5" name="S02-chip2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2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둘러싼 공기는 고체,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액체, 기체 중 무엇일까요?</a:t>
            </a:r>
            <a:endParaRPr lang="ko-KR" sz="3000" dirty="0"/>
          </a:p>
        </p:txBody>
      </p:sp>
      <p:sp>
        <p:nvSpPr>
          <p:cNvPr id="7" name="S02-chip2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날씨를 말해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기후</a:t>
            </a:r>
            <a:endParaRPr lang="ko-KR" sz="4000" dirty="0"/>
          </a:p>
        </p:txBody>
      </p:sp>
      <p:sp>
        <p:nvSpPr>
          <p:cNvPr id="3" name="S03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기후변화: 오랜 기간에 걸쳐 기후가 바뀌는 것</a:t>
            </a:r>
            <a:endParaRPr lang="ko-KR" sz="3000" dirty="0"/>
          </a:p>
        </p:txBody>
      </p:sp>
      <p:graphicFrame>
        <p:nvGraphicFramePr>
          <p:cNvPr id="4" name="S03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252980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3890772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그날그날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오랜 기간(30년쯤)의 평균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오늘은 비가 와요.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우리나라 여름은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덥고 비가 많아요.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날씨일까요, 기후일까요?</a:t>
            </a:r>
            <a:endParaRPr lang="ko-KR" sz="4000" dirty="0"/>
          </a:p>
        </p:txBody>
      </p:sp>
      <p:sp>
        <p:nvSpPr>
          <p:cNvPr id="3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‘그날그날’인지 ‘오랫동안 보통 그런지’ 생각해요.</a:t>
            </a:r>
            <a:endParaRPr lang="ko-KR" sz="3000" dirty="0"/>
          </a:p>
        </p:txBody>
      </p:sp>
      <p:sp>
        <p:nvSpPr>
          <p:cNvPr id="5" name="S04-chip3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4-text3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맑고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불어요.</a:t>
            </a:r>
            <a:endParaRPr lang="ko-KR" sz="3000" dirty="0"/>
          </a:p>
        </p:txBody>
      </p:sp>
      <p:sp>
        <p:nvSpPr>
          <p:cNvPr id="7" name="S04-chip3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4-text3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제주도는 겨울에도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대체로 따뜻해요.</a:t>
            </a:r>
            <a:endParaRPr lang="ko-KR" sz="3000" dirty="0"/>
          </a:p>
        </p:txBody>
      </p:sp>
      <p:sp>
        <p:nvSpPr>
          <p:cNvPr id="9" name="S04-chip3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4-text3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오후에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소나기가 왔어요.</a:t>
            </a:r>
            <a:endParaRPr lang="ko-KR" sz="3000" dirty="0"/>
          </a:p>
        </p:txBody>
      </p:sp>
      <p:sp>
        <p:nvSpPr>
          <p:cNvPr id="11" name="S04-chip3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4-text4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지역은 해마다 여름에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올겨울에 아주 추운 날이 며칠 있었어요.</a:t>
            </a:r>
            <a:endParaRPr lang="ko-KR" sz="3000" dirty="0"/>
          </a:p>
        </p:txBody>
      </p:sp>
      <p:sp>
        <p:nvSpPr>
          <p:cNvPr id="5" name="S05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무엇을 보고 판단해야 할까요?</a:t>
            </a:r>
            <a:endParaRPr lang="ko-KR" sz="3000" dirty="0"/>
          </a:p>
        </p:txBody>
      </p:sp>
      <p:sp>
        <p:nvSpPr>
          <p:cNvPr id="7" name="S05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5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추우니까 지구가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따뜻해진다는 건 틀렸어요.</a:t>
            </a:r>
            <a:endParaRPr lang="ko-KR" sz="3000" dirty="0"/>
          </a:p>
        </p:txBody>
      </p:sp>
      <p:sp>
        <p:nvSpPr>
          <p:cNvPr id="9" name="S05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5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날씨가 아니라 오랫동안의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봐야 알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기후변화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우리나라에서도 이런 변화가 나타나요.</a:t>
            </a:r>
            <a:endParaRPr lang="ko-KR" sz="3000" dirty="0"/>
          </a:p>
        </p:txBody>
      </p:sp>
      <p:sp>
        <p:nvSpPr>
          <p:cNvPr id="4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과학자들이 오랫동안 기록을 모아 알아냈어요.</a:t>
            </a:r>
            <a:endParaRPr lang="ko-KR" sz="3000" dirty="0"/>
          </a:p>
        </p:txBody>
      </p:sp>
      <p:sp>
        <p:nvSpPr>
          <p:cNvPr id="6" name="S06-card5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여름이 길어졌어요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더운 날과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더운 밤이 늘었어요.</a:t>
            </a:r>
            <a:endParaRPr lang="ko-KR" sz="2400" dirty="0"/>
          </a:p>
        </p:txBody>
      </p:sp>
      <p:sp>
        <p:nvSpPr>
          <p:cNvPr id="8" name="S06-card5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봄꽃이 일찍 펴요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개나리, 벚꽃이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예전보다 빨리 펴요.</a:t>
            </a:r>
            <a:endParaRPr lang="ko-KR" sz="2400" dirty="0"/>
          </a:p>
        </p:txBody>
      </p:sp>
      <p:sp>
        <p:nvSpPr>
          <p:cNvPr id="10" name="S06-card5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5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밭이 옮겨 가요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사과를 기르는 곳이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옮겨 가요.</a:t>
            </a:r>
            <a:endParaRPr lang="ko-KR" sz="2400" dirty="0"/>
          </a:p>
        </p:txBody>
      </p:sp>
      <p:sp>
        <p:nvSpPr>
          <p:cNvPr id="12" name="S06-card5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6-cardtext5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큰비가 잦아요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시간에 많은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오는 일이 늘어요.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지구가 따뜻해질까요?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석탄, 석유, 가스를 태우면 공기 속 기체가 달라져요.</a:t>
            </a:r>
            <a:endParaRPr lang="ko-KR" sz="3000" dirty="0"/>
          </a:p>
        </p:txBody>
      </p:sp>
      <p:sp>
        <p:nvSpPr>
          <p:cNvPr id="4" name="S07-card6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열을 붙잡아 두는 기체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이산화 탄소</a:t>
            </a:r>
            <a:endParaRPr lang="ko-KR" sz="3000" dirty="0"/>
          </a:p>
        </p:txBody>
      </p:sp>
      <p:sp>
        <p:nvSpPr>
          <p:cNvPr id="6" name="S07-card6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온실가스를 줄이면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변화를 늦출 수 있어요.</a:t>
            </a:r>
            <a:endParaRPr lang="ko-KR" sz="3000" dirty="0"/>
          </a:p>
        </p:txBody>
      </p:sp>
      <p:sp>
        <p:nvSpPr>
          <p:cNvPr id="8" name="S07-step65"/>
          <p:cNvSpPr txBox="1"/>
          <p:nvPr/>
        </p:nvSpPr>
        <p:spPr>
          <a:xfrm>
            <a:off x="129387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만들기·자동차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연료를 태워요</a:t>
            </a:r>
            <a:endParaRPr lang="ko-KR" sz="2600" dirty="0"/>
          </a:p>
        </p:txBody>
      </p:sp>
      <p:sp>
        <p:nvSpPr>
          <p:cNvPr id="9" name="S07-line66"/>
          <p:cNvSpPr/>
          <p:nvPr/>
        </p:nvSpPr>
        <p:spPr>
          <a:xfrm>
            <a:off x="427482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7-step67"/>
          <p:cNvSpPr txBox="1"/>
          <p:nvPr/>
        </p:nvSpPr>
        <p:spPr>
          <a:xfrm>
            <a:off x="463143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온실가스가 늘어요</a:t>
            </a:r>
            <a:endParaRPr lang="ko-KR" sz="2600" dirty="0"/>
          </a:p>
        </p:txBody>
      </p:sp>
      <p:sp>
        <p:nvSpPr>
          <p:cNvPr id="11" name="S07-line68"/>
          <p:cNvSpPr/>
          <p:nvPr/>
        </p:nvSpPr>
        <p:spPr>
          <a:xfrm>
            <a:off x="761238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7-step69"/>
          <p:cNvSpPr txBox="1"/>
          <p:nvPr/>
        </p:nvSpPr>
        <p:spPr>
          <a:xfrm>
            <a:off x="7968996" y="2462022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지구가 담요를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두른 듯 따뜻해져요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8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에너지 탐정이 되어 볼까요?</a:t>
            </a:r>
            <a:endParaRPr lang="ko-KR" sz="3000" dirty="0"/>
          </a:p>
        </p:txBody>
      </p:sp>
      <p:sp>
        <p:nvSpPr>
          <p:cNvPr id="4" name="S08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3000" dirty="0"/>
          </a:p>
        </p:txBody>
      </p:sp>
      <p:graphicFrame>
        <p:nvGraphicFramePr>
          <p:cNvPr id="9" name="S08-table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843784"/>
          <a:ext cx="10515600" cy="914400"/>
        </p:xfrm>
        <a:graphic>
          <a:graphicData uri="http://schemas.openxmlformats.org/drawingml/2006/table">
            <a:tbl>
              <a:tblPr/>
              <a:tblGrid>
                <a:gridCol w="6940296"/>
                <a:gridCol w="357530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아무도 안 쓰는데 켜진 전등·전기 제품은 몇 개?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많이 찾을 것 같은 곳은?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에너지 탐정</a:t>
            </a:r>
            <a:endParaRPr lang="ko-KR" sz="4000" dirty="0"/>
          </a:p>
        </p:txBody>
      </p:sp>
      <p:sp>
        <p:nvSpPr>
          <p:cNvPr id="3" name="S09-card7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플러그·멀티탭은 어른이 만져요. 젖은 손으로 만지지 않아요.</a:t>
            </a:r>
            <a:endParaRPr lang="ko-KR" sz="3000" dirty="0"/>
          </a:p>
        </p:txBody>
      </p:sp>
      <p:sp>
        <p:nvSpPr>
          <p:cNvPr id="5" name="S09-card76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77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방마다 빠짐없이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끄면 안 되는 것도 표시해요</a:t>
            </a:r>
            <a:endParaRPr lang="ko-KR" sz="3000" dirty="0"/>
          </a:p>
        </p:txBody>
      </p:sp>
      <p:sp>
        <p:nvSpPr>
          <p:cNvPr id="7" name="S09-stepno78"/>
          <p:cNvSpPr txBox="1"/>
          <p:nvPr/>
        </p:nvSpPr>
        <p:spPr>
          <a:xfrm>
            <a:off x="548640" y="149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79"/>
          <p:cNvSpPr txBox="1"/>
          <p:nvPr/>
        </p:nvSpPr>
        <p:spPr>
          <a:xfrm>
            <a:off x="1325880" y="1493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방마다 돌아봐요.</a:t>
            </a:r>
            <a:endParaRPr lang="ko-KR" sz="3000" dirty="0"/>
          </a:p>
        </p:txBody>
      </p:sp>
      <p:sp>
        <p:nvSpPr>
          <p:cNvPr id="9" name="S09-stepno80"/>
          <p:cNvSpPr txBox="1"/>
          <p:nvPr/>
        </p:nvSpPr>
        <p:spPr>
          <a:xfrm>
            <a:off x="548640" y="22524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81"/>
          <p:cNvSpPr txBox="1"/>
          <p:nvPr/>
        </p:nvSpPr>
        <p:spPr>
          <a:xfrm>
            <a:off x="1325880" y="220675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있는 전등·전기 제품을 찾아요.</a:t>
            </a:r>
            <a:endParaRPr lang="ko-KR" sz="3000" dirty="0"/>
          </a:p>
        </p:txBody>
      </p:sp>
      <p:sp>
        <p:nvSpPr>
          <p:cNvPr id="11" name="S09-stepno82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83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쓰고 있는지 확인해요.</a:t>
            </a:r>
            <a:endParaRPr lang="ko-KR" sz="3000" dirty="0"/>
          </a:p>
        </p:txBody>
      </p:sp>
      <p:sp>
        <p:nvSpPr>
          <p:cNvPr id="13" name="S09-stepno84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85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3의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0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같았나요? 무엇을 끌 수 있었나요?</a:t>
            </a:r>
            <a:endParaRPr lang="ko-KR" sz="3000" dirty="0"/>
          </a:p>
        </p:txBody>
      </p:sp>
      <p:graphicFrame>
        <p:nvGraphicFramePr>
          <p:cNvPr id="11" name="S10-table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284730"/>
          <a:ext cx="9601200" cy="91440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켜져 있던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아무도 안 쓰던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많이 찾은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끄면 안 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1-card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없는 방의 전등을 하나 껐어요.</a:t>
            </a:r>
            <a:endParaRPr lang="ko-KR" sz="3000" dirty="0"/>
          </a:p>
        </p:txBody>
      </p:sp>
      <p:sp>
        <p:nvSpPr>
          <p:cNvPr id="5" name="S11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우리 조사 결과로 말해요.</a:t>
            </a:r>
            <a:endParaRPr lang="ko-KR" sz="3000" dirty="0"/>
          </a:p>
        </p:txBody>
      </p:sp>
      <p:sp>
        <p:nvSpPr>
          <p:cNvPr id="7" name="S11-chip9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1-text9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전등 하나 끄는 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소용이 없어요.</a:t>
            </a:r>
            <a:endParaRPr lang="ko-KR" sz="3000" dirty="0"/>
          </a:p>
        </p:txBody>
      </p:sp>
      <p:sp>
        <p:nvSpPr>
          <p:cNvPr id="9" name="S11-chip9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1-text9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날마다, 많은 집이 함께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전기가 많아져요.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할 수 있는 일</a:t>
            </a:r>
            <a:endParaRPr lang="ko-KR" sz="4000" dirty="0"/>
          </a:p>
        </p:txBody>
      </p:sp>
      <p:sp>
        <p:nvSpPr>
          <p:cNvPr id="3" name="S12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모두 우리가 할 수 있는 일이에요.</a:t>
            </a:r>
            <a:endParaRPr lang="ko-KR" sz="3000" dirty="0"/>
          </a:p>
        </p:txBody>
      </p:sp>
      <p:graphicFrame>
        <p:nvGraphicFramePr>
          <p:cNvPr id="13" name="S12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0092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줄이는 행동(온실가스를 줄여요)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대비하는 행동(안전하게 지내요)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쓰는 전등·전기 제품 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폭염 때 물을 자주 마시기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가까운 곳은 걷거나 자전거 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한낮 더위에는 그늘에서 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음식 남기지 않기, 물건 다시 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큰비 예보 때 계곡·하천에 가지 않기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행동일까요?</a:t>
            </a:r>
            <a:endParaRPr lang="ko-KR" sz="4000" dirty="0"/>
          </a:p>
        </p:txBody>
      </p:sp>
      <p:sp>
        <p:nvSpPr>
          <p:cNvPr id="3" name="S13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행동인지, 대비하는 행동인지 말해요.</a:t>
            </a:r>
            <a:endParaRPr lang="ko-KR" sz="3000" dirty="0"/>
          </a:p>
        </p:txBody>
      </p:sp>
      <p:sp>
        <p:nvSpPr>
          <p:cNvPr id="4" name="S13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온실가스를 줄이는지, 몸을 지키는지 생각해요.</a:t>
            </a:r>
            <a:endParaRPr lang="ko-KR" sz="3000" dirty="0"/>
          </a:p>
        </p:txBody>
      </p:sp>
      <p:sp>
        <p:nvSpPr>
          <p:cNvPr id="6" name="S13-chip10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10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텀블러를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들고 다녀요.</a:t>
            </a:r>
            <a:endParaRPr lang="ko-KR" sz="3000" dirty="0"/>
          </a:p>
        </p:txBody>
      </p:sp>
      <p:sp>
        <p:nvSpPr>
          <p:cNvPr id="8" name="S13-chip10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10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특보 때 바깥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놀이를 줄여요.</a:t>
            </a:r>
            <a:endParaRPr lang="ko-KR" sz="3000" dirty="0"/>
          </a:p>
        </p:txBody>
      </p:sp>
      <p:sp>
        <p:nvSpPr>
          <p:cNvPr id="10" name="S13-chip10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10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학원은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가요.</a:t>
            </a:r>
            <a:endParaRPr lang="ko-KR" sz="3000" dirty="0"/>
          </a:p>
        </p:txBody>
      </p:sp>
      <p:sp>
        <p:nvSpPr>
          <p:cNvPr id="12" name="S13-chip11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3-text11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 예보를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1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11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기후는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</a:t>
            </a:r>
            <a:endParaRPr lang="ko-KR" sz="3000" dirty="0"/>
          </a:p>
        </p:txBody>
      </p:sp>
      <p:sp>
        <p:nvSpPr>
          <p:cNvPr id="5" name="S14-chip11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11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기후변화의 예를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7" name="S14-chip11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1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할 실천을 정해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어떻게 할지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5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실천은 작고 구체적일수록 지키기 쉬워요.</a:t>
            </a:r>
            <a:endParaRPr lang="ko-KR" sz="3000" dirty="0"/>
          </a:p>
        </p:txBody>
      </p:sp>
      <p:sp>
        <p:nvSpPr>
          <p:cNvPr id="5" name="S15-chip12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정답과 기준</a:t>
            </a:r>
            <a:endParaRPr lang="ko-KR" sz="2400" dirty="0"/>
          </a:p>
        </p:txBody>
      </p:sp>
      <p:sp>
        <p:nvSpPr>
          <p:cNvPr id="6" name="S15-text12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기간</a:t>
            </a:r>
            <a:endParaRPr lang="ko-KR" sz="3000" dirty="0"/>
          </a:p>
        </p:txBody>
      </p:sp>
      <p:sp>
        <p:nvSpPr>
          <p:cNvPr id="7" name="S15-text12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/ 오래</a:t>
            </a:r>
            <a:endParaRPr lang="ko-KR" sz="2400" dirty="0"/>
          </a:p>
        </p:txBody>
      </p:sp>
      <p:sp>
        <p:nvSpPr>
          <p:cNvPr id="8" name="S15-text12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가지</a:t>
            </a:r>
            <a:endParaRPr lang="ko-KR" sz="3000" dirty="0"/>
          </a:p>
        </p:txBody>
      </p:sp>
      <p:sp>
        <p:nvSpPr>
          <p:cNvPr id="9" name="S15-text12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여름·봄꽃·사과·큰비</a:t>
            </a:r>
            <a:endParaRPr lang="ko-KR" sz="2400" dirty="0"/>
          </a:p>
        </p:txBody>
      </p:sp>
      <p:sp>
        <p:nvSpPr>
          <p:cNvPr id="10" name="S15-text12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구체적 계획</a:t>
            </a:r>
            <a:endParaRPr lang="ko-KR" sz="3000" dirty="0"/>
          </a:p>
        </p:txBody>
      </p:sp>
      <p:sp>
        <p:nvSpPr>
          <p:cNvPr id="11" name="S15-text12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무엇·언제·어떻게</a:t>
            </a:r>
            <a:endParaRPr lang="ko-KR" sz="2400" dirty="0"/>
          </a:p>
        </p:txBody>
      </p:sp>
      <p:sp>
        <p:nvSpPr>
          <p:cNvPr id="12" name="S15-chip12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5-text12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거예요</a:t>
            </a:r>
            <a:endParaRPr lang="ko-KR" sz="3000" dirty="0"/>
          </a:p>
        </p:txBody>
      </p:sp>
      <p:sp>
        <p:nvSpPr>
          <p:cNvPr id="14" name="S15-text12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달라요(M1)</a:t>
            </a:r>
            <a:endParaRPr lang="ko-KR" sz="2400" dirty="0"/>
          </a:p>
        </p:txBody>
      </p:sp>
      <p:sp>
        <p:nvSpPr>
          <p:cNvPr id="15" name="S15-text13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지구 지키기</a:t>
            </a:r>
            <a:endParaRPr lang="ko-KR" sz="3000" dirty="0"/>
          </a:p>
        </p:txBody>
      </p:sp>
      <p:sp>
        <p:nvSpPr>
          <p:cNvPr id="16" name="S15-text13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구체적이지 않음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행동을 모두 골라요</a:t>
            </a:r>
            <a:endParaRPr lang="ko-KR" sz="4000" dirty="0"/>
          </a:p>
        </p:txBody>
      </p:sp>
      <p:sp>
        <p:nvSpPr>
          <p:cNvPr id="3" name="S16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기후변화를 줄이는 데 도움이 되는 행동은?</a:t>
            </a:r>
            <a:endParaRPr lang="ko-KR" sz="3000" dirty="0"/>
          </a:p>
        </p:txBody>
      </p:sp>
      <p:sp>
        <p:nvSpPr>
          <p:cNvPr id="4" name="S16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도움이 되는 까닭을 말해요.</a:t>
            </a:r>
            <a:endParaRPr lang="ko-KR" sz="3000" dirty="0"/>
          </a:p>
        </p:txBody>
      </p:sp>
      <p:sp>
        <p:nvSpPr>
          <p:cNvPr id="6" name="S16-chip13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36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37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 방 불 끄기</a:t>
            </a:r>
            <a:endParaRPr lang="ko-KR" sz="3000" dirty="0"/>
          </a:p>
        </p:txBody>
      </p:sp>
      <p:sp>
        <p:nvSpPr>
          <p:cNvPr id="9" name="S16-chip138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39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40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열고 에어컨 켜기</a:t>
            </a:r>
            <a:endParaRPr lang="ko-KR" sz="3000" dirty="0"/>
          </a:p>
        </p:txBody>
      </p:sp>
      <p:sp>
        <p:nvSpPr>
          <p:cNvPr id="12" name="S16-chip141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42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43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곳은 걸어가기</a:t>
            </a:r>
            <a:endParaRPr lang="ko-KR" sz="3000" dirty="0"/>
          </a:p>
        </p:txBody>
      </p:sp>
      <p:sp>
        <p:nvSpPr>
          <p:cNvPr id="15" name="S16-chip14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6-card145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6-cardtext146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 많이 남기기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4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4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기후는 오랜 기간의 날씨예요. 우리 생활도 달라지고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아끼고, 더위와 큰비에 대비해요.</a:t>
            </a:r>
            <a:endParaRPr lang="ko-KR" sz="3000" dirty="0"/>
          </a:p>
        </p:txBody>
      </p:sp>
      <p:sp>
        <p:nvSpPr>
          <p:cNvPr id="5" name="S17-chip14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작은 실천을 날마다 하기</a:t>
            </a:r>
            <a:endParaRPr lang="ko-KR" sz="2400" dirty="0"/>
          </a:p>
        </p:txBody>
      </p:sp>
      <p:sp>
        <p:nvSpPr>
          <p:cNvPr id="6" name="S17-chip15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며칠 날씨로 기후를 판단하기</a:t>
            </a:r>
            <a:endParaRPr lang="ko-KR" sz="2400" dirty="0"/>
          </a:p>
        </p:txBody>
      </p:sp>
      <p:sp>
        <p:nvSpPr>
          <p:cNvPr id="7" name="S17-text15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5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날씨와 기후는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</a:t>
            </a:r>
            <a:endParaRPr lang="ko-KR" sz="2400" dirty="0"/>
          </a:p>
        </p:txBody>
      </p:sp>
      <p:sp>
        <p:nvSpPr>
          <p:cNvPr id="9" name="S17-text15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속 기후변화의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400" dirty="0"/>
          </a:p>
        </p:txBody>
      </p:sp>
      <p:sp>
        <p:nvSpPr>
          <p:cNvPr id="10" name="S17-text15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나의 실천 기록은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지켰나요?</a:t>
            </a:r>
            <a:endParaRPr lang="ko-KR" sz="2400" dirty="0"/>
          </a:p>
        </p:txBody>
      </p:sp>
      <p:sp>
        <p:nvSpPr>
          <p:cNvPr id="11" name="S17-text1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지층과 화석(초5)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지구를 둘러싼 공기</a:t>
            </a:r>
            <a:endParaRPr lang="ko-KR" sz="4000" dirty="0"/>
          </a:p>
        </p:txBody>
      </p:sp>
      <p:sp>
        <p:nvSpPr>
          <p:cNvPr id="3" name="S18-text1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감싸고 있어요.</a:t>
            </a:r>
            <a:endParaRPr lang="ko-KR" sz="3000" dirty="0"/>
          </a:p>
        </p:txBody>
      </p:sp>
      <p:sp>
        <p:nvSpPr>
          <p:cNvPr id="4" name="S18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 기체가 달라지면 지구의 기온도 달라져요.</a:t>
            </a:r>
            <a:endParaRPr lang="ko-KR" sz="3000" dirty="0"/>
          </a:p>
        </p:txBody>
      </p:sp>
      <p:sp>
        <p:nvSpPr>
          <p:cNvPr id="6" name="S18-card15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6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기체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않지만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공간을 차지해요.</a:t>
            </a:r>
            <a:endParaRPr lang="ko-KR" sz="3000" dirty="0"/>
          </a:p>
        </p:txBody>
      </p:sp>
      <p:sp>
        <p:nvSpPr>
          <p:cNvPr id="8" name="S18-card16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6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무게도 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무거웠어요.</a:t>
            </a:r>
            <a:endParaRPr lang="ko-KR" sz="3000" dirty="0"/>
          </a:p>
        </p:txBody>
      </p:sp>
      <p:sp>
        <p:nvSpPr>
          <p:cNvPr id="10" name="S18-card16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6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기체가 섞여요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하나예요.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기후변화와 생활</dc:title>
  <dc:subject>KR22-G04-SCI-CLIMATE-L01</dc:subject>
  <dc:creator>education-ppt</dc:creator>
  <cp:lastModifiedBy>education-ppt</cp:lastModifiedBy>
  <cp:revision>1</cp:revision>
  <dcterms:created xsi:type="dcterms:W3CDTF">2026-10-26T13:25:18Z</dcterms:created>
  <dcterms:modified xsi:type="dcterms:W3CDTF">2026-10-26T13:25:18Z</dcterms:modified>
</cp:coreProperties>
</file>