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ec684b7-087e-6ff0-cdee-0b66a637b1f1}">
          <p14:sldIdLst>
            <p14:sldId id="256"/>
            <p14:sldId id="257"/>
          </p14:sldIdLst>
        </p14:section>
        <p14:section name="개념" id="{87f399b1-0cac-9624-036f-4b161e0d2da2}">
          <p14:sldIdLst>
            <p14:sldId id="258"/>
            <p14:sldId id="261"/>
            <p14:sldId id="262"/>
            <p14:sldId id="267"/>
          </p14:sldIdLst>
        </p14:section>
        <p14:section name="연습" id="{26586b4c-df2f-84b5-2acf-5eb9445a2bc6}">
          <p14:sldIdLst>
            <p14:sldId id="259"/>
            <p14:sldId id="260"/>
            <p14:sldId id="263"/>
            <p14:sldId id="264"/>
            <p14:sldId id="265"/>
            <p14:sldId id="266"/>
            <p14:sldId id="268"/>
          </p14:sldIdLst>
        </p14:section>
        <p14:section name="개념" id="{8fc26b92-d717-1c80-4f0a-718f37e49a73}">
          <p14:sldIdLst/>
        </p14:section>
        <p14:section name="연습" id="{6226d46c-aa76-7286-5785-24f0a799ef87}">
          <p14:sldIdLst/>
        </p14:section>
        <p14:section name="개념" id="{18af09b5-7c0b-c03b-0eef-afbda7e123f1}">
          <p14:sldIdLst/>
        </p14:section>
        <p14:section name="연습" id="{9229bf80-7467-d855-7770-6fe16bc122e4}">
          <p14:sldIdLst/>
        </p14:section>
        <p14:section name="확인" id="{8422f4d8-c339-5d8f-94bf-23fa4e1f75f5}">
          <p14:sldIdLst>
            <p14:sldId id="269"/>
            <p14:sldId id="270"/>
          </p14:sldIdLst>
        </p14:section>
        <p14:section name="정리" id="{96fc7c45-28f4-c85d-0cfb-b9621d2e9ab0}">
          <p14:sldIdLst>
            <p14:sldId id="271"/>
          </p14:sldIdLst>
        </p14:section>
        <p14:section name="보충" id="{356a2c44-643a-38b2-243e-cf7a66686bff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기후와생활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기후변화와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기후변화와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기후변화와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기후변화와 생활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생활은 어떻게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달라지고 있을까?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빨간 눈금이 높이 올라간 온도계와 해"/>
          <p:cNvSpPr/>
          <p:nvPr/>
        </p:nvSpPr>
        <p:spPr>
          <a:xfrm>
            <a:off x="8644597" y="968912"/>
            <a:ext cx="369277" cy="2031023"/>
          </a:xfrm>
          <a:custGeom>
            <a:avLst/>
            <a:gdLst/>
            <a:ahLst/>
            <a:cxnLst/>
            <a:rect l="l" t="t" r="r" b="b"/>
            <a:pathLst>
              <a:path w="369277" h="2031023">
                <a:moveTo>
                  <a:pt x="0" y="2031023"/>
                </a:moveTo>
                <a:lnTo>
                  <a:pt x="369277" y="2031023"/>
                </a:lnTo>
                <a:lnTo>
                  <a:pt x="3692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750105" y="1654712"/>
            <a:ext cx="158262" cy="1424354"/>
          </a:xfrm>
          <a:custGeom>
            <a:avLst/>
            <a:gdLst/>
            <a:ahLst/>
            <a:cxnLst/>
            <a:rect l="l" t="t" r="r" b="b"/>
            <a:pathLst>
              <a:path w="158262" h="1424354">
                <a:moveTo>
                  <a:pt x="0" y="1424354"/>
                </a:moveTo>
                <a:lnTo>
                  <a:pt x="158262" y="1424354"/>
                </a:lnTo>
                <a:lnTo>
                  <a:pt x="15826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434E"/>
          </a:solidFill>
          <a:ln/>
        </p:spPr>
      </p:sp>
      <p:sp>
        <p:nvSpPr>
          <p:cNvPr id="7" name="S01-mark4"/>
          <p:cNvSpPr/>
          <p:nvPr/>
        </p:nvSpPr>
        <p:spPr>
          <a:xfrm>
            <a:off x="8512712" y="2841674"/>
            <a:ext cx="633046" cy="633046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594166" y="1074420"/>
            <a:ext cx="844062" cy="844062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013874" y="2657035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013874" y="2340512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9013874" y="2023989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9013874" y="1707466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9013874" y="1390943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9013874" y="1074420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10570112" y="1496451"/>
            <a:ext cx="211015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 flipV="1">
            <a:off x="10407630" y="955724"/>
            <a:ext cx="149293" cy="149293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10016197" y="731520"/>
            <a:ext cx="0" cy="211015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 flipH="1" flipV="1">
            <a:off x="9475470" y="955724"/>
            <a:ext cx="149293" cy="149293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H="1">
            <a:off x="9251266" y="1496451"/>
            <a:ext cx="211015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 flipH="1">
            <a:off x="9475470" y="1887884"/>
            <a:ext cx="149293" cy="149293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10016197" y="2050366"/>
            <a:ext cx="0" cy="211015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10407630" y="1887884"/>
            <a:ext cx="149293" cy="149293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23" name="S01-card20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4" name="S01-cardtext21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날씨와 기후를 구별하고 생활 속 기후변화를 찾아요.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우리 집에서 할 수 있는 실천 계획을 세워요.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떠올려요</a:t>
            </a:r>
            <a:endParaRPr lang="ko-KR" sz="4000" dirty="0"/>
          </a:p>
        </p:txBody>
      </p:sp>
      <p:sp>
        <p:nvSpPr>
          <p:cNvPr id="3" name="S02-chip2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2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공은 넣기 전보다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무거웠나요, 가벼웠나요?</a:t>
            </a:r>
            <a:endParaRPr lang="ko-KR" sz="3000" dirty="0"/>
          </a:p>
        </p:txBody>
      </p:sp>
      <p:sp>
        <p:nvSpPr>
          <p:cNvPr id="5" name="S02-chip2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25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지구를 둘러싼 공기는 고체,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액체, 기체 중 무엇일까요?</a:t>
            </a:r>
            <a:endParaRPr lang="ko-KR" sz="3000" dirty="0"/>
          </a:p>
        </p:txBody>
      </p:sp>
      <p:sp>
        <p:nvSpPr>
          <p:cNvPr id="7" name="S02-chip2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27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날씨를 말해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날씨와 기후</a:t>
            </a:r>
            <a:endParaRPr lang="ko-KR" sz="4000" dirty="0"/>
          </a:p>
        </p:txBody>
      </p:sp>
      <p:sp>
        <p:nvSpPr>
          <p:cNvPr id="3" name="S03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기후변화: 오랜 기간에 걸쳐 기후가 바뀌는 것</a:t>
            </a:r>
            <a:endParaRPr lang="ko-KR" sz="3000" dirty="0"/>
          </a:p>
        </p:txBody>
      </p:sp>
      <p:graphicFrame>
        <p:nvGraphicFramePr>
          <p:cNvPr id="4" name="S03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252980"/>
          <a:ext cx="10515600" cy="914400"/>
        </p:xfrm>
        <a:graphic>
          <a:graphicData uri="http://schemas.openxmlformats.org/drawingml/2006/table">
            <a:tbl>
              <a:tblPr/>
              <a:tblGrid>
                <a:gridCol w="1892808"/>
                <a:gridCol w="3890772"/>
                <a:gridCol w="47320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그날그날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오랜 기간(30년쯤)의 평균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오늘은 비가 와요.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우리나라 여름은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덥고 비가 많아요.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날씨일까요, 기후일까요?</a:t>
            </a:r>
            <a:endParaRPr lang="ko-KR" sz="4000" dirty="0"/>
          </a:p>
        </p:txBody>
      </p:sp>
      <p:sp>
        <p:nvSpPr>
          <p:cNvPr id="3" name="S04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4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‘그날그날’인지 ‘오랫동안 보통 그런지’ 생각해요.</a:t>
            </a:r>
            <a:endParaRPr lang="ko-KR" sz="3000" dirty="0"/>
          </a:p>
        </p:txBody>
      </p:sp>
      <p:sp>
        <p:nvSpPr>
          <p:cNvPr id="5" name="S04-chip3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4-text3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내일은 맑고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불어요.</a:t>
            </a:r>
            <a:endParaRPr lang="ko-KR" sz="3000" dirty="0"/>
          </a:p>
        </p:txBody>
      </p:sp>
      <p:sp>
        <p:nvSpPr>
          <p:cNvPr id="7" name="S04-chip3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4-text3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제주도는 겨울에도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대체로 따뜻해요.</a:t>
            </a:r>
            <a:endParaRPr lang="ko-KR" sz="3000" dirty="0"/>
          </a:p>
        </p:txBody>
      </p:sp>
      <p:sp>
        <p:nvSpPr>
          <p:cNvPr id="9" name="S04-chip3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4-text38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오후에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소나기가 왔어요.</a:t>
            </a:r>
            <a:endParaRPr lang="ko-KR" sz="3000" dirty="0"/>
          </a:p>
        </p:txBody>
      </p:sp>
      <p:sp>
        <p:nvSpPr>
          <p:cNvPr id="11" name="S04-chip39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04-text40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지역은 해마다 여름에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많이 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5-card4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올겨울에 아주 추운 날이 며칠 있었어요.</a:t>
            </a:r>
            <a:endParaRPr lang="ko-KR" sz="3000" dirty="0"/>
          </a:p>
        </p:txBody>
      </p:sp>
      <p:sp>
        <p:nvSpPr>
          <p:cNvPr id="5" name="S05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무엇을 보고 판단해야 할까요?</a:t>
            </a:r>
            <a:endParaRPr lang="ko-KR" sz="3000" dirty="0"/>
          </a:p>
        </p:txBody>
      </p:sp>
      <p:sp>
        <p:nvSpPr>
          <p:cNvPr id="7" name="S05-chip4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5-text4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추우니까 지구가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따뜻해진다는 건 틀렸어요.</a:t>
            </a:r>
            <a:endParaRPr lang="ko-KR" sz="3000" dirty="0"/>
          </a:p>
        </p:txBody>
      </p:sp>
      <p:sp>
        <p:nvSpPr>
          <p:cNvPr id="9" name="S05-chip4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5-text4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 날씨가 아니라 오랫동안의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봐야 알 수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기후변화</a:t>
            </a:r>
            <a:endParaRPr lang="ko-KR" sz="4000" dirty="0"/>
          </a:p>
        </p:txBody>
      </p:sp>
      <p:sp>
        <p:nvSpPr>
          <p:cNvPr id="3" name="S06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우리나라에서도 이런 변화가 나타나요.</a:t>
            </a:r>
            <a:endParaRPr lang="ko-KR" sz="3000" dirty="0"/>
          </a:p>
        </p:txBody>
      </p:sp>
      <p:sp>
        <p:nvSpPr>
          <p:cNvPr id="4" name="S06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과학자들이 오랫동안 기록을 모아 알아냈어요.</a:t>
            </a:r>
            <a:endParaRPr lang="ko-KR" sz="3000" dirty="0"/>
          </a:p>
        </p:txBody>
      </p:sp>
      <p:sp>
        <p:nvSpPr>
          <p:cNvPr id="6" name="S06-card52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53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여름이 길어졌어요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더운 날과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더운 밤이 늘었어요.</a:t>
            </a:r>
            <a:endParaRPr lang="ko-KR" sz="2400" dirty="0"/>
          </a:p>
        </p:txBody>
      </p:sp>
      <p:sp>
        <p:nvSpPr>
          <p:cNvPr id="8" name="S06-card54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55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봄꽃이 일찍 펴요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개나리, 벚꽃이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예전보다 빨리 펴요.</a:t>
            </a:r>
            <a:endParaRPr lang="ko-KR" sz="2400" dirty="0"/>
          </a:p>
        </p:txBody>
      </p:sp>
      <p:sp>
        <p:nvSpPr>
          <p:cNvPr id="10" name="S06-card56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57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밭이 옮겨 가요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사과를 기르는 곳이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북쪽으로 옮겨 가요.</a:t>
            </a:r>
            <a:endParaRPr lang="ko-KR" sz="2400" dirty="0"/>
          </a:p>
        </p:txBody>
      </p:sp>
      <p:sp>
        <p:nvSpPr>
          <p:cNvPr id="12" name="S06-card58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6-cardtext59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큰비가 잦아요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시간에 많은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오는 일이 늘어요.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지구가 따뜻해질까요?</a:t>
            </a:r>
            <a:endParaRPr lang="ko-KR" sz="4000" dirty="0"/>
          </a:p>
        </p:txBody>
      </p:sp>
      <p:sp>
        <p:nvSpPr>
          <p:cNvPr id="3" name="S07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석탄, 석유, 가스를 태우면 공기 속 기체가 달라져요.</a:t>
            </a:r>
            <a:endParaRPr lang="ko-KR" sz="3000" dirty="0"/>
          </a:p>
        </p:txBody>
      </p:sp>
      <p:sp>
        <p:nvSpPr>
          <p:cNvPr id="4" name="S07-card61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62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온실가스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열을 붙잡아 두는 기체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이산화 탄소</a:t>
            </a:r>
            <a:endParaRPr lang="ko-KR" sz="3000" dirty="0"/>
          </a:p>
        </p:txBody>
      </p:sp>
      <p:sp>
        <p:nvSpPr>
          <p:cNvPr id="6" name="S07-card63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64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온실가스를 줄이면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변화를 늦출 수 있어요.</a:t>
            </a:r>
            <a:endParaRPr lang="ko-KR" sz="3000" dirty="0"/>
          </a:p>
        </p:txBody>
      </p:sp>
      <p:sp>
        <p:nvSpPr>
          <p:cNvPr id="8" name="S07-step65"/>
          <p:cNvSpPr txBox="1"/>
          <p:nvPr/>
        </p:nvSpPr>
        <p:spPr>
          <a:xfrm>
            <a:off x="1293876" y="2462022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만들기·자동차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연료를 태워요</a:t>
            </a:r>
            <a:endParaRPr lang="ko-KR" sz="2600" dirty="0"/>
          </a:p>
        </p:txBody>
      </p:sp>
      <p:sp>
        <p:nvSpPr>
          <p:cNvPr id="9" name="S07-line66"/>
          <p:cNvSpPr/>
          <p:nvPr/>
        </p:nvSpPr>
        <p:spPr>
          <a:xfrm>
            <a:off x="4274820" y="319354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7-step67"/>
          <p:cNvSpPr txBox="1"/>
          <p:nvPr/>
        </p:nvSpPr>
        <p:spPr>
          <a:xfrm>
            <a:off x="4631436" y="2462022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온실가스가 늘어요</a:t>
            </a:r>
            <a:endParaRPr lang="ko-KR" sz="2600" dirty="0"/>
          </a:p>
        </p:txBody>
      </p:sp>
      <p:sp>
        <p:nvSpPr>
          <p:cNvPr id="11" name="S07-line68"/>
          <p:cNvSpPr/>
          <p:nvPr/>
        </p:nvSpPr>
        <p:spPr>
          <a:xfrm>
            <a:off x="7612380" y="319354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7-step69"/>
          <p:cNvSpPr txBox="1"/>
          <p:nvPr/>
        </p:nvSpPr>
        <p:spPr>
          <a:xfrm>
            <a:off x="7968996" y="2462022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지구가 담요를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두른 듯 따뜻해져요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8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에너지 탐정이 되어 볼까요?</a:t>
            </a:r>
            <a:endParaRPr lang="ko-KR" sz="3000" dirty="0"/>
          </a:p>
        </p:txBody>
      </p:sp>
      <p:sp>
        <p:nvSpPr>
          <p:cNvPr id="4" name="S08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3000" dirty="0"/>
          </a:p>
        </p:txBody>
      </p:sp>
      <p:graphicFrame>
        <p:nvGraphicFramePr>
          <p:cNvPr id="9" name="S08-table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843784"/>
          <a:ext cx="10515600" cy="914400"/>
        </p:xfrm>
        <a:graphic>
          <a:graphicData uri="http://schemas.openxmlformats.org/drawingml/2006/table">
            <a:tbl>
              <a:tblPr/>
              <a:tblGrid>
                <a:gridCol w="6940296"/>
                <a:gridCol w="357530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아무도 안 쓰는데 켜진 전등·전기 제품은 몇 개?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많이 찾을 것 같은 곳은?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에너지 탐정</a:t>
            </a:r>
            <a:endParaRPr lang="ko-KR" sz="4000" dirty="0"/>
          </a:p>
        </p:txBody>
      </p:sp>
      <p:sp>
        <p:nvSpPr>
          <p:cNvPr id="3" name="S09-card7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7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플러그·멀티탭은 어른이 만져요. 젖은 손으로 만지지 않아요.</a:t>
            </a:r>
            <a:endParaRPr lang="ko-KR" sz="3000" dirty="0"/>
          </a:p>
        </p:txBody>
      </p:sp>
      <p:sp>
        <p:nvSpPr>
          <p:cNvPr id="5" name="S09-card76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77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방마다 빠짐없이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끄면 안 되는 것도 표시해요</a:t>
            </a:r>
            <a:endParaRPr lang="ko-KR" sz="3000" dirty="0"/>
          </a:p>
        </p:txBody>
      </p:sp>
      <p:sp>
        <p:nvSpPr>
          <p:cNvPr id="7" name="S09-stepno78"/>
          <p:cNvSpPr txBox="1"/>
          <p:nvPr/>
        </p:nvSpPr>
        <p:spPr>
          <a:xfrm>
            <a:off x="548640" y="1493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79"/>
          <p:cNvSpPr txBox="1"/>
          <p:nvPr/>
        </p:nvSpPr>
        <p:spPr>
          <a:xfrm>
            <a:off x="1325880" y="14935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 방마다 돌아봐요.</a:t>
            </a:r>
            <a:endParaRPr lang="ko-KR" sz="3000" dirty="0"/>
          </a:p>
        </p:txBody>
      </p:sp>
      <p:sp>
        <p:nvSpPr>
          <p:cNvPr id="9" name="S09-stepno80"/>
          <p:cNvSpPr txBox="1"/>
          <p:nvPr/>
        </p:nvSpPr>
        <p:spPr>
          <a:xfrm>
            <a:off x="548640" y="22524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81"/>
          <p:cNvSpPr txBox="1"/>
          <p:nvPr/>
        </p:nvSpPr>
        <p:spPr>
          <a:xfrm>
            <a:off x="1325880" y="220675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켜져 있는 전등·전기 제품을 찾아요.</a:t>
            </a:r>
            <a:endParaRPr lang="ko-KR" sz="3000" dirty="0"/>
          </a:p>
        </p:txBody>
      </p:sp>
      <p:sp>
        <p:nvSpPr>
          <p:cNvPr id="11" name="S09-stepno82"/>
          <p:cNvSpPr txBox="1"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83"/>
          <p:cNvSpPr txBox="1"/>
          <p:nvPr/>
        </p:nvSpPr>
        <p:spPr>
          <a:xfrm>
            <a:off x="1325880" y="33009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쓰고 있는지 확인해요.</a:t>
            </a:r>
            <a:endParaRPr lang="ko-KR" sz="3000" dirty="0"/>
          </a:p>
        </p:txBody>
      </p:sp>
      <p:sp>
        <p:nvSpPr>
          <p:cNvPr id="13" name="S09-stepno84"/>
          <p:cNvSpPr txBox="1"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9-text85"/>
          <p:cNvSpPr txBox="1"/>
          <p:nvPr/>
        </p:nvSpPr>
        <p:spPr>
          <a:xfrm>
            <a:off x="1325880" y="40142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3의 표에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0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3000" dirty="0"/>
          </a:p>
        </p:txBody>
      </p:sp>
      <p:sp>
        <p:nvSpPr>
          <p:cNvPr id="4" name="S10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같았나요? 무엇을 끌 수 있었나요?</a:t>
            </a:r>
            <a:endParaRPr lang="ko-KR" sz="3000" dirty="0"/>
          </a:p>
        </p:txBody>
      </p:sp>
      <p:graphicFrame>
        <p:nvGraphicFramePr>
          <p:cNvPr id="11" name="S10-table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284730"/>
          <a:ext cx="9601200" cy="914400"/>
        </p:xfrm>
        <a:graphic>
          <a:graphicData uri="http://schemas.openxmlformats.org/drawingml/2006/table">
            <a:tbl>
              <a:tblPr/>
              <a:tblGrid>
                <a:gridCol w="4800600"/>
                <a:gridCol w="4800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살펴본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켜져 있던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아무도 안 쓰던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많이 찾은 곳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끄면 안 되는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1-card9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9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없는 방의 전등을 하나 껐어요.</a:t>
            </a:r>
            <a:endParaRPr lang="ko-KR" sz="3000" dirty="0"/>
          </a:p>
        </p:txBody>
      </p:sp>
      <p:sp>
        <p:nvSpPr>
          <p:cNvPr id="5" name="S11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우리 조사 결과로 말해요.</a:t>
            </a:r>
            <a:endParaRPr lang="ko-KR" sz="3000" dirty="0"/>
          </a:p>
        </p:txBody>
      </p:sp>
      <p:sp>
        <p:nvSpPr>
          <p:cNvPr id="7" name="S11-chip9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1-text9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전등 하나 끄는 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소용이 없어요.</a:t>
            </a:r>
            <a:endParaRPr lang="ko-KR" sz="3000" dirty="0"/>
          </a:p>
        </p:txBody>
      </p:sp>
      <p:sp>
        <p:nvSpPr>
          <p:cNvPr id="9" name="S11-chip9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1-text9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날마다, 많은 집이 함께 하면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아끼는 전기가 많아져요.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할 수 있는 일</a:t>
            </a:r>
            <a:endParaRPr lang="ko-KR" sz="4000" dirty="0"/>
          </a:p>
        </p:txBody>
      </p:sp>
      <p:sp>
        <p:nvSpPr>
          <p:cNvPr id="3" name="S12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모두 우리가 할 수 있는 일이에요.</a:t>
            </a:r>
            <a:endParaRPr lang="ko-KR" sz="3000" dirty="0"/>
          </a:p>
        </p:txBody>
      </p:sp>
      <p:graphicFrame>
        <p:nvGraphicFramePr>
          <p:cNvPr id="13" name="S12-table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60092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줄이는 행동(온실가스를 줄여요)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대비하는 행동(안전하게 지내요)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쓰는 전등·전기 제품 끄기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폭염 때 물을 자주 마시기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가까운 곳은 걷거나 자전거 타기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한낮 더위에는 그늘에서 쉬기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음식 남기지 않기, 물건 다시 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큰비 예보 때 계곡·하천에 가지 않기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행동일까요?</a:t>
            </a:r>
            <a:endParaRPr lang="ko-KR" sz="4000" dirty="0"/>
          </a:p>
        </p:txBody>
      </p:sp>
      <p:sp>
        <p:nvSpPr>
          <p:cNvPr id="3" name="S13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줄이는 행동인지, 대비하는 행동인지 말해요.</a:t>
            </a:r>
            <a:endParaRPr lang="ko-KR" sz="3000" dirty="0"/>
          </a:p>
        </p:txBody>
      </p:sp>
      <p:sp>
        <p:nvSpPr>
          <p:cNvPr id="4" name="S13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온실가스를 줄이는지, 몸을 지키는지 생각해요.</a:t>
            </a:r>
            <a:endParaRPr lang="ko-KR" sz="3000" dirty="0"/>
          </a:p>
        </p:txBody>
      </p:sp>
      <p:sp>
        <p:nvSpPr>
          <p:cNvPr id="6" name="S13-chip10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ext10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텀블러를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들고 다녀요.</a:t>
            </a:r>
            <a:endParaRPr lang="ko-KR" sz="3000" dirty="0"/>
          </a:p>
        </p:txBody>
      </p:sp>
      <p:sp>
        <p:nvSpPr>
          <p:cNvPr id="8" name="S13-chip10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ext10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폭염 특보 때 바깥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놀이를 줄여요.</a:t>
            </a:r>
            <a:endParaRPr lang="ko-KR" sz="3000" dirty="0"/>
          </a:p>
        </p:txBody>
      </p:sp>
      <p:sp>
        <p:nvSpPr>
          <p:cNvPr id="10" name="S13-chip10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3-text109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학원은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걸어서 가요.</a:t>
            </a:r>
            <a:endParaRPr lang="ko-KR" sz="3000" dirty="0"/>
          </a:p>
        </p:txBody>
      </p:sp>
      <p:sp>
        <p:nvSpPr>
          <p:cNvPr id="12" name="S13-chip11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3-text111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큰비 예보를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chip11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4-text11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날씨와 기후는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다른가요?</a:t>
            </a:r>
            <a:endParaRPr lang="ko-KR" sz="3000" dirty="0"/>
          </a:p>
        </p:txBody>
      </p:sp>
      <p:sp>
        <p:nvSpPr>
          <p:cNvPr id="5" name="S14-chip11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4-text115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기후변화의 예를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말해요.</a:t>
            </a:r>
            <a:endParaRPr lang="ko-KR" sz="3000" dirty="0"/>
          </a:p>
        </p:txBody>
      </p:sp>
      <p:sp>
        <p:nvSpPr>
          <p:cNvPr id="7" name="S14-chip11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4-text117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동안 할 실천을 정해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어떻게 할지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줄이는 행동을 모두 골라요</a:t>
            </a:r>
            <a:endParaRPr lang="ko-KR" sz="4000" dirty="0"/>
          </a:p>
        </p:txBody>
      </p:sp>
      <p:sp>
        <p:nvSpPr>
          <p:cNvPr id="3" name="S16-text1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기후변화를 줄이는 데 도움이 되는 행동은?</a:t>
            </a:r>
            <a:endParaRPr lang="ko-KR" sz="3000" dirty="0"/>
          </a:p>
        </p:txBody>
      </p:sp>
      <p:sp>
        <p:nvSpPr>
          <p:cNvPr id="4" name="S16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도움이 되는 까닭을 말해요.</a:t>
            </a:r>
            <a:endParaRPr lang="ko-KR" sz="3000" dirty="0"/>
          </a:p>
        </p:txBody>
      </p:sp>
      <p:sp>
        <p:nvSpPr>
          <p:cNvPr id="6" name="S16-chip121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6-card122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6-cardtext123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나올 때 방 불 끄기</a:t>
            </a:r>
            <a:endParaRPr lang="ko-KR" sz="3000" dirty="0"/>
          </a:p>
        </p:txBody>
      </p:sp>
      <p:sp>
        <p:nvSpPr>
          <p:cNvPr id="9" name="S16-chip124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6-card125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6-cardtext126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열고 에어컨 켜기</a:t>
            </a:r>
            <a:endParaRPr lang="ko-KR" sz="3000" dirty="0"/>
          </a:p>
        </p:txBody>
      </p:sp>
      <p:sp>
        <p:nvSpPr>
          <p:cNvPr id="12" name="S16-chip127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6-card128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6-cardtext129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곳은 걸어가기</a:t>
            </a:r>
            <a:endParaRPr lang="ko-KR" sz="3000" dirty="0"/>
          </a:p>
        </p:txBody>
      </p:sp>
      <p:sp>
        <p:nvSpPr>
          <p:cNvPr id="15" name="S16-chip130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6-card131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6-cardtext132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급식을 많이 남기기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7-card13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7-cardtext13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기후는 오랜 기간의 날씨예요. 우리 생활도 달라지고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에너지를 아끼고, 더위와 큰비에 대비해요.</a:t>
            </a:r>
            <a:endParaRPr lang="ko-KR" sz="3000" dirty="0"/>
          </a:p>
        </p:txBody>
      </p:sp>
      <p:sp>
        <p:nvSpPr>
          <p:cNvPr id="5" name="S17-chip13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작은 실천을 날마다 하기</a:t>
            </a:r>
            <a:endParaRPr lang="ko-KR" sz="2400" dirty="0"/>
          </a:p>
        </p:txBody>
      </p:sp>
      <p:sp>
        <p:nvSpPr>
          <p:cNvPr id="6" name="S17-chip13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며칠 날씨로 기후를 판단하기</a:t>
            </a:r>
            <a:endParaRPr lang="ko-KR" sz="2400" dirty="0"/>
          </a:p>
        </p:txBody>
      </p:sp>
      <p:sp>
        <p:nvSpPr>
          <p:cNvPr id="7" name="S17-text13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7-text13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날씨와 기후는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다른가요?</a:t>
            </a:r>
            <a:endParaRPr lang="ko-KR" sz="2400" dirty="0"/>
          </a:p>
        </p:txBody>
      </p:sp>
      <p:sp>
        <p:nvSpPr>
          <p:cNvPr id="9" name="S17-text139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생활 속 기후변화의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하나는?</a:t>
            </a:r>
            <a:endParaRPr lang="ko-KR" sz="2400" dirty="0"/>
          </a:p>
        </p:txBody>
      </p:sp>
      <p:sp>
        <p:nvSpPr>
          <p:cNvPr id="10" name="S17-text140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나의 실천 기록은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 지켰나요?</a:t>
            </a:r>
            <a:endParaRPr lang="ko-KR" sz="2400" dirty="0"/>
          </a:p>
        </p:txBody>
      </p:sp>
      <p:sp>
        <p:nvSpPr>
          <p:cNvPr id="11" name="S17-text14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지층과 화석(초5)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지구를 둘러싼 공기</a:t>
            </a:r>
            <a:endParaRPr lang="ko-KR" sz="4000" dirty="0"/>
          </a:p>
        </p:txBody>
      </p:sp>
      <p:sp>
        <p:nvSpPr>
          <p:cNvPr id="3" name="S18-text1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보이지 않지만 지구를 감싸고 있어요.</a:t>
            </a:r>
            <a:endParaRPr lang="ko-KR" sz="3000" dirty="0"/>
          </a:p>
        </p:txBody>
      </p:sp>
      <p:sp>
        <p:nvSpPr>
          <p:cNvPr id="4" name="S18-card1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8-cardtext1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 기체가 달라지면 지구의 기온도 달라져요.</a:t>
            </a:r>
            <a:endParaRPr lang="ko-KR" sz="3000" dirty="0"/>
          </a:p>
        </p:txBody>
      </p:sp>
      <p:sp>
        <p:nvSpPr>
          <p:cNvPr id="6" name="S18-card145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8-cardtext146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기체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않지만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공간을 차지해요.</a:t>
            </a:r>
            <a:endParaRPr lang="ko-KR" sz="3000" dirty="0"/>
          </a:p>
        </p:txBody>
      </p:sp>
      <p:sp>
        <p:nvSpPr>
          <p:cNvPr id="8" name="S18-card147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8-cardtext148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무게도 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공이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무거웠어요.</a:t>
            </a:r>
            <a:endParaRPr lang="ko-KR" sz="3000" dirty="0"/>
          </a:p>
        </p:txBody>
      </p:sp>
      <p:sp>
        <p:nvSpPr>
          <p:cNvPr id="10" name="S18-card149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8-cardtext150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기체가 섞여요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이산화 탄소도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하나예요.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기후변화와 생활</dc:title>
  <dc:subject>KR22-G04-SCI-CLIMATE-L01</dc:subject>
  <dc:creator>education-ppt</dc:creator>
  <cp:lastModifiedBy>education-ppt</cp:lastModifiedBy>
  <cp:revision>1</cp:revision>
  <dcterms:created xsi:type="dcterms:W3CDTF">2026-10-26T13:23:03Z</dcterms:created>
  <dcterms:modified xsi:type="dcterms:W3CDTF">2026-10-26T13:23:03Z</dcterms:modified>
</cp:coreProperties>
</file>