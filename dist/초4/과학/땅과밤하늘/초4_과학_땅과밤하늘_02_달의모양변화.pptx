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61e89b6-c7d7-1fb1-a16c-84fd9e5c1ea8}">
          <p14:sldIdLst>
            <p14:sldId id="256"/>
            <p14:sldId id="257"/>
          </p14:sldIdLst>
        </p14:section>
        <p14:section name="개념" id="{7fa8662c-c480-fdf1-dfa7-79bfb61a354c}">
          <p14:sldIdLst>
            <p14:sldId id="258"/>
            <p14:sldId id="262"/>
            <p14:sldId id="264"/>
          </p14:sldIdLst>
        </p14:section>
        <p14:section name="연습" id="{25e2f601-4fe3-b7db-eab7-1758ddd7595f}">
          <p14:sldIdLst>
            <p14:sldId id="259"/>
            <p14:sldId id="260"/>
            <p14:sldId id="261"/>
            <p14:sldId id="263"/>
            <p14:sldId id="265"/>
            <p14:sldId id="266"/>
          </p14:sldIdLst>
        </p14:section>
        <p14:section name="개념" id="{80866998-5f9a-b721-33d2-adf87764341b}">
          <p14:sldIdLst/>
        </p14:section>
        <p14:section name="연습" id="{9e376912-ab8d-0623-67b0-7c03c2bedf06}">
          <p14:sldIdLst/>
        </p14:section>
        <p14:section name="개념" id="{dd3427f6-51dc-a95f-bdcb-c24b1ac76c58}">
          <p14:sldIdLst/>
        </p14:section>
        <p14:section name="연습" id="{e3af8e61-9c5e-6220-0bf5-ae7ef7ce79cb}">
          <p14:sldIdLst/>
        </p14:section>
        <p14:section name="확인" id="{9fdb1052-f6c8-b492-c4de-44d726379a77}">
          <p14:sldIdLst>
            <p14:sldId id="267"/>
            <p14:sldId id="268"/>
            <p14:sldId id="269"/>
          </p14:sldIdLst>
        </p14:section>
        <p14:section name="정리" id="{1d400c78-5189-eddf-30d8-6e581c48d384}">
          <p14:sldIdLst>
            <p14:sldId id="270"/>
          </p14:sldIdLst>
        </p14:section>
        <p14:section name="보충" id="{407a9d92-5e35-3910-bc3d-523457e8467d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달을 본 경험을 떠올려 궁금증을 갖게 합니다.
시간: 약 2분
이렇게 말해 보세요
- “밤하늘에서 달을 본 적 있지? 달은 늘 둥근 모양이었어?”
- “오늘은 달의 여러 가지 모양을 알아보고, 여러 날 동안 달을 관찰한 기록을 함께 읽을 거야. 그리고 오늘 저녁부터 너도 직접 기록해 보자.”
예상 답
- “어떤 날은 둥글고 어떤 날은 반쪽이에요.” “눈썹 같은 달도 봤어요.” 어떤 답이든 괜찮습니다.
막히면
- “추석에 본 달은 어떤 모양이었어?”처럼 명절이나 아이가 기억할 만한 날을 떠올리게 합니다.
주의
- 수업 전에 달력에서 오늘의 음력 날짜를 확인해 둡니다. 음력 2~3일부터 15일 무렵까지는 해 진 뒤 저녁에 달을 볼 수 있어 관찰을 시작하기 좋습니다. 음력 16일이 지났다면 다음 음력 2~3일에 관찰을 시작합니다(S11).
- 해는 어떤 방법으로도 직접 보지 않게 합니다. 밤 관찰은 반드시 어른이 함께합니다.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확인(지난 시간, 방위)]
목적: 앞 차시 ‘흐르는 물과 땅’(KR22-G04-SCI-RIVER-L01)을 복습하고, 오늘 달의 위치를 말할 때 필요한 방위(동·서·남)를 확인합니다.
시간: 약 3분
이렇게 말해 보세요
- “① 지난 시간 흙 언덕 실험에서, 흐르는 물이 땅을 깎는 것을 뭐라고 했지?”
- “② 해는 어느 쪽으로 질까?”
- “③ 남쪽을 바라보고 서 볼까? 그럼 왼손 쪽은 어느 쪽일까?”
정답
- ① 침식
- ② 서쪽
- ③ 동쪽(오른쪽은 서쪽)
막히면
- ①이 흔들리면 앞 차시 S06을 다시 봅니다.
- ②③이 어려우면 S16(보충)을 먼저 합니다. 실제로 해가 지는 쪽 창문을 가리켜 ‘서쪽’을 정하고, 그 쪽을 오른손에 두고 서면 앞이 남쪽입니다.
주의
- 방위는 4학년 사회 ‘지도 읽기’에서도 배웁니다. 오늘은 동·서·남 세 방향만 쓰면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달의 여러 가지 모양과 이름]
목적: 달의 다섯 가지 모양과 이름을 익히고, 밝은 쪽(오른쪽·왼쪽)으로 구별하게 합니다(목표 A, 오해 M2). 바뀌는 차례는 기록을 읽은 뒤 S07에서 정리하므로 여기서는 섞어 놓았습니다.
시간: 약 3분
이렇게 말해 보세요
- “노란 부분이 우리 눈에 밝게 보이는 부분이야. 둥글게 다 밝은 달은 ‘보름달’이라고 해.”
- “반달은 두 가지가 있어. 오른쪽 반이 밝으면 ‘상현달’, 왼쪽 반이 밝으면 ‘하현달’이야.”
- “눈썹처럼 가는 달도 두 가지야. 오른쪽이 가늘게 밝으면 ‘초승달’, 왼쪽이 가늘게 밝으면 ‘그믐달’이야.”
예상 답
- “반달은 상현달하고 하현달이에요.” “초승달은 오른쪽이 밝아요.”
막히면
- 손가락으로 밝은 쪽을 가리키며 ‘오른쪽’, ‘왼쪽’을 먼저 말하게 한 뒤 이름을 붙입니다.
- 종이에 동그라미 다섯 개를 그리고 밝은 부분만 색칠해 보며 이름을 써도 좋습니다.
주의
- 회색 부분은 밝지 않아 잘 보이지 않는 부분입니다. 실제 하늘에서는 거의 보이지 않습니다.
- 우리나라처럼 지구의 북쪽 땅에서 볼 때의 모습입니다. 달이 낮게 떠 있을 때는 밝은 쪽이 조금 기울어 보일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기록을 보기 전 예상하기]
목적: 관찰 기록을 읽기 전에 달의 모양과 위치가 어떻게 바뀔지 예상하고 까닭을 말합니다(목표 A·B). 결과는 S05에서 기록을 읽어 확인합니다.
시간: 약 2분
이렇게 말해 보세요
- “초승달이 며칠 지나면 어떤 모양이 될까? 왜 그렇게 생각해?”
- “매일 저녁 7시에 같은 곳에서 보면, 달은 늘 같은 곳에 있을까?”
- “예상은 활동지 1의 ‘내 예상’ 칸에 짧게 써 줘.”
예상 답
- 어떤 예상이든 괜찮습니다. “점점 커질 것 같아요.” “늘 같은 곳에 있을 것 같아요.” “보름달 다음에는 다시 작아질 것 같아요.”
막히면
- 쓰기가 느리면 아이가 말하고 부모가 받아 적습니다.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예시 관찰 기록 읽기]
목적: 같은 곳·같은 시각에 여러 날 그린 예시 관찰 기록을 읽고, 달의 모양과 위치가 어떻게 바뀌었는지 찾습니다(목표 A·B). 실제 관찰은 여러 날이 걸리므로 오늘은 예시 기록으로 확인하고, 아이의 기록은 S11부터 시작합니다.
시간: 약 4분
이렇게 말해 보세요
- “이 기록은 어떤 어린이가 저녁 7시에 같은 곳에 서서 남쪽 하늘을 보며 그린 거야. 날짜를 차례로 짚어 볼까?”
- “음력 3일에는 달이 어떤 모양이었어? 어느 쪽 하늘에 있었어? 7일에는? 15일에는?”
- “달이 날마다 어느 쪽으로 옮겨 갔을까?”
예상 답
- “3일에는 초승달이 서쪽에, 7일에는 상현달이 남쪽에, 15일에는 보름달이 동쪽에 있었어요.”
- “점점 동쪽으로 갔어요.” “모양이 점점 커졌어요(밝은 부분이 넓어졌어요).”
막히면
- 그림 아래의 동·남·서 글자를 손가락으로 짚고, 각 달에서 땅으로 손가락을 내려 어느 글자와 가까운지 찾게 합니다.
- ‘음력’은 달의 모양에 맞춘 날짜로, 달력에 작은 글씨로 적혀 있다고 알려 줍니다.
주의
- 남쪽을 보고 그린 그림이라 왼쪽이 동쪽, 오른쪽이 서쪽입니다. 지도(위쪽이 북쪽)와 방향이 다르니 헷갈리지 않게 짚어 줍니다.
- 실제로는 달이 보이는 높이가 계절에 따라 조금씩 다릅니다. 방향(서·남·동)을 찾는 것이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기록에서 찾은 결과 정리]
목적: 기록에서 찾은 모양과 방향을 표로 정리하고 예상과 비교합니다(목표 A·B, 오해 M3).
시간: 약 3분
이렇게 말해 보세요
- “한 줄씩 말해 줄래? 3일에는 어떤 모양이 어느 쪽에 보였어?”
- “예상과 같은 것, 다른 것은 뭐야?”
예상 답
- 3일: 초승달, 서쪽 / 7일: 상현달, 남쪽 / 15일: 보름달, 동쪽
- “모양은 점점 둥글어지고, 위치는 서쪽에서 동쪽으로 옮겨 갔어요.”
막히면
- S05 그림을 다시 보여 주고 한 날짜씩 짚습니다.
주의
- 화면의 빈칸은 아이가 말로 채우는 자리입니다. 예상이 달랐다면 예상 칸은 고치지 않고 ‘결과’만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결과로 설명하기(모양이 바뀌는 차례)]
목적: 기록에서 찾은 차례(초승달 → 상현달 → 보름달)에 이어 하현달·그믐달까지, 달의 모양이 약 한 달마다 되풀이된다는 것을 정리합니다(목표 A, 오해 M2).
시간: 약 3분
이렇게 말해 보세요
- “기록에서는 초승달, 상현달, 보름달 차례였지? 보름달 뒤로는 밝은 부분이 다시 줄어서 하현달, 그믐달이 돼.”
- “그믐달 다음에는 어떻게 될까? 화살표를 따라가 볼까?”
- “보름달 앞의 달들은 어느 쪽이 밝아? 보름달 뒤의 달들은?”
예상 답
- “다시 초승달이 돼요.” “보름달 앞은 오른쪽, 뒤는 왼쪽이 밝아요.”
막히면
- S03의 다섯 그림을 종이에 따라 그려 오려서 차례대로 놓아 보게 합니다.
주의
- 하현달과 그믐달은 저녁 7시에는 보이지 않고, 밤늦게 뜨거나 새벽에 보입니다. 그래서 저녁 기록에는 나오지 않았습니다.
- 되풀이되는 기간은 정확히는 약 29.5일입니다. 아이에게는 ‘약 한 달(약 30일)’로 말합니다.
- 모양이 바뀌는 까닭은 6학년에서 배웁니다. 아이가 물으면 “그건 6학년 때 알아보자. 오늘은 어떻게 바뀌는지 기록으로 확인하는 거야.”라고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비교(구름이 가려서 모양이 바뀐다)]
목적: ‘구름이 가려서 모양이 바뀐다’는 생각을 관찰 기록으로 바로잡습니다(목표 A, 오해 M1).
시간: 약 2분
이렇게 말해 보세요
- “토끼는 구름이 가려서 반달이 됐대. 곰은 맑은 날에도 모양이 바뀐대. 누구 말이 맞을까?”
- “구름이 가리면 달의 가장자리는 어떻게 보일까? 반달의 곧은 경계처럼 깔끔할까?”
정답
- 곰. 증거: 구름이 없는 맑은 날에 같은 곳에서 본 기록에서도 달의 모양이 날마다 바뀌었습니다.
- 또 다른 증거: 구름은 움직이고 모양이 제멋대로라서 가린 부분이 금방 바뀌지만, 달의 모양은 정해진 차례로 바뀝니다.
막히면
- “구름 한 점 없는 날에 본 달도 반달일 수 있을까?”라고 묻고, 오늘 저녁 맑으면 직접 확인해 보자고 합니다.
주의
- ‘지구의 그림자가 가려서’라고 말하는 아이도 있습니다. 그것도 맞지 않지만, 까닭은 6학년에서 배우므로 오늘은 ‘맑은 날에도 바뀐다’는 증거까지만 다룹니다.
- 지치면 여기서 쉬고,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결과로 설명하기(같은 시각, 위치 변화)]
목적: 예시 기록의 결과로, 같은 시각에 여러 날 관찰하면 달의 위치가 서쪽에서 동쪽으로 옮겨 간다는 것을 정리합니다(목표 B, 오해 M3).
시간: 약 3분
이렇게 말해 보세요
- “같은 곳에서 같은 시각에 봤는데, 달이 있는 곳이 날마다 달랐지? 화살표를 따라가 보자. 어느 쪽에서 어느 쪽으로 갔어?”
- “그래서 달을 관찰할 때는 꼭 같은 곳, 같은 시각에 봐야 해. 왜 그럴까?”
예상 답
- “서쪽에서 동쪽으로 갔어요.” “시각이 다르면 위치를 비교할 수 없어요.”
막히면
- 그림의 화살표를 손가락으로 따라가며 ‘서 → 남 → 동’을 소리 내어 읽게 합니다.
주의
- 하룻밤 동안 몇 시간 계속 보면, 달은 해처럼 동쪽에서 떠서 서쪽으로 집니다. 오늘 다루는 것은 ‘날마다 같은 시각’의 위치 변화로, 방향이 반대입니다. 아이가 헷갈리면 “하룻밤 동안의 움직임은 다음에 알아보자.”라고만 합니다.
- 그림은 남쪽을 보고 그렸기 때문에 왼쪽이 동쪽, 오른쪽이 서쪽입니다.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모양과 위치 연습]
목적: 도움을 받으며 같은 시각의 위치 변화(①②)와 달의 모양 이름(③④)을 연습합니다(목표 A·B).
시간: 약 3분
이렇게 말해 보세요
- “①부터 말해 볼래? 기록에서 상현달 다음에는 어떤 달이 어디에 보였지?”
- “④는 밝은 쪽이 오른쪽이야, 왼쪽이야? 굵어, 가늘어?”
정답
- ① 동쪽 하늘에 보름달(또는 보름달에 가까운 둥근 달)
- ② 남쪽 하늘에 상현달(또는 상현달에 가까운 달)
- ③ 상현달
- ④ 그믐달(왼쪽이 가늘게 밝음)
막히면
- ①②는 S09 그림, ③④는 S03·S07 그림을 다시 보여 줍니다.
주의
- ①은 음력 7일 무렵 상현달에서 8일 뒤면 음력 15일 무렵, ②는 음력 3일 무렵 초승달에서 4일 뒤면 음력 7일 무렵이라는 뜻입니다(예시 기록과 같습니다). ‘보름달에 가까운 둥근 달’, ‘남쪽 가까이’처럼 말해도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여러 날 관찰 시작하기]
목적: 같은 곳·같은 시각을 지켜 여러 날 동안 달의 모양과 위치를 기록하는 방법을 정하고, 활동지 5·6의 기록을 시작합니다(목표 B).
시간: 약 3분
이렇게 말해 보세요
- “어디에서 관찰할까? 남쪽 하늘이 잘 보이고, 늘 같은 자리에 설 수 있는 곳을 정하자.”
- “그림에 건물이나 나무를 같이 그려 두면, 다음에 달이 어디로 옮겨 갔는지 비교하기 쉬워.”
- “오늘 저녁 7시에 첫 번째 기록을 해 보자. 흐려서 안 보이면 ‘흐림’이라고 쓰면 돼.”
예상 답
- “베란다 창문 앞에서 볼래요.” “아파트 옆 나무를 같이 그릴래요.”
막히면
- 방향을 모르면 해가 지는 쪽을 서쪽으로 정하고, 서쪽을 오른손에 두고 서면 앞이 남쪽, 왼쪽이 동쪽입니다(S16).
- 그리기가 어려우면 모양 이름과 방향만 써도 됩니다.
주의
- 해는 맨눈·쌍안경·선글라스로도 절대 보지 않습니다. 해 질 녘에 달을 찾을 때도 해 쪽을 보지 않게 합니다.
- 밤에는 반드시 어른이 함께 나가고, 찻길·어두운 계단·옥상 난간을 피합니다. 베란다에서는 난간에 올라가거나 몸을 내밀지 않습니다.
- 음력 2~3일부터 15일 무렵까지 2~3일마다 기록하면 초승달에서 보름달까지 볼 수 있습니다. 음력 16일이 지났다면 다음 음력 2~3일에 시작합니다. 기록은 다음 수업과 그다음 수업을 시작할 때 함께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해결]
목적: 도움 없이 달의 모양 이름과 차례(①②), 같은 시각의 위치 변화(③)를 말하는지 확인합니다(목표 A·B).
시간: 약 3분
이렇게 말해 보세요
- “이번에는 혼자 답해 볼래? 왜 그렇게 생각했는지도 말해 줘.”
정답
- ① 하현달
- ② 그믐달
- ③ 서쪽에서 동쪽으로
막히면
- 바로 알려 주지 말고 “차례 그림에서 보름달 다음은 무엇이었지?”, “기록에서 초승달은 어느 쪽에 있었지?”라고만 묻습니다.
- 도움을 받아 해결했다면 기록표에 ‘도움’으로 표시합니다.
주의
- ①에서 ‘상현달’, ②에서 ‘초승달’이라고 하면 밝은 쪽을 보지 않은 것입니다(오해 M2). S03을 다시 봅니다.
- ③에서 ‘동쪽에서 서쪽으로’라고 하면 하룻밤 동안의 움직임과 섞은 것입니다(오해 M3). S09를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2분
이렇게 말해 보세요
- “네 답과 같은지 볼까? 다르면 어디서 달라졌는지 찾아보자.”
정답
- ① 하현달 ② 그믐달 ③ 서쪽에서 동쪽으로
막히면
- ①②가 틀리면 S03·S07로(M2), ③이 틀리면 S09로(M3)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확인(초승달 고르기)]
목적: 처음 보는 문제에서 밝은 쪽을 보고 초승달을 고르며 까닭을 말하는지 확인합니다(목표 A, 오해 M2).
시간: 약 2분
이렇게 말해 보세요
- “음력 3일 저녁 서쪽 하늘의 달이래. 가, 나, 다 중 어느 것일까? 왜 그렇게 생각해?”
정답
- 나. 초승달은 오른쪽이 가늘게 밝은 눈썹 모양입니다. 가는 왼쪽이 가늘게 밝은 그믐달, 다는 왼쪽 반이 밝은 하현달입니다.
막히면
- S03과 S07 그림을 다시 보여 주고 ‘밝은 쪽’부터 말하게 합니다.
주의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정리와 다음 수업 복습]
목적: 핵심을 정리하고 다음 수업 첫 5분에 풀 복습 문제를 알려 줍니다.
시간: 약 1분
이렇게 말해 보세요
- “달의 모양이 바뀌는 차례를 처음부터 말해 볼래? 같은 시각에 보면 달은 어느 쪽으로 옮겨 가지?”
예상 답
- “초승달, 상현달, 보름달, 하현달, 그믐달이요. 서쪽에서 동쪽으로 가요.”
정답
- ① 상현달 ② 하현달 ③ 서쪽에서 동쪽으로
막히면
- S07과 S09를 다시 보여 줍니다.
주의
- 복습 세 문제는 다음 수업을 시작할 때 활동지 마지막 쪽과 함께 풉니다. 그때 아이의 관찰 기록(활동지 5·6)도 함께 봅니다.
- 관찰은 2주쯤 이어집니다. 기록이 쌓이면 S06의 표와 비교해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보충(동서남북 찾기)]
목적: S02 ②③이 흔들리면, 해가 뜨고 지는 쪽으로 동쪽과 서쪽을 정하고 남쪽을 보고 섰을 때의 방향을 몸으로 익힙니다.
시간: 약 4분
이렇게 말해 보세요
- “아침에 해가 들어오는 창문은 어느 쪽이야? 거기가 동쪽이야. 저녁에 해가 지는 쪽은 서쪽이야.”
- “이제 서쪽을 오른손으로, 동쪽을 왼손으로 가리켜 봐. 그럼 네 앞이 남쪽이야.”
예상 답
- “거실 창문이 동쪽이에요.” “앞이 남쪽이에요.”
막히면
- 종이에 ‘동’, ‘서’, ‘남’을 크게 써서 집 안 벽에 붙이고, 그 앞에 서서 몸을 돌려 보게 합니다. 휴대 전화 나침반을 써도 됩니다.
주의
- 계획상 선수 차시 ‘흐르는 물과 땅’(KR22-G04-SCI-RIVER-L01)은 방위와 직접 이어지지 않습니다. 방위가 계속 어려우면 4학년 사회 ‘지도 읽기’(KR22-G04-SOC-MAP-L01)의 방위 부분을 함께 봅니다.
- 해는 직접 보지 않습니다. 해가 비치는 쪽(창문, 그림자 반대쪽)으로만 방향을 찾습니다.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땅과밤하늘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달의 모양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달의 모양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과학 · 달의 모양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달의 모양 변화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달의 모양과 위치는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날마다 어떻게 바뀔까?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보름달과 초승달"/>
          <p:cNvSpPr/>
          <p:nvPr/>
        </p:nvSpPr>
        <p:spPr>
          <a:xfrm>
            <a:off x="7772400" y="1305452"/>
            <a:ext cx="1595336" cy="1595336"/>
          </a:xfrm>
          <a:prstGeom prst="ellipse">
            <a:avLst/>
          </a:prstGeom>
          <a:solidFill>
            <a:srgbClr val="F2C14E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926104" y="1305452"/>
            <a:ext cx="1595336" cy="1595336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10723772" y="1305452"/>
            <a:ext cx="797668" cy="1595336"/>
          </a:xfrm>
          <a:custGeom>
            <a:avLst/>
            <a:gdLst/>
            <a:ahLst/>
            <a:cxnLst/>
            <a:rect l="l" t="t" r="r" b="b"/>
            <a:pathLst>
              <a:path w="797668" h="1595336">
                <a:moveTo>
                  <a:pt x="0" y="1595336"/>
                </a:moveTo>
                <a:lnTo>
                  <a:pt x="104495" y="1588157"/>
                </a:lnTo>
                <a:lnTo>
                  <a:pt x="206596" y="1568215"/>
                </a:lnTo>
                <a:lnTo>
                  <a:pt x="305507" y="1534713"/>
                </a:lnTo>
                <a:lnTo>
                  <a:pt x="398834" y="1488449"/>
                </a:lnTo>
                <a:lnTo>
                  <a:pt x="485780" y="1430219"/>
                </a:lnTo>
                <a:lnTo>
                  <a:pt x="563951" y="1361619"/>
                </a:lnTo>
                <a:lnTo>
                  <a:pt x="632551" y="1283448"/>
                </a:lnTo>
                <a:lnTo>
                  <a:pt x="690781" y="1196502"/>
                </a:lnTo>
                <a:lnTo>
                  <a:pt x="737045" y="1103175"/>
                </a:lnTo>
                <a:lnTo>
                  <a:pt x="770547" y="1004264"/>
                </a:lnTo>
                <a:lnTo>
                  <a:pt x="790489" y="902163"/>
                </a:lnTo>
                <a:lnTo>
                  <a:pt x="797668" y="797668"/>
                </a:lnTo>
                <a:lnTo>
                  <a:pt x="790489" y="693174"/>
                </a:lnTo>
                <a:lnTo>
                  <a:pt x="770547" y="591072"/>
                </a:lnTo>
                <a:lnTo>
                  <a:pt x="737045" y="492161"/>
                </a:lnTo>
                <a:lnTo>
                  <a:pt x="690781" y="398834"/>
                </a:lnTo>
                <a:lnTo>
                  <a:pt x="632551" y="311888"/>
                </a:lnTo>
                <a:lnTo>
                  <a:pt x="563951" y="233717"/>
                </a:lnTo>
                <a:lnTo>
                  <a:pt x="485780" y="165117"/>
                </a:lnTo>
                <a:lnTo>
                  <a:pt x="398834" y="106888"/>
                </a:lnTo>
                <a:lnTo>
                  <a:pt x="305507" y="60623"/>
                </a:lnTo>
                <a:lnTo>
                  <a:pt x="206596" y="27121"/>
                </a:lnTo>
                <a:lnTo>
                  <a:pt x="104495" y="7179"/>
                </a:lnTo>
                <a:lnTo>
                  <a:pt x="0" y="0"/>
                </a:lnTo>
                <a:lnTo>
                  <a:pt x="0" y="0"/>
                </a:lnTo>
                <a:lnTo>
                  <a:pt x="67802" y="7179"/>
                </a:lnTo>
                <a:lnTo>
                  <a:pt x="134008" y="27121"/>
                </a:lnTo>
                <a:lnTo>
                  <a:pt x="198619" y="60623"/>
                </a:lnTo>
                <a:lnTo>
                  <a:pt x="259242" y="106888"/>
                </a:lnTo>
                <a:lnTo>
                  <a:pt x="315877" y="165117"/>
                </a:lnTo>
                <a:lnTo>
                  <a:pt x="366927" y="233717"/>
                </a:lnTo>
                <a:lnTo>
                  <a:pt x="411597" y="311888"/>
                </a:lnTo>
                <a:lnTo>
                  <a:pt x="449087" y="398834"/>
                </a:lnTo>
                <a:lnTo>
                  <a:pt x="479399" y="492161"/>
                </a:lnTo>
                <a:lnTo>
                  <a:pt x="500936" y="591072"/>
                </a:lnTo>
                <a:lnTo>
                  <a:pt x="513698" y="693174"/>
                </a:lnTo>
                <a:lnTo>
                  <a:pt x="518484" y="797668"/>
                </a:lnTo>
                <a:lnTo>
                  <a:pt x="513698" y="902163"/>
                </a:lnTo>
                <a:lnTo>
                  <a:pt x="500936" y="1004264"/>
                </a:lnTo>
                <a:lnTo>
                  <a:pt x="479399" y="1103175"/>
                </a:lnTo>
                <a:lnTo>
                  <a:pt x="449087" y="1196502"/>
                </a:lnTo>
                <a:lnTo>
                  <a:pt x="411597" y="1283448"/>
                </a:lnTo>
                <a:lnTo>
                  <a:pt x="366927" y="1361619"/>
                </a:lnTo>
                <a:lnTo>
                  <a:pt x="315877" y="1430219"/>
                </a:lnTo>
                <a:lnTo>
                  <a:pt x="259242" y="1488449"/>
                </a:lnTo>
                <a:lnTo>
                  <a:pt x="198619" y="1534713"/>
                </a:lnTo>
                <a:lnTo>
                  <a:pt x="134008" y="1568215"/>
                </a:lnTo>
                <a:lnTo>
                  <a:pt x="67802" y="1588157"/>
                </a:lnTo>
                <a:lnTo>
                  <a:pt x="0" y="1595336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01-mark5"/>
          <p:cNvSpPr/>
          <p:nvPr/>
        </p:nvSpPr>
        <p:spPr>
          <a:xfrm>
            <a:off x="7772400" y="1305452"/>
            <a:ext cx="1595336" cy="1595336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926104" y="1305452"/>
            <a:ext cx="1595336" cy="1595336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01-card7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1" name="S01-cardtext8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달의 여러 가지 모양과 바뀌는 차례를 알아요.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같은 시각에 달의 위치가 어떻게 바뀌는지 기록해요.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떠올려요</a:t>
            </a:r>
            <a:endParaRPr lang="ko-KR" sz="4000" dirty="0"/>
          </a:p>
        </p:txBody>
      </p:sp>
      <p:sp>
        <p:nvSpPr>
          <p:cNvPr id="3" name="S02-chip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1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물이 땅을 깎는 것을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무엇이라고 하나요?</a:t>
            </a:r>
            <a:endParaRPr lang="ko-KR" sz="3000" dirty="0"/>
          </a:p>
        </p:txBody>
      </p:sp>
      <p:sp>
        <p:nvSpPr>
          <p:cNvPr id="5" name="S02-chip1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1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해가 지는 쪽은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동쪽과 서쪽 중 어디일까요?</a:t>
            </a:r>
            <a:endParaRPr lang="ko-KR" sz="3000" dirty="0"/>
          </a:p>
        </p:txBody>
      </p:sp>
      <p:sp>
        <p:nvSpPr>
          <p:cNvPr id="7" name="S02-chip1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1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남쪽을 보고 서면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어느 쪽일까요?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달의 여러 가지 모양</a:t>
            </a:r>
            <a:endParaRPr lang="ko-KR" sz="4000" dirty="0"/>
          </a:p>
        </p:txBody>
      </p:sp>
      <p:sp>
        <p:nvSpPr>
          <p:cNvPr id="3" name="S03-text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밝게 보이는 부분의 모양에 따라 이름이 달라요.</a:t>
            </a:r>
            <a:endParaRPr lang="ko-KR" sz="3000" dirty="0"/>
          </a:p>
        </p:txBody>
      </p:sp>
      <p:sp>
        <p:nvSpPr>
          <p:cNvPr id="4" name="S03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밝은 쪽이 오른쪽인지 왼쪽인지 잘 봐요.</a:t>
            </a:r>
            <a:endParaRPr lang="ko-KR" sz="3000" dirty="0"/>
          </a:p>
        </p:txBody>
      </p:sp>
      <p:sp>
        <p:nvSpPr>
          <p:cNvPr id="6" name="S03-figure18" descr="보름달: 둥글게 모두 밝은 달"/>
          <p:cNvSpPr/>
          <p:nvPr/>
        </p:nvSpPr>
        <p:spPr>
          <a:xfrm>
            <a:off x="843991" y="2638044"/>
            <a:ext cx="1371600" cy="1371600"/>
          </a:xfrm>
          <a:prstGeom prst="ellipse">
            <a:avLst/>
          </a:prstGeom>
          <a:solidFill>
            <a:srgbClr val="F2C14E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7" name="S03-mark19"/>
          <p:cNvSpPr/>
          <p:nvPr/>
        </p:nvSpPr>
        <p:spPr>
          <a:xfrm>
            <a:off x="843991" y="2638044"/>
            <a:ext cx="1371600" cy="1371600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03-label20"/>
          <p:cNvSpPr txBox="1"/>
          <p:nvPr/>
        </p:nvSpPr>
        <p:spPr>
          <a:xfrm>
            <a:off x="548640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보름달</a:t>
            </a:r>
            <a:endParaRPr lang="ko-KR" sz="2400" dirty="0"/>
          </a:p>
        </p:txBody>
      </p:sp>
      <p:sp>
        <p:nvSpPr>
          <p:cNvPr id="9" name="S03-figure21" descr="그믐달: 왼쪽이 가늘게 밝은 눈썹 모양"/>
          <p:cNvSpPr/>
          <p:nvPr/>
        </p:nvSpPr>
        <p:spPr>
          <a:xfrm>
            <a:off x="3126334" y="2638044"/>
            <a:ext cx="1371600" cy="1371600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0" name="S03-mark22"/>
          <p:cNvSpPr/>
          <p:nvPr/>
        </p:nvSpPr>
        <p:spPr>
          <a:xfrm>
            <a:off x="3126334" y="2638044"/>
            <a:ext cx="685800" cy="1371600"/>
          </a:xfrm>
          <a:custGeom>
            <a:avLst/>
            <a:gdLst/>
            <a:ahLst/>
            <a:cxnLst/>
            <a:rect l="l" t="t" r="r" b="b"/>
            <a:pathLst>
              <a:path w="685800" h="1371600">
                <a:moveTo>
                  <a:pt x="685800" y="1371600"/>
                </a:moveTo>
                <a:lnTo>
                  <a:pt x="595960" y="1365428"/>
                </a:lnTo>
                <a:lnTo>
                  <a:pt x="508178" y="1348283"/>
                </a:lnTo>
                <a:lnTo>
                  <a:pt x="423139" y="1319479"/>
                </a:lnTo>
                <a:lnTo>
                  <a:pt x="342900" y="1279703"/>
                </a:lnTo>
                <a:lnTo>
                  <a:pt x="268148" y="1229639"/>
                </a:lnTo>
                <a:lnTo>
                  <a:pt x="200939" y="1170661"/>
                </a:lnTo>
                <a:lnTo>
                  <a:pt x="141961" y="1103452"/>
                </a:lnTo>
                <a:lnTo>
                  <a:pt x="91897" y="1028700"/>
                </a:lnTo>
                <a:lnTo>
                  <a:pt x="52121" y="948461"/>
                </a:lnTo>
                <a:lnTo>
                  <a:pt x="23317" y="863422"/>
                </a:lnTo>
                <a:lnTo>
                  <a:pt x="6172" y="775640"/>
                </a:lnTo>
                <a:lnTo>
                  <a:pt x="0" y="685800"/>
                </a:lnTo>
                <a:lnTo>
                  <a:pt x="6172" y="595960"/>
                </a:lnTo>
                <a:lnTo>
                  <a:pt x="23317" y="508178"/>
                </a:lnTo>
                <a:lnTo>
                  <a:pt x="52121" y="423139"/>
                </a:lnTo>
                <a:lnTo>
                  <a:pt x="91897" y="342900"/>
                </a:lnTo>
                <a:lnTo>
                  <a:pt x="141961" y="268148"/>
                </a:lnTo>
                <a:lnTo>
                  <a:pt x="200939" y="200939"/>
                </a:lnTo>
                <a:lnTo>
                  <a:pt x="268148" y="141961"/>
                </a:lnTo>
                <a:lnTo>
                  <a:pt x="342900" y="91897"/>
                </a:lnTo>
                <a:lnTo>
                  <a:pt x="423139" y="52121"/>
                </a:lnTo>
                <a:lnTo>
                  <a:pt x="508178" y="23317"/>
                </a:lnTo>
                <a:lnTo>
                  <a:pt x="595960" y="6172"/>
                </a:lnTo>
                <a:lnTo>
                  <a:pt x="685800" y="0"/>
                </a:lnTo>
                <a:lnTo>
                  <a:pt x="685800" y="0"/>
                </a:lnTo>
                <a:lnTo>
                  <a:pt x="627507" y="6172"/>
                </a:lnTo>
                <a:lnTo>
                  <a:pt x="570586" y="23317"/>
                </a:lnTo>
                <a:lnTo>
                  <a:pt x="515036" y="52121"/>
                </a:lnTo>
                <a:lnTo>
                  <a:pt x="462915" y="91897"/>
                </a:lnTo>
                <a:lnTo>
                  <a:pt x="414223" y="141961"/>
                </a:lnTo>
                <a:lnTo>
                  <a:pt x="370332" y="200939"/>
                </a:lnTo>
                <a:lnTo>
                  <a:pt x="331927" y="268148"/>
                </a:lnTo>
                <a:lnTo>
                  <a:pt x="299695" y="342900"/>
                </a:lnTo>
                <a:lnTo>
                  <a:pt x="273634" y="423139"/>
                </a:lnTo>
                <a:lnTo>
                  <a:pt x="255118" y="508178"/>
                </a:lnTo>
                <a:lnTo>
                  <a:pt x="244145" y="595960"/>
                </a:lnTo>
                <a:lnTo>
                  <a:pt x="240030" y="685800"/>
                </a:lnTo>
                <a:lnTo>
                  <a:pt x="244145" y="775640"/>
                </a:lnTo>
                <a:lnTo>
                  <a:pt x="255118" y="863422"/>
                </a:lnTo>
                <a:lnTo>
                  <a:pt x="273634" y="948461"/>
                </a:lnTo>
                <a:lnTo>
                  <a:pt x="299695" y="1028700"/>
                </a:lnTo>
                <a:lnTo>
                  <a:pt x="331927" y="1103452"/>
                </a:lnTo>
                <a:lnTo>
                  <a:pt x="370332" y="1170661"/>
                </a:lnTo>
                <a:lnTo>
                  <a:pt x="414223" y="1229639"/>
                </a:lnTo>
                <a:lnTo>
                  <a:pt x="462915" y="1279703"/>
                </a:lnTo>
                <a:lnTo>
                  <a:pt x="515036" y="1319479"/>
                </a:lnTo>
                <a:lnTo>
                  <a:pt x="570586" y="1348283"/>
                </a:lnTo>
                <a:lnTo>
                  <a:pt x="627507" y="1365428"/>
                </a:lnTo>
                <a:lnTo>
                  <a:pt x="685800" y="137160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1" name="S03-mark23"/>
          <p:cNvSpPr/>
          <p:nvPr/>
        </p:nvSpPr>
        <p:spPr>
          <a:xfrm>
            <a:off x="3126334" y="2638044"/>
            <a:ext cx="1371600" cy="1371600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03-label24"/>
          <p:cNvSpPr txBox="1"/>
          <p:nvPr/>
        </p:nvSpPr>
        <p:spPr>
          <a:xfrm>
            <a:off x="2830982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그믐달</a:t>
            </a:r>
            <a:endParaRPr lang="ko-KR" sz="2400" dirty="0"/>
          </a:p>
        </p:txBody>
      </p:sp>
      <p:sp>
        <p:nvSpPr>
          <p:cNvPr id="13" name="S03-figure25" descr="상현달: 오른쪽 반이 밝은 반달"/>
          <p:cNvSpPr/>
          <p:nvPr/>
        </p:nvSpPr>
        <p:spPr>
          <a:xfrm>
            <a:off x="5408676" y="2638044"/>
            <a:ext cx="1371600" cy="1371600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4" name="S03-mark26"/>
          <p:cNvSpPr/>
          <p:nvPr/>
        </p:nvSpPr>
        <p:spPr>
          <a:xfrm>
            <a:off x="6094476" y="2638044"/>
            <a:ext cx="685800" cy="1371600"/>
          </a:xfrm>
          <a:custGeom>
            <a:avLst/>
            <a:gdLst/>
            <a:ahLst/>
            <a:cxnLst/>
            <a:rect l="l" t="t" r="r" b="b"/>
            <a:pathLst>
              <a:path w="685800" h="1371600">
                <a:moveTo>
                  <a:pt x="0" y="1371600"/>
                </a:moveTo>
                <a:lnTo>
                  <a:pt x="89840" y="1365428"/>
                </a:lnTo>
                <a:lnTo>
                  <a:pt x="177622" y="1348283"/>
                </a:lnTo>
                <a:lnTo>
                  <a:pt x="262661" y="1319479"/>
                </a:lnTo>
                <a:lnTo>
                  <a:pt x="342900" y="1279703"/>
                </a:lnTo>
                <a:lnTo>
                  <a:pt x="417652" y="1229639"/>
                </a:lnTo>
                <a:lnTo>
                  <a:pt x="484861" y="1170661"/>
                </a:lnTo>
                <a:lnTo>
                  <a:pt x="543839" y="1103452"/>
                </a:lnTo>
                <a:lnTo>
                  <a:pt x="593903" y="1028700"/>
                </a:lnTo>
                <a:lnTo>
                  <a:pt x="633679" y="948461"/>
                </a:lnTo>
                <a:lnTo>
                  <a:pt x="662483" y="863422"/>
                </a:lnTo>
                <a:lnTo>
                  <a:pt x="679628" y="775640"/>
                </a:lnTo>
                <a:lnTo>
                  <a:pt x="685800" y="685800"/>
                </a:lnTo>
                <a:lnTo>
                  <a:pt x="679628" y="595960"/>
                </a:lnTo>
                <a:lnTo>
                  <a:pt x="662483" y="508178"/>
                </a:lnTo>
                <a:lnTo>
                  <a:pt x="633679" y="423139"/>
                </a:lnTo>
                <a:lnTo>
                  <a:pt x="593903" y="342900"/>
                </a:lnTo>
                <a:lnTo>
                  <a:pt x="543839" y="268148"/>
                </a:lnTo>
                <a:lnTo>
                  <a:pt x="484861" y="200939"/>
                </a:lnTo>
                <a:lnTo>
                  <a:pt x="417652" y="141961"/>
                </a:lnTo>
                <a:lnTo>
                  <a:pt x="342900" y="91897"/>
                </a:lnTo>
                <a:lnTo>
                  <a:pt x="262661" y="52121"/>
                </a:lnTo>
                <a:lnTo>
                  <a:pt x="177622" y="23317"/>
                </a:lnTo>
                <a:lnTo>
                  <a:pt x="89840" y="6172"/>
                </a:lnTo>
                <a:lnTo>
                  <a:pt x="0" y="0"/>
                </a:lnTo>
                <a:lnTo>
                  <a:pt x="0" y="0"/>
                </a:lnTo>
                <a:lnTo>
                  <a:pt x="0" y="6172"/>
                </a:lnTo>
                <a:lnTo>
                  <a:pt x="0" y="23317"/>
                </a:lnTo>
                <a:lnTo>
                  <a:pt x="0" y="52121"/>
                </a:lnTo>
                <a:lnTo>
                  <a:pt x="0" y="91897"/>
                </a:lnTo>
                <a:lnTo>
                  <a:pt x="0" y="141961"/>
                </a:lnTo>
                <a:lnTo>
                  <a:pt x="0" y="200939"/>
                </a:lnTo>
                <a:lnTo>
                  <a:pt x="0" y="268148"/>
                </a:lnTo>
                <a:lnTo>
                  <a:pt x="0" y="342900"/>
                </a:lnTo>
                <a:lnTo>
                  <a:pt x="0" y="423139"/>
                </a:lnTo>
                <a:lnTo>
                  <a:pt x="0" y="508178"/>
                </a:lnTo>
                <a:lnTo>
                  <a:pt x="0" y="595960"/>
                </a:lnTo>
                <a:lnTo>
                  <a:pt x="0" y="685800"/>
                </a:lnTo>
                <a:lnTo>
                  <a:pt x="0" y="775640"/>
                </a:lnTo>
                <a:lnTo>
                  <a:pt x="0" y="863422"/>
                </a:lnTo>
                <a:lnTo>
                  <a:pt x="0" y="948461"/>
                </a:lnTo>
                <a:lnTo>
                  <a:pt x="0" y="1028700"/>
                </a:lnTo>
                <a:lnTo>
                  <a:pt x="0" y="1103452"/>
                </a:lnTo>
                <a:lnTo>
                  <a:pt x="0" y="1170661"/>
                </a:lnTo>
                <a:lnTo>
                  <a:pt x="0" y="1229639"/>
                </a:lnTo>
                <a:lnTo>
                  <a:pt x="0" y="1279703"/>
                </a:lnTo>
                <a:lnTo>
                  <a:pt x="0" y="1319479"/>
                </a:lnTo>
                <a:lnTo>
                  <a:pt x="0" y="1348283"/>
                </a:lnTo>
                <a:lnTo>
                  <a:pt x="0" y="1365428"/>
                </a:lnTo>
                <a:lnTo>
                  <a:pt x="0" y="137160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5" name="S03-mark27"/>
          <p:cNvSpPr/>
          <p:nvPr/>
        </p:nvSpPr>
        <p:spPr>
          <a:xfrm>
            <a:off x="5408676" y="2638044"/>
            <a:ext cx="1371600" cy="1371600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03-label28"/>
          <p:cNvSpPr txBox="1"/>
          <p:nvPr/>
        </p:nvSpPr>
        <p:spPr>
          <a:xfrm>
            <a:off x="5113325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상현달</a:t>
            </a:r>
            <a:endParaRPr lang="ko-KR" sz="2400" dirty="0"/>
          </a:p>
        </p:txBody>
      </p:sp>
      <p:sp>
        <p:nvSpPr>
          <p:cNvPr id="17" name="S03-figure29" descr="초승달: 오른쪽이 가늘게 밝은 눈썹 모양"/>
          <p:cNvSpPr/>
          <p:nvPr/>
        </p:nvSpPr>
        <p:spPr>
          <a:xfrm>
            <a:off x="7691018" y="2638044"/>
            <a:ext cx="1371600" cy="1371600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8" name="S03-mark30"/>
          <p:cNvSpPr/>
          <p:nvPr/>
        </p:nvSpPr>
        <p:spPr>
          <a:xfrm>
            <a:off x="8376818" y="2638044"/>
            <a:ext cx="685800" cy="1371600"/>
          </a:xfrm>
          <a:custGeom>
            <a:avLst/>
            <a:gdLst/>
            <a:ahLst/>
            <a:cxnLst/>
            <a:rect l="l" t="t" r="r" b="b"/>
            <a:pathLst>
              <a:path w="685800" h="1371600">
                <a:moveTo>
                  <a:pt x="0" y="1371600"/>
                </a:moveTo>
                <a:lnTo>
                  <a:pt x="89840" y="1365428"/>
                </a:lnTo>
                <a:lnTo>
                  <a:pt x="177622" y="1348283"/>
                </a:lnTo>
                <a:lnTo>
                  <a:pt x="262661" y="1319479"/>
                </a:lnTo>
                <a:lnTo>
                  <a:pt x="342900" y="1279703"/>
                </a:lnTo>
                <a:lnTo>
                  <a:pt x="417652" y="1229639"/>
                </a:lnTo>
                <a:lnTo>
                  <a:pt x="484861" y="1170661"/>
                </a:lnTo>
                <a:lnTo>
                  <a:pt x="543839" y="1103452"/>
                </a:lnTo>
                <a:lnTo>
                  <a:pt x="593903" y="1028700"/>
                </a:lnTo>
                <a:lnTo>
                  <a:pt x="633679" y="948461"/>
                </a:lnTo>
                <a:lnTo>
                  <a:pt x="662483" y="863422"/>
                </a:lnTo>
                <a:lnTo>
                  <a:pt x="679628" y="775640"/>
                </a:lnTo>
                <a:lnTo>
                  <a:pt x="685800" y="685800"/>
                </a:lnTo>
                <a:lnTo>
                  <a:pt x="679628" y="595960"/>
                </a:lnTo>
                <a:lnTo>
                  <a:pt x="662483" y="508178"/>
                </a:lnTo>
                <a:lnTo>
                  <a:pt x="633679" y="423139"/>
                </a:lnTo>
                <a:lnTo>
                  <a:pt x="593903" y="342900"/>
                </a:lnTo>
                <a:lnTo>
                  <a:pt x="543839" y="268148"/>
                </a:lnTo>
                <a:lnTo>
                  <a:pt x="484861" y="200939"/>
                </a:lnTo>
                <a:lnTo>
                  <a:pt x="417652" y="141961"/>
                </a:lnTo>
                <a:lnTo>
                  <a:pt x="342900" y="91897"/>
                </a:lnTo>
                <a:lnTo>
                  <a:pt x="262661" y="52121"/>
                </a:lnTo>
                <a:lnTo>
                  <a:pt x="177622" y="23317"/>
                </a:lnTo>
                <a:lnTo>
                  <a:pt x="89840" y="6172"/>
                </a:lnTo>
                <a:lnTo>
                  <a:pt x="0" y="0"/>
                </a:lnTo>
                <a:lnTo>
                  <a:pt x="0" y="0"/>
                </a:lnTo>
                <a:lnTo>
                  <a:pt x="58293" y="6172"/>
                </a:lnTo>
                <a:lnTo>
                  <a:pt x="115214" y="23317"/>
                </a:lnTo>
                <a:lnTo>
                  <a:pt x="170764" y="52121"/>
                </a:lnTo>
                <a:lnTo>
                  <a:pt x="222885" y="91897"/>
                </a:lnTo>
                <a:lnTo>
                  <a:pt x="271577" y="141961"/>
                </a:lnTo>
                <a:lnTo>
                  <a:pt x="315468" y="200939"/>
                </a:lnTo>
                <a:lnTo>
                  <a:pt x="353873" y="268148"/>
                </a:lnTo>
                <a:lnTo>
                  <a:pt x="386105" y="342900"/>
                </a:lnTo>
                <a:lnTo>
                  <a:pt x="412166" y="423139"/>
                </a:lnTo>
                <a:lnTo>
                  <a:pt x="430682" y="508178"/>
                </a:lnTo>
                <a:lnTo>
                  <a:pt x="441655" y="595960"/>
                </a:lnTo>
                <a:lnTo>
                  <a:pt x="445770" y="685800"/>
                </a:lnTo>
                <a:lnTo>
                  <a:pt x="441655" y="775640"/>
                </a:lnTo>
                <a:lnTo>
                  <a:pt x="430682" y="863422"/>
                </a:lnTo>
                <a:lnTo>
                  <a:pt x="412166" y="948461"/>
                </a:lnTo>
                <a:lnTo>
                  <a:pt x="386105" y="1028700"/>
                </a:lnTo>
                <a:lnTo>
                  <a:pt x="353873" y="1103452"/>
                </a:lnTo>
                <a:lnTo>
                  <a:pt x="315468" y="1170661"/>
                </a:lnTo>
                <a:lnTo>
                  <a:pt x="271577" y="1229639"/>
                </a:lnTo>
                <a:lnTo>
                  <a:pt x="222885" y="1279703"/>
                </a:lnTo>
                <a:lnTo>
                  <a:pt x="170764" y="1319479"/>
                </a:lnTo>
                <a:lnTo>
                  <a:pt x="115214" y="1348283"/>
                </a:lnTo>
                <a:lnTo>
                  <a:pt x="58293" y="1365428"/>
                </a:lnTo>
                <a:lnTo>
                  <a:pt x="0" y="137160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9" name="S03-mark31"/>
          <p:cNvSpPr/>
          <p:nvPr/>
        </p:nvSpPr>
        <p:spPr>
          <a:xfrm>
            <a:off x="7691018" y="2638044"/>
            <a:ext cx="1371600" cy="1371600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03-label32"/>
          <p:cNvSpPr txBox="1"/>
          <p:nvPr/>
        </p:nvSpPr>
        <p:spPr>
          <a:xfrm>
            <a:off x="7395667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초승달</a:t>
            </a:r>
            <a:endParaRPr lang="ko-KR" sz="2400" dirty="0"/>
          </a:p>
        </p:txBody>
      </p:sp>
      <p:sp>
        <p:nvSpPr>
          <p:cNvPr id="21" name="S03-figure33" descr="하현달: 왼쪽 반이 밝은 반달"/>
          <p:cNvSpPr/>
          <p:nvPr/>
        </p:nvSpPr>
        <p:spPr>
          <a:xfrm>
            <a:off x="9973361" y="2638044"/>
            <a:ext cx="1371600" cy="1371600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22" name="S03-mark34"/>
          <p:cNvSpPr/>
          <p:nvPr/>
        </p:nvSpPr>
        <p:spPr>
          <a:xfrm>
            <a:off x="9973361" y="2638044"/>
            <a:ext cx="685800" cy="1371600"/>
          </a:xfrm>
          <a:custGeom>
            <a:avLst/>
            <a:gdLst/>
            <a:ahLst/>
            <a:cxnLst/>
            <a:rect l="l" t="t" r="r" b="b"/>
            <a:pathLst>
              <a:path w="685800" h="1371600">
                <a:moveTo>
                  <a:pt x="685800" y="1371600"/>
                </a:moveTo>
                <a:lnTo>
                  <a:pt x="595960" y="1365428"/>
                </a:lnTo>
                <a:lnTo>
                  <a:pt x="508178" y="1348283"/>
                </a:lnTo>
                <a:lnTo>
                  <a:pt x="423139" y="1319479"/>
                </a:lnTo>
                <a:lnTo>
                  <a:pt x="342900" y="1279703"/>
                </a:lnTo>
                <a:lnTo>
                  <a:pt x="268148" y="1229639"/>
                </a:lnTo>
                <a:lnTo>
                  <a:pt x="200939" y="1170661"/>
                </a:lnTo>
                <a:lnTo>
                  <a:pt x="141961" y="1103452"/>
                </a:lnTo>
                <a:lnTo>
                  <a:pt x="91897" y="1028700"/>
                </a:lnTo>
                <a:lnTo>
                  <a:pt x="52121" y="948461"/>
                </a:lnTo>
                <a:lnTo>
                  <a:pt x="23317" y="863422"/>
                </a:lnTo>
                <a:lnTo>
                  <a:pt x="6172" y="775640"/>
                </a:lnTo>
                <a:lnTo>
                  <a:pt x="0" y="685800"/>
                </a:lnTo>
                <a:lnTo>
                  <a:pt x="6172" y="595960"/>
                </a:lnTo>
                <a:lnTo>
                  <a:pt x="23317" y="508178"/>
                </a:lnTo>
                <a:lnTo>
                  <a:pt x="52121" y="423139"/>
                </a:lnTo>
                <a:lnTo>
                  <a:pt x="91897" y="342900"/>
                </a:lnTo>
                <a:lnTo>
                  <a:pt x="141961" y="268148"/>
                </a:lnTo>
                <a:lnTo>
                  <a:pt x="200939" y="200939"/>
                </a:lnTo>
                <a:lnTo>
                  <a:pt x="268148" y="141961"/>
                </a:lnTo>
                <a:lnTo>
                  <a:pt x="342900" y="91897"/>
                </a:lnTo>
                <a:lnTo>
                  <a:pt x="423139" y="52121"/>
                </a:lnTo>
                <a:lnTo>
                  <a:pt x="508178" y="23317"/>
                </a:lnTo>
                <a:lnTo>
                  <a:pt x="595960" y="6172"/>
                </a:lnTo>
                <a:lnTo>
                  <a:pt x="685800" y="0"/>
                </a:lnTo>
                <a:lnTo>
                  <a:pt x="685800" y="0"/>
                </a:lnTo>
                <a:lnTo>
                  <a:pt x="685800" y="6172"/>
                </a:lnTo>
                <a:lnTo>
                  <a:pt x="685800" y="23317"/>
                </a:lnTo>
                <a:lnTo>
                  <a:pt x="685800" y="52121"/>
                </a:lnTo>
                <a:lnTo>
                  <a:pt x="685800" y="91897"/>
                </a:lnTo>
                <a:lnTo>
                  <a:pt x="685800" y="141961"/>
                </a:lnTo>
                <a:lnTo>
                  <a:pt x="685800" y="200939"/>
                </a:lnTo>
                <a:lnTo>
                  <a:pt x="685800" y="268148"/>
                </a:lnTo>
                <a:lnTo>
                  <a:pt x="685800" y="342900"/>
                </a:lnTo>
                <a:lnTo>
                  <a:pt x="685800" y="423139"/>
                </a:lnTo>
                <a:lnTo>
                  <a:pt x="685800" y="508178"/>
                </a:lnTo>
                <a:lnTo>
                  <a:pt x="685800" y="595960"/>
                </a:lnTo>
                <a:lnTo>
                  <a:pt x="685800" y="685800"/>
                </a:lnTo>
                <a:lnTo>
                  <a:pt x="685800" y="775640"/>
                </a:lnTo>
                <a:lnTo>
                  <a:pt x="685800" y="863422"/>
                </a:lnTo>
                <a:lnTo>
                  <a:pt x="685800" y="948461"/>
                </a:lnTo>
                <a:lnTo>
                  <a:pt x="685800" y="1028700"/>
                </a:lnTo>
                <a:lnTo>
                  <a:pt x="685800" y="1103452"/>
                </a:lnTo>
                <a:lnTo>
                  <a:pt x="685800" y="1170661"/>
                </a:lnTo>
                <a:lnTo>
                  <a:pt x="685800" y="1229639"/>
                </a:lnTo>
                <a:lnTo>
                  <a:pt x="685800" y="1279703"/>
                </a:lnTo>
                <a:lnTo>
                  <a:pt x="685800" y="1319479"/>
                </a:lnTo>
                <a:lnTo>
                  <a:pt x="685800" y="1348283"/>
                </a:lnTo>
                <a:lnTo>
                  <a:pt x="685800" y="1365428"/>
                </a:lnTo>
                <a:lnTo>
                  <a:pt x="685800" y="137160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3" name="S03-mark35"/>
          <p:cNvSpPr/>
          <p:nvPr/>
        </p:nvSpPr>
        <p:spPr>
          <a:xfrm>
            <a:off x="9973361" y="2638044"/>
            <a:ext cx="1371600" cy="1371600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03-label36"/>
          <p:cNvSpPr txBox="1"/>
          <p:nvPr/>
        </p:nvSpPr>
        <p:spPr>
          <a:xfrm>
            <a:off x="9678010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하현달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4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날 동안 저녁 7시에 같은 곳에서 달을 보면?</a:t>
            </a:r>
            <a:endParaRPr lang="ko-KR" sz="3000" dirty="0"/>
          </a:p>
        </p:txBody>
      </p:sp>
      <p:sp>
        <p:nvSpPr>
          <p:cNvPr id="4" name="S04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3000" dirty="0"/>
          </a:p>
        </p:txBody>
      </p:sp>
      <p:graphicFrame>
        <p:nvGraphicFramePr>
          <p:cNvPr id="5" name="S04-table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602992"/>
          <a:ext cx="10515600" cy="914400"/>
        </p:xfrm>
        <a:graphic>
          <a:graphicData uri="http://schemas.openxmlformats.org/drawingml/2006/table">
            <a:tbl>
              <a:tblPr/>
              <a:tblGrid>
                <a:gridCol w="6519672"/>
                <a:gridCol w="399592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초승달은 며칠 뒤 어떤 모양이 될까?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시각, 달의 위치는 어떻게 될까?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보름달 다음에는 어떤 모양일까?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기록을 읽어요</a:t>
            </a:r>
            <a:endParaRPr lang="ko-KR" sz="4000" dirty="0"/>
          </a:p>
        </p:txBody>
      </p:sp>
      <p:sp>
        <p:nvSpPr>
          <p:cNvPr id="3" name="S05-figure41" descr="예시 관찰 기록: 저녁 7시에 같은 곳에서 남쪽 하늘을 보며 그린 그림. 땅 위에 건물과 나무가 있고 왼쪽부터 동·남·서. 음력 3일 초승달은 서쪽 낮은 하늘, 음력 7일 상현달은 남쪽 높은 하늘, 음력 15일 보름달은 동쪽 낮은 하늘"/>
          <p:cNvSpPr/>
          <p:nvPr/>
        </p:nvSpPr>
        <p:spPr>
          <a:xfrm>
            <a:off x="10653286" y="2663278"/>
            <a:ext cx="464378" cy="464378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4" name="S05-mark42"/>
          <p:cNvSpPr/>
          <p:nvPr/>
        </p:nvSpPr>
        <p:spPr>
          <a:xfrm>
            <a:off x="8994793" y="2066220"/>
            <a:ext cx="464378" cy="464378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5" name="S05-mark43"/>
          <p:cNvSpPr/>
          <p:nvPr/>
        </p:nvSpPr>
        <p:spPr>
          <a:xfrm>
            <a:off x="7336300" y="2729617"/>
            <a:ext cx="464378" cy="464378"/>
          </a:xfrm>
          <a:prstGeom prst="ellipse">
            <a:avLst/>
          </a:prstGeom>
          <a:solidFill>
            <a:srgbClr val="F2C14E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6" name="S05-mark44"/>
          <p:cNvSpPr/>
          <p:nvPr/>
        </p:nvSpPr>
        <p:spPr>
          <a:xfrm>
            <a:off x="6905092" y="3393015"/>
            <a:ext cx="4643780" cy="331699"/>
          </a:xfrm>
          <a:custGeom>
            <a:avLst/>
            <a:gdLst/>
            <a:ahLst/>
            <a:cxnLst/>
            <a:rect l="l" t="t" r="r" b="b"/>
            <a:pathLst>
              <a:path w="4643780" h="331699">
                <a:moveTo>
                  <a:pt x="0" y="331699"/>
                </a:moveTo>
                <a:lnTo>
                  <a:pt x="4643780" y="331699"/>
                </a:lnTo>
                <a:lnTo>
                  <a:pt x="4643780" y="0"/>
                </a:lnTo>
                <a:lnTo>
                  <a:pt x="0" y="0"/>
                </a:lnTo>
                <a:close/>
              </a:path>
            </a:pathLst>
          </a:custGeom>
          <a:solidFill>
            <a:srgbClr val="E3EBD9"/>
          </a:solidFill>
          <a:ln/>
        </p:spPr>
      </p:sp>
      <p:sp>
        <p:nvSpPr>
          <p:cNvPr id="7" name="S05-mark45"/>
          <p:cNvSpPr/>
          <p:nvPr/>
        </p:nvSpPr>
        <p:spPr>
          <a:xfrm>
            <a:off x="9890379" y="2961806"/>
            <a:ext cx="331699" cy="431208"/>
          </a:xfrm>
          <a:custGeom>
            <a:avLst/>
            <a:gdLst/>
            <a:ahLst/>
            <a:cxnLst/>
            <a:rect l="l" t="t" r="r" b="b"/>
            <a:pathLst>
              <a:path w="331699" h="431208">
                <a:moveTo>
                  <a:pt x="0" y="431208"/>
                </a:moveTo>
                <a:lnTo>
                  <a:pt x="331699" y="431208"/>
                </a:lnTo>
                <a:lnTo>
                  <a:pt x="331699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8" name="S05-mark46"/>
          <p:cNvSpPr/>
          <p:nvPr/>
        </p:nvSpPr>
        <p:spPr>
          <a:xfrm>
            <a:off x="8364565" y="2829127"/>
            <a:ext cx="398038" cy="414623"/>
          </a:xfrm>
          <a:custGeom>
            <a:avLst/>
            <a:gdLst/>
            <a:ahLst/>
            <a:cxnLst/>
            <a:rect l="l" t="t" r="r" b="b"/>
            <a:pathLst>
              <a:path w="398038" h="414623">
                <a:moveTo>
                  <a:pt x="0" y="414623"/>
                </a:moveTo>
                <a:lnTo>
                  <a:pt x="199019" y="0"/>
                </a:lnTo>
                <a:lnTo>
                  <a:pt x="398038" y="414623"/>
                </a:lnTo>
                <a:close/>
              </a:path>
            </a:pathLst>
          </a:custGeom>
          <a:solidFill>
            <a:srgbClr val="A7C4A0"/>
          </a:solidFill>
          <a:ln w="15875">
            <a:solidFill>
              <a:srgbClr val="6B8F63"/>
            </a:solidFill>
            <a:prstDash val="solid"/>
          </a:ln>
        </p:spPr>
      </p:sp>
      <p:sp>
        <p:nvSpPr>
          <p:cNvPr id="9" name="S05-mark47"/>
          <p:cNvSpPr/>
          <p:nvPr/>
        </p:nvSpPr>
        <p:spPr>
          <a:xfrm>
            <a:off x="10885475" y="2663278"/>
            <a:ext cx="232189" cy="464378"/>
          </a:xfrm>
          <a:custGeom>
            <a:avLst/>
            <a:gdLst/>
            <a:ahLst/>
            <a:cxnLst/>
            <a:rect l="l" t="t" r="r" b="b"/>
            <a:pathLst>
              <a:path w="232189" h="464378">
                <a:moveTo>
                  <a:pt x="0" y="464378"/>
                </a:moveTo>
                <a:lnTo>
                  <a:pt x="30185" y="462388"/>
                </a:lnTo>
                <a:lnTo>
                  <a:pt x="60037" y="456417"/>
                </a:lnTo>
                <a:lnTo>
                  <a:pt x="88895" y="446798"/>
                </a:lnTo>
                <a:lnTo>
                  <a:pt x="116095" y="433198"/>
                </a:lnTo>
                <a:lnTo>
                  <a:pt x="141304" y="416282"/>
                </a:lnTo>
                <a:lnTo>
                  <a:pt x="164191" y="396380"/>
                </a:lnTo>
                <a:lnTo>
                  <a:pt x="184093" y="373493"/>
                </a:lnTo>
                <a:lnTo>
                  <a:pt x="201009" y="348284"/>
                </a:lnTo>
                <a:lnTo>
                  <a:pt x="214609" y="321084"/>
                </a:lnTo>
                <a:lnTo>
                  <a:pt x="224228" y="292226"/>
                </a:lnTo>
                <a:lnTo>
                  <a:pt x="230199" y="262374"/>
                </a:lnTo>
                <a:lnTo>
                  <a:pt x="232189" y="232189"/>
                </a:lnTo>
                <a:lnTo>
                  <a:pt x="230199" y="202004"/>
                </a:lnTo>
                <a:lnTo>
                  <a:pt x="224228" y="172152"/>
                </a:lnTo>
                <a:lnTo>
                  <a:pt x="214609" y="143294"/>
                </a:lnTo>
                <a:lnTo>
                  <a:pt x="201009" y="116095"/>
                </a:lnTo>
                <a:lnTo>
                  <a:pt x="184093" y="90885"/>
                </a:lnTo>
                <a:lnTo>
                  <a:pt x="164191" y="67998"/>
                </a:lnTo>
                <a:lnTo>
                  <a:pt x="141304" y="48096"/>
                </a:lnTo>
                <a:lnTo>
                  <a:pt x="116095" y="31180"/>
                </a:lnTo>
                <a:lnTo>
                  <a:pt x="88895" y="17580"/>
                </a:lnTo>
                <a:lnTo>
                  <a:pt x="60037" y="7961"/>
                </a:lnTo>
                <a:lnTo>
                  <a:pt x="30185" y="1990"/>
                </a:lnTo>
                <a:lnTo>
                  <a:pt x="0" y="0"/>
                </a:lnTo>
                <a:lnTo>
                  <a:pt x="0" y="0"/>
                </a:lnTo>
                <a:lnTo>
                  <a:pt x="19570" y="1990"/>
                </a:lnTo>
                <a:lnTo>
                  <a:pt x="39140" y="7961"/>
                </a:lnTo>
                <a:lnTo>
                  <a:pt x="57716" y="17580"/>
                </a:lnTo>
                <a:lnTo>
                  <a:pt x="75627" y="31180"/>
                </a:lnTo>
                <a:lnTo>
                  <a:pt x="91881" y="48096"/>
                </a:lnTo>
                <a:lnTo>
                  <a:pt x="106807" y="67998"/>
                </a:lnTo>
                <a:lnTo>
                  <a:pt x="119743" y="90885"/>
                </a:lnTo>
                <a:lnTo>
                  <a:pt x="130689" y="116095"/>
                </a:lnTo>
                <a:lnTo>
                  <a:pt x="139313" y="143294"/>
                </a:lnTo>
                <a:lnTo>
                  <a:pt x="145616" y="172152"/>
                </a:lnTo>
                <a:lnTo>
                  <a:pt x="149596" y="202004"/>
                </a:lnTo>
                <a:lnTo>
                  <a:pt x="150923" y="232189"/>
                </a:lnTo>
                <a:lnTo>
                  <a:pt x="149596" y="262374"/>
                </a:lnTo>
                <a:lnTo>
                  <a:pt x="145616" y="292226"/>
                </a:lnTo>
                <a:lnTo>
                  <a:pt x="139313" y="321084"/>
                </a:lnTo>
                <a:lnTo>
                  <a:pt x="130689" y="348284"/>
                </a:lnTo>
                <a:lnTo>
                  <a:pt x="119743" y="373493"/>
                </a:lnTo>
                <a:lnTo>
                  <a:pt x="106807" y="396380"/>
                </a:lnTo>
                <a:lnTo>
                  <a:pt x="91881" y="416282"/>
                </a:lnTo>
                <a:lnTo>
                  <a:pt x="75627" y="433198"/>
                </a:lnTo>
                <a:lnTo>
                  <a:pt x="57716" y="446798"/>
                </a:lnTo>
                <a:lnTo>
                  <a:pt x="39140" y="456417"/>
                </a:lnTo>
                <a:lnTo>
                  <a:pt x="19570" y="462388"/>
                </a:lnTo>
                <a:lnTo>
                  <a:pt x="0" y="464378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0" name="S05-mark48"/>
          <p:cNvSpPr/>
          <p:nvPr/>
        </p:nvSpPr>
        <p:spPr>
          <a:xfrm>
            <a:off x="9226982" y="2066220"/>
            <a:ext cx="232189" cy="464378"/>
          </a:xfrm>
          <a:custGeom>
            <a:avLst/>
            <a:gdLst/>
            <a:ahLst/>
            <a:cxnLst/>
            <a:rect l="l" t="t" r="r" b="b"/>
            <a:pathLst>
              <a:path w="232189" h="464378">
                <a:moveTo>
                  <a:pt x="0" y="464378"/>
                </a:moveTo>
                <a:lnTo>
                  <a:pt x="30185" y="462388"/>
                </a:lnTo>
                <a:lnTo>
                  <a:pt x="60037" y="456417"/>
                </a:lnTo>
                <a:lnTo>
                  <a:pt x="88895" y="446798"/>
                </a:lnTo>
                <a:lnTo>
                  <a:pt x="116095" y="433198"/>
                </a:lnTo>
                <a:lnTo>
                  <a:pt x="141304" y="416282"/>
                </a:lnTo>
                <a:lnTo>
                  <a:pt x="164191" y="396380"/>
                </a:lnTo>
                <a:lnTo>
                  <a:pt x="184093" y="373493"/>
                </a:lnTo>
                <a:lnTo>
                  <a:pt x="201009" y="348284"/>
                </a:lnTo>
                <a:lnTo>
                  <a:pt x="214609" y="321084"/>
                </a:lnTo>
                <a:lnTo>
                  <a:pt x="224228" y="292226"/>
                </a:lnTo>
                <a:lnTo>
                  <a:pt x="230199" y="262374"/>
                </a:lnTo>
                <a:lnTo>
                  <a:pt x="232189" y="232189"/>
                </a:lnTo>
                <a:lnTo>
                  <a:pt x="230199" y="202004"/>
                </a:lnTo>
                <a:lnTo>
                  <a:pt x="224228" y="172152"/>
                </a:lnTo>
                <a:lnTo>
                  <a:pt x="214609" y="143294"/>
                </a:lnTo>
                <a:lnTo>
                  <a:pt x="201009" y="116095"/>
                </a:lnTo>
                <a:lnTo>
                  <a:pt x="184093" y="90885"/>
                </a:lnTo>
                <a:lnTo>
                  <a:pt x="164191" y="67998"/>
                </a:lnTo>
                <a:lnTo>
                  <a:pt x="141304" y="48096"/>
                </a:lnTo>
                <a:lnTo>
                  <a:pt x="116095" y="31180"/>
                </a:lnTo>
                <a:lnTo>
                  <a:pt x="88895" y="17580"/>
                </a:lnTo>
                <a:lnTo>
                  <a:pt x="60037" y="7961"/>
                </a:lnTo>
                <a:lnTo>
                  <a:pt x="30185" y="1990"/>
                </a:lnTo>
                <a:lnTo>
                  <a:pt x="0" y="0"/>
                </a:lnTo>
                <a:lnTo>
                  <a:pt x="0" y="0"/>
                </a:lnTo>
                <a:lnTo>
                  <a:pt x="0" y="1990"/>
                </a:lnTo>
                <a:lnTo>
                  <a:pt x="0" y="7961"/>
                </a:lnTo>
                <a:lnTo>
                  <a:pt x="0" y="17580"/>
                </a:lnTo>
                <a:lnTo>
                  <a:pt x="0" y="31180"/>
                </a:lnTo>
                <a:lnTo>
                  <a:pt x="0" y="48096"/>
                </a:lnTo>
                <a:lnTo>
                  <a:pt x="0" y="67998"/>
                </a:lnTo>
                <a:lnTo>
                  <a:pt x="0" y="90885"/>
                </a:lnTo>
                <a:lnTo>
                  <a:pt x="0" y="116095"/>
                </a:lnTo>
                <a:lnTo>
                  <a:pt x="0" y="143294"/>
                </a:lnTo>
                <a:lnTo>
                  <a:pt x="0" y="172152"/>
                </a:lnTo>
                <a:lnTo>
                  <a:pt x="0" y="202004"/>
                </a:lnTo>
                <a:lnTo>
                  <a:pt x="0" y="232189"/>
                </a:lnTo>
                <a:lnTo>
                  <a:pt x="0" y="262374"/>
                </a:lnTo>
                <a:lnTo>
                  <a:pt x="0" y="292226"/>
                </a:lnTo>
                <a:lnTo>
                  <a:pt x="0" y="321084"/>
                </a:lnTo>
                <a:lnTo>
                  <a:pt x="0" y="348284"/>
                </a:lnTo>
                <a:lnTo>
                  <a:pt x="0" y="373493"/>
                </a:lnTo>
                <a:lnTo>
                  <a:pt x="0" y="396380"/>
                </a:lnTo>
                <a:lnTo>
                  <a:pt x="0" y="416282"/>
                </a:lnTo>
                <a:lnTo>
                  <a:pt x="0" y="433198"/>
                </a:lnTo>
                <a:lnTo>
                  <a:pt x="0" y="446798"/>
                </a:lnTo>
                <a:lnTo>
                  <a:pt x="0" y="456417"/>
                </a:lnTo>
                <a:lnTo>
                  <a:pt x="0" y="462388"/>
                </a:lnTo>
                <a:lnTo>
                  <a:pt x="0" y="464378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1" name="S05-mark49"/>
          <p:cNvSpPr/>
          <p:nvPr/>
        </p:nvSpPr>
        <p:spPr>
          <a:xfrm>
            <a:off x="10653286" y="2663278"/>
            <a:ext cx="464378" cy="464378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05-mark50"/>
          <p:cNvSpPr/>
          <p:nvPr/>
        </p:nvSpPr>
        <p:spPr>
          <a:xfrm>
            <a:off x="8994793" y="2066220"/>
            <a:ext cx="464378" cy="464378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05-mark51"/>
          <p:cNvSpPr/>
          <p:nvPr/>
        </p:nvSpPr>
        <p:spPr>
          <a:xfrm>
            <a:off x="7336300" y="2729617"/>
            <a:ext cx="464378" cy="464378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05-mark52"/>
          <p:cNvSpPr/>
          <p:nvPr/>
        </p:nvSpPr>
        <p:spPr>
          <a:xfrm>
            <a:off x="6905092" y="3393015"/>
            <a:ext cx="464378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5-mark53"/>
          <p:cNvSpPr/>
          <p:nvPr/>
        </p:nvSpPr>
        <p:spPr>
          <a:xfrm flipV="1">
            <a:off x="8563585" y="3243750"/>
            <a:ext cx="0" cy="149264"/>
          </a:xfrm>
          <a:prstGeom prst="line">
            <a:avLst/>
          </a:prstGeom>
          <a:noFill/>
          <a:ln w="31750">
            <a:solidFill>
              <a:srgbClr val="6B8F63"/>
            </a:solidFill>
            <a:prstDash val="solid"/>
          </a:ln>
        </p:spPr>
      </p:sp>
      <p:sp>
        <p:nvSpPr>
          <p:cNvPr id="16" name="S05-label55"/>
          <p:cNvSpPr txBox="1"/>
          <p:nvPr/>
        </p:nvSpPr>
        <p:spPr>
          <a:xfrm>
            <a:off x="7032574" y="336836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</a:t>
            </a:r>
            <a:endParaRPr lang="ko-KR" sz="2400" dirty="0"/>
          </a:p>
        </p:txBody>
      </p:sp>
      <p:sp>
        <p:nvSpPr>
          <p:cNvPr id="17" name="S05-label57"/>
          <p:cNvSpPr txBox="1"/>
          <p:nvPr/>
        </p:nvSpPr>
        <p:spPr>
          <a:xfrm>
            <a:off x="9022766" y="336836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ko-KR" sz="2400" dirty="0"/>
          </a:p>
        </p:txBody>
      </p:sp>
      <p:sp>
        <p:nvSpPr>
          <p:cNvPr id="18" name="S05-label59"/>
          <p:cNvSpPr txBox="1"/>
          <p:nvPr/>
        </p:nvSpPr>
        <p:spPr>
          <a:xfrm>
            <a:off x="11012957" y="336836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2400" dirty="0"/>
          </a:p>
        </p:txBody>
      </p:sp>
      <p:sp>
        <p:nvSpPr>
          <p:cNvPr id="19" name="S05-label61"/>
          <p:cNvSpPr txBox="1"/>
          <p:nvPr/>
        </p:nvSpPr>
        <p:spPr>
          <a:xfrm>
            <a:off x="10360076" y="2346616"/>
            <a:ext cx="1050798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음력 3일</a:t>
            </a:r>
            <a:endParaRPr lang="ko-KR" sz="1900" dirty="0"/>
          </a:p>
        </p:txBody>
      </p:sp>
      <p:sp>
        <p:nvSpPr>
          <p:cNvPr id="20" name="S05-label63"/>
          <p:cNvSpPr txBox="1"/>
          <p:nvPr/>
        </p:nvSpPr>
        <p:spPr>
          <a:xfrm>
            <a:off x="8701583" y="1749558"/>
            <a:ext cx="1050798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음력 7일</a:t>
            </a:r>
            <a:endParaRPr lang="ko-KR" sz="1900" dirty="0"/>
          </a:p>
        </p:txBody>
      </p:sp>
      <p:sp>
        <p:nvSpPr>
          <p:cNvPr id="21" name="S05-label65"/>
          <p:cNvSpPr txBox="1"/>
          <p:nvPr/>
        </p:nvSpPr>
        <p:spPr>
          <a:xfrm>
            <a:off x="6963461" y="2412956"/>
            <a:ext cx="121005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음력 15일</a:t>
            </a:r>
            <a:endParaRPr lang="ko-KR" sz="1900" dirty="0"/>
          </a:p>
        </p:txBody>
      </p:sp>
      <p:sp>
        <p:nvSpPr>
          <p:cNvPr id="22" name="S05-card66"/>
          <p:cNvSpPr/>
          <p:nvPr/>
        </p:nvSpPr>
        <p:spPr>
          <a:xfrm>
            <a:off x="6813652" y="4527804"/>
            <a:ext cx="4826660" cy="1690116"/>
          </a:xfrm>
          <a:prstGeom prst="roundRect">
            <a:avLst>
              <a:gd name="adj" fmla="val 64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05-cardtext67"/>
          <p:cNvSpPr txBox="1"/>
          <p:nvPr/>
        </p:nvSpPr>
        <p:spPr>
          <a:xfrm>
            <a:off x="7087972" y="4664964"/>
            <a:ext cx="4278020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기록을 볼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모양이 바뀐 차례를 찾아요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달이 옮겨 간 쪽을 찾아요</a:t>
            </a:r>
            <a:endParaRPr lang="ko-KR" sz="3000" dirty="0"/>
          </a:p>
        </p:txBody>
      </p:sp>
      <p:sp>
        <p:nvSpPr>
          <p:cNvPr id="24" name="S05-stepno68"/>
          <p:cNvSpPr txBox="1"/>
          <p:nvPr/>
        </p:nvSpPr>
        <p:spPr>
          <a:xfrm>
            <a:off x="548640" y="2046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5" name="S05-text69"/>
          <p:cNvSpPr txBox="1"/>
          <p:nvPr/>
        </p:nvSpPr>
        <p:spPr>
          <a:xfrm>
            <a:off x="1325880" y="20467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2의 예시 기록을 봐요.</a:t>
            </a:r>
            <a:endParaRPr lang="ko-KR" sz="3000" dirty="0"/>
          </a:p>
        </p:txBody>
      </p:sp>
      <p:sp>
        <p:nvSpPr>
          <p:cNvPr id="26" name="S05-stepno70"/>
          <p:cNvSpPr txBox="1"/>
          <p:nvPr/>
        </p:nvSpPr>
        <p:spPr>
          <a:xfrm>
            <a:off x="548640" y="2805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7" name="S05-text71"/>
          <p:cNvSpPr txBox="1"/>
          <p:nvPr/>
        </p:nvSpPr>
        <p:spPr>
          <a:xfrm>
            <a:off x="1325880" y="275996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차례로 달의 모양을 말해요.</a:t>
            </a:r>
            <a:endParaRPr lang="ko-KR" sz="3000" dirty="0"/>
          </a:p>
        </p:txBody>
      </p:sp>
      <p:sp>
        <p:nvSpPr>
          <p:cNvPr id="28" name="S05-stepno72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9" name="S05-text73"/>
          <p:cNvSpPr txBox="1"/>
          <p:nvPr/>
        </p:nvSpPr>
        <p:spPr>
          <a:xfrm>
            <a:off x="1325880" y="38541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달이 보인 방향을 말해요.</a:t>
            </a:r>
            <a:endParaRPr lang="ko-KR" sz="3000" dirty="0"/>
          </a:p>
        </p:txBody>
      </p:sp>
      <p:sp>
        <p:nvSpPr>
          <p:cNvPr id="30" name="S05-stepno74"/>
          <p:cNvSpPr txBox="1"/>
          <p:nvPr/>
        </p:nvSpPr>
        <p:spPr>
          <a:xfrm>
            <a:off x="548640" y="4613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31" name="S05-text75"/>
          <p:cNvSpPr txBox="1"/>
          <p:nvPr/>
        </p:nvSpPr>
        <p:spPr>
          <a:xfrm>
            <a:off x="1325880" y="456742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것을 활동지 3의 표에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6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3을 보며 빈칸을 말로 채워요.</a:t>
            </a:r>
            <a:endParaRPr lang="ko-KR" sz="3000" dirty="0"/>
          </a:p>
        </p:txBody>
      </p:sp>
      <p:sp>
        <p:nvSpPr>
          <p:cNvPr id="4" name="S06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모양과 위치가 어떻게 바뀌었나요?</a:t>
            </a:r>
            <a:endParaRPr lang="ko-KR" sz="3000" dirty="0"/>
          </a:p>
        </p:txBody>
      </p:sp>
      <p:graphicFrame>
        <p:nvGraphicFramePr>
          <p:cNvPr id="7" name="S06-table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541016"/>
          <a:ext cx="960120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3360420"/>
                <a:gridCol w="33604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음력 날짜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달의 모양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보인 방향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달의 모양이 바뀌는 차례</a:t>
            </a:r>
            <a:endParaRPr lang="ko-KR" sz="4000" dirty="0"/>
          </a:p>
        </p:txBody>
      </p:sp>
      <p:sp>
        <p:nvSpPr>
          <p:cNvPr id="3" name="S07-text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보름달 뒤로는 왼쪽이 밝은 달로 바뀌어요.</a:t>
            </a:r>
            <a:endParaRPr lang="ko-KR" sz="3000" dirty="0"/>
          </a:p>
        </p:txBody>
      </p:sp>
      <p:sp>
        <p:nvSpPr>
          <p:cNvPr id="4" name="S07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달의 모양은 약 한 달마다 되풀이돼요.</a:t>
            </a:r>
            <a:endParaRPr lang="ko-KR" sz="3000" dirty="0"/>
          </a:p>
        </p:txBody>
      </p:sp>
      <p:sp>
        <p:nvSpPr>
          <p:cNvPr id="6" name="S07-figure83" descr="달의 모양이 바뀌는 차례: 초승달 → 상현달 → 보름달 → 하현달 → 그믐달, 그리고 약 한 달 뒤 다시 초승달로 돌아오는 화살표"/>
          <p:cNvSpPr/>
          <p:nvPr/>
        </p:nvSpPr>
        <p:spPr>
          <a:xfrm>
            <a:off x="1284481" y="2103120"/>
            <a:ext cx="1282665" cy="1282665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7" name="S07-mark84"/>
          <p:cNvSpPr/>
          <p:nvPr/>
        </p:nvSpPr>
        <p:spPr>
          <a:xfrm>
            <a:off x="3368812" y="2103120"/>
            <a:ext cx="1282665" cy="1282665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S07-mark85"/>
          <p:cNvSpPr/>
          <p:nvPr/>
        </p:nvSpPr>
        <p:spPr>
          <a:xfrm>
            <a:off x="5453143" y="2103120"/>
            <a:ext cx="1282665" cy="1282665"/>
          </a:xfrm>
          <a:prstGeom prst="ellipse">
            <a:avLst/>
          </a:prstGeom>
          <a:solidFill>
            <a:srgbClr val="F2C14E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9" name="S07-mark86"/>
          <p:cNvSpPr/>
          <p:nvPr/>
        </p:nvSpPr>
        <p:spPr>
          <a:xfrm>
            <a:off x="7537474" y="2103120"/>
            <a:ext cx="1282665" cy="1282665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0" name="S07-mark87"/>
          <p:cNvSpPr/>
          <p:nvPr/>
        </p:nvSpPr>
        <p:spPr>
          <a:xfrm>
            <a:off x="9621805" y="2103120"/>
            <a:ext cx="1282665" cy="1282665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1" name="S07-mark88"/>
          <p:cNvSpPr/>
          <p:nvPr/>
        </p:nvSpPr>
        <p:spPr>
          <a:xfrm>
            <a:off x="1925814" y="2103120"/>
            <a:ext cx="641333" cy="1282665"/>
          </a:xfrm>
          <a:custGeom>
            <a:avLst/>
            <a:gdLst/>
            <a:ahLst/>
            <a:cxnLst/>
            <a:rect l="l" t="t" r="r" b="b"/>
            <a:pathLst>
              <a:path w="641333" h="1282665">
                <a:moveTo>
                  <a:pt x="0" y="1282665"/>
                </a:moveTo>
                <a:lnTo>
                  <a:pt x="83373" y="1277054"/>
                </a:lnTo>
                <a:lnTo>
                  <a:pt x="165945" y="1261020"/>
                </a:lnTo>
                <a:lnTo>
                  <a:pt x="245310" y="1233764"/>
                </a:lnTo>
                <a:lnTo>
                  <a:pt x="320666" y="1196887"/>
                </a:lnTo>
                <a:lnTo>
                  <a:pt x="390411" y="1150390"/>
                </a:lnTo>
                <a:lnTo>
                  <a:pt x="453743" y="1095075"/>
                </a:lnTo>
                <a:lnTo>
                  <a:pt x="509058" y="1031744"/>
                </a:lnTo>
                <a:lnTo>
                  <a:pt x="555554" y="961999"/>
                </a:lnTo>
                <a:lnTo>
                  <a:pt x="592431" y="886642"/>
                </a:lnTo>
                <a:lnTo>
                  <a:pt x="619688" y="807277"/>
                </a:lnTo>
                <a:lnTo>
                  <a:pt x="635721" y="724706"/>
                </a:lnTo>
                <a:lnTo>
                  <a:pt x="641333" y="641333"/>
                </a:lnTo>
                <a:lnTo>
                  <a:pt x="635721" y="557959"/>
                </a:lnTo>
                <a:lnTo>
                  <a:pt x="619688" y="475388"/>
                </a:lnTo>
                <a:lnTo>
                  <a:pt x="592431" y="396023"/>
                </a:lnTo>
                <a:lnTo>
                  <a:pt x="555554" y="320666"/>
                </a:lnTo>
                <a:lnTo>
                  <a:pt x="509058" y="250921"/>
                </a:lnTo>
                <a:lnTo>
                  <a:pt x="453743" y="187590"/>
                </a:lnTo>
                <a:lnTo>
                  <a:pt x="390411" y="132275"/>
                </a:lnTo>
                <a:lnTo>
                  <a:pt x="320666" y="85778"/>
                </a:lnTo>
                <a:lnTo>
                  <a:pt x="245310" y="48902"/>
                </a:lnTo>
                <a:lnTo>
                  <a:pt x="165945" y="21645"/>
                </a:lnTo>
                <a:lnTo>
                  <a:pt x="83373" y="5612"/>
                </a:lnTo>
                <a:lnTo>
                  <a:pt x="0" y="0"/>
                </a:lnTo>
                <a:lnTo>
                  <a:pt x="0" y="0"/>
                </a:lnTo>
                <a:lnTo>
                  <a:pt x="54513" y="5612"/>
                </a:lnTo>
                <a:lnTo>
                  <a:pt x="108225" y="21645"/>
                </a:lnTo>
                <a:lnTo>
                  <a:pt x="159531" y="48902"/>
                </a:lnTo>
                <a:lnTo>
                  <a:pt x="208433" y="85778"/>
                </a:lnTo>
                <a:lnTo>
                  <a:pt x="254128" y="132275"/>
                </a:lnTo>
                <a:lnTo>
                  <a:pt x="295013" y="187590"/>
                </a:lnTo>
                <a:lnTo>
                  <a:pt x="331088" y="250921"/>
                </a:lnTo>
                <a:lnTo>
                  <a:pt x="360750" y="320666"/>
                </a:lnTo>
                <a:lnTo>
                  <a:pt x="384800" y="396023"/>
                </a:lnTo>
                <a:lnTo>
                  <a:pt x="402436" y="475388"/>
                </a:lnTo>
                <a:lnTo>
                  <a:pt x="413660" y="557959"/>
                </a:lnTo>
                <a:lnTo>
                  <a:pt x="416866" y="641333"/>
                </a:lnTo>
                <a:lnTo>
                  <a:pt x="413660" y="724706"/>
                </a:lnTo>
                <a:lnTo>
                  <a:pt x="402436" y="807277"/>
                </a:lnTo>
                <a:lnTo>
                  <a:pt x="384800" y="886642"/>
                </a:lnTo>
                <a:lnTo>
                  <a:pt x="360750" y="961999"/>
                </a:lnTo>
                <a:lnTo>
                  <a:pt x="331088" y="1031744"/>
                </a:lnTo>
                <a:lnTo>
                  <a:pt x="295013" y="1095075"/>
                </a:lnTo>
                <a:lnTo>
                  <a:pt x="254128" y="1150390"/>
                </a:lnTo>
                <a:lnTo>
                  <a:pt x="208433" y="1196887"/>
                </a:lnTo>
                <a:lnTo>
                  <a:pt x="159531" y="1233764"/>
                </a:lnTo>
                <a:lnTo>
                  <a:pt x="108225" y="1261020"/>
                </a:lnTo>
                <a:lnTo>
                  <a:pt x="54513" y="1277054"/>
                </a:lnTo>
                <a:lnTo>
                  <a:pt x="0" y="128266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2" name="S07-mark89"/>
          <p:cNvSpPr/>
          <p:nvPr/>
        </p:nvSpPr>
        <p:spPr>
          <a:xfrm>
            <a:off x="4010145" y="2103120"/>
            <a:ext cx="641333" cy="1282665"/>
          </a:xfrm>
          <a:custGeom>
            <a:avLst/>
            <a:gdLst/>
            <a:ahLst/>
            <a:cxnLst/>
            <a:rect l="l" t="t" r="r" b="b"/>
            <a:pathLst>
              <a:path w="641333" h="1282665">
                <a:moveTo>
                  <a:pt x="0" y="1282665"/>
                </a:moveTo>
                <a:lnTo>
                  <a:pt x="83373" y="1277054"/>
                </a:lnTo>
                <a:lnTo>
                  <a:pt x="165945" y="1261020"/>
                </a:lnTo>
                <a:lnTo>
                  <a:pt x="245310" y="1233764"/>
                </a:lnTo>
                <a:lnTo>
                  <a:pt x="320666" y="1196887"/>
                </a:lnTo>
                <a:lnTo>
                  <a:pt x="390411" y="1150390"/>
                </a:lnTo>
                <a:lnTo>
                  <a:pt x="453743" y="1095075"/>
                </a:lnTo>
                <a:lnTo>
                  <a:pt x="509058" y="1031744"/>
                </a:lnTo>
                <a:lnTo>
                  <a:pt x="555554" y="961999"/>
                </a:lnTo>
                <a:lnTo>
                  <a:pt x="592431" y="886642"/>
                </a:lnTo>
                <a:lnTo>
                  <a:pt x="619688" y="807277"/>
                </a:lnTo>
                <a:lnTo>
                  <a:pt x="635721" y="724706"/>
                </a:lnTo>
                <a:lnTo>
                  <a:pt x="641333" y="641333"/>
                </a:lnTo>
                <a:lnTo>
                  <a:pt x="635721" y="557959"/>
                </a:lnTo>
                <a:lnTo>
                  <a:pt x="619688" y="475388"/>
                </a:lnTo>
                <a:lnTo>
                  <a:pt x="592431" y="396023"/>
                </a:lnTo>
                <a:lnTo>
                  <a:pt x="555554" y="320666"/>
                </a:lnTo>
                <a:lnTo>
                  <a:pt x="509058" y="250921"/>
                </a:lnTo>
                <a:lnTo>
                  <a:pt x="453743" y="187590"/>
                </a:lnTo>
                <a:lnTo>
                  <a:pt x="390411" y="132275"/>
                </a:lnTo>
                <a:lnTo>
                  <a:pt x="320666" y="85778"/>
                </a:lnTo>
                <a:lnTo>
                  <a:pt x="245310" y="48902"/>
                </a:lnTo>
                <a:lnTo>
                  <a:pt x="165945" y="21645"/>
                </a:lnTo>
                <a:lnTo>
                  <a:pt x="83373" y="5612"/>
                </a:lnTo>
                <a:lnTo>
                  <a:pt x="0" y="0"/>
                </a:lnTo>
                <a:lnTo>
                  <a:pt x="0" y="0"/>
                </a:lnTo>
                <a:lnTo>
                  <a:pt x="0" y="5612"/>
                </a:lnTo>
                <a:lnTo>
                  <a:pt x="0" y="21645"/>
                </a:lnTo>
                <a:lnTo>
                  <a:pt x="0" y="48902"/>
                </a:lnTo>
                <a:lnTo>
                  <a:pt x="0" y="85778"/>
                </a:lnTo>
                <a:lnTo>
                  <a:pt x="0" y="132275"/>
                </a:lnTo>
                <a:lnTo>
                  <a:pt x="0" y="187590"/>
                </a:lnTo>
                <a:lnTo>
                  <a:pt x="0" y="250921"/>
                </a:lnTo>
                <a:lnTo>
                  <a:pt x="0" y="320666"/>
                </a:lnTo>
                <a:lnTo>
                  <a:pt x="0" y="396023"/>
                </a:lnTo>
                <a:lnTo>
                  <a:pt x="0" y="475388"/>
                </a:lnTo>
                <a:lnTo>
                  <a:pt x="0" y="557959"/>
                </a:lnTo>
                <a:lnTo>
                  <a:pt x="0" y="641333"/>
                </a:lnTo>
                <a:lnTo>
                  <a:pt x="0" y="724706"/>
                </a:lnTo>
                <a:lnTo>
                  <a:pt x="0" y="807277"/>
                </a:lnTo>
                <a:lnTo>
                  <a:pt x="0" y="886642"/>
                </a:lnTo>
                <a:lnTo>
                  <a:pt x="0" y="961999"/>
                </a:lnTo>
                <a:lnTo>
                  <a:pt x="0" y="1031744"/>
                </a:lnTo>
                <a:lnTo>
                  <a:pt x="0" y="1095075"/>
                </a:lnTo>
                <a:lnTo>
                  <a:pt x="0" y="1150390"/>
                </a:lnTo>
                <a:lnTo>
                  <a:pt x="0" y="1196887"/>
                </a:lnTo>
                <a:lnTo>
                  <a:pt x="0" y="1233764"/>
                </a:lnTo>
                <a:lnTo>
                  <a:pt x="0" y="1261020"/>
                </a:lnTo>
                <a:lnTo>
                  <a:pt x="0" y="1277054"/>
                </a:lnTo>
                <a:lnTo>
                  <a:pt x="0" y="128266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3" name="S07-mark90"/>
          <p:cNvSpPr/>
          <p:nvPr/>
        </p:nvSpPr>
        <p:spPr>
          <a:xfrm>
            <a:off x="7537474" y="2103120"/>
            <a:ext cx="641333" cy="1282665"/>
          </a:xfrm>
          <a:custGeom>
            <a:avLst/>
            <a:gdLst/>
            <a:ahLst/>
            <a:cxnLst/>
            <a:rect l="l" t="t" r="r" b="b"/>
            <a:pathLst>
              <a:path w="641333" h="1282665">
                <a:moveTo>
                  <a:pt x="641333" y="1282665"/>
                </a:moveTo>
                <a:lnTo>
                  <a:pt x="557959" y="1277054"/>
                </a:lnTo>
                <a:lnTo>
                  <a:pt x="475388" y="1261020"/>
                </a:lnTo>
                <a:lnTo>
                  <a:pt x="396023" y="1233764"/>
                </a:lnTo>
                <a:lnTo>
                  <a:pt x="320666" y="1196887"/>
                </a:lnTo>
                <a:lnTo>
                  <a:pt x="250921" y="1150390"/>
                </a:lnTo>
                <a:lnTo>
                  <a:pt x="187590" y="1095075"/>
                </a:lnTo>
                <a:lnTo>
                  <a:pt x="132275" y="1031744"/>
                </a:lnTo>
                <a:lnTo>
                  <a:pt x="85778" y="961999"/>
                </a:lnTo>
                <a:lnTo>
                  <a:pt x="48902" y="886642"/>
                </a:lnTo>
                <a:lnTo>
                  <a:pt x="21645" y="807277"/>
                </a:lnTo>
                <a:lnTo>
                  <a:pt x="5612" y="724706"/>
                </a:lnTo>
                <a:lnTo>
                  <a:pt x="0" y="641333"/>
                </a:lnTo>
                <a:lnTo>
                  <a:pt x="5612" y="557959"/>
                </a:lnTo>
                <a:lnTo>
                  <a:pt x="21645" y="475388"/>
                </a:lnTo>
                <a:lnTo>
                  <a:pt x="48902" y="396023"/>
                </a:lnTo>
                <a:lnTo>
                  <a:pt x="85778" y="320666"/>
                </a:lnTo>
                <a:lnTo>
                  <a:pt x="132275" y="250921"/>
                </a:lnTo>
                <a:lnTo>
                  <a:pt x="187590" y="187590"/>
                </a:lnTo>
                <a:lnTo>
                  <a:pt x="250921" y="132275"/>
                </a:lnTo>
                <a:lnTo>
                  <a:pt x="320666" y="85778"/>
                </a:lnTo>
                <a:lnTo>
                  <a:pt x="396023" y="48902"/>
                </a:lnTo>
                <a:lnTo>
                  <a:pt x="475388" y="21645"/>
                </a:lnTo>
                <a:lnTo>
                  <a:pt x="557959" y="5612"/>
                </a:lnTo>
                <a:lnTo>
                  <a:pt x="641333" y="0"/>
                </a:lnTo>
                <a:lnTo>
                  <a:pt x="641333" y="0"/>
                </a:lnTo>
                <a:lnTo>
                  <a:pt x="641333" y="5612"/>
                </a:lnTo>
                <a:lnTo>
                  <a:pt x="641333" y="21645"/>
                </a:lnTo>
                <a:lnTo>
                  <a:pt x="641333" y="48902"/>
                </a:lnTo>
                <a:lnTo>
                  <a:pt x="641333" y="85778"/>
                </a:lnTo>
                <a:lnTo>
                  <a:pt x="641333" y="132275"/>
                </a:lnTo>
                <a:lnTo>
                  <a:pt x="641333" y="187590"/>
                </a:lnTo>
                <a:lnTo>
                  <a:pt x="641333" y="250921"/>
                </a:lnTo>
                <a:lnTo>
                  <a:pt x="641333" y="320666"/>
                </a:lnTo>
                <a:lnTo>
                  <a:pt x="641333" y="396023"/>
                </a:lnTo>
                <a:lnTo>
                  <a:pt x="641333" y="475388"/>
                </a:lnTo>
                <a:lnTo>
                  <a:pt x="641333" y="557959"/>
                </a:lnTo>
                <a:lnTo>
                  <a:pt x="641333" y="641333"/>
                </a:lnTo>
                <a:lnTo>
                  <a:pt x="641333" y="724706"/>
                </a:lnTo>
                <a:lnTo>
                  <a:pt x="641333" y="807277"/>
                </a:lnTo>
                <a:lnTo>
                  <a:pt x="641333" y="886642"/>
                </a:lnTo>
                <a:lnTo>
                  <a:pt x="641333" y="961999"/>
                </a:lnTo>
                <a:lnTo>
                  <a:pt x="641333" y="1031744"/>
                </a:lnTo>
                <a:lnTo>
                  <a:pt x="641333" y="1095075"/>
                </a:lnTo>
                <a:lnTo>
                  <a:pt x="641333" y="1150390"/>
                </a:lnTo>
                <a:lnTo>
                  <a:pt x="641333" y="1196887"/>
                </a:lnTo>
                <a:lnTo>
                  <a:pt x="641333" y="1233764"/>
                </a:lnTo>
                <a:lnTo>
                  <a:pt x="641333" y="1261020"/>
                </a:lnTo>
                <a:lnTo>
                  <a:pt x="641333" y="1277054"/>
                </a:lnTo>
                <a:lnTo>
                  <a:pt x="641333" y="128266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4" name="S07-mark91"/>
          <p:cNvSpPr/>
          <p:nvPr/>
        </p:nvSpPr>
        <p:spPr>
          <a:xfrm>
            <a:off x="9621805" y="2103120"/>
            <a:ext cx="641333" cy="1282665"/>
          </a:xfrm>
          <a:custGeom>
            <a:avLst/>
            <a:gdLst/>
            <a:ahLst/>
            <a:cxnLst/>
            <a:rect l="l" t="t" r="r" b="b"/>
            <a:pathLst>
              <a:path w="641333" h="1282665">
                <a:moveTo>
                  <a:pt x="641333" y="1282665"/>
                </a:moveTo>
                <a:lnTo>
                  <a:pt x="557959" y="1277054"/>
                </a:lnTo>
                <a:lnTo>
                  <a:pt x="475388" y="1261020"/>
                </a:lnTo>
                <a:lnTo>
                  <a:pt x="396023" y="1233764"/>
                </a:lnTo>
                <a:lnTo>
                  <a:pt x="320666" y="1196887"/>
                </a:lnTo>
                <a:lnTo>
                  <a:pt x="250921" y="1150390"/>
                </a:lnTo>
                <a:lnTo>
                  <a:pt x="187590" y="1095075"/>
                </a:lnTo>
                <a:lnTo>
                  <a:pt x="132275" y="1031744"/>
                </a:lnTo>
                <a:lnTo>
                  <a:pt x="85778" y="961999"/>
                </a:lnTo>
                <a:lnTo>
                  <a:pt x="48902" y="886642"/>
                </a:lnTo>
                <a:lnTo>
                  <a:pt x="21645" y="807277"/>
                </a:lnTo>
                <a:lnTo>
                  <a:pt x="5612" y="724706"/>
                </a:lnTo>
                <a:lnTo>
                  <a:pt x="0" y="641333"/>
                </a:lnTo>
                <a:lnTo>
                  <a:pt x="5612" y="557959"/>
                </a:lnTo>
                <a:lnTo>
                  <a:pt x="21645" y="475388"/>
                </a:lnTo>
                <a:lnTo>
                  <a:pt x="48902" y="396023"/>
                </a:lnTo>
                <a:lnTo>
                  <a:pt x="85778" y="320666"/>
                </a:lnTo>
                <a:lnTo>
                  <a:pt x="132275" y="250921"/>
                </a:lnTo>
                <a:lnTo>
                  <a:pt x="187590" y="187590"/>
                </a:lnTo>
                <a:lnTo>
                  <a:pt x="250921" y="132275"/>
                </a:lnTo>
                <a:lnTo>
                  <a:pt x="320666" y="85778"/>
                </a:lnTo>
                <a:lnTo>
                  <a:pt x="396023" y="48902"/>
                </a:lnTo>
                <a:lnTo>
                  <a:pt x="475388" y="21645"/>
                </a:lnTo>
                <a:lnTo>
                  <a:pt x="557959" y="5612"/>
                </a:lnTo>
                <a:lnTo>
                  <a:pt x="641333" y="0"/>
                </a:lnTo>
                <a:lnTo>
                  <a:pt x="641333" y="0"/>
                </a:lnTo>
                <a:lnTo>
                  <a:pt x="586819" y="5612"/>
                </a:lnTo>
                <a:lnTo>
                  <a:pt x="533108" y="21645"/>
                </a:lnTo>
                <a:lnTo>
                  <a:pt x="481801" y="48902"/>
                </a:lnTo>
                <a:lnTo>
                  <a:pt x="432900" y="85778"/>
                </a:lnTo>
                <a:lnTo>
                  <a:pt x="387205" y="132275"/>
                </a:lnTo>
                <a:lnTo>
                  <a:pt x="346320" y="187590"/>
                </a:lnTo>
                <a:lnTo>
                  <a:pt x="310245" y="250921"/>
                </a:lnTo>
                <a:lnTo>
                  <a:pt x="280583" y="320666"/>
                </a:lnTo>
                <a:lnTo>
                  <a:pt x="256533" y="396023"/>
                </a:lnTo>
                <a:lnTo>
                  <a:pt x="238896" y="475388"/>
                </a:lnTo>
                <a:lnTo>
                  <a:pt x="227673" y="557959"/>
                </a:lnTo>
                <a:lnTo>
                  <a:pt x="224466" y="641333"/>
                </a:lnTo>
                <a:lnTo>
                  <a:pt x="227673" y="724706"/>
                </a:lnTo>
                <a:lnTo>
                  <a:pt x="238896" y="807277"/>
                </a:lnTo>
                <a:lnTo>
                  <a:pt x="256533" y="886642"/>
                </a:lnTo>
                <a:lnTo>
                  <a:pt x="280583" y="961999"/>
                </a:lnTo>
                <a:lnTo>
                  <a:pt x="310245" y="1031744"/>
                </a:lnTo>
                <a:lnTo>
                  <a:pt x="346320" y="1095075"/>
                </a:lnTo>
                <a:lnTo>
                  <a:pt x="387205" y="1150390"/>
                </a:lnTo>
                <a:lnTo>
                  <a:pt x="432900" y="1196887"/>
                </a:lnTo>
                <a:lnTo>
                  <a:pt x="481801" y="1233764"/>
                </a:lnTo>
                <a:lnTo>
                  <a:pt x="533108" y="1261020"/>
                </a:lnTo>
                <a:lnTo>
                  <a:pt x="586819" y="1277054"/>
                </a:lnTo>
                <a:lnTo>
                  <a:pt x="641333" y="128266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5" name="S07-mark92"/>
          <p:cNvSpPr/>
          <p:nvPr/>
        </p:nvSpPr>
        <p:spPr>
          <a:xfrm>
            <a:off x="1284481" y="2103120"/>
            <a:ext cx="1282665" cy="1282665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07-mark93"/>
          <p:cNvSpPr/>
          <p:nvPr/>
        </p:nvSpPr>
        <p:spPr>
          <a:xfrm>
            <a:off x="3368812" y="2103120"/>
            <a:ext cx="1282665" cy="1282665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07-mark94"/>
          <p:cNvSpPr/>
          <p:nvPr/>
        </p:nvSpPr>
        <p:spPr>
          <a:xfrm>
            <a:off x="5453143" y="2103120"/>
            <a:ext cx="1282665" cy="1282665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07-mark95"/>
          <p:cNvSpPr/>
          <p:nvPr/>
        </p:nvSpPr>
        <p:spPr>
          <a:xfrm>
            <a:off x="7537474" y="2103120"/>
            <a:ext cx="1282665" cy="1282665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07-mark96"/>
          <p:cNvSpPr/>
          <p:nvPr/>
        </p:nvSpPr>
        <p:spPr>
          <a:xfrm>
            <a:off x="9621805" y="2103120"/>
            <a:ext cx="1282665" cy="1282665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07-mark97"/>
          <p:cNvSpPr/>
          <p:nvPr/>
        </p:nvSpPr>
        <p:spPr>
          <a:xfrm>
            <a:off x="2687397" y="2744453"/>
            <a:ext cx="561166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1" name="S07-mark98"/>
          <p:cNvSpPr/>
          <p:nvPr/>
        </p:nvSpPr>
        <p:spPr>
          <a:xfrm>
            <a:off x="4771728" y="2744453"/>
            <a:ext cx="561166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2" name="S07-mark99"/>
          <p:cNvSpPr/>
          <p:nvPr/>
        </p:nvSpPr>
        <p:spPr>
          <a:xfrm>
            <a:off x="6856058" y="2744453"/>
            <a:ext cx="561166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3" name="S07-mark100"/>
          <p:cNvSpPr/>
          <p:nvPr/>
        </p:nvSpPr>
        <p:spPr>
          <a:xfrm>
            <a:off x="8940389" y="2744453"/>
            <a:ext cx="561166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4" name="S07-mark101"/>
          <p:cNvSpPr/>
          <p:nvPr/>
        </p:nvSpPr>
        <p:spPr>
          <a:xfrm>
            <a:off x="10263138" y="4227534"/>
            <a:ext cx="0" cy="400833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25" name="S07-mark102"/>
          <p:cNvSpPr/>
          <p:nvPr/>
        </p:nvSpPr>
        <p:spPr>
          <a:xfrm flipH="1">
            <a:off x="1925814" y="4628367"/>
            <a:ext cx="8337324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26" name="S07-mark103"/>
          <p:cNvSpPr/>
          <p:nvPr/>
        </p:nvSpPr>
        <p:spPr>
          <a:xfrm flipV="1">
            <a:off x="1925814" y="4227534"/>
            <a:ext cx="0" cy="400833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7" name="S07-label105"/>
          <p:cNvSpPr txBox="1"/>
          <p:nvPr/>
        </p:nvSpPr>
        <p:spPr>
          <a:xfrm>
            <a:off x="1422894" y="3596118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초승달</a:t>
            </a:r>
            <a:endParaRPr lang="ko-KR" sz="2400" dirty="0"/>
          </a:p>
        </p:txBody>
      </p:sp>
      <p:sp>
        <p:nvSpPr>
          <p:cNvPr id="28" name="S07-label107"/>
          <p:cNvSpPr txBox="1"/>
          <p:nvPr/>
        </p:nvSpPr>
        <p:spPr>
          <a:xfrm>
            <a:off x="3507225" y="3596118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상현달</a:t>
            </a:r>
            <a:endParaRPr lang="ko-KR" sz="2400" dirty="0"/>
          </a:p>
        </p:txBody>
      </p:sp>
      <p:sp>
        <p:nvSpPr>
          <p:cNvPr id="29" name="S07-label109"/>
          <p:cNvSpPr txBox="1"/>
          <p:nvPr/>
        </p:nvSpPr>
        <p:spPr>
          <a:xfrm>
            <a:off x="5591556" y="3596118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보름달</a:t>
            </a:r>
            <a:endParaRPr lang="ko-KR" sz="2400" dirty="0"/>
          </a:p>
        </p:txBody>
      </p:sp>
      <p:sp>
        <p:nvSpPr>
          <p:cNvPr id="30" name="S07-label111"/>
          <p:cNvSpPr txBox="1"/>
          <p:nvPr/>
        </p:nvSpPr>
        <p:spPr>
          <a:xfrm>
            <a:off x="7675887" y="3596118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하현달</a:t>
            </a:r>
            <a:endParaRPr lang="ko-KR" sz="2400" dirty="0"/>
          </a:p>
        </p:txBody>
      </p:sp>
      <p:sp>
        <p:nvSpPr>
          <p:cNvPr id="31" name="S07-label113"/>
          <p:cNvSpPr txBox="1"/>
          <p:nvPr/>
        </p:nvSpPr>
        <p:spPr>
          <a:xfrm>
            <a:off x="9760218" y="3596118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그믐달</a:t>
            </a:r>
            <a:endParaRPr lang="ko-KR" sz="2400" dirty="0"/>
          </a:p>
        </p:txBody>
      </p:sp>
      <p:sp>
        <p:nvSpPr>
          <p:cNvPr id="32" name="S07-label115"/>
          <p:cNvSpPr txBox="1"/>
          <p:nvPr/>
        </p:nvSpPr>
        <p:spPr>
          <a:xfrm>
            <a:off x="4794504" y="4878388"/>
            <a:ext cx="259994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한 달 뒤 다시 초승달</a:t>
            </a:r>
            <a:endParaRPr lang="ko-KR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8-card11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1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보름달이 일주일쯤 뒤에 반달이 되었어요.</a:t>
            </a:r>
            <a:endParaRPr lang="ko-KR" sz="3000" dirty="0"/>
          </a:p>
        </p:txBody>
      </p:sp>
      <p:sp>
        <p:nvSpPr>
          <p:cNvPr id="5" name="S08-card1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08-chip12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08-text12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구름이 달의 반을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가려서 그래요.</a:t>
            </a:r>
            <a:endParaRPr lang="ko-KR" sz="3000" dirty="0"/>
          </a:p>
        </p:txBody>
      </p:sp>
      <p:sp>
        <p:nvSpPr>
          <p:cNvPr id="9" name="S08-chip12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08-text12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 없는 맑은 날에도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날마다 모양이 바뀌어요.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시각, 달의 위치</a:t>
            </a:r>
            <a:endParaRPr lang="ko-KR" sz="4000" dirty="0"/>
          </a:p>
        </p:txBody>
      </p:sp>
      <p:sp>
        <p:nvSpPr>
          <p:cNvPr id="3" name="S09-card1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시각에 보면 달은 날마다 서쪽에서 동쪽으로 옮겨 가요.</a:t>
            </a:r>
            <a:endParaRPr lang="ko-KR" sz="3000" dirty="0"/>
          </a:p>
        </p:txBody>
      </p:sp>
      <p:sp>
        <p:nvSpPr>
          <p:cNvPr id="5" name="S09-figure126" descr="저녁 7시에 남쪽 하늘을 본 그림. 음력 3일 초승달(서쪽)에서 음력 7일 상현달(남쪽)을 거쳐 음력 15일 보름달(동쪽)로, 오른쪽에서 왼쪽으로 향하는 점선 화살표"/>
          <p:cNvSpPr/>
          <p:nvPr/>
        </p:nvSpPr>
        <p:spPr>
          <a:xfrm>
            <a:off x="8918309" y="2927743"/>
            <a:ext cx="919388" cy="919388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6" name="S09-mark127"/>
          <p:cNvSpPr/>
          <p:nvPr/>
        </p:nvSpPr>
        <p:spPr>
          <a:xfrm>
            <a:off x="5634782" y="1745673"/>
            <a:ext cx="919388" cy="919388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7" name="S09-mark128"/>
          <p:cNvSpPr/>
          <p:nvPr/>
        </p:nvSpPr>
        <p:spPr>
          <a:xfrm>
            <a:off x="2351255" y="3059084"/>
            <a:ext cx="919388" cy="919388"/>
          </a:xfrm>
          <a:prstGeom prst="ellipse">
            <a:avLst/>
          </a:prstGeom>
          <a:solidFill>
            <a:srgbClr val="F2C14E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S09-mark129"/>
          <p:cNvSpPr/>
          <p:nvPr/>
        </p:nvSpPr>
        <p:spPr>
          <a:xfrm>
            <a:off x="1497538" y="4372495"/>
            <a:ext cx="9193876" cy="656705"/>
          </a:xfrm>
          <a:custGeom>
            <a:avLst/>
            <a:gdLst/>
            <a:ahLst/>
            <a:cxnLst/>
            <a:rect l="l" t="t" r="r" b="b"/>
            <a:pathLst>
              <a:path w="9193876" h="656705">
                <a:moveTo>
                  <a:pt x="0" y="656705"/>
                </a:moveTo>
                <a:lnTo>
                  <a:pt x="9193876" y="656705"/>
                </a:lnTo>
                <a:lnTo>
                  <a:pt x="9193876" y="0"/>
                </a:lnTo>
                <a:lnTo>
                  <a:pt x="0" y="0"/>
                </a:lnTo>
                <a:close/>
              </a:path>
            </a:pathLst>
          </a:custGeom>
          <a:solidFill>
            <a:srgbClr val="E3EBD9"/>
          </a:solidFill>
          <a:ln/>
        </p:spPr>
      </p:sp>
      <p:sp>
        <p:nvSpPr>
          <p:cNvPr id="9" name="S09-mark130"/>
          <p:cNvSpPr/>
          <p:nvPr/>
        </p:nvSpPr>
        <p:spPr>
          <a:xfrm>
            <a:off x="7407887" y="3518777"/>
            <a:ext cx="656705" cy="853717"/>
          </a:xfrm>
          <a:custGeom>
            <a:avLst/>
            <a:gdLst/>
            <a:ahLst/>
            <a:cxnLst/>
            <a:rect l="l" t="t" r="r" b="b"/>
            <a:pathLst>
              <a:path w="656705" h="853717">
                <a:moveTo>
                  <a:pt x="0" y="853717"/>
                </a:moveTo>
                <a:lnTo>
                  <a:pt x="656705" y="853717"/>
                </a:lnTo>
                <a:lnTo>
                  <a:pt x="6567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10" name="S09-mark131"/>
          <p:cNvSpPr/>
          <p:nvPr/>
        </p:nvSpPr>
        <p:spPr>
          <a:xfrm>
            <a:off x="4387042" y="3256095"/>
            <a:ext cx="788047" cy="820882"/>
          </a:xfrm>
          <a:custGeom>
            <a:avLst/>
            <a:gdLst/>
            <a:ahLst/>
            <a:cxnLst/>
            <a:rect l="l" t="t" r="r" b="b"/>
            <a:pathLst>
              <a:path w="788047" h="820882">
                <a:moveTo>
                  <a:pt x="0" y="820882"/>
                </a:moveTo>
                <a:lnTo>
                  <a:pt x="394023" y="0"/>
                </a:lnTo>
                <a:lnTo>
                  <a:pt x="788047" y="820882"/>
                </a:lnTo>
                <a:close/>
              </a:path>
            </a:pathLst>
          </a:custGeom>
          <a:solidFill>
            <a:srgbClr val="A7C4A0"/>
          </a:solidFill>
          <a:ln w="15875">
            <a:solidFill>
              <a:srgbClr val="6B8F63"/>
            </a:solidFill>
            <a:prstDash val="solid"/>
          </a:ln>
        </p:spPr>
      </p:sp>
      <p:sp>
        <p:nvSpPr>
          <p:cNvPr id="11" name="S09-mark132"/>
          <p:cNvSpPr/>
          <p:nvPr/>
        </p:nvSpPr>
        <p:spPr>
          <a:xfrm>
            <a:off x="9378003" y="2927743"/>
            <a:ext cx="459694" cy="919388"/>
          </a:xfrm>
          <a:custGeom>
            <a:avLst/>
            <a:gdLst/>
            <a:ahLst/>
            <a:cxnLst/>
            <a:rect l="l" t="t" r="r" b="b"/>
            <a:pathLst>
              <a:path w="459694" h="919388">
                <a:moveTo>
                  <a:pt x="0" y="919388"/>
                </a:moveTo>
                <a:lnTo>
                  <a:pt x="59760" y="915447"/>
                </a:lnTo>
                <a:lnTo>
                  <a:pt x="118864" y="903627"/>
                </a:lnTo>
                <a:lnTo>
                  <a:pt x="175997" y="884582"/>
                </a:lnTo>
                <a:lnTo>
                  <a:pt x="229847" y="857657"/>
                </a:lnTo>
                <a:lnTo>
                  <a:pt x="279757" y="824165"/>
                </a:lnTo>
                <a:lnTo>
                  <a:pt x="325069" y="784763"/>
                </a:lnTo>
                <a:lnTo>
                  <a:pt x="364472" y="739450"/>
                </a:lnTo>
                <a:lnTo>
                  <a:pt x="397964" y="689541"/>
                </a:lnTo>
                <a:lnTo>
                  <a:pt x="424888" y="635691"/>
                </a:lnTo>
                <a:lnTo>
                  <a:pt x="443933" y="578558"/>
                </a:lnTo>
                <a:lnTo>
                  <a:pt x="455754" y="519454"/>
                </a:lnTo>
                <a:lnTo>
                  <a:pt x="459694" y="459694"/>
                </a:lnTo>
                <a:lnTo>
                  <a:pt x="455754" y="399934"/>
                </a:lnTo>
                <a:lnTo>
                  <a:pt x="443933" y="340830"/>
                </a:lnTo>
                <a:lnTo>
                  <a:pt x="424888" y="283697"/>
                </a:lnTo>
                <a:lnTo>
                  <a:pt x="397964" y="229847"/>
                </a:lnTo>
                <a:lnTo>
                  <a:pt x="364472" y="179937"/>
                </a:lnTo>
                <a:lnTo>
                  <a:pt x="325069" y="134625"/>
                </a:lnTo>
                <a:lnTo>
                  <a:pt x="279757" y="95222"/>
                </a:lnTo>
                <a:lnTo>
                  <a:pt x="229847" y="61730"/>
                </a:lnTo>
                <a:lnTo>
                  <a:pt x="175997" y="34805"/>
                </a:lnTo>
                <a:lnTo>
                  <a:pt x="118864" y="15761"/>
                </a:lnTo>
                <a:lnTo>
                  <a:pt x="59760" y="3940"/>
                </a:lnTo>
                <a:lnTo>
                  <a:pt x="0" y="0"/>
                </a:lnTo>
                <a:lnTo>
                  <a:pt x="0" y="0"/>
                </a:lnTo>
                <a:lnTo>
                  <a:pt x="38746" y="3940"/>
                </a:lnTo>
                <a:lnTo>
                  <a:pt x="77491" y="15761"/>
                </a:lnTo>
                <a:lnTo>
                  <a:pt x="114267" y="34805"/>
                </a:lnTo>
                <a:lnTo>
                  <a:pt x="149729" y="61730"/>
                </a:lnTo>
                <a:lnTo>
                  <a:pt x="181907" y="95222"/>
                </a:lnTo>
                <a:lnTo>
                  <a:pt x="211459" y="134625"/>
                </a:lnTo>
                <a:lnTo>
                  <a:pt x="237071" y="179937"/>
                </a:lnTo>
                <a:lnTo>
                  <a:pt x="258742" y="229847"/>
                </a:lnTo>
                <a:lnTo>
                  <a:pt x="275816" y="283697"/>
                </a:lnTo>
                <a:lnTo>
                  <a:pt x="288294" y="340830"/>
                </a:lnTo>
                <a:lnTo>
                  <a:pt x="296174" y="399934"/>
                </a:lnTo>
                <a:lnTo>
                  <a:pt x="298801" y="459694"/>
                </a:lnTo>
                <a:lnTo>
                  <a:pt x="296174" y="519454"/>
                </a:lnTo>
                <a:lnTo>
                  <a:pt x="288294" y="578558"/>
                </a:lnTo>
                <a:lnTo>
                  <a:pt x="275816" y="635691"/>
                </a:lnTo>
                <a:lnTo>
                  <a:pt x="258742" y="689541"/>
                </a:lnTo>
                <a:lnTo>
                  <a:pt x="237071" y="739450"/>
                </a:lnTo>
                <a:lnTo>
                  <a:pt x="211459" y="784763"/>
                </a:lnTo>
                <a:lnTo>
                  <a:pt x="181907" y="824165"/>
                </a:lnTo>
                <a:lnTo>
                  <a:pt x="149729" y="857657"/>
                </a:lnTo>
                <a:lnTo>
                  <a:pt x="114267" y="884582"/>
                </a:lnTo>
                <a:lnTo>
                  <a:pt x="77491" y="903627"/>
                </a:lnTo>
                <a:lnTo>
                  <a:pt x="38746" y="915447"/>
                </a:lnTo>
                <a:lnTo>
                  <a:pt x="0" y="919388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2" name="S09-mark133"/>
          <p:cNvSpPr/>
          <p:nvPr/>
        </p:nvSpPr>
        <p:spPr>
          <a:xfrm>
            <a:off x="6094476" y="1745673"/>
            <a:ext cx="459694" cy="919388"/>
          </a:xfrm>
          <a:custGeom>
            <a:avLst/>
            <a:gdLst/>
            <a:ahLst/>
            <a:cxnLst/>
            <a:rect l="l" t="t" r="r" b="b"/>
            <a:pathLst>
              <a:path w="459694" h="919388">
                <a:moveTo>
                  <a:pt x="0" y="919388"/>
                </a:moveTo>
                <a:lnTo>
                  <a:pt x="59760" y="915447"/>
                </a:lnTo>
                <a:lnTo>
                  <a:pt x="118864" y="903627"/>
                </a:lnTo>
                <a:lnTo>
                  <a:pt x="175997" y="884582"/>
                </a:lnTo>
                <a:lnTo>
                  <a:pt x="229847" y="857657"/>
                </a:lnTo>
                <a:lnTo>
                  <a:pt x="279757" y="824165"/>
                </a:lnTo>
                <a:lnTo>
                  <a:pt x="325069" y="784763"/>
                </a:lnTo>
                <a:lnTo>
                  <a:pt x="364472" y="739450"/>
                </a:lnTo>
                <a:lnTo>
                  <a:pt x="397964" y="689541"/>
                </a:lnTo>
                <a:lnTo>
                  <a:pt x="424888" y="635691"/>
                </a:lnTo>
                <a:lnTo>
                  <a:pt x="443933" y="578558"/>
                </a:lnTo>
                <a:lnTo>
                  <a:pt x="455754" y="519454"/>
                </a:lnTo>
                <a:lnTo>
                  <a:pt x="459694" y="459694"/>
                </a:lnTo>
                <a:lnTo>
                  <a:pt x="455754" y="399934"/>
                </a:lnTo>
                <a:lnTo>
                  <a:pt x="443933" y="340830"/>
                </a:lnTo>
                <a:lnTo>
                  <a:pt x="424888" y="283697"/>
                </a:lnTo>
                <a:lnTo>
                  <a:pt x="397964" y="229847"/>
                </a:lnTo>
                <a:lnTo>
                  <a:pt x="364472" y="179937"/>
                </a:lnTo>
                <a:lnTo>
                  <a:pt x="325069" y="134625"/>
                </a:lnTo>
                <a:lnTo>
                  <a:pt x="279757" y="95222"/>
                </a:lnTo>
                <a:lnTo>
                  <a:pt x="229847" y="61730"/>
                </a:lnTo>
                <a:lnTo>
                  <a:pt x="175997" y="34805"/>
                </a:lnTo>
                <a:lnTo>
                  <a:pt x="118864" y="15761"/>
                </a:lnTo>
                <a:lnTo>
                  <a:pt x="59760" y="3940"/>
                </a:lnTo>
                <a:lnTo>
                  <a:pt x="0" y="0"/>
                </a:lnTo>
                <a:lnTo>
                  <a:pt x="0" y="0"/>
                </a:lnTo>
                <a:lnTo>
                  <a:pt x="0" y="3940"/>
                </a:lnTo>
                <a:lnTo>
                  <a:pt x="0" y="15761"/>
                </a:lnTo>
                <a:lnTo>
                  <a:pt x="0" y="34805"/>
                </a:lnTo>
                <a:lnTo>
                  <a:pt x="0" y="61730"/>
                </a:lnTo>
                <a:lnTo>
                  <a:pt x="0" y="95222"/>
                </a:lnTo>
                <a:lnTo>
                  <a:pt x="0" y="134625"/>
                </a:lnTo>
                <a:lnTo>
                  <a:pt x="0" y="179937"/>
                </a:lnTo>
                <a:lnTo>
                  <a:pt x="0" y="229847"/>
                </a:lnTo>
                <a:lnTo>
                  <a:pt x="0" y="283697"/>
                </a:lnTo>
                <a:lnTo>
                  <a:pt x="0" y="340830"/>
                </a:lnTo>
                <a:lnTo>
                  <a:pt x="0" y="399934"/>
                </a:lnTo>
                <a:lnTo>
                  <a:pt x="0" y="459694"/>
                </a:lnTo>
                <a:lnTo>
                  <a:pt x="0" y="519454"/>
                </a:lnTo>
                <a:lnTo>
                  <a:pt x="0" y="578558"/>
                </a:lnTo>
                <a:lnTo>
                  <a:pt x="0" y="635691"/>
                </a:lnTo>
                <a:lnTo>
                  <a:pt x="0" y="689541"/>
                </a:lnTo>
                <a:lnTo>
                  <a:pt x="0" y="739450"/>
                </a:lnTo>
                <a:lnTo>
                  <a:pt x="0" y="784763"/>
                </a:lnTo>
                <a:lnTo>
                  <a:pt x="0" y="824165"/>
                </a:lnTo>
                <a:lnTo>
                  <a:pt x="0" y="857657"/>
                </a:lnTo>
                <a:lnTo>
                  <a:pt x="0" y="884582"/>
                </a:lnTo>
                <a:lnTo>
                  <a:pt x="0" y="903627"/>
                </a:lnTo>
                <a:lnTo>
                  <a:pt x="0" y="915447"/>
                </a:lnTo>
                <a:lnTo>
                  <a:pt x="0" y="919388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3" name="S09-mark134"/>
          <p:cNvSpPr/>
          <p:nvPr/>
        </p:nvSpPr>
        <p:spPr>
          <a:xfrm>
            <a:off x="8918309" y="2927743"/>
            <a:ext cx="919388" cy="919388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09-mark135"/>
          <p:cNvSpPr/>
          <p:nvPr/>
        </p:nvSpPr>
        <p:spPr>
          <a:xfrm>
            <a:off x="5634782" y="1745673"/>
            <a:ext cx="919388" cy="919388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09-mark136"/>
          <p:cNvSpPr/>
          <p:nvPr/>
        </p:nvSpPr>
        <p:spPr>
          <a:xfrm>
            <a:off x="2351255" y="3059084"/>
            <a:ext cx="919388" cy="919388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09-mark137"/>
          <p:cNvSpPr/>
          <p:nvPr/>
        </p:nvSpPr>
        <p:spPr>
          <a:xfrm>
            <a:off x="1497538" y="4372495"/>
            <a:ext cx="919387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9-mark138"/>
          <p:cNvSpPr/>
          <p:nvPr/>
        </p:nvSpPr>
        <p:spPr>
          <a:xfrm flipV="1">
            <a:off x="4781065" y="4076977"/>
            <a:ext cx="0" cy="295517"/>
          </a:xfrm>
          <a:prstGeom prst="line">
            <a:avLst/>
          </a:prstGeom>
          <a:noFill/>
          <a:ln w="31750">
            <a:solidFill>
              <a:srgbClr val="6B8F63"/>
            </a:solidFill>
            <a:prstDash val="solid"/>
          </a:ln>
        </p:spPr>
      </p:sp>
      <p:sp>
        <p:nvSpPr>
          <p:cNvPr id="18" name="S09-mark139"/>
          <p:cNvSpPr/>
          <p:nvPr/>
        </p:nvSpPr>
        <p:spPr>
          <a:xfrm flipH="1" flipV="1">
            <a:off x="6685511" y="2336708"/>
            <a:ext cx="2167128" cy="755211"/>
          </a:xfrm>
          <a:prstGeom prst="line">
            <a:avLst/>
          </a:prstGeom>
          <a:noFill/>
          <a:ln w="31750">
            <a:solidFill>
              <a:srgbClr val="E9762B"/>
            </a:solidFill>
            <a:prstDash val="dash"/>
            <a:tailEnd type="triangle"/>
          </a:ln>
        </p:spPr>
      </p:sp>
      <p:sp>
        <p:nvSpPr>
          <p:cNvPr id="19" name="S09-mark140"/>
          <p:cNvSpPr/>
          <p:nvPr/>
        </p:nvSpPr>
        <p:spPr>
          <a:xfrm flipH="1">
            <a:off x="3336313" y="2336708"/>
            <a:ext cx="2167128" cy="886552"/>
          </a:xfrm>
          <a:prstGeom prst="line">
            <a:avLst/>
          </a:prstGeom>
          <a:noFill/>
          <a:ln w="31750">
            <a:solidFill>
              <a:srgbClr val="E9762B"/>
            </a:solidFill>
            <a:prstDash val="dash"/>
            <a:tailEnd type="triangle"/>
          </a:ln>
        </p:spPr>
      </p:sp>
      <p:sp>
        <p:nvSpPr>
          <p:cNvPr id="20" name="S09-label142"/>
          <p:cNvSpPr txBox="1"/>
          <p:nvPr/>
        </p:nvSpPr>
        <p:spPr>
          <a:xfrm>
            <a:off x="1950027" y="4510347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</a:t>
            </a:r>
            <a:endParaRPr lang="ko-KR" sz="2400" dirty="0"/>
          </a:p>
        </p:txBody>
      </p:sp>
      <p:sp>
        <p:nvSpPr>
          <p:cNvPr id="21" name="S09-label144"/>
          <p:cNvSpPr txBox="1"/>
          <p:nvPr/>
        </p:nvSpPr>
        <p:spPr>
          <a:xfrm>
            <a:off x="5890260" y="4510347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ko-KR" sz="2400" dirty="0"/>
          </a:p>
        </p:txBody>
      </p:sp>
      <p:sp>
        <p:nvSpPr>
          <p:cNvPr id="22" name="S09-label146"/>
          <p:cNvSpPr txBox="1"/>
          <p:nvPr/>
        </p:nvSpPr>
        <p:spPr>
          <a:xfrm>
            <a:off x="9830493" y="4510347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2400" dirty="0"/>
          </a:p>
        </p:txBody>
      </p:sp>
      <p:sp>
        <p:nvSpPr>
          <p:cNvPr id="23" name="S09-label148"/>
          <p:cNvSpPr txBox="1"/>
          <p:nvPr/>
        </p:nvSpPr>
        <p:spPr>
          <a:xfrm>
            <a:off x="8852604" y="2448577"/>
            <a:ext cx="1050798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음력 3일</a:t>
            </a:r>
            <a:endParaRPr lang="ko-KR" sz="1900" dirty="0"/>
          </a:p>
        </p:txBody>
      </p:sp>
      <p:sp>
        <p:nvSpPr>
          <p:cNvPr id="24" name="S09-label150"/>
          <p:cNvSpPr txBox="1"/>
          <p:nvPr/>
        </p:nvSpPr>
        <p:spPr>
          <a:xfrm>
            <a:off x="5569077" y="1266508"/>
            <a:ext cx="1050798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음력 7일</a:t>
            </a:r>
            <a:endParaRPr lang="ko-KR" sz="1900" dirty="0"/>
          </a:p>
        </p:txBody>
      </p:sp>
      <p:sp>
        <p:nvSpPr>
          <p:cNvPr id="25" name="S09-label152"/>
          <p:cNvSpPr txBox="1"/>
          <p:nvPr/>
        </p:nvSpPr>
        <p:spPr>
          <a:xfrm>
            <a:off x="2205921" y="2579918"/>
            <a:ext cx="121005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음력 15일</a:t>
            </a:r>
            <a:endParaRPr lang="ko-KR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달일까요?</a:t>
            </a:r>
            <a:endParaRPr lang="ko-KR" sz="4000" dirty="0"/>
          </a:p>
        </p:txBody>
      </p:sp>
      <p:sp>
        <p:nvSpPr>
          <p:cNvPr id="3" name="S10-card1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1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④는 그림의 달 이름을 말해요. 밝은 쪽을 먼저 봐요.</a:t>
            </a:r>
            <a:endParaRPr lang="ko-KR" sz="3000" dirty="0"/>
          </a:p>
        </p:txBody>
      </p:sp>
      <p:sp>
        <p:nvSpPr>
          <p:cNvPr id="5" name="S10-chip15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0-text15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7시 남쪽에 상현달.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8일 뒤 같은 시각에는?</a:t>
            </a:r>
            <a:endParaRPr lang="ko-KR" sz="3000" dirty="0"/>
          </a:p>
        </p:txBody>
      </p:sp>
      <p:sp>
        <p:nvSpPr>
          <p:cNvPr id="7" name="S10-chip15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0-text158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7시 서쪽에 초승달.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4일 뒤 같은 시각에는?</a:t>
            </a:r>
            <a:endParaRPr lang="ko-KR" sz="3000" dirty="0"/>
          </a:p>
        </p:txBody>
      </p:sp>
      <p:sp>
        <p:nvSpPr>
          <p:cNvPr id="9" name="S10-chip159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0-text160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반이 밝은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반달의 이름은?</a:t>
            </a:r>
            <a:endParaRPr lang="ko-KR" sz="3000" dirty="0"/>
          </a:p>
        </p:txBody>
      </p:sp>
      <p:sp>
        <p:nvSpPr>
          <p:cNvPr id="11" name="S10-chip161"/>
          <p:cNvSpPr txBox="1"/>
          <p:nvPr/>
        </p:nvSpPr>
        <p:spPr>
          <a:xfrm>
            <a:off x="6277356" y="39342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2" name="S10-figure162" descr="그믐달: 왼쪽이 가늘게 밝은 눈썹 모양"/>
          <p:cNvSpPr/>
          <p:nvPr/>
        </p:nvSpPr>
        <p:spPr>
          <a:xfrm>
            <a:off x="8545068" y="3406140"/>
            <a:ext cx="1623060" cy="1623060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3" name="S10-mark163"/>
          <p:cNvSpPr/>
          <p:nvPr/>
        </p:nvSpPr>
        <p:spPr>
          <a:xfrm>
            <a:off x="8545068" y="3406140"/>
            <a:ext cx="811530" cy="1623060"/>
          </a:xfrm>
          <a:custGeom>
            <a:avLst/>
            <a:gdLst/>
            <a:ahLst/>
            <a:cxnLst/>
            <a:rect l="l" t="t" r="r" b="b"/>
            <a:pathLst>
              <a:path w="811530" h="1623060">
                <a:moveTo>
                  <a:pt x="811530" y="1623060"/>
                </a:moveTo>
                <a:lnTo>
                  <a:pt x="705220" y="1615756"/>
                </a:lnTo>
                <a:lnTo>
                  <a:pt x="601344" y="1595468"/>
                </a:lnTo>
                <a:lnTo>
                  <a:pt x="500714" y="1561384"/>
                </a:lnTo>
                <a:lnTo>
                  <a:pt x="405765" y="1514315"/>
                </a:lnTo>
                <a:lnTo>
                  <a:pt x="317308" y="1455073"/>
                </a:lnTo>
                <a:lnTo>
                  <a:pt x="237778" y="1385282"/>
                </a:lnTo>
                <a:lnTo>
                  <a:pt x="167987" y="1305752"/>
                </a:lnTo>
                <a:lnTo>
                  <a:pt x="108745" y="1217295"/>
                </a:lnTo>
                <a:lnTo>
                  <a:pt x="61676" y="1122346"/>
                </a:lnTo>
                <a:lnTo>
                  <a:pt x="27592" y="1021716"/>
                </a:lnTo>
                <a:lnTo>
                  <a:pt x="7304" y="917840"/>
                </a:lnTo>
                <a:lnTo>
                  <a:pt x="0" y="811530"/>
                </a:lnTo>
                <a:lnTo>
                  <a:pt x="7304" y="705220"/>
                </a:lnTo>
                <a:lnTo>
                  <a:pt x="27592" y="601344"/>
                </a:lnTo>
                <a:lnTo>
                  <a:pt x="61676" y="500714"/>
                </a:lnTo>
                <a:lnTo>
                  <a:pt x="108745" y="405765"/>
                </a:lnTo>
                <a:lnTo>
                  <a:pt x="167987" y="317308"/>
                </a:lnTo>
                <a:lnTo>
                  <a:pt x="237778" y="237778"/>
                </a:lnTo>
                <a:lnTo>
                  <a:pt x="317308" y="167987"/>
                </a:lnTo>
                <a:lnTo>
                  <a:pt x="405765" y="108745"/>
                </a:lnTo>
                <a:lnTo>
                  <a:pt x="500714" y="61676"/>
                </a:lnTo>
                <a:lnTo>
                  <a:pt x="601344" y="27592"/>
                </a:lnTo>
                <a:lnTo>
                  <a:pt x="705220" y="7304"/>
                </a:lnTo>
                <a:lnTo>
                  <a:pt x="811530" y="0"/>
                </a:lnTo>
                <a:lnTo>
                  <a:pt x="811530" y="0"/>
                </a:lnTo>
                <a:lnTo>
                  <a:pt x="742550" y="7304"/>
                </a:lnTo>
                <a:lnTo>
                  <a:pt x="675193" y="27592"/>
                </a:lnTo>
                <a:lnTo>
                  <a:pt x="609459" y="61676"/>
                </a:lnTo>
                <a:lnTo>
                  <a:pt x="547783" y="108745"/>
                </a:lnTo>
                <a:lnTo>
                  <a:pt x="490164" y="167987"/>
                </a:lnTo>
                <a:lnTo>
                  <a:pt x="438226" y="237778"/>
                </a:lnTo>
                <a:lnTo>
                  <a:pt x="392781" y="317308"/>
                </a:lnTo>
                <a:lnTo>
                  <a:pt x="354639" y="405765"/>
                </a:lnTo>
                <a:lnTo>
                  <a:pt x="323800" y="500714"/>
                </a:lnTo>
                <a:lnTo>
                  <a:pt x="301889" y="601344"/>
                </a:lnTo>
                <a:lnTo>
                  <a:pt x="288905" y="705220"/>
                </a:lnTo>
                <a:lnTo>
                  <a:pt x="284035" y="811530"/>
                </a:lnTo>
                <a:lnTo>
                  <a:pt x="288905" y="917840"/>
                </a:lnTo>
                <a:lnTo>
                  <a:pt x="301889" y="1021716"/>
                </a:lnTo>
                <a:lnTo>
                  <a:pt x="323800" y="1122346"/>
                </a:lnTo>
                <a:lnTo>
                  <a:pt x="354639" y="1217295"/>
                </a:lnTo>
                <a:lnTo>
                  <a:pt x="392781" y="1305752"/>
                </a:lnTo>
                <a:lnTo>
                  <a:pt x="438226" y="1385282"/>
                </a:lnTo>
                <a:lnTo>
                  <a:pt x="490164" y="1455073"/>
                </a:lnTo>
                <a:lnTo>
                  <a:pt x="547783" y="1514315"/>
                </a:lnTo>
                <a:lnTo>
                  <a:pt x="609459" y="1561384"/>
                </a:lnTo>
                <a:lnTo>
                  <a:pt x="675193" y="1595468"/>
                </a:lnTo>
                <a:lnTo>
                  <a:pt x="742550" y="1615756"/>
                </a:lnTo>
                <a:lnTo>
                  <a:pt x="811530" y="162306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4" name="S10-mark164"/>
          <p:cNvSpPr/>
          <p:nvPr/>
        </p:nvSpPr>
        <p:spPr>
          <a:xfrm>
            <a:off x="8545068" y="3406140"/>
            <a:ext cx="1623060" cy="1623060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오늘부터 달을 관찰해요</a:t>
            </a:r>
            <a:endParaRPr lang="ko-KR" sz="4000" dirty="0"/>
          </a:p>
        </p:txBody>
      </p:sp>
      <p:sp>
        <p:nvSpPr>
          <p:cNvPr id="3" name="S11-card1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1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해는 절대 보지 않아요. 밤에는 어른과 함께 관찰해요.</a:t>
            </a:r>
            <a:endParaRPr lang="ko-KR" sz="3000" dirty="0"/>
          </a:p>
        </p:txBody>
      </p:sp>
      <p:sp>
        <p:nvSpPr>
          <p:cNvPr id="5" name="S11-card167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1-cardtext168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같은 곳, 같은 시각에 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방향(동·남·서)을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흐린 날도 기록해요</a:t>
            </a:r>
            <a:endParaRPr lang="ko-KR" sz="3000" dirty="0"/>
          </a:p>
        </p:txBody>
      </p:sp>
      <p:sp>
        <p:nvSpPr>
          <p:cNvPr id="7" name="S11-stepno169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1-text170"/>
          <p:cNvSpPr txBox="1"/>
          <p:nvPr/>
        </p:nvSpPr>
        <p:spPr>
          <a:xfrm>
            <a:off x="1325880" y="18790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달력에서 음력 날짜를 확인해요.</a:t>
            </a:r>
            <a:endParaRPr lang="ko-KR" sz="2400" dirty="0"/>
          </a:p>
        </p:txBody>
      </p:sp>
      <p:sp>
        <p:nvSpPr>
          <p:cNvPr id="9" name="S11-stepno171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1-text172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7시쯤, 늘 같은 곳에 서요.</a:t>
            </a:r>
            <a:endParaRPr lang="ko-KR" sz="2400" dirty="0"/>
          </a:p>
        </p:txBody>
      </p:sp>
      <p:sp>
        <p:nvSpPr>
          <p:cNvPr id="11" name="S11-stepno173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1-text174"/>
          <p:cNvSpPr txBox="1"/>
          <p:nvPr/>
        </p:nvSpPr>
        <p:spPr>
          <a:xfrm>
            <a:off x="1325880" y="3305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건물·나무와 함께 달을 그려요.</a:t>
            </a:r>
            <a:endParaRPr lang="ko-KR" sz="2400" dirty="0"/>
          </a:p>
        </p:txBody>
      </p:sp>
      <p:sp>
        <p:nvSpPr>
          <p:cNvPr id="13" name="S11-stepno175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11-text176"/>
          <p:cNvSpPr txBox="1"/>
          <p:nvPr/>
        </p:nvSpPr>
        <p:spPr>
          <a:xfrm>
            <a:off x="1325880" y="4018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2~3일마다 날짜·시각·방향을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chip17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2-text17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보름달 다음에 보이는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반달의 이름은?</a:t>
            </a:r>
            <a:endParaRPr lang="ko-KR" sz="3000" dirty="0"/>
          </a:p>
        </p:txBody>
      </p:sp>
      <p:sp>
        <p:nvSpPr>
          <p:cNvPr id="5" name="S12-chip17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2-text18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왼쪽이 가늘게 밝은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눈썹 모양 달의 이름은?</a:t>
            </a:r>
            <a:endParaRPr lang="ko-KR" sz="3000" dirty="0"/>
          </a:p>
        </p:txBody>
      </p:sp>
      <p:sp>
        <p:nvSpPr>
          <p:cNvPr id="7" name="S12-chip18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2-text18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시각에 여러 날 보면 달은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쪽에서 어느 쪽으로 옮겨 가나요?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3-card1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밝은 쪽과 ‘같은 시각’을 꼭 확인해요.</a:t>
            </a:r>
            <a:endParaRPr lang="ko-KR" sz="3000" dirty="0"/>
          </a:p>
        </p:txBody>
      </p:sp>
      <p:sp>
        <p:nvSpPr>
          <p:cNvPr id="5" name="S13-chip18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3-text186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하현달</a:t>
            </a:r>
            <a:endParaRPr lang="ko-KR" sz="3000" dirty="0"/>
          </a:p>
        </p:txBody>
      </p:sp>
      <p:sp>
        <p:nvSpPr>
          <p:cNvPr id="7" name="S13-text187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반이 밝음</a:t>
            </a:r>
            <a:endParaRPr lang="ko-KR" sz="2400" dirty="0"/>
          </a:p>
        </p:txBody>
      </p:sp>
      <p:sp>
        <p:nvSpPr>
          <p:cNvPr id="8" name="S13-text188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그믐달</a:t>
            </a:r>
            <a:endParaRPr lang="ko-KR" sz="3000" dirty="0"/>
          </a:p>
        </p:txBody>
      </p:sp>
      <p:sp>
        <p:nvSpPr>
          <p:cNvPr id="9" name="S13-text189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왼쪽이 가늘게 밝음</a:t>
            </a:r>
            <a:endParaRPr lang="ko-KR" sz="2400" dirty="0"/>
          </a:p>
        </p:txBody>
      </p:sp>
      <p:sp>
        <p:nvSpPr>
          <p:cNvPr id="10" name="S13-text190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서쪽 → 동쪽</a:t>
            </a:r>
            <a:endParaRPr lang="ko-KR" sz="3000" dirty="0"/>
          </a:p>
        </p:txBody>
      </p:sp>
      <p:sp>
        <p:nvSpPr>
          <p:cNvPr id="11" name="S13-text191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시각에 볼 때</a:t>
            </a:r>
            <a:endParaRPr lang="ko-KR" sz="2400" dirty="0"/>
          </a:p>
        </p:txBody>
      </p:sp>
      <p:sp>
        <p:nvSpPr>
          <p:cNvPr id="12" name="S13-chip19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3-text19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상현달</a:t>
            </a:r>
            <a:endParaRPr lang="ko-KR" sz="3000" dirty="0"/>
          </a:p>
        </p:txBody>
      </p:sp>
      <p:sp>
        <p:nvSpPr>
          <p:cNvPr id="14" name="S13-text19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보름달 앞(M2)</a:t>
            </a:r>
            <a:endParaRPr lang="ko-KR" sz="2400" dirty="0"/>
          </a:p>
        </p:txBody>
      </p:sp>
      <p:sp>
        <p:nvSpPr>
          <p:cNvPr id="15" name="S13-text19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동쪽 → 서쪽</a:t>
            </a:r>
            <a:endParaRPr lang="ko-KR" sz="3000" dirty="0"/>
          </a:p>
        </p:txBody>
      </p:sp>
      <p:sp>
        <p:nvSpPr>
          <p:cNvPr id="16" name="S13-text19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하룻밤 동안(M3)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초승달은 어느 것일까요?</a:t>
            </a:r>
            <a:endParaRPr lang="ko-KR" sz="4000" dirty="0"/>
          </a:p>
        </p:txBody>
      </p:sp>
      <p:sp>
        <p:nvSpPr>
          <p:cNvPr id="3" name="S14-text1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음력 3일 저녁, 서쪽 하늘에 뜬 달이에요.</a:t>
            </a:r>
            <a:endParaRPr lang="ko-KR" sz="3000" dirty="0"/>
          </a:p>
        </p:txBody>
      </p:sp>
      <p:sp>
        <p:nvSpPr>
          <p:cNvPr id="4" name="S14-card1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1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그렇게 생각한 까닭을 말해요.</a:t>
            </a:r>
            <a:endParaRPr lang="ko-KR" sz="3000" dirty="0"/>
          </a:p>
        </p:txBody>
      </p:sp>
      <p:sp>
        <p:nvSpPr>
          <p:cNvPr id="6" name="S14-chip20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4-figure201" descr="그믐달: 왼쪽이 가늘게 밝은 눈썹 모양"/>
          <p:cNvSpPr/>
          <p:nvPr/>
        </p:nvSpPr>
        <p:spPr>
          <a:xfrm>
            <a:off x="1498092" y="3140964"/>
            <a:ext cx="1554480" cy="1554480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S14-mark202"/>
          <p:cNvSpPr/>
          <p:nvPr/>
        </p:nvSpPr>
        <p:spPr>
          <a:xfrm>
            <a:off x="1498092" y="3140964"/>
            <a:ext cx="777240" cy="1554480"/>
          </a:xfrm>
          <a:custGeom>
            <a:avLst/>
            <a:gdLst/>
            <a:ahLst/>
            <a:cxnLst/>
            <a:rect l="l" t="t" r="r" b="b"/>
            <a:pathLst>
              <a:path w="777240" h="1554480">
                <a:moveTo>
                  <a:pt x="777240" y="1554480"/>
                </a:moveTo>
                <a:lnTo>
                  <a:pt x="675422" y="1547485"/>
                </a:lnTo>
                <a:lnTo>
                  <a:pt x="575935" y="1528054"/>
                </a:lnTo>
                <a:lnTo>
                  <a:pt x="479557" y="1495410"/>
                </a:lnTo>
                <a:lnTo>
                  <a:pt x="388620" y="1450330"/>
                </a:lnTo>
                <a:lnTo>
                  <a:pt x="303901" y="1393591"/>
                </a:lnTo>
                <a:lnTo>
                  <a:pt x="227731" y="1326749"/>
                </a:lnTo>
                <a:lnTo>
                  <a:pt x="160889" y="1250579"/>
                </a:lnTo>
                <a:lnTo>
                  <a:pt x="104150" y="1165860"/>
                </a:lnTo>
                <a:lnTo>
                  <a:pt x="59070" y="1074923"/>
                </a:lnTo>
                <a:lnTo>
                  <a:pt x="26426" y="978545"/>
                </a:lnTo>
                <a:lnTo>
                  <a:pt x="6995" y="879058"/>
                </a:lnTo>
                <a:lnTo>
                  <a:pt x="0" y="777240"/>
                </a:lnTo>
                <a:lnTo>
                  <a:pt x="6995" y="675422"/>
                </a:lnTo>
                <a:lnTo>
                  <a:pt x="26426" y="575935"/>
                </a:lnTo>
                <a:lnTo>
                  <a:pt x="59070" y="479557"/>
                </a:lnTo>
                <a:lnTo>
                  <a:pt x="104150" y="388620"/>
                </a:lnTo>
                <a:lnTo>
                  <a:pt x="160889" y="303901"/>
                </a:lnTo>
                <a:lnTo>
                  <a:pt x="227731" y="227731"/>
                </a:lnTo>
                <a:lnTo>
                  <a:pt x="303901" y="160889"/>
                </a:lnTo>
                <a:lnTo>
                  <a:pt x="388620" y="104150"/>
                </a:lnTo>
                <a:lnTo>
                  <a:pt x="479557" y="59070"/>
                </a:lnTo>
                <a:lnTo>
                  <a:pt x="575935" y="26426"/>
                </a:lnTo>
                <a:lnTo>
                  <a:pt x="675422" y="6995"/>
                </a:lnTo>
                <a:lnTo>
                  <a:pt x="777240" y="0"/>
                </a:lnTo>
                <a:lnTo>
                  <a:pt x="777240" y="0"/>
                </a:lnTo>
                <a:lnTo>
                  <a:pt x="711175" y="6995"/>
                </a:lnTo>
                <a:lnTo>
                  <a:pt x="646664" y="26426"/>
                </a:lnTo>
                <a:lnTo>
                  <a:pt x="583707" y="59070"/>
                </a:lnTo>
                <a:lnTo>
                  <a:pt x="524637" y="104150"/>
                </a:lnTo>
                <a:lnTo>
                  <a:pt x="469453" y="160889"/>
                </a:lnTo>
                <a:lnTo>
                  <a:pt x="419710" y="227731"/>
                </a:lnTo>
                <a:lnTo>
                  <a:pt x="376184" y="303901"/>
                </a:lnTo>
                <a:lnTo>
                  <a:pt x="339654" y="388620"/>
                </a:lnTo>
                <a:lnTo>
                  <a:pt x="310119" y="479557"/>
                </a:lnTo>
                <a:lnTo>
                  <a:pt x="289133" y="575935"/>
                </a:lnTo>
                <a:lnTo>
                  <a:pt x="276697" y="675422"/>
                </a:lnTo>
                <a:lnTo>
                  <a:pt x="272034" y="777240"/>
                </a:lnTo>
                <a:lnTo>
                  <a:pt x="276697" y="879058"/>
                </a:lnTo>
                <a:lnTo>
                  <a:pt x="289133" y="978545"/>
                </a:lnTo>
                <a:lnTo>
                  <a:pt x="310119" y="1074923"/>
                </a:lnTo>
                <a:lnTo>
                  <a:pt x="339654" y="1165860"/>
                </a:lnTo>
                <a:lnTo>
                  <a:pt x="376184" y="1250579"/>
                </a:lnTo>
                <a:lnTo>
                  <a:pt x="419710" y="1326749"/>
                </a:lnTo>
                <a:lnTo>
                  <a:pt x="469453" y="1393591"/>
                </a:lnTo>
                <a:lnTo>
                  <a:pt x="524637" y="1450330"/>
                </a:lnTo>
                <a:lnTo>
                  <a:pt x="583707" y="1495410"/>
                </a:lnTo>
                <a:lnTo>
                  <a:pt x="646664" y="1528054"/>
                </a:lnTo>
                <a:lnTo>
                  <a:pt x="711175" y="1547485"/>
                </a:lnTo>
                <a:lnTo>
                  <a:pt x="777240" y="155448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9" name="S14-mark203"/>
          <p:cNvSpPr/>
          <p:nvPr/>
        </p:nvSpPr>
        <p:spPr>
          <a:xfrm>
            <a:off x="1498092" y="3140964"/>
            <a:ext cx="1554480" cy="1554480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14-chip20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1" name="S14-figure205" descr="초승달: 오른쪽이 가늘게 밝은 눈썹 모양"/>
          <p:cNvSpPr/>
          <p:nvPr/>
        </p:nvSpPr>
        <p:spPr>
          <a:xfrm>
            <a:off x="5317236" y="3140964"/>
            <a:ext cx="1554480" cy="1554480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2" name="S14-mark206"/>
          <p:cNvSpPr/>
          <p:nvPr/>
        </p:nvSpPr>
        <p:spPr>
          <a:xfrm>
            <a:off x="6094476" y="3140964"/>
            <a:ext cx="777240" cy="1554480"/>
          </a:xfrm>
          <a:custGeom>
            <a:avLst/>
            <a:gdLst/>
            <a:ahLst/>
            <a:cxnLst/>
            <a:rect l="l" t="t" r="r" b="b"/>
            <a:pathLst>
              <a:path w="777240" h="1554480">
                <a:moveTo>
                  <a:pt x="0" y="1554480"/>
                </a:moveTo>
                <a:lnTo>
                  <a:pt x="101818" y="1547485"/>
                </a:lnTo>
                <a:lnTo>
                  <a:pt x="201305" y="1528054"/>
                </a:lnTo>
                <a:lnTo>
                  <a:pt x="297683" y="1495410"/>
                </a:lnTo>
                <a:lnTo>
                  <a:pt x="388620" y="1450330"/>
                </a:lnTo>
                <a:lnTo>
                  <a:pt x="473339" y="1393591"/>
                </a:lnTo>
                <a:lnTo>
                  <a:pt x="549509" y="1326749"/>
                </a:lnTo>
                <a:lnTo>
                  <a:pt x="616351" y="1250579"/>
                </a:lnTo>
                <a:lnTo>
                  <a:pt x="673090" y="1165860"/>
                </a:lnTo>
                <a:lnTo>
                  <a:pt x="718170" y="1074923"/>
                </a:lnTo>
                <a:lnTo>
                  <a:pt x="750814" y="978545"/>
                </a:lnTo>
                <a:lnTo>
                  <a:pt x="770245" y="879058"/>
                </a:lnTo>
                <a:lnTo>
                  <a:pt x="777240" y="777240"/>
                </a:lnTo>
                <a:lnTo>
                  <a:pt x="770245" y="675422"/>
                </a:lnTo>
                <a:lnTo>
                  <a:pt x="750814" y="575935"/>
                </a:lnTo>
                <a:lnTo>
                  <a:pt x="718170" y="479557"/>
                </a:lnTo>
                <a:lnTo>
                  <a:pt x="673090" y="388620"/>
                </a:lnTo>
                <a:lnTo>
                  <a:pt x="616351" y="303901"/>
                </a:lnTo>
                <a:lnTo>
                  <a:pt x="549509" y="227731"/>
                </a:lnTo>
                <a:lnTo>
                  <a:pt x="473339" y="160889"/>
                </a:lnTo>
                <a:lnTo>
                  <a:pt x="388620" y="104150"/>
                </a:lnTo>
                <a:lnTo>
                  <a:pt x="297683" y="59070"/>
                </a:lnTo>
                <a:lnTo>
                  <a:pt x="201305" y="26426"/>
                </a:lnTo>
                <a:lnTo>
                  <a:pt x="101818" y="6995"/>
                </a:lnTo>
                <a:lnTo>
                  <a:pt x="0" y="0"/>
                </a:lnTo>
                <a:lnTo>
                  <a:pt x="0" y="0"/>
                </a:lnTo>
                <a:lnTo>
                  <a:pt x="66065" y="6995"/>
                </a:lnTo>
                <a:lnTo>
                  <a:pt x="130576" y="26426"/>
                </a:lnTo>
                <a:lnTo>
                  <a:pt x="193533" y="59070"/>
                </a:lnTo>
                <a:lnTo>
                  <a:pt x="252603" y="104150"/>
                </a:lnTo>
                <a:lnTo>
                  <a:pt x="307787" y="160889"/>
                </a:lnTo>
                <a:lnTo>
                  <a:pt x="357530" y="227731"/>
                </a:lnTo>
                <a:lnTo>
                  <a:pt x="401056" y="303901"/>
                </a:lnTo>
                <a:lnTo>
                  <a:pt x="437586" y="388620"/>
                </a:lnTo>
                <a:lnTo>
                  <a:pt x="467121" y="479557"/>
                </a:lnTo>
                <a:lnTo>
                  <a:pt x="488107" y="575935"/>
                </a:lnTo>
                <a:lnTo>
                  <a:pt x="500543" y="675422"/>
                </a:lnTo>
                <a:lnTo>
                  <a:pt x="505206" y="777240"/>
                </a:lnTo>
                <a:lnTo>
                  <a:pt x="500543" y="879058"/>
                </a:lnTo>
                <a:lnTo>
                  <a:pt x="488107" y="978545"/>
                </a:lnTo>
                <a:lnTo>
                  <a:pt x="467121" y="1074923"/>
                </a:lnTo>
                <a:lnTo>
                  <a:pt x="437586" y="1165860"/>
                </a:lnTo>
                <a:lnTo>
                  <a:pt x="401056" y="1250579"/>
                </a:lnTo>
                <a:lnTo>
                  <a:pt x="357530" y="1326749"/>
                </a:lnTo>
                <a:lnTo>
                  <a:pt x="307787" y="1393591"/>
                </a:lnTo>
                <a:lnTo>
                  <a:pt x="252603" y="1450330"/>
                </a:lnTo>
                <a:lnTo>
                  <a:pt x="193533" y="1495410"/>
                </a:lnTo>
                <a:lnTo>
                  <a:pt x="130576" y="1528054"/>
                </a:lnTo>
                <a:lnTo>
                  <a:pt x="66065" y="1547485"/>
                </a:lnTo>
                <a:lnTo>
                  <a:pt x="0" y="155448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3" name="S14-mark207"/>
          <p:cNvSpPr/>
          <p:nvPr/>
        </p:nvSpPr>
        <p:spPr>
          <a:xfrm>
            <a:off x="5317236" y="3140964"/>
            <a:ext cx="1554480" cy="1554480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14-chip20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5" name="S14-figure209" descr="하현달: 왼쪽 반이 밝은 반달"/>
          <p:cNvSpPr/>
          <p:nvPr/>
        </p:nvSpPr>
        <p:spPr>
          <a:xfrm>
            <a:off x="9136380" y="3140964"/>
            <a:ext cx="1554480" cy="1554480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6" name="S14-mark210"/>
          <p:cNvSpPr/>
          <p:nvPr/>
        </p:nvSpPr>
        <p:spPr>
          <a:xfrm>
            <a:off x="9136380" y="3140964"/>
            <a:ext cx="777240" cy="1554480"/>
          </a:xfrm>
          <a:custGeom>
            <a:avLst/>
            <a:gdLst/>
            <a:ahLst/>
            <a:cxnLst/>
            <a:rect l="l" t="t" r="r" b="b"/>
            <a:pathLst>
              <a:path w="777240" h="1554480">
                <a:moveTo>
                  <a:pt x="777240" y="1554480"/>
                </a:moveTo>
                <a:lnTo>
                  <a:pt x="675422" y="1547485"/>
                </a:lnTo>
                <a:lnTo>
                  <a:pt x="575935" y="1528054"/>
                </a:lnTo>
                <a:lnTo>
                  <a:pt x="479557" y="1495410"/>
                </a:lnTo>
                <a:lnTo>
                  <a:pt x="388620" y="1450330"/>
                </a:lnTo>
                <a:lnTo>
                  <a:pt x="303901" y="1393591"/>
                </a:lnTo>
                <a:lnTo>
                  <a:pt x="227731" y="1326749"/>
                </a:lnTo>
                <a:lnTo>
                  <a:pt x="160889" y="1250579"/>
                </a:lnTo>
                <a:lnTo>
                  <a:pt x="104150" y="1165860"/>
                </a:lnTo>
                <a:lnTo>
                  <a:pt x="59070" y="1074923"/>
                </a:lnTo>
                <a:lnTo>
                  <a:pt x="26426" y="978545"/>
                </a:lnTo>
                <a:lnTo>
                  <a:pt x="6995" y="879058"/>
                </a:lnTo>
                <a:lnTo>
                  <a:pt x="0" y="777240"/>
                </a:lnTo>
                <a:lnTo>
                  <a:pt x="6995" y="675422"/>
                </a:lnTo>
                <a:lnTo>
                  <a:pt x="26426" y="575935"/>
                </a:lnTo>
                <a:lnTo>
                  <a:pt x="59070" y="479557"/>
                </a:lnTo>
                <a:lnTo>
                  <a:pt x="104150" y="388620"/>
                </a:lnTo>
                <a:lnTo>
                  <a:pt x="160889" y="303901"/>
                </a:lnTo>
                <a:lnTo>
                  <a:pt x="227731" y="227731"/>
                </a:lnTo>
                <a:lnTo>
                  <a:pt x="303901" y="160889"/>
                </a:lnTo>
                <a:lnTo>
                  <a:pt x="388620" y="104150"/>
                </a:lnTo>
                <a:lnTo>
                  <a:pt x="479557" y="59070"/>
                </a:lnTo>
                <a:lnTo>
                  <a:pt x="575935" y="26426"/>
                </a:lnTo>
                <a:lnTo>
                  <a:pt x="675422" y="6995"/>
                </a:lnTo>
                <a:lnTo>
                  <a:pt x="777240" y="0"/>
                </a:lnTo>
                <a:lnTo>
                  <a:pt x="777240" y="0"/>
                </a:lnTo>
                <a:lnTo>
                  <a:pt x="777240" y="6995"/>
                </a:lnTo>
                <a:lnTo>
                  <a:pt x="777240" y="26426"/>
                </a:lnTo>
                <a:lnTo>
                  <a:pt x="777240" y="59070"/>
                </a:lnTo>
                <a:lnTo>
                  <a:pt x="777240" y="104150"/>
                </a:lnTo>
                <a:lnTo>
                  <a:pt x="777240" y="160889"/>
                </a:lnTo>
                <a:lnTo>
                  <a:pt x="777240" y="227731"/>
                </a:lnTo>
                <a:lnTo>
                  <a:pt x="777240" y="303901"/>
                </a:lnTo>
                <a:lnTo>
                  <a:pt x="777240" y="388620"/>
                </a:lnTo>
                <a:lnTo>
                  <a:pt x="777240" y="479557"/>
                </a:lnTo>
                <a:lnTo>
                  <a:pt x="777240" y="575935"/>
                </a:lnTo>
                <a:lnTo>
                  <a:pt x="777240" y="675422"/>
                </a:lnTo>
                <a:lnTo>
                  <a:pt x="777240" y="777240"/>
                </a:lnTo>
                <a:lnTo>
                  <a:pt x="777240" y="879058"/>
                </a:lnTo>
                <a:lnTo>
                  <a:pt x="777240" y="978545"/>
                </a:lnTo>
                <a:lnTo>
                  <a:pt x="777240" y="1074923"/>
                </a:lnTo>
                <a:lnTo>
                  <a:pt x="777240" y="1165860"/>
                </a:lnTo>
                <a:lnTo>
                  <a:pt x="777240" y="1250579"/>
                </a:lnTo>
                <a:lnTo>
                  <a:pt x="777240" y="1326749"/>
                </a:lnTo>
                <a:lnTo>
                  <a:pt x="777240" y="1393591"/>
                </a:lnTo>
                <a:lnTo>
                  <a:pt x="777240" y="1450330"/>
                </a:lnTo>
                <a:lnTo>
                  <a:pt x="777240" y="1495410"/>
                </a:lnTo>
                <a:lnTo>
                  <a:pt x="777240" y="1528054"/>
                </a:lnTo>
                <a:lnTo>
                  <a:pt x="777240" y="1547485"/>
                </a:lnTo>
                <a:lnTo>
                  <a:pt x="777240" y="155448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7" name="S14-mark211"/>
          <p:cNvSpPr/>
          <p:nvPr/>
        </p:nvSpPr>
        <p:spPr>
          <a:xfrm>
            <a:off x="9136380" y="3140964"/>
            <a:ext cx="1554480" cy="1554480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212"/>
          <p:cNvSpPr/>
          <p:nvPr/>
        </p:nvSpPr>
        <p:spPr>
          <a:xfrm>
            <a:off x="548640" y="1325880"/>
            <a:ext cx="11091672" cy="1723644"/>
          </a:xfrm>
          <a:prstGeom prst="roundRect">
            <a:avLst>
              <a:gd name="adj" fmla="val 6366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213"/>
          <p:cNvSpPr txBox="1"/>
          <p:nvPr/>
        </p:nvSpPr>
        <p:spPr>
          <a:xfrm>
            <a:off x="822960" y="1463040"/>
            <a:ext cx="10543032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초승달 → 상현달 → 보름달 → 하현달 → 그믐달, 약 한 달마다 되풀이돼요.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시각에 보면 달은 서쪽에서 동쪽으로 옮겨 가요.</a:t>
            </a:r>
            <a:endParaRPr lang="ko-KR" sz="3000" dirty="0"/>
          </a:p>
        </p:txBody>
      </p:sp>
      <p:sp>
        <p:nvSpPr>
          <p:cNvPr id="5" name="S15-chip214"/>
          <p:cNvSpPr txBox="1"/>
          <p:nvPr/>
        </p:nvSpPr>
        <p:spPr>
          <a:xfrm>
            <a:off x="548640" y="327812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곳, 같은 시각에 관찰하기</a:t>
            </a:r>
            <a:endParaRPr lang="ko-KR" sz="2400" dirty="0"/>
          </a:p>
        </p:txBody>
      </p:sp>
      <p:sp>
        <p:nvSpPr>
          <p:cNvPr id="6" name="S15-chip215"/>
          <p:cNvSpPr txBox="1"/>
          <p:nvPr/>
        </p:nvSpPr>
        <p:spPr>
          <a:xfrm>
            <a:off x="6208776" y="327812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구름이 가려서 바뀐다고 생각하기</a:t>
            </a:r>
            <a:endParaRPr lang="ko-KR" sz="2400" dirty="0"/>
          </a:p>
        </p:txBody>
      </p:sp>
      <p:sp>
        <p:nvSpPr>
          <p:cNvPr id="7" name="S15-text216"/>
          <p:cNvSpPr txBox="1"/>
          <p:nvPr/>
        </p:nvSpPr>
        <p:spPr>
          <a:xfrm>
            <a:off x="548640" y="410108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5-text217"/>
          <p:cNvSpPr txBox="1"/>
          <p:nvPr/>
        </p:nvSpPr>
        <p:spPr>
          <a:xfrm>
            <a:off x="548640" y="4604004"/>
            <a:ext cx="3544824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오른쪽 반이 밝은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반달의 이름은?</a:t>
            </a:r>
            <a:endParaRPr lang="ko-KR" sz="2400" dirty="0"/>
          </a:p>
        </p:txBody>
      </p:sp>
      <p:sp>
        <p:nvSpPr>
          <p:cNvPr id="9" name="S15-text218"/>
          <p:cNvSpPr txBox="1"/>
          <p:nvPr/>
        </p:nvSpPr>
        <p:spPr>
          <a:xfrm>
            <a:off x="4322064" y="4604004"/>
            <a:ext cx="3544824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보름달 다음에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반달은?</a:t>
            </a:r>
            <a:endParaRPr lang="ko-KR" sz="2400" dirty="0"/>
          </a:p>
        </p:txBody>
      </p:sp>
      <p:sp>
        <p:nvSpPr>
          <p:cNvPr id="10" name="S15-text219"/>
          <p:cNvSpPr txBox="1"/>
          <p:nvPr/>
        </p:nvSpPr>
        <p:spPr>
          <a:xfrm>
            <a:off x="8095488" y="4604004"/>
            <a:ext cx="3544824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같은 시각, 달은 어느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쪽으로 옮겨 가나요?</a:t>
            </a:r>
            <a:endParaRPr lang="ko-KR" sz="2400" dirty="0"/>
          </a:p>
        </p:txBody>
      </p:sp>
      <p:sp>
        <p:nvSpPr>
          <p:cNvPr id="11" name="S15-text22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태양계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동서남북 찾기</a:t>
            </a:r>
            <a:endParaRPr lang="ko-KR" sz="4000" dirty="0"/>
          </a:p>
        </p:txBody>
      </p:sp>
      <p:sp>
        <p:nvSpPr>
          <p:cNvPr id="3" name="S16-figure221" descr="남쪽을 바라보고 선 사람(가운데)을 위에서 본 그림: 앞은 남, 뒤는 북, 왼쪽은 동, 오른쪽은 서"/>
          <p:cNvSpPr/>
          <p:nvPr/>
        </p:nvSpPr>
        <p:spPr>
          <a:xfrm>
            <a:off x="2930444" y="3472226"/>
            <a:ext cx="599348" cy="599348"/>
          </a:xfrm>
          <a:prstGeom prst="ellipse">
            <a:avLst/>
          </a:pr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16-mark222"/>
          <p:cNvSpPr/>
          <p:nvPr/>
        </p:nvSpPr>
        <p:spPr>
          <a:xfrm flipV="1">
            <a:off x="3230118" y="1888236"/>
            <a:ext cx="0" cy="188366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5" name="S16-mark223"/>
          <p:cNvSpPr/>
          <p:nvPr/>
        </p:nvSpPr>
        <p:spPr>
          <a:xfrm>
            <a:off x="3230118" y="3771900"/>
            <a:ext cx="0" cy="188366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6" name="S16-mark224"/>
          <p:cNvSpPr/>
          <p:nvPr/>
        </p:nvSpPr>
        <p:spPr>
          <a:xfrm flipH="1">
            <a:off x="1346454" y="3771900"/>
            <a:ext cx="1883664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7" name="S16-mark225"/>
          <p:cNvSpPr/>
          <p:nvPr/>
        </p:nvSpPr>
        <p:spPr>
          <a:xfrm>
            <a:off x="3230118" y="3771900"/>
            <a:ext cx="1883664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8" name="S16-label227"/>
          <p:cNvSpPr txBox="1"/>
          <p:nvPr/>
        </p:nvSpPr>
        <p:spPr>
          <a:xfrm>
            <a:off x="2693670" y="1226820"/>
            <a:ext cx="1072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남(앞)</a:t>
            </a:r>
            <a:endParaRPr lang="ko-KR" sz="2400" dirty="0"/>
          </a:p>
        </p:txBody>
      </p:sp>
      <p:sp>
        <p:nvSpPr>
          <p:cNvPr id="9" name="S16-label229"/>
          <p:cNvSpPr txBox="1"/>
          <p:nvPr/>
        </p:nvSpPr>
        <p:spPr>
          <a:xfrm>
            <a:off x="2693670" y="5935980"/>
            <a:ext cx="1072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북(뒤)</a:t>
            </a:r>
            <a:endParaRPr lang="ko-KR" sz="2400" dirty="0"/>
          </a:p>
        </p:txBody>
      </p:sp>
      <p:sp>
        <p:nvSpPr>
          <p:cNvPr id="10" name="S16-label231"/>
          <p:cNvSpPr txBox="1"/>
          <p:nvPr/>
        </p:nvSpPr>
        <p:spPr>
          <a:xfrm>
            <a:off x="457269" y="358140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</a:t>
            </a:r>
            <a:endParaRPr lang="ko-KR" sz="2400" dirty="0"/>
          </a:p>
        </p:txBody>
      </p:sp>
      <p:sp>
        <p:nvSpPr>
          <p:cNvPr id="11" name="S16-label233"/>
          <p:cNvSpPr txBox="1"/>
          <p:nvPr/>
        </p:nvSpPr>
        <p:spPr>
          <a:xfrm>
            <a:off x="5594535" y="358140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2400" dirty="0"/>
          </a:p>
        </p:txBody>
      </p:sp>
      <p:sp>
        <p:nvSpPr>
          <p:cNvPr id="12" name="S16-card234"/>
          <p:cNvSpPr/>
          <p:nvPr/>
        </p:nvSpPr>
        <p:spPr>
          <a:xfrm>
            <a:off x="6277356" y="224028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6-cardtext235"/>
          <p:cNvSpPr txBox="1"/>
          <p:nvPr/>
        </p:nvSpPr>
        <p:spPr>
          <a:xfrm>
            <a:off x="6551676" y="237744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해가 뜨는 쪽이 동쪽</a:t>
            </a:r>
            <a:endParaRPr lang="ko-KR" sz="3000" dirty="0"/>
          </a:p>
        </p:txBody>
      </p:sp>
      <p:sp>
        <p:nvSpPr>
          <p:cNvPr id="14" name="S16-card236"/>
          <p:cNvSpPr/>
          <p:nvPr/>
        </p:nvSpPr>
        <p:spPr>
          <a:xfrm>
            <a:off x="6277356" y="333756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16-cardtext237"/>
          <p:cNvSpPr txBox="1"/>
          <p:nvPr/>
        </p:nvSpPr>
        <p:spPr>
          <a:xfrm>
            <a:off x="6551676" y="347472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해가 지는 쪽이 서쪽</a:t>
            </a:r>
            <a:endParaRPr lang="ko-KR" sz="3000" dirty="0"/>
          </a:p>
        </p:txBody>
      </p:sp>
      <p:sp>
        <p:nvSpPr>
          <p:cNvPr id="16" name="S16-card238"/>
          <p:cNvSpPr/>
          <p:nvPr/>
        </p:nvSpPr>
        <p:spPr>
          <a:xfrm>
            <a:off x="6277356" y="443484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6-cardtext239"/>
          <p:cNvSpPr txBox="1"/>
          <p:nvPr/>
        </p:nvSpPr>
        <p:spPr>
          <a:xfrm>
            <a:off x="6551676" y="457200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남쪽을 보면 왼쪽이 동쪽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과학 달의 모양 변화</dc:title>
  <dc:subject>KR22-G04-SCI-MOON-L01</dc:subject>
  <dc:creator>education-ppt</dc:creator>
  <cp:lastModifiedBy>education-ppt</cp:lastModifiedBy>
  <cp:revision>1</cp:revision>
  <dcterms:created xsi:type="dcterms:W3CDTF">2026-10-26T13:25:07Z</dcterms:created>
  <dcterms:modified xsi:type="dcterms:W3CDTF">2026-10-26T13:25:07Z</dcterms:modified>
</cp:coreProperties>
</file>