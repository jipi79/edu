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23448f1-6580-1b1e-75c8-1277d6922eaf}">
          <p14:sldIdLst>
            <p14:sldId id="256"/>
            <p14:sldId id="257"/>
          </p14:sldIdLst>
        </p14:section>
        <p14:section name="연습" id="{3d01cafe-59e0-32a2-cf46-9ab5da97df86}">
          <p14:sldIdLst>
            <p14:sldId id="258"/>
            <p14:sldId id="259"/>
            <p14:sldId id="260"/>
            <p14:sldId id="262"/>
            <p14:sldId id="265"/>
          </p14:sldIdLst>
        </p14:section>
        <p14:section name="개념" id="{72f137e4-d0b3-e323-7f4e-f3c817c6ca95}">
          <p14:sldIdLst>
            <p14:sldId id="261"/>
            <p14:sldId id="263"/>
            <p14:sldId id="264"/>
          </p14:sldIdLst>
        </p14:section>
        <p14:section name="연습" id="{1c06a0aa-5e69-bd0e-1bc2-27af7631ff6d}">
          <p14:sldIdLst/>
        </p14:section>
        <p14:section name="개념" id="{43aa4c12-9593-1865-0f89-8be493f68069}">
          <p14:sldIdLst/>
        </p14:section>
        <p14:section name="연습" id="{cf57aa47-d5ec-99d4-93fa-13a8471b2a29}">
          <p14:sldIdLst/>
        </p14:section>
        <p14:section name="확인" id="{88938bc5-8de5-5841-c6e1-35aa106fb89b}">
          <p14:sldIdLst>
            <p14:sldId id="266"/>
            <p14:sldId id="267"/>
          </p14:sldIdLst>
        </p14:section>
        <p14:section name="정리" id="{3ce9606c-2542-a2e3-3a4b-da924f3d949d}">
          <p14:sldIdLst>
            <p14:sldId id="268"/>
          </p14:sldIdLst>
        </p14:section>
        <p14:section name="보충" id="{925b2bc4-9979-74af-7956-67c6a22912e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물과 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어디로 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받침으로 한쪽을 높인 쟁반 위쪽에 흙 언덕이 있고, 구멍 낸 페트병으로 언덕 꼭대기에 물을 뿌리는 모습"/>
          <p:cNvSpPr/>
          <p:nvPr/>
        </p:nvSpPr>
        <p:spPr>
          <a:xfrm>
            <a:off x="8057653" y="2702151"/>
            <a:ext cx="407504" cy="419729"/>
          </a:xfrm>
          <a:custGeom>
            <a:avLst/>
            <a:gdLst/>
            <a:ahLst/>
            <a:cxnLst/>
            <a:rect l="l" t="t" r="r" b="b"/>
            <a:pathLst>
              <a:path w="407504" h="419729">
                <a:moveTo>
                  <a:pt x="0" y="419729"/>
                </a:moveTo>
                <a:lnTo>
                  <a:pt x="407504" y="419729"/>
                </a:lnTo>
                <a:lnTo>
                  <a:pt x="407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6527" y="2388373"/>
            <a:ext cx="3300785" cy="733508"/>
          </a:xfrm>
          <a:custGeom>
            <a:avLst/>
            <a:gdLst/>
            <a:ahLst/>
            <a:cxnLst/>
            <a:rect l="l" t="t" r="r" b="b"/>
            <a:pathLst>
              <a:path w="3300785" h="733508">
                <a:moveTo>
                  <a:pt x="0" y="0"/>
                </a:moveTo>
                <a:lnTo>
                  <a:pt x="20375" y="244503"/>
                </a:lnTo>
                <a:lnTo>
                  <a:pt x="3280410" y="733508"/>
                </a:lnTo>
                <a:lnTo>
                  <a:pt x="3300785" y="48900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37278" y="1960493"/>
            <a:ext cx="1854145" cy="953560"/>
          </a:xfrm>
          <a:custGeom>
            <a:avLst/>
            <a:gdLst/>
            <a:ahLst/>
            <a:cxnLst/>
            <a:rect l="l" t="t" r="r" b="b"/>
            <a:pathLst>
              <a:path w="1854145" h="953560">
                <a:moveTo>
                  <a:pt x="0" y="676457"/>
                </a:moveTo>
                <a:lnTo>
                  <a:pt x="0" y="20375"/>
                </a:lnTo>
                <a:lnTo>
                  <a:pt x="346379" y="0"/>
                </a:lnTo>
                <a:lnTo>
                  <a:pt x="713133" y="142627"/>
                </a:lnTo>
                <a:lnTo>
                  <a:pt x="1283639" y="529756"/>
                </a:lnTo>
                <a:lnTo>
                  <a:pt x="1854145" y="953560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118779" y="1084359"/>
            <a:ext cx="285253" cy="509380"/>
          </a:xfrm>
          <a:custGeom>
            <a:avLst/>
            <a:gdLst/>
            <a:ahLst/>
            <a:cxnLst/>
            <a:rect l="l" t="t" r="r" b="b"/>
            <a:pathLst>
              <a:path w="285253" h="509380">
                <a:moveTo>
                  <a:pt x="0" y="509380"/>
                </a:moveTo>
                <a:lnTo>
                  <a:pt x="285253" y="509380"/>
                </a:lnTo>
                <a:lnTo>
                  <a:pt x="28525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18779" y="1593740"/>
            <a:ext cx="285253" cy="122251"/>
          </a:xfrm>
          <a:custGeom>
            <a:avLst/>
            <a:gdLst/>
            <a:ahLst/>
            <a:cxnLst/>
            <a:rect l="l" t="t" r="r" b="b"/>
            <a:pathLst>
              <a:path w="285253" h="122251">
                <a:moveTo>
                  <a:pt x="0" y="0"/>
                </a:moveTo>
                <a:lnTo>
                  <a:pt x="285253" y="0"/>
                </a:lnTo>
                <a:lnTo>
                  <a:pt x="203752" y="122251"/>
                </a:lnTo>
                <a:lnTo>
                  <a:pt x="81501" y="12225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086178" y="19238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167679" y="191566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49180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30681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126929" y="197271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28805" y="196456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772400" y="3121881"/>
            <a:ext cx="3749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20655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1-mark15"/>
          <p:cNvSpPr/>
          <p:nvPr/>
        </p:nvSpPr>
        <p:spPr>
          <a:xfrm>
            <a:off x="8302156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1-mark16"/>
          <p:cNvSpPr/>
          <p:nvPr/>
        </p:nvSpPr>
        <p:spPr>
          <a:xfrm>
            <a:off x="8811536" y="1980869"/>
            <a:ext cx="713133" cy="48085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1-card1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 어떻게 바꾸는지 관찰해요.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강의 상류와 하류를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볼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세 가지 말해요.</a:t>
            </a:r>
            <a:endParaRPr lang="ko-KR" sz="3000" dirty="0"/>
          </a:p>
        </p:txBody>
      </p:sp>
      <p:sp>
        <p:nvSpPr>
          <p:cNvPr id="5" name="S02-chip2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2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높은 곳과 낮은 곳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흐를까요?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 꼭대기에 물을 부으면 어떻게 될까요?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위쪽 흙은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색모래는 어디로 갈까?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아래쪽에는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언덕에 물을 흘려요</a:t>
            </a:r>
            <a:endParaRPr lang="ko-KR" sz="4000" dirty="0"/>
          </a:p>
        </p:txBody>
      </p:sp>
      <p:sp>
        <p:nvSpPr>
          <p:cNvPr id="3" name="S04-card2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밖이나 욕조에서만 해요. 전기 제품 옆에서는 물을 쓰지 않아요.</a:t>
            </a:r>
            <a:endParaRPr lang="ko-KR" sz="3000" dirty="0"/>
          </a:p>
        </p:txBody>
      </p:sp>
      <p:sp>
        <p:nvSpPr>
          <p:cNvPr id="5" name="S04-figure29" descr="실험 장치 옆모습: 받침으로 한쪽을 높인 쟁반, 위쪽의 흙 언덕과 꼭대기의 색모래, 페트병에서 떨어지는 물과 비탈을 따라 흐르는 물의 방향 화살표"/>
          <p:cNvSpPr/>
          <p:nvPr/>
        </p:nvSpPr>
        <p:spPr>
          <a:xfrm>
            <a:off x="8210626" y="2451918"/>
            <a:ext cx="260604" cy="268422"/>
          </a:xfrm>
          <a:custGeom>
            <a:avLst/>
            <a:gdLst/>
            <a:ahLst/>
            <a:cxnLst/>
            <a:rect l="l" t="t" r="r" b="b"/>
            <a:pathLst>
              <a:path w="260604" h="268422">
                <a:moveTo>
                  <a:pt x="0" y="268422"/>
                </a:moveTo>
                <a:lnTo>
                  <a:pt x="260604" y="268422"/>
                </a:lnTo>
                <a:lnTo>
                  <a:pt x="2606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0"/>
          <p:cNvSpPr/>
          <p:nvPr/>
        </p:nvSpPr>
        <p:spPr>
          <a:xfrm>
            <a:off x="8171536" y="2251253"/>
            <a:ext cx="2110892" cy="469087"/>
          </a:xfrm>
          <a:custGeom>
            <a:avLst/>
            <a:gdLst/>
            <a:ahLst/>
            <a:cxnLst/>
            <a:rect l="l" t="t" r="r" b="b"/>
            <a:pathLst>
              <a:path w="2110892" h="469087">
                <a:moveTo>
                  <a:pt x="0" y="0"/>
                </a:moveTo>
                <a:lnTo>
                  <a:pt x="13030" y="156362"/>
                </a:lnTo>
                <a:lnTo>
                  <a:pt x="2097862" y="469087"/>
                </a:lnTo>
                <a:lnTo>
                  <a:pt x="2110892" y="31272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1"/>
          <p:cNvSpPr/>
          <p:nvPr/>
        </p:nvSpPr>
        <p:spPr>
          <a:xfrm>
            <a:off x="8197596" y="1977619"/>
            <a:ext cx="1185748" cy="609813"/>
          </a:xfrm>
          <a:custGeom>
            <a:avLst/>
            <a:gdLst/>
            <a:ahLst/>
            <a:cxnLst/>
            <a:rect l="l" t="t" r="r" b="b"/>
            <a:pathLst>
              <a:path w="1185748" h="609813">
                <a:moveTo>
                  <a:pt x="0" y="432603"/>
                </a:moveTo>
                <a:lnTo>
                  <a:pt x="0" y="13030"/>
                </a:lnTo>
                <a:lnTo>
                  <a:pt x="221513" y="0"/>
                </a:lnTo>
                <a:lnTo>
                  <a:pt x="456057" y="91211"/>
                </a:lnTo>
                <a:lnTo>
                  <a:pt x="820903" y="338785"/>
                </a:lnTo>
                <a:lnTo>
                  <a:pt x="1185748" y="609813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32"/>
          <p:cNvSpPr/>
          <p:nvPr/>
        </p:nvSpPr>
        <p:spPr>
          <a:xfrm>
            <a:off x="8249717" y="1417320"/>
            <a:ext cx="182423" cy="325755"/>
          </a:xfrm>
          <a:custGeom>
            <a:avLst/>
            <a:gdLst/>
            <a:ahLst/>
            <a:cxnLst/>
            <a:rect l="l" t="t" r="r" b="b"/>
            <a:pathLst>
              <a:path w="182423" h="325755">
                <a:moveTo>
                  <a:pt x="0" y="325755"/>
                </a:moveTo>
                <a:lnTo>
                  <a:pt x="182423" y="325755"/>
                </a:lnTo>
                <a:lnTo>
                  <a:pt x="1824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33"/>
          <p:cNvSpPr/>
          <p:nvPr/>
        </p:nvSpPr>
        <p:spPr>
          <a:xfrm>
            <a:off x="8249717" y="1743075"/>
            <a:ext cx="182423" cy="78181"/>
          </a:xfrm>
          <a:custGeom>
            <a:avLst/>
            <a:gdLst/>
            <a:ahLst/>
            <a:cxnLst/>
            <a:rect l="l" t="t" r="r" b="b"/>
            <a:pathLst>
              <a:path w="182423" h="78181">
                <a:moveTo>
                  <a:pt x="0" y="0"/>
                </a:moveTo>
                <a:lnTo>
                  <a:pt x="182423" y="0"/>
                </a:lnTo>
                <a:lnTo>
                  <a:pt x="130302" y="78181"/>
                </a:lnTo>
                <a:lnTo>
                  <a:pt x="52121" y="7818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34"/>
          <p:cNvSpPr/>
          <p:nvPr/>
        </p:nvSpPr>
        <p:spPr>
          <a:xfrm>
            <a:off x="8228868" y="1954164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4-mark35"/>
          <p:cNvSpPr/>
          <p:nvPr/>
        </p:nvSpPr>
        <p:spPr>
          <a:xfrm>
            <a:off x="8280989" y="1948952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4-mark36"/>
          <p:cNvSpPr/>
          <p:nvPr/>
        </p:nvSpPr>
        <p:spPr>
          <a:xfrm>
            <a:off x="8333110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4-mark37"/>
          <p:cNvSpPr/>
          <p:nvPr/>
        </p:nvSpPr>
        <p:spPr>
          <a:xfrm>
            <a:off x="8385231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4-mark38"/>
          <p:cNvSpPr/>
          <p:nvPr/>
        </p:nvSpPr>
        <p:spPr>
          <a:xfrm>
            <a:off x="8254929" y="1985437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4-mark39"/>
          <p:cNvSpPr/>
          <p:nvPr/>
        </p:nvSpPr>
        <p:spPr>
          <a:xfrm>
            <a:off x="8320080" y="1980225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4-mark40"/>
          <p:cNvSpPr/>
          <p:nvPr/>
        </p:nvSpPr>
        <p:spPr>
          <a:xfrm>
            <a:off x="8028203" y="2720340"/>
            <a:ext cx="2397557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4-mark41"/>
          <p:cNvSpPr/>
          <p:nvPr/>
        </p:nvSpPr>
        <p:spPr>
          <a:xfrm>
            <a:off x="8314868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4-mark42"/>
          <p:cNvSpPr/>
          <p:nvPr/>
        </p:nvSpPr>
        <p:spPr>
          <a:xfrm>
            <a:off x="8366989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4-mark43"/>
          <p:cNvSpPr/>
          <p:nvPr/>
        </p:nvSpPr>
        <p:spPr>
          <a:xfrm>
            <a:off x="8692744" y="1990649"/>
            <a:ext cx="456057" cy="30751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4-card44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45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파인 곳, 쌓인 곳을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색모래가 간 곳을 봐요</a:t>
            </a:r>
            <a:endParaRPr lang="ko-KR" sz="3000" dirty="0"/>
          </a:p>
        </p:txBody>
      </p:sp>
      <p:sp>
        <p:nvSpPr>
          <p:cNvPr id="22" name="S04-stepno46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4-text47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쟁반 한쪽을 받쳐 위쪽에 흙 언덕을 쌓아요.</a:t>
            </a:r>
            <a:endParaRPr lang="ko-KR" sz="2400" dirty="0"/>
          </a:p>
        </p:txBody>
      </p:sp>
      <p:sp>
        <p:nvSpPr>
          <p:cNvPr id="24" name="S04-stepno48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4-text49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 꼭대기에 색모래를 뿌려요.</a:t>
            </a:r>
            <a:endParaRPr lang="ko-KR" sz="2400" dirty="0"/>
          </a:p>
        </p:txBody>
      </p:sp>
      <p:sp>
        <p:nvSpPr>
          <p:cNvPr id="26" name="S04-stepno50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4-text51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꼭대기에 물을 천천히 부어요.</a:t>
            </a:r>
            <a:endParaRPr lang="ko-KR" sz="2400" dirty="0"/>
          </a:p>
        </p:txBody>
      </p:sp>
      <p:sp>
        <p:nvSpPr>
          <p:cNvPr id="28" name="S04-stepno52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9" name="S04-text53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곳을 찾아 활동지 1에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어디에서 어디로 갔나요?</a:t>
            </a:r>
            <a:endParaRPr lang="ko-KR" sz="3000" dirty="0"/>
          </a:p>
        </p:txBody>
      </p:sp>
      <p:graphicFrame>
        <p:nvGraphicFramePr>
          <p:cNvPr id="6" name="S05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0350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언덕 위쪽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흘러내린 물의 색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하는 일</a:t>
            </a:r>
            <a:endParaRPr lang="ko-KR" sz="4000" dirty="0"/>
          </a:p>
        </p:txBody>
      </p:sp>
      <p:sp>
        <p:nvSpPr>
          <p:cNvPr id="3" name="S06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흙 언덕의 모습을 바꿨어요.</a:t>
            </a:r>
            <a:endParaRPr lang="ko-KR" sz="3000" dirty="0"/>
          </a:p>
        </p:txBody>
      </p:sp>
      <p:sp>
        <p:nvSpPr>
          <p:cNvPr id="4" name="S06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땅에서는 오랜 시간 동안 조금씩 일어나요.</a:t>
            </a:r>
            <a:endParaRPr lang="ko-KR" sz="3000" dirty="0"/>
          </a:p>
        </p:txBody>
      </p:sp>
      <p:sp>
        <p:nvSpPr>
          <p:cNvPr id="6" name="S06-card6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깎아요.</a:t>
            </a:r>
            <a:endParaRPr lang="ko-KR" sz="3000" dirty="0"/>
          </a:p>
        </p:txBody>
      </p:sp>
      <p:sp>
        <p:nvSpPr>
          <p:cNvPr id="8" name="S06-card6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6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깎은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000" dirty="0"/>
          </a:p>
        </p:txBody>
      </p:sp>
      <p:sp>
        <p:nvSpPr>
          <p:cNvPr id="10" name="S06-card6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6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쌓아요.</a:t>
            </a:r>
            <a:endParaRPr lang="ko-KR" sz="3000" dirty="0"/>
          </a:p>
        </p:txBody>
      </p:sp>
      <p:sp>
        <p:nvSpPr>
          <p:cNvPr id="12" name="S06-step67"/>
          <p:cNvSpPr txBox="1"/>
          <p:nvPr/>
        </p:nvSpPr>
        <p:spPr>
          <a:xfrm>
            <a:off x="129387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3000" dirty="0"/>
          </a:p>
        </p:txBody>
      </p:sp>
      <p:sp>
        <p:nvSpPr>
          <p:cNvPr id="13" name="S06-line68"/>
          <p:cNvSpPr/>
          <p:nvPr/>
        </p:nvSpPr>
        <p:spPr>
          <a:xfrm>
            <a:off x="427482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69"/>
          <p:cNvSpPr txBox="1"/>
          <p:nvPr/>
        </p:nvSpPr>
        <p:spPr>
          <a:xfrm>
            <a:off x="463143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3000" dirty="0"/>
          </a:p>
        </p:txBody>
      </p:sp>
      <p:sp>
        <p:nvSpPr>
          <p:cNvPr id="15" name="S06-line70"/>
          <p:cNvSpPr/>
          <p:nvPr/>
        </p:nvSpPr>
        <p:spPr>
          <a:xfrm>
            <a:off x="761238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71"/>
          <p:cNvSpPr txBox="1"/>
          <p:nvPr/>
        </p:nvSpPr>
        <p:spPr>
          <a:xfrm>
            <a:off x="796899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부었더니 위쪽 흙이 줄고 흙탕물이 흘렀어요.</a:t>
            </a:r>
            <a:endParaRPr lang="ko-KR" sz="3000" dirty="0"/>
          </a:p>
        </p:txBody>
      </p:sp>
      <p:sp>
        <p:nvSpPr>
          <p:cNvPr id="5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녹아서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없어졌어요.</a:t>
            </a:r>
            <a:endParaRPr lang="ko-KR" sz="3000" dirty="0"/>
          </a:p>
        </p:txBody>
      </p:sp>
      <p:sp>
        <p:nvSpPr>
          <p:cNvPr id="9" name="S07-chip7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실려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상류와 하류</a:t>
            </a:r>
            <a:endParaRPr lang="ko-KR" sz="40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강은 산에서 시작해 바다로 흘러가요.</a:t>
            </a:r>
            <a:endParaRPr lang="ko-KR" sz="30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모형의 위쪽은 상류, 아래쪽은 하류와 닮았어요.</a:t>
            </a:r>
            <a:endParaRPr lang="ko-KR" sz="3000" dirty="0"/>
          </a:p>
        </p:txBody>
      </p:sp>
      <p:sp>
        <p:nvSpPr>
          <p:cNvPr id="6" name="S08-figure83" descr="산에서 시작한 강이 구불구불 흘러 바다로 들어가는 모습. 산 가까운 상류는 강폭이 좁고, 바다 가까운 하류로 갈수록 강폭이 넓어짐"/>
          <p:cNvSpPr/>
          <p:nvPr/>
        </p:nvSpPr>
        <p:spPr>
          <a:xfrm>
            <a:off x="4583976" y="3675342"/>
            <a:ext cx="960802" cy="1353858"/>
          </a:xfrm>
          <a:custGeom>
            <a:avLst/>
            <a:gdLst/>
            <a:ahLst/>
            <a:cxnLst/>
            <a:rect l="l" t="t" r="r" b="b"/>
            <a:pathLst>
              <a:path w="960802" h="1353858">
                <a:moveTo>
                  <a:pt x="0" y="1353858"/>
                </a:moveTo>
                <a:lnTo>
                  <a:pt x="960802" y="1353858"/>
                </a:lnTo>
                <a:lnTo>
                  <a:pt x="960802" y="0"/>
                </a:lnTo>
                <a:lnTo>
                  <a:pt x="567747" y="131019"/>
                </a:lnTo>
                <a:lnTo>
                  <a:pt x="218364" y="480401"/>
                </a:lnTo>
                <a:lnTo>
                  <a:pt x="43673" y="873457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7" name="S08-mark84"/>
          <p:cNvSpPr/>
          <p:nvPr/>
        </p:nvSpPr>
        <p:spPr>
          <a:xfrm>
            <a:off x="915458" y="2321484"/>
            <a:ext cx="960802" cy="829784"/>
          </a:xfrm>
          <a:custGeom>
            <a:avLst/>
            <a:gdLst/>
            <a:ahLst/>
            <a:cxnLst/>
            <a:rect l="l" t="t" r="r" b="b"/>
            <a:pathLst>
              <a:path w="960802" h="829784">
                <a:moveTo>
                  <a:pt x="0" y="829784"/>
                </a:moveTo>
                <a:lnTo>
                  <a:pt x="480401" y="0"/>
                </a:lnTo>
                <a:lnTo>
                  <a:pt x="960802" y="829784"/>
                </a:lnTo>
                <a:close/>
              </a:path>
            </a:pathLst>
          </a:custGeom>
          <a:solidFill>
            <a:srgbClr val="A7C4A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85"/>
          <p:cNvSpPr/>
          <p:nvPr/>
        </p:nvSpPr>
        <p:spPr>
          <a:xfrm>
            <a:off x="1483205" y="2103120"/>
            <a:ext cx="1135494" cy="1048148"/>
          </a:xfrm>
          <a:custGeom>
            <a:avLst/>
            <a:gdLst/>
            <a:ahLst/>
            <a:cxnLst/>
            <a:rect l="l" t="t" r="r" b="b"/>
            <a:pathLst>
              <a:path w="1135494" h="1048148">
                <a:moveTo>
                  <a:pt x="0" y="1048148"/>
                </a:moveTo>
                <a:lnTo>
                  <a:pt x="567747" y="0"/>
                </a:lnTo>
                <a:lnTo>
                  <a:pt x="1135494" y="1048148"/>
                </a:lnTo>
                <a:close/>
              </a:path>
            </a:pathLst>
          </a:custGeom>
          <a:solidFill>
            <a:srgbClr val="8DB28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86"/>
          <p:cNvSpPr/>
          <p:nvPr/>
        </p:nvSpPr>
        <p:spPr>
          <a:xfrm>
            <a:off x="1887615" y="2918929"/>
            <a:ext cx="2943549" cy="1693633"/>
          </a:xfrm>
          <a:custGeom>
            <a:avLst/>
            <a:gdLst/>
            <a:ahLst/>
            <a:cxnLst/>
            <a:rect l="l" t="t" r="r" b="b"/>
            <a:pathLst>
              <a:path w="2943549" h="1693633">
                <a:moveTo>
                  <a:pt x="64636" y="0"/>
                </a:moveTo>
                <a:lnTo>
                  <a:pt x="214434" y="315755"/>
                </a:lnTo>
                <a:lnTo>
                  <a:pt x="135386" y="555955"/>
                </a:lnTo>
                <a:lnTo>
                  <a:pt x="400917" y="739818"/>
                </a:lnTo>
                <a:lnTo>
                  <a:pt x="930231" y="670815"/>
                </a:lnTo>
                <a:lnTo>
                  <a:pt x="1418930" y="928484"/>
                </a:lnTo>
                <a:lnTo>
                  <a:pt x="1792333" y="1196636"/>
                </a:lnTo>
                <a:lnTo>
                  <a:pt x="2280159" y="1204934"/>
                </a:lnTo>
                <a:lnTo>
                  <a:pt x="2943549" y="1260398"/>
                </a:lnTo>
                <a:lnTo>
                  <a:pt x="2885901" y="1693633"/>
                </a:lnTo>
                <a:lnTo>
                  <a:pt x="2239106" y="1574406"/>
                </a:lnTo>
                <a:lnTo>
                  <a:pt x="1678784" y="1495358"/>
                </a:lnTo>
                <a:lnTo>
                  <a:pt x="1266076" y="1152089"/>
                </a:lnTo>
                <a:lnTo>
                  <a:pt x="881318" y="885685"/>
                </a:lnTo>
                <a:lnTo>
                  <a:pt x="362485" y="904028"/>
                </a:lnTo>
                <a:lnTo>
                  <a:pt x="16596" y="607489"/>
                </a:lnTo>
                <a:lnTo>
                  <a:pt x="112239" y="323616"/>
                </a:lnTo>
                <a:lnTo>
                  <a:pt x="0" y="27951"/>
                </a:lnTo>
                <a:close/>
              </a:path>
            </a:pathLst>
          </a:custGeom>
          <a:solidFill>
            <a:srgbClr val="6FA8DC"/>
          </a:solidFill>
          <a:ln w="15875">
            <a:solidFill>
              <a:srgbClr val="3D5A80"/>
            </a:solidFill>
            <a:prstDash val="solid"/>
          </a:ln>
        </p:spPr>
      </p:sp>
      <p:sp>
        <p:nvSpPr>
          <p:cNvPr id="10" name="S08-label88"/>
          <p:cNvSpPr txBox="1"/>
          <p:nvPr/>
        </p:nvSpPr>
        <p:spPr>
          <a:xfrm>
            <a:off x="2134112" y="313545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2400" dirty="0"/>
          </a:p>
        </p:txBody>
      </p:sp>
      <p:sp>
        <p:nvSpPr>
          <p:cNvPr id="11" name="S08-label90"/>
          <p:cNvSpPr txBox="1"/>
          <p:nvPr/>
        </p:nvSpPr>
        <p:spPr>
          <a:xfrm>
            <a:off x="3618988" y="36376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2400" dirty="0"/>
          </a:p>
        </p:txBody>
      </p:sp>
      <p:sp>
        <p:nvSpPr>
          <p:cNvPr id="12" name="S08-label92"/>
          <p:cNvSpPr txBox="1"/>
          <p:nvPr/>
        </p:nvSpPr>
        <p:spPr>
          <a:xfrm>
            <a:off x="4819991" y="433646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13" name="S08-label94"/>
          <p:cNvSpPr txBox="1"/>
          <p:nvPr/>
        </p:nvSpPr>
        <p:spPr>
          <a:xfrm>
            <a:off x="1038788" y="27424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14" name="S08-card9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8-cardtext9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산과 가까운 곳</a:t>
            </a:r>
            <a:endParaRPr lang="ko-KR" sz="3000" dirty="0"/>
          </a:p>
        </p:txBody>
      </p:sp>
      <p:sp>
        <p:nvSpPr>
          <p:cNvPr id="16" name="S08-card9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9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가까운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 비교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돌은 물에 옮겨지며 부딪치고 깎여 작고 둥글어져요.</a:t>
            </a:r>
            <a:endParaRPr lang="ko-KR" sz="3000" dirty="0"/>
          </a:p>
        </p:txBody>
      </p:sp>
      <p:graphicFrame>
        <p:nvGraphicFramePr>
          <p:cNvPr id="10" name="S09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740408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크고 모가 나요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둥글어요,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모래가 많아요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일어나는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깎는 일(침식)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쌓는 일(퇴적)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상류일까요, 하류일까요?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설명을 읽고 상류인지 하류인지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강폭, 경사, 돌의 크기와 모양을 단서로 찾아요.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모난 바위가 많고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물살이 빨라요.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강폭이 넓고 고운 모래가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쌓여 있어요.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산골짜기에서 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깊게 깎아요.</a:t>
            </a:r>
            <a:endParaRPr lang="ko-KR" sz="3000" dirty="0"/>
          </a:p>
        </p:txBody>
      </p:sp>
      <p:sp>
        <p:nvSpPr>
          <p:cNvPr id="12" name="S10-chip11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1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가깝고 둥근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온 뒤 흙탕물이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까닭은 무엇일까요?</a:t>
            </a:r>
            <a:endParaRPr lang="ko-KR" sz="3000" dirty="0"/>
          </a:p>
        </p:txBody>
      </p:sp>
      <p:sp>
        <p:nvSpPr>
          <p:cNvPr id="5" name="S11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흙과 돌을 쌓는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돌은?</a:t>
            </a:r>
            <a:endParaRPr lang="ko-KR" sz="4000" dirty="0"/>
          </a:p>
        </p:txBody>
      </p:sp>
      <p:sp>
        <p:nvSpPr>
          <p:cNvPr id="3" name="S13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강가 두 곳에서 본 돌이에요. 같은 크기로 그렸어요.</a:t>
            </a:r>
            <a:endParaRPr lang="ko-KR" sz="3000" dirty="0"/>
          </a:p>
        </p:txBody>
      </p:sp>
      <p:sp>
        <p:nvSpPr>
          <p:cNvPr id="4" name="S13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돌을 고르고, 그렇게 생각한 까닭을 말해요.</a:t>
            </a:r>
            <a:endParaRPr lang="ko-KR" sz="3000" dirty="0"/>
          </a:p>
        </p:txBody>
      </p:sp>
      <p:sp>
        <p:nvSpPr>
          <p:cNvPr id="6" name="S13-chip122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figure123" descr="크고 모가 난 돌 세 개"/>
          <p:cNvSpPr/>
          <p:nvPr/>
        </p:nvSpPr>
        <p:spPr>
          <a:xfrm>
            <a:off x="2324862" y="3792474"/>
            <a:ext cx="955548" cy="854964"/>
          </a:xfrm>
          <a:custGeom>
            <a:avLst/>
            <a:gdLst/>
            <a:ahLst/>
            <a:cxnLst/>
            <a:rect l="l" t="t" r="r" b="b"/>
            <a:pathLst>
              <a:path w="955548" h="854964">
                <a:moveTo>
                  <a:pt x="0" y="854964"/>
                </a:moveTo>
                <a:lnTo>
                  <a:pt x="754380" y="779526"/>
                </a:lnTo>
                <a:lnTo>
                  <a:pt x="955548" y="352044"/>
                </a:lnTo>
                <a:lnTo>
                  <a:pt x="528066" y="0"/>
                </a:lnTo>
                <a:lnTo>
                  <a:pt x="75438" y="276606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3-mark124"/>
          <p:cNvSpPr/>
          <p:nvPr/>
        </p:nvSpPr>
        <p:spPr>
          <a:xfrm>
            <a:off x="3456432" y="4018788"/>
            <a:ext cx="678942" cy="628650"/>
          </a:xfrm>
          <a:custGeom>
            <a:avLst/>
            <a:gdLst/>
            <a:ahLst/>
            <a:cxnLst/>
            <a:rect l="l" t="t" r="r" b="b"/>
            <a:pathLst>
              <a:path w="678942" h="628650">
                <a:moveTo>
                  <a:pt x="0" y="628650"/>
                </a:moveTo>
                <a:lnTo>
                  <a:pt x="678942" y="578358"/>
                </a:lnTo>
                <a:lnTo>
                  <a:pt x="603504" y="0"/>
                </a:lnTo>
                <a:lnTo>
                  <a:pt x="125730" y="100584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3-mark125"/>
          <p:cNvSpPr/>
          <p:nvPr/>
        </p:nvSpPr>
        <p:spPr>
          <a:xfrm>
            <a:off x="2777490" y="3188970"/>
            <a:ext cx="930402" cy="678942"/>
          </a:xfrm>
          <a:custGeom>
            <a:avLst/>
            <a:gdLst/>
            <a:ahLst/>
            <a:cxnLst/>
            <a:rect l="l" t="t" r="r" b="b"/>
            <a:pathLst>
              <a:path w="930402" h="678942">
                <a:moveTo>
                  <a:pt x="25146" y="477774"/>
                </a:moveTo>
                <a:lnTo>
                  <a:pt x="578358" y="678942"/>
                </a:lnTo>
                <a:lnTo>
                  <a:pt x="930402" y="276606"/>
                </a:lnTo>
                <a:lnTo>
                  <a:pt x="352044" y="0"/>
                </a:lnTo>
                <a:lnTo>
                  <a:pt x="0" y="176022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3-chip126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3-figure127" descr="작고 둥근 자갈 여러 개와 그 아래 모래알"/>
          <p:cNvSpPr/>
          <p:nvPr/>
        </p:nvSpPr>
        <p:spPr>
          <a:xfrm>
            <a:off x="7947965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mark128"/>
          <p:cNvSpPr/>
          <p:nvPr/>
        </p:nvSpPr>
        <p:spPr>
          <a:xfrm>
            <a:off x="8294980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mark129"/>
          <p:cNvSpPr/>
          <p:nvPr/>
        </p:nvSpPr>
        <p:spPr>
          <a:xfrm>
            <a:off x="8601761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mark130"/>
          <p:cNvSpPr/>
          <p:nvPr/>
        </p:nvSpPr>
        <p:spPr>
          <a:xfrm>
            <a:off x="8908542" y="4026332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131"/>
          <p:cNvSpPr/>
          <p:nvPr/>
        </p:nvSpPr>
        <p:spPr>
          <a:xfrm>
            <a:off x="9275674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mark132"/>
          <p:cNvSpPr/>
          <p:nvPr/>
        </p:nvSpPr>
        <p:spPr>
          <a:xfrm>
            <a:off x="9577426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mark133"/>
          <p:cNvSpPr/>
          <p:nvPr/>
        </p:nvSpPr>
        <p:spPr>
          <a:xfrm>
            <a:off x="8078724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134"/>
          <p:cNvSpPr/>
          <p:nvPr/>
        </p:nvSpPr>
        <p:spPr>
          <a:xfrm>
            <a:off x="8445856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135"/>
          <p:cNvSpPr/>
          <p:nvPr/>
        </p:nvSpPr>
        <p:spPr>
          <a:xfrm>
            <a:off x="8752637" y="3719551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mark136"/>
          <p:cNvSpPr/>
          <p:nvPr/>
        </p:nvSpPr>
        <p:spPr>
          <a:xfrm>
            <a:off x="905941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mark137"/>
          <p:cNvSpPr/>
          <p:nvPr/>
        </p:nvSpPr>
        <p:spPr>
          <a:xfrm>
            <a:off x="9426550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mark138"/>
          <p:cNvSpPr/>
          <p:nvPr/>
        </p:nvSpPr>
        <p:spPr>
          <a:xfrm>
            <a:off x="968806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mark139"/>
          <p:cNvSpPr/>
          <p:nvPr/>
        </p:nvSpPr>
        <p:spPr>
          <a:xfrm>
            <a:off x="8294980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mark140"/>
          <p:cNvSpPr/>
          <p:nvPr/>
        </p:nvSpPr>
        <p:spPr>
          <a:xfrm>
            <a:off x="8621878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mark141"/>
          <p:cNvSpPr/>
          <p:nvPr/>
        </p:nvSpPr>
        <p:spPr>
          <a:xfrm>
            <a:off x="8948776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mark142"/>
          <p:cNvSpPr/>
          <p:nvPr/>
        </p:nvSpPr>
        <p:spPr>
          <a:xfrm>
            <a:off x="9255557" y="3392653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mark143"/>
          <p:cNvSpPr/>
          <p:nvPr/>
        </p:nvSpPr>
        <p:spPr>
          <a:xfrm>
            <a:off x="795893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mark144"/>
          <p:cNvSpPr/>
          <p:nvPr/>
        </p:nvSpPr>
        <p:spPr>
          <a:xfrm>
            <a:off x="811987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mark145"/>
          <p:cNvSpPr/>
          <p:nvPr/>
        </p:nvSpPr>
        <p:spPr>
          <a:xfrm>
            <a:off x="828080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mark146"/>
          <p:cNvSpPr/>
          <p:nvPr/>
        </p:nvSpPr>
        <p:spPr>
          <a:xfrm>
            <a:off x="8441741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mark147"/>
          <p:cNvSpPr/>
          <p:nvPr/>
        </p:nvSpPr>
        <p:spPr>
          <a:xfrm>
            <a:off x="8602675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mark148"/>
          <p:cNvSpPr/>
          <p:nvPr/>
        </p:nvSpPr>
        <p:spPr>
          <a:xfrm>
            <a:off x="8763610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mark149"/>
          <p:cNvSpPr/>
          <p:nvPr/>
        </p:nvSpPr>
        <p:spPr>
          <a:xfrm>
            <a:off x="8924544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mark150"/>
          <p:cNvSpPr/>
          <p:nvPr/>
        </p:nvSpPr>
        <p:spPr>
          <a:xfrm>
            <a:off x="908547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mark151"/>
          <p:cNvSpPr/>
          <p:nvPr/>
        </p:nvSpPr>
        <p:spPr>
          <a:xfrm>
            <a:off x="9246413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mark152"/>
          <p:cNvSpPr/>
          <p:nvPr/>
        </p:nvSpPr>
        <p:spPr>
          <a:xfrm>
            <a:off x="9407347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mark153"/>
          <p:cNvSpPr/>
          <p:nvPr/>
        </p:nvSpPr>
        <p:spPr>
          <a:xfrm>
            <a:off x="956828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mark154"/>
          <p:cNvSpPr/>
          <p:nvPr/>
        </p:nvSpPr>
        <p:spPr>
          <a:xfrm>
            <a:off x="972921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깎고(침식), 옮기고(운반), 쌓아요(퇴적).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상류에서는 깎는 일이, 하류에서는 쌓는 일이 많아요.</a:t>
            </a:r>
            <a:endParaRPr lang="ko-KR" sz="3000" dirty="0"/>
          </a:p>
        </p:txBody>
      </p:sp>
      <p:sp>
        <p:nvSpPr>
          <p:cNvPr id="5" name="S14-chip15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쌓인 흙과 색모래를 증거로 말하기</a:t>
            </a:r>
            <a:endParaRPr lang="ko-KR" sz="2400" dirty="0"/>
          </a:p>
        </p:txBody>
      </p:sp>
      <p:sp>
        <p:nvSpPr>
          <p:cNvPr id="6" name="S14-chip15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흙이 녹아 없어졌다고 생각하기</a:t>
            </a:r>
            <a:endParaRPr lang="ko-KR" sz="2400" dirty="0"/>
          </a:p>
        </p:txBody>
      </p:sp>
      <p:sp>
        <p:nvSpPr>
          <p:cNvPr id="7" name="S14-text15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6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깎는 것을 무엇이라 하나요?</a:t>
            </a:r>
            <a:endParaRPr lang="ko-KR" sz="2400" dirty="0"/>
          </a:p>
        </p:txBody>
      </p:sp>
      <p:sp>
        <p:nvSpPr>
          <p:cNvPr id="9" name="S14-text16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강폭이 넓고 모래가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곳은 상류? 하류?</a:t>
            </a:r>
            <a:endParaRPr lang="ko-KR" sz="2400" dirty="0"/>
          </a:p>
        </p:txBody>
      </p:sp>
      <p:sp>
        <p:nvSpPr>
          <p:cNvPr id="10" name="S14-text16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하류의 돌이 작고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까닭은?</a:t>
            </a:r>
            <a:endParaRPr lang="ko-KR" sz="2400" dirty="0"/>
          </a:p>
        </p:txBody>
      </p:sp>
      <p:sp>
        <p:nvSpPr>
          <p:cNvPr id="11" name="S14-text1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달의 모양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 표면의 모습</a:t>
            </a:r>
            <a:endParaRPr lang="ko-KR" sz="4000" dirty="0"/>
          </a:p>
        </p:txBody>
      </p:sp>
      <p:sp>
        <p:nvSpPr>
          <p:cNvPr id="3" name="S15-text1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곳, 낮은 곳, 물이 있는 곳을 찾아요.</a:t>
            </a:r>
            <a:endParaRPr lang="ko-KR" sz="3000" dirty="0"/>
          </a:p>
        </p:txBody>
      </p:sp>
      <p:sp>
        <p:nvSpPr>
          <p:cNvPr id="4" name="S15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곳(산)에서 낮은 곳(바다)으로 흘러요.</a:t>
            </a:r>
            <a:endParaRPr lang="ko-KR" sz="3000" dirty="0"/>
          </a:p>
        </p:txBody>
      </p:sp>
      <p:sp>
        <p:nvSpPr>
          <p:cNvPr id="6" name="S15-card167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68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솟은 땅</a:t>
            </a:r>
            <a:endParaRPr lang="ko-KR" sz="3000" dirty="0"/>
          </a:p>
        </p:txBody>
      </p:sp>
      <p:sp>
        <p:nvSpPr>
          <p:cNvPr id="8" name="S15-card169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70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낮고 평평한 땅</a:t>
            </a:r>
            <a:endParaRPr lang="ko-KR" sz="3000" dirty="0"/>
          </a:p>
        </p:txBody>
      </p:sp>
      <p:sp>
        <p:nvSpPr>
          <p:cNvPr id="10" name="S15-card171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72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바다로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2400" dirty="0"/>
          </a:p>
        </p:txBody>
      </p:sp>
      <p:sp>
        <p:nvSpPr>
          <p:cNvPr id="12" name="S15-card173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74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있는 곳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흐르는 물과 땅</dc:title>
  <dc:subject>KR22-G04-SCI-RIVER-L01</dc:subject>
  <dc:creator>education-ppt</dc:creator>
  <cp:lastModifiedBy>education-ppt</cp:lastModifiedBy>
  <cp:revision>1</cp:revision>
  <dcterms:created xsi:type="dcterms:W3CDTF">2026-10-26T10:06:32Z</dcterms:created>
  <dcterms:modified xsi:type="dcterms:W3CDTF">2026-10-26T10:06:32Z</dcterms:modified>
</cp:coreProperties>
</file>