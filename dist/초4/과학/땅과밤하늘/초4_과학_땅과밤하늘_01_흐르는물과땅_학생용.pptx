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0c52398-2acd-04b8-f962-36c6ae753cee}">
          <p14:sldIdLst>
            <p14:sldId id="256"/>
            <p14:sldId id="257"/>
          </p14:sldIdLst>
        </p14:section>
        <p14:section name="연습" id="{db873ce7-3021-d5b0-0439-022bab4107cb}">
          <p14:sldIdLst>
            <p14:sldId id="258"/>
            <p14:sldId id="259"/>
            <p14:sldId id="260"/>
            <p14:sldId id="262"/>
            <p14:sldId id="265"/>
          </p14:sldIdLst>
        </p14:section>
        <p14:section name="개념" id="{06bde7a3-1418-93f9-7249-2431e6fd8884}">
          <p14:sldIdLst>
            <p14:sldId id="261"/>
            <p14:sldId id="263"/>
            <p14:sldId id="264"/>
          </p14:sldIdLst>
        </p14:section>
        <p14:section name="연습" id="{51c76b33-13e4-8664-38f6-41e20ac90a5f}">
          <p14:sldIdLst/>
        </p14:section>
        <p14:section name="개념" id="{b7b1bc9a-ecd8-7616-fcb6-3c5e5da2cf4a}">
          <p14:sldIdLst/>
        </p14:section>
        <p14:section name="연습" id="{6c932029-9163-20da-873a-f3d86b720be2}">
          <p14:sldIdLst/>
        </p14:section>
        <p14:section name="확인" id="{60ff3790-4fe0-2748-e3b6-7015beb9d643}">
          <p14:sldIdLst>
            <p14:sldId id="266"/>
            <p14:sldId id="267"/>
          </p14:sldIdLst>
        </p14:section>
        <p14:section name="정리" id="{0c96020a-94c5-0f56-332b-2ed9dc953140}">
          <p14:sldIdLst>
            <p14:sldId id="268"/>
          </p14:sldIdLst>
        </p14:section>
        <p14:section name="보충" id="{8598d318-226b-57bc-65bd-0e7abd01e54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땅과밤하늘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흐르는 물과 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과학 · 흐르는 물과 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과학 · 흐르는 물과 땅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물과 땅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 오면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흙은 어디로 갈까?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받침으로 한쪽을 높인 쟁반 위쪽에 흙 언덕이 있고, 구멍 낸 페트병으로 언덕 꼭대기에 물을 뿌리는 모습"/>
          <p:cNvSpPr/>
          <p:nvPr/>
        </p:nvSpPr>
        <p:spPr>
          <a:xfrm>
            <a:off x="8057653" y="2702151"/>
            <a:ext cx="407504" cy="419729"/>
          </a:xfrm>
          <a:custGeom>
            <a:avLst/>
            <a:gdLst/>
            <a:ahLst/>
            <a:cxnLst/>
            <a:rect l="l" t="t" r="r" b="b"/>
            <a:pathLst>
              <a:path w="407504" h="419729">
                <a:moveTo>
                  <a:pt x="0" y="419729"/>
                </a:moveTo>
                <a:lnTo>
                  <a:pt x="407504" y="419729"/>
                </a:lnTo>
                <a:lnTo>
                  <a:pt x="4075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96527" y="2388373"/>
            <a:ext cx="3300785" cy="733508"/>
          </a:xfrm>
          <a:custGeom>
            <a:avLst/>
            <a:gdLst/>
            <a:ahLst/>
            <a:cxnLst/>
            <a:rect l="l" t="t" r="r" b="b"/>
            <a:pathLst>
              <a:path w="3300785" h="733508">
                <a:moveTo>
                  <a:pt x="0" y="0"/>
                </a:moveTo>
                <a:lnTo>
                  <a:pt x="20375" y="244503"/>
                </a:lnTo>
                <a:lnTo>
                  <a:pt x="3280410" y="733508"/>
                </a:lnTo>
                <a:lnTo>
                  <a:pt x="3300785" y="489005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037278" y="1960493"/>
            <a:ext cx="1854145" cy="953560"/>
          </a:xfrm>
          <a:custGeom>
            <a:avLst/>
            <a:gdLst/>
            <a:ahLst/>
            <a:cxnLst/>
            <a:rect l="l" t="t" r="r" b="b"/>
            <a:pathLst>
              <a:path w="1854145" h="953560">
                <a:moveTo>
                  <a:pt x="0" y="676457"/>
                </a:moveTo>
                <a:lnTo>
                  <a:pt x="0" y="20375"/>
                </a:lnTo>
                <a:lnTo>
                  <a:pt x="346379" y="0"/>
                </a:lnTo>
                <a:lnTo>
                  <a:pt x="713133" y="142627"/>
                </a:lnTo>
                <a:lnTo>
                  <a:pt x="1283639" y="529756"/>
                </a:lnTo>
                <a:lnTo>
                  <a:pt x="1854145" y="953560"/>
                </a:lnTo>
                <a:close/>
              </a:path>
            </a:pathLst>
          </a:custGeom>
          <a:solidFill>
            <a:srgbClr val="C8A2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8118779" y="1084359"/>
            <a:ext cx="285253" cy="509380"/>
          </a:xfrm>
          <a:custGeom>
            <a:avLst/>
            <a:gdLst/>
            <a:ahLst/>
            <a:cxnLst/>
            <a:rect l="l" t="t" r="r" b="b"/>
            <a:pathLst>
              <a:path w="285253" h="509380">
                <a:moveTo>
                  <a:pt x="0" y="509380"/>
                </a:moveTo>
                <a:lnTo>
                  <a:pt x="285253" y="509380"/>
                </a:lnTo>
                <a:lnTo>
                  <a:pt x="28525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118779" y="1593740"/>
            <a:ext cx="285253" cy="122251"/>
          </a:xfrm>
          <a:custGeom>
            <a:avLst/>
            <a:gdLst/>
            <a:ahLst/>
            <a:cxnLst/>
            <a:rect l="l" t="t" r="r" b="b"/>
            <a:pathLst>
              <a:path w="285253" h="122251">
                <a:moveTo>
                  <a:pt x="0" y="0"/>
                </a:moveTo>
                <a:lnTo>
                  <a:pt x="285253" y="0"/>
                </a:lnTo>
                <a:lnTo>
                  <a:pt x="203752" y="122251"/>
                </a:lnTo>
                <a:lnTo>
                  <a:pt x="81501" y="122251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8086178" y="192381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8167679" y="191566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249180" y="190751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330681" y="1907518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126929" y="1972719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228805" y="1964569"/>
            <a:ext cx="65201" cy="65201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7772400" y="3121881"/>
            <a:ext cx="3749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8220655" y="1756741"/>
            <a:ext cx="0" cy="142627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8" name="S01-mark15"/>
          <p:cNvSpPr/>
          <p:nvPr/>
        </p:nvSpPr>
        <p:spPr>
          <a:xfrm>
            <a:off x="8302156" y="1756741"/>
            <a:ext cx="0" cy="142627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9" name="S01-mark16"/>
          <p:cNvSpPr/>
          <p:nvPr/>
        </p:nvSpPr>
        <p:spPr>
          <a:xfrm>
            <a:off x="8811536" y="1980869"/>
            <a:ext cx="713133" cy="480855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1-card1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1" name="S01-cardtext1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흐르는 물이 땅을 어떻게 바꾸는지 관찰해요.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강의 상류와 하류를 비교해요.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1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text2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 표면에서 볼 수 있는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모습을 세 가지 말해요.</a:t>
            </a:r>
            <a:endParaRPr lang="ko-KR" sz="3000" dirty="0"/>
          </a:p>
        </p:txBody>
      </p:sp>
      <p:sp>
        <p:nvSpPr>
          <p:cNvPr id="5" name="S02-chip2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22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강물은 높은 곳과 낮은 곳 중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 흐를까요?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언덕 꼭대기에 물을 부으면 어떻게 될까요?</a:t>
            </a:r>
            <a:endParaRPr lang="ko-KR" sz="3000" dirty="0"/>
          </a:p>
        </p:txBody>
      </p:sp>
      <p:sp>
        <p:nvSpPr>
          <p:cNvPr id="4" name="S03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3000" dirty="0"/>
          </a:p>
        </p:txBody>
      </p:sp>
      <p:graphicFrame>
        <p:nvGraphicFramePr>
          <p:cNvPr id="4" name="S03-table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602992"/>
          <a:ext cx="1005840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402336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위쪽 흙은 어떻게 될까?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색모래는 어디로 갈까?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쟁반 아래쪽에는 무엇이 생길까?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 언덕에 물을 흘려요</a:t>
            </a:r>
            <a:endParaRPr lang="ko-KR" sz="4000" dirty="0"/>
          </a:p>
        </p:txBody>
      </p:sp>
      <p:sp>
        <p:nvSpPr>
          <p:cNvPr id="3" name="S04-card27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8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밖이나 욕조에서만 해요. 전기 제품 옆에서는 물을 쓰지 않아요.</a:t>
            </a:r>
            <a:endParaRPr lang="ko-KR" sz="3000" dirty="0"/>
          </a:p>
        </p:txBody>
      </p:sp>
      <p:sp>
        <p:nvSpPr>
          <p:cNvPr id="5" name="S04-figure29" descr="실험 장치 옆모습: 받침으로 한쪽을 높인 쟁반, 위쪽의 흙 언덕과 꼭대기의 색모래, 페트병에서 떨어지는 물과 비탈을 따라 흐르는 물의 방향 화살표"/>
          <p:cNvSpPr/>
          <p:nvPr/>
        </p:nvSpPr>
        <p:spPr>
          <a:xfrm>
            <a:off x="8210626" y="2451918"/>
            <a:ext cx="260604" cy="268422"/>
          </a:xfrm>
          <a:custGeom>
            <a:avLst/>
            <a:gdLst/>
            <a:ahLst/>
            <a:cxnLst/>
            <a:rect l="l" t="t" r="r" b="b"/>
            <a:pathLst>
              <a:path w="260604" h="268422">
                <a:moveTo>
                  <a:pt x="0" y="268422"/>
                </a:moveTo>
                <a:lnTo>
                  <a:pt x="260604" y="268422"/>
                </a:lnTo>
                <a:lnTo>
                  <a:pt x="260604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30"/>
          <p:cNvSpPr/>
          <p:nvPr/>
        </p:nvSpPr>
        <p:spPr>
          <a:xfrm>
            <a:off x="8171536" y="2251253"/>
            <a:ext cx="2110892" cy="469087"/>
          </a:xfrm>
          <a:custGeom>
            <a:avLst/>
            <a:gdLst/>
            <a:ahLst/>
            <a:cxnLst/>
            <a:rect l="l" t="t" r="r" b="b"/>
            <a:pathLst>
              <a:path w="2110892" h="469087">
                <a:moveTo>
                  <a:pt x="0" y="0"/>
                </a:moveTo>
                <a:lnTo>
                  <a:pt x="13030" y="156362"/>
                </a:lnTo>
                <a:lnTo>
                  <a:pt x="2097862" y="469087"/>
                </a:lnTo>
                <a:lnTo>
                  <a:pt x="2110892" y="312725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31"/>
          <p:cNvSpPr/>
          <p:nvPr/>
        </p:nvSpPr>
        <p:spPr>
          <a:xfrm>
            <a:off x="8197596" y="1977619"/>
            <a:ext cx="1185748" cy="609813"/>
          </a:xfrm>
          <a:custGeom>
            <a:avLst/>
            <a:gdLst/>
            <a:ahLst/>
            <a:cxnLst/>
            <a:rect l="l" t="t" r="r" b="b"/>
            <a:pathLst>
              <a:path w="1185748" h="609813">
                <a:moveTo>
                  <a:pt x="0" y="432603"/>
                </a:moveTo>
                <a:lnTo>
                  <a:pt x="0" y="13030"/>
                </a:lnTo>
                <a:lnTo>
                  <a:pt x="221513" y="0"/>
                </a:lnTo>
                <a:lnTo>
                  <a:pt x="456057" y="91211"/>
                </a:lnTo>
                <a:lnTo>
                  <a:pt x="820903" y="338785"/>
                </a:lnTo>
                <a:lnTo>
                  <a:pt x="1185748" y="609813"/>
                </a:lnTo>
                <a:close/>
              </a:path>
            </a:pathLst>
          </a:custGeom>
          <a:solidFill>
            <a:srgbClr val="C8A27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32"/>
          <p:cNvSpPr/>
          <p:nvPr/>
        </p:nvSpPr>
        <p:spPr>
          <a:xfrm>
            <a:off x="8249717" y="1417320"/>
            <a:ext cx="182423" cy="325755"/>
          </a:xfrm>
          <a:custGeom>
            <a:avLst/>
            <a:gdLst/>
            <a:ahLst/>
            <a:cxnLst/>
            <a:rect l="l" t="t" r="r" b="b"/>
            <a:pathLst>
              <a:path w="182423" h="325755">
                <a:moveTo>
                  <a:pt x="0" y="325755"/>
                </a:moveTo>
                <a:lnTo>
                  <a:pt x="182423" y="325755"/>
                </a:lnTo>
                <a:lnTo>
                  <a:pt x="182423" y="0"/>
                </a:lnTo>
                <a:lnTo>
                  <a:pt x="0" y="0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33"/>
          <p:cNvSpPr/>
          <p:nvPr/>
        </p:nvSpPr>
        <p:spPr>
          <a:xfrm>
            <a:off x="8249717" y="1743075"/>
            <a:ext cx="182423" cy="78181"/>
          </a:xfrm>
          <a:custGeom>
            <a:avLst/>
            <a:gdLst/>
            <a:ahLst/>
            <a:cxnLst/>
            <a:rect l="l" t="t" r="r" b="b"/>
            <a:pathLst>
              <a:path w="182423" h="78181">
                <a:moveTo>
                  <a:pt x="0" y="0"/>
                </a:moveTo>
                <a:lnTo>
                  <a:pt x="182423" y="0"/>
                </a:lnTo>
                <a:lnTo>
                  <a:pt x="130302" y="78181"/>
                </a:lnTo>
                <a:lnTo>
                  <a:pt x="52121" y="78181"/>
                </a:lnTo>
                <a:close/>
              </a:path>
            </a:pathLst>
          </a:custGeom>
          <a:solidFill>
            <a:srgbClr val="E6F2F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mark34"/>
          <p:cNvSpPr/>
          <p:nvPr/>
        </p:nvSpPr>
        <p:spPr>
          <a:xfrm>
            <a:off x="8228868" y="1954164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1" name="S04-mark35"/>
          <p:cNvSpPr/>
          <p:nvPr/>
        </p:nvSpPr>
        <p:spPr>
          <a:xfrm>
            <a:off x="8280989" y="1948952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2" name="S04-mark36"/>
          <p:cNvSpPr/>
          <p:nvPr/>
        </p:nvSpPr>
        <p:spPr>
          <a:xfrm>
            <a:off x="8333110" y="1943740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3" name="S04-mark37"/>
          <p:cNvSpPr/>
          <p:nvPr/>
        </p:nvSpPr>
        <p:spPr>
          <a:xfrm>
            <a:off x="8385231" y="1943740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4" name="S04-mark38"/>
          <p:cNvSpPr/>
          <p:nvPr/>
        </p:nvSpPr>
        <p:spPr>
          <a:xfrm>
            <a:off x="8254929" y="1985437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5" name="S04-mark39"/>
          <p:cNvSpPr/>
          <p:nvPr/>
        </p:nvSpPr>
        <p:spPr>
          <a:xfrm>
            <a:off x="8320080" y="1980225"/>
            <a:ext cx="41697" cy="41697"/>
          </a:xfrm>
          <a:prstGeom prst="ellipse">
            <a:avLst/>
          </a:prstGeom>
          <a:solidFill>
            <a:srgbClr val="E9762B"/>
          </a:solidFill>
          <a:ln w="6350">
            <a:solidFill>
              <a:srgbClr val="E9762B"/>
            </a:solidFill>
            <a:prstDash val="solid"/>
          </a:ln>
        </p:spPr>
      </p:sp>
      <p:sp>
        <p:nvSpPr>
          <p:cNvPr id="16" name="S04-mark40"/>
          <p:cNvSpPr/>
          <p:nvPr/>
        </p:nvSpPr>
        <p:spPr>
          <a:xfrm>
            <a:off x="8028203" y="2720340"/>
            <a:ext cx="2397557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04-mark41"/>
          <p:cNvSpPr/>
          <p:nvPr/>
        </p:nvSpPr>
        <p:spPr>
          <a:xfrm>
            <a:off x="8314868" y="1847317"/>
            <a:ext cx="0" cy="91211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8" name="S04-mark42"/>
          <p:cNvSpPr/>
          <p:nvPr/>
        </p:nvSpPr>
        <p:spPr>
          <a:xfrm>
            <a:off x="8366989" y="1847317"/>
            <a:ext cx="0" cy="91211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19" name="S04-mark43"/>
          <p:cNvSpPr/>
          <p:nvPr/>
        </p:nvSpPr>
        <p:spPr>
          <a:xfrm>
            <a:off x="8692744" y="1990649"/>
            <a:ext cx="456057" cy="307513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0" name="S04-card44"/>
          <p:cNvSpPr/>
          <p:nvPr/>
        </p:nvSpPr>
        <p:spPr>
          <a:xfrm>
            <a:off x="6813652" y="3040380"/>
            <a:ext cx="4826660" cy="1690116"/>
          </a:xfrm>
          <a:prstGeom prst="roundRect">
            <a:avLst>
              <a:gd name="adj" fmla="val 64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04-cardtext45"/>
          <p:cNvSpPr txBox="1"/>
          <p:nvPr/>
        </p:nvSpPr>
        <p:spPr>
          <a:xfrm>
            <a:off x="7087972" y="3177540"/>
            <a:ext cx="4278020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파인 곳, 쌓인 곳을 찾아요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색모래가 간 곳을 봐요</a:t>
            </a:r>
            <a:endParaRPr lang="ko-KR" sz="3000" dirty="0"/>
          </a:p>
        </p:txBody>
      </p:sp>
      <p:sp>
        <p:nvSpPr>
          <p:cNvPr id="22" name="S04-stepno46"/>
          <p:cNvSpPr txBox="1"/>
          <p:nvPr/>
        </p:nvSpPr>
        <p:spPr>
          <a:xfrm>
            <a:off x="548640" y="16322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3" name="S04-text47"/>
          <p:cNvSpPr txBox="1"/>
          <p:nvPr/>
        </p:nvSpPr>
        <p:spPr>
          <a:xfrm>
            <a:off x="1325880" y="1586484"/>
            <a:ext cx="512201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쟁반 한쪽을 받쳐 위쪽에 흙 언덕을 쌓아요.</a:t>
            </a:r>
            <a:endParaRPr lang="ko-KR" sz="2400" dirty="0"/>
          </a:p>
        </p:txBody>
      </p:sp>
      <p:sp>
        <p:nvSpPr>
          <p:cNvPr id="24" name="S04-stepno48"/>
          <p:cNvSpPr txBox="1"/>
          <p:nvPr/>
        </p:nvSpPr>
        <p:spPr>
          <a:xfrm>
            <a:off x="548640" y="2494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5" name="S04-text49"/>
          <p:cNvSpPr txBox="1"/>
          <p:nvPr/>
        </p:nvSpPr>
        <p:spPr>
          <a:xfrm>
            <a:off x="1325880" y="24947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 꼭대기에 색모래를 뿌려요.</a:t>
            </a:r>
            <a:endParaRPr lang="ko-KR" sz="2400" dirty="0"/>
          </a:p>
        </p:txBody>
      </p:sp>
      <p:sp>
        <p:nvSpPr>
          <p:cNvPr id="26" name="S04-stepno50"/>
          <p:cNvSpPr txBox="1"/>
          <p:nvPr/>
        </p:nvSpPr>
        <p:spPr>
          <a:xfrm>
            <a:off x="548640" y="3208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7" name="S04-text51"/>
          <p:cNvSpPr txBox="1"/>
          <p:nvPr/>
        </p:nvSpPr>
        <p:spPr>
          <a:xfrm>
            <a:off x="1325880" y="32080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꼭대기에 물을 천천히 부어요.</a:t>
            </a:r>
            <a:endParaRPr lang="ko-KR" sz="2400" dirty="0"/>
          </a:p>
        </p:txBody>
      </p:sp>
      <p:sp>
        <p:nvSpPr>
          <p:cNvPr id="28" name="S04-stepno52"/>
          <p:cNvSpPr txBox="1"/>
          <p:nvPr/>
        </p:nvSpPr>
        <p:spPr>
          <a:xfrm>
            <a:off x="548640" y="3921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9" name="S04-text53"/>
          <p:cNvSpPr txBox="1"/>
          <p:nvPr/>
        </p:nvSpPr>
        <p:spPr>
          <a:xfrm>
            <a:off x="1325880" y="392125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곳을 찾아 활동지 1에 써요.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3000" dirty="0"/>
          </a:p>
        </p:txBody>
      </p:sp>
      <p:sp>
        <p:nvSpPr>
          <p:cNvPr id="4" name="S05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흙은 어디에서 어디로 갔나요?</a:t>
            </a:r>
            <a:endParaRPr lang="ko-KR" sz="3000" dirty="0"/>
          </a:p>
        </p:txBody>
      </p:sp>
      <p:graphicFrame>
        <p:nvGraphicFramePr>
          <p:cNvPr id="6" name="S05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0350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살펴본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보았나요?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언덕 위쪽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색모래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쟁반 아래쪽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흘러내린 물의 색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하는 일</a:t>
            </a:r>
            <a:endParaRPr lang="ko-KR" sz="4000" dirty="0"/>
          </a:p>
        </p:txBody>
      </p:sp>
      <p:sp>
        <p:nvSpPr>
          <p:cNvPr id="3" name="S06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물이 흙 언덕의 모습을 바꿨어요.</a:t>
            </a:r>
            <a:endParaRPr lang="ko-KR" sz="3000" dirty="0"/>
          </a:p>
        </p:txBody>
      </p:sp>
      <p:sp>
        <p:nvSpPr>
          <p:cNvPr id="4" name="S06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땅에서는 오랜 시간 동안 조금씩 일어나요.</a:t>
            </a:r>
            <a:endParaRPr lang="ko-KR" sz="3000" dirty="0"/>
          </a:p>
        </p:txBody>
      </p:sp>
      <p:sp>
        <p:nvSpPr>
          <p:cNvPr id="6" name="S06-card61"/>
          <p:cNvSpPr/>
          <p:nvPr/>
        </p:nvSpPr>
        <p:spPr>
          <a:xfrm>
            <a:off x="548640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62"/>
          <p:cNvSpPr txBox="1"/>
          <p:nvPr/>
        </p:nvSpPr>
        <p:spPr>
          <a:xfrm>
            <a:off x="822960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침식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깎아요.</a:t>
            </a:r>
            <a:endParaRPr lang="ko-KR" sz="3000" dirty="0"/>
          </a:p>
        </p:txBody>
      </p:sp>
      <p:sp>
        <p:nvSpPr>
          <p:cNvPr id="8" name="S06-card63"/>
          <p:cNvSpPr/>
          <p:nvPr/>
        </p:nvSpPr>
        <p:spPr>
          <a:xfrm>
            <a:off x="4322064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64"/>
          <p:cNvSpPr txBox="1"/>
          <p:nvPr/>
        </p:nvSpPr>
        <p:spPr>
          <a:xfrm>
            <a:off x="4596384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깎은 흙과 돌을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옮겨요.</a:t>
            </a:r>
            <a:endParaRPr lang="ko-KR" sz="3000" dirty="0"/>
          </a:p>
        </p:txBody>
      </p:sp>
      <p:sp>
        <p:nvSpPr>
          <p:cNvPr id="10" name="S06-card65"/>
          <p:cNvSpPr/>
          <p:nvPr/>
        </p:nvSpPr>
        <p:spPr>
          <a:xfrm>
            <a:off x="8095488" y="3506724"/>
            <a:ext cx="3544824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66"/>
          <p:cNvSpPr txBox="1"/>
          <p:nvPr/>
        </p:nvSpPr>
        <p:spPr>
          <a:xfrm>
            <a:off x="8369808" y="3643884"/>
            <a:ext cx="2996184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옮긴 흙과 돌을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쌓아요.</a:t>
            </a:r>
            <a:endParaRPr lang="ko-KR" sz="3000" dirty="0"/>
          </a:p>
        </p:txBody>
      </p:sp>
      <p:sp>
        <p:nvSpPr>
          <p:cNvPr id="12" name="S06-step67"/>
          <p:cNvSpPr txBox="1"/>
          <p:nvPr/>
        </p:nvSpPr>
        <p:spPr>
          <a:xfrm>
            <a:off x="1293876" y="218770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깎아요</a:t>
            </a:r>
            <a:endParaRPr lang="ko-KR" sz="3000" dirty="0"/>
          </a:p>
        </p:txBody>
      </p:sp>
      <p:sp>
        <p:nvSpPr>
          <p:cNvPr id="13" name="S06-line68"/>
          <p:cNvSpPr/>
          <p:nvPr/>
        </p:nvSpPr>
        <p:spPr>
          <a:xfrm>
            <a:off x="4274820" y="264490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06-step69"/>
          <p:cNvSpPr txBox="1"/>
          <p:nvPr/>
        </p:nvSpPr>
        <p:spPr>
          <a:xfrm>
            <a:off x="4631436" y="218770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옮겨요</a:t>
            </a:r>
            <a:endParaRPr lang="ko-KR" sz="3000" dirty="0"/>
          </a:p>
        </p:txBody>
      </p:sp>
      <p:sp>
        <p:nvSpPr>
          <p:cNvPr id="15" name="S06-line70"/>
          <p:cNvSpPr/>
          <p:nvPr/>
        </p:nvSpPr>
        <p:spPr>
          <a:xfrm>
            <a:off x="7612380" y="2644902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06-step71"/>
          <p:cNvSpPr txBox="1"/>
          <p:nvPr/>
        </p:nvSpPr>
        <p:spPr>
          <a:xfrm>
            <a:off x="7968996" y="2187702"/>
            <a:ext cx="2926080" cy="914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쌓아요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7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부었더니 위쪽 흙이 줄고 흙탕물이 흘렀어요.</a:t>
            </a:r>
            <a:endParaRPr lang="ko-KR" sz="3000" dirty="0"/>
          </a:p>
        </p:txBody>
      </p:sp>
      <p:sp>
        <p:nvSpPr>
          <p:cNvPr id="5" name="S07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3000" dirty="0"/>
          </a:p>
        </p:txBody>
      </p:sp>
      <p:sp>
        <p:nvSpPr>
          <p:cNvPr id="7" name="S07-chip7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7-text7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흙이 물에 녹아서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없어졌어요.</a:t>
            </a:r>
            <a:endParaRPr lang="ko-KR" sz="3000" dirty="0"/>
          </a:p>
        </p:txBody>
      </p:sp>
      <p:sp>
        <p:nvSpPr>
          <p:cNvPr id="9" name="S07-chip7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10" name="S07-text7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흙이 물에 실려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강의 상류와 하류</a:t>
            </a:r>
            <a:endParaRPr lang="ko-KR" sz="4000" dirty="0"/>
          </a:p>
        </p:txBody>
      </p:sp>
      <p:sp>
        <p:nvSpPr>
          <p:cNvPr id="3" name="S08-text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강은 산에서 시작해 바다로 흘러가요.</a:t>
            </a:r>
            <a:endParaRPr lang="ko-KR" sz="3000" dirty="0"/>
          </a:p>
        </p:txBody>
      </p:sp>
      <p:sp>
        <p:nvSpPr>
          <p:cNvPr id="4" name="S08-card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모형의 위쪽은 상류, 아래쪽은 하류와 닮았어요.</a:t>
            </a:r>
            <a:endParaRPr lang="ko-KR" sz="3000" dirty="0"/>
          </a:p>
        </p:txBody>
      </p:sp>
      <p:sp>
        <p:nvSpPr>
          <p:cNvPr id="6" name="S08-figure83" descr="산에서 시작한 강이 구불구불 흘러 바다로 들어가는 모습. 산 가까운 상류는 강폭이 좁고, 바다 가까운 하류로 갈수록 강폭이 넓어짐"/>
          <p:cNvSpPr/>
          <p:nvPr/>
        </p:nvSpPr>
        <p:spPr>
          <a:xfrm>
            <a:off x="4583976" y="3675342"/>
            <a:ext cx="960802" cy="1353858"/>
          </a:xfrm>
          <a:custGeom>
            <a:avLst/>
            <a:gdLst/>
            <a:ahLst/>
            <a:cxnLst/>
            <a:rect l="l" t="t" r="r" b="b"/>
            <a:pathLst>
              <a:path w="960802" h="1353858">
                <a:moveTo>
                  <a:pt x="0" y="1353858"/>
                </a:moveTo>
                <a:lnTo>
                  <a:pt x="960802" y="1353858"/>
                </a:lnTo>
                <a:lnTo>
                  <a:pt x="960802" y="0"/>
                </a:lnTo>
                <a:lnTo>
                  <a:pt x="567747" y="131019"/>
                </a:lnTo>
                <a:lnTo>
                  <a:pt x="218364" y="480401"/>
                </a:lnTo>
                <a:lnTo>
                  <a:pt x="43673" y="873457"/>
                </a:lnTo>
                <a:close/>
              </a:path>
            </a:pathLst>
          </a:custGeom>
          <a:solidFill>
            <a:srgbClr val="BFD7EA"/>
          </a:solidFill>
          <a:ln/>
        </p:spPr>
      </p:sp>
      <p:sp>
        <p:nvSpPr>
          <p:cNvPr id="7" name="S08-mark84"/>
          <p:cNvSpPr/>
          <p:nvPr/>
        </p:nvSpPr>
        <p:spPr>
          <a:xfrm>
            <a:off x="915458" y="2321484"/>
            <a:ext cx="960802" cy="829784"/>
          </a:xfrm>
          <a:custGeom>
            <a:avLst/>
            <a:gdLst/>
            <a:ahLst/>
            <a:cxnLst/>
            <a:rect l="l" t="t" r="r" b="b"/>
            <a:pathLst>
              <a:path w="960802" h="829784">
                <a:moveTo>
                  <a:pt x="0" y="829784"/>
                </a:moveTo>
                <a:lnTo>
                  <a:pt x="480401" y="0"/>
                </a:lnTo>
                <a:lnTo>
                  <a:pt x="960802" y="829784"/>
                </a:lnTo>
                <a:close/>
              </a:path>
            </a:pathLst>
          </a:custGeom>
          <a:solidFill>
            <a:srgbClr val="A7C4A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8-mark85"/>
          <p:cNvSpPr/>
          <p:nvPr/>
        </p:nvSpPr>
        <p:spPr>
          <a:xfrm>
            <a:off x="1483205" y="2103120"/>
            <a:ext cx="1135494" cy="1048148"/>
          </a:xfrm>
          <a:custGeom>
            <a:avLst/>
            <a:gdLst/>
            <a:ahLst/>
            <a:cxnLst/>
            <a:rect l="l" t="t" r="r" b="b"/>
            <a:pathLst>
              <a:path w="1135494" h="1048148">
                <a:moveTo>
                  <a:pt x="0" y="1048148"/>
                </a:moveTo>
                <a:lnTo>
                  <a:pt x="567747" y="0"/>
                </a:lnTo>
                <a:lnTo>
                  <a:pt x="1135494" y="1048148"/>
                </a:lnTo>
                <a:close/>
              </a:path>
            </a:pathLst>
          </a:custGeom>
          <a:solidFill>
            <a:srgbClr val="8DB287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mark86"/>
          <p:cNvSpPr/>
          <p:nvPr/>
        </p:nvSpPr>
        <p:spPr>
          <a:xfrm>
            <a:off x="1887615" y="2918929"/>
            <a:ext cx="2943549" cy="1693633"/>
          </a:xfrm>
          <a:custGeom>
            <a:avLst/>
            <a:gdLst/>
            <a:ahLst/>
            <a:cxnLst/>
            <a:rect l="l" t="t" r="r" b="b"/>
            <a:pathLst>
              <a:path w="2943549" h="1693633">
                <a:moveTo>
                  <a:pt x="64636" y="0"/>
                </a:moveTo>
                <a:lnTo>
                  <a:pt x="214434" y="315755"/>
                </a:lnTo>
                <a:lnTo>
                  <a:pt x="135386" y="555955"/>
                </a:lnTo>
                <a:lnTo>
                  <a:pt x="400917" y="739818"/>
                </a:lnTo>
                <a:lnTo>
                  <a:pt x="930231" y="670815"/>
                </a:lnTo>
                <a:lnTo>
                  <a:pt x="1418930" y="928484"/>
                </a:lnTo>
                <a:lnTo>
                  <a:pt x="1792333" y="1196636"/>
                </a:lnTo>
                <a:lnTo>
                  <a:pt x="2280159" y="1204934"/>
                </a:lnTo>
                <a:lnTo>
                  <a:pt x="2943549" y="1260398"/>
                </a:lnTo>
                <a:lnTo>
                  <a:pt x="2885901" y="1693633"/>
                </a:lnTo>
                <a:lnTo>
                  <a:pt x="2239106" y="1574406"/>
                </a:lnTo>
                <a:lnTo>
                  <a:pt x="1678784" y="1495358"/>
                </a:lnTo>
                <a:lnTo>
                  <a:pt x="1266076" y="1152089"/>
                </a:lnTo>
                <a:lnTo>
                  <a:pt x="881318" y="885685"/>
                </a:lnTo>
                <a:lnTo>
                  <a:pt x="362485" y="904028"/>
                </a:lnTo>
                <a:lnTo>
                  <a:pt x="16596" y="607489"/>
                </a:lnTo>
                <a:lnTo>
                  <a:pt x="112239" y="323616"/>
                </a:lnTo>
                <a:lnTo>
                  <a:pt x="0" y="27951"/>
                </a:lnTo>
                <a:close/>
              </a:path>
            </a:pathLst>
          </a:custGeom>
          <a:solidFill>
            <a:srgbClr val="6FA8DC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10" name="S08-label88"/>
          <p:cNvSpPr txBox="1"/>
          <p:nvPr/>
        </p:nvSpPr>
        <p:spPr>
          <a:xfrm>
            <a:off x="2134112" y="3135459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</a:t>
            </a:r>
            <a:endParaRPr lang="ko-KR" sz="2400" dirty="0"/>
          </a:p>
        </p:txBody>
      </p:sp>
      <p:sp>
        <p:nvSpPr>
          <p:cNvPr id="11" name="S08-label90"/>
          <p:cNvSpPr txBox="1"/>
          <p:nvPr/>
        </p:nvSpPr>
        <p:spPr>
          <a:xfrm>
            <a:off x="3618988" y="3637697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</a:t>
            </a:r>
            <a:endParaRPr lang="ko-KR" sz="2400" dirty="0"/>
          </a:p>
        </p:txBody>
      </p:sp>
      <p:sp>
        <p:nvSpPr>
          <p:cNvPr id="12" name="S08-label92"/>
          <p:cNvSpPr txBox="1"/>
          <p:nvPr/>
        </p:nvSpPr>
        <p:spPr>
          <a:xfrm>
            <a:off x="4819991" y="433646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</p:txBody>
      </p:sp>
      <p:sp>
        <p:nvSpPr>
          <p:cNvPr id="13" name="S08-label94"/>
          <p:cNvSpPr txBox="1"/>
          <p:nvPr/>
        </p:nvSpPr>
        <p:spPr>
          <a:xfrm>
            <a:off x="1038788" y="2742404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2400" dirty="0"/>
          </a:p>
        </p:txBody>
      </p:sp>
      <p:sp>
        <p:nvSpPr>
          <p:cNvPr id="14" name="S08-card95"/>
          <p:cNvSpPr/>
          <p:nvPr/>
        </p:nvSpPr>
        <p:spPr>
          <a:xfrm>
            <a:off x="6277356" y="220980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8-cardtext96"/>
          <p:cNvSpPr txBox="1"/>
          <p:nvPr/>
        </p:nvSpPr>
        <p:spPr>
          <a:xfrm>
            <a:off x="6551676" y="234696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산과 가까운 곳</a:t>
            </a:r>
            <a:endParaRPr lang="ko-KR" sz="3000" dirty="0"/>
          </a:p>
        </p:txBody>
      </p:sp>
      <p:sp>
        <p:nvSpPr>
          <p:cNvPr id="16" name="S08-card97"/>
          <p:cNvSpPr/>
          <p:nvPr/>
        </p:nvSpPr>
        <p:spPr>
          <a:xfrm>
            <a:off x="6277356" y="3680460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8-cardtext98"/>
          <p:cNvSpPr txBox="1"/>
          <p:nvPr/>
        </p:nvSpPr>
        <p:spPr>
          <a:xfrm>
            <a:off x="6551676" y="3817620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바다와 가까운 곳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상류와 하류 비교</a:t>
            </a:r>
            <a:endParaRPr lang="ko-KR" sz="4000" dirty="0"/>
          </a:p>
        </p:txBody>
      </p:sp>
      <p:sp>
        <p:nvSpPr>
          <p:cNvPr id="3" name="S09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돌은 물에 옮겨지며 부딪치고 깎여 작고 둥글어져요.</a:t>
            </a:r>
            <a:endParaRPr lang="ko-KR" sz="3000" dirty="0"/>
          </a:p>
        </p:txBody>
      </p:sp>
      <p:graphicFrame>
        <p:nvGraphicFramePr>
          <p:cNvPr id="10" name="S09-table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740408"/>
          <a:ext cx="1051560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3680460"/>
                <a:gridCol w="368046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좁아요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넓어요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급해요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완만해요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크고 모가 나요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작고 둥글어요,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모래가 많아요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많이 일어나는 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깎는 일(침식)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쌓는 일(퇴적)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상류일까요, 하류일까요?</a:t>
            </a:r>
            <a:endParaRPr lang="ko-KR" sz="4000" dirty="0"/>
          </a:p>
        </p:txBody>
      </p:sp>
      <p:sp>
        <p:nvSpPr>
          <p:cNvPr id="3" name="S10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설명을 읽고 상류인지 하류인지 말해요.</a:t>
            </a:r>
            <a:endParaRPr lang="ko-KR" sz="3000" dirty="0"/>
          </a:p>
        </p:txBody>
      </p:sp>
      <p:sp>
        <p:nvSpPr>
          <p:cNvPr id="4" name="S10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강폭, 경사, 돌의 크기와 모양을 단서로 찾아요.</a:t>
            </a:r>
            <a:endParaRPr lang="ko-KR" sz="3000" dirty="0"/>
          </a:p>
        </p:txBody>
      </p:sp>
      <p:sp>
        <p:nvSpPr>
          <p:cNvPr id="6" name="S10-chip10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10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크고 모난 바위가 많고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물살이 빨라요.</a:t>
            </a:r>
            <a:endParaRPr lang="ko-KR" sz="3000" dirty="0"/>
          </a:p>
        </p:txBody>
      </p:sp>
      <p:sp>
        <p:nvSpPr>
          <p:cNvPr id="8" name="S10-chip10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10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강폭이 넓고 고운 모래가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넓게 쌓여 있어요.</a:t>
            </a:r>
            <a:endParaRPr lang="ko-KR" sz="3000" dirty="0"/>
          </a:p>
        </p:txBody>
      </p:sp>
      <p:sp>
        <p:nvSpPr>
          <p:cNvPr id="10" name="S10-chip10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11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산골짜기에서 물이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깊게 깎아요.</a:t>
            </a:r>
            <a:endParaRPr lang="ko-KR" sz="3000" dirty="0"/>
          </a:p>
        </p:txBody>
      </p:sp>
      <p:sp>
        <p:nvSpPr>
          <p:cNvPr id="12" name="S10-chip11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11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바다와 가깝고 둥근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자갈이 많아요.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11-text11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 많이 온 뒤 흙탕물이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까닭은 무엇일까요?</a:t>
            </a:r>
            <a:endParaRPr lang="ko-KR" sz="3000" dirty="0"/>
          </a:p>
        </p:txBody>
      </p:sp>
      <p:sp>
        <p:nvSpPr>
          <p:cNvPr id="5" name="S11-chip1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11-text11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옮긴 흙과 돌을 쌓는 것을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무엇이라고 하나요?</a:t>
            </a:r>
            <a:endParaRPr lang="ko-KR" sz="3000" dirty="0"/>
          </a:p>
        </p:txBody>
      </p:sp>
      <p:sp>
        <p:nvSpPr>
          <p:cNvPr id="7" name="S11-chip1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11-text11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상류와 하류의 다른 점을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가지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하류에 많은 돌은?</a:t>
            </a:r>
            <a:endParaRPr lang="ko-KR" sz="4000" dirty="0"/>
          </a:p>
        </p:txBody>
      </p:sp>
      <p:sp>
        <p:nvSpPr>
          <p:cNvPr id="3" name="S13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강가 두 곳에서 본 돌이에요. 같은 크기로 그렸어요.</a:t>
            </a:r>
            <a:endParaRPr lang="ko-KR" sz="3000" dirty="0"/>
          </a:p>
        </p:txBody>
      </p:sp>
      <p:sp>
        <p:nvSpPr>
          <p:cNvPr id="4" name="S13-card1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하류에 많은 돌을 고르고, 그렇게 생각한 까닭을 말해요.</a:t>
            </a:r>
            <a:endParaRPr lang="ko-KR" sz="3000" dirty="0"/>
          </a:p>
        </p:txBody>
      </p:sp>
      <p:sp>
        <p:nvSpPr>
          <p:cNvPr id="6" name="S13-chip122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figure123" descr="크고 모가 난 돌 세 개"/>
          <p:cNvSpPr/>
          <p:nvPr/>
        </p:nvSpPr>
        <p:spPr>
          <a:xfrm>
            <a:off x="2324862" y="3792474"/>
            <a:ext cx="955548" cy="854964"/>
          </a:xfrm>
          <a:custGeom>
            <a:avLst/>
            <a:gdLst/>
            <a:ahLst/>
            <a:cxnLst/>
            <a:rect l="l" t="t" r="r" b="b"/>
            <a:pathLst>
              <a:path w="955548" h="854964">
                <a:moveTo>
                  <a:pt x="0" y="854964"/>
                </a:moveTo>
                <a:lnTo>
                  <a:pt x="754380" y="779526"/>
                </a:lnTo>
                <a:lnTo>
                  <a:pt x="955548" y="352044"/>
                </a:lnTo>
                <a:lnTo>
                  <a:pt x="528066" y="0"/>
                </a:lnTo>
                <a:lnTo>
                  <a:pt x="75438" y="276606"/>
                </a:lnTo>
                <a:close/>
              </a:path>
            </a:pathLst>
          </a:custGeom>
          <a:solidFill>
            <a:srgbClr val="B0B7C3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13-mark124"/>
          <p:cNvSpPr/>
          <p:nvPr/>
        </p:nvSpPr>
        <p:spPr>
          <a:xfrm>
            <a:off x="3456432" y="4018788"/>
            <a:ext cx="678942" cy="628650"/>
          </a:xfrm>
          <a:custGeom>
            <a:avLst/>
            <a:gdLst/>
            <a:ahLst/>
            <a:cxnLst/>
            <a:rect l="l" t="t" r="r" b="b"/>
            <a:pathLst>
              <a:path w="678942" h="628650">
                <a:moveTo>
                  <a:pt x="0" y="628650"/>
                </a:moveTo>
                <a:lnTo>
                  <a:pt x="678942" y="578358"/>
                </a:lnTo>
                <a:lnTo>
                  <a:pt x="603504" y="0"/>
                </a:lnTo>
                <a:lnTo>
                  <a:pt x="125730" y="100584"/>
                </a:lnTo>
                <a:close/>
              </a:path>
            </a:pathLst>
          </a:custGeom>
          <a:solidFill>
            <a:srgbClr val="B0B7C3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9" name="S13-mark125"/>
          <p:cNvSpPr/>
          <p:nvPr/>
        </p:nvSpPr>
        <p:spPr>
          <a:xfrm>
            <a:off x="2777490" y="3188970"/>
            <a:ext cx="930402" cy="678942"/>
          </a:xfrm>
          <a:custGeom>
            <a:avLst/>
            <a:gdLst/>
            <a:ahLst/>
            <a:cxnLst/>
            <a:rect l="l" t="t" r="r" b="b"/>
            <a:pathLst>
              <a:path w="930402" h="678942">
                <a:moveTo>
                  <a:pt x="25146" y="477774"/>
                </a:moveTo>
                <a:lnTo>
                  <a:pt x="578358" y="678942"/>
                </a:lnTo>
                <a:lnTo>
                  <a:pt x="930402" y="276606"/>
                </a:lnTo>
                <a:lnTo>
                  <a:pt x="352044" y="0"/>
                </a:lnTo>
                <a:lnTo>
                  <a:pt x="0" y="176022"/>
                </a:lnTo>
                <a:close/>
              </a:path>
            </a:pathLst>
          </a:custGeom>
          <a:solidFill>
            <a:srgbClr val="B0B7C3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0" name="S13-chip126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1" name="S13-figure127" descr="작고 둥근 자갈 여러 개와 그 아래 모래알"/>
          <p:cNvSpPr/>
          <p:nvPr/>
        </p:nvSpPr>
        <p:spPr>
          <a:xfrm>
            <a:off x="7947965" y="4046449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mark128"/>
          <p:cNvSpPr/>
          <p:nvPr/>
        </p:nvSpPr>
        <p:spPr>
          <a:xfrm>
            <a:off x="8294980" y="4066565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mark129"/>
          <p:cNvSpPr/>
          <p:nvPr/>
        </p:nvSpPr>
        <p:spPr>
          <a:xfrm>
            <a:off x="8601761" y="4046449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mark130"/>
          <p:cNvSpPr/>
          <p:nvPr/>
        </p:nvSpPr>
        <p:spPr>
          <a:xfrm>
            <a:off x="8908542" y="4026332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mark131"/>
          <p:cNvSpPr/>
          <p:nvPr/>
        </p:nvSpPr>
        <p:spPr>
          <a:xfrm>
            <a:off x="9275674" y="4066565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mark132"/>
          <p:cNvSpPr/>
          <p:nvPr/>
        </p:nvSpPr>
        <p:spPr>
          <a:xfrm>
            <a:off x="9577426" y="4066565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mark133"/>
          <p:cNvSpPr/>
          <p:nvPr/>
        </p:nvSpPr>
        <p:spPr>
          <a:xfrm>
            <a:off x="8078724" y="3699434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mark134"/>
          <p:cNvSpPr/>
          <p:nvPr/>
        </p:nvSpPr>
        <p:spPr>
          <a:xfrm>
            <a:off x="8445856" y="3739667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mark135"/>
          <p:cNvSpPr/>
          <p:nvPr/>
        </p:nvSpPr>
        <p:spPr>
          <a:xfrm>
            <a:off x="8752637" y="3719551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3-mark136"/>
          <p:cNvSpPr/>
          <p:nvPr/>
        </p:nvSpPr>
        <p:spPr>
          <a:xfrm>
            <a:off x="9059418" y="3699434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3-mark137"/>
          <p:cNvSpPr/>
          <p:nvPr/>
        </p:nvSpPr>
        <p:spPr>
          <a:xfrm>
            <a:off x="9426550" y="3739667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mark138"/>
          <p:cNvSpPr/>
          <p:nvPr/>
        </p:nvSpPr>
        <p:spPr>
          <a:xfrm>
            <a:off x="9688068" y="3699434"/>
            <a:ext cx="281635" cy="281635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mark139"/>
          <p:cNvSpPr/>
          <p:nvPr/>
        </p:nvSpPr>
        <p:spPr>
          <a:xfrm>
            <a:off x="8294980" y="3412769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mark140"/>
          <p:cNvSpPr/>
          <p:nvPr/>
        </p:nvSpPr>
        <p:spPr>
          <a:xfrm>
            <a:off x="8621878" y="3412769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mark141"/>
          <p:cNvSpPr/>
          <p:nvPr/>
        </p:nvSpPr>
        <p:spPr>
          <a:xfrm>
            <a:off x="8948776" y="3412769"/>
            <a:ext cx="201168" cy="201168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mark142"/>
          <p:cNvSpPr/>
          <p:nvPr/>
        </p:nvSpPr>
        <p:spPr>
          <a:xfrm>
            <a:off x="9255557" y="3392653"/>
            <a:ext cx="241402" cy="241402"/>
          </a:xfrm>
          <a:prstGeom prst="ellipse">
            <a:avLst/>
          </a:prstGeom>
          <a:solidFill>
            <a:srgbClr val="B0B7C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mark143"/>
          <p:cNvSpPr/>
          <p:nvPr/>
        </p:nvSpPr>
        <p:spPr>
          <a:xfrm>
            <a:off x="7958938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3-mark144"/>
          <p:cNvSpPr/>
          <p:nvPr/>
        </p:nvSpPr>
        <p:spPr>
          <a:xfrm>
            <a:off x="8119872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3-mark145"/>
          <p:cNvSpPr/>
          <p:nvPr/>
        </p:nvSpPr>
        <p:spPr>
          <a:xfrm>
            <a:off x="8280806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3-mark146"/>
          <p:cNvSpPr/>
          <p:nvPr/>
        </p:nvSpPr>
        <p:spPr>
          <a:xfrm>
            <a:off x="8441741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3-mark147"/>
          <p:cNvSpPr/>
          <p:nvPr/>
        </p:nvSpPr>
        <p:spPr>
          <a:xfrm>
            <a:off x="8602675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3-mark148"/>
          <p:cNvSpPr/>
          <p:nvPr/>
        </p:nvSpPr>
        <p:spPr>
          <a:xfrm>
            <a:off x="8763610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3-mark149"/>
          <p:cNvSpPr/>
          <p:nvPr/>
        </p:nvSpPr>
        <p:spPr>
          <a:xfrm>
            <a:off x="8924544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3-mark150"/>
          <p:cNvSpPr/>
          <p:nvPr/>
        </p:nvSpPr>
        <p:spPr>
          <a:xfrm>
            <a:off x="9085478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3-mark151"/>
          <p:cNvSpPr/>
          <p:nvPr/>
        </p:nvSpPr>
        <p:spPr>
          <a:xfrm>
            <a:off x="9246413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3-mark152"/>
          <p:cNvSpPr/>
          <p:nvPr/>
        </p:nvSpPr>
        <p:spPr>
          <a:xfrm>
            <a:off x="9407347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13-mark153"/>
          <p:cNvSpPr/>
          <p:nvPr/>
        </p:nvSpPr>
        <p:spPr>
          <a:xfrm>
            <a:off x="9568282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3-mark154"/>
          <p:cNvSpPr/>
          <p:nvPr/>
        </p:nvSpPr>
        <p:spPr>
          <a:xfrm>
            <a:off x="9729216" y="43843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5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물은 땅을 깎고(침식), 옮기고(운반), 쌓아요(퇴적).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상류에서는 깎는 일이, 하류에서는 쌓는 일이 많아요.</a:t>
            </a:r>
            <a:endParaRPr lang="ko-KR" sz="3000" dirty="0"/>
          </a:p>
        </p:txBody>
      </p:sp>
      <p:sp>
        <p:nvSpPr>
          <p:cNvPr id="5" name="S14-chip15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쌓인 흙과 색모래를 증거로 말하기</a:t>
            </a:r>
            <a:endParaRPr lang="ko-KR" sz="2400" dirty="0"/>
          </a:p>
        </p:txBody>
      </p:sp>
      <p:sp>
        <p:nvSpPr>
          <p:cNvPr id="6" name="S14-chip15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흙이 녹아 없어졌다고 생각하기</a:t>
            </a:r>
            <a:endParaRPr lang="ko-KR" sz="2400" dirty="0"/>
          </a:p>
        </p:txBody>
      </p:sp>
      <p:sp>
        <p:nvSpPr>
          <p:cNvPr id="7" name="S14-text15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16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흐르는 물이 땅을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깎는 것을 무엇이라 하나요?</a:t>
            </a:r>
            <a:endParaRPr lang="ko-KR" sz="2400" dirty="0"/>
          </a:p>
        </p:txBody>
      </p:sp>
      <p:sp>
        <p:nvSpPr>
          <p:cNvPr id="9" name="S14-text16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강폭이 넓고 모래가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곳은 상류? 하류?</a:t>
            </a:r>
            <a:endParaRPr lang="ko-KR" sz="2400" dirty="0"/>
          </a:p>
        </p:txBody>
      </p:sp>
      <p:sp>
        <p:nvSpPr>
          <p:cNvPr id="10" name="S14-text16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하류의 돌이 작고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까닭은?</a:t>
            </a:r>
            <a:endParaRPr lang="ko-KR" sz="2400" dirty="0"/>
          </a:p>
        </p:txBody>
      </p:sp>
      <p:sp>
        <p:nvSpPr>
          <p:cNvPr id="11" name="S14-text16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달의 모양 변화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지구 표면의 모습</a:t>
            </a:r>
            <a:endParaRPr lang="ko-KR" sz="4000" dirty="0"/>
          </a:p>
        </p:txBody>
      </p:sp>
      <p:sp>
        <p:nvSpPr>
          <p:cNvPr id="3" name="S15-text1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곳, 낮은 곳, 물이 있는 곳을 찾아요.</a:t>
            </a:r>
            <a:endParaRPr lang="ko-KR" sz="3000" dirty="0"/>
          </a:p>
        </p:txBody>
      </p:sp>
      <p:sp>
        <p:nvSpPr>
          <p:cNvPr id="4" name="S15-card1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물은 높은 곳(산)에서 낮은 곳(바다)으로 흘러요.</a:t>
            </a:r>
            <a:endParaRPr lang="ko-KR" sz="3000" dirty="0"/>
          </a:p>
        </p:txBody>
      </p:sp>
      <p:sp>
        <p:nvSpPr>
          <p:cNvPr id="6" name="S15-card167"/>
          <p:cNvSpPr/>
          <p:nvPr/>
        </p:nvSpPr>
        <p:spPr>
          <a:xfrm>
            <a:off x="548640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68"/>
          <p:cNvSpPr txBox="1"/>
          <p:nvPr/>
        </p:nvSpPr>
        <p:spPr>
          <a:xfrm>
            <a:off x="822960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 솟은 땅</a:t>
            </a:r>
            <a:endParaRPr lang="ko-KR" sz="3000" dirty="0"/>
          </a:p>
        </p:txBody>
      </p:sp>
      <p:sp>
        <p:nvSpPr>
          <p:cNvPr id="8" name="S15-card169"/>
          <p:cNvSpPr/>
          <p:nvPr/>
        </p:nvSpPr>
        <p:spPr>
          <a:xfrm>
            <a:off x="6208776" y="201168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70"/>
          <p:cNvSpPr txBox="1"/>
          <p:nvPr/>
        </p:nvSpPr>
        <p:spPr>
          <a:xfrm>
            <a:off x="6483096" y="214884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낮고 평평한 땅</a:t>
            </a:r>
            <a:endParaRPr lang="ko-KR" sz="3000" dirty="0"/>
          </a:p>
        </p:txBody>
      </p:sp>
      <p:sp>
        <p:nvSpPr>
          <p:cNvPr id="10" name="S15-card171"/>
          <p:cNvSpPr/>
          <p:nvPr/>
        </p:nvSpPr>
        <p:spPr>
          <a:xfrm>
            <a:off x="548640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172"/>
          <p:cNvSpPr txBox="1"/>
          <p:nvPr/>
        </p:nvSpPr>
        <p:spPr>
          <a:xfrm>
            <a:off x="822960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산에서 바다로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</a:t>
            </a:r>
            <a:endParaRPr lang="ko-KR" sz="2400" dirty="0"/>
          </a:p>
        </p:txBody>
      </p:sp>
      <p:sp>
        <p:nvSpPr>
          <p:cNvPr id="12" name="S15-card173"/>
          <p:cNvSpPr/>
          <p:nvPr/>
        </p:nvSpPr>
        <p:spPr>
          <a:xfrm>
            <a:off x="6208776" y="3680460"/>
            <a:ext cx="5431536" cy="1440180"/>
          </a:xfrm>
          <a:prstGeom prst="roundRect">
            <a:avLst>
              <a:gd name="adj" fmla="val 761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5-cardtext174"/>
          <p:cNvSpPr txBox="1"/>
          <p:nvPr/>
        </p:nvSpPr>
        <p:spPr>
          <a:xfrm>
            <a:off x="6483096" y="3817620"/>
            <a:ext cx="4882896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짠물이</a:t>
            </a:r>
            <a:endParaRPr lang="ko-KR" sz="24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넓게 있는 곳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과학 흐르는 물과 땅</dc:title>
  <dc:subject>KR22-G04-SCI-RIVER-L01</dc:subject>
  <dc:creator>education-ppt</dc:creator>
  <cp:lastModifiedBy>education-ppt</cp:lastModifiedBy>
  <cp:revision>1</cp:revision>
  <dcterms:created xsi:type="dcterms:W3CDTF">2026-10-26T13:18:52Z</dcterms:created>
  <dcterms:modified xsi:type="dcterms:W3CDTF">2026-10-26T13:18:52Z</dcterms:modified>
</cp:coreProperties>
</file>