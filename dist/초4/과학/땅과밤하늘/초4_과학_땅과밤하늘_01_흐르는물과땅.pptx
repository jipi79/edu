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5108267f-0193-eea6-7dc5-345a81d9c491}">
          <p14:sldIdLst>
            <p14:sldId id="256"/>
            <p14:sldId id="257"/>
          </p14:sldIdLst>
        </p14:section>
        <p14:section name="연습" id="{5f5d7bd6-f7f2-25c7-07bf-e18324c36c38}">
          <p14:sldIdLst>
            <p14:sldId id="258"/>
            <p14:sldId id="259"/>
            <p14:sldId id="260"/>
            <p14:sldId id="262"/>
            <p14:sldId id="265"/>
          </p14:sldIdLst>
        </p14:section>
        <p14:section name="개념" id="{9018f1ec-942d-e546-2ff0-1d19dcfb7040}">
          <p14:sldIdLst>
            <p14:sldId id="261"/>
            <p14:sldId id="263"/>
            <p14:sldId id="264"/>
          </p14:sldIdLst>
        </p14:section>
        <p14:section name="연습" id="{8f3ceab4-3eab-2c10-78df-d175250f1733}">
          <p14:sldIdLst/>
        </p14:section>
        <p14:section name="개념" id="{59bc872b-3ecd-ef2e-712c-f61fc083d41d}">
          <p14:sldIdLst/>
        </p14:section>
        <p14:section name="연습" id="{ab1dad6c-f546-a8ea-18e7-119bff6a31a1}">
          <p14:sldIdLst/>
        </p14:section>
        <p14:section name="확인" id="{52034a0c-2c63-f3ef-69ac-40a2d1df6aba}">
          <p14:sldIdLst>
            <p14:sldId id="266"/>
            <p14:sldId id="267"/>
            <p14:sldId id="268"/>
          </p14:sldIdLst>
        </p14:section>
        <p14:section name="정리" id="{314ae645-e3c8-bf09-538f-ee11841199d3}">
          <p14:sldIdLst>
            <p14:sldId id="269"/>
          </p14:sldIdLst>
        </p14:section>
        <p14:section name="보충" id="{b6c571be-2d47-8a62-ce96-35d861a4776e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알리고, 비가 온 뒤 땅의 모습을 떠올려 궁금증을 갖게 합니다.
시간: 약 2분
이렇게 말해 보세요
- “비가 많이 온 다음 날 운동장이나 화단을 본 적 있어? 흙이 어떻게 되어 있었어?”
- “오늘은 쟁반에 흙 언덕을 만들고 물을 흘려 보내서, 흐르는 물이 땅을 어떻게 바꾸는지 직접 볼 거야.”
예상 답
- “물웅덩이가 생겼어요.” “흙탕물이 흘렀어요.” 어떤 답이든 괜찮습니다. 답을 확인하지 않고 넘어갑니다.
막히면
- “비 온 뒤 놀이터 미끄럼틀 아래나 화단 옆 길에 무엇이 생겼을까?”처럼 아이가 자주 가는 곳을 떠올리게 합니다.
주의
- 실험(S04)은 밖(마당·놀이터 수돗가·베란다 배수구 옆)이나 욕조 안에서 합니다. 콘센트·전기 제품이 있는 곳에서는 물을 쓰지 않습니다.
- 흙 언덕은 수업 전에 미리 쌓아 두면 시간이 절약됩니다. 흙이 너무 마르면 물을 조금 뿌려 촉촉하게 다집니다. 욕조에서 할 때는 배수구에 거름망을 대고, 흙탕물은 대야에 받아 화단에 버립니다.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확인(지구 표면의 모습, 물이 흐르는 방향)]
목적: 계획상 선수 차시인 초3 ‘지구의 표면과 바다’(KR22-G03-SCI-EARTHSEA-L01)에서 배운 지구 표면의 모습(산·들·강·바다)과, 물이 높은 곳에서 낮은 곳으로 흐른다는 경험을 확인합니다.
시간: 약 2분
이렇게 말해 보세요
- “① 지구 표면에서 볼 수 있는 모습을 세 가지 말해 볼래? 산 말고 또 뭐가 있었지?”
- “② 강물은 높은 곳에서 낮은 곳으로 흐를까, 낮은 곳에서 높은 곳으로 흐를까?”
정답
- ① 기준: 산, 들, 강, 호수, 바다, 섬 가운데 세 가지면 맞음
- ② 높은 곳에서 낮은 곳으로 흐른다
막히면
- ①이 어려우면 S15(보충)를 먼저 합니다. 보충으로도 어려우면 초3 ‘지구의 표면과 바다’(KR22-G03-SCI-EARTHSEA-L01)를 먼저 합니다.
- ②는 쟁반을 조금 기울이고 물을 한 숟가락 떨어뜨려 어느 쪽으로 흐르는지 보여 줍니다.
주의
- ②는 오늘 실험에서 물이 흐르는 방향(위쪽 → 아래쪽)을 알아보는 데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실험 전 예상하기]
목적: 물을 흘려 보내기 전에 결과를 예상하고 까닭을 말합니다(목표 A). 결과는 S04에서 직접 확인합니다.
시간: 약 2분
이렇게 말해 보세요
- “흙 언덕 꼭대기에 물을 부으면 위쪽 흙은 어떻게 될까? 꼭대기에 뿌린 색모래는 어디로 갈까?”
- “왜 그렇게 생각해? 예상은 활동지 1의 ‘내 예상’ 칸에 짧게 써 줘.”
예상 답
- 어떤 예상이든 괜찮습니다. “흙이 젖기만 할 것 같아요.” “색모래가 물에 녹을 것 같아요.” “아래쪽에 물이 고일 것 같아요.”
막히면
- 쓰기가 느리면 아이가 말하고 부모가 받아 적습니다.
주의
- 결과를 알려 주지 않습니다. 특히 ‘흙이 쌓인다’는 말은 실험 뒤에 아이가 직접 찾게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흙 언덕에 물 흘려 보내기]
목적: 흙 언덕에 물을 흘려 보내며 흙이 깎이고, 옮겨지고, 쌓이는 모습을 관찰해 기록합니다(목표 A, 오해 M1).
시간: 약 7분
이렇게 말해 보세요
- “쟁반 한쪽을 받쳐서 비탈을 만들고, 높은 쪽에 흙 언덕을 쌓자. 꼭대기에 색모래를 조금 뿌려 볼까?”
- “이제 물을 천천히 부어 보자. 물이 어디로 흘러? 흙은 어떻게 돼?”
- “다 붓고 나서 언덕 위쪽, 색모래, 쟁반 아래쪽을 차례로 살펴보자.”
예상 답
- “위쪽에 물길이 생기고 흙이 파였어요.” “색모래가 아래쪽으로 내려갔어요.” “쟁반 아래쪽에 흙이 쌓였어요.” “흙탕물이 흘렀어요.”
막히면
- 물을 한꺼번에 쏟으면 언덕이 무너져 버립니다. 페트병 뚜껑의 작은 구멍으로 비처럼 뿌리거나, 컵으로 조금씩 여러 번 붓습니다.
- 변화가 잘 보이지 않으면 물을 두세 번 더 붓고, 손가락으로 파인 곳과 쌓인 곳을 짚게 합니다.
주의
- 콘센트·멀티탭·전기 제품이 있는 곳에서는 하지 않습니다. 밖이나 욕조 안에서 하고, 흘린 물은 바로 닦습니다.
- 흘러내린 흙탕물을 투명한 컵에 조금 받아 두면, 수업 끝 무렵 흙이 바닥에 가라앉은 것을 볼 수 있습니다(S07에서 씁니다).
- 흙 언덕이 마르면 깎이는 모습이 덜 보일 수 있습니다. 결과가 예상과 달라도 본 대로 기록하게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관찰 결과 정리]
목적: 관찰 결과를 정리하고 예상과 비교합니다(목표 A).
시간: 약 3분
이렇게 말해 보세요
- “한 줄씩 말해 줄래? 언덕 위쪽은 어떻게 됐어? 색모래는 어디서 보였어?”
- “흙은 어디에서 어디로 갔을까? 예상과 같은 것, 다른 것은 뭐야?”
예상 답
- 언덕 위쪽: 흙이 파이고 물길이 생김 / 색모래: 아래쪽으로 내려가 흩어짐 / 쟁반 아래쪽: 흙과 모래가 쌓임 / 물의 색: 흙탕물(흐린 갈색)
- “흙이 위쪽에서 아래쪽으로 옮겨 갔어요.”
막히면
- 실제 쟁반을 다시 보며 손가락으로 파인 곳, 쌓인 곳을 짚게 합니다.
주의
- 화면의 빈칸은 아이가 말로 채우는 자리입니다. 결과가 예상과 달라도 예상 칸을 고치지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결과로 설명하기(침식·운반·퇴적)]
목적: 실험 결과를 증거로 흐르는 물의 세 가지 작용(침식·운반·퇴적)을 정리합니다(목표 A, 오해 M2).
시간: 약 3분
이렇게 말해 보세요
- “언덕 위쪽의 흙이 파였지? 흐르는 물이 땅을 깎는 것을 ‘침식’이라고 해.”
- “깎인 흙과 색모래는 물에 실려 아래로 갔지? 이것이 ‘운반’이야. 아래쪽에 흙이 쌓인 것은 ‘퇴적’이라고 해.”
- “진짜 산이나 강에서도 이런 일이 일어날까? 얼마나 오래 걸릴까?”
예상 답
- “네, 비가 오면 일어나요.” “아주 오래 걸릴 것 같아요.”
막히면
- 낱말이 어려우면 ‘깎는 일, 옮기는 일, 쌓는 일’로 먼저 말하고, 카드의 낱말을 하나씩 짝지어 읽게 합니다.
주의
- 실제 땅은 모형보다 훨씬 단단하고 넓어서, 모양이 바뀌는 데 아주 오랜 시간이 걸립니다. 큰비가 내릴 때는 짧은 시간에 많이 깎이기도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오해 비교(흙이 녹아 없어졌다)]
목적: ‘흙이 물에 녹아 없어졌다’는 생각을 관찰 결과로 바로잡습니다(목표 A, 오해 M1).
시간: 약 2분
이렇게 말해 보세요
- “토끼는 흙이 녹아 없어졌대. 곰은 아래쪽으로 옮겨 갔대. 누구 말이 맞을까?”
- “쟁반 아래쪽에서 무엇을 봤지? 꼭대기에 뿌린 색모래는 어디서 찾았어?”
정답
- 곰. 증거: 쟁반 아래쪽에 흙이 쌓였고, 꼭대기에 뿌린 색모래가 아래쪽에서 보였습니다.
- 또 다른 증거: 흙탕물을 컵에 받아 두면 흙이 바닥에 가라앉습니다(녹은 것이 아니라 물에 섞여 실려 간 것).
막히면
- S04에서 받아 둔 흙탕물 컵을 보여 줍니다. 바닥에 가라앉은 흙을 손가락으로 가리키게 합니다.
주의
- 증거를 하나 이상 말하면 잘한 것입니다.
- 지치면 여기서 쉬고, 다음에 S08부터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강의 상류와 하류]
목적: 강의 상류와 하류가 어디인지 알고, 흙 언덕 모형과 이어 봅니다(목표 B).
시간: 약 2분
이렇게 말해 보세요
- “강은 산에서 시작해서 바다로 흘러가. 산 가까운 곳을 ‘상류’, 바다 가까운 곳을 ‘하류’라고 해.”
- “그림에서 강폭은 어디가 좁고 어디가 넓어? 우리 흙 언덕에서 상류와 닮은 곳은 어디일까?”
예상 답
- “상류는 좁고 하류는 넓어요.” “언덕 위쪽이 상류 같아요. 경사가 급하고 흙이 깎였어요.”
막히면
- 쟁반을 다시 보며 ‘물이 시작한 곳 = 상류, 물이 도착한 곳 = 하류’로 짚어 줍니다.
주의
- 교과서에 따라 상류와 하류 사이를 ‘중류’라고 부르기도 합니다. 아이가 물으면 알려 주되, 오늘은 상류와 하류를 비교합니다.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상류와 하류 비교]
목적: 상류와 하류를 강폭·경사·돌·많이 일어나는 작용으로 비교합니다(목표 B, 오해 M3).
시간: 약 3분
이렇게 말해 보세요
- “상류는 경사가 급해서 물이 빠르게 흘러. 그래서 땅을 깎는 일이 많이 일어나. 하류는 어떨까?”
- “하류의 돌은 왜 작고 둥글까? 상류에서 떠내려오는 동안 무슨 일이 있었을까?”
예상 답
- “하류는 경사가 완만해서 물이 천천히 흐르고, 흙과 모래가 쌓여요.” “돌끼리 부딪치고 깎여서 둥글어졌어요.”
막히면
- 표의 한 줄만 손가락으로 가리고 ‘상류는 ○○, 하류는 ○○’로 읽게 합니다.
- 돌이 둥글어지는 것은 각이 진 각설탕 몇 개를 뚜껑 있는 통에 넣고 흔들면 모서리가 닳는 것으로 보여 줄 수 있습니다(먹지 않게 합니다).
주의
- 강가에 실제로 가 보면 상류에도 모래가, 하류에도 돌이 있습니다. ‘더 많다’는 뜻으로 이야기합니다.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상류·하류 구별하기]
목적: 도움을 받으며 설명을 읽고 상류와 하류를 구별합니다(목표 B).
시간: 약 3분
이렇게 말해 보세요
- “①부터 차례로 말해 볼래? 어떤 낱말을 보고 알았어?”
정답
- ① 상류(크고 모난 바위, 빠른 물살)
- ② 하류(넓은 강폭, 쌓인 모래)
- ③ 상류(산골짜기, 깎는 일)
- ④ 하류(바다와 가까움, 둥근 자갈)
막히면
- S09의 표를 다시 보여 주고, 문장에서 표에 있는 낱말(넓어요, 모가 나요, 깎아요 등)을 찾게 합니다.
주의
- 단서 낱말에 밑줄을 긋듯 손가락으로 짚으며 말하면 칭찬합니다.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해결]
목적: 도움 없이 흐르는 물의 작용(①②)과 상류·하류의 차이(③)를 말하는지 확인합니다(목표 A·B).
시간: 약 3분
이렇게 말해 보세요
- “이번에는 혼자 답해 볼래? 왜 그렇게 생각했는지도 말해 줘.”
정답
- ① 흐르는 물이 땅(흙)을 깎아서(침식) 물에 실어 옮기기(운반) 때문
- ② 퇴적
- ③ 기준: 강폭(상류 좁음 / 하류 넓음), 경사(급함 / 완만함), 돌(크고 모남 / 작고 둥긂), 많이 일어나는 일(침식 / 퇴적) 가운데 하나를 두 곳 모두 바르게 말하면 맞음
막히면
- 바로 알려 주지 말고 “흙 언덕 실험에서 흙은 어떻게 됐지?”, “S09 표에서 어느 줄을 보면 될까?”라고만 묻습니다.
- 도움을 받아 해결했다면 기록표에 ‘도움’으로 표시합니다.
주의
- ①에서 ‘흙이 녹아서’라고 하면 오해 M1입니다. S07을 다시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함께 확인하고 흔한 실수를 바로잡습니다. 수업용에만 있는 장입니다.
시간: 약 2분
이렇게 말해 보세요
- “네 답과 같은지 볼까? 다르면 어디서 달라졌는지 찾아보자.”
정답
- ① 흐르는 물이 흙을 깎아 옮기기 때문(침식·운반) ② 퇴적 ③ 예) 상류는 강폭이 좁고 하류는 넓다
막히면
- ①②가 틀리면 S06·S07로(M1), ③이 틀리면 S09로(M3)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확인(하류의 돌)]
목적: 처음 보는 그림에서 하류의 돌을 고르고 까닭을 말하는지 확인합니다(목표 B, 오해 M3).
시간: 약 2분
이렇게 말해 보세요
- “가와 나 중 하류에서 많이 볼 수 있는 돌은 어느 쪽일까? 왜 그렇게 생각해?”
정답
- 나. 돌이 물에 실려 오랫동안 옮겨지는 동안 서로 부딪치고 깎여 작고 둥글어지기 때문입니다. 가(크고 모난 돌)는 상류에 많습니다.
막히면
- S09 표의 ‘돌’ 줄을 다시 보여 줍니다.
주의
- 답만 맞히고 까닭을 말하지 못하면 기록표에 ‘답만’으로 적습니다.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문제를 알려 줍니다.
시간: 약 1분
이렇게 말해 보세요
- “비가 많이 오면 흙은 어디로 가는지, 이제 설명해 볼래?”
예상 답
- “흐르는 물이 흙을 깎아서 낮은 곳으로 옮기고, 거기에 쌓여요.”
정답
- ① 침식 ② 하류 ③ 물에 실려 옮겨지는 동안 서로 부딪치고 깎여서
막히면
- S06과 S09를 다시 보여 줍니다.
주의
- 복습 세 문제는 다음 수업을 시작할 때 활동지 마지막 쪽과 함께 풉니다.
- 다음 시간에는 여러 날 동안 저녁에 달을 관찰합니다. 달력에서 음력 날짜를 확인해 두면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보충(지구 표면의 모습)]
목적: S02가 흔들리면, 지구 표면의 모습과 물이 높은 곳에서 낮은 곳으로 흐른다는 것을 먼저 익힙니다.
시간: 약 4분
이렇게 말해 보세요
- “카드를 하나씩 읽어 볼까? 우리 동네에서 볼 수 있는 것은 무엇이야?”
- “강물은 산에서 시작해서 어디로 흘러갈까?”
예상 답
- “산이랑 강이 있어요.” “바다로 가요.”
막히면
- 쟁반을 기울이고 물을 조금 부어, 높은 쪽에서 낮은 쪽으로 흐르는 것을 보여 줍니다. 지도나 지구본이 있으면 강이 바다로 이어지는 곳을 함께 찾습니다.
주의
- 계획상 선수 차시는 초3 ‘지구의 표면과 바다’(KR22-G03-SCI-EARTHSEA-L01)입니다. 보충으로도 어려우면 그 차시(특히 S03 ‘지구 표면의 여러 모습’)를 먼저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과학 · 땅과밤하늘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과학 · 흐르는 물과 땅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과학 · 흐르는 물과 땅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과학 · 흐르는 물과 땅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흐르는 물과 땅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비가 많이 오면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흙은 어디로 갈까?</a:t>
            </a:r>
            <a:endParaRPr lang="ko-KR" sz="30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받침으로 한쪽을 높인 쟁반 위쪽에 흙 언덕이 있고, 구멍 낸 페트병으로 언덕 꼭대기에 물을 뿌리는 모습"/>
          <p:cNvSpPr/>
          <p:nvPr/>
        </p:nvSpPr>
        <p:spPr>
          <a:xfrm>
            <a:off x="8057653" y="2702151"/>
            <a:ext cx="407504" cy="419729"/>
          </a:xfrm>
          <a:custGeom>
            <a:avLst/>
            <a:gdLst/>
            <a:ahLst/>
            <a:cxnLst/>
            <a:rect l="l" t="t" r="r" b="b"/>
            <a:pathLst>
              <a:path w="407504" h="419729">
                <a:moveTo>
                  <a:pt x="0" y="419729"/>
                </a:moveTo>
                <a:lnTo>
                  <a:pt x="407504" y="419729"/>
                </a:lnTo>
                <a:lnTo>
                  <a:pt x="407504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7996527" y="2388373"/>
            <a:ext cx="3300785" cy="733508"/>
          </a:xfrm>
          <a:custGeom>
            <a:avLst/>
            <a:gdLst/>
            <a:ahLst/>
            <a:cxnLst/>
            <a:rect l="l" t="t" r="r" b="b"/>
            <a:pathLst>
              <a:path w="3300785" h="733508">
                <a:moveTo>
                  <a:pt x="0" y="0"/>
                </a:moveTo>
                <a:lnTo>
                  <a:pt x="20375" y="244503"/>
                </a:lnTo>
                <a:lnTo>
                  <a:pt x="3280410" y="733508"/>
                </a:lnTo>
                <a:lnTo>
                  <a:pt x="3300785" y="489005"/>
                </a:lnTo>
              </a:path>
            </a:pathLst>
          </a:cu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8037278" y="1960493"/>
            <a:ext cx="1854145" cy="953560"/>
          </a:xfrm>
          <a:custGeom>
            <a:avLst/>
            <a:gdLst/>
            <a:ahLst/>
            <a:cxnLst/>
            <a:rect l="l" t="t" r="r" b="b"/>
            <a:pathLst>
              <a:path w="1854145" h="953560">
                <a:moveTo>
                  <a:pt x="0" y="676457"/>
                </a:moveTo>
                <a:lnTo>
                  <a:pt x="0" y="20375"/>
                </a:lnTo>
                <a:lnTo>
                  <a:pt x="346379" y="0"/>
                </a:lnTo>
                <a:lnTo>
                  <a:pt x="713133" y="142627"/>
                </a:lnTo>
                <a:lnTo>
                  <a:pt x="1283639" y="529756"/>
                </a:lnTo>
                <a:lnTo>
                  <a:pt x="1854145" y="953560"/>
                </a:lnTo>
                <a:close/>
              </a:path>
            </a:pathLst>
          </a:custGeom>
          <a:solidFill>
            <a:srgbClr val="C8A27A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>
            <a:off x="8118779" y="1084359"/>
            <a:ext cx="285253" cy="509380"/>
          </a:xfrm>
          <a:custGeom>
            <a:avLst/>
            <a:gdLst/>
            <a:ahLst/>
            <a:cxnLst/>
            <a:rect l="l" t="t" r="r" b="b"/>
            <a:pathLst>
              <a:path w="285253" h="509380">
                <a:moveTo>
                  <a:pt x="0" y="509380"/>
                </a:moveTo>
                <a:lnTo>
                  <a:pt x="285253" y="509380"/>
                </a:lnTo>
                <a:lnTo>
                  <a:pt x="285253" y="0"/>
                </a:lnTo>
                <a:lnTo>
                  <a:pt x="0" y="0"/>
                </a:lnTo>
                <a:close/>
              </a:path>
            </a:pathLst>
          </a:custGeom>
          <a:solidFill>
            <a:srgbClr val="E6F2F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>
            <a:off x="8118779" y="1593740"/>
            <a:ext cx="285253" cy="122251"/>
          </a:xfrm>
          <a:custGeom>
            <a:avLst/>
            <a:gdLst/>
            <a:ahLst/>
            <a:cxnLst/>
            <a:rect l="l" t="t" r="r" b="b"/>
            <a:pathLst>
              <a:path w="285253" h="122251">
                <a:moveTo>
                  <a:pt x="0" y="0"/>
                </a:moveTo>
                <a:lnTo>
                  <a:pt x="285253" y="0"/>
                </a:lnTo>
                <a:lnTo>
                  <a:pt x="203752" y="122251"/>
                </a:lnTo>
                <a:lnTo>
                  <a:pt x="81501" y="122251"/>
                </a:lnTo>
                <a:close/>
              </a:path>
            </a:pathLst>
          </a:custGeom>
          <a:solidFill>
            <a:srgbClr val="E6F2F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>
            <a:off x="8086178" y="1923818"/>
            <a:ext cx="65201" cy="65201"/>
          </a:xfrm>
          <a:prstGeom prst="ellipse">
            <a:avLst/>
          </a:prstGeom>
          <a:solidFill>
            <a:srgbClr val="E9762B"/>
          </a:solidFill>
          <a:ln w="6350">
            <a:solidFill>
              <a:srgbClr val="E9762B"/>
            </a:solidFill>
            <a:prstDash val="solid"/>
          </a:ln>
        </p:spPr>
      </p:sp>
      <p:sp>
        <p:nvSpPr>
          <p:cNvPr id="11" name="S01-mark8"/>
          <p:cNvSpPr/>
          <p:nvPr/>
        </p:nvSpPr>
        <p:spPr>
          <a:xfrm>
            <a:off x="8167679" y="1915668"/>
            <a:ext cx="65201" cy="65201"/>
          </a:xfrm>
          <a:prstGeom prst="ellipse">
            <a:avLst/>
          </a:prstGeom>
          <a:solidFill>
            <a:srgbClr val="E9762B"/>
          </a:solidFill>
          <a:ln w="6350">
            <a:solidFill>
              <a:srgbClr val="E9762B"/>
            </a:solidFill>
            <a:prstDash val="solid"/>
          </a:ln>
        </p:spPr>
      </p:sp>
      <p:sp>
        <p:nvSpPr>
          <p:cNvPr id="12" name="S01-mark9"/>
          <p:cNvSpPr/>
          <p:nvPr/>
        </p:nvSpPr>
        <p:spPr>
          <a:xfrm>
            <a:off x="8249180" y="1907518"/>
            <a:ext cx="65201" cy="65201"/>
          </a:xfrm>
          <a:prstGeom prst="ellipse">
            <a:avLst/>
          </a:prstGeom>
          <a:solidFill>
            <a:srgbClr val="E9762B"/>
          </a:solidFill>
          <a:ln w="6350">
            <a:solidFill>
              <a:srgbClr val="E9762B"/>
            </a:solidFill>
            <a:prstDash val="solid"/>
          </a:ln>
        </p:spPr>
      </p:sp>
      <p:sp>
        <p:nvSpPr>
          <p:cNvPr id="13" name="S01-mark10"/>
          <p:cNvSpPr/>
          <p:nvPr/>
        </p:nvSpPr>
        <p:spPr>
          <a:xfrm>
            <a:off x="8330681" y="1907518"/>
            <a:ext cx="65201" cy="65201"/>
          </a:xfrm>
          <a:prstGeom prst="ellipse">
            <a:avLst/>
          </a:prstGeom>
          <a:solidFill>
            <a:srgbClr val="E9762B"/>
          </a:solidFill>
          <a:ln w="6350">
            <a:solidFill>
              <a:srgbClr val="E9762B"/>
            </a:solidFill>
            <a:prstDash val="solid"/>
          </a:ln>
        </p:spPr>
      </p:sp>
      <p:sp>
        <p:nvSpPr>
          <p:cNvPr id="14" name="S01-mark11"/>
          <p:cNvSpPr/>
          <p:nvPr/>
        </p:nvSpPr>
        <p:spPr>
          <a:xfrm>
            <a:off x="8126929" y="1972719"/>
            <a:ext cx="65201" cy="65201"/>
          </a:xfrm>
          <a:prstGeom prst="ellipse">
            <a:avLst/>
          </a:prstGeom>
          <a:solidFill>
            <a:srgbClr val="E9762B"/>
          </a:solidFill>
          <a:ln w="6350">
            <a:solidFill>
              <a:srgbClr val="E9762B"/>
            </a:solidFill>
            <a:prstDash val="solid"/>
          </a:ln>
        </p:spPr>
      </p:sp>
      <p:sp>
        <p:nvSpPr>
          <p:cNvPr id="15" name="S01-mark12"/>
          <p:cNvSpPr/>
          <p:nvPr/>
        </p:nvSpPr>
        <p:spPr>
          <a:xfrm>
            <a:off x="8228805" y="1964569"/>
            <a:ext cx="65201" cy="65201"/>
          </a:xfrm>
          <a:prstGeom prst="ellipse">
            <a:avLst/>
          </a:prstGeom>
          <a:solidFill>
            <a:srgbClr val="E9762B"/>
          </a:solidFill>
          <a:ln w="6350">
            <a:solidFill>
              <a:srgbClr val="E9762B"/>
            </a:solidFill>
            <a:prstDash val="solid"/>
          </a:ln>
        </p:spPr>
      </p:sp>
      <p:sp>
        <p:nvSpPr>
          <p:cNvPr id="16" name="S01-mark13"/>
          <p:cNvSpPr/>
          <p:nvPr/>
        </p:nvSpPr>
        <p:spPr>
          <a:xfrm>
            <a:off x="7772400" y="3121881"/>
            <a:ext cx="37490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7" name="S01-mark14"/>
          <p:cNvSpPr/>
          <p:nvPr/>
        </p:nvSpPr>
        <p:spPr>
          <a:xfrm>
            <a:off x="8220655" y="1756741"/>
            <a:ext cx="0" cy="142627"/>
          </a:xfrm>
          <a:prstGeom prst="line">
            <a:avLst/>
          </a:prstGeom>
          <a:noFill/>
          <a:ln w="25400">
            <a:solidFill>
              <a:srgbClr val="3D5A80"/>
            </a:solidFill>
            <a:prstDash val="dash"/>
          </a:ln>
        </p:spPr>
      </p:sp>
      <p:sp>
        <p:nvSpPr>
          <p:cNvPr id="18" name="S01-mark15"/>
          <p:cNvSpPr/>
          <p:nvPr/>
        </p:nvSpPr>
        <p:spPr>
          <a:xfrm>
            <a:off x="8302156" y="1756741"/>
            <a:ext cx="0" cy="142627"/>
          </a:xfrm>
          <a:prstGeom prst="line">
            <a:avLst/>
          </a:prstGeom>
          <a:noFill/>
          <a:ln w="25400">
            <a:solidFill>
              <a:srgbClr val="3D5A80"/>
            </a:solidFill>
            <a:prstDash val="dash"/>
          </a:ln>
        </p:spPr>
      </p:sp>
      <p:sp>
        <p:nvSpPr>
          <p:cNvPr id="19" name="S01-mark16"/>
          <p:cNvSpPr/>
          <p:nvPr/>
        </p:nvSpPr>
        <p:spPr>
          <a:xfrm>
            <a:off x="8811536" y="1980869"/>
            <a:ext cx="713133" cy="480855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0" name="S01-card17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21" name="S01-cardtext18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흐르는 물이 땅을 어떻게 바꾸는지 관찰해요.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강의 상류와 하류를 비교해요.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3학년 기억하기</a:t>
            </a:r>
            <a:endParaRPr lang="ko-KR" sz="4000" dirty="0"/>
          </a:p>
        </p:txBody>
      </p:sp>
      <p:sp>
        <p:nvSpPr>
          <p:cNvPr id="3" name="S02-chip19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text20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 표면에서 볼 수 있는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모습을 세 가지 말해요.</a:t>
            </a:r>
            <a:endParaRPr lang="ko-KR" sz="3000" dirty="0"/>
          </a:p>
        </p:txBody>
      </p:sp>
      <p:sp>
        <p:nvSpPr>
          <p:cNvPr id="5" name="S02-chip21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text22"/>
          <p:cNvSpPr txBox="1"/>
          <p:nvPr/>
        </p:nvSpPr>
        <p:spPr>
          <a:xfrm>
            <a:off x="1344168" y="38633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강물은 높은 곳과 낮은 곳 중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쪽으로 흐를까요?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예상해 봐요</a:t>
            </a:r>
            <a:endParaRPr lang="ko-KR" sz="4000" dirty="0"/>
          </a:p>
        </p:txBody>
      </p:sp>
      <p:sp>
        <p:nvSpPr>
          <p:cNvPr id="3" name="S03-text2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흙 언덕 꼭대기에 물을 부으면 어떻게 될까요?</a:t>
            </a:r>
            <a:endParaRPr lang="ko-KR" sz="3000" dirty="0"/>
          </a:p>
        </p:txBody>
      </p:sp>
      <p:sp>
        <p:nvSpPr>
          <p:cNvPr id="4" name="S03-card2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2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1에 써요.</a:t>
            </a:r>
            <a:endParaRPr lang="ko-KR" sz="3000" dirty="0"/>
          </a:p>
        </p:txBody>
      </p:sp>
      <p:graphicFrame>
        <p:nvGraphicFramePr>
          <p:cNvPr id="4" name="S03-table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602992"/>
          <a:ext cx="10058400" cy="914400"/>
        </p:xfrm>
        <a:graphic>
          <a:graphicData uri="http://schemas.openxmlformats.org/drawingml/2006/table">
            <a:tbl>
              <a:tblPr/>
              <a:tblGrid>
                <a:gridCol w="6035040"/>
                <a:gridCol w="4023360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궁금한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위쪽 흙은 어떻게 될까?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색모래는 어디로 갈까?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쟁반 아래쪽에는 무엇이 생길까?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흙 언덕에 물을 흘려요</a:t>
            </a:r>
            <a:endParaRPr lang="ko-KR" sz="4000" dirty="0"/>
          </a:p>
        </p:txBody>
      </p:sp>
      <p:sp>
        <p:nvSpPr>
          <p:cNvPr id="3" name="S04-card27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8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밖이나 욕조에서만 해요. 전기 제품 옆에서는 물을 쓰지 않아요.</a:t>
            </a:r>
            <a:endParaRPr lang="ko-KR" sz="3000" dirty="0"/>
          </a:p>
        </p:txBody>
      </p:sp>
      <p:sp>
        <p:nvSpPr>
          <p:cNvPr id="5" name="S04-figure29" descr="실험 장치 옆모습: 받침으로 한쪽을 높인 쟁반, 위쪽의 흙 언덕과 꼭대기의 색모래, 페트병에서 떨어지는 물과 비탈을 따라 흐르는 물의 방향 화살표"/>
          <p:cNvSpPr/>
          <p:nvPr/>
        </p:nvSpPr>
        <p:spPr>
          <a:xfrm>
            <a:off x="8210626" y="2451918"/>
            <a:ext cx="260604" cy="268422"/>
          </a:xfrm>
          <a:custGeom>
            <a:avLst/>
            <a:gdLst/>
            <a:ahLst/>
            <a:cxnLst/>
            <a:rect l="l" t="t" r="r" b="b"/>
            <a:pathLst>
              <a:path w="260604" h="268422">
                <a:moveTo>
                  <a:pt x="0" y="268422"/>
                </a:moveTo>
                <a:lnTo>
                  <a:pt x="260604" y="268422"/>
                </a:lnTo>
                <a:lnTo>
                  <a:pt x="260604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4-mark30"/>
          <p:cNvSpPr/>
          <p:nvPr/>
        </p:nvSpPr>
        <p:spPr>
          <a:xfrm>
            <a:off x="8171536" y="2251253"/>
            <a:ext cx="2110892" cy="469087"/>
          </a:xfrm>
          <a:custGeom>
            <a:avLst/>
            <a:gdLst/>
            <a:ahLst/>
            <a:cxnLst/>
            <a:rect l="l" t="t" r="r" b="b"/>
            <a:pathLst>
              <a:path w="2110892" h="469087">
                <a:moveTo>
                  <a:pt x="0" y="0"/>
                </a:moveTo>
                <a:lnTo>
                  <a:pt x="13030" y="156362"/>
                </a:lnTo>
                <a:lnTo>
                  <a:pt x="2097862" y="469087"/>
                </a:lnTo>
                <a:lnTo>
                  <a:pt x="2110892" y="312725"/>
                </a:lnTo>
              </a:path>
            </a:pathLst>
          </a:cu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7" name="S04-mark31"/>
          <p:cNvSpPr/>
          <p:nvPr/>
        </p:nvSpPr>
        <p:spPr>
          <a:xfrm>
            <a:off x="8197596" y="1977619"/>
            <a:ext cx="1185748" cy="609813"/>
          </a:xfrm>
          <a:custGeom>
            <a:avLst/>
            <a:gdLst/>
            <a:ahLst/>
            <a:cxnLst/>
            <a:rect l="l" t="t" r="r" b="b"/>
            <a:pathLst>
              <a:path w="1185748" h="609813">
                <a:moveTo>
                  <a:pt x="0" y="432603"/>
                </a:moveTo>
                <a:lnTo>
                  <a:pt x="0" y="13030"/>
                </a:lnTo>
                <a:lnTo>
                  <a:pt x="221513" y="0"/>
                </a:lnTo>
                <a:lnTo>
                  <a:pt x="456057" y="91211"/>
                </a:lnTo>
                <a:lnTo>
                  <a:pt x="820903" y="338785"/>
                </a:lnTo>
                <a:lnTo>
                  <a:pt x="1185748" y="609813"/>
                </a:lnTo>
                <a:close/>
              </a:path>
            </a:pathLst>
          </a:custGeom>
          <a:solidFill>
            <a:srgbClr val="C8A27A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4-mark32"/>
          <p:cNvSpPr/>
          <p:nvPr/>
        </p:nvSpPr>
        <p:spPr>
          <a:xfrm>
            <a:off x="8249717" y="1417320"/>
            <a:ext cx="182423" cy="325755"/>
          </a:xfrm>
          <a:custGeom>
            <a:avLst/>
            <a:gdLst/>
            <a:ahLst/>
            <a:cxnLst/>
            <a:rect l="l" t="t" r="r" b="b"/>
            <a:pathLst>
              <a:path w="182423" h="325755">
                <a:moveTo>
                  <a:pt x="0" y="325755"/>
                </a:moveTo>
                <a:lnTo>
                  <a:pt x="182423" y="325755"/>
                </a:lnTo>
                <a:lnTo>
                  <a:pt x="182423" y="0"/>
                </a:lnTo>
                <a:lnTo>
                  <a:pt x="0" y="0"/>
                </a:lnTo>
                <a:close/>
              </a:path>
            </a:pathLst>
          </a:custGeom>
          <a:solidFill>
            <a:srgbClr val="E6F2F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4-mark33"/>
          <p:cNvSpPr/>
          <p:nvPr/>
        </p:nvSpPr>
        <p:spPr>
          <a:xfrm>
            <a:off x="8249717" y="1743075"/>
            <a:ext cx="182423" cy="78181"/>
          </a:xfrm>
          <a:custGeom>
            <a:avLst/>
            <a:gdLst/>
            <a:ahLst/>
            <a:cxnLst/>
            <a:rect l="l" t="t" r="r" b="b"/>
            <a:pathLst>
              <a:path w="182423" h="78181">
                <a:moveTo>
                  <a:pt x="0" y="0"/>
                </a:moveTo>
                <a:lnTo>
                  <a:pt x="182423" y="0"/>
                </a:lnTo>
                <a:lnTo>
                  <a:pt x="130302" y="78181"/>
                </a:lnTo>
                <a:lnTo>
                  <a:pt x="52121" y="78181"/>
                </a:lnTo>
                <a:close/>
              </a:path>
            </a:pathLst>
          </a:custGeom>
          <a:solidFill>
            <a:srgbClr val="E6F2F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4-mark34"/>
          <p:cNvSpPr/>
          <p:nvPr/>
        </p:nvSpPr>
        <p:spPr>
          <a:xfrm>
            <a:off x="8228868" y="1954164"/>
            <a:ext cx="41697" cy="41697"/>
          </a:xfrm>
          <a:prstGeom prst="ellipse">
            <a:avLst/>
          </a:prstGeom>
          <a:solidFill>
            <a:srgbClr val="E9762B"/>
          </a:solidFill>
          <a:ln w="6350">
            <a:solidFill>
              <a:srgbClr val="E9762B"/>
            </a:solidFill>
            <a:prstDash val="solid"/>
          </a:ln>
        </p:spPr>
      </p:sp>
      <p:sp>
        <p:nvSpPr>
          <p:cNvPr id="11" name="S04-mark35"/>
          <p:cNvSpPr/>
          <p:nvPr/>
        </p:nvSpPr>
        <p:spPr>
          <a:xfrm>
            <a:off x="8280989" y="1948952"/>
            <a:ext cx="41697" cy="41697"/>
          </a:xfrm>
          <a:prstGeom prst="ellipse">
            <a:avLst/>
          </a:prstGeom>
          <a:solidFill>
            <a:srgbClr val="E9762B"/>
          </a:solidFill>
          <a:ln w="6350">
            <a:solidFill>
              <a:srgbClr val="E9762B"/>
            </a:solidFill>
            <a:prstDash val="solid"/>
          </a:ln>
        </p:spPr>
      </p:sp>
      <p:sp>
        <p:nvSpPr>
          <p:cNvPr id="12" name="S04-mark36"/>
          <p:cNvSpPr/>
          <p:nvPr/>
        </p:nvSpPr>
        <p:spPr>
          <a:xfrm>
            <a:off x="8333110" y="1943740"/>
            <a:ext cx="41697" cy="41697"/>
          </a:xfrm>
          <a:prstGeom prst="ellipse">
            <a:avLst/>
          </a:prstGeom>
          <a:solidFill>
            <a:srgbClr val="E9762B"/>
          </a:solidFill>
          <a:ln w="6350">
            <a:solidFill>
              <a:srgbClr val="E9762B"/>
            </a:solidFill>
            <a:prstDash val="solid"/>
          </a:ln>
        </p:spPr>
      </p:sp>
      <p:sp>
        <p:nvSpPr>
          <p:cNvPr id="13" name="S04-mark37"/>
          <p:cNvSpPr/>
          <p:nvPr/>
        </p:nvSpPr>
        <p:spPr>
          <a:xfrm>
            <a:off x="8385231" y="1943740"/>
            <a:ext cx="41697" cy="41697"/>
          </a:xfrm>
          <a:prstGeom prst="ellipse">
            <a:avLst/>
          </a:prstGeom>
          <a:solidFill>
            <a:srgbClr val="E9762B"/>
          </a:solidFill>
          <a:ln w="6350">
            <a:solidFill>
              <a:srgbClr val="E9762B"/>
            </a:solidFill>
            <a:prstDash val="solid"/>
          </a:ln>
        </p:spPr>
      </p:sp>
      <p:sp>
        <p:nvSpPr>
          <p:cNvPr id="14" name="S04-mark38"/>
          <p:cNvSpPr/>
          <p:nvPr/>
        </p:nvSpPr>
        <p:spPr>
          <a:xfrm>
            <a:off x="8254929" y="1985437"/>
            <a:ext cx="41697" cy="41697"/>
          </a:xfrm>
          <a:prstGeom prst="ellipse">
            <a:avLst/>
          </a:prstGeom>
          <a:solidFill>
            <a:srgbClr val="E9762B"/>
          </a:solidFill>
          <a:ln w="6350">
            <a:solidFill>
              <a:srgbClr val="E9762B"/>
            </a:solidFill>
            <a:prstDash val="solid"/>
          </a:ln>
        </p:spPr>
      </p:sp>
      <p:sp>
        <p:nvSpPr>
          <p:cNvPr id="15" name="S04-mark39"/>
          <p:cNvSpPr/>
          <p:nvPr/>
        </p:nvSpPr>
        <p:spPr>
          <a:xfrm>
            <a:off x="8320080" y="1980225"/>
            <a:ext cx="41697" cy="41697"/>
          </a:xfrm>
          <a:prstGeom prst="ellipse">
            <a:avLst/>
          </a:prstGeom>
          <a:solidFill>
            <a:srgbClr val="E9762B"/>
          </a:solidFill>
          <a:ln w="6350">
            <a:solidFill>
              <a:srgbClr val="E9762B"/>
            </a:solidFill>
            <a:prstDash val="solid"/>
          </a:ln>
        </p:spPr>
      </p:sp>
      <p:sp>
        <p:nvSpPr>
          <p:cNvPr id="16" name="S04-mark40"/>
          <p:cNvSpPr/>
          <p:nvPr/>
        </p:nvSpPr>
        <p:spPr>
          <a:xfrm>
            <a:off x="8028203" y="2720340"/>
            <a:ext cx="2397557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7" name="S04-mark41"/>
          <p:cNvSpPr/>
          <p:nvPr/>
        </p:nvSpPr>
        <p:spPr>
          <a:xfrm>
            <a:off x="8314868" y="1847317"/>
            <a:ext cx="0" cy="91211"/>
          </a:xfrm>
          <a:prstGeom prst="line">
            <a:avLst/>
          </a:prstGeom>
          <a:noFill/>
          <a:ln w="25400">
            <a:solidFill>
              <a:srgbClr val="3D5A80"/>
            </a:solidFill>
            <a:prstDash val="dash"/>
          </a:ln>
        </p:spPr>
      </p:sp>
      <p:sp>
        <p:nvSpPr>
          <p:cNvPr id="18" name="S04-mark42"/>
          <p:cNvSpPr/>
          <p:nvPr/>
        </p:nvSpPr>
        <p:spPr>
          <a:xfrm>
            <a:off x="8366989" y="1847317"/>
            <a:ext cx="0" cy="91211"/>
          </a:xfrm>
          <a:prstGeom prst="line">
            <a:avLst/>
          </a:prstGeom>
          <a:noFill/>
          <a:ln w="25400">
            <a:solidFill>
              <a:srgbClr val="3D5A80"/>
            </a:solidFill>
            <a:prstDash val="dash"/>
          </a:ln>
        </p:spPr>
      </p:sp>
      <p:sp>
        <p:nvSpPr>
          <p:cNvPr id="19" name="S04-mark43"/>
          <p:cNvSpPr/>
          <p:nvPr/>
        </p:nvSpPr>
        <p:spPr>
          <a:xfrm>
            <a:off x="8692744" y="1990649"/>
            <a:ext cx="456057" cy="307513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0" name="S04-card44"/>
          <p:cNvSpPr/>
          <p:nvPr/>
        </p:nvSpPr>
        <p:spPr>
          <a:xfrm>
            <a:off x="6813652" y="3040380"/>
            <a:ext cx="4826660" cy="1690116"/>
          </a:xfrm>
          <a:prstGeom prst="roundRect">
            <a:avLst>
              <a:gd name="adj" fmla="val 64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1" name="S04-cardtext45"/>
          <p:cNvSpPr txBox="1"/>
          <p:nvPr/>
        </p:nvSpPr>
        <p:spPr>
          <a:xfrm>
            <a:off x="7087972" y="3177540"/>
            <a:ext cx="4278020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파인 곳, 쌓인 곳을 찾아요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색모래가 간 곳을 봐요</a:t>
            </a:r>
            <a:endParaRPr lang="ko-KR" sz="3000" dirty="0"/>
          </a:p>
        </p:txBody>
      </p:sp>
      <p:sp>
        <p:nvSpPr>
          <p:cNvPr id="22" name="S04-stepno46"/>
          <p:cNvSpPr txBox="1"/>
          <p:nvPr/>
        </p:nvSpPr>
        <p:spPr>
          <a:xfrm>
            <a:off x="548640" y="16322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23" name="S04-text47"/>
          <p:cNvSpPr txBox="1"/>
          <p:nvPr/>
        </p:nvSpPr>
        <p:spPr>
          <a:xfrm>
            <a:off x="1325880" y="1586484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쟁반 한쪽을 받쳐 위쪽에 흙 언덕을 쌓아요.</a:t>
            </a:r>
            <a:endParaRPr lang="ko-KR" sz="2400" dirty="0"/>
          </a:p>
        </p:txBody>
      </p:sp>
      <p:sp>
        <p:nvSpPr>
          <p:cNvPr id="24" name="S04-stepno48"/>
          <p:cNvSpPr txBox="1"/>
          <p:nvPr/>
        </p:nvSpPr>
        <p:spPr>
          <a:xfrm>
            <a:off x="548640" y="2494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25" name="S04-text49"/>
          <p:cNvSpPr txBox="1"/>
          <p:nvPr/>
        </p:nvSpPr>
        <p:spPr>
          <a:xfrm>
            <a:off x="1325880" y="24947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언덕 꼭대기에 색모래를 뿌려요.</a:t>
            </a:r>
            <a:endParaRPr lang="ko-KR" sz="2400" dirty="0"/>
          </a:p>
        </p:txBody>
      </p:sp>
      <p:sp>
        <p:nvSpPr>
          <p:cNvPr id="26" name="S04-stepno50"/>
          <p:cNvSpPr txBox="1"/>
          <p:nvPr/>
        </p:nvSpPr>
        <p:spPr>
          <a:xfrm>
            <a:off x="548640" y="3208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27" name="S04-text51"/>
          <p:cNvSpPr txBox="1"/>
          <p:nvPr/>
        </p:nvSpPr>
        <p:spPr>
          <a:xfrm>
            <a:off x="1325880" y="320802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꼭대기에 물을 천천히 부어요.</a:t>
            </a:r>
            <a:endParaRPr lang="ko-KR" sz="2400" dirty="0"/>
          </a:p>
        </p:txBody>
      </p:sp>
      <p:sp>
        <p:nvSpPr>
          <p:cNvPr id="28" name="S04-stepno52"/>
          <p:cNvSpPr txBox="1"/>
          <p:nvPr/>
        </p:nvSpPr>
        <p:spPr>
          <a:xfrm>
            <a:off x="548640" y="39212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29" name="S04-text53"/>
          <p:cNvSpPr txBox="1"/>
          <p:nvPr/>
        </p:nvSpPr>
        <p:spPr>
          <a:xfrm>
            <a:off x="1325880" y="392125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달라진 곳을 찾아 활동지 1에 써요.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05-text5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1을 보며 빈칸을 말로 채워요.</a:t>
            </a:r>
            <a:endParaRPr lang="ko-KR" sz="3000" dirty="0"/>
          </a:p>
        </p:txBody>
      </p:sp>
      <p:sp>
        <p:nvSpPr>
          <p:cNvPr id="4" name="S05-card5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5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흙은 어디에서 어디로 갔나요?</a:t>
            </a:r>
            <a:endParaRPr lang="ko-KR" sz="3000" dirty="0"/>
          </a:p>
        </p:txBody>
      </p:sp>
      <p:graphicFrame>
        <p:nvGraphicFramePr>
          <p:cNvPr id="6" name="S05-table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362200"/>
          <a:ext cx="100584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6035040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살펴본 곳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무엇을 보았나요?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언덕 위쪽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색모래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쟁반 아래쪽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흘러내린 물의 색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흐르는 물이 하는 일</a:t>
            </a:r>
            <a:endParaRPr lang="ko-KR" sz="4000" dirty="0"/>
          </a:p>
        </p:txBody>
      </p:sp>
      <p:sp>
        <p:nvSpPr>
          <p:cNvPr id="3" name="S06-text5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흐르는 물이 흙 언덕의 모습을 바꿨어요.</a:t>
            </a:r>
            <a:endParaRPr lang="ko-KR" sz="3000" dirty="0"/>
          </a:p>
        </p:txBody>
      </p:sp>
      <p:sp>
        <p:nvSpPr>
          <p:cNvPr id="4" name="S06-card5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6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땅에서는 오랜 시간 동안 조금씩 일어나요.</a:t>
            </a:r>
            <a:endParaRPr lang="ko-KR" sz="3000" dirty="0"/>
          </a:p>
        </p:txBody>
      </p:sp>
      <p:sp>
        <p:nvSpPr>
          <p:cNvPr id="6" name="S06-card61"/>
          <p:cNvSpPr/>
          <p:nvPr/>
        </p:nvSpPr>
        <p:spPr>
          <a:xfrm>
            <a:off x="548640" y="3506724"/>
            <a:ext cx="3544824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62"/>
          <p:cNvSpPr txBox="1"/>
          <p:nvPr/>
        </p:nvSpPr>
        <p:spPr>
          <a:xfrm>
            <a:off x="822960" y="3643884"/>
            <a:ext cx="2996184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침식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땅을 깎아요.</a:t>
            </a:r>
            <a:endParaRPr lang="ko-KR" sz="3000" dirty="0"/>
          </a:p>
        </p:txBody>
      </p:sp>
      <p:sp>
        <p:nvSpPr>
          <p:cNvPr id="8" name="S06-card63"/>
          <p:cNvSpPr/>
          <p:nvPr/>
        </p:nvSpPr>
        <p:spPr>
          <a:xfrm>
            <a:off x="4322064" y="3506724"/>
            <a:ext cx="3544824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6-cardtext64"/>
          <p:cNvSpPr txBox="1"/>
          <p:nvPr/>
        </p:nvSpPr>
        <p:spPr>
          <a:xfrm>
            <a:off x="4596384" y="3643884"/>
            <a:ext cx="2996184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운반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깎은 흙과 돌을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옮겨요.</a:t>
            </a:r>
            <a:endParaRPr lang="ko-KR" sz="3000" dirty="0"/>
          </a:p>
        </p:txBody>
      </p:sp>
      <p:sp>
        <p:nvSpPr>
          <p:cNvPr id="10" name="S06-card65"/>
          <p:cNvSpPr/>
          <p:nvPr/>
        </p:nvSpPr>
        <p:spPr>
          <a:xfrm>
            <a:off x="8095488" y="3506724"/>
            <a:ext cx="3544824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6-cardtext66"/>
          <p:cNvSpPr txBox="1"/>
          <p:nvPr/>
        </p:nvSpPr>
        <p:spPr>
          <a:xfrm>
            <a:off x="8369808" y="3643884"/>
            <a:ext cx="2996184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퇴적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옮긴 흙과 돌을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쌓아요.</a:t>
            </a:r>
            <a:endParaRPr lang="ko-KR" sz="3000" dirty="0"/>
          </a:p>
        </p:txBody>
      </p:sp>
      <p:sp>
        <p:nvSpPr>
          <p:cNvPr id="12" name="S06-step67"/>
          <p:cNvSpPr txBox="1"/>
          <p:nvPr/>
        </p:nvSpPr>
        <p:spPr>
          <a:xfrm>
            <a:off x="1293876" y="2187702"/>
            <a:ext cx="2926080" cy="914400"/>
          </a:xfrm>
          <a:prstGeom prst="roundRect">
            <a:avLst>
              <a:gd name="adj" fmla="val 12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깎아요</a:t>
            </a:r>
            <a:endParaRPr lang="ko-KR" sz="3000" dirty="0"/>
          </a:p>
        </p:txBody>
      </p:sp>
      <p:sp>
        <p:nvSpPr>
          <p:cNvPr id="13" name="S06-line68"/>
          <p:cNvSpPr/>
          <p:nvPr/>
        </p:nvSpPr>
        <p:spPr>
          <a:xfrm>
            <a:off x="4274820" y="2644902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4" name="S06-step69"/>
          <p:cNvSpPr txBox="1"/>
          <p:nvPr/>
        </p:nvSpPr>
        <p:spPr>
          <a:xfrm>
            <a:off x="4631436" y="2187702"/>
            <a:ext cx="2926080" cy="914400"/>
          </a:xfrm>
          <a:prstGeom prst="roundRect">
            <a:avLst>
              <a:gd name="adj" fmla="val 12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옮겨요</a:t>
            </a:r>
            <a:endParaRPr lang="ko-KR" sz="3000" dirty="0"/>
          </a:p>
        </p:txBody>
      </p:sp>
      <p:sp>
        <p:nvSpPr>
          <p:cNvPr id="15" name="S06-line70"/>
          <p:cNvSpPr/>
          <p:nvPr/>
        </p:nvSpPr>
        <p:spPr>
          <a:xfrm>
            <a:off x="7612380" y="2644902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6" name="S06-step71"/>
          <p:cNvSpPr txBox="1"/>
          <p:nvPr/>
        </p:nvSpPr>
        <p:spPr>
          <a:xfrm>
            <a:off x="7968996" y="2187702"/>
            <a:ext cx="2926080" cy="914400"/>
          </a:xfrm>
          <a:prstGeom prst="roundRect">
            <a:avLst>
              <a:gd name="adj" fmla="val 12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쌓아요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07-card72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73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물을 부었더니 위쪽 흙이 줄고 흙탕물이 흘렀어요.</a:t>
            </a:r>
            <a:endParaRPr lang="ko-KR" sz="3000" dirty="0"/>
          </a:p>
        </p:txBody>
      </p:sp>
      <p:sp>
        <p:nvSpPr>
          <p:cNvPr id="5" name="S07-card7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7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무엇이 증거일까요?</a:t>
            </a:r>
            <a:endParaRPr lang="ko-KR" sz="3000" dirty="0"/>
          </a:p>
        </p:txBody>
      </p:sp>
      <p:sp>
        <p:nvSpPr>
          <p:cNvPr id="7" name="S07-chip76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400" dirty="0"/>
          </a:p>
        </p:txBody>
      </p:sp>
      <p:sp>
        <p:nvSpPr>
          <p:cNvPr id="8" name="S07-text77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흙이 물에 녹아서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없어졌어요.</a:t>
            </a:r>
            <a:endParaRPr lang="ko-KR" sz="3000" dirty="0"/>
          </a:p>
        </p:txBody>
      </p:sp>
      <p:sp>
        <p:nvSpPr>
          <p:cNvPr id="9" name="S07-chip78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400" dirty="0"/>
          </a:p>
        </p:txBody>
      </p:sp>
      <p:sp>
        <p:nvSpPr>
          <p:cNvPr id="10" name="S07-text79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흙이 물에 실려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아래쪽으로 갔어요.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강의 상류와 하류</a:t>
            </a:r>
            <a:endParaRPr lang="ko-KR" sz="4000" dirty="0"/>
          </a:p>
        </p:txBody>
      </p:sp>
      <p:sp>
        <p:nvSpPr>
          <p:cNvPr id="3" name="S08-text8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강은 산에서 시작해 바다로 흘러가요.</a:t>
            </a:r>
            <a:endParaRPr lang="ko-KR" sz="3000" dirty="0"/>
          </a:p>
        </p:txBody>
      </p:sp>
      <p:sp>
        <p:nvSpPr>
          <p:cNvPr id="4" name="S08-card8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8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모형의 위쪽은 상류, 아래쪽은 하류와 닮았어요.</a:t>
            </a:r>
            <a:endParaRPr lang="ko-KR" sz="3000" dirty="0"/>
          </a:p>
        </p:txBody>
      </p:sp>
      <p:sp>
        <p:nvSpPr>
          <p:cNvPr id="6" name="S08-figure83" descr="산에서 시작한 강이 구불구불 흘러 바다로 들어가는 모습. 산 가까운 상류는 강폭이 좁고, 바다 가까운 하류로 갈수록 강폭이 넓어짐"/>
          <p:cNvSpPr/>
          <p:nvPr/>
        </p:nvSpPr>
        <p:spPr>
          <a:xfrm>
            <a:off x="4583976" y="3675342"/>
            <a:ext cx="960802" cy="1353858"/>
          </a:xfrm>
          <a:custGeom>
            <a:avLst/>
            <a:gdLst/>
            <a:ahLst/>
            <a:cxnLst/>
            <a:rect l="l" t="t" r="r" b="b"/>
            <a:pathLst>
              <a:path w="960802" h="1353858">
                <a:moveTo>
                  <a:pt x="0" y="1353858"/>
                </a:moveTo>
                <a:lnTo>
                  <a:pt x="960802" y="1353858"/>
                </a:lnTo>
                <a:lnTo>
                  <a:pt x="960802" y="0"/>
                </a:lnTo>
                <a:lnTo>
                  <a:pt x="567747" y="131019"/>
                </a:lnTo>
                <a:lnTo>
                  <a:pt x="218364" y="480401"/>
                </a:lnTo>
                <a:lnTo>
                  <a:pt x="43673" y="873457"/>
                </a:lnTo>
                <a:close/>
              </a:path>
            </a:pathLst>
          </a:custGeom>
          <a:solidFill>
            <a:srgbClr val="BFD7EA"/>
          </a:solidFill>
          <a:ln/>
        </p:spPr>
      </p:sp>
      <p:sp>
        <p:nvSpPr>
          <p:cNvPr id="7" name="S08-mark84"/>
          <p:cNvSpPr/>
          <p:nvPr/>
        </p:nvSpPr>
        <p:spPr>
          <a:xfrm>
            <a:off x="915458" y="2321484"/>
            <a:ext cx="960802" cy="829784"/>
          </a:xfrm>
          <a:custGeom>
            <a:avLst/>
            <a:gdLst/>
            <a:ahLst/>
            <a:cxnLst/>
            <a:rect l="l" t="t" r="r" b="b"/>
            <a:pathLst>
              <a:path w="960802" h="829784">
                <a:moveTo>
                  <a:pt x="0" y="829784"/>
                </a:moveTo>
                <a:lnTo>
                  <a:pt x="480401" y="0"/>
                </a:lnTo>
                <a:lnTo>
                  <a:pt x="960802" y="829784"/>
                </a:lnTo>
                <a:close/>
              </a:path>
            </a:pathLst>
          </a:custGeom>
          <a:solidFill>
            <a:srgbClr val="A7C4A0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8-mark85"/>
          <p:cNvSpPr/>
          <p:nvPr/>
        </p:nvSpPr>
        <p:spPr>
          <a:xfrm>
            <a:off x="1483205" y="2103120"/>
            <a:ext cx="1135494" cy="1048148"/>
          </a:xfrm>
          <a:custGeom>
            <a:avLst/>
            <a:gdLst/>
            <a:ahLst/>
            <a:cxnLst/>
            <a:rect l="l" t="t" r="r" b="b"/>
            <a:pathLst>
              <a:path w="1135494" h="1048148">
                <a:moveTo>
                  <a:pt x="0" y="1048148"/>
                </a:moveTo>
                <a:lnTo>
                  <a:pt x="567747" y="0"/>
                </a:lnTo>
                <a:lnTo>
                  <a:pt x="1135494" y="1048148"/>
                </a:lnTo>
                <a:close/>
              </a:path>
            </a:pathLst>
          </a:custGeom>
          <a:solidFill>
            <a:srgbClr val="8DB287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8-mark86"/>
          <p:cNvSpPr/>
          <p:nvPr/>
        </p:nvSpPr>
        <p:spPr>
          <a:xfrm>
            <a:off x="1887615" y="2918929"/>
            <a:ext cx="2943549" cy="1693633"/>
          </a:xfrm>
          <a:custGeom>
            <a:avLst/>
            <a:gdLst/>
            <a:ahLst/>
            <a:cxnLst/>
            <a:rect l="l" t="t" r="r" b="b"/>
            <a:pathLst>
              <a:path w="2943549" h="1693633">
                <a:moveTo>
                  <a:pt x="64636" y="0"/>
                </a:moveTo>
                <a:lnTo>
                  <a:pt x="214434" y="315755"/>
                </a:lnTo>
                <a:lnTo>
                  <a:pt x="135386" y="555955"/>
                </a:lnTo>
                <a:lnTo>
                  <a:pt x="400917" y="739818"/>
                </a:lnTo>
                <a:lnTo>
                  <a:pt x="930231" y="670815"/>
                </a:lnTo>
                <a:lnTo>
                  <a:pt x="1418930" y="928484"/>
                </a:lnTo>
                <a:lnTo>
                  <a:pt x="1792333" y="1196636"/>
                </a:lnTo>
                <a:lnTo>
                  <a:pt x="2280159" y="1204934"/>
                </a:lnTo>
                <a:lnTo>
                  <a:pt x="2943549" y="1260398"/>
                </a:lnTo>
                <a:lnTo>
                  <a:pt x="2885901" y="1693633"/>
                </a:lnTo>
                <a:lnTo>
                  <a:pt x="2239106" y="1574406"/>
                </a:lnTo>
                <a:lnTo>
                  <a:pt x="1678784" y="1495358"/>
                </a:lnTo>
                <a:lnTo>
                  <a:pt x="1266076" y="1152089"/>
                </a:lnTo>
                <a:lnTo>
                  <a:pt x="881318" y="885685"/>
                </a:lnTo>
                <a:lnTo>
                  <a:pt x="362485" y="904028"/>
                </a:lnTo>
                <a:lnTo>
                  <a:pt x="16596" y="607489"/>
                </a:lnTo>
                <a:lnTo>
                  <a:pt x="112239" y="323616"/>
                </a:lnTo>
                <a:lnTo>
                  <a:pt x="0" y="27951"/>
                </a:lnTo>
                <a:close/>
              </a:path>
            </a:pathLst>
          </a:custGeom>
          <a:solidFill>
            <a:srgbClr val="6FA8DC"/>
          </a:solidFill>
          <a:ln w="15875">
            <a:solidFill>
              <a:srgbClr val="3D5A80"/>
            </a:solidFill>
            <a:prstDash val="solid"/>
          </a:ln>
        </p:spPr>
      </p:sp>
      <p:sp>
        <p:nvSpPr>
          <p:cNvPr id="10" name="S08-label88"/>
          <p:cNvSpPr txBox="1"/>
          <p:nvPr/>
        </p:nvSpPr>
        <p:spPr>
          <a:xfrm>
            <a:off x="2134112" y="3135459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상류</a:t>
            </a:r>
            <a:endParaRPr lang="ko-KR" sz="2400" dirty="0"/>
          </a:p>
        </p:txBody>
      </p:sp>
      <p:sp>
        <p:nvSpPr>
          <p:cNvPr id="11" name="S08-label90"/>
          <p:cNvSpPr txBox="1"/>
          <p:nvPr/>
        </p:nvSpPr>
        <p:spPr>
          <a:xfrm>
            <a:off x="3618988" y="3637697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하류</a:t>
            </a:r>
            <a:endParaRPr lang="ko-KR" sz="2400" dirty="0"/>
          </a:p>
        </p:txBody>
      </p:sp>
      <p:sp>
        <p:nvSpPr>
          <p:cNvPr id="12" name="S08-label92"/>
          <p:cNvSpPr txBox="1"/>
          <p:nvPr/>
        </p:nvSpPr>
        <p:spPr>
          <a:xfrm>
            <a:off x="4819991" y="4336462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</a:t>
            </a:r>
            <a:endParaRPr lang="ko-KR" sz="2400" dirty="0"/>
          </a:p>
        </p:txBody>
      </p:sp>
      <p:sp>
        <p:nvSpPr>
          <p:cNvPr id="13" name="S08-label94"/>
          <p:cNvSpPr txBox="1"/>
          <p:nvPr/>
        </p:nvSpPr>
        <p:spPr>
          <a:xfrm>
            <a:off x="1038788" y="2742404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</a:t>
            </a:r>
            <a:endParaRPr lang="ko-KR" sz="2400" dirty="0"/>
          </a:p>
        </p:txBody>
      </p:sp>
      <p:sp>
        <p:nvSpPr>
          <p:cNvPr id="14" name="S08-card95"/>
          <p:cNvSpPr/>
          <p:nvPr/>
        </p:nvSpPr>
        <p:spPr>
          <a:xfrm>
            <a:off x="6277356" y="220980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5" name="S08-cardtext96"/>
          <p:cNvSpPr txBox="1"/>
          <p:nvPr/>
        </p:nvSpPr>
        <p:spPr>
          <a:xfrm>
            <a:off x="6551676" y="234696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상류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산과 가까운 곳</a:t>
            </a:r>
            <a:endParaRPr lang="ko-KR" sz="3000" dirty="0"/>
          </a:p>
        </p:txBody>
      </p:sp>
      <p:sp>
        <p:nvSpPr>
          <p:cNvPr id="16" name="S08-card97"/>
          <p:cNvSpPr/>
          <p:nvPr/>
        </p:nvSpPr>
        <p:spPr>
          <a:xfrm>
            <a:off x="6277356" y="368046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08-cardtext98"/>
          <p:cNvSpPr txBox="1"/>
          <p:nvPr/>
        </p:nvSpPr>
        <p:spPr>
          <a:xfrm>
            <a:off x="6551676" y="381762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하류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바다와 가까운 곳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상류와 하류 비교</a:t>
            </a:r>
            <a:endParaRPr lang="ko-KR" sz="4000" dirty="0"/>
          </a:p>
        </p:txBody>
      </p:sp>
      <p:sp>
        <p:nvSpPr>
          <p:cNvPr id="3" name="S09-card9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10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돌은 물에 옮겨지며 부딪치고 깎여 작고 둥글어져요.</a:t>
            </a:r>
            <a:endParaRPr lang="ko-KR" sz="3000" dirty="0"/>
          </a:p>
        </p:txBody>
      </p:sp>
      <p:graphicFrame>
        <p:nvGraphicFramePr>
          <p:cNvPr id="10" name="S09-table1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1740408"/>
          <a:ext cx="10515600" cy="914400"/>
        </p:xfrm>
        <a:graphic>
          <a:graphicData uri="http://schemas.openxmlformats.org/drawingml/2006/table">
            <a:tbl>
              <a:tblPr/>
              <a:tblGrid>
                <a:gridCol w="3154680"/>
                <a:gridCol w="3680460"/>
                <a:gridCol w="368046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강폭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좁아요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넓어요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급해요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완만해요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541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돌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크고 모가 나요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작고 둥글어요,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모래가 많아요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많이 일어나는 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깎는 일(침식)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쌓는 일(퇴적)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상류일까요, 하류일까요?</a:t>
            </a:r>
            <a:endParaRPr lang="ko-KR" sz="4000" dirty="0"/>
          </a:p>
        </p:txBody>
      </p:sp>
      <p:sp>
        <p:nvSpPr>
          <p:cNvPr id="3" name="S10-text10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설명을 읽고 상류인지 하류인지 말해요.</a:t>
            </a:r>
            <a:endParaRPr lang="ko-KR" sz="3000" dirty="0"/>
          </a:p>
        </p:txBody>
      </p:sp>
      <p:sp>
        <p:nvSpPr>
          <p:cNvPr id="4" name="S10-card10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10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강폭, 경사, 돌의 크기와 모양을 단서로 찾아요.</a:t>
            </a:r>
            <a:endParaRPr lang="ko-KR" sz="3000" dirty="0"/>
          </a:p>
        </p:txBody>
      </p:sp>
      <p:sp>
        <p:nvSpPr>
          <p:cNvPr id="6" name="S10-chip105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0-text106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크고 모난 바위가 많고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물살이 빨라요.</a:t>
            </a:r>
            <a:endParaRPr lang="ko-KR" sz="3000" dirty="0"/>
          </a:p>
        </p:txBody>
      </p:sp>
      <p:sp>
        <p:nvSpPr>
          <p:cNvPr id="8" name="S10-chip107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0-text108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강폭이 넓고 고운 모래가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넓게 쌓여 있어요.</a:t>
            </a:r>
            <a:endParaRPr lang="ko-KR" sz="3000" dirty="0"/>
          </a:p>
        </p:txBody>
      </p:sp>
      <p:sp>
        <p:nvSpPr>
          <p:cNvPr id="10" name="S10-chip109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10-text110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산골짜기에서 물이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땅을 깊게 깎아요.</a:t>
            </a:r>
            <a:endParaRPr lang="ko-KR" sz="3000" dirty="0"/>
          </a:p>
        </p:txBody>
      </p:sp>
      <p:sp>
        <p:nvSpPr>
          <p:cNvPr id="12" name="S10-chip111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10-text112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바다와 가깝고 둥근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자갈이 많아요.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chip11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11-text11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비가 많이 온 뒤 흙탕물이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흐르는 까닭은 무엇일까요?</a:t>
            </a:r>
            <a:endParaRPr lang="ko-KR" sz="3000" dirty="0"/>
          </a:p>
        </p:txBody>
      </p:sp>
      <p:sp>
        <p:nvSpPr>
          <p:cNvPr id="5" name="S11-chip11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11-text11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물이 옮긴 흙과 돌을 쌓는 것을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무엇이라고 하나요?</a:t>
            </a:r>
            <a:endParaRPr lang="ko-KR" sz="3000" dirty="0"/>
          </a:p>
        </p:txBody>
      </p:sp>
      <p:sp>
        <p:nvSpPr>
          <p:cNvPr id="7" name="S11-chip11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11-text11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상류와 하류의 다른 점을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가지 말해요.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2-card1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1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흙은 녹지 않고 물에 실려 옮겨 가 쌓여요.</a:t>
            </a:r>
            <a:endParaRPr lang="ko-KR" sz="3000" dirty="0"/>
          </a:p>
        </p:txBody>
      </p:sp>
      <p:sp>
        <p:nvSpPr>
          <p:cNvPr id="5" name="S12-chip121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2-text122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깎아 옮겨서</a:t>
            </a:r>
            <a:endParaRPr lang="ko-KR" sz="3000" dirty="0"/>
          </a:p>
        </p:txBody>
      </p:sp>
      <p:sp>
        <p:nvSpPr>
          <p:cNvPr id="7" name="S12-text123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침식·운반</a:t>
            </a:r>
            <a:endParaRPr lang="ko-KR" sz="2400" dirty="0"/>
          </a:p>
        </p:txBody>
      </p:sp>
      <p:sp>
        <p:nvSpPr>
          <p:cNvPr id="8" name="S12-text124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퇴적</a:t>
            </a:r>
            <a:endParaRPr lang="ko-KR" sz="3000" dirty="0"/>
          </a:p>
        </p:txBody>
      </p:sp>
      <p:sp>
        <p:nvSpPr>
          <p:cNvPr id="9" name="S12-text125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쌓는 일</a:t>
            </a:r>
            <a:endParaRPr lang="ko-KR" sz="2400" dirty="0"/>
          </a:p>
        </p:txBody>
      </p:sp>
      <p:sp>
        <p:nvSpPr>
          <p:cNvPr id="10" name="S12-text126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강폭 차이</a:t>
            </a:r>
            <a:endParaRPr lang="ko-KR" sz="3000" dirty="0"/>
          </a:p>
        </p:txBody>
      </p:sp>
      <p:sp>
        <p:nvSpPr>
          <p:cNvPr id="11" name="S12-text127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경사·돌도 맞아요</a:t>
            </a:r>
            <a:endParaRPr lang="ko-KR" sz="2400" dirty="0"/>
          </a:p>
        </p:txBody>
      </p:sp>
      <p:sp>
        <p:nvSpPr>
          <p:cNvPr id="12" name="S12-chip128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3" name="S12-text129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녹아서</a:t>
            </a:r>
            <a:endParaRPr lang="ko-KR" sz="3000" dirty="0"/>
          </a:p>
        </p:txBody>
      </p:sp>
      <p:sp>
        <p:nvSpPr>
          <p:cNvPr id="14" name="S12-text130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실려 감(M1)</a:t>
            </a:r>
            <a:endParaRPr lang="ko-KR" sz="2400" dirty="0"/>
          </a:p>
        </p:txBody>
      </p:sp>
      <p:sp>
        <p:nvSpPr>
          <p:cNvPr id="15" name="S12-text131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돌이 더 커요</a:t>
            </a:r>
            <a:endParaRPr lang="ko-KR" sz="3000" dirty="0"/>
          </a:p>
        </p:txBody>
      </p:sp>
      <p:sp>
        <p:nvSpPr>
          <p:cNvPr id="16" name="S12-text132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하류는 작고 둥긂(M3)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하류에 많은 돌은?</a:t>
            </a:r>
            <a:endParaRPr lang="ko-KR" sz="4000" dirty="0"/>
          </a:p>
        </p:txBody>
      </p:sp>
      <p:sp>
        <p:nvSpPr>
          <p:cNvPr id="3" name="S13-text13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강가 두 곳에서 본 돌이에요. 같은 크기로 그렸어요.</a:t>
            </a:r>
            <a:endParaRPr lang="ko-KR" sz="3000" dirty="0"/>
          </a:p>
        </p:txBody>
      </p:sp>
      <p:sp>
        <p:nvSpPr>
          <p:cNvPr id="4" name="S13-card1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1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하류에 많은 돌을 고르고, 그렇게 생각한 까닭을 말해요.</a:t>
            </a:r>
            <a:endParaRPr lang="ko-KR" sz="3000" dirty="0"/>
          </a:p>
        </p:txBody>
      </p:sp>
      <p:sp>
        <p:nvSpPr>
          <p:cNvPr id="6" name="S13-chip136"/>
          <p:cNvSpPr txBox="1"/>
          <p:nvPr/>
        </p:nvSpPr>
        <p:spPr>
          <a:xfrm>
            <a:off x="2946654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3-figure137" descr="크고 모가 난 돌 세 개"/>
          <p:cNvSpPr/>
          <p:nvPr/>
        </p:nvSpPr>
        <p:spPr>
          <a:xfrm>
            <a:off x="2324862" y="3792474"/>
            <a:ext cx="955548" cy="854964"/>
          </a:xfrm>
          <a:custGeom>
            <a:avLst/>
            <a:gdLst/>
            <a:ahLst/>
            <a:cxnLst/>
            <a:rect l="l" t="t" r="r" b="b"/>
            <a:pathLst>
              <a:path w="955548" h="854964">
                <a:moveTo>
                  <a:pt x="0" y="854964"/>
                </a:moveTo>
                <a:lnTo>
                  <a:pt x="754380" y="779526"/>
                </a:lnTo>
                <a:lnTo>
                  <a:pt x="955548" y="352044"/>
                </a:lnTo>
                <a:lnTo>
                  <a:pt x="528066" y="0"/>
                </a:lnTo>
                <a:lnTo>
                  <a:pt x="75438" y="276606"/>
                </a:lnTo>
                <a:close/>
              </a:path>
            </a:pathLst>
          </a:custGeom>
          <a:solidFill>
            <a:srgbClr val="B0B7C3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8" name="S13-mark138"/>
          <p:cNvSpPr/>
          <p:nvPr/>
        </p:nvSpPr>
        <p:spPr>
          <a:xfrm>
            <a:off x="3456432" y="4018788"/>
            <a:ext cx="678942" cy="628650"/>
          </a:xfrm>
          <a:custGeom>
            <a:avLst/>
            <a:gdLst/>
            <a:ahLst/>
            <a:cxnLst/>
            <a:rect l="l" t="t" r="r" b="b"/>
            <a:pathLst>
              <a:path w="678942" h="628650">
                <a:moveTo>
                  <a:pt x="0" y="628650"/>
                </a:moveTo>
                <a:lnTo>
                  <a:pt x="678942" y="578358"/>
                </a:lnTo>
                <a:lnTo>
                  <a:pt x="603504" y="0"/>
                </a:lnTo>
                <a:lnTo>
                  <a:pt x="125730" y="100584"/>
                </a:lnTo>
                <a:close/>
              </a:path>
            </a:pathLst>
          </a:custGeom>
          <a:solidFill>
            <a:srgbClr val="B0B7C3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9" name="S13-mark139"/>
          <p:cNvSpPr/>
          <p:nvPr/>
        </p:nvSpPr>
        <p:spPr>
          <a:xfrm>
            <a:off x="2777490" y="3188970"/>
            <a:ext cx="930402" cy="678942"/>
          </a:xfrm>
          <a:custGeom>
            <a:avLst/>
            <a:gdLst/>
            <a:ahLst/>
            <a:cxnLst/>
            <a:rect l="l" t="t" r="r" b="b"/>
            <a:pathLst>
              <a:path w="930402" h="678942">
                <a:moveTo>
                  <a:pt x="25146" y="477774"/>
                </a:moveTo>
                <a:lnTo>
                  <a:pt x="578358" y="678942"/>
                </a:lnTo>
                <a:lnTo>
                  <a:pt x="930402" y="276606"/>
                </a:lnTo>
                <a:lnTo>
                  <a:pt x="352044" y="0"/>
                </a:lnTo>
                <a:lnTo>
                  <a:pt x="0" y="176022"/>
                </a:lnTo>
                <a:close/>
              </a:path>
            </a:pathLst>
          </a:custGeom>
          <a:solidFill>
            <a:srgbClr val="B0B7C3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0" name="S13-chip140"/>
          <p:cNvSpPr txBox="1"/>
          <p:nvPr/>
        </p:nvSpPr>
        <p:spPr>
          <a:xfrm>
            <a:off x="8675370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1" name="S13-figure141" descr="작고 둥근 자갈 여러 개와 그 아래 모래알"/>
          <p:cNvSpPr/>
          <p:nvPr/>
        </p:nvSpPr>
        <p:spPr>
          <a:xfrm>
            <a:off x="7947965" y="4046449"/>
            <a:ext cx="241402" cy="241402"/>
          </a:xfrm>
          <a:prstGeom prst="ellipse">
            <a:avLst/>
          </a:prstGeom>
          <a:solidFill>
            <a:srgbClr val="B0B7C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3-mark142"/>
          <p:cNvSpPr/>
          <p:nvPr/>
        </p:nvSpPr>
        <p:spPr>
          <a:xfrm>
            <a:off x="8294980" y="4066565"/>
            <a:ext cx="201168" cy="201168"/>
          </a:xfrm>
          <a:prstGeom prst="ellipse">
            <a:avLst/>
          </a:prstGeom>
          <a:solidFill>
            <a:srgbClr val="B0B7C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3-mark143"/>
          <p:cNvSpPr/>
          <p:nvPr/>
        </p:nvSpPr>
        <p:spPr>
          <a:xfrm>
            <a:off x="8601761" y="4046449"/>
            <a:ext cx="241402" cy="241402"/>
          </a:xfrm>
          <a:prstGeom prst="ellipse">
            <a:avLst/>
          </a:prstGeom>
          <a:solidFill>
            <a:srgbClr val="B0B7C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3-mark144"/>
          <p:cNvSpPr/>
          <p:nvPr/>
        </p:nvSpPr>
        <p:spPr>
          <a:xfrm>
            <a:off x="8908542" y="4026332"/>
            <a:ext cx="281635" cy="281635"/>
          </a:xfrm>
          <a:prstGeom prst="ellipse">
            <a:avLst/>
          </a:prstGeom>
          <a:solidFill>
            <a:srgbClr val="B0B7C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3-mark145"/>
          <p:cNvSpPr/>
          <p:nvPr/>
        </p:nvSpPr>
        <p:spPr>
          <a:xfrm>
            <a:off x="9275674" y="4066565"/>
            <a:ext cx="201168" cy="201168"/>
          </a:xfrm>
          <a:prstGeom prst="ellipse">
            <a:avLst/>
          </a:prstGeom>
          <a:solidFill>
            <a:srgbClr val="B0B7C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13-mark146"/>
          <p:cNvSpPr/>
          <p:nvPr/>
        </p:nvSpPr>
        <p:spPr>
          <a:xfrm>
            <a:off x="9577426" y="4066565"/>
            <a:ext cx="201168" cy="201168"/>
          </a:xfrm>
          <a:prstGeom prst="ellipse">
            <a:avLst/>
          </a:prstGeom>
          <a:solidFill>
            <a:srgbClr val="B0B7C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3-mark147"/>
          <p:cNvSpPr/>
          <p:nvPr/>
        </p:nvSpPr>
        <p:spPr>
          <a:xfrm>
            <a:off x="8078724" y="3699434"/>
            <a:ext cx="281635" cy="281635"/>
          </a:xfrm>
          <a:prstGeom prst="ellipse">
            <a:avLst/>
          </a:prstGeom>
          <a:solidFill>
            <a:srgbClr val="B0B7C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13-mark148"/>
          <p:cNvSpPr/>
          <p:nvPr/>
        </p:nvSpPr>
        <p:spPr>
          <a:xfrm>
            <a:off x="8445856" y="3739667"/>
            <a:ext cx="201168" cy="201168"/>
          </a:xfrm>
          <a:prstGeom prst="ellipse">
            <a:avLst/>
          </a:prstGeom>
          <a:solidFill>
            <a:srgbClr val="B0B7C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3-mark149"/>
          <p:cNvSpPr/>
          <p:nvPr/>
        </p:nvSpPr>
        <p:spPr>
          <a:xfrm>
            <a:off x="8752637" y="3719551"/>
            <a:ext cx="241402" cy="241402"/>
          </a:xfrm>
          <a:prstGeom prst="ellipse">
            <a:avLst/>
          </a:prstGeom>
          <a:solidFill>
            <a:srgbClr val="B0B7C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13-mark150"/>
          <p:cNvSpPr/>
          <p:nvPr/>
        </p:nvSpPr>
        <p:spPr>
          <a:xfrm>
            <a:off x="9059418" y="3699434"/>
            <a:ext cx="281635" cy="281635"/>
          </a:xfrm>
          <a:prstGeom prst="ellipse">
            <a:avLst/>
          </a:prstGeom>
          <a:solidFill>
            <a:srgbClr val="B0B7C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3-mark151"/>
          <p:cNvSpPr/>
          <p:nvPr/>
        </p:nvSpPr>
        <p:spPr>
          <a:xfrm>
            <a:off x="9426550" y="3739667"/>
            <a:ext cx="201168" cy="201168"/>
          </a:xfrm>
          <a:prstGeom prst="ellipse">
            <a:avLst/>
          </a:prstGeom>
          <a:solidFill>
            <a:srgbClr val="B0B7C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13-mark152"/>
          <p:cNvSpPr/>
          <p:nvPr/>
        </p:nvSpPr>
        <p:spPr>
          <a:xfrm>
            <a:off x="9688068" y="3699434"/>
            <a:ext cx="281635" cy="281635"/>
          </a:xfrm>
          <a:prstGeom prst="ellipse">
            <a:avLst/>
          </a:prstGeom>
          <a:solidFill>
            <a:srgbClr val="B0B7C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13-mark153"/>
          <p:cNvSpPr/>
          <p:nvPr/>
        </p:nvSpPr>
        <p:spPr>
          <a:xfrm>
            <a:off x="8294980" y="3412769"/>
            <a:ext cx="201168" cy="201168"/>
          </a:xfrm>
          <a:prstGeom prst="ellipse">
            <a:avLst/>
          </a:prstGeom>
          <a:solidFill>
            <a:srgbClr val="B0B7C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13-mark154"/>
          <p:cNvSpPr/>
          <p:nvPr/>
        </p:nvSpPr>
        <p:spPr>
          <a:xfrm>
            <a:off x="8621878" y="3412769"/>
            <a:ext cx="201168" cy="201168"/>
          </a:xfrm>
          <a:prstGeom prst="ellipse">
            <a:avLst/>
          </a:prstGeom>
          <a:solidFill>
            <a:srgbClr val="B0B7C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13-mark155"/>
          <p:cNvSpPr/>
          <p:nvPr/>
        </p:nvSpPr>
        <p:spPr>
          <a:xfrm>
            <a:off x="8948776" y="3412769"/>
            <a:ext cx="201168" cy="201168"/>
          </a:xfrm>
          <a:prstGeom prst="ellipse">
            <a:avLst/>
          </a:prstGeom>
          <a:solidFill>
            <a:srgbClr val="B0B7C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13-mark156"/>
          <p:cNvSpPr/>
          <p:nvPr/>
        </p:nvSpPr>
        <p:spPr>
          <a:xfrm>
            <a:off x="9255557" y="3392653"/>
            <a:ext cx="241402" cy="241402"/>
          </a:xfrm>
          <a:prstGeom prst="ellipse">
            <a:avLst/>
          </a:prstGeom>
          <a:solidFill>
            <a:srgbClr val="B0B7C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13-mark157"/>
          <p:cNvSpPr/>
          <p:nvPr/>
        </p:nvSpPr>
        <p:spPr>
          <a:xfrm>
            <a:off x="7958938" y="4384319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13-mark158"/>
          <p:cNvSpPr/>
          <p:nvPr/>
        </p:nvSpPr>
        <p:spPr>
          <a:xfrm>
            <a:off x="8119872" y="4384319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13-mark159"/>
          <p:cNvSpPr/>
          <p:nvPr/>
        </p:nvSpPr>
        <p:spPr>
          <a:xfrm>
            <a:off x="8280806" y="4384319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13-mark160"/>
          <p:cNvSpPr/>
          <p:nvPr/>
        </p:nvSpPr>
        <p:spPr>
          <a:xfrm>
            <a:off x="8441741" y="4384319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13-mark161"/>
          <p:cNvSpPr/>
          <p:nvPr/>
        </p:nvSpPr>
        <p:spPr>
          <a:xfrm>
            <a:off x="8602675" y="4384319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13-mark162"/>
          <p:cNvSpPr/>
          <p:nvPr/>
        </p:nvSpPr>
        <p:spPr>
          <a:xfrm>
            <a:off x="8763610" y="4384319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13-mark163"/>
          <p:cNvSpPr/>
          <p:nvPr/>
        </p:nvSpPr>
        <p:spPr>
          <a:xfrm>
            <a:off x="8924544" y="4384319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13-mark164"/>
          <p:cNvSpPr/>
          <p:nvPr/>
        </p:nvSpPr>
        <p:spPr>
          <a:xfrm>
            <a:off x="9085478" y="4384319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13-mark165"/>
          <p:cNvSpPr/>
          <p:nvPr/>
        </p:nvSpPr>
        <p:spPr>
          <a:xfrm>
            <a:off x="9246413" y="4384319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13-mark166"/>
          <p:cNvSpPr/>
          <p:nvPr/>
        </p:nvSpPr>
        <p:spPr>
          <a:xfrm>
            <a:off x="9407347" y="4384319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S13-mark167"/>
          <p:cNvSpPr/>
          <p:nvPr/>
        </p:nvSpPr>
        <p:spPr>
          <a:xfrm>
            <a:off x="9568282" y="4384319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S13-mark168"/>
          <p:cNvSpPr/>
          <p:nvPr/>
        </p:nvSpPr>
        <p:spPr>
          <a:xfrm>
            <a:off x="9729216" y="4384319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169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70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흐르는 물은 땅을 깎고(침식), 옮기고(운반), 쌓아요(퇴적).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상류에서는 깎는 일이, 하류에서는 쌓는 일이 많아요.</a:t>
            </a:r>
            <a:endParaRPr lang="ko-KR" sz="3000" dirty="0"/>
          </a:p>
        </p:txBody>
      </p:sp>
      <p:sp>
        <p:nvSpPr>
          <p:cNvPr id="5" name="S14-chip171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쌓인 흙과 색모래를 증거로 말하기</a:t>
            </a:r>
            <a:endParaRPr lang="ko-KR" sz="2400" dirty="0"/>
          </a:p>
        </p:txBody>
      </p:sp>
      <p:sp>
        <p:nvSpPr>
          <p:cNvPr id="6" name="S14-chip172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흙이 녹아 없어졌다고 생각하기</a:t>
            </a:r>
            <a:endParaRPr lang="ko-KR" sz="2400" dirty="0"/>
          </a:p>
        </p:txBody>
      </p:sp>
      <p:sp>
        <p:nvSpPr>
          <p:cNvPr id="7" name="S14-text173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text174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흐르는 물이 땅을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깎는 것을 무엇이라 하나요?</a:t>
            </a:r>
            <a:endParaRPr lang="ko-KR" sz="2400" dirty="0"/>
          </a:p>
        </p:txBody>
      </p:sp>
      <p:sp>
        <p:nvSpPr>
          <p:cNvPr id="9" name="S14-text175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강폭이 넓고 모래가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많은 곳은 상류? 하류?</a:t>
            </a:r>
            <a:endParaRPr lang="ko-KR" sz="2400" dirty="0"/>
          </a:p>
        </p:txBody>
      </p:sp>
      <p:sp>
        <p:nvSpPr>
          <p:cNvPr id="10" name="S14-text176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하류의 돌이 작고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둥근 까닭은?</a:t>
            </a:r>
            <a:endParaRPr lang="ko-KR" sz="2400" dirty="0"/>
          </a:p>
        </p:txBody>
      </p:sp>
      <p:sp>
        <p:nvSpPr>
          <p:cNvPr id="11" name="S14-text17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달의 모양 변화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지구 표면의 모습</a:t>
            </a:r>
            <a:endParaRPr lang="ko-KR" sz="4000" dirty="0"/>
          </a:p>
        </p:txBody>
      </p:sp>
      <p:sp>
        <p:nvSpPr>
          <p:cNvPr id="3" name="S15-text17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높은 곳, 낮은 곳, 물이 있는 곳을 찾아요.</a:t>
            </a:r>
            <a:endParaRPr lang="ko-KR" sz="3000" dirty="0"/>
          </a:p>
        </p:txBody>
      </p:sp>
      <p:sp>
        <p:nvSpPr>
          <p:cNvPr id="4" name="S15-card17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18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물은 높은 곳(산)에서 낮은 곳(바다)으로 흘러요.</a:t>
            </a:r>
            <a:endParaRPr lang="ko-KR" sz="3000" dirty="0"/>
          </a:p>
        </p:txBody>
      </p:sp>
      <p:sp>
        <p:nvSpPr>
          <p:cNvPr id="6" name="S15-card181"/>
          <p:cNvSpPr/>
          <p:nvPr/>
        </p:nvSpPr>
        <p:spPr>
          <a:xfrm>
            <a:off x="548640" y="201168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5-cardtext182"/>
          <p:cNvSpPr txBox="1"/>
          <p:nvPr/>
        </p:nvSpPr>
        <p:spPr>
          <a:xfrm>
            <a:off x="822960" y="214884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 솟은 땅</a:t>
            </a:r>
            <a:endParaRPr lang="ko-KR" sz="3000" dirty="0"/>
          </a:p>
        </p:txBody>
      </p:sp>
      <p:sp>
        <p:nvSpPr>
          <p:cNvPr id="8" name="S15-card183"/>
          <p:cNvSpPr/>
          <p:nvPr/>
        </p:nvSpPr>
        <p:spPr>
          <a:xfrm>
            <a:off x="6208776" y="201168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5-cardtext184"/>
          <p:cNvSpPr txBox="1"/>
          <p:nvPr/>
        </p:nvSpPr>
        <p:spPr>
          <a:xfrm>
            <a:off x="6483096" y="214884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낮고 평평한 땅</a:t>
            </a:r>
            <a:endParaRPr lang="ko-KR" sz="3000" dirty="0"/>
          </a:p>
        </p:txBody>
      </p:sp>
      <p:sp>
        <p:nvSpPr>
          <p:cNvPr id="10" name="S15-card185"/>
          <p:cNvSpPr/>
          <p:nvPr/>
        </p:nvSpPr>
        <p:spPr>
          <a:xfrm>
            <a:off x="548640" y="368046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5-cardtext186"/>
          <p:cNvSpPr txBox="1"/>
          <p:nvPr/>
        </p:nvSpPr>
        <p:spPr>
          <a:xfrm>
            <a:off x="822960" y="381762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</a:t>
            </a:r>
            <a:endParaRPr lang="ko-KR" sz="24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산에서 바다로</a:t>
            </a:r>
            <a:endParaRPr lang="ko-KR" sz="24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흐르는 물</a:t>
            </a:r>
            <a:endParaRPr lang="ko-KR" sz="2400" dirty="0"/>
          </a:p>
        </p:txBody>
      </p:sp>
      <p:sp>
        <p:nvSpPr>
          <p:cNvPr id="12" name="S15-card187"/>
          <p:cNvSpPr/>
          <p:nvPr/>
        </p:nvSpPr>
        <p:spPr>
          <a:xfrm>
            <a:off x="6208776" y="368046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5-cardtext188"/>
          <p:cNvSpPr txBox="1"/>
          <p:nvPr/>
        </p:nvSpPr>
        <p:spPr>
          <a:xfrm>
            <a:off x="6483096" y="381762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</a:t>
            </a:r>
            <a:endParaRPr lang="ko-KR" sz="24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짠물이</a:t>
            </a:r>
            <a:endParaRPr lang="ko-KR" sz="24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넓게 있는 곳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과학 흐르는 물과 땅</dc:title>
  <dc:subject>KR22-G04-SCI-RIVER-L01</dc:subject>
  <dc:creator>education-ppt</dc:creator>
  <cp:lastModifiedBy>education-ppt</cp:lastModifiedBy>
  <cp:revision>1</cp:revision>
  <dcterms:created xsi:type="dcterms:W3CDTF">2026-10-26T13:18:52Z</dcterms:created>
  <dcterms:modified xsi:type="dcterms:W3CDTF">2026-10-26T13:18:52Z</dcterms:modified>
</cp:coreProperties>
</file>