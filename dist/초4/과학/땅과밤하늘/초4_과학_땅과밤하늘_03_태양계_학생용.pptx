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8c6052b-66f3-9299-3598-ce815faa2799}">
          <p14:sldIdLst>
            <p14:sldId id="256"/>
            <p14:sldId id="257"/>
          </p14:sldIdLst>
        </p14:section>
        <p14:section name="개념" id="{bea8ff5f-f1f1-658b-2e17-d54368dc798a}">
          <p14:sldIdLst>
            <p14:sldId id="258"/>
            <p14:sldId id="259"/>
            <p14:sldId id="263"/>
            <p14:sldId id="268"/>
          </p14:sldIdLst>
        </p14:section>
        <p14:section name="연습" id="{df7d7565-5b1c-495e-515b-250bffa4a1f3}">
          <p14:sldIdLst>
            <p14:sldId id="260"/>
            <p14:sldId id="261"/>
            <p14:sldId id="262"/>
            <p14:sldId id="264"/>
            <p14:sldId id="265"/>
            <p14:sldId id="266"/>
            <p14:sldId id="267"/>
            <p14:sldId id="269"/>
          </p14:sldIdLst>
        </p14:section>
        <p14:section name="개념" id="{6d08085d-dc17-a9c3-8432-6e254d9de86f}">
          <p14:sldIdLst/>
        </p14:section>
        <p14:section name="연습" id="{afd6d029-fe31-c508-f402-24fc4fe4e5ba}">
          <p14:sldIdLst/>
        </p14:section>
        <p14:section name="개념" id="{fca5e07c-f1e2-ff7e-af93-732ee830919b}">
          <p14:sldIdLst/>
        </p14:section>
        <p14:section name="연습" id="{cec83e72-7444-7a29-0c49-7c9875a25926}">
          <p14:sldIdLst/>
        </p14:section>
        <p14:section name="확인" id="{f45d0f0a-3be1-5053-79eb-26e99652f411}">
          <p14:sldIdLst>
            <p14:sldId id="270"/>
            <p14:sldId id="271"/>
          </p14:sldIdLst>
        </p14:section>
        <p14:section name="정리" id="{ab8ea3c5-b6f7-d5db-421e-4f62a862c7d9}">
          <p14:sldIdLst>
            <p14:sldId id="272"/>
          </p14:sldIdLst>
        </p14:section>
        <p14:section name="보충" id="{090504c3-b526-5d76-7edb-35096720760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태양계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지구는 태양계에서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클까?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태양과 행성 두 개"/>
          <p:cNvSpPr/>
          <p:nvPr/>
        </p:nvSpPr>
        <p:spPr>
          <a:xfrm>
            <a:off x="7772400" y="1237957"/>
            <a:ext cx="1730326" cy="1730326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187647" y="1706587"/>
            <a:ext cx="360485" cy="360485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656277" y="1958926"/>
            <a:ext cx="865163" cy="865163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태양계 행성을 태양에서 가까운 차례로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모형을 만들어 행성의 크기와 거리를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다음에 보이는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cm 2 mm는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mm일까요?</a:t>
            </a:r>
            <a:endParaRPr lang="ko-KR" sz="30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cm 4 mm는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 가족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태양과 그 주위를 도는 것들을 모두 합해 태양계라고 해요.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태양은 별이고, 달은 행성이 아니라 위성이에요.</a:t>
            </a:r>
            <a:endParaRPr lang="ko-KR" sz="3000" dirty="0"/>
          </a:p>
        </p:txBody>
      </p:sp>
      <p:sp>
        <p:nvSpPr>
          <p:cNvPr id="6" name="S03-card1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빛을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태양계의 가운데</a:t>
            </a:r>
            <a:endParaRPr lang="ko-KR" sz="3000" dirty="0"/>
          </a:p>
        </p:txBody>
      </p:sp>
      <p:sp>
        <p:nvSpPr>
          <p:cNvPr id="8" name="S03-card1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 주위를 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지구도 행성이에요.</a:t>
            </a:r>
            <a:endParaRPr lang="ko-KR" sz="3000" dirty="0"/>
          </a:p>
        </p:txBody>
      </p:sp>
      <p:sp>
        <p:nvSpPr>
          <p:cNvPr id="10" name="S03-card2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 주위를 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달은 지구의 위성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가까운 차례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그림의 크기와 간격은 실제와 달라요.</a:t>
            </a:r>
            <a:endParaRPr lang="ko-KR" sz="30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8개예요. 명왕성은 지금은 행성이 아니에요.</a:t>
            </a:r>
            <a:endParaRPr lang="ko-KR" sz="3000" dirty="0"/>
          </a:p>
        </p:txBody>
      </p:sp>
      <p:sp>
        <p:nvSpPr>
          <p:cNvPr id="6" name="S04-figure25" descr="태양에서 가까운 차례로 놓은 행성 여덟 개: 수성, 금성, 지구, 화성, 목성, 토성, 천왕성, 해왕성(크기와 거리는 실제 비율이 아님)"/>
          <p:cNvSpPr/>
          <p:nvPr/>
        </p:nvSpPr>
        <p:spPr>
          <a:xfrm>
            <a:off x="640080" y="2630552"/>
            <a:ext cx="1433272" cy="1433272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26"/>
          <p:cNvSpPr/>
          <p:nvPr/>
        </p:nvSpPr>
        <p:spPr>
          <a:xfrm>
            <a:off x="2909427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7"/>
          <p:cNvSpPr/>
          <p:nvPr/>
        </p:nvSpPr>
        <p:spPr>
          <a:xfrm>
            <a:off x="4064007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28"/>
          <p:cNvSpPr/>
          <p:nvPr/>
        </p:nvSpPr>
        <p:spPr>
          <a:xfrm>
            <a:off x="521858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29"/>
          <p:cNvSpPr/>
          <p:nvPr/>
        </p:nvSpPr>
        <p:spPr>
          <a:xfrm>
            <a:off x="637316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30"/>
          <p:cNvSpPr/>
          <p:nvPr/>
        </p:nvSpPr>
        <p:spPr>
          <a:xfrm>
            <a:off x="752774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mark31"/>
          <p:cNvSpPr/>
          <p:nvPr/>
        </p:nvSpPr>
        <p:spPr>
          <a:xfrm>
            <a:off x="868232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32"/>
          <p:cNvSpPr/>
          <p:nvPr/>
        </p:nvSpPr>
        <p:spPr>
          <a:xfrm>
            <a:off x="983690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mark33"/>
          <p:cNvSpPr/>
          <p:nvPr/>
        </p:nvSpPr>
        <p:spPr>
          <a:xfrm>
            <a:off x="10991488" y="3068496"/>
            <a:ext cx="557384" cy="557384"/>
          </a:xfrm>
          <a:prstGeom prst="ellipse">
            <a:avLst/>
          </a:prstGeom>
          <a:solidFill>
            <a:srgbClr val="D6DEE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label35"/>
          <p:cNvSpPr txBox="1"/>
          <p:nvPr/>
        </p:nvSpPr>
        <p:spPr>
          <a:xfrm>
            <a:off x="1003148" y="431126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2400" dirty="0"/>
          </a:p>
        </p:txBody>
      </p:sp>
      <p:sp>
        <p:nvSpPr>
          <p:cNvPr id="16" name="S04-label37"/>
          <p:cNvSpPr txBox="1"/>
          <p:nvPr/>
        </p:nvSpPr>
        <p:spPr>
          <a:xfrm>
            <a:off x="2896781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</a:t>
            </a:r>
            <a:endParaRPr lang="ko-KR" sz="1900" dirty="0"/>
          </a:p>
        </p:txBody>
      </p:sp>
      <p:sp>
        <p:nvSpPr>
          <p:cNvPr id="17" name="S04-label39"/>
          <p:cNvSpPr txBox="1"/>
          <p:nvPr/>
        </p:nvSpPr>
        <p:spPr>
          <a:xfrm>
            <a:off x="4051361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금성</a:t>
            </a:r>
            <a:endParaRPr lang="ko-KR" sz="1900" dirty="0"/>
          </a:p>
        </p:txBody>
      </p:sp>
      <p:sp>
        <p:nvSpPr>
          <p:cNvPr id="18" name="S04-label41"/>
          <p:cNvSpPr txBox="1"/>
          <p:nvPr/>
        </p:nvSpPr>
        <p:spPr>
          <a:xfrm>
            <a:off x="5205941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</a:t>
            </a:r>
            <a:endParaRPr lang="ko-KR" sz="1900" dirty="0"/>
          </a:p>
        </p:txBody>
      </p:sp>
      <p:sp>
        <p:nvSpPr>
          <p:cNvPr id="19" name="S04-label43"/>
          <p:cNvSpPr txBox="1"/>
          <p:nvPr/>
        </p:nvSpPr>
        <p:spPr>
          <a:xfrm>
            <a:off x="6360522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1900" dirty="0"/>
          </a:p>
        </p:txBody>
      </p:sp>
      <p:sp>
        <p:nvSpPr>
          <p:cNvPr id="20" name="S04-label45"/>
          <p:cNvSpPr txBox="1"/>
          <p:nvPr/>
        </p:nvSpPr>
        <p:spPr>
          <a:xfrm>
            <a:off x="7515102" y="4350956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21" name="S04-label47"/>
          <p:cNvSpPr txBox="1"/>
          <p:nvPr/>
        </p:nvSpPr>
        <p:spPr>
          <a:xfrm>
            <a:off x="8669682" y="387319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2" name="S04-label49"/>
          <p:cNvSpPr txBox="1"/>
          <p:nvPr/>
        </p:nvSpPr>
        <p:spPr>
          <a:xfrm>
            <a:off x="9706025" y="4350956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3" name="S04-label51"/>
          <p:cNvSpPr txBox="1"/>
          <p:nvPr/>
        </p:nvSpPr>
        <p:spPr>
          <a:xfrm>
            <a:off x="10860605" y="3873198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예상해 봐요</a:t>
            </a:r>
            <a:endParaRPr lang="ko-KR" sz="40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행성의 크기는 어떻게 다를까요?</a:t>
            </a:r>
            <a:endParaRPr lang="ko-KR" sz="3000" dirty="0"/>
          </a:p>
        </p:txBody>
      </p:sp>
      <p:sp>
        <p:nvSpPr>
          <p:cNvPr id="4" name="S05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6" name="S05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큰 행성은?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작은 행성은?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큰 행성은 몇 개?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띠로 크기를 비교해요</a:t>
            </a:r>
            <a:endParaRPr lang="ko-KR" sz="4000" dirty="0"/>
          </a:p>
        </p:txBody>
      </p:sp>
      <p:sp>
        <p:nvSpPr>
          <p:cNvPr id="3" name="S06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가위는 끝이 둥근 것을 쓰고, 다 쓰면 어른에게 줘요.</a:t>
            </a:r>
            <a:endParaRPr lang="ko-KR" sz="3000" dirty="0"/>
          </a:p>
        </p:txBody>
      </p:sp>
      <p:sp>
        <p:nvSpPr>
          <p:cNvPr id="5" name="S06-card5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mm까지 정확히 재요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지구보다 긴 띠를 찾아요</a:t>
            </a:r>
            <a:endParaRPr lang="ko-KR" sz="3000" dirty="0"/>
          </a:p>
        </p:txBody>
      </p:sp>
      <p:sp>
        <p:nvSpPr>
          <p:cNvPr id="7" name="S06-stepno60"/>
          <p:cNvSpPr txBox="1"/>
          <p:nvPr/>
        </p:nvSpPr>
        <p:spPr>
          <a:xfrm>
            <a:off x="548640" y="1543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61"/>
          <p:cNvSpPr txBox="1"/>
          <p:nvPr/>
        </p:nvSpPr>
        <p:spPr>
          <a:xfrm>
            <a:off x="1325880" y="14980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길이를 자로 재어 띠에 표시해요.</a:t>
            </a:r>
            <a:endParaRPr lang="ko-KR" sz="3000" dirty="0"/>
          </a:p>
        </p:txBody>
      </p:sp>
      <p:sp>
        <p:nvSpPr>
          <p:cNvPr id="9" name="S06-stepno62"/>
          <p:cNvSpPr txBox="1"/>
          <p:nvPr/>
        </p:nvSpPr>
        <p:spPr>
          <a:xfrm>
            <a:off x="548640" y="2638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63"/>
          <p:cNvSpPr txBox="1"/>
          <p:nvPr/>
        </p:nvSpPr>
        <p:spPr>
          <a:xfrm>
            <a:off x="1325880" y="25923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가위로 자르고 행성 이름을 써요.</a:t>
            </a:r>
            <a:endParaRPr lang="ko-KR" sz="3000" dirty="0"/>
          </a:p>
        </p:txBody>
      </p:sp>
      <p:sp>
        <p:nvSpPr>
          <p:cNvPr id="11" name="S06-stepno64"/>
          <p:cNvSpPr txBox="1"/>
          <p:nvPr/>
        </p:nvSpPr>
        <p:spPr>
          <a:xfrm>
            <a:off x="548640" y="368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65"/>
          <p:cNvSpPr txBox="1"/>
          <p:nvPr/>
        </p:nvSpPr>
        <p:spPr>
          <a:xfrm>
            <a:off x="1325880" y="3686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것부터 차례로 늘어놓아요.</a:t>
            </a:r>
            <a:endParaRPr lang="ko-KR" sz="3000" dirty="0"/>
          </a:p>
        </p:txBody>
      </p:sp>
      <p:sp>
        <p:nvSpPr>
          <p:cNvPr id="13" name="S06-stepno66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67"/>
          <p:cNvSpPr txBox="1"/>
          <p:nvPr/>
        </p:nvSpPr>
        <p:spPr>
          <a:xfrm>
            <a:off x="1325880" y="4399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띠와 견주어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늘어놓은 띠를 보며 빈칸을 말로 채워요.</a:t>
            </a:r>
            <a:endParaRPr lang="ko-KR" sz="3000" dirty="0"/>
          </a:p>
        </p:txBody>
      </p:sp>
      <p:sp>
        <p:nvSpPr>
          <p:cNvPr id="4" name="S07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것, 다른 것을 찾아봐요.</a:t>
            </a:r>
            <a:endParaRPr lang="ko-KR" sz="3000" dirty="0"/>
          </a:p>
        </p:txBody>
      </p:sp>
      <p:graphicFrame>
        <p:nvGraphicFramePr>
          <p:cNvPr id="8" name="S07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긴 띠(가장 큰 행성)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짧은 띠(가장 작은 행성)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긴 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지구보다 짧은 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행성의 크기 비교</a:t>
            </a:r>
            <a:endParaRPr lang="ko-KR" sz="4000" dirty="0"/>
          </a:p>
        </p:txBody>
      </p:sp>
      <p:sp>
        <p:nvSpPr>
          <p:cNvPr id="3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행성은 목성, 가장 작은 행성은 수성이에요.</a:t>
            </a:r>
            <a:endParaRPr lang="ko-KR" sz="3000" dirty="0"/>
          </a:p>
        </p:txBody>
      </p:sp>
      <p:sp>
        <p:nvSpPr>
          <p:cNvPr id="5" name="S08-figure74" descr="지구의 지름을 1로 할 때 같은 비율로 그린 행성의 크기: 수성 0.4, 금성 0.9, 지구 1, 화성 0.5, 목성 11.2, 토성 9.4, 천왕성 4.0, 해왕성 3.9(지름의 비)"/>
          <p:cNvSpPr/>
          <p:nvPr/>
        </p:nvSpPr>
        <p:spPr>
          <a:xfrm>
            <a:off x="890282" y="4430483"/>
            <a:ext cx="100081" cy="10008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75"/>
          <p:cNvSpPr/>
          <p:nvPr/>
        </p:nvSpPr>
        <p:spPr>
          <a:xfrm>
            <a:off x="1478256" y="4305382"/>
            <a:ext cx="225181" cy="22518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76"/>
          <p:cNvSpPr/>
          <p:nvPr/>
        </p:nvSpPr>
        <p:spPr>
          <a:xfrm>
            <a:off x="2116270" y="4280362"/>
            <a:ext cx="250202" cy="250202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77"/>
          <p:cNvSpPr/>
          <p:nvPr/>
        </p:nvSpPr>
        <p:spPr>
          <a:xfrm>
            <a:off x="2829344" y="4405463"/>
            <a:ext cx="125101" cy="125101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78"/>
          <p:cNvSpPr/>
          <p:nvPr/>
        </p:nvSpPr>
        <p:spPr>
          <a:xfrm>
            <a:off x="3279707" y="1728305"/>
            <a:ext cx="2802258" cy="2802258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8-mark79"/>
          <p:cNvSpPr/>
          <p:nvPr/>
        </p:nvSpPr>
        <p:spPr>
          <a:xfrm>
            <a:off x="6407228" y="2178668"/>
            <a:ext cx="2351896" cy="2351896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80"/>
          <p:cNvSpPr/>
          <p:nvPr/>
        </p:nvSpPr>
        <p:spPr>
          <a:xfrm>
            <a:off x="9084386" y="3529757"/>
            <a:ext cx="1000807" cy="1000807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8-mark81"/>
          <p:cNvSpPr/>
          <p:nvPr/>
        </p:nvSpPr>
        <p:spPr>
          <a:xfrm>
            <a:off x="10410454" y="3554777"/>
            <a:ext cx="975786" cy="975786"/>
          </a:xfrm>
          <a:prstGeom prst="ellipse">
            <a:avLst/>
          </a:prstGeom>
          <a:solidFill>
            <a:srgbClr val="D6DEE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82"/>
          <p:cNvSpPr/>
          <p:nvPr/>
        </p:nvSpPr>
        <p:spPr>
          <a:xfrm>
            <a:off x="640080" y="4530564"/>
            <a:ext cx="1090879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4" name="S08-label84"/>
          <p:cNvSpPr txBox="1"/>
          <p:nvPr/>
        </p:nvSpPr>
        <p:spPr>
          <a:xfrm>
            <a:off x="648984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</a:t>
            </a:r>
            <a:endParaRPr lang="ko-KR" sz="1900" dirty="0"/>
          </a:p>
        </p:txBody>
      </p:sp>
      <p:sp>
        <p:nvSpPr>
          <p:cNvPr id="15" name="S08-label86"/>
          <p:cNvSpPr txBox="1"/>
          <p:nvPr/>
        </p:nvSpPr>
        <p:spPr>
          <a:xfrm>
            <a:off x="1299508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금성</a:t>
            </a:r>
            <a:endParaRPr lang="ko-KR" sz="1900" dirty="0"/>
          </a:p>
        </p:txBody>
      </p:sp>
      <p:sp>
        <p:nvSpPr>
          <p:cNvPr id="16" name="S08-label88"/>
          <p:cNvSpPr txBox="1"/>
          <p:nvPr/>
        </p:nvSpPr>
        <p:spPr>
          <a:xfrm>
            <a:off x="1950033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</a:t>
            </a:r>
            <a:endParaRPr lang="ko-KR" sz="1900" dirty="0"/>
          </a:p>
        </p:txBody>
      </p:sp>
      <p:sp>
        <p:nvSpPr>
          <p:cNvPr id="17" name="S08-label90"/>
          <p:cNvSpPr txBox="1"/>
          <p:nvPr/>
        </p:nvSpPr>
        <p:spPr>
          <a:xfrm>
            <a:off x="2600557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1900" dirty="0"/>
          </a:p>
        </p:txBody>
      </p:sp>
      <p:sp>
        <p:nvSpPr>
          <p:cNvPr id="18" name="S08-label92"/>
          <p:cNvSpPr txBox="1"/>
          <p:nvPr/>
        </p:nvSpPr>
        <p:spPr>
          <a:xfrm>
            <a:off x="4389499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19" name="S08-label94"/>
          <p:cNvSpPr txBox="1"/>
          <p:nvPr/>
        </p:nvSpPr>
        <p:spPr>
          <a:xfrm>
            <a:off x="7291838" y="456740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0" name="S08-label96"/>
          <p:cNvSpPr txBox="1"/>
          <p:nvPr/>
        </p:nvSpPr>
        <p:spPr>
          <a:xfrm>
            <a:off x="9175214" y="4567402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1" name="S08-label98"/>
          <p:cNvSpPr txBox="1"/>
          <p:nvPr/>
        </p:nvSpPr>
        <p:spPr>
          <a:xfrm>
            <a:off x="10488773" y="4567402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9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0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해왕성은 태양에서 가장 멀리 있는 행성이에요.</a:t>
            </a:r>
            <a:endParaRPr lang="ko-KR" sz="3000" dirty="0"/>
          </a:p>
        </p:txBody>
      </p:sp>
      <p:sp>
        <p:nvSpPr>
          <p:cNvPr id="5" name="S09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9-chip10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9-text10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멀리 있으니까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행성이에요.</a:t>
            </a:r>
            <a:endParaRPr lang="ko-KR" sz="3000" dirty="0"/>
          </a:p>
        </p:txBody>
      </p:sp>
      <p:sp>
        <p:nvSpPr>
          <p:cNvPr id="9" name="S09-chip10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9-text10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띠를 재어 보니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목성이 가장 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예상해 봐요</a:t>
            </a:r>
            <a:endParaRPr lang="ko-KR" sz="4000" dirty="0"/>
          </a:p>
        </p:txBody>
      </p:sp>
      <p:sp>
        <p:nvSpPr>
          <p:cNvPr id="3" name="S10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지구까지를 휴지 1칸으로 하면?</a:t>
            </a:r>
            <a:endParaRPr lang="ko-KR" sz="3000" dirty="0"/>
          </a:p>
        </p:txBody>
      </p:sp>
      <p:sp>
        <p:nvSpPr>
          <p:cNvPr id="4" name="S10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1" name="S10-table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729984"/>
                <a:gridCol w="37856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행성들은 같은 간격으로 놓일까?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해왕성까지는 몇 칸쯤일까?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지구–화성, 토성–천왕성 중 더 먼 쪽은?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휴지로 거리를 비교해요</a:t>
            </a:r>
            <a:endParaRPr lang="ko-KR" sz="4000" dirty="0"/>
          </a:p>
        </p:txBody>
      </p:sp>
      <p:sp>
        <p:nvSpPr>
          <p:cNvPr id="3" name="S11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휴지를 편 곳에서는 뛰지 않아요.</a:t>
            </a:r>
            <a:endParaRPr lang="ko-KR" sz="3000" dirty="0"/>
          </a:p>
        </p:txBody>
      </p:sp>
      <p:sp>
        <p:nvSpPr>
          <p:cNvPr id="5" name="S11-card113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14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행성 차례를 지켜요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칸 수를 정확히 세요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곳·먼 곳을 견주어요</a:t>
            </a:r>
            <a:endParaRPr lang="ko-KR" sz="3000" dirty="0"/>
          </a:p>
        </p:txBody>
      </p:sp>
      <p:sp>
        <p:nvSpPr>
          <p:cNvPr id="7" name="S11-stepno115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1-text116"/>
          <p:cNvSpPr txBox="1"/>
          <p:nvPr/>
        </p:nvSpPr>
        <p:spPr>
          <a:xfrm>
            <a:off x="1325880" y="166420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바닥에 길게 펴고 한쪽 끝에 ‘태양’ 쪽지를 놓아요.</a:t>
            </a:r>
            <a:endParaRPr lang="ko-KR" sz="3000" dirty="0"/>
          </a:p>
        </p:txBody>
      </p:sp>
      <p:sp>
        <p:nvSpPr>
          <p:cNvPr id="9" name="S11-stepno117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1-text118"/>
          <p:cNvSpPr txBox="1"/>
          <p:nvPr/>
        </p:nvSpPr>
        <p:spPr>
          <a:xfrm>
            <a:off x="1325880" y="275844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4의 칸 수만큼 세어 행성 쪽지를 놓아요.</a:t>
            </a:r>
            <a:endParaRPr lang="ko-KR" sz="3000" dirty="0"/>
          </a:p>
        </p:txBody>
      </p:sp>
      <p:sp>
        <p:nvSpPr>
          <p:cNvPr id="11" name="S11-stepno119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1-text120"/>
          <p:cNvSpPr txBox="1"/>
          <p:nvPr/>
        </p:nvSpPr>
        <p:spPr>
          <a:xfrm>
            <a:off x="1325880" y="385267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해왕성까지 걸어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모형을 보며 빈칸을 말로 채워요.</a:t>
            </a:r>
            <a:endParaRPr lang="ko-KR" sz="3000" dirty="0"/>
          </a:p>
        </p:txBody>
      </p:sp>
      <p:sp>
        <p:nvSpPr>
          <p:cNvPr id="4" name="S12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행성들은 같은 간격으로 놓여 있었나요?</a:t>
            </a:r>
            <a:endParaRPr lang="ko-KR" sz="3000" dirty="0"/>
          </a:p>
        </p:txBody>
      </p:sp>
      <p:graphicFrame>
        <p:nvGraphicFramePr>
          <p:cNvPr id="13" name="S12-table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알았나요?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수성·금성·지구·화성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목성부터 바깥 행성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해왕성까지 칸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행성까지의 거리</a:t>
            </a:r>
            <a:endParaRPr lang="ko-KR" sz="4000" dirty="0"/>
          </a:p>
        </p:txBody>
      </p:sp>
      <p:sp>
        <p:nvSpPr>
          <p:cNvPr id="3" name="S13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지구까지를 1칸으로 한 휴지 모형과 같은 비율이에요.</a:t>
            </a:r>
            <a:endParaRPr lang="ko-KR" sz="3000" dirty="0"/>
          </a:p>
        </p:txBody>
      </p:sp>
      <p:sp>
        <p:nvSpPr>
          <p:cNvPr id="4" name="S13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멀어질수록 행성 사이가 훨씬 넓어져요.</a:t>
            </a:r>
            <a:endParaRPr lang="ko-KR" sz="3000" dirty="0"/>
          </a:p>
        </p:txBody>
      </p:sp>
      <p:sp>
        <p:nvSpPr>
          <p:cNvPr id="6" name="S13-figure128" descr="태양에서 지구까지를 1칸으로 한 거리 모형: 수성 0.4칸, 금성 0.7칸, 지구 1칸, 화성 1.5칸은 태양 가까이 모여 있고, 목성 약 5칸, 토성 약 9칸 반, 천왕성 약 19칸, 해왕성 약 30칸으로 갈수록 사이가 크게 벌어짐"/>
          <p:cNvSpPr/>
          <p:nvPr/>
        </p:nvSpPr>
        <p:spPr>
          <a:xfrm>
            <a:off x="640080" y="3384058"/>
            <a:ext cx="312175" cy="312175"/>
          </a:xfrm>
          <a:prstGeom prst="ellipse">
            <a:avLst/>
          </a:pr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3-mark129"/>
          <p:cNvSpPr/>
          <p:nvPr/>
        </p:nvSpPr>
        <p:spPr>
          <a:xfrm>
            <a:off x="952255" y="3540145"/>
            <a:ext cx="10596617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13-mark130"/>
          <p:cNvSpPr/>
          <p:nvPr/>
        </p:nvSpPr>
        <p:spPr>
          <a:xfrm flipV="1">
            <a:off x="1143029" y="3141255"/>
            <a:ext cx="537635" cy="312175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9" name="S13-mark131"/>
          <p:cNvSpPr/>
          <p:nvPr/>
        </p:nvSpPr>
        <p:spPr>
          <a:xfrm>
            <a:off x="875476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mark132"/>
          <p:cNvSpPr/>
          <p:nvPr/>
        </p:nvSpPr>
        <p:spPr>
          <a:xfrm>
            <a:off x="979535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mark133"/>
          <p:cNvSpPr/>
          <p:nvPr/>
        </p:nvSpPr>
        <p:spPr>
          <a:xfrm>
            <a:off x="1083593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mark134"/>
          <p:cNvSpPr/>
          <p:nvPr/>
        </p:nvSpPr>
        <p:spPr>
          <a:xfrm>
            <a:off x="1257024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mark135"/>
          <p:cNvSpPr/>
          <p:nvPr/>
        </p:nvSpPr>
        <p:spPr>
          <a:xfrm>
            <a:off x="254041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mark136"/>
          <p:cNvSpPr/>
          <p:nvPr/>
        </p:nvSpPr>
        <p:spPr>
          <a:xfrm>
            <a:off x="4031915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mark137"/>
          <p:cNvSpPr/>
          <p:nvPr/>
        </p:nvSpPr>
        <p:spPr>
          <a:xfrm>
            <a:off x="739647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mark138"/>
          <p:cNvSpPr/>
          <p:nvPr/>
        </p:nvSpPr>
        <p:spPr>
          <a:xfrm>
            <a:off x="11177261" y="348070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label140"/>
          <p:cNvSpPr txBox="1"/>
          <p:nvPr/>
        </p:nvSpPr>
        <p:spPr>
          <a:xfrm>
            <a:off x="2308509" y="364947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</a:t>
            </a:r>
            <a:endParaRPr lang="ko-KR" sz="1900" dirty="0"/>
          </a:p>
        </p:txBody>
      </p:sp>
      <p:sp>
        <p:nvSpPr>
          <p:cNvPr id="18" name="S13-label142"/>
          <p:cNvSpPr txBox="1"/>
          <p:nvPr/>
        </p:nvSpPr>
        <p:spPr>
          <a:xfrm>
            <a:off x="2192685" y="3909625"/>
            <a:ext cx="81432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5칸</a:t>
            </a:r>
            <a:endParaRPr lang="ko-KR" sz="1900" dirty="0"/>
          </a:p>
        </p:txBody>
      </p:sp>
      <p:sp>
        <p:nvSpPr>
          <p:cNvPr id="19" name="S13-label144"/>
          <p:cNvSpPr txBox="1"/>
          <p:nvPr/>
        </p:nvSpPr>
        <p:spPr>
          <a:xfrm>
            <a:off x="3800013" y="3649479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1900" dirty="0"/>
          </a:p>
        </p:txBody>
      </p:sp>
      <p:sp>
        <p:nvSpPr>
          <p:cNvPr id="20" name="S13-label146"/>
          <p:cNvSpPr txBox="1"/>
          <p:nvPr/>
        </p:nvSpPr>
        <p:spPr>
          <a:xfrm>
            <a:off x="3529757" y="3909625"/>
            <a:ext cx="112318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9칸 반</a:t>
            </a:r>
            <a:endParaRPr lang="ko-KR" sz="1900" dirty="0"/>
          </a:p>
        </p:txBody>
      </p:sp>
      <p:sp>
        <p:nvSpPr>
          <p:cNvPr id="21" name="S13-label148"/>
          <p:cNvSpPr txBox="1"/>
          <p:nvPr/>
        </p:nvSpPr>
        <p:spPr>
          <a:xfrm>
            <a:off x="7046332" y="3649479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천왕성</a:t>
            </a:r>
            <a:endParaRPr lang="ko-KR" sz="1900" dirty="0"/>
          </a:p>
        </p:txBody>
      </p:sp>
      <p:sp>
        <p:nvSpPr>
          <p:cNvPr id="22" name="S13-label150"/>
          <p:cNvSpPr txBox="1"/>
          <p:nvPr/>
        </p:nvSpPr>
        <p:spPr>
          <a:xfrm>
            <a:off x="6969116" y="3909625"/>
            <a:ext cx="97358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19칸</a:t>
            </a:r>
            <a:endParaRPr lang="ko-KR" sz="1900" dirty="0"/>
          </a:p>
        </p:txBody>
      </p:sp>
      <p:sp>
        <p:nvSpPr>
          <p:cNvPr id="23" name="S13-label152"/>
          <p:cNvSpPr txBox="1"/>
          <p:nvPr/>
        </p:nvSpPr>
        <p:spPr>
          <a:xfrm>
            <a:off x="10827122" y="3649479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해왕성</a:t>
            </a:r>
            <a:endParaRPr lang="ko-KR" sz="1900" dirty="0"/>
          </a:p>
        </p:txBody>
      </p:sp>
      <p:sp>
        <p:nvSpPr>
          <p:cNvPr id="24" name="S13-label154"/>
          <p:cNvSpPr txBox="1"/>
          <p:nvPr/>
        </p:nvSpPr>
        <p:spPr>
          <a:xfrm>
            <a:off x="10749906" y="3909625"/>
            <a:ext cx="97358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30칸</a:t>
            </a:r>
            <a:endParaRPr lang="ko-KR" sz="1900" dirty="0"/>
          </a:p>
        </p:txBody>
      </p:sp>
      <p:sp>
        <p:nvSpPr>
          <p:cNvPr id="25" name="S13-label156"/>
          <p:cNvSpPr txBox="1"/>
          <p:nvPr/>
        </p:nvSpPr>
        <p:spPr>
          <a:xfrm>
            <a:off x="1698007" y="2921070"/>
            <a:ext cx="271094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수성·금성·지구·화성</a:t>
            </a:r>
            <a:endParaRPr lang="ko-KR" sz="1900" dirty="0"/>
          </a:p>
        </p:txBody>
      </p:sp>
      <p:sp>
        <p:nvSpPr>
          <p:cNvPr id="26" name="S13-label158"/>
          <p:cNvSpPr txBox="1"/>
          <p:nvPr/>
        </p:nvSpPr>
        <p:spPr>
          <a:xfrm>
            <a:off x="504830" y="371885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4-card1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그림에서는 행성들이 나란히 늘어서 있어요.</a:t>
            </a:r>
            <a:endParaRPr lang="ko-KR" sz="3000" dirty="0"/>
          </a:p>
        </p:txBody>
      </p:sp>
      <p:sp>
        <p:nvSpPr>
          <p:cNvPr id="5" name="S14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4-chip1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4-text1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행성들은 같은 간격으로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떨어져 있어요.</a:t>
            </a:r>
            <a:endParaRPr lang="ko-KR" sz="3000" dirty="0"/>
          </a:p>
        </p:txBody>
      </p:sp>
      <p:sp>
        <p:nvSpPr>
          <p:cNvPr id="9" name="S14-chip1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4-text1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 모형에서 바깥쪽은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간격이 훨씬 넓었어요.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16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5-text16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태양에서 가까운 차례로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 8개를 말해요.</a:t>
            </a:r>
            <a:endParaRPr lang="ko-KR" sz="3000" dirty="0"/>
          </a:p>
        </p:txBody>
      </p:sp>
      <p:sp>
        <p:nvSpPr>
          <p:cNvPr id="5" name="S15-chip16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5-text17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행성과 가장 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무엇인가요?</a:t>
            </a:r>
            <a:endParaRPr lang="ko-KR" sz="3000" dirty="0"/>
          </a:p>
        </p:txBody>
      </p:sp>
      <p:sp>
        <p:nvSpPr>
          <p:cNvPr id="7" name="S15-chip17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5-text17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지구–화성 사이, 토성–천왕성 사이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어디가 더 멀까요?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행성이 아닌 것은?</a:t>
            </a:r>
            <a:endParaRPr lang="ko-KR" sz="4000" dirty="0"/>
          </a:p>
        </p:txBody>
      </p:sp>
      <p:sp>
        <p:nvSpPr>
          <p:cNvPr id="3" name="S17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태양계의 행성이 아닌 것을 모두 골라요.</a:t>
            </a:r>
            <a:endParaRPr lang="ko-KR" sz="3000" dirty="0"/>
          </a:p>
        </p:txBody>
      </p:sp>
      <p:sp>
        <p:nvSpPr>
          <p:cNvPr id="4" name="S17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행성이 아닌 까닭을 말해요.</a:t>
            </a:r>
            <a:endParaRPr lang="ko-KR" sz="3000" dirty="0"/>
          </a:p>
        </p:txBody>
      </p:sp>
      <p:sp>
        <p:nvSpPr>
          <p:cNvPr id="6" name="S17-chip17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7-card17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7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화성</a:t>
            </a:r>
            <a:endParaRPr lang="ko-KR" sz="3000" dirty="0"/>
          </a:p>
        </p:txBody>
      </p:sp>
      <p:sp>
        <p:nvSpPr>
          <p:cNvPr id="9" name="S17-chip17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7-card18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8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명왕성</a:t>
            </a:r>
            <a:endParaRPr lang="ko-KR" sz="3000" dirty="0"/>
          </a:p>
        </p:txBody>
      </p:sp>
      <p:sp>
        <p:nvSpPr>
          <p:cNvPr id="12" name="S17-chip18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7-card18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7-cardtext18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</a:t>
            </a:r>
            <a:endParaRPr lang="ko-KR" sz="3000" dirty="0"/>
          </a:p>
        </p:txBody>
      </p:sp>
      <p:sp>
        <p:nvSpPr>
          <p:cNvPr id="15" name="S17-chip18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7-card18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7-cardtext18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18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18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 수·금·지·화·목·토·천·해 8개예요.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목성이 가장 크고, 바깥 행성일수록 사이가 멀어요.</a:t>
            </a:r>
            <a:endParaRPr lang="ko-KR" sz="3000" dirty="0"/>
          </a:p>
        </p:txBody>
      </p:sp>
      <p:sp>
        <p:nvSpPr>
          <p:cNvPr id="5" name="S18-chip19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만든 모형으로 비교하기</a:t>
            </a:r>
            <a:endParaRPr lang="ko-KR" sz="2400" dirty="0"/>
          </a:p>
        </p:txBody>
      </p:sp>
      <p:sp>
        <p:nvSpPr>
          <p:cNvPr id="6" name="S18-chip19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멀리 있을수록 크다고 생각하기</a:t>
            </a:r>
            <a:endParaRPr lang="ko-KR" sz="2400" dirty="0"/>
          </a:p>
        </p:txBody>
      </p:sp>
      <p:sp>
        <p:nvSpPr>
          <p:cNvPr id="7" name="S18-text19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8-text19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태양에서 세 번째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행성은?</a:t>
            </a:r>
            <a:endParaRPr lang="ko-KR" sz="2400" dirty="0"/>
          </a:p>
        </p:txBody>
      </p:sp>
      <p:sp>
        <p:nvSpPr>
          <p:cNvPr id="9" name="S18-text19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큰 행성은?</a:t>
            </a:r>
            <a:endParaRPr lang="ko-KR" sz="2400" dirty="0"/>
          </a:p>
        </p:txBody>
      </p:sp>
      <p:sp>
        <p:nvSpPr>
          <p:cNvPr id="10" name="S18-text19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명왕성은 행성일까요?</a:t>
            </a:r>
            <a:endParaRPr lang="ko-KR" sz="2400" dirty="0"/>
          </a:p>
        </p:txBody>
      </p:sp>
      <p:sp>
        <p:nvSpPr>
          <p:cNvPr id="11" name="S18-text1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생태계와 먹이 관계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cm와 mm</a:t>
            </a:r>
            <a:endParaRPr lang="ko-KR" sz="4000" dirty="0"/>
          </a:p>
        </p:txBody>
      </p:sp>
      <p:sp>
        <p:nvSpPr>
          <p:cNvPr id="3" name="S19-text1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똑같이 10칸으로 나눈 한 칸이 1 mm예요.</a:t>
            </a:r>
            <a:endParaRPr lang="ko-KR" sz="3000" dirty="0"/>
          </a:p>
        </p:txBody>
      </p:sp>
      <p:sp>
        <p:nvSpPr>
          <p:cNvPr id="4" name="S19-card1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1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 9 mm = 39 mm</a:t>
            </a:r>
            <a:endParaRPr lang="ko-KR" sz="3000" dirty="0"/>
          </a:p>
        </p:txBody>
      </p:sp>
      <p:sp>
        <p:nvSpPr>
          <p:cNvPr id="6" name="S19-figure200" descr="6 cm 자 위의 막대: 0부터 3 cm 9 mm까지"/>
          <p:cNvSpPr/>
          <p:nvPr/>
        </p:nvSpPr>
        <p:spPr>
          <a:xfrm>
            <a:off x="2985516" y="3337560"/>
            <a:ext cx="6217920" cy="1234440"/>
          </a:xfrm>
          <a:custGeom>
            <a:avLst/>
            <a:gdLst/>
            <a:ahLst/>
            <a:cxnLst/>
            <a:rect l="l" t="t" r="r" b="b"/>
            <a:pathLst>
              <a:path w="6217920" h="1234440">
                <a:moveTo>
                  <a:pt x="0" y="0"/>
                </a:moveTo>
                <a:lnTo>
                  <a:pt x="6217920" y="0"/>
                </a:lnTo>
                <a:lnTo>
                  <a:pt x="62179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9-mark201"/>
          <p:cNvSpPr/>
          <p:nvPr/>
        </p:nvSpPr>
        <p:spPr>
          <a:xfrm>
            <a:off x="33512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9-label203"/>
          <p:cNvSpPr txBox="1"/>
          <p:nvPr/>
        </p:nvSpPr>
        <p:spPr>
          <a:xfrm>
            <a:off x="31958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19-mark204"/>
          <p:cNvSpPr/>
          <p:nvPr/>
        </p:nvSpPr>
        <p:spPr>
          <a:xfrm>
            <a:off x="3442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9-mark205"/>
          <p:cNvSpPr/>
          <p:nvPr/>
        </p:nvSpPr>
        <p:spPr>
          <a:xfrm>
            <a:off x="3534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9-mark206"/>
          <p:cNvSpPr/>
          <p:nvPr/>
        </p:nvSpPr>
        <p:spPr>
          <a:xfrm>
            <a:off x="3625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9-mark207"/>
          <p:cNvSpPr/>
          <p:nvPr/>
        </p:nvSpPr>
        <p:spPr>
          <a:xfrm>
            <a:off x="3717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9-mark208"/>
          <p:cNvSpPr/>
          <p:nvPr/>
        </p:nvSpPr>
        <p:spPr>
          <a:xfrm>
            <a:off x="38084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9-mark209"/>
          <p:cNvSpPr/>
          <p:nvPr/>
        </p:nvSpPr>
        <p:spPr>
          <a:xfrm>
            <a:off x="3899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9-mark210"/>
          <p:cNvSpPr/>
          <p:nvPr/>
        </p:nvSpPr>
        <p:spPr>
          <a:xfrm>
            <a:off x="3991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9-mark211"/>
          <p:cNvSpPr/>
          <p:nvPr/>
        </p:nvSpPr>
        <p:spPr>
          <a:xfrm>
            <a:off x="4082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9-mark212"/>
          <p:cNvSpPr/>
          <p:nvPr/>
        </p:nvSpPr>
        <p:spPr>
          <a:xfrm>
            <a:off x="4174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9-mark213"/>
          <p:cNvSpPr/>
          <p:nvPr/>
        </p:nvSpPr>
        <p:spPr>
          <a:xfrm>
            <a:off x="42656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9-label215"/>
          <p:cNvSpPr txBox="1"/>
          <p:nvPr/>
        </p:nvSpPr>
        <p:spPr>
          <a:xfrm>
            <a:off x="41102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0" name="S19-mark216"/>
          <p:cNvSpPr/>
          <p:nvPr/>
        </p:nvSpPr>
        <p:spPr>
          <a:xfrm>
            <a:off x="43571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9-mark217"/>
          <p:cNvSpPr/>
          <p:nvPr/>
        </p:nvSpPr>
        <p:spPr>
          <a:xfrm>
            <a:off x="44485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9-mark218"/>
          <p:cNvSpPr/>
          <p:nvPr/>
        </p:nvSpPr>
        <p:spPr>
          <a:xfrm>
            <a:off x="45399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9-mark219"/>
          <p:cNvSpPr/>
          <p:nvPr/>
        </p:nvSpPr>
        <p:spPr>
          <a:xfrm>
            <a:off x="46314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9-mark220"/>
          <p:cNvSpPr/>
          <p:nvPr/>
        </p:nvSpPr>
        <p:spPr>
          <a:xfrm>
            <a:off x="47228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9-mark221"/>
          <p:cNvSpPr/>
          <p:nvPr/>
        </p:nvSpPr>
        <p:spPr>
          <a:xfrm>
            <a:off x="48143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9-mark222"/>
          <p:cNvSpPr/>
          <p:nvPr/>
        </p:nvSpPr>
        <p:spPr>
          <a:xfrm>
            <a:off x="49057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9-mark223"/>
          <p:cNvSpPr/>
          <p:nvPr/>
        </p:nvSpPr>
        <p:spPr>
          <a:xfrm>
            <a:off x="49971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9-mark224"/>
          <p:cNvSpPr/>
          <p:nvPr/>
        </p:nvSpPr>
        <p:spPr>
          <a:xfrm>
            <a:off x="50886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9-mark225"/>
          <p:cNvSpPr/>
          <p:nvPr/>
        </p:nvSpPr>
        <p:spPr>
          <a:xfrm>
            <a:off x="51800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19-label227"/>
          <p:cNvSpPr txBox="1"/>
          <p:nvPr/>
        </p:nvSpPr>
        <p:spPr>
          <a:xfrm>
            <a:off x="50246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1" name="S19-mark228"/>
          <p:cNvSpPr/>
          <p:nvPr/>
        </p:nvSpPr>
        <p:spPr>
          <a:xfrm>
            <a:off x="52715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9-mark229"/>
          <p:cNvSpPr/>
          <p:nvPr/>
        </p:nvSpPr>
        <p:spPr>
          <a:xfrm>
            <a:off x="53629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9-mark230"/>
          <p:cNvSpPr/>
          <p:nvPr/>
        </p:nvSpPr>
        <p:spPr>
          <a:xfrm>
            <a:off x="54543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9-mark231"/>
          <p:cNvSpPr/>
          <p:nvPr/>
        </p:nvSpPr>
        <p:spPr>
          <a:xfrm>
            <a:off x="55458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9-mark232"/>
          <p:cNvSpPr/>
          <p:nvPr/>
        </p:nvSpPr>
        <p:spPr>
          <a:xfrm>
            <a:off x="56372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9-mark233"/>
          <p:cNvSpPr/>
          <p:nvPr/>
        </p:nvSpPr>
        <p:spPr>
          <a:xfrm>
            <a:off x="5728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9-mark234"/>
          <p:cNvSpPr/>
          <p:nvPr/>
        </p:nvSpPr>
        <p:spPr>
          <a:xfrm>
            <a:off x="5820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9-mark235"/>
          <p:cNvSpPr/>
          <p:nvPr/>
        </p:nvSpPr>
        <p:spPr>
          <a:xfrm>
            <a:off x="5911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9-mark236"/>
          <p:cNvSpPr/>
          <p:nvPr/>
        </p:nvSpPr>
        <p:spPr>
          <a:xfrm>
            <a:off x="6003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9-mark237"/>
          <p:cNvSpPr/>
          <p:nvPr/>
        </p:nvSpPr>
        <p:spPr>
          <a:xfrm>
            <a:off x="60944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1" name="S19-label239"/>
          <p:cNvSpPr txBox="1"/>
          <p:nvPr/>
        </p:nvSpPr>
        <p:spPr>
          <a:xfrm>
            <a:off x="59390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2" name="S19-mark240"/>
          <p:cNvSpPr/>
          <p:nvPr/>
        </p:nvSpPr>
        <p:spPr>
          <a:xfrm>
            <a:off x="6185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9-mark241"/>
          <p:cNvSpPr/>
          <p:nvPr/>
        </p:nvSpPr>
        <p:spPr>
          <a:xfrm>
            <a:off x="6277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9-mark242"/>
          <p:cNvSpPr/>
          <p:nvPr/>
        </p:nvSpPr>
        <p:spPr>
          <a:xfrm>
            <a:off x="6368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9-mark243"/>
          <p:cNvSpPr/>
          <p:nvPr/>
        </p:nvSpPr>
        <p:spPr>
          <a:xfrm>
            <a:off x="6460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9-mark244"/>
          <p:cNvSpPr/>
          <p:nvPr/>
        </p:nvSpPr>
        <p:spPr>
          <a:xfrm>
            <a:off x="65516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9-mark245"/>
          <p:cNvSpPr/>
          <p:nvPr/>
        </p:nvSpPr>
        <p:spPr>
          <a:xfrm>
            <a:off x="66431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9-mark246"/>
          <p:cNvSpPr/>
          <p:nvPr/>
        </p:nvSpPr>
        <p:spPr>
          <a:xfrm>
            <a:off x="67345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9-mark247"/>
          <p:cNvSpPr/>
          <p:nvPr/>
        </p:nvSpPr>
        <p:spPr>
          <a:xfrm>
            <a:off x="68259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9-mark248"/>
          <p:cNvSpPr/>
          <p:nvPr/>
        </p:nvSpPr>
        <p:spPr>
          <a:xfrm>
            <a:off x="69174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9-mark249"/>
          <p:cNvSpPr/>
          <p:nvPr/>
        </p:nvSpPr>
        <p:spPr>
          <a:xfrm>
            <a:off x="70088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2" name="S19-label251"/>
          <p:cNvSpPr txBox="1"/>
          <p:nvPr/>
        </p:nvSpPr>
        <p:spPr>
          <a:xfrm>
            <a:off x="68534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3" name="S19-mark252"/>
          <p:cNvSpPr/>
          <p:nvPr/>
        </p:nvSpPr>
        <p:spPr>
          <a:xfrm>
            <a:off x="71003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9-mark253"/>
          <p:cNvSpPr/>
          <p:nvPr/>
        </p:nvSpPr>
        <p:spPr>
          <a:xfrm>
            <a:off x="71917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9-mark254"/>
          <p:cNvSpPr/>
          <p:nvPr/>
        </p:nvSpPr>
        <p:spPr>
          <a:xfrm>
            <a:off x="72831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9-mark255"/>
          <p:cNvSpPr/>
          <p:nvPr/>
        </p:nvSpPr>
        <p:spPr>
          <a:xfrm>
            <a:off x="73746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9-mark256"/>
          <p:cNvSpPr/>
          <p:nvPr/>
        </p:nvSpPr>
        <p:spPr>
          <a:xfrm>
            <a:off x="74660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9-mark257"/>
          <p:cNvSpPr/>
          <p:nvPr/>
        </p:nvSpPr>
        <p:spPr>
          <a:xfrm>
            <a:off x="75575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9-mark258"/>
          <p:cNvSpPr/>
          <p:nvPr/>
        </p:nvSpPr>
        <p:spPr>
          <a:xfrm>
            <a:off x="76489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9-mark259"/>
          <p:cNvSpPr/>
          <p:nvPr/>
        </p:nvSpPr>
        <p:spPr>
          <a:xfrm>
            <a:off x="77403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9-mark260"/>
          <p:cNvSpPr/>
          <p:nvPr/>
        </p:nvSpPr>
        <p:spPr>
          <a:xfrm>
            <a:off x="78318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9-mark261"/>
          <p:cNvSpPr/>
          <p:nvPr/>
        </p:nvSpPr>
        <p:spPr>
          <a:xfrm>
            <a:off x="79232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3" name="S19-label263"/>
          <p:cNvSpPr txBox="1"/>
          <p:nvPr/>
        </p:nvSpPr>
        <p:spPr>
          <a:xfrm>
            <a:off x="77678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4" name="S19-mark264"/>
          <p:cNvSpPr/>
          <p:nvPr/>
        </p:nvSpPr>
        <p:spPr>
          <a:xfrm>
            <a:off x="80147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9-mark265"/>
          <p:cNvSpPr/>
          <p:nvPr/>
        </p:nvSpPr>
        <p:spPr>
          <a:xfrm>
            <a:off x="81061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9-mark266"/>
          <p:cNvSpPr/>
          <p:nvPr/>
        </p:nvSpPr>
        <p:spPr>
          <a:xfrm>
            <a:off x="81975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9-mark267"/>
          <p:cNvSpPr/>
          <p:nvPr/>
        </p:nvSpPr>
        <p:spPr>
          <a:xfrm>
            <a:off x="82890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9-mark268"/>
          <p:cNvSpPr/>
          <p:nvPr/>
        </p:nvSpPr>
        <p:spPr>
          <a:xfrm>
            <a:off x="8380476" y="333756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9-mark269"/>
          <p:cNvSpPr/>
          <p:nvPr/>
        </p:nvSpPr>
        <p:spPr>
          <a:xfrm>
            <a:off x="847191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9-mark270"/>
          <p:cNvSpPr/>
          <p:nvPr/>
        </p:nvSpPr>
        <p:spPr>
          <a:xfrm>
            <a:off x="856335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9-mark271"/>
          <p:cNvSpPr/>
          <p:nvPr/>
        </p:nvSpPr>
        <p:spPr>
          <a:xfrm>
            <a:off x="865479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9-mark272"/>
          <p:cNvSpPr/>
          <p:nvPr/>
        </p:nvSpPr>
        <p:spPr>
          <a:xfrm>
            <a:off x="8746236" y="333756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9-mark273"/>
          <p:cNvSpPr/>
          <p:nvPr/>
        </p:nvSpPr>
        <p:spPr>
          <a:xfrm>
            <a:off x="8837676" y="333756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4" name="S19-label275"/>
          <p:cNvSpPr txBox="1"/>
          <p:nvPr/>
        </p:nvSpPr>
        <p:spPr>
          <a:xfrm>
            <a:off x="8682228" y="378714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5" name="S19-mark276"/>
          <p:cNvSpPr/>
          <p:nvPr/>
        </p:nvSpPr>
        <p:spPr>
          <a:xfrm>
            <a:off x="3351276" y="2743200"/>
            <a:ext cx="3566160" cy="365760"/>
          </a:xfrm>
          <a:custGeom>
            <a:avLst/>
            <a:gdLst/>
            <a:ahLst/>
            <a:cxnLst/>
            <a:rect l="l" t="t" r="r" b="b"/>
            <a:pathLst>
              <a:path w="3566160" h="365760">
                <a:moveTo>
                  <a:pt x="0" y="365760"/>
                </a:moveTo>
                <a:lnTo>
                  <a:pt x="3566160" y="365760"/>
                </a:lnTo>
                <a:lnTo>
                  <a:pt x="3566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9-label278"/>
          <p:cNvSpPr txBox="1"/>
          <p:nvPr/>
        </p:nvSpPr>
        <p:spPr>
          <a:xfrm>
            <a:off x="4280916" y="2735580"/>
            <a:ext cx="1706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 9 mm</a:t>
            </a:r>
            <a:endParaRPr lang="ko-KR" sz="2400" dirty="0"/>
          </a:p>
        </p:txBody>
      </p:sp>
      <p:sp>
        <p:nvSpPr>
          <p:cNvPr id="77" name="S19-mark279"/>
          <p:cNvSpPr/>
          <p:nvPr/>
        </p:nvSpPr>
        <p:spPr>
          <a:xfrm>
            <a:off x="3351276" y="310896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8" name="S19-mark280"/>
          <p:cNvSpPr/>
          <p:nvPr/>
        </p:nvSpPr>
        <p:spPr>
          <a:xfrm>
            <a:off x="6917436" y="310896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태양계</dc:title>
  <dc:subject>KR22-G04-SCI-PLANETS-L01</dc:subject>
  <dc:creator>education-ppt</dc:creator>
  <cp:lastModifiedBy>education-ppt</cp:lastModifiedBy>
  <cp:revision>1</cp:revision>
  <dcterms:created xsi:type="dcterms:W3CDTF">2026-10-26T13:07:29Z</dcterms:created>
  <dcterms:modified xsi:type="dcterms:W3CDTF">2026-10-26T13:07:29Z</dcterms:modified>
</cp:coreProperties>
</file>