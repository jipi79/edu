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0ec5253-6d88-4b2b-3454-b4cff496c52f}">
          <p14:sldIdLst>
            <p14:sldId id="256"/>
            <p14:sldId id="257"/>
          </p14:sldIdLst>
        </p14:section>
        <p14:section name="개념" id="{1f4add42-54d0-ad3a-6746-72f1d03fd7f4}">
          <p14:sldIdLst>
            <p14:sldId id="258"/>
            <p14:sldId id="262"/>
            <p14:sldId id="264"/>
          </p14:sldIdLst>
        </p14:section>
        <p14:section name="연습" id="{0324613d-29ac-ea0b-1b72-53d795ce73e7}">
          <p14:sldIdLst>
            <p14:sldId id="259"/>
            <p14:sldId id="260"/>
            <p14:sldId id="261"/>
            <p14:sldId id="263"/>
            <p14:sldId id="265"/>
            <p14:sldId id="266"/>
          </p14:sldIdLst>
        </p14:section>
        <p14:section name="개념" id="{cd3a3492-7a8b-3452-46f8-50be88c6565d}">
          <p14:sldIdLst/>
        </p14:section>
        <p14:section name="연습" id="{67790fd7-d529-d3ba-476d-10f4f1a89ead}">
          <p14:sldIdLst/>
        </p14:section>
        <p14:section name="개념" id="{7591fd2a-55b8-704a-b4b2-5b9d426af937}">
          <p14:sldIdLst/>
        </p14:section>
        <p14:section name="연습" id="{bfea53db-b354-f69f-3218-5caf4e02bf6f}">
          <p14:sldIdLst/>
        </p14:section>
        <p14:section name="확인" id="{7875a1e8-0a46-c5c0-e5ed-e3a8ffa51f47}">
          <p14:sldIdLst>
            <p14:sldId id="267"/>
            <p14:sldId id="268"/>
          </p14:sldIdLst>
        </p14:section>
        <p14:section name="정리" id="{977d1a94-ac72-e8cf-6237-94f2366bfcf9}">
          <p14:sldIdLst>
            <p14:sldId id="269"/>
          </p14:sldIdLst>
        </p14:section>
        <p14:section name="보충" id="{84898e77-040f-60f4-2995-ecaed3b36b44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땅과밤하늘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달의 모양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달의 모양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달의 모양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 변화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모양과 위치는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어떻게 바뀔까?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보름달과 초승달"/>
          <p:cNvSpPr/>
          <p:nvPr/>
        </p:nvSpPr>
        <p:spPr>
          <a:xfrm>
            <a:off x="7772400" y="1305452"/>
            <a:ext cx="1595336" cy="1595336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926104" y="1305452"/>
            <a:ext cx="1595336" cy="1595336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0723772" y="1305452"/>
            <a:ext cx="797668" cy="1595336"/>
          </a:xfrm>
          <a:custGeom>
            <a:avLst/>
            <a:gdLst/>
            <a:ahLst/>
            <a:cxnLst/>
            <a:rect l="l" t="t" r="r" b="b"/>
            <a:pathLst>
              <a:path w="797668" h="1595336">
                <a:moveTo>
                  <a:pt x="0" y="1595336"/>
                </a:moveTo>
                <a:lnTo>
                  <a:pt x="104495" y="1588157"/>
                </a:lnTo>
                <a:lnTo>
                  <a:pt x="206596" y="1568215"/>
                </a:lnTo>
                <a:lnTo>
                  <a:pt x="305507" y="1534713"/>
                </a:lnTo>
                <a:lnTo>
                  <a:pt x="398834" y="1488449"/>
                </a:lnTo>
                <a:lnTo>
                  <a:pt x="485780" y="1430219"/>
                </a:lnTo>
                <a:lnTo>
                  <a:pt x="563951" y="1361619"/>
                </a:lnTo>
                <a:lnTo>
                  <a:pt x="632551" y="1283448"/>
                </a:lnTo>
                <a:lnTo>
                  <a:pt x="690781" y="1196502"/>
                </a:lnTo>
                <a:lnTo>
                  <a:pt x="737045" y="1103175"/>
                </a:lnTo>
                <a:lnTo>
                  <a:pt x="770547" y="1004264"/>
                </a:lnTo>
                <a:lnTo>
                  <a:pt x="790489" y="902163"/>
                </a:lnTo>
                <a:lnTo>
                  <a:pt x="797668" y="797668"/>
                </a:lnTo>
                <a:lnTo>
                  <a:pt x="790489" y="693174"/>
                </a:lnTo>
                <a:lnTo>
                  <a:pt x="770547" y="591072"/>
                </a:lnTo>
                <a:lnTo>
                  <a:pt x="737045" y="492161"/>
                </a:lnTo>
                <a:lnTo>
                  <a:pt x="690781" y="398834"/>
                </a:lnTo>
                <a:lnTo>
                  <a:pt x="632551" y="311888"/>
                </a:lnTo>
                <a:lnTo>
                  <a:pt x="563951" y="233717"/>
                </a:lnTo>
                <a:lnTo>
                  <a:pt x="485780" y="165117"/>
                </a:lnTo>
                <a:lnTo>
                  <a:pt x="398834" y="106888"/>
                </a:lnTo>
                <a:lnTo>
                  <a:pt x="305507" y="60623"/>
                </a:lnTo>
                <a:lnTo>
                  <a:pt x="206596" y="27121"/>
                </a:lnTo>
                <a:lnTo>
                  <a:pt x="104495" y="7179"/>
                </a:lnTo>
                <a:lnTo>
                  <a:pt x="0" y="0"/>
                </a:lnTo>
                <a:lnTo>
                  <a:pt x="0" y="0"/>
                </a:lnTo>
                <a:lnTo>
                  <a:pt x="57432" y="7179"/>
                </a:lnTo>
                <a:lnTo>
                  <a:pt x="113269" y="27121"/>
                </a:lnTo>
                <a:lnTo>
                  <a:pt x="167510" y="60623"/>
                </a:lnTo>
                <a:lnTo>
                  <a:pt x="219359" y="106888"/>
                </a:lnTo>
                <a:lnTo>
                  <a:pt x="267219" y="165117"/>
                </a:lnTo>
                <a:lnTo>
                  <a:pt x="310293" y="233717"/>
                </a:lnTo>
                <a:lnTo>
                  <a:pt x="347783" y="311888"/>
                </a:lnTo>
                <a:lnTo>
                  <a:pt x="379690" y="398834"/>
                </a:lnTo>
                <a:lnTo>
                  <a:pt x="405215" y="492161"/>
                </a:lnTo>
                <a:lnTo>
                  <a:pt x="423562" y="591072"/>
                </a:lnTo>
                <a:lnTo>
                  <a:pt x="434729" y="693174"/>
                </a:lnTo>
                <a:lnTo>
                  <a:pt x="438717" y="797668"/>
                </a:lnTo>
                <a:lnTo>
                  <a:pt x="434729" y="902163"/>
                </a:lnTo>
                <a:lnTo>
                  <a:pt x="423562" y="1004264"/>
                </a:lnTo>
                <a:lnTo>
                  <a:pt x="405215" y="1103175"/>
                </a:lnTo>
                <a:lnTo>
                  <a:pt x="379690" y="1196502"/>
                </a:lnTo>
                <a:lnTo>
                  <a:pt x="347783" y="1283448"/>
                </a:lnTo>
                <a:lnTo>
                  <a:pt x="310293" y="1361619"/>
                </a:lnTo>
                <a:lnTo>
                  <a:pt x="267219" y="1430219"/>
                </a:lnTo>
                <a:lnTo>
                  <a:pt x="219359" y="1488449"/>
                </a:lnTo>
                <a:lnTo>
                  <a:pt x="167510" y="1534713"/>
                </a:lnTo>
                <a:lnTo>
                  <a:pt x="113269" y="1568215"/>
                </a:lnTo>
                <a:lnTo>
                  <a:pt x="57432" y="1588157"/>
                </a:lnTo>
                <a:lnTo>
                  <a:pt x="0" y="1595336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8" name="S01-mark5"/>
          <p:cNvSpPr/>
          <p:nvPr/>
        </p:nvSpPr>
        <p:spPr>
          <a:xfrm>
            <a:off x="7772400" y="1305452"/>
            <a:ext cx="1595336" cy="1595336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926104" y="1305452"/>
            <a:ext cx="1595336" cy="1595336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S01-card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1" name="S01-cardtext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달의 여러 가지 모양과 바뀌는 차례를 알아요.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같은 시각에 달의 위치가 어떻게 바뀌는지 기록해요.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떠올려요</a:t>
            </a:r>
            <a:endParaRPr lang="ko-KR" sz="4000" dirty="0"/>
          </a:p>
        </p:txBody>
      </p:sp>
      <p:sp>
        <p:nvSpPr>
          <p:cNvPr id="3" name="S02-chip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땅을 깎는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하나요?</a:t>
            </a:r>
            <a:endParaRPr lang="ko-KR" sz="3000" dirty="0"/>
          </a:p>
        </p:txBody>
      </p:sp>
      <p:sp>
        <p:nvSpPr>
          <p:cNvPr id="5" name="S02-chip1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지는 쪽은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동쪽과 서쪽 중 어디일까요?</a:t>
            </a:r>
            <a:endParaRPr lang="ko-KR" sz="3000" dirty="0"/>
          </a:p>
        </p:txBody>
      </p:sp>
      <p:sp>
        <p:nvSpPr>
          <p:cNvPr id="7" name="S02-chip1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남쪽을 보고 서면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어느 쪽일까요?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여러 가지 모양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밝게 보이는 부분의 모양에 따라 이름이 달라요.</a:t>
            </a:r>
            <a:endParaRPr lang="ko-KR" sz="3000" dirty="0"/>
          </a:p>
        </p:txBody>
      </p:sp>
      <p:sp>
        <p:nvSpPr>
          <p:cNvPr id="4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밝은 쪽이 오른쪽인지 왼쪽인지 잘 봐요.</a:t>
            </a:r>
            <a:endParaRPr lang="ko-KR" sz="3000" dirty="0"/>
          </a:p>
        </p:txBody>
      </p:sp>
      <p:sp>
        <p:nvSpPr>
          <p:cNvPr id="6" name="S03-figure18" descr="보름달: 둥글게 모두 밝은 달"/>
          <p:cNvSpPr/>
          <p:nvPr/>
        </p:nvSpPr>
        <p:spPr>
          <a:xfrm>
            <a:off x="843991" y="2638044"/>
            <a:ext cx="1371600" cy="1371600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3-mark19"/>
          <p:cNvSpPr/>
          <p:nvPr/>
        </p:nvSpPr>
        <p:spPr>
          <a:xfrm>
            <a:off x="843991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</a:t>
            </a:r>
            <a:endParaRPr lang="ko-KR" sz="2400" dirty="0"/>
          </a:p>
        </p:txBody>
      </p:sp>
      <p:sp>
        <p:nvSpPr>
          <p:cNvPr id="9" name="S03-figure21" descr="그믐달: 왼쪽이 가늘게 밝은 눈썹 모양"/>
          <p:cNvSpPr/>
          <p:nvPr/>
        </p:nvSpPr>
        <p:spPr>
          <a:xfrm>
            <a:off x="3126334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0" name="S03-mark22"/>
          <p:cNvSpPr/>
          <p:nvPr/>
        </p:nvSpPr>
        <p:spPr>
          <a:xfrm>
            <a:off x="3126334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685800" y="1371600"/>
                </a:moveTo>
                <a:lnTo>
                  <a:pt x="595960" y="1365428"/>
                </a:lnTo>
                <a:lnTo>
                  <a:pt x="508178" y="1348283"/>
                </a:lnTo>
                <a:lnTo>
                  <a:pt x="423139" y="1319479"/>
                </a:lnTo>
                <a:lnTo>
                  <a:pt x="342900" y="1279703"/>
                </a:lnTo>
                <a:lnTo>
                  <a:pt x="268148" y="1229639"/>
                </a:lnTo>
                <a:lnTo>
                  <a:pt x="200939" y="1170661"/>
                </a:lnTo>
                <a:lnTo>
                  <a:pt x="141961" y="1103452"/>
                </a:lnTo>
                <a:lnTo>
                  <a:pt x="91897" y="1028700"/>
                </a:lnTo>
                <a:lnTo>
                  <a:pt x="52121" y="948461"/>
                </a:lnTo>
                <a:lnTo>
                  <a:pt x="23317" y="863422"/>
                </a:lnTo>
                <a:lnTo>
                  <a:pt x="6172" y="775640"/>
                </a:lnTo>
                <a:lnTo>
                  <a:pt x="0" y="685800"/>
                </a:lnTo>
                <a:lnTo>
                  <a:pt x="6172" y="595960"/>
                </a:lnTo>
                <a:lnTo>
                  <a:pt x="23317" y="508178"/>
                </a:lnTo>
                <a:lnTo>
                  <a:pt x="52121" y="423139"/>
                </a:lnTo>
                <a:lnTo>
                  <a:pt x="91897" y="342900"/>
                </a:lnTo>
                <a:lnTo>
                  <a:pt x="141961" y="268148"/>
                </a:lnTo>
                <a:lnTo>
                  <a:pt x="200939" y="200939"/>
                </a:lnTo>
                <a:lnTo>
                  <a:pt x="268148" y="141961"/>
                </a:lnTo>
                <a:lnTo>
                  <a:pt x="342900" y="91897"/>
                </a:lnTo>
                <a:lnTo>
                  <a:pt x="423139" y="52121"/>
                </a:lnTo>
                <a:lnTo>
                  <a:pt x="508178" y="23317"/>
                </a:lnTo>
                <a:lnTo>
                  <a:pt x="595960" y="6172"/>
                </a:lnTo>
                <a:lnTo>
                  <a:pt x="685800" y="0"/>
                </a:lnTo>
                <a:lnTo>
                  <a:pt x="685800" y="0"/>
                </a:lnTo>
                <a:lnTo>
                  <a:pt x="636422" y="6172"/>
                </a:lnTo>
                <a:lnTo>
                  <a:pt x="588416" y="23317"/>
                </a:lnTo>
                <a:lnTo>
                  <a:pt x="541782" y="52121"/>
                </a:lnTo>
                <a:lnTo>
                  <a:pt x="497205" y="91897"/>
                </a:lnTo>
                <a:lnTo>
                  <a:pt x="456057" y="141961"/>
                </a:lnTo>
                <a:lnTo>
                  <a:pt x="419024" y="200939"/>
                </a:lnTo>
                <a:lnTo>
                  <a:pt x="386791" y="268148"/>
                </a:lnTo>
                <a:lnTo>
                  <a:pt x="359359" y="342900"/>
                </a:lnTo>
                <a:lnTo>
                  <a:pt x="337414" y="423139"/>
                </a:lnTo>
                <a:lnTo>
                  <a:pt x="321640" y="508178"/>
                </a:lnTo>
                <a:lnTo>
                  <a:pt x="312039" y="595960"/>
                </a:lnTo>
                <a:lnTo>
                  <a:pt x="308610" y="685800"/>
                </a:lnTo>
                <a:lnTo>
                  <a:pt x="312039" y="775640"/>
                </a:lnTo>
                <a:lnTo>
                  <a:pt x="321640" y="863422"/>
                </a:lnTo>
                <a:lnTo>
                  <a:pt x="337414" y="948461"/>
                </a:lnTo>
                <a:lnTo>
                  <a:pt x="359359" y="1028700"/>
                </a:lnTo>
                <a:lnTo>
                  <a:pt x="386791" y="1103452"/>
                </a:lnTo>
                <a:lnTo>
                  <a:pt x="419024" y="1170661"/>
                </a:lnTo>
                <a:lnTo>
                  <a:pt x="456057" y="1229639"/>
                </a:lnTo>
                <a:lnTo>
                  <a:pt x="497205" y="1279703"/>
                </a:lnTo>
                <a:lnTo>
                  <a:pt x="541782" y="1319479"/>
                </a:lnTo>
                <a:lnTo>
                  <a:pt x="588416" y="1348283"/>
                </a:lnTo>
                <a:lnTo>
                  <a:pt x="636422" y="1365428"/>
                </a:lnTo>
                <a:lnTo>
                  <a:pt x="68580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1" name="S03-mark23"/>
          <p:cNvSpPr/>
          <p:nvPr/>
        </p:nvSpPr>
        <p:spPr>
          <a:xfrm>
            <a:off x="3126334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2" name="S03-label24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그믐달</a:t>
            </a:r>
            <a:endParaRPr lang="ko-KR" sz="2400" dirty="0"/>
          </a:p>
        </p:txBody>
      </p:sp>
      <p:sp>
        <p:nvSpPr>
          <p:cNvPr id="13" name="S03-figure25" descr="상현달: 오른쪽 반이 밝은 반달"/>
          <p:cNvSpPr/>
          <p:nvPr/>
        </p:nvSpPr>
        <p:spPr>
          <a:xfrm>
            <a:off x="5408676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4" name="S03-mark26"/>
          <p:cNvSpPr/>
          <p:nvPr/>
        </p:nvSpPr>
        <p:spPr>
          <a:xfrm>
            <a:off x="6094476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0" y="1371600"/>
                </a:moveTo>
                <a:lnTo>
                  <a:pt x="89840" y="1365428"/>
                </a:lnTo>
                <a:lnTo>
                  <a:pt x="177622" y="1348283"/>
                </a:lnTo>
                <a:lnTo>
                  <a:pt x="262661" y="1319479"/>
                </a:lnTo>
                <a:lnTo>
                  <a:pt x="342900" y="1279703"/>
                </a:lnTo>
                <a:lnTo>
                  <a:pt x="417652" y="1229639"/>
                </a:lnTo>
                <a:lnTo>
                  <a:pt x="484861" y="1170661"/>
                </a:lnTo>
                <a:lnTo>
                  <a:pt x="543839" y="1103452"/>
                </a:lnTo>
                <a:lnTo>
                  <a:pt x="593903" y="1028700"/>
                </a:lnTo>
                <a:lnTo>
                  <a:pt x="633679" y="948461"/>
                </a:lnTo>
                <a:lnTo>
                  <a:pt x="662483" y="863422"/>
                </a:lnTo>
                <a:lnTo>
                  <a:pt x="679628" y="775640"/>
                </a:lnTo>
                <a:lnTo>
                  <a:pt x="685800" y="685800"/>
                </a:lnTo>
                <a:lnTo>
                  <a:pt x="679628" y="595960"/>
                </a:lnTo>
                <a:lnTo>
                  <a:pt x="662483" y="508178"/>
                </a:lnTo>
                <a:lnTo>
                  <a:pt x="633679" y="423139"/>
                </a:lnTo>
                <a:lnTo>
                  <a:pt x="593903" y="342900"/>
                </a:lnTo>
                <a:lnTo>
                  <a:pt x="543839" y="268148"/>
                </a:lnTo>
                <a:lnTo>
                  <a:pt x="484861" y="200939"/>
                </a:lnTo>
                <a:lnTo>
                  <a:pt x="417652" y="141961"/>
                </a:lnTo>
                <a:lnTo>
                  <a:pt x="342900" y="91897"/>
                </a:lnTo>
                <a:lnTo>
                  <a:pt x="262661" y="52121"/>
                </a:lnTo>
                <a:lnTo>
                  <a:pt x="177622" y="23317"/>
                </a:lnTo>
                <a:lnTo>
                  <a:pt x="89840" y="6172"/>
                </a:lnTo>
                <a:lnTo>
                  <a:pt x="0" y="0"/>
                </a:lnTo>
                <a:lnTo>
                  <a:pt x="0" y="0"/>
                </a:lnTo>
                <a:lnTo>
                  <a:pt x="0" y="6172"/>
                </a:lnTo>
                <a:lnTo>
                  <a:pt x="0" y="23317"/>
                </a:lnTo>
                <a:lnTo>
                  <a:pt x="0" y="52121"/>
                </a:lnTo>
                <a:lnTo>
                  <a:pt x="0" y="91897"/>
                </a:lnTo>
                <a:lnTo>
                  <a:pt x="0" y="141961"/>
                </a:lnTo>
                <a:lnTo>
                  <a:pt x="0" y="200939"/>
                </a:lnTo>
                <a:lnTo>
                  <a:pt x="0" y="268148"/>
                </a:lnTo>
                <a:lnTo>
                  <a:pt x="0" y="342900"/>
                </a:lnTo>
                <a:lnTo>
                  <a:pt x="0" y="423139"/>
                </a:lnTo>
                <a:lnTo>
                  <a:pt x="0" y="508178"/>
                </a:lnTo>
                <a:lnTo>
                  <a:pt x="0" y="595960"/>
                </a:lnTo>
                <a:lnTo>
                  <a:pt x="0" y="685800"/>
                </a:lnTo>
                <a:lnTo>
                  <a:pt x="0" y="775640"/>
                </a:lnTo>
                <a:lnTo>
                  <a:pt x="0" y="863422"/>
                </a:lnTo>
                <a:lnTo>
                  <a:pt x="0" y="948461"/>
                </a:lnTo>
                <a:lnTo>
                  <a:pt x="0" y="1028700"/>
                </a:lnTo>
                <a:lnTo>
                  <a:pt x="0" y="1103452"/>
                </a:lnTo>
                <a:lnTo>
                  <a:pt x="0" y="1170661"/>
                </a:lnTo>
                <a:lnTo>
                  <a:pt x="0" y="1229639"/>
                </a:lnTo>
                <a:lnTo>
                  <a:pt x="0" y="1279703"/>
                </a:lnTo>
                <a:lnTo>
                  <a:pt x="0" y="1319479"/>
                </a:lnTo>
                <a:lnTo>
                  <a:pt x="0" y="1348283"/>
                </a:lnTo>
                <a:lnTo>
                  <a:pt x="0" y="1365428"/>
                </a:lnTo>
                <a:lnTo>
                  <a:pt x="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5" name="S03-mark27"/>
          <p:cNvSpPr/>
          <p:nvPr/>
        </p:nvSpPr>
        <p:spPr>
          <a:xfrm>
            <a:off x="5408676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03-label28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상현달</a:t>
            </a:r>
            <a:endParaRPr lang="ko-KR" sz="2400" dirty="0"/>
          </a:p>
        </p:txBody>
      </p:sp>
      <p:sp>
        <p:nvSpPr>
          <p:cNvPr id="17" name="S03-figure29" descr="초승달: 오른쪽이 가늘게 밝은 눈썹 모양"/>
          <p:cNvSpPr/>
          <p:nvPr/>
        </p:nvSpPr>
        <p:spPr>
          <a:xfrm>
            <a:off x="7691018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8" name="S03-mark30"/>
          <p:cNvSpPr/>
          <p:nvPr/>
        </p:nvSpPr>
        <p:spPr>
          <a:xfrm>
            <a:off x="8376818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0" y="1371600"/>
                </a:moveTo>
                <a:lnTo>
                  <a:pt x="89840" y="1365428"/>
                </a:lnTo>
                <a:lnTo>
                  <a:pt x="177622" y="1348283"/>
                </a:lnTo>
                <a:lnTo>
                  <a:pt x="262661" y="1319479"/>
                </a:lnTo>
                <a:lnTo>
                  <a:pt x="342900" y="1279703"/>
                </a:lnTo>
                <a:lnTo>
                  <a:pt x="417652" y="1229639"/>
                </a:lnTo>
                <a:lnTo>
                  <a:pt x="484861" y="1170661"/>
                </a:lnTo>
                <a:lnTo>
                  <a:pt x="543839" y="1103452"/>
                </a:lnTo>
                <a:lnTo>
                  <a:pt x="593903" y="1028700"/>
                </a:lnTo>
                <a:lnTo>
                  <a:pt x="633679" y="948461"/>
                </a:lnTo>
                <a:lnTo>
                  <a:pt x="662483" y="863422"/>
                </a:lnTo>
                <a:lnTo>
                  <a:pt x="679628" y="775640"/>
                </a:lnTo>
                <a:lnTo>
                  <a:pt x="685800" y="685800"/>
                </a:lnTo>
                <a:lnTo>
                  <a:pt x="679628" y="595960"/>
                </a:lnTo>
                <a:lnTo>
                  <a:pt x="662483" y="508178"/>
                </a:lnTo>
                <a:lnTo>
                  <a:pt x="633679" y="423139"/>
                </a:lnTo>
                <a:lnTo>
                  <a:pt x="593903" y="342900"/>
                </a:lnTo>
                <a:lnTo>
                  <a:pt x="543839" y="268148"/>
                </a:lnTo>
                <a:lnTo>
                  <a:pt x="484861" y="200939"/>
                </a:lnTo>
                <a:lnTo>
                  <a:pt x="417652" y="141961"/>
                </a:lnTo>
                <a:lnTo>
                  <a:pt x="342900" y="91897"/>
                </a:lnTo>
                <a:lnTo>
                  <a:pt x="262661" y="52121"/>
                </a:lnTo>
                <a:lnTo>
                  <a:pt x="177622" y="23317"/>
                </a:lnTo>
                <a:lnTo>
                  <a:pt x="89840" y="6172"/>
                </a:lnTo>
                <a:lnTo>
                  <a:pt x="0" y="0"/>
                </a:lnTo>
                <a:lnTo>
                  <a:pt x="0" y="0"/>
                </a:lnTo>
                <a:lnTo>
                  <a:pt x="49378" y="6172"/>
                </a:lnTo>
                <a:lnTo>
                  <a:pt x="97384" y="23317"/>
                </a:lnTo>
                <a:lnTo>
                  <a:pt x="144018" y="52121"/>
                </a:lnTo>
                <a:lnTo>
                  <a:pt x="188595" y="91897"/>
                </a:lnTo>
                <a:lnTo>
                  <a:pt x="229743" y="141961"/>
                </a:lnTo>
                <a:lnTo>
                  <a:pt x="266776" y="200939"/>
                </a:lnTo>
                <a:lnTo>
                  <a:pt x="299009" y="268148"/>
                </a:lnTo>
                <a:lnTo>
                  <a:pt x="326441" y="342900"/>
                </a:lnTo>
                <a:lnTo>
                  <a:pt x="348386" y="423139"/>
                </a:lnTo>
                <a:lnTo>
                  <a:pt x="364160" y="508178"/>
                </a:lnTo>
                <a:lnTo>
                  <a:pt x="373761" y="595960"/>
                </a:lnTo>
                <a:lnTo>
                  <a:pt x="377190" y="685800"/>
                </a:lnTo>
                <a:lnTo>
                  <a:pt x="373761" y="775640"/>
                </a:lnTo>
                <a:lnTo>
                  <a:pt x="364160" y="863422"/>
                </a:lnTo>
                <a:lnTo>
                  <a:pt x="348386" y="948461"/>
                </a:lnTo>
                <a:lnTo>
                  <a:pt x="326441" y="1028700"/>
                </a:lnTo>
                <a:lnTo>
                  <a:pt x="299009" y="1103452"/>
                </a:lnTo>
                <a:lnTo>
                  <a:pt x="266776" y="1170661"/>
                </a:lnTo>
                <a:lnTo>
                  <a:pt x="229743" y="1229639"/>
                </a:lnTo>
                <a:lnTo>
                  <a:pt x="188595" y="1279703"/>
                </a:lnTo>
                <a:lnTo>
                  <a:pt x="144018" y="1319479"/>
                </a:lnTo>
                <a:lnTo>
                  <a:pt x="97384" y="1348283"/>
                </a:lnTo>
                <a:lnTo>
                  <a:pt x="49378" y="1365428"/>
                </a:lnTo>
                <a:lnTo>
                  <a:pt x="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9" name="S03-mark31"/>
          <p:cNvSpPr/>
          <p:nvPr/>
        </p:nvSpPr>
        <p:spPr>
          <a:xfrm>
            <a:off x="7691018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0" name="S03-label32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</a:t>
            </a:r>
            <a:endParaRPr lang="ko-KR" sz="2400" dirty="0"/>
          </a:p>
        </p:txBody>
      </p:sp>
      <p:sp>
        <p:nvSpPr>
          <p:cNvPr id="21" name="S03-figure33" descr="하현달: 왼쪽 반이 밝은 반달"/>
          <p:cNvSpPr/>
          <p:nvPr/>
        </p:nvSpPr>
        <p:spPr>
          <a:xfrm>
            <a:off x="9973361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22" name="S03-mark34"/>
          <p:cNvSpPr/>
          <p:nvPr/>
        </p:nvSpPr>
        <p:spPr>
          <a:xfrm>
            <a:off x="9973361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685800" y="1371600"/>
                </a:moveTo>
                <a:lnTo>
                  <a:pt x="595960" y="1365428"/>
                </a:lnTo>
                <a:lnTo>
                  <a:pt x="508178" y="1348283"/>
                </a:lnTo>
                <a:lnTo>
                  <a:pt x="423139" y="1319479"/>
                </a:lnTo>
                <a:lnTo>
                  <a:pt x="342900" y="1279703"/>
                </a:lnTo>
                <a:lnTo>
                  <a:pt x="268148" y="1229639"/>
                </a:lnTo>
                <a:lnTo>
                  <a:pt x="200939" y="1170661"/>
                </a:lnTo>
                <a:lnTo>
                  <a:pt x="141961" y="1103452"/>
                </a:lnTo>
                <a:lnTo>
                  <a:pt x="91897" y="1028700"/>
                </a:lnTo>
                <a:lnTo>
                  <a:pt x="52121" y="948461"/>
                </a:lnTo>
                <a:lnTo>
                  <a:pt x="23317" y="863422"/>
                </a:lnTo>
                <a:lnTo>
                  <a:pt x="6172" y="775640"/>
                </a:lnTo>
                <a:lnTo>
                  <a:pt x="0" y="685800"/>
                </a:lnTo>
                <a:lnTo>
                  <a:pt x="6172" y="595960"/>
                </a:lnTo>
                <a:lnTo>
                  <a:pt x="23317" y="508178"/>
                </a:lnTo>
                <a:lnTo>
                  <a:pt x="52121" y="423139"/>
                </a:lnTo>
                <a:lnTo>
                  <a:pt x="91897" y="342900"/>
                </a:lnTo>
                <a:lnTo>
                  <a:pt x="141961" y="268148"/>
                </a:lnTo>
                <a:lnTo>
                  <a:pt x="200939" y="200939"/>
                </a:lnTo>
                <a:lnTo>
                  <a:pt x="268148" y="141961"/>
                </a:lnTo>
                <a:lnTo>
                  <a:pt x="342900" y="91897"/>
                </a:lnTo>
                <a:lnTo>
                  <a:pt x="423139" y="52121"/>
                </a:lnTo>
                <a:lnTo>
                  <a:pt x="508178" y="23317"/>
                </a:lnTo>
                <a:lnTo>
                  <a:pt x="595960" y="6172"/>
                </a:lnTo>
                <a:lnTo>
                  <a:pt x="685800" y="0"/>
                </a:lnTo>
                <a:lnTo>
                  <a:pt x="685800" y="0"/>
                </a:lnTo>
                <a:lnTo>
                  <a:pt x="685800" y="6172"/>
                </a:lnTo>
                <a:lnTo>
                  <a:pt x="685800" y="23317"/>
                </a:lnTo>
                <a:lnTo>
                  <a:pt x="685800" y="52121"/>
                </a:lnTo>
                <a:lnTo>
                  <a:pt x="685800" y="91897"/>
                </a:lnTo>
                <a:lnTo>
                  <a:pt x="685800" y="141961"/>
                </a:lnTo>
                <a:lnTo>
                  <a:pt x="685800" y="200939"/>
                </a:lnTo>
                <a:lnTo>
                  <a:pt x="685800" y="268148"/>
                </a:lnTo>
                <a:lnTo>
                  <a:pt x="685800" y="342900"/>
                </a:lnTo>
                <a:lnTo>
                  <a:pt x="685800" y="423139"/>
                </a:lnTo>
                <a:lnTo>
                  <a:pt x="685800" y="508178"/>
                </a:lnTo>
                <a:lnTo>
                  <a:pt x="685800" y="595960"/>
                </a:lnTo>
                <a:lnTo>
                  <a:pt x="685800" y="685800"/>
                </a:lnTo>
                <a:lnTo>
                  <a:pt x="685800" y="775640"/>
                </a:lnTo>
                <a:lnTo>
                  <a:pt x="685800" y="863422"/>
                </a:lnTo>
                <a:lnTo>
                  <a:pt x="685800" y="948461"/>
                </a:lnTo>
                <a:lnTo>
                  <a:pt x="685800" y="1028700"/>
                </a:lnTo>
                <a:lnTo>
                  <a:pt x="685800" y="1103452"/>
                </a:lnTo>
                <a:lnTo>
                  <a:pt x="685800" y="1170661"/>
                </a:lnTo>
                <a:lnTo>
                  <a:pt x="685800" y="1229639"/>
                </a:lnTo>
                <a:lnTo>
                  <a:pt x="685800" y="1279703"/>
                </a:lnTo>
                <a:lnTo>
                  <a:pt x="685800" y="1319479"/>
                </a:lnTo>
                <a:lnTo>
                  <a:pt x="685800" y="1348283"/>
                </a:lnTo>
                <a:lnTo>
                  <a:pt x="685800" y="1365428"/>
                </a:lnTo>
                <a:lnTo>
                  <a:pt x="68580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3" name="S03-mark35"/>
          <p:cNvSpPr/>
          <p:nvPr/>
        </p:nvSpPr>
        <p:spPr>
          <a:xfrm>
            <a:off x="9973361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4" name="S03-label36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하현달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4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날 동안 저녁 7시에 같은 곳에서 달을 보면?</a:t>
            </a:r>
            <a:endParaRPr lang="ko-KR" sz="3000" dirty="0"/>
          </a:p>
        </p:txBody>
      </p:sp>
      <p:sp>
        <p:nvSpPr>
          <p:cNvPr id="4" name="S04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5" name="S04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602992"/>
          <a:ext cx="10515600" cy="914400"/>
        </p:xfrm>
        <a:graphic>
          <a:graphicData uri="http://schemas.openxmlformats.org/drawingml/2006/table">
            <a:tbl>
              <a:tblPr/>
              <a:tblGrid>
                <a:gridCol w="6519672"/>
                <a:gridCol w="399592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초승달은 며칠 뒤 어떤 모양이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시각, 달의 위치는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보름달 다음에는 어떤 모양일까?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기록을 읽어요</a:t>
            </a:r>
            <a:endParaRPr lang="ko-KR" sz="4000" dirty="0"/>
          </a:p>
        </p:txBody>
      </p:sp>
      <p:sp>
        <p:nvSpPr>
          <p:cNvPr id="3" name="S05-figure41" descr="예시 관찰 기록: 저녁 7시에 같은 곳에서 남쪽 하늘을 보며 그린 그림. 땅 위에 건물과 나무가 있고 왼쪽부터 동·남·서. 음력 3일 초승달은 서쪽 낮은 하늘, 음력 7일 상현달은 남쪽 높은 하늘, 음력 15일 보름달은 동쪽 낮은 하늘"/>
          <p:cNvSpPr/>
          <p:nvPr/>
        </p:nvSpPr>
        <p:spPr>
          <a:xfrm>
            <a:off x="10719626" y="2704740"/>
            <a:ext cx="331699" cy="331699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4" name="S05-mark42"/>
          <p:cNvSpPr/>
          <p:nvPr/>
        </p:nvSpPr>
        <p:spPr>
          <a:xfrm>
            <a:off x="9061133" y="2107682"/>
            <a:ext cx="331699" cy="331699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5" name="S05-mark43"/>
          <p:cNvSpPr/>
          <p:nvPr/>
        </p:nvSpPr>
        <p:spPr>
          <a:xfrm>
            <a:off x="7402640" y="2771080"/>
            <a:ext cx="331699" cy="331699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6" name="S05-mark44"/>
          <p:cNvSpPr/>
          <p:nvPr/>
        </p:nvSpPr>
        <p:spPr>
          <a:xfrm>
            <a:off x="6905092" y="3334967"/>
            <a:ext cx="4643780" cy="331699"/>
          </a:xfrm>
          <a:custGeom>
            <a:avLst/>
            <a:gdLst/>
            <a:ahLst/>
            <a:cxnLst/>
            <a:rect l="l" t="t" r="r" b="b"/>
            <a:pathLst>
              <a:path w="4643780" h="331699">
                <a:moveTo>
                  <a:pt x="0" y="331699"/>
                </a:moveTo>
                <a:lnTo>
                  <a:pt x="4643780" y="331699"/>
                </a:lnTo>
                <a:lnTo>
                  <a:pt x="4643780" y="0"/>
                </a:lnTo>
                <a:lnTo>
                  <a:pt x="0" y="0"/>
                </a:lnTo>
                <a:close/>
              </a:path>
            </a:pathLst>
          </a:custGeom>
          <a:solidFill>
            <a:srgbClr val="E3EBD9"/>
          </a:solidFill>
          <a:ln/>
        </p:spPr>
      </p:sp>
      <p:sp>
        <p:nvSpPr>
          <p:cNvPr id="7" name="S05-mark45"/>
          <p:cNvSpPr/>
          <p:nvPr/>
        </p:nvSpPr>
        <p:spPr>
          <a:xfrm>
            <a:off x="9890379" y="2903759"/>
            <a:ext cx="331699" cy="431208"/>
          </a:xfrm>
          <a:custGeom>
            <a:avLst/>
            <a:gdLst/>
            <a:ahLst/>
            <a:cxnLst/>
            <a:rect l="l" t="t" r="r" b="b"/>
            <a:pathLst>
              <a:path w="331699" h="431208">
                <a:moveTo>
                  <a:pt x="0" y="431208"/>
                </a:moveTo>
                <a:lnTo>
                  <a:pt x="331699" y="431208"/>
                </a:lnTo>
                <a:lnTo>
                  <a:pt x="33169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8" name="S05-mark46"/>
          <p:cNvSpPr/>
          <p:nvPr/>
        </p:nvSpPr>
        <p:spPr>
          <a:xfrm>
            <a:off x="8364565" y="2771080"/>
            <a:ext cx="398038" cy="414623"/>
          </a:xfrm>
          <a:custGeom>
            <a:avLst/>
            <a:gdLst/>
            <a:ahLst/>
            <a:cxnLst/>
            <a:rect l="l" t="t" r="r" b="b"/>
            <a:pathLst>
              <a:path w="398038" h="414623">
                <a:moveTo>
                  <a:pt x="0" y="414623"/>
                </a:moveTo>
                <a:lnTo>
                  <a:pt x="199019" y="0"/>
                </a:lnTo>
                <a:lnTo>
                  <a:pt x="398038" y="414623"/>
                </a:lnTo>
                <a:close/>
              </a:path>
            </a:pathLst>
          </a:custGeom>
          <a:solidFill>
            <a:srgbClr val="A7C4A0"/>
          </a:solidFill>
          <a:ln w="15875">
            <a:solidFill>
              <a:srgbClr val="6B8F63"/>
            </a:solidFill>
            <a:prstDash val="solid"/>
          </a:ln>
        </p:spPr>
      </p:sp>
      <p:sp>
        <p:nvSpPr>
          <p:cNvPr id="9" name="S05-mark47"/>
          <p:cNvSpPr/>
          <p:nvPr/>
        </p:nvSpPr>
        <p:spPr>
          <a:xfrm>
            <a:off x="10885475" y="2704740"/>
            <a:ext cx="165849" cy="331699"/>
          </a:xfrm>
          <a:custGeom>
            <a:avLst/>
            <a:gdLst/>
            <a:ahLst/>
            <a:cxnLst/>
            <a:rect l="l" t="t" r="r" b="b"/>
            <a:pathLst>
              <a:path w="165849" h="331699">
                <a:moveTo>
                  <a:pt x="0" y="331699"/>
                </a:moveTo>
                <a:lnTo>
                  <a:pt x="21560" y="330372"/>
                </a:lnTo>
                <a:lnTo>
                  <a:pt x="42789" y="326060"/>
                </a:lnTo>
                <a:lnTo>
                  <a:pt x="63354" y="319094"/>
                </a:lnTo>
                <a:lnTo>
                  <a:pt x="82925" y="309475"/>
                </a:lnTo>
                <a:lnTo>
                  <a:pt x="100836" y="297534"/>
                </a:lnTo>
                <a:lnTo>
                  <a:pt x="117421" y="283271"/>
                </a:lnTo>
                <a:lnTo>
                  <a:pt x="131684" y="266686"/>
                </a:lnTo>
                <a:lnTo>
                  <a:pt x="143625" y="248774"/>
                </a:lnTo>
                <a:lnTo>
                  <a:pt x="153245" y="229204"/>
                </a:lnTo>
                <a:lnTo>
                  <a:pt x="160210" y="208638"/>
                </a:lnTo>
                <a:lnTo>
                  <a:pt x="164523" y="187410"/>
                </a:lnTo>
                <a:lnTo>
                  <a:pt x="165849" y="165849"/>
                </a:lnTo>
                <a:lnTo>
                  <a:pt x="164523" y="144289"/>
                </a:lnTo>
                <a:lnTo>
                  <a:pt x="160210" y="123060"/>
                </a:lnTo>
                <a:lnTo>
                  <a:pt x="153245" y="102495"/>
                </a:lnTo>
                <a:lnTo>
                  <a:pt x="143625" y="82925"/>
                </a:lnTo>
                <a:lnTo>
                  <a:pt x="131684" y="65013"/>
                </a:lnTo>
                <a:lnTo>
                  <a:pt x="117421" y="48428"/>
                </a:lnTo>
                <a:lnTo>
                  <a:pt x="100836" y="34165"/>
                </a:lnTo>
                <a:lnTo>
                  <a:pt x="82925" y="22224"/>
                </a:lnTo>
                <a:lnTo>
                  <a:pt x="63354" y="12605"/>
                </a:lnTo>
                <a:lnTo>
                  <a:pt x="42789" y="5639"/>
                </a:lnTo>
                <a:lnTo>
                  <a:pt x="21560" y="1327"/>
                </a:lnTo>
                <a:lnTo>
                  <a:pt x="0" y="0"/>
                </a:lnTo>
                <a:lnTo>
                  <a:pt x="0" y="0"/>
                </a:lnTo>
                <a:lnTo>
                  <a:pt x="11941" y="1327"/>
                </a:lnTo>
                <a:lnTo>
                  <a:pt x="23551" y="5639"/>
                </a:lnTo>
                <a:lnTo>
                  <a:pt x="34828" y="12605"/>
                </a:lnTo>
                <a:lnTo>
                  <a:pt x="45774" y="22224"/>
                </a:lnTo>
                <a:lnTo>
                  <a:pt x="55394" y="34165"/>
                </a:lnTo>
                <a:lnTo>
                  <a:pt x="64350" y="48428"/>
                </a:lnTo>
                <a:lnTo>
                  <a:pt x="72310" y="65013"/>
                </a:lnTo>
                <a:lnTo>
                  <a:pt x="78944" y="82925"/>
                </a:lnTo>
                <a:lnTo>
                  <a:pt x="84251" y="102495"/>
                </a:lnTo>
                <a:lnTo>
                  <a:pt x="88232" y="123060"/>
                </a:lnTo>
                <a:lnTo>
                  <a:pt x="90554" y="144289"/>
                </a:lnTo>
                <a:lnTo>
                  <a:pt x="91217" y="165849"/>
                </a:lnTo>
                <a:lnTo>
                  <a:pt x="90554" y="187410"/>
                </a:lnTo>
                <a:lnTo>
                  <a:pt x="88232" y="208638"/>
                </a:lnTo>
                <a:lnTo>
                  <a:pt x="84251" y="229204"/>
                </a:lnTo>
                <a:lnTo>
                  <a:pt x="78944" y="248774"/>
                </a:lnTo>
                <a:lnTo>
                  <a:pt x="72310" y="266686"/>
                </a:lnTo>
                <a:lnTo>
                  <a:pt x="64350" y="283271"/>
                </a:lnTo>
                <a:lnTo>
                  <a:pt x="55394" y="297534"/>
                </a:lnTo>
                <a:lnTo>
                  <a:pt x="45774" y="309475"/>
                </a:lnTo>
                <a:lnTo>
                  <a:pt x="34828" y="319094"/>
                </a:lnTo>
                <a:lnTo>
                  <a:pt x="23551" y="326060"/>
                </a:lnTo>
                <a:lnTo>
                  <a:pt x="11941" y="330372"/>
                </a:lnTo>
                <a:lnTo>
                  <a:pt x="0" y="331699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0" name="S05-mark48"/>
          <p:cNvSpPr/>
          <p:nvPr/>
        </p:nvSpPr>
        <p:spPr>
          <a:xfrm>
            <a:off x="9226982" y="2107682"/>
            <a:ext cx="165849" cy="331699"/>
          </a:xfrm>
          <a:custGeom>
            <a:avLst/>
            <a:gdLst/>
            <a:ahLst/>
            <a:cxnLst/>
            <a:rect l="l" t="t" r="r" b="b"/>
            <a:pathLst>
              <a:path w="165849" h="331699">
                <a:moveTo>
                  <a:pt x="0" y="331699"/>
                </a:moveTo>
                <a:lnTo>
                  <a:pt x="21560" y="330372"/>
                </a:lnTo>
                <a:lnTo>
                  <a:pt x="42789" y="326060"/>
                </a:lnTo>
                <a:lnTo>
                  <a:pt x="63354" y="319094"/>
                </a:lnTo>
                <a:lnTo>
                  <a:pt x="82925" y="309475"/>
                </a:lnTo>
                <a:lnTo>
                  <a:pt x="100836" y="297534"/>
                </a:lnTo>
                <a:lnTo>
                  <a:pt x="117421" y="283271"/>
                </a:lnTo>
                <a:lnTo>
                  <a:pt x="131684" y="266686"/>
                </a:lnTo>
                <a:lnTo>
                  <a:pt x="143625" y="248774"/>
                </a:lnTo>
                <a:lnTo>
                  <a:pt x="153245" y="229204"/>
                </a:lnTo>
                <a:lnTo>
                  <a:pt x="160210" y="208638"/>
                </a:lnTo>
                <a:lnTo>
                  <a:pt x="164523" y="187410"/>
                </a:lnTo>
                <a:lnTo>
                  <a:pt x="165849" y="165849"/>
                </a:lnTo>
                <a:lnTo>
                  <a:pt x="164523" y="144289"/>
                </a:lnTo>
                <a:lnTo>
                  <a:pt x="160210" y="123060"/>
                </a:lnTo>
                <a:lnTo>
                  <a:pt x="153245" y="102495"/>
                </a:lnTo>
                <a:lnTo>
                  <a:pt x="143625" y="82925"/>
                </a:lnTo>
                <a:lnTo>
                  <a:pt x="131684" y="65013"/>
                </a:lnTo>
                <a:lnTo>
                  <a:pt x="117421" y="48428"/>
                </a:lnTo>
                <a:lnTo>
                  <a:pt x="100836" y="34165"/>
                </a:lnTo>
                <a:lnTo>
                  <a:pt x="82925" y="22224"/>
                </a:lnTo>
                <a:lnTo>
                  <a:pt x="63354" y="12605"/>
                </a:lnTo>
                <a:lnTo>
                  <a:pt x="42789" y="5639"/>
                </a:lnTo>
                <a:lnTo>
                  <a:pt x="21560" y="1327"/>
                </a:lnTo>
                <a:lnTo>
                  <a:pt x="0" y="0"/>
                </a:lnTo>
                <a:lnTo>
                  <a:pt x="0" y="0"/>
                </a:lnTo>
                <a:lnTo>
                  <a:pt x="0" y="1327"/>
                </a:lnTo>
                <a:lnTo>
                  <a:pt x="0" y="5639"/>
                </a:lnTo>
                <a:lnTo>
                  <a:pt x="0" y="12605"/>
                </a:lnTo>
                <a:lnTo>
                  <a:pt x="0" y="22224"/>
                </a:lnTo>
                <a:lnTo>
                  <a:pt x="0" y="34165"/>
                </a:lnTo>
                <a:lnTo>
                  <a:pt x="0" y="48428"/>
                </a:lnTo>
                <a:lnTo>
                  <a:pt x="0" y="65013"/>
                </a:lnTo>
                <a:lnTo>
                  <a:pt x="0" y="82925"/>
                </a:lnTo>
                <a:lnTo>
                  <a:pt x="0" y="102495"/>
                </a:lnTo>
                <a:lnTo>
                  <a:pt x="0" y="123060"/>
                </a:lnTo>
                <a:lnTo>
                  <a:pt x="0" y="144289"/>
                </a:lnTo>
                <a:lnTo>
                  <a:pt x="0" y="165849"/>
                </a:lnTo>
                <a:lnTo>
                  <a:pt x="0" y="187410"/>
                </a:lnTo>
                <a:lnTo>
                  <a:pt x="0" y="208638"/>
                </a:lnTo>
                <a:lnTo>
                  <a:pt x="0" y="229204"/>
                </a:lnTo>
                <a:lnTo>
                  <a:pt x="0" y="248774"/>
                </a:lnTo>
                <a:lnTo>
                  <a:pt x="0" y="266686"/>
                </a:lnTo>
                <a:lnTo>
                  <a:pt x="0" y="283271"/>
                </a:lnTo>
                <a:lnTo>
                  <a:pt x="0" y="297534"/>
                </a:lnTo>
                <a:lnTo>
                  <a:pt x="0" y="309475"/>
                </a:lnTo>
                <a:lnTo>
                  <a:pt x="0" y="319094"/>
                </a:lnTo>
                <a:lnTo>
                  <a:pt x="0" y="326060"/>
                </a:lnTo>
                <a:lnTo>
                  <a:pt x="0" y="330372"/>
                </a:lnTo>
                <a:lnTo>
                  <a:pt x="0" y="331699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1" name="S05-mark49"/>
          <p:cNvSpPr/>
          <p:nvPr/>
        </p:nvSpPr>
        <p:spPr>
          <a:xfrm>
            <a:off x="10719626" y="2704740"/>
            <a:ext cx="331699" cy="331699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2" name="S05-mark50"/>
          <p:cNvSpPr/>
          <p:nvPr/>
        </p:nvSpPr>
        <p:spPr>
          <a:xfrm>
            <a:off x="9061133" y="2107682"/>
            <a:ext cx="331699" cy="331699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3" name="S05-mark51"/>
          <p:cNvSpPr/>
          <p:nvPr/>
        </p:nvSpPr>
        <p:spPr>
          <a:xfrm>
            <a:off x="7402640" y="2771080"/>
            <a:ext cx="331699" cy="331699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05-mark52"/>
          <p:cNvSpPr/>
          <p:nvPr/>
        </p:nvSpPr>
        <p:spPr>
          <a:xfrm>
            <a:off x="6905092" y="3334967"/>
            <a:ext cx="464378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5-mark53"/>
          <p:cNvSpPr/>
          <p:nvPr/>
        </p:nvSpPr>
        <p:spPr>
          <a:xfrm flipV="1">
            <a:off x="8563585" y="3185703"/>
            <a:ext cx="0" cy="149264"/>
          </a:xfrm>
          <a:prstGeom prst="line">
            <a:avLst/>
          </a:prstGeom>
          <a:noFill/>
          <a:ln w="31750">
            <a:solidFill>
              <a:srgbClr val="6B8F63"/>
            </a:solidFill>
            <a:prstDash val="solid"/>
          </a:ln>
        </p:spPr>
      </p:sp>
      <p:sp>
        <p:nvSpPr>
          <p:cNvPr id="16" name="S05-label55"/>
          <p:cNvSpPr txBox="1"/>
          <p:nvPr/>
        </p:nvSpPr>
        <p:spPr>
          <a:xfrm>
            <a:off x="7032574" y="331031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400" dirty="0"/>
          </a:p>
        </p:txBody>
      </p:sp>
      <p:sp>
        <p:nvSpPr>
          <p:cNvPr id="17" name="S05-label57"/>
          <p:cNvSpPr txBox="1"/>
          <p:nvPr/>
        </p:nvSpPr>
        <p:spPr>
          <a:xfrm>
            <a:off x="9022766" y="331031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ko-KR" sz="2400" dirty="0"/>
          </a:p>
        </p:txBody>
      </p:sp>
      <p:sp>
        <p:nvSpPr>
          <p:cNvPr id="18" name="S05-label59"/>
          <p:cNvSpPr txBox="1"/>
          <p:nvPr/>
        </p:nvSpPr>
        <p:spPr>
          <a:xfrm>
            <a:off x="11012957" y="331031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400" dirty="0"/>
          </a:p>
        </p:txBody>
      </p:sp>
      <p:sp>
        <p:nvSpPr>
          <p:cNvPr id="19" name="S05-label61"/>
          <p:cNvSpPr txBox="1"/>
          <p:nvPr/>
        </p:nvSpPr>
        <p:spPr>
          <a:xfrm>
            <a:off x="10360076" y="2404663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</a:t>
            </a:r>
            <a:endParaRPr lang="ko-KR" sz="1900" dirty="0"/>
          </a:p>
        </p:txBody>
      </p:sp>
      <p:sp>
        <p:nvSpPr>
          <p:cNvPr id="20" name="S05-label63"/>
          <p:cNvSpPr txBox="1"/>
          <p:nvPr/>
        </p:nvSpPr>
        <p:spPr>
          <a:xfrm>
            <a:off x="8701583" y="1807606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7일</a:t>
            </a:r>
            <a:endParaRPr lang="ko-KR" sz="1900" dirty="0"/>
          </a:p>
        </p:txBody>
      </p:sp>
      <p:sp>
        <p:nvSpPr>
          <p:cNvPr id="21" name="S05-label65"/>
          <p:cNvSpPr txBox="1"/>
          <p:nvPr/>
        </p:nvSpPr>
        <p:spPr>
          <a:xfrm>
            <a:off x="6963461" y="2471003"/>
            <a:ext cx="121005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15일</a:t>
            </a:r>
            <a:endParaRPr lang="ko-KR" sz="1900" dirty="0"/>
          </a:p>
        </p:txBody>
      </p:sp>
      <p:sp>
        <p:nvSpPr>
          <p:cNvPr id="22" name="S05-card66"/>
          <p:cNvSpPr/>
          <p:nvPr/>
        </p:nvSpPr>
        <p:spPr>
          <a:xfrm>
            <a:off x="6813652" y="4527804"/>
            <a:ext cx="4826660" cy="1690116"/>
          </a:xfrm>
          <a:prstGeom prst="roundRect">
            <a:avLst>
              <a:gd name="adj" fmla="val 64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5-cardtext67"/>
          <p:cNvSpPr txBox="1"/>
          <p:nvPr/>
        </p:nvSpPr>
        <p:spPr>
          <a:xfrm>
            <a:off x="7087972" y="4664964"/>
            <a:ext cx="4278020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볼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모양이 바뀐 차례를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달이 옮겨 간 쪽을 찾아요</a:t>
            </a:r>
            <a:endParaRPr lang="ko-KR" sz="3000" dirty="0"/>
          </a:p>
        </p:txBody>
      </p:sp>
      <p:sp>
        <p:nvSpPr>
          <p:cNvPr id="24" name="S05-stepno68"/>
          <p:cNvSpPr txBox="1"/>
          <p:nvPr/>
        </p:nvSpPr>
        <p:spPr>
          <a:xfrm>
            <a:off x="548640" y="2046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5-text69"/>
          <p:cNvSpPr txBox="1"/>
          <p:nvPr/>
        </p:nvSpPr>
        <p:spPr>
          <a:xfrm>
            <a:off x="1325880" y="2046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2의 예시 기록을 봐요.</a:t>
            </a:r>
            <a:endParaRPr lang="ko-KR" sz="3000" dirty="0"/>
          </a:p>
        </p:txBody>
      </p:sp>
      <p:sp>
        <p:nvSpPr>
          <p:cNvPr id="26" name="S05-stepno70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5-text71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차례로 달의 모양을 말해요.</a:t>
            </a:r>
            <a:endParaRPr lang="ko-KR" sz="3000" dirty="0"/>
          </a:p>
        </p:txBody>
      </p:sp>
      <p:sp>
        <p:nvSpPr>
          <p:cNvPr id="28" name="S05-stepno7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5-text73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달이 보인 방향을 말해요.</a:t>
            </a:r>
            <a:endParaRPr lang="ko-KR" sz="3000" dirty="0"/>
          </a:p>
        </p:txBody>
      </p:sp>
      <p:sp>
        <p:nvSpPr>
          <p:cNvPr id="30" name="S05-stepno74"/>
          <p:cNvSpPr txBox="1"/>
          <p:nvPr/>
        </p:nvSpPr>
        <p:spPr>
          <a:xfrm>
            <a:off x="548640" y="4613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1" name="S05-text75"/>
          <p:cNvSpPr txBox="1"/>
          <p:nvPr/>
        </p:nvSpPr>
        <p:spPr>
          <a:xfrm>
            <a:off x="1325880" y="4567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것을 활동지 3의 표에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6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3000" dirty="0"/>
          </a:p>
        </p:txBody>
      </p:sp>
      <p:sp>
        <p:nvSpPr>
          <p:cNvPr id="4" name="S06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위치가 어떻게 바뀌었나요?</a:t>
            </a:r>
            <a:endParaRPr lang="ko-KR" sz="3000" dirty="0"/>
          </a:p>
        </p:txBody>
      </p:sp>
      <p:graphicFrame>
        <p:nvGraphicFramePr>
          <p:cNvPr id="7" name="S06-table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541016"/>
          <a:ext cx="96012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3360420"/>
                <a:gridCol w="33604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음력 날짜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달의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보인 방향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모양이 바뀌는 차례</a:t>
            </a:r>
            <a:endParaRPr lang="ko-KR" sz="4000" dirty="0"/>
          </a:p>
        </p:txBody>
      </p:sp>
      <p:sp>
        <p:nvSpPr>
          <p:cNvPr id="3" name="S07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 뒤로는 왼쪽이 밝은 달로 바뀌어요.</a:t>
            </a:r>
            <a:endParaRPr lang="ko-KR" sz="3000" dirty="0"/>
          </a:p>
        </p:txBody>
      </p:sp>
      <p:sp>
        <p:nvSpPr>
          <p:cNvPr id="4" name="S07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모양은 약 한 달마다 되풀이돼요.</a:t>
            </a:r>
            <a:endParaRPr lang="ko-KR" sz="3000" dirty="0"/>
          </a:p>
        </p:txBody>
      </p:sp>
      <p:sp>
        <p:nvSpPr>
          <p:cNvPr id="6" name="S07-figure83" descr="달의 모양이 바뀌는 차례: 초승달 → 상현달 → 보름달 → 하현달 → 그믐달, 그리고 약 한 달 뒤 다시 초승달로 돌아오는 화살표"/>
          <p:cNvSpPr/>
          <p:nvPr/>
        </p:nvSpPr>
        <p:spPr>
          <a:xfrm>
            <a:off x="1284481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7-mark84"/>
          <p:cNvSpPr/>
          <p:nvPr/>
        </p:nvSpPr>
        <p:spPr>
          <a:xfrm>
            <a:off x="3368812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8" name="S07-mark85"/>
          <p:cNvSpPr/>
          <p:nvPr/>
        </p:nvSpPr>
        <p:spPr>
          <a:xfrm>
            <a:off x="5453143" y="2103120"/>
            <a:ext cx="1282665" cy="1282665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9" name="S07-mark86"/>
          <p:cNvSpPr/>
          <p:nvPr/>
        </p:nvSpPr>
        <p:spPr>
          <a:xfrm>
            <a:off x="7537474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0" name="S07-mark87"/>
          <p:cNvSpPr/>
          <p:nvPr/>
        </p:nvSpPr>
        <p:spPr>
          <a:xfrm>
            <a:off x="9621805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1" name="S07-mark88"/>
          <p:cNvSpPr/>
          <p:nvPr/>
        </p:nvSpPr>
        <p:spPr>
          <a:xfrm>
            <a:off x="1925814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0" y="1282665"/>
                </a:moveTo>
                <a:lnTo>
                  <a:pt x="83373" y="1277054"/>
                </a:lnTo>
                <a:lnTo>
                  <a:pt x="165945" y="1261020"/>
                </a:lnTo>
                <a:lnTo>
                  <a:pt x="245310" y="1233764"/>
                </a:lnTo>
                <a:lnTo>
                  <a:pt x="320666" y="1196887"/>
                </a:lnTo>
                <a:lnTo>
                  <a:pt x="390411" y="1150390"/>
                </a:lnTo>
                <a:lnTo>
                  <a:pt x="453743" y="1095075"/>
                </a:lnTo>
                <a:lnTo>
                  <a:pt x="509058" y="1031744"/>
                </a:lnTo>
                <a:lnTo>
                  <a:pt x="555554" y="961999"/>
                </a:lnTo>
                <a:lnTo>
                  <a:pt x="592431" y="886642"/>
                </a:lnTo>
                <a:lnTo>
                  <a:pt x="619688" y="807277"/>
                </a:lnTo>
                <a:lnTo>
                  <a:pt x="635721" y="724706"/>
                </a:lnTo>
                <a:lnTo>
                  <a:pt x="641333" y="641333"/>
                </a:lnTo>
                <a:lnTo>
                  <a:pt x="635721" y="557959"/>
                </a:lnTo>
                <a:lnTo>
                  <a:pt x="619688" y="475388"/>
                </a:lnTo>
                <a:lnTo>
                  <a:pt x="592431" y="396023"/>
                </a:lnTo>
                <a:lnTo>
                  <a:pt x="555554" y="320666"/>
                </a:lnTo>
                <a:lnTo>
                  <a:pt x="509058" y="250921"/>
                </a:lnTo>
                <a:lnTo>
                  <a:pt x="453743" y="187590"/>
                </a:lnTo>
                <a:lnTo>
                  <a:pt x="390411" y="132275"/>
                </a:lnTo>
                <a:lnTo>
                  <a:pt x="320666" y="85778"/>
                </a:lnTo>
                <a:lnTo>
                  <a:pt x="245310" y="48902"/>
                </a:lnTo>
                <a:lnTo>
                  <a:pt x="165945" y="21645"/>
                </a:lnTo>
                <a:lnTo>
                  <a:pt x="83373" y="5612"/>
                </a:lnTo>
                <a:lnTo>
                  <a:pt x="0" y="0"/>
                </a:lnTo>
                <a:lnTo>
                  <a:pt x="0" y="0"/>
                </a:lnTo>
                <a:lnTo>
                  <a:pt x="45695" y="5612"/>
                </a:lnTo>
                <a:lnTo>
                  <a:pt x="91390" y="21645"/>
                </a:lnTo>
                <a:lnTo>
                  <a:pt x="134680" y="48902"/>
                </a:lnTo>
                <a:lnTo>
                  <a:pt x="176366" y="85778"/>
                </a:lnTo>
                <a:lnTo>
                  <a:pt x="214846" y="132275"/>
                </a:lnTo>
                <a:lnTo>
                  <a:pt x="249318" y="187590"/>
                </a:lnTo>
                <a:lnTo>
                  <a:pt x="279781" y="250921"/>
                </a:lnTo>
                <a:lnTo>
                  <a:pt x="305435" y="320666"/>
                </a:lnTo>
                <a:lnTo>
                  <a:pt x="326278" y="396023"/>
                </a:lnTo>
                <a:lnTo>
                  <a:pt x="340708" y="475388"/>
                </a:lnTo>
                <a:lnTo>
                  <a:pt x="349526" y="557959"/>
                </a:lnTo>
                <a:lnTo>
                  <a:pt x="352733" y="641333"/>
                </a:lnTo>
                <a:lnTo>
                  <a:pt x="349526" y="724706"/>
                </a:lnTo>
                <a:lnTo>
                  <a:pt x="340708" y="807277"/>
                </a:lnTo>
                <a:lnTo>
                  <a:pt x="326278" y="886642"/>
                </a:lnTo>
                <a:lnTo>
                  <a:pt x="305435" y="961999"/>
                </a:lnTo>
                <a:lnTo>
                  <a:pt x="279781" y="1031744"/>
                </a:lnTo>
                <a:lnTo>
                  <a:pt x="249318" y="1095075"/>
                </a:lnTo>
                <a:lnTo>
                  <a:pt x="214846" y="1150390"/>
                </a:lnTo>
                <a:lnTo>
                  <a:pt x="176366" y="1196887"/>
                </a:lnTo>
                <a:lnTo>
                  <a:pt x="134680" y="1233764"/>
                </a:lnTo>
                <a:lnTo>
                  <a:pt x="91390" y="1261020"/>
                </a:lnTo>
                <a:lnTo>
                  <a:pt x="45695" y="1277054"/>
                </a:lnTo>
                <a:lnTo>
                  <a:pt x="0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2" name="S07-mark89"/>
          <p:cNvSpPr/>
          <p:nvPr/>
        </p:nvSpPr>
        <p:spPr>
          <a:xfrm>
            <a:off x="4010145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0" y="1282665"/>
                </a:moveTo>
                <a:lnTo>
                  <a:pt x="83373" y="1277054"/>
                </a:lnTo>
                <a:lnTo>
                  <a:pt x="165945" y="1261020"/>
                </a:lnTo>
                <a:lnTo>
                  <a:pt x="245310" y="1233764"/>
                </a:lnTo>
                <a:lnTo>
                  <a:pt x="320666" y="1196887"/>
                </a:lnTo>
                <a:lnTo>
                  <a:pt x="390411" y="1150390"/>
                </a:lnTo>
                <a:lnTo>
                  <a:pt x="453743" y="1095075"/>
                </a:lnTo>
                <a:lnTo>
                  <a:pt x="509058" y="1031744"/>
                </a:lnTo>
                <a:lnTo>
                  <a:pt x="555554" y="961999"/>
                </a:lnTo>
                <a:lnTo>
                  <a:pt x="592431" y="886642"/>
                </a:lnTo>
                <a:lnTo>
                  <a:pt x="619688" y="807277"/>
                </a:lnTo>
                <a:lnTo>
                  <a:pt x="635721" y="724706"/>
                </a:lnTo>
                <a:lnTo>
                  <a:pt x="641333" y="641333"/>
                </a:lnTo>
                <a:lnTo>
                  <a:pt x="635721" y="557959"/>
                </a:lnTo>
                <a:lnTo>
                  <a:pt x="619688" y="475388"/>
                </a:lnTo>
                <a:lnTo>
                  <a:pt x="592431" y="396023"/>
                </a:lnTo>
                <a:lnTo>
                  <a:pt x="555554" y="320666"/>
                </a:lnTo>
                <a:lnTo>
                  <a:pt x="509058" y="250921"/>
                </a:lnTo>
                <a:lnTo>
                  <a:pt x="453743" y="187590"/>
                </a:lnTo>
                <a:lnTo>
                  <a:pt x="390411" y="132275"/>
                </a:lnTo>
                <a:lnTo>
                  <a:pt x="320666" y="85778"/>
                </a:lnTo>
                <a:lnTo>
                  <a:pt x="245310" y="48902"/>
                </a:lnTo>
                <a:lnTo>
                  <a:pt x="165945" y="21645"/>
                </a:lnTo>
                <a:lnTo>
                  <a:pt x="83373" y="5612"/>
                </a:lnTo>
                <a:lnTo>
                  <a:pt x="0" y="0"/>
                </a:lnTo>
                <a:lnTo>
                  <a:pt x="0" y="0"/>
                </a:lnTo>
                <a:lnTo>
                  <a:pt x="0" y="5612"/>
                </a:lnTo>
                <a:lnTo>
                  <a:pt x="0" y="21645"/>
                </a:lnTo>
                <a:lnTo>
                  <a:pt x="0" y="48902"/>
                </a:lnTo>
                <a:lnTo>
                  <a:pt x="0" y="85778"/>
                </a:lnTo>
                <a:lnTo>
                  <a:pt x="0" y="132275"/>
                </a:lnTo>
                <a:lnTo>
                  <a:pt x="0" y="187590"/>
                </a:lnTo>
                <a:lnTo>
                  <a:pt x="0" y="250921"/>
                </a:lnTo>
                <a:lnTo>
                  <a:pt x="0" y="320666"/>
                </a:lnTo>
                <a:lnTo>
                  <a:pt x="0" y="396023"/>
                </a:lnTo>
                <a:lnTo>
                  <a:pt x="0" y="475388"/>
                </a:lnTo>
                <a:lnTo>
                  <a:pt x="0" y="557959"/>
                </a:lnTo>
                <a:lnTo>
                  <a:pt x="0" y="641333"/>
                </a:lnTo>
                <a:lnTo>
                  <a:pt x="0" y="724706"/>
                </a:lnTo>
                <a:lnTo>
                  <a:pt x="0" y="807277"/>
                </a:lnTo>
                <a:lnTo>
                  <a:pt x="0" y="886642"/>
                </a:lnTo>
                <a:lnTo>
                  <a:pt x="0" y="961999"/>
                </a:lnTo>
                <a:lnTo>
                  <a:pt x="0" y="1031744"/>
                </a:lnTo>
                <a:lnTo>
                  <a:pt x="0" y="1095075"/>
                </a:lnTo>
                <a:lnTo>
                  <a:pt x="0" y="1150390"/>
                </a:lnTo>
                <a:lnTo>
                  <a:pt x="0" y="1196887"/>
                </a:lnTo>
                <a:lnTo>
                  <a:pt x="0" y="1233764"/>
                </a:lnTo>
                <a:lnTo>
                  <a:pt x="0" y="1261020"/>
                </a:lnTo>
                <a:lnTo>
                  <a:pt x="0" y="1277054"/>
                </a:lnTo>
                <a:lnTo>
                  <a:pt x="0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3" name="S07-mark90"/>
          <p:cNvSpPr/>
          <p:nvPr/>
        </p:nvSpPr>
        <p:spPr>
          <a:xfrm>
            <a:off x="7537474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641333" y="1282665"/>
                </a:moveTo>
                <a:lnTo>
                  <a:pt x="557959" y="1277054"/>
                </a:lnTo>
                <a:lnTo>
                  <a:pt x="475388" y="1261020"/>
                </a:lnTo>
                <a:lnTo>
                  <a:pt x="396023" y="1233764"/>
                </a:lnTo>
                <a:lnTo>
                  <a:pt x="320666" y="1196887"/>
                </a:lnTo>
                <a:lnTo>
                  <a:pt x="250921" y="1150390"/>
                </a:lnTo>
                <a:lnTo>
                  <a:pt x="187590" y="1095075"/>
                </a:lnTo>
                <a:lnTo>
                  <a:pt x="132275" y="1031744"/>
                </a:lnTo>
                <a:lnTo>
                  <a:pt x="85778" y="961999"/>
                </a:lnTo>
                <a:lnTo>
                  <a:pt x="48902" y="886642"/>
                </a:lnTo>
                <a:lnTo>
                  <a:pt x="21645" y="807277"/>
                </a:lnTo>
                <a:lnTo>
                  <a:pt x="5612" y="724706"/>
                </a:lnTo>
                <a:lnTo>
                  <a:pt x="0" y="641333"/>
                </a:lnTo>
                <a:lnTo>
                  <a:pt x="5612" y="557959"/>
                </a:lnTo>
                <a:lnTo>
                  <a:pt x="21645" y="475388"/>
                </a:lnTo>
                <a:lnTo>
                  <a:pt x="48902" y="396023"/>
                </a:lnTo>
                <a:lnTo>
                  <a:pt x="85778" y="320666"/>
                </a:lnTo>
                <a:lnTo>
                  <a:pt x="132275" y="250921"/>
                </a:lnTo>
                <a:lnTo>
                  <a:pt x="187590" y="187590"/>
                </a:lnTo>
                <a:lnTo>
                  <a:pt x="250921" y="132275"/>
                </a:lnTo>
                <a:lnTo>
                  <a:pt x="320666" y="85778"/>
                </a:lnTo>
                <a:lnTo>
                  <a:pt x="396023" y="48902"/>
                </a:lnTo>
                <a:lnTo>
                  <a:pt x="475388" y="21645"/>
                </a:lnTo>
                <a:lnTo>
                  <a:pt x="557959" y="5612"/>
                </a:lnTo>
                <a:lnTo>
                  <a:pt x="641333" y="0"/>
                </a:lnTo>
                <a:lnTo>
                  <a:pt x="641333" y="0"/>
                </a:lnTo>
                <a:lnTo>
                  <a:pt x="641333" y="5612"/>
                </a:lnTo>
                <a:lnTo>
                  <a:pt x="641333" y="21645"/>
                </a:lnTo>
                <a:lnTo>
                  <a:pt x="641333" y="48902"/>
                </a:lnTo>
                <a:lnTo>
                  <a:pt x="641333" y="85778"/>
                </a:lnTo>
                <a:lnTo>
                  <a:pt x="641333" y="132275"/>
                </a:lnTo>
                <a:lnTo>
                  <a:pt x="641333" y="187590"/>
                </a:lnTo>
                <a:lnTo>
                  <a:pt x="641333" y="250921"/>
                </a:lnTo>
                <a:lnTo>
                  <a:pt x="641333" y="320666"/>
                </a:lnTo>
                <a:lnTo>
                  <a:pt x="641333" y="396023"/>
                </a:lnTo>
                <a:lnTo>
                  <a:pt x="641333" y="475388"/>
                </a:lnTo>
                <a:lnTo>
                  <a:pt x="641333" y="557959"/>
                </a:lnTo>
                <a:lnTo>
                  <a:pt x="641333" y="641333"/>
                </a:lnTo>
                <a:lnTo>
                  <a:pt x="641333" y="724706"/>
                </a:lnTo>
                <a:lnTo>
                  <a:pt x="641333" y="807277"/>
                </a:lnTo>
                <a:lnTo>
                  <a:pt x="641333" y="886642"/>
                </a:lnTo>
                <a:lnTo>
                  <a:pt x="641333" y="961999"/>
                </a:lnTo>
                <a:lnTo>
                  <a:pt x="641333" y="1031744"/>
                </a:lnTo>
                <a:lnTo>
                  <a:pt x="641333" y="1095075"/>
                </a:lnTo>
                <a:lnTo>
                  <a:pt x="641333" y="1150390"/>
                </a:lnTo>
                <a:lnTo>
                  <a:pt x="641333" y="1196887"/>
                </a:lnTo>
                <a:lnTo>
                  <a:pt x="641333" y="1233764"/>
                </a:lnTo>
                <a:lnTo>
                  <a:pt x="641333" y="1261020"/>
                </a:lnTo>
                <a:lnTo>
                  <a:pt x="641333" y="1277054"/>
                </a:lnTo>
                <a:lnTo>
                  <a:pt x="641333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4" name="S07-mark91"/>
          <p:cNvSpPr/>
          <p:nvPr/>
        </p:nvSpPr>
        <p:spPr>
          <a:xfrm>
            <a:off x="9621805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641333" y="1282665"/>
                </a:moveTo>
                <a:lnTo>
                  <a:pt x="557959" y="1277054"/>
                </a:lnTo>
                <a:lnTo>
                  <a:pt x="475388" y="1261020"/>
                </a:lnTo>
                <a:lnTo>
                  <a:pt x="396023" y="1233764"/>
                </a:lnTo>
                <a:lnTo>
                  <a:pt x="320666" y="1196887"/>
                </a:lnTo>
                <a:lnTo>
                  <a:pt x="250921" y="1150390"/>
                </a:lnTo>
                <a:lnTo>
                  <a:pt x="187590" y="1095075"/>
                </a:lnTo>
                <a:lnTo>
                  <a:pt x="132275" y="1031744"/>
                </a:lnTo>
                <a:lnTo>
                  <a:pt x="85778" y="961999"/>
                </a:lnTo>
                <a:lnTo>
                  <a:pt x="48902" y="886642"/>
                </a:lnTo>
                <a:lnTo>
                  <a:pt x="21645" y="807277"/>
                </a:lnTo>
                <a:lnTo>
                  <a:pt x="5612" y="724706"/>
                </a:lnTo>
                <a:lnTo>
                  <a:pt x="0" y="641333"/>
                </a:lnTo>
                <a:lnTo>
                  <a:pt x="5612" y="557959"/>
                </a:lnTo>
                <a:lnTo>
                  <a:pt x="21645" y="475388"/>
                </a:lnTo>
                <a:lnTo>
                  <a:pt x="48902" y="396023"/>
                </a:lnTo>
                <a:lnTo>
                  <a:pt x="85778" y="320666"/>
                </a:lnTo>
                <a:lnTo>
                  <a:pt x="132275" y="250921"/>
                </a:lnTo>
                <a:lnTo>
                  <a:pt x="187590" y="187590"/>
                </a:lnTo>
                <a:lnTo>
                  <a:pt x="250921" y="132275"/>
                </a:lnTo>
                <a:lnTo>
                  <a:pt x="320666" y="85778"/>
                </a:lnTo>
                <a:lnTo>
                  <a:pt x="396023" y="48902"/>
                </a:lnTo>
                <a:lnTo>
                  <a:pt x="475388" y="21645"/>
                </a:lnTo>
                <a:lnTo>
                  <a:pt x="557959" y="5612"/>
                </a:lnTo>
                <a:lnTo>
                  <a:pt x="641333" y="0"/>
                </a:lnTo>
                <a:lnTo>
                  <a:pt x="641333" y="0"/>
                </a:lnTo>
                <a:lnTo>
                  <a:pt x="595638" y="5612"/>
                </a:lnTo>
                <a:lnTo>
                  <a:pt x="549943" y="21645"/>
                </a:lnTo>
                <a:lnTo>
                  <a:pt x="506653" y="48902"/>
                </a:lnTo>
                <a:lnTo>
                  <a:pt x="464966" y="85778"/>
                </a:lnTo>
                <a:lnTo>
                  <a:pt x="426486" y="132275"/>
                </a:lnTo>
                <a:lnTo>
                  <a:pt x="392015" y="187590"/>
                </a:lnTo>
                <a:lnTo>
                  <a:pt x="361551" y="250921"/>
                </a:lnTo>
                <a:lnTo>
                  <a:pt x="335898" y="320666"/>
                </a:lnTo>
                <a:lnTo>
                  <a:pt x="315055" y="396023"/>
                </a:lnTo>
                <a:lnTo>
                  <a:pt x="300625" y="475388"/>
                </a:lnTo>
                <a:lnTo>
                  <a:pt x="291806" y="557959"/>
                </a:lnTo>
                <a:lnTo>
                  <a:pt x="288600" y="641333"/>
                </a:lnTo>
                <a:lnTo>
                  <a:pt x="291806" y="724706"/>
                </a:lnTo>
                <a:lnTo>
                  <a:pt x="300625" y="807277"/>
                </a:lnTo>
                <a:lnTo>
                  <a:pt x="315055" y="886642"/>
                </a:lnTo>
                <a:lnTo>
                  <a:pt x="335898" y="961999"/>
                </a:lnTo>
                <a:lnTo>
                  <a:pt x="361551" y="1031744"/>
                </a:lnTo>
                <a:lnTo>
                  <a:pt x="392015" y="1095075"/>
                </a:lnTo>
                <a:lnTo>
                  <a:pt x="426486" y="1150390"/>
                </a:lnTo>
                <a:lnTo>
                  <a:pt x="464966" y="1196887"/>
                </a:lnTo>
                <a:lnTo>
                  <a:pt x="506653" y="1233764"/>
                </a:lnTo>
                <a:lnTo>
                  <a:pt x="549943" y="1261020"/>
                </a:lnTo>
                <a:lnTo>
                  <a:pt x="595638" y="1277054"/>
                </a:lnTo>
                <a:lnTo>
                  <a:pt x="641333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5" name="S07-mark92"/>
          <p:cNvSpPr/>
          <p:nvPr/>
        </p:nvSpPr>
        <p:spPr>
          <a:xfrm>
            <a:off x="1284481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07-mark93"/>
          <p:cNvSpPr/>
          <p:nvPr/>
        </p:nvSpPr>
        <p:spPr>
          <a:xfrm>
            <a:off x="3368812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7" name="S07-mark94"/>
          <p:cNvSpPr/>
          <p:nvPr/>
        </p:nvSpPr>
        <p:spPr>
          <a:xfrm>
            <a:off x="5453143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8" name="S07-mark95"/>
          <p:cNvSpPr/>
          <p:nvPr/>
        </p:nvSpPr>
        <p:spPr>
          <a:xfrm>
            <a:off x="7537474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9" name="S07-mark96"/>
          <p:cNvSpPr/>
          <p:nvPr/>
        </p:nvSpPr>
        <p:spPr>
          <a:xfrm>
            <a:off x="9621805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0" name="S07-mark97"/>
          <p:cNvSpPr/>
          <p:nvPr/>
        </p:nvSpPr>
        <p:spPr>
          <a:xfrm>
            <a:off x="2687397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7-mark98"/>
          <p:cNvSpPr/>
          <p:nvPr/>
        </p:nvSpPr>
        <p:spPr>
          <a:xfrm>
            <a:off x="4771728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7-mark99"/>
          <p:cNvSpPr/>
          <p:nvPr/>
        </p:nvSpPr>
        <p:spPr>
          <a:xfrm>
            <a:off x="6856058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3" name="S07-mark100"/>
          <p:cNvSpPr/>
          <p:nvPr/>
        </p:nvSpPr>
        <p:spPr>
          <a:xfrm>
            <a:off x="8940389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4" name="S07-mark101"/>
          <p:cNvSpPr/>
          <p:nvPr/>
        </p:nvSpPr>
        <p:spPr>
          <a:xfrm>
            <a:off x="10263138" y="4227534"/>
            <a:ext cx="0" cy="400833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25" name="S07-mark102"/>
          <p:cNvSpPr/>
          <p:nvPr/>
        </p:nvSpPr>
        <p:spPr>
          <a:xfrm flipH="1">
            <a:off x="1925814" y="4628367"/>
            <a:ext cx="8337324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26" name="S07-mark103"/>
          <p:cNvSpPr/>
          <p:nvPr/>
        </p:nvSpPr>
        <p:spPr>
          <a:xfrm flipV="1">
            <a:off x="1925814" y="4227534"/>
            <a:ext cx="0" cy="400833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7" name="S07-label105"/>
          <p:cNvSpPr txBox="1"/>
          <p:nvPr/>
        </p:nvSpPr>
        <p:spPr>
          <a:xfrm>
            <a:off x="1422894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</a:t>
            </a:r>
            <a:endParaRPr lang="ko-KR" sz="2400" dirty="0"/>
          </a:p>
        </p:txBody>
      </p:sp>
      <p:sp>
        <p:nvSpPr>
          <p:cNvPr id="28" name="S07-label107"/>
          <p:cNvSpPr txBox="1"/>
          <p:nvPr/>
        </p:nvSpPr>
        <p:spPr>
          <a:xfrm>
            <a:off x="3507225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상현달</a:t>
            </a:r>
            <a:endParaRPr lang="ko-KR" sz="2400" dirty="0"/>
          </a:p>
        </p:txBody>
      </p:sp>
      <p:sp>
        <p:nvSpPr>
          <p:cNvPr id="29" name="S07-label109"/>
          <p:cNvSpPr txBox="1"/>
          <p:nvPr/>
        </p:nvSpPr>
        <p:spPr>
          <a:xfrm>
            <a:off x="5591556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</a:t>
            </a:r>
            <a:endParaRPr lang="ko-KR" sz="2400" dirty="0"/>
          </a:p>
        </p:txBody>
      </p:sp>
      <p:sp>
        <p:nvSpPr>
          <p:cNvPr id="30" name="S07-label111"/>
          <p:cNvSpPr txBox="1"/>
          <p:nvPr/>
        </p:nvSpPr>
        <p:spPr>
          <a:xfrm>
            <a:off x="7675887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하현달</a:t>
            </a:r>
            <a:endParaRPr lang="ko-KR" sz="2400" dirty="0"/>
          </a:p>
        </p:txBody>
      </p:sp>
      <p:sp>
        <p:nvSpPr>
          <p:cNvPr id="31" name="S07-label113"/>
          <p:cNvSpPr txBox="1"/>
          <p:nvPr/>
        </p:nvSpPr>
        <p:spPr>
          <a:xfrm>
            <a:off x="9760218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그믐달</a:t>
            </a:r>
            <a:endParaRPr lang="ko-KR" sz="2400" dirty="0"/>
          </a:p>
        </p:txBody>
      </p:sp>
      <p:sp>
        <p:nvSpPr>
          <p:cNvPr id="32" name="S07-label115"/>
          <p:cNvSpPr txBox="1"/>
          <p:nvPr/>
        </p:nvSpPr>
        <p:spPr>
          <a:xfrm>
            <a:off x="4794504" y="4878388"/>
            <a:ext cx="259994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한 달 뒤 다시 초승달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8-card11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보름달이 일주일쯤 뒤에 반달이 되었어요.</a:t>
            </a:r>
            <a:endParaRPr lang="ko-KR" sz="3000" dirty="0"/>
          </a:p>
        </p:txBody>
      </p:sp>
      <p:sp>
        <p:nvSpPr>
          <p:cNvPr id="5" name="S08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8-chip12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8-text12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구름이 달의 반을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가려서 그래요.</a:t>
            </a:r>
            <a:endParaRPr lang="ko-KR" sz="3000" dirty="0"/>
          </a:p>
        </p:txBody>
      </p:sp>
      <p:sp>
        <p:nvSpPr>
          <p:cNvPr id="9" name="S08-chip12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8-text12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 없는 맑은 날에도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모양이 바뀌어요.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시각, 달의 위치</a:t>
            </a:r>
            <a:endParaRPr lang="ko-KR" sz="4000" dirty="0"/>
          </a:p>
        </p:txBody>
      </p:sp>
      <p:sp>
        <p:nvSpPr>
          <p:cNvPr id="3" name="S09-card1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보면 달은 날마다 서쪽에서 동쪽으로 옮겨 가요.</a:t>
            </a:r>
            <a:endParaRPr lang="ko-KR" sz="3000" dirty="0"/>
          </a:p>
        </p:txBody>
      </p:sp>
      <p:sp>
        <p:nvSpPr>
          <p:cNvPr id="5" name="S09-card126"/>
          <p:cNvSpPr/>
          <p:nvPr/>
        </p:nvSpPr>
        <p:spPr>
          <a:xfrm>
            <a:off x="548640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27"/>
          <p:cNvSpPr txBox="1"/>
          <p:nvPr/>
        </p:nvSpPr>
        <p:spPr>
          <a:xfrm>
            <a:off x="822960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서쪽 하늘, 초승달</a:t>
            </a:r>
            <a:endParaRPr lang="ko-KR" sz="3000" dirty="0"/>
          </a:p>
        </p:txBody>
      </p:sp>
      <p:sp>
        <p:nvSpPr>
          <p:cNvPr id="7" name="S09-card128"/>
          <p:cNvSpPr/>
          <p:nvPr/>
        </p:nvSpPr>
        <p:spPr>
          <a:xfrm>
            <a:off x="4322064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129"/>
          <p:cNvSpPr txBox="1"/>
          <p:nvPr/>
        </p:nvSpPr>
        <p:spPr>
          <a:xfrm>
            <a:off x="4596384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7일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 하늘, 상현달</a:t>
            </a:r>
            <a:endParaRPr lang="ko-KR" sz="3000" dirty="0"/>
          </a:p>
        </p:txBody>
      </p:sp>
      <p:sp>
        <p:nvSpPr>
          <p:cNvPr id="9" name="S09-card130"/>
          <p:cNvSpPr/>
          <p:nvPr/>
        </p:nvSpPr>
        <p:spPr>
          <a:xfrm>
            <a:off x="8095488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9-cardtext131"/>
          <p:cNvSpPr txBox="1"/>
          <p:nvPr/>
        </p:nvSpPr>
        <p:spPr>
          <a:xfrm>
            <a:off x="8369808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15일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 하늘, 보름달</a:t>
            </a:r>
            <a:endParaRPr lang="ko-KR" sz="3000" dirty="0"/>
          </a:p>
        </p:txBody>
      </p:sp>
      <p:sp>
        <p:nvSpPr>
          <p:cNvPr id="11" name="S09-figure132" descr="저녁 7시에 남쪽 하늘을 본 그림. 음력 3일 초승달(서쪽)에서 음력 7일 상현달(남쪽)을 거쳐 음력 15일 보름달(동쪽)로, 오른쪽에서 왼쪽으로 향하는 점선 화살표"/>
          <p:cNvSpPr/>
          <p:nvPr/>
        </p:nvSpPr>
        <p:spPr>
          <a:xfrm>
            <a:off x="7965445" y="2352804"/>
            <a:ext cx="415771" cy="415771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2" name="S09-mark133"/>
          <p:cNvSpPr/>
          <p:nvPr/>
        </p:nvSpPr>
        <p:spPr>
          <a:xfrm>
            <a:off x="5886591" y="1604417"/>
            <a:ext cx="415771" cy="415771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3" name="S09-mark134"/>
          <p:cNvSpPr/>
          <p:nvPr/>
        </p:nvSpPr>
        <p:spPr>
          <a:xfrm>
            <a:off x="3807736" y="2435959"/>
            <a:ext cx="415771" cy="415771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4" name="S09-mark135"/>
          <p:cNvSpPr/>
          <p:nvPr/>
        </p:nvSpPr>
        <p:spPr>
          <a:xfrm>
            <a:off x="3184080" y="3142769"/>
            <a:ext cx="5820792" cy="415771"/>
          </a:xfrm>
          <a:custGeom>
            <a:avLst/>
            <a:gdLst/>
            <a:ahLst/>
            <a:cxnLst/>
            <a:rect l="l" t="t" r="r" b="b"/>
            <a:pathLst>
              <a:path w="5820792" h="415771">
                <a:moveTo>
                  <a:pt x="0" y="415771"/>
                </a:moveTo>
                <a:lnTo>
                  <a:pt x="5820792" y="415771"/>
                </a:lnTo>
                <a:lnTo>
                  <a:pt x="5820792" y="0"/>
                </a:lnTo>
                <a:lnTo>
                  <a:pt x="0" y="0"/>
                </a:lnTo>
                <a:close/>
              </a:path>
            </a:pathLst>
          </a:custGeom>
          <a:solidFill>
            <a:srgbClr val="E3EBD9"/>
          </a:solidFill>
          <a:ln/>
        </p:spPr>
      </p:sp>
      <p:sp>
        <p:nvSpPr>
          <p:cNvPr id="15" name="S09-mark136"/>
          <p:cNvSpPr/>
          <p:nvPr/>
        </p:nvSpPr>
        <p:spPr>
          <a:xfrm>
            <a:off x="6926018" y="2602267"/>
            <a:ext cx="415771" cy="540502"/>
          </a:xfrm>
          <a:custGeom>
            <a:avLst/>
            <a:gdLst/>
            <a:ahLst/>
            <a:cxnLst/>
            <a:rect l="l" t="t" r="r" b="b"/>
            <a:pathLst>
              <a:path w="415771" h="540502">
                <a:moveTo>
                  <a:pt x="0" y="540502"/>
                </a:moveTo>
                <a:lnTo>
                  <a:pt x="415771" y="540502"/>
                </a:lnTo>
                <a:lnTo>
                  <a:pt x="415771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16" name="S09-mark137"/>
          <p:cNvSpPr/>
          <p:nvPr/>
        </p:nvSpPr>
        <p:spPr>
          <a:xfrm>
            <a:off x="5013472" y="2435959"/>
            <a:ext cx="498925" cy="519714"/>
          </a:xfrm>
          <a:custGeom>
            <a:avLst/>
            <a:gdLst/>
            <a:ahLst/>
            <a:cxnLst/>
            <a:rect l="l" t="t" r="r" b="b"/>
            <a:pathLst>
              <a:path w="498925" h="519714">
                <a:moveTo>
                  <a:pt x="0" y="519714"/>
                </a:moveTo>
                <a:lnTo>
                  <a:pt x="249463" y="0"/>
                </a:lnTo>
                <a:lnTo>
                  <a:pt x="498925" y="519714"/>
                </a:lnTo>
                <a:close/>
              </a:path>
            </a:pathLst>
          </a:custGeom>
          <a:solidFill>
            <a:srgbClr val="A7C4A0"/>
          </a:solidFill>
          <a:ln w="15875">
            <a:solidFill>
              <a:srgbClr val="6B8F63"/>
            </a:solidFill>
            <a:prstDash val="solid"/>
          </a:ln>
        </p:spPr>
      </p:sp>
      <p:sp>
        <p:nvSpPr>
          <p:cNvPr id="17" name="S09-mark138"/>
          <p:cNvSpPr/>
          <p:nvPr/>
        </p:nvSpPr>
        <p:spPr>
          <a:xfrm>
            <a:off x="8173330" y="2352804"/>
            <a:ext cx="207885" cy="415771"/>
          </a:xfrm>
          <a:custGeom>
            <a:avLst/>
            <a:gdLst/>
            <a:ahLst/>
            <a:cxnLst/>
            <a:rect l="l" t="t" r="r" b="b"/>
            <a:pathLst>
              <a:path w="207885" h="415771">
                <a:moveTo>
                  <a:pt x="0" y="415771"/>
                </a:moveTo>
                <a:lnTo>
                  <a:pt x="27025" y="414108"/>
                </a:lnTo>
                <a:lnTo>
                  <a:pt x="53634" y="408703"/>
                </a:lnTo>
                <a:lnTo>
                  <a:pt x="79412" y="399972"/>
                </a:lnTo>
                <a:lnTo>
                  <a:pt x="103943" y="387914"/>
                </a:lnTo>
                <a:lnTo>
                  <a:pt x="126394" y="372946"/>
                </a:lnTo>
                <a:lnTo>
                  <a:pt x="147183" y="355068"/>
                </a:lnTo>
                <a:lnTo>
                  <a:pt x="165061" y="334280"/>
                </a:lnTo>
                <a:lnTo>
                  <a:pt x="180029" y="311828"/>
                </a:lnTo>
                <a:lnTo>
                  <a:pt x="192086" y="287298"/>
                </a:lnTo>
                <a:lnTo>
                  <a:pt x="200817" y="261520"/>
                </a:lnTo>
                <a:lnTo>
                  <a:pt x="206222" y="234911"/>
                </a:lnTo>
                <a:lnTo>
                  <a:pt x="207885" y="207885"/>
                </a:lnTo>
                <a:lnTo>
                  <a:pt x="206222" y="180860"/>
                </a:lnTo>
                <a:lnTo>
                  <a:pt x="200817" y="154251"/>
                </a:lnTo>
                <a:lnTo>
                  <a:pt x="192086" y="128473"/>
                </a:lnTo>
                <a:lnTo>
                  <a:pt x="180029" y="103943"/>
                </a:lnTo>
                <a:lnTo>
                  <a:pt x="165061" y="81491"/>
                </a:lnTo>
                <a:lnTo>
                  <a:pt x="147183" y="60703"/>
                </a:lnTo>
                <a:lnTo>
                  <a:pt x="126394" y="42824"/>
                </a:lnTo>
                <a:lnTo>
                  <a:pt x="103943" y="27857"/>
                </a:lnTo>
                <a:lnTo>
                  <a:pt x="79412" y="15799"/>
                </a:lnTo>
                <a:lnTo>
                  <a:pt x="53634" y="7068"/>
                </a:lnTo>
                <a:lnTo>
                  <a:pt x="27025" y="1663"/>
                </a:lnTo>
                <a:lnTo>
                  <a:pt x="0" y="0"/>
                </a:lnTo>
                <a:lnTo>
                  <a:pt x="0" y="0"/>
                </a:lnTo>
                <a:lnTo>
                  <a:pt x="14968" y="1663"/>
                </a:lnTo>
                <a:lnTo>
                  <a:pt x="29520" y="7068"/>
                </a:lnTo>
                <a:lnTo>
                  <a:pt x="43656" y="15799"/>
                </a:lnTo>
                <a:lnTo>
                  <a:pt x="57376" y="27857"/>
                </a:lnTo>
                <a:lnTo>
                  <a:pt x="69434" y="42824"/>
                </a:lnTo>
                <a:lnTo>
                  <a:pt x="80660" y="60703"/>
                </a:lnTo>
                <a:lnTo>
                  <a:pt x="90638" y="81491"/>
                </a:lnTo>
                <a:lnTo>
                  <a:pt x="98953" y="103943"/>
                </a:lnTo>
                <a:lnTo>
                  <a:pt x="105606" y="128473"/>
                </a:lnTo>
                <a:lnTo>
                  <a:pt x="110595" y="154251"/>
                </a:lnTo>
                <a:lnTo>
                  <a:pt x="113505" y="180860"/>
                </a:lnTo>
                <a:lnTo>
                  <a:pt x="114337" y="207885"/>
                </a:lnTo>
                <a:lnTo>
                  <a:pt x="113505" y="234911"/>
                </a:lnTo>
                <a:lnTo>
                  <a:pt x="110595" y="261520"/>
                </a:lnTo>
                <a:lnTo>
                  <a:pt x="105606" y="287298"/>
                </a:lnTo>
                <a:lnTo>
                  <a:pt x="98953" y="311828"/>
                </a:lnTo>
                <a:lnTo>
                  <a:pt x="90638" y="334280"/>
                </a:lnTo>
                <a:lnTo>
                  <a:pt x="80660" y="355068"/>
                </a:lnTo>
                <a:lnTo>
                  <a:pt x="69434" y="372946"/>
                </a:lnTo>
                <a:lnTo>
                  <a:pt x="57376" y="387914"/>
                </a:lnTo>
                <a:lnTo>
                  <a:pt x="43656" y="399972"/>
                </a:lnTo>
                <a:lnTo>
                  <a:pt x="29520" y="408703"/>
                </a:lnTo>
                <a:lnTo>
                  <a:pt x="14968" y="414108"/>
                </a:lnTo>
                <a:lnTo>
                  <a:pt x="0" y="415771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8" name="S09-mark139"/>
          <p:cNvSpPr/>
          <p:nvPr/>
        </p:nvSpPr>
        <p:spPr>
          <a:xfrm>
            <a:off x="6094476" y="1604417"/>
            <a:ext cx="207885" cy="415771"/>
          </a:xfrm>
          <a:custGeom>
            <a:avLst/>
            <a:gdLst/>
            <a:ahLst/>
            <a:cxnLst/>
            <a:rect l="l" t="t" r="r" b="b"/>
            <a:pathLst>
              <a:path w="207885" h="415771">
                <a:moveTo>
                  <a:pt x="0" y="415771"/>
                </a:moveTo>
                <a:lnTo>
                  <a:pt x="27025" y="414108"/>
                </a:lnTo>
                <a:lnTo>
                  <a:pt x="53634" y="408703"/>
                </a:lnTo>
                <a:lnTo>
                  <a:pt x="79412" y="399972"/>
                </a:lnTo>
                <a:lnTo>
                  <a:pt x="103943" y="387914"/>
                </a:lnTo>
                <a:lnTo>
                  <a:pt x="126394" y="372946"/>
                </a:lnTo>
                <a:lnTo>
                  <a:pt x="147183" y="355068"/>
                </a:lnTo>
                <a:lnTo>
                  <a:pt x="165061" y="334280"/>
                </a:lnTo>
                <a:lnTo>
                  <a:pt x="180029" y="311828"/>
                </a:lnTo>
                <a:lnTo>
                  <a:pt x="192086" y="287298"/>
                </a:lnTo>
                <a:lnTo>
                  <a:pt x="200817" y="261520"/>
                </a:lnTo>
                <a:lnTo>
                  <a:pt x="206222" y="234911"/>
                </a:lnTo>
                <a:lnTo>
                  <a:pt x="207885" y="207885"/>
                </a:lnTo>
                <a:lnTo>
                  <a:pt x="206222" y="180860"/>
                </a:lnTo>
                <a:lnTo>
                  <a:pt x="200817" y="154251"/>
                </a:lnTo>
                <a:lnTo>
                  <a:pt x="192086" y="128473"/>
                </a:lnTo>
                <a:lnTo>
                  <a:pt x="180029" y="103943"/>
                </a:lnTo>
                <a:lnTo>
                  <a:pt x="165061" y="81491"/>
                </a:lnTo>
                <a:lnTo>
                  <a:pt x="147183" y="60703"/>
                </a:lnTo>
                <a:lnTo>
                  <a:pt x="126394" y="42824"/>
                </a:lnTo>
                <a:lnTo>
                  <a:pt x="103943" y="27857"/>
                </a:lnTo>
                <a:lnTo>
                  <a:pt x="79412" y="15799"/>
                </a:lnTo>
                <a:lnTo>
                  <a:pt x="53634" y="7068"/>
                </a:lnTo>
                <a:lnTo>
                  <a:pt x="27025" y="1663"/>
                </a:lnTo>
                <a:lnTo>
                  <a:pt x="0" y="0"/>
                </a:lnTo>
                <a:lnTo>
                  <a:pt x="0" y="0"/>
                </a:lnTo>
                <a:lnTo>
                  <a:pt x="0" y="1663"/>
                </a:lnTo>
                <a:lnTo>
                  <a:pt x="0" y="7068"/>
                </a:lnTo>
                <a:lnTo>
                  <a:pt x="0" y="15799"/>
                </a:lnTo>
                <a:lnTo>
                  <a:pt x="0" y="27857"/>
                </a:lnTo>
                <a:lnTo>
                  <a:pt x="0" y="42824"/>
                </a:lnTo>
                <a:lnTo>
                  <a:pt x="0" y="60703"/>
                </a:lnTo>
                <a:lnTo>
                  <a:pt x="0" y="81491"/>
                </a:lnTo>
                <a:lnTo>
                  <a:pt x="0" y="103943"/>
                </a:lnTo>
                <a:lnTo>
                  <a:pt x="0" y="128473"/>
                </a:lnTo>
                <a:lnTo>
                  <a:pt x="0" y="154251"/>
                </a:lnTo>
                <a:lnTo>
                  <a:pt x="0" y="180860"/>
                </a:lnTo>
                <a:lnTo>
                  <a:pt x="0" y="207885"/>
                </a:lnTo>
                <a:lnTo>
                  <a:pt x="0" y="234911"/>
                </a:lnTo>
                <a:lnTo>
                  <a:pt x="0" y="261520"/>
                </a:lnTo>
                <a:lnTo>
                  <a:pt x="0" y="287298"/>
                </a:lnTo>
                <a:lnTo>
                  <a:pt x="0" y="311828"/>
                </a:lnTo>
                <a:lnTo>
                  <a:pt x="0" y="334280"/>
                </a:lnTo>
                <a:lnTo>
                  <a:pt x="0" y="355068"/>
                </a:lnTo>
                <a:lnTo>
                  <a:pt x="0" y="372946"/>
                </a:lnTo>
                <a:lnTo>
                  <a:pt x="0" y="387914"/>
                </a:lnTo>
                <a:lnTo>
                  <a:pt x="0" y="399972"/>
                </a:lnTo>
                <a:lnTo>
                  <a:pt x="0" y="408703"/>
                </a:lnTo>
                <a:lnTo>
                  <a:pt x="0" y="414108"/>
                </a:lnTo>
                <a:lnTo>
                  <a:pt x="0" y="415771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9" name="S09-mark140"/>
          <p:cNvSpPr/>
          <p:nvPr/>
        </p:nvSpPr>
        <p:spPr>
          <a:xfrm>
            <a:off x="7965445" y="2352804"/>
            <a:ext cx="415771" cy="415771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0" name="S09-mark141"/>
          <p:cNvSpPr/>
          <p:nvPr/>
        </p:nvSpPr>
        <p:spPr>
          <a:xfrm>
            <a:off x="5886591" y="1604417"/>
            <a:ext cx="415771" cy="415771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1" name="S09-mark142"/>
          <p:cNvSpPr/>
          <p:nvPr/>
        </p:nvSpPr>
        <p:spPr>
          <a:xfrm>
            <a:off x="3807736" y="2435959"/>
            <a:ext cx="415771" cy="415771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2" name="S09-mark143"/>
          <p:cNvSpPr/>
          <p:nvPr/>
        </p:nvSpPr>
        <p:spPr>
          <a:xfrm>
            <a:off x="3184080" y="3142769"/>
            <a:ext cx="582079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9-mark144"/>
          <p:cNvSpPr/>
          <p:nvPr/>
        </p:nvSpPr>
        <p:spPr>
          <a:xfrm flipV="1">
            <a:off x="5262934" y="2955672"/>
            <a:ext cx="0" cy="187097"/>
          </a:xfrm>
          <a:prstGeom prst="line">
            <a:avLst/>
          </a:prstGeom>
          <a:noFill/>
          <a:ln w="31750">
            <a:solidFill>
              <a:srgbClr val="6B8F63"/>
            </a:solidFill>
            <a:prstDash val="solid"/>
          </a:ln>
        </p:spPr>
      </p:sp>
      <p:sp>
        <p:nvSpPr>
          <p:cNvPr id="24" name="S09-mark145"/>
          <p:cNvSpPr/>
          <p:nvPr/>
        </p:nvSpPr>
        <p:spPr>
          <a:xfrm flipH="1" flipV="1">
            <a:off x="6406304" y="1874668"/>
            <a:ext cx="1517564" cy="540502"/>
          </a:xfrm>
          <a:prstGeom prst="line">
            <a:avLst/>
          </a:prstGeom>
          <a:noFill/>
          <a:ln w="31750">
            <a:solidFill>
              <a:srgbClr val="E9762B"/>
            </a:solidFill>
            <a:prstDash val="dash"/>
            <a:tailEnd type="triangle"/>
          </a:ln>
        </p:spPr>
      </p:sp>
      <p:sp>
        <p:nvSpPr>
          <p:cNvPr id="25" name="S09-mark146"/>
          <p:cNvSpPr/>
          <p:nvPr/>
        </p:nvSpPr>
        <p:spPr>
          <a:xfrm flipH="1">
            <a:off x="4265084" y="1874668"/>
            <a:ext cx="1517564" cy="602868"/>
          </a:xfrm>
          <a:prstGeom prst="line">
            <a:avLst/>
          </a:prstGeom>
          <a:noFill/>
          <a:ln w="31750">
            <a:solidFill>
              <a:srgbClr val="E9762B"/>
            </a:solidFill>
            <a:prstDash val="dash"/>
            <a:tailEnd type="triangle"/>
          </a:ln>
        </p:spPr>
      </p:sp>
      <p:sp>
        <p:nvSpPr>
          <p:cNvPr id="26" name="S09-label148"/>
          <p:cNvSpPr txBox="1"/>
          <p:nvPr/>
        </p:nvSpPr>
        <p:spPr>
          <a:xfrm>
            <a:off x="3395635" y="316015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400" dirty="0"/>
          </a:p>
        </p:txBody>
      </p:sp>
      <p:sp>
        <p:nvSpPr>
          <p:cNvPr id="27" name="S09-label150"/>
          <p:cNvSpPr txBox="1"/>
          <p:nvPr/>
        </p:nvSpPr>
        <p:spPr>
          <a:xfrm>
            <a:off x="5890260" y="316015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ko-KR" sz="2400" dirty="0"/>
          </a:p>
        </p:txBody>
      </p:sp>
      <p:sp>
        <p:nvSpPr>
          <p:cNvPr id="28" name="S09-label152"/>
          <p:cNvSpPr txBox="1"/>
          <p:nvPr/>
        </p:nvSpPr>
        <p:spPr>
          <a:xfrm>
            <a:off x="8384885" y="316015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400" dirty="0"/>
          </a:p>
        </p:txBody>
      </p:sp>
      <p:sp>
        <p:nvSpPr>
          <p:cNvPr id="29" name="S09-label154"/>
          <p:cNvSpPr txBox="1"/>
          <p:nvPr/>
        </p:nvSpPr>
        <p:spPr>
          <a:xfrm>
            <a:off x="7647931" y="2014895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</a:t>
            </a:r>
            <a:endParaRPr lang="ko-KR" sz="1900" dirty="0"/>
          </a:p>
        </p:txBody>
      </p:sp>
      <p:sp>
        <p:nvSpPr>
          <p:cNvPr id="30" name="S09-label156"/>
          <p:cNvSpPr txBox="1"/>
          <p:nvPr/>
        </p:nvSpPr>
        <p:spPr>
          <a:xfrm>
            <a:off x="5569077" y="1266508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7일</a:t>
            </a:r>
            <a:endParaRPr lang="ko-KR" sz="1900" dirty="0"/>
          </a:p>
        </p:txBody>
      </p:sp>
      <p:sp>
        <p:nvSpPr>
          <p:cNvPr id="31" name="S09-label158"/>
          <p:cNvSpPr txBox="1"/>
          <p:nvPr/>
        </p:nvSpPr>
        <p:spPr>
          <a:xfrm>
            <a:off x="3410594" y="2098049"/>
            <a:ext cx="121005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15일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달일까요?</a:t>
            </a:r>
            <a:endParaRPr lang="ko-KR" sz="4000" dirty="0"/>
          </a:p>
        </p:txBody>
      </p:sp>
      <p:sp>
        <p:nvSpPr>
          <p:cNvPr id="3" name="S10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그림의 달 이름을 말해요. 밝은 쪽을 먼저 봐요.</a:t>
            </a:r>
            <a:endParaRPr lang="ko-KR" sz="3000" dirty="0"/>
          </a:p>
        </p:txBody>
      </p:sp>
      <p:sp>
        <p:nvSpPr>
          <p:cNvPr id="5" name="S10-chip16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0-text16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저녁 7시, 상현달이 남쪽에.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8일 뒤 같은 시각에는?</a:t>
            </a:r>
            <a:endParaRPr lang="ko-KR" sz="3000" dirty="0"/>
          </a:p>
        </p:txBody>
      </p:sp>
      <p:sp>
        <p:nvSpPr>
          <p:cNvPr id="7" name="S10-chip16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0-text16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저녁 서쪽에 초승달.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뒤 같은 시각, 어느 쪽으로?</a:t>
            </a:r>
            <a:endParaRPr lang="ko-KR" sz="3000" dirty="0"/>
          </a:p>
        </p:txBody>
      </p:sp>
      <p:sp>
        <p:nvSpPr>
          <p:cNvPr id="9" name="S10-chip16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0-text16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반이 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3000" dirty="0"/>
          </a:p>
        </p:txBody>
      </p:sp>
      <p:sp>
        <p:nvSpPr>
          <p:cNvPr id="11" name="S10-chip167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0-figure168" descr="그믐달: 왼쪽이 가늘게 밝은 눈썹 모양"/>
          <p:cNvSpPr/>
          <p:nvPr/>
        </p:nvSpPr>
        <p:spPr>
          <a:xfrm>
            <a:off x="8545068" y="3406140"/>
            <a:ext cx="1623060" cy="162306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3" name="S10-mark169"/>
          <p:cNvSpPr/>
          <p:nvPr/>
        </p:nvSpPr>
        <p:spPr>
          <a:xfrm>
            <a:off x="8545068" y="3406140"/>
            <a:ext cx="811530" cy="1623060"/>
          </a:xfrm>
          <a:custGeom>
            <a:avLst/>
            <a:gdLst/>
            <a:ahLst/>
            <a:cxnLst/>
            <a:rect l="l" t="t" r="r" b="b"/>
            <a:pathLst>
              <a:path w="811530" h="1623060">
                <a:moveTo>
                  <a:pt x="811530" y="1623060"/>
                </a:moveTo>
                <a:lnTo>
                  <a:pt x="705220" y="1615756"/>
                </a:lnTo>
                <a:lnTo>
                  <a:pt x="601344" y="1595468"/>
                </a:lnTo>
                <a:lnTo>
                  <a:pt x="500714" y="1561384"/>
                </a:lnTo>
                <a:lnTo>
                  <a:pt x="405765" y="1514315"/>
                </a:lnTo>
                <a:lnTo>
                  <a:pt x="317308" y="1455073"/>
                </a:lnTo>
                <a:lnTo>
                  <a:pt x="237778" y="1385282"/>
                </a:lnTo>
                <a:lnTo>
                  <a:pt x="167987" y="1305752"/>
                </a:lnTo>
                <a:lnTo>
                  <a:pt x="108745" y="1217295"/>
                </a:lnTo>
                <a:lnTo>
                  <a:pt x="61676" y="1122346"/>
                </a:lnTo>
                <a:lnTo>
                  <a:pt x="27592" y="1021716"/>
                </a:lnTo>
                <a:lnTo>
                  <a:pt x="7304" y="917840"/>
                </a:lnTo>
                <a:lnTo>
                  <a:pt x="0" y="811530"/>
                </a:lnTo>
                <a:lnTo>
                  <a:pt x="7304" y="705220"/>
                </a:lnTo>
                <a:lnTo>
                  <a:pt x="27592" y="601344"/>
                </a:lnTo>
                <a:lnTo>
                  <a:pt x="61676" y="500714"/>
                </a:lnTo>
                <a:lnTo>
                  <a:pt x="108745" y="405765"/>
                </a:lnTo>
                <a:lnTo>
                  <a:pt x="167987" y="317308"/>
                </a:lnTo>
                <a:lnTo>
                  <a:pt x="237778" y="237778"/>
                </a:lnTo>
                <a:lnTo>
                  <a:pt x="317308" y="167987"/>
                </a:lnTo>
                <a:lnTo>
                  <a:pt x="405765" y="108745"/>
                </a:lnTo>
                <a:lnTo>
                  <a:pt x="500714" y="61676"/>
                </a:lnTo>
                <a:lnTo>
                  <a:pt x="601344" y="27592"/>
                </a:lnTo>
                <a:lnTo>
                  <a:pt x="705220" y="7304"/>
                </a:lnTo>
                <a:lnTo>
                  <a:pt x="811530" y="0"/>
                </a:lnTo>
                <a:lnTo>
                  <a:pt x="811530" y="0"/>
                </a:lnTo>
                <a:lnTo>
                  <a:pt x="753100" y="7304"/>
                </a:lnTo>
                <a:lnTo>
                  <a:pt x="696293" y="27592"/>
                </a:lnTo>
                <a:lnTo>
                  <a:pt x="641109" y="61676"/>
                </a:lnTo>
                <a:lnTo>
                  <a:pt x="588359" y="108745"/>
                </a:lnTo>
                <a:lnTo>
                  <a:pt x="539667" y="167987"/>
                </a:lnTo>
                <a:lnTo>
                  <a:pt x="495845" y="237778"/>
                </a:lnTo>
                <a:lnTo>
                  <a:pt x="457703" y="317308"/>
                </a:lnTo>
                <a:lnTo>
                  <a:pt x="425242" y="405765"/>
                </a:lnTo>
                <a:lnTo>
                  <a:pt x="399273" y="500714"/>
                </a:lnTo>
                <a:lnTo>
                  <a:pt x="380608" y="601344"/>
                </a:lnTo>
                <a:lnTo>
                  <a:pt x="369246" y="705220"/>
                </a:lnTo>
                <a:lnTo>
                  <a:pt x="365188" y="811530"/>
                </a:lnTo>
                <a:lnTo>
                  <a:pt x="369246" y="917840"/>
                </a:lnTo>
                <a:lnTo>
                  <a:pt x="380608" y="1021716"/>
                </a:lnTo>
                <a:lnTo>
                  <a:pt x="399273" y="1122346"/>
                </a:lnTo>
                <a:lnTo>
                  <a:pt x="425242" y="1217295"/>
                </a:lnTo>
                <a:lnTo>
                  <a:pt x="457703" y="1305752"/>
                </a:lnTo>
                <a:lnTo>
                  <a:pt x="495845" y="1385282"/>
                </a:lnTo>
                <a:lnTo>
                  <a:pt x="539667" y="1455073"/>
                </a:lnTo>
                <a:lnTo>
                  <a:pt x="588359" y="1514315"/>
                </a:lnTo>
                <a:lnTo>
                  <a:pt x="641109" y="1561384"/>
                </a:lnTo>
                <a:lnTo>
                  <a:pt x="696293" y="1595468"/>
                </a:lnTo>
                <a:lnTo>
                  <a:pt x="753100" y="1615756"/>
                </a:lnTo>
                <a:lnTo>
                  <a:pt x="811530" y="162306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4" name="S10-mark170"/>
          <p:cNvSpPr/>
          <p:nvPr/>
        </p:nvSpPr>
        <p:spPr>
          <a:xfrm>
            <a:off x="8545068" y="3406140"/>
            <a:ext cx="1623060" cy="162306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오늘부터 달을 관찰해요</a:t>
            </a:r>
            <a:endParaRPr lang="ko-KR" sz="4000" dirty="0"/>
          </a:p>
        </p:txBody>
      </p:sp>
      <p:sp>
        <p:nvSpPr>
          <p:cNvPr id="3" name="S11-card1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해는 절대 보지 않아요. 밤에는 어른과 함께 관찰해요.</a:t>
            </a:r>
            <a:endParaRPr lang="ko-KR" sz="3000" dirty="0"/>
          </a:p>
        </p:txBody>
      </p:sp>
      <p:sp>
        <p:nvSpPr>
          <p:cNvPr id="5" name="S11-card173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174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곳, 같은 시각에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방향(동·남·서)을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흐린 날도 기록해요</a:t>
            </a:r>
            <a:endParaRPr lang="ko-KR" sz="3000" dirty="0"/>
          </a:p>
        </p:txBody>
      </p:sp>
      <p:sp>
        <p:nvSpPr>
          <p:cNvPr id="7" name="S11-stepno175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1-text176"/>
          <p:cNvSpPr txBox="1"/>
          <p:nvPr/>
        </p:nvSpPr>
        <p:spPr>
          <a:xfrm>
            <a:off x="1325880" y="1879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달력에서 음력 날짜를 확인해요.</a:t>
            </a:r>
            <a:endParaRPr lang="ko-KR" sz="2400" dirty="0"/>
          </a:p>
        </p:txBody>
      </p:sp>
      <p:sp>
        <p:nvSpPr>
          <p:cNvPr id="9" name="S11-stepno177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1-text178"/>
          <p:cNvSpPr txBox="1"/>
          <p:nvPr/>
        </p:nvSpPr>
        <p:spPr>
          <a:xfrm>
            <a:off x="1325880" y="2592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7시쯤, 늘 같은 곳에 서요.</a:t>
            </a:r>
            <a:endParaRPr lang="ko-KR" sz="2400" dirty="0"/>
          </a:p>
        </p:txBody>
      </p:sp>
      <p:sp>
        <p:nvSpPr>
          <p:cNvPr id="11" name="S11-stepno179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1-text180"/>
          <p:cNvSpPr txBox="1"/>
          <p:nvPr/>
        </p:nvSpPr>
        <p:spPr>
          <a:xfrm>
            <a:off x="1325880" y="3305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건물·나무와 함께 달을 그려요.</a:t>
            </a:r>
            <a:endParaRPr lang="ko-KR" sz="2400" dirty="0"/>
          </a:p>
        </p:txBody>
      </p:sp>
      <p:sp>
        <p:nvSpPr>
          <p:cNvPr id="13" name="S11-stepno181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1-text182"/>
          <p:cNvSpPr txBox="1"/>
          <p:nvPr/>
        </p:nvSpPr>
        <p:spPr>
          <a:xfrm>
            <a:off x="1325880" y="4018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2~3일마다 날짜·시각·방향을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18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2-text18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 다음에 보이는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3000" dirty="0"/>
          </a:p>
        </p:txBody>
      </p:sp>
      <p:sp>
        <p:nvSpPr>
          <p:cNvPr id="5" name="S12-chip18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2-text18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왼쪽이 가늘게 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눈썹 모양 달의 이름은?</a:t>
            </a:r>
            <a:endParaRPr lang="ko-KR" sz="3000" dirty="0"/>
          </a:p>
        </p:txBody>
      </p:sp>
      <p:sp>
        <p:nvSpPr>
          <p:cNvPr id="7" name="S12-chip18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2-text18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여러 날 보면 달은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쪽에서 어느 쪽으로 옮겨 가나요?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초승달은 어느 것일까요?</a:t>
            </a:r>
            <a:endParaRPr lang="ko-KR" sz="4000" dirty="0"/>
          </a:p>
        </p:txBody>
      </p:sp>
      <p:sp>
        <p:nvSpPr>
          <p:cNvPr id="3" name="S14-text1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 저녁, 서쪽 하늘에 뜬 달이에요.</a:t>
            </a:r>
            <a:endParaRPr lang="ko-KR" sz="3000" dirty="0"/>
          </a:p>
        </p:txBody>
      </p:sp>
      <p:sp>
        <p:nvSpPr>
          <p:cNvPr id="4" name="S14-card1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3000" dirty="0"/>
          </a:p>
        </p:txBody>
      </p:sp>
      <p:sp>
        <p:nvSpPr>
          <p:cNvPr id="6" name="S14-chip19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figure193" descr="그믐달: 왼쪽이 가늘게 밝은 눈썹 모양"/>
          <p:cNvSpPr/>
          <p:nvPr/>
        </p:nvSpPr>
        <p:spPr>
          <a:xfrm>
            <a:off x="1498092" y="3140964"/>
            <a:ext cx="1554480" cy="155448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8" name="S14-mark194"/>
          <p:cNvSpPr/>
          <p:nvPr/>
        </p:nvSpPr>
        <p:spPr>
          <a:xfrm>
            <a:off x="1498092" y="3140964"/>
            <a:ext cx="777240" cy="1554480"/>
          </a:xfrm>
          <a:custGeom>
            <a:avLst/>
            <a:gdLst/>
            <a:ahLst/>
            <a:cxnLst/>
            <a:rect l="l" t="t" r="r" b="b"/>
            <a:pathLst>
              <a:path w="777240" h="1554480">
                <a:moveTo>
                  <a:pt x="777240" y="1554480"/>
                </a:moveTo>
                <a:lnTo>
                  <a:pt x="675422" y="1547485"/>
                </a:lnTo>
                <a:lnTo>
                  <a:pt x="575935" y="1528054"/>
                </a:lnTo>
                <a:lnTo>
                  <a:pt x="479557" y="1495410"/>
                </a:lnTo>
                <a:lnTo>
                  <a:pt x="388620" y="1450330"/>
                </a:lnTo>
                <a:lnTo>
                  <a:pt x="303901" y="1393591"/>
                </a:lnTo>
                <a:lnTo>
                  <a:pt x="227731" y="1326749"/>
                </a:lnTo>
                <a:lnTo>
                  <a:pt x="160889" y="1250579"/>
                </a:lnTo>
                <a:lnTo>
                  <a:pt x="104150" y="1165860"/>
                </a:lnTo>
                <a:lnTo>
                  <a:pt x="59070" y="1074923"/>
                </a:lnTo>
                <a:lnTo>
                  <a:pt x="26426" y="978545"/>
                </a:lnTo>
                <a:lnTo>
                  <a:pt x="6995" y="879058"/>
                </a:lnTo>
                <a:lnTo>
                  <a:pt x="0" y="777240"/>
                </a:lnTo>
                <a:lnTo>
                  <a:pt x="6995" y="675422"/>
                </a:lnTo>
                <a:lnTo>
                  <a:pt x="26426" y="575935"/>
                </a:lnTo>
                <a:lnTo>
                  <a:pt x="59070" y="479557"/>
                </a:lnTo>
                <a:lnTo>
                  <a:pt x="104150" y="388620"/>
                </a:lnTo>
                <a:lnTo>
                  <a:pt x="160889" y="303901"/>
                </a:lnTo>
                <a:lnTo>
                  <a:pt x="227731" y="227731"/>
                </a:lnTo>
                <a:lnTo>
                  <a:pt x="303901" y="160889"/>
                </a:lnTo>
                <a:lnTo>
                  <a:pt x="388620" y="104150"/>
                </a:lnTo>
                <a:lnTo>
                  <a:pt x="479557" y="59070"/>
                </a:lnTo>
                <a:lnTo>
                  <a:pt x="575935" y="26426"/>
                </a:lnTo>
                <a:lnTo>
                  <a:pt x="675422" y="6995"/>
                </a:lnTo>
                <a:lnTo>
                  <a:pt x="777240" y="0"/>
                </a:lnTo>
                <a:lnTo>
                  <a:pt x="777240" y="0"/>
                </a:lnTo>
                <a:lnTo>
                  <a:pt x="721279" y="6995"/>
                </a:lnTo>
                <a:lnTo>
                  <a:pt x="666872" y="26426"/>
                </a:lnTo>
                <a:lnTo>
                  <a:pt x="614020" y="59070"/>
                </a:lnTo>
                <a:lnTo>
                  <a:pt x="563499" y="104150"/>
                </a:lnTo>
                <a:lnTo>
                  <a:pt x="516865" y="160889"/>
                </a:lnTo>
                <a:lnTo>
                  <a:pt x="474894" y="227731"/>
                </a:lnTo>
                <a:lnTo>
                  <a:pt x="438363" y="303901"/>
                </a:lnTo>
                <a:lnTo>
                  <a:pt x="407274" y="388620"/>
                </a:lnTo>
                <a:lnTo>
                  <a:pt x="382402" y="479557"/>
                </a:lnTo>
                <a:lnTo>
                  <a:pt x="364526" y="575935"/>
                </a:lnTo>
                <a:lnTo>
                  <a:pt x="353644" y="675422"/>
                </a:lnTo>
                <a:lnTo>
                  <a:pt x="349758" y="777240"/>
                </a:lnTo>
                <a:lnTo>
                  <a:pt x="353644" y="879058"/>
                </a:lnTo>
                <a:lnTo>
                  <a:pt x="364526" y="978545"/>
                </a:lnTo>
                <a:lnTo>
                  <a:pt x="382402" y="1074923"/>
                </a:lnTo>
                <a:lnTo>
                  <a:pt x="407274" y="1165860"/>
                </a:lnTo>
                <a:lnTo>
                  <a:pt x="438363" y="1250579"/>
                </a:lnTo>
                <a:lnTo>
                  <a:pt x="474894" y="1326749"/>
                </a:lnTo>
                <a:lnTo>
                  <a:pt x="516865" y="1393591"/>
                </a:lnTo>
                <a:lnTo>
                  <a:pt x="563499" y="1450330"/>
                </a:lnTo>
                <a:lnTo>
                  <a:pt x="614020" y="1495410"/>
                </a:lnTo>
                <a:lnTo>
                  <a:pt x="666872" y="1528054"/>
                </a:lnTo>
                <a:lnTo>
                  <a:pt x="721279" y="1547485"/>
                </a:lnTo>
                <a:lnTo>
                  <a:pt x="777240" y="155448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9" name="S14-mark195"/>
          <p:cNvSpPr/>
          <p:nvPr/>
        </p:nvSpPr>
        <p:spPr>
          <a:xfrm>
            <a:off x="1498092" y="3140964"/>
            <a:ext cx="1554480" cy="155448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S14-chip19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1" name="S14-figure197" descr="초승달: 오른쪽이 가늘게 밝은 눈썹 모양"/>
          <p:cNvSpPr/>
          <p:nvPr/>
        </p:nvSpPr>
        <p:spPr>
          <a:xfrm>
            <a:off x="5317236" y="3140964"/>
            <a:ext cx="1554480" cy="155448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2" name="S14-mark198"/>
          <p:cNvSpPr/>
          <p:nvPr/>
        </p:nvSpPr>
        <p:spPr>
          <a:xfrm>
            <a:off x="6094476" y="3140964"/>
            <a:ext cx="777240" cy="1554480"/>
          </a:xfrm>
          <a:custGeom>
            <a:avLst/>
            <a:gdLst/>
            <a:ahLst/>
            <a:cxnLst/>
            <a:rect l="l" t="t" r="r" b="b"/>
            <a:pathLst>
              <a:path w="777240" h="1554480">
                <a:moveTo>
                  <a:pt x="0" y="1554480"/>
                </a:moveTo>
                <a:lnTo>
                  <a:pt x="101818" y="1547485"/>
                </a:lnTo>
                <a:lnTo>
                  <a:pt x="201305" y="1528054"/>
                </a:lnTo>
                <a:lnTo>
                  <a:pt x="297683" y="1495410"/>
                </a:lnTo>
                <a:lnTo>
                  <a:pt x="388620" y="1450330"/>
                </a:lnTo>
                <a:lnTo>
                  <a:pt x="473339" y="1393591"/>
                </a:lnTo>
                <a:lnTo>
                  <a:pt x="549509" y="1326749"/>
                </a:lnTo>
                <a:lnTo>
                  <a:pt x="616351" y="1250579"/>
                </a:lnTo>
                <a:lnTo>
                  <a:pt x="673090" y="1165860"/>
                </a:lnTo>
                <a:lnTo>
                  <a:pt x="718170" y="1074923"/>
                </a:lnTo>
                <a:lnTo>
                  <a:pt x="750814" y="978545"/>
                </a:lnTo>
                <a:lnTo>
                  <a:pt x="770245" y="879058"/>
                </a:lnTo>
                <a:lnTo>
                  <a:pt x="777240" y="777240"/>
                </a:lnTo>
                <a:lnTo>
                  <a:pt x="770245" y="675422"/>
                </a:lnTo>
                <a:lnTo>
                  <a:pt x="750814" y="575935"/>
                </a:lnTo>
                <a:lnTo>
                  <a:pt x="718170" y="479557"/>
                </a:lnTo>
                <a:lnTo>
                  <a:pt x="673090" y="388620"/>
                </a:lnTo>
                <a:lnTo>
                  <a:pt x="616351" y="303901"/>
                </a:lnTo>
                <a:lnTo>
                  <a:pt x="549509" y="227731"/>
                </a:lnTo>
                <a:lnTo>
                  <a:pt x="473339" y="160889"/>
                </a:lnTo>
                <a:lnTo>
                  <a:pt x="388620" y="104150"/>
                </a:lnTo>
                <a:lnTo>
                  <a:pt x="297683" y="59070"/>
                </a:lnTo>
                <a:lnTo>
                  <a:pt x="201305" y="26426"/>
                </a:lnTo>
                <a:lnTo>
                  <a:pt x="101818" y="6995"/>
                </a:lnTo>
                <a:lnTo>
                  <a:pt x="0" y="0"/>
                </a:lnTo>
                <a:lnTo>
                  <a:pt x="0" y="0"/>
                </a:lnTo>
                <a:lnTo>
                  <a:pt x="55961" y="6995"/>
                </a:lnTo>
                <a:lnTo>
                  <a:pt x="110368" y="26426"/>
                </a:lnTo>
                <a:lnTo>
                  <a:pt x="163220" y="59070"/>
                </a:lnTo>
                <a:lnTo>
                  <a:pt x="213741" y="104150"/>
                </a:lnTo>
                <a:lnTo>
                  <a:pt x="260375" y="160889"/>
                </a:lnTo>
                <a:lnTo>
                  <a:pt x="302346" y="227731"/>
                </a:lnTo>
                <a:lnTo>
                  <a:pt x="338877" y="303901"/>
                </a:lnTo>
                <a:lnTo>
                  <a:pt x="369966" y="388620"/>
                </a:lnTo>
                <a:lnTo>
                  <a:pt x="394838" y="479557"/>
                </a:lnTo>
                <a:lnTo>
                  <a:pt x="412714" y="575935"/>
                </a:lnTo>
                <a:lnTo>
                  <a:pt x="423596" y="675422"/>
                </a:lnTo>
                <a:lnTo>
                  <a:pt x="427482" y="777240"/>
                </a:lnTo>
                <a:lnTo>
                  <a:pt x="423596" y="879058"/>
                </a:lnTo>
                <a:lnTo>
                  <a:pt x="412714" y="978545"/>
                </a:lnTo>
                <a:lnTo>
                  <a:pt x="394838" y="1074923"/>
                </a:lnTo>
                <a:lnTo>
                  <a:pt x="369966" y="1165860"/>
                </a:lnTo>
                <a:lnTo>
                  <a:pt x="338877" y="1250579"/>
                </a:lnTo>
                <a:lnTo>
                  <a:pt x="302346" y="1326749"/>
                </a:lnTo>
                <a:lnTo>
                  <a:pt x="260375" y="1393591"/>
                </a:lnTo>
                <a:lnTo>
                  <a:pt x="213741" y="1450330"/>
                </a:lnTo>
                <a:lnTo>
                  <a:pt x="163220" y="1495410"/>
                </a:lnTo>
                <a:lnTo>
                  <a:pt x="110368" y="1528054"/>
                </a:lnTo>
                <a:lnTo>
                  <a:pt x="55961" y="1547485"/>
                </a:lnTo>
                <a:lnTo>
                  <a:pt x="0" y="155448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3" name="S14-mark199"/>
          <p:cNvSpPr/>
          <p:nvPr/>
        </p:nvSpPr>
        <p:spPr>
          <a:xfrm>
            <a:off x="5317236" y="3140964"/>
            <a:ext cx="1554480" cy="155448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14-chip20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5" name="S14-figure201" descr="하현달: 왼쪽 반이 밝은 반달"/>
          <p:cNvSpPr/>
          <p:nvPr/>
        </p:nvSpPr>
        <p:spPr>
          <a:xfrm>
            <a:off x="9136380" y="3140964"/>
            <a:ext cx="1554480" cy="155448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6" name="S14-mark202"/>
          <p:cNvSpPr/>
          <p:nvPr/>
        </p:nvSpPr>
        <p:spPr>
          <a:xfrm>
            <a:off x="9136380" y="3140964"/>
            <a:ext cx="777240" cy="1554480"/>
          </a:xfrm>
          <a:custGeom>
            <a:avLst/>
            <a:gdLst/>
            <a:ahLst/>
            <a:cxnLst/>
            <a:rect l="l" t="t" r="r" b="b"/>
            <a:pathLst>
              <a:path w="777240" h="1554480">
                <a:moveTo>
                  <a:pt x="777240" y="1554480"/>
                </a:moveTo>
                <a:lnTo>
                  <a:pt x="675422" y="1547485"/>
                </a:lnTo>
                <a:lnTo>
                  <a:pt x="575935" y="1528054"/>
                </a:lnTo>
                <a:lnTo>
                  <a:pt x="479557" y="1495410"/>
                </a:lnTo>
                <a:lnTo>
                  <a:pt x="388620" y="1450330"/>
                </a:lnTo>
                <a:lnTo>
                  <a:pt x="303901" y="1393591"/>
                </a:lnTo>
                <a:lnTo>
                  <a:pt x="227731" y="1326749"/>
                </a:lnTo>
                <a:lnTo>
                  <a:pt x="160889" y="1250579"/>
                </a:lnTo>
                <a:lnTo>
                  <a:pt x="104150" y="1165860"/>
                </a:lnTo>
                <a:lnTo>
                  <a:pt x="59070" y="1074923"/>
                </a:lnTo>
                <a:lnTo>
                  <a:pt x="26426" y="978545"/>
                </a:lnTo>
                <a:lnTo>
                  <a:pt x="6995" y="879058"/>
                </a:lnTo>
                <a:lnTo>
                  <a:pt x="0" y="777240"/>
                </a:lnTo>
                <a:lnTo>
                  <a:pt x="6995" y="675422"/>
                </a:lnTo>
                <a:lnTo>
                  <a:pt x="26426" y="575935"/>
                </a:lnTo>
                <a:lnTo>
                  <a:pt x="59070" y="479557"/>
                </a:lnTo>
                <a:lnTo>
                  <a:pt x="104150" y="388620"/>
                </a:lnTo>
                <a:lnTo>
                  <a:pt x="160889" y="303901"/>
                </a:lnTo>
                <a:lnTo>
                  <a:pt x="227731" y="227731"/>
                </a:lnTo>
                <a:lnTo>
                  <a:pt x="303901" y="160889"/>
                </a:lnTo>
                <a:lnTo>
                  <a:pt x="388620" y="104150"/>
                </a:lnTo>
                <a:lnTo>
                  <a:pt x="479557" y="59070"/>
                </a:lnTo>
                <a:lnTo>
                  <a:pt x="575935" y="26426"/>
                </a:lnTo>
                <a:lnTo>
                  <a:pt x="675422" y="6995"/>
                </a:lnTo>
                <a:lnTo>
                  <a:pt x="777240" y="0"/>
                </a:lnTo>
                <a:lnTo>
                  <a:pt x="777240" y="0"/>
                </a:lnTo>
                <a:lnTo>
                  <a:pt x="777240" y="6995"/>
                </a:lnTo>
                <a:lnTo>
                  <a:pt x="777240" y="26426"/>
                </a:lnTo>
                <a:lnTo>
                  <a:pt x="777240" y="59070"/>
                </a:lnTo>
                <a:lnTo>
                  <a:pt x="777240" y="104150"/>
                </a:lnTo>
                <a:lnTo>
                  <a:pt x="777240" y="160889"/>
                </a:lnTo>
                <a:lnTo>
                  <a:pt x="777240" y="227731"/>
                </a:lnTo>
                <a:lnTo>
                  <a:pt x="777240" y="303901"/>
                </a:lnTo>
                <a:lnTo>
                  <a:pt x="777240" y="388620"/>
                </a:lnTo>
                <a:lnTo>
                  <a:pt x="777240" y="479557"/>
                </a:lnTo>
                <a:lnTo>
                  <a:pt x="777240" y="575935"/>
                </a:lnTo>
                <a:lnTo>
                  <a:pt x="777240" y="675422"/>
                </a:lnTo>
                <a:lnTo>
                  <a:pt x="777240" y="777240"/>
                </a:lnTo>
                <a:lnTo>
                  <a:pt x="777240" y="879058"/>
                </a:lnTo>
                <a:lnTo>
                  <a:pt x="777240" y="978545"/>
                </a:lnTo>
                <a:lnTo>
                  <a:pt x="777240" y="1074923"/>
                </a:lnTo>
                <a:lnTo>
                  <a:pt x="777240" y="1165860"/>
                </a:lnTo>
                <a:lnTo>
                  <a:pt x="777240" y="1250579"/>
                </a:lnTo>
                <a:lnTo>
                  <a:pt x="777240" y="1326749"/>
                </a:lnTo>
                <a:lnTo>
                  <a:pt x="777240" y="1393591"/>
                </a:lnTo>
                <a:lnTo>
                  <a:pt x="777240" y="1450330"/>
                </a:lnTo>
                <a:lnTo>
                  <a:pt x="777240" y="1495410"/>
                </a:lnTo>
                <a:lnTo>
                  <a:pt x="777240" y="1528054"/>
                </a:lnTo>
                <a:lnTo>
                  <a:pt x="777240" y="1547485"/>
                </a:lnTo>
                <a:lnTo>
                  <a:pt x="777240" y="155448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7" name="S14-mark203"/>
          <p:cNvSpPr/>
          <p:nvPr/>
        </p:nvSpPr>
        <p:spPr>
          <a:xfrm>
            <a:off x="9136380" y="3140964"/>
            <a:ext cx="1554480" cy="155448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204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05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 → 상현달 → 보름달 → 하현달 → 그믐달, 약 한 달마다 되풀이돼요.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보면 달은 서쪽에서 동쪽으로 옮겨 가요.</a:t>
            </a:r>
            <a:endParaRPr lang="ko-KR" sz="3000" dirty="0"/>
          </a:p>
        </p:txBody>
      </p:sp>
      <p:sp>
        <p:nvSpPr>
          <p:cNvPr id="5" name="S15-chip206"/>
          <p:cNvSpPr txBox="1"/>
          <p:nvPr/>
        </p:nvSpPr>
        <p:spPr>
          <a:xfrm>
            <a:off x="548640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곳, 같은 시각에 관찰하기</a:t>
            </a:r>
            <a:endParaRPr lang="ko-KR" sz="2400" dirty="0"/>
          </a:p>
        </p:txBody>
      </p:sp>
      <p:sp>
        <p:nvSpPr>
          <p:cNvPr id="6" name="S15-chip207"/>
          <p:cNvSpPr txBox="1"/>
          <p:nvPr/>
        </p:nvSpPr>
        <p:spPr>
          <a:xfrm>
            <a:off x="6208776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구름이 가려서 바뀐다고 생각하기</a:t>
            </a:r>
            <a:endParaRPr lang="ko-KR" sz="2400" dirty="0"/>
          </a:p>
        </p:txBody>
      </p:sp>
      <p:sp>
        <p:nvSpPr>
          <p:cNvPr id="7" name="S15-text208"/>
          <p:cNvSpPr txBox="1"/>
          <p:nvPr/>
        </p:nvSpPr>
        <p:spPr>
          <a:xfrm>
            <a:off x="548640" y="410108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209"/>
          <p:cNvSpPr txBox="1"/>
          <p:nvPr/>
        </p:nvSpPr>
        <p:spPr>
          <a:xfrm>
            <a:off x="548640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오른쪽 반이 밝은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2400" dirty="0"/>
          </a:p>
        </p:txBody>
      </p:sp>
      <p:sp>
        <p:nvSpPr>
          <p:cNvPr id="9" name="S15-text210"/>
          <p:cNvSpPr txBox="1"/>
          <p:nvPr/>
        </p:nvSpPr>
        <p:spPr>
          <a:xfrm>
            <a:off x="4322064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보름달 다음에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반달은?</a:t>
            </a:r>
            <a:endParaRPr lang="ko-KR" sz="2400" dirty="0"/>
          </a:p>
        </p:txBody>
      </p:sp>
      <p:sp>
        <p:nvSpPr>
          <p:cNvPr id="10" name="S15-text211"/>
          <p:cNvSpPr txBox="1"/>
          <p:nvPr/>
        </p:nvSpPr>
        <p:spPr>
          <a:xfrm>
            <a:off x="8095488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같은 시각, 달은 어느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쪽으로 옮겨 가나요?</a:t>
            </a:r>
            <a:endParaRPr lang="ko-KR" sz="2400" dirty="0"/>
          </a:p>
        </p:txBody>
      </p:sp>
      <p:sp>
        <p:nvSpPr>
          <p:cNvPr id="11" name="S15-text21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태양계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동서남북 찾기</a:t>
            </a:r>
            <a:endParaRPr lang="ko-KR" sz="4000" dirty="0"/>
          </a:p>
        </p:txBody>
      </p:sp>
      <p:sp>
        <p:nvSpPr>
          <p:cNvPr id="3" name="S16-figure213" descr="남쪽을 바라보고 선 사람(가운데)을 위에서 본 그림: 앞은 남, 뒤는 북, 왼쪽은 동, 오른쪽은 서"/>
          <p:cNvSpPr/>
          <p:nvPr/>
        </p:nvSpPr>
        <p:spPr>
          <a:xfrm>
            <a:off x="2930444" y="3472226"/>
            <a:ext cx="599348" cy="599348"/>
          </a:xfrm>
          <a:prstGeom prst="ellipse">
            <a:avLst/>
          </a:pr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6-mark214"/>
          <p:cNvSpPr/>
          <p:nvPr/>
        </p:nvSpPr>
        <p:spPr>
          <a:xfrm flipV="1">
            <a:off x="3230118" y="1888236"/>
            <a:ext cx="0" cy="188366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5" name="S16-mark215"/>
          <p:cNvSpPr/>
          <p:nvPr/>
        </p:nvSpPr>
        <p:spPr>
          <a:xfrm>
            <a:off x="3230118" y="3771900"/>
            <a:ext cx="0" cy="188366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" name="S16-mark216"/>
          <p:cNvSpPr/>
          <p:nvPr/>
        </p:nvSpPr>
        <p:spPr>
          <a:xfrm flipH="1">
            <a:off x="1346454" y="3771900"/>
            <a:ext cx="1883664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" name="S16-mark217"/>
          <p:cNvSpPr/>
          <p:nvPr/>
        </p:nvSpPr>
        <p:spPr>
          <a:xfrm>
            <a:off x="3230118" y="3771900"/>
            <a:ext cx="1883664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8" name="S16-label219"/>
          <p:cNvSpPr txBox="1"/>
          <p:nvPr/>
        </p:nvSpPr>
        <p:spPr>
          <a:xfrm>
            <a:off x="2693670" y="1226820"/>
            <a:ext cx="1072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남(앞)</a:t>
            </a:r>
            <a:endParaRPr lang="ko-KR" sz="2400" dirty="0"/>
          </a:p>
        </p:txBody>
      </p:sp>
      <p:sp>
        <p:nvSpPr>
          <p:cNvPr id="9" name="S16-label221"/>
          <p:cNvSpPr txBox="1"/>
          <p:nvPr/>
        </p:nvSpPr>
        <p:spPr>
          <a:xfrm>
            <a:off x="2693670" y="5935980"/>
            <a:ext cx="1072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북(뒤)</a:t>
            </a:r>
            <a:endParaRPr lang="ko-KR" sz="2400" dirty="0"/>
          </a:p>
        </p:txBody>
      </p:sp>
      <p:sp>
        <p:nvSpPr>
          <p:cNvPr id="10" name="S16-label223"/>
          <p:cNvSpPr txBox="1"/>
          <p:nvPr/>
        </p:nvSpPr>
        <p:spPr>
          <a:xfrm>
            <a:off x="457269" y="35814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400" dirty="0"/>
          </a:p>
        </p:txBody>
      </p:sp>
      <p:sp>
        <p:nvSpPr>
          <p:cNvPr id="11" name="S16-label225"/>
          <p:cNvSpPr txBox="1"/>
          <p:nvPr/>
        </p:nvSpPr>
        <p:spPr>
          <a:xfrm>
            <a:off x="5594535" y="35814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400" dirty="0"/>
          </a:p>
        </p:txBody>
      </p:sp>
      <p:sp>
        <p:nvSpPr>
          <p:cNvPr id="12" name="S16-card226"/>
          <p:cNvSpPr/>
          <p:nvPr/>
        </p:nvSpPr>
        <p:spPr>
          <a:xfrm>
            <a:off x="6277356" y="22402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6-cardtext227"/>
          <p:cNvSpPr txBox="1"/>
          <p:nvPr/>
        </p:nvSpPr>
        <p:spPr>
          <a:xfrm>
            <a:off x="6551676" y="23774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뜨는 쪽이 동쪽</a:t>
            </a:r>
            <a:endParaRPr lang="ko-KR" sz="3000" dirty="0"/>
          </a:p>
        </p:txBody>
      </p:sp>
      <p:sp>
        <p:nvSpPr>
          <p:cNvPr id="14" name="S16-card228"/>
          <p:cNvSpPr/>
          <p:nvPr/>
        </p:nvSpPr>
        <p:spPr>
          <a:xfrm>
            <a:off x="6277356" y="33375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16-cardtext229"/>
          <p:cNvSpPr txBox="1"/>
          <p:nvPr/>
        </p:nvSpPr>
        <p:spPr>
          <a:xfrm>
            <a:off x="6551676" y="34747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지는 쪽이 서쪽</a:t>
            </a:r>
            <a:endParaRPr lang="ko-KR" sz="3000" dirty="0"/>
          </a:p>
        </p:txBody>
      </p:sp>
      <p:sp>
        <p:nvSpPr>
          <p:cNvPr id="16" name="S16-card230"/>
          <p:cNvSpPr/>
          <p:nvPr/>
        </p:nvSpPr>
        <p:spPr>
          <a:xfrm>
            <a:off x="6277356" y="44348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6-cardtext231"/>
          <p:cNvSpPr txBox="1"/>
          <p:nvPr/>
        </p:nvSpPr>
        <p:spPr>
          <a:xfrm>
            <a:off x="6551676" y="45720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남쪽을 보면 왼쪽이 동쪽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달의 모양 변화</dc:title>
  <dc:subject>KR22-G04-SCI-MOON-L01</dc:subject>
  <dc:creator>education-ppt</dc:creator>
  <cp:lastModifiedBy>education-ppt</cp:lastModifiedBy>
  <cp:revision>1</cp:revision>
  <dcterms:created xsi:type="dcterms:W3CDTF">2026-10-26T10:12:20Z</dcterms:created>
  <dcterms:modified xsi:type="dcterms:W3CDTF">2026-10-26T10:12:20Z</dcterms:modified>
</cp:coreProperties>
</file>