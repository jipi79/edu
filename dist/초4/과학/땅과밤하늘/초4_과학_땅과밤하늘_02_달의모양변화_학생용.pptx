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ba52546-30e2-c48f-a472-a7bad92ff262}">
          <p14:sldIdLst>
            <p14:sldId id="256"/>
            <p14:sldId id="257"/>
          </p14:sldIdLst>
        </p14:section>
        <p14:section name="개념" id="{7b0f0e81-7cce-785e-fa8e-5c0cb8b0cf08}">
          <p14:sldIdLst>
            <p14:sldId id="258"/>
            <p14:sldId id="262"/>
            <p14:sldId id="264"/>
          </p14:sldIdLst>
        </p14:section>
        <p14:section name="연습" id="{6bfa6d1b-4a21-2556-c19c-54d145c9c999}">
          <p14:sldIdLst>
            <p14:sldId id="259"/>
            <p14:sldId id="260"/>
            <p14:sldId id="261"/>
            <p14:sldId id="263"/>
            <p14:sldId id="265"/>
            <p14:sldId id="266"/>
          </p14:sldIdLst>
        </p14:section>
        <p14:section name="개념" id="{e5048ea8-b207-add5-104e-dfd294c9e859}">
          <p14:sldIdLst/>
        </p14:section>
        <p14:section name="연습" id="{75476075-a3f5-e64f-4a5f-b76dbf85c8eb}">
          <p14:sldIdLst/>
        </p14:section>
        <p14:section name="개념" id="{61590e29-0616-3282-ed0f-f45556c9f18b}">
          <p14:sldIdLst/>
        </p14:section>
        <p14:section name="연습" id="{1cc4c55d-b2da-2b21-68df-0f5c3862c11b}">
          <p14:sldIdLst/>
        </p14:section>
        <p14:section name="확인" id="{c55c48b1-64d0-fcef-e6fd-98407cbbdd96}">
          <p14:sldIdLst>
            <p14:sldId id="267"/>
            <p14:sldId id="268"/>
          </p14:sldIdLst>
        </p14:section>
        <p14:section name="정리" id="{a5ce1c8e-4629-5e1e-2b53-e942e0eb934d}">
          <p14:sldIdLst>
            <p14:sldId id="269"/>
          </p14:sldIdLst>
        </p14:section>
        <p14:section name="보충" id="{7d0d1894-113a-e654-703b-2ac65d93791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땅과밤하늘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달의 모양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달의 모양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달의 모양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모양 변화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모양과 위치는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어떻게 바뀔까?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보름달과 초승달"/>
          <p:cNvSpPr/>
          <p:nvPr/>
        </p:nvSpPr>
        <p:spPr>
          <a:xfrm>
            <a:off x="7772400" y="1305452"/>
            <a:ext cx="1595336" cy="1595336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926104" y="1305452"/>
            <a:ext cx="1595336" cy="1595336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723772" y="1305452"/>
            <a:ext cx="797668" cy="1595336"/>
          </a:xfrm>
          <a:custGeom>
            <a:avLst/>
            <a:gdLst/>
            <a:ahLst/>
            <a:cxnLst/>
            <a:rect l="l" t="t" r="r" b="b"/>
            <a:pathLst>
              <a:path w="797668" h="1595336">
                <a:moveTo>
                  <a:pt x="0" y="1595336"/>
                </a:moveTo>
                <a:lnTo>
                  <a:pt x="104495" y="1588157"/>
                </a:lnTo>
                <a:lnTo>
                  <a:pt x="206596" y="1568215"/>
                </a:lnTo>
                <a:lnTo>
                  <a:pt x="305507" y="1534713"/>
                </a:lnTo>
                <a:lnTo>
                  <a:pt x="398834" y="1488449"/>
                </a:lnTo>
                <a:lnTo>
                  <a:pt x="485780" y="1430219"/>
                </a:lnTo>
                <a:lnTo>
                  <a:pt x="563951" y="1361619"/>
                </a:lnTo>
                <a:lnTo>
                  <a:pt x="632551" y="1283448"/>
                </a:lnTo>
                <a:lnTo>
                  <a:pt x="690781" y="1196502"/>
                </a:lnTo>
                <a:lnTo>
                  <a:pt x="737045" y="1103175"/>
                </a:lnTo>
                <a:lnTo>
                  <a:pt x="770547" y="1004264"/>
                </a:lnTo>
                <a:lnTo>
                  <a:pt x="790489" y="902163"/>
                </a:lnTo>
                <a:lnTo>
                  <a:pt x="797668" y="797668"/>
                </a:lnTo>
                <a:lnTo>
                  <a:pt x="790489" y="693174"/>
                </a:lnTo>
                <a:lnTo>
                  <a:pt x="770547" y="591072"/>
                </a:lnTo>
                <a:lnTo>
                  <a:pt x="737045" y="492161"/>
                </a:lnTo>
                <a:lnTo>
                  <a:pt x="690781" y="398834"/>
                </a:lnTo>
                <a:lnTo>
                  <a:pt x="632551" y="311888"/>
                </a:lnTo>
                <a:lnTo>
                  <a:pt x="563951" y="233717"/>
                </a:lnTo>
                <a:lnTo>
                  <a:pt x="485780" y="165117"/>
                </a:lnTo>
                <a:lnTo>
                  <a:pt x="398834" y="106888"/>
                </a:lnTo>
                <a:lnTo>
                  <a:pt x="305507" y="60623"/>
                </a:lnTo>
                <a:lnTo>
                  <a:pt x="206596" y="27121"/>
                </a:lnTo>
                <a:lnTo>
                  <a:pt x="104495" y="7179"/>
                </a:lnTo>
                <a:lnTo>
                  <a:pt x="0" y="0"/>
                </a:lnTo>
                <a:lnTo>
                  <a:pt x="0" y="0"/>
                </a:lnTo>
                <a:lnTo>
                  <a:pt x="67802" y="7179"/>
                </a:lnTo>
                <a:lnTo>
                  <a:pt x="134008" y="27121"/>
                </a:lnTo>
                <a:lnTo>
                  <a:pt x="198619" y="60623"/>
                </a:lnTo>
                <a:lnTo>
                  <a:pt x="259242" y="106888"/>
                </a:lnTo>
                <a:lnTo>
                  <a:pt x="315877" y="165117"/>
                </a:lnTo>
                <a:lnTo>
                  <a:pt x="366927" y="233717"/>
                </a:lnTo>
                <a:lnTo>
                  <a:pt x="411597" y="311888"/>
                </a:lnTo>
                <a:lnTo>
                  <a:pt x="449087" y="398834"/>
                </a:lnTo>
                <a:lnTo>
                  <a:pt x="479399" y="492161"/>
                </a:lnTo>
                <a:lnTo>
                  <a:pt x="500936" y="591072"/>
                </a:lnTo>
                <a:lnTo>
                  <a:pt x="513698" y="693174"/>
                </a:lnTo>
                <a:lnTo>
                  <a:pt x="518484" y="797668"/>
                </a:lnTo>
                <a:lnTo>
                  <a:pt x="513698" y="902163"/>
                </a:lnTo>
                <a:lnTo>
                  <a:pt x="500936" y="1004264"/>
                </a:lnTo>
                <a:lnTo>
                  <a:pt x="479399" y="1103175"/>
                </a:lnTo>
                <a:lnTo>
                  <a:pt x="449087" y="1196502"/>
                </a:lnTo>
                <a:lnTo>
                  <a:pt x="411597" y="1283448"/>
                </a:lnTo>
                <a:lnTo>
                  <a:pt x="366927" y="1361619"/>
                </a:lnTo>
                <a:lnTo>
                  <a:pt x="315877" y="1430219"/>
                </a:lnTo>
                <a:lnTo>
                  <a:pt x="259242" y="1488449"/>
                </a:lnTo>
                <a:lnTo>
                  <a:pt x="198619" y="1534713"/>
                </a:lnTo>
                <a:lnTo>
                  <a:pt x="134008" y="1568215"/>
                </a:lnTo>
                <a:lnTo>
                  <a:pt x="67802" y="1588157"/>
                </a:lnTo>
                <a:lnTo>
                  <a:pt x="0" y="1595336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8" name="S01-mark5"/>
          <p:cNvSpPr/>
          <p:nvPr/>
        </p:nvSpPr>
        <p:spPr>
          <a:xfrm>
            <a:off x="7772400" y="1305452"/>
            <a:ext cx="1595336" cy="1595336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926104" y="1305452"/>
            <a:ext cx="1595336" cy="1595336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01-card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1" name="S01-cardtext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달의 여러 가지 모양과 바뀌는 차례를 알아요.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같은 시각에 달의 위치가 어떻게 바뀌는지 기록해요.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떠올려요</a:t>
            </a:r>
            <a:endParaRPr lang="ko-KR" sz="4000" dirty="0"/>
          </a:p>
        </p:txBody>
      </p:sp>
      <p:sp>
        <p:nvSpPr>
          <p:cNvPr id="3" name="S02-chip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1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 땅을 깎는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3000" dirty="0"/>
          </a:p>
        </p:txBody>
      </p:sp>
      <p:sp>
        <p:nvSpPr>
          <p:cNvPr id="5" name="S02-chip1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1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지는 쪽은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동쪽과 서쪽 중 어디일까요?</a:t>
            </a:r>
            <a:endParaRPr lang="ko-KR" sz="3000" dirty="0"/>
          </a:p>
        </p:txBody>
      </p:sp>
      <p:sp>
        <p:nvSpPr>
          <p:cNvPr id="7" name="S02-chip1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남쪽을 보고 서면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어느 쪽일까요?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여러 가지 모양</a:t>
            </a:r>
            <a:endParaRPr lang="ko-KR" sz="4000" dirty="0"/>
          </a:p>
        </p:txBody>
      </p:sp>
      <p:sp>
        <p:nvSpPr>
          <p:cNvPr id="3" name="S03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밝게 보이는 부분의 모양에 따라 이름이 달라요.</a:t>
            </a:r>
            <a:endParaRPr lang="ko-KR" sz="3000" dirty="0"/>
          </a:p>
        </p:txBody>
      </p:sp>
      <p:sp>
        <p:nvSpPr>
          <p:cNvPr id="4" name="S03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쪽이 오른쪽인지 왼쪽인지 잘 봐요.</a:t>
            </a:r>
            <a:endParaRPr lang="ko-KR" sz="3000" dirty="0"/>
          </a:p>
        </p:txBody>
      </p:sp>
      <p:sp>
        <p:nvSpPr>
          <p:cNvPr id="6" name="S03-figure18" descr="보름달: 둥글게 모두 밝은 달"/>
          <p:cNvSpPr/>
          <p:nvPr/>
        </p:nvSpPr>
        <p:spPr>
          <a:xfrm>
            <a:off x="843991" y="2638044"/>
            <a:ext cx="1371600" cy="1371600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S03-mark19"/>
          <p:cNvSpPr/>
          <p:nvPr/>
        </p:nvSpPr>
        <p:spPr>
          <a:xfrm>
            <a:off x="843991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03-label20"/>
          <p:cNvSpPr txBox="1"/>
          <p:nvPr/>
        </p:nvSpPr>
        <p:spPr>
          <a:xfrm>
            <a:off x="54864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</a:t>
            </a:r>
            <a:endParaRPr lang="ko-KR" sz="2400" dirty="0"/>
          </a:p>
        </p:txBody>
      </p:sp>
      <p:sp>
        <p:nvSpPr>
          <p:cNvPr id="9" name="S03-figure21" descr="그믐달: 왼쪽이 가늘게 밝은 눈썹 모양"/>
          <p:cNvSpPr/>
          <p:nvPr/>
        </p:nvSpPr>
        <p:spPr>
          <a:xfrm>
            <a:off x="3126334" y="2638044"/>
            <a:ext cx="1371600" cy="137160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S03-mark22"/>
          <p:cNvSpPr/>
          <p:nvPr/>
        </p:nvSpPr>
        <p:spPr>
          <a:xfrm>
            <a:off x="3126334" y="2638044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685800" y="1371600"/>
                </a:moveTo>
                <a:lnTo>
                  <a:pt x="595960" y="1365428"/>
                </a:lnTo>
                <a:lnTo>
                  <a:pt x="508178" y="1348283"/>
                </a:lnTo>
                <a:lnTo>
                  <a:pt x="423139" y="1319479"/>
                </a:lnTo>
                <a:lnTo>
                  <a:pt x="342900" y="1279703"/>
                </a:lnTo>
                <a:lnTo>
                  <a:pt x="268148" y="1229639"/>
                </a:lnTo>
                <a:lnTo>
                  <a:pt x="200939" y="1170661"/>
                </a:lnTo>
                <a:lnTo>
                  <a:pt x="141961" y="1103452"/>
                </a:lnTo>
                <a:lnTo>
                  <a:pt x="91897" y="1028700"/>
                </a:lnTo>
                <a:lnTo>
                  <a:pt x="52121" y="948461"/>
                </a:lnTo>
                <a:lnTo>
                  <a:pt x="23317" y="863422"/>
                </a:lnTo>
                <a:lnTo>
                  <a:pt x="6172" y="775640"/>
                </a:lnTo>
                <a:lnTo>
                  <a:pt x="0" y="685800"/>
                </a:lnTo>
                <a:lnTo>
                  <a:pt x="6172" y="595960"/>
                </a:lnTo>
                <a:lnTo>
                  <a:pt x="23317" y="508178"/>
                </a:lnTo>
                <a:lnTo>
                  <a:pt x="52121" y="423139"/>
                </a:lnTo>
                <a:lnTo>
                  <a:pt x="91897" y="342900"/>
                </a:lnTo>
                <a:lnTo>
                  <a:pt x="141961" y="268148"/>
                </a:lnTo>
                <a:lnTo>
                  <a:pt x="200939" y="200939"/>
                </a:lnTo>
                <a:lnTo>
                  <a:pt x="268148" y="141961"/>
                </a:lnTo>
                <a:lnTo>
                  <a:pt x="342900" y="91897"/>
                </a:lnTo>
                <a:lnTo>
                  <a:pt x="423139" y="52121"/>
                </a:lnTo>
                <a:lnTo>
                  <a:pt x="508178" y="23317"/>
                </a:lnTo>
                <a:lnTo>
                  <a:pt x="595960" y="6172"/>
                </a:lnTo>
                <a:lnTo>
                  <a:pt x="685800" y="0"/>
                </a:lnTo>
                <a:lnTo>
                  <a:pt x="685800" y="0"/>
                </a:lnTo>
                <a:lnTo>
                  <a:pt x="627507" y="6172"/>
                </a:lnTo>
                <a:lnTo>
                  <a:pt x="570586" y="23317"/>
                </a:lnTo>
                <a:lnTo>
                  <a:pt x="515036" y="52121"/>
                </a:lnTo>
                <a:lnTo>
                  <a:pt x="462915" y="91897"/>
                </a:lnTo>
                <a:lnTo>
                  <a:pt x="414223" y="141961"/>
                </a:lnTo>
                <a:lnTo>
                  <a:pt x="370332" y="200939"/>
                </a:lnTo>
                <a:lnTo>
                  <a:pt x="331927" y="268148"/>
                </a:lnTo>
                <a:lnTo>
                  <a:pt x="299695" y="342900"/>
                </a:lnTo>
                <a:lnTo>
                  <a:pt x="273634" y="423139"/>
                </a:lnTo>
                <a:lnTo>
                  <a:pt x="255118" y="508178"/>
                </a:lnTo>
                <a:lnTo>
                  <a:pt x="244145" y="595960"/>
                </a:lnTo>
                <a:lnTo>
                  <a:pt x="240030" y="685800"/>
                </a:lnTo>
                <a:lnTo>
                  <a:pt x="244145" y="775640"/>
                </a:lnTo>
                <a:lnTo>
                  <a:pt x="255118" y="863422"/>
                </a:lnTo>
                <a:lnTo>
                  <a:pt x="273634" y="948461"/>
                </a:lnTo>
                <a:lnTo>
                  <a:pt x="299695" y="1028700"/>
                </a:lnTo>
                <a:lnTo>
                  <a:pt x="331927" y="1103452"/>
                </a:lnTo>
                <a:lnTo>
                  <a:pt x="370332" y="1170661"/>
                </a:lnTo>
                <a:lnTo>
                  <a:pt x="414223" y="1229639"/>
                </a:lnTo>
                <a:lnTo>
                  <a:pt x="462915" y="1279703"/>
                </a:lnTo>
                <a:lnTo>
                  <a:pt x="515036" y="1319479"/>
                </a:lnTo>
                <a:lnTo>
                  <a:pt x="570586" y="1348283"/>
                </a:lnTo>
                <a:lnTo>
                  <a:pt x="627507" y="1365428"/>
                </a:lnTo>
                <a:lnTo>
                  <a:pt x="685800" y="13716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3-mark23"/>
          <p:cNvSpPr/>
          <p:nvPr/>
        </p:nvSpPr>
        <p:spPr>
          <a:xfrm>
            <a:off x="3126334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03-label24"/>
          <p:cNvSpPr txBox="1"/>
          <p:nvPr/>
        </p:nvSpPr>
        <p:spPr>
          <a:xfrm>
            <a:off x="2830982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그믐달</a:t>
            </a:r>
            <a:endParaRPr lang="ko-KR" sz="2400" dirty="0"/>
          </a:p>
        </p:txBody>
      </p:sp>
      <p:sp>
        <p:nvSpPr>
          <p:cNvPr id="13" name="S03-figure25" descr="상현달: 오른쪽 반이 밝은 반달"/>
          <p:cNvSpPr/>
          <p:nvPr/>
        </p:nvSpPr>
        <p:spPr>
          <a:xfrm>
            <a:off x="5408676" y="2638044"/>
            <a:ext cx="1371600" cy="137160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4" name="S03-mark26"/>
          <p:cNvSpPr/>
          <p:nvPr/>
        </p:nvSpPr>
        <p:spPr>
          <a:xfrm>
            <a:off x="6094476" y="2638044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0" y="1371600"/>
                </a:moveTo>
                <a:lnTo>
                  <a:pt x="89840" y="1365428"/>
                </a:lnTo>
                <a:lnTo>
                  <a:pt x="177622" y="1348283"/>
                </a:lnTo>
                <a:lnTo>
                  <a:pt x="262661" y="1319479"/>
                </a:lnTo>
                <a:lnTo>
                  <a:pt x="342900" y="1279703"/>
                </a:lnTo>
                <a:lnTo>
                  <a:pt x="417652" y="1229639"/>
                </a:lnTo>
                <a:lnTo>
                  <a:pt x="484861" y="1170661"/>
                </a:lnTo>
                <a:lnTo>
                  <a:pt x="543839" y="1103452"/>
                </a:lnTo>
                <a:lnTo>
                  <a:pt x="593903" y="1028700"/>
                </a:lnTo>
                <a:lnTo>
                  <a:pt x="633679" y="948461"/>
                </a:lnTo>
                <a:lnTo>
                  <a:pt x="662483" y="863422"/>
                </a:lnTo>
                <a:lnTo>
                  <a:pt x="679628" y="775640"/>
                </a:lnTo>
                <a:lnTo>
                  <a:pt x="685800" y="685800"/>
                </a:lnTo>
                <a:lnTo>
                  <a:pt x="679628" y="595960"/>
                </a:lnTo>
                <a:lnTo>
                  <a:pt x="662483" y="508178"/>
                </a:lnTo>
                <a:lnTo>
                  <a:pt x="633679" y="423139"/>
                </a:lnTo>
                <a:lnTo>
                  <a:pt x="593903" y="342900"/>
                </a:lnTo>
                <a:lnTo>
                  <a:pt x="543839" y="268148"/>
                </a:lnTo>
                <a:lnTo>
                  <a:pt x="484861" y="200939"/>
                </a:lnTo>
                <a:lnTo>
                  <a:pt x="417652" y="141961"/>
                </a:lnTo>
                <a:lnTo>
                  <a:pt x="342900" y="91897"/>
                </a:lnTo>
                <a:lnTo>
                  <a:pt x="262661" y="52121"/>
                </a:lnTo>
                <a:lnTo>
                  <a:pt x="177622" y="23317"/>
                </a:lnTo>
                <a:lnTo>
                  <a:pt x="89840" y="6172"/>
                </a:lnTo>
                <a:lnTo>
                  <a:pt x="0" y="0"/>
                </a:lnTo>
                <a:lnTo>
                  <a:pt x="0" y="0"/>
                </a:lnTo>
                <a:lnTo>
                  <a:pt x="0" y="6172"/>
                </a:lnTo>
                <a:lnTo>
                  <a:pt x="0" y="23317"/>
                </a:lnTo>
                <a:lnTo>
                  <a:pt x="0" y="52121"/>
                </a:lnTo>
                <a:lnTo>
                  <a:pt x="0" y="91897"/>
                </a:lnTo>
                <a:lnTo>
                  <a:pt x="0" y="141961"/>
                </a:lnTo>
                <a:lnTo>
                  <a:pt x="0" y="200939"/>
                </a:lnTo>
                <a:lnTo>
                  <a:pt x="0" y="268148"/>
                </a:lnTo>
                <a:lnTo>
                  <a:pt x="0" y="342900"/>
                </a:lnTo>
                <a:lnTo>
                  <a:pt x="0" y="423139"/>
                </a:lnTo>
                <a:lnTo>
                  <a:pt x="0" y="508178"/>
                </a:lnTo>
                <a:lnTo>
                  <a:pt x="0" y="595960"/>
                </a:lnTo>
                <a:lnTo>
                  <a:pt x="0" y="685800"/>
                </a:lnTo>
                <a:lnTo>
                  <a:pt x="0" y="775640"/>
                </a:lnTo>
                <a:lnTo>
                  <a:pt x="0" y="863422"/>
                </a:lnTo>
                <a:lnTo>
                  <a:pt x="0" y="948461"/>
                </a:lnTo>
                <a:lnTo>
                  <a:pt x="0" y="1028700"/>
                </a:lnTo>
                <a:lnTo>
                  <a:pt x="0" y="1103452"/>
                </a:lnTo>
                <a:lnTo>
                  <a:pt x="0" y="1170661"/>
                </a:lnTo>
                <a:lnTo>
                  <a:pt x="0" y="1229639"/>
                </a:lnTo>
                <a:lnTo>
                  <a:pt x="0" y="1279703"/>
                </a:lnTo>
                <a:lnTo>
                  <a:pt x="0" y="1319479"/>
                </a:lnTo>
                <a:lnTo>
                  <a:pt x="0" y="1348283"/>
                </a:lnTo>
                <a:lnTo>
                  <a:pt x="0" y="1365428"/>
                </a:lnTo>
                <a:lnTo>
                  <a:pt x="0" y="13716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03-mark27"/>
          <p:cNvSpPr/>
          <p:nvPr/>
        </p:nvSpPr>
        <p:spPr>
          <a:xfrm>
            <a:off x="5408676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03-label28"/>
          <p:cNvSpPr txBox="1"/>
          <p:nvPr/>
        </p:nvSpPr>
        <p:spPr>
          <a:xfrm>
            <a:off x="5113325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상현달</a:t>
            </a:r>
            <a:endParaRPr lang="ko-KR" sz="2400" dirty="0"/>
          </a:p>
        </p:txBody>
      </p:sp>
      <p:sp>
        <p:nvSpPr>
          <p:cNvPr id="17" name="S03-figure29" descr="초승달: 오른쪽이 가늘게 밝은 눈썹 모양"/>
          <p:cNvSpPr/>
          <p:nvPr/>
        </p:nvSpPr>
        <p:spPr>
          <a:xfrm>
            <a:off x="7691018" y="2638044"/>
            <a:ext cx="1371600" cy="137160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8" name="S03-mark30"/>
          <p:cNvSpPr/>
          <p:nvPr/>
        </p:nvSpPr>
        <p:spPr>
          <a:xfrm>
            <a:off x="8376818" y="2638044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0" y="1371600"/>
                </a:moveTo>
                <a:lnTo>
                  <a:pt x="89840" y="1365428"/>
                </a:lnTo>
                <a:lnTo>
                  <a:pt x="177622" y="1348283"/>
                </a:lnTo>
                <a:lnTo>
                  <a:pt x="262661" y="1319479"/>
                </a:lnTo>
                <a:lnTo>
                  <a:pt x="342900" y="1279703"/>
                </a:lnTo>
                <a:lnTo>
                  <a:pt x="417652" y="1229639"/>
                </a:lnTo>
                <a:lnTo>
                  <a:pt x="484861" y="1170661"/>
                </a:lnTo>
                <a:lnTo>
                  <a:pt x="543839" y="1103452"/>
                </a:lnTo>
                <a:lnTo>
                  <a:pt x="593903" y="1028700"/>
                </a:lnTo>
                <a:lnTo>
                  <a:pt x="633679" y="948461"/>
                </a:lnTo>
                <a:lnTo>
                  <a:pt x="662483" y="863422"/>
                </a:lnTo>
                <a:lnTo>
                  <a:pt x="679628" y="775640"/>
                </a:lnTo>
                <a:lnTo>
                  <a:pt x="685800" y="685800"/>
                </a:lnTo>
                <a:lnTo>
                  <a:pt x="679628" y="595960"/>
                </a:lnTo>
                <a:lnTo>
                  <a:pt x="662483" y="508178"/>
                </a:lnTo>
                <a:lnTo>
                  <a:pt x="633679" y="423139"/>
                </a:lnTo>
                <a:lnTo>
                  <a:pt x="593903" y="342900"/>
                </a:lnTo>
                <a:lnTo>
                  <a:pt x="543839" y="268148"/>
                </a:lnTo>
                <a:lnTo>
                  <a:pt x="484861" y="200939"/>
                </a:lnTo>
                <a:lnTo>
                  <a:pt x="417652" y="141961"/>
                </a:lnTo>
                <a:lnTo>
                  <a:pt x="342900" y="91897"/>
                </a:lnTo>
                <a:lnTo>
                  <a:pt x="262661" y="52121"/>
                </a:lnTo>
                <a:lnTo>
                  <a:pt x="177622" y="23317"/>
                </a:lnTo>
                <a:lnTo>
                  <a:pt x="89840" y="6172"/>
                </a:lnTo>
                <a:lnTo>
                  <a:pt x="0" y="0"/>
                </a:lnTo>
                <a:lnTo>
                  <a:pt x="0" y="0"/>
                </a:lnTo>
                <a:lnTo>
                  <a:pt x="58293" y="6172"/>
                </a:lnTo>
                <a:lnTo>
                  <a:pt x="115214" y="23317"/>
                </a:lnTo>
                <a:lnTo>
                  <a:pt x="170764" y="52121"/>
                </a:lnTo>
                <a:lnTo>
                  <a:pt x="222885" y="91897"/>
                </a:lnTo>
                <a:lnTo>
                  <a:pt x="271577" y="141961"/>
                </a:lnTo>
                <a:lnTo>
                  <a:pt x="315468" y="200939"/>
                </a:lnTo>
                <a:lnTo>
                  <a:pt x="353873" y="268148"/>
                </a:lnTo>
                <a:lnTo>
                  <a:pt x="386105" y="342900"/>
                </a:lnTo>
                <a:lnTo>
                  <a:pt x="412166" y="423139"/>
                </a:lnTo>
                <a:lnTo>
                  <a:pt x="430682" y="508178"/>
                </a:lnTo>
                <a:lnTo>
                  <a:pt x="441655" y="595960"/>
                </a:lnTo>
                <a:lnTo>
                  <a:pt x="445770" y="685800"/>
                </a:lnTo>
                <a:lnTo>
                  <a:pt x="441655" y="775640"/>
                </a:lnTo>
                <a:lnTo>
                  <a:pt x="430682" y="863422"/>
                </a:lnTo>
                <a:lnTo>
                  <a:pt x="412166" y="948461"/>
                </a:lnTo>
                <a:lnTo>
                  <a:pt x="386105" y="1028700"/>
                </a:lnTo>
                <a:lnTo>
                  <a:pt x="353873" y="1103452"/>
                </a:lnTo>
                <a:lnTo>
                  <a:pt x="315468" y="1170661"/>
                </a:lnTo>
                <a:lnTo>
                  <a:pt x="271577" y="1229639"/>
                </a:lnTo>
                <a:lnTo>
                  <a:pt x="222885" y="1279703"/>
                </a:lnTo>
                <a:lnTo>
                  <a:pt x="170764" y="1319479"/>
                </a:lnTo>
                <a:lnTo>
                  <a:pt x="115214" y="1348283"/>
                </a:lnTo>
                <a:lnTo>
                  <a:pt x="58293" y="1365428"/>
                </a:lnTo>
                <a:lnTo>
                  <a:pt x="0" y="13716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9" name="S03-mark31"/>
          <p:cNvSpPr/>
          <p:nvPr/>
        </p:nvSpPr>
        <p:spPr>
          <a:xfrm>
            <a:off x="7691018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03-label32"/>
          <p:cNvSpPr txBox="1"/>
          <p:nvPr/>
        </p:nvSpPr>
        <p:spPr>
          <a:xfrm>
            <a:off x="7395667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초승달</a:t>
            </a:r>
            <a:endParaRPr lang="ko-KR" sz="2400" dirty="0"/>
          </a:p>
        </p:txBody>
      </p:sp>
      <p:sp>
        <p:nvSpPr>
          <p:cNvPr id="21" name="S03-figure33" descr="하현달: 왼쪽 반이 밝은 반달"/>
          <p:cNvSpPr/>
          <p:nvPr/>
        </p:nvSpPr>
        <p:spPr>
          <a:xfrm>
            <a:off x="9973361" y="2638044"/>
            <a:ext cx="1371600" cy="137160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2" name="S03-mark34"/>
          <p:cNvSpPr/>
          <p:nvPr/>
        </p:nvSpPr>
        <p:spPr>
          <a:xfrm>
            <a:off x="9973361" y="2638044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685800" y="1371600"/>
                </a:moveTo>
                <a:lnTo>
                  <a:pt x="595960" y="1365428"/>
                </a:lnTo>
                <a:lnTo>
                  <a:pt x="508178" y="1348283"/>
                </a:lnTo>
                <a:lnTo>
                  <a:pt x="423139" y="1319479"/>
                </a:lnTo>
                <a:lnTo>
                  <a:pt x="342900" y="1279703"/>
                </a:lnTo>
                <a:lnTo>
                  <a:pt x="268148" y="1229639"/>
                </a:lnTo>
                <a:lnTo>
                  <a:pt x="200939" y="1170661"/>
                </a:lnTo>
                <a:lnTo>
                  <a:pt x="141961" y="1103452"/>
                </a:lnTo>
                <a:lnTo>
                  <a:pt x="91897" y="1028700"/>
                </a:lnTo>
                <a:lnTo>
                  <a:pt x="52121" y="948461"/>
                </a:lnTo>
                <a:lnTo>
                  <a:pt x="23317" y="863422"/>
                </a:lnTo>
                <a:lnTo>
                  <a:pt x="6172" y="775640"/>
                </a:lnTo>
                <a:lnTo>
                  <a:pt x="0" y="685800"/>
                </a:lnTo>
                <a:lnTo>
                  <a:pt x="6172" y="595960"/>
                </a:lnTo>
                <a:lnTo>
                  <a:pt x="23317" y="508178"/>
                </a:lnTo>
                <a:lnTo>
                  <a:pt x="52121" y="423139"/>
                </a:lnTo>
                <a:lnTo>
                  <a:pt x="91897" y="342900"/>
                </a:lnTo>
                <a:lnTo>
                  <a:pt x="141961" y="268148"/>
                </a:lnTo>
                <a:lnTo>
                  <a:pt x="200939" y="200939"/>
                </a:lnTo>
                <a:lnTo>
                  <a:pt x="268148" y="141961"/>
                </a:lnTo>
                <a:lnTo>
                  <a:pt x="342900" y="91897"/>
                </a:lnTo>
                <a:lnTo>
                  <a:pt x="423139" y="52121"/>
                </a:lnTo>
                <a:lnTo>
                  <a:pt x="508178" y="23317"/>
                </a:lnTo>
                <a:lnTo>
                  <a:pt x="595960" y="6172"/>
                </a:lnTo>
                <a:lnTo>
                  <a:pt x="685800" y="0"/>
                </a:lnTo>
                <a:lnTo>
                  <a:pt x="685800" y="0"/>
                </a:lnTo>
                <a:lnTo>
                  <a:pt x="685800" y="6172"/>
                </a:lnTo>
                <a:lnTo>
                  <a:pt x="685800" y="23317"/>
                </a:lnTo>
                <a:lnTo>
                  <a:pt x="685800" y="52121"/>
                </a:lnTo>
                <a:lnTo>
                  <a:pt x="685800" y="91897"/>
                </a:lnTo>
                <a:lnTo>
                  <a:pt x="685800" y="141961"/>
                </a:lnTo>
                <a:lnTo>
                  <a:pt x="685800" y="200939"/>
                </a:lnTo>
                <a:lnTo>
                  <a:pt x="685800" y="268148"/>
                </a:lnTo>
                <a:lnTo>
                  <a:pt x="685800" y="342900"/>
                </a:lnTo>
                <a:lnTo>
                  <a:pt x="685800" y="423139"/>
                </a:lnTo>
                <a:lnTo>
                  <a:pt x="685800" y="508178"/>
                </a:lnTo>
                <a:lnTo>
                  <a:pt x="685800" y="595960"/>
                </a:lnTo>
                <a:lnTo>
                  <a:pt x="685800" y="685800"/>
                </a:lnTo>
                <a:lnTo>
                  <a:pt x="685800" y="775640"/>
                </a:lnTo>
                <a:lnTo>
                  <a:pt x="685800" y="863422"/>
                </a:lnTo>
                <a:lnTo>
                  <a:pt x="685800" y="948461"/>
                </a:lnTo>
                <a:lnTo>
                  <a:pt x="685800" y="1028700"/>
                </a:lnTo>
                <a:lnTo>
                  <a:pt x="685800" y="1103452"/>
                </a:lnTo>
                <a:lnTo>
                  <a:pt x="685800" y="1170661"/>
                </a:lnTo>
                <a:lnTo>
                  <a:pt x="685800" y="1229639"/>
                </a:lnTo>
                <a:lnTo>
                  <a:pt x="685800" y="1279703"/>
                </a:lnTo>
                <a:lnTo>
                  <a:pt x="685800" y="1319479"/>
                </a:lnTo>
                <a:lnTo>
                  <a:pt x="685800" y="1348283"/>
                </a:lnTo>
                <a:lnTo>
                  <a:pt x="685800" y="1365428"/>
                </a:lnTo>
                <a:lnTo>
                  <a:pt x="685800" y="137160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3" name="S03-mark35"/>
          <p:cNvSpPr/>
          <p:nvPr/>
        </p:nvSpPr>
        <p:spPr>
          <a:xfrm>
            <a:off x="9973361" y="2638044"/>
            <a:ext cx="1371600" cy="137160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03-label36"/>
          <p:cNvSpPr txBox="1"/>
          <p:nvPr/>
        </p:nvSpPr>
        <p:spPr>
          <a:xfrm>
            <a:off x="9678010" y="4709160"/>
            <a:ext cx="19623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하현달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날 동안 저녁 7시에 같은 곳에서 달을 보면?</a:t>
            </a:r>
            <a:endParaRPr lang="ko-KR" sz="3000" dirty="0"/>
          </a:p>
        </p:txBody>
      </p:sp>
      <p:sp>
        <p:nvSpPr>
          <p:cNvPr id="4" name="S04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5" name="S04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02992"/>
          <a:ext cx="10515600" cy="914400"/>
        </p:xfrm>
        <a:graphic>
          <a:graphicData uri="http://schemas.openxmlformats.org/drawingml/2006/table">
            <a:tbl>
              <a:tblPr/>
              <a:tblGrid>
                <a:gridCol w="6519672"/>
                <a:gridCol w="399592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초승달은 며칠 뒤 어떤 모양이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시각, 달의 위치는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보름달 다음에는 어떤 모양일까?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기록을 읽어요</a:t>
            </a:r>
            <a:endParaRPr lang="ko-KR" sz="4000" dirty="0"/>
          </a:p>
        </p:txBody>
      </p:sp>
      <p:sp>
        <p:nvSpPr>
          <p:cNvPr id="3" name="S05-figure41" descr="예시 관찰 기록: 저녁 7시에 같은 곳에서 남쪽 하늘을 보며 그린 그림. 땅 위에 건물과 나무가 있고 왼쪽부터 동·남·서. 음력 3일 초승달은 서쪽 낮은 하늘, 음력 7일 상현달은 남쪽 높은 하늘, 음력 15일 보름달은 동쪽 낮은 하늘"/>
          <p:cNvSpPr/>
          <p:nvPr/>
        </p:nvSpPr>
        <p:spPr>
          <a:xfrm>
            <a:off x="10653286" y="2663278"/>
            <a:ext cx="464378" cy="464378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" name="S05-mark42"/>
          <p:cNvSpPr/>
          <p:nvPr/>
        </p:nvSpPr>
        <p:spPr>
          <a:xfrm>
            <a:off x="8994793" y="2066220"/>
            <a:ext cx="464378" cy="464378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5" name="S05-mark43"/>
          <p:cNvSpPr/>
          <p:nvPr/>
        </p:nvSpPr>
        <p:spPr>
          <a:xfrm>
            <a:off x="7336300" y="2729617"/>
            <a:ext cx="464378" cy="464378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S05-mark44"/>
          <p:cNvSpPr/>
          <p:nvPr/>
        </p:nvSpPr>
        <p:spPr>
          <a:xfrm>
            <a:off x="6905092" y="3393015"/>
            <a:ext cx="4643780" cy="331699"/>
          </a:xfrm>
          <a:custGeom>
            <a:avLst/>
            <a:gdLst/>
            <a:ahLst/>
            <a:cxnLst/>
            <a:rect l="l" t="t" r="r" b="b"/>
            <a:pathLst>
              <a:path w="4643780" h="331699">
                <a:moveTo>
                  <a:pt x="0" y="331699"/>
                </a:moveTo>
                <a:lnTo>
                  <a:pt x="4643780" y="331699"/>
                </a:lnTo>
                <a:lnTo>
                  <a:pt x="4643780" y="0"/>
                </a:lnTo>
                <a:lnTo>
                  <a:pt x="0" y="0"/>
                </a:lnTo>
                <a:close/>
              </a:path>
            </a:pathLst>
          </a:custGeom>
          <a:solidFill>
            <a:srgbClr val="E3EBD9"/>
          </a:solidFill>
          <a:ln/>
        </p:spPr>
      </p:sp>
      <p:sp>
        <p:nvSpPr>
          <p:cNvPr id="7" name="S05-mark45"/>
          <p:cNvSpPr/>
          <p:nvPr/>
        </p:nvSpPr>
        <p:spPr>
          <a:xfrm>
            <a:off x="9890379" y="2961806"/>
            <a:ext cx="331699" cy="431208"/>
          </a:xfrm>
          <a:custGeom>
            <a:avLst/>
            <a:gdLst/>
            <a:ahLst/>
            <a:cxnLst/>
            <a:rect l="l" t="t" r="r" b="b"/>
            <a:pathLst>
              <a:path w="331699" h="431208">
                <a:moveTo>
                  <a:pt x="0" y="431208"/>
                </a:moveTo>
                <a:lnTo>
                  <a:pt x="331699" y="431208"/>
                </a:lnTo>
                <a:lnTo>
                  <a:pt x="331699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8" name="S05-mark46"/>
          <p:cNvSpPr/>
          <p:nvPr/>
        </p:nvSpPr>
        <p:spPr>
          <a:xfrm>
            <a:off x="8364565" y="2829127"/>
            <a:ext cx="398038" cy="414623"/>
          </a:xfrm>
          <a:custGeom>
            <a:avLst/>
            <a:gdLst/>
            <a:ahLst/>
            <a:cxnLst/>
            <a:rect l="l" t="t" r="r" b="b"/>
            <a:pathLst>
              <a:path w="398038" h="414623">
                <a:moveTo>
                  <a:pt x="0" y="414623"/>
                </a:moveTo>
                <a:lnTo>
                  <a:pt x="199019" y="0"/>
                </a:lnTo>
                <a:lnTo>
                  <a:pt x="398038" y="414623"/>
                </a:lnTo>
                <a:close/>
              </a:path>
            </a:pathLst>
          </a:custGeom>
          <a:solidFill>
            <a:srgbClr val="A7C4A0"/>
          </a:solidFill>
          <a:ln w="15875">
            <a:solidFill>
              <a:srgbClr val="6B8F63"/>
            </a:solidFill>
            <a:prstDash val="solid"/>
          </a:ln>
        </p:spPr>
      </p:sp>
      <p:sp>
        <p:nvSpPr>
          <p:cNvPr id="9" name="S05-mark47"/>
          <p:cNvSpPr/>
          <p:nvPr/>
        </p:nvSpPr>
        <p:spPr>
          <a:xfrm>
            <a:off x="10885475" y="2663278"/>
            <a:ext cx="232189" cy="464378"/>
          </a:xfrm>
          <a:custGeom>
            <a:avLst/>
            <a:gdLst/>
            <a:ahLst/>
            <a:cxnLst/>
            <a:rect l="l" t="t" r="r" b="b"/>
            <a:pathLst>
              <a:path w="232189" h="464378">
                <a:moveTo>
                  <a:pt x="0" y="464378"/>
                </a:moveTo>
                <a:lnTo>
                  <a:pt x="30185" y="462388"/>
                </a:lnTo>
                <a:lnTo>
                  <a:pt x="60037" y="456417"/>
                </a:lnTo>
                <a:lnTo>
                  <a:pt x="88895" y="446798"/>
                </a:lnTo>
                <a:lnTo>
                  <a:pt x="116095" y="433198"/>
                </a:lnTo>
                <a:lnTo>
                  <a:pt x="141304" y="416282"/>
                </a:lnTo>
                <a:lnTo>
                  <a:pt x="164191" y="396380"/>
                </a:lnTo>
                <a:lnTo>
                  <a:pt x="184093" y="373493"/>
                </a:lnTo>
                <a:lnTo>
                  <a:pt x="201009" y="348284"/>
                </a:lnTo>
                <a:lnTo>
                  <a:pt x="214609" y="321084"/>
                </a:lnTo>
                <a:lnTo>
                  <a:pt x="224228" y="292226"/>
                </a:lnTo>
                <a:lnTo>
                  <a:pt x="230199" y="262374"/>
                </a:lnTo>
                <a:lnTo>
                  <a:pt x="232189" y="232189"/>
                </a:lnTo>
                <a:lnTo>
                  <a:pt x="230199" y="202004"/>
                </a:lnTo>
                <a:lnTo>
                  <a:pt x="224228" y="172152"/>
                </a:lnTo>
                <a:lnTo>
                  <a:pt x="214609" y="143294"/>
                </a:lnTo>
                <a:lnTo>
                  <a:pt x="201009" y="116095"/>
                </a:lnTo>
                <a:lnTo>
                  <a:pt x="184093" y="90885"/>
                </a:lnTo>
                <a:lnTo>
                  <a:pt x="164191" y="67998"/>
                </a:lnTo>
                <a:lnTo>
                  <a:pt x="141304" y="48096"/>
                </a:lnTo>
                <a:lnTo>
                  <a:pt x="116095" y="31180"/>
                </a:lnTo>
                <a:lnTo>
                  <a:pt x="88895" y="17580"/>
                </a:lnTo>
                <a:lnTo>
                  <a:pt x="60037" y="7961"/>
                </a:lnTo>
                <a:lnTo>
                  <a:pt x="30185" y="1990"/>
                </a:lnTo>
                <a:lnTo>
                  <a:pt x="0" y="0"/>
                </a:lnTo>
                <a:lnTo>
                  <a:pt x="0" y="0"/>
                </a:lnTo>
                <a:lnTo>
                  <a:pt x="19570" y="1990"/>
                </a:lnTo>
                <a:lnTo>
                  <a:pt x="39140" y="7961"/>
                </a:lnTo>
                <a:lnTo>
                  <a:pt x="57716" y="17580"/>
                </a:lnTo>
                <a:lnTo>
                  <a:pt x="75627" y="31180"/>
                </a:lnTo>
                <a:lnTo>
                  <a:pt x="91881" y="48096"/>
                </a:lnTo>
                <a:lnTo>
                  <a:pt x="106807" y="67998"/>
                </a:lnTo>
                <a:lnTo>
                  <a:pt x="119743" y="90885"/>
                </a:lnTo>
                <a:lnTo>
                  <a:pt x="130689" y="116095"/>
                </a:lnTo>
                <a:lnTo>
                  <a:pt x="139313" y="143294"/>
                </a:lnTo>
                <a:lnTo>
                  <a:pt x="145616" y="172152"/>
                </a:lnTo>
                <a:lnTo>
                  <a:pt x="149596" y="202004"/>
                </a:lnTo>
                <a:lnTo>
                  <a:pt x="150923" y="232189"/>
                </a:lnTo>
                <a:lnTo>
                  <a:pt x="149596" y="262374"/>
                </a:lnTo>
                <a:lnTo>
                  <a:pt x="145616" y="292226"/>
                </a:lnTo>
                <a:lnTo>
                  <a:pt x="139313" y="321084"/>
                </a:lnTo>
                <a:lnTo>
                  <a:pt x="130689" y="348284"/>
                </a:lnTo>
                <a:lnTo>
                  <a:pt x="119743" y="373493"/>
                </a:lnTo>
                <a:lnTo>
                  <a:pt x="106807" y="396380"/>
                </a:lnTo>
                <a:lnTo>
                  <a:pt x="91881" y="416282"/>
                </a:lnTo>
                <a:lnTo>
                  <a:pt x="75627" y="433198"/>
                </a:lnTo>
                <a:lnTo>
                  <a:pt x="57716" y="446798"/>
                </a:lnTo>
                <a:lnTo>
                  <a:pt x="39140" y="456417"/>
                </a:lnTo>
                <a:lnTo>
                  <a:pt x="19570" y="462388"/>
                </a:lnTo>
                <a:lnTo>
                  <a:pt x="0" y="46437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0" name="S05-mark48"/>
          <p:cNvSpPr/>
          <p:nvPr/>
        </p:nvSpPr>
        <p:spPr>
          <a:xfrm>
            <a:off x="9226982" y="2066220"/>
            <a:ext cx="232189" cy="464378"/>
          </a:xfrm>
          <a:custGeom>
            <a:avLst/>
            <a:gdLst/>
            <a:ahLst/>
            <a:cxnLst/>
            <a:rect l="l" t="t" r="r" b="b"/>
            <a:pathLst>
              <a:path w="232189" h="464378">
                <a:moveTo>
                  <a:pt x="0" y="464378"/>
                </a:moveTo>
                <a:lnTo>
                  <a:pt x="30185" y="462388"/>
                </a:lnTo>
                <a:lnTo>
                  <a:pt x="60037" y="456417"/>
                </a:lnTo>
                <a:lnTo>
                  <a:pt x="88895" y="446798"/>
                </a:lnTo>
                <a:lnTo>
                  <a:pt x="116095" y="433198"/>
                </a:lnTo>
                <a:lnTo>
                  <a:pt x="141304" y="416282"/>
                </a:lnTo>
                <a:lnTo>
                  <a:pt x="164191" y="396380"/>
                </a:lnTo>
                <a:lnTo>
                  <a:pt x="184093" y="373493"/>
                </a:lnTo>
                <a:lnTo>
                  <a:pt x="201009" y="348284"/>
                </a:lnTo>
                <a:lnTo>
                  <a:pt x="214609" y="321084"/>
                </a:lnTo>
                <a:lnTo>
                  <a:pt x="224228" y="292226"/>
                </a:lnTo>
                <a:lnTo>
                  <a:pt x="230199" y="262374"/>
                </a:lnTo>
                <a:lnTo>
                  <a:pt x="232189" y="232189"/>
                </a:lnTo>
                <a:lnTo>
                  <a:pt x="230199" y="202004"/>
                </a:lnTo>
                <a:lnTo>
                  <a:pt x="224228" y="172152"/>
                </a:lnTo>
                <a:lnTo>
                  <a:pt x="214609" y="143294"/>
                </a:lnTo>
                <a:lnTo>
                  <a:pt x="201009" y="116095"/>
                </a:lnTo>
                <a:lnTo>
                  <a:pt x="184093" y="90885"/>
                </a:lnTo>
                <a:lnTo>
                  <a:pt x="164191" y="67998"/>
                </a:lnTo>
                <a:lnTo>
                  <a:pt x="141304" y="48096"/>
                </a:lnTo>
                <a:lnTo>
                  <a:pt x="116095" y="31180"/>
                </a:lnTo>
                <a:lnTo>
                  <a:pt x="88895" y="17580"/>
                </a:lnTo>
                <a:lnTo>
                  <a:pt x="60037" y="7961"/>
                </a:lnTo>
                <a:lnTo>
                  <a:pt x="30185" y="1990"/>
                </a:lnTo>
                <a:lnTo>
                  <a:pt x="0" y="0"/>
                </a:lnTo>
                <a:lnTo>
                  <a:pt x="0" y="0"/>
                </a:lnTo>
                <a:lnTo>
                  <a:pt x="0" y="1990"/>
                </a:lnTo>
                <a:lnTo>
                  <a:pt x="0" y="7961"/>
                </a:lnTo>
                <a:lnTo>
                  <a:pt x="0" y="17580"/>
                </a:lnTo>
                <a:lnTo>
                  <a:pt x="0" y="31180"/>
                </a:lnTo>
                <a:lnTo>
                  <a:pt x="0" y="48096"/>
                </a:lnTo>
                <a:lnTo>
                  <a:pt x="0" y="67998"/>
                </a:lnTo>
                <a:lnTo>
                  <a:pt x="0" y="90885"/>
                </a:lnTo>
                <a:lnTo>
                  <a:pt x="0" y="116095"/>
                </a:lnTo>
                <a:lnTo>
                  <a:pt x="0" y="143294"/>
                </a:lnTo>
                <a:lnTo>
                  <a:pt x="0" y="172152"/>
                </a:lnTo>
                <a:lnTo>
                  <a:pt x="0" y="202004"/>
                </a:lnTo>
                <a:lnTo>
                  <a:pt x="0" y="232189"/>
                </a:lnTo>
                <a:lnTo>
                  <a:pt x="0" y="262374"/>
                </a:lnTo>
                <a:lnTo>
                  <a:pt x="0" y="292226"/>
                </a:lnTo>
                <a:lnTo>
                  <a:pt x="0" y="321084"/>
                </a:lnTo>
                <a:lnTo>
                  <a:pt x="0" y="348284"/>
                </a:lnTo>
                <a:lnTo>
                  <a:pt x="0" y="373493"/>
                </a:lnTo>
                <a:lnTo>
                  <a:pt x="0" y="396380"/>
                </a:lnTo>
                <a:lnTo>
                  <a:pt x="0" y="416282"/>
                </a:lnTo>
                <a:lnTo>
                  <a:pt x="0" y="433198"/>
                </a:lnTo>
                <a:lnTo>
                  <a:pt x="0" y="446798"/>
                </a:lnTo>
                <a:lnTo>
                  <a:pt x="0" y="456417"/>
                </a:lnTo>
                <a:lnTo>
                  <a:pt x="0" y="462388"/>
                </a:lnTo>
                <a:lnTo>
                  <a:pt x="0" y="46437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1" name="S05-mark49"/>
          <p:cNvSpPr/>
          <p:nvPr/>
        </p:nvSpPr>
        <p:spPr>
          <a:xfrm>
            <a:off x="10653286" y="2663278"/>
            <a:ext cx="464378" cy="46437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05-mark50"/>
          <p:cNvSpPr/>
          <p:nvPr/>
        </p:nvSpPr>
        <p:spPr>
          <a:xfrm>
            <a:off x="8994793" y="2066220"/>
            <a:ext cx="464378" cy="46437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05-mark51"/>
          <p:cNvSpPr/>
          <p:nvPr/>
        </p:nvSpPr>
        <p:spPr>
          <a:xfrm>
            <a:off x="7336300" y="2729617"/>
            <a:ext cx="464378" cy="46437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05-mark52"/>
          <p:cNvSpPr/>
          <p:nvPr/>
        </p:nvSpPr>
        <p:spPr>
          <a:xfrm>
            <a:off x="6905092" y="3393015"/>
            <a:ext cx="464378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5-mark53"/>
          <p:cNvSpPr/>
          <p:nvPr/>
        </p:nvSpPr>
        <p:spPr>
          <a:xfrm flipV="1">
            <a:off x="8563585" y="3243750"/>
            <a:ext cx="0" cy="149264"/>
          </a:xfrm>
          <a:prstGeom prst="line">
            <a:avLst/>
          </a:prstGeom>
          <a:noFill/>
          <a:ln w="31750">
            <a:solidFill>
              <a:srgbClr val="6B8F63"/>
            </a:solidFill>
            <a:prstDash val="solid"/>
          </a:ln>
        </p:spPr>
      </p:sp>
      <p:sp>
        <p:nvSpPr>
          <p:cNvPr id="16" name="S05-label55"/>
          <p:cNvSpPr txBox="1"/>
          <p:nvPr/>
        </p:nvSpPr>
        <p:spPr>
          <a:xfrm>
            <a:off x="7032574" y="33683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400" dirty="0"/>
          </a:p>
        </p:txBody>
      </p:sp>
      <p:sp>
        <p:nvSpPr>
          <p:cNvPr id="17" name="S05-label57"/>
          <p:cNvSpPr txBox="1"/>
          <p:nvPr/>
        </p:nvSpPr>
        <p:spPr>
          <a:xfrm>
            <a:off x="9022766" y="33683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ko-KR" sz="2400" dirty="0"/>
          </a:p>
        </p:txBody>
      </p:sp>
      <p:sp>
        <p:nvSpPr>
          <p:cNvPr id="18" name="S05-label59"/>
          <p:cNvSpPr txBox="1"/>
          <p:nvPr/>
        </p:nvSpPr>
        <p:spPr>
          <a:xfrm>
            <a:off x="11012957" y="33683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400" dirty="0"/>
          </a:p>
        </p:txBody>
      </p:sp>
      <p:sp>
        <p:nvSpPr>
          <p:cNvPr id="19" name="S05-label61"/>
          <p:cNvSpPr txBox="1"/>
          <p:nvPr/>
        </p:nvSpPr>
        <p:spPr>
          <a:xfrm>
            <a:off x="10360076" y="2346616"/>
            <a:ext cx="105079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3일</a:t>
            </a:r>
            <a:endParaRPr lang="ko-KR" sz="1900" dirty="0"/>
          </a:p>
        </p:txBody>
      </p:sp>
      <p:sp>
        <p:nvSpPr>
          <p:cNvPr id="20" name="S05-label63"/>
          <p:cNvSpPr txBox="1"/>
          <p:nvPr/>
        </p:nvSpPr>
        <p:spPr>
          <a:xfrm>
            <a:off x="8701583" y="1749558"/>
            <a:ext cx="105079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7일</a:t>
            </a:r>
            <a:endParaRPr lang="ko-KR" sz="1900" dirty="0"/>
          </a:p>
        </p:txBody>
      </p:sp>
      <p:sp>
        <p:nvSpPr>
          <p:cNvPr id="21" name="S05-label65"/>
          <p:cNvSpPr txBox="1"/>
          <p:nvPr/>
        </p:nvSpPr>
        <p:spPr>
          <a:xfrm>
            <a:off x="6963461" y="2412956"/>
            <a:ext cx="121005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15일</a:t>
            </a:r>
            <a:endParaRPr lang="ko-KR" sz="1900" dirty="0"/>
          </a:p>
        </p:txBody>
      </p:sp>
      <p:sp>
        <p:nvSpPr>
          <p:cNvPr id="22" name="S05-card66"/>
          <p:cNvSpPr/>
          <p:nvPr/>
        </p:nvSpPr>
        <p:spPr>
          <a:xfrm>
            <a:off x="6813652" y="4527804"/>
            <a:ext cx="4826660" cy="1690116"/>
          </a:xfrm>
          <a:prstGeom prst="roundRect">
            <a:avLst>
              <a:gd name="adj" fmla="val 64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05-cardtext67"/>
          <p:cNvSpPr txBox="1"/>
          <p:nvPr/>
        </p:nvSpPr>
        <p:spPr>
          <a:xfrm>
            <a:off x="7087972" y="4664964"/>
            <a:ext cx="427802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볼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모양이 바뀐 차례를 찾아요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달이 옮겨 간 쪽을 찾아요</a:t>
            </a:r>
            <a:endParaRPr lang="ko-KR" sz="3000" dirty="0"/>
          </a:p>
        </p:txBody>
      </p:sp>
      <p:sp>
        <p:nvSpPr>
          <p:cNvPr id="24" name="S05-stepno68"/>
          <p:cNvSpPr txBox="1"/>
          <p:nvPr/>
        </p:nvSpPr>
        <p:spPr>
          <a:xfrm>
            <a:off x="548640" y="2046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5-text69"/>
          <p:cNvSpPr txBox="1"/>
          <p:nvPr/>
        </p:nvSpPr>
        <p:spPr>
          <a:xfrm>
            <a:off x="1325880" y="20467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2의 예시 기록을 봐요.</a:t>
            </a:r>
            <a:endParaRPr lang="ko-KR" sz="3000" dirty="0"/>
          </a:p>
        </p:txBody>
      </p:sp>
      <p:sp>
        <p:nvSpPr>
          <p:cNvPr id="26" name="S05-stepno70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5-text71"/>
          <p:cNvSpPr txBox="1"/>
          <p:nvPr/>
        </p:nvSpPr>
        <p:spPr>
          <a:xfrm>
            <a:off x="1325880" y="27599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차례로 달의 모양을 말해요.</a:t>
            </a:r>
            <a:endParaRPr lang="ko-KR" sz="3000" dirty="0"/>
          </a:p>
        </p:txBody>
      </p:sp>
      <p:sp>
        <p:nvSpPr>
          <p:cNvPr id="28" name="S05-stepno72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5-text73"/>
          <p:cNvSpPr txBox="1"/>
          <p:nvPr/>
        </p:nvSpPr>
        <p:spPr>
          <a:xfrm>
            <a:off x="1325880" y="3854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달이 보인 방향을 말해요.</a:t>
            </a:r>
            <a:endParaRPr lang="ko-KR" sz="3000" dirty="0"/>
          </a:p>
        </p:txBody>
      </p:sp>
      <p:sp>
        <p:nvSpPr>
          <p:cNvPr id="30" name="S05-stepno74"/>
          <p:cNvSpPr txBox="1"/>
          <p:nvPr/>
        </p:nvSpPr>
        <p:spPr>
          <a:xfrm>
            <a:off x="548640" y="4613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1" name="S05-text75"/>
          <p:cNvSpPr txBox="1"/>
          <p:nvPr/>
        </p:nvSpPr>
        <p:spPr>
          <a:xfrm>
            <a:off x="1325880" y="45674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것을 활동지 3의 표에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6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3000" dirty="0"/>
          </a:p>
        </p:txBody>
      </p:sp>
      <p:sp>
        <p:nvSpPr>
          <p:cNvPr id="4" name="S06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위치가 어떻게 바뀌었나요?</a:t>
            </a:r>
            <a:endParaRPr lang="ko-KR" sz="3000" dirty="0"/>
          </a:p>
        </p:txBody>
      </p:sp>
      <p:graphicFrame>
        <p:nvGraphicFramePr>
          <p:cNvPr id="7" name="S06-table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541016"/>
          <a:ext cx="96012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3360420"/>
                <a:gridCol w="33604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음력 날짜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달의 모양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보인 방향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모양이 바뀌는 차례</a:t>
            </a:r>
            <a:endParaRPr lang="ko-KR" sz="4000" dirty="0"/>
          </a:p>
        </p:txBody>
      </p:sp>
      <p:sp>
        <p:nvSpPr>
          <p:cNvPr id="3" name="S07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 뒤로는 왼쪽이 밝은 달로 바뀌어요.</a:t>
            </a:r>
            <a:endParaRPr lang="ko-KR" sz="3000" dirty="0"/>
          </a:p>
        </p:txBody>
      </p:sp>
      <p:sp>
        <p:nvSpPr>
          <p:cNvPr id="4" name="S07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달의 모양은 약 한 달마다 되풀이돼요.</a:t>
            </a:r>
            <a:endParaRPr lang="ko-KR" sz="3000" dirty="0"/>
          </a:p>
        </p:txBody>
      </p:sp>
      <p:sp>
        <p:nvSpPr>
          <p:cNvPr id="6" name="S07-figure83" descr="달의 모양이 바뀌는 차례: 초승달 → 상현달 → 보름달 → 하현달 → 그믐달, 그리고 약 한 달 뒤 다시 초승달로 돌아오는 화살표"/>
          <p:cNvSpPr/>
          <p:nvPr/>
        </p:nvSpPr>
        <p:spPr>
          <a:xfrm>
            <a:off x="1284481" y="2103120"/>
            <a:ext cx="1282665" cy="1282665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S07-mark84"/>
          <p:cNvSpPr/>
          <p:nvPr/>
        </p:nvSpPr>
        <p:spPr>
          <a:xfrm>
            <a:off x="3368812" y="2103120"/>
            <a:ext cx="1282665" cy="1282665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S07-mark85"/>
          <p:cNvSpPr/>
          <p:nvPr/>
        </p:nvSpPr>
        <p:spPr>
          <a:xfrm>
            <a:off x="5453143" y="2103120"/>
            <a:ext cx="1282665" cy="1282665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9" name="S07-mark86"/>
          <p:cNvSpPr/>
          <p:nvPr/>
        </p:nvSpPr>
        <p:spPr>
          <a:xfrm>
            <a:off x="7537474" y="2103120"/>
            <a:ext cx="1282665" cy="1282665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0" name="S07-mark87"/>
          <p:cNvSpPr/>
          <p:nvPr/>
        </p:nvSpPr>
        <p:spPr>
          <a:xfrm>
            <a:off x="9621805" y="2103120"/>
            <a:ext cx="1282665" cy="1282665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1" name="S07-mark88"/>
          <p:cNvSpPr/>
          <p:nvPr/>
        </p:nvSpPr>
        <p:spPr>
          <a:xfrm>
            <a:off x="1925814" y="2103120"/>
            <a:ext cx="641333" cy="1282665"/>
          </a:xfrm>
          <a:custGeom>
            <a:avLst/>
            <a:gdLst/>
            <a:ahLst/>
            <a:cxnLst/>
            <a:rect l="l" t="t" r="r" b="b"/>
            <a:pathLst>
              <a:path w="641333" h="1282665">
                <a:moveTo>
                  <a:pt x="0" y="1282665"/>
                </a:moveTo>
                <a:lnTo>
                  <a:pt x="83373" y="1277054"/>
                </a:lnTo>
                <a:lnTo>
                  <a:pt x="165945" y="1261020"/>
                </a:lnTo>
                <a:lnTo>
                  <a:pt x="245310" y="1233764"/>
                </a:lnTo>
                <a:lnTo>
                  <a:pt x="320666" y="1196887"/>
                </a:lnTo>
                <a:lnTo>
                  <a:pt x="390411" y="1150390"/>
                </a:lnTo>
                <a:lnTo>
                  <a:pt x="453743" y="1095075"/>
                </a:lnTo>
                <a:lnTo>
                  <a:pt x="509058" y="1031744"/>
                </a:lnTo>
                <a:lnTo>
                  <a:pt x="555554" y="961999"/>
                </a:lnTo>
                <a:lnTo>
                  <a:pt x="592431" y="886642"/>
                </a:lnTo>
                <a:lnTo>
                  <a:pt x="619688" y="807277"/>
                </a:lnTo>
                <a:lnTo>
                  <a:pt x="635721" y="724706"/>
                </a:lnTo>
                <a:lnTo>
                  <a:pt x="641333" y="641333"/>
                </a:lnTo>
                <a:lnTo>
                  <a:pt x="635721" y="557959"/>
                </a:lnTo>
                <a:lnTo>
                  <a:pt x="619688" y="475388"/>
                </a:lnTo>
                <a:lnTo>
                  <a:pt x="592431" y="396023"/>
                </a:lnTo>
                <a:lnTo>
                  <a:pt x="555554" y="320666"/>
                </a:lnTo>
                <a:lnTo>
                  <a:pt x="509058" y="250921"/>
                </a:lnTo>
                <a:lnTo>
                  <a:pt x="453743" y="187590"/>
                </a:lnTo>
                <a:lnTo>
                  <a:pt x="390411" y="132275"/>
                </a:lnTo>
                <a:lnTo>
                  <a:pt x="320666" y="85778"/>
                </a:lnTo>
                <a:lnTo>
                  <a:pt x="245310" y="48902"/>
                </a:lnTo>
                <a:lnTo>
                  <a:pt x="165945" y="21645"/>
                </a:lnTo>
                <a:lnTo>
                  <a:pt x="83373" y="5612"/>
                </a:lnTo>
                <a:lnTo>
                  <a:pt x="0" y="0"/>
                </a:lnTo>
                <a:lnTo>
                  <a:pt x="0" y="0"/>
                </a:lnTo>
                <a:lnTo>
                  <a:pt x="54513" y="5612"/>
                </a:lnTo>
                <a:lnTo>
                  <a:pt x="108225" y="21645"/>
                </a:lnTo>
                <a:lnTo>
                  <a:pt x="159531" y="48902"/>
                </a:lnTo>
                <a:lnTo>
                  <a:pt x="208433" y="85778"/>
                </a:lnTo>
                <a:lnTo>
                  <a:pt x="254128" y="132275"/>
                </a:lnTo>
                <a:lnTo>
                  <a:pt x="295013" y="187590"/>
                </a:lnTo>
                <a:lnTo>
                  <a:pt x="331088" y="250921"/>
                </a:lnTo>
                <a:lnTo>
                  <a:pt x="360750" y="320666"/>
                </a:lnTo>
                <a:lnTo>
                  <a:pt x="384800" y="396023"/>
                </a:lnTo>
                <a:lnTo>
                  <a:pt x="402436" y="475388"/>
                </a:lnTo>
                <a:lnTo>
                  <a:pt x="413660" y="557959"/>
                </a:lnTo>
                <a:lnTo>
                  <a:pt x="416866" y="641333"/>
                </a:lnTo>
                <a:lnTo>
                  <a:pt x="413660" y="724706"/>
                </a:lnTo>
                <a:lnTo>
                  <a:pt x="402436" y="807277"/>
                </a:lnTo>
                <a:lnTo>
                  <a:pt x="384800" y="886642"/>
                </a:lnTo>
                <a:lnTo>
                  <a:pt x="360750" y="961999"/>
                </a:lnTo>
                <a:lnTo>
                  <a:pt x="331088" y="1031744"/>
                </a:lnTo>
                <a:lnTo>
                  <a:pt x="295013" y="1095075"/>
                </a:lnTo>
                <a:lnTo>
                  <a:pt x="254128" y="1150390"/>
                </a:lnTo>
                <a:lnTo>
                  <a:pt x="208433" y="1196887"/>
                </a:lnTo>
                <a:lnTo>
                  <a:pt x="159531" y="1233764"/>
                </a:lnTo>
                <a:lnTo>
                  <a:pt x="108225" y="1261020"/>
                </a:lnTo>
                <a:lnTo>
                  <a:pt x="54513" y="1277054"/>
                </a:lnTo>
                <a:lnTo>
                  <a:pt x="0" y="128266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7-mark89"/>
          <p:cNvSpPr/>
          <p:nvPr/>
        </p:nvSpPr>
        <p:spPr>
          <a:xfrm>
            <a:off x="4010145" y="2103120"/>
            <a:ext cx="641333" cy="1282665"/>
          </a:xfrm>
          <a:custGeom>
            <a:avLst/>
            <a:gdLst/>
            <a:ahLst/>
            <a:cxnLst/>
            <a:rect l="l" t="t" r="r" b="b"/>
            <a:pathLst>
              <a:path w="641333" h="1282665">
                <a:moveTo>
                  <a:pt x="0" y="1282665"/>
                </a:moveTo>
                <a:lnTo>
                  <a:pt x="83373" y="1277054"/>
                </a:lnTo>
                <a:lnTo>
                  <a:pt x="165945" y="1261020"/>
                </a:lnTo>
                <a:lnTo>
                  <a:pt x="245310" y="1233764"/>
                </a:lnTo>
                <a:lnTo>
                  <a:pt x="320666" y="1196887"/>
                </a:lnTo>
                <a:lnTo>
                  <a:pt x="390411" y="1150390"/>
                </a:lnTo>
                <a:lnTo>
                  <a:pt x="453743" y="1095075"/>
                </a:lnTo>
                <a:lnTo>
                  <a:pt x="509058" y="1031744"/>
                </a:lnTo>
                <a:lnTo>
                  <a:pt x="555554" y="961999"/>
                </a:lnTo>
                <a:lnTo>
                  <a:pt x="592431" y="886642"/>
                </a:lnTo>
                <a:lnTo>
                  <a:pt x="619688" y="807277"/>
                </a:lnTo>
                <a:lnTo>
                  <a:pt x="635721" y="724706"/>
                </a:lnTo>
                <a:lnTo>
                  <a:pt x="641333" y="641333"/>
                </a:lnTo>
                <a:lnTo>
                  <a:pt x="635721" y="557959"/>
                </a:lnTo>
                <a:lnTo>
                  <a:pt x="619688" y="475388"/>
                </a:lnTo>
                <a:lnTo>
                  <a:pt x="592431" y="396023"/>
                </a:lnTo>
                <a:lnTo>
                  <a:pt x="555554" y="320666"/>
                </a:lnTo>
                <a:lnTo>
                  <a:pt x="509058" y="250921"/>
                </a:lnTo>
                <a:lnTo>
                  <a:pt x="453743" y="187590"/>
                </a:lnTo>
                <a:lnTo>
                  <a:pt x="390411" y="132275"/>
                </a:lnTo>
                <a:lnTo>
                  <a:pt x="320666" y="85778"/>
                </a:lnTo>
                <a:lnTo>
                  <a:pt x="245310" y="48902"/>
                </a:lnTo>
                <a:lnTo>
                  <a:pt x="165945" y="21645"/>
                </a:lnTo>
                <a:lnTo>
                  <a:pt x="83373" y="5612"/>
                </a:lnTo>
                <a:lnTo>
                  <a:pt x="0" y="0"/>
                </a:lnTo>
                <a:lnTo>
                  <a:pt x="0" y="0"/>
                </a:lnTo>
                <a:lnTo>
                  <a:pt x="0" y="5612"/>
                </a:lnTo>
                <a:lnTo>
                  <a:pt x="0" y="21645"/>
                </a:lnTo>
                <a:lnTo>
                  <a:pt x="0" y="48902"/>
                </a:lnTo>
                <a:lnTo>
                  <a:pt x="0" y="85778"/>
                </a:lnTo>
                <a:lnTo>
                  <a:pt x="0" y="132275"/>
                </a:lnTo>
                <a:lnTo>
                  <a:pt x="0" y="187590"/>
                </a:lnTo>
                <a:lnTo>
                  <a:pt x="0" y="250921"/>
                </a:lnTo>
                <a:lnTo>
                  <a:pt x="0" y="320666"/>
                </a:lnTo>
                <a:lnTo>
                  <a:pt x="0" y="396023"/>
                </a:lnTo>
                <a:lnTo>
                  <a:pt x="0" y="475388"/>
                </a:lnTo>
                <a:lnTo>
                  <a:pt x="0" y="557959"/>
                </a:lnTo>
                <a:lnTo>
                  <a:pt x="0" y="641333"/>
                </a:lnTo>
                <a:lnTo>
                  <a:pt x="0" y="724706"/>
                </a:lnTo>
                <a:lnTo>
                  <a:pt x="0" y="807277"/>
                </a:lnTo>
                <a:lnTo>
                  <a:pt x="0" y="886642"/>
                </a:lnTo>
                <a:lnTo>
                  <a:pt x="0" y="961999"/>
                </a:lnTo>
                <a:lnTo>
                  <a:pt x="0" y="1031744"/>
                </a:lnTo>
                <a:lnTo>
                  <a:pt x="0" y="1095075"/>
                </a:lnTo>
                <a:lnTo>
                  <a:pt x="0" y="1150390"/>
                </a:lnTo>
                <a:lnTo>
                  <a:pt x="0" y="1196887"/>
                </a:lnTo>
                <a:lnTo>
                  <a:pt x="0" y="1233764"/>
                </a:lnTo>
                <a:lnTo>
                  <a:pt x="0" y="1261020"/>
                </a:lnTo>
                <a:lnTo>
                  <a:pt x="0" y="1277054"/>
                </a:lnTo>
                <a:lnTo>
                  <a:pt x="0" y="128266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07-mark90"/>
          <p:cNvSpPr/>
          <p:nvPr/>
        </p:nvSpPr>
        <p:spPr>
          <a:xfrm>
            <a:off x="7537474" y="2103120"/>
            <a:ext cx="641333" cy="1282665"/>
          </a:xfrm>
          <a:custGeom>
            <a:avLst/>
            <a:gdLst/>
            <a:ahLst/>
            <a:cxnLst/>
            <a:rect l="l" t="t" r="r" b="b"/>
            <a:pathLst>
              <a:path w="641333" h="1282665">
                <a:moveTo>
                  <a:pt x="641333" y="1282665"/>
                </a:moveTo>
                <a:lnTo>
                  <a:pt x="557959" y="1277054"/>
                </a:lnTo>
                <a:lnTo>
                  <a:pt x="475388" y="1261020"/>
                </a:lnTo>
                <a:lnTo>
                  <a:pt x="396023" y="1233764"/>
                </a:lnTo>
                <a:lnTo>
                  <a:pt x="320666" y="1196887"/>
                </a:lnTo>
                <a:lnTo>
                  <a:pt x="250921" y="1150390"/>
                </a:lnTo>
                <a:lnTo>
                  <a:pt x="187590" y="1095075"/>
                </a:lnTo>
                <a:lnTo>
                  <a:pt x="132275" y="1031744"/>
                </a:lnTo>
                <a:lnTo>
                  <a:pt x="85778" y="961999"/>
                </a:lnTo>
                <a:lnTo>
                  <a:pt x="48902" y="886642"/>
                </a:lnTo>
                <a:lnTo>
                  <a:pt x="21645" y="807277"/>
                </a:lnTo>
                <a:lnTo>
                  <a:pt x="5612" y="724706"/>
                </a:lnTo>
                <a:lnTo>
                  <a:pt x="0" y="641333"/>
                </a:lnTo>
                <a:lnTo>
                  <a:pt x="5612" y="557959"/>
                </a:lnTo>
                <a:lnTo>
                  <a:pt x="21645" y="475388"/>
                </a:lnTo>
                <a:lnTo>
                  <a:pt x="48902" y="396023"/>
                </a:lnTo>
                <a:lnTo>
                  <a:pt x="85778" y="320666"/>
                </a:lnTo>
                <a:lnTo>
                  <a:pt x="132275" y="250921"/>
                </a:lnTo>
                <a:lnTo>
                  <a:pt x="187590" y="187590"/>
                </a:lnTo>
                <a:lnTo>
                  <a:pt x="250921" y="132275"/>
                </a:lnTo>
                <a:lnTo>
                  <a:pt x="320666" y="85778"/>
                </a:lnTo>
                <a:lnTo>
                  <a:pt x="396023" y="48902"/>
                </a:lnTo>
                <a:lnTo>
                  <a:pt x="475388" y="21645"/>
                </a:lnTo>
                <a:lnTo>
                  <a:pt x="557959" y="5612"/>
                </a:lnTo>
                <a:lnTo>
                  <a:pt x="641333" y="0"/>
                </a:lnTo>
                <a:lnTo>
                  <a:pt x="641333" y="0"/>
                </a:lnTo>
                <a:lnTo>
                  <a:pt x="641333" y="5612"/>
                </a:lnTo>
                <a:lnTo>
                  <a:pt x="641333" y="21645"/>
                </a:lnTo>
                <a:lnTo>
                  <a:pt x="641333" y="48902"/>
                </a:lnTo>
                <a:lnTo>
                  <a:pt x="641333" y="85778"/>
                </a:lnTo>
                <a:lnTo>
                  <a:pt x="641333" y="132275"/>
                </a:lnTo>
                <a:lnTo>
                  <a:pt x="641333" y="187590"/>
                </a:lnTo>
                <a:lnTo>
                  <a:pt x="641333" y="250921"/>
                </a:lnTo>
                <a:lnTo>
                  <a:pt x="641333" y="320666"/>
                </a:lnTo>
                <a:lnTo>
                  <a:pt x="641333" y="396023"/>
                </a:lnTo>
                <a:lnTo>
                  <a:pt x="641333" y="475388"/>
                </a:lnTo>
                <a:lnTo>
                  <a:pt x="641333" y="557959"/>
                </a:lnTo>
                <a:lnTo>
                  <a:pt x="641333" y="641333"/>
                </a:lnTo>
                <a:lnTo>
                  <a:pt x="641333" y="724706"/>
                </a:lnTo>
                <a:lnTo>
                  <a:pt x="641333" y="807277"/>
                </a:lnTo>
                <a:lnTo>
                  <a:pt x="641333" y="886642"/>
                </a:lnTo>
                <a:lnTo>
                  <a:pt x="641333" y="961999"/>
                </a:lnTo>
                <a:lnTo>
                  <a:pt x="641333" y="1031744"/>
                </a:lnTo>
                <a:lnTo>
                  <a:pt x="641333" y="1095075"/>
                </a:lnTo>
                <a:lnTo>
                  <a:pt x="641333" y="1150390"/>
                </a:lnTo>
                <a:lnTo>
                  <a:pt x="641333" y="1196887"/>
                </a:lnTo>
                <a:lnTo>
                  <a:pt x="641333" y="1233764"/>
                </a:lnTo>
                <a:lnTo>
                  <a:pt x="641333" y="1261020"/>
                </a:lnTo>
                <a:lnTo>
                  <a:pt x="641333" y="1277054"/>
                </a:lnTo>
                <a:lnTo>
                  <a:pt x="641333" y="128266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07-mark91"/>
          <p:cNvSpPr/>
          <p:nvPr/>
        </p:nvSpPr>
        <p:spPr>
          <a:xfrm>
            <a:off x="9621805" y="2103120"/>
            <a:ext cx="641333" cy="1282665"/>
          </a:xfrm>
          <a:custGeom>
            <a:avLst/>
            <a:gdLst/>
            <a:ahLst/>
            <a:cxnLst/>
            <a:rect l="l" t="t" r="r" b="b"/>
            <a:pathLst>
              <a:path w="641333" h="1282665">
                <a:moveTo>
                  <a:pt x="641333" y="1282665"/>
                </a:moveTo>
                <a:lnTo>
                  <a:pt x="557959" y="1277054"/>
                </a:lnTo>
                <a:lnTo>
                  <a:pt x="475388" y="1261020"/>
                </a:lnTo>
                <a:lnTo>
                  <a:pt x="396023" y="1233764"/>
                </a:lnTo>
                <a:lnTo>
                  <a:pt x="320666" y="1196887"/>
                </a:lnTo>
                <a:lnTo>
                  <a:pt x="250921" y="1150390"/>
                </a:lnTo>
                <a:lnTo>
                  <a:pt x="187590" y="1095075"/>
                </a:lnTo>
                <a:lnTo>
                  <a:pt x="132275" y="1031744"/>
                </a:lnTo>
                <a:lnTo>
                  <a:pt x="85778" y="961999"/>
                </a:lnTo>
                <a:lnTo>
                  <a:pt x="48902" y="886642"/>
                </a:lnTo>
                <a:lnTo>
                  <a:pt x="21645" y="807277"/>
                </a:lnTo>
                <a:lnTo>
                  <a:pt x="5612" y="724706"/>
                </a:lnTo>
                <a:lnTo>
                  <a:pt x="0" y="641333"/>
                </a:lnTo>
                <a:lnTo>
                  <a:pt x="5612" y="557959"/>
                </a:lnTo>
                <a:lnTo>
                  <a:pt x="21645" y="475388"/>
                </a:lnTo>
                <a:lnTo>
                  <a:pt x="48902" y="396023"/>
                </a:lnTo>
                <a:lnTo>
                  <a:pt x="85778" y="320666"/>
                </a:lnTo>
                <a:lnTo>
                  <a:pt x="132275" y="250921"/>
                </a:lnTo>
                <a:lnTo>
                  <a:pt x="187590" y="187590"/>
                </a:lnTo>
                <a:lnTo>
                  <a:pt x="250921" y="132275"/>
                </a:lnTo>
                <a:lnTo>
                  <a:pt x="320666" y="85778"/>
                </a:lnTo>
                <a:lnTo>
                  <a:pt x="396023" y="48902"/>
                </a:lnTo>
                <a:lnTo>
                  <a:pt x="475388" y="21645"/>
                </a:lnTo>
                <a:lnTo>
                  <a:pt x="557959" y="5612"/>
                </a:lnTo>
                <a:lnTo>
                  <a:pt x="641333" y="0"/>
                </a:lnTo>
                <a:lnTo>
                  <a:pt x="641333" y="0"/>
                </a:lnTo>
                <a:lnTo>
                  <a:pt x="586819" y="5612"/>
                </a:lnTo>
                <a:lnTo>
                  <a:pt x="533108" y="21645"/>
                </a:lnTo>
                <a:lnTo>
                  <a:pt x="481801" y="48902"/>
                </a:lnTo>
                <a:lnTo>
                  <a:pt x="432900" y="85778"/>
                </a:lnTo>
                <a:lnTo>
                  <a:pt x="387205" y="132275"/>
                </a:lnTo>
                <a:lnTo>
                  <a:pt x="346320" y="187590"/>
                </a:lnTo>
                <a:lnTo>
                  <a:pt x="310245" y="250921"/>
                </a:lnTo>
                <a:lnTo>
                  <a:pt x="280583" y="320666"/>
                </a:lnTo>
                <a:lnTo>
                  <a:pt x="256533" y="396023"/>
                </a:lnTo>
                <a:lnTo>
                  <a:pt x="238896" y="475388"/>
                </a:lnTo>
                <a:lnTo>
                  <a:pt x="227673" y="557959"/>
                </a:lnTo>
                <a:lnTo>
                  <a:pt x="224466" y="641333"/>
                </a:lnTo>
                <a:lnTo>
                  <a:pt x="227673" y="724706"/>
                </a:lnTo>
                <a:lnTo>
                  <a:pt x="238896" y="807277"/>
                </a:lnTo>
                <a:lnTo>
                  <a:pt x="256533" y="886642"/>
                </a:lnTo>
                <a:lnTo>
                  <a:pt x="280583" y="961999"/>
                </a:lnTo>
                <a:lnTo>
                  <a:pt x="310245" y="1031744"/>
                </a:lnTo>
                <a:lnTo>
                  <a:pt x="346320" y="1095075"/>
                </a:lnTo>
                <a:lnTo>
                  <a:pt x="387205" y="1150390"/>
                </a:lnTo>
                <a:lnTo>
                  <a:pt x="432900" y="1196887"/>
                </a:lnTo>
                <a:lnTo>
                  <a:pt x="481801" y="1233764"/>
                </a:lnTo>
                <a:lnTo>
                  <a:pt x="533108" y="1261020"/>
                </a:lnTo>
                <a:lnTo>
                  <a:pt x="586819" y="1277054"/>
                </a:lnTo>
                <a:lnTo>
                  <a:pt x="641333" y="1282665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5" name="S07-mark92"/>
          <p:cNvSpPr/>
          <p:nvPr/>
        </p:nvSpPr>
        <p:spPr>
          <a:xfrm>
            <a:off x="1284481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07-mark93"/>
          <p:cNvSpPr/>
          <p:nvPr/>
        </p:nvSpPr>
        <p:spPr>
          <a:xfrm>
            <a:off x="3368812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07-mark94"/>
          <p:cNvSpPr/>
          <p:nvPr/>
        </p:nvSpPr>
        <p:spPr>
          <a:xfrm>
            <a:off x="5453143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07-mark95"/>
          <p:cNvSpPr/>
          <p:nvPr/>
        </p:nvSpPr>
        <p:spPr>
          <a:xfrm>
            <a:off x="7537474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07-mark96"/>
          <p:cNvSpPr/>
          <p:nvPr/>
        </p:nvSpPr>
        <p:spPr>
          <a:xfrm>
            <a:off x="9621805" y="2103120"/>
            <a:ext cx="1282665" cy="1282665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07-mark97"/>
          <p:cNvSpPr/>
          <p:nvPr/>
        </p:nvSpPr>
        <p:spPr>
          <a:xfrm>
            <a:off x="2687397" y="2744453"/>
            <a:ext cx="561166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1" name="S07-mark98"/>
          <p:cNvSpPr/>
          <p:nvPr/>
        </p:nvSpPr>
        <p:spPr>
          <a:xfrm>
            <a:off x="4771728" y="2744453"/>
            <a:ext cx="561166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07-mark99"/>
          <p:cNvSpPr/>
          <p:nvPr/>
        </p:nvSpPr>
        <p:spPr>
          <a:xfrm>
            <a:off x="6856058" y="2744453"/>
            <a:ext cx="561166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3" name="S07-mark100"/>
          <p:cNvSpPr/>
          <p:nvPr/>
        </p:nvSpPr>
        <p:spPr>
          <a:xfrm>
            <a:off x="8940389" y="2744453"/>
            <a:ext cx="561166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4" name="S07-mark101"/>
          <p:cNvSpPr/>
          <p:nvPr/>
        </p:nvSpPr>
        <p:spPr>
          <a:xfrm>
            <a:off x="10263138" y="4227534"/>
            <a:ext cx="0" cy="400833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25" name="S07-mark102"/>
          <p:cNvSpPr/>
          <p:nvPr/>
        </p:nvSpPr>
        <p:spPr>
          <a:xfrm flipH="1">
            <a:off x="1925814" y="4628367"/>
            <a:ext cx="8337324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26" name="S07-mark103"/>
          <p:cNvSpPr/>
          <p:nvPr/>
        </p:nvSpPr>
        <p:spPr>
          <a:xfrm flipV="1">
            <a:off x="1925814" y="4227534"/>
            <a:ext cx="0" cy="400833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7" name="S07-label105"/>
          <p:cNvSpPr txBox="1"/>
          <p:nvPr/>
        </p:nvSpPr>
        <p:spPr>
          <a:xfrm>
            <a:off x="1422894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초승달</a:t>
            </a:r>
            <a:endParaRPr lang="ko-KR" sz="2400" dirty="0"/>
          </a:p>
        </p:txBody>
      </p:sp>
      <p:sp>
        <p:nvSpPr>
          <p:cNvPr id="28" name="S07-label107"/>
          <p:cNvSpPr txBox="1"/>
          <p:nvPr/>
        </p:nvSpPr>
        <p:spPr>
          <a:xfrm>
            <a:off x="3507225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상현달</a:t>
            </a:r>
            <a:endParaRPr lang="ko-KR" sz="2400" dirty="0"/>
          </a:p>
        </p:txBody>
      </p:sp>
      <p:sp>
        <p:nvSpPr>
          <p:cNvPr id="29" name="S07-label109"/>
          <p:cNvSpPr txBox="1"/>
          <p:nvPr/>
        </p:nvSpPr>
        <p:spPr>
          <a:xfrm>
            <a:off x="5591556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</a:t>
            </a:r>
            <a:endParaRPr lang="ko-KR" sz="2400" dirty="0"/>
          </a:p>
        </p:txBody>
      </p:sp>
      <p:sp>
        <p:nvSpPr>
          <p:cNvPr id="30" name="S07-label111"/>
          <p:cNvSpPr txBox="1"/>
          <p:nvPr/>
        </p:nvSpPr>
        <p:spPr>
          <a:xfrm>
            <a:off x="7675887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하현달</a:t>
            </a:r>
            <a:endParaRPr lang="ko-KR" sz="2400" dirty="0"/>
          </a:p>
        </p:txBody>
      </p:sp>
      <p:sp>
        <p:nvSpPr>
          <p:cNvPr id="31" name="S07-label113"/>
          <p:cNvSpPr txBox="1"/>
          <p:nvPr/>
        </p:nvSpPr>
        <p:spPr>
          <a:xfrm>
            <a:off x="9760218" y="3596118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그믐달</a:t>
            </a:r>
            <a:endParaRPr lang="ko-KR" sz="2400" dirty="0"/>
          </a:p>
        </p:txBody>
      </p:sp>
      <p:sp>
        <p:nvSpPr>
          <p:cNvPr id="32" name="S07-label115"/>
          <p:cNvSpPr txBox="1"/>
          <p:nvPr/>
        </p:nvSpPr>
        <p:spPr>
          <a:xfrm>
            <a:off x="4794504" y="4878388"/>
            <a:ext cx="259994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한 달 뒤 다시 초승달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11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1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보름달이 일주일쯤 뒤에 반달이 되었어요.</a:t>
            </a:r>
            <a:endParaRPr lang="ko-KR" sz="3000" dirty="0"/>
          </a:p>
        </p:txBody>
      </p:sp>
      <p:sp>
        <p:nvSpPr>
          <p:cNvPr id="5" name="S08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8-chip12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8-text12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구름이 달의 반을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가려서 그래요.</a:t>
            </a:r>
            <a:endParaRPr lang="ko-KR" sz="3000" dirty="0"/>
          </a:p>
        </p:txBody>
      </p:sp>
      <p:sp>
        <p:nvSpPr>
          <p:cNvPr id="9" name="S08-chip12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8-text12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 없는 맑은 날에도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모양이 바뀌어요.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시각, 달의 위치</a:t>
            </a:r>
            <a:endParaRPr lang="ko-KR" sz="4000" dirty="0"/>
          </a:p>
        </p:txBody>
      </p:sp>
      <p:sp>
        <p:nvSpPr>
          <p:cNvPr id="3" name="S09-card1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시각에 보면 달은 날마다 서쪽에서 동쪽으로 옮겨 가요.</a:t>
            </a:r>
            <a:endParaRPr lang="ko-KR" sz="3000" dirty="0"/>
          </a:p>
        </p:txBody>
      </p:sp>
      <p:sp>
        <p:nvSpPr>
          <p:cNvPr id="5" name="S09-figure126" descr="저녁 7시에 남쪽 하늘을 본 그림. 음력 3일 초승달(서쪽)에서 음력 7일 상현달(남쪽)을 거쳐 음력 15일 보름달(동쪽)로, 오른쪽에서 왼쪽으로 향하는 점선 화살표"/>
          <p:cNvSpPr/>
          <p:nvPr/>
        </p:nvSpPr>
        <p:spPr>
          <a:xfrm>
            <a:off x="8918309" y="2927743"/>
            <a:ext cx="919388" cy="919388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" name="S09-mark127"/>
          <p:cNvSpPr/>
          <p:nvPr/>
        </p:nvSpPr>
        <p:spPr>
          <a:xfrm>
            <a:off x="5634782" y="1745673"/>
            <a:ext cx="919388" cy="919388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S09-mark128"/>
          <p:cNvSpPr/>
          <p:nvPr/>
        </p:nvSpPr>
        <p:spPr>
          <a:xfrm>
            <a:off x="2351255" y="3059084"/>
            <a:ext cx="919388" cy="919388"/>
          </a:xfrm>
          <a:prstGeom prst="ellipse">
            <a:avLst/>
          </a:prstGeom>
          <a:solidFill>
            <a:srgbClr val="F2C14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S09-mark129"/>
          <p:cNvSpPr/>
          <p:nvPr/>
        </p:nvSpPr>
        <p:spPr>
          <a:xfrm>
            <a:off x="1497538" y="4372495"/>
            <a:ext cx="9193876" cy="656705"/>
          </a:xfrm>
          <a:custGeom>
            <a:avLst/>
            <a:gdLst/>
            <a:ahLst/>
            <a:cxnLst/>
            <a:rect l="l" t="t" r="r" b="b"/>
            <a:pathLst>
              <a:path w="9193876" h="656705">
                <a:moveTo>
                  <a:pt x="0" y="656705"/>
                </a:moveTo>
                <a:lnTo>
                  <a:pt x="9193876" y="656705"/>
                </a:lnTo>
                <a:lnTo>
                  <a:pt x="9193876" y="0"/>
                </a:lnTo>
                <a:lnTo>
                  <a:pt x="0" y="0"/>
                </a:lnTo>
                <a:close/>
              </a:path>
            </a:pathLst>
          </a:custGeom>
          <a:solidFill>
            <a:srgbClr val="E3EBD9"/>
          </a:solidFill>
          <a:ln/>
        </p:spPr>
      </p:sp>
      <p:sp>
        <p:nvSpPr>
          <p:cNvPr id="9" name="S09-mark130"/>
          <p:cNvSpPr/>
          <p:nvPr/>
        </p:nvSpPr>
        <p:spPr>
          <a:xfrm>
            <a:off x="7407887" y="3518777"/>
            <a:ext cx="656705" cy="853717"/>
          </a:xfrm>
          <a:custGeom>
            <a:avLst/>
            <a:gdLst/>
            <a:ahLst/>
            <a:cxnLst/>
            <a:rect l="l" t="t" r="r" b="b"/>
            <a:pathLst>
              <a:path w="656705" h="853717">
                <a:moveTo>
                  <a:pt x="0" y="853717"/>
                </a:moveTo>
                <a:lnTo>
                  <a:pt x="656705" y="853717"/>
                </a:lnTo>
                <a:lnTo>
                  <a:pt x="6567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10" name="S09-mark131"/>
          <p:cNvSpPr/>
          <p:nvPr/>
        </p:nvSpPr>
        <p:spPr>
          <a:xfrm>
            <a:off x="4387042" y="3256095"/>
            <a:ext cx="788047" cy="820882"/>
          </a:xfrm>
          <a:custGeom>
            <a:avLst/>
            <a:gdLst/>
            <a:ahLst/>
            <a:cxnLst/>
            <a:rect l="l" t="t" r="r" b="b"/>
            <a:pathLst>
              <a:path w="788047" h="820882">
                <a:moveTo>
                  <a:pt x="0" y="820882"/>
                </a:moveTo>
                <a:lnTo>
                  <a:pt x="394023" y="0"/>
                </a:lnTo>
                <a:lnTo>
                  <a:pt x="788047" y="820882"/>
                </a:lnTo>
                <a:close/>
              </a:path>
            </a:pathLst>
          </a:custGeom>
          <a:solidFill>
            <a:srgbClr val="A7C4A0"/>
          </a:solidFill>
          <a:ln w="15875">
            <a:solidFill>
              <a:srgbClr val="6B8F63"/>
            </a:solidFill>
            <a:prstDash val="solid"/>
          </a:ln>
        </p:spPr>
      </p:sp>
      <p:sp>
        <p:nvSpPr>
          <p:cNvPr id="11" name="S09-mark132"/>
          <p:cNvSpPr/>
          <p:nvPr/>
        </p:nvSpPr>
        <p:spPr>
          <a:xfrm>
            <a:off x="9378003" y="2927743"/>
            <a:ext cx="459694" cy="919388"/>
          </a:xfrm>
          <a:custGeom>
            <a:avLst/>
            <a:gdLst/>
            <a:ahLst/>
            <a:cxnLst/>
            <a:rect l="l" t="t" r="r" b="b"/>
            <a:pathLst>
              <a:path w="459694" h="919388">
                <a:moveTo>
                  <a:pt x="0" y="919388"/>
                </a:moveTo>
                <a:lnTo>
                  <a:pt x="59760" y="915447"/>
                </a:lnTo>
                <a:lnTo>
                  <a:pt x="118864" y="903627"/>
                </a:lnTo>
                <a:lnTo>
                  <a:pt x="175997" y="884582"/>
                </a:lnTo>
                <a:lnTo>
                  <a:pt x="229847" y="857657"/>
                </a:lnTo>
                <a:lnTo>
                  <a:pt x="279757" y="824165"/>
                </a:lnTo>
                <a:lnTo>
                  <a:pt x="325069" y="784763"/>
                </a:lnTo>
                <a:lnTo>
                  <a:pt x="364472" y="739450"/>
                </a:lnTo>
                <a:lnTo>
                  <a:pt x="397964" y="689541"/>
                </a:lnTo>
                <a:lnTo>
                  <a:pt x="424888" y="635691"/>
                </a:lnTo>
                <a:lnTo>
                  <a:pt x="443933" y="578558"/>
                </a:lnTo>
                <a:lnTo>
                  <a:pt x="455754" y="519454"/>
                </a:lnTo>
                <a:lnTo>
                  <a:pt x="459694" y="459694"/>
                </a:lnTo>
                <a:lnTo>
                  <a:pt x="455754" y="399934"/>
                </a:lnTo>
                <a:lnTo>
                  <a:pt x="443933" y="340830"/>
                </a:lnTo>
                <a:lnTo>
                  <a:pt x="424888" y="283697"/>
                </a:lnTo>
                <a:lnTo>
                  <a:pt x="397964" y="229847"/>
                </a:lnTo>
                <a:lnTo>
                  <a:pt x="364472" y="179937"/>
                </a:lnTo>
                <a:lnTo>
                  <a:pt x="325069" y="134625"/>
                </a:lnTo>
                <a:lnTo>
                  <a:pt x="279757" y="95222"/>
                </a:lnTo>
                <a:lnTo>
                  <a:pt x="229847" y="61730"/>
                </a:lnTo>
                <a:lnTo>
                  <a:pt x="175997" y="34805"/>
                </a:lnTo>
                <a:lnTo>
                  <a:pt x="118864" y="15761"/>
                </a:lnTo>
                <a:lnTo>
                  <a:pt x="59760" y="3940"/>
                </a:lnTo>
                <a:lnTo>
                  <a:pt x="0" y="0"/>
                </a:lnTo>
                <a:lnTo>
                  <a:pt x="0" y="0"/>
                </a:lnTo>
                <a:lnTo>
                  <a:pt x="38746" y="3940"/>
                </a:lnTo>
                <a:lnTo>
                  <a:pt x="77491" y="15761"/>
                </a:lnTo>
                <a:lnTo>
                  <a:pt x="114267" y="34805"/>
                </a:lnTo>
                <a:lnTo>
                  <a:pt x="149729" y="61730"/>
                </a:lnTo>
                <a:lnTo>
                  <a:pt x="181907" y="95222"/>
                </a:lnTo>
                <a:lnTo>
                  <a:pt x="211459" y="134625"/>
                </a:lnTo>
                <a:lnTo>
                  <a:pt x="237071" y="179937"/>
                </a:lnTo>
                <a:lnTo>
                  <a:pt x="258742" y="229847"/>
                </a:lnTo>
                <a:lnTo>
                  <a:pt x="275816" y="283697"/>
                </a:lnTo>
                <a:lnTo>
                  <a:pt x="288294" y="340830"/>
                </a:lnTo>
                <a:lnTo>
                  <a:pt x="296174" y="399934"/>
                </a:lnTo>
                <a:lnTo>
                  <a:pt x="298801" y="459694"/>
                </a:lnTo>
                <a:lnTo>
                  <a:pt x="296174" y="519454"/>
                </a:lnTo>
                <a:lnTo>
                  <a:pt x="288294" y="578558"/>
                </a:lnTo>
                <a:lnTo>
                  <a:pt x="275816" y="635691"/>
                </a:lnTo>
                <a:lnTo>
                  <a:pt x="258742" y="689541"/>
                </a:lnTo>
                <a:lnTo>
                  <a:pt x="237071" y="739450"/>
                </a:lnTo>
                <a:lnTo>
                  <a:pt x="211459" y="784763"/>
                </a:lnTo>
                <a:lnTo>
                  <a:pt x="181907" y="824165"/>
                </a:lnTo>
                <a:lnTo>
                  <a:pt x="149729" y="857657"/>
                </a:lnTo>
                <a:lnTo>
                  <a:pt x="114267" y="884582"/>
                </a:lnTo>
                <a:lnTo>
                  <a:pt x="77491" y="903627"/>
                </a:lnTo>
                <a:lnTo>
                  <a:pt x="38746" y="915447"/>
                </a:lnTo>
                <a:lnTo>
                  <a:pt x="0" y="91938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2" name="S09-mark133"/>
          <p:cNvSpPr/>
          <p:nvPr/>
        </p:nvSpPr>
        <p:spPr>
          <a:xfrm>
            <a:off x="6094476" y="1745673"/>
            <a:ext cx="459694" cy="919388"/>
          </a:xfrm>
          <a:custGeom>
            <a:avLst/>
            <a:gdLst/>
            <a:ahLst/>
            <a:cxnLst/>
            <a:rect l="l" t="t" r="r" b="b"/>
            <a:pathLst>
              <a:path w="459694" h="919388">
                <a:moveTo>
                  <a:pt x="0" y="919388"/>
                </a:moveTo>
                <a:lnTo>
                  <a:pt x="59760" y="915447"/>
                </a:lnTo>
                <a:lnTo>
                  <a:pt x="118864" y="903627"/>
                </a:lnTo>
                <a:lnTo>
                  <a:pt x="175997" y="884582"/>
                </a:lnTo>
                <a:lnTo>
                  <a:pt x="229847" y="857657"/>
                </a:lnTo>
                <a:lnTo>
                  <a:pt x="279757" y="824165"/>
                </a:lnTo>
                <a:lnTo>
                  <a:pt x="325069" y="784763"/>
                </a:lnTo>
                <a:lnTo>
                  <a:pt x="364472" y="739450"/>
                </a:lnTo>
                <a:lnTo>
                  <a:pt x="397964" y="689541"/>
                </a:lnTo>
                <a:lnTo>
                  <a:pt x="424888" y="635691"/>
                </a:lnTo>
                <a:lnTo>
                  <a:pt x="443933" y="578558"/>
                </a:lnTo>
                <a:lnTo>
                  <a:pt x="455754" y="519454"/>
                </a:lnTo>
                <a:lnTo>
                  <a:pt x="459694" y="459694"/>
                </a:lnTo>
                <a:lnTo>
                  <a:pt x="455754" y="399934"/>
                </a:lnTo>
                <a:lnTo>
                  <a:pt x="443933" y="340830"/>
                </a:lnTo>
                <a:lnTo>
                  <a:pt x="424888" y="283697"/>
                </a:lnTo>
                <a:lnTo>
                  <a:pt x="397964" y="229847"/>
                </a:lnTo>
                <a:lnTo>
                  <a:pt x="364472" y="179937"/>
                </a:lnTo>
                <a:lnTo>
                  <a:pt x="325069" y="134625"/>
                </a:lnTo>
                <a:lnTo>
                  <a:pt x="279757" y="95222"/>
                </a:lnTo>
                <a:lnTo>
                  <a:pt x="229847" y="61730"/>
                </a:lnTo>
                <a:lnTo>
                  <a:pt x="175997" y="34805"/>
                </a:lnTo>
                <a:lnTo>
                  <a:pt x="118864" y="15761"/>
                </a:lnTo>
                <a:lnTo>
                  <a:pt x="59760" y="3940"/>
                </a:lnTo>
                <a:lnTo>
                  <a:pt x="0" y="0"/>
                </a:lnTo>
                <a:lnTo>
                  <a:pt x="0" y="0"/>
                </a:lnTo>
                <a:lnTo>
                  <a:pt x="0" y="3940"/>
                </a:lnTo>
                <a:lnTo>
                  <a:pt x="0" y="15761"/>
                </a:lnTo>
                <a:lnTo>
                  <a:pt x="0" y="34805"/>
                </a:lnTo>
                <a:lnTo>
                  <a:pt x="0" y="61730"/>
                </a:lnTo>
                <a:lnTo>
                  <a:pt x="0" y="95222"/>
                </a:lnTo>
                <a:lnTo>
                  <a:pt x="0" y="134625"/>
                </a:lnTo>
                <a:lnTo>
                  <a:pt x="0" y="179937"/>
                </a:lnTo>
                <a:lnTo>
                  <a:pt x="0" y="229847"/>
                </a:lnTo>
                <a:lnTo>
                  <a:pt x="0" y="283697"/>
                </a:lnTo>
                <a:lnTo>
                  <a:pt x="0" y="340830"/>
                </a:lnTo>
                <a:lnTo>
                  <a:pt x="0" y="399934"/>
                </a:lnTo>
                <a:lnTo>
                  <a:pt x="0" y="459694"/>
                </a:lnTo>
                <a:lnTo>
                  <a:pt x="0" y="519454"/>
                </a:lnTo>
                <a:lnTo>
                  <a:pt x="0" y="578558"/>
                </a:lnTo>
                <a:lnTo>
                  <a:pt x="0" y="635691"/>
                </a:lnTo>
                <a:lnTo>
                  <a:pt x="0" y="689541"/>
                </a:lnTo>
                <a:lnTo>
                  <a:pt x="0" y="739450"/>
                </a:lnTo>
                <a:lnTo>
                  <a:pt x="0" y="784763"/>
                </a:lnTo>
                <a:lnTo>
                  <a:pt x="0" y="824165"/>
                </a:lnTo>
                <a:lnTo>
                  <a:pt x="0" y="857657"/>
                </a:lnTo>
                <a:lnTo>
                  <a:pt x="0" y="884582"/>
                </a:lnTo>
                <a:lnTo>
                  <a:pt x="0" y="903627"/>
                </a:lnTo>
                <a:lnTo>
                  <a:pt x="0" y="915447"/>
                </a:lnTo>
                <a:lnTo>
                  <a:pt x="0" y="919388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09-mark134"/>
          <p:cNvSpPr/>
          <p:nvPr/>
        </p:nvSpPr>
        <p:spPr>
          <a:xfrm>
            <a:off x="8918309" y="2927743"/>
            <a:ext cx="919388" cy="91938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09-mark135"/>
          <p:cNvSpPr/>
          <p:nvPr/>
        </p:nvSpPr>
        <p:spPr>
          <a:xfrm>
            <a:off x="5634782" y="1745673"/>
            <a:ext cx="919388" cy="91938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09-mark136"/>
          <p:cNvSpPr/>
          <p:nvPr/>
        </p:nvSpPr>
        <p:spPr>
          <a:xfrm>
            <a:off x="2351255" y="3059084"/>
            <a:ext cx="919388" cy="919388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09-mark137"/>
          <p:cNvSpPr/>
          <p:nvPr/>
        </p:nvSpPr>
        <p:spPr>
          <a:xfrm>
            <a:off x="1497538" y="4372495"/>
            <a:ext cx="919387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9-mark138"/>
          <p:cNvSpPr/>
          <p:nvPr/>
        </p:nvSpPr>
        <p:spPr>
          <a:xfrm flipV="1">
            <a:off x="4781065" y="4076977"/>
            <a:ext cx="0" cy="295517"/>
          </a:xfrm>
          <a:prstGeom prst="line">
            <a:avLst/>
          </a:prstGeom>
          <a:noFill/>
          <a:ln w="31750">
            <a:solidFill>
              <a:srgbClr val="6B8F63"/>
            </a:solidFill>
            <a:prstDash val="solid"/>
          </a:ln>
        </p:spPr>
      </p:sp>
      <p:sp>
        <p:nvSpPr>
          <p:cNvPr id="18" name="S09-mark139"/>
          <p:cNvSpPr/>
          <p:nvPr/>
        </p:nvSpPr>
        <p:spPr>
          <a:xfrm flipH="1" flipV="1">
            <a:off x="6685511" y="2336708"/>
            <a:ext cx="2167128" cy="755211"/>
          </a:xfrm>
          <a:prstGeom prst="line">
            <a:avLst/>
          </a:prstGeom>
          <a:noFill/>
          <a:ln w="31750">
            <a:solidFill>
              <a:srgbClr val="E9762B"/>
            </a:solidFill>
            <a:prstDash val="dash"/>
            <a:tailEnd type="triangle"/>
          </a:ln>
        </p:spPr>
      </p:sp>
      <p:sp>
        <p:nvSpPr>
          <p:cNvPr id="19" name="S09-mark140"/>
          <p:cNvSpPr/>
          <p:nvPr/>
        </p:nvSpPr>
        <p:spPr>
          <a:xfrm flipH="1">
            <a:off x="3336313" y="2336708"/>
            <a:ext cx="2167128" cy="886552"/>
          </a:xfrm>
          <a:prstGeom prst="line">
            <a:avLst/>
          </a:prstGeom>
          <a:noFill/>
          <a:ln w="31750">
            <a:solidFill>
              <a:srgbClr val="E9762B"/>
            </a:solidFill>
            <a:prstDash val="dash"/>
            <a:tailEnd type="triangle"/>
          </a:ln>
        </p:spPr>
      </p:sp>
      <p:sp>
        <p:nvSpPr>
          <p:cNvPr id="20" name="S09-label142"/>
          <p:cNvSpPr txBox="1"/>
          <p:nvPr/>
        </p:nvSpPr>
        <p:spPr>
          <a:xfrm>
            <a:off x="1950027" y="451034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400" dirty="0"/>
          </a:p>
        </p:txBody>
      </p:sp>
      <p:sp>
        <p:nvSpPr>
          <p:cNvPr id="21" name="S09-label144"/>
          <p:cNvSpPr txBox="1"/>
          <p:nvPr/>
        </p:nvSpPr>
        <p:spPr>
          <a:xfrm>
            <a:off x="5890260" y="451034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ko-KR" sz="2400" dirty="0"/>
          </a:p>
        </p:txBody>
      </p:sp>
      <p:sp>
        <p:nvSpPr>
          <p:cNvPr id="22" name="S09-label146"/>
          <p:cNvSpPr txBox="1"/>
          <p:nvPr/>
        </p:nvSpPr>
        <p:spPr>
          <a:xfrm>
            <a:off x="9830493" y="451034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400" dirty="0"/>
          </a:p>
        </p:txBody>
      </p:sp>
      <p:sp>
        <p:nvSpPr>
          <p:cNvPr id="23" name="S09-label148"/>
          <p:cNvSpPr txBox="1"/>
          <p:nvPr/>
        </p:nvSpPr>
        <p:spPr>
          <a:xfrm>
            <a:off x="8852604" y="2448577"/>
            <a:ext cx="105079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3일</a:t>
            </a:r>
            <a:endParaRPr lang="ko-KR" sz="1900" dirty="0"/>
          </a:p>
        </p:txBody>
      </p:sp>
      <p:sp>
        <p:nvSpPr>
          <p:cNvPr id="24" name="S09-label150"/>
          <p:cNvSpPr txBox="1"/>
          <p:nvPr/>
        </p:nvSpPr>
        <p:spPr>
          <a:xfrm>
            <a:off x="5569077" y="1266508"/>
            <a:ext cx="1050798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7일</a:t>
            </a:r>
            <a:endParaRPr lang="ko-KR" sz="1900" dirty="0"/>
          </a:p>
        </p:txBody>
      </p:sp>
      <p:sp>
        <p:nvSpPr>
          <p:cNvPr id="25" name="S09-label152"/>
          <p:cNvSpPr txBox="1"/>
          <p:nvPr/>
        </p:nvSpPr>
        <p:spPr>
          <a:xfrm>
            <a:off x="2205921" y="2579918"/>
            <a:ext cx="121005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15일</a:t>
            </a:r>
            <a:endParaRPr lang="ko-K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달일까요?</a:t>
            </a:r>
            <a:endParaRPr lang="ko-KR" sz="4000" dirty="0"/>
          </a:p>
        </p:txBody>
      </p:sp>
      <p:sp>
        <p:nvSpPr>
          <p:cNvPr id="3" name="S10-card1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④는 그림의 달 이름을 말해요. 밝은 쪽을 먼저 봐요.</a:t>
            </a:r>
            <a:endParaRPr lang="ko-KR" sz="3000" dirty="0"/>
          </a:p>
        </p:txBody>
      </p:sp>
      <p:sp>
        <p:nvSpPr>
          <p:cNvPr id="5" name="S10-chip15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0-text15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7시 남쪽에 상현달.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 뒤 같은 시각에는?</a:t>
            </a:r>
            <a:endParaRPr lang="ko-KR" sz="3000" dirty="0"/>
          </a:p>
        </p:txBody>
      </p:sp>
      <p:sp>
        <p:nvSpPr>
          <p:cNvPr id="7" name="S10-chip15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0-text15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7시 서쪽에 초승달.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 뒤 같은 시각에는?</a:t>
            </a:r>
            <a:endParaRPr lang="ko-KR" sz="3000" dirty="0"/>
          </a:p>
        </p:txBody>
      </p:sp>
      <p:sp>
        <p:nvSpPr>
          <p:cNvPr id="9" name="S10-chip15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0-text160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반이 밝은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반달의 이름은?</a:t>
            </a:r>
            <a:endParaRPr lang="ko-KR" sz="3000" dirty="0"/>
          </a:p>
        </p:txBody>
      </p:sp>
      <p:sp>
        <p:nvSpPr>
          <p:cNvPr id="11" name="S10-chip161"/>
          <p:cNvSpPr txBox="1"/>
          <p:nvPr/>
        </p:nvSpPr>
        <p:spPr>
          <a:xfrm>
            <a:off x="6277356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2" name="S10-figure162" descr="그믐달: 왼쪽이 가늘게 밝은 눈썹 모양"/>
          <p:cNvSpPr/>
          <p:nvPr/>
        </p:nvSpPr>
        <p:spPr>
          <a:xfrm>
            <a:off x="8545068" y="3406140"/>
            <a:ext cx="1623060" cy="162306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S10-mark163"/>
          <p:cNvSpPr/>
          <p:nvPr/>
        </p:nvSpPr>
        <p:spPr>
          <a:xfrm>
            <a:off x="8545068" y="3406140"/>
            <a:ext cx="811530" cy="1623060"/>
          </a:xfrm>
          <a:custGeom>
            <a:avLst/>
            <a:gdLst/>
            <a:ahLst/>
            <a:cxnLst/>
            <a:rect l="l" t="t" r="r" b="b"/>
            <a:pathLst>
              <a:path w="811530" h="1623060">
                <a:moveTo>
                  <a:pt x="811530" y="1623060"/>
                </a:moveTo>
                <a:lnTo>
                  <a:pt x="705220" y="1615756"/>
                </a:lnTo>
                <a:lnTo>
                  <a:pt x="601344" y="1595468"/>
                </a:lnTo>
                <a:lnTo>
                  <a:pt x="500714" y="1561384"/>
                </a:lnTo>
                <a:lnTo>
                  <a:pt x="405765" y="1514315"/>
                </a:lnTo>
                <a:lnTo>
                  <a:pt x="317308" y="1455073"/>
                </a:lnTo>
                <a:lnTo>
                  <a:pt x="237778" y="1385282"/>
                </a:lnTo>
                <a:lnTo>
                  <a:pt x="167987" y="1305752"/>
                </a:lnTo>
                <a:lnTo>
                  <a:pt x="108745" y="1217295"/>
                </a:lnTo>
                <a:lnTo>
                  <a:pt x="61676" y="1122346"/>
                </a:lnTo>
                <a:lnTo>
                  <a:pt x="27592" y="1021716"/>
                </a:lnTo>
                <a:lnTo>
                  <a:pt x="7304" y="917840"/>
                </a:lnTo>
                <a:lnTo>
                  <a:pt x="0" y="811530"/>
                </a:lnTo>
                <a:lnTo>
                  <a:pt x="7304" y="705220"/>
                </a:lnTo>
                <a:lnTo>
                  <a:pt x="27592" y="601344"/>
                </a:lnTo>
                <a:lnTo>
                  <a:pt x="61676" y="500714"/>
                </a:lnTo>
                <a:lnTo>
                  <a:pt x="108745" y="405765"/>
                </a:lnTo>
                <a:lnTo>
                  <a:pt x="167987" y="317308"/>
                </a:lnTo>
                <a:lnTo>
                  <a:pt x="237778" y="237778"/>
                </a:lnTo>
                <a:lnTo>
                  <a:pt x="317308" y="167987"/>
                </a:lnTo>
                <a:lnTo>
                  <a:pt x="405765" y="108745"/>
                </a:lnTo>
                <a:lnTo>
                  <a:pt x="500714" y="61676"/>
                </a:lnTo>
                <a:lnTo>
                  <a:pt x="601344" y="27592"/>
                </a:lnTo>
                <a:lnTo>
                  <a:pt x="705220" y="7304"/>
                </a:lnTo>
                <a:lnTo>
                  <a:pt x="811530" y="0"/>
                </a:lnTo>
                <a:lnTo>
                  <a:pt x="811530" y="0"/>
                </a:lnTo>
                <a:lnTo>
                  <a:pt x="742550" y="7304"/>
                </a:lnTo>
                <a:lnTo>
                  <a:pt x="675193" y="27592"/>
                </a:lnTo>
                <a:lnTo>
                  <a:pt x="609459" y="61676"/>
                </a:lnTo>
                <a:lnTo>
                  <a:pt x="547783" y="108745"/>
                </a:lnTo>
                <a:lnTo>
                  <a:pt x="490164" y="167987"/>
                </a:lnTo>
                <a:lnTo>
                  <a:pt x="438226" y="237778"/>
                </a:lnTo>
                <a:lnTo>
                  <a:pt x="392781" y="317308"/>
                </a:lnTo>
                <a:lnTo>
                  <a:pt x="354639" y="405765"/>
                </a:lnTo>
                <a:lnTo>
                  <a:pt x="323800" y="500714"/>
                </a:lnTo>
                <a:lnTo>
                  <a:pt x="301889" y="601344"/>
                </a:lnTo>
                <a:lnTo>
                  <a:pt x="288905" y="705220"/>
                </a:lnTo>
                <a:lnTo>
                  <a:pt x="284035" y="811530"/>
                </a:lnTo>
                <a:lnTo>
                  <a:pt x="288905" y="917840"/>
                </a:lnTo>
                <a:lnTo>
                  <a:pt x="301889" y="1021716"/>
                </a:lnTo>
                <a:lnTo>
                  <a:pt x="323800" y="1122346"/>
                </a:lnTo>
                <a:lnTo>
                  <a:pt x="354639" y="1217295"/>
                </a:lnTo>
                <a:lnTo>
                  <a:pt x="392781" y="1305752"/>
                </a:lnTo>
                <a:lnTo>
                  <a:pt x="438226" y="1385282"/>
                </a:lnTo>
                <a:lnTo>
                  <a:pt x="490164" y="1455073"/>
                </a:lnTo>
                <a:lnTo>
                  <a:pt x="547783" y="1514315"/>
                </a:lnTo>
                <a:lnTo>
                  <a:pt x="609459" y="1561384"/>
                </a:lnTo>
                <a:lnTo>
                  <a:pt x="675193" y="1595468"/>
                </a:lnTo>
                <a:lnTo>
                  <a:pt x="742550" y="1615756"/>
                </a:lnTo>
                <a:lnTo>
                  <a:pt x="811530" y="162306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4" name="S10-mark164"/>
          <p:cNvSpPr/>
          <p:nvPr/>
        </p:nvSpPr>
        <p:spPr>
          <a:xfrm>
            <a:off x="8545068" y="3406140"/>
            <a:ext cx="1623060" cy="162306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오늘부터 달을 관찰해요</a:t>
            </a:r>
            <a:endParaRPr lang="ko-KR" sz="4000" dirty="0"/>
          </a:p>
        </p:txBody>
      </p:sp>
      <p:sp>
        <p:nvSpPr>
          <p:cNvPr id="3" name="S11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해는 절대 보지 않아요. 밤에는 어른과 함께 관찰해요.</a:t>
            </a:r>
            <a:endParaRPr lang="ko-KR" sz="3000" dirty="0"/>
          </a:p>
        </p:txBody>
      </p:sp>
      <p:sp>
        <p:nvSpPr>
          <p:cNvPr id="5" name="S11-card167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168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곳, 같은 시각에 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방향(동·남·서)을 써요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흐린 날도 기록해요</a:t>
            </a:r>
            <a:endParaRPr lang="ko-KR" sz="3000" dirty="0"/>
          </a:p>
        </p:txBody>
      </p:sp>
      <p:sp>
        <p:nvSpPr>
          <p:cNvPr id="7" name="S11-stepno169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1-text170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달력에서 음력 날짜를 확인해요.</a:t>
            </a:r>
            <a:endParaRPr lang="ko-KR" sz="2400" dirty="0"/>
          </a:p>
        </p:txBody>
      </p:sp>
      <p:sp>
        <p:nvSpPr>
          <p:cNvPr id="9" name="S11-stepno171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1-text172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7시쯤, 늘 같은 곳에 서요.</a:t>
            </a:r>
            <a:endParaRPr lang="ko-KR" sz="2400" dirty="0"/>
          </a:p>
        </p:txBody>
      </p:sp>
      <p:sp>
        <p:nvSpPr>
          <p:cNvPr id="11" name="S11-stepno173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1-text174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건물·나무와 함께 달을 그려요.</a:t>
            </a:r>
            <a:endParaRPr lang="ko-KR" sz="2400" dirty="0"/>
          </a:p>
        </p:txBody>
      </p:sp>
      <p:sp>
        <p:nvSpPr>
          <p:cNvPr id="13" name="S11-stepno175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1-text176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2~3일마다 날짜·시각·방향을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17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2-text17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보름달 다음에 보이는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반달의 이름은?</a:t>
            </a:r>
            <a:endParaRPr lang="ko-KR" sz="3000" dirty="0"/>
          </a:p>
        </p:txBody>
      </p:sp>
      <p:sp>
        <p:nvSpPr>
          <p:cNvPr id="5" name="S12-chip17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2-text18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왼쪽이 가늘게 밝은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눈썹 모양 달의 이름은?</a:t>
            </a:r>
            <a:endParaRPr lang="ko-KR" sz="3000" dirty="0"/>
          </a:p>
        </p:txBody>
      </p:sp>
      <p:sp>
        <p:nvSpPr>
          <p:cNvPr id="7" name="S12-chip18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2-text18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시각에 여러 날 보면 달은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쪽에서 어느 쪽으로 옮겨 가나요?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초승달은 어느 것일까요?</a:t>
            </a:r>
            <a:endParaRPr lang="ko-KR" sz="4000" dirty="0"/>
          </a:p>
        </p:txBody>
      </p:sp>
      <p:sp>
        <p:nvSpPr>
          <p:cNvPr id="3" name="S14-text1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음력 3일 저녁, 서쪽 하늘에 뜬 달이에요.</a:t>
            </a:r>
            <a:endParaRPr lang="ko-KR" sz="3000" dirty="0"/>
          </a:p>
        </p:txBody>
      </p:sp>
      <p:sp>
        <p:nvSpPr>
          <p:cNvPr id="4" name="S14-card1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그렇게 생각한 까닭을 말해요.</a:t>
            </a:r>
            <a:endParaRPr lang="ko-KR" sz="3000" dirty="0"/>
          </a:p>
        </p:txBody>
      </p:sp>
      <p:sp>
        <p:nvSpPr>
          <p:cNvPr id="6" name="S14-chip18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figure187" descr="그믐달: 왼쪽이 가늘게 밝은 눈썹 모양"/>
          <p:cNvSpPr/>
          <p:nvPr/>
        </p:nvSpPr>
        <p:spPr>
          <a:xfrm>
            <a:off x="1498092" y="3140964"/>
            <a:ext cx="1554480" cy="155448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8" name="S14-mark188"/>
          <p:cNvSpPr/>
          <p:nvPr/>
        </p:nvSpPr>
        <p:spPr>
          <a:xfrm>
            <a:off x="1498092" y="3140964"/>
            <a:ext cx="777240" cy="1554480"/>
          </a:xfrm>
          <a:custGeom>
            <a:avLst/>
            <a:gdLst/>
            <a:ahLst/>
            <a:cxnLst/>
            <a:rect l="l" t="t" r="r" b="b"/>
            <a:pathLst>
              <a:path w="777240" h="1554480">
                <a:moveTo>
                  <a:pt x="777240" y="1554480"/>
                </a:moveTo>
                <a:lnTo>
                  <a:pt x="675422" y="1547485"/>
                </a:lnTo>
                <a:lnTo>
                  <a:pt x="575935" y="1528054"/>
                </a:lnTo>
                <a:lnTo>
                  <a:pt x="479557" y="1495410"/>
                </a:lnTo>
                <a:lnTo>
                  <a:pt x="388620" y="1450330"/>
                </a:lnTo>
                <a:lnTo>
                  <a:pt x="303901" y="1393591"/>
                </a:lnTo>
                <a:lnTo>
                  <a:pt x="227731" y="1326749"/>
                </a:lnTo>
                <a:lnTo>
                  <a:pt x="160889" y="1250579"/>
                </a:lnTo>
                <a:lnTo>
                  <a:pt x="104150" y="1165860"/>
                </a:lnTo>
                <a:lnTo>
                  <a:pt x="59070" y="1074923"/>
                </a:lnTo>
                <a:lnTo>
                  <a:pt x="26426" y="978545"/>
                </a:lnTo>
                <a:lnTo>
                  <a:pt x="6995" y="879058"/>
                </a:lnTo>
                <a:lnTo>
                  <a:pt x="0" y="777240"/>
                </a:lnTo>
                <a:lnTo>
                  <a:pt x="6995" y="675422"/>
                </a:lnTo>
                <a:lnTo>
                  <a:pt x="26426" y="575935"/>
                </a:lnTo>
                <a:lnTo>
                  <a:pt x="59070" y="479557"/>
                </a:lnTo>
                <a:lnTo>
                  <a:pt x="104150" y="388620"/>
                </a:lnTo>
                <a:lnTo>
                  <a:pt x="160889" y="303901"/>
                </a:lnTo>
                <a:lnTo>
                  <a:pt x="227731" y="227731"/>
                </a:lnTo>
                <a:lnTo>
                  <a:pt x="303901" y="160889"/>
                </a:lnTo>
                <a:lnTo>
                  <a:pt x="388620" y="104150"/>
                </a:lnTo>
                <a:lnTo>
                  <a:pt x="479557" y="59070"/>
                </a:lnTo>
                <a:lnTo>
                  <a:pt x="575935" y="26426"/>
                </a:lnTo>
                <a:lnTo>
                  <a:pt x="675422" y="6995"/>
                </a:lnTo>
                <a:lnTo>
                  <a:pt x="777240" y="0"/>
                </a:lnTo>
                <a:lnTo>
                  <a:pt x="777240" y="0"/>
                </a:lnTo>
                <a:lnTo>
                  <a:pt x="711175" y="6995"/>
                </a:lnTo>
                <a:lnTo>
                  <a:pt x="646664" y="26426"/>
                </a:lnTo>
                <a:lnTo>
                  <a:pt x="583707" y="59070"/>
                </a:lnTo>
                <a:lnTo>
                  <a:pt x="524637" y="104150"/>
                </a:lnTo>
                <a:lnTo>
                  <a:pt x="469453" y="160889"/>
                </a:lnTo>
                <a:lnTo>
                  <a:pt x="419710" y="227731"/>
                </a:lnTo>
                <a:lnTo>
                  <a:pt x="376184" y="303901"/>
                </a:lnTo>
                <a:lnTo>
                  <a:pt x="339654" y="388620"/>
                </a:lnTo>
                <a:lnTo>
                  <a:pt x="310119" y="479557"/>
                </a:lnTo>
                <a:lnTo>
                  <a:pt x="289133" y="575935"/>
                </a:lnTo>
                <a:lnTo>
                  <a:pt x="276697" y="675422"/>
                </a:lnTo>
                <a:lnTo>
                  <a:pt x="272034" y="777240"/>
                </a:lnTo>
                <a:lnTo>
                  <a:pt x="276697" y="879058"/>
                </a:lnTo>
                <a:lnTo>
                  <a:pt x="289133" y="978545"/>
                </a:lnTo>
                <a:lnTo>
                  <a:pt x="310119" y="1074923"/>
                </a:lnTo>
                <a:lnTo>
                  <a:pt x="339654" y="1165860"/>
                </a:lnTo>
                <a:lnTo>
                  <a:pt x="376184" y="1250579"/>
                </a:lnTo>
                <a:lnTo>
                  <a:pt x="419710" y="1326749"/>
                </a:lnTo>
                <a:lnTo>
                  <a:pt x="469453" y="1393591"/>
                </a:lnTo>
                <a:lnTo>
                  <a:pt x="524637" y="1450330"/>
                </a:lnTo>
                <a:lnTo>
                  <a:pt x="583707" y="1495410"/>
                </a:lnTo>
                <a:lnTo>
                  <a:pt x="646664" y="1528054"/>
                </a:lnTo>
                <a:lnTo>
                  <a:pt x="711175" y="1547485"/>
                </a:lnTo>
                <a:lnTo>
                  <a:pt x="777240" y="155448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9" name="S14-mark189"/>
          <p:cNvSpPr/>
          <p:nvPr/>
        </p:nvSpPr>
        <p:spPr>
          <a:xfrm>
            <a:off x="1498092" y="3140964"/>
            <a:ext cx="1554480" cy="155448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14-chip19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1" name="S14-figure191" descr="초승달: 오른쪽이 가늘게 밝은 눈썹 모양"/>
          <p:cNvSpPr/>
          <p:nvPr/>
        </p:nvSpPr>
        <p:spPr>
          <a:xfrm>
            <a:off x="5317236" y="3140964"/>
            <a:ext cx="1554480" cy="155448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2" name="S14-mark192"/>
          <p:cNvSpPr/>
          <p:nvPr/>
        </p:nvSpPr>
        <p:spPr>
          <a:xfrm>
            <a:off x="6094476" y="3140964"/>
            <a:ext cx="777240" cy="1554480"/>
          </a:xfrm>
          <a:custGeom>
            <a:avLst/>
            <a:gdLst/>
            <a:ahLst/>
            <a:cxnLst/>
            <a:rect l="l" t="t" r="r" b="b"/>
            <a:pathLst>
              <a:path w="777240" h="1554480">
                <a:moveTo>
                  <a:pt x="0" y="1554480"/>
                </a:moveTo>
                <a:lnTo>
                  <a:pt x="101818" y="1547485"/>
                </a:lnTo>
                <a:lnTo>
                  <a:pt x="201305" y="1528054"/>
                </a:lnTo>
                <a:lnTo>
                  <a:pt x="297683" y="1495410"/>
                </a:lnTo>
                <a:lnTo>
                  <a:pt x="388620" y="1450330"/>
                </a:lnTo>
                <a:lnTo>
                  <a:pt x="473339" y="1393591"/>
                </a:lnTo>
                <a:lnTo>
                  <a:pt x="549509" y="1326749"/>
                </a:lnTo>
                <a:lnTo>
                  <a:pt x="616351" y="1250579"/>
                </a:lnTo>
                <a:lnTo>
                  <a:pt x="673090" y="1165860"/>
                </a:lnTo>
                <a:lnTo>
                  <a:pt x="718170" y="1074923"/>
                </a:lnTo>
                <a:lnTo>
                  <a:pt x="750814" y="978545"/>
                </a:lnTo>
                <a:lnTo>
                  <a:pt x="770245" y="879058"/>
                </a:lnTo>
                <a:lnTo>
                  <a:pt x="777240" y="777240"/>
                </a:lnTo>
                <a:lnTo>
                  <a:pt x="770245" y="675422"/>
                </a:lnTo>
                <a:lnTo>
                  <a:pt x="750814" y="575935"/>
                </a:lnTo>
                <a:lnTo>
                  <a:pt x="718170" y="479557"/>
                </a:lnTo>
                <a:lnTo>
                  <a:pt x="673090" y="388620"/>
                </a:lnTo>
                <a:lnTo>
                  <a:pt x="616351" y="303901"/>
                </a:lnTo>
                <a:lnTo>
                  <a:pt x="549509" y="227731"/>
                </a:lnTo>
                <a:lnTo>
                  <a:pt x="473339" y="160889"/>
                </a:lnTo>
                <a:lnTo>
                  <a:pt x="388620" y="104150"/>
                </a:lnTo>
                <a:lnTo>
                  <a:pt x="297683" y="59070"/>
                </a:lnTo>
                <a:lnTo>
                  <a:pt x="201305" y="26426"/>
                </a:lnTo>
                <a:lnTo>
                  <a:pt x="101818" y="6995"/>
                </a:lnTo>
                <a:lnTo>
                  <a:pt x="0" y="0"/>
                </a:lnTo>
                <a:lnTo>
                  <a:pt x="0" y="0"/>
                </a:lnTo>
                <a:lnTo>
                  <a:pt x="66065" y="6995"/>
                </a:lnTo>
                <a:lnTo>
                  <a:pt x="130576" y="26426"/>
                </a:lnTo>
                <a:lnTo>
                  <a:pt x="193533" y="59070"/>
                </a:lnTo>
                <a:lnTo>
                  <a:pt x="252603" y="104150"/>
                </a:lnTo>
                <a:lnTo>
                  <a:pt x="307787" y="160889"/>
                </a:lnTo>
                <a:lnTo>
                  <a:pt x="357530" y="227731"/>
                </a:lnTo>
                <a:lnTo>
                  <a:pt x="401056" y="303901"/>
                </a:lnTo>
                <a:lnTo>
                  <a:pt x="437586" y="388620"/>
                </a:lnTo>
                <a:lnTo>
                  <a:pt x="467121" y="479557"/>
                </a:lnTo>
                <a:lnTo>
                  <a:pt x="488107" y="575935"/>
                </a:lnTo>
                <a:lnTo>
                  <a:pt x="500543" y="675422"/>
                </a:lnTo>
                <a:lnTo>
                  <a:pt x="505206" y="777240"/>
                </a:lnTo>
                <a:lnTo>
                  <a:pt x="500543" y="879058"/>
                </a:lnTo>
                <a:lnTo>
                  <a:pt x="488107" y="978545"/>
                </a:lnTo>
                <a:lnTo>
                  <a:pt x="467121" y="1074923"/>
                </a:lnTo>
                <a:lnTo>
                  <a:pt x="437586" y="1165860"/>
                </a:lnTo>
                <a:lnTo>
                  <a:pt x="401056" y="1250579"/>
                </a:lnTo>
                <a:lnTo>
                  <a:pt x="357530" y="1326749"/>
                </a:lnTo>
                <a:lnTo>
                  <a:pt x="307787" y="1393591"/>
                </a:lnTo>
                <a:lnTo>
                  <a:pt x="252603" y="1450330"/>
                </a:lnTo>
                <a:lnTo>
                  <a:pt x="193533" y="1495410"/>
                </a:lnTo>
                <a:lnTo>
                  <a:pt x="130576" y="1528054"/>
                </a:lnTo>
                <a:lnTo>
                  <a:pt x="66065" y="1547485"/>
                </a:lnTo>
                <a:lnTo>
                  <a:pt x="0" y="155448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3" name="S14-mark193"/>
          <p:cNvSpPr/>
          <p:nvPr/>
        </p:nvSpPr>
        <p:spPr>
          <a:xfrm>
            <a:off x="5317236" y="3140964"/>
            <a:ext cx="1554480" cy="155448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14-chip19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5" name="S14-figure195" descr="하현달: 왼쪽 반이 밝은 반달"/>
          <p:cNvSpPr/>
          <p:nvPr/>
        </p:nvSpPr>
        <p:spPr>
          <a:xfrm>
            <a:off x="9136380" y="3140964"/>
            <a:ext cx="1554480" cy="1554480"/>
          </a:xfrm>
          <a:prstGeom prst="ellipse">
            <a:avLst/>
          </a:prstGeom>
          <a:solidFill>
            <a:srgbClr val="CBD5E1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6" name="S14-mark196"/>
          <p:cNvSpPr/>
          <p:nvPr/>
        </p:nvSpPr>
        <p:spPr>
          <a:xfrm>
            <a:off x="9136380" y="3140964"/>
            <a:ext cx="777240" cy="1554480"/>
          </a:xfrm>
          <a:custGeom>
            <a:avLst/>
            <a:gdLst/>
            <a:ahLst/>
            <a:cxnLst/>
            <a:rect l="l" t="t" r="r" b="b"/>
            <a:pathLst>
              <a:path w="777240" h="1554480">
                <a:moveTo>
                  <a:pt x="777240" y="1554480"/>
                </a:moveTo>
                <a:lnTo>
                  <a:pt x="675422" y="1547485"/>
                </a:lnTo>
                <a:lnTo>
                  <a:pt x="575935" y="1528054"/>
                </a:lnTo>
                <a:lnTo>
                  <a:pt x="479557" y="1495410"/>
                </a:lnTo>
                <a:lnTo>
                  <a:pt x="388620" y="1450330"/>
                </a:lnTo>
                <a:lnTo>
                  <a:pt x="303901" y="1393591"/>
                </a:lnTo>
                <a:lnTo>
                  <a:pt x="227731" y="1326749"/>
                </a:lnTo>
                <a:lnTo>
                  <a:pt x="160889" y="1250579"/>
                </a:lnTo>
                <a:lnTo>
                  <a:pt x="104150" y="1165860"/>
                </a:lnTo>
                <a:lnTo>
                  <a:pt x="59070" y="1074923"/>
                </a:lnTo>
                <a:lnTo>
                  <a:pt x="26426" y="978545"/>
                </a:lnTo>
                <a:lnTo>
                  <a:pt x="6995" y="879058"/>
                </a:lnTo>
                <a:lnTo>
                  <a:pt x="0" y="777240"/>
                </a:lnTo>
                <a:lnTo>
                  <a:pt x="6995" y="675422"/>
                </a:lnTo>
                <a:lnTo>
                  <a:pt x="26426" y="575935"/>
                </a:lnTo>
                <a:lnTo>
                  <a:pt x="59070" y="479557"/>
                </a:lnTo>
                <a:lnTo>
                  <a:pt x="104150" y="388620"/>
                </a:lnTo>
                <a:lnTo>
                  <a:pt x="160889" y="303901"/>
                </a:lnTo>
                <a:lnTo>
                  <a:pt x="227731" y="227731"/>
                </a:lnTo>
                <a:lnTo>
                  <a:pt x="303901" y="160889"/>
                </a:lnTo>
                <a:lnTo>
                  <a:pt x="388620" y="104150"/>
                </a:lnTo>
                <a:lnTo>
                  <a:pt x="479557" y="59070"/>
                </a:lnTo>
                <a:lnTo>
                  <a:pt x="575935" y="26426"/>
                </a:lnTo>
                <a:lnTo>
                  <a:pt x="675422" y="6995"/>
                </a:lnTo>
                <a:lnTo>
                  <a:pt x="777240" y="0"/>
                </a:lnTo>
                <a:lnTo>
                  <a:pt x="777240" y="0"/>
                </a:lnTo>
                <a:lnTo>
                  <a:pt x="777240" y="6995"/>
                </a:lnTo>
                <a:lnTo>
                  <a:pt x="777240" y="26426"/>
                </a:lnTo>
                <a:lnTo>
                  <a:pt x="777240" y="59070"/>
                </a:lnTo>
                <a:lnTo>
                  <a:pt x="777240" y="104150"/>
                </a:lnTo>
                <a:lnTo>
                  <a:pt x="777240" y="160889"/>
                </a:lnTo>
                <a:lnTo>
                  <a:pt x="777240" y="227731"/>
                </a:lnTo>
                <a:lnTo>
                  <a:pt x="777240" y="303901"/>
                </a:lnTo>
                <a:lnTo>
                  <a:pt x="777240" y="388620"/>
                </a:lnTo>
                <a:lnTo>
                  <a:pt x="777240" y="479557"/>
                </a:lnTo>
                <a:lnTo>
                  <a:pt x="777240" y="575935"/>
                </a:lnTo>
                <a:lnTo>
                  <a:pt x="777240" y="675422"/>
                </a:lnTo>
                <a:lnTo>
                  <a:pt x="777240" y="777240"/>
                </a:lnTo>
                <a:lnTo>
                  <a:pt x="777240" y="879058"/>
                </a:lnTo>
                <a:lnTo>
                  <a:pt x="777240" y="978545"/>
                </a:lnTo>
                <a:lnTo>
                  <a:pt x="777240" y="1074923"/>
                </a:lnTo>
                <a:lnTo>
                  <a:pt x="777240" y="1165860"/>
                </a:lnTo>
                <a:lnTo>
                  <a:pt x="777240" y="1250579"/>
                </a:lnTo>
                <a:lnTo>
                  <a:pt x="777240" y="1326749"/>
                </a:lnTo>
                <a:lnTo>
                  <a:pt x="777240" y="1393591"/>
                </a:lnTo>
                <a:lnTo>
                  <a:pt x="777240" y="1450330"/>
                </a:lnTo>
                <a:lnTo>
                  <a:pt x="777240" y="1495410"/>
                </a:lnTo>
                <a:lnTo>
                  <a:pt x="777240" y="1528054"/>
                </a:lnTo>
                <a:lnTo>
                  <a:pt x="777240" y="1547485"/>
                </a:lnTo>
                <a:lnTo>
                  <a:pt x="777240" y="155448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17" name="S14-mark197"/>
          <p:cNvSpPr/>
          <p:nvPr/>
        </p:nvSpPr>
        <p:spPr>
          <a:xfrm>
            <a:off x="9136380" y="3140964"/>
            <a:ext cx="1554480" cy="1554480"/>
          </a:xfrm>
          <a:prstGeom prst="ellips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98"/>
          <p:cNvSpPr/>
          <p:nvPr/>
        </p:nvSpPr>
        <p:spPr>
          <a:xfrm>
            <a:off x="548640" y="1325880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99"/>
          <p:cNvSpPr txBox="1"/>
          <p:nvPr/>
        </p:nvSpPr>
        <p:spPr>
          <a:xfrm>
            <a:off x="822960" y="1463040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초승달 → 상현달 → 보름달 → 하현달 → 그믐달, 약 한 달마다 되풀이돼요.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시각에 보면 달은 서쪽에서 동쪽으로 옮겨 가요.</a:t>
            </a:r>
            <a:endParaRPr lang="ko-KR" sz="3000" dirty="0"/>
          </a:p>
        </p:txBody>
      </p:sp>
      <p:sp>
        <p:nvSpPr>
          <p:cNvPr id="5" name="S15-chip200"/>
          <p:cNvSpPr txBox="1"/>
          <p:nvPr/>
        </p:nvSpPr>
        <p:spPr>
          <a:xfrm>
            <a:off x="548640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곳, 같은 시각에 관찰하기</a:t>
            </a:r>
            <a:endParaRPr lang="ko-KR" sz="2400" dirty="0"/>
          </a:p>
        </p:txBody>
      </p:sp>
      <p:sp>
        <p:nvSpPr>
          <p:cNvPr id="6" name="S15-chip201"/>
          <p:cNvSpPr txBox="1"/>
          <p:nvPr/>
        </p:nvSpPr>
        <p:spPr>
          <a:xfrm>
            <a:off x="6208776" y="327812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구름이 가려서 바뀐다고 생각하기</a:t>
            </a:r>
            <a:endParaRPr lang="ko-KR" sz="2400" dirty="0"/>
          </a:p>
        </p:txBody>
      </p:sp>
      <p:sp>
        <p:nvSpPr>
          <p:cNvPr id="7" name="S15-text202"/>
          <p:cNvSpPr txBox="1"/>
          <p:nvPr/>
        </p:nvSpPr>
        <p:spPr>
          <a:xfrm>
            <a:off x="548640" y="410108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203"/>
          <p:cNvSpPr txBox="1"/>
          <p:nvPr/>
        </p:nvSpPr>
        <p:spPr>
          <a:xfrm>
            <a:off x="548640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오른쪽 반이 밝은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반달의 이름은?</a:t>
            </a:r>
            <a:endParaRPr lang="ko-KR" sz="2400" dirty="0"/>
          </a:p>
        </p:txBody>
      </p:sp>
      <p:sp>
        <p:nvSpPr>
          <p:cNvPr id="9" name="S15-text204"/>
          <p:cNvSpPr txBox="1"/>
          <p:nvPr/>
        </p:nvSpPr>
        <p:spPr>
          <a:xfrm>
            <a:off x="4322064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보름달 다음에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보이는 반달은?</a:t>
            </a:r>
            <a:endParaRPr lang="ko-KR" sz="2400" dirty="0"/>
          </a:p>
        </p:txBody>
      </p:sp>
      <p:sp>
        <p:nvSpPr>
          <p:cNvPr id="10" name="S15-text205"/>
          <p:cNvSpPr txBox="1"/>
          <p:nvPr/>
        </p:nvSpPr>
        <p:spPr>
          <a:xfrm>
            <a:off x="8095488" y="4604004"/>
            <a:ext cx="3544824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같은 시각, 달은 어느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쪽으로 옮겨 가나요?</a:t>
            </a:r>
            <a:endParaRPr lang="ko-KR" sz="2400" dirty="0"/>
          </a:p>
        </p:txBody>
      </p:sp>
      <p:sp>
        <p:nvSpPr>
          <p:cNvPr id="11" name="S15-text20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태양계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동서남북 찾기</a:t>
            </a:r>
            <a:endParaRPr lang="ko-KR" sz="4000" dirty="0"/>
          </a:p>
        </p:txBody>
      </p:sp>
      <p:sp>
        <p:nvSpPr>
          <p:cNvPr id="3" name="S16-figure207" descr="남쪽을 바라보고 선 사람(가운데)을 위에서 본 그림: 앞은 남, 뒤는 북, 왼쪽은 동, 오른쪽은 서"/>
          <p:cNvSpPr/>
          <p:nvPr/>
        </p:nvSpPr>
        <p:spPr>
          <a:xfrm>
            <a:off x="2930444" y="3472226"/>
            <a:ext cx="599348" cy="599348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16-mark208"/>
          <p:cNvSpPr/>
          <p:nvPr/>
        </p:nvSpPr>
        <p:spPr>
          <a:xfrm flipV="1">
            <a:off x="3230118" y="1888236"/>
            <a:ext cx="0" cy="188366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5" name="S16-mark209"/>
          <p:cNvSpPr/>
          <p:nvPr/>
        </p:nvSpPr>
        <p:spPr>
          <a:xfrm>
            <a:off x="3230118" y="3771900"/>
            <a:ext cx="0" cy="188366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" name="S16-mark210"/>
          <p:cNvSpPr/>
          <p:nvPr/>
        </p:nvSpPr>
        <p:spPr>
          <a:xfrm flipH="1">
            <a:off x="1346454" y="3771900"/>
            <a:ext cx="1883664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7" name="S16-mark211"/>
          <p:cNvSpPr/>
          <p:nvPr/>
        </p:nvSpPr>
        <p:spPr>
          <a:xfrm>
            <a:off x="3230118" y="3771900"/>
            <a:ext cx="1883664" cy="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8" name="S16-label213"/>
          <p:cNvSpPr txBox="1"/>
          <p:nvPr/>
        </p:nvSpPr>
        <p:spPr>
          <a:xfrm>
            <a:off x="2693670" y="1226820"/>
            <a:ext cx="1072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남(앞)</a:t>
            </a:r>
            <a:endParaRPr lang="ko-KR" sz="2400" dirty="0"/>
          </a:p>
        </p:txBody>
      </p:sp>
      <p:sp>
        <p:nvSpPr>
          <p:cNvPr id="9" name="S16-label215"/>
          <p:cNvSpPr txBox="1"/>
          <p:nvPr/>
        </p:nvSpPr>
        <p:spPr>
          <a:xfrm>
            <a:off x="2693670" y="5935980"/>
            <a:ext cx="1072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북(뒤)</a:t>
            </a:r>
            <a:endParaRPr lang="ko-KR" sz="2400" dirty="0"/>
          </a:p>
        </p:txBody>
      </p:sp>
      <p:sp>
        <p:nvSpPr>
          <p:cNvPr id="10" name="S16-label217"/>
          <p:cNvSpPr txBox="1"/>
          <p:nvPr/>
        </p:nvSpPr>
        <p:spPr>
          <a:xfrm>
            <a:off x="457269" y="35814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400" dirty="0"/>
          </a:p>
        </p:txBody>
      </p:sp>
      <p:sp>
        <p:nvSpPr>
          <p:cNvPr id="11" name="S16-label219"/>
          <p:cNvSpPr txBox="1"/>
          <p:nvPr/>
        </p:nvSpPr>
        <p:spPr>
          <a:xfrm>
            <a:off x="5594535" y="35814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400" dirty="0"/>
          </a:p>
        </p:txBody>
      </p:sp>
      <p:sp>
        <p:nvSpPr>
          <p:cNvPr id="12" name="S16-card220"/>
          <p:cNvSpPr/>
          <p:nvPr/>
        </p:nvSpPr>
        <p:spPr>
          <a:xfrm>
            <a:off x="6277356" y="224028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6-cardtext221"/>
          <p:cNvSpPr txBox="1"/>
          <p:nvPr/>
        </p:nvSpPr>
        <p:spPr>
          <a:xfrm>
            <a:off x="6551676" y="237744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뜨는 쪽이 동쪽</a:t>
            </a:r>
            <a:endParaRPr lang="ko-KR" sz="3000" dirty="0"/>
          </a:p>
        </p:txBody>
      </p:sp>
      <p:sp>
        <p:nvSpPr>
          <p:cNvPr id="14" name="S16-card222"/>
          <p:cNvSpPr/>
          <p:nvPr/>
        </p:nvSpPr>
        <p:spPr>
          <a:xfrm>
            <a:off x="6277356" y="33375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16-cardtext223"/>
          <p:cNvSpPr txBox="1"/>
          <p:nvPr/>
        </p:nvSpPr>
        <p:spPr>
          <a:xfrm>
            <a:off x="6551676" y="34747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지는 쪽이 서쪽</a:t>
            </a:r>
            <a:endParaRPr lang="ko-KR" sz="3000" dirty="0"/>
          </a:p>
        </p:txBody>
      </p:sp>
      <p:sp>
        <p:nvSpPr>
          <p:cNvPr id="16" name="S16-card224"/>
          <p:cNvSpPr/>
          <p:nvPr/>
        </p:nvSpPr>
        <p:spPr>
          <a:xfrm>
            <a:off x="6277356" y="44348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6-cardtext225"/>
          <p:cNvSpPr txBox="1"/>
          <p:nvPr/>
        </p:nvSpPr>
        <p:spPr>
          <a:xfrm>
            <a:off x="6551676" y="45720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남쪽을 보면 왼쪽이 동쪽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달의 모양 변화</dc:title>
  <dc:subject>KR22-G04-SCI-MOON-L01</dc:subject>
  <dc:creator>education-ppt</dc:creator>
  <cp:lastModifiedBy>education-ppt</cp:lastModifiedBy>
  <cp:revision>1</cp:revision>
  <dcterms:created xsi:type="dcterms:W3CDTF">2026-10-26T13:02:15Z</dcterms:created>
  <dcterms:modified xsi:type="dcterms:W3CDTF">2026-10-26T13:02:15Z</dcterms:modified>
</cp:coreProperties>
</file>