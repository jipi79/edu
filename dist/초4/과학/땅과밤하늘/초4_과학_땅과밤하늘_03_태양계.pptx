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817dc75-c581-fef0-fcd6-672c39a56996}">
          <p14:sldIdLst>
            <p14:sldId id="256"/>
            <p14:sldId id="257"/>
          </p14:sldIdLst>
        </p14:section>
        <p14:section name="개념" id="{65ba09e7-fff3-6ea7-72ed-11c4db871eb7}">
          <p14:sldIdLst>
            <p14:sldId id="258"/>
            <p14:sldId id="259"/>
            <p14:sldId id="263"/>
            <p14:sldId id="268"/>
          </p14:sldIdLst>
        </p14:section>
        <p14:section name="연습" id="{2f48cf19-3472-a7b5-531d-04b664a86589}">
          <p14:sldIdLst>
            <p14:sldId id="260"/>
            <p14:sldId id="261"/>
            <p14:sldId id="262"/>
            <p14:sldId id="264"/>
            <p14:sldId id="265"/>
            <p14:sldId id="266"/>
            <p14:sldId id="267"/>
            <p14:sldId id="269"/>
          </p14:sldIdLst>
        </p14:section>
        <p14:section name="개념" id="{38cc3798-74d6-7574-2963-c2cab7a58b96}">
          <p14:sldIdLst/>
        </p14:section>
        <p14:section name="연습" id="{73173079-af84-1e56-5cc1-0518dc7c9aaa}">
          <p14:sldIdLst/>
        </p14:section>
        <p14:section name="개념" id="{51255581-6d26-b435-9171-fb90459cccd4}">
          <p14:sldIdLst/>
        </p14:section>
        <p14:section name="연습" id="{12d1a223-fb14-8c72-f20c-2a933e538ef5}">
          <p14:sldIdLst/>
        </p14:section>
        <p14:section name="확인" id="{ca444513-7e4c-03c5-3634-c0e01f404e69}">
          <p14:sldIdLst>
            <p14:sldId id="270"/>
            <p14:sldId id="271"/>
            <p14:sldId id="272"/>
          </p14:sldIdLst>
        </p14:section>
        <p14:section name="정리" id="{09937ffa-d7d1-7987-ebda-f52df898492d}">
          <p14:sldIdLst>
            <p14:sldId id="273"/>
          </p14:sldIdLst>
        </p14:section>
        <p14:section name="보충" id="{06778670-136f-757b-8829-a0ee56479997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태양과 행성에 대한 궁금증을 갖게 합니다.
시간: 약 2분
이렇게 말해 보세요
- “우리가 사는 지구는 태양 주위를 도는 행성이야. 지구 말고 어떤 행성을 알고 있어?”
- “오늘은 종이 띠와 휴지로 행성의 크기와 거리를 직접 만들어 비교해 볼 거야. 지구는 큰 편일까, 작은 편일까?”
예상 답
- “화성이요.” “토성이요, 고리가 있어요.” “지구가 제일 클 것 같아요.” 어떤 답이든 괜찮습니다.
막히면
- 행성 이름을 모르면 “오늘 여덟 개를 다 알게 될 거야.”라고 하고 넘어갑니다.
주의
- 종이 띠(S06)와 휴지 모형(S11)은 바닥에 3 m쯤 비어 있는 곳(거실, 복도)이 필요합니다. 미리 자리를 비워 둡니다.
- 크기와 거리는 반올림한 값으로 대략 비교합니다. 정확한 km 수는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확인(지난 시간, cm와 mm)]
목적: 앞 차시 ‘달의 모양 변화’(KR22-G04-SCI-MOON-L01)를 복습하고, 오늘 종이 띠를 mm까지 재어 자를 때 필요한 cm와 mm의 관계를 확인합니다.
시간: 약 2분
이렇게 말해 보세요
- “① 지난 시간에 배운 달의 모양 차례 기억나? 보름달 다음은?”
- “② 1 cm는 몇 mm였지? 그럼 11 cm 2 mm는 몇 mm일까?”
- “③ 9 cm 4 mm는?”
정답
- ① 하현달
- ② 112 mm
- ③ 94 mm
막히면
- ①이 흔들리면 앞 차시 S07을 다시 봅니다. 달 관찰 기록을 하고 있다면 함께 봅니다.
- ②③이 어려우면 S19(보충)를 먼저 합니다. 보충으로도 어려우면 초3 수학 ‘mm와 km’(KR22-G03-MAT-MMKM-L01)를 먼저 합니다.
주의
- ②③은 S06에서 목성과 토성의 띠를 자를 때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태양계를 이루는 것]
목적: 태양계를 이루는 것(태양, 행성, 위성)을 구별합니다(목표 A).
시간: 약 2분
이렇게 말해 보세요
- “태양은 스스로 빛을 내. 행성은 태양 주위를 돌고, 지구도 행성이야.”
- “달은 무엇의 주위를 돌지? 그래서 달은 행성일까, 위성일까?”
예상 답
- “달은 지구 주위를 도니까 위성이에요.”
막히면
- 부모가 가운데 서서 ‘태양’ 역할을 하고, 아이가 그 둘레를 걸으며 ‘지구’가 되어 봅니다. 인형 하나를 들고 아이 둘레를 돌리면 ‘달’입니다.
주의
- 행성과 달은 스스로 빛을 내지 못하고, 햇빛을 받아 밝게 보입니다. 아이가 물으면 알려 줍니다.
- 태양계에는 이 밖에 소행성, 혜성 같은 것도 있지만 이 차시에서는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행성의 차례]
목적: 행성 8개를 태양에서 가까운 차례로 익힙니다(목표 A, 오해 M1).
시간: 약 2분
이렇게 말해 보세요
- “태양에서 가까운 차례로 읽어 볼까? 수성, 금성, 지구, 화성, 목성, 토성, 천왕성, 해왕성.”
- “앞 글자만 따서 ‘수, 금, 지, 화, 목, 토, 천, 해’ 하고 외워 보자. 지구는 몇 번째야?”
예상 답
- “지구는 세 번째예요.”
막히면
- 손가락을 하나씩 접으며 앞 글자를 리듬에 맞춰 말하게 합니다. 요일 이름(월화수목금토일)과 헷갈리면 ‘수금지화’로 시작한다는 것만 먼저 외웁니다.
주의
- 명왕성은 2006년부터 행성이 아닌 ‘왜소행성’으로 분류합니다. 예전 책이나 그림에 9개로 나와 있으면 지금은 8개라고 알려 줍니다(오해 M1).
- 이 그림은 차례만 보여 줍니다. 크기와 거리는 S08, S13에서 같은 비율로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크기 모형 전 예상하기]
목적: 종이 띠 모형을 만들기 전에 행성의 크기를 예상하고 까닭을 말합니다(목표 B). 결과는 S06에서 띠를 만들어 확인합니다.
시간: 약 1분
이렇게 말해 보세요
- “가장 큰 행성은 어느 것일 것 같아? 가장 작은 것은? 왜 그렇게 생각해?”
- “예상은 활동지 1의 ‘내 예상’ 칸에 써 줘.”
예상 답
- 어떤 예상이든 괜찮습니다. “지구가 제일 클 것 같아요.” “제일 먼 해왕성이 제일 클 것 같아요.”
막히면
- 쓰기가 느리면 아이가 말하고 부모가 받아 적습니다.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종이 띠로 크기 모형 만들기]
목적: 지구의 지름을 1 cm로 한 종이 띠 모형을 만들어 행성의 크기를 비교합니다(목표 B, 오해 M2). 띠의 길이가 행성의 지름(가로질러 잰 길이)입니다.
시간: 약 6분
이렇게 말해 보세요
- “지구의 지름을 1 cm로 하면 다른 행성은 얼마나 될까? 활동지 2의 길이만큼 띠를 재어 잘라 보자.”
- “목성은 11 cm 2 mm야. 몇 mm라고 했지? 자의 0에 맞추고 재 봐.”
- “다 잘랐으면 긴 것부터 늘어놓아 볼까? 지구 띠는 어디쯤이야?”
예상 답
- “목성이 제일 길어요!” “수성은 너무 짧아요.” “지구는 작은 편이에요.”
막히면
- 수성(4 mm)·화성(5 mm)처럼 짧은 띠는 자르기 어려우니 부모가 잘라 주거나, 띠에 선만 긋고 길이를 비교해도 됩니다.
- 시간이 부족하면 목성·토성·천왕성·지구·수성 다섯 개만 만들어도 비교할 수 있습니다.
주의
- 길이: 수성 4 mm, 금성 9 mm, 지구 10 mm(1 cm), 화성 5 mm, 목성 112 mm(11 cm 2 mm), 토성 94 mm(9 cm 4 mm), 천왕성 40 mm(4 cm), 해왕성 39 mm(3 cm 9 mm). 지구를 1로 본 지름의 비를 반올림한 값입니다.
- 같은 비율로 태양을 만들면 지름이 약 109 cm(1 m가 넘음)입니다. 아이가 궁금해하면 줄자로 길이만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크기 모형 결과 정리]
목적: 종이 띠 모형의 결과를 정리하고 예상과 비교합니다(목표 B).
시간: 약 2분
이렇게 말해 보세요
- “가장 긴 띠는 어느 행성이야? 가장 짧은 것은?”
- “지구보다 긴 띠는 몇 개야? 예상과 같았어?”
예상 답
- 가장 큰 행성: 목성 / 가장 작은 행성: 수성 / 지구보다 큼: 목성, 토성, 천왕성, 해왕성(4개) / 지구보다 작음: 수성, 금성, 화성
- “지구는 작은 편이었어요.”
막히면
- 지구 띠를 다른 띠 옆에 하나씩 대어 보며 ‘더 길어, 더 짧아’를 말하게 합니다.
주의
- 화면의 빈칸은 아이가 말로 채우는 자리입니다. 결과는 활동지 1의 ‘결과’ 칸에 씁니다.
- 금성(9 mm)은 지구(10 mm)와 거의 같습니다. ‘조금 작다’고 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결과로 설명하기(행성의 크기)]
목적: 종이 띠의 결과를 같은 비율의 그림으로 다시 보고, 행성의 크기를 정리합니다(목표 B).
시간: 약 2분
이렇게 말해 보세요
- “띠의 길이와 같은 비율로 그린 그림이야. 지구는 어디 있어? 목성 안에 지구가 몇 개쯤 나란히 들어갈까?”
- “지구보다 큰 행성은 어느 쪽에 모여 있어? 태양에서 가까운 쪽이야, 먼 쪽이야?”
예상 답
- “지구는 아주 작아요.” “목성 지름에 지구가 11개쯤 들어가요.” “큰 행성은 바깥쪽에 있어요.”
막히면
- S06의 띠를 그림 옆에 대어 보며 같은 차례인지 확인합니다.
주의
- 바깥쪽 네 행성(목성·토성·천왕성·해왕성)이 크지만, 그중에서도 가장 먼 해왕성이 가장 큰 것은 아닙니다(S09).
- 그림은 지름의 비를 맞춘 것입니다. 토성의 고리는 그리지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비교(멀수록 크다)]
목적: ‘멀리 있는 행성일수록 크다’는 생각을 종이 띠의 결과로 바로잡습니다(목표 B, 오해 M2).
시간: 약 2분
이렇게 말해 보세요
- “토끼는 해왕성이 가장 멀리 있으니 가장 크대. 곰은 목성이 가장 컸대. 누구 말이 맞을까?”
- “해왕성 띠와 목성 띠를 나란히 대어 볼까?”
정답
- 곰. 증거: 해왕성 띠는 39 mm, 목성 띠는 112 mm로 목성이 훨씬 깁니다(해왕성은 토성·천왕성보다도 작습니다).
막히면
- 두 띠를 겹쳐 놓고 남는 길이를 보게 합니다.
주의
- 숫자 비교보다 ‘직접 잰 띠’를 증거로 말하면 칭찬합니다.
- 지치면 여기서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거리 모형 전 예상하기]
목적: 휴지 모형을 만들기 전에 행성 사이의 거리를 예상합니다(목표 C, 오해 M3). 결과는 S11에서 확인합니다.
시간: 약 1분
이렇게 말해 보세요
- “태양에서 지구까지를 휴지 한 칸으로 하면, 가장 먼 해왕성까지는 몇 칸쯤일까?”
- “행성들은 책 그림처럼 같은 간격으로 늘어서 있을까?”
예상 답
- 어떤 예상이든 괜찮습니다. “8칸이요.” “같은 간격일 것 같아요.”
막히면
- “지구는 세 번째니까 해왕성은…?”처럼 차례로 어림해 보게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휴지로 거리 모형 만들기]
목적: 휴지 칸으로 태양에서 행성까지의 거리 모형을 만들어, 행성 사이의 간격이 바깥으로 갈수록 크게 벌어진다는 것을 몸으로 확인합니다(목표 A·C, 오해 M3).
시간: 약 5분
이렇게 말해 보세요
- “태양에서 지구까지가 휴지 한 칸이야. 수성은 반 칸이 안 되고, 화성은 한 칸 반이야. 차례대로 쪽지를 놓아 볼까?”
- “이제 목성은 약 5칸, 토성은 약 9칸 반… 해왕성까지 세어 가 보자.”
- “태양에서 해왕성까지 걸어 보자. 지구는 어디쯤에 있었어?”
예상 답
- “수성, 금성, 지구, 화성은 태양 바로 옆에 다 모여 있어요.” “해왕성은 엄청 멀어요.” “목성부터 갑자기 멀어져요.”
막히면
- 칸을 세기 어려우면 부모가 5칸마다 연필로 표시해 둡니다.
- 공간이 부족하면 휴지를 접어 지그재그로 놓거나, 천왕성·해왕성은 ‘복도 끝’처럼 말로만 정해도 됩니다.
주의
- 칸 수: 수성 약 0.4칸, 금성 약 0.7칸, 지구 1칸, 화성 1.5칸, 목성 약 5칸(5.2), 토성 약 9칸 반(9.5), 천왕성 약 19칸(19.2), 해왕성 약 30칸(30.1). 지구까지의 거리를 1로 본 비를 반올림한 값입니다.
- 휴지 한 칸은 보통 10~11 cm라서 해왕성까지 3 m 남짓입니다. 펼친 휴지에 걸려 넘어지지 않게 합니다. 다 쓴 휴지는 다시 감아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거리 모형 결과 정리]
목적: 휴지 모형의 결과를 정리하고 예상과 비교합니다(목표 C).
시간: 약 2분
이렇게 말해 보세요
- “안쪽 네 행성은 어땠어? 목성부터는?”
- “해왕성까지 몇 칸이었어? 예상과 같았어?”
예상 답
- 수성~화성: 태양 가까이 2칸 안에 모여 있음 / 목성부터: 행성 사이가 점점 크게 벌어짐 / 해왕성: 약 30칸
막히면
- 펼쳐 둔 휴지 위의 쪽지를 다시 보며 손가락으로 간격을 짚게 합니다.
주의
- 화면의 빈칸은 아이가 말로 채우는 자리입니다. 결과는 활동지 3의 ‘결과’ 칸에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결과로 설명하기(행성까지의 거리)]
목적: 휴지 모형의 결과를 같은 비율의 그림으로 정리합니다(목표 C).
시간: 약 2분
이렇게 말해 보세요
- “그림의 왼쪽 끝에 모여 있는 네 행성이 보여? 우리 휴지 모형에서도 태양 바로 옆에 모여 있었지?”
- “해왕성은 지구보다 몇 배쯤 멀리 있을까? 지구는 1칸, 해왕성은 약 30칸이었어.”
예상 답
- “해왕성은 지구보다 30배쯤 멀어요.” “바깥쪽은 사이가 아주 넓어요.”
막히면
- 그림의 칸 수 글자를 하나씩 읽고, 휴지 위 쪽지와 짝지어 봅니다.
주의
- 그림의 태양 크기는 실제 비율이 아닙니다(실제로는 이 그림에 그릴 수 없을 만큼 작게 그려야 합니다). 아이가 물으면 ‘거리만 같은 비율로 그렸다’고 말합니다.
- 크기와 거리를 한 그림에 같은 비율로 그리면 행성이 너무 작아 보이지 않습니다. 그래서 책 그림은 간격을 줄여 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오해 비교(같은 간격)]
목적: ‘행성들이 같은 간격으로 늘어서 있다’는 생각을 휴지 모형의 결과로 바로잡습니다(목표 C, 오해 M3).
시간: 약 2분
이렇게 말해 보세요
- “토끼는 책 그림처럼 같은 간격이래. 곰은 휴지 모형에서 바깥쪽이 훨씬 넓었대. 누구 말이 맞을까?”
- “책 그림은 왜 간격을 똑같이 그렸을까?”
정답
- 곰. 증거: 휴지 모형에서 수성~화성은 2칸 안에 모여 있었지만, 토성과 천왕성 사이는 약 10칸, 천왕성과 해왕성 사이는 약 11칸이나 벌어졌습니다.
- 책 그림은 한 쪽에 모두 넣으려고 간격을 줄여 그린 것입니다.
막히면
- 휴지 위에서 ‘지구 → 화성’을 걷고, ‘토성 → 천왕성’을 걸어 걸음 수를 비교합니다.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혼자 해결]
목적: 도움 없이 행성의 차례(①), 크기(②), 거리(③)를 말하는지 확인합니다(목표 A·B·C).
시간: 약 3분
이렇게 말해 보세요
- “이번에는 혼자 답해 볼래? 왜 그렇게 생각했는지도 말해 줘.”
정답
- ① 수성, 금성, 지구, 화성, 목성, 토성, 천왕성, 해왕성
- ② 가장 큰 행성: 목성, 가장 작은 행성: 수성
- ③ 토성–천왕성 사이(약 10칸)가 지구–화성 사이(반 칸)보다 훨씬 멀다
막히면
- 바로 알려 주지 말고 “‘수, 금, 지…’ 다음은?”, “띠 중에서 가장 긴 것은?”, “휴지 모형에서 어디가 더 멀었지?”라고만 묻습니다.
- 도움을 받아 해결했다면 기록표에 ‘도움’으로 표시합니다.
주의
- ①에서 명왕성을 넣으면 오해 M1, ②에서 ‘해왕성’이라고 하면 오해 M2, ③에서 ‘같다’고 하면 오해 M3입니다.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수성, 금성, 지구, 화성, 목성, 토성, 천왕성, 해왕성 ② 목성, 수성 ③ 토성과 천왕성 사이
막히면
- ①이 틀리면 S04로(M1), ②가 틀리면 S08·S09로(M2), ③이 틀리면 S13·S14로(M3)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마무리 확인(태양계의 행성)]
목적: 처음 보는 문제에서 행성과 행성이 아닌 것을 구별하고 까닭을 말하는지 확인합니다(목표 A, 오해 M1).
시간: 약 2분
이렇게 말해 보세요
- “행성이 아닌 것을 모두 골라 볼래? 왜 행성이 아닐까?”
정답
- 나(명왕성)와 다(달). 명왕성은 지금은 행성으로 분류하지 않고(왜소행성), 달은 지구 주위를 도는 위성입니다. 화성과 토성은 행성입니다.
막히면
- S03의 카드와 S04의 차례 그림을 다시 보여 줍니다.
주의
- 하나만 고르면 “또 있을까?”라고 묻습니다.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정리와 다음 수업 복습]
목적: 핵심을 정리하고 다음 수업 첫 5분에 풀 복습 문제를 알려 줍니다.
시간: 약 1분
이렇게 말해 보세요
- “지구는 태양계에서 큰 편이었어, 작은 편이었어? 무엇을 보고 알았어?”
예상 답
- “작은 편이에요. 목성, 토성, 천왕성, 해왕성이 더 컸어요.”
정답
- ① 지구 ② 목성 ③ 아니다(지금은 행성으로 분류하지 않음)
막히면
- S04와 S08을 다시 보여 줍니다.
주의
- 복습 세 문제는 다음 수업을 시작할 때 활동지 마지막 쪽과 함께 풉니다. 종이 띠는 봉투에 넣어 두면 다음에 다시 쓸 수 있습니다.
- 달 관찰 기록(지난 차시)을 이어 하고 있다면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선수 학습 보충(cm와 mm)]
목적: S02 ②③이 흔들리면, 자에서 cm와 mm를 읽고 ‘몇 cm 몇 mm’를 mm로 바꾸는 것을 먼저 익힙니다. 종이 띠를 자를 때 필요합니다.
시간: 약 4분
이렇게 말해 보세요
- “큰 눈금 한 칸이 1 cm, 작은 눈금 한 칸이 1 mm야. 1 cm 안에 작은 칸이 몇 개 있어?”
- “막대는 3 cm하고 작은 칸 9개만큼이야. 그럼 모두 몇 mm일까?”
예상 답
- “10개요.” “39 mm요.”
막히면
- 실제 자를 놓고 0에서 시작해 1 cm씩 손가락으로 짚으며 ‘10, 20, 30’을 세고, 작은 칸을 ‘31, 32, …, 39’로 이어 셉니다.
주의
- 계획상 선수 차시 ‘달의 모양 변화’(KR22-G04-SCI-MOON-L01)는 오늘 내용과 직접 이어지지 않습니다. mm 재기가 계속 어려우면 초3 수학 ‘mm와 km’(KR22-G03-MAT-MMKM-L01)를 먼저 합니다. 그동안 종이 띠는 부모가 재어 주고 아이는 비교만 해도 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지구는 태양계에서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클까?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태양과 행성 두 개"/>
          <p:cNvSpPr/>
          <p:nvPr/>
        </p:nvSpPr>
        <p:spPr>
          <a:xfrm>
            <a:off x="7772400" y="1237957"/>
            <a:ext cx="1730326" cy="1730326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187647" y="1706587"/>
            <a:ext cx="360485" cy="360485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656277" y="1958926"/>
            <a:ext cx="865163" cy="865163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태양계 행성을 태양에서 가까운 차례로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모형을 만들어 행성의 크기와 거리를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다음에 보이는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cm 2 mm는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mm일까요?</a:t>
            </a:r>
            <a:endParaRPr lang="ko-KR" sz="30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cm 4 mm는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 가족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태양과 그 주위를 도는 것들을 모두 합해 태양계라고 해요.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태양은 별이고, 달은 행성이 아니라 위성이에요.</a:t>
            </a:r>
            <a:endParaRPr lang="ko-KR" sz="3000" dirty="0"/>
          </a:p>
        </p:txBody>
      </p:sp>
      <p:sp>
        <p:nvSpPr>
          <p:cNvPr id="6" name="S03-card1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빛을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태양계의 가운데</a:t>
            </a:r>
            <a:endParaRPr lang="ko-KR" sz="3000" dirty="0"/>
          </a:p>
        </p:txBody>
      </p:sp>
      <p:sp>
        <p:nvSpPr>
          <p:cNvPr id="8" name="S03-card1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 주위를 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지구도 행성이에요.</a:t>
            </a:r>
            <a:endParaRPr lang="ko-KR" sz="3000" dirty="0"/>
          </a:p>
        </p:txBody>
      </p:sp>
      <p:sp>
        <p:nvSpPr>
          <p:cNvPr id="10" name="S03-card2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 주위를 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달은 지구의 위성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가까운 차례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그림의 크기와 간격은 실제와 달라요.</a:t>
            </a:r>
            <a:endParaRPr lang="ko-KR" sz="30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8개예요. 명왕성은 지금은 행성이 아니에요.</a:t>
            </a:r>
            <a:endParaRPr lang="ko-KR" sz="3000" dirty="0"/>
          </a:p>
        </p:txBody>
      </p:sp>
      <p:sp>
        <p:nvSpPr>
          <p:cNvPr id="6" name="S04-figure25" descr="태양에서 가까운 차례로 놓은 행성 여덟 개: 수성, 금성, 지구, 화성, 목성, 토성, 천왕성, 해왕성(크기와 거리는 실제 비율이 아님)"/>
          <p:cNvSpPr/>
          <p:nvPr/>
        </p:nvSpPr>
        <p:spPr>
          <a:xfrm>
            <a:off x="640080" y="2630552"/>
            <a:ext cx="1433272" cy="1433272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26"/>
          <p:cNvSpPr/>
          <p:nvPr/>
        </p:nvSpPr>
        <p:spPr>
          <a:xfrm>
            <a:off x="2909427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7"/>
          <p:cNvSpPr/>
          <p:nvPr/>
        </p:nvSpPr>
        <p:spPr>
          <a:xfrm>
            <a:off x="4064007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28"/>
          <p:cNvSpPr/>
          <p:nvPr/>
        </p:nvSpPr>
        <p:spPr>
          <a:xfrm>
            <a:off x="521858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29"/>
          <p:cNvSpPr/>
          <p:nvPr/>
        </p:nvSpPr>
        <p:spPr>
          <a:xfrm>
            <a:off x="637316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30"/>
          <p:cNvSpPr/>
          <p:nvPr/>
        </p:nvSpPr>
        <p:spPr>
          <a:xfrm>
            <a:off x="752774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31"/>
          <p:cNvSpPr/>
          <p:nvPr/>
        </p:nvSpPr>
        <p:spPr>
          <a:xfrm>
            <a:off x="868232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32"/>
          <p:cNvSpPr/>
          <p:nvPr/>
        </p:nvSpPr>
        <p:spPr>
          <a:xfrm>
            <a:off x="983690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mark33"/>
          <p:cNvSpPr/>
          <p:nvPr/>
        </p:nvSpPr>
        <p:spPr>
          <a:xfrm>
            <a:off x="1099148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label35"/>
          <p:cNvSpPr txBox="1"/>
          <p:nvPr/>
        </p:nvSpPr>
        <p:spPr>
          <a:xfrm>
            <a:off x="1003148" y="431126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2400" dirty="0"/>
          </a:p>
        </p:txBody>
      </p:sp>
      <p:sp>
        <p:nvSpPr>
          <p:cNvPr id="16" name="S04-label37"/>
          <p:cNvSpPr txBox="1"/>
          <p:nvPr/>
        </p:nvSpPr>
        <p:spPr>
          <a:xfrm>
            <a:off x="2896781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</a:t>
            </a:r>
            <a:endParaRPr lang="ko-KR" sz="1900" dirty="0"/>
          </a:p>
        </p:txBody>
      </p:sp>
      <p:sp>
        <p:nvSpPr>
          <p:cNvPr id="17" name="S04-label39"/>
          <p:cNvSpPr txBox="1"/>
          <p:nvPr/>
        </p:nvSpPr>
        <p:spPr>
          <a:xfrm>
            <a:off x="4051361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금성</a:t>
            </a:r>
            <a:endParaRPr lang="ko-KR" sz="1900" dirty="0"/>
          </a:p>
        </p:txBody>
      </p:sp>
      <p:sp>
        <p:nvSpPr>
          <p:cNvPr id="18" name="S04-label41"/>
          <p:cNvSpPr txBox="1"/>
          <p:nvPr/>
        </p:nvSpPr>
        <p:spPr>
          <a:xfrm>
            <a:off x="5205941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</a:t>
            </a:r>
            <a:endParaRPr lang="ko-KR" sz="1900" dirty="0"/>
          </a:p>
        </p:txBody>
      </p:sp>
      <p:sp>
        <p:nvSpPr>
          <p:cNvPr id="19" name="S04-label43"/>
          <p:cNvSpPr txBox="1"/>
          <p:nvPr/>
        </p:nvSpPr>
        <p:spPr>
          <a:xfrm>
            <a:off x="6360522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1900" dirty="0"/>
          </a:p>
        </p:txBody>
      </p:sp>
      <p:sp>
        <p:nvSpPr>
          <p:cNvPr id="20" name="S04-label45"/>
          <p:cNvSpPr txBox="1"/>
          <p:nvPr/>
        </p:nvSpPr>
        <p:spPr>
          <a:xfrm>
            <a:off x="7515102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21" name="S04-label47"/>
          <p:cNvSpPr txBox="1"/>
          <p:nvPr/>
        </p:nvSpPr>
        <p:spPr>
          <a:xfrm>
            <a:off x="8669682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2" name="S04-label49"/>
          <p:cNvSpPr txBox="1"/>
          <p:nvPr/>
        </p:nvSpPr>
        <p:spPr>
          <a:xfrm>
            <a:off x="9706025" y="4350956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3" name="S04-label51"/>
          <p:cNvSpPr txBox="1"/>
          <p:nvPr/>
        </p:nvSpPr>
        <p:spPr>
          <a:xfrm>
            <a:off x="10860605" y="3873198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예상해 봐요</a:t>
            </a:r>
            <a:endParaRPr lang="ko-KR" sz="40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행성의 크기는 어떻게 다를까요?</a:t>
            </a:r>
            <a:endParaRPr lang="ko-KR" sz="3000" dirty="0"/>
          </a:p>
        </p:txBody>
      </p:sp>
      <p:sp>
        <p:nvSpPr>
          <p:cNvPr id="4" name="S05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6" name="S05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큰 행성은?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작은 행성은?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큰 행성은 몇 개?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띠로 크기를 비교해요</a:t>
            </a:r>
            <a:endParaRPr lang="ko-KR" sz="4000" dirty="0"/>
          </a:p>
        </p:txBody>
      </p:sp>
      <p:sp>
        <p:nvSpPr>
          <p:cNvPr id="3" name="S06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끝이 둥근 것을 쓰고, 다 쓰면 어른에게 줘요.</a:t>
            </a:r>
            <a:endParaRPr lang="ko-KR" sz="3000" dirty="0"/>
          </a:p>
        </p:txBody>
      </p:sp>
      <p:sp>
        <p:nvSpPr>
          <p:cNvPr id="5" name="S06-card5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mm까지 정확히 재요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지구보다 긴 띠를 찾아요</a:t>
            </a:r>
            <a:endParaRPr lang="ko-KR" sz="3000" dirty="0"/>
          </a:p>
        </p:txBody>
      </p:sp>
      <p:sp>
        <p:nvSpPr>
          <p:cNvPr id="7" name="S06-stepno60"/>
          <p:cNvSpPr txBox="1"/>
          <p:nvPr/>
        </p:nvSpPr>
        <p:spPr>
          <a:xfrm>
            <a:off x="548640" y="1543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61"/>
          <p:cNvSpPr txBox="1"/>
          <p:nvPr/>
        </p:nvSpPr>
        <p:spPr>
          <a:xfrm>
            <a:off x="1325880" y="14980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길이를 자로 재어 띠에 표시해요.</a:t>
            </a:r>
            <a:endParaRPr lang="ko-KR" sz="3000" dirty="0"/>
          </a:p>
        </p:txBody>
      </p:sp>
      <p:sp>
        <p:nvSpPr>
          <p:cNvPr id="9" name="S06-stepno62"/>
          <p:cNvSpPr txBox="1"/>
          <p:nvPr/>
        </p:nvSpPr>
        <p:spPr>
          <a:xfrm>
            <a:off x="548640" y="2638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63"/>
          <p:cNvSpPr txBox="1"/>
          <p:nvPr/>
        </p:nvSpPr>
        <p:spPr>
          <a:xfrm>
            <a:off x="1325880" y="25923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가위로 자르고 행성 이름을 써요.</a:t>
            </a:r>
            <a:endParaRPr lang="ko-KR" sz="3000" dirty="0"/>
          </a:p>
        </p:txBody>
      </p:sp>
      <p:sp>
        <p:nvSpPr>
          <p:cNvPr id="11" name="S06-stepno64"/>
          <p:cNvSpPr txBox="1"/>
          <p:nvPr/>
        </p:nvSpPr>
        <p:spPr>
          <a:xfrm>
            <a:off x="548640" y="368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65"/>
          <p:cNvSpPr txBox="1"/>
          <p:nvPr/>
        </p:nvSpPr>
        <p:spPr>
          <a:xfrm>
            <a:off x="1325880" y="3686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것부터 차례로 늘어놓아요.</a:t>
            </a:r>
            <a:endParaRPr lang="ko-KR" sz="3000" dirty="0"/>
          </a:p>
        </p:txBody>
      </p:sp>
      <p:sp>
        <p:nvSpPr>
          <p:cNvPr id="13" name="S06-stepno66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67"/>
          <p:cNvSpPr txBox="1"/>
          <p:nvPr/>
        </p:nvSpPr>
        <p:spPr>
          <a:xfrm>
            <a:off x="1325880" y="4399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띠와 견주어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늘어놓은 띠를 보며 빈칸을 말로 채워요.</a:t>
            </a:r>
            <a:endParaRPr lang="ko-KR" sz="3000" dirty="0"/>
          </a:p>
        </p:txBody>
      </p:sp>
      <p:sp>
        <p:nvSpPr>
          <p:cNvPr id="4" name="S07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것, 다른 것을 찾아봐요.</a:t>
            </a:r>
            <a:endParaRPr lang="ko-KR" sz="3000" dirty="0"/>
          </a:p>
        </p:txBody>
      </p:sp>
      <p:graphicFrame>
        <p:nvGraphicFramePr>
          <p:cNvPr id="8" name="S07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긴 띠(가장 큰 행성)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짧은 띠(가장 작은 행성)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긴 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짧은 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행성의 크기 비교</a:t>
            </a:r>
            <a:endParaRPr lang="ko-KR" sz="4000" dirty="0"/>
          </a:p>
        </p:txBody>
      </p:sp>
      <p:sp>
        <p:nvSpPr>
          <p:cNvPr id="3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행성은 목성, 가장 작은 행성은 수성이에요.</a:t>
            </a:r>
            <a:endParaRPr lang="ko-KR" sz="3000" dirty="0"/>
          </a:p>
        </p:txBody>
      </p:sp>
      <p:sp>
        <p:nvSpPr>
          <p:cNvPr id="5" name="S08-figure74" descr="지구의 지름을 1로 할 때 같은 비율로 그린 행성의 크기: 수성 0.4, 금성 0.9, 지구 1, 화성 0.5, 목성 11.2, 토성 9.4, 천왕성 4.0, 해왕성 3.9(지름의 비)"/>
          <p:cNvSpPr/>
          <p:nvPr/>
        </p:nvSpPr>
        <p:spPr>
          <a:xfrm>
            <a:off x="890282" y="4430483"/>
            <a:ext cx="100081" cy="10008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75"/>
          <p:cNvSpPr/>
          <p:nvPr/>
        </p:nvSpPr>
        <p:spPr>
          <a:xfrm>
            <a:off x="1478256" y="4305382"/>
            <a:ext cx="225181" cy="22518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76"/>
          <p:cNvSpPr/>
          <p:nvPr/>
        </p:nvSpPr>
        <p:spPr>
          <a:xfrm>
            <a:off x="2116270" y="4280362"/>
            <a:ext cx="250202" cy="250202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77"/>
          <p:cNvSpPr/>
          <p:nvPr/>
        </p:nvSpPr>
        <p:spPr>
          <a:xfrm>
            <a:off x="2829344" y="4405463"/>
            <a:ext cx="125101" cy="12510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78"/>
          <p:cNvSpPr/>
          <p:nvPr/>
        </p:nvSpPr>
        <p:spPr>
          <a:xfrm>
            <a:off x="3279707" y="1728305"/>
            <a:ext cx="2802258" cy="2802258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8-mark79"/>
          <p:cNvSpPr/>
          <p:nvPr/>
        </p:nvSpPr>
        <p:spPr>
          <a:xfrm>
            <a:off x="6407228" y="2178668"/>
            <a:ext cx="2351896" cy="2351896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80"/>
          <p:cNvSpPr/>
          <p:nvPr/>
        </p:nvSpPr>
        <p:spPr>
          <a:xfrm>
            <a:off x="9084386" y="3529757"/>
            <a:ext cx="1000807" cy="1000807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8-mark81"/>
          <p:cNvSpPr/>
          <p:nvPr/>
        </p:nvSpPr>
        <p:spPr>
          <a:xfrm>
            <a:off x="10410454" y="3554777"/>
            <a:ext cx="975786" cy="975786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82"/>
          <p:cNvSpPr/>
          <p:nvPr/>
        </p:nvSpPr>
        <p:spPr>
          <a:xfrm>
            <a:off x="640080" y="4530564"/>
            <a:ext cx="109087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4" name="S08-label84"/>
          <p:cNvSpPr txBox="1"/>
          <p:nvPr/>
        </p:nvSpPr>
        <p:spPr>
          <a:xfrm>
            <a:off x="648984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</a:t>
            </a:r>
            <a:endParaRPr lang="ko-KR" sz="1900" dirty="0"/>
          </a:p>
        </p:txBody>
      </p:sp>
      <p:sp>
        <p:nvSpPr>
          <p:cNvPr id="15" name="S08-label86"/>
          <p:cNvSpPr txBox="1"/>
          <p:nvPr/>
        </p:nvSpPr>
        <p:spPr>
          <a:xfrm>
            <a:off x="1299508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금성</a:t>
            </a:r>
            <a:endParaRPr lang="ko-KR" sz="1900" dirty="0"/>
          </a:p>
        </p:txBody>
      </p:sp>
      <p:sp>
        <p:nvSpPr>
          <p:cNvPr id="16" name="S08-label88"/>
          <p:cNvSpPr txBox="1"/>
          <p:nvPr/>
        </p:nvSpPr>
        <p:spPr>
          <a:xfrm>
            <a:off x="1950033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</a:t>
            </a:r>
            <a:endParaRPr lang="ko-KR" sz="1900" dirty="0"/>
          </a:p>
        </p:txBody>
      </p:sp>
      <p:sp>
        <p:nvSpPr>
          <p:cNvPr id="17" name="S08-label90"/>
          <p:cNvSpPr txBox="1"/>
          <p:nvPr/>
        </p:nvSpPr>
        <p:spPr>
          <a:xfrm>
            <a:off x="2600557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1900" dirty="0"/>
          </a:p>
        </p:txBody>
      </p:sp>
      <p:sp>
        <p:nvSpPr>
          <p:cNvPr id="18" name="S08-label92"/>
          <p:cNvSpPr txBox="1"/>
          <p:nvPr/>
        </p:nvSpPr>
        <p:spPr>
          <a:xfrm>
            <a:off x="4389499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19" name="S08-label94"/>
          <p:cNvSpPr txBox="1"/>
          <p:nvPr/>
        </p:nvSpPr>
        <p:spPr>
          <a:xfrm>
            <a:off x="7291838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0" name="S08-label96"/>
          <p:cNvSpPr txBox="1"/>
          <p:nvPr/>
        </p:nvSpPr>
        <p:spPr>
          <a:xfrm>
            <a:off x="9175214" y="4567402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1" name="S08-label98"/>
          <p:cNvSpPr txBox="1"/>
          <p:nvPr/>
        </p:nvSpPr>
        <p:spPr>
          <a:xfrm>
            <a:off x="10488773" y="4567402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9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해왕성은 태양에서 가장 멀리 있는 행성이에요.</a:t>
            </a:r>
            <a:endParaRPr lang="ko-KR" sz="3000" dirty="0"/>
          </a:p>
        </p:txBody>
      </p:sp>
      <p:sp>
        <p:nvSpPr>
          <p:cNvPr id="5" name="S09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9-chip10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9-text10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멀리 있으니까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행성이에요.</a:t>
            </a:r>
            <a:endParaRPr lang="ko-KR" sz="3000" dirty="0"/>
          </a:p>
        </p:txBody>
      </p:sp>
      <p:sp>
        <p:nvSpPr>
          <p:cNvPr id="9" name="S09-chip10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9-text10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띠를 재어 보니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목성이 가장 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예상해 봐요</a:t>
            </a:r>
            <a:endParaRPr lang="ko-KR" sz="4000" dirty="0"/>
          </a:p>
        </p:txBody>
      </p:sp>
      <p:sp>
        <p:nvSpPr>
          <p:cNvPr id="3" name="S10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지구까지를 휴지 1칸으로 하면?</a:t>
            </a:r>
            <a:endParaRPr lang="ko-KR" sz="3000" dirty="0"/>
          </a:p>
        </p:txBody>
      </p:sp>
      <p:sp>
        <p:nvSpPr>
          <p:cNvPr id="4" name="S10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1" name="S10-table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729984"/>
                <a:gridCol w="37856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행성들은 같은 간격으로 놓일까?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해왕성까지는 몇 칸쯤일까?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지구–화성, 토성–천왕성 중 더 먼 쪽은?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휴지로 거리를 비교해요</a:t>
            </a:r>
            <a:endParaRPr lang="ko-KR" sz="4000" dirty="0"/>
          </a:p>
        </p:txBody>
      </p:sp>
      <p:sp>
        <p:nvSpPr>
          <p:cNvPr id="3" name="S11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휴지를 편 곳에서는 뛰지 않아요.</a:t>
            </a:r>
            <a:endParaRPr lang="ko-KR" sz="3000" dirty="0"/>
          </a:p>
        </p:txBody>
      </p:sp>
      <p:sp>
        <p:nvSpPr>
          <p:cNvPr id="5" name="S11-card113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14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행성 차례를 지켜요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칸 수를 정확히 세요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곳·먼 곳을 견주어요</a:t>
            </a:r>
            <a:endParaRPr lang="ko-KR" sz="3000" dirty="0"/>
          </a:p>
        </p:txBody>
      </p:sp>
      <p:sp>
        <p:nvSpPr>
          <p:cNvPr id="7" name="S11-stepno115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1-text116"/>
          <p:cNvSpPr txBox="1"/>
          <p:nvPr/>
        </p:nvSpPr>
        <p:spPr>
          <a:xfrm>
            <a:off x="1325880" y="1664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바닥에 길게 펴고 한쪽 끝에 ‘태양’ 쪽지를 놓아요.</a:t>
            </a:r>
            <a:endParaRPr lang="ko-KR" sz="3000" dirty="0"/>
          </a:p>
        </p:txBody>
      </p:sp>
      <p:sp>
        <p:nvSpPr>
          <p:cNvPr id="9" name="S11-stepno117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1-text118"/>
          <p:cNvSpPr txBox="1"/>
          <p:nvPr/>
        </p:nvSpPr>
        <p:spPr>
          <a:xfrm>
            <a:off x="1325880" y="275844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4의 칸 수만큼 세어 행성 쪽지를 놓아요.</a:t>
            </a:r>
            <a:endParaRPr lang="ko-KR" sz="3000" dirty="0"/>
          </a:p>
        </p:txBody>
      </p:sp>
      <p:sp>
        <p:nvSpPr>
          <p:cNvPr id="11" name="S11-stepno119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1-text120"/>
          <p:cNvSpPr txBox="1"/>
          <p:nvPr/>
        </p:nvSpPr>
        <p:spPr>
          <a:xfrm>
            <a:off x="1325880" y="385267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해왕성까지 걸어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모형을 보며 빈칸을 말로 채워요.</a:t>
            </a:r>
            <a:endParaRPr lang="ko-KR" sz="3000" dirty="0"/>
          </a:p>
        </p:txBody>
      </p:sp>
      <p:sp>
        <p:nvSpPr>
          <p:cNvPr id="4" name="S12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행성들은 같은 간격으로 놓여 있었나요?</a:t>
            </a:r>
            <a:endParaRPr lang="ko-KR" sz="3000" dirty="0"/>
          </a:p>
        </p:txBody>
      </p:sp>
      <p:graphicFrame>
        <p:nvGraphicFramePr>
          <p:cNvPr id="13" name="S12-table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알았나요?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수성·금성·지구·화성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목성부터 바깥 행성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해왕성까지 칸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행성까지의 거리</a:t>
            </a:r>
            <a:endParaRPr lang="ko-KR" sz="4000" dirty="0"/>
          </a:p>
        </p:txBody>
      </p:sp>
      <p:sp>
        <p:nvSpPr>
          <p:cNvPr id="3" name="S13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지구까지를 1칸으로 한 휴지 모형과 같은 비율이에요.</a:t>
            </a:r>
            <a:endParaRPr lang="ko-KR" sz="3000" dirty="0"/>
          </a:p>
        </p:txBody>
      </p:sp>
      <p:sp>
        <p:nvSpPr>
          <p:cNvPr id="4" name="S13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멀어질수록 행성 사이가 훨씬 넓어져요.</a:t>
            </a:r>
            <a:endParaRPr lang="ko-KR" sz="3000" dirty="0"/>
          </a:p>
        </p:txBody>
      </p:sp>
      <p:sp>
        <p:nvSpPr>
          <p:cNvPr id="6" name="S13-figure128" descr="태양에서 지구까지를 1칸으로 한 거리 모형: 수성 0.4칸, 금성 0.7칸, 지구 1칸, 화성 1.5칸은 태양 가까이 모여 있고, 목성 약 5칸, 토성 약 9칸 반, 천왕성 약 19칸, 해왕성 약 30칸으로 갈수록 사이가 크게 벌어짐"/>
          <p:cNvSpPr/>
          <p:nvPr/>
        </p:nvSpPr>
        <p:spPr>
          <a:xfrm>
            <a:off x="640080" y="3384058"/>
            <a:ext cx="312175" cy="312175"/>
          </a:xfrm>
          <a:prstGeom prst="ellipse">
            <a:avLst/>
          </a:pr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3-mark129"/>
          <p:cNvSpPr/>
          <p:nvPr/>
        </p:nvSpPr>
        <p:spPr>
          <a:xfrm>
            <a:off x="952255" y="3540145"/>
            <a:ext cx="10596617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13-mark130"/>
          <p:cNvSpPr/>
          <p:nvPr/>
        </p:nvSpPr>
        <p:spPr>
          <a:xfrm flipV="1">
            <a:off x="1143029" y="3141255"/>
            <a:ext cx="537635" cy="312175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9" name="S13-mark131"/>
          <p:cNvSpPr/>
          <p:nvPr/>
        </p:nvSpPr>
        <p:spPr>
          <a:xfrm>
            <a:off x="875476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mark132"/>
          <p:cNvSpPr/>
          <p:nvPr/>
        </p:nvSpPr>
        <p:spPr>
          <a:xfrm>
            <a:off x="979535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mark133"/>
          <p:cNvSpPr/>
          <p:nvPr/>
        </p:nvSpPr>
        <p:spPr>
          <a:xfrm>
            <a:off x="1083593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mark134"/>
          <p:cNvSpPr/>
          <p:nvPr/>
        </p:nvSpPr>
        <p:spPr>
          <a:xfrm>
            <a:off x="1257024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mark135"/>
          <p:cNvSpPr/>
          <p:nvPr/>
        </p:nvSpPr>
        <p:spPr>
          <a:xfrm>
            <a:off x="254041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mark136"/>
          <p:cNvSpPr/>
          <p:nvPr/>
        </p:nvSpPr>
        <p:spPr>
          <a:xfrm>
            <a:off x="4031915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mark137"/>
          <p:cNvSpPr/>
          <p:nvPr/>
        </p:nvSpPr>
        <p:spPr>
          <a:xfrm>
            <a:off x="739647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mark138"/>
          <p:cNvSpPr/>
          <p:nvPr/>
        </p:nvSpPr>
        <p:spPr>
          <a:xfrm>
            <a:off x="1117726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label140"/>
          <p:cNvSpPr txBox="1"/>
          <p:nvPr/>
        </p:nvSpPr>
        <p:spPr>
          <a:xfrm>
            <a:off x="2308509" y="364947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18" name="S13-label142"/>
          <p:cNvSpPr txBox="1"/>
          <p:nvPr/>
        </p:nvSpPr>
        <p:spPr>
          <a:xfrm>
            <a:off x="2192685" y="3909625"/>
            <a:ext cx="81432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5칸</a:t>
            </a:r>
            <a:endParaRPr lang="ko-KR" sz="1900" dirty="0"/>
          </a:p>
        </p:txBody>
      </p:sp>
      <p:sp>
        <p:nvSpPr>
          <p:cNvPr id="19" name="S13-label144"/>
          <p:cNvSpPr txBox="1"/>
          <p:nvPr/>
        </p:nvSpPr>
        <p:spPr>
          <a:xfrm>
            <a:off x="3800013" y="364947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0" name="S13-label146"/>
          <p:cNvSpPr txBox="1"/>
          <p:nvPr/>
        </p:nvSpPr>
        <p:spPr>
          <a:xfrm>
            <a:off x="3529757" y="3909625"/>
            <a:ext cx="112318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9칸 반</a:t>
            </a:r>
            <a:endParaRPr lang="ko-KR" sz="1900" dirty="0"/>
          </a:p>
        </p:txBody>
      </p:sp>
      <p:sp>
        <p:nvSpPr>
          <p:cNvPr id="21" name="S13-label148"/>
          <p:cNvSpPr txBox="1"/>
          <p:nvPr/>
        </p:nvSpPr>
        <p:spPr>
          <a:xfrm>
            <a:off x="7046332" y="3649479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2" name="S13-label150"/>
          <p:cNvSpPr txBox="1"/>
          <p:nvPr/>
        </p:nvSpPr>
        <p:spPr>
          <a:xfrm>
            <a:off x="6969116" y="3909625"/>
            <a:ext cx="97358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19칸</a:t>
            </a:r>
            <a:endParaRPr lang="ko-KR" sz="1900" dirty="0"/>
          </a:p>
        </p:txBody>
      </p:sp>
      <p:sp>
        <p:nvSpPr>
          <p:cNvPr id="23" name="S13-label152"/>
          <p:cNvSpPr txBox="1"/>
          <p:nvPr/>
        </p:nvSpPr>
        <p:spPr>
          <a:xfrm>
            <a:off x="10827122" y="3649479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4" name="S13-label154"/>
          <p:cNvSpPr txBox="1"/>
          <p:nvPr/>
        </p:nvSpPr>
        <p:spPr>
          <a:xfrm>
            <a:off x="10749906" y="3909625"/>
            <a:ext cx="97358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30칸</a:t>
            </a:r>
            <a:endParaRPr lang="ko-KR" sz="1900" dirty="0"/>
          </a:p>
        </p:txBody>
      </p:sp>
      <p:sp>
        <p:nvSpPr>
          <p:cNvPr id="25" name="S13-label156"/>
          <p:cNvSpPr txBox="1"/>
          <p:nvPr/>
        </p:nvSpPr>
        <p:spPr>
          <a:xfrm>
            <a:off x="1698007" y="2921070"/>
            <a:ext cx="271094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수성·금성·지구·화성</a:t>
            </a:r>
            <a:endParaRPr lang="ko-KR" sz="1900" dirty="0"/>
          </a:p>
        </p:txBody>
      </p:sp>
      <p:sp>
        <p:nvSpPr>
          <p:cNvPr id="26" name="S13-label158"/>
          <p:cNvSpPr txBox="1"/>
          <p:nvPr/>
        </p:nvSpPr>
        <p:spPr>
          <a:xfrm>
            <a:off x="504830" y="371885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4-card1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그림에서는 행성들이 나란히 늘어서 있어요.</a:t>
            </a:r>
            <a:endParaRPr lang="ko-KR" sz="3000" dirty="0"/>
          </a:p>
        </p:txBody>
      </p:sp>
      <p:sp>
        <p:nvSpPr>
          <p:cNvPr id="5" name="S14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4-chip1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4-text1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행성들은 같은 간격으로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떨어져 있어요.</a:t>
            </a:r>
            <a:endParaRPr lang="ko-KR" sz="3000" dirty="0"/>
          </a:p>
        </p:txBody>
      </p:sp>
      <p:sp>
        <p:nvSpPr>
          <p:cNvPr id="9" name="S14-chip1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4-text1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모형에서 바깥쪽은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간격이 훨씬 넓었어요.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16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5-text16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가까운 차례로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 8개를 말해요.</a:t>
            </a:r>
            <a:endParaRPr lang="ko-KR" sz="3000" dirty="0"/>
          </a:p>
        </p:txBody>
      </p:sp>
      <p:sp>
        <p:nvSpPr>
          <p:cNvPr id="5" name="S15-chip16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5-text17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행성과 가장 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무엇인가요?</a:t>
            </a:r>
            <a:endParaRPr lang="ko-KR" sz="3000" dirty="0"/>
          </a:p>
        </p:txBody>
      </p:sp>
      <p:sp>
        <p:nvSpPr>
          <p:cNvPr id="7" name="S15-chip17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5-text17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지구–화성 사이, 토성–천왕성 사이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어디가 더 멀까요?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6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띠와 휴지 모형을 증거로 말해요.</a:t>
            </a:r>
            <a:endParaRPr lang="ko-KR" sz="3000" dirty="0"/>
          </a:p>
        </p:txBody>
      </p:sp>
      <p:sp>
        <p:nvSpPr>
          <p:cNvPr id="5" name="S16-chip1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6-text17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8개 차례</a:t>
            </a:r>
            <a:endParaRPr lang="ko-KR" sz="3000" dirty="0"/>
          </a:p>
        </p:txBody>
      </p:sp>
      <p:sp>
        <p:nvSpPr>
          <p:cNvPr id="7" name="S16-text17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수성~해왕성</a:t>
            </a:r>
            <a:endParaRPr lang="ko-KR" sz="2400" dirty="0"/>
          </a:p>
        </p:txBody>
      </p:sp>
      <p:sp>
        <p:nvSpPr>
          <p:cNvPr id="8" name="S16-text17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목성, 수성</a:t>
            </a:r>
            <a:endParaRPr lang="ko-KR" sz="3000" dirty="0"/>
          </a:p>
        </p:txBody>
      </p:sp>
      <p:sp>
        <p:nvSpPr>
          <p:cNvPr id="9" name="S16-text17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띠의 길이</a:t>
            </a:r>
            <a:endParaRPr lang="ko-KR" sz="2400" dirty="0"/>
          </a:p>
        </p:txBody>
      </p:sp>
      <p:sp>
        <p:nvSpPr>
          <p:cNvPr id="10" name="S16-text18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토성–천왕성</a:t>
            </a:r>
            <a:endParaRPr lang="ko-KR" sz="3000" dirty="0"/>
          </a:p>
        </p:txBody>
      </p:sp>
      <p:sp>
        <p:nvSpPr>
          <p:cNvPr id="11" name="S16-text18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10칸</a:t>
            </a:r>
            <a:endParaRPr lang="ko-KR" sz="2400" dirty="0"/>
          </a:p>
        </p:txBody>
      </p:sp>
      <p:sp>
        <p:nvSpPr>
          <p:cNvPr id="12" name="S16-chip1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6-text1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명왕성까지</a:t>
            </a:r>
            <a:endParaRPr lang="ko-KR" sz="3000" dirty="0"/>
          </a:p>
        </p:txBody>
      </p:sp>
      <p:sp>
        <p:nvSpPr>
          <p:cNvPr id="14" name="S16-text1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8개뿐(M1)</a:t>
            </a:r>
            <a:endParaRPr lang="ko-KR" sz="2400" dirty="0"/>
          </a:p>
        </p:txBody>
      </p:sp>
      <p:sp>
        <p:nvSpPr>
          <p:cNvPr id="15" name="S16-text1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해왕성이 큼</a:t>
            </a:r>
            <a:endParaRPr lang="ko-KR" sz="3000" dirty="0"/>
          </a:p>
        </p:txBody>
      </p:sp>
      <p:sp>
        <p:nvSpPr>
          <p:cNvPr id="16" name="S16-text1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목성(M2)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행성이 아닌 것은?</a:t>
            </a:r>
            <a:endParaRPr lang="ko-KR" sz="4000" dirty="0"/>
          </a:p>
        </p:txBody>
      </p:sp>
      <p:sp>
        <p:nvSpPr>
          <p:cNvPr id="3" name="S17-text1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태양계의 행성이 아닌 것을 모두 골라요.</a:t>
            </a:r>
            <a:endParaRPr lang="ko-KR" sz="3000" dirty="0"/>
          </a:p>
        </p:txBody>
      </p:sp>
      <p:sp>
        <p:nvSpPr>
          <p:cNvPr id="4" name="S17-card1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행성이 아닌 까닭을 말해요.</a:t>
            </a:r>
            <a:endParaRPr lang="ko-KR" sz="3000" dirty="0"/>
          </a:p>
        </p:txBody>
      </p:sp>
      <p:sp>
        <p:nvSpPr>
          <p:cNvPr id="6" name="S17-chip19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7-card191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92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3000" dirty="0"/>
          </a:p>
        </p:txBody>
      </p:sp>
      <p:sp>
        <p:nvSpPr>
          <p:cNvPr id="9" name="S17-chip19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7-card194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95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명왕성</a:t>
            </a:r>
            <a:endParaRPr lang="ko-KR" sz="3000" dirty="0"/>
          </a:p>
        </p:txBody>
      </p:sp>
      <p:sp>
        <p:nvSpPr>
          <p:cNvPr id="12" name="S17-chip196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7-card197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7-cardtext198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</a:t>
            </a:r>
            <a:endParaRPr lang="ko-KR" sz="3000" dirty="0"/>
          </a:p>
        </p:txBody>
      </p:sp>
      <p:sp>
        <p:nvSpPr>
          <p:cNvPr id="15" name="S17-chip19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7-card200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7-cardtext201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20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20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수·금·지·화·목·토·천·해 8개예요.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목성이 가장 크고, 바깥 행성일수록 사이가 멀어요.</a:t>
            </a:r>
            <a:endParaRPr lang="ko-KR" sz="3000" dirty="0"/>
          </a:p>
        </p:txBody>
      </p:sp>
      <p:sp>
        <p:nvSpPr>
          <p:cNvPr id="5" name="S18-chip20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만든 모형으로 비교하기</a:t>
            </a:r>
            <a:endParaRPr lang="ko-KR" sz="2400" dirty="0"/>
          </a:p>
        </p:txBody>
      </p:sp>
      <p:sp>
        <p:nvSpPr>
          <p:cNvPr id="6" name="S18-chip20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멀리 있을수록 크다고 생각하기</a:t>
            </a:r>
            <a:endParaRPr lang="ko-KR" sz="2400" dirty="0"/>
          </a:p>
        </p:txBody>
      </p:sp>
      <p:sp>
        <p:nvSpPr>
          <p:cNvPr id="7" name="S18-text20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8-text20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태양에서 세 번째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행성은?</a:t>
            </a:r>
            <a:endParaRPr lang="ko-KR" sz="2400" dirty="0"/>
          </a:p>
        </p:txBody>
      </p:sp>
      <p:sp>
        <p:nvSpPr>
          <p:cNvPr id="9" name="S18-text20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큰 행성은?</a:t>
            </a:r>
            <a:endParaRPr lang="ko-KR" sz="2400" dirty="0"/>
          </a:p>
        </p:txBody>
      </p:sp>
      <p:sp>
        <p:nvSpPr>
          <p:cNvPr id="10" name="S18-text20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명왕성은 행성일까요?</a:t>
            </a:r>
            <a:endParaRPr lang="ko-KR" sz="2400" dirty="0"/>
          </a:p>
        </p:txBody>
      </p:sp>
      <p:sp>
        <p:nvSpPr>
          <p:cNvPr id="11" name="S18-text2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생태계와 먹이 관계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cm와 mm</a:t>
            </a:r>
            <a:endParaRPr lang="ko-KR" sz="4000" dirty="0"/>
          </a:p>
        </p:txBody>
      </p:sp>
      <p:sp>
        <p:nvSpPr>
          <p:cNvPr id="3" name="S19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똑같이 10칸으로 나눈 한 칸이 1 mm예요.</a:t>
            </a:r>
            <a:endParaRPr lang="ko-KR" sz="3000" dirty="0"/>
          </a:p>
        </p:txBody>
      </p:sp>
      <p:sp>
        <p:nvSpPr>
          <p:cNvPr id="4" name="S19-card2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2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 9 mm = 39 mm</a:t>
            </a:r>
            <a:endParaRPr lang="ko-KR" sz="3000" dirty="0"/>
          </a:p>
        </p:txBody>
      </p:sp>
      <p:sp>
        <p:nvSpPr>
          <p:cNvPr id="6" name="S19-figure214" descr="6 cm 자 위의 막대: 0부터 3 cm 9 mm까지"/>
          <p:cNvSpPr/>
          <p:nvPr/>
        </p:nvSpPr>
        <p:spPr>
          <a:xfrm>
            <a:off x="2985516" y="3337560"/>
            <a:ext cx="6217920" cy="1234440"/>
          </a:xfrm>
          <a:custGeom>
            <a:avLst/>
            <a:gdLst/>
            <a:ahLst/>
            <a:cxnLst/>
            <a:rect l="l" t="t" r="r" b="b"/>
            <a:pathLst>
              <a:path w="6217920" h="1234440">
                <a:moveTo>
                  <a:pt x="0" y="0"/>
                </a:moveTo>
                <a:lnTo>
                  <a:pt x="6217920" y="0"/>
                </a:lnTo>
                <a:lnTo>
                  <a:pt x="62179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9-mark215"/>
          <p:cNvSpPr/>
          <p:nvPr/>
        </p:nvSpPr>
        <p:spPr>
          <a:xfrm>
            <a:off x="33512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9-label217"/>
          <p:cNvSpPr txBox="1"/>
          <p:nvPr/>
        </p:nvSpPr>
        <p:spPr>
          <a:xfrm>
            <a:off x="31958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19-mark218"/>
          <p:cNvSpPr/>
          <p:nvPr/>
        </p:nvSpPr>
        <p:spPr>
          <a:xfrm>
            <a:off x="3442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9-mark219"/>
          <p:cNvSpPr/>
          <p:nvPr/>
        </p:nvSpPr>
        <p:spPr>
          <a:xfrm>
            <a:off x="3534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9-mark220"/>
          <p:cNvSpPr/>
          <p:nvPr/>
        </p:nvSpPr>
        <p:spPr>
          <a:xfrm>
            <a:off x="3625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9-mark221"/>
          <p:cNvSpPr/>
          <p:nvPr/>
        </p:nvSpPr>
        <p:spPr>
          <a:xfrm>
            <a:off x="3717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9-mark222"/>
          <p:cNvSpPr/>
          <p:nvPr/>
        </p:nvSpPr>
        <p:spPr>
          <a:xfrm>
            <a:off x="38084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9-mark223"/>
          <p:cNvSpPr/>
          <p:nvPr/>
        </p:nvSpPr>
        <p:spPr>
          <a:xfrm>
            <a:off x="3899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9-mark224"/>
          <p:cNvSpPr/>
          <p:nvPr/>
        </p:nvSpPr>
        <p:spPr>
          <a:xfrm>
            <a:off x="3991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9-mark225"/>
          <p:cNvSpPr/>
          <p:nvPr/>
        </p:nvSpPr>
        <p:spPr>
          <a:xfrm>
            <a:off x="4082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9-mark226"/>
          <p:cNvSpPr/>
          <p:nvPr/>
        </p:nvSpPr>
        <p:spPr>
          <a:xfrm>
            <a:off x="4174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9-mark227"/>
          <p:cNvSpPr/>
          <p:nvPr/>
        </p:nvSpPr>
        <p:spPr>
          <a:xfrm>
            <a:off x="42656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9-label229"/>
          <p:cNvSpPr txBox="1"/>
          <p:nvPr/>
        </p:nvSpPr>
        <p:spPr>
          <a:xfrm>
            <a:off x="41102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0" name="S19-mark230"/>
          <p:cNvSpPr/>
          <p:nvPr/>
        </p:nvSpPr>
        <p:spPr>
          <a:xfrm>
            <a:off x="43571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9-mark231"/>
          <p:cNvSpPr/>
          <p:nvPr/>
        </p:nvSpPr>
        <p:spPr>
          <a:xfrm>
            <a:off x="44485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9-mark232"/>
          <p:cNvSpPr/>
          <p:nvPr/>
        </p:nvSpPr>
        <p:spPr>
          <a:xfrm>
            <a:off x="45399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9-mark233"/>
          <p:cNvSpPr/>
          <p:nvPr/>
        </p:nvSpPr>
        <p:spPr>
          <a:xfrm>
            <a:off x="46314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9-mark234"/>
          <p:cNvSpPr/>
          <p:nvPr/>
        </p:nvSpPr>
        <p:spPr>
          <a:xfrm>
            <a:off x="47228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9-mark235"/>
          <p:cNvSpPr/>
          <p:nvPr/>
        </p:nvSpPr>
        <p:spPr>
          <a:xfrm>
            <a:off x="48143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9-mark236"/>
          <p:cNvSpPr/>
          <p:nvPr/>
        </p:nvSpPr>
        <p:spPr>
          <a:xfrm>
            <a:off x="49057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9-mark237"/>
          <p:cNvSpPr/>
          <p:nvPr/>
        </p:nvSpPr>
        <p:spPr>
          <a:xfrm>
            <a:off x="49971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9-mark238"/>
          <p:cNvSpPr/>
          <p:nvPr/>
        </p:nvSpPr>
        <p:spPr>
          <a:xfrm>
            <a:off x="50886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9-mark239"/>
          <p:cNvSpPr/>
          <p:nvPr/>
        </p:nvSpPr>
        <p:spPr>
          <a:xfrm>
            <a:off x="51800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19-label241"/>
          <p:cNvSpPr txBox="1"/>
          <p:nvPr/>
        </p:nvSpPr>
        <p:spPr>
          <a:xfrm>
            <a:off x="50246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1" name="S19-mark242"/>
          <p:cNvSpPr/>
          <p:nvPr/>
        </p:nvSpPr>
        <p:spPr>
          <a:xfrm>
            <a:off x="52715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9-mark243"/>
          <p:cNvSpPr/>
          <p:nvPr/>
        </p:nvSpPr>
        <p:spPr>
          <a:xfrm>
            <a:off x="53629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9-mark244"/>
          <p:cNvSpPr/>
          <p:nvPr/>
        </p:nvSpPr>
        <p:spPr>
          <a:xfrm>
            <a:off x="54543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9-mark245"/>
          <p:cNvSpPr/>
          <p:nvPr/>
        </p:nvSpPr>
        <p:spPr>
          <a:xfrm>
            <a:off x="55458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9-mark246"/>
          <p:cNvSpPr/>
          <p:nvPr/>
        </p:nvSpPr>
        <p:spPr>
          <a:xfrm>
            <a:off x="56372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9-mark247"/>
          <p:cNvSpPr/>
          <p:nvPr/>
        </p:nvSpPr>
        <p:spPr>
          <a:xfrm>
            <a:off x="5728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9-mark248"/>
          <p:cNvSpPr/>
          <p:nvPr/>
        </p:nvSpPr>
        <p:spPr>
          <a:xfrm>
            <a:off x="5820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9-mark249"/>
          <p:cNvSpPr/>
          <p:nvPr/>
        </p:nvSpPr>
        <p:spPr>
          <a:xfrm>
            <a:off x="5911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9-mark250"/>
          <p:cNvSpPr/>
          <p:nvPr/>
        </p:nvSpPr>
        <p:spPr>
          <a:xfrm>
            <a:off x="6003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9-mark251"/>
          <p:cNvSpPr/>
          <p:nvPr/>
        </p:nvSpPr>
        <p:spPr>
          <a:xfrm>
            <a:off x="60944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1" name="S19-label253"/>
          <p:cNvSpPr txBox="1"/>
          <p:nvPr/>
        </p:nvSpPr>
        <p:spPr>
          <a:xfrm>
            <a:off x="59390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2" name="S19-mark254"/>
          <p:cNvSpPr/>
          <p:nvPr/>
        </p:nvSpPr>
        <p:spPr>
          <a:xfrm>
            <a:off x="6185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9-mark255"/>
          <p:cNvSpPr/>
          <p:nvPr/>
        </p:nvSpPr>
        <p:spPr>
          <a:xfrm>
            <a:off x="6277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9-mark256"/>
          <p:cNvSpPr/>
          <p:nvPr/>
        </p:nvSpPr>
        <p:spPr>
          <a:xfrm>
            <a:off x="6368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9-mark257"/>
          <p:cNvSpPr/>
          <p:nvPr/>
        </p:nvSpPr>
        <p:spPr>
          <a:xfrm>
            <a:off x="6460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9-mark258"/>
          <p:cNvSpPr/>
          <p:nvPr/>
        </p:nvSpPr>
        <p:spPr>
          <a:xfrm>
            <a:off x="65516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9-mark259"/>
          <p:cNvSpPr/>
          <p:nvPr/>
        </p:nvSpPr>
        <p:spPr>
          <a:xfrm>
            <a:off x="66431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9-mark260"/>
          <p:cNvSpPr/>
          <p:nvPr/>
        </p:nvSpPr>
        <p:spPr>
          <a:xfrm>
            <a:off x="67345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9-mark261"/>
          <p:cNvSpPr/>
          <p:nvPr/>
        </p:nvSpPr>
        <p:spPr>
          <a:xfrm>
            <a:off x="68259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9-mark262"/>
          <p:cNvSpPr/>
          <p:nvPr/>
        </p:nvSpPr>
        <p:spPr>
          <a:xfrm>
            <a:off x="69174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9-mark263"/>
          <p:cNvSpPr/>
          <p:nvPr/>
        </p:nvSpPr>
        <p:spPr>
          <a:xfrm>
            <a:off x="70088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2" name="S19-label265"/>
          <p:cNvSpPr txBox="1"/>
          <p:nvPr/>
        </p:nvSpPr>
        <p:spPr>
          <a:xfrm>
            <a:off x="68534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3" name="S19-mark266"/>
          <p:cNvSpPr/>
          <p:nvPr/>
        </p:nvSpPr>
        <p:spPr>
          <a:xfrm>
            <a:off x="71003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9-mark267"/>
          <p:cNvSpPr/>
          <p:nvPr/>
        </p:nvSpPr>
        <p:spPr>
          <a:xfrm>
            <a:off x="71917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9-mark268"/>
          <p:cNvSpPr/>
          <p:nvPr/>
        </p:nvSpPr>
        <p:spPr>
          <a:xfrm>
            <a:off x="72831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9-mark269"/>
          <p:cNvSpPr/>
          <p:nvPr/>
        </p:nvSpPr>
        <p:spPr>
          <a:xfrm>
            <a:off x="73746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9-mark270"/>
          <p:cNvSpPr/>
          <p:nvPr/>
        </p:nvSpPr>
        <p:spPr>
          <a:xfrm>
            <a:off x="74660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9-mark271"/>
          <p:cNvSpPr/>
          <p:nvPr/>
        </p:nvSpPr>
        <p:spPr>
          <a:xfrm>
            <a:off x="75575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9-mark272"/>
          <p:cNvSpPr/>
          <p:nvPr/>
        </p:nvSpPr>
        <p:spPr>
          <a:xfrm>
            <a:off x="76489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9-mark273"/>
          <p:cNvSpPr/>
          <p:nvPr/>
        </p:nvSpPr>
        <p:spPr>
          <a:xfrm>
            <a:off x="77403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9-mark274"/>
          <p:cNvSpPr/>
          <p:nvPr/>
        </p:nvSpPr>
        <p:spPr>
          <a:xfrm>
            <a:off x="78318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9-mark275"/>
          <p:cNvSpPr/>
          <p:nvPr/>
        </p:nvSpPr>
        <p:spPr>
          <a:xfrm>
            <a:off x="79232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3" name="S19-label277"/>
          <p:cNvSpPr txBox="1"/>
          <p:nvPr/>
        </p:nvSpPr>
        <p:spPr>
          <a:xfrm>
            <a:off x="77678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4" name="S19-mark278"/>
          <p:cNvSpPr/>
          <p:nvPr/>
        </p:nvSpPr>
        <p:spPr>
          <a:xfrm>
            <a:off x="8014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9-mark279"/>
          <p:cNvSpPr/>
          <p:nvPr/>
        </p:nvSpPr>
        <p:spPr>
          <a:xfrm>
            <a:off x="8106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9-mark280"/>
          <p:cNvSpPr/>
          <p:nvPr/>
        </p:nvSpPr>
        <p:spPr>
          <a:xfrm>
            <a:off x="8197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9-mark281"/>
          <p:cNvSpPr/>
          <p:nvPr/>
        </p:nvSpPr>
        <p:spPr>
          <a:xfrm>
            <a:off x="8289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9-mark282"/>
          <p:cNvSpPr/>
          <p:nvPr/>
        </p:nvSpPr>
        <p:spPr>
          <a:xfrm>
            <a:off x="83804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9-mark283"/>
          <p:cNvSpPr/>
          <p:nvPr/>
        </p:nvSpPr>
        <p:spPr>
          <a:xfrm>
            <a:off x="8471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9-mark284"/>
          <p:cNvSpPr/>
          <p:nvPr/>
        </p:nvSpPr>
        <p:spPr>
          <a:xfrm>
            <a:off x="8563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9-mark285"/>
          <p:cNvSpPr/>
          <p:nvPr/>
        </p:nvSpPr>
        <p:spPr>
          <a:xfrm>
            <a:off x="8654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9-mark286"/>
          <p:cNvSpPr/>
          <p:nvPr/>
        </p:nvSpPr>
        <p:spPr>
          <a:xfrm>
            <a:off x="8746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9-mark287"/>
          <p:cNvSpPr/>
          <p:nvPr/>
        </p:nvSpPr>
        <p:spPr>
          <a:xfrm>
            <a:off x="88376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4" name="S19-label289"/>
          <p:cNvSpPr txBox="1"/>
          <p:nvPr/>
        </p:nvSpPr>
        <p:spPr>
          <a:xfrm>
            <a:off x="86822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5" name="S19-mark290"/>
          <p:cNvSpPr/>
          <p:nvPr/>
        </p:nvSpPr>
        <p:spPr>
          <a:xfrm>
            <a:off x="3351276" y="2743200"/>
            <a:ext cx="3566160" cy="365760"/>
          </a:xfrm>
          <a:custGeom>
            <a:avLst/>
            <a:gdLst/>
            <a:ahLst/>
            <a:cxnLst/>
            <a:rect l="l" t="t" r="r" b="b"/>
            <a:pathLst>
              <a:path w="3566160" h="365760">
                <a:moveTo>
                  <a:pt x="0" y="365760"/>
                </a:moveTo>
                <a:lnTo>
                  <a:pt x="3566160" y="365760"/>
                </a:lnTo>
                <a:lnTo>
                  <a:pt x="3566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9-label292"/>
          <p:cNvSpPr txBox="1"/>
          <p:nvPr/>
        </p:nvSpPr>
        <p:spPr>
          <a:xfrm>
            <a:off x="4280916" y="273558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 9 mm</a:t>
            </a:r>
            <a:endParaRPr lang="ko-KR" sz="2400" dirty="0"/>
          </a:p>
        </p:txBody>
      </p:sp>
      <p:sp>
        <p:nvSpPr>
          <p:cNvPr id="77" name="S19-mark293"/>
          <p:cNvSpPr/>
          <p:nvPr/>
        </p:nvSpPr>
        <p:spPr>
          <a:xfrm>
            <a:off x="3351276" y="310896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8" name="S19-mark294"/>
          <p:cNvSpPr/>
          <p:nvPr/>
        </p:nvSpPr>
        <p:spPr>
          <a:xfrm>
            <a:off x="6917436" y="310896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태양계</dc:title>
  <dc:subject>KR22-G04-SCI-PLANETS-L01</dc:subject>
  <dc:creator>education-ppt</dc:creator>
  <cp:lastModifiedBy>education-ppt</cp:lastModifiedBy>
  <cp:revision>1</cp:revision>
  <dcterms:created xsi:type="dcterms:W3CDTF">2026-10-26T13:25:10Z</dcterms:created>
  <dcterms:modified xsi:type="dcterms:W3CDTF">2026-10-26T13:25:10Z</dcterms:modified>
</cp:coreProperties>
</file>