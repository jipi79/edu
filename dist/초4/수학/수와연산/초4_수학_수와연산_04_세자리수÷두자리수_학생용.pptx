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632ab8f-84d0-edf5-7f4b-14ff72fa987c}">
          <p14:sldIdLst>
            <p14:sldId id="256"/>
            <p14:sldId id="257"/>
          </p14:sldIdLst>
        </p14:section>
        <p14:section name="개념" id="{8a603964-51a1-ceef-7cd3-7ad0344a8462}">
          <p14:sldIdLst>
            <p14:sldId id="258"/>
            <p14:sldId id="259"/>
            <p14:sldId id="261"/>
            <p14:sldId id="262"/>
            <p14:sldId id="264"/>
          </p14:sldIdLst>
        </p14:section>
        <p14:section name="연습" id="{bdbddbd4-737a-c6f8-43c3-cf503054f129}">
          <p14:sldIdLst>
            <p14:sldId id="260"/>
            <p14:sldId id="263"/>
          </p14:sldIdLst>
        </p14:section>
        <p14:section name="개념" id="{3d97c059-45f4-a916-9072-e1b3fd2a02c8}">
          <p14:sldIdLst/>
        </p14:section>
        <p14:section name="연습" id="{14c1a0cb-8dc1-ae16-0a5d-93b1accb25e3}">
          <p14:sldIdLst/>
        </p14:section>
        <p14:section name="개념" id="{48564ae7-c173-8eb7-9cb1-d2c378a14e11}">
          <p14:sldIdLst/>
        </p14:section>
        <p14:section name="확인" id="{cf53009b-6af3-923a-f402-b5c1bef61ee2}">
          <p14:sldIdLst>
            <p14:sldId id="265"/>
            <p14:sldId id="266"/>
          </p14:sldIdLst>
        </p14:section>
        <p14:section name="정리" id="{413b3038-52f7-2ff7-72a7-3bd36e981e21}">
          <p14:sldIdLst>
            <p14:sldId id="267"/>
          </p14:sldIdLst>
        </p14:section>
        <p14:section name="보충" id="{c7d6d63f-f97f-6aab-bdf5-c1e0761a9c1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(세 자리 수)÷(두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(세 자리 수)÷(두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(세 자리 수)÷(두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자리 수로 나눠요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÷ 31의 몫은 얼마쯤일까?</a:t>
            </a:r>
            <a:endParaRPr lang="ko-KR" sz="30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÷ 31 = □ … □</a:t>
            </a:r>
            <a:endParaRPr lang="ko-KR" sz="2800" dirty="0"/>
          </a:p>
        </p:txBody>
      </p:sp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몫을 어림해서 나눗셈을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계산이 맞는지 확인해요.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147 ÷ 6 = □ …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5 =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× 6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몫을 어림해요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÷ 31: 31은 30에 가까워요.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5 = 150 → 몫은 5쯤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× 5 = 155, 157 − 155 = 2</a:t>
            </a:r>
            <a:endParaRPr lang="ko-KR" sz="30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27711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× 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157과 비교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× 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작아요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× 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가까워요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× 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넘어요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나누어요</a:t>
            </a:r>
            <a:endParaRPr lang="ko-KR" sz="4000" dirty="0"/>
          </a:p>
        </p:txBody>
      </p:sp>
      <p:sp>
        <p:nvSpPr>
          <p:cNvPr id="3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÷ 31 = 5 … 2</a:t>
            </a:r>
            <a:endParaRPr lang="ko-KR" sz="3000" dirty="0"/>
          </a:p>
        </p:txBody>
      </p:sp>
      <p:graphicFrame>
        <p:nvGraphicFramePr>
          <p:cNvPr id="5" name="S04-table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051" y="1845310"/>
          <a:ext cx="438912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877824"/>
                <a:gridCol w="877824"/>
                <a:gridCol w="877824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× 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4-stepno17"/>
          <p:cNvSpPr txBox="1"/>
          <p:nvPr/>
        </p:nvSpPr>
        <p:spPr>
          <a:xfrm>
            <a:off x="548640" y="17099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4-text18"/>
          <p:cNvSpPr txBox="1"/>
          <p:nvPr/>
        </p:nvSpPr>
        <p:spPr>
          <a:xfrm>
            <a:off x="1325880" y="1664208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15는 31보다 작아요.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일의 자리에 써요.</a:t>
            </a:r>
            <a:endParaRPr lang="ko-KR" sz="3000" dirty="0"/>
          </a:p>
        </p:txBody>
      </p:sp>
      <p:sp>
        <p:nvSpPr>
          <p:cNvPr id="8" name="S04-stepno19"/>
          <p:cNvSpPr txBox="1"/>
          <p:nvPr/>
        </p:nvSpPr>
        <p:spPr>
          <a:xfrm>
            <a:off x="548640" y="28041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4-text20"/>
          <p:cNvSpPr txBox="1"/>
          <p:nvPr/>
        </p:nvSpPr>
        <p:spPr>
          <a:xfrm>
            <a:off x="1325880" y="2758440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× 5 = 155를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아래에 써요.</a:t>
            </a:r>
            <a:endParaRPr lang="ko-KR" sz="3000" dirty="0"/>
          </a:p>
        </p:txBody>
      </p:sp>
      <p:sp>
        <p:nvSpPr>
          <p:cNvPr id="10" name="S04-stepno21"/>
          <p:cNvSpPr txBox="1"/>
          <p:nvPr/>
        </p:nvSpPr>
        <p:spPr>
          <a:xfrm>
            <a:off x="548640" y="38983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4-text22"/>
          <p:cNvSpPr txBox="1"/>
          <p:nvPr/>
        </p:nvSpPr>
        <p:spPr>
          <a:xfrm>
            <a:off x="1325880" y="3852672"/>
            <a:ext cx="5229271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157 − 155 = 2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2예요.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몫을 어림해 봐요</a:t>
            </a:r>
            <a:endParaRPr lang="ko-KR" sz="40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몫과 나머지를 구해요.</a:t>
            </a:r>
            <a:endParaRPr lang="ko-KR" sz="30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42는 40, 61은 60, 52는 50쯤으로 생각해요.</a:t>
            </a:r>
            <a:endParaRPr lang="ko-KR" sz="3000" dirty="0"/>
          </a:p>
        </p:txBody>
      </p:sp>
      <p:sp>
        <p:nvSpPr>
          <p:cNvPr id="6" name="S05-chip2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eqtext2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 ÷ 42 = □ … □</a:t>
            </a:r>
            <a:endParaRPr lang="ko-KR" sz="3400" dirty="0"/>
          </a:p>
        </p:txBody>
      </p:sp>
      <p:sp>
        <p:nvSpPr>
          <p:cNvPr id="8" name="S05-chip2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eqtext2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245 ÷ 61 = □ … □</a:t>
            </a:r>
            <a:endParaRPr lang="ko-KR" sz="3400" dirty="0"/>
          </a:p>
        </p:txBody>
      </p:sp>
      <p:sp>
        <p:nvSpPr>
          <p:cNvPr id="10" name="S05-chip3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eqtext3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159 ÷ 52 = □ …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어림한 몫 고치기</a:t>
            </a:r>
            <a:endParaRPr lang="ko-KR" sz="4000" dirty="0"/>
          </a:p>
        </p:txBody>
      </p:sp>
      <p:sp>
        <p:nvSpPr>
          <p:cNvPr id="3" name="S06-card3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어림한 몫이 맞지 않을 때가 있어요.</a:t>
            </a:r>
            <a:endParaRPr lang="ko-KR" sz="3000" dirty="0"/>
          </a:p>
        </p:txBody>
      </p:sp>
      <p:sp>
        <p:nvSpPr>
          <p:cNvPr id="5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몫으로 나머지를 구해 봐요.</a:t>
            </a:r>
            <a:endParaRPr lang="ko-KR" sz="3000" dirty="0"/>
          </a:p>
        </p:txBody>
      </p:sp>
      <p:sp>
        <p:nvSpPr>
          <p:cNvPr id="7" name="S06-chip3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186 ÷ 23</a:t>
            </a:r>
            <a:endParaRPr lang="ko-KR" sz="2400" dirty="0"/>
          </a:p>
        </p:txBody>
      </p:sp>
      <p:sp>
        <p:nvSpPr>
          <p:cNvPr id="8" name="S06-text3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9 = 180 → 9?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× 9 = 207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207은 186보다 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몫을 1 줄여 8로!</a:t>
            </a:r>
            <a:endParaRPr lang="ko-KR" sz="3000" dirty="0"/>
          </a:p>
        </p:txBody>
      </p:sp>
      <p:sp>
        <p:nvSpPr>
          <p:cNvPr id="9" name="S06-chip3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236 ÷ 39</a:t>
            </a:r>
            <a:endParaRPr lang="ko-KR" sz="2400" dirty="0"/>
          </a:p>
        </p:txBody>
      </p:sp>
      <p:sp>
        <p:nvSpPr>
          <p:cNvPr id="10" name="S06-text3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× 5 = 200 → 5?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 × 5 = 195, 나머지 41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41은 39보다 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몫을 1 늘려 6으로!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맞게 했는지 확인해요</a:t>
            </a:r>
            <a:endParaRPr lang="ko-KR" sz="4000" dirty="0"/>
          </a:p>
        </p:txBody>
      </p:sp>
      <p:sp>
        <p:nvSpPr>
          <p:cNvPr id="3" name="S07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÷ 31 = 5 … 2를 확인해요.</a:t>
            </a:r>
            <a:endParaRPr lang="ko-KR" sz="3000" dirty="0"/>
          </a:p>
        </p:txBody>
      </p:sp>
      <p:sp>
        <p:nvSpPr>
          <p:cNvPr id="4" name="S07-card41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42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나머지 &lt; 나누는 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2는 31보다 작아요.</a:t>
            </a:r>
            <a:endParaRPr lang="ko-KR" sz="3000" dirty="0"/>
          </a:p>
        </p:txBody>
      </p:sp>
      <p:sp>
        <p:nvSpPr>
          <p:cNvPr id="6" name="S07-card43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44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확인 식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 × 몫 + 나머지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나누어지는 수</a:t>
            </a:r>
            <a:endParaRPr lang="ko-KR" sz="3000" dirty="0"/>
          </a:p>
        </p:txBody>
      </p:sp>
      <p:sp>
        <p:nvSpPr>
          <p:cNvPr id="8" name="S07-eqtext45"/>
          <p:cNvSpPr txBox="1"/>
          <p:nvPr/>
        </p:nvSpPr>
        <p:spPr>
          <a:xfrm>
            <a:off x="548640" y="2011680"/>
            <a:ext cx="11091672" cy="2363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× 5 + 2 = 157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215 ÷ 34를 계산하고 확인했어요.</a:t>
            </a:r>
            <a:endParaRPr lang="ko-KR" sz="3000" dirty="0"/>
          </a:p>
        </p:txBody>
      </p:sp>
      <p:sp>
        <p:nvSpPr>
          <p:cNvPr id="5" name="S08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확인 식은 맞아요. 누가 맞았을까요?</a:t>
            </a:r>
            <a:endParaRPr lang="ko-KR" sz="3000" dirty="0"/>
          </a:p>
        </p:txBody>
      </p:sp>
      <p:sp>
        <p:nvSpPr>
          <p:cNvPr id="7" name="S08-chip5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5 … 45</a:t>
            </a:r>
            <a:endParaRPr lang="ko-KR" sz="2400" dirty="0"/>
          </a:p>
        </p:txBody>
      </p:sp>
      <p:sp>
        <p:nvSpPr>
          <p:cNvPr id="8" name="S08-text5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× 5 + 45 = 215</a:t>
            </a:r>
            <a:endParaRPr lang="ko-KR" sz="3000" dirty="0"/>
          </a:p>
        </p:txBody>
      </p:sp>
      <p:sp>
        <p:nvSpPr>
          <p:cNvPr id="9" name="S08-chip5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6 … 11</a:t>
            </a:r>
            <a:endParaRPr lang="ko-KR" sz="2400" dirty="0"/>
          </a:p>
        </p:txBody>
      </p:sp>
      <p:sp>
        <p:nvSpPr>
          <p:cNvPr id="10" name="S08-text5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× 6 + 11 = 215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몫이 두 자리 수일 때</a:t>
            </a:r>
            <a:endParaRPr lang="ko-KR" sz="4000" dirty="0"/>
          </a:p>
        </p:txBody>
      </p:sp>
      <p:sp>
        <p:nvSpPr>
          <p:cNvPr id="3" name="S09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437 ÷ 18 = 24 … 5</a:t>
            </a:r>
            <a:endParaRPr lang="ko-KR" sz="3000" dirty="0"/>
          </a:p>
        </p:txBody>
      </p:sp>
      <p:graphicFrame>
        <p:nvGraphicFramePr>
          <p:cNvPr id="10" name="S09-table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051" y="1431925"/>
          <a:ext cx="438912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877824"/>
                <a:gridCol w="877824"/>
                <a:gridCol w="87782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18 )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9-stepno57"/>
          <p:cNvSpPr txBox="1"/>
          <p:nvPr/>
        </p:nvSpPr>
        <p:spPr>
          <a:xfrm>
            <a:off x="548640" y="1435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58"/>
          <p:cNvSpPr txBox="1"/>
          <p:nvPr/>
        </p:nvSpPr>
        <p:spPr>
          <a:xfrm>
            <a:off x="1325880" y="1389888"/>
            <a:ext cx="5229271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 ÷ 18: 몫 2를 십의 자리에,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43 − 36 = 7</a:t>
            </a:r>
            <a:endParaRPr lang="ko-KR" sz="3000" dirty="0"/>
          </a:p>
        </p:txBody>
      </p:sp>
      <p:sp>
        <p:nvSpPr>
          <p:cNvPr id="8" name="S09-stepno59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60"/>
          <p:cNvSpPr txBox="1"/>
          <p:nvPr/>
        </p:nvSpPr>
        <p:spPr>
          <a:xfrm>
            <a:off x="1325880" y="294894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7을 내려 77</a:t>
            </a:r>
            <a:endParaRPr lang="ko-KR" sz="3000" dirty="0"/>
          </a:p>
        </p:txBody>
      </p:sp>
      <p:sp>
        <p:nvSpPr>
          <p:cNvPr id="10" name="S09-stepno61"/>
          <p:cNvSpPr txBox="1"/>
          <p:nvPr/>
        </p:nvSpPr>
        <p:spPr>
          <a:xfrm>
            <a:off x="548640" y="3707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62"/>
          <p:cNvSpPr txBox="1"/>
          <p:nvPr/>
        </p:nvSpPr>
        <p:spPr>
          <a:xfrm>
            <a:off x="1325880" y="3662172"/>
            <a:ext cx="5229271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77 ÷ 18: 몫 4를 일의 자리에,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77 − 72 = 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몫과 나머지를 구하고, 확인 식을 써요.</a:t>
            </a:r>
            <a:endParaRPr lang="ko-KR" sz="3000" dirty="0"/>
          </a:p>
        </p:txBody>
      </p:sp>
      <p:sp>
        <p:nvSpPr>
          <p:cNvPr id="4" name="S10-chip6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6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197 ÷ 32 = □ … □</a:t>
            </a:r>
            <a:endParaRPr lang="ko-KR" sz="3400" dirty="0"/>
          </a:p>
        </p:txBody>
      </p:sp>
      <p:sp>
        <p:nvSpPr>
          <p:cNvPr id="6" name="S10-chip6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6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253 ÷ 61 = □ … □</a:t>
            </a:r>
            <a:endParaRPr lang="ko-KR" sz="3400" dirty="0"/>
          </a:p>
        </p:txBody>
      </p:sp>
      <p:sp>
        <p:nvSpPr>
          <p:cNvPr id="8" name="S10-chip6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6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174 ÷ 28 = □ … □</a:t>
            </a:r>
            <a:endParaRPr lang="ko-KR" sz="3400" dirty="0"/>
          </a:p>
        </p:txBody>
      </p:sp>
      <p:sp>
        <p:nvSpPr>
          <p:cNvPr id="10" name="S10-chip7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eqtext7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365 ÷ 15 = □ …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계산한 것은?</a:t>
            </a:r>
            <a:endParaRPr lang="ko-KR" sz="4000" dirty="0"/>
          </a:p>
        </p:txBody>
      </p:sp>
      <p:sp>
        <p:nvSpPr>
          <p:cNvPr id="3" name="S12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275 ÷ 34를 세 가지로 계산했어요.</a:t>
            </a:r>
            <a:endParaRPr lang="ko-KR" sz="3000" dirty="0"/>
          </a:p>
        </p:txBody>
      </p:sp>
      <p:sp>
        <p:nvSpPr>
          <p:cNvPr id="4" name="S12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것을 고르고, 확인 식으로 까닭을 말해요.</a:t>
            </a:r>
            <a:endParaRPr lang="ko-KR" sz="3000" dirty="0"/>
          </a:p>
        </p:txBody>
      </p:sp>
      <p:sp>
        <p:nvSpPr>
          <p:cNvPr id="6" name="S12-chip7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76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77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… 3</a:t>
            </a:r>
            <a:endParaRPr lang="ko-KR" sz="3000" dirty="0"/>
          </a:p>
        </p:txBody>
      </p:sp>
      <p:sp>
        <p:nvSpPr>
          <p:cNvPr id="9" name="S12-chip7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79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80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… 37</a:t>
            </a:r>
            <a:endParaRPr lang="ko-KR" sz="3000" dirty="0"/>
          </a:p>
        </p:txBody>
      </p:sp>
      <p:sp>
        <p:nvSpPr>
          <p:cNvPr id="12" name="S12-chip8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82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83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… 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몫을 어림하고, 나머지와 확인 식으로 확인해요.</a:t>
            </a:r>
            <a:endParaRPr lang="ko-KR" sz="3000" dirty="0"/>
          </a:p>
        </p:txBody>
      </p:sp>
      <p:sp>
        <p:nvSpPr>
          <p:cNvPr id="5" name="S13-chip8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나머지 &lt; 나누는 수</a:t>
            </a:r>
            <a:endParaRPr lang="ko-KR" sz="2400" dirty="0"/>
          </a:p>
        </p:txBody>
      </p:sp>
      <p:sp>
        <p:nvSpPr>
          <p:cNvPr id="6" name="S13-chip8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큰 나머지를 그대로 두기</a:t>
            </a:r>
            <a:endParaRPr lang="ko-KR" sz="2400" dirty="0"/>
          </a:p>
        </p:txBody>
      </p:sp>
      <p:sp>
        <p:nvSpPr>
          <p:cNvPr id="7" name="S13-text8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8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166 ÷ 41</a:t>
            </a:r>
            <a:endParaRPr lang="ko-KR" sz="2400" dirty="0"/>
          </a:p>
        </p:txBody>
      </p:sp>
      <p:sp>
        <p:nvSpPr>
          <p:cNvPr id="9" name="S13-text9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300 ÷ 52</a:t>
            </a:r>
            <a:endParaRPr lang="ko-KR" sz="2400" dirty="0"/>
          </a:p>
        </p:txBody>
      </p:sp>
      <p:sp>
        <p:nvSpPr>
          <p:cNvPr id="10" name="S13-text9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27 × 7 + 5 = □</a:t>
            </a:r>
            <a:endParaRPr lang="ko-KR" sz="2400" dirty="0"/>
          </a:p>
        </p:txBody>
      </p:sp>
      <p:sp>
        <p:nvSpPr>
          <p:cNvPr id="11" name="S13-text9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분모가 같은 분수의 덧셈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나머지가 있는 나눗셈</a:t>
            </a:r>
            <a:endParaRPr lang="ko-KR" sz="4000" dirty="0"/>
          </a:p>
        </p:txBody>
      </p:sp>
      <p:sp>
        <p:nvSpPr>
          <p:cNvPr id="3" name="S14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47개를 6개씩 묶어요.</a:t>
            </a:r>
            <a:endParaRPr lang="ko-KR" sz="3000" dirty="0"/>
          </a:p>
        </p:txBody>
      </p:sp>
      <p:sp>
        <p:nvSpPr>
          <p:cNvPr id="4" name="S14-dot94"/>
          <p:cNvSpPr/>
          <p:nvPr/>
        </p:nvSpPr>
        <p:spPr>
          <a:xfrm>
            <a:off x="1752676" y="21115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14-dot95"/>
          <p:cNvSpPr/>
          <p:nvPr/>
        </p:nvSpPr>
        <p:spPr>
          <a:xfrm>
            <a:off x="2278456" y="21115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14-dot96"/>
          <p:cNvSpPr/>
          <p:nvPr/>
        </p:nvSpPr>
        <p:spPr>
          <a:xfrm>
            <a:off x="2804236" y="21115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4-dot97"/>
          <p:cNvSpPr/>
          <p:nvPr/>
        </p:nvSpPr>
        <p:spPr>
          <a:xfrm>
            <a:off x="3330016" y="21115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4-dot98"/>
          <p:cNvSpPr/>
          <p:nvPr/>
        </p:nvSpPr>
        <p:spPr>
          <a:xfrm>
            <a:off x="3855796" y="21115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4-dot99"/>
          <p:cNvSpPr/>
          <p:nvPr/>
        </p:nvSpPr>
        <p:spPr>
          <a:xfrm>
            <a:off x="4381576" y="21115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4-dot100"/>
          <p:cNvSpPr/>
          <p:nvPr/>
        </p:nvSpPr>
        <p:spPr>
          <a:xfrm>
            <a:off x="1752676" y="26373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4-dot101"/>
          <p:cNvSpPr/>
          <p:nvPr/>
        </p:nvSpPr>
        <p:spPr>
          <a:xfrm>
            <a:off x="2278456" y="26373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4-dot102"/>
          <p:cNvSpPr/>
          <p:nvPr/>
        </p:nvSpPr>
        <p:spPr>
          <a:xfrm>
            <a:off x="2804236" y="26373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dot103"/>
          <p:cNvSpPr/>
          <p:nvPr/>
        </p:nvSpPr>
        <p:spPr>
          <a:xfrm>
            <a:off x="3330016" y="26373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dot104"/>
          <p:cNvSpPr/>
          <p:nvPr/>
        </p:nvSpPr>
        <p:spPr>
          <a:xfrm>
            <a:off x="3855796" y="26373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4-dot105"/>
          <p:cNvSpPr/>
          <p:nvPr/>
        </p:nvSpPr>
        <p:spPr>
          <a:xfrm>
            <a:off x="4381576" y="26373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4-dot106"/>
          <p:cNvSpPr/>
          <p:nvPr/>
        </p:nvSpPr>
        <p:spPr>
          <a:xfrm>
            <a:off x="1752676" y="31631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4-dot107"/>
          <p:cNvSpPr/>
          <p:nvPr/>
        </p:nvSpPr>
        <p:spPr>
          <a:xfrm>
            <a:off x="2278456" y="31631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4-dot108"/>
          <p:cNvSpPr/>
          <p:nvPr/>
        </p:nvSpPr>
        <p:spPr>
          <a:xfrm>
            <a:off x="2804236" y="31631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4-dot109"/>
          <p:cNvSpPr/>
          <p:nvPr/>
        </p:nvSpPr>
        <p:spPr>
          <a:xfrm>
            <a:off x="3330016" y="31631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4-dot110"/>
          <p:cNvSpPr/>
          <p:nvPr/>
        </p:nvSpPr>
        <p:spPr>
          <a:xfrm>
            <a:off x="3855796" y="31631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4-dot111"/>
          <p:cNvSpPr/>
          <p:nvPr/>
        </p:nvSpPr>
        <p:spPr>
          <a:xfrm>
            <a:off x="4381576" y="31631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4-dot112"/>
          <p:cNvSpPr/>
          <p:nvPr/>
        </p:nvSpPr>
        <p:spPr>
          <a:xfrm>
            <a:off x="1752676" y="368891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4-dot113"/>
          <p:cNvSpPr/>
          <p:nvPr/>
        </p:nvSpPr>
        <p:spPr>
          <a:xfrm>
            <a:off x="2278456" y="368891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4-dot114"/>
          <p:cNvSpPr/>
          <p:nvPr/>
        </p:nvSpPr>
        <p:spPr>
          <a:xfrm>
            <a:off x="2804236" y="368891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4-dot115"/>
          <p:cNvSpPr/>
          <p:nvPr/>
        </p:nvSpPr>
        <p:spPr>
          <a:xfrm>
            <a:off x="3330016" y="368891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4-dot116"/>
          <p:cNvSpPr/>
          <p:nvPr/>
        </p:nvSpPr>
        <p:spPr>
          <a:xfrm>
            <a:off x="3855796" y="368891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4-dot117"/>
          <p:cNvSpPr/>
          <p:nvPr/>
        </p:nvSpPr>
        <p:spPr>
          <a:xfrm>
            <a:off x="4381576" y="368891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4-dot118"/>
          <p:cNvSpPr/>
          <p:nvPr/>
        </p:nvSpPr>
        <p:spPr>
          <a:xfrm>
            <a:off x="1752676" y="421469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4-dot119"/>
          <p:cNvSpPr/>
          <p:nvPr/>
        </p:nvSpPr>
        <p:spPr>
          <a:xfrm>
            <a:off x="2278456" y="421469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4-dot120"/>
          <p:cNvSpPr/>
          <p:nvPr/>
        </p:nvSpPr>
        <p:spPr>
          <a:xfrm>
            <a:off x="2804236" y="421469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4-dot121"/>
          <p:cNvSpPr/>
          <p:nvPr/>
        </p:nvSpPr>
        <p:spPr>
          <a:xfrm>
            <a:off x="3330016" y="421469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4-dot122"/>
          <p:cNvSpPr/>
          <p:nvPr/>
        </p:nvSpPr>
        <p:spPr>
          <a:xfrm>
            <a:off x="3855796" y="421469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4-dot123"/>
          <p:cNvSpPr/>
          <p:nvPr/>
        </p:nvSpPr>
        <p:spPr>
          <a:xfrm>
            <a:off x="4381576" y="421469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4-dot124"/>
          <p:cNvSpPr/>
          <p:nvPr/>
        </p:nvSpPr>
        <p:spPr>
          <a:xfrm>
            <a:off x="1752676" y="47404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4-dot125"/>
          <p:cNvSpPr/>
          <p:nvPr/>
        </p:nvSpPr>
        <p:spPr>
          <a:xfrm>
            <a:off x="2278456" y="47404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4-dot126"/>
          <p:cNvSpPr/>
          <p:nvPr/>
        </p:nvSpPr>
        <p:spPr>
          <a:xfrm>
            <a:off x="2804236" y="47404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4-dot127"/>
          <p:cNvSpPr/>
          <p:nvPr/>
        </p:nvSpPr>
        <p:spPr>
          <a:xfrm>
            <a:off x="3330016" y="47404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4-dot128"/>
          <p:cNvSpPr/>
          <p:nvPr/>
        </p:nvSpPr>
        <p:spPr>
          <a:xfrm>
            <a:off x="3855796" y="47404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4-dot129"/>
          <p:cNvSpPr/>
          <p:nvPr/>
        </p:nvSpPr>
        <p:spPr>
          <a:xfrm>
            <a:off x="4381576" y="474047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14-dot130"/>
          <p:cNvSpPr/>
          <p:nvPr/>
        </p:nvSpPr>
        <p:spPr>
          <a:xfrm>
            <a:off x="1752676" y="52662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14-dot131"/>
          <p:cNvSpPr/>
          <p:nvPr/>
        </p:nvSpPr>
        <p:spPr>
          <a:xfrm>
            <a:off x="2278456" y="52662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14-dot132"/>
          <p:cNvSpPr/>
          <p:nvPr/>
        </p:nvSpPr>
        <p:spPr>
          <a:xfrm>
            <a:off x="2804236" y="52662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14-dot133"/>
          <p:cNvSpPr/>
          <p:nvPr/>
        </p:nvSpPr>
        <p:spPr>
          <a:xfrm>
            <a:off x="3330016" y="52662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14-dot134"/>
          <p:cNvSpPr/>
          <p:nvPr/>
        </p:nvSpPr>
        <p:spPr>
          <a:xfrm>
            <a:off x="3855796" y="52662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14-dot135"/>
          <p:cNvSpPr/>
          <p:nvPr/>
        </p:nvSpPr>
        <p:spPr>
          <a:xfrm>
            <a:off x="4381576" y="526625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14-dot136"/>
          <p:cNvSpPr/>
          <p:nvPr/>
        </p:nvSpPr>
        <p:spPr>
          <a:xfrm>
            <a:off x="1752676" y="57920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14-dot137"/>
          <p:cNvSpPr/>
          <p:nvPr/>
        </p:nvSpPr>
        <p:spPr>
          <a:xfrm>
            <a:off x="2278456" y="57920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14-dot138"/>
          <p:cNvSpPr/>
          <p:nvPr/>
        </p:nvSpPr>
        <p:spPr>
          <a:xfrm>
            <a:off x="2804236" y="57920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14-dot139"/>
          <p:cNvSpPr/>
          <p:nvPr/>
        </p:nvSpPr>
        <p:spPr>
          <a:xfrm>
            <a:off x="3330016" y="57920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14-dot140"/>
          <p:cNvSpPr/>
          <p:nvPr/>
        </p:nvSpPr>
        <p:spPr>
          <a:xfrm>
            <a:off x="3855796" y="5792038"/>
            <a:ext cx="325984" cy="3259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14-figure141" descr="바둑돌 47개를 한 줄에 6개씩 놓은 배열: 6개씩 7줄과 5개"/>
          <p:cNvSpPr/>
          <p:nvPr/>
        </p:nvSpPr>
        <p:spPr>
          <a:xfrm>
            <a:off x="1652778" y="2011680"/>
            <a:ext cx="3154680" cy="4206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14-card142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3" name="S14-cardtext143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6개씩 7묶음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것은 5개</a:t>
            </a:r>
            <a:endParaRPr lang="ko-KR" sz="3000" dirty="0"/>
          </a:p>
        </p:txBody>
      </p:sp>
      <p:sp>
        <p:nvSpPr>
          <p:cNvPr id="54" name="S14-card144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5" name="S14-cardtext145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÷ 6 = 7 … 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6 × 7 + 5 = 47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(세 자리 수)÷(두 자리 수)</dc:title>
  <dc:subject>KR22-G04-MAT-DIV3X2-L01</dc:subject>
  <dc:creator>education-ppt</dc:creator>
  <cp:lastModifiedBy>education-ppt</cp:lastModifiedBy>
  <cp:revision>1</cp:revision>
  <dcterms:created xsi:type="dcterms:W3CDTF">2026-10-26T07:42:55Z</dcterms:created>
  <dcterms:modified xsi:type="dcterms:W3CDTF">2026-10-26T07:42:55Z</dcterms:modified>
</cp:coreProperties>
</file>