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be3ea9a-899f-0b34-4879-c9d9d744fa92}">
          <p14:sldIdLst>
            <p14:sldId id="256"/>
            <p14:sldId id="257"/>
          </p14:sldIdLst>
        </p14:section>
        <p14:section name="개념" id="{4ee5692f-4429-23a5-e380-32604cbd813c}">
          <p14:sldIdLst>
            <p14:sldId id="258"/>
            <p14:sldId id="260"/>
            <p14:sldId id="261"/>
            <p14:sldId id="264"/>
          </p14:sldIdLst>
        </p14:section>
        <p14:section name="연습" id="{a3c1ffda-3a32-54ac-29ee-910608750974}">
          <p14:sldIdLst>
            <p14:sldId id="259"/>
            <p14:sldId id="262"/>
            <p14:sldId id="263"/>
          </p14:sldIdLst>
        </p14:section>
        <p14:section name="개념" id="{6189d536-ab10-bf46-8e16-f603f64ae6c1}">
          <p14:sldIdLst/>
        </p14:section>
        <p14:section name="연습" id="{2e1ddbbf-42d8-ebb0-52e2-d39a9d8bd251}">
          <p14:sldIdLst/>
        </p14:section>
        <p14:section name="개념" id="{6a45dfb4-ef9f-b1a0-6f99-5182cee49ce8}">
          <p14:sldIdLst/>
        </p14:section>
        <p14:section name="확인" id="{a9374d3b-f8eb-2b0f-dacc-6e3585848daf}">
          <p14:sldIdLst>
            <p14:sldId id="265"/>
            <p14:sldId id="266"/>
            <p14:sldId id="267"/>
          </p14:sldIdLst>
        </p14:section>
        <p14:section name="정리" id="{14fa7e86-40b8-f7f5-0761-642abf39ad24}">
          <p14:sldIdLst>
            <p14:sldId id="268"/>
          </p14:sldIdLst>
        </p14:section>
        <p14:section name="보충" id="{63a6cfb6-6182-a61b-e723-90eb3410e80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계산할 곱셈을 보여 주고, 두 자리 수를 곱하는 방법을 궁금하게 합니다.
시간: 약 2분
이렇게 말해 보세요
- “157 × 4는 지난 학년에 배운 방법으로 할 수 있지? 그런데 157 × 24는 어떻게 할까?”
- “오늘은 24를 20과 4로 나누어 곱하는 방법을 배울 거야.”
예상 답
- “157 × 4를 하고… 20은 어떻게 하지?” 또는 “모르겠어요.”
막히면
- 답을 확인하지 않고 넘어갑니다. S05, S06에서 같은 문제를 함께 풉니다.
주의
- 오른쪽 표는 세로셈 칸입니다. 맨 아래 □ 네 칸에 답이 들어간다는 것만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확인(곱셈)]
목적: (세 자리 수)×(한 자리 수), (두 자리 수)×(두 자리 수), 10을 곱하는 계산을 기억하는지 확인합니다.
시간: 약 3분
이렇게 말해 보세요
- “①은 213 × 3이야. 공책에 세로셈으로 해 볼래?”
- “②는 24 × 13, ③은 45 × 10이야. ③은 어떻게 빨리 할 수 있을까?”
정답
- ① 639
- ② 312(24 × 3 = 72, 24 × 10 = 240, 72 + 240 = 312)
- ③ 450
막히면
- ①이 어려우면 S14(보충)를 먼저 합니다.
- ②가 어려우면 보충 뒤에도 초3 자연수계산 7차시 ‘(두 자리 수)×(두 자리 수)’(KR22-G03-MAT-MUL2X2-L01)를 먼저 하는 것이 좋습니다. ①이 어려우면 초3 자연수계산 6차시 ‘(세 자리 수)×(한 자리 수)’(KR22-G03-MAT-MUL3X1-L01)도 함께 봅니다.
주의
- ③에서 ‘10을 곱하면 끝에 0을 붙인다’는 것을 말하게 합니다. 오늘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(세 자리 수)×(몇십)]
목적: (세 자리 수)×(몇십)은 (세 자리 수)×(몇)을 한 뒤 10배 하면 된다는 것을 압니다.
시간: 약 3분
이렇게 말해 보세요
- “213 × 3은 639였지? 30은 3의 몇 배야?”
- “곱하는 수가 10배가 되면 곱도 10배가 돼. 639의 10배는?”
- “그래서 213 × 30은 213 × 3을 하고 끝에 0을 하나 붙이면 돼.”
예상 답
- “10배요.” “6390이요.”
막히면
- 30 = 3 × 10으로 쓰고, 213 × 3 × 10을 차례로 계산해 보입니다.
주의
- ‘0을 붙인다’만 외우지 않도록 ‘30은 3의 10배라서’라는 까닭을 꼭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몇십 곱하기 연습]
목적: (세 자리 수)×(몇십)을 (세 자리 수)×(몇)을 이용해 계산합니다.
시간: 약 3분
이렇게 말해 보세요
- “①은 132 × 2를 먼저 해. 그다음 무엇을 할까?”
- “④는 250 × 4를 먼저 해 볼래? 그 뒤에 0을 붙여.”
정답
- ① 2640(132 × 2 = 264)
- ② 6420(214 × 3 = 642)
- ③ 12240(306 × 4 = 1224)
- ④ 10000(250 × 4 = 1000)
막히면
- (세 자리 수)×(몇)이 막히면 공책에 세로셈으로 하게 합니다.
- ④를 1000으로 답하면 250 × 4 = 1000에 0을 붙이지 않은 것입니다(M4).
주의
- ③, ④는 곱이 다섯 자리 수입니다. 지난 차시처럼 네 자리 끊어 읽게 해도 좋습니다(12240은 만 이천이백사십).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곱하는 수를 몇십과 몇으로 나누기]
목적: 157 × 24를 157 × 20과 157 × 4로 나누어 곱한 뒤 더하는 원리를 압니다.
시간: 약 3분
이렇게 말해 보세요
- “24는 20과 4로 나눌 수 있지? 157에 20을 곱한 것과 4를 곱한 것을 따로 구해 보자.”
- “157 × 4 = 628, 157 × 20 = 3140. 두 곱을 더하면 157 × 24야.”
예상 답
- “628 + 3140 = 3768이에요.”
막히면
- 157개씩 24묶음을 157개씩 20묶음과 4묶음으로 나누어 생각하게 합니다. 바둑돌로 작은 수(12 × 13 = 12 × 10 + 12 × 3)를 먼저 해 볼 수도 있습니다.
주의
- 이 표의 두 칸이 다음 장 세로셈의 두 줄이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세로셈 시범]
목적: S05에서 나누어 곱한 것을 세로셈 두 줄로 쓰고 더하는 방법을 시범으로 보여 줍니다.
시간: 약 4분
이렇게 말해 보세요
- “먼저 일의 자리 4를 곱해. 7 × 4 = 28, 8을 쓰고 2를 올려. 5 × 4 = 20에 2를 더해 22, 2를 쓰고 2를 올려. 1 × 4 = 4에 2를 더해 6. 그래서 628.”
- “다음은 십의 자리 2, 사실은 20을 곱해. 157 × 20 = 3140. 일의 자리에는 0이 와.”
- “두 줄을 더하면 3768이야.”
예상 답
- “3768이에요.”
막히면
- S05의 표와 나란히 보여 주며 ①은 157 × 4, ②는 157 × 20이라고 짚어 줍니다.
- 올림한 수는 공책의 윗자리 위에 작게 쓰게 합니다.
주의
- 교과서나 다른 책에서는 둘째 줄 끝의 0을 생략하고 한 칸 왼쪽부터 쓰기도 합니다. 처음에는 0을 써서 자리를 맞추게 합니다.
- 지치면 여기서 쉬고, 다음에 S05·S06을 짧게 다시 본 뒤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세로셈 연습]
목적: 도움을 받으며 (세 자리 수)×(두 자리 수)를 세로셈으로 계산합니다.
시간: 약 4분
이렇게 말해 보세요
- “①은 오른쪽 세로셈 칸에 해 보자. ①번 줄은 213에 무엇을 곱한 거야? ②번 줄은?”
- “②, ③은 공책에 세로셈으로 해 볼래?”
정답
- ① 6816(213 × 2 = 426, 213 × 30 = 6390)
- ② 3650(146 × 5 = 730, 146 × 20 = 2920)
- ③ 5236(308 × 7 = 2156, 308 × 10 = 3080)
막히면
- 두 줄 중 어느 줄을 하고 있는지 “지금 213에 2를 곱하고 있어, 30을 곱하고 있어?”라고 묻습니다.
- 곱셈 중 올림을 빠뜨리면 올림한 수를 작게 쓰게 합니다(M3).
주의
- ③의 둘째 줄은 308 × 10 = 3080입니다. 십의 자리 숫자가 1이어도 끝에 0이 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비교(십의 자리 곱의 0 빠뜨리기)]
목적: 십의 자리 곱을 몇십으로 보지 않고 더하는 실수를 찾고, 어림으로 답이 알맞은지 판단합니다(M1).
시간: 약 3분
이렇게 말해 보세요
- “토끼와 곰의 답이 아주 달라. 243 × 31을 어림하면 240 × 30쯤이야. 얼마쯤 될까?”
- “토끼의 둘째 줄 243 × 3은 사실 243에 무엇을 곱한 거야?”
예상 답
- “곰이요. 3은 30이라서 0을 붙여야 해요.” “토끼 답은 너무 작아요.”
정답
- 곰이 맞습니다. 243 × 31 = 243 + 7290 = 7533입니다.
- 31의 3은 30이므로 둘째 줄은 243 × 30 = 7290입니다. 토끼는 729로 써서 0을 빠뜨렸습니다.
- 어림: 240 × 30 = 7200이므로 972는 너무 작습니다.
막히면
- S05처럼 표를 그려 243 × 30과 243 × 1을 따로 구하게 합니다.
주의
- 답을 구한 뒤 어림한 값과 비교하는 습관을 들이면 자리 실수를 스스로 찾을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곱이 다섯 자리 수인 세로셈과 어림]
목적: 곱이 다섯 자리 수가 되는 경우를 만의 자리까지 쓰고, 어림으로 답을 확인합니다.
시간: 약 3분
이렇게 말해 보세요
- “426 × 8 = 3408, 426 × 30 = 12780이야. 둘째 줄은 다섯 자리 수라서 만의 자리까지 써.”
- “더하면 16188. 어림하면 400 × 40 = 16000이니까 비슷하지?”
예상 답
- “16188이요. 만 육천백팔십팔.”
막히면
- 표의 ①, ②, ③ 줄을 손가락으로 짚으며 자리를 맞추어 더합니다.
주의
- 어림은 가장 가까운 몇백, 몇십으로 바꾸어 곱합니다. 어림한 값과 크게 다르면 다시 계산하게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(세 자리 수)×(몇십)과 (세 자리 수)×(두 자리 수)를 계산하는지 확인합니다.
시간: 약 5분
이렇게 말해 보세요
- “이번에는 혼자 공책에 세로셈으로 풀어 볼래? 다 풀면 둘째 줄이 무엇을 곱한 것인지 말해 줘.”
정답
- ① 6480
- ② 3036(396 + 2640)
- ③ 9350(1100 + 8250)
- ④ 23782(3102 + 20680)
막히면
- 바로 알려 주지 말고 “24를 둘로 나누면?”처럼 곱하는 수를 몇십과 몇으로 나누게만 합니다.
- 도움을 받아 해결했다면 기록표에 ‘도움’으로 표시합니다.
주의
- ④는 곱이 다섯 자리 수입니다. ①~③을 맞히고 ④만 틀렸다면 오늘 목표의 핵심은 이룬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어느 줄에서 달라졌는지 같이 찾아보자.”
정답
- ① 6480 ② 3036 ③ 9350 ④ 23782
막히면
- 둘째 줄의 0을 빠뜨렸으면 S08로, 곱셈의 올림을 빠뜨렸으면 S14로 돌아갑니다.
- 어림 예: ②는 130 × 20 = 2600쯤, ④는 500 × 50 = 25000쯤이므로 660이나 3102는 너무 작습니다.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확인(어림으로 답 판단)]
목적: 처음 보는 문제에서 어림으로 알맞은 곱을 고르고, 틀린 답이 왜 나왔는지 설명하는지 확인합니다.
시간: 약 3분
이렇게 말해 보세요
- “389 × 21은 얼마쯤일까? 400 × 20으로 어림해 봐. 가, 나, 다 중 알맞은 답은?”
- “가와 다는 어떤 실수를 해서 나왔을까?”
정답
- 나(8169). 400 × 20 = 8000에 가깝습니다. 389 × 21 = 389 + 7780 = 8169.
- 가(1167)는 389 × 20을 778로 써서 0을 빠뜨린 답, 다(81690)는 0을 하나 더 붙인 답입니다.
막히면
- 세 수를 네 자리 끊어 읽게 하고(천백육십칠, 팔천백육십구, 팔만 천육백구십) 8000과 가장 가까운 수를 찾게 합니다.
주의
- 답과 함께 ‘어림하면 8000쯤’이라는 까닭을 말하면 목표 B의 확인이 된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“157 × 24는 어떻게 계산했어? 둘째 줄 끝에는 왜 0이 와?”
예상 답
- “157 × 4와 157 × 20을 더해요.” “20을 곱했으니까요.”
정답
- ① 4260 ② 9245(645 + 8600) ③ 19136(736 + 18400)
막히면
- S05의 표와 S06의 세로셈을 나란히 보여 줍니다.
주의
- 다음 차시(나눗셈)에서는 오늘 배운 곱셈으로 몫을 어림하고 확인합니다.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보충((세 자리 수)×(한 자리 수))]
목적: S02에서 (세 자리 수)×(한 자리 수)가 흔들리면 올림이 있는 곱셈을 다시 익힙니다.
시간: 약 5분
이렇게 말해 보세요
- “일의 자리부터 곱해. 7 × 4 = 28이면 8을 쓰고 2는 십의 자리 위에 작게 써.”
- “십의 자리 5 × 4 = 20에 올린 2를 더하면 22. 2를 쓰고 2를 백의 자리로 올려. 백의 자리 1 × 4 = 4에 2를 더하면 6.”
정답
- 157 × 4 = 628
막히면
- 157을 100 + 50 + 7로 나누어 400 + 200 + 28 = 628로 계산해 봅니다. 236 × 3, 148 × 5도 해 봅니다(708, 740).
주의
- 보충으로도 어려우면 초3 자연수계산 6차시 ‘(세 자리 수)×(한 자리 수)’(KR22-G03-MAT-MUL3X1-L01)와 초3 자연수계산 7차시 ‘(두 자리 수)×(두 자리 수)’(KR22-G03-MAT-MUL2X2-L01)를 먼저 합니다. 계획상 바로 앞 차시는 초4 수와연산 2차시 ‘억과 조’(KR22-G04-MAT-EOK-L01)입니다.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(세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(세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(세 자리 수)×(두 자리 수)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수를 곱해요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× 24는 어떻게 계산할까?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965200"/>
          <a:ext cx="384048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768096"/>
                <a:gridCol w="768096"/>
                <a:gridCol w="768096"/>
                <a:gridCol w="768096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몇십을 곱하는 방법을 설명해요.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세로셈으로 곱셈을 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× 13 = □</a:t>
            </a:r>
            <a:endParaRPr lang="ko-KR" sz="34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× 10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몇십을 곱하면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30을 계산해요.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= 3 × 10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곱한 뒤 10배 해요.</a:t>
            </a:r>
            <a:endParaRPr lang="ko-KR" sz="3000" dirty="0"/>
          </a:p>
        </p:txBody>
      </p:sp>
      <p:sp>
        <p:nvSpPr>
          <p:cNvPr id="6" name="S03-card1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10배 하면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0이 하나 붙어요.</a:t>
            </a:r>
            <a:endParaRPr lang="ko-KR" sz="3000" dirty="0"/>
          </a:p>
        </p:txBody>
      </p:sp>
      <p:sp>
        <p:nvSpPr>
          <p:cNvPr id="8" name="S03-eqtext15"/>
          <p:cNvSpPr txBox="1"/>
          <p:nvPr/>
        </p:nvSpPr>
        <p:spPr>
          <a:xfrm>
            <a:off x="548640" y="2011680"/>
            <a:ext cx="11091672" cy="273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 = 639</a:t>
            </a:r>
            <a:endParaRPr lang="ko-KR" sz="3600" dirty="0"/>
          </a:p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30 = 6390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몇십 곱하기</a:t>
            </a:r>
            <a:endParaRPr lang="ko-KR" sz="40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(세 자리 수)×(몇)을 먼저 해요.</a:t>
            </a:r>
            <a:endParaRPr lang="ko-KR" sz="3000" dirty="0"/>
          </a:p>
        </p:txBody>
      </p:sp>
      <p:sp>
        <p:nvSpPr>
          <p:cNvPr id="4" name="S04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몇을 곱한 뒤 끝에 0을 하나 붙여요.</a:t>
            </a:r>
            <a:endParaRPr lang="ko-KR" sz="3000" dirty="0"/>
          </a:p>
        </p:txBody>
      </p:sp>
      <p:sp>
        <p:nvSpPr>
          <p:cNvPr id="6" name="S04-chip1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eqtext2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132 × 20 = □</a:t>
            </a:r>
            <a:endParaRPr lang="ko-KR" sz="3400" dirty="0"/>
          </a:p>
        </p:txBody>
      </p:sp>
      <p:sp>
        <p:nvSpPr>
          <p:cNvPr id="8" name="S04-chip2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eqtext2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214 × 30 = □</a:t>
            </a:r>
            <a:endParaRPr lang="ko-KR" sz="3400" dirty="0"/>
          </a:p>
        </p:txBody>
      </p:sp>
      <p:sp>
        <p:nvSpPr>
          <p:cNvPr id="10" name="S04-chip2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4-eqtext2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306 × 40 = □</a:t>
            </a:r>
            <a:endParaRPr lang="ko-KR" sz="3400" dirty="0"/>
          </a:p>
        </p:txBody>
      </p:sp>
      <p:sp>
        <p:nvSpPr>
          <p:cNvPr id="12" name="S04-chip2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4-eqtext2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 × 40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둘로 나누어 곱해요</a:t>
            </a:r>
            <a:endParaRPr lang="ko-KR" sz="4000" dirty="0"/>
          </a:p>
        </p:txBody>
      </p:sp>
      <p:sp>
        <p:nvSpPr>
          <p:cNvPr id="3" name="S05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× 24 = 157 × 20 + 157 × 4</a:t>
            </a:r>
            <a:endParaRPr lang="ko-KR" sz="3000" dirty="0"/>
          </a:p>
        </p:txBody>
      </p:sp>
      <p:sp>
        <p:nvSpPr>
          <p:cNvPr id="4" name="S05-card28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9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3140 + 628 = 3768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곱을 더하면 157 × 24예요.</a:t>
            </a:r>
            <a:endParaRPr lang="ko-KR" sz="3000" dirty="0"/>
          </a:p>
        </p:txBody>
      </p:sp>
      <p:graphicFrame>
        <p:nvGraphicFramePr>
          <p:cNvPr id="6" name="S05-table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94076" y="2486914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3140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label31"/>
          <p:cNvSpPr txBox="1"/>
          <p:nvPr/>
        </p:nvSpPr>
        <p:spPr>
          <a:xfrm>
            <a:off x="548640" y="43357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157에 20과 4를 각각 곱해요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곱해요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줄은 20을 곱했으니 끝에 0이 와요.</a:t>
            </a:r>
            <a:endParaRPr lang="ko-KR" sz="3000" dirty="0"/>
          </a:p>
        </p:txBody>
      </p:sp>
      <p:graphicFrame>
        <p:nvGraphicFramePr>
          <p:cNvPr id="7" name="S06-table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6190" y="1516380"/>
          <a:ext cx="402336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  <a:gridCol w="804672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6-stepno35"/>
          <p:cNvSpPr txBox="1"/>
          <p:nvPr/>
        </p:nvSpPr>
        <p:spPr>
          <a:xfrm>
            <a:off x="548640" y="1854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6-text36"/>
          <p:cNvSpPr txBox="1"/>
          <p:nvPr/>
        </p:nvSpPr>
        <p:spPr>
          <a:xfrm>
            <a:off x="1325880" y="1854708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× 4 = 628을 써요.</a:t>
            </a:r>
            <a:endParaRPr lang="ko-KR" sz="3000" dirty="0"/>
          </a:p>
        </p:txBody>
      </p:sp>
      <p:sp>
        <p:nvSpPr>
          <p:cNvPr id="8" name="S06-stepno37"/>
          <p:cNvSpPr txBox="1"/>
          <p:nvPr/>
        </p:nvSpPr>
        <p:spPr>
          <a:xfrm>
            <a:off x="548640" y="2613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6-text38"/>
          <p:cNvSpPr txBox="1"/>
          <p:nvPr/>
        </p:nvSpPr>
        <p:spPr>
          <a:xfrm>
            <a:off x="1325880" y="2567940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× 20 = 3140을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아래에 써요.</a:t>
            </a:r>
            <a:endParaRPr lang="ko-KR" sz="3000" dirty="0"/>
          </a:p>
        </p:txBody>
      </p:sp>
      <p:sp>
        <p:nvSpPr>
          <p:cNvPr id="10" name="S06-stepno39"/>
          <p:cNvSpPr txBox="1"/>
          <p:nvPr/>
        </p:nvSpPr>
        <p:spPr>
          <a:xfrm>
            <a:off x="548640" y="3707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6-text40"/>
          <p:cNvSpPr txBox="1"/>
          <p:nvPr/>
        </p:nvSpPr>
        <p:spPr>
          <a:xfrm>
            <a:off x="1325880" y="3662172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줄을 더해요: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628 + 3140 = 3768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7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줄 끝에는 0을 써요.</a:t>
            </a:r>
            <a:endParaRPr lang="ko-KR" sz="3000" dirty="0"/>
          </a:p>
        </p:txBody>
      </p:sp>
      <p:graphicFrame>
        <p:nvGraphicFramePr>
          <p:cNvPr id="8" name="S07-table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38594" y="1395984"/>
          <a:ext cx="384048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768096"/>
                <a:gridCol w="768096"/>
                <a:gridCol w="768096"/>
                <a:gridCol w="768096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7-label44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세로셈으로</a:t>
            </a:r>
            <a:endParaRPr lang="ko-KR" sz="2400" dirty="0"/>
          </a:p>
        </p:txBody>
      </p:sp>
      <p:sp>
        <p:nvSpPr>
          <p:cNvPr id="7" name="S07-chip45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07-eqtext46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213 × 32 = □</a:t>
            </a:r>
            <a:endParaRPr lang="ko-KR" sz="3400" dirty="0"/>
          </a:p>
        </p:txBody>
      </p:sp>
      <p:sp>
        <p:nvSpPr>
          <p:cNvPr id="9" name="S07-chip4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7-eqtext48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146 × 25 = □</a:t>
            </a:r>
            <a:endParaRPr lang="ko-KR" sz="3400" dirty="0"/>
          </a:p>
        </p:txBody>
      </p:sp>
      <p:sp>
        <p:nvSpPr>
          <p:cNvPr id="11" name="S07-chip49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07-eqtext50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308 × 17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5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× 31을 계산했어요.</a:t>
            </a:r>
            <a:endParaRPr lang="ko-KR" sz="3000" dirty="0"/>
          </a:p>
        </p:txBody>
      </p:sp>
      <p:sp>
        <p:nvSpPr>
          <p:cNvPr id="5" name="S08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어림해서 까닭을 말해요.</a:t>
            </a:r>
            <a:endParaRPr lang="ko-KR" sz="3000" dirty="0"/>
          </a:p>
        </p:txBody>
      </p:sp>
      <p:sp>
        <p:nvSpPr>
          <p:cNvPr id="7" name="S08-chip5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972</a:t>
            </a:r>
            <a:endParaRPr lang="ko-KR" sz="2400" dirty="0"/>
          </a:p>
        </p:txBody>
      </p:sp>
      <p:sp>
        <p:nvSpPr>
          <p:cNvPr id="8" name="S08-text5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× 1 = 243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× 3 = 729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+ 729 = 972</a:t>
            </a:r>
            <a:endParaRPr lang="ko-KR" sz="3000" dirty="0"/>
          </a:p>
        </p:txBody>
      </p:sp>
      <p:sp>
        <p:nvSpPr>
          <p:cNvPr id="9" name="S08-chip5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7533</a:t>
            </a:r>
            <a:endParaRPr lang="ko-KR" sz="2400" dirty="0"/>
          </a:p>
        </p:txBody>
      </p:sp>
      <p:sp>
        <p:nvSpPr>
          <p:cNvPr id="10" name="S08-text5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× 1 = 243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× 30 = 7290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243 + 7290 = 7533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곱이 다섯 자리일 때</a:t>
            </a:r>
            <a:endParaRPr lang="ko-KR" sz="4000" dirty="0"/>
          </a:p>
        </p:txBody>
      </p:sp>
      <p:sp>
        <p:nvSpPr>
          <p:cNvPr id="3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어림: 400 × 40 = 16000, 답과 비슷해요.</a:t>
            </a:r>
            <a:endParaRPr lang="ko-KR" sz="3000" dirty="0"/>
          </a:p>
        </p:txBody>
      </p:sp>
      <p:graphicFrame>
        <p:nvGraphicFramePr>
          <p:cNvPr id="10" name="S09-table6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0982" y="1516380"/>
          <a:ext cx="4572000" cy="914400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9-stepno62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63"/>
          <p:cNvSpPr txBox="1"/>
          <p:nvPr/>
        </p:nvSpPr>
        <p:spPr>
          <a:xfrm>
            <a:off x="1325880" y="22357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426 × 8 = 3408</a:t>
            </a:r>
            <a:endParaRPr lang="ko-KR" sz="3000" dirty="0"/>
          </a:p>
        </p:txBody>
      </p:sp>
      <p:sp>
        <p:nvSpPr>
          <p:cNvPr id="8" name="S09-stepno64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65"/>
          <p:cNvSpPr txBox="1"/>
          <p:nvPr/>
        </p:nvSpPr>
        <p:spPr>
          <a:xfrm>
            <a:off x="1325880" y="29489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426 × 30 = 12780</a:t>
            </a:r>
            <a:endParaRPr lang="ko-KR" sz="3000" dirty="0"/>
          </a:p>
        </p:txBody>
      </p:sp>
      <p:sp>
        <p:nvSpPr>
          <p:cNvPr id="10" name="S09-stepno66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67"/>
          <p:cNvSpPr txBox="1"/>
          <p:nvPr/>
        </p:nvSpPr>
        <p:spPr>
          <a:xfrm>
            <a:off x="1325880" y="366217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3408 + 12780 = 16188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6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둘째 줄을 설명해요.</a:t>
            </a:r>
            <a:endParaRPr lang="ko-KR" sz="3000" dirty="0"/>
          </a:p>
        </p:txBody>
      </p:sp>
      <p:sp>
        <p:nvSpPr>
          <p:cNvPr id="4" name="S10-chip6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7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324 × 20 = □</a:t>
            </a:r>
            <a:endParaRPr lang="ko-KR" sz="3400" dirty="0"/>
          </a:p>
        </p:txBody>
      </p:sp>
      <p:sp>
        <p:nvSpPr>
          <p:cNvPr id="6" name="S10-chip7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7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132 × 23 = □</a:t>
            </a:r>
            <a:endParaRPr lang="ko-KR" sz="3400" dirty="0"/>
          </a:p>
        </p:txBody>
      </p:sp>
      <p:sp>
        <p:nvSpPr>
          <p:cNvPr id="8" name="S10-chip7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7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 × 34 = □</a:t>
            </a:r>
            <a:endParaRPr lang="ko-KR" sz="3400" dirty="0"/>
          </a:p>
        </p:txBody>
      </p:sp>
      <p:sp>
        <p:nvSpPr>
          <p:cNvPr id="10" name="S10-chip7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7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517 × 46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어림한 값과 비교해 보게 하세요.</a:t>
            </a:r>
            <a:endParaRPr lang="ko-KR" sz="3000" dirty="0"/>
          </a:p>
        </p:txBody>
      </p:sp>
      <p:sp>
        <p:nvSpPr>
          <p:cNvPr id="5" name="S11-chip7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80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6480</a:t>
            </a:r>
            <a:endParaRPr lang="ko-KR" sz="3000" dirty="0"/>
          </a:p>
        </p:txBody>
      </p:sp>
      <p:sp>
        <p:nvSpPr>
          <p:cNvPr id="7" name="S11-text81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324 × 2 = 648</a:t>
            </a:r>
            <a:endParaRPr lang="ko-KR" sz="2400" dirty="0"/>
          </a:p>
        </p:txBody>
      </p:sp>
      <p:sp>
        <p:nvSpPr>
          <p:cNvPr id="8" name="S11-text82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3036</a:t>
            </a:r>
            <a:endParaRPr lang="ko-KR" sz="3000" dirty="0"/>
          </a:p>
        </p:txBody>
      </p:sp>
      <p:sp>
        <p:nvSpPr>
          <p:cNvPr id="9" name="S11-text83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396 + 2640</a:t>
            </a:r>
            <a:endParaRPr lang="ko-KR" sz="2400" dirty="0"/>
          </a:p>
        </p:txBody>
      </p:sp>
      <p:sp>
        <p:nvSpPr>
          <p:cNvPr id="10" name="S11-text84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9350</a:t>
            </a:r>
            <a:endParaRPr lang="ko-KR" sz="3000" dirty="0"/>
          </a:p>
        </p:txBody>
      </p:sp>
      <p:sp>
        <p:nvSpPr>
          <p:cNvPr id="11" name="S11-text85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1100 + 8250</a:t>
            </a:r>
            <a:endParaRPr lang="ko-KR" sz="2400" dirty="0"/>
          </a:p>
        </p:txBody>
      </p:sp>
      <p:sp>
        <p:nvSpPr>
          <p:cNvPr id="12" name="S11-text86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23782</a:t>
            </a:r>
            <a:endParaRPr lang="ko-KR" sz="3000" dirty="0"/>
          </a:p>
        </p:txBody>
      </p:sp>
      <p:sp>
        <p:nvSpPr>
          <p:cNvPr id="13" name="S11-text87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3102 + 20680</a:t>
            </a:r>
            <a:endParaRPr lang="ko-KR" sz="2400" dirty="0"/>
          </a:p>
        </p:txBody>
      </p:sp>
      <p:sp>
        <p:nvSpPr>
          <p:cNvPr id="14" name="S11-chip8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1-text8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660</a:t>
            </a:r>
            <a:endParaRPr lang="ko-KR" sz="3000" dirty="0"/>
          </a:p>
        </p:txBody>
      </p:sp>
      <p:sp>
        <p:nvSpPr>
          <p:cNvPr id="16" name="S11-text9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줄 0을 빠뜨림</a:t>
            </a:r>
            <a:endParaRPr lang="ko-KR" sz="2400" dirty="0"/>
          </a:p>
        </p:txBody>
      </p:sp>
      <p:sp>
        <p:nvSpPr>
          <p:cNvPr id="17" name="S11-text9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3102</a:t>
            </a:r>
            <a:endParaRPr lang="ko-KR" sz="3000" dirty="0"/>
          </a:p>
        </p:txBody>
      </p:sp>
      <p:sp>
        <p:nvSpPr>
          <p:cNvPr id="18" name="S11-text9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줄을 안 더함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어림으로 확인해요</a:t>
            </a:r>
            <a:endParaRPr lang="ko-KR" sz="4000" dirty="0"/>
          </a:p>
        </p:txBody>
      </p:sp>
      <p:sp>
        <p:nvSpPr>
          <p:cNvPr id="3" name="S12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389 × 21의 답을 골라요.</a:t>
            </a:r>
            <a:endParaRPr lang="ko-KR" sz="3000" dirty="0"/>
          </a:p>
        </p:txBody>
      </p:sp>
      <p:sp>
        <p:nvSpPr>
          <p:cNvPr id="4" name="S12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어림해서 답을 고르고, 까닭을 말해요.</a:t>
            </a:r>
            <a:endParaRPr lang="ko-KR" sz="3000" dirty="0"/>
          </a:p>
        </p:txBody>
      </p:sp>
      <p:sp>
        <p:nvSpPr>
          <p:cNvPr id="6" name="S12-chip9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2-card9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1167</a:t>
            </a:r>
            <a:endParaRPr lang="ko-KR" sz="3000" dirty="0"/>
          </a:p>
        </p:txBody>
      </p:sp>
      <p:sp>
        <p:nvSpPr>
          <p:cNvPr id="9" name="S12-chip9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2-card10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0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8169</a:t>
            </a:r>
            <a:endParaRPr lang="ko-KR" sz="3000" dirty="0"/>
          </a:p>
        </p:txBody>
      </p:sp>
      <p:sp>
        <p:nvSpPr>
          <p:cNvPr id="12" name="S12-chip10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2-card10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0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81690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곱 + 십의 자리 곱(끝에 0)을 더해요.</a:t>
            </a:r>
            <a:endParaRPr lang="ko-KR" sz="3000" dirty="0"/>
          </a:p>
        </p:txBody>
      </p:sp>
      <p:sp>
        <p:nvSpPr>
          <p:cNvPr id="5" name="S13-chip10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둘째 줄 끝에 0 쓰기</a:t>
            </a:r>
            <a:endParaRPr lang="ko-KR" sz="2400" dirty="0"/>
          </a:p>
        </p:txBody>
      </p:sp>
      <p:sp>
        <p:nvSpPr>
          <p:cNvPr id="6" name="S13-chip10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0을 빠뜨리고 더하기</a:t>
            </a:r>
            <a:endParaRPr lang="ko-KR" sz="2400" dirty="0"/>
          </a:p>
        </p:txBody>
      </p:sp>
      <p:sp>
        <p:nvSpPr>
          <p:cNvPr id="7" name="S13-text10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11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142 × 30 = □</a:t>
            </a:r>
            <a:endParaRPr lang="ko-KR" sz="2800" dirty="0"/>
          </a:p>
        </p:txBody>
      </p:sp>
      <p:sp>
        <p:nvSpPr>
          <p:cNvPr id="9" name="S13-eqtext11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215 × 43 = □</a:t>
            </a:r>
            <a:endParaRPr lang="ko-KR" sz="2800" dirty="0"/>
          </a:p>
        </p:txBody>
      </p:sp>
      <p:sp>
        <p:nvSpPr>
          <p:cNvPr id="10" name="S13-eqtext11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368 × 52 = □</a:t>
            </a:r>
            <a:endParaRPr lang="ko-KR" sz="2800" dirty="0"/>
          </a:p>
        </p:txBody>
      </p:sp>
      <p:sp>
        <p:nvSpPr>
          <p:cNvPr id="11" name="S13-text11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(세 자리 수)÷(두 자리 수)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세 자리 수 × 몇</a:t>
            </a:r>
            <a:endParaRPr lang="ko-KR" sz="4000" dirty="0"/>
          </a:p>
        </p:txBody>
      </p:sp>
      <p:sp>
        <p:nvSpPr>
          <p:cNvPr id="3" name="S14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157 × 4 = 628</a:t>
            </a:r>
            <a:endParaRPr lang="ko-KR" sz="3000" dirty="0"/>
          </a:p>
        </p:txBody>
      </p:sp>
      <p:graphicFrame>
        <p:nvGraphicFramePr>
          <p:cNvPr id="15" name="S14-table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6190" y="1800860"/>
          <a:ext cx="4023360" cy="914400"/>
        </p:xfrm>
        <a:graphic>
          <a:graphicData uri="http://schemas.openxmlformats.org/drawingml/2006/table">
            <a:tbl>
              <a:tblPr/>
              <a:tblGrid>
                <a:gridCol w="1247242"/>
                <a:gridCol w="925373"/>
                <a:gridCol w="925373"/>
                <a:gridCol w="925373"/>
              </a:tblGrid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올림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4-stepno117"/>
          <p:cNvSpPr txBox="1"/>
          <p:nvPr/>
        </p:nvSpPr>
        <p:spPr>
          <a:xfrm>
            <a:off x="548640" y="1900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4-text118"/>
          <p:cNvSpPr txBox="1"/>
          <p:nvPr/>
        </p:nvSpPr>
        <p:spPr>
          <a:xfrm>
            <a:off x="1325880" y="1854708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7 × 4 = 28,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올려요.</a:t>
            </a:r>
            <a:endParaRPr lang="ko-KR" sz="3000" dirty="0"/>
          </a:p>
        </p:txBody>
      </p:sp>
      <p:sp>
        <p:nvSpPr>
          <p:cNvPr id="8" name="S14-stepno119"/>
          <p:cNvSpPr txBox="1"/>
          <p:nvPr/>
        </p:nvSpPr>
        <p:spPr>
          <a:xfrm>
            <a:off x="548640" y="2994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4-text120"/>
          <p:cNvSpPr txBox="1"/>
          <p:nvPr/>
        </p:nvSpPr>
        <p:spPr>
          <a:xfrm>
            <a:off x="1325880" y="2948940"/>
            <a:ext cx="5443789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5 × 4 + 2 = 22,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올려요.</a:t>
            </a:r>
            <a:endParaRPr lang="ko-KR" sz="3000" dirty="0"/>
          </a:p>
        </p:txBody>
      </p:sp>
      <p:sp>
        <p:nvSpPr>
          <p:cNvPr id="10" name="S14-stepno121"/>
          <p:cNvSpPr txBox="1"/>
          <p:nvPr/>
        </p:nvSpPr>
        <p:spPr>
          <a:xfrm>
            <a:off x="548640" y="4043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4-text122"/>
          <p:cNvSpPr txBox="1"/>
          <p:nvPr/>
        </p:nvSpPr>
        <p:spPr>
          <a:xfrm>
            <a:off x="1325880" y="404317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 × 4 + 2 = 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(세 자리 수)×(두 자리 수)</dc:title>
  <dc:subject>KR22-G04-MAT-MUL3X2-L01</dc:subject>
  <dc:creator>education-ppt</dc:creator>
  <cp:lastModifiedBy>education-ppt</cp:lastModifiedBy>
  <cp:revision>1</cp:revision>
  <dcterms:created xsi:type="dcterms:W3CDTF">2026-10-26T07:39:27Z</dcterms:created>
  <dcterms:modified xsi:type="dcterms:W3CDTF">2026-10-26T07:39:27Z</dcterms:modified>
</cp:coreProperties>
</file>