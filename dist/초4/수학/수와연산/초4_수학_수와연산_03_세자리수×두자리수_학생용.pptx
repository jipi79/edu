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도입" id="{38c18966-d6de-b0d2-22c5-529cbd047d11}">
          <p14:sldIdLst>
            <p14:sldId id="256"/>
            <p14:sldId id="257"/>
          </p14:sldIdLst>
        </p14:section>
        <p14:section name="개념" id="{010e20da-bbd2-4f9a-312b-3dfa603dc636}">
          <p14:sldIdLst>
            <p14:sldId id="258"/>
            <p14:sldId id="260"/>
            <p14:sldId id="261"/>
            <p14:sldId id="264"/>
          </p14:sldIdLst>
        </p14:section>
        <p14:section name="연습" id="{f3b465ee-0289-d423-54a2-0de8a814b2d9}">
          <p14:sldIdLst>
            <p14:sldId id="259"/>
            <p14:sldId id="262"/>
            <p14:sldId id="263"/>
          </p14:sldIdLst>
        </p14:section>
        <p14:section name="개념" id="{566f35f4-6eb9-03e5-82aa-eeeddd80be23}">
          <p14:sldIdLst/>
        </p14:section>
        <p14:section name="연습" id="{33e46aef-9e2f-bb6c-5728-bbdc3d8a50fc}">
          <p14:sldIdLst/>
        </p14:section>
        <p14:section name="개념" id="{bb6f8479-1118-2e4f-792a-d9ea1ac3dab6}">
          <p14:sldIdLst/>
        </p14:section>
        <p14:section name="확인" id="{3ba8829a-84ea-f5e3-f334-40fa423fc825}">
          <p14:sldIdLst>
            <p14:sldId id="265"/>
            <p14:sldId id="266"/>
          </p14:sldIdLst>
        </p14:section>
        <p14:section name="정리" id="{4124b66a-c470-408b-7e83-dcc1a47b3633}">
          <p14:sldIdLst>
            <p14:sldId id="267"/>
          </p14:sldIdLst>
        </p14:section>
        <p14:section name="보충" id="{d429e652-496f-7384-26a2-5d55f259db44}">
          <p14:sldIdLst>
            <p14:sldId id="268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VER">
    <p:bg>
      <p:bgPr>
        <a:solidFill>
          <a:srgbClr val="26465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640080"/>
            <a:ext cx="6675120" cy="11887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46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1920240"/>
            <a:ext cx="6675120" cy="164592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30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indent="0" marL="0">
              <a:buNone/>
            </a:pPr>
            <a:endParaRPr lang="en-US" sz="3000" dirty="0"/>
          </a:p>
        </p:txBody>
      </p:sp>
      <p:sp>
        <p:nvSpPr>
          <p:cNvPr id="4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초4 수학 · 수와연산 · 3차시</a:t>
            </a:r>
            <a:endParaRPr lang="en-US" sz="12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4000" dirty="0"/>
          </a:p>
        </p:txBody>
      </p:sp>
      <p:sp>
        <p:nvSpPr>
          <p:cNvPr id="3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초4 수학 · (세 자리 수)×(두 자리 수)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LOSING">
    <p:bg>
      <p:bgPr>
        <a:solidFill>
          <a:srgbClr val="26465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4000" dirty="0"/>
          </a:p>
        </p:txBody>
      </p:sp>
      <p:sp>
        <p:nvSpPr>
          <p:cNvPr id="3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초4 수학 · (세 자리 수)×(두 자리 수)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C9DCD8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UPPORT">
    <p:bg>
      <p:bgPr>
        <a:solidFill>
          <a:srgbClr val="F4F7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4000" dirty="0"/>
          </a:p>
        </p:txBody>
      </p:sp>
      <p:sp>
        <p:nvSpPr>
          <p:cNvPr id="3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보충 자료 · 초4 수학 · (세 자리 수)×(두 자리 수)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1005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640080"/>
            <a:ext cx="66751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두 자리 수를 곱해요</a:t>
            </a:r>
            <a:endParaRPr lang="ko-KR" sz="46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1920240"/>
            <a:ext cx="66751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indent="0" marL="0">
              <a:buNone/>
            </a:pPr>
            <a:r>
              <a:rPr lang="ko-KR" altLang="en-US" sz="30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157 × 24는 어떻게 계산할까?</a:t>
            </a:r>
            <a:endParaRPr lang="ko-KR" sz="3000" dirty="0"/>
          </a:p>
        </p:txBody>
      </p:sp>
      <p:graphicFrame>
        <p:nvGraphicFramePr>
          <p:cNvPr id="2" name="S01-table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726680" y="965200"/>
          <a:ext cx="3840480" cy="914400"/>
        </p:xfrm>
        <a:graphic>
          <a:graphicData uri="http://schemas.openxmlformats.org/drawingml/2006/table">
            <a:tbl>
              <a:tblPr/>
              <a:tblGrid>
                <a:gridCol w="768096"/>
                <a:gridCol w="768096"/>
                <a:gridCol w="768096"/>
                <a:gridCol w="768096"/>
                <a:gridCol w="768096"/>
              </a:tblGrid>
              <a:tr h="568960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endParaRPr lang="en-US" sz="2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8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천</a:t>
                      </a:r>
                      <a:endParaRPr lang="en-US" sz="2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8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백</a:t>
                      </a:r>
                      <a:endParaRPr lang="en-US" sz="2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8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십</a:t>
                      </a:r>
                      <a:endParaRPr lang="en-US" sz="2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8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일</a:t>
                      </a:r>
                      <a:endParaRPr lang="en-US" sz="2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</a:tr>
              <a:tr h="568960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endParaRPr lang="en-US" sz="2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endParaRPr lang="en-US" sz="2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8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</a:t>
                      </a:r>
                      <a:endParaRPr lang="en-US" sz="2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8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5</a:t>
                      </a:r>
                      <a:endParaRPr lang="en-US" sz="2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8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7</a:t>
                      </a:r>
                      <a:endParaRPr lang="en-US" sz="2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8960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8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×</a:t>
                      </a:r>
                      <a:endParaRPr lang="en-US" sz="2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endParaRPr lang="en-US" sz="2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endParaRPr lang="en-US" sz="2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8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</a:t>
                      </a:r>
                      <a:endParaRPr lang="en-US" sz="2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8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4</a:t>
                      </a:r>
                      <a:endParaRPr lang="en-US" sz="2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8960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endParaRPr lang="en-US" sz="2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8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□</a:t>
                      </a:r>
                      <a:endParaRPr lang="en-US" sz="2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8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□</a:t>
                      </a:r>
                      <a:endParaRPr lang="en-US" sz="2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8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□</a:t>
                      </a:r>
                      <a:endParaRPr lang="en-US" sz="2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8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□</a:t>
                      </a:r>
                      <a:endParaRPr lang="en-US" sz="2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S01-card2"/>
          <p:cNvSpPr/>
          <p:nvPr/>
        </p:nvSpPr>
        <p:spPr>
          <a:xfrm>
            <a:off x="731520" y="4436364"/>
            <a:ext cx="10725912" cy="1690116"/>
          </a:xfrm>
          <a:prstGeom prst="roundRect">
            <a:avLst>
              <a:gd name="adj" fmla="val 6492"/>
            </a:avLst>
          </a:prstGeom>
          <a:solidFill>
            <a:srgbClr val="32606F"/>
          </a:solidFill>
          <a:ln w="12700">
            <a:solidFill>
              <a:srgbClr val="32606F"/>
            </a:solidFill>
            <a:prstDash val="solid"/>
          </a:ln>
        </p:spPr>
      </p:sp>
      <p:sp>
        <p:nvSpPr>
          <p:cNvPr id="6" name="S01-cardtext3"/>
          <p:cNvSpPr txBox="1"/>
          <p:nvPr/>
        </p:nvSpPr>
        <p:spPr>
          <a:xfrm>
            <a:off x="1005840" y="4573524"/>
            <a:ext cx="10177272" cy="14157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오늘 할 수 있게 될 것</a:t>
            </a:r>
            <a:endParaRPr lang="ko-KR" sz="30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4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몇십을 곱하는 방법을 설명해요.</a:t>
            </a:r>
            <a:endParaRPr lang="ko-KR" sz="30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4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세로셈으로 곱셈을 해요.</a:t>
            </a:r>
            <a:endParaRPr lang="ko-KR" sz="3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지난 학년 기억하기</a:t>
            </a:r>
            <a:endParaRPr lang="ko-KR" sz="4000" dirty="0"/>
          </a:p>
        </p:txBody>
      </p:sp>
      <p:sp>
        <p:nvSpPr>
          <p:cNvPr id="3" name="S02-chip4"/>
          <p:cNvSpPr txBox="1"/>
          <p:nvPr/>
        </p:nvSpPr>
        <p:spPr>
          <a:xfrm>
            <a:off x="548640" y="177393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</a:t>
            </a:r>
            <a:endParaRPr lang="ko-KR" sz="2400" dirty="0"/>
          </a:p>
        </p:txBody>
      </p:sp>
      <p:sp>
        <p:nvSpPr>
          <p:cNvPr id="4" name="S02-eqtext5"/>
          <p:cNvSpPr txBox="1"/>
          <p:nvPr/>
        </p:nvSpPr>
        <p:spPr>
          <a:xfrm>
            <a:off x="1344168" y="1325880"/>
            <a:ext cx="10296144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213 × 3 = □</a:t>
            </a:r>
            <a:endParaRPr lang="ko-KR" sz="3400" dirty="0"/>
          </a:p>
        </p:txBody>
      </p:sp>
      <p:sp>
        <p:nvSpPr>
          <p:cNvPr id="5" name="S02-chip6"/>
          <p:cNvSpPr txBox="1"/>
          <p:nvPr/>
        </p:nvSpPr>
        <p:spPr>
          <a:xfrm>
            <a:off x="548640" y="346557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</a:t>
            </a:r>
            <a:endParaRPr lang="ko-KR" sz="2400" dirty="0"/>
          </a:p>
        </p:txBody>
      </p:sp>
      <p:sp>
        <p:nvSpPr>
          <p:cNvPr id="6" name="S02-eqtext7"/>
          <p:cNvSpPr txBox="1"/>
          <p:nvPr/>
        </p:nvSpPr>
        <p:spPr>
          <a:xfrm>
            <a:off x="1344168" y="3017520"/>
            <a:ext cx="10296144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24 × 13 = □</a:t>
            </a:r>
            <a:endParaRPr lang="ko-KR" sz="3400" dirty="0"/>
          </a:p>
        </p:txBody>
      </p:sp>
      <p:sp>
        <p:nvSpPr>
          <p:cNvPr id="7" name="S02-chip8"/>
          <p:cNvSpPr txBox="1"/>
          <p:nvPr/>
        </p:nvSpPr>
        <p:spPr>
          <a:xfrm>
            <a:off x="548640" y="515721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</a:t>
            </a:r>
            <a:endParaRPr lang="ko-KR" sz="2400" dirty="0"/>
          </a:p>
        </p:txBody>
      </p:sp>
      <p:sp>
        <p:nvSpPr>
          <p:cNvPr id="8" name="S02-eqtext9"/>
          <p:cNvSpPr txBox="1"/>
          <p:nvPr/>
        </p:nvSpPr>
        <p:spPr>
          <a:xfrm>
            <a:off x="1344168" y="4709160"/>
            <a:ext cx="10296144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45 × 10 = □</a:t>
            </a:r>
            <a:endParaRPr lang="ko-KR" sz="3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몇십을 곱하면</a:t>
            </a:r>
            <a:endParaRPr lang="ko-KR" sz="4000" dirty="0"/>
          </a:p>
        </p:txBody>
      </p:sp>
      <p:sp>
        <p:nvSpPr>
          <p:cNvPr id="3" name="S03-text10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213 × 30을 계산해요.</a:t>
            </a:r>
            <a:endParaRPr lang="ko-KR" sz="3000" dirty="0"/>
          </a:p>
        </p:txBody>
      </p:sp>
      <p:sp>
        <p:nvSpPr>
          <p:cNvPr id="4" name="S03-card11"/>
          <p:cNvSpPr/>
          <p:nvPr/>
        </p:nvSpPr>
        <p:spPr>
          <a:xfrm>
            <a:off x="548640" y="4975860"/>
            <a:ext cx="5431536" cy="1242060"/>
          </a:xfrm>
          <a:prstGeom prst="roundRect">
            <a:avLst>
              <a:gd name="adj" fmla="val 8834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5" name="S03-cardtext12"/>
          <p:cNvSpPr txBox="1"/>
          <p:nvPr/>
        </p:nvSpPr>
        <p:spPr>
          <a:xfrm>
            <a:off x="822960" y="5113020"/>
            <a:ext cx="4882896" cy="967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30 = 3 × 10</a:t>
            </a:r>
            <a:endParaRPr lang="ko-KR" sz="30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3을 곱한 뒤 10배 해요.</a:t>
            </a:r>
            <a:endParaRPr lang="ko-KR" sz="3000" dirty="0"/>
          </a:p>
        </p:txBody>
      </p:sp>
      <p:sp>
        <p:nvSpPr>
          <p:cNvPr id="6" name="S03-card13"/>
          <p:cNvSpPr/>
          <p:nvPr/>
        </p:nvSpPr>
        <p:spPr>
          <a:xfrm>
            <a:off x="6208776" y="4975860"/>
            <a:ext cx="5431536" cy="1242060"/>
          </a:xfrm>
          <a:prstGeom prst="roundRect">
            <a:avLst>
              <a:gd name="adj" fmla="val 8834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7" name="S03-cardtext14"/>
          <p:cNvSpPr txBox="1"/>
          <p:nvPr/>
        </p:nvSpPr>
        <p:spPr>
          <a:xfrm>
            <a:off x="6483096" y="5113020"/>
            <a:ext cx="4882896" cy="967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10배 하면</a:t>
            </a:r>
            <a:endParaRPr lang="ko-KR" sz="30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끝에 0이 하나 붙어요.</a:t>
            </a:r>
            <a:endParaRPr lang="ko-KR" sz="3000" dirty="0"/>
          </a:p>
        </p:txBody>
      </p:sp>
      <p:sp>
        <p:nvSpPr>
          <p:cNvPr id="8" name="S03-eqtext15"/>
          <p:cNvSpPr txBox="1"/>
          <p:nvPr/>
        </p:nvSpPr>
        <p:spPr>
          <a:xfrm>
            <a:off x="548640" y="2011680"/>
            <a:ext cx="11091672" cy="27355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213 × 3 = 639</a:t>
            </a:r>
            <a:endParaRPr lang="ko-KR" sz="3600" dirty="0"/>
          </a:p>
          <a:p>
            <a:pPr eaLnBrk="0" algn="ctr" indent="0" marL="0">
              <a:buNone/>
            </a:pPr>
            <a:r>
              <a:rPr lang="ko-KR" altLang="en-US" sz="3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213 × 30 = 6390</a:t>
            </a:r>
            <a:endParaRPr lang="ko-KR" sz="3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몇십 곱하기</a:t>
            </a:r>
            <a:endParaRPr lang="ko-KR" sz="4000" dirty="0"/>
          </a:p>
        </p:txBody>
      </p:sp>
      <p:sp>
        <p:nvSpPr>
          <p:cNvPr id="3" name="S04-text16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(세 자리 수)×(몇)을 먼저 해요.</a:t>
            </a:r>
            <a:endParaRPr lang="ko-KR" sz="3000" dirty="0"/>
          </a:p>
        </p:txBody>
      </p:sp>
      <p:sp>
        <p:nvSpPr>
          <p:cNvPr id="4" name="S04-card17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E6ECF4"/>
          </a:solidFill>
          <a:ln w="12700">
            <a:solidFill>
              <a:srgbClr val="E6ECF4"/>
            </a:solidFill>
            <a:prstDash val="solid"/>
          </a:ln>
        </p:spPr>
      </p:sp>
      <p:sp>
        <p:nvSpPr>
          <p:cNvPr id="5" name="S04-cardtext18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몇을 곱한 뒤 끝에 0을 하나 붙여요.</a:t>
            </a:r>
            <a:endParaRPr lang="ko-KR" sz="3000" dirty="0"/>
          </a:p>
        </p:txBody>
      </p:sp>
      <p:sp>
        <p:nvSpPr>
          <p:cNvPr id="6" name="S04-chip19"/>
          <p:cNvSpPr txBox="1"/>
          <p:nvPr/>
        </p:nvSpPr>
        <p:spPr>
          <a:xfrm>
            <a:off x="548640" y="245973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</a:t>
            </a:r>
            <a:endParaRPr lang="ko-KR" sz="2400" dirty="0"/>
          </a:p>
        </p:txBody>
      </p:sp>
      <p:sp>
        <p:nvSpPr>
          <p:cNvPr id="7" name="S04-eqtext20"/>
          <p:cNvSpPr txBox="1"/>
          <p:nvPr/>
        </p:nvSpPr>
        <p:spPr>
          <a:xfrm>
            <a:off x="1344168" y="2011680"/>
            <a:ext cx="456742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132 × 20 = □</a:t>
            </a:r>
            <a:endParaRPr lang="ko-KR" sz="3400" dirty="0"/>
          </a:p>
        </p:txBody>
      </p:sp>
      <p:sp>
        <p:nvSpPr>
          <p:cNvPr id="8" name="S04-chip21"/>
          <p:cNvSpPr txBox="1"/>
          <p:nvPr/>
        </p:nvSpPr>
        <p:spPr>
          <a:xfrm>
            <a:off x="6277356" y="245973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</a:t>
            </a:r>
            <a:endParaRPr lang="ko-KR" sz="2400" dirty="0"/>
          </a:p>
        </p:txBody>
      </p:sp>
      <p:sp>
        <p:nvSpPr>
          <p:cNvPr id="9" name="S04-eqtext22"/>
          <p:cNvSpPr txBox="1"/>
          <p:nvPr/>
        </p:nvSpPr>
        <p:spPr>
          <a:xfrm>
            <a:off x="7072884" y="2011680"/>
            <a:ext cx="456742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214 × 30 = □</a:t>
            </a:r>
            <a:endParaRPr lang="ko-KR" sz="3400" dirty="0"/>
          </a:p>
        </p:txBody>
      </p:sp>
      <p:sp>
        <p:nvSpPr>
          <p:cNvPr id="10" name="S04-chip23"/>
          <p:cNvSpPr txBox="1"/>
          <p:nvPr/>
        </p:nvSpPr>
        <p:spPr>
          <a:xfrm>
            <a:off x="548640" y="410565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</a:t>
            </a:r>
            <a:endParaRPr lang="ko-KR" sz="2400" dirty="0"/>
          </a:p>
        </p:txBody>
      </p:sp>
      <p:sp>
        <p:nvSpPr>
          <p:cNvPr id="11" name="S04-eqtext24"/>
          <p:cNvSpPr txBox="1"/>
          <p:nvPr/>
        </p:nvSpPr>
        <p:spPr>
          <a:xfrm>
            <a:off x="1344168" y="3657600"/>
            <a:ext cx="456742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306 × 40 = □</a:t>
            </a:r>
            <a:endParaRPr lang="ko-KR" sz="3400" dirty="0"/>
          </a:p>
        </p:txBody>
      </p:sp>
      <p:sp>
        <p:nvSpPr>
          <p:cNvPr id="12" name="S04-chip25"/>
          <p:cNvSpPr txBox="1"/>
          <p:nvPr/>
        </p:nvSpPr>
        <p:spPr>
          <a:xfrm>
            <a:off x="6277356" y="410565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④</a:t>
            </a:r>
            <a:endParaRPr lang="ko-KR" sz="2400" dirty="0"/>
          </a:p>
        </p:txBody>
      </p:sp>
      <p:sp>
        <p:nvSpPr>
          <p:cNvPr id="13" name="S04-eqtext26"/>
          <p:cNvSpPr txBox="1"/>
          <p:nvPr/>
        </p:nvSpPr>
        <p:spPr>
          <a:xfrm>
            <a:off x="7072884" y="3657600"/>
            <a:ext cx="456742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250 × 40 = □</a:t>
            </a:r>
            <a:endParaRPr lang="ko-KR" sz="3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둘로 나누어 곱해요</a:t>
            </a:r>
            <a:endParaRPr lang="ko-KR" sz="4000" dirty="0"/>
          </a:p>
        </p:txBody>
      </p:sp>
      <p:sp>
        <p:nvSpPr>
          <p:cNvPr id="3" name="S05-text27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157 × 24 = 157 × 20 + 157 × 4</a:t>
            </a:r>
            <a:endParaRPr lang="ko-KR" sz="3000" dirty="0"/>
          </a:p>
        </p:txBody>
      </p:sp>
      <p:sp>
        <p:nvSpPr>
          <p:cNvPr id="4" name="S05-card28"/>
          <p:cNvSpPr/>
          <p:nvPr/>
        </p:nvSpPr>
        <p:spPr>
          <a:xfrm>
            <a:off x="548640" y="4975860"/>
            <a:ext cx="11091672" cy="1242060"/>
          </a:xfrm>
          <a:prstGeom prst="roundRect">
            <a:avLst>
              <a:gd name="adj" fmla="val 8834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5" name="S05-cardtext29"/>
          <p:cNvSpPr txBox="1"/>
          <p:nvPr/>
        </p:nvSpPr>
        <p:spPr>
          <a:xfrm>
            <a:off x="822960" y="5113020"/>
            <a:ext cx="10543032" cy="967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3140 + 628 = 3768</a:t>
            </a:r>
            <a:endParaRPr lang="ko-KR" sz="30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두 곱을 더하면 157 × 24예요.</a:t>
            </a:r>
            <a:endParaRPr lang="ko-KR" sz="3000" dirty="0"/>
          </a:p>
        </p:txBody>
      </p:sp>
      <p:graphicFrame>
        <p:nvGraphicFramePr>
          <p:cNvPr id="6" name="S05-table3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894076" y="2486914"/>
          <a:ext cx="6400800" cy="914400"/>
        </p:xfrm>
        <a:graphic>
          <a:graphicData uri="http://schemas.openxmlformats.org/drawingml/2006/table">
            <a:tbl>
              <a:tblPr/>
              <a:tblGrid>
                <a:gridCol w="2133600"/>
                <a:gridCol w="2133600"/>
                <a:gridCol w="2133600"/>
              </a:tblGrid>
              <a:tr h="650240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32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×</a:t>
                      </a:r>
                      <a:endParaRPr lang="en-US" sz="3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32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20</a:t>
                      </a:r>
                      <a:endParaRPr lang="en-US" sz="3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32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4</a:t>
                      </a:r>
                      <a:endParaRPr lang="en-US" sz="3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</a:tr>
              <a:tr h="650240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32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157</a:t>
                      </a:r>
                      <a:endParaRPr lang="en-US" sz="3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32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3140</a:t>
                      </a:r>
                      <a:endParaRPr lang="en-US" sz="3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32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628</a:t>
                      </a:r>
                      <a:endParaRPr lang="en-US" sz="3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S05-label31"/>
          <p:cNvSpPr txBox="1"/>
          <p:nvPr/>
        </p:nvSpPr>
        <p:spPr>
          <a:xfrm>
            <a:off x="548640" y="4335780"/>
            <a:ext cx="1109167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157에 20과 4를 각각 곱해요</a:t>
            </a:r>
            <a:endParaRPr lang="ko-KR" sz="2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세로셈으로 곱해요</a:t>
            </a:r>
            <a:endParaRPr lang="ko-KR" sz="4000" dirty="0"/>
          </a:p>
        </p:txBody>
      </p:sp>
      <p:sp>
        <p:nvSpPr>
          <p:cNvPr id="3" name="S06-card32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4" name="S06-cardtext33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둘째 줄은 20을 곱했으니 끝에 0이 와요.</a:t>
            </a:r>
            <a:endParaRPr lang="ko-KR" sz="3000" dirty="0"/>
          </a:p>
        </p:txBody>
      </p:sp>
      <p:graphicFrame>
        <p:nvGraphicFramePr>
          <p:cNvPr id="7" name="S06-table3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376190" y="1516380"/>
          <a:ext cx="4023360" cy="914400"/>
        </p:xfrm>
        <a:graphic>
          <a:graphicData uri="http://schemas.openxmlformats.org/drawingml/2006/table">
            <a:tbl>
              <a:tblPr/>
              <a:tblGrid>
                <a:gridCol w="804672"/>
                <a:gridCol w="804672"/>
                <a:gridCol w="804672"/>
                <a:gridCol w="804672"/>
                <a:gridCol w="804672"/>
              </a:tblGrid>
              <a:tr h="568960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endParaRPr lang="en-US" sz="2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8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천</a:t>
                      </a:r>
                      <a:endParaRPr lang="en-US" sz="2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8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백</a:t>
                      </a:r>
                      <a:endParaRPr lang="en-US" sz="2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8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십</a:t>
                      </a:r>
                      <a:endParaRPr lang="en-US" sz="2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8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일</a:t>
                      </a:r>
                      <a:endParaRPr lang="en-US" sz="2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</a:tr>
              <a:tr h="568960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endParaRPr lang="en-US" sz="2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endParaRPr lang="en-US" sz="2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8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</a:t>
                      </a:r>
                      <a:endParaRPr lang="en-US" sz="2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8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5</a:t>
                      </a:r>
                      <a:endParaRPr lang="en-US" sz="2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8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7</a:t>
                      </a:r>
                      <a:endParaRPr lang="en-US" sz="2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8960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8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×</a:t>
                      </a:r>
                      <a:endParaRPr lang="en-US" sz="2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endParaRPr lang="en-US" sz="2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endParaRPr lang="en-US" sz="2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8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</a:t>
                      </a:r>
                      <a:endParaRPr lang="en-US" sz="2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8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4</a:t>
                      </a:r>
                      <a:endParaRPr lang="en-US" sz="2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8960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8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①</a:t>
                      </a:r>
                      <a:endParaRPr lang="en-US" sz="2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endParaRPr lang="en-US" sz="2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8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6</a:t>
                      </a:r>
                      <a:endParaRPr lang="en-US" sz="2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8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</a:t>
                      </a:r>
                      <a:endParaRPr lang="en-US" sz="2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8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8</a:t>
                      </a:r>
                      <a:endParaRPr lang="en-US" sz="2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8960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8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②</a:t>
                      </a:r>
                      <a:endParaRPr lang="en-US" sz="2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8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3</a:t>
                      </a:r>
                      <a:endParaRPr lang="en-US" sz="2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8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</a:t>
                      </a:r>
                      <a:endParaRPr lang="en-US" sz="2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8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4</a:t>
                      </a:r>
                      <a:endParaRPr lang="en-US" sz="2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8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0</a:t>
                      </a:r>
                      <a:endParaRPr lang="en-US" sz="2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8960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8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③</a:t>
                      </a:r>
                      <a:endParaRPr lang="en-US" sz="2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8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3</a:t>
                      </a:r>
                      <a:endParaRPr lang="en-US" sz="2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8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7</a:t>
                      </a:r>
                      <a:endParaRPr lang="en-US" sz="2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8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6</a:t>
                      </a:r>
                      <a:endParaRPr lang="en-US" sz="2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8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8</a:t>
                      </a:r>
                      <a:endParaRPr lang="en-US" sz="2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S06-stepno35"/>
          <p:cNvSpPr txBox="1"/>
          <p:nvPr/>
        </p:nvSpPr>
        <p:spPr>
          <a:xfrm>
            <a:off x="548640" y="1854708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ko-KR" sz="2400" dirty="0"/>
          </a:p>
        </p:txBody>
      </p:sp>
      <p:sp>
        <p:nvSpPr>
          <p:cNvPr id="7" name="S06-text36"/>
          <p:cNvSpPr txBox="1"/>
          <p:nvPr/>
        </p:nvSpPr>
        <p:spPr>
          <a:xfrm>
            <a:off x="1325880" y="1854708"/>
            <a:ext cx="5443789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157 × 4 = 628을 써요.</a:t>
            </a:r>
            <a:endParaRPr lang="ko-KR" sz="3000" dirty="0"/>
          </a:p>
        </p:txBody>
      </p:sp>
      <p:sp>
        <p:nvSpPr>
          <p:cNvPr id="8" name="S06-stepno37"/>
          <p:cNvSpPr txBox="1"/>
          <p:nvPr/>
        </p:nvSpPr>
        <p:spPr>
          <a:xfrm>
            <a:off x="548640" y="2613660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ko-KR" sz="2400" dirty="0"/>
          </a:p>
        </p:txBody>
      </p:sp>
      <p:sp>
        <p:nvSpPr>
          <p:cNvPr id="9" name="S06-text38"/>
          <p:cNvSpPr txBox="1"/>
          <p:nvPr/>
        </p:nvSpPr>
        <p:spPr>
          <a:xfrm>
            <a:off x="1325880" y="2567940"/>
            <a:ext cx="5443789" cy="929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157 × 20 = 3140을</a:t>
            </a:r>
            <a:endParaRPr lang="ko-KR" sz="3000" dirty="0"/>
          </a:p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한 줄 아래에 써요.</a:t>
            </a:r>
            <a:endParaRPr lang="ko-KR" sz="3000" dirty="0"/>
          </a:p>
        </p:txBody>
      </p:sp>
      <p:sp>
        <p:nvSpPr>
          <p:cNvPr id="10" name="S06-stepno39"/>
          <p:cNvSpPr txBox="1"/>
          <p:nvPr/>
        </p:nvSpPr>
        <p:spPr>
          <a:xfrm>
            <a:off x="548640" y="3707892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ko-KR" sz="2400" dirty="0"/>
          </a:p>
        </p:txBody>
      </p:sp>
      <p:sp>
        <p:nvSpPr>
          <p:cNvPr id="11" name="S06-text40"/>
          <p:cNvSpPr txBox="1"/>
          <p:nvPr/>
        </p:nvSpPr>
        <p:spPr>
          <a:xfrm>
            <a:off x="1325880" y="3662172"/>
            <a:ext cx="5443789" cy="929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두 줄을 더해요:</a:t>
            </a:r>
            <a:endParaRPr lang="ko-KR" sz="3000" dirty="0"/>
          </a:p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628 + 3140 = 3768</a:t>
            </a:r>
            <a:endParaRPr lang="ko-KR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세로셈 해 보기</a:t>
            </a:r>
            <a:endParaRPr lang="ko-KR" sz="4000" dirty="0"/>
          </a:p>
        </p:txBody>
      </p:sp>
      <p:sp>
        <p:nvSpPr>
          <p:cNvPr id="3" name="S07-card41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E6ECF4"/>
          </a:solidFill>
          <a:ln w="12700">
            <a:solidFill>
              <a:srgbClr val="E6ECF4"/>
            </a:solidFill>
            <a:prstDash val="solid"/>
          </a:ln>
        </p:spPr>
      </p:sp>
      <p:sp>
        <p:nvSpPr>
          <p:cNvPr id="4" name="S07-cardtext42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둘째 줄 끝에는 0을 써요.</a:t>
            </a:r>
            <a:endParaRPr lang="ko-KR" sz="3000" dirty="0"/>
          </a:p>
        </p:txBody>
      </p:sp>
      <p:graphicFrame>
        <p:nvGraphicFramePr>
          <p:cNvPr id="8" name="S07-table4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038594" y="1395984"/>
          <a:ext cx="3840480" cy="914400"/>
        </p:xfrm>
        <a:graphic>
          <a:graphicData uri="http://schemas.openxmlformats.org/drawingml/2006/table">
            <a:tbl>
              <a:tblPr/>
              <a:tblGrid>
                <a:gridCol w="768096"/>
                <a:gridCol w="768096"/>
                <a:gridCol w="768096"/>
                <a:gridCol w="768096"/>
                <a:gridCol w="768096"/>
              </a:tblGrid>
              <a:tr h="528320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천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백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십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일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</a:tr>
              <a:tr h="528320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3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28320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×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3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28320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①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□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□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□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28320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②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□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□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□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0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28320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③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□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□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□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□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S07-label44"/>
          <p:cNvSpPr txBox="1"/>
          <p:nvPr/>
        </p:nvSpPr>
        <p:spPr>
          <a:xfrm>
            <a:off x="6277356" y="4709160"/>
            <a:ext cx="536295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①을 세로셈으로</a:t>
            </a:r>
            <a:endParaRPr lang="ko-KR" sz="2400" dirty="0"/>
          </a:p>
        </p:txBody>
      </p:sp>
      <p:sp>
        <p:nvSpPr>
          <p:cNvPr id="7" name="S07-chip45"/>
          <p:cNvSpPr txBox="1"/>
          <p:nvPr/>
        </p:nvSpPr>
        <p:spPr>
          <a:xfrm>
            <a:off x="548640" y="161391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</a:t>
            </a:r>
            <a:endParaRPr lang="ko-KR" sz="2400" dirty="0"/>
          </a:p>
        </p:txBody>
      </p:sp>
      <p:sp>
        <p:nvSpPr>
          <p:cNvPr id="8" name="S07-eqtext46"/>
          <p:cNvSpPr txBox="1"/>
          <p:nvPr/>
        </p:nvSpPr>
        <p:spPr>
          <a:xfrm>
            <a:off x="1344168" y="1325880"/>
            <a:ext cx="4567428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213 × 32 = □</a:t>
            </a:r>
            <a:endParaRPr lang="ko-KR" sz="3400" dirty="0"/>
          </a:p>
        </p:txBody>
      </p:sp>
      <p:sp>
        <p:nvSpPr>
          <p:cNvPr id="9" name="S07-chip47"/>
          <p:cNvSpPr txBox="1"/>
          <p:nvPr/>
        </p:nvSpPr>
        <p:spPr>
          <a:xfrm>
            <a:off x="548640" y="293979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</a:t>
            </a:r>
            <a:endParaRPr lang="ko-KR" sz="2400" dirty="0"/>
          </a:p>
        </p:txBody>
      </p:sp>
      <p:sp>
        <p:nvSpPr>
          <p:cNvPr id="10" name="S07-eqtext48"/>
          <p:cNvSpPr txBox="1"/>
          <p:nvPr/>
        </p:nvSpPr>
        <p:spPr>
          <a:xfrm>
            <a:off x="1344168" y="2651760"/>
            <a:ext cx="4567428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146 × 25 = □</a:t>
            </a:r>
            <a:endParaRPr lang="ko-KR" sz="3400" dirty="0"/>
          </a:p>
        </p:txBody>
      </p:sp>
      <p:sp>
        <p:nvSpPr>
          <p:cNvPr id="11" name="S07-chip49"/>
          <p:cNvSpPr txBox="1"/>
          <p:nvPr/>
        </p:nvSpPr>
        <p:spPr>
          <a:xfrm>
            <a:off x="548640" y="426567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</a:t>
            </a:r>
            <a:endParaRPr lang="ko-KR" sz="2400" dirty="0"/>
          </a:p>
        </p:txBody>
      </p:sp>
      <p:sp>
        <p:nvSpPr>
          <p:cNvPr id="12" name="S07-eqtext50"/>
          <p:cNvSpPr txBox="1"/>
          <p:nvPr/>
        </p:nvSpPr>
        <p:spPr>
          <a:xfrm>
            <a:off x="1344168" y="3977640"/>
            <a:ext cx="4567428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308 × 17 = □</a:t>
            </a:r>
            <a:endParaRPr lang="ko-KR" sz="3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누가 맞았을까요?</a:t>
            </a:r>
            <a:endParaRPr lang="ko-KR" sz="4000" dirty="0"/>
          </a:p>
        </p:txBody>
      </p:sp>
      <p:sp>
        <p:nvSpPr>
          <p:cNvPr id="3" name="S08-card51"/>
          <p:cNvSpPr/>
          <p:nvPr/>
        </p:nvSpPr>
        <p:spPr>
          <a:xfrm>
            <a:off x="548640" y="132588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4" name="S08-cardtext52"/>
          <p:cNvSpPr txBox="1"/>
          <p:nvPr/>
        </p:nvSpPr>
        <p:spPr>
          <a:xfrm>
            <a:off x="822960" y="146304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243 × 31을 계산했어요.</a:t>
            </a:r>
            <a:endParaRPr lang="ko-KR" sz="3000" dirty="0"/>
          </a:p>
        </p:txBody>
      </p:sp>
      <p:sp>
        <p:nvSpPr>
          <p:cNvPr id="5" name="S08-card53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6" name="S08-cardtext54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누가 맞았을까요? 어림해서 까닭을 말해요.</a:t>
            </a:r>
            <a:endParaRPr lang="ko-KR" sz="3000" dirty="0"/>
          </a:p>
        </p:txBody>
      </p:sp>
      <p:sp>
        <p:nvSpPr>
          <p:cNvPr id="7" name="S08-chip55"/>
          <p:cNvSpPr txBox="1"/>
          <p:nvPr/>
        </p:nvSpPr>
        <p:spPr>
          <a:xfrm>
            <a:off x="548640" y="2423160"/>
            <a:ext cx="5362956" cy="566928"/>
          </a:xfrm>
          <a:prstGeom prst="roundRect">
            <a:avLst>
              <a:gd name="adj" fmla="val 25806"/>
            </a:avLst>
          </a:prstGeom>
          <a:solidFill>
            <a:srgbClr val="E6ECF4"/>
          </a:solidFill>
          <a:ln>
            <a:solidFill>
              <a:srgbClr val="E6ECF4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토끼: 972</a:t>
            </a:r>
            <a:endParaRPr lang="ko-KR" sz="2400" dirty="0"/>
          </a:p>
        </p:txBody>
      </p:sp>
      <p:sp>
        <p:nvSpPr>
          <p:cNvPr id="8" name="S08-text56"/>
          <p:cNvSpPr txBox="1"/>
          <p:nvPr/>
        </p:nvSpPr>
        <p:spPr>
          <a:xfrm>
            <a:off x="548640" y="3154680"/>
            <a:ext cx="5362956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243 × 1 = 243</a:t>
            </a:r>
            <a:endParaRPr lang="ko-KR" sz="3000" dirty="0"/>
          </a:p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243 × 3 = 729</a:t>
            </a:r>
            <a:endParaRPr lang="ko-KR" sz="3000" dirty="0"/>
          </a:p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243 + 729 = 972</a:t>
            </a:r>
            <a:endParaRPr lang="ko-KR" sz="3000" dirty="0"/>
          </a:p>
        </p:txBody>
      </p:sp>
      <p:sp>
        <p:nvSpPr>
          <p:cNvPr id="9" name="S08-chip57"/>
          <p:cNvSpPr txBox="1"/>
          <p:nvPr/>
        </p:nvSpPr>
        <p:spPr>
          <a:xfrm>
            <a:off x="6277356" y="2423160"/>
            <a:ext cx="5362956" cy="566928"/>
          </a:xfrm>
          <a:prstGeom prst="roundRect">
            <a:avLst>
              <a:gd name="adj" fmla="val 25806"/>
            </a:avLst>
          </a:prstGeom>
          <a:solidFill>
            <a:srgbClr val="E6ECF4"/>
          </a:solidFill>
          <a:ln>
            <a:solidFill>
              <a:srgbClr val="E6ECF4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곰: 7533</a:t>
            </a:r>
            <a:endParaRPr lang="ko-KR" sz="2400" dirty="0"/>
          </a:p>
        </p:txBody>
      </p:sp>
      <p:sp>
        <p:nvSpPr>
          <p:cNvPr id="10" name="S08-text58"/>
          <p:cNvSpPr txBox="1"/>
          <p:nvPr/>
        </p:nvSpPr>
        <p:spPr>
          <a:xfrm>
            <a:off x="6277356" y="3154680"/>
            <a:ext cx="5362956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243 × 1 = 243</a:t>
            </a:r>
            <a:endParaRPr lang="ko-KR" sz="3000" dirty="0"/>
          </a:p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243 × 30 = 7290</a:t>
            </a:r>
            <a:endParaRPr lang="ko-KR" sz="3000" dirty="0"/>
          </a:p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243 + 7290 = 7533</a:t>
            </a:r>
            <a:endParaRPr lang="ko-KR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곱이 다섯 자리일 때</a:t>
            </a:r>
            <a:endParaRPr lang="ko-KR" sz="4000" dirty="0"/>
          </a:p>
        </p:txBody>
      </p:sp>
      <p:sp>
        <p:nvSpPr>
          <p:cNvPr id="3" name="S09-card59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4" name="S09-cardtext60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어림: 400 × 40 = 16000, 답과 비슷해요.</a:t>
            </a:r>
            <a:endParaRPr lang="ko-KR" sz="3000" dirty="0"/>
          </a:p>
        </p:txBody>
      </p:sp>
      <p:graphicFrame>
        <p:nvGraphicFramePr>
          <p:cNvPr id="10" name="S09-table6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940982" y="1516380"/>
          <a:ext cx="4572000" cy="914400"/>
        </p:xfrm>
        <a:graphic>
          <a:graphicData uri="http://schemas.openxmlformats.org/drawingml/2006/table">
            <a:tbl>
              <a:tblPr/>
              <a:tblGrid>
                <a:gridCol w="762000"/>
                <a:gridCol w="762000"/>
                <a:gridCol w="762000"/>
                <a:gridCol w="762000"/>
                <a:gridCol w="762000"/>
                <a:gridCol w="762000"/>
              </a:tblGrid>
              <a:tr h="568960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endParaRPr lang="en-US" sz="2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8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만</a:t>
                      </a:r>
                      <a:endParaRPr lang="en-US" sz="2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8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천</a:t>
                      </a:r>
                      <a:endParaRPr lang="en-US" sz="2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8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백</a:t>
                      </a:r>
                      <a:endParaRPr lang="en-US" sz="2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8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십</a:t>
                      </a:r>
                      <a:endParaRPr lang="en-US" sz="2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8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일</a:t>
                      </a:r>
                      <a:endParaRPr lang="en-US" sz="2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</a:tr>
              <a:tr h="568960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endParaRPr lang="en-US" sz="2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endParaRPr lang="en-US" sz="2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endParaRPr lang="en-US" sz="2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8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4</a:t>
                      </a:r>
                      <a:endParaRPr lang="en-US" sz="2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8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</a:t>
                      </a:r>
                      <a:endParaRPr lang="en-US" sz="2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8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6</a:t>
                      </a:r>
                      <a:endParaRPr lang="en-US" sz="2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8960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8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×</a:t>
                      </a:r>
                      <a:endParaRPr lang="en-US" sz="2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endParaRPr lang="en-US" sz="2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endParaRPr lang="en-US" sz="2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endParaRPr lang="en-US" sz="2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8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3</a:t>
                      </a:r>
                      <a:endParaRPr lang="en-US" sz="2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8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8</a:t>
                      </a:r>
                      <a:endParaRPr lang="en-US" sz="2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8960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8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①</a:t>
                      </a:r>
                      <a:endParaRPr lang="en-US" sz="2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endParaRPr lang="en-US" sz="2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8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3</a:t>
                      </a:r>
                      <a:endParaRPr lang="en-US" sz="2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8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4</a:t>
                      </a:r>
                      <a:endParaRPr lang="en-US" sz="2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8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0</a:t>
                      </a:r>
                      <a:endParaRPr lang="en-US" sz="2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8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8</a:t>
                      </a:r>
                      <a:endParaRPr lang="en-US" sz="2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8960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8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②</a:t>
                      </a:r>
                      <a:endParaRPr lang="en-US" sz="2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8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</a:t>
                      </a:r>
                      <a:endParaRPr lang="en-US" sz="2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8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</a:t>
                      </a:r>
                      <a:endParaRPr lang="en-US" sz="2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8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7</a:t>
                      </a:r>
                      <a:endParaRPr lang="en-US" sz="2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8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8</a:t>
                      </a:r>
                      <a:endParaRPr lang="en-US" sz="2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8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0</a:t>
                      </a:r>
                      <a:endParaRPr lang="en-US" sz="2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8960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8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③</a:t>
                      </a:r>
                      <a:endParaRPr lang="en-US" sz="2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8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</a:t>
                      </a:r>
                      <a:endParaRPr lang="en-US" sz="2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8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6</a:t>
                      </a:r>
                      <a:endParaRPr lang="en-US" sz="2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8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</a:t>
                      </a:r>
                      <a:endParaRPr lang="en-US" sz="2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8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8</a:t>
                      </a:r>
                      <a:endParaRPr lang="en-US" sz="2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8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8</a:t>
                      </a:r>
                      <a:endParaRPr lang="en-US" sz="2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S09-stepno62"/>
          <p:cNvSpPr txBox="1"/>
          <p:nvPr/>
        </p:nvSpPr>
        <p:spPr>
          <a:xfrm>
            <a:off x="548640" y="2235708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ko-KR" sz="2400" dirty="0"/>
          </a:p>
        </p:txBody>
      </p:sp>
      <p:sp>
        <p:nvSpPr>
          <p:cNvPr id="7" name="S09-text63"/>
          <p:cNvSpPr txBox="1"/>
          <p:nvPr/>
        </p:nvSpPr>
        <p:spPr>
          <a:xfrm>
            <a:off x="1325880" y="2235708"/>
            <a:ext cx="51220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426 × 8 = 3408</a:t>
            </a:r>
            <a:endParaRPr lang="ko-KR" sz="3000" dirty="0"/>
          </a:p>
        </p:txBody>
      </p:sp>
      <p:sp>
        <p:nvSpPr>
          <p:cNvPr id="8" name="S09-stepno64"/>
          <p:cNvSpPr txBox="1"/>
          <p:nvPr/>
        </p:nvSpPr>
        <p:spPr>
          <a:xfrm>
            <a:off x="548640" y="2948940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ko-KR" sz="2400" dirty="0"/>
          </a:p>
        </p:txBody>
      </p:sp>
      <p:sp>
        <p:nvSpPr>
          <p:cNvPr id="9" name="S09-text65"/>
          <p:cNvSpPr txBox="1"/>
          <p:nvPr/>
        </p:nvSpPr>
        <p:spPr>
          <a:xfrm>
            <a:off x="1325880" y="2948940"/>
            <a:ext cx="51220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426 × 30 = 12780</a:t>
            </a:r>
            <a:endParaRPr lang="ko-KR" sz="3000" dirty="0"/>
          </a:p>
        </p:txBody>
      </p:sp>
      <p:sp>
        <p:nvSpPr>
          <p:cNvPr id="10" name="S09-stepno66"/>
          <p:cNvSpPr txBox="1"/>
          <p:nvPr/>
        </p:nvSpPr>
        <p:spPr>
          <a:xfrm>
            <a:off x="548640" y="3662172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ko-KR" sz="2400" dirty="0"/>
          </a:p>
        </p:txBody>
      </p:sp>
      <p:sp>
        <p:nvSpPr>
          <p:cNvPr id="11" name="S09-text67"/>
          <p:cNvSpPr txBox="1"/>
          <p:nvPr/>
        </p:nvSpPr>
        <p:spPr>
          <a:xfrm>
            <a:off x="1325880" y="3662172"/>
            <a:ext cx="51220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3408 + 12780 = 16188</a:t>
            </a:r>
            <a:endParaRPr lang="ko-KR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혼자 해 보기</a:t>
            </a:r>
            <a:endParaRPr lang="ko-KR" sz="4000" dirty="0"/>
          </a:p>
        </p:txBody>
      </p:sp>
      <p:sp>
        <p:nvSpPr>
          <p:cNvPr id="3" name="S10-text68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세로셈으로 풀고, 둘째 줄을 설명해요.</a:t>
            </a:r>
            <a:endParaRPr lang="ko-KR" sz="3000" dirty="0"/>
          </a:p>
        </p:txBody>
      </p:sp>
      <p:sp>
        <p:nvSpPr>
          <p:cNvPr id="4" name="S10-chip69"/>
          <p:cNvSpPr txBox="1"/>
          <p:nvPr/>
        </p:nvSpPr>
        <p:spPr>
          <a:xfrm>
            <a:off x="548640" y="245973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</a:t>
            </a:r>
            <a:endParaRPr lang="ko-KR" sz="2400" dirty="0"/>
          </a:p>
        </p:txBody>
      </p:sp>
      <p:sp>
        <p:nvSpPr>
          <p:cNvPr id="5" name="S10-eqtext70"/>
          <p:cNvSpPr txBox="1"/>
          <p:nvPr/>
        </p:nvSpPr>
        <p:spPr>
          <a:xfrm>
            <a:off x="1344168" y="2011680"/>
            <a:ext cx="456742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324 × 20 = □</a:t>
            </a:r>
            <a:endParaRPr lang="ko-KR" sz="3400" dirty="0"/>
          </a:p>
        </p:txBody>
      </p:sp>
      <p:sp>
        <p:nvSpPr>
          <p:cNvPr id="6" name="S10-chip71"/>
          <p:cNvSpPr txBox="1"/>
          <p:nvPr/>
        </p:nvSpPr>
        <p:spPr>
          <a:xfrm>
            <a:off x="6277356" y="245973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</a:t>
            </a:r>
            <a:endParaRPr lang="ko-KR" sz="2400" dirty="0"/>
          </a:p>
        </p:txBody>
      </p:sp>
      <p:sp>
        <p:nvSpPr>
          <p:cNvPr id="7" name="S10-eqtext72"/>
          <p:cNvSpPr txBox="1"/>
          <p:nvPr/>
        </p:nvSpPr>
        <p:spPr>
          <a:xfrm>
            <a:off x="7072884" y="2011680"/>
            <a:ext cx="456742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132 × 23 = □</a:t>
            </a:r>
            <a:endParaRPr lang="ko-KR" sz="3400" dirty="0"/>
          </a:p>
        </p:txBody>
      </p:sp>
      <p:sp>
        <p:nvSpPr>
          <p:cNvPr id="8" name="S10-chip73"/>
          <p:cNvSpPr txBox="1"/>
          <p:nvPr/>
        </p:nvSpPr>
        <p:spPr>
          <a:xfrm>
            <a:off x="548640" y="465429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</a:t>
            </a:r>
            <a:endParaRPr lang="ko-KR" sz="2400" dirty="0"/>
          </a:p>
        </p:txBody>
      </p:sp>
      <p:sp>
        <p:nvSpPr>
          <p:cNvPr id="9" name="S10-eqtext74"/>
          <p:cNvSpPr txBox="1"/>
          <p:nvPr/>
        </p:nvSpPr>
        <p:spPr>
          <a:xfrm>
            <a:off x="1344168" y="4206240"/>
            <a:ext cx="456742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275 × 34 = □</a:t>
            </a:r>
            <a:endParaRPr lang="ko-KR" sz="3400" dirty="0"/>
          </a:p>
        </p:txBody>
      </p:sp>
      <p:sp>
        <p:nvSpPr>
          <p:cNvPr id="10" name="S10-chip75"/>
          <p:cNvSpPr txBox="1"/>
          <p:nvPr/>
        </p:nvSpPr>
        <p:spPr>
          <a:xfrm>
            <a:off x="6277356" y="465429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④</a:t>
            </a:r>
            <a:endParaRPr lang="ko-KR" sz="2400" dirty="0"/>
          </a:p>
        </p:txBody>
      </p:sp>
      <p:sp>
        <p:nvSpPr>
          <p:cNvPr id="11" name="S10-eqtext76"/>
          <p:cNvSpPr txBox="1"/>
          <p:nvPr/>
        </p:nvSpPr>
        <p:spPr>
          <a:xfrm>
            <a:off x="7072884" y="4206240"/>
            <a:ext cx="456742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517 × 46 = □</a:t>
            </a:r>
            <a:endParaRPr lang="ko-KR" sz="3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어림으로 확인해요</a:t>
            </a:r>
            <a:endParaRPr lang="ko-KR" sz="4000" dirty="0"/>
          </a:p>
        </p:txBody>
      </p:sp>
      <p:sp>
        <p:nvSpPr>
          <p:cNvPr id="3" name="S12-text77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389 × 21의 답을 골라요.</a:t>
            </a:r>
            <a:endParaRPr lang="ko-KR" sz="3000" dirty="0"/>
          </a:p>
        </p:txBody>
      </p:sp>
      <p:sp>
        <p:nvSpPr>
          <p:cNvPr id="4" name="S12-card78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5" name="S12-cardtext79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어림해서 답을 고르고, 까닭을 말해요.</a:t>
            </a:r>
            <a:endParaRPr lang="ko-KR" sz="3000" dirty="0"/>
          </a:p>
        </p:txBody>
      </p:sp>
      <p:sp>
        <p:nvSpPr>
          <p:cNvPr id="6" name="S12-chip80"/>
          <p:cNvSpPr txBox="1"/>
          <p:nvPr/>
        </p:nvSpPr>
        <p:spPr>
          <a:xfrm>
            <a:off x="1991868" y="2011680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</a:t>
            </a:r>
            <a:endParaRPr lang="ko-KR" sz="3000" dirty="0"/>
          </a:p>
        </p:txBody>
      </p:sp>
      <p:sp>
        <p:nvSpPr>
          <p:cNvPr id="7" name="S12-card81"/>
          <p:cNvSpPr/>
          <p:nvPr/>
        </p:nvSpPr>
        <p:spPr>
          <a:xfrm>
            <a:off x="548640" y="2715768"/>
            <a:ext cx="3453384" cy="2404872"/>
          </a:xfrm>
          <a:prstGeom prst="roundRect">
            <a:avLst>
              <a:gd name="adj" fmla="val 4563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8" name="S12-cardtext82"/>
          <p:cNvSpPr txBox="1"/>
          <p:nvPr/>
        </p:nvSpPr>
        <p:spPr>
          <a:xfrm>
            <a:off x="822960" y="2852928"/>
            <a:ext cx="2904744" cy="2130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1167</a:t>
            </a:r>
            <a:endParaRPr lang="ko-KR" sz="3000" dirty="0"/>
          </a:p>
        </p:txBody>
      </p:sp>
      <p:sp>
        <p:nvSpPr>
          <p:cNvPr id="9" name="S12-chip83"/>
          <p:cNvSpPr txBox="1"/>
          <p:nvPr/>
        </p:nvSpPr>
        <p:spPr>
          <a:xfrm>
            <a:off x="5811012" y="2011680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나</a:t>
            </a:r>
            <a:endParaRPr lang="ko-KR" sz="3000" dirty="0"/>
          </a:p>
        </p:txBody>
      </p:sp>
      <p:sp>
        <p:nvSpPr>
          <p:cNvPr id="10" name="S12-card84"/>
          <p:cNvSpPr/>
          <p:nvPr/>
        </p:nvSpPr>
        <p:spPr>
          <a:xfrm>
            <a:off x="4367784" y="2715768"/>
            <a:ext cx="3453384" cy="2404872"/>
          </a:xfrm>
          <a:prstGeom prst="roundRect">
            <a:avLst>
              <a:gd name="adj" fmla="val 4563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11" name="S12-cardtext85"/>
          <p:cNvSpPr txBox="1"/>
          <p:nvPr/>
        </p:nvSpPr>
        <p:spPr>
          <a:xfrm>
            <a:off x="4642104" y="2852928"/>
            <a:ext cx="2904744" cy="2130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8169</a:t>
            </a:r>
            <a:endParaRPr lang="ko-KR" sz="3000" dirty="0"/>
          </a:p>
        </p:txBody>
      </p:sp>
      <p:sp>
        <p:nvSpPr>
          <p:cNvPr id="12" name="S12-chip86"/>
          <p:cNvSpPr txBox="1"/>
          <p:nvPr/>
        </p:nvSpPr>
        <p:spPr>
          <a:xfrm>
            <a:off x="9630156" y="2011680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</a:t>
            </a:r>
            <a:endParaRPr lang="ko-KR" sz="3000" dirty="0"/>
          </a:p>
        </p:txBody>
      </p:sp>
      <p:sp>
        <p:nvSpPr>
          <p:cNvPr id="13" name="S12-card87"/>
          <p:cNvSpPr/>
          <p:nvPr/>
        </p:nvSpPr>
        <p:spPr>
          <a:xfrm>
            <a:off x="8186928" y="2715768"/>
            <a:ext cx="3453384" cy="2404872"/>
          </a:xfrm>
          <a:prstGeom prst="roundRect">
            <a:avLst>
              <a:gd name="adj" fmla="val 4563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14" name="S12-cardtext88"/>
          <p:cNvSpPr txBox="1"/>
          <p:nvPr/>
        </p:nvSpPr>
        <p:spPr>
          <a:xfrm>
            <a:off x="8461248" y="2852928"/>
            <a:ext cx="2904744" cy="2130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81690</a:t>
            </a:r>
            <a:endParaRPr lang="ko-KR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오늘 배운 것</a:t>
            </a:r>
            <a:endParaRPr lang="ko-KR" sz="4000" dirty="0"/>
          </a:p>
        </p:txBody>
      </p:sp>
      <p:sp>
        <p:nvSpPr>
          <p:cNvPr id="3" name="S13-card89"/>
          <p:cNvSpPr/>
          <p:nvPr/>
        </p:nvSpPr>
        <p:spPr>
          <a:xfrm>
            <a:off x="548640" y="132588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32606F"/>
          </a:solidFill>
          <a:ln w="12700">
            <a:solidFill>
              <a:srgbClr val="32606F"/>
            </a:solidFill>
            <a:prstDash val="solid"/>
          </a:ln>
        </p:spPr>
      </p:sp>
      <p:sp>
        <p:nvSpPr>
          <p:cNvPr id="4" name="S13-cardtext90"/>
          <p:cNvSpPr txBox="1"/>
          <p:nvPr/>
        </p:nvSpPr>
        <p:spPr>
          <a:xfrm>
            <a:off x="822960" y="146304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일의 자리 곱 + 십의 자리 곱(끝에 0)을 더해요.</a:t>
            </a:r>
            <a:endParaRPr lang="ko-KR" sz="3000" dirty="0"/>
          </a:p>
        </p:txBody>
      </p:sp>
      <p:sp>
        <p:nvSpPr>
          <p:cNvPr id="5" name="S13-chip91"/>
          <p:cNvSpPr txBox="1"/>
          <p:nvPr/>
        </p:nvSpPr>
        <p:spPr>
          <a:xfrm>
            <a:off x="548640" y="2423160"/>
            <a:ext cx="5431536" cy="594360"/>
          </a:xfrm>
          <a:prstGeom prst="roundRect">
            <a:avLst>
              <a:gd name="adj" fmla="val 24615"/>
            </a:avLst>
          </a:prstGeom>
          <a:solidFill>
            <a:srgbClr val="2A9D8F"/>
          </a:solidFill>
          <a:ln>
            <a:solidFill>
              <a:srgbClr val="2A9D8F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○ 둘째 줄 끝에 0 쓰기</a:t>
            </a:r>
            <a:endParaRPr lang="ko-KR" sz="2400" dirty="0"/>
          </a:p>
        </p:txBody>
      </p:sp>
      <p:sp>
        <p:nvSpPr>
          <p:cNvPr id="6" name="S13-chip92"/>
          <p:cNvSpPr txBox="1"/>
          <p:nvPr/>
        </p:nvSpPr>
        <p:spPr>
          <a:xfrm>
            <a:off x="6208776" y="2423160"/>
            <a:ext cx="5431536" cy="594360"/>
          </a:xfrm>
          <a:prstGeom prst="roundRect">
            <a:avLst>
              <a:gd name="adj" fmla="val 24615"/>
            </a:avLst>
          </a:prstGeom>
          <a:solidFill>
            <a:srgbClr val="C8434E"/>
          </a:solidFill>
          <a:ln>
            <a:solidFill>
              <a:srgbClr val="C8434E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× 0을 빠뜨리고 더하기</a:t>
            </a:r>
            <a:endParaRPr lang="ko-KR" sz="2400" dirty="0"/>
          </a:p>
        </p:txBody>
      </p:sp>
      <p:sp>
        <p:nvSpPr>
          <p:cNvPr id="7" name="S13-text93"/>
          <p:cNvSpPr txBox="1"/>
          <p:nvPr/>
        </p:nvSpPr>
        <p:spPr>
          <a:xfrm>
            <a:off x="548640" y="3246120"/>
            <a:ext cx="110916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다음 수업을 시작할 때 다시 풀어요</a:t>
            </a:r>
            <a:endParaRPr lang="ko-KR" sz="2400" dirty="0"/>
          </a:p>
        </p:txBody>
      </p:sp>
      <p:sp>
        <p:nvSpPr>
          <p:cNvPr id="8" name="S13-eqtext94"/>
          <p:cNvSpPr txBox="1"/>
          <p:nvPr/>
        </p:nvSpPr>
        <p:spPr>
          <a:xfrm>
            <a:off x="548640" y="3749040"/>
            <a:ext cx="3544824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142 × 30 = □</a:t>
            </a:r>
            <a:endParaRPr lang="ko-KR" sz="2800" dirty="0"/>
          </a:p>
        </p:txBody>
      </p:sp>
      <p:sp>
        <p:nvSpPr>
          <p:cNvPr id="9" name="S13-eqtext95"/>
          <p:cNvSpPr txBox="1"/>
          <p:nvPr/>
        </p:nvSpPr>
        <p:spPr>
          <a:xfrm>
            <a:off x="4322064" y="3749040"/>
            <a:ext cx="3544824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215 × 43 = □</a:t>
            </a:r>
            <a:endParaRPr lang="ko-KR" sz="2800" dirty="0"/>
          </a:p>
        </p:txBody>
      </p:sp>
      <p:sp>
        <p:nvSpPr>
          <p:cNvPr id="10" name="S13-eqtext96"/>
          <p:cNvSpPr txBox="1"/>
          <p:nvPr/>
        </p:nvSpPr>
        <p:spPr>
          <a:xfrm>
            <a:off x="8095488" y="3749040"/>
            <a:ext cx="3544824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 368 × 52 = □</a:t>
            </a:r>
            <a:endParaRPr lang="ko-KR" sz="2800" dirty="0"/>
          </a:p>
        </p:txBody>
      </p:sp>
      <p:sp>
        <p:nvSpPr>
          <p:cNvPr id="11" name="S13-text97"/>
          <p:cNvSpPr txBox="1"/>
          <p:nvPr/>
        </p:nvSpPr>
        <p:spPr>
          <a:xfrm>
            <a:off x="548640" y="571500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4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다음 시간: (세 자리 수)÷(두 자리 수)</a:t>
            </a:r>
            <a:endParaRPr lang="ko-KR" sz="2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C9DCD8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보충: 세 자리 수 × 몇</a:t>
            </a:r>
            <a:endParaRPr lang="ko-KR" sz="4000" dirty="0"/>
          </a:p>
        </p:txBody>
      </p:sp>
      <p:sp>
        <p:nvSpPr>
          <p:cNvPr id="3" name="S14-card98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4" name="S14-cardtext99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157 × 4 = 628</a:t>
            </a:r>
            <a:endParaRPr lang="ko-KR" sz="3000" dirty="0"/>
          </a:p>
        </p:txBody>
      </p:sp>
      <p:graphicFrame>
        <p:nvGraphicFramePr>
          <p:cNvPr id="14" name="S14-table10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376190" y="1800860"/>
          <a:ext cx="4023360" cy="914400"/>
        </p:xfrm>
        <a:graphic>
          <a:graphicData uri="http://schemas.openxmlformats.org/drawingml/2006/table">
            <a:tbl>
              <a:tblPr/>
              <a:tblGrid>
                <a:gridCol w="1247242"/>
                <a:gridCol w="925373"/>
                <a:gridCol w="925373"/>
                <a:gridCol w="925373"/>
              </a:tblGrid>
              <a:tr h="568960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endParaRPr lang="en-US" sz="2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8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백</a:t>
                      </a:r>
                      <a:endParaRPr lang="en-US" sz="2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8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십</a:t>
                      </a:r>
                      <a:endParaRPr lang="en-US" sz="2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8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일</a:t>
                      </a:r>
                      <a:endParaRPr lang="en-US" sz="2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</a:tr>
              <a:tr h="568960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8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올림</a:t>
                      </a:r>
                      <a:endParaRPr lang="en-US" sz="2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8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</a:t>
                      </a:r>
                      <a:endParaRPr lang="en-US" sz="2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8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</a:t>
                      </a:r>
                      <a:endParaRPr lang="en-US" sz="2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endParaRPr lang="en-US" sz="2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8960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endParaRPr lang="en-US" sz="2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8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</a:t>
                      </a:r>
                      <a:endParaRPr lang="en-US" sz="2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8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5</a:t>
                      </a:r>
                      <a:endParaRPr lang="en-US" sz="2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8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7</a:t>
                      </a:r>
                      <a:endParaRPr lang="en-US" sz="2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8960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8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×</a:t>
                      </a:r>
                      <a:endParaRPr lang="en-US" sz="2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endParaRPr lang="en-US" sz="2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endParaRPr lang="en-US" sz="2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8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4</a:t>
                      </a:r>
                      <a:endParaRPr lang="en-US" sz="2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8960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endParaRPr lang="en-US" sz="2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8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6</a:t>
                      </a:r>
                      <a:endParaRPr lang="en-US" sz="2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8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</a:t>
                      </a:r>
                      <a:endParaRPr lang="en-US" sz="2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8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8</a:t>
                      </a:r>
                      <a:endParaRPr lang="en-US" sz="2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S14-stepno101"/>
          <p:cNvSpPr txBox="1"/>
          <p:nvPr/>
        </p:nvSpPr>
        <p:spPr>
          <a:xfrm>
            <a:off x="548640" y="1900428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ko-KR" sz="2400" dirty="0"/>
          </a:p>
        </p:txBody>
      </p:sp>
      <p:sp>
        <p:nvSpPr>
          <p:cNvPr id="7" name="S14-text102"/>
          <p:cNvSpPr txBox="1"/>
          <p:nvPr/>
        </p:nvSpPr>
        <p:spPr>
          <a:xfrm>
            <a:off x="1325880" y="1854708"/>
            <a:ext cx="5443789" cy="929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일: 7 × 4 = 28,</a:t>
            </a:r>
            <a:endParaRPr lang="ko-KR" sz="3000" dirty="0"/>
          </a:p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2를 올려요.</a:t>
            </a:r>
            <a:endParaRPr lang="ko-KR" sz="3000" dirty="0"/>
          </a:p>
        </p:txBody>
      </p:sp>
      <p:sp>
        <p:nvSpPr>
          <p:cNvPr id="8" name="S14-stepno103"/>
          <p:cNvSpPr txBox="1"/>
          <p:nvPr/>
        </p:nvSpPr>
        <p:spPr>
          <a:xfrm>
            <a:off x="548640" y="2994660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ko-KR" sz="2400" dirty="0"/>
          </a:p>
        </p:txBody>
      </p:sp>
      <p:sp>
        <p:nvSpPr>
          <p:cNvPr id="9" name="S14-text104"/>
          <p:cNvSpPr txBox="1"/>
          <p:nvPr/>
        </p:nvSpPr>
        <p:spPr>
          <a:xfrm>
            <a:off x="1325880" y="2948940"/>
            <a:ext cx="5443789" cy="929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십: 5 × 4 + 2 = 22,</a:t>
            </a:r>
            <a:endParaRPr lang="ko-KR" sz="3000" dirty="0"/>
          </a:p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2를 올려요.</a:t>
            </a:r>
            <a:endParaRPr lang="ko-KR" sz="3000" dirty="0"/>
          </a:p>
        </p:txBody>
      </p:sp>
      <p:sp>
        <p:nvSpPr>
          <p:cNvPr id="10" name="S14-stepno105"/>
          <p:cNvSpPr txBox="1"/>
          <p:nvPr/>
        </p:nvSpPr>
        <p:spPr>
          <a:xfrm>
            <a:off x="548640" y="4043172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ko-KR" sz="2400" dirty="0"/>
          </a:p>
        </p:txBody>
      </p:sp>
      <p:sp>
        <p:nvSpPr>
          <p:cNvPr id="11" name="S14-text106"/>
          <p:cNvSpPr txBox="1"/>
          <p:nvPr/>
        </p:nvSpPr>
        <p:spPr>
          <a:xfrm>
            <a:off x="1325880" y="4043172"/>
            <a:ext cx="5443789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백: 1 × 4 + 2 = 6</a:t>
            </a:r>
            <a:endParaRPr lang="ko-KR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Education Classroom">
  <a:themeElements>
    <a:clrScheme name="Education Classroom">
      <a:dk1>
        <a:srgbClr val="1F2937"/>
      </a:dk1>
      <a:lt1>
        <a:srgbClr val="FFFFFF"/>
      </a:lt1>
      <a:dk2>
        <a:srgbClr val="264653"/>
      </a:dk2>
      <a:lt2>
        <a:srgbClr val="EAF3F1"/>
      </a:lt2>
      <a:accent1>
        <a:srgbClr val="E9762B"/>
      </a:accent1>
      <a:accent2>
        <a:srgbClr val="2A9D8F"/>
      </a:accent2>
      <a:accent3>
        <a:srgbClr val="C8434E"/>
      </a:accent3>
      <a:accent4>
        <a:srgbClr val="3D5A80"/>
      </a:accent4>
      <a:accent5>
        <a:srgbClr val="F2C14E"/>
      </a:accent5>
      <a:accent6>
        <a:srgbClr val="4B5563"/>
      </a:accent6>
      <a:hlink>
        <a:srgbClr val="3D5A80"/>
      </a:hlink>
      <a:folHlink>
        <a:srgbClr val="7A4E8A"/>
      </a:folHlink>
    </a:clrScheme>
    <a:fontScheme name="Education Classroom">
      <a:majorFont>
        <a:latin typeface="맑은 고딕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초4 수학 (세 자리 수)×(두 자리 수)</dc:title>
  <dc:subject>KR22-G04-MAT-MUL3X2-L01</dc:subject>
  <dc:creator>education-ppt</dc:creator>
  <cp:lastModifiedBy>education-ppt</cp:lastModifiedBy>
  <cp:revision>1</cp:revision>
  <dcterms:created xsi:type="dcterms:W3CDTF">2026-10-26T07:39:27Z</dcterms:created>
  <dcterms:modified xsi:type="dcterms:W3CDTF">2026-10-26T07:39:27Z</dcterms:modified>
</cp:coreProperties>
</file>