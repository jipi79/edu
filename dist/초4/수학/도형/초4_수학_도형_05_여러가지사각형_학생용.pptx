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c1fe984b-6f06-1184-42c7-2d19aae0b1da}">
          <p14:sldIdLst>
            <p14:sldId id="256"/>
            <p14:sldId id="257"/>
          </p14:sldIdLst>
        </p14:section>
        <p14:section name="개념" id="{0994f7b0-18e1-d50b-6bfc-d85d13a6a677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3654c996-095a-59a7-b9a5-b6760f24970e}">
          <p14:sldIdLst>
            <p14:sldId id="261"/>
            <p14:sldId id="264"/>
            <p14:sldId id="265"/>
          </p14:sldIdLst>
        </p14:section>
        <p14:section name="개념" id="{e711b63a-871b-75b3-fb0b-7512d38b25ea}">
          <p14:sldIdLst/>
        </p14:section>
        <p14:section name="연습" id="{a0fcb551-2ab6-fa5c-bacd-69f8cfcea5e2}">
          <p14:sldIdLst/>
        </p14:section>
        <p14:section name="확인" id="{1a61ab37-be4f-f23e-37d1-cb1c2409d881}">
          <p14:sldIdLst>
            <p14:sldId id="266"/>
            <p14:sldId id="267"/>
          </p14:sldIdLst>
        </p14:section>
        <p14:section name="정리" id="{f1c9f5de-fa11-ba56-cb2d-4a27c6da8fc6}">
          <p14:sldIdLst>
            <p14:sldId id="268"/>
          </p14:sldIdLst>
        </p14:section>
        <p14:section name="보충" id="{542ba2bc-e39a-e5ea-396a-57636de3ab7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도형 · 5차시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여러 가지 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여러 가지 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여러 가지 사각형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사각형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사각형의 이름은 몇 개일까?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mark2"/>
          <p:cNvSpPr/>
          <p:nvPr/>
        </p:nvSpPr>
        <p:spPr>
          <a:xfrm>
            <a:off x="8823960" y="128016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645920" y="1645920"/>
                </a:lnTo>
                <a:lnTo>
                  <a:pt x="164592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1-mark3"/>
          <p:cNvSpPr/>
          <p:nvPr/>
        </p:nvSpPr>
        <p:spPr>
          <a:xfrm flipV="1">
            <a:off x="827532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 flipV="1">
            <a:off x="882396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V="1">
            <a:off x="937260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V="1">
            <a:off x="992124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V="1">
            <a:off x="1046988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V="1">
            <a:off x="11018520" y="731520"/>
            <a:ext cx="0" cy="27432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>
            <a:off x="8275320" y="347472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>
            <a:off x="8275320" y="292608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>
            <a:off x="8275320" y="237744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>
            <a:off x="8275320" y="182880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>
            <a:off x="8275320" y="128016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>
            <a:off x="8275320" y="731520"/>
            <a:ext cx="27432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1-figure15" descr="모눈 위의 정사각형: 네 변에 같은 길이 표시, 네 각에 직각 표시"/>
          <p:cNvSpPr/>
          <p:nvPr/>
        </p:nvSpPr>
        <p:spPr>
          <a:xfrm>
            <a:off x="8823960" y="128016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0" y="1645920"/>
                </a:moveTo>
                <a:lnTo>
                  <a:pt x="1645920" y="1645920"/>
                </a:lnTo>
                <a:lnTo>
                  <a:pt x="164592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>
            <a:off x="8823960" y="26974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>
            <a:off x="10241280" y="269748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>
            <a:off x="10241280" y="12801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8823960" y="12801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 flipV="1">
            <a:off x="9646920" y="283464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 flipH="1">
            <a:off x="10378440" y="210312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9646920" y="118872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>
            <a:off x="8732520" y="210312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1-card24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8" name="S01-cardtext25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평행한 변과 변의 길이로 사각형의 이름을 붙여요.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한 사각형에 이름이 여러 개인 까닭을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직선은 평행한가요, 수직인가요?</a:t>
            </a:r>
            <a:endParaRPr lang="ko-KR" sz="3000" dirty="0"/>
          </a:p>
        </p:txBody>
      </p:sp>
      <p:sp>
        <p:nvSpPr>
          <p:cNvPr id="4" name="S02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평행, 수직, 둘 다 아님 중에서 골라 말해요.</a:t>
            </a:r>
            <a:endParaRPr lang="ko-KR" sz="3000" dirty="0"/>
          </a:p>
        </p:txBody>
      </p:sp>
      <p:sp>
        <p:nvSpPr>
          <p:cNvPr id="6" name="S02-chip29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02-mark30"/>
          <p:cNvSpPr/>
          <p:nvPr/>
        </p:nvSpPr>
        <p:spPr>
          <a:xfrm flipV="1">
            <a:off x="1164336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2-mark31"/>
          <p:cNvSpPr/>
          <p:nvPr/>
        </p:nvSpPr>
        <p:spPr>
          <a:xfrm flipV="1">
            <a:off x="1442085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2-mark32"/>
          <p:cNvSpPr/>
          <p:nvPr/>
        </p:nvSpPr>
        <p:spPr>
          <a:xfrm flipV="1">
            <a:off x="1719834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2-mark33"/>
          <p:cNvSpPr/>
          <p:nvPr/>
        </p:nvSpPr>
        <p:spPr>
          <a:xfrm flipV="1">
            <a:off x="1997583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2-mark34"/>
          <p:cNvSpPr/>
          <p:nvPr/>
        </p:nvSpPr>
        <p:spPr>
          <a:xfrm flipV="1">
            <a:off x="2275332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2-mark35"/>
          <p:cNvSpPr/>
          <p:nvPr/>
        </p:nvSpPr>
        <p:spPr>
          <a:xfrm flipV="1">
            <a:off x="2553081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2-mark36"/>
          <p:cNvSpPr/>
          <p:nvPr/>
        </p:nvSpPr>
        <p:spPr>
          <a:xfrm flipV="1">
            <a:off x="283083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2-mark37"/>
          <p:cNvSpPr/>
          <p:nvPr/>
        </p:nvSpPr>
        <p:spPr>
          <a:xfrm flipV="1">
            <a:off x="3108579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2-mark38"/>
          <p:cNvSpPr/>
          <p:nvPr/>
        </p:nvSpPr>
        <p:spPr>
          <a:xfrm flipV="1">
            <a:off x="3386328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2-mark39"/>
          <p:cNvSpPr/>
          <p:nvPr/>
        </p:nvSpPr>
        <p:spPr>
          <a:xfrm>
            <a:off x="1164336" y="5029200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2-mark40"/>
          <p:cNvSpPr/>
          <p:nvPr/>
        </p:nvSpPr>
        <p:spPr>
          <a:xfrm>
            <a:off x="1164336" y="4751451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2-mark41"/>
          <p:cNvSpPr/>
          <p:nvPr/>
        </p:nvSpPr>
        <p:spPr>
          <a:xfrm>
            <a:off x="1164336" y="4473702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2-mark42"/>
          <p:cNvSpPr/>
          <p:nvPr/>
        </p:nvSpPr>
        <p:spPr>
          <a:xfrm>
            <a:off x="1164336" y="4195953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2-mark43"/>
          <p:cNvSpPr/>
          <p:nvPr/>
        </p:nvSpPr>
        <p:spPr>
          <a:xfrm>
            <a:off x="1164336" y="3918204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2-mark44"/>
          <p:cNvSpPr/>
          <p:nvPr/>
        </p:nvSpPr>
        <p:spPr>
          <a:xfrm>
            <a:off x="1164336" y="3640455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2-mark45"/>
          <p:cNvSpPr/>
          <p:nvPr/>
        </p:nvSpPr>
        <p:spPr>
          <a:xfrm>
            <a:off x="1164336" y="3362706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2-mark46"/>
          <p:cNvSpPr/>
          <p:nvPr/>
        </p:nvSpPr>
        <p:spPr>
          <a:xfrm>
            <a:off x="1164336" y="3084957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2-mark47"/>
          <p:cNvSpPr/>
          <p:nvPr/>
        </p:nvSpPr>
        <p:spPr>
          <a:xfrm>
            <a:off x="1164336" y="2807208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2-figure48" descr="모눈 위의 두 직선: 같은 방향으로 기울어 만나지 않음"/>
          <p:cNvSpPr/>
          <p:nvPr/>
        </p:nvSpPr>
        <p:spPr>
          <a:xfrm flipV="1">
            <a:off x="1570778" y="3843676"/>
            <a:ext cx="1409108" cy="70455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2-mark49"/>
          <p:cNvSpPr/>
          <p:nvPr/>
        </p:nvSpPr>
        <p:spPr>
          <a:xfrm flipV="1">
            <a:off x="1570778" y="3288178"/>
            <a:ext cx="1409108" cy="70455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7" name="S02-chip5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8" name="S02-mark51"/>
          <p:cNvSpPr/>
          <p:nvPr/>
        </p:nvSpPr>
        <p:spPr>
          <a:xfrm flipV="1">
            <a:off x="498348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2-mark52"/>
          <p:cNvSpPr/>
          <p:nvPr/>
        </p:nvSpPr>
        <p:spPr>
          <a:xfrm flipV="1">
            <a:off x="5261229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2-mark53"/>
          <p:cNvSpPr/>
          <p:nvPr/>
        </p:nvSpPr>
        <p:spPr>
          <a:xfrm flipV="1">
            <a:off x="5538978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2-mark54"/>
          <p:cNvSpPr/>
          <p:nvPr/>
        </p:nvSpPr>
        <p:spPr>
          <a:xfrm flipV="1">
            <a:off x="5816727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2-mark55"/>
          <p:cNvSpPr/>
          <p:nvPr/>
        </p:nvSpPr>
        <p:spPr>
          <a:xfrm flipV="1">
            <a:off x="6094476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2-mark56"/>
          <p:cNvSpPr/>
          <p:nvPr/>
        </p:nvSpPr>
        <p:spPr>
          <a:xfrm flipV="1">
            <a:off x="6372225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2-mark57"/>
          <p:cNvSpPr/>
          <p:nvPr/>
        </p:nvSpPr>
        <p:spPr>
          <a:xfrm flipV="1">
            <a:off x="6649974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2-mark58"/>
          <p:cNvSpPr/>
          <p:nvPr/>
        </p:nvSpPr>
        <p:spPr>
          <a:xfrm flipV="1">
            <a:off x="6927723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2-mark59"/>
          <p:cNvSpPr/>
          <p:nvPr/>
        </p:nvSpPr>
        <p:spPr>
          <a:xfrm flipV="1">
            <a:off x="7205472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02-mark60"/>
          <p:cNvSpPr/>
          <p:nvPr/>
        </p:nvSpPr>
        <p:spPr>
          <a:xfrm>
            <a:off x="4983480" y="5029200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02-mark61"/>
          <p:cNvSpPr/>
          <p:nvPr/>
        </p:nvSpPr>
        <p:spPr>
          <a:xfrm>
            <a:off x="4983480" y="4751451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02-mark62"/>
          <p:cNvSpPr/>
          <p:nvPr/>
        </p:nvSpPr>
        <p:spPr>
          <a:xfrm>
            <a:off x="4983480" y="4473702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02-mark63"/>
          <p:cNvSpPr/>
          <p:nvPr/>
        </p:nvSpPr>
        <p:spPr>
          <a:xfrm>
            <a:off x="4983480" y="4195953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02-mark64"/>
          <p:cNvSpPr/>
          <p:nvPr/>
        </p:nvSpPr>
        <p:spPr>
          <a:xfrm>
            <a:off x="4983480" y="3918204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02-mark65"/>
          <p:cNvSpPr/>
          <p:nvPr/>
        </p:nvSpPr>
        <p:spPr>
          <a:xfrm>
            <a:off x="4983480" y="3640455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02-mark66"/>
          <p:cNvSpPr/>
          <p:nvPr/>
        </p:nvSpPr>
        <p:spPr>
          <a:xfrm>
            <a:off x="4983480" y="3362706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02-mark67"/>
          <p:cNvSpPr/>
          <p:nvPr/>
        </p:nvSpPr>
        <p:spPr>
          <a:xfrm>
            <a:off x="4983480" y="3084957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02-mark68"/>
          <p:cNvSpPr/>
          <p:nvPr/>
        </p:nvSpPr>
        <p:spPr>
          <a:xfrm>
            <a:off x="4983480" y="2807208"/>
            <a:ext cx="2221992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2-figure69" descr="모눈 위의 두 직선: 가로선과 세로선이 만남"/>
          <p:cNvSpPr/>
          <p:nvPr/>
        </p:nvSpPr>
        <p:spPr>
          <a:xfrm>
            <a:off x="5372329" y="3918204"/>
            <a:ext cx="1444295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7" name="S02-mark70"/>
          <p:cNvSpPr/>
          <p:nvPr/>
        </p:nvSpPr>
        <p:spPr>
          <a:xfrm flipV="1">
            <a:off x="6094476" y="3196057"/>
            <a:ext cx="0" cy="1444295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8" name="S02-chip71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49" name="S02-mark72"/>
          <p:cNvSpPr/>
          <p:nvPr/>
        </p:nvSpPr>
        <p:spPr>
          <a:xfrm flipV="1">
            <a:off x="864391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2-mark73"/>
          <p:cNvSpPr/>
          <p:nvPr/>
        </p:nvSpPr>
        <p:spPr>
          <a:xfrm flipV="1">
            <a:off x="8961338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2-mark74"/>
          <p:cNvSpPr/>
          <p:nvPr/>
        </p:nvSpPr>
        <p:spPr>
          <a:xfrm flipV="1">
            <a:off x="9278765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02-mark75"/>
          <p:cNvSpPr/>
          <p:nvPr/>
        </p:nvSpPr>
        <p:spPr>
          <a:xfrm flipV="1">
            <a:off x="9596193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02-mark76"/>
          <p:cNvSpPr/>
          <p:nvPr/>
        </p:nvSpPr>
        <p:spPr>
          <a:xfrm flipV="1">
            <a:off x="991362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02-mark77"/>
          <p:cNvSpPr/>
          <p:nvPr/>
        </p:nvSpPr>
        <p:spPr>
          <a:xfrm flipV="1">
            <a:off x="10231047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02-mark78"/>
          <p:cNvSpPr/>
          <p:nvPr/>
        </p:nvSpPr>
        <p:spPr>
          <a:xfrm flipV="1">
            <a:off x="10548475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02-mark79"/>
          <p:cNvSpPr/>
          <p:nvPr/>
        </p:nvSpPr>
        <p:spPr>
          <a:xfrm flipV="1">
            <a:off x="10865902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02-mark80"/>
          <p:cNvSpPr/>
          <p:nvPr/>
        </p:nvSpPr>
        <p:spPr>
          <a:xfrm flipV="1">
            <a:off x="11183330" y="2807208"/>
            <a:ext cx="0" cy="2221992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02-mark81"/>
          <p:cNvSpPr/>
          <p:nvPr/>
        </p:nvSpPr>
        <p:spPr>
          <a:xfrm>
            <a:off x="8643910" y="5029200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02-mark82"/>
          <p:cNvSpPr/>
          <p:nvPr/>
        </p:nvSpPr>
        <p:spPr>
          <a:xfrm>
            <a:off x="8643910" y="4711773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02-mark83"/>
          <p:cNvSpPr/>
          <p:nvPr/>
        </p:nvSpPr>
        <p:spPr>
          <a:xfrm>
            <a:off x="8643910" y="4394345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02-mark84"/>
          <p:cNvSpPr/>
          <p:nvPr/>
        </p:nvSpPr>
        <p:spPr>
          <a:xfrm>
            <a:off x="8643910" y="4076918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02-mark85"/>
          <p:cNvSpPr/>
          <p:nvPr/>
        </p:nvSpPr>
        <p:spPr>
          <a:xfrm>
            <a:off x="8643910" y="3759490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02-mark86"/>
          <p:cNvSpPr/>
          <p:nvPr/>
        </p:nvSpPr>
        <p:spPr>
          <a:xfrm>
            <a:off x="8643910" y="3442063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02-mark87"/>
          <p:cNvSpPr/>
          <p:nvPr/>
        </p:nvSpPr>
        <p:spPr>
          <a:xfrm>
            <a:off x="8643910" y="3124635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02-mark88"/>
          <p:cNvSpPr/>
          <p:nvPr/>
        </p:nvSpPr>
        <p:spPr>
          <a:xfrm>
            <a:off x="8643910" y="2807208"/>
            <a:ext cx="2539419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02-figure89" descr="모눈 위의 두 직선: 비스듬히 만남"/>
          <p:cNvSpPr/>
          <p:nvPr/>
        </p:nvSpPr>
        <p:spPr>
          <a:xfrm flipV="1">
            <a:off x="9126400" y="3327789"/>
            <a:ext cx="1574440" cy="118083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7" name="S02-mark90"/>
          <p:cNvSpPr/>
          <p:nvPr/>
        </p:nvSpPr>
        <p:spPr>
          <a:xfrm>
            <a:off x="9108416" y="3356888"/>
            <a:ext cx="1610409" cy="805204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</a:t>
            </a:r>
            <a:endParaRPr lang="ko-KR" sz="4000" dirty="0"/>
          </a:p>
        </p:txBody>
      </p:sp>
      <p:sp>
        <p:nvSpPr>
          <p:cNvPr id="3" name="S03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변을 찾아봐요.</a:t>
            </a:r>
            <a:endParaRPr lang="ko-KR" sz="3000" dirty="0"/>
          </a:p>
        </p:txBody>
      </p:sp>
      <p:sp>
        <p:nvSpPr>
          <p:cNvPr id="4" name="S03-mark92"/>
          <p:cNvSpPr/>
          <p:nvPr/>
        </p:nvSpPr>
        <p:spPr>
          <a:xfrm>
            <a:off x="1576034" y="3122349"/>
            <a:ext cx="3308169" cy="1984901"/>
          </a:xfrm>
          <a:custGeom>
            <a:avLst/>
            <a:gdLst/>
            <a:ahLst/>
            <a:cxnLst/>
            <a:rect l="l" t="t" r="r" b="b"/>
            <a:pathLst>
              <a:path w="3308169" h="1984901">
                <a:moveTo>
                  <a:pt x="661634" y="0"/>
                </a:moveTo>
                <a:lnTo>
                  <a:pt x="0" y="1984901"/>
                </a:lnTo>
                <a:lnTo>
                  <a:pt x="3308169" y="1984901"/>
                </a:lnTo>
                <a:lnTo>
                  <a:pt x="1984901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3-mark93"/>
          <p:cNvSpPr/>
          <p:nvPr/>
        </p:nvSpPr>
        <p:spPr>
          <a:xfrm flipV="1">
            <a:off x="914400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3-mark94"/>
          <p:cNvSpPr/>
          <p:nvPr/>
        </p:nvSpPr>
        <p:spPr>
          <a:xfrm flipV="1">
            <a:off x="1576034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3-mark95"/>
          <p:cNvSpPr/>
          <p:nvPr/>
        </p:nvSpPr>
        <p:spPr>
          <a:xfrm flipV="1">
            <a:off x="2237667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3-mark96"/>
          <p:cNvSpPr/>
          <p:nvPr/>
        </p:nvSpPr>
        <p:spPr>
          <a:xfrm flipV="1">
            <a:off x="2899301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3-mark97"/>
          <p:cNvSpPr/>
          <p:nvPr/>
        </p:nvSpPr>
        <p:spPr>
          <a:xfrm flipV="1">
            <a:off x="3560935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3-mark98"/>
          <p:cNvSpPr/>
          <p:nvPr/>
        </p:nvSpPr>
        <p:spPr>
          <a:xfrm flipV="1">
            <a:off x="4222569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3-mark99"/>
          <p:cNvSpPr/>
          <p:nvPr/>
        </p:nvSpPr>
        <p:spPr>
          <a:xfrm flipV="1">
            <a:off x="4884202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3-mark100"/>
          <p:cNvSpPr/>
          <p:nvPr/>
        </p:nvSpPr>
        <p:spPr>
          <a:xfrm flipV="1">
            <a:off x="5545836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3-mark101"/>
          <p:cNvSpPr/>
          <p:nvPr/>
        </p:nvSpPr>
        <p:spPr>
          <a:xfrm>
            <a:off x="914400" y="5768884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3-mark102"/>
          <p:cNvSpPr/>
          <p:nvPr/>
        </p:nvSpPr>
        <p:spPr>
          <a:xfrm>
            <a:off x="914400" y="5107251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3-mark103"/>
          <p:cNvSpPr/>
          <p:nvPr/>
        </p:nvSpPr>
        <p:spPr>
          <a:xfrm>
            <a:off x="914400" y="4445617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3-mark104"/>
          <p:cNvSpPr/>
          <p:nvPr/>
        </p:nvSpPr>
        <p:spPr>
          <a:xfrm>
            <a:off x="914400" y="3783983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3-mark105"/>
          <p:cNvSpPr/>
          <p:nvPr/>
        </p:nvSpPr>
        <p:spPr>
          <a:xfrm>
            <a:off x="914400" y="3122349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3-mark106"/>
          <p:cNvSpPr/>
          <p:nvPr/>
        </p:nvSpPr>
        <p:spPr>
          <a:xfrm>
            <a:off x="914400" y="2460716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3-figure107" descr="모눈 위의 사각형 ㄱㄴㄷㄹ: 변 ㄱㄹ과 변 ㄴㄷ이 평행(주황색 굵은 선), 변 ㄱㄴ과 변 ㄷㄹ은 평행하지 않음"/>
          <p:cNvSpPr/>
          <p:nvPr/>
        </p:nvSpPr>
        <p:spPr>
          <a:xfrm>
            <a:off x="1576034" y="3122349"/>
            <a:ext cx="3308169" cy="1984901"/>
          </a:xfrm>
          <a:custGeom>
            <a:avLst/>
            <a:gdLst/>
            <a:ahLst/>
            <a:cxnLst/>
            <a:rect l="l" t="t" r="r" b="b"/>
            <a:pathLst>
              <a:path w="3308169" h="1984901">
                <a:moveTo>
                  <a:pt x="661634" y="0"/>
                </a:moveTo>
                <a:lnTo>
                  <a:pt x="0" y="1984901"/>
                </a:lnTo>
                <a:lnTo>
                  <a:pt x="3308169" y="1984901"/>
                </a:lnTo>
                <a:lnTo>
                  <a:pt x="1984901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3-mark108"/>
          <p:cNvSpPr/>
          <p:nvPr/>
        </p:nvSpPr>
        <p:spPr>
          <a:xfrm flipH="1">
            <a:off x="2237667" y="3122349"/>
            <a:ext cx="1323267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1" name="S03-mark109"/>
          <p:cNvSpPr/>
          <p:nvPr/>
        </p:nvSpPr>
        <p:spPr>
          <a:xfrm>
            <a:off x="1576034" y="5107251"/>
            <a:ext cx="3308169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2" name="S03-label111"/>
          <p:cNvSpPr txBox="1"/>
          <p:nvPr/>
        </p:nvSpPr>
        <p:spPr>
          <a:xfrm>
            <a:off x="1771227" y="2748655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23" name="S03-label113"/>
          <p:cNvSpPr txBox="1"/>
          <p:nvPr/>
        </p:nvSpPr>
        <p:spPr>
          <a:xfrm>
            <a:off x="1096387" y="4945671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24" name="S03-label115"/>
          <p:cNvSpPr txBox="1"/>
          <p:nvPr/>
        </p:nvSpPr>
        <p:spPr>
          <a:xfrm>
            <a:off x="4862055" y="492876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25" name="S03-label117"/>
          <p:cNvSpPr txBox="1"/>
          <p:nvPr/>
        </p:nvSpPr>
        <p:spPr>
          <a:xfrm>
            <a:off x="3518258" y="2746692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26" name="S03-card118"/>
          <p:cNvSpPr/>
          <p:nvPr/>
        </p:nvSpPr>
        <p:spPr>
          <a:xfrm>
            <a:off x="6277356" y="256413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03-cardtext119"/>
          <p:cNvSpPr txBox="1"/>
          <p:nvPr/>
        </p:nvSpPr>
        <p:spPr>
          <a:xfrm>
            <a:off x="6551676" y="270129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변이 한 쌍이라도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있는 사각형</a:t>
            </a:r>
            <a:endParaRPr lang="ko-KR" sz="3000" dirty="0"/>
          </a:p>
        </p:txBody>
      </p:sp>
      <p:sp>
        <p:nvSpPr>
          <p:cNvPr id="28" name="S03-card120"/>
          <p:cNvSpPr/>
          <p:nvPr/>
        </p:nvSpPr>
        <p:spPr>
          <a:xfrm>
            <a:off x="6277356" y="440664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9" name="S03-cardtext121"/>
          <p:cNvSpPr txBox="1"/>
          <p:nvPr/>
        </p:nvSpPr>
        <p:spPr>
          <a:xfrm>
            <a:off x="6551676" y="454380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 ㄱㄹ과 변 ㄴㄷ이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4000" dirty="0"/>
          </a:p>
        </p:txBody>
      </p:sp>
      <p:sp>
        <p:nvSpPr>
          <p:cNvPr id="3" name="S04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변은 몇 쌍일까요?</a:t>
            </a:r>
            <a:endParaRPr lang="ko-KR" sz="3000" dirty="0"/>
          </a:p>
        </p:txBody>
      </p:sp>
      <p:sp>
        <p:nvSpPr>
          <p:cNvPr id="4" name="S04-mark123"/>
          <p:cNvSpPr/>
          <p:nvPr/>
        </p:nvSpPr>
        <p:spPr>
          <a:xfrm>
            <a:off x="1576034" y="3122349"/>
            <a:ext cx="3308169" cy="1984901"/>
          </a:xfrm>
          <a:custGeom>
            <a:avLst/>
            <a:gdLst/>
            <a:ahLst/>
            <a:cxnLst/>
            <a:rect l="l" t="t" r="r" b="b"/>
            <a:pathLst>
              <a:path w="3308169" h="1984901">
                <a:moveTo>
                  <a:pt x="661634" y="0"/>
                </a:moveTo>
                <a:lnTo>
                  <a:pt x="0" y="1984901"/>
                </a:lnTo>
                <a:lnTo>
                  <a:pt x="2646535" y="1984901"/>
                </a:lnTo>
                <a:lnTo>
                  <a:pt x="3308169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4-mark124"/>
          <p:cNvSpPr/>
          <p:nvPr/>
        </p:nvSpPr>
        <p:spPr>
          <a:xfrm flipV="1">
            <a:off x="914400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4-mark125"/>
          <p:cNvSpPr/>
          <p:nvPr/>
        </p:nvSpPr>
        <p:spPr>
          <a:xfrm flipV="1">
            <a:off x="1576034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4-mark126"/>
          <p:cNvSpPr/>
          <p:nvPr/>
        </p:nvSpPr>
        <p:spPr>
          <a:xfrm flipV="1">
            <a:off x="2237667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4-mark127"/>
          <p:cNvSpPr/>
          <p:nvPr/>
        </p:nvSpPr>
        <p:spPr>
          <a:xfrm flipV="1">
            <a:off x="2899301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4-mark128"/>
          <p:cNvSpPr/>
          <p:nvPr/>
        </p:nvSpPr>
        <p:spPr>
          <a:xfrm flipV="1">
            <a:off x="3560935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4-mark129"/>
          <p:cNvSpPr/>
          <p:nvPr/>
        </p:nvSpPr>
        <p:spPr>
          <a:xfrm flipV="1">
            <a:off x="4222569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4-mark130"/>
          <p:cNvSpPr/>
          <p:nvPr/>
        </p:nvSpPr>
        <p:spPr>
          <a:xfrm flipV="1">
            <a:off x="4884202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4-mark131"/>
          <p:cNvSpPr/>
          <p:nvPr/>
        </p:nvSpPr>
        <p:spPr>
          <a:xfrm flipV="1">
            <a:off x="5545836" y="2460716"/>
            <a:ext cx="0" cy="3308169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4-mark132"/>
          <p:cNvSpPr/>
          <p:nvPr/>
        </p:nvSpPr>
        <p:spPr>
          <a:xfrm>
            <a:off x="914400" y="5768884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4-mark133"/>
          <p:cNvSpPr/>
          <p:nvPr/>
        </p:nvSpPr>
        <p:spPr>
          <a:xfrm>
            <a:off x="914400" y="5107251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4-mark134"/>
          <p:cNvSpPr/>
          <p:nvPr/>
        </p:nvSpPr>
        <p:spPr>
          <a:xfrm>
            <a:off x="914400" y="4445617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4-mark135"/>
          <p:cNvSpPr/>
          <p:nvPr/>
        </p:nvSpPr>
        <p:spPr>
          <a:xfrm>
            <a:off x="914400" y="3783983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4-mark136"/>
          <p:cNvSpPr/>
          <p:nvPr/>
        </p:nvSpPr>
        <p:spPr>
          <a:xfrm>
            <a:off x="914400" y="3122349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4-mark137"/>
          <p:cNvSpPr/>
          <p:nvPr/>
        </p:nvSpPr>
        <p:spPr>
          <a:xfrm>
            <a:off x="914400" y="2460716"/>
            <a:ext cx="463143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4-figure138" descr="모눈 위의 평행사변형 ㄱㄴㄷㄹ: 변 ㄱㄹ과 변 ㄴㄷ이 평행(주황색), 변 ㄱㄴ과 변 ㄷㄹ이 평행(파란색), 마주 보는 변에 같은 길이 표시"/>
          <p:cNvSpPr/>
          <p:nvPr/>
        </p:nvSpPr>
        <p:spPr>
          <a:xfrm>
            <a:off x="1576034" y="3122349"/>
            <a:ext cx="3308169" cy="1984901"/>
          </a:xfrm>
          <a:custGeom>
            <a:avLst/>
            <a:gdLst/>
            <a:ahLst/>
            <a:cxnLst/>
            <a:rect l="l" t="t" r="r" b="b"/>
            <a:pathLst>
              <a:path w="3308169" h="1984901">
                <a:moveTo>
                  <a:pt x="661634" y="0"/>
                </a:moveTo>
                <a:lnTo>
                  <a:pt x="0" y="1984901"/>
                </a:lnTo>
                <a:lnTo>
                  <a:pt x="2646535" y="1984901"/>
                </a:lnTo>
                <a:lnTo>
                  <a:pt x="3308169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04-mark139"/>
          <p:cNvSpPr/>
          <p:nvPr/>
        </p:nvSpPr>
        <p:spPr>
          <a:xfrm flipH="1">
            <a:off x="2237667" y="3122349"/>
            <a:ext cx="2646535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1" name="S04-mark140"/>
          <p:cNvSpPr/>
          <p:nvPr/>
        </p:nvSpPr>
        <p:spPr>
          <a:xfrm>
            <a:off x="1576034" y="5107251"/>
            <a:ext cx="2646535" cy="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2" name="S04-mark141"/>
          <p:cNvSpPr/>
          <p:nvPr/>
        </p:nvSpPr>
        <p:spPr>
          <a:xfrm flipH="1">
            <a:off x="1576034" y="3122349"/>
            <a:ext cx="661634" cy="1984901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23" name="S04-mark142"/>
          <p:cNvSpPr/>
          <p:nvPr/>
        </p:nvSpPr>
        <p:spPr>
          <a:xfrm flipV="1">
            <a:off x="4222569" y="3122349"/>
            <a:ext cx="661634" cy="1984901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24" name="S04-mark143"/>
          <p:cNvSpPr/>
          <p:nvPr/>
        </p:nvSpPr>
        <p:spPr>
          <a:xfrm>
            <a:off x="1833597" y="4045402"/>
            <a:ext cx="173495" cy="5783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4-mark144"/>
          <p:cNvSpPr/>
          <p:nvPr/>
        </p:nvSpPr>
        <p:spPr>
          <a:xfrm>
            <a:off x="1806609" y="4126366"/>
            <a:ext cx="173495" cy="5783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4-mark145"/>
          <p:cNvSpPr/>
          <p:nvPr/>
        </p:nvSpPr>
        <p:spPr>
          <a:xfrm flipV="1">
            <a:off x="2899301" y="5015811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mark146"/>
          <p:cNvSpPr/>
          <p:nvPr/>
        </p:nvSpPr>
        <p:spPr>
          <a:xfrm flipH="1" flipV="1">
            <a:off x="4453144" y="4126366"/>
            <a:ext cx="173495" cy="5783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4-mark147"/>
          <p:cNvSpPr/>
          <p:nvPr/>
        </p:nvSpPr>
        <p:spPr>
          <a:xfrm flipH="1" flipV="1">
            <a:off x="4480132" y="4045402"/>
            <a:ext cx="173495" cy="5783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4-mark148"/>
          <p:cNvSpPr/>
          <p:nvPr/>
        </p:nvSpPr>
        <p:spPr>
          <a:xfrm>
            <a:off x="3560935" y="3030909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4-label150"/>
          <p:cNvSpPr txBox="1"/>
          <p:nvPr/>
        </p:nvSpPr>
        <p:spPr>
          <a:xfrm>
            <a:off x="1841092" y="267053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31" name="S04-label152"/>
          <p:cNvSpPr txBox="1"/>
          <p:nvPr/>
        </p:nvSpPr>
        <p:spPr>
          <a:xfrm>
            <a:off x="1124220" y="4995826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32" name="S04-label154"/>
          <p:cNvSpPr txBox="1"/>
          <p:nvPr/>
        </p:nvSpPr>
        <p:spPr>
          <a:xfrm>
            <a:off x="4111144" y="505106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33" name="S04-label156"/>
          <p:cNvSpPr txBox="1"/>
          <p:nvPr/>
        </p:nvSpPr>
        <p:spPr>
          <a:xfrm>
            <a:off x="4828016" y="2725774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34" name="S04-card157"/>
          <p:cNvSpPr/>
          <p:nvPr/>
        </p:nvSpPr>
        <p:spPr>
          <a:xfrm>
            <a:off x="6277356" y="256413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5" name="S04-cardtext158"/>
          <p:cNvSpPr txBox="1"/>
          <p:nvPr/>
        </p:nvSpPr>
        <p:spPr>
          <a:xfrm>
            <a:off x="6551676" y="270129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두 쌍의 변이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평행한 사각형</a:t>
            </a:r>
            <a:endParaRPr lang="ko-KR" sz="3000" dirty="0"/>
          </a:p>
        </p:txBody>
      </p:sp>
      <p:sp>
        <p:nvSpPr>
          <p:cNvPr id="36" name="S04-card159"/>
          <p:cNvSpPr/>
          <p:nvPr/>
        </p:nvSpPr>
        <p:spPr>
          <a:xfrm>
            <a:off x="6277356" y="440664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7" name="S04-cardtext160"/>
          <p:cNvSpPr txBox="1"/>
          <p:nvPr/>
        </p:nvSpPr>
        <p:spPr>
          <a:xfrm>
            <a:off x="6551676" y="454380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두 변의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길이가 같아요.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4000" dirty="0"/>
          </a:p>
        </p:txBody>
      </p:sp>
      <p:sp>
        <p:nvSpPr>
          <p:cNvPr id="3" name="S05-text16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길이를 비교해요.</a:t>
            </a:r>
            <a:endParaRPr lang="ko-KR" sz="3000" dirty="0"/>
          </a:p>
        </p:txBody>
      </p:sp>
      <p:sp>
        <p:nvSpPr>
          <p:cNvPr id="4" name="S05-mark162"/>
          <p:cNvSpPr/>
          <p:nvPr/>
        </p:nvSpPr>
        <p:spPr>
          <a:xfrm>
            <a:off x="1492758" y="2811780"/>
            <a:ext cx="3474720" cy="2606040"/>
          </a:xfrm>
          <a:custGeom>
            <a:avLst/>
            <a:gdLst/>
            <a:ahLst/>
            <a:cxnLst/>
            <a:rect l="l" t="t" r="r" b="b"/>
            <a:pathLst>
              <a:path w="3474720" h="2606040">
                <a:moveTo>
                  <a:pt x="1737360" y="0"/>
                </a:moveTo>
                <a:lnTo>
                  <a:pt x="0" y="1303020"/>
                </a:lnTo>
                <a:lnTo>
                  <a:pt x="1737360" y="2606040"/>
                </a:lnTo>
                <a:lnTo>
                  <a:pt x="3474720" y="130302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" name="S05-mark163"/>
          <p:cNvSpPr/>
          <p:nvPr/>
        </p:nvSpPr>
        <p:spPr>
          <a:xfrm flipV="1">
            <a:off x="105841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05-mark164"/>
          <p:cNvSpPr/>
          <p:nvPr/>
        </p:nvSpPr>
        <p:spPr>
          <a:xfrm flipV="1">
            <a:off x="149275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5-mark165"/>
          <p:cNvSpPr/>
          <p:nvPr/>
        </p:nvSpPr>
        <p:spPr>
          <a:xfrm flipV="1">
            <a:off x="192709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5-mark166"/>
          <p:cNvSpPr/>
          <p:nvPr/>
        </p:nvSpPr>
        <p:spPr>
          <a:xfrm flipV="1">
            <a:off x="236143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5-mark167"/>
          <p:cNvSpPr/>
          <p:nvPr/>
        </p:nvSpPr>
        <p:spPr>
          <a:xfrm flipV="1">
            <a:off x="279577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5-mark168"/>
          <p:cNvSpPr/>
          <p:nvPr/>
        </p:nvSpPr>
        <p:spPr>
          <a:xfrm flipV="1">
            <a:off x="323011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5-mark169"/>
          <p:cNvSpPr/>
          <p:nvPr/>
        </p:nvSpPr>
        <p:spPr>
          <a:xfrm flipV="1">
            <a:off x="366445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5-mark170"/>
          <p:cNvSpPr/>
          <p:nvPr/>
        </p:nvSpPr>
        <p:spPr>
          <a:xfrm flipV="1">
            <a:off x="409879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5-mark171"/>
          <p:cNvSpPr/>
          <p:nvPr/>
        </p:nvSpPr>
        <p:spPr>
          <a:xfrm flipV="1">
            <a:off x="453313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5-mark172"/>
          <p:cNvSpPr/>
          <p:nvPr/>
        </p:nvSpPr>
        <p:spPr>
          <a:xfrm flipV="1">
            <a:off x="496747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5-mark173"/>
          <p:cNvSpPr/>
          <p:nvPr/>
        </p:nvSpPr>
        <p:spPr>
          <a:xfrm flipV="1">
            <a:off x="5401818" y="2377440"/>
            <a:ext cx="0" cy="347472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5-mark174"/>
          <p:cNvSpPr/>
          <p:nvPr/>
        </p:nvSpPr>
        <p:spPr>
          <a:xfrm>
            <a:off x="1058418" y="585216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5-mark175"/>
          <p:cNvSpPr/>
          <p:nvPr/>
        </p:nvSpPr>
        <p:spPr>
          <a:xfrm>
            <a:off x="1058418" y="541782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5-mark176"/>
          <p:cNvSpPr/>
          <p:nvPr/>
        </p:nvSpPr>
        <p:spPr>
          <a:xfrm>
            <a:off x="1058418" y="498348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5-mark177"/>
          <p:cNvSpPr/>
          <p:nvPr/>
        </p:nvSpPr>
        <p:spPr>
          <a:xfrm>
            <a:off x="1058418" y="454914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5-mark178"/>
          <p:cNvSpPr/>
          <p:nvPr/>
        </p:nvSpPr>
        <p:spPr>
          <a:xfrm>
            <a:off x="1058418" y="411480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1" name="S05-mark179"/>
          <p:cNvSpPr/>
          <p:nvPr/>
        </p:nvSpPr>
        <p:spPr>
          <a:xfrm>
            <a:off x="1058418" y="368046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2" name="S05-mark180"/>
          <p:cNvSpPr/>
          <p:nvPr/>
        </p:nvSpPr>
        <p:spPr>
          <a:xfrm>
            <a:off x="1058418" y="324612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3" name="S05-mark181"/>
          <p:cNvSpPr/>
          <p:nvPr/>
        </p:nvSpPr>
        <p:spPr>
          <a:xfrm>
            <a:off x="1058418" y="281178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5-mark182"/>
          <p:cNvSpPr/>
          <p:nvPr/>
        </p:nvSpPr>
        <p:spPr>
          <a:xfrm>
            <a:off x="1058418" y="2377440"/>
            <a:ext cx="4343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5-figure183" descr="모눈 위의 마름모 ㄱㄴㄷㄹ: 네 변에 같은 길이 표시, 변 ㄱㄴ과 변 ㄷㄹ이 평행(주황색), 변 ㄴㄷ과 변 ㄹㄱ이 평행(파란색)"/>
          <p:cNvSpPr/>
          <p:nvPr/>
        </p:nvSpPr>
        <p:spPr>
          <a:xfrm>
            <a:off x="1492758" y="2811780"/>
            <a:ext cx="3474720" cy="2606040"/>
          </a:xfrm>
          <a:custGeom>
            <a:avLst/>
            <a:gdLst/>
            <a:ahLst/>
            <a:cxnLst/>
            <a:rect l="l" t="t" r="r" b="b"/>
            <a:pathLst>
              <a:path w="3474720" h="2606040">
                <a:moveTo>
                  <a:pt x="1737360" y="0"/>
                </a:moveTo>
                <a:lnTo>
                  <a:pt x="0" y="1303020"/>
                </a:lnTo>
                <a:lnTo>
                  <a:pt x="1737360" y="2606040"/>
                </a:lnTo>
                <a:lnTo>
                  <a:pt x="3474720" y="130302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6" name="S05-mark184"/>
          <p:cNvSpPr/>
          <p:nvPr/>
        </p:nvSpPr>
        <p:spPr>
          <a:xfrm flipH="1">
            <a:off x="1492758" y="2811780"/>
            <a:ext cx="1737360" cy="130302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7" name="S05-mark185"/>
          <p:cNvSpPr/>
          <p:nvPr/>
        </p:nvSpPr>
        <p:spPr>
          <a:xfrm flipV="1">
            <a:off x="3230118" y="4114800"/>
            <a:ext cx="1737360" cy="1303020"/>
          </a:xfrm>
          <a:prstGeom prst="line">
            <a:avLst/>
          </a:prstGeom>
          <a:noFill/>
          <a:ln w="76200">
            <a:solidFill>
              <a:srgbClr val="E9762B"/>
            </a:solidFill>
            <a:prstDash val="solid"/>
          </a:ln>
        </p:spPr>
      </p:sp>
      <p:sp>
        <p:nvSpPr>
          <p:cNvPr id="28" name="S05-mark186"/>
          <p:cNvSpPr/>
          <p:nvPr/>
        </p:nvSpPr>
        <p:spPr>
          <a:xfrm>
            <a:off x="1492758" y="4114800"/>
            <a:ext cx="1737360" cy="1303020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29" name="S05-mark187"/>
          <p:cNvSpPr/>
          <p:nvPr/>
        </p:nvSpPr>
        <p:spPr>
          <a:xfrm flipH="1" flipV="1">
            <a:off x="3230118" y="2811780"/>
            <a:ext cx="1737360" cy="1303020"/>
          </a:xfrm>
          <a:prstGeom prst="line">
            <a:avLst/>
          </a:prstGeom>
          <a:noFill/>
          <a:ln w="76200">
            <a:solidFill>
              <a:srgbClr val="3D5A80"/>
            </a:solidFill>
            <a:prstDash val="solid"/>
          </a:ln>
        </p:spPr>
      </p:sp>
      <p:sp>
        <p:nvSpPr>
          <p:cNvPr id="30" name="S05-mark188"/>
          <p:cNvSpPr/>
          <p:nvPr/>
        </p:nvSpPr>
        <p:spPr>
          <a:xfrm>
            <a:off x="2306574" y="3390138"/>
            <a:ext cx="109728" cy="14630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5-mark189"/>
          <p:cNvSpPr/>
          <p:nvPr/>
        </p:nvSpPr>
        <p:spPr>
          <a:xfrm flipV="1">
            <a:off x="2306574" y="4693158"/>
            <a:ext cx="109728" cy="14630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mark190"/>
          <p:cNvSpPr/>
          <p:nvPr/>
        </p:nvSpPr>
        <p:spPr>
          <a:xfrm flipH="1" flipV="1">
            <a:off x="4043934" y="4693158"/>
            <a:ext cx="109728" cy="14630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5-mark191"/>
          <p:cNvSpPr/>
          <p:nvPr/>
        </p:nvSpPr>
        <p:spPr>
          <a:xfrm flipH="1">
            <a:off x="4043934" y="3390138"/>
            <a:ext cx="109728" cy="146304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label193"/>
          <p:cNvSpPr txBox="1"/>
          <p:nvPr/>
        </p:nvSpPr>
        <p:spPr>
          <a:xfrm>
            <a:off x="2976118" y="231394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ㄱ</a:t>
            </a:r>
            <a:endParaRPr lang="ko-KR" sz="3200" dirty="0"/>
          </a:p>
        </p:txBody>
      </p:sp>
      <p:sp>
        <p:nvSpPr>
          <p:cNvPr id="35" name="S05-label195"/>
          <p:cNvSpPr txBox="1"/>
          <p:nvPr/>
        </p:nvSpPr>
        <p:spPr>
          <a:xfrm>
            <a:off x="994918" y="3860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ㄴ</a:t>
            </a:r>
            <a:endParaRPr lang="ko-KR" sz="3200" dirty="0"/>
          </a:p>
        </p:txBody>
      </p:sp>
      <p:sp>
        <p:nvSpPr>
          <p:cNvPr id="36" name="S05-label197"/>
          <p:cNvSpPr txBox="1"/>
          <p:nvPr/>
        </p:nvSpPr>
        <p:spPr>
          <a:xfrm>
            <a:off x="2976118" y="540766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ㄷ</a:t>
            </a:r>
            <a:endParaRPr lang="ko-KR" sz="3200" dirty="0"/>
          </a:p>
        </p:txBody>
      </p:sp>
      <p:sp>
        <p:nvSpPr>
          <p:cNvPr id="37" name="S05-label199"/>
          <p:cNvSpPr txBox="1"/>
          <p:nvPr/>
        </p:nvSpPr>
        <p:spPr>
          <a:xfrm>
            <a:off x="4957318" y="38608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ㄹ</a:t>
            </a:r>
            <a:endParaRPr lang="ko-KR" sz="3200" dirty="0"/>
          </a:p>
        </p:txBody>
      </p:sp>
      <p:sp>
        <p:nvSpPr>
          <p:cNvPr id="38" name="S05-card200"/>
          <p:cNvSpPr/>
          <p:nvPr/>
        </p:nvSpPr>
        <p:spPr>
          <a:xfrm>
            <a:off x="6277356" y="256413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9" name="S05-cardtext201"/>
          <p:cNvSpPr txBox="1"/>
          <p:nvPr/>
        </p:nvSpPr>
        <p:spPr>
          <a:xfrm>
            <a:off x="6551676" y="270129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같은 사각형</a:t>
            </a:r>
            <a:endParaRPr lang="ko-KR" sz="3000" dirty="0"/>
          </a:p>
        </p:txBody>
      </p:sp>
      <p:sp>
        <p:nvSpPr>
          <p:cNvPr id="40" name="S05-card202"/>
          <p:cNvSpPr/>
          <p:nvPr/>
        </p:nvSpPr>
        <p:spPr>
          <a:xfrm>
            <a:off x="6277356" y="4406646"/>
            <a:ext cx="536295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1" name="S05-cardtext203"/>
          <p:cNvSpPr txBox="1"/>
          <p:nvPr/>
        </p:nvSpPr>
        <p:spPr>
          <a:xfrm>
            <a:off x="6551676" y="4543806"/>
            <a:ext cx="481431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 보는 두 쌍의 변이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붙여요</a:t>
            </a:r>
            <a:endParaRPr lang="ko-KR" sz="4000" dirty="0"/>
          </a:p>
        </p:txBody>
      </p:sp>
      <p:sp>
        <p:nvSpPr>
          <p:cNvPr id="3" name="S06-card2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6-cardtext2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변의 쌍을 세어요. 같은 표시는 같은 길이예요.</a:t>
            </a:r>
            <a:endParaRPr lang="ko-KR" sz="3000" dirty="0"/>
          </a:p>
        </p:txBody>
      </p:sp>
      <p:sp>
        <p:nvSpPr>
          <p:cNvPr id="5" name="S06-chip206"/>
          <p:cNvSpPr txBox="1"/>
          <p:nvPr/>
        </p:nvSpPr>
        <p:spPr>
          <a:xfrm>
            <a:off x="548640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" name="S06-mark207"/>
          <p:cNvSpPr/>
          <p:nvPr/>
        </p:nvSpPr>
        <p:spPr>
          <a:xfrm>
            <a:off x="2613470" y="1823085"/>
            <a:ext cx="2028825" cy="811530"/>
          </a:xfrm>
          <a:custGeom>
            <a:avLst/>
            <a:gdLst/>
            <a:ahLst/>
            <a:cxnLst/>
            <a:rect l="l" t="t" r="r" b="b"/>
            <a:pathLst>
              <a:path w="2028825" h="811530">
                <a:moveTo>
                  <a:pt x="0" y="811530"/>
                </a:moveTo>
                <a:lnTo>
                  <a:pt x="2028825" y="811530"/>
                </a:lnTo>
                <a:lnTo>
                  <a:pt x="1217295" y="0"/>
                </a:lnTo>
                <a:lnTo>
                  <a:pt x="405765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06-mark208"/>
          <p:cNvSpPr/>
          <p:nvPr/>
        </p:nvSpPr>
        <p:spPr>
          <a:xfrm flipV="1">
            <a:off x="2207705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6-mark209"/>
          <p:cNvSpPr/>
          <p:nvPr/>
        </p:nvSpPr>
        <p:spPr>
          <a:xfrm flipV="1">
            <a:off x="261347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6-mark210"/>
          <p:cNvSpPr/>
          <p:nvPr/>
        </p:nvSpPr>
        <p:spPr>
          <a:xfrm flipV="1">
            <a:off x="3019235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6-mark211"/>
          <p:cNvSpPr/>
          <p:nvPr/>
        </p:nvSpPr>
        <p:spPr>
          <a:xfrm flipV="1">
            <a:off x="342500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6-mark212"/>
          <p:cNvSpPr/>
          <p:nvPr/>
        </p:nvSpPr>
        <p:spPr>
          <a:xfrm flipV="1">
            <a:off x="3830765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6-mark213"/>
          <p:cNvSpPr/>
          <p:nvPr/>
        </p:nvSpPr>
        <p:spPr>
          <a:xfrm flipV="1">
            <a:off x="423653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6-mark214"/>
          <p:cNvSpPr/>
          <p:nvPr/>
        </p:nvSpPr>
        <p:spPr>
          <a:xfrm flipV="1">
            <a:off x="4642295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6-mark215"/>
          <p:cNvSpPr/>
          <p:nvPr/>
        </p:nvSpPr>
        <p:spPr>
          <a:xfrm flipV="1">
            <a:off x="504806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6-mark216"/>
          <p:cNvSpPr/>
          <p:nvPr/>
        </p:nvSpPr>
        <p:spPr>
          <a:xfrm>
            <a:off x="2207705" y="304038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6-mark217"/>
          <p:cNvSpPr/>
          <p:nvPr/>
        </p:nvSpPr>
        <p:spPr>
          <a:xfrm>
            <a:off x="2207705" y="2634615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6-mark218"/>
          <p:cNvSpPr/>
          <p:nvPr/>
        </p:nvSpPr>
        <p:spPr>
          <a:xfrm>
            <a:off x="2207705" y="222885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6-mark219"/>
          <p:cNvSpPr/>
          <p:nvPr/>
        </p:nvSpPr>
        <p:spPr>
          <a:xfrm>
            <a:off x="2207705" y="1823085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06-mark220"/>
          <p:cNvSpPr/>
          <p:nvPr/>
        </p:nvSpPr>
        <p:spPr>
          <a:xfrm>
            <a:off x="2207705" y="141732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06-figure221" descr="모눈 위의 사각형: 위아래 변만 평행"/>
          <p:cNvSpPr/>
          <p:nvPr/>
        </p:nvSpPr>
        <p:spPr>
          <a:xfrm>
            <a:off x="2613470" y="1823085"/>
            <a:ext cx="2028825" cy="811530"/>
          </a:xfrm>
          <a:custGeom>
            <a:avLst/>
            <a:gdLst/>
            <a:ahLst/>
            <a:cxnLst/>
            <a:rect l="l" t="t" r="r" b="b"/>
            <a:pathLst>
              <a:path w="2028825" h="811530">
                <a:moveTo>
                  <a:pt x="0" y="811530"/>
                </a:moveTo>
                <a:lnTo>
                  <a:pt x="2028825" y="811530"/>
                </a:lnTo>
                <a:lnTo>
                  <a:pt x="1217295" y="0"/>
                </a:lnTo>
                <a:lnTo>
                  <a:pt x="40576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06-chip222"/>
          <p:cNvSpPr txBox="1"/>
          <p:nvPr/>
        </p:nvSpPr>
        <p:spPr>
          <a:xfrm>
            <a:off x="6277356" y="194538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2" name="S06-mark223"/>
          <p:cNvSpPr/>
          <p:nvPr/>
        </p:nvSpPr>
        <p:spPr>
          <a:xfrm>
            <a:off x="8342186" y="1823085"/>
            <a:ext cx="2028825" cy="811530"/>
          </a:xfrm>
          <a:custGeom>
            <a:avLst/>
            <a:gdLst/>
            <a:ahLst/>
            <a:cxnLst/>
            <a:rect l="l" t="t" r="r" b="b"/>
            <a:pathLst>
              <a:path w="2028825" h="811530">
                <a:moveTo>
                  <a:pt x="0" y="811530"/>
                </a:moveTo>
                <a:lnTo>
                  <a:pt x="1623060" y="811530"/>
                </a:lnTo>
                <a:lnTo>
                  <a:pt x="2028825" y="0"/>
                </a:lnTo>
                <a:lnTo>
                  <a:pt x="405765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3" name="S06-mark224"/>
          <p:cNvSpPr/>
          <p:nvPr/>
        </p:nvSpPr>
        <p:spPr>
          <a:xfrm flipV="1">
            <a:off x="7936421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4" name="S06-mark225"/>
          <p:cNvSpPr/>
          <p:nvPr/>
        </p:nvSpPr>
        <p:spPr>
          <a:xfrm flipV="1">
            <a:off x="8342186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5" name="S06-mark226"/>
          <p:cNvSpPr/>
          <p:nvPr/>
        </p:nvSpPr>
        <p:spPr>
          <a:xfrm flipV="1">
            <a:off x="8747951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6" name="S06-mark227"/>
          <p:cNvSpPr/>
          <p:nvPr/>
        </p:nvSpPr>
        <p:spPr>
          <a:xfrm flipV="1">
            <a:off x="9153716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7" name="S06-mark228"/>
          <p:cNvSpPr/>
          <p:nvPr/>
        </p:nvSpPr>
        <p:spPr>
          <a:xfrm flipV="1">
            <a:off x="9559480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8" name="S06-mark229"/>
          <p:cNvSpPr/>
          <p:nvPr/>
        </p:nvSpPr>
        <p:spPr>
          <a:xfrm flipV="1">
            <a:off x="9965246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9" name="S06-mark230"/>
          <p:cNvSpPr/>
          <p:nvPr/>
        </p:nvSpPr>
        <p:spPr>
          <a:xfrm flipV="1">
            <a:off x="10371011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06-mark231"/>
          <p:cNvSpPr/>
          <p:nvPr/>
        </p:nvSpPr>
        <p:spPr>
          <a:xfrm flipV="1">
            <a:off x="10776776" y="141732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06-mark232"/>
          <p:cNvSpPr/>
          <p:nvPr/>
        </p:nvSpPr>
        <p:spPr>
          <a:xfrm>
            <a:off x="7936421" y="304038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06-mark233"/>
          <p:cNvSpPr/>
          <p:nvPr/>
        </p:nvSpPr>
        <p:spPr>
          <a:xfrm>
            <a:off x="7936421" y="2634615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06-mark234"/>
          <p:cNvSpPr/>
          <p:nvPr/>
        </p:nvSpPr>
        <p:spPr>
          <a:xfrm>
            <a:off x="7936421" y="222885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06-mark235"/>
          <p:cNvSpPr/>
          <p:nvPr/>
        </p:nvSpPr>
        <p:spPr>
          <a:xfrm>
            <a:off x="7936421" y="1823085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06-mark236"/>
          <p:cNvSpPr/>
          <p:nvPr/>
        </p:nvSpPr>
        <p:spPr>
          <a:xfrm>
            <a:off x="7936421" y="1417320"/>
            <a:ext cx="284035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06-figure237" descr="모눈 위의 사각형: 마주 보는 두 쌍의 변이 평행, 마주 보는 변에 같은 길이 표시"/>
          <p:cNvSpPr/>
          <p:nvPr/>
        </p:nvSpPr>
        <p:spPr>
          <a:xfrm>
            <a:off x="8342186" y="1823085"/>
            <a:ext cx="2028825" cy="811530"/>
          </a:xfrm>
          <a:custGeom>
            <a:avLst/>
            <a:gdLst/>
            <a:ahLst/>
            <a:cxnLst/>
            <a:rect l="l" t="t" r="r" b="b"/>
            <a:pathLst>
              <a:path w="2028825" h="811530">
                <a:moveTo>
                  <a:pt x="0" y="811530"/>
                </a:moveTo>
                <a:lnTo>
                  <a:pt x="1623060" y="811530"/>
                </a:lnTo>
                <a:lnTo>
                  <a:pt x="2028825" y="0"/>
                </a:lnTo>
                <a:lnTo>
                  <a:pt x="405765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37" name="S06-mark238"/>
          <p:cNvSpPr/>
          <p:nvPr/>
        </p:nvSpPr>
        <p:spPr>
          <a:xfrm flipV="1">
            <a:off x="9153716" y="254317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6-mark239"/>
          <p:cNvSpPr/>
          <p:nvPr/>
        </p:nvSpPr>
        <p:spPr>
          <a:xfrm flipH="1" flipV="1">
            <a:off x="10067258" y="2226124"/>
            <a:ext cx="163573" cy="8178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6-mark240"/>
          <p:cNvSpPr/>
          <p:nvPr/>
        </p:nvSpPr>
        <p:spPr>
          <a:xfrm flipH="1" flipV="1">
            <a:off x="10105425" y="2149790"/>
            <a:ext cx="163573" cy="8178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6-mark241"/>
          <p:cNvSpPr/>
          <p:nvPr/>
        </p:nvSpPr>
        <p:spPr>
          <a:xfrm>
            <a:off x="9559480" y="173164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6-mark242"/>
          <p:cNvSpPr/>
          <p:nvPr/>
        </p:nvSpPr>
        <p:spPr>
          <a:xfrm>
            <a:off x="8482365" y="2149790"/>
            <a:ext cx="163573" cy="8178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6-mark243"/>
          <p:cNvSpPr/>
          <p:nvPr/>
        </p:nvSpPr>
        <p:spPr>
          <a:xfrm>
            <a:off x="8444198" y="2226124"/>
            <a:ext cx="163573" cy="8178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6-chip244"/>
          <p:cNvSpPr txBox="1"/>
          <p:nvPr/>
        </p:nvSpPr>
        <p:spPr>
          <a:xfrm>
            <a:off x="548640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44" name="S06-mark245"/>
          <p:cNvSpPr/>
          <p:nvPr/>
        </p:nvSpPr>
        <p:spPr>
          <a:xfrm>
            <a:off x="2545842" y="3676650"/>
            <a:ext cx="2164080" cy="1082040"/>
          </a:xfrm>
          <a:custGeom>
            <a:avLst/>
            <a:gdLst/>
            <a:ahLst/>
            <a:cxnLst/>
            <a:rect l="l" t="t" r="r" b="b"/>
            <a:pathLst>
              <a:path w="2164080" h="1082040">
                <a:moveTo>
                  <a:pt x="0" y="1082040"/>
                </a:moveTo>
                <a:lnTo>
                  <a:pt x="1352550" y="1082040"/>
                </a:lnTo>
                <a:lnTo>
                  <a:pt x="2164080" y="0"/>
                </a:lnTo>
                <a:lnTo>
                  <a:pt x="81153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45" name="S06-mark246"/>
          <p:cNvSpPr/>
          <p:nvPr/>
        </p:nvSpPr>
        <p:spPr>
          <a:xfrm flipV="1">
            <a:off x="227533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06-mark247"/>
          <p:cNvSpPr/>
          <p:nvPr/>
        </p:nvSpPr>
        <p:spPr>
          <a:xfrm flipV="1">
            <a:off x="254584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06-mark248"/>
          <p:cNvSpPr/>
          <p:nvPr/>
        </p:nvSpPr>
        <p:spPr>
          <a:xfrm flipV="1">
            <a:off x="281635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06-mark249"/>
          <p:cNvSpPr/>
          <p:nvPr/>
        </p:nvSpPr>
        <p:spPr>
          <a:xfrm flipV="1">
            <a:off x="308686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9" name="S06-mark250"/>
          <p:cNvSpPr/>
          <p:nvPr/>
        </p:nvSpPr>
        <p:spPr>
          <a:xfrm flipV="1">
            <a:off x="335737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0" name="S06-mark251"/>
          <p:cNvSpPr/>
          <p:nvPr/>
        </p:nvSpPr>
        <p:spPr>
          <a:xfrm flipV="1">
            <a:off x="362788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1" name="S06-mark252"/>
          <p:cNvSpPr/>
          <p:nvPr/>
        </p:nvSpPr>
        <p:spPr>
          <a:xfrm flipV="1">
            <a:off x="389839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2" name="S06-mark253"/>
          <p:cNvSpPr/>
          <p:nvPr/>
        </p:nvSpPr>
        <p:spPr>
          <a:xfrm flipV="1">
            <a:off x="416890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3" name="S06-mark254"/>
          <p:cNvSpPr/>
          <p:nvPr/>
        </p:nvSpPr>
        <p:spPr>
          <a:xfrm flipV="1">
            <a:off x="443941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4" name="S06-mark255"/>
          <p:cNvSpPr/>
          <p:nvPr/>
        </p:nvSpPr>
        <p:spPr>
          <a:xfrm flipV="1">
            <a:off x="470992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5" name="S06-mark256"/>
          <p:cNvSpPr/>
          <p:nvPr/>
        </p:nvSpPr>
        <p:spPr>
          <a:xfrm flipV="1">
            <a:off x="498043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06-mark257"/>
          <p:cNvSpPr/>
          <p:nvPr/>
        </p:nvSpPr>
        <p:spPr>
          <a:xfrm>
            <a:off x="2275332" y="502920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06-mark258"/>
          <p:cNvSpPr/>
          <p:nvPr/>
        </p:nvSpPr>
        <p:spPr>
          <a:xfrm>
            <a:off x="2275332" y="475869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06-mark259"/>
          <p:cNvSpPr/>
          <p:nvPr/>
        </p:nvSpPr>
        <p:spPr>
          <a:xfrm>
            <a:off x="2275332" y="448818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06-mark260"/>
          <p:cNvSpPr/>
          <p:nvPr/>
        </p:nvSpPr>
        <p:spPr>
          <a:xfrm>
            <a:off x="2275332" y="421767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06-mark261"/>
          <p:cNvSpPr/>
          <p:nvPr/>
        </p:nvSpPr>
        <p:spPr>
          <a:xfrm>
            <a:off x="2275332" y="394716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06-mark262"/>
          <p:cNvSpPr/>
          <p:nvPr/>
        </p:nvSpPr>
        <p:spPr>
          <a:xfrm>
            <a:off x="2275332" y="367665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06-mark263"/>
          <p:cNvSpPr/>
          <p:nvPr/>
        </p:nvSpPr>
        <p:spPr>
          <a:xfrm>
            <a:off x="2275332" y="3406140"/>
            <a:ext cx="27051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06-figure264" descr="모눈 위의 사각형: 네 변에 같은 길이 표시, 비스듬히 누운 모양"/>
          <p:cNvSpPr/>
          <p:nvPr/>
        </p:nvSpPr>
        <p:spPr>
          <a:xfrm>
            <a:off x="2545842" y="3676650"/>
            <a:ext cx="2164080" cy="1082040"/>
          </a:xfrm>
          <a:custGeom>
            <a:avLst/>
            <a:gdLst/>
            <a:ahLst/>
            <a:cxnLst/>
            <a:rect l="l" t="t" r="r" b="b"/>
            <a:pathLst>
              <a:path w="2164080" h="1082040">
                <a:moveTo>
                  <a:pt x="0" y="1082040"/>
                </a:moveTo>
                <a:lnTo>
                  <a:pt x="1352550" y="1082040"/>
                </a:lnTo>
                <a:lnTo>
                  <a:pt x="2164080" y="0"/>
                </a:lnTo>
                <a:lnTo>
                  <a:pt x="81153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4" name="S06-mark265"/>
          <p:cNvSpPr/>
          <p:nvPr/>
        </p:nvSpPr>
        <p:spPr>
          <a:xfrm flipV="1">
            <a:off x="3222117" y="466725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5" name="S06-mark266"/>
          <p:cNvSpPr/>
          <p:nvPr/>
        </p:nvSpPr>
        <p:spPr>
          <a:xfrm flipH="1" flipV="1">
            <a:off x="4231005" y="416280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6" name="S06-mark267"/>
          <p:cNvSpPr/>
          <p:nvPr/>
        </p:nvSpPr>
        <p:spPr>
          <a:xfrm>
            <a:off x="4033647" y="358521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7" name="S06-mark268"/>
          <p:cNvSpPr/>
          <p:nvPr/>
        </p:nvSpPr>
        <p:spPr>
          <a:xfrm>
            <a:off x="2878455" y="416280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8" name="S06-chip269"/>
          <p:cNvSpPr txBox="1"/>
          <p:nvPr/>
        </p:nvSpPr>
        <p:spPr>
          <a:xfrm>
            <a:off x="6277356" y="393420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69" name="S06-mark270"/>
          <p:cNvSpPr/>
          <p:nvPr/>
        </p:nvSpPr>
        <p:spPr>
          <a:xfrm>
            <a:off x="8545068" y="3730752"/>
            <a:ext cx="1623060" cy="973836"/>
          </a:xfrm>
          <a:custGeom>
            <a:avLst/>
            <a:gdLst/>
            <a:ahLst/>
            <a:cxnLst/>
            <a:rect l="l" t="t" r="r" b="b"/>
            <a:pathLst>
              <a:path w="1623060" h="973836">
                <a:moveTo>
                  <a:pt x="0" y="973836"/>
                </a:moveTo>
                <a:lnTo>
                  <a:pt x="1298448" y="973836"/>
                </a:lnTo>
                <a:lnTo>
                  <a:pt x="1623060" y="0"/>
                </a:lnTo>
                <a:lnTo>
                  <a:pt x="324612" y="324612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0" name="S06-mark271"/>
          <p:cNvSpPr/>
          <p:nvPr/>
        </p:nvSpPr>
        <p:spPr>
          <a:xfrm flipV="1">
            <a:off x="8220456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1" name="S06-mark272"/>
          <p:cNvSpPr/>
          <p:nvPr/>
        </p:nvSpPr>
        <p:spPr>
          <a:xfrm flipV="1">
            <a:off x="8545068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2" name="S06-mark273"/>
          <p:cNvSpPr/>
          <p:nvPr/>
        </p:nvSpPr>
        <p:spPr>
          <a:xfrm flipV="1">
            <a:off x="8869680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3" name="S06-mark274"/>
          <p:cNvSpPr/>
          <p:nvPr/>
        </p:nvSpPr>
        <p:spPr>
          <a:xfrm flipV="1">
            <a:off x="9194292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4" name="S06-mark275"/>
          <p:cNvSpPr/>
          <p:nvPr/>
        </p:nvSpPr>
        <p:spPr>
          <a:xfrm flipV="1">
            <a:off x="9518904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5" name="S06-mark276"/>
          <p:cNvSpPr/>
          <p:nvPr/>
        </p:nvSpPr>
        <p:spPr>
          <a:xfrm flipV="1">
            <a:off x="9843516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6" name="S06-mark277"/>
          <p:cNvSpPr/>
          <p:nvPr/>
        </p:nvSpPr>
        <p:spPr>
          <a:xfrm flipV="1">
            <a:off x="10168128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7" name="S06-mark278"/>
          <p:cNvSpPr/>
          <p:nvPr/>
        </p:nvSpPr>
        <p:spPr>
          <a:xfrm flipV="1">
            <a:off x="10492740" y="3406140"/>
            <a:ext cx="0" cy="162306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8" name="S06-mark279"/>
          <p:cNvSpPr/>
          <p:nvPr/>
        </p:nvSpPr>
        <p:spPr>
          <a:xfrm>
            <a:off x="8220456" y="5029200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9" name="S06-mark280"/>
          <p:cNvSpPr/>
          <p:nvPr/>
        </p:nvSpPr>
        <p:spPr>
          <a:xfrm>
            <a:off x="8220456" y="4704588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0" name="S06-mark281"/>
          <p:cNvSpPr/>
          <p:nvPr/>
        </p:nvSpPr>
        <p:spPr>
          <a:xfrm>
            <a:off x="8220456" y="4379976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1" name="S06-mark282"/>
          <p:cNvSpPr/>
          <p:nvPr/>
        </p:nvSpPr>
        <p:spPr>
          <a:xfrm>
            <a:off x="8220456" y="4055364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2" name="S06-mark283"/>
          <p:cNvSpPr/>
          <p:nvPr/>
        </p:nvSpPr>
        <p:spPr>
          <a:xfrm>
            <a:off x="8220456" y="3730752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3" name="S06-mark284"/>
          <p:cNvSpPr/>
          <p:nvPr/>
        </p:nvSpPr>
        <p:spPr>
          <a:xfrm>
            <a:off x="8220456" y="3406140"/>
            <a:ext cx="2272284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4" name="S06-figure285" descr="모눈 위의 사각형: 평행한 변이 없음"/>
          <p:cNvSpPr/>
          <p:nvPr/>
        </p:nvSpPr>
        <p:spPr>
          <a:xfrm>
            <a:off x="8545068" y="3730752"/>
            <a:ext cx="1623060" cy="973836"/>
          </a:xfrm>
          <a:custGeom>
            <a:avLst/>
            <a:gdLst/>
            <a:ahLst/>
            <a:cxnLst/>
            <a:rect l="l" t="t" r="r" b="b"/>
            <a:pathLst>
              <a:path w="1623060" h="973836">
                <a:moveTo>
                  <a:pt x="0" y="973836"/>
                </a:moveTo>
                <a:lnTo>
                  <a:pt x="1298448" y="973836"/>
                </a:lnTo>
                <a:lnTo>
                  <a:pt x="1623060" y="0"/>
                </a:lnTo>
                <a:lnTo>
                  <a:pt x="324612" y="324612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사각형의 성질 정리</a:t>
            </a:r>
            <a:endParaRPr lang="ko-KR" sz="4000" dirty="0"/>
          </a:p>
        </p:txBody>
      </p:sp>
      <p:sp>
        <p:nvSpPr>
          <p:cNvPr id="3" name="S07-text2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○는 ‘언제나 그래요’라는 뜻이에요.</a:t>
            </a:r>
            <a:endParaRPr lang="ko-KR" sz="3000" dirty="0"/>
          </a:p>
        </p:txBody>
      </p:sp>
      <p:sp>
        <p:nvSpPr>
          <p:cNvPr id="4" name="S07-card2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뜻에 맞으면 그 이름으로도 불러요.</a:t>
            </a:r>
            <a:endParaRPr lang="ko-KR" sz="3000" dirty="0"/>
          </a:p>
        </p:txBody>
      </p:sp>
      <p:graphicFrame>
        <p:nvGraphicFramePr>
          <p:cNvPr id="8" name="S07-table2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48840"/>
          <a:ext cx="100584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1911096"/>
                <a:gridCol w="1911096"/>
                <a:gridCol w="1911096"/>
                <a:gridCol w="1911096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평행한 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쌍 이상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평행한 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쌍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 변의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길이가 같음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 각이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사다리꼴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평행사변형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마름모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직사각형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정사각형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정사각형의 이름은?</a:t>
            </a:r>
            <a:endParaRPr lang="ko-KR" sz="4000" dirty="0"/>
          </a:p>
        </p:txBody>
      </p:sp>
      <p:sp>
        <p:nvSpPr>
          <p:cNvPr id="3" name="S08-card2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정사각형은 이름이 다섯 개예요.</a:t>
            </a:r>
            <a:endParaRPr lang="ko-KR" sz="3000" dirty="0"/>
          </a:p>
        </p:txBody>
      </p:sp>
      <p:sp>
        <p:nvSpPr>
          <p:cNvPr id="5" name="S08-mark292"/>
          <p:cNvSpPr/>
          <p:nvPr/>
        </p:nvSpPr>
        <p:spPr>
          <a:xfrm>
            <a:off x="8626084" y="2139696"/>
            <a:ext cx="2167128" cy="2167128"/>
          </a:xfrm>
          <a:custGeom>
            <a:avLst/>
            <a:gdLst/>
            <a:ahLst/>
            <a:cxnLst/>
            <a:rect l="l" t="t" r="r" b="b"/>
            <a:pathLst>
              <a:path w="2167128" h="2167128">
                <a:moveTo>
                  <a:pt x="0" y="2167128"/>
                </a:moveTo>
                <a:lnTo>
                  <a:pt x="2167128" y="2167128"/>
                </a:lnTo>
                <a:lnTo>
                  <a:pt x="2167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08-mark293"/>
          <p:cNvSpPr/>
          <p:nvPr/>
        </p:nvSpPr>
        <p:spPr>
          <a:xfrm flipV="1">
            <a:off x="7903708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08-mark294"/>
          <p:cNvSpPr/>
          <p:nvPr/>
        </p:nvSpPr>
        <p:spPr>
          <a:xfrm flipV="1">
            <a:off x="8626084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08-mark295"/>
          <p:cNvSpPr/>
          <p:nvPr/>
        </p:nvSpPr>
        <p:spPr>
          <a:xfrm flipV="1">
            <a:off x="9348460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08-mark296"/>
          <p:cNvSpPr/>
          <p:nvPr/>
        </p:nvSpPr>
        <p:spPr>
          <a:xfrm flipV="1">
            <a:off x="10070836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08-mark297"/>
          <p:cNvSpPr/>
          <p:nvPr/>
        </p:nvSpPr>
        <p:spPr>
          <a:xfrm flipV="1">
            <a:off x="10793212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08-mark298"/>
          <p:cNvSpPr/>
          <p:nvPr/>
        </p:nvSpPr>
        <p:spPr>
          <a:xfrm flipV="1">
            <a:off x="11515588" y="1417320"/>
            <a:ext cx="0" cy="361188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08-mark299"/>
          <p:cNvSpPr/>
          <p:nvPr/>
        </p:nvSpPr>
        <p:spPr>
          <a:xfrm>
            <a:off x="7903708" y="5029200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08-mark300"/>
          <p:cNvSpPr/>
          <p:nvPr/>
        </p:nvSpPr>
        <p:spPr>
          <a:xfrm>
            <a:off x="7903708" y="4306824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08-mark301"/>
          <p:cNvSpPr/>
          <p:nvPr/>
        </p:nvSpPr>
        <p:spPr>
          <a:xfrm>
            <a:off x="7903708" y="3584448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08-mark302"/>
          <p:cNvSpPr/>
          <p:nvPr/>
        </p:nvSpPr>
        <p:spPr>
          <a:xfrm>
            <a:off x="7903708" y="2862072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08-mark303"/>
          <p:cNvSpPr/>
          <p:nvPr/>
        </p:nvSpPr>
        <p:spPr>
          <a:xfrm>
            <a:off x="7903708" y="2139696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08-mark304"/>
          <p:cNvSpPr/>
          <p:nvPr/>
        </p:nvSpPr>
        <p:spPr>
          <a:xfrm>
            <a:off x="7903708" y="1417320"/>
            <a:ext cx="36118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08-figure305" descr="모눈 위의 정사각형 ㄱㄴㄷㄹ: 네 변에 같은 길이 표시, 네 각에 직각 표시"/>
          <p:cNvSpPr/>
          <p:nvPr/>
        </p:nvSpPr>
        <p:spPr>
          <a:xfrm>
            <a:off x="8626084" y="2139696"/>
            <a:ext cx="2167128" cy="2167128"/>
          </a:xfrm>
          <a:custGeom>
            <a:avLst/>
            <a:gdLst/>
            <a:ahLst/>
            <a:cxnLst/>
            <a:rect l="l" t="t" r="r" b="b"/>
            <a:pathLst>
              <a:path w="2167128" h="2167128">
                <a:moveTo>
                  <a:pt x="0" y="2167128"/>
                </a:moveTo>
                <a:lnTo>
                  <a:pt x="2167128" y="2167128"/>
                </a:lnTo>
                <a:lnTo>
                  <a:pt x="2167128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9" name="S08-mark306"/>
          <p:cNvSpPr/>
          <p:nvPr/>
        </p:nvSpPr>
        <p:spPr>
          <a:xfrm>
            <a:off x="8626084" y="407822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8-mark307"/>
          <p:cNvSpPr/>
          <p:nvPr/>
        </p:nvSpPr>
        <p:spPr>
          <a:xfrm>
            <a:off x="10564612" y="407822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8-mark308"/>
          <p:cNvSpPr/>
          <p:nvPr/>
        </p:nvSpPr>
        <p:spPr>
          <a:xfrm>
            <a:off x="10564612" y="213969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8-mark309"/>
          <p:cNvSpPr/>
          <p:nvPr/>
        </p:nvSpPr>
        <p:spPr>
          <a:xfrm>
            <a:off x="8626084" y="213969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8-mark310"/>
          <p:cNvSpPr/>
          <p:nvPr/>
        </p:nvSpPr>
        <p:spPr>
          <a:xfrm flipV="1">
            <a:off x="9709648" y="4215384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8-mark311"/>
          <p:cNvSpPr/>
          <p:nvPr/>
        </p:nvSpPr>
        <p:spPr>
          <a:xfrm flipH="1">
            <a:off x="10701772" y="322326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8-mark312"/>
          <p:cNvSpPr/>
          <p:nvPr/>
        </p:nvSpPr>
        <p:spPr>
          <a:xfrm>
            <a:off x="9709648" y="2048256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8-mark313"/>
          <p:cNvSpPr/>
          <p:nvPr/>
        </p:nvSpPr>
        <p:spPr>
          <a:xfrm>
            <a:off x="8534644" y="322326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8-stepno314"/>
          <p:cNvSpPr txBox="1"/>
          <p:nvPr/>
        </p:nvSpPr>
        <p:spPr>
          <a:xfrm>
            <a:off x="548640" y="1522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8" name="S08-text315"/>
          <p:cNvSpPr txBox="1"/>
          <p:nvPr/>
        </p:nvSpPr>
        <p:spPr>
          <a:xfrm>
            <a:off x="1325880" y="1522476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변이 있어요. → 사다리꼴</a:t>
            </a:r>
            <a:endParaRPr lang="ko-KR" sz="3000" dirty="0"/>
          </a:p>
        </p:txBody>
      </p:sp>
      <p:sp>
        <p:nvSpPr>
          <p:cNvPr id="29" name="S08-stepno316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8-text317"/>
          <p:cNvSpPr txBox="1"/>
          <p:nvPr/>
        </p:nvSpPr>
        <p:spPr>
          <a:xfrm>
            <a:off x="1325880" y="2235708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쌍이 평행해요. → 평행사변형</a:t>
            </a:r>
            <a:endParaRPr lang="ko-KR" sz="3000" dirty="0"/>
          </a:p>
        </p:txBody>
      </p:sp>
      <p:sp>
        <p:nvSpPr>
          <p:cNvPr id="31" name="S08-stepno318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32" name="S08-text319"/>
          <p:cNvSpPr txBox="1"/>
          <p:nvPr/>
        </p:nvSpPr>
        <p:spPr>
          <a:xfrm>
            <a:off x="1325880" y="2948940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변이 같아요. → 마름모</a:t>
            </a:r>
            <a:endParaRPr lang="ko-KR" sz="3000" dirty="0"/>
          </a:p>
        </p:txBody>
      </p:sp>
      <p:sp>
        <p:nvSpPr>
          <p:cNvPr id="33" name="S08-stepno320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34" name="S08-text321"/>
          <p:cNvSpPr txBox="1"/>
          <p:nvPr/>
        </p:nvSpPr>
        <p:spPr>
          <a:xfrm>
            <a:off x="1325880" y="3662172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직각이에요. → 직사각형</a:t>
            </a:r>
            <a:endParaRPr lang="ko-KR" sz="3000" dirty="0"/>
          </a:p>
        </p:txBody>
      </p:sp>
      <p:sp>
        <p:nvSpPr>
          <p:cNvPr id="35" name="S08-stepno322"/>
          <p:cNvSpPr txBox="1"/>
          <p:nvPr/>
        </p:nvSpPr>
        <p:spPr>
          <a:xfrm>
            <a:off x="548640" y="4375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36" name="S08-text323"/>
          <p:cNvSpPr txBox="1"/>
          <p:nvPr/>
        </p:nvSpPr>
        <p:spPr>
          <a:xfrm>
            <a:off x="1325880" y="4375404"/>
            <a:ext cx="6087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맞아요. → 정사각형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9-card32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32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정사각형은 마름모라고 할 수 있을까요?</a:t>
            </a:r>
            <a:endParaRPr lang="ko-KR" sz="3000" dirty="0"/>
          </a:p>
        </p:txBody>
      </p:sp>
      <p:sp>
        <p:nvSpPr>
          <p:cNvPr id="5" name="S09-card3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3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마름모의 뜻으로 말해요.</a:t>
            </a:r>
            <a:endParaRPr lang="ko-KR" sz="3000" dirty="0"/>
          </a:p>
        </p:txBody>
      </p:sp>
      <p:sp>
        <p:nvSpPr>
          <p:cNvPr id="7" name="S09-chip32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아니에요</a:t>
            </a:r>
            <a:endParaRPr lang="ko-KR" sz="2400" dirty="0"/>
          </a:p>
        </p:txBody>
      </p:sp>
      <p:sp>
        <p:nvSpPr>
          <p:cNvPr id="8" name="S09-text32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마름모는 뾰족하게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세워 놓은 모양이에요.</a:t>
            </a:r>
            <a:endParaRPr lang="ko-KR" sz="3000" dirty="0"/>
          </a:p>
        </p:txBody>
      </p:sp>
      <p:sp>
        <p:nvSpPr>
          <p:cNvPr id="9" name="S09-chip33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맞아요</a:t>
            </a:r>
            <a:endParaRPr lang="ko-KR" sz="2400" dirty="0"/>
          </a:p>
        </p:txBody>
      </p:sp>
      <p:sp>
        <p:nvSpPr>
          <p:cNvPr id="10" name="S09-text33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모두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같으니까 마름모예요.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맞으면 ○, 틀리면 ×</a:t>
            </a:r>
            <a:endParaRPr lang="ko-KR" sz="4000" dirty="0"/>
          </a:p>
        </p:txBody>
      </p:sp>
      <p:sp>
        <p:nvSpPr>
          <p:cNvPr id="3" name="S10-text3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맞으면 ○, 틀리면 ×라고 하고 까닭을 말해요.</a:t>
            </a:r>
            <a:endParaRPr lang="ko-KR" sz="3000" dirty="0"/>
          </a:p>
        </p:txBody>
      </p:sp>
      <p:sp>
        <p:nvSpPr>
          <p:cNvPr id="4" name="S10-card3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3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뜻에 언제나 맞는지 따져 봐요.</a:t>
            </a:r>
            <a:endParaRPr lang="ko-KR" sz="3000" dirty="0"/>
          </a:p>
        </p:txBody>
      </p:sp>
      <p:sp>
        <p:nvSpPr>
          <p:cNvPr id="6" name="S10-chip3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text33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사다리꼴이에요.</a:t>
            </a:r>
            <a:endParaRPr lang="ko-KR" sz="3000" dirty="0"/>
          </a:p>
        </p:txBody>
      </p:sp>
      <p:sp>
        <p:nvSpPr>
          <p:cNvPr id="8" name="S10-chip33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text33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정사각형이에요.</a:t>
            </a:r>
            <a:endParaRPr lang="ko-KR" sz="3000" dirty="0"/>
          </a:p>
        </p:txBody>
      </p:sp>
      <p:sp>
        <p:nvSpPr>
          <p:cNvPr id="10" name="S10-chip33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340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직사각형은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평행사변형이에요.</a:t>
            </a:r>
            <a:endParaRPr lang="ko-KR" sz="3000" dirty="0"/>
          </a:p>
        </p:txBody>
      </p:sp>
      <p:sp>
        <p:nvSpPr>
          <p:cNvPr id="12" name="S10-chip341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text342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사다리꼴은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평행사변형이에요.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붙일 수 있는 이름을 모두 말해요.</a:t>
            </a:r>
            <a:endParaRPr lang="ko-KR" sz="3000" dirty="0"/>
          </a:p>
        </p:txBody>
      </p:sp>
      <p:sp>
        <p:nvSpPr>
          <p:cNvPr id="4" name="S11-chip344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mark345"/>
          <p:cNvSpPr/>
          <p:nvPr/>
        </p:nvSpPr>
        <p:spPr>
          <a:xfrm>
            <a:off x="2256282" y="2560320"/>
            <a:ext cx="2743200" cy="914400"/>
          </a:xfrm>
          <a:custGeom>
            <a:avLst/>
            <a:gdLst/>
            <a:ahLst/>
            <a:cxnLst/>
            <a:rect l="l" t="t" r="r" b="b"/>
            <a:pathLst>
              <a:path w="2743200" h="914400">
                <a:moveTo>
                  <a:pt x="0" y="914400"/>
                </a:moveTo>
                <a:lnTo>
                  <a:pt x="1828800" y="914400"/>
                </a:lnTo>
                <a:lnTo>
                  <a:pt x="2743200" y="0"/>
                </a:lnTo>
                <a:lnTo>
                  <a:pt x="91440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6" name="S11-mark346"/>
          <p:cNvSpPr/>
          <p:nvPr/>
        </p:nvSpPr>
        <p:spPr>
          <a:xfrm flipV="1">
            <a:off x="17990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1-mark347"/>
          <p:cNvSpPr/>
          <p:nvPr/>
        </p:nvSpPr>
        <p:spPr>
          <a:xfrm flipV="1">
            <a:off x="22562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1-mark348"/>
          <p:cNvSpPr/>
          <p:nvPr/>
        </p:nvSpPr>
        <p:spPr>
          <a:xfrm flipV="1">
            <a:off x="27134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1-mark349"/>
          <p:cNvSpPr/>
          <p:nvPr/>
        </p:nvSpPr>
        <p:spPr>
          <a:xfrm flipV="1">
            <a:off x="31706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1-mark350"/>
          <p:cNvSpPr/>
          <p:nvPr/>
        </p:nvSpPr>
        <p:spPr>
          <a:xfrm flipV="1">
            <a:off x="36278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1-mark351"/>
          <p:cNvSpPr/>
          <p:nvPr/>
        </p:nvSpPr>
        <p:spPr>
          <a:xfrm flipV="1">
            <a:off x="40850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1-mark352"/>
          <p:cNvSpPr/>
          <p:nvPr/>
        </p:nvSpPr>
        <p:spPr>
          <a:xfrm flipV="1">
            <a:off x="45422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1-mark353"/>
          <p:cNvSpPr/>
          <p:nvPr/>
        </p:nvSpPr>
        <p:spPr>
          <a:xfrm flipV="1">
            <a:off x="49994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1-mark354"/>
          <p:cNvSpPr/>
          <p:nvPr/>
        </p:nvSpPr>
        <p:spPr>
          <a:xfrm flipV="1">
            <a:off x="5456682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1-mark355"/>
          <p:cNvSpPr/>
          <p:nvPr/>
        </p:nvSpPr>
        <p:spPr>
          <a:xfrm>
            <a:off x="1799082" y="39319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1-mark356"/>
          <p:cNvSpPr/>
          <p:nvPr/>
        </p:nvSpPr>
        <p:spPr>
          <a:xfrm>
            <a:off x="1799082" y="34747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1-mark357"/>
          <p:cNvSpPr/>
          <p:nvPr/>
        </p:nvSpPr>
        <p:spPr>
          <a:xfrm>
            <a:off x="1799082" y="30175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1-mark358"/>
          <p:cNvSpPr/>
          <p:nvPr/>
        </p:nvSpPr>
        <p:spPr>
          <a:xfrm>
            <a:off x="1799082" y="25603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1-mark359"/>
          <p:cNvSpPr/>
          <p:nvPr/>
        </p:nvSpPr>
        <p:spPr>
          <a:xfrm>
            <a:off x="1799082" y="2103120"/>
            <a:ext cx="36576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20" name="S11-figure360" descr="모눈 위의 사각형: 마주 보는 두 쌍의 변이 평행, 마주 보는 변에 같은 길이 표시"/>
          <p:cNvSpPr/>
          <p:nvPr/>
        </p:nvSpPr>
        <p:spPr>
          <a:xfrm>
            <a:off x="2256282" y="2560320"/>
            <a:ext cx="2743200" cy="914400"/>
          </a:xfrm>
          <a:custGeom>
            <a:avLst/>
            <a:gdLst/>
            <a:ahLst/>
            <a:cxnLst/>
            <a:rect l="l" t="t" r="r" b="b"/>
            <a:pathLst>
              <a:path w="2743200" h="914400">
                <a:moveTo>
                  <a:pt x="0" y="914400"/>
                </a:moveTo>
                <a:lnTo>
                  <a:pt x="1828800" y="914400"/>
                </a:lnTo>
                <a:lnTo>
                  <a:pt x="2743200" y="0"/>
                </a:lnTo>
                <a:lnTo>
                  <a:pt x="91440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1" name="S11-mark361"/>
          <p:cNvSpPr/>
          <p:nvPr/>
        </p:nvSpPr>
        <p:spPr>
          <a:xfrm flipV="1">
            <a:off x="3170682" y="33832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1-mark362"/>
          <p:cNvSpPr/>
          <p:nvPr/>
        </p:nvSpPr>
        <p:spPr>
          <a:xfrm flipH="1" flipV="1">
            <a:off x="4447450" y="2983036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1-mark363"/>
          <p:cNvSpPr/>
          <p:nvPr/>
        </p:nvSpPr>
        <p:spPr>
          <a:xfrm flipH="1" flipV="1">
            <a:off x="4507798" y="2922688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1-mark364"/>
          <p:cNvSpPr/>
          <p:nvPr/>
        </p:nvSpPr>
        <p:spPr>
          <a:xfrm>
            <a:off x="4085082" y="24688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1-mark365"/>
          <p:cNvSpPr/>
          <p:nvPr/>
        </p:nvSpPr>
        <p:spPr>
          <a:xfrm>
            <a:off x="2678998" y="2922688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1-mark366"/>
          <p:cNvSpPr/>
          <p:nvPr/>
        </p:nvSpPr>
        <p:spPr>
          <a:xfrm>
            <a:off x="2618650" y="2983036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1-chip367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28" name="S11-mark368"/>
          <p:cNvSpPr/>
          <p:nvPr/>
        </p:nvSpPr>
        <p:spPr>
          <a:xfrm>
            <a:off x="8213598" y="2560320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286000" h="914400">
                <a:moveTo>
                  <a:pt x="0" y="914400"/>
                </a:moveTo>
                <a:lnTo>
                  <a:pt x="2286000" y="914400"/>
                </a:lnTo>
                <a:lnTo>
                  <a:pt x="2286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29" name="S11-mark369"/>
          <p:cNvSpPr/>
          <p:nvPr/>
        </p:nvSpPr>
        <p:spPr>
          <a:xfrm flipV="1">
            <a:off x="77563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0" name="S11-mark370"/>
          <p:cNvSpPr/>
          <p:nvPr/>
        </p:nvSpPr>
        <p:spPr>
          <a:xfrm flipV="1">
            <a:off x="82135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1-mark371"/>
          <p:cNvSpPr/>
          <p:nvPr/>
        </p:nvSpPr>
        <p:spPr>
          <a:xfrm flipV="1">
            <a:off x="86707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1-mark372"/>
          <p:cNvSpPr/>
          <p:nvPr/>
        </p:nvSpPr>
        <p:spPr>
          <a:xfrm flipV="1">
            <a:off x="91279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1-mark373"/>
          <p:cNvSpPr/>
          <p:nvPr/>
        </p:nvSpPr>
        <p:spPr>
          <a:xfrm flipV="1">
            <a:off x="95851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1-mark374"/>
          <p:cNvSpPr/>
          <p:nvPr/>
        </p:nvSpPr>
        <p:spPr>
          <a:xfrm flipV="1">
            <a:off x="100423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1-mark375"/>
          <p:cNvSpPr/>
          <p:nvPr/>
        </p:nvSpPr>
        <p:spPr>
          <a:xfrm flipV="1">
            <a:off x="104995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1-mark376"/>
          <p:cNvSpPr/>
          <p:nvPr/>
        </p:nvSpPr>
        <p:spPr>
          <a:xfrm flipV="1">
            <a:off x="10956798" y="210312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1-mark377"/>
          <p:cNvSpPr/>
          <p:nvPr/>
        </p:nvSpPr>
        <p:spPr>
          <a:xfrm>
            <a:off x="7756398" y="39319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1-mark378"/>
          <p:cNvSpPr/>
          <p:nvPr/>
        </p:nvSpPr>
        <p:spPr>
          <a:xfrm>
            <a:off x="7756398" y="34747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1-mark379"/>
          <p:cNvSpPr/>
          <p:nvPr/>
        </p:nvSpPr>
        <p:spPr>
          <a:xfrm>
            <a:off x="7756398" y="30175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1-mark380"/>
          <p:cNvSpPr/>
          <p:nvPr/>
        </p:nvSpPr>
        <p:spPr>
          <a:xfrm>
            <a:off x="7756398" y="25603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1-mark381"/>
          <p:cNvSpPr/>
          <p:nvPr/>
        </p:nvSpPr>
        <p:spPr>
          <a:xfrm>
            <a:off x="7756398" y="2103120"/>
            <a:ext cx="32004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1-figure382" descr="모눈 위의 사각형: 가로 5칸 세로 2칸, 네 각에 직각 표시, 마주 보는 변에 같은 길이 표시"/>
          <p:cNvSpPr/>
          <p:nvPr/>
        </p:nvSpPr>
        <p:spPr>
          <a:xfrm>
            <a:off x="8213598" y="2560320"/>
            <a:ext cx="2286000" cy="914400"/>
          </a:xfrm>
          <a:custGeom>
            <a:avLst/>
            <a:gdLst/>
            <a:ahLst/>
            <a:cxnLst/>
            <a:rect l="l" t="t" r="r" b="b"/>
            <a:pathLst>
              <a:path w="2286000" h="914400">
                <a:moveTo>
                  <a:pt x="0" y="914400"/>
                </a:moveTo>
                <a:lnTo>
                  <a:pt x="2286000" y="914400"/>
                </a:lnTo>
                <a:lnTo>
                  <a:pt x="2286000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3" name="S11-mark383"/>
          <p:cNvSpPr/>
          <p:nvPr/>
        </p:nvSpPr>
        <p:spPr>
          <a:xfrm>
            <a:off x="8213598" y="32461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11-mark384"/>
          <p:cNvSpPr/>
          <p:nvPr/>
        </p:nvSpPr>
        <p:spPr>
          <a:xfrm>
            <a:off x="10270998" y="32461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11-mark385"/>
          <p:cNvSpPr/>
          <p:nvPr/>
        </p:nvSpPr>
        <p:spPr>
          <a:xfrm>
            <a:off x="10270998" y="2560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6" name="S11-mark386"/>
          <p:cNvSpPr/>
          <p:nvPr/>
        </p:nvSpPr>
        <p:spPr>
          <a:xfrm>
            <a:off x="8213598" y="2560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11-mark387"/>
          <p:cNvSpPr/>
          <p:nvPr/>
        </p:nvSpPr>
        <p:spPr>
          <a:xfrm flipV="1">
            <a:off x="9356598" y="33832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11-mark388"/>
          <p:cNvSpPr/>
          <p:nvPr/>
        </p:nvSpPr>
        <p:spPr>
          <a:xfrm flipH="1">
            <a:off x="10408158" y="306019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11-mark389"/>
          <p:cNvSpPr/>
          <p:nvPr/>
        </p:nvSpPr>
        <p:spPr>
          <a:xfrm flipH="1">
            <a:off x="10408158" y="297484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1-mark390"/>
          <p:cNvSpPr/>
          <p:nvPr/>
        </p:nvSpPr>
        <p:spPr>
          <a:xfrm>
            <a:off x="9356598" y="246888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11-mark391"/>
          <p:cNvSpPr/>
          <p:nvPr/>
        </p:nvSpPr>
        <p:spPr>
          <a:xfrm>
            <a:off x="8122158" y="297484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1-mark392"/>
          <p:cNvSpPr/>
          <p:nvPr/>
        </p:nvSpPr>
        <p:spPr>
          <a:xfrm>
            <a:off x="8122158" y="306019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11-chip39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54" name="S11-mark394"/>
          <p:cNvSpPr/>
          <p:nvPr/>
        </p:nvSpPr>
        <p:spPr>
          <a:xfrm>
            <a:off x="2530602" y="466344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0" y="1097280"/>
                </a:moveTo>
                <a:lnTo>
                  <a:pt x="2194560" y="1097280"/>
                </a:lnTo>
                <a:lnTo>
                  <a:pt x="1463040" y="0"/>
                </a:lnTo>
                <a:lnTo>
                  <a:pt x="36576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5" name="S11-mark395"/>
          <p:cNvSpPr/>
          <p:nvPr/>
        </p:nvSpPr>
        <p:spPr>
          <a:xfrm flipV="1">
            <a:off x="216484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11-mark396"/>
          <p:cNvSpPr/>
          <p:nvPr/>
        </p:nvSpPr>
        <p:spPr>
          <a:xfrm flipV="1">
            <a:off x="253060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1-mark397"/>
          <p:cNvSpPr/>
          <p:nvPr/>
        </p:nvSpPr>
        <p:spPr>
          <a:xfrm flipV="1">
            <a:off x="289636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1-mark398"/>
          <p:cNvSpPr/>
          <p:nvPr/>
        </p:nvSpPr>
        <p:spPr>
          <a:xfrm flipV="1">
            <a:off x="326212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11-mark399"/>
          <p:cNvSpPr/>
          <p:nvPr/>
        </p:nvSpPr>
        <p:spPr>
          <a:xfrm flipV="1">
            <a:off x="362788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11-mark400"/>
          <p:cNvSpPr/>
          <p:nvPr/>
        </p:nvSpPr>
        <p:spPr>
          <a:xfrm flipV="1">
            <a:off x="399364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11-mark401"/>
          <p:cNvSpPr/>
          <p:nvPr/>
        </p:nvSpPr>
        <p:spPr>
          <a:xfrm flipV="1">
            <a:off x="435940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11-mark402"/>
          <p:cNvSpPr/>
          <p:nvPr/>
        </p:nvSpPr>
        <p:spPr>
          <a:xfrm flipV="1">
            <a:off x="472516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11-mark403"/>
          <p:cNvSpPr/>
          <p:nvPr/>
        </p:nvSpPr>
        <p:spPr>
          <a:xfrm flipV="1">
            <a:off x="5090922" y="4297680"/>
            <a:ext cx="0" cy="182880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11-mark404"/>
          <p:cNvSpPr/>
          <p:nvPr/>
        </p:nvSpPr>
        <p:spPr>
          <a:xfrm>
            <a:off x="2164842" y="612648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11-mark405"/>
          <p:cNvSpPr/>
          <p:nvPr/>
        </p:nvSpPr>
        <p:spPr>
          <a:xfrm>
            <a:off x="2164842" y="576072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11-mark406"/>
          <p:cNvSpPr/>
          <p:nvPr/>
        </p:nvSpPr>
        <p:spPr>
          <a:xfrm>
            <a:off x="2164842" y="539496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7" name="S11-mark407"/>
          <p:cNvSpPr/>
          <p:nvPr/>
        </p:nvSpPr>
        <p:spPr>
          <a:xfrm>
            <a:off x="2164842" y="502920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8" name="S11-mark408"/>
          <p:cNvSpPr/>
          <p:nvPr/>
        </p:nvSpPr>
        <p:spPr>
          <a:xfrm>
            <a:off x="2164842" y="466344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9" name="S11-mark409"/>
          <p:cNvSpPr/>
          <p:nvPr/>
        </p:nvSpPr>
        <p:spPr>
          <a:xfrm>
            <a:off x="2164842" y="4297680"/>
            <a:ext cx="29260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0" name="S11-figure410" descr="모눈 위의 사각형: 위아래 변만 평행"/>
          <p:cNvSpPr/>
          <p:nvPr/>
        </p:nvSpPr>
        <p:spPr>
          <a:xfrm>
            <a:off x="2530602" y="4663440"/>
            <a:ext cx="2194560" cy="1097280"/>
          </a:xfrm>
          <a:custGeom>
            <a:avLst/>
            <a:gdLst/>
            <a:ahLst/>
            <a:cxnLst/>
            <a:rect l="l" t="t" r="r" b="b"/>
            <a:pathLst>
              <a:path w="2194560" h="1097280">
                <a:moveTo>
                  <a:pt x="0" y="1097280"/>
                </a:moveTo>
                <a:lnTo>
                  <a:pt x="2194560" y="1097280"/>
                </a:lnTo>
                <a:lnTo>
                  <a:pt x="1463040" y="0"/>
                </a:lnTo>
                <a:lnTo>
                  <a:pt x="36576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71" name="S11-chip41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72" name="S11-text41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변의 길이가 같고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각이 직각인 사각형은?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마름모를 모두 찾아요</a:t>
            </a:r>
            <a:endParaRPr lang="ko-KR" sz="4000" dirty="0"/>
          </a:p>
        </p:txBody>
      </p:sp>
      <p:sp>
        <p:nvSpPr>
          <p:cNvPr id="3" name="S13-card4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4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어떻게 알았는지 말해요.</a:t>
            </a:r>
            <a:endParaRPr lang="ko-KR" sz="3000" dirty="0"/>
          </a:p>
        </p:txBody>
      </p:sp>
      <p:sp>
        <p:nvSpPr>
          <p:cNvPr id="5" name="S13-chip415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3-mark416"/>
          <p:cNvSpPr/>
          <p:nvPr/>
        </p:nvSpPr>
        <p:spPr>
          <a:xfrm>
            <a:off x="3154680" y="1732788"/>
            <a:ext cx="946404" cy="946404"/>
          </a:xfrm>
          <a:custGeom>
            <a:avLst/>
            <a:gdLst/>
            <a:ahLst/>
            <a:cxnLst/>
            <a:rect l="l" t="t" r="r" b="b"/>
            <a:pathLst>
              <a:path w="946404" h="946404">
                <a:moveTo>
                  <a:pt x="0" y="946404"/>
                </a:moveTo>
                <a:lnTo>
                  <a:pt x="946404" y="946404"/>
                </a:lnTo>
                <a:lnTo>
                  <a:pt x="946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7" name="S13-mark417"/>
          <p:cNvSpPr/>
          <p:nvPr/>
        </p:nvSpPr>
        <p:spPr>
          <a:xfrm flipV="1">
            <a:off x="283921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3-mark418"/>
          <p:cNvSpPr/>
          <p:nvPr/>
        </p:nvSpPr>
        <p:spPr>
          <a:xfrm flipV="1">
            <a:off x="3154680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3-mark419"/>
          <p:cNvSpPr/>
          <p:nvPr/>
        </p:nvSpPr>
        <p:spPr>
          <a:xfrm flipV="1">
            <a:off x="347014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3-mark420"/>
          <p:cNvSpPr/>
          <p:nvPr/>
        </p:nvSpPr>
        <p:spPr>
          <a:xfrm flipV="1">
            <a:off x="3785616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3-mark421"/>
          <p:cNvSpPr/>
          <p:nvPr/>
        </p:nvSpPr>
        <p:spPr>
          <a:xfrm flipV="1">
            <a:off x="4101084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3-mark422"/>
          <p:cNvSpPr/>
          <p:nvPr/>
        </p:nvSpPr>
        <p:spPr>
          <a:xfrm flipV="1">
            <a:off x="4416552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3-mark423"/>
          <p:cNvSpPr/>
          <p:nvPr/>
        </p:nvSpPr>
        <p:spPr>
          <a:xfrm>
            <a:off x="2839212" y="2994660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3-mark424"/>
          <p:cNvSpPr/>
          <p:nvPr/>
        </p:nvSpPr>
        <p:spPr>
          <a:xfrm>
            <a:off x="2839212" y="2679192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3-mark425"/>
          <p:cNvSpPr/>
          <p:nvPr/>
        </p:nvSpPr>
        <p:spPr>
          <a:xfrm>
            <a:off x="2839212" y="2363724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3-mark426"/>
          <p:cNvSpPr/>
          <p:nvPr/>
        </p:nvSpPr>
        <p:spPr>
          <a:xfrm>
            <a:off x="2839212" y="2048256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3-mark427"/>
          <p:cNvSpPr/>
          <p:nvPr/>
        </p:nvSpPr>
        <p:spPr>
          <a:xfrm>
            <a:off x="2839212" y="1732788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3-mark428"/>
          <p:cNvSpPr/>
          <p:nvPr/>
        </p:nvSpPr>
        <p:spPr>
          <a:xfrm>
            <a:off x="2839212" y="1417320"/>
            <a:ext cx="157734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3-figure429" descr="모눈 위의 사각형 가: 네 변에 같은 길이 표시, 네 각에 직각 표시"/>
          <p:cNvSpPr/>
          <p:nvPr/>
        </p:nvSpPr>
        <p:spPr>
          <a:xfrm>
            <a:off x="3154680" y="1732788"/>
            <a:ext cx="946404" cy="946404"/>
          </a:xfrm>
          <a:custGeom>
            <a:avLst/>
            <a:gdLst/>
            <a:ahLst/>
            <a:cxnLst/>
            <a:rect l="l" t="t" r="r" b="b"/>
            <a:pathLst>
              <a:path w="946404" h="946404">
                <a:moveTo>
                  <a:pt x="0" y="946404"/>
                </a:moveTo>
                <a:lnTo>
                  <a:pt x="946404" y="946404"/>
                </a:lnTo>
                <a:lnTo>
                  <a:pt x="946404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0" name="S13-mark430"/>
          <p:cNvSpPr/>
          <p:nvPr/>
        </p:nvSpPr>
        <p:spPr>
          <a:xfrm>
            <a:off x="3154680" y="245059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3-mark431"/>
          <p:cNvSpPr/>
          <p:nvPr/>
        </p:nvSpPr>
        <p:spPr>
          <a:xfrm>
            <a:off x="3872484" y="2450592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13-mark432"/>
          <p:cNvSpPr/>
          <p:nvPr/>
        </p:nvSpPr>
        <p:spPr>
          <a:xfrm>
            <a:off x="3872484" y="17327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3-mark433"/>
          <p:cNvSpPr/>
          <p:nvPr/>
        </p:nvSpPr>
        <p:spPr>
          <a:xfrm>
            <a:off x="3154680" y="17327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13-mark434"/>
          <p:cNvSpPr/>
          <p:nvPr/>
        </p:nvSpPr>
        <p:spPr>
          <a:xfrm flipV="1">
            <a:off x="3627882" y="2587752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13-mark435"/>
          <p:cNvSpPr/>
          <p:nvPr/>
        </p:nvSpPr>
        <p:spPr>
          <a:xfrm flipH="1">
            <a:off x="4009644" y="220599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13-mark436"/>
          <p:cNvSpPr/>
          <p:nvPr/>
        </p:nvSpPr>
        <p:spPr>
          <a:xfrm>
            <a:off x="3627882" y="1641348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13-mark437"/>
          <p:cNvSpPr/>
          <p:nvPr/>
        </p:nvSpPr>
        <p:spPr>
          <a:xfrm>
            <a:off x="3063240" y="2205990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13-chip438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29" name="S13-mark439"/>
          <p:cNvSpPr/>
          <p:nvPr/>
        </p:nvSpPr>
        <p:spPr>
          <a:xfrm>
            <a:off x="8305038" y="1680210"/>
            <a:ext cx="2103120" cy="1051560"/>
          </a:xfrm>
          <a:custGeom>
            <a:avLst/>
            <a:gdLst/>
            <a:ahLst/>
            <a:cxnLst/>
            <a:rect l="l" t="t" r="r" b="b"/>
            <a:pathLst>
              <a:path w="2103120" h="1051560">
                <a:moveTo>
                  <a:pt x="0" y="1051560"/>
                </a:moveTo>
                <a:lnTo>
                  <a:pt x="1314450" y="1051560"/>
                </a:lnTo>
                <a:lnTo>
                  <a:pt x="2103120" y="0"/>
                </a:lnTo>
                <a:lnTo>
                  <a:pt x="78867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30" name="S13-mark440"/>
          <p:cNvSpPr/>
          <p:nvPr/>
        </p:nvSpPr>
        <p:spPr>
          <a:xfrm flipV="1">
            <a:off x="804214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1" name="S13-mark441"/>
          <p:cNvSpPr/>
          <p:nvPr/>
        </p:nvSpPr>
        <p:spPr>
          <a:xfrm flipV="1">
            <a:off x="830503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2" name="S13-mark442"/>
          <p:cNvSpPr/>
          <p:nvPr/>
        </p:nvSpPr>
        <p:spPr>
          <a:xfrm flipV="1">
            <a:off x="856792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3" name="S13-mark443"/>
          <p:cNvSpPr/>
          <p:nvPr/>
        </p:nvSpPr>
        <p:spPr>
          <a:xfrm flipV="1">
            <a:off x="883081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4" name="S13-mark444"/>
          <p:cNvSpPr/>
          <p:nvPr/>
        </p:nvSpPr>
        <p:spPr>
          <a:xfrm flipV="1">
            <a:off x="909370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5" name="S13-mark445"/>
          <p:cNvSpPr/>
          <p:nvPr/>
        </p:nvSpPr>
        <p:spPr>
          <a:xfrm flipV="1">
            <a:off x="935659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6" name="S13-mark446"/>
          <p:cNvSpPr/>
          <p:nvPr/>
        </p:nvSpPr>
        <p:spPr>
          <a:xfrm flipV="1">
            <a:off x="961948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7" name="S13-mark447"/>
          <p:cNvSpPr/>
          <p:nvPr/>
        </p:nvSpPr>
        <p:spPr>
          <a:xfrm flipV="1">
            <a:off x="988237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8" name="S13-mark448"/>
          <p:cNvSpPr/>
          <p:nvPr/>
        </p:nvSpPr>
        <p:spPr>
          <a:xfrm flipV="1">
            <a:off x="1014526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39" name="S13-mark449"/>
          <p:cNvSpPr/>
          <p:nvPr/>
        </p:nvSpPr>
        <p:spPr>
          <a:xfrm flipV="1">
            <a:off x="1040815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0" name="S13-mark450"/>
          <p:cNvSpPr/>
          <p:nvPr/>
        </p:nvSpPr>
        <p:spPr>
          <a:xfrm flipV="1">
            <a:off x="10671048" y="141732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1" name="S13-mark451"/>
          <p:cNvSpPr/>
          <p:nvPr/>
        </p:nvSpPr>
        <p:spPr>
          <a:xfrm>
            <a:off x="8042148" y="299466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2" name="S13-mark452"/>
          <p:cNvSpPr/>
          <p:nvPr/>
        </p:nvSpPr>
        <p:spPr>
          <a:xfrm>
            <a:off x="8042148" y="273177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3" name="S13-mark453"/>
          <p:cNvSpPr/>
          <p:nvPr/>
        </p:nvSpPr>
        <p:spPr>
          <a:xfrm>
            <a:off x="8042148" y="246888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4" name="S13-mark454"/>
          <p:cNvSpPr/>
          <p:nvPr/>
        </p:nvSpPr>
        <p:spPr>
          <a:xfrm>
            <a:off x="8042148" y="220599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5" name="S13-mark455"/>
          <p:cNvSpPr/>
          <p:nvPr/>
        </p:nvSpPr>
        <p:spPr>
          <a:xfrm>
            <a:off x="8042148" y="194310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6" name="S13-mark456"/>
          <p:cNvSpPr/>
          <p:nvPr/>
        </p:nvSpPr>
        <p:spPr>
          <a:xfrm>
            <a:off x="8042148" y="168021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7" name="S13-mark457"/>
          <p:cNvSpPr/>
          <p:nvPr/>
        </p:nvSpPr>
        <p:spPr>
          <a:xfrm>
            <a:off x="8042148" y="1417320"/>
            <a:ext cx="262890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8" name="S13-figure458" descr="모눈 위의 사각형 나: 네 변에 같은 길이 표시, 비스듬히 누운 모양"/>
          <p:cNvSpPr/>
          <p:nvPr/>
        </p:nvSpPr>
        <p:spPr>
          <a:xfrm>
            <a:off x="8305038" y="1680210"/>
            <a:ext cx="2103120" cy="1051560"/>
          </a:xfrm>
          <a:custGeom>
            <a:avLst/>
            <a:gdLst/>
            <a:ahLst/>
            <a:cxnLst/>
            <a:rect l="l" t="t" r="r" b="b"/>
            <a:pathLst>
              <a:path w="2103120" h="1051560">
                <a:moveTo>
                  <a:pt x="0" y="1051560"/>
                </a:moveTo>
                <a:lnTo>
                  <a:pt x="1314450" y="1051560"/>
                </a:lnTo>
                <a:lnTo>
                  <a:pt x="2103120" y="0"/>
                </a:lnTo>
                <a:lnTo>
                  <a:pt x="78867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49" name="S13-mark459"/>
          <p:cNvSpPr/>
          <p:nvPr/>
        </p:nvSpPr>
        <p:spPr>
          <a:xfrm flipV="1">
            <a:off x="8962263" y="264033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0" name="S13-mark460"/>
          <p:cNvSpPr/>
          <p:nvPr/>
        </p:nvSpPr>
        <p:spPr>
          <a:xfrm flipH="1" flipV="1">
            <a:off x="9940671" y="215112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13-mark461"/>
          <p:cNvSpPr/>
          <p:nvPr/>
        </p:nvSpPr>
        <p:spPr>
          <a:xfrm>
            <a:off x="9750933" y="1588770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2" name="S13-mark462"/>
          <p:cNvSpPr/>
          <p:nvPr/>
        </p:nvSpPr>
        <p:spPr>
          <a:xfrm>
            <a:off x="8626221" y="2151126"/>
            <a:ext cx="146304" cy="10972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13-chip463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54" name="S13-mark464"/>
          <p:cNvSpPr/>
          <p:nvPr/>
        </p:nvSpPr>
        <p:spPr>
          <a:xfrm>
            <a:off x="2642045" y="3846195"/>
            <a:ext cx="1971675" cy="788670"/>
          </a:xfrm>
          <a:custGeom>
            <a:avLst/>
            <a:gdLst/>
            <a:ahLst/>
            <a:cxnLst/>
            <a:rect l="l" t="t" r="r" b="b"/>
            <a:pathLst>
              <a:path w="1971675" h="788670">
                <a:moveTo>
                  <a:pt x="0" y="788670"/>
                </a:moveTo>
                <a:lnTo>
                  <a:pt x="1971675" y="788670"/>
                </a:lnTo>
                <a:lnTo>
                  <a:pt x="1971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55" name="S13-mark465"/>
          <p:cNvSpPr/>
          <p:nvPr/>
        </p:nvSpPr>
        <p:spPr>
          <a:xfrm flipV="1">
            <a:off x="2247710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6" name="S13-mark466"/>
          <p:cNvSpPr/>
          <p:nvPr/>
        </p:nvSpPr>
        <p:spPr>
          <a:xfrm flipV="1">
            <a:off x="264204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7" name="S13-mark467"/>
          <p:cNvSpPr/>
          <p:nvPr/>
        </p:nvSpPr>
        <p:spPr>
          <a:xfrm flipV="1">
            <a:off x="303637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8" name="S13-mark468"/>
          <p:cNvSpPr/>
          <p:nvPr/>
        </p:nvSpPr>
        <p:spPr>
          <a:xfrm flipV="1">
            <a:off x="3430714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9" name="S13-mark469"/>
          <p:cNvSpPr/>
          <p:nvPr/>
        </p:nvSpPr>
        <p:spPr>
          <a:xfrm flipV="1">
            <a:off x="382504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0" name="S13-mark470"/>
          <p:cNvSpPr/>
          <p:nvPr/>
        </p:nvSpPr>
        <p:spPr>
          <a:xfrm flipV="1">
            <a:off x="421938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1" name="S13-mark471"/>
          <p:cNvSpPr/>
          <p:nvPr/>
        </p:nvSpPr>
        <p:spPr>
          <a:xfrm flipV="1">
            <a:off x="4613719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2" name="S13-mark472"/>
          <p:cNvSpPr/>
          <p:nvPr/>
        </p:nvSpPr>
        <p:spPr>
          <a:xfrm flipV="1">
            <a:off x="5008055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3" name="S13-mark473"/>
          <p:cNvSpPr/>
          <p:nvPr/>
        </p:nvSpPr>
        <p:spPr>
          <a:xfrm>
            <a:off x="2247710" y="5029200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4" name="S13-mark474"/>
          <p:cNvSpPr/>
          <p:nvPr/>
        </p:nvSpPr>
        <p:spPr>
          <a:xfrm>
            <a:off x="2247710" y="4634865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5" name="S13-mark475"/>
          <p:cNvSpPr/>
          <p:nvPr/>
        </p:nvSpPr>
        <p:spPr>
          <a:xfrm>
            <a:off x="2247710" y="4240530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6" name="S13-mark476"/>
          <p:cNvSpPr/>
          <p:nvPr/>
        </p:nvSpPr>
        <p:spPr>
          <a:xfrm>
            <a:off x="2247710" y="3846195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7" name="S13-mark477"/>
          <p:cNvSpPr/>
          <p:nvPr/>
        </p:nvSpPr>
        <p:spPr>
          <a:xfrm>
            <a:off x="2247710" y="3451860"/>
            <a:ext cx="2760345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8" name="S13-figure478" descr="모눈 위의 사각형 다: 긴 변 두 개와 짧은 변 두 개에 각각 같은 길이 표시, 네 각에 직각 표시"/>
          <p:cNvSpPr/>
          <p:nvPr/>
        </p:nvSpPr>
        <p:spPr>
          <a:xfrm>
            <a:off x="2642045" y="3846195"/>
            <a:ext cx="1971675" cy="788670"/>
          </a:xfrm>
          <a:custGeom>
            <a:avLst/>
            <a:gdLst/>
            <a:ahLst/>
            <a:cxnLst/>
            <a:rect l="l" t="t" r="r" b="b"/>
            <a:pathLst>
              <a:path w="1971675" h="788670">
                <a:moveTo>
                  <a:pt x="0" y="788670"/>
                </a:moveTo>
                <a:lnTo>
                  <a:pt x="1971675" y="788670"/>
                </a:lnTo>
                <a:lnTo>
                  <a:pt x="1971675" y="0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69" name="S13-mark479"/>
          <p:cNvSpPr/>
          <p:nvPr/>
        </p:nvSpPr>
        <p:spPr>
          <a:xfrm>
            <a:off x="2642045" y="44062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0" name="S13-mark480"/>
          <p:cNvSpPr/>
          <p:nvPr/>
        </p:nvSpPr>
        <p:spPr>
          <a:xfrm>
            <a:off x="4385119" y="440626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228600"/>
                </a:moveTo>
                <a:lnTo>
                  <a:pt x="0" y="0"/>
                </a:lnTo>
                <a:lnTo>
                  <a:pt x="22860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1" name="S13-mark481"/>
          <p:cNvSpPr/>
          <p:nvPr/>
        </p:nvSpPr>
        <p:spPr>
          <a:xfrm>
            <a:off x="4385119" y="38461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228600"/>
                </a:moveTo>
                <a:lnTo>
                  <a:pt x="0" y="228600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2" name="S13-mark482"/>
          <p:cNvSpPr/>
          <p:nvPr/>
        </p:nvSpPr>
        <p:spPr>
          <a:xfrm>
            <a:off x="2642045" y="384619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8600" y="0"/>
                </a:moveTo>
                <a:lnTo>
                  <a:pt x="228600" y="228600"/>
                </a:lnTo>
                <a:lnTo>
                  <a:pt x="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3" name="S13-mark483"/>
          <p:cNvSpPr/>
          <p:nvPr/>
        </p:nvSpPr>
        <p:spPr>
          <a:xfrm flipV="1">
            <a:off x="3627882" y="454342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4" name="S13-mark484"/>
          <p:cNvSpPr/>
          <p:nvPr/>
        </p:nvSpPr>
        <p:spPr>
          <a:xfrm flipH="1">
            <a:off x="4522280" y="428320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5" name="S13-mark485"/>
          <p:cNvSpPr/>
          <p:nvPr/>
        </p:nvSpPr>
        <p:spPr>
          <a:xfrm flipH="1">
            <a:off x="4522280" y="419785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6" name="S13-mark486"/>
          <p:cNvSpPr/>
          <p:nvPr/>
        </p:nvSpPr>
        <p:spPr>
          <a:xfrm>
            <a:off x="3627882" y="375475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7" name="S13-mark487"/>
          <p:cNvSpPr/>
          <p:nvPr/>
        </p:nvSpPr>
        <p:spPr>
          <a:xfrm>
            <a:off x="2550604" y="4197858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8" name="S13-mark488"/>
          <p:cNvSpPr/>
          <p:nvPr/>
        </p:nvSpPr>
        <p:spPr>
          <a:xfrm>
            <a:off x="2550604" y="4283202"/>
            <a:ext cx="1828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79" name="S13-chip489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80" name="S13-mark490"/>
          <p:cNvSpPr/>
          <p:nvPr/>
        </p:nvSpPr>
        <p:spPr>
          <a:xfrm>
            <a:off x="8173593" y="3846195"/>
            <a:ext cx="2366010" cy="788670"/>
          </a:xfrm>
          <a:custGeom>
            <a:avLst/>
            <a:gdLst/>
            <a:ahLst/>
            <a:cxnLst/>
            <a:rect l="l" t="t" r="r" b="b"/>
            <a:pathLst>
              <a:path w="2366010" h="788670">
                <a:moveTo>
                  <a:pt x="0" y="788670"/>
                </a:moveTo>
                <a:lnTo>
                  <a:pt x="1577340" y="788670"/>
                </a:lnTo>
                <a:lnTo>
                  <a:pt x="2366010" y="0"/>
                </a:lnTo>
                <a:lnTo>
                  <a:pt x="788670" y="0"/>
                </a:lnTo>
                <a:close/>
              </a:path>
            </a:pathLst>
          </a:custGeom>
          <a:solidFill>
            <a:srgbClr val="FDEBDD"/>
          </a:solidFill>
          <a:ln/>
        </p:spPr>
      </p:sp>
      <p:sp>
        <p:nvSpPr>
          <p:cNvPr id="81" name="S13-mark491"/>
          <p:cNvSpPr/>
          <p:nvPr/>
        </p:nvSpPr>
        <p:spPr>
          <a:xfrm flipV="1">
            <a:off x="777925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2" name="S13-mark492"/>
          <p:cNvSpPr/>
          <p:nvPr/>
        </p:nvSpPr>
        <p:spPr>
          <a:xfrm flipV="1">
            <a:off x="817359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3" name="S13-mark493"/>
          <p:cNvSpPr/>
          <p:nvPr/>
        </p:nvSpPr>
        <p:spPr>
          <a:xfrm flipV="1">
            <a:off x="856792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4" name="S13-mark494"/>
          <p:cNvSpPr/>
          <p:nvPr/>
        </p:nvSpPr>
        <p:spPr>
          <a:xfrm flipV="1">
            <a:off x="896226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5" name="S13-mark495"/>
          <p:cNvSpPr/>
          <p:nvPr/>
        </p:nvSpPr>
        <p:spPr>
          <a:xfrm flipV="1">
            <a:off x="935659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6" name="S13-mark496"/>
          <p:cNvSpPr/>
          <p:nvPr/>
        </p:nvSpPr>
        <p:spPr>
          <a:xfrm flipV="1">
            <a:off x="975093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7" name="S13-mark497"/>
          <p:cNvSpPr/>
          <p:nvPr/>
        </p:nvSpPr>
        <p:spPr>
          <a:xfrm flipV="1">
            <a:off x="1014526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8" name="S13-mark498"/>
          <p:cNvSpPr/>
          <p:nvPr/>
        </p:nvSpPr>
        <p:spPr>
          <a:xfrm flipV="1">
            <a:off x="10539603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9" name="S13-mark499"/>
          <p:cNvSpPr/>
          <p:nvPr/>
        </p:nvSpPr>
        <p:spPr>
          <a:xfrm flipV="1">
            <a:off x="10933938" y="3451860"/>
            <a:ext cx="0" cy="157734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0" name="S13-mark500"/>
          <p:cNvSpPr/>
          <p:nvPr/>
        </p:nvSpPr>
        <p:spPr>
          <a:xfrm>
            <a:off x="7779258" y="502920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1" name="S13-mark501"/>
          <p:cNvSpPr/>
          <p:nvPr/>
        </p:nvSpPr>
        <p:spPr>
          <a:xfrm>
            <a:off x="7779258" y="463486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2" name="S13-mark502"/>
          <p:cNvSpPr/>
          <p:nvPr/>
        </p:nvSpPr>
        <p:spPr>
          <a:xfrm>
            <a:off x="7779258" y="424053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3" name="S13-mark503"/>
          <p:cNvSpPr/>
          <p:nvPr/>
        </p:nvSpPr>
        <p:spPr>
          <a:xfrm>
            <a:off x="7779258" y="3846195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4" name="S13-mark504"/>
          <p:cNvSpPr/>
          <p:nvPr/>
        </p:nvSpPr>
        <p:spPr>
          <a:xfrm>
            <a:off x="7779258" y="3451860"/>
            <a:ext cx="3154680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5" name="S13-figure505" descr="모눈 위의 사각형 라: 마주 보는 변끼리 같은 길이 표시"/>
          <p:cNvSpPr/>
          <p:nvPr/>
        </p:nvSpPr>
        <p:spPr>
          <a:xfrm>
            <a:off x="8173593" y="3846195"/>
            <a:ext cx="2366010" cy="788670"/>
          </a:xfrm>
          <a:custGeom>
            <a:avLst/>
            <a:gdLst/>
            <a:ahLst/>
            <a:cxnLst/>
            <a:rect l="l" t="t" r="r" b="b"/>
            <a:pathLst>
              <a:path w="2366010" h="788670">
                <a:moveTo>
                  <a:pt x="0" y="788670"/>
                </a:moveTo>
                <a:lnTo>
                  <a:pt x="1577340" y="788670"/>
                </a:lnTo>
                <a:lnTo>
                  <a:pt x="2366010" y="0"/>
                </a:lnTo>
                <a:lnTo>
                  <a:pt x="788670" y="0"/>
                </a:lnTo>
                <a:close/>
              </a:path>
            </a:pathLst>
          </a:cu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96" name="S13-mark506"/>
          <p:cNvSpPr/>
          <p:nvPr/>
        </p:nvSpPr>
        <p:spPr>
          <a:xfrm flipV="1">
            <a:off x="8962263" y="454342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7" name="S13-mark507"/>
          <p:cNvSpPr/>
          <p:nvPr/>
        </p:nvSpPr>
        <p:spPr>
          <a:xfrm flipH="1" flipV="1">
            <a:off x="10050436" y="4206046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8" name="S13-mark508"/>
          <p:cNvSpPr/>
          <p:nvPr/>
        </p:nvSpPr>
        <p:spPr>
          <a:xfrm flipH="1" flipV="1">
            <a:off x="10110784" y="4145698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9" name="S13-mark509"/>
          <p:cNvSpPr/>
          <p:nvPr/>
        </p:nvSpPr>
        <p:spPr>
          <a:xfrm>
            <a:off x="9750933" y="3754755"/>
            <a:ext cx="0" cy="18288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0" name="S13-mark510"/>
          <p:cNvSpPr/>
          <p:nvPr/>
        </p:nvSpPr>
        <p:spPr>
          <a:xfrm>
            <a:off x="8533444" y="4145698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1" name="S13-mark511"/>
          <p:cNvSpPr/>
          <p:nvPr/>
        </p:nvSpPr>
        <p:spPr>
          <a:xfrm>
            <a:off x="8473096" y="4206046"/>
            <a:ext cx="129316" cy="129316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51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51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평행한 변과 변의 길이, 각으로 사각형의 이름을 정해요.</a:t>
            </a:r>
            <a:endParaRPr lang="ko-KR" sz="3000" dirty="0"/>
          </a:p>
        </p:txBody>
      </p:sp>
      <p:sp>
        <p:nvSpPr>
          <p:cNvPr id="5" name="S14-chip514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뜻에 맞는 이름 모두 찾기</a:t>
            </a:r>
            <a:endParaRPr lang="ko-KR" sz="2400" dirty="0"/>
          </a:p>
        </p:txBody>
      </p:sp>
      <p:sp>
        <p:nvSpPr>
          <p:cNvPr id="6" name="S14-chip515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기울었다고 다른 사각형이라 하기</a:t>
            </a:r>
            <a:endParaRPr lang="ko-KR" sz="2400" dirty="0"/>
          </a:p>
        </p:txBody>
      </p:sp>
      <p:sp>
        <p:nvSpPr>
          <p:cNvPr id="7" name="S14-text516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4-text517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사다리꼴의 뜻은?</a:t>
            </a:r>
            <a:endParaRPr lang="ko-KR" sz="2400" dirty="0"/>
          </a:p>
        </p:txBody>
      </p:sp>
      <p:sp>
        <p:nvSpPr>
          <p:cNvPr id="9" name="S14-text518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마름모의 뜻은?</a:t>
            </a:r>
            <a:endParaRPr lang="ko-KR" sz="2400" dirty="0"/>
          </a:p>
        </p:txBody>
      </p:sp>
      <p:sp>
        <p:nvSpPr>
          <p:cNvPr id="10" name="S14-text519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직사각형은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평행사변형일까요?</a:t>
            </a:r>
            <a:endParaRPr lang="ko-KR" sz="2400" dirty="0"/>
          </a:p>
        </p:txBody>
      </p:sp>
      <p:sp>
        <p:nvSpPr>
          <p:cNvPr id="11" name="S14-text52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다각형과 대각선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수직과 평행</a:t>
            </a:r>
            <a:endParaRPr lang="ko-KR" sz="4000" dirty="0"/>
          </a:p>
        </p:txBody>
      </p:sp>
      <p:sp>
        <p:nvSpPr>
          <p:cNvPr id="3" name="S15-mark521"/>
          <p:cNvSpPr/>
          <p:nvPr/>
        </p:nvSpPr>
        <p:spPr>
          <a:xfrm flipV="1">
            <a:off x="640080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4" name="S15-mark522"/>
          <p:cNvSpPr/>
          <p:nvPr/>
        </p:nvSpPr>
        <p:spPr>
          <a:xfrm flipV="1">
            <a:off x="1287590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5" name="S15-mark523"/>
          <p:cNvSpPr/>
          <p:nvPr/>
        </p:nvSpPr>
        <p:spPr>
          <a:xfrm flipV="1">
            <a:off x="1935099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6" name="S15-mark524"/>
          <p:cNvSpPr/>
          <p:nvPr/>
        </p:nvSpPr>
        <p:spPr>
          <a:xfrm flipV="1">
            <a:off x="2582609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7" name="S15-mark525"/>
          <p:cNvSpPr/>
          <p:nvPr/>
        </p:nvSpPr>
        <p:spPr>
          <a:xfrm flipV="1">
            <a:off x="3230118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8" name="S15-mark526"/>
          <p:cNvSpPr/>
          <p:nvPr/>
        </p:nvSpPr>
        <p:spPr>
          <a:xfrm flipV="1">
            <a:off x="3877627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9" name="S15-mark527"/>
          <p:cNvSpPr/>
          <p:nvPr/>
        </p:nvSpPr>
        <p:spPr>
          <a:xfrm flipV="1">
            <a:off x="4525137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0" name="S15-mark528"/>
          <p:cNvSpPr/>
          <p:nvPr/>
        </p:nvSpPr>
        <p:spPr>
          <a:xfrm flipV="1">
            <a:off x="5172647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1" name="S15-mark529"/>
          <p:cNvSpPr/>
          <p:nvPr/>
        </p:nvSpPr>
        <p:spPr>
          <a:xfrm flipV="1">
            <a:off x="5820156" y="1829372"/>
            <a:ext cx="0" cy="3885057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2" name="S15-mark530"/>
          <p:cNvSpPr/>
          <p:nvPr/>
        </p:nvSpPr>
        <p:spPr>
          <a:xfrm>
            <a:off x="640080" y="5714429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3" name="S15-mark531"/>
          <p:cNvSpPr/>
          <p:nvPr/>
        </p:nvSpPr>
        <p:spPr>
          <a:xfrm>
            <a:off x="640080" y="5066919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4" name="S15-mark532"/>
          <p:cNvSpPr/>
          <p:nvPr/>
        </p:nvSpPr>
        <p:spPr>
          <a:xfrm>
            <a:off x="640080" y="4419410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5" name="S15-mark533"/>
          <p:cNvSpPr/>
          <p:nvPr/>
        </p:nvSpPr>
        <p:spPr>
          <a:xfrm>
            <a:off x="640080" y="3771900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6" name="S15-mark534"/>
          <p:cNvSpPr/>
          <p:nvPr/>
        </p:nvSpPr>
        <p:spPr>
          <a:xfrm>
            <a:off x="640080" y="3124390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7" name="S15-mark535"/>
          <p:cNvSpPr/>
          <p:nvPr/>
        </p:nvSpPr>
        <p:spPr>
          <a:xfrm>
            <a:off x="640080" y="2476881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8" name="S15-mark536"/>
          <p:cNvSpPr/>
          <p:nvPr/>
        </p:nvSpPr>
        <p:spPr>
          <a:xfrm>
            <a:off x="640080" y="1829372"/>
            <a:ext cx="5180076" cy="0"/>
          </a:xfrm>
          <a:prstGeom prst="line">
            <a:avLst/>
          </a:prstGeom>
          <a:noFill/>
          <a:ln w="9525">
            <a:solidFill>
              <a:srgbClr val="B8C2CC"/>
            </a:solidFill>
            <a:prstDash val="solid"/>
          </a:ln>
        </p:spPr>
      </p:sp>
      <p:sp>
        <p:nvSpPr>
          <p:cNvPr id="19" name="S15-mark537"/>
          <p:cNvSpPr/>
          <p:nvPr/>
        </p:nvSpPr>
        <p:spPr>
          <a:xfrm>
            <a:off x="2582609" y="2897762"/>
            <a:ext cx="226628" cy="226628"/>
          </a:xfrm>
          <a:custGeom>
            <a:avLst/>
            <a:gdLst/>
            <a:ahLst/>
            <a:cxnLst/>
            <a:rect l="l" t="t" r="r" b="b"/>
            <a:pathLst>
              <a:path w="226628" h="226628">
                <a:moveTo>
                  <a:pt x="0" y="0"/>
                </a:moveTo>
                <a:lnTo>
                  <a:pt x="226628" y="0"/>
                </a:lnTo>
                <a:lnTo>
                  <a:pt x="226628" y="226628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15-mark538"/>
          <p:cNvSpPr/>
          <p:nvPr/>
        </p:nvSpPr>
        <p:spPr>
          <a:xfrm>
            <a:off x="2582609" y="419081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0"/>
                </a:moveTo>
                <a:lnTo>
                  <a:pt x="228600" y="0"/>
                </a:lnTo>
                <a:lnTo>
                  <a:pt x="228600" y="228600"/>
                </a:lnTo>
              </a:path>
            </a:pathLst>
          </a:cu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5-figure539" descr="모눈 위의 가로 직선 두 개(주황색)와 세로 직선 하나: 세로 직선은 두 가로 직선과 각각 직각으로 만나고, 두 가로 직선은 서로 만나지 않음"/>
          <p:cNvSpPr/>
          <p:nvPr/>
        </p:nvSpPr>
        <p:spPr>
          <a:xfrm>
            <a:off x="1287590" y="3124390"/>
            <a:ext cx="3885057" cy="0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22" name="S15-mark540"/>
          <p:cNvSpPr/>
          <p:nvPr/>
        </p:nvSpPr>
        <p:spPr>
          <a:xfrm>
            <a:off x="1287590" y="4419410"/>
            <a:ext cx="3885057" cy="0"/>
          </a:xfrm>
          <a:prstGeom prst="line">
            <a:avLst/>
          </a:prstGeom>
          <a:noFill/>
          <a:ln w="50800">
            <a:solidFill>
              <a:srgbClr val="E9762B"/>
            </a:solidFill>
            <a:prstDash val="solid"/>
          </a:ln>
        </p:spPr>
      </p:sp>
      <p:sp>
        <p:nvSpPr>
          <p:cNvPr id="23" name="S15-mark541"/>
          <p:cNvSpPr/>
          <p:nvPr/>
        </p:nvSpPr>
        <p:spPr>
          <a:xfrm flipV="1">
            <a:off x="2582609" y="2476881"/>
            <a:ext cx="0" cy="2590038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15-card542"/>
          <p:cNvSpPr/>
          <p:nvPr/>
        </p:nvSpPr>
        <p:spPr>
          <a:xfrm>
            <a:off x="6277356" y="2043684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5" name="S15-cardtext543"/>
          <p:cNvSpPr txBox="1"/>
          <p:nvPr/>
        </p:nvSpPr>
        <p:spPr>
          <a:xfrm>
            <a:off x="6551676" y="2180844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수직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직선이 만나서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직각을 이뤄요.</a:t>
            </a:r>
            <a:endParaRPr lang="ko-KR" sz="3000" dirty="0"/>
          </a:p>
        </p:txBody>
      </p:sp>
      <p:sp>
        <p:nvSpPr>
          <p:cNvPr id="26" name="S15-card544"/>
          <p:cNvSpPr/>
          <p:nvPr/>
        </p:nvSpPr>
        <p:spPr>
          <a:xfrm>
            <a:off x="6277356" y="3886200"/>
            <a:ext cx="5362956" cy="1613916"/>
          </a:xfrm>
          <a:prstGeom prst="roundRect">
            <a:avLst>
              <a:gd name="adj" fmla="val 679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7" name="S15-cardtext545"/>
          <p:cNvSpPr txBox="1"/>
          <p:nvPr/>
        </p:nvSpPr>
        <p:spPr>
          <a:xfrm>
            <a:off x="6551676" y="4023360"/>
            <a:ext cx="4814316" cy="13395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평행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만나지 않는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직선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여러 가지 사각형</dc:title>
  <dc:subject>KR22-G04-MAT-QUAD-L01</dc:subject>
  <dc:creator>education-ppt</dc:creator>
  <cp:lastModifiedBy>education-ppt</cp:lastModifiedBy>
  <cp:revision>1</cp:revision>
  <dcterms:created xsi:type="dcterms:W3CDTF">2026-10-26T08:24:26Z</dcterms:created>
  <dcterms:modified xsi:type="dcterms:W3CDTF">2026-10-26T08:24:26Z</dcterms:modified>
</cp:coreProperties>
</file>