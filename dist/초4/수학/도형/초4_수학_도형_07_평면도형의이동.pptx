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fd3c26f-c13b-b3c8-5b99-fa1e3e1b0d7b}">
          <p14:sldIdLst>
            <p14:sldId id="256"/>
            <p14:sldId id="257"/>
          </p14:sldIdLst>
        </p14:section>
        <p14:section name="개념" id="{982c3849-0d09-1a57-48b7-6aa5a404bb1b}">
          <p14:sldIdLst>
            <p14:sldId id="258"/>
            <p14:sldId id="259"/>
            <p14:sldId id="262"/>
            <p14:sldId id="263"/>
          </p14:sldIdLst>
        </p14:section>
        <p14:section name="연습" id="{38aabb65-2e1d-54b3-3887-22ef86d5b282}">
          <p14:sldIdLst>
            <p14:sldId id="260"/>
            <p14:sldId id="261"/>
            <p14:sldId id="264"/>
            <p14:sldId id="265"/>
          </p14:sldIdLst>
        </p14:section>
        <p14:section name="개념" id="{1cc0a22d-8f36-5392-c421-dfeb793c3a21}">
          <p14:sldIdLst/>
        </p14:section>
        <p14:section name="연습" id="{ea306472-3048-d024-70ba-9a00c0eb4644}">
          <p14:sldIdLst/>
        </p14:section>
        <p14:section name="확인" id="{8bdd83b3-502f-472e-7f9f-1a08177016ff}">
          <p14:sldIdLst>
            <p14:sldId id="266"/>
            <p14:sldId id="267"/>
            <p14:sldId id="268"/>
          </p14:sldIdLst>
        </p14:section>
        <p14:section name="정리" id="{9a4799dd-88ce-0493-f2a6-9d86ce1120f6}">
          <p14:sldIdLst>
            <p14:sldId id="269"/>
          </p14:sldIdLst>
        </p14:section>
        <p14:section name="보충" id="{090448e6-35c7-b15c-867a-933305e2988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도형을 움직이면 무엇이 바뀌는지 궁금하게 합니다.
시간: 약 2분
이렇게 말해 보세요
- “오른쪽에 깃발 두 개가 있어. 왼쪽 깃발을 움직여서 오른쪽 깃발을 만들었어. 어떻게 움직였을까?”
- “오늘은 도형을 밀고, 뒤집고, 돌려 볼 거야.”
예상 답
- “거울에 비친 것 같아요.” “뒤집었어요.” “깃발 방향이 반대예요.”
막히면
- 답을 확인하지 않고 넘어갑니다. S04에서 자세히 봅니다.
주의
- 오늘은 종이로 오린 깃발 모양을 실제로 밀고, 뒤집고, 돌려 보며 배웁니다. 준비물의 깃발 모양 종이를 미리 오려 둡니다(앞뒤에 같은 색을 칠하거나, 앞면에 ‘앞’이라고 씁니다).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확인(직각과 각도, 시계 방향, 모눈에서 방향과 칸 수)]
목적: 오늘 쓰는 각도(90°, 180°), 시곗바늘이 도는 방향, 모눈에서 방향과 칸 수 세기가 되는지 확인합니다.
시간: 약 3분
이렇게 말해 보세요
- “①은 직각이 몇 도인지, ②는 시곗바늘이 12에서 6까지 돌면 몇 도인지야.”
- “③은 오른쪽 모눈에서 점 ㄱ에서 오른쪽으로 3칸 가 볼까?”
정답
- ① 90°
- ② 180°(직각 두 번, 반 바퀴)
- ③ 점 ㄴ
막히면
- ①, ②가 어려우면 시계를 보여 주며 12에서 3까지가 직각(90°), 12에서 6까지가 반 바퀴(180°)라고 함께 짚습니다.
- 두 문제 이상 틀리면 S15(보충)를 먼저 합니다. 보충으로도 어려우면 초4 ‘각도 재기’를 먼저 다시 합니다.
주의
- 시곗바늘이 도는 방향을 ‘시계 방향’, 반대로 도는 방향을 ‘시계 반대 방향’이라고 합니다. 오늘 돌리기에서 씁니다.
- 계획의 바로 앞 차시는 초4 6차시 ‘다각형과 대각선’(KR22-G04-MAT-POLYGON-L01)이지만, 오늘 수업에 직접 필요한 것은 각도와 방향입니다.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밀기: 모양은 그대로, 위치만]
목적: 도형을 어느 방향으로 밀어도 모양과 크기, 방향은 그대로이고 위치만 바뀐다는 것을 압니다.
시간: 약 3분
이렇게 말해 보세요
- “종이 깃발을 책상 위에서 오른쪽으로 5칸만큼 밀어 볼까? 깃발 모양이 바뀌었어? 깃발이 가리키는 쪽은?”
- “밀기 전과 민 뒤에 무엇이 달라졌어?”
예상 답
- “모양은 그대로예요.” “깃발이 여전히 오른쪽을 가리켜요.” “자리만 바뀌었어요.”
막히면
- 깃발의 한 꼭짓점(깃대 왼쪽 아래)에 손가락을 두고 모눈 칸을 하나씩 세며 5칸 옮겨 봅니다. 다른 꼭짓점도 모두 5칸씩 옮겨집니다.
주의
- 위, 아래, 왼쪽으로 밀어도 마찬가지입니다. 밀 때는 들거나 돌리지 않고 미끄러지듯 옮깁니다.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뒤집기: 오른쪽·아래쪽으로 뒤집으면 바뀌는 것]
목적: 도형을 오른쪽(왼쪽)으로 뒤집으면 왼쪽과 오른쪽이 서로 바뀌고, 아래쪽(위쪽)으로 뒤집으면 위쪽과 아래쪽이 서로 바뀐다는 것을 압니다.
시간: 약 3분
이렇게 말해 보세요
- “종이 깃발을 오른쪽으로 책장 넘기듯 뒤집어 볼까? 깃발이 가리키는 쪽이 어떻게 됐어? 깃발은 여전히 위에 있어?”
- “이번에는 아래쪽으로 뒤집어 보자. 무엇이 바뀌었어?”
예상 답
- “오른쪽으로 뒤집으니 깃발이 왼쪽을 가리켜요. 위쪽은 그대로예요.”
- “아래쪽으로 뒤집으니 깃발이 아래로 갔어요. 오른쪽을 가리키는 건 그대로예요.”
막히면
- 점선 위에 거울(또는 휴대전화 화면)을 세워 비쳐 보면 뒤집은 모양이 보입니다.
- 종이 깃발의 앞면에 ‘앞’이라고 써 두면 뒤집은 것을 알기 쉽습니다.
주의
- 왼쪽으로 뒤집어도 오른쪽으로 뒤집은 것과 모양이 같습니다(위치만 다름). 위쪽으로 뒤집기와 아래쪽으로 뒤집기도 모양이 같습니다.
- 지치면 여기서 쉬고, 다음에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연습(뒤집은 모양 고르기)]
목적: 도움을 받으며 깃발을 왼쪽으로 뒤집은 모양을 고르고, 왼쪽과 오른쪽이 바뀌었는지로 까닭을 말합니다.
시간: 약 3분
이렇게 말해 보세요
- “★ 처음 깃발을 왼쪽으로 뒤집으면 무엇이 바뀌고 무엇이 그대로일까? 그런 모양을 가, 나, 다에서 찾아봐.”
정답
- 다. 왼쪽과 오른쪽이 바뀌어 깃발이 왼쪽을 향하고, 위아래는 그대로라 깃발이 위쪽에 있습니다.
- 가는 아래쪽(위쪽)으로 뒤집은 모양, 나는 180° 돌린 모양입니다.
막히면
- 종이 깃발을 실제로 왼쪽으로 뒤집어 보고 화면과 비교합니다.
주의
- 나를 고르면 깃발이 왼쪽을 향하는 것만 보고 위아래가 바뀐 것을 놓친 것입니다. 깃발이 위에 있는지 아래에 있는지도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비교(뒤집는 방향과 바뀌는 쪽)]
목적: 위쪽으로 뒤집으면 위쪽과 아래쪽이 바뀐다는 것을 알고, 뒤집는 방향과 바뀌는 쪽을 헷갈리는 실수를 바로잡습니다(M2).
시간: 약 3분
이렇게 말해 보세요
- “토끼와 곰이 깃발을 위쪽으로 뒤집었어. 누가 맞게 뒤집었을까?”
- “위쪽으로 뒤집으면 무엇과 무엇이 바뀌어?”
예상 답
- “곰이요. 위쪽으로 뒤집으면 위와 아래가 바뀌어요.”
정답
- 곰이 맞습니다. 위쪽으로 뒤집으면 위쪽과 아래쪽이 바뀌어 깃발이 아래로 갑니다. 깃발이 오른쪽을 향하는 것은 그대로입니다.
- 토끼는 왼쪽과 오른쪽을 바꾸었습니다. 이것은 왼쪽(오른쪽)으로 뒤집은 모양입니다.
막히면
- 종이 깃발의 위쪽 가장자리를 잡고 위로 넘기듯 뒤집어 봅니다.
주의
- ‘위쪽으로’는 뒤집는 방향이고, 바뀌는 것은 ‘위쪽과 아래쪽’입니다. 방향 이름과 같은 쪽이 바뀐다고 기억하면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돌리기: 시계 방향으로 90°]
목적: 도형을 시계 방향으로 90°(직각만큼) 돌리면 위쪽이 오른쪽으로, 오른쪽이 아래쪽으로 간다는 것을 압니다.
시간: 약 3분
이렇게 말해 보세요
- “종이 깃발의 깃대 아래 꼭짓점(점 ㄱ)을 연필로 누르고, 시곗바늘이 도는 방향으로 직각만큼 돌려 볼까?”
- “위를 향하던 깃대는 어느 쪽을 향해? 오른쪽을 가리키던 깃발은?”
예상 답
- “깃대가 오른쪽으로 누웠어요.” “깃발이 아래쪽을 가리켜요.”
막히면
- 시계의 12를 깃대 꼭대기라고 생각하고, 12가 3 자리로 가도록 돌린다고 말해 줍니다.
- 종이 깃발 위에 화살표(↑)를 그려 두고 돌린 뒤 화살표가 어느 쪽을 향하는지 봅니다(→).
주의
- 노란 부채꼴은 돌린 각(90°)입니다. 점 ㄱ은 돌릴 때 움직이지 않는 점(누르고 있는 점)입니다.
- 학교 교과서에서는 돌린 도형을 처음 도형 옆에 따로 그리기도 합니다. 모양과 향하는 쪽이 같으면 같은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돌리기: 180°와 시계 반대 방향 90°]
목적: 도형을 180° 돌리면 위쪽과 아래쪽, 왼쪽과 오른쪽이 모두 바뀌고, 시계 반대 방향으로 90° 돌리면 위쪽이 왼쪽으로 간다는 것을 압니다.
시간: 약 3분
이렇게 말해 보세요
- “점 ㄱ을 누르고 시계 방향으로 직각만큼 두 번 돌려 볼까? 몇 도 돌린 거야? 깃대와 깃발은 어느 쪽을 향해?”
- “이번에는 시곗바늘과 반대로 직각만큼 돌려 봐. 깃대는 어느 쪽을 향해?”
예상 답
- “180°예요. 깃대가 아래로, 깃발이 왼쪽을 가리켜요.”
- “깃대가 왼쪽으로 누웠어요. 깃발은 위를 가리켜요.”
막히면
- 종이 깃발 위의 화살표(↑)가 180°면 ↓, 시계 반대 방향 90°면 ←가 되는 것을 확인합니다.
주의
- 180°는 시계 방향으로 돌려도 시계 반대 방향으로 돌려도 결과가 같습니다.
- 시계 반대 방향으로 90° 돌린 모양은 시계 방향으로 270° 돌린 모양과 같지만, 270°는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비교(아래쪽으로 뒤집기와 180° 돌리기)]
목적: 아래쪽으로 뒤집은 모양과 180° 돌린 모양이 다르다는 것을 비교해, 뒤집기와 돌리기를 구별합니다(M3).
시간: 약 3분
이렇게 말해 보세요
- “두 깃발 모두 깃발이 아래쪽에 있어. 그러면 두 모양은 같을까? 깃발이 가리키는 쪽을 봐.”
- “종이 깃발로 직접 해 볼까? 아래쪽으로 뒤집은 것과 180° 돌린 것을 나란히 놓아 봐.”
예상 답
- “달라요. 뒤집은 것은 깃발이 오른쪽을 가리키고, 돌린 것은 왼쪽을 가리켜요.”
정답
- 두 모양은 다릅니다. 아래쪽으로 뒤집으면 위아래만 바뀌어 깃발이 여전히 오른쪽을 가리킵니다.
- 180° 돌리면 위아래와 왼쪽·오른쪽이 모두 바뀌어 깃발이 왼쪽을 가리킵니다.
막히면
- 두 그림 위에 각각 화살표(→)를 그려 보게 합니다. 뒤집은 것은 →, 돌린 것은 ←입니다.
주의
- 깃발처럼 위아래·왼쪽오른쪽이 모두 다르게 생긴 도형이어야 차이가 보입니다. 정사각형처럼 대칭인 도형은 결과가 같아 보일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연습(시계 방향 90° 돌린 모양 고르기)]
목적: 도움을 받으며 깃발을 시계 방향으로 90° 돌린 모양을 고르고, 위쪽이 어느 쪽으로 갔는지로 까닭을 말합니다.
시간: 약 3분
이렇게 말해 보세요
- “처음 깃발은 깃대가 위를 향하고 깃발이 오른쪽을 가리켜. 시계 방향으로 90° 돌리면 깃대는 어느 쪽을 향할까?”
정답
- 나. 위쪽(깃대 꼭대기)이 오른쪽으로 가고, 오른쪽을 가리키던 깃발은 아래쪽을 가리킵니다.
- 가는 시계 반대 방향으로 90° 돌린 모양, 다는 180° 돌린 모양입니다.
막히면
- 종이 깃발을 S07처럼 실제로 돌려 보고 화면과 비교합니다.
주의
- 가를 고르면 시계 방향과 시계 반대 방향을 바꾸어 생각한 것입니다(M4). 시곗바늘이 12에서 3으로 가는 방향이 시계 방향입니다.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처음 도형을 밀기·뒤집기·돌리기 한 결과를 찾고, 까닭을 말하는지 봅니다.
시간: 약 5분
이렇게 말해 보세요
- “오른쪽 그림에서 ‘처음’ 도형을 움직인 도형이 가, 나, 다, 라야. ①~④에 알맞은 것을 찾아볼래? 왜 그런지도 말해 줘.”
정답
- ① 나
- ② 다
- ③ 라
- ④ 가
막히면
- 바로 알려 주지 말고 “처음 도형의 긴 쪽(가로 3칸)은 어디로 갔어? 짧게 솟은 부분은?”이라고만 묻습니다.
- 종이에 처음 도형을 따라 그려 오린 뒤 직접 움직여 봐도 됩니다. 도움을 받아 해결했다면 기록표에 ‘도움’으로 표시합니다.
주의
- ②와 ③을 헷갈리면 S07·S08을, ①과 ③을 헷갈리면 S09를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종이 도형으로 직접 움직여 보자.”
정답
- ① 나 ② 다 ③ 라 ④ 가
막히면
- 뒤집기를 틀렸으면 S04·S06으로, 90° 돌리기를 틀렸으면 S07로, 180°를 틀렸으면 S08·S09로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확인(처음 모양으로 돌아오는 움직임)]
목적: 처음 보는 문제에서 뒤집기와 돌리기를 이어서 했을 때의 결과를 생각해, 처음 모양으로 돌아오는 것을 고르고 까닭을 말하는지 확인합니다.
시간: 약 2분
이렇게 말해 보세요
- “깃발을 이렇게 움직이면 처음 모양과 같아지는 것을 모두 골라 볼래? 종이 깃발로 해 봐도 돼.”
정답
- 가, 다입니다. 같은 방향으로 두 번 뒤집으면 처음 모양이 됩니다. 90°씩 네 번 돌리면 360°(한 바퀴)라 처음 모양이 됩니다.
- 나는 90° + 90° = 180°라 위아래와 왼쪽·오른쪽이 모두 바뀝니다. 라는 위아래가 바뀝니다.
막히면
- 종이 깃발로 하나씩 직접 해 봅니다.
주의
- 가와 다를 모두 고르고 까닭을 말하면 두 목표를 모두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“밀기, 뒤집기, 돌리기를 하면 각각 무엇이 바뀌고 무엇이 그대로였지?”
예상 답
- “밀면 위치만 바뀌어요.” “오른쪽으로 뒤집으면 왼쪽과 오른쪽이 바뀌어요.” “시계 방향으로 90° 돌리면 위쪽이 오른쪽으로 가요.”
정답
- ① 위치만 바뀌고 모양은 그대로 ② 위쪽과 아래쪽 ③ 오른쪽
막히면
- S03, S04, S07을 차례로 다시 보여 줍니다.
주의
- 다음 차시(막대그래프)부터는 자료와 그래프를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보충(시계 방향, 90°와 180°)]
목적: S02에서 각도나 시계 방향이 흔들리면, 돌리기를 배우기 전에 시곗바늘로 90°와 180°, 시계 방향을 다시 익힙니다.
시간: 약 5분
이렇게 말해 보세요
- “긴바늘이 12에, 짧은바늘이 3에 있는 시계를 봐. 두 바늘 사이의 각은 어떤 각이야?”
- “짧은바늘이 6에 있으면 두 바늘 사이는 몇 도일까? 시곗바늘은 어느 쪽으로 돌지?”
정답
- 3시: 직각(90°)
- 6시: 일직선(180°, 반 바퀴)
- 시곗바늘이 도는 방향(12 → 3 → 6)이 시계 방향입니다.
막히면
- 집에 있는 시계의 바늘을 손가락으로 따라 돌려 봅니다. 공책 모서리(직각)를 3시 시계 위에 대어 봅니다.
주의
- 보충으로도 어려우면 초4 ‘각도 재기’를 먼저 다시 합니다. 계획의 앞 차시 초4 6차시 ‘다각형과 대각선’(KR22-G04-MAT-POLYGON-L01)은 오늘 내용과 직접 이어지지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평면도형의 이동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움직이면 무엇이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01-mark4"/>
          <p:cNvSpPr/>
          <p:nvPr/>
        </p:nvSpPr>
        <p:spPr>
          <a:xfrm flipV="1">
            <a:off x="777240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14730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2220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889711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927201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64692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02182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39672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1077163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114653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152144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772400" y="341528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7772400" y="304038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72400" y="266547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7772400" y="2290572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7772400" y="1915668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7772400" y="154076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7772400" y="116586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7772400" y="79095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1-figure23" descr="모눈 위의 깃발 모양과, 가운데 점선을 기준으로 오른쪽으로 뒤집은 깃발 모양(깃발이 왼쪽을 향함)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 flipV="1">
            <a:off x="9646920" y="1353312"/>
            <a:ext cx="0" cy="14996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1-card2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밀고 뒤집은 모양을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도형을 돌린 모양을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28"/>
          <p:cNvSpPr/>
          <p:nvPr/>
        </p:nvSpPr>
        <p:spPr>
          <a:xfrm flipV="1">
            <a:off x="6672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 flipV="1">
            <a:off x="75872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 flipV="1">
            <a:off x="85016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 flipV="1">
            <a:off x="94160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 flipV="1">
            <a:off x="103304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 flipV="1">
            <a:off x="11244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6672834" y="56007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6672834" y="46863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6672834" y="37719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6672834" y="28575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6672834" y="19431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75277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40"/>
          <p:cNvSpPr/>
          <p:nvPr/>
        </p:nvSpPr>
        <p:spPr>
          <a:xfrm>
            <a:off x="102709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41"/>
          <p:cNvSpPr/>
          <p:nvPr/>
        </p:nvSpPr>
        <p:spPr>
          <a:xfrm>
            <a:off x="75277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42"/>
          <p:cNvSpPr/>
          <p:nvPr/>
        </p:nvSpPr>
        <p:spPr>
          <a:xfrm>
            <a:off x="102709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label44"/>
          <p:cNvSpPr txBox="1"/>
          <p:nvPr/>
        </p:nvSpPr>
        <p:spPr>
          <a:xfrm>
            <a:off x="7160813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9" name="S02-label46"/>
          <p:cNvSpPr txBox="1"/>
          <p:nvPr/>
        </p:nvSpPr>
        <p:spPr>
          <a:xfrm>
            <a:off x="10248855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0" name="S02-label48"/>
          <p:cNvSpPr txBox="1"/>
          <p:nvPr/>
        </p:nvSpPr>
        <p:spPr>
          <a:xfrm>
            <a:off x="7160813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1" name="S02-label50"/>
          <p:cNvSpPr txBox="1"/>
          <p:nvPr/>
        </p:nvSpPr>
        <p:spPr>
          <a:xfrm>
            <a:off x="10248855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2" name="S02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3" name="S02-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직각은 몇 도인가요?</a:t>
            </a:r>
            <a:endParaRPr lang="ko-KR" sz="3000" dirty="0"/>
          </a:p>
        </p:txBody>
      </p:sp>
      <p:sp>
        <p:nvSpPr>
          <p:cNvPr id="24" name="S02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02-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시곗바늘이 12에서 6까지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돌면 몇 도인가요?</a:t>
            </a:r>
            <a:endParaRPr lang="ko-KR" sz="3000" dirty="0"/>
          </a:p>
        </p:txBody>
      </p:sp>
      <p:sp>
        <p:nvSpPr>
          <p:cNvPr id="26" name="S02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7" name="S02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오른쪽으로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간 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밀기</a:t>
            </a:r>
            <a:endParaRPr lang="ko-KR" sz="4000" dirty="0"/>
          </a:p>
        </p:txBody>
      </p:sp>
      <p:sp>
        <p:nvSpPr>
          <p:cNvPr id="3" name="S03-mark57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3-mark58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3-mark59"/>
          <p:cNvSpPr/>
          <p:nvPr/>
        </p:nvSpPr>
        <p:spPr>
          <a:xfrm flipV="1">
            <a:off x="914400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60"/>
          <p:cNvSpPr/>
          <p:nvPr/>
        </p:nvSpPr>
        <p:spPr>
          <a:xfrm flipV="1">
            <a:off x="1441899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61"/>
          <p:cNvSpPr/>
          <p:nvPr/>
        </p:nvSpPr>
        <p:spPr>
          <a:xfrm flipV="1">
            <a:off x="1969398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62"/>
          <p:cNvSpPr/>
          <p:nvPr/>
        </p:nvSpPr>
        <p:spPr>
          <a:xfrm flipV="1">
            <a:off x="2496897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63"/>
          <p:cNvSpPr/>
          <p:nvPr/>
        </p:nvSpPr>
        <p:spPr>
          <a:xfrm flipV="1">
            <a:off x="3024396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64"/>
          <p:cNvSpPr/>
          <p:nvPr/>
        </p:nvSpPr>
        <p:spPr>
          <a:xfrm flipV="1">
            <a:off x="3551895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65"/>
          <p:cNvSpPr/>
          <p:nvPr/>
        </p:nvSpPr>
        <p:spPr>
          <a:xfrm flipV="1">
            <a:off x="40793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66"/>
          <p:cNvSpPr/>
          <p:nvPr/>
        </p:nvSpPr>
        <p:spPr>
          <a:xfrm flipV="1">
            <a:off x="46068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67"/>
          <p:cNvSpPr/>
          <p:nvPr/>
        </p:nvSpPr>
        <p:spPr>
          <a:xfrm flipV="1">
            <a:off x="5134393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68"/>
          <p:cNvSpPr/>
          <p:nvPr/>
        </p:nvSpPr>
        <p:spPr>
          <a:xfrm flipV="1">
            <a:off x="5661892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69"/>
          <p:cNvSpPr/>
          <p:nvPr/>
        </p:nvSpPr>
        <p:spPr>
          <a:xfrm flipV="1">
            <a:off x="6189391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70"/>
          <p:cNvSpPr/>
          <p:nvPr/>
        </p:nvSpPr>
        <p:spPr>
          <a:xfrm>
            <a:off x="914400" y="5618147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71"/>
          <p:cNvSpPr/>
          <p:nvPr/>
        </p:nvSpPr>
        <p:spPr>
          <a:xfrm>
            <a:off x="914400" y="5090648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72"/>
          <p:cNvSpPr/>
          <p:nvPr/>
        </p:nvSpPr>
        <p:spPr>
          <a:xfrm>
            <a:off x="914400" y="4563149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73"/>
          <p:cNvSpPr/>
          <p:nvPr/>
        </p:nvSpPr>
        <p:spPr>
          <a:xfrm>
            <a:off x="914400" y="40356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74"/>
          <p:cNvSpPr/>
          <p:nvPr/>
        </p:nvSpPr>
        <p:spPr>
          <a:xfrm>
            <a:off x="914400" y="35081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75"/>
          <p:cNvSpPr/>
          <p:nvPr/>
        </p:nvSpPr>
        <p:spPr>
          <a:xfrm>
            <a:off x="914400" y="2980651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76"/>
          <p:cNvSpPr/>
          <p:nvPr/>
        </p:nvSpPr>
        <p:spPr>
          <a:xfrm>
            <a:off x="914400" y="2453152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77"/>
          <p:cNvSpPr/>
          <p:nvPr/>
        </p:nvSpPr>
        <p:spPr>
          <a:xfrm>
            <a:off x="914400" y="1925653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figure78" descr="모눈 위의 깃발과, 오른쪽으로 5칸 민 깃발: 모양과 방향은 같고 위치만 다름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79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80"/>
          <p:cNvSpPr/>
          <p:nvPr/>
        </p:nvSpPr>
        <p:spPr>
          <a:xfrm>
            <a:off x="1441899" y="4879648"/>
            <a:ext cx="26374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7" name="S03-label82"/>
          <p:cNvSpPr txBox="1"/>
          <p:nvPr/>
        </p:nvSpPr>
        <p:spPr>
          <a:xfrm>
            <a:off x="2455847" y="4963468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5칸</a:t>
            </a:r>
            <a:endParaRPr lang="ko-KR" sz="2400" dirty="0"/>
          </a:p>
        </p:txBody>
      </p:sp>
      <p:sp>
        <p:nvSpPr>
          <p:cNvPr id="28" name="S03-label84"/>
          <p:cNvSpPr txBox="1"/>
          <p:nvPr/>
        </p:nvSpPr>
        <p:spPr>
          <a:xfrm>
            <a:off x="1879580" y="236815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29" name="S03-label86"/>
          <p:cNvSpPr txBox="1"/>
          <p:nvPr/>
        </p:nvSpPr>
        <p:spPr>
          <a:xfrm>
            <a:off x="4471355" y="2368152"/>
            <a:ext cx="7985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 뒤</a:t>
            </a:r>
            <a:endParaRPr lang="ko-KR" sz="2400" dirty="0"/>
          </a:p>
        </p:txBody>
      </p:sp>
      <p:sp>
        <p:nvSpPr>
          <p:cNvPr id="30" name="S03-card87"/>
          <p:cNvSpPr/>
          <p:nvPr/>
        </p:nvSpPr>
        <p:spPr>
          <a:xfrm>
            <a:off x="6920911" y="2602230"/>
            <a:ext cx="4719401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3-cardtext88"/>
          <p:cNvSpPr txBox="1"/>
          <p:nvPr/>
        </p:nvSpPr>
        <p:spPr>
          <a:xfrm>
            <a:off x="7195231" y="2739390"/>
            <a:ext cx="4170761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그대로예요.</a:t>
            </a:r>
            <a:endParaRPr lang="ko-KR" sz="3000" dirty="0"/>
          </a:p>
        </p:txBody>
      </p:sp>
      <p:sp>
        <p:nvSpPr>
          <p:cNvPr id="32" name="S03-card89"/>
          <p:cNvSpPr/>
          <p:nvPr/>
        </p:nvSpPr>
        <p:spPr>
          <a:xfrm>
            <a:off x="6920911" y="4072890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3-cardtext90"/>
          <p:cNvSpPr txBox="1"/>
          <p:nvPr/>
        </p:nvSpPr>
        <p:spPr>
          <a:xfrm>
            <a:off x="7195231" y="4210050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뒤집기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↔ 오른쪽</a:t>
            </a:r>
            <a:endParaRPr lang="ko-KR" sz="3000" dirty="0"/>
          </a:p>
        </p:txBody>
      </p:sp>
      <p:sp>
        <p:nvSpPr>
          <p:cNvPr id="5" name="S04-card93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94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↔ 아래쪽</a:t>
            </a:r>
            <a:endParaRPr lang="ko-KR" sz="3000" dirty="0"/>
          </a:p>
        </p:txBody>
      </p:sp>
      <p:sp>
        <p:nvSpPr>
          <p:cNvPr id="7" name="S04-mark95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4-mark96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97"/>
          <p:cNvSpPr/>
          <p:nvPr/>
        </p:nvSpPr>
        <p:spPr>
          <a:xfrm flipV="1">
            <a:off x="1286474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8"/>
          <p:cNvSpPr/>
          <p:nvPr/>
        </p:nvSpPr>
        <p:spPr>
          <a:xfrm flipV="1">
            <a:off x="167748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9"/>
          <p:cNvSpPr/>
          <p:nvPr/>
        </p:nvSpPr>
        <p:spPr>
          <a:xfrm flipV="1">
            <a:off x="206850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24595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285053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02"/>
          <p:cNvSpPr/>
          <p:nvPr/>
        </p:nvSpPr>
        <p:spPr>
          <a:xfrm flipV="1">
            <a:off x="324154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03"/>
          <p:cNvSpPr/>
          <p:nvPr/>
        </p:nvSpPr>
        <p:spPr>
          <a:xfrm flipV="1">
            <a:off x="363256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4"/>
          <p:cNvSpPr/>
          <p:nvPr/>
        </p:nvSpPr>
        <p:spPr>
          <a:xfrm flipV="1">
            <a:off x="402357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5"/>
          <p:cNvSpPr/>
          <p:nvPr/>
        </p:nvSpPr>
        <p:spPr>
          <a:xfrm flipV="1">
            <a:off x="441459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6"/>
          <p:cNvSpPr/>
          <p:nvPr/>
        </p:nvSpPr>
        <p:spPr>
          <a:xfrm flipV="1">
            <a:off x="4805607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7"/>
          <p:cNvSpPr/>
          <p:nvPr/>
        </p:nvSpPr>
        <p:spPr>
          <a:xfrm flipV="1">
            <a:off x="5196622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8"/>
          <p:cNvSpPr/>
          <p:nvPr/>
        </p:nvSpPr>
        <p:spPr>
          <a:xfrm>
            <a:off x="1286474" y="415442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9"/>
          <p:cNvSpPr/>
          <p:nvPr/>
        </p:nvSpPr>
        <p:spPr>
          <a:xfrm>
            <a:off x="1286474" y="376340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10"/>
          <p:cNvSpPr/>
          <p:nvPr/>
        </p:nvSpPr>
        <p:spPr>
          <a:xfrm>
            <a:off x="1286474" y="337239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11"/>
          <p:cNvSpPr/>
          <p:nvPr/>
        </p:nvSpPr>
        <p:spPr>
          <a:xfrm>
            <a:off x="1286474" y="298137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112"/>
          <p:cNvSpPr/>
          <p:nvPr/>
        </p:nvSpPr>
        <p:spPr>
          <a:xfrm>
            <a:off x="1286474" y="259036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113"/>
          <p:cNvSpPr/>
          <p:nvPr/>
        </p:nvSpPr>
        <p:spPr>
          <a:xfrm>
            <a:off x="1286474" y="219935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114"/>
          <p:cNvSpPr/>
          <p:nvPr/>
        </p:nvSpPr>
        <p:spPr>
          <a:xfrm>
            <a:off x="1286474" y="180833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115"/>
          <p:cNvSpPr/>
          <p:nvPr/>
        </p:nvSpPr>
        <p:spPr>
          <a:xfrm>
            <a:off x="1286474" y="141732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figure116" descr="깃발을 세로 점선을 기준으로 오른쪽으로 뒤집음: 깃발이 오른쪽을 향하던 것이 왼쪽을 향함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17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18"/>
          <p:cNvSpPr/>
          <p:nvPr/>
        </p:nvSpPr>
        <p:spPr>
          <a:xfrm flipV="1">
            <a:off x="3241548" y="2003842"/>
            <a:ext cx="0" cy="156405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4-label119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뒤집기</a:t>
            </a:r>
            <a:endParaRPr lang="ko-KR" sz="2400" dirty="0"/>
          </a:p>
        </p:txBody>
      </p:sp>
      <p:sp>
        <p:nvSpPr>
          <p:cNvPr id="32" name="S04-mark120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4-mark121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4-mark122"/>
          <p:cNvSpPr/>
          <p:nvPr/>
        </p:nvSpPr>
        <p:spPr>
          <a:xfrm flipV="1">
            <a:off x="79894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23"/>
          <p:cNvSpPr/>
          <p:nvPr/>
        </p:nvSpPr>
        <p:spPr>
          <a:xfrm flipV="1">
            <a:off x="826312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24"/>
          <p:cNvSpPr/>
          <p:nvPr/>
        </p:nvSpPr>
        <p:spPr>
          <a:xfrm flipV="1">
            <a:off x="853683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25"/>
          <p:cNvSpPr/>
          <p:nvPr/>
        </p:nvSpPr>
        <p:spPr>
          <a:xfrm flipV="1">
            <a:off x="881054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26"/>
          <p:cNvSpPr/>
          <p:nvPr/>
        </p:nvSpPr>
        <p:spPr>
          <a:xfrm flipV="1">
            <a:off x="908425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27"/>
          <p:cNvSpPr/>
          <p:nvPr/>
        </p:nvSpPr>
        <p:spPr>
          <a:xfrm flipV="1">
            <a:off x="935797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28"/>
          <p:cNvSpPr/>
          <p:nvPr/>
        </p:nvSpPr>
        <p:spPr>
          <a:xfrm flipV="1">
            <a:off x="963168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29"/>
          <p:cNvSpPr/>
          <p:nvPr/>
        </p:nvSpPr>
        <p:spPr>
          <a:xfrm flipV="1">
            <a:off x="990539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30"/>
          <p:cNvSpPr/>
          <p:nvPr/>
        </p:nvSpPr>
        <p:spPr>
          <a:xfrm>
            <a:off x="7989418" y="415442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31"/>
          <p:cNvSpPr/>
          <p:nvPr/>
        </p:nvSpPr>
        <p:spPr>
          <a:xfrm>
            <a:off x="7989418" y="388071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32"/>
          <p:cNvSpPr/>
          <p:nvPr/>
        </p:nvSpPr>
        <p:spPr>
          <a:xfrm>
            <a:off x="7989418" y="360700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133"/>
          <p:cNvSpPr/>
          <p:nvPr/>
        </p:nvSpPr>
        <p:spPr>
          <a:xfrm>
            <a:off x="7989418" y="333329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134"/>
          <p:cNvSpPr/>
          <p:nvPr/>
        </p:nvSpPr>
        <p:spPr>
          <a:xfrm>
            <a:off x="7989418" y="305958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135"/>
          <p:cNvSpPr/>
          <p:nvPr/>
        </p:nvSpPr>
        <p:spPr>
          <a:xfrm>
            <a:off x="7989418" y="278587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mark136"/>
          <p:cNvSpPr/>
          <p:nvPr/>
        </p:nvSpPr>
        <p:spPr>
          <a:xfrm>
            <a:off x="7989418" y="251216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4-mark137"/>
          <p:cNvSpPr/>
          <p:nvPr/>
        </p:nvSpPr>
        <p:spPr>
          <a:xfrm>
            <a:off x="7989418" y="223845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4-mark138"/>
          <p:cNvSpPr/>
          <p:nvPr/>
        </p:nvSpPr>
        <p:spPr>
          <a:xfrm>
            <a:off x="7989418" y="196474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4-mark139"/>
          <p:cNvSpPr/>
          <p:nvPr/>
        </p:nvSpPr>
        <p:spPr>
          <a:xfrm>
            <a:off x="7989418" y="169103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4-mark140"/>
          <p:cNvSpPr/>
          <p:nvPr/>
        </p:nvSpPr>
        <p:spPr>
          <a:xfrm>
            <a:off x="7989418" y="141732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4-figure141" descr="깃발을 가로 점선을 기준으로 아래쪽으로 뒤집음: 깃발이 위쪽에 있던 것이 아래쪽에 있음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4" name="S04-mark142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5" name="S04-mark143"/>
          <p:cNvSpPr/>
          <p:nvPr/>
        </p:nvSpPr>
        <p:spPr>
          <a:xfrm>
            <a:off x="8399983" y="2785872"/>
            <a:ext cx="1094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6" name="S04-label144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뒤집으면?</a:t>
            </a:r>
            <a:endParaRPr lang="ko-KR" sz="4000" dirty="0"/>
          </a:p>
        </p:txBody>
      </p:sp>
      <p:sp>
        <p:nvSpPr>
          <p:cNvPr id="3" name="S05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뒤집은 모양을 고르고, 까닭을 말해요.</a:t>
            </a:r>
            <a:endParaRPr lang="ko-KR" sz="3000" dirty="0"/>
          </a:p>
        </p:txBody>
      </p:sp>
      <p:sp>
        <p:nvSpPr>
          <p:cNvPr id="5" name="S05-chip14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05-mark148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5-mark149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50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51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52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53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54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55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56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figure157" descr="처음 깃발: 깃대는 위를 향하고 깃발은 위쪽에서 오른쪽을 향함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158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05-chip15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05-mark160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05-mark161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62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63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64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65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66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67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68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figure169" descr="가: 깃발이 아래쪽에서 오른쪽을 향함(위·아래가 바뀜)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70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05-chip17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05-mark172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05-mark173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74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75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76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77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78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mark179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5-mark180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5-figure181" descr="나: 깃발이 아래쪽에서 왼쪽을 향함(180° 돌림)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label182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05-chip18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05-mark184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05-mark185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5-mark186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5-mark187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5-mark188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5-mark189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5-mark190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5-mark191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5-mark192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5-figure193" descr="다: 깃발이 위쪽에서 왼쪽을 향함(왼쪽·오른쪽이 바뀜)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5-label194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위쪽으로 뒤집었어요.</a:t>
            </a:r>
            <a:endParaRPr lang="ko-KR" sz="3000" dirty="0"/>
          </a:p>
        </p:txBody>
      </p:sp>
      <p:sp>
        <p:nvSpPr>
          <p:cNvPr id="5" name="S06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무엇이 바뀌는지 말해요.</a:t>
            </a:r>
            <a:endParaRPr lang="ko-KR" sz="3000" dirty="0"/>
          </a:p>
        </p:txBody>
      </p:sp>
      <p:sp>
        <p:nvSpPr>
          <p:cNvPr id="7" name="S06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6-mark200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6-mark201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02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03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04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05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06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07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08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figure209" descr="토끼의 답: 깃발이 위쪽에서 왼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6-text210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왼쪽과 오른쪽을 바꿨어요.</a:t>
            </a:r>
            <a:endParaRPr lang="ko-KR" sz="2400" dirty="0"/>
          </a:p>
        </p:txBody>
      </p:sp>
      <p:sp>
        <p:nvSpPr>
          <p:cNvPr id="19" name="S06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0" name="S06-mark212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6-mark213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mark214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6-mark215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16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17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18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19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20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figure221" descr="곰의 답: 깃발이 아래쪽에서 오른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6-text222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아래쪽을 바꿨어요.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07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ㄱ을 누르고 시곗바늘 방향으로 돌려요.</a:t>
            </a:r>
            <a:endParaRPr lang="ko-KR" sz="3000" dirty="0"/>
          </a:p>
        </p:txBody>
      </p:sp>
      <p:sp>
        <p:nvSpPr>
          <p:cNvPr id="4" name="S07-mark224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22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7-mark226"/>
          <p:cNvSpPr/>
          <p:nvPr/>
        </p:nvSpPr>
        <p:spPr>
          <a:xfrm flipV="1">
            <a:off x="218770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 flipV="1">
            <a:off x="253517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 flipV="1">
            <a:off x="2882646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 flipV="1">
            <a:off x="32301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 flipV="1">
            <a:off x="3577590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 flipV="1">
            <a:off x="392506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 flipV="1">
            <a:off x="427253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2187702" y="585216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2187702" y="550468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2187702" y="515721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>
            <a:off x="2187702" y="480974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237"/>
          <p:cNvSpPr/>
          <p:nvPr/>
        </p:nvSpPr>
        <p:spPr>
          <a:xfrm>
            <a:off x="2187702" y="446227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238"/>
          <p:cNvSpPr/>
          <p:nvPr/>
        </p:nvSpPr>
        <p:spPr>
          <a:xfrm>
            <a:off x="2187702" y="411480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239"/>
          <p:cNvSpPr/>
          <p:nvPr/>
        </p:nvSpPr>
        <p:spPr>
          <a:xfrm>
            <a:off x="2187702" y="376732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40"/>
          <p:cNvSpPr/>
          <p:nvPr/>
        </p:nvSpPr>
        <p:spPr>
          <a:xfrm>
            <a:off x="2187702" y="341985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241"/>
          <p:cNvSpPr/>
          <p:nvPr/>
        </p:nvSpPr>
        <p:spPr>
          <a:xfrm>
            <a:off x="2187702" y="307238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mark242"/>
          <p:cNvSpPr/>
          <p:nvPr/>
        </p:nvSpPr>
        <p:spPr>
          <a:xfrm>
            <a:off x="2187702" y="272491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7-mark243"/>
          <p:cNvSpPr/>
          <p:nvPr/>
        </p:nvSpPr>
        <p:spPr>
          <a:xfrm>
            <a:off x="2187702" y="237744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7-figure244" descr="점 ㄱ을 중심으로 깃발을 시계 방향으로 90° 돌림: 위쪽을 향하던 깃대가 오른쪽을 향하고, 깃발이 아래쪽을 가리킴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4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46"/>
          <p:cNvSpPr/>
          <p:nvPr/>
        </p:nvSpPr>
        <p:spPr>
          <a:xfrm>
            <a:off x="2535174" y="3836822"/>
            <a:ext cx="277978" cy="277978"/>
          </a:xfrm>
          <a:custGeom>
            <a:avLst/>
            <a:gdLst/>
            <a:ahLst/>
            <a:cxnLst/>
            <a:rect l="l" t="t" r="r" b="b"/>
            <a:pathLst>
              <a:path w="277978" h="277978">
                <a:moveTo>
                  <a:pt x="0" y="277978"/>
                </a:moveTo>
                <a:lnTo>
                  <a:pt x="277978" y="277978"/>
                </a:lnTo>
                <a:lnTo>
                  <a:pt x="277382" y="259797"/>
                </a:lnTo>
                <a:lnTo>
                  <a:pt x="275599" y="241694"/>
                </a:lnTo>
                <a:lnTo>
                  <a:pt x="272636" y="223747"/>
                </a:lnTo>
                <a:lnTo>
                  <a:pt x="268506" y="206032"/>
                </a:lnTo>
                <a:lnTo>
                  <a:pt x="263225" y="188625"/>
                </a:lnTo>
                <a:lnTo>
                  <a:pt x="256818" y="171600"/>
                </a:lnTo>
                <a:lnTo>
                  <a:pt x="249311" y="155031"/>
                </a:lnTo>
                <a:lnTo>
                  <a:pt x="240736" y="138989"/>
                </a:lnTo>
                <a:lnTo>
                  <a:pt x="231130" y="123542"/>
                </a:lnTo>
                <a:lnTo>
                  <a:pt x="220534" y="108756"/>
                </a:lnTo>
                <a:lnTo>
                  <a:pt x="208995" y="94694"/>
                </a:lnTo>
                <a:lnTo>
                  <a:pt x="196560" y="81418"/>
                </a:lnTo>
                <a:lnTo>
                  <a:pt x="183283" y="68983"/>
                </a:lnTo>
                <a:lnTo>
                  <a:pt x="169222" y="57443"/>
                </a:lnTo>
                <a:lnTo>
                  <a:pt x="154436" y="46848"/>
                </a:lnTo>
                <a:lnTo>
                  <a:pt x="138989" y="37242"/>
                </a:lnTo>
                <a:lnTo>
                  <a:pt x="122946" y="28667"/>
                </a:lnTo>
                <a:lnTo>
                  <a:pt x="106377" y="21160"/>
                </a:lnTo>
                <a:lnTo>
                  <a:pt x="89353" y="14752"/>
                </a:lnTo>
                <a:lnTo>
                  <a:pt x="71946" y="9472"/>
                </a:lnTo>
                <a:lnTo>
                  <a:pt x="54231" y="5341"/>
                </a:lnTo>
                <a:lnTo>
                  <a:pt x="36283" y="2378"/>
                </a:lnTo>
                <a:lnTo>
                  <a:pt x="18181" y="595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7" name="S07-mark247"/>
          <p:cNvSpPr/>
          <p:nvPr/>
        </p:nvSpPr>
        <p:spPr>
          <a:xfrm>
            <a:off x="247573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label249"/>
          <p:cNvSpPr txBox="1"/>
          <p:nvPr/>
        </p:nvSpPr>
        <p:spPr>
          <a:xfrm>
            <a:off x="2108753" y="40332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9" name="S07-label251"/>
          <p:cNvSpPr txBox="1"/>
          <p:nvPr/>
        </p:nvSpPr>
        <p:spPr>
          <a:xfrm>
            <a:off x="2737561" y="263865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30" name="S07-label253"/>
          <p:cNvSpPr txBox="1"/>
          <p:nvPr/>
        </p:nvSpPr>
        <p:spPr>
          <a:xfrm>
            <a:off x="3133192" y="5209946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뒤</a:t>
            </a:r>
            <a:endParaRPr lang="ko-KR" sz="2400" dirty="0"/>
          </a:p>
        </p:txBody>
      </p:sp>
      <p:sp>
        <p:nvSpPr>
          <p:cNvPr id="31" name="S07-card254"/>
          <p:cNvSpPr/>
          <p:nvPr/>
        </p:nvSpPr>
        <p:spPr>
          <a:xfrm>
            <a:off x="6277356" y="2750058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7-cardtext255"/>
          <p:cNvSpPr txBox="1"/>
          <p:nvPr/>
        </p:nvSpPr>
        <p:spPr>
          <a:xfrm>
            <a:off x="6551676" y="2887218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 90°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 가요.</a:t>
            </a:r>
            <a:endParaRPr lang="ko-KR" sz="3000" dirty="0"/>
          </a:p>
        </p:txBody>
      </p:sp>
      <p:sp>
        <p:nvSpPr>
          <p:cNvPr id="33" name="S07-card256"/>
          <p:cNvSpPr/>
          <p:nvPr/>
        </p:nvSpPr>
        <p:spPr>
          <a:xfrm>
            <a:off x="6277356" y="4220718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7-cardtext257"/>
          <p:cNvSpPr txBox="1"/>
          <p:nvPr/>
        </p:nvSpPr>
        <p:spPr>
          <a:xfrm>
            <a:off x="6551676" y="4357878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오른쪽은 아래쪽으로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180°, 반대 방향 90°</a:t>
            </a:r>
            <a:endParaRPr lang="ko-KR" sz="4000" dirty="0"/>
          </a:p>
        </p:txBody>
      </p:sp>
      <p:sp>
        <p:nvSpPr>
          <p:cNvPr id="3" name="S08-card25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5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180°: 위↔아래,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왼쪽↔오른쪽이 모두 바뀌어요.</a:t>
            </a:r>
            <a:endParaRPr lang="ko-KR" sz="3000" dirty="0"/>
          </a:p>
        </p:txBody>
      </p:sp>
      <p:sp>
        <p:nvSpPr>
          <p:cNvPr id="5" name="S08-card26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6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 90°: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왼쪽으로 가요.</a:t>
            </a:r>
            <a:endParaRPr lang="ko-KR" sz="3000" dirty="0"/>
          </a:p>
        </p:txBody>
      </p:sp>
      <p:sp>
        <p:nvSpPr>
          <p:cNvPr id="7" name="S08-mark262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6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8-mark264"/>
          <p:cNvSpPr/>
          <p:nvPr/>
        </p:nvSpPr>
        <p:spPr>
          <a:xfrm flipV="1">
            <a:off x="237972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65"/>
          <p:cNvSpPr/>
          <p:nvPr/>
        </p:nvSpPr>
        <p:spPr>
          <a:xfrm flipV="1">
            <a:off x="259518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66"/>
          <p:cNvSpPr/>
          <p:nvPr/>
        </p:nvSpPr>
        <p:spPr>
          <a:xfrm flipV="1">
            <a:off x="2810637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67"/>
          <p:cNvSpPr/>
          <p:nvPr/>
        </p:nvSpPr>
        <p:spPr>
          <a:xfrm flipV="1">
            <a:off x="302609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68"/>
          <p:cNvSpPr/>
          <p:nvPr/>
        </p:nvSpPr>
        <p:spPr>
          <a:xfrm flipV="1">
            <a:off x="324154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69"/>
          <p:cNvSpPr/>
          <p:nvPr/>
        </p:nvSpPr>
        <p:spPr>
          <a:xfrm flipV="1">
            <a:off x="34570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70"/>
          <p:cNvSpPr/>
          <p:nvPr/>
        </p:nvSpPr>
        <p:spPr>
          <a:xfrm flipV="1">
            <a:off x="367245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71"/>
          <p:cNvSpPr/>
          <p:nvPr/>
        </p:nvSpPr>
        <p:spPr>
          <a:xfrm flipV="1">
            <a:off x="388791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72"/>
          <p:cNvSpPr/>
          <p:nvPr/>
        </p:nvSpPr>
        <p:spPr>
          <a:xfrm flipV="1">
            <a:off x="410337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73"/>
          <p:cNvSpPr/>
          <p:nvPr/>
        </p:nvSpPr>
        <p:spPr>
          <a:xfrm>
            <a:off x="2379726" y="3415284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74"/>
          <p:cNvSpPr/>
          <p:nvPr/>
        </p:nvSpPr>
        <p:spPr>
          <a:xfrm>
            <a:off x="2379726" y="3199828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75"/>
          <p:cNvSpPr/>
          <p:nvPr/>
        </p:nvSpPr>
        <p:spPr>
          <a:xfrm>
            <a:off x="2379726" y="2984373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76"/>
          <p:cNvSpPr/>
          <p:nvPr/>
        </p:nvSpPr>
        <p:spPr>
          <a:xfrm>
            <a:off x="2379726" y="276891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77"/>
          <p:cNvSpPr/>
          <p:nvPr/>
        </p:nvSpPr>
        <p:spPr>
          <a:xfrm>
            <a:off x="2379726" y="2553462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78"/>
          <p:cNvSpPr/>
          <p:nvPr/>
        </p:nvSpPr>
        <p:spPr>
          <a:xfrm>
            <a:off x="2379726" y="233800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79"/>
          <p:cNvSpPr/>
          <p:nvPr/>
        </p:nvSpPr>
        <p:spPr>
          <a:xfrm>
            <a:off x="2379726" y="2122551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80"/>
          <p:cNvSpPr/>
          <p:nvPr/>
        </p:nvSpPr>
        <p:spPr>
          <a:xfrm>
            <a:off x="2379726" y="1907095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81"/>
          <p:cNvSpPr/>
          <p:nvPr/>
        </p:nvSpPr>
        <p:spPr>
          <a:xfrm>
            <a:off x="2379726" y="1691640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figure282" descr="점 ㄱ을 중심으로 깃발을 시계 방향으로 180° 돌림: 깃대가 아래를 향하고 깃발이 왼쪽을 가리킴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8-mark28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8-mark284"/>
          <p:cNvSpPr/>
          <p:nvPr/>
        </p:nvSpPr>
        <p:spPr>
          <a:xfrm>
            <a:off x="3182112" y="249402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label286"/>
          <p:cNvSpPr txBox="1"/>
          <p:nvPr/>
        </p:nvSpPr>
        <p:spPr>
          <a:xfrm>
            <a:off x="3159969" y="247188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8-label287"/>
          <p:cNvSpPr txBox="1"/>
          <p:nvPr/>
        </p:nvSpPr>
        <p:spPr>
          <a:xfrm>
            <a:off x="548640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180°</a:t>
            </a:r>
            <a:endParaRPr lang="ko-KR" sz="2400" dirty="0"/>
          </a:p>
        </p:txBody>
      </p:sp>
      <p:sp>
        <p:nvSpPr>
          <p:cNvPr id="32" name="S08-mark288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8-mark289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8-mark290"/>
          <p:cNvSpPr/>
          <p:nvPr/>
        </p:nvSpPr>
        <p:spPr>
          <a:xfrm flipV="1">
            <a:off x="756848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91"/>
          <p:cNvSpPr/>
          <p:nvPr/>
        </p:nvSpPr>
        <p:spPr>
          <a:xfrm flipV="1">
            <a:off x="791321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92"/>
          <p:cNvSpPr/>
          <p:nvPr/>
        </p:nvSpPr>
        <p:spPr>
          <a:xfrm flipV="1">
            <a:off x="825794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mark293"/>
          <p:cNvSpPr/>
          <p:nvPr/>
        </p:nvSpPr>
        <p:spPr>
          <a:xfrm flipV="1">
            <a:off x="860267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294"/>
          <p:cNvSpPr/>
          <p:nvPr/>
        </p:nvSpPr>
        <p:spPr>
          <a:xfrm flipV="1">
            <a:off x="89474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295"/>
          <p:cNvSpPr/>
          <p:nvPr/>
        </p:nvSpPr>
        <p:spPr>
          <a:xfrm flipV="1">
            <a:off x="929213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296"/>
          <p:cNvSpPr/>
          <p:nvPr/>
        </p:nvSpPr>
        <p:spPr>
          <a:xfrm flipV="1">
            <a:off x="963686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297"/>
          <p:cNvSpPr/>
          <p:nvPr/>
        </p:nvSpPr>
        <p:spPr>
          <a:xfrm flipV="1">
            <a:off x="998159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298"/>
          <p:cNvSpPr/>
          <p:nvPr/>
        </p:nvSpPr>
        <p:spPr>
          <a:xfrm flipV="1">
            <a:off x="1032631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299"/>
          <p:cNvSpPr/>
          <p:nvPr/>
        </p:nvSpPr>
        <p:spPr>
          <a:xfrm>
            <a:off x="7568489" y="3415284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300"/>
          <p:cNvSpPr/>
          <p:nvPr/>
        </p:nvSpPr>
        <p:spPr>
          <a:xfrm>
            <a:off x="7568489" y="3070555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301"/>
          <p:cNvSpPr/>
          <p:nvPr/>
        </p:nvSpPr>
        <p:spPr>
          <a:xfrm>
            <a:off x="7568489" y="2725826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302"/>
          <p:cNvSpPr/>
          <p:nvPr/>
        </p:nvSpPr>
        <p:spPr>
          <a:xfrm>
            <a:off x="7568489" y="2381098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303"/>
          <p:cNvSpPr/>
          <p:nvPr/>
        </p:nvSpPr>
        <p:spPr>
          <a:xfrm>
            <a:off x="7568489" y="2036369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8-mark304"/>
          <p:cNvSpPr/>
          <p:nvPr/>
        </p:nvSpPr>
        <p:spPr>
          <a:xfrm>
            <a:off x="7568489" y="1691640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8-figure305" descr="점 ㄱ을 중심으로 깃발을 시계 반대 방향으로 90° 돌림: 깃대가 왼쪽을 향하고 깃발이 위쪽을 가리킴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8-mark306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8-mark307"/>
          <p:cNvSpPr/>
          <p:nvPr/>
        </p:nvSpPr>
        <p:spPr>
          <a:xfrm>
            <a:off x="8887968" y="30111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label309"/>
          <p:cNvSpPr txBox="1"/>
          <p:nvPr/>
        </p:nvSpPr>
        <p:spPr>
          <a:xfrm>
            <a:off x="8865825" y="298897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53" name="S08-label310"/>
          <p:cNvSpPr txBox="1"/>
          <p:nvPr/>
        </p:nvSpPr>
        <p:spPr>
          <a:xfrm>
            <a:off x="6254496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방향으로 90°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모양일까요?</a:t>
            </a:r>
            <a:endParaRPr lang="ko-KR" sz="4000" dirty="0"/>
          </a:p>
        </p:txBody>
      </p:sp>
      <p:sp>
        <p:nvSpPr>
          <p:cNvPr id="3" name="S09-card3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두 가지로 움직였어요.</a:t>
            </a:r>
            <a:endParaRPr lang="ko-KR" sz="3000" dirty="0"/>
          </a:p>
        </p:txBody>
      </p:sp>
      <p:sp>
        <p:nvSpPr>
          <p:cNvPr id="5" name="S09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모양은 같을까요? 다른 점을 말해요.</a:t>
            </a:r>
            <a:endParaRPr lang="ko-KR" sz="3000" dirty="0"/>
          </a:p>
        </p:txBody>
      </p:sp>
      <p:sp>
        <p:nvSpPr>
          <p:cNvPr id="7" name="S09-chip3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8" name="S09-mark316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9-mark317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318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319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0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1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2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3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324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figure325" descr="아래쪽으로 뒤집은 깃발: 깃발이 아래쪽에서 오른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326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아래쪽이 바뀌었어요.</a:t>
            </a:r>
            <a:endParaRPr lang="ko-KR" sz="2400" dirty="0"/>
          </a:p>
        </p:txBody>
      </p:sp>
      <p:sp>
        <p:nvSpPr>
          <p:cNvPr id="19" name="S09-chip3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돌리기</a:t>
            </a:r>
            <a:endParaRPr lang="ko-KR" sz="2400" dirty="0"/>
          </a:p>
        </p:txBody>
      </p:sp>
      <p:sp>
        <p:nvSpPr>
          <p:cNvPr id="20" name="S09-mark328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9-mark329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330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331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332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333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334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335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336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figure337" descr="180° 돌린 깃발: 깃발이 아래쪽에서 왼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9-text338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깃발이 어느 쪽을 가리키나요?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10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 돌린 모양을 고르고, 까닭을 말해요.</a:t>
            </a:r>
            <a:endParaRPr lang="ko-KR" sz="3000" dirty="0"/>
          </a:p>
        </p:txBody>
      </p:sp>
      <p:sp>
        <p:nvSpPr>
          <p:cNvPr id="5" name="S10-chip34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10-mark342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343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44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45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46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47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48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49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350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figure351" descr="처음 깃발: 깃대는 위를 향하고 깃발은 오른쪽을 가리킴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0-label352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10-chip35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10-mark354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10-mark355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356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357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358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359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360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361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362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figure363" descr="가: 깃대가 왼쪽을 향하고 깃발이 위쪽을 가리킴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10-label364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10-chip36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10-mark366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0-mark367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368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69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70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71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72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mark373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0-mark374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0-figure375" descr="나: 깃대가 오른쪽을 향하고 깃발이 아래쪽을 가리킴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label376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10-chip37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0-mark378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10-mark379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0-mark380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0-mark381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0-mark382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0-mark383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0-mark384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0-mark385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0-mark386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0-figure387" descr="다: 깃대가 아래를 향하고 깃발이 왼쪽을 가리킴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0-label388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도형을 움직인 것을 찾아요.</a:t>
            </a:r>
            <a:endParaRPr lang="ko-KR" sz="3000" dirty="0"/>
          </a:p>
        </p:txBody>
      </p:sp>
      <p:sp>
        <p:nvSpPr>
          <p:cNvPr id="4" name="S11-mark390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1-mark391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11-mark392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1-mark393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11-mark394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11-mark395"/>
          <p:cNvSpPr/>
          <p:nvPr/>
        </p:nvSpPr>
        <p:spPr>
          <a:xfrm flipV="1">
            <a:off x="636879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96"/>
          <p:cNvSpPr/>
          <p:nvPr/>
        </p:nvSpPr>
        <p:spPr>
          <a:xfrm flipV="1">
            <a:off x="673880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97"/>
          <p:cNvSpPr/>
          <p:nvPr/>
        </p:nvSpPr>
        <p:spPr>
          <a:xfrm flipV="1">
            <a:off x="710880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98"/>
          <p:cNvSpPr/>
          <p:nvPr/>
        </p:nvSpPr>
        <p:spPr>
          <a:xfrm flipV="1">
            <a:off x="747881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99"/>
          <p:cNvSpPr/>
          <p:nvPr/>
        </p:nvSpPr>
        <p:spPr>
          <a:xfrm flipV="1">
            <a:off x="7848818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400"/>
          <p:cNvSpPr/>
          <p:nvPr/>
        </p:nvSpPr>
        <p:spPr>
          <a:xfrm flipV="1">
            <a:off x="8218823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401"/>
          <p:cNvSpPr/>
          <p:nvPr/>
        </p:nvSpPr>
        <p:spPr>
          <a:xfrm flipV="1">
            <a:off x="858882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402"/>
          <p:cNvSpPr/>
          <p:nvPr/>
        </p:nvSpPr>
        <p:spPr>
          <a:xfrm flipV="1">
            <a:off x="8958834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403"/>
          <p:cNvSpPr/>
          <p:nvPr/>
        </p:nvSpPr>
        <p:spPr>
          <a:xfrm flipV="1">
            <a:off x="932883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404"/>
          <p:cNvSpPr/>
          <p:nvPr/>
        </p:nvSpPr>
        <p:spPr>
          <a:xfrm flipV="1">
            <a:off x="9698845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405"/>
          <p:cNvSpPr/>
          <p:nvPr/>
        </p:nvSpPr>
        <p:spPr>
          <a:xfrm flipV="1">
            <a:off x="10068850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406"/>
          <p:cNvSpPr/>
          <p:nvPr/>
        </p:nvSpPr>
        <p:spPr>
          <a:xfrm flipV="1">
            <a:off x="1043885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407"/>
          <p:cNvSpPr/>
          <p:nvPr/>
        </p:nvSpPr>
        <p:spPr>
          <a:xfrm flipV="1">
            <a:off x="1080886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408"/>
          <p:cNvSpPr/>
          <p:nvPr/>
        </p:nvSpPr>
        <p:spPr>
          <a:xfrm flipV="1">
            <a:off x="1117886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409"/>
          <p:cNvSpPr/>
          <p:nvPr/>
        </p:nvSpPr>
        <p:spPr>
          <a:xfrm flipV="1">
            <a:off x="1154887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410"/>
          <p:cNvSpPr/>
          <p:nvPr/>
        </p:nvSpPr>
        <p:spPr>
          <a:xfrm>
            <a:off x="6368796" y="5964827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411"/>
          <p:cNvSpPr/>
          <p:nvPr/>
        </p:nvSpPr>
        <p:spPr>
          <a:xfrm>
            <a:off x="6368796" y="559482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412"/>
          <p:cNvSpPr/>
          <p:nvPr/>
        </p:nvSpPr>
        <p:spPr>
          <a:xfrm>
            <a:off x="6368796" y="5224816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413"/>
          <p:cNvSpPr/>
          <p:nvPr/>
        </p:nvSpPr>
        <p:spPr>
          <a:xfrm>
            <a:off x="6368796" y="485481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414"/>
          <p:cNvSpPr/>
          <p:nvPr/>
        </p:nvSpPr>
        <p:spPr>
          <a:xfrm>
            <a:off x="6368796" y="448480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415"/>
          <p:cNvSpPr/>
          <p:nvPr/>
        </p:nvSpPr>
        <p:spPr>
          <a:xfrm>
            <a:off x="6368796" y="411480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416"/>
          <p:cNvSpPr/>
          <p:nvPr/>
        </p:nvSpPr>
        <p:spPr>
          <a:xfrm>
            <a:off x="6368796" y="374479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417"/>
          <p:cNvSpPr/>
          <p:nvPr/>
        </p:nvSpPr>
        <p:spPr>
          <a:xfrm>
            <a:off x="6368796" y="337478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418"/>
          <p:cNvSpPr/>
          <p:nvPr/>
        </p:nvSpPr>
        <p:spPr>
          <a:xfrm>
            <a:off x="6368796" y="3004784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419"/>
          <p:cNvSpPr/>
          <p:nvPr/>
        </p:nvSpPr>
        <p:spPr>
          <a:xfrm>
            <a:off x="6368796" y="2634778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mark420"/>
          <p:cNvSpPr/>
          <p:nvPr/>
        </p:nvSpPr>
        <p:spPr>
          <a:xfrm>
            <a:off x="6368796" y="2264773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1-figure421" descr="모눈 위의 ㄴ 모양 처음 도형과, 이동한 도형 가·나·다·라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1-mark422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1-mark423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1-mark424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1-mark425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1-label427"/>
          <p:cNvSpPr txBox="1"/>
          <p:nvPr/>
        </p:nvSpPr>
        <p:spPr>
          <a:xfrm>
            <a:off x="6940242" y="2592280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41" name="S11-label429"/>
          <p:cNvSpPr txBox="1"/>
          <p:nvPr/>
        </p:nvSpPr>
        <p:spPr>
          <a:xfrm>
            <a:off x="8939621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42" name="S11-label431"/>
          <p:cNvSpPr txBox="1"/>
          <p:nvPr/>
        </p:nvSpPr>
        <p:spPr>
          <a:xfrm>
            <a:off x="10419642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43" name="S11-label433"/>
          <p:cNvSpPr txBox="1"/>
          <p:nvPr/>
        </p:nvSpPr>
        <p:spPr>
          <a:xfrm>
            <a:off x="727459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44" name="S11-label435"/>
          <p:cNvSpPr txBox="1"/>
          <p:nvPr/>
        </p:nvSpPr>
        <p:spPr>
          <a:xfrm>
            <a:off x="930962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45" name="S11-chip4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6" name="S11-text4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도형은?</a:t>
            </a:r>
            <a:endParaRPr lang="ko-KR" sz="3000" dirty="0"/>
          </a:p>
        </p:txBody>
      </p:sp>
      <p:sp>
        <p:nvSpPr>
          <p:cNvPr id="47" name="S11-chip4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8" name="S11-text4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도형은?</a:t>
            </a:r>
            <a:endParaRPr lang="ko-KR" sz="3000" dirty="0"/>
          </a:p>
        </p:txBody>
      </p:sp>
      <p:sp>
        <p:nvSpPr>
          <p:cNvPr id="49" name="S11-chip4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50" name="S11-text4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돌린 도형은?</a:t>
            </a:r>
            <a:endParaRPr lang="ko-KR" sz="3000" dirty="0"/>
          </a:p>
        </p:txBody>
      </p:sp>
      <p:sp>
        <p:nvSpPr>
          <p:cNvPr id="51" name="S11-chip442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52" name="S11-text443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밀기만 한 도형은?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4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종이 도형을 직접 움직여 확인하게 하세요.</a:t>
            </a:r>
            <a:endParaRPr lang="ko-KR" sz="3000" dirty="0"/>
          </a:p>
        </p:txBody>
      </p:sp>
      <p:sp>
        <p:nvSpPr>
          <p:cNvPr id="5" name="S12-chip44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44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</a:t>
            </a:r>
            <a:endParaRPr lang="ko-KR" sz="3000" dirty="0"/>
          </a:p>
        </p:txBody>
      </p:sp>
      <p:sp>
        <p:nvSpPr>
          <p:cNvPr id="7" name="S12-text44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</a:t>
            </a:r>
            <a:endParaRPr lang="ko-KR" sz="2400" dirty="0"/>
          </a:p>
        </p:txBody>
      </p:sp>
      <p:sp>
        <p:nvSpPr>
          <p:cNvPr id="8" name="S12-text44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</a:t>
            </a:r>
            <a:endParaRPr lang="ko-KR" sz="3000" dirty="0"/>
          </a:p>
        </p:txBody>
      </p:sp>
      <p:sp>
        <p:nvSpPr>
          <p:cNvPr id="9" name="S12-text45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</a:t>
            </a:r>
            <a:endParaRPr lang="ko-KR" sz="2400" dirty="0"/>
          </a:p>
        </p:txBody>
      </p:sp>
      <p:sp>
        <p:nvSpPr>
          <p:cNvPr id="10" name="S12-text45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라</a:t>
            </a:r>
            <a:endParaRPr lang="ko-KR" sz="3000" dirty="0"/>
          </a:p>
        </p:txBody>
      </p:sp>
      <p:sp>
        <p:nvSpPr>
          <p:cNvPr id="11" name="S12-text45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바뀜</a:t>
            </a:r>
            <a:endParaRPr lang="ko-KR" sz="2400" dirty="0"/>
          </a:p>
        </p:txBody>
      </p:sp>
      <p:sp>
        <p:nvSpPr>
          <p:cNvPr id="12" name="S12-text45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</a:t>
            </a:r>
            <a:endParaRPr lang="ko-KR" sz="3000" dirty="0"/>
          </a:p>
        </p:txBody>
      </p:sp>
      <p:sp>
        <p:nvSpPr>
          <p:cNvPr id="13" name="S12-text45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그대로</a:t>
            </a:r>
            <a:endParaRPr lang="ko-KR" sz="2400" dirty="0"/>
          </a:p>
        </p:txBody>
      </p:sp>
      <p:sp>
        <p:nvSpPr>
          <p:cNvPr id="14" name="S12-chip45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45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위아래만 바뀐 것</a:t>
            </a:r>
            <a:endParaRPr lang="ko-KR" sz="3000" dirty="0"/>
          </a:p>
        </p:txBody>
      </p:sp>
      <p:sp>
        <p:nvSpPr>
          <p:cNvPr id="16" name="S12-text45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뒤집기와 혼동</a:t>
            </a:r>
            <a:endParaRPr lang="ko-KR" sz="2400" dirty="0"/>
          </a:p>
        </p:txBody>
      </p:sp>
      <p:sp>
        <p:nvSpPr>
          <p:cNvPr id="17" name="S12-text45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위쪽이 왼쪽으로</a:t>
            </a:r>
            <a:endParaRPr lang="ko-KR" sz="3000" dirty="0"/>
          </a:p>
        </p:txBody>
      </p:sp>
      <p:sp>
        <p:nvSpPr>
          <p:cNvPr id="18" name="S12-text45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반대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모양이 되는 것은?</a:t>
            </a:r>
            <a:endParaRPr lang="ko-KR" sz="4000" dirty="0"/>
          </a:p>
        </p:txBody>
      </p:sp>
      <p:sp>
        <p:nvSpPr>
          <p:cNvPr id="3" name="S13-text4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움직였어요.</a:t>
            </a:r>
            <a:endParaRPr lang="ko-KR" sz="3000" dirty="0"/>
          </a:p>
        </p:txBody>
      </p:sp>
      <p:sp>
        <p:nvSpPr>
          <p:cNvPr id="4" name="S13-card4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모양과 같아지는 것을 모두 골라요.</a:t>
            </a:r>
            <a:endParaRPr lang="ko-KR" sz="3000" dirty="0"/>
          </a:p>
        </p:txBody>
      </p:sp>
      <p:sp>
        <p:nvSpPr>
          <p:cNvPr id="6" name="S13-chip46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46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46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두 번 뒤집기</a:t>
            </a:r>
            <a:endParaRPr lang="ko-KR" sz="3000" dirty="0"/>
          </a:p>
        </p:txBody>
      </p:sp>
      <p:sp>
        <p:nvSpPr>
          <p:cNvPr id="9" name="S13-chip46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46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46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돌리기</a:t>
            </a:r>
            <a:endParaRPr lang="ko-KR" sz="3000" dirty="0"/>
          </a:p>
        </p:txBody>
      </p:sp>
      <p:sp>
        <p:nvSpPr>
          <p:cNvPr id="12" name="S13-chip46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47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47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번 돌리기</a:t>
            </a:r>
            <a:endParaRPr lang="ko-KR" sz="3000" dirty="0"/>
          </a:p>
        </p:txBody>
      </p:sp>
      <p:sp>
        <p:nvSpPr>
          <p:cNvPr id="15" name="S13-chip47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3-card47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47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한 번 뒤집기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7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7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밀면 위치만, 뒤집으면 그 방향이, 돌리면 위쪽이 바뀌어요.</a:t>
            </a:r>
            <a:endParaRPr lang="ko-KR" sz="3000" dirty="0"/>
          </a:p>
        </p:txBody>
      </p:sp>
      <p:sp>
        <p:nvSpPr>
          <p:cNvPr id="5" name="S14-chip47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종이 도형으로 직접 움직여 보기</a:t>
            </a:r>
            <a:endParaRPr lang="ko-KR" sz="2400" dirty="0"/>
          </a:p>
        </p:txBody>
      </p:sp>
      <p:sp>
        <p:nvSpPr>
          <p:cNvPr id="6" name="S14-chip47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뒤집기와 돌리기를 같다고 하기</a:t>
            </a:r>
            <a:endParaRPr lang="ko-KR" sz="2400" dirty="0"/>
          </a:p>
        </p:txBody>
      </p:sp>
      <p:sp>
        <p:nvSpPr>
          <p:cNvPr id="7" name="S14-text47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48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밀면 무엇이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바뀌나요?</a:t>
            </a:r>
            <a:endParaRPr lang="ko-KR" sz="2400" dirty="0"/>
          </a:p>
        </p:txBody>
      </p:sp>
      <p:sp>
        <p:nvSpPr>
          <p:cNvPr id="9" name="S14-text48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아래쪽으로 뒤집으면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바뀌나요?</a:t>
            </a:r>
            <a:endParaRPr lang="ko-KR" sz="2400" dirty="0"/>
          </a:p>
        </p:txBody>
      </p:sp>
      <p:sp>
        <p:nvSpPr>
          <p:cNvPr id="10" name="S14-text48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시계 방향 90°면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위쪽은 어디로?</a:t>
            </a:r>
            <a:endParaRPr lang="ko-KR" sz="2400" dirty="0"/>
          </a:p>
        </p:txBody>
      </p:sp>
      <p:sp>
        <p:nvSpPr>
          <p:cNvPr id="11" name="S14-text4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막대그래프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 방향과 각도</a:t>
            </a:r>
            <a:endParaRPr lang="ko-KR" sz="4000" dirty="0"/>
          </a:p>
        </p:txBody>
      </p:sp>
      <p:sp>
        <p:nvSpPr>
          <p:cNvPr id="3" name="S15-card484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485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3 → 6 → 9</a:t>
            </a:r>
            <a:endParaRPr lang="ko-KR" sz="3000" dirty="0"/>
          </a:p>
        </p:txBody>
      </p:sp>
      <p:sp>
        <p:nvSpPr>
          <p:cNvPr id="5" name="S15-card486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487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90°와 180°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직각, 반 바퀴</a:t>
            </a:r>
            <a:endParaRPr lang="ko-KR" sz="3000" dirty="0"/>
          </a:p>
        </p:txBody>
      </p:sp>
      <p:sp>
        <p:nvSpPr>
          <p:cNvPr id="7" name="S15-figure488" descr="3시를 가리키는 시계: 두 바늘이 직각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5-line489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ine490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491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492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493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494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5-line495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496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497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498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499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5-line500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501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502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503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504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line505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506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507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508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509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5-line510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511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512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513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514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5-line515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516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517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518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519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5-line520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521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522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523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524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5-line525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526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527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528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529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5-line530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531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532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533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534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5-line535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536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537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538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539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5-line540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541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542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543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544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ine545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546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547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548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abel549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9" name="S15-label550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0" name="S15-label551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1" name="S15-label552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2" name="S15-label553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3" name="S15-label554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15-label555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5" name="S15-label556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6" name="S15-label557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7" name="S15-label558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8" name="S15-label559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9" name="S15-label560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80" name="S15-line561"/>
          <p:cNvSpPr/>
          <p:nvPr/>
        </p:nvSpPr>
        <p:spPr>
          <a:xfrm>
            <a:off x="3241548" y="2794254"/>
            <a:ext cx="646085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5-line562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5-pin563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5-label564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3시: 90°</a:t>
            </a:r>
            <a:endParaRPr lang="ko-KR" sz="2400" dirty="0"/>
          </a:p>
        </p:txBody>
      </p:sp>
      <p:sp>
        <p:nvSpPr>
          <p:cNvPr id="84" name="S15-figure565" descr="6시를 가리키는 시계: 두 바늘이 일직선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5-line566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5-line567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568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569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570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571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5-line572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573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574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575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576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5-line577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578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579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line580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5-line581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5-line582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583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584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585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586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5-line587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588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589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590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591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5-line592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593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594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595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596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5-line597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598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line599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5-line600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601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5-line602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603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604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605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606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5-line607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608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line609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5-line610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611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5-line612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613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614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615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616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5-line617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618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line619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5-line620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621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5-line622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623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624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625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abel626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6" name="S15-label627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7" name="S15-label628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8" name="S15-label629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9" name="S15-label630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50" name="S15-label631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1" name="S15-label632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2" name="S15-label633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3" name="S15-label634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4" name="S15-label635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5" name="S15-label636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6" name="S15-label637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7" name="S15-line638"/>
          <p:cNvSpPr/>
          <p:nvPr/>
        </p:nvSpPr>
        <p:spPr>
          <a:xfrm>
            <a:off x="8947404" y="2794254"/>
            <a:ext cx="0" cy="6460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5-line639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5-pin640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5-label641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6시: 180°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평면도형의 이동</dc:title>
  <dc:subject>KR22-G04-MAT-MOVE-L01</dc:subject>
  <dc:creator>education-ppt</dc:creator>
  <cp:lastModifiedBy>education-ppt</cp:lastModifiedBy>
  <cp:revision>1</cp:revision>
  <dcterms:created xsi:type="dcterms:W3CDTF">2026-10-26T08:19:30Z</dcterms:created>
  <dcterms:modified xsi:type="dcterms:W3CDTF">2026-10-26T08:19:30Z</dcterms:modified>
</cp:coreProperties>
</file>