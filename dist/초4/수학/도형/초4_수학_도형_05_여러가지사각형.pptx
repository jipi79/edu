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5bbfbfb-3cda-1d76-708c-8bdff414e1f6}">
          <p14:sldIdLst>
            <p14:sldId id="256"/>
            <p14:sldId id="257"/>
          </p14:sldIdLst>
        </p14:section>
        <p14:section name="개념" id="{99611e55-0c1e-19e4-19cb-2b66080afb49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68e39203-0ad8-7476-450e-68097215f5e1}">
          <p14:sldIdLst>
            <p14:sldId id="261"/>
            <p14:sldId id="264"/>
            <p14:sldId id="265"/>
          </p14:sldIdLst>
        </p14:section>
        <p14:section name="개념" id="{4fa2f646-dffa-81a2-8a2f-0755d21497d6}">
          <p14:sldIdLst/>
        </p14:section>
        <p14:section name="연습" id="{91b39ea9-dc3a-a16f-71bc-20863c10e304}">
          <p14:sldIdLst/>
        </p14:section>
        <p14:section name="확인" id="{3967fe64-6acc-5381-f996-60155b91f086}">
          <p14:sldIdLst>
            <p14:sldId id="266"/>
            <p14:sldId id="267"/>
            <p14:sldId id="268"/>
          </p14:sldIdLst>
        </p14:section>
        <p14:section name="정리" id="{e2749c71-09a1-ed73-5abc-e9f52e295bf3}">
          <p14:sldIdLst>
            <p14:sldId id="269"/>
          </p14:sldIdLst>
        </p14:section>
        <p14:section name="보충" id="{e36cf919-289a-033e-6b72-06fc04f5bcb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한 사각형이 여러 이름을 가질 수 있다는 질문으로 궁금하게 합니다.
시간: 약 2분
이렇게 말해 보세요
- “오른쪽 사각형의 이름은 뭘까? 3학년 때 배웠지?”
- “그런데 이 사각형에는 이름이 하나만 있을까? 오늘 공부가 끝나면 몇 개인지 세어 보자.”
예상 답
- “정사각형이요.” “이름은 하나예요.”
막히면
- 답을 확인하지 않고 넘어갑니다. S08에서 함께 셉니다.
주의
- 그림의 짧은 줄(같은 길이 표시)은 길이가 같은 변이라는 뜻이고, 꼭짓점의 작은 ㄴ자 표시는 직각이라는 뜻입니다. 오늘 내내 이 두 표시를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확인(수직과 평행)]
목적: 수직(두 직선이 만나 직각을 이룸)과 평행(서로 만나지 않는 두 직선)을 구별할 수 있는지 확인합니다. 오늘은 평행한 변으로 사각형의 이름을 정합니다.
시간: 약 3분
이렇게 말해 보세요
- “가, 나, 다의 두 직선은 평행할까, 수직일까, 둘 다 아닐까? 어떻게 알았어?”
정답
- 가: 평행(같은 방향으로 기울어 늘여도 만나지 않음)
- 나: 수직(가로선과 세로선이 만나 직각)
- 다: 둘 다 아님(만나지만 직각이 아님)
막히면
- 모눈의 선을 따라 손가락으로 두 직선을 늘여 보며 “끝까지 가도 만나?”라고 묻습니다. 만나는 곳에는 삼각자의 직각을 대어 봅니다.
- 두 개 이상 헷갈리면 S15(보충)를 먼저 합니다. 보충으로도 어려우면 초4 ‘수직과 평행’을 먼저 다시 합니다.
주의
- 다는 만나는 곳이 모눈 밖에 있을 수 있지만, 두 직선이 서로 다른 방향으로 기울어 있으니 늘이면 만납니다.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사다리꼴의 뜻]
목적: 평행한 변이 한 쌍이라도 있는 사각형을 사다리꼴이라고 한다는 것을 압니다.
시간: 약 3분
이렇게 말해 보세요
- “사각형 ㄱㄴㄷㄹ에서 변 ㄱㄹ과 변 ㄴㄷ을 모눈의 선을 따라 늘여 보면 만날까?”
- “변 ㄱㄴ과 변 ㄷㄹ은 어때? 늘이면 만나지?”
- “이렇게 평행한 변이 한 쌍이라도 있는 사각형을 ‘사다리꼴’이라고 해.”
예상 답
- “ㄱㄹ과 ㄴㄷ은 둘 다 가로라서 안 만나요. 평행해요.”
- “ㄱㄴ과 ㄷㄹ은 위로 갈수록 만나요.”
막히면
- 연필 두 자루를 변 ㄱㄹ과 변 ㄴㄷ 위에 대고 길게 밀어 보며 만나지 않는 것을 확인합니다.
주의
- ‘한 쌍이라도’는 ‘한 쌍 이상’이라는 뜻입니다. 평행한 변이 두 쌍이어도 사다리꼴입니다(S08에서 다룹니다).
- 주황색 굵은 선은 평행한 변을 보여 주려고 칠한 것입니다. 공책에는 같은 색 색연필로 덧그리게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평행사변형의 뜻과 변의 길이]
목적: 마주 보는 두 쌍의 변이 서로 평행한 사각형을 평행사변형이라고 하고, 평행사변형은 마주 보는 두 변의 길이가 같다는 것을 압니다.
시간: 약 3분
이렇게 말해 보세요
- “이번 사각형에서는 평행한 변이 몇 쌍일까? 주황색 한 쌍, 파란색 한 쌍을 찾아봐.”
- “마주 보는 두 쌍의 변이 서로 평행한 사각형을 ‘평행사변형’이라고 해. 변 ㄱㄹ과 변 ㄴㄷ은 몇 칸씩이야?”
예상 답
- “두 쌍이에요.”
- “둘 다 4칸이에요. 길이가 같아요.”
막히면
- 모눈 칸을 세어 변 ㄱㄹ과 변 ㄴㄷ이 모두 4칸인 것을 확인합니다. 비스듬한 두 변은 모두 ‘옆으로 1칸, 위로 3칸’ 가는 것을 손가락으로 따라가 봅니다.
주의
- 평행사변형은 평행한 변이 있으므로 사다리꼴이기도 합니다. 이 관계는 S07~S08에서 정리합니다.
- 평행사변형의 각의 성질(마주 보는 각의 크기가 같음 등)은 이 차시에서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마름모의 뜻]
목적: 네 변의 길이가 모두 같은 사각형을 마름모라고 하고, 마름모는 마주 보는 두 쌍의 변이 평행하다는 것을 압니다.
시간: 약 3분
이렇게 말해 보세요
- “네 변에 모두 같은 표시가 있지? 네 변의 길이가 어때?”
- “네 변의 길이가 모두 같은 사각형을 ‘마름모’라고 해. 마름모에서 평행한 변을 찾아볼까?”
예상 답
- “모두 같아요.”
- “주황색끼리, 파란색끼리 평행해요. 두 쌍이에요.”
막히면
- 모눈에서 네 변이 모두 ‘옆으로 4칸, 위나 아래로 3칸’ 가는 것을 손가락으로 따라가 봅니다. 길이가 같다는 것을 종이 띠를 대어 확인해도 좋습니다.
주의
- 마름모의 뜻은 ‘네 변의 길이가 같다’입니다. 세워 놓은 모양은 뜻이 아닙니다. 눕혀 놓아도, 정사각형처럼 각이 직각이어도 네 변이 같으면 마름모입니다(M1, S09).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연습(평행한 변의 쌍과 변의 길이로 이름 붙이기)]
목적: 도움을 받으며 모눈 위 사각형에서 평행한 변이 몇 쌍인지, 네 변의 길이가 같은지 보고 이름을 붙입니다.
시간: 약 3분
이렇게 말해 보세요
- “하나씩 보자. 평행한 변은 몇 쌍이야? 같은 길이 표시는 어디에 있어? 그러면 이름은 뭘까?”
정답
- ① 평행 1쌍 → 사다리꼴
- ② 평행 2쌍 → 평행사변형(사다리꼴이기도 함)
- ③ 평행 2쌍, 네 변이 같음 → 마름모(평행사변형, 사다리꼴이기도 함)
- ④ 평행한 변이 없음 → 사다리꼴도 평행사변형도 아닌 그냥 사각형
막히면
- 모눈의 선을 따라 변을 늘여 보거나, 각 변이 ‘옆으로 몇 칸, 위로 몇 칸’ 가는지 세어 같은 방향인지 봅니다.
- S03~S05의 뜻 카드를 다시 보여 줍니다.
주의
- 지금은 가장 알맞은 이름 하나를 말해도 됩니다. 이름을 여러 개 말하면 칭찬하고, S07에서 정리합니다.
- ③을 ‘기울어서 마름모가 아니다’라고 하면 마름모의 뜻(네 변의 길이가 같음)을 다시 읽게 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다섯 사각형의 성질 정리]
목적: 다섯 가지 사각형이 언제나 갖는 성질을 표로 정리하고, 아래로 갈수록 성질이 늘어난다는 것을 봅니다.
시간: 약 3분
이렇게 말해 보세요
- “표에서 사다리꼴은 ○가 하나, 정사각형은 ○가 넷이야. 아래로 갈수록 어떻게 돼?”
- “직사각형은 평행한 변이 두 쌍이지? 그러면 평행사변형의 뜻에 맞을까?”
예상 답
- “아래로 갈수록 ○가 많아져요.”
- “네, 직사각형도 마주 보는 두 쌍의 변이 평행하니까 평행사변형이에요.”
막히면
- 모눈종이에 직사각형을 그리고 마주 보는 변을 색연필로 칠해 평행한 쌍을 찾아봅니다.
주의
- ○는 ‘그 사각형이면 언제나 그렇다’는 뜻입니다. 빈칸은 ‘그럴 때도 있고 아닐 때도 있다’는 뜻이지 ‘절대 아니다’가 아닙니다(예: 네 변이 같은 직사각형 = 정사각형).
- 평행한 변이 두 쌍이면 한 쌍 이상이라는 조건도 맞으므로 평행사변형은 언제나 사다리꼴입니다.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한 사각형의 이름 모두 찾기(정사각형)]
목적: 정사각형이 다섯 사각형의 뜻에 모두 맞는다는 것을 하나씩 따져, 한 사각형이 여러 이름을 가질 수 있다는 것을 압니다.
시간: 약 3분
이렇게 말해 보세요
- “표지에서 본 정사각형이야. 사다리꼴의 뜻은 ‘평행한 변이 한 쌍이라도 있는 사각형’이었지? 정사각형은 맞아?”
- “평행사변형, 마름모, 직사각형의 뜻에도 하나씩 맞춰 보자. 이름이 모두 몇 개야?”
예상 답
- “다 맞아요. 이름이 5개예요.”
막히면
- S07 표의 정사각형 줄을 손가락으로 짚으며 ○를 하나씩 읽습니다.
주의
- 뜻 하나에 맞으면 그 이름을 쓸 수 있습니다. 가장 자세한 이름은 정사각형이지만, 나머지 이름도 모두 맞는 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비교(정사각형은 마름모가 아니다)]
목적: 마름모를 ‘세워 놓은 뾰족한 모양’으로만 생각하는 오개념을 뜻으로 바로잡습니다(M1).
시간: 약 3분
이렇게 말해 보세요
- “토끼와 곰의 생각이 달라. 마름모의 뜻이 뭐였지? 그 뜻에 정사각형이 맞는지 따져 볼까?”
예상 답
- “곰이요. 마름모는 네 변의 길이가 같은 사각형인데 정사각형도 네 변이 같아요.”
정답
- 곰이 맞습니다. 정사각형은 네 변의 길이가 모두 같으므로 마름모입니다.
- 토끼는 모양(세워 놓은 모습)으로 판단했습니다. 정사각형을 45°쯤 돌려 놓으면 뾰족하게 선 모양이 되지만 도형은 그대로입니다.
막히면
- 종이로 정사각형을 오려 꼭짓점이 위로 오게 돌려 보여 줍니다. “돌렸더니 무슨 모양 같아? 변의 길이는 바뀌었어?”
주의
- 반대로 ‘마름모는 정사각형이다’는 언제나 맞지는 않습니다. 네 각이 직각이 아닌 마름모가 있기 때문입니다(S10 ②).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연습(사각형 사이의 관계 판단)]
목적: 도움을 받으며 사각형 사이의 관계를 뜻으로 따져 판단하고 까닭을 말합니다.
시간: 약 3분
이렇게 말해 보세요
- “①부터 보자. 평행사변형이 사다리꼴의 뜻에 맞아? 왜?”
- “②는 마름모가 언제나 정사각형일까? 정사각형이 아닌 마름모를 떠올릴 수 있어?”
정답
- ① ○ 평행한 변이 두 쌍이니 한 쌍 이상이라는 사다리꼴의 뜻에 맞습니다.
- ② × 마름모는 네 각이 직각이 아닐 수 있습니다(S05의 마름모).
- ③ ○ 직사각형은 마주 보는 두 쌍의 변이 평행합니다.
- ④ × 평행한 변이 한 쌍뿐인 사다리꼴도 있습니다(S03의 사다리꼴).
막히면
- S07 표를 다시 보여 주고 “앞 사각형의 ○가 뒤 사각형의 ○를 모두 가졌어?”라고 묻습니다.
- ×인 것은 S03·S05의 그림을 반례로 보여 줍니다.
주의
- 까닭을 말하지 못하고 ○×만 맞히면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모눈 위 사각형의 이름을 모두 말하고, 조건에 맞는 사각형의 이름을 찾는지 봅니다.
시간: 약 5분
이렇게 말해 보세요
- “이번에는 혼자 해 볼래? ①~③은 붙일 수 있는 이름을 모두 말해 줘. 왜 그 이름인지도.”
- “④는 그림이 없어. 뜻을 떠올려 봐.”
정답
- ① 사다리꼴, 평행사변형
- ② 사다리꼴, 평행사변형, 직사각형
- ③ 사다리꼴
- ④ 정사각형(마름모, 직사각형, 평행사변형, 사다리꼴이라고 해도 맞음)
막히면
- 바로 알려 주지 말고 “평행한 변은 몇 쌍이야? 같은 표시는?”이라고만 묻습니다.
- 도움을 받아 해결했다면 기록표에 ‘도움’으로 표시합니다.
주의
- ①과 ②에서 이름을 하나만 말하면 “다른 이름은 없을까?”라고 한 번 더 묻습니다. 그래도 하나만 말하면 기록표에 ‘이름 하나만’으로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빠진 이름이 있으면 그 뜻에 맞는지 같이 따져 보자.”
정답
- ① 사다리꼴, 평행사변형 ② 사다리꼴, 평행사변형, 직사각형 ③ 사다리꼴 ④ 정사각형(다른 이름도 맞음)
막히면
- 이름을 빠뜨렸으면 S07·S08로, 평행한 변을 못 찾았으면 S03~S04로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확인(마름모 모두 찾기)]
목적: 처음 보는 그림에서 마름모의 뜻으로 마름모를 모두 고르고, 정사각형도 마름모라는 것을 말하는지 확인합니다.
시간: 약 2분
이렇게 말해 보세요
- “마름모를 모두 찾아볼까? 어떻게 알았어? 가도 마름모일까?”
정답
- 가, 나. 네 변의 길이가 모두 같습니다(같은 표시가 네 변 모두에 있음). 가는 정사각형이면서 마름모입니다.
- 다와 라는 마주 보는 변끼리만 길이가 같아서 마름모가 아닙니다(다는 직사각형, 라는 평행사변형).
막히면
- 보기마다 같은 길이 표시가 몇 개의 변에 있는지 세게 합니다.
주의
- 나만 고르면 오개념(M1)이 남아 있습니다. S09로 돌아가 정사각형을 돌려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“사다리꼴, 평행사변형, 마름모의 뜻을 말해 볼래? 정사각형은 이름이 몇 개였지?”
예상 답
- “평행한 변이 한 쌍이라도 있으면 사다리꼴, 두 쌍이면 평행사변형, 네 변이 같으면 마름모예요.” “다섯 개요.”
정답
- ① 평행한 변이 한 쌍이라도 있는 사각형 ② 네 변의 길이가 모두 같은 사각형 ③ 네, 마주 보는 두 쌍의 변이 평행하기 때문입니다.
막히면
- S07 표를 다시 보여 줍니다.
주의
- 다음 차시(다각형과 대각선)에서는 사각형을 넘어 오각형, 육각형 같은 다각형과 대각선을 배웁니다.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보충(수직과 평행)]
목적: S02에서 수직과 평행이 흔들리면, 오늘 내용 전에 두 낱말의 뜻을 다시 익힙니다.
시간: 약 5분
이렇게 말해 보세요
- “세로 직선과 가로 직선이 만나는 곳에 직각 표시가 있지? 이렇게 만나서 직각을 이루면 ‘수직’이야.”
- “한 직선에 수직인 두 직선(주황색)을 끝까지 늘이면 만날까? 서로 만나지 않는 두 직선을 ‘평행하다’고 해.”
정답
- 세로 직선은 두 가로 직선과 수직입니다. 두 가로 직선(주황색)은 서로 평행합니다.
막히면
- 공책 줄(가로줄)이 서로 평행하다는 것을 보여 주고, 책상 모서리 두 개가 만나는 곳에 삼각자의 직각을 대어 수직을 찾아봅니다.
주의
- 보충으로도 어려우면 초4 ‘수직과 평행’을 먼저 다시 합니다. 직각이 헷갈리면 초3 ‘직각과 직사각형·정사각형’(KR22-G03-MAT-RIGHT-L01)부터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여러 가지 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여러 가지 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여러 가지 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사각형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사각형의 이름은 몇 개일까?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823960" y="128016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645920" y="1645920"/>
                </a:lnTo>
                <a:lnTo>
                  <a:pt x="1645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1-mark3"/>
          <p:cNvSpPr/>
          <p:nvPr/>
        </p:nvSpPr>
        <p:spPr>
          <a:xfrm flipV="1">
            <a:off x="827532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V="1">
            <a:off x="882396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937260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992124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1046988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1101852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275320" y="347472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275320" y="292608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275320" y="237744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275320" y="182880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8275320" y="128016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8275320" y="73152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1-figure15" descr="모눈 위의 정사각형: 네 변에 같은 길이 표시, 네 각에 직각 표시"/>
          <p:cNvSpPr/>
          <p:nvPr/>
        </p:nvSpPr>
        <p:spPr>
          <a:xfrm>
            <a:off x="8823960" y="128016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645920" y="1645920"/>
                </a:lnTo>
                <a:lnTo>
                  <a:pt x="164592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8823960" y="26974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10241280" y="26974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10241280" y="12801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8823960" y="12801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 flipV="1">
            <a:off x="9646920" y="283464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 flipH="1">
            <a:off x="10378440" y="210312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9646920" y="11887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>
            <a:off x="8732520" y="210312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1-card2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8" name="S01-cardtext2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평행한 변과 변의 길이로 사각형의 이름을 붙여요.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사각형에 이름이 여러 개인 까닭을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직선은 평행한가요, 수직인가요?</a:t>
            </a:r>
            <a:endParaRPr lang="ko-KR" sz="3000" dirty="0"/>
          </a:p>
        </p:txBody>
      </p:sp>
      <p:sp>
        <p:nvSpPr>
          <p:cNvPr id="4" name="S02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평행, 수직, 둘 다 아님 중에서 골라 말해요.</a:t>
            </a:r>
            <a:endParaRPr lang="ko-KR" sz="3000" dirty="0"/>
          </a:p>
        </p:txBody>
      </p:sp>
      <p:sp>
        <p:nvSpPr>
          <p:cNvPr id="6" name="S02-chip2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2-mark30"/>
          <p:cNvSpPr/>
          <p:nvPr/>
        </p:nvSpPr>
        <p:spPr>
          <a:xfrm flipV="1">
            <a:off x="1164336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31"/>
          <p:cNvSpPr/>
          <p:nvPr/>
        </p:nvSpPr>
        <p:spPr>
          <a:xfrm flipV="1">
            <a:off x="1442085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32"/>
          <p:cNvSpPr/>
          <p:nvPr/>
        </p:nvSpPr>
        <p:spPr>
          <a:xfrm flipV="1">
            <a:off x="1719834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33"/>
          <p:cNvSpPr/>
          <p:nvPr/>
        </p:nvSpPr>
        <p:spPr>
          <a:xfrm flipV="1">
            <a:off x="1997583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34"/>
          <p:cNvSpPr/>
          <p:nvPr/>
        </p:nvSpPr>
        <p:spPr>
          <a:xfrm flipV="1">
            <a:off x="2275332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35"/>
          <p:cNvSpPr/>
          <p:nvPr/>
        </p:nvSpPr>
        <p:spPr>
          <a:xfrm flipV="1">
            <a:off x="2553081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36"/>
          <p:cNvSpPr/>
          <p:nvPr/>
        </p:nvSpPr>
        <p:spPr>
          <a:xfrm flipV="1">
            <a:off x="283083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37"/>
          <p:cNvSpPr/>
          <p:nvPr/>
        </p:nvSpPr>
        <p:spPr>
          <a:xfrm flipV="1">
            <a:off x="3108579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38"/>
          <p:cNvSpPr/>
          <p:nvPr/>
        </p:nvSpPr>
        <p:spPr>
          <a:xfrm flipV="1">
            <a:off x="3386328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39"/>
          <p:cNvSpPr/>
          <p:nvPr/>
        </p:nvSpPr>
        <p:spPr>
          <a:xfrm>
            <a:off x="1164336" y="5029200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40"/>
          <p:cNvSpPr/>
          <p:nvPr/>
        </p:nvSpPr>
        <p:spPr>
          <a:xfrm>
            <a:off x="1164336" y="4751451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41"/>
          <p:cNvSpPr/>
          <p:nvPr/>
        </p:nvSpPr>
        <p:spPr>
          <a:xfrm>
            <a:off x="1164336" y="4473702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42"/>
          <p:cNvSpPr/>
          <p:nvPr/>
        </p:nvSpPr>
        <p:spPr>
          <a:xfrm>
            <a:off x="1164336" y="4195953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43"/>
          <p:cNvSpPr/>
          <p:nvPr/>
        </p:nvSpPr>
        <p:spPr>
          <a:xfrm>
            <a:off x="1164336" y="3918204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44"/>
          <p:cNvSpPr/>
          <p:nvPr/>
        </p:nvSpPr>
        <p:spPr>
          <a:xfrm>
            <a:off x="1164336" y="3640455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mark45"/>
          <p:cNvSpPr/>
          <p:nvPr/>
        </p:nvSpPr>
        <p:spPr>
          <a:xfrm>
            <a:off x="1164336" y="3362706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2-mark46"/>
          <p:cNvSpPr/>
          <p:nvPr/>
        </p:nvSpPr>
        <p:spPr>
          <a:xfrm>
            <a:off x="1164336" y="3084957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2-mark47"/>
          <p:cNvSpPr/>
          <p:nvPr/>
        </p:nvSpPr>
        <p:spPr>
          <a:xfrm>
            <a:off x="1164336" y="2807208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2-figure48" descr="모눈 위의 두 직선: 같은 방향으로 기울어 만나지 않음"/>
          <p:cNvSpPr/>
          <p:nvPr/>
        </p:nvSpPr>
        <p:spPr>
          <a:xfrm flipV="1">
            <a:off x="1570778" y="3843676"/>
            <a:ext cx="1409108" cy="70455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2-mark49"/>
          <p:cNvSpPr/>
          <p:nvPr/>
        </p:nvSpPr>
        <p:spPr>
          <a:xfrm flipV="1">
            <a:off x="1570778" y="3288178"/>
            <a:ext cx="1409108" cy="70455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2-chip5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8" name="S02-mark51"/>
          <p:cNvSpPr/>
          <p:nvPr/>
        </p:nvSpPr>
        <p:spPr>
          <a:xfrm flipV="1">
            <a:off x="498348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2-mark52"/>
          <p:cNvSpPr/>
          <p:nvPr/>
        </p:nvSpPr>
        <p:spPr>
          <a:xfrm flipV="1">
            <a:off x="5261229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2-mark53"/>
          <p:cNvSpPr/>
          <p:nvPr/>
        </p:nvSpPr>
        <p:spPr>
          <a:xfrm flipV="1">
            <a:off x="5538978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2-mark54"/>
          <p:cNvSpPr/>
          <p:nvPr/>
        </p:nvSpPr>
        <p:spPr>
          <a:xfrm flipV="1">
            <a:off x="5816727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2-mark55"/>
          <p:cNvSpPr/>
          <p:nvPr/>
        </p:nvSpPr>
        <p:spPr>
          <a:xfrm flipV="1">
            <a:off x="6094476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2-mark56"/>
          <p:cNvSpPr/>
          <p:nvPr/>
        </p:nvSpPr>
        <p:spPr>
          <a:xfrm flipV="1">
            <a:off x="6372225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2-mark57"/>
          <p:cNvSpPr/>
          <p:nvPr/>
        </p:nvSpPr>
        <p:spPr>
          <a:xfrm flipV="1">
            <a:off x="6649974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2-mark58"/>
          <p:cNvSpPr/>
          <p:nvPr/>
        </p:nvSpPr>
        <p:spPr>
          <a:xfrm flipV="1">
            <a:off x="6927723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2-mark59"/>
          <p:cNvSpPr/>
          <p:nvPr/>
        </p:nvSpPr>
        <p:spPr>
          <a:xfrm flipV="1">
            <a:off x="7205472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2-mark60"/>
          <p:cNvSpPr/>
          <p:nvPr/>
        </p:nvSpPr>
        <p:spPr>
          <a:xfrm>
            <a:off x="4983480" y="5029200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2-mark61"/>
          <p:cNvSpPr/>
          <p:nvPr/>
        </p:nvSpPr>
        <p:spPr>
          <a:xfrm>
            <a:off x="4983480" y="4751451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2-mark62"/>
          <p:cNvSpPr/>
          <p:nvPr/>
        </p:nvSpPr>
        <p:spPr>
          <a:xfrm>
            <a:off x="4983480" y="4473702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2-mark63"/>
          <p:cNvSpPr/>
          <p:nvPr/>
        </p:nvSpPr>
        <p:spPr>
          <a:xfrm>
            <a:off x="4983480" y="4195953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2-mark64"/>
          <p:cNvSpPr/>
          <p:nvPr/>
        </p:nvSpPr>
        <p:spPr>
          <a:xfrm>
            <a:off x="4983480" y="3918204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2-mark65"/>
          <p:cNvSpPr/>
          <p:nvPr/>
        </p:nvSpPr>
        <p:spPr>
          <a:xfrm>
            <a:off x="4983480" y="3640455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2-mark66"/>
          <p:cNvSpPr/>
          <p:nvPr/>
        </p:nvSpPr>
        <p:spPr>
          <a:xfrm>
            <a:off x="4983480" y="3362706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2-mark67"/>
          <p:cNvSpPr/>
          <p:nvPr/>
        </p:nvSpPr>
        <p:spPr>
          <a:xfrm>
            <a:off x="4983480" y="3084957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2-mark68"/>
          <p:cNvSpPr/>
          <p:nvPr/>
        </p:nvSpPr>
        <p:spPr>
          <a:xfrm>
            <a:off x="4983480" y="2807208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2-figure69" descr="모눈 위의 두 직선: 가로선과 세로선이 만남"/>
          <p:cNvSpPr/>
          <p:nvPr/>
        </p:nvSpPr>
        <p:spPr>
          <a:xfrm>
            <a:off x="5372329" y="3918204"/>
            <a:ext cx="14442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7" name="S02-mark70"/>
          <p:cNvSpPr/>
          <p:nvPr/>
        </p:nvSpPr>
        <p:spPr>
          <a:xfrm flipV="1">
            <a:off x="6094476" y="3196057"/>
            <a:ext cx="0" cy="144429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8" name="S02-chip7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9" name="S02-mark72"/>
          <p:cNvSpPr/>
          <p:nvPr/>
        </p:nvSpPr>
        <p:spPr>
          <a:xfrm flipV="1">
            <a:off x="864391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2-mark73"/>
          <p:cNvSpPr/>
          <p:nvPr/>
        </p:nvSpPr>
        <p:spPr>
          <a:xfrm flipV="1">
            <a:off x="8961338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2-mark74"/>
          <p:cNvSpPr/>
          <p:nvPr/>
        </p:nvSpPr>
        <p:spPr>
          <a:xfrm flipV="1">
            <a:off x="9278765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02-mark75"/>
          <p:cNvSpPr/>
          <p:nvPr/>
        </p:nvSpPr>
        <p:spPr>
          <a:xfrm flipV="1">
            <a:off x="9596193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02-mark76"/>
          <p:cNvSpPr/>
          <p:nvPr/>
        </p:nvSpPr>
        <p:spPr>
          <a:xfrm flipV="1">
            <a:off x="991362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02-mark77"/>
          <p:cNvSpPr/>
          <p:nvPr/>
        </p:nvSpPr>
        <p:spPr>
          <a:xfrm flipV="1">
            <a:off x="10231047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02-mark78"/>
          <p:cNvSpPr/>
          <p:nvPr/>
        </p:nvSpPr>
        <p:spPr>
          <a:xfrm flipV="1">
            <a:off x="10548475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02-mark79"/>
          <p:cNvSpPr/>
          <p:nvPr/>
        </p:nvSpPr>
        <p:spPr>
          <a:xfrm flipV="1">
            <a:off x="10865902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02-mark80"/>
          <p:cNvSpPr/>
          <p:nvPr/>
        </p:nvSpPr>
        <p:spPr>
          <a:xfrm flipV="1">
            <a:off x="1118333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02-mark81"/>
          <p:cNvSpPr/>
          <p:nvPr/>
        </p:nvSpPr>
        <p:spPr>
          <a:xfrm>
            <a:off x="8643910" y="5029200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02-mark82"/>
          <p:cNvSpPr/>
          <p:nvPr/>
        </p:nvSpPr>
        <p:spPr>
          <a:xfrm>
            <a:off x="8643910" y="4711773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02-mark83"/>
          <p:cNvSpPr/>
          <p:nvPr/>
        </p:nvSpPr>
        <p:spPr>
          <a:xfrm>
            <a:off x="8643910" y="4394345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02-mark84"/>
          <p:cNvSpPr/>
          <p:nvPr/>
        </p:nvSpPr>
        <p:spPr>
          <a:xfrm>
            <a:off x="8643910" y="4076918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02-mark85"/>
          <p:cNvSpPr/>
          <p:nvPr/>
        </p:nvSpPr>
        <p:spPr>
          <a:xfrm>
            <a:off x="8643910" y="3759490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02-mark86"/>
          <p:cNvSpPr/>
          <p:nvPr/>
        </p:nvSpPr>
        <p:spPr>
          <a:xfrm>
            <a:off x="8643910" y="3442063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02-mark87"/>
          <p:cNvSpPr/>
          <p:nvPr/>
        </p:nvSpPr>
        <p:spPr>
          <a:xfrm>
            <a:off x="8643910" y="3124635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02-mark88"/>
          <p:cNvSpPr/>
          <p:nvPr/>
        </p:nvSpPr>
        <p:spPr>
          <a:xfrm>
            <a:off x="8643910" y="2807208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02-figure89" descr="모눈 위의 두 직선: 비스듬히 만남"/>
          <p:cNvSpPr/>
          <p:nvPr/>
        </p:nvSpPr>
        <p:spPr>
          <a:xfrm flipV="1">
            <a:off x="9126400" y="3327789"/>
            <a:ext cx="1574440" cy="118083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7" name="S02-mark90"/>
          <p:cNvSpPr/>
          <p:nvPr/>
        </p:nvSpPr>
        <p:spPr>
          <a:xfrm>
            <a:off x="9108416" y="3356888"/>
            <a:ext cx="1610409" cy="80520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</a:t>
            </a:r>
            <a:endParaRPr lang="ko-KR" sz="4000" dirty="0"/>
          </a:p>
        </p:txBody>
      </p:sp>
      <p:sp>
        <p:nvSpPr>
          <p:cNvPr id="3" name="S03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변을 찾아봐요.</a:t>
            </a:r>
            <a:endParaRPr lang="ko-KR" sz="3000" dirty="0"/>
          </a:p>
        </p:txBody>
      </p:sp>
      <p:sp>
        <p:nvSpPr>
          <p:cNvPr id="4" name="S03-mark92"/>
          <p:cNvSpPr/>
          <p:nvPr/>
        </p:nvSpPr>
        <p:spPr>
          <a:xfrm>
            <a:off x="1576034" y="3122349"/>
            <a:ext cx="3308169" cy="1984901"/>
          </a:xfrm>
          <a:custGeom>
            <a:avLst/>
            <a:gdLst/>
            <a:ahLst/>
            <a:cxnLst/>
            <a:rect l="l" t="t" r="r" b="b"/>
            <a:pathLst>
              <a:path w="3308169" h="1984901">
                <a:moveTo>
                  <a:pt x="661634" y="0"/>
                </a:moveTo>
                <a:lnTo>
                  <a:pt x="0" y="1984901"/>
                </a:lnTo>
                <a:lnTo>
                  <a:pt x="3308169" y="1984901"/>
                </a:lnTo>
                <a:lnTo>
                  <a:pt x="1984901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3-mark93"/>
          <p:cNvSpPr/>
          <p:nvPr/>
        </p:nvSpPr>
        <p:spPr>
          <a:xfrm flipV="1">
            <a:off x="914400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3-mark94"/>
          <p:cNvSpPr/>
          <p:nvPr/>
        </p:nvSpPr>
        <p:spPr>
          <a:xfrm flipV="1">
            <a:off x="1576034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3-mark95"/>
          <p:cNvSpPr/>
          <p:nvPr/>
        </p:nvSpPr>
        <p:spPr>
          <a:xfrm flipV="1">
            <a:off x="2237667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3-mark96"/>
          <p:cNvSpPr/>
          <p:nvPr/>
        </p:nvSpPr>
        <p:spPr>
          <a:xfrm flipV="1">
            <a:off x="2899301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3-mark97"/>
          <p:cNvSpPr/>
          <p:nvPr/>
        </p:nvSpPr>
        <p:spPr>
          <a:xfrm flipV="1">
            <a:off x="3560935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98"/>
          <p:cNvSpPr/>
          <p:nvPr/>
        </p:nvSpPr>
        <p:spPr>
          <a:xfrm flipV="1">
            <a:off x="4222569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99"/>
          <p:cNvSpPr/>
          <p:nvPr/>
        </p:nvSpPr>
        <p:spPr>
          <a:xfrm flipV="1">
            <a:off x="4884202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100"/>
          <p:cNvSpPr/>
          <p:nvPr/>
        </p:nvSpPr>
        <p:spPr>
          <a:xfrm flipV="1">
            <a:off x="5545836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101"/>
          <p:cNvSpPr/>
          <p:nvPr/>
        </p:nvSpPr>
        <p:spPr>
          <a:xfrm>
            <a:off x="914400" y="5768884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102"/>
          <p:cNvSpPr/>
          <p:nvPr/>
        </p:nvSpPr>
        <p:spPr>
          <a:xfrm>
            <a:off x="914400" y="5107251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103"/>
          <p:cNvSpPr/>
          <p:nvPr/>
        </p:nvSpPr>
        <p:spPr>
          <a:xfrm>
            <a:off x="914400" y="4445617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104"/>
          <p:cNvSpPr/>
          <p:nvPr/>
        </p:nvSpPr>
        <p:spPr>
          <a:xfrm>
            <a:off x="914400" y="3783983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105"/>
          <p:cNvSpPr/>
          <p:nvPr/>
        </p:nvSpPr>
        <p:spPr>
          <a:xfrm>
            <a:off x="914400" y="3122349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106"/>
          <p:cNvSpPr/>
          <p:nvPr/>
        </p:nvSpPr>
        <p:spPr>
          <a:xfrm>
            <a:off x="914400" y="2460716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figure107" descr="모눈 위의 사각형 ㄱㄴㄷㄹ: 변 ㄱㄹ과 변 ㄴㄷ이 평행(주황색 굵은 선), 변 ㄱㄴ과 변 ㄷㄹ은 평행하지 않음"/>
          <p:cNvSpPr/>
          <p:nvPr/>
        </p:nvSpPr>
        <p:spPr>
          <a:xfrm>
            <a:off x="1576034" y="3122349"/>
            <a:ext cx="3308169" cy="1984901"/>
          </a:xfrm>
          <a:custGeom>
            <a:avLst/>
            <a:gdLst/>
            <a:ahLst/>
            <a:cxnLst/>
            <a:rect l="l" t="t" r="r" b="b"/>
            <a:pathLst>
              <a:path w="3308169" h="1984901">
                <a:moveTo>
                  <a:pt x="661634" y="0"/>
                </a:moveTo>
                <a:lnTo>
                  <a:pt x="0" y="1984901"/>
                </a:lnTo>
                <a:lnTo>
                  <a:pt x="3308169" y="1984901"/>
                </a:lnTo>
                <a:lnTo>
                  <a:pt x="198490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3-mark108"/>
          <p:cNvSpPr/>
          <p:nvPr/>
        </p:nvSpPr>
        <p:spPr>
          <a:xfrm flipH="1">
            <a:off x="2237667" y="3122349"/>
            <a:ext cx="1323267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1" name="S03-mark109"/>
          <p:cNvSpPr/>
          <p:nvPr/>
        </p:nvSpPr>
        <p:spPr>
          <a:xfrm>
            <a:off x="1576034" y="5107251"/>
            <a:ext cx="3308169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2" name="S03-label111"/>
          <p:cNvSpPr txBox="1"/>
          <p:nvPr/>
        </p:nvSpPr>
        <p:spPr>
          <a:xfrm>
            <a:off x="1771227" y="274865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23" name="S03-label113"/>
          <p:cNvSpPr txBox="1"/>
          <p:nvPr/>
        </p:nvSpPr>
        <p:spPr>
          <a:xfrm>
            <a:off x="1096387" y="494567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24" name="S03-label115"/>
          <p:cNvSpPr txBox="1"/>
          <p:nvPr/>
        </p:nvSpPr>
        <p:spPr>
          <a:xfrm>
            <a:off x="4862055" y="492876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25" name="S03-label117"/>
          <p:cNvSpPr txBox="1"/>
          <p:nvPr/>
        </p:nvSpPr>
        <p:spPr>
          <a:xfrm>
            <a:off x="3518258" y="2746692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26" name="S03-card118"/>
          <p:cNvSpPr/>
          <p:nvPr/>
        </p:nvSpPr>
        <p:spPr>
          <a:xfrm>
            <a:off x="6277356" y="256413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3-cardtext119"/>
          <p:cNvSpPr txBox="1"/>
          <p:nvPr/>
        </p:nvSpPr>
        <p:spPr>
          <a:xfrm>
            <a:off x="6551676" y="270129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변이 한 쌍이라도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사각형</a:t>
            </a:r>
            <a:endParaRPr lang="ko-KR" sz="3000" dirty="0"/>
          </a:p>
        </p:txBody>
      </p:sp>
      <p:sp>
        <p:nvSpPr>
          <p:cNvPr id="28" name="S03-card120"/>
          <p:cNvSpPr/>
          <p:nvPr/>
        </p:nvSpPr>
        <p:spPr>
          <a:xfrm>
            <a:off x="6277356" y="440664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03-cardtext121"/>
          <p:cNvSpPr txBox="1"/>
          <p:nvPr/>
        </p:nvSpPr>
        <p:spPr>
          <a:xfrm>
            <a:off x="6551676" y="454380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ㄱㄹ과 변 ㄴㄷ이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4000" dirty="0"/>
          </a:p>
        </p:txBody>
      </p:sp>
      <p:sp>
        <p:nvSpPr>
          <p:cNvPr id="3" name="S04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변은 몇 쌍일까요?</a:t>
            </a:r>
            <a:endParaRPr lang="ko-KR" sz="3000" dirty="0"/>
          </a:p>
        </p:txBody>
      </p:sp>
      <p:sp>
        <p:nvSpPr>
          <p:cNvPr id="4" name="S04-mark123"/>
          <p:cNvSpPr/>
          <p:nvPr/>
        </p:nvSpPr>
        <p:spPr>
          <a:xfrm>
            <a:off x="1576034" y="3122349"/>
            <a:ext cx="3308169" cy="1984901"/>
          </a:xfrm>
          <a:custGeom>
            <a:avLst/>
            <a:gdLst/>
            <a:ahLst/>
            <a:cxnLst/>
            <a:rect l="l" t="t" r="r" b="b"/>
            <a:pathLst>
              <a:path w="3308169" h="1984901">
                <a:moveTo>
                  <a:pt x="661634" y="0"/>
                </a:moveTo>
                <a:lnTo>
                  <a:pt x="0" y="1984901"/>
                </a:lnTo>
                <a:lnTo>
                  <a:pt x="2646535" y="1984901"/>
                </a:lnTo>
                <a:lnTo>
                  <a:pt x="3308169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4-mark124"/>
          <p:cNvSpPr/>
          <p:nvPr/>
        </p:nvSpPr>
        <p:spPr>
          <a:xfrm flipV="1">
            <a:off x="914400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4-mark125"/>
          <p:cNvSpPr/>
          <p:nvPr/>
        </p:nvSpPr>
        <p:spPr>
          <a:xfrm flipV="1">
            <a:off x="1576034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4-mark126"/>
          <p:cNvSpPr/>
          <p:nvPr/>
        </p:nvSpPr>
        <p:spPr>
          <a:xfrm flipV="1">
            <a:off x="2237667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4-mark127"/>
          <p:cNvSpPr/>
          <p:nvPr/>
        </p:nvSpPr>
        <p:spPr>
          <a:xfrm flipV="1">
            <a:off x="2899301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128"/>
          <p:cNvSpPr/>
          <p:nvPr/>
        </p:nvSpPr>
        <p:spPr>
          <a:xfrm flipV="1">
            <a:off x="3560935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129"/>
          <p:cNvSpPr/>
          <p:nvPr/>
        </p:nvSpPr>
        <p:spPr>
          <a:xfrm flipV="1">
            <a:off x="4222569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130"/>
          <p:cNvSpPr/>
          <p:nvPr/>
        </p:nvSpPr>
        <p:spPr>
          <a:xfrm flipV="1">
            <a:off x="4884202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131"/>
          <p:cNvSpPr/>
          <p:nvPr/>
        </p:nvSpPr>
        <p:spPr>
          <a:xfrm flipV="1">
            <a:off x="5545836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132"/>
          <p:cNvSpPr/>
          <p:nvPr/>
        </p:nvSpPr>
        <p:spPr>
          <a:xfrm>
            <a:off x="914400" y="5768884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133"/>
          <p:cNvSpPr/>
          <p:nvPr/>
        </p:nvSpPr>
        <p:spPr>
          <a:xfrm>
            <a:off x="914400" y="5107251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134"/>
          <p:cNvSpPr/>
          <p:nvPr/>
        </p:nvSpPr>
        <p:spPr>
          <a:xfrm>
            <a:off x="914400" y="4445617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135"/>
          <p:cNvSpPr/>
          <p:nvPr/>
        </p:nvSpPr>
        <p:spPr>
          <a:xfrm>
            <a:off x="914400" y="3783983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136"/>
          <p:cNvSpPr/>
          <p:nvPr/>
        </p:nvSpPr>
        <p:spPr>
          <a:xfrm>
            <a:off x="914400" y="3122349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137"/>
          <p:cNvSpPr/>
          <p:nvPr/>
        </p:nvSpPr>
        <p:spPr>
          <a:xfrm>
            <a:off x="914400" y="2460716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figure138" descr="모눈 위의 평행사변형 ㄱㄴㄷㄹ: 변 ㄱㄹ과 변 ㄴㄷ이 평행(주황색), 변 ㄱㄴ과 변 ㄷㄹ이 평행(파란색), 마주 보는 변에 같은 길이 표시"/>
          <p:cNvSpPr/>
          <p:nvPr/>
        </p:nvSpPr>
        <p:spPr>
          <a:xfrm>
            <a:off x="1576034" y="3122349"/>
            <a:ext cx="3308169" cy="1984901"/>
          </a:xfrm>
          <a:custGeom>
            <a:avLst/>
            <a:gdLst/>
            <a:ahLst/>
            <a:cxnLst/>
            <a:rect l="l" t="t" r="r" b="b"/>
            <a:pathLst>
              <a:path w="3308169" h="1984901">
                <a:moveTo>
                  <a:pt x="661634" y="0"/>
                </a:moveTo>
                <a:lnTo>
                  <a:pt x="0" y="1984901"/>
                </a:lnTo>
                <a:lnTo>
                  <a:pt x="2646535" y="1984901"/>
                </a:lnTo>
                <a:lnTo>
                  <a:pt x="330816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4-mark139"/>
          <p:cNvSpPr/>
          <p:nvPr/>
        </p:nvSpPr>
        <p:spPr>
          <a:xfrm flipH="1">
            <a:off x="2237667" y="3122349"/>
            <a:ext cx="2646535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1" name="S04-mark140"/>
          <p:cNvSpPr/>
          <p:nvPr/>
        </p:nvSpPr>
        <p:spPr>
          <a:xfrm>
            <a:off x="1576034" y="5107251"/>
            <a:ext cx="2646535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2" name="S04-mark141"/>
          <p:cNvSpPr/>
          <p:nvPr/>
        </p:nvSpPr>
        <p:spPr>
          <a:xfrm flipH="1">
            <a:off x="1576034" y="3122349"/>
            <a:ext cx="661634" cy="1984901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23" name="S04-mark142"/>
          <p:cNvSpPr/>
          <p:nvPr/>
        </p:nvSpPr>
        <p:spPr>
          <a:xfrm flipV="1">
            <a:off x="4222569" y="3122349"/>
            <a:ext cx="661634" cy="1984901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24" name="S04-mark143"/>
          <p:cNvSpPr/>
          <p:nvPr/>
        </p:nvSpPr>
        <p:spPr>
          <a:xfrm>
            <a:off x="1833597" y="4045402"/>
            <a:ext cx="173495" cy="5783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4-mark144"/>
          <p:cNvSpPr/>
          <p:nvPr/>
        </p:nvSpPr>
        <p:spPr>
          <a:xfrm>
            <a:off x="1806609" y="4126366"/>
            <a:ext cx="173495" cy="5783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mark145"/>
          <p:cNvSpPr/>
          <p:nvPr/>
        </p:nvSpPr>
        <p:spPr>
          <a:xfrm flipV="1">
            <a:off x="2899301" y="5015811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mark146"/>
          <p:cNvSpPr/>
          <p:nvPr/>
        </p:nvSpPr>
        <p:spPr>
          <a:xfrm flipH="1" flipV="1">
            <a:off x="4453144" y="4126366"/>
            <a:ext cx="173495" cy="5783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mark147"/>
          <p:cNvSpPr/>
          <p:nvPr/>
        </p:nvSpPr>
        <p:spPr>
          <a:xfrm flipH="1" flipV="1">
            <a:off x="4480132" y="4045402"/>
            <a:ext cx="173495" cy="5783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4-mark148"/>
          <p:cNvSpPr/>
          <p:nvPr/>
        </p:nvSpPr>
        <p:spPr>
          <a:xfrm>
            <a:off x="3560935" y="3030909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abel150"/>
          <p:cNvSpPr txBox="1"/>
          <p:nvPr/>
        </p:nvSpPr>
        <p:spPr>
          <a:xfrm>
            <a:off x="1841092" y="267053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31" name="S04-label152"/>
          <p:cNvSpPr txBox="1"/>
          <p:nvPr/>
        </p:nvSpPr>
        <p:spPr>
          <a:xfrm>
            <a:off x="1124220" y="499582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32" name="S04-label154"/>
          <p:cNvSpPr txBox="1"/>
          <p:nvPr/>
        </p:nvSpPr>
        <p:spPr>
          <a:xfrm>
            <a:off x="4111144" y="505106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33" name="S04-label156"/>
          <p:cNvSpPr txBox="1"/>
          <p:nvPr/>
        </p:nvSpPr>
        <p:spPr>
          <a:xfrm>
            <a:off x="4828016" y="272577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34" name="S04-card157"/>
          <p:cNvSpPr/>
          <p:nvPr/>
        </p:nvSpPr>
        <p:spPr>
          <a:xfrm>
            <a:off x="6277356" y="256413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5" name="S04-cardtext158"/>
          <p:cNvSpPr txBox="1"/>
          <p:nvPr/>
        </p:nvSpPr>
        <p:spPr>
          <a:xfrm>
            <a:off x="6551676" y="270129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두 쌍의 변이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평행한 사각형</a:t>
            </a:r>
            <a:endParaRPr lang="ko-KR" sz="3000" dirty="0"/>
          </a:p>
        </p:txBody>
      </p:sp>
      <p:sp>
        <p:nvSpPr>
          <p:cNvPr id="36" name="S04-card159"/>
          <p:cNvSpPr/>
          <p:nvPr/>
        </p:nvSpPr>
        <p:spPr>
          <a:xfrm>
            <a:off x="6277356" y="440664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7" name="S04-cardtext160"/>
          <p:cNvSpPr txBox="1"/>
          <p:nvPr/>
        </p:nvSpPr>
        <p:spPr>
          <a:xfrm>
            <a:off x="6551676" y="454380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두 변의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같아요.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4000" dirty="0"/>
          </a:p>
        </p:txBody>
      </p:sp>
      <p:sp>
        <p:nvSpPr>
          <p:cNvPr id="3" name="S05-text1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길이를 비교해요.</a:t>
            </a:r>
            <a:endParaRPr lang="ko-KR" sz="3000" dirty="0"/>
          </a:p>
        </p:txBody>
      </p:sp>
      <p:sp>
        <p:nvSpPr>
          <p:cNvPr id="4" name="S05-mark162"/>
          <p:cNvSpPr/>
          <p:nvPr/>
        </p:nvSpPr>
        <p:spPr>
          <a:xfrm>
            <a:off x="1492758" y="2811780"/>
            <a:ext cx="3474720" cy="2606040"/>
          </a:xfrm>
          <a:custGeom>
            <a:avLst/>
            <a:gdLst/>
            <a:ahLst/>
            <a:cxnLst/>
            <a:rect l="l" t="t" r="r" b="b"/>
            <a:pathLst>
              <a:path w="3474720" h="2606040">
                <a:moveTo>
                  <a:pt x="1737360" y="0"/>
                </a:moveTo>
                <a:lnTo>
                  <a:pt x="0" y="1303020"/>
                </a:lnTo>
                <a:lnTo>
                  <a:pt x="1737360" y="2606040"/>
                </a:lnTo>
                <a:lnTo>
                  <a:pt x="3474720" y="130302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5-mark163"/>
          <p:cNvSpPr/>
          <p:nvPr/>
        </p:nvSpPr>
        <p:spPr>
          <a:xfrm flipV="1">
            <a:off x="105841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5-mark164"/>
          <p:cNvSpPr/>
          <p:nvPr/>
        </p:nvSpPr>
        <p:spPr>
          <a:xfrm flipV="1">
            <a:off x="149275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165"/>
          <p:cNvSpPr/>
          <p:nvPr/>
        </p:nvSpPr>
        <p:spPr>
          <a:xfrm flipV="1">
            <a:off x="192709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166"/>
          <p:cNvSpPr/>
          <p:nvPr/>
        </p:nvSpPr>
        <p:spPr>
          <a:xfrm flipV="1">
            <a:off x="236143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167"/>
          <p:cNvSpPr/>
          <p:nvPr/>
        </p:nvSpPr>
        <p:spPr>
          <a:xfrm flipV="1">
            <a:off x="279577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168"/>
          <p:cNvSpPr/>
          <p:nvPr/>
        </p:nvSpPr>
        <p:spPr>
          <a:xfrm flipV="1">
            <a:off x="323011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69"/>
          <p:cNvSpPr/>
          <p:nvPr/>
        </p:nvSpPr>
        <p:spPr>
          <a:xfrm flipV="1">
            <a:off x="366445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70"/>
          <p:cNvSpPr/>
          <p:nvPr/>
        </p:nvSpPr>
        <p:spPr>
          <a:xfrm flipV="1">
            <a:off x="409879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71"/>
          <p:cNvSpPr/>
          <p:nvPr/>
        </p:nvSpPr>
        <p:spPr>
          <a:xfrm flipV="1">
            <a:off x="453313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72"/>
          <p:cNvSpPr/>
          <p:nvPr/>
        </p:nvSpPr>
        <p:spPr>
          <a:xfrm flipV="1">
            <a:off x="496747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73"/>
          <p:cNvSpPr/>
          <p:nvPr/>
        </p:nvSpPr>
        <p:spPr>
          <a:xfrm flipV="1">
            <a:off x="540181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74"/>
          <p:cNvSpPr/>
          <p:nvPr/>
        </p:nvSpPr>
        <p:spPr>
          <a:xfrm>
            <a:off x="1058418" y="585216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175"/>
          <p:cNvSpPr/>
          <p:nvPr/>
        </p:nvSpPr>
        <p:spPr>
          <a:xfrm>
            <a:off x="1058418" y="541782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176"/>
          <p:cNvSpPr/>
          <p:nvPr/>
        </p:nvSpPr>
        <p:spPr>
          <a:xfrm>
            <a:off x="1058418" y="498348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177"/>
          <p:cNvSpPr/>
          <p:nvPr/>
        </p:nvSpPr>
        <p:spPr>
          <a:xfrm>
            <a:off x="1058418" y="454914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78"/>
          <p:cNvSpPr/>
          <p:nvPr/>
        </p:nvSpPr>
        <p:spPr>
          <a:xfrm>
            <a:off x="1058418" y="411480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79"/>
          <p:cNvSpPr/>
          <p:nvPr/>
        </p:nvSpPr>
        <p:spPr>
          <a:xfrm>
            <a:off x="1058418" y="368046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80"/>
          <p:cNvSpPr/>
          <p:nvPr/>
        </p:nvSpPr>
        <p:spPr>
          <a:xfrm>
            <a:off x="1058418" y="324612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81"/>
          <p:cNvSpPr/>
          <p:nvPr/>
        </p:nvSpPr>
        <p:spPr>
          <a:xfrm>
            <a:off x="1058418" y="281178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82"/>
          <p:cNvSpPr/>
          <p:nvPr/>
        </p:nvSpPr>
        <p:spPr>
          <a:xfrm>
            <a:off x="1058418" y="237744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figure183" descr="모눈 위의 마름모 ㄱㄴㄷㄹ: 네 변에 같은 길이 표시, 변 ㄱㄴ과 변 ㄷㄹ이 평행(주황색), 변 ㄴㄷ과 변 ㄹㄱ이 평행(파란색)"/>
          <p:cNvSpPr/>
          <p:nvPr/>
        </p:nvSpPr>
        <p:spPr>
          <a:xfrm>
            <a:off x="1492758" y="2811780"/>
            <a:ext cx="3474720" cy="2606040"/>
          </a:xfrm>
          <a:custGeom>
            <a:avLst/>
            <a:gdLst/>
            <a:ahLst/>
            <a:cxnLst/>
            <a:rect l="l" t="t" r="r" b="b"/>
            <a:pathLst>
              <a:path w="3474720" h="2606040">
                <a:moveTo>
                  <a:pt x="1737360" y="0"/>
                </a:moveTo>
                <a:lnTo>
                  <a:pt x="0" y="1303020"/>
                </a:lnTo>
                <a:lnTo>
                  <a:pt x="1737360" y="2606040"/>
                </a:lnTo>
                <a:lnTo>
                  <a:pt x="3474720" y="130302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5-mark184"/>
          <p:cNvSpPr/>
          <p:nvPr/>
        </p:nvSpPr>
        <p:spPr>
          <a:xfrm flipH="1">
            <a:off x="1492758" y="2811780"/>
            <a:ext cx="1737360" cy="130302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7" name="S05-mark185"/>
          <p:cNvSpPr/>
          <p:nvPr/>
        </p:nvSpPr>
        <p:spPr>
          <a:xfrm flipV="1">
            <a:off x="3230118" y="4114800"/>
            <a:ext cx="1737360" cy="130302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8" name="S05-mark186"/>
          <p:cNvSpPr/>
          <p:nvPr/>
        </p:nvSpPr>
        <p:spPr>
          <a:xfrm>
            <a:off x="1492758" y="4114800"/>
            <a:ext cx="1737360" cy="1303020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29" name="S05-mark187"/>
          <p:cNvSpPr/>
          <p:nvPr/>
        </p:nvSpPr>
        <p:spPr>
          <a:xfrm flipH="1" flipV="1">
            <a:off x="3230118" y="2811780"/>
            <a:ext cx="1737360" cy="1303020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30" name="S05-mark188"/>
          <p:cNvSpPr/>
          <p:nvPr/>
        </p:nvSpPr>
        <p:spPr>
          <a:xfrm>
            <a:off x="2306574" y="3390138"/>
            <a:ext cx="109728" cy="14630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5-mark189"/>
          <p:cNvSpPr/>
          <p:nvPr/>
        </p:nvSpPr>
        <p:spPr>
          <a:xfrm flipV="1">
            <a:off x="2306574" y="4693158"/>
            <a:ext cx="109728" cy="14630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mark190"/>
          <p:cNvSpPr/>
          <p:nvPr/>
        </p:nvSpPr>
        <p:spPr>
          <a:xfrm flipH="1" flipV="1">
            <a:off x="4043934" y="4693158"/>
            <a:ext cx="109728" cy="14630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mark191"/>
          <p:cNvSpPr/>
          <p:nvPr/>
        </p:nvSpPr>
        <p:spPr>
          <a:xfrm flipH="1">
            <a:off x="4043934" y="3390138"/>
            <a:ext cx="109728" cy="14630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label193"/>
          <p:cNvSpPr txBox="1"/>
          <p:nvPr/>
        </p:nvSpPr>
        <p:spPr>
          <a:xfrm>
            <a:off x="2976118" y="231394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35" name="S05-label195"/>
          <p:cNvSpPr txBox="1"/>
          <p:nvPr/>
        </p:nvSpPr>
        <p:spPr>
          <a:xfrm>
            <a:off x="994918" y="3860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36" name="S05-label197"/>
          <p:cNvSpPr txBox="1"/>
          <p:nvPr/>
        </p:nvSpPr>
        <p:spPr>
          <a:xfrm>
            <a:off x="2976118" y="54076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37" name="S05-label199"/>
          <p:cNvSpPr txBox="1"/>
          <p:nvPr/>
        </p:nvSpPr>
        <p:spPr>
          <a:xfrm>
            <a:off x="4957318" y="3860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38" name="S05-card200"/>
          <p:cNvSpPr/>
          <p:nvPr/>
        </p:nvSpPr>
        <p:spPr>
          <a:xfrm>
            <a:off x="6277356" y="256413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5-cardtext201"/>
          <p:cNvSpPr txBox="1"/>
          <p:nvPr/>
        </p:nvSpPr>
        <p:spPr>
          <a:xfrm>
            <a:off x="6551676" y="270129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같은 사각형</a:t>
            </a:r>
            <a:endParaRPr lang="ko-KR" sz="3000" dirty="0"/>
          </a:p>
        </p:txBody>
      </p:sp>
      <p:sp>
        <p:nvSpPr>
          <p:cNvPr id="40" name="S05-card202"/>
          <p:cNvSpPr/>
          <p:nvPr/>
        </p:nvSpPr>
        <p:spPr>
          <a:xfrm>
            <a:off x="6277356" y="440664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1" name="S05-cardtext203"/>
          <p:cNvSpPr txBox="1"/>
          <p:nvPr/>
        </p:nvSpPr>
        <p:spPr>
          <a:xfrm>
            <a:off x="6551676" y="454380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두 쌍의 변이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붙여요</a:t>
            </a:r>
            <a:endParaRPr lang="ko-KR" sz="4000" dirty="0"/>
          </a:p>
        </p:txBody>
      </p:sp>
      <p:sp>
        <p:nvSpPr>
          <p:cNvPr id="3" name="S06-card2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2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변의 쌍을 세어요. 같은 표시는 같은 길이예요.</a:t>
            </a:r>
            <a:endParaRPr lang="ko-KR" sz="3000" dirty="0"/>
          </a:p>
        </p:txBody>
      </p:sp>
      <p:sp>
        <p:nvSpPr>
          <p:cNvPr id="5" name="S06-chip206"/>
          <p:cNvSpPr txBox="1"/>
          <p:nvPr/>
        </p:nvSpPr>
        <p:spPr>
          <a:xfrm>
            <a:off x="548640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6-mark207"/>
          <p:cNvSpPr/>
          <p:nvPr/>
        </p:nvSpPr>
        <p:spPr>
          <a:xfrm>
            <a:off x="2613470" y="1823085"/>
            <a:ext cx="2028825" cy="811530"/>
          </a:xfrm>
          <a:custGeom>
            <a:avLst/>
            <a:gdLst/>
            <a:ahLst/>
            <a:cxnLst/>
            <a:rect l="l" t="t" r="r" b="b"/>
            <a:pathLst>
              <a:path w="2028825" h="811530">
                <a:moveTo>
                  <a:pt x="0" y="811530"/>
                </a:moveTo>
                <a:lnTo>
                  <a:pt x="2028825" y="811530"/>
                </a:lnTo>
                <a:lnTo>
                  <a:pt x="1217295" y="0"/>
                </a:lnTo>
                <a:lnTo>
                  <a:pt x="405765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6-mark208"/>
          <p:cNvSpPr/>
          <p:nvPr/>
        </p:nvSpPr>
        <p:spPr>
          <a:xfrm flipV="1">
            <a:off x="2207705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209"/>
          <p:cNvSpPr/>
          <p:nvPr/>
        </p:nvSpPr>
        <p:spPr>
          <a:xfrm flipV="1">
            <a:off x="261347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210"/>
          <p:cNvSpPr/>
          <p:nvPr/>
        </p:nvSpPr>
        <p:spPr>
          <a:xfrm flipV="1">
            <a:off x="3019235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211"/>
          <p:cNvSpPr/>
          <p:nvPr/>
        </p:nvSpPr>
        <p:spPr>
          <a:xfrm flipV="1">
            <a:off x="342500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212"/>
          <p:cNvSpPr/>
          <p:nvPr/>
        </p:nvSpPr>
        <p:spPr>
          <a:xfrm flipV="1">
            <a:off x="3830765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213"/>
          <p:cNvSpPr/>
          <p:nvPr/>
        </p:nvSpPr>
        <p:spPr>
          <a:xfrm flipV="1">
            <a:off x="423653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214"/>
          <p:cNvSpPr/>
          <p:nvPr/>
        </p:nvSpPr>
        <p:spPr>
          <a:xfrm flipV="1">
            <a:off x="4642295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215"/>
          <p:cNvSpPr/>
          <p:nvPr/>
        </p:nvSpPr>
        <p:spPr>
          <a:xfrm flipV="1">
            <a:off x="504806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216"/>
          <p:cNvSpPr/>
          <p:nvPr/>
        </p:nvSpPr>
        <p:spPr>
          <a:xfrm>
            <a:off x="2207705" y="304038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217"/>
          <p:cNvSpPr/>
          <p:nvPr/>
        </p:nvSpPr>
        <p:spPr>
          <a:xfrm>
            <a:off x="2207705" y="2634615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218"/>
          <p:cNvSpPr/>
          <p:nvPr/>
        </p:nvSpPr>
        <p:spPr>
          <a:xfrm>
            <a:off x="2207705" y="222885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219"/>
          <p:cNvSpPr/>
          <p:nvPr/>
        </p:nvSpPr>
        <p:spPr>
          <a:xfrm>
            <a:off x="2207705" y="1823085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220"/>
          <p:cNvSpPr/>
          <p:nvPr/>
        </p:nvSpPr>
        <p:spPr>
          <a:xfrm>
            <a:off x="2207705" y="141732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figure221" descr="모눈 위의 사각형: 위아래 변만 평행"/>
          <p:cNvSpPr/>
          <p:nvPr/>
        </p:nvSpPr>
        <p:spPr>
          <a:xfrm>
            <a:off x="2613470" y="1823085"/>
            <a:ext cx="2028825" cy="811530"/>
          </a:xfrm>
          <a:custGeom>
            <a:avLst/>
            <a:gdLst/>
            <a:ahLst/>
            <a:cxnLst/>
            <a:rect l="l" t="t" r="r" b="b"/>
            <a:pathLst>
              <a:path w="2028825" h="811530">
                <a:moveTo>
                  <a:pt x="0" y="811530"/>
                </a:moveTo>
                <a:lnTo>
                  <a:pt x="2028825" y="811530"/>
                </a:lnTo>
                <a:lnTo>
                  <a:pt x="1217295" y="0"/>
                </a:lnTo>
                <a:lnTo>
                  <a:pt x="40576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6-chip222"/>
          <p:cNvSpPr txBox="1"/>
          <p:nvPr/>
        </p:nvSpPr>
        <p:spPr>
          <a:xfrm>
            <a:off x="6277356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2" name="S06-mark223"/>
          <p:cNvSpPr/>
          <p:nvPr/>
        </p:nvSpPr>
        <p:spPr>
          <a:xfrm>
            <a:off x="8342186" y="1823085"/>
            <a:ext cx="2028825" cy="811530"/>
          </a:xfrm>
          <a:custGeom>
            <a:avLst/>
            <a:gdLst/>
            <a:ahLst/>
            <a:cxnLst/>
            <a:rect l="l" t="t" r="r" b="b"/>
            <a:pathLst>
              <a:path w="2028825" h="811530">
                <a:moveTo>
                  <a:pt x="0" y="811530"/>
                </a:moveTo>
                <a:lnTo>
                  <a:pt x="1623060" y="811530"/>
                </a:lnTo>
                <a:lnTo>
                  <a:pt x="2028825" y="0"/>
                </a:lnTo>
                <a:lnTo>
                  <a:pt x="405765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3" name="S06-mark224"/>
          <p:cNvSpPr/>
          <p:nvPr/>
        </p:nvSpPr>
        <p:spPr>
          <a:xfrm flipV="1">
            <a:off x="7936421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6-mark225"/>
          <p:cNvSpPr/>
          <p:nvPr/>
        </p:nvSpPr>
        <p:spPr>
          <a:xfrm flipV="1">
            <a:off x="8342186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6-mark226"/>
          <p:cNvSpPr/>
          <p:nvPr/>
        </p:nvSpPr>
        <p:spPr>
          <a:xfrm flipV="1">
            <a:off x="8747951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6-mark227"/>
          <p:cNvSpPr/>
          <p:nvPr/>
        </p:nvSpPr>
        <p:spPr>
          <a:xfrm flipV="1">
            <a:off x="9153716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6-mark228"/>
          <p:cNvSpPr/>
          <p:nvPr/>
        </p:nvSpPr>
        <p:spPr>
          <a:xfrm flipV="1">
            <a:off x="955948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6-mark229"/>
          <p:cNvSpPr/>
          <p:nvPr/>
        </p:nvSpPr>
        <p:spPr>
          <a:xfrm flipV="1">
            <a:off x="9965246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6-mark230"/>
          <p:cNvSpPr/>
          <p:nvPr/>
        </p:nvSpPr>
        <p:spPr>
          <a:xfrm flipV="1">
            <a:off x="10371011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6-mark231"/>
          <p:cNvSpPr/>
          <p:nvPr/>
        </p:nvSpPr>
        <p:spPr>
          <a:xfrm flipV="1">
            <a:off x="10776776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6-mark232"/>
          <p:cNvSpPr/>
          <p:nvPr/>
        </p:nvSpPr>
        <p:spPr>
          <a:xfrm>
            <a:off x="7936421" y="304038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6-mark233"/>
          <p:cNvSpPr/>
          <p:nvPr/>
        </p:nvSpPr>
        <p:spPr>
          <a:xfrm>
            <a:off x="7936421" y="2634615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6-mark234"/>
          <p:cNvSpPr/>
          <p:nvPr/>
        </p:nvSpPr>
        <p:spPr>
          <a:xfrm>
            <a:off x="7936421" y="222885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6-mark235"/>
          <p:cNvSpPr/>
          <p:nvPr/>
        </p:nvSpPr>
        <p:spPr>
          <a:xfrm>
            <a:off x="7936421" y="1823085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6-mark236"/>
          <p:cNvSpPr/>
          <p:nvPr/>
        </p:nvSpPr>
        <p:spPr>
          <a:xfrm>
            <a:off x="7936421" y="141732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6-figure237" descr="모눈 위의 사각형: 마주 보는 두 쌍의 변이 평행, 마주 보는 변에 같은 길이 표시"/>
          <p:cNvSpPr/>
          <p:nvPr/>
        </p:nvSpPr>
        <p:spPr>
          <a:xfrm>
            <a:off x="8342186" y="1823085"/>
            <a:ext cx="2028825" cy="811530"/>
          </a:xfrm>
          <a:custGeom>
            <a:avLst/>
            <a:gdLst/>
            <a:ahLst/>
            <a:cxnLst/>
            <a:rect l="l" t="t" r="r" b="b"/>
            <a:pathLst>
              <a:path w="2028825" h="811530">
                <a:moveTo>
                  <a:pt x="0" y="811530"/>
                </a:moveTo>
                <a:lnTo>
                  <a:pt x="1623060" y="811530"/>
                </a:lnTo>
                <a:lnTo>
                  <a:pt x="2028825" y="0"/>
                </a:lnTo>
                <a:lnTo>
                  <a:pt x="40576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6-mark238"/>
          <p:cNvSpPr/>
          <p:nvPr/>
        </p:nvSpPr>
        <p:spPr>
          <a:xfrm flipV="1">
            <a:off x="9153716" y="254317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6-mark239"/>
          <p:cNvSpPr/>
          <p:nvPr/>
        </p:nvSpPr>
        <p:spPr>
          <a:xfrm flipH="1" flipV="1">
            <a:off x="10067258" y="2226124"/>
            <a:ext cx="163573" cy="8178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6-mark240"/>
          <p:cNvSpPr/>
          <p:nvPr/>
        </p:nvSpPr>
        <p:spPr>
          <a:xfrm flipH="1" flipV="1">
            <a:off x="10105425" y="2149790"/>
            <a:ext cx="163573" cy="8178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6-mark241"/>
          <p:cNvSpPr/>
          <p:nvPr/>
        </p:nvSpPr>
        <p:spPr>
          <a:xfrm>
            <a:off x="9559480" y="173164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6-mark242"/>
          <p:cNvSpPr/>
          <p:nvPr/>
        </p:nvSpPr>
        <p:spPr>
          <a:xfrm>
            <a:off x="8482365" y="2149790"/>
            <a:ext cx="163573" cy="8178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6-mark243"/>
          <p:cNvSpPr/>
          <p:nvPr/>
        </p:nvSpPr>
        <p:spPr>
          <a:xfrm>
            <a:off x="8444198" y="2226124"/>
            <a:ext cx="163573" cy="8178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6-chip244"/>
          <p:cNvSpPr txBox="1"/>
          <p:nvPr/>
        </p:nvSpPr>
        <p:spPr>
          <a:xfrm>
            <a:off x="548640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4" name="S06-mark245"/>
          <p:cNvSpPr/>
          <p:nvPr/>
        </p:nvSpPr>
        <p:spPr>
          <a:xfrm>
            <a:off x="2545842" y="3676650"/>
            <a:ext cx="2164080" cy="1082040"/>
          </a:xfrm>
          <a:custGeom>
            <a:avLst/>
            <a:gdLst/>
            <a:ahLst/>
            <a:cxnLst/>
            <a:rect l="l" t="t" r="r" b="b"/>
            <a:pathLst>
              <a:path w="2164080" h="1082040">
                <a:moveTo>
                  <a:pt x="0" y="1082040"/>
                </a:moveTo>
                <a:lnTo>
                  <a:pt x="1352550" y="1082040"/>
                </a:lnTo>
                <a:lnTo>
                  <a:pt x="2164080" y="0"/>
                </a:lnTo>
                <a:lnTo>
                  <a:pt x="81153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5" name="S06-mark246"/>
          <p:cNvSpPr/>
          <p:nvPr/>
        </p:nvSpPr>
        <p:spPr>
          <a:xfrm flipV="1">
            <a:off x="227533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6-mark247"/>
          <p:cNvSpPr/>
          <p:nvPr/>
        </p:nvSpPr>
        <p:spPr>
          <a:xfrm flipV="1">
            <a:off x="254584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6-mark248"/>
          <p:cNvSpPr/>
          <p:nvPr/>
        </p:nvSpPr>
        <p:spPr>
          <a:xfrm flipV="1">
            <a:off x="281635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6-mark249"/>
          <p:cNvSpPr/>
          <p:nvPr/>
        </p:nvSpPr>
        <p:spPr>
          <a:xfrm flipV="1">
            <a:off x="308686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6-mark250"/>
          <p:cNvSpPr/>
          <p:nvPr/>
        </p:nvSpPr>
        <p:spPr>
          <a:xfrm flipV="1">
            <a:off x="335737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6-mark251"/>
          <p:cNvSpPr/>
          <p:nvPr/>
        </p:nvSpPr>
        <p:spPr>
          <a:xfrm flipV="1">
            <a:off x="362788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6-mark252"/>
          <p:cNvSpPr/>
          <p:nvPr/>
        </p:nvSpPr>
        <p:spPr>
          <a:xfrm flipV="1">
            <a:off x="389839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06-mark253"/>
          <p:cNvSpPr/>
          <p:nvPr/>
        </p:nvSpPr>
        <p:spPr>
          <a:xfrm flipV="1">
            <a:off x="416890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06-mark254"/>
          <p:cNvSpPr/>
          <p:nvPr/>
        </p:nvSpPr>
        <p:spPr>
          <a:xfrm flipV="1">
            <a:off x="443941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06-mark255"/>
          <p:cNvSpPr/>
          <p:nvPr/>
        </p:nvSpPr>
        <p:spPr>
          <a:xfrm flipV="1">
            <a:off x="470992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06-mark256"/>
          <p:cNvSpPr/>
          <p:nvPr/>
        </p:nvSpPr>
        <p:spPr>
          <a:xfrm flipV="1">
            <a:off x="498043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06-mark257"/>
          <p:cNvSpPr/>
          <p:nvPr/>
        </p:nvSpPr>
        <p:spPr>
          <a:xfrm>
            <a:off x="2275332" y="502920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06-mark258"/>
          <p:cNvSpPr/>
          <p:nvPr/>
        </p:nvSpPr>
        <p:spPr>
          <a:xfrm>
            <a:off x="2275332" y="475869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06-mark259"/>
          <p:cNvSpPr/>
          <p:nvPr/>
        </p:nvSpPr>
        <p:spPr>
          <a:xfrm>
            <a:off x="2275332" y="448818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06-mark260"/>
          <p:cNvSpPr/>
          <p:nvPr/>
        </p:nvSpPr>
        <p:spPr>
          <a:xfrm>
            <a:off x="2275332" y="421767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06-mark261"/>
          <p:cNvSpPr/>
          <p:nvPr/>
        </p:nvSpPr>
        <p:spPr>
          <a:xfrm>
            <a:off x="2275332" y="394716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06-mark262"/>
          <p:cNvSpPr/>
          <p:nvPr/>
        </p:nvSpPr>
        <p:spPr>
          <a:xfrm>
            <a:off x="2275332" y="367665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06-mark263"/>
          <p:cNvSpPr/>
          <p:nvPr/>
        </p:nvSpPr>
        <p:spPr>
          <a:xfrm>
            <a:off x="2275332" y="340614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06-figure264" descr="모눈 위의 사각형: 네 변에 같은 길이 표시, 비스듬히 누운 모양"/>
          <p:cNvSpPr/>
          <p:nvPr/>
        </p:nvSpPr>
        <p:spPr>
          <a:xfrm>
            <a:off x="2545842" y="3676650"/>
            <a:ext cx="2164080" cy="1082040"/>
          </a:xfrm>
          <a:custGeom>
            <a:avLst/>
            <a:gdLst/>
            <a:ahLst/>
            <a:cxnLst/>
            <a:rect l="l" t="t" r="r" b="b"/>
            <a:pathLst>
              <a:path w="2164080" h="1082040">
                <a:moveTo>
                  <a:pt x="0" y="1082040"/>
                </a:moveTo>
                <a:lnTo>
                  <a:pt x="1352550" y="1082040"/>
                </a:lnTo>
                <a:lnTo>
                  <a:pt x="2164080" y="0"/>
                </a:lnTo>
                <a:lnTo>
                  <a:pt x="81153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4" name="S06-mark265"/>
          <p:cNvSpPr/>
          <p:nvPr/>
        </p:nvSpPr>
        <p:spPr>
          <a:xfrm flipV="1">
            <a:off x="3222117" y="466725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5" name="S06-mark266"/>
          <p:cNvSpPr/>
          <p:nvPr/>
        </p:nvSpPr>
        <p:spPr>
          <a:xfrm flipH="1" flipV="1">
            <a:off x="4231005" y="416280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6" name="S06-mark267"/>
          <p:cNvSpPr/>
          <p:nvPr/>
        </p:nvSpPr>
        <p:spPr>
          <a:xfrm>
            <a:off x="4033647" y="358521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7" name="S06-mark268"/>
          <p:cNvSpPr/>
          <p:nvPr/>
        </p:nvSpPr>
        <p:spPr>
          <a:xfrm>
            <a:off x="2878455" y="416280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8" name="S06-chip269"/>
          <p:cNvSpPr txBox="1"/>
          <p:nvPr/>
        </p:nvSpPr>
        <p:spPr>
          <a:xfrm>
            <a:off x="6277356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69" name="S06-mark270"/>
          <p:cNvSpPr/>
          <p:nvPr/>
        </p:nvSpPr>
        <p:spPr>
          <a:xfrm>
            <a:off x="8545068" y="3730752"/>
            <a:ext cx="1623060" cy="973836"/>
          </a:xfrm>
          <a:custGeom>
            <a:avLst/>
            <a:gdLst/>
            <a:ahLst/>
            <a:cxnLst/>
            <a:rect l="l" t="t" r="r" b="b"/>
            <a:pathLst>
              <a:path w="1623060" h="973836">
                <a:moveTo>
                  <a:pt x="0" y="973836"/>
                </a:moveTo>
                <a:lnTo>
                  <a:pt x="1298448" y="973836"/>
                </a:lnTo>
                <a:lnTo>
                  <a:pt x="1623060" y="0"/>
                </a:lnTo>
                <a:lnTo>
                  <a:pt x="324612" y="324612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0" name="S06-mark271"/>
          <p:cNvSpPr/>
          <p:nvPr/>
        </p:nvSpPr>
        <p:spPr>
          <a:xfrm flipV="1">
            <a:off x="8220456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1" name="S06-mark272"/>
          <p:cNvSpPr/>
          <p:nvPr/>
        </p:nvSpPr>
        <p:spPr>
          <a:xfrm flipV="1">
            <a:off x="8545068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2" name="S06-mark273"/>
          <p:cNvSpPr/>
          <p:nvPr/>
        </p:nvSpPr>
        <p:spPr>
          <a:xfrm flipV="1">
            <a:off x="8869680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3" name="S06-mark274"/>
          <p:cNvSpPr/>
          <p:nvPr/>
        </p:nvSpPr>
        <p:spPr>
          <a:xfrm flipV="1">
            <a:off x="919429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4" name="S06-mark275"/>
          <p:cNvSpPr/>
          <p:nvPr/>
        </p:nvSpPr>
        <p:spPr>
          <a:xfrm flipV="1">
            <a:off x="9518904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5" name="S06-mark276"/>
          <p:cNvSpPr/>
          <p:nvPr/>
        </p:nvSpPr>
        <p:spPr>
          <a:xfrm flipV="1">
            <a:off x="9843516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6" name="S06-mark277"/>
          <p:cNvSpPr/>
          <p:nvPr/>
        </p:nvSpPr>
        <p:spPr>
          <a:xfrm flipV="1">
            <a:off x="10168128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7" name="S06-mark278"/>
          <p:cNvSpPr/>
          <p:nvPr/>
        </p:nvSpPr>
        <p:spPr>
          <a:xfrm flipV="1">
            <a:off x="10492740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8" name="S06-mark279"/>
          <p:cNvSpPr/>
          <p:nvPr/>
        </p:nvSpPr>
        <p:spPr>
          <a:xfrm>
            <a:off x="8220456" y="5029200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9" name="S06-mark280"/>
          <p:cNvSpPr/>
          <p:nvPr/>
        </p:nvSpPr>
        <p:spPr>
          <a:xfrm>
            <a:off x="8220456" y="4704588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0" name="S06-mark281"/>
          <p:cNvSpPr/>
          <p:nvPr/>
        </p:nvSpPr>
        <p:spPr>
          <a:xfrm>
            <a:off x="8220456" y="4379976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1" name="S06-mark282"/>
          <p:cNvSpPr/>
          <p:nvPr/>
        </p:nvSpPr>
        <p:spPr>
          <a:xfrm>
            <a:off x="8220456" y="4055364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2" name="S06-mark283"/>
          <p:cNvSpPr/>
          <p:nvPr/>
        </p:nvSpPr>
        <p:spPr>
          <a:xfrm>
            <a:off x="8220456" y="3730752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3" name="S06-mark284"/>
          <p:cNvSpPr/>
          <p:nvPr/>
        </p:nvSpPr>
        <p:spPr>
          <a:xfrm>
            <a:off x="8220456" y="3406140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4" name="S06-figure285" descr="모눈 위의 사각형: 평행한 변이 없음"/>
          <p:cNvSpPr/>
          <p:nvPr/>
        </p:nvSpPr>
        <p:spPr>
          <a:xfrm>
            <a:off x="8545068" y="3730752"/>
            <a:ext cx="1623060" cy="973836"/>
          </a:xfrm>
          <a:custGeom>
            <a:avLst/>
            <a:gdLst/>
            <a:ahLst/>
            <a:cxnLst/>
            <a:rect l="l" t="t" r="r" b="b"/>
            <a:pathLst>
              <a:path w="1623060" h="973836">
                <a:moveTo>
                  <a:pt x="0" y="973836"/>
                </a:moveTo>
                <a:lnTo>
                  <a:pt x="1298448" y="973836"/>
                </a:lnTo>
                <a:lnTo>
                  <a:pt x="1623060" y="0"/>
                </a:lnTo>
                <a:lnTo>
                  <a:pt x="324612" y="32461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사각형의 성질 정리</a:t>
            </a:r>
            <a:endParaRPr lang="ko-KR" sz="4000" dirty="0"/>
          </a:p>
        </p:txBody>
      </p:sp>
      <p:sp>
        <p:nvSpPr>
          <p:cNvPr id="3" name="S07-text2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○는 ‘언제나 그래요’라는 뜻이에요.</a:t>
            </a:r>
            <a:endParaRPr lang="ko-KR" sz="3000" dirty="0"/>
          </a:p>
        </p:txBody>
      </p:sp>
      <p:sp>
        <p:nvSpPr>
          <p:cNvPr id="4" name="S07-card2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뜻에 맞으면 그 이름으로도 불러요.</a:t>
            </a:r>
            <a:endParaRPr lang="ko-KR" sz="3000" dirty="0"/>
          </a:p>
        </p:txBody>
      </p:sp>
      <p:graphicFrame>
        <p:nvGraphicFramePr>
          <p:cNvPr id="8" name="S07-table2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48840"/>
          <a:ext cx="100584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1911096"/>
                <a:gridCol w="1911096"/>
                <a:gridCol w="1911096"/>
                <a:gridCol w="1911096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평행한 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쌍 이상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평행한 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쌍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 변의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길이가 같음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 각이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사다리꼴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평행사변형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마름모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직사각형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정사각형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이름은?</a:t>
            </a:r>
            <a:endParaRPr lang="ko-KR" sz="4000" dirty="0"/>
          </a:p>
        </p:txBody>
      </p:sp>
      <p:sp>
        <p:nvSpPr>
          <p:cNvPr id="3" name="S08-card2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정사각형은 이름이 다섯 개예요.</a:t>
            </a:r>
            <a:endParaRPr lang="ko-KR" sz="3000" dirty="0"/>
          </a:p>
        </p:txBody>
      </p:sp>
      <p:sp>
        <p:nvSpPr>
          <p:cNvPr id="5" name="S08-mark292"/>
          <p:cNvSpPr/>
          <p:nvPr/>
        </p:nvSpPr>
        <p:spPr>
          <a:xfrm>
            <a:off x="8626084" y="2139696"/>
            <a:ext cx="2167128" cy="2167128"/>
          </a:xfrm>
          <a:custGeom>
            <a:avLst/>
            <a:gdLst/>
            <a:ahLst/>
            <a:cxnLst/>
            <a:rect l="l" t="t" r="r" b="b"/>
            <a:pathLst>
              <a:path w="2167128" h="2167128">
                <a:moveTo>
                  <a:pt x="0" y="2167128"/>
                </a:moveTo>
                <a:lnTo>
                  <a:pt x="2167128" y="2167128"/>
                </a:lnTo>
                <a:lnTo>
                  <a:pt x="2167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8-mark293"/>
          <p:cNvSpPr/>
          <p:nvPr/>
        </p:nvSpPr>
        <p:spPr>
          <a:xfrm flipV="1">
            <a:off x="7903708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294"/>
          <p:cNvSpPr/>
          <p:nvPr/>
        </p:nvSpPr>
        <p:spPr>
          <a:xfrm flipV="1">
            <a:off x="8626084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295"/>
          <p:cNvSpPr/>
          <p:nvPr/>
        </p:nvSpPr>
        <p:spPr>
          <a:xfrm flipV="1">
            <a:off x="9348460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96"/>
          <p:cNvSpPr/>
          <p:nvPr/>
        </p:nvSpPr>
        <p:spPr>
          <a:xfrm flipV="1">
            <a:off x="10070836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97"/>
          <p:cNvSpPr/>
          <p:nvPr/>
        </p:nvSpPr>
        <p:spPr>
          <a:xfrm flipV="1">
            <a:off x="10793212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98"/>
          <p:cNvSpPr/>
          <p:nvPr/>
        </p:nvSpPr>
        <p:spPr>
          <a:xfrm flipV="1">
            <a:off x="11515588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99"/>
          <p:cNvSpPr/>
          <p:nvPr/>
        </p:nvSpPr>
        <p:spPr>
          <a:xfrm>
            <a:off x="7903708" y="5029200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300"/>
          <p:cNvSpPr/>
          <p:nvPr/>
        </p:nvSpPr>
        <p:spPr>
          <a:xfrm>
            <a:off x="7903708" y="4306824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301"/>
          <p:cNvSpPr/>
          <p:nvPr/>
        </p:nvSpPr>
        <p:spPr>
          <a:xfrm>
            <a:off x="7903708" y="3584448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302"/>
          <p:cNvSpPr/>
          <p:nvPr/>
        </p:nvSpPr>
        <p:spPr>
          <a:xfrm>
            <a:off x="7903708" y="2862072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303"/>
          <p:cNvSpPr/>
          <p:nvPr/>
        </p:nvSpPr>
        <p:spPr>
          <a:xfrm>
            <a:off x="7903708" y="2139696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304"/>
          <p:cNvSpPr/>
          <p:nvPr/>
        </p:nvSpPr>
        <p:spPr>
          <a:xfrm>
            <a:off x="7903708" y="1417320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figure305" descr="모눈 위의 정사각형 ㄱㄴㄷㄹ: 네 변에 같은 길이 표시, 네 각에 직각 표시"/>
          <p:cNvSpPr/>
          <p:nvPr/>
        </p:nvSpPr>
        <p:spPr>
          <a:xfrm>
            <a:off x="8626084" y="2139696"/>
            <a:ext cx="2167128" cy="2167128"/>
          </a:xfrm>
          <a:custGeom>
            <a:avLst/>
            <a:gdLst/>
            <a:ahLst/>
            <a:cxnLst/>
            <a:rect l="l" t="t" r="r" b="b"/>
            <a:pathLst>
              <a:path w="2167128" h="2167128">
                <a:moveTo>
                  <a:pt x="0" y="2167128"/>
                </a:moveTo>
                <a:lnTo>
                  <a:pt x="2167128" y="2167128"/>
                </a:lnTo>
                <a:lnTo>
                  <a:pt x="216712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8-mark306"/>
          <p:cNvSpPr/>
          <p:nvPr/>
        </p:nvSpPr>
        <p:spPr>
          <a:xfrm>
            <a:off x="8626084" y="407822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8-mark307"/>
          <p:cNvSpPr/>
          <p:nvPr/>
        </p:nvSpPr>
        <p:spPr>
          <a:xfrm>
            <a:off x="10564612" y="407822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8-mark308"/>
          <p:cNvSpPr/>
          <p:nvPr/>
        </p:nvSpPr>
        <p:spPr>
          <a:xfrm>
            <a:off x="10564612" y="213969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8-mark309"/>
          <p:cNvSpPr/>
          <p:nvPr/>
        </p:nvSpPr>
        <p:spPr>
          <a:xfrm>
            <a:off x="8626084" y="213969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8-mark310"/>
          <p:cNvSpPr/>
          <p:nvPr/>
        </p:nvSpPr>
        <p:spPr>
          <a:xfrm flipV="1">
            <a:off x="9709648" y="4215384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8-mark311"/>
          <p:cNvSpPr/>
          <p:nvPr/>
        </p:nvSpPr>
        <p:spPr>
          <a:xfrm flipH="1">
            <a:off x="10701772" y="322326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8-mark312"/>
          <p:cNvSpPr/>
          <p:nvPr/>
        </p:nvSpPr>
        <p:spPr>
          <a:xfrm>
            <a:off x="9709648" y="2048256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8-mark313"/>
          <p:cNvSpPr/>
          <p:nvPr/>
        </p:nvSpPr>
        <p:spPr>
          <a:xfrm>
            <a:off x="8534644" y="322326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8-stepno314"/>
          <p:cNvSpPr txBox="1"/>
          <p:nvPr/>
        </p:nvSpPr>
        <p:spPr>
          <a:xfrm>
            <a:off x="548640" y="1522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8" name="S08-text315"/>
          <p:cNvSpPr txBox="1"/>
          <p:nvPr/>
        </p:nvSpPr>
        <p:spPr>
          <a:xfrm>
            <a:off x="1325880" y="1522476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변이 있어요. → 사다리꼴</a:t>
            </a:r>
            <a:endParaRPr lang="ko-KR" sz="3000" dirty="0"/>
          </a:p>
        </p:txBody>
      </p:sp>
      <p:sp>
        <p:nvSpPr>
          <p:cNvPr id="29" name="S08-stepno316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8-text317"/>
          <p:cNvSpPr txBox="1"/>
          <p:nvPr/>
        </p:nvSpPr>
        <p:spPr>
          <a:xfrm>
            <a:off x="1325880" y="223570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쌍이 평행해요. → 평행사변형</a:t>
            </a:r>
            <a:endParaRPr lang="ko-KR" sz="3000" dirty="0"/>
          </a:p>
        </p:txBody>
      </p:sp>
      <p:sp>
        <p:nvSpPr>
          <p:cNvPr id="31" name="S08-stepno318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2" name="S08-text319"/>
          <p:cNvSpPr txBox="1"/>
          <p:nvPr/>
        </p:nvSpPr>
        <p:spPr>
          <a:xfrm>
            <a:off x="1325880" y="294894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변이 같아요. → 마름모</a:t>
            </a:r>
            <a:endParaRPr lang="ko-KR" sz="3000" dirty="0"/>
          </a:p>
        </p:txBody>
      </p:sp>
      <p:sp>
        <p:nvSpPr>
          <p:cNvPr id="33" name="S08-stepno320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4" name="S08-text321"/>
          <p:cNvSpPr txBox="1"/>
          <p:nvPr/>
        </p:nvSpPr>
        <p:spPr>
          <a:xfrm>
            <a:off x="1325880" y="366217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직각이에요. → 직사각형</a:t>
            </a:r>
            <a:endParaRPr lang="ko-KR" sz="3000" dirty="0"/>
          </a:p>
        </p:txBody>
      </p:sp>
      <p:sp>
        <p:nvSpPr>
          <p:cNvPr id="35" name="S08-stepno322"/>
          <p:cNvSpPr txBox="1"/>
          <p:nvPr/>
        </p:nvSpPr>
        <p:spPr>
          <a:xfrm>
            <a:off x="548640" y="437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36" name="S08-text323"/>
          <p:cNvSpPr txBox="1"/>
          <p:nvPr/>
        </p:nvSpPr>
        <p:spPr>
          <a:xfrm>
            <a:off x="1325880" y="4375404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맞아요. → 정사각형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32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2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정사각형은 마름모라고 할 수 있을까요?</a:t>
            </a:r>
            <a:endParaRPr lang="ko-KR" sz="3000" dirty="0"/>
          </a:p>
        </p:txBody>
      </p:sp>
      <p:sp>
        <p:nvSpPr>
          <p:cNvPr id="5" name="S09-card3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3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마름모의 뜻으로 말해요.</a:t>
            </a:r>
            <a:endParaRPr lang="ko-KR" sz="3000" dirty="0"/>
          </a:p>
        </p:txBody>
      </p:sp>
      <p:sp>
        <p:nvSpPr>
          <p:cNvPr id="7" name="S09-chip32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아니에요</a:t>
            </a:r>
            <a:endParaRPr lang="ko-KR" sz="2400" dirty="0"/>
          </a:p>
        </p:txBody>
      </p:sp>
      <p:sp>
        <p:nvSpPr>
          <p:cNvPr id="8" name="S09-text32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마름모는 뾰족하게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세워 놓은 모양이에요.</a:t>
            </a:r>
            <a:endParaRPr lang="ko-KR" sz="3000" dirty="0"/>
          </a:p>
        </p:txBody>
      </p:sp>
      <p:sp>
        <p:nvSpPr>
          <p:cNvPr id="9" name="S09-chip33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맞아요</a:t>
            </a:r>
            <a:endParaRPr lang="ko-KR" sz="2400" dirty="0"/>
          </a:p>
        </p:txBody>
      </p:sp>
      <p:sp>
        <p:nvSpPr>
          <p:cNvPr id="10" name="S09-text33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모두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같으니까 마름모예요.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맞으면 ○, 틀리면 ×</a:t>
            </a:r>
            <a:endParaRPr lang="ko-KR" sz="4000" dirty="0"/>
          </a:p>
        </p:txBody>
      </p:sp>
      <p:sp>
        <p:nvSpPr>
          <p:cNvPr id="3" name="S10-text3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맞으면 ○, 틀리면 ×라고 하고 까닭을 말해요.</a:t>
            </a:r>
            <a:endParaRPr lang="ko-KR" sz="3000" dirty="0"/>
          </a:p>
        </p:txBody>
      </p:sp>
      <p:sp>
        <p:nvSpPr>
          <p:cNvPr id="4" name="S10-card3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3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뜻에 언제나 맞는지 따져 봐요.</a:t>
            </a:r>
            <a:endParaRPr lang="ko-KR" sz="3000" dirty="0"/>
          </a:p>
        </p:txBody>
      </p:sp>
      <p:sp>
        <p:nvSpPr>
          <p:cNvPr id="6" name="S10-chip3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33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사다리꼴예요.</a:t>
            </a:r>
            <a:endParaRPr lang="ko-KR" sz="3000" dirty="0"/>
          </a:p>
        </p:txBody>
      </p:sp>
      <p:sp>
        <p:nvSpPr>
          <p:cNvPr id="8" name="S10-chip33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33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정사각형예요.</a:t>
            </a:r>
            <a:endParaRPr lang="ko-KR" sz="3000" dirty="0"/>
          </a:p>
        </p:txBody>
      </p:sp>
      <p:sp>
        <p:nvSpPr>
          <p:cNvPr id="10" name="S10-chip33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34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평행사변형예요.</a:t>
            </a:r>
            <a:endParaRPr lang="ko-KR" sz="3000" dirty="0"/>
          </a:p>
        </p:txBody>
      </p:sp>
      <p:sp>
        <p:nvSpPr>
          <p:cNvPr id="12" name="S10-chip34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34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붙일 수 있는 이름을 모두 말해요.</a:t>
            </a:r>
            <a:endParaRPr lang="ko-KR" sz="3000" dirty="0"/>
          </a:p>
        </p:txBody>
      </p:sp>
      <p:sp>
        <p:nvSpPr>
          <p:cNvPr id="4" name="S11-chip34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mark345"/>
          <p:cNvSpPr/>
          <p:nvPr/>
        </p:nvSpPr>
        <p:spPr>
          <a:xfrm>
            <a:off x="2256282" y="2560320"/>
            <a:ext cx="2743200" cy="914400"/>
          </a:xfrm>
          <a:custGeom>
            <a:avLst/>
            <a:gdLst/>
            <a:ahLst/>
            <a:cxnLst/>
            <a:rect l="l" t="t" r="r" b="b"/>
            <a:pathLst>
              <a:path w="2743200" h="914400">
                <a:moveTo>
                  <a:pt x="0" y="914400"/>
                </a:moveTo>
                <a:lnTo>
                  <a:pt x="1828800" y="914400"/>
                </a:lnTo>
                <a:lnTo>
                  <a:pt x="274320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1-mark346"/>
          <p:cNvSpPr/>
          <p:nvPr/>
        </p:nvSpPr>
        <p:spPr>
          <a:xfrm flipV="1">
            <a:off x="17990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1-mark347"/>
          <p:cNvSpPr/>
          <p:nvPr/>
        </p:nvSpPr>
        <p:spPr>
          <a:xfrm flipV="1">
            <a:off x="22562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1-mark348"/>
          <p:cNvSpPr/>
          <p:nvPr/>
        </p:nvSpPr>
        <p:spPr>
          <a:xfrm flipV="1">
            <a:off x="27134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1-mark349"/>
          <p:cNvSpPr/>
          <p:nvPr/>
        </p:nvSpPr>
        <p:spPr>
          <a:xfrm flipV="1">
            <a:off x="31706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1-mark350"/>
          <p:cNvSpPr/>
          <p:nvPr/>
        </p:nvSpPr>
        <p:spPr>
          <a:xfrm flipV="1">
            <a:off x="36278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1-mark351"/>
          <p:cNvSpPr/>
          <p:nvPr/>
        </p:nvSpPr>
        <p:spPr>
          <a:xfrm flipV="1">
            <a:off x="40850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1-mark352"/>
          <p:cNvSpPr/>
          <p:nvPr/>
        </p:nvSpPr>
        <p:spPr>
          <a:xfrm flipV="1">
            <a:off x="45422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1-mark353"/>
          <p:cNvSpPr/>
          <p:nvPr/>
        </p:nvSpPr>
        <p:spPr>
          <a:xfrm flipV="1">
            <a:off x="49994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1-mark354"/>
          <p:cNvSpPr/>
          <p:nvPr/>
        </p:nvSpPr>
        <p:spPr>
          <a:xfrm flipV="1">
            <a:off x="54566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1-mark355"/>
          <p:cNvSpPr/>
          <p:nvPr/>
        </p:nvSpPr>
        <p:spPr>
          <a:xfrm>
            <a:off x="1799082" y="39319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356"/>
          <p:cNvSpPr/>
          <p:nvPr/>
        </p:nvSpPr>
        <p:spPr>
          <a:xfrm>
            <a:off x="1799082" y="34747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1-mark357"/>
          <p:cNvSpPr/>
          <p:nvPr/>
        </p:nvSpPr>
        <p:spPr>
          <a:xfrm>
            <a:off x="1799082" y="30175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1-mark358"/>
          <p:cNvSpPr/>
          <p:nvPr/>
        </p:nvSpPr>
        <p:spPr>
          <a:xfrm>
            <a:off x="1799082" y="25603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1-mark359"/>
          <p:cNvSpPr/>
          <p:nvPr/>
        </p:nvSpPr>
        <p:spPr>
          <a:xfrm>
            <a:off x="1799082" y="21031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1-figure360" descr="모눈 위의 사각형: 마주 보는 두 쌍의 변이 평행, 마주 보는 변에 같은 길이 표시"/>
          <p:cNvSpPr/>
          <p:nvPr/>
        </p:nvSpPr>
        <p:spPr>
          <a:xfrm>
            <a:off x="2256282" y="2560320"/>
            <a:ext cx="2743200" cy="914400"/>
          </a:xfrm>
          <a:custGeom>
            <a:avLst/>
            <a:gdLst/>
            <a:ahLst/>
            <a:cxnLst/>
            <a:rect l="l" t="t" r="r" b="b"/>
            <a:pathLst>
              <a:path w="2743200" h="914400">
                <a:moveTo>
                  <a:pt x="0" y="914400"/>
                </a:moveTo>
                <a:lnTo>
                  <a:pt x="1828800" y="914400"/>
                </a:lnTo>
                <a:lnTo>
                  <a:pt x="2743200" y="0"/>
                </a:lnTo>
                <a:lnTo>
                  <a:pt x="91440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11-mark361"/>
          <p:cNvSpPr/>
          <p:nvPr/>
        </p:nvSpPr>
        <p:spPr>
          <a:xfrm flipV="1">
            <a:off x="3170682" y="33832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1-mark362"/>
          <p:cNvSpPr/>
          <p:nvPr/>
        </p:nvSpPr>
        <p:spPr>
          <a:xfrm flipH="1" flipV="1">
            <a:off x="4447450" y="2983036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1-mark363"/>
          <p:cNvSpPr/>
          <p:nvPr/>
        </p:nvSpPr>
        <p:spPr>
          <a:xfrm flipH="1" flipV="1">
            <a:off x="4507798" y="2922688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1-mark364"/>
          <p:cNvSpPr/>
          <p:nvPr/>
        </p:nvSpPr>
        <p:spPr>
          <a:xfrm>
            <a:off x="4085082" y="24688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1-mark365"/>
          <p:cNvSpPr/>
          <p:nvPr/>
        </p:nvSpPr>
        <p:spPr>
          <a:xfrm>
            <a:off x="2678998" y="2922688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1-mark366"/>
          <p:cNvSpPr/>
          <p:nvPr/>
        </p:nvSpPr>
        <p:spPr>
          <a:xfrm>
            <a:off x="2618650" y="2983036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1-chip367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8" name="S11-mark368"/>
          <p:cNvSpPr/>
          <p:nvPr/>
        </p:nvSpPr>
        <p:spPr>
          <a:xfrm>
            <a:off x="8213598" y="2560320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286000" h="914400">
                <a:moveTo>
                  <a:pt x="0" y="914400"/>
                </a:moveTo>
                <a:lnTo>
                  <a:pt x="2286000" y="914400"/>
                </a:lnTo>
                <a:lnTo>
                  <a:pt x="228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9" name="S11-mark369"/>
          <p:cNvSpPr/>
          <p:nvPr/>
        </p:nvSpPr>
        <p:spPr>
          <a:xfrm flipV="1">
            <a:off x="77563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1-mark370"/>
          <p:cNvSpPr/>
          <p:nvPr/>
        </p:nvSpPr>
        <p:spPr>
          <a:xfrm flipV="1">
            <a:off x="82135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1-mark371"/>
          <p:cNvSpPr/>
          <p:nvPr/>
        </p:nvSpPr>
        <p:spPr>
          <a:xfrm flipV="1">
            <a:off x="86707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1-mark372"/>
          <p:cNvSpPr/>
          <p:nvPr/>
        </p:nvSpPr>
        <p:spPr>
          <a:xfrm flipV="1">
            <a:off x="91279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1-mark373"/>
          <p:cNvSpPr/>
          <p:nvPr/>
        </p:nvSpPr>
        <p:spPr>
          <a:xfrm flipV="1">
            <a:off x="95851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1-mark374"/>
          <p:cNvSpPr/>
          <p:nvPr/>
        </p:nvSpPr>
        <p:spPr>
          <a:xfrm flipV="1">
            <a:off x="100423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1-mark375"/>
          <p:cNvSpPr/>
          <p:nvPr/>
        </p:nvSpPr>
        <p:spPr>
          <a:xfrm flipV="1">
            <a:off x="104995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1-mark376"/>
          <p:cNvSpPr/>
          <p:nvPr/>
        </p:nvSpPr>
        <p:spPr>
          <a:xfrm flipV="1">
            <a:off x="109567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1-mark377"/>
          <p:cNvSpPr/>
          <p:nvPr/>
        </p:nvSpPr>
        <p:spPr>
          <a:xfrm>
            <a:off x="7756398" y="39319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1-mark378"/>
          <p:cNvSpPr/>
          <p:nvPr/>
        </p:nvSpPr>
        <p:spPr>
          <a:xfrm>
            <a:off x="7756398" y="34747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1-mark379"/>
          <p:cNvSpPr/>
          <p:nvPr/>
        </p:nvSpPr>
        <p:spPr>
          <a:xfrm>
            <a:off x="7756398" y="30175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1-mark380"/>
          <p:cNvSpPr/>
          <p:nvPr/>
        </p:nvSpPr>
        <p:spPr>
          <a:xfrm>
            <a:off x="7756398" y="25603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1-mark381"/>
          <p:cNvSpPr/>
          <p:nvPr/>
        </p:nvSpPr>
        <p:spPr>
          <a:xfrm>
            <a:off x="7756398" y="21031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1-figure382" descr="모눈 위의 사각형: 가로 5칸 세로 2칸, 네 각에 직각 표시, 마주 보는 변에 같은 길이 표시"/>
          <p:cNvSpPr/>
          <p:nvPr/>
        </p:nvSpPr>
        <p:spPr>
          <a:xfrm>
            <a:off x="8213598" y="2560320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286000" h="914400">
                <a:moveTo>
                  <a:pt x="0" y="914400"/>
                </a:moveTo>
                <a:lnTo>
                  <a:pt x="2286000" y="914400"/>
                </a:lnTo>
                <a:lnTo>
                  <a:pt x="22860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11-mark383"/>
          <p:cNvSpPr/>
          <p:nvPr/>
        </p:nvSpPr>
        <p:spPr>
          <a:xfrm>
            <a:off x="8213598" y="32461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1-mark384"/>
          <p:cNvSpPr/>
          <p:nvPr/>
        </p:nvSpPr>
        <p:spPr>
          <a:xfrm>
            <a:off x="10270998" y="32461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11-mark385"/>
          <p:cNvSpPr/>
          <p:nvPr/>
        </p:nvSpPr>
        <p:spPr>
          <a:xfrm>
            <a:off x="10270998" y="2560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1-mark386"/>
          <p:cNvSpPr/>
          <p:nvPr/>
        </p:nvSpPr>
        <p:spPr>
          <a:xfrm>
            <a:off x="8213598" y="2560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11-mark387"/>
          <p:cNvSpPr/>
          <p:nvPr/>
        </p:nvSpPr>
        <p:spPr>
          <a:xfrm flipV="1">
            <a:off x="9356598" y="33832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1-mark388"/>
          <p:cNvSpPr/>
          <p:nvPr/>
        </p:nvSpPr>
        <p:spPr>
          <a:xfrm flipH="1">
            <a:off x="10408158" y="306019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11-mark389"/>
          <p:cNvSpPr/>
          <p:nvPr/>
        </p:nvSpPr>
        <p:spPr>
          <a:xfrm flipH="1">
            <a:off x="10408158" y="297484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1-mark390"/>
          <p:cNvSpPr/>
          <p:nvPr/>
        </p:nvSpPr>
        <p:spPr>
          <a:xfrm>
            <a:off x="9356598" y="24688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11-mark391"/>
          <p:cNvSpPr/>
          <p:nvPr/>
        </p:nvSpPr>
        <p:spPr>
          <a:xfrm>
            <a:off x="8122158" y="297484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1-mark392"/>
          <p:cNvSpPr/>
          <p:nvPr/>
        </p:nvSpPr>
        <p:spPr>
          <a:xfrm>
            <a:off x="8122158" y="306019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11-chip39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54" name="S11-mark394"/>
          <p:cNvSpPr/>
          <p:nvPr/>
        </p:nvSpPr>
        <p:spPr>
          <a:xfrm>
            <a:off x="2530602" y="466344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0" y="1097280"/>
                </a:moveTo>
                <a:lnTo>
                  <a:pt x="2194560" y="1097280"/>
                </a:lnTo>
                <a:lnTo>
                  <a:pt x="1463040" y="0"/>
                </a:lnTo>
                <a:lnTo>
                  <a:pt x="36576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5" name="S11-mark395"/>
          <p:cNvSpPr/>
          <p:nvPr/>
        </p:nvSpPr>
        <p:spPr>
          <a:xfrm flipV="1">
            <a:off x="216484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11-mark396"/>
          <p:cNvSpPr/>
          <p:nvPr/>
        </p:nvSpPr>
        <p:spPr>
          <a:xfrm flipV="1">
            <a:off x="253060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1-mark397"/>
          <p:cNvSpPr/>
          <p:nvPr/>
        </p:nvSpPr>
        <p:spPr>
          <a:xfrm flipV="1">
            <a:off x="289636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1-mark398"/>
          <p:cNvSpPr/>
          <p:nvPr/>
        </p:nvSpPr>
        <p:spPr>
          <a:xfrm flipV="1">
            <a:off x="326212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11-mark399"/>
          <p:cNvSpPr/>
          <p:nvPr/>
        </p:nvSpPr>
        <p:spPr>
          <a:xfrm flipV="1">
            <a:off x="362788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11-mark400"/>
          <p:cNvSpPr/>
          <p:nvPr/>
        </p:nvSpPr>
        <p:spPr>
          <a:xfrm flipV="1">
            <a:off x="399364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11-mark401"/>
          <p:cNvSpPr/>
          <p:nvPr/>
        </p:nvSpPr>
        <p:spPr>
          <a:xfrm flipV="1">
            <a:off x="435940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11-mark402"/>
          <p:cNvSpPr/>
          <p:nvPr/>
        </p:nvSpPr>
        <p:spPr>
          <a:xfrm flipV="1">
            <a:off x="472516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11-mark403"/>
          <p:cNvSpPr/>
          <p:nvPr/>
        </p:nvSpPr>
        <p:spPr>
          <a:xfrm flipV="1">
            <a:off x="509092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11-mark404"/>
          <p:cNvSpPr/>
          <p:nvPr/>
        </p:nvSpPr>
        <p:spPr>
          <a:xfrm>
            <a:off x="2164842" y="612648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11-mark405"/>
          <p:cNvSpPr/>
          <p:nvPr/>
        </p:nvSpPr>
        <p:spPr>
          <a:xfrm>
            <a:off x="2164842" y="576072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11-mark406"/>
          <p:cNvSpPr/>
          <p:nvPr/>
        </p:nvSpPr>
        <p:spPr>
          <a:xfrm>
            <a:off x="2164842" y="539496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7" name="S11-mark407"/>
          <p:cNvSpPr/>
          <p:nvPr/>
        </p:nvSpPr>
        <p:spPr>
          <a:xfrm>
            <a:off x="2164842" y="502920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8" name="S11-mark408"/>
          <p:cNvSpPr/>
          <p:nvPr/>
        </p:nvSpPr>
        <p:spPr>
          <a:xfrm>
            <a:off x="2164842" y="466344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9" name="S11-mark409"/>
          <p:cNvSpPr/>
          <p:nvPr/>
        </p:nvSpPr>
        <p:spPr>
          <a:xfrm>
            <a:off x="2164842" y="429768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0" name="S11-figure410" descr="모눈 위의 사각형: 위아래 변만 평행"/>
          <p:cNvSpPr/>
          <p:nvPr/>
        </p:nvSpPr>
        <p:spPr>
          <a:xfrm>
            <a:off x="2530602" y="466344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0" y="1097280"/>
                </a:moveTo>
                <a:lnTo>
                  <a:pt x="2194560" y="1097280"/>
                </a:lnTo>
                <a:lnTo>
                  <a:pt x="1463040" y="0"/>
                </a:lnTo>
                <a:lnTo>
                  <a:pt x="36576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1" name="S11-chip41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72" name="S11-text41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같고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직각인 사각형은?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41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41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②는 직사각형, 평행사변형, 사다리꼴이 모두 맞아요. 뜻을 하나씩 대어 보게 하세요.</a:t>
            </a:r>
            <a:endParaRPr lang="ko-KR" sz="3000" dirty="0"/>
          </a:p>
        </p:txBody>
      </p:sp>
      <p:sp>
        <p:nvSpPr>
          <p:cNvPr id="5" name="S12-chip41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416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평행사변형</a:t>
            </a:r>
            <a:endParaRPr lang="ko-KR" sz="3000" dirty="0"/>
          </a:p>
        </p:txBody>
      </p:sp>
      <p:sp>
        <p:nvSpPr>
          <p:cNvPr id="7" name="S12-text417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사다리꼴도</a:t>
            </a:r>
            <a:endParaRPr lang="ko-KR" sz="2400" dirty="0"/>
          </a:p>
        </p:txBody>
      </p:sp>
      <p:sp>
        <p:nvSpPr>
          <p:cNvPr id="8" name="S12-text418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직사각형</a:t>
            </a:r>
            <a:endParaRPr lang="ko-KR" sz="3000" dirty="0"/>
          </a:p>
        </p:txBody>
      </p:sp>
      <p:sp>
        <p:nvSpPr>
          <p:cNvPr id="9" name="S12-text419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3개</a:t>
            </a:r>
            <a:endParaRPr lang="ko-KR" sz="2400" dirty="0"/>
          </a:p>
        </p:txBody>
      </p:sp>
      <p:sp>
        <p:nvSpPr>
          <p:cNvPr id="10" name="S12-text420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사다리꼴</a:t>
            </a:r>
            <a:endParaRPr lang="ko-KR" sz="3000" dirty="0"/>
          </a:p>
        </p:txBody>
      </p:sp>
      <p:sp>
        <p:nvSpPr>
          <p:cNvPr id="11" name="S12-text421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 1쌍</a:t>
            </a:r>
            <a:endParaRPr lang="ko-KR" sz="2400" dirty="0"/>
          </a:p>
        </p:txBody>
      </p:sp>
      <p:sp>
        <p:nvSpPr>
          <p:cNvPr id="12" name="S12-text422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정사각형</a:t>
            </a:r>
            <a:endParaRPr lang="ko-KR" sz="3000" dirty="0"/>
          </a:p>
        </p:txBody>
      </p:sp>
      <p:sp>
        <p:nvSpPr>
          <p:cNvPr id="13" name="S12-text423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이름도 맞음</a:t>
            </a:r>
            <a:endParaRPr lang="ko-KR" sz="2400" dirty="0"/>
          </a:p>
        </p:txBody>
      </p:sp>
      <p:sp>
        <p:nvSpPr>
          <p:cNvPr id="14" name="S12-chip42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42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직사각형만</a:t>
            </a:r>
            <a:endParaRPr lang="ko-KR" sz="3000" dirty="0"/>
          </a:p>
        </p:txBody>
      </p:sp>
      <p:sp>
        <p:nvSpPr>
          <p:cNvPr id="16" name="S12-text42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평행사변형도 맞음</a:t>
            </a:r>
            <a:endParaRPr lang="ko-KR" sz="2400" dirty="0"/>
          </a:p>
        </p:txBody>
      </p:sp>
      <p:sp>
        <p:nvSpPr>
          <p:cNvPr id="17" name="S12-text42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평행사변형</a:t>
            </a:r>
            <a:endParaRPr lang="ko-KR" sz="3000" dirty="0"/>
          </a:p>
        </p:txBody>
      </p:sp>
      <p:sp>
        <p:nvSpPr>
          <p:cNvPr id="18" name="S12-text42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평행이 1쌍뿐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마름모를 모두 찾아요</a:t>
            </a:r>
            <a:endParaRPr lang="ko-KR" sz="4000" dirty="0"/>
          </a:p>
        </p:txBody>
      </p:sp>
      <p:sp>
        <p:nvSpPr>
          <p:cNvPr id="3" name="S13-card4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4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어떻게 알았는지 말해요.</a:t>
            </a:r>
            <a:endParaRPr lang="ko-KR" sz="3000" dirty="0"/>
          </a:p>
        </p:txBody>
      </p:sp>
      <p:sp>
        <p:nvSpPr>
          <p:cNvPr id="5" name="S13-chip43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mark432"/>
          <p:cNvSpPr/>
          <p:nvPr/>
        </p:nvSpPr>
        <p:spPr>
          <a:xfrm>
            <a:off x="3154680" y="1732788"/>
            <a:ext cx="946404" cy="946404"/>
          </a:xfrm>
          <a:custGeom>
            <a:avLst/>
            <a:gdLst/>
            <a:ahLst/>
            <a:cxnLst/>
            <a:rect l="l" t="t" r="r" b="b"/>
            <a:pathLst>
              <a:path w="946404" h="946404">
                <a:moveTo>
                  <a:pt x="0" y="946404"/>
                </a:moveTo>
                <a:lnTo>
                  <a:pt x="946404" y="946404"/>
                </a:lnTo>
                <a:lnTo>
                  <a:pt x="946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3-mark433"/>
          <p:cNvSpPr/>
          <p:nvPr/>
        </p:nvSpPr>
        <p:spPr>
          <a:xfrm flipV="1">
            <a:off x="283921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3-mark434"/>
          <p:cNvSpPr/>
          <p:nvPr/>
        </p:nvSpPr>
        <p:spPr>
          <a:xfrm flipV="1">
            <a:off x="3154680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435"/>
          <p:cNvSpPr/>
          <p:nvPr/>
        </p:nvSpPr>
        <p:spPr>
          <a:xfrm flipV="1">
            <a:off x="347014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436"/>
          <p:cNvSpPr/>
          <p:nvPr/>
        </p:nvSpPr>
        <p:spPr>
          <a:xfrm flipV="1">
            <a:off x="3785616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437"/>
          <p:cNvSpPr/>
          <p:nvPr/>
        </p:nvSpPr>
        <p:spPr>
          <a:xfrm flipV="1">
            <a:off x="4101084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438"/>
          <p:cNvSpPr/>
          <p:nvPr/>
        </p:nvSpPr>
        <p:spPr>
          <a:xfrm flipV="1">
            <a:off x="441655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439"/>
          <p:cNvSpPr/>
          <p:nvPr/>
        </p:nvSpPr>
        <p:spPr>
          <a:xfrm>
            <a:off x="2839212" y="2994660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440"/>
          <p:cNvSpPr/>
          <p:nvPr/>
        </p:nvSpPr>
        <p:spPr>
          <a:xfrm>
            <a:off x="2839212" y="2679192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441"/>
          <p:cNvSpPr/>
          <p:nvPr/>
        </p:nvSpPr>
        <p:spPr>
          <a:xfrm>
            <a:off x="2839212" y="2363724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442"/>
          <p:cNvSpPr/>
          <p:nvPr/>
        </p:nvSpPr>
        <p:spPr>
          <a:xfrm>
            <a:off x="2839212" y="2048256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443"/>
          <p:cNvSpPr/>
          <p:nvPr/>
        </p:nvSpPr>
        <p:spPr>
          <a:xfrm>
            <a:off x="2839212" y="1732788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3-mark444"/>
          <p:cNvSpPr/>
          <p:nvPr/>
        </p:nvSpPr>
        <p:spPr>
          <a:xfrm>
            <a:off x="2839212" y="1417320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3-figure445" descr="모눈 위의 사각형 가: 네 변에 같은 길이 표시, 네 각에 직각 표시"/>
          <p:cNvSpPr/>
          <p:nvPr/>
        </p:nvSpPr>
        <p:spPr>
          <a:xfrm>
            <a:off x="3154680" y="1732788"/>
            <a:ext cx="946404" cy="946404"/>
          </a:xfrm>
          <a:custGeom>
            <a:avLst/>
            <a:gdLst/>
            <a:ahLst/>
            <a:cxnLst/>
            <a:rect l="l" t="t" r="r" b="b"/>
            <a:pathLst>
              <a:path w="946404" h="946404">
                <a:moveTo>
                  <a:pt x="0" y="946404"/>
                </a:moveTo>
                <a:lnTo>
                  <a:pt x="946404" y="946404"/>
                </a:lnTo>
                <a:lnTo>
                  <a:pt x="94640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13-mark446"/>
          <p:cNvSpPr/>
          <p:nvPr/>
        </p:nvSpPr>
        <p:spPr>
          <a:xfrm>
            <a:off x="3154680" y="245059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3-mark447"/>
          <p:cNvSpPr/>
          <p:nvPr/>
        </p:nvSpPr>
        <p:spPr>
          <a:xfrm>
            <a:off x="3872484" y="245059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3-mark448"/>
          <p:cNvSpPr/>
          <p:nvPr/>
        </p:nvSpPr>
        <p:spPr>
          <a:xfrm>
            <a:off x="3872484" y="17327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3-mark449"/>
          <p:cNvSpPr/>
          <p:nvPr/>
        </p:nvSpPr>
        <p:spPr>
          <a:xfrm>
            <a:off x="3154680" y="17327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3-mark450"/>
          <p:cNvSpPr/>
          <p:nvPr/>
        </p:nvSpPr>
        <p:spPr>
          <a:xfrm flipV="1">
            <a:off x="3627882" y="2587752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3-mark451"/>
          <p:cNvSpPr/>
          <p:nvPr/>
        </p:nvSpPr>
        <p:spPr>
          <a:xfrm flipH="1">
            <a:off x="4009644" y="220599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3-mark452"/>
          <p:cNvSpPr/>
          <p:nvPr/>
        </p:nvSpPr>
        <p:spPr>
          <a:xfrm>
            <a:off x="3627882" y="1641348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3-mark453"/>
          <p:cNvSpPr/>
          <p:nvPr/>
        </p:nvSpPr>
        <p:spPr>
          <a:xfrm>
            <a:off x="3063240" y="220599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3-chip454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9" name="S13-mark455"/>
          <p:cNvSpPr/>
          <p:nvPr/>
        </p:nvSpPr>
        <p:spPr>
          <a:xfrm>
            <a:off x="8305038" y="1680210"/>
            <a:ext cx="2103120" cy="1051560"/>
          </a:xfrm>
          <a:custGeom>
            <a:avLst/>
            <a:gdLst/>
            <a:ahLst/>
            <a:cxnLst/>
            <a:rect l="l" t="t" r="r" b="b"/>
            <a:pathLst>
              <a:path w="2103120" h="1051560">
                <a:moveTo>
                  <a:pt x="0" y="1051560"/>
                </a:moveTo>
                <a:lnTo>
                  <a:pt x="1314450" y="1051560"/>
                </a:lnTo>
                <a:lnTo>
                  <a:pt x="2103120" y="0"/>
                </a:lnTo>
                <a:lnTo>
                  <a:pt x="78867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0" name="S13-mark456"/>
          <p:cNvSpPr/>
          <p:nvPr/>
        </p:nvSpPr>
        <p:spPr>
          <a:xfrm flipV="1">
            <a:off x="804214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3-mark457"/>
          <p:cNvSpPr/>
          <p:nvPr/>
        </p:nvSpPr>
        <p:spPr>
          <a:xfrm flipV="1">
            <a:off x="830503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458"/>
          <p:cNvSpPr/>
          <p:nvPr/>
        </p:nvSpPr>
        <p:spPr>
          <a:xfrm flipV="1">
            <a:off x="856792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459"/>
          <p:cNvSpPr/>
          <p:nvPr/>
        </p:nvSpPr>
        <p:spPr>
          <a:xfrm flipV="1">
            <a:off x="883081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460"/>
          <p:cNvSpPr/>
          <p:nvPr/>
        </p:nvSpPr>
        <p:spPr>
          <a:xfrm flipV="1">
            <a:off x="909370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461"/>
          <p:cNvSpPr/>
          <p:nvPr/>
        </p:nvSpPr>
        <p:spPr>
          <a:xfrm flipV="1">
            <a:off x="935659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462"/>
          <p:cNvSpPr/>
          <p:nvPr/>
        </p:nvSpPr>
        <p:spPr>
          <a:xfrm flipV="1">
            <a:off x="961948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463"/>
          <p:cNvSpPr/>
          <p:nvPr/>
        </p:nvSpPr>
        <p:spPr>
          <a:xfrm flipV="1">
            <a:off x="988237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464"/>
          <p:cNvSpPr/>
          <p:nvPr/>
        </p:nvSpPr>
        <p:spPr>
          <a:xfrm flipV="1">
            <a:off x="1014526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465"/>
          <p:cNvSpPr/>
          <p:nvPr/>
        </p:nvSpPr>
        <p:spPr>
          <a:xfrm flipV="1">
            <a:off x="1040815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466"/>
          <p:cNvSpPr/>
          <p:nvPr/>
        </p:nvSpPr>
        <p:spPr>
          <a:xfrm flipV="1">
            <a:off x="1067104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mark467"/>
          <p:cNvSpPr/>
          <p:nvPr/>
        </p:nvSpPr>
        <p:spPr>
          <a:xfrm>
            <a:off x="8042148" y="299466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3-mark468"/>
          <p:cNvSpPr/>
          <p:nvPr/>
        </p:nvSpPr>
        <p:spPr>
          <a:xfrm>
            <a:off x="8042148" y="273177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3-mark469"/>
          <p:cNvSpPr/>
          <p:nvPr/>
        </p:nvSpPr>
        <p:spPr>
          <a:xfrm>
            <a:off x="8042148" y="246888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3-mark470"/>
          <p:cNvSpPr/>
          <p:nvPr/>
        </p:nvSpPr>
        <p:spPr>
          <a:xfrm>
            <a:off x="8042148" y="220599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3-mark471"/>
          <p:cNvSpPr/>
          <p:nvPr/>
        </p:nvSpPr>
        <p:spPr>
          <a:xfrm>
            <a:off x="8042148" y="194310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3-mark472"/>
          <p:cNvSpPr/>
          <p:nvPr/>
        </p:nvSpPr>
        <p:spPr>
          <a:xfrm>
            <a:off x="8042148" y="168021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3-mark473"/>
          <p:cNvSpPr/>
          <p:nvPr/>
        </p:nvSpPr>
        <p:spPr>
          <a:xfrm>
            <a:off x="8042148" y="141732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3-figure474" descr="모눈 위의 사각형 나: 네 변에 같은 길이 표시, 비스듬히 누운 모양"/>
          <p:cNvSpPr/>
          <p:nvPr/>
        </p:nvSpPr>
        <p:spPr>
          <a:xfrm>
            <a:off x="8305038" y="1680210"/>
            <a:ext cx="2103120" cy="1051560"/>
          </a:xfrm>
          <a:custGeom>
            <a:avLst/>
            <a:gdLst/>
            <a:ahLst/>
            <a:cxnLst/>
            <a:rect l="l" t="t" r="r" b="b"/>
            <a:pathLst>
              <a:path w="2103120" h="1051560">
                <a:moveTo>
                  <a:pt x="0" y="1051560"/>
                </a:moveTo>
                <a:lnTo>
                  <a:pt x="1314450" y="1051560"/>
                </a:lnTo>
                <a:lnTo>
                  <a:pt x="2103120" y="0"/>
                </a:lnTo>
                <a:lnTo>
                  <a:pt x="78867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9" name="S13-mark475"/>
          <p:cNvSpPr/>
          <p:nvPr/>
        </p:nvSpPr>
        <p:spPr>
          <a:xfrm flipV="1">
            <a:off x="8962263" y="264033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3-mark476"/>
          <p:cNvSpPr/>
          <p:nvPr/>
        </p:nvSpPr>
        <p:spPr>
          <a:xfrm flipH="1" flipV="1">
            <a:off x="9940671" y="215112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13-mark477"/>
          <p:cNvSpPr/>
          <p:nvPr/>
        </p:nvSpPr>
        <p:spPr>
          <a:xfrm>
            <a:off x="9750933" y="158877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3-mark478"/>
          <p:cNvSpPr/>
          <p:nvPr/>
        </p:nvSpPr>
        <p:spPr>
          <a:xfrm>
            <a:off x="8626221" y="215112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13-chip479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54" name="S13-mark480"/>
          <p:cNvSpPr/>
          <p:nvPr/>
        </p:nvSpPr>
        <p:spPr>
          <a:xfrm>
            <a:off x="2642045" y="3846195"/>
            <a:ext cx="1971675" cy="788670"/>
          </a:xfrm>
          <a:custGeom>
            <a:avLst/>
            <a:gdLst/>
            <a:ahLst/>
            <a:cxnLst/>
            <a:rect l="l" t="t" r="r" b="b"/>
            <a:pathLst>
              <a:path w="1971675" h="788670">
                <a:moveTo>
                  <a:pt x="0" y="788670"/>
                </a:moveTo>
                <a:lnTo>
                  <a:pt x="1971675" y="788670"/>
                </a:lnTo>
                <a:lnTo>
                  <a:pt x="1971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5" name="S13-mark481"/>
          <p:cNvSpPr/>
          <p:nvPr/>
        </p:nvSpPr>
        <p:spPr>
          <a:xfrm flipV="1">
            <a:off x="2247710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13-mark482"/>
          <p:cNvSpPr/>
          <p:nvPr/>
        </p:nvSpPr>
        <p:spPr>
          <a:xfrm flipV="1">
            <a:off x="264204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3-mark483"/>
          <p:cNvSpPr/>
          <p:nvPr/>
        </p:nvSpPr>
        <p:spPr>
          <a:xfrm flipV="1">
            <a:off x="303637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3-mark484"/>
          <p:cNvSpPr/>
          <p:nvPr/>
        </p:nvSpPr>
        <p:spPr>
          <a:xfrm flipV="1">
            <a:off x="3430714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13-mark485"/>
          <p:cNvSpPr/>
          <p:nvPr/>
        </p:nvSpPr>
        <p:spPr>
          <a:xfrm flipV="1">
            <a:off x="382504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13-mark486"/>
          <p:cNvSpPr/>
          <p:nvPr/>
        </p:nvSpPr>
        <p:spPr>
          <a:xfrm flipV="1">
            <a:off x="421938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13-mark487"/>
          <p:cNvSpPr/>
          <p:nvPr/>
        </p:nvSpPr>
        <p:spPr>
          <a:xfrm flipV="1">
            <a:off x="461371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13-mark488"/>
          <p:cNvSpPr/>
          <p:nvPr/>
        </p:nvSpPr>
        <p:spPr>
          <a:xfrm flipV="1">
            <a:off x="500805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13-mark489"/>
          <p:cNvSpPr/>
          <p:nvPr/>
        </p:nvSpPr>
        <p:spPr>
          <a:xfrm>
            <a:off x="2247710" y="5029200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13-mark490"/>
          <p:cNvSpPr/>
          <p:nvPr/>
        </p:nvSpPr>
        <p:spPr>
          <a:xfrm>
            <a:off x="2247710" y="4634865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13-mark491"/>
          <p:cNvSpPr/>
          <p:nvPr/>
        </p:nvSpPr>
        <p:spPr>
          <a:xfrm>
            <a:off x="2247710" y="4240530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13-mark492"/>
          <p:cNvSpPr/>
          <p:nvPr/>
        </p:nvSpPr>
        <p:spPr>
          <a:xfrm>
            <a:off x="2247710" y="3846195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7" name="S13-mark493"/>
          <p:cNvSpPr/>
          <p:nvPr/>
        </p:nvSpPr>
        <p:spPr>
          <a:xfrm>
            <a:off x="2247710" y="3451860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8" name="S13-figure494" descr="모눈 위의 사각형 다: 긴 변 두 개와 짧은 변 두 개에 각각 같은 길이 표시, 네 각에 직각 표시"/>
          <p:cNvSpPr/>
          <p:nvPr/>
        </p:nvSpPr>
        <p:spPr>
          <a:xfrm>
            <a:off x="2642045" y="3846195"/>
            <a:ext cx="1971675" cy="788670"/>
          </a:xfrm>
          <a:custGeom>
            <a:avLst/>
            <a:gdLst/>
            <a:ahLst/>
            <a:cxnLst/>
            <a:rect l="l" t="t" r="r" b="b"/>
            <a:pathLst>
              <a:path w="1971675" h="788670">
                <a:moveTo>
                  <a:pt x="0" y="788670"/>
                </a:moveTo>
                <a:lnTo>
                  <a:pt x="1971675" y="788670"/>
                </a:lnTo>
                <a:lnTo>
                  <a:pt x="197167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9" name="S13-mark495"/>
          <p:cNvSpPr/>
          <p:nvPr/>
        </p:nvSpPr>
        <p:spPr>
          <a:xfrm>
            <a:off x="2642045" y="44062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0" name="S13-mark496"/>
          <p:cNvSpPr/>
          <p:nvPr/>
        </p:nvSpPr>
        <p:spPr>
          <a:xfrm>
            <a:off x="4385119" y="44062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1" name="S13-mark497"/>
          <p:cNvSpPr/>
          <p:nvPr/>
        </p:nvSpPr>
        <p:spPr>
          <a:xfrm>
            <a:off x="4385119" y="38461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2" name="S13-mark498"/>
          <p:cNvSpPr/>
          <p:nvPr/>
        </p:nvSpPr>
        <p:spPr>
          <a:xfrm>
            <a:off x="2642045" y="38461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3" name="S13-mark499"/>
          <p:cNvSpPr/>
          <p:nvPr/>
        </p:nvSpPr>
        <p:spPr>
          <a:xfrm flipV="1">
            <a:off x="3627882" y="454342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4" name="S13-mark500"/>
          <p:cNvSpPr/>
          <p:nvPr/>
        </p:nvSpPr>
        <p:spPr>
          <a:xfrm flipH="1">
            <a:off x="4522280" y="428320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5" name="S13-mark501"/>
          <p:cNvSpPr/>
          <p:nvPr/>
        </p:nvSpPr>
        <p:spPr>
          <a:xfrm flipH="1">
            <a:off x="4522280" y="419785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6" name="S13-mark502"/>
          <p:cNvSpPr/>
          <p:nvPr/>
        </p:nvSpPr>
        <p:spPr>
          <a:xfrm>
            <a:off x="3627882" y="375475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7" name="S13-mark503"/>
          <p:cNvSpPr/>
          <p:nvPr/>
        </p:nvSpPr>
        <p:spPr>
          <a:xfrm>
            <a:off x="2550604" y="419785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8" name="S13-mark504"/>
          <p:cNvSpPr/>
          <p:nvPr/>
        </p:nvSpPr>
        <p:spPr>
          <a:xfrm>
            <a:off x="2550604" y="428320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9" name="S13-chip50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80" name="S13-mark506"/>
          <p:cNvSpPr/>
          <p:nvPr/>
        </p:nvSpPr>
        <p:spPr>
          <a:xfrm>
            <a:off x="8173593" y="3846195"/>
            <a:ext cx="2366010" cy="788670"/>
          </a:xfrm>
          <a:custGeom>
            <a:avLst/>
            <a:gdLst/>
            <a:ahLst/>
            <a:cxnLst/>
            <a:rect l="l" t="t" r="r" b="b"/>
            <a:pathLst>
              <a:path w="2366010" h="788670">
                <a:moveTo>
                  <a:pt x="0" y="788670"/>
                </a:moveTo>
                <a:lnTo>
                  <a:pt x="1577340" y="788670"/>
                </a:lnTo>
                <a:lnTo>
                  <a:pt x="2366010" y="0"/>
                </a:lnTo>
                <a:lnTo>
                  <a:pt x="78867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1" name="S13-mark507"/>
          <p:cNvSpPr/>
          <p:nvPr/>
        </p:nvSpPr>
        <p:spPr>
          <a:xfrm flipV="1">
            <a:off x="777925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2" name="S13-mark508"/>
          <p:cNvSpPr/>
          <p:nvPr/>
        </p:nvSpPr>
        <p:spPr>
          <a:xfrm flipV="1">
            <a:off x="817359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3" name="S13-mark509"/>
          <p:cNvSpPr/>
          <p:nvPr/>
        </p:nvSpPr>
        <p:spPr>
          <a:xfrm flipV="1">
            <a:off x="856792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4" name="S13-mark510"/>
          <p:cNvSpPr/>
          <p:nvPr/>
        </p:nvSpPr>
        <p:spPr>
          <a:xfrm flipV="1">
            <a:off x="896226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5" name="S13-mark511"/>
          <p:cNvSpPr/>
          <p:nvPr/>
        </p:nvSpPr>
        <p:spPr>
          <a:xfrm flipV="1">
            <a:off x="935659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6" name="S13-mark512"/>
          <p:cNvSpPr/>
          <p:nvPr/>
        </p:nvSpPr>
        <p:spPr>
          <a:xfrm flipV="1">
            <a:off x="975093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7" name="S13-mark513"/>
          <p:cNvSpPr/>
          <p:nvPr/>
        </p:nvSpPr>
        <p:spPr>
          <a:xfrm flipV="1">
            <a:off x="1014526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8" name="S13-mark514"/>
          <p:cNvSpPr/>
          <p:nvPr/>
        </p:nvSpPr>
        <p:spPr>
          <a:xfrm flipV="1">
            <a:off x="1053960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9" name="S13-mark515"/>
          <p:cNvSpPr/>
          <p:nvPr/>
        </p:nvSpPr>
        <p:spPr>
          <a:xfrm flipV="1">
            <a:off x="1093393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0" name="S13-mark516"/>
          <p:cNvSpPr/>
          <p:nvPr/>
        </p:nvSpPr>
        <p:spPr>
          <a:xfrm>
            <a:off x="7779258" y="502920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1" name="S13-mark517"/>
          <p:cNvSpPr/>
          <p:nvPr/>
        </p:nvSpPr>
        <p:spPr>
          <a:xfrm>
            <a:off x="7779258" y="463486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2" name="S13-mark518"/>
          <p:cNvSpPr/>
          <p:nvPr/>
        </p:nvSpPr>
        <p:spPr>
          <a:xfrm>
            <a:off x="7779258" y="424053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3" name="S13-mark519"/>
          <p:cNvSpPr/>
          <p:nvPr/>
        </p:nvSpPr>
        <p:spPr>
          <a:xfrm>
            <a:off x="7779258" y="384619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4" name="S13-mark520"/>
          <p:cNvSpPr/>
          <p:nvPr/>
        </p:nvSpPr>
        <p:spPr>
          <a:xfrm>
            <a:off x="7779258" y="345186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5" name="S13-figure521" descr="모눈 위의 사각형 라: 마주 보는 변끼리 같은 길이 표시"/>
          <p:cNvSpPr/>
          <p:nvPr/>
        </p:nvSpPr>
        <p:spPr>
          <a:xfrm>
            <a:off x="8173593" y="3846195"/>
            <a:ext cx="2366010" cy="788670"/>
          </a:xfrm>
          <a:custGeom>
            <a:avLst/>
            <a:gdLst/>
            <a:ahLst/>
            <a:cxnLst/>
            <a:rect l="l" t="t" r="r" b="b"/>
            <a:pathLst>
              <a:path w="2366010" h="788670">
                <a:moveTo>
                  <a:pt x="0" y="788670"/>
                </a:moveTo>
                <a:lnTo>
                  <a:pt x="1577340" y="788670"/>
                </a:lnTo>
                <a:lnTo>
                  <a:pt x="2366010" y="0"/>
                </a:lnTo>
                <a:lnTo>
                  <a:pt x="78867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6" name="S13-mark522"/>
          <p:cNvSpPr/>
          <p:nvPr/>
        </p:nvSpPr>
        <p:spPr>
          <a:xfrm flipV="1">
            <a:off x="8962263" y="454342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7" name="S13-mark523"/>
          <p:cNvSpPr/>
          <p:nvPr/>
        </p:nvSpPr>
        <p:spPr>
          <a:xfrm flipH="1" flipV="1">
            <a:off x="10050436" y="4206046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8" name="S13-mark524"/>
          <p:cNvSpPr/>
          <p:nvPr/>
        </p:nvSpPr>
        <p:spPr>
          <a:xfrm flipH="1" flipV="1">
            <a:off x="10110784" y="4145698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9" name="S13-mark525"/>
          <p:cNvSpPr/>
          <p:nvPr/>
        </p:nvSpPr>
        <p:spPr>
          <a:xfrm>
            <a:off x="9750933" y="375475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0" name="S13-mark526"/>
          <p:cNvSpPr/>
          <p:nvPr/>
        </p:nvSpPr>
        <p:spPr>
          <a:xfrm>
            <a:off x="8533444" y="4145698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1" name="S13-mark527"/>
          <p:cNvSpPr/>
          <p:nvPr/>
        </p:nvSpPr>
        <p:spPr>
          <a:xfrm>
            <a:off x="8473096" y="4206046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5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5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변과 변의 길이, 각으로 사각형의 이름을 정해요.</a:t>
            </a:r>
            <a:endParaRPr lang="ko-KR" sz="3000" dirty="0"/>
          </a:p>
        </p:txBody>
      </p:sp>
      <p:sp>
        <p:nvSpPr>
          <p:cNvPr id="5" name="S14-chip53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뜻에 맞는 이름 모두 찾기</a:t>
            </a:r>
            <a:endParaRPr lang="ko-KR" sz="2400" dirty="0"/>
          </a:p>
        </p:txBody>
      </p:sp>
      <p:sp>
        <p:nvSpPr>
          <p:cNvPr id="6" name="S14-chip53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기울었다고 다른 사각형이라 하기</a:t>
            </a:r>
            <a:endParaRPr lang="ko-KR" sz="2400" dirty="0"/>
          </a:p>
        </p:txBody>
      </p:sp>
      <p:sp>
        <p:nvSpPr>
          <p:cNvPr id="7" name="S14-text53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53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사다리꼴의 뜻은?</a:t>
            </a:r>
            <a:endParaRPr lang="ko-KR" sz="2400" dirty="0"/>
          </a:p>
        </p:txBody>
      </p:sp>
      <p:sp>
        <p:nvSpPr>
          <p:cNvPr id="9" name="S14-text53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마름모의 뜻은?</a:t>
            </a:r>
            <a:endParaRPr lang="ko-KR" sz="2400" dirty="0"/>
          </a:p>
        </p:txBody>
      </p:sp>
      <p:sp>
        <p:nvSpPr>
          <p:cNvPr id="10" name="S14-text53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직사각형은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평행사변형일까요?</a:t>
            </a:r>
            <a:endParaRPr lang="ko-KR" sz="2400" dirty="0"/>
          </a:p>
        </p:txBody>
      </p:sp>
      <p:sp>
        <p:nvSpPr>
          <p:cNvPr id="11" name="S14-text53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다각형과 대각선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수직과 평행</a:t>
            </a:r>
            <a:endParaRPr lang="ko-KR" sz="4000" dirty="0"/>
          </a:p>
        </p:txBody>
      </p:sp>
      <p:sp>
        <p:nvSpPr>
          <p:cNvPr id="3" name="S15-mark537"/>
          <p:cNvSpPr/>
          <p:nvPr/>
        </p:nvSpPr>
        <p:spPr>
          <a:xfrm flipV="1">
            <a:off x="640080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" name="S15-mark538"/>
          <p:cNvSpPr/>
          <p:nvPr/>
        </p:nvSpPr>
        <p:spPr>
          <a:xfrm flipV="1">
            <a:off x="1287590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15-mark539"/>
          <p:cNvSpPr/>
          <p:nvPr/>
        </p:nvSpPr>
        <p:spPr>
          <a:xfrm flipV="1">
            <a:off x="1935099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5-mark540"/>
          <p:cNvSpPr/>
          <p:nvPr/>
        </p:nvSpPr>
        <p:spPr>
          <a:xfrm flipV="1">
            <a:off x="2582609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5-mark541"/>
          <p:cNvSpPr/>
          <p:nvPr/>
        </p:nvSpPr>
        <p:spPr>
          <a:xfrm flipV="1">
            <a:off x="3230118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542"/>
          <p:cNvSpPr/>
          <p:nvPr/>
        </p:nvSpPr>
        <p:spPr>
          <a:xfrm flipV="1">
            <a:off x="3877627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543"/>
          <p:cNvSpPr/>
          <p:nvPr/>
        </p:nvSpPr>
        <p:spPr>
          <a:xfrm flipV="1">
            <a:off x="4525137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544"/>
          <p:cNvSpPr/>
          <p:nvPr/>
        </p:nvSpPr>
        <p:spPr>
          <a:xfrm flipV="1">
            <a:off x="5172647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545"/>
          <p:cNvSpPr/>
          <p:nvPr/>
        </p:nvSpPr>
        <p:spPr>
          <a:xfrm flipV="1">
            <a:off x="5820156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546"/>
          <p:cNvSpPr/>
          <p:nvPr/>
        </p:nvSpPr>
        <p:spPr>
          <a:xfrm>
            <a:off x="640080" y="5714429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547"/>
          <p:cNvSpPr/>
          <p:nvPr/>
        </p:nvSpPr>
        <p:spPr>
          <a:xfrm>
            <a:off x="640080" y="5066919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548"/>
          <p:cNvSpPr/>
          <p:nvPr/>
        </p:nvSpPr>
        <p:spPr>
          <a:xfrm>
            <a:off x="640080" y="4419410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5-mark549"/>
          <p:cNvSpPr/>
          <p:nvPr/>
        </p:nvSpPr>
        <p:spPr>
          <a:xfrm>
            <a:off x="640080" y="3771900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5-mark550"/>
          <p:cNvSpPr/>
          <p:nvPr/>
        </p:nvSpPr>
        <p:spPr>
          <a:xfrm>
            <a:off x="640080" y="3124390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5-mark551"/>
          <p:cNvSpPr/>
          <p:nvPr/>
        </p:nvSpPr>
        <p:spPr>
          <a:xfrm>
            <a:off x="640080" y="2476881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5-mark552"/>
          <p:cNvSpPr/>
          <p:nvPr/>
        </p:nvSpPr>
        <p:spPr>
          <a:xfrm>
            <a:off x="640080" y="1829372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5-mark553"/>
          <p:cNvSpPr/>
          <p:nvPr/>
        </p:nvSpPr>
        <p:spPr>
          <a:xfrm>
            <a:off x="2582609" y="2897762"/>
            <a:ext cx="226628" cy="226628"/>
          </a:xfrm>
          <a:custGeom>
            <a:avLst/>
            <a:gdLst/>
            <a:ahLst/>
            <a:cxnLst/>
            <a:rect l="l" t="t" r="r" b="b"/>
            <a:pathLst>
              <a:path w="226628" h="226628">
                <a:moveTo>
                  <a:pt x="0" y="0"/>
                </a:moveTo>
                <a:lnTo>
                  <a:pt x="226628" y="0"/>
                </a:lnTo>
                <a:lnTo>
                  <a:pt x="226628" y="226628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mark554"/>
          <p:cNvSpPr/>
          <p:nvPr/>
        </p:nvSpPr>
        <p:spPr>
          <a:xfrm>
            <a:off x="2582609" y="41908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5-figure555" descr="모눈 위의 가로 직선 두 개(주황색)와 세로 직선 하나: 세로 직선은 두 가로 직선과 각각 직각으로 만나고, 두 가로 직선은 서로 만나지 않음"/>
          <p:cNvSpPr/>
          <p:nvPr/>
        </p:nvSpPr>
        <p:spPr>
          <a:xfrm>
            <a:off x="1287590" y="3124390"/>
            <a:ext cx="3885057" cy="0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22" name="S15-mark556"/>
          <p:cNvSpPr/>
          <p:nvPr/>
        </p:nvSpPr>
        <p:spPr>
          <a:xfrm>
            <a:off x="1287590" y="4419410"/>
            <a:ext cx="3885057" cy="0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23" name="S15-mark557"/>
          <p:cNvSpPr/>
          <p:nvPr/>
        </p:nvSpPr>
        <p:spPr>
          <a:xfrm flipV="1">
            <a:off x="2582609" y="2476881"/>
            <a:ext cx="0" cy="259003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15-card558"/>
          <p:cNvSpPr/>
          <p:nvPr/>
        </p:nvSpPr>
        <p:spPr>
          <a:xfrm>
            <a:off x="6277356" y="2043684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15-cardtext559"/>
          <p:cNvSpPr txBox="1"/>
          <p:nvPr/>
        </p:nvSpPr>
        <p:spPr>
          <a:xfrm>
            <a:off x="6551676" y="2180844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직선이 만나서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이뤄요.</a:t>
            </a:r>
            <a:endParaRPr lang="ko-KR" sz="3000" dirty="0"/>
          </a:p>
        </p:txBody>
      </p:sp>
      <p:sp>
        <p:nvSpPr>
          <p:cNvPr id="26" name="S15-card560"/>
          <p:cNvSpPr/>
          <p:nvPr/>
        </p:nvSpPr>
        <p:spPr>
          <a:xfrm>
            <a:off x="6277356" y="388620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15-cardtext561"/>
          <p:cNvSpPr txBox="1"/>
          <p:nvPr/>
        </p:nvSpPr>
        <p:spPr>
          <a:xfrm>
            <a:off x="6551676" y="402336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만나지 않는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여러 가지 사각형</dc:title>
  <dc:subject>KR22-G04-MAT-QUAD-L01</dc:subject>
  <dc:creator>education-ppt</dc:creator>
  <cp:lastModifiedBy>education-ppt</cp:lastModifiedBy>
  <cp:revision>1</cp:revision>
  <dcterms:created xsi:type="dcterms:W3CDTF">2026-10-26T08:06:37Z</dcterms:created>
  <dcterms:modified xsi:type="dcterms:W3CDTF">2026-10-26T08:06:37Z</dcterms:modified>
</cp:coreProperties>
</file>