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9a453f8-07a0-f46f-1d30-002c92fb51b1}">
          <p14:sldIdLst>
            <p14:sldId id="256"/>
            <p14:sldId id="257"/>
          </p14:sldIdLst>
        </p14:section>
        <p14:section name="개념" id="{b7c93c9c-5265-644d-dabb-6bf695e9ba39}">
          <p14:sldIdLst>
            <p14:sldId id="258"/>
            <p14:sldId id="259"/>
            <p14:sldId id="261"/>
            <p14:sldId id="263"/>
          </p14:sldIdLst>
        </p14:section>
        <p14:section name="연습" id="{a12a762b-2a94-a0ce-0ab3-7aa390a2e7a6}">
          <p14:sldIdLst>
            <p14:sldId id="260"/>
            <p14:sldId id="262"/>
            <p14:sldId id="264"/>
          </p14:sldIdLst>
        </p14:section>
        <p14:section name="개념" id="{37c232da-271f-e55d-8c57-0500d9e8ea09}">
          <p14:sldIdLst/>
        </p14:section>
        <p14:section name="연습" id="{b038cfcf-6623-7dbc-1442-5cbfe8229e6f}">
          <p14:sldIdLst/>
        </p14:section>
        <p14:section name="개념" id="{9ca4ee97-bc8d-9aef-1c0c-f3f026290d40}">
          <p14:sldIdLst/>
        </p14:section>
        <p14:section name="연습" id="{eafcf286-8244-3a8a-0492-d0c12275d02a}">
          <p14:sldIdLst/>
        </p14:section>
        <p14:section name="확인" id="{2fd1e824-50de-6c4f-968c-9673b3fac802}">
          <p14:sldIdLst>
            <p14:sldId id="265"/>
            <p14:sldId id="266"/>
          </p14:sldIdLst>
        </p14:section>
        <p14:section name="정리" id="{6d10bb7c-8de7-e68c-e33b-8f3547ac22b2}">
          <p14:sldIdLst>
            <p14:sldId id="267"/>
          </p14:sldIdLst>
        </p14:section>
        <p14:section name="보충" id="{ea83578a-5413-84c2-9b97-3130648322d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수직과 평행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끝없이 늘여도 만나지 않는 두 직선이 있을까요?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9200606" y="2432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00606" y="15452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figure4" descr="평행한 두 직선과 그 사이에 수직으로 그은 선분"/>
          <p:cNvSpPr/>
          <p:nvPr/>
        </p:nvSpPr>
        <p:spPr>
          <a:xfrm>
            <a:off x="7772400" y="2661013"/>
            <a:ext cx="3749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72400" y="1545227"/>
            <a:ext cx="3749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200606" y="1545227"/>
            <a:ext cx="0" cy="1115786"/>
          </a:xfrm>
          <a:prstGeom prst="line">
            <a:avLst/>
          </a:pr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수직과 수선을 알고 그어요.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평행선과 평행선 사이의 거리를 알아요.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9" descr="점 ㄱ과 점 ㄴ을 지나 양쪽으로 끝없이 늘인 곧은 선"/>
          <p:cNvSpPr/>
          <p:nvPr/>
        </p:nvSpPr>
        <p:spPr>
          <a:xfrm flipV="1">
            <a:off x="6643116" y="3077185"/>
            <a:ext cx="4631436" cy="138943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10"/>
          <p:cNvSpPr/>
          <p:nvPr/>
        </p:nvSpPr>
        <p:spPr>
          <a:xfrm>
            <a:off x="7428817" y="415363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2-mark11"/>
          <p:cNvSpPr/>
          <p:nvPr/>
        </p:nvSpPr>
        <p:spPr>
          <a:xfrm>
            <a:off x="10369979" y="32712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label13"/>
          <p:cNvSpPr txBox="1"/>
          <p:nvPr/>
        </p:nvSpPr>
        <p:spPr>
          <a:xfrm>
            <a:off x="7164186" y="37255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7" name="S02-label15"/>
          <p:cNvSpPr txBox="1"/>
          <p:nvPr/>
        </p:nvSpPr>
        <p:spPr>
          <a:xfrm>
            <a:off x="10105348" y="284316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8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2-text1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도?</a:t>
            </a:r>
            <a:endParaRPr lang="ko-KR" sz="3000" dirty="0"/>
          </a:p>
        </p:txBody>
      </p:sp>
      <p:sp>
        <p:nvSpPr>
          <p:cNvPr id="10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text1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그림은 선분,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반직선, 직선 중 무엇?</a:t>
            </a:r>
            <a:endParaRPr lang="ko-KR" sz="3000" dirty="0"/>
          </a:p>
        </p:txBody>
      </p:sp>
      <p:sp>
        <p:nvSpPr>
          <p:cNvPr id="12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ext2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이름은?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수직과 수선</a:t>
            </a:r>
            <a:endParaRPr lang="ko-KR" sz="4000" dirty="0"/>
          </a:p>
        </p:txBody>
      </p:sp>
      <p:sp>
        <p:nvSpPr>
          <p:cNvPr id="3" name="S03-mark22"/>
          <p:cNvSpPr/>
          <p:nvPr/>
        </p:nvSpPr>
        <p:spPr>
          <a:xfrm flipV="1">
            <a:off x="66148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3-mark23"/>
          <p:cNvSpPr/>
          <p:nvPr/>
        </p:nvSpPr>
        <p:spPr>
          <a:xfrm flipV="1">
            <a:off x="108959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3-mark24"/>
          <p:cNvSpPr/>
          <p:nvPr/>
        </p:nvSpPr>
        <p:spPr>
          <a:xfrm flipV="1">
            <a:off x="1517696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25"/>
          <p:cNvSpPr/>
          <p:nvPr/>
        </p:nvSpPr>
        <p:spPr>
          <a:xfrm flipV="1">
            <a:off x="1945802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 flipV="1">
            <a:off x="2373907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280201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V="1">
            <a:off x="3230118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 flipV="1">
            <a:off x="365822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4086329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 flipV="1">
            <a:off x="4514434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 flipV="1">
            <a:off x="4942540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 flipV="1">
            <a:off x="537064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 flipV="1">
            <a:off x="579875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>
            <a:off x="661485" y="612648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36"/>
          <p:cNvSpPr/>
          <p:nvPr/>
        </p:nvSpPr>
        <p:spPr>
          <a:xfrm>
            <a:off x="661485" y="569837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37"/>
          <p:cNvSpPr/>
          <p:nvPr/>
        </p:nvSpPr>
        <p:spPr>
          <a:xfrm>
            <a:off x="661485" y="5270269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>
            <a:off x="661485" y="4842164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>
            <a:off x="661485" y="4414058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>
            <a:off x="661485" y="3985953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>
            <a:off x="661485" y="3557847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661485" y="3129742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661485" y="2701636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661485" y="2273531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>
            <a:off x="661485" y="184542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661485" y="141732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3230118" y="375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3-figure48" descr="모눈 위에서 직선 가와 직선 나가 직각으로 만나는 그림"/>
          <p:cNvSpPr/>
          <p:nvPr/>
        </p:nvSpPr>
        <p:spPr>
          <a:xfrm>
            <a:off x="1432075" y="3985953"/>
            <a:ext cx="359608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 flipV="1">
            <a:off x="3230118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3-label51"/>
          <p:cNvSpPr txBox="1"/>
          <p:nvPr/>
        </p:nvSpPr>
        <p:spPr>
          <a:xfrm>
            <a:off x="4995187" y="360280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2" name="S03-label53"/>
          <p:cNvSpPr txBox="1"/>
          <p:nvPr/>
        </p:nvSpPr>
        <p:spPr>
          <a:xfrm>
            <a:off x="3239955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3" name="S03-card54"/>
          <p:cNvSpPr/>
          <p:nvPr/>
        </p:nvSpPr>
        <p:spPr>
          <a:xfrm>
            <a:off x="6277356" y="204368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3-cardtext55"/>
          <p:cNvSpPr txBox="1"/>
          <p:nvPr/>
        </p:nvSpPr>
        <p:spPr>
          <a:xfrm>
            <a:off x="6551676" y="218084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만나서 이루는 각이 직각이면 서로 수직이에요.</a:t>
            </a:r>
            <a:endParaRPr lang="ko-KR" sz="3000" dirty="0"/>
          </a:p>
        </p:txBody>
      </p:sp>
      <p:sp>
        <p:nvSpPr>
          <p:cNvPr id="35" name="S03-card56"/>
          <p:cNvSpPr/>
          <p:nvPr/>
        </p:nvSpPr>
        <p:spPr>
          <a:xfrm>
            <a:off x="6277356" y="388620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3-cardtext57"/>
          <p:cNvSpPr txBox="1"/>
          <p:nvPr/>
        </p:nvSpPr>
        <p:spPr>
          <a:xfrm>
            <a:off x="6551676" y="402336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나는 직선 가에 대한 수선이에요.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 긋기</a:t>
            </a:r>
            <a:endParaRPr lang="ko-KR" sz="4000" dirty="0"/>
          </a:p>
        </p:txBody>
      </p:sp>
      <p:sp>
        <p:nvSpPr>
          <p:cNvPr id="3" name="S04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ㄱ을 지나고 직선 가에 수직인 직선을 그어요.</a:t>
            </a:r>
            <a:endParaRPr lang="ko-KR" sz="3000" dirty="0"/>
          </a:p>
        </p:txBody>
      </p:sp>
      <p:sp>
        <p:nvSpPr>
          <p:cNvPr id="4" name="S04-figure59" descr="비스듬한 직선 가 위의 점 ㄱ에 삼각자의 직각을 대고 그은 수선"/>
          <p:cNvSpPr/>
          <p:nvPr/>
        </p:nvSpPr>
        <p:spPr>
          <a:xfrm>
            <a:off x="8328977" y="3072482"/>
            <a:ext cx="1948615" cy="1540805"/>
          </a:xfrm>
          <a:custGeom>
            <a:avLst/>
            <a:gdLst/>
            <a:ahLst/>
            <a:cxnLst/>
            <a:rect l="l" t="t" r="r" b="b"/>
            <a:pathLst>
              <a:path w="1948615" h="1540805">
                <a:moveTo>
                  <a:pt x="770377" y="1540805"/>
                </a:moveTo>
                <a:lnTo>
                  <a:pt x="1948615" y="95166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60"/>
          <p:cNvSpPr/>
          <p:nvPr/>
        </p:nvSpPr>
        <p:spPr>
          <a:xfrm>
            <a:off x="8997121" y="4306585"/>
            <a:ext cx="306698" cy="204466"/>
          </a:xfrm>
          <a:custGeom>
            <a:avLst/>
            <a:gdLst/>
            <a:ahLst/>
            <a:cxnLst/>
            <a:rect l="l" t="t" r="r" b="b"/>
            <a:pathLst>
              <a:path w="306698" h="204466">
                <a:moveTo>
                  <a:pt x="306698" y="204466"/>
                </a:moveTo>
                <a:lnTo>
                  <a:pt x="204465" y="0"/>
                </a:lnTo>
                <a:lnTo>
                  <a:pt x="0" y="102236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4-mark61"/>
          <p:cNvSpPr/>
          <p:nvPr/>
        </p:nvSpPr>
        <p:spPr>
          <a:xfrm flipV="1">
            <a:off x="7286671" y="3525658"/>
            <a:ext cx="3987881" cy="19939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62"/>
          <p:cNvSpPr/>
          <p:nvPr/>
        </p:nvSpPr>
        <p:spPr>
          <a:xfrm flipH="1" flipV="1">
            <a:off x="8147694" y="2709967"/>
            <a:ext cx="1268880" cy="253776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8" name="S04-mark63"/>
          <p:cNvSpPr/>
          <p:nvPr/>
        </p:nvSpPr>
        <p:spPr>
          <a:xfrm>
            <a:off x="9039918" y="45538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label65"/>
          <p:cNvSpPr txBox="1"/>
          <p:nvPr/>
        </p:nvSpPr>
        <p:spPr>
          <a:xfrm>
            <a:off x="9017775" y="453170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4-label67"/>
          <p:cNvSpPr txBox="1"/>
          <p:nvPr/>
        </p:nvSpPr>
        <p:spPr>
          <a:xfrm>
            <a:off x="10979741" y="338048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11" name="S04-stepno68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4-text69"/>
          <p:cNvSpPr txBox="1"/>
          <p:nvPr/>
        </p:nvSpPr>
        <p:spPr>
          <a:xfrm>
            <a:off x="1325880" y="255574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삼각자의 직각을 낀 한 변을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맞춰요.</a:t>
            </a:r>
            <a:endParaRPr lang="ko-KR" sz="3000" dirty="0"/>
          </a:p>
        </p:txBody>
      </p:sp>
      <p:sp>
        <p:nvSpPr>
          <p:cNvPr id="13" name="S04-stepno70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4-text71"/>
          <p:cNvSpPr txBox="1"/>
          <p:nvPr/>
        </p:nvSpPr>
        <p:spPr>
          <a:xfrm>
            <a:off x="1325880" y="3649980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직각인 꼭짓점을 점 ㄱ에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3000" dirty="0"/>
          </a:p>
        </p:txBody>
      </p:sp>
      <p:sp>
        <p:nvSpPr>
          <p:cNvPr id="15" name="S04-stepno72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6" name="S04-text73"/>
          <p:cNvSpPr txBox="1"/>
          <p:nvPr/>
        </p:nvSpPr>
        <p:spPr>
          <a:xfrm>
            <a:off x="1325880" y="4744212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낀 다른 변을 따라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 찾기</a:t>
            </a:r>
            <a:endParaRPr lang="ko-KR" sz="4000" dirty="0"/>
          </a:p>
        </p:txBody>
      </p:sp>
      <p:sp>
        <p:nvSpPr>
          <p:cNvPr id="3" name="S05-card7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7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대한 수선을 모두 찾아요. 모눈이나 삼각자의 직각을 대어 봐요.</a:t>
            </a:r>
            <a:endParaRPr lang="ko-KR" sz="3000" dirty="0"/>
          </a:p>
        </p:txBody>
      </p:sp>
      <p:sp>
        <p:nvSpPr>
          <p:cNvPr id="5" name="S05-chip76"/>
          <p:cNvSpPr txBox="1"/>
          <p:nvPr/>
        </p:nvSpPr>
        <p:spPr>
          <a:xfrm>
            <a:off x="548640" y="27447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5-mark77"/>
          <p:cNvSpPr/>
          <p:nvPr/>
        </p:nvSpPr>
        <p:spPr>
          <a:xfrm flipV="1">
            <a:off x="3753764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78"/>
          <p:cNvSpPr/>
          <p:nvPr/>
        </p:nvSpPr>
        <p:spPr>
          <a:xfrm flipV="1">
            <a:off x="407593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79"/>
          <p:cNvSpPr/>
          <p:nvPr/>
        </p:nvSpPr>
        <p:spPr>
          <a:xfrm flipV="1">
            <a:off x="439811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80"/>
          <p:cNvSpPr/>
          <p:nvPr/>
        </p:nvSpPr>
        <p:spPr>
          <a:xfrm flipV="1">
            <a:off x="4720285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81"/>
          <p:cNvSpPr/>
          <p:nvPr/>
        </p:nvSpPr>
        <p:spPr>
          <a:xfrm flipV="1">
            <a:off x="5042459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82"/>
          <p:cNvSpPr/>
          <p:nvPr/>
        </p:nvSpPr>
        <p:spPr>
          <a:xfrm flipV="1">
            <a:off x="536463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83"/>
          <p:cNvSpPr/>
          <p:nvPr/>
        </p:nvSpPr>
        <p:spPr>
          <a:xfrm flipV="1">
            <a:off x="5686806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84"/>
          <p:cNvSpPr/>
          <p:nvPr/>
        </p:nvSpPr>
        <p:spPr>
          <a:xfrm flipV="1">
            <a:off x="6008980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85"/>
          <p:cNvSpPr/>
          <p:nvPr/>
        </p:nvSpPr>
        <p:spPr>
          <a:xfrm flipV="1">
            <a:off x="6331153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86"/>
          <p:cNvSpPr/>
          <p:nvPr/>
        </p:nvSpPr>
        <p:spPr>
          <a:xfrm flipV="1">
            <a:off x="6653327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87"/>
          <p:cNvSpPr/>
          <p:nvPr/>
        </p:nvSpPr>
        <p:spPr>
          <a:xfrm flipV="1">
            <a:off x="6975500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88"/>
          <p:cNvSpPr/>
          <p:nvPr/>
        </p:nvSpPr>
        <p:spPr>
          <a:xfrm flipV="1">
            <a:off x="7297674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89"/>
          <p:cNvSpPr/>
          <p:nvPr/>
        </p:nvSpPr>
        <p:spPr>
          <a:xfrm flipV="1">
            <a:off x="761984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90"/>
          <p:cNvSpPr/>
          <p:nvPr/>
        </p:nvSpPr>
        <p:spPr>
          <a:xfrm flipV="1">
            <a:off x="7942021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91"/>
          <p:cNvSpPr/>
          <p:nvPr/>
        </p:nvSpPr>
        <p:spPr>
          <a:xfrm flipV="1">
            <a:off x="8264195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92"/>
          <p:cNvSpPr/>
          <p:nvPr/>
        </p:nvSpPr>
        <p:spPr>
          <a:xfrm flipV="1">
            <a:off x="858636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93"/>
          <p:cNvSpPr/>
          <p:nvPr/>
        </p:nvSpPr>
        <p:spPr>
          <a:xfrm flipV="1">
            <a:off x="890854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94"/>
          <p:cNvSpPr/>
          <p:nvPr/>
        </p:nvSpPr>
        <p:spPr>
          <a:xfrm flipV="1">
            <a:off x="9230716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95"/>
          <p:cNvSpPr/>
          <p:nvPr/>
        </p:nvSpPr>
        <p:spPr>
          <a:xfrm>
            <a:off x="3753764" y="4639056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96"/>
          <p:cNvSpPr/>
          <p:nvPr/>
        </p:nvSpPr>
        <p:spPr>
          <a:xfrm>
            <a:off x="3753764" y="4316882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97"/>
          <p:cNvSpPr/>
          <p:nvPr/>
        </p:nvSpPr>
        <p:spPr>
          <a:xfrm>
            <a:off x="3753764" y="3994709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98"/>
          <p:cNvSpPr/>
          <p:nvPr/>
        </p:nvSpPr>
        <p:spPr>
          <a:xfrm>
            <a:off x="3753764" y="3672535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99"/>
          <p:cNvSpPr/>
          <p:nvPr/>
        </p:nvSpPr>
        <p:spPr>
          <a:xfrm>
            <a:off x="3753764" y="3350362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00"/>
          <p:cNvSpPr/>
          <p:nvPr/>
        </p:nvSpPr>
        <p:spPr>
          <a:xfrm>
            <a:off x="3753764" y="3028188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01"/>
          <p:cNvSpPr/>
          <p:nvPr/>
        </p:nvSpPr>
        <p:spPr>
          <a:xfrm>
            <a:off x="3753764" y="2706014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02"/>
          <p:cNvSpPr/>
          <p:nvPr/>
        </p:nvSpPr>
        <p:spPr>
          <a:xfrm>
            <a:off x="3753764" y="2383841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03"/>
          <p:cNvSpPr/>
          <p:nvPr/>
        </p:nvSpPr>
        <p:spPr>
          <a:xfrm>
            <a:off x="3753764" y="2061667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04"/>
          <p:cNvSpPr/>
          <p:nvPr/>
        </p:nvSpPr>
        <p:spPr>
          <a:xfrm>
            <a:off x="3753764" y="1739494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05"/>
          <p:cNvSpPr/>
          <p:nvPr/>
        </p:nvSpPr>
        <p:spPr>
          <a:xfrm>
            <a:off x="3753764" y="1417320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figure106" descr="모눈 위 가로 직선 가와 이를 지나는 직선 나·다·라·마. 나와 라는 세로선, 다와 마는 비스듬함"/>
          <p:cNvSpPr/>
          <p:nvPr/>
        </p:nvSpPr>
        <p:spPr>
          <a:xfrm>
            <a:off x="4333677" y="3028188"/>
            <a:ext cx="43171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107"/>
          <p:cNvSpPr/>
          <p:nvPr/>
        </p:nvSpPr>
        <p:spPr>
          <a:xfrm flipV="1">
            <a:off x="5042459" y="1997232"/>
            <a:ext cx="0" cy="206191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5-mark108"/>
          <p:cNvSpPr/>
          <p:nvPr/>
        </p:nvSpPr>
        <p:spPr>
          <a:xfrm flipV="1">
            <a:off x="5513910" y="2038048"/>
            <a:ext cx="990140" cy="19802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09"/>
          <p:cNvSpPr/>
          <p:nvPr/>
        </p:nvSpPr>
        <p:spPr>
          <a:xfrm flipV="1">
            <a:off x="6975500" y="1997232"/>
            <a:ext cx="0" cy="206191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10"/>
          <p:cNvSpPr/>
          <p:nvPr/>
        </p:nvSpPr>
        <p:spPr>
          <a:xfrm flipH="1" flipV="1">
            <a:off x="7446951" y="2038048"/>
            <a:ext cx="990140" cy="19802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12"/>
          <p:cNvSpPr txBox="1"/>
          <p:nvPr/>
        </p:nvSpPr>
        <p:spPr>
          <a:xfrm>
            <a:off x="8639891" y="270881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5-label114"/>
          <p:cNvSpPr txBox="1"/>
          <p:nvPr/>
        </p:nvSpPr>
        <p:spPr>
          <a:xfrm>
            <a:off x="4983221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5-label116"/>
          <p:cNvSpPr txBox="1"/>
          <p:nvPr/>
        </p:nvSpPr>
        <p:spPr>
          <a:xfrm>
            <a:off x="6433002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5-label118"/>
          <p:cNvSpPr txBox="1"/>
          <p:nvPr/>
        </p:nvSpPr>
        <p:spPr>
          <a:xfrm>
            <a:off x="6916263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5-label120"/>
          <p:cNvSpPr txBox="1"/>
          <p:nvPr/>
        </p:nvSpPr>
        <p:spPr>
          <a:xfrm>
            <a:off x="8382152" y="38042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평행과 평행선</a:t>
            </a:r>
            <a:endParaRPr lang="ko-KR" sz="4000" dirty="0"/>
          </a:p>
        </p:txBody>
      </p:sp>
      <p:sp>
        <p:nvSpPr>
          <p:cNvPr id="3" name="S06-mark121"/>
          <p:cNvSpPr/>
          <p:nvPr/>
        </p:nvSpPr>
        <p:spPr>
          <a:xfrm flipV="1">
            <a:off x="66148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6-mark122"/>
          <p:cNvSpPr/>
          <p:nvPr/>
        </p:nvSpPr>
        <p:spPr>
          <a:xfrm flipV="1">
            <a:off x="108959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6-mark123"/>
          <p:cNvSpPr/>
          <p:nvPr/>
        </p:nvSpPr>
        <p:spPr>
          <a:xfrm flipV="1">
            <a:off x="1517696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124"/>
          <p:cNvSpPr/>
          <p:nvPr/>
        </p:nvSpPr>
        <p:spPr>
          <a:xfrm flipV="1">
            <a:off x="1945802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125"/>
          <p:cNvSpPr/>
          <p:nvPr/>
        </p:nvSpPr>
        <p:spPr>
          <a:xfrm flipV="1">
            <a:off x="2373907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126"/>
          <p:cNvSpPr/>
          <p:nvPr/>
        </p:nvSpPr>
        <p:spPr>
          <a:xfrm flipV="1">
            <a:off x="280201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27"/>
          <p:cNvSpPr/>
          <p:nvPr/>
        </p:nvSpPr>
        <p:spPr>
          <a:xfrm flipV="1">
            <a:off x="3230118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28"/>
          <p:cNvSpPr/>
          <p:nvPr/>
        </p:nvSpPr>
        <p:spPr>
          <a:xfrm flipV="1">
            <a:off x="365822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29"/>
          <p:cNvSpPr/>
          <p:nvPr/>
        </p:nvSpPr>
        <p:spPr>
          <a:xfrm flipV="1">
            <a:off x="4086329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30"/>
          <p:cNvSpPr/>
          <p:nvPr/>
        </p:nvSpPr>
        <p:spPr>
          <a:xfrm flipV="1">
            <a:off x="4514434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31"/>
          <p:cNvSpPr/>
          <p:nvPr/>
        </p:nvSpPr>
        <p:spPr>
          <a:xfrm flipV="1">
            <a:off x="4942540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32"/>
          <p:cNvSpPr/>
          <p:nvPr/>
        </p:nvSpPr>
        <p:spPr>
          <a:xfrm flipV="1">
            <a:off x="537064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33"/>
          <p:cNvSpPr/>
          <p:nvPr/>
        </p:nvSpPr>
        <p:spPr>
          <a:xfrm flipV="1">
            <a:off x="579875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34"/>
          <p:cNvSpPr/>
          <p:nvPr/>
        </p:nvSpPr>
        <p:spPr>
          <a:xfrm>
            <a:off x="661485" y="612648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35"/>
          <p:cNvSpPr/>
          <p:nvPr/>
        </p:nvSpPr>
        <p:spPr>
          <a:xfrm>
            <a:off x="661485" y="569837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36"/>
          <p:cNvSpPr/>
          <p:nvPr/>
        </p:nvSpPr>
        <p:spPr>
          <a:xfrm>
            <a:off x="661485" y="5270269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37"/>
          <p:cNvSpPr/>
          <p:nvPr/>
        </p:nvSpPr>
        <p:spPr>
          <a:xfrm>
            <a:off x="661485" y="4842164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38"/>
          <p:cNvSpPr/>
          <p:nvPr/>
        </p:nvSpPr>
        <p:spPr>
          <a:xfrm>
            <a:off x="661485" y="4414058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39"/>
          <p:cNvSpPr/>
          <p:nvPr/>
        </p:nvSpPr>
        <p:spPr>
          <a:xfrm>
            <a:off x="661485" y="3985953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mark140"/>
          <p:cNvSpPr/>
          <p:nvPr/>
        </p:nvSpPr>
        <p:spPr>
          <a:xfrm>
            <a:off x="661485" y="3557847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6-mark141"/>
          <p:cNvSpPr/>
          <p:nvPr/>
        </p:nvSpPr>
        <p:spPr>
          <a:xfrm>
            <a:off x="661485" y="3129742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142"/>
          <p:cNvSpPr/>
          <p:nvPr/>
        </p:nvSpPr>
        <p:spPr>
          <a:xfrm>
            <a:off x="661485" y="2701636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143"/>
          <p:cNvSpPr/>
          <p:nvPr/>
        </p:nvSpPr>
        <p:spPr>
          <a:xfrm>
            <a:off x="661485" y="2273531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144"/>
          <p:cNvSpPr/>
          <p:nvPr/>
        </p:nvSpPr>
        <p:spPr>
          <a:xfrm>
            <a:off x="661485" y="184542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145"/>
          <p:cNvSpPr/>
          <p:nvPr/>
        </p:nvSpPr>
        <p:spPr>
          <a:xfrm>
            <a:off x="661485" y="141732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146"/>
          <p:cNvSpPr/>
          <p:nvPr/>
        </p:nvSpPr>
        <p:spPr>
          <a:xfrm>
            <a:off x="2373907" y="375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47"/>
          <p:cNvSpPr/>
          <p:nvPr/>
        </p:nvSpPr>
        <p:spPr>
          <a:xfrm>
            <a:off x="4086329" y="3836116"/>
            <a:ext cx="149837" cy="149837"/>
          </a:xfrm>
          <a:custGeom>
            <a:avLst/>
            <a:gdLst/>
            <a:ahLst/>
            <a:cxnLst/>
            <a:rect l="l" t="t" r="r" b="b"/>
            <a:pathLst>
              <a:path w="149837" h="149837">
                <a:moveTo>
                  <a:pt x="149837" y="149837"/>
                </a:moveTo>
                <a:lnTo>
                  <a:pt x="149837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figure148" descr="직선 가에 수직인 두 직선 나와 다. 나와 다는 서로 만나지 않음"/>
          <p:cNvSpPr/>
          <p:nvPr/>
        </p:nvSpPr>
        <p:spPr>
          <a:xfrm>
            <a:off x="1432075" y="3985953"/>
            <a:ext cx="359608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6-mark149"/>
          <p:cNvSpPr/>
          <p:nvPr/>
        </p:nvSpPr>
        <p:spPr>
          <a:xfrm flipV="1">
            <a:off x="2373907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6-mark150"/>
          <p:cNvSpPr/>
          <p:nvPr/>
        </p:nvSpPr>
        <p:spPr>
          <a:xfrm flipV="1">
            <a:off x="4086329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06-label152"/>
          <p:cNvSpPr txBox="1"/>
          <p:nvPr/>
        </p:nvSpPr>
        <p:spPr>
          <a:xfrm>
            <a:off x="4995187" y="360280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4" name="S06-label154"/>
          <p:cNvSpPr txBox="1"/>
          <p:nvPr/>
        </p:nvSpPr>
        <p:spPr>
          <a:xfrm>
            <a:off x="2362339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5" name="S06-label156"/>
          <p:cNvSpPr txBox="1"/>
          <p:nvPr/>
        </p:nvSpPr>
        <p:spPr>
          <a:xfrm>
            <a:off x="4074760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6" name="S06-card157"/>
          <p:cNvSpPr/>
          <p:nvPr/>
        </p:nvSpPr>
        <p:spPr>
          <a:xfrm>
            <a:off x="6277356" y="1857756"/>
            <a:ext cx="5362956" cy="1985772"/>
          </a:xfrm>
          <a:prstGeom prst="roundRect">
            <a:avLst>
              <a:gd name="adj" fmla="val 55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6-cardtext158"/>
          <p:cNvSpPr txBox="1"/>
          <p:nvPr/>
        </p:nvSpPr>
        <p:spPr>
          <a:xfrm>
            <a:off x="6551676" y="1994916"/>
            <a:ext cx="4814316" cy="171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직선에 수직인 두 직선은 서로 만나지 않아요. 이때 두 직선은 평행해요.</a:t>
            </a:r>
            <a:endParaRPr lang="ko-KR" sz="3000" dirty="0"/>
          </a:p>
        </p:txBody>
      </p:sp>
      <p:sp>
        <p:nvSpPr>
          <p:cNvPr id="38" name="S06-card159"/>
          <p:cNvSpPr/>
          <p:nvPr/>
        </p:nvSpPr>
        <p:spPr>
          <a:xfrm>
            <a:off x="6277356" y="4072128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6-cardtext160"/>
          <p:cNvSpPr txBox="1"/>
          <p:nvPr/>
        </p:nvSpPr>
        <p:spPr>
          <a:xfrm>
            <a:off x="6551676" y="4209288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직선을 평행선이라고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평행선을 찾아요</a:t>
            </a:r>
            <a:endParaRPr lang="ko-KR" sz="4000" dirty="0"/>
          </a:p>
        </p:txBody>
      </p:sp>
      <p:sp>
        <p:nvSpPr>
          <p:cNvPr id="3" name="S07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평행선을 모두 고르고, 어떻게 알았는지 말해요.</a:t>
            </a:r>
            <a:endParaRPr lang="ko-KR" sz="3000" dirty="0"/>
          </a:p>
        </p:txBody>
      </p:sp>
      <p:sp>
        <p:nvSpPr>
          <p:cNvPr id="5" name="S07-chip16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7-mark164"/>
          <p:cNvSpPr/>
          <p:nvPr/>
        </p:nvSpPr>
        <p:spPr>
          <a:xfrm flipV="1">
            <a:off x="205054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65"/>
          <p:cNvSpPr/>
          <p:nvPr/>
        </p:nvSpPr>
        <p:spPr>
          <a:xfrm flipV="1">
            <a:off x="244487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66"/>
          <p:cNvSpPr/>
          <p:nvPr/>
        </p:nvSpPr>
        <p:spPr>
          <a:xfrm flipV="1">
            <a:off x="283921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67"/>
          <p:cNvSpPr/>
          <p:nvPr/>
        </p:nvSpPr>
        <p:spPr>
          <a:xfrm flipV="1">
            <a:off x="323354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68"/>
          <p:cNvSpPr/>
          <p:nvPr/>
        </p:nvSpPr>
        <p:spPr>
          <a:xfrm flipV="1">
            <a:off x="362788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69"/>
          <p:cNvSpPr/>
          <p:nvPr/>
        </p:nvSpPr>
        <p:spPr>
          <a:xfrm flipV="1">
            <a:off x="402221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70"/>
          <p:cNvSpPr/>
          <p:nvPr/>
        </p:nvSpPr>
        <p:spPr>
          <a:xfrm flipV="1">
            <a:off x="441655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71"/>
          <p:cNvSpPr/>
          <p:nvPr/>
        </p:nvSpPr>
        <p:spPr>
          <a:xfrm flipV="1">
            <a:off x="481088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72"/>
          <p:cNvSpPr/>
          <p:nvPr/>
        </p:nvSpPr>
        <p:spPr>
          <a:xfrm flipV="1">
            <a:off x="520522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73"/>
          <p:cNvSpPr/>
          <p:nvPr/>
        </p:nvSpPr>
        <p:spPr>
          <a:xfrm>
            <a:off x="2050542" y="29946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74"/>
          <p:cNvSpPr/>
          <p:nvPr/>
        </p:nvSpPr>
        <p:spPr>
          <a:xfrm>
            <a:off x="2050542" y="260032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75"/>
          <p:cNvSpPr/>
          <p:nvPr/>
        </p:nvSpPr>
        <p:spPr>
          <a:xfrm>
            <a:off x="2050542" y="220599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76"/>
          <p:cNvSpPr/>
          <p:nvPr/>
        </p:nvSpPr>
        <p:spPr>
          <a:xfrm>
            <a:off x="2050542" y="181165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77"/>
          <p:cNvSpPr/>
          <p:nvPr/>
        </p:nvSpPr>
        <p:spPr>
          <a:xfrm>
            <a:off x="2050542" y="141732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figure178" descr="모눈 위의 가로 두 직선, 사이가 2칸으로 같음"/>
          <p:cNvSpPr/>
          <p:nvPr/>
        </p:nvSpPr>
        <p:spPr>
          <a:xfrm>
            <a:off x="2444877" y="260032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179"/>
          <p:cNvSpPr/>
          <p:nvPr/>
        </p:nvSpPr>
        <p:spPr>
          <a:xfrm>
            <a:off x="2444877" y="181165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7-chip18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3" name="S07-mark181"/>
          <p:cNvSpPr/>
          <p:nvPr/>
        </p:nvSpPr>
        <p:spPr>
          <a:xfrm flipV="1">
            <a:off x="777925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7-mark182"/>
          <p:cNvSpPr/>
          <p:nvPr/>
        </p:nvSpPr>
        <p:spPr>
          <a:xfrm flipV="1">
            <a:off x="817359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mark183"/>
          <p:cNvSpPr/>
          <p:nvPr/>
        </p:nvSpPr>
        <p:spPr>
          <a:xfrm flipV="1">
            <a:off x="856792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7-mark184"/>
          <p:cNvSpPr/>
          <p:nvPr/>
        </p:nvSpPr>
        <p:spPr>
          <a:xfrm flipV="1">
            <a:off x="896226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85"/>
          <p:cNvSpPr/>
          <p:nvPr/>
        </p:nvSpPr>
        <p:spPr>
          <a:xfrm flipV="1">
            <a:off x="935659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86"/>
          <p:cNvSpPr/>
          <p:nvPr/>
        </p:nvSpPr>
        <p:spPr>
          <a:xfrm flipV="1">
            <a:off x="975093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87"/>
          <p:cNvSpPr/>
          <p:nvPr/>
        </p:nvSpPr>
        <p:spPr>
          <a:xfrm flipV="1">
            <a:off x="1014526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88"/>
          <p:cNvSpPr/>
          <p:nvPr/>
        </p:nvSpPr>
        <p:spPr>
          <a:xfrm flipV="1">
            <a:off x="1053960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89"/>
          <p:cNvSpPr/>
          <p:nvPr/>
        </p:nvSpPr>
        <p:spPr>
          <a:xfrm flipV="1">
            <a:off x="1093393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90"/>
          <p:cNvSpPr/>
          <p:nvPr/>
        </p:nvSpPr>
        <p:spPr>
          <a:xfrm>
            <a:off x="7779258" y="29946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91"/>
          <p:cNvSpPr/>
          <p:nvPr/>
        </p:nvSpPr>
        <p:spPr>
          <a:xfrm>
            <a:off x="7779258" y="260032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92"/>
          <p:cNvSpPr/>
          <p:nvPr/>
        </p:nvSpPr>
        <p:spPr>
          <a:xfrm>
            <a:off x="7779258" y="220599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93"/>
          <p:cNvSpPr/>
          <p:nvPr/>
        </p:nvSpPr>
        <p:spPr>
          <a:xfrm>
            <a:off x="7779258" y="181165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mark194"/>
          <p:cNvSpPr/>
          <p:nvPr/>
        </p:nvSpPr>
        <p:spPr>
          <a:xfrm>
            <a:off x="7779258" y="141732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7-figure195" descr="모눈 위의 두 직선, 왼쪽은 2칸 오른쪽은 1칸으로 점점 가까워짐"/>
          <p:cNvSpPr/>
          <p:nvPr/>
        </p:nvSpPr>
        <p:spPr>
          <a:xfrm>
            <a:off x="8173593" y="260032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7-mark196"/>
          <p:cNvSpPr/>
          <p:nvPr/>
        </p:nvSpPr>
        <p:spPr>
          <a:xfrm>
            <a:off x="8173593" y="1811655"/>
            <a:ext cx="2366010" cy="39433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7-chip19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0" name="S07-mark198"/>
          <p:cNvSpPr/>
          <p:nvPr/>
        </p:nvSpPr>
        <p:spPr>
          <a:xfrm flipV="1">
            <a:off x="272654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7-mark199"/>
          <p:cNvSpPr/>
          <p:nvPr/>
        </p:nvSpPr>
        <p:spPr>
          <a:xfrm flipV="1">
            <a:off x="295187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7-mark200"/>
          <p:cNvSpPr/>
          <p:nvPr/>
        </p:nvSpPr>
        <p:spPr>
          <a:xfrm flipV="1">
            <a:off x="317721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7-mark201"/>
          <p:cNvSpPr/>
          <p:nvPr/>
        </p:nvSpPr>
        <p:spPr>
          <a:xfrm flipV="1">
            <a:off x="340254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7-mark202"/>
          <p:cNvSpPr/>
          <p:nvPr/>
        </p:nvSpPr>
        <p:spPr>
          <a:xfrm flipV="1">
            <a:off x="362788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7-mark203"/>
          <p:cNvSpPr/>
          <p:nvPr/>
        </p:nvSpPr>
        <p:spPr>
          <a:xfrm flipV="1">
            <a:off x="385321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7-mark204"/>
          <p:cNvSpPr/>
          <p:nvPr/>
        </p:nvSpPr>
        <p:spPr>
          <a:xfrm flipV="1">
            <a:off x="4078551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7-mark205"/>
          <p:cNvSpPr/>
          <p:nvPr/>
        </p:nvSpPr>
        <p:spPr>
          <a:xfrm flipV="1">
            <a:off x="430388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7-mark206"/>
          <p:cNvSpPr/>
          <p:nvPr/>
        </p:nvSpPr>
        <p:spPr>
          <a:xfrm flipV="1">
            <a:off x="452921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7-mark207"/>
          <p:cNvSpPr/>
          <p:nvPr/>
        </p:nvSpPr>
        <p:spPr>
          <a:xfrm>
            <a:off x="2726545" y="5029200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7-mark208"/>
          <p:cNvSpPr/>
          <p:nvPr/>
        </p:nvSpPr>
        <p:spPr>
          <a:xfrm>
            <a:off x="2726545" y="4803866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7-mark209"/>
          <p:cNvSpPr/>
          <p:nvPr/>
        </p:nvSpPr>
        <p:spPr>
          <a:xfrm>
            <a:off x="2726545" y="4578531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7-mark210"/>
          <p:cNvSpPr/>
          <p:nvPr/>
        </p:nvSpPr>
        <p:spPr>
          <a:xfrm>
            <a:off x="2726545" y="4353197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7-mark211"/>
          <p:cNvSpPr/>
          <p:nvPr/>
        </p:nvSpPr>
        <p:spPr>
          <a:xfrm>
            <a:off x="2726545" y="4127863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7-mark212"/>
          <p:cNvSpPr/>
          <p:nvPr/>
        </p:nvSpPr>
        <p:spPr>
          <a:xfrm>
            <a:off x="2726545" y="3902529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7-mark213"/>
          <p:cNvSpPr/>
          <p:nvPr/>
        </p:nvSpPr>
        <p:spPr>
          <a:xfrm>
            <a:off x="2726545" y="3677194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7-mark214"/>
          <p:cNvSpPr/>
          <p:nvPr/>
        </p:nvSpPr>
        <p:spPr>
          <a:xfrm>
            <a:off x="2726545" y="3451860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7-figure215" descr="모눈 위의 비스듬한 두 직선, 위아래 사이가 2칸으로 같음"/>
          <p:cNvSpPr/>
          <p:nvPr/>
        </p:nvSpPr>
        <p:spPr>
          <a:xfrm flipV="1">
            <a:off x="2951879" y="4127863"/>
            <a:ext cx="1352006" cy="6760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8" name="S07-mark216"/>
          <p:cNvSpPr/>
          <p:nvPr/>
        </p:nvSpPr>
        <p:spPr>
          <a:xfrm flipV="1">
            <a:off x="2951879" y="3677194"/>
            <a:ext cx="1352006" cy="6760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9" name="S07-chip21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60" name="S07-mark218"/>
          <p:cNvSpPr/>
          <p:nvPr/>
        </p:nvSpPr>
        <p:spPr>
          <a:xfrm flipV="1">
            <a:off x="809472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7-mark219"/>
          <p:cNvSpPr/>
          <p:nvPr/>
        </p:nvSpPr>
        <p:spPr>
          <a:xfrm flipV="1">
            <a:off x="841019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7-mark220"/>
          <p:cNvSpPr/>
          <p:nvPr/>
        </p:nvSpPr>
        <p:spPr>
          <a:xfrm flipV="1">
            <a:off x="872566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7-mark221"/>
          <p:cNvSpPr/>
          <p:nvPr/>
        </p:nvSpPr>
        <p:spPr>
          <a:xfrm flipV="1">
            <a:off x="904113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07-mark222"/>
          <p:cNvSpPr/>
          <p:nvPr/>
        </p:nvSpPr>
        <p:spPr>
          <a:xfrm flipV="1">
            <a:off x="935659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07-mark223"/>
          <p:cNvSpPr/>
          <p:nvPr/>
        </p:nvSpPr>
        <p:spPr>
          <a:xfrm flipV="1">
            <a:off x="967206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07-mark224"/>
          <p:cNvSpPr/>
          <p:nvPr/>
        </p:nvSpPr>
        <p:spPr>
          <a:xfrm flipV="1">
            <a:off x="998753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07-mark225"/>
          <p:cNvSpPr/>
          <p:nvPr/>
        </p:nvSpPr>
        <p:spPr>
          <a:xfrm flipV="1">
            <a:off x="1030300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07-mark226"/>
          <p:cNvSpPr/>
          <p:nvPr/>
        </p:nvSpPr>
        <p:spPr>
          <a:xfrm flipV="1">
            <a:off x="1061847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07-mark227"/>
          <p:cNvSpPr/>
          <p:nvPr/>
        </p:nvSpPr>
        <p:spPr>
          <a:xfrm>
            <a:off x="8094726" y="5029200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07-mark228"/>
          <p:cNvSpPr/>
          <p:nvPr/>
        </p:nvSpPr>
        <p:spPr>
          <a:xfrm>
            <a:off x="8094726" y="4713732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07-mark229"/>
          <p:cNvSpPr/>
          <p:nvPr/>
        </p:nvSpPr>
        <p:spPr>
          <a:xfrm>
            <a:off x="8094726" y="4398264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2" name="S07-mark230"/>
          <p:cNvSpPr/>
          <p:nvPr/>
        </p:nvSpPr>
        <p:spPr>
          <a:xfrm>
            <a:off x="8094726" y="4082796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3" name="S07-mark231"/>
          <p:cNvSpPr/>
          <p:nvPr/>
        </p:nvSpPr>
        <p:spPr>
          <a:xfrm>
            <a:off x="8094726" y="3767328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4" name="S07-mark232"/>
          <p:cNvSpPr/>
          <p:nvPr/>
        </p:nvSpPr>
        <p:spPr>
          <a:xfrm>
            <a:off x="8094726" y="3451860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5" name="S07-figure233" descr="모눈 위에서 서로 엇갈려 만나는 두 직선"/>
          <p:cNvSpPr/>
          <p:nvPr/>
        </p:nvSpPr>
        <p:spPr>
          <a:xfrm flipV="1">
            <a:off x="8410194" y="3767328"/>
            <a:ext cx="1892808" cy="9464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6" name="S07-mark234"/>
          <p:cNvSpPr/>
          <p:nvPr/>
        </p:nvSpPr>
        <p:spPr>
          <a:xfrm>
            <a:off x="8410194" y="3767328"/>
            <a:ext cx="1892808" cy="9464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</a:t>
            </a:r>
            <a:endParaRPr lang="ko-KR" sz="4000" dirty="0"/>
          </a:p>
        </p:txBody>
      </p:sp>
      <p:sp>
        <p:nvSpPr>
          <p:cNvPr id="3" name="S08-text2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08-mark236"/>
          <p:cNvSpPr/>
          <p:nvPr/>
        </p:nvSpPr>
        <p:spPr>
          <a:xfrm flipV="1">
            <a:off x="640080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8-mark237"/>
          <p:cNvSpPr/>
          <p:nvPr/>
        </p:nvSpPr>
        <p:spPr>
          <a:xfrm flipV="1">
            <a:off x="99735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238"/>
          <p:cNvSpPr/>
          <p:nvPr/>
        </p:nvSpPr>
        <p:spPr>
          <a:xfrm flipV="1">
            <a:off x="135462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39"/>
          <p:cNvSpPr/>
          <p:nvPr/>
        </p:nvSpPr>
        <p:spPr>
          <a:xfrm flipV="1">
            <a:off x="1711900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40"/>
          <p:cNvSpPr/>
          <p:nvPr/>
        </p:nvSpPr>
        <p:spPr>
          <a:xfrm flipV="1">
            <a:off x="206917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41"/>
          <p:cNvSpPr/>
          <p:nvPr/>
        </p:nvSpPr>
        <p:spPr>
          <a:xfrm flipV="1">
            <a:off x="242644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42"/>
          <p:cNvSpPr/>
          <p:nvPr/>
        </p:nvSpPr>
        <p:spPr>
          <a:xfrm flipV="1">
            <a:off x="278371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43"/>
          <p:cNvSpPr/>
          <p:nvPr/>
        </p:nvSpPr>
        <p:spPr>
          <a:xfrm flipV="1">
            <a:off x="314099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44"/>
          <p:cNvSpPr/>
          <p:nvPr/>
        </p:nvSpPr>
        <p:spPr>
          <a:xfrm flipV="1">
            <a:off x="349826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45"/>
          <p:cNvSpPr/>
          <p:nvPr/>
        </p:nvSpPr>
        <p:spPr>
          <a:xfrm flipV="1">
            <a:off x="385553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46"/>
          <p:cNvSpPr/>
          <p:nvPr/>
        </p:nvSpPr>
        <p:spPr>
          <a:xfrm flipV="1">
            <a:off x="421281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47"/>
          <p:cNvSpPr/>
          <p:nvPr/>
        </p:nvSpPr>
        <p:spPr>
          <a:xfrm flipV="1">
            <a:off x="4570085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48"/>
          <p:cNvSpPr/>
          <p:nvPr/>
        </p:nvSpPr>
        <p:spPr>
          <a:xfrm flipV="1">
            <a:off x="492735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49"/>
          <p:cNvSpPr/>
          <p:nvPr/>
        </p:nvSpPr>
        <p:spPr>
          <a:xfrm flipV="1">
            <a:off x="528463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50"/>
          <p:cNvSpPr/>
          <p:nvPr/>
        </p:nvSpPr>
        <p:spPr>
          <a:xfrm flipV="1">
            <a:off x="5641905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51"/>
          <p:cNvSpPr/>
          <p:nvPr/>
        </p:nvSpPr>
        <p:spPr>
          <a:xfrm flipV="1">
            <a:off x="5999178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52"/>
          <p:cNvSpPr/>
          <p:nvPr/>
        </p:nvSpPr>
        <p:spPr>
          <a:xfrm flipV="1">
            <a:off x="635645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53"/>
          <p:cNvSpPr/>
          <p:nvPr/>
        </p:nvSpPr>
        <p:spPr>
          <a:xfrm>
            <a:off x="640080" y="5007983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54"/>
          <p:cNvSpPr/>
          <p:nvPr/>
        </p:nvSpPr>
        <p:spPr>
          <a:xfrm>
            <a:off x="640080" y="4650710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55"/>
          <p:cNvSpPr/>
          <p:nvPr/>
        </p:nvSpPr>
        <p:spPr>
          <a:xfrm>
            <a:off x="640080" y="4293437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56"/>
          <p:cNvSpPr/>
          <p:nvPr/>
        </p:nvSpPr>
        <p:spPr>
          <a:xfrm>
            <a:off x="640080" y="3936163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57"/>
          <p:cNvSpPr/>
          <p:nvPr/>
        </p:nvSpPr>
        <p:spPr>
          <a:xfrm>
            <a:off x="640080" y="3578890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58"/>
          <p:cNvSpPr/>
          <p:nvPr/>
        </p:nvSpPr>
        <p:spPr>
          <a:xfrm>
            <a:off x="640080" y="3221617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259"/>
          <p:cNvSpPr/>
          <p:nvPr/>
        </p:nvSpPr>
        <p:spPr>
          <a:xfrm>
            <a:off x="2426446" y="44221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mark260"/>
          <p:cNvSpPr/>
          <p:nvPr/>
        </p:nvSpPr>
        <p:spPr>
          <a:xfrm>
            <a:off x="3855539" y="44221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8-figure261" descr="모눈 위의 가로 평행선 두 개. 그 사이에 수직으로 그은 선분 두 개는 모두 3 cm, 비스듬한 점선 선분은 더 김"/>
          <p:cNvSpPr/>
          <p:nvPr/>
        </p:nvSpPr>
        <p:spPr>
          <a:xfrm>
            <a:off x="1283172" y="4650710"/>
            <a:ext cx="44301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8-mark262"/>
          <p:cNvSpPr/>
          <p:nvPr/>
        </p:nvSpPr>
        <p:spPr>
          <a:xfrm>
            <a:off x="1283172" y="3578890"/>
            <a:ext cx="44301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8-mark263"/>
          <p:cNvSpPr/>
          <p:nvPr/>
        </p:nvSpPr>
        <p:spPr>
          <a:xfrm flipV="1">
            <a:off x="2426446" y="3578890"/>
            <a:ext cx="0" cy="107182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2" name="S08-mark264"/>
          <p:cNvSpPr/>
          <p:nvPr/>
        </p:nvSpPr>
        <p:spPr>
          <a:xfrm flipV="1">
            <a:off x="3855539" y="3578890"/>
            <a:ext cx="0" cy="107182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3" name="S08-mark265"/>
          <p:cNvSpPr/>
          <p:nvPr/>
        </p:nvSpPr>
        <p:spPr>
          <a:xfrm flipV="1">
            <a:off x="4570085" y="3578890"/>
            <a:ext cx="714546" cy="10718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08-label267"/>
          <p:cNvSpPr txBox="1"/>
          <p:nvPr/>
        </p:nvSpPr>
        <p:spPr>
          <a:xfrm>
            <a:off x="2443694" y="39243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35" name="S08-label269"/>
          <p:cNvSpPr txBox="1"/>
          <p:nvPr/>
        </p:nvSpPr>
        <p:spPr>
          <a:xfrm>
            <a:off x="3872787" y="39243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36" name="S08-card270"/>
          <p:cNvSpPr/>
          <p:nvPr/>
        </p:nvSpPr>
        <p:spPr>
          <a:xfrm>
            <a:off x="6813652" y="2386584"/>
            <a:ext cx="4826660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8-cardtext271"/>
          <p:cNvSpPr txBox="1"/>
          <p:nvPr/>
        </p:nvSpPr>
        <p:spPr>
          <a:xfrm>
            <a:off x="7087972" y="2523744"/>
            <a:ext cx="4278020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사이에 그은 수선의 길이예요.</a:t>
            </a:r>
            <a:endParaRPr lang="ko-KR" sz="3000" dirty="0"/>
          </a:p>
        </p:txBody>
      </p:sp>
      <p:sp>
        <p:nvSpPr>
          <p:cNvPr id="38" name="S08-card272"/>
          <p:cNvSpPr/>
          <p:nvPr/>
        </p:nvSpPr>
        <p:spPr>
          <a:xfrm>
            <a:off x="6813652" y="4229100"/>
            <a:ext cx="4826660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8-cardtext273"/>
          <p:cNvSpPr txBox="1"/>
          <p:nvPr/>
        </p:nvSpPr>
        <p:spPr>
          <a:xfrm>
            <a:off x="7087972" y="4366260"/>
            <a:ext cx="4278020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재도 같아요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비스듬한 점선은 더 길어서 거리가 아니에요.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찾아요</a:t>
            </a:r>
            <a:endParaRPr lang="ko-KR" sz="4000" dirty="0"/>
          </a:p>
        </p:txBody>
      </p:sp>
      <p:sp>
        <p:nvSpPr>
          <p:cNvPr id="3" name="S09-text2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09-mark275"/>
          <p:cNvSpPr/>
          <p:nvPr/>
        </p:nvSpPr>
        <p:spPr>
          <a:xfrm flipV="1">
            <a:off x="6643116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9-mark276"/>
          <p:cNvSpPr/>
          <p:nvPr/>
        </p:nvSpPr>
        <p:spPr>
          <a:xfrm flipV="1">
            <a:off x="6973933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9-mark277"/>
          <p:cNvSpPr/>
          <p:nvPr/>
        </p:nvSpPr>
        <p:spPr>
          <a:xfrm flipV="1">
            <a:off x="7304750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278"/>
          <p:cNvSpPr/>
          <p:nvPr/>
        </p:nvSpPr>
        <p:spPr>
          <a:xfrm flipV="1">
            <a:off x="7635567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279"/>
          <p:cNvSpPr/>
          <p:nvPr/>
        </p:nvSpPr>
        <p:spPr>
          <a:xfrm flipV="1">
            <a:off x="7966383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280"/>
          <p:cNvSpPr/>
          <p:nvPr/>
        </p:nvSpPr>
        <p:spPr>
          <a:xfrm flipV="1">
            <a:off x="8297200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281"/>
          <p:cNvSpPr/>
          <p:nvPr/>
        </p:nvSpPr>
        <p:spPr>
          <a:xfrm flipV="1">
            <a:off x="8628017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282"/>
          <p:cNvSpPr/>
          <p:nvPr/>
        </p:nvSpPr>
        <p:spPr>
          <a:xfrm flipV="1">
            <a:off x="8958834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83"/>
          <p:cNvSpPr/>
          <p:nvPr/>
        </p:nvSpPr>
        <p:spPr>
          <a:xfrm flipV="1">
            <a:off x="9289651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84"/>
          <p:cNvSpPr/>
          <p:nvPr/>
        </p:nvSpPr>
        <p:spPr>
          <a:xfrm flipV="1">
            <a:off x="9620468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85"/>
          <p:cNvSpPr/>
          <p:nvPr/>
        </p:nvSpPr>
        <p:spPr>
          <a:xfrm flipV="1">
            <a:off x="9951285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86"/>
          <p:cNvSpPr/>
          <p:nvPr/>
        </p:nvSpPr>
        <p:spPr>
          <a:xfrm flipV="1">
            <a:off x="10282101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87"/>
          <p:cNvSpPr/>
          <p:nvPr/>
        </p:nvSpPr>
        <p:spPr>
          <a:xfrm flipV="1">
            <a:off x="10612918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88"/>
          <p:cNvSpPr/>
          <p:nvPr/>
        </p:nvSpPr>
        <p:spPr>
          <a:xfrm flipV="1">
            <a:off x="10943735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89"/>
          <p:cNvSpPr/>
          <p:nvPr/>
        </p:nvSpPr>
        <p:spPr>
          <a:xfrm flipV="1">
            <a:off x="11274552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90"/>
          <p:cNvSpPr/>
          <p:nvPr/>
        </p:nvSpPr>
        <p:spPr>
          <a:xfrm>
            <a:off x="6643116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91"/>
          <p:cNvSpPr/>
          <p:nvPr/>
        </p:nvSpPr>
        <p:spPr>
          <a:xfrm>
            <a:off x="6643116" y="477643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92"/>
          <p:cNvSpPr/>
          <p:nvPr/>
        </p:nvSpPr>
        <p:spPr>
          <a:xfrm>
            <a:off x="6643116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293"/>
          <p:cNvSpPr/>
          <p:nvPr/>
        </p:nvSpPr>
        <p:spPr>
          <a:xfrm>
            <a:off x="6643116" y="4114800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294"/>
          <p:cNvSpPr/>
          <p:nvPr/>
        </p:nvSpPr>
        <p:spPr>
          <a:xfrm>
            <a:off x="6643116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295"/>
          <p:cNvSpPr/>
          <p:nvPr/>
        </p:nvSpPr>
        <p:spPr>
          <a:xfrm>
            <a:off x="6643116" y="345316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296"/>
          <p:cNvSpPr/>
          <p:nvPr/>
        </p:nvSpPr>
        <p:spPr>
          <a:xfrm>
            <a:off x="6643116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figure297" descr="모눈 위 가로 평행선 두 개 사이의 선분 ㄱㄴ(세로, 4칸)과 비스듬한 선분 ㄷㄹ"/>
          <p:cNvSpPr/>
          <p:nvPr/>
        </p:nvSpPr>
        <p:spPr>
          <a:xfrm>
            <a:off x="7238586" y="4776434"/>
            <a:ext cx="3440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9-mark298"/>
          <p:cNvSpPr/>
          <p:nvPr/>
        </p:nvSpPr>
        <p:spPr>
          <a:xfrm>
            <a:off x="7238586" y="3453166"/>
            <a:ext cx="3440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9-mark299"/>
          <p:cNvSpPr/>
          <p:nvPr/>
        </p:nvSpPr>
        <p:spPr>
          <a:xfrm>
            <a:off x="7966383" y="3453166"/>
            <a:ext cx="0" cy="1323267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29" name="S09-mark300"/>
          <p:cNvSpPr/>
          <p:nvPr/>
        </p:nvSpPr>
        <p:spPr>
          <a:xfrm flipV="1">
            <a:off x="8958834" y="3453166"/>
            <a:ext cx="992451" cy="1323267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0" name="S09-mark301"/>
          <p:cNvSpPr/>
          <p:nvPr/>
        </p:nvSpPr>
        <p:spPr>
          <a:xfrm>
            <a:off x="7906947" y="33937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9-mark302"/>
          <p:cNvSpPr/>
          <p:nvPr/>
        </p:nvSpPr>
        <p:spPr>
          <a:xfrm>
            <a:off x="7906947" y="47169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9-mark303"/>
          <p:cNvSpPr/>
          <p:nvPr/>
        </p:nvSpPr>
        <p:spPr>
          <a:xfrm>
            <a:off x="8899398" y="47169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mark304"/>
          <p:cNvSpPr/>
          <p:nvPr/>
        </p:nvSpPr>
        <p:spPr>
          <a:xfrm>
            <a:off x="9891849" y="33937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label306"/>
          <p:cNvSpPr txBox="1"/>
          <p:nvPr/>
        </p:nvSpPr>
        <p:spPr>
          <a:xfrm>
            <a:off x="7539963" y="30267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5" name="S09-label308"/>
          <p:cNvSpPr txBox="1"/>
          <p:nvPr/>
        </p:nvSpPr>
        <p:spPr>
          <a:xfrm>
            <a:off x="7539963" y="46948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6" name="S09-label310"/>
          <p:cNvSpPr txBox="1"/>
          <p:nvPr/>
        </p:nvSpPr>
        <p:spPr>
          <a:xfrm>
            <a:off x="8877255" y="46948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7" name="S09-label312"/>
          <p:cNvSpPr txBox="1"/>
          <p:nvPr/>
        </p:nvSpPr>
        <p:spPr>
          <a:xfrm>
            <a:off x="9869705" y="30267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8" name="S09-chip3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9" name="S09-text31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선분은?</a:t>
            </a:r>
            <a:endParaRPr lang="ko-KR" sz="3000" dirty="0"/>
          </a:p>
        </p:txBody>
      </p:sp>
      <p:sp>
        <p:nvSpPr>
          <p:cNvPr id="40" name="S09-chip31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1" name="S09-text31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3000" dirty="0"/>
          </a:p>
        </p:txBody>
      </p:sp>
      <p:sp>
        <p:nvSpPr>
          <p:cNvPr id="42" name="S09-chip31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3" name="S09-text31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ㄷㄹ(5 cm)이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거리가 아닌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10-mark320"/>
          <p:cNvSpPr/>
          <p:nvPr/>
        </p:nvSpPr>
        <p:spPr>
          <a:xfrm flipV="1">
            <a:off x="63985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0-mark321"/>
          <p:cNvSpPr/>
          <p:nvPr/>
        </p:nvSpPr>
        <p:spPr>
          <a:xfrm flipV="1">
            <a:off x="67642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0-mark322"/>
          <p:cNvSpPr/>
          <p:nvPr/>
        </p:nvSpPr>
        <p:spPr>
          <a:xfrm flipV="1">
            <a:off x="71300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0-mark323"/>
          <p:cNvSpPr/>
          <p:nvPr/>
        </p:nvSpPr>
        <p:spPr>
          <a:xfrm flipV="1">
            <a:off x="74957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324"/>
          <p:cNvSpPr/>
          <p:nvPr/>
        </p:nvSpPr>
        <p:spPr>
          <a:xfrm flipV="1">
            <a:off x="78615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325"/>
          <p:cNvSpPr/>
          <p:nvPr/>
        </p:nvSpPr>
        <p:spPr>
          <a:xfrm flipV="1">
            <a:off x="82273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326"/>
          <p:cNvSpPr/>
          <p:nvPr/>
        </p:nvSpPr>
        <p:spPr>
          <a:xfrm flipV="1">
            <a:off x="85930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327"/>
          <p:cNvSpPr/>
          <p:nvPr/>
        </p:nvSpPr>
        <p:spPr>
          <a:xfrm flipV="1">
            <a:off x="89588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328"/>
          <p:cNvSpPr/>
          <p:nvPr/>
        </p:nvSpPr>
        <p:spPr>
          <a:xfrm flipV="1">
            <a:off x="93245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329"/>
          <p:cNvSpPr/>
          <p:nvPr/>
        </p:nvSpPr>
        <p:spPr>
          <a:xfrm flipV="1">
            <a:off x="96903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330"/>
          <p:cNvSpPr/>
          <p:nvPr/>
        </p:nvSpPr>
        <p:spPr>
          <a:xfrm flipV="1">
            <a:off x="100561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331"/>
          <p:cNvSpPr/>
          <p:nvPr/>
        </p:nvSpPr>
        <p:spPr>
          <a:xfrm flipV="1">
            <a:off x="104218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332"/>
          <p:cNvSpPr/>
          <p:nvPr/>
        </p:nvSpPr>
        <p:spPr>
          <a:xfrm flipV="1">
            <a:off x="107876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333"/>
          <p:cNvSpPr/>
          <p:nvPr/>
        </p:nvSpPr>
        <p:spPr>
          <a:xfrm flipV="1">
            <a:off x="111533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334"/>
          <p:cNvSpPr/>
          <p:nvPr/>
        </p:nvSpPr>
        <p:spPr>
          <a:xfrm flipV="1">
            <a:off x="115191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335"/>
          <p:cNvSpPr/>
          <p:nvPr/>
        </p:nvSpPr>
        <p:spPr>
          <a:xfrm>
            <a:off x="6398514" y="61264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336"/>
          <p:cNvSpPr/>
          <p:nvPr/>
        </p:nvSpPr>
        <p:spPr>
          <a:xfrm>
            <a:off x="6398514" y="57607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337"/>
          <p:cNvSpPr/>
          <p:nvPr/>
        </p:nvSpPr>
        <p:spPr>
          <a:xfrm>
            <a:off x="6398514" y="539496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338"/>
          <p:cNvSpPr/>
          <p:nvPr/>
        </p:nvSpPr>
        <p:spPr>
          <a:xfrm>
            <a:off x="6398514" y="502920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339"/>
          <p:cNvSpPr/>
          <p:nvPr/>
        </p:nvSpPr>
        <p:spPr>
          <a:xfrm>
            <a:off x="6398514" y="466344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340"/>
          <p:cNvSpPr/>
          <p:nvPr/>
        </p:nvSpPr>
        <p:spPr>
          <a:xfrm>
            <a:off x="6398514" y="42976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341"/>
          <p:cNvSpPr/>
          <p:nvPr/>
        </p:nvSpPr>
        <p:spPr>
          <a:xfrm>
            <a:off x="6398514" y="39319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342"/>
          <p:cNvSpPr/>
          <p:nvPr/>
        </p:nvSpPr>
        <p:spPr>
          <a:xfrm>
            <a:off x="6398514" y="356616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343"/>
          <p:cNvSpPr/>
          <p:nvPr/>
        </p:nvSpPr>
        <p:spPr>
          <a:xfrm>
            <a:off x="6398514" y="320040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344"/>
          <p:cNvSpPr/>
          <p:nvPr/>
        </p:nvSpPr>
        <p:spPr>
          <a:xfrm>
            <a:off x="6398514" y="283464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345"/>
          <p:cNvSpPr/>
          <p:nvPr/>
        </p:nvSpPr>
        <p:spPr>
          <a:xfrm>
            <a:off x="6398514" y="24688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346"/>
          <p:cNvSpPr/>
          <p:nvPr/>
        </p:nvSpPr>
        <p:spPr>
          <a:xfrm>
            <a:off x="6398514" y="21031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figure347" descr="모눈 위 가로 직선 가와 다, 세로 직선 나, 비스듬한 직선 라"/>
          <p:cNvSpPr/>
          <p:nvPr/>
        </p:nvSpPr>
        <p:spPr>
          <a:xfrm>
            <a:off x="7056882" y="4663440"/>
            <a:ext cx="38039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10-mark348"/>
          <p:cNvSpPr/>
          <p:nvPr/>
        </p:nvSpPr>
        <p:spPr>
          <a:xfrm flipV="1">
            <a:off x="8227314" y="2761488"/>
            <a:ext cx="0" cy="270662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0-mark349"/>
          <p:cNvSpPr/>
          <p:nvPr/>
        </p:nvSpPr>
        <p:spPr>
          <a:xfrm>
            <a:off x="7056882" y="3566160"/>
            <a:ext cx="38039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4" name="S10-mark350"/>
          <p:cNvSpPr/>
          <p:nvPr/>
        </p:nvSpPr>
        <p:spPr>
          <a:xfrm flipV="1">
            <a:off x="9098776" y="2824036"/>
            <a:ext cx="1548917" cy="258152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10-label352"/>
          <p:cNvSpPr txBox="1"/>
          <p:nvPr/>
        </p:nvSpPr>
        <p:spPr>
          <a:xfrm>
            <a:off x="10839450" y="43266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6" name="S10-label354"/>
          <p:cNvSpPr txBox="1"/>
          <p:nvPr/>
        </p:nvSpPr>
        <p:spPr>
          <a:xfrm>
            <a:off x="8187690" y="26075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7" name="S10-label356"/>
          <p:cNvSpPr txBox="1"/>
          <p:nvPr/>
        </p:nvSpPr>
        <p:spPr>
          <a:xfrm>
            <a:off x="10839450" y="322935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8" name="S10-label358"/>
          <p:cNvSpPr txBox="1"/>
          <p:nvPr/>
        </p:nvSpPr>
        <p:spPr>
          <a:xfrm>
            <a:off x="10656570" y="26075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39" name="S10-chip35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0" name="S10-text360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대한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수선은?</a:t>
            </a:r>
            <a:endParaRPr lang="ko-KR" sz="3000" dirty="0"/>
          </a:p>
        </p:txBody>
      </p:sp>
      <p:sp>
        <p:nvSpPr>
          <p:cNvPr id="41" name="S10-chip36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2" name="S10-text362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가와 평행한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직선은?</a:t>
            </a:r>
            <a:endParaRPr lang="ko-KR" sz="3000" dirty="0"/>
          </a:p>
        </p:txBody>
      </p:sp>
      <p:sp>
        <p:nvSpPr>
          <p:cNvPr id="43" name="S10-chip36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4" name="S10-text364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가와 직선 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사이의 거리는?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 찾기</a:t>
            </a:r>
            <a:endParaRPr lang="ko-KR" sz="4000" dirty="0"/>
          </a:p>
        </p:txBody>
      </p:sp>
      <p:sp>
        <p:nvSpPr>
          <p:cNvPr id="3" name="S12-card3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있는 도형을 모두 골라요. 몇 쌍인지도 말해요.</a:t>
            </a:r>
            <a:endParaRPr lang="ko-KR" sz="3000" dirty="0"/>
          </a:p>
        </p:txBody>
      </p:sp>
      <p:sp>
        <p:nvSpPr>
          <p:cNvPr id="5" name="S12-chip36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368" descr="직각삼각형"/>
          <p:cNvSpPr/>
          <p:nvPr/>
        </p:nvSpPr>
        <p:spPr>
          <a:xfrm>
            <a:off x="2576322" y="1417320"/>
            <a:ext cx="2103120" cy="1577340"/>
          </a:xfrm>
          <a:custGeom>
            <a:avLst/>
            <a:gdLst/>
            <a:ahLst/>
            <a:cxnLst/>
            <a:rect l="l" t="t" r="r" b="b"/>
            <a:pathLst>
              <a:path w="2103120" h="1577340">
                <a:moveTo>
                  <a:pt x="0" y="1577340"/>
                </a:moveTo>
                <a:lnTo>
                  <a:pt x="2103120" y="157734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2-mark369"/>
          <p:cNvSpPr/>
          <p:nvPr/>
        </p:nvSpPr>
        <p:spPr>
          <a:xfrm>
            <a:off x="2576322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chip37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figure371" descr="위아래 두 변이 평행한 사각형(사다리꼴)"/>
          <p:cNvSpPr/>
          <p:nvPr/>
        </p:nvSpPr>
        <p:spPr>
          <a:xfrm>
            <a:off x="7779258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3154680" y="1577340"/>
                </a:lnTo>
                <a:lnTo>
                  <a:pt x="2523744" y="0"/>
                </a:lnTo>
                <a:lnTo>
                  <a:pt x="94640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2-chip37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figure373" descr="직사각형"/>
          <p:cNvSpPr/>
          <p:nvPr/>
        </p:nvSpPr>
        <p:spPr>
          <a:xfrm>
            <a:off x="2313432" y="3451860"/>
            <a:ext cx="2628900" cy="1577340"/>
          </a:xfrm>
          <a:custGeom>
            <a:avLst/>
            <a:gdLst/>
            <a:ahLst/>
            <a:cxnLst/>
            <a:rect l="l" t="t" r="r" b="b"/>
            <a:pathLst>
              <a:path w="2628900" h="1577340">
                <a:moveTo>
                  <a:pt x="0" y="1577340"/>
                </a:moveTo>
                <a:lnTo>
                  <a:pt x="2628900" y="1577340"/>
                </a:lnTo>
                <a:lnTo>
                  <a:pt x="2628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2-chip37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3" name="S12-figure375" descr="정오각형"/>
          <p:cNvSpPr/>
          <p:nvPr/>
        </p:nvSpPr>
        <p:spPr>
          <a:xfrm>
            <a:off x="8527334" y="3451860"/>
            <a:ext cx="1658527" cy="1577340"/>
          </a:xfrm>
          <a:custGeom>
            <a:avLst/>
            <a:gdLst/>
            <a:ahLst/>
            <a:cxnLst/>
            <a:rect l="l" t="t" r="r" b="b"/>
            <a:pathLst>
              <a:path w="1658527" h="1577340">
                <a:moveTo>
                  <a:pt x="829264" y="0"/>
                </a:moveTo>
                <a:lnTo>
                  <a:pt x="0" y="602511"/>
                </a:lnTo>
                <a:lnTo>
                  <a:pt x="316757" y="1577340"/>
                </a:lnTo>
                <a:lnTo>
                  <a:pt x="1341771" y="1577340"/>
                </a:lnTo>
                <a:lnTo>
                  <a:pt x="1658527" y="60251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직각으로 만나면 수직, 늘여도 만나지 않으면 평행이에요.</a:t>
            </a:r>
            <a:endParaRPr lang="ko-KR" sz="3000" dirty="0"/>
          </a:p>
        </p:txBody>
      </p:sp>
      <p:sp>
        <p:nvSpPr>
          <p:cNvPr id="5" name="S13-chip37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삼각자의 직각 대어 보기</a:t>
            </a:r>
            <a:endParaRPr lang="ko-KR" sz="2400" dirty="0"/>
          </a:p>
        </p:txBody>
      </p:sp>
      <p:sp>
        <p:nvSpPr>
          <p:cNvPr id="6" name="S13-chip37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비스듬한 선분으로 거리 재기</a:t>
            </a:r>
            <a:endParaRPr lang="ko-KR" sz="2400" dirty="0"/>
          </a:p>
        </p:txBody>
      </p:sp>
      <p:sp>
        <p:nvSpPr>
          <p:cNvPr id="7" name="S13-text38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38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수선과 직선이 만나서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이루는 각은 몇 도?</a:t>
            </a:r>
            <a:endParaRPr lang="ko-KR" sz="2400" dirty="0"/>
          </a:p>
        </p:txBody>
      </p:sp>
      <p:sp>
        <p:nvSpPr>
          <p:cNvPr id="9" name="S13-text38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직선에 수직인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직선의 관계는?</a:t>
            </a:r>
            <a:endParaRPr lang="ko-KR" sz="2400" dirty="0"/>
          </a:p>
        </p:txBody>
      </p:sp>
      <p:sp>
        <p:nvSpPr>
          <p:cNvPr id="10" name="S13-text38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평행선 사이의 거리는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선분의 길이?</a:t>
            </a:r>
            <a:endParaRPr lang="ko-KR" sz="2400" dirty="0"/>
          </a:p>
        </p:txBody>
      </p:sp>
      <p:sp>
        <p:nvSpPr>
          <p:cNvPr id="11" name="S13-text3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여러 가지 사각형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직선과 직각</a:t>
            </a:r>
            <a:endParaRPr lang="ko-KR" sz="4000" dirty="0"/>
          </a:p>
        </p:txBody>
      </p:sp>
      <p:sp>
        <p:nvSpPr>
          <p:cNvPr id="3" name="S14-card385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386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양쪽으로 끝없이 늘인 곧은 선이에요.</a:t>
            </a:r>
            <a:endParaRPr lang="ko-KR" sz="3000" dirty="0"/>
          </a:p>
        </p:txBody>
      </p:sp>
      <p:sp>
        <p:nvSpPr>
          <p:cNvPr id="5" name="S14-card387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388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반듯하게 두 번 접으면 생기는 각, 90°예요.</a:t>
            </a:r>
            <a:endParaRPr lang="ko-KR" sz="3000" dirty="0"/>
          </a:p>
        </p:txBody>
      </p:sp>
      <p:sp>
        <p:nvSpPr>
          <p:cNvPr id="7" name="S14-figure389" descr="점 ㄱ과 점 ㄴ을 지나 양쪽으로 늘인 직선"/>
          <p:cNvSpPr/>
          <p:nvPr/>
        </p:nvSpPr>
        <p:spPr>
          <a:xfrm>
            <a:off x="914400" y="2608326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4-mark390"/>
          <p:cNvSpPr/>
          <p:nvPr/>
        </p:nvSpPr>
        <p:spPr>
          <a:xfrm>
            <a:off x="1727645" y="25488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mark391"/>
          <p:cNvSpPr/>
          <p:nvPr/>
        </p:nvSpPr>
        <p:spPr>
          <a:xfrm>
            <a:off x="4636580" y="25488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label393"/>
          <p:cNvSpPr txBox="1"/>
          <p:nvPr/>
        </p:nvSpPr>
        <p:spPr>
          <a:xfrm>
            <a:off x="1533080" y="211048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1" name="S14-label395"/>
          <p:cNvSpPr txBox="1"/>
          <p:nvPr/>
        </p:nvSpPr>
        <p:spPr>
          <a:xfrm>
            <a:off x="4442016" y="211048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2" name="S14-label396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ㄱㄴ</a:t>
            </a:r>
            <a:endParaRPr lang="ko-KR" sz="2400" dirty="0"/>
          </a:p>
        </p:txBody>
      </p:sp>
      <p:sp>
        <p:nvSpPr>
          <p:cNvPr id="13" name="S14-mark397"/>
          <p:cNvSpPr/>
          <p:nvPr/>
        </p:nvSpPr>
        <p:spPr>
          <a:xfrm>
            <a:off x="7804404" y="35227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figure398" descr="직각 표시가 있는 직각"/>
          <p:cNvSpPr/>
          <p:nvPr/>
        </p:nvSpPr>
        <p:spPr>
          <a:xfrm>
            <a:off x="7804404" y="3751326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14-mark399"/>
          <p:cNvSpPr/>
          <p:nvPr/>
        </p:nvSpPr>
        <p:spPr>
          <a:xfrm flipV="1">
            <a:off x="7804404" y="1465326"/>
            <a:ext cx="0" cy="22860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4-label400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직각(90°)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수직과 평행</dc:title>
  <dc:subject>KR22-G04-MAT-PERPPAR-L01</dc:subject>
  <dc:creator>education-ppt</dc:creator>
  <cp:lastModifiedBy>education-ppt</cp:lastModifiedBy>
  <cp:revision>1</cp:revision>
  <dcterms:created xsi:type="dcterms:W3CDTF">2026-10-26T08:18:04Z</dcterms:created>
  <dcterms:modified xsi:type="dcterms:W3CDTF">2026-10-26T08:18:04Z</dcterms:modified>
</cp:coreProperties>
</file>